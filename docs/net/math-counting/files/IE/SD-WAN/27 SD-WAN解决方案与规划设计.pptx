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144"/>
  </p:notesMasterIdLst>
  <p:handoutMasterIdLst>
    <p:handoutMasterId r:id="rId145"/>
  </p:handoutMasterIdLst>
  <p:sldIdLst>
    <p:sldId id="1650" r:id="rId8"/>
    <p:sldId id="1437" r:id="rId9"/>
    <p:sldId id="1438" r:id="rId10"/>
    <p:sldId id="1439" r:id="rId11"/>
    <p:sldId id="1528" r:id="rId12"/>
    <p:sldId id="1534" r:id="rId13"/>
    <p:sldId id="1536" r:id="rId14"/>
    <p:sldId id="1535" r:id="rId15"/>
    <p:sldId id="291" r:id="rId16"/>
    <p:sldId id="1537" r:id="rId17"/>
    <p:sldId id="302" r:id="rId18"/>
    <p:sldId id="1658" r:id="rId19"/>
    <p:sldId id="281" r:id="rId20"/>
    <p:sldId id="1659" r:id="rId21"/>
    <p:sldId id="1660" r:id="rId22"/>
    <p:sldId id="1661" r:id="rId23"/>
    <p:sldId id="1662" r:id="rId24"/>
    <p:sldId id="546" r:id="rId25"/>
    <p:sldId id="1561" r:id="rId26"/>
    <p:sldId id="1663" r:id="rId27"/>
    <p:sldId id="1664" r:id="rId28"/>
    <p:sldId id="1665" r:id="rId29"/>
    <p:sldId id="1666" r:id="rId30"/>
    <p:sldId id="1667" r:id="rId31"/>
    <p:sldId id="1668" r:id="rId32"/>
    <p:sldId id="1669" r:id="rId33"/>
    <p:sldId id="1670" r:id="rId34"/>
    <p:sldId id="1671" r:id="rId35"/>
    <p:sldId id="1672" r:id="rId36"/>
    <p:sldId id="1673" r:id="rId37"/>
    <p:sldId id="1674" r:id="rId38"/>
    <p:sldId id="1675" r:id="rId39"/>
    <p:sldId id="308" r:id="rId40"/>
    <p:sldId id="1562" r:id="rId41"/>
    <p:sldId id="310" r:id="rId42"/>
    <p:sldId id="315" r:id="rId43"/>
    <p:sldId id="312" r:id="rId44"/>
    <p:sldId id="1653" r:id="rId45"/>
    <p:sldId id="1559" r:id="rId46"/>
    <p:sldId id="1566" r:id="rId47"/>
    <p:sldId id="1567" r:id="rId48"/>
    <p:sldId id="1586" r:id="rId49"/>
    <p:sldId id="1612" r:id="rId50"/>
    <p:sldId id="1568" r:id="rId51"/>
    <p:sldId id="1569" r:id="rId52"/>
    <p:sldId id="1575" r:id="rId53"/>
    <p:sldId id="1619" r:id="rId54"/>
    <p:sldId id="1620" r:id="rId55"/>
    <p:sldId id="1621" r:id="rId56"/>
    <p:sldId id="1572" r:id="rId57"/>
    <p:sldId id="1570" r:id="rId58"/>
    <p:sldId id="1587" r:id="rId59"/>
    <p:sldId id="1626" r:id="rId60"/>
    <p:sldId id="313" r:id="rId61"/>
    <p:sldId id="1470" r:id="rId62"/>
    <p:sldId id="1471" r:id="rId63"/>
    <p:sldId id="1627" r:id="rId64"/>
    <p:sldId id="1588" r:id="rId65"/>
    <p:sldId id="1590" r:id="rId66"/>
    <p:sldId id="1577" r:id="rId67"/>
    <p:sldId id="1578" r:id="rId68"/>
    <p:sldId id="1579" r:id="rId69"/>
    <p:sldId id="1580" r:id="rId70"/>
    <p:sldId id="1581" r:id="rId71"/>
    <p:sldId id="1582" r:id="rId72"/>
    <p:sldId id="1583" r:id="rId73"/>
    <p:sldId id="1584" r:id="rId74"/>
    <p:sldId id="1585" r:id="rId75"/>
    <p:sldId id="611" r:id="rId76"/>
    <p:sldId id="632" r:id="rId77"/>
    <p:sldId id="1623" r:id="rId78"/>
    <p:sldId id="1613" r:id="rId79"/>
    <p:sldId id="1591" r:id="rId80"/>
    <p:sldId id="1592" r:id="rId81"/>
    <p:sldId id="348" r:id="rId82"/>
    <p:sldId id="373" r:id="rId83"/>
    <p:sldId id="374" r:id="rId84"/>
    <p:sldId id="375" r:id="rId85"/>
    <p:sldId id="376" r:id="rId86"/>
    <p:sldId id="1593" r:id="rId87"/>
    <p:sldId id="1654" r:id="rId88"/>
    <p:sldId id="1589" r:id="rId89"/>
    <p:sldId id="1563" r:id="rId90"/>
    <p:sldId id="1594" r:id="rId91"/>
    <p:sldId id="1616" r:id="rId92"/>
    <p:sldId id="1628" r:id="rId93"/>
    <p:sldId id="1629" r:id="rId94"/>
    <p:sldId id="1596" r:id="rId95"/>
    <p:sldId id="1604" r:id="rId96"/>
    <p:sldId id="1605" r:id="rId97"/>
    <p:sldId id="1606" r:id="rId98"/>
    <p:sldId id="309" r:id="rId99"/>
    <p:sldId id="1617" r:id="rId100"/>
    <p:sldId id="1630" r:id="rId101"/>
    <p:sldId id="425" r:id="rId102"/>
    <p:sldId id="417" r:id="rId103"/>
    <p:sldId id="418" r:id="rId104"/>
    <p:sldId id="426" r:id="rId105"/>
    <p:sldId id="427" r:id="rId106"/>
    <p:sldId id="1599" r:id="rId107"/>
    <p:sldId id="1631" r:id="rId108"/>
    <p:sldId id="1632" r:id="rId109"/>
    <p:sldId id="1633" r:id="rId110"/>
    <p:sldId id="1652" r:id="rId111"/>
    <p:sldId id="1634" r:id="rId112"/>
    <p:sldId id="1636" r:id="rId113"/>
    <p:sldId id="1637" r:id="rId114"/>
    <p:sldId id="1655" r:id="rId115"/>
    <p:sldId id="1614" r:id="rId116"/>
    <p:sldId id="1615" r:id="rId117"/>
    <p:sldId id="1639" r:id="rId118"/>
    <p:sldId id="1645" r:id="rId119"/>
    <p:sldId id="1646" r:id="rId120"/>
    <p:sldId id="351" r:id="rId121"/>
    <p:sldId id="1647" r:id="rId122"/>
    <p:sldId id="1648" r:id="rId123"/>
    <p:sldId id="1649" r:id="rId124"/>
    <p:sldId id="1640" r:id="rId125"/>
    <p:sldId id="1644" r:id="rId126"/>
    <p:sldId id="1641" r:id="rId127"/>
    <p:sldId id="1642" r:id="rId128"/>
    <p:sldId id="622" r:id="rId129"/>
    <p:sldId id="624" r:id="rId130"/>
    <p:sldId id="1657" r:id="rId131"/>
    <p:sldId id="1676" r:id="rId132"/>
    <p:sldId id="1677" r:id="rId133"/>
    <p:sldId id="1678" r:id="rId134"/>
    <p:sldId id="1679" r:id="rId135"/>
    <p:sldId id="1680" r:id="rId136"/>
    <p:sldId id="1681" r:id="rId137"/>
    <p:sldId id="1682" r:id="rId138"/>
    <p:sldId id="1683" r:id="rId139"/>
    <p:sldId id="1656" r:id="rId140"/>
    <p:sldId id="1460" r:id="rId141"/>
    <p:sldId id="1462" r:id="rId142"/>
    <p:sldId id="1465" r:id="rId143"/>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u Monk" initials="WM" lastIdx="11" clrIdx="0">
    <p:extLst>
      <p:ext uri="{19B8F6BF-5375-455C-9EA6-DF929625EA0E}">
        <p15:presenceInfo xmlns:p15="http://schemas.microsoft.com/office/powerpoint/2012/main" userId="cd7b699acb0cb86b" providerId="Windows Live"/>
      </p:ext>
    </p:extLst>
  </p:cmAuthor>
  <p:cmAuthor id="2" name="luyueyuezjhw" initials="l" lastIdx="54" clrIdx="1">
    <p:extLst>
      <p:ext uri="{19B8F6BF-5375-455C-9EA6-DF929625EA0E}">
        <p15:presenceInfo xmlns:p15="http://schemas.microsoft.com/office/powerpoint/2012/main" userId="S-1-5-21-147214757-305610072-1517763936-4736116" providerId="AD"/>
      </p:ext>
    </p:extLst>
  </p:cmAuthor>
  <p:cmAuthor id="3" name="Wuyuezjhw (Monk)" initials="W(" lastIdx="70" clrIdx="2">
    <p:extLst>
      <p:ext uri="{19B8F6BF-5375-455C-9EA6-DF929625EA0E}">
        <p15:presenceInfo xmlns:p15="http://schemas.microsoft.com/office/powerpoint/2012/main" userId="S-1-5-21-147214757-305610072-1517763936-3193612" providerId="AD"/>
      </p:ext>
    </p:extLst>
  </p:cmAuthor>
  <p:cmAuthor id="4" name="Monk Wu" initials="MW" lastIdx="1" clrIdx="3">
    <p:extLst>
      <p:ext uri="{19B8F6BF-5375-455C-9EA6-DF929625EA0E}">
        <p15:presenceInfo xmlns:p15="http://schemas.microsoft.com/office/powerpoint/2012/main" userId="Monk Wu" providerId="None"/>
      </p:ext>
    </p:extLst>
  </p:cmAuthor>
  <p:cmAuthor id="5" name="Lixianzhi (Nick)" initials="L(" lastIdx="64" clrIdx="4">
    <p:extLst>
      <p:ext uri="{19B8F6BF-5375-455C-9EA6-DF929625EA0E}">
        <p15:presenceInfo xmlns:p15="http://schemas.microsoft.com/office/powerpoint/2012/main" userId="S-1-5-21-147214757-305610072-1517763936-3312251" providerId="AD"/>
      </p:ext>
    </p:extLst>
  </p:cmAuthor>
  <p:cmAuthor id="6" name="Hehongwei (Roger)" initials="H(" lastIdx="19" clrIdx="5">
    <p:extLst>
      <p:ext uri="{19B8F6BF-5375-455C-9EA6-DF929625EA0E}">
        <p15:presenceInfo xmlns:p15="http://schemas.microsoft.com/office/powerpoint/2012/main" userId="S-1-5-21-147214757-305610072-1517763936-1599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D00"/>
    <a:srgbClr val="C7000B"/>
    <a:srgbClr val="F5AC3C"/>
    <a:srgbClr val="E28189"/>
    <a:srgbClr val="FDE397"/>
    <a:srgbClr val="56C4D2"/>
    <a:srgbClr val="BEE9EE"/>
    <a:srgbClr val="94DAE2"/>
    <a:srgbClr val="B5B5B5"/>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21" autoAdjust="0"/>
    <p:restoredTop sz="95267" autoAdjust="0"/>
  </p:normalViewPr>
  <p:slideViewPr>
    <p:cSldViewPr snapToGrid="0" snapToObjects="1">
      <p:cViewPr varScale="1">
        <p:scale>
          <a:sx n="85" d="100"/>
          <a:sy n="85" d="100"/>
        </p:scale>
        <p:origin x="40"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100" d="100"/>
          <a:sy n="100" d="100"/>
        </p:scale>
        <p:origin x="3420" y="-85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theme" Target="theme/theme1.xml"/><Relationship Id="rId5" Type="http://schemas.openxmlformats.org/officeDocument/2006/relationships/slideMaster" Target="slideMasters/slideMaster2.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slide" Target="slides/slide106.xml"/><Relationship Id="rId118" Type="http://schemas.openxmlformats.org/officeDocument/2006/relationships/slide" Target="slides/slide111.xml"/><Relationship Id="rId134" Type="http://schemas.openxmlformats.org/officeDocument/2006/relationships/slide" Target="slides/slide127.xml"/><Relationship Id="rId139" Type="http://schemas.openxmlformats.org/officeDocument/2006/relationships/slide" Target="slides/slide132.xml"/><Relationship Id="rId80" Type="http://schemas.openxmlformats.org/officeDocument/2006/relationships/slide" Target="slides/slide73.xml"/><Relationship Id="rId85" Type="http://schemas.openxmlformats.org/officeDocument/2006/relationships/slide" Target="slides/slide78.xml"/><Relationship Id="rId150" Type="http://schemas.openxmlformats.org/officeDocument/2006/relationships/tableStyles" Target="tableStyles.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slide" Target="slides/slide117.xml"/><Relationship Id="rId129" Type="http://schemas.openxmlformats.org/officeDocument/2006/relationships/slide" Target="slides/slide122.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40" Type="http://schemas.openxmlformats.org/officeDocument/2006/relationships/slide" Target="slides/slide133.xml"/><Relationship Id="rId145"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slide" Target="slides/slide112.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130" Type="http://schemas.openxmlformats.org/officeDocument/2006/relationships/slide" Target="slides/slide123.xml"/><Relationship Id="rId135" Type="http://schemas.openxmlformats.org/officeDocument/2006/relationships/slide" Target="slides/slide128.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141" Type="http://schemas.openxmlformats.org/officeDocument/2006/relationships/slide" Target="slides/slide134.xml"/><Relationship Id="rId146" Type="http://schemas.openxmlformats.org/officeDocument/2006/relationships/commentAuthors" Target="commentAuthors.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4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6" Type="http://schemas.openxmlformats.org/officeDocument/2006/relationships/slide" Target="slides/slide9.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notesMaster" Target="notesMasters/notesMaster1.xml"/><Relationship Id="rId90" Type="http://schemas.openxmlformats.org/officeDocument/2006/relationships/slide" Target="slides/slide8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8/25/2023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74417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E7DBD-1AF3-4D8B-9F49-DF51093101AE}"/>
              </a:ext>
            </a:extLst>
          </p:cNvPr>
          <p:cNvSpPr>
            <a:spLocks noGrp="1" noRot="1" noChangeAspect="1"/>
          </p:cNvSpPr>
          <p:nvPr>
            <p:ph type="sldImg"/>
          </p:nvPr>
        </p:nvSpPr>
        <p:spPr>
          <a:xfrm>
            <a:off x="742950" y="717550"/>
            <a:ext cx="5557838" cy="3125788"/>
          </a:xfrm>
        </p:spPr>
      </p:sp>
      <p:sp>
        <p:nvSpPr>
          <p:cNvPr id="3" name="Notes Placeholder 2">
            <a:extLst>
              <a:ext uri="{FF2B5EF4-FFF2-40B4-BE49-F238E27FC236}">
                <a16:creationId xmlns:a16="http://schemas.microsoft.com/office/drawing/2014/main" id="{76387E7F-1B85-409E-9724-EDBD046CE51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37695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ED4FACA-EB96-46FF-AADD-056A27C7056E}"/>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8AA1A858-3C70-4F06-B2C2-57DA9630467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2007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E992C746-E14C-4F60-976A-7C17873F9AA2}"/>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350CDA67-77D5-4FCF-B92F-75BEFC47564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95824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637F6D9-2ED5-4F8A-83E2-4C3EA413458A}"/>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31BD0DF0-11A1-4A87-B1C0-F282BDEFD13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43136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5844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4B51A444-87D3-461D-825F-0A318DF2053E}"/>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5A5A043B-C54F-4C62-B83E-94AF47E5A84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03713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53839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ONUG</a:t>
            </a:r>
            <a:r>
              <a:rPr lang="zh-CN" altLang="en-US"/>
              <a:t>：</a:t>
            </a:r>
            <a:r>
              <a:rPr lang="en-US" altLang="zh-CN"/>
              <a:t>Open Networking User Group</a:t>
            </a:r>
            <a:r>
              <a:rPr lang="zh-CN" altLang="en-US"/>
              <a:t>，开放网络用户组织。</a:t>
            </a:r>
            <a:r>
              <a:rPr lang="en-US" altLang="zh-CN"/>
              <a:t>ONUG</a:t>
            </a:r>
            <a:r>
              <a:rPr lang="zh-CN" altLang="en-US"/>
              <a:t>是大企业主导，</a:t>
            </a:r>
            <a:r>
              <a:rPr lang="en-US" altLang="zh-CN"/>
              <a:t>IT</a:t>
            </a:r>
            <a:r>
              <a:rPr lang="zh-CN" altLang="en-US"/>
              <a:t>用户为主的极具影响力的用户组织。由北美知名大企业的 </a:t>
            </a:r>
            <a:r>
              <a:rPr lang="en-US" altLang="zh-CN"/>
              <a:t>IT </a:t>
            </a:r>
            <a:r>
              <a:rPr lang="zh-CN" altLang="en-US"/>
              <a:t>技术高管组织成立，致力于大型企业的</a:t>
            </a:r>
            <a:r>
              <a:rPr lang="en-US" altLang="zh-CN"/>
              <a:t>IT</a:t>
            </a:r>
            <a:r>
              <a:rPr lang="zh-CN" altLang="en-US"/>
              <a:t>实现和网络技术转型。</a:t>
            </a:r>
            <a:r>
              <a:rPr lang="en-US" altLang="zh-CN"/>
              <a:t>ONUG</a:t>
            </a:r>
            <a:r>
              <a:rPr lang="zh-CN" altLang="en-US"/>
              <a:t>的成员包括金融、保险、医疗、零售等行业中的大型企业，是北美高端客户</a:t>
            </a:r>
            <a:r>
              <a:rPr lang="en-US" altLang="zh-CN"/>
              <a:t>IT</a:t>
            </a:r>
            <a:r>
              <a:rPr lang="zh-CN" altLang="en-US"/>
              <a:t>需求讨论和交流的平台。</a:t>
            </a:r>
            <a:endParaRPr lang="en-US" altLang="zh-CN"/>
          </a:p>
          <a:p>
            <a:r>
              <a:rPr lang="en-US" altLang="zh-CN"/>
              <a:t>Gartner</a:t>
            </a:r>
            <a:r>
              <a:rPr lang="zh-CN" altLang="en-US"/>
              <a:t>：全球最具权威的</a:t>
            </a:r>
            <a:r>
              <a:rPr lang="en-US" altLang="zh-CN"/>
              <a:t>IT</a:t>
            </a:r>
            <a:r>
              <a:rPr lang="zh-CN" altLang="en-US"/>
              <a:t>研究与顾问咨询公司。其研究范围覆盖全部</a:t>
            </a:r>
            <a:r>
              <a:rPr lang="en-US" altLang="zh-CN"/>
              <a:t>IT</a:t>
            </a:r>
            <a:r>
              <a:rPr lang="zh-CN" altLang="en-US"/>
              <a:t>产业，就</a:t>
            </a:r>
            <a:r>
              <a:rPr lang="en-US" altLang="zh-CN"/>
              <a:t>IT</a:t>
            </a:r>
            <a:r>
              <a:rPr lang="zh-CN" altLang="en-US"/>
              <a:t>的研究、发展、评估、应用、市场等领域，为客户提供客观、公正的论证报告及市场调研报告，协助客户进行市场分析、技术选择、项目论证、投资决策。</a:t>
            </a:r>
            <a:endParaRPr lang="en-US" altLang="zh-CN"/>
          </a:p>
          <a:p>
            <a:r>
              <a:rPr lang="en-US" altLang="zh-CN"/>
              <a:t>MEF</a:t>
            </a:r>
            <a:r>
              <a:rPr lang="zh-CN" altLang="en-US"/>
              <a:t>（</a:t>
            </a:r>
            <a:r>
              <a:rPr lang="en-US" altLang="zh-CN"/>
              <a:t>Metro Ethernet Forum</a:t>
            </a:r>
            <a:r>
              <a:rPr lang="zh-CN" altLang="en-US"/>
              <a:t>，城域以太网论坛）是一个专注于解决城域以太网技术问题的非盈利性组织，其目标是要将以太网技术作为交换技术和传输技术广泛应用于城域网建设。</a:t>
            </a:r>
            <a:r>
              <a:rPr lang="en-US" altLang="zh-CN"/>
              <a:t>MEF</a:t>
            </a:r>
            <a:r>
              <a:rPr lang="zh-CN" altLang="en-US"/>
              <a:t>的宗旨是推动现有标准及新标准、以太网业务定义、测试规程、技术规范的实施，使基于以太网的城域网成为运营商级的网络。</a:t>
            </a:r>
            <a:r>
              <a:rPr lang="en-US" altLang="zh-CN"/>
              <a:t>MEF</a:t>
            </a:r>
            <a:r>
              <a:rPr lang="zh-CN" altLang="en-US"/>
              <a:t>的主要工作还包括面向运营商管理服务市场，提供基于</a:t>
            </a:r>
            <a:r>
              <a:rPr lang="en-US" altLang="zh-CN"/>
              <a:t>LSO</a:t>
            </a:r>
            <a:r>
              <a:rPr lang="zh-CN" altLang="en-US"/>
              <a:t>（</a:t>
            </a:r>
            <a:r>
              <a:rPr lang="en-US" altLang="zh-CN"/>
              <a:t>Lifecycle Service Orchestration</a:t>
            </a:r>
            <a:r>
              <a:rPr lang="zh-CN" altLang="en-US"/>
              <a:t>，生命周期服务编排）的方案和架构，并定义北向接口，解决多厂家对接 和互通问题。</a:t>
            </a:r>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194488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C882CFFD-CECB-40C9-AD60-C56CDB6F6DF5}"/>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A062C64B-B3A8-40C3-9941-EFEAA97B7C3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8679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92418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zh-CN" dirty="0"/>
              <a:t>从功能角度</a:t>
            </a:r>
            <a:r>
              <a:rPr lang="zh-CN" altLang="en-US" dirty="0"/>
              <a:t>看</a:t>
            </a:r>
            <a:r>
              <a:rPr lang="zh-CN" altLang="zh-CN" dirty="0"/>
              <a:t>，</a:t>
            </a:r>
            <a:r>
              <a:rPr lang="en-US" altLang="zh-CN" dirty="0"/>
              <a:t>SD-WAN</a:t>
            </a:r>
            <a:r>
              <a:rPr lang="zh-CN" altLang="zh-CN" dirty="0"/>
              <a:t>解决方案的总体架构主要包</a:t>
            </a:r>
            <a:r>
              <a:rPr lang="zh-CN" altLang="en-US" dirty="0"/>
              <a:t>含</a:t>
            </a:r>
            <a:r>
              <a:rPr lang="zh-CN" altLang="zh-CN" dirty="0"/>
              <a:t>网络层、控制层以及</a:t>
            </a:r>
            <a:r>
              <a:rPr lang="zh-CN" altLang="en-US" dirty="0"/>
              <a:t>编排层。各层次之间，通过标准接口和通信协议相互关联。</a:t>
            </a:r>
            <a:endParaRPr lang="en-US" altLang="zh-CN" dirty="0"/>
          </a:p>
          <a:p>
            <a:pPr lvl="1"/>
            <a:r>
              <a:rPr lang="zh-CN" altLang="en-US" dirty="0"/>
              <a:t>管理层：控制器对企业互联业务全流程精细管理，南向通过</a:t>
            </a:r>
            <a:r>
              <a:rPr lang="en-US" altLang="zh-CN" dirty="0"/>
              <a:t>NETCONF</a:t>
            </a:r>
            <a:r>
              <a:rPr lang="zh-CN" altLang="en-US" dirty="0"/>
              <a:t>实现对网络设备的纳管，北向提供标准</a:t>
            </a:r>
            <a:r>
              <a:rPr lang="en-US" altLang="zh-CN" dirty="0"/>
              <a:t>RESTful</a:t>
            </a:r>
            <a:r>
              <a:rPr lang="zh-CN" altLang="en-US" dirty="0"/>
              <a:t>接口与第三方应用对接。</a:t>
            </a:r>
          </a:p>
          <a:p>
            <a:pPr lvl="1"/>
            <a:r>
              <a:rPr lang="zh-CN" altLang="en-US" dirty="0"/>
              <a:t>控制层：控制器与分布式控制组件配合，负责区域内不同站点间的路由传递，实现区域间网络的互联互通。</a:t>
            </a:r>
          </a:p>
          <a:p>
            <a:pPr lvl="1"/>
            <a:r>
              <a:rPr lang="zh-CN" altLang="en-US" dirty="0"/>
              <a:t>网络层：分支、总部和云平台之间通过高性价比的网络设备，采用</a:t>
            </a:r>
            <a:r>
              <a:rPr lang="en-US" altLang="zh-CN" dirty="0"/>
              <a:t>Overlay</a:t>
            </a:r>
            <a:r>
              <a:rPr lang="zh-CN" altLang="en-US" dirty="0"/>
              <a:t>技术，按需构建基于</a:t>
            </a:r>
            <a:r>
              <a:rPr lang="en-US" altLang="zh-CN" dirty="0"/>
              <a:t>Internet</a:t>
            </a:r>
            <a:r>
              <a:rPr lang="zh-CN" altLang="en-US" dirty="0"/>
              <a:t>、传统专线等任意链路的全网络联接。</a:t>
            </a:r>
          </a:p>
          <a:p>
            <a:r>
              <a:rPr lang="en-US" altLang="zh-CN" dirty="0" err="1"/>
              <a:t>iMaster</a:t>
            </a:r>
            <a:r>
              <a:rPr lang="en-US" altLang="zh-CN" dirty="0"/>
              <a:t> NCE-WAN/</a:t>
            </a:r>
            <a:r>
              <a:rPr lang="en-US" altLang="zh-CN" dirty="0" err="1"/>
              <a:t>iMaster</a:t>
            </a:r>
            <a:r>
              <a:rPr lang="en-US" altLang="zh-CN" dirty="0"/>
              <a:t> NCE-Campus</a:t>
            </a:r>
            <a:r>
              <a:rPr lang="zh-CN" altLang="en-US" dirty="0"/>
              <a:t>都可以被作为华为</a:t>
            </a:r>
            <a:r>
              <a:rPr lang="en-US" altLang="zh-CN" dirty="0"/>
              <a:t>SD-WAN</a:t>
            </a:r>
            <a:r>
              <a:rPr lang="zh-CN" altLang="en-US" dirty="0"/>
              <a:t>控制器使用。</a:t>
            </a:r>
            <a:endParaRPr lang="en-US" altLang="zh-CN" dirty="0"/>
          </a:p>
          <a:p>
            <a:r>
              <a:rPr lang="zh-CN" altLang="zh-CN" dirty="0"/>
              <a:t>企业分支、总部、数据中心以及在云上部署的</a:t>
            </a:r>
            <a:r>
              <a:rPr lang="en-US" altLang="zh-CN" dirty="0"/>
              <a:t>IT</a:t>
            </a:r>
            <a:r>
              <a:rPr lang="zh-CN" altLang="zh-CN" dirty="0"/>
              <a:t>基础设施可统称为企业站点。</a:t>
            </a:r>
            <a:endParaRPr lang="zh-CN" altLang="en-US" dirty="0"/>
          </a:p>
        </p:txBody>
      </p:sp>
      <p:sp>
        <p:nvSpPr>
          <p:cNvPr id="5" name="Slide Image Placeholder 4">
            <a:extLst>
              <a:ext uri="{FF2B5EF4-FFF2-40B4-BE49-F238E27FC236}">
                <a16:creationId xmlns:a16="http://schemas.microsoft.com/office/drawing/2014/main" id="{B421F3D4-FB7D-4F0D-B814-7FE7B3D5779C}"/>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50490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F2D1C9D-8090-4982-97B7-B54944538165}"/>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3CB481D1-FBD4-407C-9651-777D9E54801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54360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dirty="0"/>
              <a:t>虚拟网络可以有多张，服务于同一租户不同的业务，如多个部门；同时也可以服务于不同的租户。</a:t>
            </a:r>
            <a:endParaRPr lang="en-US" altLang="zh-CN" dirty="0"/>
          </a:p>
          <a:p>
            <a:r>
              <a:rPr lang="zh-CN" altLang="zh-CN" dirty="0"/>
              <a:t>从网络设备的功能定位划分，</a:t>
            </a:r>
            <a:r>
              <a:rPr lang="en-US" altLang="zh-CN" dirty="0"/>
              <a:t>SD-WAN</a:t>
            </a:r>
            <a:r>
              <a:rPr lang="zh-CN" altLang="zh-CN" dirty="0"/>
              <a:t>的网络层主要由</a:t>
            </a:r>
            <a:r>
              <a:rPr lang="en-US" altLang="zh-CN" dirty="0"/>
              <a:t>EDGE</a:t>
            </a:r>
            <a:r>
              <a:rPr lang="zh-CN" altLang="zh-CN" dirty="0"/>
              <a:t>和</a:t>
            </a:r>
            <a:r>
              <a:rPr lang="en-US" altLang="zh-CN" dirty="0"/>
              <a:t>GW</a:t>
            </a:r>
            <a:r>
              <a:rPr lang="zh-CN" altLang="zh-CN" dirty="0"/>
              <a:t>（</a:t>
            </a:r>
            <a:r>
              <a:rPr lang="en-US" altLang="zh-CN" dirty="0"/>
              <a:t>Gateway</a:t>
            </a:r>
            <a:r>
              <a:rPr lang="zh-CN" altLang="zh-CN" dirty="0"/>
              <a:t>）两种类型的网元构成。</a:t>
            </a:r>
          </a:p>
        </p:txBody>
      </p:sp>
      <p:sp>
        <p:nvSpPr>
          <p:cNvPr id="5" name="Slide Image Placeholder 4">
            <a:extLst>
              <a:ext uri="{FF2B5EF4-FFF2-40B4-BE49-F238E27FC236}">
                <a16:creationId xmlns:a16="http://schemas.microsoft.com/office/drawing/2014/main" id="{3DF686B5-F25F-43DC-A74B-8FD6C1DAE726}"/>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79755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6A404026-50C9-4FF9-A778-FEDF6F8C5850}"/>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DAA12577-6553-4133-9F39-AD483869661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17307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RR</a:t>
            </a:r>
            <a:r>
              <a:rPr lang="zh-CN" altLang="en-US" dirty="0"/>
              <a:t>站点：站点的</a:t>
            </a:r>
            <a:r>
              <a:rPr lang="en-US" altLang="zh-CN" dirty="0"/>
              <a:t>EDGE</a:t>
            </a:r>
            <a:r>
              <a:rPr lang="zh-CN" altLang="en-US" dirty="0"/>
              <a:t>承担路由反射器的工作，基于</a:t>
            </a:r>
            <a:r>
              <a:rPr lang="en-US" altLang="zh-CN" dirty="0"/>
              <a:t>VPN</a:t>
            </a:r>
            <a:r>
              <a:rPr lang="zh-CN" altLang="en-US" dirty="0"/>
              <a:t>拓扑策略，负责</a:t>
            </a:r>
            <a:r>
              <a:rPr lang="en-US" altLang="zh-CN"/>
              <a:t>EDGE</a:t>
            </a:r>
            <a:r>
              <a:rPr lang="zh-CN" altLang="en-US"/>
              <a:t>之</a:t>
            </a:r>
            <a:r>
              <a:rPr lang="zh-CN" altLang="en-US" dirty="0"/>
              <a:t>间的</a:t>
            </a:r>
            <a:r>
              <a:rPr lang="en-US" altLang="zh-CN" dirty="0"/>
              <a:t>EVPN</a:t>
            </a:r>
            <a:r>
              <a:rPr lang="zh-CN" altLang="en-US" dirty="0"/>
              <a:t>路由分发 。 </a:t>
            </a:r>
            <a:endParaRPr lang="en-US" altLang="zh-CN" dirty="0"/>
          </a:p>
          <a:p>
            <a:r>
              <a:rPr lang="zh-CN" altLang="en-US" dirty="0"/>
              <a:t>如果租户管理员添加出口</a:t>
            </a:r>
            <a:r>
              <a:rPr lang="en-US" altLang="zh-CN" dirty="0"/>
              <a:t>EDGE</a:t>
            </a:r>
            <a:r>
              <a:rPr lang="zh-CN" altLang="en-US" dirty="0"/>
              <a:t>设备时设置的角色为“网关</a:t>
            </a:r>
            <a:r>
              <a:rPr lang="en-US" altLang="zh-CN" dirty="0"/>
              <a:t>+</a:t>
            </a:r>
            <a:r>
              <a:rPr lang="zh-CN" altLang="en-US" dirty="0"/>
              <a:t>路由反射器”，则该站点为</a:t>
            </a:r>
            <a:r>
              <a:rPr lang="en-US" altLang="zh-CN" dirty="0"/>
              <a:t>RR</a:t>
            </a:r>
            <a:r>
              <a:rPr lang="zh-CN" altLang="en-US" dirty="0"/>
              <a:t>站点，如果站点中的设备没有“网关</a:t>
            </a:r>
            <a:r>
              <a:rPr lang="en-US" altLang="zh-CN" dirty="0"/>
              <a:t>+</a:t>
            </a:r>
            <a:r>
              <a:rPr lang="zh-CN" altLang="en-US" dirty="0"/>
              <a:t>路由反射器”角色，则该站点为</a:t>
            </a:r>
            <a:r>
              <a:rPr lang="en-US" altLang="zh-CN" dirty="0"/>
              <a:t>EDGE</a:t>
            </a:r>
            <a:r>
              <a:rPr lang="zh-CN" altLang="en-US" dirty="0"/>
              <a:t>站点。</a:t>
            </a:r>
            <a:endParaRPr lang="en-US" altLang="zh-CN" dirty="0"/>
          </a:p>
          <a:p>
            <a:r>
              <a:rPr lang="zh-CN" altLang="en-US" dirty="0"/>
              <a:t>一个</a:t>
            </a:r>
            <a:r>
              <a:rPr lang="en-US" altLang="zh-CN" dirty="0"/>
              <a:t>EDGE</a:t>
            </a:r>
            <a:r>
              <a:rPr lang="zh-CN" altLang="en-US" dirty="0"/>
              <a:t>站点可支持同时与两个</a:t>
            </a:r>
            <a:r>
              <a:rPr lang="en-US" altLang="zh-CN" dirty="0"/>
              <a:t>RR</a:t>
            </a:r>
            <a:r>
              <a:rPr lang="zh-CN" altLang="en-US" dirty="0"/>
              <a:t>建立</a:t>
            </a:r>
            <a:r>
              <a:rPr lang="en-US" altLang="zh-CN" dirty="0"/>
              <a:t>IBGP</a:t>
            </a:r>
            <a:r>
              <a:rPr lang="zh-CN" altLang="en-US" dirty="0"/>
              <a:t>邻居，两个</a:t>
            </a:r>
            <a:r>
              <a:rPr lang="en-US" altLang="zh-CN" dirty="0"/>
              <a:t>RR</a:t>
            </a:r>
            <a:r>
              <a:rPr lang="zh-CN" altLang="en-US" dirty="0"/>
              <a:t>互为备份。</a:t>
            </a:r>
            <a:endParaRPr lang="en-US" altLang="zh-CN" dirty="0"/>
          </a:p>
          <a:p>
            <a:r>
              <a:rPr lang="zh-CN" altLang="en-US" dirty="0"/>
              <a:t>一个租户下可部署多个</a:t>
            </a:r>
            <a:r>
              <a:rPr lang="en-US" altLang="zh-CN" dirty="0"/>
              <a:t>RR</a:t>
            </a:r>
            <a:r>
              <a:rPr lang="zh-CN" altLang="en-US" dirty="0"/>
              <a:t>，所有</a:t>
            </a:r>
            <a:r>
              <a:rPr lang="en-US" altLang="zh-CN" dirty="0"/>
              <a:t>RR</a:t>
            </a:r>
            <a:r>
              <a:rPr lang="zh-CN" altLang="en-US" dirty="0"/>
              <a:t>之间在控制面是</a:t>
            </a:r>
            <a:r>
              <a:rPr lang="en-US" altLang="zh-CN" dirty="0"/>
              <a:t>Full-Mesh</a:t>
            </a:r>
            <a:r>
              <a:rPr lang="zh-CN" altLang="en-US" dirty="0"/>
              <a:t>连接。</a:t>
            </a:r>
            <a:endParaRPr lang="en-US" altLang="zh-CN" dirty="0"/>
          </a:p>
        </p:txBody>
      </p:sp>
      <p:sp>
        <p:nvSpPr>
          <p:cNvPr id="5" name="Slide Image Placeholder 4">
            <a:extLst>
              <a:ext uri="{FF2B5EF4-FFF2-40B4-BE49-F238E27FC236}">
                <a16:creationId xmlns:a16="http://schemas.microsoft.com/office/drawing/2014/main" id="{10E032A7-A439-4072-B6DF-1439671E66CC}"/>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82327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a:t>GW</a:t>
            </a:r>
            <a:r>
              <a:rPr lang="zh-CN" altLang="zh-CN" dirty="0"/>
              <a:t>在不同的业务场景有不同的角色名称，比如与传统站点连接的</a:t>
            </a:r>
            <a:r>
              <a:rPr lang="en-US" altLang="zh-CN" dirty="0"/>
              <a:t>GW</a:t>
            </a:r>
            <a:r>
              <a:rPr lang="zh-CN" altLang="zh-CN" dirty="0"/>
              <a:t>可以称为</a:t>
            </a:r>
            <a:r>
              <a:rPr lang="en-US" altLang="zh-CN" dirty="0"/>
              <a:t>IWG</a:t>
            </a:r>
            <a:r>
              <a:rPr lang="zh-CN" altLang="zh-CN" dirty="0"/>
              <a:t>（</a:t>
            </a:r>
            <a:r>
              <a:rPr lang="en-US" altLang="zh-CN" dirty="0"/>
              <a:t>Interworking Gateway</a:t>
            </a:r>
            <a:r>
              <a:rPr lang="zh-CN" altLang="zh-CN" dirty="0"/>
              <a:t>）</a:t>
            </a:r>
            <a:r>
              <a:rPr lang="zh-CN" altLang="en-US" dirty="0"/>
              <a:t>。此外，</a:t>
            </a:r>
            <a:r>
              <a:rPr lang="zh-CN" altLang="zh-CN" dirty="0"/>
              <a:t>与云连接的</a:t>
            </a:r>
            <a:r>
              <a:rPr lang="en-US" altLang="zh-CN" dirty="0"/>
              <a:t>GW</a:t>
            </a:r>
            <a:r>
              <a:rPr lang="zh-CN" altLang="zh-CN" dirty="0"/>
              <a:t>可以称为</a:t>
            </a:r>
            <a:r>
              <a:rPr lang="en-US" altLang="zh-CN" dirty="0"/>
              <a:t>Cloud GW</a:t>
            </a:r>
            <a:r>
              <a:rPr lang="zh-CN" altLang="zh-CN" dirty="0"/>
              <a:t>；同时也可以进行功能扩展，彼此互联组建</a:t>
            </a:r>
            <a:r>
              <a:rPr lang="en-US" altLang="zh-CN" dirty="0"/>
              <a:t>POP</a:t>
            </a:r>
            <a:r>
              <a:rPr lang="zh-CN" altLang="zh-CN" dirty="0"/>
              <a:t>（</a:t>
            </a:r>
            <a:r>
              <a:rPr lang="en-US" altLang="zh-CN" dirty="0"/>
              <a:t>Point of Presence</a:t>
            </a:r>
            <a:r>
              <a:rPr lang="zh-CN" altLang="zh-CN" dirty="0"/>
              <a:t>，接入点）网络，称为</a:t>
            </a:r>
            <a:r>
              <a:rPr lang="en-US" altLang="zh-CN" dirty="0"/>
              <a:t>POP GW</a:t>
            </a:r>
            <a:r>
              <a:rPr lang="zh-CN" altLang="zh-CN" dirty="0"/>
              <a:t>。</a:t>
            </a:r>
          </a:p>
        </p:txBody>
      </p:sp>
      <p:sp>
        <p:nvSpPr>
          <p:cNvPr id="5" name="Slide Image Placeholder 4">
            <a:extLst>
              <a:ext uri="{FF2B5EF4-FFF2-40B4-BE49-F238E27FC236}">
                <a16:creationId xmlns:a16="http://schemas.microsoft.com/office/drawing/2014/main" id="{305D98F4-C863-4666-B409-8BE47EAFDD4B}"/>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82829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5527021A-8695-4E4D-801D-8BA8CDAFC37F}"/>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B031F401-7F28-40B9-A06D-DD03F1BD602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201043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A6D2D6B2-6F83-48F0-B96A-862723DA681A}"/>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EBA30F57-C690-4F39-A5E8-FD31BCB915F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339738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a:t>零配置开局：通过多种零配置开局方式，使得</a:t>
            </a:r>
            <a:r>
              <a:rPr lang="en-US" altLang="zh-CN"/>
              <a:t>EDGE</a:t>
            </a:r>
            <a:r>
              <a:rPr lang="zh-CN" altLang="en-US"/>
              <a:t>能快速注册到</a:t>
            </a:r>
            <a:r>
              <a:rPr lang="en-US" altLang="zh-CN"/>
              <a:t>iMaster NCE</a:t>
            </a:r>
            <a:r>
              <a:rPr lang="zh-CN" altLang="en-US"/>
              <a:t>控制器。</a:t>
            </a:r>
            <a:endParaRPr lang="en-US" altLang="zh-CN"/>
          </a:p>
          <a:p>
            <a:r>
              <a:rPr lang="zh-CN" altLang="en-US"/>
              <a:t>转控分离，灵活组网：</a:t>
            </a:r>
            <a:r>
              <a:rPr lang="en-US" altLang="zh-CN"/>
              <a:t>EDGE</a:t>
            </a:r>
            <a:r>
              <a:rPr lang="zh-CN" altLang="en-US"/>
              <a:t>与</a:t>
            </a:r>
            <a:r>
              <a:rPr lang="en-US" altLang="zh-CN"/>
              <a:t>iMaster NCE</a:t>
            </a:r>
            <a:r>
              <a:rPr lang="zh-CN" altLang="en-US"/>
              <a:t>控制器之间通过</a:t>
            </a:r>
            <a:r>
              <a:rPr lang="en-US" altLang="zh-CN"/>
              <a:t>Netconf</a:t>
            </a:r>
            <a:r>
              <a:rPr lang="zh-CN" altLang="en-US"/>
              <a:t>建立管理通道，</a:t>
            </a:r>
            <a:r>
              <a:rPr lang="en-US" altLang="zh-CN"/>
              <a:t>iMaster NCE</a:t>
            </a:r>
            <a:r>
              <a:rPr lang="zh-CN" altLang="en-US"/>
              <a:t>控制器下发配置建立</a:t>
            </a:r>
            <a:r>
              <a:rPr lang="en-US" altLang="zh-CN"/>
              <a:t>IP Overlay</a:t>
            </a:r>
            <a:r>
              <a:rPr lang="zh-CN" altLang="en-US"/>
              <a:t>隧道。</a:t>
            </a:r>
            <a:endParaRPr lang="en-US" altLang="zh-CN"/>
          </a:p>
          <a:p>
            <a:r>
              <a:rPr lang="zh-CN" altLang="en-US"/>
              <a:t>应用体验，业务可控可视：采用业务感知技术识别应用。采用</a:t>
            </a:r>
            <a:r>
              <a:rPr lang="en-US" altLang="zh-CN"/>
              <a:t>TCP FPM</a:t>
            </a:r>
            <a:r>
              <a:rPr lang="zh-CN" altLang="en-US"/>
              <a:t>、</a:t>
            </a:r>
            <a:r>
              <a:rPr lang="en-US" altLang="zh-CN"/>
              <a:t>IP FPM</a:t>
            </a:r>
            <a:r>
              <a:rPr lang="zh-CN" altLang="en-US"/>
              <a:t>技术实现基于应用的质量检测。采用</a:t>
            </a:r>
            <a:r>
              <a:rPr lang="en-US" altLang="zh-CN"/>
              <a:t>IP FPM</a:t>
            </a:r>
            <a:r>
              <a:rPr lang="zh-CN" altLang="en-US"/>
              <a:t>技术实现链路的质量检测。采用智能策略路由</a:t>
            </a:r>
            <a:r>
              <a:rPr lang="en-US" altLang="zh-CN"/>
              <a:t>SPR</a:t>
            </a:r>
            <a:r>
              <a:rPr lang="zh-CN" altLang="en-US"/>
              <a:t>技术实现基于应用质量进行智能的链路切换。</a:t>
            </a:r>
            <a:endParaRPr lang="en-US" altLang="zh-CN"/>
          </a:p>
          <a:p>
            <a:pPr lvl="0"/>
            <a:r>
              <a:rPr lang="zh-CN" altLang="en-US"/>
              <a:t>完整安全防御体系，业务安全无忧：支持</a:t>
            </a:r>
            <a:r>
              <a:rPr lang="en-US" altLang="zh-CN"/>
              <a:t>IPsec</a:t>
            </a:r>
            <a:r>
              <a:rPr lang="zh-CN" altLang="en-US"/>
              <a:t>、</a:t>
            </a:r>
            <a:r>
              <a:rPr lang="en-US" altLang="zh-CN"/>
              <a:t>MPLS</a:t>
            </a:r>
            <a:r>
              <a:rPr lang="zh-CN" altLang="en-US"/>
              <a:t>多种</a:t>
            </a:r>
            <a:r>
              <a:rPr lang="en-US" altLang="zh-CN"/>
              <a:t>VPN</a:t>
            </a:r>
            <a:r>
              <a:rPr lang="zh-CN" altLang="en-US"/>
              <a:t>技术提供端到端防护，支持防火墙功能，提供硬件、管道、应用多层级全方位安全保障。</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252692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ZTP</a:t>
            </a:r>
            <a:r>
              <a:rPr lang="zh-CN" altLang="en-US" dirty="0"/>
              <a:t>：</a:t>
            </a:r>
            <a:r>
              <a:rPr lang="en-US" altLang="zh-CN" dirty="0"/>
              <a:t>Zero Touch Provisioning</a:t>
            </a:r>
            <a:r>
              <a:rPr lang="zh-CN" altLang="en-US" dirty="0"/>
              <a:t>，</a:t>
            </a:r>
            <a:r>
              <a:rPr lang="zh-CN" altLang="en-US" baseline="0" dirty="0"/>
              <a:t>零配置开局</a:t>
            </a:r>
            <a:r>
              <a:rPr lang="zh-CN" altLang="en-US" dirty="0"/>
              <a:t>。</a:t>
            </a:r>
            <a:endParaRPr lang="en-US" altLang="zh-CN" dirty="0"/>
          </a:p>
          <a:p>
            <a:r>
              <a:rPr lang="en-US" altLang="zh-CN" dirty="0"/>
              <a:t>ZTP</a:t>
            </a:r>
            <a:r>
              <a:rPr lang="zh-CN" altLang="en-US" dirty="0"/>
              <a:t>开局具有以下优点：</a:t>
            </a:r>
            <a:endParaRPr lang="en-US" altLang="zh-CN" dirty="0"/>
          </a:p>
          <a:p>
            <a:pPr lvl="1"/>
            <a:r>
              <a:rPr lang="zh-CN" altLang="en-US" dirty="0"/>
              <a:t>由控制器统一配置部署，实现零配置开局，提高了开局效率，适用于大规模网络站点开局。</a:t>
            </a:r>
            <a:endParaRPr lang="en-US" altLang="zh-CN" dirty="0"/>
          </a:p>
          <a:p>
            <a:pPr lvl="1"/>
            <a:r>
              <a:rPr lang="zh-CN" altLang="en-US" dirty="0"/>
              <a:t>通过</a:t>
            </a:r>
            <a:r>
              <a:rPr lang="en-US" altLang="zh-CN" dirty="0"/>
              <a:t>URL</a:t>
            </a:r>
            <a:r>
              <a:rPr lang="zh-CN" altLang="en-US" dirty="0"/>
              <a:t>链接或</a:t>
            </a:r>
            <a:r>
              <a:rPr lang="en-US" altLang="zh-CN" dirty="0"/>
              <a:t>DHCP Option</a:t>
            </a:r>
            <a:r>
              <a:rPr lang="zh-CN" altLang="en-US" dirty="0"/>
              <a:t>参数实现开局配置，简化了开局流程，一键完成开局部署。</a:t>
            </a:r>
            <a:endParaRPr lang="en-US" altLang="zh-CN" dirty="0"/>
          </a:p>
          <a:p>
            <a:pPr lvl="1"/>
            <a:r>
              <a:rPr lang="zh-CN" altLang="en-US" dirty="0"/>
              <a:t>开局后设备自动注册到控制器，降低控制器使用难度。</a:t>
            </a:r>
            <a:endParaRPr lang="en-US" altLang="zh-CN" dirty="0"/>
          </a:p>
        </p:txBody>
      </p:sp>
      <p:sp>
        <p:nvSpPr>
          <p:cNvPr id="5" name="Slide Image Placeholder 4">
            <a:extLst>
              <a:ext uri="{FF2B5EF4-FFF2-40B4-BE49-F238E27FC236}">
                <a16:creationId xmlns:a16="http://schemas.microsoft.com/office/drawing/2014/main" id="{FDBCC92F-6F3D-4B6F-B66A-41D5455BBC1E}"/>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09833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U</a:t>
            </a:r>
            <a:r>
              <a:rPr lang="zh-CN" altLang="en-US" dirty="0"/>
              <a:t>盘开局，邮件开局与</a:t>
            </a:r>
            <a:r>
              <a:rPr lang="en-US" altLang="zh-CN" dirty="0"/>
              <a:t>DHCP</a:t>
            </a:r>
            <a:r>
              <a:rPr lang="zh-CN" altLang="en-US" dirty="0"/>
              <a:t>开局的开局文件均可以通过</a:t>
            </a:r>
            <a:r>
              <a:rPr lang="en-US" altLang="zh-CN" dirty="0" err="1"/>
              <a:t>iMaster</a:t>
            </a:r>
            <a:r>
              <a:rPr lang="en-US" altLang="zh-CN" dirty="0"/>
              <a:t> NCE</a:t>
            </a:r>
            <a:r>
              <a:rPr lang="zh-CN" altLang="en-US" dirty="0"/>
              <a:t>控制器生成。</a:t>
            </a:r>
            <a:endParaRPr lang="en-US" altLang="zh-CN" dirty="0"/>
          </a:p>
        </p:txBody>
      </p:sp>
      <p:sp>
        <p:nvSpPr>
          <p:cNvPr id="5" name="Slide Image Placeholder 4">
            <a:extLst>
              <a:ext uri="{FF2B5EF4-FFF2-40B4-BE49-F238E27FC236}">
                <a16:creationId xmlns:a16="http://schemas.microsoft.com/office/drawing/2014/main" id="{31E01CD1-5D27-49AC-B542-8DD0A2932668}"/>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58873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管理通道：</a:t>
            </a:r>
          </a:p>
          <a:p>
            <a:pPr lvl="1"/>
            <a:r>
              <a:rPr lang="en-US" altLang="zh-CN" dirty="0" err="1"/>
              <a:t>iMaster</a:t>
            </a:r>
            <a:r>
              <a:rPr lang="en-US" altLang="zh-CN" dirty="0"/>
              <a:t> NCE</a:t>
            </a:r>
            <a:r>
              <a:rPr lang="zh-CN" altLang="en-US" dirty="0"/>
              <a:t>通过</a:t>
            </a:r>
            <a:r>
              <a:rPr lang="en-US" altLang="zh-CN" dirty="0" err="1"/>
              <a:t>Netconf</a:t>
            </a:r>
            <a:r>
              <a:rPr lang="zh-CN" altLang="en-US" dirty="0"/>
              <a:t>与所有设备建立管理通道连接，进行整网的网元管理和业务编排。</a:t>
            </a:r>
          </a:p>
          <a:p>
            <a:r>
              <a:rPr lang="zh-CN" altLang="en-US" dirty="0"/>
              <a:t>控制通道：</a:t>
            </a:r>
          </a:p>
          <a:p>
            <a:pPr lvl="1"/>
            <a:r>
              <a:rPr lang="en-US" altLang="zh-CN" dirty="0"/>
              <a:t>EDGE</a:t>
            </a:r>
            <a:r>
              <a:rPr lang="zh-CN" altLang="en-US" dirty="0"/>
              <a:t>与</a:t>
            </a:r>
            <a:r>
              <a:rPr lang="en-US" altLang="zh-CN" dirty="0"/>
              <a:t>RR</a:t>
            </a:r>
            <a:r>
              <a:rPr lang="zh-CN" altLang="en-US" dirty="0"/>
              <a:t>之间建立控制通道。</a:t>
            </a:r>
            <a:endParaRPr lang="en-US" altLang="zh-CN" dirty="0"/>
          </a:p>
          <a:p>
            <a:pPr lvl="1"/>
            <a:r>
              <a:rPr lang="zh-CN" altLang="en-US" dirty="0"/>
              <a:t>引入集中的控制机制，</a:t>
            </a:r>
            <a:r>
              <a:rPr lang="en-US" altLang="zh-CN" dirty="0"/>
              <a:t>RR</a:t>
            </a:r>
            <a:r>
              <a:rPr lang="zh-CN" altLang="en-US" dirty="0"/>
              <a:t>负责分支站点间业务路由的集中控制和分发。</a:t>
            </a:r>
          </a:p>
          <a:p>
            <a:pPr lvl="1"/>
            <a:r>
              <a:rPr lang="zh-CN" altLang="en-US" dirty="0"/>
              <a:t>使用增强的</a:t>
            </a:r>
            <a:r>
              <a:rPr lang="en-US" altLang="zh-CN" dirty="0"/>
              <a:t>BGP EVPN</a:t>
            </a:r>
            <a:r>
              <a:rPr lang="zh-CN" altLang="en-US" dirty="0"/>
              <a:t>协议，实现租户</a:t>
            </a:r>
            <a:r>
              <a:rPr lang="en-US" altLang="zh-CN" dirty="0"/>
              <a:t>VPN</a:t>
            </a:r>
            <a:r>
              <a:rPr lang="zh-CN" altLang="en-US" dirty="0"/>
              <a:t>路由和下一跳信息分离承载和</a:t>
            </a:r>
            <a:r>
              <a:rPr lang="en-US" altLang="zh-CN" dirty="0"/>
              <a:t>IPsec</a:t>
            </a:r>
            <a:r>
              <a:rPr lang="zh-CN" altLang="en-US" dirty="0"/>
              <a:t>隧道的</a:t>
            </a:r>
            <a:r>
              <a:rPr lang="en-US" altLang="zh-CN" dirty="0"/>
              <a:t>SA</a:t>
            </a:r>
            <a:r>
              <a:rPr lang="zh-CN" altLang="en-US" dirty="0"/>
              <a:t>协商功能。</a:t>
            </a:r>
          </a:p>
          <a:p>
            <a:r>
              <a:rPr lang="zh-CN" altLang="en-US" dirty="0"/>
              <a:t>数据通道：</a:t>
            </a:r>
          </a:p>
          <a:p>
            <a:pPr lvl="1"/>
            <a:r>
              <a:rPr lang="en-US" altLang="zh-CN" dirty="0"/>
              <a:t>EDGE</a:t>
            </a:r>
            <a:r>
              <a:rPr lang="zh-CN" altLang="en-US" dirty="0"/>
              <a:t>之间建立数据通道。</a:t>
            </a:r>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753384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5C0493F0-F5E2-4C94-8D2E-9CEE40CFFE7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D50FD211-A514-4D1E-A835-17C78869BF4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718076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TNP</a:t>
            </a:r>
            <a:r>
              <a:rPr lang="zh-CN" altLang="en-US" dirty="0"/>
              <a:t>（</a:t>
            </a:r>
            <a:r>
              <a:rPr lang="en-US" altLang="zh-CN" dirty="0"/>
              <a:t>Transport Network Port</a:t>
            </a:r>
            <a:r>
              <a:rPr lang="zh-CN" altLang="en-US" dirty="0"/>
              <a:t>）：</a:t>
            </a:r>
            <a:r>
              <a:rPr lang="en-US" altLang="zh-CN" dirty="0"/>
              <a:t>CPE</a:t>
            </a:r>
            <a:r>
              <a:rPr lang="zh-CN" altLang="en-US" dirty="0"/>
              <a:t>接入</a:t>
            </a:r>
            <a:r>
              <a:rPr lang="en-US" altLang="zh-CN" dirty="0"/>
              <a:t>Transport Network</a:t>
            </a:r>
            <a:r>
              <a:rPr lang="zh-CN" altLang="en-US" dirty="0"/>
              <a:t>的</a:t>
            </a:r>
            <a:r>
              <a:rPr lang="en-US" altLang="zh-CN" dirty="0"/>
              <a:t>WAN</a:t>
            </a:r>
            <a:r>
              <a:rPr lang="zh-CN" altLang="en-US" dirty="0"/>
              <a:t>接口，关键信息包括：</a:t>
            </a:r>
            <a:r>
              <a:rPr lang="en-US" altLang="zh-CN" dirty="0"/>
              <a:t>Site ID</a:t>
            </a:r>
            <a:r>
              <a:rPr lang="zh-CN" altLang="en-US" dirty="0"/>
              <a:t>，</a:t>
            </a:r>
            <a:r>
              <a:rPr lang="en-US" altLang="zh-CN" dirty="0"/>
              <a:t>EDGE Router ID</a:t>
            </a:r>
            <a:r>
              <a:rPr lang="zh-CN" altLang="en-US" dirty="0"/>
              <a:t>，</a:t>
            </a:r>
            <a:r>
              <a:rPr lang="en-US" altLang="zh-CN" dirty="0"/>
              <a:t>Transport network-ID</a:t>
            </a:r>
            <a:r>
              <a:rPr lang="zh-CN" altLang="en-US" dirty="0"/>
              <a:t>，</a:t>
            </a:r>
            <a:r>
              <a:rPr lang="en-US" altLang="zh-CN" dirty="0"/>
              <a:t>public IP</a:t>
            </a:r>
            <a:r>
              <a:rPr lang="zh-CN" altLang="en-US" dirty="0"/>
              <a:t>，</a:t>
            </a:r>
            <a:r>
              <a:rPr lang="en-US" altLang="zh-CN" dirty="0"/>
              <a:t>private IP</a:t>
            </a:r>
            <a:r>
              <a:rPr lang="zh-CN" altLang="en-US" dirty="0"/>
              <a:t>，</a:t>
            </a:r>
            <a:r>
              <a:rPr lang="en-US" altLang="zh-CN" dirty="0"/>
              <a:t>Tunnel Encapsulation</a:t>
            </a:r>
            <a:r>
              <a:rPr lang="zh-CN" altLang="en-US" dirty="0"/>
              <a:t>等。</a:t>
            </a:r>
          </a:p>
        </p:txBody>
      </p:sp>
      <p:sp>
        <p:nvSpPr>
          <p:cNvPr id="5" name="Slide Image Placeholder 4">
            <a:extLst>
              <a:ext uri="{FF2B5EF4-FFF2-40B4-BE49-F238E27FC236}">
                <a16:creationId xmlns:a16="http://schemas.microsoft.com/office/drawing/2014/main" id="{12E6265E-913F-49E7-BEB5-CE69CAC8B335}"/>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5834474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5A95515-0ED3-49B3-9EB9-4BFE03CCDFF5}"/>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A66EB546-2722-4F99-BEC3-704E2FCFB1B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447668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53A4B87B-E906-4409-A88C-C47ADCA23012}"/>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F9AE7E59-A94A-41D7-B75F-16C32E0755B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378708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Slide Image Placeholder 4">
            <a:extLst>
              <a:ext uri="{FF2B5EF4-FFF2-40B4-BE49-F238E27FC236}">
                <a16:creationId xmlns:a16="http://schemas.microsoft.com/office/drawing/2014/main" id="{4AE5A487-4CC3-4041-BCF2-0A6251D9860E}"/>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751997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A5B7CB4D-5BAF-4E80-BC4C-E51FD736EA30}"/>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4C061E74-6A31-412D-B6CB-98658FD6764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405038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0A2D9B68-2A6F-44FF-98A2-002195D81EB3}"/>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5AF3EF27-28F2-4039-ADFF-BF8C0013E73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729881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ADCC21EF-CF72-4C4A-B4EB-7540ECD1F8D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5BC0EBF1-134B-46E5-901A-C2113B6AD40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524985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91DC2256-DF9B-4DEC-96FB-0D0351453B5E}"/>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C4B58731-75E1-420B-96A4-54F9D6977FD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690644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98099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855263F-E6B7-4785-931B-6F37187DE800}"/>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FC602AD9-E952-4CEB-BF72-32D4F1D173A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6638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CEDDE-6DE8-46A5-B1DA-07DB3DA83FFF}"/>
              </a:ext>
            </a:extLst>
          </p:cNvPr>
          <p:cNvSpPr>
            <a:spLocks noGrp="1" noRot="1" noChangeAspect="1"/>
          </p:cNvSpPr>
          <p:nvPr>
            <p:ph type="sldImg"/>
          </p:nvPr>
        </p:nvSpPr>
        <p:spPr>
          <a:xfrm>
            <a:off x="742950" y="717550"/>
            <a:ext cx="5557838" cy="3125788"/>
          </a:xfrm>
        </p:spPr>
      </p:sp>
      <p:sp>
        <p:nvSpPr>
          <p:cNvPr id="3" name="Notes Placeholder 2">
            <a:extLst>
              <a:ext uri="{FF2B5EF4-FFF2-40B4-BE49-F238E27FC236}">
                <a16:creationId xmlns:a16="http://schemas.microsoft.com/office/drawing/2014/main" id="{74BF941A-3D5D-43DB-A4B6-708EABF7CC3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60201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276E4-103E-454A-A381-D36205B1E23D}"/>
              </a:ext>
            </a:extLst>
          </p:cNvPr>
          <p:cNvSpPr>
            <a:spLocks noGrp="1" noRot="1" noChangeAspect="1"/>
          </p:cNvSpPr>
          <p:nvPr>
            <p:ph type="sldImg"/>
          </p:nvPr>
        </p:nvSpPr>
        <p:spPr>
          <a:xfrm>
            <a:off x="742950" y="717550"/>
            <a:ext cx="5557838" cy="3125788"/>
          </a:xfrm>
        </p:spPr>
      </p:sp>
      <p:sp>
        <p:nvSpPr>
          <p:cNvPr id="3" name="Notes Placeholder 2">
            <a:extLst>
              <a:ext uri="{FF2B5EF4-FFF2-40B4-BE49-F238E27FC236}">
                <a16:creationId xmlns:a16="http://schemas.microsoft.com/office/drawing/2014/main" id="{CA4FD685-BF00-42A4-89AE-6061010F848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273851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3AC1A-04F4-4B10-BA26-5E8789F88D02}"/>
              </a:ext>
            </a:extLst>
          </p:cNvPr>
          <p:cNvSpPr>
            <a:spLocks noGrp="1" noRot="1" noChangeAspect="1"/>
          </p:cNvSpPr>
          <p:nvPr>
            <p:ph type="sldImg"/>
          </p:nvPr>
        </p:nvSpPr>
        <p:spPr>
          <a:xfrm>
            <a:off x="742950" y="717550"/>
            <a:ext cx="5557838" cy="3125788"/>
          </a:xfrm>
        </p:spPr>
      </p:sp>
      <p:sp>
        <p:nvSpPr>
          <p:cNvPr id="3" name="Notes Placeholder 2">
            <a:extLst>
              <a:ext uri="{FF2B5EF4-FFF2-40B4-BE49-F238E27FC236}">
                <a16:creationId xmlns:a16="http://schemas.microsoft.com/office/drawing/2014/main" id="{7418CCD7-9EE7-4C3F-B078-87A6842D9B6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251511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36911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D91DFB52-4661-4DE2-8EA6-0707CC0BAB7C}"/>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4F0B0D83-C444-456D-8386-8E688D8758D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27976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en-US" altLang="zh-CN" dirty="0"/>
          </a:p>
        </p:txBody>
      </p:sp>
      <p:sp>
        <p:nvSpPr>
          <p:cNvPr id="5" name="Slide Image Placeholder 4">
            <a:extLst>
              <a:ext uri="{FF2B5EF4-FFF2-40B4-BE49-F238E27FC236}">
                <a16:creationId xmlns:a16="http://schemas.microsoft.com/office/drawing/2014/main" id="{A72FE792-7150-4D6E-A015-73A5BC5E3A2A}"/>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157203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182175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98376F4D-7D41-447A-8053-E5E01265B37C}"/>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A7500B16-20AB-4282-9629-F106C066E78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180886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2005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SD-WAN</a:t>
            </a:r>
            <a:r>
              <a:rPr lang="zh-CN" altLang="en-US" dirty="0"/>
              <a:t>站点可以选择部署单</a:t>
            </a:r>
            <a:r>
              <a:rPr lang="en-US" altLang="zh-CN" dirty="0"/>
              <a:t>CPE</a:t>
            </a:r>
            <a:r>
              <a:rPr lang="zh-CN" altLang="en-US" dirty="0"/>
              <a:t>设备，也可以选择部署双</a:t>
            </a:r>
            <a:r>
              <a:rPr lang="en-US" altLang="zh-CN" dirty="0"/>
              <a:t>CPE</a:t>
            </a:r>
            <a:r>
              <a:rPr lang="zh-CN" altLang="en-US" dirty="0"/>
              <a:t>设备。对于小型站点可以选择部署单</a:t>
            </a:r>
            <a:r>
              <a:rPr lang="en-US" altLang="zh-CN" dirty="0"/>
              <a:t>CPE</a:t>
            </a:r>
            <a:r>
              <a:rPr lang="zh-CN" altLang="en-US" dirty="0"/>
              <a:t>设备，对于可靠性要求较高的站点建议选择部署双</a:t>
            </a:r>
            <a:r>
              <a:rPr lang="en-US" altLang="zh-CN" dirty="0"/>
              <a:t>CPE</a:t>
            </a:r>
            <a:r>
              <a:rPr lang="zh-CN" altLang="en-US" dirty="0"/>
              <a:t>设备，以提供设备级冗余。</a:t>
            </a:r>
            <a:endParaRPr lang="en-US" altLang="zh-CN" dirty="0"/>
          </a:p>
          <a:p>
            <a:r>
              <a:rPr lang="zh-CN" altLang="en-US" dirty="0"/>
              <a:t>通常来说建议</a:t>
            </a:r>
            <a:r>
              <a:rPr lang="en-US" altLang="zh-CN" dirty="0"/>
              <a:t>CPE</a:t>
            </a:r>
            <a:r>
              <a:rPr lang="zh-CN" altLang="en-US" dirty="0"/>
              <a:t>的</a:t>
            </a:r>
            <a:r>
              <a:rPr lang="en-US" altLang="zh-CN" dirty="0"/>
              <a:t>WAN</a:t>
            </a:r>
            <a:r>
              <a:rPr lang="zh-CN" altLang="en-US" dirty="0"/>
              <a:t>侧部署多条链路，一方面多条链路可以相互备份，提供链路级可靠性；另一方面，</a:t>
            </a:r>
            <a:r>
              <a:rPr lang="en-US" altLang="zh-CN" dirty="0"/>
              <a:t>WAN</a:t>
            </a:r>
            <a:r>
              <a:rPr lang="zh-CN" altLang="en-US" dirty="0"/>
              <a:t>侧部署质量属性不同的多条链路，也便于后续基于业务选择主备路径，为业务提供差异化的链路选择。</a:t>
            </a:r>
            <a:endParaRPr lang="en-US" altLang="zh-CN" dirty="0"/>
          </a:p>
          <a:p>
            <a:r>
              <a:rPr lang="en-US" altLang="zh-CN" dirty="0"/>
              <a:t>SD-WAN</a:t>
            </a:r>
            <a:r>
              <a:rPr lang="zh-CN" altLang="en-US" dirty="0"/>
              <a:t>站点中的每台</a:t>
            </a:r>
            <a:r>
              <a:rPr lang="en-US" altLang="zh-CN" dirty="0"/>
              <a:t>CPE</a:t>
            </a:r>
            <a:r>
              <a:rPr lang="zh-CN" altLang="en-US" dirty="0"/>
              <a:t>设备最多可以部署</a:t>
            </a:r>
            <a:r>
              <a:rPr lang="en-US" altLang="zh-CN" dirty="0"/>
              <a:t>10</a:t>
            </a:r>
            <a:r>
              <a:rPr lang="zh-CN" altLang="en-US" dirty="0"/>
              <a:t>条</a:t>
            </a:r>
            <a:r>
              <a:rPr lang="en-US" altLang="zh-CN" dirty="0"/>
              <a:t>WAN</a:t>
            </a:r>
            <a:r>
              <a:rPr lang="zh-CN" altLang="en-US" dirty="0"/>
              <a:t>链路。但是实际部署时，综合可靠性与运维的方便性，建议站点单</a:t>
            </a:r>
            <a:r>
              <a:rPr lang="en-US" altLang="zh-CN" dirty="0"/>
              <a:t>CPE</a:t>
            </a:r>
            <a:r>
              <a:rPr lang="zh-CN" altLang="en-US" dirty="0"/>
              <a:t>部署不超过</a:t>
            </a:r>
            <a:r>
              <a:rPr lang="en-US" altLang="zh-CN" dirty="0"/>
              <a:t>3</a:t>
            </a:r>
            <a:r>
              <a:rPr lang="zh-CN" altLang="en-US" dirty="0"/>
              <a:t>条</a:t>
            </a:r>
            <a:r>
              <a:rPr lang="en-US" altLang="zh-CN" dirty="0"/>
              <a:t>WAN</a:t>
            </a:r>
            <a:r>
              <a:rPr lang="zh-CN" altLang="en-US" dirty="0"/>
              <a:t>链路，站点双</a:t>
            </a:r>
            <a:r>
              <a:rPr lang="en-US" altLang="zh-CN" dirty="0"/>
              <a:t>CPE</a:t>
            </a:r>
            <a:r>
              <a:rPr lang="zh-CN" altLang="en-US" dirty="0"/>
              <a:t>设备时，最多部署不超过</a:t>
            </a:r>
            <a:r>
              <a:rPr lang="en-US" altLang="zh-CN" dirty="0"/>
              <a:t>6</a:t>
            </a:r>
            <a:r>
              <a:rPr lang="zh-CN" altLang="en-US" dirty="0"/>
              <a:t>条</a:t>
            </a:r>
            <a:r>
              <a:rPr lang="en-US" altLang="zh-CN" dirty="0"/>
              <a:t>WAN</a:t>
            </a:r>
            <a:r>
              <a:rPr lang="zh-CN" altLang="en-US" dirty="0"/>
              <a:t>链路。 </a:t>
            </a:r>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379544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320687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023945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en-US" dirty="0"/>
              <a:t>LAN</a:t>
            </a:r>
            <a:r>
              <a:rPr lang="zh-CN" altLang="en-US" dirty="0"/>
              <a:t>侧对接</a:t>
            </a:r>
            <a:r>
              <a:rPr lang="en-US" dirty="0"/>
              <a:t>L2</a:t>
            </a:r>
            <a:r>
              <a:rPr lang="zh-CN" altLang="en-US" dirty="0"/>
              <a:t>网络</a:t>
            </a:r>
          </a:p>
          <a:p>
            <a:pPr lvl="1"/>
            <a:r>
              <a:rPr lang="zh-CN" altLang="en-US" dirty="0"/>
              <a:t>对于规模较小的站点，当内部网络结构比较简单</a:t>
            </a:r>
            <a:r>
              <a:rPr lang="zh-CN" altLang="en-US"/>
              <a:t>时，</a:t>
            </a:r>
            <a:r>
              <a:rPr lang="en-US" altLang="zh-CN"/>
              <a:t>CPE</a:t>
            </a:r>
            <a:r>
              <a:rPr lang="zh-CN" altLang="en-US" dirty="0"/>
              <a:t>通常通过二层方式连接站点的内部网络。</a:t>
            </a:r>
            <a:endParaRPr lang="en-US" altLang="zh-CN" dirty="0"/>
          </a:p>
          <a:p>
            <a:pPr lvl="0"/>
            <a:r>
              <a:rPr lang="en-US" dirty="0"/>
              <a:t>LAN</a:t>
            </a:r>
            <a:r>
              <a:rPr lang="zh-CN" altLang="en-US" dirty="0"/>
              <a:t>侧对接</a:t>
            </a:r>
            <a:r>
              <a:rPr lang="en-US" dirty="0"/>
              <a:t>L3</a:t>
            </a:r>
            <a:r>
              <a:rPr lang="zh-CN" altLang="en-US" dirty="0"/>
              <a:t>网络</a:t>
            </a:r>
          </a:p>
          <a:p>
            <a:pPr lvl="1"/>
            <a:r>
              <a:rPr lang="zh-CN" altLang="en-US" dirty="0"/>
              <a:t>在三层对接</a:t>
            </a:r>
            <a:r>
              <a:rPr lang="zh-CN" altLang="en-US"/>
              <a:t>场景，</a:t>
            </a:r>
            <a:r>
              <a:rPr lang="en-US" altLang="zh-CN"/>
              <a:t>SD-WAN</a:t>
            </a:r>
            <a:r>
              <a:rPr lang="zh-CN" altLang="en-US" dirty="0"/>
              <a:t>路由器可能提供直连、双</a:t>
            </a:r>
            <a:r>
              <a:rPr lang="zh-CN" altLang="en-US"/>
              <a:t>归、口</a:t>
            </a:r>
            <a:r>
              <a:rPr lang="zh-CN" altLang="en-US" dirty="0"/>
              <a:t>字型组网。</a:t>
            </a:r>
            <a:endParaRPr lang="en-US" altLang="zh-CN" dirty="0"/>
          </a:p>
          <a:p>
            <a:pPr lvl="1"/>
            <a:r>
              <a:rPr lang="zh-CN" altLang="en-US" dirty="0"/>
              <a:t>三</a:t>
            </a:r>
            <a:r>
              <a:rPr lang="zh-CN" altLang="en-US"/>
              <a:t>层的连接场景</a:t>
            </a:r>
            <a:r>
              <a:rPr lang="zh-CN" altLang="en-US" dirty="0"/>
              <a:t>下，</a:t>
            </a:r>
            <a:r>
              <a:rPr lang="en-US" altLang="zh-CN" dirty="0"/>
              <a:t>CPE</a:t>
            </a:r>
            <a:r>
              <a:rPr lang="zh-CN" altLang="en-US" dirty="0"/>
              <a:t>根据</a:t>
            </a:r>
            <a:r>
              <a:rPr lang="en-US" altLang="zh-CN" dirty="0"/>
              <a:t>LAN</a:t>
            </a:r>
            <a:r>
              <a:rPr lang="zh-CN" altLang="en-US" dirty="0"/>
              <a:t>设备的要求配置相关的路由协议即可以完成</a:t>
            </a:r>
            <a:r>
              <a:rPr lang="en-US" altLang="zh-CN" dirty="0"/>
              <a:t>LAN</a:t>
            </a:r>
            <a:r>
              <a:rPr lang="zh-CN" altLang="en-US" dirty="0"/>
              <a:t>侧的配置。</a:t>
            </a:r>
            <a:endParaRPr lang="en-US" dirty="0"/>
          </a:p>
        </p:txBody>
      </p:sp>
    </p:spTree>
    <p:extLst>
      <p:ext uri="{BB962C8B-B14F-4D97-AF65-F5344CB8AC3E}">
        <p14:creationId xmlns:p14="http://schemas.microsoft.com/office/powerpoint/2010/main" val="32311065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dirty="0"/>
              <a:t>单</a:t>
            </a:r>
            <a:r>
              <a:rPr lang="en-US" altLang="zh-CN" dirty="0"/>
              <a:t>CPE</a:t>
            </a:r>
            <a:r>
              <a:rPr lang="zh-CN" altLang="zh-CN" dirty="0"/>
              <a:t>结构下，</a:t>
            </a:r>
            <a:r>
              <a:rPr lang="en-US" altLang="zh-CN" dirty="0"/>
              <a:t>LAN</a:t>
            </a:r>
            <a:r>
              <a:rPr lang="zh-CN" altLang="zh-CN" dirty="0"/>
              <a:t>的连接的比较简单</a:t>
            </a:r>
            <a:r>
              <a:rPr lang="zh-CN" altLang="en-US" dirty="0"/>
              <a:t>。</a:t>
            </a:r>
            <a:endParaRPr lang="en-US" altLang="zh-CN" dirty="0"/>
          </a:p>
          <a:p>
            <a:pPr lvl="1"/>
            <a:r>
              <a:rPr lang="zh-CN" altLang="zh-CN" dirty="0"/>
              <a:t>对于站点的规模较小的情况下（如</a:t>
            </a:r>
            <a:r>
              <a:rPr lang="en-US" altLang="zh-CN" dirty="0"/>
              <a:t>SOHO</a:t>
            </a:r>
            <a:r>
              <a:rPr lang="zh-CN" altLang="zh-CN" dirty="0"/>
              <a:t>），可以通过</a:t>
            </a:r>
            <a:r>
              <a:rPr lang="en-US" altLang="zh-CN" dirty="0"/>
              <a:t>LAN</a:t>
            </a:r>
            <a:r>
              <a:rPr lang="zh-CN" altLang="zh-CN" dirty="0"/>
              <a:t>侧的接口直接连接站点的终端</a:t>
            </a:r>
            <a:r>
              <a:rPr lang="zh-CN" altLang="en-US" dirty="0"/>
              <a:t>。</a:t>
            </a:r>
            <a:endParaRPr lang="en-US" altLang="zh-CN" dirty="0"/>
          </a:p>
          <a:p>
            <a:pPr lvl="1"/>
            <a:r>
              <a:rPr lang="zh-CN" altLang="zh-CN" dirty="0"/>
              <a:t>如果路由器的</a:t>
            </a:r>
            <a:r>
              <a:rPr lang="en-US" altLang="zh-CN" dirty="0"/>
              <a:t>LAN</a:t>
            </a:r>
            <a:r>
              <a:rPr lang="zh-CN" altLang="zh-CN" dirty="0"/>
              <a:t>侧接口不足，则可以在</a:t>
            </a:r>
            <a:r>
              <a:rPr lang="en-US" altLang="zh-CN" dirty="0"/>
              <a:t>CPE</a:t>
            </a:r>
            <a:r>
              <a:rPr lang="zh-CN" altLang="zh-CN" dirty="0"/>
              <a:t>下面部署接入交换机，接入交换机与</a:t>
            </a:r>
            <a:r>
              <a:rPr lang="en-US" altLang="zh-CN" dirty="0"/>
              <a:t>CPE</a:t>
            </a:r>
            <a:r>
              <a:rPr lang="zh-CN" altLang="zh-CN" dirty="0"/>
              <a:t>之间用</a:t>
            </a:r>
            <a:r>
              <a:rPr lang="zh-CN" altLang="en-US" dirty="0"/>
              <a:t>单臂路由的</a:t>
            </a:r>
            <a:r>
              <a:rPr lang="zh-CN" altLang="zh-CN" dirty="0"/>
              <a:t>方式连接。</a:t>
            </a:r>
          </a:p>
          <a:p>
            <a:r>
              <a:rPr lang="zh-CN" altLang="zh-CN" dirty="0"/>
              <a:t>双</a:t>
            </a:r>
            <a:r>
              <a:rPr lang="en-US" altLang="zh-CN" dirty="0"/>
              <a:t>CPE</a:t>
            </a:r>
            <a:r>
              <a:rPr lang="zh-CN" altLang="zh-CN" dirty="0"/>
              <a:t>结构下，为了避免双</a:t>
            </a:r>
            <a:r>
              <a:rPr lang="en-US" altLang="zh-CN" dirty="0"/>
              <a:t>CPE</a:t>
            </a:r>
            <a:r>
              <a:rPr lang="zh-CN" altLang="zh-CN" dirty="0"/>
              <a:t>结构对于</a:t>
            </a:r>
            <a:r>
              <a:rPr lang="en-US" altLang="zh-CN" dirty="0"/>
              <a:t>LAN</a:t>
            </a:r>
            <a:r>
              <a:rPr lang="zh-CN" altLang="zh-CN" dirty="0"/>
              <a:t>侧网络的影响，通常会在</a:t>
            </a:r>
            <a:r>
              <a:rPr lang="en-US" altLang="zh-CN" dirty="0"/>
              <a:t>CPE</a:t>
            </a:r>
            <a:r>
              <a:rPr lang="zh-CN" altLang="zh-CN" dirty="0"/>
              <a:t>上部署</a:t>
            </a:r>
            <a:r>
              <a:rPr lang="en-US" altLang="zh-CN" dirty="0"/>
              <a:t>VRRP</a:t>
            </a:r>
            <a:r>
              <a:rPr lang="zh-CN" altLang="en-US"/>
              <a:t>。</a:t>
            </a:r>
            <a:endParaRPr lang="en-US" altLang="zh-CN" dirty="0"/>
          </a:p>
          <a:p>
            <a:pPr lvl="1"/>
            <a:r>
              <a:rPr lang="en-US" altLang="zh-CN" dirty="0"/>
              <a:t>LAN</a:t>
            </a:r>
            <a:r>
              <a:rPr lang="zh-CN" altLang="zh-CN" dirty="0"/>
              <a:t>侧的</a:t>
            </a:r>
            <a:r>
              <a:rPr lang="en-US" altLang="zh-CN" dirty="0"/>
              <a:t>SW</a:t>
            </a:r>
            <a:r>
              <a:rPr lang="zh-CN" altLang="zh-CN" dirty="0"/>
              <a:t>可以</a:t>
            </a:r>
            <a:r>
              <a:rPr lang="zh-CN" altLang="en-US" dirty="0"/>
              <a:t>以</a:t>
            </a:r>
            <a:r>
              <a:rPr lang="zh-CN" altLang="zh-CN" dirty="0"/>
              <a:t>多台堆叠的方式部署。站点为双</a:t>
            </a:r>
            <a:r>
              <a:rPr lang="en-US" altLang="zh-CN" dirty="0"/>
              <a:t>CPE</a:t>
            </a:r>
            <a:r>
              <a:rPr lang="zh-CN" altLang="zh-CN" dirty="0"/>
              <a:t>设备时，</a:t>
            </a:r>
            <a:r>
              <a:rPr lang="en-US" altLang="zh-CN" dirty="0"/>
              <a:t>CPE</a:t>
            </a:r>
            <a:r>
              <a:rPr lang="zh-CN" altLang="zh-CN" dirty="0"/>
              <a:t>之间支持直接互连，也支持通过</a:t>
            </a:r>
            <a:r>
              <a:rPr lang="en-US" altLang="zh-CN" dirty="0"/>
              <a:t>LAN</a:t>
            </a:r>
            <a:r>
              <a:rPr lang="zh-CN" altLang="zh-CN" dirty="0"/>
              <a:t>侧网络互连。</a:t>
            </a:r>
            <a:endParaRPr lang="en-US" altLang="zh-CN" dirty="0"/>
          </a:p>
          <a:p>
            <a:pPr lvl="1"/>
            <a:r>
              <a:rPr lang="zh-CN" altLang="zh-CN" dirty="0"/>
              <a:t>直接互连时，支持互连链路为</a:t>
            </a:r>
            <a:r>
              <a:rPr lang="en-US" altLang="zh-CN" dirty="0"/>
              <a:t>Eth-Trunk</a:t>
            </a:r>
            <a:r>
              <a:rPr lang="zh-CN" altLang="zh-CN" dirty="0"/>
              <a:t>链路</a:t>
            </a:r>
            <a:r>
              <a:rPr lang="zh-CN" altLang="en-US" dirty="0"/>
              <a:t>，同时</a:t>
            </a:r>
            <a:r>
              <a:rPr lang="zh-CN" altLang="zh-CN" dirty="0"/>
              <a:t>需要</a:t>
            </a:r>
            <a:r>
              <a:rPr lang="en-US" altLang="zh-CN" dirty="0"/>
              <a:t>CPE</a:t>
            </a:r>
            <a:r>
              <a:rPr lang="zh-CN" altLang="zh-CN" dirty="0"/>
              <a:t>的主备设备间建立一个互联链路，用于在设备间转发业务报文。</a:t>
            </a:r>
          </a:p>
        </p:txBody>
      </p:sp>
      <p:sp>
        <p:nvSpPr>
          <p:cNvPr id="6" name="Slide Image Placeholder 5">
            <a:extLst>
              <a:ext uri="{FF2B5EF4-FFF2-40B4-BE49-F238E27FC236}">
                <a16:creationId xmlns:a16="http://schemas.microsoft.com/office/drawing/2014/main" id="{DD978A4B-CD0B-4E05-A5B2-9A6708EE0483}"/>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000771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dirty="0"/>
              <a:t>对于较大的企业站点，站点网络有着较复杂的网络结构</a:t>
            </a:r>
            <a:r>
              <a:rPr lang="zh-CN" altLang="en-US" dirty="0"/>
              <a:t>，</a:t>
            </a:r>
            <a:r>
              <a:rPr lang="zh-CN" altLang="zh-CN" dirty="0"/>
              <a:t>网络中会存在三层核心的设备</a:t>
            </a:r>
            <a:r>
              <a:rPr lang="zh-CN" altLang="en-US" dirty="0"/>
              <a:t>。</a:t>
            </a:r>
            <a:r>
              <a:rPr lang="zh-CN" altLang="zh-CN" dirty="0"/>
              <a:t>因此需要出口路由器支持和三层设备对接</a:t>
            </a:r>
            <a:r>
              <a:rPr lang="zh-CN" altLang="en-US" dirty="0"/>
              <a:t>。</a:t>
            </a:r>
            <a:r>
              <a:rPr lang="zh-CN" altLang="zh-CN" dirty="0"/>
              <a:t>可以通过直连、双归的方式连接</a:t>
            </a:r>
            <a:r>
              <a:rPr lang="zh-CN" altLang="en-US" dirty="0"/>
              <a:t>三次网络</a:t>
            </a:r>
            <a:r>
              <a:rPr lang="zh-CN" altLang="zh-CN" dirty="0"/>
              <a:t>，支持</a:t>
            </a:r>
            <a:r>
              <a:rPr lang="zh-CN" altLang="en-US" dirty="0"/>
              <a:t>使用</a:t>
            </a:r>
            <a:r>
              <a:rPr lang="en-US" altLang="zh-CN" dirty="0"/>
              <a:t>BGP</a:t>
            </a:r>
            <a:r>
              <a:rPr lang="zh-CN" altLang="zh-CN" dirty="0"/>
              <a:t>、</a:t>
            </a:r>
            <a:r>
              <a:rPr lang="en-US" altLang="zh-CN" dirty="0"/>
              <a:t>OSPF</a:t>
            </a:r>
            <a:r>
              <a:rPr lang="zh-CN" altLang="zh-CN" dirty="0"/>
              <a:t>、静态路由</a:t>
            </a:r>
            <a:r>
              <a:rPr lang="zh-CN" altLang="en-US" dirty="0"/>
              <a:t>交换路由协议</a:t>
            </a:r>
            <a:r>
              <a:rPr lang="zh-CN" altLang="zh-CN" dirty="0"/>
              <a:t>。</a:t>
            </a:r>
            <a:endParaRPr lang="en-US" altLang="zh-CN" dirty="0"/>
          </a:p>
          <a:p>
            <a:pPr lvl="0"/>
            <a:r>
              <a:rPr lang="zh-CN" altLang="zh-CN" dirty="0"/>
              <a:t>三层的连接场景下，单设备的场景比较简单，根据</a:t>
            </a:r>
            <a:r>
              <a:rPr lang="en-US" altLang="zh-CN" dirty="0"/>
              <a:t>LAN</a:t>
            </a:r>
            <a:r>
              <a:rPr lang="zh-CN" altLang="zh-CN" dirty="0"/>
              <a:t>设备的要求配置相关的路由协议即可以完成</a:t>
            </a:r>
            <a:r>
              <a:rPr lang="en-US" altLang="zh-CN" dirty="0"/>
              <a:t>LAN</a:t>
            </a:r>
            <a:r>
              <a:rPr lang="zh-CN" altLang="zh-CN" dirty="0"/>
              <a:t>侧的配置。</a:t>
            </a:r>
          </a:p>
        </p:txBody>
      </p:sp>
      <p:sp>
        <p:nvSpPr>
          <p:cNvPr id="5" name="Slide Image Placeholder 4">
            <a:extLst>
              <a:ext uri="{FF2B5EF4-FFF2-40B4-BE49-F238E27FC236}">
                <a16:creationId xmlns:a16="http://schemas.microsoft.com/office/drawing/2014/main" id="{23F0EC35-4AFC-45CB-8CAB-B31D051210D3}"/>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466395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870207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pPr lvl="0"/>
            <a:r>
              <a:rPr lang="zh-CN" altLang="en-US"/>
              <a:t>推荐使用方案一。因为</a:t>
            </a:r>
            <a:r>
              <a:rPr lang="en-US" altLang="zh-CN"/>
              <a:t>Interlink</a:t>
            </a:r>
            <a:r>
              <a:rPr lang="zh-CN" altLang="en-US" dirty="0"/>
              <a:t>和业务链路</a:t>
            </a:r>
            <a:r>
              <a:rPr lang="zh-CN" altLang="en-US"/>
              <a:t>分开，当</a:t>
            </a:r>
            <a:r>
              <a:rPr lang="en-US" altLang="zh-CN"/>
              <a:t>LAN</a:t>
            </a:r>
            <a:r>
              <a:rPr lang="zh-CN" altLang="en-US" dirty="0"/>
              <a:t>侧链路调整时，互连链路不受影响，且业务流向清晰。</a:t>
            </a:r>
            <a:endParaRPr lang="en-US" dirty="0"/>
          </a:p>
        </p:txBody>
      </p:sp>
    </p:spTree>
    <p:extLst>
      <p:ext uri="{BB962C8B-B14F-4D97-AF65-F5344CB8AC3E}">
        <p14:creationId xmlns:p14="http://schemas.microsoft.com/office/powerpoint/2010/main" val="95162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8CC7E2D6-DB78-4265-B6D8-D313894F722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BEAF00B-5864-4CB9-8A0E-9D88DEEB1B0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160304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Image Placeholder 2">
            <a:extLst>
              <a:ext uri="{FF2B5EF4-FFF2-40B4-BE49-F238E27FC236}">
                <a16:creationId xmlns:a16="http://schemas.microsoft.com/office/drawing/2014/main" id="{CE5AE7E3-1E8E-4E67-ACDC-D175A887BADF}"/>
              </a:ext>
            </a:extLst>
          </p:cNvPr>
          <p:cNvSpPr>
            <a:spLocks noGrp="1" noRot="1" noChangeAspect="1"/>
          </p:cNvSpPr>
          <p:nvPr>
            <p:ph type="sldImg"/>
          </p:nvPr>
        </p:nvSpPr>
        <p:spPr>
          <a:xfrm>
            <a:off x="742950" y="717550"/>
            <a:ext cx="5557838" cy="3125788"/>
          </a:xfrm>
        </p:spPr>
      </p:sp>
      <p:sp>
        <p:nvSpPr>
          <p:cNvPr id="4" name="Notes Placeholder 3">
            <a:extLst>
              <a:ext uri="{FF2B5EF4-FFF2-40B4-BE49-F238E27FC236}">
                <a16:creationId xmlns:a16="http://schemas.microsoft.com/office/drawing/2014/main" id="{A25E0FD0-371D-4EB0-BB97-496FF592294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3683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传输网络与路由域的主要作用是用于枚举构建</a:t>
            </a:r>
            <a:r>
              <a:rPr lang="en-US" altLang="zh-CN" dirty="0"/>
              <a:t>Overlay</a:t>
            </a:r>
            <a:r>
              <a:rPr lang="zh-CN" altLang="en-US" dirty="0"/>
              <a:t>隧道。</a:t>
            </a:r>
            <a:endParaRPr lang="en-US" altLang="zh-CN" dirty="0"/>
          </a:p>
          <a:p>
            <a:r>
              <a:rPr lang="en-US" dirty="0"/>
              <a:t>Site ID</a:t>
            </a:r>
            <a:r>
              <a:rPr lang="zh-CN" altLang="en-US" dirty="0"/>
              <a:t>的主要作用是作为路由条目的下一跳。</a:t>
            </a:r>
            <a:endParaRPr lang="en-US" altLang="zh-CN" dirty="0"/>
          </a:p>
          <a:p>
            <a:r>
              <a:rPr lang="en-US" dirty="0"/>
              <a:t>CPE R</a:t>
            </a:r>
            <a:r>
              <a:rPr lang="en-US" altLang="zh-CN" dirty="0"/>
              <a:t>outer ID</a:t>
            </a:r>
            <a:r>
              <a:rPr lang="zh-CN" altLang="en-US" dirty="0"/>
              <a:t>的主要作用是用于建立不同站点间的</a:t>
            </a:r>
            <a:r>
              <a:rPr lang="en-US" altLang="zh-CN" dirty="0"/>
              <a:t>BGP</a:t>
            </a:r>
            <a:r>
              <a:rPr lang="zh-CN" altLang="en-US" dirty="0"/>
              <a:t>邻居。</a:t>
            </a:r>
            <a:endParaRPr lang="en-US" altLang="zh-CN" dirty="0"/>
          </a:p>
          <a:p>
            <a:r>
              <a:rPr lang="en-US" altLang="zh-CN" dirty="0"/>
              <a:t>TNP</a:t>
            </a:r>
            <a:r>
              <a:rPr lang="zh-CN" altLang="en-US" dirty="0"/>
              <a:t>的主要作用是用于隧道建立。</a:t>
            </a:r>
            <a:endParaRPr lang="en-US" altLang="zh-CN" dirty="0"/>
          </a:p>
        </p:txBody>
      </p:sp>
      <p:sp>
        <p:nvSpPr>
          <p:cNvPr id="5" name="Slide Image Placeholder 4">
            <a:extLst>
              <a:ext uri="{FF2B5EF4-FFF2-40B4-BE49-F238E27FC236}">
                <a16:creationId xmlns:a16="http://schemas.microsoft.com/office/drawing/2014/main" id="{9FD3C491-85C7-4001-8908-08581AD7C27D}"/>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656137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TN</a:t>
            </a:r>
            <a:r>
              <a:rPr lang="zh-CN" altLang="en-US" dirty="0"/>
              <a:t>与</a:t>
            </a:r>
            <a:r>
              <a:rPr lang="en-US" altLang="zh-CN" dirty="0"/>
              <a:t>RD</a:t>
            </a:r>
            <a:r>
              <a:rPr lang="zh-CN" altLang="en-US" dirty="0"/>
              <a:t>的主要作用是用于枚举隧道。</a:t>
            </a:r>
            <a:endParaRPr lang="en-US" altLang="zh-CN" dirty="0"/>
          </a:p>
          <a:p>
            <a:pPr lvl="1"/>
            <a:r>
              <a:rPr lang="zh-CN" altLang="en-US" dirty="0"/>
              <a:t>隧道枚举：建立所有可以建立的隧道。</a:t>
            </a:r>
            <a:endParaRPr lang="en-US" dirty="0"/>
          </a:p>
          <a:p>
            <a:r>
              <a:rPr lang="en-US" altLang="zh-CN" dirty="0"/>
              <a:t>Router ID</a:t>
            </a:r>
            <a:r>
              <a:rPr lang="zh-CN" altLang="en-US" dirty="0"/>
              <a:t>的主要作用是用于建立控制通道。</a:t>
            </a:r>
          </a:p>
          <a:p>
            <a:r>
              <a:rPr lang="en-US" altLang="zh-CN" dirty="0"/>
              <a:t>Site ID</a:t>
            </a:r>
            <a:r>
              <a:rPr lang="zh-CN" altLang="en-US" dirty="0"/>
              <a:t>被作为数据转发时的下一跳。</a:t>
            </a:r>
          </a:p>
          <a:p>
            <a:r>
              <a:rPr lang="en-US" altLang="zh-CN" dirty="0"/>
              <a:t>TNP ID</a:t>
            </a:r>
            <a:r>
              <a:rPr lang="zh-CN" altLang="en-US" dirty="0"/>
              <a:t>可以被认为是接口编号。</a:t>
            </a:r>
            <a:endParaRPr lang="en-US" altLang="zh-CN" dirty="0"/>
          </a:p>
          <a:p>
            <a:r>
              <a:rPr lang="en-US" altLang="zh-CN" dirty="0"/>
              <a:t>Public IP</a:t>
            </a:r>
            <a:r>
              <a:rPr lang="zh-CN" altLang="en-US" dirty="0"/>
              <a:t>与</a:t>
            </a:r>
            <a:r>
              <a:rPr lang="en-US" altLang="zh-CN" dirty="0"/>
              <a:t>Private IP</a:t>
            </a:r>
            <a:r>
              <a:rPr lang="zh-CN" altLang="en-US" dirty="0"/>
              <a:t>被作为控制和数据通道的源</a:t>
            </a:r>
            <a:r>
              <a:rPr lang="en-US" altLang="zh-CN" dirty="0"/>
              <a:t>IP</a:t>
            </a:r>
            <a:r>
              <a:rPr lang="zh-CN" altLang="en-US" dirty="0"/>
              <a:t>或目的</a:t>
            </a:r>
            <a:r>
              <a:rPr lang="en-US" altLang="zh-CN" dirty="0"/>
              <a:t>IP</a:t>
            </a:r>
            <a:r>
              <a:rPr lang="zh-CN" altLang="en-US" dirty="0"/>
              <a:t>。</a:t>
            </a:r>
            <a:endParaRPr lang="en-US" altLang="zh-CN" dirty="0"/>
          </a:p>
          <a:p>
            <a:pPr lvl="1"/>
            <a:r>
              <a:rPr lang="zh-CN" altLang="en-US" dirty="0"/>
              <a:t>部分</a:t>
            </a:r>
            <a:r>
              <a:rPr lang="en-US" altLang="zh-CN" dirty="0"/>
              <a:t>CPE</a:t>
            </a:r>
            <a:r>
              <a:rPr lang="zh-CN" altLang="en-US" dirty="0"/>
              <a:t>被置于</a:t>
            </a:r>
            <a:r>
              <a:rPr lang="en-US" altLang="zh-CN" dirty="0"/>
              <a:t>NAT</a:t>
            </a:r>
            <a:r>
              <a:rPr lang="zh-CN" altLang="en-US" dirty="0"/>
              <a:t>设备之后，此时为了能在</a:t>
            </a:r>
            <a:r>
              <a:rPr lang="en-US" altLang="zh-CN" dirty="0"/>
              <a:t>CPE</a:t>
            </a:r>
            <a:r>
              <a:rPr lang="zh-CN" altLang="en-US" dirty="0"/>
              <a:t>之间建立数据通道，需要知道</a:t>
            </a:r>
            <a:r>
              <a:rPr lang="en-US" altLang="zh-CN" dirty="0"/>
              <a:t>NAT</a:t>
            </a:r>
            <a:r>
              <a:rPr lang="zh-CN" altLang="en-US" dirty="0"/>
              <a:t>之后的</a:t>
            </a:r>
            <a:r>
              <a:rPr lang="en-US" altLang="zh-CN" dirty="0"/>
              <a:t>IP</a:t>
            </a:r>
            <a:r>
              <a:rPr lang="zh-CN" altLang="en-US" dirty="0"/>
              <a:t>地址（</a:t>
            </a:r>
            <a:r>
              <a:rPr lang="en-US" altLang="zh-CN" dirty="0"/>
              <a:t>Public IP</a:t>
            </a:r>
            <a:r>
              <a:rPr lang="zh-CN" altLang="en-US" dirty="0"/>
              <a:t>）。</a:t>
            </a:r>
            <a:endParaRPr lang="en-US" altLang="zh-CN" dirty="0"/>
          </a:p>
          <a:p>
            <a:pPr lvl="2"/>
            <a:r>
              <a:rPr lang="en-US" altLang="zh-CN" dirty="0"/>
              <a:t>CPE</a:t>
            </a:r>
            <a:r>
              <a:rPr lang="zh-CN" altLang="en-US" dirty="0"/>
              <a:t>一般通过</a:t>
            </a:r>
            <a:r>
              <a:rPr lang="en-US" altLang="zh-CN" dirty="0"/>
              <a:t>STUN</a:t>
            </a:r>
            <a:r>
              <a:rPr lang="zh-CN" altLang="en-US" dirty="0"/>
              <a:t>技术感知</a:t>
            </a:r>
            <a:r>
              <a:rPr lang="en-US" altLang="zh-CN" dirty="0"/>
              <a:t>Public IP</a:t>
            </a:r>
            <a:r>
              <a:rPr lang="zh-CN" altLang="en-US" dirty="0"/>
              <a:t>。</a:t>
            </a:r>
            <a:endParaRPr lang="en-US" altLang="zh-CN" dirty="0"/>
          </a:p>
        </p:txBody>
      </p:sp>
      <p:sp>
        <p:nvSpPr>
          <p:cNvPr id="5" name="Slide Image Placeholder 4">
            <a:extLst>
              <a:ext uri="{FF2B5EF4-FFF2-40B4-BE49-F238E27FC236}">
                <a16:creationId xmlns:a16="http://schemas.microsoft.com/office/drawing/2014/main" id="{2FA2B975-2540-4E02-A364-5BF37CD661DA}"/>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124680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数据通道建立时会进行隧道枚举，保证建立所有可用的数据通道。</a:t>
            </a:r>
            <a:endParaRPr lang="en-US" altLang="zh-CN" dirty="0"/>
          </a:p>
          <a:p>
            <a:r>
              <a:rPr lang="zh-CN" altLang="en-US" dirty="0"/>
              <a:t>隧道枚举有先决条件：</a:t>
            </a:r>
            <a:endParaRPr lang="en-US" altLang="zh-CN" dirty="0"/>
          </a:p>
          <a:p>
            <a:pPr lvl="1"/>
            <a:r>
              <a:rPr lang="en-US" dirty="0"/>
              <a:t>CPE</a:t>
            </a:r>
            <a:r>
              <a:rPr lang="zh-CN" altLang="en-US" dirty="0"/>
              <a:t>之间已经学习到对端站点的业务路由。</a:t>
            </a:r>
            <a:endParaRPr lang="en-US" altLang="zh-CN" dirty="0"/>
          </a:p>
          <a:p>
            <a:pPr lvl="1"/>
            <a:r>
              <a:rPr lang="en-US" dirty="0"/>
              <a:t>CPE</a:t>
            </a:r>
            <a:r>
              <a:rPr lang="zh-CN" altLang="en-US" dirty="0"/>
              <a:t>之间已经学习到对端站点的</a:t>
            </a:r>
            <a:r>
              <a:rPr lang="en-US" altLang="zh-CN" dirty="0"/>
              <a:t>TNP</a:t>
            </a:r>
            <a:r>
              <a:rPr lang="zh-CN" altLang="en-US" dirty="0"/>
              <a:t>信息。</a:t>
            </a:r>
            <a:endParaRPr lang="en-US" altLang="zh-CN" dirty="0"/>
          </a:p>
        </p:txBody>
      </p:sp>
      <p:sp>
        <p:nvSpPr>
          <p:cNvPr id="5" name="Slide Image Placeholder 4">
            <a:extLst>
              <a:ext uri="{FF2B5EF4-FFF2-40B4-BE49-F238E27FC236}">
                <a16:creationId xmlns:a16="http://schemas.microsoft.com/office/drawing/2014/main" id="{CB2F2E07-0E93-49F6-A3FC-B410D3F582A4}"/>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820745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管理通道的主要作用是建立控制通道以及下发基本配置。</a:t>
            </a:r>
            <a:endParaRPr lang="en-US" altLang="zh-CN" dirty="0"/>
          </a:p>
          <a:p>
            <a:r>
              <a:rPr lang="zh-CN" altLang="en-US" dirty="0"/>
              <a:t>控制通道的主要作用是建立数据通道。</a:t>
            </a:r>
            <a:endParaRPr lang="en-US" altLang="zh-CN" dirty="0"/>
          </a:p>
          <a:p>
            <a:pPr lvl="1"/>
            <a:r>
              <a:rPr lang="en-US" altLang="zh-CN" dirty="0"/>
              <a:t>DTLS</a:t>
            </a:r>
            <a:r>
              <a:rPr lang="zh-CN" altLang="en-US" dirty="0"/>
              <a:t>（</a:t>
            </a:r>
            <a:r>
              <a:rPr lang="en-US" altLang="zh-CN" dirty="0"/>
              <a:t>Datagram Transport Layer Security</a:t>
            </a:r>
            <a:r>
              <a:rPr lang="zh-CN" altLang="en-US" dirty="0"/>
              <a:t>）即数据包传输层安全性协议。</a:t>
            </a:r>
            <a:r>
              <a:rPr lang="en-US" altLang="zh-CN" dirty="0"/>
              <a:t>DTLS</a:t>
            </a:r>
            <a:r>
              <a:rPr lang="zh-CN" altLang="en-US" dirty="0"/>
              <a:t>主要用于保障</a:t>
            </a:r>
            <a:r>
              <a:rPr lang="en-US" altLang="zh-CN" dirty="0"/>
              <a:t>TCP</a:t>
            </a:r>
            <a:r>
              <a:rPr lang="zh-CN" altLang="en-US" dirty="0"/>
              <a:t>数据的安全。</a:t>
            </a:r>
            <a:endParaRPr lang="en-US" altLang="zh-CN" dirty="0"/>
          </a:p>
          <a:p>
            <a:r>
              <a:rPr lang="zh-CN" altLang="en-US" dirty="0"/>
              <a:t>数据通道的主要作用是传递用户数据。</a:t>
            </a:r>
            <a:endParaRPr lang="en-US" altLang="zh-CN" dirty="0"/>
          </a:p>
          <a:p>
            <a:r>
              <a:rPr lang="en-US" dirty="0"/>
              <a:t>TNP</a:t>
            </a:r>
            <a:r>
              <a:rPr lang="zh-CN" altLang="en-US" dirty="0"/>
              <a:t>信息一共会交互两次：</a:t>
            </a:r>
            <a:endParaRPr lang="en-US" altLang="zh-CN" dirty="0"/>
          </a:p>
          <a:p>
            <a:pPr lvl="1"/>
            <a:r>
              <a:rPr lang="zh-CN" altLang="en-US" dirty="0"/>
              <a:t>控制通道建立阶段的</a:t>
            </a:r>
            <a:r>
              <a:rPr lang="en-US" altLang="zh-CN" dirty="0"/>
              <a:t>TNP</a:t>
            </a:r>
            <a:r>
              <a:rPr lang="zh-CN" altLang="en-US" dirty="0"/>
              <a:t>交互作用是交互</a:t>
            </a:r>
            <a:r>
              <a:rPr lang="en-US" altLang="zh-CN" dirty="0"/>
              <a:t>RR</a:t>
            </a:r>
            <a:r>
              <a:rPr lang="zh-CN" altLang="en-US" dirty="0"/>
              <a:t>与</a:t>
            </a:r>
            <a:r>
              <a:rPr lang="en-US" altLang="zh-CN" dirty="0"/>
              <a:t>EDGE</a:t>
            </a:r>
            <a:r>
              <a:rPr lang="zh-CN" altLang="en-US" dirty="0"/>
              <a:t>之间建立通道的信息。</a:t>
            </a:r>
            <a:endParaRPr lang="en-US" altLang="zh-CN" dirty="0"/>
          </a:p>
          <a:p>
            <a:pPr lvl="1"/>
            <a:r>
              <a:rPr lang="zh-CN" altLang="en-US" dirty="0"/>
              <a:t>数据通道建立阶段的</a:t>
            </a:r>
            <a:r>
              <a:rPr lang="en-US" altLang="zh-CN" dirty="0"/>
              <a:t>TNP</a:t>
            </a:r>
            <a:r>
              <a:rPr lang="zh-CN" altLang="en-US" dirty="0"/>
              <a:t>交互作用是交互</a:t>
            </a:r>
            <a:r>
              <a:rPr lang="en-US" altLang="zh-CN" dirty="0"/>
              <a:t>EDGE</a:t>
            </a:r>
            <a:r>
              <a:rPr lang="zh-CN" altLang="en-US" dirty="0"/>
              <a:t>与</a:t>
            </a:r>
            <a:r>
              <a:rPr lang="en-US" altLang="zh-CN" dirty="0"/>
              <a:t>EDGE</a:t>
            </a:r>
            <a:r>
              <a:rPr lang="zh-CN" altLang="en-US" dirty="0"/>
              <a:t>之间建立通道的信息。</a:t>
            </a:r>
            <a:endParaRPr lang="en-US" dirty="0"/>
          </a:p>
        </p:txBody>
      </p:sp>
    </p:spTree>
    <p:extLst>
      <p:ext uri="{BB962C8B-B14F-4D97-AF65-F5344CB8AC3E}">
        <p14:creationId xmlns:p14="http://schemas.microsoft.com/office/powerpoint/2010/main" val="302438910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509051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242381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RR</a:t>
            </a:r>
            <a:r>
              <a:rPr lang="zh-CN" altLang="en-US" dirty="0"/>
              <a:t>实际部署建议如下：</a:t>
            </a:r>
          </a:p>
          <a:p>
            <a:pPr lvl="1"/>
            <a:r>
              <a:rPr lang="zh-CN" altLang="en-US" dirty="0"/>
              <a:t>为了避免站点网络调整影响</a:t>
            </a:r>
            <a:r>
              <a:rPr lang="en-US" altLang="zh-CN" dirty="0"/>
              <a:t>RR</a:t>
            </a:r>
            <a:r>
              <a:rPr lang="zh-CN" altLang="en-US" dirty="0"/>
              <a:t>的稳定性，实际部署时建议采用方式二，即</a:t>
            </a:r>
            <a:r>
              <a:rPr lang="en-US" altLang="zh-CN" dirty="0"/>
              <a:t>RR</a:t>
            </a:r>
            <a:r>
              <a:rPr lang="zh-CN" altLang="en-US" dirty="0"/>
              <a:t>采用独立部署方式。</a:t>
            </a:r>
          </a:p>
          <a:p>
            <a:pPr lvl="1"/>
            <a:r>
              <a:rPr lang="en-US" altLang="zh-CN" dirty="0"/>
              <a:t>RR</a:t>
            </a:r>
            <a:r>
              <a:rPr lang="zh-CN" altLang="en-US" dirty="0"/>
              <a:t>作为区域的大脑，需部署高性能的设备，可以作为</a:t>
            </a:r>
            <a:r>
              <a:rPr lang="en-US" altLang="zh-CN" dirty="0"/>
              <a:t>RR</a:t>
            </a:r>
            <a:r>
              <a:rPr lang="zh-CN" altLang="en-US" dirty="0"/>
              <a:t>的设备参见版本规格清单。</a:t>
            </a:r>
          </a:p>
          <a:p>
            <a:pPr lvl="1"/>
            <a:r>
              <a:rPr lang="en-US" altLang="zh-CN" dirty="0"/>
              <a:t>RR</a:t>
            </a:r>
            <a:r>
              <a:rPr lang="zh-CN" altLang="en-US" dirty="0"/>
              <a:t>在部署时，必须具有公网地址，或者在</a:t>
            </a:r>
            <a:r>
              <a:rPr lang="en-US" altLang="zh-CN" dirty="0"/>
              <a:t>RR</a:t>
            </a:r>
            <a:r>
              <a:rPr lang="zh-CN" altLang="en-US" dirty="0"/>
              <a:t>前面部署</a:t>
            </a:r>
            <a:r>
              <a:rPr lang="en-US" altLang="zh-CN" dirty="0"/>
              <a:t>NAT</a:t>
            </a:r>
            <a:r>
              <a:rPr lang="zh-CN" altLang="en-US" dirty="0"/>
              <a:t>设备。只支持</a:t>
            </a:r>
            <a:r>
              <a:rPr lang="en-US" altLang="zh-CN" dirty="0"/>
              <a:t>1:1</a:t>
            </a:r>
            <a:r>
              <a:rPr lang="zh-CN" altLang="en-US" dirty="0"/>
              <a:t>静态</a:t>
            </a:r>
            <a:r>
              <a:rPr lang="en-US" altLang="zh-CN" dirty="0"/>
              <a:t>NAT</a:t>
            </a:r>
            <a:r>
              <a:rPr lang="zh-CN" altLang="en-US" dirty="0"/>
              <a:t>。</a:t>
            </a:r>
            <a:endParaRPr lang="en-US" altLang="zh-CN" dirty="0"/>
          </a:p>
          <a:p>
            <a:pPr lvl="1"/>
            <a:r>
              <a:rPr lang="zh-CN" altLang="en-US" dirty="0"/>
              <a:t>一个</a:t>
            </a:r>
            <a:r>
              <a:rPr lang="en-US" altLang="zh-CN" dirty="0"/>
              <a:t>Edge</a:t>
            </a:r>
            <a:r>
              <a:rPr lang="zh-CN" altLang="en-US" dirty="0"/>
              <a:t>站点最多可以连接两个</a:t>
            </a:r>
            <a:r>
              <a:rPr lang="en-US" altLang="zh-CN" dirty="0"/>
              <a:t>RR</a:t>
            </a:r>
            <a:r>
              <a:rPr lang="zh-CN" altLang="en-US" dirty="0"/>
              <a:t>站点，租户内部署的</a:t>
            </a:r>
            <a:r>
              <a:rPr lang="en-US" altLang="zh-CN" dirty="0"/>
              <a:t>RR</a:t>
            </a:r>
            <a:r>
              <a:rPr lang="zh-CN" altLang="en-US" dirty="0"/>
              <a:t>站点支持双</a:t>
            </a:r>
            <a:r>
              <a:rPr lang="en-US" altLang="zh-CN" dirty="0"/>
              <a:t>CPE</a:t>
            </a:r>
            <a:r>
              <a:rPr lang="zh-CN" altLang="en-US" dirty="0"/>
              <a:t>部署。当</a:t>
            </a:r>
            <a:r>
              <a:rPr lang="en-US" altLang="zh-CN" dirty="0"/>
              <a:t>CPE</a:t>
            </a:r>
            <a:r>
              <a:rPr lang="zh-CN" altLang="en-US" dirty="0"/>
              <a:t>数量较多，可以部署多个</a:t>
            </a:r>
            <a:r>
              <a:rPr lang="en-US" altLang="zh-CN" dirty="0"/>
              <a:t>RR</a:t>
            </a:r>
            <a:r>
              <a:rPr lang="zh-CN" altLang="en-US" dirty="0"/>
              <a:t>，每个</a:t>
            </a:r>
            <a:r>
              <a:rPr lang="en-US" altLang="zh-CN" dirty="0"/>
              <a:t>RR</a:t>
            </a:r>
            <a:r>
              <a:rPr lang="zh-CN" altLang="en-US" dirty="0"/>
              <a:t>分别为一部分</a:t>
            </a:r>
            <a:r>
              <a:rPr lang="en-US" altLang="zh-CN" dirty="0"/>
              <a:t>Edge</a:t>
            </a:r>
            <a:r>
              <a:rPr lang="zh-CN" altLang="en-US" dirty="0"/>
              <a:t>站点服务。</a:t>
            </a:r>
          </a:p>
          <a:p>
            <a:pPr lvl="1"/>
            <a:r>
              <a:rPr lang="zh-CN" altLang="en-US" dirty="0"/>
              <a:t>当</a:t>
            </a:r>
            <a:r>
              <a:rPr lang="en-US" altLang="zh-CN" dirty="0"/>
              <a:t>EDGE</a:t>
            </a:r>
            <a:r>
              <a:rPr lang="zh-CN" altLang="en-US" dirty="0"/>
              <a:t>连接到两个</a:t>
            </a:r>
            <a:r>
              <a:rPr lang="en-US" altLang="zh-CN" dirty="0"/>
              <a:t>RR</a:t>
            </a:r>
            <a:r>
              <a:rPr lang="zh-CN" altLang="en-US" dirty="0"/>
              <a:t>站点时，</a:t>
            </a:r>
            <a:r>
              <a:rPr lang="en-US" altLang="zh-CN" dirty="0"/>
              <a:t>EDGE</a:t>
            </a:r>
            <a:r>
              <a:rPr lang="zh-CN" altLang="en-US" dirty="0"/>
              <a:t>与</a:t>
            </a:r>
            <a:r>
              <a:rPr lang="en-US" altLang="zh-CN" dirty="0"/>
              <a:t>RR</a:t>
            </a:r>
            <a:r>
              <a:rPr lang="zh-CN" altLang="en-US" dirty="0"/>
              <a:t>站点里面的每个</a:t>
            </a:r>
            <a:r>
              <a:rPr lang="en-US" altLang="zh-CN" dirty="0"/>
              <a:t>CPE</a:t>
            </a:r>
            <a:r>
              <a:rPr lang="zh-CN" altLang="en-US" dirty="0"/>
              <a:t>设备均建立</a:t>
            </a:r>
            <a:r>
              <a:rPr lang="en-US" altLang="zh-CN" dirty="0"/>
              <a:t>BGP</a:t>
            </a:r>
            <a:r>
              <a:rPr lang="zh-CN" altLang="en-US" dirty="0"/>
              <a:t>连接。</a:t>
            </a:r>
          </a:p>
          <a:p>
            <a:pPr lvl="1"/>
            <a:r>
              <a:rPr lang="zh-CN" altLang="en-US" dirty="0"/>
              <a:t>如果分支站点有</a:t>
            </a:r>
            <a:r>
              <a:rPr lang="en-US" altLang="zh-CN" dirty="0"/>
              <a:t>Standby</a:t>
            </a:r>
            <a:r>
              <a:rPr lang="zh-CN" altLang="en-US" dirty="0"/>
              <a:t>链路（如分支有</a:t>
            </a:r>
            <a:r>
              <a:rPr lang="en-US" altLang="zh-CN" dirty="0"/>
              <a:t>Standby</a:t>
            </a:r>
            <a:r>
              <a:rPr lang="zh-CN" altLang="en-US" dirty="0"/>
              <a:t>链路或</a:t>
            </a:r>
            <a:r>
              <a:rPr lang="en-US" altLang="zh-CN" dirty="0"/>
              <a:t>RR</a:t>
            </a:r>
            <a:r>
              <a:rPr lang="zh-CN" altLang="en-US" dirty="0"/>
              <a:t>有</a:t>
            </a:r>
            <a:r>
              <a:rPr lang="en-US" altLang="zh-CN" dirty="0"/>
              <a:t>Standby</a:t>
            </a:r>
            <a:r>
              <a:rPr lang="zh-CN" altLang="en-US" dirty="0"/>
              <a:t>链路）时，当</a:t>
            </a:r>
            <a:r>
              <a:rPr lang="en-US" altLang="zh-CN" dirty="0"/>
              <a:t>Active</a:t>
            </a:r>
            <a:r>
              <a:rPr lang="zh-CN" altLang="en-US" dirty="0"/>
              <a:t>链路正常的情况下， </a:t>
            </a:r>
            <a:r>
              <a:rPr lang="en-US" altLang="zh-CN" dirty="0"/>
              <a:t>Standby</a:t>
            </a:r>
            <a:r>
              <a:rPr lang="zh-CN" altLang="en-US" dirty="0"/>
              <a:t>链路不建立控制通道，当分支站点到</a:t>
            </a:r>
            <a:r>
              <a:rPr lang="en-US" altLang="zh-CN" dirty="0"/>
              <a:t>RR</a:t>
            </a:r>
            <a:r>
              <a:rPr lang="zh-CN" altLang="en-US" dirty="0"/>
              <a:t>的所有</a:t>
            </a:r>
            <a:r>
              <a:rPr lang="en-US" altLang="zh-CN" dirty="0"/>
              <a:t>Active</a:t>
            </a:r>
            <a:r>
              <a:rPr lang="zh-CN" altLang="en-US" dirty="0"/>
              <a:t>链路都</a:t>
            </a:r>
            <a:r>
              <a:rPr lang="en-US" altLang="zh-CN" dirty="0"/>
              <a:t>DOWN</a:t>
            </a:r>
            <a:r>
              <a:rPr lang="zh-CN" altLang="en-US" dirty="0"/>
              <a:t>的情况下， </a:t>
            </a:r>
            <a:r>
              <a:rPr lang="en-US" altLang="zh-CN" dirty="0"/>
              <a:t>Standby</a:t>
            </a:r>
            <a:r>
              <a:rPr lang="zh-CN" altLang="en-US" dirty="0"/>
              <a:t>链路参与控制通道的建立。</a:t>
            </a:r>
            <a:endParaRPr lang="en-US" altLang="zh-CN" dirty="0"/>
          </a:p>
          <a:p>
            <a:pPr lvl="1"/>
            <a:r>
              <a:rPr lang="zh-CN" altLang="en-US" dirty="0"/>
              <a:t>不推荐</a:t>
            </a:r>
            <a:r>
              <a:rPr lang="en-US" altLang="zh-CN" dirty="0"/>
              <a:t>RR</a:t>
            </a:r>
            <a:r>
              <a:rPr lang="zh-CN" altLang="en-US" dirty="0"/>
              <a:t>站点部署</a:t>
            </a:r>
            <a:r>
              <a:rPr lang="en-US" altLang="zh-CN" dirty="0"/>
              <a:t>Standby</a:t>
            </a:r>
            <a:r>
              <a:rPr lang="zh-CN" altLang="en-US" dirty="0"/>
              <a:t>链路。</a:t>
            </a:r>
          </a:p>
          <a:p>
            <a:pPr lvl="1"/>
            <a:r>
              <a:rPr lang="zh-CN" altLang="en-US" dirty="0"/>
              <a:t>当网络中的</a:t>
            </a:r>
            <a:r>
              <a:rPr lang="en-US" altLang="zh-CN" dirty="0"/>
              <a:t>EDGE</a:t>
            </a:r>
            <a:r>
              <a:rPr lang="zh-CN" altLang="en-US" dirty="0"/>
              <a:t>较多，超出</a:t>
            </a:r>
            <a:r>
              <a:rPr lang="en-US" altLang="zh-CN" dirty="0"/>
              <a:t>RR</a:t>
            </a:r>
            <a:r>
              <a:rPr lang="zh-CN" altLang="en-US" dirty="0"/>
              <a:t>控制规格时，建议将站点划分到不同的区域。每个区域单独部署</a:t>
            </a:r>
            <a:r>
              <a:rPr lang="en-US" altLang="zh-CN" dirty="0"/>
              <a:t>RR</a:t>
            </a:r>
            <a:r>
              <a:rPr lang="zh-CN" altLang="en-US" dirty="0"/>
              <a:t>，各区域的</a:t>
            </a:r>
            <a:r>
              <a:rPr lang="en-US" altLang="zh-CN" dirty="0"/>
              <a:t>RR</a:t>
            </a:r>
            <a:r>
              <a:rPr lang="zh-CN" altLang="en-US" dirty="0"/>
              <a:t>间建立</a:t>
            </a:r>
            <a:r>
              <a:rPr lang="en-US" altLang="zh-CN" dirty="0"/>
              <a:t>BGP</a:t>
            </a:r>
            <a:r>
              <a:rPr lang="zh-CN" altLang="en-US" dirty="0"/>
              <a:t>邻居，用于区域间的路由交换。</a:t>
            </a:r>
          </a:p>
          <a:p>
            <a:pPr lvl="1"/>
            <a:r>
              <a:rPr lang="en-US" altLang="zh-CN" dirty="0"/>
              <a:t>RR</a:t>
            </a:r>
            <a:r>
              <a:rPr lang="zh-CN" altLang="en-US" dirty="0"/>
              <a:t>部署时，需要考虑各站点</a:t>
            </a:r>
            <a:r>
              <a:rPr lang="en-US" altLang="zh-CN" dirty="0"/>
              <a:t>LAN</a:t>
            </a:r>
            <a:r>
              <a:rPr lang="zh-CN" altLang="en-US" dirty="0"/>
              <a:t>侧的路由总和，避免超过</a:t>
            </a:r>
            <a:r>
              <a:rPr lang="en-US" altLang="zh-CN" dirty="0"/>
              <a:t>RR</a:t>
            </a:r>
            <a:r>
              <a:rPr lang="zh-CN" altLang="en-US" dirty="0"/>
              <a:t>有效路由规格。</a:t>
            </a:r>
            <a:endParaRPr lang="en-US" altLang="zh-CN" dirty="0"/>
          </a:p>
          <a:p>
            <a:pPr lvl="1"/>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2679275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31838" y="728663"/>
            <a:ext cx="5580062" cy="8366172"/>
          </a:xfrm>
        </p:spPr>
        <p:txBody>
          <a:bodyPr/>
          <a:lstStyle/>
          <a:p>
            <a:pPr lvl="1"/>
            <a:r>
              <a:rPr lang="en-US" altLang="zh-CN" dirty="0"/>
              <a:t>CPE</a:t>
            </a:r>
            <a:r>
              <a:rPr lang="zh-CN" altLang="en-US" dirty="0"/>
              <a:t>和</a:t>
            </a:r>
            <a:r>
              <a:rPr lang="en-US" altLang="zh-CN" dirty="0"/>
              <a:t>RR</a:t>
            </a:r>
            <a:r>
              <a:rPr lang="zh-CN" altLang="en-US" dirty="0"/>
              <a:t>的</a:t>
            </a:r>
            <a:r>
              <a:rPr lang="en-US" altLang="zh-CN" dirty="0"/>
              <a:t>BGP</a:t>
            </a:r>
            <a:r>
              <a:rPr lang="zh-CN" altLang="en-US" dirty="0"/>
              <a:t>连接采用</a:t>
            </a:r>
            <a:r>
              <a:rPr lang="en-US" altLang="zh-CN" dirty="0"/>
              <a:t>Loopback</a:t>
            </a:r>
            <a:r>
              <a:rPr lang="zh-CN" altLang="en-US" dirty="0"/>
              <a:t>地址建立邻居，当</a:t>
            </a:r>
            <a:r>
              <a:rPr lang="en-US" altLang="zh-CN" dirty="0"/>
              <a:t>CPE</a:t>
            </a:r>
            <a:r>
              <a:rPr lang="zh-CN" altLang="en-US" dirty="0"/>
              <a:t>和</a:t>
            </a:r>
            <a:r>
              <a:rPr lang="en-US" altLang="zh-CN" dirty="0"/>
              <a:t>RR</a:t>
            </a:r>
            <a:r>
              <a:rPr lang="zh-CN" altLang="en-US" dirty="0"/>
              <a:t>之间有多条隧道连接时， </a:t>
            </a:r>
            <a:r>
              <a:rPr lang="en-US" altLang="zh-CN" dirty="0"/>
              <a:t>BGP</a:t>
            </a:r>
            <a:r>
              <a:rPr lang="zh-CN" altLang="en-US" dirty="0"/>
              <a:t>选择连接采用连接是随机的。当某一</a:t>
            </a:r>
            <a:r>
              <a:rPr lang="en-US" altLang="zh-CN" dirty="0"/>
              <a:t>WAN</a:t>
            </a:r>
            <a:r>
              <a:rPr lang="zh-CN" altLang="en-US" dirty="0"/>
              <a:t>链路故障， </a:t>
            </a:r>
            <a:r>
              <a:rPr lang="en-US" altLang="zh-CN" dirty="0"/>
              <a:t>BGP</a:t>
            </a:r>
            <a:r>
              <a:rPr lang="zh-CN" altLang="en-US" dirty="0"/>
              <a:t>自动切换到其他连接，站点之间的互访业务不受影响。当</a:t>
            </a:r>
            <a:r>
              <a:rPr lang="en-US" altLang="zh-CN" dirty="0"/>
              <a:t>RR</a:t>
            </a:r>
            <a:r>
              <a:rPr lang="zh-CN" altLang="en-US" dirty="0"/>
              <a:t>全部故障时， </a:t>
            </a:r>
            <a:r>
              <a:rPr lang="en-US" altLang="zh-CN" dirty="0"/>
              <a:t>CPE</a:t>
            </a:r>
            <a:r>
              <a:rPr lang="zh-CN" altLang="en-US" dirty="0"/>
              <a:t>之间的连接故障，会造成站点互访业务的中断。因此，在实际部署时要保证</a:t>
            </a:r>
            <a:r>
              <a:rPr lang="en-US" altLang="zh-CN" dirty="0"/>
              <a:t>RR</a:t>
            </a:r>
            <a:r>
              <a:rPr lang="zh-CN" altLang="en-US" dirty="0"/>
              <a:t>的可靠性，如</a:t>
            </a:r>
            <a:r>
              <a:rPr lang="en-US" altLang="zh-CN" dirty="0"/>
              <a:t>RR</a:t>
            </a:r>
            <a:r>
              <a:rPr lang="zh-CN" altLang="en-US" dirty="0"/>
              <a:t>站点采用双</a:t>
            </a:r>
            <a:r>
              <a:rPr lang="en-US" altLang="zh-CN" dirty="0"/>
              <a:t>CPE</a:t>
            </a:r>
            <a:r>
              <a:rPr lang="zh-CN" altLang="en-US" dirty="0"/>
              <a:t>设备，为</a:t>
            </a:r>
            <a:r>
              <a:rPr lang="en-US" altLang="zh-CN" dirty="0"/>
              <a:t>Edge</a:t>
            </a:r>
            <a:r>
              <a:rPr lang="zh-CN" altLang="en-US" dirty="0"/>
              <a:t>指定双</a:t>
            </a:r>
            <a:r>
              <a:rPr lang="en-US" altLang="zh-CN" dirty="0"/>
              <a:t>RR</a:t>
            </a:r>
            <a:r>
              <a:rPr lang="zh-CN" altLang="en-US" dirty="0"/>
              <a:t>站点，采用分布式的</a:t>
            </a:r>
            <a:r>
              <a:rPr lang="en-US" altLang="zh-CN" dirty="0"/>
              <a:t>RR</a:t>
            </a:r>
            <a:r>
              <a:rPr lang="zh-CN" altLang="en-US" dirty="0"/>
              <a:t>站点（每个</a:t>
            </a:r>
            <a:r>
              <a:rPr lang="en-US" altLang="zh-CN" dirty="0"/>
              <a:t>RR</a:t>
            </a:r>
            <a:r>
              <a:rPr lang="zh-CN" altLang="en-US" dirty="0"/>
              <a:t>站点负责一部分</a:t>
            </a:r>
            <a:r>
              <a:rPr lang="en-US" altLang="zh-CN" dirty="0"/>
              <a:t>CPE</a:t>
            </a:r>
            <a:r>
              <a:rPr lang="zh-CN" altLang="en-US" dirty="0"/>
              <a:t>），以避免全网只有一个</a:t>
            </a:r>
            <a:r>
              <a:rPr lang="en-US" altLang="zh-CN" dirty="0"/>
              <a:t>RR</a:t>
            </a:r>
            <a:r>
              <a:rPr lang="zh-CN" altLang="en-US" dirty="0"/>
              <a:t>设备带来的</a:t>
            </a:r>
            <a:r>
              <a:rPr lang="en-US" altLang="zh-CN" dirty="0"/>
              <a:t>RR</a:t>
            </a:r>
            <a:r>
              <a:rPr lang="zh-CN" altLang="en-US" dirty="0"/>
              <a:t>单点故障造成全网业务中断。</a:t>
            </a:r>
            <a:endParaRPr lang="en-US" dirty="0"/>
          </a:p>
        </p:txBody>
      </p:sp>
    </p:spTree>
    <p:extLst>
      <p:ext uri="{BB962C8B-B14F-4D97-AF65-F5344CB8AC3E}">
        <p14:creationId xmlns:p14="http://schemas.microsoft.com/office/powerpoint/2010/main" val="7714785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pPr lvl="0"/>
            <a:r>
              <a:rPr lang="zh-CN" altLang="en-US" dirty="0"/>
              <a:t>一个</a:t>
            </a:r>
            <a:r>
              <a:rPr lang="en-US" altLang="zh-CN" dirty="0"/>
              <a:t>CPE</a:t>
            </a:r>
            <a:r>
              <a:rPr lang="zh-CN" altLang="en-US" dirty="0"/>
              <a:t>设备最多支持连接到两个</a:t>
            </a:r>
            <a:r>
              <a:rPr lang="en-US" altLang="zh-CN" dirty="0"/>
              <a:t>RR</a:t>
            </a:r>
            <a:r>
              <a:rPr lang="zh-CN" altLang="en-US" dirty="0"/>
              <a:t>站点（</a:t>
            </a:r>
            <a:r>
              <a:rPr lang="en-US" altLang="zh-CN" dirty="0"/>
              <a:t>4</a:t>
            </a:r>
            <a:r>
              <a:rPr lang="zh-CN" altLang="en-US" dirty="0"/>
              <a:t>台</a:t>
            </a:r>
            <a:r>
              <a:rPr lang="en-US" altLang="zh-CN" dirty="0"/>
              <a:t>RR</a:t>
            </a:r>
            <a:r>
              <a:rPr lang="zh-CN" altLang="en-US" dirty="0"/>
              <a:t>设备）。</a:t>
            </a:r>
            <a:endParaRPr lang="en-US" altLang="zh-CN" dirty="0"/>
          </a:p>
          <a:p>
            <a:pPr lvl="0"/>
            <a:r>
              <a:rPr lang="zh-CN" altLang="en-US" dirty="0"/>
              <a:t>对于一些规模较小的网络（例如小于</a:t>
            </a:r>
            <a:r>
              <a:rPr lang="en-US" altLang="zh-CN" dirty="0"/>
              <a:t>50</a:t>
            </a:r>
            <a:r>
              <a:rPr lang="zh-CN" altLang="en-US" dirty="0"/>
              <a:t>站点），可以采用</a:t>
            </a:r>
            <a:r>
              <a:rPr lang="en-US" altLang="zh-CN" dirty="0"/>
              <a:t>RR</a:t>
            </a:r>
            <a:r>
              <a:rPr lang="zh-CN" altLang="en-US" dirty="0"/>
              <a:t>与</a:t>
            </a:r>
            <a:r>
              <a:rPr lang="en-US" altLang="zh-CN" dirty="0"/>
              <a:t>Hub</a:t>
            </a:r>
            <a:r>
              <a:rPr lang="zh-CN" altLang="en-US" dirty="0"/>
              <a:t>站点共部署的方案。</a:t>
            </a:r>
            <a:endParaRPr lang="en-US" altLang="zh-CN" dirty="0"/>
          </a:p>
          <a:p>
            <a:pPr lvl="0"/>
            <a:r>
              <a:rPr lang="en-US" altLang="zh-CN" dirty="0"/>
              <a:t>RR</a:t>
            </a:r>
            <a:r>
              <a:rPr lang="zh-CN" altLang="en-US" dirty="0"/>
              <a:t>需要强大的</a:t>
            </a:r>
            <a:r>
              <a:rPr lang="en-US" altLang="zh-CN" dirty="0"/>
              <a:t>BGP</a:t>
            </a:r>
            <a:r>
              <a:rPr lang="zh-CN" altLang="en-US" dirty="0"/>
              <a:t>连接能力（</a:t>
            </a:r>
            <a:r>
              <a:rPr lang="en-US" altLang="zh-CN" dirty="0"/>
              <a:t>BGP</a:t>
            </a:r>
            <a:r>
              <a:rPr lang="zh-CN" altLang="en-US" dirty="0"/>
              <a:t>邻居数）、</a:t>
            </a:r>
            <a:r>
              <a:rPr lang="en-US" altLang="zh-CN" dirty="0"/>
              <a:t>EVPN Connection</a:t>
            </a:r>
            <a:r>
              <a:rPr lang="zh-CN" altLang="en-US" dirty="0"/>
              <a:t>数、路由反射能力与效率。在实际部署时需选择规格清单中推荐的</a:t>
            </a:r>
            <a:r>
              <a:rPr lang="en-US" altLang="zh-CN" dirty="0"/>
              <a:t>RR</a:t>
            </a:r>
            <a:r>
              <a:rPr lang="zh-CN" altLang="en-US" dirty="0"/>
              <a:t>款型，如</a:t>
            </a:r>
            <a:r>
              <a:rPr lang="en-US" altLang="zh-CN" dirty="0"/>
              <a:t>AR6300/AR6280</a:t>
            </a:r>
            <a:r>
              <a:rPr lang="zh-CN" altLang="en-US" dirty="0"/>
              <a:t>等。</a:t>
            </a:r>
          </a:p>
        </p:txBody>
      </p:sp>
    </p:spTree>
    <p:extLst>
      <p:ext uri="{BB962C8B-B14F-4D97-AF65-F5344CB8AC3E}">
        <p14:creationId xmlns:p14="http://schemas.microsoft.com/office/powerpoint/2010/main" val="284429584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pPr lvl="0"/>
            <a:endParaRPr lang="zh-CN" altLang="en-US" dirty="0"/>
          </a:p>
        </p:txBody>
      </p:sp>
    </p:spTree>
    <p:extLst>
      <p:ext uri="{BB962C8B-B14F-4D97-AF65-F5344CB8AC3E}">
        <p14:creationId xmlns:p14="http://schemas.microsoft.com/office/powerpoint/2010/main" val="311344810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pPr lvl="0"/>
            <a:r>
              <a:rPr lang="en-US" altLang="zh-CN" dirty="0"/>
              <a:t>MSP</a:t>
            </a:r>
            <a:r>
              <a:rPr lang="zh-CN" altLang="en-US" dirty="0"/>
              <a:t>管理员部署独立的</a:t>
            </a:r>
            <a:r>
              <a:rPr lang="en-US" altLang="zh-CN" dirty="0"/>
              <a:t>RR</a:t>
            </a:r>
            <a:r>
              <a:rPr lang="zh-CN" altLang="en-US" dirty="0"/>
              <a:t>通常作为运营商</a:t>
            </a:r>
            <a:r>
              <a:rPr lang="en-US" altLang="zh-CN" dirty="0"/>
              <a:t>/MSP</a:t>
            </a:r>
            <a:r>
              <a:rPr lang="zh-CN" altLang="en-US" dirty="0"/>
              <a:t>提供的服务供最终企业用户接入。</a:t>
            </a:r>
            <a:r>
              <a:rPr lang="en-US" altLang="zh-CN" dirty="0"/>
              <a:t>RR</a:t>
            </a:r>
            <a:r>
              <a:rPr lang="zh-CN" altLang="en-US" dirty="0"/>
              <a:t>服务可细分为两种模式：</a:t>
            </a:r>
            <a:r>
              <a:rPr lang="en-US" altLang="zh-CN" dirty="0"/>
              <a:t>RR</a:t>
            </a:r>
            <a:r>
              <a:rPr lang="zh-CN" altLang="en-US" dirty="0"/>
              <a:t>共享模式，即同一台</a:t>
            </a:r>
            <a:r>
              <a:rPr lang="en-US" altLang="zh-CN" dirty="0"/>
              <a:t>RR</a:t>
            </a:r>
            <a:r>
              <a:rPr lang="zh-CN" altLang="en-US" dirty="0"/>
              <a:t>为多个租户共享；</a:t>
            </a:r>
            <a:r>
              <a:rPr lang="en-US" altLang="zh-CN" dirty="0"/>
              <a:t>RR</a:t>
            </a:r>
            <a:r>
              <a:rPr lang="zh-CN" altLang="en-US" dirty="0"/>
              <a:t>独享模式，即同一台</a:t>
            </a:r>
            <a:r>
              <a:rPr lang="en-US" altLang="zh-CN" dirty="0"/>
              <a:t>RR</a:t>
            </a:r>
            <a:r>
              <a:rPr lang="zh-CN" altLang="en-US" dirty="0"/>
              <a:t>为一个租户独享。</a:t>
            </a:r>
            <a:endParaRPr lang="en-US" altLang="zh-CN" dirty="0"/>
          </a:p>
          <a:p>
            <a:pPr lvl="1"/>
            <a:r>
              <a:rPr lang="en-US" altLang="zh-CN" dirty="0"/>
              <a:t>MSP RR</a:t>
            </a:r>
            <a:r>
              <a:rPr lang="zh-CN" altLang="en-US" dirty="0"/>
              <a:t>多租户共享：对于中小企业客户，在站点数量不多的情况下推荐采用多租户共享</a:t>
            </a:r>
            <a:r>
              <a:rPr lang="en-US" altLang="zh-CN" dirty="0"/>
              <a:t>RR</a:t>
            </a:r>
            <a:r>
              <a:rPr lang="zh-CN" altLang="en-US" dirty="0"/>
              <a:t>的方式。不同企业租户的站点连到一个共同的多租户</a:t>
            </a:r>
            <a:r>
              <a:rPr lang="en-US" altLang="zh-CN" dirty="0"/>
              <a:t>RR</a:t>
            </a:r>
            <a:r>
              <a:rPr lang="zh-CN" altLang="en-US" dirty="0"/>
              <a:t>，由该</a:t>
            </a:r>
            <a:r>
              <a:rPr lang="en-US" altLang="zh-CN" dirty="0"/>
              <a:t>RR</a:t>
            </a:r>
            <a:r>
              <a:rPr lang="zh-CN" altLang="en-US" dirty="0"/>
              <a:t>承载控制面。</a:t>
            </a:r>
            <a:endParaRPr lang="en-US" altLang="zh-CN" dirty="0"/>
          </a:p>
          <a:p>
            <a:pPr lvl="1"/>
            <a:r>
              <a:rPr lang="en-US" altLang="zh-CN" dirty="0"/>
              <a:t>MSP RR</a:t>
            </a:r>
            <a:r>
              <a:rPr lang="zh-CN" altLang="en-US" dirty="0"/>
              <a:t>独立分配：对于大企业客户，站点数量多，可采用独立分配</a:t>
            </a:r>
            <a:r>
              <a:rPr lang="en-US" altLang="zh-CN" dirty="0"/>
              <a:t>RR</a:t>
            </a:r>
            <a:r>
              <a:rPr lang="zh-CN" altLang="en-US" dirty="0"/>
              <a:t>的方式，由运营商指定接入区内的</a:t>
            </a:r>
            <a:r>
              <a:rPr lang="en-US" altLang="zh-CN" dirty="0"/>
              <a:t>RR</a:t>
            </a:r>
            <a:r>
              <a:rPr lang="zh-CN" altLang="en-US" dirty="0"/>
              <a:t>，单独分配给该企业客户使用。运营商</a:t>
            </a:r>
            <a:r>
              <a:rPr lang="en-US" altLang="zh-CN" dirty="0"/>
              <a:t>/MSP</a:t>
            </a:r>
            <a:r>
              <a:rPr lang="zh-CN" altLang="en-US" dirty="0"/>
              <a:t>根据实际的场景需要，也可以在租户内部署</a:t>
            </a:r>
            <a:r>
              <a:rPr lang="en-US" altLang="zh-CN" dirty="0"/>
              <a:t>RR</a:t>
            </a:r>
            <a:r>
              <a:rPr lang="zh-CN" altLang="en-US" dirty="0"/>
              <a:t>，采用</a:t>
            </a:r>
            <a:r>
              <a:rPr lang="en-US" altLang="zh-CN" dirty="0"/>
              <a:t>RR</a:t>
            </a:r>
            <a:r>
              <a:rPr lang="zh-CN" altLang="en-US" dirty="0"/>
              <a:t>与站点共部署、</a:t>
            </a:r>
            <a:r>
              <a:rPr lang="en-US" altLang="zh-CN" dirty="0"/>
              <a:t>RR</a:t>
            </a:r>
            <a:r>
              <a:rPr lang="zh-CN" altLang="en-US" dirty="0"/>
              <a:t>独立部署、</a:t>
            </a:r>
            <a:r>
              <a:rPr lang="en-US" altLang="zh-CN" dirty="0"/>
              <a:t>RR</a:t>
            </a:r>
            <a:r>
              <a:rPr lang="zh-CN" altLang="en-US" dirty="0"/>
              <a:t>多区域部署等方式。</a:t>
            </a:r>
          </a:p>
        </p:txBody>
      </p:sp>
    </p:spTree>
    <p:extLst>
      <p:ext uri="{BB962C8B-B14F-4D97-AF65-F5344CB8AC3E}">
        <p14:creationId xmlns:p14="http://schemas.microsoft.com/office/powerpoint/2010/main" val="201256760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en-US" altLang="zh-CN" dirty="0"/>
              <a:t>STUN</a:t>
            </a:r>
            <a:r>
              <a:rPr lang="zh-CN" altLang="en-US" dirty="0"/>
              <a:t>，在</a:t>
            </a:r>
            <a:r>
              <a:rPr lang="en-US" altLang="zh-CN" dirty="0"/>
              <a:t>RFC3489</a:t>
            </a:r>
            <a:r>
              <a:rPr lang="zh-CN" altLang="en-US" dirty="0"/>
              <a:t>中定义，作为一个完整的</a:t>
            </a:r>
            <a:r>
              <a:rPr lang="en-US" altLang="zh-CN" dirty="0"/>
              <a:t>NAT</a:t>
            </a:r>
            <a:r>
              <a:rPr lang="zh-CN" altLang="en-US" dirty="0"/>
              <a:t>穿透解决方案，英文全称是</a:t>
            </a:r>
            <a:r>
              <a:rPr lang="en-US" altLang="zh-CN" dirty="0"/>
              <a:t>Simple Traversal of UDP Through NATs</a:t>
            </a:r>
            <a:r>
              <a:rPr lang="zh-CN" altLang="en-US" dirty="0"/>
              <a:t>，即简单的用</a:t>
            </a:r>
            <a:r>
              <a:rPr lang="en-US" altLang="zh-CN" dirty="0"/>
              <a:t>UDP</a:t>
            </a:r>
            <a:r>
              <a:rPr lang="zh-CN" altLang="en-US" dirty="0"/>
              <a:t>穿透</a:t>
            </a:r>
            <a:r>
              <a:rPr lang="en-US" altLang="zh-CN" dirty="0"/>
              <a:t>NAT</a:t>
            </a:r>
            <a:r>
              <a:rPr lang="zh-CN" altLang="en-US" dirty="0"/>
              <a:t>。</a:t>
            </a:r>
          </a:p>
          <a:p>
            <a:r>
              <a:rPr lang="zh-CN" altLang="en-US" dirty="0"/>
              <a:t>在新的</a:t>
            </a:r>
            <a:r>
              <a:rPr lang="en-US" altLang="zh-CN" dirty="0"/>
              <a:t>RFC5389</a:t>
            </a:r>
            <a:r>
              <a:rPr lang="zh-CN" altLang="en-US" dirty="0"/>
              <a:t>修订中把</a:t>
            </a:r>
            <a:r>
              <a:rPr lang="en-US" altLang="zh-CN" dirty="0"/>
              <a:t>STUN</a:t>
            </a:r>
            <a:r>
              <a:rPr lang="zh-CN" altLang="en-US" dirty="0"/>
              <a:t>协议定位于为穿透</a:t>
            </a:r>
            <a:r>
              <a:rPr lang="en-US" altLang="zh-CN" dirty="0"/>
              <a:t>NAT</a:t>
            </a:r>
            <a:r>
              <a:rPr lang="zh-CN" altLang="en-US" dirty="0"/>
              <a:t>提供工具，而不是一个完整的解决方案，英文全称是</a:t>
            </a:r>
            <a:r>
              <a:rPr lang="en-US" altLang="zh-CN" dirty="0"/>
              <a:t>Session Traversal Utilities for NAT</a:t>
            </a:r>
            <a:r>
              <a:rPr lang="zh-CN" altLang="en-US" dirty="0"/>
              <a:t>，即</a:t>
            </a:r>
            <a:r>
              <a:rPr lang="en-US" altLang="zh-CN" dirty="0"/>
              <a:t>NAT</a:t>
            </a:r>
            <a:r>
              <a:rPr lang="zh-CN" altLang="en-US" dirty="0"/>
              <a:t>会话穿透效用。</a:t>
            </a:r>
            <a:r>
              <a:rPr lang="en-US" altLang="zh-CN" dirty="0"/>
              <a:t>RFC5389</a:t>
            </a:r>
            <a:r>
              <a:rPr lang="zh-CN" altLang="en-US" dirty="0"/>
              <a:t>与</a:t>
            </a:r>
            <a:r>
              <a:rPr lang="en-US" altLang="zh-CN" dirty="0"/>
              <a:t>RFC3489</a:t>
            </a:r>
            <a:r>
              <a:rPr lang="zh-CN" altLang="en-US" dirty="0"/>
              <a:t>除了名称变化外，最大的区别是支持</a:t>
            </a:r>
            <a:r>
              <a:rPr lang="en-US" altLang="zh-CN" dirty="0"/>
              <a:t>TCP</a:t>
            </a:r>
            <a:r>
              <a:rPr lang="zh-CN" altLang="en-US" dirty="0"/>
              <a:t>穿透。</a:t>
            </a:r>
          </a:p>
        </p:txBody>
      </p:sp>
    </p:spTree>
    <p:extLst>
      <p:ext uri="{BB962C8B-B14F-4D97-AF65-F5344CB8AC3E}">
        <p14:creationId xmlns:p14="http://schemas.microsoft.com/office/powerpoint/2010/main" val="23268985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1426560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079724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022909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不同的设备有不同的</a:t>
                </a:r>
                <a:r>
                  <a:rPr lang="en-US" altLang="zh-CN" dirty="0"/>
                  <a:t>BGP</a:t>
                </a:r>
                <a:r>
                  <a:rPr lang="zh-CN" altLang="en-US" dirty="0"/>
                  <a:t>邻居规格与隧道规格。</a:t>
                </a:r>
                <a:endParaRPr lang="en-US" altLang="zh-CN" dirty="0"/>
              </a:p>
              <a:p>
                <a:r>
                  <a:rPr lang="zh-CN" altLang="en-US" dirty="0"/>
                  <a:t>产品规格可查看产品文档。</a:t>
                </a:r>
              </a:p>
            </p:txBody>
          </p:sp>
        </mc:Choice>
        <mc:Fallback xmlns="">
          <p:sp>
            <p:nvSpPr>
              <p:cNvPr id="3" name="备注占位符 2"/>
              <p:cNvSpPr>
                <a:spLocks noGrp="1"/>
              </p:cNvSpPr>
              <p:nvPr>
                <p:ph type="body" idx="1"/>
              </p:nvPr>
            </p:nvSpPr>
            <p:spPr/>
            <p:txBody>
              <a:bodyPr/>
              <a:lstStyle/>
              <a:p>
                <a:r>
                  <a:rPr lang="en-US" altLang="zh-CN" sz="1100" b="1" smtClean="0">
                    <a:solidFill>
                      <a:schemeClr val="tx1"/>
                    </a:solidFill>
                    <a:latin typeface="微软雅黑" pitchFamily="34" charset="-122"/>
                    <a:ea typeface="微软雅黑" pitchFamily="34" charset="-122"/>
                  </a:rPr>
                  <a:t>LAN</a:t>
                </a:r>
                <a:r>
                  <a:rPr lang="zh-CN" altLang="en-US" sz="1100" b="1" smtClean="0">
                    <a:solidFill>
                      <a:schemeClr val="tx1"/>
                    </a:solidFill>
                    <a:latin typeface="微软雅黑" pitchFamily="34" charset="-122"/>
                    <a:ea typeface="微软雅黑" pitchFamily="34" charset="-122"/>
                  </a:rPr>
                  <a:t>侧有效路由约束：</a:t>
                </a:r>
                <a:endParaRPr lang="en-US" altLang="zh-CN" sz="1100" b="1" smtClean="0">
                  <a:solidFill>
                    <a:schemeClr val="tx1"/>
                  </a:solidFill>
                  <a:latin typeface="微软雅黑" pitchFamily="34" charset="-122"/>
                  <a:ea typeface="微软雅黑" pitchFamily="34" charset="-122"/>
                </a:endParaRPr>
              </a:p>
              <a:p>
                <a:r>
                  <a:rPr lang="en-US" altLang="zh-CN" sz="1100" smtClean="0">
                    <a:solidFill>
                      <a:schemeClr val="tx1"/>
                    </a:solidFill>
                    <a:latin typeface="微软雅黑" pitchFamily="34" charset="-122"/>
                    <a:ea typeface="微软雅黑" pitchFamily="34" charset="-122"/>
                  </a:rPr>
                  <a:t>vRR</a:t>
                </a:r>
                <a:r>
                  <a:rPr lang="zh-CN" altLang="en-US" sz="1100" smtClean="0">
                    <a:solidFill>
                      <a:schemeClr val="tx1"/>
                    </a:solidFill>
                    <a:latin typeface="微软雅黑" pitchFamily="34" charset="-122"/>
                    <a:ea typeface="微软雅黑" pitchFamily="34" charset="-122"/>
                  </a:rPr>
                  <a:t>管理有效路由数量与该租户下的物理</a:t>
                </a:r>
                <a:r>
                  <a:rPr lang="en-US" altLang="zh-CN" sz="1100" smtClean="0">
                    <a:solidFill>
                      <a:schemeClr val="tx1"/>
                    </a:solidFill>
                    <a:latin typeface="微软雅黑" pitchFamily="34" charset="-122"/>
                    <a:ea typeface="微软雅黑" pitchFamily="34" charset="-122"/>
                  </a:rPr>
                  <a:t>vRR</a:t>
                </a:r>
                <a:r>
                  <a:rPr lang="zh-CN" altLang="en-US" sz="1100" smtClean="0">
                    <a:solidFill>
                      <a:schemeClr val="tx1"/>
                    </a:solidFill>
                    <a:latin typeface="微软雅黑" pitchFamily="34" charset="-122"/>
                    <a:ea typeface="微软雅黑" pitchFamily="34" charset="-122"/>
                  </a:rPr>
                  <a:t>数量成反比，即：</a:t>
                </a:r>
                <a:r>
                  <a:rPr lang="zh-CN" altLang="en-US" sz="1100" i="0">
                    <a:solidFill>
                      <a:schemeClr val="tx1"/>
                    </a:solidFill>
                    <a:latin typeface="Cambria Math" panose="02040503050406030204" pitchFamily="18" charset="0"/>
                    <a:ea typeface="微软雅黑" pitchFamily="34" charset="-122"/>
                  </a:rPr>
                  <a:t>单设备原管理路由规格</a:t>
                </a:r>
                <a:r>
                  <a:rPr lang="en-US" altLang="zh-CN" sz="1100" i="0">
                    <a:solidFill>
                      <a:schemeClr val="tx1"/>
                    </a:solidFill>
                    <a:latin typeface="Cambria Math" panose="02040503050406030204" pitchFamily="18" charset="0"/>
                    <a:ea typeface="微软雅黑" pitchFamily="34" charset="-122"/>
                  </a:rPr>
                  <a:t>/vRR</a:t>
                </a:r>
                <a:r>
                  <a:rPr lang="zh-CN" altLang="en-US" sz="1100" i="0">
                    <a:solidFill>
                      <a:schemeClr val="tx1"/>
                    </a:solidFill>
                    <a:latin typeface="Cambria Math" panose="02040503050406030204" pitchFamily="18" charset="0"/>
                    <a:ea typeface="微软雅黑" pitchFamily="34" charset="-122"/>
                  </a:rPr>
                  <a:t>物理设备数量</a:t>
                </a:r>
                <a:endParaRPr lang="en-US" altLang="zh-CN" dirty="0" smtClean="0"/>
              </a:p>
              <a:p>
                <a:pPr>
                  <a:lnSpc>
                    <a:spcPct val="150000"/>
                  </a:lnSpc>
                </a:pPr>
                <a:r>
                  <a:rPr lang="en-US" altLang="zh-CN" sz="1100" b="1" smtClean="0">
                    <a:solidFill>
                      <a:schemeClr val="tx1"/>
                    </a:solidFill>
                    <a:latin typeface="微软雅黑" pitchFamily="34" charset="-122"/>
                    <a:ea typeface="微软雅黑" pitchFamily="34" charset="-122"/>
                  </a:rPr>
                  <a:t>VRR</a:t>
                </a:r>
                <a:r>
                  <a:rPr lang="zh-CN" altLang="en-US" sz="1100" b="1" smtClean="0">
                    <a:solidFill>
                      <a:schemeClr val="tx1"/>
                    </a:solidFill>
                    <a:latin typeface="微软雅黑" pitchFamily="34" charset="-122"/>
                    <a:ea typeface="微软雅黑" pitchFamily="34" charset="-122"/>
                  </a:rPr>
                  <a:t>建议</a:t>
                </a:r>
                <a:r>
                  <a:rPr lang="zh-CN" altLang="en-US" sz="1100" smtClean="0">
                    <a:solidFill>
                      <a:schemeClr val="tx1"/>
                    </a:solidFill>
                    <a:latin typeface="微软雅黑" pitchFamily="34" charset="-122"/>
                    <a:ea typeface="微软雅黑" pitchFamily="34" charset="-122"/>
                  </a:rPr>
                  <a:t>：</a:t>
                </a:r>
                <a:endParaRPr lang="en-US" altLang="zh-CN" sz="1100" smtClean="0">
                  <a:solidFill>
                    <a:schemeClr val="tx1"/>
                  </a:solidFill>
                  <a:latin typeface="微软雅黑" pitchFamily="34" charset="-122"/>
                  <a:ea typeface="微软雅黑" pitchFamily="34" charset="-122"/>
                </a:endParaRPr>
              </a:p>
              <a:p>
                <a:pPr>
                  <a:lnSpc>
                    <a:spcPct val="150000"/>
                  </a:lnSpc>
                </a:pPr>
                <a:r>
                  <a:rPr lang="en-US" altLang="zh-CN" sz="1100" smtClean="0">
                    <a:solidFill>
                      <a:schemeClr val="tx1"/>
                    </a:solidFill>
                    <a:latin typeface="微软雅黑" pitchFamily="34" charset="-122"/>
                    <a:ea typeface="微软雅黑" pitchFamily="34" charset="-122"/>
                  </a:rPr>
                  <a:t>1</a:t>
                </a:r>
                <a:r>
                  <a:rPr lang="zh-CN" altLang="en-US" sz="1100" smtClean="0">
                    <a:solidFill>
                      <a:schemeClr val="tx1"/>
                    </a:solidFill>
                    <a:latin typeface="微软雅黑" pitchFamily="34" charset="-122"/>
                    <a:ea typeface="微软雅黑" pitchFamily="34" charset="-122"/>
                  </a:rPr>
                  <a:t>、在设备选型时，需要考虑设备的路由规格，以避免路由超规格，造成部分业务无法互通；</a:t>
                </a:r>
                <a:endParaRPr lang="en-US" altLang="zh-CN" sz="1100" smtClean="0">
                  <a:solidFill>
                    <a:schemeClr val="tx1"/>
                  </a:solidFill>
                  <a:latin typeface="微软雅黑" pitchFamily="34" charset="-122"/>
                  <a:ea typeface="微软雅黑" pitchFamily="34" charset="-122"/>
                </a:endParaRPr>
              </a:p>
              <a:p>
                <a:pPr>
                  <a:lnSpc>
                    <a:spcPct val="150000"/>
                  </a:lnSpc>
                </a:pPr>
                <a:r>
                  <a:rPr lang="en-US" altLang="zh-CN" sz="1100" smtClean="0">
                    <a:solidFill>
                      <a:schemeClr val="tx1"/>
                    </a:solidFill>
                    <a:latin typeface="微软雅黑" pitchFamily="34" charset="-122"/>
                    <a:ea typeface="微软雅黑" pitchFamily="34" charset="-122"/>
                  </a:rPr>
                  <a:t>2</a:t>
                </a:r>
                <a:r>
                  <a:rPr lang="zh-CN" altLang="en-US" sz="1100" smtClean="0">
                    <a:solidFill>
                      <a:schemeClr val="tx1"/>
                    </a:solidFill>
                    <a:latin typeface="微软雅黑" pitchFamily="34" charset="-122"/>
                    <a:ea typeface="微软雅黑" pitchFamily="34" charset="-122"/>
                  </a:rPr>
                  <a:t>、建议在站点</a:t>
                </a:r>
                <a:r>
                  <a:rPr lang="en-US" altLang="zh-CN" sz="1100" smtClean="0">
                    <a:solidFill>
                      <a:schemeClr val="tx1"/>
                    </a:solidFill>
                    <a:latin typeface="微软雅黑" pitchFamily="34" charset="-122"/>
                    <a:ea typeface="微软雅黑" pitchFamily="34" charset="-122"/>
                  </a:rPr>
                  <a:t>LAN</a:t>
                </a:r>
                <a:r>
                  <a:rPr lang="zh-CN" altLang="en-US" sz="1100" smtClean="0">
                    <a:solidFill>
                      <a:schemeClr val="tx1"/>
                    </a:solidFill>
                    <a:latin typeface="微软雅黑" pitchFamily="34" charset="-122"/>
                    <a:ea typeface="微软雅黑" pitchFamily="34" charset="-122"/>
                  </a:rPr>
                  <a:t>侧网络进行路由聚合，以避免全网路由条目过多，超出部分设备的路由表规格。分别连接到两个</a:t>
                </a:r>
                <a:r>
                  <a:rPr lang="en-US" altLang="zh-CN" sz="1100" smtClean="0">
                    <a:solidFill>
                      <a:schemeClr val="tx1"/>
                    </a:solidFill>
                    <a:latin typeface="微软雅黑" pitchFamily="34" charset="-122"/>
                    <a:ea typeface="微软雅黑" pitchFamily="34" charset="-122"/>
                  </a:rPr>
                  <a:t>RR</a:t>
                </a:r>
                <a:r>
                  <a:rPr lang="zh-CN" altLang="en-US" sz="1100" smtClean="0">
                    <a:solidFill>
                      <a:schemeClr val="tx1"/>
                    </a:solidFill>
                    <a:latin typeface="微软雅黑" pitchFamily="34" charset="-122"/>
                    <a:ea typeface="微软雅黑" pitchFamily="34" charset="-122"/>
                  </a:rPr>
                  <a:t>站点</a:t>
                </a:r>
                <a:endParaRPr lang="en-US" altLang="zh-CN" sz="1100" smtClean="0">
                  <a:solidFill>
                    <a:schemeClr val="tx1"/>
                  </a:solidFill>
                  <a:latin typeface="微软雅黑" pitchFamily="34" charset="-122"/>
                  <a:ea typeface="微软雅黑" pitchFamily="34" charset="-122"/>
                </a:endParaRPr>
              </a:p>
              <a:p>
                <a:endParaRPr lang="en-US" altLang="zh-CN" smtClean="0"/>
              </a:p>
              <a:p>
                <a:endParaRPr lang="en-US" altLang="zh-CN" smtClean="0"/>
              </a:p>
              <a:p>
                <a:pPr>
                  <a:lnSpc>
                    <a:spcPct val="150000"/>
                  </a:lnSpc>
                </a:pPr>
                <a:r>
                  <a:rPr lang="en-US" altLang="zh-CN" sz="1100" smtClean="0">
                    <a:latin typeface="微软雅黑" pitchFamily="34" charset="-122"/>
                    <a:ea typeface="微软雅黑" pitchFamily="34" charset="-122"/>
                  </a:rPr>
                  <a:t>BGP peers</a:t>
                </a:r>
                <a:r>
                  <a:rPr lang="zh-CN" altLang="en-US" sz="1100" smtClean="0">
                    <a:latin typeface="微软雅黑" pitchFamily="34" charset="-122"/>
                    <a:ea typeface="微软雅黑" pitchFamily="34" charset="-122"/>
                  </a:rPr>
                  <a:t>约束：</a:t>
                </a:r>
                <a:endParaRPr lang="en-US" altLang="zh-CN" sz="1100" smtClean="0">
                  <a:latin typeface="微软雅黑" pitchFamily="34" charset="-122"/>
                  <a:ea typeface="微软雅黑" pitchFamily="34" charset="-122"/>
                </a:endParaRPr>
              </a:p>
              <a:p>
                <a:pPr>
                  <a:lnSpc>
                    <a:spcPct val="150000"/>
                  </a:lnSpc>
                </a:pPr>
                <a:r>
                  <a:rPr lang="en-US" altLang="zh-CN" sz="1100" smtClean="0">
                    <a:latin typeface="微软雅黑" pitchFamily="34" charset="-122"/>
                    <a:ea typeface="微软雅黑" pitchFamily="34" charset="-122"/>
                  </a:rPr>
                  <a:t>CPE</a:t>
                </a:r>
                <a:r>
                  <a:rPr lang="zh-CN" altLang="en-US" sz="1100" smtClean="0">
                    <a:latin typeface="微软雅黑" pitchFamily="34" charset="-122"/>
                    <a:ea typeface="微软雅黑" pitchFamily="34" charset="-122"/>
                  </a:rPr>
                  <a:t>采用</a:t>
                </a:r>
                <a:r>
                  <a:rPr lang="en-US" altLang="zh-CN" sz="1100" smtClean="0">
                    <a:latin typeface="微软雅黑" pitchFamily="34" charset="-122"/>
                    <a:ea typeface="微软雅黑" pitchFamily="34" charset="-122"/>
                  </a:rPr>
                  <a:t>Loopback</a:t>
                </a:r>
                <a:r>
                  <a:rPr lang="zh-CN" altLang="en-US" sz="1100" smtClean="0">
                    <a:latin typeface="微软雅黑" pitchFamily="34" charset="-122"/>
                    <a:ea typeface="微软雅黑" pitchFamily="34" charset="-122"/>
                  </a:rPr>
                  <a:t>地址与</a:t>
                </a:r>
                <a:r>
                  <a:rPr lang="en-US" altLang="zh-CN" sz="1100" smtClean="0">
                    <a:latin typeface="微软雅黑" pitchFamily="34" charset="-122"/>
                    <a:ea typeface="微软雅黑" pitchFamily="34" charset="-122"/>
                  </a:rPr>
                  <a:t>RR</a:t>
                </a:r>
                <a:r>
                  <a:rPr lang="zh-CN" altLang="en-US" sz="1100" smtClean="0">
                    <a:latin typeface="微软雅黑" pitchFamily="34" charset="-122"/>
                    <a:ea typeface="微软雅黑" pitchFamily="34" charset="-122"/>
                  </a:rPr>
                  <a:t>建立</a:t>
                </a:r>
                <a:r>
                  <a:rPr lang="en-US" altLang="zh-CN" sz="1100" smtClean="0">
                    <a:latin typeface="微软雅黑" pitchFamily="34" charset="-122"/>
                    <a:ea typeface="微软雅黑" pitchFamily="34" charset="-122"/>
                  </a:rPr>
                  <a:t>BGP</a:t>
                </a:r>
                <a:r>
                  <a:rPr lang="zh-CN" altLang="en-US" sz="1100" smtClean="0">
                    <a:latin typeface="微软雅黑" pitchFamily="34" charset="-122"/>
                    <a:ea typeface="微软雅黑" pitchFamily="34" charset="-122"/>
                  </a:rPr>
                  <a:t>连接，每个分支</a:t>
                </a:r>
                <a:r>
                  <a:rPr lang="en-US" altLang="zh-CN" sz="1100" smtClean="0">
                    <a:latin typeface="微软雅黑" pitchFamily="34" charset="-122"/>
                    <a:ea typeface="微软雅黑" pitchFamily="34" charset="-122"/>
                  </a:rPr>
                  <a:t>cpe</a:t>
                </a:r>
                <a:r>
                  <a:rPr lang="zh-CN" altLang="en-US" sz="1100" smtClean="0">
                    <a:latin typeface="微软雅黑" pitchFamily="34" charset="-122"/>
                    <a:ea typeface="微软雅黑" pitchFamily="34" charset="-122"/>
                  </a:rPr>
                  <a:t>和</a:t>
                </a:r>
                <a:r>
                  <a:rPr lang="en-US" altLang="zh-CN" sz="1100" smtClean="0">
                    <a:latin typeface="微软雅黑" pitchFamily="34" charset="-122"/>
                    <a:ea typeface="微软雅黑" pitchFamily="34" charset="-122"/>
                  </a:rPr>
                  <a:t>RR</a:t>
                </a:r>
                <a:r>
                  <a:rPr lang="zh-CN" altLang="en-US" sz="1100" smtClean="0">
                    <a:latin typeface="微软雅黑" pitchFamily="34" charset="-122"/>
                    <a:ea typeface="微软雅黑" pitchFamily="34" charset="-122"/>
                  </a:rPr>
                  <a:t>之间建立</a:t>
                </a:r>
                <a:r>
                  <a:rPr lang="en-US" altLang="zh-CN" sz="1100" smtClean="0">
                    <a:latin typeface="微软雅黑" pitchFamily="34" charset="-122"/>
                    <a:ea typeface="微软雅黑" pitchFamily="34" charset="-122"/>
                  </a:rPr>
                  <a:t>1</a:t>
                </a:r>
                <a:r>
                  <a:rPr lang="zh-CN" altLang="en-US" sz="1100" smtClean="0">
                    <a:latin typeface="微软雅黑" pitchFamily="34" charset="-122"/>
                    <a:ea typeface="微软雅黑" pitchFamily="34" charset="-122"/>
                  </a:rPr>
                  <a:t>个</a:t>
                </a:r>
                <a:r>
                  <a:rPr lang="en-US" altLang="zh-CN" sz="1100" smtClean="0">
                    <a:latin typeface="微软雅黑" pitchFamily="34" charset="-122"/>
                    <a:ea typeface="微软雅黑" pitchFamily="34" charset="-122"/>
                  </a:rPr>
                  <a:t>BGP</a:t>
                </a:r>
                <a:r>
                  <a:rPr lang="zh-CN" altLang="en-US" sz="1100" smtClean="0">
                    <a:latin typeface="微软雅黑" pitchFamily="34" charset="-122"/>
                    <a:ea typeface="微软雅黑" pitchFamily="34" charset="-122"/>
                  </a:rPr>
                  <a:t>连接。</a:t>
                </a:r>
                <a:r>
                  <a:rPr lang="en-US" altLang="zh-CN" sz="1100" smtClean="0">
                    <a:latin typeface="微软雅黑" pitchFamily="34" charset="-122"/>
                    <a:ea typeface="微软雅黑" pitchFamily="34" charset="-122"/>
                  </a:rPr>
                  <a:t>BGP</a:t>
                </a:r>
                <a:r>
                  <a:rPr lang="zh-CN" altLang="en-US" sz="1100" smtClean="0">
                    <a:latin typeface="微软雅黑" pitchFamily="34" charset="-122"/>
                    <a:ea typeface="微软雅黑" pitchFamily="34" charset="-122"/>
                  </a:rPr>
                  <a:t>连接束与链路条目数多少无关，即使</a:t>
                </a:r>
                <a:r>
                  <a:rPr lang="en-US" altLang="zh-CN" sz="1100" smtClean="0">
                    <a:latin typeface="微软雅黑" pitchFamily="34" charset="-122"/>
                    <a:ea typeface="微软雅黑" pitchFamily="34" charset="-122"/>
                  </a:rPr>
                  <a:t>CPE</a:t>
                </a:r>
                <a:r>
                  <a:rPr lang="zh-CN" altLang="en-US" sz="1100" smtClean="0">
                    <a:latin typeface="微软雅黑" pitchFamily="34" charset="-122"/>
                    <a:ea typeface="微软雅黑" pitchFamily="34" charset="-122"/>
                  </a:rPr>
                  <a:t>与</a:t>
                </a:r>
                <a:r>
                  <a:rPr lang="en-US" altLang="zh-CN" sz="1100" smtClean="0">
                    <a:latin typeface="微软雅黑" pitchFamily="34" charset="-122"/>
                    <a:ea typeface="微软雅黑" pitchFamily="34" charset="-122"/>
                  </a:rPr>
                  <a:t>RR</a:t>
                </a:r>
                <a:r>
                  <a:rPr lang="zh-CN" altLang="en-US" sz="1100" smtClean="0">
                    <a:latin typeface="微软雅黑" pitchFamily="34" charset="-122"/>
                    <a:ea typeface="微软雅黑" pitchFamily="34" charset="-122"/>
                  </a:rPr>
                  <a:t>之间有多条链路，二者之间依然只有</a:t>
                </a:r>
                <a:r>
                  <a:rPr lang="en-US" altLang="zh-CN" sz="1100" smtClean="0">
                    <a:latin typeface="微软雅黑" pitchFamily="34" charset="-122"/>
                    <a:ea typeface="微软雅黑" pitchFamily="34" charset="-122"/>
                  </a:rPr>
                  <a:t>1</a:t>
                </a:r>
                <a:r>
                  <a:rPr lang="zh-CN" altLang="en-US" sz="1100" smtClean="0">
                    <a:latin typeface="微软雅黑" pitchFamily="34" charset="-122"/>
                    <a:ea typeface="微软雅黑" pitchFamily="34" charset="-122"/>
                  </a:rPr>
                  <a:t>个</a:t>
                </a:r>
                <a:r>
                  <a:rPr lang="en-US" altLang="zh-CN" sz="1100" smtClean="0">
                    <a:latin typeface="微软雅黑" pitchFamily="34" charset="-122"/>
                    <a:ea typeface="微软雅黑" pitchFamily="34" charset="-122"/>
                  </a:rPr>
                  <a:t>BGP</a:t>
                </a:r>
                <a:r>
                  <a:rPr lang="zh-CN" altLang="en-US" sz="1100" smtClean="0">
                    <a:latin typeface="微软雅黑" pitchFamily="34" charset="-122"/>
                    <a:ea typeface="微软雅黑" pitchFamily="34" charset="-122"/>
                  </a:rPr>
                  <a:t>连接（</a:t>
                </a:r>
                <a:r>
                  <a:rPr lang="en-US" altLang="zh-CN" sz="1100" smtClean="0">
                    <a:latin typeface="微软雅黑" pitchFamily="34" charset="-122"/>
                    <a:ea typeface="微软雅黑" pitchFamily="34" charset="-122"/>
                  </a:rPr>
                  <a:t>CPE</a:t>
                </a:r>
                <a:r>
                  <a:rPr lang="zh-CN" altLang="en-US" sz="1100" smtClean="0">
                    <a:latin typeface="微软雅黑" pitchFamily="34" charset="-122"/>
                    <a:ea typeface="微软雅黑" pitchFamily="34" charset="-122"/>
                  </a:rPr>
                  <a:t>与</a:t>
                </a:r>
                <a:r>
                  <a:rPr lang="en-US" altLang="zh-CN" sz="1100" smtClean="0">
                    <a:latin typeface="微软雅黑" pitchFamily="34" charset="-122"/>
                    <a:ea typeface="微软雅黑" pitchFamily="34" charset="-122"/>
                  </a:rPr>
                  <a:t>RR</a:t>
                </a:r>
                <a:r>
                  <a:rPr lang="zh-CN" altLang="en-US" sz="1100" smtClean="0">
                    <a:latin typeface="微软雅黑" pitchFamily="34" charset="-122"/>
                    <a:ea typeface="微软雅黑" pitchFamily="34" charset="-122"/>
                  </a:rPr>
                  <a:t>无法互通时，二者无法建立</a:t>
                </a:r>
                <a:r>
                  <a:rPr lang="en-US" altLang="zh-CN" sz="1100" smtClean="0">
                    <a:latin typeface="微软雅黑" pitchFamily="34" charset="-122"/>
                    <a:ea typeface="微软雅黑" pitchFamily="34" charset="-122"/>
                  </a:rPr>
                  <a:t>BGP</a:t>
                </a:r>
                <a:r>
                  <a:rPr lang="zh-CN" altLang="en-US" sz="1100" smtClean="0">
                    <a:latin typeface="微软雅黑" pitchFamily="34" charset="-122"/>
                    <a:ea typeface="微软雅黑" pitchFamily="34" charset="-122"/>
                  </a:rPr>
                  <a:t>邻居）。</a:t>
                </a:r>
                <a:endParaRPr lang="en-US" altLang="zh-CN" sz="1100" smtClean="0">
                  <a:latin typeface="微软雅黑" pitchFamily="34" charset="-122"/>
                  <a:ea typeface="微软雅黑" pitchFamily="34" charset="-122"/>
                </a:endParaRPr>
              </a:p>
              <a:p>
                <a:pPr>
                  <a:lnSpc>
                    <a:spcPct val="150000"/>
                  </a:lnSpc>
                </a:pP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隧道规格约束：</a:t>
                </a:r>
                <a:endParaRPr lang="en-US" altLang="zh-CN" sz="1100" smtClean="0">
                  <a:latin typeface="微软雅黑" pitchFamily="34" charset="-122"/>
                  <a:ea typeface="微软雅黑" pitchFamily="34" charset="-122"/>
                </a:endParaRPr>
              </a:p>
              <a:p>
                <a:pPr>
                  <a:lnSpc>
                    <a:spcPct val="150000"/>
                  </a:lnSpc>
                </a:pP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隧道数和链路数，以及链路所属的</a:t>
                </a:r>
                <a:r>
                  <a:rPr lang="en-US" altLang="zh-CN" sz="1100" smtClean="0">
                    <a:latin typeface="微软雅黑" pitchFamily="34" charset="-122"/>
                    <a:ea typeface="微软雅黑" pitchFamily="34" charset="-122"/>
                  </a:rPr>
                  <a:t>Routing Domain</a:t>
                </a:r>
                <a:r>
                  <a:rPr lang="zh-CN" altLang="en-US" sz="1100" smtClean="0">
                    <a:latin typeface="微软雅黑" pitchFamily="34" charset="-122"/>
                    <a:ea typeface="微软雅黑" pitchFamily="34" charset="-122"/>
                  </a:rPr>
                  <a:t>强相关，链路属于同一</a:t>
                </a:r>
                <a:r>
                  <a:rPr lang="en-US" altLang="zh-CN" sz="1100" smtClean="0">
                    <a:latin typeface="微软雅黑" pitchFamily="34" charset="-122"/>
                    <a:ea typeface="微软雅黑" pitchFamily="34" charset="-122"/>
                  </a:rPr>
                  <a:t>Routing Domain</a:t>
                </a:r>
                <a:r>
                  <a:rPr lang="zh-CN" altLang="en-US" sz="1100" smtClean="0">
                    <a:latin typeface="微软雅黑" pitchFamily="34" charset="-122"/>
                    <a:ea typeface="微软雅黑" pitchFamily="34" charset="-122"/>
                  </a:rPr>
                  <a:t>，两两之间均会建立</a:t>
                </a: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隧道。站点采用双网关模式进行部署时，每台网关上消耗的</a:t>
                </a: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隧道规格相同，均为该站点与其他站点建立的总的</a:t>
                </a: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隧道数（原因：站点双网关时，两台网关之间需要进行</a:t>
                </a: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隧道信息的同步，同步的</a:t>
                </a: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隧道信息也占用网关的</a:t>
                </a: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隧道规格，因此每台网关上的</a:t>
                </a: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隧道规格消耗为两台网关实际建立</a:t>
                </a: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隧道数量之和，即该站点的总</a:t>
                </a:r>
                <a:r>
                  <a:rPr lang="en-US" altLang="zh-CN" sz="1100" smtClean="0">
                    <a:latin typeface="微软雅黑" pitchFamily="34" charset="-122"/>
                    <a:ea typeface="微软雅黑" pitchFamily="34" charset="-122"/>
                  </a:rPr>
                  <a:t>EVPN</a:t>
                </a:r>
                <a:r>
                  <a:rPr lang="zh-CN" altLang="en-US" sz="1100" smtClean="0">
                    <a:latin typeface="微软雅黑" pitchFamily="34" charset="-122"/>
                    <a:ea typeface="微软雅黑" pitchFamily="34" charset="-122"/>
                  </a:rPr>
                  <a:t>隧道数）</a:t>
                </a:r>
              </a:p>
              <a:p>
                <a:endParaRPr lang="zh-CN" altLang="en-US" dirty="0"/>
              </a:p>
            </p:txBody>
          </p:sp>
        </mc:Fallback>
      </mc:AlternateContent>
      <p:sp>
        <p:nvSpPr>
          <p:cNvPr id="5" name="Slide Image Placeholder 4">
            <a:extLst>
              <a:ext uri="{FF2B5EF4-FFF2-40B4-BE49-F238E27FC236}">
                <a16:creationId xmlns:a16="http://schemas.microsoft.com/office/drawing/2014/main" id="{A41B8D7E-3E7B-465E-9CC3-FCFD8059F96F}"/>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359560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分区域组网</a:t>
            </a:r>
            <a:endParaRPr lang="en-US" altLang="zh-CN" dirty="0"/>
          </a:p>
          <a:p>
            <a:pPr lvl="1"/>
            <a:r>
              <a:rPr lang="zh-CN" altLang="en-US" dirty="0"/>
              <a:t>租户下划分多个区域，并在总部</a:t>
            </a:r>
            <a:r>
              <a:rPr lang="en-US" altLang="zh-CN" dirty="0"/>
              <a:t>/DC</a:t>
            </a:r>
            <a:r>
              <a:rPr lang="zh-CN" altLang="en-US" dirty="0"/>
              <a:t>内部署多个</a:t>
            </a:r>
            <a:r>
              <a:rPr lang="en-US" altLang="zh-CN" dirty="0"/>
              <a:t>Hub</a:t>
            </a:r>
            <a:r>
              <a:rPr lang="zh-CN" altLang="en-US" dirty="0"/>
              <a:t>站点，每个区域关联</a:t>
            </a:r>
            <a:r>
              <a:rPr lang="en-US" altLang="zh-CN" dirty="0"/>
              <a:t>1~2</a:t>
            </a:r>
            <a:r>
              <a:rPr lang="zh-CN" altLang="en-US" dirty="0"/>
              <a:t>个</a:t>
            </a:r>
            <a:r>
              <a:rPr lang="en-US" altLang="zh-CN" dirty="0"/>
              <a:t>Hub</a:t>
            </a:r>
            <a:r>
              <a:rPr lang="zh-CN" altLang="en-US" dirty="0"/>
              <a:t>站点。</a:t>
            </a:r>
            <a:endParaRPr lang="en-US" altLang="zh-CN" dirty="0"/>
          </a:p>
          <a:p>
            <a:pPr lvl="1"/>
            <a:r>
              <a:rPr lang="zh-CN" altLang="en-US" dirty="0"/>
              <a:t>分支站点按照区域加入到相应</a:t>
            </a:r>
            <a:r>
              <a:rPr lang="en-US" altLang="zh-CN" dirty="0"/>
              <a:t>Hub</a:t>
            </a:r>
            <a:r>
              <a:rPr lang="zh-CN" altLang="en-US" dirty="0"/>
              <a:t>站点。</a:t>
            </a:r>
            <a:endParaRPr lang="en-US" altLang="zh-CN" dirty="0"/>
          </a:p>
          <a:p>
            <a:pPr lvl="1"/>
            <a:r>
              <a:rPr lang="en-US" dirty="0"/>
              <a:t>RR</a:t>
            </a:r>
            <a:r>
              <a:rPr lang="zh-CN" altLang="en-US" dirty="0"/>
              <a:t>可独立部署，每对</a:t>
            </a:r>
            <a:r>
              <a:rPr lang="en-US" altLang="zh-CN" dirty="0"/>
              <a:t>RR</a:t>
            </a:r>
            <a:r>
              <a:rPr lang="zh-CN" altLang="en-US" dirty="0"/>
              <a:t>关联一个区域内的站点。</a:t>
            </a:r>
            <a:endParaRPr lang="en-US" altLang="zh-CN" dirty="0"/>
          </a:p>
          <a:p>
            <a:pPr lvl="1"/>
            <a:r>
              <a:rPr lang="zh-CN" altLang="en-US" dirty="0"/>
              <a:t>跨区域站点间互联经过</a:t>
            </a:r>
            <a:r>
              <a:rPr lang="en-US" altLang="zh-CN" dirty="0"/>
              <a:t>Hub LAN</a:t>
            </a:r>
            <a:r>
              <a:rPr lang="zh-CN" altLang="en-US" dirty="0"/>
              <a:t>侧绕行。</a:t>
            </a:r>
            <a:endParaRPr lang="en-US" altLang="zh-CN" dirty="0"/>
          </a:p>
          <a:p>
            <a:pPr lvl="0"/>
            <a:r>
              <a:rPr lang="zh-CN" altLang="en-US" dirty="0"/>
              <a:t>分租户组网</a:t>
            </a:r>
            <a:endParaRPr lang="en-US" altLang="zh-CN" dirty="0"/>
          </a:p>
          <a:p>
            <a:pPr lvl="1"/>
            <a:r>
              <a:rPr lang="en-US" dirty="0"/>
              <a:t>MSP</a:t>
            </a:r>
            <a:r>
              <a:rPr lang="zh-CN" altLang="en-US" dirty="0"/>
              <a:t>管理员创建多个租户，在总部</a:t>
            </a:r>
            <a:r>
              <a:rPr lang="en-US" altLang="zh-CN" dirty="0"/>
              <a:t>/DC</a:t>
            </a:r>
            <a:r>
              <a:rPr lang="zh-CN" altLang="en-US" dirty="0"/>
              <a:t>内部署多个</a:t>
            </a:r>
            <a:r>
              <a:rPr lang="en-US" altLang="zh-CN" dirty="0"/>
              <a:t>Hub</a:t>
            </a:r>
            <a:r>
              <a:rPr lang="zh-CN" altLang="en-US" dirty="0"/>
              <a:t>站点，每个租户关联</a:t>
            </a:r>
            <a:r>
              <a:rPr lang="en-US" altLang="zh-CN" dirty="0"/>
              <a:t>1~2</a:t>
            </a:r>
            <a:r>
              <a:rPr lang="zh-CN" altLang="en-US" dirty="0"/>
              <a:t>个</a:t>
            </a:r>
            <a:r>
              <a:rPr lang="en-US" altLang="zh-CN" dirty="0"/>
              <a:t>Hub</a:t>
            </a:r>
            <a:r>
              <a:rPr lang="zh-CN" altLang="en-US" dirty="0"/>
              <a:t>站点。</a:t>
            </a:r>
            <a:endParaRPr lang="en-US" altLang="zh-CN" dirty="0"/>
          </a:p>
          <a:p>
            <a:pPr lvl="1"/>
            <a:r>
              <a:rPr lang="zh-CN" altLang="en-US" dirty="0"/>
              <a:t>按照地理区域对分支站点分组加入到不同的租户。</a:t>
            </a:r>
            <a:endParaRPr lang="en-US" altLang="zh-CN" dirty="0"/>
          </a:p>
          <a:p>
            <a:pPr lvl="1"/>
            <a:r>
              <a:rPr lang="en-US" dirty="0"/>
              <a:t>RR</a:t>
            </a:r>
            <a:r>
              <a:rPr lang="zh-CN" altLang="en-US" dirty="0"/>
              <a:t>可独立部署，每对</a:t>
            </a:r>
            <a:r>
              <a:rPr lang="en-US" altLang="zh-CN" dirty="0"/>
              <a:t>RR</a:t>
            </a:r>
            <a:r>
              <a:rPr lang="zh-CN" altLang="en-US" dirty="0"/>
              <a:t>关联一个区域内的站点。</a:t>
            </a:r>
            <a:endParaRPr lang="en-US" altLang="zh-CN" dirty="0"/>
          </a:p>
          <a:p>
            <a:pPr lvl="1"/>
            <a:r>
              <a:rPr lang="zh-CN" altLang="en-US" dirty="0"/>
              <a:t>跨区域站点间互联经过</a:t>
            </a:r>
            <a:r>
              <a:rPr lang="en-US" altLang="zh-CN" dirty="0"/>
              <a:t>Hub LAN</a:t>
            </a:r>
            <a:r>
              <a:rPr lang="zh-CN" altLang="en-US" dirty="0"/>
              <a:t>侧绕行。</a:t>
            </a:r>
            <a:endParaRPr lang="en-US" dirty="0"/>
          </a:p>
        </p:txBody>
      </p:sp>
      <p:sp>
        <p:nvSpPr>
          <p:cNvPr id="5" name="Slide Image Placeholder 4">
            <a:extLst>
              <a:ext uri="{FF2B5EF4-FFF2-40B4-BE49-F238E27FC236}">
                <a16:creationId xmlns:a16="http://schemas.microsoft.com/office/drawing/2014/main" id="{4EEF7078-73A5-4572-821A-6CCC4CAA4796}"/>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3416661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Image Placeholder 2">
            <a:extLst>
              <a:ext uri="{FF2B5EF4-FFF2-40B4-BE49-F238E27FC236}">
                <a16:creationId xmlns:a16="http://schemas.microsoft.com/office/drawing/2014/main" id="{7D088F6A-01AC-4570-89AE-20EF18F2982D}"/>
              </a:ext>
            </a:extLst>
          </p:cNvPr>
          <p:cNvSpPr>
            <a:spLocks noGrp="1" noRot="1" noChangeAspect="1"/>
          </p:cNvSpPr>
          <p:nvPr>
            <p:ph type="sldImg"/>
          </p:nvPr>
        </p:nvSpPr>
        <p:spPr>
          <a:xfrm>
            <a:off x="742950" y="717550"/>
            <a:ext cx="5557838" cy="3125788"/>
          </a:xfrm>
        </p:spPr>
      </p:sp>
      <p:sp>
        <p:nvSpPr>
          <p:cNvPr id="4" name="Notes Placeholder 3">
            <a:extLst>
              <a:ext uri="{FF2B5EF4-FFF2-40B4-BE49-F238E27FC236}">
                <a16:creationId xmlns:a16="http://schemas.microsoft.com/office/drawing/2014/main" id="{0E89DE12-E2BB-4E96-930A-CF411BBAB13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7629136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7183743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15415CB-F0F7-4B94-A62D-CF7A9D9B9BE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D0B0BF4-B1C0-493C-8B12-FDEC52AAF78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7056340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15415CB-F0F7-4B94-A62D-CF7A9D9B9BE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D0B0BF4-B1C0-493C-8B12-FDEC52AAF78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719011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a:t>Hub-Spoke</a:t>
            </a:r>
            <a:r>
              <a:rPr lang="zh-CN" altLang="en-US" dirty="0"/>
              <a:t>组网</a:t>
            </a:r>
            <a:endParaRPr lang="en-US" altLang="zh-CN" dirty="0"/>
          </a:p>
          <a:p>
            <a:pPr lvl="1"/>
            <a:r>
              <a:rPr lang="zh-CN" altLang="en-US" dirty="0"/>
              <a:t>一般由企业总部和数据中心作为</a:t>
            </a:r>
            <a:r>
              <a:rPr lang="en-US" altLang="zh-CN" dirty="0"/>
              <a:t>Hub</a:t>
            </a:r>
            <a:r>
              <a:rPr lang="zh-CN" altLang="en-US" dirty="0"/>
              <a:t>站点，企业各分支作为</a:t>
            </a:r>
            <a:r>
              <a:rPr lang="en-US" altLang="zh-CN" dirty="0"/>
              <a:t>Spoke</a:t>
            </a:r>
            <a:r>
              <a:rPr lang="zh-CN" altLang="en-US" dirty="0"/>
              <a:t>站点，通过</a:t>
            </a:r>
            <a:r>
              <a:rPr lang="en-US" altLang="zh-CN" dirty="0"/>
              <a:t>WAN</a:t>
            </a:r>
            <a:r>
              <a:rPr lang="zh-CN" altLang="en-US" dirty="0"/>
              <a:t>集中访问部署在总部或者数据中心站点的服务器应用。</a:t>
            </a:r>
            <a:endParaRPr lang="en-US" altLang="zh-CN" dirty="0"/>
          </a:p>
          <a:p>
            <a:pPr lvl="0"/>
            <a:r>
              <a:rPr lang="en-US" altLang="zh-CN" dirty="0"/>
              <a:t>Full-mesh</a:t>
            </a:r>
            <a:r>
              <a:rPr lang="zh-CN" altLang="en-US" dirty="0"/>
              <a:t>组网</a:t>
            </a:r>
            <a:endParaRPr lang="en-US" altLang="zh-CN" dirty="0"/>
          </a:p>
          <a:p>
            <a:pPr lvl="1"/>
            <a:r>
              <a:rPr lang="zh-CN" altLang="en-US" dirty="0"/>
              <a:t>企业的分支站点之间如果存在业务互访关系，则数据直接交互，不需要经过中间节点。</a:t>
            </a:r>
            <a:endParaRPr lang="en-US" altLang="zh-CN" dirty="0"/>
          </a:p>
          <a:p>
            <a:pPr lvl="0"/>
            <a:r>
              <a:rPr lang="en-US" altLang="zh-CN" dirty="0"/>
              <a:t>Partial-mesh</a:t>
            </a:r>
            <a:r>
              <a:rPr lang="zh-CN" altLang="en-US" dirty="0"/>
              <a:t>组网</a:t>
            </a:r>
            <a:endParaRPr lang="en-US" altLang="zh-CN" dirty="0"/>
          </a:p>
          <a:p>
            <a:pPr lvl="1"/>
            <a:r>
              <a:rPr lang="en-US" altLang="zh-CN" dirty="0"/>
              <a:t>Partial-mesh</a:t>
            </a:r>
            <a:r>
              <a:rPr lang="zh-CN" altLang="en-US" dirty="0"/>
              <a:t>可以看做是一个特殊的</a:t>
            </a:r>
            <a:r>
              <a:rPr lang="en-US" altLang="zh-CN" dirty="0"/>
              <a:t>Full-mesh</a:t>
            </a:r>
            <a:r>
              <a:rPr lang="zh-CN" altLang="en-US" dirty="0"/>
              <a:t>组网。当站点之间存在直接互联的</a:t>
            </a:r>
            <a:r>
              <a:rPr lang="en-US" altLang="zh-CN" dirty="0"/>
              <a:t>Underlay</a:t>
            </a:r>
            <a:r>
              <a:rPr lang="zh-CN" altLang="en-US" dirty="0"/>
              <a:t>组网时，流量直接互访；否则，两个站点会经过一个共同连接的逃生站点（</a:t>
            </a:r>
            <a:r>
              <a:rPr lang="en-US" altLang="zh-CN" dirty="0"/>
              <a:t>Redirect</a:t>
            </a:r>
            <a:r>
              <a:rPr lang="zh-CN" altLang="en-US" dirty="0"/>
              <a:t>）互访。</a:t>
            </a:r>
            <a:endParaRPr lang="en-US" altLang="zh-CN" dirty="0"/>
          </a:p>
          <a:p>
            <a:pPr lvl="0"/>
            <a:r>
              <a:rPr lang="zh-CN" altLang="en-US" dirty="0"/>
              <a:t>分层组网</a:t>
            </a:r>
          </a:p>
          <a:p>
            <a:pPr lvl="1"/>
            <a:r>
              <a:rPr lang="zh-CN" altLang="en-US" dirty="0"/>
              <a:t>分层网络模型可以看作单层网络模型的叠加。</a:t>
            </a:r>
            <a:r>
              <a:rPr lang="en-US" altLang="zh-CN" dirty="0"/>
              <a:t>WAN</a:t>
            </a:r>
            <a:r>
              <a:rPr lang="zh-CN" altLang="en-US" dirty="0"/>
              <a:t>被划分成多个区域，多个区域又通过集中的骨干区域进行互联，从而实现站点间跨区域的互访。</a:t>
            </a:r>
            <a:endParaRPr lang="en-US" altLang="zh-CN" dirty="0"/>
          </a:p>
          <a:p>
            <a:endParaRPr lang="zh-CN" altLang="en-US" dirty="0"/>
          </a:p>
        </p:txBody>
      </p:sp>
      <p:sp>
        <p:nvSpPr>
          <p:cNvPr id="5" name="Slide Image Placeholder 4">
            <a:extLst>
              <a:ext uri="{FF2B5EF4-FFF2-40B4-BE49-F238E27FC236}">
                <a16:creationId xmlns:a16="http://schemas.microsoft.com/office/drawing/2014/main" id="{3600359E-E9DF-4F21-AA3F-E50F535C26B9}"/>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4713981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144BD778-288C-435D-AFF3-B4CB57224B0B}"/>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1D74FB33-1269-4AE3-8EEF-3853E8EEB01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3861515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61A7B47E-9999-480E-9404-E273DDE7E1D7}"/>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D2E91D05-80F0-4229-8EC5-84662536940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582679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6D6F76ED-FB79-4844-9269-3EACE2FC66A1}"/>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F08C385-1C12-4B98-8A8D-F1A81BAE5F0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4888827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15415CB-F0F7-4B94-A62D-CF7A9D9B9BE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D0B0BF4-B1C0-493C-8B12-FDEC52AAF78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0689073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15415CB-F0F7-4B94-A62D-CF7A9D9B9BE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D0B0BF4-B1C0-493C-8B12-FDEC52AAF78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7929531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0740550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A0FF00B8-619D-48BA-8A75-C7F01FC037CF}"/>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E84A6AAD-8A7E-4715-8A09-93CBB704393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6433813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en-US" altLang="zh-CN" dirty="0"/>
          </a:p>
        </p:txBody>
      </p:sp>
      <p:sp>
        <p:nvSpPr>
          <p:cNvPr id="5" name="Slide Image Placeholder 4">
            <a:extLst>
              <a:ext uri="{FF2B5EF4-FFF2-40B4-BE49-F238E27FC236}">
                <a16:creationId xmlns:a16="http://schemas.microsoft.com/office/drawing/2014/main" id="{A72FE792-7150-4D6E-A015-73A5BC5E3A2A}"/>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031460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002734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A0FF00B8-619D-48BA-8A75-C7F01FC037CF}"/>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E84A6AAD-8A7E-4715-8A09-93CBB704393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0761119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7474357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zh-CN" altLang="en-US"/>
              <a:t>一条流量的报文进入设备之后，设备首先根据报文中携带的五元组信息，判断该报文是否已经识别过应用。如果识别过，则不需要重复识别，直接将报文送入三层转发；如果没有识别过，则送入</a:t>
            </a:r>
            <a:r>
              <a:rPr lang="en-US" altLang="zh-CN"/>
              <a:t>SAC</a:t>
            </a:r>
            <a:r>
              <a:rPr lang="zh-CN" altLang="en-US"/>
              <a:t>进行应用识别。</a:t>
            </a:r>
            <a:r>
              <a:rPr lang="en-US" altLang="zh-CN"/>
              <a:t>SAC</a:t>
            </a:r>
            <a:r>
              <a:rPr lang="zh-CN" altLang="en-US"/>
              <a:t>识别结束后，报文根据</a:t>
            </a:r>
            <a:r>
              <a:rPr lang="en-US" altLang="zh-CN"/>
              <a:t>SAC</a:t>
            </a:r>
            <a:r>
              <a:rPr lang="zh-CN" altLang="en-US"/>
              <a:t>的识别结果进行业务处理，处理结束后送入三层转发。其中，</a:t>
            </a:r>
            <a:r>
              <a:rPr lang="en-US" altLang="zh-CN"/>
              <a:t>SAC</a:t>
            </a:r>
            <a:r>
              <a:rPr lang="zh-CN" altLang="en-US"/>
              <a:t>的识别流程为：先根据</a:t>
            </a:r>
            <a:r>
              <a:rPr lang="en-US" altLang="zh-CN"/>
              <a:t>FPI</a:t>
            </a:r>
            <a:r>
              <a:rPr lang="zh-CN" altLang="en-US"/>
              <a:t>中的</a:t>
            </a:r>
            <a:r>
              <a:rPr lang="en-US" altLang="zh-CN"/>
              <a:t>ACL</a:t>
            </a:r>
            <a:r>
              <a:rPr lang="zh-CN" altLang="en-US"/>
              <a:t>规则来识别应用，如果识别失败，再根据</a:t>
            </a:r>
            <a:r>
              <a:rPr lang="en-US" altLang="zh-CN"/>
              <a:t>FPI</a:t>
            </a:r>
            <a:r>
              <a:rPr lang="zh-CN" altLang="en-US"/>
              <a:t>中的</a:t>
            </a:r>
            <a:r>
              <a:rPr lang="en-US" altLang="zh-CN"/>
              <a:t>DNS</a:t>
            </a:r>
            <a:r>
              <a:rPr lang="zh-CN" altLang="en-US"/>
              <a:t>关联表来识别应用。如果识别失败，再根据</a:t>
            </a:r>
            <a:r>
              <a:rPr lang="en-US" altLang="zh-CN"/>
              <a:t>FPI</a:t>
            </a:r>
            <a:r>
              <a:rPr lang="zh-CN" altLang="en-US"/>
              <a:t>中的协议端口表来识别应用，如果三者都没有识别出应用，再送入</a:t>
            </a:r>
            <a:r>
              <a:rPr lang="en-US" altLang="zh-CN"/>
              <a:t>SA</a:t>
            </a:r>
            <a:r>
              <a:rPr lang="zh-CN" altLang="en-US"/>
              <a:t>继续识别。</a:t>
            </a:r>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3518125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091231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446549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8525235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r>
              <a:rPr lang="zh-CN" altLang="en-US" dirty="0"/>
              <a:t>企业通常都有多个部门，各个部门重要性各不相同。既要隔离各部门的流量，又要对各部门提供不同的带宽：</a:t>
            </a:r>
          </a:p>
          <a:p>
            <a:pPr lvl="1"/>
            <a:r>
              <a:rPr lang="zh-CN" altLang="en-US" dirty="0"/>
              <a:t>保证不同部门的基础带宽，当需要使用时至少可以分配到指定的配额。</a:t>
            </a:r>
          </a:p>
          <a:p>
            <a:pPr lvl="1"/>
            <a:r>
              <a:rPr lang="zh-CN" altLang="en-US" dirty="0"/>
              <a:t>当有的部门没有把本部门的配额全部占用时，这些“空闲”的带宽要能够被其他带宽紧张的部门使用。</a:t>
            </a:r>
          </a:p>
          <a:p>
            <a:pPr lvl="1"/>
            <a:r>
              <a:rPr lang="zh-CN" altLang="en-US" dirty="0"/>
              <a:t>部门里有上网流量或访问传统站点的流量时，需要被单独限制。</a:t>
            </a:r>
          </a:p>
          <a:p>
            <a:endParaRPr lang="zh-CN" altLang="en-US" dirty="0"/>
          </a:p>
        </p:txBody>
      </p:sp>
    </p:spTree>
    <p:extLst>
      <p:ext uri="{BB962C8B-B14F-4D97-AF65-F5344CB8AC3E}">
        <p14:creationId xmlns:p14="http://schemas.microsoft.com/office/powerpoint/2010/main" val="267696925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0208402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A0FF00B8-619D-48BA-8A75-C7F01FC037CF}"/>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E84A6AAD-8A7E-4715-8A09-93CBB70439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1488119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0642358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endParaRPr lang="zh-CN" altLang="en-US" dirty="0"/>
          </a:p>
        </p:txBody>
      </p:sp>
      <p:sp>
        <p:nvSpPr>
          <p:cNvPr id="5" name="Slide Image Placeholder 4">
            <a:extLst>
              <a:ext uri="{FF2B5EF4-FFF2-40B4-BE49-F238E27FC236}">
                <a16:creationId xmlns:a16="http://schemas.microsoft.com/office/drawing/2014/main" id="{D4DDD145-83BA-4AB4-A08D-7F2C3AA9B22D}"/>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8542029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上网不支持多条链路负载分担组网，只能支持基于优先级主备。</a:t>
            </a:r>
            <a:endParaRPr lang="en-US" altLang="zh-CN" dirty="0"/>
          </a:p>
          <a:p>
            <a:pPr lvl="0"/>
            <a:r>
              <a:rPr lang="zh-CN" altLang="en-US" dirty="0"/>
              <a:t>基于指定应用流量的本地上网需要和集中上网同时使用，指定应用流量的本地上网内部通过编排策略路由实现。</a:t>
            </a:r>
            <a:endParaRPr lang="en-US" altLang="zh-CN" dirty="0"/>
          </a:p>
          <a:p>
            <a:pPr lvl="0"/>
            <a:r>
              <a:rPr lang="zh-CN" altLang="en-US" dirty="0"/>
              <a:t>开启本地上网</a:t>
            </a:r>
            <a:r>
              <a:rPr lang="zh-CN" altLang="en-US"/>
              <a:t>，</a:t>
            </a:r>
            <a:r>
              <a:rPr lang="en-US" altLang="zh-CN"/>
              <a:t>Underlay WAN</a:t>
            </a:r>
            <a:r>
              <a:rPr lang="zh-CN" altLang="en-US" dirty="0"/>
              <a:t>侧的默认路由需要单独配置，可以是静态路由配置（主要是</a:t>
            </a:r>
            <a:r>
              <a:rPr lang="en-US" altLang="zh-CN" dirty="0"/>
              <a:t>Internet</a:t>
            </a:r>
            <a:r>
              <a:rPr lang="zh-CN" altLang="en-US" dirty="0"/>
              <a:t>类型的网络接口上网），也可以是通过</a:t>
            </a:r>
            <a:r>
              <a:rPr lang="en-US" altLang="zh-CN" dirty="0"/>
              <a:t>BGP/OSPF</a:t>
            </a:r>
            <a:r>
              <a:rPr lang="zh-CN" altLang="en-US" dirty="0"/>
              <a:t>动态学习（主要是通过</a:t>
            </a:r>
            <a:r>
              <a:rPr lang="en-US" altLang="zh-CN" dirty="0"/>
              <a:t>MPLS</a:t>
            </a:r>
            <a:r>
              <a:rPr lang="zh-CN" altLang="en-US" dirty="0"/>
              <a:t>类型的网络接口上网）。</a:t>
            </a:r>
            <a:endParaRPr lang="en-US" altLang="zh-CN" dirty="0"/>
          </a:p>
        </p:txBody>
      </p:sp>
      <p:sp>
        <p:nvSpPr>
          <p:cNvPr id="5" name="Slide Image Placeholder 4">
            <a:extLst>
              <a:ext uri="{FF2B5EF4-FFF2-40B4-BE49-F238E27FC236}">
                <a16:creationId xmlns:a16="http://schemas.microsoft.com/office/drawing/2014/main" id="{1B2F66AE-28F4-4760-90D2-57534D8FB0A8}"/>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6170576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Slide Image Placeholder 4">
            <a:extLst>
              <a:ext uri="{FF2B5EF4-FFF2-40B4-BE49-F238E27FC236}">
                <a16:creationId xmlns:a16="http://schemas.microsoft.com/office/drawing/2014/main" id="{812E4406-D28A-4792-9D13-CE753DE6DCF5}"/>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2598029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endParaRPr lang="zh-CN" altLang="en-US" dirty="0"/>
          </a:p>
        </p:txBody>
      </p:sp>
      <p:sp>
        <p:nvSpPr>
          <p:cNvPr id="5" name="Slide Image Placeholder 4">
            <a:extLst>
              <a:ext uri="{FF2B5EF4-FFF2-40B4-BE49-F238E27FC236}">
                <a16:creationId xmlns:a16="http://schemas.microsoft.com/office/drawing/2014/main" id="{258F59B5-1865-48A9-9B97-7A37F997FD98}"/>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56717284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Slide Image Placeholder 4">
            <a:extLst>
              <a:ext uri="{FF2B5EF4-FFF2-40B4-BE49-F238E27FC236}">
                <a16:creationId xmlns:a16="http://schemas.microsoft.com/office/drawing/2014/main" id="{37AFE184-275D-4309-A278-0B3665F036A6}"/>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687226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BA6C079D-046A-49A9-A7C0-96B20E948493}"/>
              </a:ext>
            </a:extLst>
          </p:cNvPr>
          <p:cNvSpPr>
            <a:spLocks noGrp="1" noRot="1" noChangeAspect="1"/>
          </p:cNvSpPr>
          <p:nvPr>
            <p:ph type="sldImg"/>
          </p:nvPr>
        </p:nvSpPr>
        <p:spPr>
          <a:xfrm>
            <a:off x="742950" y="717550"/>
            <a:ext cx="5557838" cy="3125788"/>
          </a:xfrm>
        </p:spPr>
      </p:sp>
      <p:sp>
        <p:nvSpPr>
          <p:cNvPr id="6" name="Notes Placeholder 5">
            <a:extLst>
              <a:ext uri="{FF2B5EF4-FFF2-40B4-BE49-F238E27FC236}">
                <a16:creationId xmlns:a16="http://schemas.microsoft.com/office/drawing/2014/main" id="{853652A1-2E47-44DD-A75F-5A449387A72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066817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5773753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在这两个站点的传统</a:t>
            </a:r>
            <a:r>
              <a:rPr lang="en-US" altLang="zh-CN" dirty="0"/>
              <a:t>CPE</a:t>
            </a:r>
            <a:r>
              <a:rPr lang="zh-CN" altLang="en-US" dirty="0"/>
              <a:t>和</a:t>
            </a:r>
            <a:r>
              <a:rPr lang="en-US" altLang="zh-CN" dirty="0"/>
              <a:t>SD-WAN CPE</a:t>
            </a:r>
            <a:r>
              <a:rPr lang="zh-CN" altLang="en-US" dirty="0"/>
              <a:t>上分别选择一个用户侧的接口并进行互联，建立一条互通链路（</a:t>
            </a:r>
            <a:r>
              <a:rPr lang="en-US" altLang="zh-CN" dirty="0"/>
              <a:t>Dedicated link</a:t>
            </a:r>
            <a:r>
              <a:rPr lang="zh-CN" altLang="en-US" dirty="0"/>
              <a:t>）。在该链路上运行</a:t>
            </a:r>
            <a:r>
              <a:rPr lang="en-US" altLang="zh-CN" dirty="0"/>
              <a:t>BGP/OSPF</a:t>
            </a:r>
            <a:r>
              <a:rPr lang="zh-CN" altLang="en-US" dirty="0"/>
              <a:t>等协议，用来交换传统</a:t>
            </a:r>
            <a:r>
              <a:rPr lang="en-US" altLang="zh-CN" dirty="0"/>
              <a:t>MPLS</a:t>
            </a:r>
            <a:r>
              <a:rPr lang="zh-CN" altLang="en-US" dirty="0"/>
              <a:t>网络和</a:t>
            </a:r>
            <a:r>
              <a:rPr lang="en-US" altLang="zh-CN" dirty="0"/>
              <a:t>SD-WAN</a:t>
            </a:r>
            <a:r>
              <a:rPr lang="zh-CN" altLang="en-US" dirty="0"/>
              <a:t>的用户路由。这样两个网络间的用户就可以通过这条互通链路实现集中互联。</a:t>
            </a:r>
            <a:endParaRPr lang="en-US" dirty="0"/>
          </a:p>
        </p:txBody>
      </p:sp>
    </p:spTree>
    <p:extLst>
      <p:ext uri="{BB962C8B-B14F-4D97-AF65-F5344CB8AC3E}">
        <p14:creationId xmlns:p14="http://schemas.microsoft.com/office/powerpoint/2010/main" val="136046106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在此场景下，用户互访的流量模型可以根据业务需要部署成如下几种不同方式：</a:t>
            </a:r>
            <a:endParaRPr lang="en-US" altLang="zh-CN" dirty="0"/>
          </a:p>
          <a:p>
            <a:pPr lvl="1"/>
            <a:r>
              <a:rPr lang="zh-CN" altLang="en-US" dirty="0"/>
              <a:t>分布式本地互访：当</a:t>
            </a:r>
            <a:r>
              <a:rPr lang="en-US" altLang="zh-CN" dirty="0"/>
              <a:t>SD-WAN</a:t>
            </a:r>
            <a:r>
              <a:rPr lang="zh-CN" altLang="en-US" dirty="0"/>
              <a:t>所有站点可以</a:t>
            </a:r>
            <a:r>
              <a:rPr lang="zh-CN" altLang="en-US"/>
              <a:t>通过</a:t>
            </a:r>
            <a:r>
              <a:rPr lang="en-US" altLang="zh-CN"/>
              <a:t>Local Breakout</a:t>
            </a:r>
            <a:r>
              <a:rPr lang="zh-CN" altLang="en-US"/>
              <a:t>到</a:t>
            </a:r>
            <a:r>
              <a:rPr lang="en-US" altLang="zh-CN"/>
              <a:t>Underlay MPLS</a:t>
            </a:r>
            <a:r>
              <a:rPr lang="zh-CN" altLang="en-US" dirty="0"/>
              <a:t>访问传统网络站点时，可以采用分布式互访模型。这种方式的优点是每个站点的互访流量可以本地直接转发，无需通过</a:t>
            </a:r>
            <a:r>
              <a:rPr lang="en-US" altLang="zh-CN" dirty="0"/>
              <a:t>SD-WAN</a:t>
            </a:r>
            <a:r>
              <a:rPr lang="zh-CN" altLang="en-US" dirty="0"/>
              <a:t>的</a:t>
            </a:r>
            <a:r>
              <a:rPr lang="en-US" altLang="zh-CN" dirty="0"/>
              <a:t>Overlay</a:t>
            </a:r>
            <a:r>
              <a:rPr lang="zh-CN" altLang="en-US" dirty="0"/>
              <a:t>隧道转发。</a:t>
            </a:r>
            <a:endParaRPr lang="en-US" altLang="zh-CN" dirty="0"/>
          </a:p>
          <a:p>
            <a:pPr lvl="1"/>
            <a:r>
              <a:rPr lang="zh-CN" altLang="en-US" dirty="0"/>
              <a:t>集中式本地互访：当某些</a:t>
            </a:r>
            <a:r>
              <a:rPr lang="en-US" altLang="zh-CN" dirty="0"/>
              <a:t>SD-WAN</a:t>
            </a:r>
            <a:r>
              <a:rPr lang="zh-CN" altLang="en-US" dirty="0"/>
              <a:t>站点无法通过</a:t>
            </a:r>
            <a:r>
              <a:rPr lang="zh-CN" altLang="en-US"/>
              <a:t>本地</a:t>
            </a:r>
            <a:r>
              <a:rPr lang="en-US" altLang="zh-CN"/>
              <a:t>Local Breakout</a:t>
            </a:r>
            <a:r>
              <a:rPr lang="zh-CN" altLang="en-US" dirty="0"/>
              <a:t>访问传统网络站点时，可以选择一个能和传统站点互访的站点作为集中互访站点，其他</a:t>
            </a:r>
            <a:r>
              <a:rPr lang="en-US" altLang="zh-CN" dirty="0"/>
              <a:t>SD-WAN</a:t>
            </a:r>
            <a:r>
              <a:rPr lang="zh-CN" altLang="en-US" dirty="0"/>
              <a:t>站点流量先通过</a:t>
            </a:r>
            <a:r>
              <a:rPr lang="en-US" altLang="zh-CN" dirty="0"/>
              <a:t>Overlay</a:t>
            </a:r>
            <a:r>
              <a:rPr lang="zh-CN" altLang="en-US" dirty="0"/>
              <a:t>隧道流向该集中互访站点，再通过该集中互访</a:t>
            </a:r>
            <a:r>
              <a:rPr lang="zh-CN" altLang="en-US"/>
              <a:t>站点</a:t>
            </a:r>
            <a:r>
              <a:rPr lang="en-US" altLang="zh-CN"/>
              <a:t>Local Breakout</a:t>
            </a:r>
            <a:r>
              <a:rPr lang="zh-CN" altLang="en-US" dirty="0"/>
              <a:t>转发到传统网络站点。</a:t>
            </a:r>
            <a:endParaRPr lang="en-US" altLang="zh-CN" dirty="0"/>
          </a:p>
          <a:p>
            <a:pPr lvl="1"/>
            <a:r>
              <a:rPr lang="zh-CN" altLang="en-US" dirty="0"/>
              <a:t>混合式本地互访：</a:t>
            </a:r>
            <a:r>
              <a:rPr lang="en-US" altLang="zh-CN" dirty="0"/>
              <a:t>SD-WAN</a:t>
            </a:r>
            <a:r>
              <a:rPr lang="zh-CN" altLang="en-US" dirty="0"/>
              <a:t>解决方案可以为支持多链路的本地分布式互访站点提供本地互访优先，集中式互访做备份的主备可靠性能力。针对分布式互访站点的用户访问传统站点的流量，将优先</a:t>
            </a:r>
            <a:r>
              <a:rPr lang="zh-CN" altLang="en-US"/>
              <a:t>从</a:t>
            </a:r>
            <a:r>
              <a:rPr lang="en-US" altLang="zh-CN"/>
              <a:t>Local Breakout</a:t>
            </a:r>
            <a:r>
              <a:rPr lang="zh-CN" altLang="en-US" dirty="0"/>
              <a:t>访问传统站点。当本地互访</a:t>
            </a:r>
            <a:r>
              <a:rPr lang="en-US" altLang="zh-CN" dirty="0"/>
              <a:t>MPLS</a:t>
            </a:r>
            <a:r>
              <a:rPr lang="zh-CN" altLang="en-US" dirty="0"/>
              <a:t>链路出现故障时，流量会自动切换到其他链路的</a:t>
            </a:r>
            <a:r>
              <a:rPr lang="en-US" altLang="zh-CN" dirty="0"/>
              <a:t>Overlay</a:t>
            </a:r>
            <a:r>
              <a:rPr lang="zh-CN" altLang="en-US" dirty="0"/>
              <a:t>隧道，并传递给集中互访站点，再通过该集中互访站点转发到传统网络站点。</a:t>
            </a:r>
            <a:endParaRPr lang="en-US" dirty="0"/>
          </a:p>
        </p:txBody>
      </p:sp>
    </p:spTree>
    <p:extLst>
      <p:ext uri="{BB962C8B-B14F-4D97-AF65-F5344CB8AC3E}">
        <p14:creationId xmlns:p14="http://schemas.microsoft.com/office/powerpoint/2010/main" val="315259629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6192680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6281602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6210926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4441097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55292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8CC7E2D6-DB78-4265-B6D8-D313894F722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BEAF00B-5864-4CB9-8A0E-9D88DEEB1B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8884520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0772592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9640323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8CC7E2D6-DB78-4265-B6D8-D313894F722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BEAF00B-5864-4CB9-8A0E-9D88DEEB1B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6120120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962268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49AF16C8-0CAB-4E6A-A737-4D7931A91427}"/>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F6CFAACD-308B-4020-962B-571780742C3B}"/>
              </a:ext>
            </a:extLst>
          </p:cNvPr>
          <p:cNvSpPr>
            <a:spLocks noGrp="1"/>
          </p:cNvSpPr>
          <p:nvPr>
            <p:ph type="body" idx="1"/>
          </p:nvPr>
        </p:nvSpPr>
        <p:spPr/>
        <p:txBody>
          <a:bodyPr/>
          <a:lstStyle/>
          <a:p>
            <a:r>
              <a:rPr lang="zh-CN" altLang="en-US" dirty="0"/>
              <a:t>基于业务网段的多活</a:t>
            </a:r>
            <a:r>
              <a:rPr lang="en-US" altLang="zh-CN" dirty="0"/>
              <a:t>Hub</a:t>
            </a:r>
            <a:r>
              <a:rPr lang="zh-CN" altLang="en-US" dirty="0"/>
              <a:t>组网：</a:t>
            </a:r>
            <a:endParaRPr lang="en-US" altLang="zh-CN" dirty="0"/>
          </a:p>
          <a:p>
            <a:pPr lvl="1"/>
            <a:r>
              <a:rPr lang="zh-CN" altLang="en-US" dirty="0"/>
              <a:t>在多活</a:t>
            </a:r>
            <a:r>
              <a:rPr lang="en-US" altLang="zh-CN" dirty="0"/>
              <a:t>Hub</a:t>
            </a:r>
            <a:r>
              <a:rPr lang="zh-CN" altLang="en-US" dirty="0"/>
              <a:t>组网场景下，如果分支站点访问数据中心可以基于不同的业务网段区分，则可以实现基于业务网段的双</a:t>
            </a:r>
            <a:r>
              <a:rPr lang="en-US" altLang="zh-CN" dirty="0"/>
              <a:t>Hub</a:t>
            </a:r>
            <a:r>
              <a:rPr lang="zh-CN" altLang="en-US" dirty="0"/>
              <a:t>双活，分支不同的业务访问数据中心关联不同的主备</a:t>
            </a:r>
            <a:r>
              <a:rPr lang="en-US" altLang="zh-CN" dirty="0"/>
              <a:t>Hub</a:t>
            </a:r>
            <a:r>
              <a:rPr lang="zh-CN" altLang="en-US" dirty="0"/>
              <a:t>。</a:t>
            </a:r>
            <a:endParaRPr lang="en-US" altLang="zh-CN" dirty="0"/>
          </a:p>
          <a:p>
            <a:pPr lvl="0"/>
            <a:r>
              <a:rPr lang="zh-CN" altLang="en-US" dirty="0"/>
              <a:t>基于</a:t>
            </a:r>
            <a:r>
              <a:rPr lang="en-US" altLang="zh-CN" dirty="0"/>
              <a:t>Spoke</a:t>
            </a:r>
            <a:r>
              <a:rPr lang="zh-CN" altLang="en-US" dirty="0"/>
              <a:t>站点的多活</a:t>
            </a:r>
            <a:r>
              <a:rPr lang="en-US" altLang="zh-CN" dirty="0"/>
              <a:t>Hub</a:t>
            </a:r>
            <a:r>
              <a:rPr lang="zh-CN" altLang="en-US" dirty="0"/>
              <a:t>组网：</a:t>
            </a:r>
            <a:endParaRPr lang="en-US" altLang="zh-CN" dirty="0"/>
          </a:p>
          <a:p>
            <a:pPr lvl="1"/>
            <a:r>
              <a:rPr lang="zh-CN" altLang="en-US" dirty="0"/>
              <a:t>如果企业广域网络分布范围广，企业的两个数据中心地理位置距离较远，推荐采用基于</a:t>
            </a:r>
            <a:r>
              <a:rPr lang="en-US" altLang="zh-CN" dirty="0"/>
              <a:t>Spoke</a:t>
            </a:r>
            <a:r>
              <a:rPr lang="zh-CN" altLang="en-US" dirty="0"/>
              <a:t>站点的多活</a:t>
            </a:r>
            <a:r>
              <a:rPr lang="en-US" altLang="zh-CN" dirty="0"/>
              <a:t>Hub</a:t>
            </a:r>
            <a:r>
              <a:rPr lang="zh-CN" altLang="en-US" dirty="0"/>
              <a:t>方案。在异地的多个数据中心部署</a:t>
            </a:r>
            <a:r>
              <a:rPr lang="en-US" altLang="zh-CN" dirty="0"/>
              <a:t>Hub</a:t>
            </a:r>
            <a:r>
              <a:rPr lang="zh-CN" altLang="en-US" dirty="0"/>
              <a:t>站点， </a:t>
            </a:r>
            <a:r>
              <a:rPr lang="en-US" altLang="zh-CN" dirty="0"/>
              <a:t>Spoke</a:t>
            </a:r>
            <a:r>
              <a:rPr lang="zh-CN" altLang="en-US" dirty="0"/>
              <a:t>站点关联多个</a:t>
            </a:r>
            <a:r>
              <a:rPr lang="en-US" altLang="zh-CN" dirty="0"/>
              <a:t>Hub</a:t>
            </a:r>
            <a:r>
              <a:rPr lang="zh-CN" altLang="en-US" dirty="0"/>
              <a:t>站点，以距离较近的</a:t>
            </a:r>
            <a:r>
              <a:rPr lang="en-US" altLang="zh-CN" dirty="0"/>
              <a:t>Hub</a:t>
            </a:r>
            <a:r>
              <a:rPr lang="zh-CN" altLang="en-US" dirty="0"/>
              <a:t>站点为主，距离较远的</a:t>
            </a:r>
            <a:r>
              <a:rPr lang="en-US" altLang="zh-CN" dirty="0"/>
              <a:t>Hub</a:t>
            </a:r>
            <a:r>
              <a:rPr lang="zh-CN" altLang="en-US" dirty="0"/>
              <a:t>站点为备，以此获得较好的数据中心业务访问体验。</a:t>
            </a:r>
            <a:endParaRPr lang="en-US" dirty="0"/>
          </a:p>
        </p:txBody>
      </p:sp>
    </p:spTree>
    <p:extLst>
      <p:ext uri="{BB962C8B-B14F-4D97-AF65-F5344CB8AC3E}">
        <p14:creationId xmlns:p14="http://schemas.microsoft.com/office/powerpoint/2010/main" val="180906215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3232455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7306267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3649888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8CC7E2D6-DB78-4265-B6D8-D313894F722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BEAF00B-5864-4CB9-8A0E-9D88DEEB1B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9213012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307336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Image Placeholder 2">
            <a:extLst>
              <a:ext uri="{FF2B5EF4-FFF2-40B4-BE49-F238E27FC236}">
                <a16:creationId xmlns:a16="http://schemas.microsoft.com/office/drawing/2014/main" id="{E0553971-97F6-4466-9490-B960C6EABC40}"/>
              </a:ext>
            </a:extLst>
          </p:cNvPr>
          <p:cNvSpPr>
            <a:spLocks noGrp="1" noRot="1" noChangeAspect="1"/>
          </p:cNvSpPr>
          <p:nvPr>
            <p:ph type="sldImg"/>
          </p:nvPr>
        </p:nvSpPr>
        <p:spPr>
          <a:xfrm>
            <a:off x="742950" y="717550"/>
            <a:ext cx="5557838" cy="3125788"/>
          </a:xfrm>
        </p:spPr>
      </p:sp>
      <p:sp>
        <p:nvSpPr>
          <p:cNvPr id="4" name="Notes Placeholder 3">
            <a:extLst>
              <a:ext uri="{FF2B5EF4-FFF2-40B4-BE49-F238E27FC236}">
                <a16:creationId xmlns:a16="http://schemas.microsoft.com/office/drawing/2014/main" id="{BDD30A44-479D-4C1F-A866-1AFDFBA06D2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6394106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Image Placeholder 2">
            <a:extLst>
              <a:ext uri="{FF2B5EF4-FFF2-40B4-BE49-F238E27FC236}">
                <a16:creationId xmlns:a16="http://schemas.microsoft.com/office/drawing/2014/main" id="{E4A450C1-FCDA-4DF3-B3FC-E1203EE58E10}"/>
              </a:ext>
            </a:extLst>
          </p:cNvPr>
          <p:cNvSpPr>
            <a:spLocks noGrp="1" noRot="1" noChangeAspect="1"/>
          </p:cNvSpPr>
          <p:nvPr>
            <p:ph type="sldImg"/>
          </p:nvPr>
        </p:nvSpPr>
        <p:spPr>
          <a:xfrm>
            <a:off x="742950" y="717550"/>
            <a:ext cx="5557838" cy="3125788"/>
          </a:xfrm>
        </p:spPr>
      </p:sp>
      <p:sp>
        <p:nvSpPr>
          <p:cNvPr id="4" name="Notes Placeholder 3">
            <a:extLst>
              <a:ext uri="{FF2B5EF4-FFF2-40B4-BE49-F238E27FC236}">
                <a16:creationId xmlns:a16="http://schemas.microsoft.com/office/drawing/2014/main" id="{24871AA6-73BE-49AA-AC4D-1DB9C222195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1323277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Image Placeholder 2">
            <a:extLst>
              <a:ext uri="{FF2B5EF4-FFF2-40B4-BE49-F238E27FC236}">
                <a16:creationId xmlns:a16="http://schemas.microsoft.com/office/drawing/2014/main" id="{0500D2F5-268C-4D4E-9053-4E8F440BA74F}"/>
              </a:ext>
            </a:extLst>
          </p:cNvPr>
          <p:cNvSpPr>
            <a:spLocks noGrp="1" noRot="1" noChangeAspect="1"/>
          </p:cNvSpPr>
          <p:nvPr>
            <p:ph type="sldImg"/>
          </p:nvPr>
        </p:nvSpPr>
        <p:spPr>
          <a:xfrm>
            <a:off x="742950" y="717550"/>
            <a:ext cx="5557838" cy="3125788"/>
          </a:xfrm>
        </p:spPr>
      </p:sp>
      <p:sp>
        <p:nvSpPr>
          <p:cNvPr id="4" name="Notes Placeholder 3">
            <a:extLst>
              <a:ext uri="{FF2B5EF4-FFF2-40B4-BE49-F238E27FC236}">
                <a16:creationId xmlns:a16="http://schemas.microsoft.com/office/drawing/2014/main" id="{0E79E40A-ED99-497A-A4CD-7ECAFD946FD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7132860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Image Placeholder 2">
            <a:extLst>
              <a:ext uri="{FF2B5EF4-FFF2-40B4-BE49-F238E27FC236}">
                <a16:creationId xmlns:a16="http://schemas.microsoft.com/office/drawing/2014/main" id="{5B07050C-408C-414D-8674-68CAC696D67F}"/>
              </a:ext>
            </a:extLst>
          </p:cNvPr>
          <p:cNvSpPr>
            <a:spLocks noGrp="1" noRot="1" noChangeAspect="1"/>
          </p:cNvSpPr>
          <p:nvPr>
            <p:ph type="sldImg"/>
          </p:nvPr>
        </p:nvSpPr>
        <p:spPr>
          <a:xfrm>
            <a:off x="742950" y="717550"/>
            <a:ext cx="5557838" cy="3125788"/>
          </a:xfrm>
        </p:spPr>
      </p:sp>
      <p:sp>
        <p:nvSpPr>
          <p:cNvPr id="4" name="Notes Placeholder 3">
            <a:extLst>
              <a:ext uri="{FF2B5EF4-FFF2-40B4-BE49-F238E27FC236}">
                <a16:creationId xmlns:a16="http://schemas.microsoft.com/office/drawing/2014/main" id="{40CFC255-B955-438F-806E-578E19DC499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9284448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8CC7E2D6-DB78-4265-B6D8-D313894F722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BEAF00B-5864-4CB9-8A0E-9D88DEEB1B0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3115563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endParaRPr lang="zh-CN" altLang="en-US" dirty="0"/>
          </a:p>
        </p:txBody>
      </p:sp>
      <p:sp>
        <p:nvSpPr>
          <p:cNvPr id="5" name="Slide Image Placeholder 4">
            <a:extLst>
              <a:ext uri="{FF2B5EF4-FFF2-40B4-BE49-F238E27FC236}">
                <a16:creationId xmlns:a16="http://schemas.microsoft.com/office/drawing/2014/main" id="{D4DDD145-83BA-4AB4-A08D-7F2C3AA9B22D}"/>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604263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endParaRPr lang="zh-CN" altLang="en-US" dirty="0"/>
          </a:p>
        </p:txBody>
      </p:sp>
      <p:sp>
        <p:nvSpPr>
          <p:cNvPr id="5" name="Slide Image Placeholder 4">
            <a:extLst>
              <a:ext uri="{FF2B5EF4-FFF2-40B4-BE49-F238E27FC236}">
                <a16:creationId xmlns:a16="http://schemas.microsoft.com/office/drawing/2014/main" id="{D4DDD145-83BA-4AB4-A08D-7F2C3AA9B22D}"/>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4177095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6415976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676881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1510393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31487423"/>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2411834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8093424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9372625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a:t>ABCD</a:t>
            </a:r>
          </a:p>
          <a:p>
            <a:pPr marL="228600" indent="-228600">
              <a:buFont typeface="+mj-lt"/>
              <a:buAutoNum type="arabicPeriod"/>
            </a:pPr>
            <a:r>
              <a:rPr lang="en-US" altLang="zh-CN" dirty="0"/>
              <a:t>A</a:t>
            </a:r>
            <a:endParaRPr lang="zh-CN" altLang="en-US" dirty="0"/>
          </a:p>
        </p:txBody>
      </p:sp>
      <p:sp>
        <p:nvSpPr>
          <p:cNvPr id="5" name="Slide Image Placeholder 4">
            <a:extLst>
              <a:ext uri="{FF2B5EF4-FFF2-40B4-BE49-F238E27FC236}">
                <a16:creationId xmlns:a16="http://schemas.microsoft.com/office/drawing/2014/main" id="{88C90AE8-6BDB-4741-AD6F-6DA4B81E1876}"/>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3477802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F38C3F1A-7510-44EF-9940-FF99794559F3}"/>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E324E5EC-95A7-4775-94A9-18BB0287024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84805938"/>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CFA8C52-EE24-4C1C-8493-FE0F6685169B}"/>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1BC02B8C-F0CE-412C-BA44-D891569D456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498846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3918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19170045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0367870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base">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35571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2952931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173378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1051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4259767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85192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999981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latin typeface="Huawei Sans" panose="020C0503030203020204" pitchFamily="34" charset="0"/>
              </a:rPr>
              <a:t>Thank you.</a:t>
            </a:r>
          </a:p>
        </p:txBody>
      </p:sp>
    </p:spTree>
    <p:extLst>
      <p:ext uri="{BB962C8B-B14F-4D97-AF65-F5344CB8AC3E}">
        <p14:creationId xmlns:p14="http://schemas.microsoft.com/office/powerpoint/2010/main" val="1028299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guide id="7" orient="horz" pos="36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endPar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3" orient="horz" pos="3680">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endPar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guide id="9" orient="horz" pos="368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Huawei Sans" panose="020C0503030203020204" pitchFamily="34" charset="0"/>
              </a:rPr>
              <a:t>Copyright©2021 Huawei Technologies Co., Ltd.</a:t>
            </a:r>
            <a:br>
              <a:rPr kumimoji="1" lang="en-US" altLang="zh-CN" sz="850" b="1" baseline="0" dirty="0">
                <a:solidFill>
                  <a:srgbClr val="1D1D1B"/>
                </a:solidFill>
                <a:latin typeface="Huawei Sans" panose="020C0503030203020204" pitchFamily="34" charset="0"/>
              </a:rPr>
            </a:br>
            <a:r>
              <a:rPr kumimoji="1" lang="en-US" altLang="zh-CN" sz="850" b="1" baseline="0" dirty="0">
                <a:solidFill>
                  <a:srgbClr val="1D1D1B"/>
                </a:solidFill>
                <a:latin typeface="Huawei Sans" panose="020C0503030203020204" pitchFamily="34" charset="0"/>
              </a:rPr>
              <a:t>All Rights Reserved.</a:t>
            </a:r>
            <a:br>
              <a:rPr kumimoji="1" lang="en-US" altLang="zh-CN" sz="779" dirty="0">
                <a:solidFill>
                  <a:srgbClr val="1D1D1B"/>
                </a:solidFill>
                <a:latin typeface="Huawei Sans" panose="020C0503030203020204" pitchFamily="34" charset="0"/>
              </a:rPr>
            </a:br>
            <a:br>
              <a:rPr kumimoji="1" lang="en-US" altLang="zh-CN" sz="779" dirty="0">
                <a:solidFill>
                  <a:srgbClr val="1D1D1B"/>
                </a:solidFill>
                <a:latin typeface="Huawei Sans" panose="020C0503030203020204" pitchFamily="34" charset="0"/>
              </a:rPr>
            </a:br>
            <a:r>
              <a:rPr kumimoji="1" lang="en-US" altLang="zh-CN" sz="850" baseline="0" dirty="0">
                <a:solidFill>
                  <a:srgbClr val="1D1D1B"/>
                </a:solidFill>
                <a:latin typeface="Huawei Sans" panose="020C0503030203020204" pitchFamily="34" charset="0"/>
                <a:cs typeface="Huawei Sans" panose="020C0503030203020204" pitchFamily="34" charset="0"/>
              </a:rPr>
              <a:t>The information in this document may contain predictive </a:t>
            </a:r>
            <a:br>
              <a:rPr kumimoji="1" lang="en-US" altLang="zh-CN" sz="850" baseline="0" dirty="0">
                <a:solidFill>
                  <a:srgbClr val="1D1D1B"/>
                </a:solidFill>
                <a:latin typeface="Huawei Sans" panose="020C0503030203020204" pitchFamily="34" charset="0"/>
                <a:cs typeface="Huawei Sans" panose="020C0503030203020204" pitchFamily="34" charset="0"/>
              </a:rPr>
            </a:br>
            <a:r>
              <a:rPr kumimoji="1" lang="en-US" altLang="zh-CN" sz="850" baseline="0" dirty="0">
                <a:solidFill>
                  <a:srgbClr val="1D1D1B"/>
                </a:solidFill>
                <a:latin typeface="Huawei Sans" panose="020C0503030203020204" pitchFamily="34" charset="0"/>
                <a:cs typeface="Huawei Sans" panose="020C0503030203020204" pitchFamily="34" charset="0"/>
              </a:rPr>
              <a:t>statements including, without limitation, statements regarding </a:t>
            </a:r>
            <a:br>
              <a:rPr kumimoji="1" lang="en-US" altLang="zh-CN" sz="850" baseline="0" dirty="0">
                <a:solidFill>
                  <a:srgbClr val="1D1D1B"/>
                </a:solidFill>
                <a:latin typeface="Huawei Sans" panose="020C0503030203020204" pitchFamily="34" charset="0"/>
                <a:cs typeface="Huawei Sans" panose="020C0503030203020204" pitchFamily="34" charset="0"/>
              </a:rPr>
            </a:br>
            <a:r>
              <a:rPr kumimoji="1" lang="en-US" altLang="zh-CN" sz="850" baseline="0" dirty="0">
                <a:solidFill>
                  <a:srgbClr val="1D1D1B"/>
                </a:solidFill>
                <a:latin typeface="Huawei Sans" panose="020C0503030203020204" pitchFamily="34" charset="0"/>
                <a:cs typeface="Huawei Sans" panose="020C0503030203020204" pitchFamily="34" charset="0"/>
              </a:rPr>
              <a:t>the future financial and operating results, future product </a:t>
            </a:r>
            <a:br>
              <a:rPr kumimoji="1" lang="en-US" altLang="zh-CN" sz="850" baseline="0" dirty="0">
                <a:solidFill>
                  <a:srgbClr val="1D1D1B"/>
                </a:solidFill>
                <a:latin typeface="Huawei Sans" panose="020C0503030203020204" pitchFamily="34" charset="0"/>
                <a:cs typeface="Huawei Sans" panose="020C0503030203020204" pitchFamily="34" charset="0"/>
              </a:rPr>
            </a:br>
            <a:r>
              <a:rPr kumimoji="1" lang="en-US" altLang="zh-CN" sz="850" baseline="0" dirty="0">
                <a:solidFill>
                  <a:srgbClr val="1D1D1B"/>
                </a:solidFill>
                <a:latin typeface="Huawei Sans" panose="020C0503030203020204" pitchFamily="34" charset="0"/>
                <a:cs typeface="Huawei Sans" panose="020C0503030203020204" pitchFamily="34" charset="0"/>
              </a:rPr>
              <a:t>portfolio, new technology, etc. There are a number of factors that </a:t>
            </a:r>
            <a:br>
              <a:rPr kumimoji="1" lang="en-US" altLang="zh-CN" sz="850" baseline="0" dirty="0">
                <a:solidFill>
                  <a:srgbClr val="1D1D1B"/>
                </a:solidFill>
                <a:latin typeface="Huawei Sans" panose="020C0503030203020204" pitchFamily="34" charset="0"/>
                <a:cs typeface="Huawei Sans" panose="020C0503030203020204" pitchFamily="34" charset="0"/>
              </a:rPr>
            </a:br>
            <a:r>
              <a:rPr kumimoji="1" lang="en-US" altLang="zh-CN" sz="850" baseline="0" dirty="0">
                <a:solidFill>
                  <a:srgbClr val="1D1D1B"/>
                </a:solidFill>
                <a:latin typeface="Huawei Sans" panose="020C0503030203020204" pitchFamily="34" charset="0"/>
                <a:cs typeface="Huawei Sans" panose="020C0503030203020204" pitchFamily="34" charset="0"/>
              </a:rPr>
              <a:t>could cause actual results and developments to differ materially </a:t>
            </a:r>
            <a:br>
              <a:rPr kumimoji="1" lang="en-US" altLang="zh-CN" sz="850" baseline="0" dirty="0">
                <a:solidFill>
                  <a:srgbClr val="1D1D1B"/>
                </a:solidFill>
                <a:latin typeface="Huawei Sans" panose="020C0503030203020204" pitchFamily="34" charset="0"/>
                <a:cs typeface="Huawei Sans" panose="020C0503030203020204" pitchFamily="34" charset="0"/>
              </a:rPr>
            </a:br>
            <a:r>
              <a:rPr kumimoji="1" lang="en-US" altLang="zh-CN" sz="850" baseline="0" dirty="0">
                <a:solidFill>
                  <a:srgbClr val="1D1D1B"/>
                </a:solidFill>
                <a:latin typeface="Huawei Sans" panose="020C0503030203020204" pitchFamily="34" charset="0"/>
                <a:cs typeface="Huawei Sans" panose="020C0503030203020204" pitchFamily="34" charset="0"/>
              </a:rPr>
              <a:t>from those expressed or implied in the predictive statements. </a:t>
            </a:r>
            <a:br>
              <a:rPr kumimoji="1" lang="en-US" altLang="zh-CN" sz="850" baseline="0" dirty="0">
                <a:solidFill>
                  <a:srgbClr val="1D1D1B"/>
                </a:solidFill>
                <a:latin typeface="Huawei Sans" panose="020C0503030203020204" pitchFamily="34" charset="0"/>
                <a:cs typeface="Huawei Sans" panose="020C0503030203020204" pitchFamily="34" charset="0"/>
              </a:rPr>
            </a:br>
            <a:r>
              <a:rPr kumimoji="1" lang="en-US" altLang="zh-CN" sz="850" baseline="0" dirty="0">
                <a:solidFill>
                  <a:srgbClr val="1D1D1B"/>
                </a:solidFill>
                <a:latin typeface="Huawei Sans" panose="020C0503030203020204" pitchFamily="34" charset="0"/>
                <a:cs typeface="Huawei Sans" panose="020C0503030203020204" pitchFamily="34" charset="0"/>
              </a:rPr>
              <a:t>Therefore, such information is provided for reference purpose </a:t>
            </a:r>
            <a:br>
              <a:rPr kumimoji="1" lang="en-US" altLang="zh-CN" sz="850" baseline="0" dirty="0">
                <a:solidFill>
                  <a:srgbClr val="1D1D1B"/>
                </a:solidFill>
                <a:latin typeface="Huawei Sans" panose="020C0503030203020204" pitchFamily="34" charset="0"/>
                <a:cs typeface="Huawei Sans" panose="020C0503030203020204" pitchFamily="34" charset="0"/>
              </a:rPr>
            </a:br>
            <a:r>
              <a:rPr kumimoji="1" lang="en-US" altLang="zh-CN" sz="850" baseline="0" dirty="0">
                <a:solidFill>
                  <a:srgbClr val="1D1D1B"/>
                </a:solidFill>
                <a:latin typeface="Huawei Sans" panose="020C0503030203020204" pitchFamily="34" charset="0"/>
                <a:cs typeface="Huawei Sans" panose="020C0503030203020204" pitchFamily="34" charset="0"/>
              </a:rPr>
              <a:t>only and constitutes neither an offer nor an acceptance. Huawei </a:t>
            </a:r>
            <a:br>
              <a:rPr kumimoji="1" lang="en-US" altLang="zh-CN" sz="850" baseline="0" dirty="0">
                <a:solidFill>
                  <a:srgbClr val="1D1D1B"/>
                </a:solidFill>
                <a:latin typeface="Huawei Sans" panose="020C0503030203020204" pitchFamily="34" charset="0"/>
                <a:cs typeface="Huawei Sans" panose="020C0503030203020204" pitchFamily="34" charset="0"/>
              </a:rPr>
            </a:br>
            <a:r>
              <a:rPr kumimoji="1" lang="en-US" altLang="zh-CN" sz="850" baseline="0" dirty="0">
                <a:solidFill>
                  <a:srgbClr val="1D1D1B"/>
                </a:solidFill>
                <a:latin typeface="Huawei Sans" panose="020C0503030203020204" pitchFamily="34" charset="0"/>
                <a:cs typeface="Huawei Sans" panose="020C0503030203020204" pitchFamily="34" charset="0"/>
              </a:rPr>
              <a:t>may change the information at any time without notice. </a:t>
            </a:r>
          </a:p>
          <a:p>
            <a:pPr>
              <a:lnSpc>
                <a:spcPts val="1065"/>
              </a:lnSpc>
            </a:pPr>
            <a:endParaRPr kumimoji="1" lang="zh-CN" altLang="en-US" sz="779" dirty="0">
              <a:solidFill>
                <a:srgbClr val="1D1D1B"/>
              </a:solidFill>
              <a:latin typeface="Huawei Sans" panose="020C0503030203020204" pitchFamily="34" charset="0"/>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Huawei Sans" panose="020C0503030203020204" pitchFamily="34" charset="0"/>
                <a:cs typeface="Huawei Sans" panose="020C0503030203020204" pitchFamily="34" charset="0"/>
              </a:rPr>
              <a:t>Bring digital to every person, home, and </a:t>
            </a:r>
            <a:br>
              <a:rPr kumimoji="1" lang="en-US" altLang="zh-CN" sz="1200" dirty="0">
                <a:solidFill>
                  <a:srgbClr val="1D1D1B"/>
                </a:solidFill>
                <a:latin typeface="Huawei Sans" panose="020C0503030203020204" pitchFamily="34" charset="0"/>
                <a:cs typeface="Huawei Sans" panose="020C0503030203020204" pitchFamily="34" charset="0"/>
              </a:rPr>
            </a:br>
            <a:r>
              <a:rPr kumimoji="1" lang="en-US" altLang="zh-CN" sz="1200" dirty="0">
                <a:solidFill>
                  <a:srgbClr val="1D1D1B"/>
                </a:solidFill>
                <a:latin typeface="Huawei Sans" panose="020C0503030203020204" pitchFamily="34" charset="0"/>
                <a:cs typeface="Huawei Sans" panose="020C0503030203020204" pitchFamily="34" charset="0"/>
              </a:rPr>
              <a:t>organization for a fully connected, </a:t>
            </a:r>
            <a:br>
              <a:rPr kumimoji="1" lang="en-US" altLang="zh-CN" sz="1200" dirty="0">
                <a:solidFill>
                  <a:srgbClr val="1D1D1B"/>
                </a:solidFill>
                <a:latin typeface="Huawei Sans" panose="020C0503030203020204" pitchFamily="34" charset="0"/>
                <a:cs typeface="Huawei Sans" panose="020C0503030203020204" pitchFamily="34" charset="0"/>
              </a:rPr>
            </a:br>
            <a:r>
              <a:rPr kumimoji="1" lang="en-US" altLang="zh-CN" sz="1200" dirty="0">
                <a:solidFill>
                  <a:srgbClr val="1D1D1B"/>
                </a:solidFill>
                <a:latin typeface="Huawei Sans" panose="020C0503030203020204" pitchFamily="34" charset="0"/>
                <a:cs typeface="Huawei Sans" panose="020C0503030203020204" pitchFamily="34" charset="0"/>
              </a:rPr>
              <a:t>intelligent world.</a:t>
            </a:r>
            <a:endParaRPr kumimoji="1" lang="zh-CN" altLang="en-US" sz="1200" dirty="0">
              <a:solidFill>
                <a:srgbClr val="1D1D1B"/>
              </a:solidFill>
              <a:latin typeface="Huawei Sans" panose="020C0503030203020204" pitchFamily="34" charset="0"/>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7.png"/><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tiff"/><Relationship Id="rId4" Type="http://schemas.openxmlformats.org/officeDocument/2006/relationships/image" Target="../media/image11.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12.xml"/><Relationship Id="rId7" Type="http://schemas.openxmlformats.org/officeDocument/2006/relationships/image" Target="../media/image21.png"/><Relationship Id="rId2" Type="http://schemas.openxmlformats.org/officeDocument/2006/relationships/slideLayout" Target="../slideLayouts/slideLayout13.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20.emf"/><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emf"/><Relationship Id="rId7" Type="http://schemas.openxmlformats.org/officeDocument/2006/relationships/image" Target="../media/image27.emf"/><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6.png"/><Relationship Id="rId11" Type="http://schemas.openxmlformats.org/officeDocument/2006/relationships/image" Target="../media/image7.png"/><Relationship Id="rId5" Type="http://schemas.openxmlformats.org/officeDocument/2006/relationships/image" Target="../media/image25.png"/><Relationship Id="rId10" Type="http://schemas.openxmlformats.org/officeDocument/2006/relationships/image" Target="../media/image5.png"/><Relationship Id="rId4" Type="http://schemas.openxmlformats.org/officeDocument/2006/relationships/image" Target="../media/image24.png"/><Relationship Id="rId9"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9.png"/><Relationship Id="rId7"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23.emf"/><Relationship Id="rId5" Type="http://schemas.openxmlformats.org/officeDocument/2006/relationships/image" Target="../media/image22.png"/><Relationship Id="rId4" Type="http://schemas.openxmlformats.org/officeDocument/2006/relationships/image" Target="../media/image30.png"/><Relationship Id="rId9"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emf"/></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38.png"/><Relationship Id="rId11" Type="http://schemas.openxmlformats.org/officeDocument/2006/relationships/image" Target="../media/image23.emf"/><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image" Target="../media/image27.emf"/><Relationship Id="rId13" Type="http://schemas.openxmlformats.org/officeDocument/2006/relationships/image" Target="../media/image22.png"/><Relationship Id="rId3" Type="http://schemas.openxmlformats.org/officeDocument/2006/relationships/notesSlide" Target="../notesSlides/notesSlide20.xml"/><Relationship Id="rId7" Type="http://schemas.openxmlformats.org/officeDocument/2006/relationships/image" Target="../media/image26.png"/><Relationship Id="rId12" Type="http://schemas.openxmlformats.org/officeDocument/2006/relationships/image" Target="../media/image7.png"/><Relationship Id="rId2" Type="http://schemas.openxmlformats.org/officeDocument/2006/relationships/slideLayout" Target="../slideLayouts/slideLayout13.xml"/><Relationship Id="rId1" Type="http://schemas.openxmlformats.org/officeDocument/2006/relationships/tags" Target="../tags/tag5.xml"/><Relationship Id="rId6" Type="http://schemas.openxmlformats.org/officeDocument/2006/relationships/image" Target="../media/image25.png"/><Relationship Id="rId11" Type="http://schemas.openxmlformats.org/officeDocument/2006/relationships/image" Target="../media/image5.png"/><Relationship Id="rId5" Type="http://schemas.openxmlformats.org/officeDocument/2006/relationships/image" Target="../media/image24.png"/><Relationship Id="rId10" Type="http://schemas.openxmlformats.org/officeDocument/2006/relationships/image" Target="../media/image6.png"/><Relationship Id="rId4" Type="http://schemas.openxmlformats.org/officeDocument/2006/relationships/image" Target="../media/image23.emf"/><Relationship Id="rId9"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44.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32.emf"/><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32.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48.png"/><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png"/><Relationship Id="rId7" Type="http://schemas.openxmlformats.org/officeDocument/2006/relationships/image" Target="../media/image32.emf"/><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png"/><Relationship Id="rId7" Type="http://schemas.openxmlformats.org/officeDocument/2006/relationships/image" Target="../media/image32.emf"/><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4.png"/><Relationship Id="rId7" Type="http://schemas.openxmlformats.org/officeDocument/2006/relationships/image" Target="../media/image27.emf"/><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7.png"/><Relationship Id="rId4" Type="http://schemas.openxmlformats.org/officeDocument/2006/relationships/image" Target="../media/image24.png"/><Relationship Id="rId9" Type="http://schemas.openxmlformats.org/officeDocument/2006/relationships/image" Target="../media/image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13.xml"/><Relationship Id="rId5" Type="http://schemas.openxmlformats.org/officeDocument/2006/relationships/image" Target="../media/image61.png"/><Relationship Id="rId4" Type="http://schemas.openxmlformats.org/officeDocument/2006/relationships/image" Target="../media/image60.png"/></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60.png"/></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6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23.emf"/></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image" Target="../media/image32.emf"/></Relationships>
</file>

<file path=ppt/slides/_rels/slide6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5.xml"/><Relationship Id="rId1" Type="http://schemas.openxmlformats.org/officeDocument/2006/relationships/slideLayout" Target="../slideLayouts/slideLayout13.xml"/><Relationship Id="rId4" Type="http://schemas.openxmlformats.org/officeDocument/2006/relationships/image" Target="../media/image57.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55.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3.xml"/><Relationship Id="rId5" Type="http://schemas.openxmlformats.org/officeDocument/2006/relationships/image" Target="../media/image32.emf"/><Relationship Id="rId4" Type="http://schemas.openxmlformats.org/officeDocument/2006/relationships/image" Target="../media/image55.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8.xml"/><Relationship Id="rId1" Type="http://schemas.openxmlformats.org/officeDocument/2006/relationships/slideLayout" Target="../slideLayouts/slideLayout13.xml"/><Relationship Id="rId5" Type="http://schemas.openxmlformats.org/officeDocument/2006/relationships/image" Target="../media/image66.png"/><Relationship Id="rId4" Type="http://schemas.openxmlformats.org/officeDocument/2006/relationships/image" Target="../media/image55.png"/></Relationships>
</file>

<file path=ppt/slides/_rels/slide6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0.xml"/><Relationship Id="rId1" Type="http://schemas.openxmlformats.org/officeDocument/2006/relationships/slideLayout" Target="../slideLayouts/slideLayout13.xml"/><Relationship Id="rId4" Type="http://schemas.openxmlformats.org/officeDocument/2006/relationships/image" Target="../media/image68.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72.xml"/><Relationship Id="rId1" Type="http://schemas.openxmlformats.org/officeDocument/2006/relationships/slideLayout" Target="../slideLayouts/slideLayout13.xml"/><Relationship Id="rId4" Type="http://schemas.openxmlformats.org/officeDocument/2006/relationships/image" Target="../media/image56.png"/></Relationships>
</file>

<file path=ppt/slides/_rels/slide7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5.xml"/><Relationship Id="rId1" Type="http://schemas.openxmlformats.org/officeDocument/2006/relationships/slideLayout" Target="../slideLayouts/slideLayout13.xml"/><Relationship Id="rId5" Type="http://schemas.openxmlformats.org/officeDocument/2006/relationships/image" Target="../media/image70.png"/><Relationship Id="rId4" Type="http://schemas.openxmlformats.org/officeDocument/2006/relationships/image" Target="../media/image25.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0.xml"/><Relationship Id="rId1" Type="http://schemas.openxmlformats.org/officeDocument/2006/relationships/slideLayout" Target="../slideLayouts/slideLayout13.xml"/><Relationship Id="rId4" Type="http://schemas.openxmlformats.org/officeDocument/2006/relationships/image" Target="../media/image56.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3.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4.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9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5.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9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6.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57.png"/><Relationship Id="rId4" Type="http://schemas.openxmlformats.org/officeDocument/2006/relationships/image" Target="../media/image31.png"/></Relationships>
</file>

<file path=ppt/slides/_rels/slide9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7.xml"/><Relationship Id="rId1" Type="http://schemas.openxmlformats.org/officeDocument/2006/relationships/slideLayout" Target="../slideLayouts/slideLayout13.xml"/><Relationship Id="rId5" Type="http://schemas.openxmlformats.org/officeDocument/2006/relationships/image" Target="../media/image57.png"/><Relationship Id="rId4" Type="http://schemas.openxmlformats.org/officeDocument/2006/relationships/image" Target="../media/image31.png"/></Relationships>
</file>

<file path=ppt/slides/_rels/slide9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8.xml"/><Relationship Id="rId1" Type="http://schemas.openxmlformats.org/officeDocument/2006/relationships/slideLayout" Target="../slideLayouts/slideLayout13.xml"/><Relationship Id="rId5" Type="http://schemas.openxmlformats.org/officeDocument/2006/relationships/image" Target="../media/image57.png"/><Relationship Id="rId4" Type="http://schemas.openxmlformats.org/officeDocument/2006/relationships/image" Target="../media/image31.png"/></Relationships>
</file>

<file path=ppt/slides/_rels/slide9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9.xml"/><Relationship Id="rId1" Type="http://schemas.openxmlformats.org/officeDocument/2006/relationships/slideLayout" Target="../slideLayouts/slideLayout13.xml"/><Relationship Id="rId5" Type="http://schemas.openxmlformats.org/officeDocument/2006/relationships/image" Target="../media/image57.png"/><Relationship Id="rId4" Type="http://schemas.openxmlformats.org/officeDocument/2006/relationships/image" Target="../media/image31.png"/></Relationships>
</file>

<file path=ppt/slides/_rels/slide10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0.xml"/><Relationship Id="rId1" Type="http://schemas.openxmlformats.org/officeDocument/2006/relationships/slideLayout" Target="../slideLayouts/slideLayout13.xml"/><Relationship Id="rId5" Type="http://schemas.openxmlformats.org/officeDocument/2006/relationships/image" Target="../media/image57.png"/><Relationship Id="rId4" Type="http://schemas.openxmlformats.org/officeDocument/2006/relationships/image" Target="../media/image31.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0.xml"/><Relationship Id="rId1" Type="http://schemas.openxmlformats.org/officeDocument/2006/relationships/slideLayout" Target="../slideLayouts/slideLayout13.xml"/><Relationship Id="rId5" Type="http://schemas.openxmlformats.org/officeDocument/2006/relationships/image" Target="../media/image55.png"/><Relationship Id="rId4" Type="http://schemas.openxmlformats.org/officeDocument/2006/relationships/image" Target="../media/image7.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3.xml"/><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1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4.xml"/><Relationship Id="rId1" Type="http://schemas.openxmlformats.org/officeDocument/2006/relationships/slideLayout" Target="../slideLayouts/slideLayout13.xml"/><Relationship Id="rId5" Type="http://schemas.openxmlformats.org/officeDocument/2006/relationships/image" Target="../media/image57.png"/><Relationship Id="rId4" Type="http://schemas.openxmlformats.org/officeDocument/2006/relationships/image" Target="../media/image4.png"/></Relationships>
</file>

<file path=ppt/slides/_rels/slide1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9.xml"/><Relationship Id="rId1" Type="http://schemas.openxmlformats.org/officeDocument/2006/relationships/slideLayout" Target="../slideLayouts/slideLayout13.xml"/><Relationship Id="rId5" Type="http://schemas.openxmlformats.org/officeDocument/2006/relationships/image" Target="../media/image71.png"/><Relationship Id="rId4" Type="http://schemas.openxmlformats.org/officeDocument/2006/relationships/image" Target="../media/image25.png"/></Relationships>
</file>

<file path=ppt/slides/_rels/slide12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0.xml"/><Relationship Id="rId1" Type="http://schemas.openxmlformats.org/officeDocument/2006/relationships/slideLayout" Target="../slideLayouts/slideLayout13.xml"/><Relationship Id="rId4" Type="http://schemas.openxmlformats.org/officeDocument/2006/relationships/image" Target="../media/image72.png"/></Relationships>
</file>

<file path=ppt/slides/_rels/slide12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2.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1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3.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25.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3.png"/></Relationships>
</file>

<file path=ppt/slides/_rels/slide12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26.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3.png"/></Relationships>
</file>

<file path=ppt/slides/_rels/slide1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7.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30.xml"/><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13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31.xml"/><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1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2.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48.png"/><Relationship Id="rId4" Type="http://schemas.openxmlformats.org/officeDocument/2006/relationships/image" Target="../media/image47.pn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文本占位符 7"/>
          <p:cNvSpPr>
            <a:spLocks noGrp="1"/>
          </p:cNvSpPr>
          <p:nvPr>
            <p:ph type="body" sz="quarter" idx="17"/>
          </p:nvPr>
        </p:nvSpPr>
        <p:spPr bwMode="gray"/>
        <p:txBody>
          <a:bodyPr/>
          <a:lstStyle/>
          <a:p>
            <a:endParaRPr lang="zh-CN" altLang="en-US" dirty="0"/>
          </a:p>
        </p:txBody>
      </p:sp>
      <p:sp>
        <p:nvSpPr>
          <p:cNvPr id="9" name="文本占位符 8"/>
          <p:cNvSpPr>
            <a:spLocks noGrp="1"/>
          </p:cNvSpPr>
          <p:nvPr>
            <p:ph type="body" sz="quarter" idx="18"/>
          </p:nvPr>
        </p:nvSpPr>
        <p:spPr bwMode="gray"/>
        <p:txBody>
          <a:bodyPr/>
          <a:lstStyle/>
          <a:p>
            <a:r>
              <a:rPr lang="en-US" altLang="zh-CN" dirty="0"/>
              <a:t>Datacom</a:t>
            </a:r>
            <a:endParaRPr lang="zh-CN" altLang="en-US" dirty="0"/>
          </a:p>
        </p:txBody>
      </p:sp>
      <p:sp>
        <p:nvSpPr>
          <p:cNvPr id="10" name="文本占位符 9"/>
          <p:cNvSpPr>
            <a:spLocks noGrp="1"/>
          </p:cNvSpPr>
          <p:nvPr>
            <p:ph type="body" sz="quarter" idx="19"/>
          </p:nvPr>
        </p:nvSpPr>
        <p:spPr bwMode="gray"/>
        <p:txBody>
          <a:bodyPr/>
          <a:lstStyle/>
          <a:p>
            <a:r>
              <a:rPr lang="zh-CN" altLang="en-US" dirty="0"/>
              <a:t>通用</a:t>
            </a:r>
          </a:p>
        </p:txBody>
      </p:sp>
      <p:sp>
        <p:nvSpPr>
          <p:cNvPr id="11" name="文本占位符 10"/>
          <p:cNvSpPr>
            <a:spLocks noGrp="1"/>
          </p:cNvSpPr>
          <p:nvPr>
            <p:ph type="body" sz="quarter" idx="20"/>
          </p:nvPr>
        </p:nvSpPr>
        <p:spPr bwMode="gray"/>
        <p:txBody>
          <a:bodyPr/>
          <a:lstStyle/>
          <a:p>
            <a:r>
              <a:rPr lang="en-US" altLang="zh-CN" dirty="0"/>
              <a:t>V1.0</a:t>
            </a:r>
            <a:endParaRPr lang="zh-CN" altLang="en-US" dirty="0"/>
          </a:p>
        </p:txBody>
      </p:sp>
      <p:sp>
        <p:nvSpPr>
          <p:cNvPr id="4" name="文本占位符 3"/>
          <p:cNvSpPr>
            <a:spLocks noGrp="1"/>
          </p:cNvSpPr>
          <p:nvPr>
            <p:ph type="body" sz="quarter" idx="13"/>
          </p:nvPr>
        </p:nvSpPr>
        <p:spPr bwMode="gray"/>
        <p:txBody>
          <a:bodyPr/>
          <a:lstStyle/>
          <a:p>
            <a:r>
              <a:rPr lang="zh-CN" altLang="en-US" dirty="0"/>
              <a:t>吴越</a:t>
            </a:r>
            <a:r>
              <a:rPr lang="en-US" altLang="zh-CN" dirty="0"/>
              <a:t>/WX291773</a:t>
            </a:r>
            <a:endParaRPr lang="zh-CN" altLang="en-US" dirty="0"/>
          </a:p>
        </p:txBody>
      </p:sp>
      <p:sp>
        <p:nvSpPr>
          <p:cNvPr id="5" name="文本占位符 4"/>
          <p:cNvSpPr>
            <a:spLocks noGrp="1"/>
          </p:cNvSpPr>
          <p:nvPr>
            <p:ph type="body" sz="quarter" idx="14"/>
          </p:nvPr>
        </p:nvSpPr>
        <p:spPr bwMode="gray"/>
        <p:txBody>
          <a:bodyPr/>
          <a:lstStyle/>
          <a:p>
            <a:r>
              <a:rPr lang="en-US" altLang="zh-CN" dirty="0"/>
              <a:t>2021.03</a:t>
            </a:r>
            <a:endParaRPr lang="zh-CN" altLang="en-US" dirty="0"/>
          </a:p>
        </p:txBody>
      </p:sp>
      <p:sp>
        <p:nvSpPr>
          <p:cNvPr id="6" name="文本占位符 5"/>
          <p:cNvSpPr>
            <a:spLocks noGrp="1"/>
          </p:cNvSpPr>
          <p:nvPr>
            <p:ph type="body" sz="quarter" idx="15"/>
          </p:nvPr>
        </p:nvSpPr>
        <p:spPr bwMode="gray"/>
        <p:txBody>
          <a:bodyPr/>
          <a:lstStyle/>
          <a:p>
            <a:r>
              <a:rPr lang="zh-CN" altLang="en-US" dirty="0"/>
              <a:t>李先之</a:t>
            </a:r>
            <a:r>
              <a:rPr lang="en-US" altLang="zh-CN" dirty="0"/>
              <a:t>/00354681</a:t>
            </a:r>
            <a:endParaRPr lang="zh-CN" altLang="en-US" dirty="0"/>
          </a:p>
        </p:txBody>
      </p:sp>
      <p:sp>
        <p:nvSpPr>
          <p:cNvPr id="7" name="文本占位符 6"/>
          <p:cNvSpPr>
            <a:spLocks noGrp="1"/>
          </p:cNvSpPr>
          <p:nvPr>
            <p:ph type="body" sz="quarter" idx="16"/>
          </p:nvPr>
        </p:nvSpPr>
        <p:spPr bwMode="gray"/>
        <p:txBody>
          <a:bodyPr/>
          <a:lstStyle/>
          <a:p>
            <a:r>
              <a:rPr lang="zh-CN" altLang="en-US" dirty="0"/>
              <a:t>新开发</a:t>
            </a:r>
          </a:p>
        </p:txBody>
      </p:sp>
      <p:sp>
        <p:nvSpPr>
          <p:cNvPr id="12" name="文本占位符 11"/>
          <p:cNvSpPr>
            <a:spLocks noGrp="1"/>
          </p:cNvSpPr>
          <p:nvPr>
            <p:ph type="body" sz="quarter" idx="21"/>
          </p:nvPr>
        </p:nvSpPr>
        <p:spPr bwMode="gray"/>
        <p:txBody>
          <a:bodyPr/>
          <a:lstStyle/>
          <a:p>
            <a:r>
              <a:rPr lang="zh-CN" altLang="en-US" dirty="0"/>
              <a:t>吴越</a:t>
            </a:r>
            <a:r>
              <a:rPr lang="en-US" altLang="zh-CN" dirty="0"/>
              <a:t>/WX291773</a:t>
            </a:r>
            <a:endParaRPr lang="zh-CN" altLang="en-US" dirty="0"/>
          </a:p>
        </p:txBody>
      </p:sp>
      <p:sp>
        <p:nvSpPr>
          <p:cNvPr id="13" name="文本占位符 12"/>
          <p:cNvSpPr>
            <a:spLocks noGrp="1"/>
          </p:cNvSpPr>
          <p:nvPr>
            <p:ph type="body" sz="quarter" idx="22"/>
          </p:nvPr>
        </p:nvSpPr>
        <p:spPr bwMode="gray"/>
        <p:txBody>
          <a:bodyPr/>
          <a:lstStyle/>
          <a:p>
            <a:r>
              <a:rPr lang="en-US" altLang="zh-CN" dirty="0"/>
              <a:t>2021.9.16</a:t>
            </a:r>
            <a:endParaRPr lang="zh-CN" altLang="en-US" dirty="0"/>
          </a:p>
        </p:txBody>
      </p:sp>
      <p:sp>
        <p:nvSpPr>
          <p:cNvPr id="14" name="文本占位符 13"/>
          <p:cNvSpPr>
            <a:spLocks noGrp="1"/>
          </p:cNvSpPr>
          <p:nvPr>
            <p:ph type="body" sz="quarter" idx="23"/>
          </p:nvPr>
        </p:nvSpPr>
        <p:spPr bwMode="gray"/>
        <p:txBody>
          <a:bodyPr/>
          <a:lstStyle/>
          <a:p>
            <a:r>
              <a:rPr lang="zh-CN" altLang="en-US" dirty="0"/>
              <a:t>卢玥玥</a:t>
            </a:r>
            <a:r>
              <a:rPr lang="en-US" altLang="zh-CN" dirty="0"/>
              <a:t>/WX445705</a:t>
            </a:r>
          </a:p>
        </p:txBody>
      </p:sp>
      <p:sp>
        <p:nvSpPr>
          <p:cNvPr id="15" name="文本占位符 14"/>
          <p:cNvSpPr>
            <a:spLocks noGrp="1"/>
          </p:cNvSpPr>
          <p:nvPr>
            <p:ph type="body" sz="quarter" idx="24"/>
          </p:nvPr>
        </p:nvSpPr>
        <p:spPr bwMode="gray"/>
        <p:txBody>
          <a:bodyPr/>
          <a:lstStyle/>
          <a:p>
            <a:r>
              <a:rPr lang="zh-CN" altLang="en-US" dirty="0"/>
              <a:t>优化</a:t>
            </a:r>
          </a:p>
        </p:txBody>
      </p:sp>
      <p:sp>
        <p:nvSpPr>
          <p:cNvPr id="16" name="文本占位符 15"/>
          <p:cNvSpPr>
            <a:spLocks noGrp="1"/>
          </p:cNvSpPr>
          <p:nvPr>
            <p:ph type="body" sz="quarter" idx="25"/>
          </p:nvPr>
        </p:nvSpPr>
        <p:spPr bwMode="gray"/>
        <p:txBody>
          <a:bodyPr/>
          <a:lstStyle/>
          <a:p>
            <a:endParaRPr lang="zh-CN" altLang="en-US"/>
          </a:p>
        </p:txBody>
      </p:sp>
      <p:sp>
        <p:nvSpPr>
          <p:cNvPr id="17" name="文本占位符 16"/>
          <p:cNvSpPr>
            <a:spLocks noGrp="1"/>
          </p:cNvSpPr>
          <p:nvPr>
            <p:ph type="body" sz="quarter" idx="26"/>
          </p:nvPr>
        </p:nvSpPr>
        <p:spPr bwMode="gray"/>
        <p:txBody>
          <a:bodyPr/>
          <a:lstStyle/>
          <a:p>
            <a:endParaRPr lang="zh-CN" altLang="en-US"/>
          </a:p>
        </p:txBody>
      </p:sp>
      <p:sp>
        <p:nvSpPr>
          <p:cNvPr id="18" name="文本占位符 17"/>
          <p:cNvSpPr>
            <a:spLocks noGrp="1"/>
          </p:cNvSpPr>
          <p:nvPr>
            <p:ph type="body" sz="quarter" idx="27"/>
          </p:nvPr>
        </p:nvSpPr>
        <p:spPr bwMode="gray"/>
        <p:txBody>
          <a:bodyPr/>
          <a:lstStyle/>
          <a:p>
            <a:endParaRPr lang="zh-CN" altLang="en-US"/>
          </a:p>
        </p:txBody>
      </p:sp>
      <p:sp>
        <p:nvSpPr>
          <p:cNvPr id="19" name="文本占位符 18"/>
          <p:cNvSpPr>
            <a:spLocks noGrp="1"/>
          </p:cNvSpPr>
          <p:nvPr>
            <p:ph type="body" sz="quarter" idx="28"/>
          </p:nvPr>
        </p:nvSpPr>
        <p:spPr bwMode="gray"/>
        <p:txBody>
          <a:bodyPr/>
          <a:lstStyle/>
          <a:p>
            <a:endParaRPr lang="zh-CN" altLang="en-US"/>
          </a:p>
        </p:txBody>
      </p:sp>
      <p:sp>
        <p:nvSpPr>
          <p:cNvPr id="20" name="文本占位符 19"/>
          <p:cNvSpPr>
            <a:spLocks noGrp="1"/>
          </p:cNvSpPr>
          <p:nvPr>
            <p:ph type="body" sz="quarter" idx="29"/>
          </p:nvPr>
        </p:nvSpPr>
        <p:spPr bwMode="gray"/>
        <p:txBody>
          <a:bodyPr/>
          <a:lstStyle/>
          <a:p>
            <a:endParaRPr lang="zh-CN" altLang="en-US"/>
          </a:p>
        </p:txBody>
      </p:sp>
      <p:sp>
        <p:nvSpPr>
          <p:cNvPr id="21" name="文本占位符 20"/>
          <p:cNvSpPr>
            <a:spLocks noGrp="1"/>
          </p:cNvSpPr>
          <p:nvPr>
            <p:ph type="body" sz="quarter" idx="30"/>
          </p:nvPr>
        </p:nvSpPr>
        <p:spPr bwMode="gray"/>
        <p:txBody>
          <a:bodyPr/>
          <a:lstStyle/>
          <a:p>
            <a:endParaRPr lang="zh-CN" altLang="en-US"/>
          </a:p>
        </p:txBody>
      </p:sp>
      <p:sp>
        <p:nvSpPr>
          <p:cNvPr id="22" name="文本占位符 21"/>
          <p:cNvSpPr>
            <a:spLocks noGrp="1"/>
          </p:cNvSpPr>
          <p:nvPr>
            <p:ph type="body" sz="quarter" idx="31"/>
          </p:nvPr>
        </p:nvSpPr>
        <p:spPr bwMode="gray"/>
        <p:txBody>
          <a:bodyPr/>
          <a:lstStyle/>
          <a:p>
            <a:endParaRPr lang="zh-CN" altLang="en-US"/>
          </a:p>
        </p:txBody>
      </p:sp>
      <p:sp>
        <p:nvSpPr>
          <p:cNvPr id="23" name="文本占位符 22"/>
          <p:cNvSpPr>
            <a:spLocks noGrp="1"/>
          </p:cNvSpPr>
          <p:nvPr>
            <p:ph type="body" sz="quarter" idx="32"/>
          </p:nvPr>
        </p:nvSpPr>
        <p:spPr bwMode="gray"/>
        <p:txBody>
          <a:bodyPr/>
          <a:lstStyle/>
          <a:p>
            <a:endParaRPr lang="zh-CN" altLang="en-US"/>
          </a:p>
        </p:txBody>
      </p:sp>
    </p:spTree>
    <p:extLst>
      <p:ext uri="{BB962C8B-B14F-4D97-AF65-F5344CB8AC3E}">
        <p14:creationId xmlns:p14="http://schemas.microsoft.com/office/powerpoint/2010/main" val="12191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endParaRPr lang="zh-CN" altLang="en-US" dirty="0">
              <a:latin typeface="Huawei Sans" panose="020C0503030203020204" pitchFamily="34" charset="0"/>
            </a:endParaRPr>
          </a:p>
        </p:txBody>
      </p:sp>
      <p:sp>
        <p:nvSpPr>
          <p:cNvPr id="14" name="标题 13"/>
          <p:cNvSpPr>
            <a:spLocks noGrp="1"/>
          </p:cNvSpPr>
          <p:nvPr>
            <p:ph type="ctrTitle"/>
          </p:nvPr>
        </p:nvSpPr>
        <p:spPr bwMode="gray"/>
        <p:txBody>
          <a:bodyPr/>
          <a:lstStyle/>
          <a:p>
            <a:r>
              <a:rPr lang="en-US" altLang="zh-CN" dirty="0"/>
              <a:t>SD-WAN</a:t>
            </a:r>
            <a:r>
              <a:rPr lang="zh-CN" altLang="en-US" dirty="0"/>
              <a:t>解决方案与规划设计</a:t>
            </a:r>
          </a:p>
        </p:txBody>
      </p:sp>
    </p:spTree>
    <p:extLst>
      <p:ext uri="{BB962C8B-B14F-4D97-AF65-F5344CB8AC3E}">
        <p14:creationId xmlns:p14="http://schemas.microsoft.com/office/powerpoint/2010/main" val="2992108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sz="2000" dirty="0"/>
              <a:t>广域互联网经过多年的发展与演进，发生了重大的变化。过去的广域互联网主要以网络为中心，广域互联网上的应用整体上较少，网络作为广域互联网主要组成，占据了最核心的位置。但是随着云计算的崛起，应用的潜能被充分挖掘，广域互联网逐渐变为以应用为中心。</a:t>
            </a:r>
            <a:endParaRPr lang="en-US" altLang="zh-CN" sz="2000" dirty="0"/>
          </a:p>
          <a:p>
            <a:r>
              <a:rPr lang="zh-CN" altLang="en-US" sz="2000" dirty="0"/>
              <a:t>面对云计算对广域互联网的挑战，华为推出了</a:t>
            </a:r>
            <a:r>
              <a:rPr lang="en-US" altLang="zh-CN" sz="2000" dirty="0"/>
              <a:t>SD-WAN</a:t>
            </a:r>
            <a:r>
              <a:rPr lang="zh-CN" altLang="en-US" sz="2000" dirty="0"/>
              <a:t>解决方案。</a:t>
            </a:r>
            <a:endParaRPr lang="en-US" altLang="zh-CN" sz="2000" dirty="0"/>
          </a:p>
          <a:p>
            <a:r>
              <a:rPr lang="zh-CN" altLang="en-US" sz="2000" dirty="0"/>
              <a:t>通过这节课，大家将能了解</a:t>
            </a:r>
            <a:r>
              <a:rPr lang="en-US" altLang="zh-CN" sz="2000" dirty="0"/>
              <a:t>SD-WAN</a:t>
            </a:r>
            <a:r>
              <a:rPr lang="zh-CN" altLang="en-US" sz="2000" dirty="0"/>
              <a:t>解决方案的功能以及</a:t>
            </a:r>
            <a:r>
              <a:rPr lang="en-US" altLang="zh-CN" sz="2000" dirty="0"/>
              <a:t>SD-WAN</a:t>
            </a:r>
            <a:r>
              <a:rPr lang="zh-CN" altLang="en-US" sz="2000" dirty="0"/>
              <a:t>的设计方案。</a:t>
            </a:r>
          </a:p>
        </p:txBody>
      </p:sp>
    </p:spTree>
    <p:extLst>
      <p:ext uri="{BB962C8B-B14F-4D97-AF65-F5344CB8AC3E}">
        <p14:creationId xmlns:p14="http://schemas.microsoft.com/office/powerpoint/2010/main" val="548368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a:prstGeom prst="rect">
            <a:avLst/>
          </a:prstGeom>
        </p:spPr>
        <p:txBody>
          <a:bodyPr/>
          <a:lstStyle/>
          <a:p>
            <a:r>
              <a:rPr lang="zh-CN" altLang="en-US" dirty="0"/>
              <a:t>学完本课程后，您将能够：</a:t>
            </a:r>
            <a:endParaRPr lang="en-US" altLang="zh-CN" dirty="0"/>
          </a:p>
          <a:p>
            <a:pPr lvl="1"/>
            <a:r>
              <a:rPr lang="zh-CN" altLang="en-US" dirty="0"/>
              <a:t>描述企业广域</a:t>
            </a:r>
            <a:r>
              <a:rPr lang="zh-CN" altLang="en-US" sz="2000" dirty="0"/>
              <a:t>互联</a:t>
            </a:r>
            <a:r>
              <a:rPr lang="zh-CN" altLang="en-US" dirty="0"/>
              <a:t>网面临的挑战</a:t>
            </a:r>
            <a:endParaRPr lang="en-US" altLang="zh-CN" dirty="0"/>
          </a:p>
          <a:p>
            <a:pPr lvl="1"/>
            <a:r>
              <a:rPr lang="zh-CN" altLang="en-US" dirty="0"/>
              <a:t>描述华为</a:t>
            </a:r>
            <a:r>
              <a:rPr lang="en-US" altLang="zh-CN" dirty="0"/>
              <a:t>SD-WAN</a:t>
            </a:r>
            <a:r>
              <a:rPr lang="zh-CN" altLang="en-US" dirty="0"/>
              <a:t>解决方案的架构与功能</a:t>
            </a:r>
            <a:endParaRPr lang="en-US" altLang="zh-CN" dirty="0"/>
          </a:p>
          <a:p>
            <a:pPr lvl="1"/>
            <a:r>
              <a:rPr lang="zh-CN" altLang="en-US" dirty="0"/>
              <a:t>描述</a:t>
            </a:r>
            <a:r>
              <a:rPr lang="en-US" altLang="zh-CN" dirty="0"/>
              <a:t>SD-WAN</a:t>
            </a:r>
            <a:r>
              <a:rPr lang="zh-CN" altLang="en-US" dirty="0"/>
              <a:t>组网设计方案</a:t>
            </a:r>
            <a:endParaRPr lang="en-US" altLang="zh-CN" dirty="0"/>
          </a:p>
          <a:p>
            <a:pPr lvl="1"/>
            <a:r>
              <a:rPr lang="zh-CN" altLang="en-US" dirty="0"/>
              <a:t>描述</a:t>
            </a:r>
            <a:r>
              <a:rPr lang="en-US" altLang="zh-CN" dirty="0"/>
              <a:t>SD-WAN</a:t>
            </a:r>
            <a:r>
              <a:rPr lang="zh-CN" altLang="en-US" dirty="0"/>
              <a:t>业务设计方案</a:t>
            </a:r>
            <a:endParaRPr lang="en-US" altLang="zh-CN" dirty="0"/>
          </a:p>
          <a:p>
            <a:pPr lvl="1"/>
            <a:r>
              <a:rPr lang="zh-CN" altLang="en-US" dirty="0"/>
              <a:t>描述</a:t>
            </a:r>
            <a:r>
              <a:rPr lang="en-US" altLang="zh-CN" dirty="0"/>
              <a:t>SD-WAN</a:t>
            </a:r>
            <a:r>
              <a:rPr lang="zh-CN" altLang="en-US" dirty="0"/>
              <a:t>可靠性设计方案</a:t>
            </a:r>
            <a:endParaRPr lang="en-US" altLang="zh-CN" dirty="0"/>
          </a:p>
          <a:p>
            <a:pPr lvl="1"/>
            <a:r>
              <a:rPr lang="zh-CN" altLang="en-US" dirty="0"/>
              <a:t>描述</a:t>
            </a:r>
            <a:r>
              <a:rPr lang="en-US" altLang="zh-CN" dirty="0"/>
              <a:t>SD-WAN</a:t>
            </a:r>
            <a:r>
              <a:rPr lang="zh-CN" altLang="en-US" dirty="0"/>
              <a:t>安全设计方案</a:t>
            </a:r>
            <a:endParaRPr lang="en-US" altLang="zh-CN" dirty="0"/>
          </a:p>
        </p:txBody>
      </p:sp>
    </p:spTree>
    <p:extLst>
      <p:ext uri="{BB962C8B-B14F-4D97-AF65-F5344CB8AC3E}">
        <p14:creationId xmlns:p14="http://schemas.microsoft.com/office/powerpoint/2010/main" val="2349528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dirty="0"/>
              <a:t>企业广域互联网络发展趋势与挑战</a:t>
            </a:r>
            <a:endParaRPr lang="en-US" altLang="zh-CN" b="1" dirty="0"/>
          </a:p>
          <a:p>
            <a:r>
              <a:rPr lang="zh-CN" altLang="en-US" dirty="0">
                <a:solidFill>
                  <a:schemeClr val="bg1">
                    <a:lumMod val="50000"/>
                  </a:schemeClr>
                </a:solidFill>
              </a:rPr>
              <a:t>华为</a:t>
            </a:r>
            <a:r>
              <a:rPr lang="en-US" altLang="zh-CN" dirty="0">
                <a:solidFill>
                  <a:schemeClr val="bg1">
                    <a:lumMod val="50000"/>
                  </a:schemeClr>
                </a:solidFill>
              </a:rPr>
              <a:t>SD-WAN</a:t>
            </a:r>
            <a:r>
              <a:rPr lang="zh-CN" altLang="en-US" dirty="0">
                <a:solidFill>
                  <a:schemeClr val="bg1">
                    <a:lumMod val="50000"/>
                  </a:schemeClr>
                </a:solidFill>
              </a:rPr>
              <a:t>解决方案概述</a:t>
            </a:r>
            <a:endParaRPr lang="en-US" altLang="zh-CN" dirty="0">
              <a:solidFill>
                <a:schemeClr val="bg1">
                  <a:lumMod val="50000"/>
                </a:schemeClr>
              </a:solidFill>
            </a:endParaRPr>
          </a:p>
          <a:p>
            <a:r>
              <a:rPr lang="zh-CN" altLang="en-US" dirty="0">
                <a:solidFill>
                  <a:schemeClr val="bg1">
                    <a:lumMod val="50000"/>
                  </a:schemeClr>
                </a:solidFill>
              </a:rPr>
              <a:t>华为</a:t>
            </a:r>
            <a:r>
              <a:rPr lang="en-US" altLang="zh-CN" dirty="0">
                <a:solidFill>
                  <a:schemeClr val="bg1">
                    <a:lumMod val="50000"/>
                  </a:schemeClr>
                </a:solidFill>
              </a:rPr>
              <a:t>SD-WAN</a:t>
            </a:r>
            <a:r>
              <a:rPr lang="zh-CN" altLang="en-US" dirty="0">
                <a:solidFill>
                  <a:schemeClr val="bg1">
                    <a:lumMod val="50000"/>
                  </a:schemeClr>
                </a:solidFill>
              </a:rPr>
              <a:t>组网设计</a:t>
            </a:r>
            <a:endParaRPr lang="en-US" altLang="zh-CN" dirty="0">
              <a:solidFill>
                <a:schemeClr val="bg1">
                  <a:lumMod val="50000"/>
                </a:schemeClr>
              </a:solidFill>
            </a:endParaRPr>
          </a:p>
          <a:p>
            <a:r>
              <a:rPr lang="zh-CN" altLang="en-US" dirty="0">
                <a:solidFill>
                  <a:schemeClr val="bg1">
                    <a:lumMod val="50000"/>
                  </a:schemeClr>
                </a:solidFill>
              </a:rPr>
              <a:t>华为</a:t>
            </a:r>
            <a:r>
              <a:rPr lang="en-US" altLang="zh-CN" dirty="0">
                <a:solidFill>
                  <a:schemeClr val="bg1">
                    <a:lumMod val="50000"/>
                  </a:schemeClr>
                </a:solidFill>
              </a:rPr>
              <a:t>SD-WAN</a:t>
            </a:r>
            <a:r>
              <a:rPr lang="zh-CN" altLang="en-US" dirty="0">
                <a:solidFill>
                  <a:schemeClr val="bg1">
                    <a:lumMod val="50000"/>
                  </a:schemeClr>
                </a:solidFill>
              </a:rPr>
              <a:t>业务设计</a:t>
            </a:r>
            <a:endParaRPr lang="en-US" altLang="zh-CN" dirty="0">
              <a:solidFill>
                <a:schemeClr val="bg1">
                  <a:lumMod val="50000"/>
                </a:schemeClr>
              </a:solidFill>
            </a:endParaRPr>
          </a:p>
          <a:p>
            <a:r>
              <a:rPr lang="zh-CN" altLang="en-US" dirty="0">
                <a:solidFill>
                  <a:schemeClr val="bg1">
                    <a:lumMod val="50000"/>
                  </a:schemeClr>
                </a:solidFill>
              </a:rPr>
              <a:t>华为</a:t>
            </a:r>
            <a:r>
              <a:rPr lang="en-US" altLang="zh-CN" dirty="0">
                <a:solidFill>
                  <a:schemeClr val="bg1">
                    <a:lumMod val="50000"/>
                  </a:schemeClr>
                </a:solidFill>
              </a:rPr>
              <a:t>SD-WAN</a:t>
            </a:r>
            <a:r>
              <a:rPr lang="zh-CN" altLang="en-US" dirty="0">
                <a:solidFill>
                  <a:schemeClr val="bg1">
                    <a:lumMod val="50000"/>
                  </a:schemeClr>
                </a:solidFill>
              </a:rPr>
              <a:t>可靠性与安全设计</a:t>
            </a:r>
            <a:endParaRPr lang="en-US" altLang="zh-CN" dirty="0">
              <a:solidFill>
                <a:schemeClr val="bg1">
                  <a:lumMod val="50000"/>
                </a:schemeClr>
              </a:solidFill>
            </a:endParaRPr>
          </a:p>
        </p:txBody>
      </p:sp>
    </p:spTree>
    <p:extLst>
      <p:ext uri="{BB962C8B-B14F-4D97-AF65-F5344CB8AC3E}">
        <p14:creationId xmlns:p14="http://schemas.microsoft.com/office/powerpoint/2010/main" val="3370858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云计算对企业广域互联的挑战</a:t>
            </a:r>
          </a:p>
        </p:txBody>
      </p:sp>
      <p:sp>
        <p:nvSpPr>
          <p:cNvPr id="3" name="Text Placeholder 2"/>
          <p:cNvSpPr>
            <a:spLocks noGrp="1"/>
          </p:cNvSpPr>
          <p:nvPr>
            <p:ph type="body" sz="quarter" idx="10"/>
          </p:nvPr>
        </p:nvSpPr>
        <p:spPr bwMode="gray"/>
        <p:txBody>
          <a:bodyPr/>
          <a:lstStyle/>
          <a:p>
            <a:r>
              <a:rPr lang="zh-CN" altLang="en-US" sz="1800" dirty="0"/>
              <a:t>云计算被广泛应用之前，网络应用数量总体较少。网络服务质量只需要依靠带宽，对于业务流量无需精细管理，互联网主要以网络为中心构建。</a:t>
            </a:r>
            <a:endParaRPr lang="en-US" altLang="zh-CN" sz="1800" dirty="0"/>
          </a:p>
          <a:p>
            <a:r>
              <a:rPr lang="zh-CN" altLang="en-US" sz="1800" dirty="0"/>
              <a:t>云计算时代的到来使得网络应用的数量大大增加，企业面对激增的流量，很难在线路价格和业务质量之间找到平衡点。</a:t>
            </a:r>
            <a:endParaRPr lang="en-US" altLang="zh-CN" sz="1800" dirty="0"/>
          </a:p>
        </p:txBody>
      </p:sp>
      <p:sp>
        <p:nvSpPr>
          <p:cNvPr id="5" name="Freeform 159"/>
          <p:cNvSpPr/>
          <p:nvPr/>
        </p:nvSpPr>
        <p:spPr bwMode="gray">
          <a:xfrm flipH="1">
            <a:off x="5526532" y="2795013"/>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6" name="Freeform 159"/>
          <p:cNvSpPr/>
          <p:nvPr/>
        </p:nvSpPr>
        <p:spPr bwMode="gray">
          <a:xfrm flipH="1">
            <a:off x="3709171" y="5330582"/>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7" name="图片 25"/>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5622013" y="3292862"/>
            <a:ext cx="466668" cy="385001"/>
          </a:xfrm>
          <a:prstGeom prst="rect">
            <a:avLst/>
          </a:prstGeom>
        </p:spPr>
      </p:pic>
      <p:sp>
        <p:nvSpPr>
          <p:cNvPr id="8" name="文本框 26"/>
          <p:cNvSpPr txBox="1"/>
          <p:nvPr/>
        </p:nvSpPr>
        <p:spPr bwMode="gray">
          <a:xfrm>
            <a:off x="5601525" y="2940424"/>
            <a:ext cx="942605" cy="307777"/>
          </a:xfrm>
          <a:prstGeom prst="rect">
            <a:avLst/>
          </a:prstGeom>
          <a:noFill/>
        </p:spPr>
        <p:txBody>
          <a:bodyPr wrap="square" rtlCol="0">
            <a:spAutoFit/>
          </a:bodyPr>
          <a:lstStyle/>
          <a:p>
            <a:pPr algn="ctr" fontAlgn="base">
              <a:spcBef>
                <a:spcPct val="0"/>
              </a:spcBef>
              <a:spcAft>
                <a:spcPct val="0"/>
              </a:spcAft>
            </a:pPr>
            <a:r>
              <a:rPr lang="zh-CN" altLang="en-US" sz="1400" dirty="0">
                <a:solidFill>
                  <a:srgbClr val="000000"/>
                </a:solidFill>
                <a:latin typeface="Huawei Sans" panose="020C0503030203020204" pitchFamily="34" charset="0"/>
                <a:ea typeface="方正兰亭黑简体" panose="02000000000000000000" pitchFamily="2" charset="-122"/>
              </a:rPr>
              <a:t>企业总部</a:t>
            </a:r>
          </a:p>
        </p:txBody>
      </p:sp>
      <p:pic>
        <p:nvPicPr>
          <p:cNvPr id="9" name="图片 27"/>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6110869" y="3289299"/>
            <a:ext cx="466668" cy="385001"/>
          </a:xfrm>
          <a:prstGeom prst="rect">
            <a:avLst/>
          </a:prstGeom>
        </p:spPr>
      </p:pic>
      <p:pic>
        <p:nvPicPr>
          <p:cNvPr id="12" name="图片 31"/>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3943985" y="5091476"/>
            <a:ext cx="466668" cy="385001"/>
          </a:xfrm>
          <a:prstGeom prst="rect">
            <a:avLst/>
          </a:prstGeom>
        </p:spPr>
      </p:pic>
      <p:sp>
        <p:nvSpPr>
          <p:cNvPr id="13" name="文本框 32"/>
          <p:cNvSpPr txBox="1"/>
          <p:nvPr/>
        </p:nvSpPr>
        <p:spPr bwMode="gray">
          <a:xfrm>
            <a:off x="3760039" y="5478631"/>
            <a:ext cx="801462" cy="276999"/>
          </a:xfrm>
          <a:prstGeom prst="rect">
            <a:avLst/>
          </a:prstGeom>
          <a:noFill/>
        </p:spPr>
        <p:txBody>
          <a:bodyPr wrap="square" rtlCol="0">
            <a:spAutoFit/>
          </a:bodyPr>
          <a:lstStyle/>
          <a:p>
            <a:pPr algn="ctr" fontAlgn="base">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cxnSp>
        <p:nvCxnSpPr>
          <p:cNvPr id="14" name="直接连接符 33"/>
          <p:cNvCxnSpPr>
            <a:stCxn id="12" idx="0"/>
            <a:endCxn id="16" idx="18"/>
          </p:cNvCxnSpPr>
          <p:nvPr/>
        </p:nvCxnSpPr>
        <p:spPr bwMode="gray">
          <a:xfrm flipV="1">
            <a:off x="4177319" y="4744357"/>
            <a:ext cx="1432665" cy="34496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Freeform 159"/>
          <p:cNvSpPr/>
          <p:nvPr/>
        </p:nvSpPr>
        <p:spPr bwMode="gray">
          <a:xfrm flipH="1">
            <a:off x="5412408" y="4032364"/>
            <a:ext cx="1362069" cy="71199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广域网</a:t>
            </a:r>
            <a:endParaRPr lang="en-US" sz="1400" dirty="0">
              <a:solidFill>
                <a:schemeClr val="tx1"/>
              </a:solidFill>
            </a:endParaRPr>
          </a:p>
        </p:txBody>
      </p:sp>
      <p:pic>
        <p:nvPicPr>
          <p:cNvPr id="21" name="图片 67"/>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623978" y="2601637"/>
            <a:ext cx="417163" cy="342074"/>
          </a:xfrm>
          <a:prstGeom prst="rect">
            <a:avLst/>
          </a:prstGeom>
        </p:spPr>
      </p:pic>
      <p:pic>
        <p:nvPicPr>
          <p:cNvPr id="22" name="图片 51" descr="交换机.png"/>
          <p:cNvPicPr>
            <a:picLocks noChangeAspect="1"/>
          </p:cNvPicPr>
          <p:nvPr/>
        </p:nvPicPr>
        <p:blipFill>
          <a:blip r:embed="rId6" cstate="print"/>
          <a:stretch>
            <a:fillRect/>
          </a:stretch>
        </p:blipFill>
        <p:spPr bwMode="gray">
          <a:xfrm>
            <a:off x="3943985" y="5707177"/>
            <a:ext cx="417163" cy="341314"/>
          </a:xfrm>
          <a:prstGeom prst="rect">
            <a:avLst/>
          </a:prstGeom>
        </p:spPr>
      </p:pic>
      <p:pic>
        <p:nvPicPr>
          <p:cNvPr id="23" name="图片 14" descr="交换机.png"/>
          <p:cNvPicPr>
            <a:picLocks noChangeAspect="1"/>
          </p:cNvPicPr>
          <p:nvPr/>
        </p:nvPicPr>
        <p:blipFill>
          <a:blip r:embed="rId7" cstate="print"/>
          <a:stretch>
            <a:fillRect/>
          </a:stretch>
        </p:blipFill>
        <p:spPr bwMode="gray">
          <a:xfrm>
            <a:off x="6110869" y="2594256"/>
            <a:ext cx="420077" cy="343698"/>
          </a:xfrm>
          <a:prstGeom prst="rect">
            <a:avLst/>
          </a:prstGeom>
        </p:spPr>
      </p:pic>
      <p:sp>
        <p:nvSpPr>
          <p:cNvPr id="24" name="Freeform 159"/>
          <p:cNvSpPr/>
          <p:nvPr/>
        </p:nvSpPr>
        <p:spPr bwMode="gray">
          <a:xfrm flipH="1">
            <a:off x="5642721" y="5342809"/>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25" name="图片 31"/>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5877535" y="5103703"/>
            <a:ext cx="466668" cy="385001"/>
          </a:xfrm>
          <a:prstGeom prst="rect">
            <a:avLst/>
          </a:prstGeom>
        </p:spPr>
      </p:pic>
      <p:sp>
        <p:nvSpPr>
          <p:cNvPr id="26" name="文本框 32"/>
          <p:cNvSpPr txBox="1"/>
          <p:nvPr/>
        </p:nvSpPr>
        <p:spPr bwMode="gray">
          <a:xfrm>
            <a:off x="5693589" y="5490858"/>
            <a:ext cx="801462" cy="276999"/>
          </a:xfrm>
          <a:prstGeom prst="rect">
            <a:avLst/>
          </a:prstGeom>
          <a:noFill/>
        </p:spPr>
        <p:txBody>
          <a:bodyPr wrap="square" rtlCol="0">
            <a:spAutoFit/>
          </a:bodyPr>
          <a:lstStyle/>
          <a:p>
            <a:pPr algn="ctr" fontAlgn="base">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27" name="图片 51" descr="交换机.png"/>
          <p:cNvPicPr>
            <a:picLocks noChangeAspect="1"/>
          </p:cNvPicPr>
          <p:nvPr/>
        </p:nvPicPr>
        <p:blipFill>
          <a:blip r:embed="rId6" cstate="print"/>
          <a:stretch>
            <a:fillRect/>
          </a:stretch>
        </p:blipFill>
        <p:spPr bwMode="gray">
          <a:xfrm>
            <a:off x="5877535" y="5719404"/>
            <a:ext cx="417163" cy="341314"/>
          </a:xfrm>
          <a:prstGeom prst="rect">
            <a:avLst/>
          </a:prstGeom>
        </p:spPr>
      </p:pic>
      <p:sp>
        <p:nvSpPr>
          <p:cNvPr id="33" name="Freeform 159"/>
          <p:cNvSpPr/>
          <p:nvPr/>
        </p:nvSpPr>
        <p:spPr bwMode="gray">
          <a:xfrm flipH="1">
            <a:off x="7369417" y="5330582"/>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34" name="图片 31"/>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7604231" y="5091476"/>
            <a:ext cx="466668" cy="385001"/>
          </a:xfrm>
          <a:prstGeom prst="rect">
            <a:avLst/>
          </a:prstGeom>
        </p:spPr>
      </p:pic>
      <p:sp>
        <p:nvSpPr>
          <p:cNvPr id="35" name="文本框 32"/>
          <p:cNvSpPr txBox="1"/>
          <p:nvPr/>
        </p:nvSpPr>
        <p:spPr bwMode="gray">
          <a:xfrm>
            <a:off x="7420285" y="5478631"/>
            <a:ext cx="801462" cy="276999"/>
          </a:xfrm>
          <a:prstGeom prst="rect">
            <a:avLst/>
          </a:prstGeom>
          <a:noFill/>
        </p:spPr>
        <p:txBody>
          <a:bodyPr wrap="square" rtlCol="0">
            <a:spAutoFit/>
          </a:bodyPr>
          <a:lstStyle/>
          <a:p>
            <a:pPr algn="ctr" fontAlgn="base">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36" name="图片 51" descr="交换机.png"/>
          <p:cNvPicPr>
            <a:picLocks noChangeAspect="1"/>
          </p:cNvPicPr>
          <p:nvPr/>
        </p:nvPicPr>
        <p:blipFill>
          <a:blip r:embed="rId6" cstate="print"/>
          <a:stretch>
            <a:fillRect/>
          </a:stretch>
        </p:blipFill>
        <p:spPr bwMode="gray">
          <a:xfrm>
            <a:off x="7604231" y="5707177"/>
            <a:ext cx="417163" cy="341314"/>
          </a:xfrm>
          <a:prstGeom prst="rect">
            <a:avLst/>
          </a:prstGeom>
        </p:spPr>
      </p:pic>
      <p:cxnSp>
        <p:nvCxnSpPr>
          <p:cNvPr id="37" name="直接连接符 33"/>
          <p:cNvCxnSpPr>
            <a:stCxn id="25" idx="0"/>
          </p:cNvCxnSpPr>
          <p:nvPr/>
        </p:nvCxnSpPr>
        <p:spPr bwMode="gray">
          <a:xfrm flipV="1">
            <a:off x="6110869" y="4744357"/>
            <a:ext cx="0" cy="35719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3"/>
          <p:cNvCxnSpPr>
            <a:stCxn id="34" idx="0"/>
            <a:endCxn id="16" idx="9"/>
          </p:cNvCxnSpPr>
          <p:nvPr/>
        </p:nvCxnSpPr>
        <p:spPr bwMode="gray">
          <a:xfrm flipH="1" flipV="1">
            <a:off x="6573562" y="4743192"/>
            <a:ext cx="1264003" cy="34613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33"/>
          <p:cNvCxnSpPr>
            <a:endCxn id="7" idx="2"/>
          </p:cNvCxnSpPr>
          <p:nvPr/>
        </p:nvCxnSpPr>
        <p:spPr bwMode="gray">
          <a:xfrm flipH="1" flipV="1">
            <a:off x="5855347" y="3680017"/>
            <a:ext cx="0" cy="35234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接连接符 33"/>
          <p:cNvCxnSpPr>
            <a:endCxn id="9" idx="2"/>
          </p:cNvCxnSpPr>
          <p:nvPr/>
        </p:nvCxnSpPr>
        <p:spPr bwMode="gray">
          <a:xfrm flipV="1">
            <a:off x="6344203" y="3676454"/>
            <a:ext cx="0" cy="43200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Freeform 9"/>
          <p:cNvSpPr>
            <a:spLocks/>
          </p:cNvSpPr>
          <p:nvPr/>
        </p:nvSpPr>
        <p:spPr bwMode="gray">
          <a:xfrm>
            <a:off x="3939526" y="3658271"/>
            <a:ext cx="1944024" cy="1431052"/>
          </a:xfrm>
          <a:custGeom>
            <a:avLst/>
            <a:gdLst>
              <a:gd name="T0" fmla="*/ 30278 w 32079"/>
              <a:gd name="T1" fmla="*/ 4424 h 15622"/>
              <a:gd name="T2" fmla="*/ 2783 w 32079"/>
              <a:gd name="T3" fmla="*/ 15622 h 15622"/>
              <a:gd name="T4" fmla="*/ 0 w 32079"/>
              <a:gd name="T5" fmla="*/ 15523 h 15622"/>
              <a:gd name="T6" fmla="*/ 26897 w 32079"/>
              <a:gd name="T7" fmla="*/ 2112 h 15622"/>
              <a:gd name="T8" fmla="*/ 25060 w 32079"/>
              <a:gd name="T9" fmla="*/ 856 h 15622"/>
              <a:gd name="T10" fmla="*/ 27928 w 32079"/>
              <a:gd name="T11" fmla="*/ 428 h 15622"/>
              <a:gd name="T12" fmla="*/ 30796 w 32079"/>
              <a:gd name="T13" fmla="*/ 0 h 15622"/>
              <a:gd name="T14" fmla="*/ 31438 w 32079"/>
              <a:gd name="T15" fmla="*/ 2828 h 15622"/>
              <a:gd name="T16" fmla="*/ 32079 w 32079"/>
              <a:gd name="T17" fmla="*/ 5656 h 15622"/>
              <a:gd name="T18" fmla="*/ 30278 w 32079"/>
              <a:gd name="T19" fmla="*/ 4424 h 15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079" h="15622">
                <a:moveTo>
                  <a:pt x="30278" y="4424"/>
                </a:moveTo>
                <a:cubicBezTo>
                  <a:pt x="23182" y="11352"/>
                  <a:pt x="13481" y="15622"/>
                  <a:pt x="2783" y="15622"/>
                </a:cubicBezTo>
                <a:cubicBezTo>
                  <a:pt x="1847" y="15622"/>
                  <a:pt x="920" y="15587"/>
                  <a:pt x="0" y="15523"/>
                </a:cubicBezTo>
                <a:cubicBezTo>
                  <a:pt x="10716" y="14774"/>
                  <a:pt x="20250" y="9734"/>
                  <a:pt x="26897" y="2112"/>
                </a:cubicBezTo>
                <a:lnTo>
                  <a:pt x="25060" y="856"/>
                </a:lnTo>
                <a:lnTo>
                  <a:pt x="27928" y="428"/>
                </a:lnTo>
                <a:lnTo>
                  <a:pt x="30796" y="0"/>
                </a:lnTo>
                <a:lnTo>
                  <a:pt x="31438" y="2828"/>
                </a:lnTo>
                <a:lnTo>
                  <a:pt x="32079" y="5656"/>
                </a:lnTo>
                <a:lnTo>
                  <a:pt x="30278" y="4424"/>
                </a:lnTo>
                <a:close/>
              </a:path>
            </a:pathLst>
          </a:custGeom>
          <a:gradFill>
            <a:gsLst>
              <a:gs pos="0">
                <a:schemeClr val="bg1">
                  <a:alpha val="50000"/>
                </a:schemeClr>
              </a:gs>
              <a:gs pos="100000">
                <a:srgbClr val="BEE9EE"/>
              </a:gs>
            </a:gsLst>
            <a:lin ang="16200000" scaled="0"/>
          </a:gradFill>
          <a:ln w="15875" cap="flat" cmpd="sng">
            <a:solidFill>
              <a:srgbClr val="56C4D2"/>
            </a:solidFill>
          </a:ln>
        </p:spPr>
        <p:txBody>
          <a:bodyPr vert="horz" wrap="square" lIns="68580" tIns="34290" rIns="68580" bIns="34290" numCol="1" anchor="t" anchorCtr="0" compatLnSpc="1">
            <a:prstTxWarp prst="textNoShape">
              <a:avLst/>
            </a:prstTxWarp>
          </a:bodyPr>
          <a:lstStyle/>
          <a:p>
            <a:endParaRPr lang="zh-CN" altLang="en-US">
              <a:cs typeface="+mn-ea"/>
              <a:sym typeface="Huawei Sans" panose="020C0503030203020204" pitchFamily="34" charset="0"/>
            </a:endParaRPr>
          </a:p>
        </p:txBody>
      </p:sp>
      <p:sp>
        <p:nvSpPr>
          <p:cNvPr id="62" name="Freeform 9"/>
          <p:cNvSpPr>
            <a:spLocks/>
          </p:cNvSpPr>
          <p:nvPr/>
        </p:nvSpPr>
        <p:spPr bwMode="gray">
          <a:xfrm flipH="1">
            <a:off x="6240016" y="3664786"/>
            <a:ext cx="1944024" cy="1431052"/>
          </a:xfrm>
          <a:custGeom>
            <a:avLst/>
            <a:gdLst>
              <a:gd name="T0" fmla="*/ 30278 w 32079"/>
              <a:gd name="T1" fmla="*/ 4424 h 15622"/>
              <a:gd name="T2" fmla="*/ 2783 w 32079"/>
              <a:gd name="T3" fmla="*/ 15622 h 15622"/>
              <a:gd name="T4" fmla="*/ 0 w 32079"/>
              <a:gd name="T5" fmla="*/ 15523 h 15622"/>
              <a:gd name="T6" fmla="*/ 26897 w 32079"/>
              <a:gd name="T7" fmla="*/ 2112 h 15622"/>
              <a:gd name="T8" fmla="*/ 25060 w 32079"/>
              <a:gd name="T9" fmla="*/ 856 h 15622"/>
              <a:gd name="T10" fmla="*/ 27928 w 32079"/>
              <a:gd name="T11" fmla="*/ 428 h 15622"/>
              <a:gd name="T12" fmla="*/ 30796 w 32079"/>
              <a:gd name="T13" fmla="*/ 0 h 15622"/>
              <a:gd name="T14" fmla="*/ 31438 w 32079"/>
              <a:gd name="T15" fmla="*/ 2828 h 15622"/>
              <a:gd name="T16" fmla="*/ 32079 w 32079"/>
              <a:gd name="T17" fmla="*/ 5656 h 15622"/>
              <a:gd name="T18" fmla="*/ 30278 w 32079"/>
              <a:gd name="T19" fmla="*/ 4424 h 15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079" h="15622">
                <a:moveTo>
                  <a:pt x="30278" y="4424"/>
                </a:moveTo>
                <a:cubicBezTo>
                  <a:pt x="23182" y="11352"/>
                  <a:pt x="13481" y="15622"/>
                  <a:pt x="2783" y="15622"/>
                </a:cubicBezTo>
                <a:cubicBezTo>
                  <a:pt x="1847" y="15622"/>
                  <a:pt x="920" y="15587"/>
                  <a:pt x="0" y="15523"/>
                </a:cubicBezTo>
                <a:cubicBezTo>
                  <a:pt x="10716" y="14774"/>
                  <a:pt x="20250" y="9734"/>
                  <a:pt x="26897" y="2112"/>
                </a:cubicBezTo>
                <a:lnTo>
                  <a:pt x="25060" y="856"/>
                </a:lnTo>
                <a:lnTo>
                  <a:pt x="27928" y="428"/>
                </a:lnTo>
                <a:lnTo>
                  <a:pt x="30796" y="0"/>
                </a:lnTo>
                <a:lnTo>
                  <a:pt x="31438" y="2828"/>
                </a:lnTo>
                <a:lnTo>
                  <a:pt x="32079" y="5656"/>
                </a:lnTo>
                <a:lnTo>
                  <a:pt x="30278" y="4424"/>
                </a:lnTo>
                <a:close/>
              </a:path>
            </a:pathLst>
          </a:custGeom>
          <a:gradFill>
            <a:gsLst>
              <a:gs pos="0">
                <a:schemeClr val="bg1">
                  <a:alpha val="50000"/>
                </a:schemeClr>
              </a:gs>
              <a:gs pos="100000">
                <a:srgbClr val="BEE9EE"/>
              </a:gs>
            </a:gsLst>
            <a:lin ang="16200000" scaled="0"/>
          </a:gradFill>
          <a:ln w="15875" cap="flat" cmpd="sng">
            <a:solidFill>
              <a:srgbClr val="56C4D2"/>
            </a:solidFill>
          </a:ln>
        </p:spPr>
        <p:txBody>
          <a:bodyPr vert="horz" wrap="square" lIns="68580" tIns="34290" rIns="68580" bIns="34290" numCol="1" anchor="t" anchorCtr="0" compatLnSpc="1">
            <a:prstTxWarp prst="textNoShape">
              <a:avLst/>
            </a:prstTxWarp>
          </a:bodyPr>
          <a:lstStyle/>
          <a:p>
            <a:endParaRPr lang="zh-CN" altLang="en-US">
              <a:cs typeface="+mn-ea"/>
              <a:sym typeface="Huawei Sans" panose="020C0503030203020204" pitchFamily="34" charset="0"/>
            </a:endParaRPr>
          </a:p>
        </p:txBody>
      </p:sp>
      <p:sp>
        <p:nvSpPr>
          <p:cNvPr id="63" name="Right Arrow 157"/>
          <p:cNvSpPr/>
          <p:nvPr/>
        </p:nvSpPr>
        <p:spPr bwMode="gray">
          <a:xfrm rot="16200000">
            <a:off x="5406491" y="4127533"/>
            <a:ext cx="1359250" cy="534981"/>
          </a:xfrm>
          <a:prstGeom prst="rightArrow">
            <a:avLst>
              <a:gd name="adj1" fmla="val 40000"/>
              <a:gd name="adj2" fmla="val 50000"/>
            </a:avLst>
          </a:prstGeom>
          <a:gradFill>
            <a:gsLst>
              <a:gs pos="0">
                <a:schemeClr val="bg1">
                  <a:alpha val="50000"/>
                </a:schemeClr>
              </a:gs>
              <a:gs pos="100000">
                <a:srgbClr val="BEE9EE"/>
              </a:gs>
            </a:gsLst>
            <a:lin ang="16200000" scaled="0"/>
          </a:gradFill>
          <a:ln w="15875" cap="flat" cmpd="sng">
            <a:solidFill>
              <a:srgbClr val="56C4D2"/>
            </a:solidFill>
          </a:ln>
        </p:spPr>
        <p:txBody>
          <a:bodyPr vert="horz" wrap="square" lIns="68580" tIns="34290" rIns="68580" bIns="34290" numCol="1" anchor="t" anchorCtr="0" compatLnSpc="1">
            <a:prstTxWarp prst="textNoShape">
              <a:avLst/>
            </a:prstTxWarp>
          </a:bodyPr>
          <a:lstStyle/>
          <a:p>
            <a:endParaRPr lang="zh-CN" altLang="en-US">
              <a:solidFill>
                <a:schemeClr val="tx1"/>
              </a:solidFill>
              <a:cs typeface="+mn-ea"/>
              <a:sym typeface="Huawei Sans" panose="020C0503030203020204" pitchFamily="34" charset="0"/>
            </a:endParaRPr>
          </a:p>
        </p:txBody>
      </p:sp>
      <p:sp>
        <p:nvSpPr>
          <p:cNvPr id="78" name="videocall_243283"/>
          <p:cNvSpPr>
            <a:spLocks noChangeAspect="1"/>
          </p:cNvSpPr>
          <p:nvPr/>
        </p:nvSpPr>
        <p:spPr bwMode="gray">
          <a:xfrm>
            <a:off x="8511169" y="5177962"/>
            <a:ext cx="412764" cy="329693"/>
          </a:xfrm>
          <a:custGeom>
            <a:avLst/>
            <a:gdLst>
              <a:gd name="connsiteX0" fmla="*/ 273424 w 607639"/>
              <a:gd name="connsiteY0" fmla="*/ 394341 h 485349"/>
              <a:gd name="connsiteX1" fmla="*/ 273424 w 607639"/>
              <a:gd name="connsiteY1" fmla="*/ 455043 h 485349"/>
              <a:gd name="connsiteX2" fmla="*/ 334215 w 607639"/>
              <a:gd name="connsiteY2" fmla="*/ 455043 h 485349"/>
              <a:gd name="connsiteX3" fmla="*/ 334215 w 607639"/>
              <a:gd name="connsiteY3" fmla="*/ 394341 h 485349"/>
              <a:gd name="connsiteX4" fmla="*/ 243091 w 607639"/>
              <a:gd name="connsiteY4" fmla="*/ 242604 h 485349"/>
              <a:gd name="connsiteX5" fmla="*/ 303749 w 607639"/>
              <a:gd name="connsiteY5" fmla="*/ 242604 h 485349"/>
              <a:gd name="connsiteX6" fmla="*/ 303775 w 607639"/>
              <a:gd name="connsiteY6" fmla="*/ 242604 h 485349"/>
              <a:gd name="connsiteX7" fmla="*/ 364548 w 607639"/>
              <a:gd name="connsiteY7" fmla="*/ 242604 h 485349"/>
              <a:gd name="connsiteX8" fmla="*/ 394445 w 607639"/>
              <a:gd name="connsiteY8" fmla="*/ 267584 h 485349"/>
              <a:gd name="connsiteX9" fmla="*/ 406457 w 607639"/>
              <a:gd name="connsiteY9" fmla="*/ 333633 h 485349"/>
              <a:gd name="connsiteX10" fmla="*/ 375581 w 607639"/>
              <a:gd name="connsiteY10" fmla="*/ 333633 h 485349"/>
              <a:gd name="connsiteX11" fmla="*/ 364548 w 607639"/>
              <a:gd name="connsiteY11" fmla="*/ 273007 h 485349"/>
              <a:gd name="connsiteX12" fmla="*/ 318990 w 607639"/>
              <a:gd name="connsiteY12" fmla="*/ 273007 h 485349"/>
              <a:gd name="connsiteX13" fmla="*/ 318990 w 607639"/>
              <a:gd name="connsiteY13" fmla="*/ 333633 h 485349"/>
              <a:gd name="connsiteX14" fmla="*/ 288649 w 607639"/>
              <a:gd name="connsiteY14" fmla="*/ 333633 h 485349"/>
              <a:gd name="connsiteX15" fmla="*/ 288649 w 607639"/>
              <a:gd name="connsiteY15" fmla="*/ 273007 h 485349"/>
              <a:gd name="connsiteX16" fmla="*/ 243091 w 607639"/>
              <a:gd name="connsiteY16" fmla="*/ 273007 h 485349"/>
              <a:gd name="connsiteX17" fmla="*/ 232058 w 607639"/>
              <a:gd name="connsiteY17" fmla="*/ 333633 h 485349"/>
              <a:gd name="connsiteX18" fmla="*/ 201182 w 607639"/>
              <a:gd name="connsiteY18" fmla="*/ 333633 h 485349"/>
              <a:gd name="connsiteX19" fmla="*/ 213194 w 607639"/>
              <a:gd name="connsiteY19" fmla="*/ 267584 h 485349"/>
              <a:gd name="connsiteX20" fmla="*/ 243091 w 607639"/>
              <a:gd name="connsiteY20" fmla="*/ 242604 h 485349"/>
              <a:gd name="connsiteX21" fmla="*/ 303749 w 607639"/>
              <a:gd name="connsiteY21" fmla="*/ 91006 h 485349"/>
              <a:gd name="connsiteX22" fmla="*/ 243052 w 607639"/>
              <a:gd name="connsiteY22" fmla="*/ 151610 h 485349"/>
              <a:gd name="connsiteX23" fmla="*/ 303749 w 607639"/>
              <a:gd name="connsiteY23" fmla="*/ 212302 h 485349"/>
              <a:gd name="connsiteX24" fmla="*/ 364536 w 607639"/>
              <a:gd name="connsiteY24" fmla="*/ 151610 h 485349"/>
              <a:gd name="connsiteX25" fmla="*/ 303749 w 607639"/>
              <a:gd name="connsiteY25" fmla="*/ 91006 h 485349"/>
              <a:gd name="connsiteX26" fmla="*/ 303749 w 607639"/>
              <a:gd name="connsiteY26" fmla="*/ 60616 h 485349"/>
              <a:gd name="connsiteX27" fmla="*/ 394885 w 607639"/>
              <a:gd name="connsiteY27" fmla="*/ 151610 h 485349"/>
              <a:gd name="connsiteX28" fmla="*/ 303749 w 607639"/>
              <a:gd name="connsiteY28" fmla="*/ 242604 h 485349"/>
              <a:gd name="connsiteX29" fmla="*/ 212614 w 607639"/>
              <a:gd name="connsiteY29" fmla="*/ 151610 h 485349"/>
              <a:gd name="connsiteX30" fmla="*/ 303749 w 607639"/>
              <a:gd name="connsiteY30" fmla="*/ 60616 h 485349"/>
              <a:gd name="connsiteX31" fmla="*/ 30351 w 607639"/>
              <a:gd name="connsiteY31" fmla="*/ 30306 h 485349"/>
              <a:gd name="connsiteX32" fmla="*/ 30351 w 607639"/>
              <a:gd name="connsiteY32" fmla="*/ 364034 h 485349"/>
              <a:gd name="connsiteX33" fmla="*/ 577199 w 607639"/>
              <a:gd name="connsiteY33" fmla="*/ 364034 h 485349"/>
              <a:gd name="connsiteX34" fmla="*/ 577199 w 607639"/>
              <a:gd name="connsiteY34" fmla="*/ 30306 h 485349"/>
              <a:gd name="connsiteX35" fmla="*/ 30351 w 607639"/>
              <a:gd name="connsiteY35" fmla="*/ 0 h 485349"/>
              <a:gd name="connsiteX36" fmla="*/ 577199 w 607639"/>
              <a:gd name="connsiteY36" fmla="*/ 0 h 485349"/>
              <a:gd name="connsiteX37" fmla="*/ 607639 w 607639"/>
              <a:gd name="connsiteY37" fmla="*/ 30306 h 485349"/>
              <a:gd name="connsiteX38" fmla="*/ 607639 w 607639"/>
              <a:gd name="connsiteY38" fmla="*/ 364034 h 485349"/>
              <a:gd name="connsiteX39" fmla="*/ 577199 w 607639"/>
              <a:gd name="connsiteY39" fmla="*/ 394341 h 485349"/>
              <a:gd name="connsiteX40" fmla="*/ 364566 w 607639"/>
              <a:gd name="connsiteY40" fmla="*/ 394341 h 485349"/>
              <a:gd name="connsiteX41" fmla="*/ 364566 w 607639"/>
              <a:gd name="connsiteY41" fmla="*/ 455043 h 485349"/>
              <a:gd name="connsiteX42" fmla="*/ 486058 w 607639"/>
              <a:gd name="connsiteY42" fmla="*/ 455043 h 485349"/>
              <a:gd name="connsiteX43" fmla="*/ 501278 w 607639"/>
              <a:gd name="connsiteY43" fmla="*/ 470152 h 485349"/>
              <a:gd name="connsiteX44" fmla="*/ 486058 w 607639"/>
              <a:gd name="connsiteY44" fmla="*/ 485349 h 485349"/>
              <a:gd name="connsiteX45" fmla="*/ 121492 w 607639"/>
              <a:gd name="connsiteY45" fmla="*/ 485349 h 485349"/>
              <a:gd name="connsiteX46" fmla="*/ 106361 w 607639"/>
              <a:gd name="connsiteY46" fmla="*/ 470152 h 485349"/>
              <a:gd name="connsiteX47" fmla="*/ 121492 w 607639"/>
              <a:gd name="connsiteY47" fmla="*/ 455043 h 485349"/>
              <a:gd name="connsiteX48" fmla="*/ 243073 w 607639"/>
              <a:gd name="connsiteY48" fmla="*/ 455043 h 485349"/>
              <a:gd name="connsiteX49" fmla="*/ 243073 w 607639"/>
              <a:gd name="connsiteY49" fmla="*/ 394341 h 485349"/>
              <a:gd name="connsiteX50" fmla="*/ 30351 w 607639"/>
              <a:gd name="connsiteY50" fmla="*/ 394341 h 485349"/>
              <a:gd name="connsiteX51" fmla="*/ 0 w 607639"/>
              <a:gd name="connsiteY51" fmla="*/ 364034 h 485349"/>
              <a:gd name="connsiteX52" fmla="*/ 0 w 607639"/>
              <a:gd name="connsiteY52" fmla="*/ 30306 h 485349"/>
              <a:gd name="connsiteX53" fmla="*/ 30351 w 607639"/>
              <a:gd name="connsiteY53" fmla="*/ 0 h 48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07639" h="485349">
                <a:moveTo>
                  <a:pt x="273424" y="394341"/>
                </a:moveTo>
                <a:lnTo>
                  <a:pt x="273424" y="455043"/>
                </a:lnTo>
                <a:lnTo>
                  <a:pt x="334215" y="455043"/>
                </a:lnTo>
                <a:lnTo>
                  <a:pt x="334215" y="394341"/>
                </a:lnTo>
                <a:close/>
                <a:moveTo>
                  <a:pt x="243091" y="242604"/>
                </a:moveTo>
                <a:lnTo>
                  <a:pt x="303749" y="242604"/>
                </a:lnTo>
                <a:lnTo>
                  <a:pt x="303775" y="242604"/>
                </a:lnTo>
                <a:lnTo>
                  <a:pt x="364548" y="242604"/>
                </a:lnTo>
                <a:cubicBezTo>
                  <a:pt x="379229" y="242604"/>
                  <a:pt x="391775" y="253094"/>
                  <a:pt x="394445" y="267584"/>
                </a:cubicBezTo>
                <a:lnTo>
                  <a:pt x="406457" y="333633"/>
                </a:lnTo>
                <a:lnTo>
                  <a:pt x="375581" y="333633"/>
                </a:lnTo>
                <a:lnTo>
                  <a:pt x="364548" y="273007"/>
                </a:lnTo>
                <a:lnTo>
                  <a:pt x="318990" y="273007"/>
                </a:lnTo>
                <a:lnTo>
                  <a:pt x="318990" y="333633"/>
                </a:lnTo>
                <a:lnTo>
                  <a:pt x="288649" y="333633"/>
                </a:lnTo>
                <a:lnTo>
                  <a:pt x="288649" y="273007"/>
                </a:lnTo>
                <a:lnTo>
                  <a:pt x="243091" y="273007"/>
                </a:lnTo>
                <a:lnTo>
                  <a:pt x="232058" y="333633"/>
                </a:lnTo>
                <a:lnTo>
                  <a:pt x="201182" y="333633"/>
                </a:lnTo>
                <a:lnTo>
                  <a:pt x="213194" y="267584"/>
                </a:lnTo>
                <a:cubicBezTo>
                  <a:pt x="215775" y="253094"/>
                  <a:pt x="228410" y="242604"/>
                  <a:pt x="243091" y="242604"/>
                </a:cubicBezTo>
                <a:close/>
                <a:moveTo>
                  <a:pt x="303749" y="91006"/>
                </a:moveTo>
                <a:cubicBezTo>
                  <a:pt x="270197" y="91006"/>
                  <a:pt x="243052" y="118109"/>
                  <a:pt x="243052" y="151610"/>
                </a:cubicBezTo>
                <a:cubicBezTo>
                  <a:pt x="243052" y="185110"/>
                  <a:pt x="270197" y="212302"/>
                  <a:pt x="303749" y="212302"/>
                </a:cubicBezTo>
                <a:cubicBezTo>
                  <a:pt x="337302" y="212302"/>
                  <a:pt x="364536" y="185110"/>
                  <a:pt x="364536" y="151610"/>
                </a:cubicBezTo>
                <a:cubicBezTo>
                  <a:pt x="364536" y="118109"/>
                  <a:pt x="337302" y="91006"/>
                  <a:pt x="303749" y="91006"/>
                </a:cubicBezTo>
                <a:close/>
                <a:moveTo>
                  <a:pt x="303749" y="60616"/>
                </a:moveTo>
                <a:cubicBezTo>
                  <a:pt x="354034" y="60616"/>
                  <a:pt x="394885" y="101492"/>
                  <a:pt x="394885" y="151610"/>
                </a:cubicBezTo>
                <a:cubicBezTo>
                  <a:pt x="394885" y="201816"/>
                  <a:pt x="354034" y="242604"/>
                  <a:pt x="303749" y="242604"/>
                </a:cubicBezTo>
                <a:cubicBezTo>
                  <a:pt x="253554" y="242604"/>
                  <a:pt x="212614" y="201816"/>
                  <a:pt x="212614" y="151610"/>
                </a:cubicBezTo>
                <a:cubicBezTo>
                  <a:pt x="212614" y="101492"/>
                  <a:pt x="253554" y="60616"/>
                  <a:pt x="303749" y="60616"/>
                </a:cubicBezTo>
                <a:close/>
                <a:moveTo>
                  <a:pt x="30351" y="30306"/>
                </a:moveTo>
                <a:lnTo>
                  <a:pt x="30351" y="364034"/>
                </a:lnTo>
                <a:lnTo>
                  <a:pt x="577199" y="364034"/>
                </a:lnTo>
                <a:lnTo>
                  <a:pt x="577199" y="30306"/>
                </a:lnTo>
                <a:close/>
                <a:moveTo>
                  <a:pt x="30351" y="0"/>
                </a:moveTo>
                <a:lnTo>
                  <a:pt x="577199" y="0"/>
                </a:lnTo>
                <a:cubicBezTo>
                  <a:pt x="594021" y="0"/>
                  <a:pt x="607639" y="13509"/>
                  <a:pt x="607639" y="30306"/>
                </a:cubicBezTo>
                <a:lnTo>
                  <a:pt x="607639" y="364034"/>
                </a:lnTo>
                <a:cubicBezTo>
                  <a:pt x="607639" y="380743"/>
                  <a:pt x="594021" y="394341"/>
                  <a:pt x="577199" y="394341"/>
                </a:cubicBezTo>
                <a:lnTo>
                  <a:pt x="364566" y="394341"/>
                </a:lnTo>
                <a:lnTo>
                  <a:pt x="364566" y="455043"/>
                </a:lnTo>
                <a:lnTo>
                  <a:pt x="486058" y="455043"/>
                </a:lnTo>
                <a:cubicBezTo>
                  <a:pt x="494513" y="455043"/>
                  <a:pt x="501278" y="461797"/>
                  <a:pt x="501278" y="470152"/>
                </a:cubicBezTo>
                <a:cubicBezTo>
                  <a:pt x="501278" y="478595"/>
                  <a:pt x="494513" y="485349"/>
                  <a:pt x="486058" y="485349"/>
                </a:cubicBezTo>
                <a:lnTo>
                  <a:pt x="121492" y="485349"/>
                </a:lnTo>
                <a:cubicBezTo>
                  <a:pt x="113126" y="485349"/>
                  <a:pt x="106361" y="478595"/>
                  <a:pt x="106361" y="470152"/>
                </a:cubicBezTo>
                <a:cubicBezTo>
                  <a:pt x="106361" y="461797"/>
                  <a:pt x="113126" y="455043"/>
                  <a:pt x="121492" y="455043"/>
                </a:cubicBezTo>
                <a:lnTo>
                  <a:pt x="243073" y="455043"/>
                </a:lnTo>
                <a:lnTo>
                  <a:pt x="243073" y="394341"/>
                </a:lnTo>
                <a:lnTo>
                  <a:pt x="30351" y="394341"/>
                </a:lnTo>
                <a:cubicBezTo>
                  <a:pt x="13618" y="394341"/>
                  <a:pt x="0" y="380743"/>
                  <a:pt x="0" y="364034"/>
                </a:cubicBezTo>
                <a:lnTo>
                  <a:pt x="0" y="30306"/>
                </a:lnTo>
                <a:cubicBezTo>
                  <a:pt x="0" y="13509"/>
                  <a:pt x="13618" y="0"/>
                  <a:pt x="30351" y="0"/>
                </a:cubicBezTo>
                <a:close/>
              </a:path>
            </a:pathLst>
          </a:custGeom>
          <a:solidFill>
            <a:srgbClr val="56C4D2"/>
          </a:solidFill>
          <a:ln>
            <a:solidFill>
              <a:srgbClr val="56C4D2"/>
            </a:solidFill>
          </a:ln>
        </p:spPr>
        <p:txBody>
          <a:bodyPr/>
          <a:lstStyle/>
          <a:p>
            <a:endParaRPr lang="zh-CN" altLang="en-US"/>
          </a:p>
        </p:txBody>
      </p:sp>
      <p:sp>
        <p:nvSpPr>
          <p:cNvPr id="79" name="security-camera_139839"/>
          <p:cNvSpPr>
            <a:spLocks noChangeAspect="1"/>
          </p:cNvSpPr>
          <p:nvPr/>
        </p:nvSpPr>
        <p:spPr bwMode="gray">
          <a:xfrm>
            <a:off x="8511170" y="5593194"/>
            <a:ext cx="412763" cy="377173"/>
          </a:xfrm>
          <a:custGeom>
            <a:avLst/>
            <a:gdLst>
              <a:gd name="connsiteX0" fmla="*/ 442802 w 597745"/>
              <a:gd name="connsiteY0" fmla="*/ 444551 h 546206"/>
              <a:gd name="connsiteX1" fmla="*/ 444321 w 597745"/>
              <a:gd name="connsiteY1" fmla="*/ 453655 h 546206"/>
              <a:gd name="connsiteX2" fmla="*/ 445081 w 597745"/>
              <a:gd name="connsiteY2" fmla="*/ 455172 h 546206"/>
              <a:gd name="connsiteX3" fmla="*/ 445840 w 597745"/>
              <a:gd name="connsiteY3" fmla="*/ 464275 h 546206"/>
              <a:gd name="connsiteX4" fmla="*/ 445081 w 597745"/>
              <a:gd name="connsiteY4" fmla="*/ 474137 h 546206"/>
              <a:gd name="connsiteX5" fmla="*/ 444321 w 597745"/>
              <a:gd name="connsiteY5" fmla="*/ 475655 h 546206"/>
              <a:gd name="connsiteX6" fmla="*/ 442802 w 597745"/>
              <a:gd name="connsiteY6" fmla="*/ 484758 h 546206"/>
              <a:gd name="connsiteX7" fmla="*/ 516476 w 597745"/>
              <a:gd name="connsiteY7" fmla="*/ 484758 h 546206"/>
              <a:gd name="connsiteX8" fmla="*/ 516476 w 597745"/>
              <a:gd name="connsiteY8" fmla="*/ 444551 h 546206"/>
              <a:gd name="connsiteX9" fmla="*/ 374460 w 597745"/>
              <a:gd name="connsiteY9" fmla="*/ 444508 h 546206"/>
              <a:gd name="connsiteX10" fmla="*/ 354713 w 597745"/>
              <a:gd name="connsiteY10" fmla="*/ 464255 h 546206"/>
              <a:gd name="connsiteX11" fmla="*/ 374460 w 597745"/>
              <a:gd name="connsiteY11" fmla="*/ 484762 h 546206"/>
              <a:gd name="connsiteX12" fmla="*/ 394966 w 597745"/>
              <a:gd name="connsiteY12" fmla="*/ 464255 h 546206"/>
              <a:gd name="connsiteX13" fmla="*/ 374460 w 597745"/>
              <a:gd name="connsiteY13" fmla="*/ 444508 h 546206"/>
              <a:gd name="connsiteX14" fmla="*/ 374460 w 597745"/>
              <a:gd name="connsiteY14" fmla="*/ 424001 h 546206"/>
              <a:gd name="connsiteX15" fmla="*/ 415473 w 597745"/>
              <a:gd name="connsiteY15" fmla="*/ 464255 h 546206"/>
              <a:gd name="connsiteX16" fmla="*/ 374460 w 597745"/>
              <a:gd name="connsiteY16" fmla="*/ 505268 h 546206"/>
              <a:gd name="connsiteX17" fmla="*/ 334206 w 597745"/>
              <a:gd name="connsiteY17" fmla="*/ 464255 h 546206"/>
              <a:gd name="connsiteX18" fmla="*/ 374460 w 597745"/>
              <a:gd name="connsiteY18" fmla="*/ 424001 h 546206"/>
              <a:gd name="connsiteX19" fmla="*/ 374445 w 597745"/>
              <a:gd name="connsiteY19" fmla="*/ 414206 h 546206"/>
              <a:gd name="connsiteX20" fmla="*/ 360774 w 597745"/>
              <a:gd name="connsiteY20" fmla="*/ 416482 h 546206"/>
              <a:gd name="connsiteX21" fmla="*/ 353178 w 597745"/>
              <a:gd name="connsiteY21" fmla="*/ 418758 h 546206"/>
              <a:gd name="connsiteX22" fmla="*/ 350140 w 597745"/>
              <a:gd name="connsiteY22" fmla="*/ 420275 h 546206"/>
              <a:gd name="connsiteX23" fmla="*/ 344824 w 597745"/>
              <a:gd name="connsiteY23" fmla="*/ 424068 h 546206"/>
              <a:gd name="connsiteX24" fmla="*/ 341786 w 597745"/>
              <a:gd name="connsiteY24" fmla="*/ 426344 h 546206"/>
              <a:gd name="connsiteX25" fmla="*/ 337228 w 597745"/>
              <a:gd name="connsiteY25" fmla="*/ 430896 h 546206"/>
              <a:gd name="connsiteX26" fmla="*/ 334950 w 597745"/>
              <a:gd name="connsiteY26" fmla="*/ 433930 h 546206"/>
              <a:gd name="connsiteX27" fmla="*/ 331152 w 597745"/>
              <a:gd name="connsiteY27" fmla="*/ 439241 h 546206"/>
              <a:gd name="connsiteX28" fmla="*/ 324317 w 597745"/>
              <a:gd name="connsiteY28" fmla="*/ 464275 h 546206"/>
              <a:gd name="connsiteX29" fmla="*/ 374445 w 597745"/>
              <a:gd name="connsiteY29" fmla="*/ 515103 h 546206"/>
              <a:gd name="connsiteX30" fmla="*/ 420776 w 597745"/>
              <a:gd name="connsiteY30" fmla="*/ 485517 h 546206"/>
              <a:gd name="connsiteX31" fmla="*/ 421536 w 597745"/>
              <a:gd name="connsiteY31" fmla="*/ 483999 h 546206"/>
              <a:gd name="connsiteX32" fmla="*/ 423814 w 597745"/>
              <a:gd name="connsiteY32" fmla="*/ 475655 h 546206"/>
              <a:gd name="connsiteX33" fmla="*/ 424574 w 597745"/>
              <a:gd name="connsiteY33" fmla="*/ 473379 h 546206"/>
              <a:gd name="connsiteX34" fmla="*/ 425333 w 597745"/>
              <a:gd name="connsiteY34" fmla="*/ 464275 h 546206"/>
              <a:gd name="connsiteX35" fmla="*/ 424574 w 597745"/>
              <a:gd name="connsiteY35" fmla="*/ 455930 h 546206"/>
              <a:gd name="connsiteX36" fmla="*/ 423814 w 597745"/>
              <a:gd name="connsiteY36" fmla="*/ 453655 h 546206"/>
              <a:gd name="connsiteX37" fmla="*/ 421536 w 597745"/>
              <a:gd name="connsiteY37" fmla="*/ 445310 h 546206"/>
              <a:gd name="connsiteX38" fmla="*/ 420776 w 597745"/>
              <a:gd name="connsiteY38" fmla="*/ 443793 h 546206"/>
              <a:gd name="connsiteX39" fmla="*/ 374445 w 597745"/>
              <a:gd name="connsiteY39" fmla="*/ 414206 h 546206"/>
              <a:gd name="connsiteX40" fmla="*/ 70636 w 597745"/>
              <a:gd name="connsiteY40" fmla="*/ 412689 h 546206"/>
              <a:gd name="connsiteX41" fmla="*/ 60762 w 597745"/>
              <a:gd name="connsiteY41" fmla="*/ 430137 h 546206"/>
              <a:gd name="connsiteX42" fmla="*/ 95700 w 597745"/>
              <a:gd name="connsiteY42" fmla="*/ 450620 h 546206"/>
              <a:gd name="connsiteX43" fmla="*/ 105574 w 597745"/>
              <a:gd name="connsiteY43" fmla="*/ 433172 h 546206"/>
              <a:gd name="connsiteX44" fmla="*/ 547616 w 597745"/>
              <a:gd name="connsiteY44" fmla="*/ 403585 h 546206"/>
              <a:gd name="connsiteX45" fmla="*/ 536983 w 597745"/>
              <a:gd name="connsiteY45" fmla="*/ 414965 h 546206"/>
              <a:gd name="connsiteX46" fmla="*/ 536983 w 597745"/>
              <a:gd name="connsiteY46" fmla="*/ 424068 h 546206"/>
              <a:gd name="connsiteX47" fmla="*/ 536983 w 597745"/>
              <a:gd name="connsiteY47" fmla="*/ 505241 h 546206"/>
              <a:gd name="connsiteX48" fmla="*/ 536983 w 597745"/>
              <a:gd name="connsiteY48" fmla="*/ 515103 h 546206"/>
              <a:gd name="connsiteX49" fmla="*/ 547616 w 597745"/>
              <a:gd name="connsiteY49" fmla="*/ 526482 h 546206"/>
              <a:gd name="connsiteX50" fmla="*/ 577238 w 597745"/>
              <a:gd name="connsiteY50" fmla="*/ 526482 h 546206"/>
              <a:gd name="connsiteX51" fmla="*/ 577238 w 597745"/>
              <a:gd name="connsiteY51" fmla="*/ 403585 h 546206"/>
              <a:gd name="connsiteX52" fmla="*/ 101017 w 597745"/>
              <a:gd name="connsiteY52" fmla="*/ 382344 h 546206"/>
              <a:gd name="connsiteX53" fmla="*/ 93421 w 597745"/>
              <a:gd name="connsiteY53" fmla="*/ 385379 h 546206"/>
              <a:gd name="connsiteX54" fmla="*/ 85067 w 597745"/>
              <a:gd name="connsiteY54" fmla="*/ 386896 h 546206"/>
              <a:gd name="connsiteX55" fmla="*/ 84307 w 597745"/>
              <a:gd name="connsiteY55" fmla="*/ 386896 h 546206"/>
              <a:gd name="connsiteX56" fmla="*/ 82788 w 597745"/>
              <a:gd name="connsiteY56" fmla="*/ 386896 h 546206"/>
              <a:gd name="connsiteX57" fmla="*/ 64560 w 597745"/>
              <a:gd name="connsiteY57" fmla="*/ 383861 h 546206"/>
              <a:gd name="connsiteX58" fmla="*/ 63800 w 597745"/>
              <a:gd name="connsiteY58" fmla="*/ 385379 h 546206"/>
              <a:gd name="connsiteX59" fmla="*/ 92662 w 597745"/>
              <a:gd name="connsiteY59" fmla="*/ 402068 h 546206"/>
              <a:gd name="connsiteX60" fmla="*/ 124562 w 597745"/>
              <a:gd name="connsiteY60" fmla="*/ 421034 h 546206"/>
              <a:gd name="connsiteX61" fmla="*/ 135195 w 597745"/>
              <a:gd name="connsiteY61" fmla="*/ 427103 h 546206"/>
              <a:gd name="connsiteX62" fmla="*/ 152664 w 597745"/>
              <a:gd name="connsiteY62" fmla="*/ 407379 h 546206"/>
              <a:gd name="connsiteX63" fmla="*/ 147348 w 597745"/>
              <a:gd name="connsiteY63" fmla="*/ 405103 h 546206"/>
              <a:gd name="connsiteX64" fmla="*/ 143550 w 597745"/>
              <a:gd name="connsiteY64" fmla="*/ 403585 h 546206"/>
              <a:gd name="connsiteX65" fmla="*/ 135195 w 597745"/>
              <a:gd name="connsiteY65" fmla="*/ 399792 h 546206"/>
              <a:gd name="connsiteX66" fmla="*/ 133676 w 597745"/>
              <a:gd name="connsiteY66" fmla="*/ 399034 h 546206"/>
              <a:gd name="connsiteX67" fmla="*/ 126081 w 597745"/>
              <a:gd name="connsiteY67" fmla="*/ 393723 h 546206"/>
              <a:gd name="connsiteX68" fmla="*/ 124562 w 597745"/>
              <a:gd name="connsiteY68" fmla="*/ 392965 h 546206"/>
              <a:gd name="connsiteX69" fmla="*/ 118486 w 597745"/>
              <a:gd name="connsiteY69" fmla="*/ 388413 h 546206"/>
              <a:gd name="connsiteX70" fmla="*/ 115448 w 597745"/>
              <a:gd name="connsiteY70" fmla="*/ 385379 h 546206"/>
              <a:gd name="connsiteX71" fmla="*/ 113929 w 597745"/>
              <a:gd name="connsiteY71" fmla="*/ 384620 h 546206"/>
              <a:gd name="connsiteX72" fmla="*/ 101776 w 597745"/>
              <a:gd name="connsiteY72" fmla="*/ 382344 h 546206"/>
              <a:gd name="connsiteX73" fmla="*/ 101017 w 597745"/>
              <a:gd name="connsiteY73" fmla="*/ 382344 h 546206"/>
              <a:gd name="connsiteX74" fmla="*/ 321278 w 597745"/>
              <a:gd name="connsiteY74" fmla="*/ 330758 h 546206"/>
              <a:gd name="connsiteX75" fmla="*/ 261276 w 597745"/>
              <a:gd name="connsiteY75" fmla="*/ 367172 h 546206"/>
              <a:gd name="connsiteX76" fmla="*/ 317481 w 597745"/>
              <a:gd name="connsiteY76" fmla="*/ 422551 h 546206"/>
              <a:gd name="connsiteX77" fmla="*/ 318240 w 597745"/>
              <a:gd name="connsiteY77" fmla="*/ 421792 h 546206"/>
              <a:gd name="connsiteX78" fmla="*/ 322038 w 597745"/>
              <a:gd name="connsiteY78" fmla="*/ 417241 h 546206"/>
              <a:gd name="connsiteX79" fmla="*/ 323557 w 597745"/>
              <a:gd name="connsiteY79" fmla="*/ 415723 h 546206"/>
              <a:gd name="connsiteX80" fmla="*/ 328114 w 597745"/>
              <a:gd name="connsiteY80" fmla="*/ 411172 h 546206"/>
              <a:gd name="connsiteX81" fmla="*/ 328874 w 597745"/>
              <a:gd name="connsiteY81" fmla="*/ 410413 h 546206"/>
              <a:gd name="connsiteX82" fmla="*/ 342545 w 597745"/>
              <a:gd name="connsiteY82" fmla="*/ 401310 h 546206"/>
              <a:gd name="connsiteX83" fmla="*/ 321278 w 597745"/>
              <a:gd name="connsiteY83" fmla="*/ 330758 h 546206"/>
              <a:gd name="connsiteX84" fmla="*/ 483057 w 597745"/>
              <a:gd name="connsiteY84" fmla="*/ 144896 h 546206"/>
              <a:gd name="connsiteX85" fmla="*/ 472424 w 597745"/>
              <a:gd name="connsiteY85" fmla="*/ 155517 h 546206"/>
              <a:gd name="connsiteX86" fmla="*/ 125321 w 597745"/>
              <a:gd name="connsiteY86" fmla="*/ 367930 h 546206"/>
              <a:gd name="connsiteX87" fmla="*/ 126081 w 597745"/>
              <a:gd name="connsiteY87" fmla="*/ 367930 h 546206"/>
              <a:gd name="connsiteX88" fmla="*/ 127600 w 597745"/>
              <a:gd name="connsiteY88" fmla="*/ 369448 h 546206"/>
              <a:gd name="connsiteX89" fmla="*/ 131398 w 597745"/>
              <a:gd name="connsiteY89" fmla="*/ 373241 h 546206"/>
              <a:gd name="connsiteX90" fmla="*/ 135195 w 597745"/>
              <a:gd name="connsiteY90" fmla="*/ 375516 h 546206"/>
              <a:gd name="connsiteX91" fmla="*/ 138993 w 597745"/>
              <a:gd name="connsiteY91" fmla="*/ 378551 h 546206"/>
              <a:gd name="connsiteX92" fmla="*/ 142031 w 597745"/>
              <a:gd name="connsiteY92" fmla="*/ 380068 h 546206"/>
              <a:gd name="connsiteX93" fmla="*/ 148867 w 597745"/>
              <a:gd name="connsiteY93" fmla="*/ 383861 h 546206"/>
              <a:gd name="connsiteX94" fmla="*/ 151145 w 597745"/>
              <a:gd name="connsiteY94" fmla="*/ 385379 h 546206"/>
              <a:gd name="connsiteX95" fmla="*/ 157221 w 597745"/>
              <a:gd name="connsiteY95" fmla="*/ 387654 h 546206"/>
              <a:gd name="connsiteX96" fmla="*/ 159500 w 597745"/>
              <a:gd name="connsiteY96" fmla="*/ 388413 h 546206"/>
              <a:gd name="connsiteX97" fmla="*/ 165576 w 597745"/>
              <a:gd name="connsiteY97" fmla="*/ 389930 h 546206"/>
              <a:gd name="connsiteX98" fmla="*/ 167095 w 597745"/>
              <a:gd name="connsiteY98" fmla="*/ 390689 h 546206"/>
              <a:gd name="connsiteX99" fmla="*/ 189881 w 597745"/>
              <a:gd name="connsiteY99" fmla="*/ 387654 h 546206"/>
              <a:gd name="connsiteX100" fmla="*/ 233933 w 597745"/>
              <a:gd name="connsiteY100" fmla="*/ 360344 h 546206"/>
              <a:gd name="connsiteX101" fmla="*/ 236971 w 597745"/>
              <a:gd name="connsiteY101" fmla="*/ 357310 h 546206"/>
              <a:gd name="connsiteX102" fmla="*/ 322798 w 597745"/>
              <a:gd name="connsiteY102" fmla="*/ 304206 h 546206"/>
              <a:gd name="connsiteX103" fmla="*/ 328114 w 597745"/>
              <a:gd name="connsiteY103" fmla="*/ 302689 h 546206"/>
              <a:gd name="connsiteX104" fmla="*/ 473183 w 597745"/>
              <a:gd name="connsiteY104" fmla="*/ 213931 h 546206"/>
              <a:gd name="connsiteX105" fmla="*/ 486095 w 597745"/>
              <a:gd name="connsiteY105" fmla="*/ 192689 h 546206"/>
              <a:gd name="connsiteX106" fmla="*/ 465588 w 597745"/>
              <a:gd name="connsiteY106" fmla="*/ 192689 h 546206"/>
              <a:gd name="connsiteX107" fmla="*/ 455714 w 597745"/>
              <a:gd name="connsiteY107" fmla="*/ 182069 h 546206"/>
              <a:gd name="connsiteX108" fmla="*/ 465588 w 597745"/>
              <a:gd name="connsiteY108" fmla="*/ 172206 h 546206"/>
              <a:gd name="connsiteX109" fmla="*/ 488374 w 597745"/>
              <a:gd name="connsiteY109" fmla="*/ 172206 h 546206"/>
              <a:gd name="connsiteX110" fmla="*/ 483057 w 597745"/>
              <a:gd name="connsiteY110" fmla="*/ 144896 h 546206"/>
              <a:gd name="connsiteX111" fmla="*/ 447359 w 597745"/>
              <a:gd name="connsiteY111" fmla="*/ 63724 h 546206"/>
              <a:gd name="connsiteX112" fmla="*/ 24305 w 597745"/>
              <a:gd name="connsiteY112" fmla="*/ 323172 h 546206"/>
              <a:gd name="connsiteX113" fmla="*/ 31140 w 597745"/>
              <a:gd name="connsiteY113" fmla="*/ 334551 h 546206"/>
              <a:gd name="connsiteX114" fmla="*/ 61521 w 597745"/>
              <a:gd name="connsiteY114" fmla="*/ 360344 h 546206"/>
              <a:gd name="connsiteX115" fmla="*/ 66079 w 597745"/>
              <a:gd name="connsiteY115" fmla="*/ 362620 h 546206"/>
              <a:gd name="connsiteX116" fmla="*/ 72155 w 597745"/>
              <a:gd name="connsiteY116" fmla="*/ 364896 h 546206"/>
              <a:gd name="connsiteX117" fmla="*/ 74433 w 597745"/>
              <a:gd name="connsiteY117" fmla="*/ 365654 h 546206"/>
              <a:gd name="connsiteX118" fmla="*/ 79750 w 597745"/>
              <a:gd name="connsiteY118" fmla="*/ 366413 h 546206"/>
              <a:gd name="connsiteX119" fmla="*/ 82788 w 597745"/>
              <a:gd name="connsiteY119" fmla="*/ 366413 h 546206"/>
              <a:gd name="connsiteX120" fmla="*/ 86586 w 597745"/>
              <a:gd name="connsiteY120" fmla="*/ 366413 h 546206"/>
              <a:gd name="connsiteX121" fmla="*/ 91902 w 597745"/>
              <a:gd name="connsiteY121" fmla="*/ 364137 h 546206"/>
              <a:gd name="connsiteX122" fmla="*/ 104814 w 597745"/>
              <a:gd name="connsiteY122" fmla="*/ 356551 h 546206"/>
              <a:gd name="connsiteX123" fmla="*/ 238490 w 597745"/>
              <a:gd name="connsiteY123" fmla="*/ 274620 h 546206"/>
              <a:gd name="connsiteX124" fmla="*/ 453436 w 597745"/>
              <a:gd name="connsiteY124" fmla="*/ 143379 h 546206"/>
              <a:gd name="connsiteX125" fmla="*/ 464069 w 597745"/>
              <a:gd name="connsiteY125" fmla="*/ 114551 h 546206"/>
              <a:gd name="connsiteX126" fmla="*/ 454195 w 597745"/>
              <a:gd name="connsiteY126" fmla="*/ 75862 h 546206"/>
              <a:gd name="connsiteX127" fmla="*/ 546857 w 597745"/>
              <a:gd name="connsiteY127" fmla="*/ 0 h 546206"/>
              <a:gd name="connsiteX128" fmla="*/ 556731 w 597745"/>
              <a:gd name="connsiteY128" fmla="*/ 10621 h 546206"/>
              <a:gd name="connsiteX129" fmla="*/ 556731 w 597745"/>
              <a:gd name="connsiteY129" fmla="*/ 192689 h 546206"/>
              <a:gd name="connsiteX130" fmla="*/ 506602 w 597745"/>
              <a:gd name="connsiteY130" fmla="*/ 192689 h 546206"/>
              <a:gd name="connsiteX131" fmla="*/ 483816 w 597745"/>
              <a:gd name="connsiteY131" fmla="*/ 231379 h 546206"/>
              <a:gd name="connsiteX132" fmla="*/ 339507 w 597745"/>
              <a:gd name="connsiteY132" fmla="*/ 319379 h 546206"/>
              <a:gd name="connsiteX133" fmla="*/ 341026 w 597745"/>
              <a:gd name="connsiteY133" fmla="*/ 327723 h 546206"/>
              <a:gd name="connsiteX134" fmla="*/ 363812 w 597745"/>
              <a:gd name="connsiteY134" fmla="*/ 394482 h 546206"/>
              <a:gd name="connsiteX135" fmla="*/ 374445 w 597745"/>
              <a:gd name="connsiteY135" fmla="*/ 393723 h 546206"/>
              <a:gd name="connsiteX136" fmla="*/ 432928 w 597745"/>
              <a:gd name="connsiteY136" fmla="*/ 424068 h 546206"/>
              <a:gd name="connsiteX137" fmla="*/ 516476 w 597745"/>
              <a:gd name="connsiteY137" fmla="*/ 424068 h 546206"/>
              <a:gd name="connsiteX138" fmla="*/ 516476 w 597745"/>
              <a:gd name="connsiteY138" fmla="*/ 414965 h 546206"/>
              <a:gd name="connsiteX139" fmla="*/ 547616 w 597745"/>
              <a:gd name="connsiteY139" fmla="*/ 383861 h 546206"/>
              <a:gd name="connsiteX140" fmla="*/ 597745 w 597745"/>
              <a:gd name="connsiteY140" fmla="*/ 383861 h 546206"/>
              <a:gd name="connsiteX141" fmla="*/ 597745 w 597745"/>
              <a:gd name="connsiteY141" fmla="*/ 546206 h 546206"/>
              <a:gd name="connsiteX142" fmla="*/ 547616 w 597745"/>
              <a:gd name="connsiteY142" fmla="*/ 546206 h 546206"/>
              <a:gd name="connsiteX143" fmla="*/ 516476 w 597745"/>
              <a:gd name="connsiteY143" fmla="*/ 515103 h 546206"/>
              <a:gd name="connsiteX144" fmla="*/ 516476 w 597745"/>
              <a:gd name="connsiteY144" fmla="*/ 505241 h 546206"/>
              <a:gd name="connsiteX145" fmla="*/ 432928 w 597745"/>
              <a:gd name="connsiteY145" fmla="*/ 505241 h 546206"/>
              <a:gd name="connsiteX146" fmla="*/ 374445 w 597745"/>
              <a:gd name="connsiteY146" fmla="*/ 535585 h 546206"/>
              <a:gd name="connsiteX147" fmla="*/ 303809 w 597745"/>
              <a:gd name="connsiteY147" fmla="*/ 464275 h 546206"/>
              <a:gd name="connsiteX148" fmla="*/ 306088 w 597745"/>
              <a:gd name="connsiteY148" fmla="*/ 448344 h 546206"/>
              <a:gd name="connsiteX149" fmla="*/ 303050 w 597745"/>
              <a:gd name="connsiteY149" fmla="*/ 443034 h 546206"/>
              <a:gd name="connsiteX150" fmla="*/ 249883 w 597745"/>
              <a:gd name="connsiteY150" fmla="*/ 383861 h 546206"/>
              <a:gd name="connsiteX151" fmla="*/ 243048 w 597745"/>
              <a:gd name="connsiteY151" fmla="*/ 378551 h 546206"/>
              <a:gd name="connsiteX152" fmla="*/ 200514 w 597745"/>
              <a:gd name="connsiteY152" fmla="*/ 405103 h 546206"/>
              <a:gd name="connsiteX153" fmla="*/ 176969 w 597745"/>
              <a:gd name="connsiteY153" fmla="*/ 411172 h 546206"/>
              <a:gd name="connsiteX154" fmla="*/ 144309 w 597745"/>
              <a:gd name="connsiteY154" fmla="*/ 446827 h 546206"/>
              <a:gd name="connsiteX155" fmla="*/ 137474 w 597745"/>
              <a:gd name="connsiteY155" fmla="*/ 449861 h 546206"/>
              <a:gd name="connsiteX156" fmla="*/ 132157 w 597745"/>
              <a:gd name="connsiteY156" fmla="*/ 448344 h 546206"/>
              <a:gd name="connsiteX157" fmla="*/ 123043 w 597745"/>
              <a:gd name="connsiteY157" fmla="*/ 443793 h 546206"/>
              <a:gd name="connsiteX158" fmla="*/ 107852 w 597745"/>
              <a:gd name="connsiteY158" fmla="*/ 469586 h 546206"/>
              <a:gd name="connsiteX159" fmla="*/ 101776 w 597745"/>
              <a:gd name="connsiteY159" fmla="*/ 474137 h 546206"/>
              <a:gd name="connsiteX160" fmla="*/ 99498 w 597745"/>
              <a:gd name="connsiteY160" fmla="*/ 474896 h 546206"/>
              <a:gd name="connsiteX161" fmla="*/ 94181 w 597745"/>
              <a:gd name="connsiteY161" fmla="*/ 473379 h 546206"/>
              <a:gd name="connsiteX162" fmla="*/ 41774 w 597745"/>
              <a:gd name="connsiteY162" fmla="*/ 443034 h 546206"/>
              <a:gd name="connsiteX163" fmla="*/ 37976 w 597745"/>
              <a:gd name="connsiteY163" fmla="*/ 428620 h 546206"/>
              <a:gd name="connsiteX164" fmla="*/ 53167 w 597745"/>
              <a:gd name="connsiteY164" fmla="*/ 402827 h 546206"/>
              <a:gd name="connsiteX165" fmla="*/ 44812 w 597745"/>
              <a:gd name="connsiteY165" fmla="*/ 397516 h 546206"/>
              <a:gd name="connsiteX166" fmla="*/ 41014 w 597745"/>
              <a:gd name="connsiteY166" fmla="*/ 383861 h 546206"/>
              <a:gd name="connsiteX167" fmla="*/ 45571 w 597745"/>
              <a:gd name="connsiteY167" fmla="*/ 375516 h 546206"/>
              <a:gd name="connsiteX168" fmla="*/ 14431 w 597745"/>
              <a:gd name="connsiteY168" fmla="*/ 345172 h 546206"/>
              <a:gd name="connsiteX169" fmla="*/ 1519 w 597745"/>
              <a:gd name="connsiteY169" fmla="*/ 324689 h 546206"/>
              <a:gd name="connsiteX170" fmla="*/ 0 w 597745"/>
              <a:gd name="connsiteY170" fmla="*/ 317103 h 546206"/>
              <a:gd name="connsiteX171" fmla="*/ 4557 w 597745"/>
              <a:gd name="connsiteY171" fmla="*/ 311034 h 546206"/>
              <a:gd name="connsiteX172" fmla="*/ 445081 w 597745"/>
              <a:gd name="connsiteY172" fmla="*/ 40965 h 546206"/>
              <a:gd name="connsiteX173" fmla="*/ 452676 w 597745"/>
              <a:gd name="connsiteY173" fmla="*/ 40207 h 546206"/>
              <a:gd name="connsiteX174" fmla="*/ 458752 w 597745"/>
              <a:gd name="connsiteY174" fmla="*/ 44758 h 546206"/>
              <a:gd name="connsiteX175" fmla="*/ 471664 w 597745"/>
              <a:gd name="connsiteY175" fmla="*/ 65241 h 546206"/>
              <a:gd name="connsiteX176" fmla="*/ 483816 w 597745"/>
              <a:gd name="connsiteY176" fmla="*/ 110758 h 546206"/>
              <a:gd name="connsiteX177" fmla="*/ 490652 w 597745"/>
              <a:gd name="connsiteY177" fmla="*/ 115310 h 546206"/>
              <a:gd name="connsiteX178" fmla="*/ 495209 w 597745"/>
              <a:gd name="connsiteY178" fmla="*/ 122138 h 546206"/>
              <a:gd name="connsiteX179" fmla="*/ 508121 w 597745"/>
              <a:gd name="connsiteY179" fmla="*/ 172206 h 546206"/>
              <a:gd name="connsiteX180" fmla="*/ 536983 w 597745"/>
              <a:gd name="connsiteY180" fmla="*/ 172206 h 546206"/>
              <a:gd name="connsiteX181" fmla="*/ 536983 w 597745"/>
              <a:gd name="connsiteY181" fmla="*/ 10621 h 546206"/>
              <a:gd name="connsiteX182" fmla="*/ 546857 w 597745"/>
              <a:gd name="connsiteY182" fmla="*/ 0 h 546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597745" h="546206">
                <a:moveTo>
                  <a:pt x="442802" y="444551"/>
                </a:moveTo>
                <a:cubicBezTo>
                  <a:pt x="443562" y="447586"/>
                  <a:pt x="444321" y="450620"/>
                  <a:pt x="444321" y="453655"/>
                </a:cubicBezTo>
                <a:cubicBezTo>
                  <a:pt x="445081" y="453655"/>
                  <a:pt x="445081" y="454413"/>
                  <a:pt x="445081" y="455172"/>
                </a:cubicBezTo>
                <a:cubicBezTo>
                  <a:pt x="445081" y="458206"/>
                  <a:pt x="445840" y="461241"/>
                  <a:pt x="445840" y="464275"/>
                </a:cubicBezTo>
                <a:cubicBezTo>
                  <a:pt x="445840" y="468068"/>
                  <a:pt x="445081" y="471103"/>
                  <a:pt x="445081" y="474137"/>
                </a:cubicBezTo>
                <a:cubicBezTo>
                  <a:pt x="445081" y="474896"/>
                  <a:pt x="445081" y="474896"/>
                  <a:pt x="444321" y="475655"/>
                </a:cubicBezTo>
                <a:cubicBezTo>
                  <a:pt x="444321" y="478689"/>
                  <a:pt x="443562" y="481723"/>
                  <a:pt x="442802" y="484758"/>
                </a:cubicBezTo>
                <a:lnTo>
                  <a:pt x="516476" y="484758"/>
                </a:lnTo>
                <a:lnTo>
                  <a:pt x="516476" y="444551"/>
                </a:lnTo>
                <a:close/>
                <a:moveTo>
                  <a:pt x="374460" y="444508"/>
                </a:moveTo>
                <a:cubicBezTo>
                  <a:pt x="363827" y="444508"/>
                  <a:pt x="354713" y="453622"/>
                  <a:pt x="354713" y="464255"/>
                </a:cubicBezTo>
                <a:cubicBezTo>
                  <a:pt x="354713" y="475647"/>
                  <a:pt x="363827" y="484762"/>
                  <a:pt x="374460" y="484762"/>
                </a:cubicBezTo>
                <a:cubicBezTo>
                  <a:pt x="385852" y="484762"/>
                  <a:pt x="394966" y="475647"/>
                  <a:pt x="394966" y="464255"/>
                </a:cubicBezTo>
                <a:cubicBezTo>
                  <a:pt x="394966" y="453622"/>
                  <a:pt x="385852" y="444508"/>
                  <a:pt x="374460" y="444508"/>
                </a:cubicBezTo>
                <a:close/>
                <a:moveTo>
                  <a:pt x="374460" y="424001"/>
                </a:moveTo>
                <a:cubicBezTo>
                  <a:pt x="397245" y="424001"/>
                  <a:pt x="415473" y="442229"/>
                  <a:pt x="415473" y="464255"/>
                </a:cubicBezTo>
                <a:cubicBezTo>
                  <a:pt x="415473" y="487040"/>
                  <a:pt x="397245" y="505268"/>
                  <a:pt x="374460" y="505268"/>
                </a:cubicBezTo>
                <a:cubicBezTo>
                  <a:pt x="352434" y="505268"/>
                  <a:pt x="334206" y="487040"/>
                  <a:pt x="334206" y="464255"/>
                </a:cubicBezTo>
                <a:cubicBezTo>
                  <a:pt x="334206" y="442229"/>
                  <a:pt x="352434" y="424001"/>
                  <a:pt x="374460" y="424001"/>
                </a:cubicBezTo>
                <a:close/>
                <a:moveTo>
                  <a:pt x="374445" y="414206"/>
                </a:moveTo>
                <a:cubicBezTo>
                  <a:pt x="369888" y="414206"/>
                  <a:pt x="365331" y="414965"/>
                  <a:pt x="360774" y="416482"/>
                </a:cubicBezTo>
                <a:cubicBezTo>
                  <a:pt x="357736" y="417241"/>
                  <a:pt x="355457" y="417999"/>
                  <a:pt x="353178" y="418758"/>
                </a:cubicBezTo>
                <a:cubicBezTo>
                  <a:pt x="352419" y="419516"/>
                  <a:pt x="351659" y="420275"/>
                  <a:pt x="350140" y="420275"/>
                </a:cubicBezTo>
                <a:cubicBezTo>
                  <a:pt x="348621" y="421792"/>
                  <a:pt x="346343" y="422551"/>
                  <a:pt x="344824" y="424068"/>
                </a:cubicBezTo>
                <a:cubicBezTo>
                  <a:pt x="343305" y="424827"/>
                  <a:pt x="342545" y="425586"/>
                  <a:pt x="341786" y="426344"/>
                </a:cubicBezTo>
                <a:cubicBezTo>
                  <a:pt x="340267" y="427862"/>
                  <a:pt x="338747" y="429379"/>
                  <a:pt x="337228" y="430896"/>
                </a:cubicBezTo>
                <a:cubicBezTo>
                  <a:pt x="336469" y="431655"/>
                  <a:pt x="335709" y="433172"/>
                  <a:pt x="334950" y="433930"/>
                </a:cubicBezTo>
                <a:cubicBezTo>
                  <a:pt x="333431" y="435448"/>
                  <a:pt x="331912" y="437724"/>
                  <a:pt x="331152" y="439241"/>
                </a:cubicBezTo>
                <a:cubicBezTo>
                  <a:pt x="326595" y="446827"/>
                  <a:pt x="324317" y="455172"/>
                  <a:pt x="324317" y="464275"/>
                </a:cubicBezTo>
                <a:cubicBezTo>
                  <a:pt x="324317" y="492344"/>
                  <a:pt x="347102" y="515103"/>
                  <a:pt x="374445" y="515103"/>
                </a:cubicBezTo>
                <a:cubicBezTo>
                  <a:pt x="394952" y="515103"/>
                  <a:pt x="412421" y="502965"/>
                  <a:pt x="420776" y="485517"/>
                </a:cubicBezTo>
                <a:cubicBezTo>
                  <a:pt x="420776" y="484758"/>
                  <a:pt x="421536" y="484758"/>
                  <a:pt x="421536" y="483999"/>
                </a:cubicBezTo>
                <a:cubicBezTo>
                  <a:pt x="422295" y="481723"/>
                  <a:pt x="423055" y="478689"/>
                  <a:pt x="423814" y="475655"/>
                </a:cubicBezTo>
                <a:cubicBezTo>
                  <a:pt x="423814" y="474896"/>
                  <a:pt x="424574" y="474137"/>
                  <a:pt x="424574" y="473379"/>
                </a:cubicBezTo>
                <a:cubicBezTo>
                  <a:pt x="424574" y="470344"/>
                  <a:pt x="425333" y="467310"/>
                  <a:pt x="425333" y="464275"/>
                </a:cubicBezTo>
                <a:cubicBezTo>
                  <a:pt x="425333" y="461241"/>
                  <a:pt x="424574" y="458965"/>
                  <a:pt x="424574" y="455930"/>
                </a:cubicBezTo>
                <a:cubicBezTo>
                  <a:pt x="424574" y="455172"/>
                  <a:pt x="423814" y="454413"/>
                  <a:pt x="423814" y="453655"/>
                </a:cubicBezTo>
                <a:cubicBezTo>
                  <a:pt x="423055" y="450620"/>
                  <a:pt x="422295" y="447586"/>
                  <a:pt x="421536" y="445310"/>
                </a:cubicBezTo>
                <a:cubicBezTo>
                  <a:pt x="421536" y="444551"/>
                  <a:pt x="420776" y="444551"/>
                  <a:pt x="420776" y="443793"/>
                </a:cubicBezTo>
                <a:cubicBezTo>
                  <a:pt x="412421" y="426344"/>
                  <a:pt x="394952" y="414206"/>
                  <a:pt x="374445" y="414206"/>
                </a:cubicBezTo>
                <a:close/>
                <a:moveTo>
                  <a:pt x="70636" y="412689"/>
                </a:moveTo>
                <a:lnTo>
                  <a:pt x="60762" y="430137"/>
                </a:lnTo>
                <a:lnTo>
                  <a:pt x="95700" y="450620"/>
                </a:lnTo>
                <a:lnTo>
                  <a:pt x="105574" y="433172"/>
                </a:lnTo>
                <a:close/>
                <a:moveTo>
                  <a:pt x="547616" y="403585"/>
                </a:moveTo>
                <a:cubicBezTo>
                  <a:pt x="541540" y="403585"/>
                  <a:pt x="536983" y="408896"/>
                  <a:pt x="536983" y="414965"/>
                </a:cubicBezTo>
                <a:lnTo>
                  <a:pt x="536983" y="424068"/>
                </a:lnTo>
                <a:lnTo>
                  <a:pt x="536983" y="505241"/>
                </a:lnTo>
                <a:lnTo>
                  <a:pt x="536983" y="515103"/>
                </a:lnTo>
                <a:cubicBezTo>
                  <a:pt x="536983" y="521172"/>
                  <a:pt x="541540" y="526482"/>
                  <a:pt x="547616" y="526482"/>
                </a:cubicBezTo>
                <a:lnTo>
                  <a:pt x="577238" y="526482"/>
                </a:lnTo>
                <a:lnTo>
                  <a:pt x="577238" y="403585"/>
                </a:lnTo>
                <a:close/>
                <a:moveTo>
                  <a:pt x="101017" y="382344"/>
                </a:moveTo>
                <a:cubicBezTo>
                  <a:pt x="98738" y="383861"/>
                  <a:pt x="96459" y="384620"/>
                  <a:pt x="93421" y="385379"/>
                </a:cubicBezTo>
                <a:cubicBezTo>
                  <a:pt x="91143" y="386137"/>
                  <a:pt x="88105" y="386137"/>
                  <a:pt x="85067" y="386896"/>
                </a:cubicBezTo>
                <a:cubicBezTo>
                  <a:pt x="85067" y="386896"/>
                  <a:pt x="84307" y="386896"/>
                  <a:pt x="84307" y="386896"/>
                </a:cubicBezTo>
                <a:cubicBezTo>
                  <a:pt x="83548" y="386896"/>
                  <a:pt x="83548" y="386896"/>
                  <a:pt x="82788" y="386896"/>
                </a:cubicBezTo>
                <a:cubicBezTo>
                  <a:pt x="76712" y="386896"/>
                  <a:pt x="71395" y="385379"/>
                  <a:pt x="64560" y="383861"/>
                </a:cubicBezTo>
                <a:lnTo>
                  <a:pt x="63800" y="385379"/>
                </a:lnTo>
                <a:lnTo>
                  <a:pt x="92662" y="402068"/>
                </a:lnTo>
                <a:lnTo>
                  <a:pt x="124562" y="421034"/>
                </a:lnTo>
                <a:lnTo>
                  <a:pt x="135195" y="427103"/>
                </a:lnTo>
                <a:lnTo>
                  <a:pt x="152664" y="407379"/>
                </a:lnTo>
                <a:cubicBezTo>
                  <a:pt x="151145" y="406620"/>
                  <a:pt x="148867" y="405861"/>
                  <a:pt x="147348" y="405103"/>
                </a:cubicBezTo>
                <a:cubicBezTo>
                  <a:pt x="145829" y="405103"/>
                  <a:pt x="145069" y="404344"/>
                  <a:pt x="143550" y="403585"/>
                </a:cubicBezTo>
                <a:cubicBezTo>
                  <a:pt x="140512" y="402827"/>
                  <a:pt x="138233" y="401310"/>
                  <a:pt x="135195" y="399792"/>
                </a:cubicBezTo>
                <a:cubicBezTo>
                  <a:pt x="134436" y="399034"/>
                  <a:pt x="134436" y="399034"/>
                  <a:pt x="133676" y="399034"/>
                </a:cubicBezTo>
                <a:cubicBezTo>
                  <a:pt x="131398" y="397516"/>
                  <a:pt x="128359" y="395241"/>
                  <a:pt x="126081" y="393723"/>
                </a:cubicBezTo>
                <a:cubicBezTo>
                  <a:pt x="125321" y="393723"/>
                  <a:pt x="124562" y="392965"/>
                  <a:pt x="124562" y="392965"/>
                </a:cubicBezTo>
                <a:cubicBezTo>
                  <a:pt x="122283" y="391447"/>
                  <a:pt x="120764" y="389930"/>
                  <a:pt x="118486" y="388413"/>
                </a:cubicBezTo>
                <a:cubicBezTo>
                  <a:pt x="117726" y="387654"/>
                  <a:pt x="116207" y="386896"/>
                  <a:pt x="115448" y="385379"/>
                </a:cubicBezTo>
                <a:cubicBezTo>
                  <a:pt x="114688" y="385379"/>
                  <a:pt x="114688" y="384620"/>
                  <a:pt x="113929" y="384620"/>
                </a:cubicBezTo>
                <a:lnTo>
                  <a:pt x="101776" y="382344"/>
                </a:lnTo>
                <a:cubicBezTo>
                  <a:pt x="101776" y="382344"/>
                  <a:pt x="101017" y="382344"/>
                  <a:pt x="101017" y="382344"/>
                </a:cubicBezTo>
                <a:close/>
                <a:moveTo>
                  <a:pt x="321278" y="330758"/>
                </a:moveTo>
                <a:lnTo>
                  <a:pt x="261276" y="367172"/>
                </a:lnTo>
                <a:cubicBezTo>
                  <a:pt x="282543" y="382344"/>
                  <a:pt x="306088" y="399034"/>
                  <a:pt x="317481" y="422551"/>
                </a:cubicBezTo>
                <a:cubicBezTo>
                  <a:pt x="317481" y="422551"/>
                  <a:pt x="318240" y="422551"/>
                  <a:pt x="318240" y="421792"/>
                </a:cubicBezTo>
                <a:cubicBezTo>
                  <a:pt x="319759" y="420275"/>
                  <a:pt x="320519" y="418758"/>
                  <a:pt x="322038" y="417241"/>
                </a:cubicBezTo>
                <a:cubicBezTo>
                  <a:pt x="322798" y="417241"/>
                  <a:pt x="322798" y="416482"/>
                  <a:pt x="323557" y="415723"/>
                </a:cubicBezTo>
                <a:cubicBezTo>
                  <a:pt x="325076" y="414206"/>
                  <a:pt x="326595" y="412689"/>
                  <a:pt x="328114" y="411172"/>
                </a:cubicBezTo>
                <a:cubicBezTo>
                  <a:pt x="328874" y="411172"/>
                  <a:pt x="328874" y="410413"/>
                  <a:pt x="328874" y="410413"/>
                </a:cubicBezTo>
                <a:cubicBezTo>
                  <a:pt x="333431" y="407379"/>
                  <a:pt x="337988" y="404344"/>
                  <a:pt x="342545" y="401310"/>
                </a:cubicBezTo>
                <a:cubicBezTo>
                  <a:pt x="328874" y="381585"/>
                  <a:pt x="325076" y="355034"/>
                  <a:pt x="321278" y="330758"/>
                </a:cubicBezTo>
                <a:close/>
                <a:moveTo>
                  <a:pt x="483057" y="144896"/>
                </a:moveTo>
                <a:cubicBezTo>
                  <a:pt x="480019" y="149448"/>
                  <a:pt x="476221" y="152482"/>
                  <a:pt x="472424" y="155517"/>
                </a:cubicBezTo>
                <a:lnTo>
                  <a:pt x="125321" y="367930"/>
                </a:lnTo>
                <a:cubicBezTo>
                  <a:pt x="125321" y="367930"/>
                  <a:pt x="126081" y="367930"/>
                  <a:pt x="126081" y="367930"/>
                </a:cubicBezTo>
                <a:cubicBezTo>
                  <a:pt x="126840" y="368689"/>
                  <a:pt x="127600" y="369448"/>
                  <a:pt x="127600" y="369448"/>
                </a:cubicBezTo>
                <a:cubicBezTo>
                  <a:pt x="129119" y="370965"/>
                  <a:pt x="130638" y="371723"/>
                  <a:pt x="131398" y="373241"/>
                </a:cubicBezTo>
                <a:cubicBezTo>
                  <a:pt x="132917" y="373999"/>
                  <a:pt x="133676" y="374758"/>
                  <a:pt x="135195" y="375516"/>
                </a:cubicBezTo>
                <a:cubicBezTo>
                  <a:pt x="136714" y="376275"/>
                  <a:pt x="137474" y="377034"/>
                  <a:pt x="138993" y="378551"/>
                </a:cubicBezTo>
                <a:cubicBezTo>
                  <a:pt x="139752" y="379310"/>
                  <a:pt x="141271" y="379310"/>
                  <a:pt x="142031" y="380068"/>
                </a:cubicBezTo>
                <a:cubicBezTo>
                  <a:pt x="144309" y="381585"/>
                  <a:pt x="146588" y="383103"/>
                  <a:pt x="148867" y="383861"/>
                </a:cubicBezTo>
                <a:cubicBezTo>
                  <a:pt x="149626" y="384620"/>
                  <a:pt x="150386" y="384620"/>
                  <a:pt x="151145" y="385379"/>
                </a:cubicBezTo>
                <a:cubicBezTo>
                  <a:pt x="153424" y="386137"/>
                  <a:pt x="154943" y="386896"/>
                  <a:pt x="157221" y="387654"/>
                </a:cubicBezTo>
                <a:cubicBezTo>
                  <a:pt x="157981" y="387654"/>
                  <a:pt x="158740" y="388413"/>
                  <a:pt x="159500" y="388413"/>
                </a:cubicBezTo>
                <a:cubicBezTo>
                  <a:pt x="161778" y="389172"/>
                  <a:pt x="164057" y="389930"/>
                  <a:pt x="165576" y="389930"/>
                </a:cubicBezTo>
                <a:cubicBezTo>
                  <a:pt x="166336" y="389930"/>
                  <a:pt x="167095" y="389930"/>
                  <a:pt x="167095" y="390689"/>
                </a:cubicBezTo>
                <a:cubicBezTo>
                  <a:pt x="175450" y="392206"/>
                  <a:pt x="183805" y="391447"/>
                  <a:pt x="189881" y="387654"/>
                </a:cubicBezTo>
                <a:lnTo>
                  <a:pt x="233933" y="360344"/>
                </a:lnTo>
                <a:cubicBezTo>
                  <a:pt x="234693" y="359585"/>
                  <a:pt x="236212" y="358068"/>
                  <a:pt x="236971" y="357310"/>
                </a:cubicBezTo>
                <a:lnTo>
                  <a:pt x="322798" y="304206"/>
                </a:lnTo>
                <a:cubicBezTo>
                  <a:pt x="324317" y="303448"/>
                  <a:pt x="326595" y="302689"/>
                  <a:pt x="328114" y="302689"/>
                </a:cubicBezTo>
                <a:lnTo>
                  <a:pt x="473183" y="213931"/>
                </a:lnTo>
                <a:cubicBezTo>
                  <a:pt x="479259" y="210137"/>
                  <a:pt x="483816" y="202551"/>
                  <a:pt x="486095" y="192689"/>
                </a:cubicBezTo>
                <a:lnTo>
                  <a:pt x="465588" y="192689"/>
                </a:lnTo>
                <a:cubicBezTo>
                  <a:pt x="460271" y="192689"/>
                  <a:pt x="455714" y="188137"/>
                  <a:pt x="455714" y="182069"/>
                </a:cubicBezTo>
                <a:cubicBezTo>
                  <a:pt x="455714" y="176758"/>
                  <a:pt x="460271" y="172206"/>
                  <a:pt x="465588" y="172206"/>
                </a:cubicBezTo>
                <a:lnTo>
                  <a:pt x="488374" y="172206"/>
                </a:lnTo>
                <a:cubicBezTo>
                  <a:pt x="487614" y="163103"/>
                  <a:pt x="486095" y="153241"/>
                  <a:pt x="483057" y="144896"/>
                </a:cubicBezTo>
                <a:close/>
                <a:moveTo>
                  <a:pt x="447359" y="63724"/>
                </a:moveTo>
                <a:lnTo>
                  <a:pt x="24305" y="323172"/>
                </a:lnTo>
                <a:lnTo>
                  <a:pt x="31140" y="334551"/>
                </a:lnTo>
                <a:cubicBezTo>
                  <a:pt x="37217" y="344413"/>
                  <a:pt x="49369" y="354275"/>
                  <a:pt x="61521" y="360344"/>
                </a:cubicBezTo>
                <a:cubicBezTo>
                  <a:pt x="63040" y="361861"/>
                  <a:pt x="64560" y="361861"/>
                  <a:pt x="66079" y="362620"/>
                </a:cubicBezTo>
                <a:cubicBezTo>
                  <a:pt x="68357" y="363379"/>
                  <a:pt x="70636" y="364137"/>
                  <a:pt x="72155" y="364896"/>
                </a:cubicBezTo>
                <a:cubicBezTo>
                  <a:pt x="72914" y="364896"/>
                  <a:pt x="73674" y="364896"/>
                  <a:pt x="74433" y="365654"/>
                </a:cubicBezTo>
                <a:cubicBezTo>
                  <a:pt x="76712" y="365654"/>
                  <a:pt x="78231" y="366413"/>
                  <a:pt x="79750" y="366413"/>
                </a:cubicBezTo>
                <a:cubicBezTo>
                  <a:pt x="80509" y="366413"/>
                  <a:pt x="81269" y="366413"/>
                  <a:pt x="82788" y="366413"/>
                </a:cubicBezTo>
                <a:cubicBezTo>
                  <a:pt x="83548" y="366413"/>
                  <a:pt x="85067" y="366413"/>
                  <a:pt x="86586" y="366413"/>
                </a:cubicBezTo>
                <a:cubicBezTo>
                  <a:pt x="88864" y="365654"/>
                  <a:pt x="90383" y="364896"/>
                  <a:pt x="91902" y="364137"/>
                </a:cubicBezTo>
                <a:lnTo>
                  <a:pt x="104814" y="356551"/>
                </a:lnTo>
                <a:lnTo>
                  <a:pt x="238490" y="274620"/>
                </a:lnTo>
                <a:lnTo>
                  <a:pt x="453436" y="143379"/>
                </a:lnTo>
                <a:cubicBezTo>
                  <a:pt x="459512" y="138827"/>
                  <a:pt x="464069" y="128207"/>
                  <a:pt x="464069" y="114551"/>
                </a:cubicBezTo>
                <a:cubicBezTo>
                  <a:pt x="464069" y="100138"/>
                  <a:pt x="460271" y="85724"/>
                  <a:pt x="454195" y="75862"/>
                </a:cubicBezTo>
                <a:close/>
                <a:moveTo>
                  <a:pt x="546857" y="0"/>
                </a:moveTo>
                <a:cubicBezTo>
                  <a:pt x="552174" y="0"/>
                  <a:pt x="556731" y="4552"/>
                  <a:pt x="556731" y="10621"/>
                </a:cubicBezTo>
                <a:lnTo>
                  <a:pt x="556731" y="192689"/>
                </a:lnTo>
                <a:lnTo>
                  <a:pt x="506602" y="192689"/>
                </a:lnTo>
                <a:cubicBezTo>
                  <a:pt x="503564" y="210137"/>
                  <a:pt x="495969" y="223793"/>
                  <a:pt x="483816" y="231379"/>
                </a:cubicBezTo>
                <a:lnTo>
                  <a:pt x="339507" y="319379"/>
                </a:lnTo>
                <a:cubicBezTo>
                  <a:pt x="340267" y="322413"/>
                  <a:pt x="340267" y="324689"/>
                  <a:pt x="341026" y="327723"/>
                </a:cubicBezTo>
                <a:cubicBezTo>
                  <a:pt x="344824" y="352758"/>
                  <a:pt x="349381" y="378551"/>
                  <a:pt x="363812" y="394482"/>
                </a:cubicBezTo>
                <a:cubicBezTo>
                  <a:pt x="367609" y="394482"/>
                  <a:pt x="370647" y="393723"/>
                  <a:pt x="374445" y="393723"/>
                </a:cubicBezTo>
                <a:cubicBezTo>
                  <a:pt x="398750" y="393723"/>
                  <a:pt x="420016" y="405861"/>
                  <a:pt x="432928" y="424068"/>
                </a:cubicBezTo>
                <a:lnTo>
                  <a:pt x="516476" y="424068"/>
                </a:lnTo>
                <a:lnTo>
                  <a:pt x="516476" y="414965"/>
                </a:lnTo>
                <a:cubicBezTo>
                  <a:pt x="516476" y="397516"/>
                  <a:pt x="530147" y="383861"/>
                  <a:pt x="547616" y="383861"/>
                </a:cubicBezTo>
                <a:lnTo>
                  <a:pt x="597745" y="383861"/>
                </a:lnTo>
                <a:lnTo>
                  <a:pt x="597745" y="546206"/>
                </a:lnTo>
                <a:lnTo>
                  <a:pt x="547616" y="546206"/>
                </a:lnTo>
                <a:cubicBezTo>
                  <a:pt x="530147" y="546206"/>
                  <a:pt x="516476" y="532551"/>
                  <a:pt x="516476" y="515103"/>
                </a:cubicBezTo>
                <a:lnTo>
                  <a:pt x="516476" y="505241"/>
                </a:lnTo>
                <a:lnTo>
                  <a:pt x="432928" y="505241"/>
                </a:lnTo>
                <a:cubicBezTo>
                  <a:pt x="420016" y="523448"/>
                  <a:pt x="398750" y="535585"/>
                  <a:pt x="374445" y="535585"/>
                </a:cubicBezTo>
                <a:cubicBezTo>
                  <a:pt x="335709" y="535585"/>
                  <a:pt x="303809" y="503723"/>
                  <a:pt x="303809" y="464275"/>
                </a:cubicBezTo>
                <a:cubicBezTo>
                  <a:pt x="303809" y="458965"/>
                  <a:pt x="304569" y="453655"/>
                  <a:pt x="306088" y="448344"/>
                </a:cubicBezTo>
                <a:cubicBezTo>
                  <a:pt x="304569" y="446827"/>
                  <a:pt x="303050" y="445310"/>
                  <a:pt x="303050" y="443034"/>
                </a:cubicBezTo>
                <a:cubicBezTo>
                  <a:pt x="298493" y="417999"/>
                  <a:pt x="273428" y="400551"/>
                  <a:pt x="249883" y="383861"/>
                </a:cubicBezTo>
                <a:cubicBezTo>
                  <a:pt x="247605" y="382344"/>
                  <a:pt x="245326" y="380827"/>
                  <a:pt x="243048" y="378551"/>
                </a:cubicBezTo>
                <a:lnTo>
                  <a:pt x="200514" y="405103"/>
                </a:lnTo>
                <a:cubicBezTo>
                  <a:pt x="192919" y="408896"/>
                  <a:pt x="185324" y="411172"/>
                  <a:pt x="176969" y="411172"/>
                </a:cubicBezTo>
                <a:lnTo>
                  <a:pt x="144309" y="446827"/>
                </a:lnTo>
                <a:cubicBezTo>
                  <a:pt x="142790" y="449103"/>
                  <a:pt x="139752" y="449861"/>
                  <a:pt x="137474" y="449861"/>
                </a:cubicBezTo>
                <a:cubicBezTo>
                  <a:pt x="135195" y="449861"/>
                  <a:pt x="133676" y="449861"/>
                  <a:pt x="132157" y="448344"/>
                </a:cubicBezTo>
                <a:lnTo>
                  <a:pt x="123043" y="443793"/>
                </a:lnTo>
                <a:lnTo>
                  <a:pt x="107852" y="469586"/>
                </a:lnTo>
                <a:cubicBezTo>
                  <a:pt x="106333" y="471861"/>
                  <a:pt x="104055" y="473379"/>
                  <a:pt x="101776" y="474137"/>
                </a:cubicBezTo>
                <a:cubicBezTo>
                  <a:pt x="101017" y="474896"/>
                  <a:pt x="100257" y="474896"/>
                  <a:pt x="99498" y="474896"/>
                </a:cubicBezTo>
                <a:cubicBezTo>
                  <a:pt x="97219" y="474896"/>
                  <a:pt x="95700" y="474137"/>
                  <a:pt x="94181" y="473379"/>
                </a:cubicBezTo>
                <a:lnTo>
                  <a:pt x="41774" y="443034"/>
                </a:lnTo>
                <a:cubicBezTo>
                  <a:pt x="37217" y="439999"/>
                  <a:pt x="34938" y="433930"/>
                  <a:pt x="37976" y="428620"/>
                </a:cubicBezTo>
                <a:lnTo>
                  <a:pt x="53167" y="402827"/>
                </a:lnTo>
                <a:lnTo>
                  <a:pt x="44812" y="397516"/>
                </a:lnTo>
                <a:cubicBezTo>
                  <a:pt x="39495" y="394482"/>
                  <a:pt x="37976" y="388413"/>
                  <a:pt x="41014" y="383861"/>
                </a:cubicBezTo>
                <a:lnTo>
                  <a:pt x="45571" y="375516"/>
                </a:lnTo>
                <a:cubicBezTo>
                  <a:pt x="32660" y="367172"/>
                  <a:pt x="21267" y="356551"/>
                  <a:pt x="14431" y="345172"/>
                </a:cubicBezTo>
                <a:lnTo>
                  <a:pt x="1519" y="324689"/>
                </a:lnTo>
                <a:cubicBezTo>
                  <a:pt x="0" y="322413"/>
                  <a:pt x="0" y="319379"/>
                  <a:pt x="0" y="317103"/>
                </a:cubicBezTo>
                <a:cubicBezTo>
                  <a:pt x="760" y="314827"/>
                  <a:pt x="2279" y="312551"/>
                  <a:pt x="4557" y="311034"/>
                </a:cubicBezTo>
                <a:lnTo>
                  <a:pt x="445081" y="40965"/>
                </a:lnTo>
                <a:cubicBezTo>
                  <a:pt x="447359" y="40207"/>
                  <a:pt x="450397" y="39448"/>
                  <a:pt x="452676" y="40207"/>
                </a:cubicBezTo>
                <a:cubicBezTo>
                  <a:pt x="455714" y="40965"/>
                  <a:pt x="457993" y="42483"/>
                  <a:pt x="458752" y="44758"/>
                </a:cubicBezTo>
                <a:lnTo>
                  <a:pt x="471664" y="65241"/>
                </a:lnTo>
                <a:cubicBezTo>
                  <a:pt x="479259" y="77379"/>
                  <a:pt x="483816" y="94069"/>
                  <a:pt x="483816" y="110758"/>
                </a:cubicBezTo>
                <a:cubicBezTo>
                  <a:pt x="486855" y="111517"/>
                  <a:pt x="489133" y="113034"/>
                  <a:pt x="490652" y="115310"/>
                </a:cubicBezTo>
                <a:lnTo>
                  <a:pt x="495209" y="122138"/>
                </a:lnTo>
                <a:cubicBezTo>
                  <a:pt x="502805" y="135793"/>
                  <a:pt x="508121" y="154000"/>
                  <a:pt x="508121" y="172206"/>
                </a:cubicBezTo>
                <a:lnTo>
                  <a:pt x="536983" y="172206"/>
                </a:lnTo>
                <a:lnTo>
                  <a:pt x="536983" y="10621"/>
                </a:lnTo>
                <a:cubicBezTo>
                  <a:pt x="536983" y="4552"/>
                  <a:pt x="541540" y="0"/>
                  <a:pt x="546857" y="0"/>
                </a:cubicBezTo>
                <a:close/>
              </a:path>
            </a:pathLst>
          </a:custGeom>
          <a:solidFill>
            <a:srgbClr val="56C4D2"/>
          </a:solidFill>
          <a:ln>
            <a:solidFill>
              <a:srgbClr val="56C4D2"/>
            </a:solidFill>
          </a:ln>
        </p:spPr>
        <p:txBody>
          <a:bodyPr/>
          <a:lstStyle/>
          <a:p>
            <a:endParaRPr lang="zh-CN" altLang="en-US"/>
          </a:p>
        </p:txBody>
      </p:sp>
      <p:sp>
        <p:nvSpPr>
          <p:cNvPr id="82" name="statistics-on-laptop_82095"/>
          <p:cNvSpPr>
            <a:spLocks noChangeAspect="1"/>
          </p:cNvSpPr>
          <p:nvPr/>
        </p:nvSpPr>
        <p:spPr bwMode="gray">
          <a:xfrm>
            <a:off x="9072479" y="5177962"/>
            <a:ext cx="421437" cy="312896"/>
          </a:xfrm>
          <a:custGeom>
            <a:avLst/>
            <a:gdLst>
              <a:gd name="connsiteX0" fmla="*/ 16417 w 607427"/>
              <a:gd name="connsiteY0" fmla="*/ 391780 h 450984"/>
              <a:gd name="connsiteX1" fmla="*/ 591010 w 607427"/>
              <a:gd name="connsiteY1" fmla="*/ 391780 h 450984"/>
              <a:gd name="connsiteX2" fmla="*/ 607427 w 607427"/>
              <a:gd name="connsiteY2" fmla="*/ 408168 h 450984"/>
              <a:gd name="connsiteX3" fmla="*/ 564534 w 607427"/>
              <a:gd name="connsiteY3" fmla="*/ 450984 h 450984"/>
              <a:gd name="connsiteX4" fmla="*/ 42893 w 607427"/>
              <a:gd name="connsiteY4" fmla="*/ 450984 h 450984"/>
              <a:gd name="connsiteX5" fmla="*/ 0 w 607427"/>
              <a:gd name="connsiteY5" fmla="*/ 408168 h 450984"/>
              <a:gd name="connsiteX6" fmla="*/ 16417 w 607427"/>
              <a:gd name="connsiteY6" fmla="*/ 391780 h 450984"/>
              <a:gd name="connsiteX7" fmla="*/ 178401 w 607427"/>
              <a:gd name="connsiteY7" fmla="*/ 179871 h 450984"/>
              <a:gd name="connsiteX8" fmla="*/ 220153 w 607427"/>
              <a:gd name="connsiteY8" fmla="*/ 179871 h 450984"/>
              <a:gd name="connsiteX9" fmla="*/ 232584 w 607427"/>
              <a:gd name="connsiteY9" fmla="*/ 192286 h 450984"/>
              <a:gd name="connsiteX10" fmla="*/ 232584 w 607427"/>
              <a:gd name="connsiteY10" fmla="*/ 288759 h 450984"/>
              <a:gd name="connsiteX11" fmla="*/ 220153 w 607427"/>
              <a:gd name="connsiteY11" fmla="*/ 301173 h 450984"/>
              <a:gd name="connsiteX12" fmla="*/ 178401 w 607427"/>
              <a:gd name="connsiteY12" fmla="*/ 301173 h 450984"/>
              <a:gd name="connsiteX13" fmla="*/ 165970 w 607427"/>
              <a:gd name="connsiteY13" fmla="*/ 288759 h 450984"/>
              <a:gd name="connsiteX14" fmla="*/ 165970 w 607427"/>
              <a:gd name="connsiteY14" fmla="*/ 192286 h 450984"/>
              <a:gd name="connsiteX15" fmla="*/ 178401 w 607427"/>
              <a:gd name="connsiteY15" fmla="*/ 179871 h 450984"/>
              <a:gd name="connsiteX16" fmla="*/ 282804 w 607427"/>
              <a:gd name="connsiteY16" fmla="*/ 140708 h 450984"/>
              <a:gd name="connsiteX17" fmla="*/ 324623 w 607427"/>
              <a:gd name="connsiteY17" fmla="*/ 140708 h 450984"/>
              <a:gd name="connsiteX18" fmla="*/ 336950 w 607427"/>
              <a:gd name="connsiteY18" fmla="*/ 153124 h 450984"/>
              <a:gd name="connsiteX19" fmla="*/ 336950 w 607427"/>
              <a:gd name="connsiteY19" fmla="*/ 288758 h 450984"/>
              <a:gd name="connsiteX20" fmla="*/ 324623 w 607427"/>
              <a:gd name="connsiteY20" fmla="*/ 301174 h 450984"/>
              <a:gd name="connsiteX21" fmla="*/ 282804 w 607427"/>
              <a:gd name="connsiteY21" fmla="*/ 301174 h 450984"/>
              <a:gd name="connsiteX22" fmla="*/ 270477 w 607427"/>
              <a:gd name="connsiteY22" fmla="*/ 288758 h 450984"/>
              <a:gd name="connsiteX23" fmla="*/ 270477 w 607427"/>
              <a:gd name="connsiteY23" fmla="*/ 153124 h 450984"/>
              <a:gd name="connsiteX24" fmla="*/ 282804 w 607427"/>
              <a:gd name="connsiteY24" fmla="*/ 140708 h 450984"/>
              <a:gd name="connsiteX25" fmla="*/ 387274 w 607427"/>
              <a:gd name="connsiteY25" fmla="*/ 87290 h 450984"/>
              <a:gd name="connsiteX26" fmla="*/ 429026 w 607427"/>
              <a:gd name="connsiteY26" fmla="*/ 87290 h 450984"/>
              <a:gd name="connsiteX27" fmla="*/ 441457 w 607427"/>
              <a:gd name="connsiteY27" fmla="*/ 99704 h 450984"/>
              <a:gd name="connsiteX28" fmla="*/ 441457 w 607427"/>
              <a:gd name="connsiteY28" fmla="*/ 288760 h 450984"/>
              <a:gd name="connsiteX29" fmla="*/ 429026 w 607427"/>
              <a:gd name="connsiteY29" fmla="*/ 301174 h 450984"/>
              <a:gd name="connsiteX30" fmla="*/ 387274 w 607427"/>
              <a:gd name="connsiteY30" fmla="*/ 301174 h 450984"/>
              <a:gd name="connsiteX31" fmla="*/ 374843 w 607427"/>
              <a:gd name="connsiteY31" fmla="*/ 288760 h 450984"/>
              <a:gd name="connsiteX32" fmla="*/ 374843 w 607427"/>
              <a:gd name="connsiteY32" fmla="*/ 99704 h 450984"/>
              <a:gd name="connsiteX33" fmla="*/ 387274 w 607427"/>
              <a:gd name="connsiteY33" fmla="*/ 87290 h 450984"/>
              <a:gd name="connsiteX34" fmla="*/ 93762 w 607427"/>
              <a:gd name="connsiteY34" fmla="*/ 41697 h 450984"/>
              <a:gd name="connsiteX35" fmla="*/ 90441 w 607427"/>
              <a:gd name="connsiteY35" fmla="*/ 45014 h 450984"/>
              <a:gd name="connsiteX36" fmla="*/ 90441 w 607427"/>
              <a:gd name="connsiteY36" fmla="*/ 329689 h 450984"/>
              <a:gd name="connsiteX37" fmla="*/ 93762 w 607427"/>
              <a:gd name="connsiteY37" fmla="*/ 332911 h 450984"/>
              <a:gd name="connsiteX38" fmla="*/ 513640 w 607427"/>
              <a:gd name="connsiteY38" fmla="*/ 332911 h 450984"/>
              <a:gd name="connsiteX39" fmla="*/ 516961 w 607427"/>
              <a:gd name="connsiteY39" fmla="*/ 329689 h 450984"/>
              <a:gd name="connsiteX40" fmla="*/ 516961 w 607427"/>
              <a:gd name="connsiteY40" fmla="*/ 45014 h 450984"/>
              <a:gd name="connsiteX41" fmla="*/ 513640 w 607427"/>
              <a:gd name="connsiteY41" fmla="*/ 41697 h 450984"/>
              <a:gd name="connsiteX42" fmla="*/ 93762 w 607427"/>
              <a:gd name="connsiteY42" fmla="*/ 0 h 450984"/>
              <a:gd name="connsiteX43" fmla="*/ 513640 w 607427"/>
              <a:gd name="connsiteY43" fmla="*/ 0 h 450984"/>
              <a:gd name="connsiteX44" fmla="*/ 558807 w 607427"/>
              <a:gd name="connsiteY44" fmla="*/ 45014 h 450984"/>
              <a:gd name="connsiteX45" fmla="*/ 558807 w 607427"/>
              <a:gd name="connsiteY45" fmla="*/ 329689 h 450984"/>
              <a:gd name="connsiteX46" fmla="*/ 513640 w 607427"/>
              <a:gd name="connsiteY46" fmla="*/ 374703 h 450984"/>
              <a:gd name="connsiteX47" fmla="*/ 93762 w 607427"/>
              <a:gd name="connsiteY47" fmla="*/ 374703 h 450984"/>
              <a:gd name="connsiteX48" fmla="*/ 48690 w 607427"/>
              <a:gd name="connsiteY48" fmla="*/ 329689 h 450984"/>
              <a:gd name="connsiteX49" fmla="*/ 48690 w 607427"/>
              <a:gd name="connsiteY49" fmla="*/ 45014 h 450984"/>
              <a:gd name="connsiteX50" fmla="*/ 93762 w 607427"/>
              <a:gd name="connsiteY50" fmla="*/ 0 h 45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07427" h="450984">
                <a:moveTo>
                  <a:pt x="16417" y="391780"/>
                </a:moveTo>
                <a:lnTo>
                  <a:pt x="591010" y="391780"/>
                </a:lnTo>
                <a:cubicBezTo>
                  <a:pt x="600120" y="391780"/>
                  <a:pt x="607427" y="399074"/>
                  <a:pt x="607427" y="408168"/>
                </a:cubicBezTo>
                <a:cubicBezTo>
                  <a:pt x="607427" y="431849"/>
                  <a:pt x="588258" y="450984"/>
                  <a:pt x="564534" y="450984"/>
                </a:cubicBezTo>
                <a:lnTo>
                  <a:pt x="42893" y="450984"/>
                </a:lnTo>
                <a:cubicBezTo>
                  <a:pt x="19264" y="450984"/>
                  <a:pt x="0" y="431849"/>
                  <a:pt x="0" y="408168"/>
                </a:cubicBezTo>
                <a:cubicBezTo>
                  <a:pt x="0" y="399074"/>
                  <a:pt x="7307" y="391780"/>
                  <a:pt x="16417" y="391780"/>
                </a:cubicBezTo>
                <a:close/>
                <a:moveTo>
                  <a:pt x="178401" y="179871"/>
                </a:moveTo>
                <a:lnTo>
                  <a:pt x="220153" y="179871"/>
                </a:lnTo>
                <a:cubicBezTo>
                  <a:pt x="226985" y="179871"/>
                  <a:pt x="232584" y="185368"/>
                  <a:pt x="232584" y="192286"/>
                </a:cubicBezTo>
                <a:lnTo>
                  <a:pt x="232584" y="288759"/>
                </a:lnTo>
                <a:cubicBezTo>
                  <a:pt x="232584" y="295582"/>
                  <a:pt x="226985" y="301173"/>
                  <a:pt x="220153" y="301173"/>
                </a:cubicBezTo>
                <a:lnTo>
                  <a:pt x="178401" y="301173"/>
                </a:lnTo>
                <a:cubicBezTo>
                  <a:pt x="171474" y="301173"/>
                  <a:pt x="165970" y="295582"/>
                  <a:pt x="165970" y="288759"/>
                </a:cubicBezTo>
                <a:lnTo>
                  <a:pt x="165970" y="192286"/>
                </a:lnTo>
                <a:cubicBezTo>
                  <a:pt x="165970" y="185368"/>
                  <a:pt x="171474" y="179871"/>
                  <a:pt x="178401" y="179871"/>
                </a:cubicBezTo>
                <a:close/>
                <a:moveTo>
                  <a:pt x="282804" y="140708"/>
                </a:moveTo>
                <a:lnTo>
                  <a:pt x="324623" y="140708"/>
                </a:lnTo>
                <a:cubicBezTo>
                  <a:pt x="331450" y="140708"/>
                  <a:pt x="336950" y="146300"/>
                  <a:pt x="336950" y="153124"/>
                </a:cubicBezTo>
                <a:lnTo>
                  <a:pt x="336950" y="288758"/>
                </a:lnTo>
                <a:cubicBezTo>
                  <a:pt x="336950" y="295582"/>
                  <a:pt x="331450" y="301174"/>
                  <a:pt x="324623" y="301174"/>
                </a:cubicBezTo>
                <a:lnTo>
                  <a:pt x="282804" y="301174"/>
                </a:lnTo>
                <a:cubicBezTo>
                  <a:pt x="275977" y="301174"/>
                  <a:pt x="270477" y="295582"/>
                  <a:pt x="270477" y="288758"/>
                </a:cubicBezTo>
                <a:lnTo>
                  <a:pt x="270477" y="153124"/>
                </a:lnTo>
                <a:cubicBezTo>
                  <a:pt x="270477" y="146300"/>
                  <a:pt x="275977" y="140708"/>
                  <a:pt x="282804" y="140708"/>
                </a:cubicBezTo>
                <a:close/>
                <a:moveTo>
                  <a:pt x="387274" y="87290"/>
                </a:moveTo>
                <a:lnTo>
                  <a:pt x="429026" y="87290"/>
                </a:lnTo>
                <a:cubicBezTo>
                  <a:pt x="435953" y="87290"/>
                  <a:pt x="441457" y="92881"/>
                  <a:pt x="441457" y="99704"/>
                </a:cubicBezTo>
                <a:lnTo>
                  <a:pt x="441457" y="288760"/>
                </a:lnTo>
                <a:cubicBezTo>
                  <a:pt x="441457" y="295583"/>
                  <a:pt x="435953" y="301174"/>
                  <a:pt x="429026" y="301174"/>
                </a:cubicBezTo>
                <a:lnTo>
                  <a:pt x="387274" y="301174"/>
                </a:lnTo>
                <a:cubicBezTo>
                  <a:pt x="380442" y="301174"/>
                  <a:pt x="374843" y="295583"/>
                  <a:pt x="374843" y="288760"/>
                </a:cubicBezTo>
                <a:lnTo>
                  <a:pt x="374843" y="99704"/>
                </a:lnTo>
                <a:cubicBezTo>
                  <a:pt x="374843" y="92881"/>
                  <a:pt x="380442" y="87290"/>
                  <a:pt x="387274" y="87290"/>
                </a:cubicBezTo>
                <a:close/>
                <a:moveTo>
                  <a:pt x="93762" y="41697"/>
                </a:moveTo>
                <a:cubicBezTo>
                  <a:pt x="91959" y="41697"/>
                  <a:pt x="90441" y="43213"/>
                  <a:pt x="90441" y="45014"/>
                </a:cubicBezTo>
                <a:lnTo>
                  <a:pt x="90441" y="329689"/>
                </a:lnTo>
                <a:cubicBezTo>
                  <a:pt x="90441" y="331490"/>
                  <a:pt x="91959" y="332911"/>
                  <a:pt x="93762" y="332911"/>
                </a:cubicBezTo>
                <a:lnTo>
                  <a:pt x="513640" y="332911"/>
                </a:lnTo>
                <a:cubicBezTo>
                  <a:pt x="515538" y="332911"/>
                  <a:pt x="516961" y="331490"/>
                  <a:pt x="516961" y="329689"/>
                </a:cubicBezTo>
                <a:lnTo>
                  <a:pt x="516961" y="45014"/>
                </a:lnTo>
                <a:cubicBezTo>
                  <a:pt x="516961" y="43213"/>
                  <a:pt x="515538" y="41697"/>
                  <a:pt x="513640" y="41697"/>
                </a:cubicBezTo>
                <a:close/>
                <a:moveTo>
                  <a:pt x="93762" y="0"/>
                </a:moveTo>
                <a:lnTo>
                  <a:pt x="513640" y="0"/>
                </a:lnTo>
                <a:cubicBezTo>
                  <a:pt x="538501" y="0"/>
                  <a:pt x="558807" y="20185"/>
                  <a:pt x="558807" y="45014"/>
                </a:cubicBezTo>
                <a:lnTo>
                  <a:pt x="558807" y="329689"/>
                </a:lnTo>
                <a:cubicBezTo>
                  <a:pt x="558807" y="354518"/>
                  <a:pt x="538501" y="374703"/>
                  <a:pt x="513640" y="374703"/>
                </a:cubicBezTo>
                <a:lnTo>
                  <a:pt x="93762" y="374703"/>
                </a:lnTo>
                <a:cubicBezTo>
                  <a:pt x="68901" y="374703"/>
                  <a:pt x="48690" y="354518"/>
                  <a:pt x="48690" y="329689"/>
                </a:cubicBezTo>
                <a:lnTo>
                  <a:pt x="48690" y="45014"/>
                </a:lnTo>
                <a:cubicBezTo>
                  <a:pt x="48690" y="20185"/>
                  <a:pt x="68901" y="0"/>
                  <a:pt x="93762" y="0"/>
                </a:cubicBezTo>
                <a:close/>
              </a:path>
            </a:pathLst>
          </a:custGeom>
          <a:solidFill>
            <a:srgbClr val="56C4D2"/>
          </a:solidFill>
          <a:ln>
            <a:solidFill>
              <a:srgbClr val="56C4D2"/>
            </a:solidFill>
          </a:ln>
        </p:spPr>
        <p:txBody>
          <a:bodyPr/>
          <a:lstStyle/>
          <a:p>
            <a:endParaRPr lang="zh-CN" altLang="en-US"/>
          </a:p>
        </p:txBody>
      </p:sp>
      <p:sp>
        <p:nvSpPr>
          <p:cNvPr id="83" name="telephone_100714"/>
          <p:cNvSpPr>
            <a:spLocks noChangeAspect="1"/>
          </p:cNvSpPr>
          <p:nvPr/>
        </p:nvSpPr>
        <p:spPr bwMode="gray">
          <a:xfrm>
            <a:off x="9085327" y="5587083"/>
            <a:ext cx="408589" cy="383283"/>
          </a:xfrm>
          <a:custGeom>
            <a:avLst/>
            <a:gdLst>
              <a:gd name="connsiteX0" fmla="*/ 191897 w 608415"/>
              <a:gd name="connsiteY0" fmla="*/ 457200 h 570733"/>
              <a:gd name="connsiteX1" fmla="*/ 191897 w 608415"/>
              <a:gd name="connsiteY1" fmla="*/ 474537 h 570733"/>
              <a:gd name="connsiteX2" fmla="*/ 171309 w 608415"/>
              <a:gd name="connsiteY2" fmla="*/ 495096 h 570733"/>
              <a:gd name="connsiteX3" fmla="*/ 116613 w 608415"/>
              <a:gd name="connsiteY3" fmla="*/ 495096 h 570733"/>
              <a:gd name="connsiteX4" fmla="*/ 116613 w 608415"/>
              <a:gd name="connsiteY4" fmla="*/ 513046 h 570733"/>
              <a:gd name="connsiteX5" fmla="*/ 133052 w 608415"/>
              <a:gd name="connsiteY5" fmla="*/ 529616 h 570733"/>
              <a:gd name="connsiteX6" fmla="*/ 285002 w 608415"/>
              <a:gd name="connsiteY6" fmla="*/ 529616 h 570733"/>
              <a:gd name="connsiteX7" fmla="*/ 301442 w 608415"/>
              <a:gd name="connsiteY7" fmla="*/ 513046 h 570733"/>
              <a:gd name="connsiteX8" fmla="*/ 301442 w 608415"/>
              <a:gd name="connsiteY8" fmla="*/ 457200 h 570733"/>
              <a:gd name="connsiteX9" fmla="*/ 472913 w 608415"/>
              <a:gd name="connsiteY9" fmla="*/ 302514 h 570733"/>
              <a:gd name="connsiteX10" fmla="*/ 510557 w 608415"/>
              <a:gd name="connsiteY10" fmla="*/ 302514 h 570733"/>
              <a:gd name="connsiteX11" fmla="*/ 531146 w 608415"/>
              <a:gd name="connsiteY11" fmla="*/ 323231 h 570733"/>
              <a:gd name="connsiteX12" fmla="*/ 510557 w 608415"/>
              <a:gd name="connsiteY12" fmla="*/ 343795 h 570733"/>
              <a:gd name="connsiteX13" fmla="*/ 472913 w 608415"/>
              <a:gd name="connsiteY13" fmla="*/ 343795 h 570733"/>
              <a:gd name="connsiteX14" fmla="*/ 452324 w 608415"/>
              <a:gd name="connsiteY14" fmla="*/ 323231 h 570733"/>
              <a:gd name="connsiteX15" fmla="*/ 472913 w 608415"/>
              <a:gd name="connsiteY15" fmla="*/ 302514 h 570733"/>
              <a:gd name="connsiteX16" fmla="*/ 359868 w 608415"/>
              <a:gd name="connsiteY16" fmla="*/ 302514 h 570733"/>
              <a:gd name="connsiteX17" fmla="*/ 397512 w 608415"/>
              <a:gd name="connsiteY17" fmla="*/ 302514 h 570733"/>
              <a:gd name="connsiteX18" fmla="*/ 418101 w 608415"/>
              <a:gd name="connsiteY18" fmla="*/ 323231 h 570733"/>
              <a:gd name="connsiteX19" fmla="*/ 397512 w 608415"/>
              <a:gd name="connsiteY19" fmla="*/ 343795 h 570733"/>
              <a:gd name="connsiteX20" fmla="*/ 359868 w 608415"/>
              <a:gd name="connsiteY20" fmla="*/ 343795 h 570733"/>
              <a:gd name="connsiteX21" fmla="*/ 339279 w 608415"/>
              <a:gd name="connsiteY21" fmla="*/ 323231 h 570733"/>
              <a:gd name="connsiteX22" fmla="*/ 359868 w 608415"/>
              <a:gd name="connsiteY22" fmla="*/ 302514 h 570733"/>
              <a:gd name="connsiteX23" fmla="*/ 246751 w 608415"/>
              <a:gd name="connsiteY23" fmla="*/ 302514 h 570733"/>
              <a:gd name="connsiteX24" fmla="*/ 284395 w 608415"/>
              <a:gd name="connsiteY24" fmla="*/ 302514 h 570733"/>
              <a:gd name="connsiteX25" fmla="*/ 304984 w 608415"/>
              <a:gd name="connsiteY25" fmla="*/ 323231 h 570733"/>
              <a:gd name="connsiteX26" fmla="*/ 284395 w 608415"/>
              <a:gd name="connsiteY26" fmla="*/ 343795 h 570733"/>
              <a:gd name="connsiteX27" fmla="*/ 246751 w 608415"/>
              <a:gd name="connsiteY27" fmla="*/ 343795 h 570733"/>
              <a:gd name="connsiteX28" fmla="*/ 226162 w 608415"/>
              <a:gd name="connsiteY28" fmla="*/ 323231 h 570733"/>
              <a:gd name="connsiteX29" fmla="*/ 246751 w 608415"/>
              <a:gd name="connsiteY29" fmla="*/ 302514 h 570733"/>
              <a:gd name="connsiteX30" fmla="*/ 472913 w 608415"/>
              <a:gd name="connsiteY30" fmla="*/ 226868 h 570733"/>
              <a:gd name="connsiteX31" fmla="*/ 510557 w 608415"/>
              <a:gd name="connsiteY31" fmla="*/ 226868 h 570733"/>
              <a:gd name="connsiteX32" fmla="*/ 531146 w 608415"/>
              <a:gd name="connsiteY32" fmla="*/ 247432 h 570733"/>
              <a:gd name="connsiteX33" fmla="*/ 510557 w 608415"/>
              <a:gd name="connsiteY33" fmla="*/ 268149 h 570733"/>
              <a:gd name="connsiteX34" fmla="*/ 472913 w 608415"/>
              <a:gd name="connsiteY34" fmla="*/ 268149 h 570733"/>
              <a:gd name="connsiteX35" fmla="*/ 452324 w 608415"/>
              <a:gd name="connsiteY35" fmla="*/ 247432 h 570733"/>
              <a:gd name="connsiteX36" fmla="*/ 472913 w 608415"/>
              <a:gd name="connsiteY36" fmla="*/ 226868 h 570733"/>
              <a:gd name="connsiteX37" fmla="*/ 359868 w 608415"/>
              <a:gd name="connsiteY37" fmla="*/ 226868 h 570733"/>
              <a:gd name="connsiteX38" fmla="*/ 397512 w 608415"/>
              <a:gd name="connsiteY38" fmla="*/ 226868 h 570733"/>
              <a:gd name="connsiteX39" fmla="*/ 418101 w 608415"/>
              <a:gd name="connsiteY39" fmla="*/ 247432 h 570733"/>
              <a:gd name="connsiteX40" fmla="*/ 397512 w 608415"/>
              <a:gd name="connsiteY40" fmla="*/ 268149 h 570733"/>
              <a:gd name="connsiteX41" fmla="*/ 359868 w 608415"/>
              <a:gd name="connsiteY41" fmla="*/ 268149 h 570733"/>
              <a:gd name="connsiteX42" fmla="*/ 339279 w 608415"/>
              <a:gd name="connsiteY42" fmla="*/ 247432 h 570733"/>
              <a:gd name="connsiteX43" fmla="*/ 359868 w 608415"/>
              <a:gd name="connsiteY43" fmla="*/ 226868 h 570733"/>
              <a:gd name="connsiteX44" fmla="*/ 246751 w 608415"/>
              <a:gd name="connsiteY44" fmla="*/ 226868 h 570733"/>
              <a:gd name="connsiteX45" fmla="*/ 284395 w 608415"/>
              <a:gd name="connsiteY45" fmla="*/ 226868 h 570733"/>
              <a:gd name="connsiteX46" fmla="*/ 304984 w 608415"/>
              <a:gd name="connsiteY46" fmla="*/ 247432 h 570733"/>
              <a:gd name="connsiteX47" fmla="*/ 284395 w 608415"/>
              <a:gd name="connsiteY47" fmla="*/ 268149 h 570733"/>
              <a:gd name="connsiteX48" fmla="*/ 246751 w 608415"/>
              <a:gd name="connsiteY48" fmla="*/ 268149 h 570733"/>
              <a:gd name="connsiteX49" fmla="*/ 226162 w 608415"/>
              <a:gd name="connsiteY49" fmla="*/ 247432 h 570733"/>
              <a:gd name="connsiteX50" fmla="*/ 246751 w 608415"/>
              <a:gd name="connsiteY50" fmla="*/ 226868 h 570733"/>
              <a:gd name="connsiteX51" fmla="*/ 472913 w 608415"/>
              <a:gd name="connsiteY51" fmla="*/ 151292 h 570733"/>
              <a:gd name="connsiteX52" fmla="*/ 510557 w 608415"/>
              <a:gd name="connsiteY52" fmla="*/ 151292 h 570733"/>
              <a:gd name="connsiteX53" fmla="*/ 531146 w 608415"/>
              <a:gd name="connsiteY53" fmla="*/ 171820 h 570733"/>
              <a:gd name="connsiteX54" fmla="*/ 510557 w 608415"/>
              <a:gd name="connsiteY54" fmla="*/ 192502 h 570733"/>
              <a:gd name="connsiteX55" fmla="*/ 472913 w 608415"/>
              <a:gd name="connsiteY55" fmla="*/ 192502 h 570733"/>
              <a:gd name="connsiteX56" fmla="*/ 452324 w 608415"/>
              <a:gd name="connsiteY56" fmla="*/ 171820 h 570733"/>
              <a:gd name="connsiteX57" fmla="*/ 472913 w 608415"/>
              <a:gd name="connsiteY57" fmla="*/ 151292 h 570733"/>
              <a:gd name="connsiteX58" fmla="*/ 359868 w 608415"/>
              <a:gd name="connsiteY58" fmla="*/ 151292 h 570733"/>
              <a:gd name="connsiteX59" fmla="*/ 397512 w 608415"/>
              <a:gd name="connsiteY59" fmla="*/ 151292 h 570733"/>
              <a:gd name="connsiteX60" fmla="*/ 418101 w 608415"/>
              <a:gd name="connsiteY60" fmla="*/ 171820 h 570733"/>
              <a:gd name="connsiteX61" fmla="*/ 397512 w 608415"/>
              <a:gd name="connsiteY61" fmla="*/ 192502 h 570733"/>
              <a:gd name="connsiteX62" fmla="*/ 359868 w 608415"/>
              <a:gd name="connsiteY62" fmla="*/ 192502 h 570733"/>
              <a:gd name="connsiteX63" fmla="*/ 339279 w 608415"/>
              <a:gd name="connsiteY63" fmla="*/ 171820 h 570733"/>
              <a:gd name="connsiteX64" fmla="*/ 359868 w 608415"/>
              <a:gd name="connsiteY64" fmla="*/ 151292 h 570733"/>
              <a:gd name="connsiteX65" fmla="*/ 246751 w 608415"/>
              <a:gd name="connsiteY65" fmla="*/ 151292 h 570733"/>
              <a:gd name="connsiteX66" fmla="*/ 284395 w 608415"/>
              <a:gd name="connsiteY66" fmla="*/ 151292 h 570733"/>
              <a:gd name="connsiteX67" fmla="*/ 304984 w 608415"/>
              <a:gd name="connsiteY67" fmla="*/ 171820 h 570733"/>
              <a:gd name="connsiteX68" fmla="*/ 284395 w 608415"/>
              <a:gd name="connsiteY68" fmla="*/ 192502 h 570733"/>
              <a:gd name="connsiteX69" fmla="*/ 246751 w 608415"/>
              <a:gd name="connsiteY69" fmla="*/ 192502 h 570733"/>
              <a:gd name="connsiteX70" fmla="*/ 226162 w 608415"/>
              <a:gd name="connsiteY70" fmla="*/ 171820 h 570733"/>
              <a:gd name="connsiteX71" fmla="*/ 246751 w 608415"/>
              <a:gd name="connsiteY71" fmla="*/ 151292 h 570733"/>
              <a:gd name="connsiteX72" fmla="*/ 191897 w 608415"/>
              <a:gd name="connsiteY72" fmla="*/ 79013 h 570733"/>
              <a:gd name="connsiteX73" fmla="*/ 191897 w 608415"/>
              <a:gd name="connsiteY73" fmla="*/ 416083 h 570733"/>
              <a:gd name="connsiteX74" fmla="*/ 567239 w 608415"/>
              <a:gd name="connsiteY74" fmla="*/ 416083 h 570733"/>
              <a:gd name="connsiteX75" fmla="*/ 567239 w 608415"/>
              <a:gd name="connsiteY75" fmla="*/ 79013 h 570733"/>
              <a:gd name="connsiteX76" fmla="*/ 41176 w 608415"/>
              <a:gd name="connsiteY76" fmla="*/ 41117 h 570733"/>
              <a:gd name="connsiteX77" fmla="*/ 41176 w 608415"/>
              <a:gd name="connsiteY77" fmla="*/ 453978 h 570733"/>
              <a:gd name="connsiteX78" fmla="*/ 150721 w 608415"/>
              <a:gd name="connsiteY78" fmla="*/ 453978 h 570733"/>
              <a:gd name="connsiteX79" fmla="*/ 150721 w 608415"/>
              <a:gd name="connsiteY79" fmla="*/ 41117 h 570733"/>
              <a:gd name="connsiteX80" fmla="*/ 20588 w 608415"/>
              <a:gd name="connsiteY80" fmla="*/ 0 h 570733"/>
              <a:gd name="connsiteX81" fmla="*/ 171309 w 608415"/>
              <a:gd name="connsiteY81" fmla="*/ 0 h 570733"/>
              <a:gd name="connsiteX82" fmla="*/ 191897 w 608415"/>
              <a:gd name="connsiteY82" fmla="*/ 20558 h 570733"/>
              <a:gd name="connsiteX83" fmla="*/ 191897 w 608415"/>
              <a:gd name="connsiteY83" fmla="*/ 37895 h 570733"/>
              <a:gd name="connsiteX84" fmla="*/ 587827 w 608415"/>
              <a:gd name="connsiteY84" fmla="*/ 37895 h 570733"/>
              <a:gd name="connsiteX85" fmla="*/ 608415 w 608415"/>
              <a:gd name="connsiteY85" fmla="*/ 58454 h 570733"/>
              <a:gd name="connsiteX86" fmla="*/ 608415 w 608415"/>
              <a:gd name="connsiteY86" fmla="*/ 436642 h 570733"/>
              <a:gd name="connsiteX87" fmla="*/ 587827 w 608415"/>
              <a:gd name="connsiteY87" fmla="*/ 457200 h 570733"/>
              <a:gd name="connsiteX88" fmla="*/ 342771 w 608415"/>
              <a:gd name="connsiteY88" fmla="*/ 457200 h 570733"/>
              <a:gd name="connsiteX89" fmla="*/ 342771 w 608415"/>
              <a:gd name="connsiteY89" fmla="*/ 513046 h 570733"/>
              <a:gd name="connsiteX90" fmla="*/ 285002 w 608415"/>
              <a:gd name="connsiteY90" fmla="*/ 570733 h 570733"/>
              <a:gd name="connsiteX91" fmla="*/ 133052 w 608415"/>
              <a:gd name="connsiteY91" fmla="*/ 570733 h 570733"/>
              <a:gd name="connsiteX92" fmla="*/ 75437 w 608415"/>
              <a:gd name="connsiteY92" fmla="*/ 513046 h 570733"/>
              <a:gd name="connsiteX93" fmla="*/ 75437 w 608415"/>
              <a:gd name="connsiteY93" fmla="*/ 495096 h 570733"/>
              <a:gd name="connsiteX94" fmla="*/ 20588 w 608415"/>
              <a:gd name="connsiteY94" fmla="*/ 495096 h 570733"/>
              <a:gd name="connsiteX95" fmla="*/ 0 w 608415"/>
              <a:gd name="connsiteY95" fmla="*/ 474537 h 570733"/>
              <a:gd name="connsiteX96" fmla="*/ 0 w 608415"/>
              <a:gd name="connsiteY96" fmla="*/ 20558 h 570733"/>
              <a:gd name="connsiteX97" fmla="*/ 20588 w 608415"/>
              <a:gd name="connsiteY97" fmla="*/ 0 h 57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608415" h="570733">
                <a:moveTo>
                  <a:pt x="191897" y="457200"/>
                </a:moveTo>
                <a:lnTo>
                  <a:pt x="191897" y="474537"/>
                </a:lnTo>
                <a:cubicBezTo>
                  <a:pt x="191897" y="485890"/>
                  <a:pt x="182678" y="495096"/>
                  <a:pt x="171309" y="495096"/>
                </a:cubicBezTo>
                <a:lnTo>
                  <a:pt x="116613" y="495096"/>
                </a:lnTo>
                <a:lnTo>
                  <a:pt x="116613" y="513046"/>
                </a:lnTo>
                <a:cubicBezTo>
                  <a:pt x="116613" y="522098"/>
                  <a:pt x="123988" y="529616"/>
                  <a:pt x="133052" y="529616"/>
                </a:cubicBezTo>
                <a:lnTo>
                  <a:pt x="285002" y="529616"/>
                </a:lnTo>
                <a:cubicBezTo>
                  <a:pt x="294067" y="529616"/>
                  <a:pt x="301442" y="522098"/>
                  <a:pt x="301442" y="513046"/>
                </a:cubicBezTo>
                <a:lnTo>
                  <a:pt x="301442" y="457200"/>
                </a:lnTo>
                <a:close/>
                <a:moveTo>
                  <a:pt x="472913" y="302514"/>
                </a:moveTo>
                <a:lnTo>
                  <a:pt x="510557" y="302514"/>
                </a:lnTo>
                <a:cubicBezTo>
                  <a:pt x="521927" y="302514"/>
                  <a:pt x="531146" y="311722"/>
                  <a:pt x="531146" y="323231"/>
                </a:cubicBezTo>
                <a:cubicBezTo>
                  <a:pt x="531146" y="334588"/>
                  <a:pt x="521927" y="343795"/>
                  <a:pt x="510557" y="343795"/>
                </a:cubicBezTo>
                <a:lnTo>
                  <a:pt x="472913" y="343795"/>
                </a:lnTo>
                <a:cubicBezTo>
                  <a:pt x="461543" y="343795"/>
                  <a:pt x="452324" y="334588"/>
                  <a:pt x="452324" y="323231"/>
                </a:cubicBezTo>
                <a:cubicBezTo>
                  <a:pt x="452324" y="311722"/>
                  <a:pt x="461543" y="302514"/>
                  <a:pt x="472913" y="302514"/>
                </a:cubicBezTo>
                <a:close/>
                <a:moveTo>
                  <a:pt x="359868" y="302514"/>
                </a:moveTo>
                <a:lnTo>
                  <a:pt x="397512" y="302514"/>
                </a:lnTo>
                <a:cubicBezTo>
                  <a:pt x="408882" y="302514"/>
                  <a:pt x="418101" y="311722"/>
                  <a:pt x="418101" y="323231"/>
                </a:cubicBezTo>
                <a:cubicBezTo>
                  <a:pt x="418101" y="334588"/>
                  <a:pt x="408882" y="343795"/>
                  <a:pt x="397512" y="343795"/>
                </a:cubicBezTo>
                <a:lnTo>
                  <a:pt x="359868" y="343795"/>
                </a:lnTo>
                <a:cubicBezTo>
                  <a:pt x="348498" y="343795"/>
                  <a:pt x="339279" y="334588"/>
                  <a:pt x="339279" y="323231"/>
                </a:cubicBezTo>
                <a:cubicBezTo>
                  <a:pt x="339279" y="311722"/>
                  <a:pt x="348498" y="302514"/>
                  <a:pt x="359868" y="302514"/>
                </a:cubicBezTo>
                <a:close/>
                <a:moveTo>
                  <a:pt x="246751" y="302514"/>
                </a:moveTo>
                <a:lnTo>
                  <a:pt x="284395" y="302514"/>
                </a:lnTo>
                <a:cubicBezTo>
                  <a:pt x="295765" y="302514"/>
                  <a:pt x="304984" y="311722"/>
                  <a:pt x="304984" y="323231"/>
                </a:cubicBezTo>
                <a:cubicBezTo>
                  <a:pt x="304984" y="334588"/>
                  <a:pt x="295765" y="343795"/>
                  <a:pt x="284395" y="343795"/>
                </a:cubicBezTo>
                <a:lnTo>
                  <a:pt x="246751" y="343795"/>
                </a:lnTo>
                <a:cubicBezTo>
                  <a:pt x="235381" y="343795"/>
                  <a:pt x="226162" y="334588"/>
                  <a:pt x="226162" y="323231"/>
                </a:cubicBezTo>
                <a:cubicBezTo>
                  <a:pt x="226162" y="311722"/>
                  <a:pt x="235381" y="302514"/>
                  <a:pt x="246751" y="302514"/>
                </a:cubicBezTo>
                <a:close/>
                <a:moveTo>
                  <a:pt x="472913" y="226868"/>
                </a:moveTo>
                <a:lnTo>
                  <a:pt x="510557" y="226868"/>
                </a:lnTo>
                <a:cubicBezTo>
                  <a:pt x="521927" y="226868"/>
                  <a:pt x="531146" y="236075"/>
                  <a:pt x="531146" y="247432"/>
                </a:cubicBezTo>
                <a:cubicBezTo>
                  <a:pt x="531146" y="258941"/>
                  <a:pt x="521927" y="268149"/>
                  <a:pt x="510557" y="268149"/>
                </a:cubicBezTo>
                <a:lnTo>
                  <a:pt x="472913" y="268149"/>
                </a:lnTo>
                <a:cubicBezTo>
                  <a:pt x="461543" y="268149"/>
                  <a:pt x="452324" y="258941"/>
                  <a:pt x="452324" y="247432"/>
                </a:cubicBezTo>
                <a:cubicBezTo>
                  <a:pt x="452324" y="236075"/>
                  <a:pt x="461543" y="226868"/>
                  <a:pt x="472913" y="226868"/>
                </a:cubicBezTo>
                <a:close/>
                <a:moveTo>
                  <a:pt x="359868" y="226868"/>
                </a:moveTo>
                <a:lnTo>
                  <a:pt x="397512" y="226868"/>
                </a:lnTo>
                <a:cubicBezTo>
                  <a:pt x="408882" y="226868"/>
                  <a:pt x="418101" y="236075"/>
                  <a:pt x="418101" y="247432"/>
                </a:cubicBezTo>
                <a:cubicBezTo>
                  <a:pt x="418101" y="258941"/>
                  <a:pt x="408882" y="268149"/>
                  <a:pt x="397512" y="268149"/>
                </a:cubicBezTo>
                <a:lnTo>
                  <a:pt x="359868" y="268149"/>
                </a:lnTo>
                <a:cubicBezTo>
                  <a:pt x="348498" y="268149"/>
                  <a:pt x="339279" y="258941"/>
                  <a:pt x="339279" y="247432"/>
                </a:cubicBezTo>
                <a:cubicBezTo>
                  <a:pt x="339279" y="236075"/>
                  <a:pt x="348498" y="226868"/>
                  <a:pt x="359868" y="226868"/>
                </a:cubicBezTo>
                <a:close/>
                <a:moveTo>
                  <a:pt x="246751" y="226868"/>
                </a:moveTo>
                <a:lnTo>
                  <a:pt x="284395" y="226868"/>
                </a:lnTo>
                <a:cubicBezTo>
                  <a:pt x="295765" y="226868"/>
                  <a:pt x="304984" y="236075"/>
                  <a:pt x="304984" y="247432"/>
                </a:cubicBezTo>
                <a:cubicBezTo>
                  <a:pt x="304984" y="258941"/>
                  <a:pt x="295765" y="268149"/>
                  <a:pt x="284395" y="268149"/>
                </a:cubicBezTo>
                <a:lnTo>
                  <a:pt x="246751" y="268149"/>
                </a:lnTo>
                <a:cubicBezTo>
                  <a:pt x="235381" y="268149"/>
                  <a:pt x="226162" y="258941"/>
                  <a:pt x="226162" y="247432"/>
                </a:cubicBezTo>
                <a:cubicBezTo>
                  <a:pt x="226162" y="236075"/>
                  <a:pt x="235381" y="226868"/>
                  <a:pt x="246751" y="226868"/>
                </a:cubicBezTo>
                <a:close/>
                <a:moveTo>
                  <a:pt x="472913" y="151292"/>
                </a:moveTo>
                <a:lnTo>
                  <a:pt x="510557" y="151292"/>
                </a:lnTo>
                <a:cubicBezTo>
                  <a:pt x="521927" y="151292"/>
                  <a:pt x="531146" y="160484"/>
                  <a:pt x="531146" y="171820"/>
                </a:cubicBezTo>
                <a:cubicBezTo>
                  <a:pt x="531146" y="183157"/>
                  <a:pt x="521927" y="192502"/>
                  <a:pt x="510557" y="192502"/>
                </a:cubicBezTo>
                <a:lnTo>
                  <a:pt x="472913" y="192502"/>
                </a:lnTo>
                <a:cubicBezTo>
                  <a:pt x="461543" y="192502"/>
                  <a:pt x="452324" y="183157"/>
                  <a:pt x="452324" y="171820"/>
                </a:cubicBezTo>
                <a:cubicBezTo>
                  <a:pt x="452324" y="160484"/>
                  <a:pt x="461543" y="151292"/>
                  <a:pt x="472913" y="151292"/>
                </a:cubicBezTo>
                <a:close/>
                <a:moveTo>
                  <a:pt x="359868" y="151292"/>
                </a:moveTo>
                <a:lnTo>
                  <a:pt x="397512" y="151292"/>
                </a:lnTo>
                <a:cubicBezTo>
                  <a:pt x="408882" y="151292"/>
                  <a:pt x="418101" y="160484"/>
                  <a:pt x="418101" y="171820"/>
                </a:cubicBezTo>
                <a:cubicBezTo>
                  <a:pt x="418101" y="183157"/>
                  <a:pt x="408882" y="192502"/>
                  <a:pt x="397512" y="192502"/>
                </a:cubicBezTo>
                <a:lnTo>
                  <a:pt x="359868" y="192502"/>
                </a:lnTo>
                <a:cubicBezTo>
                  <a:pt x="348498" y="192502"/>
                  <a:pt x="339279" y="183157"/>
                  <a:pt x="339279" y="171820"/>
                </a:cubicBezTo>
                <a:cubicBezTo>
                  <a:pt x="339279" y="160484"/>
                  <a:pt x="348498" y="151292"/>
                  <a:pt x="359868" y="151292"/>
                </a:cubicBezTo>
                <a:close/>
                <a:moveTo>
                  <a:pt x="246751" y="151292"/>
                </a:moveTo>
                <a:lnTo>
                  <a:pt x="284395" y="151292"/>
                </a:lnTo>
                <a:cubicBezTo>
                  <a:pt x="295765" y="151292"/>
                  <a:pt x="304984" y="160484"/>
                  <a:pt x="304984" y="171820"/>
                </a:cubicBezTo>
                <a:cubicBezTo>
                  <a:pt x="304984" y="183157"/>
                  <a:pt x="295765" y="192502"/>
                  <a:pt x="284395" y="192502"/>
                </a:cubicBezTo>
                <a:lnTo>
                  <a:pt x="246751" y="192502"/>
                </a:lnTo>
                <a:cubicBezTo>
                  <a:pt x="235381" y="192502"/>
                  <a:pt x="226162" y="183157"/>
                  <a:pt x="226162" y="171820"/>
                </a:cubicBezTo>
                <a:cubicBezTo>
                  <a:pt x="226162" y="160484"/>
                  <a:pt x="235381" y="151292"/>
                  <a:pt x="246751" y="151292"/>
                </a:cubicBezTo>
                <a:close/>
                <a:moveTo>
                  <a:pt x="191897" y="79013"/>
                </a:moveTo>
                <a:lnTo>
                  <a:pt x="191897" y="416083"/>
                </a:lnTo>
                <a:lnTo>
                  <a:pt x="567239" y="416083"/>
                </a:lnTo>
                <a:lnTo>
                  <a:pt x="567239" y="79013"/>
                </a:lnTo>
                <a:close/>
                <a:moveTo>
                  <a:pt x="41176" y="41117"/>
                </a:moveTo>
                <a:lnTo>
                  <a:pt x="41176" y="453978"/>
                </a:lnTo>
                <a:lnTo>
                  <a:pt x="150721" y="453978"/>
                </a:lnTo>
                <a:lnTo>
                  <a:pt x="150721" y="41117"/>
                </a:lnTo>
                <a:close/>
                <a:moveTo>
                  <a:pt x="20588" y="0"/>
                </a:moveTo>
                <a:lnTo>
                  <a:pt x="171309" y="0"/>
                </a:lnTo>
                <a:cubicBezTo>
                  <a:pt x="182678" y="0"/>
                  <a:pt x="191897" y="9205"/>
                  <a:pt x="191897" y="20558"/>
                </a:cubicBezTo>
                <a:lnTo>
                  <a:pt x="191897" y="37895"/>
                </a:lnTo>
                <a:lnTo>
                  <a:pt x="587827" y="37895"/>
                </a:lnTo>
                <a:cubicBezTo>
                  <a:pt x="599197" y="37895"/>
                  <a:pt x="608415" y="47101"/>
                  <a:pt x="608415" y="58454"/>
                </a:cubicBezTo>
                <a:lnTo>
                  <a:pt x="608415" y="436642"/>
                </a:lnTo>
                <a:cubicBezTo>
                  <a:pt x="608415" y="447995"/>
                  <a:pt x="599197" y="457200"/>
                  <a:pt x="587827" y="457200"/>
                </a:cubicBezTo>
                <a:lnTo>
                  <a:pt x="342771" y="457200"/>
                </a:lnTo>
                <a:lnTo>
                  <a:pt x="342771" y="513046"/>
                </a:lnTo>
                <a:cubicBezTo>
                  <a:pt x="342771" y="544805"/>
                  <a:pt x="316806" y="570733"/>
                  <a:pt x="285002" y="570733"/>
                </a:cubicBezTo>
                <a:lnTo>
                  <a:pt x="133052" y="570733"/>
                </a:lnTo>
                <a:cubicBezTo>
                  <a:pt x="101249" y="570733"/>
                  <a:pt x="75437" y="544805"/>
                  <a:pt x="75437" y="513046"/>
                </a:cubicBezTo>
                <a:lnTo>
                  <a:pt x="75437" y="495096"/>
                </a:lnTo>
                <a:lnTo>
                  <a:pt x="20588" y="495096"/>
                </a:lnTo>
                <a:cubicBezTo>
                  <a:pt x="9218" y="495096"/>
                  <a:pt x="0" y="485890"/>
                  <a:pt x="0" y="474537"/>
                </a:cubicBezTo>
                <a:lnTo>
                  <a:pt x="0" y="20558"/>
                </a:lnTo>
                <a:cubicBezTo>
                  <a:pt x="0" y="9205"/>
                  <a:pt x="9218" y="0"/>
                  <a:pt x="20588" y="0"/>
                </a:cubicBezTo>
                <a:close/>
              </a:path>
            </a:pathLst>
          </a:custGeom>
          <a:solidFill>
            <a:srgbClr val="56C4D2"/>
          </a:solidFill>
          <a:ln>
            <a:solidFill>
              <a:srgbClr val="56C4D2"/>
            </a:solidFill>
          </a:ln>
        </p:spPr>
        <p:txBody>
          <a:bodyPr/>
          <a:lstStyle/>
          <a:p>
            <a:endParaRPr lang="zh-CN" altLang="en-US"/>
          </a:p>
        </p:txBody>
      </p:sp>
      <p:sp>
        <p:nvSpPr>
          <p:cNvPr id="84" name="send_316556"/>
          <p:cNvSpPr>
            <a:spLocks noChangeAspect="1"/>
          </p:cNvSpPr>
          <p:nvPr/>
        </p:nvSpPr>
        <p:spPr bwMode="gray">
          <a:xfrm>
            <a:off x="9640570" y="5177962"/>
            <a:ext cx="571721" cy="310194"/>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7639" h="329682">
                <a:moveTo>
                  <a:pt x="91952" y="271042"/>
                </a:moveTo>
                <a:lnTo>
                  <a:pt x="100673" y="271042"/>
                </a:lnTo>
                <a:cubicBezTo>
                  <a:pt x="106546" y="271042"/>
                  <a:pt x="111352" y="275841"/>
                  <a:pt x="111352" y="281706"/>
                </a:cubicBezTo>
                <a:cubicBezTo>
                  <a:pt x="111352" y="287572"/>
                  <a:pt x="106546" y="292282"/>
                  <a:pt x="100673" y="292282"/>
                </a:cubicBezTo>
                <a:lnTo>
                  <a:pt x="91952" y="292282"/>
                </a:lnTo>
                <a:cubicBezTo>
                  <a:pt x="86079" y="292282"/>
                  <a:pt x="81362" y="287572"/>
                  <a:pt x="81362" y="281706"/>
                </a:cubicBezTo>
                <a:cubicBezTo>
                  <a:pt x="81362" y="275841"/>
                  <a:pt x="86079" y="271042"/>
                  <a:pt x="91952" y="271042"/>
                </a:cubicBezTo>
                <a:close/>
                <a:moveTo>
                  <a:pt x="10680" y="271042"/>
                </a:moveTo>
                <a:lnTo>
                  <a:pt x="56517" y="271042"/>
                </a:lnTo>
                <a:cubicBezTo>
                  <a:pt x="62391" y="271042"/>
                  <a:pt x="67108" y="275841"/>
                  <a:pt x="67108" y="281706"/>
                </a:cubicBezTo>
                <a:cubicBezTo>
                  <a:pt x="67108" y="287572"/>
                  <a:pt x="62391" y="292282"/>
                  <a:pt x="56517" y="292282"/>
                </a:cubicBezTo>
                <a:lnTo>
                  <a:pt x="10680" y="292282"/>
                </a:lnTo>
                <a:cubicBezTo>
                  <a:pt x="4806" y="292282"/>
                  <a:pt x="0" y="287572"/>
                  <a:pt x="0" y="281706"/>
                </a:cubicBezTo>
                <a:cubicBezTo>
                  <a:pt x="0" y="275841"/>
                  <a:pt x="4806" y="271042"/>
                  <a:pt x="10680" y="271042"/>
                </a:cubicBezTo>
                <a:close/>
                <a:moveTo>
                  <a:pt x="53229" y="186011"/>
                </a:moveTo>
                <a:lnTo>
                  <a:pt x="129042" y="186011"/>
                </a:lnTo>
                <a:cubicBezTo>
                  <a:pt x="134915" y="186011"/>
                  <a:pt x="139720" y="190810"/>
                  <a:pt x="139720" y="196675"/>
                </a:cubicBezTo>
                <a:cubicBezTo>
                  <a:pt x="139720" y="202541"/>
                  <a:pt x="134915" y="207251"/>
                  <a:pt x="129042" y="207251"/>
                </a:cubicBezTo>
                <a:lnTo>
                  <a:pt x="53229" y="207251"/>
                </a:lnTo>
                <a:cubicBezTo>
                  <a:pt x="47356" y="207251"/>
                  <a:pt x="42551" y="202541"/>
                  <a:pt x="42551" y="196675"/>
                </a:cubicBezTo>
                <a:cubicBezTo>
                  <a:pt x="42551" y="190810"/>
                  <a:pt x="47356" y="186011"/>
                  <a:pt x="53229" y="186011"/>
                </a:cubicBezTo>
                <a:close/>
                <a:moveTo>
                  <a:pt x="10681" y="122290"/>
                </a:moveTo>
                <a:lnTo>
                  <a:pt x="100671" y="122290"/>
                </a:lnTo>
                <a:cubicBezTo>
                  <a:pt x="106545" y="122290"/>
                  <a:pt x="111352" y="127089"/>
                  <a:pt x="111352" y="132954"/>
                </a:cubicBezTo>
                <a:cubicBezTo>
                  <a:pt x="111352" y="138820"/>
                  <a:pt x="106545" y="143530"/>
                  <a:pt x="100671" y="143530"/>
                </a:cubicBezTo>
                <a:lnTo>
                  <a:pt x="10681" y="143530"/>
                </a:lnTo>
                <a:cubicBezTo>
                  <a:pt x="4807" y="143530"/>
                  <a:pt x="0" y="138820"/>
                  <a:pt x="0" y="132954"/>
                </a:cubicBezTo>
                <a:cubicBezTo>
                  <a:pt x="0" y="127089"/>
                  <a:pt x="4807" y="122290"/>
                  <a:pt x="10681" y="122290"/>
                </a:cubicBezTo>
                <a:close/>
                <a:moveTo>
                  <a:pt x="38959" y="37329"/>
                </a:moveTo>
                <a:lnTo>
                  <a:pt x="121911" y="37329"/>
                </a:lnTo>
                <a:cubicBezTo>
                  <a:pt x="127786" y="37329"/>
                  <a:pt x="132592" y="42128"/>
                  <a:pt x="132592" y="47993"/>
                </a:cubicBezTo>
                <a:cubicBezTo>
                  <a:pt x="132592" y="53859"/>
                  <a:pt x="127786" y="58569"/>
                  <a:pt x="121911" y="58569"/>
                </a:cubicBezTo>
                <a:lnTo>
                  <a:pt x="38959" y="58569"/>
                </a:lnTo>
                <a:cubicBezTo>
                  <a:pt x="33084" y="58569"/>
                  <a:pt x="28367" y="53859"/>
                  <a:pt x="28367" y="47993"/>
                </a:cubicBezTo>
                <a:cubicBezTo>
                  <a:pt x="28367" y="42128"/>
                  <a:pt x="33084" y="37329"/>
                  <a:pt x="38959" y="37329"/>
                </a:cubicBezTo>
                <a:close/>
                <a:moveTo>
                  <a:pt x="586368" y="34399"/>
                </a:moveTo>
                <a:lnTo>
                  <a:pt x="440321" y="164797"/>
                </a:lnTo>
                <a:lnTo>
                  <a:pt x="586368" y="295283"/>
                </a:lnTo>
                <a:close/>
                <a:moveTo>
                  <a:pt x="198067" y="21244"/>
                </a:moveTo>
                <a:lnTo>
                  <a:pt x="254136" y="71287"/>
                </a:lnTo>
                <a:cubicBezTo>
                  <a:pt x="258497" y="75198"/>
                  <a:pt x="258853" y="81954"/>
                  <a:pt x="254937" y="86309"/>
                </a:cubicBezTo>
                <a:cubicBezTo>
                  <a:pt x="252890" y="88709"/>
                  <a:pt x="249953" y="89865"/>
                  <a:pt x="247016" y="89865"/>
                </a:cubicBezTo>
                <a:cubicBezTo>
                  <a:pt x="244524" y="89865"/>
                  <a:pt x="241943" y="88976"/>
                  <a:pt x="239896" y="87198"/>
                </a:cubicBezTo>
                <a:lnTo>
                  <a:pt x="180890" y="34399"/>
                </a:lnTo>
                <a:lnTo>
                  <a:pt x="180890" y="295283"/>
                </a:lnTo>
                <a:lnTo>
                  <a:pt x="326848" y="164797"/>
                </a:lnTo>
                <a:lnTo>
                  <a:pt x="267041" y="111375"/>
                </a:lnTo>
                <a:cubicBezTo>
                  <a:pt x="262680" y="107464"/>
                  <a:pt x="262324" y="100798"/>
                  <a:pt x="266240" y="96354"/>
                </a:cubicBezTo>
                <a:cubicBezTo>
                  <a:pt x="270156" y="91998"/>
                  <a:pt x="276830" y="91643"/>
                  <a:pt x="281191" y="95554"/>
                </a:cubicBezTo>
                <a:lnTo>
                  <a:pt x="383629" y="187018"/>
                </a:lnTo>
                <a:lnTo>
                  <a:pt x="569103" y="21244"/>
                </a:lnTo>
                <a:close/>
                <a:moveTo>
                  <a:pt x="170210" y="0"/>
                </a:moveTo>
                <a:lnTo>
                  <a:pt x="596959" y="0"/>
                </a:lnTo>
                <a:cubicBezTo>
                  <a:pt x="602833" y="0"/>
                  <a:pt x="607639" y="4711"/>
                  <a:pt x="607639" y="10578"/>
                </a:cubicBezTo>
                <a:lnTo>
                  <a:pt x="607639" y="319016"/>
                </a:lnTo>
                <a:cubicBezTo>
                  <a:pt x="607639" y="324882"/>
                  <a:pt x="602833" y="329682"/>
                  <a:pt x="596959" y="329682"/>
                </a:cubicBezTo>
                <a:lnTo>
                  <a:pt x="538754" y="329682"/>
                </a:lnTo>
                <a:cubicBezTo>
                  <a:pt x="532880" y="329682"/>
                  <a:pt x="528074" y="324882"/>
                  <a:pt x="528074" y="319016"/>
                </a:cubicBezTo>
                <a:cubicBezTo>
                  <a:pt x="528074" y="313149"/>
                  <a:pt x="532880" y="308438"/>
                  <a:pt x="538754" y="308438"/>
                </a:cubicBezTo>
                <a:lnTo>
                  <a:pt x="569103" y="308438"/>
                </a:lnTo>
                <a:lnTo>
                  <a:pt x="424390" y="179107"/>
                </a:lnTo>
                <a:lnTo>
                  <a:pt x="390660" y="209240"/>
                </a:lnTo>
                <a:cubicBezTo>
                  <a:pt x="388702" y="211018"/>
                  <a:pt x="386121" y="211907"/>
                  <a:pt x="383629" y="211907"/>
                </a:cubicBezTo>
                <a:cubicBezTo>
                  <a:pt x="381048" y="211907"/>
                  <a:pt x="378556" y="211018"/>
                  <a:pt x="376509" y="209240"/>
                </a:cubicBezTo>
                <a:lnTo>
                  <a:pt x="342779" y="179107"/>
                </a:lnTo>
                <a:lnTo>
                  <a:pt x="198067" y="308438"/>
                </a:lnTo>
                <a:lnTo>
                  <a:pt x="503243" y="308438"/>
                </a:lnTo>
                <a:cubicBezTo>
                  <a:pt x="509117" y="308438"/>
                  <a:pt x="513923" y="313149"/>
                  <a:pt x="513923" y="319016"/>
                </a:cubicBezTo>
                <a:cubicBezTo>
                  <a:pt x="513923" y="324882"/>
                  <a:pt x="509117" y="329682"/>
                  <a:pt x="503243" y="329682"/>
                </a:cubicBezTo>
                <a:lnTo>
                  <a:pt x="170210" y="329682"/>
                </a:lnTo>
                <a:cubicBezTo>
                  <a:pt x="164336" y="329682"/>
                  <a:pt x="159619" y="324882"/>
                  <a:pt x="159619" y="319016"/>
                </a:cubicBezTo>
                <a:lnTo>
                  <a:pt x="159619" y="10578"/>
                </a:lnTo>
                <a:cubicBezTo>
                  <a:pt x="159619" y="4711"/>
                  <a:pt x="164336" y="0"/>
                  <a:pt x="170210" y="0"/>
                </a:cubicBezTo>
                <a:close/>
              </a:path>
            </a:pathLst>
          </a:custGeom>
          <a:solidFill>
            <a:srgbClr val="56C4D2"/>
          </a:solidFill>
          <a:ln>
            <a:solidFill>
              <a:srgbClr val="56C4D2"/>
            </a:solidFill>
          </a:ln>
        </p:spPr>
        <p:txBody>
          <a:bodyPr/>
          <a:lstStyle/>
          <a:p>
            <a:endParaRPr lang="zh-CN" altLang="en-US"/>
          </a:p>
        </p:txBody>
      </p:sp>
      <p:sp>
        <p:nvSpPr>
          <p:cNvPr id="85" name="Rectangle 84"/>
          <p:cNvSpPr/>
          <p:nvPr/>
        </p:nvSpPr>
        <p:spPr bwMode="gray">
          <a:xfrm>
            <a:off x="8432290" y="5095838"/>
            <a:ext cx="1872208" cy="964880"/>
          </a:xfrm>
          <a:prstGeom prst="rect">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12"/>
          <p:cNvSpPr txBox="1"/>
          <p:nvPr/>
        </p:nvSpPr>
        <p:spPr bwMode="gray">
          <a:xfrm>
            <a:off x="8820385" y="4812595"/>
            <a:ext cx="1106045" cy="313932"/>
          </a:xfrm>
          <a:prstGeom prst="rect">
            <a:avLst/>
          </a:prstGeom>
          <a:noFill/>
        </p:spPr>
        <p:txBody>
          <a:bodyPr wrap="square" rtlCol="0">
            <a:spAutoFit/>
          </a:bodyPr>
          <a:lstStyle/>
          <a:p>
            <a:pPr algn="ctr" defTabSz="1218784">
              <a:lnSpc>
                <a:spcPct val="120000"/>
              </a:lnSpc>
            </a:pPr>
            <a:r>
              <a:rPr lang="zh-CN" altLang="en-US" sz="1200" dirty="0">
                <a:solidFill>
                  <a:prstClr val="black"/>
                </a:solidFill>
                <a:latin typeface="Huawei Sans" panose="020C0503030203020204" pitchFamily="34" charset="0"/>
                <a:ea typeface="方正兰亭黑简体" panose="02000000000000000000" pitchFamily="2" charset="-122"/>
              </a:rPr>
              <a:t>企业业务增多</a:t>
            </a:r>
          </a:p>
        </p:txBody>
      </p:sp>
    </p:spTree>
    <p:custDataLst>
      <p:tags r:id="rId1"/>
    </p:custDataLst>
    <p:extLst>
      <p:ext uri="{BB962C8B-B14F-4D97-AF65-F5344CB8AC3E}">
        <p14:creationId xmlns:p14="http://schemas.microsoft.com/office/powerpoint/2010/main" val="2307594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多业务对企业广域互联的挑战</a:t>
            </a:r>
          </a:p>
        </p:txBody>
      </p:sp>
      <p:sp>
        <p:nvSpPr>
          <p:cNvPr id="3" name="Text Placeholder 2"/>
          <p:cNvSpPr>
            <a:spLocks noGrp="1"/>
          </p:cNvSpPr>
          <p:nvPr>
            <p:ph type="body" sz="quarter" idx="10"/>
          </p:nvPr>
        </p:nvSpPr>
        <p:spPr bwMode="gray"/>
        <p:txBody>
          <a:bodyPr/>
          <a:lstStyle/>
          <a:p>
            <a:r>
              <a:rPr lang="zh-CN" altLang="en-US" sz="1800" dirty="0"/>
              <a:t>企业对于业务流量感知能力比较差，无法有效保障关键业务。同时对于业务流量的监控能力也不足，无法快速调整业务流量。</a:t>
            </a:r>
          </a:p>
        </p:txBody>
      </p:sp>
      <p:sp>
        <p:nvSpPr>
          <p:cNvPr id="7" name="圆角矩形 75"/>
          <p:cNvSpPr/>
          <p:nvPr/>
        </p:nvSpPr>
        <p:spPr bwMode="gray">
          <a:xfrm>
            <a:off x="567446" y="2351650"/>
            <a:ext cx="5376149" cy="377590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Huawei Sans" panose="020C0503030203020204"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Huawei Sans" panose="020C0503030203020204"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Huawei Sans" panose="020C0503030203020204"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Huawei Sans" panose="020C0503030203020204"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Huawei Sans" panose="020C0503030203020204"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Huawei Sans" panose="020C0503030203020204"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Huawei Sans" panose="020C0503030203020204"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Huawei Sans" panose="020C0503030203020204"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Huawei Sans" panose="020C0503030203020204"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Huawei Sans" panose="020C0503030203020204" pitchFamily="34" charset="0"/>
              <a:sym typeface="Arial"/>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4"/>
          <p:cNvGrpSpPr/>
          <p:nvPr/>
        </p:nvGrpSpPr>
        <p:grpSpPr bwMode="gray">
          <a:xfrm>
            <a:off x="1646148" y="2772258"/>
            <a:ext cx="2616039" cy="2723463"/>
            <a:chOff x="6688461" y="1519968"/>
            <a:chExt cx="2804345" cy="2345781"/>
          </a:xfrm>
        </p:grpSpPr>
        <p:sp>
          <p:nvSpPr>
            <p:cNvPr id="9" name="圆柱形 5"/>
            <p:cNvSpPr/>
            <p:nvPr/>
          </p:nvSpPr>
          <p:spPr bwMode="gray">
            <a:xfrm rot="5400000">
              <a:off x="7903970" y="1141852"/>
              <a:ext cx="707580" cy="2216078"/>
            </a:xfrm>
            <a:prstGeom prst="can">
              <a:avLst>
                <a:gd name="adj" fmla="val 6990"/>
              </a:avLst>
            </a:prstGeom>
            <a:solidFill>
              <a:srgbClr val="00B0F0">
                <a:alpha val="39000"/>
              </a:srgbClr>
            </a:solidFill>
            <a:ln w="3175" cap="flat" cmpd="sng" algn="ctr">
              <a:noFill/>
              <a:prstDash val="solid"/>
            </a:ln>
            <a:effectLst/>
          </p:spPr>
          <p:txBody>
            <a:bodyPr wrap="none" rtlCol="0" anchor="ctr"/>
            <a:lstStyle/>
            <a:p>
              <a:pPr marL="0" marR="0" lvl="0" indent="0" algn="ctr" defTabSz="1219272" eaLnBrk="1" fontAlgn="auto" latinLnBrk="0" hangingPunct="1">
                <a:lnSpc>
                  <a:spcPct val="100000"/>
                </a:lnSpc>
                <a:spcBef>
                  <a:spcPts val="0"/>
                </a:spcBef>
                <a:spcAft>
                  <a:spcPts val="0"/>
                </a:spcAft>
                <a:buClr>
                  <a:srgbClr val="CC9900"/>
                </a:buClr>
                <a:buSzTx/>
                <a:buFont typeface="Wingdings" pitchFamily="2" charset="2"/>
                <a:buChar char="n"/>
                <a:tabLst/>
                <a:defRPr/>
              </a:pPr>
              <a:endParaRPr kumimoji="0" lang="zh-CN" altLang="en-US" sz="2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endParaRPr>
            </a:p>
          </p:txBody>
        </p:sp>
        <p:cxnSp>
          <p:nvCxnSpPr>
            <p:cNvPr id="11" name="直接连接符 7"/>
            <p:cNvCxnSpPr>
              <a:cxnSpLocks/>
              <a:stCxn id="9" idx="3"/>
              <a:endCxn id="54" idx="0"/>
            </p:cNvCxnSpPr>
            <p:nvPr/>
          </p:nvCxnSpPr>
          <p:spPr bwMode="gray">
            <a:xfrm flipH="1">
              <a:off x="6688461" y="2249892"/>
              <a:ext cx="461261" cy="291282"/>
            </a:xfrm>
            <a:prstGeom prst="line">
              <a:avLst/>
            </a:prstGeom>
            <a:noFill/>
            <a:ln w="12700" cap="flat" cmpd="sng" algn="ctr">
              <a:solidFill>
                <a:srgbClr val="E98C80"/>
              </a:solidFill>
              <a:prstDash val="solid"/>
            </a:ln>
            <a:effectLst/>
          </p:spPr>
        </p:cxnSp>
        <p:cxnSp>
          <p:nvCxnSpPr>
            <p:cNvPr id="12" name="直接连接符 8"/>
            <p:cNvCxnSpPr>
              <a:cxnSpLocks/>
              <a:stCxn id="14" idx="3"/>
              <a:endCxn id="54" idx="2"/>
            </p:cNvCxnSpPr>
            <p:nvPr/>
          </p:nvCxnSpPr>
          <p:spPr bwMode="gray">
            <a:xfrm flipH="1" flipV="1">
              <a:off x="6688461" y="2835810"/>
              <a:ext cx="478377" cy="466480"/>
            </a:xfrm>
            <a:prstGeom prst="line">
              <a:avLst/>
            </a:prstGeom>
            <a:noFill/>
            <a:ln w="12700" cap="flat" cmpd="sng" algn="ctr">
              <a:solidFill>
                <a:srgbClr val="E98C80"/>
              </a:solidFill>
              <a:prstDash val="solid"/>
            </a:ln>
            <a:effectLst/>
          </p:spPr>
        </p:cxnSp>
        <p:grpSp>
          <p:nvGrpSpPr>
            <p:cNvPr id="13" name="组合 9"/>
            <p:cNvGrpSpPr/>
            <p:nvPr/>
          </p:nvGrpSpPr>
          <p:grpSpPr bwMode="gray">
            <a:xfrm>
              <a:off x="7149722" y="1731802"/>
              <a:ext cx="2326416" cy="865429"/>
              <a:chOff x="956873" y="1341562"/>
              <a:chExt cx="2533393" cy="1423863"/>
            </a:xfrm>
          </p:grpSpPr>
          <p:cxnSp>
            <p:nvCxnSpPr>
              <p:cNvPr id="22" name="直接箭头连接符 19"/>
              <p:cNvCxnSpPr/>
              <p:nvPr/>
            </p:nvCxnSpPr>
            <p:spPr bwMode="gray">
              <a:xfrm>
                <a:off x="956873" y="2765425"/>
                <a:ext cx="2533393" cy="0"/>
              </a:xfrm>
              <a:prstGeom prst="straightConnector1">
                <a:avLst/>
              </a:prstGeom>
              <a:noFill/>
              <a:ln w="25400" cap="flat" cmpd="sng" algn="ctr">
                <a:solidFill>
                  <a:srgbClr val="E98C80"/>
                </a:solidFill>
                <a:prstDash val="solid"/>
                <a:tailEnd type="triangle"/>
              </a:ln>
              <a:effectLst/>
            </p:spPr>
          </p:cxnSp>
          <p:cxnSp>
            <p:nvCxnSpPr>
              <p:cNvPr id="23" name="直接箭头连接符 20"/>
              <p:cNvCxnSpPr/>
              <p:nvPr/>
            </p:nvCxnSpPr>
            <p:spPr bwMode="gray">
              <a:xfrm flipV="1">
                <a:off x="956873" y="1341562"/>
                <a:ext cx="0" cy="1423863"/>
              </a:xfrm>
              <a:prstGeom prst="straightConnector1">
                <a:avLst/>
              </a:prstGeom>
              <a:noFill/>
              <a:ln w="25400" cap="flat" cmpd="sng" algn="ctr">
                <a:solidFill>
                  <a:srgbClr val="E98C80"/>
                </a:solidFill>
                <a:prstDash val="solid"/>
                <a:tailEnd type="triangle"/>
              </a:ln>
              <a:effectLst/>
            </p:spPr>
          </p:cxnSp>
        </p:grpSp>
        <p:sp>
          <p:nvSpPr>
            <p:cNvPr id="14" name="圆柱形 10"/>
            <p:cNvSpPr/>
            <p:nvPr/>
          </p:nvSpPr>
          <p:spPr bwMode="gray">
            <a:xfrm rot="5400000">
              <a:off x="7930004" y="2194251"/>
              <a:ext cx="689746" cy="2216078"/>
            </a:xfrm>
            <a:prstGeom prst="can">
              <a:avLst>
                <a:gd name="adj" fmla="val 6379"/>
              </a:avLst>
            </a:prstGeom>
            <a:solidFill>
              <a:srgbClr val="00B0F0">
                <a:alpha val="39000"/>
              </a:srgbClr>
            </a:solidFill>
            <a:ln w="3175" cap="flat" cmpd="sng" algn="ctr">
              <a:noFill/>
              <a:prstDash val="solid"/>
            </a:ln>
            <a:effectLst/>
          </p:spPr>
          <p:txBody>
            <a:bodyPr wrap="none" rtlCol="0" anchor="ctr"/>
            <a:lstStyle/>
            <a:p>
              <a:pPr marL="0" marR="0" lvl="0" indent="0" algn="ctr" defTabSz="1219272" eaLnBrk="1" fontAlgn="auto" latinLnBrk="0" hangingPunct="1">
                <a:lnSpc>
                  <a:spcPct val="100000"/>
                </a:lnSpc>
                <a:spcBef>
                  <a:spcPts val="0"/>
                </a:spcBef>
                <a:spcAft>
                  <a:spcPts val="0"/>
                </a:spcAft>
                <a:buClr>
                  <a:srgbClr val="CC9900"/>
                </a:buClr>
                <a:buSzTx/>
                <a:buFont typeface="Wingdings" pitchFamily="2" charset="2"/>
                <a:buChar char="n"/>
                <a:tabLst/>
                <a:defRPr/>
              </a:pPr>
              <a:endParaRPr kumimoji="0" lang="zh-CN" altLang="en-US" sz="2400" b="0" i="0" u="none" strike="noStrike" kern="0" cap="none" spc="0" normalizeH="0" noProof="0">
                <a:ln>
                  <a:noFill/>
                </a:ln>
                <a:solidFill>
                  <a:prstClr val="black"/>
                </a:solidFill>
                <a:effectLst/>
                <a:uLnTx/>
                <a:uFillTx/>
                <a:latin typeface="Huawei Sans" panose="020C0503030203020204" pitchFamily="34" charset="0"/>
                <a:ea typeface="方正兰亭黑简体" panose="02000000000000000000" pitchFamily="2" charset="-122"/>
                <a:cs typeface="+mn-cs"/>
              </a:endParaRPr>
            </a:p>
          </p:txBody>
        </p:sp>
        <p:cxnSp>
          <p:nvCxnSpPr>
            <p:cNvPr id="15" name="直接箭头连接符 11"/>
            <p:cNvCxnSpPr/>
            <p:nvPr/>
          </p:nvCxnSpPr>
          <p:spPr bwMode="gray">
            <a:xfrm flipV="1">
              <a:off x="7159402" y="2760966"/>
              <a:ext cx="3863" cy="886195"/>
            </a:xfrm>
            <a:prstGeom prst="straightConnector1">
              <a:avLst/>
            </a:prstGeom>
            <a:noFill/>
            <a:ln w="25400" cap="flat" cmpd="sng" algn="ctr">
              <a:solidFill>
                <a:srgbClr val="E98C80"/>
              </a:solidFill>
              <a:prstDash val="solid"/>
              <a:tailEnd type="triangle"/>
            </a:ln>
            <a:effectLst/>
          </p:spPr>
        </p:cxnSp>
        <p:sp>
          <p:nvSpPr>
            <p:cNvPr id="16" name="矩形 12"/>
            <p:cNvSpPr/>
            <p:nvPr/>
          </p:nvSpPr>
          <p:spPr bwMode="gray">
            <a:xfrm>
              <a:off x="6883947" y="3627163"/>
              <a:ext cx="2608859" cy="238586"/>
            </a:xfrm>
            <a:prstGeom prst="rect">
              <a:avLst/>
            </a:prstGeom>
          </p:spPr>
          <p:txBody>
            <a:bodyPr wrap="none">
              <a:spAutoFit/>
            </a:bodyPr>
            <a:lstStyle/>
            <a:p>
              <a:pPr marL="0" marR="0" lvl="0" indent="0" algn="ctr" defTabSz="947433" eaLnBrk="1" fontAlgn="auto" latinLnBrk="0" hangingPunct="1">
                <a:lnSpc>
                  <a:spcPct val="100000"/>
                </a:lnSpc>
                <a:spcBef>
                  <a:spcPts val="0"/>
                </a:spcBef>
                <a:spcAft>
                  <a:spcPts val="0"/>
                </a:spcAft>
                <a:buClr>
                  <a:srgbClr val="CC9900"/>
                </a:buClr>
                <a:buSzTx/>
                <a:buFontTx/>
                <a:buNone/>
                <a:tabLst/>
                <a:defRPr/>
              </a:pP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Internet</a:t>
              </a:r>
              <a:r>
                <a:rPr kumimoji="0" lang="zh-CN" altLang="en-US"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备份链路</a:t>
              </a:r>
              <a:r>
                <a:rPr kumimoji="0" lang="zh-CN" altLang="en-US" sz="12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，带宽利用率低</a:t>
              </a:r>
            </a:p>
          </p:txBody>
        </p:sp>
        <p:sp>
          <p:nvSpPr>
            <p:cNvPr id="17" name="矩形 13"/>
            <p:cNvSpPr/>
            <p:nvPr/>
          </p:nvSpPr>
          <p:spPr bwMode="gray">
            <a:xfrm>
              <a:off x="7239902" y="3236246"/>
              <a:ext cx="900193" cy="238586"/>
            </a:xfrm>
            <a:prstGeom prst="rect">
              <a:avLst/>
            </a:prstGeom>
          </p:spPr>
          <p:txBody>
            <a:bodyPr wrap="square">
              <a:spAutoFit/>
            </a:bodyPr>
            <a:lstStyle/>
            <a:p>
              <a:pPr marL="0" marR="0" lvl="0" indent="0" algn="ctr" defTabSz="947433" eaLnBrk="1" fontAlgn="auto" latinLnBrk="0" hangingPunct="1">
                <a:lnSpc>
                  <a:spcPct val="100000"/>
                </a:lnSpc>
                <a:spcBef>
                  <a:spcPts val="0"/>
                </a:spcBef>
                <a:spcAft>
                  <a:spcPts val="0"/>
                </a:spcAft>
                <a:buClr>
                  <a:srgbClr val="CC9900"/>
                </a:buClr>
                <a:buSzTx/>
                <a:buFontTx/>
                <a:buNone/>
                <a:tabLst/>
                <a:defRPr/>
              </a:pPr>
              <a:r>
                <a:rPr kumimoji="0" lang="zh-CN" altLang="en-US" sz="12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未知应用</a:t>
              </a:r>
            </a:p>
          </p:txBody>
        </p:sp>
        <p:sp>
          <p:nvSpPr>
            <p:cNvPr id="18" name="任意多边形 14"/>
            <p:cNvSpPr/>
            <p:nvPr/>
          </p:nvSpPr>
          <p:spPr bwMode="gray">
            <a:xfrm>
              <a:off x="7161824" y="1722461"/>
              <a:ext cx="2146300" cy="544631"/>
            </a:xfrm>
            <a:custGeom>
              <a:avLst/>
              <a:gdLst>
                <a:gd name="connsiteX0" fmla="*/ 0 w 2146300"/>
                <a:gd name="connsiteY0" fmla="*/ 536234 h 544631"/>
                <a:gd name="connsiteX1" fmla="*/ 101600 w 2146300"/>
                <a:gd name="connsiteY1" fmla="*/ 542584 h 544631"/>
                <a:gd name="connsiteX2" fmla="*/ 374650 w 2146300"/>
                <a:gd name="connsiteY2" fmla="*/ 542584 h 544631"/>
                <a:gd name="connsiteX3" fmla="*/ 679450 w 2146300"/>
                <a:gd name="connsiteY3" fmla="*/ 536234 h 544631"/>
                <a:gd name="connsiteX4" fmla="*/ 831850 w 2146300"/>
                <a:gd name="connsiteY4" fmla="*/ 453684 h 544631"/>
                <a:gd name="connsiteX5" fmla="*/ 1123950 w 2146300"/>
                <a:gd name="connsiteY5" fmla="*/ 155234 h 544631"/>
                <a:gd name="connsiteX6" fmla="*/ 1333500 w 2146300"/>
                <a:gd name="connsiteY6" fmla="*/ 9184 h 544631"/>
                <a:gd name="connsiteX7" fmla="*/ 1549400 w 2146300"/>
                <a:gd name="connsiteY7" fmla="*/ 40934 h 544631"/>
                <a:gd name="connsiteX8" fmla="*/ 1758950 w 2146300"/>
                <a:gd name="connsiteY8" fmla="*/ 250484 h 544631"/>
                <a:gd name="connsiteX9" fmla="*/ 2025650 w 2146300"/>
                <a:gd name="connsiteY9" fmla="*/ 472734 h 544631"/>
                <a:gd name="connsiteX10" fmla="*/ 2146300 w 2146300"/>
                <a:gd name="connsiteY10" fmla="*/ 504484 h 54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6300" h="544631">
                  <a:moveTo>
                    <a:pt x="0" y="536234"/>
                  </a:moveTo>
                  <a:cubicBezTo>
                    <a:pt x="19579" y="538880"/>
                    <a:pt x="39158" y="541526"/>
                    <a:pt x="101600" y="542584"/>
                  </a:cubicBezTo>
                  <a:cubicBezTo>
                    <a:pt x="164042" y="543642"/>
                    <a:pt x="374650" y="542584"/>
                    <a:pt x="374650" y="542584"/>
                  </a:cubicBezTo>
                  <a:cubicBezTo>
                    <a:pt x="470958" y="541526"/>
                    <a:pt x="603250" y="551051"/>
                    <a:pt x="679450" y="536234"/>
                  </a:cubicBezTo>
                  <a:cubicBezTo>
                    <a:pt x="755650" y="521417"/>
                    <a:pt x="757767" y="517184"/>
                    <a:pt x="831850" y="453684"/>
                  </a:cubicBezTo>
                  <a:cubicBezTo>
                    <a:pt x="905933" y="390184"/>
                    <a:pt x="1040342" y="229317"/>
                    <a:pt x="1123950" y="155234"/>
                  </a:cubicBezTo>
                  <a:cubicBezTo>
                    <a:pt x="1207558" y="81151"/>
                    <a:pt x="1262592" y="28234"/>
                    <a:pt x="1333500" y="9184"/>
                  </a:cubicBezTo>
                  <a:cubicBezTo>
                    <a:pt x="1404408" y="-9866"/>
                    <a:pt x="1478492" y="717"/>
                    <a:pt x="1549400" y="40934"/>
                  </a:cubicBezTo>
                  <a:cubicBezTo>
                    <a:pt x="1620308" y="81151"/>
                    <a:pt x="1679575" y="178517"/>
                    <a:pt x="1758950" y="250484"/>
                  </a:cubicBezTo>
                  <a:cubicBezTo>
                    <a:pt x="1838325" y="322451"/>
                    <a:pt x="1961092" y="430401"/>
                    <a:pt x="2025650" y="472734"/>
                  </a:cubicBezTo>
                  <a:cubicBezTo>
                    <a:pt x="2090208" y="515067"/>
                    <a:pt x="2118254" y="509775"/>
                    <a:pt x="2146300" y="504484"/>
                  </a:cubicBezTo>
                </a:path>
              </a:pathLst>
            </a:custGeom>
            <a:noFill/>
            <a:ln w="9525"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1219272"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endParaRPr>
            </a:p>
          </p:txBody>
        </p:sp>
        <p:sp>
          <p:nvSpPr>
            <p:cNvPr id="19" name="矩形 15"/>
            <p:cNvSpPr/>
            <p:nvPr/>
          </p:nvSpPr>
          <p:spPr bwMode="gray">
            <a:xfrm>
              <a:off x="6912623" y="1519968"/>
              <a:ext cx="2266899" cy="238586"/>
            </a:xfrm>
            <a:prstGeom prst="rect">
              <a:avLst/>
            </a:prstGeom>
          </p:spPr>
          <p:txBody>
            <a:bodyPr wrap="none">
              <a:spAutoFit/>
            </a:bodyPr>
            <a:lstStyle/>
            <a:p>
              <a:pPr marL="0" marR="0" lvl="0" indent="0" algn="ctr" defTabSz="947433" eaLnBrk="1" fontAlgn="auto" latinLnBrk="0" hangingPunct="1">
                <a:lnSpc>
                  <a:spcPct val="100000"/>
                </a:lnSpc>
                <a:spcBef>
                  <a:spcPts val="0"/>
                </a:spcBef>
                <a:spcAft>
                  <a:spcPts val="0"/>
                </a:spcAft>
                <a:buClr>
                  <a:srgbClr val="CC9900"/>
                </a:buClr>
                <a:buSzTx/>
                <a:buFontTx/>
                <a:buNone/>
                <a:tabLst/>
                <a:defRPr/>
              </a:pP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MPLS</a:t>
              </a:r>
              <a:r>
                <a:rPr kumimoji="0" lang="zh-CN" altLang="en-US"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主链路</a:t>
              </a:r>
              <a:r>
                <a:rPr kumimoji="0" lang="zh-CN" altLang="en-US" sz="12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，高峰业务拥塞</a:t>
              </a:r>
            </a:p>
          </p:txBody>
        </p:sp>
        <p:sp>
          <p:nvSpPr>
            <p:cNvPr id="20" name="矩形 16"/>
            <p:cNvSpPr/>
            <p:nvPr/>
          </p:nvSpPr>
          <p:spPr bwMode="gray">
            <a:xfrm>
              <a:off x="7077700" y="2015372"/>
              <a:ext cx="930818" cy="238586"/>
            </a:xfrm>
            <a:prstGeom prst="rect">
              <a:avLst/>
            </a:prstGeom>
          </p:spPr>
          <p:txBody>
            <a:bodyPr wrap="square">
              <a:spAutoFit/>
            </a:bodyPr>
            <a:lstStyle/>
            <a:p>
              <a:pPr marL="0" marR="0" lvl="0" indent="0" algn="ctr" defTabSz="947433" eaLnBrk="1" fontAlgn="auto" latinLnBrk="0" hangingPunct="1">
                <a:lnSpc>
                  <a:spcPct val="100000"/>
                </a:lnSpc>
                <a:spcBef>
                  <a:spcPts val="0"/>
                </a:spcBef>
                <a:spcAft>
                  <a:spcPts val="0"/>
                </a:spcAft>
                <a:buClr>
                  <a:srgbClr val="CC9900"/>
                </a:buClr>
                <a:buSzTx/>
                <a:buFontTx/>
                <a:buNone/>
                <a:tabLst/>
                <a:defRPr/>
              </a:pPr>
              <a:r>
                <a:rPr kumimoji="0" lang="zh-CN" altLang="en-US" sz="12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未知应用</a:t>
              </a:r>
            </a:p>
          </p:txBody>
        </p:sp>
        <p:cxnSp>
          <p:nvCxnSpPr>
            <p:cNvPr id="21" name="直接连接符 18"/>
            <p:cNvCxnSpPr/>
            <p:nvPr/>
          </p:nvCxnSpPr>
          <p:spPr bwMode="gray">
            <a:xfrm>
              <a:off x="8198236" y="1974185"/>
              <a:ext cx="0" cy="1620124"/>
            </a:xfrm>
            <a:prstGeom prst="line">
              <a:avLst/>
            </a:prstGeom>
            <a:noFill/>
            <a:ln w="9525" cap="flat">
              <a:solidFill>
                <a:srgbClr val="E98C80"/>
              </a:solidFill>
              <a:prstDash val="dash"/>
              <a:miter lim="800000"/>
              <a:headEnd/>
              <a:tailEnd/>
            </a:ln>
            <a:extLst>
              <a:ext uri="{909E8E84-426E-40DD-AFC4-6F175D3DCCD1}">
                <a14:hiddenFill xmlns:a14="http://schemas.microsoft.com/office/drawing/2010/main">
                  <a:solidFill>
                    <a:srgbClr val="FFFFFF"/>
                  </a:solidFill>
                </a14:hiddenFill>
              </a:ext>
            </a:extLst>
          </p:spPr>
        </p:cxnSp>
      </p:grpSp>
      <p:sp>
        <p:nvSpPr>
          <p:cNvPr id="25" name="任意多边形 32"/>
          <p:cNvSpPr/>
          <p:nvPr/>
        </p:nvSpPr>
        <p:spPr bwMode="gray">
          <a:xfrm rot="21426808">
            <a:off x="1848638" y="3471347"/>
            <a:ext cx="2896710" cy="475971"/>
          </a:xfrm>
          <a:custGeom>
            <a:avLst/>
            <a:gdLst>
              <a:gd name="connsiteX0" fmla="*/ 0 w 3571875"/>
              <a:gd name="connsiteY0" fmla="*/ 419100 h 419100"/>
              <a:gd name="connsiteX1" fmla="*/ 1533525 w 3571875"/>
              <a:gd name="connsiteY1" fmla="*/ 361950 h 419100"/>
              <a:gd name="connsiteX2" fmla="*/ 2609850 w 3571875"/>
              <a:gd name="connsiteY2" fmla="*/ 228600 h 419100"/>
              <a:gd name="connsiteX3" fmla="*/ 3571875 w 3571875"/>
              <a:gd name="connsiteY3" fmla="*/ 0 h 419100"/>
            </a:gdLst>
            <a:ahLst/>
            <a:cxnLst>
              <a:cxn ang="0">
                <a:pos x="connsiteX0" y="connsiteY0"/>
              </a:cxn>
              <a:cxn ang="0">
                <a:pos x="connsiteX1" y="connsiteY1"/>
              </a:cxn>
              <a:cxn ang="0">
                <a:pos x="connsiteX2" y="connsiteY2"/>
              </a:cxn>
              <a:cxn ang="0">
                <a:pos x="connsiteX3" y="connsiteY3"/>
              </a:cxn>
            </a:cxnLst>
            <a:rect l="l" t="t" r="r" b="b"/>
            <a:pathLst>
              <a:path w="3571875" h="419100">
                <a:moveTo>
                  <a:pt x="0" y="419100"/>
                </a:moveTo>
                <a:cubicBezTo>
                  <a:pt x="549275" y="406400"/>
                  <a:pt x="1098550" y="393700"/>
                  <a:pt x="1533525" y="361950"/>
                </a:cubicBezTo>
                <a:cubicBezTo>
                  <a:pt x="1968500" y="330200"/>
                  <a:pt x="2270125" y="288925"/>
                  <a:pt x="2609850" y="228600"/>
                </a:cubicBezTo>
                <a:cubicBezTo>
                  <a:pt x="2949575" y="168275"/>
                  <a:pt x="3260725" y="84137"/>
                  <a:pt x="3571875" y="0"/>
                </a:cubicBezTo>
              </a:path>
            </a:pathLst>
          </a:custGeom>
          <a:noFill/>
          <a:ln w="22225" cap="rnd" cmpd="sng">
            <a:solidFill>
              <a:srgbClr val="FFC000"/>
            </a:solidFill>
            <a:prstDash val="solid"/>
            <a:round/>
            <a:headEnd type="arrow" w="med" len="med"/>
            <a:tailEnd type="arrow" w="med" len="med"/>
          </a:ln>
          <a:effectLst/>
        </p:spPr>
        <p:txBody>
          <a:bodyPr wrap="square" lIns="105606" tIns="52804" rIns="105606" bIns="52804">
            <a:spAutoFit/>
          </a:bodyPr>
          <a:lstStyle/>
          <a:p>
            <a:pPr defTabSz="1219272"/>
            <a:endParaRPr lang="zh-CN" altLang="en-US" sz="2400">
              <a:solidFill>
                <a:prstClr val="black"/>
              </a:solidFill>
              <a:latin typeface="Huawei Sans" panose="020C0503030203020204" pitchFamily="34" charset="0"/>
              <a:ea typeface="方正兰亭黑简体" panose="02000000000000000000" pitchFamily="2" charset="-122"/>
            </a:endParaRPr>
          </a:p>
        </p:txBody>
      </p:sp>
      <p:sp>
        <p:nvSpPr>
          <p:cNvPr id="26" name="矩形 33"/>
          <p:cNvSpPr/>
          <p:nvPr/>
        </p:nvSpPr>
        <p:spPr bwMode="gray">
          <a:xfrm>
            <a:off x="5175776" y="3772310"/>
            <a:ext cx="461986" cy="307777"/>
          </a:xfrm>
          <a:prstGeom prst="rect">
            <a:avLst/>
          </a:prstGeom>
        </p:spPr>
        <p:txBody>
          <a:bodyPr wrap="none">
            <a:spAutoFit/>
          </a:bodyPr>
          <a:lstStyle/>
          <a:p>
            <a:pPr defTabSz="1219272"/>
            <a:r>
              <a:rPr lang="en-US" altLang="zh-CN" sz="1400" dirty="0">
                <a:solidFill>
                  <a:prstClr val="black"/>
                </a:solidFill>
                <a:latin typeface="Huawei Sans" panose="020C0503030203020204" pitchFamily="34" charset="0"/>
                <a:ea typeface="方正兰亭黑简体" panose="02000000000000000000" pitchFamily="2" charset="-122"/>
              </a:rPr>
              <a:t>HQ</a:t>
            </a:r>
            <a:endParaRPr lang="en-US" sz="1400" dirty="0">
              <a:solidFill>
                <a:prstClr val="black"/>
              </a:solidFill>
              <a:latin typeface="Huawei Sans" panose="020C0503030203020204" pitchFamily="34" charset="0"/>
              <a:ea typeface="方正兰亭黑简体" panose="02000000000000000000" pitchFamily="2" charset="-122"/>
            </a:endParaRPr>
          </a:p>
        </p:txBody>
      </p:sp>
      <p:sp>
        <p:nvSpPr>
          <p:cNvPr id="28" name="矩形 35"/>
          <p:cNvSpPr/>
          <p:nvPr/>
        </p:nvSpPr>
        <p:spPr bwMode="gray">
          <a:xfrm>
            <a:off x="2286345" y="4110219"/>
            <a:ext cx="2056973" cy="276999"/>
          </a:xfrm>
          <a:prstGeom prst="rect">
            <a:avLst/>
          </a:prstGeom>
        </p:spPr>
        <p:txBody>
          <a:bodyPr wrap="none">
            <a:spAutoFit/>
          </a:bodyPr>
          <a:lstStyle/>
          <a:p>
            <a:pPr defTabSz="1219272"/>
            <a:r>
              <a:rPr lang="en-US" altLang="zh-CN" sz="1200" dirty="0">
                <a:solidFill>
                  <a:prstClr val="black"/>
                </a:solidFill>
                <a:latin typeface="Huawei Sans" panose="020C0503030203020204" pitchFamily="34" charset="0"/>
                <a:ea typeface="方正兰亭黑简体" panose="02000000000000000000" pitchFamily="2" charset="-122"/>
              </a:rPr>
              <a:t>SaaS</a:t>
            </a:r>
            <a:r>
              <a:rPr lang="zh-CN" altLang="en-US" sz="1200" dirty="0">
                <a:solidFill>
                  <a:prstClr val="black"/>
                </a:solidFill>
                <a:latin typeface="Huawei Sans" panose="020C0503030203020204" pitchFamily="34" charset="0"/>
                <a:ea typeface="方正兰亭黑简体" panose="02000000000000000000" pitchFamily="2" charset="-122"/>
              </a:rPr>
              <a:t>应用总部出局，延时大</a:t>
            </a:r>
            <a:endParaRPr lang="en-US" sz="1200" dirty="0">
              <a:solidFill>
                <a:prstClr val="black"/>
              </a:solidFill>
              <a:latin typeface="Huawei Sans" panose="020C0503030203020204" pitchFamily="34" charset="0"/>
              <a:ea typeface="方正兰亭黑简体" panose="02000000000000000000" pitchFamily="2" charset="-122"/>
            </a:endParaRPr>
          </a:p>
        </p:txBody>
      </p:sp>
      <p:sp>
        <p:nvSpPr>
          <p:cNvPr id="29" name="任意多边形 36"/>
          <p:cNvSpPr/>
          <p:nvPr/>
        </p:nvSpPr>
        <p:spPr bwMode="gray">
          <a:xfrm>
            <a:off x="2104796" y="5144919"/>
            <a:ext cx="2010556" cy="47406"/>
          </a:xfrm>
          <a:custGeom>
            <a:avLst/>
            <a:gdLst>
              <a:gd name="connsiteX0" fmla="*/ 0 w 2194560"/>
              <a:gd name="connsiteY0" fmla="*/ 39412 h 41669"/>
              <a:gd name="connsiteX1" fmla="*/ 182880 w 2194560"/>
              <a:gd name="connsiteY1" fmla="*/ 31792 h 41669"/>
              <a:gd name="connsiteX2" fmla="*/ 487680 w 2194560"/>
              <a:gd name="connsiteY2" fmla="*/ 8932 h 41669"/>
              <a:gd name="connsiteX3" fmla="*/ 861060 w 2194560"/>
              <a:gd name="connsiteY3" fmla="*/ 31792 h 41669"/>
              <a:gd name="connsiteX4" fmla="*/ 1242060 w 2194560"/>
              <a:gd name="connsiteY4" fmla="*/ 1312 h 41669"/>
              <a:gd name="connsiteX5" fmla="*/ 1661160 w 2194560"/>
              <a:gd name="connsiteY5" fmla="*/ 8932 h 41669"/>
              <a:gd name="connsiteX6" fmla="*/ 2004060 w 2194560"/>
              <a:gd name="connsiteY6" fmla="*/ 39412 h 41669"/>
              <a:gd name="connsiteX7" fmla="*/ 2194560 w 2194560"/>
              <a:gd name="connsiteY7" fmla="*/ 39412 h 4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4560" h="41669">
                <a:moveTo>
                  <a:pt x="0" y="39412"/>
                </a:moveTo>
                <a:cubicBezTo>
                  <a:pt x="50800" y="38142"/>
                  <a:pt x="101600" y="36872"/>
                  <a:pt x="182880" y="31792"/>
                </a:cubicBezTo>
                <a:cubicBezTo>
                  <a:pt x="264160" y="26712"/>
                  <a:pt x="374650" y="8932"/>
                  <a:pt x="487680" y="8932"/>
                </a:cubicBezTo>
                <a:cubicBezTo>
                  <a:pt x="600710" y="8932"/>
                  <a:pt x="735330" y="33062"/>
                  <a:pt x="861060" y="31792"/>
                </a:cubicBezTo>
                <a:cubicBezTo>
                  <a:pt x="986790" y="30522"/>
                  <a:pt x="1108710" y="5122"/>
                  <a:pt x="1242060" y="1312"/>
                </a:cubicBezTo>
                <a:cubicBezTo>
                  <a:pt x="1375410" y="-2498"/>
                  <a:pt x="1534160" y="2582"/>
                  <a:pt x="1661160" y="8932"/>
                </a:cubicBezTo>
                <a:cubicBezTo>
                  <a:pt x="1788160" y="15282"/>
                  <a:pt x="1915160" y="34332"/>
                  <a:pt x="2004060" y="39412"/>
                </a:cubicBezTo>
                <a:cubicBezTo>
                  <a:pt x="2092960" y="44492"/>
                  <a:pt x="2194560" y="39412"/>
                  <a:pt x="2194560" y="39412"/>
                </a:cubicBezTo>
              </a:path>
            </a:pathLst>
          </a:custGeom>
          <a:noFill/>
          <a:ln w="9525" cap="flat">
            <a:solidFill>
              <a:srgbClr val="FFC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1219272"/>
            <a:endParaRPr lang="en-US" sz="2400" dirty="0">
              <a:solidFill>
                <a:prstClr val="black"/>
              </a:solidFill>
              <a:latin typeface="Huawei Sans" panose="020C0503030203020204" pitchFamily="34" charset="0"/>
              <a:ea typeface="方正兰亭黑简体" panose="02000000000000000000" pitchFamily="2" charset="-122"/>
            </a:endParaRPr>
          </a:p>
        </p:txBody>
      </p:sp>
      <p:cxnSp>
        <p:nvCxnSpPr>
          <p:cNvPr id="30" name="直接箭头连接符 37"/>
          <p:cNvCxnSpPr/>
          <p:nvPr/>
        </p:nvCxnSpPr>
        <p:spPr bwMode="gray">
          <a:xfrm>
            <a:off x="2076438" y="5241940"/>
            <a:ext cx="2170203" cy="0"/>
          </a:xfrm>
          <a:prstGeom prst="straightConnector1">
            <a:avLst/>
          </a:prstGeom>
          <a:noFill/>
          <a:ln w="25400" cap="flat" cmpd="sng" algn="ctr">
            <a:solidFill>
              <a:srgbClr val="E98C80"/>
            </a:solidFill>
            <a:prstDash val="solid"/>
            <a:tailEnd type="triangle"/>
          </a:ln>
          <a:effectLst/>
        </p:spPr>
      </p:cxnSp>
      <p:sp>
        <p:nvSpPr>
          <p:cNvPr id="31" name="Freeform 247"/>
          <p:cNvSpPr>
            <a:spLocks/>
          </p:cNvSpPr>
          <p:nvPr/>
        </p:nvSpPr>
        <p:spPr bwMode="gray">
          <a:xfrm>
            <a:off x="4719431" y="3137141"/>
            <a:ext cx="958998" cy="554042"/>
          </a:xfrm>
          <a:custGeom>
            <a:avLst/>
            <a:gdLst>
              <a:gd name="T0" fmla="*/ 229 w 488"/>
              <a:gd name="T1" fmla="*/ 0 h 325"/>
              <a:gd name="T2" fmla="*/ 252 w 488"/>
              <a:gd name="T3" fmla="*/ 2 h 325"/>
              <a:gd name="T4" fmla="*/ 273 w 488"/>
              <a:gd name="T5" fmla="*/ 8 h 325"/>
              <a:gd name="T6" fmla="*/ 294 w 488"/>
              <a:gd name="T7" fmla="*/ 15 h 325"/>
              <a:gd name="T8" fmla="*/ 312 w 488"/>
              <a:gd name="T9" fmla="*/ 26 h 325"/>
              <a:gd name="T10" fmla="*/ 330 w 488"/>
              <a:gd name="T11" fmla="*/ 40 h 325"/>
              <a:gd name="T12" fmla="*/ 344 w 488"/>
              <a:gd name="T13" fmla="*/ 55 h 325"/>
              <a:gd name="T14" fmla="*/ 357 w 488"/>
              <a:gd name="T15" fmla="*/ 74 h 325"/>
              <a:gd name="T16" fmla="*/ 367 w 488"/>
              <a:gd name="T17" fmla="*/ 93 h 325"/>
              <a:gd name="T18" fmla="*/ 372 w 488"/>
              <a:gd name="T19" fmla="*/ 93 h 325"/>
              <a:gd name="T20" fmla="*/ 384 w 488"/>
              <a:gd name="T21" fmla="*/ 93 h 325"/>
              <a:gd name="T22" fmla="*/ 407 w 488"/>
              <a:gd name="T23" fmla="*/ 99 h 325"/>
              <a:gd name="T24" fmla="*/ 427 w 488"/>
              <a:gd name="T25" fmla="*/ 107 h 325"/>
              <a:gd name="T26" fmla="*/ 446 w 488"/>
              <a:gd name="T27" fmla="*/ 119 h 325"/>
              <a:gd name="T28" fmla="*/ 462 w 488"/>
              <a:gd name="T29" fmla="*/ 136 h 325"/>
              <a:gd name="T30" fmla="*/ 474 w 488"/>
              <a:gd name="T31" fmla="*/ 154 h 325"/>
              <a:gd name="T32" fmla="*/ 483 w 488"/>
              <a:gd name="T33" fmla="*/ 175 h 325"/>
              <a:gd name="T34" fmla="*/ 487 w 488"/>
              <a:gd name="T35" fmla="*/ 197 h 325"/>
              <a:gd name="T36" fmla="*/ 488 w 488"/>
              <a:gd name="T37" fmla="*/ 209 h 325"/>
              <a:gd name="T38" fmla="*/ 486 w 488"/>
              <a:gd name="T39" fmla="*/ 232 h 325"/>
              <a:gd name="T40" fmla="*/ 479 w 488"/>
              <a:gd name="T41" fmla="*/ 254 h 325"/>
              <a:gd name="T42" fmla="*/ 469 w 488"/>
              <a:gd name="T43" fmla="*/ 273 h 325"/>
              <a:gd name="T44" fmla="*/ 454 w 488"/>
              <a:gd name="T45" fmla="*/ 291 h 325"/>
              <a:gd name="T46" fmla="*/ 437 w 488"/>
              <a:gd name="T47" fmla="*/ 305 h 325"/>
              <a:gd name="T48" fmla="*/ 418 w 488"/>
              <a:gd name="T49" fmla="*/ 316 h 325"/>
              <a:gd name="T50" fmla="*/ 396 w 488"/>
              <a:gd name="T51" fmla="*/ 322 h 325"/>
              <a:gd name="T52" fmla="*/ 372 w 488"/>
              <a:gd name="T53" fmla="*/ 325 h 325"/>
              <a:gd name="T54" fmla="*/ 97 w 488"/>
              <a:gd name="T55" fmla="*/ 325 h 325"/>
              <a:gd name="T56" fmla="*/ 77 w 488"/>
              <a:gd name="T57" fmla="*/ 323 h 325"/>
              <a:gd name="T58" fmla="*/ 59 w 488"/>
              <a:gd name="T59" fmla="*/ 318 h 325"/>
              <a:gd name="T60" fmla="*/ 42 w 488"/>
              <a:gd name="T61" fmla="*/ 308 h 325"/>
              <a:gd name="T62" fmla="*/ 28 w 488"/>
              <a:gd name="T63" fmla="*/ 297 h 325"/>
              <a:gd name="T64" fmla="*/ 16 w 488"/>
              <a:gd name="T65" fmla="*/ 282 h 325"/>
              <a:gd name="T66" fmla="*/ 8 w 488"/>
              <a:gd name="T67" fmla="*/ 266 h 325"/>
              <a:gd name="T68" fmla="*/ 2 w 488"/>
              <a:gd name="T69" fmla="*/ 248 h 325"/>
              <a:gd name="T70" fmla="*/ 0 w 488"/>
              <a:gd name="T71" fmla="*/ 229 h 325"/>
              <a:gd name="T72" fmla="*/ 0 w 488"/>
              <a:gd name="T73" fmla="*/ 219 h 325"/>
              <a:gd name="T74" fmla="*/ 3 w 488"/>
              <a:gd name="T75" fmla="*/ 203 h 325"/>
              <a:gd name="T76" fmla="*/ 10 w 488"/>
              <a:gd name="T77" fmla="*/ 187 h 325"/>
              <a:gd name="T78" fmla="*/ 18 w 488"/>
              <a:gd name="T79" fmla="*/ 173 h 325"/>
              <a:gd name="T80" fmla="*/ 29 w 488"/>
              <a:gd name="T81" fmla="*/ 160 h 325"/>
              <a:gd name="T82" fmla="*/ 42 w 488"/>
              <a:gd name="T83" fmla="*/ 149 h 325"/>
              <a:gd name="T84" fmla="*/ 56 w 488"/>
              <a:gd name="T85" fmla="*/ 141 h 325"/>
              <a:gd name="T86" fmla="*/ 73 w 488"/>
              <a:gd name="T87" fmla="*/ 135 h 325"/>
              <a:gd name="T88" fmla="*/ 81 w 488"/>
              <a:gd name="T89" fmla="*/ 134 h 325"/>
              <a:gd name="T90" fmla="*/ 87 w 488"/>
              <a:gd name="T91" fmla="*/ 106 h 325"/>
              <a:gd name="T92" fmla="*/ 97 w 488"/>
              <a:gd name="T93" fmla="*/ 81 h 325"/>
              <a:gd name="T94" fmla="*/ 111 w 488"/>
              <a:gd name="T95" fmla="*/ 59 h 325"/>
              <a:gd name="T96" fmla="*/ 129 w 488"/>
              <a:gd name="T97" fmla="*/ 39 h 325"/>
              <a:gd name="T98" fmla="*/ 151 w 488"/>
              <a:gd name="T99" fmla="*/ 23 h 325"/>
              <a:gd name="T100" fmla="*/ 175 w 488"/>
              <a:gd name="T101" fmla="*/ 11 h 325"/>
              <a:gd name="T102" fmla="*/ 201 w 488"/>
              <a:gd name="T103" fmla="*/ 3 h 325"/>
              <a:gd name="T104" fmla="*/ 229 w 488"/>
              <a:gd name="T105" fmla="*/ 0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8" h="325">
                <a:moveTo>
                  <a:pt x="229" y="0"/>
                </a:moveTo>
                <a:lnTo>
                  <a:pt x="229" y="0"/>
                </a:lnTo>
                <a:lnTo>
                  <a:pt x="240" y="1"/>
                </a:lnTo>
                <a:lnTo>
                  <a:pt x="252" y="2"/>
                </a:lnTo>
                <a:lnTo>
                  <a:pt x="262" y="4"/>
                </a:lnTo>
                <a:lnTo>
                  <a:pt x="273" y="8"/>
                </a:lnTo>
                <a:lnTo>
                  <a:pt x="284" y="11"/>
                </a:lnTo>
                <a:lnTo>
                  <a:pt x="294" y="15"/>
                </a:lnTo>
                <a:lnTo>
                  <a:pt x="304" y="21"/>
                </a:lnTo>
                <a:lnTo>
                  <a:pt x="312" y="26"/>
                </a:lnTo>
                <a:lnTo>
                  <a:pt x="321" y="33"/>
                </a:lnTo>
                <a:lnTo>
                  <a:pt x="330" y="40"/>
                </a:lnTo>
                <a:lnTo>
                  <a:pt x="337" y="48"/>
                </a:lnTo>
                <a:lnTo>
                  <a:pt x="344" y="55"/>
                </a:lnTo>
                <a:lnTo>
                  <a:pt x="350" y="64"/>
                </a:lnTo>
                <a:lnTo>
                  <a:pt x="357" y="74"/>
                </a:lnTo>
                <a:lnTo>
                  <a:pt x="362" y="84"/>
                </a:lnTo>
                <a:lnTo>
                  <a:pt x="367" y="93"/>
                </a:lnTo>
                <a:lnTo>
                  <a:pt x="367" y="93"/>
                </a:lnTo>
                <a:lnTo>
                  <a:pt x="372" y="93"/>
                </a:lnTo>
                <a:lnTo>
                  <a:pt x="372" y="93"/>
                </a:lnTo>
                <a:lnTo>
                  <a:pt x="384" y="93"/>
                </a:lnTo>
                <a:lnTo>
                  <a:pt x="396" y="96"/>
                </a:lnTo>
                <a:lnTo>
                  <a:pt x="407" y="99"/>
                </a:lnTo>
                <a:lnTo>
                  <a:pt x="418" y="102"/>
                </a:lnTo>
                <a:lnTo>
                  <a:pt x="427" y="107"/>
                </a:lnTo>
                <a:lnTo>
                  <a:pt x="437" y="113"/>
                </a:lnTo>
                <a:lnTo>
                  <a:pt x="446" y="119"/>
                </a:lnTo>
                <a:lnTo>
                  <a:pt x="454" y="127"/>
                </a:lnTo>
                <a:lnTo>
                  <a:pt x="462" y="136"/>
                </a:lnTo>
                <a:lnTo>
                  <a:pt x="469" y="144"/>
                </a:lnTo>
                <a:lnTo>
                  <a:pt x="474" y="154"/>
                </a:lnTo>
                <a:lnTo>
                  <a:pt x="479" y="164"/>
                </a:lnTo>
                <a:lnTo>
                  <a:pt x="483" y="175"/>
                </a:lnTo>
                <a:lnTo>
                  <a:pt x="486" y="186"/>
                </a:lnTo>
                <a:lnTo>
                  <a:pt x="487" y="197"/>
                </a:lnTo>
                <a:lnTo>
                  <a:pt x="488" y="209"/>
                </a:lnTo>
                <a:lnTo>
                  <a:pt x="488" y="209"/>
                </a:lnTo>
                <a:lnTo>
                  <a:pt x="487" y="221"/>
                </a:lnTo>
                <a:lnTo>
                  <a:pt x="486" y="232"/>
                </a:lnTo>
                <a:lnTo>
                  <a:pt x="483" y="243"/>
                </a:lnTo>
                <a:lnTo>
                  <a:pt x="479" y="254"/>
                </a:lnTo>
                <a:lnTo>
                  <a:pt x="474" y="265"/>
                </a:lnTo>
                <a:lnTo>
                  <a:pt x="469" y="273"/>
                </a:lnTo>
                <a:lnTo>
                  <a:pt x="462" y="283"/>
                </a:lnTo>
                <a:lnTo>
                  <a:pt x="454" y="291"/>
                </a:lnTo>
                <a:lnTo>
                  <a:pt x="446" y="298"/>
                </a:lnTo>
                <a:lnTo>
                  <a:pt x="437" y="305"/>
                </a:lnTo>
                <a:lnTo>
                  <a:pt x="427" y="311"/>
                </a:lnTo>
                <a:lnTo>
                  <a:pt x="418" y="316"/>
                </a:lnTo>
                <a:lnTo>
                  <a:pt x="407" y="320"/>
                </a:lnTo>
                <a:lnTo>
                  <a:pt x="396" y="322"/>
                </a:lnTo>
                <a:lnTo>
                  <a:pt x="384" y="324"/>
                </a:lnTo>
                <a:lnTo>
                  <a:pt x="372" y="325"/>
                </a:lnTo>
                <a:lnTo>
                  <a:pt x="97" y="325"/>
                </a:lnTo>
                <a:lnTo>
                  <a:pt x="97" y="325"/>
                </a:lnTo>
                <a:lnTo>
                  <a:pt x="87" y="324"/>
                </a:lnTo>
                <a:lnTo>
                  <a:pt x="77" y="323"/>
                </a:lnTo>
                <a:lnTo>
                  <a:pt x="68" y="321"/>
                </a:lnTo>
                <a:lnTo>
                  <a:pt x="59" y="318"/>
                </a:lnTo>
                <a:lnTo>
                  <a:pt x="51" y="314"/>
                </a:lnTo>
                <a:lnTo>
                  <a:pt x="42" y="308"/>
                </a:lnTo>
                <a:lnTo>
                  <a:pt x="35" y="303"/>
                </a:lnTo>
                <a:lnTo>
                  <a:pt x="28" y="297"/>
                </a:lnTo>
                <a:lnTo>
                  <a:pt x="22" y="290"/>
                </a:lnTo>
                <a:lnTo>
                  <a:pt x="16" y="282"/>
                </a:lnTo>
                <a:lnTo>
                  <a:pt x="12" y="274"/>
                </a:lnTo>
                <a:lnTo>
                  <a:pt x="8" y="266"/>
                </a:lnTo>
                <a:lnTo>
                  <a:pt x="4" y="257"/>
                </a:lnTo>
                <a:lnTo>
                  <a:pt x="2" y="248"/>
                </a:lnTo>
                <a:lnTo>
                  <a:pt x="1" y="239"/>
                </a:lnTo>
                <a:lnTo>
                  <a:pt x="0" y="229"/>
                </a:lnTo>
                <a:lnTo>
                  <a:pt x="0" y="229"/>
                </a:lnTo>
                <a:lnTo>
                  <a:pt x="0" y="219"/>
                </a:lnTo>
                <a:lnTo>
                  <a:pt x="2" y="211"/>
                </a:lnTo>
                <a:lnTo>
                  <a:pt x="3" y="203"/>
                </a:lnTo>
                <a:lnTo>
                  <a:pt x="7" y="194"/>
                </a:lnTo>
                <a:lnTo>
                  <a:pt x="10" y="187"/>
                </a:lnTo>
                <a:lnTo>
                  <a:pt x="14" y="179"/>
                </a:lnTo>
                <a:lnTo>
                  <a:pt x="18" y="173"/>
                </a:lnTo>
                <a:lnTo>
                  <a:pt x="24" y="166"/>
                </a:lnTo>
                <a:lnTo>
                  <a:pt x="29" y="160"/>
                </a:lnTo>
                <a:lnTo>
                  <a:pt x="35" y="154"/>
                </a:lnTo>
                <a:lnTo>
                  <a:pt x="42" y="149"/>
                </a:lnTo>
                <a:lnTo>
                  <a:pt x="49" y="144"/>
                </a:lnTo>
                <a:lnTo>
                  <a:pt x="56" y="141"/>
                </a:lnTo>
                <a:lnTo>
                  <a:pt x="64" y="138"/>
                </a:lnTo>
                <a:lnTo>
                  <a:pt x="73" y="135"/>
                </a:lnTo>
                <a:lnTo>
                  <a:pt x="81" y="134"/>
                </a:lnTo>
                <a:lnTo>
                  <a:pt x="81" y="134"/>
                </a:lnTo>
                <a:lnTo>
                  <a:pt x="84" y="119"/>
                </a:lnTo>
                <a:lnTo>
                  <a:pt x="87" y="106"/>
                </a:lnTo>
                <a:lnTo>
                  <a:pt x="91" y="93"/>
                </a:lnTo>
                <a:lnTo>
                  <a:pt x="97" y="81"/>
                </a:lnTo>
                <a:lnTo>
                  <a:pt x="103" y="70"/>
                </a:lnTo>
                <a:lnTo>
                  <a:pt x="111" y="59"/>
                </a:lnTo>
                <a:lnTo>
                  <a:pt x="119" y="48"/>
                </a:lnTo>
                <a:lnTo>
                  <a:pt x="129" y="39"/>
                </a:lnTo>
                <a:lnTo>
                  <a:pt x="139" y="30"/>
                </a:lnTo>
                <a:lnTo>
                  <a:pt x="151" y="23"/>
                </a:lnTo>
                <a:lnTo>
                  <a:pt x="162" y="16"/>
                </a:lnTo>
                <a:lnTo>
                  <a:pt x="175" y="11"/>
                </a:lnTo>
                <a:lnTo>
                  <a:pt x="188" y="7"/>
                </a:lnTo>
                <a:lnTo>
                  <a:pt x="201" y="3"/>
                </a:lnTo>
                <a:lnTo>
                  <a:pt x="215" y="1"/>
                </a:lnTo>
                <a:lnTo>
                  <a:pt x="229" y="0"/>
                </a:lnTo>
                <a:lnTo>
                  <a:pt x="229" y="0"/>
                </a:lnTo>
                <a:close/>
              </a:path>
            </a:pathLst>
          </a:custGeom>
          <a:noFill/>
          <a:ln w="19050" cap="flat" cmpd="sng" algn="ctr">
            <a:solidFill>
              <a:schemeClr val="bg1">
                <a:lumMod val="65000"/>
              </a:schemeClr>
            </a:solidFill>
            <a:prstDash val="solid"/>
          </a:ln>
          <a:effectLst/>
        </p:spPr>
        <p:txBody>
          <a:bodyPr wrap="square" lIns="182849" tIns="91424" rIns="182849" bIns="91424" rtlCol="0" anchor="ctr">
            <a:noAutofit/>
          </a:bodyPr>
          <a:lstStyle/>
          <a:p>
            <a:pPr marL="0" marR="0" lvl="0" indent="0" algn="ctr" defTabSz="1219272" eaLnBrk="1" fontAlgn="ctr" latinLnBrk="0" hangingPunct="1">
              <a:lnSpc>
                <a:spcPct val="150000"/>
              </a:lnSpc>
              <a:spcBef>
                <a:spcPts val="0"/>
              </a:spcBef>
              <a:spcAft>
                <a:spcPts val="0"/>
              </a:spcAft>
              <a:buClr>
                <a:srgbClr val="CC9900"/>
              </a:buClr>
              <a:buSzTx/>
              <a:buFontTx/>
              <a:buNone/>
              <a:tabLst/>
              <a:defRPr/>
            </a:pPr>
            <a:endParaRPr kumimoji="0" lang="en-US" altLang="zh-CN" sz="10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32" name="组合 285"/>
          <p:cNvGrpSpPr/>
          <p:nvPr/>
        </p:nvGrpSpPr>
        <p:grpSpPr bwMode="gray">
          <a:xfrm>
            <a:off x="4957133" y="2859893"/>
            <a:ext cx="763337" cy="723217"/>
            <a:chOff x="12326938" y="3265488"/>
            <a:chExt cx="1146175" cy="1122363"/>
          </a:xfrm>
          <a:solidFill>
            <a:schemeClr val="bg1"/>
          </a:solidFill>
          <a:scene3d>
            <a:camera prst="orthographicFront">
              <a:rot lat="1800000" lon="0" rev="0"/>
            </a:camera>
            <a:lightRig rig="threePt" dir="t"/>
          </a:scene3d>
        </p:grpSpPr>
        <p:sp>
          <p:nvSpPr>
            <p:cNvPr id="33" name="Freeform 67"/>
            <p:cNvSpPr>
              <a:spLocks/>
            </p:cNvSpPr>
            <p:nvPr/>
          </p:nvSpPr>
          <p:spPr bwMode="gray">
            <a:xfrm>
              <a:off x="13228638" y="3870325"/>
              <a:ext cx="244475" cy="268288"/>
            </a:xfrm>
            <a:custGeom>
              <a:avLst/>
              <a:gdLst/>
              <a:ahLst/>
              <a:cxnLst>
                <a:cxn ang="0">
                  <a:pos x="220" y="89"/>
                </a:cxn>
                <a:cxn ang="0">
                  <a:pos x="177" y="53"/>
                </a:cxn>
                <a:cxn ang="0">
                  <a:pos x="129" y="27"/>
                </a:cxn>
                <a:cxn ang="0">
                  <a:pos x="75" y="8"/>
                </a:cxn>
                <a:cxn ang="0">
                  <a:pos x="19" y="0"/>
                </a:cxn>
                <a:cxn ang="0">
                  <a:pos x="12" y="1"/>
                </a:cxn>
                <a:cxn ang="0">
                  <a:pos x="4" y="10"/>
                </a:cxn>
                <a:cxn ang="0">
                  <a:pos x="0" y="57"/>
                </a:cxn>
                <a:cxn ang="0">
                  <a:pos x="0" y="64"/>
                </a:cxn>
                <a:cxn ang="0">
                  <a:pos x="4" y="69"/>
                </a:cxn>
                <a:cxn ang="0">
                  <a:pos x="16" y="74"/>
                </a:cxn>
                <a:cxn ang="0">
                  <a:pos x="36" y="75"/>
                </a:cxn>
                <a:cxn ang="0">
                  <a:pos x="78" y="84"/>
                </a:cxn>
                <a:cxn ang="0">
                  <a:pos x="117" y="102"/>
                </a:cxn>
                <a:cxn ang="0">
                  <a:pos x="152" y="126"/>
                </a:cxn>
                <a:cxn ang="0">
                  <a:pos x="169" y="141"/>
                </a:cxn>
                <a:cxn ang="0">
                  <a:pos x="177" y="151"/>
                </a:cxn>
                <a:cxn ang="0">
                  <a:pos x="204" y="188"/>
                </a:cxn>
                <a:cxn ang="0">
                  <a:pos x="225" y="229"/>
                </a:cxn>
                <a:cxn ang="0">
                  <a:pos x="235" y="273"/>
                </a:cxn>
                <a:cxn ang="0">
                  <a:pos x="237" y="318"/>
                </a:cxn>
                <a:cxn ang="0">
                  <a:pos x="237" y="325"/>
                </a:cxn>
                <a:cxn ang="0">
                  <a:pos x="242" y="332"/>
                </a:cxn>
                <a:cxn ang="0">
                  <a:pos x="252" y="335"/>
                </a:cxn>
                <a:cxn ang="0">
                  <a:pos x="292" y="339"/>
                </a:cxn>
                <a:cxn ang="0">
                  <a:pos x="304" y="335"/>
                </a:cxn>
                <a:cxn ang="0">
                  <a:pos x="307" y="330"/>
                </a:cxn>
                <a:cxn ang="0">
                  <a:pos x="309" y="323"/>
                </a:cxn>
                <a:cxn ang="0">
                  <a:pos x="307" y="263"/>
                </a:cxn>
                <a:cxn ang="0">
                  <a:pos x="292" y="205"/>
                </a:cxn>
                <a:cxn ang="0">
                  <a:pos x="269" y="151"/>
                </a:cxn>
                <a:cxn ang="0">
                  <a:pos x="233" y="102"/>
                </a:cxn>
                <a:cxn ang="0">
                  <a:pos x="220" y="89"/>
                </a:cxn>
              </a:cxnLst>
              <a:rect l="0" t="0" r="r" b="b"/>
              <a:pathLst>
                <a:path w="309" h="339">
                  <a:moveTo>
                    <a:pt x="220" y="89"/>
                  </a:moveTo>
                  <a:lnTo>
                    <a:pt x="220" y="89"/>
                  </a:lnTo>
                  <a:lnTo>
                    <a:pt x="199" y="70"/>
                  </a:lnTo>
                  <a:lnTo>
                    <a:pt x="177" y="53"/>
                  </a:lnTo>
                  <a:lnTo>
                    <a:pt x="152" y="38"/>
                  </a:lnTo>
                  <a:lnTo>
                    <a:pt x="129" y="27"/>
                  </a:lnTo>
                  <a:lnTo>
                    <a:pt x="102" y="16"/>
                  </a:lnTo>
                  <a:lnTo>
                    <a:pt x="75" y="8"/>
                  </a:lnTo>
                  <a:lnTo>
                    <a:pt x="48" y="3"/>
                  </a:lnTo>
                  <a:lnTo>
                    <a:pt x="19" y="0"/>
                  </a:lnTo>
                  <a:lnTo>
                    <a:pt x="19" y="0"/>
                  </a:lnTo>
                  <a:lnTo>
                    <a:pt x="12" y="1"/>
                  </a:lnTo>
                  <a:lnTo>
                    <a:pt x="7" y="5"/>
                  </a:lnTo>
                  <a:lnTo>
                    <a:pt x="4" y="10"/>
                  </a:lnTo>
                  <a:lnTo>
                    <a:pt x="2" y="15"/>
                  </a:lnTo>
                  <a:lnTo>
                    <a:pt x="0" y="57"/>
                  </a:lnTo>
                  <a:lnTo>
                    <a:pt x="0" y="57"/>
                  </a:lnTo>
                  <a:lnTo>
                    <a:pt x="0" y="64"/>
                  </a:lnTo>
                  <a:lnTo>
                    <a:pt x="4" y="69"/>
                  </a:lnTo>
                  <a:lnTo>
                    <a:pt x="4" y="69"/>
                  </a:lnTo>
                  <a:lnTo>
                    <a:pt x="9" y="72"/>
                  </a:lnTo>
                  <a:lnTo>
                    <a:pt x="16" y="74"/>
                  </a:lnTo>
                  <a:lnTo>
                    <a:pt x="16" y="74"/>
                  </a:lnTo>
                  <a:lnTo>
                    <a:pt x="36" y="75"/>
                  </a:lnTo>
                  <a:lnTo>
                    <a:pt x="58" y="79"/>
                  </a:lnTo>
                  <a:lnTo>
                    <a:pt x="78" y="84"/>
                  </a:lnTo>
                  <a:lnTo>
                    <a:pt x="98" y="92"/>
                  </a:lnTo>
                  <a:lnTo>
                    <a:pt x="117" y="102"/>
                  </a:lnTo>
                  <a:lnTo>
                    <a:pt x="135" y="113"/>
                  </a:lnTo>
                  <a:lnTo>
                    <a:pt x="152" y="126"/>
                  </a:lnTo>
                  <a:lnTo>
                    <a:pt x="169" y="141"/>
                  </a:lnTo>
                  <a:lnTo>
                    <a:pt x="169" y="141"/>
                  </a:lnTo>
                  <a:lnTo>
                    <a:pt x="177" y="151"/>
                  </a:lnTo>
                  <a:lnTo>
                    <a:pt x="177" y="151"/>
                  </a:lnTo>
                  <a:lnTo>
                    <a:pt x="193" y="168"/>
                  </a:lnTo>
                  <a:lnTo>
                    <a:pt x="204" y="188"/>
                  </a:lnTo>
                  <a:lnTo>
                    <a:pt x="216" y="209"/>
                  </a:lnTo>
                  <a:lnTo>
                    <a:pt x="225" y="229"/>
                  </a:lnTo>
                  <a:lnTo>
                    <a:pt x="230" y="251"/>
                  </a:lnTo>
                  <a:lnTo>
                    <a:pt x="235" y="273"/>
                  </a:lnTo>
                  <a:lnTo>
                    <a:pt x="237" y="296"/>
                  </a:lnTo>
                  <a:lnTo>
                    <a:pt x="237" y="318"/>
                  </a:lnTo>
                  <a:lnTo>
                    <a:pt x="237" y="318"/>
                  </a:lnTo>
                  <a:lnTo>
                    <a:pt x="237" y="325"/>
                  </a:lnTo>
                  <a:lnTo>
                    <a:pt x="242" y="332"/>
                  </a:lnTo>
                  <a:lnTo>
                    <a:pt x="242" y="332"/>
                  </a:lnTo>
                  <a:lnTo>
                    <a:pt x="245" y="334"/>
                  </a:lnTo>
                  <a:lnTo>
                    <a:pt x="252" y="335"/>
                  </a:lnTo>
                  <a:lnTo>
                    <a:pt x="292" y="339"/>
                  </a:lnTo>
                  <a:lnTo>
                    <a:pt x="292" y="339"/>
                  </a:lnTo>
                  <a:lnTo>
                    <a:pt x="299" y="339"/>
                  </a:lnTo>
                  <a:lnTo>
                    <a:pt x="304" y="335"/>
                  </a:lnTo>
                  <a:lnTo>
                    <a:pt x="304" y="335"/>
                  </a:lnTo>
                  <a:lnTo>
                    <a:pt x="307" y="330"/>
                  </a:lnTo>
                  <a:lnTo>
                    <a:pt x="309" y="323"/>
                  </a:lnTo>
                  <a:lnTo>
                    <a:pt x="309" y="323"/>
                  </a:lnTo>
                  <a:lnTo>
                    <a:pt x="309" y="293"/>
                  </a:lnTo>
                  <a:lnTo>
                    <a:pt x="307" y="263"/>
                  </a:lnTo>
                  <a:lnTo>
                    <a:pt x="301" y="234"/>
                  </a:lnTo>
                  <a:lnTo>
                    <a:pt x="292" y="205"/>
                  </a:lnTo>
                  <a:lnTo>
                    <a:pt x="282" y="178"/>
                  </a:lnTo>
                  <a:lnTo>
                    <a:pt x="269" y="151"/>
                  </a:lnTo>
                  <a:lnTo>
                    <a:pt x="252" y="126"/>
                  </a:lnTo>
                  <a:lnTo>
                    <a:pt x="233" y="102"/>
                  </a:lnTo>
                  <a:lnTo>
                    <a:pt x="233" y="102"/>
                  </a:lnTo>
                  <a:lnTo>
                    <a:pt x="220" y="89"/>
                  </a:lnTo>
                  <a:lnTo>
                    <a:pt x="220" y="89"/>
                  </a:lnTo>
                  <a:close/>
                </a:path>
              </a:pathLst>
            </a:custGeom>
            <a:grpFill/>
            <a:ln w="6350" cap="flat" cmpd="sng" algn="ctr">
              <a:solidFill>
                <a:schemeClr val="bg1"/>
              </a:solidFill>
              <a:prstDash val="solid"/>
            </a:ln>
            <a:effectLst/>
          </p:spPr>
          <p:txBody>
            <a:bodyPr wrap="square" lIns="182849" tIns="91424" rIns="182849" bIns="91424" rtlCol="0" anchor="ctr">
              <a:noAutofit/>
            </a:bodyPr>
            <a:lstStyle/>
            <a:p>
              <a:pPr marL="0" marR="0" lvl="0" indent="0" algn="ctr" defTabSz="1219272" eaLnBrk="1" fontAlgn="ctr" latinLnBrk="0" hangingPunct="1">
                <a:lnSpc>
                  <a:spcPct val="150000"/>
                </a:lnSpc>
                <a:spcBef>
                  <a:spcPts val="0"/>
                </a:spcBef>
                <a:spcAft>
                  <a:spcPts val="0"/>
                </a:spcAft>
                <a:buClr>
                  <a:srgbClr val="CC9900"/>
                </a:buClr>
                <a:buSzTx/>
                <a:buFontTx/>
                <a:buNone/>
                <a:tabLst/>
                <a:defRPr/>
              </a:pPr>
              <a:endParaRPr kumimoji="0" lang="en-US" altLang="zh-CN" sz="10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4" name="Freeform 68"/>
            <p:cNvSpPr>
              <a:spLocks/>
            </p:cNvSpPr>
            <p:nvPr/>
          </p:nvSpPr>
          <p:spPr bwMode="gray">
            <a:xfrm>
              <a:off x="13231813" y="3970338"/>
              <a:ext cx="142875" cy="152400"/>
            </a:xfrm>
            <a:custGeom>
              <a:avLst/>
              <a:gdLst/>
              <a:ahLst/>
              <a:cxnLst>
                <a:cxn ang="0">
                  <a:pos x="130" y="49"/>
                </a:cxn>
                <a:cxn ang="0">
                  <a:pos x="130" y="49"/>
                </a:cxn>
                <a:cxn ang="0">
                  <a:pos x="118" y="39"/>
                </a:cxn>
                <a:cxn ang="0">
                  <a:pos x="107" y="29"/>
                </a:cxn>
                <a:cxn ang="0">
                  <a:pos x="93" y="22"/>
                </a:cxn>
                <a:cxn ang="0">
                  <a:pos x="78" y="14"/>
                </a:cxn>
                <a:cxn ang="0">
                  <a:pos x="65" y="8"/>
                </a:cxn>
                <a:cxn ang="0">
                  <a:pos x="49" y="5"/>
                </a:cxn>
                <a:cxn ang="0">
                  <a:pos x="34" y="2"/>
                </a:cxn>
                <a:cxn ang="0">
                  <a:pos x="17" y="0"/>
                </a:cxn>
                <a:cxn ang="0">
                  <a:pos x="17" y="0"/>
                </a:cxn>
                <a:cxn ang="0">
                  <a:pos x="12" y="2"/>
                </a:cxn>
                <a:cxn ang="0">
                  <a:pos x="7" y="5"/>
                </a:cxn>
                <a:cxn ang="0">
                  <a:pos x="4" y="8"/>
                </a:cxn>
                <a:cxn ang="0">
                  <a:pos x="2" y="15"/>
                </a:cxn>
                <a:cxn ang="0">
                  <a:pos x="0" y="57"/>
                </a:cxn>
                <a:cxn ang="0">
                  <a:pos x="0" y="57"/>
                </a:cxn>
                <a:cxn ang="0">
                  <a:pos x="0" y="62"/>
                </a:cxn>
                <a:cxn ang="0">
                  <a:pos x="4" y="68"/>
                </a:cxn>
                <a:cxn ang="0">
                  <a:pos x="4" y="68"/>
                </a:cxn>
                <a:cxn ang="0">
                  <a:pos x="9" y="71"/>
                </a:cxn>
                <a:cxn ang="0">
                  <a:pos x="16" y="73"/>
                </a:cxn>
                <a:cxn ang="0">
                  <a:pos x="16" y="73"/>
                </a:cxn>
                <a:cxn ang="0">
                  <a:pos x="32" y="76"/>
                </a:cxn>
                <a:cxn ang="0">
                  <a:pos x="49" y="81"/>
                </a:cxn>
                <a:cxn ang="0">
                  <a:pos x="65" y="89"/>
                </a:cxn>
                <a:cxn ang="0">
                  <a:pos x="78" y="101"/>
                </a:cxn>
                <a:cxn ang="0">
                  <a:pos x="78" y="101"/>
                </a:cxn>
                <a:cxn ang="0">
                  <a:pos x="83" y="105"/>
                </a:cxn>
                <a:cxn ang="0">
                  <a:pos x="83" y="105"/>
                </a:cxn>
                <a:cxn ang="0">
                  <a:pos x="93" y="120"/>
                </a:cxn>
                <a:cxn ang="0">
                  <a:pos x="102" y="137"/>
                </a:cxn>
                <a:cxn ang="0">
                  <a:pos x="107" y="155"/>
                </a:cxn>
                <a:cxn ang="0">
                  <a:pos x="107" y="174"/>
                </a:cxn>
                <a:cxn ang="0">
                  <a:pos x="107" y="174"/>
                </a:cxn>
                <a:cxn ang="0">
                  <a:pos x="108" y="181"/>
                </a:cxn>
                <a:cxn ang="0">
                  <a:pos x="112" y="186"/>
                </a:cxn>
                <a:cxn ang="0">
                  <a:pos x="112" y="186"/>
                </a:cxn>
                <a:cxn ang="0">
                  <a:pos x="117" y="189"/>
                </a:cxn>
                <a:cxn ang="0">
                  <a:pos x="122" y="191"/>
                </a:cxn>
                <a:cxn ang="0">
                  <a:pos x="162" y="192"/>
                </a:cxn>
                <a:cxn ang="0">
                  <a:pos x="162" y="192"/>
                </a:cxn>
                <a:cxn ang="0">
                  <a:pos x="169" y="192"/>
                </a:cxn>
                <a:cxn ang="0">
                  <a:pos x="174" y="189"/>
                </a:cxn>
                <a:cxn ang="0">
                  <a:pos x="174" y="189"/>
                </a:cxn>
                <a:cxn ang="0">
                  <a:pos x="178" y="184"/>
                </a:cxn>
                <a:cxn ang="0">
                  <a:pos x="179" y="179"/>
                </a:cxn>
                <a:cxn ang="0">
                  <a:pos x="179" y="179"/>
                </a:cxn>
                <a:cxn ang="0">
                  <a:pos x="179" y="162"/>
                </a:cxn>
                <a:cxn ang="0">
                  <a:pos x="178" y="145"/>
                </a:cxn>
                <a:cxn ang="0">
                  <a:pos x="176" y="130"/>
                </a:cxn>
                <a:cxn ang="0">
                  <a:pos x="171" y="113"/>
                </a:cxn>
                <a:cxn ang="0">
                  <a:pos x="164" y="98"/>
                </a:cxn>
                <a:cxn ang="0">
                  <a:pos x="157" y="84"/>
                </a:cxn>
                <a:cxn ang="0">
                  <a:pos x="147" y="69"/>
                </a:cxn>
                <a:cxn ang="0">
                  <a:pos x="137" y="57"/>
                </a:cxn>
                <a:cxn ang="0">
                  <a:pos x="137" y="57"/>
                </a:cxn>
                <a:cxn ang="0">
                  <a:pos x="130" y="49"/>
                </a:cxn>
                <a:cxn ang="0">
                  <a:pos x="130" y="49"/>
                </a:cxn>
              </a:cxnLst>
              <a:rect l="0" t="0" r="r" b="b"/>
              <a:pathLst>
                <a:path w="179" h="192">
                  <a:moveTo>
                    <a:pt x="130" y="49"/>
                  </a:moveTo>
                  <a:lnTo>
                    <a:pt x="130" y="49"/>
                  </a:lnTo>
                  <a:lnTo>
                    <a:pt x="118" y="39"/>
                  </a:lnTo>
                  <a:lnTo>
                    <a:pt x="107" y="29"/>
                  </a:lnTo>
                  <a:lnTo>
                    <a:pt x="93" y="22"/>
                  </a:lnTo>
                  <a:lnTo>
                    <a:pt x="78" y="14"/>
                  </a:lnTo>
                  <a:lnTo>
                    <a:pt x="65" y="8"/>
                  </a:lnTo>
                  <a:lnTo>
                    <a:pt x="49" y="5"/>
                  </a:lnTo>
                  <a:lnTo>
                    <a:pt x="34" y="2"/>
                  </a:lnTo>
                  <a:lnTo>
                    <a:pt x="17" y="0"/>
                  </a:lnTo>
                  <a:lnTo>
                    <a:pt x="17" y="0"/>
                  </a:lnTo>
                  <a:lnTo>
                    <a:pt x="12" y="2"/>
                  </a:lnTo>
                  <a:lnTo>
                    <a:pt x="7" y="5"/>
                  </a:lnTo>
                  <a:lnTo>
                    <a:pt x="4" y="8"/>
                  </a:lnTo>
                  <a:lnTo>
                    <a:pt x="2" y="15"/>
                  </a:lnTo>
                  <a:lnTo>
                    <a:pt x="0" y="57"/>
                  </a:lnTo>
                  <a:lnTo>
                    <a:pt x="0" y="57"/>
                  </a:lnTo>
                  <a:lnTo>
                    <a:pt x="0" y="62"/>
                  </a:lnTo>
                  <a:lnTo>
                    <a:pt x="4" y="68"/>
                  </a:lnTo>
                  <a:lnTo>
                    <a:pt x="4" y="68"/>
                  </a:lnTo>
                  <a:lnTo>
                    <a:pt x="9" y="71"/>
                  </a:lnTo>
                  <a:lnTo>
                    <a:pt x="16" y="73"/>
                  </a:lnTo>
                  <a:lnTo>
                    <a:pt x="16" y="73"/>
                  </a:lnTo>
                  <a:lnTo>
                    <a:pt x="32" y="76"/>
                  </a:lnTo>
                  <a:lnTo>
                    <a:pt x="49" y="81"/>
                  </a:lnTo>
                  <a:lnTo>
                    <a:pt x="65" y="89"/>
                  </a:lnTo>
                  <a:lnTo>
                    <a:pt x="78" y="101"/>
                  </a:lnTo>
                  <a:lnTo>
                    <a:pt x="78" y="101"/>
                  </a:lnTo>
                  <a:lnTo>
                    <a:pt x="83" y="105"/>
                  </a:lnTo>
                  <a:lnTo>
                    <a:pt x="83" y="105"/>
                  </a:lnTo>
                  <a:lnTo>
                    <a:pt x="93" y="120"/>
                  </a:lnTo>
                  <a:lnTo>
                    <a:pt x="102" y="137"/>
                  </a:lnTo>
                  <a:lnTo>
                    <a:pt x="107" y="155"/>
                  </a:lnTo>
                  <a:lnTo>
                    <a:pt x="107" y="174"/>
                  </a:lnTo>
                  <a:lnTo>
                    <a:pt x="107" y="174"/>
                  </a:lnTo>
                  <a:lnTo>
                    <a:pt x="108" y="181"/>
                  </a:lnTo>
                  <a:lnTo>
                    <a:pt x="112" y="186"/>
                  </a:lnTo>
                  <a:lnTo>
                    <a:pt x="112" y="186"/>
                  </a:lnTo>
                  <a:lnTo>
                    <a:pt x="117" y="189"/>
                  </a:lnTo>
                  <a:lnTo>
                    <a:pt x="122" y="191"/>
                  </a:lnTo>
                  <a:lnTo>
                    <a:pt x="162" y="192"/>
                  </a:lnTo>
                  <a:lnTo>
                    <a:pt x="162" y="192"/>
                  </a:lnTo>
                  <a:lnTo>
                    <a:pt x="169" y="192"/>
                  </a:lnTo>
                  <a:lnTo>
                    <a:pt x="174" y="189"/>
                  </a:lnTo>
                  <a:lnTo>
                    <a:pt x="174" y="189"/>
                  </a:lnTo>
                  <a:lnTo>
                    <a:pt x="178" y="184"/>
                  </a:lnTo>
                  <a:lnTo>
                    <a:pt x="179" y="179"/>
                  </a:lnTo>
                  <a:lnTo>
                    <a:pt x="179" y="179"/>
                  </a:lnTo>
                  <a:lnTo>
                    <a:pt x="179" y="162"/>
                  </a:lnTo>
                  <a:lnTo>
                    <a:pt x="178" y="145"/>
                  </a:lnTo>
                  <a:lnTo>
                    <a:pt x="176" y="130"/>
                  </a:lnTo>
                  <a:lnTo>
                    <a:pt x="171" y="113"/>
                  </a:lnTo>
                  <a:lnTo>
                    <a:pt x="164" y="98"/>
                  </a:lnTo>
                  <a:lnTo>
                    <a:pt x="157" y="84"/>
                  </a:lnTo>
                  <a:lnTo>
                    <a:pt x="147" y="69"/>
                  </a:lnTo>
                  <a:lnTo>
                    <a:pt x="137" y="57"/>
                  </a:lnTo>
                  <a:lnTo>
                    <a:pt x="137" y="57"/>
                  </a:lnTo>
                  <a:lnTo>
                    <a:pt x="130" y="49"/>
                  </a:lnTo>
                  <a:lnTo>
                    <a:pt x="130" y="49"/>
                  </a:lnTo>
                  <a:close/>
                </a:path>
              </a:pathLst>
            </a:custGeom>
            <a:solidFill>
              <a:srgbClr val="00B0F0"/>
            </a:solidFill>
            <a:ln w="6350" cap="flat" cmpd="sng" algn="ctr">
              <a:solidFill>
                <a:schemeClr val="bg1"/>
              </a:solidFill>
              <a:prstDash val="solid"/>
            </a:ln>
            <a:effectLst/>
          </p:spPr>
          <p:txBody>
            <a:bodyPr wrap="square" lIns="182849" tIns="91424" rIns="182849" bIns="91424" rtlCol="0" anchor="ctr">
              <a:noAutofit/>
            </a:bodyPr>
            <a:lstStyle/>
            <a:p>
              <a:pPr marL="0" marR="0" lvl="0" indent="0" algn="ctr" defTabSz="1219272" eaLnBrk="1" fontAlgn="ctr" latinLnBrk="0" hangingPunct="1">
                <a:lnSpc>
                  <a:spcPct val="150000"/>
                </a:lnSpc>
                <a:spcBef>
                  <a:spcPts val="0"/>
                </a:spcBef>
                <a:spcAft>
                  <a:spcPts val="0"/>
                </a:spcAft>
                <a:buClr>
                  <a:srgbClr val="CC9900"/>
                </a:buClr>
                <a:buSzTx/>
                <a:buFontTx/>
                <a:buNone/>
                <a:tabLst/>
                <a:defRPr/>
              </a:pPr>
              <a:endParaRPr kumimoji="0" lang="en-US" altLang="zh-CN" sz="10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5" name="Freeform 69"/>
            <p:cNvSpPr>
              <a:spLocks/>
            </p:cNvSpPr>
            <p:nvPr/>
          </p:nvSpPr>
          <p:spPr bwMode="gray">
            <a:xfrm>
              <a:off x="12326938" y="3529013"/>
              <a:ext cx="246063" cy="268288"/>
            </a:xfrm>
            <a:custGeom>
              <a:avLst/>
              <a:gdLst/>
              <a:ahLst/>
              <a:cxnLst>
                <a:cxn ang="0">
                  <a:pos x="132" y="150"/>
                </a:cxn>
                <a:cxn ang="0">
                  <a:pos x="142" y="140"/>
                </a:cxn>
                <a:cxn ang="0">
                  <a:pos x="174" y="113"/>
                </a:cxn>
                <a:cxn ang="0">
                  <a:pos x="213" y="93"/>
                </a:cxn>
                <a:cxn ang="0">
                  <a:pos x="253" y="80"/>
                </a:cxn>
                <a:cxn ang="0">
                  <a:pos x="295" y="73"/>
                </a:cxn>
                <a:cxn ang="0">
                  <a:pos x="300" y="71"/>
                </a:cxn>
                <a:cxn ang="0">
                  <a:pos x="305" y="68"/>
                </a:cxn>
                <a:cxn ang="0">
                  <a:pos x="311" y="56"/>
                </a:cxn>
                <a:cxn ang="0">
                  <a:pos x="309" y="16"/>
                </a:cxn>
                <a:cxn ang="0">
                  <a:pos x="304" y="5"/>
                </a:cxn>
                <a:cxn ang="0">
                  <a:pos x="292" y="0"/>
                </a:cxn>
                <a:cxn ang="0">
                  <a:pos x="263" y="4"/>
                </a:cxn>
                <a:cxn ang="0">
                  <a:pos x="208" y="16"/>
                </a:cxn>
                <a:cxn ang="0">
                  <a:pos x="157" y="39"/>
                </a:cxn>
                <a:cxn ang="0">
                  <a:pos x="111" y="69"/>
                </a:cxn>
                <a:cxn ang="0">
                  <a:pos x="90" y="90"/>
                </a:cxn>
                <a:cxn ang="0">
                  <a:pos x="78" y="103"/>
                </a:cxn>
                <a:cxn ang="0">
                  <a:pos x="42" y="152"/>
                </a:cxn>
                <a:cxn ang="0">
                  <a:pos x="17" y="206"/>
                </a:cxn>
                <a:cxn ang="0">
                  <a:pos x="4" y="263"/>
                </a:cxn>
                <a:cxn ang="0">
                  <a:pos x="2" y="324"/>
                </a:cxn>
                <a:cxn ang="0">
                  <a:pos x="4" y="329"/>
                </a:cxn>
                <a:cxn ang="0">
                  <a:pos x="7" y="334"/>
                </a:cxn>
                <a:cxn ang="0">
                  <a:pos x="19" y="339"/>
                </a:cxn>
                <a:cxn ang="0">
                  <a:pos x="59" y="336"/>
                </a:cxn>
                <a:cxn ang="0">
                  <a:pos x="69" y="331"/>
                </a:cxn>
                <a:cxn ang="0">
                  <a:pos x="73" y="326"/>
                </a:cxn>
                <a:cxn ang="0">
                  <a:pos x="74" y="319"/>
                </a:cxn>
                <a:cxn ang="0">
                  <a:pos x="76" y="274"/>
                </a:cxn>
                <a:cxn ang="0">
                  <a:pos x="86" y="230"/>
                </a:cxn>
                <a:cxn ang="0">
                  <a:pos x="105" y="188"/>
                </a:cxn>
                <a:cxn ang="0">
                  <a:pos x="132" y="150"/>
                </a:cxn>
              </a:cxnLst>
              <a:rect l="0" t="0" r="r" b="b"/>
              <a:pathLst>
                <a:path w="311" h="339">
                  <a:moveTo>
                    <a:pt x="132" y="150"/>
                  </a:moveTo>
                  <a:lnTo>
                    <a:pt x="132" y="150"/>
                  </a:lnTo>
                  <a:lnTo>
                    <a:pt x="142" y="140"/>
                  </a:lnTo>
                  <a:lnTo>
                    <a:pt x="142" y="140"/>
                  </a:lnTo>
                  <a:lnTo>
                    <a:pt x="157" y="127"/>
                  </a:lnTo>
                  <a:lnTo>
                    <a:pt x="174" y="113"/>
                  </a:lnTo>
                  <a:lnTo>
                    <a:pt x="192" y="102"/>
                  </a:lnTo>
                  <a:lnTo>
                    <a:pt x="213" y="93"/>
                  </a:lnTo>
                  <a:lnTo>
                    <a:pt x="231" y="85"/>
                  </a:lnTo>
                  <a:lnTo>
                    <a:pt x="253" y="80"/>
                  </a:lnTo>
                  <a:lnTo>
                    <a:pt x="273" y="75"/>
                  </a:lnTo>
                  <a:lnTo>
                    <a:pt x="295" y="73"/>
                  </a:lnTo>
                  <a:lnTo>
                    <a:pt x="295" y="73"/>
                  </a:lnTo>
                  <a:lnTo>
                    <a:pt x="300" y="71"/>
                  </a:lnTo>
                  <a:lnTo>
                    <a:pt x="305" y="68"/>
                  </a:lnTo>
                  <a:lnTo>
                    <a:pt x="305" y="68"/>
                  </a:lnTo>
                  <a:lnTo>
                    <a:pt x="309" y="63"/>
                  </a:lnTo>
                  <a:lnTo>
                    <a:pt x="311" y="56"/>
                  </a:lnTo>
                  <a:lnTo>
                    <a:pt x="309" y="16"/>
                  </a:lnTo>
                  <a:lnTo>
                    <a:pt x="309" y="16"/>
                  </a:lnTo>
                  <a:lnTo>
                    <a:pt x="307" y="9"/>
                  </a:lnTo>
                  <a:lnTo>
                    <a:pt x="304" y="5"/>
                  </a:lnTo>
                  <a:lnTo>
                    <a:pt x="299" y="2"/>
                  </a:lnTo>
                  <a:lnTo>
                    <a:pt x="292" y="0"/>
                  </a:lnTo>
                  <a:lnTo>
                    <a:pt x="292" y="0"/>
                  </a:lnTo>
                  <a:lnTo>
                    <a:pt x="263" y="4"/>
                  </a:lnTo>
                  <a:lnTo>
                    <a:pt x="236" y="9"/>
                  </a:lnTo>
                  <a:lnTo>
                    <a:pt x="208" y="16"/>
                  </a:lnTo>
                  <a:lnTo>
                    <a:pt x="182" y="26"/>
                  </a:lnTo>
                  <a:lnTo>
                    <a:pt x="157" y="39"/>
                  </a:lnTo>
                  <a:lnTo>
                    <a:pt x="133" y="53"/>
                  </a:lnTo>
                  <a:lnTo>
                    <a:pt x="111" y="69"/>
                  </a:lnTo>
                  <a:lnTo>
                    <a:pt x="90" y="90"/>
                  </a:lnTo>
                  <a:lnTo>
                    <a:pt x="90" y="90"/>
                  </a:lnTo>
                  <a:lnTo>
                    <a:pt x="78" y="103"/>
                  </a:lnTo>
                  <a:lnTo>
                    <a:pt x="78" y="103"/>
                  </a:lnTo>
                  <a:lnTo>
                    <a:pt x="59" y="127"/>
                  </a:lnTo>
                  <a:lnTo>
                    <a:pt x="42" y="152"/>
                  </a:lnTo>
                  <a:lnTo>
                    <a:pt x="29" y="177"/>
                  </a:lnTo>
                  <a:lnTo>
                    <a:pt x="17" y="206"/>
                  </a:lnTo>
                  <a:lnTo>
                    <a:pt x="9" y="235"/>
                  </a:lnTo>
                  <a:lnTo>
                    <a:pt x="4" y="263"/>
                  </a:lnTo>
                  <a:lnTo>
                    <a:pt x="0" y="294"/>
                  </a:lnTo>
                  <a:lnTo>
                    <a:pt x="2" y="324"/>
                  </a:lnTo>
                  <a:lnTo>
                    <a:pt x="2" y="324"/>
                  </a:lnTo>
                  <a:lnTo>
                    <a:pt x="4" y="329"/>
                  </a:lnTo>
                  <a:lnTo>
                    <a:pt x="7" y="334"/>
                  </a:lnTo>
                  <a:lnTo>
                    <a:pt x="7" y="334"/>
                  </a:lnTo>
                  <a:lnTo>
                    <a:pt x="12" y="338"/>
                  </a:lnTo>
                  <a:lnTo>
                    <a:pt x="19" y="339"/>
                  </a:lnTo>
                  <a:lnTo>
                    <a:pt x="59" y="336"/>
                  </a:lnTo>
                  <a:lnTo>
                    <a:pt x="59" y="336"/>
                  </a:lnTo>
                  <a:lnTo>
                    <a:pt x="64" y="334"/>
                  </a:lnTo>
                  <a:lnTo>
                    <a:pt x="69" y="331"/>
                  </a:lnTo>
                  <a:lnTo>
                    <a:pt x="69" y="331"/>
                  </a:lnTo>
                  <a:lnTo>
                    <a:pt x="73" y="326"/>
                  </a:lnTo>
                  <a:lnTo>
                    <a:pt x="74" y="319"/>
                  </a:lnTo>
                  <a:lnTo>
                    <a:pt x="74" y="319"/>
                  </a:lnTo>
                  <a:lnTo>
                    <a:pt x="74" y="296"/>
                  </a:lnTo>
                  <a:lnTo>
                    <a:pt x="76" y="274"/>
                  </a:lnTo>
                  <a:lnTo>
                    <a:pt x="79" y="252"/>
                  </a:lnTo>
                  <a:lnTo>
                    <a:pt x="86" y="230"/>
                  </a:lnTo>
                  <a:lnTo>
                    <a:pt x="95" y="208"/>
                  </a:lnTo>
                  <a:lnTo>
                    <a:pt x="105" y="188"/>
                  </a:lnTo>
                  <a:lnTo>
                    <a:pt x="118" y="169"/>
                  </a:lnTo>
                  <a:lnTo>
                    <a:pt x="132" y="150"/>
                  </a:lnTo>
                  <a:lnTo>
                    <a:pt x="132" y="150"/>
                  </a:lnTo>
                  <a:close/>
                </a:path>
              </a:pathLst>
            </a:custGeom>
            <a:solidFill>
              <a:srgbClr val="00B0F0"/>
            </a:solidFill>
            <a:ln w="6350" cap="flat" cmpd="sng" algn="ctr">
              <a:solidFill>
                <a:schemeClr val="bg1"/>
              </a:solidFill>
              <a:prstDash val="solid"/>
            </a:ln>
            <a:effectLst/>
          </p:spPr>
          <p:txBody>
            <a:bodyPr wrap="square" lIns="182849" tIns="91424" rIns="182849" bIns="91424" rtlCol="0" anchor="ctr">
              <a:noAutofit/>
            </a:bodyPr>
            <a:lstStyle/>
            <a:p>
              <a:pPr marL="0" marR="0" lvl="0" indent="0" algn="ctr" defTabSz="1219272" eaLnBrk="1" fontAlgn="ctr" latinLnBrk="0" hangingPunct="1">
                <a:lnSpc>
                  <a:spcPct val="150000"/>
                </a:lnSpc>
                <a:spcBef>
                  <a:spcPts val="0"/>
                </a:spcBef>
                <a:spcAft>
                  <a:spcPts val="0"/>
                </a:spcAft>
                <a:buClr>
                  <a:srgbClr val="CC9900"/>
                </a:buClr>
                <a:buSzTx/>
                <a:buFontTx/>
                <a:buNone/>
                <a:tabLst/>
                <a:defRPr/>
              </a:pPr>
              <a:endParaRPr kumimoji="0" lang="en-US" altLang="zh-CN" sz="10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6" name="Freeform 70"/>
            <p:cNvSpPr>
              <a:spLocks/>
            </p:cNvSpPr>
            <p:nvPr/>
          </p:nvSpPr>
          <p:spPr bwMode="gray">
            <a:xfrm>
              <a:off x="12425363" y="3629025"/>
              <a:ext cx="144463" cy="152400"/>
            </a:xfrm>
            <a:custGeom>
              <a:avLst/>
              <a:gdLst/>
              <a:ahLst/>
              <a:cxnLst>
                <a:cxn ang="0">
                  <a:pos x="175" y="67"/>
                </a:cxn>
                <a:cxn ang="0">
                  <a:pos x="175" y="67"/>
                </a:cxn>
                <a:cxn ang="0">
                  <a:pos x="179" y="62"/>
                </a:cxn>
                <a:cxn ang="0">
                  <a:pos x="180" y="56"/>
                </a:cxn>
                <a:cxn ang="0">
                  <a:pos x="179" y="15"/>
                </a:cxn>
                <a:cxn ang="0">
                  <a:pos x="179" y="15"/>
                </a:cxn>
                <a:cxn ang="0">
                  <a:pos x="177" y="8"/>
                </a:cxn>
                <a:cxn ang="0">
                  <a:pos x="174" y="3"/>
                </a:cxn>
                <a:cxn ang="0">
                  <a:pos x="169" y="0"/>
                </a:cxn>
                <a:cxn ang="0">
                  <a:pos x="162" y="0"/>
                </a:cxn>
                <a:cxn ang="0">
                  <a:pos x="162" y="0"/>
                </a:cxn>
                <a:cxn ang="0">
                  <a:pos x="147" y="2"/>
                </a:cxn>
                <a:cxn ang="0">
                  <a:pos x="132" y="3"/>
                </a:cxn>
                <a:cxn ang="0">
                  <a:pos x="116" y="8"/>
                </a:cxn>
                <a:cxn ang="0">
                  <a:pos x="101" y="13"/>
                </a:cxn>
                <a:cxn ang="0">
                  <a:pos x="88" y="20"/>
                </a:cxn>
                <a:cxn ang="0">
                  <a:pos x="74" y="29"/>
                </a:cxn>
                <a:cxn ang="0">
                  <a:pos x="61" y="39"/>
                </a:cxn>
                <a:cxn ang="0">
                  <a:pos x="51" y="49"/>
                </a:cxn>
                <a:cxn ang="0">
                  <a:pos x="51" y="49"/>
                </a:cxn>
                <a:cxn ang="0">
                  <a:pos x="42" y="56"/>
                </a:cxn>
                <a:cxn ang="0">
                  <a:pos x="42" y="56"/>
                </a:cxn>
                <a:cxn ang="0">
                  <a:pos x="32" y="69"/>
                </a:cxn>
                <a:cxn ang="0">
                  <a:pos x="24" y="83"/>
                </a:cxn>
                <a:cxn ang="0">
                  <a:pos x="15" y="98"/>
                </a:cxn>
                <a:cxn ang="0">
                  <a:pos x="10" y="113"/>
                </a:cxn>
                <a:cxn ang="0">
                  <a:pos x="5" y="128"/>
                </a:cxn>
                <a:cxn ang="0">
                  <a:pos x="2" y="145"/>
                </a:cxn>
                <a:cxn ang="0">
                  <a:pos x="0" y="162"/>
                </a:cxn>
                <a:cxn ang="0">
                  <a:pos x="0" y="179"/>
                </a:cxn>
                <a:cxn ang="0">
                  <a:pos x="0" y="179"/>
                </a:cxn>
                <a:cxn ang="0">
                  <a:pos x="2" y="184"/>
                </a:cxn>
                <a:cxn ang="0">
                  <a:pos x="5" y="189"/>
                </a:cxn>
                <a:cxn ang="0">
                  <a:pos x="5" y="189"/>
                </a:cxn>
                <a:cxn ang="0">
                  <a:pos x="12" y="192"/>
                </a:cxn>
                <a:cxn ang="0">
                  <a:pos x="17" y="192"/>
                </a:cxn>
                <a:cxn ang="0">
                  <a:pos x="59" y="189"/>
                </a:cxn>
                <a:cxn ang="0">
                  <a:pos x="59" y="189"/>
                </a:cxn>
                <a:cxn ang="0">
                  <a:pos x="64" y="189"/>
                </a:cxn>
                <a:cxn ang="0">
                  <a:pos x="69" y="185"/>
                </a:cxn>
                <a:cxn ang="0">
                  <a:pos x="69" y="185"/>
                </a:cxn>
                <a:cxn ang="0">
                  <a:pos x="72" y="179"/>
                </a:cxn>
                <a:cxn ang="0">
                  <a:pos x="72" y="172"/>
                </a:cxn>
                <a:cxn ang="0">
                  <a:pos x="72" y="172"/>
                </a:cxn>
                <a:cxn ang="0">
                  <a:pos x="74" y="153"/>
                </a:cxn>
                <a:cxn ang="0">
                  <a:pos x="79" y="136"/>
                </a:cxn>
                <a:cxn ang="0">
                  <a:pos x="86" y="120"/>
                </a:cxn>
                <a:cxn ang="0">
                  <a:pos x="98" y="104"/>
                </a:cxn>
                <a:cxn ang="0">
                  <a:pos x="98" y="104"/>
                </a:cxn>
                <a:cxn ang="0">
                  <a:pos x="101" y="101"/>
                </a:cxn>
                <a:cxn ang="0">
                  <a:pos x="101" y="101"/>
                </a:cxn>
                <a:cxn ang="0">
                  <a:pos x="115" y="89"/>
                </a:cxn>
                <a:cxn ang="0">
                  <a:pos x="130" y="81"/>
                </a:cxn>
                <a:cxn ang="0">
                  <a:pos x="147" y="74"/>
                </a:cxn>
                <a:cxn ang="0">
                  <a:pos x="165" y="72"/>
                </a:cxn>
                <a:cxn ang="0">
                  <a:pos x="165" y="72"/>
                </a:cxn>
                <a:cxn ang="0">
                  <a:pos x="170" y="71"/>
                </a:cxn>
                <a:cxn ang="0">
                  <a:pos x="175" y="67"/>
                </a:cxn>
                <a:cxn ang="0">
                  <a:pos x="175" y="67"/>
                </a:cxn>
              </a:cxnLst>
              <a:rect l="0" t="0" r="r" b="b"/>
              <a:pathLst>
                <a:path w="180" h="192">
                  <a:moveTo>
                    <a:pt x="175" y="67"/>
                  </a:moveTo>
                  <a:lnTo>
                    <a:pt x="175" y="67"/>
                  </a:lnTo>
                  <a:lnTo>
                    <a:pt x="179" y="62"/>
                  </a:lnTo>
                  <a:lnTo>
                    <a:pt x="180" y="56"/>
                  </a:lnTo>
                  <a:lnTo>
                    <a:pt x="179" y="15"/>
                  </a:lnTo>
                  <a:lnTo>
                    <a:pt x="179" y="15"/>
                  </a:lnTo>
                  <a:lnTo>
                    <a:pt x="177" y="8"/>
                  </a:lnTo>
                  <a:lnTo>
                    <a:pt x="174" y="3"/>
                  </a:lnTo>
                  <a:lnTo>
                    <a:pt x="169" y="0"/>
                  </a:lnTo>
                  <a:lnTo>
                    <a:pt x="162" y="0"/>
                  </a:lnTo>
                  <a:lnTo>
                    <a:pt x="162" y="0"/>
                  </a:lnTo>
                  <a:lnTo>
                    <a:pt x="147" y="2"/>
                  </a:lnTo>
                  <a:lnTo>
                    <a:pt x="132" y="3"/>
                  </a:lnTo>
                  <a:lnTo>
                    <a:pt x="116" y="8"/>
                  </a:lnTo>
                  <a:lnTo>
                    <a:pt x="101" y="13"/>
                  </a:lnTo>
                  <a:lnTo>
                    <a:pt x="88" y="20"/>
                  </a:lnTo>
                  <a:lnTo>
                    <a:pt x="74" y="29"/>
                  </a:lnTo>
                  <a:lnTo>
                    <a:pt x="61" y="39"/>
                  </a:lnTo>
                  <a:lnTo>
                    <a:pt x="51" y="49"/>
                  </a:lnTo>
                  <a:lnTo>
                    <a:pt x="51" y="49"/>
                  </a:lnTo>
                  <a:lnTo>
                    <a:pt x="42" y="56"/>
                  </a:lnTo>
                  <a:lnTo>
                    <a:pt x="42" y="56"/>
                  </a:lnTo>
                  <a:lnTo>
                    <a:pt x="32" y="69"/>
                  </a:lnTo>
                  <a:lnTo>
                    <a:pt x="24" y="83"/>
                  </a:lnTo>
                  <a:lnTo>
                    <a:pt x="15" y="98"/>
                  </a:lnTo>
                  <a:lnTo>
                    <a:pt x="10" y="113"/>
                  </a:lnTo>
                  <a:lnTo>
                    <a:pt x="5" y="128"/>
                  </a:lnTo>
                  <a:lnTo>
                    <a:pt x="2" y="145"/>
                  </a:lnTo>
                  <a:lnTo>
                    <a:pt x="0" y="162"/>
                  </a:lnTo>
                  <a:lnTo>
                    <a:pt x="0" y="179"/>
                  </a:lnTo>
                  <a:lnTo>
                    <a:pt x="0" y="179"/>
                  </a:lnTo>
                  <a:lnTo>
                    <a:pt x="2" y="184"/>
                  </a:lnTo>
                  <a:lnTo>
                    <a:pt x="5" y="189"/>
                  </a:lnTo>
                  <a:lnTo>
                    <a:pt x="5" y="189"/>
                  </a:lnTo>
                  <a:lnTo>
                    <a:pt x="12" y="192"/>
                  </a:lnTo>
                  <a:lnTo>
                    <a:pt x="17" y="192"/>
                  </a:lnTo>
                  <a:lnTo>
                    <a:pt x="59" y="189"/>
                  </a:lnTo>
                  <a:lnTo>
                    <a:pt x="59" y="189"/>
                  </a:lnTo>
                  <a:lnTo>
                    <a:pt x="64" y="189"/>
                  </a:lnTo>
                  <a:lnTo>
                    <a:pt x="69" y="185"/>
                  </a:lnTo>
                  <a:lnTo>
                    <a:pt x="69" y="185"/>
                  </a:lnTo>
                  <a:lnTo>
                    <a:pt x="72" y="179"/>
                  </a:lnTo>
                  <a:lnTo>
                    <a:pt x="72" y="172"/>
                  </a:lnTo>
                  <a:lnTo>
                    <a:pt x="72" y="172"/>
                  </a:lnTo>
                  <a:lnTo>
                    <a:pt x="74" y="153"/>
                  </a:lnTo>
                  <a:lnTo>
                    <a:pt x="79" y="136"/>
                  </a:lnTo>
                  <a:lnTo>
                    <a:pt x="86" y="120"/>
                  </a:lnTo>
                  <a:lnTo>
                    <a:pt x="98" y="104"/>
                  </a:lnTo>
                  <a:lnTo>
                    <a:pt x="98" y="104"/>
                  </a:lnTo>
                  <a:lnTo>
                    <a:pt x="101" y="101"/>
                  </a:lnTo>
                  <a:lnTo>
                    <a:pt x="101" y="101"/>
                  </a:lnTo>
                  <a:lnTo>
                    <a:pt x="115" y="89"/>
                  </a:lnTo>
                  <a:lnTo>
                    <a:pt x="130" y="81"/>
                  </a:lnTo>
                  <a:lnTo>
                    <a:pt x="147" y="74"/>
                  </a:lnTo>
                  <a:lnTo>
                    <a:pt x="165" y="72"/>
                  </a:lnTo>
                  <a:lnTo>
                    <a:pt x="165" y="72"/>
                  </a:lnTo>
                  <a:lnTo>
                    <a:pt x="170" y="71"/>
                  </a:lnTo>
                  <a:lnTo>
                    <a:pt x="175" y="67"/>
                  </a:lnTo>
                  <a:lnTo>
                    <a:pt x="175" y="67"/>
                  </a:lnTo>
                  <a:close/>
                </a:path>
              </a:pathLst>
            </a:custGeom>
            <a:solidFill>
              <a:srgbClr val="00B0F0"/>
            </a:solidFill>
            <a:ln w="6350" cap="flat" cmpd="sng" algn="ctr">
              <a:solidFill>
                <a:schemeClr val="bg1"/>
              </a:solidFill>
              <a:prstDash val="solid"/>
            </a:ln>
            <a:effectLst/>
          </p:spPr>
          <p:txBody>
            <a:bodyPr wrap="square" lIns="182849" tIns="91424" rIns="182849" bIns="91424" rtlCol="0" anchor="ctr">
              <a:noAutofit/>
            </a:bodyPr>
            <a:lstStyle/>
            <a:p>
              <a:pPr marL="0" marR="0" lvl="0" indent="0" algn="ctr" defTabSz="1219272" eaLnBrk="1" fontAlgn="ctr" latinLnBrk="0" hangingPunct="1">
                <a:lnSpc>
                  <a:spcPct val="150000"/>
                </a:lnSpc>
                <a:spcBef>
                  <a:spcPts val="0"/>
                </a:spcBef>
                <a:spcAft>
                  <a:spcPts val="0"/>
                </a:spcAft>
                <a:buClr>
                  <a:srgbClr val="CC9900"/>
                </a:buClr>
                <a:buSzTx/>
                <a:buFontTx/>
                <a:buNone/>
                <a:tabLst/>
                <a:defRPr/>
              </a:pPr>
              <a:endParaRPr kumimoji="0" lang="en-US" altLang="zh-CN" sz="10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7" name="Freeform 71"/>
            <p:cNvSpPr>
              <a:spLocks noEditPoints="1"/>
            </p:cNvSpPr>
            <p:nvPr/>
          </p:nvSpPr>
          <p:spPr bwMode="gray">
            <a:xfrm>
              <a:off x="12517438" y="3265488"/>
              <a:ext cx="746125" cy="1122363"/>
            </a:xfrm>
            <a:custGeom>
              <a:avLst/>
              <a:gdLst/>
              <a:ahLst/>
              <a:cxnLst>
                <a:cxn ang="0">
                  <a:pos x="877" y="1278"/>
                </a:cxn>
                <a:cxn ang="0">
                  <a:pos x="862" y="1272"/>
                </a:cxn>
                <a:cxn ang="0">
                  <a:pos x="711" y="145"/>
                </a:cxn>
                <a:cxn ang="0">
                  <a:pos x="711" y="5"/>
                </a:cxn>
                <a:cxn ang="0">
                  <a:pos x="700" y="0"/>
                </a:cxn>
                <a:cxn ang="0">
                  <a:pos x="372" y="55"/>
                </a:cxn>
                <a:cxn ang="0">
                  <a:pos x="366" y="69"/>
                </a:cxn>
                <a:cxn ang="0">
                  <a:pos x="180" y="1272"/>
                </a:cxn>
                <a:cxn ang="0">
                  <a:pos x="72" y="1272"/>
                </a:cxn>
                <a:cxn ang="0">
                  <a:pos x="59" y="1282"/>
                </a:cxn>
                <a:cxn ang="0">
                  <a:pos x="0" y="1407"/>
                </a:cxn>
                <a:cxn ang="0">
                  <a:pos x="6" y="1413"/>
                </a:cxn>
                <a:cxn ang="0">
                  <a:pos x="936" y="1413"/>
                </a:cxn>
                <a:cxn ang="0">
                  <a:pos x="939" y="1403"/>
                </a:cxn>
                <a:cxn ang="0">
                  <a:pos x="570" y="673"/>
                </a:cxn>
                <a:cxn ang="0">
                  <a:pos x="561" y="669"/>
                </a:cxn>
                <a:cxn ang="0">
                  <a:pos x="558" y="553"/>
                </a:cxn>
                <a:cxn ang="0">
                  <a:pos x="561" y="545"/>
                </a:cxn>
                <a:cxn ang="0">
                  <a:pos x="679" y="541"/>
                </a:cxn>
                <a:cxn ang="0">
                  <a:pos x="688" y="545"/>
                </a:cxn>
                <a:cxn ang="0">
                  <a:pos x="691" y="661"/>
                </a:cxn>
                <a:cxn ang="0">
                  <a:pos x="688" y="669"/>
                </a:cxn>
                <a:cxn ang="0">
                  <a:pos x="679" y="673"/>
                </a:cxn>
                <a:cxn ang="0">
                  <a:pos x="691" y="1186"/>
                </a:cxn>
                <a:cxn ang="0">
                  <a:pos x="685" y="1196"/>
                </a:cxn>
                <a:cxn ang="0">
                  <a:pos x="570" y="1197"/>
                </a:cxn>
                <a:cxn ang="0">
                  <a:pos x="558" y="1191"/>
                </a:cxn>
                <a:cxn ang="0">
                  <a:pos x="558" y="1078"/>
                </a:cxn>
                <a:cxn ang="0">
                  <a:pos x="565" y="1068"/>
                </a:cxn>
                <a:cxn ang="0">
                  <a:pos x="679" y="1066"/>
                </a:cxn>
                <a:cxn ang="0">
                  <a:pos x="691" y="1074"/>
                </a:cxn>
                <a:cxn ang="0">
                  <a:pos x="438" y="862"/>
                </a:cxn>
                <a:cxn ang="0">
                  <a:pos x="437" y="973"/>
                </a:cxn>
                <a:cxn ang="0">
                  <a:pos x="426" y="980"/>
                </a:cxn>
                <a:cxn ang="0">
                  <a:pos x="312" y="980"/>
                </a:cxn>
                <a:cxn ang="0">
                  <a:pos x="303" y="968"/>
                </a:cxn>
                <a:cxn ang="0">
                  <a:pos x="305" y="857"/>
                </a:cxn>
                <a:cxn ang="0">
                  <a:pos x="315" y="850"/>
                </a:cxn>
                <a:cxn ang="0">
                  <a:pos x="431" y="850"/>
                </a:cxn>
                <a:cxn ang="0">
                  <a:pos x="438" y="862"/>
                </a:cxn>
                <a:cxn ang="0">
                  <a:pos x="278" y="344"/>
                </a:cxn>
                <a:cxn ang="0">
                  <a:pos x="286" y="332"/>
                </a:cxn>
                <a:cxn ang="0">
                  <a:pos x="401" y="330"/>
                </a:cxn>
                <a:cxn ang="0">
                  <a:pos x="413" y="339"/>
                </a:cxn>
                <a:cxn ang="0">
                  <a:pos x="413" y="450"/>
                </a:cxn>
                <a:cxn ang="0">
                  <a:pos x="406" y="462"/>
                </a:cxn>
                <a:cxn ang="0">
                  <a:pos x="291" y="462"/>
                </a:cxn>
                <a:cxn ang="0">
                  <a:pos x="280" y="455"/>
                </a:cxn>
              </a:cxnLst>
              <a:rect l="0" t="0" r="r" b="b"/>
              <a:pathLst>
                <a:path w="939" h="1413">
                  <a:moveTo>
                    <a:pt x="880" y="1282"/>
                  </a:moveTo>
                  <a:lnTo>
                    <a:pt x="880" y="1282"/>
                  </a:lnTo>
                  <a:lnTo>
                    <a:pt x="877" y="1278"/>
                  </a:lnTo>
                  <a:lnTo>
                    <a:pt x="872" y="1275"/>
                  </a:lnTo>
                  <a:lnTo>
                    <a:pt x="867" y="1272"/>
                  </a:lnTo>
                  <a:lnTo>
                    <a:pt x="862" y="1272"/>
                  </a:lnTo>
                  <a:lnTo>
                    <a:pt x="784" y="1272"/>
                  </a:lnTo>
                  <a:lnTo>
                    <a:pt x="784" y="145"/>
                  </a:lnTo>
                  <a:lnTo>
                    <a:pt x="711" y="145"/>
                  </a:lnTo>
                  <a:lnTo>
                    <a:pt x="711" y="10"/>
                  </a:lnTo>
                  <a:lnTo>
                    <a:pt x="711" y="10"/>
                  </a:lnTo>
                  <a:lnTo>
                    <a:pt x="711" y="5"/>
                  </a:lnTo>
                  <a:lnTo>
                    <a:pt x="708" y="1"/>
                  </a:lnTo>
                  <a:lnTo>
                    <a:pt x="705" y="0"/>
                  </a:lnTo>
                  <a:lnTo>
                    <a:pt x="700" y="0"/>
                  </a:lnTo>
                  <a:lnTo>
                    <a:pt x="378" y="54"/>
                  </a:lnTo>
                  <a:lnTo>
                    <a:pt x="378" y="54"/>
                  </a:lnTo>
                  <a:lnTo>
                    <a:pt x="372" y="55"/>
                  </a:lnTo>
                  <a:lnTo>
                    <a:pt x="369" y="59"/>
                  </a:lnTo>
                  <a:lnTo>
                    <a:pt x="366" y="64"/>
                  </a:lnTo>
                  <a:lnTo>
                    <a:pt x="366" y="69"/>
                  </a:lnTo>
                  <a:lnTo>
                    <a:pt x="366" y="145"/>
                  </a:lnTo>
                  <a:lnTo>
                    <a:pt x="180" y="145"/>
                  </a:lnTo>
                  <a:lnTo>
                    <a:pt x="180" y="1272"/>
                  </a:lnTo>
                  <a:lnTo>
                    <a:pt x="77" y="1272"/>
                  </a:lnTo>
                  <a:lnTo>
                    <a:pt x="77" y="1272"/>
                  </a:lnTo>
                  <a:lnTo>
                    <a:pt x="72" y="1272"/>
                  </a:lnTo>
                  <a:lnTo>
                    <a:pt x="67" y="1275"/>
                  </a:lnTo>
                  <a:lnTo>
                    <a:pt x="62" y="1278"/>
                  </a:lnTo>
                  <a:lnTo>
                    <a:pt x="59" y="1282"/>
                  </a:lnTo>
                  <a:lnTo>
                    <a:pt x="0" y="1403"/>
                  </a:lnTo>
                  <a:lnTo>
                    <a:pt x="0" y="1403"/>
                  </a:lnTo>
                  <a:lnTo>
                    <a:pt x="0" y="1407"/>
                  </a:lnTo>
                  <a:lnTo>
                    <a:pt x="0" y="1410"/>
                  </a:lnTo>
                  <a:lnTo>
                    <a:pt x="3" y="1413"/>
                  </a:lnTo>
                  <a:lnTo>
                    <a:pt x="6" y="1413"/>
                  </a:lnTo>
                  <a:lnTo>
                    <a:pt x="932" y="1413"/>
                  </a:lnTo>
                  <a:lnTo>
                    <a:pt x="932" y="1413"/>
                  </a:lnTo>
                  <a:lnTo>
                    <a:pt x="936" y="1413"/>
                  </a:lnTo>
                  <a:lnTo>
                    <a:pt x="939" y="1410"/>
                  </a:lnTo>
                  <a:lnTo>
                    <a:pt x="939" y="1407"/>
                  </a:lnTo>
                  <a:lnTo>
                    <a:pt x="939" y="1403"/>
                  </a:lnTo>
                  <a:lnTo>
                    <a:pt x="880" y="1282"/>
                  </a:lnTo>
                  <a:close/>
                  <a:moveTo>
                    <a:pt x="679" y="673"/>
                  </a:moveTo>
                  <a:lnTo>
                    <a:pt x="570" y="673"/>
                  </a:lnTo>
                  <a:lnTo>
                    <a:pt x="570" y="673"/>
                  </a:lnTo>
                  <a:lnTo>
                    <a:pt x="565" y="671"/>
                  </a:lnTo>
                  <a:lnTo>
                    <a:pt x="561" y="669"/>
                  </a:lnTo>
                  <a:lnTo>
                    <a:pt x="558" y="666"/>
                  </a:lnTo>
                  <a:lnTo>
                    <a:pt x="558" y="661"/>
                  </a:lnTo>
                  <a:lnTo>
                    <a:pt x="558" y="553"/>
                  </a:lnTo>
                  <a:lnTo>
                    <a:pt x="558" y="553"/>
                  </a:lnTo>
                  <a:lnTo>
                    <a:pt x="558" y="550"/>
                  </a:lnTo>
                  <a:lnTo>
                    <a:pt x="561" y="545"/>
                  </a:lnTo>
                  <a:lnTo>
                    <a:pt x="565" y="543"/>
                  </a:lnTo>
                  <a:lnTo>
                    <a:pt x="570" y="541"/>
                  </a:lnTo>
                  <a:lnTo>
                    <a:pt x="679" y="541"/>
                  </a:lnTo>
                  <a:lnTo>
                    <a:pt x="679" y="541"/>
                  </a:lnTo>
                  <a:lnTo>
                    <a:pt x="685" y="543"/>
                  </a:lnTo>
                  <a:lnTo>
                    <a:pt x="688" y="545"/>
                  </a:lnTo>
                  <a:lnTo>
                    <a:pt x="691" y="550"/>
                  </a:lnTo>
                  <a:lnTo>
                    <a:pt x="691" y="553"/>
                  </a:lnTo>
                  <a:lnTo>
                    <a:pt x="691" y="661"/>
                  </a:lnTo>
                  <a:lnTo>
                    <a:pt x="691" y="661"/>
                  </a:lnTo>
                  <a:lnTo>
                    <a:pt x="691" y="666"/>
                  </a:lnTo>
                  <a:lnTo>
                    <a:pt x="688" y="669"/>
                  </a:lnTo>
                  <a:lnTo>
                    <a:pt x="685" y="671"/>
                  </a:lnTo>
                  <a:lnTo>
                    <a:pt x="679" y="673"/>
                  </a:lnTo>
                  <a:lnTo>
                    <a:pt x="679" y="673"/>
                  </a:lnTo>
                  <a:close/>
                  <a:moveTo>
                    <a:pt x="691" y="1078"/>
                  </a:moveTo>
                  <a:lnTo>
                    <a:pt x="691" y="1186"/>
                  </a:lnTo>
                  <a:lnTo>
                    <a:pt x="691" y="1186"/>
                  </a:lnTo>
                  <a:lnTo>
                    <a:pt x="691" y="1191"/>
                  </a:lnTo>
                  <a:lnTo>
                    <a:pt x="688" y="1194"/>
                  </a:lnTo>
                  <a:lnTo>
                    <a:pt x="685" y="1196"/>
                  </a:lnTo>
                  <a:lnTo>
                    <a:pt x="679" y="1197"/>
                  </a:lnTo>
                  <a:lnTo>
                    <a:pt x="570" y="1197"/>
                  </a:lnTo>
                  <a:lnTo>
                    <a:pt x="570" y="1197"/>
                  </a:lnTo>
                  <a:lnTo>
                    <a:pt x="565" y="1196"/>
                  </a:lnTo>
                  <a:lnTo>
                    <a:pt x="561" y="1194"/>
                  </a:lnTo>
                  <a:lnTo>
                    <a:pt x="558" y="1191"/>
                  </a:lnTo>
                  <a:lnTo>
                    <a:pt x="558" y="1186"/>
                  </a:lnTo>
                  <a:lnTo>
                    <a:pt x="558" y="1078"/>
                  </a:lnTo>
                  <a:lnTo>
                    <a:pt x="558" y="1078"/>
                  </a:lnTo>
                  <a:lnTo>
                    <a:pt x="558" y="1074"/>
                  </a:lnTo>
                  <a:lnTo>
                    <a:pt x="561" y="1069"/>
                  </a:lnTo>
                  <a:lnTo>
                    <a:pt x="565" y="1068"/>
                  </a:lnTo>
                  <a:lnTo>
                    <a:pt x="570" y="1066"/>
                  </a:lnTo>
                  <a:lnTo>
                    <a:pt x="679" y="1066"/>
                  </a:lnTo>
                  <a:lnTo>
                    <a:pt x="679" y="1066"/>
                  </a:lnTo>
                  <a:lnTo>
                    <a:pt x="685" y="1068"/>
                  </a:lnTo>
                  <a:lnTo>
                    <a:pt x="688" y="1069"/>
                  </a:lnTo>
                  <a:lnTo>
                    <a:pt x="691" y="1074"/>
                  </a:lnTo>
                  <a:lnTo>
                    <a:pt x="691" y="1078"/>
                  </a:lnTo>
                  <a:lnTo>
                    <a:pt x="691" y="1078"/>
                  </a:lnTo>
                  <a:close/>
                  <a:moveTo>
                    <a:pt x="438" y="862"/>
                  </a:moveTo>
                  <a:lnTo>
                    <a:pt x="438" y="968"/>
                  </a:lnTo>
                  <a:lnTo>
                    <a:pt x="438" y="968"/>
                  </a:lnTo>
                  <a:lnTo>
                    <a:pt x="437" y="973"/>
                  </a:lnTo>
                  <a:lnTo>
                    <a:pt x="435" y="976"/>
                  </a:lnTo>
                  <a:lnTo>
                    <a:pt x="431" y="980"/>
                  </a:lnTo>
                  <a:lnTo>
                    <a:pt x="426" y="980"/>
                  </a:lnTo>
                  <a:lnTo>
                    <a:pt x="315" y="980"/>
                  </a:lnTo>
                  <a:lnTo>
                    <a:pt x="315" y="980"/>
                  </a:lnTo>
                  <a:lnTo>
                    <a:pt x="312" y="980"/>
                  </a:lnTo>
                  <a:lnTo>
                    <a:pt x="307" y="976"/>
                  </a:lnTo>
                  <a:lnTo>
                    <a:pt x="305" y="973"/>
                  </a:lnTo>
                  <a:lnTo>
                    <a:pt x="303" y="968"/>
                  </a:lnTo>
                  <a:lnTo>
                    <a:pt x="303" y="862"/>
                  </a:lnTo>
                  <a:lnTo>
                    <a:pt x="303" y="862"/>
                  </a:lnTo>
                  <a:lnTo>
                    <a:pt x="305" y="857"/>
                  </a:lnTo>
                  <a:lnTo>
                    <a:pt x="307" y="853"/>
                  </a:lnTo>
                  <a:lnTo>
                    <a:pt x="312" y="850"/>
                  </a:lnTo>
                  <a:lnTo>
                    <a:pt x="315" y="850"/>
                  </a:lnTo>
                  <a:lnTo>
                    <a:pt x="426" y="850"/>
                  </a:lnTo>
                  <a:lnTo>
                    <a:pt x="426" y="850"/>
                  </a:lnTo>
                  <a:lnTo>
                    <a:pt x="431" y="850"/>
                  </a:lnTo>
                  <a:lnTo>
                    <a:pt x="435" y="853"/>
                  </a:lnTo>
                  <a:lnTo>
                    <a:pt x="437" y="857"/>
                  </a:lnTo>
                  <a:lnTo>
                    <a:pt x="438" y="862"/>
                  </a:lnTo>
                  <a:lnTo>
                    <a:pt x="438" y="862"/>
                  </a:lnTo>
                  <a:close/>
                  <a:moveTo>
                    <a:pt x="278" y="344"/>
                  </a:moveTo>
                  <a:lnTo>
                    <a:pt x="278" y="344"/>
                  </a:lnTo>
                  <a:lnTo>
                    <a:pt x="280" y="339"/>
                  </a:lnTo>
                  <a:lnTo>
                    <a:pt x="283" y="335"/>
                  </a:lnTo>
                  <a:lnTo>
                    <a:pt x="286" y="332"/>
                  </a:lnTo>
                  <a:lnTo>
                    <a:pt x="291" y="330"/>
                  </a:lnTo>
                  <a:lnTo>
                    <a:pt x="401" y="330"/>
                  </a:lnTo>
                  <a:lnTo>
                    <a:pt x="401" y="330"/>
                  </a:lnTo>
                  <a:lnTo>
                    <a:pt x="406" y="332"/>
                  </a:lnTo>
                  <a:lnTo>
                    <a:pt x="410" y="335"/>
                  </a:lnTo>
                  <a:lnTo>
                    <a:pt x="413" y="339"/>
                  </a:lnTo>
                  <a:lnTo>
                    <a:pt x="413" y="344"/>
                  </a:lnTo>
                  <a:lnTo>
                    <a:pt x="413" y="450"/>
                  </a:lnTo>
                  <a:lnTo>
                    <a:pt x="413" y="450"/>
                  </a:lnTo>
                  <a:lnTo>
                    <a:pt x="413" y="455"/>
                  </a:lnTo>
                  <a:lnTo>
                    <a:pt x="410" y="459"/>
                  </a:lnTo>
                  <a:lnTo>
                    <a:pt x="406" y="462"/>
                  </a:lnTo>
                  <a:lnTo>
                    <a:pt x="401" y="462"/>
                  </a:lnTo>
                  <a:lnTo>
                    <a:pt x="291" y="462"/>
                  </a:lnTo>
                  <a:lnTo>
                    <a:pt x="291" y="462"/>
                  </a:lnTo>
                  <a:lnTo>
                    <a:pt x="286" y="462"/>
                  </a:lnTo>
                  <a:lnTo>
                    <a:pt x="283" y="459"/>
                  </a:lnTo>
                  <a:lnTo>
                    <a:pt x="280" y="455"/>
                  </a:lnTo>
                  <a:lnTo>
                    <a:pt x="278" y="450"/>
                  </a:lnTo>
                  <a:lnTo>
                    <a:pt x="278" y="344"/>
                  </a:lnTo>
                  <a:close/>
                </a:path>
              </a:pathLst>
            </a:custGeom>
            <a:solidFill>
              <a:srgbClr val="00B0F0"/>
            </a:solidFill>
            <a:ln w="6350" cap="flat" cmpd="sng" algn="ctr">
              <a:noFill/>
              <a:prstDash val="solid"/>
            </a:ln>
            <a:effectLst/>
          </p:spPr>
          <p:txBody>
            <a:bodyPr wrap="square" lIns="182849" tIns="91424" rIns="182849" bIns="91424" rtlCol="0" anchor="ctr">
              <a:noAutofit/>
            </a:bodyPr>
            <a:lstStyle/>
            <a:p>
              <a:pPr marL="0" marR="0" lvl="0" indent="0" algn="ctr" defTabSz="1219272" eaLnBrk="1" fontAlgn="ctr" latinLnBrk="0" hangingPunct="1">
                <a:lnSpc>
                  <a:spcPct val="150000"/>
                </a:lnSpc>
                <a:spcBef>
                  <a:spcPts val="0"/>
                </a:spcBef>
                <a:spcAft>
                  <a:spcPts val="0"/>
                </a:spcAft>
                <a:buClr>
                  <a:srgbClr val="CC9900"/>
                </a:buClr>
                <a:buSzTx/>
                <a:buFontTx/>
                <a:buNone/>
                <a:tabLst/>
                <a:defRPr/>
              </a:pPr>
              <a:endParaRPr kumimoji="0" lang="en-US" altLang="zh-CN" sz="10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38" name="任意多边形 45"/>
          <p:cNvSpPr/>
          <p:nvPr/>
        </p:nvSpPr>
        <p:spPr bwMode="gray">
          <a:xfrm rot="21400485">
            <a:off x="1781853" y="3671776"/>
            <a:ext cx="3314056" cy="475971"/>
          </a:xfrm>
          <a:custGeom>
            <a:avLst/>
            <a:gdLst>
              <a:gd name="connsiteX0" fmla="*/ 0 w 3339930"/>
              <a:gd name="connsiteY0" fmla="*/ 571084 h 693747"/>
              <a:gd name="connsiteX1" fmla="*/ 2074127 w 3339930"/>
              <a:gd name="connsiteY1" fmla="*/ 470723 h 693747"/>
              <a:gd name="connsiteX2" fmla="*/ 3178097 w 3339930"/>
              <a:gd name="connsiteY2" fmla="*/ 2371 h 693747"/>
              <a:gd name="connsiteX3" fmla="*/ 3311912 w 3339930"/>
              <a:gd name="connsiteY3" fmla="*/ 693747 h 693747"/>
            </a:gdLst>
            <a:ahLst/>
            <a:cxnLst>
              <a:cxn ang="0">
                <a:pos x="connsiteX0" y="connsiteY0"/>
              </a:cxn>
              <a:cxn ang="0">
                <a:pos x="connsiteX1" y="connsiteY1"/>
              </a:cxn>
              <a:cxn ang="0">
                <a:pos x="connsiteX2" y="connsiteY2"/>
              </a:cxn>
              <a:cxn ang="0">
                <a:pos x="connsiteX3" y="connsiteY3"/>
              </a:cxn>
            </a:cxnLst>
            <a:rect l="l" t="t" r="r" b="b"/>
            <a:pathLst>
              <a:path w="3339930" h="693747">
                <a:moveTo>
                  <a:pt x="0" y="571084"/>
                </a:moveTo>
                <a:cubicBezTo>
                  <a:pt x="772222" y="568296"/>
                  <a:pt x="1544444" y="565508"/>
                  <a:pt x="2074127" y="470723"/>
                </a:cubicBezTo>
                <a:cubicBezTo>
                  <a:pt x="2603810" y="375938"/>
                  <a:pt x="2971800" y="-34800"/>
                  <a:pt x="3178097" y="2371"/>
                </a:cubicBezTo>
                <a:cubicBezTo>
                  <a:pt x="3384394" y="39542"/>
                  <a:pt x="3348153" y="366644"/>
                  <a:pt x="3311912" y="693747"/>
                </a:cubicBezTo>
              </a:path>
            </a:pathLst>
          </a:custGeom>
          <a:noFill/>
          <a:ln w="22225" cap="rnd" cmpd="sng">
            <a:solidFill>
              <a:srgbClr val="C00000"/>
            </a:solidFill>
            <a:prstDash val="sysDash"/>
            <a:round/>
            <a:headEnd type="arrow" w="med" len="med"/>
            <a:tailEnd type="arrow" w="med" len="med"/>
          </a:ln>
          <a:effectLst/>
        </p:spPr>
        <p:txBody>
          <a:bodyPr wrap="square" lIns="105606" tIns="52804" rIns="105606" bIns="52804">
            <a:spAutoFit/>
          </a:bodyPr>
          <a:lstStyle/>
          <a:p>
            <a:pPr defTabSz="1219272"/>
            <a:endParaRPr lang="en-US" sz="2400" dirty="0">
              <a:solidFill>
                <a:prstClr val="black"/>
              </a:solidFill>
              <a:latin typeface="Huawei Sans" panose="020C0503030203020204" pitchFamily="34" charset="0"/>
              <a:ea typeface="方正兰亭黑简体" panose="02000000000000000000" pitchFamily="2" charset="-122"/>
            </a:endParaRPr>
          </a:p>
        </p:txBody>
      </p:sp>
      <p:grpSp>
        <p:nvGrpSpPr>
          <p:cNvPr id="39" name="组合 46"/>
          <p:cNvGrpSpPr/>
          <p:nvPr/>
        </p:nvGrpSpPr>
        <p:grpSpPr bwMode="gray">
          <a:xfrm>
            <a:off x="4254361" y="4079129"/>
            <a:ext cx="1601868" cy="677521"/>
            <a:chOff x="5524821" y="5153956"/>
            <a:chExt cx="1634347" cy="638494"/>
          </a:xfrm>
          <a:solidFill>
            <a:srgbClr val="1263AB"/>
          </a:solidFill>
        </p:grpSpPr>
        <p:sp>
          <p:nvSpPr>
            <p:cNvPr id="40" name="Freeform 27"/>
            <p:cNvSpPr>
              <a:spLocks noEditPoints="1"/>
            </p:cNvSpPr>
            <p:nvPr/>
          </p:nvSpPr>
          <p:spPr bwMode="gray">
            <a:xfrm>
              <a:off x="6286123" y="5153956"/>
              <a:ext cx="873045" cy="500933"/>
            </a:xfrm>
            <a:custGeom>
              <a:avLst/>
              <a:gdLst/>
              <a:ahLst/>
              <a:cxnLst>
                <a:cxn ang="0">
                  <a:pos x="8324" y="38"/>
                </a:cxn>
                <a:cxn ang="0">
                  <a:pos x="9087" y="203"/>
                </a:cxn>
                <a:cxn ang="0">
                  <a:pos x="9799" y="487"/>
                </a:cxn>
                <a:cxn ang="0">
                  <a:pos x="10451" y="880"/>
                </a:cxn>
                <a:cxn ang="0">
                  <a:pos x="11031" y="1370"/>
                </a:cxn>
                <a:cxn ang="0">
                  <a:pos x="11529" y="1947"/>
                </a:cxn>
                <a:cxn ang="0">
                  <a:pos x="11934" y="2598"/>
                </a:cxn>
                <a:cxn ang="0">
                  <a:pos x="12234" y="3314"/>
                </a:cxn>
                <a:cxn ang="0">
                  <a:pos x="12378" y="3497"/>
                </a:cxn>
                <a:cxn ang="0">
                  <a:pos x="12496" y="3494"/>
                </a:cxn>
                <a:cxn ang="0">
                  <a:pos x="13119" y="3540"/>
                </a:cxn>
                <a:cxn ang="0">
                  <a:pos x="13870" y="3738"/>
                </a:cxn>
                <a:cxn ang="0">
                  <a:pos x="14554" y="4074"/>
                </a:cxn>
                <a:cxn ang="0">
                  <a:pos x="15156" y="4535"/>
                </a:cxn>
                <a:cxn ang="0">
                  <a:pos x="15663" y="5102"/>
                </a:cxn>
                <a:cxn ang="0">
                  <a:pos x="16056" y="5761"/>
                </a:cxn>
                <a:cxn ang="0">
                  <a:pos x="16320" y="6494"/>
                </a:cxn>
                <a:cxn ang="0">
                  <a:pos x="16438" y="7286"/>
                </a:cxn>
                <a:cxn ang="0">
                  <a:pos x="16401" y="8075"/>
                </a:cxn>
                <a:cxn ang="0">
                  <a:pos x="16222" y="8813"/>
                </a:cxn>
                <a:cxn ang="0">
                  <a:pos x="15915" y="9491"/>
                </a:cxn>
                <a:cxn ang="0">
                  <a:pos x="15494" y="10093"/>
                </a:cxn>
                <a:cxn ang="0">
                  <a:pos x="14974" y="10606"/>
                </a:cxn>
                <a:cxn ang="0">
                  <a:pos x="14369" y="11014"/>
                </a:cxn>
                <a:cxn ang="0">
                  <a:pos x="13693" y="11305"/>
                </a:cxn>
                <a:cxn ang="0">
                  <a:pos x="12960" y="11462"/>
                </a:cxn>
                <a:cxn ang="0">
                  <a:pos x="3341" y="11487"/>
                </a:cxn>
                <a:cxn ang="0">
                  <a:pos x="2760" y="11436"/>
                </a:cxn>
                <a:cxn ang="0">
                  <a:pos x="2156" y="11265"/>
                </a:cxn>
                <a:cxn ang="0">
                  <a:pos x="1603" y="10987"/>
                </a:cxn>
                <a:cxn ang="0">
                  <a:pos x="1113" y="10615"/>
                </a:cxn>
                <a:cxn ang="0">
                  <a:pos x="697" y="10159"/>
                </a:cxn>
                <a:cxn ang="0">
                  <a:pos x="368" y="9631"/>
                </a:cxn>
                <a:cxn ang="0">
                  <a:pos x="137" y="9044"/>
                </a:cxn>
                <a:cxn ang="0">
                  <a:pos x="15" y="8410"/>
                </a:cxn>
                <a:cxn ang="0">
                  <a:pos x="15" y="7754"/>
                </a:cxn>
                <a:cxn ang="0">
                  <a:pos x="132" y="7132"/>
                </a:cxn>
                <a:cxn ang="0">
                  <a:pos x="354" y="6556"/>
                </a:cxn>
                <a:cxn ang="0">
                  <a:pos x="671" y="6034"/>
                </a:cxn>
                <a:cxn ang="0">
                  <a:pos x="1072" y="5582"/>
                </a:cxn>
                <a:cxn ang="0">
                  <a:pos x="1546" y="5208"/>
                </a:cxn>
                <a:cxn ang="0">
                  <a:pos x="2082" y="4924"/>
                </a:cxn>
                <a:cxn ang="0">
                  <a:pos x="2668" y="4741"/>
                </a:cxn>
                <a:cxn ang="0">
                  <a:pos x="3015" y="4212"/>
                </a:cxn>
                <a:cxn ang="0">
                  <a:pos x="3225" y="3295"/>
                </a:cxn>
                <a:cxn ang="0">
                  <a:pos x="3597" y="2453"/>
                </a:cxn>
                <a:cxn ang="0">
                  <a:pos x="4113" y="1704"/>
                </a:cxn>
                <a:cxn ang="0">
                  <a:pos x="4754" y="1069"/>
                </a:cxn>
                <a:cxn ang="0">
                  <a:pos x="5503" y="565"/>
                </a:cxn>
                <a:cxn ang="0">
                  <a:pos x="6342" y="211"/>
                </a:cxn>
                <a:cxn ang="0">
                  <a:pos x="7250" y="25"/>
                </a:cxn>
                <a:cxn ang="0">
                  <a:pos x="9148" y="9515"/>
                </a:cxn>
                <a:cxn ang="0">
                  <a:pos x="9106" y="9484"/>
                </a:cxn>
                <a:cxn ang="0">
                  <a:pos x="9023" y="9509"/>
                </a:cxn>
                <a:cxn ang="0">
                  <a:pos x="9156" y="9528"/>
                </a:cxn>
                <a:cxn ang="0">
                  <a:pos x="6408" y="9503"/>
                </a:cxn>
                <a:cxn ang="0">
                  <a:pos x="6368" y="9519"/>
                </a:cxn>
              </a:cxnLst>
              <a:rect l="0" t="0" r="r" b="b"/>
              <a:pathLst>
                <a:path w="16443" h="11487">
                  <a:moveTo>
                    <a:pt x="7726" y="0"/>
                  </a:moveTo>
                  <a:lnTo>
                    <a:pt x="7928" y="4"/>
                  </a:lnTo>
                  <a:lnTo>
                    <a:pt x="8127" y="17"/>
                  </a:lnTo>
                  <a:lnTo>
                    <a:pt x="8324" y="38"/>
                  </a:lnTo>
                  <a:lnTo>
                    <a:pt x="8519" y="68"/>
                  </a:lnTo>
                  <a:lnTo>
                    <a:pt x="8711" y="105"/>
                  </a:lnTo>
                  <a:lnTo>
                    <a:pt x="8900" y="150"/>
                  </a:lnTo>
                  <a:lnTo>
                    <a:pt x="9087" y="203"/>
                  </a:lnTo>
                  <a:lnTo>
                    <a:pt x="9270" y="263"/>
                  </a:lnTo>
                  <a:lnTo>
                    <a:pt x="9450" y="331"/>
                  </a:lnTo>
                  <a:lnTo>
                    <a:pt x="9626" y="406"/>
                  </a:lnTo>
                  <a:lnTo>
                    <a:pt x="9799" y="487"/>
                  </a:lnTo>
                  <a:lnTo>
                    <a:pt x="9969" y="576"/>
                  </a:lnTo>
                  <a:lnTo>
                    <a:pt x="10133" y="670"/>
                  </a:lnTo>
                  <a:lnTo>
                    <a:pt x="10294" y="772"/>
                  </a:lnTo>
                  <a:lnTo>
                    <a:pt x="10451" y="880"/>
                  </a:lnTo>
                  <a:lnTo>
                    <a:pt x="10604" y="994"/>
                  </a:lnTo>
                  <a:lnTo>
                    <a:pt x="10751" y="1113"/>
                  </a:lnTo>
                  <a:lnTo>
                    <a:pt x="10893" y="1239"/>
                  </a:lnTo>
                  <a:lnTo>
                    <a:pt x="11031" y="1370"/>
                  </a:lnTo>
                  <a:lnTo>
                    <a:pt x="11164" y="1507"/>
                  </a:lnTo>
                  <a:lnTo>
                    <a:pt x="11291" y="1648"/>
                  </a:lnTo>
                  <a:lnTo>
                    <a:pt x="11412" y="1795"/>
                  </a:lnTo>
                  <a:lnTo>
                    <a:pt x="11529" y="1947"/>
                  </a:lnTo>
                  <a:lnTo>
                    <a:pt x="11640" y="2102"/>
                  </a:lnTo>
                  <a:lnTo>
                    <a:pt x="11743" y="2264"/>
                  </a:lnTo>
                  <a:lnTo>
                    <a:pt x="11842" y="2429"/>
                  </a:lnTo>
                  <a:lnTo>
                    <a:pt x="11934" y="2598"/>
                  </a:lnTo>
                  <a:lnTo>
                    <a:pt x="12019" y="2772"/>
                  </a:lnTo>
                  <a:lnTo>
                    <a:pt x="12097" y="2948"/>
                  </a:lnTo>
                  <a:lnTo>
                    <a:pt x="12169" y="3129"/>
                  </a:lnTo>
                  <a:lnTo>
                    <a:pt x="12234" y="3314"/>
                  </a:lnTo>
                  <a:lnTo>
                    <a:pt x="12291" y="3501"/>
                  </a:lnTo>
                  <a:lnTo>
                    <a:pt x="12320" y="3499"/>
                  </a:lnTo>
                  <a:lnTo>
                    <a:pt x="12349" y="3498"/>
                  </a:lnTo>
                  <a:lnTo>
                    <a:pt x="12378" y="3497"/>
                  </a:lnTo>
                  <a:lnTo>
                    <a:pt x="12407" y="3496"/>
                  </a:lnTo>
                  <a:lnTo>
                    <a:pt x="12437" y="3495"/>
                  </a:lnTo>
                  <a:lnTo>
                    <a:pt x="12466" y="3494"/>
                  </a:lnTo>
                  <a:lnTo>
                    <a:pt x="12496" y="3494"/>
                  </a:lnTo>
                  <a:lnTo>
                    <a:pt x="12524" y="3494"/>
                  </a:lnTo>
                  <a:lnTo>
                    <a:pt x="12726" y="3499"/>
                  </a:lnTo>
                  <a:lnTo>
                    <a:pt x="12924" y="3515"/>
                  </a:lnTo>
                  <a:lnTo>
                    <a:pt x="13119" y="3540"/>
                  </a:lnTo>
                  <a:lnTo>
                    <a:pt x="13313" y="3575"/>
                  </a:lnTo>
                  <a:lnTo>
                    <a:pt x="13502" y="3621"/>
                  </a:lnTo>
                  <a:lnTo>
                    <a:pt x="13688" y="3674"/>
                  </a:lnTo>
                  <a:lnTo>
                    <a:pt x="13870" y="3738"/>
                  </a:lnTo>
                  <a:lnTo>
                    <a:pt x="14047" y="3809"/>
                  </a:lnTo>
                  <a:lnTo>
                    <a:pt x="14221" y="3889"/>
                  </a:lnTo>
                  <a:lnTo>
                    <a:pt x="14390" y="3977"/>
                  </a:lnTo>
                  <a:lnTo>
                    <a:pt x="14554" y="4074"/>
                  </a:lnTo>
                  <a:lnTo>
                    <a:pt x="14712" y="4179"/>
                  </a:lnTo>
                  <a:lnTo>
                    <a:pt x="14867" y="4290"/>
                  </a:lnTo>
                  <a:lnTo>
                    <a:pt x="15015" y="4409"/>
                  </a:lnTo>
                  <a:lnTo>
                    <a:pt x="15156" y="4535"/>
                  </a:lnTo>
                  <a:lnTo>
                    <a:pt x="15293" y="4667"/>
                  </a:lnTo>
                  <a:lnTo>
                    <a:pt x="15423" y="4806"/>
                  </a:lnTo>
                  <a:lnTo>
                    <a:pt x="15546" y="4951"/>
                  </a:lnTo>
                  <a:lnTo>
                    <a:pt x="15663" y="5102"/>
                  </a:lnTo>
                  <a:lnTo>
                    <a:pt x="15772" y="5259"/>
                  </a:lnTo>
                  <a:lnTo>
                    <a:pt x="15875" y="5421"/>
                  </a:lnTo>
                  <a:lnTo>
                    <a:pt x="15969" y="5588"/>
                  </a:lnTo>
                  <a:lnTo>
                    <a:pt x="16056" y="5761"/>
                  </a:lnTo>
                  <a:lnTo>
                    <a:pt x="16134" y="5938"/>
                  </a:lnTo>
                  <a:lnTo>
                    <a:pt x="16205" y="6119"/>
                  </a:lnTo>
                  <a:lnTo>
                    <a:pt x="16266" y="6305"/>
                  </a:lnTo>
                  <a:lnTo>
                    <a:pt x="16320" y="6494"/>
                  </a:lnTo>
                  <a:lnTo>
                    <a:pt x="16363" y="6687"/>
                  </a:lnTo>
                  <a:lnTo>
                    <a:pt x="16398" y="6884"/>
                  </a:lnTo>
                  <a:lnTo>
                    <a:pt x="16422" y="7083"/>
                  </a:lnTo>
                  <a:lnTo>
                    <a:pt x="16438" y="7286"/>
                  </a:lnTo>
                  <a:lnTo>
                    <a:pt x="16443" y="7490"/>
                  </a:lnTo>
                  <a:lnTo>
                    <a:pt x="16438" y="7688"/>
                  </a:lnTo>
                  <a:lnTo>
                    <a:pt x="16425" y="7883"/>
                  </a:lnTo>
                  <a:lnTo>
                    <a:pt x="16401" y="8075"/>
                  </a:lnTo>
                  <a:lnTo>
                    <a:pt x="16369" y="8264"/>
                  </a:lnTo>
                  <a:lnTo>
                    <a:pt x="16328" y="8451"/>
                  </a:lnTo>
                  <a:lnTo>
                    <a:pt x="16280" y="8634"/>
                  </a:lnTo>
                  <a:lnTo>
                    <a:pt x="16222" y="8813"/>
                  </a:lnTo>
                  <a:lnTo>
                    <a:pt x="16156" y="8989"/>
                  </a:lnTo>
                  <a:lnTo>
                    <a:pt x="16083" y="9161"/>
                  </a:lnTo>
                  <a:lnTo>
                    <a:pt x="16003" y="9328"/>
                  </a:lnTo>
                  <a:lnTo>
                    <a:pt x="15915" y="9491"/>
                  </a:lnTo>
                  <a:lnTo>
                    <a:pt x="15820" y="9649"/>
                  </a:lnTo>
                  <a:lnTo>
                    <a:pt x="15717" y="9802"/>
                  </a:lnTo>
                  <a:lnTo>
                    <a:pt x="15610" y="9950"/>
                  </a:lnTo>
                  <a:lnTo>
                    <a:pt x="15494" y="10093"/>
                  </a:lnTo>
                  <a:lnTo>
                    <a:pt x="15373" y="10230"/>
                  </a:lnTo>
                  <a:lnTo>
                    <a:pt x="15246" y="10361"/>
                  </a:lnTo>
                  <a:lnTo>
                    <a:pt x="15113" y="10487"/>
                  </a:lnTo>
                  <a:lnTo>
                    <a:pt x="14974" y="10606"/>
                  </a:lnTo>
                  <a:lnTo>
                    <a:pt x="14831" y="10718"/>
                  </a:lnTo>
                  <a:lnTo>
                    <a:pt x="14682" y="10824"/>
                  </a:lnTo>
                  <a:lnTo>
                    <a:pt x="14527" y="10923"/>
                  </a:lnTo>
                  <a:lnTo>
                    <a:pt x="14369" y="11014"/>
                  </a:lnTo>
                  <a:lnTo>
                    <a:pt x="14206" y="11098"/>
                  </a:lnTo>
                  <a:lnTo>
                    <a:pt x="14039" y="11176"/>
                  </a:lnTo>
                  <a:lnTo>
                    <a:pt x="13868" y="11244"/>
                  </a:lnTo>
                  <a:lnTo>
                    <a:pt x="13693" y="11305"/>
                  </a:lnTo>
                  <a:lnTo>
                    <a:pt x="13514" y="11357"/>
                  </a:lnTo>
                  <a:lnTo>
                    <a:pt x="13332" y="11401"/>
                  </a:lnTo>
                  <a:lnTo>
                    <a:pt x="13147" y="11436"/>
                  </a:lnTo>
                  <a:lnTo>
                    <a:pt x="12960" y="11462"/>
                  </a:lnTo>
                  <a:lnTo>
                    <a:pt x="12770" y="11479"/>
                  </a:lnTo>
                  <a:lnTo>
                    <a:pt x="12770" y="11487"/>
                  </a:lnTo>
                  <a:lnTo>
                    <a:pt x="12524" y="11487"/>
                  </a:lnTo>
                  <a:lnTo>
                    <a:pt x="3341" y="11487"/>
                  </a:lnTo>
                  <a:lnTo>
                    <a:pt x="3079" y="11487"/>
                  </a:lnTo>
                  <a:lnTo>
                    <a:pt x="3079" y="11477"/>
                  </a:lnTo>
                  <a:lnTo>
                    <a:pt x="2919" y="11459"/>
                  </a:lnTo>
                  <a:lnTo>
                    <a:pt x="2760" y="11436"/>
                  </a:lnTo>
                  <a:lnTo>
                    <a:pt x="2605" y="11404"/>
                  </a:lnTo>
                  <a:lnTo>
                    <a:pt x="2453" y="11365"/>
                  </a:lnTo>
                  <a:lnTo>
                    <a:pt x="2303" y="11318"/>
                  </a:lnTo>
                  <a:lnTo>
                    <a:pt x="2156" y="11265"/>
                  </a:lnTo>
                  <a:lnTo>
                    <a:pt x="2013" y="11205"/>
                  </a:lnTo>
                  <a:lnTo>
                    <a:pt x="1872" y="11139"/>
                  </a:lnTo>
                  <a:lnTo>
                    <a:pt x="1736" y="11067"/>
                  </a:lnTo>
                  <a:lnTo>
                    <a:pt x="1603" y="10987"/>
                  </a:lnTo>
                  <a:lnTo>
                    <a:pt x="1474" y="10903"/>
                  </a:lnTo>
                  <a:lnTo>
                    <a:pt x="1349" y="10813"/>
                  </a:lnTo>
                  <a:lnTo>
                    <a:pt x="1229" y="10716"/>
                  </a:lnTo>
                  <a:lnTo>
                    <a:pt x="1113" y="10615"/>
                  </a:lnTo>
                  <a:lnTo>
                    <a:pt x="1001" y="10508"/>
                  </a:lnTo>
                  <a:lnTo>
                    <a:pt x="895" y="10396"/>
                  </a:lnTo>
                  <a:lnTo>
                    <a:pt x="793" y="10280"/>
                  </a:lnTo>
                  <a:lnTo>
                    <a:pt x="697" y="10159"/>
                  </a:lnTo>
                  <a:lnTo>
                    <a:pt x="606" y="10033"/>
                  </a:lnTo>
                  <a:lnTo>
                    <a:pt x="521" y="9903"/>
                  </a:lnTo>
                  <a:lnTo>
                    <a:pt x="441" y="9769"/>
                  </a:lnTo>
                  <a:lnTo>
                    <a:pt x="368" y="9631"/>
                  </a:lnTo>
                  <a:lnTo>
                    <a:pt x="300" y="9490"/>
                  </a:lnTo>
                  <a:lnTo>
                    <a:pt x="239" y="9345"/>
                  </a:lnTo>
                  <a:lnTo>
                    <a:pt x="185" y="9197"/>
                  </a:lnTo>
                  <a:lnTo>
                    <a:pt x="137" y="9044"/>
                  </a:lnTo>
                  <a:lnTo>
                    <a:pt x="96" y="8890"/>
                  </a:lnTo>
                  <a:lnTo>
                    <a:pt x="62" y="8733"/>
                  </a:lnTo>
                  <a:lnTo>
                    <a:pt x="35" y="8573"/>
                  </a:lnTo>
                  <a:lnTo>
                    <a:pt x="15" y="8410"/>
                  </a:lnTo>
                  <a:lnTo>
                    <a:pt x="4" y="8246"/>
                  </a:lnTo>
                  <a:lnTo>
                    <a:pt x="0" y="8079"/>
                  </a:lnTo>
                  <a:lnTo>
                    <a:pt x="4" y="7916"/>
                  </a:lnTo>
                  <a:lnTo>
                    <a:pt x="15" y="7754"/>
                  </a:lnTo>
                  <a:lnTo>
                    <a:pt x="34" y="7596"/>
                  </a:lnTo>
                  <a:lnTo>
                    <a:pt x="60" y="7439"/>
                  </a:lnTo>
                  <a:lnTo>
                    <a:pt x="92" y="7284"/>
                  </a:lnTo>
                  <a:lnTo>
                    <a:pt x="132" y="7132"/>
                  </a:lnTo>
                  <a:lnTo>
                    <a:pt x="178" y="6983"/>
                  </a:lnTo>
                  <a:lnTo>
                    <a:pt x="230" y="6837"/>
                  </a:lnTo>
                  <a:lnTo>
                    <a:pt x="289" y="6694"/>
                  </a:lnTo>
                  <a:lnTo>
                    <a:pt x="354" y="6556"/>
                  </a:lnTo>
                  <a:lnTo>
                    <a:pt x="424" y="6420"/>
                  </a:lnTo>
                  <a:lnTo>
                    <a:pt x="502" y="6287"/>
                  </a:lnTo>
                  <a:lnTo>
                    <a:pt x="584" y="6159"/>
                  </a:lnTo>
                  <a:lnTo>
                    <a:pt x="671" y="6034"/>
                  </a:lnTo>
                  <a:lnTo>
                    <a:pt x="765" y="5914"/>
                  </a:lnTo>
                  <a:lnTo>
                    <a:pt x="862" y="5799"/>
                  </a:lnTo>
                  <a:lnTo>
                    <a:pt x="965" y="5688"/>
                  </a:lnTo>
                  <a:lnTo>
                    <a:pt x="1072" y="5582"/>
                  </a:lnTo>
                  <a:lnTo>
                    <a:pt x="1184" y="5480"/>
                  </a:lnTo>
                  <a:lnTo>
                    <a:pt x="1301" y="5384"/>
                  </a:lnTo>
                  <a:lnTo>
                    <a:pt x="1421" y="5293"/>
                  </a:lnTo>
                  <a:lnTo>
                    <a:pt x="1546" y="5208"/>
                  </a:lnTo>
                  <a:lnTo>
                    <a:pt x="1675" y="5128"/>
                  </a:lnTo>
                  <a:lnTo>
                    <a:pt x="1807" y="5054"/>
                  </a:lnTo>
                  <a:lnTo>
                    <a:pt x="1942" y="4986"/>
                  </a:lnTo>
                  <a:lnTo>
                    <a:pt x="2082" y="4924"/>
                  </a:lnTo>
                  <a:lnTo>
                    <a:pt x="2224" y="4869"/>
                  </a:lnTo>
                  <a:lnTo>
                    <a:pt x="2369" y="4819"/>
                  </a:lnTo>
                  <a:lnTo>
                    <a:pt x="2517" y="4777"/>
                  </a:lnTo>
                  <a:lnTo>
                    <a:pt x="2668" y="4741"/>
                  </a:lnTo>
                  <a:lnTo>
                    <a:pt x="2821" y="4713"/>
                  </a:lnTo>
                  <a:lnTo>
                    <a:pt x="2976" y="4692"/>
                  </a:lnTo>
                  <a:lnTo>
                    <a:pt x="2990" y="4450"/>
                  </a:lnTo>
                  <a:lnTo>
                    <a:pt x="3015" y="4212"/>
                  </a:lnTo>
                  <a:lnTo>
                    <a:pt x="3051" y="3976"/>
                  </a:lnTo>
                  <a:lnTo>
                    <a:pt x="3098" y="3744"/>
                  </a:lnTo>
                  <a:lnTo>
                    <a:pt x="3156" y="3517"/>
                  </a:lnTo>
                  <a:lnTo>
                    <a:pt x="3225" y="3295"/>
                  </a:lnTo>
                  <a:lnTo>
                    <a:pt x="3303" y="3076"/>
                  </a:lnTo>
                  <a:lnTo>
                    <a:pt x="3391" y="2863"/>
                  </a:lnTo>
                  <a:lnTo>
                    <a:pt x="3489" y="2655"/>
                  </a:lnTo>
                  <a:lnTo>
                    <a:pt x="3597" y="2453"/>
                  </a:lnTo>
                  <a:lnTo>
                    <a:pt x="3713" y="2256"/>
                  </a:lnTo>
                  <a:lnTo>
                    <a:pt x="3837" y="2065"/>
                  </a:lnTo>
                  <a:lnTo>
                    <a:pt x="3971" y="1882"/>
                  </a:lnTo>
                  <a:lnTo>
                    <a:pt x="4113" y="1704"/>
                  </a:lnTo>
                  <a:lnTo>
                    <a:pt x="4262" y="1535"/>
                  </a:lnTo>
                  <a:lnTo>
                    <a:pt x="4419" y="1371"/>
                  </a:lnTo>
                  <a:lnTo>
                    <a:pt x="4583" y="1216"/>
                  </a:lnTo>
                  <a:lnTo>
                    <a:pt x="4754" y="1069"/>
                  </a:lnTo>
                  <a:lnTo>
                    <a:pt x="4932" y="930"/>
                  </a:lnTo>
                  <a:lnTo>
                    <a:pt x="5117" y="800"/>
                  </a:lnTo>
                  <a:lnTo>
                    <a:pt x="5307" y="677"/>
                  </a:lnTo>
                  <a:lnTo>
                    <a:pt x="5503" y="565"/>
                  </a:lnTo>
                  <a:lnTo>
                    <a:pt x="5705" y="462"/>
                  </a:lnTo>
                  <a:lnTo>
                    <a:pt x="5912" y="368"/>
                  </a:lnTo>
                  <a:lnTo>
                    <a:pt x="6124" y="284"/>
                  </a:lnTo>
                  <a:lnTo>
                    <a:pt x="6342" y="211"/>
                  </a:lnTo>
                  <a:lnTo>
                    <a:pt x="6563" y="147"/>
                  </a:lnTo>
                  <a:lnTo>
                    <a:pt x="6788" y="95"/>
                  </a:lnTo>
                  <a:lnTo>
                    <a:pt x="7018" y="54"/>
                  </a:lnTo>
                  <a:lnTo>
                    <a:pt x="7250" y="25"/>
                  </a:lnTo>
                  <a:lnTo>
                    <a:pt x="7487" y="6"/>
                  </a:lnTo>
                  <a:lnTo>
                    <a:pt x="7726" y="0"/>
                  </a:lnTo>
                  <a:close/>
                  <a:moveTo>
                    <a:pt x="9156" y="9528"/>
                  </a:moveTo>
                  <a:lnTo>
                    <a:pt x="9148" y="9515"/>
                  </a:lnTo>
                  <a:lnTo>
                    <a:pt x="9141" y="9503"/>
                  </a:lnTo>
                  <a:lnTo>
                    <a:pt x="9134" y="9491"/>
                  </a:lnTo>
                  <a:lnTo>
                    <a:pt x="9127" y="9478"/>
                  </a:lnTo>
                  <a:lnTo>
                    <a:pt x="9106" y="9484"/>
                  </a:lnTo>
                  <a:lnTo>
                    <a:pt x="9086" y="9491"/>
                  </a:lnTo>
                  <a:lnTo>
                    <a:pt x="9065" y="9498"/>
                  </a:lnTo>
                  <a:lnTo>
                    <a:pt x="9045" y="9503"/>
                  </a:lnTo>
                  <a:lnTo>
                    <a:pt x="9023" y="9509"/>
                  </a:lnTo>
                  <a:lnTo>
                    <a:pt x="9003" y="9515"/>
                  </a:lnTo>
                  <a:lnTo>
                    <a:pt x="8982" y="9521"/>
                  </a:lnTo>
                  <a:lnTo>
                    <a:pt x="8961" y="9528"/>
                  </a:lnTo>
                  <a:lnTo>
                    <a:pt x="9156" y="9528"/>
                  </a:lnTo>
                  <a:close/>
                  <a:moveTo>
                    <a:pt x="6492" y="9528"/>
                  </a:moveTo>
                  <a:lnTo>
                    <a:pt x="6464" y="9519"/>
                  </a:lnTo>
                  <a:lnTo>
                    <a:pt x="6435" y="9511"/>
                  </a:lnTo>
                  <a:lnTo>
                    <a:pt x="6408" y="9503"/>
                  </a:lnTo>
                  <a:lnTo>
                    <a:pt x="6379" y="9495"/>
                  </a:lnTo>
                  <a:lnTo>
                    <a:pt x="6376" y="9503"/>
                  </a:lnTo>
                  <a:lnTo>
                    <a:pt x="6372" y="9511"/>
                  </a:lnTo>
                  <a:lnTo>
                    <a:pt x="6368" y="9519"/>
                  </a:lnTo>
                  <a:lnTo>
                    <a:pt x="6364" y="9528"/>
                  </a:lnTo>
                  <a:lnTo>
                    <a:pt x="6492" y="9528"/>
                  </a:lnTo>
                  <a:close/>
                </a:path>
              </a:pathLst>
            </a:custGeom>
            <a:solidFill>
              <a:schemeClr val="bg1">
                <a:lumMod val="95000"/>
              </a:schemeClr>
            </a:solidFill>
            <a:ln w="9525">
              <a:solidFill>
                <a:schemeClr val="bg1">
                  <a:lumMod val="65000"/>
                </a:schemeClr>
              </a:solidFill>
            </a:ln>
            <a:effectLst/>
          </p:spPr>
          <p:txBody>
            <a:bodyPr vert="horz" wrap="square" lIns="91432" tIns="45716" rIns="91432" bIns="45716" numCol="1" rtlCol="0" anchor="ctr" anchorCtr="0" compatLnSpc="1">
              <a:prstTxWarp prst="textNoShape">
                <a:avLst/>
              </a:prstTxWarp>
              <a:noAutofit/>
            </a:bodyPr>
            <a:lstStyle/>
            <a:p>
              <a:pPr marL="0" marR="0" lvl="0" indent="0" algn="ctr" defTabSz="1219272" eaLnBrk="1" fontAlgn="ctr" latinLnBrk="0" hangingPunct="1">
                <a:lnSpc>
                  <a:spcPct val="100000"/>
                </a:lnSpc>
                <a:spcBef>
                  <a:spcPts val="0"/>
                </a:spcBef>
                <a:spcAft>
                  <a:spcPts val="0"/>
                </a:spcAft>
                <a:buClr>
                  <a:srgbClr val="CC9900"/>
                </a:buClr>
                <a:buSzTx/>
                <a:buFontTx/>
                <a:buNone/>
                <a:tabLst/>
                <a:defRPr/>
              </a:pPr>
              <a:r>
                <a:rPr kumimoji="0" lang="en-US" altLang="zh-CN" sz="12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rPr>
                <a:t>Cloud</a:t>
              </a:r>
            </a:p>
          </p:txBody>
        </p:sp>
        <p:sp>
          <p:nvSpPr>
            <p:cNvPr id="42" name="Freeform 27"/>
            <p:cNvSpPr>
              <a:spLocks noEditPoints="1"/>
            </p:cNvSpPr>
            <p:nvPr/>
          </p:nvSpPr>
          <p:spPr bwMode="gray">
            <a:xfrm>
              <a:off x="5524821" y="5223159"/>
              <a:ext cx="1026348" cy="569291"/>
            </a:xfrm>
            <a:custGeom>
              <a:avLst/>
              <a:gdLst/>
              <a:ahLst/>
              <a:cxnLst>
                <a:cxn ang="0">
                  <a:pos x="8324" y="38"/>
                </a:cxn>
                <a:cxn ang="0">
                  <a:pos x="9087" y="203"/>
                </a:cxn>
                <a:cxn ang="0">
                  <a:pos x="9799" y="487"/>
                </a:cxn>
                <a:cxn ang="0">
                  <a:pos x="10451" y="880"/>
                </a:cxn>
                <a:cxn ang="0">
                  <a:pos x="11031" y="1370"/>
                </a:cxn>
                <a:cxn ang="0">
                  <a:pos x="11529" y="1947"/>
                </a:cxn>
                <a:cxn ang="0">
                  <a:pos x="11934" y="2598"/>
                </a:cxn>
                <a:cxn ang="0">
                  <a:pos x="12234" y="3314"/>
                </a:cxn>
                <a:cxn ang="0">
                  <a:pos x="12378" y="3497"/>
                </a:cxn>
                <a:cxn ang="0">
                  <a:pos x="12496" y="3494"/>
                </a:cxn>
                <a:cxn ang="0">
                  <a:pos x="13119" y="3540"/>
                </a:cxn>
                <a:cxn ang="0">
                  <a:pos x="13870" y="3738"/>
                </a:cxn>
                <a:cxn ang="0">
                  <a:pos x="14554" y="4074"/>
                </a:cxn>
                <a:cxn ang="0">
                  <a:pos x="15156" y="4535"/>
                </a:cxn>
                <a:cxn ang="0">
                  <a:pos x="15663" y="5102"/>
                </a:cxn>
                <a:cxn ang="0">
                  <a:pos x="16056" y="5761"/>
                </a:cxn>
                <a:cxn ang="0">
                  <a:pos x="16320" y="6494"/>
                </a:cxn>
                <a:cxn ang="0">
                  <a:pos x="16438" y="7286"/>
                </a:cxn>
                <a:cxn ang="0">
                  <a:pos x="16401" y="8075"/>
                </a:cxn>
                <a:cxn ang="0">
                  <a:pos x="16222" y="8813"/>
                </a:cxn>
                <a:cxn ang="0">
                  <a:pos x="15915" y="9491"/>
                </a:cxn>
                <a:cxn ang="0">
                  <a:pos x="15494" y="10093"/>
                </a:cxn>
                <a:cxn ang="0">
                  <a:pos x="14974" y="10606"/>
                </a:cxn>
                <a:cxn ang="0">
                  <a:pos x="14369" y="11014"/>
                </a:cxn>
                <a:cxn ang="0">
                  <a:pos x="13693" y="11305"/>
                </a:cxn>
                <a:cxn ang="0">
                  <a:pos x="12960" y="11462"/>
                </a:cxn>
                <a:cxn ang="0">
                  <a:pos x="3341" y="11487"/>
                </a:cxn>
                <a:cxn ang="0">
                  <a:pos x="2760" y="11436"/>
                </a:cxn>
                <a:cxn ang="0">
                  <a:pos x="2156" y="11265"/>
                </a:cxn>
                <a:cxn ang="0">
                  <a:pos x="1603" y="10987"/>
                </a:cxn>
                <a:cxn ang="0">
                  <a:pos x="1113" y="10615"/>
                </a:cxn>
                <a:cxn ang="0">
                  <a:pos x="697" y="10159"/>
                </a:cxn>
                <a:cxn ang="0">
                  <a:pos x="368" y="9631"/>
                </a:cxn>
                <a:cxn ang="0">
                  <a:pos x="137" y="9044"/>
                </a:cxn>
                <a:cxn ang="0">
                  <a:pos x="15" y="8410"/>
                </a:cxn>
                <a:cxn ang="0">
                  <a:pos x="15" y="7754"/>
                </a:cxn>
                <a:cxn ang="0">
                  <a:pos x="132" y="7132"/>
                </a:cxn>
                <a:cxn ang="0">
                  <a:pos x="354" y="6556"/>
                </a:cxn>
                <a:cxn ang="0">
                  <a:pos x="671" y="6034"/>
                </a:cxn>
                <a:cxn ang="0">
                  <a:pos x="1072" y="5582"/>
                </a:cxn>
                <a:cxn ang="0">
                  <a:pos x="1546" y="5208"/>
                </a:cxn>
                <a:cxn ang="0">
                  <a:pos x="2082" y="4924"/>
                </a:cxn>
                <a:cxn ang="0">
                  <a:pos x="2668" y="4741"/>
                </a:cxn>
                <a:cxn ang="0">
                  <a:pos x="3015" y="4212"/>
                </a:cxn>
                <a:cxn ang="0">
                  <a:pos x="3225" y="3295"/>
                </a:cxn>
                <a:cxn ang="0">
                  <a:pos x="3597" y="2453"/>
                </a:cxn>
                <a:cxn ang="0">
                  <a:pos x="4113" y="1704"/>
                </a:cxn>
                <a:cxn ang="0">
                  <a:pos x="4754" y="1069"/>
                </a:cxn>
                <a:cxn ang="0">
                  <a:pos x="5503" y="565"/>
                </a:cxn>
                <a:cxn ang="0">
                  <a:pos x="6342" y="211"/>
                </a:cxn>
                <a:cxn ang="0">
                  <a:pos x="7250" y="25"/>
                </a:cxn>
                <a:cxn ang="0">
                  <a:pos x="9148" y="9515"/>
                </a:cxn>
                <a:cxn ang="0">
                  <a:pos x="9106" y="9484"/>
                </a:cxn>
                <a:cxn ang="0">
                  <a:pos x="9023" y="9509"/>
                </a:cxn>
                <a:cxn ang="0">
                  <a:pos x="9156" y="9528"/>
                </a:cxn>
                <a:cxn ang="0">
                  <a:pos x="6408" y="9503"/>
                </a:cxn>
                <a:cxn ang="0">
                  <a:pos x="6368" y="9519"/>
                </a:cxn>
              </a:cxnLst>
              <a:rect l="0" t="0" r="r" b="b"/>
              <a:pathLst>
                <a:path w="16443" h="11487">
                  <a:moveTo>
                    <a:pt x="7726" y="0"/>
                  </a:moveTo>
                  <a:lnTo>
                    <a:pt x="7928" y="4"/>
                  </a:lnTo>
                  <a:lnTo>
                    <a:pt x="8127" y="17"/>
                  </a:lnTo>
                  <a:lnTo>
                    <a:pt x="8324" y="38"/>
                  </a:lnTo>
                  <a:lnTo>
                    <a:pt x="8519" y="68"/>
                  </a:lnTo>
                  <a:lnTo>
                    <a:pt x="8711" y="105"/>
                  </a:lnTo>
                  <a:lnTo>
                    <a:pt x="8900" y="150"/>
                  </a:lnTo>
                  <a:lnTo>
                    <a:pt x="9087" y="203"/>
                  </a:lnTo>
                  <a:lnTo>
                    <a:pt x="9270" y="263"/>
                  </a:lnTo>
                  <a:lnTo>
                    <a:pt x="9450" y="331"/>
                  </a:lnTo>
                  <a:lnTo>
                    <a:pt x="9626" y="406"/>
                  </a:lnTo>
                  <a:lnTo>
                    <a:pt x="9799" y="487"/>
                  </a:lnTo>
                  <a:lnTo>
                    <a:pt x="9969" y="576"/>
                  </a:lnTo>
                  <a:lnTo>
                    <a:pt x="10133" y="670"/>
                  </a:lnTo>
                  <a:lnTo>
                    <a:pt x="10294" y="772"/>
                  </a:lnTo>
                  <a:lnTo>
                    <a:pt x="10451" y="880"/>
                  </a:lnTo>
                  <a:lnTo>
                    <a:pt x="10604" y="994"/>
                  </a:lnTo>
                  <a:lnTo>
                    <a:pt x="10751" y="1113"/>
                  </a:lnTo>
                  <a:lnTo>
                    <a:pt x="10893" y="1239"/>
                  </a:lnTo>
                  <a:lnTo>
                    <a:pt x="11031" y="1370"/>
                  </a:lnTo>
                  <a:lnTo>
                    <a:pt x="11164" y="1507"/>
                  </a:lnTo>
                  <a:lnTo>
                    <a:pt x="11291" y="1648"/>
                  </a:lnTo>
                  <a:lnTo>
                    <a:pt x="11412" y="1795"/>
                  </a:lnTo>
                  <a:lnTo>
                    <a:pt x="11529" y="1947"/>
                  </a:lnTo>
                  <a:lnTo>
                    <a:pt x="11640" y="2102"/>
                  </a:lnTo>
                  <a:lnTo>
                    <a:pt x="11743" y="2264"/>
                  </a:lnTo>
                  <a:lnTo>
                    <a:pt x="11842" y="2429"/>
                  </a:lnTo>
                  <a:lnTo>
                    <a:pt x="11934" y="2598"/>
                  </a:lnTo>
                  <a:lnTo>
                    <a:pt x="12019" y="2772"/>
                  </a:lnTo>
                  <a:lnTo>
                    <a:pt x="12097" y="2948"/>
                  </a:lnTo>
                  <a:lnTo>
                    <a:pt x="12169" y="3129"/>
                  </a:lnTo>
                  <a:lnTo>
                    <a:pt x="12234" y="3314"/>
                  </a:lnTo>
                  <a:lnTo>
                    <a:pt x="12291" y="3501"/>
                  </a:lnTo>
                  <a:lnTo>
                    <a:pt x="12320" y="3499"/>
                  </a:lnTo>
                  <a:lnTo>
                    <a:pt x="12349" y="3498"/>
                  </a:lnTo>
                  <a:lnTo>
                    <a:pt x="12378" y="3497"/>
                  </a:lnTo>
                  <a:lnTo>
                    <a:pt x="12407" y="3496"/>
                  </a:lnTo>
                  <a:lnTo>
                    <a:pt x="12437" y="3495"/>
                  </a:lnTo>
                  <a:lnTo>
                    <a:pt x="12466" y="3494"/>
                  </a:lnTo>
                  <a:lnTo>
                    <a:pt x="12496" y="3494"/>
                  </a:lnTo>
                  <a:lnTo>
                    <a:pt x="12524" y="3494"/>
                  </a:lnTo>
                  <a:lnTo>
                    <a:pt x="12726" y="3499"/>
                  </a:lnTo>
                  <a:lnTo>
                    <a:pt x="12924" y="3515"/>
                  </a:lnTo>
                  <a:lnTo>
                    <a:pt x="13119" y="3540"/>
                  </a:lnTo>
                  <a:lnTo>
                    <a:pt x="13313" y="3575"/>
                  </a:lnTo>
                  <a:lnTo>
                    <a:pt x="13502" y="3621"/>
                  </a:lnTo>
                  <a:lnTo>
                    <a:pt x="13688" y="3674"/>
                  </a:lnTo>
                  <a:lnTo>
                    <a:pt x="13870" y="3738"/>
                  </a:lnTo>
                  <a:lnTo>
                    <a:pt x="14047" y="3809"/>
                  </a:lnTo>
                  <a:lnTo>
                    <a:pt x="14221" y="3889"/>
                  </a:lnTo>
                  <a:lnTo>
                    <a:pt x="14390" y="3977"/>
                  </a:lnTo>
                  <a:lnTo>
                    <a:pt x="14554" y="4074"/>
                  </a:lnTo>
                  <a:lnTo>
                    <a:pt x="14712" y="4179"/>
                  </a:lnTo>
                  <a:lnTo>
                    <a:pt x="14867" y="4290"/>
                  </a:lnTo>
                  <a:lnTo>
                    <a:pt x="15015" y="4409"/>
                  </a:lnTo>
                  <a:lnTo>
                    <a:pt x="15156" y="4535"/>
                  </a:lnTo>
                  <a:lnTo>
                    <a:pt x="15293" y="4667"/>
                  </a:lnTo>
                  <a:lnTo>
                    <a:pt x="15423" y="4806"/>
                  </a:lnTo>
                  <a:lnTo>
                    <a:pt x="15546" y="4951"/>
                  </a:lnTo>
                  <a:lnTo>
                    <a:pt x="15663" y="5102"/>
                  </a:lnTo>
                  <a:lnTo>
                    <a:pt x="15772" y="5259"/>
                  </a:lnTo>
                  <a:lnTo>
                    <a:pt x="15875" y="5421"/>
                  </a:lnTo>
                  <a:lnTo>
                    <a:pt x="15969" y="5588"/>
                  </a:lnTo>
                  <a:lnTo>
                    <a:pt x="16056" y="5761"/>
                  </a:lnTo>
                  <a:lnTo>
                    <a:pt x="16134" y="5938"/>
                  </a:lnTo>
                  <a:lnTo>
                    <a:pt x="16205" y="6119"/>
                  </a:lnTo>
                  <a:lnTo>
                    <a:pt x="16266" y="6305"/>
                  </a:lnTo>
                  <a:lnTo>
                    <a:pt x="16320" y="6494"/>
                  </a:lnTo>
                  <a:lnTo>
                    <a:pt x="16363" y="6687"/>
                  </a:lnTo>
                  <a:lnTo>
                    <a:pt x="16398" y="6884"/>
                  </a:lnTo>
                  <a:lnTo>
                    <a:pt x="16422" y="7083"/>
                  </a:lnTo>
                  <a:lnTo>
                    <a:pt x="16438" y="7286"/>
                  </a:lnTo>
                  <a:lnTo>
                    <a:pt x="16443" y="7490"/>
                  </a:lnTo>
                  <a:lnTo>
                    <a:pt x="16438" y="7688"/>
                  </a:lnTo>
                  <a:lnTo>
                    <a:pt x="16425" y="7883"/>
                  </a:lnTo>
                  <a:lnTo>
                    <a:pt x="16401" y="8075"/>
                  </a:lnTo>
                  <a:lnTo>
                    <a:pt x="16369" y="8264"/>
                  </a:lnTo>
                  <a:lnTo>
                    <a:pt x="16328" y="8451"/>
                  </a:lnTo>
                  <a:lnTo>
                    <a:pt x="16280" y="8634"/>
                  </a:lnTo>
                  <a:lnTo>
                    <a:pt x="16222" y="8813"/>
                  </a:lnTo>
                  <a:lnTo>
                    <a:pt x="16156" y="8989"/>
                  </a:lnTo>
                  <a:lnTo>
                    <a:pt x="16083" y="9161"/>
                  </a:lnTo>
                  <a:lnTo>
                    <a:pt x="16003" y="9328"/>
                  </a:lnTo>
                  <a:lnTo>
                    <a:pt x="15915" y="9491"/>
                  </a:lnTo>
                  <a:lnTo>
                    <a:pt x="15820" y="9649"/>
                  </a:lnTo>
                  <a:lnTo>
                    <a:pt x="15717" y="9802"/>
                  </a:lnTo>
                  <a:lnTo>
                    <a:pt x="15610" y="9950"/>
                  </a:lnTo>
                  <a:lnTo>
                    <a:pt x="15494" y="10093"/>
                  </a:lnTo>
                  <a:lnTo>
                    <a:pt x="15373" y="10230"/>
                  </a:lnTo>
                  <a:lnTo>
                    <a:pt x="15246" y="10361"/>
                  </a:lnTo>
                  <a:lnTo>
                    <a:pt x="15113" y="10487"/>
                  </a:lnTo>
                  <a:lnTo>
                    <a:pt x="14974" y="10606"/>
                  </a:lnTo>
                  <a:lnTo>
                    <a:pt x="14831" y="10718"/>
                  </a:lnTo>
                  <a:lnTo>
                    <a:pt x="14682" y="10824"/>
                  </a:lnTo>
                  <a:lnTo>
                    <a:pt x="14527" y="10923"/>
                  </a:lnTo>
                  <a:lnTo>
                    <a:pt x="14369" y="11014"/>
                  </a:lnTo>
                  <a:lnTo>
                    <a:pt x="14206" y="11098"/>
                  </a:lnTo>
                  <a:lnTo>
                    <a:pt x="14039" y="11176"/>
                  </a:lnTo>
                  <a:lnTo>
                    <a:pt x="13868" y="11244"/>
                  </a:lnTo>
                  <a:lnTo>
                    <a:pt x="13693" y="11305"/>
                  </a:lnTo>
                  <a:lnTo>
                    <a:pt x="13514" y="11357"/>
                  </a:lnTo>
                  <a:lnTo>
                    <a:pt x="13332" y="11401"/>
                  </a:lnTo>
                  <a:lnTo>
                    <a:pt x="13147" y="11436"/>
                  </a:lnTo>
                  <a:lnTo>
                    <a:pt x="12960" y="11462"/>
                  </a:lnTo>
                  <a:lnTo>
                    <a:pt x="12770" y="11479"/>
                  </a:lnTo>
                  <a:lnTo>
                    <a:pt x="12770" y="11487"/>
                  </a:lnTo>
                  <a:lnTo>
                    <a:pt x="12524" y="11487"/>
                  </a:lnTo>
                  <a:lnTo>
                    <a:pt x="3341" y="11487"/>
                  </a:lnTo>
                  <a:lnTo>
                    <a:pt x="3079" y="11487"/>
                  </a:lnTo>
                  <a:lnTo>
                    <a:pt x="3079" y="11477"/>
                  </a:lnTo>
                  <a:lnTo>
                    <a:pt x="2919" y="11459"/>
                  </a:lnTo>
                  <a:lnTo>
                    <a:pt x="2760" y="11436"/>
                  </a:lnTo>
                  <a:lnTo>
                    <a:pt x="2605" y="11404"/>
                  </a:lnTo>
                  <a:lnTo>
                    <a:pt x="2453" y="11365"/>
                  </a:lnTo>
                  <a:lnTo>
                    <a:pt x="2303" y="11318"/>
                  </a:lnTo>
                  <a:lnTo>
                    <a:pt x="2156" y="11265"/>
                  </a:lnTo>
                  <a:lnTo>
                    <a:pt x="2013" y="11205"/>
                  </a:lnTo>
                  <a:lnTo>
                    <a:pt x="1872" y="11139"/>
                  </a:lnTo>
                  <a:lnTo>
                    <a:pt x="1736" y="11067"/>
                  </a:lnTo>
                  <a:lnTo>
                    <a:pt x="1603" y="10987"/>
                  </a:lnTo>
                  <a:lnTo>
                    <a:pt x="1474" y="10903"/>
                  </a:lnTo>
                  <a:lnTo>
                    <a:pt x="1349" y="10813"/>
                  </a:lnTo>
                  <a:lnTo>
                    <a:pt x="1229" y="10716"/>
                  </a:lnTo>
                  <a:lnTo>
                    <a:pt x="1113" y="10615"/>
                  </a:lnTo>
                  <a:lnTo>
                    <a:pt x="1001" y="10508"/>
                  </a:lnTo>
                  <a:lnTo>
                    <a:pt x="895" y="10396"/>
                  </a:lnTo>
                  <a:lnTo>
                    <a:pt x="793" y="10280"/>
                  </a:lnTo>
                  <a:lnTo>
                    <a:pt x="697" y="10159"/>
                  </a:lnTo>
                  <a:lnTo>
                    <a:pt x="606" y="10033"/>
                  </a:lnTo>
                  <a:lnTo>
                    <a:pt x="521" y="9903"/>
                  </a:lnTo>
                  <a:lnTo>
                    <a:pt x="441" y="9769"/>
                  </a:lnTo>
                  <a:lnTo>
                    <a:pt x="368" y="9631"/>
                  </a:lnTo>
                  <a:lnTo>
                    <a:pt x="300" y="9490"/>
                  </a:lnTo>
                  <a:lnTo>
                    <a:pt x="239" y="9345"/>
                  </a:lnTo>
                  <a:lnTo>
                    <a:pt x="185" y="9197"/>
                  </a:lnTo>
                  <a:lnTo>
                    <a:pt x="137" y="9044"/>
                  </a:lnTo>
                  <a:lnTo>
                    <a:pt x="96" y="8890"/>
                  </a:lnTo>
                  <a:lnTo>
                    <a:pt x="62" y="8733"/>
                  </a:lnTo>
                  <a:lnTo>
                    <a:pt x="35" y="8573"/>
                  </a:lnTo>
                  <a:lnTo>
                    <a:pt x="15" y="8410"/>
                  </a:lnTo>
                  <a:lnTo>
                    <a:pt x="4" y="8246"/>
                  </a:lnTo>
                  <a:lnTo>
                    <a:pt x="0" y="8079"/>
                  </a:lnTo>
                  <a:lnTo>
                    <a:pt x="4" y="7916"/>
                  </a:lnTo>
                  <a:lnTo>
                    <a:pt x="15" y="7754"/>
                  </a:lnTo>
                  <a:lnTo>
                    <a:pt x="34" y="7596"/>
                  </a:lnTo>
                  <a:lnTo>
                    <a:pt x="60" y="7439"/>
                  </a:lnTo>
                  <a:lnTo>
                    <a:pt x="92" y="7284"/>
                  </a:lnTo>
                  <a:lnTo>
                    <a:pt x="132" y="7132"/>
                  </a:lnTo>
                  <a:lnTo>
                    <a:pt x="178" y="6983"/>
                  </a:lnTo>
                  <a:lnTo>
                    <a:pt x="230" y="6837"/>
                  </a:lnTo>
                  <a:lnTo>
                    <a:pt x="289" y="6694"/>
                  </a:lnTo>
                  <a:lnTo>
                    <a:pt x="354" y="6556"/>
                  </a:lnTo>
                  <a:lnTo>
                    <a:pt x="424" y="6420"/>
                  </a:lnTo>
                  <a:lnTo>
                    <a:pt x="502" y="6287"/>
                  </a:lnTo>
                  <a:lnTo>
                    <a:pt x="584" y="6159"/>
                  </a:lnTo>
                  <a:lnTo>
                    <a:pt x="671" y="6034"/>
                  </a:lnTo>
                  <a:lnTo>
                    <a:pt x="765" y="5914"/>
                  </a:lnTo>
                  <a:lnTo>
                    <a:pt x="862" y="5799"/>
                  </a:lnTo>
                  <a:lnTo>
                    <a:pt x="965" y="5688"/>
                  </a:lnTo>
                  <a:lnTo>
                    <a:pt x="1072" y="5582"/>
                  </a:lnTo>
                  <a:lnTo>
                    <a:pt x="1184" y="5480"/>
                  </a:lnTo>
                  <a:lnTo>
                    <a:pt x="1301" y="5384"/>
                  </a:lnTo>
                  <a:lnTo>
                    <a:pt x="1421" y="5293"/>
                  </a:lnTo>
                  <a:lnTo>
                    <a:pt x="1546" y="5208"/>
                  </a:lnTo>
                  <a:lnTo>
                    <a:pt x="1675" y="5128"/>
                  </a:lnTo>
                  <a:lnTo>
                    <a:pt x="1807" y="5054"/>
                  </a:lnTo>
                  <a:lnTo>
                    <a:pt x="1942" y="4986"/>
                  </a:lnTo>
                  <a:lnTo>
                    <a:pt x="2082" y="4924"/>
                  </a:lnTo>
                  <a:lnTo>
                    <a:pt x="2224" y="4869"/>
                  </a:lnTo>
                  <a:lnTo>
                    <a:pt x="2369" y="4819"/>
                  </a:lnTo>
                  <a:lnTo>
                    <a:pt x="2517" y="4777"/>
                  </a:lnTo>
                  <a:lnTo>
                    <a:pt x="2668" y="4741"/>
                  </a:lnTo>
                  <a:lnTo>
                    <a:pt x="2821" y="4713"/>
                  </a:lnTo>
                  <a:lnTo>
                    <a:pt x="2976" y="4692"/>
                  </a:lnTo>
                  <a:lnTo>
                    <a:pt x="2990" y="4450"/>
                  </a:lnTo>
                  <a:lnTo>
                    <a:pt x="3015" y="4212"/>
                  </a:lnTo>
                  <a:lnTo>
                    <a:pt x="3051" y="3976"/>
                  </a:lnTo>
                  <a:lnTo>
                    <a:pt x="3098" y="3744"/>
                  </a:lnTo>
                  <a:lnTo>
                    <a:pt x="3156" y="3517"/>
                  </a:lnTo>
                  <a:lnTo>
                    <a:pt x="3225" y="3295"/>
                  </a:lnTo>
                  <a:lnTo>
                    <a:pt x="3303" y="3076"/>
                  </a:lnTo>
                  <a:lnTo>
                    <a:pt x="3391" y="2863"/>
                  </a:lnTo>
                  <a:lnTo>
                    <a:pt x="3489" y="2655"/>
                  </a:lnTo>
                  <a:lnTo>
                    <a:pt x="3597" y="2453"/>
                  </a:lnTo>
                  <a:lnTo>
                    <a:pt x="3713" y="2256"/>
                  </a:lnTo>
                  <a:lnTo>
                    <a:pt x="3837" y="2065"/>
                  </a:lnTo>
                  <a:lnTo>
                    <a:pt x="3971" y="1882"/>
                  </a:lnTo>
                  <a:lnTo>
                    <a:pt x="4113" y="1704"/>
                  </a:lnTo>
                  <a:lnTo>
                    <a:pt x="4262" y="1535"/>
                  </a:lnTo>
                  <a:lnTo>
                    <a:pt x="4419" y="1371"/>
                  </a:lnTo>
                  <a:lnTo>
                    <a:pt x="4583" y="1216"/>
                  </a:lnTo>
                  <a:lnTo>
                    <a:pt x="4754" y="1069"/>
                  </a:lnTo>
                  <a:lnTo>
                    <a:pt x="4932" y="930"/>
                  </a:lnTo>
                  <a:lnTo>
                    <a:pt x="5117" y="800"/>
                  </a:lnTo>
                  <a:lnTo>
                    <a:pt x="5307" y="677"/>
                  </a:lnTo>
                  <a:lnTo>
                    <a:pt x="5503" y="565"/>
                  </a:lnTo>
                  <a:lnTo>
                    <a:pt x="5705" y="462"/>
                  </a:lnTo>
                  <a:lnTo>
                    <a:pt x="5912" y="368"/>
                  </a:lnTo>
                  <a:lnTo>
                    <a:pt x="6124" y="284"/>
                  </a:lnTo>
                  <a:lnTo>
                    <a:pt x="6342" y="211"/>
                  </a:lnTo>
                  <a:lnTo>
                    <a:pt x="6563" y="147"/>
                  </a:lnTo>
                  <a:lnTo>
                    <a:pt x="6788" y="95"/>
                  </a:lnTo>
                  <a:lnTo>
                    <a:pt x="7018" y="54"/>
                  </a:lnTo>
                  <a:lnTo>
                    <a:pt x="7250" y="25"/>
                  </a:lnTo>
                  <a:lnTo>
                    <a:pt x="7487" y="6"/>
                  </a:lnTo>
                  <a:lnTo>
                    <a:pt x="7726" y="0"/>
                  </a:lnTo>
                  <a:close/>
                  <a:moveTo>
                    <a:pt x="9156" y="9528"/>
                  </a:moveTo>
                  <a:lnTo>
                    <a:pt x="9148" y="9515"/>
                  </a:lnTo>
                  <a:lnTo>
                    <a:pt x="9141" y="9503"/>
                  </a:lnTo>
                  <a:lnTo>
                    <a:pt x="9134" y="9491"/>
                  </a:lnTo>
                  <a:lnTo>
                    <a:pt x="9127" y="9478"/>
                  </a:lnTo>
                  <a:lnTo>
                    <a:pt x="9106" y="9484"/>
                  </a:lnTo>
                  <a:lnTo>
                    <a:pt x="9086" y="9491"/>
                  </a:lnTo>
                  <a:lnTo>
                    <a:pt x="9065" y="9498"/>
                  </a:lnTo>
                  <a:lnTo>
                    <a:pt x="9045" y="9503"/>
                  </a:lnTo>
                  <a:lnTo>
                    <a:pt x="9023" y="9509"/>
                  </a:lnTo>
                  <a:lnTo>
                    <a:pt x="9003" y="9515"/>
                  </a:lnTo>
                  <a:lnTo>
                    <a:pt x="8982" y="9521"/>
                  </a:lnTo>
                  <a:lnTo>
                    <a:pt x="8961" y="9528"/>
                  </a:lnTo>
                  <a:lnTo>
                    <a:pt x="9156" y="9528"/>
                  </a:lnTo>
                  <a:close/>
                  <a:moveTo>
                    <a:pt x="6492" y="9528"/>
                  </a:moveTo>
                  <a:lnTo>
                    <a:pt x="6464" y="9519"/>
                  </a:lnTo>
                  <a:lnTo>
                    <a:pt x="6435" y="9511"/>
                  </a:lnTo>
                  <a:lnTo>
                    <a:pt x="6408" y="9503"/>
                  </a:lnTo>
                  <a:lnTo>
                    <a:pt x="6379" y="9495"/>
                  </a:lnTo>
                  <a:lnTo>
                    <a:pt x="6376" y="9503"/>
                  </a:lnTo>
                  <a:lnTo>
                    <a:pt x="6372" y="9511"/>
                  </a:lnTo>
                  <a:lnTo>
                    <a:pt x="6368" y="9519"/>
                  </a:lnTo>
                  <a:lnTo>
                    <a:pt x="6364" y="9528"/>
                  </a:lnTo>
                  <a:lnTo>
                    <a:pt x="6492" y="9528"/>
                  </a:lnTo>
                  <a:close/>
                </a:path>
              </a:pathLst>
            </a:custGeom>
            <a:solidFill>
              <a:schemeClr val="bg1">
                <a:lumMod val="95000"/>
              </a:schemeClr>
            </a:solidFill>
            <a:ln w="9525">
              <a:solidFill>
                <a:schemeClr val="bg1">
                  <a:lumMod val="65000"/>
                </a:schemeClr>
              </a:solidFill>
            </a:ln>
            <a:effectLst/>
          </p:spPr>
          <p:txBody>
            <a:bodyPr vert="horz" wrap="square" lIns="91432" tIns="45716" rIns="91432" bIns="45716" numCol="1" rtlCol="0" anchor="ctr" anchorCtr="0" compatLnSpc="1">
              <a:prstTxWarp prst="textNoShape">
                <a:avLst/>
              </a:prstTxWarp>
              <a:noAutofit/>
            </a:bodyPr>
            <a:lstStyle/>
            <a:p>
              <a:pPr marL="0" marR="0" lvl="0" indent="0" algn="ctr" defTabSz="1219272" eaLnBrk="1" fontAlgn="ctr" latinLnBrk="0" hangingPunct="1">
                <a:lnSpc>
                  <a:spcPct val="100000"/>
                </a:lnSpc>
                <a:spcBef>
                  <a:spcPts val="0"/>
                </a:spcBef>
                <a:spcAft>
                  <a:spcPts val="0"/>
                </a:spcAft>
                <a:buClr>
                  <a:srgbClr val="CC9900"/>
                </a:buClr>
                <a:buSzTx/>
                <a:buFontTx/>
                <a:buNone/>
                <a:tabLst/>
                <a:defRPr/>
              </a:pPr>
              <a:r>
                <a:rPr kumimoji="0" lang="en-US" altLang="zh-CN" sz="12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rPr>
                <a:t>Cloud</a:t>
              </a:r>
            </a:p>
          </p:txBody>
        </p:sp>
      </p:grpSp>
      <p:sp>
        <p:nvSpPr>
          <p:cNvPr id="43" name="圆角矩形 75"/>
          <p:cNvSpPr/>
          <p:nvPr/>
        </p:nvSpPr>
        <p:spPr bwMode="gray">
          <a:xfrm>
            <a:off x="567446" y="1926186"/>
            <a:ext cx="5376149"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应用不可视，流量难调度</a:t>
            </a:r>
          </a:p>
        </p:txBody>
      </p:sp>
      <p:pic>
        <p:nvPicPr>
          <p:cNvPr id="45" name="Picture 2"/>
          <p:cNvPicPr>
            <a:picLocks noChangeAspect="1"/>
          </p:cNvPicPr>
          <p:nvPr/>
        </p:nvPicPr>
        <p:blipFill>
          <a:blip r:embed="rId4" cstate="print">
            <a:extLst>
              <a:ext uri="{28A0092B-C50C-407E-A947-70E740481C1C}">
                <a14:useLocalDpi xmlns:a14="http://schemas.microsoft.com/office/drawing/2010/main" val="0"/>
              </a:ext>
            </a:extLst>
          </a:blip>
          <a:srcRect/>
          <a:stretch/>
        </p:blipFill>
        <p:spPr bwMode="gray">
          <a:xfrm>
            <a:off x="6523210" y="4319481"/>
            <a:ext cx="2272944" cy="1516035"/>
          </a:xfrm>
          <a:prstGeom prst="rect">
            <a:avLst/>
          </a:prstGeom>
          <a:ln>
            <a:noFill/>
          </a:ln>
          <a:effectLst>
            <a:softEdge rad="112500"/>
          </a:effectLst>
        </p:spPr>
      </p:pic>
      <p:sp>
        <p:nvSpPr>
          <p:cNvPr id="46" name="矩形 26"/>
          <p:cNvSpPr/>
          <p:nvPr/>
        </p:nvSpPr>
        <p:spPr bwMode="gray">
          <a:xfrm>
            <a:off x="9375490" y="5850558"/>
            <a:ext cx="1877437" cy="276999"/>
          </a:xfrm>
          <a:prstGeom prst="rect">
            <a:avLst/>
          </a:prstGeom>
        </p:spPr>
        <p:txBody>
          <a:bodyPr wrap="none">
            <a:spAutoFit/>
          </a:bodyPr>
          <a:lstStyle/>
          <a:p>
            <a:pPr defTabSz="1219272"/>
            <a:r>
              <a:rPr lang="zh-CN" altLang="en-US" sz="1200" dirty="0">
                <a:solidFill>
                  <a:prstClr val="black"/>
                </a:solidFill>
                <a:latin typeface="Huawei Sans" panose="020C0503030203020204" pitchFamily="34" charset="0"/>
                <a:ea typeface="方正兰亭黑简体" panose="02000000000000000000" pitchFamily="2" charset="-122"/>
              </a:rPr>
              <a:t>带宽冲突，视频会议卡顿</a:t>
            </a:r>
            <a:endParaRPr lang="en-US" sz="1200" dirty="0">
              <a:solidFill>
                <a:prstClr val="black"/>
              </a:solidFill>
              <a:latin typeface="Huawei Sans" panose="020C0503030203020204" pitchFamily="34" charset="0"/>
              <a:ea typeface="方正兰亭黑简体" panose="02000000000000000000" pitchFamily="2" charset="-122"/>
            </a:endParaRPr>
          </a:p>
        </p:txBody>
      </p:sp>
      <p:sp>
        <p:nvSpPr>
          <p:cNvPr id="47" name="矩形 27"/>
          <p:cNvSpPr/>
          <p:nvPr/>
        </p:nvSpPr>
        <p:spPr bwMode="gray">
          <a:xfrm>
            <a:off x="6738758" y="5850558"/>
            <a:ext cx="1877437" cy="276999"/>
          </a:xfrm>
          <a:prstGeom prst="rect">
            <a:avLst/>
          </a:prstGeom>
        </p:spPr>
        <p:txBody>
          <a:bodyPr wrap="none">
            <a:spAutoFit/>
          </a:bodyPr>
          <a:lstStyle/>
          <a:p>
            <a:pPr defTabSz="1219272"/>
            <a:r>
              <a:rPr lang="zh-CN" altLang="en-US" sz="1200" dirty="0">
                <a:solidFill>
                  <a:prstClr val="black"/>
                </a:solidFill>
                <a:latin typeface="Huawei Sans" panose="020C0503030203020204" pitchFamily="34" charset="0"/>
                <a:ea typeface="方正兰亭黑简体" panose="02000000000000000000" pitchFamily="2" charset="-122"/>
              </a:rPr>
              <a:t>带宽空闲，视频会议流畅</a:t>
            </a:r>
            <a:endParaRPr lang="en-US" sz="1200" dirty="0">
              <a:solidFill>
                <a:prstClr val="black"/>
              </a:solidFill>
              <a:latin typeface="Huawei Sans" panose="020C0503030203020204" pitchFamily="34" charset="0"/>
              <a:ea typeface="方正兰亭黑简体" panose="02000000000000000000" pitchFamily="2" charset="-122"/>
            </a:endParaRPr>
          </a:p>
        </p:txBody>
      </p:sp>
      <p:sp>
        <p:nvSpPr>
          <p:cNvPr id="48" name="矩形 31"/>
          <p:cNvSpPr>
            <a:spLocks noChangeArrowheads="1"/>
          </p:cNvSpPr>
          <p:nvPr/>
        </p:nvSpPr>
        <p:spPr bwMode="gray">
          <a:xfrm>
            <a:off x="8006138" y="2391417"/>
            <a:ext cx="3406734" cy="1538883"/>
          </a:xfrm>
          <a:prstGeom prst="rect">
            <a:avLst/>
          </a:prstGeom>
          <a:noFill/>
          <a:ln w="9525">
            <a:noFill/>
            <a:miter lim="800000"/>
            <a:headEnd/>
            <a:tailEnd/>
          </a:ln>
        </p:spPr>
        <p:txBody>
          <a:bodyPr wrap="square">
            <a:spAutoFit/>
          </a:bodyPr>
          <a:lstStyle/>
          <a:p>
            <a:pPr defTabSz="1219272">
              <a:lnSpc>
                <a:spcPct val="150000"/>
              </a:lnSpc>
              <a:spcBef>
                <a:spcPts val="600"/>
              </a:spcBef>
              <a:spcAft>
                <a:spcPts val="600"/>
              </a:spcAft>
            </a:pPr>
            <a:r>
              <a:rPr lang="zh-CN" altLang="en-US" sz="1600" b="1" dirty="0">
                <a:solidFill>
                  <a:srgbClr val="C7000B"/>
                </a:solidFill>
                <a:latin typeface="Huawei Sans" panose="020C0503030203020204" pitchFamily="34" charset="0"/>
                <a:ea typeface="方正兰亭黑简体" panose="02000000000000000000" pitchFamily="2" charset="-122"/>
                <a:sym typeface="Arial" pitchFamily="34" charset="0"/>
              </a:rPr>
              <a:t>优先级冲突</a:t>
            </a:r>
            <a:r>
              <a:rPr lang="zh-CN" altLang="en-US" sz="1600" b="1" dirty="0">
                <a:solidFill>
                  <a:prstClr val="black"/>
                </a:solidFill>
                <a:latin typeface="Huawei Sans" panose="020C0503030203020204" pitchFamily="34" charset="0"/>
                <a:ea typeface="方正兰亭黑简体" panose="02000000000000000000" pitchFamily="2" charset="-122"/>
                <a:sym typeface="Arial"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sym typeface="Arial" pitchFamily="34" charset="0"/>
              </a:rPr>
              <a:t>关键应用无法识别，调度优先级低</a:t>
            </a:r>
            <a:endParaRPr lang="en-US" altLang="zh-CN" sz="1400" dirty="0">
              <a:solidFill>
                <a:prstClr val="black"/>
              </a:solidFill>
              <a:latin typeface="Huawei Sans" panose="020C0503030203020204" pitchFamily="34" charset="0"/>
              <a:ea typeface="方正兰亭黑简体" panose="02000000000000000000" pitchFamily="2" charset="-122"/>
              <a:sym typeface="Arial" pitchFamily="34" charset="0"/>
            </a:endParaRPr>
          </a:p>
          <a:p>
            <a:pPr defTabSz="1219272">
              <a:lnSpc>
                <a:spcPct val="150000"/>
              </a:lnSpc>
              <a:spcBef>
                <a:spcPts val="600"/>
              </a:spcBef>
              <a:spcAft>
                <a:spcPts val="600"/>
              </a:spcAft>
            </a:pPr>
            <a:r>
              <a:rPr lang="zh-CN" altLang="en-US" sz="1600" b="1" dirty="0">
                <a:solidFill>
                  <a:srgbClr val="C7000B"/>
                </a:solidFill>
                <a:latin typeface="Huawei Sans" panose="020C0503030203020204" pitchFamily="34" charset="0"/>
                <a:ea typeface="方正兰亭黑简体" panose="02000000000000000000" pitchFamily="2" charset="-122"/>
                <a:sym typeface="Arial" pitchFamily="34" charset="0"/>
              </a:rPr>
              <a:t>带宽冲突</a:t>
            </a:r>
            <a:r>
              <a:rPr lang="zh-CN" altLang="en-US" sz="1600" b="1" dirty="0">
                <a:solidFill>
                  <a:prstClr val="black"/>
                </a:solidFill>
                <a:latin typeface="Huawei Sans" panose="020C0503030203020204" pitchFamily="34" charset="0"/>
                <a:ea typeface="方正兰亭黑简体" panose="02000000000000000000" pitchFamily="2" charset="-122"/>
                <a:sym typeface="Arial" pitchFamily="34" charset="0"/>
              </a:rPr>
              <a:t>：</a:t>
            </a:r>
            <a:r>
              <a:rPr lang="zh-CN" altLang="en-US" sz="1400" b="1" dirty="0">
                <a:solidFill>
                  <a:prstClr val="black"/>
                </a:solidFill>
                <a:latin typeface="Huawei Sans" panose="020C0503030203020204" pitchFamily="34" charset="0"/>
                <a:ea typeface="方正兰亭黑简体" panose="02000000000000000000" pitchFamily="2" charset="-122"/>
                <a:sym typeface="Arial" pitchFamily="34" charset="0"/>
              </a:rPr>
              <a:t> </a:t>
            </a:r>
            <a:r>
              <a:rPr lang="zh-CN" altLang="en-US" sz="1200" dirty="0">
                <a:solidFill>
                  <a:prstClr val="black"/>
                </a:solidFill>
                <a:latin typeface="Huawei Sans" panose="020C0503030203020204" pitchFamily="34" charset="0"/>
                <a:ea typeface="方正兰亭黑简体" panose="02000000000000000000" pitchFamily="2" charset="-122"/>
                <a:sym typeface="Arial" pitchFamily="34" charset="0"/>
              </a:rPr>
              <a:t>业务高峰，突发流量是平均流量</a:t>
            </a:r>
            <a:r>
              <a:rPr lang="en-US" altLang="zh-CN" sz="1200" dirty="0">
                <a:solidFill>
                  <a:prstClr val="black"/>
                </a:solidFill>
                <a:latin typeface="Huawei Sans" panose="020C0503030203020204" pitchFamily="34" charset="0"/>
                <a:ea typeface="方正兰亭黑简体" panose="02000000000000000000" pitchFamily="2" charset="-122"/>
                <a:sym typeface="Arial" pitchFamily="34" charset="0"/>
              </a:rPr>
              <a:t>3</a:t>
            </a:r>
            <a:r>
              <a:rPr lang="zh-CN" altLang="en-US" sz="1200" dirty="0">
                <a:solidFill>
                  <a:prstClr val="black"/>
                </a:solidFill>
                <a:latin typeface="Huawei Sans" panose="020C0503030203020204" pitchFamily="34" charset="0"/>
                <a:ea typeface="方正兰亭黑简体" panose="02000000000000000000" pitchFamily="2" charset="-122"/>
                <a:sym typeface="Arial"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Arial" pitchFamily="34" charset="0"/>
              </a:rPr>
              <a:t>5</a:t>
            </a:r>
            <a:r>
              <a:rPr lang="zh-CN" altLang="en-US" sz="1200" dirty="0">
                <a:solidFill>
                  <a:prstClr val="black"/>
                </a:solidFill>
                <a:latin typeface="Huawei Sans" panose="020C0503030203020204" pitchFamily="34" charset="0"/>
                <a:ea typeface="方正兰亭黑简体" panose="02000000000000000000" pitchFamily="2" charset="-122"/>
                <a:sym typeface="Arial" pitchFamily="34" charset="0"/>
              </a:rPr>
              <a:t>倍，冲击关键应用</a:t>
            </a:r>
            <a:endParaRPr lang="en-US" altLang="zh-CN" sz="1050" b="1" dirty="0">
              <a:solidFill>
                <a:prstClr val="black"/>
              </a:solidFill>
              <a:latin typeface="Huawei Sans" panose="020C0503030203020204" pitchFamily="34" charset="0"/>
              <a:ea typeface="方正兰亭黑简体" panose="02000000000000000000" pitchFamily="2" charset="-122"/>
              <a:sym typeface="Arial" pitchFamily="34" charset="0"/>
            </a:endParaRPr>
          </a:p>
        </p:txBody>
      </p:sp>
      <p:sp>
        <p:nvSpPr>
          <p:cNvPr id="49" name="MH_SubTitle_1"/>
          <p:cNvSpPr>
            <a:spLocks noChangeAspect="1"/>
          </p:cNvSpPr>
          <p:nvPr>
            <p:custDataLst>
              <p:tags r:id="rId1"/>
            </p:custDataLst>
          </p:nvPr>
        </p:nvSpPr>
        <p:spPr bwMode="gray">
          <a:xfrm>
            <a:off x="6588162" y="2500877"/>
            <a:ext cx="1196269" cy="1255755"/>
          </a:xfrm>
          <a:prstGeom prst="ellipse">
            <a:avLst/>
          </a:prstGeom>
          <a:noFill/>
          <a:ln w="76200" cap="flat" cmpd="sng" algn="ctr">
            <a:solidFill>
              <a:srgbClr val="00B0F0"/>
            </a:solidFill>
            <a:prstDash val="solid"/>
          </a:ln>
          <a:effectLst/>
        </p:spPr>
        <p:txBody>
          <a:bodyPr lIns="0" tIns="0" rIns="0" bIns="0" anchor="ctr"/>
          <a:lstStyle/>
          <a:p>
            <a:pPr marL="0" marR="0" lvl="0" indent="0" algn="ctr" defTabSz="1219272"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600+</a:t>
            </a:r>
            <a:endParaRPr kumimoji="0" lang="zh-CN" altLang="en-US" sz="2000" b="1"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0" name="TextBox 156"/>
          <p:cNvSpPr txBox="1"/>
          <p:nvPr/>
        </p:nvSpPr>
        <p:spPr bwMode="gray">
          <a:xfrm>
            <a:off x="6450372" y="3810033"/>
            <a:ext cx="1471847" cy="461655"/>
          </a:xfrm>
          <a:prstGeom prst="rect">
            <a:avLst/>
          </a:prstGeom>
          <a:noFill/>
        </p:spPr>
        <p:txBody>
          <a:bodyPr wrap="square" lIns="91431" tIns="45715" rIns="91431" bIns="45715" rtlCol="0">
            <a:spAutoFit/>
          </a:bodyPr>
          <a:lstStyle/>
          <a:p>
            <a:pPr algn="ctr" defTabSz="914309">
              <a:defRPr/>
            </a:pPr>
            <a:r>
              <a:rPr lang="zh-CN" altLang="en-US" sz="1200" b="1" kern="0" dirty="0">
                <a:solidFill>
                  <a:prstClr val="black"/>
                </a:solidFill>
                <a:latin typeface="Huawei Sans" panose="020C0503030203020204" pitchFamily="34" charset="0"/>
                <a:ea typeface="方正兰亭黑简体" panose="02000000000000000000" pitchFamily="2" charset="-122"/>
              </a:rPr>
              <a:t>跨</a:t>
            </a:r>
            <a:r>
              <a:rPr lang="en-US" altLang="zh-CN" sz="1200" b="1" kern="0" dirty="0">
                <a:solidFill>
                  <a:prstClr val="black"/>
                </a:solidFill>
                <a:latin typeface="Huawei Sans" panose="020C0503030203020204" pitchFamily="34" charset="0"/>
                <a:ea typeface="方正兰亭黑简体" panose="02000000000000000000" pitchFamily="2" charset="-122"/>
              </a:rPr>
              <a:t>WAN</a:t>
            </a:r>
            <a:r>
              <a:rPr lang="zh-CN" altLang="en-US" sz="1200" b="1" kern="0" dirty="0">
                <a:solidFill>
                  <a:prstClr val="black"/>
                </a:solidFill>
                <a:latin typeface="Huawei Sans" panose="020C0503030203020204" pitchFamily="34" charset="0"/>
                <a:ea typeface="方正兰亭黑简体" panose="02000000000000000000" pitchFamily="2" charset="-122"/>
              </a:rPr>
              <a:t>应用</a:t>
            </a:r>
            <a:endParaRPr lang="en-US" altLang="zh-CN" sz="1200" b="1" kern="0" dirty="0">
              <a:solidFill>
                <a:prstClr val="black"/>
              </a:solidFill>
              <a:latin typeface="Huawei Sans" panose="020C0503030203020204" pitchFamily="34" charset="0"/>
              <a:ea typeface="方正兰亭黑简体" panose="02000000000000000000" pitchFamily="2" charset="-122"/>
            </a:endParaRPr>
          </a:p>
          <a:p>
            <a:pPr algn="ctr" defTabSz="914309">
              <a:defRPr/>
            </a:pPr>
            <a:r>
              <a:rPr lang="zh-CN" altLang="en-US" sz="1200" b="1" kern="0" dirty="0">
                <a:solidFill>
                  <a:prstClr val="black"/>
                </a:solidFill>
                <a:latin typeface="Huawei Sans" panose="020C0503030203020204" pitchFamily="34" charset="0"/>
                <a:ea typeface="方正兰亭黑简体" panose="02000000000000000000" pitchFamily="2" charset="-122"/>
              </a:rPr>
              <a:t>（某企业）</a:t>
            </a:r>
            <a:endParaRPr lang="en-US" altLang="zh-CN" sz="1200" b="1" kern="0" dirty="0">
              <a:solidFill>
                <a:prstClr val="black"/>
              </a:solidFill>
              <a:latin typeface="Huawei Sans" panose="020C0503030203020204" pitchFamily="34" charset="0"/>
              <a:ea typeface="方正兰亭黑简体" panose="02000000000000000000" pitchFamily="2" charset="-122"/>
            </a:endParaRPr>
          </a:p>
        </p:txBody>
      </p:sp>
      <p:sp>
        <p:nvSpPr>
          <p:cNvPr id="51" name="圆角矩形 75"/>
          <p:cNvSpPr/>
          <p:nvPr/>
        </p:nvSpPr>
        <p:spPr bwMode="gray">
          <a:xfrm>
            <a:off x="6215782" y="1926186"/>
            <a:ext cx="540347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语音、视频、</a:t>
            </a:r>
            <a:r>
              <a:rPr lang="en-US" altLang="zh-CN" sz="1600" dirty="0">
                <a:solidFill>
                  <a:srgbClr val="30B5C5"/>
                </a:solidFill>
                <a:latin typeface="Huawei Sans" panose="020C0503030203020204" pitchFamily="34" charset="0"/>
                <a:ea typeface="方正兰亭黑简体" panose="02000000000000000000" pitchFamily="2" charset="-122"/>
              </a:rPr>
              <a:t>SaaS</a:t>
            </a:r>
            <a:r>
              <a:rPr lang="zh-CN" altLang="en-US" sz="1600">
                <a:solidFill>
                  <a:srgbClr val="30B5C5"/>
                </a:solidFill>
                <a:latin typeface="Huawei Sans" panose="020C0503030203020204" pitchFamily="34" charset="0"/>
                <a:ea typeface="方正兰亭黑简体" panose="02000000000000000000" pitchFamily="2" charset="-122"/>
              </a:rPr>
              <a:t>等关键业务难管理</a:t>
            </a:r>
          </a:p>
        </p:txBody>
      </p:sp>
      <p:sp>
        <p:nvSpPr>
          <p:cNvPr id="52" name="圆角矩形 75"/>
          <p:cNvSpPr/>
          <p:nvPr/>
        </p:nvSpPr>
        <p:spPr bwMode="gray">
          <a:xfrm>
            <a:off x="6215781" y="2351650"/>
            <a:ext cx="5403474" cy="377590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Picture 2">
            <a:extLst>
              <a:ext uri="{FF2B5EF4-FFF2-40B4-BE49-F238E27FC236}">
                <a16:creationId xmlns:a16="http://schemas.microsoft.com/office/drawing/2014/main" id="{77D49FB9-70E1-4A8F-994C-FEBFEEE259E9}"/>
              </a:ext>
            </a:extLst>
          </p:cNvPr>
          <p:cNvPicPr>
            <a:picLocks noChangeAspect="1"/>
          </p:cNvPicPr>
          <p:nvPr/>
        </p:nvPicPr>
        <p:blipFill>
          <a:blip r:embed="rId5" cstate="print">
            <a:extLst>
              <a:ext uri="{BEBA8EAE-BF5A-486C-A8C5-ECC9F3942E4B}">
                <a14:imgProps xmlns:a14="http://schemas.microsoft.com/office/drawing/2010/main">
                  <a14:imgLayer r:embed="rId6">
                    <a14:imgEffect>
                      <a14:artisticPastelsSmooth/>
                    </a14:imgEffect>
                  </a14:imgLayer>
                </a14:imgProps>
              </a:ext>
              <a:ext uri="{28A0092B-C50C-407E-A947-70E740481C1C}">
                <a14:useLocalDpi xmlns:a14="http://schemas.microsoft.com/office/drawing/2010/main" val="0"/>
              </a:ext>
            </a:extLst>
          </a:blip>
          <a:srcRect/>
          <a:stretch/>
        </p:blipFill>
        <p:spPr bwMode="gray">
          <a:xfrm>
            <a:off x="9126719" y="4319480"/>
            <a:ext cx="2272944" cy="1516035"/>
          </a:xfrm>
          <a:prstGeom prst="rect">
            <a:avLst/>
          </a:prstGeom>
          <a:ln>
            <a:noFill/>
          </a:ln>
          <a:effectLst>
            <a:softEdge rad="112500"/>
          </a:effectLst>
        </p:spPr>
      </p:pic>
      <p:pic>
        <p:nvPicPr>
          <p:cNvPr id="54" name="图片 67">
            <a:extLst>
              <a:ext uri="{FF2B5EF4-FFF2-40B4-BE49-F238E27FC236}">
                <a16:creationId xmlns:a16="http://schemas.microsoft.com/office/drawing/2014/main" id="{77198DCD-04A3-4F73-9839-DF7EC5334B15}"/>
              </a:ext>
            </a:extLst>
          </p:cNvPr>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1437566" y="3957883"/>
            <a:ext cx="417163" cy="342074"/>
          </a:xfrm>
          <a:prstGeom prst="rect">
            <a:avLst/>
          </a:prstGeom>
        </p:spPr>
      </p:pic>
    </p:spTree>
    <p:extLst>
      <p:ext uri="{BB962C8B-B14F-4D97-AF65-F5344CB8AC3E}">
        <p14:creationId xmlns:p14="http://schemas.microsoft.com/office/powerpoint/2010/main" val="2192210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大量分支对企业广域互联的挑战</a:t>
            </a:r>
          </a:p>
        </p:txBody>
      </p:sp>
      <p:sp>
        <p:nvSpPr>
          <p:cNvPr id="3" name="Text Placeholder 2"/>
          <p:cNvSpPr>
            <a:spLocks noGrp="1"/>
          </p:cNvSpPr>
          <p:nvPr>
            <p:ph type="body" sz="quarter" idx="10"/>
          </p:nvPr>
        </p:nvSpPr>
        <p:spPr bwMode="gray"/>
        <p:txBody>
          <a:bodyPr/>
          <a:lstStyle/>
          <a:p>
            <a:r>
              <a:rPr lang="zh-CN" altLang="en-US" sz="1800"/>
              <a:t>随着公司的发展，跨市、跨省、跨国的分支机构会越来越多，导致公司对于分支站点网络管理面临几个问题：</a:t>
            </a:r>
            <a:endParaRPr lang="en-US" altLang="zh-CN" sz="1800" dirty="0"/>
          </a:p>
          <a:p>
            <a:pPr lvl="1"/>
            <a:r>
              <a:rPr lang="zh-CN" altLang="en-US" sz="1600"/>
              <a:t>分支过多导致运维成本过高。</a:t>
            </a:r>
            <a:endParaRPr lang="en-US" altLang="zh-CN" sz="1600" dirty="0"/>
          </a:p>
          <a:p>
            <a:pPr lvl="1"/>
            <a:r>
              <a:rPr lang="zh-CN" altLang="en-US" sz="1600"/>
              <a:t>分支新业务开通周期较长。</a:t>
            </a:r>
            <a:endParaRPr lang="en-US" altLang="zh-CN" sz="1600" dirty="0"/>
          </a:p>
          <a:p>
            <a:pPr lvl="1"/>
            <a:r>
              <a:rPr lang="zh-CN" altLang="en-US" sz="1600"/>
              <a:t>分支网络排错困难。</a:t>
            </a:r>
            <a:endParaRPr lang="zh-CN" altLang="en-US" sz="1600" dirty="0"/>
          </a:p>
        </p:txBody>
      </p:sp>
      <p:sp>
        <p:nvSpPr>
          <p:cNvPr id="4" name="TextBox 23"/>
          <p:cNvSpPr txBox="1">
            <a:spLocks noChangeArrowheads="1"/>
          </p:cNvSpPr>
          <p:nvPr/>
        </p:nvSpPr>
        <p:spPr bwMode="gray">
          <a:xfrm>
            <a:off x="2008818" y="3571000"/>
            <a:ext cx="900428" cy="442562"/>
          </a:xfrm>
          <a:prstGeom prst="rect">
            <a:avLst/>
          </a:prstGeom>
          <a:noFill/>
          <a:ln w="9525">
            <a:noFill/>
            <a:miter lim="800000"/>
            <a:headEnd/>
            <a:tailEnd/>
          </a:ln>
        </p:spPr>
        <p:txBody>
          <a:bodyPr wrap="square" lIns="72521" tIns="36261" rIns="72521" bIns="36261">
            <a:spAutoFit/>
          </a:bodyPr>
          <a:lstStyle/>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流程审批</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 2-5</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天）</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 name="TextBox 26"/>
          <p:cNvSpPr txBox="1"/>
          <p:nvPr/>
        </p:nvSpPr>
        <p:spPr bwMode="gray">
          <a:xfrm>
            <a:off x="4049431" y="3557575"/>
            <a:ext cx="969057" cy="461653"/>
          </a:xfrm>
          <a:prstGeom prst="rect">
            <a:avLst/>
          </a:prstGeom>
          <a:noFill/>
        </p:spPr>
        <p:txBody>
          <a:bodyPr wrap="square" lIns="91427" tIns="45714" rIns="91427" bIns="45714" rtlCol="0">
            <a:spAutoFit/>
          </a:bodyPr>
          <a:lstStyle/>
          <a:p>
            <a:pPr algn="ctr" defTabSz="1219272"/>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硬件安装</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algn="ctr" defTabSz="1219272"/>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 1-3</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天）</a:t>
            </a:r>
          </a:p>
        </p:txBody>
      </p:sp>
      <p:sp>
        <p:nvSpPr>
          <p:cNvPr id="6" name="TextBox 33"/>
          <p:cNvSpPr txBox="1"/>
          <p:nvPr/>
        </p:nvSpPr>
        <p:spPr bwMode="gray">
          <a:xfrm>
            <a:off x="3347693" y="3570518"/>
            <a:ext cx="964171" cy="442562"/>
          </a:xfrm>
          <a:prstGeom prst="rect">
            <a:avLst/>
          </a:prstGeom>
          <a:noFill/>
          <a:ln w="9525">
            <a:noFill/>
            <a:miter lim="800000"/>
            <a:headEnd/>
            <a:tailEnd/>
          </a:ln>
        </p:spPr>
        <p:txBody>
          <a:bodyPr wrap="square" lIns="72521" tIns="36261" rIns="72521" bIns="36261">
            <a:spAutoFit/>
          </a:bodyPr>
          <a:lstStyle>
            <a:defPPr>
              <a:defRPr lang="zh-CN"/>
            </a:defPPr>
            <a:lvl1pPr algn="ctr" defTabSz="724375">
              <a:defRPr sz="1500">
                <a:solidFill>
                  <a:schemeClr val="bg1"/>
                </a:solidFill>
                <a:cs typeface="Arial" pitchFamily="34" charset="0"/>
              </a:defRPr>
            </a:lvl1pPr>
          </a:lstStyle>
          <a:p>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硬件运输</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 2-5</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天）</a:t>
            </a:r>
          </a:p>
        </p:txBody>
      </p:sp>
      <p:sp>
        <p:nvSpPr>
          <p:cNvPr id="7" name="TextBox 69"/>
          <p:cNvSpPr txBox="1"/>
          <p:nvPr/>
        </p:nvSpPr>
        <p:spPr bwMode="gray">
          <a:xfrm>
            <a:off x="4827456" y="3557559"/>
            <a:ext cx="939711" cy="461653"/>
          </a:xfrm>
          <a:prstGeom prst="rect">
            <a:avLst/>
          </a:prstGeom>
          <a:noFill/>
        </p:spPr>
        <p:txBody>
          <a:bodyPr wrap="square" lIns="91427" tIns="45714" rIns="91427" bIns="45714" rtlCol="0">
            <a:spAutoFit/>
          </a:bodyPr>
          <a:lstStyle/>
          <a:p>
            <a:pPr defTabSz="1219272"/>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rPr>
              <a:t>软件调测</a:t>
            </a:r>
            <a:endParaRPr lang="en-US" altLang="zh-CN"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endParaRPr>
          </a:p>
          <a:p>
            <a:pPr defTabSz="1219272"/>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rPr>
              <a:t>1-3</a:t>
            </a:r>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rPr>
              <a:t>周）</a:t>
            </a:r>
          </a:p>
        </p:txBody>
      </p:sp>
      <p:sp>
        <p:nvSpPr>
          <p:cNvPr id="8" name="TextBox 23"/>
          <p:cNvSpPr txBox="1">
            <a:spLocks noChangeArrowheads="1"/>
          </p:cNvSpPr>
          <p:nvPr/>
        </p:nvSpPr>
        <p:spPr bwMode="gray">
          <a:xfrm>
            <a:off x="2715759" y="3570518"/>
            <a:ext cx="868172" cy="442562"/>
          </a:xfrm>
          <a:prstGeom prst="rect">
            <a:avLst/>
          </a:prstGeom>
          <a:noFill/>
          <a:ln w="9525">
            <a:noFill/>
            <a:miter lim="800000"/>
            <a:headEnd/>
            <a:tailEnd/>
          </a:ln>
        </p:spPr>
        <p:txBody>
          <a:bodyPr wrap="square" lIns="72521" tIns="36261" rIns="72521" bIns="36261">
            <a:spAutoFit/>
          </a:bodyPr>
          <a:lstStyle/>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现场工勘</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1-3</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天）</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 name="TextBox 23"/>
          <p:cNvSpPr txBox="1">
            <a:spLocks noChangeArrowheads="1"/>
          </p:cNvSpPr>
          <p:nvPr/>
        </p:nvSpPr>
        <p:spPr bwMode="gray">
          <a:xfrm>
            <a:off x="1278956" y="3571000"/>
            <a:ext cx="888391" cy="442562"/>
          </a:xfrm>
          <a:prstGeom prst="rect">
            <a:avLst/>
          </a:prstGeom>
          <a:noFill/>
          <a:ln w="9525">
            <a:noFill/>
            <a:miter lim="800000"/>
            <a:headEnd/>
            <a:tailEnd/>
          </a:ln>
        </p:spPr>
        <p:txBody>
          <a:bodyPr wrap="square" lIns="72521" tIns="36261" rIns="72521" bIns="36261">
            <a:spAutoFit/>
          </a:bodyPr>
          <a:lstStyle/>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商务选型</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 1-3</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天）</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 name="TextBox 23"/>
          <p:cNvSpPr txBox="1">
            <a:spLocks noChangeArrowheads="1"/>
          </p:cNvSpPr>
          <p:nvPr/>
        </p:nvSpPr>
        <p:spPr bwMode="gray">
          <a:xfrm>
            <a:off x="488837" y="3571000"/>
            <a:ext cx="897650" cy="442562"/>
          </a:xfrm>
          <a:prstGeom prst="rect">
            <a:avLst/>
          </a:prstGeom>
          <a:noFill/>
          <a:ln w="9525">
            <a:noFill/>
            <a:miter lim="800000"/>
            <a:headEnd/>
            <a:tailEnd/>
          </a:ln>
        </p:spPr>
        <p:txBody>
          <a:bodyPr wrap="square" lIns="72521" tIns="36261" rIns="72521" bIns="36261">
            <a:spAutoFit/>
          </a:bodyPr>
          <a:lstStyle/>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网络规划</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 2-5</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天）</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 name="Freeform 111"/>
          <p:cNvSpPr>
            <a:spLocks noChangeAspect="1" noEditPoints="1"/>
          </p:cNvSpPr>
          <p:nvPr/>
        </p:nvSpPr>
        <p:spPr bwMode="gray">
          <a:xfrm flipH="1">
            <a:off x="3501686" y="4149470"/>
            <a:ext cx="540593" cy="269442"/>
          </a:xfrm>
          <a:custGeom>
            <a:avLst/>
            <a:gdLst>
              <a:gd name="T0" fmla="*/ 206 w 372"/>
              <a:gd name="T1" fmla="*/ 65 h 165"/>
              <a:gd name="T2" fmla="*/ 211 w 372"/>
              <a:gd name="T3" fmla="*/ 60 h 165"/>
              <a:gd name="T4" fmla="*/ 245 w 372"/>
              <a:gd name="T5" fmla="*/ 42 h 165"/>
              <a:gd name="T6" fmla="*/ 325 w 372"/>
              <a:gd name="T7" fmla="*/ 89 h 165"/>
              <a:gd name="T8" fmla="*/ 350 w 372"/>
              <a:gd name="T9" fmla="*/ 82 h 165"/>
              <a:gd name="T10" fmla="*/ 356 w 372"/>
              <a:gd name="T11" fmla="*/ 57 h 165"/>
              <a:gd name="T12" fmla="*/ 145 w 372"/>
              <a:gd name="T13" fmla="*/ 63 h 165"/>
              <a:gd name="T14" fmla="*/ 145 w 372"/>
              <a:gd name="T15" fmla="*/ 61 h 165"/>
              <a:gd name="T16" fmla="*/ 127 w 372"/>
              <a:gd name="T17" fmla="*/ 59 h 165"/>
              <a:gd name="T18" fmla="*/ 132 w 372"/>
              <a:gd name="T19" fmla="*/ 62 h 165"/>
              <a:gd name="T20" fmla="*/ 301 w 372"/>
              <a:gd name="T21" fmla="*/ 136 h 165"/>
              <a:gd name="T22" fmla="*/ 301 w 372"/>
              <a:gd name="T23" fmla="*/ 165 h 165"/>
              <a:gd name="T24" fmla="*/ 321 w 372"/>
              <a:gd name="T25" fmla="*/ 129 h 165"/>
              <a:gd name="T26" fmla="*/ 321 w 372"/>
              <a:gd name="T27" fmla="*/ 129 h 165"/>
              <a:gd name="T28" fmla="*/ 254 w 372"/>
              <a:gd name="T29" fmla="*/ 129 h 165"/>
              <a:gd name="T30" fmla="*/ 368 w 372"/>
              <a:gd name="T31" fmla="*/ 100 h 165"/>
              <a:gd name="T32" fmla="*/ 372 w 372"/>
              <a:gd name="T33" fmla="*/ 118 h 165"/>
              <a:gd name="T34" fmla="*/ 73 w 372"/>
              <a:gd name="T35" fmla="*/ 165 h 165"/>
              <a:gd name="T36" fmla="*/ 93 w 372"/>
              <a:gd name="T37" fmla="*/ 129 h 165"/>
              <a:gd name="T38" fmla="*/ 93 w 372"/>
              <a:gd name="T39" fmla="*/ 129 h 165"/>
              <a:gd name="T40" fmla="*/ 26 w 372"/>
              <a:gd name="T41" fmla="*/ 133 h 165"/>
              <a:gd name="T42" fmla="*/ 0 w 372"/>
              <a:gd name="T43" fmla="*/ 108 h 165"/>
              <a:gd name="T44" fmla="*/ 80 w 372"/>
              <a:gd name="T45" fmla="*/ 129 h 165"/>
              <a:gd name="T46" fmla="*/ 12 w 372"/>
              <a:gd name="T47" fmla="*/ 67 h 165"/>
              <a:gd name="T48" fmla="*/ 229 w 372"/>
              <a:gd name="T49" fmla="*/ 0 h 165"/>
              <a:gd name="T50" fmla="*/ 73 w 372"/>
              <a:gd name="T51" fmla="*/ 82 h 165"/>
              <a:gd name="T52" fmla="*/ 144 w 372"/>
              <a:gd name="T53" fmla="*/ 56 h 165"/>
              <a:gd name="T54" fmla="*/ 135 w 372"/>
              <a:gd name="T55" fmla="*/ 65 h 165"/>
              <a:gd name="T56" fmla="*/ 132 w 372"/>
              <a:gd name="T57" fmla="*/ 56 h 165"/>
              <a:gd name="T58" fmla="*/ 125 w 372"/>
              <a:gd name="T59" fmla="*/ 56 h 165"/>
              <a:gd name="T60" fmla="*/ 127 w 372"/>
              <a:gd name="T61" fmla="*/ 67 h 165"/>
              <a:gd name="T62" fmla="*/ 138 w 372"/>
              <a:gd name="T63" fmla="*/ 75 h 165"/>
              <a:gd name="T64" fmla="*/ 150 w 372"/>
              <a:gd name="T65" fmla="*/ 75 h 165"/>
              <a:gd name="T66" fmla="*/ 166 w 372"/>
              <a:gd name="T67" fmla="*/ 66 h 165"/>
              <a:gd name="T68" fmla="*/ 158 w 372"/>
              <a:gd name="T69" fmla="*/ 56 h 165"/>
              <a:gd name="T70" fmla="*/ 158 w 372"/>
              <a:gd name="T71" fmla="*/ 65 h 165"/>
              <a:gd name="T72" fmla="*/ 167 w 372"/>
              <a:gd name="T73" fmla="*/ 75 h 165"/>
              <a:gd name="T74" fmla="*/ 193 w 372"/>
              <a:gd name="T75" fmla="*/ 71 h 165"/>
              <a:gd name="T76" fmla="*/ 193 w 372"/>
              <a:gd name="T77" fmla="*/ 64 h 165"/>
              <a:gd name="T78" fmla="*/ 189 w 372"/>
              <a:gd name="T79" fmla="*/ 56 h 165"/>
              <a:gd name="T80" fmla="*/ 217 w 372"/>
              <a:gd name="T81" fmla="*/ 75 h 165"/>
              <a:gd name="T82" fmla="*/ 215 w 372"/>
              <a:gd name="T83" fmla="*/ 61 h 165"/>
              <a:gd name="T84" fmla="*/ 208 w 372"/>
              <a:gd name="T85" fmla="*/ 56 h 165"/>
              <a:gd name="T86" fmla="*/ 203 w 372"/>
              <a:gd name="T87" fmla="*/ 56 h 165"/>
              <a:gd name="T88" fmla="*/ 208 w 372"/>
              <a:gd name="T89" fmla="*/ 67 h 165"/>
              <a:gd name="T90" fmla="*/ 221 w 372"/>
              <a:gd name="T91" fmla="*/ 43 h 165"/>
              <a:gd name="T92" fmla="*/ 178 w 372"/>
              <a:gd name="T93" fmla="*/ 56 h 165"/>
              <a:gd name="T94" fmla="*/ 173 w 372"/>
              <a:gd name="T95" fmla="*/ 70 h 165"/>
              <a:gd name="T96" fmla="*/ 183 w 372"/>
              <a:gd name="T97" fmla="*/ 75 h 165"/>
              <a:gd name="T98" fmla="*/ 179 w 372"/>
              <a:gd name="T99" fmla="*/ 67 h 165"/>
              <a:gd name="T100" fmla="*/ 181 w 372"/>
              <a:gd name="T101" fmla="*/ 72 h 165"/>
              <a:gd name="T102" fmla="*/ 176 w 372"/>
              <a:gd name="T103" fmla="*/ 65 h 165"/>
              <a:gd name="T104" fmla="*/ 181 w 372"/>
              <a:gd name="T105" fmla="*/ 59 h 165"/>
              <a:gd name="T106" fmla="*/ 184 w 372"/>
              <a:gd name="T107" fmla="*/ 56 h 165"/>
              <a:gd name="T108" fmla="*/ 175 w 372"/>
              <a:gd name="T109" fmla="*/ 43 h 165"/>
              <a:gd name="T110" fmla="*/ 25 w 372"/>
              <a:gd name="T111" fmla="*/ 76 h 165"/>
              <a:gd name="T112" fmla="*/ 26 w 372"/>
              <a:gd name="T113" fmla="*/ 5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2" h="165">
                <a:moveTo>
                  <a:pt x="211" y="62"/>
                </a:moveTo>
                <a:cubicBezTo>
                  <a:pt x="211" y="63"/>
                  <a:pt x="211" y="63"/>
                  <a:pt x="210" y="64"/>
                </a:cubicBezTo>
                <a:cubicBezTo>
                  <a:pt x="210" y="64"/>
                  <a:pt x="209" y="65"/>
                  <a:pt x="208" y="65"/>
                </a:cubicBezTo>
                <a:cubicBezTo>
                  <a:pt x="206" y="65"/>
                  <a:pt x="206" y="65"/>
                  <a:pt x="206" y="65"/>
                </a:cubicBezTo>
                <a:cubicBezTo>
                  <a:pt x="206" y="59"/>
                  <a:pt x="206" y="59"/>
                  <a:pt x="206" y="59"/>
                </a:cubicBezTo>
                <a:cubicBezTo>
                  <a:pt x="207" y="59"/>
                  <a:pt x="207" y="59"/>
                  <a:pt x="207" y="59"/>
                </a:cubicBezTo>
                <a:cubicBezTo>
                  <a:pt x="208" y="59"/>
                  <a:pt x="208" y="59"/>
                  <a:pt x="208" y="59"/>
                </a:cubicBezTo>
                <a:cubicBezTo>
                  <a:pt x="209" y="59"/>
                  <a:pt x="210" y="59"/>
                  <a:pt x="211" y="60"/>
                </a:cubicBezTo>
                <a:cubicBezTo>
                  <a:pt x="211" y="60"/>
                  <a:pt x="211" y="61"/>
                  <a:pt x="211" y="62"/>
                </a:cubicBezTo>
                <a:close/>
                <a:moveTo>
                  <a:pt x="277" y="89"/>
                </a:moveTo>
                <a:cubicBezTo>
                  <a:pt x="245" y="89"/>
                  <a:pt x="245" y="89"/>
                  <a:pt x="245" y="89"/>
                </a:cubicBezTo>
                <a:cubicBezTo>
                  <a:pt x="245" y="42"/>
                  <a:pt x="245" y="42"/>
                  <a:pt x="245" y="42"/>
                </a:cubicBezTo>
                <a:cubicBezTo>
                  <a:pt x="290" y="42"/>
                  <a:pt x="361" y="42"/>
                  <a:pt x="361" y="42"/>
                </a:cubicBezTo>
                <a:cubicBezTo>
                  <a:pt x="369" y="52"/>
                  <a:pt x="367" y="72"/>
                  <a:pt x="367" y="79"/>
                </a:cubicBezTo>
                <a:cubicBezTo>
                  <a:pt x="367" y="89"/>
                  <a:pt x="367" y="89"/>
                  <a:pt x="367" y="89"/>
                </a:cubicBezTo>
                <a:cubicBezTo>
                  <a:pt x="325" y="89"/>
                  <a:pt x="325" y="89"/>
                  <a:pt x="325" y="89"/>
                </a:cubicBezTo>
                <a:cubicBezTo>
                  <a:pt x="318" y="85"/>
                  <a:pt x="310" y="82"/>
                  <a:pt x="301" y="82"/>
                </a:cubicBezTo>
                <a:cubicBezTo>
                  <a:pt x="292" y="82"/>
                  <a:pt x="284" y="85"/>
                  <a:pt x="277" y="89"/>
                </a:cubicBezTo>
                <a:close/>
                <a:moveTo>
                  <a:pt x="350" y="70"/>
                </a:moveTo>
                <a:cubicBezTo>
                  <a:pt x="350" y="75"/>
                  <a:pt x="350" y="80"/>
                  <a:pt x="350" y="82"/>
                </a:cubicBezTo>
                <a:cubicBezTo>
                  <a:pt x="360" y="82"/>
                  <a:pt x="360" y="82"/>
                  <a:pt x="360" y="82"/>
                </a:cubicBezTo>
                <a:cubicBezTo>
                  <a:pt x="360" y="65"/>
                  <a:pt x="360" y="65"/>
                  <a:pt x="360" y="65"/>
                </a:cubicBezTo>
                <a:cubicBezTo>
                  <a:pt x="360" y="63"/>
                  <a:pt x="360" y="60"/>
                  <a:pt x="359" y="57"/>
                </a:cubicBezTo>
                <a:cubicBezTo>
                  <a:pt x="356" y="57"/>
                  <a:pt x="356" y="57"/>
                  <a:pt x="356" y="57"/>
                </a:cubicBezTo>
                <a:cubicBezTo>
                  <a:pt x="349" y="57"/>
                  <a:pt x="350" y="64"/>
                  <a:pt x="350" y="70"/>
                </a:cubicBezTo>
                <a:close/>
                <a:moveTo>
                  <a:pt x="145" y="61"/>
                </a:moveTo>
                <a:cubicBezTo>
                  <a:pt x="145" y="61"/>
                  <a:pt x="145" y="61"/>
                  <a:pt x="145" y="61"/>
                </a:cubicBezTo>
                <a:cubicBezTo>
                  <a:pt x="145" y="63"/>
                  <a:pt x="145" y="63"/>
                  <a:pt x="145" y="63"/>
                </a:cubicBezTo>
                <a:cubicBezTo>
                  <a:pt x="143" y="68"/>
                  <a:pt x="143" y="68"/>
                  <a:pt x="143" y="68"/>
                </a:cubicBezTo>
                <a:cubicBezTo>
                  <a:pt x="147" y="68"/>
                  <a:pt x="147" y="68"/>
                  <a:pt x="147" y="68"/>
                </a:cubicBezTo>
                <a:cubicBezTo>
                  <a:pt x="146" y="63"/>
                  <a:pt x="146" y="63"/>
                  <a:pt x="146" y="63"/>
                </a:cubicBezTo>
                <a:lnTo>
                  <a:pt x="145" y="61"/>
                </a:lnTo>
                <a:close/>
                <a:moveTo>
                  <a:pt x="131" y="60"/>
                </a:moveTo>
                <a:cubicBezTo>
                  <a:pt x="131" y="59"/>
                  <a:pt x="130" y="59"/>
                  <a:pt x="129" y="59"/>
                </a:cubicBezTo>
                <a:cubicBezTo>
                  <a:pt x="129" y="59"/>
                  <a:pt x="129" y="59"/>
                  <a:pt x="128" y="59"/>
                </a:cubicBezTo>
                <a:cubicBezTo>
                  <a:pt x="128" y="59"/>
                  <a:pt x="128" y="59"/>
                  <a:pt x="127" y="59"/>
                </a:cubicBezTo>
                <a:cubicBezTo>
                  <a:pt x="127" y="65"/>
                  <a:pt x="127" y="65"/>
                  <a:pt x="127" y="65"/>
                </a:cubicBezTo>
                <a:cubicBezTo>
                  <a:pt x="129" y="65"/>
                  <a:pt x="129" y="65"/>
                  <a:pt x="129" y="65"/>
                </a:cubicBezTo>
                <a:cubicBezTo>
                  <a:pt x="130" y="65"/>
                  <a:pt x="131" y="64"/>
                  <a:pt x="131" y="64"/>
                </a:cubicBezTo>
                <a:cubicBezTo>
                  <a:pt x="132" y="63"/>
                  <a:pt x="132" y="63"/>
                  <a:pt x="132" y="62"/>
                </a:cubicBezTo>
                <a:cubicBezTo>
                  <a:pt x="132" y="61"/>
                  <a:pt x="132" y="60"/>
                  <a:pt x="131" y="60"/>
                </a:cubicBezTo>
                <a:close/>
                <a:moveTo>
                  <a:pt x="301" y="122"/>
                </a:moveTo>
                <a:cubicBezTo>
                  <a:pt x="297" y="122"/>
                  <a:pt x="294" y="125"/>
                  <a:pt x="294" y="129"/>
                </a:cubicBezTo>
                <a:cubicBezTo>
                  <a:pt x="294" y="133"/>
                  <a:pt x="297" y="136"/>
                  <a:pt x="301" y="136"/>
                </a:cubicBezTo>
                <a:cubicBezTo>
                  <a:pt x="305" y="136"/>
                  <a:pt x="308" y="133"/>
                  <a:pt x="308" y="129"/>
                </a:cubicBezTo>
                <a:cubicBezTo>
                  <a:pt x="308" y="125"/>
                  <a:pt x="305" y="122"/>
                  <a:pt x="301" y="122"/>
                </a:cubicBezTo>
                <a:close/>
                <a:moveTo>
                  <a:pt x="337" y="129"/>
                </a:moveTo>
                <a:cubicBezTo>
                  <a:pt x="337" y="149"/>
                  <a:pt x="321" y="165"/>
                  <a:pt x="301" y="165"/>
                </a:cubicBezTo>
                <a:cubicBezTo>
                  <a:pt x="281" y="165"/>
                  <a:pt x="265" y="149"/>
                  <a:pt x="265" y="129"/>
                </a:cubicBezTo>
                <a:cubicBezTo>
                  <a:pt x="265" y="109"/>
                  <a:pt x="281" y="93"/>
                  <a:pt x="301" y="93"/>
                </a:cubicBezTo>
                <a:cubicBezTo>
                  <a:pt x="321" y="93"/>
                  <a:pt x="337" y="109"/>
                  <a:pt x="337" y="129"/>
                </a:cubicBezTo>
                <a:close/>
                <a:moveTo>
                  <a:pt x="321" y="129"/>
                </a:moveTo>
                <a:cubicBezTo>
                  <a:pt x="321" y="118"/>
                  <a:pt x="312" y="109"/>
                  <a:pt x="301" y="109"/>
                </a:cubicBezTo>
                <a:cubicBezTo>
                  <a:pt x="290" y="109"/>
                  <a:pt x="281" y="118"/>
                  <a:pt x="281" y="129"/>
                </a:cubicBezTo>
                <a:cubicBezTo>
                  <a:pt x="281" y="140"/>
                  <a:pt x="290" y="149"/>
                  <a:pt x="301" y="149"/>
                </a:cubicBezTo>
                <a:cubicBezTo>
                  <a:pt x="312" y="149"/>
                  <a:pt x="321" y="140"/>
                  <a:pt x="321" y="129"/>
                </a:cubicBezTo>
                <a:close/>
                <a:moveTo>
                  <a:pt x="120" y="129"/>
                </a:moveTo>
                <a:cubicBezTo>
                  <a:pt x="120" y="133"/>
                  <a:pt x="120" y="133"/>
                  <a:pt x="120" y="133"/>
                </a:cubicBezTo>
                <a:cubicBezTo>
                  <a:pt x="164" y="133"/>
                  <a:pt x="213" y="133"/>
                  <a:pt x="254" y="133"/>
                </a:cubicBezTo>
                <a:cubicBezTo>
                  <a:pt x="254" y="129"/>
                  <a:pt x="254" y="129"/>
                  <a:pt x="254" y="129"/>
                </a:cubicBezTo>
                <a:cubicBezTo>
                  <a:pt x="254" y="118"/>
                  <a:pt x="258" y="108"/>
                  <a:pt x="265" y="100"/>
                </a:cubicBezTo>
                <a:cubicBezTo>
                  <a:pt x="110" y="100"/>
                  <a:pt x="110" y="100"/>
                  <a:pt x="110" y="100"/>
                </a:cubicBezTo>
                <a:cubicBezTo>
                  <a:pt x="116" y="108"/>
                  <a:pt x="120" y="118"/>
                  <a:pt x="120" y="129"/>
                </a:cubicBezTo>
                <a:close/>
                <a:moveTo>
                  <a:pt x="368" y="100"/>
                </a:moveTo>
                <a:cubicBezTo>
                  <a:pt x="338" y="100"/>
                  <a:pt x="338" y="100"/>
                  <a:pt x="338" y="100"/>
                </a:cubicBezTo>
                <a:cubicBezTo>
                  <a:pt x="344" y="108"/>
                  <a:pt x="348" y="118"/>
                  <a:pt x="348" y="129"/>
                </a:cubicBezTo>
                <a:cubicBezTo>
                  <a:pt x="348" y="133"/>
                  <a:pt x="348" y="133"/>
                  <a:pt x="348" y="133"/>
                </a:cubicBezTo>
                <a:cubicBezTo>
                  <a:pt x="363" y="129"/>
                  <a:pt x="372" y="128"/>
                  <a:pt x="372" y="118"/>
                </a:cubicBezTo>
                <a:cubicBezTo>
                  <a:pt x="372" y="107"/>
                  <a:pt x="372" y="107"/>
                  <a:pt x="372" y="107"/>
                </a:cubicBezTo>
                <a:cubicBezTo>
                  <a:pt x="372" y="104"/>
                  <a:pt x="370" y="101"/>
                  <a:pt x="368" y="100"/>
                </a:cubicBezTo>
                <a:close/>
                <a:moveTo>
                  <a:pt x="109" y="129"/>
                </a:moveTo>
                <a:cubicBezTo>
                  <a:pt x="109" y="149"/>
                  <a:pt x="93" y="165"/>
                  <a:pt x="73" y="165"/>
                </a:cubicBezTo>
                <a:cubicBezTo>
                  <a:pt x="53" y="165"/>
                  <a:pt x="37" y="149"/>
                  <a:pt x="37" y="129"/>
                </a:cubicBezTo>
                <a:cubicBezTo>
                  <a:pt x="37" y="109"/>
                  <a:pt x="53" y="93"/>
                  <a:pt x="73" y="93"/>
                </a:cubicBezTo>
                <a:cubicBezTo>
                  <a:pt x="93" y="93"/>
                  <a:pt x="109" y="109"/>
                  <a:pt x="109" y="129"/>
                </a:cubicBezTo>
                <a:close/>
                <a:moveTo>
                  <a:pt x="93" y="129"/>
                </a:moveTo>
                <a:cubicBezTo>
                  <a:pt x="93" y="118"/>
                  <a:pt x="84" y="109"/>
                  <a:pt x="73" y="109"/>
                </a:cubicBezTo>
                <a:cubicBezTo>
                  <a:pt x="62" y="109"/>
                  <a:pt x="53" y="118"/>
                  <a:pt x="53" y="129"/>
                </a:cubicBezTo>
                <a:cubicBezTo>
                  <a:pt x="53" y="140"/>
                  <a:pt x="62" y="149"/>
                  <a:pt x="73" y="149"/>
                </a:cubicBezTo>
                <a:cubicBezTo>
                  <a:pt x="84" y="149"/>
                  <a:pt x="93" y="140"/>
                  <a:pt x="93" y="129"/>
                </a:cubicBezTo>
                <a:close/>
                <a:moveTo>
                  <a:pt x="0" y="108"/>
                </a:moveTo>
                <a:cubicBezTo>
                  <a:pt x="0" y="108"/>
                  <a:pt x="0" y="113"/>
                  <a:pt x="0" y="115"/>
                </a:cubicBezTo>
                <a:cubicBezTo>
                  <a:pt x="0" y="121"/>
                  <a:pt x="2" y="125"/>
                  <a:pt x="10" y="128"/>
                </a:cubicBezTo>
                <a:cubicBezTo>
                  <a:pt x="13" y="129"/>
                  <a:pt x="26" y="133"/>
                  <a:pt x="26" y="133"/>
                </a:cubicBezTo>
                <a:cubicBezTo>
                  <a:pt x="26" y="129"/>
                  <a:pt x="26" y="129"/>
                  <a:pt x="26" y="129"/>
                </a:cubicBezTo>
                <a:cubicBezTo>
                  <a:pt x="26" y="118"/>
                  <a:pt x="30" y="108"/>
                  <a:pt x="37" y="100"/>
                </a:cubicBezTo>
                <a:cubicBezTo>
                  <a:pt x="4" y="100"/>
                  <a:pt x="4" y="100"/>
                  <a:pt x="4" y="100"/>
                </a:cubicBezTo>
                <a:cubicBezTo>
                  <a:pt x="2" y="102"/>
                  <a:pt x="0" y="104"/>
                  <a:pt x="0" y="108"/>
                </a:cubicBezTo>
                <a:close/>
                <a:moveTo>
                  <a:pt x="73" y="122"/>
                </a:moveTo>
                <a:cubicBezTo>
                  <a:pt x="69" y="122"/>
                  <a:pt x="66" y="125"/>
                  <a:pt x="66" y="129"/>
                </a:cubicBezTo>
                <a:cubicBezTo>
                  <a:pt x="66" y="133"/>
                  <a:pt x="69" y="136"/>
                  <a:pt x="73" y="136"/>
                </a:cubicBezTo>
                <a:cubicBezTo>
                  <a:pt x="77" y="136"/>
                  <a:pt x="80" y="133"/>
                  <a:pt x="80" y="129"/>
                </a:cubicBezTo>
                <a:cubicBezTo>
                  <a:pt x="80" y="125"/>
                  <a:pt x="77" y="122"/>
                  <a:pt x="73" y="122"/>
                </a:cubicBezTo>
                <a:close/>
                <a:moveTo>
                  <a:pt x="49" y="89"/>
                </a:moveTo>
                <a:cubicBezTo>
                  <a:pt x="8" y="89"/>
                  <a:pt x="8" y="89"/>
                  <a:pt x="8" y="89"/>
                </a:cubicBezTo>
                <a:cubicBezTo>
                  <a:pt x="12" y="67"/>
                  <a:pt x="12" y="67"/>
                  <a:pt x="12" y="67"/>
                </a:cubicBezTo>
                <a:cubicBezTo>
                  <a:pt x="15" y="54"/>
                  <a:pt x="22" y="51"/>
                  <a:pt x="40" y="48"/>
                </a:cubicBezTo>
                <a:cubicBezTo>
                  <a:pt x="65" y="43"/>
                  <a:pt x="96" y="39"/>
                  <a:pt x="96" y="39"/>
                </a:cubicBezTo>
                <a:cubicBezTo>
                  <a:pt x="116" y="21"/>
                  <a:pt x="135" y="0"/>
                  <a:pt x="170" y="0"/>
                </a:cubicBezTo>
                <a:cubicBezTo>
                  <a:pt x="229" y="0"/>
                  <a:pt x="229" y="0"/>
                  <a:pt x="229" y="0"/>
                </a:cubicBezTo>
                <a:cubicBezTo>
                  <a:pt x="233" y="17"/>
                  <a:pt x="234" y="27"/>
                  <a:pt x="235" y="43"/>
                </a:cubicBezTo>
                <a:cubicBezTo>
                  <a:pt x="235" y="89"/>
                  <a:pt x="235" y="89"/>
                  <a:pt x="235" y="89"/>
                </a:cubicBezTo>
                <a:cubicBezTo>
                  <a:pt x="98" y="89"/>
                  <a:pt x="98" y="89"/>
                  <a:pt x="98" y="89"/>
                </a:cubicBezTo>
                <a:cubicBezTo>
                  <a:pt x="91" y="85"/>
                  <a:pt x="82" y="82"/>
                  <a:pt x="73" y="82"/>
                </a:cubicBezTo>
                <a:cubicBezTo>
                  <a:pt x="64" y="82"/>
                  <a:pt x="56" y="85"/>
                  <a:pt x="49" y="89"/>
                </a:cubicBezTo>
                <a:close/>
                <a:moveTo>
                  <a:pt x="153" y="75"/>
                </a:moveTo>
                <a:cubicBezTo>
                  <a:pt x="147" y="56"/>
                  <a:pt x="147" y="56"/>
                  <a:pt x="147" y="56"/>
                </a:cubicBezTo>
                <a:cubicBezTo>
                  <a:pt x="144" y="56"/>
                  <a:pt x="144" y="56"/>
                  <a:pt x="144" y="56"/>
                </a:cubicBezTo>
                <a:cubicBezTo>
                  <a:pt x="137" y="74"/>
                  <a:pt x="137" y="74"/>
                  <a:pt x="137" y="74"/>
                </a:cubicBezTo>
                <a:cubicBezTo>
                  <a:pt x="133" y="68"/>
                  <a:pt x="133" y="68"/>
                  <a:pt x="133" y="68"/>
                </a:cubicBezTo>
                <a:cubicBezTo>
                  <a:pt x="132" y="67"/>
                  <a:pt x="132" y="67"/>
                  <a:pt x="132" y="67"/>
                </a:cubicBezTo>
                <a:cubicBezTo>
                  <a:pt x="133" y="66"/>
                  <a:pt x="134" y="66"/>
                  <a:pt x="135" y="65"/>
                </a:cubicBezTo>
                <a:cubicBezTo>
                  <a:pt x="136" y="64"/>
                  <a:pt x="136" y="63"/>
                  <a:pt x="136" y="61"/>
                </a:cubicBezTo>
                <a:cubicBezTo>
                  <a:pt x="136" y="60"/>
                  <a:pt x="136" y="59"/>
                  <a:pt x="135" y="58"/>
                </a:cubicBezTo>
                <a:cubicBezTo>
                  <a:pt x="135" y="58"/>
                  <a:pt x="135" y="57"/>
                  <a:pt x="134" y="57"/>
                </a:cubicBezTo>
                <a:cubicBezTo>
                  <a:pt x="133" y="56"/>
                  <a:pt x="132" y="56"/>
                  <a:pt x="132" y="56"/>
                </a:cubicBezTo>
                <a:cubicBezTo>
                  <a:pt x="131" y="56"/>
                  <a:pt x="130" y="56"/>
                  <a:pt x="129" y="56"/>
                </a:cubicBezTo>
                <a:cubicBezTo>
                  <a:pt x="129" y="56"/>
                  <a:pt x="128" y="56"/>
                  <a:pt x="128" y="56"/>
                </a:cubicBezTo>
                <a:cubicBezTo>
                  <a:pt x="127" y="56"/>
                  <a:pt x="127" y="56"/>
                  <a:pt x="126" y="56"/>
                </a:cubicBezTo>
                <a:cubicBezTo>
                  <a:pt x="126" y="56"/>
                  <a:pt x="125" y="56"/>
                  <a:pt x="125" y="56"/>
                </a:cubicBezTo>
                <a:cubicBezTo>
                  <a:pt x="125" y="56"/>
                  <a:pt x="124" y="56"/>
                  <a:pt x="124" y="56"/>
                </a:cubicBezTo>
                <a:cubicBezTo>
                  <a:pt x="124" y="75"/>
                  <a:pt x="124" y="75"/>
                  <a:pt x="124" y="75"/>
                </a:cubicBezTo>
                <a:cubicBezTo>
                  <a:pt x="127" y="75"/>
                  <a:pt x="127" y="75"/>
                  <a:pt x="127" y="75"/>
                </a:cubicBezTo>
                <a:cubicBezTo>
                  <a:pt x="127" y="67"/>
                  <a:pt x="127" y="67"/>
                  <a:pt x="127" y="67"/>
                </a:cubicBezTo>
                <a:cubicBezTo>
                  <a:pt x="129" y="67"/>
                  <a:pt x="129" y="67"/>
                  <a:pt x="129" y="67"/>
                </a:cubicBezTo>
                <a:cubicBezTo>
                  <a:pt x="134" y="75"/>
                  <a:pt x="134" y="75"/>
                  <a:pt x="134" y="75"/>
                </a:cubicBezTo>
                <a:cubicBezTo>
                  <a:pt x="137" y="75"/>
                  <a:pt x="137" y="75"/>
                  <a:pt x="137" y="75"/>
                </a:cubicBezTo>
                <a:cubicBezTo>
                  <a:pt x="138" y="75"/>
                  <a:pt x="138" y="75"/>
                  <a:pt x="138" y="75"/>
                </a:cubicBezTo>
                <a:cubicBezTo>
                  <a:pt x="141" y="75"/>
                  <a:pt x="141" y="75"/>
                  <a:pt x="141" y="75"/>
                </a:cubicBezTo>
                <a:cubicBezTo>
                  <a:pt x="142" y="71"/>
                  <a:pt x="142" y="71"/>
                  <a:pt x="142" y="71"/>
                </a:cubicBezTo>
                <a:cubicBezTo>
                  <a:pt x="148" y="71"/>
                  <a:pt x="148" y="71"/>
                  <a:pt x="148" y="71"/>
                </a:cubicBezTo>
                <a:cubicBezTo>
                  <a:pt x="150" y="75"/>
                  <a:pt x="150" y="75"/>
                  <a:pt x="150" y="75"/>
                </a:cubicBezTo>
                <a:lnTo>
                  <a:pt x="153" y="75"/>
                </a:lnTo>
                <a:close/>
                <a:moveTo>
                  <a:pt x="169" y="56"/>
                </a:moveTo>
                <a:cubicBezTo>
                  <a:pt x="166" y="56"/>
                  <a:pt x="166" y="56"/>
                  <a:pt x="166" y="56"/>
                </a:cubicBezTo>
                <a:cubicBezTo>
                  <a:pt x="166" y="66"/>
                  <a:pt x="166" y="66"/>
                  <a:pt x="166" y="66"/>
                </a:cubicBezTo>
                <a:cubicBezTo>
                  <a:pt x="166" y="69"/>
                  <a:pt x="166" y="69"/>
                  <a:pt x="166" y="69"/>
                </a:cubicBezTo>
                <a:cubicBezTo>
                  <a:pt x="166" y="69"/>
                  <a:pt x="166" y="69"/>
                  <a:pt x="166" y="69"/>
                </a:cubicBezTo>
                <a:cubicBezTo>
                  <a:pt x="165" y="66"/>
                  <a:pt x="165" y="66"/>
                  <a:pt x="165" y="66"/>
                </a:cubicBezTo>
                <a:cubicBezTo>
                  <a:pt x="158" y="56"/>
                  <a:pt x="158" y="56"/>
                  <a:pt x="158" y="56"/>
                </a:cubicBezTo>
                <a:cubicBezTo>
                  <a:pt x="155" y="56"/>
                  <a:pt x="155" y="56"/>
                  <a:pt x="155" y="56"/>
                </a:cubicBezTo>
                <a:cubicBezTo>
                  <a:pt x="155" y="75"/>
                  <a:pt x="155" y="75"/>
                  <a:pt x="155" y="75"/>
                </a:cubicBezTo>
                <a:cubicBezTo>
                  <a:pt x="158" y="75"/>
                  <a:pt x="158" y="75"/>
                  <a:pt x="158" y="75"/>
                </a:cubicBezTo>
                <a:cubicBezTo>
                  <a:pt x="158" y="65"/>
                  <a:pt x="158" y="65"/>
                  <a:pt x="158" y="65"/>
                </a:cubicBezTo>
                <a:cubicBezTo>
                  <a:pt x="158" y="62"/>
                  <a:pt x="158" y="62"/>
                  <a:pt x="158" y="62"/>
                </a:cubicBezTo>
                <a:cubicBezTo>
                  <a:pt x="158" y="62"/>
                  <a:pt x="158" y="62"/>
                  <a:pt x="158" y="62"/>
                </a:cubicBezTo>
                <a:cubicBezTo>
                  <a:pt x="160" y="65"/>
                  <a:pt x="160" y="65"/>
                  <a:pt x="160" y="65"/>
                </a:cubicBezTo>
                <a:cubicBezTo>
                  <a:pt x="167" y="75"/>
                  <a:pt x="167" y="75"/>
                  <a:pt x="167" y="75"/>
                </a:cubicBezTo>
                <a:cubicBezTo>
                  <a:pt x="169" y="75"/>
                  <a:pt x="169" y="75"/>
                  <a:pt x="169" y="75"/>
                </a:cubicBezTo>
                <a:lnTo>
                  <a:pt x="169" y="56"/>
                </a:lnTo>
                <a:close/>
                <a:moveTo>
                  <a:pt x="200" y="71"/>
                </a:moveTo>
                <a:cubicBezTo>
                  <a:pt x="193" y="71"/>
                  <a:pt x="193" y="71"/>
                  <a:pt x="193" y="71"/>
                </a:cubicBezTo>
                <a:cubicBezTo>
                  <a:pt x="193" y="67"/>
                  <a:pt x="193" y="67"/>
                  <a:pt x="193" y="67"/>
                </a:cubicBezTo>
                <a:cubicBezTo>
                  <a:pt x="199" y="67"/>
                  <a:pt x="199" y="67"/>
                  <a:pt x="199" y="67"/>
                </a:cubicBezTo>
                <a:cubicBezTo>
                  <a:pt x="199" y="64"/>
                  <a:pt x="199" y="64"/>
                  <a:pt x="199" y="64"/>
                </a:cubicBezTo>
                <a:cubicBezTo>
                  <a:pt x="193" y="64"/>
                  <a:pt x="193" y="64"/>
                  <a:pt x="193" y="64"/>
                </a:cubicBezTo>
                <a:cubicBezTo>
                  <a:pt x="193" y="59"/>
                  <a:pt x="193" y="59"/>
                  <a:pt x="193" y="59"/>
                </a:cubicBezTo>
                <a:cubicBezTo>
                  <a:pt x="200" y="59"/>
                  <a:pt x="200" y="59"/>
                  <a:pt x="200" y="59"/>
                </a:cubicBezTo>
                <a:cubicBezTo>
                  <a:pt x="200" y="56"/>
                  <a:pt x="200" y="56"/>
                  <a:pt x="200" y="56"/>
                </a:cubicBezTo>
                <a:cubicBezTo>
                  <a:pt x="189" y="56"/>
                  <a:pt x="189" y="56"/>
                  <a:pt x="189" y="56"/>
                </a:cubicBezTo>
                <a:cubicBezTo>
                  <a:pt x="189" y="75"/>
                  <a:pt x="189" y="75"/>
                  <a:pt x="189" y="75"/>
                </a:cubicBezTo>
                <a:cubicBezTo>
                  <a:pt x="200" y="75"/>
                  <a:pt x="200" y="75"/>
                  <a:pt x="200" y="75"/>
                </a:cubicBezTo>
                <a:lnTo>
                  <a:pt x="200" y="71"/>
                </a:lnTo>
                <a:close/>
                <a:moveTo>
                  <a:pt x="217" y="75"/>
                </a:moveTo>
                <a:cubicBezTo>
                  <a:pt x="213" y="68"/>
                  <a:pt x="213" y="68"/>
                  <a:pt x="213" y="68"/>
                </a:cubicBezTo>
                <a:cubicBezTo>
                  <a:pt x="211" y="67"/>
                  <a:pt x="211" y="67"/>
                  <a:pt x="211" y="67"/>
                </a:cubicBezTo>
                <a:cubicBezTo>
                  <a:pt x="212" y="66"/>
                  <a:pt x="213" y="66"/>
                  <a:pt x="214" y="65"/>
                </a:cubicBezTo>
                <a:cubicBezTo>
                  <a:pt x="215" y="64"/>
                  <a:pt x="215" y="63"/>
                  <a:pt x="215" y="61"/>
                </a:cubicBezTo>
                <a:cubicBezTo>
                  <a:pt x="215" y="60"/>
                  <a:pt x="215" y="59"/>
                  <a:pt x="215" y="58"/>
                </a:cubicBezTo>
                <a:cubicBezTo>
                  <a:pt x="214" y="58"/>
                  <a:pt x="214" y="57"/>
                  <a:pt x="213" y="57"/>
                </a:cubicBezTo>
                <a:cubicBezTo>
                  <a:pt x="212" y="56"/>
                  <a:pt x="212" y="56"/>
                  <a:pt x="211" y="56"/>
                </a:cubicBezTo>
                <a:cubicBezTo>
                  <a:pt x="210" y="56"/>
                  <a:pt x="209" y="56"/>
                  <a:pt x="208" y="56"/>
                </a:cubicBezTo>
                <a:cubicBezTo>
                  <a:pt x="208" y="56"/>
                  <a:pt x="207" y="56"/>
                  <a:pt x="207" y="56"/>
                </a:cubicBezTo>
                <a:cubicBezTo>
                  <a:pt x="206" y="56"/>
                  <a:pt x="206" y="56"/>
                  <a:pt x="206" y="56"/>
                </a:cubicBezTo>
                <a:cubicBezTo>
                  <a:pt x="205" y="56"/>
                  <a:pt x="205" y="56"/>
                  <a:pt x="204" y="56"/>
                </a:cubicBezTo>
                <a:cubicBezTo>
                  <a:pt x="204" y="56"/>
                  <a:pt x="203" y="56"/>
                  <a:pt x="203" y="56"/>
                </a:cubicBezTo>
                <a:cubicBezTo>
                  <a:pt x="203" y="75"/>
                  <a:pt x="203" y="75"/>
                  <a:pt x="203" y="75"/>
                </a:cubicBezTo>
                <a:cubicBezTo>
                  <a:pt x="206" y="75"/>
                  <a:pt x="206" y="75"/>
                  <a:pt x="206" y="75"/>
                </a:cubicBezTo>
                <a:cubicBezTo>
                  <a:pt x="206" y="67"/>
                  <a:pt x="206" y="67"/>
                  <a:pt x="206" y="67"/>
                </a:cubicBezTo>
                <a:cubicBezTo>
                  <a:pt x="208" y="67"/>
                  <a:pt x="208" y="67"/>
                  <a:pt x="208" y="67"/>
                </a:cubicBezTo>
                <a:cubicBezTo>
                  <a:pt x="213" y="75"/>
                  <a:pt x="213" y="75"/>
                  <a:pt x="213" y="75"/>
                </a:cubicBezTo>
                <a:lnTo>
                  <a:pt x="217" y="75"/>
                </a:lnTo>
                <a:close/>
                <a:moveTo>
                  <a:pt x="189" y="43"/>
                </a:moveTo>
                <a:cubicBezTo>
                  <a:pt x="221" y="43"/>
                  <a:pt x="221" y="43"/>
                  <a:pt x="221" y="43"/>
                </a:cubicBezTo>
                <a:cubicBezTo>
                  <a:pt x="220" y="33"/>
                  <a:pt x="220" y="24"/>
                  <a:pt x="218" y="14"/>
                </a:cubicBezTo>
                <a:cubicBezTo>
                  <a:pt x="189" y="14"/>
                  <a:pt x="189" y="14"/>
                  <a:pt x="189" y="14"/>
                </a:cubicBezTo>
                <a:lnTo>
                  <a:pt x="189" y="43"/>
                </a:lnTo>
                <a:close/>
                <a:moveTo>
                  <a:pt x="178" y="56"/>
                </a:moveTo>
                <a:cubicBezTo>
                  <a:pt x="176" y="56"/>
                  <a:pt x="176" y="57"/>
                  <a:pt x="175" y="58"/>
                </a:cubicBezTo>
                <a:cubicBezTo>
                  <a:pt x="174" y="59"/>
                  <a:pt x="173" y="60"/>
                  <a:pt x="173" y="61"/>
                </a:cubicBezTo>
                <a:cubicBezTo>
                  <a:pt x="172" y="62"/>
                  <a:pt x="172" y="64"/>
                  <a:pt x="172" y="65"/>
                </a:cubicBezTo>
                <a:cubicBezTo>
                  <a:pt x="172" y="67"/>
                  <a:pt x="172" y="69"/>
                  <a:pt x="173" y="70"/>
                </a:cubicBezTo>
                <a:cubicBezTo>
                  <a:pt x="173" y="71"/>
                  <a:pt x="174" y="72"/>
                  <a:pt x="174" y="73"/>
                </a:cubicBezTo>
                <a:cubicBezTo>
                  <a:pt x="175" y="74"/>
                  <a:pt x="176" y="74"/>
                  <a:pt x="177" y="75"/>
                </a:cubicBezTo>
                <a:cubicBezTo>
                  <a:pt x="178" y="75"/>
                  <a:pt x="179" y="75"/>
                  <a:pt x="180" y="75"/>
                </a:cubicBezTo>
                <a:cubicBezTo>
                  <a:pt x="181" y="75"/>
                  <a:pt x="182" y="75"/>
                  <a:pt x="183" y="75"/>
                </a:cubicBezTo>
                <a:cubicBezTo>
                  <a:pt x="184" y="74"/>
                  <a:pt x="185" y="74"/>
                  <a:pt x="186" y="73"/>
                </a:cubicBezTo>
                <a:cubicBezTo>
                  <a:pt x="186" y="65"/>
                  <a:pt x="186" y="65"/>
                  <a:pt x="186" y="65"/>
                </a:cubicBezTo>
                <a:cubicBezTo>
                  <a:pt x="179" y="65"/>
                  <a:pt x="179" y="65"/>
                  <a:pt x="179" y="65"/>
                </a:cubicBezTo>
                <a:cubicBezTo>
                  <a:pt x="179" y="67"/>
                  <a:pt x="179" y="67"/>
                  <a:pt x="179" y="67"/>
                </a:cubicBezTo>
                <a:cubicBezTo>
                  <a:pt x="183" y="68"/>
                  <a:pt x="183" y="68"/>
                  <a:pt x="183" y="68"/>
                </a:cubicBezTo>
                <a:cubicBezTo>
                  <a:pt x="183" y="71"/>
                  <a:pt x="183" y="71"/>
                  <a:pt x="183" y="71"/>
                </a:cubicBezTo>
                <a:cubicBezTo>
                  <a:pt x="183" y="71"/>
                  <a:pt x="183" y="72"/>
                  <a:pt x="182" y="72"/>
                </a:cubicBezTo>
                <a:cubicBezTo>
                  <a:pt x="182" y="72"/>
                  <a:pt x="181" y="72"/>
                  <a:pt x="181" y="72"/>
                </a:cubicBezTo>
                <a:cubicBezTo>
                  <a:pt x="180" y="72"/>
                  <a:pt x="179" y="72"/>
                  <a:pt x="179" y="71"/>
                </a:cubicBezTo>
                <a:cubicBezTo>
                  <a:pt x="178" y="71"/>
                  <a:pt x="178" y="71"/>
                  <a:pt x="177" y="70"/>
                </a:cubicBezTo>
                <a:cubicBezTo>
                  <a:pt x="177" y="70"/>
                  <a:pt x="176" y="69"/>
                  <a:pt x="176" y="68"/>
                </a:cubicBezTo>
                <a:cubicBezTo>
                  <a:pt x="176" y="67"/>
                  <a:pt x="176" y="67"/>
                  <a:pt x="176" y="65"/>
                </a:cubicBezTo>
                <a:cubicBezTo>
                  <a:pt x="176" y="64"/>
                  <a:pt x="176" y="63"/>
                  <a:pt x="176" y="62"/>
                </a:cubicBezTo>
                <a:cubicBezTo>
                  <a:pt x="176" y="62"/>
                  <a:pt x="177" y="61"/>
                  <a:pt x="177" y="60"/>
                </a:cubicBezTo>
                <a:cubicBezTo>
                  <a:pt x="178" y="60"/>
                  <a:pt x="178" y="59"/>
                  <a:pt x="179" y="59"/>
                </a:cubicBezTo>
                <a:cubicBezTo>
                  <a:pt x="180" y="59"/>
                  <a:pt x="180" y="59"/>
                  <a:pt x="181" y="59"/>
                </a:cubicBezTo>
                <a:cubicBezTo>
                  <a:pt x="182" y="59"/>
                  <a:pt x="183" y="59"/>
                  <a:pt x="183" y="59"/>
                </a:cubicBezTo>
                <a:cubicBezTo>
                  <a:pt x="184" y="59"/>
                  <a:pt x="184" y="59"/>
                  <a:pt x="185" y="59"/>
                </a:cubicBezTo>
                <a:cubicBezTo>
                  <a:pt x="185" y="56"/>
                  <a:pt x="185" y="56"/>
                  <a:pt x="185" y="56"/>
                </a:cubicBezTo>
                <a:cubicBezTo>
                  <a:pt x="185" y="56"/>
                  <a:pt x="184" y="56"/>
                  <a:pt x="184" y="56"/>
                </a:cubicBezTo>
                <a:cubicBezTo>
                  <a:pt x="183" y="56"/>
                  <a:pt x="182" y="56"/>
                  <a:pt x="181" y="56"/>
                </a:cubicBezTo>
                <a:cubicBezTo>
                  <a:pt x="180" y="56"/>
                  <a:pt x="179" y="56"/>
                  <a:pt x="178" y="56"/>
                </a:cubicBezTo>
                <a:close/>
                <a:moveTo>
                  <a:pt x="112" y="43"/>
                </a:moveTo>
                <a:cubicBezTo>
                  <a:pt x="175" y="43"/>
                  <a:pt x="175" y="43"/>
                  <a:pt x="175" y="43"/>
                </a:cubicBezTo>
                <a:cubicBezTo>
                  <a:pt x="175" y="14"/>
                  <a:pt x="175" y="14"/>
                  <a:pt x="175" y="14"/>
                </a:cubicBezTo>
                <a:cubicBezTo>
                  <a:pt x="170" y="14"/>
                  <a:pt x="170" y="14"/>
                  <a:pt x="170" y="14"/>
                </a:cubicBezTo>
                <a:cubicBezTo>
                  <a:pt x="144" y="14"/>
                  <a:pt x="129" y="27"/>
                  <a:pt x="112" y="43"/>
                </a:cubicBezTo>
                <a:close/>
                <a:moveTo>
                  <a:pt x="25" y="76"/>
                </a:moveTo>
                <a:cubicBezTo>
                  <a:pt x="36" y="76"/>
                  <a:pt x="44" y="76"/>
                  <a:pt x="50" y="70"/>
                </a:cubicBezTo>
                <a:cubicBezTo>
                  <a:pt x="52" y="68"/>
                  <a:pt x="52" y="67"/>
                  <a:pt x="55" y="65"/>
                </a:cubicBezTo>
                <a:cubicBezTo>
                  <a:pt x="57" y="62"/>
                  <a:pt x="56" y="59"/>
                  <a:pt x="53" y="59"/>
                </a:cubicBezTo>
                <a:cubicBezTo>
                  <a:pt x="51" y="59"/>
                  <a:pt x="34" y="59"/>
                  <a:pt x="26" y="59"/>
                </a:cubicBezTo>
                <a:cubicBezTo>
                  <a:pt x="22" y="62"/>
                  <a:pt x="20" y="64"/>
                  <a:pt x="20" y="69"/>
                </a:cubicBezTo>
                <a:cubicBezTo>
                  <a:pt x="18" y="76"/>
                  <a:pt x="18" y="76"/>
                  <a:pt x="18" y="76"/>
                </a:cubicBezTo>
                <a:lnTo>
                  <a:pt x="25" y="76"/>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12" name="Freeform 96"/>
          <p:cNvSpPr>
            <a:spLocks noEditPoints="1"/>
          </p:cNvSpPr>
          <p:nvPr/>
        </p:nvSpPr>
        <p:spPr bwMode="gray">
          <a:xfrm>
            <a:off x="2205139" y="4110874"/>
            <a:ext cx="357291" cy="350453"/>
          </a:xfrm>
          <a:custGeom>
            <a:avLst/>
            <a:gdLst/>
            <a:ahLst/>
            <a:cxnLst>
              <a:cxn ang="0">
                <a:pos x="729" y="133"/>
              </a:cxn>
              <a:cxn ang="0">
                <a:pos x="562" y="94"/>
              </a:cxn>
              <a:cxn ang="0">
                <a:pos x="542" y="313"/>
              </a:cxn>
              <a:cxn ang="0">
                <a:pos x="775" y="449"/>
              </a:cxn>
              <a:cxn ang="0">
                <a:pos x="752" y="316"/>
              </a:cxn>
              <a:cxn ang="0">
                <a:pos x="863" y="449"/>
              </a:cxn>
              <a:cxn ang="0">
                <a:pos x="725" y="229"/>
              </a:cxn>
              <a:cxn ang="0">
                <a:pos x="653" y="281"/>
              </a:cxn>
              <a:cxn ang="0">
                <a:pos x="646" y="221"/>
              </a:cxn>
              <a:cxn ang="0">
                <a:pos x="638" y="281"/>
              </a:cxn>
              <a:cxn ang="0">
                <a:pos x="567" y="229"/>
              </a:cxn>
              <a:cxn ang="0">
                <a:pos x="428" y="449"/>
              </a:cxn>
              <a:cxn ang="0">
                <a:pos x="542" y="313"/>
              </a:cxn>
              <a:cxn ang="0">
                <a:pos x="415" y="513"/>
              </a:cxn>
              <a:cxn ang="0">
                <a:pos x="909" y="459"/>
              </a:cxn>
              <a:cxn ang="0">
                <a:pos x="312" y="211"/>
              </a:cxn>
              <a:cxn ang="0">
                <a:pos x="278" y="203"/>
              </a:cxn>
              <a:cxn ang="0">
                <a:pos x="121" y="203"/>
              </a:cxn>
              <a:cxn ang="0">
                <a:pos x="28" y="287"/>
              </a:cxn>
              <a:cxn ang="0">
                <a:pos x="3" y="556"/>
              </a:cxn>
              <a:cxn ang="0">
                <a:pos x="37" y="586"/>
              </a:cxn>
              <a:cxn ang="0">
                <a:pos x="64" y="479"/>
              </a:cxn>
              <a:cxn ang="0">
                <a:pos x="92" y="899"/>
              </a:cxn>
              <a:cxn ang="0">
                <a:pos x="191" y="899"/>
              </a:cxn>
              <a:cxn ang="0">
                <a:pos x="210" y="538"/>
              </a:cxn>
              <a:cxn ang="0">
                <a:pos x="259" y="949"/>
              </a:cxn>
              <a:cxn ang="0">
                <a:pos x="309" y="299"/>
              </a:cxn>
              <a:cxn ang="0">
                <a:pos x="336" y="479"/>
              </a:cxn>
              <a:cxn ang="0">
                <a:pos x="364" y="586"/>
              </a:cxn>
              <a:cxn ang="0">
                <a:pos x="398" y="556"/>
              </a:cxn>
              <a:cxn ang="0">
                <a:pos x="355" y="251"/>
              </a:cxn>
              <a:cxn ang="0">
                <a:pos x="200" y="180"/>
              </a:cxn>
              <a:cxn ang="0">
                <a:pos x="200" y="0"/>
              </a:cxn>
              <a:cxn ang="0">
                <a:pos x="200" y="180"/>
              </a:cxn>
            </a:cxnLst>
            <a:rect l="0" t="0" r="r" b="b"/>
            <a:pathLst>
              <a:path w="909" h="949">
                <a:moveTo>
                  <a:pt x="626" y="197"/>
                </a:moveTo>
                <a:cubicBezTo>
                  <a:pt x="672" y="208"/>
                  <a:pt x="719" y="179"/>
                  <a:pt x="729" y="133"/>
                </a:cubicBezTo>
                <a:cubicBezTo>
                  <a:pt x="740" y="87"/>
                  <a:pt x="711" y="40"/>
                  <a:pt x="665" y="30"/>
                </a:cubicBezTo>
                <a:cubicBezTo>
                  <a:pt x="619" y="19"/>
                  <a:pt x="573" y="48"/>
                  <a:pt x="562" y="94"/>
                </a:cubicBezTo>
                <a:cubicBezTo>
                  <a:pt x="551" y="140"/>
                  <a:pt x="580" y="186"/>
                  <a:pt x="626" y="197"/>
                </a:cubicBezTo>
                <a:close/>
                <a:moveTo>
                  <a:pt x="542" y="313"/>
                </a:moveTo>
                <a:cubicBezTo>
                  <a:pt x="516" y="449"/>
                  <a:pt x="516" y="449"/>
                  <a:pt x="516" y="449"/>
                </a:cubicBezTo>
                <a:cubicBezTo>
                  <a:pt x="775" y="449"/>
                  <a:pt x="775" y="449"/>
                  <a:pt x="775" y="449"/>
                </a:cubicBezTo>
                <a:cubicBezTo>
                  <a:pt x="749" y="313"/>
                  <a:pt x="749" y="313"/>
                  <a:pt x="749" y="313"/>
                </a:cubicBezTo>
                <a:cubicBezTo>
                  <a:pt x="750" y="314"/>
                  <a:pt x="751" y="315"/>
                  <a:pt x="752" y="316"/>
                </a:cubicBezTo>
                <a:cubicBezTo>
                  <a:pt x="771" y="341"/>
                  <a:pt x="793" y="382"/>
                  <a:pt x="810" y="449"/>
                </a:cubicBezTo>
                <a:cubicBezTo>
                  <a:pt x="863" y="449"/>
                  <a:pt x="863" y="449"/>
                  <a:pt x="863" y="449"/>
                </a:cubicBezTo>
                <a:cubicBezTo>
                  <a:pt x="843" y="359"/>
                  <a:pt x="812" y="305"/>
                  <a:pt x="782" y="272"/>
                </a:cubicBezTo>
                <a:cubicBezTo>
                  <a:pt x="761" y="247"/>
                  <a:pt x="740" y="235"/>
                  <a:pt x="725" y="229"/>
                </a:cubicBezTo>
                <a:cubicBezTo>
                  <a:pt x="665" y="328"/>
                  <a:pt x="665" y="328"/>
                  <a:pt x="665" y="328"/>
                </a:cubicBezTo>
                <a:cubicBezTo>
                  <a:pt x="653" y="281"/>
                  <a:pt x="653" y="281"/>
                  <a:pt x="653" y="281"/>
                </a:cubicBezTo>
                <a:cubicBezTo>
                  <a:pt x="688" y="224"/>
                  <a:pt x="688" y="224"/>
                  <a:pt x="688" y="224"/>
                </a:cubicBezTo>
                <a:cubicBezTo>
                  <a:pt x="676" y="223"/>
                  <a:pt x="662" y="221"/>
                  <a:pt x="646" y="221"/>
                </a:cubicBezTo>
                <a:cubicBezTo>
                  <a:pt x="629" y="221"/>
                  <a:pt x="615" y="223"/>
                  <a:pt x="603" y="224"/>
                </a:cubicBezTo>
                <a:cubicBezTo>
                  <a:pt x="638" y="281"/>
                  <a:pt x="638" y="281"/>
                  <a:pt x="638" y="281"/>
                </a:cubicBezTo>
                <a:cubicBezTo>
                  <a:pt x="626" y="328"/>
                  <a:pt x="626" y="328"/>
                  <a:pt x="626" y="328"/>
                </a:cubicBezTo>
                <a:cubicBezTo>
                  <a:pt x="567" y="229"/>
                  <a:pt x="567" y="229"/>
                  <a:pt x="567" y="229"/>
                </a:cubicBezTo>
                <a:cubicBezTo>
                  <a:pt x="552" y="235"/>
                  <a:pt x="531" y="247"/>
                  <a:pt x="509" y="272"/>
                </a:cubicBezTo>
                <a:cubicBezTo>
                  <a:pt x="479" y="305"/>
                  <a:pt x="448" y="359"/>
                  <a:pt x="428" y="449"/>
                </a:cubicBezTo>
                <a:cubicBezTo>
                  <a:pt x="481" y="449"/>
                  <a:pt x="481" y="449"/>
                  <a:pt x="481" y="449"/>
                </a:cubicBezTo>
                <a:cubicBezTo>
                  <a:pt x="499" y="380"/>
                  <a:pt x="522" y="338"/>
                  <a:pt x="542" y="313"/>
                </a:cubicBezTo>
                <a:close/>
                <a:moveTo>
                  <a:pt x="415" y="459"/>
                </a:moveTo>
                <a:cubicBezTo>
                  <a:pt x="415" y="513"/>
                  <a:pt x="415" y="513"/>
                  <a:pt x="415" y="513"/>
                </a:cubicBezTo>
                <a:cubicBezTo>
                  <a:pt x="909" y="513"/>
                  <a:pt x="909" y="513"/>
                  <a:pt x="909" y="513"/>
                </a:cubicBezTo>
                <a:cubicBezTo>
                  <a:pt x="909" y="459"/>
                  <a:pt x="909" y="459"/>
                  <a:pt x="909" y="459"/>
                </a:cubicBezTo>
                <a:lnTo>
                  <a:pt x="415" y="459"/>
                </a:lnTo>
                <a:close/>
                <a:moveTo>
                  <a:pt x="312" y="211"/>
                </a:moveTo>
                <a:cubicBezTo>
                  <a:pt x="299" y="205"/>
                  <a:pt x="287" y="203"/>
                  <a:pt x="280" y="203"/>
                </a:cubicBezTo>
                <a:cubicBezTo>
                  <a:pt x="279" y="203"/>
                  <a:pt x="278" y="203"/>
                  <a:pt x="278" y="203"/>
                </a:cubicBezTo>
                <a:cubicBezTo>
                  <a:pt x="123" y="203"/>
                  <a:pt x="123" y="203"/>
                  <a:pt x="123" y="203"/>
                </a:cubicBezTo>
                <a:cubicBezTo>
                  <a:pt x="122" y="203"/>
                  <a:pt x="122" y="203"/>
                  <a:pt x="121" y="203"/>
                </a:cubicBezTo>
                <a:cubicBezTo>
                  <a:pt x="114" y="203"/>
                  <a:pt x="102" y="205"/>
                  <a:pt x="89" y="211"/>
                </a:cubicBezTo>
                <a:cubicBezTo>
                  <a:pt x="67" y="222"/>
                  <a:pt x="44" y="245"/>
                  <a:pt x="28" y="287"/>
                </a:cubicBezTo>
                <a:cubicBezTo>
                  <a:pt x="11" y="328"/>
                  <a:pt x="0" y="388"/>
                  <a:pt x="0" y="479"/>
                </a:cubicBezTo>
                <a:cubicBezTo>
                  <a:pt x="0" y="502"/>
                  <a:pt x="1" y="528"/>
                  <a:pt x="3" y="556"/>
                </a:cubicBezTo>
                <a:cubicBezTo>
                  <a:pt x="4" y="573"/>
                  <a:pt x="18" y="586"/>
                  <a:pt x="35" y="586"/>
                </a:cubicBezTo>
                <a:cubicBezTo>
                  <a:pt x="35" y="586"/>
                  <a:pt x="36" y="586"/>
                  <a:pt x="37" y="586"/>
                </a:cubicBezTo>
                <a:cubicBezTo>
                  <a:pt x="54" y="585"/>
                  <a:pt x="68" y="570"/>
                  <a:pt x="67" y="552"/>
                </a:cubicBezTo>
                <a:cubicBezTo>
                  <a:pt x="65" y="525"/>
                  <a:pt x="64" y="501"/>
                  <a:pt x="64" y="479"/>
                </a:cubicBezTo>
                <a:cubicBezTo>
                  <a:pt x="64" y="382"/>
                  <a:pt x="78" y="328"/>
                  <a:pt x="92" y="299"/>
                </a:cubicBezTo>
                <a:cubicBezTo>
                  <a:pt x="92" y="899"/>
                  <a:pt x="92" y="899"/>
                  <a:pt x="92" y="899"/>
                </a:cubicBezTo>
                <a:cubicBezTo>
                  <a:pt x="92" y="927"/>
                  <a:pt x="114" y="949"/>
                  <a:pt x="142" y="949"/>
                </a:cubicBezTo>
                <a:cubicBezTo>
                  <a:pt x="169" y="949"/>
                  <a:pt x="191" y="927"/>
                  <a:pt x="191" y="899"/>
                </a:cubicBezTo>
                <a:cubicBezTo>
                  <a:pt x="191" y="538"/>
                  <a:pt x="191" y="538"/>
                  <a:pt x="191" y="538"/>
                </a:cubicBezTo>
                <a:cubicBezTo>
                  <a:pt x="210" y="538"/>
                  <a:pt x="210" y="538"/>
                  <a:pt x="210" y="538"/>
                </a:cubicBezTo>
                <a:cubicBezTo>
                  <a:pt x="210" y="899"/>
                  <a:pt x="210" y="899"/>
                  <a:pt x="210" y="899"/>
                </a:cubicBezTo>
                <a:cubicBezTo>
                  <a:pt x="210" y="927"/>
                  <a:pt x="232" y="949"/>
                  <a:pt x="259" y="949"/>
                </a:cubicBezTo>
                <a:cubicBezTo>
                  <a:pt x="286" y="949"/>
                  <a:pt x="309" y="927"/>
                  <a:pt x="309" y="899"/>
                </a:cubicBezTo>
                <a:cubicBezTo>
                  <a:pt x="309" y="299"/>
                  <a:pt x="309" y="299"/>
                  <a:pt x="309" y="299"/>
                </a:cubicBezTo>
                <a:cubicBezTo>
                  <a:pt x="311" y="304"/>
                  <a:pt x="313" y="310"/>
                  <a:pt x="316" y="316"/>
                </a:cubicBezTo>
                <a:cubicBezTo>
                  <a:pt x="327" y="348"/>
                  <a:pt x="336" y="399"/>
                  <a:pt x="336" y="479"/>
                </a:cubicBezTo>
                <a:cubicBezTo>
                  <a:pt x="336" y="501"/>
                  <a:pt x="336" y="525"/>
                  <a:pt x="334" y="552"/>
                </a:cubicBezTo>
                <a:cubicBezTo>
                  <a:pt x="333" y="570"/>
                  <a:pt x="347" y="585"/>
                  <a:pt x="364" y="586"/>
                </a:cubicBezTo>
                <a:cubicBezTo>
                  <a:pt x="365" y="586"/>
                  <a:pt x="366" y="586"/>
                  <a:pt x="366" y="586"/>
                </a:cubicBezTo>
                <a:cubicBezTo>
                  <a:pt x="383" y="586"/>
                  <a:pt x="397" y="573"/>
                  <a:pt x="398" y="556"/>
                </a:cubicBezTo>
                <a:cubicBezTo>
                  <a:pt x="400" y="528"/>
                  <a:pt x="400" y="502"/>
                  <a:pt x="400" y="479"/>
                </a:cubicBezTo>
                <a:cubicBezTo>
                  <a:pt x="400" y="358"/>
                  <a:pt x="381" y="291"/>
                  <a:pt x="355" y="251"/>
                </a:cubicBezTo>
                <a:cubicBezTo>
                  <a:pt x="342" y="231"/>
                  <a:pt x="326" y="219"/>
                  <a:pt x="312" y="211"/>
                </a:cubicBezTo>
                <a:close/>
                <a:moveTo>
                  <a:pt x="200" y="180"/>
                </a:moveTo>
                <a:cubicBezTo>
                  <a:pt x="250" y="180"/>
                  <a:pt x="290" y="140"/>
                  <a:pt x="290" y="90"/>
                </a:cubicBezTo>
                <a:cubicBezTo>
                  <a:pt x="290" y="40"/>
                  <a:pt x="250" y="0"/>
                  <a:pt x="200" y="0"/>
                </a:cubicBezTo>
                <a:cubicBezTo>
                  <a:pt x="151" y="0"/>
                  <a:pt x="110" y="40"/>
                  <a:pt x="110" y="90"/>
                </a:cubicBezTo>
                <a:cubicBezTo>
                  <a:pt x="110" y="140"/>
                  <a:pt x="151" y="180"/>
                  <a:pt x="200" y="180"/>
                </a:cubicBez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13" name="Freeform 173"/>
          <p:cNvSpPr>
            <a:spLocks noEditPoints="1"/>
          </p:cNvSpPr>
          <p:nvPr/>
        </p:nvSpPr>
        <p:spPr bwMode="gray">
          <a:xfrm>
            <a:off x="5026278" y="4109315"/>
            <a:ext cx="331582" cy="333925"/>
          </a:xfrm>
          <a:custGeom>
            <a:avLst/>
            <a:gdLst/>
            <a:ahLst/>
            <a:cxnLst>
              <a:cxn ang="0">
                <a:pos x="8976" y="5808"/>
              </a:cxn>
              <a:cxn ang="0">
                <a:pos x="6336" y="7920"/>
              </a:cxn>
              <a:cxn ang="0">
                <a:pos x="7788" y="13376"/>
              </a:cxn>
              <a:cxn ang="0">
                <a:pos x="8008" y="9636"/>
              </a:cxn>
              <a:cxn ang="0">
                <a:pos x="5720" y="10780"/>
              </a:cxn>
              <a:cxn ang="0">
                <a:pos x="3916" y="12276"/>
              </a:cxn>
              <a:cxn ang="0">
                <a:pos x="4532" y="13376"/>
              </a:cxn>
              <a:cxn ang="0">
                <a:pos x="1804" y="12276"/>
              </a:cxn>
              <a:cxn ang="0">
                <a:pos x="2376" y="10780"/>
              </a:cxn>
              <a:cxn ang="0">
                <a:pos x="0" y="5368"/>
              </a:cxn>
              <a:cxn ang="0">
                <a:pos x="2288" y="9592"/>
              </a:cxn>
              <a:cxn ang="0">
                <a:pos x="3740" y="4268"/>
              </a:cxn>
              <a:cxn ang="0">
                <a:pos x="8712" y="4840"/>
              </a:cxn>
              <a:cxn ang="0">
                <a:pos x="10340" y="5368"/>
              </a:cxn>
              <a:cxn ang="0">
                <a:pos x="12496" y="5808"/>
              </a:cxn>
              <a:cxn ang="0">
                <a:pos x="13640" y="5368"/>
              </a:cxn>
              <a:cxn ang="0">
                <a:pos x="14256" y="3916"/>
              </a:cxn>
              <a:cxn ang="0">
                <a:pos x="13860" y="4972"/>
              </a:cxn>
              <a:cxn ang="0">
                <a:pos x="14124" y="616"/>
              </a:cxn>
              <a:cxn ang="0">
                <a:pos x="14608" y="2376"/>
              </a:cxn>
              <a:cxn ang="0">
                <a:pos x="14960" y="2420"/>
              </a:cxn>
              <a:cxn ang="0">
                <a:pos x="15224" y="2596"/>
              </a:cxn>
              <a:cxn ang="0">
                <a:pos x="15400" y="2860"/>
              </a:cxn>
              <a:cxn ang="0">
                <a:pos x="15444" y="3168"/>
              </a:cxn>
              <a:cxn ang="0">
                <a:pos x="15356" y="3564"/>
              </a:cxn>
              <a:cxn ang="0">
                <a:pos x="15136" y="3828"/>
              </a:cxn>
              <a:cxn ang="0">
                <a:pos x="15840" y="5368"/>
              </a:cxn>
              <a:cxn ang="0">
                <a:pos x="16368" y="5808"/>
              </a:cxn>
              <a:cxn ang="0">
                <a:pos x="16368" y="7216"/>
              </a:cxn>
              <a:cxn ang="0">
                <a:pos x="13860" y="12276"/>
              </a:cxn>
              <a:cxn ang="0">
                <a:pos x="15224" y="13376"/>
              </a:cxn>
              <a:cxn ang="0">
                <a:pos x="10032" y="12276"/>
              </a:cxn>
              <a:cxn ang="0">
                <a:pos x="14476" y="7216"/>
              </a:cxn>
              <a:cxn ang="0">
                <a:pos x="8624" y="5808"/>
              </a:cxn>
              <a:cxn ang="0">
                <a:pos x="5104" y="44"/>
              </a:cxn>
              <a:cxn ang="0">
                <a:pos x="4532" y="264"/>
              </a:cxn>
              <a:cxn ang="0">
                <a:pos x="4092" y="704"/>
              </a:cxn>
              <a:cxn ang="0">
                <a:pos x="3872" y="1276"/>
              </a:cxn>
              <a:cxn ang="0">
                <a:pos x="3872" y="1936"/>
              </a:cxn>
              <a:cxn ang="0">
                <a:pos x="4092" y="2508"/>
              </a:cxn>
              <a:cxn ang="0">
                <a:pos x="4532" y="2904"/>
              </a:cxn>
              <a:cxn ang="0">
                <a:pos x="5104" y="3168"/>
              </a:cxn>
              <a:cxn ang="0">
                <a:pos x="5764" y="3168"/>
              </a:cxn>
              <a:cxn ang="0">
                <a:pos x="6336" y="2904"/>
              </a:cxn>
              <a:cxn ang="0">
                <a:pos x="6776" y="2508"/>
              </a:cxn>
              <a:cxn ang="0">
                <a:pos x="6996" y="1936"/>
              </a:cxn>
              <a:cxn ang="0">
                <a:pos x="6996" y="1276"/>
              </a:cxn>
              <a:cxn ang="0">
                <a:pos x="6776" y="704"/>
              </a:cxn>
              <a:cxn ang="0">
                <a:pos x="6336" y="264"/>
              </a:cxn>
              <a:cxn ang="0">
                <a:pos x="5764" y="44"/>
              </a:cxn>
            </a:cxnLst>
            <a:rect l="0" t="0" r="r" b="b"/>
            <a:pathLst>
              <a:path w="16368" h="13376">
                <a:moveTo>
                  <a:pt x="8624" y="5808"/>
                </a:moveTo>
                <a:lnTo>
                  <a:pt x="8976" y="5808"/>
                </a:lnTo>
                <a:lnTo>
                  <a:pt x="6556" y="5764"/>
                </a:lnTo>
                <a:lnTo>
                  <a:pt x="6336" y="7920"/>
                </a:lnTo>
                <a:lnTo>
                  <a:pt x="9856" y="9064"/>
                </a:lnTo>
                <a:lnTo>
                  <a:pt x="7788" y="13376"/>
                </a:lnTo>
                <a:lnTo>
                  <a:pt x="6644" y="13376"/>
                </a:lnTo>
                <a:lnTo>
                  <a:pt x="8008" y="9636"/>
                </a:lnTo>
                <a:lnTo>
                  <a:pt x="5720" y="9592"/>
                </a:lnTo>
                <a:lnTo>
                  <a:pt x="5720" y="10780"/>
                </a:lnTo>
                <a:lnTo>
                  <a:pt x="3916" y="10780"/>
                </a:lnTo>
                <a:lnTo>
                  <a:pt x="3916" y="12276"/>
                </a:lnTo>
                <a:lnTo>
                  <a:pt x="4532" y="12276"/>
                </a:lnTo>
                <a:lnTo>
                  <a:pt x="4532" y="13376"/>
                </a:lnTo>
                <a:lnTo>
                  <a:pt x="1804" y="13376"/>
                </a:lnTo>
                <a:lnTo>
                  <a:pt x="1804" y="12276"/>
                </a:lnTo>
                <a:lnTo>
                  <a:pt x="2376" y="12276"/>
                </a:lnTo>
                <a:lnTo>
                  <a:pt x="2376" y="10780"/>
                </a:lnTo>
                <a:lnTo>
                  <a:pt x="792" y="10780"/>
                </a:lnTo>
                <a:lnTo>
                  <a:pt x="0" y="5368"/>
                </a:lnTo>
                <a:lnTo>
                  <a:pt x="1672" y="5368"/>
                </a:lnTo>
                <a:lnTo>
                  <a:pt x="2288" y="9592"/>
                </a:lnTo>
                <a:lnTo>
                  <a:pt x="3740" y="9592"/>
                </a:lnTo>
                <a:lnTo>
                  <a:pt x="3740" y="4268"/>
                </a:lnTo>
                <a:lnTo>
                  <a:pt x="3740" y="3608"/>
                </a:lnTo>
                <a:lnTo>
                  <a:pt x="8712" y="4840"/>
                </a:lnTo>
                <a:lnTo>
                  <a:pt x="10295" y="4972"/>
                </a:lnTo>
                <a:lnTo>
                  <a:pt x="10340" y="5368"/>
                </a:lnTo>
                <a:lnTo>
                  <a:pt x="12496" y="5148"/>
                </a:lnTo>
                <a:lnTo>
                  <a:pt x="12496" y="5808"/>
                </a:lnTo>
                <a:lnTo>
                  <a:pt x="13640" y="5808"/>
                </a:lnTo>
                <a:lnTo>
                  <a:pt x="13640" y="5368"/>
                </a:lnTo>
                <a:lnTo>
                  <a:pt x="14256" y="5368"/>
                </a:lnTo>
                <a:lnTo>
                  <a:pt x="14256" y="3916"/>
                </a:lnTo>
                <a:lnTo>
                  <a:pt x="14168" y="3872"/>
                </a:lnTo>
                <a:lnTo>
                  <a:pt x="13860" y="4972"/>
                </a:lnTo>
                <a:lnTo>
                  <a:pt x="13024" y="4752"/>
                </a:lnTo>
                <a:lnTo>
                  <a:pt x="14124" y="616"/>
                </a:lnTo>
                <a:lnTo>
                  <a:pt x="15004" y="880"/>
                </a:lnTo>
                <a:lnTo>
                  <a:pt x="14608" y="2376"/>
                </a:lnTo>
                <a:lnTo>
                  <a:pt x="14784" y="2376"/>
                </a:lnTo>
                <a:lnTo>
                  <a:pt x="14960" y="2420"/>
                </a:lnTo>
                <a:lnTo>
                  <a:pt x="15092" y="2508"/>
                </a:lnTo>
                <a:lnTo>
                  <a:pt x="15224" y="2596"/>
                </a:lnTo>
                <a:lnTo>
                  <a:pt x="15312" y="2728"/>
                </a:lnTo>
                <a:lnTo>
                  <a:pt x="15400" y="2860"/>
                </a:lnTo>
                <a:lnTo>
                  <a:pt x="15444" y="2992"/>
                </a:lnTo>
                <a:lnTo>
                  <a:pt x="15444" y="3168"/>
                </a:lnTo>
                <a:lnTo>
                  <a:pt x="15444" y="3388"/>
                </a:lnTo>
                <a:lnTo>
                  <a:pt x="15356" y="3564"/>
                </a:lnTo>
                <a:lnTo>
                  <a:pt x="15268" y="3696"/>
                </a:lnTo>
                <a:lnTo>
                  <a:pt x="15136" y="3828"/>
                </a:lnTo>
                <a:lnTo>
                  <a:pt x="15136" y="5368"/>
                </a:lnTo>
                <a:lnTo>
                  <a:pt x="15840" y="5368"/>
                </a:lnTo>
                <a:lnTo>
                  <a:pt x="15840" y="5808"/>
                </a:lnTo>
                <a:lnTo>
                  <a:pt x="16368" y="5808"/>
                </a:lnTo>
                <a:lnTo>
                  <a:pt x="16368" y="6687"/>
                </a:lnTo>
                <a:lnTo>
                  <a:pt x="16368" y="7216"/>
                </a:lnTo>
                <a:lnTo>
                  <a:pt x="16148" y="7216"/>
                </a:lnTo>
                <a:lnTo>
                  <a:pt x="13860" y="12276"/>
                </a:lnTo>
                <a:lnTo>
                  <a:pt x="15224" y="12276"/>
                </a:lnTo>
                <a:lnTo>
                  <a:pt x="15224" y="13376"/>
                </a:lnTo>
                <a:lnTo>
                  <a:pt x="10032" y="13376"/>
                </a:lnTo>
                <a:lnTo>
                  <a:pt x="10032" y="12276"/>
                </a:lnTo>
                <a:lnTo>
                  <a:pt x="12188" y="12276"/>
                </a:lnTo>
                <a:lnTo>
                  <a:pt x="14476" y="7216"/>
                </a:lnTo>
                <a:lnTo>
                  <a:pt x="8624" y="7216"/>
                </a:lnTo>
                <a:lnTo>
                  <a:pt x="8624" y="5808"/>
                </a:lnTo>
                <a:close/>
                <a:moveTo>
                  <a:pt x="5412" y="0"/>
                </a:moveTo>
                <a:lnTo>
                  <a:pt x="5104" y="44"/>
                </a:lnTo>
                <a:lnTo>
                  <a:pt x="4796" y="132"/>
                </a:lnTo>
                <a:lnTo>
                  <a:pt x="4532" y="264"/>
                </a:lnTo>
                <a:lnTo>
                  <a:pt x="4312" y="484"/>
                </a:lnTo>
                <a:lnTo>
                  <a:pt x="4092" y="704"/>
                </a:lnTo>
                <a:lnTo>
                  <a:pt x="3960" y="968"/>
                </a:lnTo>
                <a:lnTo>
                  <a:pt x="3872" y="1276"/>
                </a:lnTo>
                <a:lnTo>
                  <a:pt x="3828" y="1584"/>
                </a:lnTo>
                <a:lnTo>
                  <a:pt x="3872" y="1936"/>
                </a:lnTo>
                <a:lnTo>
                  <a:pt x="3960" y="2199"/>
                </a:lnTo>
                <a:lnTo>
                  <a:pt x="4092" y="2508"/>
                </a:lnTo>
                <a:lnTo>
                  <a:pt x="4312" y="2728"/>
                </a:lnTo>
                <a:lnTo>
                  <a:pt x="4532" y="2904"/>
                </a:lnTo>
                <a:lnTo>
                  <a:pt x="4796" y="3080"/>
                </a:lnTo>
                <a:lnTo>
                  <a:pt x="5104" y="3168"/>
                </a:lnTo>
                <a:lnTo>
                  <a:pt x="5412" y="3212"/>
                </a:lnTo>
                <a:lnTo>
                  <a:pt x="5764" y="3168"/>
                </a:lnTo>
                <a:lnTo>
                  <a:pt x="6073" y="3080"/>
                </a:lnTo>
                <a:lnTo>
                  <a:pt x="6336" y="2904"/>
                </a:lnTo>
                <a:lnTo>
                  <a:pt x="6556" y="2728"/>
                </a:lnTo>
                <a:lnTo>
                  <a:pt x="6776" y="2508"/>
                </a:lnTo>
                <a:lnTo>
                  <a:pt x="6908" y="2199"/>
                </a:lnTo>
                <a:lnTo>
                  <a:pt x="6996" y="1936"/>
                </a:lnTo>
                <a:lnTo>
                  <a:pt x="7040" y="1584"/>
                </a:lnTo>
                <a:lnTo>
                  <a:pt x="6996" y="1276"/>
                </a:lnTo>
                <a:lnTo>
                  <a:pt x="6908" y="968"/>
                </a:lnTo>
                <a:lnTo>
                  <a:pt x="6776" y="704"/>
                </a:lnTo>
                <a:lnTo>
                  <a:pt x="6556" y="484"/>
                </a:lnTo>
                <a:lnTo>
                  <a:pt x="6336" y="264"/>
                </a:lnTo>
                <a:lnTo>
                  <a:pt x="6073" y="132"/>
                </a:lnTo>
                <a:lnTo>
                  <a:pt x="5764" y="44"/>
                </a:lnTo>
                <a:lnTo>
                  <a:pt x="5412" y="0"/>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grpSp>
        <p:nvGrpSpPr>
          <p:cNvPr id="14" name="组合 195"/>
          <p:cNvGrpSpPr/>
          <p:nvPr/>
        </p:nvGrpSpPr>
        <p:grpSpPr bwMode="gray">
          <a:xfrm>
            <a:off x="2866542" y="4138113"/>
            <a:ext cx="419530" cy="304951"/>
            <a:chOff x="15097125" y="4749800"/>
            <a:chExt cx="552450" cy="412750"/>
          </a:xfrm>
          <a:solidFill>
            <a:srgbClr val="00B0F0"/>
          </a:solidFill>
        </p:grpSpPr>
        <p:sp>
          <p:nvSpPr>
            <p:cNvPr id="15" name="Freeform 340"/>
            <p:cNvSpPr>
              <a:spLocks/>
            </p:cNvSpPr>
            <p:nvPr/>
          </p:nvSpPr>
          <p:spPr bwMode="gray">
            <a:xfrm>
              <a:off x="15097125" y="4756150"/>
              <a:ext cx="149225" cy="400050"/>
            </a:xfrm>
            <a:custGeom>
              <a:avLst/>
              <a:gdLst/>
              <a:ahLst/>
              <a:cxnLst>
                <a:cxn ang="0">
                  <a:pos x="94" y="252"/>
                </a:cxn>
                <a:cxn ang="0">
                  <a:pos x="94" y="252"/>
                </a:cxn>
                <a:cxn ang="0">
                  <a:pos x="74" y="244"/>
                </a:cxn>
                <a:cxn ang="0">
                  <a:pos x="56" y="232"/>
                </a:cxn>
                <a:cxn ang="0">
                  <a:pos x="40" y="218"/>
                </a:cxn>
                <a:cxn ang="0">
                  <a:pos x="26" y="204"/>
                </a:cxn>
                <a:cxn ang="0">
                  <a:pos x="14" y="186"/>
                </a:cxn>
                <a:cxn ang="0">
                  <a:pos x="6" y="168"/>
                </a:cxn>
                <a:cxn ang="0">
                  <a:pos x="2" y="148"/>
                </a:cxn>
                <a:cxn ang="0">
                  <a:pos x="0" y="126"/>
                </a:cxn>
                <a:cxn ang="0">
                  <a:pos x="0" y="126"/>
                </a:cxn>
                <a:cxn ang="0">
                  <a:pos x="2" y="106"/>
                </a:cxn>
                <a:cxn ang="0">
                  <a:pos x="6" y="86"/>
                </a:cxn>
                <a:cxn ang="0">
                  <a:pos x="14" y="68"/>
                </a:cxn>
                <a:cxn ang="0">
                  <a:pos x="26" y="50"/>
                </a:cxn>
                <a:cxn ang="0">
                  <a:pos x="40" y="34"/>
                </a:cxn>
                <a:cxn ang="0">
                  <a:pos x="56" y="22"/>
                </a:cxn>
                <a:cxn ang="0">
                  <a:pos x="74" y="10"/>
                </a:cxn>
                <a:cxn ang="0">
                  <a:pos x="94" y="0"/>
                </a:cxn>
                <a:cxn ang="0">
                  <a:pos x="94" y="0"/>
                </a:cxn>
                <a:cxn ang="0">
                  <a:pos x="82" y="12"/>
                </a:cxn>
                <a:cxn ang="0">
                  <a:pos x="72" y="24"/>
                </a:cxn>
                <a:cxn ang="0">
                  <a:pos x="62" y="38"/>
                </a:cxn>
                <a:cxn ang="0">
                  <a:pos x="54" y="54"/>
                </a:cxn>
                <a:cxn ang="0">
                  <a:pos x="46" y="70"/>
                </a:cxn>
                <a:cxn ang="0">
                  <a:pos x="42" y="88"/>
                </a:cxn>
                <a:cxn ang="0">
                  <a:pos x="38" y="108"/>
                </a:cxn>
                <a:cxn ang="0">
                  <a:pos x="38" y="126"/>
                </a:cxn>
                <a:cxn ang="0">
                  <a:pos x="38" y="126"/>
                </a:cxn>
                <a:cxn ang="0">
                  <a:pos x="38" y="146"/>
                </a:cxn>
                <a:cxn ang="0">
                  <a:pos x="42" y="166"/>
                </a:cxn>
                <a:cxn ang="0">
                  <a:pos x="46" y="184"/>
                </a:cxn>
                <a:cxn ang="0">
                  <a:pos x="54" y="200"/>
                </a:cxn>
                <a:cxn ang="0">
                  <a:pos x="62" y="216"/>
                </a:cxn>
                <a:cxn ang="0">
                  <a:pos x="72" y="230"/>
                </a:cxn>
                <a:cxn ang="0">
                  <a:pos x="82" y="242"/>
                </a:cxn>
                <a:cxn ang="0">
                  <a:pos x="94" y="252"/>
                </a:cxn>
                <a:cxn ang="0">
                  <a:pos x="94" y="252"/>
                </a:cxn>
              </a:cxnLst>
              <a:rect l="0" t="0" r="r" b="b"/>
              <a:pathLst>
                <a:path w="94" h="252">
                  <a:moveTo>
                    <a:pt x="94" y="252"/>
                  </a:moveTo>
                  <a:lnTo>
                    <a:pt x="94" y="252"/>
                  </a:lnTo>
                  <a:lnTo>
                    <a:pt x="74" y="244"/>
                  </a:lnTo>
                  <a:lnTo>
                    <a:pt x="56" y="232"/>
                  </a:lnTo>
                  <a:lnTo>
                    <a:pt x="40" y="218"/>
                  </a:lnTo>
                  <a:lnTo>
                    <a:pt x="26" y="204"/>
                  </a:lnTo>
                  <a:lnTo>
                    <a:pt x="14" y="186"/>
                  </a:lnTo>
                  <a:lnTo>
                    <a:pt x="6" y="168"/>
                  </a:lnTo>
                  <a:lnTo>
                    <a:pt x="2" y="148"/>
                  </a:lnTo>
                  <a:lnTo>
                    <a:pt x="0" y="126"/>
                  </a:lnTo>
                  <a:lnTo>
                    <a:pt x="0" y="126"/>
                  </a:lnTo>
                  <a:lnTo>
                    <a:pt x="2" y="106"/>
                  </a:lnTo>
                  <a:lnTo>
                    <a:pt x="6" y="86"/>
                  </a:lnTo>
                  <a:lnTo>
                    <a:pt x="14" y="68"/>
                  </a:lnTo>
                  <a:lnTo>
                    <a:pt x="26" y="50"/>
                  </a:lnTo>
                  <a:lnTo>
                    <a:pt x="40" y="34"/>
                  </a:lnTo>
                  <a:lnTo>
                    <a:pt x="56" y="22"/>
                  </a:lnTo>
                  <a:lnTo>
                    <a:pt x="74" y="10"/>
                  </a:lnTo>
                  <a:lnTo>
                    <a:pt x="94" y="0"/>
                  </a:lnTo>
                  <a:lnTo>
                    <a:pt x="94" y="0"/>
                  </a:lnTo>
                  <a:lnTo>
                    <a:pt x="82" y="12"/>
                  </a:lnTo>
                  <a:lnTo>
                    <a:pt x="72" y="24"/>
                  </a:lnTo>
                  <a:lnTo>
                    <a:pt x="62" y="38"/>
                  </a:lnTo>
                  <a:lnTo>
                    <a:pt x="54" y="54"/>
                  </a:lnTo>
                  <a:lnTo>
                    <a:pt x="46" y="70"/>
                  </a:lnTo>
                  <a:lnTo>
                    <a:pt x="42" y="88"/>
                  </a:lnTo>
                  <a:lnTo>
                    <a:pt x="38" y="108"/>
                  </a:lnTo>
                  <a:lnTo>
                    <a:pt x="38" y="126"/>
                  </a:lnTo>
                  <a:lnTo>
                    <a:pt x="38" y="126"/>
                  </a:lnTo>
                  <a:lnTo>
                    <a:pt x="38" y="146"/>
                  </a:lnTo>
                  <a:lnTo>
                    <a:pt x="42" y="166"/>
                  </a:lnTo>
                  <a:lnTo>
                    <a:pt x="46" y="184"/>
                  </a:lnTo>
                  <a:lnTo>
                    <a:pt x="54" y="200"/>
                  </a:lnTo>
                  <a:lnTo>
                    <a:pt x="62" y="216"/>
                  </a:lnTo>
                  <a:lnTo>
                    <a:pt x="72" y="230"/>
                  </a:lnTo>
                  <a:lnTo>
                    <a:pt x="82" y="242"/>
                  </a:lnTo>
                  <a:lnTo>
                    <a:pt x="94" y="252"/>
                  </a:lnTo>
                  <a:lnTo>
                    <a:pt x="94" y="252"/>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16" name="Rectangle 341"/>
            <p:cNvSpPr>
              <a:spLocks noChangeArrowheads="1"/>
            </p:cNvSpPr>
            <p:nvPr/>
          </p:nvSpPr>
          <p:spPr bwMode="gray">
            <a:xfrm>
              <a:off x="15297150" y="4749800"/>
              <a:ext cx="12700" cy="412750"/>
            </a:xfrm>
            <a:prstGeom prst="rect">
              <a:avLst/>
            </a:pr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17" name="Freeform 342"/>
            <p:cNvSpPr>
              <a:spLocks noEditPoints="1"/>
            </p:cNvSpPr>
            <p:nvPr/>
          </p:nvSpPr>
          <p:spPr bwMode="gray">
            <a:xfrm>
              <a:off x="15163800" y="4749800"/>
              <a:ext cx="339725" cy="412750"/>
            </a:xfrm>
            <a:custGeom>
              <a:avLst/>
              <a:gdLst/>
              <a:ahLst/>
              <a:cxnLst>
                <a:cxn ang="0">
                  <a:pos x="200" y="166"/>
                </a:cxn>
                <a:cxn ang="0">
                  <a:pos x="166" y="186"/>
                </a:cxn>
                <a:cxn ang="0">
                  <a:pos x="176" y="144"/>
                </a:cxn>
                <a:cxn ang="0">
                  <a:pos x="162" y="164"/>
                </a:cxn>
                <a:cxn ang="0">
                  <a:pos x="20" y="186"/>
                </a:cxn>
                <a:cxn ang="0">
                  <a:pos x="160" y="134"/>
                </a:cxn>
                <a:cxn ang="0">
                  <a:pos x="10" y="126"/>
                </a:cxn>
                <a:cxn ang="0">
                  <a:pos x="20" y="74"/>
                </a:cxn>
                <a:cxn ang="0">
                  <a:pos x="150" y="66"/>
                </a:cxn>
                <a:cxn ang="0">
                  <a:pos x="28" y="54"/>
                </a:cxn>
                <a:cxn ang="0">
                  <a:pos x="50" y="24"/>
                </a:cxn>
                <a:cxn ang="0">
                  <a:pos x="78" y="10"/>
                </a:cxn>
                <a:cxn ang="0">
                  <a:pos x="88" y="8"/>
                </a:cxn>
                <a:cxn ang="0">
                  <a:pos x="108" y="12"/>
                </a:cxn>
                <a:cxn ang="0">
                  <a:pos x="132" y="32"/>
                </a:cxn>
                <a:cxn ang="0">
                  <a:pos x="152" y="62"/>
                </a:cxn>
                <a:cxn ang="0">
                  <a:pos x="160" y="54"/>
                </a:cxn>
                <a:cxn ang="0">
                  <a:pos x="132" y="16"/>
                </a:cxn>
                <a:cxn ang="0">
                  <a:pos x="154" y="28"/>
                </a:cxn>
                <a:cxn ang="0">
                  <a:pos x="174" y="46"/>
                </a:cxn>
                <a:cxn ang="0">
                  <a:pos x="174" y="34"/>
                </a:cxn>
                <a:cxn ang="0">
                  <a:pos x="142" y="12"/>
                </a:cxn>
                <a:cxn ang="0">
                  <a:pos x="104" y="0"/>
                </a:cxn>
                <a:cxn ang="0">
                  <a:pos x="88" y="0"/>
                </a:cxn>
                <a:cxn ang="0">
                  <a:pos x="88" y="0"/>
                </a:cxn>
                <a:cxn ang="0">
                  <a:pos x="86" y="0"/>
                </a:cxn>
                <a:cxn ang="0">
                  <a:pos x="78" y="0"/>
                </a:cxn>
                <a:cxn ang="0">
                  <a:pos x="38" y="22"/>
                </a:cxn>
                <a:cxn ang="0">
                  <a:pos x="8" y="80"/>
                </a:cxn>
                <a:cxn ang="0">
                  <a:pos x="0" y="130"/>
                </a:cxn>
                <a:cxn ang="0">
                  <a:pos x="16" y="202"/>
                </a:cxn>
                <a:cxn ang="0">
                  <a:pos x="54" y="250"/>
                </a:cxn>
                <a:cxn ang="0">
                  <a:pos x="80" y="260"/>
                </a:cxn>
                <a:cxn ang="0">
                  <a:pos x="98" y="260"/>
                </a:cxn>
                <a:cxn ang="0">
                  <a:pos x="140" y="248"/>
                </a:cxn>
                <a:cxn ang="0">
                  <a:pos x="192" y="206"/>
                </a:cxn>
                <a:cxn ang="0">
                  <a:pos x="214" y="142"/>
                </a:cxn>
                <a:cxn ang="0">
                  <a:pos x="206" y="146"/>
                </a:cxn>
                <a:cxn ang="0">
                  <a:pos x="90" y="250"/>
                </a:cxn>
                <a:cxn ang="0">
                  <a:pos x="86" y="252"/>
                </a:cxn>
                <a:cxn ang="0">
                  <a:pos x="66" y="246"/>
                </a:cxn>
                <a:cxn ang="0">
                  <a:pos x="42" y="228"/>
                </a:cxn>
                <a:cxn ang="0">
                  <a:pos x="24" y="196"/>
                </a:cxn>
                <a:cxn ang="0">
                  <a:pos x="142" y="216"/>
                </a:cxn>
                <a:cxn ang="0">
                  <a:pos x="120" y="240"/>
                </a:cxn>
                <a:cxn ang="0">
                  <a:pos x="96" y="250"/>
                </a:cxn>
                <a:cxn ang="0">
                  <a:pos x="132" y="242"/>
                </a:cxn>
                <a:cxn ang="0">
                  <a:pos x="158" y="210"/>
                </a:cxn>
                <a:cxn ang="0">
                  <a:pos x="188" y="196"/>
                </a:cxn>
                <a:cxn ang="0">
                  <a:pos x="148" y="234"/>
                </a:cxn>
              </a:cxnLst>
              <a:rect l="0" t="0" r="r" b="b"/>
              <a:pathLst>
                <a:path w="214" h="260">
                  <a:moveTo>
                    <a:pt x="206" y="146"/>
                  </a:moveTo>
                  <a:lnTo>
                    <a:pt x="206" y="146"/>
                  </a:lnTo>
                  <a:lnTo>
                    <a:pt x="200" y="166"/>
                  </a:lnTo>
                  <a:lnTo>
                    <a:pt x="192" y="186"/>
                  </a:lnTo>
                  <a:lnTo>
                    <a:pt x="166" y="186"/>
                  </a:lnTo>
                  <a:lnTo>
                    <a:pt x="166" y="186"/>
                  </a:lnTo>
                  <a:lnTo>
                    <a:pt x="172" y="166"/>
                  </a:lnTo>
                  <a:lnTo>
                    <a:pt x="176" y="144"/>
                  </a:lnTo>
                  <a:lnTo>
                    <a:pt x="176" y="144"/>
                  </a:lnTo>
                  <a:lnTo>
                    <a:pt x="166" y="138"/>
                  </a:lnTo>
                  <a:lnTo>
                    <a:pt x="166" y="138"/>
                  </a:lnTo>
                  <a:lnTo>
                    <a:pt x="162" y="164"/>
                  </a:lnTo>
                  <a:lnTo>
                    <a:pt x="156" y="186"/>
                  </a:lnTo>
                  <a:lnTo>
                    <a:pt x="20" y="186"/>
                  </a:lnTo>
                  <a:lnTo>
                    <a:pt x="20" y="186"/>
                  </a:lnTo>
                  <a:lnTo>
                    <a:pt x="14" y="162"/>
                  </a:lnTo>
                  <a:lnTo>
                    <a:pt x="10" y="134"/>
                  </a:lnTo>
                  <a:lnTo>
                    <a:pt x="160" y="134"/>
                  </a:lnTo>
                  <a:lnTo>
                    <a:pt x="160" y="134"/>
                  </a:lnTo>
                  <a:lnTo>
                    <a:pt x="152" y="126"/>
                  </a:lnTo>
                  <a:lnTo>
                    <a:pt x="10" y="126"/>
                  </a:lnTo>
                  <a:lnTo>
                    <a:pt x="10" y="126"/>
                  </a:lnTo>
                  <a:lnTo>
                    <a:pt x="14" y="98"/>
                  </a:lnTo>
                  <a:lnTo>
                    <a:pt x="20" y="74"/>
                  </a:lnTo>
                  <a:lnTo>
                    <a:pt x="144" y="74"/>
                  </a:lnTo>
                  <a:lnTo>
                    <a:pt x="144" y="74"/>
                  </a:lnTo>
                  <a:lnTo>
                    <a:pt x="150" y="66"/>
                  </a:lnTo>
                  <a:lnTo>
                    <a:pt x="22" y="66"/>
                  </a:lnTo>
                  <a:lnTo>
                    <a:pt x="22" y="66"/>
                  </a:lnTo>
                  <a:lnTo>
                    <a:pt x="28" y="54"/>
                  </a:lnTo>
                  <a:lnTo>
                    <a:pt x="34" y="42"/>
                  </a:lnTo>
                  <a:lnTo>
                    <a:pt x="42" y="32"/>
                  </a:lnTo>
                  <a:lnTo>
                    <a:pt x="50" y="24"/>
                  </a:lnTo>
                  <a:lnTo>
                    <a:pt x="58" y="18"/>
                  </a:lnTo>
                  <a:lnTo>
                    <a:pt x="68" y="12"/>
                  </a:lnTo>
                  <a:lnTo>
                    <a:pt x="78" y="10"/>
                  </a:lnTo>
                  <a:lnTo>
                    <a:pt x="88" y="8"/>
                  </a:lnTo>
                  <a:lnTo>
                    <a:pt x="88" y="8"/>
                  </a:lnTo>
                  <a:lnTo>
                    <a:pt x="88" y="8"/>
                  </a:lnTo>
                  <a:lnTo>
                    <a:pt x="88" y="8"/>
                  </a:lnTo>
                  <a:lnTo>
                    <a:pt x="98" y="10"/>
                  </a:lnTo>
                  <a:lnTo>
                    <a:pt x="108" y="12"/>
                  </a:lnTo>
                  <a:lnTo>
                    <a:pt x="116" y="18"/>
                  </a:lnTo>
                  <a:lnTo>
                    <a:pt x="126" y="24"/>
                  </a:lnTo>
                  <a:lnTo>
                    <a:pt x="132" y="32"/>
                  </a:lnTo>
                  <a:lnTo>
                    <a:pt x="140" y="40"/>
                  </a:lnTo>
                  <a:lnTo>
                    <a:pt x="146" y="50"/>
                  </a:lnTo>
                  <a:lnTo>
                    <a:pt x="152" y="62"/>
                  </a:lnTo>
                  <a:lnTo>
                    <a:pt x="152" y="62"/>
                  </a:lnTo>
                  <a:lnTo>
                    <a:pt x="160" y="54"/>
                  </a:lnTo>
                  <a:lnTo>
                    <a:pt x="160" y="54"/>
                  </a:lnTo>
                  <a:lnTo>
                    <a:pt x="146" y="34"/>
                  </a:lnTo>
                  <a:lnTo>
                    <a:pt x="140" y="24"/>
                  </a:lnTo>
                  <a:lnTo>
                    <a:pt x="132" y="16"/>
                  </a:lnTo>
                  <a:lnTo>
                    <a:pt x="132" y="16"/>
                  </a:lnTo>
                  <a:lnTo>
                    <a:pt x="144" y="22"/>
                  </a:lnTo>
                  <a:lnTo>
                    <a:pt x="154" y="28"/>
                  </a:lnTo>
                  <a:lnTo>
                    <a:pt x="164" y="36"/>
                  </a:lnTo>
                  <a:lnTo>
                    <a:pt x="174" y="46"/>
                  </a:lnTo>
                  <a:lnTo>
                    <a:pt x="174" y="46"/>
                  </a:lnTo>
                  <a:lnTo>
                    <a:pt x="184" y="44"/>
                  </a:lnTo>
                  <a:lnTo>
                    <a:pt x="184" y="44"/>
                  </a:lnTo>
                  <a:lnTo>
                    <a:pt x="174" y="34"/>
                  </a:lnTo>
                  <a:lnTo>
                    <a:pt x="164" y="26"/>
                  </a:lnTo>
                  <a:lnTo>
                    <a:pt x="154" y="18"/>
                  </a:lnTo>
                  <a:lnTo>
                    <a:pt x="142" y="12"/>
                  </a:lnTo>
                  <a:lnTo>
                    <a:pt x="130" y="6"/>
                  </a:lnTo>
                  <a:lnTo>
                    <a:pt x="118" y="2"/>
                  </a:lnTo>
                  <a:lnTo>
                    <a:pt x="104" y="0"/>
                  </a:lnTo>
                  <a:lnTo>
                    <a:pt x="90" y="0"/>
                  </a:lnTo>
                  <a:lnTo>
                    <a:pt x="90" y="0"/>
                  </a:lnTo>
                  <a:lnTo>
                    <a:pt x="88" y="0"/>
                  </a:lnTo>
                  <a:lnTo>
                    <a:pt x="88" y="0"/>
                  </a:lnTo>
                  <a:lnTo>
                    <a:pt x="88" y="0"/>
                  </a:lnTo>
                  <a:lnTo>
                    <a:pt x="88" y="0"/>
                  </a:lnTo>
                  <a:lnTo>
                    <a:pt x="88" y="0"/>
                  </a:lnTo>
                  <a:lnTo>
                    <a:pt x="88" y="0"/>
                  </a:lnTo>
                  <a:lnTo>
                    <a:pt x="86" y="0"/>
                  </a:lnTo>
                  <a:lnTo>
                    <a:pt x="86" y="0"/>
                  </a:lnTo>
                  <a:lnTo>
                    <a:pt x="86" y="0"/>
                  </a:lnTo>
                  <a:lnTo>
                    <a:pt x="78" y="0"/>
                  </a:lnTo>
                  <a:lnTo>
                    <a:pt x="68" y="2"/>
                  </a:lnTo>
                  <a:lnTo>
                    <a:pt x="52" y="10"/>
                  </a:lnTo>
                  <a:lnTo>
                    <a:pt x="38" y="22"/>
                  </a:lnTo>
                  <a:lnTo>
                    <a:pt x="26" y="38"/>
                  </a:lnTo>
                  <a:lnTo>
                    <a:pt x="16" y="58"/>
                  </a:lnTo>
                  <a:lnTo>
                    <a:pt x="8" y="80"/>
                  </a:lnTo>
                  <a:lnTo>
                    <a:pt x="2" y="104"/>
                  </a:lnTo>
                  <a:lnTo>
                    <a:pt x="0" y="130"/>
                  </a:lnTo>
                  <a:lnTo>
                    <a:pt x="0" y="130"/>
                  </a:lnTo>
                  <a:lnTo>
                    <a:pt x="2" y="156"/>
                  </a:lnTo>
                  <a:lnTo>
                    <a:pt x="8" y="180"/>
                  </a:lnTo>
                  <a:lnTo>
                    <a:pt x="16" y="202"/>
                  </a:lnTo>
                  <a:lnTo>
                    <a:pt x="26" y="222"/>
                  </a:lnTo>
                  <a:lnTo>
                    <a:pt x="40" y="238"/>
                  </a:lnTo>
                  <a:lnTo>
                    <a:pt x="54" y="250"/>
                  </a:lnTo>
                  <a:lnTo>
                    <a:pt x="62" y="254"/>
                  </a:lnTo>
                  <a:lnTo>
                    <a:pt x="70" y="258"/>
                  </a:lnTo>
                  <a:lnTo>
                    <a:pt x="80" y="260"/>
                  </a:lnTo>
                  <a:lnTo>
                    <a:pt x="88" y="260"/>
                  </a:lnTo>
                  <a:lnTo>
                    <a:pt x="88" y="260"/>
                  </a:lnTo>
                  <a:lnTo>
                    <a:pt x="98" y="260"/>
                  </a:lnTo>
                  <a:lnTo>
                    <a:pt x="98" y="260"/>
                  </a:lnTo>
                  <a:lnTo>
                    <a:pt x="120" y="256"/>
                  </a:lnTo>
                  <a:lnTo>
                    <a:pt x="140" y="248"/>
                  </a:lnTo>
                  <a:lnTo>
                    <a:pt x="160" y="238"/>
                  </a:lnTo>
                  <a:lnTo>
                    <a:pt x="176" y="224"/>
                  </a:lnTo>
                  <a:lnTo>
                    <a:pt x="192" y="206"/>
                  </a:lnTo>
                  <a:lnTo>
                    <a:pt x="202" y="186"/>
                  </a:lnTo>
                  <a:lnTo>
                    <a:pt x="210" y="166"/>
                  </a:lnTo>
                  <a:lnTo>
                    <a:pt x="214" y="142"/>
                  </a:lnTo>
                  <a:lnTo>
                    <a:pt x="214" y="142"/>
                  </a:lnTo>
                  <a:lnTo>
                    <a:pt x="206" y="146"/>
                  </a:lnTo>
                  <a:lnTo>
                    <a:pt x="206" y="146"/>
                  </a:lnTo>
                  <a:close/>
                  <a:moveTo>
                    <a:pt x="96" y="250"/>
                  </a:moveTo>
                  <a:lnTo>
                    <a:pt x="96" y="250"/>
                  </a:lnTo>
                  <a:lnTo>
                    <a:pt x="90" y="250"/>
                  </a:lnTo>
                  <a:lnTo>
                    <a:pt x="90" y="250"/>
                  </a:lnTo>
                  <a:lnTo>
                    <a:pt x="86" y="250"/>
                  </a:lnTo>
                  <a:lnTo>
                    <a:pt x="86" y="252"/>
                  </a:lnTo>
                  <a:lnTo>
                    <a:pt x="86" y="252"/>
                  </a:lnTo>
                  <a:lnTo>
                    <a:pt x="76" y="250"/>
                  </a:lnTo>
                  <a:lnTo>
                    <a:pt x="66" y="246"/>
                  </a:lnTo>
                  <a:lnTo>
                    <a:pt x="58" y="242"/>
                  </a:lnTo>
                  <a:lnTo>
                    <a:pt x="50" y="236"/>
                  </a:lnTo>
                  <a:lnTo>
                    <a:pt x="42" y="228"/>
                  </a:lnTo>
                  <a:lnTo>
                    <a:pt x="34" y="218"/>
                  </a:lnTo>
                  <a:lnTo>
                    <a:pt x="28" y="208"/>
                  </a:lnTo>
                  <a:lnTo>
                    <a:pt x="24" y="196"/>
                  </a:lnTo>
                  <a:lnTo>
                    <a:pt x="154" y="196"/>
                  </a:lnTo>
                  <a:lnTo>
                    <a:pt x="154" y="196"/>
                  </a:lnTo>
                  <a:lnTo>
                    <a:pt x="142" y="216"/>
                  </a:lnTo>
                  <a:lnTo>
                    <a:pt x="136" y="226"/>
                  </a:lnTo>
                  <a:lnTo>
                    <a:pt x="128" y="234"/>
                  </a:lnTo>
                  <a:lnTo>
                    <a:pt x="120" y="240"/>
                  </a:lnTo>
                  <a:lnTo>
                    <a:pt x="112" y="246"/>
                  </a:lnTo>
                  <a:lnTo>
                    <a:pt x="104" y="248"/>
                  </a:lnTo>
                  <a:lnTo>
                    <a:pt x="96" y="250"/>
                  </a:lnTo>
                  <a:lnTo>
                    <a:pt x="96" y="250"/>
                  </a:lnTo>
                  <a:close/>
                  <a:moveTo>
                    <a:pt x="132" y="242"/>
                  </a:moveTo>
                  <a:lnTo>
                    <a:pt x="132" y="242"/>
                  </a:lnTo>
                  <a:lnTo>
                    <a:pt x="142" y="234"/>
                  </a:lnTo>
                  <a:lnTo>
                    <a:pt x="150" y="222"/>
                  </a:lnTo>
                  <a:lnTo>
                    <a:pt x="158" y="210"/>
                  </a:lnTo>
                  <a:lnTo>
                    <a:pt x="164" y="196"/>
                  </a:lnTo>
                  <a:lnTo>
                    <a:pt x="188" y="196"/>
                  </a:lnTo>
                  <a:lnTo>
                    <a:pt x="188" y="196"/>
                  </a:lnTo>
                  <a:lnTo>
                    <a:pt x="176" y="210"/>
                  </a:lnTo>
                  <a:lnTo>
                    <a:pt x="164" y="224"/>
                  </a:lnTo>
                  <a:lnTo>
                    <a:pt x="148" y="234"/>
                  </a:lnTo>
                  <a:lnTo>
                    <a:pt x="132" y="242"/>
                  </a:lnTo>
                  <a:lnTo>
                    <a:pt x="132" y="242"/>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18" name="Freeform 343"/>
            <p:cNvSpPr>
              <a:spLocks/>
            </p:cNvSpPr>
            <p:nvPr/>
          </p:nvSpPr>
          <p:spPr bwMode="gray">
            <a:xfrm>
              <a:off x="15541625" y="4978400"/>
              <a:ext cx="107950" cy="107950"/>
            </a:xfrm>
            <a:custGeom>
              <a:avLst/>
              <a:gdLst/>
              <a:ahLst/>
              <a:cxnLst>
                <a:cxn ang="0">
                  <a:pos x="20" y="0"/>
                </a:cxn>
                <a:cxn ang="0">
                  <a:pos x="64" y="42"/>
                </a:cxn>
                <a:cxn ang="0">
                  <a:pos x="64" y="42"/>
                </a:cxn>
                <a:cxn ang="0">
                  <a:pos x="66" y="48"/>
                </a:cxn>
                <a:cxn ang="0">
                  <a:pos x="68" y="52"/>
                </a:cxn>
                <a:cxn ang="0">
                  <a:pos x="68" y="58"/>
                </a:cxn>
                <a:cxn ang="0">
                  <a:pos x="64" y="62"/>
                </a:cxn>
                <a:cxn ang="0">
                  <a:pos x="64" y="62"/>
                </a:cxn>
                <a:cxn ang="0">
                  <a:pos x="60" y="66"/>
                </a:cxn>
                <a:cxn ang="0">
                  <a:pos x="54" y="68"/>
                </a:cxn>
                <a:cxn ang="0">
                  <a:pos x="48" y="66"/>
                </a:cxn>
                <a:cxn ang="0">
                  <a:pos x="44" y="64"/>
                </a:cxn>
                <a:cxn ang="0">
                  <a:pos x="0" y="20"/>
                </a:cxn>
                <a:cxn ang="0">
                  <a:pos x="20" y="0"/>
                </a:cxn>
              </a:cxnLst>
              <a:rect l="0" t="0" r="r" b="b"/>
              <a:pathLst>
                <a:path w="68" h="68">
                  <a:moveTo>
                    <a:pt x="20" y="0"/>
                  </a:moveTo>
                  <a:lnTo>
                    <a:pt x="64" y="42"/>
                  </a:lnTo>
                  <a:lnTo>
                    <a:pt x="64" y="42"/>
                  </a:lnTo>
                  <a:lnTo>
                    <a:pt x="66" y="48"/>
                  </a:lnTo>
                  <a:lnTo>
                    <a:pt x="68" y="52"/>
                  </a:lnTo>
                  <a:lnTo>
                    <a:pt x="68" y="58"/>
                  </a:lnTo>
                  <a:lnTo>
                    <a:pt x="64" y="62"/>
                  </a:lnTo>
                  <a:lnTo>
                    <a:pt x="64" y="62"/>
                  </a:lnTo>
                  <a:lnTo>
                    <a:pt x="60" y="66"/>
                  </a:lnTo>
                  <a:lnTo>
                    <a:pt x="54" y="68"/>
                  </a:lnTo>
                  <a:lnTo>
                    <a:pt x="48" y="66"/>
                  </a:lnTo>
                  <a:lnTo>
                    <a:pt x="44" y="64"/>
                  </a:lnTo>
                  <a:lnTo>
                    <a:pt x="0" y="20"/>
                  </a:lnTo>
                  <a:lnTo>
                    <a:pt x="20" y="0"/>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19" name="Freeform 344"/>
            <p:cNvSpPr>
              <a:spLocks noEditPoints="1"/>
            </p:cNvSpPr>
            <p:nvPr/>
          </p:nvSpPr>
          <p:spPr bwMode="gray">
            <a:xfrm>
              <a:off x="15392400" y="4819650"/>
              <a:ext cx="165100" cy="174625"/>
            </a:xfrm>
            <a:custGeom>
              <a:avLst/>
              <a:gdLst/>
              <a:ahLst/>
              <a:cxnLst>
                <a:cxn ang="0">
                  <a:pos x="88" y="84"/>
                </a:cxn>
                <a:cxn ang="0">
                  <a:pos x="92" y="76"/>
                </a:cxn>
                <a:cxn ang="0">
                  <a:pos x="98" y="60"/>
                </a:cxn>
                <a:cxn ang="0">
                  <a:pos x="100" y="50"/>
                </a:cxn>
                <a:cxn ang="0">
                  <a:pos x="96" y="32"/>
                </a:cxn>
                <a:cxn ang="0">
                  <a:pos x="84" y="16"/>
                </a:cxn>
                <a:cxn ang="0">
                  <a:pos x="68" y="4"/>
                </a:cxn>
                <a:cxn ang="0">
                  <a:pos x="50" y="0"/>
                </a:cxn>
                <a:cxn ang="0">
                  <a:pos x="40" y="2"/>
                </a:cxn>
                <a:cxn ang="0">
                  <a:pos x="22" y="8"/>
                </a:cxn>
                <a:cxn ang="0">
                  <a:pos x="8" y="22"/>
                </a:cxn>
                <a:cxn ang="0">
                  <a:pos x="0" y="40"/>
                </a:cxn>
                <a:cxn ang="0">
                  <a:pos x="0" y="50"/>
                </a:cxn>
                <a:cxn ang="0">
                  <a:pos x="2" y="70"/>
                </a:cxn>
                <a:cxn ang="0">
                  <a:pos x="14" y="86"/>
                </a:cxn>
                <a:cxn ang="0">
                  <a:pos x="30" y="96"/>
                </a:cxn>
                <a:cxn ang="0">
                  <a:pos x="50" y="100"/>
                </a:cxn>
                <a:cxn ang="0">
                  <a:pos x="62" y="98"/>
                </a:cxn>
                <a:cxn ang="0">
                  <a:pos x="92" y="110"/>
                </a:cxn>
                <a:cxn ang="0">
                  <a:pos x="14" y="50"/>
                </a:cxn>
                <a:cxn ang="0">
                  <a:pos x="14" y="44"/>
                </a:cxn>
                <a:cxn ang="0">
                  <a:pos x="20" y="30"/>
                </a:cxn>
                <a:cxn ang="0">
                  <a:pos x="30" y="20"/>
                </a:cxn>
                <a:cxn ang="0">
                  <a:pos x="42" y="16"/>
                </a:cxn>
                <a:cxn ang="0">
                  <a:pos x="50" y="14"/>
                </a:cxn>
                <a:cxn ang="0">
                  <a:pos x="64" y="18"/>
                </a:cxn>
                <a:cxn ang="0">
                  <a:pos x="74" y="26"/>
                </a:cxn>
                <a:cxn ang="0">
                  <a:pos x="82" y="36"/>
                </a:cxn>
                <a:cxn ang="0">
                  <a:pos x="86" y="50"/>
                </a:cxn>
                <a:cxn ang="0">
                  <a:pos x="84" y="58"/>
                </a:cxn>
                <a:cxn ang="0">
                  <a:pos x="80" y="70"/>
                </a:cxn>
                <a:cxn ang="0">
                  <a:pos x="70" y="80"/>
                </a:cxn>
                <a:cxn ang="0">
                  <a:pos x="56" y="86"/>
                </a:cxn>
                <a:cxn ang="0">
                  <a:pos x="50" y="86"/>
                </a:cxn>
                <a:cxn ang="0">
                  <a:pos x="36" y="84"/>
                </a:cxn>
                <a:cxn ang="0">
                  <a:pos x="24" y="76"/>
                </a:cxn>
                <a:cxn ang="0">
                  <a:pos x="16" y="64"/>
                </a:cxn>
                <a:cxn ang="0">
                  <a:pos x="14" y="50"/>
                </a:cxn>
              </a:cxnLst>
              <a:rect l="0" t="0" r="r" b="b"/>
              <a:pathLst>
                <a:path w="104" h="110">
                  <a:moveTo>
                    <a:pt x="104" y="98"/>
                  </a:moveTo>
                  <a:lnTo>
                    <a:pt x="88" y="84"/>
                  </a:lnTo>
                  <a:lnTo>
                    <a:pt x="88" y="84"/>
                  </a:lnTo>
                  <a:lnTo>
                    <a:pt x="92" y="76"/>
                  </a:lnTo>
                  <a:lnTo>
                    <a:pt x="96" y="68"/>
                  </a:lnTo>
                  <a:lnTo>
                    <a:pt x="98" y="60"/>
                  </a:lnTo>
                  <a:lnTo>
                    <a:pt x="100" y="50"/>
                  </a:lnTo>
                  <a:lnTo>
                    <a:pt x="100" y="50"/>
                  </a:lnTo>
                  <a:lnTo>
                    <a:pt x="98" y="40"/>
                  </a:lnTo>
                  <a:lnTo>
                    <a:pt x="96" y="32"/>
                  </a:lnTo>
                  <a:lnTo>
                    <a:pt x="92" y="22"/>
                  </a:lnTo>
                  <a:lnTo>
                    <a:pt x="84" y="16"/>
                  </a:lnTo>
                  <a:lnTo>
                    <a:pt x="78" y="8"/>
                  </a:lnTo>
                  <a:lnTo>
                    <a:pt x="68" y="4"/>
                  </a:lnTo>
                  <a:lnTo>
                    <a:pt x="60" y="2"/>
                  </a:lnTo>
                  <a:lnTo>
                    <a:pt x="50" y="0"/>
                  </a:lnTo>
                  <a:lnTo>
                    <a:pt x="50" y="0"/>
                  </a:lnTo>
                  <a:lnTo>
                    <a:pt x="40" y="2"/>
                  </a:lnTo>
                  <a:lnTo>
                    <a:pt x="30" y="4"/>
                  </a:lnTo>
                  <a:lnTo>
                    <a:pt x="22" y="8"/>
                  </a:lnTo>
                  <a:lnTo>
                    <a:pt x="14" y="16"/>
                  </a:lnTo>
                  <a:lnTo>
                    <a:pt x="8" y="22"/>
                  </a:lnTo>
                  <a:lnTo>
                    <a:pt x="2" y="32"/>
                  </a:lnTo>
                  <a:lnTo>
                    <a:pt x="0" y="40"/>
                  </a:lnTo>
                  <a:lnTo>
                    <a:pt x="0" y="50"/>
                  </a:lnTo>
                  <a:lnTo>
                    <a:pt x="0" y="50"/>
                  </a:lnTo>
                  <a:lnTo>
                    <a:pt x="0" y="60"/>
                  </a:lnTo>
                  <a:lnTo>
                    <a:pt x="2" y="70"/>
                  </a:lnTo>
                  <a:lnTo>
                    <a:pt x="8" y="78"/>
                  </a:lnTo>
                  <a:lnTo>
                    <a:pt x="14" y="86"/>
                  </a:lnTo>
                  <a:lnTo>
                    <a:pt x="22" y="92"/>
                  </a:lnTo>
                  <a:lnTo>
                    <a:pt x="30" y="96"/>
                  </a:lnTo>
                  <a:lnTo>
                    <a:pt x="40" y="100"/>
                  </a:lnTo>
                  <a:lnTo>
                    <a:pt x="50" y="100"/>
                  </a:lnTo>
                  <a:lnTo>
                    <a:pt x="50" y="100"/>
                  </a:lnTo>
                  <a:lnTo>
                    <a:pt x="62" y="98"/>
                  </a:lnTo>
                  <a:lnTo>
                    <a:pt x="76" y="94"/>
                  </a:lnTo>
                  <a:lnTo>
                    <a:pt x="92" y="110"/>
                  </a:lnTo>
                  <a:lnTo>
                    <a:pt x="104" y="98"/>
                  </a:lnTo>
                  <a:close/>
                  <a:moveTo>
                    <a:pt x="14" y="50"/>
                  </a:moveTo>
                  <a:lnTo>
                    <a:pt x="14" y="50"/>
                  </a:lnTo>
                  <a:lnTo>
                    <a:pt x="14" y="44"/>
                  </a:lnTo>
                  <a:lnTo>
                    <a:pt x="16" y="36"/>
                  </a:lnTo>
                  <a:lnTo>
                    <a:pt x="20" y="30"/>
                  </a:lnTo>
                  <a:lnTo>
                    <a:pt x="24" y="26"/>
                  </a:lnTo>
                  <a:lnTo>
                    <a:pt x="30" y="20"/>
                  </a:lnTo>
                  <a:lnTo>
                    <a:pt x="36" y="18"/>
                  </a:lnTo>
                  <a:lnTo>
                    <a:pt x="42" y="16"/>
                  </a:lnTo>
                  <a:lnTo>
                    <a:pt x="50" y="14"/>
                  </a:lnTo>
                  <a:lnTo>
                    <a:pt x="50" y="14"/>
                  </a:lnTo>
                  <a:lnTo>
                    <a:pt x="56" y="16"/>
                  </a:lnTo>
                  <a:lnTo>
                    <a:pt x="64" y="18"/>
                  </a:lnTo>
                  <a:lnTo>
                    <a:pt x="70" y="20"/>
                  </a:lnTo>
                  <a:lnTo>
                    <a:pt x="74" y="26"/>
                  </a:lnTo>
                  <a:lnTo>
                    <a:pt x="80" y="30"/>
                  </a:lnTo>
                  <a:lnTo>
                    <a:pt x="82" y="36"/>
                  </a:lnTo>
                  <a:lnTo>
                    <a:pt x="84" y="44"/>
                  </a:lnTo>
                  <a:lnTo>
                    <a:pt x="86" y="50"/>
                  </a:lnTo>
                  <a:lnTo>
                    <a:pt x="86" y="50"/>
                  </a:lnTo>
                  <a:lnTo>
                    <a:pt x="84" y="58"/>
                  </a:lnTo>
                  <a:lnTo>
                    <a:pt x="82" y="64"/>
                  </a:lnTo>
                  <a:lnTo>
                    <a:pt x="80" y="70"/>
                  </a:lnTo>
                  <a:lnTo>
                    <a:pt x="74" y="76"/>
                  </a:lnTo>
                  <a:lnTo>
                    <a:pt x="70" y="80"/>
                  </a:lnTo>
                  <a:lnTo>
                    <a:pt x="64" y="84"/>
                  </a:lnTo>
                  <a:lnTo>
                    <a:pt x="56" y="86"/>
                  </a:lnTo>
                  <a:lnTo>
                    <a:pt x="50" y="86"/>
                  </a:lnTo>
                  <a:lnTo>
                    <a:pt x="50" y="86"/>
                  </a:lnTo>
                  <a:lnTo>
                    <a:pt x="42" y="86"/>
                  </a:lnTo>
                  <a:lnTo>
                    <a:pt x="36" y="84"/>
                  </a:lnTo>
                  <a:lnTo>
                    <a:pt x="30" y="80"/>
                  </a:lnTo>
                  <a:lnTo>
                    <a:pt x="24" y="76"/>
                  </a:lnTo>
                  <a:lnTo>
                    <a:pt x="20" y="70"/>
                  </a:lnTo>
                  <a:lnTo>
                    <a:pt x="16" y="64"/>
                  </a:lnTo>
                  <a:lnTo>
                    <a:pt x="14" y="58"/>
                  </a:lnTo>
                  <a:lnTo>
                    <a:pt x="14" y="50"/>
                  </a:lnTo>
                  <a:lnTo>
                    <a:pt x="14" y="50"/>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20" name="Freeform 345"/>
            <p:cNvSpPr>
              <a:spLocks/>
            </p:cNvSpPr>
            <p:nvPr/>
          </p:nvSpPr>
          <p:spPr bwMode="gray">
            <a:xfrm>
              <a:off x="15433675" y="4864100"/>
              <a:ext cx="73025" cy="73025"/>
            </a:xfrm>
            <a:custGeom>
              <a:avLst/>
              <a:gdLst/>
              <a:ahLst/>
              <a:cxnLst>
                <a:cxn ang="0">
                  <a:pos x="42" y="18"/>
                </a:cxn>
                <a:cxn ang="0">
                  <a:pos x="28" y="18"/>
                </a:cxn>
                <a:cxn ang="0">
                  <a:pos x="28" y="4"/>
                </a:cxn>
                <a:cxn ang="0">
                  <a:pos x="28" y="4"/>
                </a:cxn>
                <a:cxn ang="0">
                  <a:pos x="26" y="0"/>
                </a:cxn>
                <a:cxn ang="0">
                  <a:pos x="24" y="0"/>
                </a:cxn>
                <a:cxn ang="0">
                  <a:pos x="24" y="0"/>
                </a:cxn>
                <a:cxn ang="0">
                  <a:pos x="20" y="0"/>
                </a:cxn>
                <a:cxn ang="0">
                  <a:pos x="20" y="4"/>
                </a:cxn>
                <a:cxn ang="0">
                  <a:pos x="20" y="18"/>
                </a:cxn>
                <a:cxn ang="0">
                  <a:pos x="4" y="18"/>
                </a:cxn>
                <a:cxn ang="0">
                  <a:pos x="4" y="18"/>
                </a:cxn>
                <a:cxn ang="0">
                  <a:pos x="2" y="20"/>
                </a:cxn>
                <a:cxn ang="0">
                  <a:pos x="0" y="22"/>
                </a:cxn>
                <a:cxn ang="0">
                  <a:pos x="0" y="22"/>
                </a:cxn>
                <a:cxn ang="0">
                  <a:pos x="2" y="26"/>
                </a:cxn>
                <a:cxn ang="0">
                  <a:pos x="4" y="26"/>
                </a:cxn>
                <a:cxn ang="0">
                  <a:pos x="20" y="26"/>
                </a:cxn>
                <a:cxn ang="0">
                  <a:pos x="20" y="42"/>
                </a:cxn>
                <a:cxn ang="0">
                  <a:pos x="20" y="42"/>
                </a:cxn>
                <a:cxn ang="0">
                  <a:pos x="20" y="44"/>
                </a:cxn>
                <a:cxn ang="0">
                  <a:pos x="24" y="46"/>
                </a:cxn>
                <a:cxn ang="0">
                  <a:pos x="24" y="46"/>
                </a:cxn>
                <a:cxn ang="0">
                  <a:pos x="26" y="44"/>
                </a:cxn>
                <a:cxn ang="0">
                  <a:pos x="28" y="42"/>
                </a:cxn>
                <a:cxn ang="0">
                  <a:pos x="28" y="26"/>
                </a:cxn>
                <a:cxn ang="0">
                  <a:pos x="42" y="26"/>
                </a:cxn>
                <a:cxn ang="0">
                  <a:pos x="42" y="26"/>
                </a:cxn>
                <a:cxn ang="0">
                  <a:pos x="46" y="26"/>
                </a:cxn>
                <a:cxn ang="0">
                  <a:pos x="46" y="22"/>
                </a:cxn>
                <a:cxn ang="0">
                  <a:pos x="46" y="22"/>
                </a:cxn>
                <a:cxn ang="0">
                  <a:pos x="46" y="20"/>
                </a:cxn>
                <a:cxn ang="0">
                  <a:pos x="42" y="18"/>
                </a:cxn>
                <a:cxn ang="0">
                  <a:pos x="42" y="18"/>
                </a:cxn>
              </a:cxnLst>
              <a:rect l="0" t="0" r="r" b="b"/>
              <a:pathLst>
                <a:path w="46" h="46">
                  <a:moveTo>
                    <a:pt x="42" y="18"/>
                  </a:moveTo>
                  <a:lnTo>
                    <a:pt x="28" y="18"/>
                  </a:lnTo>
                  <a:lnTo>
                    <a:pt x="28" y="4"/>
                  </a:lnTo>
                  <a:lnTo>
                    <a:pt x="28" y="4"/>
                  </a:lnTo>
                  <a:lnTo>
                    <a:pt x="26" y="0"/>
                  </a:lnTo>
                  <a:lnTo>
                    <a:pt x="24" y="0"/>
                  </a:lnTo>
                  <a:lnTo>
                    <a:pt x="24" y="0"/>
                  </a:lnTo>
                  <a:lnTo>
                    <a:pt x="20" y="0"/>
                  </a:lnTo>
                  <a:lnTo>
                    <a:pt x="20" y="4"/>
                  </a:lnTo>
                  <a:lnTo>
                    <a:pt x="20" y="18"/>
                  </a:lnTo>
                  <a:lnTo>
                    <a:pt x="4" y="18"/>
                  </a:lnTo>
                  <a:lnTo>
                    <a:pt x="4" y="18"/>
                  </a:lnTo>
                  <a:lnTo>
                    <a:pt x="2" y="20"/>
                  </a:lnTo>
                  <a:lnTo>
                    <a:pt x="0" y="22"/>
                  </a:lnTo>
                  <a:lnTo>
                    <a:pt x="0" y="22"/>
                  </a:lnTo>
                  <a:lnTo>
                    <a:pt x="2" y="26"/>
                  </a:lnTo>
                  <a:lnTo>
                    <a:pt x="4" y="26"/>
                  </a:lnTo>
                  <a:lnTo>
                    <a:pt x="20" y="26"/>
                  </a:lnTo>
                  <a:lnTo>
                    <a:pt x="20" y="42"/>
                  </a:lnTo>
                  <a:lnTo>
                    <a:pt x="20" y="42"/>
                  </a:lnTo>
                  <a:lnTo>
                    <a:pt x="20" y="44"/>
                  </a:lnTo>
                  <a:lnTo>
                    <a:pt x="24" y="46"/>
                  </a:lnTo>
                  <a:lnTo>
                    <a:pt x="24" y="46"/>
                  </a:lnTo>
                  <a:lnTo>
                    <a:pt x="26" y="44"/>
                  </a:lnTo>
                  <a:lnTo>
                    <a:pt x="28" y="42"/>
                  </a:lnTo>
                  <a:lnTo>
                    <a:pt x="28" y="26"/>
                  </a:lnTo>
                  <a:lnTo>
                    <a:pt x="42" y="26"/>
                  </a:lnTo>
                  <a:lnTo>
                    <a:pt x="42" y="26"/>
                  </a:lnTo>
                  <a:lnTo>
                    <a:pt x="46" y="26"/>
                  </a:lnTo>
                  <a:lnTo>
                    <a:pt x="46" y="22"/>
                  </a:lnTo>
                  <a:lnTo>
                    <a:pt x="46" y="22"/>
                  </a:lnTo>
                  <a:lnTo>
                    <a:pt x="46" y="20"/>
                  </a:lnTo>
                  <a:lnTo>
                    <a:pt x="42" y="18"/>
                  </a:lnTo>
                  <a:lnTo>
                    <a:pt x="42" y="18"/>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grpSp>
      <p:grpSp>
        <p:nvGrpSpPr>
          <p:cNvPr id="21" name="组合 346"/>
          <p:cNvGrpSpPr/>
          <p:nvPr/>
        </p:nvGrpSpPr>
        <p:grpSpPr bwMode="gray">
          <a:xfrm>
            <a:off x="4292043" y="4104025"/>
            <a:ext cx="418825" cy="348148"/>
            <a:chOff x="10699750" y="2222500"/>
            <a:chExt cx="368300" cy="320675"/>
          </a:xfrm>
          <a:solidFill>
            <a:srgbClr val="00B0F0"/>
          </a:solidFill>
        </p:grpSpPr>
        <p:sp>
          <p:nvSpPr>
            <p:cNvPr id="22" name="Freeform 108"/>
            <p:cNvSpPr>
              <a:spLocks noEditPoints="1"/>
            </p:cNvSpPr>
            <p:nvPr/>
          </p:nvSpPr>
          <p:spPr bwMode="gray">
            <a:xfrm>
              <a:off x="10820400" y="2295525"/>
              <a:ext cx="247650" cy="247650"/>
            </a:xfrm>
            <a:custGeom>
              <a:avLst/>
              <a:gdLst/>
              <a:ahLst/>
              <a:cxnLst>
                <a:cxn ang="0">
                  <a:pos x="20" y="44"/>
                </a:cxn>
                <a:cxn ang="0">
                  <a:pos x="10" y="52"/>
                </a:cxn>
                <a:cxn ang="0">
                  <a:pos x="0" y="58"/>
                </a:cxn>
                <a:cxn ang="0">
                  <a:pos x="0" y="68"/>
                </a:cxn>
                <a:cxn ang="0">
                  <a:pos x="8" y="74"/>
                </a:cxn>
                <a:cxn ang="0">
                  <a:pos x="10" y="86"/>
                </a:cxn>
                <a:cxn ang="0">
                  <a:pos x="2" y="94"/>
                </a:cxn>
                <a:cxn ang="0">
                  <a:pos x="4" y="106"/>
                </a:cxn>
                <a:cxn ang="0">
                  <a:pos x="12" y="110"/>
                </a:cxn>
                <a:cxn ang="0">
                  <a:pos x="22" y="118"/>
                </a:cxn>
                <a:cxn ang="0">
                  <a:pos x="20" y="128"/>
                </a:cxn>
                <a:cxn ang="0">
                  <a:pos x="24" y="138"/>
                </a:cxn>
                <a:cxn ang="0">
                  <a:pos x="36" y="138"/>
                </a:cxn>
                <a:cxn ang="0">
                  <a:pos x="50" y="136"/>
                </a:cxn>
                <a:cxn ang="0">
                  <a:pos x="52" y="146"/>
                </a:cxn>
                <a:cxn ang="0">
                  <a:pos x="60" y="156"/>
                </a:cxn>
                <a:cxn ang="0">
                  <a:pos x="72" y="154"/>
                </a:cxn>
                <a:cxn ang="0">
                  <a:pos x="78" y="146"/>
                </a:cxn>
                <a:cxn ang="0">
                  <a:pos x="90" y="150"/>
                </a:cxn>
                <a:cxn ang="0">
                  <a:pos x="98" y="154"/>
                </a:cxn>
                <a:cxn ang="0">
                  <a:pos x="108" y="150"/>
                </a:cxn>
                <a:cxn ang="0">
                  <a:pos x="110" y="140"/>
                </a:cxn>
                <a:cxn ang="0">
                  <a:pos x="120" y="132"/>
                </a:cxn>
                <a:cxn ang="0">
                  <a:pos x="130" y="136"/>
                </a:cxn>
                <a:cxn ang="0">
                  <a:pos x="140" y="128"/>
                </a:cxn>
                <a:cxn ang="0">
                  <a:pos x="138" y="118"/>
                </a:cxn>
                <a:cxn ang="0">
                  <a:pos x="136" y="106"/>
                </a:cxn>
                <a:cxn ang="0">
                  <a:pos x="150" y="104"/>
                </a:cxn>
                <a:cxn ang="0">
                  <a:pos x="156" y="94"/>
                </a:cxn>
                <a:cxn ang="0">
                  <a:pos x="150" y="82"/>
                </a:cxn>
                <a:cxn ang="0">
                  <a:pos x="142" y="72"/>
                </a:cxn>
                <a:cxn ang="0">
                  <a:pos x="150" y="66"/>
                </a:cxn>
                <a:cxn ang="0">
                  <a:pos x="154" y="54"/>
                </a:cxn>
                <a:cxn ang="0">
                  <a:pos x="146" y="46"/>
                </a:cxn>
                <a:cxn ang="0">
                  <a:pos x="136" y="44"/>
                </a:cxn>
                <a:cxn ang="0">
                  <a:pos x="134" y="32"/>
                </a:cxn>
                <a:cxn ang="0">
                  <a:pos x="134" y="22"/>
                </a:cxn>
                <a:cxn ang="0">
                  <a:pos x="124" y="16"/>
                </a:cxn>
                <a:cxn ang="0">
                  <a:pos x="116" y="18"/>
                </a:cxn>
                <a:cxn ang="0">
                  <a:pos x="104" y="16"/>
                </a:cxn>
                <a:cxn ang="0">
                  <a:pos x="102" y="4"/>
                </a:cxn>
                <a:cxn ang="0">
                  <a:pos x="90" y="0"/>
                </a:cxn>
                <a:cxn ang="0">
                  <a:pos x="82" y="4"/>
                </a:cxn>
                <a:cxn ang="0">
                  <a:pos x="72" y="12"/>
                </a:cxn>
                <a:cxn ang="0">
                  <a:pos x="64" y="4"/>
                </a:cxn>
                <a:cxn ang="0">
                  <a:pos x="54" y="2"/>
                </a:cxn>
                <a:cxn ang="0">
                  <a:pos x="46" y="12"/>
                </a:cxn>
                <a:cxn ang="0">
                  <a:pos x="40" y="24"/>
                </a:cxn>
                <a:cxn ang="0">
                  <a:pos x="30" y="22"/>
                </a:cxn>
                <a:cxn ang="0">
                  <a:pos x="18" y="24"/>
                </a:cxn>
                <a:cxn ang="0">
                  <a:pos x="16" y="34"/>
                </a:cxn>
                <a:cxn ang="0">
                  <a:pos x="64" y="34"/>
                </a:cxn>
                <a:cxn ang="0">
                  <a:pos x="98" y="36"/>
                </a:cxn>
                <a:cxn ang="0">
                  <a:pos x="122" y="64"/>
                </a:cxn>
                <a:cxn ang="0">
                  <a:pos x="122" y="90"/>
                </a:cxn>
                <a:cxn ang="0">
                  <a:pos x="100" y="118"/>
                </a:cxn>
                <a:cxn ang="0">
                  <a:pos x="74" y="124"/>
                </a:cxn>
                <a:cxn ang="0">
                  <a:pos x="42" y="108"/>
                </a:cxn>
                <a:cxn ang="0">
                  <a:pos x="32" y="82"/>
                </a:cxn>
                <a:cxn ang="0">
                  <a:pos x="42" y="50"/>
                </a:cxn>
                <a:cxn ang="0">
                  <a:pos x="64" y="34"/>
                </a:cxn>
              </a:cxnLst>
              <a:rect l="0" t="0" r="r" b="b"/>
              <a:pathLst>
                <a:path w="156" h="156">
                  <a:moveTo>
                    <a:pt x="16" y="36"/>
                  </a:moveTo>
                  <a:lnTo>
                    <a:pt x="16" y="36"/>
                  </a:lnTo>
                  <a:lnTo>
                    <a:pt x="18" y="40"/>
                  </a:lnTo>
                  <a:lnTo>
                    <a:pt x="20" y="44"/>
                  </a:lnTo>
                  <a:lnTo>
                    <a:pt x="18" y="50"/>
                  </a:lnTo>
                  <a:lnTo>
                    <a:pt x="18" y="50"/>
                  </a:lnTo>
                  <a:lnTo>
                    <a:pt x="14" y="52"/>
                  </a:lnTo>
                  <a:lnTo>
                    <a:pt x="10" y="52"/>
                  </a:lnTo>
                  <a:lnTo>
                    <a:pt x="10" y="52"/>
                  </a:lnTo>
                  <a:lnTo>
                    <a:pt x="6" y="52"/>
                  </a:lnTo>
                  <a:lnTo>
                    <a:pt x="4" y="54"/>
                  </a:lnTo>
                  <a:lnTo>
                    <a:pt x="0" y="58"/>
                  </a:lnTo>
                  <a:lnTo>
                    <a:pt x="0" y="60"/>
                  </a:lnTo>
                  <a:lnTo>
                    <a:pt x="0" y="60"/>
                  </a:lnTo>
                  <a:lnTo>
                    <a:pt x="0" y="66"/>
                  </a:lnTo>
                  <a:lnTo>
                    <a:pt x="0" y="68"/>
                  </a:lnTo>
                  <a:lnTo>
                    <a:pt x="2" y="72"/>
                  </a:lnTo>
                  <a:lnTo>
                    <a:pt x="4" y="72"/>
                  </a:lnTo>
                  <a:lnTo>
                    <a:pt x="4" y="72"/>
                  </a:lnTo>
                  <a:lnTo>
                    <a:pt x="8" y="74"/>
                  </a:lnTo>
                  <a:lnTo>
                    <a:pt x="10" y="78"/>
                  </a:lnTo>
                  <a:lnTo>
                    <a:pt x="12" y="84"/>
                  </a:lnTo>
                  <a:lnTo>
                    <a:pt x="12" y="84"/>
                  </a:lnTo>
                  <a:lnTo>
                    <a:pt x="10" y="86"/>
                  </a:lnTo>
                  <a:lnTo>
                    <a:pt x="6" y="90"/>
                  </a:lnTo>
                  <a:lnTo>
                    <a:pt x="6" y="90"/>
                  </a:lnTo>
                  <a:lnTo>
                    <a:pt x="2" y="92"/>
                  </a:lnTo>
                  <a:lnTo>
                    <a:pt x="2" y="94"/>
                  </a:lnTo>
                  <a:lnTo>
                    <a:pt x="0" y="98"/>
                  </a:lnTo>
                  <a:lnTo>
                    <a:pt x="2" y="102"/>
                  </a:lnTo>
                  <a:lnTo>
                    <a:pt x="2" y="102"/>
                  </a:lnTo>
                  <a:lnTo>
                    <a:pt x="4" y="106"/>
                  </a:lnTo>
                  <a:lnTo>
                    <a:pt x="6" y="108"/>
                  </a:lnTo>
                  <a:lnTo>
                    <a:pt x="8" y="110"/>
                  </a:lnTo>
                  <a:lnTo>
                    <a:pt x="12" y="110"/>
                  </a:lnTo>
                  <a:lnTo>
                    <a:pt x="12" y="110"/>
                  </a:lnTo>
                  <a:lnTo>
                    <a:pt x="18" y="110"/>
                  </a:lnTo>
                  <a:lnTo>
                    <a:pt x="22" y="112"/>
                  </a:lnTo>
                  <a:lnTo>
                    <a:pt x="22" y="112"/>
                  </a:lnTo>
                  <a:lnTo>
                    <a:pt x="22" y="118"/>
                  </a:lnTo>
                  <a:lnTo>
                    <a:pt x="22" y="122"/>
                  </a:lnTo>
                  <a:lnTo>
                    <a:pt x="22" y="124"/>
                  </a:lnTo>
                  <a:lnTo>
                    <a:pt x="22" y="124"/>
                  </a:lnTo>
                  <a:lnTo>
                    <a:pt x="20" y="128"/>
                  </a:lnTo>
                  <a:lnTo>
                    <a:pt x="20" y="130"/>
                  </a:lnTo>
                  <a:lnTo>
                    <a:pt x="22" y="134"/>
                  </a:lnTo>
                  <a:lnTo>
                    <a:pt x="24" y="138"/>
                  </a:lnTo>
                  <a:lnTo>
                    <a:pt x="24" y="138"/>
                  </a:lnTo>
                  <a:lnTo>
                    <a:pt x="28" y="140"/>
                  </a:lnTo>
                  <a:lnTo>
                    <a:pt x="30" y="140"/>
                  </a:lnTo>
                  <a:lnTo>
                    <a:pt x="34" y="140"/>
                  </a:lnTo>
                  <a:lnTo>
                    <a:pt x="36" y="138"/>
                  </a:lnTo>
                  <a:lnTo>
                    <a:pt x="36" y="138"/>
                  </a:lnTo>
                  <a:lnTo>
                    <a:pt x="40" y="136"/>
                  </a:lnTo>
                  <a:lnTo>
                    <a:pt x="44" y="136"/>
                  </a:lnTo>
                  <a:lnTo>
                    <a:pt x="50" y="136"/>
                  </a:lnTo>
                  <a:lnTo>
                    <a:pt x="50" y="136"/>
                  </a:lnTo>
                  <a:lnTo>
                    <a:pt x="52" y="140"/>
                  </a:lnTo>
                  <a:lnTo>
                    <a:pt x="52" y="146"/>
                  </a:lnTo>
                  <a:lnTo>
                    <a:pt x="52" y="146"/>
                  </a:lnTo>
                  <a:lnTo>
                    <a:pt x="52" y="150"/>
                  </a:lnTo>
                  <a:lnTo>
                    <a:pt x="54" y="152"/>
                  </a:lnTo>
                  <a:lnTo>
                    <a:pt x="56" y="154"/>
                  </a:lnTo>
                  <a:lnTo>
                    <a:pt x="60" y="156"/>
                  </a:lnTo>
                  <a:lnTo>
                    <a:pt x="60" y="156"/>
                  </a:lnTo>
                  <a:lnTo>
                    <a:pt x="64" y="156"/>
                  </a:lnTo>
                  <a:lnTo>
                    <a:pt x="68" y="156"/>
                  </a:lnTo>
                  <a:lnTo>
                    <a:pt x="72" y="154"/>
                  </a:lnTo>
                  <a:lnTo>
                    <a:pt x="72" y="150"/>
                  </a:lnTo>
                  <a:lnTo>
                    <a:pt x="72" y="150"/>
                  </a:lnTo>
                  <a:lnTo>
                    <a:pt x="74" y="148"/>
                  </a:lnTo>
                  <a:lnTo>
                    <a:pt x="78" y="146"/>
                  </a:lnTo>
                  <a:lnTo>
                    <a:pt x="82" y="144"/>
                  </a:lnTo>
                  <a:lnTo>
                    <a:pt x="82" y="144"/>
                  </a:lnTo>
                  <a:lnTo>
                    <a:pt x="86" y="144"/>
                  </a:lnTo>
                  <a:lnTo>
                    <a:pt x="90" y="150"/>
                  </a:lnTo>
                  <a:lnTo>
                    <a:pt x="90" y="150"/>
                  </a:lnTo>
                  <a:lnTo>
                    <a:pt x="92" y="152"/>
                  </a:lnTo>
                  <a:lnTo>
                    <a:pt x="94" y="154"/>
                  </a:lnTo>
                  <a:lnTo>
                    <a:pt x="98" y="154"/>
                  </a:lnTo>
                  <a:lnTo>
                    <a:pt x="102" y="154"/>
                  </a:lnTo>
                  <a:lnTo>
                    <a:pt x="102" y="154"/>
                  </a:lnTo>
                  <a:lnTo>
                    <a:pt x="106" y="152"/>
                  </a:lnTo>
                  <a:lnTo>
                    <a:pt x="108" y="150"/>
                  </a:lnTo>
                  <a:lnTo>
                    <a:pt x="110" y="146"/>
                  </a:lnTo>
                  <a:lnTo>
                    <a:pt x="110" y="144"/>
                  </a:lnTo>
                  <a:lnTo>
                    <a:pt x="110" y="144"/>
                  </a:lnTo>
                  <a:lnTo>
                    <a:pt x="110" y="140"/>
                  </a:lnTo>
                  <a:lnTo>
                    <a:pt x="112" y="136"/>
                  </a:lnTo>
                  <a:lnTo>
                    <a:pt x="114" y="132"/>
                  </a:lnTo>
                  <a:lnTo>
                    <a:pt x="114" y="132"/>
                  </a:lnTo>
                  <a:lnTo>
                    <a:pt x="120" y="132"/>
                  </a:lnTo>
                  <a:lnTo>
                    <a:pt x="124" y="134"/>
                  </a:lnTo>
                  <a:lnTo>
                    <a:pt x="124" y="134"/>
                  </a:lnTo>
                  <a:lnTo>
                    <a:pt x="126" y="136"/>
                  </a:lnTo>
                  <a:lnTo>
                    <a:pt x="130" y="136"/>
                  </a:lnTo>
                  <a:lnTo>
                    <a:pt x="134" y="134"/>
                  </a:lnTo>
                  <a:lnTo>
                    <a:pt x="136" y="132"/>
                  </a:lnTo>
                  <a:lnTo>
                    <a:pt x="136" y="132"/>
                  </a:lnTo>
                  <a:lnTo>
                    <a:pt x="140" y="128"/>
                  </a:lnTo>
                  <a:lnTo>
                    <a:pt x="140" y="124"/>
                  </a:lnTo>
                  <a:lnTo>
                    <a:pt x="140" y="122"/>
                  </a:lnTo>
                  <a:lnTo>
                    <a:pt x="138" y="118"/>
                  </a:lnTo>
                  <a:lnTo>
                    <a:pt x="138" y="118"/>
                  </a:lnTo>
                  <a:lnTo>
                    <a:pt x="136" y="116"/>
                  </a:lnTo>
                  <a:lnTo>
                    <a:pt x="136" y="112"/>
                  </a:lnTo>
                  <a:lnTo>
                    <a:pt x="136" y="106"/>
                  </a:lnTo>
                  <a:lnTo>
                    <a:pt x="136" y="106"/>
                  </a:lnTo>
                  <a:lnTo>
                    <a:pt x="140" y="104"/>
                  </a:lnTo>
                  <a:lnTo>
                    <a:pt x="146" y="104"/>
                  </a:lnTo>
                  <a:lnTo>
                    <a:pt x="146" y="104"/>
                  </a:lnTo>
                  <a:lnTo>
                    <a:pt x="150" y="104"/>
                  </a:lnTo>
                  <a:lnTo>
                    <a:pt x="152" y="102"/>
                  </a:lnTo>
                  <a:lnTo>
                    <a:pt x="154" y="98"/>
                  </a:lnTo>
                  <a:lnTo>
                    <a:pt x="156" y="94"/>
                  </a:lnTo>
                  <a:lnTo>
                    <a:pt x="156" y="94"/>
                  </a:lnTo>
                  <a:lnTo>
                    <a:pt x="156" y="90"/>
                  </a:lnTo>
                  <a:lnTo>
                    <a:pt x="156" y="86"/>
                  </a:lnTo>
                  <a:lnTo>
                    <a:pt x="154" y="84"/>
                  </a:lnTo>
                  <a:lnTo>
                    <a:pt x="150" y="82"/>
                  </a:lnTo>
                  <a:lnTo>
                    <a:pt x="150" y="82"/>
                  </a:lnTo>
                  <a:lnTo>
                    <a:pt x="148" y="82"/>
                  </a:lnTo>
                  <a:lnTo>
                    <a:pt x="146" y="78"/>
                  </a:lnTo>
                  <a:lnTo>
                    <a:pt x="142" y="72"/>
                  </a:lnTo>
                  <a:lnTo>
                    <a:pt x="142" y="72"/>
                  </a:lnTo>
                  <a:lnTo>
                    <a:pt x="144" y="68"/>
                  </a:lnTo>
                  <a:lnTo>
                    <a:pt x="150" y="66"/>
                  </a:lnTo>
                  <a:lnTo>
                    <a:pt x="150" y="66"/>
                  </a:lnTo>
                  <a:lnTo>
                    <a:pt x="152" y="64"/>
                  </a:lnTo>
                  <a:lnTo>
                    <a:pt x="154" y="62"/>
                  </a:lnTo>
                  <a:lnTo>
                    <a:pt x="154" y="58"/>
                  </a:lnTo>
                  <a:lnTo>
                    <a:pt x="154" y="54"/>
                  </a:lnTo>
                  <a:lnTo>
                    <a:pt x="154" y="54"/>
                  </a:lnTo>
                  <a:lnTo>
                    <a:pt x="152" y="50"/>
                  </a:lnTo>
                  <a:lnTo>
                    <a:pt x="150" y="46"/>
                  </a:lnTo>
                  <a:lnTo>
                    <a:pt x="146" y="46"/>
                  </a:lnTo>
                  <a:lnTo>
                    <a:pt x="144" y="46"/>
                  </a:lnTo>
                  <a:lnTo>
                    <a:pt x="144" y="46"/>
                  </a:lnTo>
                  <a:lnTo>
                    <a:pt x="140" y="46"/>
                  </a:lnTo>
                  <a:lnTo>
                    <a:pt x="136" y="44"/>
                  </a:lnTo>
                  <a:lnTo>
                    <a:pt x="132" y="40"/>
                  </a:lnTo>
                  <a:lnTo>
                    <a:pt x="132" y="40"/>
                  </a:lnTo>
                  <a:lnTo>
                    <a:pt x="132" y="36"/>
                  </a:lnTo>
                  <a:lnTo>
                    <a:pt x="134" y="32"/>
                  </a:lnTo>
                  <a:lnTo>
                    <a:pt x="134" y="32"/>
                  </a:lnTo>
                  <a:lnTo>
                    <a:pt x="136" y="28"/>
                  </a:lnTo>
                  <a:lnTo>
                    <a:pt x="136" y="26"/>
                  </a:lnTo>
                  <a:lnTo>
                    <a:pt x="134" y="22"/>
                  </a:lnTo>
                  <a:lnTo>
                    <a:pt x="132" y="18"/>
                  </a:lnTo>
                  <a:lnTo>
                    <a:pt x="132" y="18"/>
                  </a:lnTo>
                  <a:lnTo>
                    <a:pt x="128" y="16"/>
                  </a:lnTo>
                  <a:lnTo>
                    <a:pt x="124" y="16"/>
                  </a:lnTo>
                  <a:lnTo>
                    <a:pt x="120" y="16"/>
                  </a:lnTo>
                  <a:lnTo>
                    <a:pt x="118" y="18"/>
                  </a:lnTo>
                  <a:lnTo>
                    <a:pt x="118" y="18"/>
                  </a:lnTo>
                  <a:lnTo>
                    <a:pt x="116" y="18"/>
                  </a:lnTo>
                  <a:lnTo>
                    <a:pt x="112" y="20"/>
                  </a:lnTo>
                  <a:lnTo>
                    <a:pt x="106" y="18"/>
                  </a:lnTo>
                  <a:lnTo>
                    <a:pt x="106" y="18"/>
                  </a:lnTo>
                  <a:lnTo>
                    <a:pt x="104" y="16"/>
                  </a:lnTo>
                  <a:lnTo>
                    <a:pt x="104" y="10"/>
                  </a:lnTo>
                  <a:lnTo>
                    <a:pt x="104" y="10"/>
                  </a:lnTo>
                  <a:lnTo>
                    <a:pt x="102" y="6"/>
                  </a:lnTo>
                  <a:lnTo>
                    <a:pt x="102" y="4"/>
                  </a:lnTo>
                  <a:lnTo>
                    <a:pt x="98" y="0"/>
                  </a:lnTo>
                  <a:lnTo>
                    <a:pt x="94" y="0"/>
                  </a:lnTo>
                  <a:lnTo>
                    <a:pt x="94" y="0"/>
                  </a:lnTo>
                  <a:lnTo>
                    <a:pt x="90" y="0"/>
                  </a:lnTo>
                  <a:lnTo>
                    <a:pt x="86" y="0"/>
                  </a:lnTo>
                  <a:lnTo>
                    <a:pt x="84" y="2"/>
                  </a:lnTo>
                  <a:lnTo>
                    <a:pt x="82" y="4"/>
                  </a:lnTo>
                  <a:lnTo>
                    <a:pt x="82" y="4"/>
                  </a:lnTo>
                  <a:lnTo>
                    <a:pt x="80" y="8"/>
                  </a:lnTo>
                  <a:lnTo>
                    <a:pt x="78" y="10"/>
                  </a:lnTo>
                  <a:lnTo>
                    <a:pt x="72" y="12"/>
                  </a:lnTo>
                  <a:lnTo>
                    <a:pt x="72" y="12"/>
                  </a:lnTo>
                  <a:lnTo>
                    <a:pt x="68" y="10"/>
                  </a:lnTo>
                  <a:lnTo>
                    <a:pt x="66" y="6"/>
                  </a:lnTo>
                  <a:lnTo>
                    <a:pt x="66" y="6"/>
                  </a:lnTo>
                  <a:lnTo>
                    <a:pt x="64" y="4"/>
                  </a:lnTo>
                  <a:lnTo>
                    <a:pt x="60" y="2"/>
                  </a:lnTo>
                  <a:lnTo>
                    <a:pt x="58" y="0"/>
                  </a:lnTo>
                  <a:lnTo>
                    <a:pt x="54" y="2"/>
                  </a:lnTo>
                  <a:lnTo>
                    <a:pt x="54" y="2"/>
                  </a:lnTo>
                  <a:lnTo>
                    <a:pt x="50" y="4"/>
                  </a:lnTo>
                  <a:lnTo>
                    <a:pt x="46" y="6"/>
                  </a:lnTo>
                  <a:lnTo>
                    <a:pt x="46" y="10"/>
                  </a:lnTo>
                  <a:lnTo>
                    <a:pt x="46" y="12"/>
                  </a:lnTo>
                  <a:lnTo>
                    <a:pt x="46" y="12"/>
                  </a:lnTo>
                  <a:lnTo>
                    <a:pt x="46" y="16"/>
                  </a:lnTo>
                  <a:lnTo>
                    <a:pt x="44" y="20"/>
                  </a:lnTo>
                  <a:lnTo>
                    <a:pt x="40" y="24"/>
                  </a:lnTo>
                  <a:lnTo>
                    <a:pt x="40" y="24"/>
                  </a:lnTo>
                  <a:lnTo>
                    <a:pt x="36" y="24"/>
                  </a:lnTo>
                  <a:lnTo>
                    <a:pt x="30" y="22"/>
                  </a:lnTo>
                  <a:lnTo>
                    <a:pt x="30" y="22"/>
                  </a:lnTo>
                  <a:lnTo>
                    <a:pt x="28" y="20"/>
                  </a:lnTo>
                  <a:lnTo>
                    <a:pt x="24" y="20"/>
                  </a:lnTo>
                  <a:lnTo>
                    <a:pt x="22" y="22"/>
                  </a:lnTo>
                  <a:lnTo>
                    <a:pt x="18" y="24"/>
                  </a:lnTo>
                  <a:lnTo>
                    <a:pt x="18" y="24"/>
                  </a:lnTo>
                  <a:lnTo>
                    <a:pt x="16" y="28"/>
                  </a:lnTo>
                  <a:lnTo>
                    <a:pt x="14" y="32"/>
                  </a:lnTo>
                  <a:lnTo>
                    <a:pt x="16" y="34"/>
                  </a:lnTo>
                  <a:lnTo>
                    <a:pt x="16" y="36"/>
                  </a:lnTo>
                  <a:lnTo>
                    <a:pt x="16" y="36"/>
                  </a:lnTo>
                  <a:close/>
                  <a:moveTo>
                    <a:pt x="64" y="34"/>
                  </a:moveTo>
                  <a:lnTo>
                    <a:pt x="64" y="34"/>
                  </a:lnTo>
                  <a:lnTo>
                    <a:pt x="72" y="32"/>
                  </a:lnTo>
                  <a:lnTo>
                    <a:pt x="82" y="32"/>
                  </a:lnTo>
                  <a:lnTo>
                    <a:pt x="90" y="34"/>
                  </a:lnTo>
                  <a:lnTo>
                    <a:pt x="98" y="36"/>
                  </a:lnTo>
                  <a:lnTo>
                    <a:pt x="106" y="42"/>
                  </a:lnTo>
                  <a:lnTo>
                    <a:pt x="112" y="48"/>
                  </a:lnTo>
                  <a:lnTo>
                    <a:pt x="118" y="56"/>
                  </a:lnTo>
                  <a:lnTo>
                    <a:pt x="122" y="64"/>
                  </a:lnTo>
                  <a:lnTo>
                    <a:pt x="122" y="64"/>
                  </a:lnTo>
                  <a:lnTo>
                    <a:pt x="124" y="72"/>
                  </a:lnTo>
                  <a:lnTo>
                    <a:pt x="124" y="82"/>
                  </a:lnTo>
                  <a:lnTo>
                    <a:pt x="122" y="90"/>
                  </a:lnTo>
                  <a:lnTo>
                    <a:pt x="118" y="98"/>
                  </a:lnTo>
                  <a:lnTo>
                    <a:pt x="114" y="106"/>
                  </a:lnTo>
                  <a:lnTo>
                    <a:pt x="108" y="112"/>
                  </a:lnTo>
                  <a:lnTo>
                    <a:pt x="100" y="118"/>
                  </a:lnTo>
                  <a:lnTo>
                    <a:pt x="92" y="122"/>
                  </a:lnTo>
                  <a:lnTo>
                    <a:pt x="92" y="122"/>
                  </a:lnTo>
                  <a:lnTo>
                    <a:pt x="82" y="124"/>
                  </a:lnTo>
                  <a:lnTo>
                    <a:pt x="74" y="124"/>
                  </a:lnTo>
                  <a:lnTo>
                    <a:pt x="64" y="122"/>
                  </a:lnTo>
                  <a:lnTo>
                    <a:pt x="56" y="118"/>
                  </a:lnTo>
                  <a:lnTo>
                    <a:pt x="50" y="114"/>
                  </a:lnTo>
                  <a:lnTo>
                    <a:pt x="42" y="108"/>
                  </a:lnTo>
                  <a:lnTo>
                    <a:pt x="38" y="100"/>
                  </a:lnTo>
                  <a:lnTo>
                    <a:pt x="34" y="92"/>
                  </a:lnTo>
                  <a:lnTo>
                    <a:pt x="34" y="92"/>
                  </a:lnTo>
                  <a:lnTo>
                    <a:pt x="32" y="82"/>
                  </a:lnTo>
                  <a:lnTo>
                    <a:pt x="32" y="74"/>
                  </a:lnTo>
                  <a:lnTo>
                    <a:pt x="34" y="64"/>
                  </a:lnTo>
                  <a:lnTo>
                    <a:pt x="36" y="56"/>
                  </a:lnTo>
                  <a:lnTo>
                    <a:pt x="42" y="50"/>
                  </a:lnTo>
                  <a:lnTo>
                    <a:pt x="48" y="42"/>
                  </a:lnTo>
                  <a:lnTo>
                    <a:pt x="54" y="38"/>
                  </a:lnTo>
                  <a:lnTo>
                    <a:pt x="64" y="34"/>
                  </a:lnTo>
                  <a:lnTo>
                    <a:pt x="64" y="34"/>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23" name="Freeform 109"/>
            <p:cNvSpPr>
              <a:spLocks noEditPoints="1"/>
            </p:cNvSpPr>
            <p:nvPr/>
          </p:nvSpPr>
          <p:spPr bwMode="gray">
            <a:xfrm>
              <a:off x="10699750" y="2222500"/>
              <a:ext cx="158750" cy="158750"/>
            </a:xfrm>
            <a:custGeom>
              <a:avLst/>
              <a:gdLst/>
              <a:ahLst/>
              <a:cxnLst>
                <a:cxn ang="0">
                  <a:pos x="12" y="28"/>
                </a:cxn>
                <a:cxn ang="0">
                  <a:pos x="8" y="34"/>
                </a:cxn>
                <a:cxn ang="0">
                  <a:pos x="2" y="34"/>
                </a:cxn>
                <a:cxn ang="0">
                  <a:pos x="0" y="44"/>
                </a:cxn>
                <a:cxn ang="0">
                  <a:pos x="6" y="50"/>
                </a:cxn>
                <a:cxn ang="0">
                  <a:pos x="6" y="56"/>
                </a:cxn>
                <a:cxn ang="0">
                  <a:pos x="0" y="60"/>
                </a:cxn>
                <a:cxn ang="0">
                  <a:pos x="4" y="70"/>
                </a:cxn>
                <a:cxn ang="0">
                  <a:pos x="10" y="70"/>
                </a:cxn>
                <a:cxn ang="0">
                  <a:pos x="14" y="76"/>
                </a:cxn>
                <a:cxn ang="0">
                  <a:pos x="12" y="84"/>
                </a:cxn>
                <a:cxn ang="0">
                  <a:pos x="20" y="90"/>
                </a:cxn>
                <a:cxn ang="0">
                  <a:pos x="28" y="88"/>
                </a:cxn>
                <a:cxn ang="0">
                  <a:pos x="32" y="90"/>
                </a:cxn>
                <a:cxn ang="0">
                  <a:pos x="34" y="98"/>
                </a:cxn>
                <a:cxn ang="0">
                  <a:pos x="44" y="100"/>
                </a:cxn>
                <a:cxn ang="0">
                  <a:pos x="50" y="94"/>
                </a:cxn>
                <a:cxn ang="0">
                  <a:pos x="56" y="92"/>
                </a:cxn>
                <a:cxn ang="0">
                  <a:pos x="60" y="98"/>
                </a:cxn>
                <a:cxn ang="0">
                  <a:pos x="70" y="96"/>
                </a:cxn>
                <a:cxn ang="0">
                  <a:pos x="70" y="88"/>
                </a:cxn>
                <a:cxn ang="0">
                  <a:pos x="76" y="84"/>
                </a:cxn>
                <a:cxn ang="0">
                  <a:pos x="84" y="86"/>
                </a:cxn>
                <a:cxn ang="0">
                  <a:pos x="90" y="80"/>
                </a:cxn>
                <a:cxn ang="0">
                  <a:pos x="86" y="72"/>
                </a:cxn>
                <a:cxn ang="0">
                  <a:pos x="90" y="66"/>
                </a:cxn>
                <a:cxn ang="0">
                  <a:pos x="98" y="64"/>
                </a:cxn>
                <a:cxn ang="0">
                  <a:pos x="100" y="56"/>
                </a:cxn>
                <a:cxn ang="0">
                  <a:pos x="92" y="50"/>
                </a:cxn>
                <a:cxn ang="0">
                  <a:pos x="92" y="44"/>
                </a:cxn>
                <a:cxn ang="0">
                  <a:pos x="98" y="38"/>
                </a:cxn>
                <a:cxn ang="0">
                  <a:pos x="96" y="30"/>
                </a:cxn>
                <a:cxn ang="0">
                  <a:pos x="88" y="28"/>
                </a:cxn>
                <a:cxn ang="0">
                  <a:pos x="84" y="24"/>
                </a:cxn>
                <a:cxn ang="0">
                  <a:pos x="86" y="16"/>
                </a:cxn>
                <a:cxn ang="0">
                  <a:pos x="80" y="10"/>
                </a:cxn>
                <a:cxn ang="0">
                  <a:pos x="72" y="12"/>
                </a:cxn>
                <a:cxn ang="0">
                  <a:pos x="66" y="10"/>
                </a:cxn>
                <a:cxn ang="0">
                  <a:pos x="64" y="2"/>
                </a:cxn>
                <a:cxn ang="0">
                  <a:pos x="56" y="0"/>
                </a:cxn>
                <a:cxn ang="0">
                  <a:pos x="50" y="6"/>
                </a:cxn>
                <a:cxn ang="0">
                  <a:pos x="44" y="6"/>
                </a:cxn>
                <a:cxn ang="0">
                  <a:pos x="38" y="0"/>
                </a:cxn>
                <a:cxn ang="0">
                  <a:pos x="30" y="4"/>
                </a:cxn>
                <a:cxn ang="0">
                  <a:pos x="28" y="12"/>
                </a:cxn>
                <a:cxn ang="0">
                  <a:pos x="22" y="16"/>
                </a:cxn>
                <a:cxn ang="0">
                  <a:pos x="16" y="12"/>
                </a:cxn>
                <a:cxn ang="0">
                  <a:pos x="10" y="20"/>
                </a:cxn>
                <a:cxn ang="0">
                  <a:pos x="40" y="22"/>
                </a:cxn>
                <a:cxn ang="0">
                  <a:pos x="52" y="20"/>
                </a:cxn>
                <a:cxn ang="0">
                  <a:pos x="76" y="36"/>
                </a:cxn>
                <a:cxn ang="0">
                  <a:pos x="78" y="46"/>
                </a:cxn>
                <a:cxn ang="0">
                  <a:pos x="68" y="72"/>
                </a:cxn>
                <a:cxn ang="0">
                  <a:pos x="58" y="78"/>
                </a:cxn>
                <a:cxn ang="0">
                  <a:pos x="36" y="76"/>
                </a:cxn>
                <a:cxn ang="0">
                  <a:pos x="22" y="58"/>
                </a:cxn>
                <a:cxn ang="0">
                  <a:pos x="20" y="48"/>
                </a:cxn>
                <a:cxn ang="0">
                  <a:pos x="34" y="24"/>
                </a:cxn>
              </a:cxnLst>
              <a:rect l="0" t="0" r="r" b="b"/>
              <a:pathLst>
                <a:path w="100" h="100">
                  <a:moveTo>
                    <a:pt x="10" y="24"/>
                  </a:moveTo>
                  <a:lnTo>
                    <a:pt x="10" y="24"/>
                  </a:lnTo>
                  <a:lnTo>
                    <a:pt x="12" y="28"/>
                  </a:lnTo>
                  <a:lnTo>
                    <a:pt x="12" y="32"/>
                  </a:lnTo>
                  <a:lnTo>
                    <a:pt x="12" y="32"/>
                  </a:lnTo>
                  <a:lnTo>
                    <a:pt x="8" y="34"/>
                  </a:lnTo>
                  <a:lnTo>
                    <a:pt x="6" y="34"/>
                  </a:lnTo>
                  <a:lnTo>
                    <a:pt x="6" y="34"/>
                  </a:lnTo>
                  <a:lnTo>
                    <a:pt x="2" y="34"/>
                  </a:lnTo>
                  <a:lnTo>
                    <a:pt x="0" y="38"/>
                  </a:lnTo>
                  <a:lnTo>
                    <a:pt x="0" y="38"/>
                  </a:lnTo>
                  <a:lnTo>
                    <a:pt x="0" y="44"/>
                  </a:lnTo>
                  <a:lnTo>
                    <a:pt x="2" y="46"/>
                  </a:lnTo>
                  <a:lnTo>
                    <a:pt x="2" y="46"/>
                  </a:lnTo>
                  <a:lnTo>
                    <a:pt x="6" y="50"/>
                  </a:lnTo>
                  <a:lnTo>
                    <a:pt x="8" y="54"/>
                  </a:lnTo>
                  <a:lnTo>
                    <a:pt x="8" y="54"/>
                  </a:lnTo>
                  <a:lnTo>
                    <a:pt x="6" y="56"/>
                  </a:lnTo>
                  <a:lnTo>
                    <a:pt x="2" y="58"/>
                  </a:lnTo>
                  <a:lnTo>
                    <a:pt x="2" y="58"/>
                  </a:lnTo>
                  <a:lnTo>
                    <a:pt x="0" y="60"/>
                  </a:lnTo>
                  <a:lnTo>
                    <a:pt x="0" y="66"/>
                  </a:lnTo>
                  <a:lnTo>
                    <a:pt x="0" y="66"/>
                  </a:lnTo>
                  <a:lnTo>
                    <a:pt x="4" y="70"/>
                  </a:lnTo>
                  <a:lnTo>
                    <a:pt x="8" y="70"/>
                  </a:lnTo>
                  <a:lnTo>
                    <a:pt x="8" y="70"/>
                  </a:lnTo>
                  <a:lnTo>
                    <a:pt x="10" y="70"/>
                  </a:lnTo>
                  <a:lnTo>
                    <a:pt x="14" y="72"/>
                  </a:lnTo>
                  <a:lnTo>
                    <a:pt x="14" y="72"/>
                  </a:lnTo>
                  <a:lnTo>
                    <a:pt x="14" y="76"/>
                  </a:lnTo>
                  <a:lnTo>
                    <a:pt x="14" y="80"/>
                  </a:lnTo>
                  <a:lnTo>
                    <a:pt x="14" y="80"/>
                  </a:lnTo>
                  <a:lnTo>
                    <a:pt x="12" y="84"/>
                  </a:lnTo>
                  <a:lnTo>
                    <a:pt x="14" y="88"/>
                  </a:lnTo>
                  <a:lnTo>
                    <a:pt x="14" y="88"/>
                  </a:lnTo>
                  <a:lnTo>
                    <a:pt x="20" y="90"/>
                  </a:lnTo>
                  <a:lnTo>
                    <a:pt x="24" y="88"/>
                  </a:lnTo>
                  <a:lnTo>
                    <a:pt x="24" y="88"/>
                  </a:lnTo>
                  <a:lnTo>
                    <a:pt x="28" y="88"/>
                  </a:lnTo>
                  <a:lnTo>
                    <a:pt x="32" y="88"/>
                  </a:lnTo>
                  <a:lnTo>
                    <a:pt x="32" y="88"/>
                  </a:lnTo>
                  <a:lnTo>
                    <a:pt x="32" y="90"/>
                  </a:lnTo>
                  <a:lnTo>
                    <a:pt x="32" y="94"/>
                  </a:lnTo>
                  <a:lnTo>
                    <a:pt x="32" y="94"/>
                  </a:lnTo>
                  <a:lnTo>
                    <a:pt x="34" y="98"/>
                  </a:lnTo>
                  <a:lnTo>
                    <a:pt x="38" y="100"/>
                  </a:lnTo>
                  <a:lnTo>
                    <a:pt x="38" y="100"/>
                  </a:lnTo>
                  <a:lnTo>
                    <a:pt x="44" y="100"/>
                  </a:lnTo>
                  <a:lnTo>
                    <a:pt x="46" y="96"/>
                  </a:lnTo>
                  <a:lnTo>
                    <a:pt x="46" y="96"/>
                  </a:lnTo>
                  <a:lnTo>
                    <a:pt x="50" y="94"/>
                  </a:lnTo>
                  <a:lnTo>
                    <a:pt x="52" y="92"/>
                  </a:lnTo>
                  <a:lnTo>
                    <a:pt x="52" y="92"/>
                  </a:lnTo>
                  <a:lnTo>
                    <a:pt x="56" y="92"/>
                  </a:lnTo>
                  <a:lnTo>
                    <a:pt x="58" y="96"/>
                  </a:lnTo>
                  <a:lnTo>
                    <a:pt x="58" y="96"/>
                  </a:lnTo>
                  <a:lnTo>
                    <a:pt x="60" y="98"/>
                  </a:lnTo>
                  <a:lnTo>
                    <a:pt x="66" y="98"/>
                  </a:lnTo>
                  <a:lnTo>
                    <a:pt x="66" y="98"/>
                  </a:lnTo>
                  <a:lnTo>
                    <a:pt x="70" y="96"/>
                  </a:lnTo>
                  <a:lnTo>
                    <a:pt x="70" y="92"/>
                  </a:lnTo>
                  <a:lnTo>
                    <a:pt x="70" y="92"/>
                  </a:lnTo>
                  <a:lnTo>
                    <a:pt x="70" y="88"/>
                  </a:lnTo>
                  <a:lnTo>
                    <a:pt x="74" y="84"/>
                  </a:lnTo>
                  <a:lnTo>
                    <a:pt x="74" y="84"/>
                  </a:lnTo>
                  <a:lnTo>
                    <a:pt x="76" y="84"/>
                  </a:lnTo>
                  <a:lnTo>
                    <a:pt x="80" y="86"/>
                  </a:lnTo>
                  <a:lnTo>
                    <a:pt x="80" y="86"/>
                  </a:lnTo>
                  <a:lnTo>
                    <a:pt x="84" y="86"/>
                  </a:lnTo>
                  <a:lnTo>
                    <a:pt x="88" y="84"/>
                  </a:lnTo>
                  <a:lnTo>
                    <a:pt x="88" y="84"/>
                  </a:lnTo>
                  <a:lnTo>
                    <a:pt x="90" y="80"/>
                  </a:lnTo>
                  <a:lnTo>
                    <a:pt x="88" y="76"/>
                  </a:lnTo>
                  <a:lnTo>
                    <a:pt x="88" y="76"/>
                  </a:lnTo>
                  <a:lnTo>
                    <a:pt x="86" y="72"/>
                  </a:lnTo>
                  <a:lnTo>
                    <a:pt x="88" y="68"/>
                  </a:lnTo>
                  <a:lnTo>
                    <a:pt x="88" y="68"/>
                  </a:lnTo>
                  <a:lnTo>
                    <a:pt x="90" y="66"/>
                  </a:lnTo>
                  <a:lnTo>
                    <a:pt x="94" y="66"/>
                  </a:lnTo>
                  <a:lnTo>
                    <a:pt x="94" y="66"/>
                  </a:lnTo>
                  <a:lnTo>
                    <a:pt x="98" y="64"/>
                  </a:lnTo>
                  <a:lnTo>
                    <a:pt x="100" y="60"/>
                  </a:lnTo>
                  <a:lnTo>
                    <a:pt x="100" y="60"/>
                  </a:lnTo>
                  <a:lnTo>
                    <a:pt x="100" y="56"/>
                  </a:lnTo>
                  <a:lnTo>
                    <a:pt x="96" y="52"/>
                  </a:lnTo>
                  <a:lnTo>
                    <a:pt x="96" y="52"/>
                  </a:lnTo>
                  <a:lnTo>
                    <a:pt x="92" y="50"/>
                  </a:lnTo>
                  <a:lnTo>
                    <a:pt x="92" y="46"/>
                  </a:lnTo>
                  <a:lnTo>
                    <a:pt x="92" y="46"/>
                  </a:lnTo>
                  <a:lnTo>
                    <a:pt x="92" y="44"/>
                  </a:lnTo>
                  <a:lnTo>
                    <a:pt x="96" y="42"/>
                  </a:lnTo>
                  <a:lnTo>
                    <a:pt x="96" y="42"/>
                  </a:lnTo>
                  <a:lnTo>
                    <a:pt x="98" y="38"/>
                  </a:lnTo>
                  <a:lnTo>
                    <a:pt x="98" y="34"/>
                  </a:lnTo>
                  <a:lnTo>
                    <a:pt x="98" y="34"/>
                  </a:lnTo>
                  <a:lnTo>
                    <a:pt x="96" y="30"/>
                  </a:lnTo>
                  <a:lnTo>
                    <a:pt x="92" y="30"/>
                  </a:lnTo>
                  <a:lnTo>
                    <a:pt x="92" y="30"/>
                  </a:lnTo>
                  <a:lnTo>
                    <a:pt x="88" y="28"/>
                  </a:lnTo>
                  <a:lnTo>
                    <a:pt x="84" y="26"/>
                  </a:lnTo>
                  <a:lnTo>
                    <a:pt x="84" y="26"/>
                  </a:lnTo>
                  <a:lnTo>
                    <a:pt x="84" y="24"/>
                  </a:lnTo>
                  <a:lnTo>
                    <a:pt x="86" y="20"/>
                  </a:lnTo>
                  <a:lnTo>
                    <a:pt x="86" y="20"/>
                  </a:lnTo>
                  <a:lnTo>
                    <a:pt x="86" y="16"/>
                  </a:lnTo>
                  <a:lnTo>
                    <a:pt x="84" y="12"/>
                  </a:lnTo>
                  <a:lnTo>
                    <a:pt x="84" y="12"/>
                  </a:lnTo>
                  <a:lnTo>
                    <a:pt x="80" y="10"/>
                  </a:lnTo>
                  <a:lnTo>
                    <a:pt x="76" y="10"/>
                  </a:lnTo>
                  <a:lnTo>
                    <a:pt x="76" y="10"/>
                  </a:lnTo>
                  <a:lnTo>
                    <a:pt x="72" y="12"/>
                  </a:lnTo>
                  <a:lnTo>
                    <a:pt x="68" y="12"/>
                  </a:lnTo>
                  <a:lnTo>
                    <a:pt x="68" y="12"/>
                  </a:lnTo>
                  <a:lnTo>
                    <a:pt x="66" y="10"/>
                  </a:lnTo>
                  <a:lnTo>
                    <a:pt x="66" y="6"/>
                  </a:lnTo>
                  <a:lnTo>
                    <a:pt x="66" y="6"/>
                  </a:lnTo>
                  <a:lnTo>
                    <a:pt x="64" y="2"/>
                  </a:lnTo>
                  <a:lnTo>
                    <a:pt x="60" y="0"/>
                  </a:lnTo>
                  <a:lnTo>
                    <a:pt x="60" y="0"/>
                  </a:lnTo>
                  <a:lnTo>
                    <a:pt x="56" y="0"/>
                  </a:lnTo>
                  <a:lnTo>
                    <a:pt x="52" y="2"/>
                  </a:lnTo>
                  <a:lnTo>
                    <a:pt x="52" y="2"/>
                  </a:lnTo>
                  <a:lnTo>
                    <a:pt x="50" y="6"/>
                  </a:lnTo>
                  <a:lnTo>
                    <a:pt x="46" y="8"/>
                  </a:lnTo>
                  <a:lnTo>
                    <a:pt x="46" y="8"/>
                  </a:lnTo>
                  <a:lnTo>
                    <a:pt x="44" y="6"/>
                  </a:lnTo>
                  <a:lnTo>
                    <a:pt x="42" y="4"/>
                  </a:lnTo>
                  <a:lnTo>
                    <a:pt x="42" y="4"/>
                  </a:lnTo>
                  <a:lnTo>
                    <a:pt x="38" y="0"/>
                  </a:lnTo>
                  <a:lnTo>
                    <a:pt x="34" y="0"/>
                  </a:lnTo>
                  <a:lnTo>
                    <a:pt x="34" y="0"/>
                  </a:lnTo>
                  <a:lnTo>
                    <a:pt x="30" y="4"/>
                  </a:lnTo>
                  <a:lnTo>
                    <a:pt x="28" y="8"/>
                  </a:lnTo>
                  <a:lnTo>
                    <a:pt x="28" y="8"/>
                  </a:lnTo>
                  <a:lnTo>
                    <a:pt x="28" y="12"/>
                  </a:lnTo>
                  <a:lnTo>
                    <a:pt x="26" y="16"/>
                  </a:lnTo>
                  <a:lnTo>
                    <a:pt x="26" y="16"/>
                  </a:lnTo>
                  <a:lnTo>
                    <a:pt x="22" y="16"/>
                  </a:lnTo>
                  <a:lnTo>
                    <a:pt x="20" y="14"/>
                  </a:lnTo>
                  <a:lnTo>
                    <a:pt x="20" y="14"/>
                  </a:lnTo>
                  <a:lnTo>
                    <a:pt x="16" y="12"/>
                  </a:lnTo>
                  <a:lnTo>
                    <a:pt x="12" y="16"/>
                  </a:lnTo>
                  <a:lnTo>
                    <a:pt x="12" y="16"/>
                  </a:lnTo>
                  <a:lnTo>
                    <a:pt x="10" y="20"/>
                  </a:lnTo>
                  <a:lnTo>
                    <a:pt x="10" y="24"/>
                  </a:lnTo>
                  <a:lnTo>
                    <a:pt x="10" y="24"/>
                  </a:lnTo>
                  <a:close/>
                  <a:moveTo>
                    <a:pt x="40" y="22"/>
                  </a:moveTo>
                  <a:lnTo>
                    <a:pt x="40" y="22"/>
                  </a:lnTo>
                  <a:lnTo>
                    <a:pt x="46" y="20"/>
                  </a:lnTo>
                  <a:lnTo>
                    <a:pt x="52" y="20"/>
                  </a:lnTo>
                  <a:lnTo>
                    <a:pt x="62" y="24"/>
                  </a:lnTo>
                  <a:lnTo>
                    <a:pt x="72" y="30"/>
                  </a:lnTo>
                  <a:lnTo>
                    <a:pt x="76" y="36"/>
                  </a:lnTo>
                  <a:lnTo>
                    <a:pt x="78" y="40"/>
                  </a:lnTo>
                  <a:lnTo>
                    <a:pt x="78" y="40"/>
                  </a:lnTo>
                  <a:lnTo>
                    <a:pt x="78" y="46"/>
                  </a:lnTo>
                  <a:lnTo>
                    <a:pt x="78" y="52"/>
                  </a:lnTo>
                  <a:lnTo>
                    <a:pt x="76" y="64"/>
                  </a:lnTo>
                  <a:lnTo>
                    <a:pt x="68" y="72"/>
                  </a:lnTo>
                  <a:lnTo>
                    <a:pt x="64" y="76"/>
                  </a:lnTo>
                  <a:lnTo>
                    <a:pt x="58" y="78"/>
                  </a:lnTo>
                  <a:lnTo>
                    <a:pt x="58" y="78"/>
                  </a:lnTo>
                  <a:lnTo>
                    <a:pt x="52" y="80"/>
                  </a:lnTo>
                  <a:lnTo>
                    <a:pt x="46" y="80"/>
                  </a:lnTo>
                  <a:lnTo>
                    <a:pt x="36" y="76"/>
                  </a:lnTo>
                  <a:lnTo>
                    <a:pt x="26" y="70"/>
                  </a:lnTo>
                  <a:lnTo>
                    <a:pt x="24" y="64"/>
                  </a:lnTo>
                  <a:lnTo>
                    <a:pt x="22" y="58"/>
                  </a:lnTo>
                  <a:lnTo>
                    <a:pt x="22" y="58"/>
                  </a:lnTo>
                  <a:lnTo>
                    <a:pt x="20" y="52"/>
                  </a:lnTo>
                  <a:lnTo>
                    <a:pt x="20" y="48"/>
                  </a:lnTo>
                  <a:lnTo>
                    <a:pt x="24" y="36"/>
                  </a:lnTo>
                  <a:lnTo>
                    <a:pt x="30" y="28"/>
                  </a:lnTo>
                  <a:lnTo>
                    <a:pt x="34" y="24"/>
                  </a:lnTo>
                  <a:lnTo>
                    <a:pt x="40" y="22"/>
                  </a:lnTo>
                  <a:lnTo>
                    <a:pt x="40" y="22"/>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24" name="Freeform 110"/>
            <p:cNvSpPr>
              <a:spLocks noEditPoints="1"/>
            </p:cNvSpPr>
            <p:nvPr/>
          </p:nvSpPr>
          <p:spPr bwMode="gray">
            <a:xfrm>
              <a:off x="10699750" y="2381250"/>
              <a:ext cx="120650" cy="123825"/>
            </a:xfrm>
            <a:custGeom>
              <a:avLst/>
              <a:gdLst/>
              <a:ahLst/>
              <a:cxnLst>
                <a:cxn ang="0">
                  <a:pos x="10" y="22"/>
                </a:cxn>
                <a:cxn ang="0">
                  <a:pos x="8" y="28"/>
                </a:cxn>
                <a:cxn ang="0">
                  <a:pos x="2" y="28"/>
                </a:cxn>
                <a:cxn ang="0">
                  <a:pos x="0" y="36"/>
                </a:cxn>
                <a:cxn ang="0">
                  <a:pos x="4" y="40"/>
                </a:cxn>
                <a:cxn ang="0">
                  <a:pos x="4" y="44"/>
                </a:cxn>
                <a:cxn ang="0">
                  <a:pos x="0" y="48"/>
                </a:cxn>
                <a:cxn ang="0">
                  <a:pos x="2" y="54"/>
                </a:cxn>
                <a:cxn ang="0">
                  <a:pos x="8" y="56"/>
                </a:cxn>
                <a:cxn ang="0">
                  <a:pos x="10" y="60"/>
                </a:cxn>
                <a:cxn ang="0">
                  <a:pos x="10" y="66"/>
                </a:cxn>
                <a:cxn ang="0">
                  <a:pos x="14" y="70"/>
                </a:cxn>
                <a:cxn ang="0">
                  <a:pos x="22" y="68"/>
                </a:cxn>
                <a:cxn ang="0">
                  <a:pos x="26" y="70"/>
                </a:cxn>
                <a:cxn ang="0">
                  <a:pos x="26" y="76"/>
                </a:cxn>
                <a:cxn ang="0">
                  <a:pos x="34" y="78"/>
                </a:cxn>
                <a:cxn ang="0">
                  <a:pos x="38" y="74"/>
                </a:cxn>
                <a:cxn ang="0">
                  <a:pos x="42" y="72"/>
                </a:cxn>
                <a:cxn ang="0">
                  <a:pos x="46" y="78"/>
                </a:cxn>
                <a:cxn ang="0">
                  <a:pos x="54" y="76"/>
                </a:cxn>
                <a:cxn ang="0">
                  <a:pos x="54" y="68"/>
                </a:cxn>
                <a:cxn ang="0">
                  <a:pos x="58" y="66"/>
                </a:cxn>
                <a:cxn ang="0">
                  <a:pos x="64" y="68"/>
                </a:cxn>
                <a:cxn ang="0">
                  <a:pos x="70" y="62"/>
                </a:cxn>
                <a:cxn ang="0">
                  <a:pos x="66" y="56"/>
                </a:cxn>
                <a:cxn ang="0">
                  <a:pos x="70" y="52"/>
                </a:cxn>
                <a:cxn ang="0">
                  <a:pos x="74" y="52"/>
                </a:cxn>
                <a:cxn ang="0">
                  <a:pos x="76" y="44"/>
                </a:cxn>
                <a:cxn ang="0">
                  <a:pos x="72" y="40"/>
                </a:cxn>
                <a:cxn ang="0">
                  <a:pos x="72" y="36"/>
                </a:cxn>
                <a:cxn ang="0">
                  <a:pos x="76" y="32"/>
                </a:cxn>
                <a:cxn ang="0">
                  <a:pos x="74" y="24"/>
                </a:cxn>
                <a:cxn ang="0">
                  <a:pos x="68" y="24"/>
                </a:cxn>
                <a:cxn ang="0">
                  <a:pos x="64" y="20"/>
                </a:cxn>
                <a:cxn ang="0">
                  <a:pos x="66" y="14"/>
                </a:cxn>
                <a:cxn ang="0">
                  <a:pos x="62" y="8"/>
                </a:cxn>
                <a:cxn ang="0">
                  <a:pos x="54" y="10"/>
                </a:cxn>
                <a:cxn ang="0">
                  <a:pos x="50" y="8"/>
                </a:cxn>
                <a:cxn ang="0">
                  <a:pos x="50" y="2"/>
                </a:cxn>
                <a:cxn ang="0">
                  <a:pos x="42" y="2"/>
                </a:cxn>
                <a:cxn ang="0">
                  <a:pos x="38" y="6"/>
                </a:cxn>
                <a:cxn ang="0">
                  <a:pos x="34" y="6"/>
                </a:cxn>
                <a:cxn ang="0">
                  <a:pos x="30" y="2"/>
                </a:cxn>
                <a:cxn ang="0">
                  <a:pos x="22" y="4"/>
                </a:cxn>
                <a:cxn ang="0">
                  <a:pos x="22" y="10"/>
                </a:cxn>
                <a:cxn ang="0">
                  <a:pos x="18" y="14"/>
                </a:cxn>
                <a:cxn ang="0">
                  <a:pos x="12" y="12"/>
                </a:cxn>
                <a:cxn ang="0">
                  <a:pos x="8" y="16"/>
                </a:cxn>
                <a:cxn ang="0">
                  <a:pos x="32" y="18"/>
                </a:cxn>
                <a:cxn ang="0">
                  <a:pos x="48" y="20"/>
                </a:cxn>
                <a:cxn ang="0">
                  <a:pos x="60" y="32"/>
                </a:cxn>
                <a:cxn ang="0">
                  <a:pos x="52" y="56"/>
                </a:cxn>
                <a:cxn ang="0">
                  <a:pos x="36" y="62"/>
                </a:cxn>
                <a:cxn ang="0">
                  <a:pos x="16" y="46"/>
                </a:cxn>
                <a:cxn ang="0">
                  <a:pos x="18" y="30"/>
                </a:cxn>
                <a:cxn ang="0">
                  <a:pos x="32" y="18"/>
                </a:cxn>
              </a:cxnLst>
              <a:rect l="0" t="0" r="r" b="b"/>
              <a:pathLst>
                <a:path w="76" h="78">
                  <a:moveTo>
                    <a:pt x="8" y="20"/>
                  </a:moveTo>
                  <a:lnTo>
                    <a:pt x="8" y="20"/>
                  </a:lnTo>
                  <a:lnTo>
                    <a:pt x="10" y="22"/>
                  </a:lnTo>
                  <a:lnTo>
                    <a:pt x="8" y="26"/>
                  </a:lnTo>
                  <a:lnTo>
                    <a:pt x="8" y="26"/>
                  </a:lnTo>
                  <a:lnTo>
                    <a:pt x="8" y="28"/>
                  </a:lnTo>
                  <a:lnTo>
                    <a:pt x="4" y="28"/>
                  </a:lnTo>
                  <a:lnTo>
                    <a:pt x="4" y="28"/>
                  </a:lnTo>
                  <a:lnTo>
                    <a:pt x="2" y="28"/>
                  </a:lnTo>
                  <a:lnTo>
                    <a:pt x="0" y="32"/>
                  </a:lnTo>
                  <a:lnTo>
                    <a:pt x="0" y="32"/>
                  </a:lnTo>
                  <a:lnTo>
                    <a:pt x="0" y="36"/>
                  </a:lnTo>
                  <a:lnTo>
                    <a:pt x="2" y="38"/>
                  </a:lnTo>
                  <a:lnTo>
                    <a:pt x="2" y="38"/>
                  </a:lnTo>
                  <a:lnTo>
                    <a:pt x="4" y="40"/>
                  </a:lnTo>
                  <a:lnTo>
                    <a:pt x="6" y="42"/>
                  </a:lnTo>
                  <a:lnTo>
                    <a:pt x="6" y="42"/>
                  </a:lnTo>
                  <a:lnTo>
                    <a:pt x="4" y="44"/>
                  </a:lnTo>
                  <a:lnTo>
                    <a:pt x="2" y="46"/>
                  </a:lnTo>
                  <a:lnTo>
                    <a:pt x="2" y="46"/>
                  </a:lnTo>
                  <a:lnTo>
                    <a:pt x="0" y="48"/>
                  </a:lnTo>
                  <a:lnTo>
                    <a:pt x="0" y="52"/>
                  </a:lnTo>
                  <a:lnTo>
                    <a:pt x="0" y="52"/>
                  </a:lnTo>
                  <a:lnTo>
                    <a:pt x="2" y="54"/>
                  </a:lnTo>
                  <a:lnTo>
                    <a:pt x="6" y="56"/>
                  </a:lnTo>
                  <a:lnTo>
                    <a:pt x="6" y="56"/>
                  </a:lnTo>
                  <a:lnTo>
                    <a:pt x="8" y="56"/>
                  </a:lnTo>
                  <a:lnTo>
                    <a:pt x="10" y="56"/>
                  </a:lnTo>
                  <a:lnTo>
                    <a:pt x="10" y="56"/>
                  </a:lnTo>
                  <a:lnTo>
                    <a:pt x="10" y="60"/>
                  </a:lnTo>
                  <a:lnTo>
                    <a:pt x="10" y="62"/>
                  </a:lnTo>
                  <a:lnTo>
                    <a:pt x="10" y="62"/>
                  </a:lnTo>
                  <a:lnTo>
                    <a:pt x="10" y="66"/>
                  </a:lnTo>
                  <a:lnTo>
                    <a:pt x="12" y="70"/>
                  </a:lnTo>
                  <a:lnTo>
                    <a:pt x="12" y="70"/>
                  </a:lnTo>
                  <a:lnTo>
                    <a:pt x="14" y="70"/>
                  </a:lnTo>
                  <a:lnTo>
                    <a:pt x="18" y="70"/>
                  </a:lnTo>
                  <a:lnTo>
                    <a:pt x="18" y="70"/>
                  </a:lnTo>
                  <a:lnTo>
                    <a:pt x="22" y="68"/>
                  </a:lnTo>
                  <a:lnTo>
                    <a:pt x="24" y="68"/>
                  </a:lnTo>
                  <a:lnTo>
                    <a:pt x="24" y="68"/>
                  </a:lnTo>
                  <a:lnTo>
                    <a:pt x="26" y="70"/>
                  </a:lnTo>
                  <a:lnTo>
                    <a:pt x="26" y="74"/>
                  </a:lnTo>
                  <a:lnTo>
                    <a:pt x="26" y="74"/>
                  </a:lnTo>
                  <a:lnTo>
                    <a:pt x="26" y="76"/>
                  </a:lnTo>
                  <a:lnTo>
                    <a:pt x="30" y="78"/>
                  </a:lnTo>
                  <a:lnTo>
                    <a:pt x="30" y="78"/>
                  </a:lnTo>
                  <a:lnTo>
                    <a:pt x="34" y="78"/>
                  </a:lnTo>
                  <a:lnTo>
                    <a:pt x="36" y="76"/>
                  </a:lnTo>
                  <a:lnTo>
                    <a:pt x="36" y="76"/>
                  </a:lnTo>
                  <a:lnTo>
                    <a:pt x="38" y="74"/>
                  </a:lnTo>
                  <a:lnTo>
                    <a:pt x="40" y="72"/>
                  </a:lnTo>
                  <a:lnTo>
                    <a:pt x="40" y="72"/>
                  </a:lnTo>
                  <a:lnTo>
                    <a:pt x="42" y="72"/>
                  </a:lnTo>
                  <a:lnTo>
                    <a:pt x="44" y="76"/>
                  </a:lnTo>
                  <a:lnTo>
                    <a:pt x="44" y="76"/>
                  </a:lnTo>
                  <a:lnTo>
                    <a:pt x="46" y="78"/>
                  </a:lnTo>
                  <a:lnTo>
                    <a:pt x="50" y="78"/>
                  </a:lnTo>
                  <a:lnTo>
                    <a:pt x="50" y="78"/>
                  </a:lnTo>
                  <a:lnTo>
                    <a:pt x="54" y="76"/>
                  </a:lnTo>
                  <a:lnTo>
                    <a:pt x="54" y="72"/>
                  </a:lnTo>
                  <a:lnTo>
                    <a:pt x="54" y="72"/>
                  </a:lnTo>
                  <a:lnTo>
                    <a:pt x="54" y="68"/>
                  </a:lnTo>
                  <a:lnTo>
                    <a:pt x="56" y="66"/>
                  </a:lnTo>
                  <a:lnTo>
                    <a:pt x="56" y="66"/>
                  </a:lnTo>
                  <a:lnTo>
                    <a:pt x="58" y="66"/>
                  </a:lnTo>
                  <a:lnTo>
                    <a:pt x="62" y="68"/>
                  </a:lnTo>
                  <a:lnTo>
                    <a:pt x="62" y="68"/>
                  </a:lnTo>
                  <a:lnTo>
                    <a:pt x="64" y="68"/>
                  </a:lnTo>
                  <a:lnTo>
                    <a:pt x="68" y="66"/>
                  </a:lnTo>
                  <a:lnTo>
                    <a:pt x="68" y="66"/>
                  </a:lnTo>
                  <a:lnTo>
                    <a:pt x="70" y="62"/>
                  </a:lnTo>
                  <a:lnTo>
                    <a:pt x="68" y="60"/>
                  </a:lnTo>
                  <a:lnTo>
                    <a:pt x="68" y="60"/>
                  </a:lnTo>
                  <a:lnTo>
                    <a:pt x="66" y="56"/>
                  </a:lnTo>
                  <a:lnTo>
                    <a:pt x="68" y="54"/>
                  </a:lnTo>
                  <a:lnTo>
                    <a:pt x="68" y="54"/>
                  </a:lnTo>
                  <a:lnTo>
                    <a:pt x="70" y="52"/>
                  </a:lnTo>
                  <a:lnTo>
                    <a:pt x="72" y="52"/>
                  </a:lnTo>
                  <a:lnTo>
                    <a:pt x="72" y="52"/>
                  </a:lnTo>
                  <a:lnTo>
                    <a:pt x="74" y="52"/>
                  </a:lnTo>
                  <a:lnTo>
                    <a:pt x="76" y="48"/>
                  </a:lnTo>
                  <a:lnTo>
                    <a:pt x="76" y="48"/>
                  </a:lnTo>
                  <a:lnTo>
                    <a:pt x="76" y="44"/>
                  </a:lnTo>
                  <a:lnTo>
                    <a:pt x="74" y="42"/>
                  </a:lnTo>
                  <a:lnTo>
                    <a:pt x="74" y="42"/>
                  </a:lnTo>
                  <a:lnTo>
                    <a:pt x="72" y="40"/>
                  </a:lnTo>
                  <a:lnTo>
                    <a:pt x="70" y="38"/>
                  </a:lnTo>
                  <a:lnTo>
                    <a:pt x="70" y="38"/>
                  </a:lnTo>
                  <a:lnTo>
                    <a:pt x="72" y="36"/>
                  </a:lnTo>
                  <a:lnTo>
                    <a:pt x="74" y="34"/>
                  </a:lnTo>
                  <a:lnTo>
                    <a:pt x="74" y="34"/>
                  </a:lnTo>
                  <a:lnTo>
                    <a:pt x="76" y="32"/>
                  </a:lnTo>
                  <a:lnTo>
                    <a:pt x="76" y="28"/>
                  </a:lnTo>
                  <a:lnTo>
                    <a:pt x="76" y="28"/>
                  </a:lnTo>
                  <a:lnTo>
                    <a:pt x="74" y="24"/>
                  </a:lnTo>
                  <a:lnTo>
                    <a:pt x="70" y="24"/>
                  </a:lnTo>
                  <a:lnTo>
                    <a:pt x="70" y="24"/>
                  </a:lnTo>
                  <a:lnTo>
                    <a:pt x="68" y="24"/>
                  </a:lnTo>
                  <a:lnTo>
                    <a:pt x="64" y="22"/>
                  </a:lnTo>
                  <a:lnTo>
                    <a:pt x="64" y="22"/>
                  </a:lnTo>
                  <a:lnTo>
                    <a:pt x="64" y="20"/>
                  </a:lnTo>
                  <a:lnTo>
                    <a:pt x="66" y="16"/>
                  </a:lnTo>
                  <a:lnTo>
                    <a:pt x="66" y="16"/>
                  </a:lnTo>
                  <a:lnTo>
                    <a:pt x="66" y="14"/>
                  </a:lnTo>
                  <a:lnTo>
                    <a:pt x="64" y="10"/>
                  </a:lnTo>
                  <a:lnTo>
                    <a:pt x="64" y="10"/>
                  </a:lnTo>
                  <a:lnTo>
                    <a:pt x="62" y="8"/>
                  </a:lnTo>
                  <a:lnTo>
                    <a:pt x="58" y="10"/>
                  </a:lnTo>
                  <a:lnTo>
                    <a:pt x="58" y="10"/>
                  </a:lnTo>
                  <a:lnTo>
                    <a:pt x="54" y="10"/>
                  </a:lnTo>
                  <a:lnTo>
                    <a:pt x="52" y="10"/>
                  </a:lnTo>
                  <a:lnTo>
                    <a:pt x="52" y="10"/>
                  </a:lnTo>
                  <a:lnTo>
                    <a:pt x="50" y="8"/>
                  </a:lnTo>
                  <a:lnTo>
                    <a:pt x="50" y="6"/>
                  </a:lnTo>
                  <a:lnTo>
                    <a:pt x="50" y="6"/>
                  </a:lnTo>
                  <a:lnTo>
                    <a:pt x="50" y="2"/>
                  </a:lnTo>
                  <a:lnTo>
                    <a:pt x="46" y="0"/>
                  </a:lnTo>
                  <a:lnTo>
                    <a:pt x="46" y="0"/>
                  </a:lnTo>
                  <a:lnTo>
                    <a:pt x="42" y="2"/>
                  </a:lnTo>
                  <a:lnTo>
                    <a:pt x="40" y="4"/>
                  </a:lnTo>
                  <a:lnTo>
                    <a:pt x="40" y="4"/>
                  </a:lnTo>
                  <a:lnTo>
                    <a:pt x="38" y="6"/>
                  </a:lnTo>
                  <a:lnTo>
                    <a:pt x="36" y="8"/>
                  </a:lnTo>
                  <a:lnTo>
                    <a:pt x="36" y="8"/>
                  </a:lnTo>
                  <a:lnTo>
                    <a:pt x="34" y="6"/>
                  </a:lnTo>
                  <a:lnTo>
                    <a:pt x="32" y="4"/>
                  </a:lnTo>
                  <a:lnTo>
                    <a:pt x="32" y="4"/>
                  </a:lnTo>
                  <a:lnTo>
                    <a:pt x="30" y="2"/>
                  </a:lnTo>
                  <a:lnTo>
                    <a:pt x="26" y="2"/>
                  </a:lnTo>
                  <a:lnTo>
                    <a:pt x="26" y="2"/>
                  </a:lnTo>
                  <a:lnTo>
                    <a:pt x="22" y="4"/>
                  </a:lnTo>
                  <a:lnTo>
                    <a:pt x="22" y="8"/>
                  </a:lnTo>
                  <a:lnTo>
                    <a:pt x="22" y="8"/>
                  </a:lnTo>
                  <a:lnTo>
                    <a:pt x="22" y="10"/>
                  </a:lnTo>
                  <a:lnTo>
                    <a:pt x="20" y="14"/>
                  </a:lnTo>
                  <a:lnTo>
                    <a:pt x="20" y="14"/>
                  </a:lnTo>
                  <a:lnTo>
                    <a:pt x="18" y="14"/>
                  </a:lnTo>
                  <a:lnTo>
                    <a:pt x="16" y="12"/>
                  </a:lnTo>
                  <a:lnTo>
                    <a:pt x="16" y="12"/>
                  </a:lnTo>
                  <a:lnTo>
                    <a:pt x="12" y="12"/>
                  </a:lnTo>
                  <a:lnTo>
                    <a:pt x="8" y="14"/>
                  </a:lnTo>
                  <a:lnTo>
                    <a:pt x="8" y="14"/>
                  </a:lnTo>
                  <a:lnTo>
                    <a:pt x="8" y="16"/>
                  </a:lnTo>
                  <a:lnTo>
                    <a:pt x="8" y="20"/>
                  </a:lnTo>
                  <a:lnTo>
                    <a:pt x="8" y="20"/>
                  </a:lnTo>
                  <a:close/>
                  <a:moveTo>
                    <a:pt x="32" y="18"/>
                  </a:moveTo>
                  <a:lnTo>
                    <a:pt x="32" y="18"/>
                  </a:lnTo>
                  <a:lnTo>
                    <a:pt x="40" y="18"/>
                  </a:lnTo>
                  <a:lnTo>
                    <a:pt x="48" y="20"/>
                  </a:lnTo>
                  <a:lnTo>
                    <a:pt x="56" y="24"/>
                  </a:lnTo>
                  <a:lnTo>
                    <a:pt x="60" y="32"/>
                  </a:lnTo>
                  <a:lnTo>
                    <a:pt x="60" y="32"/>
                  </a:lnTo>
                  <a:lnTo>
                    <a:pt x="60" y="42"/>
                  </a:lnTo>
                  <a:lnTo>
                    <a:pt x="58" y="50"/>
                  </a:lnTo>
                  <a:lnTo>
                    <a:pt x="52" y="56"/>
                  </a:lnTo>
                  <a:lnTo>
                    <a:pt x="46" y="62"/>
                  </a:lnTo>
                  <a:lnTo>
                    <a:pt x="46" y="62"/>
                  </a:lnTo>
                  <a:lnTo>
                    <a:pt x="36" y="62"/>
                  </a:lnTo>
                  <a:lnTo>
                    <a:pt x="28" y="60"/>
                  </a:lnTo>
                  <a:lnTo>
                    <a:pt x="20" y="54"/>
                  </a:lnTo>
                  <a:lnTo>
                    <a:pt x="16" y="46"/>
                  </a:lnTo>
                  <a:lnTo>
                    <a:pt x="16" y="46"/>
                  </a:lnTo>
                  <a:lnTo>
                    <a:pt x="16" y="38"/>
                  </a:lnTo>
                  <a:lnTo>
                    <a:pt x="18" y="30"/>
                  </a:lnTo>
                  <a:lnTo>
                    <a:pt x="24" y="22"/>
                  </a:lnTo>
                  <a:lnTo>
                    <a:pt x="32" y="18"/>
                  </a:lnTo>
                  <a:lnTo>
                    <a:pt x="32" y="18"/>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grpSp>
      <p:grpSp>
        <p:nvGrpSpPr>
          <p:cNvPr id="25" name="组合 69"/>
          <p:cNvGrpSpPr/>
          <p:nvPr/>
        </p:nvGrpSpPr>
        <p:grpSpPr bwMode="gray">
          <a:xfrm>
            <a:off x="689863" y="4110874"/>
            <a:ext cx="396675" cy="398258"/>
            <a:chOff x="4110038" y="3451225"/>
            <a:chExt cx="1279526" cy="1174750"/>
          </a:xfrm>
          <a:solidFill>
            <a:srgbClr val="00B0F0"/>
          </a:solidFill>
        </p:grpSpPr>
        <p:sp>
          <p:nvSpPr>
            <p:cNvPr id="26" name="Freeform 64"/>
            <p:cNvSpPr>
              <a:spLocks noEditPoints="1"/>
            </p:cNvSpPr>
            <p:nvPr/>
          </p:nvSpPr>
          <p:spPr bwMode="gray">
            <a:xfrm>
              <a:off x="4429126" y="3451225"/>
              <a:ext cx="960438" cy="1174750"/>
            </a:xfrm>
            <a:custGeom>
              <a:avLst/>
              <a:gdLst/>
              <a:ahLst/>
              <a:cxnLst>
                <a:cxn ang="0">
                  <a:pos x="9095" y="178"/>
                </a:cxn>
                <a:cxn ang="0">
                  <a:pos x="8934" y="71"/>
                </a:cxn>
                <a:cxn ang="0">
                  <a:pos x="8721" y="71"/>
                </a:cxn>
                <a:cxn ang="0">
                  <a:pos x="3324" y="34"/>
                </a:cxn>
                <a:cxn ang="0">
                  <a:pos x="3160" y="0"/>
                </a:cxn>
                <a:cxn ang="0">
                  <a:pos x="53" y="1018"/>
                </a:cxn>
                <a:cxn ang="0">
                  <a:pos x="0" y="1162"/>
                </a:cxn>
                <a:cxn ang="0">
                  <a:pos x="2663" y="9420"/>
                </a:cxn>
                <a:cxn ang="0">
                  <a:pos x="2663" y="9615"/>
                </a:cxn>
                <a:cxn ang="0">
                  <a:pos x="2144" y="10616"/>
                </a:cxn>
                <a:cxn ang="0">
                  <a:pos x="2054" y="11224"/>
                </a:cxn>
                <a:cxn ang="0">
                  <a:pos x="2554" y="12868"/>
                </a:cxn>
                <a:cxn ang="0">
                  <a:pos x="3056" y="14262"/>
                </a:cxn>
                <a:cxn ang="0">
                  <a:pos x="3305" y="14440"/>
                </a:cxn>
                <a:cxn ang="0">
                  <a:pos x="3627" y="14424"/>
                </a:cxn>
                <a:cxn ang="0">
                  <a:pos x="3860" y="14280"/>
                </a:cxn>
                <a:cxn ang="0">
                  <a:pos x="3984" y="14065"/>
                </a:cxn>
                <a:cxn ang="0">
                  <a:pos x="4020" y="13869"/>
                </a:cxn>
                <a:cxn ang="0">
                  <a:pos x="4164" y="14262"/>
                </a:cxn>
                <a:cxn ang="0">
                  <a:pos x="4502" y="14532"/>
                </a:cxn>
                <a:cxn ang="0">
                  <a:pos x="4966" y="14550"/>
                </a:cxn>
                <a:cxn ang="0">
                  <a:pos x="5218" y="14406"/>
                </a:cxn>
                <a:cxn ang="0">
                  <a:pos x="5380" y="14191"/>
                </a:cxn>
                <a:cxn ang="0">
                  <a:pos x="5449" y="13995"/>
                </a:cxn>
                <a:cxn ang="0">
                  <a:pos x="5485" y="13995"/>
                </a:cxn>
                <a:cxn ang="0">
                  <a:pos x="5700" y="14495"/>
                </a:cxn>
                <a:cxn ang="0">
                  <a:pos x="6093" y="14765"/>
                </a:cxn>
                <a:cxn ang="0">
                  <a:pos x="6611" y="14765"/>
                </a:cxn>
                <a:cxn ang="0">
                  <a:pos x="6897" y="14602"/>
                </a:cxn>
                <a:cxn ang="0">
                  <a:pos x="7095" y="14351"/>
                </a:cxn>
                <a:cxn ang="0">
                  <a:pos x="7183" y="14136"/>
                </a:cxn>
                <a:cxn ang="0">
                  <a:pos x="7236" y="14157"/>
                </a:cxn>
                <a:cxn ang="0">
                  <a:pos x="7524" y="14550"/>
                </a:cxn>
                <a:cxn ang="0">
                  <a:pos x="7987" y="14728"/>
                </a:cxn>
                <a:cxn ang="0">
                  <a:pos x="8506" y="14621"/>
                </a:cxn>
                <a:cxn ang="0">
                  <a:pos x="8845" y="14246"/>
                </a:cxn>
                <a:cxn ang="0">
                  <a:pos x="8953" y="13743"/>
                </a:cxn>
                <a:cxn ang="0">
                  <a:pos x="8452" y="12172"/>
                </a:cxn>
                <a:cxn ang="0">
                  <a:pos x="8506" y="12011"/>
                </a:cxn>
                <a:cxn ang="0">
                  <a:pos x="8791" y="12011"/>
                </a:cxn>
                <a:cxn ang="0">
                  <a:pos x="9382" y="12207"/>
                </a:cxn>
                <a:cxn ang="0">
                  <a:pos x="10078" y="12262"/>
                </a:cxn>
                <a:cxn ang="0">
                  <a:pos x="10543" y="12172"/>
                </a:cxn>
                <a:cxn ang="0">
                  <a:pos x="10866" y="12011"/>
                </a:cxn>
                <a:cxn ang="0">
                  <a:pos x="11151" y="11688"/>
                </a:cxn>
                <a:cxn ang="0">
                  <a:pos x="11329" y="11171"/>
                </a:cxn>
                <a:cxn ang="0">
                  <a:pos x="11313" y="10885"/>
                </a:cxn>
                <a:cxn ang="0">
                  <a:pos x="11115" y="10760"/>
                </a:cxn>
                <a:cxn ang="0">
                  <a:pos x="10470" y="10670"/>
                </a:cxn>
                <a:cxn ang="0">
                  <a:pos x="9863" y="10526"/>
                </a:cxn>
                <a:cxn ang="0">
                  <a:pos x="11971" y="9829"/>
                </a:cxn>
                <a:cxn ang="0">
                  <a:pos x="12081" y="9652"/>
                </a:cxn>
                <a:cxn ang="0">
                  <a:pos x="12081" y="9454"/>
                </a:cxn>
                <a:cxn ang="0">
                  <a:pos x="7631" y="9044"/>
                </a:cxn>
                <a:cxn ang="0">
                  <a:pos x="6182" y="8526"/>
                </a:cxn>
                <a:cxn ang="0">
                  <a:pos x="6040" y="8417"/>
                </a:cxn>
                <a:cxn ang="0">
                  <a:pos x="7380" y="1770"/>
                </a:cxn>
                <a:cxn ang="0">
                  <a:pos x="7524" y="1804"/>
                </a:cxn>
                <a:cxn ang="0">
                  <a:pos x="9863" y="9133"/>
                </a:cxn>
                <a:cxn ang="0">
                  <a:pos x="9758" y="9259"/>
                </a:cxn>
                <a:cxn ang="0">
                  <a:pos x="7969" y="9384"/>
                </a:cxn>
                <a:cxn ang="0">
                  <a:pos x="9183" y="4844"/>
                </a:cxn>
                <a:cxn ang="0">
                  <a:pos x="9382" y="5486"/>
                </a:cxn>
              </a:cxnLst>
              <a:rect l="0" t="0" r="r" b="b"/>
              <a:pathLst>
                <a:path w="12097" h="14799">
                  <a:moveTo>
                    <a:pt x="9167" y="302"/>
                  </a:moveTo>
                  <a:lnTo>
                    <a:pt x="9149" y="232"/>
                  </a:lnTo>
                  <a:lnTo>
                    <a:pt x="9095" y="178"/>
                  </a:lnTo>
                  <a:lnTo>
                    <a:pt x="9059" y="124"/>
                  </a:lnTo>
                  <a:lnTo>
                    <a:pt x="8989" y="90"/>
                  </a:lnTo>
                  <a:lnTo>
                    <a:pt x="8934" y="71"/>
                  </a:lnTo>
                  <a:lnTo>
                    <a:pt x="8863" y="53"/>
                  </a:lnTo>
                  <a:lnTo>
                    <a:pt x="8791" y="53"/>
                  </a:lnTo>
                  <a:lnTo>
                    <a:pt x="8721" y="71"/>
                  </a:lnTo>
                  <a:lnTo>
                    <a:pt x="3843" y="1625"/>
                  </a:lnTo>
                  <a:lnTo>
                    <a:pt x="3342" y="90"/>
                  </a:lnTo>
                  <a:lnTo>
                    <a:pt x="3324" y="34"/>
                  </a:lnTo>
                  <a:lnTo>
                    <a:pt x="3270" y="19"/>
                  </a:lnTo>
                  <a:lnTo>
                    <a:pt x="3216" y="0"/>
                  </a:lnTo>
                  <a:lnTo>
                    <a:pt x="3160" y="0"/>
                  </a:lnTo>
                  <a:lnTo>
                    <a:pt x="2144" y="319"/>
                  </a:lnTo>
                  <a:lnTo>
                    <a:pt x="90" y="980"/>
                  </a:lnTo>
                  <a:lnTo>
                    <a:pt x="53" y="1018"/>
                  </a:lnTo>
                  <a:lnTo>
                    <a:pt x="16" y="1054"/>
                  </a:lnTo>
                  <a:lnTo>
                    <a:pt x="0" y="1106"/>
                  </a:lnTo>
                  <a:lnTo>
                    <a:pt x="0" y="1162"/>
                  </a:lnTo>
                  <a:lnTo>
                    <a:pt x="499" y="2680"/>
                  </a:lnTo>
                  <a:lnTo>
                    <a:pt x="857" y="3843"/>
                  </a:lnTo>
                  <a:lnTo>
                    <a:pt x="2663" y="9420"/>
                  </a:lnTo>
                  <a:lnTo>
                    <a:pt x="2681" y="9490"/>
                  </a:lnTo>
                  <a:lnTo>
                    <a:pt x="2681" y="9544"/>
                  </a:lnTo>
                  <a:lnTo>
                    <a:pt x="2663" y="9615"/>
                  </a:lnTo>
                  <a:lnTo>
                    <a:pt x="2626" y="9670"/>
                  </a:lnTo>
                  <a:lnTo>
                    <a:pt x="2554" y="9795"/>
                  </a:lnTo>
                  <a:lnTo>
                    <a:pt x="2144" y="10616"/>
                  </a:lnTo>
                  <a:lnTo>
                    <a:pt x="2073" y="10813"/>
                  </a:lnTo>
                  <a:lnTo>
                    <a:pt x="2036" y="11028"/>
                  </a:lnTo>
                  <a:lnTo>
                    <a:pt x="2054" y="11224"/>
                  </a:lnTo>
                  <a:lnTo>
                    <a:pt x="2089" y="11420"/>
                  </a:lnTo>
                  <a:lnTo>
                    <a:pt x="2178" y="11672"/>
                  </a:lnTo>
                  <a:lnTo>
                    <a:pt x="2554" y="12868"/>
                  </a:lnTo>
                  <a:lnTo>
                    <a:pt x="2946" y="14084"/>
                  </a:lnTo>
                  <a:lnTo>
                    <a:pt x="2982" y="14173"/>
                  </a:lnTo>
                  <a:lnTo>
                    <a:pt x="3056" y="14262"/>
                  </a:lnTo>
                  <a:lnTo>
                    <a:pt x="3126" y="14334"/>
                  </a:lnTo>
                  <a:lnTo>
                    <a:pt x="3216" y="14388"/>
                  </a:lnTo>
                  <a:lnTo>
                    <a:pt x="3305" y="14440"/>
                  </a:lnTo>
                  <a:lnTo>
                    <a:pt x="3412" y="14460"/>
                  </a:lnTo>
                  <a:lnTo>
                    <a:pt x="3519" y="14460"/>
                  </a:lnTo>
                  <a:lnTo>
                    <a:pt x="3627" y="14424"/>
                  </a:lnTo>
                  <a:lnTo>
                    <a:pt x="3716" y="14388"/>
                  </a:lnTo>
                  <a:lnTo>
                    <a:pt x="3789" y="14351"/>
                  </a:lnTo>
                  <a:lnTo>
                    <a:pt x="3860" y="14280"/>
                  </a:lnTo>
                  <a:lnTo>
                    <a:pt x="3913" y="14209"/>
                  </a:lnTo>
                  <a:lnTo>
                    <a:pt x="3949" y="14136"/>
                  </a:lnTo>
                  <a:lnTo>
                    <a:pt x="3984" y="14065"/>
                  </a:lnTo>
                  <a:lnTo>
                    <a:pt x="4002" y="13976"/>
                  </a:lnTo>
                  <a:lnTo>
                    <a:pt x="4002" y="13887"/>
                  </a:lnTo>
                  <a:lnTo>
                    <a:pt x="4020" y="13869"/>
                  </a:lnTo>
                  <a:lnTo>
                    <a:pt x="4020" y="13887"/>
                  </a:lnTo>
                  <a:lnTo>
                    <a:pt x="4093" y="14102"/>
                  </a:lnTo>
                  <a:lnTo>
                    <a:pt x="4164" y="14262"/>
                  </a:lnTo>
                  <a:lnTo>
                    <a:pt x="4270" y="14388"/>
                  </a:lnTo>
                  <a:lnTo>
                    <a:pt x="4358" y="14460"/>
                  </a:lnTo>
                  <a:lnTo>
                    <a:pt x="4502" y="14532"/>
                  </a:lnTo>
                  <a:lnTo>
                    <a:pt x="4647" y="14584"/>
                  </a:lnTo>
                  <a:lnTo>
                    <a:pt x="4807" y="14584"/>
                  </a:lnTo>
                  <a:lnTo>
                    <a:pt x="4966" y="14550"/>
                  </a:lnTo>
                  <a:lnTo>
                    <a:pt x="5056" y="14514"/>
                  </a:lnTo>
                  <a:lnTo>
                    <a:pt x="5147" y="14477"/>
                  </a:lnTo>
                  <a:lnTo>
                    <a:pt x="5218" y="14406"/>
                  </a:lnTo>
                  <a:lnTo>
                    <a:pt x="5291" y="14351"/>
                  </a:lnTo>
                  <a:lnTo>
                    <a:pt x="5344" y="14262"/>
                  </a:lnTo>
                  <a:lnTo>
                    <a:pt x="5380" y="14191"/>
                  </a:lnTo>
                  <a:lnTo>
                    <a:pt x="5414" y="14102"/>
                  </a:lnTo>
                  <a:lnTo>
                    <a:pt x="5430" y="14013"/>
                  </a:lnTo>
                  <a:lnTo>
                    <a:pt x="5449" y="13995"/>
                  </a:lnTo>
                  <a:lnTo>
                    <a:pt x="5468" y="13976"/>
                  </a:lnTo>
                  <a:lnTo>
                    <a:pt x="5468" y="13995"/>
                  </a:lnTo>
                  <a:lnTo>
                    <a:pt x="5485" y="13995"/>
                  </a:lnTo>
                  <a:lnTo>
                    <a:pt x="5556" y="14226"/>
                  </a:lnTo>
                  <a:lnTo>
                    <a:pt x="5629" y="14370"/>
                  </a:lnTo>
                  <a:lnTo>
                    <a:pt x="5700" y="14495"/>
                  </a:lnTo>
                  <a:lnTo>
                    <a:pt x="5807" y="14602"/>
                  </a:lnTo>
                  <a:lnTo>
                    <a:pt x="5933" y="14691"/>
                  </a:lnTo>
                  <a:lnTo>
                    <a:pt x="6093" y="14765"/>
                  </a:lnTo>
                  <a:lnTo>
                    <a:pt x="6272" y="14799"/>
                  </a:lnTo>
                  <a:lnTo>
                    <a:pt x="6434" y="14799"/>
                  </a:lnTo>
                  <a:lnTo>
                    <a:pt x="6611" y="14765"/>
                  </a:lnTo>
                  <a:lnTo>
                    <a:pt x="6717" y="14728"/>
                  </a:lnTo>
                  <a:lnTo>
                    <a:pt x="6810" y="14676"/>
                  </a:lnTo>
                  <a:lnTo>
                    <a:pt x="6897" y="14602"/>
                  </a:lnTo>
                  <a:lnTo>
                    <a:pt x="6987" y="14532"/>
                  </a:lnTo>
                  <a:lnTo>
                    <a:pt x="7039" y="14440"/>
                  </a:lnTo>
                  <a:lnTo>
                    <a:pt x="7095" y="14351"/>
                  </a:lnTo>
                  <a:lnTo>
                    <a:pt x="7146" y="14262"/>
                  </a:lnTo>
                  <a:lnTo>
                    <a:pt x="7165" y="14157"/>
                  </a:lnTo>
                  <a:lnTo>
                    <a:pt x="7183" y="14136"/>
                  </a:lnTo>
                  <a:lnTo>
                    <a:pt x="7202" y="14136"/>
                  </a:lnTo>
                  <a:lnTo>
                    <a:pt x="7220" y="14136"/>
                  </a:lnTo>
                  <a:lnTo>
                    <a:pt x="7236" y="14157"/>
                  </a:lnTo>
                  <a:lnTo>
                    <a:pt x="7309" y="14298"/>
                  </a:lnTo>
                  <a:lnTo>
                    <a:pt x="7416" y="14440"/>
                  </a:lnTo>
                  <a:lnTo>
                    <a:pt x="7524" y="14550"/>
                  </a:lnTo>
                  <a:lnTo>
                    <a:pt x="7665" y="14639"/>
                  </a:lnTo>
                  <a:lnTo>
                    <a:pt x="7828" y="14691"/>
                  </a:lnTo>
                  <a:lnTo>
                    <a:pt x="7987" y="14728"/>
                  </a:lnTo>
                  <a:lnTo>
                    <a:pt x="8167" y="14728"/>
                  </a:lnTo>
                  <a:lnTo>
                    <a:pt x="8344" y="14691"/>
                  </a:lnTo>
                  <a:lnTo>
                    <a:pt x="8506" y="14621"/>
                  </a:lnTo>
                  <a:lnTo>
                    <a:pt x="8648" y="14514"/>
                  </a:lnTo>
                  <a:lnTo>
                    <a:pt x="8756" y="14388"/>
                  </a:lnTo>
                  <a:lnTo>
                    <a:pt x="8845" y="14246"/>
                  </a:lnTo>
                  <a:lnTo>
                    <a:pt x="8918" y="14102"/>
                  </a:lnTo>
                  <a:lnTo>
                    <a:pt x="8953" y="13921"/>
                  </a:lnTo>
                  <a:lnTo>
                    <a:pt x="8953" y="13743"/>
                  </a:lnTo>
                  <a:lnTo>
                    <a:pt x="8900" y="13584"/>
                  </a:lnTo>
                  <a:lnTo>
                    <a:pt x="8596" y="12618"/>
                  </a:lnTo>
                  <a:lnTo>
                    <a:pt x="8452" y="12172"/>
                  </a:lnTo>
                  <a:lnTo>
                    <a:pt x="8452" y="12118"/>
                  </a:lnTo>
                  <a:lnTo>
                    <a:pt x="8470" y="12065"/>
                  </a:lnTo>
                  <a:lnTo>
                    <a:pt x="8506" y="12011"/>
                  </a:lnTo>
                  <a:lnTo>
                    <a:pt x="8560" y="11993"/>
                  </a:lnTo>
                  <a:lnTo>
                    <a:pt x="8666" y="11993"/>
                  </a:lnTo>
                  <a:lnTo>
                    <a:pt x="8791" y="12011"/>
                  </a:lnTo>
                  <a:lnTo>
                    <a:pt x="9059" y="12099"/>
                  </a:lnTo>
                  <a:lnTo>
                    <a:pt x="9201" y="12172"/>
                  </a:lnTo>
                  <a:lnTo>
                    <a:pt x="9382" y="12207"/>
                  </a:lnTo>
                  <a:lnTo>
                    <a:pt x="9578" y="12242"/>
                  </a:lnTo>
                  <a:lnTo>
                    <a:pt x="9791" y="12281"/>
                  </a:lnTo>
                  <a:lnTo>
                    <a:pt x="10078" y="12262"/>
                  </a:lnTo>
                  <a:lnTo>
                    <a:pt x="10239" y="12242"/>
                  </a:lnTo>
                  <a:lnTo>
                    <a:pt x="10417" y="12207"/>
                  </a:lnTo>
                  <a:lnTo>
                    <a:pt x="10543" y="12172"/>
                  </a:lnTo>
                  <a:lnTo>
                    <a:pt x="10668" y="12118"/>
                  </a:lnTo>
                  <a:lnTo>
                    <a:pt x="10774" y="12065"/>
                  </a:lnTo>
                  <a:lnTo>
                    <a:pt x="10866" y="12011"/>
                  </a:lnTo>
                  <a:lnTo>
                    <a:pt x="10954" y="11939"/>
                  </a:lnTo>
                  <a:lnTo>
                    <a:pt x="11025" y="11850"/>
                  </a:lnTo>
                  <a:lnTo>
                    <a:pt x="11151" y="11688"/>
                  </a:lnTo>
                  <a:lnTo>
                    <a:pt x="11240" y="11509"/>
                  </a:lnTo>
                  <a:lnTo>
                    <a:pt x="11313" y="11331"/>
                  </a:lnTo>
                  <a:lnTo>
                    <a:pt x="11329" y="11171"/>
                  </a:lnTo>
                  <a:lnTo>
                    <a:pt x="11347" y="11028"/>
                  </a:lnTo>
                  <a:lnTo>
                    <a:pt x="11329" y="10939"/>
                  </a:lnTo>
                  <a:lnTo>
                    <a:pt x="11313" y="10885"/>
                  </a:lnTo>
                  <a:lnTo>
                    <a:pt x="11258" y="10831"/>
                  </a:lnTo>
                  <a:lnTo>
                    <a:pt x="11204" y="10796"/>
                  </a:lnTo>
                  <a:lnTo>
                    <a:pt x="11115" y="10760"/>
                  </a:lnTo>
                  <a:lnTo>
                    <a:pt x="10989" y="10741"/>
                  </a:lnTo>
                  <a:lnTo>
                    <a:pt x="10684" y="10706"/>
                  </a:lnTo>
                  <a:lnTo>
                    <a:pt x="10470" y="10670"/>
                  </a:lnTo>
                  <a:lnTo>
                    <a:pt x="10257" y="10635"/>
                  </a:lnTo>
                  <a:lnTo>
                    <a:pt x="10061" y="10581"/>
                  </a:lnTo>
                  <a:lnTo>
                    <a:pt x="9863" y="10526"/>
                  </a:lnTo>
                  <a:lnTo>
                    <a:pt x="11848" y="9903"/>
                  </a:lnTo>
                  <a:lnTo>
                    <a:pt x="11920" y="9866"/>
                  </a:lnTo>
                  <a:lnTo>
                    <a:pt x="11971" y="9829"/>
                  </a:lnTo>
                  <a:lnTo>
                    <a:pt x="12026" y="9777"/>
                  </a:lnTo>
                  <a:lnTo>
                    <a:pt x="12063" y="9724"/>
                  </a:lnTo>
                  <a:lnTo>
                    <a:pt x="12081" y="9652"/>
                  </a:lnTo>
                  <a:lnTo>
                    <a:pt x="12097" y="9598"/>
                  </a:lnTo>
                  <a:lnTo>
                    <a:pt x="12097" y="9526"/>
                  </a:lnTo>
                  <a:lnTo>
                    <a:pt x="12081" y="9454"/>
                  </a:lnTo>
                  <a:lnTo>
                    <a:pt x="9167" y="302"/>
                  </a:lnTo>
                  <a:close/>
                  <a:moveTo>
                    <a:pt x="7739" y="9133"/>
                  </a:moveTo>
                  <a:lnTo>
                    <a:pt x="7631" y="9044"/>
                  </a:lnTo>
                  <a:lnTo>
                    <a:pt x="7524" y="8973"/>
                  </a:lnTo>
                  <a:lnTo>
                    <a:pt x="6843" y="8742"/>
                  </a:lnTo>
                  <a:lnTo>
                    <a:pt x="6182" y="8526"/>
                  </a:lnTo>
                  <a:lnTo>
                    <a:pt x="6130" y="8506"/>
                  </a:lnTo>
                  <a:lnTo>
                    <a:pt x="6075" y="8472"/>
                  </a:lnTo>
                  <a:lnTo>
                    <a:pt x="6040" y="8417"/>
                  </a:lnTo>
                  <a:lnTo>
                    <a:pt x="6005" y="8346"/>
                  </a:lnTo>
                  <a:lnTo>
                    <a:pt x="4216" y="2768"/>
                  </a:lnTo>
                  <a:lnTo>
                    <a:pt x="7380" y="1770"/>
                  </a:lnTo>
                  <a:lnTo>
                    <a:pt x="7434" y="1751"/>
                  </a:lnTo>
                  <a:lnTo>
                    <a:pt x="7488" y="1770"/>
                  </a:lnTo>
                  <a:lnTo>
                    <a:pt x="7524" y="1804"/>
                  </a:lnTo>
                  <a:lnTo>
                    <a:pt x="7558" y="1858"/>
                  </a:lnTo>
                  <a:lnTo>
                    <a:pt x="9846" y="9079"/>
                  </a:lnTo>
                  <a:lnTo>
                    <a:pt x="9863" y="9133"/>
                  </a:lnTo>
                  <a:lnTo>
                    <a:pt x="9846" y="9185"/>
                  </a:lnTo>
                  <a:lnTo>
                    <a:pt x="9812" y="9221"/>
                  </a:lnTo>
                  <a:lnTo>
                    <a:pt x="9758" y="9259"/>
                  </a:lnTo>
                  <a:lnTo>
                    <a:pt x="8344" y="9703"/>
                  </a:lnTo>
                  <a:lnTo>
                    <a:pt x="8148" y="9544"/>
                  </a:lnTo>
                  <a:lnTo>
                    <a:pt x="7969" y="9384"/>
                  </a:lnTo>
                  <a:lnTo>
                    <a:pt x="7739" y="9133"/>
                  </a:lnTo>
                  <a:close/>
                  <a:moveTo>
                    <a:pt x="9382" y="5486"/>
                  </a:moveTo>
                  <a:lnTo>
                    <a:pt x="9183" y="4844"/>
                  </a:lnTo>
                  <a:lnTo>
                    <a:pt x="9828" y="4629"/>
                  </a:lnTo>
                  <a:lnTo>
                    <a:pt x="10043" y="5290"/>
                  </a:lnTo>
                  <a:lnTo>
                    <a:pt x="9382" y="5486"/>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27" name="Freeform 65"/>
            <p:cNvSpPr>
              <a:spLocks/>
            </p:cNvSpPr>
            <p:nvPr/>
          </p:nvSpPr>
          <p:spPr bwMode="gray">
            <a:xfrm>
              <a:off x="4110038" y="3694113"/>
              <a:ext cx="430213" cy="860425"/>
            </a:xfrm>
            <a:custGeom>
              <a:avLst/>
              <a:gdLst/>
              <a:ahLst/>
              <a:cxnLst>
                <a:cxn ang="0">
                  <a:pos x="4113" y="9276"/>
                </a:cxn>
                <a:cxn ang="0">
                  <a:pos x="4057" y="9295"/>
                </a:cxn>
                <a:cxn ang="0">
                  <a:pos x="4005" y="9276"/>
                </a:cxn>
                <a:cxn ang="0">
                  <a:pos x="3949" y="9240"/>
                </a:cxn>
                <a:cxn ang="0">
                  <a:pos x="3933" y="9186"/>
                </a:cxn>
                <a:cxn ang="0">
                  <a:pos x="1628" y="1965"/>
                </a:cxn>
                <a:cxn ang="0">
                  <a:pos x="1628" y="1911"/>
                </a:cxn>
                <a:cxn ang="0">
                  <a:pos x="1646" y="1860"/>
                </a:cxn>
                <a:cxn ang="0">
                  <a:pos x="1681" y="1806"/>
                </a:cxn>
                <a:cxn ang="0">
                  <a:pos x="1717" y="1788"/>
                </a:cxn>
                <a:cxn ang="0">
                  <a:pos x="3735" y="1143"/>
                </a:cxn>
                <a:cxn ang="0">
                  <a:pos x="3360" y="0"/>
                </a:cxn>
                <a:cxn ang="0">
                  <a:pos x="234" y="983"/>
                </a:cxn>
                <a:cxn ang="0">
                  <a:pos x="179" y="1017"/>
                </a:cxn>
                <a:cxn ang="0">
                  <a:pos x="109" y="1054"/>
                </a:cxn>
                <a:cxn ang="0">
                  <a:pos x="74" y="1107"/>
                </a:cxn>
                <a:cxn ang="0">
                  <a:pos x="37" y="1161"/>
                </a:cxn>
                <a:cxn ang="0">
                  <a:pos x="0" y="1232"/>
                </a:cxn>
                <a:cxn ang="0">
                  <a:pos x="0" y="1303"/>
                </a:cxn>
                <a:cxn ang="0">
                  <a:pos x="0" y="1376"/>
                </a:cxn>
                <a:cxn ang="0">
                  <a:pos x="0" y="1447"/>
                </a:cxn>
                <a:cxn ang="0">
                  <a:pos x="2933" y="10600"/>
                </a:cxn>
                <a:cxn ang="0">
                  <a:pos x="2951" y="10653"/>
                </a:cxn>
                <a:cxn ang="0">
                  <a:pos x="2985" y="10723"/>
                </a:cxn>
                <a:cxn ang="0">
                  <a:pos x="3040" y="10760"/>
                </a:cxn>
                <a:cxn ang="0">
                  <a:pos x="3093" y="10795"/>
                </a:cxn>
                <a:cxn ang="0">
                  <a:pos x="3166" y="10831"/>
                </a:cxn>
                <a:cxn ang="0">
                  <a:pos x="3237" y="10849"/>
                </a:cxn>
                <a:cxn ang="0">
                  <a:pos x="3306" y="10831"/>
                </a:cxn>
                <a:cxn ang="0">
                  <a:pos x="3379" y="10831"/>
                </a:cxn>
                <a:cxn ang="0">
                  <a:pos x="5417" y="10170"/>
                </a:cxn>
                <a:cxn ang="0">
                  <a:pos x="5041" y="8991"/>
                </a:cxn>
                <a:cxn ang="0">
                  <a:pos x="4113" y="9276"/>
                </a:cxn>
              </a:cxnLst>
              <a:rect l="0" t="0" r="r" b="b"/>
              <a:pathLst>
                <a:path w="5417" h="10849">
                  <a:moveTo>
                    <a:pt x="4113" y="9276"/>
                  </a:moveTo>
                  <a:lnTo>
                    <a:pt x="4057" y="9295"/>
                  </a:lnTo>
                  <a:lnTo>
                    <a:pt x="4005" y="9276"/>
                  </a:lnTo>
                  <a:lnTo>
                    <a:pt x="3949" y="9240"/>
                  </a:lnTo>
                  <a:lnTo>
                    <a:pt x="3933" y="9186"/>
                  </a:lnTo>
                  <a:lnTo>
                    <a:pt x="1628" y="1965"/>
                  </a:lnTo>
                  <a:lnTo>
                    <a:pt x="1628" y="1911"/>
                  </a:lnTo>
                  <a:lnTo>
                    <a:pt x="1646" y="1860"/>
                  </a:lnTo>
                  <a:lnTo>
                    <a:pt x="1681" y="1806"/>
                  </a:lnTo>
                  <a:lnTo>
                    <a:pt x="1717" y="1788"/>
                  </a:lnTo>
                  <a:lnTo>
                    <a:pt x="3735" y="1143"/>
                  </a:lnTo>
                  <a:lnTo>
                    <a:pt x="3360" y="0"/>
                  </a:lnTo>
                  <a:lnTo>
                    <a:pt x="234" y="983"/>
                  </a:lnTo>
                  <a:lnTo>
                    <a:pt x="179" y="1017"/>
                  </a:lnTo>
                  <a:lnTo>
                    <a:pt x="109" y="1054"/>
                  </a:lnTo>
                  <a:lnTo>
                    <a:pt x="74" y="1107"/>
                  </a:lnTo>
                  <a:lnTo>
                    <a:pt x="37" y="1161"/>
                  </a:lnTo>
                  <a:lnTo>
                    <a:pt x="0" y="1232"/>
                  </a:lnTo>
                  <a:lnTo>
                    <a:pt x="0" y="1303"/>
                  </a:lnTo>
                  <a:lnTo>
                    <a:pt x="0" y="1376"/>
                  </a:lnTo>
                  <a:lnTo>
                    <a:pt x="0" y="1447"/>
                  </a:lnTo>
                  <a:lnTo>
                    <a:pt x="2933" y="10600"/>
                  </a:lnTo>
                  <a:lnTo>
                    <a:pt x="2951" y="10653"/>
                  </a:lnTo>
                  <a:lnTo>
                    <a:pt x="2985" y="10723"/>
                  </a:lnTo>
                  <a:lnTo>
                    <a:pt x="3040" y="10760"/>
                  </a:lnTo>
                  <a:lnTo>
                    <a:pt x="3093" y="10795"/>
                  </a:lnTo>
                  <a:lnTo>
                    <a:pt x="3166" y="10831"/>
                  </a:lnTo>
                  <a:lnTo>
                    <a:pt x="3237" y="10849"/>
                  </a:lnTo>
                  <a:lnTo>
                    <a:pt x="3306" y="10831"/>
                  </a:lnTo>
                  <a:lnTo>
                    <a:pt x="3379" y="10831"/>
                  </a:lnTo>
                  <a:lnTo>
                    <a:pt x="5417" y="10170"/>
                  </a:lnTo>
                  <a:lnTo>
                    <a:pt x="5041" y="8991"/>
                  </a:lnTo>
                  <a:lnTo>
                    <a:pt x="4113" y="9276"/>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grpSp>
      <p:sp>
        <p:nvSpPr>
          <p:cNvPr id="28" name="Freeform 178"/>
          <p:cNvSpPr>
            <a:spLocks noEditPoints="1"/>
          </p:cNvSpPr>
          <p:nvPr/>
        </p:nvSpPr>
        <p:spPr bwMode="gray">
          <a:xfrm>
            <a:off x="1447391" y="4070976"/>
            <a:ext cx="459432" cy="454009"/>
          </a:xfrm>
          <a:custGeom>
            <a:avLst/>
            <a:gdLst/>
            <a:ahLst/>
            <a:cxnLst>
              <a:cxn ang="0">
                <a:pos x="15502" y="92"/>
              </a:cxn>
              <a:cxn ang="0">
                <a:pos x="16238" y="874"/>
              </a:cxn>
              <a:cxn ang="0">
                <a:pos x="16330" y="10258"/>
              </a:cxn>
              <a:cxn ang="0">
                <a:pos x="15732" y="11132"/>
              </a:cxn>
              <a:cxn ang="0">
                <a:pos x="1426" y="11362"/>
              </a:cxn>
              <a:cxn ang="0">
                <a:pos x="413" y="10948"/>
              </a:cxn>
              <a:cxn ang="0">
                <a:pos x="0" y="9936"/>
              </a:cxn>
              <a:cxn ang="0">
                <a:pos x="276" y="644"/>
              </a:cxn>
              <a:cxn ang="0">
                <a:pos x="1150" y="46"/>
              </a:cxn>
              <a:cxn ang="0">
                <a:pos x="11592" y="7406"/>
              </a:cxn>
              <a:cxn ang="0">
                <a:pos x="12788" y="6256"/>
              </a:cxn>
              <a:cxn ang="0">
                <a:pos x="6486" y="5290"/>
              </a:cxn>
              <a:cxn ang="0">
                <a:pos x="5520" y="4692"/>
              </a:cxn>
              <a:cxn ang="0">
                <a:pos x="5520" y="3726"/>
              </a:cxn>
              <a:cxn ang="0">
                <a:pos x="5520" y="3726"/>
              </a:cxn>
              <a:cxn ang="0">
                <a:pos x="5934" y="3128"/>
              </a:cxn>
              <a:cxn ang="0">
                <a:pos x="6532" y="3220"/>
              </a:cxn>
              <a:cxn ang="0">
                <a:pos x="6440" y="2668"/>
              </a:cxn>
              <a:cxn ang="0">
                <a:pos x="6072" y="3082"/>
              </a:cxn>
              <a:cxn ang="0">
                <a:pos x="6670" y="3220"/>
              </a:cxn>
              <a:cxn ang="0">
                <a:pos x="7866" y="2806"/>
              </a:cxn>
              <a:cxn ang="0">
                <a:pos x="7314" y="2806"/>
              </a:cxn>
              <a:cxn ang="0">
                <a:pos x="7590" y="3082"/>
              </a:cxn>
              <a:cxn ang="0">
                <a:pos x="7866" y="2806"/>
              </a:cxn>
              <a:cxn ang="0">
                <a:pos x="8372" y="1978"/>
              </a:cxn>
              <a:cxn ang="0">
                <a:pos x="2024" y="6348"/>
              </a:cxn>
              <a:cxn ang="0">
                <a:pos x="3588" y="7268"/>
              </a:cxn>
              <a:cxn ang="0">
                <a:pos x="10212" y="7544"/>
              </a:cxn>
              <a:cxn ang="0">
                <a:pos x="9936" y="2851"/>
              </a:cxn>
              <a:cxn ang="0">
                <a:pos x="9660" y="6992"/>
              </a:cxn>
              <a:cxn ang="0">
                <a:pos x="8601" y="6624"/>
              </a:cxn>
              <a:cxn ang="0">
                <a:pos x="2530" y="2484"/>
              </a:cxn>
              <a:cxn ang="0">
                <a:pos x="2990" y="4922"/>
              </a:cxn>
              <a:cxn ang="0">
                <a:pos x="4507" y="4646"/>
              </a:cxn>
              <a:cxn ang="0">
                <a:pos x="4140" y="4646"/>
              </a:cxn>
              <a:cxn ang="0">
                <a:pos x="3910" y="5014"/>
              </a:cxn>
              <a:cxn ang="0">
                <a:pos x="4507" y="3128"/>
              </a:cxn>
              <a:cxn ang="0">
                <a:pos x="3588" y="3082"/>
              </a:cxn>
              <a:cxn ang="0">
                <a:pos x="3679" y="4324"/>
              </a:cxn>
              <a:cxn ang="0">
                <a:pos x="4324" y="4462"/>
              </a:cxn>
              <a:cxn ang="0">
                <a:pos x="4646" y="3864"/>
              </a:cxn>
              <a:cxn ang="0">
                <a:pos x="4830" y="5244"/>
              </a:cxn>
              <a:cxn ang="0">
                <a:pos x="5382" y="14260"/>
              </a:cxn>
              <a:cxn ang="0">
                <a:pos x="10028" y="14168"/>
              </a:cxn>
              <a:cxn ang="0">
                <a:pos x="4048" y="15502"/>
              </a:cxn>
              <a:cxn ang="0">
                <a:pos x="15042" y="8832"/>
              </a:cxn>
              <a:cxn ang="0">
                <a:pos x="13432" y="9568"/>
              </a:cxn>
              <a:cxn ang="0">
                <a:pos x="13110" y="10304"/>
              </a:cxn>
              <a:cxn ang="0">
                <a:pos x="13892" y="10626"/>
              </a:cxn>
              <a:cxn ang="0">
                <a:pos x="14168" y="9844"/>
              </a:cxn>
            </a:cxnLst>
            <a:rect l="0" t="0" r="r" b="b"/>
            <a:pathLst>
              <a:path w="16376" h="15502">
                <a:moveTo>
                  <a:pt x="1426" y="0"/>
                </a:moveTo>
                <a:lnTo>
                  <a:pt x="14950" y="0"/>
                </a:lnTo>
                <a:lnTo>
                  <a:pt x="15226" y="46"/>
                </a:lnTo>
                <a:lnTo>
                  <a:pt x="15502" y="92"/>
                </a:lnTo>
                <a:lnTo>
                  <a:pt x="15732" y="230"/>
                </a:lnTo>
                <a:lnTo>
                  <a:pt x="15916" y="413"/>
                </a:lnTo>
                <a:lnTo>
                  <a:pt x="16100" y="644"/>
                </a:lnTo>
                <a:lnTo>
                  <a:pt x="16238" y="874"/>
                </a:lnTo>
                <a:lnTo>
                  <a:pt x="16330" y="1150"/>
                </a:lnTo>
                <a:lnTo>
                  <a:pt x="16376" y="1426"/>
                </a:lnTo>
                <a:lnTo>
                  <a:pt x="16376" y="9936"/>
                </a:lnTo>
                <a:lnTo>
                  <a:pt x="16330" y="10258"/>
                </a:lnTo>
                <a:lnTo>
                  <a:pt x="16238" y="10488"/>
                </a:lnTo>
                <a:lnTo>
                  <a:pt x="16100" y="10764"/>
                </a:lnTo>
                <a:lnTo>
                  <a:pt x="15916" y="10948"/>
                </a:lnTo>
                <a:lnTo>
                  <a:pt x="15732" y="11132"/>
                </a:lnTo>
                <a:lnTo>
                  <a:pt x="15502" y="11270"/>
                </a:lnTo>
                <a:lnTo>
                  <a:pt x="15226" y="11316"/>
                </a:lnTo>
                <a:lnTo>
                  <a:pt x="14950" y="11362"/>
                </a:lnTo>
                <a:lnTo>
                  <a:pt x="1426" y="11362"/>
                </a:lnTo>
                <a:lnTo>
                  <a:pt x="1150" y="11316"/>
                </a:lnTo>
                <a:lnTo>
                  <a:pt x="874" y="11270"/>
                </a:lnTo>
                <a:lnTo>
                  <a:pt x="644" y="11132"/>
                </a:lnTo>
                <a:lnTo>
                  <a:pt x="413" y="10948"/>
                </a:lnTo>
                <a:lnTo>
                  <a:pt x="276" y="10764"/>
                </a:lnTo>
                <a:lnTo>
                  <a:pt x="138" y="10488"/>
                </a:lnTo>
                <a:lnTo>
                  <a:pt x="46" y="10258"/>
                </a:lnTo>
                <a:lnTo>
                  <a:pt x="0" y="9936"/>
                </a:lnTo>
                <a:lnTo>
                  <a:pt x="0" y="1426"/>
                </a:lnTo>
                <a:lnTo>
                  <a:pt x="46" y="1150"/>
                </a:lnTo>
                <a:lnTo>
                  <a:pt x="138" y="874"/>
                </a:lnTo>
                <a:lnTo>
                  <a:pt x="276" y="644"/>
                </a:lnTo>
                <a:lnTo>
                  <a:pt x="413" y="413"/>
                </a:lnTo>
                <a:lnTo>
                  <a:pt x="644" y="230"/>
                </a:lnTo>
                <a:lnTo>
                  <a:pt x="874" y="92"/>
                </a:lnTo>
                <a:lnTo>
                  <a:pt x="1150" y="46"/>
                </a:lnTo>
                <a:lnTo>
                  <a:pt x="1426" y="0"/>
                </a:lnTo>
                <a:close/>
                <a:moveTo>
                  <a:pt x="10304" y="5520"/>
                </a:moveTo>
                <a:lnTo>
                  <a:pt x="11086" y="7912"/>
                </a:lnTo>
                <a:lnTo>
                  <a:pt x="11592" y="7406"/>
                </a:lnTo>
                <a:lnTo>
                  <a:pt x="12604" y="8372"/>
                </a:lnTo>
                <a:lnTo>
                  <a:pt x="13248" y="7728"/>
                </a:lnTo>
                <a:lnTo>
                  <a:pt x="12282" y="6762"/>
                </a:lnTo>
                <a:lnTo>
                  <a:pt x="12788" y="6256"/>
                </a:lnTo>
                <a:lnTo>
                  <a:pt x="10304" y="5520"/>
                </a:lnTo>
                <a:close/>
                <a:moveTo>
                  <a:pt x="5520" y="4922"/>
                </a:moveTo>
                <a:lnTo>
                  <a:pt x="5520" y="5290"/>
                </a:lnTo>
                <a:lnTo>
                  <a:pt x="6486" y="5290"/>
                </a:lnTo>
                <a:lnTo>
                  <a:pt x="6486" y="4922"/>
                </a:lnTo>
                <a:lnTo>
                  <a:pt x="5520" y="4922"/>
                </a:lnTo>
                <a:close/>
                <a:moveTo>
                  <a:pt x="5520" y="4324"/>
                </a:moveTo>
                <a:lnTo>
                  <a:pt x="5520" y="4692"/>
                </a:lnTo>
                <a:lnTo>
                  <a:pt x="7452" y="4692"/>
                </a:lnTo>
                <a:lnTo>
                  <a:pt x="7452" y="4324"/>
                </a:lnTo>
                <a:lnTo>
                  <a:pt x="5520" y="4324"/>
                </a:lnTo>
                <a:close/>
                <a:moveTo>
                  <a:pt x="5520" y="3726"/>
                </a:moveTo>
                <a:lnTo>
                  <a:pt x="5520" y="4094"/>
                </a:lnTo>
                <a:lnTo>
                  <a:pt x="7452" y="4094"/>
                </a:lnTo>
                <a:lnTo>
                  <a:pt x="7452" y="3726"/>
                </a:lnTo>
                <a:lnTo>
                  <a:pt x="5520" y="3726"/>
                </a:lnTo>
                <a:close/>
                <a:moveTo>
                  <a:pt x="5980" y="2668"/>
                </a:moveTo>
                <a:lnTo>
                  <a:pt x="5934" y="2668"/>
                </a:lnTo>
                <a:lnTo>
                  <a:pt x="5934" y="2714"/>
                </a:lnTo>
                <a:lnTo>
                  <a:pt x="5934" y="3128"/>
                </a:lnTo>
                <a:lnTo>
                  <a:pt x="5934" y="3220"/>
                </a:lnTo>
                <a:lnTo>
                  <a:pt x="5980" y="3220"/>
                </a:lnTo>
                <a:lnTo>
                  <a:pt x="6440" y="3220"/>
                </a:lnTo>
                <a:lnTo>
                  <a:pt x="6532" y="3220"/>
                </a:lnTo>
                <a:lnTo>
                  <a:pt x="6532" y="3128"/>
                </a:lnTo>
                <a:lnTo>
                  <a:pt x="6532" y="2714"/>
                </a:lnTo>
                <a:lnTo>
                  <a:pt x="6532" y="2668"/>
                </a:lnTo>
                <a:lnTo>
                  <a:pt x="6440" y="2668"/>
                </a:lnTo>
                <a:lnTo>
                  <a:pt x="5980" y="2668"/>
                </a:lnTo>
                <a:close/>
                <a:moveTo>
                  <a:pt x="6348" y="2806"/>
                </a:moveTo>
                <a:lnTo>
                  <a:pt x="6072" y="2806"/>
                </a:lnTo>
                <a:lnTo>
                  <a:pt x="6072" y="3082"/>
                </a:lnTo>
                <a:lnTo>
                  <a:pt x="6348" y="3082"/>
                </a:lnTo>
                <a:lnTo>
                  <a:pt x="6348" y="2806"/>
                </a:lnTo>
                <a:close/>
                <a:moveTo>
                  <a:pt x="6670" y="3036"/>
                </a:moveTo>
                <a:lnTo>
                  <a:pt x="6670" y="3220"/>
                </a:lnTo>
                <a:lnTo>
                  <a:pt x="7176" y="3220"/>
                </a:lnTo>
                <a:lnTo>
                  <a:pt x="7176" y="3036"/>
                </a:lnTo>
                <a:lnTo>
                  <a:pt x="6670" y="3036"/>
                </a:lnTo>
                <a:close/>
                <a:moveTo>
                  <a:pt x="7866" y="2806"/>
                </a:moveTo>
                <a:lnTo>
                  <a:pt x="7682" y="2668"/>
                </a:lnTo>
                <a:lnTo>
                  <a:pt x="7590" y="2760"/>
                </a:lnTo>
                <a:lnTo>
                  <a:pt x="7452" y="2668"/>
                </a:lnTo>
                <a:lnTo>
                  <a:pt x="7314" y="2806"/>
                </a:lnTo>
                <a:lnTo>
                  <a:pt x="7452" y="2898"/>
                </a:lnTo>
                <a:lnTo>
                  <a:pt x="7314" y="3082"/>
                </a:lnTo>
                <a:lnTo>
                  <a:pt x="7452" y="3220"/>
                </a:lnTo>
                <a:lnTo>
                  <a:pt x="7590" y="3082"/>
                </a:lnTo>
                <a:lnTo>
                  <a:pt x="7728" y="3220"/>
                </a:lnTo>
                <a:lnTo>
                  <a:pt x="7866" y="3082"/>
                </a:lnTo>
                <a:lnTo>
                  <a:pt x="7728" y="2898"/>
                </a:lnTo>
                <a:lnTo>
                  <a:pt x="7866" y="2806"/>
                </a:lnTo>
                <a:close/>
                <a:moveTo>
                  <a:pt x="8601" y="2851"/>
                </a:moveTo>
                <a:lnTo>
                  <a:pt x="8601" y="2208"/>
                </a:lnTo>
                <a:lnTo>
                  <a:pt x="8601" y="1978"/>
                </a:lnTo>
                <a:lnTo>
                  <a:pt x="8372" y="1978"/>
                </a:lnTo>
                <a:lnTo>
                  <a:pt x="2300" y="1978"/>
                </a:lnTo>
                <a:lnTo>
                  <a:pt x="2024" y="1978"/>
                </a:lnTo>
                <a:lnTo>
                  <a:pt x="2024" y="2208"/>
                </a:lnTo>
                <a:lnTo>
                  <a:pt x="2024" y="6348"/>
                </a:lnTo>
                <a:lnTo>
                  <a:pt x="2024" y="6624"/>
                </a:lnTo>
                <a:lnTo>
                  <a:pt x="2300" y="6624"/>
                </a:lnTo>
                <a:lnTo>
                  <a:pt x="3588" y="6624"/>
                </a:lnTo>
                <a:lnTo>
                  <a:pt x="3588" y="7268"/>
                </a:lnTo>
                <a:lnTo>
                  <a:pt x="3588" y="7544"/>
                </a:lnTo>
                <a:lnTo>
                  <a:pt x="3864" y="7544"/>
                </a:lnTo>
                <a:lnTo>
                  <a:pt x="9936" y="7544"/>
                </a:lnTo>
                <a:lnTo>
                  <a:pt x="10212" y="7544"/>
                </a:lnTo>
                <a:lnTo>
                  <a:pt x="10212" y="7268"/>
                </a:lnTo>
                <a:lnTo>
                  <a:pt x="10212" y="3128"/>
                </a:lnTo>
                <a:lnTo>
                  <a:pt x="10212" y="2851"/>
                </a:lnTo>
                <a:lnTo>
                  <a:pt x="9936" y="2851"/>
                </a:lnTo>
                <a:lnTo>
                  <a:pt x="8601" y="2851"/>
                </a:lnTo>
                <a:close/>
                <a:moveTo>
                  <a:pt x="4140" y="6624"/>
                </a:moveTo>
                <a:lnTo>
                  <a:pt x="4140" y="6992"/>
                </a:lnTo>
                <a:lnTo>
                  <a:pt x="9660" y="6992"/>
                </a:lnTo>
                <a:lnTo>
                  <a:pt x="9660" y="3404"/>
                </a:lnTo>
                <a:lnTo>
                  <a:pt x="8601" y="3404"/>
                </a:lnTo>
                <a:lnTo>
                  <a:pt x="8601" y="6348"/>
                </a:lnTo>
                <a:lnTo>
                  <a:pt x="8601" y="6624"/>
                </a:lnTo>
                <a:lnTo>
                  <a:pt x="8372" y="6624"/>
                </a:lnTo>
                <a:lnTo>
                  <a:pt x="4140" y="6624"/>
                </a:lnTo>
                <a:close/>
                <a:moveTo>
                  <a:pt x="8096" y="2484"/>
                </a:moveTo>
                <a:lnTo>
                  <a:pt x="2530" y="2484"/>
                </a:lnTo>
                <a:lnTo>
                  <a:pt x="2530" y="6119"/>
                </a:lnTo>
                <a:lnTo>
                  <a:pt x="8096" y="6119"/>
                </a:lnTo>
                <a:lnTo>
                  <a:pt x="8096" y="2484"/>
                </a:lnTo>
                <a:close/>
                <a:moveTo>
                  <a:pt x="2990" y="4922"/>
                </a:moveTo>
                <a:lnTo>
                  <a:pt x="2990" y="5520"/>
                </a:lnTo>
                <a:lnTo>
                  <a:pt x="5060" y="5520"/>
                </a:lnTo>
                <a:lnTo>
                  <a:pt x="5060" y="4922"/>
                </a:lnTo>
                <a:lnTo>
                  <a:pt x="4507" y="4646"/>
                </a:lnTo>
                <a:lnTo>
                  <a:pt x="4232" y="5014"/>
                </a:lnTo>
                <a:lnTo>
                  <a:pt x="4140" y="4784"/>
                </a:lnTo>
                <a:lnTo>
                  <a:pt x="4186" y="4692"/>
                </a:lnTo>
                <a:lnTo>
                  <a:pt x="4140" y="4646"/>
                </a:lnTo>
                <a:lnTo>
                  <a:pt x="4002" y="4646"/>
                </a:lnTo>
                <a:lnTo>
                  <a:pt x="3910" y="4692"/>
                </a:lnTo>
                <a:lnTo>
                  <a:pt x="4002" y="4784"/>
                </a:lnTo>
                <a:lnTo>
                  <a:pt x="3910" y="5014"/>
                </a:lnTo>
                <a:lnTo>
                  <a:pt x="3588" y="4646"/>
                </a:lnTo>
                <a:lnTo>
                  <a:pt x="2990" y="4922"/>
                </a:lnTo>
                <a:close/>
                <a:moveTo>
                  <a:pt x="4784" y="3220"/>
                </a:moveTo>
                <a:lnTo>
                  <a:pt x="4507" y="3128"/>
                </a:lnTo>
                <a:lnTo>
                  <a:pt x="4186" y="2990"/>
                </a:lnTo>
                <a:lnTo>
                  <a:pt x="4002" y="2990"/>
                </a:lnTo>
                <a:lnTo>
                  <a:pt x="3818" y="2990"/>
                </a:lnTo>
                <a:lnTo>
                  <a:pt x="3588" y="3082"/>
                </a:lnTo>
                <a:lnTo>
                  <a:pt x="3404" y="3220"/>
                </a:lnTo>
                <a:lnTo>
                  <a:pt x="3496" y="3864"/>
                </a:lnTo>
                <a:lnTo>
                  <a:pt x="3588" y="4186"/>
                </a:lnTo>
                <a:lnTo>
                  <a:pt x="3679" y="4324"/>
                </a:lnTo>
                <a:lnTo>
                  <a:pt x="3772" y="4462"/>
                </a:lnTo>
                <a:lnTo>
                  <a:pt x="3818" y="4462"/>
                </a:lnTo>
                <a:lnTo>
                  <a:pt x="4048" y="4508"/>
                </a:lnTo>
                <a:lnTo>
                  <a:pt x="4324" y="4462"/>
                </a:lnTo>
                <a:lnTo>
                  <a:pt x="4370" y="4462"/>
                </a:lnTo>
                <a:lnTo>
                  <a:pt x="4462" y="4324"/>
                </a:lnTo>
                <a:lnTo>
                  <a:pt x="4507" y="4186"/>
                </a:lnTo>
                <a:lnTo>
                  <a:pt x="4646" y="3864"/>
                </a:lnTo>
                <a:lnTo>
                  <a:pt x="4784" y="3220"/>
                </a:lnTo>
                <a:close/>
                <a:moveTo>
                  <a:pt x="4416" y="5152"/>
                </a:moveTo>
                <a:lnTo>
                  <a:pt x="4416" y="5244"/>
                </a:lnTo>
                <a:lnTo>
                  <a:pt x="4830" y="5244"/>
                </a:lnTo>
                <a:lnTo>
                  <a:pt x="4830" y="5152"/>
                </a:lnTo>
                <a:lnTo>
                  <a:pt x="4416" y="5152"/>
                </a:lnTo>
                <a:close/>
                <a:moveTo>
                  <a:pt x="4048" y="14490"/>
                </a:moveTo>
                <a:lnTo>
                  <a:pt x="5382" y="14260"/>
                </a:lnTo>
                <a:lnTo>
                  <a:pt x="6762" y="14122"/>
                </a:lnTo>
                <a:lnTo>
                  <a:pt x="6762" y="12190"/>
                </a:lnTo>
                <a:lnTo>
                  <a:pt x="10028" y="12190"/>
                </a:lnTo>
                <a:lnTo>
                  <a:pt x="10028" y="14168"/>
                </a:lnTo>
                <a:lnTo>
                  <a:pt x="11316" y="14306"/>
                </a:lnTo>
                <a:lnTo>
                  <a:pt x="12604" y="14490"/>
                </a:lnTo>
                <a:lnTo>
                  <a:pt x="12604" y="15502"/>
                </a:lnTo>
                <a:lnTo>
                  <a:pt x="4048" y="15502"/>
                </a:lnTo>
                <a:lnTo>
                  <a:pt x="4048" y="14490"/>
                </a:lnTo>
                <a:close/>
                <a:moveTo>
                  <a:pt x="1242" y="1334"/>
                </a:moveTo>
                <a:lnTo>
                  <a:pt x="1242" y="8832"/>
                </a:lnTo>
                <a:lnTo>
                  <a:pt x="15042" y="8832"/>
                </a:lnTo>
                <a:lnTo>
                  <a:pt x="15042" y="1334"/>
                </a:lnTo>
                <a:lnTo>
                  <a:pt x="1242" y="1334"/>
                </a:lnTo>
                <a:close/>
                <a:moveTo>
                  <a:pt x="13662" y="9522"/>
                </a:moveTo>
                <a:lnTo>
                  <a:pt x="13432" y="9568"/>
                </a:lnTo>
                <a:lnTo>
                  <a:pt x="13248" y="9660"/>
                </a:lnTo>
                <a:lnTo>
                  <a:pt x="13110" y="9844"/>
                </a:lnTo>
                <a:lnTo>
                  <a:pt x="13064" y="10074"/>
                </a:lnTo>
                <a:lnTo>
                  <a:pt x="13110" y="10304"/>
                </a:lnTo>
                <a:lnTo>
                  <a:pt x="13248" y="10488"/>
                </a:lnTo>
                <a:lnTo>
                  <a:pt x="13432" y="10626"/>
                </a:lnTo>
                <a:lnTo>
                  <a:pt x="13662" y="10672"/>
                </a:lnTo>
                <a:lnTo>
                  <a:pt x="13892" y="10626"/>
                </a:lnTo>
                <a:lnTo>
                  <a:pt x="14076" y="10488"/>
                </a:lnTo>
                <a:lnTo>
                  <a:pt x="14168" y="10304"/>
                </a:lnTo>
                <a:lnTo>
                  <a:pt x="14214" y="10074"/>
                </a:lnTo>
                <a:lnTo>
                  <a:pt x="14168" y="9844"/>
                </a:lnTo>
                <a:lnTo>
                  <a:pt x="14076" y="9660"/>
                </a:lnTo>
                <a:lnTo>
                  <a:pt x="13892" y="9568"/>
                </a:lnTo>
                <a:lnTo>
                  <a:pt x="13662" y="9522"/>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cs typeface="+mn-ea"/>
            </a:endParaRPr>
          </a:p>
        </p:txBody>
      </p:sp>
      <p:sp>
        <p:nvSpPr>
          <p:cNvPr id="29" name="TextBox 23"/>
          <p:cNvSpPr txBox="1">
            <a:spLocks noChangeArrowheads="1"/>
          </p:cNvSpPr>
          <p:nvPr/>
        </p:nvSpPr>
        <p:spPr bwMode="gray">
          <a:xfrm>
            <a:off x="5386954" y="4563214"/>
            <a:ext cx="607394" cy="257896"/>
          </a:xfrm>
          <a:prstGeom prst="rect">
            <a:avLst/>
          </a:prstGeom>
          <a:noFill/>
          <a:ln w="9525">
            <a:noFill/>
            <a:miter lim="800000"/>
            <a:headEnd/>
            <a:tailEnd/>
          </a:ln>
        </p:spPr>
        <p:txBody>
          <a:bodyPr wrap="square" lIns="72521" tIns="36261" rIns="72521" bIns="36261">
            <a:spAutoFit/>
          </a:bodyPr>
          <a:lstStyle/>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分支</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 1</a:t>
            </a:r>
          </a:p>
        </p:txBody>
      </p:sp>
      <p:sp>
        <p:nvSpPr>
          <p:cNvPr id="30" name="矩形 129"/>
          <p:cNvSpPr/>
          <p:nvPr/>
        </p:nvSpPr>
        <p:spPr bwMode="gray">
          <a:xfrm rot="5400000">
            <a:off x="5291163" y="5553399"/>
            <a:ext cx="290464" cy="276999"/>
          </a:xfrm>
          <a:prstGeom prst="rect">
            <a:avLst/>
          </a:prstGeom>
        </p:spPr>
        <p:txBody>
          <a:bodyPr wrap="none">
            <a:spAutoFit/>
          </a:bodyPr>
          <a:lstStyle/>
          <a:p>
            <a:pPr defTabSz="1219272"/>
            <a:r>
              <a:rPr lang="en-US" altLang="zh-CN" sz="1200" dirty="0">
                <a:solidFill>
                  <a:prstClr val="black"/>
                </a:solidFill>
                <a:latin typeface="Huawei Sans" panose="020C0503030203020204" pitchFamily="34" charset="0"/>
                <a:ea typeface="方正兰亭黑简体" panose="02000000000000000000" pitchFamily="2" charset="-122"/>
              </a:rPr>
              <a:t>…</a:t>
            </a:r>
            <a:endParaRPr lang="en-US" sz="1200" dirty="0">
              <a:solidFill>
                <a:prstClr val="black"/>
              </a:solidFill>
              <a:latin typeface="Huawei Sans" panose="020C0503030203020204" pitchFamily="34" charset="0"/>
              <a:ea typeface="方正兰亭黑简体" panose="02000000000000000000" pitchFamily="2" charset="-122"/>
            </a:endParaRPr>
          </a:p>
        </p:txBody>
      </p:sp>
      <p:sp>
        <p:nvSpPr>
          <p:cNvPr id="31" name="圆角矩形 75"/>
          <p:cNvSpPr/>
          <p:nvPr/>
        </p:nvSpPr>
        <p:spPr bwMode="gray">
          <a:xfrm>
            <a:off x="488738" y="2910220"/>
            <a:ext cx="5601182"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分支新业务开通周期较长</a:t>
            </a:r>
          </a:p>
        </p:txBody>
      </p:sp>
      <p:sp>
        <p:nvSpPr>
          <p:cNvPr id="32" name="圆角矩形 75"/>
          <p:cNvSpPr/>
          <p:nvPr/>
        </p:nvSpPr>
        <p:spPr bwMode="gray">
          <a:xfrm>
            <a:off x="482658" y="3345703"/>
            <a:ext cx="5603936" cy="282128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3" name="组合 221"/>
          <p:cNvGrpSpPr/>
          <p:nvPr/>
        </p:nvGrpSpPr>
        <p:grpSpPr bwMode="gray">
          <a:xfrm>
            <a:off x="732832" y="4679466"/>
            <a:ext cx="4625028" cy="1346171"/>
            <a:chOff x="6618828" y="3020703"/>
            <a:chExt cx="4626835" cy="1452738"/>
          </a:xfrm>
        </p:grpSpPr>
        <p:cxnSp>
          <p:nvCxnSpPr>
            <p:cNvPr id="34" name="直接连接符 222"/>
            <p:cNvCxnSpPr/>
            <p:nvPr/>
          </p:nvCxnSpPr>
          <p:spPr bwMode="gray">
            <a:xfrm flipH="1" flipV="1">
              <a:off x="6630536" y="3769513"/>
              <a:ext cx="0" cy="691407"/>
            </a:xfrm>
            <a:prstGeom prst="line">
              <a:avLst/>
            </a:prstGeom>
            <a:noFill/>
            <a:ln w="12700">
              <a:solidFill>
                <a:srgbClr val="56C4D2"/>
              </a:solidFill>
              <a:prstDash val="dash"/>
            </a:ln>
            <a:effectLst/>
          </p:spPr>
        </p:cxnSp>
        <p:cxnSp>
          <p:nvCxnSpPr>
            <p:cNvPr id="35" name="直接连接符 223"/>
            <p:cNvCxnSpPr/>
            <p:nvPr/>
          </p:nvCxnSpPr>
          <p:spPr bwMode="gray">
            <a:xfrm flipH="1" flipV="1">
              <a:off x="11215000" y="3051382"/>
              <a:ext cx="0" cy="691407"/>
            </a:xfrm>
            <a:prstGeom prst="line">
              <a:avLst/>
            </a:prstGeom>
            <a:noFill/>
            <a:ln w="12700">
              <a:solidFill>
                <a:srgbClr val="56C4D2"/>
              </a:solidFill>
            </a:ln>
            <a:effectLst/>
          </p:spPr>
        </p:cxnSp>
        <p:cxnSp>
          <p:nvCxnSpPr>
            <p:cNvPr id="36" name="直接连接符 224"/>
            <p:cNvCxnSpPr/>
            <p:nvPr/>
          </p:nvCxnSpPr>
          <p:spPr bwMode="gray">
            <a:xfrm flipH="1">
              <a:off x="6687263" y="3051382"/>
              <a:ext cx="4491121" cy="0"/>
            </a:xfrm>
            <a:prstGeom prst="line">
              <a:avLst/>
            </a:prstGeom>
            <a:noFill/>
            <a:ln w="12700">
              <a:solidFill>
                <a:srgbClr val="56C4D2"/>
              </a:solidFill>
            </a:ln>
            <a:effectLst/>
          </p:spPr>
        </p:cxnSp>
        <p:grpSp>
          <p:nvGrpSpPr>
            <p:cNvPr id="37" name="组合 225"/>
            <p:cNvGrpSpPr/>
            <p:nvPr/>
          </p:nvGrpSpPr>
          <p:grpSpPr bwMode="gray">
            <a:xfrm>
              <a:off x="6624137" y="3020703"/>
              <a:ext cx="4615127" cy="58139"/>
              <a:chOff x="6624137" y="3144137"/>
              <a:chExt cx="4615127" cy="58139"/>
            </a:xfrm>
            <a:solidFill>
              <a:srgbClr val="FFC000"/>
            </a:solidFill>
          </p:grpSpPr>
          <p:sp>
            <p:nvSpPr>
              <p:cNvPr id="56" name="椭圆 244"/>
              <p:cNvSpPr>
                <a:spLocks noChangeAspect="1"/>
              </p:cNvSpPr>
              <p:nvPr/>
            </p:nvSpPr>
            <p:spPr bwMode="gray">
              <a:xfrm>
                <a:off x="8170461"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57" name="椭圆 245"/>
              <p:cNvSpPr>
                <a:spLocks noChangeAspect="1"/>
              </p:cNvSpPr>
              <p:nvPr/>
            </p:nvSpPr>
            <p:spPr bwMode="gray">
              <a:xfrm>
                <a:off x="8920162"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58" name="椭圆 246"/>
              <p:cNvSpPr>
                <a:spLocks noChangeAspect="1"/>
              </p:cNvSpPr>
              <p:nvPr/>
            </p:nvSpPr>
            <p:spPr bwMode="gray">
              <a:xfrm>
                <a:off x="9670780"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59" name="椭圆 247"/>
              <p:cNvSpPr>
                <a:spLocks noChangeAspect="1"/>
              </p:cNvSpPr>
              <p:nvPr/>
            </p:nvSpPr>
            <p:spPr bwMode="gray">
              <a:xfrm>
                <a:off x="10421794"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60" name="椭圆 248"/>
              <p:cNvSpPr>
                <a:spLocks noChangeAspect="1"/>
              </p:cNvSpPr>
              <p:nvPr/>
            </p:nvSpPr>
            <p:spPr bwMode="gray">
              <a:xfrm>
                <a:off x="11182537"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61" name="椭圆 249"/>
              <p:cNvSpPr>
                <a:spLocks noChangeAspect="1"/>
              </p:cNvSpPr>
              <p:nvPr/>
            </p:nvSpPr>
            <p:spPr bwMode="gray">
              <a:xfrm>
                <a:off x="7424017"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62" name="椭圆 250"/>
              <p:cNvSpPr>
                <a:spLocks noChangeAspect="1"/>
              </p:cNvSpPr>
              <p:nvPr/>
            </p:nvSpPr>
            <p:spPr bwMode="gray">
              <a:xfrm>
                <a:off x="6624137"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grpSp>
        <p:cxnSp>
          <p:nvCxnSpPr>
            <p:cNvPr id="38" name="直接连接符 226"/>
            <p:cNvCxnSpPr>
              <a:endCxn id="55" idx="5"/>
            </p:cNvCxnSpPr>
            <p:nvPr/>
          </p:nvCxnSpPr>
          <p:spPr bwMode="gray">
            <a:xfrm flipH="1">
              <a:off x="6678956" y="3742053"/>
              <a:ext cx="4505827" cy="0"/>
            </a:xfrm>
            <a:prstGeom prst="line">
              <a:avLst/>
            </a:prstGeom>
            <a:noFill/>
            <a:ln w="12700">
              <a:solidFill>
                <a:srgbClr val="56C4D2"/>
              </a:solidFill>
            </a:ln>
            <a:effectLst/>
          </p:spPr>
        </p:cxnSp>
        <p:grpSp>
          <p:nvGrpSpPr>
            <p:cNvPr id="39" name="组合 227"/>
            <p:cNvGrpSpPr/>
            <p:nvPr/>
          </p:nvGrpSpPr>
          <p:grpSpPr bwMode="gray">
            <a:xfrm>
              <a:off x="6630536" y="3711374"/>
              <a:ext cx="4615127" cy="58139"/>
              <a:chOff x="6624137" y="3144137"/>
              <a:chExt cx="4615127" cy="58139"/>
            </a:xfrm>
            <a:solidFill>
              <a:srgbClr val="FFC000"/>
            </a:solidFill>
          </p:grpSpPr>
          <p:sp>
            <p:nvSpPr>
              <p:cNvPr id="49" name="椭圆 237"/>
              <p:cNvSpPr>
                <a:spLocks noChangeAspect="1"/>
              </p:cNvSpPr>
              <p:nvPr/>
            </p:nvSpPr>
            <p:spPr bwMode="gray">
              <a:xfrm>
                <a:off x="8170461"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50" name="椭圆 238"/>
              <p:cNvSpPr>
                <a:spLocks noChangeAspect="1"/>
              </p:cNvSpPr>
              <p:nvPr/>
            </p:nvSpPr>
            <p:spPr bwMode="gray">
              <a:xfrm>
                <a:off x="8920162"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51" name="椭圆 239"/>
              <p:cNvSpPr>
                <a:spLocks noChangeAspect="1"/>
              </p:cNvSpPr>
              <p:nvPr/>
            </p:nvSpPr>
            <p:spPr bwMode="gray">
              <a:xfrm>
                <a:off x="9670780"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52" name="椭圆 240"/>
              <p:cNvSpPr>
                <a:spLocks noChangeAspect="1"/>
              </p:cNvSpPr>
              <p:nvPr/>
            </p:nvSpPr>
            <p:spPr bwMode="gray">
              <a:xfrm>
                <a:off x="10421794"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53" name="椭圆 241"/>
              <p:cNvSpPr>
                <a:spLocks noChangeAspect="1"/>
              </p:cNvSpPr>
              <p:nvPr/>
            </p:nvSpPr>
            <p:spPr bwMode="gray">
              <a:xfrm>
                <a:off x="11182537"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54" name="椭圆 242"/>
              <p:cNvSpPr>
                <a:spLocks noChangeAspect="1"/>
              </p:cNvSpPr>
              <p:nvPr/>
            </p:nvSpPr>
            <p:spPr bwMode="gray">
              <a:xfrm>
                <a:off x="7424017"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55" name="椭圆 243"/>
              <p:cNvSpPr>
                <a:spLocks noChangeAspect="1"/>
              </p:cNvSpPr>
              <p:nvPr/>
            </p:nvSpPr>
            <p:spPr bwMode="gray">
              <a:xfrm>
                <a:off x="6624137"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grpSp>
        <p:cxnSp>
          <p:nvCxnSpPr>
            <p:cNvPr id="40" name="直接连接符 228"/>
            <p:cNvCxnSpPr>
              <a:endCxn id="48" idx="5"/>
            </p:cNvCxnSpPr>
            <p:nvPr/>
          </p:nvCxnSpPr>
          <p:spPr bwMode="gray">
            <a:xfrm flipH="1">
              <a:off x="6667248" y="4445981"/>
              <a:ext cx="4505827" cy="0"/>
            </a:xfrm>
            <a:prstGeom prst="line">
              <a:avLst/>
            </a:prstGeom>
            <a:noFill/>
            <a:ln w="12700">
              <a:solidFill>
                <a:srgbClr val="56C4D2"/>
              </a:solidFill>
            </a:ln>
            <a:effectLst/>
          </p:spPr>
        </p:cxnSp>
        <p:grpSp>
          <p:nvGrpSpPr>
            <p:cNvPr id="41" name="组合 229"/>
            <p:cNvGrpSpPr/>
            <p:nvPr/>
          </p:nvGrpSpPr>
          <p:grpSpPr bwMode="gray">
            <a:xfrm>
              <a:off x="6618828" y="4415302"/>
              <a:ext cx="4615127" cy="58139"/>
              <a:chOff x="6624137" y="3144137"/>
              <a:chExt cx="4615127" cy="58139"/>
            </a:xfrm>
            <a:solidFill>
              <a:srgbClr val="FFC000"/>
            </a:solidFill>
          </p:grpSpPr>
          <p:sp>
            <p:nvSpPr>
              <p:cNvPr id="42" name="椭圆 230"/>
              <p:cNvSpPr>
                <a:spLocks noChangeAspect="1"/>
              </p:cNvSpPr>
              <p:nvPr/>
            </p:nvSpPr>
            <p:spPr bwMode="gray">
              <a:xfrm>
                <a:off x="8170461"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43" name="椭圆 231"/>
              <p:cNvSpPr>
                <a:spLocks noChangeAspect="1"/>
              </p:cNvSpPr>
              <p:nvPr/>
            </p:nvSpPr>
            <p:spPr bwMode="gray">
              <a:xfrm>
                <a:off x="8920162"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44" name="椭圆 232"/>
              <p:cNvSpPr>
                <a:spLocks noChangeAspect="1"/>
              </p:cNvSpPr>
              <p:nvPr/>
            </p:nvSpPr>
            <p:spPr bwMode="gray">
              <a:xfrm>
                <a:off x="9670780"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45" name="椭圆 233"/>
              <p:cNvSpPr>
                <a:spLocks noChangeAspect="1"/>
              </p:cNvSpPr>
              <p:nvPr/>
            </p:nvSpPr>
            <p:spPr bwMode="gray">
              <a:xfrm>
                <a:off x="10421794"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46" name="椭圆 234"/>
              <p:cNvSpPr>
                <a:spLocks noChangeAspect="1"/>
              </p:cNvSpPr>
              <p:nvPr/>
            </p:nvSpPr>
            <p:spPr bwMode="gray">
              <a:xfrm>
                <a:off x="11182537"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47" name="椭圆 235"/>
              <p:cNvSpPr>
                <a:spLocks noChangeAspect="1"/>
              </p:cNvSpPr>
              <p:nvPr/>
            </p:nvSpPr>
            <p:spPr bwMode="gray">
              <a:xfrm>
                <a:off x="7424017"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sp>
            <p:nvSpPr>
              <p:cNvPr id="48" name="椭圆 236"/>
              <p:cNvSpPr>
                <a:spLocks noChangeAspect="1"/>
              </p:cNvSpPr>
              <p:nvPr/>
            </p:nvSpPr>
            <p:spPr bwMode="gray">
              <a:xfrm>
                <a:off x="6624137" y="3144137"/>
                <a:ext cx="56727" cy="58139"/>
              </a:xfrm>
              <a:prstGeom prst="ellipse">
                <a:avLst/>
              </a:prstGeom>
              <a:grpFill/>
              <a:ln w="53975" cap="flat" cmpd="sng" algn="ctr">
                <a:solidFill>
                  <a:srgbClr val="FFC000"/>
                </a:solidFill>
                <a:prstDash val="solid"/>
                <a:headEnd type="none" w="med" len="med"/>
                <a:tailEnd type="none" w="med" len="med"/>
              </a:ln>
              <a:effectLst>
                <a:glow rad="63500">
                  <a:srgbClr val="1DC7F4">
                    <a:alpha val="12941"/>
                  </a:srgbClr>
                </a:glow>
              </a:effectLst>
            </p:spPr>
            <p:txBody>
              <a:bodyPr vert="horz" wrap="square" lIns="91404" tIns="45702" rIns="91404" bIns="45702" numCol="1" rtlCol="0" anchor="t" anchorCtr="0" compatLnSpc="1">
                <a:prstTxWarp prst="textNoShape">
                  <a:avLst/>
                </a:prstTxWarp>
              </a:bodyPr>
              <a:lstStyle/>
              <a:p>
                <a:pPr defTabSz="914034" fontAlgn="base">
                  <a:buClr>
                    <a:srgbClr val="CC9900"/>
                  </a:buClr>
                  <a:buFont typeface="Wingdings" pitchFamily="2" charset="2"/>
                  <a:buChar char="n"/>
                  <a:defRPr/>
                </a:pPr>
                <a:endParaRPr lang="zh-CN" altLang="en-US" sz="600" b="1" kern="0" dirty="0">
                  <a:solidFill>
                    <a:prstClr val="black"/>
                  </a:solidFill>
                  <a:latin typeface="方正兰亭黑简体" panose="02000000000000000000" pitchFamily="2" charset="-122"/>
                  <a:ea typeface="方正兰亭黑简体" panose="02000000000000000000" pitchFamily="2" charset="-122"/>
                </a:endParaRPr>
              </a:p>
            </p:txBody>
          </p:sp>
        </p:grpSp>
      </p:grpSp>
      <p:sp>
        <p:nvSpPr>
          <p:cNvPr id="63" name="TextBox 23"/>
          <p:cNvSpPr txBox="1">
            <a:spLocks noChangeArrowheads="1"/>
          </p:cNvSpPr>
          <p:nvPr/>
        </p:nvSpPr>
        <p:spPr bwMode="gray">
          <a:xfrm>
            <a:off x="5386954" y="5227599"/>
            <a:ext cx="607394" cy="257896"/>
          </a:xfrm>
          <a:prstGeom prst="rect">
            <a:avLst/>
          </a:prstGeom>
          <a:noFill/>
          <a:ln w="9525">
            <a:noFill/>
            <a:miter lim="800000"/>
            <a:headEnd/>
            <a:tailEnd/>
          </a:ln>
        </p:spPr>
        <p:txBody>
          <a:bodyPr wrap="square" lIns="72521" tIns="36261" rIns="72521" bIns="36261">
            <a:spAutoFit/>
          </a:bodyPr>
          <a:lstStyle/>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分支</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 2</a:t>
            </a:r>
          </a:p>
        </p:txBody>
      </p:sp>
      <p:sp>
        <p:nvSpPr>
          <p:cNvPr id="64" name="TextBox 23"/>
          <p:cNvSpPr txBox="1">
            <a:spLocks noChangeArrowheads="1"/>
          </p:cNvSpPr>
          <p:nvPr/>
        </p:nvSpPr>
        <p:spPr bwMode="gray">
          <a:xfrm>
            <a:off x="5386954" y="5876614"/>
            <a:ext cx="607394" cy="257896"/>
          </a:xfrm>
          <a:prstGeom prst="rect">
            <a:avLst/>
          </a:prstGeom>
          <a:noFill/>
          <a:ln w="9525">
            <a:noFill/>
            <a:miter lim="800000"/>
            <a:headEnd/>
            <a:tailEnd/>
          </a:ln>
        </p:spPr>
        <p:txBody>
          <a:bodyPr wrap="square" lIns="72521" tIns="36261" rIns="72521" bIns="36261">
            <a:spAutoFit/>
          </a:bodyPr>
          <a:lstStyle/>
          <a:p>
            <a:pPr algn="ctr" defTabSz="724375"/>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分支</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 3</a:t>
            </a:r>
          </a:p>
        </p:txBody>
      </p:sp>
      <p:sp>
        <p:nvSpPr>
          <p:cNvPr id="92" name="圆角矩形 75"/>
          <p:cNvSpPr/>
          <p:nvPr/>
        </p:nvSpPr>
        <p:spPr bwMode="gray">
          <a:xfrm>
            <a:off x="6277962" y="2910220"/>
            <a:ext cx="535017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分支网络排错困难，运维成本高</a:t>
            </a:r>
          </a:p>
        </p:txBody>
      </p:sp>
      <p:sp>
        <p:nvSpPr>
          <p:cNvPr id="93" name="圆角矩形 75"/>
          <p:cNvSpPr/>
          <p:nvPr/>
        </p:nvSpPr>
        <p:spPr bwMode="gray">
          <a:xfrm>
            <a:off x="6271882" y="3345703"/>
            <a:ext cx="5352806" cy="282128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Freeform 159"/>
          <p:cNvSpPr/>
          <p:nvPr/>
        </p:nvSpPr>
        <p:spPr bwMode="gray">
          <a:xfrm flipH="1">
            <a:off x="6450239" y="4808881"/>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128" name="文本框 32"/>
          <p:cNvSpPr txBox="1"/>
          <p:nvPr/>
        </p:nvSpPr>
        <p:spPr bwMode="gray">
          <a:xfrm>
            <a:off x="6462408" y="4956930"/>
            <a:ext cx="832234" cy="276999"/>
          </a:xfrm>
          <a:prstGeom prst="rect">
            <a:avLst/>
          </a:prstGeom>
          <a:noFill/>
        </p:spPr>
        <p:txBody>
          <a:bodyPr wrap="square" rtlCol="0">
            <a:spAutoFit/>
          </a:bodyPr>
          <a:lstStyle/>
          <a:p>
            <a:pPr algn="ctr" fontAlgn="base">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129" name="图片 51" descr="交换机.png"/>
          <p:cNvPicPr>
            <a:picLocks noChangeAspect="1"/>
          </p:cNvPicPr>
          <p:nvPr/>
        </p:nvPicPr>
        <p:blipFill>
          <a:blip r:embed="rId4" cstate="print"/>
          <a:stretch>
            <a:fillRect/>
          </a:stretch>
        </p:blipFill>
        <p:spPr bwMode="gray">
          <a:xfrm>
            <a:off x="6685053" y="5185476"/>
            <a:ext cx="417163" cy="341314"/>
          </a:xfrm>
          <a:prstGeom prst="rect">
            <a:avLst/>
          </a:prstGeom>
        </p:spPr>
      </p:pic>
      <p:sp>
        <p:nvSpPr>
          <p:cNvPr id="130" name="Freeform 159"/>
          <p:cNvSpPr/>
          <p:nvPr/>
        </p:nvSpPr>
        <p:spPr bwMode="gray">
          <a:xfrm flipH="1">
            <a:off x="7781411" y="538779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132" name="文本框 32"/>
          <p:cNvSpPr txBox="1"/>
          <p:nvPr/>
        </p:nvSpPr>
        <p:spPr bwMode="gray">
          <a:xfrm>
            <a:off x="7793580" y="5535842"/>
            <a:ext cx="832234" cy="276999"/>
          </a:xfrm>
          <a:prstGeom prst="rect">
            <a:avLst/>
          </a:prstGeom>
          <a:noFill/>
        </p:spPr>
        <p:txBody>
          <a:bodyPr wrap="square" rtlCol="0">
            <a:spAutoFit/>
          </a:bodyPr>
          <a:lstStyle/>
          <a:p>
            <a:pPr algn="ctr" fontAlgn="base">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133" name="图片 51" descr="交换机.png"/>
          <p:cNvPicPr>
            <a:picLocks noChangeAspect="1"/>
          </p:cNvPicPr>
          <p:nvPr/>
        </p:nvPicPr>
        <p:blipFill>
          <a:blip r:embed="rId4" cstate="print"/>
          <a:stretch>
            <a:fillRect/>
          </a:stretch>
        </p:blipFill>
        <p:spPr bwMode="gray">
          <a:xfrm>
            <a:off x="8016225" y="5764388"/>
            <a:ext cx="417163" cy="341314"/>
          </a:xfrm>
          <a:prstGeom prst="rect">
            <a:avLst/>
          </a:prstGeom>
        </p:spPr>
      </p:pic>
      <p:sp>
        <p:nvSpPr>
          <p:cNvPr id="134" name="Freeform 159"/>
          <p:cNvSpPr/>
          <p:nvPr/>
        </p:nvSpPr>
        <p:spPr bwMode="gray">
          <a:xfrm flipH="1">
            <a:off x="9148856" y="5134915"/>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136" name="文本框 32"/>
          <p:cNvSpPr txBox="1"/>
          <p:nvPr/>
        </p:nvSpPr>
        <p:spPr bwMode="gray">
          <a:xfrm>
            <a:off x="9161025" y="5282964"/>
            <a:ext cx="832234" cy="276999"/>
          </a:xfrm>
          <a:prstGeom prst="rect">
            <a:avLst/>
          </a:prstGeom>
          <a:noFill/>
        </p:spPr>
        <p:txBody>
          <a:bodyPr wrap="square" rtlCol="0">
            <a:spAutoFit/>
          </a:bodyPr>
          <a:lstStyle/>
          <a:p>
            <a:pPr algn="ctr" fontAlgn="base">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137" name="图片 51" descr="交换机.png"/>
          <p:cNvPicPr>
            <a:picLocks noChangeAspect="1"/>
          </p:cNvPicPr>
          <p:nvPr/>
        </p:nvPicPr>
        <p:blipFill>
          <a:blip r:embed="rId4" cstate="print"/>
          <a:stretch>
            <a:fillRect/>
          </a:stretch>
        </p:blipFill>
        <p:spPr bwMode="gray">
          <a:xfrm>
            <a:off x="9383670" y="5511510"/>
            <a:ext cx="417163" cy="341314"/>
          </a:xfrm>
          <a:prstGeom prst="rect">
            <a:avLst/>
          </a:prstGeom>
        </p:spPr>
      </p:pic>
      <p:sp>
        <p:nvSpPr>
          <p:cNvPr id="138" name="Freeform 159"/>
          <p:cNvSpPr/>
          <p:nvPr/>
        </p:nvSpPr>
        <p:spPr bwMode="gray">
          <a:xfrm flipH="1">
            <a:off x="10441597" y="5024371"/>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140" name="文本框 32"/>
          <p:cNvSpPr txBox="1"/>
          <p:nvPr/>
        </p:nvSpPr>
        <p:spPr bwMode="gray">
          <a:xfrm>
            <a:off x="10453766" y="5172420"/>
            <a:ext cx="832234" cy="276999"/>
          </a:xfrm>
          <a:prstGeom prst="rect">
            <a:avLst/>
          </a:prstGeom>
          <a:noFill/>
        </p:spPr>
        <p:txBody>
          <a:bodyPr wrap="square" rtlCol="0">
            <a:spAutoFit/>
          </a:bodyPr>
          <a:lstStyle/>
          <a:p>
            <a:pPr algn="ctr" fontAlgn="base">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141" name="图片 51" descr="交换机.png"/>
          <p:cNvPicPr>
            <a:picLocks noChangeAspect="1"/>
          </p:cNvPicPr>
          <p:nvPr/>
        </p:nvPicPr>
        <p:blipFill>
          <a:blip r:embed="rId4" cstate="print"/>
          <a:stretch>
            <a:fillRect/>
          </a:stretch>
        </p:blipFill>
        <p:spPr bwMode="gray">
          <a:xfrm>
            <a:off x="10676411" y="5400966"/>
            <a:ext cx="417163" cy="341314"/>
          </a:xfrm>
          <a:prstGeom prst="rect">
            <a:avLst/>
          </a:prstGeom>
        </p:spPr>
      </p:pic>
      <p:grpSp>
        <p:nvGrpSpPr>
          <p:cNvPr id="143" name="组合 7"/>
          <p:cNvGrpSpPr/>
          <p:nvPr/>
        </p:nvGrpSpPr>
        <p:grpSpPr bwMode="gray">
          <a:xfrm>
            <a:off x="7083875" y="4755957"/>
            <a:ext cx="288000" cy="288000"/>
            <a:chOff x="856677" y="2615810"/>
            <a:chExt cx="288000" cy="288000"/>
          </a:xfrm>
        </p:grpSpPr>
        <p:sp>
          <p:nvSpPr>
            <p:cNvPr id="144" name="椭圆 84"/>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45" name="组合 5"/>
            <p:cNvGrpSpPr/>
            <p:nvPr/>
          </p:nvGrpSpPr>
          <p:grpSpPr bwMode="gray">
            <a:xfrm>
              <a:off x="923444" y="2692169"/>
              <a:ext cx="144001" cy="144002"/>
              <a:chOff x="898853" y="2657982"/>
              <a:chExt cx="203649" cy="203652"/>
            </a:xfrm>
          </p:grpSpPr>
          <p:cxnSp>
            <p:nvCxnSpPr>
              <p:cNvPr id="146" name="直接连接符 85"/>
              <p:cNvCxnSpPr>
                <a:stCxn id="144" idx="3"/>
                <a:endCxn id="144"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147" name="直接连接符 86"/>
              <p:cNvCxnSpPr>
                <a:stCxn id="144" idx="1"/>
                <a:endCxn id="144"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grpSp>
        <p:nvGrpSpPr>
          <p:cNvPr id="148" name="组合 7"/>
          <p:cNvGrpSpPr/>
          <p:nvPr/>
        </p:nvGrpSpPr>
        <p:grpSpPr bwMode="gray">
          <a:xfrm>
            <a:off x="8390947" y="5320998"/>
            <a:ext cx="288000" cy="288000"/>
            <a:chOff x="856677" y="2615810"/>
            <a:chExt cx="288000" cy="288000"/>
          </a:xfrm>
        </p:grpSpPr>
        <p:sp>
          <p:nvSpPr>
            <p:cNvPr id="149" name="椭圆 84"/>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0" name="组合 5"/>
            <p:cNvGrpSpPr/>
            <p:nvPr/>
          </p:nvGrpSpPr>
          <p:grpSpPr bwMode="gray">
            <a:xfrm>
              <a:off x="923444" y="2692169"/>
              <a:ext cx="144001" cy="144002"/>
              <a:chOff x="898853" y="2657982"/>
              <a:chExt cx="203649" cy="203652"/>
            </a:xfrm>
          </p:grpSpPr>
          <p:cxnSp>
            <p:nvCxnSpPr>
              <p:cNvPr id="151" name="直接连接符 85"/>
              <p:cNvCxnSpPr>
                <a:stCxn id="149" idx="3"/>
                <a:endCxn id="149"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152" name="直接连接符 86"/>
              <p:cNvCxnSpPr>
                <a:stCxn id="149" idx="1"/>
                <a:endCxn id="149"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grpSp>
        <p:nvGrpSpPr>
          <p:cNvPr id="153" name="组合 7"/>
          <p:cNvGrpSpPr/>
          <p:nvPr/>
        </p:nvGrpSpPr>
        <p:grpSpPr bwMode="gray">
          <a:xfrm>
            <a:off x="9759811" y="5081267"/>
            <a:ext cx="288000" cy="288000"/>
            <a:chOff x="856677" y="2615810"/>
            <a:chExt cx="288000" cy="288000"/>
          </a:xfrm>
        </p:grpSpPr>
        <p:sp>
          <p:nvSpPr>
            <p:cNvPr id="154" name="椭圆 84"/>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5" name="组合 5"/>
            <p:cNvGrpSpPr/>
            <p:nvPr/>
          </p:nvGrpSpPr>
          <p:grpSpPr bwMode="gray">
            <a:xfrm>
              <a:off x="923444" y="2692169"/>
              <a:ext cx="144001" cy="144002"/>
              <a:chOff x="898853" y="2657982"/>
              <a:chExt cx="203649" cy="203652"/>
            </a:xfrm>
          </p:grpSpPr>
          <p:cxnSp>
            <p:nvCxnSpPr>
              <p:cNvPr id="156" name="直接连接符 85"/>
              <p:cNvCxnSpPr>
                <a:stCxn id="154" idx="3"/>
                <a:endCxn id="154"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157" name="直接连接符 86"/>
              <p:cNvCxnSpPr>
                <a:stCxn id="154" idx="1"/>
                <a:endCxn id="154"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grpSp>
        <p:nvGrpSpPr>
          <p:cNvPr id="158" name="组合 7"/>
          <p:cNvGrpSpPr/>
          <p:nvPr/>
        </p:nvGrpSpPr>
        <p:grpSpPr bwMode="gray">
          <a:xfrm>
            <a:off x="11067959" y="4937267"/>
            <a:ext cx="288000" cy="288000"/>
            <a:chOff x="856677" y="2615810"/>
            <a:chExt cx="288000" cy="288000"/>
          </a:xfrm>
        </p:grpSpPr>
        <p:sp>
          <p:nvSpPr>
            <p:cNvPr id="159" name="椭圆 84"/>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0" name="组合 5"/>
            <p:cNvGrpSpPr/>
            <p:nvPr/>
          </p:nvGrpSpPr>
          <p:grpSpPr bwMode="gray">
            <a:xfrm>
              <a:off x="923444" y="2692169"/>
              <a:ext cx="144001" cy="144002"/>
              <a:chOff x="898853" y="2657982"/>
              <a:chExt cx="203649" cy="203652"/>
            </a:xfrm>
          </p:grpSpPr>
          <p:cxnSp>
            <p:nvCxnSpPr>
              <p:cNvPr id="161" name="直接连接符 85"/>
              <p:cNvCxnSpPr>
                <a:stCxn id="159" idx="3"/>
                <a:endCxn id="159"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162" name="直接连接符 86"/>
              <p:cNvCxnSpPr>
                <a:stCxn id="159" idx="1"/>
                <a:endCxn id="159"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cxnSp>
        <p:nvCxnSpPr>
          <p:cNvPr id="164" name="Straight Arrow Connector 163"/>
          <p:cNvCxnSpPr/>
          <p:nvPr/>
        </p:nvCxnSpPr>
        <p:spPr bwMode="gray">
          <a:xfrm flipH="1">
            <a:off x="7133428" y="4265255"/>
            <a:ext cx="406765" cy="436393"/>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p:cNvCxnSpPr/>
          <p:nvPr/>
        </p:nvCxnSpPr>
        <p:spPr bwMode="gray">
          <a:xfrm>
            <a:off x="7893428" y="4391536"/>
            <a:ext cx="356745" cy="851781"/>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p:nvPr/>
        </p:nvCxnSpPr>
        <p:spPr bwMode="gray">
          <a:xfrm flipH="1">
            <a:off x="9677033" y="4434926"/>
            <a:ext cx="184909" cy="557426"/>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bwMode="gray">
          <a:xfrm>
            <a:off x="10821535" y="4426526"/>
            <a:ext cx="2856" cy="538929"/>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78" name="businessman-silhouette-walking-with-suitcase_47866"/>
          <p:cNvSpPr>
            <a:spLocks noChangeAspect="1"/>
          </p:cNvSpPr>
          <p:nvPr/>
        </p:nvSpPr>
        <p:spPr bwMode="gray">
          <a:xfrm>
            <a:off x="7494013" y="3628594"/>
            <a:ext cx="514543" cy="609685"/>
          </a:xfrm>
          <a:custGeom>
            <a:avLst/>
            <a:gdLst>
              <a:gd name="T0" fmla="*/ 6900 w 8989"/>
              <a:gd name="T1" fmla="*/ 5053 h 10667"/>
              <a:gd name="T2" fmla="*/ 6326 w 8989"/>
              <a:gd name="T3" fmla="*/ 4615 h 10667"/>
              <a:gd name="T4" fmla="*/ 6247 w 8989"/>
              <a:gd name="T5" fmla="*/ 5994 h 10667"/>
              <a:gd name="T6" fmla="*/ 6421 w 8989"/>
              <a:gd name="T7" fmla="*/ 6377 h 10667"/>
              <a:gd name="T8" fmla="*/ 7017 w 8989"/>
              <a:gd name="T9" fmla="*/ 7293 h 10667"/>
              <a:gd name="T10" fmla="*/ 7303 w 8989"/>
              <a:gd name="T11" fmla="*/ 8799 h 10667"/>
              <a:gd name="T12" fmla="*/ 7222 w 8989"/>
              <a:gd name="T13" fmla="*/ 10179 h 10667"/>
              <a:gd name="T14" fmla="*/ 6680 w 8989"/>
              <a:gd name="T15" fmla="*/ 10666 h 10667"/>
              <a:gd name="T16" fmla="*/ 6271 w 8989"/>
              <a:gd name="T17" fmla="*/ 8973 h 10667"/>
              <a:gd name="T18" fmla="*/ 6316 w 8989"/>
              <a:gd name="T19" fmla="*/ 8254 h 10667"/>
              <a:gd name="T20" fmla="*/ 5946 w 8989"/>
              <a:gd name="T21" fmla="*/ 7541 h 10667"/>
              <a:gd name="T22" fmla="*/ 5384 w 8989"/>
              <a:gd name="T23" fmla="*/ 6630 h 10667"/>
              <a:gd name="T24" fmla="*/ 5122 w 8989"/>
              <a:gd name="T25" fmla="*/ 6612 h 10667"/>
              <a:gd name="T26" fmla="*/ 4849 w 8989"/>
              <a:gd name="T27" fmla="*/ 8848 h 10667"/>
              <a:gd name="T28" fmla="*/ 3896 w 8989"/>
              <a:gd name="T29" fmla="*/ 10419 h 10667"/>
              <a:gd name="T30" fmla="*/ 3192 w 8989"/>
              <a:gd name="T31" fmla="*/ 10590 h 10667"/>
              <a:gd name="T32" fmla="*/ 3909 w 8989"/>
              <a:gd name="T33" fmla="*/ 8408 h 10667"/>
              <a:gd name="T34" fmla="*/ 4105 w 8989"/>
              <a:gd name="T35" fmla="*/ 8089 h 10667"/>
              <a:gd name="T36" fmla="*/ 4211 w 8989"/>
              <a:gd name="T37" fmla="*/ 3385 h 10667"/>
              <a:gd name="T38" fmla="*/ 2892 w 8989"/>
              <a:gd name="T39" fmla="*/ 5648 h 10667"/>
              <a:gd name="T40" fmla="*/ 2478 w 8989"/>
              <a:gd name="T41" fmla="*/ 6028 h 10667"/>
              <a:gd name="T42" fmla="*/ 3108 w 8989"/>
              <a:gd name="T43" fmla="*/ 3131 h 10667"/>
              <a:gd name="T44" fmla="*/ 5199 w 8989"/>
              <a:gd name="T45" fmla="*/ 2376 h 10667"/>
              <a:gd name="T46" fmla="*/ 7066 w 8989"/>
              <a:gd name="T47" fmla="*/ 4232 h 10667"/>
              <a:gd name="T48" fmla="*/ 8874 w 8989"/>
              <a:gd name="T49" fmla="*/ 3833 h 10667"/>
              <a:gd name="T50" fmla="*/ 5150 w 8989"/>
              <a:gd name="T51" fmla="*/ 2267 h 10667"/>
              <a:gd name="T52" fmla="*/ 5150 w 8989"/>
              <a:gd name="T53" fmla="*/ 0 h 10667"/>
              <a:gd name="T54" fmla="*/ 5150 w 8989"/>
              <a:gd name="T55" fmla="*/ 2267 h 10667"/>
              <a:gd name="T56" fmla="*/ 3391 w 8989"/>
              <a:gd name="T57" fmla="*/ 6869 h 10667"/>
              <a:gd name="T58" fmla="*/ 0 w 8989"/>
              <a:gd name="T59" fmla="*/ 7583 h 10667"/>
              <a:gd name="T60" fmla="*/ 1346 w 8989"/>
              <a:gd name="T61" fmla="*/ 5950 h 10667"/>
              <a:gd name="T62" fmla="*/ 2193 w 8989"/>
              <a:gd name="T63" fmla="*/ 5569 h 10667"/>
              <a:gd name="T64" fmla="*/ 3130 w 8989"/>
              <a:gd name="T65" fmla="*/ 5990 h 10667"/>
              <a:gd name="T66" fmla="*/ 2546 w 8989"/>
              <a:gd name="T67" fmla="*/ 6216 h 10667"/>
              <a:gd name="T68" fmla="*/ 1761 w 8989"/>
              <a:gd name="T69" fmla="*/ 6106 h 10667"/>
              <a:gd name="T70" fmla="*/ 2546 w 8989"/>
              <a:gd name="T71" fmla="*/ 6216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89" h="10667">
                <a:moveTo>
                  <a:pt x="8746" y="4385"/>
                </a:moveTo>
                <a:cubicBezTo>
                  <a:pt x="8539" y="4515"/>
                  <a:pt x="7535" y="5053"/>
                  <a:pt x="6900" y="5053"/>
                </a:cubicBezTo>
                <a:cubicBezTo>
                  <a:pt x="6786" y="5053"/>
                  <a:pt x="6683" y="5036"/>
                  <a:pt x="6600" y="4995"/>
                </a:cubicBezTo>
                <a:cubicBezTo>
                  <a:pt x="6447" y="4921"/>
                  <a:pt x="6347" y="4782"/>
                  <a:pt x="6326" y="4615"/>
                </a:cubicBezTo>
                <a:cubicBezTo>
                  <a:pt x="6283" y="4271"/>
                  <a:pt x="6210" y="3985"/>
                  <a:pt x="6111" y="3763"/>
                </a:cubicBezTo>
                <a:cubicBezTo>
                  <a:pt x="6159" y="4365"/>
                  <a:pt x="6235" y="5393"/>
                  <a:pt x="6247" y="5994"/>
                </a:cubicBezTo>
                <a:cubicBezTo>
                  <a:pt x="6247" y="6021"/>
                  <a:pt x="6289" y="6142"/>
                  <a:pt x="6289" y="6142"/>
                </a:cubicBezTo>
                <a:lnTo>
                  <a:pt x="6421" y="6377"/>
                </a:lnTo>
                <a:cubicBezTo>
                  <a:pt x="6530" y="6571"/>
                  <a:pt x="6655" y="6755"/>
                  <a:pt x="6787" y="6948"/>
                </a:cubicBezTo>
                <a:cubicBezTo>
                  <a:pt x="6865" y="7063"/>
                  <a:pt x="6943" y="7177"/>
                  <a:pt x="7017" y="7293"/>
                </a:cubicBezTo>
                <a:cubicBezTo>
                  <a:pt x="7177" y="7543"/>
                  <a:pt x="7384" y="7927"/>
                  <a:pt x="7332" y="8376"/>
                </a:cubicBezTo>
                <a:cubicBezTo>
                  <a:pt x="7315" y="8517"/>
                  <a:pt x="7310" y="8658"/>
                  <a:pt x="7303" y="8799"/>
                </a:cubicBezTo>
                <a:cubicBezTo>
                  <a:pt x="7301" y="8879"/>
                  <a:pt x="7297" y="8959"/>
                  <a:pt x="7292" y="9038"/>
                </a:cubicBezTo>
                <a:lnTo>
                  <a:pt x="7222" y="10179"/>
                </a:lnTo>
                <a:cubicBezTo>
                  <a:pt x="7205" y="10455"/>
                  <a:pt x="6980" y="10667"/>
                  <a:pt x="6712" y="10667"/>
                </a:cubicBezTo>
                <a:cubicBezTo>
                  <a:pt x="6701" y="10667"/>
                  <a:pt x="6691" y="10666"/>
                  <a:pt x="6680" y="10666"/>
                </a:cubicBezTo>
                <a:cubicBezTo>
                  <a:pt x="6398" y="10648"/>
                  <a:pt x="6183" y="10401"/>
                  <a:pt x="6201" y="10114"/>
                </a:cubicBezTo>
                <a:lnTo>
                  <a:pt x="6271" y="8973"/>
                </a:lnTo>
                <a:cubicBezTo>
                  <a:pt x="6275" y="8901"/>
                  <a:pt x="6278" y="8827"/>
                  <a:pt x="6282" y="8754"/>
                </a:cubicBezTo>
                <a:cubicBezTo>
                  <a:pt x="6289" y="8587"/>
                  <a:pt x="6296" y="8419"/>
                  <a:pt x="6316" y="8254"/>
                </a:cubicBezTo>
                <a:cubicBezTo>
                  <a:pt x="6325" y="8170"/>
                  <a:pt x="6273" y="8038"/>
                  <a:pt x="6160" y="7862"/>
                </a:cubicBezTo>
                <a:cubicBezTo>
                  <a:pt x="6090" y="7753"/>
                  <a:pt x="6018" y="7647"/>
                  <a:pt x="5946" y="7541"/>
                </a:cubicBezTo>
                <a:cubicBezTo>
                  <a:pt x="5807" y="7337"/>
                  <a:pt x="5664" y="7127"/>
                  <a:pt x="5533" y="6895"/>
                </a:cubicBezTo>
                <a:lnTo>
                  <a:pt x="5384" y="6630"/>
                </a:lnTo>
                <a:cubicBezTo>
                  <a:pt x="5313" y="6616"/>
                  <a:pt x="5240" y="6604"/>
                  <a:pt x="5164" y="6604"/>
                </a:cubicBezTo>
                <a:cubicBezTo>
                  <a:pt x="5151" y="6604"/>
                  <a:pt x="5136" y="6610"/>
                  <a:pt x="5122" y="6612"/>
                </a:cubicBezTo>
                <a:cubicBezTo>
                  <a:pt x="5126" y="7107"/>
                  <a:pt x="5130" y="7602"/>
                  <a:pt x="5128" y="8097"/>
                </a:cubicBezTo>
                <a:cubicBezTo>
                  <a:pt x="5126" y="8435"/>
                  <a:pt x="4966" y="8673"/>
                  <a:pt x="4849" y="8848"/>
                </a:cubicBezTo>
                <a:cubicBezTo>
                  <a:pt x="4826" y="8882"/>
                  <a:pt x="4803" y="8916"/>
                  <a:pt x="4782" y="8951"/>
                </a:cubicBezTo>
                <a:lnTo>
                  <a:pt x="3896" y="10419"/>
                </a:lnTo>
                <a:cubicBezTo>
                  <a:pt x="3800" y="10579"/>
                  <a:pt x="3632" y="10667"/>
                  <a:pt x="3460" y="10667"/>
                </a:cubicBezTo>
                <a:cubicBezTo>
                  <a:pt x="3368" y="10667"/>
                  <a:pt x="3276" y="10642"/>
                  <a:pt x="3192" y="10590"/>
                </a:cubicBezTo>
                <a:cubicBezTo>
                  <a:pt x="2952" y="10440"/>
                  <a:pt x="2876" y="10119"/>
                  <a:pt x="3024" y="9874"/>
                </a:cubicBezTo>
                <a:lnTo>
                  <a:pt x="3909" y="8408"/>
                </a:lnTo>
                <a:cubicBezTo>
                  <a:pt x="3939" y="8358"/>
                  <a:pt x="3971" y="8310"/>
                  <a:pt x="4004" y="8262"/>
                </a:cubicBezTo>
                <a:cubicBezTo>
                  <a:pt x="4041" y="8205"/>
                  <a:pt x="4099" y="8119"/>
                  <a:pt x="4105" y="8089"/>
                </a:cubicBezTo>
                <a:cubicBezTo>
                  <a:pt x="4107" y="7543"/>
                  <a:pt x="4103" y="6993"/>
                  <a:pt x="4098" y="6443"/>
                </a:cubicBezTo>
                <a:cubicBezTo>
                  <a:pt x="4098" y="6443"/>
                  <a:pt x="4200" y="3597"/>
                  <a:pt x="4211" y="3385"/>
                </a:cubicBezTo>
                <a:cubicBezTo>
                  <a:pt x="4011" y="3462"/>
                  <a:pt x="3811" y="3570"/>
                  <a:pt x="3632" y="3732"/>
                </a:cubicBezTo>
                <a:cubicBezTo>
                  <a:pt x="3184" y="4136"/>
                  <a:pt x="2935" y="4780"/>
                  <a:pt x="2892" y="5648"/>
                </a:cubicBezTo>
                <a:cubicBezTo>
                  <a:pt x="2881" y="5862"/>
                  <a:pt x="2707" y="6029"/>
                  <a:pt x="2498" y="6029"/>
                </a:cubicBezTo>
                <a:cubicBezTo>
                  <a:pt x="2491" y="6029"/>
                  <a:pt x="2485" y="6029"/>
                  <a:pt x="2478" y="6028"/>
                </a:cubicBezTo>
                <a:cubicBezTo>
                  <a:pt x="2260" y="6017"/>
                  <a:pt x="2093" y="5829"/>
                  <a:pt x="2103" y="5607"/>
                </a:cubicBezTo>
                <a:cubicBezTo>
                  <a:pt x="2157" y="4517"/>
                  <a:pt x="2495" y="3683"/>
                  <a:pt x="3108" y="3131"/>
                </a:cubicBezTo>
                <a:cubicBezTo>
                  <a:pt x="3566" y="2719"/>
                  <a:pt x="4166" y="2504"/>
                  <a:pt x="4762" y="2405"/>
                </a:cubicBezTo>
                <a:cubicBezTo>
                  <a:pt x="4906" y="2381"/>
                  <a:pt x="5053" y="2372"/>
                  <a:pt x="5199" y="2376"/>
                </a:cubicBezTo>
                <a:cubicBezTo>
                  <a:pt x="5531" y="2386"/>
                  <a:pt x="5879" y="2443"/>
                  <a:pt x="6166" y="2622"/>
                </a:cubicBezTo>
                <a:cubicBezTo>
                  <a:pt x="6622" y="2905"/>
                  <a:pt x="6924" y="3446"/>
                  <a:pt x="7066" y="4232"/>
                </a:cubicBezTo>
                <a:cubicBezTo>
                  <a:pt x="7373" y="4163"/>
                  <a:pt x="7938" y="3949"/>
                  <a:pt x="8331" y="3703"/>
                </a:cubicBezTo>
                <a:cubicBezTo>
                  <a:pt x="8516" y="3586"/>
                  <a:pt x="8759" y="3645"/>
                  <a:pt x="8874" y="3833"/>
                </a:cubicBezTo>
                <a:cubicBezTo>
                  <a:pt x="8989" y="4022"/>
                  <a:pt x="8931" y="4269"/>
                  <a:pt x="8746" y="4385"/>
                </a:cubicBezTo>
                <a:close/>
                <a:moveTo>
                  <a:pt x="5150" y="2267"/>
                </a:moveTo>
                <a:cubicBezTo>
                  <a:pt x="5766" y="2267"/>
                  <a:pt x="6264" y="1760"/>
                  <a:pt x="6264" y="1133"/>
                </a:cubicBezTo>
                <a:cubicBezTo>
                  <a:pt x="6264" y="507"/>
                  <a:pt x="5766" y="0"/>
                  <a:pt x="5150" y="0"/>
                </a:cubicBezTo>
                <a:cubicBezTo>
                  <a:pt x="4534" y="0"/>
                  <a:pt x="4035" y="507"/>
                  <a:pt x="4035" y="1133"/>
                </a:cubicBezTo>
                <a:cubicBezTo>
                  <a:pt x="4035" y="1760"/>
                  <a:pt x="4534" y="2267"/>
                  <a:pt x="5150" y="2267"/>
                </a:cubicBezTo>
                <a:close/>
                <a:moveTo>
                  <a:pt x="2848" y="6625"/>
                </a:moveTo>
                <a:lnTo>
                  <a:pt x="3391" y="6869"/>
                </a:lnTo>
                <a:lnTo>
                  <a:pt x="2561" y="8735"/>
                </a:lnTo>
                <a:lnTo>
                  <a:pt x="0" y="7583"/>
                </a:lnTo>
                <a:lnTo>
                  <a:pt x="829" y="5717"/>
                </a:lnTo>
                <a:lnTo>
                  <a:pt x="1346" y="5950"/>
                </a:lnTo>
                <a:lnTo>
                  <a:pt x="1629" y="5315"/>
                </a:lnTo>
                <a:lnTo>
                  <a:pt x="2193" y="5569"/>
                </a:lnTo>
                <a:cubicBezTo>
                  <a:pt x="2189" y="5530"/>
                  <a:pt x="2668" y="5778"/>
                  <a:pt x="2888" y="5882"/>
                </a:cubicBezTo>
                <a:lnTo>
                  <a:pt x="3130" y="5990"/>
                </a:lnTo>
                <a:lnTo>
                  <a:pt x="2848" y="6625"/>
                </a:lnTo>
                <a:close/>
                <a:moveTo>
                  <a:pt x="2546" y="6216"/>
                </a:moveTo>
                <a:lnTo>
                  <a:pt x="1851" y="5903"/>
                </a:lnTo>
                <a:lnTo>
                  <a:pt x="1761" y="6106"/>
                </a:lnTo>
                <a:lnTo>
                  <a:pt x="2456" y="6418"/>
                </a:lnTo>
                <a:lnTo>
                  <a:pt x="2546" y="6216"/>
                </a:lnTo>
                <a:close/>
              </a:path>
            </a:pathLst>
          </a:custGeom>
          <a:solidFill>
            <a:srgbClr val="56C4D2"/>
          </a:solidFill>
          <a:ln>
            <a:noFill/>
          </a:ln>
        </p:spPr>
        <p:txBody>
          <a:bodyPr/>
          <a:lstStyle/>
          <a:p>
            <a:endParaRPr lang="zh-CN" altLang="en-US"/>
          </a:p>
        </p:txBody>
      </p:sp>
      <p:sp>
        <p:nvSpPr>
          <p:cNvPr id="179" name="businessman-silhouette-walking-with-suitcase_47866"/>
          <p:cNvSpPr>
            <a:spLocks noChangeAspect="1"/>
          </p:cNvSpPr>
          <p:nvPr/>
        </p:nvSpPr>
        <p:spPr bwMode="gray">
          <a:xfrm>
            <a:off x="9641306" y="3722804"/>
            <a:ext cx="514543" cy="609685"/>
          </a:xfrm>
          <a:custGeom>
            <a:avLst/>
            <a:gdLst>
              <a:gd name="T0" fmla="*/ 6900 w 8989"/>
              <a:gd name="T1" fmla="*/ 5053 h 10667"/>
              <a:gd name="T2" fmla="*/ 6326 w 8989"/>
              <a:gd name="T3" fmla="*/ 4615 h 10667"/>
              <a:gd name="T4" fmla="*/ 6247 w 8989"/>
              <a:gd name="T5" fmla="*/ 5994 h 10667"/>
              <a:gd name="T6" fmla="*/ 6421 w 8989"/>
              <a:gd name="T7" fmla="*/ 6377 h 10667"/>
              <a:gd name="T8" fmla="*/ 7017 w 8989"/>
              <a:gd name="T9" fmla="*/ 7293 h 10667"/>
              <a:gd name="T10" fmla="*/ 7303 w 8989"/>
              <a:gd name="T11" fmla="*/ 8799 h 10667"/>
              <a:gd name="T12" fmla="*/ 7222 w 8989"/>
              <a:gd name="T13" fmla="*/ 10179 h 10667"/>
              <a:gd name="T14" fmla="*/ 6680 w 8989"/>
              <a:gd name="T15" fmla="*/ 10666 h 10667"/>
              <a:gd name="T16" fmla="*/ 6271 w 8989"/>
              <a:gd name="T17" fmla="*/ 8973 h 10667"/>
              <a:gd name="T18" fmla="*/ 6316 w 8989"/>
              <a:gd name="T19" fmla="*/ 8254 h 10667"/>
              <a:gd name="T20" fmla="*/ 5946 w 8989"/>
              <a:gd name="T21" fmla="*/ 7541 h 10667"/>
              <a:gd name="T22" fmla="*/ 5384 w 8989"/>
              <a:gd name="T23" fmla="*/ 6630 h 10667"/>
              <a:gd name="T24" fmla="*/ 5122 w 8989"/>
              <a:gd name="T25" fmla="*/ 6612 h 10667"/>
              <a:gd name="T26" fmla="*/ 4849 w 8989"/>
              <a:gd name="T27" fmla="*/ 8848 h 10667"/>
              <a:gd name="T28" fmla="*/ 3896 w 8989"/>
              <a:gd name="T29" fmla="*/ 10419 h 10667"/>
              <a:gd name="T30" fmla="*/ 3192 w 8989"/>
              <a:gd name="T31" fmla="*/ 10590 h 10667"/>
              <a:gd name="T32" fmla="*/ 3909 w 8989"/>
              <a:gd name="T33" fmla="*/ 8408 h 10667"/>
              <a:gd name="T34" fmla="*/ 4105 w 8989"/>
              <a:gd name="T35" fmla="*/ 8089 h 10667"/>
              <a:gd name="T36" fmla="*/ 4211 w 8989"/>
              <a:gd name="T37" fmla="*/ 3385 h 10667"/>
              <a:gd name="T38" fmla="*/ 2892 w 8989"/>
              <a:gd name="T39" fmla="*/ 5648 h 10667"/>
              <a:gd name="T40" fmla="*/ 2478 w 8989"/>
              <a:gd name="T41" fmla="*/ 6028 h 10667"/>
              <a:gd name="T42" fmla="*/ 3108 w 8989"/>
              <a:gd name="T43" fmla="*/ 3131 h 10667"/>
              <a:gd name="T44" fmla="*/ 5199 w 8989"/>
              <a:gd name="T45" fmla="*/ 2376 h 10667"/>
              <a:gd name="T46" fmla="*/ 7066 w 8989"/>
              <a:gd name="T47" fmla="*/ 4232 h 10667"/>
              <a:gd name="T48" fmla="*/ 8874 w 8989"/>
              <a:gd name="T49" fmla="*/ 3833 h 10667"/>
              <a:gd name="T50" fmla="*/ 5150 w 8989"/>
              <a:gd name="T51" fmla="*/ 2267 h 10667"/>
              <a:gd name="T52" fmla="*/ 5150 w 8989"/>
              <a:gd name="T53" fmla="*/ 0 h 10667"/>
              <a:gd name="T54" fmla="*/ 5150 w 8989"/>
              <a:gd name="T55" fmla="*/ 2267 h 10667"/>
              <a:gd name="T56" fmla="*/ 3391 w 8989"/>
              <a:gd name="T57" fmla="*/ 6869 h 10667"/>
              <a:gd name="T58" fmla="*/ 0 w 8989"/>
              <a:gd name="T59" fmla="*/ 7583 h 10667"/>
              <a:gd name="T60" fmla="*/ 1346 w 8989"/>
              <a:gd name="T61" fmla="*/ 5950 h 10667"/>
              <a:gd name="T62" fmla="*/ 2193 w 8989"/>
              <a:gd name="T63" fmla="*/ 5569 h 10667"/>
              <a:gd name="T64" fmla="*/ 3130 w 8989"/>
              <a:gd name="T65" fmla="*/ 5990 h 10667"/>
              <a:gd name="T66" fmla="*/ 2546 w 8989"/>
              <a:gd name="T67" fmla="*/ 6216 h 10667"/>
              <a:gd name="T68" fmla="*/ 1761 w 8989"/>
              <a:gd name="T69" fmla="*/ 6106 h 10667"/>
              <a:gd name="T70" fmla="*/ 2546 w 8989"/>
              <a:gd name="T71" fmla="*/ 6216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89" h="10667">
                <a:moveTo>
                  <a:pt x="8746" y="4385"/>
                </a:moveTo>
                <a:cubicBezTo>
                  <a:pt x="8539" y="4515"/>
                  <a:pt x="7535" y="5053"/>
                  <a:pt x="6900" y="5053"/>
                </a:cubicBezTo>
                <a:cubicBezTo>
                  <a:pt x="6786" y="5053"/>
                  <a:pt x="6683" y="5036"/>
                  <a:pt x="6600" y="4995"/>
                </a:cubicBezTo>
                <a:cubicBezTo>
                  <a:pt x="6447" y="4921"/>
                  <a:pt x="6347" y="4782"/>
                  <a:pt x="6326" y="4615"/>
                </a:cubicBezTo>
                <a:cubicBezTo>
                  <a:pt x="6283" y="4271"/>
                  <a:pt x="6210" y="3985"/>
                  <a:pt x="6111" y="3763"/>
                </a:cubicBezTo>
                <a:cubicBezTo>
                  <a:pt x="6159" y="4365"/>
                  <a:pt x="6235" y="5393"/>
                  <a:pt x="6247" y="5994"/>
                </a:cubicBezTo>
                <a:cubicBezTo>
                  <a:pt x="6247" y="6021"/>
                  <a:pt x="6289" y="6142"/>
                  <a:pt x="6289" y="6142"/>
                </a:cubicBezTo>
                <a:lnTo>
                  <a:pt x="6421" y="6377"/>
                </a:lnTo>
                <a:cubicBezTo>
                  <a:pt x="6530" y="6571"/>
                  <a:pt x="6655" y="6755"/>
                  <a:pt x="6787" y="6948"/>
                </a:cubicBezTo>
                <a:cubicBezTo>
                  <a:pt x="6865" y="7063"/>
                  <a:pt x="6943" y="7177"/>
                  <a:pt x="7017" y="7293"/>
                </a:cubicBezTo>
                <a:cubicBezTo>
                  <a:pt x="7177" y="7543"/>
                  <a:pt x="7384" y="7927"/>
                  <a:pt x="7332" y="8376"/>
                </a:cubicBezTo>
                <a:cubicBezTo>
                  <a:pt x="7315" y="8517"/>
                  <a:pt x="7310" y="8658"/>
                  <a:pt x="7303" y="8799"/>
                </a:cubicBezTo>
                <a:cubicBezTo>
                  <a:pt x="7301" y="8879"/>
                  <a:pt x="7297" y="8959"/>
                  <a:pt x="7292" y="9038"/>
                </a:cubicBezTo>
                <a:lnTo>
                  <a:pt x="7222" y="10179"/>
                </a:lnTo>
                <a:cubicBezTo>
                  <a:pt x="7205" y="10455"/>
                  <a:pt x="6980" y="10667"/>
                  <a:pt x="6712" y="10667"/>
                </a:cubicBezTo>
                <a:cubicBezTo>
                  <a:pt x="6701" y="10667"/>
                  <a:pt x="6691" y="10666"/>
                  <a:pt x="6680" y="10666"/>
                </a:cubicBezTo>
                <a:cubicBezTo>
                  <a:pt x="6398" y="10648"/>
                  <a:pt x="6183" y="10401"/>
                  <a:pt x="6201" y="10114"/>
                </a:cubicBezTo>
                <a:lnTo>
                  <a:pt x="6271" y="8973"/>
                </a:lnTo>
                <a:cubicBezTo>
                  <a:pt x="6275" y="8901"/>
                  <a:pt x="6278" y="8827"/>
                  <a:pt x="6282" y="8754"/>
                </a:cubicBezTo>
                <a:cubicBezTo>
                  <a:pt x="6289" y="8587"/>
                  <a:pt x="6296" y="8419"/>
                  <a:pt x="6316" y="8254"/>
                </a:cubicBezTo>
                <a:cubicBezTo>
                  <a:pt x="6325" y="8170"/>
                  <a:pt x="6273" y="8038"/>
                  <a:pt x="6160" y="7862"/>
                </a:cubicBezTo>
                <a:cubicBezTo>
                  <a:pt x="6090" y="7753"/>
                  <a:pt x="6018" y="7647"/>
                  <a:pt x="5946" y="7541"/>
                </a:cubicBezTo>
                <a:cubicBezTo>
                  <a:pt x="5807" y="7337"/>
                  <a:pt x="5664" y="7127"/>
                  <a:pt x="5533" y="6895"/>
                </a:cubicBezTo>
                <a:lnTo>
                  <a:pt x="5384" y="6630"/>
                </a:lnTo>
                <a:cubicBezTo>
                  <a:pt x="5313" y="6616"/>
                  <a:pt x="5240" y="6604"/>
                  <a:pt x="5164" y="6604"/>
                </a:cubicBezTo>
                <a:cubicBezTo>
                  <a:pt x="5151" y="6604"/>
                  <a:pt x="5136" y="6610"/>
                  <a:pt x="5122" y="6612"/>
                </a:cubicBezTo>
                <a:cubicBezTo>
                  <a:pt x="5126" y="7107"/>
                  <a:pt x="5130" y="7602"/>
                  <a:pt x="5128" y="8097"/>
                </a:cubicBezTo>
                <a:cubicBezTo>
                  <a:pt x="5126" y="8435"/>
                  <a:pt x="4966" y="8673"/>
                  <a:pt x="4849" y="8848"/>
                </a:cubicBezTo>
                <a:cubicBezTo>
                  <a:pt x="4826" y="8882"/>
                  <a:pt x="4803" y="8916"/>
                  <a:pt x="4782" y="8951"/>
                </a:cubicBezTo>
                <a:lnTo>
                  <a:pt x="3896" y="10419"/>
                </a:lnTo>
                <a:cubicBezTo>
                  <a:pt x="3800" y="10579"/>
                  <a:pt x="3632" y="10667"/>
                  <a:pt x="3460" y="10667"/>
                </a:cubicBezTo>
                <a:cubicBezTo>
                  <a:pt x="3368" y="10667"/>
                  <a:pt x="3276" y="10642"/>
                  <a:pt x="3192" y="10590"/>
                </a:cubicBezTo>
                <a:cubicBezTo>
                  <a:pt x="2952" y="10440"/>
                  <a:pt x="2876" y="10119"/>
                  <a:pt x="3024" y="9874"/>
                </a:cubicBezTo>
                <a:lnTo>
                  <a:pt x="3909" y="8408"/>
                </a:lnTo>
                <a:cubicBezTo>
                  <a:pt x="3939" y="8358"/>
                  <a:pt x="3971" y="8310"/>
                  <a:pt x="4004" y="8262"/>
                </a:cubicBezTo>
                <a:cubicBezTo>
                  <a:pt x="4041" y="8205"/>
                  <a:pt x="4099" y="8119"/>
                  <a:pt x="4105" y="8089"/>
                </a:cubicBezTo>
                <a:cubicBezTo>
                  <a:pt x="4107" y="7543"/>
                  <a:pt x="4103" y="6993"/>
                  <a:pt x="4098" y="6443"/>
                </a:cubicBezTo>
                <a:cubicBezTo>
                  <a:pt x="4098" y="6443"/>
                  <a:pt x="4200" y="3597"/>
                  <a:pt x="4211" y="3385"/>
                </a:cubicBezTo>
                <a:cubicBezTo>
                  <a:pt x="4011" y="3462"/>
                  <a:pt x="3811" y="3570"/>
                  <a:pt x="3632" y="3732"/>
                </a:cubicBezTo>
                <a:cubicBezTo>
                  <a:pt x="3184" y="4136"/>
                  <a:pt x="2935" y="4780"/>
                  <a:pt x="2892" y="5648"/>
                </a:cubicBezTo>
                <a:cubicBezTo>
                  <a:pt x="2881" y="5862"/>
                  <a:pt x="2707" y="6029"/>
                  <a:pt x="2498" y="6029"/>
                </a:cubicBezTo>
                <a:cubicBezTo>
                  <a:pt x="2491" y="6029"/>
                  <a:pt x="2485" y="6029"/>
                  <a:pt x="2478" y="6028"/>
                </a:cubicBezTo>
                <a:cubicBezTo>
                  <a:pt x="2260" y="6017"/>
                  <a:pt x="2093" y="5829"/>
                  <a:pt x="2103" y="5607"/>
                </a:cubicBezTo>
                <a:cubicBezTo>
                  <a:pt x="2157" y="4517"/>
                  <a:pt x="2495" y="3683"/>
                  <a:pt x="3108" y="3131"/>
                </a:cubicBezTo>
                <a:cubicBezTo>
                  <a:pt x="3566" y="2719"/>
                  <a:pt x="4166" y="2504"/>
                  <a:pt x="4762" y="2405"/>
                </a:cubicBezTo>
                <a:cubicBezTo>
                  <a:pt x="4906" y="2381"/>
                  <a:pt x="5053" y="2372"/>
                  <a:pt x="5199" y="2376"/>
                </a:cubicBezTo>
                <a:cubicBezTo>
                  <a:pt x="5531" y="2386"/>
                  <a:pt x="5879" y="2443"/>
                  <a:pt x="6166" y="2622"/>
                </a:cubicBezTo>
                <a:cubicBezTo>
                  <a:pt x="6622" y="2905"/>
                  <a:pt x="6924" y="3446"/>
                  <a:pt x="7066" y="4232"/>
                </a:cubicBezTo>
                <a:cubicBezTo>
                  <a:pt x="7373" y="4163"/>
                  <a:pt x="7938" y="3949"/>
                  <a:pt x="8331" y="3703"/>
                </a:cubicBezTo>
                <a:cubicBezTo>
                  <a:pt x="8516" y="3586"/>
                  <a:pt x="8759" y="3645"/>
                  <a:pt x="8874" y="3833"/>
                </a:cubicBezTo>
                <a:cubicBezTo>
                  <a:pt x="8989" y="4022"/>
                  <a:pt x="8931" y="4269"/>
                  <a:pt x="8746" y="4385"/>
                </a:cubicBezTo>
                <a:close/>
                <a:moveTo>
                  <a:pt x="5150" y="2267"/>
                </a:moveTo>
                <a:cubicBezTo>
                  <a:pt x="5766" y="2267"/>
                  <a:pt x="6264" y="1760"/>
                  <a:pt x="6264" y="1133"/>
                </a:cubicBezTo>
                <a:cubicBezTo>
                  <a:pt x="6264" y="507"/>
                  <a:pt x="5766" y="0"/>
                  <a:pt x="5150" y="0"/>
                </a:cubicBezTo>
                <a:cubicBezTo>
                  <a:pt x="4534" y="0"/>
                  <a:pt x="4035" y="507"/>
                  <a:pt x="4035" y="1133"/>
                </a:cubicBezTo>
                <a:cubicBezTo>
                  <a:pt x="4035" y="1760"/>
                  <a:pt x="4534" y="2267"/>
                  <a:pt x="5150" y="2267"/>
                </a:cubicBezTo>
                <a:close/>
                <a:moveTo>
                  <a:pt x="2848" y="6625"/>
                </a:moveTo>
                <a:lnTo>
                  <a:pt x="3391" y="6869"/>
                </a:lnTo>
                <a:lnTo>
                  <a:pt x="2561" y="8735"/>
                </a:lnTo>
                <a:lnTo>
                  <a:pt x="0" y="7583"/>
                </a:lnTo>
                <a:lnTo>
                  <a:pt x="829" y="5717"/>
                </a:lnTo>
                <a:lnTo>
                  <a:pt x="1346" y="5950"/>
                </a:lnTo>
                <a:lnTo>
                  <a:pt x="1629" y="5315"/>
                </a:lnTo>
                <a:lnTo>
                  <a:pt x="2193" y="5569"/>
                </a:lnTo>
                <a:cubicBezTo>
                  <a:pt x="2189" y="5530"/>
                  <a:pt x="2668" y="5778"/>
                  <a:pt x="2888" y="5882"/>
                </a:cubicBezTo>
                <a:lnTo>
                  <a:pt x="3130" y="5990"/>
                </a:lnTo>
                <a:lnTo>
                  <a:pt x="2848" y="6625"/>
                </a:lnTo>
                <a:close/>
                <a:moveTo>
                  <a:pt x="2546" y="6216"/>
                </a:moveTo>
                <a:lnTo>
                  <a:pt x="1851" y="5903"/>
                </a:lnTo>
                <a:lnTo>
                  <a:pt x="1761" y="6106"/>
                </a:lnTo>
                <a:lnTo>
                  <a:pt x="2456" y="6418"/>
                </a:lnTo>
                <a:lnTo>
                  <a:pt x="2546" y="6216"/>
                </a:lnTo>
                <a:close/>
              </a:path>
            </a:pathLst>
          </a:custGeom>
          <a:solidFill>
            <a:srgbClr val="56C4D2"/>
          </a:solidFill>
          <a:ln>
            <a:noFill/>
          </a:ln>
        </p:spPr>
        <p:txBody>
          <a:bodyPr/>
          <a:lstStyle/>
          <a:p>
            <a:endParaRPr lang="zh-CN" altLang="en-US"/>
          </a:p>
        </p:txBody>
      </p:sp>
      <p:sp>
        <p:nvSpPr>
          <p:cNvPr id="180" name="businessman-silhouette-walking-with-suitcase_47866"/>
          <p:cNvSpPr>
            <a:spLocks noChangeAspect="1"/>
          </p:cNvSpPr>
          <p:nvPr/>
        </p:nvSpPr>
        <p:spPr bwMode="gray">
          <a:xfrm>
            <a:off x="10555462" y="3781851"/>
            <a:ext cx="514543" cy="609685"/>
          </a:xfrm>
          <a:custGeom>
            <a:avLst/>
            <a:gdLst>
              <a:gd name="T0" fmla="*/ 6900 w 8989"/>
              <a:gd name="T1" fmla="*/ 5053 h 10667"/>
              <a:gd name="T2" fmla="*/ 6326 w 8989"/>
              <a:gd name="T3" fmla="*/ 4615 h 10667"/>
              <a:gd name="T4" fmla="*/ 6247 w 8989"/>
              <a:gd name="T5" fmla="*/ 5994 h 10667"/>
              <a:gd name="T6" fmla="*/ 6421 w 8989"/>
              <a:gd name="T7" fmla="*/ 6377 h 10667"/>
              <a:gd name="T8" fmla="*/ 7017 w 8989"/>
              <a:gd name="T9" fmla="*/ 7293 h 10667"/>
              <a:gd name="T10" fmla="*/ 7303 w 8989"/>
              <a:gd name="T11" fmla="*/ 8799 h 10667"/>
              <a:gd name="T12" fmla="*/ 7222 w 8989"/>
              <a:gd name="T13" fmla="*/ 10179 h 10667"/>
              <a:gd name="T14" fmla="*/ 6680 w 8989"/>
              <a:gd name="T15" fmla="*/ 10666 h 10667"/>
              <a:gd name="T16" fmla="*/ 6271 w 8989"/>
              <a:gd name="T17" fmla="*/ 8973 h 10667"/>
              <a:gd name="T18" fmla="*/ 6316 w 8989"/>
              <a:gd name="T19" fmla="*/ 8254 h 10667"/>
              <a:gd name="T20" fmla="*/ 5946 w 8989"/>
              <a:gd name="T21" fmla="*/ 7541 h 10667"/>
              <a:gd name="T22" fmla="*/ 5384 w 8989"/>
              <a:gd name="T23" fmla="*/ 6630 h 10667"/>
              <a:gd name="T24" fmla="*/ 5122 w 8989"/>
              <a:gd name="T25" fmla="*/ 6612 h 10667"/>
              <a:gd name="T26" fmla="*/ 4849 w 8989"/>
              <a:gd name="T27" fmla="*/ 8848 h 10667"/>
              <a:gd name="T28" fmla="*/ 3896 w 8989"/>
              <a:gd name="T29" fmla="*/ 10419 h 10667"/>
              <a:gd name="T30" fmla="*/ 3192 w 8989"/>
              <a:gd name="T31" fmla="*/ 10590 h 10667"/>
              <a:gd name="T32" fmla="*/ 3909 w 8989"/>
              <a:gd name="T33" fmla="*/ 8408 h 10667"/>
              <a:gd name="T34" fmla="*/ 4105 w 8989"/>
              <a:gd name="T35" fmla="*/ 8089 h 10667"/>
              <a:gd name="T36" fmla="*/ 4211 w 8989"/>
              <a:gd name="T37" fmla="*/ 3385 h 10667"/>
              <a:gd name="T38" fmla="*/ 2892 w 8989"/>
              <a:gd name="T39" fmla="*/ 5648 h 10667"/>
              <a:gd name="T40" fmla="*/ 2478 w 8989"/>
              <a:gd name="T41" fmla="*/ 6028 h 10667"/>
              <a:gd name="T42" fmla="*/ 3108 w 8989"/>
              <a:gd name="T43" fmla="*/ 3131 h 10667"/>
              <a:gd name="T44" fmla="*/ 5199 w 8989"/>
              <a:gd name="T45" fmla="*/ 2376 h 10667"/>
              <a:gd name="T46" fmla="*/ 7066 w 8989"/>
              <a:gd name="T47" fmla="*/ 4232 h 10667"/>
              <a:gd name="T48" fmla="*/ 8874 w 8989"/>
              <a:gd name="T49" fmla="*/ 3833 h 10667"/>
              <a:gd name="T50" fmla="*/ 5150 w 8989"/>
              <a:gd name="T51" fmla="*/ 2267 h 10667"/>
              <a:gd name="T52" fmla="*/ 5150 w 8989"/>
              <a:gd name="T53" fmla="*/ 0 h 10667"/>
              <a:gd name="T54" fmla="*/ 5150 w 8989"/>
              <a:gd name="T55" fmla="*/ 2267 h 10667"/>
              <a:gd name="T56" fmla="*/ 3391 w 8989"/>
              <a:gd name="T57" fmla="*/ 6869 h 10667"/>
              <a:gd name="T58" fmla="*/ 0 w 8989"/>
              <a:gd name="T59" fmla="*/ 7583 h 10667"/>
              <a:gd name="T60" fmla="*/ 1346 w 8989"/>
              <a:gd name="T61" fmla="*/ 5950 h 10667"/>
              <a:gd name="T62" fmla="*/ 2193 w 8989"/>
              <a:gd name="T63" fmla="*/ 5569 h 10667"/>
              <a:gd name="T64" fmla="*/ 3130 w 8989"/>
              <a:gd name="T65" fmla="*/ 5990 h 10667"/>
              <a:gd name="T66" fmla="*/ 2546 w 8989"/>
              <a:gd name="T67" fmla="*/ 6216 h 10667"/>
              <a:gd name="T68" fmla="*/ 1761 w 8989"/>
              <a:gd name="T69" fmla="*/ 6106 h 10667"/>
              <a:gd name="T70" fmla="*/ 2546 w 8989"/>
              <a:gd name="T71" fmla="*/ 6216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89" h="10667">
                <a:moveTo>
                  <a:pt x="8746" y="4385"/>
                </a:moveTo>
                <a:cubicBezTo>
                  <a:pt x="8539" y="4515"/>
                  <a:pt x="7535" y="5053"/>
                  <a:pt x="6900" y="5053"/>
                </a:cubicBezTo>
                <a:cubicBezTo>
                  <a:pt x="6786" y="5053"/>
                  <a:pt x="6683" y="5036"/>
                  <a:pt x="6600" y="4995"/>
                </a:cubicBezTo>
                <a:cubicBezTo>
                  <a:pt x="6447" y="4921"/>
                  <a:pt x="6347" y="4782"/>
                  <a:pt x="6326" y="4615"/>
                </a:cubicBezTo>
                <a:cubicBezTo>
                  <a:pt x="6283" y="4271"/>
                  <a:pt x="6210" y="3985"/>
                  <a:pt x="6111" y="3763"/>
                </a:cubicBezTo>
                <a:cubicBezTo>
                  <a:pt x="6159" y="4365"/>
                  <a:pt x="6235" y="5393"/>
                  <a:pt x="6247" y="5994"/>
                </a:cubicBezTo>
                <a:cubicBezTo>
                  <a:pt x="6247" y="6021"/>
                  <a:pt x="6289" y="6142"/>
                  <a:pt x="6289" y="6142"/>
                </a:cubicBezTo>
                <a:lnTo>
                  <a:pt x="6421" y="6377"/>
                </a:lnTo>
                <a:cubicBezTo>
                  <a:pt x="6530" y="6571"/>
                  <a:pt x="6655" y="6755"/>
                  <a:pt x="6787" y="6948"/>
                </a:cubicBezTo>
                <a:cubicBezTo>
                  <a:pt x="6865" y="7063"/>
                  <a:pt x="6943" y="7177"/>
                  <a:pt x="7017" y="7293"/>
                </a:cubicBezTo>
                <a:cubicBezTo>
                  <a:pt x="7177" y="7543"/>
                  <a:pt x="7384" y="7927"/>
                  <a:pt x="7332" y="8376"/>
                </a:cubicBezTo>
                <a:cubicBezTo>
                  <a:pt x="7315" y="8517"/>
                  <a:pt x="7310" y="8658"/>
                  <a:pt x="7303" y="8799"/>
                </a:cubicBezTo>
                <a:cubicBezTo>
                  <a:pt x="7301" y="8879"/>
                  <a:pt x="7297" y="8959"/>
                  <a:pt x="7292" y="9038"/>
                </a:cubicBezTo>
                <a:lnTo>
                  <a:pt x="7222" y="10179"/>
                </a:lnTo>
                <a:cubicBezTo>
                  <a:pt x="7205" y="10455"/>
                  <a:pt x="6980" y="10667"/>
                  <a:pt x="6712" y="10667"/>
                </a:cubicBezTo>
                <a:cubicBezTo>
                  <a:pt x="6701" y="10667"/>
                  <a:pt x="6691" y="10666"/>
                  <a:pt x="6680" y="10666"/>
                </a:cubicBezTo>
                <a:cubicBezTo>
                  <a:pt x="6398" y="10648"/>
                  <a:pt x="6183" y="10401"/>
                  <a:pt x="6201" y="10114"/>
                </a:cubicBezTo>
                <a:lnTo>
                  <a:pt x="6271" y="8973"/>
                </a:lnTo>
                <a:cubicBezTo>
                  <a:pt x="6275" y="8901"/>
                  <a:pt x="6278" y="8827"/>
                  <a:pt x="6282" y="8754"/>
                </a:cubicBezTo>
                <a:cubicBezTo>
                  <a:pt x="6289" y="8587"/>
                  <a:pt x="6296" y="8419"/>
                  <a:pt x="6316" y="8254"/>
                </a:cubicBezTo>
                <a:cubicBezTo>
                  <a:pt x="6325" y="8170"/>
                  <a:pt x="6273" y="8038"/>
                  <a:pt x="6160" y="7862"/>
                </a:cubicBezTo>
                <a:cubicBezTo>
                  <a:pt x="6090" y="7753"/>
                  <a:pt x="6018" y="7647"/>
                  <a:pt x="5946" y="7541"/>
                </a:cubicBezTo>
                <a:cubicBezTo>
                  <a:pt x="5807" y="7337"/>
                  <a:pt x="5664" y="7127"/>
                  <a:pt x="5533" y="6895"/>
                </a:cubicBezTo>
                <a:lnTo>
                  <a:pt x="5384" y="6630"/>
                </a:lnTo>
                <a:cubicBezTo>
                  <a:pt x="5313" y="6616"/>
                  <a:pt x="5240" y="6604"/>
                  <a:pt x="5164" y="6604"/>
                </a:cubicBezTo>
                <a:cubicBezTo>
                  <a:pt x="5151" y="6604"/>
                  <a:pt x="5136" y="6610"/>
                  <a:pt x="5122" y="6612"/>
                </a:cubicBezTo>
                <a:cubicBezTo>
                  <a:pt x="5126" y="7107"/>
                  <a:pt x="5130" y="7602"/>
                  <a:pt x="5128" y="8097"/>
                </a:cubicBezTo>
                <a:cubicBezTo>
                  <a:pt x="5126" y="8435"/>
                  <a:pt x="4966" y="8673"/>
                  <a:pt x="4849" y="8848"/>
                </a:cubicBezTo>
                <a:cubicBezTo>
                  <a:pt x="4826" y="8882"/>
                  <a:pt x="4803" y="8916"/>
                  <a:pt x="4782" y="8951"/>
                </a:cubicBezTo>
                <a:lnTo>
                  <a:pt x="3896" y="10419"/>
                </a:lnTo>
                <a:cubicBezTo>
                  <a:pt x="3800" y="10579"/>
                  <a:pt x="3632" y="10667"/>
                  <a:pt x="3460" y="10667"/>
                </a:cubicBezTo>
                <a:cubicBezTo>
                  <a:pt x="3368" y="10667"/>
                  <a:pt x="3276" y="10642"/>
                  <a:pt x="3192" y="10590"/>
                </a:cubicBezTo>
                <a:cubicBezTo>
                  <a:pt x="2952" y="10440"/>
                  <a:pt x="2876" y="10119"/>
                  <a:pt x="3024" y="9874"/>
                </a:cubicBezTo>
                <a:lnTo>
                  <a:pt x="3909" y="8408"/>
                </a:lnTo>
                <a:cubicBezTo>
                  <a:pt x="3939" y="8358"/>
                  <a:pt x="3971" y="8310"/>
                  <a:pt x="4004" y="8262"/>
                </a:cubicBezTo>
                <a:cubicBezTo>
                  <a:pt x="4041" y="8205"/>
                  <a:pt x="4099" y="8119"/>
                  <a:pt x="4105" y="8089"/>
                </a:cubicBezTo>
                <a:cubicBezTo>
                  <a:pt x="4107" y="7543"/>
                  <a:pt x="4103" y="6993"/>
                  <a:pt x="4098" y="6443"/>
                </a:cubicBezTo>
                <a:cubicBezTo>
                  <a:pt x="4098" y="6443"/>
                  <a:pt x="4200" y="3597"/>
                  <a:pt x="4211" y="3385"/>
                </a:cubicBezTo>
                <a:cubicBezTo>
                  <a:pt x="4011" y="3462"/>
                  <a:pt x="3811" y="3570"/>
                  <a:pt x="3632" y="3732"/>
                </a:cubicBezTo>
                <a:cubicBezTo>
                  <a:pt x="3184" y="4136"/>
                  <a:pt x="2935" y="4780"/>
                  <a:pt x="2892" y="5648"/>
                </a:cubicBezTo>
                <a:cubicBezTo>
                  <a:pt x="2881" y="5862"/>
                  <a:pt x="2707" y="6029"/>
                  <a:pt x="2498" y="6029"/>
                </a:cubicBezTo>
                <a:cubicBezTo>
                  <a:pt x="2491" y="6029"/>
                  <a:pt x="2485" y="6029"/>
                  <a:pt x="2478" y="6028"/>
                </a:cubicBezTo>
                <a:cubicBezTo>
                  <a:pt x="2260" y="6017"/>
                  <a:pt x="2093" y="5829"/>
                  <a:pt x="2103" y="5607"/>
                </a:cubicBezTo>
                <a:cubicBezTo>
                  <a:pt x="2157" y="4517"/>
                  <a:pt x="2495" y="3683"/>
                  <a:pt x="3108" y="3131"/>
                </a:cubicBezTo>
                <a:cubicBezTo>
                  <a:pt x="3566" y="2719"/>
                  <a:pt x="4166" y="2504"/>
                  <a:pt x="4762" y="2405"/>
                </a:cubicBezTo>
                <a:cubicBezTo>
                  <a:pt x="4906" y="2381"/>
                  <a:pt x="5053" y="2372"/>
                  <a:pt x="5199" y="2376"/>
                </a:cubicBezTo>
                <a:cubicBezTo>
                  <a:pt x="5531" y="2386"/>
                  <a:pt x="5879" y="2443"/>
                  <a:pt x="6166" y="2622"/>
                </a:cubicBezTo>
                <a:cubicBezTo>
                  <a:pt x="6622" y="2905"/>
                  <a:pt x="6924" y="3446"/>
                  <a:pt x="7066" y="4232"/>
                </a:cubicBezTo>
                <a:cubicBezTo>
                  <a:pt x="7373" y="4163"/>
                  <a:pt x="7938" y="3949"/>
                  <a:pt x="8331" y="3703"/>
                </a:cubicBezTo>
                <a:cubicBezTo>
                  <a:pt x="8516" y="3586"/>
                  <a:pt x="8759" y="3645"/>
                  <a:pt x="8874" y="3833"/>
                </a:cubicBezTo>
                <a:cubicBezTo>
                  <a:pt x="8989" y="4022"/>
                  <a:pt x="8931" y="4269"/>
                  <a:pt x="8746" y="4385"/>
                </a:cubicBezTo>
                <a:close/>
                <a:moveTo>
                  <a:pt x="5150" y="2267"/>
                </a:moveTo>
                <a:cubicBezTo>
                  <a:pt x="5766" y="2267"/>
                  <a:pt x="6264" y="1760"/>
                  <a:pt x="6264" y="1133"/>
                </a:cubicBezTo>
                <a:cubicBezTo>
                  <a:pt x="6264" y="507"/>
                  <a:pt x="5766" y="0"/>
                  <a:pt x="5150" y="0"/>
                </a:cubicBezTo>
                <a:cubicBezTo>
                  <a:pt x="4534" y="0"/>
                  <a:pt x="4035" y="507"/>
                  <a:pt x="4035" y="1133"/>
                </a:cubicBezTo>
                <a:cubicBezTo>
                  <a:pt x="4035" y="1760"/>
                  <a:pt x="4534" y="2267"/>
                  <a:pt x="5150" y="2267"/>
                </a:cubicBezTo>
                <a:close/>
                <a:moveTo>
                  <a:pt x="2848" y="6625"/>
                </a:moveTo>
                <a:lnTo>
                  <a:pt x="3391" y="6869"/>
                </a:lnTo>
                <a:lnTo>
                  <a:pt x="2561" y="8735"/>
                </a:lnTo>
                <a:lnTo>
                  <a:pt x="0" y="7583"/>
                </a:lnTo>
                <a:lnTo>
                  <a:pt x="829" y="5717"/>
                </a:lnTo>
                <a:lnTo>
                  <a:pt x="1346" y="5950"/>
                </a:lnTo>
                <a:lnTo>
                  <a:pt x="1629" y="5315"/>
                </a:lnTo>
                <a:lnTo>
                  <a:pt x="2193" y="5569"/>
                </a:lnTo>
                <a:cubicBezTo>
                  <a:pt x="2189" y="5530"/>
                  <a:pt x="2668" y="5778"/>
                  <a:pt x="2888" y="5882"/>
                </a:cubicBezTo>
                <a:lnTo>
                  <a:pt x="3130" y="5990"/>
                </a:lnTo>
                <a:lnTo>
                  <a:pt x="2848" y="6625"/>
                </a:lnTo>
                <a:close/>
                <a:moveTo>
                  <a:pt x="2546" y="6216"/>
                </a:moveTo>
                <a:lnTo>
                  <a:pt x="1851" y="5903"/>
                </a:lnTo>
                <a:lnTo>
                  <a:pt x="1761" y="6106"/>
                </a:lnTo>
                <a:lnTo>
                  <a:pt x="2456" y="6418"/>
                </a:lnTo>
                <a:lnTo>
                  <a:pt x="2546" y="6216"/>
                </a:lnTo>
                <a:close/>
              </a:path>
            </a:pathLst>
          </a:custGeom>
          <a:solidFill>
            <a:srgbClr val="56C4D2"/>
          </a:solidFill>
          <a:ln>
            <a:noFill/>
          </a:ln>
        </p:spPr>
        <p:txBody>
          <a:bodyPr/>
          <a:lstStyle/>
          <a:p>
            <a:endParaRPr lang="zh-CN" altLang="en-US"/>
          </a:p>
        </p:txBody>
      </p:sp>
      <p:sp>
        <p:nvSpPr>
          <p:cNvPr id="186" name="businessman-silhouette-walking-with-suitcase_47866"/>
          <p:cNvSpPr>
            <a:spLocks noChangeAspect="1"/>
          </p:cNvSpPr>
          <p:nvPr/>
        </p:nvSpPr>
        <p:spPr bwMode="gray">
          <a:xfrm>
            <a:off x="8733174" y="3824945"/>
            <a:ext cx="514543" cy="609685"/>
          </a:xfrm>
          <a:custGeom>
            <a:avLst/>
            <a:gdLst>
              <a:gd name="T0" fmla="*/ 6900 w 8989"/>
              <a:gd name="T1" fmla="*/ 5053 h 10667"/>
              <a:gd name="T2" fmla="*/ 6326 w 8989"/>
              <a:gd name="T3" fmla="*/ 4615 h 10667"/>
              <a:gd name="T4" fmla="*/ 6247 w 8989"/>
              <a:gd name="T5" fmla="*/ 5994 h 10667"/>
              <a:gd name="T6" fmla="*/ 6421 w 8989"/>
              <a:gd name="T7" fmla="*/ 6377 h 10667"/>
              <a:gd name="T8" fmla="*/ 7017 w 8989"/>
              <a:gd name="T9" fmla="*/ 7293 h 10667"/>
              <a:gd name="T10" fmla="*/ 7303 w 8989"/>
              <a:gd name="T11" fmla="*/ 8799 h 10667"/>
              <a:gd name="T12" fmla="*/ 7222 w 8989"/>
              <a:gd name="T13" fmla="*/ 10179 h 10667"/>
              <a:gd name="T14" fmla="*/ 6680 w 8989"/>
              <a:gd name="T15" fmla="*/ 10666 h 10667"/>
              <a:gd name="T16" fmla="*/ 6271 w 8989"/>
              <a:gd name="T17" fmla="*/ 8973 h 10667"/>
              <a:gd name="T18" fmla="*/ 6316 w 8989"/>
              <a:gd name="T19" fmla="*/ 8254 h 10667"/>
              <a:gd name="T20" fmla="*/ 5946 w 8989"/>
              <a:gd name="T21" fmla="*/ 7541 h 10667"/>
              <a:gd name="T22" fmla="*/ 5384 w 8989"/>
              <a:gd name="T23" fmla="*/ 6630 h 10667"/>
              <a:gd name="T24" fmla="*/ 5122 w 8989"/>
              <a:gd name="T25" fmla="*/ 6612 h 10667"/>
              <a:gd name="T26" fmla="*/ 4849 w 8989"/>
              <a:gd name="T27" fmla="*/ 8848 h 10667"/>
              <a:gd name="T28" fmla="*/ 3896 w 8989"/>
              <a:gd name="T29" fmla="*/ 10419 h 10667"/>
              <a:gd name="T30" fmla="*/ 3192 w 8989"/>
              <a:gd name="T31" fmla="*/ 10590 h 10667"/>
              <a:gd name="T32" fmla="*/ 3909 w 8989"/>
              <a:gd name="T33" fmla="*/ 8408 h 10667"/>
              <a:gd name="T34" fmla="*/ 4105 w 8989"/>
              <a:gd name="T35" fmla="*/ 8089 h 10667"/>
              <a:gd name="T36" fmla="*/ 4211 w 8989"/>
              <a:gd name="T37" fmla="*/ 3385 h 10667"/>
              <a:gd name="T38" fmla="*/ 2892 w 8989"/>
              <a:gd name="T39" fmla="*/ 5648 h 10667"/>
              <a:gd name="T40" fmla="*/ 2478 w 8989"/>
              <a:gd name="T41" fmla="*/ 6028 h 10667"/>
              <a:gd name="T42" fmla="*/ 3108 w 8989"/>
              <a:gd name="T43" fmla="*/ 3131 h 10667"/>
              <a:gd name="T44" fmla="*/ 5199 w 8989"/>
              <a:gd name="T45" fmla="*/ 2376 h 10667"/>
              <a:gd name="T46" fmla="*/ 7066 w 8989"/>
              <a:gd name="T47" fmla="*/ 4232 h 10667"/>
              <a:gd name="T48" fmla="*/ 8874 w 8989"/>
              <a:gd name="T49" fmla="*/ 3833 h 10667"/>
              <a:gd name="T50" fmla="*/ 5150 w 8989"/>
              <a:gd name="T51" fmla="*/ 2267 h 10667"/>
              <a:gd name="T52" fmla="*/ 5150 w 8989"/>
              <a:gd name="T53" fmla="*/ 0 h 10667"/>
              <a:gd name="T54" fmla="*/ 5150 w 8989"/>
              <a:gd name="T55" fmla="*/ 2267 h 10667"/>
              <a:gd name="T56" fmla="*/ 3391 w 8989"/>
              <a:gd name="T57" fmla="*/ 6869 h 10667"/>
              <a:gd name="T58" fmla="*/ 0 w 8989"/>
              <a:gd name="T59" fmla="*/ 7583 h 10667"/>
              <a:gd name="T60" fmla="*/ 1346 w 8989"/>
              <a:gd name="T61" fmla="*/ 5950 h 10667"/>
              <a:gd name="T62" fmla="*/ 2193 w 8989"/>
              <a:gd name="T63" fmla="*/ 5569 h 10667"/>
              <a:gd name="T64" fmla="*/ 3130 w 8989"/>
              <a:gd name="T65" fmla="*/ 5990 h 10667"/>
              <a:gd name="T66" fmla="*/ 2546 w 8989"/>
              <a:gd name="T67" fmla="*/ 6216 h 10667"/>
              <a:gd name="T68" fmla="*/ 1761 w 8989"/>
              <a:gd name="T69" fmla="*/ 6106 h 10667"/>
              <a:gd name="T70" fmla="*/ 2546 w 8989"/>
              <a:gd name="T71" fmla="*/ 6216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89" h="10667">
                <a:moveTo>
                  <a:pt x="8746" y="4385"/>
                </a:moveTo>
                <a:cubicBezTo>
                  <a:pt x="8539" y="4515"/>
                  <a:pt x="7535" y="5053"/>
                  <a:pt x="6900" y="5053"/>
                </a:cubicBezTo>
                <a:cubicBezTo>
                  <a:pt x="6786" y="5053"/>
                  <a:pt x="6683" y="5036"/>
                  <a:pt x="6600" y="4995"/>
                </a:cubicBezTo>
                <a:cubicBezTo>
                  <a:pt x="6447" y="4921"/>
                  <a:pt x="6347" y="4782"/>
                  <a:pt x="6326" y="4615"/>
                </a:cubicBezTo>
                <a:cubicBezTo>
                  <a:pt x="6283" y="4271"/>
                  <a:pt x="6210" y="3985"/>
                  <a:pt x="6111" y="3763"/>
                </a:cubicBezTo>
                <a:cubicBezTo>
                  <a:pt x="6159" y="4365"/>
                  <a:pt x="6235" y="5393"/>
                  <a:pt x="6247" y="5994"/>
                </a:cubicBezTo>
                <a:cubicBezTo>
                  <a:pt x="6247" y="6021"/>
                  <a:pt x="6289" y="6142"/>
                  <a:pt x="6289" y="6142"/>
                </a:cubicBezTo>
                <a:lnTo>
                  <a:pt x="6421" y="6377"/>
                </a:lnTo>
                <a:cubicBezTo>
                  <a:pt x="6530" y="6571"/>
                  <a:pt x="6655" y="6755"/>
                  <a:pt x="6787" y="6948"/>
                </a:cubicBezTo>
                <a:cubicBezTo>
                  <a:pt x="6865" y="7063"/>
                  <a:pt x="6943" y="7177"/>
                  <a:pt x="7017" y="7293"/>
                </a:cubicBezTo>
                <a:cubicBezTo>
                  <a:pt x="7177" y="7543"/>
                  <a:pt x="7384" y="7927"/>
                  <a:pt x="7332" y="8376"/>
                </a:cubicBezTo>
                <a:cubicBezTo>
                  <a:pt x="7315" y="8517"/>
                  <a:pt x="7310" y="8658"/>
                  <a:pt x="7303" y="8799"/>
                </a:cubicBezTo>
                <a:cubicBezTo>
                  <a:pt x="7301" y="8879"/>
                  <a:pt x="7297" y="8959"/>
                  <a:pt x="7292" y="9038"/>
                </a:cubicBezTo>
                <a:lnTo>
                  <a:pt x="7222" y="10179"/>
                </a:lnTo>
                <a:cubicBezTo>
                  <a:pt x="7205" y="10455"/>
                  <a:pt x="6980" y="10667"/>
                  <a:pt x="6712" y="10667"/>
                </a:cubicBezTo>
                <a:cubicBezTo>
                  <a:pt x="6701" y="10667"/>
                  <a:pt x="6691" y="10666"/>
                  <a:pt x="6680" y="10666"/>
                </a:cubicBezTo>
                <a:cubicBezTo>
                  <a:pt x="6398" y="10648"/>
                  <a:pt x="6183" y="10401"/>
                  <a:pt x="6201" y="10114"/>
                </a:cubicBezTo>
                <a:lnTo>
                  <a:pt x="6271" y="8973"/>
                </a:lnTo>
                <a:cubicBezTo>
                  <a:pt x="6275" y="8901"/>
                  <a:pt x="6278" y="8827"/>
                  <a:pt x="6282" y="8754"/>
                </a:cubicBezTo>
                <a:cubicBezTo>
                  <a:pt x="6289" y="8587"/>
                  <a:pt x="6296" y="8419"/>
                  <a:pt x="6316" y="8254"/>
                </a:cubicBezTo>
                <a:cubicBezTo>
                  <a:pt x="6325" y="8170"/>
                  <a:pt x="6273" y="8038"/>
                  <a:pt x="6160" y="7862"/>
                </a:cubicBezTo>
                <a:cubicBezTo>
                  <a:pt x="6090" y="7753"/>
                  <a:pt x="6018" y="7647"/>
                  <a:pt x="5946" y="7541"/>
                </a:cubicBezTo>
                <a:cubicBezTo>
                  <a:pt x="5807" y="7337"/>
                  <a:pt x="5664" y="7127"/>
                  <a:pt x="5533" y="6895"/>
                </a:cubicBezTo>
                <a:lnTo>
                  <a:pt x="5384" y="6630"/>
                </a:lnTo>
                <a:cubicBezTo>
                  <a:pt x="5313" y="6616"/>
                  <a:pt x="5240" y="6604"/>
                  <a:pt x="5164" y="6604"/>
                </a:cubicBezTo>
                <a:cubicBezTo>
                  <a:pt x="5151" y="6604"/>
                  <a:pt x="5136" y="6610"/>
                  <a:pt x="5122" y="6612"/>
                </a:cubicBezTo>
                <a:cubicBezTo>
                  <a:pt x="5126" y="7107"/>
                  <a:pt x="5130" y="7602"/>
                  <a:pt x="5128" y="8097"/>
                </a:cubicBezTo>
                <a:cubicBezTo>
                  <a:pt x="5126" y="8435"/>
                  <a:pt x="4966" y="8673"/>
                  <a:pt x="4849" y="8848"/>
                </a:cubicBezTo>
                <a:cubicBezTo>
                  <a:pt x="4826" y="8882"/>
                  <a:pt x="4803" y="8916"/>
                  <a:pt x="4782" y="8951"/>
                </a:cubicBezTo>
                <a:lnTo>
                  <a:pt x="3896" y="10419"/>
                </a:lnTo>
                <a:cubicBezTo>
                  <a:pt x="3800" y="10579"/>
                  <a:pt x="3632" y="10667"/>
                  <a:pt x="3460" y="10667"/>
                </a:cubicBezTo>
                <a:cubicBezTo>
                  <a:pt x="3368" y="10667"/>
                  <a:pt x="3276" y="10642"/>
                  <a:pt x="3192" y="10590"/>
                </a:cubicBezTo>
                <a:cubicBezTo>
                  <a:pt x="2952" y="10440"/>
                  <a:pt x="2876" y="10119"/>
                  <a:pt x="3024" y="9874"/>
                </a:cubicBezTo>
                <a:lnTo>
                  <a:pt x="3909" y="8408"/>
                </a:lnTo>
                <a:cubicBezTo>
                  <a:pt x="3939" y="8358"/>
                  <a:pt x="3971" y="8310"/>
                  <a:pt x="4004" y="8262"/>
                </a:cubicBezTo>
                <a:cubicBezTo>
                  <a:pt x="4041" y="8205"/>
                  <a:pt x="4099" y="8119"/>
                  <a:pt x="4105" y="8089"/>
                </a:cubicBezTo>
                <a:cubicBezTo>
                  <a:pt x="4107" y="7543"/>
                  <a:pt x="4103" y="6993"/>
                  <a:pt x="4098" y="6443"/>
                </a:cubicBezTo>
                <a:cubicBezTo>
                  <a:pt x="4098" y="6443"/>
                  <a:pt x="4200" y="3597"/>
                  <a:pt x="4211" y="3385"/>
                </a:cubicBezTo>
                <a:cubicBezTo>
                  <a:pt x="4011" y="3462"/>
                  <a:pt x="3811" y="3570"/>
                  <a:pt x="3632" y="3732"/>
                </a:cubicBezTo>
                <a:cubicBezTo>
                  <a:pt x="3184" y="4136"/>
                  <a:pt x="2935" y="4780"/>
                  <a:pt x="2892" y="5648"/>
                </a:cubicBezTo>
                <a:cubicBezTo>
                  <a:pt x="2881" y="5862"/>
                  <a:pt x="2707" y="6029"/>
                  <a:pt x="2498" y="6029"/>
                </a:cubicBezTo>
                <a:cubicBezTo>
                  <a:pt x="2491" y="6029"/>
                  <a:pt x="2485" y="6029"/>
                  <a:pt x="2478" y="6028"/>
                </a:cubicBezTo>
                <a:cubicBezTo>
                  <a:pt x="2260" y="6017"/>
                  <a:pt x="2093" y="5829"/>
                  <a:pt x="2103" y="5607"/>
                </a:cubicBezTo>
                <a:cubicBezTo>
                  <a:pt x="2157" y="4517"/>
                  <a:pt x="2495" y="3683"/>
                  <a:pt x="3108" y="3131"/>
                </a:cubicBezTo>
                <a:cubicBezTo>
                  <a:pt x="3566" y="2719"/>
                  <a:pt x="4166" y="2504"/>
                  <a:pt x="4762" y="2405"/>
                </a:cubicBezTo>
                <a:cubicBezTo>
                  <a:pt x="4906" y="2381"/>
                  <a:pt x="5053" y="2372"/>
                  <a:pt x="5199" y="2376"/>
                </a:cubicBezTo>
                <a:cubicBezTo>
                  <a:pt x="5531" y="2386"/>
                  <a:pt x="5879" y="2443"/>
                  <a:pt x="6166" y="2622"/>
                </a:cubicBezTo>
                <a:cubicBezTo>
                  <a:pt x="6622" y="2905"/>
                  <a:pt x="6924" y="3446"/>
                  <a:pt x="7066" y="4232"/>
                </a:cubicBezTo>
                <a:cubicBezTo>
                  <a:pt x="7373" y="4163"/>
                  <a:pt x="7938" y="3949"/>
                  <a:pt x="8331" y="3703"/>
                </a:cubicBezTo>
                <a:cubicBezTo>
                  <a:pt x="8516" y="3586"/>
                  <a:pt x="8759" y="3645"/>
                  <a:pt x="8874" y="3833"/>
                </a:cubicBezTo>
                <a:cubicBezTo>
                  <a:pt x="8989" y="4022"/>
                  <a:pt x="8931" y="4269"/>
                  <a:pt x="8746" y="4385"/>
                </a:cubicBezTo>
                <a:close/>
                <a:moveTo>
                  <a:pt x="5150" y="2267"/>
                </a:moveTo>
                <a:cubicBezTo>
                  <a:pt x="5766" y="2267"/>
                  <a:pt x="6264" y="1760"/>
                  <a:pt x="6264" y="1133"/>
                </a:cubicBezTo>
                <a:cubicBezTo>
                  <a:pt x="6264" y="507"/>
                  <a:pt x="5766" y="0"/>
                  <a:pt x="5150" y="0"/>
                </a:cubicBezTo>
                <a:cubicBezTo>
                  <a:pt x="4534" y="0"/>
                  <a:pt x="4035" y="507"/>
                  <a:pt x="4035" y="1133"/>
                </a:cubicBezTo>
                <a:cubicBezTo>
                  <a:pt x="4035" y="1760"/>
                  <a:pt x="4534" y="2267"/>
                  <a:pt x="5150" y="2267"/>
                </a:cubicBezTo>
                <a:close/>
                <a:moveTo>
                  <a:pt x="2848" y="6625"/>
                </a:moveTo>
                <a:lnTo>
                  <a:pt x="3391" y="6869"/>
                </a:lnTo>
                <a:lnTo>
                  <a:pt x="2561" y="8735"/>
                </a:lnTo>
                <a:lnTo>
                  <a:pt x="0" y="7583"/>
                </a:lnTo>
                <a:lnTo>
                  <a:pt x="829" y="5717"/>
                </a:lnTo>
                <a:lnTo>
                  <a:pt x="1346" y="5950"/>
                </a:lnTo>
                <a:lnTo>
                  <a:pt x="1629" y="5315"/>
                </a:lnTo>
                <a:lnTo>
                  <a:pt x="2193" y="5569"/>
                </a:lnTo>
                <a:cubicBezTo>
                  <a:pt x="2189" y="5530"/>
                  <a:pt x="2668" y="5778"/>
                  <a:pt x="2888" y="5882"/>
                </a:cubicBezTo>
                <a:lnTo>
                  <a:pt x="3130" y="5990"/>
                </a:lnTo>
                <a:lnTo>
                  <a:pt x="2848" y="6625"/>
                </a:lnTo>
                <a:close/>
                <a:moveTo>
                  <a:pt x="2546" y="6216"/>
                </a:moveTo>
                <a:lnTo>
                  <a:pt x="1851" y="5903"/>
                </a:lnTo>
                <a:lnTo>
                  <a:pt x="1761" y="6106"/>
                </a:lnTo>
                <a:lnTo>
                  <a:pt x="2456" y="6418"/>
                </a:lnTo>
                <a:lnTo>
                  <a:pt x="2546" y="6216"/>
                </a:lnTo>
                <a:close/>
              </a:path>
            </a:pathLst>
          </a:custGeom>
          <a:solidFill>
            <a:srgbClr val="56C4D2"/>
          </a:solidFill>
          <a:ln>
            <a:noFill/>
          </a:ln>
        </p:spPr>
        <p:txBody>
          <a:bodyPr/>
          <a:lstStyle/>
          <a:p>
            <a:endParaRPr lang="zh-CN" altLang="en-US"/>
          </a:p>
        </p:txBody>
      </p:sp>
      <p:cxnSp>
        <p:nvCxnSpPr>
          <p:cNvPr id="190" name="Straight Arrow Connector 189"/>
          <p:cNvCxnSpPr/>
          <p:nvPr/>
        </p:nvCxnSpPr>
        <p:spPr bwMode="gray">
          <a:xfrm>
            <a:off x="9107010" y="4485442"/>
            <a:ext cx="364379" cy="558515"/>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318556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latin typeface="+mn-lt"/>
                <a:ea typeface="+mn-ea"/>
                <a:cs typeface="+mn-ea"/>
                <a:sym typeface="+mn-lt"/>
              </a:rPr>
              <a:t>SD-WAN</a:t>
            </a:r>
            <a:r>
              <a:rPr lang="zh-CN" altLang="en-US" dirty="0">
                <a:latin typeface="+mn-lt"/>
                <a:ea typeface="+mn-ea"/>
                <a:cs typeface="+mn-ea"/>
                <a:sym typeface="+mn-lt"/>
              </a:rPr>
              <a:t>诞生</a:t>
            </a:r>
          </a:p>
        </p:txBody>
      </p:sp>
      <p:sp>
        <p:nvSpPr>
          <p:cNvPr id="3" name="文本占位符 2"/>
          <p:cNvSpPr>
            <a:spLocks noGrp="1"/>
          </p:cNvSpPr>
          <p:nvPr>
            <p:ph type="body" sz="quarter" idx="10"/>
          </p:nvPr>
        </p:nvSpPr>
        <p:spPr bwMode="gray">
          <a:xfrm>
            <a:off x="455612" y="1047751"/>
            <a:ext cx="11293475" cy="1436384"/>
          </a:xfrm>
        </p:spPr>
        <p:txBody>
          <a:bodyPr/>
          <a:lstStyle/>
          <a:p>
            <a:r>
              <a:rPr lang="en-US" altLang="zh-CN" sz="1800" dirty="0">
                <a:latin typeface="+mn-lt"/>
                <a:ea typeface="+mn-ea"/>
                <a:cs typeface="+mn-ea"/>
                <a:sym typeface="+mn-lt"/>
              </a:rPr>
              <a:t>SD-WAN</a:t>
            </a:r>
            <a:r>
              <a:rPr lang="zh-CN" altLang="en-US" sz="1800" dirty="0">
                <a:latin typeface="+mn-lt"/>
                <a:ea typeface="+mn-ea"/>
                <a:cs typeface="+mn-ea"/>
                <a:sym typeface="+mn-lt"/>
              </a:rPr>
              <a:t>（</a:t>
            </a:r>
            <a:r>
              <a:rPr lang="en-US" altLang="zh-CN" sz="1800" dirty="0">
                <a:latin typeface="+mn-lt"/>
                <a:ea typeface="+mn-ea"/>
                <a:cs typeface="+mn-ea"/>
                <a:sym typeface="+mn-lt"/>
              </a:rPr>
              <a:t>Software Defined Wide Area Network</a:t>
            </a:r>
            <a:r>
              <a:rPr lang="zh-CN" altLang="en-US" sz="1800" dirty="0">
                <a:latin typeface="+mn-lt"/>
                <a:ea typeface="+mn-ea"/>
                <a:cs typeface="+mn-ea"/>
                <a:sym typeface="+mn-lt"/>
              </a:rPr>
              <a:t>，软件定义广域网）技术能较好地解决云计算时代企业广域互联网络面临的挑战。</a:t>
            </a:r>
            <a:endParaRPr lang="en-US" altLang="zh-CN" sz="1800" dirty="0">
              <a:latin typeface="+mn-lt"/>
              <a:ea typeface="+mn-ea"/>
              <a:cs typeface="+mn-ea"/>
              <a:sym typeface="+mn-lt"/>
            </a:endParaRPr>
          </a:p>
          <a:p>
            <a:r>
              <a:rPr lang="en-US" altLang="zh-CN" sz="1800" dirty="0">
                <a:latin typeface="+mn-lt"/>
                <a:ea typeface="+mn-ea"/>
                <a:cs typeface="+mn-ea"/>
                <a:sym typeface="+mn-lt"/>
              </a:rPr>
              <a:t>SD-WAN</a:t>
            </a:r>
            <a:r>
              <a:rPr lang="zh-CN" altLang="en-US" sz="1800" dirty="0">
                <a:latin typeface="+mn-lt"/>
                <a:ea typeface="+mn-ea"/>
                <a:cs typeface="+mn-ea"/>
                <a:sym typeface="+mn-lt"/>
              </a:rPr>
              <a:t>是</a:t>
            </a:r>
            <a:r>
              <a:rPr lang="en-US" altLang="zh-CN" sz="1800" dirty="0">
                <a:latin typeface="+mn-lt"/>
                <a:ea typeface="+mn-ea"/>
                <a:cs typeface="+mn-ea"/>
                <a:sym typeface="+mn-lt"/>
              </a:rPr>
              <a:t>Software Defined</a:t>
            </a:r>
            <a:r>
              <a:rPr lang="zh-CN" altLang="en-US" sz="1800" dirty="0">
                <a:latin typeface="+mn-lt"/>
                <a:ea typeface="+mn-ea"/>
                <a:cs typeface="+mn-ea"/>
                <a:sym typeface="+mn-lt"/>
              </a:rPr>
              <a:t>和</a:t>
            </a:r>
            <a:r>
              <a:rPr lang="en-US" altLang="zh-CN" sz="1800" dirty="0">
                <a:latin typeface="+mn-lt"/>
                <a:ea typeface="+mn-ea"/>
                <a:cs typeface="+mn-ea"/>
                <a:sym typeface="+mn-lt"/>
              </a:rPr>
              <a:t>WAN</a:t>
            </a:r>
            <a:r>
              <a:rPr lang="zh-CN" altLang="en-US" sz="1800" dirty="0">
                <a:latin typeface="+mn-lt"/>
                <a:ea typeface="+mn-ea"/>
                <a:cs typeface="+mn-ea"/>
                <a:sym typeface="+mn-lt"/>
              </a:rPr>
              <a:t>的结合，表示将</a:t>
            </a:r>
            <a:r>
              <a:rPr lang="en-US" altLang="zh-CN" sz="1800" b="1" dirty="0">
                <a:solidFill>
                  <a:srgbClr val="C7000B"/>
                </a:solidFill>
                <a:latin typeface="+mn-lt"/>
                <a:ea typeface="+mn-ea"/>
                <a:cs typeface="+mn-ea"/>
                <a:sym typeface="+mn-lt"/>
              </a:rPr>
              <a:t>SDN</a:t>
            </a:r>
            <a:r>
              <a:rPr lang="zh-CN" altLang="en-US" sz="1800" dirty="0">
                <a:latin typeface="+mn-lt"/>
                <a:ea typeface="+mn-ea"/>
                <a:cs typeface="+mn-ea"/>
                <a:sym typeface="+mn-lt"/>
              </a:rPr>
              <a:t>的架构和理念应用于</a:t>
            </a:r>
            <a:r>
              <a:rPr lang="en-US" altLang="zh-CN" sz="1800" dirty="0">
                <a:latin typeface="+mn-lt"/>
                <a:ea typeface="+mn-ea"/>
                <a:cs typeface="+mn-ea"/>
                <a:sym typeface="+mn-lt"/>
              </a:rPr>
              <a:t>WAN</a:t>
            </a:r>
            <a:r>
              <a:rPr lang="zh-CN" altLang="en-US" sz="1800" dirty="0">
                <a:latin typeface="+mn-lt"/>
                <a:ea typeface="+mn-ea"/>
                <a:cs typeface="+mn-ea"/>
                <a:sym typeface="+mn-lt"/>
              </a:rPr>
              <a:t>，借助</a:t>
            </a:r>
            <a:r>
              <a:rPr lang="en-US" altLang="zh-CN" sz="1800" dirty="0">
                <a:latin typeface="+mn-lt"/>
                <a:ea typeface="+mn-ea"/>
                <a:cs typeface="+mn-ea"/>
                <a:sym typeface="+mn-lt"/>
              </a:rPr>
              <a:t>SDN</a:t>
            </a:r>
            <a:r>
              <a:rPr lang="zh-CN" altLang="en-US" sz="1800" dirty="0">
                <a:latin typeface="+mn-lt"/>
                <a:ea typeface="+mn-ea"/>
                <a:cs typeface="+mn-ea"/>
                <a:sym typeface="+mn-lt"/>
              </a:rPr>
              <a:t>来重塑</a:t>
            </a:r>
            <a:r>
              <a:rPr lang="en-US" altLang="zh-CN" sz="1800" dirty="0">
                <a:latin typeface="+mn-lt"/>
                <a:ea typeface="+mn-ea"/>
                <a:cs typeface="+mn-ea"/>
                <a:sym typeface="+mn-lt"/>
              </a:rPr>
              <a:t>WAN</a:t>
            </a:r>
            <a:r>
              <a:rPr lang="zh-CN" altLang="en-US" sz="1800" dirty="0">
                <a:latin typeface="+mn-lt"/>
                <a:ea typeface="+mn-ea"/>
                <a:cs typeface="+mn-ea"/>
                <a:sym typeface="+mn-lt"/>
              </a:rPr>
              <a:t>。</a:t>
            </a:r>
          </a:p>
        </p:txBody>
      </p:sp>
      <p:sp>
        <p:nvSpPr>
          <p:cNvPr id="4" name="圆角矩形 75"/>
          <p:cNvSpPr/>
          <p:nvPr/>
        </p:nvSpPr>
        <p:spPr bwMode="gray">
          <a:xfrm>
            <a:off x="1143065" y="3129935"/>
            <a:ext cx="338864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800" dirty="0">
                <a:solidFill>
                  <a:srgbClr val="30B5C5"/>
                </a:solidFill>
                <a:cs typeface="+mn-ea"/>
                <a:sym typeface="+mn-lt"/>
              </a:rPr>
              <a:t>ONUG</a:t>
            </a:r>
            <a:r>
              <a:rPr lang="zh-CN" altLang="en-US" sz="1800" dirty="0">
                <a:solidFill>
                  <a:srgbClr val="30B5C5"/>
                </a:solidFill>
                <a:cs typeface="+mn-ea"/>
                <a:sym typeface="+mn-lt"/>
              </a:rPr>
              <a:t>定义的</a:t>
            </a:r>
            <a:r>
              <a:rPr lang="en-US" altLang="zh-CN" sz="1800" dirty="0">
                <a:solidFill>
                  <a:srgbClr val="30B5C5"/>
                </a:solidFill>
                <a:cs typeface="+mn-ea"/>
                <a:sym typeface="+mn-lt"/>
              </a:rPr>
              <a:t>SD-WAN</a:t>
            </a:r>
            <a:r>
              <a:rPr lang="zh-CN" altLang="en-US" sz="1800" dirty="0">
                <a:solidFill>
                  <a:srgbClr val="30B5C5"/>
                </a:solidFill>
                <a:cs typeface="+mn-ea"/>
                <a:sym typeface="+mn-lt"/>
              </a:rPr>
              <a:t>十大需求</a:t>
            </a:r>
          </a:p>
        </p:txBody>
      </p:sp>
      <p:sp>
        <p:nvSpPr>
          <p:cNvPr id="7" name="圆角矩形 75"/>
          <p:cNvSpPr/>
          <p:nvPr/>
        </p:nvSpPr>
        <p:spPr bwMode="gray">
          <a:xfrm>
            <a:off x="1135768" y="3925074"/>
            <a:ext cx="338864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800" dirty="0">
                <a:solidFill>
                  <a:srgbClr val="30B5C5"/>
                </a:solidFill>
                <a:cs typeface="+mn-ea"/>
                <a:sym typeface="+mn-lt"/>
              </a:rPr>
              <a:t>Gartner</a:t>
            </a:r>
            <a:r>
              <a:rPr lang="zh-CN" altLang="en-US" sz="1800" dirty="0">
                <a:solidFill>
                  <a:srgbClr val="30B5C5"/>
                </a:solidFill>
                <a:cs typeface="+mn-ea"/>
                <a:sym typeface="+mn-lt"/>
              </a:rPr>
              <a:t>定义的</a:t>
            </a:r>
            <a:r>
              <a:rPr lang="en-US" altLang="zh-CN" sz="1800">
                <a:solidFill>
                  <a:srgbClr val="30B5C5"/>
                </a:solidFill>
                <a:cs typeface="+mn-ea"/>
                <a:sym typeface="+mn-lt"/>
              </a:rPr>
              <a:t>SD-WAN</a:t>
            </a:r>
            <a:r>
              <a:rPr lang="zh-CN" altLang="en-US" sz="1800">
                <a:solidFill>
                  <a:srgbClr val="30B5C5"/>
                </a:solidFill>
                <a:cs typeface="+mn-ea"/>
                <a:sym typeface="+mn-lt"/>
              </a:rPr>
              <a:t>特征</a:t>
            </a:r>
            <a:r>
              <a:rPr lang="en-US" altLang="zh-CN" sz="1800">
                <a:solidFill>
                  <a:srgbClr val="30B5C5"/>
                </a:solidFill>
                <a:cs typeface="+mn-ea"/>
                <a:sym typeface="+mn-lt"/>
              </a:rPr>
              <a:t> </a:t>
            </a:r>
            <a:endParaRPr lang="zh-CN" altLang="en-US" sz="1800" dirty="0">
              <a:solidFill>
                <a:srgbClr val="30B5C5"/>
              </a:solidFill>
              <a:cs typeface="+mn-ea"/>
              <a:sym typeface="+mn-lt"/>
            </a:endParaRPr>
          </a:p>
        </p:txBody>
      </p:sp>
      <p:sp>
        <p:nvSpPr>
          <p:cNvPr id="10" name="圆角矩形 75"/>
          <p:cNvSpPr/>
          <p:nvPr/>
        </p:nvSpPr>
        <p:spPr bwMode="gray">
          <a:xfrm>
            <a:off x="1142267" y="4720213"/>
            <a:ext cx="338864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800" dirty="0">
                <a:solidFill>
                  <a:srgbClr val="30B5C5"/>
                </a:solidFill>
                <a:cs typeface="+mn-ea"/>
                <a:sym typeface="+mn-lt"/>
              </a:rPr>
              <a:t>MEF</a:t>
            </a:r>
            <a:r>
              <a:rPr lang="zh-CN" altLang="en-US" sz="1800" dirty="0">
                <a:solidFill>
                  <a:srgbClr val="30B5C5"/>
                </a:solidFill>
                <a:cs typeface="+mn-ea"/>
                <a:sym typeface="+mn-lt"/>
              </a:rPr>
              <a:t>定义的</a:t>
            </a:r>
            <a:r>
              <a:rPr lang="en-US" altLang="zh-CN" sz="1800">
                <a:solidFill>
                  <a:srgbClr val="30B5C5"/>
                </a:solidFill>
                <a:cs typeface="+mn-ea"/>
                <a:sym typeface="+mn-lt"/>
              </a:rPr>
              <a:t>SD-WAN</a:t>
            </a:r>
            <a:r>
              <a:rPr lang="zh-CN" altLang="en-US" sz="1800">
                <a:solidFill>
                  <a:srgbClr val="30B5C5"/>
                </a:solidFill>
                <a:cs typeface="+mn-ea"/>
                <a:sym typeface="+mn-lt"/>
              </a:rPr>
              <a:t>特征</a:t>
            </a:r>
            <a:r>
              <a:rPr lang="en-US" altLang="zh-CN" sz="1800">
                <a:solidFill>
                  <a:srgbClr val="30B5C5"/>
                </a:solidFill>
                <a:cs typeface="+mn-ea"/>
                <a:sym typeface="+mn-lt"/>
              </a:rPr>
              <a:t> </a:t>
            </a:r>
            <a:endParaRPr lang="zh-CN" altLang="en-US" sz="1800" dirty="0">
              <a:solidFill>
                <a:srgbClr val="30B5C5"/>
              </a:solidFill>
              <a:cs typeface="+mn-ea"/>
              <a:sym typeface="+mn-lt"/>
            </a:endParaRPr>
          </a:p>
        </p:txBody>
      </p:sp>
      <p:grpSp>
        <p:nvGrpSpPr>
          <p:cNvPr id="13" name="组合 12"/>
          <p:cNvGrpSpPr/>
          <p:nvPr/>
        </p:nvGrpSpPr>
        <p:grpSpPr bwMode="gray">
          <a:xfrm rot="5571090">
            <a:off x="3829875" y="3659455"/>
            <a:ext cx="2688552" cy="1171998"/>
            <a:chOff x="-922741" y="4190496"/>
            <a:chExt cx="3527788" cy="1368198"/>
          </a:xfrm>
        </p:grpSpPr>
        <p:sp>
          <p:nvSpPr>
            <p:cNvPr id="14" name="梯形 13"/>
            <p:cNvSpPr/>
            <p:nvPr/>
          </p:nvSpPr>
          <p:spPr bwMode="gray">
            <a:xfrm>
              <a:off x="-922741" y="4190496"/>
              <a:ext cx="3527788" cy="1368198"/>
            </a:xfrm>
            <a:prstGeom prst="trapezoid">
              <a:avLst>
                <a:gd name="adj" fmla="val 106759"/>
              </a:avLst>
            </a:prstGeom>
            <a:gradFill>
              <a:gsLst>
                <a:gs pos="0">
                  <a:sysClr val="window" lastClr="FFFFFF">
                    <a:alpha val="0"/>
                  </a:sysClr>
                </a:gs>
                <a:gs pos="64000">
                  <a:srgbClr val="5DC3EA">
                    <a:alpha val="50000"/>
                  </a:srgbClr>
                </a:gs>
                <a:gs pos="39000">
                  <a:srgbClr val="1AABE2">
                    <a:lumMod val="100000"/>
                    <a:alpha val="50000"/>
                  </a:srgbClr>
                </a:gs>
                <a:gs pos="100000">
                  <a:sysClr val="window" lastClr="FFFFFF">
                    <a:alpha val="0"/>
                  </a:sys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5" name="梯形 14"/>
            <p:cNvSpPr/>
            <p:nvPr/>
          </p:nvSpPr>
          <p:spPr bwMode="gray">
            <a:xfrm>
              <a:off x="-410950" y="4190496"/>
              <a:ext cx="2504207" cy="1368198"/>
            </a:xfrm>
            <a:prstGeom prst="trapezoid">
              <a:avLst>
                <a:gd name="adj" fmla="val 74566"/>
              </a:avLst>
            </a:prstGeom>
            <a:gradFill>
              <a:gsLst>
                <a:gs pos="0">
                  <a:sysClr val="window" lastClr="FFFFFF">
                    <a:alpha val="0"/>
                  </a:sysClr>
                </a:gs>
                <a:gs pos="64000">
                  <a:srgbClr val="5DC3EA">
                    <a:alpha val="50000"/>
                  </a:srgbClr>
                </a:gs>
                <a:gs pos="39000">
                  <a:srgbClr val="1AABE2">
                    <a:lumMod val="100000"/>
                    <a:alpha val="50000"/>
                  </a:srgbClr>
                </a:gs>
                <a:gs pos="100000">
                  <a:sysClr val="window" lastClr="FFFFFF">
                    <a:alpha val="0"/>
                  </a:sys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6" name="梯形 15"/>
            <p:cNvSpPr/>
            <p:nvPr/>
          </p:nvSpPr>
          <p:spPr bwMode="gray">
            <a:xfrm>
              <a:off x="166427" y="4302060"/>
              <a:ext cx="1372970" cy="1256634"/>
            </a:xfrm>
            <a:prstGeom prst="trapezoid">
              <a:avLst>
                <a:gd name="adj" fmla="val 41750"/>
              </a:avLst>
            </a:prstGeom>
            <a:gradFill>
              <a:gsLst>
                <a:gs pos="0">
                  <a:sysClr val="window" lastClr="FFFFFF">
                    <a:alpha val="0"/>
                  </a:sysClr>
                </a:gs>
                <a:gs pos="64000">
                  <a:srgbClr val="5DC3EA">
                    <a:alpha val="50000"/>
                  </a:srgbClr>
                </a:gs>
                <a:gs pos="39000">
                  <a:srgbClr val="1AABE2">
                    <a:lumMod val="100000"/>
                    <a:alpha val="50000"/>
                  </a:srgbClr>
                </a:gs>
                <a:gs pos="100000">
                  <a:sysClr val="window" lastClr="FFFFFF">
                    <a:alpha val="0"/>
                  </a:sys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grpSp>
      <p:sp>
        <p:nvSpPr>
          <p:cNvPr id="17" name="圆角矩形 75"/>
          <p:cNvSpPr/>
          <p:nvPr/>
        </p:nvSpPr>
        <p:spPr bwMode="gray">
          <a:xfrm>
            <a:off x="6456040" y="2988970"/>
            <a:ext cx="4735494" cy="2821281"/>
          </a:xfrm>
          <a:prstGeom prst="roundRect">
            <a:avLst>
              <a:gd name="adj" fmla="val 874"/>
            </a:avLst>
          </a:prstGeom>
          <a:no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cs typeface="+mn-ea"/>
                <a:sym typeface="+mn-lt"/>
              </a:rPr>
              <a:t>通过零配置开局等方式，实现分支的快速部署和上线，提高部署效率。</a:t>
            </a:r>
            <a:endParaRPr lang="en-US" altLang="zh-CN" sz="1400" dirty="0">
              <a:solidFill>
                <a:schemeClr val="tx1"/>
              </a:solidFill>
              <a:cs typeface="+mn-ea"/>
              <a:sym typeface="+mn-lt"/>
            </a:endParaRPr>
          </a:p>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cs typeface="+mn-ea"/>
                <a:sym typeface="+mn-lt"/>
              </a:rPr>
              <a:t>基于不同的应用类型，动态调整流量的路径，实现灵活便捷的调度方式。</a:t>
            </a:r>
            <a:endParaRPr lang="en-US" altLang="zh-CN" sz="1400" dirty="0">
              <a:solidFill>
                <a:schemeClr val="tx1"/>
              </a:solidFill>
              <a:cs typeface="+mn-ea"/>
              <a:sym typeface="+mn-lt"/>
            </a:endParaRPr>
          </a:p>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cs typeface="+mn-ea"/>
                <a:sym typeface="+mn-lt"/>
              </a:rPr>
              <a:t>集中管控，全网状态可视化；提供自动化、智能化运维能力。</a:t>
            </a:r>
            <a:endParaRPr lang="en-US" altLang="zh-CN" sz="1400" dirty="0">
              <a:solidFill>
                <a:schemeClr val="tx1"/>
              </a:solidFill>
              <a:cs typeface="+mn-ea"/>
              <a:sym typeface="+mn-lt"/>
            </a:endParaRPr>
          </a:p>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cs typeface="+mn-ea"/>
                <a:sym typeface="+mn-lt"/>
              </a:rPr>
              <a:t>提供广域优化、安全等增值业务，实现业务快速发放等等。  </a:t>
            </a:r>
          </a:p>
          <a:p>
            <a:pPr algn="just" defTabSz="914112" fontAlgn="auto">
              <a:lnSpc>
                <a:spcPts val="2599"/>
              </a:lnSpc>
              <a:spcBef>
                <a:spcPts val="0"/>
              </a:spcBef>
              <a:spcAft>
                <a:spcPts val="600"/>
              </a:spcAft>
            </a:pPr>
            <a:endParaRPr lang="en-US" altLang="zh-CN" sz="1399" dirty="0">
              <a:solidFill>
                <a:prstClr val="black"/>
              </a:solidFill>
              <a:cs typeface="+mn-ea"/>
              <a:sym typeface="+mn-lt"/>
            </a:endParaRPr>
          </a:p>
        </p:txBody>
      </p:sp>
      <p:sp>
        <p:nvSpPr>
          <p:cNvPr id="19" name="矩形 18"/>
          <p:cNvSpPr/>
          <p:nvPr/>
        </p:nvSpPr>
        <p:spPr bwMode="gray">
          <a:xfrm rot="16200000">
            <a:off x="4627622" y="4052764"/>
            <a:ext cx="2821281" cy="693691"/>
          </a:xfrm>
          <a:prstGeom prst="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800" dirty="0">
                <a:solidFill>
                  <a:srgbClr val="30B5C5"/>
                </a:solidFill>
                <a:cs typeface="+mn-ea"/>
                <a:sym typeface="+mn-lt"/>
              </a:rPr>
              <a:t>SD-WAN</a:t>
            </a:r>
            <a:r>
              <a:rPr lang="zh-CN" altLang="en-US" sz="1800" dirty="0">
                <a:solidFill>
                  <a:srgbClr val="30B5C5"/>
                </a:solidFill>
                <a:cs typeface="+mn-ea"/>
                <a:sym typeface="+mn-lt"/>
              </a:rPr>
              <a:t>特征</a:t>
            </a:r>
          </a:p>
        </p:txBody>
      </p:sp>
    </p:spTree>
    <p:extLst>
      <p:ext uri="{BB962C8B-B14F-4D97-AF65-F5344CB8AC3E}">
        <p14:creationId xmlns:p14="http://schemas.microsoft.com/office/powerpoint/2010/main" val="1180732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2000" dirty="0">
                <a:solidFill>
                  <a:schemeClr val="bg1">
                    <a:lumMod val="50000"/>
                  </a:schemeClr>
                </a:solidFill>
              </a:rPr>
              <a:t>企业广域互联网络趋势与挑战</a:t>
            </a:r>
            <a:endParaRPr lang="en-US" altLang="zh-CN" sz="2000" dirty="0">
              <a:solidFill>
                <a:schemeClr val="bg1">
                  <a:lumMod val="50000"/>
                </a:schemeClr>
              </a:solidFill>
            </a:endParaRPr>
          </a:p>
          <a:p>
            <a:r>
              <a:rPr lang="zh-CN" altLang="en-US" sz="2000" b="1" dirty="0"/>
              <a:t>华为</a:t>
            </a:r>
            <a:r>
              <a:rPr lang="en-US" altLang="zh-CN" sz="2000" b="1" dirty="0"/>
              <a:t>SD-WAN</a:t>
            </a:r>
            <a:r>
              <a:rPr lang="zh-CN" altLang="en-US" sz="2000" b="1" dirty="0"/>
              <a:t>解决方案概述</a:t>
            </a:r>
            <a:endParaRPr lang="en-US" altLang="zh-CN" sz="2000" b="1" dirty="0"/>
          </a:p>
          <a:p>
            <a:pPr lvl="1">
              <a:buSzPct val="60000"/>
              <a:buFont typeface="Wingdings" panose="05000000000000000000" pitchFamily="2" charset="2"/>
              <a:buChar char="n"/>
            </a:pPr>
            <a:r>
              <a:rPr lang="zh-CN" altLang="en-US" sz="1800" dirty="0"/>
              <a:t>华为</a:t>
            </a:r>
            <a:r>
              <a:rPr lang="en-US" altLang="zh-CN" sz="1800" dirty="0"/>
              <a:t>SD-WAN</a:t>
            </a:r>
            <a:r>
              <a:rPr lang="zh-CN" altLang="en-US" sz="1800" dirty="0"/>
              <a:t>解决方案</a:t>
            </a:r>
            <a:endParaRPr lang="en-US" altLang="zh-CN" sz="1800" dirty="0"/>
          </a:p>
          <a:p>
            <a:pPr lvl="1"/>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主要功能</a:t>
            </a:r>
            <a:endParaRPr lang="en-US" altLang="zh-CN" sz="1800" dirty="0">
              <a:solidFill>
                <a:schemeClr val="bg1">
                  <a:lumMod val="50000"/>
                </a:schemeClr>
              </a:solidFill>
            </a:endParaRPr>
          </a:p>
          <a:p>
            <a:pPr lvl="1"/>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使用场景</a:t>
            </a:r>
            <a:endParaRPr lang="en-US" altLang="zh-CN" sz="18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组网设计</a:t>
            </a:r>
            <a:endParaRPr lang="en-US" altLang="zh-CN" sz="20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业务设计</a:t>
            </a:r>
            <a:endParaRPr lang="en-US" altLang="zh-CN" sz="20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可靠性与安全设计</a:t>
            </a:r>
            <a:endParaRPr lang="en-US" altLang="zh-CN" sz="2000" dirty="0">
              <a:solidFill>
                <a:schemeClr val="bg1">
                  <a:lumMod val="50000"/>
                </a:schemeClr>
              </a:solidFill>
            </a:endParaRPr>
          </a:p>
        </p:txBody>
      </p:sp>
    </p:spTree>
    <p:extLst>
      <p:ext uri="{BB962C8B-B14F-4D97-AF65-F5344CB8AC3E}">
        <p14:creationId xmlns:p14="http://schemas.microsoft.com/office/powerpoint/2010/main" val="473170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839F9-1E2E-43CB-9DDB-45A4851D4047}"/>
              </a:ext>
            </a:extLst>
          </p:cNvPr>
          <p:cNvSpPr>
            <a:spLocks noGrp="1"/>
          </p:cNvSpPr>
          <p:nvPr>
            <p:ph type="title"/>
          </p:nvPr>
        </p:nvSpPr>
        <p:spPr bwMode="gray"/>
        <p:txBody>
          <a:bodyPr/>
          <a:lstStyle/>
          <a:p>
            <a:r>
              <a:rPr lang="zh-CN" altLang="en-US" dirty="0"/>
              <a:t>华为</a:t>
            </a:r>
            <a:r>
              <a:rPr lang="en-US" altLang="zh-CN" dirty="0"/>
              <a:t>SD-WAN</a:t>
            </a:r>
            <a:r>
              <a:rPr lang="zh-CN" altLang="en-US" dirty="0"/>
              <a:t>解决方案概览</a:t>
            </a:r>
            <a:endParaRPr lang="en-US" dirty="0"/>
          </a:p>
        </p:txBody>
      </p:sp>
      <p:pic>
        <p:nvPicPr>
          <p:cNvPr id="554" name="Picture 2" descr="D:\南太\资料\品牌\HC2017\光8528.png"/>
          <p:cNvPicPr>
            <a:picLocks noChangeAspect="1" noChangeArrowheads="1"/>
          </p:cNvPicPr>
          <p:nvPr/>
        </p:nvPicPr>
        <p:blipFill>
          <a:blip r:embed="rId3">
            <a:extLst>
              <a:ext uri="{28A0092B-C50C-407E-A947-70E740481C1C}">
                <a14:useLocalDpi xmlns:a14="http://schemas.microsoft.com/office/drawing/2010/main"/>
              </a:ext>
            </a:extLst>
          </a:blip>
          <a:srcRect l="4577" t="27347" r="7365" b="38942"/>
          <a:stretch>
            <a:fillRect/>
          </a:stretch>
        </p:blipFill>
        <p:spPr bwMode="gray">
          <a:xfrm>
            <a:off x="2286000" y="3466732"/>
            <a:ext cx="6951306" cy="2183363"/>
          </a:xfrm>
          <a:prstGeom prst="rect">
            <a:avLst/>
          </a:prstGeom>
          <a:noFill/>
        </p:spPr>
      </p:pic>
      <p:sp>
        <p:nvSpPr>
          <p:cNvPr id="556" name="椭圆 555"/>
          <p:cNvSpPr/>
          <p:nvPr/>
        </p:nvSpPr>
        <p:spPr bwMode="gray">
          <a:xfrm>
            <a:off x="6611173" y="1209394"/>
            <a:ext cx="539664" cy="539664"/>
          </a:xfrm>
          <a:prstGeom prst="ellipse">
            <a:avLst/>
          </a:prstGeom>
          <a:solidFill>
            <a:srgbClr val="26B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57" name="椭圆 556"/>
          <p:cNvSpPr/>
          <p:nvPr/>
        </p:nvSpPr>
        <p:spPr bwMode="gray">
          <a:xfrm>
            <a:off x="4880390" y="1208287"/>
            <a:ext cx="539664" cy="539664"/>
          </a:xfrm>
          <a:prstGeom prst="ellipse">
            <a:avLst/>
          </a:prstGeom>
          <a:solidFill>
            <a:srgbClr val="26B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58" name="梯形 557"/>
          <p:cNvSpPr/>
          <p:nvPr/>
        </p:nvSpPr>
        <p:spPr bwMode="gray">
          <a:xfrm>
            <a:off x="3755740" y="1758732"/>
            <a:ext cx="4246674" cy="331421"/>
          </a:xfrm>
          <a:prstGeom prst="trapezoid">
            <a:avLst>
              <a:gd name="adj" fmla="val 135325"/>
            </a:avLst>
          </a:prstGeom>
          <a:gradFill flip="none" rotWithShape="1">
            <a:gsLst>
              <a:gs pos="0">
                <a:schemeClr val="bg1"/>
              </a:gs>
              <a:gs pos="100000">
                <a:srgbClr val="94DAE2">
                  <a:alpha val="2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endParaRPr>
          </a:p>
        </p:txBody>
      </p:sp>
      <p:grpSp>
        <p:nvGrpSpPr>
          <p:cNvPr id="559" name="组合 9"/>
          <p:cNvGrpSpPr/>
          <p:nvPr/>
        </p:nvGrpSpPr>
        <p:grpSpPr bwMode="gray">
          <a:xfrm>
            <a:off x="5035122" y="1310401"/>
            <a:ext cx="230199" cy="335437"/>
            <a:chOff x="4150450" y="1823489"/>
            <a:chExt cx="218702" cy="213640"/>
          </a:xfrm>
          <a:solidFill>
            <a:schemeClr val="bg1"/>
          </a:solidFill>
        </p:grpSpPr>
        <p:sp>
          <p:nvSpPr>
            <p:cNvPr id="722" name="Freeform 35"/>
            <p:cNvSpPr>
              <a:spLocks noEditPoints="1"/>
            </p:cNvSpPr>
            <p:nvPr/>
          </p:nvSpPr>
          <p:spPr bwMode="gray">
            <a:xfrm>
              <a:off x="4186945" y="1890102"/>
              <a:ext cx="153495" cy="93118"/>
            </a:xfrm>
            <a:custGeom>
              <a:avLst/>
              <a:gdLst>
                <a:gd name="T0" fmla="*/ 170 w 477"/>
                <a:gd name="T1" fmla="*/ 429 h 502"/>
                <a:gd name="T2" fmla="*/ 86 w 477"/>
                <a:gd name="T3" fmla="*/ 502 h 502"/>
                <a:gd name="T4" fmla="*/ 0 w 477"/>
                <a:gd name="T5" fmla="*/ 416 h 502"/>
                <a:gd name="T6" fmla="*/ 72 w 477"/>
                <a:gd name="T7" fmla="*/ 330 h 502"/>
                <a:gd name="T8" fmla="*/ 63 w 477"/>
                <a:gd name="T9" fmla="*/ 258 h 502"/>
                <a:gd name="T10" fmla="*/ 144 w 477"/>
                <a:gd name="T11" fmla="*/ 143 h 502"/>
                <a:gd name="T12" fmla="*/ 254 w 477"/>
                <a:gd name="T13" fmla="*/ 20 h 502"/>
                <a:gd name="T14" fmla="*/ 458 w 477"/>
                <a:gd name="T15" fmla="*/ 0 h 502"/>
                <a:gd name="T16" fmla="*/ 477 w 477"/>
                <a:gd name="T17" fmla="*/ 153 h 502"/>
                <a:gd name="T18" fmla="*/ 398 w 477"/>
                <a:gd name="T19" fmla="*/ 172 h 502"/>
                <a:gd name="T20" fmla="*/ 438 w 477"/>
                <a:gd name="T21" fmla="*/ 223 h 502"/>
                <a:gd name="T22" fmla="*/ 404 w 477"/>
                <a:gd name="T23" fmla="*/ 245 h 502"/>
                <a:gd name="T24" fmla="*/ 452 w 477"/>
                <a:gd name="T25" fmla="*/ 355 h 502"/>
                <a:gd name="T26" fmla="*/ 452 w 477"/>
                <a:gd name="T27" fmla="*/ 477 h 502"/>
                <a:gd name="T28" fmla="*/ 330 w 477"/>
                <a:gd name="T29" fmla="*/ 477 h 502"/>
                <a:gd name="T30" fmla="*/ 256 w 477"/>
                <a:gd name="T31" fmla="*/ 464 h 502"/>
                <a:gd name="T32" fmla="*/ 235 w 477"/>
                <a:gd name="T33" fmla="*/ 429 h 502"/>
                <a:gd name="T34" fmla="*/ 162 w 477"/>
                <a:gd name="T35" fmla="*/ 160 h 502"/>
                <a:gd name="T36" fmla="*/ 135 w 477"/>
                <a:gd name="T37" fmla="*/ 275 h 502"/>
                <a:gd name="T38" fmla="*/ 101 w 477"/>
                <a:gd name="T39" fmla="*/ 331 h 502"/>
                <a:gd name="T40" fmla="*/ 171 w 477"/>
                <a:gd name="T41" fmla="*/ 404 h 502"/>
                <a:gd name="T42" fmla="*/ 235 w 477"/>
                <a:gd name="T43" fmla="*/ 378 h 502"/>
                <a:gd name="T44" fmla="*/ 306 w 477"/>
                <a:gd name="T45" fmla="*/ 408 h 502"/>
                <a:gd name="T46" fmla="*/ 378 w 477"/>
                <a:gd name="T47" fmla="*/ 330 h 502"/>
                <a:gd name="T48" fmla="*/ 353 w 477"/>
                <a:gd name="T49" fmla="*/ 245 h 502"/>
                <a:gd name="T50" fmla="*/ 382 w 477"/>
                <a:gd name="T51" fmla="*/ 174 h 502"/>
                <a:gd name="T52" fmla="*/ 273 w 477"/>
                <a:gd name="T53" fmla="*/ 172 h 502"/>
                <a:gd name="T54" fmla="*/ 254 w 477"/>
                <a:gd name="T55" fmla="*/ 101 h 502"/>
                <a:gd name="T56" fmla="*/ 292 w 477"/>
                <a:gd name="T57" fmla="*/ 38 h 502"/>
                <a:gd name="T58" fmla="*/ 439 w 477"/>
                <a:gd name="T59" fmla="*/ 134 h 502"/>
                <a:gd name="T60" fmla="*/ 425 w 477"/>
                <a:gd name="T61" fmla="*/ 382 h 502"/>
                <a:gd name="T62" fmla="*/ 357 w 477"/>
                <a:gd name="T63" fmla="*/ 382 h 502"/>
                <a:gd name="T64" fmla="*/ 357 w 477"/>
                <a:gd name="T65" fmla="*/ 450 h 502"/>
                <a:gd name="T66" fmla="*/ 425 w 477"/>
                <a:gd name="T67" fmla="*/ 450 h 502"/>
                <a:gd name="T68" fmla="*/ 425 w 477"/>
                <a:gd name="T69" fmla="*/ 382 h 502"/>
                <a:gd name="T70" fmla="*/ 86 w 477"/>
                <a:gd name="T71" fmla="*/ 367 h 502"/>
                <a:gd name="T72" fmla="*/ 38 w 477"/>
                <a:gd name="T73" fmla="*/ 416 h 502"/>
                <a:gd name="T74" fmla="*/ 86 w 477"/>
                <a:gd name="T75" fmla="*/ 464 h 502"/>
                <a:gd name="T76" fmla="*/ 134 w 477"/>
                <a:gd name="T77" fmla="*/ 416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7" h="502">
                  <a:moveTo>
                    <a:pt x="235" y="429"/>
                  </a:moveTo>
                  <a:cubicBezTo>
                    <a:pt x="170" y="429"/>
                    <a:pt x="170" y="429"/>
                    <a:pt x="170" y="429"/>
                  </a:cubicBezTo>
                  <a:cubicBezTo>
                    <a:pt x="168" y="448"/>
                    <a:pt x="159" y="464"/>
                    <a:pt x="146" y="477"/>
                  </a:cubicBezTo>
                  <a:cubicBezTo>
                    <a:pt x="131" y="493"/>
                    <a:pt x="109" y="502"/>
                    <a:pt x="86" y="502"/>
                  </a:cubicBezTo>
                  <a:cubicBezTo>
                    <a:pt x="62" y="502"/>
                    <a:pt x="41" y="493"/>
                    <a:pt x="25" y="477"/>
                  </a:cubicBezTo>
                  <a:cubicBezTo>
                    <a:pt x="10" y="461"/>
                    <a:pt x="0" y="440"/>
                    <a:pt x="0" y="416"/>
                  </a:cubicBezTo>
                  <a:cubicBezTo>
                    <a:pt x="0" y="392"/>
                    <a:pt x="10" y="370"/>
                    <a:pt x="25" y="355"/>
                  </a:cubicBezTo>
                  <a:cubicBezTo>
                    <a:pt x="38" y="342"/>
                    <a:pt x="54" y="333"/>
                    <a:pt x="72" y="330"/>
                  </a:cubicBezTo>
                  <a:cubicBezTo>
                    <a:pt x="48" y="277"/>
                    <a:pt x="48" y="277"/>
                    <a:pt x="48" y="277"/>
                  </a:cubicBezTo>
                  <a:cubicBezTo>
                    <a:pt x="43" y="269"/>
                    <a:pt x="48" y="255"/>
                    <a:pt x="63" y="258"/>
                  </a:cubicBezTo>
                  <a:cubicBezTo>
                    <a:pt x="84" y="263"/>
                    <a:pt x="84" y="263"/>
                    <a:pt x="84" y="263"/>
                  </a:cubicBezTo>
                  <a:cubicBezTo>
                    <a:pt x="94" y="216"/>
                    <a:pt x="115" y="175"/>
                    <a:pt x="144" y="143"/>
                  </a:cubicBezTo>
                  <a:cubicBezTo>
                    <a:pt x="174" y="108"/>
                    <a:pt x="212" y="84"/>
                    <a:pt x="254" y="75"/>
                  </a:cubicBezTo>
                  <a:cubicBezTo>
                    <a:pt x="254" y="20"/>
                    <a:pt x="254" y="20"/>
                    <a:pt x="254" y="20"/>
                  </a:cubicBezTo>
                  <a:cubicBezTo>
                    <a:pt x="254" y="9"/>
                    <a:pt x="264" y="0"/>
                    <a:pt x="275" y="0"/>
                  </a:cubicBezTo>
                  <a:cubicBezTo>
                    <a:pt x="458" y="0"/>
                    <a:pt x="458" y="0"/>
                    <a:pt x="458" y="0"/>
                  </a:cubicBezTo>
                  <a:cubicBezTo>
                    <a:pt x="468" y="0"/>
                    <a:pt x="477" y="9"/>
                    <a:pt x="477" y="19"/>
                  </a:cubicBezTo>
                  <a:cubicBezTo>
                    <a:pt x="477" y="153"/>
                    <a:pt x="477" y="153"/>
                    <a:pt x="477" y="153"/>
                  </a:cubicBezTo>
                  <a:cubicBezTo>
                    <a:pt x="477" y="163"/>
                    <a:pt x="468" y="172"/>
                    <a:pt x="458" y="172"/>
                  </a:cubicBezTo>
                  <a:cubicBezTo>
                    <a:pt x="398" y="172"/>
                    <a:pt x="398" y="172"/>
                    <a:pt x="398" y="172"/>
                  </a:cubicBezTo>
                  <a:cubicBezTo>
                    <a:pt x="398" y="172"/>
                    <a:pt x="399" y="173"/>
                    <a:pt x="399" y="174"/>
                  </a:cubicBezTo>
                  <a:cubicBezTo>
                    <a:pt x="438" y="223"/>
                    <a:pt x="438" y="223"/>
                    <a:pt x="438" y="223"/>
                  </a:cubicBezTo>
                  <a:cubicBezTo>
                    <a:pt x="444" y="229"/>
                    <a:pt x="443" y="245"/>
                    <a:pt x="428" y="245"/>
                  </a:cubicBezTo>
                  <a:cubicBezTo>
                    <a:pt x="404" y="245"/>
                    <a:pt x="404" y="245"/>
                    <a:pt x="404" y="245"/>
                  </a:cubicBezTo>
                  <a:cubicBezTo>
                    <a:pt x="404" y="330"/>
                    <a:pt x="404" y="330"/>
                    <a:pt x="404" y="330"/>
                  </a:cubicBezTo>
                  <a:cubicBezTo>
                    <a:pt x="422" y="333"/>
                    <a:pt x="439" y="342"/>
                    <a:pt x="452" y="355"/>
                  </a:cubicBezTo>
                  <a:cubicBezTo>
                    <a:pt x="467" y="370"/>
                    <a:pt x="477" y="392"/>
                    <a:pt x="477" y="416"/>
                  </a:cubicBezTo>
                  <a:cubicBezTo>
                    <a:pt x="477" y="440"/>
                    <a:pt x="467" y="461"/>
                    <a:pt x="452" y="477"/>
                  </a:cubicBezTo>
                  <a:cubicBezTo>
                    <a:pt x="436" y="493"/>
                    <a:pt x="415" y="502"/>
                    <a:pt x="391" y="502"/>
                  </a:cubicBezTo>
                  <a:cubicBezTo>
                    <a:pt x="367" y="502"/>
                    <a:pt x="346" y="493"/>
                    <a:pt x="330" y="477"/>
                  </a:cubicBezTo>
                  <a:cubicBezTo>
                    <a:pt x="317" y="463"/>
                    <a:pt x="308" y="445"/>
                    <a:pt x="306" y="425"/>
                  </a:cubicBezTo>
                  <a:cubicBezTo>
                    <a:pt x="256" y="464"/>
                    <a:pt x="256" y="464"/>
                    <a:pt x="256" y="464"/>
                  </a:cubicBezTo>
                  <a:cubicBezTo>
                    <a:pt x="249" y="470"/>
                    <a:pt x="235" y="469"/>
                    <a:pt x="235" y="453"/>
                  </a:cubicBezTo>
                  <a:cubicBezTo>
                    <a:pt x="235" y="429"/>
                    <a:pt x="235" y="429"/>
                    <a:pt x="235" y="429"/>
                  </a:cubicBezTo>
                  <a:close/>
                  <a:moveTo>
                    <a:pt x="254" y="101"/>
                  </a:moveTo>
                  <a:cubicBezTo>
                    <a:pt x="219" y="110"/>
                    <a:pt x="188" y="131"/>
                    <a:pt x="162" y="160"/>
                  </a:cubicBezTo>
                  <a:cubicBezTo>
                    <a:pt x="137" y="189"/>
                    <a:pt x="118" y="226"/>
                    <a:pt x="109" y="269"/>
                  </a:cubicBezTo>
                  <a:cubicBezTo>
                    <a:pt x="135" y="275"/>
                    <a:pt x="135" y="275"/>
                    <a:pt x="135" y="275"/>
                  </a:cubicBezTo>
                  <a:cubicBezTo>
                    <a:pt x="148" y="278"/>
                    <a:pt x="147" y="292"/>
                    <a:pt x="140" y="298"/>
                  </a:cubicBezTo>
                  <a:cubicBezTo>
                    <a:pt x="101" y="331"/>
                    <a:pt x="101" y="331"/>
                    <a:pt x="101" y="331"/>
                  </a:cubicBezTo>
                  <a:cubicBezTo>
                    <a:pt x="118" y="334"/>
                    <a:pt x="134" y="342"/>
                    <a:pt x="146" y="355"/>
                  </a:cubicBezTo>
                  <a:cubicBezTo>
                    <a:pt x="159" y="368"/>
                    <a:pt x="168" y="385"/>
                    <a:pt x="171" y="404"/>
                  </a:cubicBezTo>
                  <a:cubicBezTo>
                    <a:pt x="235" y="404"/>
                    <a:pt x="235" y="404"/>
                    <a:pt x="235" y="404"/>
                  </a:cubicBezTo>
                  <a:cubicBezTo>
                    <a:pt x="235" y="378"/>
                    <a:pt x="235" y="378"/>
                    <a:pt x="235" y="378"/>
                  </a:cubicBezTo>
                  <a:cubicBezTo>
                    <a:pt x="235" y="365"/>
                    <a:pt x="248" y="363"/>
                    <a:pt x="256" y="369"/>
                  </a:cubicBezTo>
                  <a:cubicBezTo>
                    <a:pt x="306" y="408"/>
                    <a:pt x="306" y="408"/>
                    <a:pt x="306" y="408"/>
                  </a:cubicBezTo>
                  <a:cubicBezTo>
                    <a:pt x="308" y="387"/>
                    <a:pt x="317" y="368"/>
                    <a:pt x="330" y="355"/>
                  </a:cubicBezTo>
                  <a:cubicBezTo>
                    <a:pt x="343" y="342"/>
                    <a:pt x="360" y="333"/>
                    <a:pt x="378" y="330"/>
                  </a:cubicBezTo>
                  <a:cubicBezTo>
                    <a:pt x="378" y="245"/>
                    <a:pt x="378" y="245"/>
                    <a:pt x="378" y="245"/>
                  </a:cubicBezTo>
                  <a:cubicBezTo>
                    <a:pt x="353" y="245"/>
                    <a:pt x="353" y="245"/>
                    <a:pt x="353" y="245"/>
                  </a:cubicBezTo>
                  <a:cubicBezTo>
                    <a:pt x="340" y="245"/>
                    <a:pt x="338" y="230"/>
                    <a:pt x="344" y="223"/>
                  </a:cubicBezTo>
                  <a:cubicBezTo>
                    <a:pt x="382" y="174"/>
                    <a:pt x="382" y="174"/>
                    <a:pt x="382" y="174"/>
                  </a:cubicBezTo>
                  <a:cubicBezTo>
                    <a:pt x="383" y="173"/>
                    <a:pt x="383" y="172"/>
                    <a:pt x="384" y="172"/>
                  </a:cubicBezTo>
                  <a:cubicBezTo>
                    <a:pt x="273" y="172"/>
                    <a:pt x="273" y="172"/>
                    <a:pt x="273" y="172"/>
                  </a:cubicBezTo>
                  <a:cubicBezTo>
                    <a:pt x="263" y="172"/>
                    <a:pt x="254" y="164"/>
                    <a:pt x="254" y="153"/>
                  </a:cubicBezTo>
                  <a:cubicBezTo>
                    <a:pt x="254" y="101"/>
                    <a:pt x="254" y="101"/>
                    <a:pt x="254" y="101"/>
                  </a:cubicBezTo>
                  <a:close/>
                  <a:moveTo>
                    <a:pt x="439" y="38"/>
                  </a:moveTo>
                  <a:cubicBezTo>
                    <a:pt x="292" y="38"/>
                    <a:pt x="292" y="38"/>
                    <a:pt x="292" y="38"/>
                  </a:cubicBezTo>
                  <a:cubicBezTo>
                    <a:pt x="292" y="134"/>
                    <a:pt x="292" y="134"/>
                    <a:pt x="292" y="134"/>
                  </a:cubicBezTo>
                  <a:cubicBezTo>
                    <a:pt x="439" y="134"/>
                    <a:pt x="439" y="134"/>
                    <a:pt x="439" y="134"/>
                  </a:cubicBezTo>
                  <a:cubicBezTo>
                    <a:pt x="439" y="38"/>
                    <a:pt x="439" y="38"/>
                    <a:pt x="439" y="38"/>
                  </a:cubicBezTo>
                  <a:close/>
                  <a:moveTo>
                    <a:pt x="425" y="382"/>
                  </a:moveTo>
                  <a:cubicBezTo>
                    <a:pt x="416" y="373"/>
                    <a:pt x="404" y="367"/>
                    <a:pt x="391" y="367"/>
                  </a:cubicBezTo>
                  <a:cubicBezTo>
                    <a:pt x="378" y="367"/>
                    <a:pt x="366" y="373"/>
                    <a:pt x="357" y="382"/>
                  </a:cubicBezTo>
                  <a:cubicBezTo>
                    <a:pt x="349" y="390"/>
                    <a:pt x="343" y="402"/>
                    <a:pt x="343" y="416"/>
                  </a:cubicBezTo>
                  <a:cubicBezTo>
                    <a:pt x="343" y="429"/>
                    <a:pt x="349" y="441"/>
                    <a:pt x="357" y="450"/>
                  </a:cubicBezTo>
                  <a:cubicBezTo>
                    <a:pt x="366" y="459"/>
                    <a:pt x="378" y="464"/>
                    <a:pt x="391" y="464"/>
                  </a:cubicBezTo>
                  <a:cubicBezTo>
                    <a:pt x="404" y="464"/>
                    <a:pt x="416" y="459"/>
                    <a:pt x="425" y="450"/>
                  </a:cubicBezTo>
                  <a:cubicBezTo>
                    <a:pt x="434" y="441"/>
                    <a:pt x="439" y="429"/>
                    <a:pt x="439" y="416"/>
                  </a:cubicBezTo>
                  <a:cubicBezTo>
                    <a:pt x="439" y="402"/>
                    <a:pt x="434" y="390"/>
                    <a:pt x="425" y="382"/>
                  </a:cubicBezTo>
                  <a:close/>
                  <a:moveTo>
                    <a:pt x="120" y="382"/>
                  </a:moveTo>
                  <a:cubicBezTo>
                    <a:pt x="111" y="373"/>
                    <a:pt x="99" y="367"/>
                    <a:pt x="86" y="367"/>
                  </a:cubicBezTo>
                  <a:cubicBezTo>
                    <a:pt x="73" y="367"/>
                    <a:pt x="61" y="373"/>
                    <a:pt x="52" y="382"/>
                  </a:cubicBezTo>
                  <a:cubicBezTo>
                    <a:pt x="43" y="390"/>
                    <a:pt x="38" y="402"/>
                    <a:pt x="38" y="416"/>
                  </a:cubicBezTo>
                  <a:cubicBezTo>
                    <a:pt x="38" y="429"/>
                    <a:pt x="43" y="441"/>
                    <a:pt x="52" y="450"/>
                  </a:cubicBezTo>
                  <a:cubicBezTo>
                    <a:pt x="61" y="459"/>
                    <a:pt x="73" y="464"/>
                    <a:pt x="86" y="464"/>
                  </a:cubicBezTo>
                  <a:cubicBezTo>
                    <a:pt x="99" y="464"/>
                    <a:pt x="111" y="459"/>
                    <a:pt x="120" y="450"/>
                  </a:cubicBezTo>
                  <a:cubicBezTo>
                    <a:pt x="128" y="441"/>
                    <a:pt x="134" y="429"/>
                    <a:pt x="134" y="416"/>
                  </a:cubicBezTo>
                  <a:cubicBezTo>
                    <a:pt x="134" y="402"/>
                    <a:pt x="128" y="390"/>
                    <a:pt x="120" y="382"/>
                  </a:cubicBezTo>
                  <a:close/>
                </a:path>
              </a:pathLst>
            </a:custGeom>
            <a:grpFill/>
            <a:ln>
              <a:noFill/>
            </a:ln>
          </p:spPr>
          <p:txBody>
            <a:bodyPr vert="horz" wrap="square" lIns="51399" tIns="25700" rIns="51399" bIns="25700" numCol="1"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8712"/>
              <a:endParaRPr lang="zh-CN" altLang="en-US" sz="3698"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23" name="AutoShape 97"/>
            <p:cNvSpPr/>
            <p:nvPr/>
          </p:nvSpPr>
          <p:spPr bwMode="gray">
            <a:xfrm>
              <a:off x="4150450" y="1823489"/>
              <a:ext cx="218702" cy="21364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p:spPr>
          <p:txBody>
            <a:bodyPr lIns="10709" tIns="10709" rIns="10709" bIns="10709"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171290" hangingPunct="0"/>
              <a:endParaRPr lang="en-US" sz="3198" dirty="0">
                <a:solidFill>
                  <a:prstClr val="white"/>
                </a:solidFill>
                <a:effectLst>
                  <a:outerShdw blurRad="38100" dist="38100" dir="2700000" algn="tl">
                    <a:srgbClr val="000000"/>
                  </a:outerShdw>
                </a:effectLst>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24" name="AutoShape 98"/>
            <p:cNvSpPr/>
            <p:nvPr/>
          </p:nvSpPr>
          <p:spPr bwMode="gray">
            <a:xfrm>
              <a:off x="4239672" y="1849890"/>
              <a:ext cx="40258" cy="65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709" tIns="10709" rIns="10709" bIns="10709"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171290" hangingPunct="0"/>
              <a:endParaRPr lang="en-US" sz="3198" dirty="0">
                <a:solidFill>
                  <a:prstClr val="white"/>
                </a:solidFill>
                <a:effectLst>
                  <a:outerShdw blurRad="38100" dist="38100" dir="2700000" algn="tl">
                    <a:srgbClr val="000000"/>
                  </a:outerShdw>
                </a:effectLst>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25" name="AutoShape 99"/>
            <p:cNvSpPr/>
            <p:nvPr/>
          </p:nvSpPr>
          <p:spPr bwMode="gray">
            <a:xfrm>
              <a:off x="4250009" y="2016865"/>
              <a:ext cx="19584" cy="65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709" tIns="10709" rIns="10709" bIns="10709"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171290" hangingPunct="0"/>
              <a:endParaRPr lang="en-US" sz="3198" dirty="0">
                <a:solidFill>
                  <a:prstClr val="white"/>
                </a:solidFill>
                <a:effectLst>
                  <a:outerShdw blurRad="38100" dist="38100" dir="2700000" algn="tl">
                    <a:srgbClr val="000000"/>
                  </a:outerShdw>
                </a:effectLst>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sp>
        <p:nvSpPr>
          <p:cNvPr id="560" name="1680508374"/>
          <p:cNvSpPr txBox="1">
            <a:spLocks noChangeArrowheads="1"/>
          </p:cNvSpPr>
          <p:nvPr/>
        </p:nvSpPr>
        <p:spPr bwMode="gray">
          <a:xfrm>
            <a:off x="4815104" y="1826350"/>
            <a:ext cx="689900" cy="184666"/>
          </a:xfrm>
          <a:prstGeom prst="rect">
            <a:avLst/>
          </a:prstGeom>
          <a:noFill/>
          <a:ln w="9525">
            <a:noFill/>
            <a:miter lim="800000"/>
          </a:ln>
        </p:spPr>
        <p:txBody>
          <a:bodyPr wrap="square" lIns="0" tIns="0" rIns="0" bIns="0"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1218712">
              <a:buSzTx/>
            </a:pP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云应用</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nvGrpSpPr>
          <p:cNvPr id="561" name="组合 8"/>
          <p:cNvGrpSpPr/>
          <p:nvPr/>
        </p:nvGrpSpPr>
        <p:grpSpPr bwMode="gray">
          <a:xfrm>
            <a:off x="6703902" y="1341090"/>
            <a:ext cx="354209" cy="276272"/>
            <a:chOff x="5180359" y="1859572"/>
            <a:chExt cx="220251" cy="183909"/>
          </a:xfrm>
          <a:solidFill>
            <a:schemeClr val="bg1"/>
          </a:solidFill>
        </p:grpSpPr>
        <p:sp>
          <p:nvSpPr>
            <p:cNvPr id="713" name="Freeform 15"/>
            <p:cNvSpPr>
              <a:spLocks noEditPoints="1"/>
            </p:cNvSpPr>
            <p:nvPr/>
          </p:nvSpPr>
          <p:spPr bwMode="gray">
            <a:xfrm>
              <a:off x="5292358" y="1905848"/>
              <a:ext cx="82406" cy="87367"/>
            </a:xfrm>
            <a:custGeom>
              <a:avLst/>
              <a:gdLst/>
              <a:ahLst/>
              <a:cxnLst>
                <a:cxn ang="0">
                  <a:pos x="336" y="2"/>
                </a:cxn>
                <a:cxn ang="0">
                  <a:pos x="316" y="63"/>
                </a:cxn>
                <a:cxn ang="0">
                  <a:pos x="288" y="86"/>
                </a:cxn>
                <a:cxn ang="0">
                  <a:pos x="245" y="42"/>
                </a:cxn>
                <a:cxn ang="0">
                  <a:pos x="156" y="68"/>
                </a:cxn>
                <a:cxn ang="0">
                  <a:pos x="169" y="131"/>
                </a:cxn>
                <a:cxn ang="0">
                  <a:pos x="156" y="165"/>
                </a:cxn>
                <a:cxn ang="0">
                  <a:pos x="97" y="151"/>
                </a:cxn>
                <a:cxn ang="0">
                  <a:pos x="33" y="217"/>
                </a:cxn>
                <a:cxn ang="0">
                  <a:pos x="75" y="264"/>
                </a:cxn>
                <a:cxn ang="0">
                  <a:pos x="83" y="300"/>
                </a:cxn>
                <a:cxn ang="0">
                  <a:pos x="23" y="316"/>
                </a:cxn>
                <a:cxn ang="0">
                  <a:pos x="0" y="371"/>
                </a:cxn>
                <a:cxn ang="0">
                  <a:pos x="23" y="426"/>
                </a:cxn>
                <a:cxn ang="0">
                  <a:pos x="83" y="442"/>
                </a:cxn>
                <a:cxn ang="0">
                  <a:pos x="75" y="478"/>
                </a:cxn>
                <a:cxn ang="0">
                  <a:pos x="33" y="524"/>
                </a:cxn>
                <a:cxn ang="0">
                  <a:pos x="97" y="591"/>
                </a:cxn>
                <a:cxn ang="0">
                  <a:pos x="156" y="576"/>
                </a:cxn>
                <a:cxn ang="0">
                  <a:pos x="169" y="611"/>
                </a:cxn>
                <a:cxn ang="0">
                  <a:pos x="156" y="673"/>
                </a:cxn>
                <a:cxn ang="0">
                  <a:pos x="245" y="699"/>
                </a:cxn>
                <a:cxn ang="0">
                  <a:pos x="288" y="656"/>
                </a:cxn>
                <a:cxn ang="0">
                  <a:pos x="316" y="679"/>
                </a:cxn>
                <a:cxn ang="0">
                  <a:pos x="336" y="740"/>
                </a:cxn>
                <a:cxn ang="0">
                  <a:pos x="405" y="740"/>
                </a:cxn>
                <a:cxn ang="0">
                  <a:pos x="426" y="679"/>
                </a:cxn>
                <a:cxn ang="0">
                  <a:pos x="453" y="656"/>
                </a:cxn>
                <a:cxn ang="0">
                  <a:pos x="497" y="699"/>
                </a:cxn>
                <a:cxn ang="0">
                  <a:pos x="585" y="673"/>
                </a:cxn>
                <a:cxn ang="0">
                  <a:pos x="572" y="611"/>
                </a:cxn>
                <a:cxn ang="0">
                  <a:pos x="585" y="576"/>
                </a:cxn>
                <a:cxn ang="0">
                  <a:pos x="644" y="591"/>
                </a:cxn>
                <a:cxn ang="0">
                  <a:pos x="708" y="524"/>
                </a:cxn>
                <a:cxn ang="0">
                  <a:pos x="666" y="478"/>
                </a:cxn>
                <a:cxn ang="0">
                  <a:pos x="659" y="442"/>
                </a:cxn>
                <a:cxn ang="0">
                  <a:pos x="718" y="426"/>
                </a:cxn>
                <a:cxn ang="0">
                  <a:pos x="741" y="371"/>
                </a:cxn>
                <a:cxn ang="0">
                  <a:pos x="718" y="316"/>
                </a:cxn>
                <a:cxn ang="0">
                  <a:pos x="659" y="300"/>
                </a:cxn>
                <a:cxn ang="0">
                  <a:pos x="666" y="264"/>
                </a:cxn>
                <a:cxn ang="0">
                  <a:pos x="708" y="217"/>
                </a:cxn>
                <a:cxn ang="0">
                  <a:pos x="644" y="151"/>
                </a:cxn>
                <a:cxn ang="0">
                  <a:pos x="585" y="165"/>
                </a:cxn>
                <a:cxn ang="0">
                  <a:pos x="572" y="131"/>
                </a:cxn>
                <a:cxn ang="0">
                  <a:pos x="585" y="68"/>
                </a:cxn>
                <a:cxn ang="0">
                  <a:pos x="497" y="42"/>
                </a:cxn>
                <a:cxn ang="0">
                  <a:pos x="453" y="86"/>
                </a:cxn>
                <a:cxn ang="0">
                  <a:pos x="426" y="63"/>
                </a:cxn>
                <a:cxn ang="0">
                  <a:pos x="405" y="2"/>
                </a:cxn>
                <a:cxn ang="0">
                  <a:pos x="371" y="174"/>
                </a:cxn>
                <a:cxn ang="0">
                  <a:pos x="371" y="568"/>
                </a:cxn>
                <a:cxn ang="0">
                  <a:pos x="371" y="174"/>
                </a:cxn>
              </a:cxnLst>
              <a:rect l="0" t="0" r="r" b="b"/>
              <a:pathLst>
                <a:path w="741" h="741">
                  <a:moveTo>
                    <a:pt x="371" y="0"/>
                  </a:moveTo>
                  <a:cubicBezTo>
                    <a:pt x="359" y="0"/>
                    <a:pt x="347" y="0"/>
                    <a:pt x="336" y="2"/>
                  </a:cubicBezTo>
                  <a:cubicBezTo>
                    <a:pt x="324" y="3"/>
                    <a:pt x="316" y="12"/>
                    <a:pt x="316" y="23"/>
                  </a:cubicBezTo>
                  <a:cubicBezTo>
                    <a:pt x="316" y="63"/>
                    <a:pt x="316" y="63"/>
                    <a:pt x="316" y="63"/>
                  </a:cubicBezTo>
                  <a:cubicBezTo>
                    <a:pt x="316" y="73"/>
                    <a:pt x="310" y="80"/>
                    <a:pt x="300" y="83"/>
                  </a:cubicBezTo>
                  <a:cubicBezTo>
                    <a:pt x="295" y="84"/>
                    <a:pt x="293" y="84"/>
                    <a:pt x="288" y="86"/>
                  </a:cubicBezTo>
                  <a:cubicBezTo>
                    <a:pt x="278" y="89"/>
                    <a:pt x="269" y="85"/>
                    <a:pt x="264" y="76"/>
                  </a:cubicBezTo>
                  <a:cubicBezTo>
                    <a:pt x="245" y="42"/>
                    <a:pt x="245" y="42"/>
                    <a:pt x="245" y="42"/>
                  </a:cubicBezTo>
                  <a:cubicBezTo>
                    <a:pt x="239" y="32"/>
                    <a:pt x="227" y="29"/>
                    <a:pt x="217" y="34"/>
                  </a:cubicBezTo>
                  <a:cubicBezTo>
                    <a:pt x="195" y="43"/>
                    <a:pt x="175" y="55"/>
                    <a:pt x="156" y="68"/>
                  </a:cubicBezTo>
                  <a:cubicBezTo>
                    <a:pt x="147" y="75"/>
                    <a:pt x="145" y="87"/>
                    <a:pt x="151" y="97"/>
                  </a:cubicBezTo>
                  <a:cubicBezTo>
                    <a:pt x="169" y="131"/>
                    <a:pt x="169" y="131"/>
                    <a:pt x="169" y="131"/>
                  </a:cubicBezTo>
                  <a:cubicBezTo>
                    <a:pt x="174" y="139"/>
                    <a:pt x="172" y="149"/>
                    <a:pt x="165" y="157"/>
                  </a:cubicBezTo>
                  <a:cubicBezTo>
                    <a:pt x="162" y="159"/>
                    <a:pt x="159" y="162"/>
                    <a:pt x="156" y="165"/>
                  </a:cubicBezTo>
                  <a:cubicBezTo>
                    <a:pt x="149" y="172"/>
                    <a:pt x="139" y="174"/>
                    <a:pt x="130" y="170"/>
                  </a:cubicBezTo>
                  <a:cubicBezTo>
                    <a:pt x="97" y="151"/>
                    <a:pt x="97" y="151"/>
                    <a:pt x="97" y="151"/>
                  </a:cubicBezTo>
                  <a:cubicBezTo>
                    <a:pt x="87" y="145"/>
                    <a:pt x="74" y="148"/>
                    <a:pt x="68" y="157"/>
                  </a:cubicBezTo>
                  <a:cubicBezTo>
                    <a:pt x="55" y="175"/>
                    <a:pt x="43" y="196"/>
                    <a:pt x="33" y="217"/>
                  </a:cubicBezTo>
                  <a:cubicBezTo>
                    <a:pt x="29" y="227"/>
                    <a:pt x="32" y="239"/>
                    <a:pt x="42" y="245"/>
                  </a:cubicBezTo>
                  <a:cubicBezTo>
                    <a:pt x="75" y="264"/>
                    <a:pt x="75" y="264"/>
                    <a:pt x="75" y="264"/>
                  </a:cubicBezTo>
                  <a:cubicBezTo>
                    <a:pt x="84" y="268"/>
                    <a:pt x="89" y="278"/>
                    <a:pt x="86" y="288"/>
                  </a:cubicBezTo>
                  <a:cubicBezTo>
                    <a:pt x="84" y="293"/>
                    <a:pt x="84" y="295"/>
                    <a:pt x="83" y="300"/>
                  </a:cubicBezTo>
                  <a:cubicBezTo>
                    <a:pt x="81" y="308"/>
                    <a:pt x="72" y="316"/>
                    <a:pt x="62" y="316"/>
                  </a:cubicBezTo>
                  <a:cubicBezTo>
                    <a:pt x="23" y="316"/>
                    <a:pt x="23" y="316"/>
                    <a:pt x="23" y="316"/>
                  </a:cubicBezTo>
                  <a:cubicBezTo>
                    <a:pt x="12" y="316"/>
                    <a:pt x="3" y="324"/>
                    <a:pt x="2" y="336"/>
                  </a:cubicBezTo>
                  <a:cubicBezTo>
                    <a:pt x="0" y="348"/>
                    <a:pt x="0" y="359"/>
                    <a:pt x="0" y="371"/>
                  </a:cubicBezTo>
                  <a:cubicBezTo>
                    <a:pt x="0" y="382"/>
                    <a:pt x="0" y="394"/>
                    <a:pt x="2" y="405"/>
                  </a:cubicBezTo>
                  <a:cubicBezTo>
                    <a:pt x="3" y="417"/>
                    <a:pt x="12" y="426"/>
                    <a:pt x="23" y="426"/>
                  </a:cubicBezTo>
                  <a:cubicBezTo>
                    <a:pt x="62" y="426"/>
                    <a:pt x="62" y="426"/>
                    <a:pt x="62" y="426"/>
                  </a:cubicBezTo>
                  <a:cubicBezTo>
                    <a:pt x="72" y="426"/>
                    <a:pt x="80" y="432"/>
                    <a:pt x="83" y="442"/>
                  </a:cubicBezTo>
                  <a:cubicBezTo>
                    <a:pt x="84" y="446"/>
                    <a:pt x="84" y="449"/>
                    <a:pt x="86" y="453"/>
                  </a:cubicBezTo>
                  <a:cubicBezTo>
                    <a:pt x="89" y="463"/>
                    <a:pt x="84" y="473"/>
                    <a:pt x="75" y="478"/>
                  </a:cubicBezTo>
                  <a:cubicBezTo>
                    <a:pt x="42" y="497"/>
                    <a:pt x="42" y="497"/>
                    <a:pt x="42" y="497"/>
                  </a:cubicBezTo>
                  <a:cubicBezTo>
                    <a:pt x="32" y="502"/>
                    <a:pt x="29" y="514"/>
                    <a:pt x="33" y="524"/>
                  </a:cubicBezTo>
                  <a:cubicBezTo>
                    <a:pt x="43" y="546"/>
                    <a:pt x="55" y="567"/>
                    <a:pt x="68" y="585"/>
                  </a:cubicBezTo>
                  <a:cubicBezTo>
                    <a:pt x="75" y="594"/>
                    <a:pt x="87" y="596"/>
                    <a:pt x="97" y="591"/>
                  </a:cubicBezTo>
                  <a:cubicBezTo>
                    <a:pt x="130" y="572"/>
                    <a:pt x="130" y="572"/>
                    <a:pt x="130" y="572"/>
                  </a:cubicBezTo>
                  <a:cubicBezTo>
                    <a:pt x="139" y="567"/>
                    <a:pt x="149" y="569"/>
                    <a:pt x="156" y="576"/>
                  </a:cubicBezTo>
                  <a:cubicBezTo>
                    <a:pt x="159" y="579"/>
                    <a:pt x="162" y="582"/>
                    <a:pt x="165" y="585"/>
                  </a:cubicBezTo>
                  <a:cubicBezTo>
                    <a:pt x="172" y="592"/>
                    <a:pt x="174" y="603"/>
                    <a:pt x="169" y="611"/>
                  </a:cubicBezTo>
                  <a:cubicBezTo>
                    <a:pt x="151" y="644"/>
                    <a:pt x="151" y="644"/>
                    <a:pt x="151" y="644"/>
                  </a:cubicBezTo>
                  <a:cubicBezTo>
                    <a:pt x="145" y="654"/>
                    <a:pt x="148" y="667"/>
                    <a:pt x="156" y="673"/>
                  </a:cubicBezTo>
                  <a:cubicBezTo>
                    <a:pt x="175" y="686"/>
                    <a:pt x="195" y="698"/>
                    <a:pt x="217" y="708"/>
                  </a:cubicBezTo>
                  <a:cubicBezTo>
                    <a:pt x="227" y="713"/>
                    <a:pt x="239" y="709"/>
                    <a:pt x="245" y="699"/>
                  </a:cubicBezTo>
                  <a:cubicBezTo>
                    <a:pt x="264" y="666"/>
                    <a:pt x="264" y="666"/>
                    <a:pt x="264" y="666"/>
                  </a:cubicBezTo>
                  <a:cubicBezTo>
                    <a:pt x="268" y="658"/>
                    <a:pt x="278" y="653"/>
                    <a:pt x="288" y="656"/>
                  </a:cubicBezTo>
                  <a:cubicBezTo>
                    <a:pt x="293" y="657"/>
                    <a:pt x="295" y="658"/>
                    <a:pt x="300" y="659"/>
                  </a:cubicBezTo>
                  <a:cubicBezTo>
                    <a:pt x="308" y="661"/>
                    <a:pt x="316" y="669"/>
                    <a:pt x="316" y="679"/>
                  </a:cubicBezTo>
                  <a:cubicBezTo>
                    <a:pt x="316" y="718"/>
                    <a:pt x="316" y="718"/>
                    <a:pt x="316" y="718"/>
                  </a:cubicBezTo>
                  <a:cubicBezTo>
                    <a:pt x="316" y="730"/>
                    <a:pt x="324" y="738"/>
                    <a:pt x="336" y="740"/>
                  </a:cubicBezTo>
                  <a:cubicBezTo>
                    <a:pt x="347" y="741"/>
                    <a:pt x="359" y="741"/>
                    <a:pt x="371" y="741"/>
                  </a:cubicBezTo>
                  <a:cubicBezTo>
                    <a:pt x="382" y="741"/>
                    <a:pt x="394" y="741"/>
                    <a:pt x="405" y="740"/>
                  </a:cubicBezTo>
                  <a:cubicBezTo>
                    <a:pt x="417" y="738"/>
                    <a:pt x="426" y="730"/>
                    <a:pt x="426" y="718"/>
                  </a:cubicBezTo>
                  <a:cubicBezTo>
                    <a:pt x="426" y="679"/>
                    <a:pt x="426" y="679"/>
                    <a:pt x="426" y="679"/>
                  </a:cubicBezTo>
                  <a:cubicBezTo>
                    <a:pt x="426" y="669"/>
                    <a:pt x="431" y="662"/>
                    <a:pt x="442" y="659"/>
                  </a:cubicBezTo>
                  <a:cubicBezTo>
                    <a:pt x="446" y="657"/>
                    <a:pt x="449" y="657"/>
                    <a:pt x="453" y="656"/>
                  </a:cubicBezTo>
                  <a:cubicBezTo>
                    <a:pt x="463" y="653"/>
                    <a:pt x="473" y="657"/>
                    <a:pt x="478" y="666"/>
                  </a:cubicBezTo>
                  <a:cubicBezTo>
                    <a:pt x="497" y="699"/>
                    <a:pt x="497" y="699"/>
                    <a:pt x="497" y="699"/>
                  </a:cubicBezTo>
                  <a:cubicBezTo>
                    <a:pt x="502" y="709"/>
                    <a:pt x="514" y="713"/>
                    <a:pt x="524" y="708"/>
                  </a:cubicBezTo>
                  <a:cubicBezTo>
                    <a:pt x="546" y="698"/>
                    <a:pt x="566" y="687"/>
                    <a:pt x="585" y="673"/>
                  </a:cubicBezTo>
                  <a:cubicBezTo>
                    <a:pt x="594" y="667"/>
                    <a:pt x="596" y="654"/>
                    <a:pt x="591" y="644"/>
                  </a:cubicBezTo>
                  <a:cubicBezTo>
                    <a:pt x="572" y="611"/>
                    <a:pt x="572" y="611"/>
                    <a:pt x="572" y="611"/>
                  </a:cubicBezTo>
                  <a:cubicBezTo>
                    <a:pt x="567" y="603"/>
                    <a:pt x="569" y="592"/>
                    <a:pt x="576" y="585"/>
                  </a:cubicBezTo>
                  <a:cubicBezTo>
                    <a:pt x="579" y="582"/>
                    <a:pt x="582" y="579"/>
                    <a:pt x="585" y="576"/>
                  </a:cubicBezTo>
                  <a:cubicBezTo>
                    <a:pt x="592" y="569"/>
                    <a:pt x="602" y="567"/>
                    <a:pt x="611" y="572"/>
                  </a:cubicBezTo>
                  <a:cubicBezTo>
                    <a:pt x="644" y="591"/>
                    <a:pt x="644" y="591"/>
                    <a:pt x="644" y="591"/>
                  </a:cubicBezTo>
                  <a:cubicBezTo>
                    <a:pt x="654" y="596"/>
                    <a:pt x="667" y="594"/>
                    <a:pt x="673" y="585"/>
                  </a:cubicBezTo>
                  <a:cubicBezTo>
                    <a:pt x="686" y="566"/>
                    <a:pt x="698" y="546"/>
                    <a:pt x="708" y="524"/>
                  </a:cubicBezTo>
                  <a:cubicBezTo>
                    <a:pt x="712" y="514"/>
                    <a:pt x="709" y="502"/>
                    <a:pt x="699" y="497"/>
                  </a:cubicBezTo>
                  <a:cubicBezTo>
                    <a:pt x="666" y="478"/>
                    <a:pt x="666" y="478"/>
                    <a:pt x="666" y="478"/>
                  </a:cubicBezTo>
                  <a:cubicBezTo>
                    <a:pt x="657" y="473"/>
                    <a:pt x="653" y="463"/>
                    <a:pt x="656" y="453"/>
                  </a:cubicBezTo>
                  <a:cubicBezTo>
                    <a:pt x="657" y="449"/>
                    <a:pt x="658" y="446"/>
                    <a:pt x="659" y="442"/>
                  </a:cubicBezTo>
                  <a:cubicBezTo>
                    <a:pt x="661" y="433"/>
                    <a:pt x="669" y="426"/>
                    <a:pt x="679" y="426"/>
                  </a:cubicBezTo>
                  <a:cubicBezTo>
                    <a:pt x="718" y="426"/>
                    <a:pt x="718" y="426"/>
                    <a:pt x="718" y="426"/>
                  </a:cubicBezTo>
                  <a:cubicBezTo>
                    <a:pt x="730" y="426"/>
                    <a:pt x="738" y="417"/>
                    <a:pt x="740" y="405"/>
                  </a:cubicBezTo>
                  <a:cubicBezTo>
                    <a:pt x="741" y="394"/>
                    <a:pt x="741" y="382"/>
                    <a:pt x="741" y="371"/>
                  </a:cubicBezTo>
                  <a:cubicBezTo>
                    <a:pt x="741" y="359"/>
                    <a:pt x="741" y="348"/>
                    <a:pt x="740" y="336"/>
                  </a:cubicBezTo>
                  <a:cubicBezTo>
                    <a:pt x="738" y="324"/>
                    <a:pt x="730" y="316"/>
                    <a:pt x="718" y="316"/>
                  </a:cubicBezTo>
                  <a:cubicBezTo>
                    <a:pt x="679" y="316"/>
                    <a:pt x="679" y="316"/>
                    <a:pt x="679" y="316"/>
                  </a:cubicBezTo>
                  <a:cubicBezTo>
                    <a:pt x="669" y="316"/>
                    <a:pt x="662" y="310"/>
                    <a:pt x="659" y="300"/>
                  </a:cubicBezTo>
                  <a:cubicBezTo>
                    <a:pt x="657" y="295"/>
                    <a:pt x="657" y="293"/>
                    <a:pt x="656" y="288"/>
                  </a:cubicBezTo>
                  <a:cubicBezTo>
                    <a:pt x="653" y="278"/>
                    <a:pt x="657" y="269"/>
                    <a:pt x="666" y="264"/>
                  </a:cubicBezTo>
                  <a:cubicBezTo>
                    <a:pt x="699" y="245"/>
                    <a:pt x="699" y="245"/>
                    <a:pt x="699" y="245"/>
                  </a:cubicBezTo>
                  <a:cubicBezTo>
                    <a:pt x="709" y="239"/>
                    <a:pt x="712" y="227"/>
                    <a:pt x="708" y="217"/>
                  </a:cubicBezTo>
                  <a:cubicBezTo>
                    <a:pt x="698" y="196"/>
                    <a:pt x="687" y="175"/>
                    <a:pt x="673" y="157"/>
                  </a:cubicBezTo>
                  <a:cubicBezTo>
                    <a:pt x="666" y="147"/>
                    <a:pt x="654" y="145"/>
                    <a:pt x="644" y="151"/>
                  </a:cubicBezTo>
                  <a:cubicBezTo>
                    <a:pt x="611" y="170"/>
                    <a:pt x="611" y="170"/>
                    <a:pt x="611" y="170"/>
                  </a:cubicBezTo>
                  <a:cubicBezTo>
                    <a:pt x="602" y="174"/>
                    <a:pt x="592" y="172"/>
                    <a:pt x="585" y="165"/>
                  </a:cubicBezTo>
                  <a:cubicBezTo>
                    <a:pt x="582" y="162"/>
                    <a:pt x="579" y="159"/>
                    <a:pt x="576" y="157"/>
                  </a:cubicBezTo>
                  <a:cubicBezTo>
                    <a:pt x="569" y="149"/>
                    <a:pt x="567" y="139"/>
                    <a:pt x="572" y="131"/>
                  </a:cubicBezTo>
                  <a:cubicBezTo>
                    <a:pt x="591" y="97"/>
                    <a:pt x="591" y="97"/>
                    <a:pt x="591" y="97"/>
                  </a:cubicBezTo>
                  <a:cubicBezTo>
                    <a:pt x="596" y="87"/>
                    <a:pt x="593" y="74"/>
                    <a:pt x="585" y="68"/>
                  </a:cubicBezTo>
                  <a:cubicBezTo>
                    <a:pt x="566" y="55"/>
                    <a:pt x="546" y="43"/>
                    <a:pt x="524" y="34"/>
                  </a:cubicBezTo>
                  <a:cubicBezTo>
                    <a:pt x="514" y="29"/>
                    <a:pt x="502" y="32"/>
                    <a:pt x="497" y="42"/>
                  </a:cubicBezTo>
                  <a:cubicBezTo>
                    <a:pt x="478" y="76"/>
                    <a:pt x="478" y="76"/>
                    <a:pt x="478" y="76"/>
                  </a:cubicBezTo>
                  <a:cubicBezTo>
                    <a:pt x="473" y="84"/>
                    <a:pt x="463" y="89"/>
                    <a:pt x="453" y="86"/>
                  </a:cubicBezTo>
                  <a:cubicBezTo>
                    <a:pt x="449" y="84"/>
                    <a:pt x="446" y="84"/>
                    <a:pt x="442" y="83"/>
                  </a:cubicBezTo>
                  <a:cubicBezTo>
                    <a:pt x="433" y="81"/>
                    <a:pt x="426" y="73"/>
                    <a:pt x="426" y="63"/>
                  </a:cubicBezTo>
                  <a:cubicBezTo>
                    <a:pt x="426" y="23"/>
                    <a:pt x="426" y="23"/>
                    <a:pt x="426" y="23"/>
                  </a:cubicBezTo>
                  <a:cubicBezTo>
                    <a:pt x="426" y="12"/>
                    <a:pt x="417" y="3"/>
                    <a:pt x="405" y="2"/>
                  </a:cubicBezTo>
                  <a:cubicBezTo>
                    <a:pt x="394" y="0"/>
                    <a:pt x="382" y="0"/>
                    <a:pt x="371" y="0"/>
                  </a:cubicBezTo>
                  <a:close/>
                  <a:moveTo>
                    <a:pt x="371" y="174"/>
                  </a:moveTo>
                  <a:cubicBezTo>
                    <a:pt x="479" y="174"/>
                    <a:pt x="567" y="262"/>
                    <a:pt x="567" y="371"/>
                  </a:cubicBezTo>
                  <a:cubicBezTo>
                    <a:pt x="567" y="479"/>
                    <a:pt x="479" y="568"/>
                    <a:pt x="371" y="568"/>
                  </a:cubicBezTo>
                  <a:cubicBezTo>
                    <a:pt x="262" y="568"/>
                    <a:pt x="174" y="479"/>
                    <a:pt x="174" y="371"/>
                  </a:cubicBezTo>
                  <a:cubicBezTo>
                    <a:pt x="174" y="262"/>
                    <a:pt x="262" y="174"/>
                    <a:pt x="371" y="174"/>
                  </a:cubicBezTo>
                  <a:close/>
                </a:path>
              </a:pathLst>
            </a:custGeom>
            <a:grpFill/>
            <a:ln>
              <a:noFill/>
            </a:ln>
            <a:effectLst/>
          </p:spPr>
          <p:txBody>
            <a:bodyPr vert="horz" wrap="square" lIns="51399" tIns="25700" rIns="51399" bIns="25700"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8712">
                <a:buClr>
                  <a:srgbClr val="CC9900"/>
                </a:buClr>
                <a:buFont typeface="Wingdings" pitchFamily="2" charset="2"/>
                <a:buChar char="n"/>
              </a:pPr>
              <a:endParaRPr lang="zh-CN" altLang="en-US" sz="3198"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14" name="Freeform 16"/>
            <p:cNvSpPr/>
            <p:nvPr/>
          </p:nvSpPr>
          <p:spPr bwMode="gray">
            <a:xfrm>
              <a:off x="5258270" y="2012365"/>
              <a:ext cx="64427" cy="23538"/>
            </a:xfrm>
            <a:custGeom>
              <a:avLst/>
              <a:gdLst/>
              <a:ahLst/>
              <a:cxnLst>
                <a:cxn ang="0">
                  <a:pos x="0" y="0"/>
                </a:cxn>
                <a:cxn ang="0">
                  <a:pos x="0" y="153"/>
                </a:cxn>
                <a:cxn ang="0">
                  <a:pos x="29" y="200"/>
                </a:cxn>
                <a:cxn ang="0">
                  <a:pos x="551" y="200"/>
                </a:cxn>
                <a:cxn ang="0">
                  <a:pos x="580" y="153"/>
                </a:cxn>
                <a:cxn ang="0">
                  <a:pos x="580" y="1"/>
                </a:cxn>
                <a:cxn ang="0">
                  <a:pos x="0" y="0"/>
                </a:cxn>
              </a:cxnLst>
              <a:rect l="0" t="0" r="r" b="b"/>
              <a:pathLst>
                <a:path w="580" h="200">
                  <a:moveTo>
                    <a:pt x="0" y="0"/>
                  </a:moveTo>
                  <a:cubicBezTo>
                    <a:pt x="0" y="153"/>
                    <a:pt x="0" y="153"/>
                    <a:pt x="0" y="153"/>
                  </a:cubicBezTo>
                  <a:cubicBezTo>
                    <a:pt x="0" y="179"/>
                    <a:pt x="13" y="200"/>
                    <a:pt x="29" y="200"/>
                  </a:cubicBezTo>
                  <a:cubicBezTo>
                    <a:pt x="551" y="200"/>
                    <a:pt x="551" y="200"/>
                    <a:pt x="551" y="200"/>
                  </a:cubicBezTo>
                  <a:cubicBezTo>
                    <a:pt x="567" y="200"/>
                    <a:pt x="580" y="179"/>
                    <a:pt x="580" y="153"/>
                  </a:cubicBezTo>
                  <a:cubicBezTo>
                    <a:pt x="580" y="1"/>
                    <a:pt x="580" y="1"/>
                    <a:pt x="580" y="1"/>
                  </a:cubicBezTo>
                  <a:cubicBezTo>
                    <a:pt x="387" y="1"/>
                    <a:pt x="193" y="1"/>
                    <a:pt x="0" y="0"/>
                  </a:cubicBezTo>
                  <a:close/>
                </a:path>
              </a:pathLst>
            </a:custGeom>
            <a:grpFill/>
            <a:ln>
              <a:noFill/>
            </a:ln>
            <a:effectLst/>
          </p:spPr>
          <p:txBody>
            <a:bodyPr vert="horz" wrap="square" lIns="51399" tIns="25700" rIns="51399" bIns="25700"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8712">
                <a:buClr>
                  <a:srgbClr val="CC9900"/>
                </a:buClr>
                <a:buFont typeface="Wingdings" pitchFamily="2" charset="2"/>
                <a:buChar char="n"/>
              </a:pPr>
              <a:endParaRPr lang="zh-CN" altLang="en-US" sz="3198"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15" name="Freeform 17"/>
            <p:cNvSpPr/>
            <p:nvPr/>
          </p:nvSpPr>
          <p:spPr bwMode="gray">
            <a:xfrm>
              <a:off x="5238043" y="2030715"/>
              <a:ext cx="104882" cy="12766"/>
            </a:xfrm>
            <a:custGeom>
              <a:avLst/>
              <a:gdLst/>
              <a:ahLst/>
              <a:cxnLst>
                <a:cxn ang="0">
                  <a:pos x="64" y="0"/>
                </a:cxn>
                <a:cxn ang="0">
                  <a:pos x="0" y="53"/>
                </a:cxn>
                <a:cxn ang="0">
                  <a:pos x="64" y="106"/>
                </a:cxn>
                <a:cxn ang="0">
                  <a:pos x="884" y="106"/>
                </a:cxn>
                <a:cxn ang="0">
                  <a:pos x="948" y="53"/>
                </a:cxn>
                <a:cxn ang="0">
                  <a:pos x="884" y="0"/>
                </a:cxn>
                <a:cxn ang="0">
                  <a:pos x="64" y="0"/>
                </a:cxn>
              </a:cxnLst>
              <a:rect l="0" t="0" r="r" b="b"/>
              <a:pathLst>
                <a:path w="947" h="105">
                  <a:moveTo>
                    <a:pt x="64" y="0"/>
                  </a:moveTo>
                  <a:cubicBezTo>
                    <a:pt x="29" y="0"/>
                    <a:pt x="0" y="24"/>
                    <a:pt x="0" y="53"/>
                  </a:cubicBezTo>
                  <a:cubicBezTo>
                    <a:pt x="0" y="82"/>
                    <a:pt x="29" y="106"/>
                    <a:pt x="64" y="106"/>
                  </a:cubicBezTo>
                  <a:cubicBezTo>
                    <a:pt x="884" y="106"/>
                    <a:pt x="884" y="106"/>
                    <a:pt x="884" y="106"/>
                  </a:cubicBezTo>
                  <a:cubicBezTo>
                    <a:pt x="920" y="106"/>
                    <a:pt x="948" y="82"/>
                    <a:pt x="948" y="53"/>
                  </a:cubicBezTo>
                  <a:cubicBezTo>
                    <a:pt x="948" y="24"/>
                    <a:pt x="920" y="0"/>
                    <a:pt x="884" y="0"/>
                  </a:cubicBezTo>
                  <a:lnTo>
                    <a:pt x="64" y="0"/>
                  </a:lnTo>
                  <a:close/>
                </a:path>
              </a:pathLst>
            </a:custGeom>
            <a:grpFill/>
            <a:ln>
              <a:noFill/>
            </a:ln>
            <a:effectLst/>
          </p:spPr>
          <p:txBody>
            <a:bodyPr vert="horz" wrap="square" lIns="51399" tIns="25700" rIns="51399" bIns="25700"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8712">
                <a:buClr>
                  <a:srgbClr val="CC9900"/>
                </a:buClr>
                <a:buFont typeface="Wingdings" pitchFamily="2" charset="2"/>
                <a:buChar char="n"/>
              </a:pPr>
              <a:endParaRPr lang="zh-CN" altLang="en-US" sz="3198"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16" name="Freeform 18"/>
            <p:cNvSpPr>
              <a:spLocks noEditPoints="1"/>
            </p:cNvSpPr>
            <p:nvPr/>
          </p:nvSpPr>
          <p:spPr bwMode="gray">
            <a:xfrm>
              <a:off x="5180359" y="1859572"/>
              <a:ext cx="220251" cy="149999"/>
            </a:xfrm>
            <a:custGeom>
              <a:avLst/>
              <a:gdLst/>
              <a:ahLst/>
              <a:cxnLst>
                <a:cxn ang="0">
                  <a:pos x="131" y="0"/>
                </a:cxn>
                <a:cxn ang="0">
                  <a:pos x="0" y="130"/>
                </a:cxn>
                <a:cxn ang="0">
                  <a:pos x="0" y="1138"/>
                </a:cxn>
                <a:cxn ang="0">
                  <a:pos x="131" y="1269"/>
                </a:cxn>
                <a:cxn ang="0">
                  <a:pos x="1853" y="1269"/>
                </a:cxn>
                <a:cxn ang="0">
                  <a:pos x="1984" y="1138"/>
                </a:cxn>
                <a:cxn ang="0">
                  <a:pos x="1984" y="130"/>
                </a:cxn>
                <a:cxn ang="0">
                  <a:pos x="1853" y="0"/>
                </a:cxn>
                <a:cxn ang="0">
                  <a:pos x="131" y="0"/>
                </a:cxn>
                <a:cxn ang="0">
                  <a:pos x="131" y="63"/>
                </a:cxn>
                <a:cxn ang="0">
                  <a:pos x="1853" y="63"/>
                </a:cxn>
                <a:cxn ang="0">
                  <a:pos x="1921" y="130"/>
                </a:cxn>
                <a:cxn ang="0">
                  <a:pos x="1921" y="1138"/>
                </a:cxn>
                <a:cxn ang="0">
                  <a:pos x="1853" y="1206"/>
                </a:cxn>
                <a:cxn ang="0">
                  <a:pos x="131" y="1206"/>
                </a:cxn>
                <a:cxn ang="0">
                  <a:pos x="64" y="1138"/>
                </a:cxn>
                <a:cxn ang="0">
                  <a:pos x="64" y="130"/>
                </a:cxn>
                <a:cxn ang="0">
                  <a:pos x="131" y="63"/>
                </a:cxn>
              </a:cxnLst>
              <a:rect l="0" t="0" r="r" b="b"/>
              <a:pathLst>
                <a:path w="1984" h="1269">
                  <a:moveTo>
                    <a:pt x="131" y="0"/>
                  </a:moveTo>
                  <a:cubicBezTo>
                    <a:pt x="59" y="0"/>
                    <a:pt x="0" y="58"/>
                    <a:pt x="0" y="130"/>
                  </a:cubicBezTo>
                  <a:cubicBezTo>
                    <a:pt x="0" y="1138"/>
                    <a:pt x="0" y="1138"/>
                    <a:pt x="0" y="1138"/>
                  </a:cubicBezTo>
                  <a:cubicBezTo>
                    <a:pt x="0" y="1210"/>
                    <a:pt x="59" y="1269"/>
                    <a:pt x="131" y="1269"/>
                  </a:cubicBezTo>
                  <a:cubicBezTo>
                    <a:pt x="1853" y="1269"/>
                    <a:pt x="1853" y="1269"/>
                    <a:pt x="1853" y="1269"/>
                  </a:cubicBezTo>
                  <a:cubicBezTo>
                    <a:pt x="1925" y="1269"/>
                    <a:pt x="1984" y="1210"/>
                    <a:pt x="1984" y="1138"/>
                  </a:cubicBezTo>
                  <a:cubicBezTo>
                    <a:pt x="1984" y="130"/>
                    <a:pt x="1984" y="130"/>
                    <a:pt x="1984" y="130"/>
                  </a:cubicBezTo>
                  <a:cubicBezTo>
                    <a:pt x="1984" y="58"/>
                    <a:pt x="1925" y="0"/>
                    <a:pt x="1853" y="0"/>
                  </a:cubicBezTo>
                  <a:cubicBezTo>
                    <a:pt x="131" y="0"/>
                    <a:pt x="131" y="0"/>
                    <a:pt x="131" y="0"/>
                  </a:cubicBezTo>
                  <a:close/>
                  <a:moveTo>
                    <a:pt x="131" y="63"/>
                  </a:moveTo>
                  <a:cubicBezTo>
                    <a:pt x="1853" y="63"/>
                    <a:pt x="1853" y="63"/>
                    <a:pt x="1853" y="63"/>
                  </a:cubicBezTo>
                  <a:cubicBezTo>
                    <a:pt x="1891" y="63"/>
                    <a:pt x="1921" y="93"/>
                    <a:pt x="1921" y="130"/>
                  </a:cubicBezTo>
                  <a:cubicBezTo>
                    <a:pt x="1921" y="1138"/>
                    <a:pt x="1921" y="1138"/>
                    <a:pt x="1921" y="1138"/>
                  </a:cubicBezTo>
                  <a:cubicBezTo>
                    <a:pt x="1921" y="1176"/>
                    <a:pt x="1891" y="1206"/>
                    <a:pt x="1853" y="1206"/>
                  </a:cubicBezTo>
                  <a:cubicBezTo>
                    <a:pt x="131" y="1206"/>
                    <a:pt x="131" y="1206"/>
                    <a:pt x="131" y="1206"/>
                  </a:cubicBezTo>
                  <a:cubicBezTo>
                    <a:pt x="93" y="1206"/>
                    <a:pt x="64" y="1176"/>
                    <a:pt x="64" y="1138"/>
                  </a:cubicBezTo>
                  <a:cubicBezTo>
                    <a:pt x="64" y="130"/>
                    <a:pt x="64" y="130"/>
                    <a:pt x="64" y="130"/>
                  </a:cubicBezTo>
                  <a:cubicBezTo>
                    <a:pt x="64" y="93"/>
                    <a:pt x="93" y="63"/>
                    <a:pt x="131" y="63"/>
                  </a:cubicBezTo>
                  <a:close/>
                </a:path>
              </a:pathLst>
            </a:custGeom>
            <a:grpFill/>
            <a:ln>
              <a:noFill/>
            </a:ln>
            <a:effectLst/>
          </p:spPr>
          <p:txBody>
            <a:bodyPr vert="horz" wrap="square" lIns="51399" tIns="25700" rIns="51399" bIns="25700"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8712">
                <a:buClr>
                  <a:srgbClr val="CC9900"/>
                </a:buClr>
                <a:buFont typeface="Wingdings" pitchFamily="2" charset="2"/>
                <a:buChar char="n"/>
              </a:pPr>
              <a:endParaRPr lang="zh-CN" altLang="en-US" sz="3198"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17" name="Freeform 19"/>
            <p:cNvSpPr/>
            <p:nvPr/>
          </p:nvSpPr>
          <p:spPr bwMode="gray">
            <a:xfrm>
              <a:off x="5236545" y="1885502"/>
              <a:ext cx="22850" cy="94149"/>
            </a:xfrm>
            <a:custGeom>
              <a:avLst/>
              <a:gdLst/>
              <a:ahLst/>
              <a:cxnLst>
                <a:cxn ang="0">
                  <a:pos x="32" y="0"/>
                </a:cxn>
                <a:cxn ang="0">
                  <a:pos x="0" y="32"/>
                </a:cxn>
                <a:cxn ang="0">
                  <a:pos x="0" y="765"/>
                </a:cxn>
                <a:cxn ang="0">
                  <a:pos x="32" y="797"/>
                </a:cxn>
                <a:cxn ang="0">
                  <a:pos x="175" y="797"/>
                </a:cxn>
                <a:cxn ang="0">
                  <a:pos x="206" y="765"/>
                </a:cxn>
                <a:cxn ang="0">
                  <a:pos x="206" y="32"/>
                </a:cxn>
                <a:cxn ang="0">
                  <a:pos x="175" y="0"/>
                </a:cxn>
                <a:cxn ang="0">
                  <a:pos x="32" y="0"/>
                </a:cxn>
              </a:cxnLst>
              <a:rect l="0" t="0" r="r" b="b"/>
              <a:pathLst>
                <a:path w="206" h="797">
                  <a:moveTo>
                    <a:pt x="32" y="0"/>
                  </a:moveTo>
                  <a:cubicBezTo>
                    <a:pt x="15" y="0"/>
                    <a:pt x="0" y="15"/>
                    <a:pt x="0" y="32"/>
                  </a:cubicBezTo>
                  <a:cubicBezTo>
                    <a:pt x="0" y="765"/>
                    <a:pt x="0" y="765"/>
                    <a:pt x="0" y="765"/>
                  </a:cubicBezTo>
                  <a:cubicBezTo>
                    <a:pt x="0" y="782"/>
                    <a:pt x="15" y="797"/>
                    <a:pt x="32" y="797"/>
                  </a:cubicBezTo>
                  <a:cubicBezTo>
                    <a:pt x="175" y="797"/>
                    <a:pt x="175" y="797"/>
                    <a:pt x="175" y="797"/>
                  </a:cubicBezTo>
                  <a:cubicBezTo>
                    <a:pt x="191" y="797"/>
                    <a:pt x="206" y="782"/>
                    <a:pt x="206" y="765"/>
                  </a:cubicBezTo>
                  <a:cubicBezTo>
                    <a:pt x="206" y="32"/>
                    <a:pt x="206" y="32"/>
                    <a:pt x="206" y="32"/>
                  </a:cubicBezTo>
                  <a:cubicBezTo>
                    <a:pt x="206" y="15"/>
                    <a:pt x="191" y="0"/>
                    <a:pt x="175" y="0"/>
                  </a:cubicBezTo>
                  <a:lnTo>
                    <a:pt x="32" y="0"/>
                  </a:lnTo>
                  <a:close/>
                </a:path>
              </a:pathLst>
            </a:custGeom>
            <a:grpFill/>
            <a:ln>
              <a:noFill/>
            </a:ln>
            <a:effectLst/>
          </p:spPr>
          <p:txBody>
            <a:bodyPr vert="horz" wrap="square" lIns="51399" tIns="25700" rIns="51399" bIns="25700"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8712">
                <a:buClr>
                  <a:srgbClr val="CC9900"/>
                </a:buClr>
                <a:buFont typeface="Wingdings" pitchFamily="2" charset="2"/>
                <a:buChar char="n"/>
              </a:pPr>
              <a:endParaRPr lang="zh-CN" altLang="en-US" sz="3198"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18" name="Freeform 20"/>
            <p:cNvSpPr/>
            <p:nvPr/>
          </p:nvSpPr>
          <p:spPr bwMode="gray">
            <a:xfrm>
              <a:off x="5266510" y="1893480"/>
              <a:ext cx="22850" cy="86170"/>
            </a:xfrm>
            <a:custGeom>
              <a:avLst/>
              <a:gdLst/>
              <a:ahLst/>
              <a:cxnLst>
                <a:cxn ang="0">
                  <a:pos x="32" y="0"/>
                </a:cxn>
                <a:cxn ang="0">
                  <a:pos x="0" y="32"/>
                </a:cxn>
                <a:cxn ang="0">
                  <a:pos x="0" y="699"/>
                </a:cxn>
                <a:cxn ang="0">
                  <a:pos x="32" y="731"/>
                </a:cxn>
                <a:cxn ang="0">
                  <a:pos x="175" y="731"/>
                </a:cxn>
                <a:cxn ang="0">
                  <a:pos x="207" y="699"/>
                </a:cxn>
                <a:cxn ang="0">
                  <a:pos x="207" y="32"/>
                </a:cxn>
                <a:cxn ang="0">
                  <a:pos x="175" y="0"/>
                </a:cxn>
                <a:cxn ang="0">
                  <a:pos x="32" y="0"/>
                </a:cxn>
              </a:cxnLst>
              <a:rect l="0" t="0" r="r" b="b"/>
              <a:pathLst>
                <a:path w="206" h="731">
                  <a:moveTo>
                    <a:pt x="32" y="0"/>
                  </a:moveTo>
                  <a:cubicBezTo>
                    <a:pt x="15" y="0"/>
                    <a:pt x="0" y="16"/>
                    <a:pt x="0" y="32"/>
                  </a:cubicBezTo>
                  <a:cubicBezTo>
                    <a:pt x="0" y="699"/>
                    <a:pt x="0" y="699"/>
                    <a:pt x="0" y="699"/>
                  </a:cubicBezTo>
                  <a:cubicBezTo>
                    <a:pt x="0" y="716"/>
                    <a:pt x="15" y="731"/>
                    <a:pt x="32" y="731"/>
                  </a:cubicBezTo>
                  <a:cubicBezTo>
                    <a:pt x="175" y="731"/>
                    <a:pt x="175" y="731"/>
                    <a:pt x="175" y="731"/>
                  </a:cubicBezTo>
                  <a:cubicBezTo>
                    <a:pt x="191" y="731"/>
                    <a:pt x="207" y="716"/>
                    <a:pt x="207" y="699"/>
                  </a:cubicBezTo>
                  <a:cubicBezTo>
                    <a:pt x="207" y="32"/>
                    <a:pt x="207" y="32"/>
                    <a:pt x="207" y="32"/>
                  </a:cubicBezTo>
                  <a:cubicBezTo>
                    <a:pt x="207" y="16"/>
                    <a:pt x="191" y="0"/>
                    <a:pt x="175" y="0"/>
                  </a:cubicBezTo>
                  <a:lnTo>
                    <a:pt x="32" y="0"/>
                  </a:lnTo>
                  <a:close/>
                </a:path>
              </a:pathLst>
            </a:custGeom>
            <a:grpFill/>
            <a:ln>
              <a:noFill/>
            </a:ln>
            <a:effectLst/>
          </p:spPr>
          <p:txBody>
            <a:bodyPr vert="horz" wrap="square" lIns="51399" tIns="25700" rIns="51399" bIns="25700"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8712">
                <a:buClr>
                  <a:srgbClr val="CC9900"/>
                </a:buClr>
                <a:buFont typeface="Wingdings" pitchFamily="2" charset="2"/>
                <a:buChar char="n"/>
              </a:pPr>
              <a:endParaRPr lang="zh-CN" altLang="en-US" sz="3198"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19" name="Freeform 21"/>
            <p:cNvSpPr/>
            <p:nvPr/>
          </p:nvSpPr>
          <p:spPr bwMode="gray">
            <a:xfrm>
              <a:off x="5296477" y="1883109"/>
              <a:ext cx="22850" cy="39893"/>
            </a:xfrm>
            <a:custGeom>
              <a:avLst/>
              <a:gdLst/>
              <a:ahLst/>
              <a:cxnLst>
                <a:cxn ang="0">
                  <a:pos x="32" y="0"/>
                </a:cxn>
                <a:cxn ang="0">
                  <a:pos x="0" y="32"/>
                </a:cxn>
                <a:cxn ang="0">
                  <a:pos x="0" y="338"/>
                </a:cxn>
                <a:cxn ang="0">
                  <a:pos x="94" y="240"/>
                </a:cxn>
                <a:cxn ang="0">
                  <a:pos x="105" y="232"/>
                </a:cxn>
                <a:cxn ang="0">
                  <a:pos x="118" y="223"/>
                </a:cxn>
                <a:cxn ang="0">
                  <a:pos x="126" y="219"/>
                </a:cxn>
                <a:cxn ang="0">
                  <a:pos x="130" y="216"/>
                </a:cxn>
                <a:cxn ang="0">
                  <a:pos x="134" y="214"/>
                </a:cxn>
                <a:cxn ang="0">
                  <a:pos x="146" y="207"/>
                </a:cxn>
                <a:cxn ang="0">
                  <a:pos x="147" y="206"/>
                </a:cxn>
                <a:cxn ang="0">
                  <a:pos x="161" y="199"/>
                </a:cxn>
                <a:cxn ang="0">
                  <a:pos x="207" y="180"/>
                </a:cxn>
                <a:cxn ang="0">
                  <a:pos x="207" y="32"/>
                </a:cxn>
                <a:cxn ang="0">
                  <a:pos x="175" y="0"/>
                </a:cxn>
                <a:cxn ang="0">
                  <a:pos x="32" y="0"/>
                </a:cxn>
              </a:cxnLst>
              <a:rect l="0" t="0" r="r" b="b"/>
              <a:pathLst>
                <a:path w="206" h="338">
                  <a:moveTo>
                    <a:pt x="32" y="0"/>
                  </a:moveTo>
                  <a:cubicBezTo>
                    <a:pt x="16" y="0"/>
                    <a:pt x="0" y="15"/>
                    <a:pt x="0" y="32"/>
                  </a:cubicBezTo>
                  <a:cubicBezTo>
                    <a:pt x="0" y="338"/>
                    <a:pt x="0" y="338"/>
                    <a:pt x="0" y="338"/>
                  </a:cubicBezTo>
                  <a:cubicBezTo>
                    <a:pt x="26" y="301"/>
                    <a:pt x="58" y="268"/>
                    <a:pt x="94" y="240"/>
                  </a:cubicBezTo>
                  <a:cubicBezTo>
                    <a:pt x="98" y="238"/>
                    <a:pt x="102" y="235"/>
                    <a:pt x="105" y="232"/>
                  </a:cubicBezTo>
                  <a:cubicBezTo>
                    <a:pt x="110" y="229"/>
                    <a:pt x="114" y="226"/>
                    <a:pt x="118" y="223"/>
                  </a:cubicBezTo>
                  <a:cubicBezTo>
                    <a:pt x="121" y="222"/>
                    <a:pt x="123" y="220"/>
                    <a:pt x="126" y="219"/>
                  </a:cubicBezTo>
                  <a:cubicBezTo>
                    <a:pt x="127" y="218"/>
                    <a:pt x="129" y="217"/>
                    <a:pt x="130" y="216"/>
                  </a:cubicBezTo>
                  <a:cubicBezTo>
                    <a:pt x="132" y="215"/>
                    <a:pt x="133" y="214"/>
                    <a:pt x="134" y="214"/>
                  </a:cubicBezTo>
                  <a:cubicBezTo>
                    <a:pt x="138" y="211"/>
                    <a:pt x="142" y="209"/>
                    <a:pt x="146" y="207"/>
                  </a:cubicBezTo>
                  <a:cubicBezTo>
                    <a:pt x="146" y="207"/>
                    <a:pt x="147" y="206"/>
                    <a:pt x="147" y="206"/>
                  </a:cubicBezTo>
                  <a:cubicBezTo>
                    <a:pt x="151" y="204"/>
                    <a:pt x="156" y="201"/>
                    <a:pt x="161" y="199"/>
                  </a:cubicBezTo>
                  <a:cubicBezTo>
                    <a:pt x="176" y="192"/>
                    <a:pt x="191" y="185"/>
                    <a:pt x="207" y="180"/>
                  </a:cubicBezTo>
                  <a:cubicBezTo>
                    <a:pt x="207" y="32"/>
                    <a:pt x="207" y="32"/>
                    <a:pt x="207" y="32"/>
                  </a:cubicBezTo>
                  <a:cubicBezTo>
                    <a:pt x="207" y="15"/>
                    <a:pt x="192" y="0"/>
                    <a:pt x="175" y="0"/>
                  </a:cubicBezTo>
                  <a:lnTo>
                    <a:pt x="32" y="0"/>
                  </a:lnTo>
                  <a:close/>
                </a:path>
              </a:pathLst>
            </a:custGeom>
            <a:grpFill/>
            <a:ln>
              <a:noFill/>
            </a:ln>
            <a:effectLst/>
          </p:spPr>
          <p:txBody>
            <a:bodyPr vert="horz" wrap="square" lIns="51399" tIns="25700" rIns="51399" bIns="25700"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8712">
                <a:buClr>
                  <a:srgbClr val="CC9900"/>
                </a:buClr>
                <a:buFont typeface="Wingdings" pitchFamily="2" charset="2"/>
                <a:buChar char="n"/>
              </a:pPr>
              <a:endParaRPr lang="zh-CN" altLang="en-US" sz="3198"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20" name="Freeform 22"/>
            <p:cNvSpPr/>
            <p:nvPr/>
          </p:nvSpPr>
          <p:spPr bwMode="gray">
            <a:xfrm>
              <a:off x="5206204" y="1917018"/>
              <a:ext cx="22850" cy="62633"/>
            </a:xfrm>
            <a:custGeom>
              <a:avLst/>
              <a:gdLst/>
              <a:ahLst/>
              <a:cxnLst>
                <a:cxn ang="0">
                  <a:pos x="32" y="0"/>
                </a:cxn>
                <a:cxn ang="0">
                  <a:pos x="0" y="32"/>
                </a:cxn>
                <a:cxn ang="0">
                  <a:pos x="0" y="498"/>
                </a:cxn>
                <a:cxn ang="0">
                  <a:pos x="32" y="530"/>
                </a:cxn>
                <a:cxn ang="0">
                  <a:pos x="175" y="530"/>
                </a:cxn>
                <a:cxn ang="0">
                  <a:pos x="206" y="498"/>
                </a:cxn>
                <a:cxn ang="0">
                  <a:pos x="206" y="32"/>
                </a:cxn>
                <a:cxn ang="0">
                  <a:pos x="175" y="0"/>
                </a:cxn>
                <a:cxn ang="0">
                  <a:pos x="32" y="0"/>
                </a:cxn>
              </a:cxnLst>
              <a:rect l="0" t="0" r="r" b="b"/>
              <a:pathLst>
                <a:path w="206" h="530">
                  <a:moveTo>
                    <a:pt x="32" y="0"/>
                  </a:moveTo>
                  <a:cubicBezTo>
                    <a:pt x="15" y="0"/>
                    <a:pt x="0" y="15"/>
                    <a:pt x="0" y="32"/>
                  </a:cubicBezTo>
                  <a:cubicBezTo>
                    <a:pt x="0" y="498"/>
                    <a:pt x="0" y="498"/>
                    <a:pt x="0" y="498"/>
                  </a:cubicBezTo>
                  <a:cubicBezTo>
                    <a:pt x="0" y="515"/>
                    <a:pt x="15" y="530"/>
                    <a:pt x="32" y="530"/>
                  </a:cubicBezTo>
                  <a:cubicBezTo>
                    <a:pt x="175" y="530"/>
                    <a:pt x="175" y="530"/>
                    <a:pt x="175" y="530"/>
                  </a:cubicBezTo>
                  <a:cubicBezTo>
                    <a:pt x="191" y="530"/>
                    <a:pt x="206" y="515"/>
                    <a:pt x="206" y="498"/>
                  </a:cubicBezTo>
                  <a:cubicBezTo>
                    <a:pt x="206" y="32"/>
                    <a:pt x="206" y="32"/>
                    <a:pt x="206" y="32"/>
                  </a:cubicBezTo>
                  <a:cubicBezTo>
                    <a:pt x="206" y="15"/>
                    <a:pt x="191" y="0"/>
                    <a:pt x="175" y="0"/>
                  </a:cubicBezTo>
                  <a:lnTo>
                    <a:pt x="32" y="0"/>
                  </a:lnTo>
                  <a:close/>
                </a:path>
              </a:pathLst>
            </a:custGeom>
            <a:grpFill/>
            <a:ln>
              <a:noFill/>
            </a:ln>
            <a:effectLst/>
          </p:spPr>
          <p:txBody>
            <a:bodyPr vert="horz" wrap="square" lIns="51399" tIns="25700" rIns="51399" bIns="25700"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8712">
                <a:buClr>
                  <a:srgbClr val="CC9900"/>
                </a:buClr>
                <a:buFont typeface="Wingdings" pitchFamily="2" charset="2"/>
                <a:buChar char="n"/>
              </a:pPr>
              <a:endParaRPr lang="zh-CN" altLang="en-US" sz="3198"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21" name="Freeform 23"/>
            <p:cNvSpPr/>
            <p:nvPr/>
          </p:nvSpPr>
          <p:spPr bwMode="gray">
            <a:xfrm>
              <a:off x="5327192" y="1875928"/>
              <a:ext cx="22850" cy="29521"/>
            </a:xfrm>
            <a:custGeom>
              <a:avLst/>
              <a:gdLst/>
              <a:ahLst/>
              <a:cxnLst>
                <a:cxn ang="0">
                  <a:pos x="32" y="0"/>
                </a:cxn>
                <a:cxn ang="0">
                  <a:pos x="0" y="32"/>
                </a:cxn>
                <a:cxn ang="0">
                  <a:pos x="0" y="226"/>
                </a:cxn>
                <a:cxn ang="0">
                  <a:pos x="55" y="222"/>
                </a:cxn>
                <a:cxn ang="0">
                  <a:pos x="68" y="222"/>
                </a:cxn>
                <a:cxn ang="0">
                  <a:pos x="206" y="251"/>
                </a:cxn>
                <a:cxn ang="0">
                  <a:pos x="206" y="32"/>
                </a:cxn>
                <a:cxn ang="0">
                  <a:pos x="175" y="0"/>
                </a:cxn>
                <a:cxn ang="0">
                  <a:pos x="32" y="0"/>
                </a:cxn>
              </a:cxnLst>
              <a:rect l="0" t="0" r="r" b="b"/>
              <a:pathLst>
                <a:path w="206" h="251">
                  <a:moveTo>
                    <a:pt x="32" y="0"/>
                  </a:moveTo>
                  <a:cubicBezTo>
                    <a:pt x="15" y="0"/>
                    <a:pt x="0" y="15"/>
                    <a:pt x="0" y="32"/>
                  </a:cubicBezTo>
                  <a:cubicBezTo>
                    <a:pt x="0" y="226"/>
                    <a:pt x="0" y="226"/>
                    <a:pt x="0" y="226"/>
                  </a:cubicBezTo>
                  <a:cubicBezTo>
                    <a:pt x="18" y="223"/>
                    <a:pt x="37" y="222"/>
                    <a:pt x="55" y="222"/>
                  </a:cubicBezTo>
                  <a:cubicBezTo>
                    <a:pt x="59" y="222"/>
                    <a:pt x="63" y="222"/>
                    <a:pt x="68" y="222"/>
                  </a:cubicBezTo>
                  <a:cubicBezTo>
                    <a:pt x="115" y="223"/>
                    <a:pt x="163" y="233"/>
                    <a:pt x="206" y="251"/>
                  </a:cubicBezTo>
                  <a:cubicBezTo>
                    <a:pt x="206" y="32"/>
                    <a:pt x="206" y="32"/>
                    <a:pt x="206" y="32"/>
                  </a:cubicBezTo>
                  <a:cubicBezTo>
                    <a:pt x="206" y="15"/>
                    <a:pt x="191" y="0"/>
                    <a:pt x="175" y="0"/>
                  </a:cubicBezTo>
                  <a:cubicBezTo>
                    <a:pt x="32" y="0"/>
                    <a:pt x="32" y="0"/>
                    <a:pt x="32" y="0"/>
                  </a:cubicBezTo>
                  <a:close/>
                </a:path>
              </a:pathLst>
            </a:custGeom>
            <a:grpFill/>
            <a:ln>
              <a:noFill/>
            </a:ln>
            <a:effectLst/>
          </p:spPr>
          <p:txBody>
            <a:bodyPr vert="horz" wrap="square" lIns="51399" tIns="25700" rIns="51399" bIns="25700" numCol="1" rtlCol="0" anchor="t"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defTabSz="1218712">
                <a:buClr>
                  <a:srgbClr val="CC9900"/>
                </a:buClr>
                <a:buFont typeface="Wingdings" pitchFamily="2" charset="2"/>
                <a:buChar char="n"/>
              </a:pPr>
              <a:endParaRPr lang="zh-CN" altLang="en-US" sz="3198"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sp>
        <p:nvSpPr>
          <p:cNvPr id="562" name="453896541"/>
          <p:cNvSpPr txBox="1">
            <a:spLocks noChangeArrowheads="1"/>
          </p:cNvSpPr>
          <p:nvPr/>
        </p:nvSpPr>
        <p:spPr bwMode="gray">
          <a:xfrm>
            <a:off x="6171886" y="1827457"/>
            <a:ext cx="1418241" cy="184666"/>
          </a:xfrm>
          <a:prstGeom prst="rect">
            <a:avLst/>
          </a:prstGeom>
          <a:noFill/>
          <a:ln w="9525">
            <a:noFill/>
            <a:miter lim="800000"/>
          </a:ln>
        </p:spPr>
        <p:txBody>
          <a:bodyPr wrap="square" lIns="0" tIns="0" rIns="0" bIns="0" anchor="ctr">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1218712">
              <a:buSzTx/>
            </a:pP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自助门户</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565" name="1125557403"/>
          <p:cNvSpPr txBox="1"/>
          <p:nvPr/>
        </p:nvSpPr>
        <p:spPr bwMode="gray">
          <a:xfrm>
            <a:off x="7411511" y="1420253"/>
            <a:ext cx="139462" cy="246093"/>
          </a:xfrm>
          <a:prstGeom prst="rect">
            <a:avLst/>
          </a:prstGeom>
          <a:noFill/>
        </p:spPr>
        <p:txBody>
          <a:bodyPr wrap="none" lIns="0" tIns="0" rIns="0" bIns="0" rtlCol="0">
            <a:spAutoFit/>
          </a:bodyPr>
          <a:lstStyle/>
          <a:p>
            <a:pPr defTabSz="1218712" fontAlgn="base">
              <a:spcBef>
                <a:spcPct val="0"/>
              </a:spcBef>
              <a:spcAft>
                <a:spcPct val="0"/>
              </a:spcAft>
            </a:pPr>
            <a:r>
              <a:rPr lang="en-US" altLang="zh-CN" sz="1599">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a:t>
            </a:r>
            <a:endParaRPr lang="zh-CN" altLang="en-US" sz="1599">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566" name="梯形 565"/>
          <p:cNvSpPr/>
          <p:nvPr/>
        </p:nvSpPr>
        <p:spPr bwMode="gray">
          <a:xfrm>
            <a:off x="4022710" y="4806597"/>
            <a:ext cx="3800407" cy="1337290"/>
          </a:xfrm>
          <a:prstGeom prst="trapezoid">
            <a:avLst>
              <a:gd name="adj" fmla="val 42477"/>
            </a:avLst>
          </a:prstGeom>
          <a:solidFill>
            <a:srgbClr val="26B7C8">
              <a:alpha val="46000"/>
            </a:srgbClr>
          </a:solidFill>
        </p:spPr>
        <p:txBody>
          <a:bodyPr wrap="square" lIns="121868" tIns="60934" rIns="121868" bIns="60934" rtlCol="0" anchor="ctr" anchorCtr="1">
            <a:noAutofit/>
          </a:bodyPr>
          <a:lstStyle/>
          <a:p>
            <a:pPr indent="717215" defTabSz="1218712" fontAlgn="ctr">
              <a:spcBef>
                <a:spcPct val="0"/>
              </a:spcBef>
              <a:spcAft>
                <a:spcPct val="0"/>
              </a:spcAft>
              <a:buClr>
                <a:srgbClr val="FFC000"/>
              </a:buClr>
              <a:buSzPct val="60000"/>
              <a:buFont typeface="Wingdings" pitchFamily="2" charset="2"/>
              <a:buChar char="n"/>
            </a:pPr>
            <a:endParaRPr lang="zh-CN" altLang="en-US" sz="2099" kern="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7" name="梯形 566"/>
          <p:cNvSpPr/>
          <p:nvPr/>
        </p:nvSpPr>
        <p:spPr bwMode="gray">
          <a:xfrm>
            <a:off x="871113" y="4497627"/>
            <a:ext cx="10156014" cy="1680508"/>
          </a:xfrm>
          <a:prstGeom prst="trapezoid">
            <a:avLst>
              <a:gd name="adj" fmla="val 110080"/>
            </a:avLst>
          </a:prstGeom>
          <a:gradFill flip="none" rotWithShape="1">
            <a:gsLst>
              <a:gs pos="0">
                <a:srgbClr val="26B7C8">
                  <a:alpha val="82000"/>
                </a:srgbClr>
              </a:gs>
              <a:gs pos="100000">
                <a:srgbClr val="26B7C8">
                  <a:alpha val="0"/>
                </a:srgbClr>
              </a:gs>
            </a:gsLst>
            <a:lin ang="16200000" scaled="1"/>
          </a:gradFill>
          <a:ln w="3175">
            <a:gradFill>
              <a:gsLst>
                <a:gs pos="0">
                  <a:srgbClr val="26B7C8">
                    <a:alpha val="0"/>
                  </a:srgbClr>
                </a:gs>
                <a:gs pos="50000">
                  <a:srgbClr val="26B7C8">
                    <a:alpha val="25000"/>
                  </a:srgbClr>
                </a:gs>
                <a:gs pos="100000">
                  <a:srgbClr val="26B7C8"/>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68127" algn="ctr" defTabSz="1218712" fontAlgn="base">
              <a:spcBef>
                <a:spcPct val="20000"/>
              </a:spcBef>
              <a:spcAft>
                <a:spcPts val="2399"/>
              </a:spcAft>
              <a:buClr>
                <a:prstClr val="white"/>
              </a:buClr>
              <a:buSzPct val="60000"/>
            </a:pPr>
            <a:endParaRPr lang="zh-CN" altLang="en-US" sz="1200" b="1">
              <a:solidFill>
                <a:srgbClr val="FFC000"/>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8" name="Freeform 17"/>
          <p:cNvSpPr/>
          <p:nvPr/>
        </p:nvSpPr>
        <p:spPr bwMode="gray">
          <a:xfrm>
            <a:off x="1454373" y="5523776"/>
            <a:ext cx="2188528" cy="506120"/>
          </a:xfrm>
          <a:custGeom>
            <a:avLst/>
            <a:gdLst>
              <a:gd name="T0" fmla="*/ 480 w 1916"/>
              <a:gd name="T1" fmla="*/ 0 h 359"/>
              <a:gd name="T2" fmla="*/ 0 w 1916"/>
              <a:gd name="T3" fmla="*/ 359 h 359"/>
              <a:gd name="T4" fmla="*/ 1651 w 1916"/>
              <a:gd name="T5" fmla="*/ 359 h 359"/>
              <a:gd name="T6" fmla="*/ 1916 w 1916"/>
              <a:gd name="T7" fmla="*/ 0 h 359"/>
              <a:gd name="T8" fmla="*/ 480 w 1916"/>
              <a:gd name="T9" fmla="*/ 0 h 359"/>
            </a:gdLst>
            <a:ahLst/>
            <a:cxnLst>
              <a:cxn ang="0">
                <a:pos x="T0" y="T1"/>
              </a:cxn>
              <a:cxn ang="0">
                <a:pos x="T2" y="T3"/>
              </a:cxn>
              <a:cxn ang="0">
                <a:pos x="T4" y="T5"/>
              </a:cxn>
              <a:cxn ang="0">
                <a:pos x="T6" y="T7"/>
              </a:cxn>
              <a:cxn ang="0">
                <a:pos x="T8" y="T9"/>
              </a:cxn>
            </a:cxnLst>
            <a:rect l="0" t="0" r="r" b="b"/>
            <a:pathLst>
              <a:path w="1916" h="359">
                <a:moveTo>
                  <a:pt x="480" y="0"/>
                </a:moveTo>
                <a:lnTo>
                  <a:pt x="0" y="359"/>
                </a:lnTo>
                <a:lnTo>
                  <a:pt x="1651" y="359"/>
                </a:lnTo>
                <a:lnTo>
                  <a:pt x="1916" y="0"/>
                </a:lnTo>
                <a:lnTo>
                  <a:pt x="480" y="0"/>
                </a:lnTo>
                <a:close/>
              </a:path>
            </a:pathLst>
          </a:custGeom>
          <a:solidFill>
            <a:srgbClr val="26B7C8">
              <a:alpha val="52000"/>
            </a:srgbClr>
          </a:solidFill>
        </p:spPr>
        <p:txBody>
          <a:bodyPr wrap="square" lIns="121868" tIns="60934" rIns="121868" bIns="60934" rtlCol="0" anchor="ctr" anchorCtr="1">
            <a:noAutofit/>
          </a:bodyPr>
          <a:lstStyle/>
          <a:p>
            <a:pPr indent="717215" defTabSz="1218712" fontAlgn="ctr">
              <a:spcBef>
                <a:spcPct val="0"/>
              </a:spcBef>
              <a:spcAft>
                <a:spcPct val="0"/>
              </a:spcAft>
              <a:buClr>
                <a:srgbClr val="FFC000"/>
              </a:buClr>
              <a:buSzPct val="60000"/>
              <a:buFont typeface="Wingdings" pitchFamily="2" charset="2"/>
              <a:buChar char="n"/>
            </a:pPr>
            <a:endParaRPr lang="zh-CN" altLang="en-US" sz="2099" kern="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569" name="组合 621"/>
          <p:cNvGrpSpPr/>
          <p:nvPr/>
        </p:nvGrpSpPr>
        <p:grpSpPr bwMode="black">
          <a:xfrm>
            <a:off x="3190107" y="5580359"/>
            <a:ext cx="197702" cy="153624"/>
            <a:chOff x="-983298" y="1666240"/>
            <a:chExt cx="547688" cy="309564"/>
          </a:xfrm>
          <a:solidFill>
            <a:srgbClr val="FFC000"/>
          </a:solidFill>
        </p:grpSpPr>
        <p:sp>
          <p:nvSpPr>
            <p:cNvPr id="711" name="Freeform 21"/>
            <p:cNvSpPr/>
            <p:nvPr/>
          </p:nvSpPr>
          <p:spPr bwMode="black">
            <a:xfrm>
              <a:off x="-983298" y="1798004"/>
              <a:ext cx="547688" cy="177800"/>
            </a:xfrm>
            <a:custGeom>
              <a:avLst/>
              <a:gdLst/>
              <a:ahLst/>
              <a:cxnLst>
                <a:cxn ang="0">
                  <a:pos x="16188" y="2345"/>
                </a:cxn>
                <a:cxn ang="0">
                  <a:pos x="16149" y="2515"/>
                </a:cxn>
                <a:cxn ang="0">
                  <a:pos x="15935" y="2950"/>
                </a:cxn>
                <a:cxn ang="0">
                  <a:pos x="15566" y="3361"/>
                </a:cxn>
                <a:cxn ang="0">
                  <a:pos x="15052" y="3745"/>
                </a:cxn>
                <a:cxn ang="0">
                  <a:pos x="14408" y="4094"/>
                </a:cxn>
                <a:cxn ang="0">
                  <a:pos x="13647" y="4406"/>
                </a:cxn>
                <a:cxn ang="0">
                  <a:pos x="12779" y="4677"/>
                </a:cxn>
                <a:cxn ang="0">
                  <a:pos x="11817" y="4900"/>
                </a:cxn>
                <a:cxn ang="0">
                  <a:pos x="10774" y="5071"/>
                </a:cxn>
                <a:cxn ang="0">
                  <a:pos x="9662" y="5187"/>
                </a:cxn>
                <a:cxn ang="0">
                  <a:pos x="8495" y="5241"/>
                </a:cxn>
                <a:cxn ang="0">
                  <a:pos x="7295" y="5230"/>
                </a:cxn>
                <a:cxn ang="0">
                  <a:pos x="6139" y="5155"/>
                </a:cxn>
                <a:cxn ang="0">
                  <a:pos x="5043" y="5019"/>
                </a:cxn>
                <a:cxn ang="0">
                  <a:pos x="4021" y="4827"/>
                </a:cxn>
                <a:cxn ang="0">
                  <a:pos x="3087" y="4585"/>
                </a:cxn>
                <a:cxn ang="0">
                  <a:pos x="2251" y="4298"/>
                </a:cxn>
                <a:cxn ang="0">
                  <a:pos x="1527" y="3969"/>
                </a:cxn>
                <a:cxn ang="0">
                  <a:pos x="927" y="3604"/>
                </a:cxn>
                <a:cxn ang="0">
                  <a:pos x="465" y="3208"/>
                </a:cxn>
                <a:cxn ang="0">
                  <a:pos x="151" y="2784"/>
                </a:cxn>
                <a:cxn ang="0">
                  <a:pos x="0" y="2340"/>
                </a:cxn>
                <a:cxn ang="0">
                  <a:pos x="102" y="141"/>
                </a:cxn>
                <a:cxn ang="0">
                  <a:pos x="467" y="524"/>
                </a:cxn>
                <a:cxn ang="0">
                  <a:pos x="944" y="884"/>
                </a:cxn>
                <a:cxn ang="0">
                  <a:pos x="1522" y="1217"/>
                </a:cxn>
                <a:cxn ang="0">
                  <a:pos x="2195" y="1518"/>
                </a:cxn>
                <a:cxn ang="0">
                  <a:pos x="2954" y="1785"/>
                </a:cxn>
                <a:cxn ang="0">
                  <a:pos x="3789" y="2015"/>
                </a:cxn>
                <a:cxn ang="0">
                  <a:pos x="4694" y="2204"/>
                </a:cxn>
                <a:cxn ang="0">
                  <a:pos x="5658" y="2348"/>
                </a:cxn>
                <a:cxn ang="0">
                  <a:pos x="6675" y="2444"/>
                </a:cxn>
                <a:cxn ang="0">
                  <a:pos x="7734" y="2489"/>
                </a:cxn>
                <a:cxn ang="0">
                  <a:pos x="8814" y="2480"/>
                </a:cxn>
                <a:cxn ang="0">
                  <a:pos x="9861" y="2417"/>
                </a:cxn>
                <a:cxn ang="0">
                  <a:pos x="10863" y="2304"/>
                </a:cxn>
                <a:cxn ang="0">
                  <a:pos x="11810" y="2144"/>
                </a:cxn>
                <a:cxn ang="0">
                  <a:pos x="12693" y="1941"/>
                </a:cxn>
                <a:cxn ang="0">
                  <a:pos x="13505" y="1697"/>
                </a:cxn>
                <a:cxn ang="0">
                  <a:pos x="14236" y="1418"/>
                </a:cxn>
                <a:cxn ang="0">
                  <a:pos x="14879" y="1104"/>
                </a:cxn>
                <a:cxn ang="0">
                  <a:pos x="15425" y="761"/>
                </a:cxn>
                <a:cxn ang="0">
                  <a:pos x="15864" y="392"/>
                </a:cxn>
                <a:cxn ang="0">
                  <a:pos x="16188" y="0"/>
                </a:cxn>
              </a:cxnLst>
              <a:rect l="0" t="0" r="r" b="b"/>
              <a:pathLst>
                <a:path w="16188" h="5245">
                  <a:moveTo>
                    <a:pt x="16189" y="2340"/>
                  </a:moveTo>
                  <a:lnTo>
                    <a:pt x="16189" y="2343"/>
                  </a:lnTo>
                  <a:lnTo>
                    <a:pt x="16188" y="2345"/>
                  </a:lnTo>
                  <a:lnTo>
                    <a:pt x="16188" y="2366"/>
                  </a:lnTo>
                  <a:lnTo>
                    <a:pt x="16185" y="2366"/>
                  </a:lnTo>
                  <a:lnTo>
                    <a:pt x="16149" y="2515"/>
                  </a:lnTo>
                  <a:lnTo>
                    <a:pt x="16096" y="2662"/>
                  </a:lnTo>
                  <a:lnTo>
                    <a:pt x="16025" y="2808"/>
                  </a:lnTo>
                  <a:lnTo>
                    <a:pt x="15935" y="2950"/>
                  </a:lnTo>
                  <a:lnTo>
                    <a:pt x="15828" y="3090"/>
                  </a:lnTo>
                  <a:lnTo>
                    <a:pt x="15704" y="3227"/>
                  </a:lnTo>
                  <a:lnTo>
                    <a:pt x="15566" y="3361"/>
                  </a:lnTo>
                  <a:lnTo>
                    <a:pt x="15409" y="3492"/>
                  </a:lnTo>
                  <a:lnTo>
                    <a:pt x="15238" y="3620"/>
                  </a:lnTo>
                  <a:lnTo>
                    <a:pt x="15052" y="3745"/>
                  </a:lnTo>
                  <a:lnTo>
                    <a:pt x="14851" y="3864"/>
                  </a:lnTo>
                  <a:lnTo>
                    <a:pt x="14637" y="3981"/>
                  </a:lnTo>
                  <a:lnTo>
                    <a:pt x="14408" y="4094"/>
                  </a:lnTo>
                  <a:lnTo>
                    <a:pt x="14167" y="4202"/>
                  </a:lnTo>
                  <a:lnTo>
                    <a:pt x="13913" y="4307"/>
                  </a:lnTo>
                  <a:lnTo>
                    <a:pt x="13647" y="4406"/>
                  </a:lnTo>
                  <a:lnTo>
                    <a:pt x="13368" y="4502"/>
                  </a:lnTo>
                  <a:lnTo>
                    <a:pt x="13079" y="4592"/>
                  </a:lnTo>
                  <a:lnTo>
                    <a:pt x="12779" y="4677"/>
                  </a:lnTo>
                  <a:lnTo>
                    <a:pt x="12468" y="4757"/>
                  </a:lnTo>
                  <a:lnTo>
                    <a:pt x="12147" y="4831"/>
                  </a:lnTo>
                  <a:lnTo>
                    <a:pt x="11817" y="4900"/>
                  </a:lnTo>
                  <a:lnTo>
                    <a:pt x="11478" y="4964"/>
                  </a:lnTo>
                  <a:lnTo>
                    <a:pt x="11131" y="5021"/>
                  </a:lnTo>
                  <a:lnTo>
                    <a:pt x="10774" y="5071"/>
                  </a:lnTo>
                  <a:lnTo>
                    <a:pt x="10411" y="5117"/>
                  </a:lnTo>
                  <a:lnTo>
                    <a:pt x="10040" y="5156"/>
                  </a:lnTo>
                  <a:lnTo>
                    <a:pt x="9662" y="5187"/>
                  </a:lnTo>
                  <a:lnTo>
                    <a:pt x="9279" y="5213"/>
                  </a:lnTo>
                  <a:lnTo>
                    <a:pt x="8889" y="5231"/>
                  </a:lnTo>
                  <a:lnTo>
                    <a:pt x="8495" y="5241"/>
                  </a:lnTo>
                  <a:lnTo>
                    <a:pt x="8095" y="5245"/>
                  </a:lnTo>
                  <a:lnTo>
                    <a:pt x="7692" y="5241"/>
                  </a:lnTo>
                  <a:lnTo>
                    <a:pt x="7295" y="5230"/>
                  </a:lnTo>
                  <a:lnTo>
                    <a:pt x="6904" y="5211"/>
                  </a:lnTo>
                  <a:lnTo>
                    <a:pt x="6518" y="5186"/>
                  </a:lnTo>
                  <a:lnTo>
                    <a:pt x="6139" y="5155"/>
                  </a:lnTo>
                  <a:lnTo>
                    <a:pt x="5766" y="5115"/>
                  </a:lnTo>
                  <a:lnTo>
                    <a:pt x="5401" y="5070"/>
                  </a:lnTo>
                  <a:lnTo>
                    <a:pt x="5043" y="5019"/>
                  </a:lnTo>
                  <a:lnTo>
                    <a:pt x="4693" y="4961"/>
                  </a:lnTo>
                  <a:lnTo>
                    <a:pt x="4353" y="4897"/>
                  </a:lnTo>
                  <a:lnTo>
                    <a:pt x="4021" y="4827"/>
                  </a:lnTo>
                  <a:lnTo>
                    <a:pt x="3700" y="4752"/>
                  </a:lnTo>
                  <a:lnTo>
                    <a:pt x="3388" y="4671"/>
                  </a:lnTo>
                  <a:lnTo>
                    <a:pt x="3087" y="4585"/>
                  </a:lnTo>
                  <a:lnTo>
                    <a:pt x="2797" y="4494"/>
                  </a:lnTo>
                  <a:lnTo>
                    <a:pt x="2519" y="4398"/>
                  </a:lnTo>
                  <a:lnTo>
                    <a:pt x="2251" y="4298"/>
                  </a:lnTo>
                  <a:lnTo>
                    <a:pt x="1997" y="4192"/>
                  </a:lnTo>
                  <a:lnTo>
                    <a:pt x="1755" y="4083"/>
                  </a:lnTo>
                  <a:lnTo>
                    <a:pt x="1527" y="3969"/>
                  </a:lnTo>
                  <a:lnTo>
                    <a:pt x="1314" y="3851"/>
                  </a:lnTo>
                  <a:lnTo>
                    <a:pt x="1113" y="3729"/>
                  </a:lnTo>
                  <a:lnTo>
                    <a:pt x="927" y="3604"/>
                  </a:lnTo>
                  <a:lnTo>
                    <a:pt x="757" y="3476"/>
                  </a:lnTo>
                  <a:lnTo>
                    <a:pt x="603" y="3343"/>
                  </a:lnTo>
                  <a:lnTo>
                    <a:pt x="465" y="3208"/>
                  </a:lnTo>
                  <a:lnTo>
                    <a:pt x="343" y="3069"/>
                  </a:lnTo>
                  <a:lnTo>
                    <a:pt x="238" y="2928"/>
                  </a:lnTo>
                  <a:lnTo>
                    <a:pt x="151" y="2784"/>
                  </a:lnTo>
                  <a:lnTo>
                    <a:pt x="82" y="2639"/>
                  </a:lnTo>
                  <a:lnTo>
                    <a:pt x="32" y="2490"/>
                  </a:lnTo>
                  <a:lnTo>
                    <a:pt x="0" y="2340"/>
                  </a:lnTo>
                  <a:lnTo>
                    <a:pt x="6" y="2340"/>
                  </a:lnTo>
                  <a:lnTo>
                    <a:pt x="6" y="8"/>
                  </a:lnTo>
                  <a:lnTo>
                    <a:pt x="102" y="141"/>
                  </a:lnTo>
                  <a:lnTo>
                    <a:pt x="211" y="271"/>
                  </a:lnTo>
                  <a:lnTo>
                    <a:pt x="333" y="399"/>
                  </a:lnTo>
                  <a:lnTo>
                    <a:pt x="467" y="524"/>
                  </a:lnTo>
                  <a:lnTo>
                    <a:pt x="613" y="647"/>
                  </a:lnTo>
                  <a:lnTo>
                    <a:pt x="772" y="767"/>
                  </a:lnTo>
                  <a:lnTo>
                    <a:pt x="944" y="884"/>
                  </a:lnTo>
                  <a:lnTo>
                    <a:pt x="1125" y="998"/>
                  </a:lnTo>
                  <a:lnTo>
                    <a:pt x="1319" y="1109"/>
                  </a:lnTo>
                  <a:lnTo>
                    <a:pt x="1522" y="1217"/>
                  </a:lnTo>
                  <a:lnTo>
                    <a:pt x="1736" y="1320"/>
                  </a:lnTo>
                  <a:lnTo>
                    <a:pt x="1961" y="1421"/>
                  </a:lnTo>
                  <a:lnTo>
                    <a:pt x="2195" y="1518"/>
                  </a:lnTo>
                  <a:lnTo>
                    <a:pt x="2440" y="1611"/>
                  </a:lnTo>
                  <a:lnTo>
                    <a:pt x="2692" y="1700"/>
                  </a:lnTo>
                  <a:lnTo>
                    <a:pt x="2954" y="1785"/>
                  </a:lnTo>
                  <a:lnTo>
                    <a:pt x="3225" y="1866"/>
                  </a:lnTo>
                  <a:lnTo>
                    <a:pt x="3504" y="1943"/>
                  </a:lnTo>
                  <a:lnTo>
                    <a:pt x="3789" y="2015"/>
                  </a:lnTo>
                  <a:lnTo>
                    <a:pt x="4084" y="2083"/>
                  </a:lnTo>
                  <a:lnTo>
                    <a:pt x="4385" y="2146"/>
                  </a:lnTo>
                  <a:lnTo>
                    <a:pt x="4694" y="2204"/>
                  </a:lnTo>
                  <a:lnTo>
                    <a:pt x="5010" y="2256"/>
                  </a:lnTo>
                  <a:lnTo>
                    <a:pt x="5331" y="2305"/>
                  </a:lnTo>
                  <a:lnTo>
                    <a:pt x="5658" y="2348"/>
                  </a:lnTo>
                  <a:lnTo>
                    <a:pt x="5992" y="2385"/>
                  </a:lnTo>
                  <a:lnTo>
                    <a:pt x="6331" y="2418"/>
                  </a:lnTo>
                  <a:lnTo>
                    <a:pt x="6675" y="2444"/>
                  </a:lnTo>
                  <a:lnTo>
                    <a:pt x="7023" y="2464"/>
                  </a:lnTo>
                  <a:lnTo>
                    <a:pt x="7376" y="2480"/>
                  </a:lnTo>
                  <a:lnTo>
                    <a:pt x="7734" y="2489"/>
                  </a:lnTo>
                  <a:lnTo>
                    <a:pt x="8095" y="2492"/>
                  </a:lnTo>
                  <a:lnTo>
                    <a:pt x="8456" y="2489"/>
                  </a:lnTo>
                  <a:lnTo>
                    <a:pt x="8814" y="2480"/>
                  </a:lnTo>
                  <a:lnTo>
                    <a:pt x="9168" y="2464"/>
                  </a:lnTo>
                  <a:lnTo>
                    <a:pt x="9517" y="2444"/>
                  </a:lnTo>
                  <a:lnTo>
                    <a:pt x="9861" y="2417"/>
                  </a:lnTo>
                  <a:lnTo>
                    <a:pt x="10200" y="2385"/>
                  </a:lnTo>
                  <a:lnTo>
                    <a:pt x="10535" y="2347"/>
                  </a:lnTo>
                  <a:lnTo>
                    <a:pt x="10863" y="2304"/>
                  </a:lnTo>
                  <a:lnTo>
                    <a:pt x="11184" y="2255"/>
                  </a:lnTo>
                  <a:lnTo>
                    <a:pt x="11501" y="2203"/>
                  </a:lnTo>
                  <a:lnTo>
                    <a:pt x="11810" y="2144"/>
                  </a:lnTo>
                  <a:lnTo>
                    <a:pt x="12112" y="2081"/>
                  </a:lnTo>
                  <a:lnTo>
                    <a:pt x="12406" y="2013"/>
                  </a:lnTo>
                  <a:lnTo>
                    <a:pt x="12693" y="1941"/>
                  </a:lnTo>
                  <a:lnTo>
                    <a:pt x="12972" y="1863"/>
                  </a:lnTo>
                  <a:lnTo>
                    <a:pt x="13243" y="1782"/>
                  </a:lnTo>
                  <a:lnTo>
                    <a:pt x="13505" y="1697"/>
                  </a:lnTo>
                  <a:lnTo>
                    <a:pt x="13758" y="1608"/>
                  </a:lnTo>
                  <a:lnTo>
                    <a:pt x="14002" y="1514"/>
                  </a:lnTo>
                  <a:lnTo>
                    <a:pt x="14236" y="1418"/>
                  </a:lnTo>
                  <a:lnTo>
                    <a:pt x="14461" y="1316"/>
                  </a:lnTo>
                  <a:lnTo>
                    <a:pt x="14675" y="1212"/>
                  </a:lnTo>
                  <a:lnTo>
                    <a:pt x="14879" y="1104"/>
                  </a:lnTo>
                  <a:lnTo>
                    <a:pt x="15072" y="993"/>
                  </a:lnTo>
                  <a:lnTo>
                    <a:pt x="15253" y="879"/>
                  </a:lnTo>
                  <a:lnTo>
                    <a:pt x="15425" y="761"/>
                  </a:lnTo>
                  <a:lnTo>
                    <a:pt x="15583" y="641"/>
                  </a:lnTo>
                  <a:lnTo>
                    <a:pt x="15730" y="517"/>
                  </a:lnTo>
                  <a:lnTo>
                    <a:pt x="15864" y="392"/>
                  </a:lnTo>
                  <a:lnTo>
                    <a:pt x="15985" y="264"/>
                  </a:lnTo>
                  <a:lnTo>
                    <a:pt x="16094" y="133"/>
                  </a:lnTo>
                  <a:lnTo>
                    <a:pt x="16188" y="0"/>
                  </a:lnTo>
                  <a:lnTo>
                    <a:pt x="16188" y="2340"/>
                  </a:lnTo>
                  <a:lnTo>
                    <a:pt x="16189" y="2340"/>
                  </a:lnTo>
                  <a:close/>
                </a:path>
              </a:pathLst>
            </a:custGeom>
            <a:grpFill/>
            <a:ln w="15875">
              <a:noFill/>
              <a:round/>
            </a:ln>
          </p:spPr>
          <p:txBody>
            <a:bodyPr vert="horz" wrap="square" lIns="103142" tIns="51573" rIns="103142" bIns="51573" numCol="1" anchor="t" anchorCtr="0" compatLnSpc="1">
              <a:prstTxWarp prst="textNoShape">
                <a:avLst/>
              </a:prstTxWarp>
            </a:body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12" name="Freeform 22"/>
            <p:cNvSpPr>
              <a:spLocks noEditPoints="1"/>
            </p:cNvSpPr>
            <p:nvPr/>
          </p:nvSpPr>
          <p:spPr bwMode="black">
            <a:xfrm>
              <a:off x="-983298" y="1666240"/>
              <a:ext cx="547688" cy="207963"/>
            </a:xfrm>
            <a:custGeom>
              <a:avLst/>
              <a:gdLst/>
              <a:ahLst/>
              <a:cxnLst>
                <a:cxn ang="0">
                  <a:pos x="8934" y="16"/>
                </a:cxn>
                <a:cxn ang="0">
                  <a:pos x="10129" y="97"/>
                </a:cxn>
                <a:cxn ang="0">
                  <a:pos x="11258" y="243"/>
                </a:cxn>
                <a:cxn ang="0">
                  <a:pos x="12306" y="447"/>
                </a:cxn>
                <a:cxn ang="0">
                  <a:pos x="13260" y="705"/>
                </a:cxn>
                <a:cxn ang="0">
                  <a:pos x="14105" y="1010"/>
                </a:cxn>
                <a:cxn ang="0">
                  <a:pos x="14828" y="1358"/>
                </a:cxn>
                <a:cxn ang="0">
                  <a:pos x="15413" y="1745"/>
                </a:cxn>
                <a:cxn ang="0">
                  <a:pos x="15849" y="2163"/>
                </a:cxn>
                <a:cxn ang="0">
                  <a:pos x="16122" y="2609"/>
                </a:cxn>
                <a:cxn ang="0">
                  <a:pos x="16215" y="3077"/>
                </a:cxn>
                <a:cxn ang="0">
                  <a:pos x="16122" y="3545"/>
                </a:cxn>
                <a:cxn ang="0">
                  <a:pos x="15849" y="3991"/>
                </a:cxn>
                <a:cxn ang="0">
                  <a:pos x="15413" y="4409"/>
                </a:cxn>
                <a:cxn ang="0">
                  <a:pos x="14828" y="4796"/>
                </a:cxn>
                <a:cxn ang="0">
                  <a:pos x="14105" y="5144"/>
                </a:cxn>
                <a:cxn ang="0">
                  <a:pos x="13260" y="5449"/>
                </a:cxn>
                <a:cxn ang="0">
                  <a:pos x="12306" y="5707"/>
                </a:cxn>
                <a:cxn ang="0">
                  <a:pos x="11258" y="5911"/>
                </a:cxn>
                <a:cxn ang="0">
                  <a:pos x="10129" y="6057"/>
                </a:cxn>
                <a:cxn ang="0">
                  <a:pos x="8934" y="6138"/>
                </a:cxn>
                <a:cxn ang="0">
                  <a:pos x="7691" y="6150"/>
                </a:cxn>
                <a:cxn ang="0">
                  <a:pos x="6477" y="6091"/>
                </a:cxn>
                <a:cxn ang="0">
                  <a:pos x="5325" y="5967"/>
                </a:cxn>
                <a:cxn ang="0">
                  <a:pos x="4248" y="5781"/>
                </a:cxn>
                <a:cxn ang="0">
                  <a:pos x="3262" y="5542"/>
                </a:cxn>
                <a:cxn ang="0">
                  <a:pos x="2380" y="5252"/>
                </a:cxn>
                <a:cxn ang="0">
                  <a:pos x="1614" y="4916"/>
                </a:cxn>
                <a:cxn ang="0">
                  <a:pos x="981" y="4542"/>
                </a:cxn>
                <a:cxn ang="0">
                  <a:pos x="494" y="4133"/>
                </a:cxn>
                <a:cxn ang="0">
                  <a:pos x="165" y="3696"/>
                </a:cxn>
                <a:cxn ang="0">
                  <a:pos x="10" y="3235"/>
                </a:cxn>
                <a:cxn ang="0">
                  <a:pos x="42" y="2763"/>
                </a:cxn>
                <a:cxn ang="0">
                  <a:pos x="256" y="2310"/>
                </a:cxn>
                <a:cxn ang="0">
                  <a:pos x="638" y="1881"/>
                </a:cxn>
                <a:cxn ang="0">
                  <a:pos x="1177" y="1483"/>
                </a:cxn>
                <a:cxn ang="0">
                  <a:pos x="1856" y="1122"/>
                </a:cxn>
                <a:cxn ang="0">
                  <a:pos x="2661" y="801"/>
                </a:cxn>
                <a:cxn ang="0">
                  <a:pos x="3579" y="527"/>
                </a:cxn>
                <a:cxn ang="0">
                  <a:pos x="4598" y="305"/>
                </a:cxn>
                <a:cxn ang="0">
                  <a:pos x="5701" y="139"/>
                </a:cxn>
                <a:cxn ang="0">
                  <a:pos x="6875" y="36"/>
                </a:cxn>
                <a:cxn ang="0">
                  <a:pos x="8108" y="0"/>
                </a:cxn>
                <a:cxn ang="0">
                  <a:pos x="6158" y="5404"/>
                </a:cxn>
                <a:cxn ang="0">
                  <a:pos x="6381" y="3535"/>
                </a:cxn>
                <a:cxn ang="0">
                  <a:pos x="8154" y="2469"/>
                </a:cxn>
                <a:cxn ang="0">
                  <a:pos x="12688" y="1647"/>
                </a:cxn>
                <a:cxn ang="0">
                  <a:pos x="10617" y="1086"/>
                </a:cxn>
                <a:cxn ang="0">
                  <a:pos x="9647" y="3871"/>
                </a:cxn>
                <a:cxn ang="0">
                  <a:pos x="11195" y="2918"/>
                </a:cxn>
                <a:cxn ang="0">
                  <a:pos x="13547" y="4824"/>
                </a:cxn>
                <a:cxn ang="0">
                  <a:pos x="6773" y="1946"/>
                </a:cxn>
                <a:cxn ang="0">
                  <a:pos x="1325" y="2039"/>
                </a:cxn>
              </a:cxnLst>
              <a:rect l="0" t="0" r="r" b="b"/>
              <a:pathLst>
                <a:path w="16215" h="6154">
                  <a:moveTo>
                    <a:pt x="8108" y="0"/>
                  </a:moveTo>
                  <a:lnTo>
                    <a:pt x="8524" y="4"/>
                  </a:lnTo>
                  <a:lnTo>
                    <a:pt x="8934" y="16"/>
                  </a:lnTo>
                  <a:lnTo>
                    <a:pt x="9340" y="36"/>
                  </a:lnTo>
                  <a:lnTo>
                    <a:pt x="9738" y="63"/>
                  </a:lnTo>
                  <a:lnTo>
                    <a:pt x="10129" y="97"/>
                  </a:lnTo>
                  <a:lnTo>
                    <a:pt x="10513" y="139"/>
                  </a:lnTo>
                  <a:lnTo>
                    <a:pt x="10890" y="187"/>
                  </a:lnTo>
                  <a:lnTo>
                    <a:pt x="11258" y="243"/>
                  </a:lnTo>
                  <a:lnTo>
                    <a:pt x="11617" y="305"/>
                  </a:lnTo>
                  <a:lnTo>
                    <a:pt x="11967" y="373"/>
                  </a:lnTo>
                  <a:lnTo>
                    <a:pt x="12306" y="447"/>
                  </a:lnTo>
                  <a:lnTo>
                    <a:pt x="12636" y="527"/>
                  </a:lnTo>
                  <a:lnTo>
                    <a:pt x="12953" y="613"/>
                  </a:lnTo>
                  <a:lnTo>
                    <a:pt x="13260" y="705"/>
                  </a:lnTo>
                  <a:lnTo>
                    <a:pt x="13554" y="801"/>
                  </a:lnTo>
                  <a:lnTo>
                    <a:pt x="13835" y="902"/>
                  </a:lnTo>
                  <a:lnTo>
                    <a:pt x="14105" y="1010"/>
                  </a:lnTo>
                  <a:lnTo>
                    <a:pt x="14359" y="1122"/>
                  </a:lnTo>
                  <a:lnTo>
                    <a:pt x="14601" y="1237"/>
                  </a:lnTo>
                  <a:lnTo>
                    <a:pt x="14828" y="1358"/>
                  </a:lnTo>
                  <a:lnTo>
                    <a:pt x="15038" y="1483"/>
                  </a:lnTo>
                  <a:lnTo>
                    <a:pt x="15234" y="1612"/>
                  </a:lnTo>
                  <a:lnTo>
                    <a:pt x="15413" y="1745"/>
                  </a:lnTo>
                  <a:lnTo>
                    <a:pt x="15577" y="1881"/>
                  </a:lnTo>
                  <a:lnTo>
                    <a:pt x="15721" y="2021"/>
                  </a:lnTo>
                  <a:lnTo>
                    <a:pt x="15849" y="2163"/>
                  </a:lnTo>
                  <a:lnTo>
                    <a:pt x="15959" y="2310"/>
                  </a:lnTo>
                  <a:lnTo>
                    <a:pt x="16050" y="2458"/>
                  </a:lnTo>
                  <a:lnTo>
                    <a:pt x="16122" y="2609"/>
                  </a:lnTo>
                  <a:lnTo>
                    <a:pt x="16173" y="2763"/>
                  </a:lnTo>
                  <a:lnTo>
                    <a:pt x="16205" y="2919"/>
                  </a:lnTo>
                  <a:lnTo>
                    <a:pt x="16215" y="3077"/>
                  </a:lnTo>
                  <a:lnTo>
                    <a:pt x="16205" y="3235"/>
                  </a:lnTo>
                  <a:lnTo>
                    <a:pt x="16173" y="3391"/>
                  </a:lnTo>
                  <a:lnTo>
                    <a:pt x="16122" y="3545"/>
                  </a:lnTo>
                  <a:lnTo>
                    <a:pt x="16050" y="3696"/>
                  </a:lnTo>
                  <a:lnTo>
                    <a:pt x="15959" y="3844"/>
                  </a:lnTo>
                  <a:lnTo>
                    <a:pt x="15849" y="3991"/>
                  </a:lnTo>
                  <a:lnTo>
                    <a:pt x="15721" y="4133"/>
                  </a:lnTo>
                  <a:lnTo>
                    <a:pt x="15577" y="4273"/>
                  </a:lnTo>
                  <a:lnTo>
                    <a:pt x="15413" y="4409"/>
                  </a:lnTo>
                  <a:lnTo>
                    <a:pt x="15234" y="4542"/>
                  </a:lnTo>
                  <a:lnTo>
                    <a:pt x="15038" y="4671"/>
                  </a:lnTo>
                  <a:lnTo>
                    <a:pt x="14828" y="4796"/>
                  </a:lnTo>
                  <a:lnTo>
                    <a:pt x="14601" y="4916"/>
                  </a:lnTo>
                  <a:lnTo>
                    <a:pt x="14359" y="5032"/>
                  </a:lnTo>
                  <a:lnTo>
                    <a:pt x="14105" y="5144"/>
                  </a:lnTo>
                  <a:lnTo>
                    <a:pt x="13835" y="5252"/>
                  </a:lnTo>
                  <a:lnTo>
                    <a:pt x="13554" y="5353"/>
                  </a:lnTo>
                  <a:lnTo>
                    <a:pt x="13260" y="5449"/>
                  </a:lnTo>
                  <a:lnTo>
                    <a:pt x="12953" y="5542"/>
                  </a:lnTo>
                  <a:lnTo>
                    <a:pt x="12636" y="5627"/>
                  </a:lnTo>
                  <a:lnTo>
                    <a:pt x="12306" y="5707"/>
                  </a:lnTo>
                  <a:lnTo>
                    <a:pt x="11967" y="5781"/>
                  </a:lnTo>
                  <a:lnTo>
                    <a:pt x="11617" y="5849"/>
                  </a:lnTo>
                  <a:lnTo>
                    <a:pt x="11258" y="5911"/>
                  </a:lnTo>
                  <a:lnTo>
                    <a:pt x="10890" y="5967"/>
                  </a:lnTo>
                  <a:lnTo>
                    <a:pt x="10513" y="6015"/>
                  </a:lnTo>
                  <a:lnTo>
                    <a:pt x="10129" y="6057"/>
                  </a:lnTo>
                  <a:lnTo>
                    <a:pt x="9738" y="6091"/>
                  </a:lnTo>
                  <a:lnTo>
                    <a:pt x="9340" y="6118"/>
                  </a:lnTo>
                  <a:lnTo>
                    <a:pt x="8934" y="6138"/>
                  </a:lnTo>
                  <a:lnTo>
                    <a:pt x="8524" y="6150"/>
                  </a:lnTo>
                  <a:lnTo>
                    <a:pt x="8108" y="6154"/>
                  </a:lnTo>
                  <a:lnTo>
                    <a:pt x="7691" y="6150"/>
                  </a:lnTo>
                  <a:lnTo>
                    <a:pt x="7281" y="6138"/>
                  </a:lnTo>
                  <a:lnTo>
                    <a:pt x="6875" y="6118"/>
                  </a:lnTo>
                  <a:lnTo>
                    <a:pt x="6477" y="6091"/>
                  </a:lnTo>
                  <a:lnTo>
                    <a:pt x="6086" y="6057"/>
                  </a:lnTo>
                  <a:lnTo>
                    <a:pt x="5701" y="6015"/>
                  </a:lnTo>
                  <a:lnTo>
                    <a:pt x="5325" y="5967"/>
                  </a:lnTo>
                  <a:lnTo>
                    <a:pt x="4957" y="5911"/>
                  </a:lnTo>
                  <a:lnTo>
                    <a:pt x="4598" y="5849"/>
                  </a:lnTo>
                  <a:lnTo>
                    <a:pt x="4248" y="5781"/>
                  </a:lnTo>
                  <a:lnTo>
                    <a:pt x="3909" y="5707"/>
                  </a:lnTo>
                  <a:lnTo>
                    <a:pt x="3579" y="5627"/>
                  </a:lnTo>
                  <a:lnTo>
                    <a:pt x="3262" y="5542"/>
                  </a:lnTo>
                  <a:lnTo>
                    <a:pt x="2955" y="5449"/>
                  </a:lnTo>
                  <a:lnTo>
                    <a:pt x="2661" y="5353"/>
                  </a:lnTo>
                  <a:lnTo>
                    <a:pt x="2380" y="5252"/>
                  </a:lnTo>
                  <a:lnTo>
                    <a:pt x="2110" y="5144"/>
                  </a:lnTo>
                  <a:lnTo>
                    <a:pt x="1856" y="5032"/>
                  </a:lnTo>
                  <a:lnTo>
                    <a:pt x="1614" y="4916"/>
                  </a:lnTo>
                  <a:lnTo>
                    <a:pt x="1387" y="4796"/>
                  </a:lnTo>
                  <a:lnTo>
                    <a:pt x="1177" y="4671"/>
                  </a:lnTo>
                  <a:lnTo>
                    <a:pt x="981" y="4542"/>
                  </a:lnTo>
                  <a:lnTo>
                    <a:pt x="802" y="4409"/>
                  </a:lnTo>
                  <a:lnTo>
                    <a:pt x="638" y="4273"/>
                  </a:lnTo>
                  <a:lnTo>
                    <a:pt x="494" y="4133"/>
                  </a:lnTo>
                  <a:lnTo>
                    <a:pt x="366" y="3991"/>
                  </a:lnTo>
                  <a:lnTo>
                    <a:pt x="256" y="3844"/>
                  </a:lnTo>
                  <a:lnTo>
                    <a:pt x="165" y="3696"/>
                  </a:lnTo>
                  <a:lnTo>
                    <a:pt x="93" y="3545"/>
                  </a:lnTo>
                  <a:lnTo>
                    <a:pt x="42" y="3391"/>
                  </a:lnTo>
                  <a:lnTo>
                    <a:pt x="10" y="3235"/>
                  </a:lnTo>
                  <a:lnTo>
                    <a:pt x="0" y="3077"/>
                  </a:lnTo>
                  <a:lnTo>
                    <a:pt x="10" y="2919"/>
                  </a:lnTo>
                  <a:lnTo>
                    <a:pt x="42" y="2763"/>
                  </a:lnTo>
                  <a:lnTo>
                    <a:pt x="93" y="2609"/>
                  </a:lnTo>
                  <a:lnTo>
                    <a:pt x="165" y="2458"/>
                  </a:lnTo>
                  <a:lnTo>
                    <a:pt x="256" y="2310"/>
                  </a:lnTo>
                  <a:lnTo>
                    <a:pt x="366" y="2163"/>
                  </a:lnTo>
                  <a:lnTo>
                    <a:pt x="494" y="2021"/>
                  </a:lnTo>
                  <a:lnTo>
                    <a:pt x="638" y="1881"/>
                  </a:lnTo>
                  <a:lnTo>
                    <a:pt x="802" y="1745"/>
                  </a:lnTo>
                  <a:lnTo>
                    <a:pt x="981" y="1612"/>
                  </a:lnTo>
                  <a:lnTo>
                    <a:pt x="1177" y="1483"/>
                  </a:lnTo>
                  <a:lnTo>
                    <a:pt x="1387" y="1358"/>
                  </a:lnTo>
                  <a:lnTo>
                    <a:pt x="1614" y="1237"/>
                  </a:lnTo>
                  <a:lnTo>
                    <a:pt x="1856" y="1122"/>
                  </a:lnTo>
                  <a:lnTo>
                    <a:pt x="2110" y="1010"/>
                  </a:lnTo>
                  <a:lnTo>
                    <a:pt x="2380" y="902"/>
                  </a:lnTo>
                  <a:lnTo>
                    <a:pt x="2661" y="801"/>
                  </a:lnTo>
                  <a:lnTo>
                    <a:pt x="2955" y="705"/>
                  </a:lnTo>
                  <a:lnTo>
                    <a:pt x="3262" y="613"/>
                  </a:lnTo>
                  <a:lnTo>
                    <a:pt x="3579" y="527"/>
                  </a:lnTo>
                  <a:lnTo>
                    <a:pt x="3909" y="447"/>
                  </a:lnTo>
                  <a:lnTo>
                    <a:pt x="4248" y="373"/>
                  </a:lnTo>
                  <a:lnTo>
                    <a:pt x="4598" y="305"/>
                  </a:lnTo>
                  <a:lnTo>
                    <a:pt x="4957" y="243"/>
                  </a:lnTo>
                  <a:lnTo>
                    <a:pt x="5325" y="187"/>
                  </a:lnTo>
                  <a:lnTo>
                    <a:pt x="5701" y="139"/>
                  </a:lnTo>
                  <a:lnTo>
                    <a:pt x="6086" y="97"/>
                  </a:lnTo>
                  <a:lnTo>
                    <a:pt x="6477" y="63"/>
                  </a:lnTo>
                  <a:lnTo>
                    <a:pt x="6875" y="36"/>
                  </a:lnTo>
                  <a:lnTo>
                    <a:pt x="7281" y="16"/>
                  </a:lnTo>
                  <a:lnTo>
                    <a:pt x="7691" y="4"/>
                  </a:lnTo>
                  <a:lnTo>
                    <a:pt x="8108" y="0"/>
                  </a:lnTo>
                  <a:close/>
                  <a:moveTo>
                    <a:pt x="3135" y="4675"/>
                  </a:moveTo>
                  <a:lnTo>
                    <a:pt x="3787" y="5515"/>
                  </a:lnTo>
                  <a:lnTo>
                    <a:pt x="6158" y="5404"/>
                  </a:lnTo>
                  <a:lnTo>
                    <a:pt x="5243" y="5179"/>
                  </a:lnTo>
                  <a:lnTo>
                    <a:pt x="7687" y="3759"/>
                  </a:lnTo>
                  <a:lnTo>
                    <a:pt x="6381" y="3535"/>
                  </a:lnTo>
                  <a:lnTo>
                    <a:pt x="3936" y="4880"/>
                  </a:lnTo>
                  <a:lnTo>
                    <a:pt x="3135" y="4675"/>
                  </a:lnTo>
                  <a:close/>
                  <a:moveTo>
                    <a:pt x="8154" y="2469"/>
                  </a:moveTo>
                  <a:lnTo>
                    <a:pt x="9497" y="2824"/>
                  </a:lnTo>
                  <a:lnTo>
                    <a:pt x="11792" y="1404"/>
                  </a:lnTo>
                  <a:lnTo>
                    <a:pt x="12688" y="1647"/>
                  </a:lnTo>
                  <a:lnTo>
                    <a:pt x="11979" y="767"/>
                  </a:lnTo>
                  <a:lnTo>
                    <a:pt x="9833" y="862"/>
                  </a:lnTo>
                  <a:lnTo>
                    <a:pt x="10617" y="1086"/>
                  </a:lnTo>
                  <a:lnTo>
                    <a:pt x="8154" y="2469"/>
                  </a:lnTo>
                  <a:close/>
                  <a:moveTo>
                    <a:pt x="13547" y="4824"/>
                  </a:moveTo>
                  <a:lnTo>
                    <a:pt x="9647" y="3871"/>
                  </a:lnTo>
                  <a:lnTo>
                    <a:pt x="9068" y="4264"/>
                  </a:lnTo>
                  <a:lnTo>
                    <a:pt x="9012" y="3235"/>
                  </a:lnTo>
                  <a:lnTo>
                    <a:pt x="11195" y="2918"/>
                  </a:lnTo>
                  <a:lnTo>
                    <a:pt x="10561" y="3254"/>
                  </a:lnTo>
                  <a:lnTo>
                    <a:pt x="14516" y="4133"/>
                  </a:lnTo>
                  <a:lnTo>
                    <a:pt x="13547" y="4824"/>
                  </a:lnTo>
                  <a:close/>
                  <a:moveTo>
                    <a:pt x="4534" y="3291"/>
                  </a:moveTo>
                  <a:lnTo>
                    <a:pt x="6885" y="3011"/>
                  </a:lnTo>
                  <a:lnTo>
                    <a:pt x="6773" y="1946"/>
                  </a:lnTo>
                  <a:lnTo>
                    <a:pt x="6176" y="2300"/>
                  </a:lnTo>
                  <a:lnTo>
                    <a:pt x="2463" y="1478"/>
                  </a:lnTo>
                  <a:lnTo>
                    <a:pt x="1325" y="2039"/>
                  </a:lnTo>
                  <a:lnTo>
                    <a:pt x="5019" y="2955"/>
                  </a:lnTo>
                  <a:lnTo>
                    <a:pt x="4534" y="3291"/>
                  </a:lnTo>
                  <a:close/>
                </a:path>
              </a:pathLst>
            </a:custGeom>
            <a:grpFill/>
            <a:ln w="15875">
              <a:noFill/>
              <a:round/>
            </a:ln>
          </p:spPr>
          <p:txBody>
            <a:bodyPr vert="horz" wrap="square" lIns="103142" tIns="51573" rIns="103142" bIns="51573" numCol="1" anchor="t" anchorCtr="0" compatLnSpc="1">
              <a:prstTxWarp prst="textNoShape">
                <a:avLst/>
              </a:prstTxWarp>
            </a:body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sp>
        <p:nvSpPr>
          <p:cNvPr id="570" name="矩形 569"/>
          <p:cNvSpPr/>
          <p:nvPr/>
        </p:nvSpPr>
        <p:spPr bwMode="gray">
          <a:xfrm>
            <a:off x="3081439" y="5612865"/>
            <a:ext cx="246181" cy="430002"/>
          </a:xfrm>
          <a:prstGeom prst="rect">
            <a:avLst/>
          </a:prstGeom>
        </p:spPr>
        <p:txBody>
          <a:bodyPr wrap="none" lIns="121868" tIns="60934" rIns="121868" bIns="60934">
            <a:spAutoFit/>
          </a:bodyPr>
          <a:lstStyle/>
          <a:p>
            <a:pPr defTabSz="1218712" fontAlgn="base">
              <a:lnSpc>
                <a:spcPct val="150000"/>
              </a:lnSpc>
              <a:spcBef>
                <a:spcPts val="800"/>
              </a:spcBef>
              <a:spcAft>
                <a:spcPct val="0"/>
              </a:spcAft>
            </a:pPr>
            <a:endParaRPr lang="en-US" altLang="zh-CN" sz="14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571" name="文本框 570"/>
          <p:cNvSpPr txBox="1"/>
          <p:nvPr/>
        </p:nvSpPr>
        <p:spPr bwMode="gray">
          <a:xfrm>
            <a:off x="2400816" y="5675314"/>
            <a:ext cx="799992" cy="184666"/>
          </a:xfrm>
          <a:prstGeom prst="rect">
            <a:avLst/>
          </a:prstGeom>
          <a:noFill/>
        </p:spPr>
        <p:txBody>
          <a:bodyPr wrap="square" lIns="0" tIns="0" rIns="0" bIns="0" rtlCol="0">
            <a:spAutoFit/>
          </a:bodyPr>
          <a:lstStyle/>
          <a:p>
            <a:pPr algn="ctr" defTabSz="1218712" fontAlgn="base">
              <a:spcBef>
                <a:spcPct val="0"/>
              </a:spcBef>
              <a:spcAft>
                <a:spcPct val="0"/>
              </a:spcAft>
            </a:pPr>
            <a:r>
              <a:rPr lang="en-US" altLang="zh-CN" sz="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分支2</a:t>
            </a:r>
            <a:endParaRPr lang="zh-CN" altLang="en-US" sz="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72" name="Freeform 27"/>
          <p:cNvSpPr>
            <a:spLocks noEditPoints="1"/>
          </p:cNvSpPr>
          <p:nvPr/>
        </p:nvSpPr>
        <p:spPr bwMode="gray">
          <a:xfrm>
            <a:off x="3423973" y="5598959"/>
            <a:ext cx="153315" cy="153311"/>
          </a:xfrm>
          <a:custGeom>
            <a:avLst/>
            <a:gdLst/>
            <a:ahLst/>
            <a:cxnLst>
              <a:cxn ang="0">
                <a:pos x="338" y="346"/>
              </a:cxn>
              <a:cxn ang="0">
                <a:pos x="314" y="416"/>
              </a:cxn>
              <a:cxn ang="0">
                <a:pos x="348" y="484"/>
              </a:cxn>
              <a:cxn ang="0">
                <a:pos x="436" y="504"/>
              </a:cxn>
              <a:cxn ang="0">
                <a:pos x="496" y="458"/>
              </a:cxn>
              <a:cxn ang="0">
                <a:pos x="508" y="410"/>
              </a:cxn>
              <a:cxn ang="0">
                <a:pos x="498" y="366"/>
              </a:cxn>
              <a:cxn ang="0">
                <a:pos x="424" y="314"/>
              </a:cxn>
              <a:cxn ang="0">
                <a:pos x="792" y="250"/>
              </a:cxn>
              <a:cxn ang="0">
                <a:pos x="766" y="224"/>
              </a:cxn>
              <a:cxn ang="0">
                <a:pos x="666" y="240"/>
              </a:cxn>
              <a:cxn ang="0">
                <a:pos x="680" y="128"/>
              </a:cxn>
              <a:cxn ang="0">
                <a:pos x="678" y="98"/>
              </a:cxn>
              <a:cxn ang="0">
                <a:pos x="560" y="24"/>
              </a:cxn>
              <a:cxn ang="0">
                <a:pos x="522" y="38"/>
              </a:cxn>
              <a:cxn ang="0">
                <a:pos x="432" y="104"/>
              </a:cxn>
              <a:cxn ang="0">
                <a:pos x="394" y="10"/>
              </a:cxn>
              <a:cxn ang="0">
                <a:pos x="250" y="30"/>
              </a:cxn>
              <a:cxn ang="0">
                <a:pos x="226" y="62"/>
              </a:cxn>
              <a:cxn ang="0">
                <a:pos x="240" y="152"/>
              </a:cxn>
              <a:cxn ang="0">
                <a:pos x="130" y="142"/>
              </a:cxn>
              <a:cxn ang="0">
                <a:pos x="90" y="152"/>
              </a:cxn>
              <a:cxn ang="0">
                <a:pos x="24" y="272"/>
              </a:cxn>
              <a:cxn ang="0">
                <a:pos x="38" y="300"/>
              </a:cxn>
              <a:cxn ang="0">
                <a:pos x="100" y="392"/>
              </a:cxn>
              <a:cxn ang="0">
                <a:pos x="6" y="432"/>
              </a:cxn>
              <a:cxn ang="0">
                <a:pos x="32" y="572"/>
              </a:cxn>
              <a:cxn ang="0">
                <a:pos x="58" y="596"/>
              </a:cxn>
              <a:cxn ang="0">
                <a:pos x="148" y="582"/>
              </a:cxn>
              <a:cxn ang="0">
                <a:pos x="144" y="692"/>
              </a:cxn>
              <a:cxn ang="0">
                <a:pos x="144" y="724"/>
              </a:cxn>
              <a:cxn ang="0">
                <a:pos x="262" y="796"/>
              </a:cxn>
              <a:cxn ang="0">
                <a:pos x="302" y="782"/>
              </a:cxn>
              <a:cxn ang="0">
                <a:pos x="394" y="724"/>
              </a:cxn>
              <a:cxn ang="0">
                <a:pos x="428" y="810"/>
              </a:cxn>
              <a:cxn ang="0">
                <a:pos x="572" y="790"/>
              </a:cxn>
              <a:cxn ang="0">
                <a:pos x="598" y="758"/>
              </a:cxn>
              <a:cxn ang="0">
                <a:pos x="582" y="670"/>
              </a:cxn>
              <a:cxn ang="0">
                <a:pos x="694" y="678"/>
              </a:cxn>
              <a:cxn ang="0">
                <a:pos x="734" y="670"/>
              </a:cxn>
              <a:cxn ang="0">
                <a:pos x="798" y="548"/>
              </a:cxn>
              <a:cxn ang="0">
                <a:pos x="784" y="520"/>
              </a:cxn>
              <a:cxn ang="0">
                <a:pos x="718" y="430"/>
              </a:cxn>
              <a:cxn ang="0">
                <a:pos x="816" y="388"/>
              </a:cxn>
              <a:cxn ang="0">
                <a:pos x="822" y="360"/>
              </a:cxn>
              <a:cxn ang="0">
                <a:pos x="404" y="576"/>
              </a:cxn>
              <a:cxn ang="0">
                <a:pos x="328" y="554"/>
              </a:cxn>
              <a:cxn ang="0">
                <a:pos x="272" y="498"/>
              </a:cxn>
              <a:cxn ang="0">
                <a:pos x="248" y="436"/>
              </a:cxn>
              <a:cxn ang="0">
                <a:pos x="254" y="358"/>
              </a:cxn>
              <a:cxn ang="0">
                <a:pos x="288" y="300"/>
              </a:cxn>
              <a:cxn ang="0">
                <a:pos x="352" y="256"/>
              </a:cxn>
              <a:cxn ang="0">
                <a:pos x="418" y="244"/>
              </a:cxn>
              <a:cxn ang="0">
                <a:pos x="494" y="266"/>
              </a:cxn>
              <a:cxn ang="0">
                <a:pos x="552" y="322"/>
              </a:cxn>
              <a:cxn ang="0">
                <a:pos x="574" y="384"/>
              </a:cxn>
              <a:cxn ang="0">
                <a:pos x="568" y="464"/>
              </a:cxn>
              <a:cxn ang="0">
                <a:pos x="526" y="530"/>
              </a:cxn>
              <a:cxn ang="0">
                <a:pos x="454" y="570"/>
              </a:cxn>
            </a:cxnLst>
            <a:rect l="0" t="0" r="r" b="b"/>
            <a:pathLst>
              <a:path w="822" h="822">
                <a:moveTo>
                  <a:pt x="386" y="316"/>
                </a:moveTo>
                <a:lnTo>
                  <a:pt x="386" y="316"/>
                </a:lnTo>
                <a:lnTo>
                  <a:pt x="368" y="322"/>
                </a:lnTo>
                <a:lnTo>
                  <a:pt x="352" y="332"/>
                </a:lnTo>
                <a:lnTo>
                  <a:pt x="338" y="346"/>
                </a:lnTo>
                <a:lnTo>
                  <a:pt x="326" y="362"/>
                </a:lnTo>
                <a:lnTo>
                  <a:pt x="326" y="362"/>
                </a:lnTo>
                <a:lnTo>
                  <a:pt x="320" y="380"/>
                </a:lnTo>
                <a:lnTo>
                  <a:pt x="314" y="398"/>
                </a:lnTo>
                <a:lnTo>
                  <a:pt x="314" y="416"/>
                </a:lnTo>
                <a:lnTo>
                  <a:pt x="318" y="436"/>
                </a:lnTo>
                <a:lnTo>
                  <a:pt x="318" y="436"/>
                </a:lnTo>
                <a:lnTo>
                  <a:pt x="324" y="454"/>
                </a:lnTo>
                <a:lnTo>
                  <a:pt x="334" y="470"/>
                </a:lnTo>
                <a:lnTo>
                  <a:pt x="348" y="484"/>
                </a:lnTo>
                <a:lnTo>
                  <a:pt x="362" y="494"/>
                </a:lnTo>
                <a:lnTo>
                  <a:pt x="380" y="502"/>
                </a:lnTo>
                <a:lnTo>
                  <a:pt x="398" y="506"/>
                </a:lnTo>
                <a:lnTo>
                  <a:pt x="418" y="508"/>
                </a:lnTo>
                <a:lnTo>
                  <a:pt x="436" y="504"/>
                </a:lnTo>
                <a:lnTo>
                  <a:pt x="436" y="504"/>
                </a:lnTo>
                <a:lnTo>
                  <a:pt x="454" y="498"/>
                </a:lnTo>
                <a:lnTo>
                  <a:pt x="470" y="488"/>
                </a:lnTo>
                <a:lnTo>
                  <a:pt x="484" y="474"/>
                </a:lnTo>
                <a:lnTo>
                  <a:pt x="496" y="458"/>
                </a:lnTo>
                <a:lnTo>
                  <a:pt x="496" y="458"/>
                </a:lnTo>
                <a:lnTo>
                  <a:pt x="502" y="448"/>
                </a:lnTo>
                <a:lnTo>
                  <a:pt x="506" y="436"/>
                </a:lnTo>
                <a:lnTo>
                  <a:pt x="508" y="422"/>
                </a:lnTo>
                <a:lnTo>
                  <a:pt x="508" y="410"/>
                </a:lnTo>
                <a:lnTo>
                  <a:pt x="508" y="410"/>
                </a:lnTo>
                <a:lnTo>
                  <a:pt x="508" y="398"/>
                </a:lnTo>
                <a:lnTo>
                  <a:pt x="506" y="386"/>
                </a:lnTo>
                <a:lnTo>
                  <a:pt x="506" y="386"/>
                </a:lnTo>
                <a:lnTo>
                  <a:pt x="498" y="366"/>
                </a:lnTo>
                <a:lnTo>
                  <a:pt x="488" y="350"/>
                </a:lnTo>
                <a:lnTo>
                  <a:pt x="476" y="336"/>
                </a:lnTo>
                <a:lnTo>
                  <a:pt x="460" y="326"/>
                </a:lnTo>
                <a:lnTo>
                  <a:pt x="444" y="318"/>
                </a:lnTo>
                <a:lnTo>
                  <a:pt x="424" y="314"/>
                </a:lnTo>
                <a:lnTo>
                  <a:pt x="406" y="312"/>
                </a:lnTo>
                <a:lnTo>
                  <a:pt x="386" y="316"/>
                </a:lnTo>
                <a:lnTo>
                  <a:pt x="386" y="316"/>
                </a:lnTo>
                <a:close/>
                <a:moveTo>
                  <a:pt x="822" y="360"/>
                </a:moveTo>
                <a:lnTo>
                  <a:pt x="792" y="250"/>
                </a:lnTo>
                <a:lnTo>
                  <a:pt x="792" y="250"/>
                </a:lnTo>
                <a:lnTo>
                  <a:pt x="790" y="244"/>
                </a:lnTo>
                <a:lnTo>
                  <a:pt x="786" y="238"/>
                </a:lnTo>
                <a:lnTo>
                  <a:pt x="778" y="230"/>
                </a:lnTo>
                <a:lnTo>
                  <a:pt x="766" y="224"/>
                </a:lnTo>
                <a:lnTo>
                  <a:pt x="760" y="224"/>
                </a:lnTo>
                <a:lnTo>
                  <a:pt x="752" y="224"/>
                </a:lnTo>
                <a:lnTo>
                  <a:pt x="752" y="224"/>
                </a:lnTo>
                <a:lnTo>
                  <a:pt x="666" y="240"/>
                </a:lnTo>
                <a:lnTo>
                  <a:pt x="666" y="240"/>
                </a:lnTo>
                <a:lnTo>
                  <a:pt x="654" y="224"/>
                </a:lnTo>
                <a:lnTo>
                  <a:pt x="642" y="208"/>
                </a:lnTo>
                <a:lnTo>
                  <a:pt x="642" y="208"/>
                </a:lnTo>
                <a:lnTo>
                  <a:pt x="680" y="128"/>
                </a:lnTo>
                <a:lnTo>
                  <a:pt x="680" y="128"/>
                </a:lnTo>
                <a:lnTo>
                  <a:pt x="682" y="122"/>
                </a:lnTo>
                <a:lnTo>
                  <a:pt x="682" y="114"/>
                </a:lnTo>
                <a:lnTo>
                  <a:pt x="682" y="114"/>
                </a:lnTo>
                <a:lnTo>
                  <a:pt x="682" y="106"/>
                </a:lnTo>
                <a:lnTo>
                  <a:pt x="678" y="98"/>
                </a:lnTo>
                <a:lnTo>
                  <a:pt x="672" y="90"/>
                </a:lnTo>
                <a:lnTo>
                  <a:pt x="666" y="84"/>
                </a:lnTo>
                <a:lnTo>
                  <a:pt x="566" y="28"/>
                </a:lnTo>
                <a:lnTo>
                  <a:pt x="566" y="28"/>
                </a:lnTo>
                <a:lnTo>
                  <a:pt x="560" y="24"/>
                </a:lnTo>
                <a:lnTo>
                  <a:pt x="554" y="24"/>
                </a:lnTo>
                <a:lnTo>
                  <a:pt x="542" y="24"/>
                </a:lnTo>
                <a:lnTo>
                  <a:pt x="530" y="28"/>
                </a:lnTo>
                <a:lnTo>
                  <a:pt x="526" y="32"/>
                </a:lnTo>
                <a:lnTo>
                  <a:pt x="522" y="38"/>
                </a:lnTo>
                <a:lnTo>
                  <a:pt x="522" y="38"/>
                </a:lnTo>
                <a:lnTo>
                  <a:pt x="472" y="108"/>
                </a:lnTo>
                <a:lnTo>
                  <a:pt x="472" y="108"/>
                </a:lnTo>
                <a:lnTo>
                  <a:pt x="452" y="106"/>
                </a:lnTo>
                <a:lnTo>
                  <a:pt x="432" y="104"/>
                </a:lnTo>
                <a:lnTo>
                  <a:pt x="432" y="104"/>
                </a:lnTo>
                <a:lnTo>
                  <a:pt x="402" y="22"/>
                </a:lnTo>
                <a:lnTo>
                  <a:pt x="402" y="22"/>
                </a:lnTo>
                <a:lnTo>
                  <a:pt x="398" y="16"/>
                </a:lnTo>
                <a:lnTo>
                  <a:pt x="394" y="10"/>
                </a:lnTo>
                <a:lnTo>
                  <a:pt x="386" y="4"/>
                </a:lnTo>
                <a:lnTo>
                  <a:pt x="374" y="0"/>
                </a:lnTo>
                <a:lnTo>
                  <a:pt x="366" y="0"/>
                </a:lnTo>
                <a:lnTo>
                  <a:pt x="360" y="0"/>
                </a:lnTo>
                <a:lnTo>
                  <a:pt x="250" y="30"/>
                </a:lnTo>
                <a:lnTo>
                  <a:pt x="250" y="30"/>
                </a:lnTo>
                <a:lnTo>
                  <a:pt x="240" y="34"/>
                </a:lnTo>
                <a:lnTo>
                  <a:pt x="232" y="42"/>
                </a:lnTo>
                <a:lnTo>
                  <a:pt x="228" y="52"/>
                </a:lnTo>
                <a:lnTo>
                  <a:pt x="226" y="62"/>
                </a:lnTo>
                <a:lnTo>
                  <a:pt x="226" y="62"/>
                </a:lnTo>
                <a:lnTo>
                  <a:pt x="226" y="68"/>
                </a:lnTo>
                <a:lnTo>
                  <a:pt x="226" y="68"/>
                </a:lnTo>
                <a:lnTo>
                  <a:pt x="240" y="152"/>
                </a:lnTo>
                <a:lnTo>
                  <a:pt x="240" y="152"/>
                </a:lnTo>
                <a:lnTo>
                  <a:pt x="222" y="164"/>
                </a:lnTo>
                <a:lnTo>
                  <a:pt x="206" y="178"/>
                </a:lnTo>
                <a:lnTo>
                  <a:pt x="206" y="178"/>
                </a:lnTo>
                <a:lnTo>
                  <a:pt x="130" y="142"/>
                </a:lnTo>
                <a:lnTo>
                  <a:pt x="130" y="142"/>
                </a:lnTo>
                <a:lnTo>
                  <a:pt x="124" y="140"/>
                </a:lnTo>
                <a:lnTo>
                  <a:pt x="118" y="140"/>
                </a:lnTo>
                <a:lnTo>
                  <a:pt x="104" y="140"/>
                </a:lnTo>
                <a:lnTo>
                  <a:pt x="94" y="146"/>
                </a:lnTo>
                <a:lnTo>
                  <a:pt x="90" y="152"/>
                </a:lnTo>
                <a:lnTo>
                  <a:pt x="86" y="156"/>
                </a:lnTo>
                <a:lnTo>
                  <a:pt x="28" y="256"/>
                </a:lnTo>
                <a:lnTo>
                  <a:pt x="28" y="256"/>
                </a:lnTo>
                <a:lnTo>
                  <a:pt x="26" y="264"/>
                </a:lnTo>
                <a:lnTo>
                  <a:pt x="24" y="272"/>
                </a:lnTo>
                <a:lnTo>
                  <a:pt x="24" y="272"/>
                </a:lnTo>
                <a:lnTo>
                  <a:pt x="26" y="280"/>
                </a:lnTo>
                <a:lnTo>
                  <a:pt x="28" y="288"/>
                </a:lnTo>
                <a:lnTo>
                  <a:pt x="32" y="294"/>
                </a:lnTo>
                <a:lnTo>
                  <a:pt x="38" y="300"/>
                </a:lnTo>
                <a:lnTo>
                  <a:pt x="38" y="300"/>
                </a:lnTo>
                <a:lnTo>
                  <a:pt x="106" y="346"/>
                </a:lnTo>
                <a:lnTo>
                  <a:pt x="106" y="346"/>
                </a:lnTo>
                <a:lnTo>
                  <a:pt x="102" y="370"/>
                </a:lnTo>
                <a:lnTo>
                  <a:pt x="100" y="392"/>
                </a:lnTo>
                <a:lnTo>
                  <a:pt x="100" y="392"/>
                </a:lnTo>
                <a:lnTo>
                  <a:pt x="22" y="420"/>
                </a:lnTo>
                <a:lnTo>
                  <a:pt x="22" y="420"/>
                </a:lnTo>
                <a:lnTo>
                  <a:pt x="14" y="426"/>
                </a:lnTo>
                <a:lnTo>
                  <a:pt x="6" y="432"/>
                </a:lnTo>
                <a:lnTo>
                  <a:pt x="2" y="442"/>
                </a:lnTo>
                <a:lnTo>
                  <a:pt x="0" y="452"/>
                </a:lnTo>
                <a:lnTo>
                  <a:pt x="0" y="452"/>
                </a:lnTo>
                <a:lnTo>
                  <a:pt x="2" y="462"/>
                </a:lnTo>
                <a:lnTo>
                  <a:pt x="32" y="572"/>
                </a:lnTo>
                <a:lnTo>
                  <a:pt x="32" y="572"/>
                </a:lnTo>
                <a:lnTo>
                  <a:pt x="34" y="578"/>
                </a:lnTo>
                <a:lnTo>
                  <a:pt x="36" y="582"/>
                </a:lnTo>
                <a:lnTo>
                  <a:pt x="46" y="590"/>
                </a:lnTo>
                <a:lnTo>
                  <a:pt x="58" y="596"/>
                </a:lnTo>
                <a:lnTo>
                  <a:pt x="64" y="596"/>
                </a:lnTo>
                <a:lnTo>
                  <a:pt x="70" y="596"/>
                </a:lnTo>
                <a:lnTo>
                  <a:pt x="70" y="596"/>
                </a:lnTo>
                <a:lnTo>
                  <a:pt x="148" y="582"/>
                </a:lnTo>
                <a:lnTo>
                  <a:pt x="148" y="582"/>
                </a:lnTo>
                <a:lnTo>
                  <a:pt x="162" y="602"/>
                </a:lnTo>
                <a:lnTo>
                  <a:pt x="178" y="620"/>
                </a:lnTo>
                <a:lnTo>
                  <a:pt x="178" y="620"/>
                </a:lnTo>
                <a:lnTo>
                  <a:pt x="144" y="692"/>
                </a:lnTo>
                <a:lnTo>
                  <a:pt x="144" y="692"/>
                </a:lnTo>
                <a:lnTo>
                  <a:pt x="142" y="700"/>
                </a:lnTo>
                <a:lnTo>
                  <a:pt x="140" y="706"/>
                </a:lnTo>
                <a:lnTo>
                  <a:pt x="140" y="706"/>
                </a:lnTo>
                <a:lnTo>
                  <a:pt x="142" y="716"/>
                </a:lnTo>
                <a:lnTo>
                  <a:pt x="144" y="724"/>
                </a:lnTo>
                <a:lnTo>
                  <a:pt x="150" y="730"/>
                </a:lnTo>
                <a:lnTo>
                  <a:pt x="158" y="736"/>
                </a:lnTo>
                <a:lnTo>
                  <a:pt x="256" y="792"/>
                </a:lnTo>
                <a:lnTo>
                  <a:pt x="256" y="792"/>
                </a:lnTo>
                <a:lnTo>
                  <a:pt x="262" y="796"/>
                </a:lnTo>
                <a:lnTo>
                  <a:pt x="268" y="798"/>
                </a:lnTo>
                <a:lnTo>
                  <a:pt x="280" y="796"/>
                </a:lnTo>
                <a:lnTo>
                  <a:pt x="292" y="792"/>
                </a:lnTo>
                <a:lnTo>
                  <a:pt x="296" y="788"/>
                </a:lnTo>
                <a:lnTo>
                  <a:pt x="302" y="782"/>
                </a:lnTo>
                <a:lnTo>
                  <a:pt x="302" y="782"/>
                </a:lnTo>
                <a:lnTo>
                  <a:pt x="348" y="718"/>
                </a:lnTo>
                <a:lnTo>
                  <a:pt x="348" y="718"/>
                </a:lnTo>
                <a:lnTo>
                  <a:pt x="370" y="722"/>
                </a:lnTo>
                <a:lnTo>
                  <a:pt x="394" y="724"/>
                </a:lnTo>
                <a:lnTo>
                  <a:pt x="394" y="724"/>
                </a:lnTo>
                <a:lnTo>
                  <a:pt x="422" y="798"/>
                </a:lnTo>
                <a:lnTo>
                  <a:pt x="422" y="798"/>
                </a:lnTo>
                <a:lnTo>
                  <a:pt x="424" y="804"/>
                </a:lnTo>
                <a:lnTo>
                  <a:pt x="428" y="810"/>
                </a:lnTo>
                <a:lnTo>
                  <a:pt x="438" y="818"/>
                </a:lnTo>
                <a:lnTo>
                  <a:pt x="450" y="820"/>
                </a:lnTo>
                <a:lnTo>
                  <a:pt x="456" y="822"/>
                </a:lnTo>
                <a:lnTo>
                  <a:pt x="462" y="820"/>
                </a:lnTo>
                <a:lnTo>
                  <a:pt x="572" y="790"/>
                </a:lnTo>
                <a:lnTo>
                  <a:pt x="572" y="790"/>
                </a:lnTo>
                <a:lnTo>
                  <a:pt x="582" y="786"/>
                </a:lnTo>
                <a:lnTo>
                  <a:pt x="590" y="778"/>
                </a:lnTo>
                <a:lnTo>
                  <a:pt x="596" y="768"/>
                </a:lnTo>
                <a:lnTo>
                  <a:pt x="598" y="758"/>
                </a:lnTo>
                <a:lnTo>
                  <a:pt x="598" y="758"/>
                </a:lnTo>
                <a:lnTo>
                  <a:pt x="596" y="752"/>
                </a:lnTo>
                <a:lnTo>
                  <a:pt x="596" y="752"/>
                </a:lnTo>
                <a:lnTo>
                  <a:pt x="582" y="670"/>
                </a:lnTo>
                <a:lnTo>
                  <a:pt x="582" y="670"/>
                </a:lnTo>
                <a:lnTo>
                  <a:pt x="600" y="658"/>
                </a:lnTo>
                <a:lnTo>
                  <a:pt x="618" y="642"/>
                </a:lnTo>
                <a:lnTo>
                  <a:pt x="618" y="642"/>
                </a:lnTo>
                <a:lnTo>
                  <a:pt x="694" y="678"/>
                </a:lnTo>
                <a:lnTo>
                  <a:pt x="694" y="678"/>
                </a:lnTo>
                <a:lnTo>
                  <a:pt x="700" y="680"/>
                </a:lnTo>
                <a:lnTo>
                  <a:pt x="706" y="682"/>
                </a:lnTo>
                <a:lnTo>
                  <a:pt x="718" y="680"/>
                </a:lnTo>
                <a:lnTo>
                  <a:pt x="728" y="674"/>
                </a:lnTo>
                <a:lnTo>
                  <a:pt x="734" y="670"/>
                </a:lnTo>
                <a:lnTo>
                  <a:pt x="738" y="664"/>
                </a:lnTo>
                <a:lnTo>
                  <a:pt x="794" y="566"/>
                </a:lnTo>
                <a:lnTo>
                  <a:pt x="794" y="566"/>
                </a:lnTo>
                <a:lnTo>
                  <a:pt x="798" y="558"/>
                </a:lnTo>
                <a:lnTo>
                  <a:pt x="798" y="548"/>
                </a:lnTo>
                <a:lnTo>
                  <a:pt x="798" y="548"/>
                </a:lnTo>
                <a:lnTo>
                  <a:pt x="798" y="540"/>
                </a:lnTo>
                <a:lnTo>
                  <a:pt x="794" y="532"/>
                </a:lnTo>
                <a:lnTo>
                  <a:pt x="790" y="526"/>
                </a:lnTo>
                <a:lnTo>
                  <a:pt x="784" y="520"/>
                </a:lnTo>
                <a:lnTo>
                  <a:pt x="784" y="520"/>
                </a:lnTo>
                <a:lnTo>
                  <a:pt x="712" y="470"/>
                </a:lnTo>
                <a:lnTo>
                  <a:pt x="712" y="470"/>
                </a:lnTo>
                <a:lnTo>
                  <a:pt x="716" y="450"/>
                </a:lnTo>
                <a:lnTo>
                  <a:pt x="718" y="430"/>
                </a:lnTo>
                <a:lnTo>
                  <a:pt x="718" y="430"/>
                </a:lnTo>
                <a:lnTo>
                  <a:pt x="800" y="400"/>
                </a:lnTo>
                <a:lnTo>
                  <a:pt x="800" y="400"/>
                </a:lnTo>
                <a:lnTo>
                  <a:pt x="810" y="396"/>
                </a:lnTo>
                <a:lnTo>
                  <a:pt x="816" y="388"/>
                </a:lnTo>
                <a:lnTo>
                  <a:pt x="820" y="378"/>
                </a:lnTo>
                <a:lnTo>
                  <a:pt x="822" y="368"/>
                </a:lnTo>
                <a:lnTo>
                  <a:pt x="822" y="368"/>
                </a:lnTo>
                <a:lnTo>
                  <a:pt x="822" y="360"/>
                </a:lnTo>
                <a:lnTo>
                  <a:pt x="822" y="360"/>
                </a:lnTo>
                <a:close/>
                <a:moveTo>
                  <a:pt x="454" y="570"/>
                </a:moveTo>
                <a:lnTo>
                  <a:pt x="454" y="570"/>
                </a:lnTo>
                <a:lnTo>
                  <a:pt x="438" y="574"/>
                </a:lnTo>
                <a:lnTo>
                  <a:pt x="422" y="576"/>
                </a:lnTo>
                <a:lnTo>
                  <a:pt x="404" y="576"/>
                </a:lnTo>
                <a:lnTo>
                  <a:pt x="388" y="574"/>
                </a:lnTo>
                <a:lnTo>
                  <a:pt x="372" y="572"/>
                </a:lnTo>
                <a:lnTo>
                  <a:pt x="358" y="566"/>
                </a:lnTo>
                <a:lnTo>
                  <a:pt x="342" y="560"/>
                </a:lnTo>
                <a:lnTo>
                  <a:pt x="328" y="554"/>
                </a:lnTo>
                <a:lnTo>
                  <a:pt x="316" y="544"/>
                </a:lnTo>
                <a:lnTo>
                  <a:pt x="302" y="536"/>
                </a:lnTo>
                <a:lnTo>
                  <a:pt x="292" y="524"/>
                </a:lnTo>
                <a:lnTo>
                  <a:pt x="280" y="512"/>
                </a:lnTo>
                <a:lnTo>
                  <a:pt x="272" y="498"/>
                </a:lnTo>
                <a:lnTo>
                  <a:pt x="264" y="484"/>
                </a:lnTo>
                <a:lnTo>
                  <a:pt x="256" y="470"/>
                </a:lnTo>
                <a:lnTo>
                  <a:pt x="252" y="454"/>
                </a:lnTo>
                <a:lnTo>
                  <a:pt x="252" y="454"/>
                </a:lnTo>
                <a:lnTo>
                  <a:pt x="248" y="436"/>
                </a:lnTo>
                <a:lnTo>
                  <a:pt x="246" y="420"/>
                </a:lnTo>
                <a:lnTo>
                  <a:pt x="246" y="404"/>
                </a:lnTo>
                <a:lnTo>
                  <a:pt x="248" y="388"/>
                </a:lnTo>
                <a:lnTo>
                  <a:pt x="250" y="372"/>
                </a:lnTo>
                <a:lnTo>
                  <a:pt x="254" y="358"/>
                </a:lnTo>
                <a:lnTo>
                  <a:pt x="260" y="342"/>
                </a:lnTo>
                <a:lnTo>
                  <a:pt x="268" y="328"/>
                </a:lnTo>
                <a:lnTo>
                  <a:pt x="268" y="328"/>
                </a:lnTo>
                <a:lnTo>
                  <a:pt x="276" y="314"/>
                </a:lnTo>
                <a:lnTo>
                  <a:pt x="288" y="300"/>
                </a:lnTo>
                <a:lnTo>
                  <a:pt x="298" y="290"/>
                </a:lnTo>
                <a:lnTo>
                  <a:pt x="310" y="278"/>
                </a:lnTo>
                <a:lnTo>
                  <a:pt x="324" y="270"/>
                </a:lnTo>
                <a:lnTo>
                  <a:pt x="338" y="262"/>
                </a:lnTo>
                <a:lnTo>
                  <a:pt x="352" y="256"/>
                </a:lnTo>
                <a:lnTo>
                  <a:pt x="368" y="250"/>
                </a:lnTo>
                <a:lnTo>
                  <a:pt x="368" y="250"/>
                </a:lnTo>
                <a:lnTo>
                  <a:pt x="386" y="246"/>
                </a:lnTo>
                <a:lnTo>
                  <a:pt x="402" y="246"/>
                </a:lnTo>
                <a:lnTo>
                  <a:pt x="418" y="244"/>
                </a:lnTo>
                <a:lnTo>
                  <a:pt x="434" y="246"/>
                </a:lnTo>
                <a:lnTo>
                  <a:pt x="450" y="250"/>
                </a:lnTo>
                <a:lnTo>
                  <a:pt x="466" y="254"/>
                </a:lnTo>
                <a:lnTo>
                  <a:pt x="480" y="260"/>
                </a:lnTo>
                <a:lnTo>
                  <a:pt x="494" y="266"/>
                </a:lnTo>
                <a:lnTo>
                  <a:pt x="508" y="276"/>
                </a:lnTo>
                <a:lnTo>
                  <a:pt x="520" y="286"/>
                </a:lnTo>
                <a:lnTo>
                  <a:pt x="532" y="296"/>
                </a:lnTo>
                <a:lnTo>
                  <a:pt x="542" y="308"/>
                </a:lnTo>
                <a:lnTo>
                  <a:pt x="552" y="322"/>
                </a:lnTo>
                <a:lnTo>
                  <a:pt x="560" y="336"/>
                </a:lnTo>
                <a:lnTo>
                  <a:pt x="566" y="352"/>
                </a:lnTo>
                <a:lnTo>
                  <a:pt x="572" y="368"/>
                </a:lnTo>
                <a:lnTo>
                  <a:pt x="572" y="368"/>
                </a:lnTo>
                <a:lnTo>
                  <a:pt x="574" y="384"/>
                </a:lnTo>
                <a:lnTo>
                  <a:pt x="576" y="400"/>
                </a:lnTo>
                <a:lnTo>
                  <a:pt x="576" y="416"/>
                </a:lnTo>
                <a:lnTo>
                  <a:pt x="576" y="432"/>
                </a:lnTo>
                <a:lnTo>
                  <a:pt x="572" y="448"/>
                </a:lnTo>
                <a:lnTo>
                  <a:pt x="568" y="464"/>
                </a:lnTo>
                <a:lnTo>
                  <a:pt x="562" y="478"/>
                </a:lnTo>
                <a:lnTo>
                  <a:pt x="554" y="492"/>
                </a:lnTo>
                <a:lnTo>
                  <a:pt x="546" y="506"/>
                </a:lnTo>
                <a:lnTo>
                  <a:pt x="536" y="518"/>
                </a:lnTo>
                <a:lnTo>
                  <a:pt x="526" y="530"/>
                </a:lnTo>
                <a:lnTo>
                  <a:pt x="512" y="540"/>
                </a:lnTo>
                <a:lnTo>
                  <a:pt x="500" y="550"/>
                </a:lnTo>
                <a:lnTo>
                  <a:pt x="486" y="558"/>
                </a:lnTo>
                <a:lnTo>
                  <a:pt x="470" y="564"/>
                </a:lnTo>
                <a:lnTo>
                  <a:pt x="454" y="570"/>
                </a:lnTo>
                <a:lnTo>
                  <a:pt x="454" y="570"/>
                </a:lnTo>
                <a:close/>
              </a:path>
            </a:pathLst>
          </a:custGeom>
          <a:solidFill>
            <a:srgbClr val="26B7C8"/>
          </a:solidFill>
          <a:ln w="9525">
            <a:noFill/>
            <a:round/>
          </a:ln>
        </p:spPr>
        <p:txBody>
          <a:bodyPr vert="horz" wrap="square" lIns="121864" tIns="60933" rIns="121864" bIns="60933" numCol="1" anchor="t" anchorCtr="0" compatLnSpc="1">
            <a:prstTxWarp prst="textNoShape">
              <a:avLst/>
            </a:prstTxWarp>
          </a:bodyPr>
          <a:lstStyle/>
          <a:p>
            <a:pPr defTabSz="1218712" fontAlgn="base">
              <a:spcBef>
                <a:spcPct val="0"/>
              </a:spcBef>
              <a:spcAft>
                <a:spcPct val="0"/>
              </a:spcAft>
            </a:pPr>
            <a:endParaRPr lang="zh-CN" altLang="en-US" sz="3198">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73" name="文本框 572"/>
          <p:cNvSpPr txBox="1"/>
          <p:nvPr/>
        </p:nvSpPr>
        <p:spPr bwMode="gray">
          <a:xfrm>
            <a:off x="5186993" y="4417724"/>
            <a:ext cx="1578018" cy="213421"/>
          </a:xfrm>
          <a:prstGeom prst="rect">
            <a:avLst/>
          </a:prstGeom>
          <a:noFill/>
        </p:spPr>
        <p:txBody>
          <a:bodyPr wrap="square" lIns="0" tIns="0" rIns="0" bIns="0" rtlCol="0">
            <a:spAutoFit/>
          </a:bodyPr>
          <a:lstStyle/>
          <a:p>
            <a:pPr algn="ctr" defTabSz="1218712" fontAlgn="base">
              <a:spcBef>
                <a:spcPct val="0"/>
              </a:spcBef>
              <a:spcAft>
                <a:spcPct val="0"/>
              </a:spcAft>
            </a:pPr>
            <a:r>
              <a:rPr lang="en-US" altLang="zh-CN" sz="1399" b="1" dirty="0" err="1">
                <a:solidFill>
                  <a:prstClr val="white"/>
                </a:solidFill>
                <a:latin typeface="Huawei Sans" panose="020C0503030203020204" pitchFamily="34" charset="0"/>
                <a:ea typeface="方正兰亭黑简体" panose="02000000000000000000" pitchFamily="2" charset="-122"/>
                <a:cs typeface="Huawei Sans" panose="020C0503030203020204" pitchFamily="34" charset="0"/>
              </a:rPr>
              <a:t>混合WAN</a:t>
            </a:r>
            <a:endParaRPr lang="zh-CN" altLang="en-US" sz="1399" b="1"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574" name="组合 573"/>
          <p:cNvGrpSpPr/>
          <p:nvPr/>
        </p:nvGrpSpPr>
        <p:grpSpPr bwMode="gray">
          <a:xfrm>
            <a:off x="3479006" y="5635366"/>
            <a:ext cx="745951" cy="68864"/>
            <a:chOff x="3478964" y="5781069"/>
            <a:chExt cx="746415" cy="92683"/>
          </a:xfrm>
        </p:grpSpPr>
        <p:sp>
          <p:nvSpPr>
            <p:cNvPr id="708" name="Shape 449"/>
            <p:cNvSpPr/>
            <p:nvPr/>
          </p:nvSpPr>
          <p:spPr bwMode="gray">
            <a:xfrm>
              <a:off x="3541303" y="5781069"/>
              <a:ext cx="684076" cy="0"/>
            </a:xfrm>
            <a:prstGeom prst="line">
              <a:avLst/>
            </a:prstGeom>
            <a:noFill/>
            <a:ln w="9525" cap="flat">
              <a:solidFill>
                <a:srgbClr val="26B7C8">
                  <a:alpha val="78000"/>
                </a:srgbClr>
              </a:solidFill>
              <a:prstDash val="solid"/>
              <a:miter lim="800000"/>
            </a:ln>
            <a:effectLst/>
          </p:spPr>
          <p:txBody>
            <a:bodyPr wrap="square" lIns="68533" tIns="68533" rIns="68533" bIns="68533" numCol="1" anchor="t">
              <a:noAutofit/>
            </a:bodyPr>
            <a:lstStyle/>
            <a:p>
              <a:pPr defTabSz="1218712" fontAlgn="base">
                <a:spcBef>
                  <a:spcPct val="0"/>
                </a:spcBef>
                <a:spcAft>
                  <a:spcPct val="0"/>
                </a:spcAft>
              </a:pPr>
              <a:endParaRPr sz="1599">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09" name="Shape 449"/>
            <p:cNvSpPr/>
            <p:nvPr/>
          </p:nvSpPr>
          <p:spPr bwMode="gray">
            <a:xfrm flipV="1">
              <a:off x="3559615" y="5827411"/>
              <a:ext cx="629760" cy="0"/>
            </a:xfrm>
            <a:prstGeom prst="line">
              <a:avLst/>
            </a:prstGeom>
            <a:noFill/>
            <a:ln w="9525" cap="flat">
              <a:solidFill>
                <a:srgbClr val="26B7C8">
                  <a:alpha val="78000"/>
                </a:srgbClr>
              </a:solidFill>
              <a:prstDash val="solid"/>
              <a:miter lim="800000"/>
            </a:ln>
            <a:effectLst/>
          </p:spPr>
          <p:txBody>
            <a:bodyPr wrap="square" lIns="68533" tIns="68533" rIns="68533" bIns="68533" numCol="1" anchor="t">
              <a:noAutofit/>
            </a:bodyPr>
            <a:lstStyle/>
            <a:p>
              <a:pPr defTabSz="1218712" fontAlgn="base">
                <a:spcBef>
                  <a:spcPct val="0"/>
                </a:spcBef>
                <a:spcAft>
                  <a:spcPct val="0"/>
                </a:spcAft>
              </a:pPr>
              <a:endParaRPr sz="1599">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10" name="Shape 449"/>
            <p:cNvSpPr/>
            <p:nvPr/>
          </p:nvSpPr>
          <p:spPr bwMode="gray">
            <a:xfrm>
              <a:off x="3478964" y="5873752"/>
              <a:ext cx="710411" cy="0"/>
            </a:xfrm>
            <a:prstGeom prst="line">
              <a:avLst/>
            </a:prstGeom>
            <a:noFill/>
            <a:ln w="9525" cap="flat">
              <a:solidFill>
                <a:srgbClr val="26B7C8">
                  <a:alpha val="78000"/>
                </a:srgbClr>
              </a:solidFill>
              <a:prstDash val="solid"/>
              <a:miter lim="800000"/>
            </a:ln>
            <a:effectLst/>
          </p:spPr>
          <p:txBody>
            <a:bodyPr wrap="square" lIns="68533" tIns="68533" rIns="68533" bIns="68533" numCol="1" anchor="t">
              <a:noAutofit/>
            </a:bodyPr>
            <a:lstStyle/>
            <a:p>
              <a:pPr defTabSz="1218712" fontAlgn="base">
                <a:spcBef>
                  <a:spcPct val="0"/>
                </a:spcBef>
                <a:spcAft>
                  <a:spcPct val="0"/>
                </a:spcAft>
              </a:pPr>
              <a:endParaRPr sz="1599">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575" name="椭圆 574"/>
          <p:cNvSpPr/>
          <p:nvPr/>
        </p:nvSpPr>
        <p:spPr bwMode="gray">
          <a:xfrm flipH="1">
            <a:off x="3814153" y="5598959"/>
            <a:ext cx="58685" cy="149975"/>
          </a:xfrm>
          <a:prstGeom prst="ellipse">
            <a:avLst/>
          </a:prstGeom>
          <a:no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21868" tIns="60934" rIns="121868" bIns="60934" rtlCol="0" anchor="ctr"/>
          <a:lstStyle/>
          <a:p>
            <a:pPr algn="ctr" defTabSz="1218712" fontAlgn="base">
              <a:spcBef>
                <a:spcPct val="0"/>
              </a:spcBef>
              <a:spcAft>
                <a:spcPct val="0"/>
              </a:spcAft>
            </a:pPr>
            <a:endParaRPr lang="en-US" sz="20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76" name="Freeform 17"/>
          <p:cNvSpPr/>
          <p:nvPr/>
        </p:nvSpPr>
        <p:spPr bwMode="gray">
          <a:xfrm>
            <a:off x="2138024" y="4848803"/>
            <a:ext cx="1807373" cy="508821"/>
          </a:xfrm>
          <a:custGeom>
            <a:avLst/>
            <a:gdLst>
              <a:gd name="T0" fmla="*/ 480 w 1916"/>
              <a:gd name="T1" fmla="*/ 0 h 359"/>
              <a:gd name="T2" fmla="*/ 0 w 1916"/>
              <a:gd name="T3" fmla="*/ 359 h 359"/>
              <a:gd name="T4" fmla="*/ 1651 w 1916"/>
              <a:gd name="T5" fmla="*/ 359 h 359"/>
              <a:gd name="T6" fmla="*/ 1916 w 1916"/>
              <a:gd name="T7" fmla="*/ 0 h 359"/>
              <a:gd name="T8" fmla="*/ 480 w 1916"/>
              <a:gd name="T9" fmla="*/ 0 h 359"/>
            </a:gdLst>
            <a:ahLst/>
            <a:cxnLst>
              <a:cxn ang="0">
                <a:pos x="T0" y="T1"/>
              </a:cxn>
              <a:cxn ang="0">
                <a:pos x="T2" y="T3"/>
              </a:cxn>
              <a:cxn ang="0">
                <a:pos x="T4" y="T5"/>
              </a:cxn>
              <a:cxn ang="0">
                <a:pos x="T6" y="T7"/>
              </a:cxn>
              <a:cxn ang="0">
                <a:pos x="T8" y="T9"/>
              </a:cxn>
            </a:cxnLst>
            <a:rect l="0" t="0" r="r" b="b"/>
            <a:pathLst>
              <a:path w="1916" h="359">
                <a:moveTo>
                  <a:pt x="480" y="0"/>
                </a:moveTo>
                <a:lnTo>
                  <a:pt x="0" y="359"/>
                </a:lnTo>
                <a:lnTo>
                  <a:pt x="1651" y="359"/>
                </a:lnTo>
                <a:lnTo>
                  <a:pt x="1916" y="0"/>
                </a:lnTo>
                <a:lnTo>
                  <a:pt x="480" y="0"/>
                </a:lnTo>
                <a:close/>
              </a:path>
            </a:pathLst>
          </a:custGeom>
          <a:solidFill>
            <a:srgbClr val="26B7C8">
              <a:alpha val="43000"/>
            </a:srgbClr>
          </a:solidFill>
        </p:spPr>
        <p:txBody>
          <a:bodyPr wrap="square" lIns="121868" tIns="60934" rIns="121868" bIns="60934" rtlCol="0" anchor="ctr" anchorCtr="1">
            <a:noAutofit/>
          </a:bodyPr>
          <a:lstStyle/>
          <a:p>
            <a:pPr indent="717215" defTabSz="1218712" fontAlgn="ctr">
              <a:spcBef>
                <a:spcPct val="0"/>
              </a:spcBef>
              <a:spcAft>
                <a:spcPct val="0"/>
              </a:spcAft>
              <a:buClr>
                <a:srgbClr val="FFC000"/>
              </a:buClr>
              <a:buSzPct val="60000"/>
              <a:buFont typeface="Wingdings" pitchFamily="2" charset="2"/>
              <a:buChar char="n"/>
            </a:pPr>
            <a:endParaRPr lang="zh-CN" altLang="en-US" sz="2099" kern="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577" name="组合 621"/>
          <p:cNvGrpSpPr/>
          <p:nvPr/>
        </p:nvGrpSpPr>
        <p:grpSpPr bwMode="gray">
          <a:xfrm>
            <a:off x="3445601" y="4859328"/>
            <a:ext cx="197702" cy="153624"/>
            <a:chOff x="-983298" y="1666240"/>
            <a:chExt cx="547688" cy="309564"/>
          </a:xfrm>
          <a:solidFill>
            <a:srgbClr val="FFC000"/>
          </a:solidFill>
        </p:grpSpPr>
        <p:sp>
          <p:nvSpPr>
            <p:cNvPr id="706" name="Freeform 21"/>
            <p:cNvSpPr/>
            <p:nvPr/>
          </p:nvSpPr>
          <p:spPr bwMode="gray">
            <a:xfrm>
              <a:off x="-983298" y="1798004"/>
              <a:ext cx="547688" cy="177800"/>
            </a:xfrm>
            <a:custGeom>
              <a:avLst/>
              <a:gdLst/>
              <a:ahLst/>
              <a:cxnLst>
                <a:cxn ang="0">
                  <a:pos x="16188" y="2345"/>
                </a:cxn>
                <a:cxn ang="0">
                  <a:pos x="16149" y="2515"/>
                </a:cxn>
                <a:cxn ang="0">
                  <a:pos x="15935" y="2950"/>
                </a:cxn>
                <a:cxn ang="0">
                  <a:pos x="15566" y="3361"/>
                </a:cxn>
                <a:cxn ang="0">
                  <a:pos x="15052" y="3745"/>
                </a:cxn>
                <a:cxn ang="0">
                  <a:pos x="14408" y="4094"/>
                </a:cxn>
                <a:cxn ang="0">
                  <a:pos x="13647" y="4406"/>
                </a:cxn>
                <a:cxn ang="0">
                  <a:pos x="12779" y="4677"/>
                </a:cxn>
                <a:cxn ang="0">
                  <a:pos x="11817" y="4900"/>
                </a:cxn>
                <a:cxn ang="0">
                  <a:pos x="10774" y="5071"/>
                </a:cxn>
                <a:cxn ang="0">
                  <a:pos x="9662" y="5187"/>
                </a:cxn>
                <a:cxn ang="0">
                  <a:pos x="8495" y="5241"/>
                </a:cxn>
                <a:cxn ang="0">
                  <a:pos x="7295" y="5230"/>
                </a:cxn>
                <a:cxn ang="0">
                  <a:pos x="6139" y="5155"/>
                </a:cxn>
                <a:cxn ang="0">
                  <a:pos x="5043" y="5019"/>
                </a:cxn>
                <a:cxn ang="0">
                  <a:pos x="4021" y="4827"/>
                </a:cxn>
                <a:cxn ang="0">
                  <a:pos x="3087" y="4585"/>
                </a:cxn>
                <a:cxn ang="0">
                  <a:pos x="2251" y="4298"/>
                </a:cxn>
                <a:cxn ang="0">
                  <a:pos x="1527" y="3969"/>
                </a:cxn>
                <a:cxn ang="0">
                  <a:pos x="927" y="3604"/>
                </a:cxn>
                <a:cxn ang="0">
                  <a:pos x="465" y="3208"/>
                </a:cxn>
                <a:cxn ang="0">
                  <a:pos x="151" y="2784"/>
                </a:cxn>
                <a:cxn ang="0">
                  <a:pos x="0" y="2340"/>
                </a:cxn>
                <a:cxn ang="0">
                  <a:pos x="102" y="141"/>
                </a:cxn>
                <a:cxn ang="0">
                  <a:pos x="467" y="524"/>
                </a:cxn>
                <a:cxn ang="0">
                  <a:pos x="944" y="884"/>
                </a:cxn>
                <a:cxn ang="0">
                  <a:pos x="1522" y="1217"/>
                </a:cxn>
                <a:cxn ang="0">
                  <a:pos x="2195" y="1518"/>
                </a:cxn>
                <a:cxn ang="0">
                  <a:pos x="2954" y="1785"/>
                </a:cxn>
                <a:cxn ang="0">
                  <a:pos x="3789" y="2015"/>
                </a:cxn>
                <a:cxn ang="0">
                  <a:pos x="4694" y="2204"/>
                </a:cxn>
                <a:cxn ang="0">
                  <a:pos x="5658" y="2348"/>
                </a:cxn>
                <a:cxn ang="0">
                  <a:pos x="6675" y="2444"/>
                </a:cxn>
                <a:cxn ang="0">
                  <a:pos x="7734" y="2489"/>
                </a:cxn>
                <a:cxn ang="0">
                  <a:pos x="8814" y="2480"/>
                </a:cxn>
                <a:cxn ang="0">
                  <a:pos x="9861" y="2417"/>
                </a:cxn>
                <a:cxn ang="0">
                  <a:pos x="10863" y="2304"/>
                </a:cxn>
                <a:cxn ang="0">
                  <a:pos x="11810" y="2144"/>
                </a:cxn>
                <a:cxn ang="0">
                  <a:pos x="12693" y="1941"/>
                </a:cxn>
                <a:cxn ang="0">
                  <a:pos x="13505" y="1697"/>
                </a:cxn>
                <a:cxn ang="0">
                  <a:pos x="14236" y="1418"/>
                </a:cxn>
                <a:cxn ang="0">
                  <a:pos x="14879" y="1104"/>
                </a:cxn>
                <a:cxn ang="0">
                  <a:pos x="15425" y="761"/>
                </a:cxn>
                <a:cxn ang="0">
                  <a:pos x="15864" y="392"/>
                </a:cxn>
                <a:cxn ang="0">
                  <a:pos x="16188" y="0"/>
                </a:cxn>
              </a:cxnLst>
              <a:rect l="0" t="0" r="r" b="b"/>
              <a:pathLst>
                <a:path w="16188" h="5245">
                  <a:moveTo>
                    <a:pt x="16189" y="2340"/>
                  </a:moveTo>
                  <a:lnTo>
                    <a:pt x="16189" y="2343"/>
                  </a:lnTo>
                  <a:lnTo>
                    <a:pt x="16188" y="2345"/>
                  </a:lnTo>
                  <a:lnTo>
                    <a:pt x="16188" y="2366"/>
                  </a:lnTo>
                  <a:lnTo>
                    <a:pt x="16185" y="2366"/>
                  </a:lnTo>
                  <a:lnTo>
                    <a:pt x="16149" y="2515"/>
                  </a:lnTo>
                  <a:lnTo>
                    <a:pt x="16096" y="2662"/>
                  </a:lnTo>
                  <a:lnTo>
                    <a:pt x="16025" y="2808"/>
                  </a:lnTo>
                  <a:lnTo>
                    <a:pt x="15935" y="2950"/>
                  </a:lnTo>
                  <a:lnTo>
                    <a:pt x="15828" y="3090"/>
                  </a:lnTo>
                  <a:lnTo>
                    <a:pt x="15704" y="3227"/>
                  </a:lnTo>
                  <a:lnTo>
                    <a:pt x="15566" y="3361"/>
                  </a:lnTo>
                  <a:lnTo>
                    <a:pt x="15409" y="3492"/>
                  </a:lnTo>
                  <a:lnTo>
                    <a:pt x="15238" y="3620"/>
                  </a:lnTo>
                  <a:lnTo>
                    <a:pt x="15052" y="3745"/>
                  </a:lnTo>
                  <a:lnTo>
                    <a:pt x="14851" y="3864"/>
                  </a:lnTo>
                  <a:lnTo>
                    <a:pt x="14637" y="3981"/>
                  </a:lnTo>
                  <a:lnTo>
                    <a:pt x="14408" y="4094"/>
                  </a:lnTo>
                  <a:lnTo>
                    <a:pt x="14167" y="4202"/>
                  </a:lnTo>
                  <a:lnTo>
                    <a:pt x="13913" y="4307"/>
                  </a:lnTo>
                  <a:lnTo>
                    <a:pt x="13647" y="4406"/>
                  </a:lnTo>
                  <a:lnTo>
                    <a:pt x="13368" y="4502"/>
                  </a:lnTo>
                  <a:lnTo>
                    <a:pt x="13079" y="4592"/>
                  </a:lnTo>
                  <a:lnTo>
                    <a:pt x="12779" y="4677"/>
                  </a:lnTo>
                  <a:lnTo>
                    <a:pt x="12468" y="4757"/>
                  </a:lnTo>
                  <a:lnTo>
                    <a:pt x="12147" y="4831"/>
                  </a:lnTo>
                  <a:lnTo>
                    <a:pt x="11817" y="4900"/>
                  </a:lnTo>
                  <a:lnTo>
                    <a:pt x="11478" y="4964"/>
                  </a:lnTo>
                  <a:lnTo>
                    <a:pt x="11131" y="5021"/>
                  </a:lnTo>
                  <a:lnTo>
                    <a:pt x="10774" y="5071"/>
                  </a:lnTo>
                  <a:lnTo>
                    <a:pt x="10411" y="5117"/>
                  </a:lnTo>
                  <a:lnTo>
                    <a:pt x="10040" y="5156"/>
                  </a:lnTo>
                  <a:lnTo>
                    <a:pt x="9662" y="5187"/>
                  </a:lnTo>
                  <a:lnTo>
                    <a:pt x="9279" y="5213"/>
                  </a:lnTo>
                  <a:lnTo>
                    <a:pt x="8889" y="5231"/>
                  </a:lnTo>
                  <a:lnTo>
                    <a:pt x="8495" y="5241"/>
                  </a:lnTo>
                  <a:lnTo>
                    <a:pt x="8095" y="5245"/>
                  </a:lnTo>
                  <a:lnTo>
                    <a:pt x="7692" y="5241"/>
                  </a:lnTo>
                  <a:lnTo>
                    <a:pt x="7295" y="5230"/>
                  </a:lnTo>
                  <a:lnTo>
                    <a:pt x="6904" y="5211"/>
                  </a:lnTo>
                  <a:lnTo>
                    <a:pt x="6518" y="5186"/>
                  </a:lnTo>
                  <a:lnTo>
                    <a:pt x="6139" y="5155"/>
                  </a:lnTo>
                  <a:lnTo>
                    <a:pt x="5766" y="5115"/>
                  </a:lnTo>
                  <a:lnTo>
                    <a:pt x="5401" y="5070"/>
                  </a:lnTo>
                  <a:lnTo>
                    <a:pt x="5043" y="5019"/>
                  </a:lnTo>
                  <a:lnTo>
                    <a:pt x="4693" y="4961"/>
                  </a:lnTo>
                  <a:lnTo>
                    <a:pt x="4353" y="4897"/>
                  </a:lnTo>
                  <a:lnTo>
                    <a:pt x="4021" y="4827"/>
                  </a:lnTo>
                  <a:lnTo>
                    <a:pt x="3700" y="4752"/>
                  </a:lnTo>
                  <a:lnTo>
                    <a:pt x="3388" y="4671"/>
                  </a:lnTo>
                  <a:lnTo>
                    <a:pt x="3087" y="4585"/>
                  </a:lnTo>
                  <a:lnTo>
                    <a:pt x="2797" y="4494"/>
                  </a:lnTo>
                  <a:lnTo>
                    <a:pt x="2519" y="4398"/>
                  </a:lnTo>
                  <a:lnTo>
                    <a:pt x="2251" y="4298"/>
                  </a:lnTo>
                  <a:lnTo>
                    <a:pt x="1997" y="4192"/>
                  </a:lnTo>
                  <a:lnTo>
                    <a:pt x="1755" y="4083"/>
                  </a:lnTo>
                  <a:lnTo>
                    <a:pt x="1527" y="3969"/>
                  </a:lnTo>
                  <a:lnTo>
                    <a:pt x="1314" y="3851"/>
                  </a:lnTo>
                  <a:lnTo>
                    <a:pt x="1113" y="3729"/>
                  </a:lnTo>
                  <a:lnTo>
                    <a:pt x="927" y="3604"/>
                  </a:lnTo>
                  <a:lnTo>
                    <a:pt x="757" y="3476"/>
                  </a:lnTo>
                  <a:lnTo>
                    <a:pt x="603" y="3343"/>
                  </a:lnTo>
                  <a:lnTo>
                    <a:pt x="465" y="3208"/>
                  </a:lnTo>
                  <a:lnTo>
                    <a:pt x="343" y="3069"/>
                  </a:lnTo>
                  <a:lnTo>
                    <a:pt x="238" y="2928"/>
                  </a:lnTo>
                  <a:lnTo>
                    <a:pt x="151" y="2784"/>
                  </a:lnTo>
                  <a:lnTo>
                    <a:pt x="82" y="2639"/>
                  </a:lnTo>
                  <a:lnTo>
                    <a:pt x="32" y="2490"/>
                  </a:lnTo>
                  <a:lnTo>
                    <a:pt x="0" y="2340"/>
                  </a:lnTo>
                  <a:lnTo>
                    <a:pt x="6" y="2340"/>
                  </a:lnTo>
                  <a:lnTo>
                    <a:pt x="6" y="8"/>
                  </a:lnTo>
                  <a:lnTo>
                    <a:pt x="102" y="141"/>
                  </a:lnTo>
                  <a:lnTo>
                    <a:pt x="211" y="271"/>
                  </a:lnTo>
                  <a:lnTo>
                    <a:pt x="333" y="399"/>
                  </a:lnTo>
                  <a:lnTo>
                    <a:pt x="467" y="524"/>
                  </a:lnTo>
                  <a:lnTo>
                    <a:pt x="613" y="647"/>
                  </a:lnTo>
                  <a:lnTo>
                    <a:pt x="772" y="767"/>
                  </a:lnTo>
                  <a:lnTo>
                    <a:pt x="944" y="884"/>
                  </a:lnTo>
                  <a:lnTo>
                    <a:pt x="1125" y="998"/>
                  </a:lnTo>
                  <a:lnTo>
                    <a:pt x="1319" y="1109"/>
                  </a:lnTo>
                  <a:lnTo>
                    <a:pt x="1522" y="1217"/>
                  </a:lnTo>
                  <a:lnTo>
                    <a:pt x="1736" y="1320"/>
                  </a:lnTo>
                  <a:lnTo>
                    <a:pt x="1961" y="1421"/>
                  </a:lnTo>
                  <a:lnTo>
                    <a:pt x="2195" y="1518"/>
                  </a:lnTo>
                  <a:lnTo>
                    <a:pt x="2440" y="1611"/>
                  </a:lnTo>
                  <a:lnTo>
                    <a:pt x="2692" y="1700"/>
                  </a:lnTo>
                  <a:lnTo>
                    <a:pt x="2954" y="1785"/>
                  </a:lnTo>
                  <a:lnTo>
                    <a:pt x="3225" y="1866"/>
                  </a:lnTo>
                  <a:lnTo>
                    <a:pt x="3504" y="1943"/>
                  </a:lnTo>
                  <a:lnTo>
                    <a:pt x="3789" y="2015"/>
                  </a:lnTo>
                  <a:lnTo>
                    <a:pt x="4084" y="2083"/>
                  </a:lnTo>
                  <a:lnTo>
                    <a:pt x="4385" y="2146"/>
                  </a:lnTo>
                  <a:lnTo>
                    <a:pt x="4694" y="2204"/>
                  </a:lnTo>
                  <a:lnTo>
                    <a:pt x="5010" y="2256"/>
                  </a:lnTo>
                  <a:lnTo>
                    <a:pt x="5331" y="2305"/>
                  </a:lnTo>
                  <a:lnTo>
                    <a:pt x="5658" y="2348"/>
                  </a:lnTo>
                  <a:lnTo>
                    <a:pt x="5992" y="2385"/>
                  </a:lnTo>
                  <a:lnTo>
                    <a:pt x="6331" y="2418"/>
                  </a:lnTo>
                  <a:lnTo>
                    <a:pt x="6675" y="2444"/>
                  </a:lnTo>
                  <a:lnTo>
                    <a:pt x="7023" y="2464"/>
                  </a:lnTo>
                  <a:lnTo>
                    <a:pt x="7376" y="2480"/>
                  </a:lnTo>
                  <a:lnTo>
                    <a:pt x="7734" y="2489"/>
                  </a:lnTo>
                  <a:lnTo>
                    <a:pt x="8095" y="2492"/>
                  </a:lnTo>
                  <a:lnTo>
                    <a:pt x="8456" y="2489"/>
                  </a:lnTo>
                  <a:lnTo>
                    <a:pt x="8814" y="2480"/>
                  </a:lnTo>
                  <a:lnTo>
                    <a:pt x="9168" y="2464"/>
                  </a:lnTo>
                  <a:lnTo>
                    <a:pt x="9517" y="2444"/>
                  </a:lnTo>
                  <a:lnTo>
                    <a:pt x="9861" y="2417"/>
                  </a:lnTo>
                  <a:lnTo>
                    <a:pt x="10200" y="2385"/>
                  </a:lnTo>
                  <a:lnTo>
                    <a:pt x="10535" y="2347"/>
                  </a:lnTo>
                  <a:lnTo>
                    <a:pt x="10863" y="2304"/>
                  </a:lnTo>
                  <a:lnTo>
                    <a:pt x="11184" y="2255"/>
                  </a:lnTo>
                  <a:lnTo>
                    <a:pt x="11501" y="2203"/>
                  </a:lnTo>
                  <a:lnTo>
                    <a:pt x="11810" y="2144"/>
                  </a:lnTo>
                  <a:lnTo>
                    <a:pt x="12112" y="2081"/>
                  </a:lnTo>
                  <a:lnTo>
                    <a:pt x="12406" y="2013"/>
                  </a:lnTo>
                  <a:lnTo>
                    <a:pt x="12693" y="1941"/>
                  </a:lnTo>
                  <a:lnTo>
                    <a:pt x="12972" y="1863"/>
                  </a:lnTo>
                  <a:lnTo>
                    <a:pt x="13243" y="1782"/>
                  </a:lnTo>
                  <a:lnTo>
                    <a:pt x="13505" y="1697"/>
                  </a:lnTo>
                  <a:lnTo>
                    <a:pt x="13758" y="1608"/>
                  </a:lnTo>
                  <a:lnTo>
                    <a:pt x="14002" y="1514"/>
                  </a:lnTo>
                  <a:lnTo>
                    <a:pt x="14236" y="1418"/>
                  </a:lnTo>
                  <a:lnTo>
                    <a:pt x="14461" y="1316"/>
                  </a:lnTo>
                  <a:lnTo>
                    <a:pt x="14675" y="1212"/>
                  </a:lnTo>
                  <a:lnTo>
                    <a:pt x="14879" y="1104"/>
                  </a:lnTo>
                  <a:lnTo>
                    <a:pt x="15072" y="993"/>
                  </a:lnTo>
                  <a:lnTo>
                    <a:pt x="15253" y="879"/>
                  </a:lnTo>
                  <a:lnTo>
                    <a:pt x="15425" y="761"/>
                  </a:lnTo>
                  <a:lnTo>
                    <a:pt x="15583" y="641"/>
                  </a:lnTo>
                  <a:lnTo>
                    <a:pt x="15730" y="517"/>
                  </a:lnTo>
                  <a:lnTo>
                    <a:pt x="15864" y="392"/>
                  </a:lnTo>
                  <a:lnTo>
                    <a:pt x="15985" y="264"/>
                  </a:lnTo>
                  <a:lnTo>
                    <a:pt x="16094" y="133"/>
                  </a:lnTo>
                  <a:lnTo>
                    <a:pt x="16188" y="0"/>
                  </a:lnTo>
                  <a:lnTo>
                    <a:pt x="16188" y="2340"/>
                  </a:lnTo>
                  <a:lnTo>
                    <a:pt x="16189" y="2340"/>
                  </a:lnTo>
                  <a:close/>
                </a:path>
              </a:pathLst>
            </a:custGeom>
            <a:grpFill/>
            <a:ln w="15875">
              <a:noFill/>
              <a:round/>
            </a:ln>
          </p:spPr>
          <p:txBody>
            <a:bodyPr vert="horz" wrap="square" lIns="103142" tIns="51573" rIns="103142" bIns="51573" numCol="1" anchor="t" anchorCtr="0" compatLnSpc="1">
              <a:prstTxWarp prst="textNoShape">
                <a:avLst/>
              </a:prstTxWarp>
            </a:body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07" name="Freeform 22"/>
            <p:cNvSpPr>
              <a:spLocks noEditPoints="1"/>
            </p:cNvSpPr>
            <p:nvPr/>
          </p:nvSpPr>
          <p:spPr bwMode="gray">
            <a:xfrm>
              <a:off x="-983298" y="1666240"/>
              <a:ext cx="547688" cy="207963"/>
            </a:xfrm>
            <a:custGeom>
              <a:avLst/>
              <a:gdLst/>
              <a:ahLst/>
              <a:cxnLst>
                <a:cxn ang="0">
                  <a:pos x="8934" y="16"/>
                </a:cxn>
                <a:cxn ang="0">
                  <a:pos x="10129" y="97"/>
                </a:cxn>
                <a:cxn ang="0">
                  <a:pos x="11258" y="243"/>
                </a:cxn>
                <a:cxn ang="0">
                  <a:pos x="12306" y="447"/>
                </a:cxn>
                <a:cxn ang="0">
                  <a:pos x="13260" y="705"/>
                </a:cxn>
                <a:cxn ang="0">
                  <a:pos x="14105" y="1010"/>
                </a:cxn>
                <a:cxn ang="0">
                  <a:pos x="14828" y="1358"/>
                </a:cxn>
                <a:cxn ang="0">
                  <a:pos x="15413" y="1745"/>
                </a:cxn>
                <a:cxn ang="0">
                  <a:pos x="15849" y="2163"/>
                </a:cxn>
                <a:cxn ang="0">
                  <a:pos x="16122" y="2609"/>
                </a:cxn>
                <a:cxn ang="0">
                  <a:pos x="16215" y="3077"/>
                </a:cxn>
                <a:cxn ang="0">
                  <a:pos x="16122" y="3545"/>
                </a:cxn>
                <a:cxn ang="0">
                  <a:pos x="15849" y="3991"/>
                </a:cxn>
                <a:cxn ang="0">
                  <a:pos x="15413" y="4409"/>
                </a:cxn>
                <a:cxn ang="0">
                  <a:pos x="14828" y="4796"/>
                </a:cxn>
                <a:cxn ang="0">
                  <a:pos x="14105" y="5144"/>
                </a:cxn>
                <a:cxn ang="0">
                  <a:pos x="13260" y="5449"/>
                </a:cxn>
                <a:cxn ang="0">
                  <a:pos x="12306" y="5707"/>
                </a:cxn>
                <a:cxn ang="0">
                  <a:pos x="11258" y="5911"/>
                </a:cxn>
                <a:cxn ang="0">
                  <a:pos x="10129" y="6057"/>
                </a:cxn>
                <a:cxn ang="0">
                  <a:pos x="8934" y="6138"/>
                </a:cxn>
                <a:cxn ang="0">
                  <a:pos x="7691" y="6150"/>
                </a:cxn>
                <a:cxn ang="0">
                  <a:pos x="6477" y="6091"/>
                </a:cxn>
                <a:cxn ang="0">
                  <a:pos x="5325" y="5967"/>
                </a:cxn>
                <a:cxn ang="0">
                  <a:pos x="4248" y="5781"/>
                </a:cxn>
                <a:cxn ang="0">
                  <a:pos x="3262" y="5542"/>
                </a:cxn>
                <a:cxn ang="0">
                  <a:pos x="2380" y="5252"/>
                </a:cxn>
                <a:cxn ang="0">
                  <a:pos x="1614" y="4916"/>
                </a:cxn>
                <a:cxn ang="0">
                  <a:pos x="981" y="4542"/>
                </a:cxn>
                <a:cxn ang="0">
                  <a:pos x="494" y="4133"/>
                </a:cxn>
                <a:cxn ang="0">
                  <a:pos x="165" y="3696"/>
                </a:cxn>
                <a:cxn ang="0">
                  <a:pos x="10" y="3235"/>
                </a:cxn>
                <a:cxn ang="0">
                  <a:pos x="42" y="2763"/>
                </a:cxn>
                <a:cxn ang="0">
                  <a:pos x="256" y="2310"/>
                </a:cxn>
                <a:cxn ang="0">
                  <a:pos x="638" y="1881"/>
                </a:cxn>
                <a:cxn ang="0">
                  <a:pos x="1177" y="1483"/>
                </a:cxn>
                <a:cxn ang="0">
                  <a:pos x="1856" y="1122"/>
                </a:cxn>
                <a:cxn ang="0">
                  <a:pos x="2661" y="801"/>
                </a:cxn>
                <a:cxn ang="0">
                  <a:pos x="3579" y="527"/>
                </a:cxn>
                <a:cxn ang="0">
                  <a:pos x="4598" y="305"/>
                </a:cxn>
                <a:cxn ang="0">
                  <a:pos x="5701" y="139"/>
                </a:cxn>
                <a:cxn ang="0">
                  <a:pos x="6875" y="36"/>
                </a:cxn>
                <a:cxn ang="0">
                  <a:pos x="8108" y="0"/>
                </a:cxn>
                <a:cxn ang="0">
                  <a:pos x="6158" y="5404"/>
                </a:cxn>
                <a:cxn ang="0">
                  <a:pos x="6381" y="3535"/>
                </a:cxn>
                <a:cxn ang="0">
                  <a:pos x="8154" y="2469"/>
                </a:cxn>
                <a:cxn ang="0">
                  <a:pos x="12688" y="1647"/>
                </a:cxn>
                <a:cxn ang="0">
                  <a:pos x="10617" y="1086"/>
                </a:cxn>
                <a:cxn ang="0">
                  <a:pos x="9647" y="3871"/>
                </a:cxn>
                <a:cxn ang="0">
                  <a:pos x="11195" y="2918"/>
                </a:cxn>
                <a:cxn ang="0">
                  <a:pos x="13547" y="4824"/>
                </a:cxn>
                <a:cxn ang="0">
                  <a:pos x="6773" y="1946"/>
                </a:cxn>
                <a:cxn ang="0">
                  <a:pos x="1325" y="2039"/>
                </a:cxn>
              </a:cxnLst>
              <a:rect l="0" t="0" r="r" b="b"/>
              <a:pathLst>
                <a:path w="16215" h="6154">
                  <a:moveTo>
                    <a:pt x="8108" y="0"/>
                  </a:moveTo>
                  <a:lnTo>
                    <a:pt x="8524" y="4"/>
                  </a:lnTo>
                  <a:lnTo>
                    <a:pt x="8934" y="16"/>
                  </a:lnTo>
                  <a:lnTo>
                    <a:pt x="9340" y="36"/>
                  </a:lnTo>
                  <a:lnTo>
                    <a:pt x="9738" y="63"/>
                  </a:lnTo>
                  <a:lnTo>
                    <a:pt x="10129" y="97"/>
                  </a:lnTo>
                  <a:lnTo>
                    <a:pt x="10513" y="139"/>
                  </a:lnTo>
                  <a:lnTo>
                    <a:pt x="10890" y="187"/>
                  </a:lnTo>
                  <a:lnTo>
                    <a:pt x="11258" y="243"/>
                  </a:lnTo>
                  <a:lnTo>
                    <a:pt x="11617" y="305"/>
                  </a:lnTo>
                  <a:lnTo>
                    <a:pt x="11967" y="373"/>
                  </a:lnTo>
                  <a:lnTo>
                    <a:pt x="12306" y="447"/>
                  </a:lnTo>
                  <a:lnTo>
                    <a:pt x="12636" y="527"/>
                  </a:lnTo>
                  <a:lnTo>
                    <a:pt x="12953" y="613"/>
                  </a:lnTo>
                  <a:lnTo>
                    <a:pt x="13260" y="705"/>
                  </a:lnTo>
                  <a:lnTo>
                    <a:pt x="13554" y="801"/>
                  </a:lnTo>
                  <a:lnTo>
                    <a:pt x="13835" y="902"/>
                  </a:lnTo>
                  <a:lnTo>
                    <a:pt x="14105" y="1010"/>
                  </a:lnTo>
                  <a:lnTo>
                    <a:pt x="14359" y="1122"/>
                  </a:lnTo>
                  <a:lnTo>
                    <a:pt x="14601" y="1237"/>
                  </a:lnTo>
                  <a:lnTo>
                    <a:pt x="14828" y="1358"/>
                  </a:lnTo>
                  <a:lnTo>
                    <a:pt x="15038" y="1483"/>
                  </a:lnTo>
                  <a:lnTo>
                    <a:pt x="15234" y="1612"/>
                  </a:lnTo>
                  <a:lnTo>
                    <a:pt x="15413" y="1745"/>
                  </a:lnTo>
                  <a:lnTo>
                    <a:pt x="15577" y="1881"/>
                  </a:lnTo>
                  <a:lnTo>
                    <a:pt x="15721" y="2021"/>
                  </a:lnTo>
                  <a:lnTo>
                    <a:pt x="15849" y="2163"/>
                  </a:lnTo>
                  <a:lnTo>
                    <a:pt x="15959" y="2310"/>
                  </a:lnTo>
                  <a:lnTo>
                    <a:pt x="16050" y="2458"/>
                  </a:lnTo>
                  <a:lnTo>
                    <a:pt x="16122" y="2609"/>
                  </a:lnTo>
                  <a:lnTo>
                    <a:pt x="16173" y="2763"/>
                  </a:lnTo>
                  <a:lnTo>
                    <a:pt x="16205" y="2919"/>
                  </a:lnTo>
                  <a:lnTo>
                    <a:pt x="16215" y="3077"/>
                  </a:lnTo>
                  <a:lnTo>
                    <a:pt x="16205" y="3235"/>
                  </a:lnTo>
                  <a:lnTo>
                    <a:pt x="16173" y="3391"/>
                  </a:lnTo>
                  <a:lnTo>
                    <a:pt x="16122" y="3545"/>
                  </a:lnTo>
                  <a:lnTo>
                    <a:pt x="16050" y="3696"/>
                  </a:lnTo>
                  <a:lnTo>
                    <a:pt x="15959" y="3844"/>
                  </a:lnTo>
                  <a:lnTo>
                    <a:pt x="15849" y="3991"/>
                  </a:lnTo>
                  <a:lnTo>
                    <a:pt x="15721" y="4133"/>
                  </a:lnTo>
                  <a:lnTo>
                    <a:pt x="15577" y="4273"/>
                  </a:lnTo>
                  <a:lnTo>
                    <a:pt x="15413" y="4409"/>
                  </a:lnTo>
                  <a:lnTo>
                    <a:pt x="15234" y="4542"/>
                  </a:lnTo>
                  <a:lnTo>
                    <a:pt x="15038" y="4671"/>
                  </a:lnTo>
                  <a:lnTo>
                    <a:pt x="14828" y="4796"/>
                  </a:lnTo>
                  <a:lnTo>
                    <a:pt x="14601" y="4916"/>
                  </a:lnTo>
                  <a:lnTo>
                    <a:pt x="14359" y="5032"/>
                  </a:lnTo>
                  <a:lnTo>
                    <a:pt x="14105" y="5144"/>
                  </a:lnTo>
                  <a:lnTo>
                    <a:pt x="13835" y="5252"/>
                  </a:lnTo>
                  <a:lnTo>
                    <a:pt x="13554" y="5353"/>
                  </a:lnTo>
                  <a:lnTo>
                    <a:pt x="13260" y="5449"/>
                  </a:lnTo>
                  <a:lnTo>
                    <a:pt x="12953" y="5542"/>
                  </a:lnTo>
                  <a:lnTo>
                    <a:pt x="12636" y="5627"/>
                  </a:lnTo>
                  <a:lnTo>
                    <a:pt x="12306" y="5707"/>
                  </a:lnTo>
                  <a:lnTo>
                    <a:pt x="11967" y="5781"/>
                  </a:lnTo>
                  <a:lnTo>
                    <a:pt x="11617" y="5849"/>
                  </a:lnTo>
                  <a:lnTo>
                    <a:pt x="11258" y="5911"/>
                  </a:lnTo>
                  <a:lnTo>
                    <a:pt x="10890" y="5967"/>
                  </a:lnTo>
                  <a:lnTo>
                    <a:pt x="10513" y="6015"/>
                  </a:lnTo>
                  <a:lnTo>
                    <a:pt x="10129" y="6057"/>
                  </a:lnTo>
                  <a:lnTo>
                    <a:pt x="9738" y="6091"/>
                  </a:lnTo>
                  <a:lnTo>
                    <a:pt x="9340" y="6118"/>
                  </a:lnTo>
                  <a:lnTo>
                    <a:pt x="8934" y="6138"/>
                  </a:lnTo>
                  <a:lnTo>
                    <a:pt x="8524" y="6150"/>
                  </a:lnTo>
                  <a:lnTo>
                    <a:pt x="8108" y="6154"/>
                  </a:lnTo>
                  <a:lnTo>
                    <a:pt x="7691" y="6150"/>
                  </a:lnTo>
                  <a:lnTo>
                    <a:pt x="7281" y="6138"/>
                  </a:lnTo>
                  <a:lnTo>
                    <a:pt x="6875" y="6118"/>
                  </a:lnTo>
                  <a:lnTo>
                    <a:pt x="6477" y="6091"/>
                  </a:lnTo>
                  <a:lnTo>
                    <a:pt x="6086" y="6057"/>
                  </a:lnTo>
                  <a:lnTo>
                    <a:pt x="5701" y="6015"/>
                  </a:lnTo>
                  <a:lnTo>
                    <a:pt x="5325" y="5967"/>
                  </a:lnTo>
                  <a:lnTo>
                    <a:pt x="4957" y="5911"/>
                  </a:lnTo>
                  <a:lnTo>
                    <a:pt x="4598" y="5849"/>
                  </a:lnTo>
                  <a:lnTo>
                    <a:pt x="4248" y="5781"/>
                  </a:lnTo>
                  <a:lnTo>
                    <a:pt x="3909" y="5707"/>
                  </a:lnTo>
                  <a:lnTo>
                    <a:pt x="3579" y="5627"/>
                  </a:lnTo>
                  <a:lnTo>
                    <a:pt x="3262" y="5542"/>
                  </a:lnTo>
                  <a:lnTo>
                    <a:pt x="2955" y="5449"/>
                  </a:lnTo>
                  <a:lnTo>
                    <a:pt x="2661" y="5353"/>
                  </a:lnTo>
                  <a:lnTo>
                    <a:pt x="2380" y="5252"/>
                  </a:lnTo>
                  <a:lnTo>
                    <a:pt x="2110" y="5144"/>
                  </a:lnTo>
                  <a:lnTo>
                    <a:pt x="1856" y="5032"/>
                  </a:lnTo>
                  <a:lnTo>
                    <a:pt x="1614" y="4916"/>
                  </a:lnTo>
                  <a:lnTo>
                    <a:pt x="1387" y="4796"/>
                  </a:lnTo>
                  <a:lnTo>
                    <a:pt x="1177" y="4671"/>
                  </a:lnTo>
                  <a:lnTo>
                    <a:pt x="981" y="4542"/>
                  </a:lnTo>
                  <a:lnTo>
                    <a:pt x="802" y="4409"/>
                  </a:lnTo>
                  <a:lnTo>
                    <a:pt x="638" y="4273"/>
                  </a:lnTo>
                  <a:lnTo>
                    <a:pt x="494" y="4133"/>
                  </a:lnTo>
                  <a:lnTo>
                    <a:pt x="366" y="3991"/>
                  </a:lnTo>
                  <a:lnTo>
                    <a:pt x="256" y="3844"/>
                  </a:lnTo>
                  <a:lnTo>
                    <a:pt x="165" y="3696"/>
                  </a:lnTo>
                  <a:lnTo>
                    <a:pt x="93" y="3545"/>
                  </a:lnTo>
                  <a:lnTo>
                    <a:pt x="42" y="3391"/>
                  </a:lnTo>
                  <a:lnTo>
                    <a:pt x="10" y="3235"/>
                  </a:lnTo>
                  <a:lnTo>
                    <a:pt x="0" y="3077"/>
                  </a:lnTo>
                  <a:lnTo>
                    <a:pt x="10" y="2919"/>
                  </a:lnTo>
                  <a:lnTo>
                    <a:pt x="42" y="2763"/>
                  </a:lnTo>
                  <a:lnTo>
                    <a:pt x="93" y="2609"/>
                  </a:lnTo>
                  <a:lnTo>
                    <a:pt x="165" y="2458"/>
                  </a:lnTo>
                  <a:lnTo>
                    <a:pt x="256" y="2310"/>
                  </a:lnTo>
                  <a:lnTo>
                    <a:pt x="366" y="2163"/>
                  </a:lnTo>
                  <a:lnTo>
                    <a:pt x="494" y="2021"/>
                  </a:lnTo>
                  <a:lnTo>
                    <a:pt x="638" y="1881"/>
                  </a:lnTo>
                  <a:lnTo>
                    <a:pt x="802" y="1745"/>
                  </a:lnTo>
                  <a:lnTo>
                    <a:pt x="981" y="1612"/>
                  </a:lnTo>
                  <a:lnTo>
                    <a:pt x="1177" y="1483"/>
                  </a:lnTo>
                  <a:lnTo>
                    <a:pt x="1387" y="1358"/>
                  </a:lnTo>
                  <a:lnTo>
                    <a:pt x="1614" y="1237"/>
                  </a:lnTo>
                  <a:lnTo>
                    <a:pt x="1856" y="1122"/>
                  </a:lnTo>
                  <a:lnTo>
                    <a:pt x="2110" y="1010"/>
                  </a:lnTo>
                  <a:lnTo>
                    <a:pt x="2380" y="902"/>
                  </a:lnTo>
                  <a:lnTo>
                    <a:pt x="2661" y="801"/>
                  </a:lnTo>
                  <a:lnTo>
                    <a:pt x="2955" y="705"/>
                  </a:lnTo>
                  <a:lnTo>
                    <a:pt x="3262" y="613"/>
                  </a:lnTo>
                  <a:lnTo>
                    <a:pt x="3579" y="527"/>
                  </a:lnTo>
                  <a:lnTo>
                    <a:pt x="3909" y="447"/>
                  </a:lnTo>
                  <a:lnTo>
                    <a:pt x="4248" y="373"/>
                  </a:lnTo>
                  <a:lnTo>
                    <a:pt x="4598" y="305"/>
                  </a:lnTo>
                  <a:lnTo>
                    <a:pt x="4957" y="243"/>
                  </a:lnTo>
                  <a:lnTo>
                    <a:pt x="5325" y="187"/>
                  </a:lnTo>
                  <a:lnTo>
                    <a:pt x="5701" y="139"/>
                  </a:lnTo>
                  <a:lnTo>
                    <a:pt x="6086" y="97"/>
                  </a:lnTo>
                  <a:lnTo>
                    <a:pt x="6477" y="63"/>
                  </a:lnTo>
                  <a:lnTo>
                    <a:pt x="6875" y="36"/>
                  </a:lnTo>
                  <a:lnTo>
                    <a:pt x="7281" y="16"/>
                  </a:lnTo>
                  <a:lnTo>
                    <a:pt x="7691" y="4"/>
                  </a:lnTo>
                  <a:lnTo>
                    <a:pt x="8108" y="0"/>
                  </a:lnTo>
                  <a:close/>
                  <a:moveTo>
                    <a:pt x="3135" y="4675"/>
                  </a:moveTo>
                  <a:lnTo>
                    <a:pt x="3787" y="5515"/>
                  </a:lnTo>
                  <a:lnTo>
                    <a:pt x="6158" y="5404"/>
                  </a:lnTo>
                  <a:lnTo>
                    <a:pt x="5243" y="5179"/>
                  </a:lnTo>
                  <a:lnTo>
                    <a:pt x="7687" y="3759"/>
                  </a:lnTo>
                  <a:lnTo>
                    <a:pt x="6381" y="3535"/>
                  </a:lnTo>
                  <a:lnTo>
                    <a:pt x="3936" y="4880"/>
                  </a:lnTo>
                  <a:lnTo>
                    <a:pt x="3135" y="4675"/>
                  </a:lnTo>
                  <a:close/>
                  <a:moveTo>
                    <a:pt x="8154" y="2469"/>
                  </a:moveTo>
                  <a:lnTo>
                    <a:pt x="9497" y="2824"/>
                  </a:lnTo>
                  <a:lnTo>
                    <a:pt x="11792" y="1404"/>
                  </a:lnTo>
                  <a:lnTo>
                    <a:pt x="12688" y="1647"/>
                  </a:lnTo>
                  <a:lnTo>
                    <a:pt x="11979" y="767"/>
                  </a:lnTo>
                  <a:lnTo>
                    <a:pt x="9833" y="862"/>
                  </a:lnTo>
                  <a:lnTo>
                    <a:pt x="10617" y="1086"/>
                  </a:lnTo>
                  <a:lnTo>
                    <a:pt x="8154" y="2469"/>
                  </a:lnTo>
                  <a:close/>
                  <a:moveTo>
                    <a:pt x="13547" y="4824"/>
                  </a:moveTo>
                  <a:lnTo>
                    <a:pt x="9647" y="3871"/>
                  </a:lnTo>
                  <a:lnTo>
                    <a:pt x="9068" y="4264"/>
                  </a:lnTo>
                  <a:lnTo>
                    <a:pt x="9012" y="3235"/>
                  </a:lnTo>
                  <a:lnTo>
                    <a:pt x="11195" y="2918"/>
                  </a:lnTo>
                  <a:lnTo>
                    <a:pt x="10561" y="3254"/>
                  </a:lnTo>
                  <a:lnTo>
                    <a:pt x="14516" y="4133"/>
                  </a:lnTo>
                  <a:lnTo>
                    <a:pt x="13547" y="4824"/>
                  </a:lnTo>
                  <a:close/>
                  <a:moveTo>
                    <a:pt x="4534" y="3291"/>
                  </a:moveTo>
                  <a:lnTo>
                    <a:pt x="6885" y="3011"/>
                  </a:lnTo>
                  <a:lnTo>
                    <a:pt x="6773" y="1946"/>
                  </a:lnTo>
                  <a:lnTo>
                    <a:pt x="6176" y="2300"/>
                  </a:lnTo>
                  <a:lnTo>
                    <a:pt x="2463" y="1478"/>
                  </a:lnTo>
                  <a:lnTo>
                    <a:pt x="1325" y="2039"/>
                  </a:lnTo>
                  <a:lnTo>
                    <a:pt x="5019" y="2955"/>
                  </a:lnTo>
                  <a:lnTo>
                    <a:pt x="4534" y="3291"/>
                  </a:lnTo>
                  <a:close/>
                </a:path>
              </a:pathLst>
            </a:custGeom>
            <a:grpFill/>
            <a:ln w="15875">
              <a:noFill/>
              <a:round/>
            </a:ln>
          </p:spPr>
          <p:txBody>
            <a:bodyPr vert="horz" wrap="square" lIns="103142" tIns="51573" rIns="103142" bIns="51573" numCol="1" anchor="t" anchorCtr="0" compatLnSpc="1">
              <a:prstTxWarp prst="textNoShape">
                <a:avLst/>
              </a:prstTxWarp>
            </a:body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sp>
        <p:nvSpPr>
          <p:cNvPr id="578" name="矩形 577"/>
          <p:cNvSpPr/>
          <p:nvPr/>
        </p:nvSpPr>
        <p:spPr bwMode="gray">
          <a:xfrm>
            <a:off x="3389996" y="4940592"/>
            <a:ext cx="246181" cy="430002"/>
          </a:xfrm>
          <a:prstGeom prst="rect">
            <a:avLst/>
          </a:prstGeom>
        </p:spPr>
        <p:txBody>
          <a:bodyPr wrap="none" lIns="121868" tIns="60934" rIns="121868" bIns="60934">
            <a:spAutoFit/>
          </a:bodyPr>
          <a:lstStyle/>
          <a:p>
            <a:pPr defTabSz="1218712" fontAlgn="base">
              <a:lnSpc>
                <a:spcPct val="150000"/>
              </a:lnSpc>
              <a:spcBef>
                <a:spcPts val="800"/>
              </a:spcBef>
              <a:spcAft>
                <a:spcPct val="0"/>
              </a:spcAft>
            </a:pPr>
            <a:endParaRPr lang="en-US" altLang="zh-CN" sz="14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579" name="文本框 578"/>
          <p:cNvSpPr txBox="1"/>
          <p:nvPr/>
        </p:nvSpPr>
        <p:spPr bwMode="gray">
          <a:xfrm>
            <a:off x="2538021" y="4990731"/>
            <a:ext cx="799992" cy="184666"/>
          </a:xfrm>
          <a:prstGeom prst="rect">
            <a:avLst/>
          </a:prstGeom>
          <a:noFill/>
        </p:spPr>
        <p:txBody>
          <a:bodyPr wrap="square" lIns="0" tIns="0" rIns="0" bIns="0" rtlCol="0">
            <a:spAutoFit/>
          </a:bodyPr>
          <a:lstStyle/>
          <a:p>
            <a:pPr algn="ctr" defTabSz="1218712" fontAlgn="base">
              <a:spcBef>
                <a:spcPct val="0"/>
              </a:spcBef>
              <a:spcAft>
                <a:spcPct val="0"/>
              </a:spcAft>
            </a:pPr>
            <a:r>
              <a:rPr lang="en-US" altLang="zh-CN" sz="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分支1</a:t>
            </a:r>
            <a:endParaRPr lang="zh-CN" altLang="en-US" sz="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580" name="组合 346"/>
          <p:cNvGrpSpPr/>
          <p:nvPr/>
        </p:nvGrpSpPr>
        <p:grpSpPr bwMode="gray">
          <a:xfrm>
            <a:off x="3808421" y="5075923"/>
            <a:ext cx="668408" cy="68864"/>
            <a:chOff x="3478964" y="5781069"/>
            <a:chExt cx="746415" cy="92683"/>
          </a:xfrm>
        </p:grpSpPr>
        <p:sp>
          <p:nvSpPr>
            <p:cNvPr id="703" name="Shape 449"/>
            <p:cNvSpPr/>
            <p:nvPr/>
          </p:nvSpPr>
          <p:spPr bwMode="gray">
            <a:xfrm>
              <a:off x="3514062" y="5781069"/>
              <a:ext cx="711317" cy="0"/>
            </a:xfrm>
            <a:prstGeom prst="line">
              <a:avLst/>
            </a:prstGeom>
            <a:noFill/>
            <a:ln w="9525" cap="flat">
              <a:solidFill>
                <a:srgbClr val="26B7C8">
                  <a:alpha val="78000"/>
                </a:srgbClr>
              </a:solidFill>
              <a:prstDash val="solid"/>
              <a:miter lim="800000"/>
            </a:ln>
            <a:effectLst/>
          </p:spPr>
          <p:txBody>
            <a:bodyPr wrap="square" lIns="68533" tIns="68533" rIns="68533" bIns="68533" numCol="1" anchor="t">
              <a:noAutofit/>
            </a:bodyPr>
            <a:lstStyle/>
            <a:p>
              <a:pPr defTabSz="1218712" fontAlgn="base">
                <a:spcBef>
                  <a:spcPct val="0"/>
                </a:spcBef>
                <a:spcAft>
                  <a:spcPct val="0"/>
                </a:spcAft>
              </a:pPr>
              <a:endParaRPr sz="1599">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04" name="Shape 449"/>
            <p:cNvSpPr/>
            <p:nvPr/>
          </p:nvSpPr>
          <p:spPr bwMode="gray">
            <a:xfrm flipV="1">
              <a:off x="3504550" y="5827411"/>
              <a:ext cx="684825" cy="0"/>
            </a:xfrm>
            <a:prstGeom prst="line">
              <a:avLst/>
            </a:prstGeom>
            <a:noFill/>
            <a:ln w="9525" cap="flat">
              <a:solidFill>
                <a:srgbClr val="26B7C8">
                  <a:alpha val="78000"/>
                </a:srgbClr>
              </a:solidFill>
              <a:prstDash val="solid"/>
              <a:miter lim="800000"/>
            </a:ln>
            <a:effectLst/>
          </p:spPr>
          <p:txBody>
            <a:bodyPr wrap="square" lIns="68533" tIns="68533" rIns="68533" bIns="68533" numCol="1" anchor="t">
              <a:noAutofit/>
            </a:bodyPr>
            <a:lstStyle/>
            <a:p>
              <a:pPr defTabSz="1218712" fontAlgn="base">
                <a:spcBef>
                  <a:spcPct val="0"/>
                </a:spcBef>
                <a:spcAft>
                  <a:spcPct val="0"/>
                </a:spcAft>
              </a:pPr>
              <a:endParaRPr sz="1599">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05" name="Shape 449"/>
            <p:cNvSpPr/>
            <p:nvPr/>
          </p:nvSpPr>
          <p:spPr bwMode="gray">
            <a:xfrm>
              <a:off x="3478964" y="5873752"/>
              <a:ext cx="710411" cy="0"/>
            </a:xfrm>
            <a:prstGeom prst="line">
              <a:avLst/>
            </a:prstGeom>
            <a:noFill/>
            <a:ln w="9525" cap="flat">
              <a:solidFill>
                <a:srgbClr val="26B7C8">
                  <a:alpha val="78000"/>
                </a:srgbClr>
              </a:solidFill>
              <a:prstDash val="solid"/>
              <a:miter lim="800000"/>
            </a:ln>
            <a:effectLst/>
          </p:spPr>
          <p:txBody>
            <a:bodyPr wrap="square" lIns="68533" tIns="68533" rIns="68533" bIns="68533" numCol="1" anchor="t">
              <a:noAutofit/>
            </a:bodyPr>
            <a:lstStyle/>
            <a:p>
              <a:pPr defTabSz="1218712" fontAlgn="base">
                <a:spcBef>
                  <a:spcPct val="0"/>
                </a:spcBef>
                <a:spcAft>
                  <a:spcPct val="0"/>
                </a:spcAft>
              </a:pPr>
              <a:endParaRPr sz="1599">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581" name="椭圆 580"/>
          <p:cNvSpPr/>
          <p:nvPr/>
        </p:nvSpPr>
        <p:spPr bwMode="gray">
          <a:xfrm flipH="1">
            <a:off x="4013077" y="5036706"/>
            <a:ext cx="58685" cy="149975"/>
          </a:xfrm>
          <a:prstGeom prst="ellipse">
            <a:avLst/>
          </a:prstGeom>
          <a:no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121868" tIns="60934" rIns="121868" bIns="60934" rtlCol="0" anchor="ctr"/>
          <a:lstStyle/>
          <a:p>
            <a:pPr algn="ctr" defTabSz="1218712" fontAlgn="base">
              <a:spcBef>
                <a:spcPct val="0"/>
              </a:spcBef>
              <a:spcAft>
                <a:spcPct val="0"/>
              </a:spcAft>
            </a:pPr>
            <a:endParaRPr lang="en-US" sz="20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2" name="椭圆 581"/>
          <p:cNvSpPr/>
          <p:nvPr/>
        </p:nvSpPr>
        <p:spPr bwMode="gray">
          <a:xfrm>
            <a:off x="4404323" y="5056593"/>
            <a:ext cx="107945" cy="10752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583" name="组合 621"/>
          <p:cNvGrpSpPr/>
          <p:nvPr/>
        </p:nvGrpSpPr>
        <p:grpSpPr bwMode="black">
          <a:xfrm>
            <a:off x="3409992" y="5092447"/>
            <a:ext cx="197702" cy="153624"/>
            <a:chOff x="-983298" y="1666240"/>
            <a:chExt cx="547688" cy="309564"/>
          </a:xfrm>
          <a:solidFill>
            <a:srgbClr val="FFC000"/>
          </a:solidFill>
        </p:grpSpPr>
        <p:sp>
          <p:nvSpPr>
            <p:cNvPr id="701" name="Freeform 21"/>
            <p:cNvSpPr/>
            <p:nvPr/>
          </p:nvSpPr>
          <p:spPr bwMode="black">
            <a:xfrm>
              <a:off x="-983298" y="1798004"/>
              <a:ext cx="547688" cy="177800"/>
            </a:xfrm>
            <a:custGeom>
              <a:avLst/>
              <a:gdLst/>
              <a:ahLst/>
              <a:cxnLst>
                <a:cxn ang="0">
                  <a:pos x="16188" y="2345"/>
                </a:cxn>
                <a:cxn ang="0">
                  <a:pos x="16149" y="2515"/>
                </a:cxn>
                <a:cxn ang="0">
                  <a:pos x="15935" y="2950"/>
                </a:cxn>
                <a:cxn ang="0">
                  <a:pos x="15566" y="3361"/>
                </a:cxn>
                <a:cxn ang="0">
                  <a:pos x="15052" y="3745"/>
                </a:cxn>
                <a:cxn ang="0">
                  <a:pos x="14408" y="4094"/>
                </a:cxn>
                <a:cxn ang="0">
                  <a:pos x="13647" y="4406"/>
                </a:cxn>
                <a:cxn ang="0">
                  <a:pos x="12779" y="4677"/>
                </a:cxn>
                <a:cxn ang="0">
                  <a:pos x="11817" y="4900"/>
                </a:cxn>
                <a:cxn ang="0">
                  <a:pos x="10774" y="5071"/>
                </a:cxn>
                <a:cxn ang="0">
                  <a:pos x="9662" y="5187"/>
                </a:cxn>
                <a:cxn ang="0">
                  <a:pos x="8495" y="5241"/>
                </a:cxn>
                <a:cxn ang="0">
                  <a:pos x="7295" y="5230"/>
                </a:cxn>
                <a:cxn ang="0">
                  <a:pos x="6139" y="5155"/>
                </a:cxn>
                <a:cxn ang="0">
                  <a:pos x="5043" y="5019"/>
                </a:cxn>
                <a:cxn ang="0">
                  <a:pos x="4021" y="4827"/>
                </a:cxn>
                <a:cxn ang="0">
                  <a:pos x="3087" y="4585"/>
                </a:cxn>
                <a:cxn ang="0">
                  <a:pos x="2251" y="4298"/>
                </a:cxn>
                <a:cxn ang="0">
                  <a:pos x="1527" y="3969"/>
                </a:cxn>
                <a:cxn ang="0">
                  <a:pos x="927" y="3604"/>
                </a:cxn>
                <a:cxn ang="0">
                  <a:pos x="465" y="3208"/>
                </a:cxn>
                <a:cxn ang="0">
                  <a:pos x="151" y="2784"/>
                </a:cxn>
                <a:cxn ang="0">
                  <a:pos x="0" y="2340"/>
                </a:cxn>
                <a:cxn ang="0">
                  <a:pos x="102" y="141"/>
                </a:cxn>
                <a:cxn ang="0">
                  <a:pos x="467" y="524"/>
                </a:cxn>
                <a:cxn ang="0">
                  <a:pos x="944" y="884"/>
                </a:cxn>
                <a:cxn ang="0">
                  <a:pos x="1522" y="1217"/>
                </a:cxn>
                <a:cxn ang="0">
                  <a:pos x="2195" y="1518"/>
                </a:cxn>
                <a:cxn ang="0">
                  <a:pos x="2954" y="1785"/>
                </a:cxn>
                <a:cxn ang="0">
                  <a:pos x="3789" y="2015"/>
                </a:cxn>
                <a:cxn ang="0">
                  <a:pos x="4694" y="2204"/>
                </a:cxn>
                <a:cxn ang="0">
                  <a:pos x="5658" y="2348"/>
                </a:cxn>
                <a:cxn ang="0">
                  <a:pos x="6675" y="2444"/>
                </a:cxn>
                <a:cxn ang="0">
                  <a:pos x="7734" y="2489"/>
                </a:cxn>
                <a:cxn ang="0">
                  <a:pos x="8814" y="2480"/>
                </a:cxn>
                <a:cxn ang="0">
                  <a:pos x="9861" y="2417"/>
                </a:cxn>
                <a:cxn ang="0">
                  <a:pos x="10863" y="2304"/>
                </a:cxn>
                <a:cxn ang="0">
                  <a:pos x="11810" y="2144"/>
                </a:cxn>
                <a:cxn ang="0">
                  <a:pos x="12693" y="1941"/>
                </a:cxn>
                <a:cxn ang="0">
                  <a:pos x="13505" y="1697"/>
                </a:cxn>
                <a:cxn ang="0">
                  <a:pos x="14236" y="1418"/>
                </a:cxn>
                <a:cxn ang="0">
                  <a:pos x="14879" y="1104"/>
                </a:cxn>
                <a:cxn ang="0">
                  <a:pos x="15425" y="761"/>
                </a:cxn>
                <a:cxn ang="0">
                  <a:pos x="15864" y="392"/>
                </a:cxn>
                <a:cxn ang="0">
                  <a:pos x="16188" y="0"/>
                </a:cxn>
              </a:cxnLst>
              <a:rect l="0" t="0" r="r" b="b"/>
              <a:pathLst>
                <a:path w="16188" h="5245">
                  <a:moveTo>
                    <a:pt x="16189" y="2340"/>
                  </a:moveTo>
                  <a:lnTo>
                    <a:pt x="16189" y="2343"/>
                  </a:lnTo>
                  <a:lnTo>
                    <a:pt x="16188" y="2345"/>
                  </a:lnTo>
                  <a:lnTo>
                    <a:pt x="16188" y="2366"/>
                  </a:lnTo>
                  <a:lnTo>
                    <a:pt x="16185" y="2366"/>
                  </a:lnTo>
                  <a:lnTo>
                    <a:pt x="16149" y="2515"/>
                  </a:lnTo>
                  <a:lnTo>
                    <a:pt x="16096" y="2662"/>
                  </a:lnTo>
                  <a:lnTo>
                    <a:pt x="16025" y="2808"/>
                  </a:lnTo>
                  <a:lnTo>
                    <a:pt x="15935" y="2950"/>
                  </a:lnTo>
                  <a:lnTo>
                    <a:pt x="15828" y="3090"/>
                  </a:lnTo>
                  <a:lnTo>
                    <a:pt x="15704" y="3227"/>
                  </a:lnTo>
                  <a:lnTo>
                    <a:pt x="15566" y="3361"/>
                  </a:lnTo>
                  <a:lnTo>
                    <a:pt x="15409" y="3492"/>
                  </a:lnTo>
                  <a:lnTo>
                    <a:pt x="15238" y="3620"/>
                  </a:lnTo>
                  <a:lnTo>
                    <a:pt x="15052" y="3745"/>
                  </a:lnTo>
                  <a:lnTo>
                    <a:pt x="14851" y="3864"/>
                  </a:lnTo>
                  <a:lnTo>
                    <a:pt x="14637" y="3981"/>
                  </a:lnTo>
                  <a:lnTo>
                    <a:pt x="14408" y="4094"/>
                  </a:lnTo>
                  <a:lnTo>
                    <a:pt x="14167" y="4202"/>
                  </a:lnTo>
                  <a:lnTo>
                    <a:pt x="13913" y="4307"/>
                  </a:lnTo>
                  <a:lnTo>
                    <a:pt x="13647" y="4406"/>
                  </a:lnTo>
                  <a:lnTo>
                    <a:pt x="13368" y="4502"/>
                  </a:lnTo>
                  <a:lnTo>
                    <a:pt x="13079" y="4592"/>
                  </a:lnTo>
                  <a:lnTo>
                    <a:pt x="12779" y="4677"/>
                  </a:lnTo>
                  <a:lnTo>
                    <a:pt x="12468" y="4757"/>
                  </a:lnTo>
                  <a:lnTo>
                    <a:pt x="12147" y="4831"/>
                  </a:lnTo>
                  <a:lnTo>
                    <a:pt x="11817" y="4900"/>
                  </a:lnTo>
                  <a:lnTo>
                    <a:pt x="11478" y="4964"/>
                  </a:lnTo>
                  <a:lnTo>
                    <a:pt x="11131" y="5021"/>
                  </a:lnTo>
                  <a:lnTo>
                    <a:pt x="10774" y="5071"/>
                  </a:lnTo>
                  <a:lnTo>
                    <a:pt x="10411" y="5117"/>
                  </a:lnTo>
                  <a:lnTo>
                    <a:pt x="10040" y="5156"/>
                  </a:lnTo>
                  <a:lnTo>
                    <a:pt x="9662" y="5187"/>
                  </a:lnTo>
                  <a:lnTo>
                    <a:pt x="9279" y="5213"/>
                  </a:lnTo>
                  <a:lnTo>
                    <a:pt x="8889" y="5231"/>
                  </a:lnTo>
                  <a:lnTo>
                    <a:pt x="8495" y="5241"/>
                  </a:lnTo>
                  <a:lnTo>
                    <a:pt x="8095" y="5245"/>
                  </a:lnTo>
                  <a:lnTo>
                    <a:pt x="7692" y="5241"/>
                  </a:lnTo>
                  <a:lnTo>
                    <a:pt x="7295" y="5230"/>
                  </a:lnTo>
                  <a:lnTo>
                    <a:pt x="6904" y="5211"/>
                  </a:lnTo>
                  <a:lnTo>
                    <a:pt x="6518" y="5186"/>
                  </a:lnTo>
                  <a:lnTo>
                    <a:pt x="6139" y="5155"/>
                  </a:lnTo>
                  <a:lnTo>
                    <a:pt x="5766" y="5115"/>
                  </a:lnTo>
                  <a:lnTo>
                    <a:pt x="5401" y="5070"/>
                  </a:lnTo>
                  <a:lnTo>
                    <a:pt x="5043" y="5019"/>
                  </a:lnTo>
                  <a:lnTo>
                    <a:pt x="4693" y="4961"/>
                  </a:lnTo>
                  <a:lnTo>
                    <a:pt x="4353" y="4897"/>
                  </a:lnTo>
                  <a:lnTo>
                    <a:pt x="4021" y="4827"/>
                  </a:lnTo>
                  <a:lnTo>
                    <a:pt x="3700" y="4752"/>
                  </a:lnTo>
                  <a:lnTo>
                    <a:pt x="3388" y="4671"/>
                  </a:lnTo>
                  <a:lnTo>
                    <a:pt x="3087" y="4585"/>
                  </a:lnTo>
                  <a:lnTo>
                    <a:pt x="2797" y="4494"/>
                  </a:lnTo>
                  <a:lnTo>
                    <a:pt x="2519" y="4398"/>
                  </a:lnTo>
                  <a:lnTo>
                    <a:pt x="2251" y="4298"/>
                  </a:lnTo>
                  <a:lnTo>
                    <a:pt x="1997" y="4192"/>
                  </a:lnTo>
                  <a:lnTo>
                    <a:pt x="1755" y="4083"/>
                  </a:lnTo>
                  <a:lnTo>
                    <a:pt x="1527" y="3969"/>
                  </a:lnTo>
                  <a:lnTo>
                    <a:pt x="1314" y="3851"/>
                  </a:lnTo>
                  <a:lnTo>
                    <a:pt x="1113" y="3729"/>
                  </a:lnTo>
                  <a:lnTo>
                    <a:pt x="927" y="3604"/>
                  </a:lnTo>
                  <a:lnTo>
                    <a:pt x="757" y="3476"/>
                  </a:lnTo>
                  <a:lnTo>
                    <a:pt x="603" y="3343"/>
                  </a:lnTo>
                  <a:lnTo>
                    <a:pt x="465" y="3208"/>
                  </a:lnTo>
                  <a:lnTo>
                    <a:pt x="343" y="3069"/>
                  </a:lnTo>
                  <a:lnTo>
                    <a:pt x="238" y="2928"/>
                  </a:lnTo>
                  <a:lnTo>
                    <a:pt x="151" y="2784"/>
                  </a:lnTo>
                  <a:lnTo>
                    <a:pt x="82" y="2639"/>
                  </a:lnTo>
                  <a:lnTo>
                    <a:pt x="32" y="2490"/>
                  </a:lnTo>
                  <a:lnTo>
                    <a:pt x="0" y="2340"/>
                  </a:lnTo>
                  <a:lnTo>
                    <a:pt x="6" y="2340"/>
                  </a:lnTo>
                  <a:lnTo>
                    <a:pt x="6" y="8"/>
                  </a:lnTo>
                  <a:lnTo>
                    <a:pt x="102" y="141"/>
                  </a:lnTo>
                  <a:lnTo>
                    <a:pt x="211" y="271"/>
                  </a:lnTo>
                  <a:lnTo>
                    <a:pt x="333" y="399"/>
                  </a:lnTo>
                  <a:lnTo>
                    <a:pt x="467" y="524"/>
                  </a:lnTo>
                  <a:lnTo>
                    <a:pt x="613" y="647"/>
                  </a:lnTo>
                  <a:lnTo>
                    <a:pt x="772" y="767"/>
                  </a:lnTo>
                  <a:lnTo>
                    <a:pt x="944" y="884"/>
                  </a:lnTo>
                  <a:lnTo>
                    <a:pt x="1125" y="998"/>
                  </a:lnTo>
                  <a:lnTo>
                    <a:pt x="1319" y="1109"/>
                  </a:lnTo>
                  <a:lnTo>
                    <a:pt x="1522" y="1217"/>
                  </a:lnTo>
                  <a:lnTo>
                    <a:pt x="1736" y="1320"/>
                  </a:lnTo>
                  <a:lnTo>
                    <a:pt x="1961" y="1421"/>
                  </a:lnTo>
                  <a:lnTo>
                    <a:pt x="2195" y="1518"/>
                  </a:lnTo>
                  <a:lnTo>
                    <a:pt x="2440" y="1611"/>
                  </a:lnTo>
                  <a:lnTo>
                    <a:pt x="2692" y="1700"/>
                  </a:lnTo>
                  <a:lnTo>
                    <a:pt x="2954" y="1785"/>
                  </a:lnTo>
                  <a:lnTo>
                    <a:pt x="3225" y="1866"/>
                  </a:lnTo>
                  <a:lnTo>
                    <a:pt x="3504" y="1943"/>
                  </a:lnTo>
                  <a:lnTo>
                    <a:pt x="3789" y="2015"/>
                  </a:lnTo>
                  <a:lnTo>
                    <a:pt x="4084" y="2083"/>
                  </a:lnTo>
                  <a:lnTo>
                    <a:pt x="4385" y="2146"/>
                  </a:lnTo>
                  <a:lnTo>
                    <a:pt x="4694" y="2204"/>
                  </a:lnTo>
                  <a:lnTo>
                    <a:pt x="5010" y="2256"/>
                  </a:lnTo>
                  <a:lnTo>
                    <a:pt x="5331" y="2305"/>
                  </a:lnTo>
                  <a:lnTo>
                    <a:pt x="5658" y="2348"/>
                  </a:lnTo>
                  <a:lnTo>
                    <a:pt x="5992" y="2385"/>
                  </a:lnTo>
                  <a:lnTo>
                    <a:pt x="6331" y="2418"/>
                  </a:lnTo>
                  <a:lnTo>
                    <a:pt x="6675" y="2444"/>
                  </a:lnTo>
                  <a:lnTo>
                    <a:pt x="7023" y="2464"/>
                  </a:lnTo>
                  <a:lnTo>
                    <a:pt x="7376" y="2480"/>
                  </a:lnTo>
                  <a:lnTo>
                    <a:pt x="7734" y="2489"/>
                  </a:lnTo>
                  <a:lnTo>
                    <a:pt x="8095" y="2492"/>
                  </a:lnTo>
                  <a:lnTo>
                    <a:pt x="8456" y="2489"/>
                  </a:lnTo>
                  <a:lnTo>
                    <a:pt x="8814" y="2480"/>
                  </a:lnTo>
                  <a:lnTo>
                    <a:pt x="9168" y="2464"/>
                  </a:lnTo>
                  <a:lnTo>
                    <a:pt x="9517" y="2444"/>
                  </a:lnTo>
                  <a:lnTo>
                    <a:pt x="9861" y="2417"/>
                  </a:lnTo>
                  <a:lnTo>
                    <a:pt x="10200" y="2385"/>
                  </a:lnTo>
                  <a:lnTo>
                    <a:pt x="10535" y="2347"/>
                  </a:lnTo>
                  <a:lnTo>
                    <a:pt x="10863" y="2304"/>
                  </a:lnTo>
                  <a:lnTo>
                    <a:pt x="11184" y="2255"/>
                  </a:lnTo>
                  <a:lnTo>
                    <a:pt x="11501" y="2203"/>
                  </a:lnTo>
                  <a:lnTo>
                    <a:pt x="11810" y="2144"/>
                  </a:lnTo>
                  <a:lnTo>
                    <a:pt x="12112" y="2081"/>
                  </a:lnTo>
                  <a:lnTo>
                    <a:pt x="12406" y="2013"/>
                  </a:lnTo>
                  <a:lnTo>
                    <a:pt x="12693" y="1941"/>
                  </a:lnTo>
                  <a:lnTo>
                    <a:pt x="12972" y="1863"/>
                  </a:lnTo>
                  <a:lnTo>
                    <a:pt x="13243" y="1782"/>
                  </a:lnTo>
                  <a:lnTo>
                    <a:pt x="13505" y="1697"/>
                  </a:lnTo>
                  <a:lnTo>
                    <a:pt x="13758" y="1608"/>
                  </a:lnTo>
                  <a:lnTo>
                    <a:pt x="14002" y="1514"/>
                  </a:lnTo>
                  <a:lnTo>
                    <a:pt x="14236" y="1418"/>
                  </a:lnTo>
                  <a:lnTo>
                    <a:pt x="14461" y="1316"/>
                  </a:lnTo>
                  <a:lnTo>
                    <a:pt x="14675" y="1212"/>
                  </a:lnTo>
                  <a:lnTo>
                    <a:pt x="14879" y="1104"/>
                  </a:lnTo>
                  <a:lnTo>
                    <a:pt x="15072" y="993"/>
                  </a:lnTo>
                  <a:lnTo>
                    <a:pt x="15253" y="879"/>
                  </a:lnTo>
                  <a:lnTo>
                    <a:pt x="15425" y="761"/>
                  </a:lnTo>
                  <a:lnTo>
                    <a:pt x="15583" y="641"/>
                  </a:lnTo>
                  <a:lnTo>
                    <a:pt x="15730" y="517"/>
                  </a:lnTo>
                  <a:lnTo>
                    <a:pt x="15864" y="392"/>
                  </a:lnTo>
                  <a:lnTo>
                    <a:pt x="15985" y="264"/>
                  </a:lnTo>
                  <a:lnTo>
                    <a:pt x="16094" y="133"/>
                  </a:lnTo>
                  <a:lnTo>
                    <a:pt x="16188" y="0"/>
                  </a:lnTo>
                  <a:lnTo>
                    <a:pt x="16188" y="2340"/>
                  </a:lnTo>
                  <a:lnTo>
                    <a:pt x="16189" y="2340"/>
                  </a:lnTo>
                  <a:close/>
                </a:path>
              </a:pathLst>
            </a:custGeom>
            <a:grpFill/>
            <a:ln w="15875">
              <a:noFill/>
              <a:round/>
            </a:ln>
          </p:spPr>
          <p:txBody>
            <a:bodyPr vert="horz" wrap="square" lIns="103142" tIns="51573" rIns="103142" bIns="51573" numCol="1" anchor="t" anchorCtr="0" compatLnSpc="1">
              <a:prstTxWarp prst="textNoShape">
                <a:avLst/>
              </a:prstTxWarp>
            </a:body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02" name="Freeform 22"/>
            <p:cNvSpPr>
              <a:spLocks noEditPoints="1"/>
            </p:cNvSpPr>
            <p:nvPr/>
          </p:nvSpPr>
          <p:spPr bwMode="black">
            <a:xfrm>
              <a:off x="-983298" y="1666240"/>
              <a:ext cx="547688" cy="207963"/>
            </a:xfrm>
            <a:custGeom>
              <a:avLst/>
              <a:gdLst/>
              <a:ahLst/>
              <a:cxnLst>
                <a:cxn ang="0">
                  <a:pos x="8934" y="16"/>
                </a:cxn>
                <a:cxn ang="0">
                  <a:pos x="10129" y="97"/>
                </a:cxn>
                <a:cxn ang="0">
                  <a:pos x="11258" y="243"/>
                </a:cxn>
                <a:cxn ang="0">
                  <a:pos x="12306" y="447"/>
                </a:cxn>
                <a:cxn ang="0">
                  <a:pos x="13260" y="705"/>
                </a:cxn>
                <a:cxn ang="0">
                  <a:pos x="14105" y="1010"/>
                </a:cxn>
                <a:cxn ang="0">
                  <a:pos x="14828" y="1358"/>
                </a:cxn>
                <a:cxn ang="0">
                  <a:pos x="15413" y="1745"/>
                </a:cxn>
                <a:cxn ang="0">
                  <a:pos x="15849" y="2163"/>
                </a:cxn>
                <a:cxn ang="0">
                  <a:pos x="16122" y="2609"/>
                </a:cxn>
                <a:cxn ang="0">
                  <a:pos x="16215" y="3077"/>
                </a:cxn>
                <a:cxn ang="0">
                  <a:pos x="16122" y="3545"/>
                </a:cxn>
                <a:cxn ang="0">
                  <a:pos x="15849" y="3991"/>
                </a:cxn>
                <a:cxn ang="0">
                  <a:pos x="15413" y="4409"/>
                </a:cxn>
                <a:cxn ang="0">
                  <a:pos x="14828" y="4796"/>
                </a:cxn>
                <a:cxn ang="0">
                  <a:pos x="14105" y="5144"/>
                </a:cxn>
                <a:cxn ang="0">
                  <a:pos x="13260" y="5449"/>
                </a:cxn>
                <a:cxn ang="0">
                  <a:pos x="12306" y="5707"/>
                </a:cxn>
                <a:cxn ang="0">
                  <a:pos x="11258" y="5911"/>
                </a:cxn>
                <a:cxn ang="0">
                  <a:pos x="10129" y="6057"/>
                </a:cxn>
                <a:cxn ang="0">
                  <a:pos x="8934" y="6138"/>
                </a:cxn>
                <a:cxn ang="0">
                  <a:pos x="7691" y="6150"/>
                </a:cxn>
                <a:cxn ang="0">
                  <a:pos x="6477" y="6091"/>
                </a:cxn>
                <a:cxn ang="0">
                  <a:pos x="5325" y="5967"/>
                </a:cxn>
                <a:cxn ang="0">
                  <a:pos x="4248" y="5781"/>
                </a:cxn>
                <a:cxn ang="0">
                  <a:pos x="3262" y="5542"/>
                </a:cxn>
                <a:cxn ang="0">
                  <a:pos x="2380" y="5252"/>
                </a:cxn>
                <a:cxn ang="0">
                  <a:pos x="1614" y="4916"/>
                </a:cxn>
                <a:cxn ang="0">
                  <a:pos x="981" y="4542"/>
                </a:cxn>
                <a:cxn ang="0">
                  <a:pos x="494" y="4133"/>
                </a:cxn>
                <a:cxn ang="0">
                  <a:pos x="165" y="3696"/>
                </a:cxn>
                <a:cxn ang="0">
                  <a:pos x="10" y="3235"/>
                </a:cxn>
                <a:cxn ang="0">
                  <a:pos x="42" y="2763"/>
                </a:cxn>
                <a:cxn ang="0">
                  <a:pos x="256" y="2310"/>
                </a:cxn>
                <a:cxn ang="0">
                  <a:pos x="638" y="1881"/>
                </a:cxn>
                <a:cxn ang="0">
                  <a:pos x="1177" y="1483"/>
                </a:cxn>
                <a:cxn ang="0">
                  <a:pos x="1856" y="1122"/>
                </a:cxn>
                <a:cxn ang="0">
                  <a:pos x="2661" y="801"/>
                </a:cxn>
                <a:cxn ang="0">
                  <a:pos x="3579" y="527"/>
                </a:cxn>
                <a:cxn ang="0">
                  <a:pos x="4598" y="305"/>
                </a:cxn>
                <a:cxn ang="0">
                  <a:pos x="5701" y="139"/>
                </a:cxn>
                <a:cxn ang="0">
                  <a:pos x="6875" y="36"/>
                </a:cxn>
                <a:cxn ang="0">
                  <a:pos x="8108" y="0"/>
                </a:cxn>
                <a:cxn ang="0">
                  <a:pos x="6158" y="5404"/>
                </a:cxn>
                <a:cxn ang="0">
                  <a:pos x="6381" y="3535"/>
                </a:cxn>
                <a:cxn ang="0">
                  <a:pos x="8154" y="2469"/>
                </a:cxn>
                <a:cxn ang="0">
                  <a:pos x="12688" y="1647"/>
                </a:cxn>
                <a:cxn ang="0">
                  <a:pos x="10617" y="1086"/>
                </a:cxn>
                <a:cxn ang="0">
                  <a:pos x="9647" y="3871"/>
                </a:cxn>
                <a:cxn ang="0">
                  <a:pos x="11195" y="2918"/>
                </a:cxn>
                <a:cxn ang="0">
                  <a:pos x="13547" y="4824"/>
                </a:cxn>
                <a:cxn ang="0">
                  <a:pos x="6773" y="1946"/>
                </a:cxn>
                <a:cxn ang="0">
                  <a:pos x="1325" y="2039"/>
                </a:cxn>
              </a:cxnLst>
              <a:rect l="0" t="0" r="r" b="b"/>
              <a:pathLst>
                <a:path w="16215" h="6154">
                  <a:moveTo>
                    <a:pt x="8108" y="0"/>
                  </a:moveTo>
                  <a:lnTo>
                    <a:pt x="8524" y="4"/>
                  </a:lnTo>
                  <a:lnTo>
                    <a:pt x="8934" y="16"/>
                  </a:lnTo>
                  <a:lnTo>
                    <a:pt x="9340" y="36"/>
                  </a:lnTo>
                  <a:lnTo>
                    <a:pt x="9738" y="63"/>
                  </a:lnTo>
                  <a:lnTo>
                    <a:pt x="10129" y="97"/>
                  </a:lnTo>
                  <a:lnTo>
                    <a:pt x="10513" y="139"/>
                  </a:lnTo>
                  <a:lnTo>
                    <a:pt x="10890" y="187"/>
                  </a:lnTo>
                  <a:lnTo>
                    <a:pt x="11258" y="243"/>
                  </a:lnTo>
                  <a:lnTo>
                    <a:pt x="11617" y="305"/>
                  </a:lnTo>
                  <a:lnTo>
                    <a:pt x="11967" y="373"/>
                  </a:lnTo>
                  <a:lnTo>
                    <a:pt x="12306" y="447"/>
                  </a:lnTo>
                  <a:lnTo>
                    <a:pt x="12636" y="527"/>
                  </a:lnTo>
                  <a:lnTo>
                    <a:pt x="12953" y="613"/>
                  </a:lnTo>
                  <a:lnTo>
                    <a:pt x="13260" y="705"/>
                  </a:lnTo>
                  <a:lnTo>
                    <a:pt x="13554" y="801"/>
                  </a:lnTo>
                  <a:lnTo>
                    <a:pt x="13835" y="902"/>
                  </a:lnTo>
                  <a:lnTo>
                    <a:pt x="14105" y="1010"/>
                  </a:lnTo>
                  <a:lnTo>
                    <a:pt x="14359" y="1122"/>
                  </a:lnTo>
                  <a:lnTo>
                    <a:pt x="14601" y="1237"/>
                  </a:lnTo>
                  <a:lnTo>
                    <a:pt x="14828" y="1358"/>
                  </a:lnTo>
                  <a:lnTo>
                    <a:pt x="15038" y="1483"/>
                  </a:lnTo>
                  <a:lnTo>
                    <a:pt x="15234" y="1612"/>
                  </a:lnTo>
                  <a:lnTo>
                    <a:pt x="15413" y="1745"/>
                  </a:lnTo>
                  <a:lnTo>
                    <a:pt x="15577" y="1881"/>
                  </a:lnTo>
                  <a:lnTo>
                    <a:pt x="15721" y="2021"/>
                  </a:lnTo>
                  <a:lnTo>
                    <a:pt x="15849" y="2163"/>
                  </a:lnTo>
                  <a:lnTo>
                    <a:pt x="15959" y="2310"/>
                  </a:lnTo>
                  <a:lnTo>
                    <a:pt x="16050" y="2458"/>
                  </a:lnTo>
                  <a:lnTo>
                    <a:pt x="16122" y="2609"/>
                  </a:lnTo>
                  <a:lnTo>
                    <a:pt x="16173" y="2763"/>
                  </a:lnTo>
                  <a:lnTo>
                    <a:pt x="16205" y="2919"/>
                  </a:lnTo>
                  <a:lnTo>
                    <a:pt x="16215" y="3077"/>
                  </a:lnTo>
                  <a:lnTo>
                    <a:pt x="16205" y="3235"/>
                  </a:lnTo>
                  <a:lnTo>
                    <a:pt x="16173" y="3391"/>
                  </a:lnTo>
                  <a:lnTo>
                    <a:pt x="16122" y="3545"/>
                  </a:lnTo>
                  <a:lnTo>
                    <a:pt x="16050" y="3696"/>
                  </a:lnTo>
                  <a:lnTo>
                    <a:pt x="15959" y="3844"/>
                  </a:lnTo>
                  <a:lnTo>
                    <a:pt x="15849" y="3991"/>
                  </a:lnTo>
                  <a:lnTo>
                    <a:pt x="15721" y="4133"/>
                  </a:lnTo>
                  <a:lnTo>
                    <a:pt x="15577" y="4273"/>
                  </a:lnTo>
                  <a:lnTo>
                    <a:pt x="15413" y="4409"/>
                  </a:lnTo>
                  <a:lnTo>
                    <a:pt x="15234" y="4542"/>
                  </a:lnTo>
                  <a:lnTo>
                    <a:pt x="15038" y="4671"/>
                  </a:lnTo>
                  <a:lnTo>
                    <a:pt x="14828" y="4796"/>
                  </a:lnTo>
                  <a:lnTo>
                    <a:pt x="14601" y="4916"/>
                  </a:lnTo>
                  <a:lnTo>
                    <a:pt x="14359" y="5032"/>
                  </a:lnTo>
                  <a:lnTo>
                    <a:pt x="14105" y="5144"/>
                  </a:lnTo>
                  <a:lnTo>
                    <a:pt x="13835" y="5252"/>
                  </a:lnTo>
                  <a:lnTo>
                    <a:pt x="13554" y="5353"/>
                  </a:lnTo>
                  <a:lnTo>
                    <a:pt x="13260" y="5449"/>
                  </a:lnTo>
                  <a:lnTo>
                    <a:pt x="12953" y="5542"/>
                  </a:lnTo>
                  <a:lnTo>
                    <a:pt x="12636" y="5627"/>
                  </a:lnTo>
                  <a:lnTo>
                    <a:pt x="12306" y="5707"/>
                  </a:lnTo>
                  <a:lnTo>
                    <a:pt x="11967" y="5781"/>
                  </a:lnTo>
                  <a:lnTo>
                    <a:pt x="11617" y="5849"/>
                  </a:lnTo>
                  <a:lnTo>
                    <a:pt x="11258" y="5911"/>
                  </a:lnTo>
                  <a:lnTo>
                    <a:pt x="10890" y="5967"/>
                  </a:lnTo>
                  <a:lnTo>
                    <a:pt x="10513" y="6015"/>
                  </a:lnTo>
                  <a:lnTo>
                    <a:pt x="10129" y="6057"/>
                  </a:lnTo>
                  <a:lnTo>
                    <a:pt x="9738" y="6091"/>
                  </a:lnTo>
                  <a:lnTo>
                    <a:pt x="9340" y="6118"/>
                  </a:lnTo>
                  <a:lnTo>
                    <a:pt x="8934" y="6138"/>
                  </a:lnTo>
                  <a:lnTo>
                    <a:pt x="8524" y="6150"/>
                  </a:lnTo>
                  <a:lnTo>
                    <a:pt x="8108" y="6154"/>
                  </a:lnTo>
                  <a:lnTo>
                    <a:pt x="7691" y="6150"/>
                  </a:lnTo>
                  <a:lnTo>
                    <a:pt x="7281" y="6138"/>
                  </a:lnTo>
                  <a:lnTo>
                    <a:pt x="6875" y="6118"/>
                  </a:lnTo>
                  <a:lnTo>
                    <a:pt x="6477" y="6091"/>
                  </a:lnTo>
                  <a:lnTo>
                    <a:pt x="6086" y="6057"/>
                  </a:lnTo>
                  <a:lnTo>
                    <a:pt x="5701" y="6015"/>
                  </a:lnTo>
                  <a:lnTo>
                    <a:pt x="5325" y="5967"/>
                  </a:lnTo>
                  <a:lnTo>
                    <a:pt x="4957" y="5911"/>
                  </a:lnTo>
                  <a:lnTo>
                    <a:pt x="4598" y="5849"/>
                  </a:lnTo>
                  <a:lnTo>
                    <a:pt x="4248" y="5781"/>
                  </a:lnTo>
                  <a:lnTo>
                    <a:pt x="3909" y="5707"/>
                  </a:lnTo>
                  <a:lnTo>
                    <a:pt x="3579" y="5627"/>
                  </a:lnTo>
                  <a:lnTo>
                    <a:pt x="3262" y="5542"/>
                  </a:lnTo>
                  <a:lnTo>
                    <a:pt x="2955" y="5449"/>
                  </a:lnTo>
                  <a:lnTo>
                    <a:pt x="2661" y="5353"/>
                  </a:lnTo>
                  <a:lnTo>
                    <a:pt x="2380" y="5252"/>
                  </a:lnTo>
                  <a:lnTo>
                    <a:pt x="2110" y="5144"/>
                  </a:lnTo>
                  <a:lnTo>
                    <a:pt x="1856" y="5032"/>
                  </a:lnTo>
                  <a:lnTo>
                    <a:pt x="1614" y="4916"/>
                  </a:lnTo>
                  <a:lnTo>
                    <a:pt x="1387" y="4796"/>
                  </a:lnTo>
                  <a:lnTo>
                    <a:pt x="1177" y="4671"/>
                  </a:lnTo>
                  <a:lnTo>
                    <a:pt x="981" y="4542"/>
                  </a:lnTo>
                  <a:lnTo>
                    <a:pt x="802" y="4409"/>
                  </a:lnTo>
                  <a:lnTo>
                    <a:pt x="638" y="4273"/>
                  </a:lnTo>
                  <a:lnTo>
                    <a:pt x="494" y="4133"/>
                  </a:lnTo>
                  <a:lnTo>
                    <a:pt x="366" y="3991"/>
                  </a:lnTo>
                  <a:lnTo>
                    <a:pt x="256" y="3844"/>
                  </a:lnTo>
                  <a:lnTo>
                    <a:pt x="165" y="3696"/>
                  </a:lnTo>
                  <a:lnTo>
                    <a:pt x="93" y="3545"/>
                  </a:lnTo>
                  <a:lnTo>
                    <a:pt x="42" y="3391"/>
                  </a:lnTo>
                  <a:lnTo>
                    <a:pt x="10" y="3235"/>
                  </a:lnTo>
                  <a:lnTo>
                    <a:pt x="0" y="3077"/>
                  </a:lnTo>
                  <a:lnTo>
                    <a:pt x="10" y="2919"/>
                  </a:lnTo>
                  <a:lnTo>
                    <a:pt x="42" y="2763"/>
                  </a:lnTo>
                  <a:lnTo>
                    <a:pt x="93" y="2609"/>
                  </a:lnTo>
                  <a:lnTo>
                    <a:pt x="165" y="2458"/>
                  </a:lnTo>
                  <a:lnTo>
                    <a:pt x="256" y="2310"/>
                  </a:lnTo>
                  <a:lnTo>
                    <a:pt x="366" y="2163"/>
                  </a:lnTo>
                  <a:lnTo>
                    <a:pt x="494" y="2021"/>
                  </a:lnTo>
                  <a:lnTo>
                    <a:pt x="638" y="1881"/>
                  </a:lnTo>
                  <a:lnTo>
                    <a:pt x="802" y="1745"/>
                  </a:lnTo>
                  <a:lnTo>
                    <a:pt x="981" y="1612"/>
                  </a:lnTo>
                  <a:lnTo>
                    <a:pt x="1177" y="1483"/>
                  </a:lnTo>
                  <a:lnTo>
                    <a:pt x="1387" y="1358"/>
                  </a:lnTo>
                  <a:lnTo>
                    <a:pt x="1614" y="1237"/>
                  </a:lnTo>
                  <a:lnTo>
                    <a:pt x="1856" y="1122"/>
                  </a:lnTo>
                  <a:lnTo>
                    <a:pt x="2110" y="1010"/>
                  </a:lnTo>
                  <a:lnTo>
                    <a:pt x="2380" y="902"/>
                  </a:lnTo>
                  <a:lnTo>
                    <a:pt x="2661" y="801"/>
                  </a:lnTo>
                  <a:lnTo>
                    <a:pt x="2955" y="705"/>
                  </a:lnTo>
                  <a:lnTo>
                    <a:pt x="3262" y="613"/>
                  </a:lnTo>
                  <a:lnTo>
                    <a:pt x="3579" y="527"/>
                  </a:lnTo>
                  <a:lnTo>
                    <a:pt x="3909" y="447"/>
                  </a:lnTo>
                  <a:lnTo>
                    <a:pt x="4248" y="373"/>
                  </a:lnTo>
                  <a:lnTo>
                    <a:pt x="4598" y="305"/>
                  </a:lnTo>
                  <a:lnTo>
                    <a:pt x="4957" y="243"/>
                  </a:lnTo>
                  <a:lnTo>
                    <a:pt x="5325" y="187"/>
                  </a:lnTo>
                  <a:lnTo>
                    <a:pt x="5701" y="139"/>
                  </a:lnTo>
                  <a:lnTo>
                    <a:pt x="6086" y="97"/>
                  </a:lnTo>
                  <a:lnTo>
                    <a:pt x="6477" y="63"/>
                  </a:lnTo>
                  <a:lnTo>
                    <a:pt x="6875" y="36"/>
                  </a:lnTo>
                  <a:lnTo>
                    <a:pt x="7281" y="16"/>
                  </a:lnTo>
                  <a:lnTo>
                    <a:pt x="7691" y="4"/>
                  </a:lnTo>
                  <a:lnTo>
                    <a:pt x="8108" y="0"/>
                  </a:lnTo>
                  <a:close/>
                  <a:moveTo>
                    <a:pt x="3135" y="4675"/>
                  </a:moveTo>
                  <a:lnTo>
                    <a:pt x="3787" y="5515"/>
                  </a:lnTo>
                  <a:lnTo>
                    <a:pt x="6158" y="5404"/>
                  </a:lnTo>
                  <a:lnTo>
                    <a:pt x="5243" y="5179"/>
                  </a:lnTo>
                  <a:lnTo>
                    <a:pt x="7687" y="3759"/>
                  </a:lnTo>
                  <a:lnTo>
                    <a:pt x="6381" y="3535"/>
                  </a:lnTo>
                  <a:lnTo>
                    <a:pt x="3936" y="4880"/>
                  </a:lnTo>
                  <a:lnTo>
                    <a:pt x="3135" y="4675"/>
                  </a:lnTo>
                  <a:close/>
                  <a:moveTo>
                    <a:pt x="8154" y="2469"/>
                  </a:moveTo>
                  <a:lnTo>
                    <a:pt x="9497" y="2824"/>
                  </a:lnTo>
                  <a:lnTo>
                    <a:pt x="11792" y="1404"/>
                  </a:lnTo>
                  <a:lnTo>
                    <a:pt x="12688" y="1647"/>
                  </a:lnTo>
                  <a:lnTo>
                    <a:pt x="11979" y="767"/>
                  </a:lnTo>
                  <a:lnTo>
                    <a:pt x="9833" y="862"/>
                  </a:lnTo>
                  <a:lnTo>
                    <a:pt x="10617" y="1086"/>
                  </a:lnTo>
                  <a:lnTo>
                    <a:pt x="8154" y="2469"/>
                  </a:lnTo>
                  <a:close/>
                  <a:moveTo>
                    <a:pt x="13547" y="4824"/>
                  </a:moveTo>
                  <a:lnTo>
                    <a:pt x="9647" y="3871"/>
                  </a:lnTo>
                  <a:lnTo>
                    <a:pt x="9068" y="4264"/>
                  </a:lnTo>
                  <a:lnTo>
                    <a:pt x="9012" y="3235"/>
                  </a:lnTo>
                  <a:lnTo>
                    <a:pt x="11195" y="2918"/>
                  </a:lnTo>
                  <a:lnTo>
                    <a:pt x="10561" y="3254"/>
                  </a:lnTo>
                  <a:lnTo>
                    <a:pt x="14516" y="4133"/>
                  </a:lnTo>
                  <a:lnTo>
                    <a:pt x="13547" y="4824"/>
                  </a:lnTo>
                  <a:close/>
                  <a:moveTo>
                    <a:pt x="4534" y="3291"/>
                  </a:moveTo>
                  <a:lnTo>
                    <a:pt x="6885" y="3011"/>
                  </a:lnTo>
                  <a:lnTo>
                    <a:pt x="6773" y="1946"/>
                  </a:lnTo>
                  <a:lnTo>
                    <a:pt x="6176" y="2300"/>
                  </a:lnTo>
                  <a:lnTo>
                    <a:pt x="2463" y="1478"/>
                  </a:lnTo>
                  <a:lnTo>
                    <a:pt x="1325" y="2039"/>
                  </a:lnTo>
                  <a:lnTo>
                    <a:pt x="5019" y="2955"/>
                  </a:lnTo>
                  <a:lnTo>
                    <a:pt x="4534" y="3291"/>
                  </a:lnTo>
                  <a:close/>
                </a:path>
              </a:pathLst>
            </a:custGeom>
            <a:grpFill/>
            <a:ln w="15875">
              <a:noFill/>
              <a:round/>
            </a:ln>
          </p:spPr>
          <p:txBody>
            <a:bodyPr vert="horz" wrap="square" lIns="103142" tIns="51573" rIns="103142" bIns="51573" numCol="1" anchor="t" anchorCtr="0" compatLnSpc="1">
              <a:prstTxWarp prst="textNoShape">
                <a:avLst/>
              </a:prstTxWarp>
            </a:body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cxnSp>
        <p:nvCxnSpPr>
          <p:cNvPr id="584" name="直接连接符 583"/>
          <p:cNvCxnSpPr/>
          <p:nvPr/>
        </p:nvCxnSpPr>
        <p:spPr bwMode="gray">
          <a:xfrm flipH="1">
            <a:off x="3478958" y="4967678"/>
            <a:ext cx="71797" cy="133939"/>
          </a:xfrm>
          <a:prstGeom prst="line">
            <a:avLst/>
          </a:prstGeom>
          <a:ln>
            <a:solidFill>
              <a:srgbClr val="FFC000"/>
            </a:solidFill>
            <a:prstDash val="sysDash"/>
          </a:ln>
        </p:spPr>
        <p:style>
          <a:lnRef idx="1">
            <a:schemeClr val="accent1"/>
          </a:lnRef>
          <a:fillRef idx="0">
            <a:schemeClr val="accent1"/>
          </a:fillRef>
          <a:effectRef idx="0">
            <a:schemeClr val="accent1"/>
          </a:effectRef>
          <a:fontRef idx="minor">
            <a:schemeClr val="tx1"/>
          </a:fontRef>
        </p:style>
      </p:cxnSp>
      <p:sp>
        <p:nvSpPr>
          <p:cNvPr id="585" name="Freeform 27"/>
          <p:cNvSpPr>
            <a:spLocks noEditPoints="1"/>
          </p:cNvSpPr>
          <p:nvPr/>
        </p:nvSpPr>
        <p:spPr bwMode="gray">
          <a:xfrm>
            <a:off x="3720323" y="5024962"/>
            <a:ext cx="153315" cy="153311"/>
          </a:xfrm>
          <a:custGeom>
            <a:avLst/>
            <a:gdLst/>
            <a:ahLst/>
            <a:cxnLst>
              <a:cxn ang="0">
                <a:pos x="338" y="346"/>
              </a:cxn>
              <a:cxn ang="0">
                <a:pos x="314" y="416"/>
              </a:cxn>
              <a:cxn ang="0">
                <a:pos x="348" y="484"/>
              </a:cxn>
              <a:cxn ang="0">
                <a:pos x="436" y="504"/>
              </a:cxn>
              <a:cxn ang="0">
                <a:pos x="496" y="458"/>
              </a:cxn>
              <a:cxn ang="0">
                <a:pos x="508" y="410"/>
              </a:cxn>
              <a:cxn ang="0">
                <a:pos x="498" y="366"/>
              </a:cxn>
              <a:cxn ang="0">
                <a:pos x="424" y="314"/>
              </a:cxn>
              <a:cxn ang="0">
                <a:pos x="792" y="250"/>
              </a:cxn>
              <a:cxn ang="0">
                <a:pos x="766" y="224"/>
              </a:cxn>
              <a:cxn ang="0">
                <a:pos x="666" y="240"/>
              </a:cxn>
              <a:cxn ang="0">
                <a:pos x="680" y="128"/>
              </a:cxn>
              <a:cxn ang="0">
                <a:pos x="678" y="98"/>
              </a:cxn>
              <a:cxn ang="0">
                <a:pos x="560" y="24"/>
              </a:cxn>
              <a:cxn ang="0">
                <a:pos x="522" y="38"/>
              </a:cxn>
              <a:cxn ang="0">
                <a:pos x="432" y="104"/>
              </a:cxn>
              <a:cxn ang="0">
                <a:pos x="394" y="10"/>
              </a:cxn>
              <a:cxn ang="0">
                <a:pos x="250" y="30"/>
              </a:cxn>
              <a:cxn ang="0">
                <a:pos x="226" y="62"/>
              </a:cxn>
              <a:cxn ang="0">
                <a:pos x="240" y="152"/>
              </a:cxn>
              <a:cxn ang="0">
                <a:pos x="130" y="142"/>
              </a:cxn>
              <a:cxn ang="0">
                <a:pos x="90" y="152"/>
              </a:cxn>
              <a:cxn ang="0">
                <a:pos x="24" y="272"/>
              </a:cxn>
              <a:cxn ang="0">
                <a:pos x="38" y="300"/>
              </a:cxn>
              <a:cxn ang="0">
                <a:pos x="100" y="392"/>
              </a:cxn>
              <a:cxn ang="0">
                <a:pos x="6" y="432"/>
              </a:cxn>
              <a:cxn ang="0">
                <a:pos x="32" y="572"/>
              </a:cxn>
              <a:cxn ang="0">
                <a:pos x="58" y="596"/>
              </a:cxn>
              <a:cxn ang="0">
                <a:pos x="148" y="582"/>
              </a:cxn>
              <a:cxn ang="0">
                <a:pos x="144" y="692"/>
              </a:cxn>
              <a:cxn ang="0">
                <a:pos x="144" y="724"/>
              </a:cxn>
              <a:cxn ang="0">
                <a:pos x="262" y="796"/>
              </a:cxn>
              <a:cxn ang="0">
                <a:pos x="302" y="782"/>
              </a:cxn>
              <a:cxn ang="0">
                <a:pos x="394" y="724"/>
              </a:cxn>
              <a:cxn ang="0">
                <a:pos x="428" y="810"/>
              </a:cxn>
              <a:cxn ang="0">
                <a:pos x="572" y="790"/>
              </a:cxn>
              <a:cxn ang="0">
                <a:pos x="598" y="758"/>
              </a:cxn>
              <a:cxn ang="0">
                <a:pos x="582" y="670"/>
              </a:cxn>
              <a:cxn ang="0">
                <a:pos x="694" y="678"/>
              </a:cxn>
              <a:cxn ang="0">
                <a:pos x="734" y="670"/>
              </a:cxn>
              <a:cxn ang="0">
                <a:pos x="798" y="548"/>
              </a:cxn>
              <a:cxn ang="0">
                <a:pos x="784" y="520"/>
              </a:cxn>
              <a:cxn ang="0">
                <a:pos x="718" y="430"/>
              </a:cxn>
              <a:cxn ang="0">
                <a:pos x="816" y="388"/>
              </a:cxn>
              <a:cxn ang="0">
                <a:pos x="822" y="360"/>
              </a:cxn>
              <a:cxn ang="0">
                <a:pos x="404" y="576"/>
              </a:cxn>
              <a:cxn ang="0">
                <a:pos x="328" y="554"/>
              </a:cxn>
              <a:cxn ang="0">
                <a:pos x="272" y="498"/>
              </a:cxn>
              <a:cxn ang="0">
                <a:pos x="248" y="436"/>
              </a:cxn>
              <a:cxn ang="0">
                <a:pos x="254" y="358"/>
              </a:cxn>
              <a:cxn ang="0">
                <a:pos x="288" y="300"/>
              </a:cxn>
              <a:cxn ang="0">
                <a:pos x="352" y="256"/>
              </a:cxn>
              <a:cxn ang="0">
                <a:pos x="418" y="244"/>
              </a:cxn>
              <a:cxn ang="0">
                <a:pos x="494" y="266"/>
              </a:cxn>
              <a:cxn ang="0">
                <a:pos x="552" y="322"/>
              </a:cxn>
              <a:cxn ang="0">
                <a:pos x="574" y="384"/>
              </a:cxn>
              <a:cxn ang="0">
                <a:pos x="568" y="464"/>
              </a:cxn>
              <a:cxn ang="0">
                <a:pos x="526" y="530"/>
              </a:cxn>
              <a:cxn ang="0">
                <a:pos x="454" y="570"/>
              </a:cxn>
            </a:cxnLst>
            <a:rect l="0" t="0" r="r" b="b"/>
            <a:pathLst>
              <a:path w="822" h="822">
                <a:moveTo>
                  <a:pt x="386" y="316"/>
                </a:moveTo>
                <a:lnTo>
                  <a:pt x="386" y="316"/>
                </a:lnTo>
                <a:lnTo>
                  <a:pt x="368" y="322"/>
                </a:lnTo>
                <a:lnTo>
                  <a:pt x="352" y="332"/>
                </a:lnTo>
                <a:lnTo>
                  <a:pt x="338" y="346"/>
                </a:lnTo>
                <a:lnTo>
                  <a:pt x="326" y="362"/>
                </a:lnTo>
                <a:lnTo>
                  <a:pt x="326" y="362"/>
                </a:lnTo>
                <a:lnTo>
                  <a:pt x="320" y="380"/>
                </a:lnTo>
                <a:lnTo>
                  <a:pt x="314" y="398"/>
                </a:lnTo>
                <a:lnTo>
                  <a:pt x="314" y="416"/>
                </a:lnTo>
                <a:lnTo>
                  <a:pt x="318" y="436"/>
                </a:lnTo>
                <a:lnTo>
                  <a:pt x="318" y="436"/>
                </a:lnTo>
                <a:lnTo>
                  <a:pt x="324" y="454"/>
                </a:lnTo>
                <a:lnTo>
                  <a:pt x="334" y="470"/>
                </a:lnTo>
                <a:lnTo>
                  <a:pt x="348" y="484"/>
                </a:lnTo>
                <a:lnTo>
                  <a:pt x="362" y="494"/>
                </a:lnTo>
                <a:lnTo>
                  <a:pt x="380" y="502"/>
                </a:lnTo>
                <a:lnTo>
                  <a:pt x="398" y="506"/>
                </a:lnTo>
                <a:lnTo>
                  <a:pt x="418" y="508"/>
                </a:lnTo>
                <a:lnTo>
                  <a:pt x="436" y="504"/>
                </a:lnTo>
                <a:lnTo>
                  <a:pt x="436" y="504"/>
                </a:lnTo>
                <a:lnTo>
                  <a:pt x="454" y="498"/>
                </a:lnTo>
                <a:lnTo>
                  <a:pt x="470" y="488"/>
                </a:lnTo>
                <a:lnTo>
                  <a:pt x="484" y="474"/>
                </a:lnTo>
                <a:lnTo>
                  <a:pt x="496" y="458"/>
                </a:lnTo>
                <a:lnTo>
                  <a:pt x="496" y="458"/>
                </a:lnTo>
                <a:lnTo>
                  <a:pt x="502" y="448"/>
                </a:lnTo>
                <a:lnTo>
                  <a:pt x="506" y="436"/>
                </a:lnTo>
                <a:lnTo>
                  <a:pt x="508" y="422"/>
                </a:lnTo>
                <a:lnTo>
                  <a:pt x="508" y="410"/>
                </a:lnTo>
                <a:lnTo>
                  <a:pt x="508" y="410"/>
                </a:lnTo>
                <a:lnTo>
                  <a:pt x="508" y="398"/>
                </a:lnTo>
                <a:lnTo>
                  <a:pt x="506" y="386"/>
                </a:lnTo>
                <a:lnTo>
                  <a:pt x="506" y="386"/>
                </a:lnTo>
                <a:lnTo>
                  <a:pt x="498" y="366"/>
                </a:lnTo>
                <a:lnTo>
                  <a:pt x="488" y="350"/>
                </a:lnTo>
                <a:lnTo>
                  <a:pt x="476" y="336"/>
                </a:lnTo>
                <a:lnTo>
                  <a:pt x="460" y="326"/>
                </a:lnTo>
                <a:lnTo>
                  <a:pt x="444" y="318"/>
                </a:lnTo>
                <a:lnTo>
                  <a:pt x="424" y="314"/>
                </a:lnTo>
                <a:lnTo>
                  <a:pt x="406" y="312"/>
                </a:lnTo>
                <a:lnTo>
                  <a:pt x="386" y="316"/>
                </a:lnTo>
                <a:lnTo>
                  <a:pt x="386" y="316"/>
                </a:lnTo>
                <a:close/>
                <a:moveTo>
                  <a:pt x="822" y="360"/>
                </a:moveTo>
                <a:lnTo>
                  <a:pt x="792" y="250"/>
                </a:lnTo>
                <a:lnTo>
                  <a:pt x="792" y="250"/>
                </a:lnTo>
                <a:lnTo>
                  <a:pt x="790" y="244"/>
                </a:lnTo>
                <a:lnTo>
                  <a:pt x="786" y="238"/>
                </a:lnTo>
                <a:lnTo>
                  <a:pt x="778" y="230"/>
                </a:lnTo>
                <a:lnTo>
                  <a:pt x="766" y="224"/>
                </a:lnTo>
                <a:lnTo>
                  <a:pt x="760" y="224"/>
                </a:lnTo>
                <a:lnTo>
                  <a:pt x="752" y="224"/>
                </a:lnTo>
                <a:lnTo>
                  <a:pt x="752" y="224"/>
                </a:lnTo>
                <a:lnTo>
                  <a:pt x="666" y="240"/>
                </a:lnTo>
                <a:lnTo>
                  <a:pt x="666" y="240"/>
                </a:lnTo>
                <a:lnTo>
                  <a:pt x="654" y="224"/>
                </a:lnTo>
                <a:lnTo>
                  <a:pt x="642" y="208"/>
                </a:lnTo>
                <a:lnTo>
                  <a:pt x="642" y="208"/>
                </a:lnTo>
                <a:lnTo>
                  <a:pt x="680" y="128"/>
                </a:lnTo>
                <a:lnTo>
                  <a:pt x="680" y="128"/>
                </a:lnTo>
                <a:lnTo>
                  <a:pt x="682" y="122"/>
                </a:lnTo>
                <a:lnTo>
                  <a:pt x="682" y="114"/>
                </a:lnTo>
                <a:lnTo>
                  <a:pt x="682" y="114"/>
                </a:lnTo>
                <a:lnTo>
                  <a:pt x="682" y="106"/>
                </a:lnTo>
                <a:lnTo>
                  <a:pt x="678" y="98"/>
                </a:lnTo>
                <a:lnTo>
                  <a:pt x="672" y="90"/>
                </a:lnTo>
                <a:lnTo>
                  <a:pt x="666" y="84"/>
                </a:lnTo>
                <a:lnTo>
                  <a:pt x="566" y="28"/>
                </a:lnTo>
                <a:lnTo>
                  <a:pt x="566" y="28"/>
                </a:lnTo>
                <a:lnTo>
                  <a:pt x="560" y="24"/>
                </a:lnTo>
                <a:lnTo>
                  <a:pt x="554" y="24"/>
                </a:lnTo>
                <a:lnTo>
                  <a:pt x="542" y="24"/>
                </a:lnTo>
                <a:lnTo>
                  <a:pt x="530" y="28"/>
                </a:lnTo>
                <a:lnTo>
                  <a:pt x="526" y="32"/>
                </a:lnTo>
                <a:lnTo>
                  <a:pt x="522" y="38"/>
                </a:lnTo>
                <a:lnTo>
                  <a:pt x="522" y="38"/>
                </a:lnTo>
                <a:lnTo>
                  <a:pt x="472" y="108"/>
                </a:lnTo>
                <a:lnTo>
                  <a:pt x="472" y="108"/>
                </a:lnTo>
                <a:lnTo>
                  <a:pt x="452" y="106"/>
                </a:lnTo>
                <a:lnTo>
                  <a:pt x="432" y="104"/>
                </a:lnTo>
                <a:lnTo>
                  <a:pt x="432" y="104"/>
                </a:lnTo>
                <a:lnTo>
                  <a:pt x="402" y="22"/>
                </a:lnTo>
                <a:lnTo>
                  <a:pt x="402" y="22"/>
                </a:lnTo>
                <a:lnTo>
                  <a:pt x="398" y="16"/>
                </a:lnTo>
                <a:lnTo>
                  <a:pt x="394" y="10"/>
                </a:lnTo>
                <a:lnTo>
                  <a:pt x="386" y="4"/>
                </a:lnTo>
                <a:lnTo>
                  <a:pt x="374" y="0"/>
                </a:lnTo>
                <a:lnTo>
                  <a:pt x="366" y="0"/>
                </a:lnTo>
                <a:lnTo>
                  <a:pt x="360" y="0"/>
                </a:lnTo>
                <a:lnTo>
                  <a:pt x="250" y="30"/>
                </a:lnTo>
                <a:lnTo>
                  <a:pt x="250" y="30"/>
                </a:lnTo>
                <a:lnTo>
                  <a:pt x="240" y="34"/>
                </a:lnTo>
                <a:lnTo>
                  <a:pt x="232" y="42"/>
                </a:lnTo>
                <a:lnTo>
                  <a:pt x="228" y="52"/>
                </a:lnTo>
                <a:lnTo>
                  <a:pt x="226" y="62"/>
                </a:lnTo>
                <a:lnTo>
                  <a:pt x="226" y="62"/>
                </a:lnTo>
                <a:lnTo>
                  <a:pt x="226" y="68"/>
                </a:lnTo>
                <a:lnTo>
                  <a:pt x="226" y="68"/>
                </a:lnTo>
                <a:lnTo>
                  <a:pt x="240" y="152"/>
                </a:lnTo>
                <a:lnTo>
                  <a:pt x="240" y="152"/>
                </a:lnTo>
                <a:lnTo>
                  <a:pt x="222" y="164"/>
                </a:lnTo>
                <a:lnTo>
                  <a:pt x="206" y="178"/>
                </a:lnTo>
                <a:lnTo>
                  <a:pt x="206" y="178"/>
                </a:lnTo>
                <a:lnTo>
                  <a:pt x="130" y="142"/>
                </a:lnTo>
                <a:lnTo>
                  <a:pt x="130" y="142"/>
                </a:lnTo>
                <a:lnTo>
                  <a:pt x="124" y="140"/>
                </a:lnTo>
                <a:lnTo>
                  <a:pt x="118" y="140"/>
                </a:lnTo>
                <a:lnTo>
                  <a:pt x="104" y="140"/>
                </a:lnTo>
                <a:lnTo>
                  <a:pt x="94" y="146"/>
                </a:lnTo>
                <a:lnTo>
                  <a:pt x="90" y="152"/>
                </a:lnTo>
                <a:lnTo>
                  <a:pt x="86" y="156"/>
                </a:lnTo>
                <a:lnTo>
                  <a:pt x="28" y="256"/>
                </a:lnTo>
                <a:lnTo>
                  <a:pt x="28" y="256"/>
                </a:lnTo>
                <a:lnTo>
                  <a:pt x="26" y="264"/>
                </a:lnTo>
                <a:lnTo>
                  <a:pt x="24" y="272"/>
                </a:lnTo>
                <a:lnTo>
                  <a:pt x="24" y="272"/>
                </a:lnTo>
                <a:lnTo>
                  <a:pt x="26" y="280"/>
                </a:lnTo>
                <a:lnTo>
                  <a:pt x="28" y="288"/>
                </a:lnTo>
                <a:lnTo>
                  <a:pt x="32" y="294"/>
                </a:lnTo>
                <a:lnTo>
                  <a:pt x="38" y="300"/>
                </a:lnTo>
                <a:lnTo>
                  <a:pt x="38" y="300"/>
                </a:lnTo>
                <a:lnTo>
                  <a:pt x="106" y="346"/>
                </a:lnTo>
                <a:lnTo>
                  <a:pt x="106" y="346"/>
                </a:lnTo>
                <a:lnTo>
                  <a:pt x="102" y="370"/>
                </a:lnTo>
                <a:lnTo>
                  <a:pt x="100" y="392"/>
                </a:lnTo>
                <a:lnTo>
                  <a:pt x="100" y="392"/>
                </a:lnTo>
                <a:lnTo>
                  <a:pt x="22" y="420"/>
                </a:lnTo>
                <a:lnTo>
                  <a:pt x="22" y="420"/>
                </a:lnTo>
                <a:lnTo>
                  <a:pt x="14" y="426"/>
                </a:lnTo>
                <a:lnTo>
                  <a:pt x="6" y="432"/>
                </a:lnTo>
                <a:lnTo>
                  <a:pt x="2" y="442"/>
                </a:lnTo>
                <a:lnTo>
                  <a:pt x="0" y="452"/>
                </a:lnTo>
                <a:lnTo>
                  <a:pt x="0" y="452"/>
                </a:lnTo>
                <a:lnTo>
                  <a:pt x="2" y="462"/>
                </a:lnTo>
                <a:lnTo>
                  <a:pt x="32" y="572"/>
                </a:lnTo>
                <a:lnTo>
                  <a:pt x="32" y="572"/>
                </a:lnTo>
                <a:lnTo>
                  <a:pt x="34" y="578"/>
                </a:lnTo>
                <a:lnTo>
                  <a:pt x="36" y="582"/>
                </a:lnTo>
                <a:lnTo>
                  <a:pt x="46" y="590"/>
                </a:lnTo>
                <a:lnTo>
                  <a:pt x="58" y="596"/>
                </a:lnTo>
                <a:lnTo>
                  <a:pt x="64" y="596"/>
                </a:lnTo>
                <a:lnTo>
                  <a:pt x="70" y="596"/>
                </a:lnTo>
                <a:lnTo>
                  <a:pt x="70" y="596"/>
                </a:lnTo>
                <a:lnTo>
                  <a:pt x="148" y="582"/>
                </a:lnTo>
                <a:lnTo>
                  <a:pt x="148" y="582"/>
                </a:lnTo>
                <a:lnTo>
                  <a:pt x="162" y="602"/>
                </a:lnTo>
                <a:lnTo>
                  <a:pt x="178" y="620"/>
                </a:lnTo>
                <a:lnTo>
                  <a:pt x="178" y="620"/>
                </a:lnTo>
                <a:lnTo>
                  <a:pt x="144" y="692"/>
                </a:lnTo>
                <a:lnTo>
                  <a:pt x="144" y="692"/>
                </a:lnTo>
                <a:lnTo>
                  <a:pt x="142" y="700"/>
                </a:lnTo>
                <a:lnTo>
                  <a:pt x="140" y="706"/>
                </a:lnTo>
                <a:lnTo>
                  <a:pt x="140" y="706"/>
                </a:lnTo>
                <a:lnTo>
                  <a:pt x="142" y="716"/>
                </a:lnTo>
                <a:lnTo>
                  <a:pt x="144" y="724"/>
                </a:lnTo>
                <a:lnTo>
                  <a:pt x="150" y="730"/>
                </a:lnTo>
                <a:lnTo>
                  <a:pt x="158" y="736"/>
                </a:lnTo>
                <a:lnTo>
                  <a:pt x="256" y="792"/>
                </a:lnTo>
                <a:lnTo>
                  <a:pt x="256" y="792"/>
                </a:lnTo>
                <a:lnTo>
                  <a:pt x="262" y="796"/>
                </a:lnTo>
                <a:lnTo>
                  <a:pt x="268" y="798"/>
                </a:lnTo>
                <a:lnTo>
                  <a:pt x="280" y="796"/>
                </a:lnTo>
                <a:lnTo>
                  <a:pt x="292" y="792"/>
                </a:lnTo>
                <a:lnTo>
                  <a:pt x="296" y="788"/>
                </a:lnTo>
                <a:lnTo>
                  <a:pt x="302" y="782"/>
                </a:lnTo>
                <a:lnTo>
                  <a:pt x="302" y="782"/>
                </a:lnTo>
                <a:lnTo>
                  <a:pt x="348" y="718"/>
                </a:lnTo>
                <a:lnTo>
                  <a:pt x="348" y="718"/>
                </a:lnTo>
                <a:lnTo>
                  <a:pt x="370" y="722"/>
                </a:lnTo>
                <a:lnTo>
                  <a:pt x="394" y="724"/>
                </a:lnTo>
                <a:lnTo>
                  <a:pt x="394" y="724"/>
                </a:lnTo>
                <a:lnTo>
                  <a:pt x="422" y="798"/>
                </a:lnTo>
                <a:lnTo>
                  <a:pt x="422" y="798"/>
                </a:lnTo>
                <a:lnTo>
                  <a:pt x="424" y="804"/>
                </a:lnTo>
                <a:lnTo>
                  <a:pt x="428" y="810"/>
                </a:lnTo>
                <a:lnTo>
                  <a:pt x="438" y="818"/>
                </a:lnTo>
                <a:lnTo>
                  <a:pt x="450" y="820"/>
                </a:lnTo>
                <a:lnTo>
                  <a:pt x="456" y="822"/>
                </a:lnTo>
                <a:lnTo>
                  <a:pt x="462" y="820"/>
                </a:lnTo>
                <a:lnTo>
                  <a:pt x="572" y="790"/>
                </a:lnTo>
                <a:lnTo>
                  <a:pt x="572" y="790"/>
                </a:lnTo>
                <a:lnTo>
                  <a:pt x="582" y="786"/>
                </a:lnTo>
                <a:lnTo>
                  <a:pt x="590" y="778"/>
                </a:lnTo>
                <a:lnTo>
                  <a:pt x="596" y="768"/>
                </a:lnTo>
                <a:lnTo>
                  <a:pt x="598" y="758"/>
                </a:lnTo>
                <a:lnTo>
                  <a:pt x="598" y="758"/>
                </a:lnTo>
                <a:lnTo>
                  <a:pt x="596" y="752"/>
                </a:lnTo>
                <a:lnTo>
                  <a:pt x="596" y="752"/>
                </a:lnTo>
                <a:lnTo>
                  <a:pt x="582" y="670"/>
                </a:lnTo>
                <a:lnTo>
                  <a:pt x="582" y="670"/>
                </a:lnTo>
                <a:lnTo>
                  <a:pt x="600" y="658"/>
                </a:lnTo>
                <a:lnTo>
                  <a:pt x="618" y="642"/>
                </a:lnTo>
                <a:lnTo>
                  <a:pt x="618" y="642"/>
                </a:lnTo>
                <a:lnTo>
                  <a:pt x="694" y="678"/>
                </a:lnTo>
                <a:lnTo>
                  <a:pt x="694" y="678"/>
                </a:lnTo>
                <a:lnTo>
                  <a:pt x="700" y="680"/>
                </a:lnTo>
                <a:lnTo>
                  <a:pt x="706" y="682"/>
                </a:lnTo>
                <a:lnTo>
                  <a:pt x="718" y="680"/>
                </a:lnTo>
                <a:lnTo>
                  <a:pt x="728" y="674"/>
                </a:lnTo>
                <a:lnTo>
                  <a:pt x="734" y="670"/>
                </a:lnTo>
                <a:lnTo>
                  <a:pt x="738" y="664"/>
                </a:lnTo>
                <a:lnTo>
                  <a:pt x="794" y="566"/>
                </a:lnTo>
                <a:lnTo>
                  <a:pt x="794" y="566"/>
                </a:lnTo>
                <a:lnTo>
                  <a:pt x="798" y="558"/>
                </a:lnTo>
                <a:lnTo>
                  <a:pt x="798" y="548"/>
                </a:lnTo>
                <a:lnTo>
                  <a:pt x="798" y="548"/>
                </a:lnTo>
                <a:lnTo>
                  <a:pt x="798" y="540"/>
                </a:lnTo>
                <a:lnTo>
                  <a:pt x="794" y="532"/>
                </a:lnTo>
                <a:lnTo>
                  <a:pt x="790" y="526"/>
                </a:lnTo>
                <a:lnTo>
                  <a:pt x="784" y="520"/>
                </a:lnTo>
                <a:lnTo>
                  <a:pt x="784" y="520"/>
                </a:lnTo>
                <a:lnTo>
                  <a:pt x="712" y="470"/>
                </a:lnTo>
                <a:lnTo>
                  <a:pt x="712" y="470"/>
                </a:lnTo>
                <a:lnTo>
                  <a:pt x="716" y="450"/>
                </a:lnTo>
                <a:lnTo>
                  <a:pt x="718" y="430"/>
                </a:lnTo>
                <a:lnTo>
                  <a:pt x="718" y="430"/>
                </a:lnTo>
                <a:lnTo>
                  <a:pt x="800" y="400"/>
                </a:lnTo>
                <a:lnTo>
                  <a:pt x="800" y="400"/>
                </a:lnTo>
                <a:lnTo>
                  <a:pt x="810" y="396"/>
                </a:lnTo>
                <a:lnTo>
                  <a:pt x="816" y="388"/>
                </a:lnTo>
                <a:lnTo>
                  <a:pt x="820" y="378"/>
                </a:lnTo>
                <a:lnTo>
                  <a:pt x="822" y="368"/>
                </a:lnTo>
                <a:lnTo>
                  <a:pt x="822" y="368"/>
                </a:lnTo>
                <a:lnTo>
                  <a:pt x="822" y="360"/>
                </a:lnTo>
                <a:lnTo>
                  <a:pt x="822" y="360"/>
                </a:lnTo>
                <a:close/>
                <a:moveTo>
                  <a:pt x="454" y="570"/>
                </a:moveTo>
                <a:lnTo>
                  <a:pt x="454" y="570"/>
                </a:lnTo>
                <a:lnTo>
                  <a:pt x="438" y="574"/>
                </a:lnTo>
                <a:lnTo>
                  <a:pt x="422" y="576"/>
                </a:lnTo>
                <a:lnTo>
                  <a:pt x="404" y="576"/>
                </a:lnTo>
                <a:lnTo>
                  <a:pt x="388" y="574"/>
                </a:lnTo>
                <a:lnTo>
                  <a:pt x="372" y="572"/>
                </a:lnTo>
                <a:lnTo>
                  <a:pt x="358" y="566"/>
                </a:lnTo>
                <a:lnTo>
                  <a:pt x="342" y="560"/>
                </a:lnTo>
                <a:lnTo>
                  <a:pt x="328" y="554"/>
                </a:lnTo>
                <a:lnTo>
                  <a:pt x="316" y="544"/>
                </a:lnTo>
                <a:lnTo>
                  <a:pt x="302" y="536"/>
                </a:lnTo>
                <a:lnTo>
                  <a:pt x="292" y="524"/>
                </a:lnTo>
                <a:lnTo>
                  <a:pt x="280" y="512"/>
                </a:lnTo>
                <a:lnTo>
                  <a:pt x="272" y="498"/>
                </a:lnTo>
                <a:lnTo>
                  <a:pt x="264" y="484"/>
                </a:lnTo>
                <a:lnTo>
                  <a:pt x="256" y="470"/>
                </a:lnTo>
                <a:lnTo>
                  <a:pt x="252" y="454"/>
                </a:lnTo>
                <a:lnTo>
                  <a:pt x="252" y="454"/>
                </a:lnTo>
                <a:lnTo>
                  <a:pt x="248" y="436"/>
                </a:lnTo>
                <a:lnTo>
                  <a:pt x="246" y="420"/>
                </a:lnTo>
                <a:lnTo>
                  <a:pt x="246" y="404"/>
                </a:lnTo>
                <a:lnTo>
                  <a:pt x="248" y="388"/>
                </a:lnTo>
                <a:lnTo>
                  <a:pt x="250" y="372"/>
                </a:lnTo>
                <a:lnTo>
                  <a:pt x="254" y="358"/>
                </a:lnTo>
                <a:lnTo>
                  <a:pt x="260" y="342"/>
                </a:lnTo>
                <a:lnTo>
                  <a:pt x="268" y="328"/>
                </a:lnTo>
                <a:lnTo>
                  <a:pt x="268" y="328"/>
                </a:lnTo>
                <a:lnTo>
                  <a:pt x="276" y="314"/>
                </a:lnTo>
                <a:lnTo>
                  <a:pt x="288" y="300"/>
                </a:lnTo>
                <a:lnTo>
                  <a:pt x="298" y="290"/>
                </a:lnTo>
                <a:lnTo>
                  <a:pt x="310" y="278"/>
                </a:lnTo>
                <a:lnTo>
                  <a:pt x="324" y="270"/>
                </a:lnTo>
                <a:lnTo>
                  <a:pt x="338" y="262"/>
                </a:lnTo>
                <a:lnTo>
                  <a:pt x="352" y="256"/>
                </a:lnTo>
                <a:lnTo>
                  <a:pt x="368" y="250"/>
                </a:lnTo>
                <a:lnTo>
                  <a:pt x="368" y="250"/>
                </a:lnTo>
                <a:lnTo>
                  <a:pt x="386" y="246"/>
                </a:lnTo>
                <a:lnTo>
                  <a:pt x="402" y="246"/>
                </a:lnTo>
                <a:lnTo>
                  <a:pt x="418" y="244"/>
                </a:lnTo>
                <a:lnTo>
                  <a:pt x="434" y="246"/>
                </a:lnTo>
                <a:lnTo>
                  <a:pt x="450" y="250"/>
                </a:lnTo>
                <a:lnTo>
                  <a:pt x="466" y="254"/>
                </a:lnTo>
                <a:lnTo>
                  <a:pt x="480" y="260"/>
                </a:lnTo>
                <a:lnTo>
                  <a:pt x="494" y="266"/>
                </a:lnTo>
                <a:lnTo>
                  <a:pt x="508" y="276"/>
                </a:lnTo>
                <a:lnTo>
                  <a:pt x="520" y="286"/>
                </a:lnTo>
                <a:lnTo>
                  <a:pt x="532" y="296"/>
                </a:lnTo>
                <a:lnTo>
                  <a:pt x="542" y="308"/>
                </a:lnTo>
                <a:lnTo>
                  <a:pt x="552" y="322"/>
                </a:lnTo>
                <a:lnTo>
                  <a:pt x="560" y="336"/>
                </a:lnTo>
                <a:lnTo>
                  <a:pt x="566" y="352"/>
                </a:lnTo>
                <a:lnTo>
                  <a:pt x="572" y="368"/>
                </a:lnTo>
                <a:lnTo>
                  <a:pt x="572" y="368"/>
                </a:lnTo>
                <a:lnTo>
                  <a:pt x="574" y="384"/>
                </a:lnTo>
                <a:lnTo>
                  <a:pt x="576" y="400"/>
                </a:lnTo>
                <a:lnTo>
                  <a:pt x="576" y="416"/>
                </a:lnTo>
                <a:lnTo>
                  <a:pt x="576" y="432"/>
                </a:lnTo>
                <a:lnTo>
                  <a:pt x="572" y="448"/>
                </a:lnTo>
                <a:lnTo>
                  <a:pt x="568" y="464"/>
                </a:lnTo>
                <a:lnTo>
                  <a:pt x="562" y="478"/>
                </a:lnTo>
                <a:lnTo>
                  <a:pt x="554" y="492"/>
                </a:lnTo>
                <a:lnTo>
                  <a:pt x="546" y="506"/>
                </a:lnTo>
                <a:lnTo>
                  <a:pt x="536" y="518"/>
                </a:lnTo>
                <a:lnTo>
                  <a:pt x="526" y="530"/>
                </a:lnTo>
                <a:lnTo>
                  <a:pt x="512" y="540"/>
                </a:lnTo>
                <a:lnTo>
                  <a:pt x="500" y="550"/>
                </a:lnTo>
                <a:lnTo>
                  <a:pt x="486" y="558"/>
                </a:lnTo>
                <a:lnTo>
                  <a:pt x="470" y="564"/>
                </a:lnTo>
                <a:lnTo>
                  <a:pt x="454" y="570"/>
                </a:lnTo>
                <a:lnTo>
                  <a:pt x="454" y="570"/>
                </a:lnTo>
                <a:close/>
              </a:path>
            </a:pathLst>
          </a:custGeom>
          <a:solidFill>
            <a:srgbClr val="26B7C8"/>
          </a:solidFill>
          <a:ln w="9525">
            <a:noFill/>
            <a:round/>
          </a:ln>
        </p:spPr>
        <p:txBody>
          <a:bodyPr vert="horz" wrap="square" lIns="121864" tIns="60933" rIns="121864" bIns="60933" numCol="1" anchor="t" anchorCtr="0" compatLnSpc="1">
            <a:prstTxWarp prst="textNoShape">
              <a:avLst/>
            </a:prstTxWarp>
          </a:bodyPr>
          <a:lstStyle/>
          <a:p>
            <a:pPr defTabSz="1218712" fontAlgn="base">
              <a:spcBef>
                <a:spcPct val="0"/>
              </a:spcBef>
              <a:spcAft>
                <a:spcPct val="0"/>
              </a:spcAft>
            </a:pPr>
            <a:endParaRPr lang="zh-CN" altLang="en-US" sz="3198">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6" name="椭圆 585"/>
          <p:cNvSpPr/>
          <p:nvPr/>
        </p:nvSpPr>
        <p:spPr bwMode="gray">
          <a:xfrm>
            <a:off x="4158340" y="5620184"/>
            <a:ext cx="107945" cy="10752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7" name="Freeform 15"/>
          <p:cNvSpPr/>
          <p:nvPr/>
        </p:nvSpPr>
        <p:spPr bwMode="gray">
          <a:xfrm>
            <a:off x="7871225" y="4794301"/>
            <a:ext cx="1745573" cy="391353"/>
          </a:xfrm>
          <a:custGeom>
            <a:avLst/>
            <a:gdLst>
              <a:gd name="T0" fmla="*/ 0 w 2233"/>
              <a:gd name="T1" fmla="*/ 0 h 789"/>
              <a:gd name="T2" fmla="*/ 1179 w 2233"/>
              <a:gd name="T3" fmla="*/ 0 h 789"/>
              <a:gd name="T4" fmla="*/ 2233 w 2233"/>
              <a:gd name="T5" fmla="*/ 789 h 789"/>
              <a:gd name="T6" fmla="*/ 581 w 2233"/>
              <a:gd name="T7" fmla="*/ 789 h 789"/>
              <a:gd name="T8" fmla="*/ 0 w 2233"/>
              <a:gd name="T9" fmla="*/ 0 h 789"/>
              <a:gd name="T10" fmla="*/ 0 w 2233"/>
              <a:gd name="T11" fmla="*/ 0 h 789"/>
              <a:gd name="connsiteX0" fmla="*/ 0 w 10368"/>
              <a:gd name="connsiteY0" fmla="*/ 0 h 10000"/>
              <a:gd name="connsiteX1" fmla="*/ 8454 w 10368"/>
              <a:gd name="connsiteY1" fmla="*/ 237 h 10000"/>
              <a:gd name="connsiteX2" fmla="*/ 10368 w 10368"/>
              <a:gd name="connsiteY2" fmla="*/ 9607 h 10000"/>
              <a:gd name="connsiteX3" fmla="*/ 1372 w 10368"/>
              <a:gd name="connsiteY3" fmla="*/ 10000 h 10000"/>
              <a:gd name="connsiteX4" fmla="*/ 0 w 10368"/>
              <a:gd name="connsiteY4" fmla="*/ 0 h 10000"/>
              <a:gd name="connsiteX5" fmla="*/ 0 w 10368"/>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8" h="10000">
                <a:moveTo>
                  <a:pt x="0" y="0"/>
                </a:moveTo>
                <a:lnTo>
                  <a:pt x="8454" y="237"/>
                </a:lnTo>
                <a:lnTo>
                  <a:pt x="10368" y="9607"/>
                </a:lnTo>
                <a:lnTo>
                  <a:pt x="1372" y="10000"/>
                </a:lnTo>
                <a:lnTo>
                  <a:pt x="0" y="0"/>
                </a:lnTo>
                <a:lnTo>
                  <a:pt x="0" y="0"/>
                </a:lnTo>
                <a:close/>
              </a:path>
            </a:pathLst>
          </a:custGeom>
          <a:solidFill>
            <a:srgbClr val="26B7C8">
              <a:alpha val="45000"/>
            </a:srgbClr>
          </a:solidFill>
        </p:spPr>
        <p:txBody>
          <a:bodyPr wrap="square" lIns="121868" tIns="60934" rIns="121868" bIns="60934" rtlCol="0" anchor="ctr" anchorCtr="1">
            <a:noAutofit/>
          </a:bodyPr>
          <a:lstStyle/>
          <a:p>
            <a:pPr indent="717215" defTabSz="1218712" fontAlgn="ctr">
              <a:spcBef>
                <a:spcPct val="0"/>
              </a:spcBef>
              <a:spcAft>
                <a:spcPct val="0"/>
              </a:spcAft>
              <a:buClr>
                <a:srgbClr val="FFC000"/>
              </a:buClr>
              <a:buSzPct val="60000"/>
              <a:buFont typeface="Wingdings" pitchFamily="2" charset="2"/>
              <a:buChar char="n"/>
            </a:pPr>
            <a:endParaRPr lang="zh-CN" altLang="en-US" sz="2099" kern="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588" name="图片 16"/>
          <p:cNvPicPr>
            <a:picLocks noChangeAspect="1"/>
          </p:cNvPicPr>
          <p:nvPr/>
        </p:nvPicPr>
        <p:blipFill>
          <a:blip r:embed="rId4">
            <a:extLst>
              <a:ext uri="{28A0092B-C50C-407E-A947-70E740481C1C}">
                <a14:useLocalDpi xmlns:a14="http://schemas.microsoft.com/office/drawing/2010/main"/>
              </a:ext>
            </a:extLst>
          </a:blip>
          <a:stretch>
            <a:fillRect/>
          </a:stretch>
        </p:blipFill>
        <p:spPr bwMode="gray">
          <a:xfrm>
            <a:off x="8015389" y="4830294"/>
            <a:ext cx="968577" cy="350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1" name="Freeform 15"/>
          <p:cNvSpPr/>
          <p:nvPr/>
        </p:nvSpPr>
        <p:spPr bwMode="gray">
          <a:xfrm>
            <a:off x="8123934" y="5268985"/>
            <a:ext cx="1822098" cy="391353"/>
          </a:xfrm>
          <a:custGeom>
            <a:avLst/>
            <a:gdLst>
              <a:gd name="T0" fmla="*/ 0 w 2233"/>
              <a:gd name="T1" fmla="*/ 0 h 789"/>
              <a:gd name="T2" fmla="*/ 1179 w 2233"/>
              <a:gd name="T3" fmla="*/ 0 h 789"/>
              <a:gd name="T4" fmla="*/ 2233 w 2233"/>
              <a:gd name="T5" fmla="*/ 789 h 789"/>
              <a:gd name="T6" fmla="*/ 581 w 2233"/>
              <a:gd name="T7" fmla="*/ 789 h 789"/>
              <a:gd name="T8" fmla="*/ 0 w 2233"/>
              <a:gd name="T9" fmla="*/ 0 h 789"/>
              <a:gd name="T10" fmla="*/ 0 w 2233"/>
              <a:gd name="T11" fmla="*/ 0 h 789"/>
              <a:gd name="connsiteX0" fmla="*/ 0 w 10368"/>
              <a:gd name="connsiteY0" fmla="*/ 0 h 10000"/>
              <a:gd name="connsiteX1" fmla="*/ 8454 w 10368"/>
              <a:gd name="connsiteY1" fmla="*/ 237 h 10000"/>
              <a:gd name="connsiteX2" fmla="*/ 10368 w 10368"/>
              <a:gd name="connsiteY2" fmla="*/ 9607 h 10000"/>
              <a:gd name="connsiteX3" fmla="*/ 1372 w 10368"/>
              <a:gd name="connsiteY3" fmla="*/ 10000 h 10000"/>
              <a:gd name="connsiteX4" fmla="*/ 0 w 10368"/>
              <a:gd name="connsiteY4" fmla="*/ 0 h 10000"/>
              <a:gd name="connsiteX5" fmla="*/ 0 w 10368"/>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8" h="10000">
                <a:moveTo>
                  <a:pt x="0" y="0"/>
                </a:moveTo>
                <a:lnTo>
                  <a:pt x="8454" y="237"/>
                </a:lnTo>
                <a:lnTo>
                  <a:pt x="10368" y="9607"/>
                </a:lnTo>
                <a:lnTo>
                  <a:pt x="1372" y="10000"/>
                </a:lnTo>
                <a:lnTo>
                  <a:pt x="0" y="0"/>
                </a:lnTo>
                <a:lnTo>
                  <a:pt x="0" y="0"/>
                </a:lnTo>
                <a:close/>
              </a:path>
            </a:pathLst>
          </a:custGeom>
          <a:solidFill>
            <a:srgbClr val="26B7C8">
              <a:alpha val="40000"/>
            </a:srgbClr>
          </a:solidFill>
        </p:spPr>
        <p:txBody>
          <a:bodyPr wrap="square" lIns="121868" tIns="60934" rIns="121868" bIns="60934" rtlCol="0" anchor="ctr" anchorCtr="1">
            <a:noAutofit/>
          </a:bodyPr>
          <a:lstStyle/>
          <a:p>
            <a:pPr indent="717215" defTabSz="1218712" fontAlgn="ctr">
              <a:spcBef>
                <a:spcPct val="0"/>
              </a:spcBef>
              <a:spcAft>
                <a:spcPct val="0"/>
              </a:spcAft>
              <a:buClr>
                <a:srgbClr val="FFC000"/>
              </a:buClr>
              <a:buSzPct val="60000"/>
              <a:buFont typeface="Wingdings" pitchFamily="2" charset="2"/>
              <a:buChar char="n"/>
            </a:pPr>
            <a:endParaRPr lang="zh-CN" altLang="en-US" sz="2099" kern="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92" name="Freeform 247"/>
          <p:cNvSpPr/>
          <p:nvPr/>
        </p:nvSpPr>
        <p:spPr bwMode="gray">
          <a:xfrm>
            <a:off x="8494298" y="5294334"/>
            <a:ext cx="670447" cy="326184"/>
          </a:xfrm>
          <a:custGeom>
            <a:avLst/>
            <a:gdLst>
              <a:gd name="T0" fmla="*/ 229 w 488"/>
              <a:gd name="T1" fmla="*/ 0 h 325"/>
              <a:gd name="T2" fmla="*/ 252 w 488"/>
              <a:gd name="T3" fmla="*/ 2 h 325"/>
              <a:gd name="T4" fmla="*/ 273 w 488"/>
              <a:gd name="T5" fmla="*/ 8 h 325"/>
              <a:gd name="T6" fmla="*/ 294 w 488"/>
              <a:gd name="T7" fmla="*/ 15 h 325"/>
              <a:gd name="T8" fmla="*/ 312 w 488"/>
              <a:gd name="T9" fmla="*/ 26 h 325"/>
              <a:gd name="T10" fmla="*/ 330 w 488"/>
              <a:gd name="T11" fmla="*/ 40 h 325"/>
              <a:gd name="T12" fmla="*/ 344 w 488"/>
              <a:gd name="T13" fmla="*/ 55 h 325"/>
              <a:gd name="T14" fmla="*/ 357 w 488"/>
              <a:gd name="T15" fmla="*/ 74 h 325"/>
              <a:gd name="T16" fmla="*/ 367 w 488"/>
              <a:gd name="T17" fmla="*/ 93 h 325"/>
              <a:gd name="T18" fmla="*/ 372 w 488"/>
              <a:gd name="T19" fmla="*/ 93 h 325"/>
              <a:gd name="T20" fmla="*/ 384 w 488"/>
              <a:gd name="T21" fmla="*/ 93 h 325"/>
              <a:gd name="T22" fmla="*/ 407 w 488"/>
              <a:gd name="T23" fmla="*/ 99 h 325"/>
              <a:gd name="T24" fmla="*/ 427 w 488"/>
              <a:gd name="T25" fmla="*/ 107 h 325"/>
              <a:gd name="T26" fmla="*/ 446 w 488"/>
              <a:gd name="T27" fmla="*/ 119 h 325"/>
              <a:gd name="T28" fmla="*/ 462 w 488"/>
              <a:gd name="T29" fmla="*/ 136 h 325"/>
              <a:gd name="T30" fmla="*/ 474 w 488"/>
              <a:gd name="T31" fmla="*/ 154 h 325"/>
              <a:gd name="T32" fmla="*/ 483 w 488"/>
              <a:gd name="T33" fmla="*/ 175 h 325"/>
              <a:gd name="T34" fmla="*/ 487 w 488"/>
              <a:gd name="T35" fmla="*/ 197 h 325"/>
              <a:gd name="T36" fmla="*/ 488 w 488"/>
              <a:gd name="T37" fmla="*/ 209 h 325"/>
              <a:gd name="T38" fmla="*/ 486 w 488"/>
              <a:gd name="T39" fmla="*/ 232 h 325"/>
              <a:gd name="T40" fmla="*/ 479 w 488"/>
              <a:gd name="T41" fmla="*/ 254 h 325"/>
              <a:gd name="T42" fmla="*/ 469 w 488"/>
              <a:gd name="T43" fmla="*/ 273 h 325"/>
              <a:gd name="T44" fmla="*/ 454 w 488"/>
              <a:gd name="T45" fmla="*/ 291 h 325"/>
              <a:gd name="T46" fmla="*/ 437 w 488"/>
              <a:gd name="T47" fmla="*/ 305 h 325"/>
              <a:gd name="T48" fmla="*/ 418 w 488"/>
              <a:gd name="T49" fmla="*/ 316 h 325"/>
              <a:gd name="T50" fmla="*/ 396 w 488"/>
              <a:gd name="T51" fmla="*/ 322 h 325"/>
              <a:gd name="T52" fmla="*/ 372 w 488"/>
              <a:gd name="T53" fmla="*/ 325 h 325"/>
              <a:gd name="T54" fmla="*/ 97 w 488"/>
              <a:gd name="T55" fmla="*/ 325 h 325"/>
              <a:gd name="T56" fmla="*/ 77 w 488"/>
              <a:gd name="T57" fmla="*/ 323 h 325"/>
              <a:gd name="T58" fmla="*/ 59 w 488"/>
              <a:gd name="T59" fmla="*/ 318 h 325"/>
              <a:gd name="T60" fmla="*/ 42 w 488"/>
              <a:gd name="T61" fmla="*/ 308 h 325"/>
              <a:gd name="T62" fmla="*/ 28 w 488"/>
              <a:gd name="T63" fmla="*/ 297 h 325"/>
              <a:gd name="T64" fmla="*/ 16 w 488"/>
              <a:gd name="T65" fmla="*/ 282 h 325"/>
              <a:gd name="T66" fmla="*/ 8 w 488"/>
              <a:gd name="T67" fmla="*/ 266 h 325"/>
              <a:gd name="T68" fmla="*/ 2 w 488"/>
              <a:gd name="T69" fmla="*/ 248 h 325"/>
              <a:gd name="T70" fmla="*/ 0 w 488"/>
              <a:gd name="T71" fmla="*/ 229 h 325"/>
              <a:gd name="T72" fmla="*/ 0 w 488"/>
              <a:gd name="T73" fmla="*/ 219 h 325"/>
              <a:gd name="T74" fmla="*/ 3 w 488"/>
              <a:gd name="T75" fmla="*/ 203 h 325"/>
              <a:gd name="T76" fmla="*/ 10 w 488"/>
              <a:gd name="T77" fmla="*/ 187 h 325"/>
              <a:gd name="T78" fmla="*/ 18 w 488"/>
              <a:gd name="T79" fmla="*/ 173 h 325"/>
              <a:gd name="T80" fmla="*/ 29 w 488"/>
              <a:gd name="T81" fmla="*/ 160 h 325"/>
              <a:gd name="T82" fmla="*/ 42 w 488"/>
              <a:gd name="T83" fmla="*/ 149 h 325"/>
              <a:gd name="T84" fmla="*/ 56 w 488"/>
              <a:gd name="T85" fmla="*/ 141 h 325"/>
              <a:gd name="T86" fmla="*/ 73 w 488"/>
              <a:gd name="T87" fmla="*/ 135 h 325"/>
              <a:gd name="T88" fmla="*/ 81 w 488"/>
              <a:gd name="T89" fmla="*/ 134 h 325"/>
              <a:gd name="T90" fmla="*/ 87 w 488"/>
              <a:gd name="T91" fmla="*/ 106 h 325"/>
              <a:gd name="T92" fmla="*/ 97 w 488"/>
              <a:gd name="T93" fmla="*/ 81 h 325"/>
              <a:gd name="T94" fmla="*/ 111 w 488"/>
              <a:gd name="T95" fmla="*/ 59 h 325"/>
              <a:gd name="T96" fmla="*/ 129 w 488"/>
              <a:gd name="T97" fmla="*/ 39 h 325"/>
              <a:gd name="T98" fmla="*/ 151 w 488"/>
              <a:gd name="T99" fmla="*/ 23 h 325"/>
              <a:gd name="T100" fmla="*/ 175 w 488"/>
              <a:gd name="T101" fmla="*/ 11 h 325"/>
              <a:gd name="T102" fmla="*/ 201 w 488"/>
              <a:gd name="T103" fmla="*/ 3 h 325"/>
              <a:gd name="T104" fmla="*/ 229 w 488"/>
              <a:gd name="T105" fmla="*/ 0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8" h="325">
                <a:moveTo>
                  <a:pt x="229" y="0"/>
                </a:moveTo>
                <a:lnTo>
                  <a:pt x="229" y="0"/>
                </a:lnTo>
                <a:lnTo>
                  <a:pt x="240" y="1"/>
                </a:lnTo>
                <a:lnTo>
                  <a:pt x="252" y="2"/>
                </a:lnTo>
                <a:lnTo>
                  <a:pt x="262" y="4"/>
                </a:lnTo>
                <a:lnTo>
                  <a:pt x="273" y="8"/>
                </a:lnTo>
                <a:lnTo>
                  <a:pt x="284" y="11"/>
                </a:lnTo>
                <a:lnTo>
                  <a:pt x="294" y="15"/>
                </a:lnTo>
                <a:lnTo>
                  <a:pt x="304" y="21"/>
                </a:lnTo>
                <a:lnTo>
                  <a:pt x="312" y="26"/>
                </a:lnTo>
                <a:lnTo>
                  <a:pt x="321" y="33"/>
                </a:lnTo>
                <a:lnTo>
                  <a:pt x="330" y="40"/>
                </a:lnTo>
                <a:lnTo>
                  <a:pt x="337" y="48"/>
                </a:lnTo>
                <a:lnTo>
                  <a:pt x="344" y="55"/>
                </a:lnTo>
                <a:lnTo>
                  <a:pt x="350" y="64"/>
                </a:lnTo>
                <a:lnTo>
                  <a:pt x="357" y="74"/>
                </a:lnTo>
                <a:lnTo>
                  <a:pt x="362" y="84"/>
                </a:lnTo>
                <a:lnTo>
                  <a:pt x="367" y="93"/>
                </a:lnTo>
                <a:lnTo>
                  <a:pt x="367" y="93"/>
                </a:lnTo>
                <a:lnTo>
                  <a:pt x="372" y="93"/>
                </a:lnTo>
                <a:lnTo>
                  <a:pt x="372" y="93"/>
                </a:lnTo>
                <a:lnTo>
                  <a:pt x="384" y="93"/>
                </a:lnTo>
                <a:lnTo>
                  <a:pt x="396" y="96"/>
                </a:lnTo>
                <a:lnTo>
                  <a:pt x="407" y="99"/>
                </a:lnTo>
                <a:lnTo>
                  <a:pt x="418" y="102"/>
                </a:lnTo>
                <a:lnTo>
                  <a:pt x="427" y="107"/>
                </a:lnTo>
                <a:lnTo>
                  <a:pt x="437" y="113"/>
                </a:lnTo>
                <a:lnTo>
                  <a:pt x="446" y="119"/>
                </a:lnTo>
                <a:lnTo>
                  <a:pt x="454" y="127"/>
                </a:lnTo>
                <a:lnTo>
                  <a:pt x="462" y="136"/>
                </a:lnTo>
                <a:lnTo>
                  <a:pt x="469" y="144"/>
                </a:lnTo>
                <a:lnTo>
                  <a:pt x="474" y="154"/>
                </a:lnTo>
                <a:lnTo>
                  <a:pt x="479" y="164"/>
                </a:lnTo>
                <a:lnTo>
                  <a:pt x="483" y="175"/>
                </a:lnTo>
                <a:lnTo>
                  <a:pt x="486" y="186"/>
                </a:lnTo>
                <a:lnTo>
                  <a:pt x="487" y="197"/>
                </a:lnTo>
                <a:lnTo>
                  <a:pt x="488" y="209"/>
                </a:lnTo>
                <a:lnTo>
                  <a:pt x="488" y="209"/>
                </a:lnTo>
                <a:lnTo>
                  <a:pt x="487" y="221"/>
                </a:lnTo>
                <a:lnTo>
                  <a:pt x="486" y="232"/>
                </a:lnTo>
                <a:lnTo>
                  <a:pt x="483" y="243"/>
                </a:lnTo>
                <a:lnTo>
                  <a:pt x="479" y="254"/>
                </a:lnTo>
                <a:lnTo>
                  <a:pt x="474" y="265"/>
                </a:lnTo>
                <a:lnTo>
                  <a:pt x="469" y="273"/>
                </a:lnTo>
                <a:lnTo>
                  <a:pt x="462" y="283"/>
                </a:lnTo>
                <a:lnTo>
                  <a:pt x="454" y="291"/>
                </a:lnTo>
                <a:lnTo>
                  <a:pt x="446" y="298"/>
                </a:lnTo>
                <a:lnTo>
                  <a:pt x="437" y="305"/>
                </a:lnTo>
                <a:lnTo>
                  <a:pt x="427" y="311"/>
                </a:lnTo>
                <a:lnTo>
                  <a:pt x="418" y="316"/>
                </a:lnTo>
                <a:lnTo>
                  <a:pt x="407" y="320"/>
                </a:lnTo>
                <a:lnTo>
                  <a:pt x="396" y="322"/>
                </a:lnTo>
                <a:lnTo>
                  <a:pt x="384" y="324"/>
                </a:lnTo>
                <a:lnTo>
                  <a:pt x="372" y="325"/>
                </a:lnTo>
                <a:lnTo>
                  <a:pt x="97" y="325"/>
                </a:lnTo>
                <a:lnTo>
                  <a:pt x="97" y="325"/>
                </a:lnTo>
                <a:lnTo>
                  <a:pt x="87" y="324"/>
                </a:lnTo>
                <a:lnTo>
                  <a:pt x="77" y="323"/>
                </a:lnTo>
                <a:lnTo>
                  <a:pt x="68" y="321"/>
                </a:lnTo>
                <a:lnTo>
                  <a:pt x="59" y="318"/>
                </a:lnTo>
                <a:lnTo>
                  <a:pt x="51" y="314"/>
                </a:lnTo>
                <a:lnTo>
                  <a:pt x="42" y="308"/>
                </a:lnTo>
                <a:lnTo>
                  <a:pt x="35" y="303"/>
                </a:lnTo>
                <a:lnTo>
                  <a:pt x="28" y="297"/>
                </a:lnTo>
                <a:lnTo>
                  <a:pt x="22" y="290"/>
                </a:lnTo>
                <a:lnTo>
                  <a:pt x="16" y="282"/>
                </a:lnTo>
                <a:lnTo>
                  <a:pt x="12" y="274"/>
                </a:lnTo>
                <a:lnTo>
                  <a:pt x="8" y="266"/>
                </a:lnTo>
                <a:lnTo>
                  <a:pt x="4" y="257"/>
                </a:lnTo>
                <a:lnTo>
                  <a:pt x="2" y="248"/>
                </a:lnTo>
                <a:lnTo>
                  <a:pt x="1" y="239"/>
                </a:lnTo>
                <a:lnTo>
                  <a:pt x="0" y="229"/>
                </a:lnTo>
                <a:lnTo>
                  <a:pt x="0" y="229"/>
                </a:lnTo>
                <a:lnTo>
                  <a:pt x="0" y="219"/>
                </a:lnTo>
                <a:lnTo>
                  <a:pt x="2" y="211"/>
                </a:lnTo>
                <a:lnTo>
                  <a:pt x="3" y="203"/>
                </a:lnTo>
                <a:lnTo>
                  <a:pt x="7" y="194"/>
                </a:lnTo>
                <a:lnTo>
                  <a:pt x="10" y="187"/>
                </a:lnTo>
                <a:lnTo>
                  <a:pt x="14" y="179"/>
                </a:lnTo>
                <a:lnTo>
                  <a:pt x="18" y="173"/>
                </a:lnTo>
                <a:lnTo>
                  <a:pt x="24" y="166"/>
                </a:lnTo>
                <a:lnTo>
                  <a:pt x="29" y="160"/>
                </a:lnTo>
                <a:lnTo>
                  <a:pt x="35" y="154"/>
                </a:lnTo>
                <a:lnTo>
                  <a:pt x="42" y="149"/>
                </a:lnTo>
                <a:lnTo>
                  <a:pt x="49" y="144"/>
                </a:lnTo>
                <a:lnTo>
                  <a:pt x="56" y="141"/>
                </a:lnTo>
                <a:lnTo>
                  <a:pt x="64" y="138"/>
                </a:lnTo>
                <a:lnTo>
                  <a:pt x="73" y="135"/>
                </a:lnTo>
                <a:lnTo>
                  <a:pt x="81" y="134"/>
                </a:lnTo>
                <a:lnTo>
                  <a:pt x="81" y="134"/>
                </a:lnTo>
                <a:lnTo>
                  <a:pt x="84" y="119"/>
                </a:lnTo>
                <a:lnTo>
                  <a:pt x="87" y="106"/>
                </a:lnTo>
                <a:lnTo>
                  <a:pt x="91" y="93"/>
                </a:lnTo>
                <a:lnTo>
                  <a:pt x="97" y="81"/>
                </a:lnTo>
                <a:lnTo>
                  <a:pt x="103" y="70"/>
                </a:lnTo>
                <a:lnTo>
                  <a:pt x="111" y="59"/>
                </a:lnTo>
                <a:lnTo>
                  <a:pt x="119" y="48"/>
                </a:lnTo>
                <a:lnTo>
                  <a:pt x="129" y="39"/>
                </a:lnTo>
                <a:lnTo>
                  <a:pt x="139" y="30"/>
                </a:lnTo>
                <a:lnTo>
                  <a:pt x="151" y="23"/>
                </a:lnTo>
                <a:lnTo>
                  <a:pt x="162" y="16"/>
                </a:lnTo>
                <a:lnTo>
                  <a:pt x="175" y="11"/>
                </a:lnTo>
                <a:lnTo>
                  <a:pt x="188" y="7"/>
                </a:lnTo>
                <a:lnTo>
                  <a:pt x="201" y="3"/>
                </a:lnTo>
                <a:lnTo>
                  <a:pt x="215" y="1"/>
                </a:lnTo>
                <a:lnTo>
                  <a:pt x="229" y="0"/>
                </a:lnTo>
                <a:lnTo>
                  <a:pt x="229" y="0"/>
                </a:lnTo>
                <a:close/>
              </a:path>
            </a:pathLst>
          </a:custGeom>
          <a:solidFill>
            <a:srgbClr val="002060">
              <a:alpha val="50196"/>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2741" tIns="91369" rIns="182741" bIns="91369" rtlCol="0" anchor="ctr"/>
          <a:lstStyle/>
          <a:p>
            <a:pPr algn="ctr" defTabSz="1218712" fontAlgn="ctr">
              <a:lnSpc>
                <a:spcPct val="150000"/>
              </a:lnSpc>
              <a:spcBef>
                <a:spcPct val="0"/>
              </a:spcBef>
              <a:spcAft>
                <a:spcPct val="0"/>
              </a:spcAft>
              <a:buClr>
                <a:srgbClr val="CC9900"/>
              </a:buClr>
            </a:pPr>
            <a:endParaRPr lang="en-US" altLang="zh-CN" sz="100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93" name="1228760009"/>
          <p:cNvSpPr txBox="1"/>
          <p:nvPr/>
        </p:nvSpPr>
        <p:spPr bwMode="gray">
          <a:xfrm>
            <a:off x="8610789" y="5274983"/>
            <a:ext cx="469667" cy="369332"/>
          </a:xfrm>
          <a:prstGeom prst="rect">
            <a:avLst/>
          </a:prstGeom>
          <a:noFill/>
        </p:spPr>
        <p:txBody>
          <a:bodyPr wrap="square" lIns="0" tIns="0" rIns="0" bIns="0" rtlCol="0">
            <a:spAutoFit/>
          </a:bodyPr>
          <a:lstStyle/>
          <a:p>
            <a:pPr algn="ctr" defTabSz="1218712" fontAlgn="base">
              <a:spcBef>
                <a:spcPct val="0"/>
              </a:spcBef>
              <a:spcAft>
                <a:spcPct val="0"/>
              </a:spcAft>
            </a:pPr>
            <a:r>
              <a:rPr lang="en-US" altLang="zh-CN" sz="1200" b="1" dirty="0" err="1">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ERP、视频</a:t>
            </a:r>
            <a:r>
              <a:rPr lang="en-US" altLang="zh-CN" sz="1200" b="1"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a:t>
            </a:r>
            <a:endParaRPr lang="zh-CN" altLang="en-US" sz="1200" b="1"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594" name="Freeform 15"/>
          <p:cNvSpPr/>
          <p:nvPr/>
        </p:nvSpPr>
        <p:spPr bwMode="gray">
          <a:xfrm>
            <a:off x="8408176" y="5745463"/>
            <a:ext cx="1933655" cy="391353"/>
          </a:xfrm>
          <a:custGeom>
            <a:avLst/>
            <a:gdLst>
              <a:gd name="T0" fmla="*/ 0 w 2233"/>
              <a:gd name="T1" fmla="*/ 0 h 789"/>
              <a:gd name="T2" fmla="*/ 1179 w 2233"/>
              <a:gd name="T3" fmla="*/ 0 h 789"/>
              <a:gd name="T4" fmla="*/ 2233 w 2233"/>
              <a:gd name="T5" fmla="*/ 789 h 789"/>
              <a:gd name="T6" fmla="*/ 581 w 2233"/>
              <a:gd name="T7" fmla="*/ 789 h 789"/>
              <a:gd name="T8" fmla="*/ 0 w 2233"/>
              <a:gd name="T9" fmla="*/ 0 h 789"/>
              <a:gd name="T10" fmla="*/ 0 w 2233"/>
              <a:gd name="T11" fmla="*/ 0 h 789"/>
              <a:gd name="connsiteX0" fmla="*/ 0 w 10368"/>
              <a:gd name="connsiteY0" fmla="*/ 0 h 10000"/>
              <a:gd name="connsiteX1" fmla="*/ 8454 w 10368"/>
              <a:gd name="connsiteY1" fmla="*/ 237 h 10000"/>
              <a:gd name="connsiteX2" fmla="*/ 10368 w 10368"/>
              <a:gd name="connsiteY2" fmla="*/ 9607 h 10000"/>
              <a:gd name="connsiteX3" fmla="*/ 1372 w 10368"/>
              <a:gd name="connsiteY3" fmla="*/ 10000 h 10000"/>
              <a:gd name="connsiteX4" fmla="*/ 0 w 10368"/>
              <a:gd name="connsiteY4" fmla="*/ 0 h 10000"/>
              <a:gd name="connsiteX5" fmla="*/ 0 w 10368"/>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68" h="10000">
                <a:moveTo>
                  <a:pt x="0" y="0"/>
                </a:moveTo>
                <a:lnTo>
                  <a:pt x="8454" y="237"/>
                </a:lnTo>
                <a:lnTo>
                  <a:pt x="10368" y="9607"/>
                </a:lnTo>
                <a:lnTo>
                  <a:pt x="1372" y="10000"/>
                </a:lnTo>
                <a:lnTo>
                  <a:pt x="0" y="0"/>
                </a:lnTo>
                <a:lnTo>
                  <a:pt x="0" y="0"/>
                </a:lnTo>
                <a:close/>
              </a:path>
            </a:pathLst>
          </a:custGeom>
          <a:solidFill>
            <a:srgbClr val="26B7C8">
              <a:alpha val="76000"/>
            </a:srgbClr>
          </a:solidFill>
        </p:spPr>
        <p:txBody>
          <a:bodyPr wrap="square" lIns="121868" tIns="60934" rIns="121868" bIns="60934" rtlCol="0" anchor="ctr" anchorCtr="1">
            <a:noAutofit/>
          </a:bodyPr>
          <a:lstStyle/>
          <a:p>
            <a:pPr indent="717215" defTabSz="1218712" fontAlgn="ctr">
              <a:spcBef>
                <a:spcPct val="0"/>
              </a:spcBef>
              <a:spcAft>
                <a:spcPct val="0"/>
              </a:spcAft>
              <a:buClr>
                <a:srgbClr val="FFC000"/>
              </a:buClr>
              <a:buSzPct val="60000"/>
              <a:buFont typeface="Wingdings" pitchFamily="2" charset="2"/>
              <a:buChar char="n"/>
            </a:pPr>
            <a:endParaRPr lang="zh-CN" altLang="en-US" sz="2099" kern="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595" name="组合 621"/>
          <p:cNvGrpSpPr/>
          <p:nvPr/>
        </p:nvGrpSpPr>
        <p:grpSpPr bwMode="black">
          <a:xfrm>
            <a:off x="8436730" y="5790764"/>
            <a:ext cx="197702" cy="153624"/>
            <a:chOff x="-983298" y="1666240"/>
            <a:chExt cx="547688" cy="309564"/>
          </a:xfrm>
          <a:solidFill>
            <a:srgbClr val="FFC000"/>
          </a:solidFill>
        </p:grpSpPr>
        <p:sp>
          <p:nvSpPr>
            <p:cNvPr id="699" name="Freeform 21"/>
            <p:cNvSpPr/>
            <p:nvPr/>
          </p:nvSpPr>
          <p:spPr bwMode="black">
            <a:xfrm>
              <a:off x="-983298" y="1798004"/>
              <a:ext cx="547688" cy="177800"/>
            </a:xfrm>
            <a:custGeom>
              <a:avLst/>
              <a:gdLst/>
              <a:ahLst/>
              <a:cxnLst>
                <a:cxn ang="0">
                  <a:pos x="16188" y="2345"/>
                </a:cxn>
                <a:cxn ang="0">
                  <a:pos x="16149" y="2515"/>
                </a:cxn>
                <a:cxn ang="0">
                  <a:pos x="15935" y="2950"/>
                </a:cxn>
                <a:cxn ang="0">
                  <a:pos x="15566" y="3361"/>
                </a:cxn>
                <a:cxn ang="0">
                  <a:pos x="15052" y="3745"/>
                </a:cxn>
                <a:cxn ang="0">
                  <a:pos x="14408" y="4094"/>
                </a:cxn>
                <a:cxn ang="0">
                  <a:pos x="13647" y="4406"/>
                </a:cxn>
                <a:cxn ang="0">
                  <a:pos x="12779" y="4677"/>
                </a:cxn>
                <a:cxn ang="0">
                  <a:pos x="11817" y="4900"/>
                </a:cxn>
                <a:cxn ang="0">
                  <a:pos x="10774" y="5071"/>
                </a:cxn>
                <a:cxn ang="0">
                  <a:pos x="9662" y="5187"/>
                </a:cxn>
                <a:cxn ang="0">
                  <a:pos x="8495" y="5241"/>
                </a:cxn>
                <a:cxn ang="0">
                  <a:pos x="7295" y="5230"/>
                </a:cxn>
                <a:cxn ang="0">
                  <a:pos x="6139" y="5155"/>
                </a:cxn>
                <a:cxn ang="0">
                  <a:pos x="5043" y="5019"/>
                </a:cxn>
                <a:cxn ang="0">
                  <a:pos x="4021" y="4827"/>
                </a:cxn>
                <a:cxn ang="0">
                  <a:pos x="3087" y="4585"/>
                </a:cxn>
                <a:cxn ang="0">
                  <a:pos x="2251" y="4298"/>
                </a:cxn>
                <a:cxn ang="0">
                  <a:pos x="1527" y="3969"/>
                </a:cxn>
                <a:cxn ang="0">
                  <a:pos x="927" y="3604"/>
                </a:cxn>
                <a:cxn ang="0">
                  <a:pos x="465" y="3208"/>
                </a:cxn>
                <a:cxn ang="0">
                  <a:pos x="151" y="2784"/>
                </a:cxn>
                <a:cxn ang="0">
                  <a:pos x="0" y="2340"/>
                </a:cxn>
                <a:cxn ang="0">
                  <a:pos x="102" y="141"/>
                </a:cxn>
                <a:cxn ang="0">
                  <a:pos x="467" y="524"/>
                </a:cxn>
                <a:cxn ang="0">
                  <a:pos x="944" y="884"/>
                </a:cxn>
                <a:cxn ang="0">
                  <a:pos x="1522" y="1217"/>
                </a:cxn>
                <a:cxn ang="0">
                  <a:pos x="2195" y="1518"/>
                </a:cxn>
                <a:cxn ang="0">
                  <a:pos x="2954" y="1785"/>
                </a:cxn>
                <a:cxn ang="0">
                  <a:pos x="3789" y="2015"/>
                </a:cxn>
                <a:cxn ang="0">
                  <a:pos x="4694" y="2204"/>
                </a:cxn>
                <a:cxn ang="0">
                  <a:pos x="5658" y="2348"/>
                </a:cxn>
                <a:cxn ang="0">
                  <a:pos x="6675" y="2444"/>
                </a:cxn>
                <a:cxn ang="0">
                  <a:pos x="7734" y="2489"/>
                </a:cxn>
                <a:cxn ang="0">
                  <a:pos x="8814" y="2480"/>
                </a:cxn>
                <a:cxn ang="0">
                  <a:pos x="9861" y="2417"/>
                </a:cxn>
                <a:cxn ang="0">
                  <a:pos x="10863" y="2304"/>
                </a:cxn>
                <a:cxn ang="0">
                  <a:pos x="11810" y="2144"/>
                </a:cxn>
                <a:cxn ang="0">
                  <a:pos x="12693" y="1941"/>
                </a:cxn>
                <a:cxn ang="0">
                  <a:pos x="13505" y="1697"/>
                </a:cxn>
                <a:cxn ang="0">
                  <a:pos x="14236" y="1418"/>
                </a:cxn>
                <a:cxn ang="0">
                  <a:pos x="14879" y="1104"/>
                </a:cxn>
                <a:cxn ang="0">
                  <a:pos x="15425" y="761"/>
                </a:cxn>
                <a:cxn ang="0">
                  <a:pos x="15864" y="392"/>
                </a:cxn>
                <a:cxn ang="0">
                  <a:pos x="16188" y="0"/>
                </a:cxn>
              </a:cxnLst>
              <a:rect l="0" t="0" r="r" b="b"/>
              <a:pathLst>
                <a:path w="16188" h="5245">
                  <a:moveTo>
                    <a:pt x="16189" y="2340"/>
                  </a:moveTo>
                  <a:lnTo>
                    <a:pt x="16189" y="2343"/>
                  </a:lnTo>
                  <a:lnTo>
                    <a:pt x="16188" y="2345"/>
                  </a:lnTo>
                  <a:lnTo>
                    <a:pt x="16188" y="2366"/>
                  </a:lnTo>
                  <a:lnTo>
                    <a:pt x="16185" y="2366"/>
                  </a:lnTo>
                  <a:lnTo>
                    <a:pt x="16149" y="2515"/>
                  </a:lnTo>
                  <a:lnTo>
                    <a:pt x="16096" y="2662"/>
                  </a:lnTo>
                  <a:lnTo>
                    <a:pt x="16025" y="2808"/>
                  </a:lnTo>
                  <a:lnTo>
                    <a:pt x="15935" y="2950"/>
                  </a:lnTo>
                  <a:lnTo>
                    <a:pt x="15828" y="3090"/>
                  </a:lnTo>
                  <a:lnTo>
                    <a:pt x="15704" y="3227"/>
                  </a:lnTo>
                  <a:lnTo>
                    <a:pt x="15566" y="3361"/>
                  </a:lnTo>
                  <a:lnTo>
                    <a:pt x="15409" y="3492"/>
                  </a:lnTo>
                  <a:lnTo>
                    <a:pt x="15238" y="3620"/>
                  </a:lnTo>
                  <a:lnTo>
                    <a:pt x="15052" y="3745"/>
                  </a:lnTo>
                  <a:lnTo>
                    <a:pt x="14851" y="3864"/>
                  </a:lnTo>
                  <a:lnTo>
                    <a:pt x="14637" y="3981"/>
                  </a:lnTo>
                  <a:lnTo>
                    <a:pt x="14408" y="4094"/>
                  </a:lnTo>
                  <a:lnTo>
                    <a:pt x="14167" y="4202"/>
                  </a:lnTo>
                  <a:lnTo>
                    <a:pt x="13913" y="4307"/>
                  </a:lnTo>
                  <a:lnTo>
                    <a:pt x="13647" y="4406"/>
                  </a:lnTo>
                  <a:lnTo>
                    <a:pt x="13368" y="4502"/>
                  </a:lnTo>
                  <a:lnTo>
                    <a:pt x="13079" y="4592"/>
                  </a:lnTo>
                  <a:lnTo>
                    <a:pt x="12779" y="4677"/>
                  </a:lnTo>
                  <a:lnTo>
                    <a:pt x="12468" y="4757"/>
                  </a:lnTo>
                  <a:lnTo>
                    <a:pt x="12147" y="4831"/>
                  </a:lnTo>
                  <a:lnTo>
                    <a:pt x="11817" y="4900"/>
                  </a:lnTo>
                  <a:lnTo>
                    <a:pt x="11478" y="4964"/>
                  </a:lnTo>
                  <a:lnTo>
                    <a:pt x="11131" y="5021"/>
                  </a:lnTo>
                  <a:lnTo>
                    <a:pt x="10774" y="5071"/>
                  </a:lnTo>
                  <a:lnTo>
                    <a:pt x="10411" y="5117"/>
                  </a:lnTo>
                  <a:lnTo>
                    <a:pt x="10040" y="5156"/>
                  </a:lnTo>
                  <a:lnTo>
                    <a:pt x="9662" y="5187"/>
                  </a:lnTo>
                  <a:lnTo>
                    <a:pt x="9279" y="5213"/>
                  </a:lnTo>
                  <a:lnTo>
                    <a:pt x="8889" y="5231"/>
                  </a:lnTo>
                  <a:lnTo>
                    <a:pt x="8495" y="5241"/>
                  </a:lnTo>
                  <a:lnTo>
                    <a:pt x="8095" y="5245"/>
                  </a:lnTo>
                  <a:lnTo>
                    <a:pt x="7692" y="5241"/>
                  </a:lnTo>
                  <a:lnTo>
                    <a:pt x="7295" y="5230"/>
                  </a:lnTo>
                  <a:lnTo>
                    <a:pt x="6904" y="5211"/>
                  </a:lnTo>
                  <a:lnTo>
                    <a:pt x="6518" y="5186"/>
                  </a:lnTo>
                  <a:lnTo>
                    <a:pt x="6139" y="5155"/>
                  </a:lnTo>
                  <a:lnTo>
                    <a:pt x="5766" y="5115"/>
                  </a:lnTo>
                  <a:lnTo>
                    <a:pt x="5401" y="5070"/>
                  </a:lnTo>
                  <a:lnTo>
                    <a:pt x="5043" y="5019"/>
                  </a:lnTo>
                  <a:lnTo>
                    <a:pt x="4693" y="4961"/>
                  </a:lnTo>
                  <a:lnTo>
                    <a:pt x="4353" y="4897"/>
                  </a:lnTo>
                  <a:lnTo>
                    <a:pt x="4021" y="4827"/>
                  </a:lnTo>
                  <a:lnTo>
                    <a:pt x="3700" y="4752"/>
                  </a:lnTo>
                  <a:lnTo>
                    <a:pt x="3388" y="4671"/>
                  </a:lnTo>
                  <a:lnTo>
                    <a:pt x="3087" y="4585"/>
                  </a:lnTo>
                  <a:lnTo>
                    <a:pt x="2797" y="4494"/>
                  </a:lnTo>
                  <a:lnTo>
                    <a:pt x="2519" y="4398"/>
                  </a:lnTo>
                  <a:lnTo>
                    <a:pt x="2251" y="4298"/>
                  </a:lnTo>
                  <a:lnTo>
                    <a:pt x="1997" y="4192"/>
                  </a:lnTo>
                  <a:lnTo>
                    <a:pt x="1755" y="4083"/>
                  </a:lnTo>
                  <a:lnTo>
                    <a:pt x="1527" y="3969"/>
                  </a:lnTo>
                  <a:lnTo>
                    <a:pt x="1314" y="3851"/>
                  </a:lnTo>
                  <a:lnTo>
                    <a:pt x="1113" y="3729"/>
                  </a:lnTo>
                  <a:lnTo>
                    <a:pt x="927" y="3604"/>
                  </a:lnTo>
                  <a:lnTo>
                    <a:pt x="757" y="3476"/>
                  </a:lnTo>
                  <a:lnTo>
                    <a:pt x="603" y="3343"/>
                  </a:lnTo>
                  <a:lnTo>
                    <a:pt x="465" y="3208"/>
                  </a:lnTo>
                  <a:lnTo>
                    <a:pt x="343" y="3069"/>
                  </a:lnTo>
                  <a:lnTo>
                    <a:pt x="238" y="2928"/>
                  </a:lnTo>
                  <a:lnTo>
                    <a:pt x="151" y="2784"/>
                  </a:lnTo>
                  <a:lnTo>
                    <a:pt x="82" y="2639"/>
                  </a:lnTo>
                  <a:lnTo>
                    <a:pt x="32" y="2490"/>
                  </a:lnTo>
                  <a:lnTo>
                    <a:pt x="0" y="2340"/>
                  </a:lnTo>
                  <a:lnTo>
                    <a:pt x="6" y="2340"/>
                  </a:lnTo>
                  <a:lnTo>
                    <a:pt x="6" y="8"/>
                  </a:lnTo>
                  <a:lnTo>
                    <a:pt x="102" y="141"/>
                  </a:lnTo>
                  <a:lnTo>
                    <a:pt x="211" y="271"/>
                  </a:lnTo>
                  <a:lnTo>
                    <a:pt x="333" y="399"/>
                  </a:lnTo>
                  <a:lnTo>
                    <a:pt x="467" y="524"/>
                  </a:lnTo>
                  <a:lnTo>
                    <a:pt x="613" y="647"/>
                  </a:lnTo>
                  <a:lnTo>
                    <a:pt x="772" y="767"/>
                  </a:lnTo>
                  <a:lnTo>
                    <a:pt x="944" y="884"/>
                  </a:lnTo>
                  <a:lnTo>
                    <a:pt x="1125" y="998"/>
                  </a:lnTo>
                  <a:lnTo>
                    <a:pt x="1319" y="1109"/>
                  </a:lnTo>
                  <a:lnTo>
                    <a:pt x="1522" y="1217"/>
                  </a:lnTo>
                  <a:lnTo>
                    <a:pt x="1736" y="1320"/>
                  </a:lnTo>
                  <a:lnTo>
                    <a:pt x="1961" y="1421"/>
                  </a:lnTo>
                  <a:lnTo>
                    <a:pt x="2195" y="1518"/>
                  </a:lnTo>
                  <a:lnTo>
                    <a:pt x="2440" y="1611"/>
                  </a:lnTo>
                  <a:lnTo>
                    <a:pt x="2692" y="1700"/>
                  </a:lnTo>
                  <a:lnTo>
                    <a:pt x="2954" y="1785"/>
                  </a:lnTo>
                  <a:lnTo>
                    <a:pt x="3225" y="1866"/>
                  </a:lnTo>
                  <a:lnTo>
                    <a:pt x="3504" y="1943"/>
                  </a:lnTo>
                  <a:lnTo>
                    <a:pt x="3789" y="2015"/>
                  </a:lnTo>
                  <a:lnTo>
                    <a:pt x="4084" y="2083"/>
                  </a:lnTo>
                  <a:lnTo>
                    <a:pt x="4385" y="2146"/>
                  </a:lnTo>
                  <a:lnTo>
                    <a:pt x="4694" y="2204"/>
                  </a:lnTo>
                  <a:lnTo>
                    <a:pt x="5010" y="2256"/>
                  </a:lnTo>
                  <a:lnTo>
                    <a:pt x="5331" y="2305"/>
                  </a:lnTo>
                  <a:lnTo>
                    <a:pt x="5658" y="2348"/>
                  </a:lnTo>
                  <a:lnTo>
                    <a:pt x="5992" y="2385"/>
                  </a:lnTo>
                  <a:lnTo>
                    <a:pt x="6331" y="2418"/>
                  </a:lnTo>
                  <a:lnTo>
                    <a:pt x="6675" y="2444"/>
                  </a:lnTo>
                  <a:lnTo>
                    <a:pt x="7023" y="2464"/>
                  </a:lnTo>
                  <a:lnTo>
                    <a:pt x="7376" y="2480"/>
                  </a:lnTo>
                  <a:lnTo>
                    <a:pt x="7734" y="2489"/>
                  </a:lnTo>
                  <a:lnTo>
                    <a:pt x="8095" y="2492"/>
                  </a:lnTo>
                  <a:lnTo>
                    <a:pt x="8456" y="2489"/>
                  </a:lnTo>
                  <a:lnTo>
                    <a:pt x="8814" y="2480"/>
                  </a:lnTo>
                  <a:lnTo>
                    <a:pt x="9168" y="2464"/>
                  </a:lnTo>
                  <a:lnTo>
                    <a:pt x="9517" y="2444"/>
                  </a:lnTo>
                  <a:lnTo>
                    <a:pt x="9861" y="2417"/>
                  </a:lnTo>
                  <a:lnTo>
                    <a:pt x="10200" y="2385"/>
                  </a:lnTo>
                  <a:lnTo>
                    <a:pt x="10535" y="2347"/>
                  </a:lnTo>
                  <a:lnTo>
                    <a:pt x="10863" y="2304"/>
                  </a:lnTo>
                  <a:lnTo>
                    <a:pt x="11184" y="2255"/>
                  </a:lnTo>
                  <a:lnTo>
                    <a:pt x="11501" y="2203"/>
                  </a:lnTo>
                  <a:lnTo>
                    <a:pt x="11810" y="2144"/>
                  </a:lnTo>
                  <a:lnTo>
                    <a:pt x="12112" y="2081"/>
                  </a:lnTo>
                  <a:lnTo>
                    <a:pt x="12406" y="2013"/>
                  </a:lnTo>
                  <a:lnTo>
                    <a:pt x="12693" y="1941"/>
                  </a:lnTo>
                  <a:lnTo>
                    <a:pt x="12972" y="1863"/>
                  </a:lnTo>
                  <a:lnTo>
                    <a:pt x="13243" y="1782"/>
                  </a:lnTo>
                  <a:lnTo>
                    <a:pt x="13505" y="1697"/>
                  </a:lnTo>
                  <a:lnTo>
                    <a:pt x="13758" y="1608"/>
                  </a:lnTo>
                  <a:lnTo>
                    <a:pt x="14002" y="1514"/>
                  </a:lnTo>
                  <a:lnTo>
                    <a:pt x="14236" y="1418"/>
                  </a:lnTo>
                  <a:lnTo>
                    <a:pt x="14461" y="1316"/>
                  </a:lnTo>
                  <a:lnTo>
                    <a:pt x="14675" y="1212"/>
                  </a:lnTo>
                  <a:lnTo>
                    <a:pt x="14879" y="1104"/>
                  </a:lnTo>
                  <a:lnTo>
                    <a:pt x="15072" y="993"/>
                  </a:lnTo>
                  <a:lnTo>
                    <a:pt x="15253" y="879"/>
                  </a:lnTo>
                  <a:lnTo>
                    <a:pt x="15425" y="761"/>
                  </a:lnTo>
                  <a:lnTo>
                    <a:pt x="15583" y="641"/>
                  </a:lnTo>
                  <a:lnTo>
                    <a:pt x="15730" y="517"/>
                  </a:lnTo>
                  <a:lnTo>
                    <a:pt x="15864" y="392"/>
                  </a:lnTo>
                  <a:lnTo>
                    <a:pt x="15985" y="264"/>
                  </a:lnTo>
                  <a:lnTo>
                    <a:pt x="16094" y="133"/>
                  </a:lnTo>
                  <a:lnTo>
                    <a:pt x="16188" y="0"/>
                  </a:lnTo>
                  <a:lnTo>
                    <a:pt x="16188" y="2340"/>
                  </a:lnTo>
                  <a:lnTo>
                    <a:pt x="16189" y="2340"/>
                  </a:lnTo>
                  <a:close/>
                </a:path>
              </a:pathLst>
            </a:custGeom>
            <a:grpFill/>
            <a:ln w="15875">
              <a:noFill/>
              <a:round/>
            </a:ln>
          </p:spPr>
          <p:txBody>
            <a:bodyPr vert="horz" wrap="square" lIns="103142" tIns="51573" rIns="103142" bIns="51573" numCol="1" anchor="t" anchorCtr="0" compatLnSpc="1">
              <a:prstTxWarp prst="textNoShape">
                <a:avLst/>
              </a:prstTxWarp>
            </a:body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700" name="Freeform 22"/>
            <p:cNvSpPr>
              <a:spLocks noEditPoints="1"/>
            </p:cNvSpPr>
            <p:nvPr/>
          </p:nvSpPr>
          <p:spPr bwMode="black">
            <a:xfrm>
              <a:off x="-983298" y="1666240"/>
              <a:ext cx="547688" cy="207963"/>
            </a:xfrm>
            <a:custGeom>
              <a:avLst/>
              <a:gdLst/>
              <a:ahLst/>
              <a:cxnLst>
                <a:cxn ang="0">
                  <a:pos x="8934" y="16"/>
                </a:cxn>
                <a:cxn ang="0">
                  <a:pos x="10129" y="97"/>
                </a:cxn>
                <a:cxn ang="0">
                  <a:pos x="11258" y="243"/>
                </a:cxn>
                <a:cxn ang="0">
                  <a:pos x="12306" y="447"/>
                </a:cxn>
                <a:cxn ang="0">
                  <a:pos x="13260" y="705"/>
                </a:cxn>
                <a:cxn ang="0">
                  <a:pos x="14105" y="1010"/>
                </a:cxn>
                <a:cxn ang="0">
                  <a:pos x="14828" y="1358"/>
                </a:cxn>
                <a:cxn ang="0">
                  <a:pos x="15413" y="1745"/>
                </a:cxn>
                <a:cxn ang="0">
                  <a:pos x="15849" y="2163"/>
                </a:cxn>
                <a:cxn ang="0">
                  <a:pos x="16122" y="2609"/>
                </a:cxn>
                <a:cxn ang="0">
                  <a:pos x="16215" y="3077"/>
                </a:cxn>
                <a:cxn ang="0">
                  <a:pos x="16122" y="3545"/>
                </a:cxn>
                <a:cxn ang="0">
                  <a:pos x="15849" y="3991"/>
                </a:cxn>
                <a:cxn ang="0">
                  <a:pos x="15413" y="4409"/>
                </a:cxn>
                <a:cxn ang="0">
                  <a:pos x="14828" y="4796"/>
                </a:cxn>
                <a:cxn ang="0">
                  <a:pos x="14105" y="5144"/>
                </a:cxn>
                <a:cxn ang="0">
                  <a:pos x="13260" y="5449"/>
                </a:cxn>
                <a:cxn ang="0">
                  <a:pos x="12306" y="5707"/>
                </a:cxn>
                <a:cxn ang="0">
                  <a:pos x="11258" y="5911"/>
                </a:cxn>
                <a:cxn ang="0">
                  <a:pos x="10129" y="6057"/>
                </a:cxn>
                <a:cxn ang="0">
                  <a:pos x="8934" y="6138"/>
                </a:cxn>
                <a:cxn ang="0">
                  <a:pos x="7691" y="6150"/>
                </a:cxn>
                <a:cxn ang="0">
                  <a:pos x="6477" y="6091"/>
                </a:cxn>
                <a:cxn ang="0">
                  <a:pos x="5325" y="5967"/>
                </a:cxn>
                <a:cxn ang="0">
                  <a:pos x="4248" y="5781"/>
                </a:cxn>
                <a:cxn ang="0">
                  <a:pos x="3262" y="5542"/>
                </a:cxn>
                <a:cxn ang="0">
                  <a:pos x="2380" y="5252"/>
                </a:cxn>
                <a:cxn ang="0">
                  <a:pos x="1614" y="4916"/>
                </a:cxn>
                <a:cxn ang="0">
                  <a:pos x="981" y="4542"/>
                </a:cxn>
                <a:cxn ang="0">
                  <a:pos x="494" y="4133"/>
                </a:cxn>
                <a:cxn ang="0">
                  <a:pos x="165" y="3696"/>
                </a:cxn>
                <a:cxn ang="0">
                  <a:pos x="10" y="3235"/>
                </a:cxn>
                <a:cxn ang="0">
                  <a:pos x="42" y="2763"/>
                </a:cxn>
                <a:cxn ang="0">
                  <a:pos x="256" y="2310"/>
                </a:cxn>
                <a:cxn ang="0">
                  <a:pos x="638" y="1881"/>
                </a:cxn>
                <a:cxn ang="0">
                  <a:pos x="1177" y="1483"/>
                </a:cxn>
                <a:cxn ang="0">
                  <a:pos x="1856" y="1122"/>
                </a:cxn>
                <a:cxn ang="0">
                  <a:pos x="2661" y="801"/>
                </a:cxn>
                <a:cxn ang="0">
                  <a:pos x="3579" y="527"/>
                </a:cxn>
                <a:cxn ang="0">
                  <a:pos x="4598" y="305"/>
                </a:cxn>
                <a:cxn ang="0">
                  <a:pos x="5701" y="139"/>
                </a:cxn>
                <a:cxn ang="0">
                  <a:pos x="6875" y="36"/>
                </a:cxn>
                <a:cxn ang="0">
                  <a:pos x="8108" y="0"/>
                </a:cxn>
                <a:cxn ang="0">
                  <a:pos x="6158" y="5404"/>
                </a:cxn>
                <a:cxn ang="0">
                  <a:pos x="6381" y="3535"/>
                </a:cxn>
                <a:cxn ang="0">
                  <a:pos x="8154" y="2469"/>
                </a:cxn>
                <a:cxn ang="0">
                  <a:pos x="12688" y="1647"/>
                </a:cxn>
                <a:cxn ang="0">
                  <a:pos x="10617" y="1086"/>
                </a:cxn>
                <a:cxn ang="0">
                  <a:pos x="9647" y="3871"/>
                </a:cxn>
                <a:cxn ang="0">
                  <a:pos x="11195" y="2918"/>
                </a:cxn>
                <a:cxn ang="0">
                  <a:pos x="13547" y="4824"/>
                </a:cxn>
                <a:cxn ang="0">
                  <a:pos x="6773" y="1946"/>
                </a:cxn>
                <a:cxn ang="0">
                  <a:pos x="1325" y="2039"/>
                </a:cxn>
              </a:cxnLst>
              <a:rect l="0" t="0" r="r" b="b"/>
              <a:pathLst>
                <a:path w="16215" h="6154">
                  <a:moveTo>
                    <a:pt x="8108" y="0"/>
                  </a:moveTo>
                  <a:lnTo>
                    <a:pt x="8524" y="4"/>
                  </a:lnTo>
                  <a:lnTo>
                    <a:pt x="8934" y="16"/>
                  </a:lnTo>
                  <a:lnTo>
                    <a:pt x="9340" y="36"/>
                  </a:lnTo>
                  <a:lnTo>
                    <a:pt x="9738" y="63"/>
                  </a:lnTo>
                  <a:lnTo>
                    <a:pt x="10129" y="97"/>
                  </a:lnTo>
                  <a:lnTo>
                    <a:pt x="10513" y="139"/>
                  </a:lnTo>
                  <a:lnTo>
                    <a:pt x="10890" y="187"/>
                  </a:lnTo>
                  <a:lnTo>
                    <a:pt x="11258" y="243"/>
                  </a:lnTo>
                  <a:lnTo>
                    <a:pt x="11617" y="305"/>
                  </a:lnTo>
                  <a:lnTo>
                    <a:pt x="11967" y="373"/>
                  </a:lnTo>
                  <a:lnTo>
                    <a:pt x="12306" y="447"/>
                  </a:lnTo>
                  <a:lnTo>
                    <a:pt x="12636" y="527"/>
                  </a:lnTo>
                  <a:lnTo>
                    <a:pt x="12953" y="613"/>
                  </a:lnTo>
                  <a:lnTo>
                    <a:pt x="13260" y="705"/>
                  </a:lnTo>
                  <a:lnTo>
                    <a:pt x="13554" y="801"/>
                  </a:lnTo>
                  <a:lnTo>
                    <a:pt x="13835" y="902"/>
                  </a:lnTo>
                  <a:lnTo>
                    <a:pt x="14105" y="1010"/>
                  </a:lnTo>
                  <a:lnTo>
                    <a:pt x="14359" y="1122"/>
                  </a:lnTo>
                  <a:lnTo>
                    <a:pt x="14601" y="1237"/>
                  </a:lnTo>
                  <a:lnTo>
                    <a:pt x="14828" y="1358"/>
                  </a:lnTo>
                  <a:lnTo>
                    <a:pt x="15038" y="1483"/>
                  </a:lnTo>
                  <a:lnTo>
                    <a:pt x="15234" y="1612"/>
                  </a:lnTo>
                  <a:lnTo>
                    <a:pt x="15413" y="1745"/>
                  </a:lnTo>
                  <a:lnTo>
                    <a:pt x="15577" y="1881"/>
                  </a:lnTo>
                  <a:lnTo>
                    <a:pt x="15721" y="2021"/>
                  </a:lnTo>
                  <a:lnTo>
                    <a:pt x="15849" y="2163"/>
                  </a:lnTo>
                  <a:lnTo>
                    <a:pt x="15959" y="2310"/>
                  </a:lnTo>
                  <a:lnTo>
                    <a:pt x="16050" y="2458"/>
                  </a:lnTo>
                  <a:lnTo>
                    <a:pt x="16122" y="2609"/>
                  </a:lnTo>
                  <a:lnTo>
                    <a:pt x="16173" y="2763"/>
                  </a:lnTo>
                  <a:lnTo>
                    <a:pt x="16205" y="2919"/>
                  </a:lnTo>
                  <a:lnTo>
                    <a:pt x="16215" y="3077"/>
                  </a:lnTo>
                  <a:lnTo>
                    <a:pt x="16205" y="3235"/>
                  </a:lnTo>
                  <a:lnTo>
                    <a:pt x="16173" y="3391"/>
                  </a:lnTo>
                  <a:lnTo>
                    <a:pt x="16122" y="3545"/>
                  </a:lnTo>
                  <a:lnTo>
                    <a:pt x="16050" y="3696"/>
                  </a:lnTo>
                  <a:lnTo>
                    <a:pt x="15959" y="3844"/>
                  </a:lnTo>
                  <a:lnTo>
                    <a:pt x="15849" y="3991"/>
                  </a:lnTo>
                  <a:lnTo>
                    <a:pt x="15721" y="4133"/>
                  </a:lnTo>
                  <a:lnTo>
                    <a:pt x="15577" y="4273"/>
                  </a:lnTo>
                  <a:lnTo>
                    <a:pt x="15413" y="4409"/>
                  </a:lnTo>
                  <a:lnTo>
                    <a:pt x="15234" y="4542"/>
                  </a:lnTo>
                  <a:lnTo>
                    <a:pt x="15038" y="4671"/>
                  </a:lnTo>
                  <a:lnTo>
                    <a:pt x="14828" y="4796"/>
                  </a:lnTo>
                  <a:lnTo>
                    <a:pt x="14601" y="4916"/>
                  </a:lnTo>
                  <a:lnTo>
                    <a:pt x="14359" y="5032"/>
                  </a:lnTo>
                  <a:lnTo>
                    <a:pt x="14105" y="5144"/>
                  </a:lnTo>
                  <a:lnTo>
                    <a:pt x="13835" y="5252"/>
                  </a:lnTo>
                  <a:lnTo>
                    <a:pt x="13554" y="5353"/>
                  </a:lnTo>
                  <a:lnTo>
                    <a:pt x="13260" y="5449"/>
                  </a:lnTo>
                  <a:lnTo>
                    <a:pt x="12953" y="5542"/>
                  </a:lnTo>
                  <a:lnTo>
                    <a:pt x="12636" y="5627"/>
                  </a:lnTo>
                  <a:lnTo>
                    <a:pt x="12306" y="5707"/>
                  </a:lnTo>
                  <a:lnTo>
                    <a:pt x="11967" y="5781"/>
                  </a:lnTo>
                  <a:lnTo>
                    <a:pt x="11617" y="5849"/>
                  </a:lnTo>
                  <a:lnTo>
                    <a:pt x="11258" y="5911"/>
                  </a:lnTo>
                  <a:lnTo>
                    <a:pt x="10890" y="5967"/>
                  </a:lnTo>
                  <a:lnTo>
                    <a:pt x="10513" y="6015"/>
                  </a:lnTo>
                  <a:lnTo>
                    <a:pt x="10129" y="6057"/>
                  </a:lnTo>
                  <a:lnTo>
                    <a:pt x="9738" y="6091"/>
                  </a:lnTo>
                  <a:lnTo>
                    <a:pt x="9340" y="6118"/>
                  </a:lnTo>
                  <a:lnTo>
                    <a:pt x="8934" y="6138"/>
                  </a:lnTo>
                  <a:lnTo>
                    <a:pt x="8524" y="6150"/>
                  </a:lnTo>
                  <a:lnTo>
                    <a:pt x="8108" y="6154"/>
                  </a:lnTo>
                  <a:lnTo>
                    <a:pt x="7691" y="6150"/>
                  </a:lnTo>
                  <a:lnTo>
                    <a:pt x="7281" y="6138"/>
                  </a:lnTo>
                  <a:lnTo>
                    <a:pt x="6875" y="6118"/>
                  </a:lnTo>
                  <a:lnTo>
                    <a:pt x="6477" y="6091"/>
                  </a:lnTo>
                  <a:lnTo>
                    <a:pt x="6086" y="6057"/>
                  </a:lnTo>
                  <a:lnTo>
                    <a:pt x="5701" y="6015"/>
                  </a:lnTo>
                  <a:lnTo>
                    <a:pt x="5325" y="5967"/>
                  </a:lnTo>
                  <a:lnTo>
                    <a:pt x="4957" y="5911"/>
                  </a:lnTo>
                  <a:lnTo>
                    <a:pt x="4598" y="5849"/>
                  </a:lnTo>
                  <a:lnTo>
                    <a:pt x="4248" y="5781"/>
                  </a:lnTo>
                  <a:lnTo>
                    <a:pt x="3909" y="5707"/>
                  </a:lnTo>
                  <a:lnTo>
                    <a:pt x="3579" y="5627"/>
                  </a:lnTo>
                  <a:lnTo>
                    <a:pt x="3262" y="5542"/>
                  </a:lnTo>
                  <a:lnTo>
                    <a:pt x="2955" y="5449"/>
                  </a:lnTo>
                  <a:lnTo>
                    <a:pt x="2661" y="5353"/>
                  </a:lnTo>
                  <a:lnTo>
                    <a:pt x="2380" y="5252"/>
                  </a:lnTo>
                  <a:lnTo>
                    <a:pt x="2110" y="5144"/>
                  </a:lnTo>
                  <a:lnTo>
                    <a:pt x="1856" y="5032"/>
                  </a:lnTo>
                  <a:lnTo>
                    <a:pt x="1614" y="4916"/>
                  </a:lnTo>
                  <a:lnTo>
                    <a:pt x="1387" y="4796"/>
                  </a:lnTo>
                  <a:lnTo>
                    <a:pt x="1177" y="4671"/>
                  </a:lnTo>
                  <a:lnTo>
                    <a:pt x="981" y="4542"/>
                  </a:lnTo>
                  <a:lnTo>
                    <a:pt x="802" y="4409"/>
                  </a:lnTo>
                  <a:lnTo>
                    <a:pt x="638" y="4273"/>
                  </a:lnTo>
                  <a:lnTo>
                    <a:pt x="494" y="4133"/>
                  </a:lnTo>
                  <a:lnTo>
                    <a:pt x="366" y="3991"/>
                  </a:lnTo>
                  <a:lnTo>
                    <a:pt x="256" y="3844"/>
                  </a:lnTo>
                  <a:lnTo>
                    <a:pt x="165" y="3696"/>
                  </a:lnTo>
                  <a:lnTo>
                    <a:pt x="93" y="3545"/>
                  </a:lnTo>
                  <a:lnTo>
                    <a:pt x="42" y="3391"/>
                  </a:lnTo>
                  <a:lnTo>
                    <a:pt x="10" y="3235"/>
                  </a:lnTo>
                  <a:lnTo>
                    <a:pt x="0" y="3077"/>
                  </a:lnTo>
                  <a:lnTo>
                    <a:pt x="10" y="2919"/>
                  </a:lnTo>
                  <a:lnTo>
                    <a:pt x="42" y="2763"/>
                  </a:lnTo>
                  <a:lnTo>
                    <a:pt x="93" y="2609"/>
                  </a:lnTo>
                  <a:lnTo>
                    <a:pt x="165" y="2458"/>
                  </a:lnTo>
                  <a:lnTo>
                    <a:pt x="256" y="2310"/>
                  </a:lnTo>
                  <a:lnTo>
                    <a:pt x="366" y="2163"/>
                  </a:lnTo>
                  <a:lnTo>
                    <a:pt x="494" y="2021"/>
                  </a:lnTo>
                  <a:lnTo>
                    <a:pt x="638" y="1881"/>
                  </a:lnTo>
                  <a:lnTo>
                    <a:pt x="802" y="1745"/>
                  </a:lnTo>
                  <a:lnTo>
                    <a:pt x="981" y="1612"/>
                  </a:lnTo>
                  <a:lnTo>
                    <a:pt x="1177" y="1483"/>
                  </a:lnTo>
                  <a:lnTo>
                    <a:pt x="1387" y="1358"/>
                  </a:lnTo>
                  <a:lnTo>
                    <a:pt x="1614" y="1237"/>
                  </a:lnTo>
                  <a:lnTo>
                    <a:pt x="1856" y="1122"/>
                  </a:lnTo>
                  <a:lnTo>
                    <a:pt x="2110" y="1010"/>
                  </a:lnTo>
                  <a:lnTo>
                    <a:pt x="2380" y="902"/>
                  </a:lnTo>
                  <a:lnTo>
                    <a:pt x="2661" y="801"/>
                  </a:lnTo>
                  <a:lnTo>
                    <a:pt x="2955" y="705"/>
                  </a:lnTo>
                  <a:lnTo>
                    <a:pt x="3262" y="613"/>
                  </a:lnTo>
                  <a:lnTo>
                    <a:pt x="3579" y="527"/>
                  </a:lnTo>
                  <a:lnTo>
                    <a:pt x="3909" y="447"/>
                  </a:lnTo>
                  <a:lnTo>
                    <a:pt x="4248" y="373"/>
                  </a:lnTo>
                  <a:lnTo>
                    <a:pt x="4598" y="305"/>
                  </a:lnTo>
                  <a:lnTo>
                    <a:pt x="4957" y="243"/>
                  </a:lnTo>
                  <a:lnTo>
                    <a:pt x="5325" y="187"/>
                  </a:lnTo>
                  <a:lnTo>
                    <a:pt x="5701" y="139"/>
                  </a:lnTo>
                  <a:lnTo>
                    <a:pt x="6086" y="97"/>
                  </a:lnTo>
                  <a:lnTo>
                    <a:pt x="6477" y="63"/>
                  </a:lnTo>
                  <a:lnTo>
                    <a:pt x="6875" y="36"/>
                  </a:lnTo>
                  <a:lnTo>
                    <a:pt x="7281" y="16"/>
                  </a:lnTo>
                  <a:lnTo>
                    <a:pt x="7691" y="4"/>
                  </a:lnTo>
                  <a:lnTo>
                    <a:pt x="8108" y="0"/>
                  </a:lnTo>
                  <a:close/>
                  <a:moveTo>
                    <a:pt x="3135" y="4675"/>
                  </a:moveTo>
                  <a:lnTo>
                    <a:pt x="3787" y="5515"/>
                  </a:lnTo>
                  <a:lnTo>
                    <a:pt x="6158" y="5404"/>
                  </a:lnTo>
                  <a:lnTo>
                    <a:pt x="5243" y="5179"/>
                  </a:lnTo>
                  <a:lnTo>
                    <a:pt x="7687" y="3759"/>
                  </a:lnTo>
                  <a:lnTo>
                    <a:pt x="6381" y="3535"/>
                  </a:lnTo>
                  <a:lnTo>
                    <a:pt x="3936" y="4880"/>
                  </a:lnTo>
                  <a:lnTo>
                    <a:pt x="3135" y="4675"/>
                  </a:lnTo>
                  <a:close/>
                  <a:moveTo>
                    <a:pt x="8154" y="2469"/>
                  </a:moveTo>
                  <a:lnTo>
                    <a:pt x="9497" y="2824"/>
                  </a:lnTo>
                  <a:lnTo>
                    <a:pt x="11792" y="1404"/>
                  </a:lnTo>
                  <a:lnTo>
                    <a:pt x="12688" y="1647"/>
                  </a:lnTo>
                  <a:lnTo>
                    <a:pt x="11979" y="767"/>
                  </a:lnTo>
                  <a:lnTo>
                    <a:pt x="9833" y="862"/>
                  </a:lnTo>
                  <a:lnTo>
                    <a:pt x="10617" y="1086"/>
                  </a:lnTo>
                  <a:lnTo>
                    <a:pt x="8154" y="2469"/>
                  </a:lnTo>
                  <a:close/>
                  <a:moveTo>
                    <a:pt x="13547" y="4824"/>
                  </a:moveTo>
                  <a:lnTo>
                    <a:pt x="9647" y="3871"/>
                  </a:lnTo>
                  <a:lnTo>
                    <a:pt x="9068" y="4264"/>
                  </a:lnTo>
                  <a:lnTo>
                    <a:pt x="9012" y="3235"/>
                  </a:lnTo>
                  <a:lnTo>
                    <a:pt x="11195" y="2918"/>
                  </a:lnTo>
                  <a:lnTo>
                    <a:pt x="10561" y="3254"/>
                  </a:lnTo>
                  <a:lnTo>
                    <a:pt x="14516" y="4133"/>
                  </a:lnTo>
                  <a:lnTo>
                    <a:pt x="13547" y="4824"/>
                  </a:lnTo>
                  <a:close/>
                  <a:moveTo>
                    <a:pt x="4534" y="3291"/>
                  </a:moveTo>
                  <a:lnTo>
                    <a:pt x="6885" y="3011"/>
                  </a:lnTo>
                  <a:lnTo>
                    <a:pt x="6773" y="1946"/>
                  </a:lnTo>
                  <a:lnTo>
                    <a:pt x="6176" y="2300"/>
                  </a:lnTo>
                  <a:lnTo>
                    <a:pt x="2463" y="1478"/>
                  </a:lnTo>
                  <a:lnTo>
                    <a:pt x="1325" y="2039"/>
                  </a:lnTo>
                  <a:lnTo>
                    <a:pt x="5019" y="2955"/>
                  </a:lnTo>
                  <a:lnTo>
                    <a:pt x="4534" y="3291"/>
                  </a:lnTo>
                  <a:close/>
                </a:path>
              </a:pathLst>
            </a:custGeom>
            <a:grpFill/>
            <a:ln w="15875">
              <a:noFill/>
              <a:round/>
            </a:ln>
          </p:spPr>
          <p:txBody>
            <a:bodyPr vert="horz" wrap="square" lIns="103142" tIns="51573" rIns="103142" bIns="51573" numCol="1" anchor="t" anchorCtr="0" compatLnSpc="1">
              <a:prstTxWarp prst="textNoShape">
                <a:avLst/>
              </a:prstTxWarp>
            </a:body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grpSp>
        <p:nvGrpSpPr>
          <p:cNvPr id="596" name="组合 621"/>
          <p:cNvGrpSpPr/>
          <p:nvPr/>
        </p:nvGrpSpPr>
        <p:grpSpPr bwMode="black">
          <a:xfrm>
            <a:off x="8532500" y="5959358"/>
            <a:ext cx="197702" cy="153624"/>
            <a:chOff x="-983298" y="1666240"/>
            <a:chExt cx="547688" cy="309564"/>
          </a:xfrm>
          <a:solidFill>
            <a:srgbClr val="FFC000"/>
          </a:solidFill>
        </p:grpSpPr>
        <p:sp>
          <p:nvSpPr>
            <p:cNvPr id="697" name="Freeform 21"/>
            <p:cNvSpPr/>
            <p:nvPr/>
          </p:nvSpPr>
          <p:spPr bwMode="black">
            <a:xfrm>
              <a:off x="-983298" y="1798004"/>
              <a:ext cx="547688" cy="177800"/>
            </a:xfrm>
            <a:custGeom>
              <a:avLst/>
              <a:gdLst/>
              <a:ahLst/>
              <a:cxnLst>
                <a:cxn ang="0">
                  <a:pos x="16188" y="2345"/>
                </a:cxn>
                <a:cxn ang="0">
                  <a:pos x="16149" y="2515"/>
                </a:cxn>
                <a:cxn ang="0">
                  <a:pos x="15935" y="2950"/>
                </a:cxn>
                <a:cxn ang="0">
                  <a:pos x="15566" y="3361"/>
                </a:cxn>
                <a:cxn ang="0">
                  <a:pos x="15052" y="3745"/>
                </a:cxn>
                <a:cxn ang="0">
                  <a:pos x="14408" y="4094"/>
                </a:cxn>
                <a:cxn ang="0">
                  <a:pos x="13647" y="4406"/>
                </a:cxn>
                <a:cxn ang="0">
                  <a:pos x="12779" y="4677"/>
                </a:cxn>
                <a:cxn ang="0">
                  <a:pos x="11817" y="4900"/>
                </a:cxn>
                <a:cxn ang="0">
                  <a:pos x="10774" y="5071"/>
                </a:cxn>
                <a:cxn ang="0">
                  <a:pos x="9662" y="5187"/>
                </a:cxn>
                <a:cxn ang="0">
                  <a:pos x="8495" y="5241"/>
                </a:cxn>
                <a:cxn ang="0">
                  <a:pos x="7295" y="5230"/>
                </a:cxn>
                <a:cxn ang="0">
                  <a:pos x="6139" y="5155"/>
                </a:cxn>
                <a:cxn ang="0">
                  <a:pos x="5043" y="5019"/>
                </a:cxn>
                <a:cxn ang="0">
                  <a:pos x="4021" y="4827"/>
                </a:cxn>
                <a:cxn ang="0">
                  <a:pos x="3087" y="4585"/>
                </a:cxn>
                <a:cxn ang="0">
                  <a:pos x="2251" y="4298"/>
                </a:cxn>
                <a:cxn ang="0">
                  <a:pos x="1527" y="3969"/>
                </a:cxn>
                <a:cxn ang="0">
                  <a:pos x="927" y="3604"/>
                </a:cxn>
                <a:cxn ang="0">
                  <a:pos x="465" y="3208"/>
                </a:cxn>
                <a:cxn ang="0">
                  <a:pos x="151" y="2784"/>
                </a:cxn>
                <a:cxn ang="0">
                  <a:pos x="0" y="2340"/>
                </a:cxn>
                <a:cxn ang="0">
                  <a:pos x="102" y="141"/>
                </a:cxn>
                <a:cxn ang="0">
                  <a:pos x="467" y="524"/>
                </a:cxn>
                <a:cxn ang="0">
                  <a:pos x="944" y="884"/>
                </a:cxn>
                <a:cxn ang="0">
                  <a:pos x="1522" y="1217"/>
                </a:cxn>
                <a:cxn ang="0">
                  <a:pos x="2195" y="1518"/>
                </a:cxn>
                <a:cxn ang="0">
                  <a:pos x="2954" y="1785"/>
                </a:cxn>
                <a:cxn ang="0">
                  <a:pos x="3789" y="2015"/>
                </a:cxn>
                <a:cxn ang="0">
                  <a:pos x="4694" y="2204"/>
                </a:cxn>
                <a:cxn ang="0">
                  <a:pos x="5658" y="2348"/>
                </a:cxn>
                <a:cxn ang="0">
                  <a:pos x="6675" y="2444"/>
                </a:cxn>
                <a:cxn ang="0">
                  <a:pos x="7734" y="2489"/>
                </a:cxn>
                <a:cxn ang="0">
                  <a:pos x="8814" y="2480"/>
                </a:cxn>
                <a:cxn ang="0">
                  <a:pos x="9861" y="2417"/>
                </a:cxn>
                <a:cxn ang="0">
                  <a:pos x="10863" y="2304"/>
                </a:cxn>
                <a:cxn ang="0">
                  <a:pos x="11810" y="2144"/>
                </a:cxn>
                <a:cxn ang="0">
                  <a:pos x="12693" y="1941"/>
                </a:cxn>
                <a:cxn ang="0">
                  <a:pos x="13505" y="1697"/>
                </a:cxn>
                <a:cxn ang="0">
                  <a:pos x="14236" y="1418"/>
                </a:cxn>
                <a:cxn ang="0">
                  <a:pos x="14879" y="1104"/>
                </a:cxn>
                <a:cxn ang="0">
                  <a:pos x="15425" y="761"/>
                </a:cxn>
                <a:cxn ang="0">
                  <a:pos x="15864" y="392"/>
                </a:cxn>
                <a:cxn ang="0">
                  <a:pos x="16188" y="0"/>
                </a:cxn>
              </a:cxnLst>
              <a:rect l="0" t="0" r="r" b="b"/>
              <a:pathLst>
                <a:path w="16188" h="5245">
                  <a:moveTo>
                    <a:pt x="16189" y="2340"/>
                  </a:moveTo>
                  <a:lnTo>
                    <a:pt x="16189" y="2343"/>
                  </a:lnTo>
                  <a:lnTo>
                    <a:pt x="16188" y="2345"/>
                  </a:lnTo>
                  <a:lnTo>
                    <a:pt x="16188" y="2366"/>
                  </a:lnTo>
                  <a:lnTo>
                    <a:pt x="16185" y="2366"/>
                  </a:lnTo>
                  <a:lnTo>
                    <a:pt x="16149" y="2515"/>
                  </a:lnTo>
                  <a:lnTo>
                    <a:pt x="16096" y="2662"/>
                  </a:lnTo>
                  <a:lnTo>
                    <a:pt x="16025" y="2808"/>
                  </a:lnTo>
                  <a:lnTo>
                    <a:pt x="15935" y="2950"/>
                  </a:lnTo>
                  <a:lnTo>
                    <a:pt x="15828" y="3090"/>
                  </a:lnTo>
                  <a:lnTo>
                    <a:pt x="15704" y="3227"/>
                  </a:lnTo>
                  <a:lnTo>
                    <a:pt x="15566" y="3361"/>
                  </a:lnTo>
                  <a:lnTo>
                    <a:pt x="15409" y="3492"/>
                  </a:lnTo>
                  <a:lnTo>
                    <a:pt x="15238" y="3620"/>
                  </a:lnTo>
                  <a:lnTo>
                    <a:pt x="15052" y="3745"/>
                  </a:lnTo>
                  <a:lnTo>
                    <a:pt x="14851" y="3864"/>
                  </a:lnTo>
                  <a:lnTo>
                    <a:pt x="14637" y="3981"/>
                  </a:lnTo>
                  <a:lnTo>
                    <a:pt x="14408" y="4094"/>
                  </a:lnTo>
                  <a:lnTo>
                    <a:pt x="14167" y="4202"/>
                  </a:lnTo>
                  <a:lnTo>
                    <a:pt x="13913" y="4307"/>
                  </a:lnTo>
                  <a:lnTo>
                    <a:pt x="13647" y="4406"/>
                  </a:lnTo>
                  <a:lnTo>
                    <a:pt x="13368" y="4502"/>
                  </a:lnTo>
                  <a:lnTo>
                    <a:pt x="13079" y="4592"/>
                  </a:lnTo>
                  <a:lnTo>
                    <a:pt x="12779" y="4677"/>
                  </a:lnTo>
                  <a:lnTo>
                    <a:pt x="12468" y="4757"/>
                  </a:lnTo>
                  <a:lnTo>
                    <a:pt x="12147" y="4831"/>
                  </a:lnTo>
                  <a:lnTo>
                    <a:pt x="11817" y="4900"/>
                  </a:lnTo>
                  <a:lnTo>
                    <a:pt x="11478" y="4964"/>
                  </a:lnTo>
                  <a:lnTo>
                    <a:pt x="11131" y="5021"/>
                  </a:lnTo>
                  <a:lnTo>
                    <a:pt x="10774" y="5071"/>
                  </a:lnTo>
                  <a:lnTo>
                    <a:pt x="10411" y="5117"/>
                  </a:lnTo>
                  <a:lnTo>
                    <a:pt x="10040" y="5156"/>
                  </a:lnTo>
                  <a:lnTo>
                    <a:pt x="9662" y="5187"/>
                  </a:lnTo>
                  <a:lnTo>
                    <a:pt x="9279" y="5213"/>
                  </a:lnTo>
                  <a:lnTo>
                    <a:pt x="8889" y="5231"/>
                  </a:lnTo>
                  <a:lnTo>
                    <a:pt x="8495" y="5241"/>
                  </a:lnTo>
                  <a:lnTo>
                    <a:pt x="8095" y="5245"/>
                  </a:lnTo>
                  <a:lnTo>
                    <a:pt x="7692" y="5241"/>
                  </a:lnTo>
                  <a:lnTo>
                    <a:pt x="7295" y="5230"/>
                  </a:lnTo>
                  <a:lnTo>
                    <a:pt x="6904" y="5211"/>
                  </a:lnTo>
                  <a:lnTo>
                    <a:pt x="6518" y="5186"/>
                  </a:lnTo>
                  <a:lnTo>
                    <a:pt x="6139" y="5155"/>
                  </a:lnTo>
                  <a:lnTo>
                    <a:pt x="5766" y="5115"/>
                  </a:lnTo>
                  <a:lnTo>
                    <a:pt x="5401" y="5070"/>
                  </a:lnTo>
                  <a:lnTo>
                    <a:pt x="5043" y="5019"/>
                  </a:lnTo>
                  <a:lnTo>
                    <a:pt x="4693" y="4961"/>
                  </a:lnTo>
                  <a:lnTo>
                    <a:pt x="4353" y="4897"/>
                  </a:lnTo>
                  <a:lnTo>
                    <a:pt x="4021" y="4827"/>
                  </a:lnTo>
                  <a:lnTo>
                    <a:pt x="3700" y="4752"/>
                  </a:lnTo>
                  <a:lnTo>
                    <a:pt x="3388" y="4671"/>
                  </a:lnTo>
                  <a:lnTo>
                    <a:pt x="3087" y="4585"/>
                  </a:lnTo>
                  <a:lnTo>
                    <a:pt x="2797" y="4494"/>
                  </a:lnTo>
                  <a:lnTo>
                    <a:pt x="2519" y="4398"/>
                  </a:lnTo>
                  <a:lnTo>
                    <a:pt x="2251" y="4298"/>
                  </a:lnTo>
                  <a:lnTo>
                    <a:pt x="1997" y="4192"/>
                  </a:lnTo>
                  <a:lnTo>
                    <a:pt x="1755" y="4083"/>
                  </a:lnTo>
                  <a:lnTo>
                    <a:pt x="1527" y="3969"/>
                  </a:lnTo>
                  <a:lnTo>
                    <a:pt x="1314" y="3851"/>
                  </a:lnTo>
                  <a:lnTo>
                    <a:pt x="1113" y="3729"/>
                  </a:lnTo>
                  <a:lnTo>
                    <a:pt x="927" y="3604"/>
                  </a:lnTo>
                  <a:lnTo>
                    <a:pt x="757" y="3476"/>
                  </a:lnTo>
                  <a:lnTo>
                    <a:pt x="603" y="3343"/>
                  </a:lnTo>
                  <a:lnTo>
                    <a:pt x="465" y="3208"/>
                  </a:lnTo>
                  <a:lnTo>
                    <a:pt x="343" y="3069"/>
                  </a:lnTo>
                  <a:lnTo>
                    <a:pt x="238" y="2928"/>
                  </a:lnTo>
                  <a:lnTo>
                    <a:pt x="151" y="2784"/>
                  </a:lnTo>
                  <a:lnTo>
                    <a:pt x="82" y="2639"/>
                  </a:lnTo>
                  <a:lnTo>
                    <a:pt x="32" y="2490"/>
                  </a:lnTo>
                  <a:lnTo>
                    <a:pt x="0" y="2340"/>
                  </a:lnTo>
                  <a:lnTo>
                    <a:pt x="6" y="2340"/>
                  </a:lnTo>
                  <a:lnTo>
                    <a:pt x="6" y="8"/>
                  </a:lnTo>
                  <a:lnTo>
                    <a:pt x="102" y="141"/>
                  </a:lnTo>
                  <a:lnTo>
                    <a:pt x="211" y="271"/>
                  </a:lnTo>
                  <a:lnTo>
                    <a:pt x="333" y="399"/>
                  </a:lnTo>
                  <a:lnTo>
                    <a:pt x="467" y="524"/>
                  </a:lnTo>
                  <a:lnTo>
                    <a:pt x="613" y="647"/>
                  </a:lnTo>
                  <a:lnTo>
                    <a:pt x="772" y="767"/>
                  </a:lnTo>
                  <a:lnTo>
                    <a:pt x="944" y="884"/>
                  </a:lnTo>
                  <a:lnTo>
                    <a:pt x="1125" y="998"/>
                  </a:lnTo>
                  <a:lnTo>
                    <a:pt x="1319" y="1109"/>
                  </a:lnTo>
                  <a:lnTo>
                    <a:pt x="1522" y="1217"/>
                  </a:lnTo>
                  <a:lnTo>
                    <a:pt x="1736" y="1320"/>
                  </a:lnTo>
                  <a:lnTo>
                    <a:pt x="1961" y="1421"/>
                  </a:lnTo>
                  <a:lnTo>
                    <a:pt x="2195" y="1518"/>
                  </a:lnTo>
                  <a:lnTo>
                    <a:pt x="2440" y="1611"/>
                  </a:lnTo>
                  <a:lnTo>
                    <a:pt x="2692" y="1700"/>
                  </a:lnTo>
                  <a:lnTo>
                    <a:pt x="2954" y="1785"/>
                  </a:lnTo>
                  <a:lnTo>
                    <a:pt x="3225" y="1866"/>
                  </a:lnTo>
                  <a:lnTo>
                    <a:pt x="3504" y="1943"/>
                  </a:lnTo>
                  <a:lnTo>
                    <a:pt x="3789" y="2015"/>
                  </a:lnTo>
                  <a:lnTo>
                    <a:pt x="4084" y="2083"/>
                  </a:lnTo>
                  <a:lnTo>
                    <a:pt x="4385" y="2146"/>
                  </a:lnTo>
                  <a:lnTo>
                    <a:pt x="4694" y="2204"/>
                  </a:lnTo>
                  <a:lnTo>
                    <a:pt x="5010" y="2256"/>
                  </a:lnTo>
                  <a:lnTo>
                    <a:pt x="5331" y="2305"/>
                  </a:lnTo>
                  <a:lnTo>
                    <a:pt x="5658" y="2348"/>
                  </a:lnTo>
                  <a:lnTo>
                    <a:pt x="5992" y="2385"/>
                  </a:lnTo>
                  <a:lnTo>
                    <a:pt x="6331" y="2418"/>
                  </a:lnTo>
                  <a:lnTo>
                    <a:pt x="6675" y="2444"/>
                  </a:lnTo>
                  <a:lnTo>
                    <a:pt x="7023" y="2464"/>
                  </a:lnTo>
                  <a:lnTo>
                    <a:pt x="7376" y="2480"/>
                  </a:lnTo>
                  <a:lnTo>
                    <a:pt x="7734" y="2489"/>
                  </a:lnTo>
                  <a:lnTo>
                    <a:pt x="8095" y="2492"/>
                  </a:lnTo>
                  <a:lnTo>
                    <a:pt x="8456" y="2489"/>
                  </a:lnTo>
                  <a:lnTo>
                    <a:pt x="8814" y="2480"/>
                  </a:lnTo>
                  <a:lnTo>
                    <a:pt x="9168" y="2464"/>
                  </a:lnTo>
                  <a:lnTo>
                    <a:pt x="9517" y="2444"/>
                  </a:lnTo>
                  <a:lnTo>
                    <a:pt x="9861" y="2417"/>
                  </a:lnTo>
                  <a:lnTo>
                    <a:pt x="10200" y="2385"/>
                  </a:lnTo>
                  <a:lnTo>
                    <a:pt x="10535" y="2347"/>
                  </a:lnTo>
                  <a:lnTo>
                    <a:pt x="10863" y="2304"/>
                  </a:lnTo>
                  <a:lnTo>
                    <a:pt x="11184" y="2255"/>
                  </a:lnTo>
                  <a:lnTo>
                    <a:pt x="11501" y="2203"/>
                  </a:lnTo>
                  <a:lnTo>
                    <a:pt x="11810" y="2144"/>
                  </a:lnTo>
                  <a:lnTo>
                    <a:pt x="12112" y="2081"/>
                  </a:lnTo>
                  <a:lnTo>
                    <a:pt x="12406" y="2013"/>
                  </a:lnTo>
                  <a:lnTo>
                    <a:pt x="12693" y="1941"/>
                  </a:lnTo>
                  <a:lnTo>
                    <a:pt x="12972" y="1863"/>
                  </a:lnTo>
                  <a:lnTo>
                    <a:pt x="13243" y="1782"/>
                  </a:lnTo>
                  <a:lnTo>
                    <a:pt x="13505" y="1697"/>
                  </a:lnTo>
                  <a:lnTo>
                    <a:pt x="13758" y="1608"/>
                  </a:lnTo>
                  <a:lnTo>
                    <a:pt x="14002" y="1514"/>
                  </a:lnTo>
                  <a:lnTo>
                    <a:pt x="14236" y="1418"/>
                  </a:lnTo>
                  <a:lnTo>
                    <a:pt x="14461" y="1316"/>
                  </a:lnTo>
                  <a:lnTo>
                    <a:pt x="14675" y="1212"/>
                  </a:lnTo>
                  <a:lnTo>
                    <a:pt x="14879" y="1104"/>
                  </a:lnTo>
                  <a:lnTo>
                    <a:pt x="15072" y="993"/>
                  </a:lnTo>
                  <a:lnTo>
                    <a:pt x="15253" y="879"/>
                  </a:lnTo>
                  <a:lnTo>
                    <a:pt x="15425" y="761"/>
                  </a:lnTo>
                  <a:lnTo>
                    <a:pt x="15583" y="641"/>
                  </a:lnTo>
                  <a:lnTo>
                    <a:pt x="15730" y="517"/>
                  </a:lnTo>
                  <a:lnTo>
                    <a:pt x="15864" y="392"/>
                  </a:lnTo>
                  <a:lnTo>
                    <a:pt x="15985" y="264"/>
                  </a:lnTo>
                  <a:lnTo>
                    <a:pt x="16094" y="133"/>
                  </a:lnTo>
                  <a:lnTo>
                    <a:pt x="16188" y="0"/>
                  </a:lnTo>
                  <a:lnTo>
                    <a:pt x="16188" y="2340"/>
                  </a:lnTo>
                  <a:lnTo>
                    <a:pt x="16189" y="2340"/>
                  </a:lnTo>
                  <a:close/>
                </a:path>
              </a:pathLst>
            </a:custGeom>
            <a:grpFill/>
            <a:ln w="15875">
              <a:noFill/>
              <a:round/>
            </a:ln>
          </p:spPr>
          <p:txBody>
            <a:bodyPr vert="horz" wrap="square" lIns="103142" tIns="51573" rIns="103142" bIns="51573" numCol="1" anchor="t" anchorCtr="0" compatLnSpc="1">
              <a:prstTxWarp prst="textNoShape">
                <a:avLst/>
              </a:prstTxWarp>
            </a:body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698" name="Freeform 22"/>
            <p:cNvSpPr>
              <a:spLocks noEditPoints="1"/>
            </p:cNvSpPr>
            <p:nvPr/>
          </p:nvSpPr>
          <p:spPr bwMode="black">
            <a:xfrm>
              <a:off x="-983298" y="1666240"/>
              <a:ext cx="547688" cy="207963"/>
            </a:xfrm>
            <a:custGeom>
              <a:avLst/>
              <a:gdLst/>
              <a:ahLst/>
              <a:cxnLst>
                <a:cxn ang="0">
                  <a:pos x="8934" y="16"/>
                </a:cxn>
                <a:cxn ang="0">
                  <a:pos x="10129" y="97"/>
                </a:cxn>
                <a:cxn ang="0">
                  <a:pos x="11258" y="243"/>
                </a:cxn>
                <a:cxn ang="0">
                  <a:pos x="12306" y="447"/>
                </a:cxn>
                <a:cxn ang="0">
                  <a:pos x="13260" y="705"/>
                </a:cxn>
                <a:cxn ang="0">
                  <a:pos x="14105" y="1010"/>
                </a:cxn>
                <a:cxn ang="0">
                  <a:pos x="14828" y="1358"/>
                </a:cxn>
                <a:cxn ang="0">
                  <a:pos x="15413" y="1745"/>
                </a:cxn>
                <a:cxn ang="0">
                  <a:pos x="15849" y="2163"/>
                </a:cxn>
                <a:cxn ang="0">
                  <a:pos x="16122" y="2609"/>
                </a:cxn>
                <a:cxn ang="0">
                  <a:pos x="16215" y="3077"/>
                </a:cxn>
                <a:cxn ang="0">
                  <a:pos x="16122" y="3545"/>
                </a:cxn>
                <a:cxn ang="0">
                  <a:pos x="15849" y="3991"/>
                </a:cxn>
                <a:cxn ang="0">
                  <a:pos x="15413" y="4409"/>
                </a:cxn>
                <a:cxn ang="0">
                  <a:pos x="14828" y="4796"/>
                </a:cxn>
                <a:cxn ang="0">
                  <a:pos x="14105" y="5144"/>
                </a:cxn>
                <a:cxn ang="0">
                  <a:pos x="13260" y="5449"/>
                </a:cxn>
                <a:cxn ang="0">
                  <a:pos x="12306" y="5707"/>
                </a:cxn>
                <a:cxn ang="0">
                  <a:pos x="11258" y="5911"/>
                </a:cxn>
                <a:cxn ang="0">
                  <a:pos x="10129" y="6057"/>
                </a:cxn>
                <a:cxn ang="0">
                  <a:pos x="8934" y="6138"/>
                </a:cxn>
                <a:cxn ang="0">
                  <a:pos x="7691" y="6150"/>
                </a:cxn>
                <a:cxn ang="0">
                  <a:pos x="6477" y="6091"/>
                </a:cxn>
                <a:cxn ang="0">
                  <a:pos x="5325" y="5967"/>
                </a:cxn>
                <a:cxn ang="0">
                  <a:pos x="4248" y="5781"/>
                </a:cxn>
                <a:cxn ang="0">
                  <a:pos x="3262" y="5542"/>
                </a:cxn>
                <a:cxn ang="0">
                  <a:pos x="2380" y="5252"/>
                </a:cxn>
                <a:cxn ang="0">
                  <a:pos x="1614" y="4916"/>
                </a:cxn>
                <a:cxn ang="0">
                  <a:pos x="981" y="4542"/>
                </a:cxn>
                <a:cxn ang="0">
                  <a:pos x="494" y="4133"/>
                </a:cxn>
                <a:cxn ang="0">
                  <a:pos x="165" y="3696"/>
                </a:cxn>
                <a:cxn ang="0">
                  <a:pos x="10" y="3235"/>
                </a:cxn>
                <a:cxn ang="0">
                  <a:pos x="42" y="2763"/>
                </a:cxn>
                <a:cxn ang="0">
                  <a:pos x="256" y="2310"/>
                </a:cxn>
                <a:cxn ang="0">
                  <a:pos x="638" y="1881"/>
                </a:cxn>
                <a:cxn ang="0">
                  <a:pos x="1177" y="1483"/>
                </a:cxn>
                <a:cxn ang="0">
                  <a:pos x="1856" y="1122"/>
                </a:cxn>
                <a:cxn ang="0">
                  <a:pos x="2661" y="801"/>
                </a:cxn>
                <a:cxn ang="0">
                  <a:pos x="3579" y="527"/>
                </a:cxn>
                <a:cxn ang="0">
                  <a:pos x="4598" y="305"/>
                </a:cxn>
                <a:cxn ang="0">
                  <a:pos x="5701" y="139"/>
                </a:cxn>
                <a:cxn ang="0">
                  <a:pos x="6875" y="36"/>
                </a:cxn>
                <a:cxn ang="0">
                  <a:pos x="8108" y="0"/>
                </a:cxn>
                <a:cxn ang="0">
                  <a:pos x="6158" y="5404"/>
                </a:cxn>
                <a:cxn ang="0">
                  <a:pos x="6381" y="3535"/>
                </a:cxn>
                <a:cxn ang="0">
                  <a:pos x="8154" y="2469"/>
                </a:cxn>
                <a:cxn ang="0">
                  <a:pos x="12688" y="1647"/>
                </a:cxn>
                <a:cxn ang="0">
                  <a:pos x="10617" y="1086"/>
                </a:cxn>
                <a:cxn ang="0">
                  <a:pos x="9647" y="3871"/>
                </a:cxn>
                <a:cxn ang="0">
                  <a:pos x="11195" y="2918"/>
                </a:cxn>
                <a:cxn ang="0">
                  <a:pos x="13547" y="4824"/>
                </a:cxn>
                <a:cxn ang="0">
                  <a:pos x="6773" y="1946"/>
                </a:cxn>
                <a:cxn ang="0">
                  <a:pos x="1325" y="2039"/>
                </a:cxn>
              </a:cxnLst>
              <a:rect l="0" t="0" r="r" b="b"/>
              <a:pathLst>
                <a:path w="16215" h="6154">
                  <a:moveTo>
                    <a:pt x="8108" y="0"/>
                  </a:moveTo>
                  <a:lnTo>
                    <a:pt x="8524" y="4"/>
                  </a:lnTo>
                  <a:lnTo>
                    <a:pt x="8934" y="16"/>
                  </a:lnTo>
                  <a:lnTo>
                    <a:pt x="9340" y="36"/>
                  </a:lnTo>
                  <a:lnTo>
                    <a:pt x="9738" y="63"/>
                  </a:lnTo>
                  <a:lnTo>
                    <a:pt x="10129" y="97"/>
                  </a:lnTo>
                  <a:lnTo>
                    <a:pt x="10513" y="139"/>
                  </a:lnTo>
                  <a:lnTo>
                    <a:pt x="10890" y="187"/>
                  </a:lnTo>
                  <a:lnTo>
                    <a:pt x="11258" y="243"/>
                  </a:lnTo>
                  <a:lnTo>
                    <a:pt x="11617" y="305"/>
                  </a:lnTo>
                  <a:lnTo>
                    <a:pt x="11967" y="373"/>
                  </a:lnTo>
                  <a:lnTo>
                    <a:pt x="12306" y="447"/>
                  </a:lnTo>
                  <a:lnTo>
                    <a:pt x="12636" y="527"/>
                  </a:lnTo>
                  <a:lnTo>
                    <a:pt x="12953" y="613"/>
                  </a:lnTo>
                  <a:lnTo>
                    <a:pt x="13260" y="705"/>
                  </a:lnTo>
                  <a:lnTo>
                    <a:pt x="13554" y="801"/>
                  </a:lnTo>
                  <a:lnTo>
                    <a:pt x="13835" y="902"/>
                  </a:lnTo>
                  <a:lnTo>
                    <a:pt x="14105" y="1010"/>
                  </a:lnTo>
                  <a:lnTo>
                    <a:pt x="14359" y="1122"/>
                  </a:lnTo>
                  <a:lnTo>
                    <a:pt x="14601" y="1237"/>
                  </a:lnTo>
                  <a:lnTo>
                    <a:pt x="14828" y="1358"/>
                  </a:lnTo>
                  <a:lnTo>
                    <a:pt x="15038" y="1483"/>
                  </a:lnTo>
                  <a:lnTo>
                    <a:pt x="15234" y="1612"/>
                  </a:lnTo>
                  <a:lnTo>
                    <a:pt x="15413" y="1745"/>
                  </a:lnTo>
                  <a:lnTo>
                    <a:pt x="15577" y="1881"/>
                  </a:lnTo>
                  <a:lnTo>
                    <a:pt x="15721" y="2021"/>
                  </a:lnTo>
                  <a:lnTo>
                    <a:pt x="15849" y="2163"/>
                  </a:lnTo>
                  <a:lnTo>
                    <a:pt x="15959" y="2310"/>
                  </a:lnTo>
                  <a:lnTo>
                    <a:pt x="16050" y="2458"/>
                  </a:lnTo>
                  <a:lnTo>
                    <a:pt x="16122" y="2609"/>
                  </a:lnTo>
                  <a:lnTo>
                    <a:pt x="16173" y="2763"/>
                  </a:lnTo>
                  <a:lnTo>
                    <a:pt x="16205" y="2919"/>
                  </a:lnTo>
                  <a:lnTo>
                    <a:pt x="16215" y="3077"/>
                  </a:lnTo>
                  <a:lnTo>
                    <a:pt x="16205" y="3235"/>
                  </a:lnTo>
                  <a:lnTo>
                    <a:pt x="16173" y="3391"/>
                  </a:lnTo>
                  <a:lnTo>
                    <a:pt x="16122" y="3545"/>
                  </a:lnTo>
                  <a:lnTo>
                    <a:pt x="16050" y="3696"/>
                  </a:lnTo>
                  <a:lnTo>
                    <a:pt x="15959" y="3844"/>
                  </a:lnTo>
                  <a:lnTo>
                    <a:pt x="15849" y="3991"/>
                  </a:lnTo>
                  <a:lnTo>
                    <a:pt x="15721" y="4133"/>
                  </a:lnTo>
                  <a:lnTo>
                    <a:pt x="15577" y="4273"/>
                  </a:lnTo>
                  <a:lnTo>
                    <a:pt x="15413" y="4409"/>
                  </a:lnTo>
                  <a:lnTo>
                    <a:pt x="15234" y="4542"/>
                  </a:lnTo>
                  <a:lnTo>
                    <a:pt x="15038" y="4671"/>
                  </a:lnTo>
                  <a:lnTo>
                    <a:pt x="14828" y="4796"/>
                  </a:lnTo>
                  <a:lnTo>
                    <a:pt x="14601" y="4916"/>
                  </a:lnTo>
                  <a:lnTo>
                    <a:pt x="14359" y="5032"/>
                  </a:lnTo>
                  <a:lnTo>
                    <a:pt x="14105" y="5144"/>
                  </a:lnTo>
                  <a:lnTo>
                    <a:pt x="13835" y="5252"/>
                  </a:lnTo>
                  <a:lnTo>
                    <a:pt x="13554" y="5353"/>
                  </a:lnTo>
                  <a:lnTo>
                    <a:pt x="13260" y="5449"/>
                  </a:lnTo>
                  <a:lnTo>
                    <a:pt x="12953" y="5542"/>
                  </a:lnTo>
                  <a:lnTo>
                    <a:pt x="12636" y="5627"/>
                  </a:lnTo>
                  <a:lnTo>
                    <a:pt x="12306" y="5707"/>
                  </a:lnTo>
                  <a:lnTo>
                    <a:pt x="11967" y="5781"/>
                  </a:lnTo>
                  <a:lnTo>
                    <a:pt x="11617" y="5849"/>
                  </a:lnTo>
                  <a:lnTo>
                    <a:pt x="11258" y="5911"/>
                  </a:lnTo>
                  <a:lnTo>
                    <a:pt x="10890" y="5967"/>
                  </a:lnTo>
                  <a:lnTo>
                    <a:pt x="10513" y="6015"/>
                  </a:lnTo>
                  <a:lnTo>
                    <a:pt x="10129" y="6057"/>
                  </a:lnTo>
                  <a:lnTo>
                    <a:pt x="9738" y="6091"/>
                  </a:lnTo>
                  <a:lnTo>
                    <a:pt x="9340" y="6118"/>
                  </a:lnTo>
                  <a:lnTo>
                    <a:pt x="8934" y="6138"/>
                  </a:lnTo>
                  <a:lnTo>
                    <a:pt x="8524" y="6150"/>
                  </a:lnTo>
                  <a:lnTo>
                    <a:pt x="8108" y="6154"/>
                  </a:lnTo>
                  <a:lnTo>
                    <a:pt x="7691" y="6150"/>
                  </a:lnTo>
                  <a:lnTo>
                    <a:pt x="7281" y="6138"/>
                  </a:lnTo>
                  <a:lnTo>
                    <a:pt x="6875" y="6118"/>
                  </a:lnTo>
                  <a:lnTo>
                    <a:pt x="6477" y="6091"/>
                  </a:lnTo>
                  <a:lnTo>
                    <a:pt x="6086" y="6057"/>
                  </a:lnTo>
                  <a:lnTo>
                    <a:pt x="5701" y="6015"/>
                  </a:lnTo>
                  <a:lnTo>
                    <a:pt x="5325" y="5967"/>
                  </a:lnTo>
                  <a:lnTo>
                    <a:pt x="4957" y="5911"/>
                  </a:lnTo>
                  <a:lnTo>
                    <a:pt x="4598" y="5849"/>
                  </a:lnTo>
                  <a:lnTo>
                    <a:pt x="4248" y="5781"/>
                  </a:lnTo>
                  <a:lnTo>
                    <a:pt x="3909" y="5707"/>
                  </a:lnTo>
                  <a:lnTo>
                    <a:pt x="3579" y="5627"/>
                  </a:lnTo>
                  <a:lnTo>
                    <a:pt x="3262" y="5542"/>
                  </a:lnTo>
                  <a:lnTo>
                    <a:pt x="2955" y="5449"/>
                  </a:lnTo>
                  <a:lnTo>
                    <a:pt x="2661" y="5353"/>
                  </a:lnTo>
                  <a:lnTo>
                    <a:pt x="2380" y="5252"/>
                  </a:lnTo>
                  <a:lnTo>
                    <a:pt x="2110" y="5144"/>
                  </a:lnTo>
                  <a:lnTo>
                    <a:pt x="1856" y="5032"/>
                  </a:lnTo>
                  <a:lnTo>
                    <a:pt x="1614" y="4916"/>
                  </a:lnTo>
                  <a:lnTo>
                    <a:pt x="1387" y="4796"/>
                  </a:lnTo>
                  <a:lnTo>
                    <a:pt x="1177" y="4671"/>
                  </a:lnTo>
                  <a:lnTo>
                    <a:pt x="981" y="4542"/>
                  </a:lnTo>
                  <a:lnTo>
                    <a:pt x="802" y="4409"/>
                  </a:lnTo>
                  <a:lnTo>
                    <a:pt x="638" y="4273"/>
                  </a:lnTo>
                  <a:lnTo>
                    <a:pt x="494" y="4133"/>
                  </a:lnTo>
                  <a:lnTo>
                    <a:pt x="366" y="3991"/>
                  </a:lnTo>
                  <a:lnTo>
                    <a:pt x="256" y="3844"/>
                  </a:lnTo>
                  <a:lnTo>
                    <a:pt x="165" y="3696"/>
                  </a:lnTo>
                  <a:lnTo>
                    <a:pt x="93" y="3545"/>
                  </a:lnTo>
                  <a:lnTo>
                    <a:pt x="42" y="3391"/>
                  </a:lnTo>
                  <a:lnTo>
                    <a:pt x="10" y="3235"/>
                  </a:lnTo>
                  <a:lnTo>
                    <a:pt x="0" y="3077"/>
                  </a:lnTo>
                  <a:lnTo>
                    <a:pt x="10" y="2919"/>
                  </a:lnTo>
                  <a:lnTo>
                    <a:pt x="42" y="2763"/>
                  </a:lnTo>
                  <a:lnTo>
                    <a:pt x="93" y="2609"/>
                  </a:lnTo>
                  <a:lnTo>
                    <a:pt x="165" y="2458"/>
                  </a:lnTo>
                  <a:lnTo>
                    <a:pt x="256" y="2310"/>
                  </a:lnTo>
                  <a:lnTo>
                    <a:pt x="366" y="2163"/>
                  </a:lnTo>
                  <a:lnTo>
                    <a:pt x="494" y="2021"/>
                  </a:lnTo>
                  <a:lnTo>
                    <a:pt x="638" y="1881"/>
                  </a:lnTo>
                  <a:lnTo>
                    <a:pt x="802" y="1745"/>
                  </a:lnTo>
                  <a:lnTo>
                    <a:pt x="981" y="1612"/>
                  </a:lnTo>
                  <a:lnTo>
                    <a:pt x="1177" y="1483"/>
                  </a:lnTo>
                  <a:lnTo>
                    <a:pt x="1387" y="1358"/>
                  </a:lnTo>
                  <a:lnTo>
                    <a:pt x="1614" y="1237"/>
                  </a:lnTo>
                  <a:lnTo>
                    <a:pt x="1856" y="1122"/>
                  </a:lnTo>
                  <a:lnTo>
                    <a:pt x="2110" y="1010"/>
                  </a:lnTo>
                  <a:lnTo>
                    <a:pt x="2380" y="902"/>
                  </a:lnTo>
                  <a:lnTo>
                    <a:pt x="2661" y="801"/>
                  </a:lnTo>
                  <a:lnTo>
                    <a:pt x="2955" y="705"/>
                  </a:lnTo>
                  <a:lnTo>
                    <a:pt x="3262" y="613"/>
                  </a:lnTo>
                  <a:lnTo>
                    <a:pt x="3579" y="527"/>
                  </a:lnTo>
                  <a:lnTo>
                    <a:pt x="3909" y="447"/>
                  </a:lnTo>
                  <a:lnTo>
                    <a:pt x="4248" y="373"/>
                  </a:lnTo>
                  <a:lnTo>
                    <a:pt x="4598" y="305"/>
                  </a:lnTo>
                  <a:lnTo>
                    <a:pt x="4957" y="243"/>
                  </a:lnTo>
                  <a:lnTo>
                    <a:pt x="5325" y="187"/>
                  </a:lnTo>
                  <a:lnTo>
                    <a:pt x="5701" y="139"/>
                  </a:lnTo>
                  <a:lnTo>
                    <a:pt x="6086" y="97"/>
                  </a:lnTo>
                  <a:lnTo>
                    <a:pt x="6477" y="63"/>
                  </a:lnTo>
                  <a:lnTo>
                    <a:pt x="6875" y="36"/>
                  </a:lnTo>
                  <a:lnTo>
                    <a:pt x="7281" y="16"/>
                  </a:lnTo>
                  <a:lnTo>
                    <a:pt x="7691" y="4"/>
                  </a:lnTo>
                  <a:lnTo>
                    <a:pt x="8108" y="0"/>
                  </a:lnTo>
                  <a:close/>
                  <a:moveTo>
                    <a:pt x="3135" y="4675"/>
                  </a:moveTo>
                  <a:lnTo>
                    <a:pt x="3787" y="5515"/>
                  </a:lnTo>
                  <a:lnTo>
                    <a:pt x="6158" y="5404"/>
                  </a:lnTo>
                  <a:lnTo>
                    <a:pt x="5243" y="5179"/>
                  </a:lnTo>
                  <a:lnTo>
                    <a:pt x="7687" y="3759"/>
                  </a:lnTo>
                  <a:lnTo>
                    <a:pt x="6381" y="3535"/>
                  </a:lnTo>
                  <a:lnTo>
                    <a:pt x="3936" y="4880"/>
                  </a:lnTo>
                  <a:lnTo>
                    <a:pt x="3135" y="4675"/>
                  </a:lnTo>
                  <a:close/>
                  <a:moveTo>
                    <a:pt x="8154" y="2469"/>
                  </a:moveTo>
                  <a:lnTo>
                    <a:pt x="9497" y="2824"/>
                  </a:lnTo>
                  <a:lnTo>
                    <a:pt x="11792" y="1404"/>
                  </a:lnTo>
                  <a:lnTo>
                    <a:pt x="12688" y="1647"/>
                  </a:lnTo>
                  <a:lnTo>
                    <a:pt x="11979" y="767"/>
                  </a:lnTo>
                  <a:lnTo>
                    <a:pt x="9833" y="862"/>
                  </a:lnTo>
                  <a:lnTo>
                    <a:pt x="10617" y="1086"/>
                  </a:lnTo>
                  <a:lnTo>
                    <a:pt x="8154" y="2469"/>
                  </a:lnTo>
                  <a:close/>
                  <a:moveTo>
                    <a:pt x="13547" y="4824"/>
                  </a:moveTo>
                  <a:lnTo>
                    <a:pt x="9647" y="3871"/>
                  </a:lnTo>
                  <a:lnTo>
                    <a:pt x="9068" y="4264"/>
                  </a:lnTo>
                  <a:lnTo>
                    <a:pt x="9012" y="3235"/>
                  </a:lnTo>
                  <a:lnTo>
                    <a:pt x="11195" y="2918"/>
                  </a:lnTo>
                  <a:lnTo>
                    <a:pt x="10561" y="3254"/>
                  </a:lnTo>
                  <a:lnTo>
                    <a:pt x="14516" y="4133"/>
                  </a:lnTo>
                  <a:lnTo>
                    <a:pt x="13547" y="4824"/>
                  </a:lnTo>
                  <a:close/>
                  <a:moveTo>
                    <a:pt x="4534" y="3291"/>
                  </a:moveTo>
                  <a:lnTo>
                    <a:pt x="6885" y="3011"/>
                  </a:lnTo>
                  <a:lnTo>
                    <a:pt x="6773" y="1946"/>
                  </a:lnTo>
                  <a:lnTo>
                    <a:pt x="6176" y="2300"/>
                  </a:lnTo>
                  <a:lnTo>
                    <a:pt x="2463" y="1478"/>
                  </a:lnTo>
                  <a:lnTo>
                    <a:pt x="1325" y="2039"/>
                  </a:lnTo>
                  <a:lnTo>
                    <a:pt x="5019" y="2955"/>
                  </a:lnTo>
                  <a:lnTo>
                    <a:pt x="4534" y="3291"/>
                  </a:lnTo>
                  <a:close/>
                </a:path>
              </a:pathLst>
            </a:custGeom>
            <a:grpFill/>
            <a:ln w="15875">
              <a:noFill/>
              <a:round/>
            </a:ln>
          </p:spPr>
          <p:txBody>
            <a:bodyPr vert="horz" wrap="square" lIns="103142" tIns="51573" rIns="103142" bIns="51573" numCol="1" anchor="t" anchorCtr="0" compatLnSpc="1">
              <a:prstTxWarp prst="textNoShape">
                <a:avLst/>
              </a:prstTxWarp>
            </a:body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cxnSp>
        <p:nvCxnSpPr>
          <p:cNvPr id="597" name="直接连接符 596"/>
          <p:cNvCxnSpPr/>
          <p:nvPr/>
        </p:nvCxnSpPr>
        <p:spPr bwMode="gray">
          <a:xfrm>
            <a:off x="8570273" y="5934074"/>
            <a:ext cx="26458" cy="54629"/>
          </a:xfrm>
          <a:prstGeom prst="line">
            <a:avLst/>
          </a:prstGeom>
          <a:ln>
            <a:solidFill>
              <a:srgbClr val="FFC000"/>
            </a:solidFill>
            <a:prstDash val="sysDash"/>
          </a:ln>
        </p:spPr>
        <p:style>
          <a:lnRef idx="1">
            <a:schemeClr val="accent1"/>
          </a:lnRef>
          <a:fillRef idx="0">
            <a:schemeClr val="accent1"/>
          </a:fillRef>
          <a:effectRef idx="0">
            <a:schemeClr val="accent1"/>
          </a:effectRef>
          <a:fontRef idx="minor">
            <a:schemeClr val="tx1"/>
          </a:fontRef>
        </p:style>
      </p:cxnSp>
      <p:sp>
        <p:nvSpPr>
          <p:cNvPr id="598" name="文本框 597"/>
          <p:cNvSpPr txBox="1"/>
          <p:nvPr/>
        </p:nvSpPr>
        <p:spPr bwMode="gray">
          <a:xfrm>
            <a:off x="9338582" y="5876228"/>
            <a:ext cx="615553" cy="184666"/>
          </a:xfrm>
          <a:prstGeom prst="rect">
            <a:avLst/>
          </a:prstGeom>
          <a:noFill/>
        </p:spPr>
        <p:txBody>
          <a:bodyPr wrap="none" lIns="0" tIns="0" rIns="0" bIns="0" rtlCol="0">
            <a:spAutoFit/>
          </a:bodyPr>
          <a:lstStyle/>
          <a:p>
            <a:pPr algn="ctr" defTabSz="1218712" fontAlgn="base">
              <a:spcBef>
                <a:spcPct val="0"/>
              </a:spcBef>
              <a:spcAft>
                <a:spcPct val="0"/>
              </a:spcAft>
            </a:pPr>
            <a:r>
              <a:rPr lang="zh-CN" altLang="en-US" sz="120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rPr>
              <a:t>传统网络</a:t>
            </a:r>
            <a:endParaRPr lang="en-US" sz="120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99" name="椭圆 598"/>
          <p:cNvSpPr/>
          <p:nvPr/>
        </p:nvSpPr>
        <p:spPr bwMode="gray">
          <a:xfrm>
            <a:off x="7292231" y="4961518"/>
            <a:ext cx="107945" cy="10752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0" name="椭圆 599"/>
          <p:cNvSpPr/>
          <p:nvPr/>
        </p:nvSpPr>
        <p:spPr bwMode="gray">
          <a:xfrm>
            <a:off x="7671261" y="5937909"/>
            <a:ext cx="107945" cy="10752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1" name="椭圆 600"/>
          <p:cNvSpPr/>
          <p:nvPr/>
        </p:nvSpPr>
        <p:spPr bwMode="gray">
          <a:xfrm>
            <a:off x="7489417" y="5399220"/>
            <a:ext cx="107945" cy="10752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2" name="Shape 449"/>
          <p:cNvSpPr/>
          <p:nvPr/>
        </p:nvSpPr>
        <p:spPr bwMode="gray">
          <a:xfrm flipV="1">
            <a:off x="7580840" y="5448181"/>
            <a:ext cx="658188" cy="10191"/>
          </a:xfrm>
          <a:prstGeom prst="line">
            <a:avLst/>
          </a:prstGeom>
          <a:noFill/>
          <a:ln w="22225" cap="flat">
            <a:solidFill>
              <a:srgbClr val="00B0F0">
                <a:alpha val="60000"/>
              </a:srgbClr>
            </a:solidFill>
            <a:prstDash val="solid"/>
            <a:miter lim="800000"/>
          </a:ln>
          <a:effectLst/>
        </p:spPr>
        <p:txBody>
          <a:bodyPr wrap="square" lIns="68533" tIns="68533" rIns="68533" bIns="68533" numCol="1" anchor="t">
            <a:noAutofit/>
          </a:bodyPr>
          <a:lstStyle/>
          <a:p>
            <a:pPr defTabSz="1218712" fontAlgn="base">
              <a:spcBef>
                <a:spcPct val="0"/>
              </a:spcBef>
              <a:spcAft>
                <a:spcPct val="0"/>
              </a:spcAft>
            </a:pPr>
            <a:endParaRPr sz="1599">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603" name="组合 237"/>
          <p:cNvGrpSpPr/>
          <p:nvPr/>
        </p:nvGrpSpPr>
        <p:grpSpPr bwMode="black">
          <a:xfrm>
            <a:off x="7894740" y="4918845"/>
            <a:ext cx="279988" cy="161263"/>
            <a:chOff x="9259024" y="3397520"/>
            <a:chExt cx="702328" cy="404529"/>
          </a:xfrm>
        </p:grpSpPr>
        <p:sp>
          <p:nvSpPr>
            <p:cNvPr id="686" name="Freeform 27"/>
            <p:cNvSpPr>
              <a:spLocks noEditPoints="1"/>
            </p:cNvSpPr>
            <p:nvPr/>
          </p:nvSpPr>
          <p:spPr bwMode="black">
            <a:xfrm>
              <a:off x="9259024" y="3397520"/>
              <a:ext cx="702328" cy="404529"/>
            </a:xfrm>
            <a:custGeom>
              <a:avLst/>
              <a:gdLst/>
              <a:ahLst/>
              <a:cxnLst>
                <a:cxn ang="0">
                  <a:pos x="8324" y="38"/>
                </a:cxn>
                <a:cxn ang="0">
                  <a:pos x="9087" y="203"/>
                </a:cxn>
                <a:cxn ang="0">
                  <a:pos x="9799" y="487"/>
                </a:cxn>
                <a:cxn ang="0">
                  <a:pos x="10451" y="880"/>
                </a:cxn>
                <a:cxn ang="0">
                  <a:pos x="11031" y="1370"/>
                </a:cxn>
                <a:cxn ang="0">
                  <a:pos x="11529" y="1947"/>
                </a:cxn>
                <a:cxn ang="0">
                  <a:pos x="11934" y="2598"/>
                </a:cxn>
                <a:cxn ang="0">
                  <a:pos x="12234" y="3314"/>
                </a:cxn>
                <a:cxn ang="0">
                  <a:pos x="12378" y="3497"/>
                </a:cxn>
                <a:cxn ang="0">
                  <a:pos x="12496" y="3494"/>
                </a:cxn>
                <a:cxn ang="0">
                  <a:pos x="13119" y="3540"/>
                </a:cxn>
                <a:cxn ang="0">
                  <a:pos x="13870" y="3738"/>
                </a:cxn>
                <a:cxn ang="0">
                  <a:pos x="14554" y="4074"/>
                </a:cxn>
                <a:cxn ang="0">
                  <a:pos x="15156" y="4535"/>
                </a:cxn>
                <a:cxn ang="0">
                  <a:pos x="15663" y="5102"/>
                </a:cxn>
                <a:cxn ang="0">
                  <a:pos x="16056" y="5761"/>
                </a:cxn>
                <a:cxn ang="0">
                  <a:pos x="16320" y="6494"/>
                </a:cxn>
                <a:cxn ang="0">
                  <a:pos x="16438" y="7286"/>
                </a:cxn>
                <a:cxn ang="0">
                  <a:pos x="16401" y="8075"/>
                </a:cxn>
                <a:cxn ang="0">
                  <a:pos x="16222" y="8813"/>
                </a:cxn>
                <a:cxn ang="0">
                  <a:pos x="15915" y="9491"/>
                </a:cxn>
                <a:cxn ang="0">
                  <a:pos x="15494" y="10093"/>
                </a:cxn>
                <a:cxn ang="0">
                  <a:pos x="14974" y="10606"/>
                </a:cxn>
                <a:cxn ang="0">
                  <a:pos x="14369" y="11014"/>
                </a:cxn>
                <a:cxn ang="0">
                  <a:pos x="13693" y="11305"/>
                </a:cxn>
                <a:cxn ang="0">
                  <a:pos x="12960" y="11462"/>
                </a:cxn>
                <a:cxn ang="0">
                  <a:pos x="3341" y="11487"/>
                </a:cxn>
                <a:cxn ang="0">
                  <a:pos x="2760" y="11436"/>
                </a:cxn>
                <a:cxn ang="0">
                  <a:pos x="2156" y="11265"/>
                </a:cxn>
                <a:cxn ang="0">
                  <a:pos x="1603" y="10987"/>
                </a:cxn>
                <a:cxn ang="0">
                  <a:pos x="1113" y="10615"/>
                </a:cxn>
                <a:cxn ang="0">
                  <a:pos x="697" y="10159"/>
                </a:cxn>
                <a:cxn ang="0">
                  <a:pos x="368" y="9631"/>
                </a:cxn>
                <a:cxn ang="0">
                  <a:pos x="137" y="9044"/>
                </a:cxn>
                <a:cxn ang="0">
                  <a:pos x="15" y="8410"/>
                </a:cxn>
                <a:cxn ang="0">
                  <a:pos x="15" y="7754"/>
                </a:cxn>
                <a:cxn ang="0">
                  <a:pos x="132" y="7132"/>
                </a:cxn>
                <a:cxn ang="0">
                  <a:pos x="354" y="6556"/>
                </a:cxn>
                <a:cxn ang="0">
                  <a:pos x="671" y="6034"/>
                </a:cxn>
                <a:cxn ang="0">
                  <a:pos x="1072" y="5582"/>
                </a:cxn>
                <a:cxn ang="0">
                  <a:pos x="1546" y="5208"/>
                </a:cxn>
                <a:cxn ang="0">
                  <a:pos x="2082" y="4924"/>
                </a:cxn>
                <a:cxn ang="0">
                  <a:pos x="2668" y="4741"/>
                </a:cxn>
                <a:cxn ang="0">
                  <a:pos x="3015" y="4212"/>
                </a:cxn>
                <a:cxn ang="0">
                  <a:pos x="3225" y="3295"/>
                </a:cxn>
                <a:cxn ang="0">
                  <a:pos x="3597" y="2453"/>
                </a:cxn>
                <a:cxn ang="0">
                  <a:pos x="4113" y="1704"/>
                </a:cxn>
                <a:cxn ang="0">
                  <a:pos x="4754" y="1069"/>
                </a:cxn>
                <a:cxn ang="0">
                  <a:pos x="5503" y="565"/>
                </a:cxn>
                <a:cxn ang="0">
                  <a:pos x="6342" y="211"/>
                </a:cxn>
                <a:cxn ang="0">
                  <a:pos x="7250" y="25"/>
                </a:cxn>
                <a:cxn ang="0">
                  <a:pos x="9148" y="9515"/>
                </a:cxn>
                <a:cxn ang="0">
                  <a:pos x="9106" y="9484"/>
                </a:cxn>
                <a:cxn ang="0">
                  <a:pos x="9023" y="9509"/>
                </a:cxn>
                <a:cxn ang="0">
                  <a:pos x="9156" y="9528"/>
                </a:cxn>
                <a:cxn ang="0">
                  <a:pos x="6408" y="9503"/>
                </a:cxn>
                <a:cxn ang="0">
                  <a:pos x="6368" y="9519"/>
                </a:cxn>
              </a:cxnLst>
              <a:rect l="0" t="0" r="r" b="b"/>
              <a:pathLst>
                <a:path w="16443" h="11487">
                  <a:moveTo>
                    <a:pt x="7726" y="0"/>
                  </a:moveTo>
                  <a:lnTo>
                    <a:pt x="7928" y="4"/>
                  </a:lnTo>
                  <a:lnTo>
                    <a:pt x="8127" y="17"/>
                  </a:lnTo>
                  <a:lnTo>
                    <a:pt x="8324" y="38"/>
                  </a:lnTo>
                  <a:lnTo>
                    <a:pt x="8519" y="68"/>
                  </a:lnTo>
                  <a:lnTo>
                    <a:pt x="8711" y="105"/>
                  </a:lnTo>
                  <a:lnTo>
                    <a:pt x="8900" y="150"/>
                  </a:lnTo>
                  <a:lnTo>
                    <a:pt x="9087" y="203"/>
                  </a:lnTo>
                  <a:lnTo>
                    <a:pt x="9270" y="263"/>
                  </a:lnTo>
                  <a:lnTo>
                    <a:pt x="9450" y="331"/>
                  </a:lnTo>
                  <a:lnTo>
                    <a:pt x="9626" y="406"/>
                  </a:lnTo>
                  <a:lnTo>
                    <a:pt x="9799" y="487"/>
                  </a:lnTo>
                  <a:lnTo>
                    <a:pt x="9969" y="576"/>
                  </a:lnTo>
                  <a:lnTo>
                    <a:pt x="10133" y="670"/>
                  </a:lnTo>
                  <a:lnTo>
                    <a:pt x="10294" y="772"/>
                  </a:lnTo>
                  <a:lnTo>
                    <a:pt x="10451" y="880"/>
                  </a:lnTo>
                  <a:lnTo>
                    <a:pt x="10604" y="994"/>
                  </a:lnTo>
                  <a:lnTo>
                    <a:pt x="10751" y="1113"/>
                  </a:lnTo>
                  <a:lnTo>
                    <a:pt x="10893" y="1239"/>
                  </a:lnTo>
                  <a:lnTo>
                    <a:pt x="11031" y="1370"/>
                  </a:lnTo>
                  <a:lnTo>
                    <a:pt x="11164" y="1507"/>
                  </a:lnTo>
                  <a:lnTo>
                    <a:pt x="11291" y="1648"/>
                  </a:lnTo>
                  <a:lnTo>
                    <a:pt x="11412" y="1795"/>
                  </a:lnTo>
                  <a:lnTo>
                    <a:pt x="11529" y="1947"/>
                  </a:lnTo>
                  <a:lnTo>
                    <a:pt x="11640" y="2102"/>
                  </a:lnTo>
                  <a:lnTo>
                    <a:pt x="11743" y="2264"/>
                  </a:lnTo>
                  <a:lnTo>
                    <a:pt x="11842" y="2429"/>
                  </a:lnTo>
                  <a:lnTo>
                    <a:pt x="11934" y="2598"/>
                  </a:lnTo>
                  <a:lnTo>
                    <a:pt x="12019" y="2772"/>
                  </a:lnTo>
                  <a:lnTo>
                    <a:pt x="12097" y="2948"/>
                  </a:lnTo>
                  <a:lnTo>
                    <a:pt x="12169" y="3129"/>
                  </a:lnTo>
                  <a:lnTo>
                    <a:pt x="12234" y="3314"/>
                  </a:lnTo>
                  <a:lnTo>
                    <a:pt x="12291" y="3501"/>
                  </a:lnTo>
                  <a:lnTo>
                    <a:pt x="12320" y="3499"/>
                  </a:lnTo>
                  <a:lnTo>
                    <a:pt x="12349" y="3498"/>
                  </a:lnTo>
                  <a:lnTo>
                    <a:pt x="12378" y="3497"/>
                  </a:lnTo>
                  <a:lnTo>
                    <a:pt x="12407" y="3496"/>
                  </a:lnTo>
                  <a:lnTo>
                    <a:pt x="12437" y="3495"/>
                  </a:lnTo>
                  <a:lnTo>
                    <a:pt x="12466" y="3494"/>
                  </a:lnTo>
                  <a:lnTo>
                    <a:pt x="12496" y="3494"/>
                  </a:lnTo>
                  <a:lnTo>
                    <a:pt x="12524" y="3494"/>
                  </a:lnTo>
                  <a:lnTo>
                    <a:pt x="12726" y="3499"/>
                  </a:lnTo>
                  <a:lnTo>
                    <a:pt x="12924" y="3515"/>
                  </a:lnTo>
                  <a:lnTo>
                    <a:pt x="13119" y="3540"/>
                  </a:lnTo>
                  <a:lnTo>
                    <a:pt x="13313" y="3575"/>
                  </a:lnTo>
                  <a:lnTo>
                    <a:pt x="13502" y="3621"/>
                  </a:lnTo>
                  <a:lnTo>
                    <a:pt x="13688" y="3674"/>
                  </a:lnTo>
                  <a:lnTo>
                    <a:pt x="13870" y="3738"/>
                  </a:lnTo>
                  <a:lnTo>
                    <a:pt x="14047" y="3809"/>
                  </a:lnTo>
                  <a:lnTo>
                    <a:pt x="14221" y="3889"/>
                  </a:lnTo>
                  <a:lnTo>
                    <a:pt x="14390" y="3977"/>
                  </a:lnTo>
                  <a:lnTo>
                    <a:pt x="14554" y="4074"/>
                  </a:lnTo>
                  <a:lnTo>
                    <a:pt x="14712" y="4179"/>
                  </a:lnTo>
                  <a:lnTo>
                    <a:pt x="14867" y="4290"/>
                  </a:lnTo>
                  <a:lnTo>
                    <a:pt x="15015" y="4409"/>
                  </a:lnTo>
                  <a:lnTo>
                    <a:pt x="15156" y="4535"/>
                  </a:lnTo>
                  <a:lnTo>
                    <a:pt x="15293" y="4667"/>
                  </a:lnTo>
                  <a:lnTo>
                    <a:pt x="15423" y="4806"/>
                  </a:lnTo>
                  <a:lnTo>
                    <a:pt x="15546" y="4951"/>
                  </a:lnTo>
                  <a:lnTo>
                    <a:pt x="15663" y="5102"/>
                  </a:lnTo>
                  <a:lnTo>
                    <a:pt x="15772" y="5259"/>
                  </a:lnTo>
                  <a:lnTo>
                    <a:pt x="15875" y="5421"/>
                  </a:lnTo>
                  <a:lnTo>
                    <a:pt x="15969" y="5588"/>
                  </a:lnTo>
                  <a:lnTo>
                    <a:pt x="16056" y="5761"/>
                  </a:lnTo>
                  <a:lnTo>
                    <a:pt x="16134" y="5938"/>
                  </a:lnTo>
                  <a:lnTo>
                    <a:pt x="16205" y="6119"/>
                  </a:lnTo>
                  <a:lnTo>
                    <a:pt x="16266" y="6305"/>
                  </a:lnTo>
                  <a:lnTo>
                    <a:pt x="16320" y="6494"/>
                  </a:lnTo>
                  <a:lnTo>
                    <a:pt x="16363" y="6687"/>
                  </a:lnTo>
                  <a:lnTo>
                    <a:pt x="16398" y="6884"/>
                  </a:lnTo>
                  <a:lnTo>
                    <a:pt x="16422" y="7083"/>
                  </a:lnTo>
                  <a:lnTo>
                    <a:pt x="16438" y="7286"/>
                  </a:lnTo>
                  <a:lnTo>
                    <a:pt x="16443" y="7490"/>
                  </a:lnTo>
                  <a:lnTo>
                    <a:pt x="16438" y="7688"/>
                  </a:lnTo>
                  <a:lnTo>
                    <a:pt x="16425" y="7883"/>
                  </a:lnTo>
                  <a:lnTo>
                    <a:pt x="16401" y="8075"/>
                  </a:lnTo>
                  <a:lnTo>
                    <a:pt x="16369" y="8264"/>
                  </a:lnTo>
                  <a:lnTo>
                    <a:pt x="16328" y="8451"/>
                  </a:lnTo>
                  <a:lnTo>
                    <a:pt x="16280" y="8634"/>
                  </a:lnTo>
                  <a:lnTo>
                    <a:pt x="16222" y="8813"/>
                  </a:lnTo>
                  <a:lnTo>
                    <a:pt x="16156" y="8989"/>
                  </a:lnTo>
                  <a:lnTo>
                    <a:pt x="16083" y="9161"/>
                  </a:lnTo>
                  <a:lnTo>
                    <a:pt x="16003" y="9328"/>
                  </a:lnTo>
                  <a:lnTo>
                    <a:pt x="15915" y="9491"/>
                  </a:lnTo>
                  <a:lnTo>
                    <a:pt x="15820" y="9649"/>
                  </a:lnTo>
                  <a:lnTo>
                    <a:pt x="15717" y="9802"/>
                  </a:lnTo>
                  <a:lnTo>
                    <a:pt x="15610" y="9950"/>
                  </a:lnTo>
                  <a:lnTo>
                    <a:pt x="15494" y="10093"/>
                  </a:lnTo>
                  <a:lnTo>
                    <a:pt x="15373" y="10230"/>
                  </a:lnTo>
                  <a:lnTo>
                    <a:pt x="15246" y="10361"/>
                  </a:lnTo>
                  <a:lnTo>
                    <a:pt x="15113" y="10487"/>
                  </a:lnTo>
                  <a:lnTo>
                    <a:pt x="14974" y="10606"/>
                  </a:lnTo>
                  <a:lnTo>
                    <a:pt x="14831" y="10718"/>
                  </a:lnTo>
                  <a:lnTo>
                    <a:pt x="14682" y="10824"/>
                  </a:lnTo>
                  <a:lnTo>
                    <a:pt x="14527" y="10923"/>
                  </a:lnTo>
                  <a:lnTo>
                    <a:pt x="14369" y="11014"/>
                  </a:lnTo>
                  <a:lnTo>
                    <a:pt x="14206" y="11098"/>
                  </a:lnTo>
                  <a:lnTo>
                    <a:pt x="14039" y="11176"/>
                  </a:lnTo>
                  <a:lnTo>
                    <a:pt x="13868" y="11244"/>
                  </a:lnTo>
                  <a:lnTo>
                    <a:pt x="13693" y="11305"/>
                  </a:lnTo>
                  <a:lnTo>
                    <a:pt x="13514" y="11357"/>
                  </a:lnTo>
                  <a:lnTo>
                    <a:pt x="13332" y="11401"/>
                  </a:lnTo>
                  <a:lnTo>
                    <a:pt x="13147" y="11436"/>
                  </a:lnTo>
                  <a:lnTo>
                    <a:pt x="12960" y="11462"/>
                  </a:lnTo>
                  <a:lnTo>
                    <a:pt x="12770" y="11479"/>
                  </a:lnTo>
                  <a:lnTo>
                    <a:pt x="12770" y="11487"/>
                  </a:lnTo>
                  <a:lnTo>
                    <a:pt x="12524" y="11487"/>
                  </a:lnTo>
                  <a:lnTo>
                    <a:pt x="3341" y="11487"/>
                  </a:lnTo>
                  <a:lnTo>
                    <a:pt x="3079" y="11487"/>
                  </a:lnTo>
                  <a:lnTo>
                    <a:pt x="3079" y="11477"/>
                  </a:lnTo>
                  <a:lnTo>
                    <a:pt x="2919" y="11459"/>
                  </a:lnTo>
                  <a:lnTo>
                    <a:pt x="2760" y="11436"/>
                  </a:lnTo>
                  <a:lnTo>
                    <a:pt x="2605" y="11404"/>
                  </a:lnTo>
                  <a:lnTo>
                    <a:pt x="2453" y="11365"/>
                  </a:lnTo>
                  <a:lnTo>
                    <a:pt x="2303" y="11318"/>
                  </a:lnTo>
                  <a:lnTo>
                    <a:pt x="2156" y="11265"/>
                  </a:lnTo>
                  <a:lnTo>
                    <a:pt x="2013" y="11205"/>
                  </a:lnTo>
                  <a:lnTo>
                    <a:pt x="1872" y="11139"/>
                  </a:lnTo>
                  <a:lnTo>
                    <a:pt x="1736" y="11067"/>
                  </a:lnTo>
                  <a:lnTo>
                    <a:pt x="1603" y="10987"/>
                  </a:lnTo>
                  <a:lnTo>
                    <a:pt x="1474" y="10903"/>
                  </a:lnTo>
                  <a:lnTo>
                    <a:pt x="1349" y="10813"/>
                  </a:lnTo>
                  <a:lnTo>
                    <a:pt x="1229" y="10716"/>
                  </a:lnTo>
                  <a:lnTo>
                    <a:pt x="1113" y="10615"/>
                  </a:lnTo>
                  <a:lnTo>
                    <a:pt x="1001" y="10508"/>
                  </a:lnTo>
                  <a:lnTo>
                    <a:pt x="895" y="10396"/>
                  </a:lnTo>
                  <a:lnTo>
                    <a:pt x="793" y="10280"/>
                  </a:lnTo>
                  <a:lnTo>
                    <a:pt x="697" y="10159"/>
                  </a:lnTo>
                  <a:lnTo>
                    <a:pt x="606" y="10033"/>
                  </a:lnTo>
                  <a:lnTo>
                    <a:pt x="521" y="9903"/>
                  </a:lnTo>
                  <a:lnTo>
                    <a:pt x="441" y="9769"/>
                  </a:lnTo>
                  <a:lnTo>
                    <a:pt x="368" y="9631"/>
                  </a:lnTo>
                  <a:lnTo>
                    <a:pt x="300" y="9490"/>
                  </a:lnTo>
                  <a:lnTo>
                    <a:pt x="239" y="9345"/>
                  </a:lnTo>
                  <a:lnTo>
                    <a:pt x="185" y="9197"/>
                  </a:lnTo>
                  <a:lnTo>
                    <a:pt x="137" y="9044"/>
                  </a:lnTo>
                  <a:lnTo>
                    <a:pt x="96" y="8890"/>
                  </a:lnTo>
                  <a:lnTo>
                    <a:pt x="62" y="8733"/>
                  </a:lnTo>
                  <a:lnTo>
                    <a:pt x="35" y="8573"/>
                  </a:lnTo>
                  <a:lnTo>
                    <a:pt x="15" y="8410"/>
                  </a:lnTo>
                  <a:lnTo>
                    <a:pt x="4" y="8246"/>
                  </a:lnTo>
                  <a:lnTo>
                    <a:pt x="0" y="8079"/>
                  </a:lnTo>
                  <a:lnTo>
                    <a:pt x="4" y="7916"/>
                  </a:lnTo>
                  <a:lnTo>
                    <a:pt x="15" y="7754"/>
                  </a:lnTo>
                  <a:lnTo>
                    <a:pt x="34" y="7596"/>
                  </a:lnTo>
                  <a:lnTo>
                    <a:pt x="60" y="7439"/>
                  </a:lnTo>
                  <a:lnTo>
                    <a:pt x="92" y="7284"/>
                  </a:lnTo>
                  <a:lnTo>
                    <a:pt x="132" y="7132"/>
                  </a:lnTo>
                  <a:lnTo>
                    <a:pt x="178" y="6983"/>
                  </a:lnTo>
                  <a:lnTo>
                    <a:pt x="230" y="6837"/>
                  </a:lnTo>
                  <a:lnTo>
                    <a:pt x="289" y="6694"/>
                  </a:lnTo>
                  <a:lnTo>
                    <a:pt x="354" y="6556"/>
                  </a:lnTo>
                  <a:lnTo>
                    <a:pt x="424" y="6420"/>
                  </a:lnTo>
                  <a:lnTo>
                    <a:pt x="502" y="6287"/>
                  </a:lnTo>
                  <a:lnTo>
                    <a:pt x="584" y="6159"/>
                  </a:lnTo>
                  <a:lnTo>
                    <a:pt x="671" y="6034"/>
                  </a:lnTo>
                  <a:lnTo>
                    <a:pt x="765" y="5914"/>
                  </a:lnTo>
                  <a:lnTo>
                    <a:pt x="862" y="5799"/>
                  </a:lnTo>
                  <a:lnTo>
                    <a:pt x="965" y="5688"/>
                  </a:lnTo>
                  <a:lnTo>
                    <a:pt x="1072" y="5582"/>
                  </a:lnTo>
                  <a:lnTo>
                    <a:pt x="1184" y="5480"/>
                  </a:lnTo>
                  <a:lnTo>
                    <a:pt x="1301" y="5384"/>
                  </a:lnTo>
                  <a:lnTo>
                    <a:pt x="1421" y="5293"/>
                  </a:lnTo>
                  <a:lnTo>
                    <a:pt x="1546" y="5208"/>
                  </a:lnTo>
                  <a:lnTo>
                    <a:pt x="1675" y="5128"/>
                  </a:lnTo>
                  <a:lnTo>
                    <a:pt x="1807" y="5054"/>
                  </a:lnTo>
                  <a:lnTo>
                    <a:pt x="1942" y="4986"/>
                  </a:lnTo>
                  <a:lnTo>
                    <a:pt x="2082" y="4924"/>
                  </a:lnTo>
                  <a:lnTo>
                    <a:pt x="2224" y="4869"/>
                  </a:lnTo>
                  <a:lnTo>
                    <a:pt x="2369" y="4819"/>
                  </a:lnTo>
                  <a:lnTo>
                    <a:pt x="2517" y="4777"/>
                  </a:lnTo>
                  <a:lnTo>
                    <a:pt x="2668" y="4741"/>
                  </a:lnTo>
                  <a:lnTo>
                    <a:pt x="2821" y="4713"/>
                  </a:lnTo>
                  <a:lnTo>
                    <a:pt x="2976" y="4692"/>
                  </a:lnTo>
                  <a:lnTo>
                    <a:pt x="2990" y="4450"/>
                  </a:lnTo>
                  <a:lnTo>
                    <a:pt x="3015" y="4212"/>
                  </a:lnTo>
                  <a:lnTo>
                    <a:pt x="3051" y="3976"/>
                  </a:lnTo>
                  <a:lnTo>
                    <a:pt x="3098" y="3744"/>
                  </a:lnTo>
                  <a:lnTo>
                    <a:pt x="3156" y="3517"/>
                  </a:lnTo>
                  <a:lnTo>
                    <a:pt x="3225" y="3295"/>
                  </a:lnTo>
                  <a:lnTo>
                    <a:pt x="3303" y="3076"/>
                  </a:lnTo>
                  <a:lnTo>
                    <a:pt x="3391" y="2863"/>
                  </a:lnTo>
                  <a:lnTo>
                    <a:pt x="3489" y="2655"/>
                  </a:lnTo>
                  <a:lnTo>
                    <a:pt x="3597" y="2453"/>
                  </a:lnTo>
                  <a:lnTo>
                    <a:pt x="3713" y="2256"/>
                  </a:lnTo>
                  <a:lnTo>
                    <a:pt x="3837" y="2065"/>
                  </a:lnTo>
                  <a:lnTo>
                    <a:pt x="3971" y="1882"/>
                  </a:lnTo>
                  <a:lnTo>
                    <a:pt x="4113" y="1704"/>
                  </a:lnTo>
                  <a:lnTo>
                    <a:pt x="4262" y="1535"/>
                  </a:lnTo>
                  <a:lnTo>
                    <a:pt x="4419" y="1371"/>
                  </a:lnTo>
                  <a:lnTo>
                    <a:pt x="4583" y="1216"/>
                  </a:lnTo>
                  <a:lnTo>
                    <a:pt x="4754" y="1069"/>
                  </a:lnTo>
                  <a:lnTo>
                    <a:pt x="4932" y="930"/>
                  </a:lnTo>
                  <a:lnTo>
                    <a:pt x="5117" y="800"/>
                  </a:lnTo>
                  <a:lnTo>
                    <a:pt x="5307" y="677"/>
                  </a:lnTo>
                  <a:lnTo>
                    <a:pt x="5503" y="565"/>
                  </a:lnTo>
                  <a:lnTo>
                    <a:pt x="5705" y="462"/>
                  </a:lnTo>
                  <a:lnTo>
                    <a:pt x="5912" y="368"/>
                  </a:lnTo>
                  <a:lnTo>
                    <a:pt x="6124" y="284"/>
                  </a:lnTo>
                  <a:lnTo>
                    <a:pt x="6342" y="211"/>
                  </a:lnTo>
                  <a:lnTo>
                    <a:pt x="6563" y="147"/>
                  </a:lnTo>
                  <a:lnTo>
                    <a:pt x="6788" y="95"/>
                  </a:lnTo>
                  <a:lnTo>
                    <a:pt x="7018" y="54"/>
                  </a:lnTo>
                  <a:lnTo>
                    <a:pt x="7250" y="25"/>
                  </a:lnTo>
                  <a:lnTo>
                    <a:pt x="7487" y="6"/>
                  </a:lnTo>
                  <a:lnTo>
                    <a:pt x="7726" y="0"/>
                  </a:lnTo>
                  <a:close/>
                  <a:moveTo>
                    <a:pt x="9156" y="9528"/>
                  </a:moveTo>
                  <a:lnTo>
                    <a:pt x="9148" y="9515"/>
                  </a:lnTo>
                  <a:lnTo>
                    <a:pt x="9141" y="9503"/>
                  </a:lnTo>
                  <a:lnTo>
                    <a:pt x="9134" y="9491"/>
                  </a:lnTo>
                  <a:lnTo>
                    <a:pt x="9127" y="9478"/>
                  </a:lnTo>
                  <a:lnTo>
                    <a:pt x="9106" y="9484"/>
                  </a:lnTo>
                  <a:lnTo>
                    <a:pt x="9086" y="9491"/>
                  </a:lnTo>
                  <a:lnTo>
                    <a:pt x="9065" y="9498"/>
                  </a:lnTo>
                  <a:lnTo>
                    <a:pt x="9045" y="9503"/>
                  </a:lnTo>
                  <a:lnTo>
                    <a:pt x="9023" y="9509"/>
                  </a:lnTo>
                  <a:lnTo>
                    <a:pt x="9003" y="9515"/>
                  </a:lnTo>
                  <a:lnTo>
                    <a:pt x="8982" y="9521"/>
                  </a:lnTo>
                  <a:lnTo>
                    <a:pt x="8961" y="9528"/>
                  </a:lnTo>
                  <a:lnTo>
                    <a:pt x="9156" y="9528"/>
                  </a:lnTo>
                  <a:close/>
                  <a:moveTo>
                    <a:pt x="6492" y="9528"/>
                  </a:moveTo>
                  <a:lnTo>
                    <a:pt x="6464" y="9519"/>
                  </a:lnTo>
                  <a:lnTo>
                    <a:pt x="6435" y="9511"/>
                  </a:lnTo>
                  <a:lnTo>
                    <a:pt x="6408" y="9503"/>
                  </a:lnTo>
                  <a:lnTo>
                    <a:pt x="6379" y="9495"/>
                  </a:lnTo>
                  <a:lnTo>
                    <a:pt x="6376" y="9503"/>
                  </a:lnTo>
                  <a:lnTo>
                    <a:pt x="6372" y="9511"/>
                  </a:lnTo>
                  <a:lnTo>
                    <a:pt x="6368" y="9519"/>
                  </a:lnTo>
                  <a:lnTo>
                    <a:pt x="6364" y="9528"/>
                  </a:lnTo>
                  <a:lnTo>
                    <a:pt x="6492" y="9528"/>
                  </a:lnTo>
                  <a:close/>
                </a:path>
              </a:pathLst>
            </a:custGeom>
            <a:solidFill>
              <a:srgbClr val="FFC000"/>
            </a:solidFill>
            <a:ln>
              <a:noFill/>
            </a:ln>
            <a:effectLst/>
          </p:spPr>
          <p:txBody>
            <a:bodyPr vert="horz" wrap="square" lIns="91380" tIns="45690" rIns="91380" bIns="45690" numCol="1" rtlCol="0" anchor="t" anchorCtr="0" compatLnSpc="1">
              <a:prstTxWarp prst="textNoShape">
                <a:avLst/>
              </a:prstTxWarp>
            </a:bodyPr>
            <a:lstStyle/>
            <a:p>
              <a:pPr defTabSz="1218712" fontAlgn="base">
                <a:spcBef>
                  <a:spcPct val="0"/>
                </a:spcBef>
                <a:spcAft>
                  <a:spcPct val="0"/>
                </a:spcAft>
                <a:buClr>
                  <a:srgbClr val="CC9900"/>
                </a:buClr>
                <a:buFont typeface="Wingdings" pitchFamily="2" charset="2"/>
                <a:buChar char="n"/>
              </a:pPr>
              <a:endParaRPr lang="zh-CN" altLang="en-US" sz="15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687" name="组合 322"/>
            <p:cNvGrpSpPr/>
            <p:nvPr/>
          </p:nvGrpSpPr>
          <p:grpSpPr bwMode="black">
            <a:xfrm>
              <a:off x="9461078" y="3490037"/>
              <a:ext cx="275747" cy="275619"/>
              <a:chOff x="3089275" y="2441575"/>
              <a:chExt cx="447676" cy="447675"/>
            </a:xfrm>
            <a:solidFill>
              <a:srgbClr val="FFFFFF">
                <a:alpha val="85000"/>
              </a:srgbClr>
            </a:solidFill>
          </p:grpSpPr>
          <p:sp>
            <p:nvSpPr>
              <p:cNvPr id="688" name="Freeform 228"/>
              <p:cNvSpPr/>
              <p:nvPr/>
            </p:nvSpPr>
            <p:spPr bwMode="black">
              <a:xfrm>
                <a:off x="3089275" y="2441575"/>
                <a:ext cx="133350" cy="131763"/>
              </a:xfrm>
              <a:custGeom>
                <a:avLst/>
                <a:gdLst>
                  <a:gd name="T0" fmla="*/ 2147483646 w 316"/>
                  <a:gd name="T1" fmla="*/ 2147483646 h 313"/>
                  <a:gd name="T2" fmla="*/ 2147483646 w 316"/>
                  <a:gd name="T3" fmla="*/ 2147483646 h 313"/>
                  <a:gd name="T4" fmla="*/ 2147483646 w 316"/>
                  <a:gd name="T5" fmla="*/ 2147483646 h 313"/>
                  <a:gd name="T6" fmla="*/ 2147483646 w 316"/>
                  <a:gd name="T7" fmla="*/ 2147483646 h 313"/>
                  <a:gd name="T8" fmla="*/ 2147483646 w 316"/>
                  <a:gd name="T9" fmla="*/ 2147483646 h 313"/>
                  <a:gd name="T10" fmla="*/ 2147483646 w 316"/>
                  <a:gd name="T11" fmla="*/ 2147483646 h 313"/>
                  <a:gd name="T12" fmla="*/ 2147483646 w 316"/>
                  <a:gd name="T13" fmla="*/ 2147483646 h 313"/>
                  <a:gd name="T14" fmla="*/ 2147483646 w 316"/>
                  <a:gd name="T15" fmla="*/ 2147483646 h 313"/>
                  <a:gd name="T16" fmla="*/ 2147483646 w 316"/>
                  <a:gd name="T17" fmla="*/ 2147483646 h 3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6"/>
                  <a:gd name="T28" fmla="*/ 0 h 313"/>
                  <a:gd name="T29" fmla="*/ 316 w 316"/>
                  <a:gd name="T30" fmla="*/ 313 h 3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6" h="313">
                    <a:moveTo>
                      <a:pt x="279" y="313"/>
                    </a:moveTo>
                    <a:lnTo>
                      <a:pt x="279" y="313"/>
                    </a:lnTo>
                    <a:cubicBezTo>
                      <a:pt x="271" y="313"/>
                      <a:pt x="262" y="309"/>
                      <a:pt x="256" y="303"/>
                    </a:cubicBezTo>
                    <a:lnTo>
                      <a:pt x="13" y="60"/>
                    </a:lnTo>
                    <a:cubicBezTo>
                      <a:pt x="0" y="47"/>
                      <a:pt x="0" y="26"/>
                      <a:pt x="13" y="13"/>
                    </a:cubicBezTo>
                    <a:cubicBezTo>
                      <a:pt x="26" y="0"/>
                      <a:pt x="47" y="0"/>
                      <a:pt x="60" y="13"/>
                    </a:cubicBezTo>
                    <a:lnTo>
                      <a:pt x="303" y="256"/>
                    </a:lnTo>
                    <a:cubicBezTo>
                      <a:pt x="316" y="269"/>
                      <a:pt x="316" y="290"/>
                      <a:pt x="303" y="303"/>
                    </a:cubicBezTo>
                    <a:cubicBezTo>
                      <a:pt x="296" y="309"/>
                      <a:pt x="288" y="313"/>
                      <a:pt x="279" y="313"/>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1218712" fontAlgn="base">
                  <a:spcBef>
                    <a:spcPct val="0"/>
                  </a:spcBef>
                  <a:spcAft>
                    <a:spcPct val="0"/>
                  </a:spcAft>
                </a:pPr>
                <a:endParaRPr lang="en-US" sz="15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9" name="Freeform 229"/>
              <p:cNvSpPr/>
              <p:nvPr/>
            </p:nvSpPr>
            <p:spPr bwMode="black">
              <a:xfrm>
                <a:off x="3089275" y="2759075"/>
                <a:ext cx="131763" cy="130175"/>
              </a:xfrm>
              <a:custGeom>
                <a:avLst/>
                <a:gdLst>
                  <a:gd name="T0" fmla="*/ 2147483646 w 316"/>
                  <a:gd name="T1" fmla="*/ 2147483646 h 313"/>
                  <a:gd name="T2" fmla="*/ 2147483646 w 316"/>
                  <a:gd name="T3" fmla="*/ 2147483646 h 313"/>
                  <a:gd name="T4" fmla="*/ 2147483646 w 316"/>
                  <a:gd name="T5" fmla="*/ 2147483646 h 313"/>
                  <a:gd name="T6" fmla="*/ 2147483646 w 316"/>
                  <a:gd name="T7" fmla="*/ 2147483646 h 313"/>
                  <a:gd name="T8" fmla="*/ 2147483646 w 316"/>
                  <a:gd name="T9" fmla="*/ 2147483646 h 313"/>
                  <a:gd name="T10" fmla="*/ 2147483646 w 316"/>
                  <a:gd name="T11" fmla="*/ 2147483646 h 313"/>
                  <a:gd name="T12" fmla="*/ 2147483646 w 316"/>
                  <a:gd name="T13" fmla="*/ 2147483646 h 313"/>
                  <a:gd name="T14" fmla="*/ 2147483646 w 316"/>
                  <a:gd name="T15" fmla="*/ 2147483646 h 313"/>
                  <a:gd name="T16" fmla="*/ 2147483646 w 316"/>
                  <a:gd name="T17" fmla="*/ 2147483646 h 3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6"/>
                  <a:gd name="T28" fmla="*/ 0 h 313"/>
                  <a:gd name="T29" fmla="*/ 316 w 316"/>
                  <a:gd name="T30" fmla="*/ 313 h 3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6" h="313">
                    <a:moveTo>
                      <a:pt x="36" y="313"/>
                    </a:moveTo>
                    <a:lnTo>
                      <a:pt x="36" y="313"/>
                    </a:lnTo>
                    <a:cubicBezTo>
                      <a:pt x="28" y="313"/>
                      <a:pt x="19" y="309"/>
                      <a:pt x="13" y="303"/>
                    </a:cubicBezTo>
                    <a:cubicBezTo>
                      <a:pt x="0" y="290"/>
                      <a:pt x="0" y="269"/>
                      <a:pt x="13" y="256"/>
                    </a:cubicBezTo>
                    <a:lnTo>
                      <a:pt x="256" y="13"/>
                    </a:lnTo>
                    <a:cubicBezTo>
                      <a:pt x="269" y="0"/>
                      <a:pt x="290" y="0"/>
                      <a:pt x="303" y="13"/>
                    </a:cubicBezTo>
                    <a:cubicBezTo>
                      <a:pt x="316" y="26"/>
                      <a:pt x="316" y="47"/>
                      <a:pt x="303" y="60"/>
                    </a:cubicBezTo>
                    <a:lnTo>
                      <a:pt x="60" y="303"/>
                    </a:lnTo>
                    <a:cubicBezTo>
                      <a:pt x="53" y="309"/>
                      <a:pt x="45" y="313"/>
                      <a:pt x="36" y="313"/>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1218712" fontAlgn="base">
                  <a:spcBef>
                    <a:spcPct val="0"/>
                  </a:spcBef>
                  <a:spcAft>
                    <a:spcPct val="0"/>
                  </a:spcAft>
                </a:pPr>
                <a:endParaRPr lang="en-US" sz="15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0" name="Freeform 230"/>
              <p:cNvSpPr/>
              <p:nvPr/>
            </p:nvSpPr>
            <p:spPr bwMode="black">
              <a:xfrm>
                <a:off x="3233738" y="2587626"/>
                <a:ext cx="158750" cy="158750"/>
              </a:xfrm>
              <a:custGeom>
                <a:avLst/>
                <a:gdLst>
                  <a:gd name="T0" fmla="*/ 2147483646 w 379"/>
                  <a:gd name="T1" fmla="*/ 2147483646 h 379"/>
                  <a:gd name="T2" fmla="*/ 2147483646 w 379"/>
                  <a:gd name="T3" fmla="*/ 2147483646 h 379"/>
                  <a:gd name="T4" fmla="*/ 2147483646 w 379"/>
                  <a:gd name="T5" fmla="*/ 2147483646 h 379"/>
                  <a:gd name="T6" fmla="*/ 2147483646 w 379"/>
                  <a:gd name="T7" fmla="*/ 2147483646 h 379"/>
                  <a:gd name="T8" fmla="*/ 2147483646 w 379"/>
                  <a:gd name="T9" fmla="*/ 2147483646 h 379"/>
                  <a:gd name="T10" fmla="*/ 2147483646 w 379"/>
                  <a:gd name="T11" fmla="*/ 2147483646 h 379"/>
                  <a:gd name="T12" fmla="*/ 0 60000 65536"/>
                  <a:gd name="T13" fmla="*/ 0 60000 65536"/>
                  <a:gd name="T14" fmla="*/ 0 60000 65536"/>
                  <a:gd name="T15" fmla="*/ 0 60000 65536"/>
                  <a:gd name="T16" fmla="*/ 0 60000 65536"/>
                  <a:gd name="T17" fmla="*/ 0 60000 65536"/>
                  <a:gd name="T18" fmla="*/ 0 w 379"/>
                  <a:gd name="T19" fmla="*/ 0 h 379"/>
                  <a:gd name="T20" fmla="*/ 379 w 379"/>
                  <a:gd name="T21" fmla="*/ 379 h 379"/>
                </a:gdLst>
                <a:ahLst/>
                <a:cxnLst>
                  <a:cxn ang="T12">
                    <a:pos x="T0" y="T1"/>
                  </a:cxn>
                  <a:cxn ang="T13">
                    <a:pos x="T2" y="T3"/>
                  </a:cxn>
                  <a:cxn ang="T14">
                    <a:pos x="T4" y="T5"/>
                  </a:cxn>
                  <a:cxn ang="T15">
                    <a:pos x="T6" y="T7"/>
                  </a:cxn>
                  <a:cxn ang="T16">
                    <a:pos x="T8" y="T9"/>
                  </a:cxn>
                  <a:cxn ang="T17">
                    <a:pos x="T10" y="T11"/>
                  </a:cxn>
                </a:cxnLst>
                <a:rect l="T18" t="T19" r="T20" b="T21"/>
                <a:pathLst>
                  <a:path w="379" h="379">
                    <a:moveTo>
                      <a:pt x="312" y="68"/>
                    </a:moveTo>
                    <a:lnTo>
                      <a:pt x="312" y="68"/>
                    </a:lnTo>
                    <a:cubicBezTo>
                      <a:pt x="379" y="135"/>
                      <a:pt x="379" y="244"/>
                      <a:pt x="312" y="312"/>
                    </a:cubicBezTo>
                    <a:cubicBezTo>
                      <a:pt x="244" y="379"/>
                      <a:pt x="135" y="379"/>
                      <a:pt x="68" y="312"/>
                    </a:cubicBezTo>
                    <a:cubicBezTo>
                      <a:pt x="0" y="244"/>
                      <a:pt x="0" y="135"/>
                      <a:pt x="68" y="68"/>
                    </a:cubicBezTo>
                    <a:cubicBezTo>
                      <a:pt x="135" y="0"/>
                      <a:pt x="244" y="0"/>
                      <a:pt x="312" y="68"/>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1218712" fontAlgn="base">
                  <a:spcBef>
                    <a:spcPct val="0"/>
                  </a:spcBef>
                  <a:spcAft>
                    <a:spcPct val="0"/>
                  </a:spcAft>
                </a:pPr>
                <a:endParaRPr lang="en-US" sz="15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1" name="Freeform 231"/>
              <p:cNvSpPr/>
              <p:nvPr/>
            </p:nvSpPr>
            <p:spPr bwMode="black">
              <a:xfrm>
                <a:off x="3128963" y="2733675"/>
                <a:ext cx="115888" cy="115888"/>
              </a:xfrm>
              <a:custGeom>
                <a:avLst/>
                <a:gdLst>
                  <a:gd name="T0" fmla="*/ 0 w 277"/>
                  <a:gd name="T1" fmla="*/ 2147483646 h 276"/>
                  <a:gd name="T2" fmla="*/ 0 w 277"/>
                  <a:gd name="T3" fmla="*/ 2147483646 h 276"/>
                  <a:gd name="T4" fmla="*/ 2147483646 w 277"/>
                  <a:gd name="T5" fmla="*/ 0 h 276"/>
                  <a:gd name="T6" fmla="*/ 2147483646 w 277"/>
                  <a:gd name="T7" fmla="*/ 2147483646 h 276"/>
                  <a:gd name="T8" fmla="*/ 0 w 277"/>
                  <a:gd name="T9" fmla="*/ 2147483646 h 276"/>
                  <a:gd name="T10" fmla="*/ 0 60000 65536"/>
                  <a:gd name="T11" fmla="*/ 0 60000 65536"/>
                  <a:gd name="T12" fmla="*/ 0 60000 65536"/>
                  <a:gd name="T13" fmla="*/ 0 60000 65536"/>
                  <a:gd name="T14" fmla="*/ 0 60000 65536"/>
                  <a:gd name="T15" fmla="*/ 0 w 277"/>
                  <a:gd name="T16" fmla="*/ 0 h 276"/>
                  <a:gd name="T17" fmla="*/ 277 w 277"/>
                  <a:gd name="T18" fmla="*/ 276 h 276"/>
                </a:gdLst>
                <a:ahLst/>
                <a:cxnLst>
                  <a:cxn ang="T10">
                    <a:pos x="T0" y="T1"/>
                  </a:cxn>
                  <a:cxn ang="T11">
                    <a:pos x="T2" y="T3"/>
                  </a:cxn>
                  <a:cxn ang="T12">
                    <a:pos x="T4" y="T5"/>
                  </a:cxn>
                  <a:cxn ang="T13">
                    <a:pos x="T6" y="T7"/>
                  </a:cxn>
                  <a:cxn ang="T14">
                    <a:pos x="T8" y="T9"/>
                  </a:cxn>
                </a:cxnLst>
                <a:rect l="T15" t="T16" r="T17" b="T18"/>
                <a:pathLst>
                  <a:path w="277" h="276">
                    <a:moveTo>
                      <a:pt x="0" y="17"/>
                    </a:moveTo>
                    <a:lnTo>
                      <a:pt x="0" y="17"/>
                    </a:lnTo>
                    <a:lnTo>
                      <a:pt x="277" y="0"/>
                    </a:lnTo>
                    <a:lnTo>
                      <a:pt x="260" y="276"/>
                    </a:lnTo>
                    <a:lnTo>
                      <a:pt x="0" y="1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1218712" fontAlgn="base">
                  <a:spcBef>
                    <a:spcPct val="0"/>
                  </a:spcBef>
                  <a:spcAft>
                    <a:spcPct val="0"/>
                  </a:spcAft>
                </a:pPr>
                <a:endParaRPr lang="en-US" sz="15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2" name="Freeform 232"/>
              <p:cNvSpPr/>
              <p:nvPr/>
            </p:nvSpPr>
            <p:spPr bwMode="black">
              <a:xfrm>
                <a:off x="3405188" y="2441575"/>
                <a:ext cx="131763" cy="131763"/>
              </a:xfrm>
              <a:custGeom>
                <a:avLst/>
                <a:gdLst>
                  <a:gd name="T0" fmla="*/ 2147483646 w 316"/>
                  <a:gd name="T1" fmla="*/ 2147483646 h 313"/>
                  <a:gd name="T2" fmla="*/ 2147483646 w 316"/>
                  <a:gd name="T3" fmla="*/ 2147483646 h 313"/>
                  <a:gd name="T4" fmla="*/ 2147483646 w 316"/>
                  <a:gd name="T5" fmla="*/ 2147483646 h 313"/>
                  <a:gd name="T6" fmla="*/ 2147483646 w 316"/>
                  <a:gd name="T7" fmla="*/ 2147483646 h 313"/>
                  <a:gd name="T8" fmla="*/ 2147483646 w 316"/>
                  <a:gd name="T9" fmla="*/ 2147483646 h 313"/>
                  <a:gd name="T10" fmla="*/ 2147483646 w 316"/>
                  <a:gd name="T11" fmla="*/ 2147483646 h 313"/>
                  <a:gd name="T12" fmla="*/ 2147483646 w 316"/>
                  <a:gd name="T13" fmla="*/ 2147483646 h 313"/>
                  <a:gd name="T14" fmla="*/ 2147483646 w 316"/>
                  <a:gd name="T15" fmla="*/ 2147483646 h 313"/>
                  <a:gd name="T16" fmla="*/ 2147483646 w 316"/>
                  <a:gd name="T17" fmla="*/ 2147483646 h 3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6"/>
                  <a:gd name="T28" fmla="*/ 0 h 313"/>
                  <a:gd name="T29" fmla="*/ 316 w 316"/>
                  <a:gd name="T30" fmla="*/ 313 h 3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6" h="313">
                    <a:moveTo>
                      <a:pt x="37" y="313"/>
                    </a:moveTo>
                    <a:lnTo>
                      <a:pt x="37" y="313"/>
                    </a:lnTo>
                    <a:cubicBezTo>
                      <a:pt x="28" y="313"/>
                      <a:pt x="20" y="310"/>
                      <a:pt x="13" y="303"/>
                    </a:cubicBezTo>
                    <a:cubicBezTo>
                      <a:pt x="0" y="290"/>
                      <a:pt x="0" y="269"/>
                      <a:pt x="13" y="256"/>
                    </a:cubicBezTo>
                    <a:lnTo>
                      <a:pt x="256" y="13"/>
                    </a:lnTo>
                    <a:cubicBezTo>
                      <a:pt x="269" y="0"/>
                      <a:pt x="290" y="0"/>
                      <a:pt x="303" y="13"/>
                    </a:cubicBezTo>
                    <a:cubicBezTo>
                      <a:pt x="316" y="26"/>
                      <a:pt x="316" y="48"/>
                      <a:pt x="303" y="61"/>
                    </a:cubicBezTo>
                    <a:lnTo>
                      <a:pt x="60" y="303"/>
                    </a:lnTo>
                    <a:cubicBezTo>
                      <a:pt x="54" y="310"/>
                      <a:pt x="45" y="313"/>
                      <a:pt x="37" y="313"/>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1218712" fontAlgn="base">
                  <a:spcBef>
                    <a:spcPct val="0"/>
                  </a:spcBef>
                  <a:spcAft>
                    <a:spcPct val="0"/>
                  </a:spcAft>
                </a:pPr>
                <a:endParaRPr lang="en-US" sz="15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3" name="Freeform 233"/>
              <p:cNvSpPr/>
              <p:nvPr/>
            </p:nvSpPr>
            <p:spPr bwMode="black">
              <a:xfrm>
                <a:off x="3381375" y="2482850"/>
                <a:ext cx="115888" cy="115888"/>
              </a:xfrm>
              <a:custGeom>
                <a:avLst/>
                <a:gdLst>
                  <a:gd name="T0" fmla="*/ 2147483646 w 277"/>
                  <a:gd name="T1" fmla="*/ 0 h 276"/>
                  <a:gd name="T2" fmla="*/ 2147483646 w 277"/>
                  <a:gd name="T3" fmla="*/ 0 h 276"/>
                  <a:gd name="T4" fmla="*/ 0 w 277"/>
                  <a:gd name="T5" fmla="*/ 2147483646 h 276"/>
                  <a:gd name="T6" fmla="*/ 2147483646 w 277"/>
                  <a:gd name="T7" fmla="*/ 2147483646 h 276"/>
                  <a:gd name="T8" fmla="*/ 2147483646 w 277"/>
                  <a:gd name="T9" fmla="*/ 0 h 276"/>
                  <a:gd name="T10" fmla="*/ 0 60000 65536"/>
                  <a:gd name="T11" fmla="*/ 0 60000 65536"/>
                  <a:gd name="T12" fmla="*/ 0 60000 65536"/>
                  <a:gd name="T13" fmla="*/ 0 60000 65536"/>
                  <a:gd name="T14" fmla="*/ 0 60000 65536"/>
                  <a:gd name="T15" fmla="*/ 0 w 277"/>
                  <a:gd name="T16" fmla="*/ 0 h 276"/>
                  <a:gd name="T17" fmla="*/ 277 w 277"/>
                  <a:gd name="T18" fmla="*/ 276 h 276"/>
                </a:gdLst>
                <a:ahLst/>
                <a:cxnLst>
                  <a:cxn ang="T10">
                    <a:pos x="T0" y="T1"/>
                  </a:cxn>
                  <a:cxn ang="T11">
                    <a:pos x="T2" y="T3"/>
                  </a:cxn>
                  <a:cxn ang="T12">
                    <a:pos x="T4" y="T5"/>
                  </a:cxn>
                  <a:cxn ang="T13">
                    <a:pos x="T6" y="T7"/>
                  </a:cxn>
                  <a:cxn ang="T14">
                    <a:pos x="T8" y="T9"/>
                  </a:cxn>
                </a:cxnLst>
                <a:rect l="T15" t="T16" r="T17" b="T18"/>
                <a:pathLst>
                  <a:path w="277" h="276">
                    <a:moveTo>
                      <a:pt x="17" y="0"/>
                    </a:moveTo>
                    <a:lnTo>
                      <a:pt x="17" y="0"/>
                    </a:lnTo>
                    <a:lnTo>
                      <a:pt x="0" y="276"/>
                    </a:lnTo>
                    <a:lnTo>
                      <a:pt x="277" y="259"/>
                    </a:lnTo>
                    <a:lnTo>
                      <a:pt x="17"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1218712" fontAlgn="base">
                  <a:spcBef>
                    <a:spcPct val="0"/>
                  </a:spcBef>
                  <a:spcAft>
                    <a:spcPct val="0"/>
                  </a:spcAft>
                </a:pPr>
                <a:endParaRPr lang="en-US" sz="15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4" name="Freeform 234"/>
              <p:cNvSpPr/>
              <p:nvPr/>
            </p:nvSpPr>
            <p:spPr bwMode="black">
              <a:xfrm>
                <a:off x="3125788" y="2479675"/>
                <a:ext cx="115888" cy="115888"/>
              </a:xfrm>
              <a:custGeom>
                <a:avLst/>
                <a:gdLst>
                  <a:gd name="T0" fmla="*/ 2147483646 w 277"/>
                  <a:gd name="T1" fmla="*/ 0 h 277"/>
                  <a:gd name="T2" fmla="*/ 2147483646 w 277"/>
                  <a:gd name="T3" fmla="*/ 0 h 277"/>
                  <a:gd name="T4" fmla="*/ 2147483646 w 277"/>
                  <a:gd name="T5" fmla="*/ 2147483646 h 277"/>
                  <a:gd name="T6" fmla="*/ 0 w 277"/>
                  <a:gd name="T7" fmla="*/ 2147483646 h 277"/>
                  <a:gd name="T8" fmla="*/ 2147483646 w 277"/>
                  <a:gd name="T9" fmla="*/ 0 h 277"/>
                  <a:gd name="T10" fmla="*/ 0 60000 65536"/>
                  <a:gd name="T11" fmla="*/ 0 60000 65536"/>
                  <a:gd name="T12" fmla="*/ 0 60000 65536"/>
                  <a:gd name="T13" fmla="*/ 0 60000 65536"/>
                  <a:gd name="T14" fmla="*/ 0 60000 65536"/>
                  <a:gd name="T15" fmla="*/ 0 w 277"/>
                  <a:gd name="T16" fmla="*/ 0 h 277"/>
                  <a:gd name="T17" fmla="*/ 277 w 277"/>
                  <a:gd name="T18" fmla="*/ 277 h 277"/>
                </a:gdLst>
                <a:ahLst/>
                <a:cxnLst>
                  <a:cxn ang="T10">
                    <a:pos x="T0" y="T1"/>
                  </a:cxn>
                  <a:cxn ang="T11">
                    <a:pos x="T2" y="T3"/>
                  </a:cxn>
                  <a:cxn ang="T12">
                    <a:pos x="T4" y="T5"/>
                  </a:cxn>
                  <a:cxn ang="T13">
                    <a:pos x="T6" y="T7"/>
                  </a:cxn>
                  <a:cxn ang="T14">
                    <a:pos x="T8" y="T9"/>
                  </a:cxn>
                </a:cxnLst>
                <a:rect l="T15" t="T16" r="T17" b="T18"/>
                <a:pathLst>
                  <a:path w="277" h="277">
                    <a:moveTo>
                      <a:pt x="260" y="0"/>
                    </a:moveTo>
                    <a:lnTo>
                      <a:pt x="260" y="0"/>
                    </a:lnTo>
                    <a:lnTo>
                      <a:pt x="277" y="277"/>
                    </a:lnTo>
                    <a:lnTo>
                      <a:pt x="0" y="260"/>
                    </a:lnTo>
                    <a:lnTo>
                      <a:pt x="260"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1218712" fontAlgn="base">
                  <a:spcBef>
                    <a:spcPct val="0"/>
                  </a:spcBef>
                  <a:spcAft>
                    <a:spcPct val="0"/>
                  </a:spcAft>
                </a:pPr>
                <a:endParaRPr lang="en-US" sz="15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5" name="Freeform 238"/>
              <p:cNvSpPr/>
              <p:nvPr/>
            </p:nvSpPr>
            <p:spPr bwMode="black">
              <a:xfrm>
                <a:off x="3405188" y="2759075"/>
                <a:ext cx="131763" cy="130175"/>
              </a:xfrm>
              <a:custGeom>
                <a:avLst/>
                <a:gdLst>
                  <a:gd name="T0" fmla="*/ 2147483646 w 316"/>
                  <a:gd name="T1" fmla="*/ 2147483646 h 313"/>
                  <a:gd name="T2" fmla="*/ 2147483646 w 316"/>
                  <a:gd name="T3" fmla="*/ 2147483646 h 313"/>
                  <a:gd name="T4" fmla="*/ 2147483646 w 316"/>
                  <a:gd name="T5" fmla="*/ 2147483646 h 313"/>
                  <a:gd name="T6" fmla="*/ 2147483646 w 316"/>
                  <a:gd name="T7" fmla="*/ 2147483646 h 313"/>
                  <a:gd name="T8" fmla="*/ 2147483646 w 316"/>
                  <a:gd name="T9" fmla="*/ 2147483646 h 313"/>
                  <a:gd name="T10" fmla="*/ 2147483646 w 316"/>
                  <a:gd name="T11" fmla="*/ 2147483646 h 313"/>
                  <a:gd name="T12" fmla="*/ 2147483646 w 316"/>
                  <a:gd name="T13" fmla="*/ 2147483646 h 313"/>
                  <a:gd name="T14" fmla="*/ 2147483646 w 316"/>
                  <a:gd name="T15" fmla="*/ 2147483646 h 313"/>
                  <a:gd name="T16" fmla="*/ 2147483646 w 316"/>
                  <a:gd name="T17" fmla="*/ 2147483646 h 3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6"/>
                  <a:gd name="T28" fmla="*/ 0 h 313"/>
                  <a:gd name="T29" fmla="*/ 316 w 316"/>
                  <a:gd name="T30" fmla="*/ 313 h 3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6" h="313">
                    <a:moveTo>
                      <a:pt x="280" y="313"/>
                    </a:moveTo>
                    <a:lnTo>
                      <a:pt x="280" y="313"/>
                    </a:lnTo>
                    <a:cubicBezTo>
                      <a:pt x="271" y="313"/>
                      <a:pt x="263" y="309"/>
                      <a:pt x="256" y="303"/>
                    </a:cubicBezTo>
                    <a:lnTo>
                      <a:pt x="13" y="60"/>
                    </a:lnTo>
                    <a:cubicBezTo>
                      <a:pt x="0" y="47"/>
                      <a:pt x="0" y="26"/>
                      <a:pt x="13" y="13"/>
                    </a:cubicBezTo>
                    <a:cubicBezTo>
                      <a:pt x="26" y="0"/>
                      <a:pt x="47" y="0"/>
                      <a:pt x="60" y="13"/>
                    </a:cubicBezTo>
                    <a:lnTo>
                      <a:pt x="303" y="256"/>
                    </a:lnTo>
                    <a:cubicBezTo>
                      <a:pt x="316" y="269"/>
                      <a:pt x="316" y="290"/>
                      <a:pt x="303" y="303"/>
                    </a:cubicBezTo>
                    <a:cubicBezTo>
                      <a:pt x="297" y="309"/>
                      <a:pt x="288" y="313"/>
                      <a:pt x="280" y="313"/>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1218712" fontAlgn="base">
                  <a:spcBef>
                    <a:spcPct val="0"/>
                  </a:spcBef>
                  <a:spcAft>
                    <a:spcPct val="0"/>
                  </a:spcAft>
                </a:pPr>
                <a:endParaRPr lang="en-US" sz="15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6" name="Freeform 239"/>
              <p:cNvSpPr/>
              <p:nvPr/>
            </p:nvSpPr>
            <p:spPr bwMode="black">
              <a:xfrm>
                <a:off x="3381375" y="2733675"/>
                <a:ext cx="115888" cy="115888"/>
              </a:xfrm>
              <a:custGeom>
                <a:avLst/>
                <a:gdLst>
                  <a:gd name="T0" fmla="*/ 2147483646 w 277"/>
                  <a:gd name="T1" fmla="*/ 2147483646 h 276"/>
                  <a:gd name="T2" fmla="*/ 2147483646 w 277"/>
                  <a:gd name="T3" fmla="*/ 2147483646 h 276"/>
                  <a:gd name="T4" fmla="*/ 0 w 277"/>
                  <a:gd name="T5" fmla="*/ 0 h 276"/>
                  <a:gd name="T6" fmla="*/ 2147483646 w 277"/>
                  <a:gd name="T7" fmla="*/ 2147483646 h 276"/>
                  <a:gd name="T8" fmla="*/ 2147483646 w 277"/>
                  <a:gd name="T9" fmla="*/ 2147483646 h 276"/>
                  <a:gd name="T10" fmla="*/ 0 60000 65536"/>
                  <a:gd name="T11" fmla="*/ 0 60000 65536"/>
                  <a:gd name="T12" fmla="*/ 0 60000 65536"/>
                  <a:gd name="T13" fmla="*/ 0 60000 65536"/>
                  <a:gd name="T14" fmla="*/ 0 60000 65536"/>
                  <a:gd name="T15" fmla="*/ 0 w 277"/>
                  <a:gd name="T16" fmla="*/ 0 h 276"/>
                  <a:gd name="T17" fmla="*/ 277 w 277"/>
                  <a:gd name="T18" fmla="*/ 276 h 276"/>
                </a:gdLst>
                <a:ahLst/>
                <a:cxnLst>
                  <a:cxn ang="T10">
                    <a:pos x="T0" y="T1"/>
                  </a:cxn>
                  <a:cxn ang="T11">
                    <a:pos x="T2" y="T3"/>
                  </a:cxn>
                  <a:cxn ang="T12">
                    <a:pos x="T4" y="T5"/>
                  </a:cxn>
                  <a:cxn ang="T13">
                    <a:pos x="T6" y="T7"/>
                  </a:cxn>
                  <a:cxn ang="T14">
                    <a:pos x="T8" y="T9"/>
                  </a:cxn>
                </a:cxnLst>
                <a:rect l="T15" t="T16" r="T17" b="T18"/>
                <a:pathLst>
                  <a:path w="277" h="276">
                    <a:moveTo>
                      <a:pt x="277" y="17"/>
                    </a:moveTo>
                    <a:lnTo>
                      <a:pt x="277" y="17"/>
                    </a:lnTo>
                    <a:lnTo>
                      <a:pt x="0" y="0"/>
                    </a:lnTo>
                    <a:lnTo>
                      <a:pt x="17" y="276"/>
                    </a:lnTo>
                    <a:lnTo>
                      <a:pt x="277" y="1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1218712" fontAlgn="base">
                  <a:spcBef>
                    <a:spcPct val="0"/>
                  </a:spcBef>
                  <a:spcAft>
                    <a:spcPct val="0"/>
                  </a:spcAft>
                </a:pPr>
                <a:endParaRPr lang="en-US" sz="15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grpSp>
      <p:sp>
        <p:nvSpPr>
          <p:cNvPr id="604" name="Shape 449"/>
          <p:cNvSpPr/>
          <p:nvPr/>
        </p:nvSpPr>
        <p:spPr bwMode="gray">
          <a:xfrm>
            <a:off x="7364771" y="5025008"/>
            <a:ext cx="529968" cy="0"/>
          </a:xfrm>
          <a:prstGeom prst="line">
            <a:avLst/>
          </a:prstGeom>
          <a:noFill/>
          <a:ln w="22225" cap="flat">
            <a:solidFill>
              <a:srgbClr val="00B0F0">
                <a:alpha val="60000"/>
              </a:srgbClr>
            </a:solidFill>
            <a:prstDash val="solid"/>
            <a:miter lim="800000"/>
          </a:ln>
          <a:effectLst/>
        </p:spPr>
        <p:txBody>
          <a:bodyPr wrap="square" lIns="68533" tIns="68533" rIns="68533" bIns="68533" numCol="1" anchor="t">
            <a:noAutofit/>
          </a:bodyPr>
          <a:lstStyle/>
          <a:p>
            <a:pPr defTabSz="1218712" fontAlgn="base">
              <a:spcBef>
                <a:spcPct val="0"/>
              </a:spcBef>
              <a:spcAft>
                <a:spcPct val="0"/>
              </a:spcAft>
            </a:pPr>
            <a:endParaRPr sz="1599">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5" name="椭圆 604"/>
          <p:cNvSpPr/>
          <p:nvPr/>
        </p:nvSpPr>
        <p:spPr bwMode="gray">
          <a:xfrm>
            <a:off x="5897691" y="4747467"/>
            <a:ext cx="107945" cy="10752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6" name="椭圆 605"/>
          <p:cNvSpPr/>
          <p:nvPr/>
        </p:nvSpPr>
        <p:spPr bwMode="gray">
          <a:xfrm>
            <a:off x="5366383" y="6102259"/>
            <a:ext cx="107945" cy="10752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7" name="任意多边形 606"/>
          <p:cNvSpPr/>
          <p:nvPr/>
        </p:nvSpPr>
        <p:spPr bwMode="gray">
          <a:xfrm>
            <a:off x="4514248" y="5125115"/>
            <a:ext cx="3020720" cy="455245"/>
          </a:xfrm>
          <a:custGeom>
            <a:avLst/>
            <a:gdLst>
              <a:gd name="connsiteX0" fmla="*/ 0 w 3022600"/>
              <a:gd name="connsiteY0" fmla="*/ 0 h 534873"/>
              <a:gd name="connsiteX1" fmla="*/ 495300 w 3022600"/>
              <a:gd name="connsiteY1" fmla="*/ 260350 h 534873"/>
              <a:gd name="connsiteX2" fmla="*/ 1562100 w 3022600"/>
              <a:gd name="connsiteY2" fmla="*/ 533400 h 534873"/>
              <a:gd name="connsiteX3" fmla="*/ 3022600 w 3022600"/>
              <a:gd name="connsiteY3" fmla="*/ 349250 h 534873"/>
            </a:gdLst>
            <a:ahLst/>
            <a:cxnLst>
              <a:cxn ang="0">
                <a:pos x="connsiteX0" y="connsiteY0"/>
              </a:cxn>
              <a:cxn ang="0">
                <a:pos x="connsiteX1" y="connsiteY1"/>
              </a:cxn>
              <a:cxn ang="0">
                <a:pos x="connsiteX2" y="connsiteY2"/>
              </a:cxn>
              <a:cxn ang="0">
                <a:pos x="connsiteX3" y="connsiteY3"/>
              </a:cxn>
            </a:cxnLst>
            <a:rect l="l" t="t" r="r" b="b"/>
            <a:pathLst>
              <a:path w="3022600" h="534873">
                <a:moveTo>
                  <a:pt x="0" y="0"/>
                </a:moveTo>
                <a:cubicBezTo>
                  <a:pt x="117475" y="85725"/>
                  <a:pt x="234950" y="171450"/>
                  <a:pt x="495300" y="260350"/>
                </a:cubicBezTo>
                <a:cubicBezTo>
                  <a:pt x="755650" y="349250"/>
                  <a:pt x="1140883" y="518583"/>
                  <a:pt x="1562100" y="533400"/>
                </a:cubicBezTo>
                <a:cubicBezTo>
                  <a:pt x="1983317" y="548217"/>
                  <a:pt x="2502958" y="448733"/>
                  <a:pt x="3022600" y="349250"/>
                </a:cubicBezTo>
              </a:path>
            </a:pathLst>
          </a:custGeom>
          <a:noFill/>
          <a:ln w="6350">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608" name="组合 63"/>
          <p:cNvGrpSpPr/>
          <p:nvPr/>
        </p:nvGrpSpPr>
        <p:grpSpPr bwMode="gray">
          <a:xfrm>
            <a:off x="4259938" y="4778870"/>
            <a:ext cx="3421065" cy="1385113"/>
            <a:chOff x="4260381" y="4924040"/>
            <a:chExt cx="3423193" cy="1385975"/>
          </a:xfrm>
        </p:grpSpPr>
        <p:grpSp>
          <p:nvGrpSpPr>
            <p:cNvPr id="668" name="Group 338"/>
            <p:cNvGrpSpPr/>
            <p:nvPr/>
          </p:nvGrpSpPr>
          <p:grpSpPr bwMode="gray">
            <a:xfrm>
              <a:off x="4260381" y="4924040"/>
              <a:ext cx="3423193" cy="1385975"/>
              <a:chOff x="3914219" y="2315459"/>
              <a:chExt cx="2584320" cy="1247012"/>
            </a:xfrm>
          </p:grpSpPr>
          <p:sp>
            <p:nvSpPr>
              <p:cNvPr id="673" name="Freeform 339"/>
              <p:cNvSpPr/>
              <p:nvPr/>
            </p:nvSpPr>
            <p:spPr bwMode="gray">
              <a:xfrm>
                <a:off x="4776721" y="2564833"/>
                <a:ext cx="1414046" cy="997637"/>
              </a:xfrm>
              <a:custGeom>
                <a:avLst/>
                <a:gdLst>
                  <a:gd name="connsiteX0" fmla="*/ 1441450 w 1441450"/>
                  <a:gd name="connsiteY0" fmla="*/ 0 h 876300"/>
                  <a:gd name="connsiteX1" fmla="*/ 673100 w 1441450"/>
                  <a:gd name="connsiteY1" fmla="*/ 368300 h 876300"/>
                  <a:gd name="connsiteX2" fmla="*/ 0 w 1441450"/>
                  <a:gd name="connsiteY2" fmla="*/ 876300 h 876300"/>
                </a:gdLst>
                <a:ahLst/>
                <a:cxnLst>
                  <a:cxn ang="0">
                    <a:pos x="connsiteX0" y="connsiteY0"/>
                  </a:cxn>
                  <a:cxn ang="0">
                    <a:pos x="connsiteX1" y="connsiteY1"/>
                  </a:cxn>
                  <a:cxn ang="0">
                    <a:pos x="connsiteX2" y="connsiteY2"/>
                  </a:cxn>
                </a:cxnLst>
                <a:rect l="l" t="t" r="r" b="b"/>
                <a:pathLst>
                  <a:path w="1441450" h="876300">
                    <a:moveTo>
                      <a:pt x="1441450" y="0"/>
                    </a:moveTo>
                    <a:cubicBezTo>
                      <a:pt x="1177396" y="111125"/>
                      <a:pt x="913342" y="222250"/>
                      <a:pt x="673100" y="368300"/>
                    </a:cubicBezTo>
                    <a:cubicBezTo>
                      <a:pt x="432858" y="514350"/>
                      <a:pt x="0" y="876300"/>
                      <a:pt x="0" y="876300"/>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3" tIns="45691" rIns="91383" bIns="45691" numCol="1" spcCol="0" rtlCol="0" fromWordArt="0" anchor="ctr" anchorCtr="0" forceAA="0" compatLnSpc="1">
                <a:prstTxWarp prst="textNoShape">
                  <a:avLst/>
                </a:prstTxWarp>
                <a:noAutofit/>
              </a:bodyP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674" name="Group 340"/>
              <p:cNvGrpSpPr/>
              <p:nvPr/>
            </p:nvGrpSpPr>
            <p:grpSpPr bwMode="gray">
              <a:xfrm>
                <a:off x="3914219" y="2315459"/>
                <a:ext cx="2584320" cy="1247012"/>
                <a:chOff x="3914219" y="2315459"/>
                <a:chExt cx="2584320" cy="1247012"/>
              </a:xfrm>
            </p:grpSpPr>
            <p:sp>
              <p:nvSpPr>
                <p:cNvPr id="675" name="Freeform 341"/>
                <p:cNvSpPr/>
                <p:nvPr/>
              </p:nvSpPr>
              <p:spPr bwMode="gray">
                <a:xfrm>
                  <a:off x="3926292" y="3152879"/>
                  <a:ext cx="859604" cy="409592"/>
                </a:xfrm>
                <a:custGeom>
                  <a:avLst/>
                  <a:gdLst>
                    <a:gd name="connsiteX0" fmla="*/ 0 w 539750"/>
                    <a:gd name="connsiteY0" fmla="*/ 0 h 355600"/>
                    <a:gd name="connsiteX1" fmla="*/ 374650 w 539750"/>
                    <a:gd name="connsiteY1" fmla="*/ 114300 h 355600"/>
                    <a:gd name="connsiteX2" fmla="*/ 539750 w 539750"/>
                    <a:gd name="connsiteY2" fmla="*/ 355600 h 355600"/>
                  </a:gdLst>
                  <a:ahLst/>
                  <a:cxnLst>
                    <a:cxn ang="0">
                      <a:pos x="connsiteX0" y="connsiteY0"/>
                    </a:cxn>
                    <a:cxn ang="0">
                      <a:pos x="connsiteX1" y="connsiteY1"/>
                    </a:cxn>
                    <a:cxn ang="0">
                      <a:pos x="connsiteX2" y="connsiteY2"/>
                    </a:cxn>
                  </a:cxnLst>
                  <a:rect l="l" t="t" r="r" b="b"/>
                  <a:pathLst>
                    <a:path w="539750" h="355600">
                      <a:moveTo>
                        <a:pt x="0" y="0"/>
                      </a:moveTo>
                      <a:cubicBezTo>
                        <a:pt x="142346" y="27516"/>
                        <a:pt x="284692" y="55033"/>
                        <a:pt x="374650" y="114300"/>
                      </a:cubicBezTo>
                      <a:cubicBezTo>
                        <a:pt x="464608" y="173567"/>
                        <a:pt x="539750" y="355600"/>
                        <a:pt x="539750" y="355600"/>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3" tIns="45691" rIns="91383" bIns="45691" numCol="1" spcCol="0" rtlCol="0" fromWordArt="0" anchor="ctr" anchorCtr="0" forceAA="0" compatLnSpc="1">
                  <a:prstTxWarp prst="textNoShape">
                    <a:avLst/>
                  </a:prstTxWarp>
                  <a:noAutofit/>
                </a:bodyP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6" name="Freeform 342"/>
                <p:cNvSpPr/>
                <p:nvPr/>
              </p:nvSpPr>
              <p:spPr bwMode="gray">
                <a:xfrm>
                  <a:off x="3918908" y="2523207"/>
                  <a:ext cx="2321247" cy="600498"/>
                </a:xfrm>
                <a:custGeom>
                  <a:avLst/>
                  <a:gdLst>
                    <a:gd name="connsiteX0" fmla="*/ 0 w 1993900"/>
                    <a:gd name="connsiteY0" fmla="*/ 520700 h 520700"/>
                    <a:gd name="connsiteX1" fmla="*/ 1009650 w 1993900"/>
                    <a:gd name="connsiteY1" fmla="*/ 361950 h 520700"/>
                    <a:gd name="connsiteX2" fmla="*/ 1993900 w 1993900"/>
                    <a:gd name="connsiteY2" fmla="*/ 0 h 520700"/>
                  </a:gdLst>
                  <a:ahLst/>
                  <a:cxnLst>
                    <a:cxn ang="0">
                      <a:pos x="connsiteX0" y="connsiteY0"/>
                    </a:cxn>
                    <a:cxn ang="0">
                      <a:pos x="connsiteX1" y="connsiteY1"/>
                    </a:cxn>
                    <a:cxn ang="0">
                      <a:pos x="connsiteX2" y="connsiteY2"/>
                    </a:cxn>
                  </a:cxnLst>
                  <a:rect l="l" t="t" r="r" b="b"/>
                  <a:pathLst>
                    <a:path w="1993900" h="520700">
                      <a:moveTo>
                        <a:pt x="0" y="520700"/>
                      </a:moveTo>
                      <a:cubicBezTo>
                        <a:pt x="338666" y="484716"/>
                        <a:pt x="677333" y="448733"/>
                        <a:pt x="1009650" y="361950"/>
                      </a:cubicBezTo>
                      <a:cubicBezTo>
                        <a:pt x="1341967" y="275167"/>
                        <a:pt x="1993900" y="0"/>
                        <a:pt x="1993900" y="0"/>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3" tIns="45691" rIns="91383" bIns="45691" numCol="1" spcCol="0" rtlCol="0" fromWordArt="0" anchor="ctr" anchorCtr="0" forceAA="0" compatLnSpc="1">
                  <a:prstTxWarp prst="textNoShape">
                    <a:avLst/>
                  </a:prstTxWarp>
                  <a:noAutofit/>
                </a:bodyP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677" name="Group 343"/>
                <p:cNvGrpSpPr/>
                <p:nvPr/>
              </p:nvGrpSpPr>
              <p:grpSpPr bwMode="gray">
                <a:xfrm>
                  <a:off x="3914219" y="2315459"/>
                  <a:ext cx="2584320" cy="1239844"/>
                  <a:chOff x="3914219" y="2315459"/>
                  <a:chExt cx="2584320" cy="1239844"/>
                </a:xfrm>
              </p:grpSpPr>
              <p:sp>
                <p:nvSpPr>
                  <p:cNvPr id="678" name="Freeform 344"/>
                  <p:cNvSpPr/>
                  <p:nvPr/>
                </p:nvSpPr>
                <p:spPr bwMode="gray">
                  <a:xfrm>
                    <a:off x="3914219" y="3097960"/>
                    <a:ext cx="2571410" cy="331372"/>
                  </a:xfrm>
                  <a:custGeom>
                    <a:avLst/>
                    <a:gdLst>
                      <a:gd name="connsiteX0" fmla="*/ 0 w 1813188"/>
                      <a:gd name="connsiteY0" fmla="*/ 31614 h 226243"/>
                      <a:gd name="connsiteX1" fmla="*/ 1013088 w 1813188"/>
                      <a:gd name="connsiteY1" fmla="*/ 16693 h 226243"/>
                      <a:gd name="connsiteX2" fmla="*/ 1813188 w 1813188"/>
                      <a:gd name="connsiteY2" fmla="*/ 226243 h 226243"/>
                    </a:gdLst>
                    <a:ahLst/>
                    <a:cxnLst>
                      <a:cxn ang="0">
                        <a:pos x="connsiteX0" y="connsiteY0"/>
                      </a:cxn>
                      <a:cxn ang="0">
                        <a:pos x="connsiteX1" y="connsiteY1"/>
                      </a:cxn>
                      <a:cxn ang="0">
                        <a:pos x="connsiteX2" y="connsiteY2"/>
                      </a:cxn>
                    </a:cxnLst>
                    <a:rect l="l" t="t" r="r" b="b"/>
                    <a:pathLst>
                      <a:path w="1813188" h="226242">
                        <a:moveTo>
                          <a:pt x="0" y="31614"/>
                        </a:moveTo>
                        <a:cubicBezTo>
                          <a:pt x="354012" y="-1724"/>
                          <a:pt x="711463" y="-11882"/>
                          <a:pt x="1013088" y="16693"/>
                        </a:cubicBezTo>
                        <a:cubicBezTo>
                          <a:pt x="1314713" y="45268"/>
                          <a:pt x="1813188" y="226243"/>
                          <a:pt x="1813188" y="226243"/>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3" tIns="45691" rIns="91383" bIns="45691" numCol="1" spcCol="0" rtlCol="0" fromWordArt="0" anchor="ctr" anchorCtr="0" forceAA="0" compatLnSpc="1">
                    <a:prstTxWarp prst="textNoShape">
                      <a:avLst/>
                    </a:prstTxWarp>
                    <a:noAutofit/>
                  </a:bodyP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679" name="Group 345"/>
                  <p:cNvGrpSpPr/>
                  <p:nvPr/>
                </p:nvGrpSpPr>
                <p:grpSpPr bwMode="gray">
                  <a:xfrm>
                    <a:off x="3926293" y="2315459"/>
                    <a:ext cx="2572246" cy="1239844"/>
                    <a:chOff x="3926293" y="2315459"/>
                    <a:chExt cx="2572246" cy="1239844"/>
                  </a:xfrm>
                </p:grpSpPr>
                <p:grpSp>
                  <p:nvGrpSpPr>
                    <p:cNvPr id="680" name="Group 347"/>
                    <p:cNvGrpSpPr/>
                    <p:nvPr/>
                  </p:nvGrpSpPr>
                  <p:grpSpPr bwMode="gray">
                    <a:xfrm>
                      <a:off x="3926293" y="2315459"/>
                      <a:ext cx="2561355" cy="1232679"/>
                      <a:chOff x="1049927" y="2533651"/>
                      <a:chExt cx="2223036" cy="1092199"/>
                    </a:xfrm>
                  </p:grpSpPr>
                  <p:sp>
                    <p:nvSpPr>
                      <p:cNvPr id="682" name="Freeform 349"/>
                      <p:cNvSpPr/>
                      <p:nvPr/>
                    </p:nvSpPr>
                    <p:spPr bwMode="gray">
                      <a:xfrm>
                        <a:off x="1049927" y="2533651"/>
                        <a:ext cx="1100183" cy="708297"/>
                      </a:xfrm>
                      <a:custGeom>
                        <a:avLst/>
                        <a:gdLst>
                          <a:gd name="connsiteX0" fmla="*/ 0 w 1085850"/>
                          <a:gd name="connsiteY0" fmla="*/ 749300 h 749300"/>
                          <a:gd name="connsiteX1" fmla="*/ 622300 w 1085850"/>
                          <a:gd name="connsiteY1" fmla="*/ 508000 h 749300"/>
                          <a:gd name="connsiteX2" fmla="*/ 1085850 w 1085850"/>
                          <a:gd name="connsiteY2" fmla="*/ 0 h 749300"/>
                        </a:gdLst>
                        <a:ahLst/>
                        <a:cxnLst>
                          <a:cxn ang="0">
                            <a:pos x="connsiteX0" y="connsiteY0"/>
                          </a:cxn>
                          <a:cxn ang="0">
                            <a:pos x="connsiteX1" y="connsiteY1"/>
                          </a:cxn>
                          <a:cxn ang="0">
                            <a:pos x="connsiteX2" y="connsiteY2"/>
                          </a:cxn>
                        </a:cxnLst>
                        <a:rect l="l" t="t" r="r" b="b"/>
                        <a:pathLst>
                          <a:path w="1085850" h="749300">
                            <a:moveTo>
                              <a:pt x="0" y="749300"/>
                            </a:moveTo>
                            <a:cubicBezTo>
                              <a:pt x="220662" y="691091"/>
                              <a:pt x="441325" y="632883"/>
                              <a:pt x="622300" y="508000"/>
                            </a:cubicBezTo>
                            <a:cubicBezTo>
                              <a:pt x="803275" y="383117"/>
                              <a:pt x="1085850" y="0"/>
                              <a:pt x="1085850" y="0"/>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3" tIns="45691" rIns="91383" bIns="45691" numCol="1" spcCol="0" rtlCol="0" fromWordArt="0" anchor="ctr" anchorCtr="0" forceAA="0" compatLnSpc="1">
                        <a:prstTxWarp prst="textNoShape">
                          <a:avLst/>
                        </a:prstTxWarp>
                        <a:noAutofit/>
                      </a:bodyP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3" name="Freeform 350"/>
                      <p:cNvSpPr/>
                      <p:nvPr/>
                    </p:nvSpPr>
                    <p:spPr bwMode="gray">
                      <a:xfrm>
                        <a:off x="2137410" y="2533651"/>
                        <a:ext cx="930950" cy="224799"/>
                      </a:xfrm>
                      <a:custGeom>
                        <a:avLst/>
                        <a:gdLst>
                          <a:gd name="connsiteX0" fmla="*/ 0 w 927100"/>
                          <a:gd name="connsiteY0" fmla="*/ 0 h 294745"/>
                          <a:gd name="connsiteX1" fmla="*/ 419100 w 927100"/>
                          <a:gd name="connsiteY1" fmla="*/ 285750 h 294745"/>
                          <a:gd name="connsiteX2" fmla="*/ 927100 w 927100"/>
                          <a:gd name="connsiteY2" fmla="*/ 228600 h 294745"/>
                        </a:gdLst>
                        <a:ahLst/>
                        <a:cxnLst>
                          <a:cxn ang="0">
                            <a:pos x="connsiteX0" y="connsiteY0"/>
                          </a:cxn>
                          <a:cxn ang="0">
                            <a:pos x="connsiteX1" y="connsiteY1"/>
                          </a:cxn>
                          <a:cxn ang="0">
                            <a:pos x="connsiteX2" y="connsiteY2"/>
                          </a:cxn>
                        </a:cxnLst>
                        <a:rect l="l" t="t" r="r" b="b"/>
                        <a:pathLst>
                          <a:path w="927100" h="294745">
                            <a:moveTo>
                              <a:pt x="0" y="0"/>
                            </a:moveTo>
                            <a:cubicBezTo>
                              <a:pt x="132291" y="123825"/>
                              <a:pt x="264583" y="247650"/>
                              <a:pt x="419100" y="285750"/>
                            </a:cubicBezTo>
                            <a:cubicBezTo>
                              <a:pt x="573617" y="323850"/>
                              <a:pt x="927100" y="228600"/>
                              <a:pt x="927100" y="228600"/>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3" tIns="45691" rIns="91383" bIns="45691" numCol="1" spcCol="0" rtlCol="0" fromWordArt="0" anchor="ctr" anchorCtr="0" forceAA="0" compatLnSpc="1">
                        <a:prstTxWarp prst="textNoShape">
                          <a:avLst/>
                        </a:prstTxWarp>
                        <a:noAutofit/>
                      </a:bodyP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4" name="Freeform 351"/>
                      <p:cNvSpPr/>
                      <p:nvPr/>
                    </p:nvSpPr>
                    <p:spPr bwMode="gray">
                      <a:xfrm>
                        <a:off x="1795989" y="2552700"/>
                        <a:ext cx="350945" cy="1073150"/>
                      </a:xfrm>
                      <a:custGeom>
                        <a:avLst/>
                        <a:gdLst>
                          <a:gd name="connsiteX0" fmla="*/ 508000 w 508000"/>
                          <a:gd name="connsiteY0" fmla="*/ 0 h 1073150"/>
                          <a:gd name="connsiteX1" fmla="*/ 419100 w 508000"/>
                          <a:gd name="connsiteY1" fmla="*/ 488950 h 1073150"/>
                          <a:gd name="connsiteX2" fmla="*/ 0 w 508000"/>
                          <a:gd name="connsiteY2" fmla="*/ 1073150 h 1073150"/>
                        </a:gdLst>
                        <a:ahLst/>
                        <a:cxnLst>
                          <a:cxn ang="0">
                            <a:pos x="connsiteX0" y="connsiteY0"/>
                          </a:cxn>
                          <a:cxn ang="0">
                            <a:pos x="connsiteX1" y="connsiteY1"/>
                          </a:cxn>
                          <a:cxn ang="0">
                            <a:pos x="connsiteX2" y="connsiteY2"/>
                          </a:cxn>
                        </a:cxnLst>
                        <a:rect l="l" t="t" r="r" b="b"/>
                        <a:pathLst>
                          <a:path w="508000" h="1073150">
                            <a:moveTo>
                              <a:pt x="508000" y="0"/>
                            </a:moveTo>
                            <a:cubicBezTo>
                              <a:pt x="505883" y="155046"/>
                              <a:pt x="503767" y="310092"/>
                              <a:pt x="419100" y="488950"/>
                            </a:cubicBezTo>
                            <a:cubicBezTo>
                              <a:pt x="334433" y="667808"/>
                              <a:pt x="0" y="1073150"/>
                              <a:pt x="0" y="1073150"/>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3" tIns="45691" rIns="91383" bIns="45691" numCol="1" spcCol="0" rtlCol="0" fromWordArt="0" anchor="ctr" anchorCtr="0" forceAA="0" compatLnSpc="1">
                        <a:prstTxWarp prst="textNoShape">
                          <a:avLst/>
                        </a:prstTxWarp>
                        <a:noAutofit/>
                      </a:bodyP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5" name="Freeform 352"/>
                      <p:cNvSpPr/>
                      <p:nvPr/>
                    </p:nvSpPr>
                    <p:spPr bwMode="gray">
                      <a:xfrm>
                        <a:off x="2158459" y="2602824"/>
                        <a:ext cx="1114504" cy="895906"/>
                      </a:xfrm>
                      <a:custGeom>
                        <a:avLst/>
                        <a:gdLst>
                          <a:gd name="connsiteX0" fmla="*/ 717550 w 717550"/>
                          <a:gd name="connsiteY0" fmla="*/ 889000 h 889000"/>
                          <a:gd name="connsiteX1" fmla="*/ 234950 w 717550"/>
                          <a:gd name="connsiteY1" fmla="*/ 539750 h 889000"/>
                          <a:gd name="connsiteX2" fmla="*/ 0 w 717550"/>
                          <a:gd name="connsiteY2" fmla="*/ 0 h 889000"/>
                        </a:gdLst>
                        <a:ahLst/>
                        <a:cxnLst>
                          <a:cxn ang="0">
                            <a:pos x="connsiteX0" y="connsiteY0"/>
                          </a:cxn>
                          <a:cxn ang="0">
                            <a:pos x="connsiteX1" y="connsiteY1"/>
                          </a:cxn>
                          <a:cxn ang="0">
                            <a:pos x="connsiteX2" y="connsiteY2"/>
                          </a:cxn>
                        </a:cxnLst>
                        <a:rect l="l" t="t" r="r" b="b"/>
                        <a:pathLst>
                          <a:path w="717550" h="889000">
                            <a:moveTo>
                              <a:pt x="717550" y="889000"/>
                            </a:moveTo>
                            <a:cubicBezTo>
                              <a:pt x="536046" y="788458"/>
                              <a:pt x="354542" y="687917"/>
                              <a:pt x="234950" y="539750"/>
                            </a:cubicBezTo>
                            <a:cubicBezTo>
                              <a:pt x="115358" y="391583"/>
                              <a:pt x="0" y="0"/>
                              <a:pt x="0" y="0"/>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3" tIns="45691" rIns="91383" bIns="45691" numCol="1" spcCol="0" rtlCol="0" fromWordArt="0" anchor="ctr" anchorCtr="0" forceAA="0" compatLnSpc="1">
                        <a:prstTxWarp prst="textNoShape">
                          <a:avLst/>
                        </a:prstTxWarp>
                        <a:noAutofit/>
                      </a:bodyP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681" name="Freeform 348"/>
                    <p:cNvSpPr/>
                    <p:nvPr/>
                  </p:nvSpPr>
                  <p:spPr bwMode="gray">
                    <a:xfrm>
                      <a:off x="4776720" y="3264587"/>
                      <a:ext cx="1721819" cy="290716"/>
                    </a:xfrm>
                    <a:custGeom>
                      <a:avLst/>
                      <a:gdLst>
                        <a:gd name="connsiteX0" fmla="*/ 0 w 1260086"/>
                        <a:gd name="connsiteY0" fmla="*/ 257585 h 257585"/>
                        <a:gd name="connsiteX1" fmla="*/ 577850 w 1260086"/>
                        <a:gd name="connsiteY1" fmla="*/ 3585 h 257585"/>
                        <a:gd name="connsiteX2" fmla="*/ 1260086 w 1260086"/>
                        <a:gd name="connsiteY2" fmla="*/ 149368 h 257585"/>
                      </a:gdLst>
                      <a:ahLst/>
                      <a:cxnLst>
                        <a:cxn ang="0">
                          <a:pos x="connsiteX0" y="connsiteY0"/>
                        </a:cxn>
                        <a:cxn ang="0">
                          <a:pos x="connsiteX1" y="connsiteY1"/>
                        </a:cxn>
                        <a:cxn ang="0">
                          <a:pos x="connsiteX2" y="connsiteY2"/>
                        </a:cxn>
                      </a:cxnLst>
                      <a:rect l="l" t="t" r="r" b="b"/>
                      <a:pathLst>
                        <a:path w="1260086" h="257585">
                          <a:moveTo>
                            <a:pt x="0" y="257585"/>
                          </a:moveTo>
                          <a:cubicBezTo>
                            <a:pt x="186796" y="145931"/>
                            <a:pt x="373592" y="34277"/>
                            <a:pt x="577850" y="3585"/>
                          </a:cubicBezTo>
                          <a:cubicBezTo>
                            <a:pt x="782108" y="-27107"/>
                            <a:pt x="1260086" y="149368"/>
                            <a:pt x="1260086" y="149368"/>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83" tIns="45691" rIns="91383" bIns="45691" numCol="1" spcCol="0" rtlCol="0" fromWordArt="0" anchor="ctr" anchorCtr="0" forceAA="0" compatLnSpc="1">
                      <a:prstTxWarp prst="textNoShape">
                        <a:avLst/>
                      </a:prstTxWarp>
                      <a:noAutofit/>
                    </a:bodyP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grpSp>
          </p:grpSp>
        </p:grpSp>
        <p:sp>
          <p:nvSpPr>
            <p:cNvPr id="669" name="任意多边形 668"/>
            <p:cNvSpPr/>
            <p:nvPr/>
          </p:nvSpPr>
          <p:spPr bwMode="gray">
            <a:xfrm>
              <a:off x="7310061" y="5200650"/>
              <a:ext cx="167064" cy="390525"/>
            </a:xfrm>
            <a:custGeom>
              <a:avLst/>
              <a:gdLst>
                <a:gd name="connsiteX0" fmla="*/ 14664 w 167064"/>
                <a:gd name="connsiteY0" fmla="*/ 0 h 390525"/>
                <a:gd name="connsiteX1" fmla="*/ 14664 w 167064"/>
                <a:gd name="connsiteY1" fmla="*/ 171450 h 390525"/>
                <a:gd name="connsiteX2" fmla="*/ 167064 w 167064"/>
                <a:gd name="connsiteY2" fmla="*/ 390525 h 390525"/>
              </a:gdLst>
              <a:ahLst/>
              <a:cxnLst>
                <a:cxn ang="0">
                  <a:pos x="connsiteX0" y="connsiteY0"/>
                </a:cxn>
                <a:cxn ang="0">
                  <a:pos x="connsiteX1" y="connsiteY1"/>
                </a:cxn>
                <a:cxn ang="0">
                  <a:pos x="connsiteX2" y="connsiteY2"/>
                </a:cxn>
              </a:cxnLst>
              <a:rect l="l" t="t" r="r" b="b"/>
              <a:pathLst>
                <a:path w="167064" h="390525">
                  <a:moveTo>
                    <a:pt x="14664" y="0"/>
                  </a:moveTo>
                  <a:cubicBezTo>
                    <a:pt x="1964" y="53181"/>
                    <a:pt x="-10736" y="106363"/>
                    <a:pt x="14664" y="171450"/>
                  </a:cubicBezTo>
                  <a:cubicBezTo>
                    <a:pt x="40064" y="236538"/>
                    <a:pt x="103564" y="313531"/>
                    <a:pt x="167064" y="390525"/>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0" name="任意多边形 669"/>
            <p:cNvSpPr/>
            <p:nvPr/>
          </p:nvSpPr>
          <p:spPr bwMode="gray">
            <a:xfrm>
              <a:off x="7233540" y="5224463"/>
              <a:ext cx="438848" cy="900112"/>
            </a:xfrm>
            <a:custGeom>
              <a:avLst/>
              <a:gdLst>
                <a:gd name="connsiteX0" fmla="*/ 58797 w 430272"/>
                <a:gd name="connsiteY0" fmla="*/ 0 h 900112"/>
                <a:gd name="connsiteX1" fmla="*/ 30222 w 430272"/>
                <a:gd name="connsiteY1" fmla="*/ 333375 h 900112"/>
                <a:gd name="connsiteX2" fmla="*/ 430272 w 430272"/>
                <a:gd name="connsiteY2" fmla="*/ 900112 h 900112"/>
              </a:gdLst>
              <a:ahLst/>
              <a:cxnLst>
                <a:cxn ang="0">
                  <a:pos x="connsiteX0" y="connsiteY0"/>
                </a:cxn>
                <a:cxn ang="0">
                  <a:pos x="connsiteX1" y="connsiteY1"/>
                </a:cxn>
                <a:cxn ang="0">
                  <a:pos x="connsiteX2" y="connsiteY2"/>
                </a:cxn>
              </a:cxnLst>
              <a:rect l="l" t="t" r="r" b="b"/>
              <a:pathLst>
                <a:path w="430272" h="900112">
                  <a:moveTo>
                    <a:pt x="58797" y="0"/>
                  </a:moveTo>
                  <a:cubicBezTo>
                    <a:pt x="13553" y="91678"/>
                    <a:pt x="-31690" y="183356"/>
                    <a:pt x="30222" y="333375"/>
                  </a:cubicBezTo>
                  <a:cubicBezTo>
                    <a:pt x="92134" y="483394"/>
                    <a:pt x="361216" y="805656"/>
                    <a:pt x="430272" y="900112"/>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1" name="任意多边形 670"/>
            <p:cNvSpPr/>
            <p:nvPr/>
          </p:nvSpPr>
          <p:spPr bwMode="gray">
            <a:xfrm>
              <a:off x="4281488" y="5300663"/>
              <a:ext cx="267914" cy="500062"/>
            </a:xfrm>
            <a:custGeom>
              <a:avLst/>
              <a:gdLst>
                <a:gd name="connsiteX0" fmla="*/ 219075 w 267914"/>
                <a:gd name="connsiteY0" fmla="*/ 0 h 500062"/>
                <a:gd name="connsiteX1" fmla="*/ 252412 w 267914"/>
                <a:gd name="connsiteY1" fmla="*/ 242887 h 500062"/>
                <a:gd name="connsiteX2" fmla="*/ 0 w 267914"/>
                <a:gd name="connsiteY2" fmla="*/ 500062 h 500062"/>
              </a:gdLst>
              <a:ahLst/>
              <a:cxnLst>
                <a:cxn ang="0">
                  <a:pos x="connsiteX0" y="connsiteY0"/>
                </a:cxn>
                <a:cxn ang="0">
                  <a:pos x="connsiteX1" y="connsiteY1"/>
                </a:cxn>
                <a:cxn ang="0">
                  <a:pos x="connsiteX2" y="connsiteY2"/>
                </a:cxn>
              </a:cxnLst>
              <a:rect l="l" t="t" r="r" b="b"/>
              <a:pathLst>
                <a:path w="267914" h="500062">
                  <a:moveTo>
                    <a:pt x="219075" y="0"/>
                  </a:moveTo>
                  <a:cubicBezTo>
                    <a:pt x="254000" y="79771"/>
                    <a:pt x="288925" y="159543"/>
                    <a:pt x="252412" y="242887"/>
                  </a:cubicBezTo>
                  <a:cubicBezTo>
                    <a:pt x="215899" y="326231"/>
                    <a:pt x="107949" y="413146"/>
                    <a:pt x="0" y="500062"/>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2" name="任意多边形 671"/>
            <p:cNvSpPr/>
            <p:nvPr/>
          </p:nvSpPr>
          <p:spPr bwMode="gray">
            <a:xfrm>
              <a:off x="4524375" y="4972050"/>
              <a:ext cx="1376363" cy="347032"/>
            </a:xfrm>
            <a:custGeom>
              <a:avLst/>
              <a:gdLst>
                <a:gd name="connsiteX0" fmla="*/ 0 w 1376363"/>
                <a:gd name="connsiteY0" fmla="*/ 300038 h 347032"/>
                <a:gd name="connsiteX1" fmla="*/ 200025 w 1376363"/>
                <a:gd name="connsiteY1" fmla="*/ 328613 h 347032"/>
                <a:gd name="connsiteX2" fmla="*/ 766763 w 1376363"/>
                <a:gd name="connsiteY2" fmla="*/ 319088 h 347032"/>
                <a:gd name="connsiteX3" fmla="*/ 1376363 w 1376363"/>
                <a:gd name="connsiteY3" fmla="*/ 0 h 347032"/>
              </a:gdLst>
              <a:ahLst/>
              <a:cxnLst>
                <a:cxn ang="0">
                  <a:pos x="connsiteX0" y="connsiteY0"/>
                </a:cxn>
                <a:cxn ang="0">
                  <a:pos x="connsiteX1" y="connsiteY1"/>
                </a:cxn>
                <a:cxn ang="0">
                  <a:pos x="connsiteX2" y="connsiteY2"/>
                </a:cxn>
                <a:cxn ang="0">
                  <a:pos x="connsiteX3" y="connsiteY3"/>
                </a:cxn>
              </a:cxnLst>
              <a:rect l="l" t="t" r="r" b="b"/>
              <a:pathLst>
                <a:path w="1376363" h="347032">
                  <a:moveTo>
                    <a:pt x="0" y="300038"/>
                  </a:moveTo>
                  <a:cubicBezTo>
                    <a:pt x="36115" y="312738"/>
                    <a:pt x="200025" y="328613"/>
                    <a:pt x="200025" y="328613"/>
                  </a:cubicBezTo>
                  <a:cubicBezTo>
                    <a:pt x="327819" y="331788"/>
                    <a:pt x="570707" y="373857"/>
                    <a:pt x="766763" y="319088"/>
                  </a:cubicBezTo>
                  <a:cubicBezTo>
                    <a:pt x="962819" y="264319"/>
                    <a:pt x="1376363" y="0"/>
                    <a:pt x="1376363" y="0"/>
                  </a:cubicBezTo>
                </a:path>
              </a:pathLst>
            </a:custGeom>
            <a:noFill/>
            <a:ln w="9525">
              <a:solidFill>
                <a:srgbClr val="00B0F0">
                  <a:alpha val="43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712" fontAlgn="base">
                <a:spcBef>
                  <a:spcPct val="0"/>
                </a:spcBef>
                <a:spcAft>
                  <a:spcPct val="0"/>
                </a:spcAft>
              </a:pPr>
              <a:endParaRPr lang="en-US" sz="2399">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609" name="Shape 423"/>
          <p:cNvSpPr/>
          <p:nvPr/>
        </p:nvSpPr>
        <p:spPr bwMode="auto">
          <a:xfrm>
            <a:off x="7831618" y="5088635"/>
            <a:ext cx="373431" cy="184666"/>
          </a:xfrm>
          <a:prstGeom prst="rect">
            <a:avLst/>
          </a:prstGeom>
          <a:ln w="12700">
            <a:miter lim="400000"/>
          </a:ln>
          <a:extLst>
            <a:ext uri="{C572A759-6A51-4108-AA02-DFA0A04FC94B}">
              <ma14:wrappingTextBoxFlag xmlns="" xmlns:ma14="http://schemas.microsoft.com/office/mac/drawingml/2011/main" xmlns:p15="http://schemas.microsoft.com/office/powerpoint/2012/main" xmlns:a14="http://schemas.microsoft.com/office/drawing/2010/main" xmlns:p14="http://schemas.microsoft.com/office/powerpoint/2010/main" val="1"/>
            </a:ext>
          </a:extLst>
        </p:spPr>
        <p:txBody>
          <a:bodyPr wrap="square" lIns="0" tIns="0" rIns="0" bIns="0" anchor="ctr">
            <a:spAutoFit/>
          </a:bodyPr>
          <a:lstStyle>
            <a:lvl1pPr defTabSz="516747">
              <a:defRPr sz="1600">
                <a:solidFill>
                  <a:srgbClr val="FFFFFF"/>
                </a:solidFill>
                <a:latin typeface="+mn-lt"/>
                <a:ea typeface="+mn-ea"/>
                <a:cs typeface="+mn-cs"/>
                <a:sym typeface="Helvetica"/>
              </a:defRPr>
            </a:lvl1pPr>
          </a:lstStyle>
          <a:p>
            <a:pPr algn="ctr" fontAlgn="base">
              <a:spcBef>
                <a:spcPct val="0"/>
              </a:spcBef>
              <a:spcAft>
                <a:spcPct val="0"/>
              </a:spcAft>
            </a:pPr>
            <a:r>
              <a:rPr lang="en-US"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E</a:t>
            </a:r>
            <a:r>
              <a:rPr lang="en-US" altLang="zh-CN"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dge</a:t>
            </a:r>
            <a:endParaRPr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0" name="Shape 423"/>
          <p:cNvSpPr/>
          <p:nvPr/>
        </p:nvSpPr>
        <p:spPr bwMode="auto">
          <a:xfrm>
            <a:off x="7931094" y="5434184"/>
            <a:ext cx="377400" cy="184666"/>
          </a:xfrm>
          <a:prstGeom prst="rect">
            <a:avLst/>
          </a:prstGeom>
          <a:ln w="12700">
            <a:miter lim="400000"/>
          </a:ln>
          <a:extLst>
            <a:ext uri="{C572A759-6A51-4108-AA02-DFA0A04FC94B}">
              <ma14:wrappingTextBoxFlag xmlns="" xmlns:ma14="http://schemas.microsoft.com/office/mac/drawingml/2011/main" xmlns:p15="http://schemas.microsoft.com/office/powerpoint/2012/main" xmlns:a14="http://schemas.microsoft.com/office/drawing/2010/main" xmlns:p14="http://schemas.microsoft.com/office/powerpoint/2010/main" val="1"/>
            </a:ext>
          </a:extLst>
        </p:spPr>
        <p:txBody>
          <a:bodyPr wrap="square" lIns="0" tIns="0" rIns="0" bIns="0" anchor="ctr">
            <a:spAutoFit/>
          </a:bodyPr>
          <a:lstStyle>
            <a:lvl1pPr defTabSz="516747">
              <a:defRPr sz="1600">
                <a:solidFill>
                  <a:srgbClr val="FFFFFF"/>
                </a:solidFill>
                <a:latin typeface="+mn-lt"/>
                <a:ea typeface="+mn-ea"/>
                <a:cs typeface="+mn-cs"/>
                <a:sym typeface="Helvetica"/>
              </a:defRPr>
            </a:lvl1pPr>
          </a:lstStyle>
          <a:p>
            <a:pPr algn="ctr" fontAlgn="base">
              <a:spcBef>
                <a:spcPct val="0"/>
              </a:spcBef>
              <a:spcAft>
                <a:spcPct val="0"/>
              </a:spcAft>
            </a:pPr>
            <a:r>
              <a:rPr lang="en-US"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E</a:t>
            </a:r>
            <a:r>
              <a:rPr lang="en-US" altLang="zh-CN"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dge</a:t>
            </a:r>
            <a:endParaRPr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1" name="Shape 423"/>
          <p:cNvSpPr/>
          <p:nvPr/>
        </p:nvSpPr>
        <p:spPr bwMode="auto">
          <a:xfrm>
            <a:off x="8049744" y="5970229"/>
            <a:ext cx="578272" cy="184666"/>
          </a:xfrm>
          <a:prstGeom prst="rect">
            <a:avLst/>
          </a:prstGeom>
          <a:ln w="12700">
            <a:miter lim="400000"/>
          </a:ln>
          <a:extLst>
            <a:ext uri="{C572A759-6A51-4108-AA02-DFA0A04FC94B}">
              <ma14:wrappingTextBoxFlag xmlns="" xmlns:ma14="http://schemas.microsoft.com/office/mac/drawingml/2011/main" xmlns:p15="http://schemas.microsoft.com/office/powerpoint/2012/main" xmlns:a14="http://schemas.microsoft.com/office/drawing/2010/main" xmlns:p14="http://schemas.microsoft.com/office/powerpoint/2010/main" val="1"/>
            </a:ext>
          </a:extLst>
        </p:spPr>
        <p:txBody>
          <a:bodyPr wrap="square" lIns="0" tIns="0" rIns="0" bIns="0" anchor="ctr">
            <a:spAutoFit/>
          </a:bodyPr>
          <a:lstStyle>
            <a:lvl1pPr defTabSz="516747">
              <a:defRPr sz="1600">
                <a:solidFill>
                  <a:srgbClr val="FFFFFF"/>
                </a:solidFill>
                <a:latin typeface="+mn-lt"/>
                <a:ea typeface="+mn-ea"/>
                <a:cs typeface="+mn-cs"/>
                <a:sym typeface="Helvetica"/>
              </a:defRPr>
            </a:lvl1pPr>
          </a:lstStyle>
          <a:p>
            <a:pPr algn="ctr" fontAlgn="base">
              <a:spcBef>
                <a:spcPct val="0"/>
              </a:spcBef>
              <a:spcAft>
                <a:spcPct val="0"/>
              </a:spcAft>
            </a:pPr>
            <a:r>
              <a:rPr lang="en-US"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IWG</a:t>
            </a:r>
            <a:endParaRPr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2" name="Shape 423"/>
          <p:cNvSpPr/>
          <p:nvPr/>
        </p:nvSpPr>
        <p:spPr bwMode="gray">
          <a:xfrm>
            <a:off x="3579636" y="5189161"/>
            <a:ext cx="942242" cy="369332"/>
          </a:xfrm>
          <a:prstGeom prst="rect">
            <a:avLst/>
          </a:prstGeom>
          <a:ln w="12700">
            <a:miter lim="400000"/>
          </a:ln>
          <a:extLst>
            <a:ext uri="{C572A759-6A51-4108-AA02-DFA0A04FC94B}">
              <ma14:wrappingTextBoxFlag xmlns="" xmlns:ma14="http://schemas.microsoft.com/office/mac/drawingml/2011/main" xmlns:p15="http://schemas.microsoft.com/office/powerpoint/2012/main" xmlns:a14="http://schemas.microsoft.com/office/drawing/2010/main" xmlns:p14="http://schemas.microsoft.com/office/powerpoint/2010/main" val="1"/>
            </a:ext>
          </a:extLst>
        </p:spPr>
        <p:txBody>
          <a:bodyPr wrap="square" lIns="0" tIns="0" rIns="0" bIns="0" anchor="ctr">
            <a:spAutoFit/>
          </a:bodyPr>
          <a:lstStyle>
            <a:lvl1pPr defTabSz="516747">
              <a:defRPr sz="1600">
                <a:solidFill>
                  <a:srgbClr val="FFFFFF"/>
                </a:solidFill>
                <a:latin typeface="+mn-lt"/>
                <a:ea typeface="+mn-ea"/>
                <a:cs typeface="+mn-cs"/>
                <a:sym typeface="Helvetica"/>
              </a:defRPr>
            </a:lvl1pPr>
          </a:lstStyle>
          <a:p>
            <a:pPr algn="ctr" fontAlgn="base">
              <a:spcBef>
                <a:spcPct val="0"/>
              </a:spcBef>
              <a:spcAft>
                <a:spcPct val="0"/>
              </a:spcAft>
            </a:pPr>
            <a:r>
              <a:rPr lang="en-US" altLang="zh-CN" sz="1200" dirty="0" err="1">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xDSL</a:t>
            </a: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err="1">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以太网</a:t>
            </a:r>
            <a:endPar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algn="ctr" fontAlgn="base">
              <a:spcBef>
                <a:spcPct val="0"/>
              </a:spcBef>
              <a:spcAft>
                <a:spcPct val="0"/>
              </a:spcAft>
            </a:pP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/LTE...</a:t>
            </a:r>
            <a:endParaRPr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613" name="组合 5"/>
          <p:cNvGrpSpPr/>
          <p:nvPr/>
        </p:nvGrpSpPr>
        <p:grpSpPr bwMode="gray">
          <a:xfrm>
            <a:off x="4503907" y="4939033"/>
            <a:ext cx="2646930" cy="1109968"/>
            <a:chOff x="5447254" y="5431539"/>
            <a:chExt cx="1777498" cy="688300"/>
          </a:xfrm>
          <a:solidFill>
            <a:srgbClr val="00B0F0">
              <a:alpha val="30000"/>
            </a:srgbClr>
          </a:solidFill>
        </p:grpSpPr>
        <p:grpSp>
          <p:nvGrpSpPr>
            <p:cNvPr id="659" name="组合 2"/>
            <p:cNvGrpSpPr/>
            <p:nvPr/>
          </p:nvGrpSpPr>
          <p:grpSpPr bwMode="gray">
            <a:xfrm>
              <a:off x="6100513" y="5431539"/>
              <a:ext cx="686359" cy="307965"/>
              <a:chOff x="6559237" y="5143609"/>
              <a:chExt cx="686359" cy="307965"/>
            </a:xfrm>
            <a:grpFill/>
          </p:grpSpPr>
          <p:sp>
            <p:nvSpPr>
              <p:cNvPr id="666" name="云形 665"/>
              <p:cNvSpPr/>
              <p:nvPr/>
            </p:nvSpPr>
            <p:spPr bwMode="gray">
              <a:xfrm>
                <a:off x="6559237" y="5143609"/>
                <a:ext cx="686359" cy="307965"/>
              </a:xfrm>
              <a:prstGeom prst="cloud">
                <a:avLst/>
              </a:prstGeom>
            </p:spPr>
            <p:style>
              <a:lnRef idx="1">
                <a:schemeClr val="accent1"/>
              </a:lnRef>
              <a:fillRef idx="3">
                <a:schemeClr val="accent1"/>
              </a:fillRef>
              <a:effectRef idx="2">
                <a:schemeClr val="accent1"/>
              </a:effectRef>
              <a:fontRef idx="minor">
                <a:schemeClr val="lt1"/>
              </a:fontRef>
            </p:style>
            <p:txBody>
              <a:bodyPr lIns="182741" tIns="91369" rIns="182741" bIns="91369" rtlCol="0" anchor="ctr"/>
              <a:lstStyle/>
              <a:p>
                <a:pPr algn="ctr" defTabSz="1218712" fontAlgn="ctr">
                  <a:lnSpc>
                    <a:spcPct val="150000"/>
                  </a:lnSpc>
                  <a:spcBef>
                    <a:spcPct val="0"/>
                  </a:spcBef>
                  <a:spcAft>
                    <a:spcPct val="0"/>
                  </a:spcAft>
                  <a:buClr>
                    <a:srgbClr val="CC9900"/>
                  </a:buClr>
                </a:pPr>
                <a:endParaRPr lang="zh-CN" altLang="en-US" sz="1799">
                  <a:solidFill>
                    <a:prstClr val="white">
                      <a:lumMod val="85000"/>
                    </a:prstClr>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667" name="Shape 423"/>
              <p:cNvSpPr/>
              <p:nvPr/>
            </p:nvSpPr>
            <p:spPr bwMode="gray">
              <a:xfrm>
                <a:off x="6744701" y="5236728"/>
                <a:ext cx="318003" cy="113519"/>
              </a:xfrm>
              <a:prstGeom prst="rect">
                <a:avLst/>
              </a:prstGeom>
              <a:ln>
                <a:noFill/>
              </a:ln>
              <a:extLst>
                <a:ext uri="{C572A759-6A51-4108-AA02-DFA0A04FC94B}">
                  <ma14:wrappingTextBoxFlag xmlns="" xmlns:ma14="http://schemas.microsoft.com/office/mac/drawingml/2011/main" xmlns:p15="http://schemas.microsoft.com/office/powerpoint/2012/main" xmlns:a14="http://schemas.microsoft.com/office/drawing/2010/main" xmlns:p14="http://schemas.microsoft.com/office/powerpoint/2010/main" val="1"/>
                </a:ext>
              </a:extLst>
            </p:spPr>
            <p:style>
              <a:lnRef idx="1">
                <a:schemeClr val="accent1"/>
              </a:lnRef>
              <a:fillRef idx="3">
                <a:schemeClr val="accent1"/>
              </a:fillRef>
              <a:effectRef idx="2">
                <a:schemeClr val="accent1"/>
              </a:effectRef>
              <a:fontRef idx="minor">
                <a:schemeClr val="lt1"/>
              </a:fontRef>
            </p:style>
            <p:txBody>
              <a:bodyPr wrap="none" lIns="0" tIns="0" rIns="0" bIns="0" anchor="ctr">
                <a:spAutoFit/>
              </a:bodyPr>
              <a:lstStyle>
                <a:lvl1pPr defTabSz="516747">
                  <a:defRPr sz="1600">
                    <a:solidFill>
                      <a:srgbClr val="FFFFFF"/>
                    </a:solidFill>
                    <a:latin typeface="+mn-lt"/>
                    <a:ea typeface="+mn-ea"/>
                    <a:cs typeface="+mn-cs"/>
                    <a:sym typeface="Helvetica"/>
                  </a:defRPr>
                </a:lvl1pPr>
              </a:lstStyle>
              <a:p>
                <a:pPr algn="ctr" fontAlgn="base">
                  <a:spcBef>
                    <a:spcPct val="0"/>
                  </a:spcBef>
                  <a:spcAft>
                    <a:spcPct val="0"/>
                  </a:spcAft>
                </a:pPr>
                <a:r>
                  <a:rPr lang="en-US" altLang="zh-CN" sz="120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互联网</a:t>
                </a:r>
              </a:p>
            </p:txBody>
          </p:sp>
        </p:grpSp>
        <p:grpSp>
          <p:nvGrpSpPr>
            <p:cNvPr id="660" name="组合 4"/>
            <p:cNvGrpSpPr/>
            <p:nvPr/>
          </p:nvGrpSpPr>
          <p:grpSpPr bwMode="gray">
            <a:xfrm>
              <a:off x="6483740" y="5787350"/>
              <a:ext cx="741012" cy="332489"/>
              <a:chOff x="5764257" y="5696786"/>
              <a:chExt cx="741012" cy="332489"/>
            </a:xfrm>
            <a:grpFill/>
          </p:grpSpPr>
          <p:sp>
            <p:nvSpPr>
              <p:cNvPr id="664" name="云形 663"/>
              <p:cNvSpPr/>
              <p:nvPr/>
            </p:nvSpPr>
            <p:spPr bwMode="gray">
              <a:xfrm>
                <a:off x="5764257" y="5696786"/>
                <a:ext cx="741012" cy="332489"/>
              </a:xfrm>
              <a:prstGeom prst="cloud">
                <a:avLst/>
              </a:prstGeom>
            </p:spPr>
            <p:style>
              <a:lnRef idx="1">
                <a:schemeClr val="accent1"/>
              </a:lnRef>
              <a:fillRef idx="3">
                <a:schemeClr val="accent1"/>
              </a:fillRef>
              <a:effectRef idx="2">
                <a:schemeClr val="accent1"/>
              </a:effectRef>
              <a:fontRef idx="minor">
                <a:schemeClr val="lt1"/>
              </a:fontRef>
            </p:style>
            <p:txBody>
              <a:bodyPr lIns="182741" tIns="91369" rIns="182741" bIns="91369" rtlCol="0" anchor="ctr"/>
              <a:lstStyle/>
              <a:p>
                <a:pPr algn="ctr" defTabSz="1218712" fontAlgn="ctr">
                  <a:lnSpc>
                    <a:spcPct val="150000"/>
                  </a:lnSpc>
                  <a:spcBef>
                    <a:spcPct val="0"/>
                  </a:spcBef>
                  <a:spcAft>
                    <a:spcPct val="0"/>
                  </a:spcAft>
                  <a:buClr>
                    <a:srgbClr val="CC9900"/>
                  </a:buClr>
                </a:pPr>
                <a:endParaRPr lang="zh-CN" altLang="en-US" sz="1799">
                  <a:solidFill>
                    <a:prstClr val="white">
                      <a:lumMod val="85000"/>
                    </a:prstClr>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665" name="Shape 423"/>
              <p:cNvSpPr/>
              <p:nvPr/>
            </p:nvSpPr>
            <p:spPr bwMode="gray">
              <a:xfrm>
                <a:off x="6050799" y="5805774"/>
                <a:ext cx="167929" cy="114513"/>
              </a:xfrm>
              <a:prstGeom prst="rect">
                <a:avLst/>
              </a:prstGeom>
              <a:ln>
                <a:noFill/>
              </a:ln>
              <a:extLst>
                <a:ext uri="{C572A759-6A51-4108-AA02-DFA0A04FC94B}">
                  <ma14:wrappingTextBoxFlag xmlns="" xmlns:ma14="http://schemas.microsoft.com/office/mac/drawingml/2011/main" xmlns:p15="http://schemas.microsoft.com/office/powerpoint/2012/main" xmlns:a14="http://schemas.microsoft.com/office/drawing/2010/main" xmlns:p14="http://schemas.microsoft.com/office/powerpoint/2010/main" val="1"/>
                </a:ext>
              </a:extLst>
            </p:spPr>
            <p:style>
              <a:lnRef idx="1">
                <a:schemeClr val="accent1"/>
              </a:lnRef>
              <a:fillRef idx="3">
                <a:schemeClr val="accent1"/>
              </a:fillRef>
              <a:effectRef idx="2">
                <a:schemeClr val="accent1"/>
              </a:effectRef>
              <a:fontRef idx="minor">
                <a:schemeClr val="lt1"/>
              </a:fontRef>
            </p:style>
            <p:txBody>
              <a:bodyPr wrap="none" lIns="0" tIns="0" rIns="0" bIns="0" anchor="ctr">
                <a:spAutoFit/>
              </a:bodyPr>
              <a:lstStyle>
                <a:lvl1pPr defTabSz="516747">
                  <a:defRPr sz="1600">
                    <a:solidFill>
                      <a:srgbClr val="FFFFFF"/>
                    </a:solidFill>
                    <a:latin typeface="+mn-lt"/>
                    <a:ea typeface="+mn-ea"/>
                    <a:cs typeface="+mn-cs"/>
                    <a:sym typeface="Helvetica"/>
                  </a:defRPr>
                </a:lvl1pPr>
              </a:lstStyle>
              <a:p>
                <a:pPr algn="ctr" fontAlgn="base">
                  <a:spcBef>
                    <a:spcPct val="0"/>
                  </a:spcBef>
                  <a:spcAft>
                    <a:spcPct val="0"/>
                  </a:spcAft>
                </a:pPr>
                <a:r>
                  <a:rPr lang="en-US" altLang="zh-CN" sz="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LTE</a:t>
                </a:r>
              </a:p>
            </p:txBody>
          </p:sp>
        </p:grpSp>
        <p:grpSp>
          <p:nvGrpSpPr>
            <p:cNvPr id="661" name="组合 3"/>
            <p:cNvGrpSpPr/>
            <p:nvPr/>
          </p:nvGrpSpPr>
          <p:grpSpPr bwMode="gray">
            <a:xfrm>
              <a:off x="5447254" y="5711464"/>
              <a:ext cx="686359" cy="333592"/>
              <a:chOff x="5601062" y="5128013"/>
              <a:chExt cx="686359" cy="333592"/>
            </a:xfrm>
            <a:grpFill/>
          </p:grpSpPr>
          <p:sp>
            <p:nvSpPr>
              <p:cNvPr id="662" name="云形 661"/>
              <p:cNvSpPr/>
              <p:nvPr/>
            </p:nvSpPr>
            <p:spPr bwMode="gray">
              <a:xfrm>
                <a:off x="5601062" y="5128013"/>
                <a:ext cx="686359" cy="333592"/>
              </a:xfrm>
              <a:prstGeom prst="cloud">
                <a:avLst/>
              </a:prstGeom>
            </p:spPr>
            <p:style>
              <a:lnRef idx="1">
                <a:schemeClr val="accent1"/>
              </a:lnRef>
              <a:fillRef idx="3">
                <a:schemeClr val="accent1"/>
              </a:fillRef>
              <a:effectRef idx="2">
                <a:schemeClr val="accent1"/>
              </a:effectRef>
              <a:fontRef idx="minor">
                <a:schemeClr val="lt1"/>
              </a:fontRef>
            </p:style>
            <p:txBody>
              <a:bodyPr lIns="182741" tIns="91369" rIns="182741" bIns="91369" rtlCol="0" anchor="ctr"/>
              <a:lstStyle/>
              <a:p>
                <a:pPr algn="ctr" defTabSz="1218712" fontAlgn="ctr">
                  <a:lnSpc>
                    <a:spcPct val="150000"/>
                  </a:lnSpc>
                  <a:spcBef>
                    <a:spcPct val="0"/>
                  </a:spcBef>
                  <a:spcAft>
                    <a:spcPct val="0"/>
                  </a:spcAft>
                  <a:buClr>
                    <a:srgbClr val="CC9900"/>
                  </a:buClr>
                </a:pPr>
                <a:endParaRPr lang="zh-CN" altLang="en-US" sz="1799">
                  <a:solidFill>
                    <a:prstClr val="white">
                      <a:lumMod val="85000"/>
                    </a:prstClr>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663" name="Shape 423"/>
              <p:cNvSpPr/>
              <p:nvPr/>
            </p:nvSpPr>
            <p:spPr bwMode="gray">
              <a:xfrm>
                <a:off x="5838224" y="5233343"/>
                <a:ext cx="262659" cy="114513"/>
              </a:xfrm>
              <a:prstGeom prst="rect">
                <a:avLst/>
              </a:prstGeom>
              <a:extLst>
                <a:ext uri="{C572A759-6A51-4108-AA02-DFA0A04FC94B}">
                  <ma14:wrappingTextBoxFlag xmlns="" xmlns:ma14="http://schemas.microsoft.com/office/mac/drawingml/2011/main" xmlns:p15="http://schemas.microsoft.com/office/powerpoint/2012/main" xmlns:a14="http://schemas.microsoft.com/office/drawing/2010/main" xmlns:p14="http://schemas.microsoft.com/office/powerpoint/2010/main" val="1"/>
                </a:ext>
              </a:extLst>
            </p:spPr>
            <p:style>
              <a:lnRef idx="1">
                <a:schemeClr val="accent1"/>
              </a:lnRef>
              <a:fillRef idx="3">
                <a:schemeClr val="accent1"/>
              </a:fillRef>
              <a:effectRef idx="2">
                <a:schemeClr val="accent1"/>
              </a:effectRef>
              <a:fontRef idx="minor">
                <a:schemeClr val="lt1"/>
              </a:fontRef>
            </p:style>
            <p:txBody>
              <a:bodyPr wrap="none" lIns="0" tIns="0" rIns="0" bIns="0" anchor="ctr">
                <a:spAutoFit/>
              </a:bodyPr>
              <a:lstStyle>
                <a:lvl1pPr defTabSz="516747">
                  <a:defRPr sz="1600">
                    <a:solidFill>
                      <a:srgbClr val="FFFFFF"/>
                    </a:solidFill>
                    <a:latin typeface="+mn-lt"/>
                    <a:ea typeface="+mn-ea"/>
                    <a:cs typeface="+mn-cs"/>
                    <a:sym typeface="Helvetica"/>
                  </a:defRPr>
                </a:lvl1pPr>
              </a:lstStyle>
              <a:p>
                <a:pPr algn="ctr" fontAlgn="base">
                  <a:spcBef>
                    <a:spcPct val="0"/>
                  </a:spcBef>
                  <a:spcAft>
                    <a:spcPct val="0"/>
                  </a:spcAft>
                </a:pPr>
                <a:r>
                  <a:rPr lang="en-US" altLang="zh-CN" sz="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MPLS</a:t>
                </a:r>
                <a:endParaRPr sz="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grpSp>
      <p:sp>
        <p:nvSpPr>
          <p:cNvPr id="614" name="Shape 449"/>
          <p:cNvSpPr/>
          <p:nvPr/>
        </p:nvSpPr>
        <p:spPr bwMode="gray">
          <a:xfrm flipV="1">
            <a:off x="7771317" y="5968644"/>
            <a:ext cx="722980" cy="10014"/>
          </a:xfrm>
          <a:prstGeom prst="line">
            <a:avLst/>
          </a:prstGeom>
          <a:noFill/>
          <a:ln w="22225" cap="flat">
            <a:solidFill>
              <a:srgbClr val="00B0F0">
                <a:alpha val="60000"/>
              </a:srgbClr>
            </a:solidFill>
            <a:prstDash val="solid"/>
            <a:miter lim="800000"/>
          </a:ln>
          <a:effectLst/>
        </p:spPr>
        <p:txBody>
          <a:bodyPr wrap="square" lIns="68533" tIns="68533" rIns="68533" bIns="68533" numCol="1" anchor="t">
            <a:noAutofit/>
          </a:bodyPr>
          <a:lstStyle/>
          <a:p>
            <a:pPr defTabSz="1218712" fontAlgn="base">
              <a:spcBef>
                <a:spcPct val="0"/>
              </a:spcBef>
              <a:spcAft>
                <a:spcPct val="0"/>
              </a:spcAft>
            </a:pPr>
            <a:endParaRPr sz="1599">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5" name="文本框 614"/>
          <p:cNvSpPr txBox="1"/>
          <p:nvPr/>
        </p:nvSpPr>
        <p:spPr bwMode="gray">
          <a:xfrm>
            <a:off x="8883446" y="4858214"/>
            <a:ext cx="461665" cy="184666"/>
          </a:xfrm>
          <a:prstGeom prst="rect">
            <a:avLst/>
          </a:prstGeom>
          <a:noFill/>
        </p:spPr>
        <p:txBody>
          <a:bodyPr wrap="none" lIns="0" tIns="0" rIns="0" bIns="0" rtlCol="0">
            <a:spAutoFit/>
          </a:bodyPr>
          <a:lstStyle/>
          <a:p>
            <a:pPr algn="ctr" defTabSz="1218712" fontAlgn="base">
              <a:spcBef>
                <a:spcPct val="0"/>
              </a:spcBef>
              <a:spcAft>
                <a:spcPct val="0"/>
              </a:spcAft>
            </a:pPr>
            <a:r>
              <a:rPr lang="en-US" altLang="zh-CN" sz="1200" dirty="0" err="1">
                <a:solidFill>
                  <a:prstClr val="white"/>
                </a:solidFill>
                <a:latin typeface="Huawei Sans" panose="020C0503030203020204" pitchFamily="34" charset="0"/>
                <a:ea typeface="方正兰亭黑简体" panose="02000000000000000000" pitchFamily="2" charset="-122"/>
                <a:cs typeface="Huawei Sans" panose="020C0503030203020204" pitchFamily="34" charset="0"/>
              </a:rPr>
              <a:t>公有云</a:t>
            </a:r>
            <a:endParaRPr lang="en-US" sz="120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6" name="文本框 615"/>
          <p:cNvSpPr txBox="1"/>
          <p:nvPr/>
        </p:nvSpPr>
        <p:spPr bwMode="gray">
          <a:xfrm>
            <a:off x="9123155" y="5276416"/>
            <a:ext cx="923330" cy="369332"/>
          </a:xfrm>
          <a:prstGeom prst="rect">
            <a:avLst/>
          </a:prstGeom>
          <a:noFill/>
        </p:spPr>
        <p:txBody>
          <a:bodyPr wrap="none" lIns="0" tIns="0" rIns="0" bIns="0" rtlCol="0">
            <a:spAutoFit/>
          </a:bodyPr>
          <a:lstStyle/>
          <a:p>
            <a:pPr algn="ctr" defTabSz="1218712" fontAlgn="base">
              <a:spcBef>
                <a:spcPct val="0"/>
              </a:spcBef>
              <a:spcAft>
                <a:spcPct val="0"/>
              </a:spcAft>
            </a:pPr>
            <a:r>
              <a:rPr lang="zh-CN" altLang="en-US" sz="120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rPr>
              <a:t>总部</a:t>
            </a:r>
            <a:r>
              <a:rPr lang="en-US" altLang="zh-CN" sz="120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rPr>
              <a:t>/</a:t>
            </a:r>
          </a:p>
          <a:p>
            <a:pPr algn="ctr" defTabSz="1218712" fontAlgn="base">
              <a:spcBef>
                <a:spcPct val="0"/>
              </a:spcBef>
              <a:spcAft>
                <a:spcPct val="0"/>
              </a:spcAft>
            </a:pPr>
            <a:r>
              <a:rPr lang="zh-CN" altLang="en-US" sz="120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rPr>
              <a:t>数据中心站点</a:t>
            </a:r>
            <a:endParaRPr lang="en-US" sz="120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617" name="组合 285"/>
          <p:cNvGrpSpPr/>
          <p:nvPr/>
        </p:nvGrpSpPr>
        <p:grpSpPr bwMode="gray">
          <a:xfrm>
            <a:off x="8992570" y="5763723"/>
            <a:ext cx="324985" cy="318233"/>
            <a:chOff x="12326938" y="3265488"/>
            <a:chExt cx="1146175" cy="1122363"/>
          </a:xfrm>
          <a:solidFill>
            <a:srgbClr val="002060">
              <a:alpha val="49000"/>
            </a:srgbClr>
          </a:solidFill>
          <a:scene3d>
            <a:camera prst="orthographicFront">
              <a:rot lat="1800000" lon="0" rev="0"/>
            </a:camera>
            <a:lightRig rig="threePt" dir="t"/>
          </a:scene3d>
        </p:grpSpPr>
        <p:sp>
          <p:nvSpPr>
            <p:cNvPr id="654" name="Freeform 67"/>
            <p:cNvSpPr/>
            <p:nvPr/>
          </p:nvSpPr>
          <p:spPr bwMode="gray">
            <a:xfrm>
              <a:off x="13228638" y="3870325"/>
              <a:ext cx="244475" cy="268288"/>
            </a:xfrm>
            <a:custGeom>
              <a:avLst/>
              <a:gdLst/>
              <a:ahLst/>
              <a:cxnLst>
                <a:cxn ang="0">
                  <a:pos x="220" y="89"/>
                </a:cxn>
                <a:cxn ang="0">
                  <a:pos x="177" y="53"/>
                </a:cxn>
                <a:cxn ang="0">
                  <a:pos x="129" y="27"/>
                </a:cxn>
                <a:cxn ang="0">
                  <a:pos x="75" y="8"/>
                </a:cxn>
                <a:cxn ang="0">
                  <a:pos x="19" y="0"/>
                </a:cxn>
                <a:cxn ang="0">
                  <a:pos x="12" y="1"/>
                </a:cxn>
                <a:cxn ang="0">
                  <a:pos x="4" y="10"/>
                </a:cxn>
                <a:cxn ang="0">
                  <a:pos x="0" y="57"/>
                </a:cxn>
                <a:cxn ang="0">
                  <a:pos x="0" y="64"/>
                </a:cxn>
                <a:cxn ang="0">
                  <a:pos x="4" y="69"/>
                </a:cxn>
                <a:cxn ang="0">
                  <a:pos x="16" y="74"/>
                </a:cxn>
                <a:cxn ang="0">
                  <a:pos x="36" y="75"/>
                </a:cxn>
                <a:cxn ang="0">
                  <a:pos x="78" y="84"/>
                </a:cxn>
                <a:cxn ang="0">
                  <a:pos x="117" y="102"/>
                </a:cxn>
                <a:cxn ang="0">
                  <a:pos x="152" y="126"/>
                </a:cxn>
                <a:cxn ang="0">
                  <a:pos x="169" y="141"/>
                </a:cxn>
                <a:cxn ang="0">
                  <a:pos x="177" y="151"/>
                </a:cxn>
                <a:cxn ang="0">
                  <a:pos x="204" y="188"/>
                </a:cxn>
                <a:cxn ang="0">
                  <a:pos x="225" y="229"/>
                </a:cxn>
                <a:cxn ang="0">
                  <a:pos x="235" y="273"/>
                </a:cxn>
                <a:cxn ang="0">
                  <a:pos x="237" y="318"/>
                </a:cxn>
                <a:cxn ang="0">
                  <a:pos x="237" y="325"/>
                </a:cxn>
                <a:cxn ang="0">
                  <a:pos x="242" y="332"/>
                </a:cxn>
                <a:cxn ang="0">
                  <a:pos x="252" y="335"/>
                </a:cxn>
                <a:cxn ang="0">
                  <a:pos x="292" y="339"/>
                </a:cxn>
                <a:cxn ang="0">
                  <a:pos x="304" y="335"/>
                </a:cxn>
                <a:cxn ang="0">
                  <a:pos x="307" y="330"/>
                </a:cxn>
                <a:cxn ang="0">
                  <a:pos x="309" y="323"/>
                </a:cxn>
                <a:cxn ang="0">
                  <a:pos x="307" y="263"/>
                </a:cxn>
                <a:cxn ang="0">
                  <a:pos x="292" y="205"/>
                </a:cxn>
                <a:cxn ang="0">
                  <a:pos x="269" y="151"/>
                </a:cxn>
                <a:cxn ang="0">
                  <a:pos x="233" y="102"/>
                </a:cxn>
                <a:cxn ang="0">
                  <a:pos x="220" y="89"/>
                </a:cxn>
              </a:cxnLst>
              <a:rect l="0" t="0" r="r" b="b"/>
              <a:pathLst>
                <a:path w="309" h="339">
                  <a:moveTo>
                    <a:pt x="220" y="89"/>
                  </a:moveTo>
                  <a:lnTo>
                    <a:pt x="220" y="89"/>
                  </a:lnTo>
                  <a:lnTo>
                    <a:pt x="199" y="70"/>
                  </a:lnTo>
                  <a:lnTo>
                    <a:pt x="177" y="53"/>
                  </a:lnTo>
                  <a:lnTo>
                    <a:pt x="152" y="38"/>
                  </a:lnTo>
                  <a:lnTo>
                    <a:pt x="129" y="27"/>
                  </a:lnTo>
                  <a:lnTo>
                    <a:pt x="102" y="16"/>
                  </a:lnTo>
                  <a:lnTo>
                    <a:pt x="75" y="8"/>
                  </a:lnTo>
                  <a:lnTo>
                    <a:pt x="48" y="3"/>
                  </a:lnTo>
                  <a:lnTo>
                    <a:pt x="19" y="0"/>
                  </a:lnTo>
                  <a:lnTo>
                    <a:pt x="19" y="0"/>
                  </a:lnTo>
                  <a:lnTo>
                    <a:pt x="12" y="1"/>
                  </a:lnTo>
                  <a:lnTo>
                    <a:pt x="7" y="5"/>
                  </a:lnTo>
                  <a:lnTo>
                    <a:pt x="4" y="10"/>
                  </a:lnTo>
                  <a:lnTo>
                    <a:pt x="2" y="15"/>
                  </a:lnTo>
                  <a:lnTo>
                    <a:pt x="0" y="57"/>
                  </a:lnTo>
                  <a:lnTo>
                    <a:pt x="0" y="57"/>
                  </a:lnTo>
                  <a:lnTo>
                    <a:pt x="0" y="64"/>
                  </a:lnTo>
                  <a:lnTo>
                    <a:pt x="4" y="69"/>
                  </a:lnTo>
                  <a:lnTo>
                    <a:pt x="4" y="69"/>
                  </a:lnTo>
                  <a:lnTo>
                    <a:pt x="9" y="72"/>
                  </a:lnTo>
                  <a:lnTo>
                    <a:pt x="16" y="74"/>
                  </a:lnTo>
                  <a:lnTo>
                    <a:pt x="16" y="74"/>
                  </a:lnTo>
                  <a:lnTo>
                    <a:pt x="36" y="75"/>
                  </a:lnTo>
                  <a:lnTo>
                    <a:pt x="58" y="79"/>
                  </a:lnTo>
                  <a:lnTo>
                    <a:pt x="78" y="84"/>
                  </a:lnTo>
                  <a:lnTo>
                    <a:pt x="98" y="92"/>
                  </a:lnTo>
                  <a:lnTo>
                    <a:pt x="117" y="102"/>
                  </a:lnTo>
                  <a:lnTo>
                    <a:pt x="135" y="113"/>
                  </a:lnTo>
                  <a:lnTo>
                    <a:pt x="152" y="126"/>
                  </a:lnTo>
                  <a:lnTo>
                    <a:pt x="169" y="141"/>
                  </a:lnTo>
                  <a:lnTo>
                    <a:pt x="169" y="141"/>
                  </a:lnTo>
                  <a:lnTo>
                    <a:pt x="177" y="151"/>
                  </a:lnTo>
                  <a:lnTo>
                    <a:pt x="177" y="151"/>
                  </a:lnTo>
                  <a:lnTo>
                    <a:pt x="193" y="168"/>
                  </a:lnTo>
                  <a:lnTo>
                    <a:pt x="204" y="188"/>
                  </a:lnTo>
                  <a:lnTo>
                    <a:pt x="216" y="209"/>
                  </a:lnTo>
                  <a:lnTo>
                    <a:pt x="225" y="229"/>
                  </a:lnTo>
                  <a:lnTo>
                    <a:pt x="230" y="251"/>
                  </a:lnTo>
                  <a:lnTo>
                    <a:pt x="235" y="273"/>
                  </a:lnTo>
                  <a:lnTo>
                    <a:pt x="237" y="296"/>
                  </a:lnTo>
                  <a:lnTo>
                    <a:pt x="237" y="318"/>
                  </a:lnTo>
                  <a:lnTo>
                    <a:pt x="237" y="318"/>
                  </a:lnTo>
                  <a:lnTo>
                    <a:pt x="237" y="325"/>
                  </a:lnTo>
                  <a:lnTo>
                    <a:pt x="242" y="332"/>
                  </a:lnTo>
                  <a:lnTo>
                    <a:pt x="242" y="332"/>
                  </a:lnTo>
                  <a:lnTo>
                    <a:pt x="245" y="334"/>
                  </a:lnTo>
                  <a:lnTo>
                    <a:pt x="252" y="335"/>
                  </a:lnTo>
                  <a:lnTo>
                    <a:pt x="292" y="339"/>
                  </a:lnTo>
                  <a:lnTo>
                    <a:pt x="292" y="339"/>
                  </a:lnTo>
                  <a:lnTo>
                    <a:pt x="299" y="339"/>
                  </a:lnTo>
                  <a:lnTo>
                    <a:pt x="304" y="335"/>
                  </a:lnTo>
                  <a:lnTo>
                    <a:pt x="304" y="335"/>
                  </a:lnTo>
                  <a:lnTo>
                    <a:pt x="307" y="330"/>
                  </a:lnTo>
                  <a:lnTo>
                    <a:pt x="309" y="323"/>
                  </a:lnTo>
                  <a:lnTo>
                    <a:pt x="309" y="323"/>
                  </a:lnTo>
                  <a:lnTo>
                    <a:pt x="309" y="293"/>
                  </a:lnTo>
                  <a:lnTo>
                    <a:pt x="307" y="263"/>
                  </a:lnTo>
                  <a:lnTo>
                    <a:pt x="301" y="234"/>
                  </a:lnTo>
                  <a:lnTo>
                    <a:pt x="292" y="205"/>
                  </a:lnTo>
                  <a:lnTo>
                    <a:pt x="282" y="178"/>
                  </a:lnTo>
                  <a:lnTo>
                    <a:pt x="269" y="151"/>
                  </a:lnTo>
                  <a:lnTo>
                    <a:pt x="252" y="126"/>
                  </a:lnTo>
                  <a:lnTo>
                    <a:pt x="233" y="102"/>
                  </a:lnTo>
                  <a:lnTo>
                    <a:pt x="233" y="102"/>
                  </a:lnTo>
                  <a:lnTo>
                    <a:pt x="220" y="89"/>
                  </a:lnTo>
                  <a:lnTo>
                    <a:pt x="220" y="89"/>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lIns="182741" tIns="91369" rIns="182741" bIns="91369" rtlCol="0" anchor="ctr"/>
            <a:lstStyle/>
            <a:p>
              <a:pPr algn="ctr" defTabSz="1218712" fontAlgn="ctr">
                <a:lnSpc>
                  <a:spcPct val="150000"/>
                </a:lnSpc>
                <a:spcBef>
                  <a:spcPct val="0"/>
                </a:spcBef>
                <a:spcAft>
                  <a:spcPct val="0"/>
                </a:spcAft>
                <a:buClr>
                  <a:srgbClr val="CC9900"/>
                </a:buClr>
              </a:pPr>
              <a:endParaRPr lang="zh-CN" altLang="en-US" sz="100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55" name="Freeform 68"/>
            <p:cNvSpPr/>
            <p:nvPr/>
          </p:nvSpPr>
          <p:spPr bwMode="gray">
            <a:xfrm>
              <a:off x="13231812" y="3970338"/>
              <a:ext cx="142875" cy="152400"/>
            </a:xfrm>
            <a:custGeom>
              <a:avLst/>
              <a:gdLst/>
              <a:ahLst/>
              <a:cxnLst>
                <a:cxn ang="0">
                  <a:pos x="130" y="49"/>
                </a:cxn>
                <a:cxn ang="0">
                  <a:pos x="130" y="49"/>
                </a:cxn>
                <a:cxn ang="0">
                  <a:pos x="118" y="39"/>
                </a:cxn>
                <a:cxn ang="0">
                  <a:pos x="107" y="29"/>
                </a:cxn>
                <a:cxn ang="0">
                  <a:pos x="93" y="22"/>
                </a:cxn>
                <a:cxn ang="0">
                  <a:pos x="78" y="14"/>
                </a:cxn>
                <a:cxn ang="0">
                  <a:pos x="65" y="8"/>
                </a:cxn>
                <a:cxn ang="0">
                  <a:pos x="49" y="5"/>
                </a:cxn>
                <a:cxn ang="0">
                  <a:pos x="34" y="2"/>
                </a:cxn>
                <a:cxn ang="0">
                  <a:pos x="17" y="0"/>
                </a:cxn>
                <a:cxn ang="0">
                  <a:pos x="17" y="0"/>
                </a:cxn>
                <a:cxn ang="0">
                  <a:pos x="12" y="2"/>
                </a:cxn>
                <a:cxn ang="0">
                  <a:pos x="7" y="5"/>
                </a:cxn>
                <a:cxn ang="0">
                  <a:pos x="4" y="8"/>
                </a:cxn>
                <a:cxn ang="0">
                  <a:pos x="2" y="15"/>
                </a:cxn>
                <a:cxn ang="0">
                  <a:pos x="0" y="57"/>
                </a:cxn>
                <a:cxn ang="0">
                  <a:pos x="0" y="57"/>
                </a:cxn>
                <a:cxn ang="0">
                  <a:pos x="0" y="62"/>
                </a:cxn>
                <a:cxn ang="0">
                  <a:pos x="4" y="68"/>
                </a:cxn>
                <a:cxn ang="0">
                  <a:pos x="4" y="68"/>
                </a:cxn>
                <a:cxn ang="0">
                  <a:pos x="9" y="71"/>
                </a:cxn>
                <a:cxn ang="0">
                  <a:pos x="16" y="73"/>
                </a:cxn>
                <a:cxn ang="0">
                  <a:pos x="16" y="73"/>
                </a:cxn>
                <a:cxn ang="0">
                  <a:pos x="32" y="76"/>
                </a:cxn>
                <a:cxn ang="0">
                  <a:pos x="49" y="81"/>
                </a:cxn>
                <a:cxn ang="0">
                  <a:pos x="65" y="89"/>
                </a:cxn>
                <a:cxn ang="0">
                  <a:pos x="78" y="101"/>
                </a:cxn>
                <a:cxn ang="0">
                  <a:pos x="78" y="101"/>
                </a:cxn>
                <a:cxn ang="0">
                  <a:pos x="83" y="105"/>
                </a:cxn>
                <a:cxn ang="0">
                  <a:pos x="83" y="105"/>
                </a:cxn>
                <a:cxn ang="0">
                  <a:pos x="93" y="120"/>
                </a:cxn>
                <a:cxn ang="0">
                  <a:pos x="102" y="137"/>
                </a:cxn>
                <a:cxn ang="0">
                  <a:pos x="107" y="155"/>
                </a:cxn>
                <a:cxn ang="0">
                  <a:pos x="107" y="174"/>
                </a:cxn>
                <a:cxn ang="0">
                  <a:pos x="107" y="174"/>
                </a:cxn>
                <a:cxn ang="0">
                  <a:pos x="108" y="181"/>
                </a:cxn>
                <a:cxn ang="0">
                  <a:pos x="112" y="186"/>
                </a:cxn>
                <a:cxn ang="0">
                  <a:pos x="112" y="186"/>
                </a:cxn>
                <a:cxn ang="0">
                  <a:pos x="117" y="189"/>
                </a:cxn>
                <a:cxn ang="0">
                  <a:pos x="122" y="191"/>
                </a:cxn>
                <a:cxn ang="0">
                  <a:pos x="162" y="192"/>
                </a:cxn>
                <a:cxn ang="0">
                  <a:pos x="162" y="192"/>
                </a:cxn>
                <a:cxn ang="0">
                  <a:pos x="169" y="192"/>
                </a:cxn>
                <a:cxn ang="0">
                  <a:pos x="174" y="189"/>
                </a:cxn>
                <a:cxn ang="0">
                  <a:pos x="174" y="189"/>
                </a:cxn>
                <a:cxn ang="0">
                  <a:pos x="178" y="184"/>
                </a:cxn>
                <a:cxn ang="0">
                  <a:pos x="179" y="179"/>
                </a:cxn>
                <a:cxn ang="0">
                  <a:pos x="179" y="179"/>
                </a:cxn>
                <a:cxn ang="0">
                  <a:pos x="179" y="162"/>
                </a:cxn>
                <a:cxn ang="0">
                  <a:pos x="178" y="145"/>
                </a:cxn>
                <a:cxn ang="0">
                  <a:pos x="176" y="130"/>
                </a:cxn>
                <a:cxn ang="0">
                  <a:pos x="171" y="113"/>
                </a:cxn>
                <a:cxn ang="0">
                  <a:pos x="164" y="98"/>
                </a:cxn>
                <a:cxn ang="0">
                  <a:pos x="157" y="84"/>
                </a:cxn>
                <a:cxn ang="0">
                  <a:pos x="147" y="69"/>
                </a:cxn>
                <a:cxn ang="0">
                  <a:pos x="137" y="57"/>
                </a:cxn>
                <a:cxn ang="0">
                  <a:pos x="137" y="57"/>
                </a:cxn>
                <a:cxn ang="0">
                  <a:pos x="130" y="49"/>
                </a:cxn>
                <a:cxn ang="0">
                  <a:pos x="130" y="49"/>
                </a:cxn>
              </a:cxnLst>
              <a:rect l="0" t="0" r="r" b="b"/>
              <a:pathLst>
                <a:path w="179" h="192">
                  <a:moveTo>
                    <a:pt x="130" y="49"/>
                  </a:moveTo>
                  <a:lnTo>
                    <a:pt x="130" y="49"/>
                  </a:lnTo>
                  <a:lnTo>
                    <a:pt x="118" y="39"/>
                  </a:lnTo>
                  <a:lnTo>
                    <a:pt x="107" y="29"/>
                  </a:lnTo>
                  <a:lnTo>
                    <a:pt x="93" y="22"/>
                  </a:lnTo>
                  <a:lnTo>
                    <a:pt x="78" y="14"/>
                  </a:lnTo>
                  <a:lnTo>
                    <a:pt x="65" y="8"/>
                  </a:lnTo>
                  <a:lnTo>
                    <a:pt x="49" y="5"/>
                  </a:lnTo>
                  <a:lnTo>
                    <a:pt x="34" y="2"/>
                  </a:lnTo>
                  <a:lnTo>
                    <a:pt x="17" y="0"/>
                  </a:lnTo>
                  <a:lnTo>
                    <a:pt x="17" y="0"/>
                  </a:lnTo>
                  <a:lnTo>
                    <a:pt x="12" y="2"/>
                  </a:lnTo>
                  <a:lnTo>
                    <a:pt x="7" y="5"/>
                  </a:lnTo>
                  <a:lnTo>
                    <a:pt x="4" y="8"/>
                  </a:lnTo>
                  <a:lnTo>
                    <a:pt x="2" y="15"/>
                  </a:lnTo>
                  <a:lnTo>
                    <a:pt x="0" y="57"/>
                  </a:lnTo>
                  <a:lnTo>
                    <a:pt x="0" y="57"/>
                  </a:lnTo>
                  <a:lnTo>
                    <a:pt x="0" y="62"/>
                  </a:lnTo>
                  <a:lnTo>
                    <a:pt x="4" y="68"/>
                  </a:lnTo>
                  <a:lnTo>
                    <a:pt x="4" y="68"/>
                  </a:lnTo>
                  <a:lnTo>
                    <a:pt x="9" y="71"/>
                  </a:lnTo>
                  <a:lnTo>
                    <a:pt x="16" y="73"/>
                  </a:lnTo>
                  <a:lnTo>
                    <a:pt x="16" y="73"/>
                  </a:lnTo>
                  <a:lnTo>
                    <a:pt x="32" y="76"/>
                  </a:lnTo>
                  <a:lnTo>
                    <a:pt x="49" y="81"/>
                  </a:lnTo>
                  <a:lnTo>
                    <a:pt x="65" y="89"/>
                  </a:lnTo>
                  <a:lnTo>
                    <a:pt x="78" y="101"/>
                  </a:lnTo>
                  <a:lnTo>
                    <a:pt x="78" y="101"/>
                  </a:lnTo>
                  <a:lnTo>
                    <a:pt x="83" y="105"/>
                  </a:lnTo>
                  <a:lnTo>
                    <a:pt x="83" y="105"/>
                  </a:lnTo>
                  <a:lnTo>
                    <a:pt x="93" y="120"/>
                  </a:lnTo>
                  <a:lnTo>
                    <a:pt x="102" y="137"/>
                  </a:lnTo>
                  <a:lnTo>
                    <a:pt x="107" y="155"/>
                  </a:lnTo>
                  <a:lnTo>
                    <a:pt x="107" y="174"/>
                  </a:lnTo>
                  <a:lnTo>
                    <a:pt x="107" y="174"/>
                  </a:lnTo>
                  <a:lnTo>
                    <a:pt x="108" y="181"/>
                  </a:lnTo>
                  <a:lnTo>
                    <a:pt x="112" y="186"/>
                  </a:lnTo>
                  <a:lnTo>
                    <a:pt x="112" y="186"/>
                  </a:lnTo>
                  <a:lnTo>
                    <a:pt x="117" y="189"/>
                  </a:lnTo>
                  <a:lnTo>
                    <a:pt x="122" y="191"/>
                  </a:lnTo>
                  <a:lnTo>
                    <a:pt x="162" y="192"/>
                  </a:lnTo>
                  <a:lnTo>
                    <a:pt x="162" y="192"/>
                  </a:lnTo>
                  <a:lnTo>
                    <a:pt x="169" y="192"/>
                  </a:lnTo>
                  <a:lnTo>
                    <a:pt x="174" y="189"/>
                  </a:lnTo>
                  <a:lnTo>
                    <a:pt x="174" y="189"/>
                  </a:lnTo>
                  <a:lnTo>
                    <a:pt x="178" y="184"/>
                  </a:lnTo>
                  <a:lnTo>
                    <a:pt x="179" y="179"/>
                  </a:lnTo>
                  <a:lnTo>
                    <a:pt x="179" y="179"/>
                  </a:lnTo>
                  <a:lnTo>
                    <a:pt x="179" y="162"/>
                  </a:lnTo>
                  <a:lnTo>
                    <a:pt x="178" y="145"/>
                  </a:lnTo>
                  <a:lnTo>
                    <a:pt x="176" y="130"/>
                  </a:lnTo>
                  <a:lnTo>
                    <a:pt x="171" y="113"/>
                  </a:lnTo>
                  <a:lnTo>
                    <a:pt x="164" y="98"/>
                  </a:lnTo>
                  <a:lnTo>
                    <a:pt x="157" y="84"/>
                  </a:lnTo>
                  <a:lnTo>
                    <a:pt x="147" y="69"/>
                  </a:lnTo>
                  <a:lnTo>
                    <a:pt x="137" y="57"/>
                  </a:lnTo>
                  <a:lnTo>
                    <a:pt x="137" y="57"/>
                  </a:lnTo>
                  <a:lnTo>
                    <a:pt x="130" y="49"/>
                  </a:lnTo>
                  <a:lnTo>
                    <a:pt x="130" y="49"/>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lIns="182741" tIns="91369" rIns="182741" bIns="91369" rtlCol="0" anchor="ctr"/>
            <a:lstStyle/>
            <a:p>
              <a:pPr algn="ctr" defTabSz="1218712" fontAlgn="ctr">
                <a:lnSpc>
                  <a:spcPct val="150000"/>
                </a:lnSpc>
                <a:spcBef>
                  <a:spcPct val="0"/>
                </a:spcBef>
                <a:spcAft>
                  <a:spcPct val="0"/>
                </a:spcAft>
                <a:buClr>
                  <a:srgbClr val="CC9900"/>
                </a:buClr>
              </a:pPr>
              <a:endParaRPr lang="zh-CN" altLang="en-US" sz="100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56" name="Freeform 69"/>
            <p:cNvSpPr/>
            <p:nvPr/>
          </p:nvSpPr>
          <p:spPr bwMode="gray">
            <a:xfrm>
              <a:off x="12326938" y="3529013"/>
              <a:ext cx="246063" cy="268288"/>
            </a:xfrm>
            <a:custGeom>
              <a:avLst/>
              <a:gdLst/>
              <a:ahLst/>
              <a:cxnLst>
                <a:cxn ang="0">
                  <a:pos x="132" y="150"/>
                </a:cxn>
                <a:cxn ang="0">
                  <a:pos x="142" y="140"/>
                </a:cxn>
                <a:cxn ang="0">
                  <a:pos x="174" y="113"/>
                </a:cxn>
                <a:cxn ang="0">
                  <a:pos x="213" y="93"/>
                </a:cxn>
                <a:cxn ang="0">
                  <a:pos x="253" y="80"/>
                </a:cxn>
                <a:cxn ang="0">
                  <a:pos x="295" y="73"/>
                </a:cxn>
                <a:cxn ang="0">
                  <a:pos x="300" y="71"/>
                </a:cxn>
                <a:cxn ang="0">
                  <a:pos x="305" y="68"/>
                </a:cxn>
                <a:cxn ang="0">
                  <a:pos x="311" y="56"/>
                </a:cxn>
                <a:cxn ang="0">
                  <a:pos x="309" y="16"/>
                </a:cxn>
                <a:cxn ang="0">
                  <a:pos x="304" y="5"/>
                </a:cxn>
                <a:cxn ang="0">
                  <a:pos x="292" y="0"/>
                </a:cxn>
                <a:cxn ang="0">
                  <a:pos x="263" y="4"/>
                </a:cxn>
                <a:cxn ang="0">
                  <a:pos x="208" y="16"/>
                </a:cxn>
                <a:cxn ang="0">
                  <a:pos x="157" y="39"/>
                </a:cxn>
                <a:cxn ang="0">
                  <a:pos x="111" y="69"/>
                </a:cxn>
                <a:cxn ang="0">
                  <a:pos x="90" y="90"/>
                </a:cxn>
                <a:cxn ang="0">
                  <a:pos x="78" y="103"/>
                </a:cxn>
                <a:cxn ang="0">
                  <a:pos x="42" y="152"/>
                </a:cxn>
                <a:cxn ang="0">
                  <a:pos x="17" y="206"/>
                </a:cxn>
                <a:cxn ang="0">
                  <a:pos x="4" y="263"/>
                </a:cxn>
                <a:cxn ang="0">
                  <a:pos x="2" y="324"/>
                </a:cxn>
                <a:cxn ang="0">
                  <a:pos x="4" y="329"/>
                </a:cxn>
                <a:cxn ang="0">
                  <a:pos x="7" y="334"/>
                </a:cxn>
                <a:cxn ang="0">
                  <a:pos x="19" y="339"/>
                </a:cxn>
                <a:cxn ang="0">
                  <a:pos x="59" y="336"/>
                </a:cxn>
                <a:cxn ang="0">
                  <a:pos x="69" y="331"/>
                </a:cxn>
                <a:cxn ang="0">
                  <a:pos x="73" y="326"/>
                </a:cxn>
                <a:cxn ang="0">
                  <a:pos x="74" y="319"/>
                </a:cxn>
                <a:cxn ang="0">
                  <a:pos x="76" y="274"/>
                </a:cxn>
                <a:cxn ang="0">
                  <a:pos x="86" y="230"/>
                </a:cxn>
                <a:cxn ang="0">
                  <a:pos x="105" y="188"/>
                </a:cxn>
                <a:cxn ang="0">
                  <a:pos x="132" y="150"/>
                </a:cxn>
              </a:cxnLst>
              <a:rect l="0" t="0" r="r" b="b"/>
              <a:pathLst>
                <a:path w="311" h="339">
                  <a:moveTo>
                    <a:pt x="132" y="150"/>
                  </a:moveTo>
                  <a:lnTo>
                    <a:pt x="132" y="150"/>
                  </a:lnTo>
                  <a:lnTo>
                    <a:pt x="142" y="140"/>
                  </a:lnTo>
                  <a:lnTo>
                    <a:pt x="142" y="140"/>
                  </a:lnTo>
                  <a:lnTo>
                    <a:pt x="157" y="127"/>
                  </a:lnTo>
                  <a:lnTo>
                    <a:pt x="174" y="113"/>
                  </a:lnTo>
                  <a:lnTo>
                    <a:pt x="192" y="102"/>
                  </a:lnTo>
                  <a:lnTo>
                    <a:pt x="213" y="93"/>
                  </a:lnTo>
                  <a:lnTo>
                    <a:pt x="231" y="85"/>
                  </a:lnTo>
                  <a:lnTo>
                    <a:pt x="253" y="80"/>
                  </a:lnTo>
                  <a:lnTo>
                    <a:pt x="273" y="75"/>
                  </a:lnTo>
                  <a:lnTo>
                    <a:pt x="295" y="73"/>
                  </a:lnTo>
                  <a:lnTo>
                    <a:pt x="295" y="73"/>
                  </a:lnTo>
                  <a:lnTo>
                    <a:pt x="300" y="71"/>
                  </a:lnTo>
                  <a:lnTo>
                    <a:pt x="305" y="68"/>
                  </a:lnTo>
                  <a:lnTo>
                    <a:pt x="305" y="68"/>
                  </a:lnTo>
                  <a:lnTo>
                    <a:pt x="309" y="63"/>
                  </a:lnTo>
                  <a:lnTo>
                    <a:pt x="311" y="56"/>
                  </a:lnTo>
                  <a:lnTo>
                    <a:pt x="309" y="16"/>
                  </a:lnTo>
                  <a:lnTo>
                    <a:pt x="309" y="16"/>
                  </a:lnTo>
                  <a:lnTo>
                    <a:pt x="307" y="9"/>
                  </a:lnTo>
                  <a:lnTo>
                    <a:pt x="304" y="5"/>
                  </a:lnTo>
                  <a:lnTo>
                    <a:pt x="299" y="2"/>
                  </a:lnTo>
                  <a:lnTo>
                    <a:pt x="292" y="0"/>
                  </a:lnTo>
                  <a:lnTo>
                    <a:pt x="292" y="0"/>
                  </a:lnTo>
                  <a:lnTo>
                    <a:pt x="263" y="4"/>
                  </a:lnTo>
                  <a:lnTo>
                    <a:pt x="236" y="9"/>
                  </a:lnTo>
                  <a:lnTo>
                    <a:pt x="208" y="16"/>
                  </a:lnTo>
                  <a:lnTo>
                    <a:pt x="182" y="26"/>
                  </a:lnTo>
                  <a:lnTo>
                    <a:pt x="157" y="39"/>
                  </a:lnTo>
                  <a:lnTo>
                    <a:pt x="133" y="53"/>
                  </a:lnTo>
                  <a:lnTo>
                    <a:pt x="111" y="69"/>
                  </a:lnTo>
                  <a:lnTo>
                    <a:pt x="90" y="90"/>
                  </a:lnTo>
                  <a:lnTo>
                    <a:pt x="90" y="90"/>
                  </a:lnTo>
                  <a:lnTo>
                    <a:pt x="78" y="103"/>
                  </a:lnTo>
                  <a:lnTo>
                    <a:pt x="78" y="103"/>
                  </a:lnTo>
                  <a:lnTo>
                    <a:pt x="59" y="127"/>
                  </a:lnTo>
                  <a:lnTo>
                    <a:pt x="42" y="152"/>
                  </a:lnTo>
                  <a:lnTo>
                    <a:pt x="29" y="177"/>
                  </a:lnTo>
                  <a:lnTo>
                    <a:pt x="17" y="206"/>
                  </a:lnTo>
                  <a:lnTo>
                    <a:pt x="9" y="235"/>
                  </a:lnTo>
                  <a:lnTo>
                    <a:pt x="4" y="263"/>
                  </a:lnTo>
                  <a:lnTo>
                    <a:pt x="0" y="294"/>
                  </a:lnTo>
                  <a:lnTo>
                    <a:pt x="2" y="324"/>
                  </a:lnTo>
                  <a:lnTo>
                    <a:pt x="2" y="324"/>
                  </a:lnTo>
                  <a:lnTo>
                    <a:pt x="4" y="329"/>
                  </a:lnTo>
                  <a:lnTo>
                    <a:pt x="7" y="334"/>
                  </a:lnTo>
                  <a:lnTo>
                    <a:pt x="7" y="334"/>
                  </a:lnTo>
                  <a:lnTo>
                    <a:pt x="12" y="338"/>
                  </a:lnTo>
                  <a:lnTo>
                    <a:pt x="19" y="339"/>
                  </a:lnTo>
                  <a:lnTo>
                    <a:pt x="59" y="336"/>
                  </a:lnTo>
                  <a:lnTo>
                    <a:pt x="59" y="336"/>
                  </a:lnTo>
                  <a:lnTo>
                    <a:pt x="64" y="334"/>
                  </a:lnTo>
                  <a:lnTo>
                    <a:pt x="69" y="331"/>
                  </a:lnTo>
                  <a:lnTo>
                    <a:pt x="69" y="331"/>
                  </a:lnTo>
                  <a:lnTo>
                    <a:pt x="73" y="326"/>
                  </a:lnTo>
                  <a:lnTo>
                    <a:pt x="74" y="319"/>
                  </a:lnTo>
                  <a:lnTo>
                    <a:pt x="74" y="319"/>
                  </a:lnTo>
                  <a:lnTo>
                    <a:pt x="74" y="296"/>
                  </a:lnTo>
                  <a:lnTo>
                    <a:pt x="76" y="274"/>
                  </a:lnTo>
                  <a:lnTo>
                    <a:pt x="79" y="252"/>
                  </a:lnTo>
                  <a:lnTo>
                    <a:pt x="86" y="230"/>
                  </a:lnTo>
                  <a:lnTo>
                    <a:pt x="95" y="208"/>
                  </a:lnTo>
                  <a:lnTo>
                    <a:pt x="105" y="188"/>
                  </a:lnTo>
                  <a:lnTo>
                    <a:pt x="118" y="169"/>
                  </a:lnTo>
                  <a:lnTo>
                    <a:pt x="132" y="150"/>
                  </a:lnTo>
                  <a:lnTo>
                    <a:pt x="132" y="150"/>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lIns="182741" tIns="91369" rIns="182741" bIns="91369" rtlCol="0" anchor="ctr"/>
            <a:lstStyle/>
            <a:p>
              <a:pPr algn="ctr" defTabSz="1218712" fontAlgn="ctr">
                <a:lnSpc>
                  <a:spcPct val="150000"/>
                </a:lnSpc>
                <a:spcBef>
                  <a:spcPct val="0"/>
                </a:spcBef>
                <a:spcAft>
                  <a:spcPct val="0"/>
                </a:spcAft>
                <a:buClr>
                  <a:srgbClr val="CC9900"/>
                </a:buClr>
              </a:pPr>
              <a:endParaRPr lang="zh-CN" altLang="en-US" sz="100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57" name="Freeform 70"/>
            <p:cNvSpPr/>
            <p:nvPr/>
          </p:nvSpPr>
          <p:spPr bwMode="gray">
            <a:xfrm>
              <a:off x="12425363" y="3629025"/>
              <a:ext cx="144463" cy="152400"/>
            </a:xfrm>
            <a:custGeom>
              <a:avLst/>
              <a:gdLst/>
              <a:ahLst/>
              <a:cxnLst>
                <a:cxn ang="0">
                  <a:pos x="175" y="67"/>
                </a:cxn>
                <a:cxn ang="0">
                  <a:pos x="175" y="67"/>
                </a:cxn>
                <a:cxn ang="0">
                  <a:pos x="179" y="62"/>
                </a:cxn>
                <a:cxn ang="0">
                  <a:pos x="180" y="56"/>
                </a:cxn>
                <a:cxn ang="0">
                  <a:pos x="179" y="15"/>
                </a:cxn>
                <a:cxn ang="0">
                  <a:pos x="179" y="15"/>
                </a:cxn>
                <a:cxn ang="0">
                  <a:pos x="177" y="8"/>
                </a:cxn>
                <a:cxn ang="0">
                  <a:pos x="174" y="3"/>
                </a:cxn>
                <a:cxn ang="0">
                  <a:pos x="169" y="0"/>
                </a:cxn>
                <a:cxn ang="0">
                  <a:pos x="162" y="0"/>
                </a:cxn>
                <a:cxn ang="0">
                  <a:pos x="162" y="0"/>
                </a:cxn>
                <a:cxn ang="0">
                  <a:pos x="147" y="2"/>
                </a:cxn>
                <a:cxn ang="0">
                  <a:pos x="132" y="3"/>
                </a:cxn>
                <a:cxn ang="0">
                  <a:pos x="116" y="8"/>
                </a:cxn>
                <a:cxn ang="0">
                  <a:pos x="101" y="13"/>
                </a:cxn>
                <a:cxn ang="0">
                  <a:pos x="88" y="20"/>
                </a:cxn>
                <a:cxn ang="0">
                  <a:pos x="74" y="29"/>
                </a:cxn>
                <a:cxn ang="0">
                  <a:pos x="61" y="39"/>
                </a:cxn>
                <a:cxn ang="0">
                  <a:pos x="51" y="49"/>
                </a:cxn>
                <a:cxn ang="0">
                  <a:pos x="51" y="49"/>
                </a:cxn>
                <a:cxn ang="0">
                  <a:pos x="42" y="56"/>
                </a:cxn>
                <a:cxn ang="0">
                  <a:pos x="42" y="56"/>
                </a:cxn>
                <a:cxn ang="0">
                  <a:pos x="32" y="69"/>
                </a:cxn>
                <a:cxn ang="0">
                  <a:pos x="24" y="83"/>
                </a:cxn>
                <a:cxn ang="0">
                  <a:pos x="15" y="98"/>
                </a:cxn>
                <a:cxn ang="0">
                  <a:pos x="10" y="113"/>
                </a:cxn>
                <a:cxn ang="0">
                  <a:pos x="5" y="128"/>
                </a:cxn>
                <a:cxn ang="0">
                  <a:pos x="2" y="145"/>
                </a:cxn>
                <a:cxn ang="0">
                  <a:pos x="0" y="162"/>
                </a:cxn>
                <a:cxn ang="0">
                  <a:pos x="0" y="179"/>
                </a:cxn>
                <a:cxn ang="0">
                  <a:pos x="0" y="179"/>
                </a:cxn>
                <a:cxn ang="0">
                  <a:pos x="2" y="184"/>
                </a:cxn>
                <a:cxn ang="0">
                  <a:pos x="5" y="189"/>
                </a:cxn>
                <a:cxn ang="0">
                  <a:pos x="5" y="189"/>
                </a:cxn>
                <a:cxn ang="0">
                  <a:pos x="12" y="192"/>
                </a:cxn>
                <a:cxn ang="0">
                  <a:pos x="17" y="192"/>
                </a:cxn>
                <a:cxn ang="0">
                  <a:pos x="59" y="189"/>
                </a:cxn>
                <a:cxn ang="0">
                  <a:pos x="59" y="189"/>
                </a:cxn>
                <a:cxn ang="0">
                  <a:pos x="64" y="189"/>
                </a:cxn>
                <a:cxn ang="0">
                  <a:pos x="69" y="185"/>
                </a:cxn>
                <a:cxn ang="0">
                  <a:pos x="69" y="185"/>
                </a:cxn>
                <a:cxn ang="0">
                  <a:pos x="72" y="179"/>
                </a:cxn>
                <a:cxn ang="0">
                  <a:pos x="72" y="172"/>
                </a:cxn>
                <a:cxn ang="0">
                  <a:pos x="72" y="172"/>
                </a:cxn>
                <a:cxn ang="0">
                  <a:pos x="74" y="153"/>
                </a:cxn>
                <a:cxn ang="0">
                  <a:pos x="79" y="136"/>
                </a:cxn>
                <a:cxn ang="0">
                  <a:pos x="86" y="120"/>
                </a:cxn>
                <a:cxn ang="0">
                  <a:pos x="98" y="104"/>
                </a:cxn>
                <a:cxn ang="0">
                  <a:pos x="98" y="104"/>
                </a:cxn>
                <a:cxn ang="0">
                  <a:pos x="101" y="101"/>
                </a:cxn>
                <a:cxn ang="0">
                  <a:pos x="101" y="101"/>
                </a:cxn>
                <a:cxn ang="0">
                  <a:pos x="115" y="89"/>
                </a:cxn>
                <a:cxn ang="0">
                  <a:pos x="130" y="81"/>
                </a:cxn>
                <a:cxn ang="0">
                  <a:pos x="147" y="74"/>
                </a:cxn>
                <a:cxn ang="0">
                  <a:pos x="165" y="72"/>
                </a:cxn>
                <a:cxn ang="0">
                  <a:pos x="165" y="72"/>
                </a:cxn>
                <a:cxn ang="0">
                  <a:pos x="170" y="71"/>
                </a:cxn>
                <a:cxn ang="0">
                  <a:pos x="175" y="67"/>
                </a:cxn>
                <a:cxn ang="0">
                  <a:pos x="175" y="67"/>
                </a:cxn>
              </a:cxnLst>
              <a:rect l="0" t="0" r="r" b="b"/>
              <a:pathLst>
                <a:path w="180" h="192">
                  <a:moveTo>
                    <a:pt x="175" y="67"/>
                  </a:moveTo>
                  <a:lnTo>
                    <a:pt x="175" y="67"/>
                  </a:lnTo>
                  <a:lnTo>
                    <a:pt x="179" y="62"/>
                  </a:lnTo>
                  <a:lnTo>
                    <a:pt x="180" y="56"/>
                  </a:lnTo>
                  <a:lnTo>
                    <a:pt x="179" y="15"/>
                  </a:lnTo>
                  <a:lnTo>
                    <a:pt x="179" y="15"/>
                  </a:lnTo>
                  <a:lnTo>
                    <a:pt x="177" y="8"/>
                  </a:lnTo>
                  <a:lnTo>
                    <a:pt x="174" y="3"/>
                  </a:lnTo>
                  <a:lnTo>
                    <a:pt x="169" y="0"/>
                  </a:lnTo>
                  <a:lnTo>
                    <a:pt x="162" y="0"/>
                  </a:lnTo>
                  <a:lnTo>
                    <a:pt x="162" y="0"/>
                  </a:lnTo>
                  <a:lnTo>
                    <a:pt x="147" y="2"/>
                  </a:lnTo>
                  <a:lnTo>
                    <a:pt x="132" y="3"/>
                  </a:lnTo>
                  <a:lnTo>
                    <a:pt x="116" y="8"/>
                  </a:lnTo>
                  <a:lnTo>
                    <a:pt x="101" y="13"/>
                  </a:lnTo>
                  <a:lnTo>
                    <a:pt x="88" y="20"/>
                  </a:lnTo>
                  <a:lnTo>
                    <a:pt x="74" y="29"/>
                  </a:lnTo>
                  <a:lnTo>
                    <a:pt x="61" y="39"/>
                  </a:lnTo>
                  <a:lnTo>
                    <a:pt x="51" y="49"/>
                  </a:lnTo>
                  <a:lnTo>
                    <a:pt x="51" y="49"/>
                  </a:lnTo>
                  <a:lnTo>
                    <a:pt x="42" y="56"/>
                  </a:lnTo>
                  <a:lnTo>
                    <a:pt x="42" y="56"/>
                  </a:lnTo>
                  <a:lnTo>
                    <a:pt x="32" y="69"/>
                  </a:lnTo>
                  <a:lnTo>
                    <a:pt x="24" y="83"/>
                  </a:lnTo>
                  <a:lnTo>
                    <a:pt x="15" y="98"/>
                  </a:lnTo>
                  <a:lnTo>
                    <a:pt x="10" y="113"/>
                  </a:lnTo>
                  <a:lnTo>
                    <a:pt x="5" y="128"/>
                  </a:lnTo>
                  <a:lnTo>
                    <a:pt x="2" y="145"/>
                  </a:lnTo>
                  <a:lnTo>
                    <a:pt x="0" y="162"/>
                  </a:lnTo>
                  <a:lnTo>
                    <a:pt x="0" y="179"/>
                  </a:lnTo>
                  <a:lnTo>
                    <a:pt x="0" y="179"/>
                  </a:lnTo>
                  <a:lnTo>
                    <a:pt x="2" y="184"/>
                  </a:lnTo>
                  <a:lnTo>
                    <a:pt x="5" y="189"/>
                  </a:lnTo>
                  <a:lnTo>
                    <a:pt x="5" y="189"/>
                  </a:lnTo>
                  <a:lnTo>
                    <a:pt x="12" y="192"/>
                  </a:lnTo>
                  <a:lnTo>
                    <a:pt x="17" y="192"/>
                  </a:lnTo>
                  <a:lnTo>
                    <a:pt x="59" y="189"/>
                  </a:lnTo>
                  <a:lnTo>
                    <a:pt x="59" y="189"/>
                  </a:lnTo>
                  <a:lnTo>
                    <a:pt x="64" y="189"/>
                  </a:lnTo>
                  <a:lnTo>
                    <a:pt x="69" y="185"/>
                  </a:lnTo>
                  <a:lnTo>
                    <a:pt x="69" y="185"/>
                  </a:lnTo>
                  <a:lnTo>
                    <a:pt x="72" y="179"/>
                  </a:lnTo>
                  <a:lnTo>
                    <a:pt x="72" y="172"/>
                  </a:lnTo>
                  <a:lnTo>
                    <a:pt x="72" y="172"/>
                  </a:lnTo>
                  <a:lnTo>
                    <a:pt x="74" y="153"/>
                  </a:lnTo>
                  <a:lnTo>
                    <a:pt x="79" y="136"/>
                  </a:lnTo>
                  <a:lnTo>
                    <a:pt x="86" y="120"/>
                  </a:lnTo>
                  <a:lnTo>
                    <a:pt x="98" y="104"/>
                  </a:lnTo>
                  <a:lnTo>
                    <a:pt x="98" y="104"/>
                  </a:lnTo>
                  <a:lnTo>
                    <a:pt x="101" y="101"/>
                  </a:lnTo>
                  <a:lnTo>
                    <a:pt x="101" y="101"/>
                  </a:lnTo>
                  <a:lnTo>
                    <a:pt x="115" y="89"/>
                  </a:lnTo>
                  <a:lnTo>
                    <a:pt x="130" y="81"/>
                  </a:lnTo>
                  <a:lnTo>
                    <a:pt x="147" y="74"/>
                  </a:lnTo>
                  <a:lnTo>
                    <a:pt x="165" y="72"/>
                  </a:lnTo>
                  <a:lnTo>
                    <a:pt x="165" y="72"/>
                  </a:lnTo>
                  <a:lnTo>
                    <a:pt x="170" y="71"/>
                  </a:lnTo>
                  <a:lnTo>
                    <a:pt x="175" y="67"/>
                  </a:lnTo>
                  <a:lnTo>
                    <a:pt x="175" y="67"/>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lIns="182741" tIns="91369" rIns="182741" bIns="91369" rtlCol="0" anchor="ctr"/>
            <a:lstStyle/>
            <a:p>
              <a:pPr algn="ctr" defTabSz="1218712" fontAlgn="ctr">
                <a:lnSpc>
                  <a:spcPct val="150000"/>
                </a:lnSpc>
                <a:spcBef>
                  <a:spcPct val="0"/>
                </a:spcBef>
                <a:spcAft>
                  <a:spcPct val="0"/>
                </a:spcAft>
                <a:buClr>
                  <a:srgbClr val="CC9900"/>
                </a:buClr>
              </a:pPr>
              <a:endParaRPr lang="zh-CN" altLang="en-US" sz="100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58" name="Freeform 71"/>
            <p:cNvSpPr>
              <a:spLocks noEditPoints="1"/>
            </p:cNvSpPr>
            <p:nvPr/>
          </p:nvSpPr>
          <p:spPr bwMode="gray">
            <a:xfrm>
              <a:off x="12517438" y="3265488"/>
              <a:ext cx="746125" cy="1122363"/>
            </a:xfrm>
            <a:custGeom>
              <a:avLst/>
              <a:gdLst/>
              <a:ahLst/>
              <a:cxnLst>
                <a:cxn ang="0">
                  <a:pos x="877" y="1278"/>
                </a:cxn>
                <a:cxn ang="0">
                  <a:pos x="862" y="1272"/>
                </a:cxn>
                <a:cxn ang="0">
                  <a:pos x="711" y="145"/>
                </a:cxn>
                <a:cxn ang="0">
                  <a:pos x="711" y="5"/>
                </a:cxn>
                <a:cxn ang="0">
                  <a:pos x="700" y="0"/>
                </a:cxn>
                <a:cxn ang="0">
                  <a:pos x="372" y="55"/>
                </a:cxn>
                <a:cxn ang="0">
                  <a:pos x="366" y="69"/>
                </a:cxn>
                <a:cxn ang="0">
                  <a:pos x="180" y="1272"/>
                </a:cxn>
                <a:cxn ang="0">
                  <a:pos x="72" y="1272"/>
                </a:cxn>
                <a:cxn ang="0">
                  <a:pos x="59" y="1282"/>
                </a:cxn>
                <a:cxn ang="0">
                  <a:pos x="0" y="1407"/>
                </a:cxn>
                <a:cxn ang="0">
                  <a:pos x="6" y="1413"/>
                </a:cxn>
                <a:cxn ang="0">
                  <a:pos x="936" y="1413"/>
                </a:cxn>
                <a:cxn ang="0">
                  <a:pos x="939" y="1403"/>
                </a:cxn>
                <a:cxn ang="0">
                  <a:pos x="570" y="673"/>
                </a:cxn>
                <a:cxn ang="0">
                  <a:pos x="561" y="669"/>
                </a:cxn>
                <a:cxn ang="0">
                  <a:pos x="558" y="553"/>
                </a:cxn>
                <a:cxn ang="0">
                  <a:pos x="561" y="545"/>
                </a:cxn>
                <a:cxn ang="0">
                  <a:pos x="679" y="541"/>
                </a:cxn>
                <a:cxn ang="0">
                  <a:pos x="688" y="545"/>
                </a:cxn>
                <a:cxn ang="0">
                  <a:pos x="691" y="661"/>
                </a:cxn>
                <a:cxn ang="0">
                  <a:pos x="688" y="669"/>
                </a:cxn>
                <a:cxn ang="0">
                  <a:pos x="679" y="673"/>
                </a:cxn>
                <a:cxn ang="0">
                  <a:pos x="691" y="1186"/>
                </a:cxn>
                <a:cxn ang="0">
                  <a:pos x="685" y="1196"/>
                </a:cxn>
                <a:cxn ang="0">
                  <a:pos x="570" y="1197"/>
                </a:cxn>
                <a:cxn ang="0">
                  <a:pos x="558" y="1191"/>
                </a:cxn>
                <a:cxn ang="0">
                  <a:pos x="558" y="1078"/>
                </a:cxn>
                <a:cxn ang="0">
                  <a:pos x="565" y="1068"/>
                </a:cxn>
                <a:cxn ang="0">
                  <a:pos x="679" y="1066"/>
                </a:cxn>
                <a:cxn ang="0">
                  <a:pos x="691" y="1074"/>
                </a:cxn>
                <a:cxn ang="0">
                  <a:pos x="438" y="862"/>
                </a:cxn>
                <a:cxn ang="0">
                  <a:pos x="437" y="973"/>
                </a:cxn>
                <a:cxn ang="0">
                  <a:pos x="426" y="980"/>
                </a:cxn>
                <a:cxn ang="0">
                  <a:pos x="312" y="980"/>
                </a:cxn>
                <a:cxn ang="0">
                  <a:pos x="303" y="968"/>
                </a:cxn>
                <a:cxn ang="0">
                  <a:pos x="305" y="857"/>
                </a:cxn>
                <a:cxn ang="0">
                  <a:pos x="315" y="850"/>
                </a:cxn>
                <a:cxn ang="0">
                  <a:pos x="431" y="850"/>
                </a:cxn>
                <a:cxn ang="0">
                  <a:pos x="438" y="862"/>
                </a:cxn>
                <a:cxn ang="0">
                  <a:pos x="278" y="344"/>
                </a:cxn>
                <a:cxn ang="0">
                  <a:pos x="286" y="332"/>
                </a:cxn>
                <a:cxn ang="0">
                  <a:pos x="401" y="330"/>
                </a:cxn>
                <a:cxn ang="0">
                  <a:pos x="413" y="339"/>
                </a:cxn>
                <a:cxn ang="0">
                  <a:pos x="413" y="450"/>
                </a:cxn>
                <a:cxn ang="0">
                  <a:pos x="406" y="462"/>
                </a:cxn>
                <a:cxn ang="0">
                  <a:pos x="291" y="462"/>
                </a:cxn>
                <a:cxn ang="0">
                  <a:pos x="280" y="455"/>
                </a:cxn>
              </a:cxnLst>
              <a:rect l="0" t="0" r="r" b="b"/>
              <a:pathLst>
                <a:path w="939" h="1413">
                  <a:moveTo>
                    <a:pt x="880" y="1282"/>
                  </a:moveTo>
                  <a:lnTo>
                    <a:pt x="880" y="1282"/>
                  </a:lnTo>
                  <a:lnTo>
                    <a:pt x="877" y="1278"/>
                  </a:lnTo>
                  <a:lnTo>
                    <a:pt x="872" y="1275"/>
                  </a:lnTo>
                  <a:lnTo>
                    <a:pt x="867" y="1272"/>
                  </a:lnTo>
                  <a:lnTo>
                    <a:pt x="862" y="1272"/>
                  </a:lnTo>
                  <a:lnTo>
                    <a:pt x="784" y="1272"/>
                  </a:lnTo>
                  <a:lnTo>
                    <a:pt x="784" y="145"/>
                  </a:lnTo>
                  <a:lnTo>
                    <a:pt x="711" y="145"/>
                  </a:lnTo>
                  <a:lnTo>
                    <a:pt x="711" y="10"/>
                  </a:lnTo>
                  <a:lnTo>
                    <a:pt x="711" y="10"/>
                  </a:lnTo>
                  <a:lnTo>
                    <a:pt x="711" y="5"/>
                  </a:lnTo>
                  <a:lnTo>
                    <a:pt x="708" y="1"/>
                  </a:lnTo>
                  <a:lnTo>
                    <a:pt x="705" y="0"/>
                  </a:lnTo>
                  <a:lnTo>
                    <a:pt x="700" y="0"/>
                  </a:lnTo>
                  <a:lnTo>
                    <a:pt x="378" y="54"/>
                  </a:lnTo>
                  <a:lnTo>
                    <a:pt x="378" y="54"/>
                  </a:lnTo>
                  <a:lnTo>
                    <a:pt x="372" y="55"/>
                  </a:lnTo>
                  <a:lnTo>
                    <a:pt x="369" y="59"/>
                  </a:lnTo>
                  <a:lnTo>
                    <a:pt x="366" y="64"/>
                  </a:lnTo>
                  <a:lnTo>
                    <a:pt x="366" y="69"/>
                  </a:lnTo>
                  <a:lnTo>
                    <a:pt x="366" y="145"/>
                  </a:lnTo>
                  <a:lnTo>
                    <a:pt x="180" y="145"/>
                  </a:lnTo>
                  <a:lnTo>
                    <a:pt x="180" y="1272"/>
                  </a:lnTo>
                  <a:lnTo>
                    <a:pt x="77" y="1272"/>
                  </a:lnTo>
                  <a:lnTo>
                    <a:pt x="77" y="1272"/>
                  </a:lnTo>
                  <a:lnTo>
                    <a:pt x="72" y="1272"/>
                  </a:lnTo>
                  <a:lnTo>
                    <a:pt x="67" y="1275"/>
                  </a:lnTo>
                  <a:lnTo>
                    <a:pt x="62" y="1278"/>
                  </a:lnTo>
                  <a:lnTo>
                    <a:pt x="59" y="1282"/>
                  </a:lnTo>
                  <a:lnTo>
                    <a:pt x="0" y="1403"/>
                  </a:lnTo>
                  <a:lnTo>
                    <a:pt x="0" y="1403"/>
                  </a:lnTo>
                  <a:lnTo>
                    <a:pt x="0" y="1407"/>
                  </a:lnTo>
                  <a:lnTo>
                    <a:pt x="0" y="1410"/>
                  </a:lnTo>
                  <a:lnTo>
                    <a:pt x="3" y="1413"/>
                  </a:lnTo>
                  <a:lnTo>
                    <a:pt x="6" y="1413"/>
                  </a:lnTo>
                  <a:lnTo>
                    <a:pt x="932" y="1413"/>
                  </a:lnTo>
                  <a:lnTo>
                    <a:pt x="932" y="1413"/>
                  </a:lnTo>
                  <a:lnTo>
                    <a:pt x="936" y="1413"/>
                  </a:lnTo>
                  <a:lnTo>
                    <a:pt x="939" y="1410"/>
                  </a:lnTo>
                  <a:lnTo>
                    <a:pt x="939" y="1407"/>
                  </a:lnTo>
                  <a:lnTo>
                    <a:pt x="939" y="1403"/>
                  </a:lnTo>
                  <a:lnTo>
                    <a:pt x="880" y="1282"/>
                  </a:lnTo>
                  <a:close/>
                  <a:moveTo>
                    <a:pt x="679" y="673"/>
                  </a:moveTo>
                  <a:lnTo>
                    <a:pt x="570" y="673"/>
                  </a:lnTo>
                  <a:lnTo>
                    <a:pt x="570" y="673"/>
                  </a:lnTo>
                  <a:lnTo>
                    <a:pt x="565" y="671"/>
                  </a:lnTo>
                  <a:lnTo>
                    <a:pt x="561" y="669"/>
                  </a:lnTo>
                  <a:lnTo>
                    <a:pt x="558" y="666"/>
                  </a:lnTo>
                  <a:lnTo>
                    <a:pt x="558" y="661"/>
                  </a:lnTo>
                  <a:lnTo>
                    <a:pt x="558" y="553"/>
                  </a:lnTo>
                  <a:lnTo>
                    <a:pt x="558" y="553"/>
                  </a:lnTo>
                  <a:lnTo>
                    <a:pt x="558" y="550"/>
                  </a:lnTo>
                  <a:lnTo>
                    <a:pt x="561" y="545"/>
                  </a:lnTo>
                  <a:lnTo>
                    <a:pt x="565" y="543"/>
                  </a:lnTo>
                  <a:lnTo>
                    <a:pt x="570" y="541"/>
                  </a:lnTo>
                  <a:lnTo>
                    <a:pt x="679" y="541"/>
                  </a:lnTo>
                  <a:lnTo>
                    <a:pt x="679" y="541"/>
                  </a:lnTo>
                  <a:lnTo>
                    <a:pt x="685" y="543"/>
                  </a:lnTo>
                  <a:lnTo>
                    <a:pt x="688" y="545"/>
                  </a:lnTo>
                  <a:lnTo>
                    <a:pt x="691" y="550"/>
                  </a:lnTo>
                  <a:lnTo>
                    <a:pt x="691" y="553"/>
                  </a:lnTo>
                  <a:lnTo>
                    <a:pt x="691" y="661"/>
                  </a:lnTo>
                  <a:lnTo>
                    <a:pt x="691" y="661"/>
                  </a:lnTo>
                  <a:lnTo>
                    <a:pt x="691" y="666"/>
                  </a:lnTo>
                  <a:lnTo>
                    <a:pt x="688" y="669"/>
                  </a:lnTo>
                  <a:lnTo>
                    <a:pt x="685" y="671"/>
                  </a:lnTo>
                  <a:lnTo>
                    <a:pt x="679" y="673"/>
                  </a:lnTo>
                  <a:lnTo>
                    <a:pt x="679" y="673"/>
                  </a:lnTo>
                  <a:close/>
                  <a:moveTo>
                    <a:pt x="691" y="1078"/>
                  </a:moveTo>
                  <a:lnTo>
                    <a:pt x="691" y="1186"/>
                  </a:lnTo>
                  <a:lnTo>
                    <a:pt x="691" y="1186"/>
                  </a:lnTo>
                  <a:lnTo>
                    <a:pt x="691" y="1191"/>
                  </a:lnTo>
                  <a:lnTo>
                    <a:pt x="688" y="1194"/>
                  </a:lnTo>
                  <a:lnTo>
                    <a:pt x="685" y="1196"/>
                  </a:lnTo>
                  <a:lnTo>
                    <a:pt x="679" y="1197"/>
                  </a:lnTo>
                  <a:lnTo>
                    <a:pt x="570" y="1197"/>
                  </a:lnTo>
                  <a:lnTo>
                    <a:pt x="570" y="1197"/>
                  </a:lnTo>
                  <a:lnTo>
                    <a:pt x="565" y="1196"/>
                  </a:lnTo>
                  <a:lnTo>
                    <a:pt x="561" y="1194"/>
                  </a:lnTo>
                  <a:lnTo>
                    <a:pt x="558" y="1191"/>
                  </a:lnTo>
                  <a:lnTo>
                    <a:pt x="558" y="1186"/>
                  </a:lnTo>
                  <a:lnTo>
                    <a:pt x="558" y="1078"/>
                  </a:lnTo>
                  <a:lnTo>
                    <a:pt x="558" y="1078"/>
                  </a:lnTo>
                  <a:lnTo>
                    <a:pt x="558" y="1074"/>
                  </a:lnTo>
                  <a:lnTo>
                    <a:pt x="561" y="1069"/>
                  </a:lnTo>
                  <a:lnTo>
                    <a:pt x="565" y="1068"/>
                  </a:lnTo>
                  <a:lnTo>
                    <a:pt x="570" y="1066"/>
                  </a:lnTo>
                  <a:lnTo>
                    <a:pt x="679" y="1066"/>
                  </a:lnTo>
                  <a:lnTo>
                    <a:pt x="679" y="1066"/>
                  </a:lnTo>
                  <a:lnTo>
                    <a:pt x="685" y="1068"/>
                  </a:lnTo>
                  <a:lnTo>
                    <a:pt x="688" y="1069"/>
                  </a:lnTo>
                  <a:lnTo>
                    <a:pt x="691" y="1074"/>
                  </a:lnTo>
                  <a:lnTo>
                    <a:pt x="691" y="1078"/>
                  </a:lnTo>
                  <a:lnTo>
                    <a:pt x="691" y="1078"/>
                  </a:lnTo>
                  <a:close/>
                  <a:moveTo>
                    <a:pt x="438" y="862"/>
                  </a:moveTo>
                  <a:lnTo>
                    <a:pt x="438" y="968"/>
                  </a:lnTo>
                  <a:lnTo>
                    <a:pt x="438" y="968"/>
                  </a:lnTo>
                  <a:lnTo>
                    <a:pt x="437" y="973"/>
                  </a:lnTo>
                  <a:lnTo>
                    <a:pt x="435" y="976"/>
                  </a:lnTo>
                  <a:lnTo>
                    <a:pt x="431" y="980"/>
                  </a:lnTo>
                  <a:lnTo>
                    <a:pt x="426" y="980"/>
                  </a:lnTo>
                  <a:lnTo>
                    <a:pt x="315" y="980"/>
                  </a:lnTo>
                  <a:lnTo>
                    <a:pt x="315" y="980"/>
                  </a:lnTo>
                  <a:lnTo>
                    <a:pt x="312" y="980"/>
                  </a:lnTo>
                  <a:lnTo>
                    <a:pt x="307" y="976"/>
                  </a:lnTo>
                  <a:lnTo>
                    <a:pt x="305" y="973"/>
                  </a:lnTo>
                  <a:lnTo>
                    <a:pt x="303" y="968"/>
                  </a:lnTo>
                  <a:lnTo>
                    <a:pt x="303" y="862"/>
                  </a:lnTo>
                  <a:lnTo>
                    <a:pt x="303" y="862"/>
                  </a:lnTo>
                  <a:lnTo>
                    <a:pt x="305" y="857"/>
                  </a:lnTo>
                  <a:lnTo>
                    <a:pt x="307" y="853"/>
                  </a:lnTo>
                  <a:lnTo>
                    <a:pt x="312" y="850"/>
                  </a:lnTo>
                  <a:lnTo>
                    <a:pt x="315" y="850"/>
                  </a:lnTo>
                  <a:lnTo>
                    <a:pt x="426" y="850"/>
                  </a:lnTo>
                  <a:lnTo>
                    <a:pt x="426" y="850"/>
                  </a:lnTo>
                  <a:lnTo>
                    <a:pt x="431" y="850"/>
                  </a:lnTo>
                  <a:lnTo>
                    <a:pt x="435" y="853"/>
                  </a:lnTo>
                  <a:lnTo>
                    <a:pt x="437" y="857"/>
                  </a:lnTo>
                  <a:lnTo>
                    <a:pt x="438" y="862"/>
                  </a:lnTo>
                  <a:lnTo>
                    <a:pt x="438" y="862"/>
                  </a:lnTo>
                  <a:close/>
                  <a:moveTo>
                    <a:pt x="278" y="344"/>
                  </a:moveTo>
                  <a:lnTo>
                    <a:pt x="278" y="344"/>
                  </a:lnTo>
                  <a:lnTo>
                    <a:pt x="280" y="339"/>
                  </a:lnTo>
                  <a:lnTo>
                    <a:pt x="283" y="335"/>
                  </a:lnTo>
                  <a:lnTo>
                    <a:pt x="286" y="332"/>
                  </a:lnTo>
                  <a:lnTo>
                    <a:pt x="291" y="330"/>
                  </a:lnTo>
                  <a:lnTo>
                    <a:pt x="401" y="330"/>
                  </a:lnTo>
                  <a:lnTo>
                    <a:pt x="401" y="330"/>
                  </a:lnTo>
                  <a:lnTo>
                    <a:pt x="406" y="332"/>
                  </a:lnTo>
                  <a:lnTo>
                    <a:pt x="410" y="335"/>
                  </a:lnTo>
                  <a:lnTo>
                    <a:pt x="413" y="339"/>
                  </a:lnTo>
                  <a:lnTo>
                    <a:pt x="413" y="344"/>
                  </a:lnTo>
                  <a:lnTo>
                    <a:pt x="413" y="450"/>
                  </a:lnTo>
                  <a:lnTo>
                    <a:pt x="413" y="450"/>
                  </a:lnTo>
                  <a:lnTo>
                    <a:pt x="413" y="455"/>
                  </a:lnTo>
                  <a:lnTo>
                    <a:pt x="410" y="459"/>
                  </a:lnTo>
                  <a:lnTo>
                    <a:pt x="406" y="462"/>
                  </a:lnTo>
                  <a:lnTo>
                    <a:pt x="401" y="462"/>
                  </a:lnTo>
                  <a:lnTo>
                    <a:pt x="291" y="462"/>
                  </a:lnTo>
                  <a:lnTo>
                    <a:pt x="291" y="462"/>
                  </a:lnTo>
                  <a:lnTo>
                    <a:pt x="286" y="462"/>
                  </a:lnTo>
                  <a:lnTo>
                    <a:pt x="283" y="459"/>
                  </a:lnTo>
                  <a:lnTo>
                    <a:pt x="280" y="455"/>
                  </a:lnTo>
                  <a:lnTo>
                    <a:pt x="278" y="450"/>
                  </a:lnTo>
                  <a:lnTo>
                    <a:pt x="278" y="344"/>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lIns="182741" tIns="91369" rIns="182741" bIns="91369" rtlCol="0" anchor="ctr"/>
            <a:lstStyle/>
            <a:p>
              <a:pPr algn="ctr" defTabSz="1218712" fontAlgn="ctr">
                <a:lnSpc>
                  <a:spcPct val="150000"/>
                </a:lnSpc>
                <a:spcBef>
                  <a:spcPct val="0"/>
                </a:spcBef>
                <a:spcAft>
                  <a:spcPct val="0"/>
                </a:spcAft>
                <a:buClr>
                  <a:srgbClr val="CC9900"/>
                </a:buClr>
              </a:pPr>
              <a:endParaRPr lang="zh-CN" altLang="en-US" sz="100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pic>
        <p:nvPicPr>
          <p:cNvPr id="618" name="Picture 74" descr="C:\Users\Administrator\Desktop\云.png"/>
          <p:cNvPicPr>
            <a:picLocks noChangeAspect="1" noChangeArrowheads="1"/>
          </p:cNvPicPr>
          <p:nvPr/>
        </p:nvPicPr>
        <p:blipFill>
          <a:blip r:embed="rId5"/>
          <a:srcRect l="9005" t="14693" r="12624" b="20100"/>
          <a:stretch>
            <a:fillRect/>
          </a:stretch>
        </p:blipFill>
        <p:spPr bwMode="gray">
          <a:xfrm>
            <a:off x="3881535" y="2113794"/>
            <a:ext cx="4012163" cy="1987420"/>
          </a:xfrm>
          <a:prstGeom prst="rect">
            <a:avLst/>
          </a:prstGeom>
          <a:noFill/>
        </p:spPr>
      </p:pic>
      <p:sp>
        <p:nvSpPr>
          <p:cNvPr id="619" name="1578803189"/>
          <p:cNvSpPr/>
          <p:nvPr/>
        </p:nvSpPr>
        <p:spPr bwMode="gray">
          <a:xfrm>
            <a:off x="5503374" y="2803206"/>
            <a:ext cx="761430" cy="212310"/>
          </a:xfrm>
          <a:prstGeom prst="round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205307" fontAlgn="auto">
              <a:spcBef>
                <a:spcPct val="0"/>
              </a:spcBef>
              <a:spcAft>
                <a:spcPct val="0"/>
              </a:spcAft>
              <a:buClr>
                <a:srgbClr val="CC9900"/>
              </a:buClr>
            </a:pPr>
            <a:r>
              <a:rPr lang="en-US" altLang="zh-CN" sz="1200" kern="0" dirty="0" err="1">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订阅</a:t>
            </a:r>
            <a:endParaRPr lang="zh-CN" altLang="en-US" sz="1200"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nvGrpSpPr>
          <p:cNvPr id="620" name="组合 120"/>
          <p:cNvGrpSpPr/>
          <p:nvPr/>
        </p:nvGrpSpPr>
        <p:grpSpPr bwMode="gray">
          <a:xfrm>
            <a:off x="6050343" y="3014335"/>
            <a:ext cx="1039780" cy="355918"/>
            <a:chOff x="6104839" y="4156253"/>
            <a:chExt cx="825050" cy="291168"/>
          </a:xfrm>
        </p:grpSpPr>
        <p:pic>
          <p:nvPicPr>
            <p:cNvPr id="649" name="pasted-image.pdf"/>
            <p:cNvPicPr>
              <a:picLocks noChangeAspect="1" noChangeArrowheads="1"/>
            </p:cNvPicPr>
            <p:nvPr/>
          </p:nvPicPr>
          <p:blipFill>
            <a:blip r:embed="rId6">
              <a:duotone>
                <a:schemeClr val="bg2">
                  <a:shade val="45000"/>
                  <a:satMod val="135000"/>
                </a:schemeClr>
                <a:prstClr val="white"/>
              </a:duotone>
              <a:lum bright="40000"/>
              <a:extLst>
                <a:ext uri="{28A0092B-C50C-407E-A947-70E740481C1C}">
                  <a14:useLocalDpi xmlns:a14="http://schemas.microsoft.com/office/drawing/2010/main"/>
                </a:ext>
              </a:extLst>
            </a:blip>
            <a:stretch>
              <a:fillRect/>
            </a:stretch>
          </p:blipFill>
          <p:spPr bwMode="gray">
            <a:xfrm rot="1128874">
              <a:off x="6403414" y="4156253"/>
              <a:ext cx="201437" cy="182457"/>
            </a:xfrm>
            <a:prstGeom prst="rect">
              <a:avLst/>
            </a:prstGeom>
            <a:noFill/>
            <a:ln w="3175">
              <a:noFill/>
              <a:miter lim="400000"/>
            </a:ln>
          </p:spPr>
        </p:pic>
        <p:pic>
          <p:nvPicPr>
            <p:cNvPr id="650" name="243512752"/>
            <p:cNvPicPr>
              <a:picLocks noChangeAspect="1" noChangeArrowheads="1"/>
            </p:cNvPicPr>
            <p:nvPr/>
          </p:nvPicPr>
          <p:blipFill>
            <a:blip r:embed="rId7">
              <a:duotone>
                <a:schemeClr val="bg2">
                  <a:shade val="45000"/>
                  <a:satMod val="135000"/>
                </a:schemeClr>
                <a:prstClr val="white"/>
              </a:duotone>
              <a:lum bright="40000"/>
              <a:extLst>
                <a:ext uri="{28A0092B-C50C-407E-A947-70E740481C1C}">
                  <a14:useLocalDpi xmlns:a14="http://schemas.microsoft.com/office/drawing/2010/main"/>
                </a:ext>
              </a:extLst>
            </a:blip>
            <a:stretch>
              <a:fillRect/>
            </a:stretch>
          </p:blipFill>
          <p:spPr bwMode="gray">
            <a:xfrm rot="1128874">
              <a:off x="6263974" y="4264965"/>
              <a:ext cx="201438" cy="182456"/>
            </a:xfrm>
            <a:prstGeom prst="rect">
              <a:avLst/>
            </a:prstGeom>
            <a:noFill/>
            <a:ln w="3175">
              <a:noFill/>
              <a:miter lim="400000"/>
            </a:ln>
          </p:spPr>
        </p:pic>
        <p:pic>
          <p:nvPicPr>
            <p:cNvPr id="651" name="686914736"/>
            <p:cNvPicPr>
              <a:picLocks noChangeAspect="1" noChangeArrowheads="1"/>
            </p:cNvPicPr>
            <p:nvPr/>
          </p:nvPicPr>
          <p:blipFill>
            <a:blip r:embed="rId8">
              <a:duotone>
                <a:schemeClr val="bg2">
                  <a:shade val="45000"/>
                  <a:satMod val="135000"/>
                </a:schemeClr>
                <a:prstClr val="white"/>
              </a:duotone>
              <a:lum bright="40000"/>
              <a:extLst>
                <a:ext uri="{28A0092B-C50C-407E-A947-70E740481C1C}">
                  <a14:useLocalDpi xmlns:a14="http://schemas.microsoft.com/office/drawing/2010/main"/>
                </a:ext>
              </a:extLst>
            </a:blip>
            <a:stretch>
              <a:fillRect/>
            </a:stretch>
          </p:blipFill>
          <p:spPr bwMode="gray">
            <a:xfrm rot="1128874">
              <a:off x="6104839" y="4173987"/>
              <a:ext cx="201438" cy="182456"/>
            </a:xfrm>
            <a:prstGeom prst="rect">
              <a:avLst/>
            </a:prstGeom>
            <a:noFill/>
            <a:ln w="3175">
              <a:noFill/>
              <a:miter lim="400000"/>
            </a:ln>
          </p:spPr>
        </p:pic>
        <p:pic>
          <p:nvPicPr>
            <p:cNvPr id="652" name="1502673500"/>
            <p:cNvPicPr>
              <a:picLocks noChangeAspect="1" noChangeArrowheads="1"/>
            </p:cNvPicPr>
            <p:nvPr/>
          </p:nvPicPr>
          <p:blipFill>
            <a:blip r:embed="rId9">
              <a:duotone>
                <a:schemeClr val="bg2">
                  <a:shade val="45000"/>
                  <a:satMod val="135000"/>
                </a:schemeClr>
                <a:prstClr val="white"/>
              </a:duotone>
              <a:lum bright="40000"/>
              <a:extLst>
                <a:ext uri="{28A0092B-C50C-407E-A947-70E740481C1C}">
                  <a14:useLocalDpi xmlns:a14="http://schemas.microsoft.com/office/drawing/2010/main"/>
                </a:ext>
              </a:extLst>
            </a:blip>
            <a:stretch>
              <a:fillRect/>
            </a:stretch>
          </p:blipFill>
          <p:spPr bwMode="gray">
            <a:xfrm rot="1128874">
              <a:off x="6559409" y="4239215"/>
              <a:ext cx="201437" cy="182457"/>
            </a:xfrm>
            <a:prstGeom prst="rect">
              <a:avLst/>
            </a:prstGeom>
            <a:noFill/>
            <a:ln w="3175">
              <a:noFill/>
              <a:miter lim="400000"/>
            </a:ln>
          </p:spPr>
        </p:pic>
        <p:pic>
          <p:nvPicPr>
            <p:cNvPr id="653" name="812541537"/>
            <p:cNvPicPr>
              <a:picLocks noChangeAspect="1" noChangeArrowheads="1"/>
            </p:cNvPicPr>
            <p:nvPr/>
          </p:nvPicPr>
          <p:blipFill>
            <a:blip r:embed="rId6">
              <a:duotone>
                <a:schemeClr val="bg2">
                  <a:shade val="45000"/>
                  <a:satMod val="135000"/>
                </a:schemeClr>
                <a:prstClr val="white"/>
              </a:duotone>
              <a:lum bright="40000"/>
              <a:extLst>
                <a:ext uri="{28A0092B-C50C-407E-A947-70E740481C1C}">
                  <a14:useLocalDpi xmlns:a14="http://schemas.microsoft.com/office/drawing/2010/main"/>
                </a:ext>
              </a:extLst>
            </a:blip>
            <a:stretch>
              <a:fillRect/>
            </a:stretch>
          </p:blipFill>
          <p:spPr bwMode="gray">
            <a:xfrm rot="1128874">
              <a:off x="6728452" y="4198188"/>
              <a:ext cx="201437" cy="182457"/>
            </a:xfrm>
            <a:prstGeom prst="rect">
              <a:avLst/>
            </a:prstGeom>
            <a:noFill/>
            <a:ln w="3175">
              <a:noFill/>
              <a:miter lim="400000"/>
            </a:ln>
          </p:spPr>
        </p:pic>
      </p:grpSp>
      <p:sp>
        <p:nvSpPr>
          <p:cNvPr id="621" name="1380110985"/>
          <p:cNvSpPr/>
          <p:nvPr/>
        </p:nvSpPr>
        <p:spPr bwMode="gray">
          <a:xfrm>
            <a:off x="5826796" y="3381483"/>
            <a:ext cx="842417" cy="167447"/>
          </a:xfrm>
          <a:prstGeom prst="round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523" tIns="18263" rIns="36523" bIns="18263" numCol="1" rtlCol="0" anchor="ctr"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205307" fontAlgn="auto">
              <a:buClr>
                <a:srgbClr val="CC9900"/>
              </a:buClr>
            </a:pPr>
            <a:r>
              <a:rPr lang="en-US" altLang="zh-CN" sz="1200" kern="0" dirty="0" err="1">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开局</a:t>
            </a:r>
            <a:endParaRPr lang="zh-CN" altLang="en-US" sz="1200"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622" name="1616442799"/>
          <p:cNvSpPr/>
          <p:nvPr/>
        </p:nvSpPr>
        <p:spPr bwMode="gray">
          <a:xfrm>
            <a:off x="6126600" y="2803206"/>
            <a:ext cx="522587" cy="138982"/>
          </a:xfrm>
          <a:prstGeom prst="round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523" tIns="18263" rIns="36523" bIns="18263" numCol="1" rtlCol="0" anchor="ctr"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205307" fontAlgn="auto">
              <a:buClr>
                <a:srgbClr val="CC9900"/>
              </a:buClr>
            </a:pPr>
            <a:r>
              <a:rPr lang="en-US" altLang="zh-CN" sz="1200" kern="0" dirty="0" err="1">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运维</a:t>
            </a:r>
            <a:endParaRPr lang="zh-CN" altLang="en-US" sz="1200"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623" name="581201994"/>
          <p:cNvSpPr/>
          <p:nvPr/>
        </p:nvSpPr>
        <p:spPr bwMode="gray">
          <a:xfrm>
            <a:off x="6614175" y="3384236"/>
            <a:ext cx="867862" cy="238124"/>
          </a:xfrm>
          <a:prstGeom prst="round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523" tIns="18263" rIns="36523" bIns="18263" numCol="1" rtlCol="0" anchor="ctr"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205307" fontAlgn="auto">
              <a:buClr>
                <a:srgbClr val="CC9900"/>
              </a:buClr>
            </a:pPr>
            <a:r>
              <a:rPr lang="zh-CN" altLang="en-US" sz="1200"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调整</a:t>
            </a:r>
          </a:p>
        </p:txBody>
      </p:sp>
      <p:sp>
        <p:nvSpPr>
          <p:cNvPr id="624" name="1088253176"/>
          <p:cNvSpPr/>
          <p:nvPr/>
        </p:nvSpPr>
        <p:spPr bwMode="gray">
          <a:xfrm>
            <a:off x="6387893" y="2610864"/>
            <a:ext cx="777772" cy="241746"/>
          </a:xfrm>
          <a:prstGeom prst="round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523" tIns="18263" rIns="36523" bIns="18263" numCol="1" rtlCol="0" anchor="ctr" anchorCtr="0" compatLnSpc="1">
            <a:prstTxWarp prst="textNoShape">
              <a:avLst/>
            </a:prstTxWarp>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006" algn="l" rtl="0" fontAlgn="base">
              <a:spcBef>
                <a:spcPct val="0"/>
              </a:spcBef>
              <a:spcAft>
                <a:spcPct val="0"/>
              </a:spcAft>
              <a:defRPr kern="1200">
                <a:solidFill>
                  <a:schemeClr val="tx1"/>
                </a:solidFill>
                <a:latin typeface="Calibri" pitchFamily="34" charset="0"/>
                <a:ea typeface="宋体" pitchFamily="2" charset="-122"/>
                <a:cs typeface="+mn-cs"/>
              </a:defRPr>
            </a:lvl2pPr>
            <a:lvl3pPr marL="914011"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018"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023" algn="l" rtl="0" fontAlgn="base">
              <a:spcBef>
                <a:spcPct val="0"/>
              </a:spcBef>
              <a:spcAft>
                <a:spcPct val="0"/>
              </a:spcAft>
              <a:defRPr kern="1200">
                <a:solidFill>
                  <a:schemeClr val="tx1"/>
                </a:solidFill>
                <a:latin typeface="Calibri" pitchFamily="34" charset="0"/>
                <a:ea typeface="宋体" pitchFamily="2" charset="-122"/>
                <a:cs typeface="+mn-cs"/>
              </a:defRPr>
            </a:lvl5pPr>
            <a:lvl6pPr marL="2285028" algn="l" defTabSz="914011" rtl="0" eaLnBrk="1" latinLnBrk="0" hangingPunct="1">
              <a:defRPr kern="1200">
                <a:solidFill>
                  <a:schemeClr val="tx1"/>
                </a:solidFill>
                <a:latin typeface="Calibri" pitchFamily="34" charset="0"/>
                <a:ea typeface="宋体" pitchFamily="2" charset="-122"/>
                <a:cs typeface="+mn-cs"/>
              </a:defRPr>
            </a:lvl6pPr>
            <a:lvl7pPr marL="2742034" algn="l" defTabSz="914011" rtl="0" eaLnBrk="1" latinLnBrk="0" hangingPunct="1">
              <a:defRPr kern="1200">
                <a:solidFill>
                  <a:schemeClr val="tx1"/>
                </a:solidFill>
                <a:latin typeface="Calibri" pitchFamily="34" charset="0"/>
                <a:ea typeface="宋体" pitchFamily="2" charset="-122"/>
                <a:cs typeface="+mn-cs"/>
              </a:defRPr>
            </a:lvl7pPr>
            <a:lvl8pPr marL="3199040" algn="l" defTabSz="914011" rtl="0" eaLnBrk="1" latinLnBrk="0" hangingPunct="1">
              <a:defRPr kern="1200">
                <a:solidFill>
                  <a:schemeClr val="tx1"/>
                </a:solidFill>
                <a:latin typeface="Calibri" pitchFamily="34" charset="0"/>
                <a:ea typeface="宋体" pitchFamily="2" charset="-122"/>
                <a:cs typeface="+mn-cs"/>
              </a:defRPr>
            </a:lvl8pPr>
            <a:lvl9pPr marL="3656046" algn="l" defTabSz="914011" rtl="0" eaLnBrk="1" latinLnBrk="0" hangingPunct="1">
              <a:defRPr kern="1200">
                <a:solidFill>
                  <a:schemeClr val="tx1"/>
                </a:solidFill>
                <a:latin typeface="Calibri" pitchFamily="34" charset="0"/>
                <a:ea typeface="宋体" pitchFamily="2" charset="-122"/>
                <a:cs typeface="+mn-cs"/>
              </a:defRPr>
            </a:lvl9pPr>
          </a:lstStyle>
          <a:p>
            <a:pPr algn="ctr" defTabSz="205307" fontAlgn="auto">
              <a:buClr>
                <a:srgbClr val="CC9900"/>
              </a:buClr>
            </a:pPr>
            <a:r>
              <a:rPr lang="en-US" altLang="zh-CN" sz="1200" kern="0" dirty="0" err="1">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调优</a:t>
            </a:r>
            <a:endParaRPr lang="zh-CN" altLang="en-US" sz="1200"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625" name="Freeform 57"/>
          <p:cNvSpPr>
            <a:spLocks noEditPoints="1"/>
          </p:cNvSpPr>
          <p:nvPr/>
        </p:nvSpPr>
        <p:spPr bwMode="gray">
          <a:xfrm>
            <a:off x="4825307" y="3622360"/>
            <a:ext cx="215028" cy="219321"/>
          </a:xfrm>
          <a:custGeom>
            <a:avLst/>
            <a:gdLst/>
            <a:ahLst/>
            <a:cxnLst>
              <a:cxn ang="0">
                <a:pos x="153" y="80"/>
              </a:cxn>
              <a:cxn ang="0">
                <a:pos x="137" y="70"/>
              </a:cxn>
              <a:cxn ang="0">
                <a:pos x="155" y="61"/>
              </a:cxn>
              <a:cxn ang="0">
                <a:pos x="146" y="38"/>
              </a:cxn>
              <a:cxn ang="0">
                <a:pos x="140" y="36"/>
              </a:cxn>
              <a:cxn ang="0">
                <a:pos x="121" y="38"/>
              </a:cxn>
              <a:cxn ang="0">
                <a:pos x="130" y="20"/>
              </a:cxn>
              <a:cxn ang="0">
                <a:pos x="110" y="6"/>
              </a:cxn>
              <a:cxn ang="0">
                <a:pos x="95" y="22"/>
              </a:cxn>
              <a:cxn ang="0">
                <a:pos x="87" y="4"/>
              </a:cxn>
              <a:cxn ang="0">
                <a:pos x="82" y="0"/>
              </a:cxn>
              <a:cxn ang="0">
                <a:pos x="57" y="7"/>
              </a:cxn>
              <a:cxn ang="0">
                <a:pos x="53" y="26"/>
              </a:cxn>
              <a:cxn ang="0">
                <a:pos x="36" y="13"/>
              </a:cxn>
              <a:cxn ang="0">
                <a:pos x="18" y="29"/>
              </a:cxn>
              <a:cxn ang="0">
                <a:pos x="30" y="45"/>
              </a:cxn>
              <a:cxn ang="0">
                <a:pos x="10" y="47"/>
              </a:cxn>
              <a:cxn ang="0">
                <a:pos x="5" y="50"/>
              </a:cxn>
              <a:cxn ang="0">
                <a:pos x="1" y="74"/>
              </a:cxn>
              <a:cxn ang="0">
                <a:pos x="20" y="80"/>
              </a:cxn>
              <a:cxn ang="0">
                <a:pos x="5" y="93"/>
              </a:cxn>
              <a:cxn ang="0">
                <a:pos x="11" y="118"/>
              </a:cxn>
              <a:cxn ang="0">
                <a:pos x="17" y="121"/>
              </a:cxn>
              <a:cxn ang="0">
                <a:pos x="37" y="119"/>
              </a:cxn>
              <a:cxn ang="0">
                <a:pos x="29" y="140"/>
              </a:cxn>
              <a:cxn ang="0">
                <a:pos x="51" y="151"/>
              </a:cxn>
              <a:cxn ang="0">
                <a:pos x="62" y="134"/>
              </a:cxn>
              <a:cxn ang="0">
                <a:pos x="70" y="153"/>
              </a:cxn>
              <a:cxn ang="0">
                <a:pos x="73" y="157"/>
              </a:cxn>
              <a:cxn ang="0">
                <a:pos x="96" y="155"/>
              </a:cxn>
              <a:cxn ang="0">
                <a:pos x="100" y="150"/>
              </a:cxn>
              <a:cxn ang="0">
                <a:pos x="104" y="131"/>
              </a:cxn>
              <a:cxn ang="0">
                <a:pos x="119" y="145"/>
              </a:cxn>
              <a:cxn ang="0">
                <a:pos x="138" y="130"/>
              </a:cxn>
              <a:cxn ang="0">
                <a:pos x="138" y="124"/>
              </a:cxn>
              <a:cxn ang="0">
                <a:pos x="130" y="106"/>
              </a:cxn>
              <a:cxn ang="0">
                <a:pos x="150" y="109"/>
              </a:cxn>
              <a:cxn ang="0">
                <a:pos x="157" y="86"/>
              </a:cxn>
              <a:cxn ang="0">
                <a:pos x="99" y="83"/>
              </a:cxn>
              <a:cxn ang="0">
                <a:pos x="58" y="74"/>
              </a:cxn>
              <a:cxn ang="0">
                <a:pos x="99" y="83"/>
              </a:cxn>
            </a:cxnLst>
            <a:rect l="0" t="0" r="r" b="b"/>
            <a:pathLst>
              <a:path w="157" h="157">
                <a:moveTo>
                  <a:pt x="156" y="82"/>
                </a:moveTo>
                <a:cubicBezTo>
                  <a:pt x="156" y="81"/>
                  <a:pt x="155" y="81"/>
                  <a:pt x="153" y="80"/>
                </a:cubicBezTo>
                <a:cubicBezTo>
                  <a:pt x="137" y="77"/>
                  <a:pt x="137" y="77"/>
                  <a:pt x="137" y="77"/>
                </a:cubicBezTo>
                <a:cubicBezTo>
                  <a:pt x="137" y="70"/>
                  <a:pt x="137" y="70"/>
                  <a:pt x="137" y="70"/>
                </a:cubicBezTo>
                <a:cubicBezTo>
                  <a:pt x="152" y="63"/>
                  <a:pt x="152" y="63"/>
                  <a:pt x="152" y="63"/>
                </a:cubicBezTo>
                <a:cubicBezTo>
                  <a:pt x="153" y="63"/>
                  <a:pt x="154" y="62"/>
                  <a:pt x="155" y="61"/>
                </a:cubicBezTo>
                <a:cubicBezTo>
                  <a:pt x="155" y="60"/>
                  <a:pt x="155" y="59"/>
                  <a:pt x="154" y="58"/>
                </a:cubicBezTo>
                <a:cubicBezTo>
                  <a:pt x="146" y="38"/>
                  <a:pt x="146" y="38"/>
                  <a:pt x="146" y="38"/>
                </a:cubicBezTo>
                <a:cubicBezTo>
                  <a:pt x="146" y="37"/>
                  <a:pt x="145" y="36"/>
                  <a:pt x="144" y="36"/>
                </a:cubicBezTo>
                <a:cubicBezTo>
                  <a:pt x="143" y="35"/>
                  <a:pt x="141" y="36"/>
                  <a:pt x="140" y="36"/>
                </a:cubicBezTo>
                <a:cubicBezTo>
                  <a:pt x="125" y="43"/>
                  <a:pt x="125" y="43"/>
                  <a:pt x="125" y="43"/>
                </a:cubicBezTo>
                <a:cubicBezTo>
                  <a:pt x="121" y="38"/>
                  <a:pt x="121" y="38"/>
                  <a:pt x="121" y="38"/>
                </a:cubicBezTo>
                <a:cubicBezTo>
                  <a:pt x="129" y="23"/>
                  <a:pt x="129" y="23"/>
                  <a:pt x="129" y="23"/>
                </a:cubicBezTo>
                <a:cubicBezTo>
                  <a:pt x="130" y="22"/>
                  <a:pt x="130" y="21"/>
                  <a:pt x="130" y="20"/>
                </a:cubicBezTo>
                <a:cubicBezTo>
                  <a:pt x="130" y="19"/>
                  <a:pt x="129" y="18"/>
                  <a:pt x="128" y="17"/>
                </a:cubicBezTo>
                <a:cubicBezTo>
                  <a:pt x="110" y="6"/>
                  <a:pt x="110" y="6"/>
                  <a:pt x="110" y="6"/>
                </a:cubicBezTo>
                <a:cubicBezTo>
                  <a:pt x="108" y="5"/>
                  <a:pt x="105" y="6"/>
                  <a:pt x="104" y="8"/>
                </a:cubicBezTo>
                <a:cubicBezTo>
                  <a:pt x="95" y="22"/>
                  <a:pt x="95" y="22"/>
                  <a:pt x="95" y="22"/>
                </a:cubicBezTo>
                <a:cubicBezTo>
                  <a:pt x="89" y="21"/>
                  <a:pt x="89" y="21"/>
                  <a:pt x="89" y="21"/>
                </a:cubicBezTo>
                <a:cubicBezTo>
                  <a:pt x="87" y="4"/>
                  <a:pt x="87" y="4"/>
                  <a:pt x="87" y="4"/>
                </a:cubicBezTo>
                <a:cubicBezTo>
                  <a:pt x="87" y="3"/>
                  <a:pt x="87" y="2"/>
                  <a:pt x="86" y="1"/>
                </a:cubicBezTo>
                <a:cubicBezTo>
                  <a:pt x="85" y="0"/>
                  <a:pt x="84" y="0"/>
                  <a:pt x="82" y="0"/>
                </a:cubicBezTo>
                <a:cubicBezTo>
                  <a:pt x="61" y="2"/>
                  <a:pt x="61" y="2"/>
                  <a:pt x="61" y="2"/>
                </a:cubicBezTo>
                <a:cubicBezTo>
                  <a:pt x="59" y="2"/>
                  <a:pt x="57" y="4"/>
                  <a:pt x="57" y="7"/>
                </a:cubicBezTo>
                <a:cubicBezTo>
                  <a:pt x="59" y="23"/>
                  <a:pt x="59" y="23"/>
                  <a:pt x="59" y="23"/>
                </a:cubicBezTo>
                <a:cubicBezTo>
                  <a:pt x="53" y="26"/>
                  <a:pt x="53" y="26"/>
                  <a:pt x="53" y="26"/>
                </a:cubicBezTo>
                <a:cubicBezTo>
                  <a:pt x="42" y="13"/>
                  <a:pt x="42" y="13"/>
                  <a:pt x="42" y="13"/>
                </a:cubicBezTo>
                <a:cubicBezTo>
                  <a:pt x="40" y="11"/>
                  <a:pt x="37" y="11"/>
                  <a:pt x="36" y="13"/>
                </a:cubicBezTo>
                <a:cubicBezTo>
                  <a:pt x="20" y="26"/>
                  <a:pt x="20" y="26"/>
                  <a:pt x="20" y="26"/>
                </a:cubicBezTo>
                <a:cubicBezTo>
                  <a:pt x="19" y="27"/>
                  <a:pt x="18" y="28"/>
                  <a:pt x="18" y="29"/>
                </a:cubicBezTo>
                <a:cubicBezTo>
                  <a:pt x="18" y="31"/>
                  <a:pt x="19" y="32"/>
                  <a:pt x="19" y="33"/>
                </a:cubicBezTo>
                <a:cubicBezTo>
                  <a:pt x="30" y="45"/>
                  <a:pt x="30" y="45"/>
                  <a:pt x="30" y="45"/>
                </a:cubicBezTo>
                <a:cubicBezTo>
                  <a:pt x="27" y="51"/>
                  <a:pt x="27" y="51"/>
                  <a:pt x="27" y="51"/>
                </a:cubicBezTo>
                <a:cubicBezTo>
                  <a:pt x="10" y="47"/>
                  <a:pt x="10" y="47"/>
                  <a:pt x="10" y="47"/>
                </a:cubicBezTo>
                <a:cubicBezTo>
                  <a:pt x="9" y="47"/>
                  <a:pt x="8" y="47"/>
                  <a:pt x="7" y="48"/>
                </a:cubicBezTo>
                <a:cubicBezTo>
                  <a:pt x="6" y="48"/>
                  <a:pt x="5" y="49"/>
                  <a:pt x="5" y="50"/>
                </a:cubicBezTo>
                <a:cubicBezTo>
                  <a:pt x="1" y="71"/>
                  <a:pt x="1" y="71"/>
                  <a:pt x="1" y="71"/>
                </a:cubicBezTo>
                <a:cubicBezTo>
                  <a:pt x="0" y="72"/>
                  <a:pt x="1" y="73"/>
                  <a:pt x="1" y="74"/>
                </a:cubicBezTo>
                <a:cubicBezTo>
                  <a:pt x="2" y="75"/>
                  <a:pt x="3" y="76"/>
                  <a:pt x="4" y="76"/>
                </a:cubicBezTo>
                <a:cubicBezTo>
                  <a:pt x="20" y="80"/>
                  <a:pt x="20" y="80"/>
                  <a:pt x="20" y="80"/>
                </a:cubicBezTo>
                <a:cubicBezTo>
                  <a:pt x="21" y="86"/>
                  <a:pt x="21" y="86"/>
                  <a:pt x="21" y="86"/>
                </a:cubicBezTo>
                <a:cubicBezTo>
                  <a:pt x="5" y="93"/>
                  <a:pt x="5" y="93"/>
                  <a:pt x="5" y="93"/>
                </a:cubicBezTo>
                <a:cubicBezTo>
                  <a:pt x="3" y="94"/>
                  <a:pt x="2" y="97"/>
                  <a:pt x="3" y="99"/>
                </a:cubicBezTo>
                <a:cubicBezTo>
                  <a:pt x="11" y="118"/>
                  <a:pt x="11" y="118"/>
                  <a:pt x="11" y="118"/>
                </a:cubicBezTo>
                <a:cubicBezTo>
                  <a:pt x="12" y="119"/>
                  <a:pt x="13" y="120"/>
                  <a:pt x="14" y="121"/>
                </a:cubicBezTo>
                <a:cubicBezTo>
                  <a:pt x="15" y="121"/>
                  <a:pt x="16" y="121"/>
                  <a:pt x="17" y="121"/>
                </a:cubicBezTo>
                <a:cubicBezTo>
                  <a:pt x="32" y="114"/>
                  <a:pt x="32" y="114"/>
                  <a:pt x="32" y="114"/>
                </a:cubicBezTo>
                <a:cubicBezTo>
                  <a:pt x="37" y="119"/>
                  <a:pt x="37" y="119"/>
                  <a:pt x="37" y="119"/>
                </a:cubicBezTo>
                <a:cubicBezTo>
                  <a:pt x="28" y="134"/>
                  <a:pt x="28" y="134"/>
                  <a:pt x="28" y="134"/>
                </a:cubicBezTo>
                <a:cubicBezTo>
                  <a:pt x="27" y="136"/>
                  <a:pt x="27" y="138"/>
                  <a:pt x="29" y="140"/>
                </a:cubicBezTo>
                <a:cubicBezTo>
                  <a:pt x="48" y="150"/>
                  <a:pt x="48" y="150"/>
                  <a:pt x="48" y="150"/>
                </a:cubicBezTo>
                <a:cubicBezTo>
                  <a:pt x="49" y="151"/>
                  <a:pt x="50" y="151"/>
                  <a:pt x="51" y="151"/>
                </a:cubicBezTo>
                <a:cubicBezTo>
                  <a:pt x="52" y="150"/>
                  <a:pt x="53" y="150"/>
                  <a:pt x="54" y="149"/>
                </a:cubicBezTo>
                <a:cubicBezTo>
                  <a:pt x="62" y="134"/>
                  <a:pt x="62" y="134"/>
                  <a:pt x="62" y="134"/>
                </a:cubicBezTo>
                <a:cubicBezTo>
                  <a:pt x="69" y="136"/>
                  <a:pt x="69" y="136"/>
                  <a:pt x="69" y="136"/>
                </a:cubicBezTo>
                <a:cubicBezTo>
                  <a:pt x="70" y="153"/>
                  <a:pt x="70" y="153"/>
                  <a:pt x="70" y="153"/>
                </a:cubicBezTo>
                <a:cubicBezTo>
                  <a:pt x="70" y="154"/>
                  <a:pt x="71" y="155"/>
                  <a:pt x="72" y="156"/>
                </a:cubicBezTo>
                <a:cubicBezTo>
                  <a:pt x="72" y="156"/>
                  <a:pt x="73" y="157"/>
                  <a:pt x="73" y="157"/>
                </a:cubicBezTo>
                <a:cubicBezTo>
                  <a:pt x="74" y="157"/>
                  <a:pt x="74" y="157"/>
                  <a:pt x="75" y="157"/>
                </a:cubicBezTo>
                <a:cubicBezTo>
                  <a:pt x="96" y="155"/>
                  <a:pt x="96" y="155"/>
                  <a:pt x="96" y="155"/>
                </a:cubicBezTo>
                <a:cubicBezTo>
                  <a:pt x="97" y="155"/>
                  <a:pt x="98" y="154"/>
                  <a:pt x="99" y="153"/>
                </a:cubicBezTo>
                <a:cubicBezTo>
                  <a:pt x="100" y="152"/>
                  <a:pt x="100" y="151"/>
                  <a:pt x="100" y="150"/>
                </a:cubicBezTo>
                <a:cubicBezTo>
                  <a:pt x="98" y="133"/>
                  <a:pt x="98" y="133"/>
                  <a:pt x="98" y="133"/>
                </a:cubicBezTo>
                <a:cubicBezTo>
                  <a:pt x="104" y="131"/>
                  <a:pt x="104" y="131"/>
                  <a:pt x="104" y="131"/>
                </a:cubicBezTo>
                <a:cubicBezTo>
                  <a:pt x="116" y="144"/>
                  <a:pt x="116" y="144"/>
                  <a:pt x="116" y="144"/>
                </a:cubicBezTo>
                <a:cubicBezTo>
                  <a:pt x="116" y="144"/>
                  <a:pt x="117" y="145"/>
                  <a:pt x="119" y="145"/>
                </a:cubicBezTo>
                <a:cubicBezTo>
                  <a:pt x="120" y="145"/>
                  <a:pt x="121" y="145"/>
                  <a:pt x="122" y="144"/>
                </a:cubicBezTo>
                <a:cubicBezTo>
                  <a:pt x="138" y="130"/>
                  <a:pt x="138" y="130"/>
                  <a:pt x="138" y="130"/>
                </a:cubicBezTo>
                <a:cubicBezTo>
                  <a:pt x="138" y="129"/>
                  <a:pt x="139" y="128"/>
                  <a:pt x="139" y="127"/>
                </a:cubicBezTo>
                <a:cubicBezTo>
                  <a:pt x="139" y="126"/>
                  <a:pt x="139" y="125"/>
                  <a:pt x="138" y="124"/>
                </a:cubicBezTo>
                <a:cubicBezTo>
                  <a:pt x="127" y="111"/>
                  <a:pt x="127" y="111"/>
                  <a:pt x="127" y="111"/>
                </a:cubicBezTo>
                <a:cubicBezTo>
                  <a:pt x="130" y="106"/>
                  <a:pt x="130" y="106"/>
                  <a:pt x="130" y="106"/>
                </a:cubicBezTo>
                <a:cubicBezTo>
                  <a:pt x="147" y="109"/>
                  <a:pt x="147" y="109"/>
                  <a:pt x="147" y="109"/>
                </a:cubicBezTo>
                <a:cubicBezTo>
                  <a:pt x="148" y="110"/>
                  <a:pt x="149" y="109"/>
                  <a:pt x="150" y="109"/>
                </a:cubicBezTo>
                <a:cubicBezTo>
                  <a:pt x="151" y="108"/>
                  <a:pt x="152" y="107"/>
                  <a:pt x="152" y="106"/>
                </a:cubicBezTo>
                <a:cubicBezTo>
                  <a:pt x="157" y="86"/>
                  <a:pt x="157" y="86"/>
                  <a:pt x="157" y="86"/>
                </a:cubicBezTo>
                <a:cubicBezTo>
                  <a:pt x="157" y="84"/>
                  <a:pt x="157" y="83"/>
                  <a:pt x="156" y="82"/>
                </a:cubicBezTo>
                <a:close/>
                <a:moveTo>
                  <a:pt x="99" y="83"/>
                </a:moveTo>
                <a:cubicBezTo>
                  <a:pt x="97" y="94"/>
                  <a:pt x="85" y="102"/>
                  <a:pt x="74" y="99"/>
                </a:cubicBezTo>
                <a:cubicBezTo>
                  <a:pt x="63" y="96"/>
                  <a:pt x="55" y="85"/>
                  <a:pt x="58" y="74"/>
                </a:cubicBezTo>
                <a:cubicBezTo>
                  <a:pt x="60" y="62"/>
                  <a:pt x="72" y="55"/>
                  <a:pt x="83" y="58"/>
                </a:cubicBezTo>
                <a:cubicBezTo>
                  <a:pt x="95" y="60"/>
                  <a:pt x="102" y="71"/>
                  <a:pt x="99" y="83"/>
                </a:cubicBezTo>
                <a:close/>
              </a:path>
            </a:pathLst>
          </a:custGeom>
          <a:solidFill>
            <a:schemeClr val="bg1"/>
          </a:solidFill>
          <a:ln w="6350">
            <a:noFill/>
          </a:ln>
        </p:spPr>
        <p:txBody>
          <a:bodyPr vert="horz" wrap="square" lIns="121864" tIns="60933" rIns="121864" bIns="60933" numCol="1" anchor="t" anchorCtr="0" compatLnSpc="1">
            <a:prstTxWarp prst="textNoShape">
              <a:avLst/>
            </a:prstTxWarp>
          </a:bodyPr>
          <a:lstStyle/>
          <a:p>
            <a:pPr defTabSz="456816" fontAlgn="base">
              <a:spcBef>
                <a:spcPct val="0"/>
              </a:spcBef>
              <a:spcAft>
                <a:spcPct val="0"/>
              </a:spcAft>
              <a:defRPr/>
            </a:pPr>
            <a:endParaRPr lang="en-US" sz="1499" b="1" kern="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26" name="1228760009"/>
          <p:cNvSpPr txBox="1"/>
          <p:nvPr/>
        </p:nvSpPr>
        <p:spPr bwMode="gray">
          <a:xfrm>
            <a:off x="4988830" y="3633166"/>
            <a:ext cx="593168" cy="184666"/>
          </a:xfrm>
          <a:prstGeom prst="rect">
            <a:avLst/>
          </a:prstGeom>
          <a:noFill/>
        </p:spPr>
        <p:txBody>
          <a:bodyPr wrap="square" lIns="0" tIns="0" rIns="0" bIns="0" rtlCol="0">
            <a:spAutoFit/>
          </a:bodyPr>
          <a:lstStyle/>
          <a:p>
            <a:pPr algn="ctr" defTabSz="205307">
              <a:spcBef>
                <a:spcPct val="0"/>
              </a:spcBef>
              <a:spcAft>
                <a:spcPct val="0"/>
              </a:spcAft>
              <a:buClr>
                <a:srgbClr val="CC9900"/>
              </a:buClr>
            </a:pPr>
            <a:r>
              <a:rPr lang="en-US" altLang="zh-CN" sz="1200" kern="0" dirty="0" err="1">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自动化</a:t>
            </a:r>
            <a:endParaRPr lang="zh-CN" altLang="en-US" sz="1200"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cxnSp>
        <p:nvCxnSpPr>
          <p:cNvPr id="627" name="直接连接符 626"/>
          <p:cNvCxnSpPr/>
          <p:nvPr/>
        </p:nvCxnSpPr>
        <p:spPr bwMode="gray">
          <a:xfrm flipH="1">
            <a:off x="5761577" y="3646532"/>
            <a:ext cx="0" cy="271452"/>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628" name="1228760009"/>
          <p:cNvSpPr txBox="1"/>
          <p:nvPr/>
        </p:nvSpPr>
        <p:spPr bwMode="gray">
          <a:xfrm>
            <a:off x="5990282" y="3639652"/>
            <a:ext cx="432365" cy="184666"/>
          </a:xfrm>
          <a:prstGeom prst="rect">
            <a:avLst/>
          </a:prstGeom>
          <a:noFill/>
        </p:spPr>
        <p:txBody>
          <a:bodyPr wrap="square" lIns="0" tIns="0" rIns="0" bIns="0" rtlCol="0">
            <a:spAutoFit/>
          </a:bodyPr>
          <a:lstStyle/>
          <a:p>
            <a:pPr algn="ctr" defTabSz="205307">
              <a:spcBef>
                <a:spcPct val="0"/>
              </a:spcBef>
              <a:spcAft>
                <a:spcPct val="0"/>
              </a:spcAft>
              <a:buClr>
                <a:srgbClr val="CC9900"/>
              </a:buClr>
            </a:pPr>
            <a:r>
              <a:rPr lang="en-US" altLang="zh-CN" sz="1200" kern="0" dirty="0" err="1">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洞察</a:t>
            </a:r>
            <a:endParaRPr lang="zh-CN" altLang="en-US" sz="1200"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nvGrpSpPr>
          <p:cNvPr id="629" name="组合 208"/>
          <p:cNvGrpSpPr/>
          <p:nvPr/>
        </p:nvGrpSpPr>
        <p:grpSpPr bwMode="gray">
          <a:xfrm>
            <a:off x="5839435" y="3622274"/>
            <a:ext cx="219054" cy="225235"/>
            <a:chOff x="4780105" y="2489342"/>
            <a:chExt cx="204140" cy="209907"/>
          </a:xfrm>
          <a:solidFill>
            <a:schemeClr val="bg1"/>
          </a:solidFill>
        </p:grpSpPr>
        <p:sp>
          <p:nvSpPr>
            <p:cNvPr id="647" name="Oval 23"/>
            <p:cNvSpPr>
              <a:spLocks noChangeAspect="1"/>
            </p:cNvSpPr>
            <p:nvPr/>
          </p:nvSpPr>
          <p:spPr bwMode="gray">
            <a:xfrm>
              <a:off x="4810180" y="2550058"/>
              <a:ext cx="113535" cy="92862"/>
            </a:xfrm>
            <a:custGeom>
              <a:avLst/>
              <a:gdLst/>
              <a:ahLst/>
              <a:cxnLst/>
              <a:rect l="l" t="t" r="r" b="b"/>
              <a:pathLst>
                <a:path w="477122" h="379911">
                  <a:moveTo>
                    <a:pt x="252554" y="155898"/>
                  </a:moveTo>
                  <a:lnTo>
                    <a:pt x="350844" y="155898"/>
                  </a:lnTo>
                  <a:lnTo>
                    <a:pt x="350844" y="355189"/>
                  </a:lnTo>
                  <a:lnTo>
                    <a:pt x="343244" y="359314"/>
                  </a:lnTo>
                  <a:cubicBezTo>
                    <a:pt x="326713" y="366306"/>
                    <a:pt x="309360" y="371736"/>
                    <a:pt x="291370" y="375417"/>
                  </a:cubicBezTo>
                  <a:lnTo>
                    <a:pt x="252554" y="379330"/>
                  </a:lnTo>
                  <a:close/>
                  <a:moveTo>
                    <a:pt x="0" y="92551"/>
                  </a:moveTo>
                  <a:lnTo>
                    <a:pt x="98290" y="92551"/>
                  </a:lnTo>
                  <a:lnTo>
                    <a:pt x="98290" y="343129"/>
                  </a:lnTo>
                  <a:lnTo>
                    <a:pt x="81166" y="333835"/>
                  </a:lnTo>
                  <a:cubicBezTo>
                    <a:pt x="51762" y="313970"/>
                    <a:pt x="26387" y="288594"/>
                    <a:pt x="6522" y="259190"/>
                  </a:cubicBezTo>
                  <a:lnTo>
                    <a:pt x="0" y="247175"/>
                  </a:lnTo>
                  <a:close/>
                  <a:moveTo>
                    <a:pt x="126277" y="38230"/>
                  </a:moveTo>
                  <a:lnTo>
                    <a:pt x="224567" y="38230"/>
                  </a:lnTo>
                  <a:lnTo>
                    <a:pt x="224567" y="379911"/>
                  </a:lnTo>
                  <a:lnTo>
                    <a:pt x="179982" y="375417"/>
                  </a:lnTo>
                  <a:cubicBezTo>
                    <a:pt x="161992" y="371736"/>
                    <a:pt x="144639" y="366306"/>
                    <a:pt x="128108" y="359314"/>
                  </a:cubicBezTo>
                  <a:lnTo>
                    <a:pt x="126277" y="358320"/>
                  </a:lnTo>
                  <a:close/>
                  <a:moveTo>
                    <a:pt x="378832" y="0"/>
                  </a:moveTo>
                  <a:lnTo>
                    <a:pt x="477122" y="0"/>
                  </a:lnTo>
                  <a:lnTo>
                    <a:pt x="477122" y="236545"/>
                  </a:lnTo>
                  <a:lnTo>
                    <a:pt x="464830" y="259190"/>
                  </a:lnTo>
                  <a:cubicBezTo>
                    <a:pt x="444966" y="288594"/>
                    <a:pt x="419590" y="313970"/>
                    <a:pt x="390186" y="333835"/>
                  </a:cubicBezTo>
                  <a:lnTo>
                    <a:pt x="378832" y="339998"/>
                  </a:lnTo>
                  <a:close/>
                </a:path>
              </a:pathLst>
            </a:custGeom>
            <a:grpFill/>
            <a:ln>
              <a:noFill/>
            </a:ln>
            <a:effectLst/>
          </p:spPr>
          <p:style>
            <a:lnRef idx="1">
              <a:schemeClr val="accent6"/>
            </a:lnRef>
            <a:fillRef idx="3">
              <a:schemeClr val="accent6"/>
            </a:fillRef>
            <a:effectRef idx="2">
              <a:schemeClr val="accent6"/>
            </a:effectRef>
            <a:fontRef idx="minor">
              <a:schemeClr val="lt1"/>
            </a:fontRef>
          </p:style>
          <p:txBody>
            <a:bodyPr lIns="91368" tIns="45684" rIns="91368" bIns="45684" rtlCol="0" anchor="ctr"/>
            <a:lstStyle/>
            <a:p>
              <a:pPr algn="ctr" defTabSz="1218712" fontAlgn="base">
                <a:spcBef>
                  <a:spcPct val="0"/>
                </a:spcBef>
                <a:spcAft>
                  <a:spcPct val="0"/>
                </a:spcAft>
              </a:pPr>
              <a:endParaRPr lang="en-US" sz="18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48" name="Oval 7"/>
            <p:cNvSpPr>
              <a:spLocks noChangeAspect="1"/>
            </p:cNvSpPr>
            <p:nvPr/>
          </p:nvSpPr>
          <p:spPr bwMode="gray">
            <a:xfrm>
              <a:off x="4780105" y="2489342"/>
              <a:ext cx="204140" cy="209907"/>
            </a:xfrm>
            <a:custGeom>
              <a:avLst/>
              <a:gdLst/>
              <a:ahLst/>
              <a:cxnLst/>
              <a:rect l="l" t="t" r="r" b="b"/>
              <a:pathLst>
                <a:path w="857885" h="858751">
                  <a:moveTo>
                    <a:pt x="364072" y="60804"/>
                  </a:moveTo>
                  <a:cubicBezTo>
                    <a:pt x="196582" y="60804"/>
                    <a:pt x="60804" y="196581"/>
                    <a:pt x="60804" y="364072"/>
                  </a:cubicBezTo>
                  <a:cubicBezTo>
                    <a:pt x="60804" y="531563"/>
                    <a:pt x="196582" y="667340"/>
                    <a:pt x="364072" y="667340"/>
                  </a:cubicBezTo>
                  <a:cubicBezTo>
                    <a:pt x="531563" y="667340"/>
                    <a:pt x="667340" y="531563"/>
                    <a:pt x="667340" y="364072"/>
                  </a:cubicBezTo>
                  <a:cubicBezTo>
                    <a:pt x="667340" y="196581"/>
                    <a:pt x="531563" y="60804"/>
                    <a:pt x="364072" y="60804"/>
                  </a:cubicBezTo>
                  <a:close/>
                  <a:moveTo>
                    <a:pt x="364072" y="0"/>
                  </a:moveTo>
                  <a:cubicBezTo>
                    <a:pt x="565143" y="0"/>
                    <a:pt x="728144" y="163001"/>
                    <a:pt x="728144" y="364072"/>
                  </a:cubicBezTo>
                  <a:cubicBezTo>
                    <a:pt x="728144" y="439474"/>
                    <a:pt x="705222" y="509522"/>
                    <a:pt x="665966" y="567628"/>
                  </a:cubicBezTo>
                  <a:lnTo>
                    <a:pt x="650609" y="586242"/>
                  </a:lnTo>
                  <a:lnTo>
                    <a:pt x="844200" y="779235"/>
                  </a:lnTo>
                  <a:cubicBezTo>
                    <a:pt x="862407" y="797385"/>
                    <a:pt x="862453" y="826860"/>
                    <a:pt x="844302" y="845068"/>
                  </a:cubicBezTo>
                  <a:cubicBezTo>
                    <a:pt x="826151" y="863275"/>
                    <a:pt x="796676" y="863320"/>
                    <a:pt x="778469" y="845169"/>
                  </a:cubicBezTo>
                  <a:lnTo>
                    <a:pt x="584635" y="651934"/>
                  </a:lnTo>
                  <a:lnTo>
                    <a:pt x="567628" y="665966"/>
                  </a:lnTo>
                  <a:cubicBezTo>
                    <a:pt x="509522" y="705222"/>
                    <a:pt x="439474" y="728144"/>
                    <a:pt x="364072" y="728144"/>
                  </a:cubicBezTo>
                  <a:cubicBezTo>
                    <a:pt x="163001" y="728144"/>
                    <a:pt x="0" y="565143"/>
                    <a:pt x="0" y="364072"/>
                  </a:cubicBezTo>
                  <a:cubicBezTo>
                    <a:pt x="0" y="163001"/>
                    <a:pt x="163001" y="0"/>
                    <a:pt x="364072" y="0"/>
                  </a:cubicBezTo>
                  <a:close/>
                </a:path>
              </a:pathLst>
            </a:custGeom>
            <a:grpFill/>
            <a:ln>
              <a:noFill/>
            </a:ln>
            <a:effectLst/>
          </p:spPr>
          <p:style>
            <a:lnRef idx="1">
              <a:schemeClr val="accent6"/>
            </a:lnRef>
            <a:fillRef idx="3">
              <a:schemeClr val="accent6"/>
            </a:fillRef>
            <a:effectRef idx="2">
              <a:schemeClr val="accent6"/>
            </a:effectRef>
            <a:fontRef idx="minor">
              <a:schemeClr val="lt1"/>
            </a:fontRef>
          </p:style>
          <p:txBody>
            <a:bodyPr lIns="91368" tIns="45684" rIns="91368" bIns="45684" rtlCol="0" anchor="ctr"/>
            <a:lstStyle/>
            <a:p>
              <a:pPr algn="ctr" defTabSz="1218712" fontAlgn="base">
                <a:spcBef>
                  <a:spcPct val="0"/>
                </a:spcBef>
                <a:spcAft>
                  <a:spcPct val="0"/>
                </a:spcAft>
              </a:pPr>
              <a:endParaRPr lang="en-US" sz="1899" b="1">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cxnSp>
        <p:nvCxnSpPr>
          <p:cNvPr id="630" name="直接连接符 629"/>
          <p:cNvCxnSpPr/>
          <p:nvPr/>
        </p:nvCxnSpPr>
        <p:spPr bwMode="gray">
          <a:xfrm flipH="1">
            <a:off x="6632658" y="3646532"/>
            <a:ext cx="0" cy="271452"/>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pic>
        <p:nvPicPr>
          <p:cNvPr id="631" name="Picture 2"/>
          <p:cNvPicPr>
            <a:picLocks noChangeAspect="1"/>
          </p:cNvPicPr>
          <p:nvPr/>
        </p:nvPicPr>
        <p:blipFill>
          <a:blip r:embed="rId10">
            <a:biLevel thresh="25000"/>
            <a:extLst>
              <a:ext uri="{28A0092B-C50C-407E-A947-70E740481C1C}">
                <a14:useLocalDpi xmlns:a14="http://schemas.microsoft.com/office/drawing/2010/main"/>
              </a:ext>
            </a:extLst>
          </a:blip>
          <a:stretch>
            <a:fillRect/>
          </a:stretch>
        </p:blipFill>
        <p:spPr bwMode="gray">
          <a:xfrm>
            <a:off x="6684388" y="3658586"/>
            <a:ext cx="310743" cy="146869"/>
          </a:xfrm>
          <a:prstGeom prst="rect">
            <a:avLst/>
          </a:prstGeom>
        </p:spPr>
      </p:pic>
      <p:sp>
        <p:nvSpPr>
          <p:cNvPr id="632" name="1228760009"/>
          <p:cNvSpPr txBox="1"/>
          <p:nvPr/>
        </p:nvSpPr>
        <p:spPr bwMode="gray">
          <a:xfrm>
            <a:off x="6971473" y="3632426"/>
            <a:ext cx="415316" cy="184666"/>
          </a:xfrm>
          <a:prstGeom prst="rect">
            <a:avLst/>
          </a:prstGeom>
          <a:noFill/>
        </p:spPr>
        <p:txBody>
          <a:bodyPr wrap="square" lIns="0" tIns="0" rIns="0" bIns="0" rtlCol="0">
            <a:spAutoFit/>
          </a:bodyPr>
          <a:lstStyle/>
          <a:p>
            <a:pPr algn="ctr" defTabSz="205307">
              <a:spcBef>
                <a:spcPct val="0"/>
              </a:spcBef>
              <a:spcAft>
                <a:spcPct val="0"/>
              </a:spcAft>
              <a:buClr>
                <a:srgbClr val="CC9900"/>
              </a:buClr>
            </a:pPr>
            <a:r>
              <a:rPr lang="en-US" altLang="zh-CN" sz="1200" kern="0" dirty="0" err="1">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rPr>
              <a:t>可视</a:t>
            </a:r>
            <a:endParaRPr lang="zh-CN" altLang="en-US" sz="1200"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pic>
        <p:nvPicPr>
          <p:cNvPr id="633"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bwMode="gray">
          <a:xfrm>
            <a:off x="4171815" y="3090840"/>
            <a:ext cx="1848531" cy="350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 name="圆角矩形 633"/>
          <p:cNvSpPr/>
          <p:nvPr/>
        </p:nvSpPr>
        <p:spPr bwMode="gray">
          <a:xfrm>
            <a:off x="875420" y="1471589"/>
            <a:ext cx="2829537" cy="2825169"/>
          </a:xfrm>
          <a:prstGeom prst="roundRect">
            <a:avLst>
              <a:gd name="adj" fmla="val 4536"/>
            </a:avLst>
          </a:prstGeom>
          <a:noFill/>
          <a:ln w="12700" cap="flat" cmpd="sng" algn="ctr">
            <a:solidFill>
              <a:srgbClr val="00B0F0"/>
            </a:solidFill>
            <a:prstDash val="solid"/>
            <a:round/>
            <a:headEnd type="none" w="med" len="med"/>
            <a:tailEnd type="none" w="med" len="med"/>
          </a:ln>
          <a:effectLst/>
        </p:spPr>
        <p:txBody>
          <a:bodyPr vert="horz" wrap="square" lIns="35990" tIns="0" rIns="0" bIns="0" numCol="1" rtlCol="0" anchor="t"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1219048" fontAlgn="ctr">
              <a:spcBef>
                <a:spcPts val="600"/>
              </a:spcBef>
              <a:buSzPct val="60000"/>
            </a:pPr>
            <a:r>
              <a:rPr lang="zh-CN" altLang="en-US" sz="1400" b="1"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企业价值</a:t>
            </a:r>
            <a:endParaRPr lang="en-US" altLang="zh-CN" sz="1400" b="1"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285750" indent="-111125" defTabSz="1219048" fontAlgn="ctr">
              <a:spcBef>
                <a:spcPts val="600"/>
              </a:spcBef>
              <a:buSzPct val="60000"/>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运维成本下降</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285750" indent="-111125" defTabSz="1219048" fontAlgn="ctr">
              <a:spcBef>
                <a:spcPts val="600"/>
              </a:spcBef>
              <a:buSzPct val="60000"/>
              <a:buFont typeface="Arial" panose="020B0604020202020204" pitchFamily="34" charset="0"/>
              <a:buChar char="•"/>
            </a:pP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WAN</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利用率提升</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285750" indent="-111125" defTabSz="1219048" fontAlgn="ctr">
              <a:spcBef>
                <a:spcPts val="600"/>
              </a:spcBef>
              <a:buSzPct val="60000"/>
              <a:buFont typeface="Arial" panose="020B0604020202020204" pitchFamily="34" charset="0"/>
              <a:buChar char="•"/>
            </a:pPr>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分钟级业务发放</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285750" indent="-111125" defTabSz="1219048" fontAlgn="ctr">
              <a:spcBef>
                <a:spcPts val="600"/>
              </a:spcBef>
              <a:buSzPct val="60000"/>
              <a:buFont typeface="Arial" panose="020B0604020202020204" pitchFamily="34" charset="0"/>
              <a:buChar char="•"/>
            </a:pPr>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运维效率提升，</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云管理 </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&amp; </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自动化</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285750" indent="-111125" defTabSz="1219048" fontAlgn="ctr">
              <a:spcBef>
                <a:spcPts val="600"/>
              </a:spcBef>
              <a:buSzPct val="60000"/>
              <a:buFont typeface="Arial" panose="020B0604020202020204" pitchFamily="34" charset="0"/>
              <a:buChar char="•"/>
            </a:pPr>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收入提升</a:t>
            </a:r>
            <a:endParaRPr lang="en-US" altLang="zh-CN"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60363" indent="-93663" defTabSz="1219048" fontAlgn="ctr">
              <a:spcBef>
                <a:spcPts val="600"/>
              </a:spcBef>
              <a:buSzPct val="60000"/>
            </a:pP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扩展</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B2B</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业务领域</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 </a:t>
            </a:r>
          </a:p>
          <a:p>
            <a:pPr marL="285750" indent="-111125" defTabSz="1219048" fontAlgn="ctr">
              <a:spcBef>
                <a:spcPts val="600"/>
              </a:spcBef>
              <a:buSzPct val="60000"/>
              <a:buFont typeface="Arial" panose="020B0604020202020204" pitchFamily="34" charset="0"/>
              <a:buChar char="•"/>
            </a:pPr>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平滑演进，开放，快速集成  </a:t>
            </a:r>
            <a:endParaRPr lang="en-US" altLang="zh-CN"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60363" indent="-93663" defTabSz="1219048" fontAlgn="ctr">
              <a:spcBef>
                <a:spcPts val="600"/>
              </a:spcBef>
              <a:buSzPct val="60000"/>
            </a:pPr>
            <a:r>
              <a:rPr lang="en-US" altLang="zh-CN" sz="12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RESTful API</a:t>
            </a:r>
            <a:r>
              <a:rPr lang="zh-CN" altLang="en-US" sz="12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2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CPE/vCPE </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285750" indent="-111125" defTabSz="1219048" fontAlgn="ctr">
              <a:spcBef>
                <a:spcPts val="600"/>
              </a:spcBef>
              <a:buSzPct val="60000"/>
              <a:buFont typeface="Arial" panose="020B0604020202020204" pitchFamily="34" charset="0"/>
              <a:buChar char="•"/>
            </a:pP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636" name="矩形 635"/>
          <p:cNvSpPr/>
          <p:nvPr/>
        </p:nvSpPr>
        <p:spPr bwMode="gray">
          <a:xfrm>
            <a:off x="1718462" y="1107210"/>
            <a:ext cx="1135075" cy="369332"/>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defTabSz="1219048" fontAlgn="ctr">
              <a:spcBef>
                <a:spcPts val="600"/>
              </a:spcBef>
              <a:buSzPct val="60000"/>
            </a:pPr>
            <a:r>
              <a:rPr lang="zh-CN" altLang="en-US" b="1"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客户价值</a:t>
            </a:r>
            <a:endParaRPr lang="en-US" altLang="zh-CN" b="1"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637" name="矩形 636"/>
          <p:cNvSpPr/>
          <p:nvPr/>
        </p:nvSpPr>
        <p:spPr bwMode="gray">
          <a:xfrm>
            <a:off x="9188561" y="1047494"/>
            <a:ext cx="1196171" cy="276999"/>
          </a:xfrm>
          <a:prstGeom prst="rect">
            <a:avLst/>
          </a:prstGeom>
          <a:noFill/>
          <a:ln>
            <a:noFill/>
          </a:ln>
        </p:spPr>
        <p:txBody>
          <a:bodyPr wrap="square" lIns="0" tIns="0" rIns="0" bIns="0" anchor="ctr">
            <a:spAutoFit/>
          </a:bodyPr>
          <a:lstStyle/>
          <a:p>
            <a:pPr algn="ctr" defTabSz="1218712" fontAlgn="base">
              <a:spcBef>
                <a:spcPct val="0"/>
              </a:spcBef>
              <a:spcAft>
                <a:spcPct val="0"/>
              </a:spcAft>
              <a:buClr>
                <a:srgbClr val="CC9900"/>
              </a:buClr>
            </a:pPr>
            <a:r>
              <a:rPr lang="en-US" altLang="zh-CN" sz="1800" b="1" dirty="0" err="1">
                <a:latin typeface="Huawei Sans" panose="020C0503030203020204" pitchFamily="34" charset="0"/>
                <a:ea typeface="方正兰亭黑简体" panose="02000000000000000000" pitchFamily="2" charset="-122"/>
                <a:cs typeface="Huawei Sans" panose="020C0503030203020204" pitchFamily="34" charset="0"/>
              </a:rPr>
              <a:t>关键技术</a:t>
            </a:r>
            <a:endParaRPr lang="zh-CN" altLang="en-US" sz="18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38" name="圆角矩形 637"/>
          <p:cNvSpPr/>
          <p:nvPr/>
        </p:nvSpPr>
        <p:spPr bwMode="gray">
          <a:xfrm>
            <a:off x="8004212" y="1314518"/>
            <a:ext cx="3397429" cy="3354893"/>
          </a:xfrm>
          <a:prstGeom prst="roundRect">
            <a:avLst>
              <a:gd name="adj" fmla="val 4536"/>
            </a:avLst>
          </a:prstGeom>
          <a:noFill/>
          <a:ln w="12700" cap="flat" cmpd="sng" algn="ctr">
            <a:solidFill>
              <a:srgbClr val="00B0F0"/>
            </a:solidFill>
            <a:prstDash val="solid"/>
            <a:round/>
            <a:headEnd type="none" w="med" len="med"/>
            <a:tailEnd type="none" w="med" len="med"/>
          </a:ln>
          <a:effectLst/>
        </p:spPr>
        <p:txBody>
          <a:bodyPr vert="horz" wrap="square" lIns="35990" tIns="0" rIns="0" bIns="0" numCol="1" rtlCol="0" anchor="ctr" anchorCtr="0" compatLnSpc="1">
            <a:prstTxWarp prst="textNoShape">
              <a:avLst/>
            </a:prstTxWarp>
            <a:no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50000"/>
              </a:lnSpc>
              <a:spcBef>
                <a:spcPct val="20000"/>
              </a:spcBef>
            </a:pPr>
            <a:r>
              <a:rPr lang="en-US" altLang="zh-CN"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rPr>
              <a:t>5G</a:t>
            </a:r>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rPr>
              <a:t>上行：</a:t>
            </a:r>
            <a:r>
              <a:rPr lang="en-US" altLang="zh-CN" sz="1200" b="1"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CPE</a:t>
            </a:r>
            <a:r>
              <a:rPr lang="zh-CN" altLang="en-US" sz="1200" b="1"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全系列支持</a:t>
            </a:r>
            <a:r>
              <a:rPr lang="en-US" altLang="zh-CN" sz="1200" b="1"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5G</a:t>
            </a:r>
          </a:p>
          <a:p>
            <a:pPr marL="285750" indent="-111125" defTabSz="1219048" fontAlgn="ctr">
              <a:spcBef>
                <a:spcPts val="600"/>
              </a:spcBef>
              <a:buSzPct val="60000"/>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大带宽：</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UL</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230 M</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DL</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900 M</a:t>
            </a:r>
          </a:p>
          <a:p>
            <a:pPr marL="285750" indent="-111125" defTabSz="1219048" fontAlgn="ctr">
              <a:spcBef>
                <a:spcPts val="600"/>
              </a:spcBef>
              <a:buSzPct val="60000"/>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全网通：</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5G/4G/3G/2G</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全网通</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endParaRPr>
          </a:p>
          <a:p>
            <a:pPr marL="285750" indent="-111125" defTabSz="1219048" fontAlgn="ctr">
              <a:spcBef>
                <a:spcPts val="600"/>
              </a:spcBef>
              <a:buSzPct val="60000"/>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双架构：完整支持</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Wingdings" panose="05000000000000000000" pitchFamily="2" charset="2"/>
              </a:rPr>
              <a:t>NSA/SA</a:t>
            </a:r>
          </a:p>
          <a:p>
            <a:pPr>
              <a:lnSpc>
                <a:spcPct val="150000"/>
              </a:lnSpc>
            </a:pPr>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rPr>
              <a:t>高性能：</a:t>
            </a:r>
            <a:r>
              <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rPr>
              <a:t>高</a:t>
            </a:r>
            <a:r>
              <a:rPr lang="zh-CN" altLang="en-US" sz="1200" b="1"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rPr>
              <a:t>性能，转发无拥塞</a:t>
            </a:r>
            <a:endParaRPr lang="en-US" altLang="zh-CN" sz="1200" b="1"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endParaRPr>
          </a:p>
          <a:p>
            <a:pPr marL="285750" indent="-111125" defTabSz="1219048">
              <a:spcBef>
                <a:spcPts val="600"/>
              </a:spcBef>
              <a:buSzPct val="60000"/>
              <a:buFont typeface="Arial" panose="020B0604020202020204" pitchFamily="34" charset="0"/>
              <a:buChar char="•"/>
            </a:pP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CPU+NP</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异构转发架构</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marL="285750" indent="-111125" defTabSz="1219048">
              <a:spcBef>
                <a:spcPts val="600"/>
              </a:spcBef>
              <a:buSzPct val="60000"/>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高性能，满足未来</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5</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年的</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发展</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a:lnSpc>
                <a:spcPct val="150000"/>
              </a:lnSpc>
            </a:pPr>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rPr>
              <a:t>优体验：</a:t>
            </a:r>
            <a:r>
              <a:rPr lang="zh-CN" altLang="en-US" sz="1200" b="1"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rPr>
              <a:t>智能应用选路，关键应用体验可保障</a:t>
            </a:r>
            <a:endParaRPr lang="en-US" altLang="zh-CN" sz="1200" b="1"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endParaRPr>
          </a:p>
          <a:p>
            <a:pPr marL="285750" indent="-111125" defTabSz="1219048">
              <a:spcBef>
                <a:spcPts val="600"/>
              </a:spcBef>
              <a:buSzPct val="60000"/>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应用级智能选路，</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5G+ Fiber</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按需调度</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marL="285750" indent="-111125" defTabSz="1219048">
              <a:spcBef>
                <a:spcPts val="600"/>
              </a:spcBef>
              <a:buSzPct val="60000"/>
              <a:buFont typeface="Arial" panose="020B0604020202020204" pitchFamily="34" charset="0"/>
              <a:buChar char="•"/>
            </a:pP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A-FEC</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使能视频</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20%</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丢包不卡顿，不花屏</a:t>
            </a:r>
          </a:p>
          <a:p>
            <a:r>
              <a:rPr lang="zh-CN" altLang="en-US" sz="1200" b="1"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rPr>
              <a:t>简运维：</a:t>
            </a:r>
            <a:r>
              <a:rPr lang="zh-CN" altLang="en-US" sz="1200" b="1"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rPr>
              <a:t>全流程自动化，即插即用</a:t>
            </a:r>
            <a:endParaRPr lang="en-US" altLang="zh-CN" sz="1200" b="1"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endParaRPr>
          </a:p>
          <a:p>
            <a:pPr marL="285750" indent="-111125" defTabSz="1219048" fontAlgn="ctr">
              <a:spcBef>
                <a:spcPts val="600"/>
              </a:spcBef>
              <a:buSzPct val="60000"/>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多方式</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ZTP</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，网点网络分钟级部署</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marL="285750" indent="-111125" defTabSz="1219048" fontAlgn="ctr">
              <a:spcBef>
                <a:spcPts val="600"/>
              </a:spcBef>
              <a:buSzPct val="60000"/>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应用</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网点</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设备</a:t>
            </a:r>
            <a:r>
              <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链路状态可视，集中管理</a:t>
            </a:r>
            <a:endParaRPr lang="en-US" altLang="zh-CN" sz="12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grpSp>
        <p:nvGrpSpPr>
          <p:cNvPr id="639" name="组合 638"/>
          <p:cNvGrpSpPr/>
          <p:nvPr/>
        </p:nvGrpSpPr>
        <p:grpSpPr bwMode="black">
          <a:xfrm>
            <a:off x="8239028" y="5292744"/>
            <a:ext cx="197702" cy="153624"/>
            <a:chOff x="-983298" y="1666240"/>
            <a:chExt cx="547688" cy="309564"/>
          </a:xfrm>
          <a:solidFill>
            <a:srgbClr val="FFC000"/>
          </a:solidFill>
        </p:grpSpPr>
        <p:sp>
          <p:nvSpPr>
            <p:cNvPr id="645" name="Freeform 21"/>
            <p:cNvSpPr/>
            <p:nvPr/>
          </p:nvSpPr>
          <p:spPr bwMode="black">
            <a:xfrm>
              <a:off x="-983298" y="1798004"/>
              <a:ext cx="547688" cy="177800"/>
            </a:xfrm>
            <a:custGeom>
              <a:avLst/>
              <a:gdLst/>
              <a:ahLst/>
              <a:cxnLst>
                <a:cxn ang="0">
                  <a:pos x="16188" y="2345"/>
                </a:cxn>
                <a:cxn ang="0">
                  <a:pos x="16149" y="2515"/>
                </a:cxn>
                <a:cxn ang="0">
                  <a:pos x="15935" y="2950"/>
                </a:cxn>
                <a:cxn ang="0">
                  <a:pos x="15566" y="3361"/>
                </a:cxn>
                <a:cxn ang="0">
                  <a:pos x="15052" y="3745"/>
                </a:cxn>
                <a:cxn ang="0">
                  <a:pos x="14408" y="4094"/>
                </a:cxn>
                <a:cxn ang="0">
                  <a:pos x="13647" y="4406"/>
                </a:cxn>
                <a:cxn ang="0">
                  <a:pos x="12779" y="4677"/>
                </a:cxn>
                <a:cxn ang="0">
                  <a:pos x="11817" y="4900"/>
                </a:cxn>
                <a:cxn ang="0">
                  <a:pos x="10774" y="5071"/>
                </a:cxn>
                <a:cxn ang="0">
                  <a:pos x="9662" y="5187"/>
                </a:cxn>
                <a:cxn ang="0">
                  <a:pos x="8495" y="5241"/>
                </a:cxn>
                <a:cxn ang="0">
                  <a:pos x="7295" y="5230"/>
                </a:cxn>
                <a:cxn ang="0">
                  <a:pos x="6139" y="5155"/>
                </a:cxn>
                <a:cxn ang="0">
                  <a:pos x="5043" y="5019"/>
                </a:cxn>
                <a:cxn ang="0">
                  <a:pos x="4021" y="4827"/>
                </a:cxn>
                <a:cxn ang="0">
                  <a:pos x="3087" y="4585"/>
                </a:cxn>
                <a:cxn ang="0">
                  <a:pos x="2251" y="4298"/>
                </a:cxn>
                <a:cxn ang="0">
                  <a:pos x="1527" y="3969"/>
                </a:cxn>
                <a:cxn ang="0">
                  <a:pos x="927" y="3604"/>
                </a:cxn>
                <a:cxn ang="0">
                  <a:pos x="465" y="3208"/>
                </a:cxn>
                <a:cxn ang="0">
                  <a:pos x="151" y="2784"/>
                </a:cxn>
                <a:cxn ang="0">
                  <a:pos x="0" y="2340"/>
                </a:cxn>
                <a:cxn ang="0">
                  <a:pos x="102" y="141"/>
                </a:cxn>
                <a:cxn ang="0">
                  <a:pos x="467" y="524"/>
                </a:cxn>
                <a:cxn ang="0">
                  <a:pos x="944" y="884"/>
                </a:cxn>
                <a:cxn ang="0">
                  <a:pos x="1522" y="1217"/>
                </a:cxn>
                <a:cxn ang="0">
                  <a:pos x="2195" y="1518"/>
                </a:cxn>
                <a:cxn ang="0">
                  <a:pos x="2954" y="1785"/>
                </a:cxn>
                <a:cxn ang="0">
                  <a:pos x="3789" y="2015"/>
                </a:cxn>
                <a:cxn ang="0">
                  <a:pos x="4694" y="2204"/>
                </a:cxn>
                <a:cxn ang="0">
                  <a:pos x="5658" y="2348"/>
                </a:cxn>
                <a:cxn ang="0">
                  <a:pos x="6675" y="2444"/>
                </a:cxn>
                <a:cxn ang="0">
                  <a:pos x="7734" y="2489"/>
                </a:cxn>
                <a:cxn ang="0">
                  <a:pos x="8814" y="2480"/>
                </a:cxn>
                <a:cxn ang="0">
                  <a:pos x="9861" y="2417"/>
                </a:cxn>
                <a:cxn ang="0">
                  <a:pos x="10863" y="2304"/>
                </a:cxn>
                <a:cxn ang="0">
                  <a:pos x="11810" y="2144"/>
                </a:cxn>
                <a:cxn ang="0">
                  <a:pos x="12693" y="1941"/>
                </a:cxn>
                <a:cxn ang="0">
                  <a:pos x="13505" y="1697"/>
                </a:cxn>
                <a:cxn ang="0">
                  <a:pos x="14236" y="1418"/>
                </a:cxn>
                <a:cxn ang="0">
                  <a:pos x="14879" y="1104"/>
                </a:cxn>
                <a:cxn ang="0">
                  <a:pos x="15425" y="761"/>
                </a:cxn>
                <a:cxn ang="0">
                  <a:pos x="15864" y="392"/>
                </a:cxn>
                <a:cxn ang="0">
                  <a:pos x="16188" y="0"/>
                </a:cxn>
              </a:cxnLst>
              <a:rect l="0" t="0" r="r" b="b"/>
              <a:pathLst>
                <a:path w="16188" h="5245">
                  <a:moveTo>
                    <a:pt x="16189" y="2340"/>
                  </a:moveTo>
                  <a:lnTo>
                    <a:pt x="16189" y="2343"/>
                  </a:lnTo>
                  <a:lnTo>
                    <a:pt x="16188" y="2345"/>
                  </a:lnTo>
                  <a:lnTo>
                    <a:pt x="16188" y="2366"/>
                  </a:lnTo>
                  <a:lnTo>
                    <a:pt x="16185" y="2366"/>
                  </a:lnTo>
                  <a:lnTo>
                    <a:pt x="16149" y="2515"/>
                  </a:lnTo>
                  <a:lnTo>
                    <a:pt x="16096" y="2662"/>
                  </a:lnTo>
                  <a:lnTo>
                    <a:pt x="16025" y="2808"/>
                  </a:lnTo>
                  <a:lnTo>
                    <a:pt x="15935" y="2950"/>
                  </a:lnTo>
                  <a:lnTo>
                    <a:pt x="15828" y="3090"/>
                  </a:lnTo>
                  <a:lnTo>
                    <a:pt x="15704" y="3227"/>
                  </a:lnTo>
                  <a:lnTo>
                    <a:pt x="15566" y="3361"/>
                  </a:lnTo>
                  <a:lnTo>
                    <a:pt x="15409" y="3492"/>
                  </a:lnTo>
                  <a:lnTo>
                    <a:pt x="15238" y="3620"/>
                  </a:lnTo>
                  <a:lnTo>
                    <a:pt x="15052" y="3745"/>
                  </a:lnTo>
                  <a:lnTo>
                    <a:pt x="14851" y="3864"/>
                  </a:lnTo>
                  <a:lnTo>
                    <a:pt x="14637" y="3981"/>
                  </a:lnTo>
                  <a:lnTo>
                    <a:pt x="14408" y="4094"/>
                  </a:lnTo>
                  <a:lnTo>
                    <a:pt x="14167" y="4202"/>
                  </a:lnTo>
                  <a:lnTo>
                    <a:pt x="13913" y="4307"/>
                  </a:lnTo>
                  <a:lnTo>
                    <a:pt x="13647" y="4406"/>
                  </a:lnTo>
                  <a:lnTo>
                    <a:pt x="13368" y="4502"/>
                  </a:lnTo>
                  <a:lnTo>
                    <a:pt x="13079" y="4592"/>
                  </a:lnTo>
                  <a:lnTo>
                    <a:pt x="12779" y="4677"/>
                  </a:lnTo>
                  <a:lnTo>
                    <a:pt x="12468" y="4757"/>
                  </a:lnTo>
                  <a:lnTo>
                    <a:pt x="12147" y="4831"/>
                  </a:lnTo>
                  <a:lnTo>
                    <a:pt x="11817" y="4900"/>
                  </a:lnTo>
                  <a:lnTo>
                    <a:pt x="11478" y="4964"/>
                  </a:lnTo>
                  <a:lnTo>
                    <a:pt x="11131" y="5021"/>
                  </a:lnTo>
                  <a:lnTo>
                    <a:pt x="10774" y="5071"/>
                  </a:lnTo>
                  <a:lnTo>
                    <a:pt x="10411" y="5117"/>
                  </a:lnTo>
                  <a:lnTo>
                    <a:pt x="10040" y="5156"/>
                  </a:lnTo>
                  <a:lnTo>
                    <a:pt x="9662" y="5187"/>
                  </a:lnTo>
                  <a:lnTo>
                    <a:pt x="9279" y="5213"/>
                  </a:lnTo>
                  <a:lnTo>
                    <a:pt x="8889" y="5231"/>
                  </a:lnTo>
                  <a:lnTo>
                    <a:pt x="8495" y="5241"/>
                  </a:lnTo>
                  <a:lnTo>
                    <a:pt x="8095" y="5245"/>
                  </a:lnTo>
                  <a:lnTo>
                    <a:pt x="7692" y="5241"/>
                  </a:lnTo>
                  <a:lnTo>
                    <a:pt x="7295" y="5230"/>
                  </a:lnTo>
                  <a:lnTo>
                    <a:pt x="6904" y="5211"/>
                  </a:lnTo>
                  <a:lnTo>
                    <a:pt x="6518" y="5186"/>
                  </a:lnTo>
                  <a:lnTo>
                    <a:pt x="6139" y="5155"/>
                  </a:lnTo>
                  <a:lnTo>
                    <a:pt x="5766" y="5115"/>
                  </a:lnTo>
                  <a:lnTo>
                    <a:pt x="5401" y="5070"/>
                  </a:lnTo>
                  <a:lnTo>
                    <a:pt x="5043" y="5019"/>
                  </a:lnTo>
                  <a:lnTo>
                    <a:pt x="4693" y="4961"/>
                  </a:lnTo>
                  <a:lnTo>
                    <a:pt x="4353" y="4897"/>
                  </a:lnTo>
                  <a:lnTo>
                    <a:pt x="4021" y="4827"/>
                  </a:lnTo>
                  <a:lnTo>
                    <a:pt x="3700" y="4752"/>
                  </a:lnTo>
                  <a:lnTo>
                    <a:pt x="3388" y="4671"/>
                  </a:lnTo>
                  <a:lnTo>
                    <a:pt x="3087" y="4585"/>
                  </a:lnTo>
                  <a:lnTo>
                    <a:pt x="2797" y="4494"/>
                  </a:lnTo>
                  <a:lnTo>
                    <a:pt x="2519" y="4398"/>
                  </a:lnTo>
                  <a:lnTo>
                    <a:pt x="2251" y="4298"/>
                  </a:lnTo>
                  <a:lnTo>
                    <a:pt x="1997" y="4192"/>
                  </a:lnTo>
                  <a:lnTo>
                    <a:pt x="1755" y="4083"/>
                  </a:lnTo>
                  <a:lnTo>
                    <a:pt x="1527" y="3969"/>
                  </a:lnTo>
                  <a:lnTo>
                    <a:pt x="1314" y="3851"/>
                  </a:lnTo>
                  <a:lnTo>
                    <a:pt x="1113" y="3729"/>
                  </a:lnTo>
                  <a:lnTo>
                    <a:pt x="927" y="3604"/>
                  </a:lnTo>
                  <a:lnTo>
                    <a:pt x="757" y="3476"/>
                  </a:lnTo>
                  <a:lnTo>
                    <a:pt x="603" y="3343"/>
                  </a:lnTo>
                  <a:lnTo>
                    <a:pt x="465" y="3208"/>
                  </a:lnTo>
                  <a:lnTo>
                    <a:pt x="343" y="3069"/>
                  </a:lnTo>
                  <a:lnTo>
                    <a:pt x="238" y="2928"/>
                  </a:lnTo>
                  <a:lnTo>
                    <a:pt x="151" y="2784"/>
                  </a:lnTo>
                  <a:lnTo>
                    <a:pt x="82" y="2639"/>
                  </a:lnTo>
                  <a:lnTo>
                    <a:pt x="32" y="2490"/>
                  </a:lnTo>
                  <a:lnTo>
                    <a:pt x="0" y="2340"/>
                  </a:lnTo>
                  <a:lnTo>
                    <a:pt x="6" y="2340"/>
                  </a:lnTo>
                  <a:lnTo>
                    <a:pt x="6" y="8"/>
                  </a:lnTo>
                  <a:lnTo>
                    <a:pt x="102" y="141"/>
                  </a:lnTo>
                  <a:lnTo>
                    <a:pt x="211" y="271"/>
                  </a:lnTo>
                  <a:lnTo>
                    <a:pt x="333" y="399"/>
                  </a:lnTo>
                  <a:lnTo>
                    <a:pt x="467" y="524"/>
                  </a:lnTo>
                  <a:lnTo>
                    <a:pt x="613" y="647"/>
                  </a:lnTo>
                  <a:lnTo>
                    <a:pt x="772" y="767"/>
                  </a:lnTo>
                  <a:lnTo>
                    <a:pt x="944" y="884"/>
                  </a:lnTo>
                  <a:lnTo>
                    <a:pt x="1125" y="998"/>
                  </a:lnTo>
                  <a:lnTo>
                    <a:pt x="1319" y="1109"/>
                  </a:lnTo>
                  <a:lnTo>
                    <a:pt x="1522" y="1217"/>
                  </a:lnTo>
                  <a:lnTo>
                    <a:pt x="1736" y="1320"/>
                  </a:lnTo>
                  <a:lnTo>
                    <a:pt x="1961" y="1421"/>
                  </a:lnTo>
                  <a:lnTo>
                    <a:pt x="2195" y="1518"/>
                  </a:lnTo>
                  <a:lnTo>
                    <a:pt x="2440" y="1611"/>
                  </a:lnTo>
                  <a:lnTo>
                    <a:pt x="2692" y="1700"/>
                  </a:lnTo>
                  <a:lnTo>
                    <a:pt x="2954" y="1785"/>
                  </a:lnTo>
                  <a:lnTo>
                    <a:pt x="3225" y="1866"/>
                  </a:lnTo>
                  <a:lnTo>
                    <a:pt x="3504" y="1943"/>
                  </a:lnTo>
                  <a:lnTo>
                    <a:pt x="3789" y="2015"/>
                  </a:lnTo>
                  <a:lnTo>
                    <a:pt x="4084" y="2083"/>
                  </a:lnTo>
                  <a:lnTo>
                    <a:pt x="4385" y="2146"/>
                  </a:lnTo>
                  <a:lnTo>
                    <a:pt x="4694" y="2204"/>
                  </a:lnTo>
                  <a:lnTo>
                    <a:pt x="5010" y="2256"/>
                  </a:lnTo>
                  <a:lnTo>
                    <a:pt x="5331" y="2305"/>
                  </a:lnTo>
                  <a:lnTo>
                    <a:pt x="5658" y="2348"/>
                  </a:lnTo>
                  <a:lnTo>
                    <a:pt x="5992" y="2385"/>
                  </a:lnTo>
                  <a:lnTo>
                    <a:pt x="6331" y="2418"/>
                  </a:lnTo>
                  <a:lnTo>
                    <a:pt x="6675" y="2444"/>
                  </a:lnTo>
                  <a:lnTo>
                    <a:pt x="7023" y="2464"/>
                  </a:lnTo>
                  <a:lnTo>
                    <a:pt x="7376" y="2480"/>
                  </a:lnTo>
                  <a:lnTo>
                    <a:pt x="7734" y="2489"/>
                  </a:lnTo>
                  <a:lnTo>
                    <a:pt x="8095" y="2492"/>
                  </a:lnTo>
                  <a:lnTo>
                    <a:pt x="8456" y="2489"/>
                  </a:lnTo>
                  <a:lnTo>
                    <a:pt x="8814" y="2480"/>
                  </a:lnTo>
                  <a:lnTo>
                    <a:pt x="9168" y="2464"/>
                  </a:lnTo>
                  <a:lnTo>
                    <a:pt x="9517" y="2444"/>
                  </a:lnTo>
                  <a:lnTo>
                    <a:pt x="9861" y="2417"/>
                  </a:lnTo>
                  <a:lnTo>
                    <a:pt x="10200" y="2385"/>
                  </a:lnTo>
                  <a:lnTo>
                    <a:pt x="10535" y="2347"/>
                  </a:lnTo>
                  <a:lnTo>
                    <a:pt x="10863" y="2304"/>
                  </a:lnTo>
                  <a:lnTo>
                    <a:pt x="11184" y="2255"/>
                  </a:lnTo>
                  <a:lnTo>
                    <a:pt x="11501" y="2203"/>
                  </a:lnTo>
                  <a:lnTo>
                    <a:pt x="11810" y="2144"/>
                  </a:lnTo>
                  <a:lnTo>
                    <a:pt x="12112" y="2081"/>
                  </a:lnTo>
                  <a:lnTo>
                    <a:pt x="12406" y="2013"/>
                  </a:lnTo>
                  <a:lnTo>
                    <a:pt x="12693" y="1941"/>
                  </a:lnTo>
                  <a:lnTo>
                    <a:pt x="12972" y="1863"/>
                  </a:lnTo>
                  <a:lnTo>
                    <a:pt x="13243" y="1782"/>
                  </a:lnTo>
                  <a:lnTo>
                    <a:pt x="13505" y="1697"/>
                  </a:lnTo>
                  <a:lnTo>
                    <a:pt x="13758" y="1608"/>
                  </a:lnTo>
                  <a:lnTo>
                    <a:pt x="14002" y="1514"/>
                  </a:lnTo>
                  <a:lnTo>
                    <a:pt x="14236" y="1418"/>
                  </a:lnTo>
                  <a:lnTo>
                    <a:pt x="14461" y="1316"/>
                  </a:lnTo>
                  <a:lnTo>
                    <a:pt x="14675" y="1212"/>
                  </a:lnTo>
                  <a:lnTo>
                    <a:pt x="14879" y="1104"/>
                  </a:lnTo>
                  <a:lnTo>
                    <a:pt x="15072" y="993"/>
                  </a:lnTo>
                  <a:lnTo>
                    <a:pt x="15253" y="879"/>
                  </a:lnTo>
                  <a:lnTo>
                    <a:pt x="15425" y="761"/>
                  </a:lnTo>
                  <a:lnTo>
                    <a:pt x="15583" y="641"/>
                  </a:lnTo>
                  <a:lnTo>
                    <a:pt x="15730" y="517"/>
                  </a:lnTo>
                  <a:lnTo>
                    <a:pt x="15864" y="392"/>
                  </a:lnTo>
                  <a:lnTo>
                    <a:pt x="15985" y="264"/>
                  </a:lnTo>
                  <a:lnTo>
                    <a:pt x="16094" y="133"/>
                  </a:lnTo>
                  <a:lnTo>
                    <a:pt x="16188" y="0"/>
                  </a:lnTo>
                  <a:lnTo>
                    <a:pt x="16188" y="2340"/>
                  </a:lnTo>
                  <a:lnTo>
                    <a:pt x="16189" y="2340"/>
                  </a:lnTo>
                  <a:close/>
                </a:path>
              </a:pathLst>
            </a:custGeom>
            <a:grpFill/>
            <a:ln w="15875">
              <a:noFill/>
              <a:round/>
            </a:ln>
          </p:spPr>
          <p:txBody>
            <a:bodyPr vert="horz" wrap="square" lIns="103142" tIns="51573" rIns="103142" bIns="51573" numCol="1" anchor="t" anchorCtr="0" compatLnSpc="1">
              <a:prstTxWarp prst="textNoShape">
                <a:avLst/>
              </a:prstTxWarp>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646" name="Freeform 22"/>
            <p:cNvSpPr>
              <a:spLocks noEditPoints="1"/>
            </p:cNvSpPr>
            <p:nvPr/>
          </p:nvSpPr>
          <p:spPr bwMode="black">
            <a:xfrm>
              <a:off x="-983298" y="1666240"/>
              <a:ext cx="547688" cy="207963"/>
            </a:xfrm>
            <a:custGeom>
              <a:avLst/>
              <a:gdLst/>
              <a:ahLst/>
              <a:cxnLst>
                <a:cxn ang="0">
                  <a:pos x="8934" y="16"/>
                </a:cxn>
                <a:cxn ang="0">
                  <a:pos x="10129" y="97"/>
                </a:cxn>
                <a:cxn ang="0">
                  <a:pos x="11258" y="243"/>
                </a:cxn>
                <a:cxn ang="0">
                  <a:pos x="12306" y="447"/>
                </a:cxn>
                <a:cxn ang="0">
                  <a:pos x="13260" y="705"/>
                </a:cxn>
                <a:cxn ang="0">
                  <a:pos x="14105" y="1010"/>
                </a:cxn>
                <a:cxn ang="0">
                  <a:pos x="14828" y="1358"/>
                </a:cxn>
                <a:cxn ang="0">
                  <a:pos x="15413" y="1745"/>
                </a:cxn>
                <a:cxn ang="0">
                  <a:pos x="15849" y="2163"/>
                </a:cxn>
                <a:cxn ang="0">
                  <a:pos x="16122" y="2609"/>
                </a:cxn>
                <a:cxn ang="0">
                  <a:pos x="16215" y="3077"/>
                </a:cxn>
                <a:cxn ang="0">
                  <a:pos x="16122" y="3545"/>
                </a:cxn>
                <a:cxn ang="0">
                  <a:pos x="15849" y="3991"/>
                </a:cxn>
                <a:cxn ang="0">
                  <a:pos x="15413" y="4409"/>
                </a:cxn>
                <a:cxn ang="0">
                  <a:pos x="14828" y="4796"/>
                </a:cxn>
                <a:cxn ang="0">
                  <a:pos x="14105" y="5144"/>
                </a:cxn>
                <a:cxn ang="0">
                  <a:pos x="13260" y="5449"/>
                </a:cxn>
                <a:cxn ang="0">
                  <a:pos x="12306" y="5707"/>
                </a:cxn>
                <a:cxn ang="0">
                  <a:pos x="11258" y="5911"/>
                </a:cxn>
                <a:cxn ang="0">
                  <a:pos x="10129" y="6057"/>
                </a:cxn>
                <a:cxn ang="0">
                  <a:pos x="8934" y="6138"/>
                </a:cxn>
                <a:cxn ang="0">
                  <a:pos x="7691" y="6150"/>
                </a:cxn>
                <a:cxn ang="0">
                  <a:pos x="6477" y="6091"/>
                </a:cxn>
                <a:cxn ang="0">
                  <a:pos x="5325" y="5967"/>
                </a:cxn>
                <a:cxn ang="0">
                  <a:pos x="4248" y="5781"/>
                </a:cxn>
                <a:cxn ang="0">
                  <a:pos x="3262" y="5542"/>
                </a:cxn>
                <a:cxn ang="0">
                  <a:pos x="2380" y="5252"/>
                </a:cxn>
                <a:cxn ang="0">
                  <a:pos x="1614" y="4916"/>
                </a:cxn>
                <a:cxn ang="0">
                  <a:pos x="981" y="4542"/>
                </a:cxn>
                <a:cxn ang="0">
                  <a:pos x="494" y="4133"/>
                </a:cxn>
                <a:cxn ang="0">
                  <a:pos x="165" y="3696"/>
                </a:cxn>
                <a:cxn ang="0">
                  <a:pos x="10" y="3235"/>
                </a:cxn>
                <a:cxn ang="0">
                  <a:pos x="42" y="2763"/>
                </a:cxn>
                <a:cxn ang="0">
                  <a:pos x="256" y="2310"/>
                </a:cxn>
                <a:cxn ang="0">
                  <a:pos x="638" y="1881"/>
                </a:cxn>
                <a:cxn ang="0">
                  <a:pos x="1177" y="1483"/>
                </a:cxn>
                <a:cxn ang="0">
                  <a:pos x="1856" y="1122"/>
                </a:cxn>
                <a:cxn ang="0">
                  <a:pos x="2661" y="801"/>
                </a:cxn>
                <a:cxn ang="0">
                  <a:pos x="3579" y="527"/>
                </a:cxn>
                <a:cxn ang="0">
                  <a:pos x="4598" y="305"/>
                </a:cxn>
                <a:cxn ang="0">
                  <a:pos x="5701" y="139"/>
                </a:cxn>
                <a:cxn ang="0">
                  <a:pos x="6875" y="36"/>
                </a:cxn>
                <a:cxn ang="0">
                  <a:pos x="8108" y="0"/>
                </a:cxn>
                <a:cxn ang="0">
                  <a:pos x="6158" y="5404"/>
                </a:cxn>
                <a:cxn ang="0">
                  <a:pos x="6381" y="3535"/>
                </a:cxn>
                <a:cxn ang="0">
                  <a:pos x="8154" y="2469"/>
                </a:cxn>
                <a:cxn ang="0">
                  <a:pos x="12688" y="1647"/>
                </a:cxn>
                <a:cxn ang="0">
                  <a:pos x="10617" y="1086"/>
                </a:cxn>
                <a:cxn ang="0">
                  <a:pos x="9647" y="3871"/>
                </a:cxn>
                <a:cxn ang="0">
                  <a:pos x="11195" y="2918"/>
                </a:cxn>
                <a:cxn ang="0">
                  <a:pos x="13547" y="4824"/>
                </a:cxn>
                <a:cxn ang="0">
                  <a:pos x="6773" y="1946"/>
                </a:cxn>
                <a:cxn ang="0">
                  <a:pos x="1325" y="2039"/>
                </a:cxn>
              </a:cxnLst>
              <a:rect l="0" t="0" r="r" b="b"/>
              <a:pathLst>
                <a:path w="16215" h="6154">
                  <a:moveTo>
                    <a:pt x="8108" y="0"/>
                  </a:moveTo>
                  <a:lnTo>
                    <a:pt x="8524" y="4"/>
                  </a:lnTo>
                  <a:lnTo>
                    <a:pt x="8934" y="16"/>
                  </a:lnTo>
                  <a:lnTo>
                    <a:pt x="9340" y="36"/>
                  </a:lnTo>
                  <a:lnTo>
                    <a:pt x="9738" y="63"/>
                  </a:lnTo>
                  <a:lnTo>
                    <a:pt x="10129" y="97"/>
                  </a:lnTo>
                  <a:lnTo>
                    <a:pt x="10513" y="139"/>
                  </a:lnTo>
                  <a:lnTo>
                    <a:pt x="10890" y="187"/>
                  </a:lnTo>
                  <a:lnTo>
                    <a:pt x="11258" y="243"/>
                  </a:lnTo>
                  <a:lnTo>
                    <a:pt x="11617" y="305"/>
                  </a:lnTo>
                  <a:lnTo>
                    <a:pt x="11967" y="373"/>
                  </a:lnTo>
                  <a:lnTo>
                    <a:pt x="12306" y="447"/>
                  </a:lnTo>
                  <a:lnTo>
                    <a:pt x="12636" y="527"/>
                  </a:lnTo>
                  <a:lnTo>
                    <a:pt x="12953" y="613"/>
                  </a:lnTo>
                  <a:lnTo>
                    <a:pt x="13260" y="705"/>
                  </a:lnTo>
                  <a:lnTo>
                    <a:pt x="13554" y="801"/>
                  </a:lnTo>
                  <a:lnTo>
                    <a:pt x="13835" y="902"/>
                  </a:lnTo>
                  <a:lnTo>
                    <a:pt x="14105" y="1010"/>
                  </a:lnTo>
                  <a:lnTo>
                    <a:pt x="14359" y="1122"/>
                  </a:lnTo>
                  <a:lnTo>
                    <a:pt x="14601" y="1237"/>
                  </a:lnTo>
                  <a:lnTo>
                    <a:pt x="14828" y="1358"/>
                  </a:lnTo>
                  <a:lnTo>
                    <a:pt x="15038" y="1483"/>
                  </a:lnTo>
                  <a:lnTo>
                    <a:pt x="15234" y="1612"/>
                  </a:lnTo>
                  <a:lnTo>
                    <a:pt x="15413" y="1745"/>
                  </a:lnTo>
                  <a:lnTo>
                    <a:pt x="15577" y="1881"/>
                  </a:lnTo>
                  <a:lnTo>
                    <a:pt x="15721" y="2021"/>
                  </a:lnTo>
                  <a:lnTo>
                    <a:pt x="15849" y="2163"/>
                  </a:lnTo>
                  <a:lnTo>
                    <a:pt x="15959" y="2310"/>
                  </a:lnTo>
                  <a:lnTo>
                    <a:pt x="16050" y="2458"/>
                  </a:lnTo>
                  <a:lnTo>
                    <a:pt x="16122" y="2609"/>
                  </a:lnTo>
                  <a:lnTo>
                    <a:pt x="16173" y="2763"/>
                  </a:lnTo>
                  <a:lnTo>
                    <a:pt x="16205" y="2919"/>
                  </a:lnTo>
                  <a:lnTo>
                    <a:pt x="16215" y="3077"/>
                  </a:lnTo>
                  <a:lnTo>
                    <a:pt x="16205" y="3235"/>
                  </a:lnTo>
                  <a:lnTo>
                    <a:pt x="16173" y="3391"/>
                  </a:lnTo>
                  <a:lnTo>
                    <a:pt x="16122" y="3545"/>
                  </a:lnTo>
                  <a:lnTo>
                    <a:pt x="16050" y="3696"/>
                  </a:lnTo>
                  <a:lnTo>
                    <a:pt x="15959" y="3844"/>
                  </a:lnTo>
                  <a:lnTo>
                    <a:pt x="15849" y="3991"/>
                  </a:lnTo>
                  <a:lnTo>
                    <a:pt x="15721" y="4133"/>
                  </a:lnTo>
                  <a:lnTo>
                    <a:pt x="15577" y="4273"/>
                  </a:lnTo>
                  <a:lnTo>
                    <a:pt x="15413" y="4409"/>
                  </a:lnTo>
                  <a:lnTo>
                    <a:pt x="15234" y="4542"/>
                  </a:lnTo>
                  <a:lnTo>
                    <a:pt x="15038" y="4671"/>
                  </a:lnTo>
                  <a:lnTo>
                    <a:pt x="14828" y="4796"/>
                  </a:lnTo>
                  <a:lnTo>
                    <a:pt x="14601" y="4916"/>
                  </a:lnTo>
                  <a:lnTo>
                    <a:pt x="14359" y="5032"/>
                  </a:lnTo>
                  <a:lnTo>
                    <a:pt x="14105" y="5144"/>
                  </a:lnTo>
                  <a:lnTo>
                    <a:pt x="13835" y="5252"/>
                  </a:lnTo>
                  <a:lnTo>
                    <a:pt x="13554" y="5353"/>
                  </a:lnTo>
                  <a:lnTo>
                    <a:pt x="13260" y="5449"/>
                  </a:lnTo>
                  <a:lnTo>
                    <a:pt x="12953" y="5542"/>
                  </a:lnTo>
                  <a:lnTo>
                    <a:pt x="12636" y="5627"/>
                  </a:lnTo>
                  <a:lnTo>
                    <a:pt x="12306" y="5707"/>
                  </a:lnTo>
                  <a:lnTo>
                    <a:pt x="11967" y="5781"/>
                  </a:lnTo>
                  <a:lnTo>
                    <a:pt x="11617" y="5849"/>
                  </a:lnTo>
                  <a:lnTo>
                    <a:pt x="11258" y="5911"/>
                  </a:lnTo>
                  <a:lnTo>
                    <a:pt x="10890" y="5967"/>
                  </a:lnTo>
                  <a:lnTo>
                    <a:pt x="10513" y="6015"/>
                  </a:lnTo>
                  <a:lnTo>
                    <a:pt x="10129" y="6057"/>
                  </a:lnTo>
                  <a:lnTo>
                    <a:pt x="9738" y="6091"/>
                  </a:lnTo>
                  <a:lnTo>
                    <a:pt x="9340" y="6118"/>
                  </a:lnTo>
                  <a:lnTo>
                    <a:pt x="8934" y="6138"/>
                  </a:lnTo>
                  <a:lnTo>
                    <a:pt x="8524" y="6150"/>
                  </a:lnTo>
                  <a:lnTo>
                    <a:pt x="8108" y="6154"/>
                  </a:lnTo>
                  <a:lnTo>
                    <a:pt x="7691" y="6150"/>
                  </a:lnTo>
                  <a:lnTo>
                    <a:pt x="7281" y="6138"/>
                  </a:lnTo>
                  <a:lnTo>
                    <a:pt x="6875" y="6118"/>
                  </a:lnTo>
                  <a:lnTo>
                    <a:pt x="6477" y="6091"/>
                  </a:lnTo>
                  <a:lnTo>
                    <a:pt x="6086" y="6057"/>
                  </a:lnTo>
                  <a:lnTo>
                    <a:pt x="5701" y="6015"/>
                  </a:lnTo>
                  <a:lnTo>
                    <a:pt x="5325" y="5967"/>
                  </a:lnTo>
                  <a:lnTo>
                    <a:pt x="4957" y="5911"/>
                  </a:lnTo>
                  <a:lnTo>
                    <a:pt x="4598" y="5849"/>
                  </a:lnTo>
                  <a:lnTo>
                    <a:pt x="4248" y="5781"/>
                  </a:lnTo>
                  <a:lnTo>
                    <a:pt x="3909" y="5707"/>
                  </a:lnTo>
                  <a:lnTo>
                    <a:pt x="3579" y="5627"/>
                  </a:lnTo>
                  <a:lnTo>
                    <a:pt x="3262" y="5542"/>
                  </a:lnTo>
                  <a:lnTo>
                    <a:pt x="2955" y="5449"/>
                  </a:lnTo>
                  <a:lnTo>
                    <a:pt x="2661" y="5353"/>
                  </a:lnTo>
                  <a:lnTo>
                    <a:pt x="2380" y="5252"/>
                  </a:lnTo>
                  <a:lnTo>
                    <a:pt x="2110" y="5144"/>
                  </a:lnTo>
                  <a:lnTo>
                    <a:pt x="1856" y="5032"/>
                  </a:lnTo>
                  <a:lnTo>
                    <a:pt x="1614" y="4916"/>
                  </a:lnTo>
                  <a:lnTo>
                    <a:pt x="1387" y="4796"/>
                  </a:lnTo>
                  <a:lnTo>
                    <a:pt x="1177" y="4671"/>
                  </a:lnTo>
                  <a:lnTo>
                    <a:pt x="981" y="4542"/>
                  </a:lnTo>
                  <a:lnTo>
                    <a:pt x="802" y="4409"/>
                  </a:lnTo>
                  <a:lnTo>
                    <a:pt x="638" y="4273"/>
                  </a:lnTo>
                  <a:lnTo>
                    <a:pt x="494" y="4133"/>
                  </a:lnTo>
                  <a:lnTo>
                    <a:pt x="366" y="3991"/>
                  </a:lnTo>
                  <a:lnTo>
                    <a:pt x="256" y="3844"/>
                  </a:lnTo>
                  <a:lnTo>
                    <a:pt x="165" y="3696"/>
                  </a:lnTo>
                  <a:lnTo>
                    <a:pt x="93" y="3545"/>
                  </a:lnTo>
                  <a:lnTo>
                    <a:pt x="42" y="3391"/>
                  </a:lnTo>
                  <a:lnTo>
                    <a:pt x="10" y="3235"/>
                  </a:lnTo>
                  <a:lnTo>
                    <a:pt x="0" y="3077"/>
                  </a:lnTo>
                  <a:lnTo>
                    <a:pt x="10" y="2919"/>
                  </a:lnTo>
                  <a:lnTo>
                    <a:pt x="42" y="2763"/>
                  </a:lnTo>
                  <a:lnTo>
                    <a:pt x="93" y="2609"/>
                  </a:lnTo>
                  <a:lnTo>
                    <a:pt x="165" y="2458"/>
                  </a:lnTo>
                  <a:lnTo>
                    <a:pt x="256" y="2310"/>
                  </a:lnTo>
                  <a:lnTo>
                    <a:pt x="366" y="2163"/>
                  </a:lnTo>
                  <a:lnTo>
                    <a:pt x="494" y="2021"/>
                  </a:lnTo>
                  <a:lnTo>
                    <a:pt x="638" y="1881"/>
                  </a:lnTo>
                  <a:lnTo>
                    <a:pt x="802" y="1745"/>
                  </a:lnTo>
                  <a:lnTo>
                    <a:pt x="981" y="1612"/>
                  </a:lnTo>
                  <a:lnTo>
                    <a:pt x="1177" y="1483"/>
                  </a:lnTo>
                  <a:lnTo>
                    <a:pt x="1387" y="1358"/>
                  </a:lnTo>
                  <a:lnTo>
                    <a:pt x="1614" y="1237"/>
                  </a:lnTo>
                  <a:lnTo>
                    <a:pt x="1856" y="1122"/>
                  </a:lnTo>
                  <a:lnTo>
                    <a:pt x="2110" y="1010"/>
                  </a:lnTo>
                  <a:lnTo>
                    <a:pt x="2380" y="902"/>
                  </a:lnTo>
                  <a:lnTo>
                    <a:pt x="2661" y="801"/>
                  </a:lnTo>
                  <a:lnTo>
                    <a:pt x="2955" y="705"/>
                  </a:lnTo>
                  <a:lnTo>
                    <a:pt x="3262" y="613"/>
                  </a:lnTo>
                  <a:lnTo>
                    <a:pt x="3579" y="527"/>
                  </a:lnTo>
                  <a:lnTo>
                    <a:pt x="3909" y="447"/>
                  </a:lnTo>
                  <a:lnTo>
                    <a:pt x="4248" y="373"/>
                  </a:lnTo>
                  <a:lnTo>
                    <a:pt x="4598" y="305"/>
                  </a:lnTo>
                  <a:lnTo>
                    <a:pt x="4957" y="243"/>
                  </a:lnTo>
                  <a:lnTo>
                    <a:pt x="5325" y="187"/>
                  </a:lnTo>
                  <a:lnTo>
                    <a:pt x="5701" y="139"/>
                  </a:lnTo>
                  <a:lnTo>
                    <a:pt x="6086" y="97"/>
                  </a:lnTo>
                  <a:lnTo>
                    <a:pt x="6477" y="63"/>
                  </a:lnTo>
                  <a:lnTo>
                    <a:pt x="6875" y="36"/>
                  </a:lnTo>
                  <a:lnTo>
                    <a:pt x="7281" y="16"/>
                  </a:lnTo>
                  <a:lnTo>
                    <a:pt x="7691" y="4"/>
                  </a:lnTo>
                  <a:lnTo>
                    <a:pt x="8108" y="0"/>
                  </a:lnTo>
                  <a:close/>
                  <a:moveTo>
                    <a:pt x="3135" y="4675"/>
                  </a:moveTo>
                  <a:lnTo>
                    <a:pt x="3787" y="5515"/>
                  </a:lnTo>
                  <a:lnTo>
                    <a:pt x="6158" y="5404"/>
                  </a:lnTo>
                  <a:lnTo>
                    <a:pt x="5243" y="5179"/>
                  </a:lnTo>
                  <a:lnTo>
                    <a:pt x="7687" y="3759"/>
                  </a:lnTo>
                  <a:lnTo>
                    <a:pt x="6381" y="3535"/>
                  </a:lnTo>
                  <a:lnTo>
                    <a:pt x="3936" y="4880"/>
                  </a:lnTo>
                  <a:lnTo>
                    <a:pt x="3135" y="4675"/>
                  </a:lnTo>
                  <a:close/>
                  <a:moveTo>
                    <a:pt x="8154" y="2469"/>
                  </a:moveTo>
                  <a:lnTo>
                    <a:pt x="9497" y="2824"/>
                  </a:lnTo>
                  <a:lnTo>
                    <a:pt x="11792" y="1404"/>
                  </a:lnTo>
                  <a:lnTo>
                    <a:pt x="12688" y="1647"/>
                  </a:lnTo>
                  <a:lnTo>
                    <a:pt x="11979" y="767"/>
                  </a:lnTo>
                  <a:lnTo>
                    <a:pt x="9833" y="862"/>
                  </a:lnTo>
                  <a:lnTo>
                    <a:pt x="10617" y="1086"/>
                  </a:lnTo>
                  <a:lnTo>
                    <a:pt x="8154" y="2469"/>
                  </a:lnTo>
                  <a:close/>
                  <a:moveTo>
                    <a:pt x="13547" y="4824"/>
                  </a:moveTo>
                  <a:lnTo>
                    <a:pt x="9647" y="3871"/>
                  </a:lnTo>
                  <a:lnTo>
                    <a:pt x="9068" y="4264"/>
                  </a:lnTo>
                  <a:lnTo>
                    <a:pt x="9012" y="3235"/>
                  </a:lnTo>
                  <a:lnTo>
                    <a:pt x="11195" y="2918"/>
                  </a:lnTo>
                  <a:lnTo>
                    <a:pt x="10561" y="3254"/>
                  </a:lnTo>
                  <a:lnTo>
                    <a:pt x="14516" y="4133"/>
                  </a:lnTo>
                  <a:lnTo>
                    <a:pt x="13547" y="4824"/>
                  </a:lnTo>
                  <a:close/>
                  <a:moveTo>
                    <a:pt x="4534" y="3291"/>
                  </a:moveTo>
                  <a:lnTo>
                    <a:pt x="6885" y="3011"/>
                  </a:lnTo>
                  <a:lnTo>
                    <a:pt x="6773" y="1946"/>
                  </a:lnTo>
                  <a:lnTo>
                    <a:pt x="6176" y="2300"/>
                  </a:lnTo>
                  <a:lnTo>
                    <a:pt x="2463" y="1478"/>
                  </a:lnTo>
                  <a:lnTo>
                    <a:pt x="1325" y="2039"/>
                  </a:lnTo>
                  <a:lnTo>
                    <a:pt x="5019" y="2955"/>
                  </a:lnTo>
                  <a:lnTo>
                    <a:pt x="4534" y="3291"/>
                  </a:lnTo>
                  <a:close/>
                </a:path>
              </a:pathLst>
            </a:custGeom>
            <a:grpFill/>
            <a:ln w="15875">
              <a:noFill/>
              <a:round/>
            </a:ln>
          </p:spPr>
          <p:txBody>
            <a:bodyPr vert="horz" wrap="square" lIns="103142" tIns="51573" rIns="103142" bIns="51573" numCol="1" anchor="t" anchorCtr="0" compatLnSpc="1">
              <a:prstTxWarp prst="textNoShape">
                <a:avLst/>
              </a:prstTxWarp>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grpSp>
        <p:nvGrpSpPr>
          <p:cNvPr id="640" name="组合 639"/>
          <p:cNvGrpSpPr/>
          <p:nvPr/>
        </p:nvGrpSpPr>
        <p:grpSpPr bwMode="black">
          <a:xfrm>
            <a:off x="8310585" y="5477967"/>
            <a:ext cx="197702" cy="153624"/>
            <a:chOff x="-983298" y="1666240"/>
            <a:chExt cx="547688" cy="309564"/>
          </a:xfrm>
          <a:solidFill>
            <a:srgbClr val="FFC000"/>
          </a:solidFill>
        </p:grpSpPr>
        <p:sp>
          <p:nvSpPr>
            <p:cNvPr id="643" name="Freeform 21"/>
            <p:cNvSpPr/>
            <p:nvPr/>
          </p:nvSpPr>
          <p:spPr bwMode="black">
            <a:xfrm>
              <a:off x="-983298" y="1798004"/>
              <a:ext cx="547688" cy="177800"/>
            </a:xfrm>
            <a:custGeom>
              <a:avLst/>
              <a:gdLst/>
              <a:ahLst/>
              <a:cxnLst>
                <a:cxn ang="0">
                  <a:pos x="16188" y="2345"/>
                </a:cxn>
                <a:cxn ang="0">
                  <a:pos x="16149" y="2515"/>
                </a:cxn>
                <a:cxn ang="0">
                  <a:pos x="15935" y="2950"/>
                </a:cxn>
                <a:cxn ang="0">
                  <a:pos x="15566" y="3361"/>
                </a:cxn>
                <a:cxn ang="0">
                  <a:pos x="15052" y="3745"/>
                </a:cxn>
                <a:cxn ang="0">
                  <a:pos x="14408" y="4094"/>
                </a:cxn>
                <a:cxn ang="0">
                  <a:pos x="13647" y="4406"/>
                </a:cxn>
                <a:cxn ang="0">
                  <a:pos x="12779" y="4677"/>
                </a:cxn>
                <a:cxn ang="0">
                  <a:pos x="11817" y="4900"/>
                </a:cxn>
                <a:cxn ang="0">
                  <a:pos x="10774" y="5071"/>
                </a:cxn>
                <a:cxn ang="0">
                  <a:pos x="9662" y="5187"/>
                </a:cxn>
                <a:cxn ang="0">
                  <a:pos x="8495" y="5241"/>
                </a:cxn>
                <a:cxn ang="0">
                  <a:pos x="7295" y="5230"/>
                </a:cxn>
                <a:cxn ang="0">
                  <a:pos x="6139" y="5155"/>
                </a:cxn>
                <a:cxn ang="0">
                  <a:pos x="5043" y="5019"/>
                </a:cxn>
                <a:cxn ang="0">
                  <a:pos x="4021" y="4827"/>
                </a:cxn>
                <a:cxn ang="0">
                  <a:pos x="3087" y="4585"/>
                </a:cxn>
                <a:cxn ang="0">
                  <a:pos x="2251" y="4298"/>
                </a:cxn>
                <a:cxn ang="0">
                  <a:pos x="1527" y="3969"/>
                </a:cxn>
                <a:cxn ang="0">
                  <a:pos x="927" y="3604"/>
                </a:cxn>
                <a:cxn ang="0">
                  <a:pos x="465" y="3208"/>
                </a:cxn>
                <a:cxn ang="0">
                  <a:pos x="151" y="2784"/>
                </a:cxn>
                <a:cxn ang="0">
                  <a:pos x="0" y="2340"/>
                </a:cxn>
                <a:cxn ang="0">
                  <a:pos x="102" y="141"/>
                </a:cxn>
                <a:cxn ang="0">
                  <a:pos x="467" y="524"/>
                </a:cxn>
                <a:cxn ang="0">
                  <a:pos x="944" y="884"/>
                </a:cxn>
                <a:cxn ang="0">
                  <a:pos x="1522" y="1217"/>
                </a:cxn>
                <a:cxn ang="0">
                  <a:pos x="2195" y="1518"/>
                </a:cxn>
                <a:cxn ang="0">
                  <a:pos x="2954" y="1785"/>
                </a:cxn>
                <a:cxn ang="0">
                  <a:pos x="3789" y="2015"/>
                </a:cxn>
                <a:cxn ang="0">
                  <a:pos x="4694" y="2204"/>
                </a:cxn>
                <a:cxn ang="0">
                  <a:pos x="5658" y="2348"/>
                </a:cxn>
                <a:cxn ang="0">
                  <a:pos x="6675" y="2444"/>
                </a:cxn>
                <a:cxn ang="0">
                  <a:pos x="7734" y="2489"/>
                </a:cxn>
                <a:cxn ang="0">
                  <a:pos x="8814" y="2480"/>
                </a:cxn>
                <a:cxn ang="0">
                  <a:pos x="9861" y="2417"/>
                </a:cxn>
                <a:cxn ang="0">
                  <a:pos x="10863" y="2304"/>
                </a:cxn>
                <a:cxn ang="0">
                  <a:pos x="11810" y="2144"/>
                </a:cxn>
                <a:cxn ang="0">
                  <a:pos x="12693" y="1941"/>
                </a:cxn>
                <a:cxn ang="0">
                  <a:pos x="13505" y="1697"/>
                </a:cxn>
                <a:cxn ang="0">
                  <a:pos x="14236" y="1418"/>
                </a:cxn>
                <a:cxn ang="0">
                  <a:pos x="14879" y="1104"/>
                </a:cxn>
                <a:cxn ang="0">
                  <a:pos x="15425" y="761"/>
                </a:cxn>
                <a:cxn ang="0">
                  <a:pos x="15864" y="392"/>
                </a:cxn>
                <a:cxn ang="0">
                  <a:pos x="16188" y="0"/>
                </a:cxn>
              </a:cxnLst>
              <a:rect l="0" t="0" r="r" b="b"/>
              <a:pathLst>
                <a:path w="16188" h="5245">
                  <a:moveTo>
                    <a:pt x="16189" y="2340"/>
                  </a:moveTo>
                  <a:lnTo>
                    <a:pt x="16189" y="2343"/>
                  </a:lnTo>
                  <a:lnTo>
                    <a:pt x="16188" y="2345"/>
                  </a:lnTo>
                  <a:lnTo>
                    <a:pt x="16188" y="2366"/>
                  </a:lnTo>
                  <a:lnTo>
                    <a:pt x="16185" y="2366"/>
                  </a:lnTo>
                  <a:lnTo>
                    <a:pt x="16149" y="2515"/>
                  </a:lnTo>
                  <a:lnTo>
                    <a:pt x="16096" y="2662"/>
                  </a:lnTo>
                  <a:lnTo>
                    <a:pt x="16025" y="2808"/>
                  </a:lnTo>
                  <a:lnTo>
                    <a:pt x="15935" y="2950"/>
                  </a:lnTo>
                  <a:lnTo>
                    <a:pt x="15828" y="3090"/>
                  </a:lnTo>
                  <a:lnTo>
                    <a:pt x="15704" y="3227"/>
                  </a:lnTo>
                  <a:lnTo>
                    <a:pt x="15566" y="3361"/>
                  </a:lnTo>
                  <a:lnTo>
                    <a:pt x="15409" y="3492"/>
                  </a:lnTo>
                  <a:lnTo>
                    <a:pt x="15238" y="3620"/>
                  </a:lnTo>
                  <a:lnTo>
                    <a:pt x="15052" y="3745"/>
                  </a:lnTo>
                  <a:lnTo>
                    <a:pt x="14851" y="3864"/>
                  </a:lnTo>
                  <a:lnTo>
                    <a:pt x="14637" y="3981"/>
                  </a:lnTo>
                  <a:lnTo>
                    <a:pt x="14408" y="4094"/>
                  </a:lnTo>
                  <a:lnTo>
                    <a:pt x="14167" y="4202"/>
                  </a:lnTo>
                  <a:lnTo>
                    <a:pt x="13913" y="4307"/>
                  </a:lnTo>
                  <a:lnTo>
                    <a:pt x="13647" y="4406"/>
                  </a:lnTo>
                  <a:lnTo>
                    <a:pt x="13368" y="4502"/>
                  </a:lnTo>
                  <a:lnTo>
                    <a:pt x="13079" y="4592"/>
                  </a:lnTo>
                  <a:lnTo>
                    <a:pt x="12779" y="4677"/>
                  </a:lnTo>
                  <a:lnTo>
                    <a:pt x="12468" y="4757"/>
                  </a:lnTo>
                  <a:lnTo>
                    <a:pt x="12147" y="4831"/>
                  </a:lnTo>
                  <a:lnTo>
                    <a:pt x="11817" y="4900"/>
                  </a:lnTo>
                  <a:lnTo>
                    <a:pt x="11478" y="4964"/>
                  </a:lnTo>
                  <a:lnTo>
                    <a:pt x="11131" y="5021"/>
                  </a:lnTo>
                  <a:lnTo>
                    <a:pt x="10774" y="5071"/>
                  </a:lnTo>
                  <a:lnTo>
                    <a:pt x="10411" y="5117"/>
                  </a:lnTo>
                  <a:lnTo>
                    <a:pt x="10040" y="5156"/>
                  </a:lnTo>
                  <a:lnTo>
                    <a:pt x="9662" y="5187"/>
                  </a:lnTo>
                  <a:lnTo>
                    <a:pt x="9279" y="5213"/>
                  </a:lnTo>
                  <a:lnTo>
                    <a:pt x="8889" y="5231"/>
                  </a:lnTo>
                  <a:lnTo>
                    <a:pt x="8495" y="5241"/>
                  </a:lnTo>
                  <a:lnTo>
                    <a:pt x="8095" y="5245"/>
                  </a:lnTo>
                  <a:lnTo>
                    <a:pt x="7692" y="5241"/>
                  </a:lnTo>
                  <a:lnTo>
                    <a:pt x="7295" y="5230"/>
                  </a:lnTo>
                  <a:lnTo>
                    <a:pt x="6904" y="5211"/>
                  </a:lnTo>
                  <a:lnTo>
                    <a:pt x="6518" y="5186"/>
                  </a:lnTo>
                  <a:lnTo>
                    <a:pt x="6139" y="5155"/>
                  </a:lnTo>
                  <a:lnTo>
                    <a:pt x="5766" y="5115"/>
                  </a:lnTo>
                  <a:lnTo>
                    <a:pt x="5401" y="5070"/>
                  </a:lnTo>
                  <a:lnTo>
                    <a:pt x="5043" y="5019"/>
                  </a:lnTo>
                  <a:lnTo>
                    <a:pt x="4693" y="4961"/>
                  </a:lnTo>
                  <a:lnTo>
                    <a:pt x="4353" y="4897"/>
                  </a:lnTo>
                  <a:lnTo>
                    <a:pt x="4021" y="4827"/>
                  </a:lnTo>
                  <a:lnTo>
                    <a:pt x="3700" y="4752"/>
                  </a:lnTo>
                  <a:lnTo>
                    <a:pt x="3388" y="4671"/>
                  </a:lnTo>
                  <a:lnTo>
                    <a:pt x="3087" y="4585"/>
                  </a:lnTo>
                  <a:lnTo>
                    <a:pt x="2797" y="4494"/>
                  </a:lnTo>
                  <a:lnTo>
                    <a:pt x="2519" y="4398"/>
                  </a:lnTo>
                  <a:lnTo>
                    <a:pt x="2251" y="4298"/>
                  </a:lnTo>
                  <a:lnTo>
                    <a:pt x="1997" y="4192"/>
                  </a:lnTo>
                  <a:lnTo>
                    <a:pt x="1755" y="4083"/>
                  </a:lnTo>
                  <a:lnTo>
                    <a:pt x="1527" y="3969"/>
                  </a:lnTo>
                  <a:lnTo>
                    <a:pt x="1314" y="3851"/>
                  </a:lnTo>
                  <a:lnTo>
                    <a:pt x="1113" y="3729"/>
                  </a:lnTo>
                  <a:lnTo>
                    <a:pt x="927" y="3604"/>
                  </a:lnTo>
                  <a:lnTo>
                    <a:pt x="757" y="3476"/>
                  </a:lnTo>
                  <a:lnTo>
                    <a:pt x="603" y="3343"/>
                  </a:lnTo>
                  <a:lnTo>
                    <a:pt x="465" y="3208"/>
                  </a:lnTo>
                  <a:lnTo>
                    <a:pt x="343" y="3069"/>
                  </a:lnTo>
                  <a:lnTo>
                    <a:pt x="238" y="2928"/>
                  </a:lnTo>
                  <a:lnTo>
                    <a:pt x="151" y="2784"/>
                  </a:lnTo>
                  <a:lnTo>
                    <a:pt x="82" y="2639"/>
                  </a:lnTo>
                  <a:lnTo>
                    <a:pt x="32" y="2490"/>
                  </a:lnTo>
                  <a:lnTo>
                    <a:pt x="0" y="2340"/>
                  </a:lnTo>
                  <a:lnTo>
                    <a:pt x="6" y="2340"/>
                  </a:lnTo>
                  <a:lnTo>
                    <a:pt x="6" y="8"/>
                  </a:lnTo>
                  <a:lnTo>
                    <a:pt x="102" y="141"/>
                  </a:lnTo>
                  <a:lnTo>
                    <a:pt x="211" y="271"/>
                  </a:lnTo>
                  <a:lnTo>
                    <a:pt x="333" y="399"/>
                  </a:lnTo>
                  <a:lnTo>
                    <a:pt x="467" y="524"/>
                  </a:lnTo>
                  <a:lnTo>
                    <a:pt x="613" y="647"/>
                  </a:lnTo>
                  <a:lnTo>
                    <a:pt x="772" y="767"/>
                  </a:lnTo>
                  <a:lnTo>
                    <a:pt x="944" y="884"/>
                  </a:lnTo>
                  <a:lnTo>
                    <a:pt x="1125" y="998"/>
                  </a:lnTo>
                  <a:lnTo>
                    <a:pt x="1319" y="1109"/>
                  </a:lnTo>
                  <a:lnTo>
                    <a:pt x="1522" y="1217"/>
                  </a:lnTo>
                  <a:lnTo>
                    <a:pt x="1736" y="1320"/>
                  </a:lnTo>
                  <a:lnTo>
                    <a:pt x="1961" y="1421"/>
                  </a:lnTo>
                  <a:lnTo>
                    <a:pt x="2195" y="1518"/>
                  </a:lnTo>
                  <a:lnTo>
                    <a:pt x="2440" y="1611"/>
                  </a:lnTo>
                  <a:lnTo>
                    <a:pt x="2692" y="1700"/>
                  </a:lnTo>
                  <a:lnTo>
                    <a:pt x="2954" y="1785"/>
                  </a:lnTo>
                  <a:lnTo>
                    <a:pt x="3225" y="1866"/>
                  </a:lnTo>
                  <a:lnTo>
                    <a:pt x="3504" y="1943"/>
                  </a:lnTo>
                  <a:lnTo>
                    <a:pt x="3789" y="2015"/>
                  </a:lnTo>
                  <a:lnTo>
                    <a:pt x="4084" y="2083"/>
                  </a:lnTo>
                  <a:lnTo>
                    <a:pt x="4385" y="2146"/>
                  </a:lnTo>
                  <a:lnTo>
                    <a:pt x="4694" y="2204"/>
                  </a:lnTo>
                  <a:lnTo>
                    <a:pt x="5010" y="2256"/>
                  </a:lnTo>
                  <a:lnTo>
                    <a:pt x="5331" y="2305"/>
                  </a:lnTo>
                  <a:lnTo>
                    <a:pt x="5658" y="2348"/>
                  </a:lnTo>
                  <a:lnTo>
                    <a:pt x="5992" y="2385"/>
                  </a:lnTo>
                  <a:lnTo>
                    <a:pt x="6331" y="2418"/>
                  </a:lnTo>
                  <a:lnTo>
                    <a:pt x="6675" y="2444"/>
                  </a:lnTo>
                  <a:lnTo>
                    <a:pt x="7023" y="2464"/>
                  </a:lnTo>
                  <a:lnTo>
                    <a:pt x="7376" y="2480"/>
                  </a:lnTo>
                  <a:lnTo>
                    <a:pt x="7734" y="2489"/>
                  </a:lnTo>
                  <a:lnTo>
                    <a:pt x="8095" y="2492"/>
                  </a:lnTo>
                  <a:lnTo>
                    <a:pt x="8456" y="2489"/>
                  </a:lnTo>
                  <a:lnTo>
                    <a:pt x="8814" y="2480"/>
                  </a:lnTo>
                  <a:lnTo>
                    <a:pt x="9168" y="2464"/>
                  </a:lnTo>
                  <a:lnTo>
                    <a:pt x="9517" y="2444"/>
                  </a:lnTo>
                  <a:lnTo>
                    <a:pt x="9861" y="2417"/>
                  </a:lnTo>
                  <a:lnTo>
                    <a:pt x="10200" y="2385"/>
                  </a:lnTo>
                  <a:lnTo>
                    <a:pt x="10535" y="2347"/>
                  </a:lnTo>
                  <a:lnTo>
                    <a:pt x="10863" y="2304"/>
                  </a:lnTo>
                  <a:lnTo>
                    <a:pt x="11184" y="2255"/>
                  </a:lnTo>
                  <a:lnTo>
                    <a:pt x="11501" y="2203"/>
                  </a:lnTo>
                  <a:lnTo>
                    <a:pt x="11810" y="2144"/>
                  </a:lnTo>
                  <a:lnTo>
                    <a:pt x="12112" y="2081"/>
                  </a:lnTo>
                  <a:lnTo>
                    <a:pt x="12406" y="2013"/>
                  </a:lnTo>
                  <a:lnTo>
                    <a:pt x="12693" y="1941"/>
                  </a:lnTo>
                  <a:lnTo>
                    <a:pt x="12972" y="1863"/>
                  </a:lnTo>
                  <a:lnTo>
                    <a:pt x="13243" y="1782"/>
                  </a:lnTo>
                  <a:lnTo>
                    <a:pt x="13505" y="1697"/>
                  </a:lnTo>
                  <a:lnTo>
                    <a:pt x="13758" y="1608"/>
                  </a:lnTo>
                  <a:lnTo>
                    <a:pt x="14002" y="1514"/>
                  </a:lnTo>
                  <a:lnTo>
                    <a:pt x="14236" y="1418"/>
                  </a:lnTo>
                  <a:lnTo>
                    <a:pt x="14461" y="1316"/>
                  </a:lnTo>
                  <a:lnTo>
                    <a:pt x="14675" y="1212"/>
                  </a:lnTo>
                  <a:lnTo>
                    <a:pt x="14879" y="1104"/>
                  </a:lnTo>
                  <a:lnTo>
                    <a:pt x="15072" y="993"/>
                  </a:lnTo>
                  <a:lnTo>
                    <a:pt x="15253" y="879"/>
                  </a:lnTo>
                  <a:lnTo>
                    <a:pt x="15425" y="761"/>
                  </a:lnTo>
                  <a:lnTo>
                    <a:pt x="15583" y="641"/>
                  </a:lnTo>
                  <a:lnTo>
                    <a:pt x="15730" y="517"/>
                  </a:lnTo>
                  <a:lnTo>
                    <a:pt x="15864" y="392"/>
                  </a:lnTo>
                  <a:lnTo>
                    <a:pt x="15985" y="264"/>
                  </a:lnTo>
                  <a:lnTo>
                    <a:pt x="16094" y="133"/>
                  </a:lnTo>
                  <a:lnTo>
                    <a:pt x="16188" y="0"/>
                  </a:lnTo>
                  <a:lnTo>
                    <a:pt x="16188" y="2340"/>
                  </a:lnTo>
                  <a:lnTo>
                    <a:pt x="16189" y="2340"/>
                  </a:lnTo>
                  <a:close/>
                </a:path>
              </a:pathLst>
            </a:custGeom>
            <a:grpFill/>
            <a:ln w="15875">
              <a:noFill/>
              <a:round/>
            </a:ln>
          </p:spPr>
          <p:txBody>
            <a:bodyPr vert="horz" wrap="square" lIns="103142" tIns="51573" rIns="103142" bIns="51573" numCol="1" anchor="t" anchorCtr="0" compatLnSpc="1">
              <a:prstTxWarp prst="textNoShape">
                <a:avLst/>
              </a:prstTxWarp>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sp>
          <p:nvSpPr>
            <p:cNvPr id="644" name="Freeform 22"/>
            <p:cNvSpPr>
              <a:spLocks noEditPoints="1"/>
            </p:cNvSpPr>
            <p:nvPr/>
          </p:nvSpPr>
          <p:spPr bwMode="black">
            <a:xfrm>
              <a:off x="-983298" y="1666240"/>
              <a:ext cx="547688" cy="207963"/>
            </a:xfrm>
            <a:custGeom>
              <a:avLst/>
              <a:gdLst/>
              <a:ahLst/>
              <a:cxnLst>
                <a:cxn ang="0">
                  <a:pos x="8934" y="16"/>
                </a:cxn>
                <a:cxn ang="0">
                  <a:pos x="10129" y="97"/>
                </a:cxn>
                <a:cxn ang="0">
                  <a:pos x="11258" y="243"/>
                </a:cxn>
                <a:cxn ang="0">
                  <a:pos x="12306" y="447"/>
                </a:cxn>
                <a:cxn ang="0">
                  <a:pos x="13260" y="705"/>
                </a:cxn>
                <a:cxn ang="0">
                  <a:pos x="14105" y="1010"/>
                </a:cxn>
                <a:cxn ang="0">
                  <a:pos x="14828" y="1358"/>
                </a:cxn>
                <a:cxn ang="0">
                  <a:pos x="15413" y="1745"/>
                </a:cxn>
                <a:cxn ang="0">
                  <a:pos x="15849" y="2163"/>
                </a:cxn>
                <a:cxn ang="0">
                  <a:pos x="16122" y="2609"/>
                </a:cxn>
                <a:cxn ang="0">
                  <a:pos x="16215" y="3077"/>
                </a:cxn>
                <a:cxn ang="0">
                  <a:pos x="16122" y="3545"/>
                </a:cxn>
                <a:cxn ang="0">
                  <a:pos x="15849" y="3991"/>
                </a:cxn>
                <a:cxn ang="0">
                  <a:pos x="15413" y="4409"/>
                </a:cxn>
                <a:cxn ang="0">
                  <a:pos x="14828" y="4796"/>
                </a:cxn>
                <a:cxn ang="0">
                  <a:pos x="14105" y="5144"/>
                </a:cxn>
                <a:cxn ang="0">
                  <a:pos x="13260" y="5449"/>
                </a:cxn>
                <a:cxn ang="0">
                  <a:pos x="12306" y="5707"/>
                </a:cxn>
                <a:cxn ang="0">
                  <a:pos x="11258" y="5911"/>
                </a:cxn>
                <a:cxn ang="0">
                  <a:pos x="10129" y="6057"/>
                </a:cxn>
                <a:cxn ang="0">
                  <a:pos x="8934" y="6138"/>
                </a:cxn>
                <a:cxn ang="0">
                  <a:pos x="7691" y="6150"/>
                </a:cxn>
                <a:cxn ang="0">
                  <a:pos x="6477" y="6091"/>
                </a:cxn>
                <a:cxn ang="0">
                  <a:pos x="5325" y="5967"/>
                </a:cxn>
                <a:cxn ang="0">
                  <a:pos x="4248" y="5781"/>
                </a:cxn>
                <a:cxn ang="0">
                  <a:pos x="3262" y="5542"/>
                </a:cxn>
                <a:cxn ang="0">
                  <a:pos x="2380" y="5252"/>
                </a:cxn>
                <a:cxn ang="0">
                  <a:pos x="1614" y="4916"/>
                </a:cxn>
                <a:cxn ang="0">
                  <a:pos x="981" y="4542"/>
                </a:cxn>
                <a:cxn ang="0">
                  <a:pos x="494" y="4133"/>
                </a:cxn>
                <a:cxn ang="0">
                  <a:pos x="165" y="3696"/>
                </a:cxn>
                <a:cxn ang="0">
                  <a:pos x="10" y="3235"/>
                </a:cxn>
                <a:cxn ang="0">
                  <a:pos x="42" y="2763"/>
                </a:cxn>
                <a:cxn ang="0">
                  <a:pos x="256" y="2310"/>
                </a:cxn>
                <a:cxn ang="0">
                  <a:pos x="638" y="1881"/>
                </a:cxn>
                <a:cxn ang="0">
                  <a:pos x="1177" y="1483"/>
                </a:cxn>
                <a:cxn ang="0">
                  <a:pos x="1856" y="1122"/>
                </a:cxn>
                <a:cxn ang="0">
                  <a:pos x="2661" y="801"/>
                </a:cxn>
                <a:cxn ang="0">
                  <a:pos x="3579" y="527"/>
                </a:cxn>
                <a:cxn ang="0">
                  <a:pos x="4598" y="305"/>
                </a:cxn>
                <a:cxn ang="0">
                  <a:pos x="5701" y="139"/>
                </a:cxn>
                <a:cxn ang="0">
                  <a:pos x="6875" y="36"/>
                </a:cxn>
                <a:cxn ang="0">
                  <a:pos x="8108" y="0"/>
                </a:cxn>
                <a:cxn ang="0">
                  <a:pos x="6158" y="5404"/>
                </a:cxn>
                <a:cxn ang="0">
                  <a:pos x="6381" y="3535"/>
                </a:cxn>
                <a:cxn ang="0">
                  <a:pos x="8154" y="2469"/>
                </a:cxn>
                <a:cxn ang="0">
                  <a:pos x="12688" y="1647"/>
                </a:cxn>
                <a:cxn ang="0">
                  <a:pos x="10617" y="1086"/>
                </a:cxn>
                <a:cxn ang="0">
                  <a:pos x="9647" y="3871"/>
                </a:cxn>
                <a:cxn ang="0">
                  <a:pos x="11195" y="2918"/>
                </a:cxn>
                <a:cxn ang="0">
                  <a:pos x="13547" y="4824"/>
                </a:cxn>
                <a:cxn ang="0">
                  <a:pos x="6773" y="1946"/>
                </a:cxn>
                <a:cxn ang="0">
                  <a:pos x="1325" y="2039"/>
                </a:cxn>
              </a:cxnLst>
              <a:rect l="0" t="0" r="r" b="b"/>
              <a:pathLst>
                <a:path w="16215" h="6154">
                  <a:moveTo>
                    <a:pt x="8108" y="0"/>
                  </a:moveTo>
                  <a:lnTo>
                    <a:pt x="8524" y="4"/>
                  </a:lnTo>
                  <a:lnTo>
                    <a:pt x="8934" y="16"/>
                  </a:lnTo>
                  <a:lnTo>
                    <a:pt x="9340" y="36"/>
                  </a:lnTo>
                  <a:lnTo>
                    <a:pt x="9738" y="63"/>
                  </a:lnTo>
                  <a:lnTo>
                    <a:pt x="10129" y="97"/>
                  </a:lnTo>
                  <a:lnTo>
                    <a:pt x="10513" y="139"/>
                  </a:lnTo>
                  <a:lnTo>
                    <a:pt x="10890" y="187"/>
                  </a:lnTo>
                  <a:lnTo>
                    <a:pt x="11258" y="243"/>
                  </a:lnTo>
                  <a:lnTo>
                    <a:pt x="11617" y="305"/>
                  </a:lnTo>
                  <a:lnTo>
                    <a:pt x="11967" y="373"/>
                  </a:lnTo>
                  <a:lnTo>
                    <a:pt x="12306" y="447"/>
                  </a:lnTo>
                  <a:lnTo>
                    <a:pt x="12636" y="527"/>
                  </a:lnTo>
                  <a:lnTo>
                    <a:pt x="12953" y="613"/>
                  </a:lnTo>
                  <a:lnTo>
                    <a:pt x="13260" y="705"/>
                  </a:lnTo>
                  <a:lnTo>
                    <a:pt x="13554" y="801"/>
                  </a:lnTo>
                  <a:lnTo>
                    <a:pt x="13835" y="902"/>
                  </a:lnTo>
                  <a:lnTo>
                    <a:pt x="14105" y="1010"/>
                  </a:lnTo>
                  <a:lnTo>
                    <a:pt x="14359" y="1122"/>
                  </a:lnTo>
                  <a:lnTo>
                    <a:pt x="14601" y="1237"/>
                  </a:lnTo>
                  <a:lnTo>
                    <a:pt x="14828" y="1358"/>
                  </a:lnTo>
                  <a:lnTo>
                    <a:pt x="15038" y="1483"/>
                  </a:lnTo>
                  <a:lnTo>
                    <a:pt x="15234" y="1612"/>
                  </a:lnTo>
                  <a:lnTo>
                    <a:pt x="15413" y="1745"/>
                  </a:lnTo>
                  <a:lnTo>
                    <a:pt x="15577" y="1881"/>
                  </a:lnTo>
                  <a:lnTo>
                    <a:pt x="15721" y="2021"/>
                  </a:lnTo>
                  <a:lnTo>
                    <a:pt x="15849" y="2163"/>
                  </a:lnTo>
                  <a:lnTo>
                    <a:pt x="15959" y="2310"/>
                  </a:lnTo>
                  <a:lnTo>
                    <a:pt x="16050" y="2458"/>
                  </a:lnTo>
                  <a:lnTo>
                    <a:pt x="16122" y="2609"/>
                  </a:lnTo>
                  <a:lnTo>
                    <a:pt x="16173" y="2763"/>
                  </a:lnTo>
                  <a:lnTo>
                    <a:pt x="16205" y="2919"/>
                  </a:lnTo>
                  <a:lnTo>
                    <a:pt x="16215" y="3077"/>
                  </a:lnTo>
                  <a:lnTo>
                    <a:pt x="16205" y="3235"/>
                  </a:lnTo>
                  <a:lnTo>
                    <a:pt x="16173" y="3391"/>
                  </a:lnTo>
                  <a:lnTo>
                    <a:pt x="16122" y="3545"/>
                  </a:lnTo>
                  <a:lnTo>
                    <a:pt x="16050" y="3696"/>
                  </a:lnTo>
                  <a:lnTo>
                    <a:pt x="15959" y="3844"/>
                  </a:lnTo>
                  <a:lnTo>
                    <a:pt x="15849" y="3991"/>
                  </a:lnTo>
                  <a:lnTo>
                    <a:pt x="15721" y="4133"/>
                  </a:lnTo>
                  <a:lnTo>
                    <a:pt x="15577" y="4273"/>
                  </a:lnTo>
                  <a:lnTo>
                    <a:pt x="15413" y="4409"/>
                  </a:lnTo>
                  <a:lnTo>
                    <a:pt x="15234" y="4542"/>
                  </a:lnTo>
                  <a:lnTo>
                    <a:pt x="15038" y="4671"/>
                  </a:lnTo>
                  <a:lnTo>
                    <a:pt x="14828" y="4796"/>
                  </a:lnTo>
                  <a:lnTo>
                    <a:pt x="14601" y="4916"/>
                  </a:lnTo>
                  <a:lnTo>
                    <a:pt x="14359" y="5032"/>
                  </a:lnTo>
                  <a:lnTo>
                    <a:pt x="14105" y="5144"/>
                  </a:lnTo>
                  <a:lnTo>
                    <a:pt x="13835" y="5252"/>
                  </a:lnTo>
                  <a:lnTo>
                    <a:pt x="13554" y="5353"/>
                  </a:lnTo>
                  <a:lnTo>
                    <a:pt x="13260" y="5449"/>
                  </a:lnTo>
                  <a:lnTo>
                    <a:pt x="12953" y="5542"/>
                  </a:lnTo>
                  <a:lnTo>
                    <a:pt x="12636" y="5627"/>
                  </a:lnTo>
                  <a:lnTo>
                    <a:pt x="12306" y="5707"/>
                  </a:lnTo>
                  <a:lnTo>
                    <a:pt x="11967" y="5781"/>
                  </a:lnTo>
                  <a:lnTo>
                    <a:pt x="11617" y="5849"/>
                  </a:lnTo>
                  <a:lnTo>
                    <a:pt x="11258" y="5911"/>
                  </a:lnTo>
                  <a:lnTo>
                    <a:pt x="10890" y="5967"/>
                  </a:lnTo>
                  <a:lnTo>
                    <a:pt x="10513" y="6015"/>
                  </a:lnTo>
                  <a:lnTo>
                    <a:pt x="10129" y="6057"/>
                  </a:lnTo>
                  <a:lnTo>
                    <a:pt x="9738" y="6091"/>
                  </a:lnTo>
                  <a:lnTo>
                    <a:pt x="9340" y="6118"/>
                  </a:lnTo>
                  <a:lnTo>
                    <a:pt x="8934" y="6138"/>
                  </a:lnTo>
                  <a:lnTo>
                    <a:pt x="8524" y="6150"/>
                  </a:lnTo>
                  <a:lnTo>
                    <a:pt x="8108" y="6154"/>
                  </a:lnTo>
                  <a:lnTo>
                    <a:pt x="7691" y="6150"/>
                  </a:lnTo>
                  <a:lnTo>
                    <a:pt x="7281" y="6138"/>
                  </a:lnTo>
                  <a:lnTo>
                    <a:pt x="6875" y="6118"/>
                  </a:lnTo>
                  <a:lnTo>
                    <a:pt x="6477" y="6091"/>
                  </a:lnTo>
                  <a:lnTo>
                    <a:pt x="6086" y="6057"/>
                  </a:lnTo>
                  <a:lnTo>
                    <a:pt x="5701" y="6015"/>
                  </a:lnTo>
                  <a:lnTo>
                    <a:pt x="5325" y="5967"/>
                  </a:lnTo>
                  <a:lnTo>
                    <a:pt x="4957" y="5911"/>
                  </a:lnTo>
                  <a:lnTo>
                    <a:pt x="4598" y="5849"/>
                  </a:lnTo>
                  <a:lnTo>
                    <a:pt x="4248" y="5781"/>
                  </a:lnTo>
                  <a:lnTo>
                    <a:pt x="3909" y="5707"/>
                  </a:lnTo>
                  <a:lnTo>
                    <a:pt x="3579" y="5627"/>
                  </a:lnTo>
                  <a:lnTo>
                    <a:pt x="3262" y="5542"/>
                  </a:lnTo>
                  <a:lnTo>
                    <a:pt x="2955" y="5449"/>
                  </a:lnTo>
                  <a:lnTo>
                    <a:pt x="2661" y="5353"/>
                  </a:lnTo>
                  <a:lnTo>
                    <a:pt x="2380" y="5252"/>
                  </a:lnTo>
                  <a:lnTo>
                    <a:pt x="2110" y="5144"/>
                  </a:lnTo>
                  <a:lnTo>
                    <a:pt x="1856" y="5032"/>
                  </a:lnTo>
                  <a:lnTo>
                    <a:pt x="1614" y="4916"/>
                  </a:lnTo>
                  <a:lnTo>
                    <a:pt x="1387" y="4796"/>
                  </a:lnTo>
                  <a:lnTo>
                    <a:pt x="1177" y="4671"/>
                  </a:lnTo>
                  <a:lnTo>
                    <a:pt x="981" y="4542"/>
                  </a:lnTo>
                  <a:lnTo>
                    <a:pt x="802" y="4409"/>
                  </a:lnTo>
                  <a:lnTo>
                    <a:pt x="638" y="4273"/>
                  </a:lnTo>
                  <a:lnTo>
                    <a:pt x="494" y="4133"/>
                  </a:lnTo>
                  <a:lnTo>
                    <a:pt x="366" y="3991"/>
                  </a:lnTo>
                  <a:lnTo>
                    <a:pt x="256" y="3844"/>
                  </a:lnTo>
                  <a:lnTo>
                    <a:pt x="165" y="3696"/>
                  </a:lnTo>
                  <a:lnTo>
                    <a:pt x="93" y="3545"/>
                  </a:lnTo>
                  <a:lnTo>
                    <a:pt x="42" y="3391"/>
                  </a:lnTo>
                  <a:lnTo>
                    <a:pt x="10" y="3235"/>
                  </a:lnTo>
                  <a:lnTo>
                    <a:pt x="0" y="3077"/>
                  </a:lnTo>
                  <a:lnTo>
                    <a:pt x="10" y="2919"/>
                  </a:lnTo>
                  <a:lnTo>
                    <a:pt x="42" y="2763"/>
                  </a:lnTo>
                  <a:lnTo>
                    <a:pt x="93" y="2609"/>
                  </a:lnTo>
                  <a:lnTo>
                    <a:pt x="165" y="2458"/>
                  </a:lnTo>
                  <a:lnTo>
                    <a:pt x="256" y="2310"/>
                  </a:lnTo>
                  <a:lnTo>
                    <a:pt x="366" y="2163"/>
                  </a:lnTo>
                  <a:lnTo>
                    <a:pt x="494" y="2021"/>
                  </a:lnTo>
                  <a:lnTo>
                    <a:pt x="638" y="1881"/>
                  </a:lnTo>
                  <a:lnTo>
                    <a:pt x="802" y="1745"/>
                  </a:lnTo>
                  <a:lnTo>
                    <a:pt x="981" y="1612"/>
                  </a:lnTo>
                  <a:lnTo>
                    <a:pt x="1177" y="1483"/>
                  </a:lnTo>
                  <a:lnTo>
                    <a:pt x="1387" y="1358"/>
                  </a:lnTo>
                  <a:lnTo>
                    <a:pt x="1614" y="1237"/>
                  </a:lnTo>
                  <a:lnTo>
                    <a:pt x="1856" y="1122"/>
                  </a:lnTo>
                  <a:lnTo>
                    <a:pt x="2110" y="1010"/>
                  </a:lnTo>
                  <a:lnTo>
                    <a:pt x="2380" y="902"/>
                  </a:lnTo>
                  <a:lnTo>
                    <a:pt x="2661" y="801"/>
                  </a:lnTo>
                  <a:lnTo>
                    <a:pt x="2955" y="705"/>
                  </a:lnTo>
                  <a:lnTo>
                    <a:pt x="3262" y="613"/>
                  </a:lnTo>
                  <a:lnTo>
                    <a:pt x="3579" y="527"/>
                  </a:lnTo>
                  <a:lnTo>
                    <a:pt x="3909" y="447"/>
                  </a:lnTo>
                  <a:lnTo>
                    <a:pt x="4248" y="373"/>
                  </a:lnTo>
                  <a:lnTo>
                    <a:pt x="4598" y="305"/>
                  </a:lnTo>
                  <a:lnTo>
                    <a:pt x="4957" y="243"/>
                  </a:lnTo>
                  <a:lnTo>
                    <a:pt x="5325" y="187"/>
                  </a:lnTo>
                  <a:lnTo>
                    <a:pt x="5701" y="139"/>
                  </a:lnTo>
                  <a:lnTo>
                    <a:pt x="6086" y="97"/>
                  </a:lnTo>
                  <a:lnTo>
                    <a:pt x="6477" y="63"/>
                  </a:lnTo>
                  <a:lnTo>
                    <a:pt x="6875" y="36"/>
                  </a:lnTo>
                  <a:lnTo>
                    <a:pt x="7281" y="16"/>
                  </a:lnTo>
                  <a:lnTo>
                    <a:pt x="7691" y="4"/>
                  </a:lnTo>
                  <a:lnTo>
                    <a:pt x="8108" y="0"/>
                  </a:lnTo>
                  <a:close/>
                  <a:moveTo>
                    <a:pt x="3135" y="4675"/>
                  </a:moveTo>
                  <a:lnTo>
                    <a:pt x="3787" y="5515"/>
                  </a:lnTo>
                  <a:lnTo>
                    <a:pt x="6158" y="5404"/>
                  </a:lnTo>
                  <a:lnTo>
                    <a:pt x="5243" y="5179"/>
                  </a:lnTo>
                  <a:lnTo>
                    <a:pt x="7687" y="3759"/>
                  </a:lnTo>
                  <a:lnTo>
                    <a:pt x="6381" y="3535"/>
                  </a:lnTo>
                  <a:lnTo>
                    <a:pt x="3936" y="4880"/>
                  </a:lnTo>
                  <a:lnTo>
                    <a:pt x="3135" y="4675"/>
                  </a:lnTo>
                  <a:close/>
                  <a:moveTo>
                    <a:pt x="8154" y="2469"/>
                  </a:moveTo>
                  <a:lnTo>
                    <a:pt x="9497" y="2824"/>
                  </a:lnTo>
                  <a:lnTo>
                    <a:pt x="11792" y="1404"/>
                  </a:lnTo>
                  <a:lnTo>
                    <a:pt x="12688" y="1647"/>
                  </a:lnTo>
                  <a:lnTo>
                    <a:pt x="11979" y="767"/>
                  </a:lnTo>
                  <a:lnTo>
                    <a:pt x="9833" y="862"/>
                  </a:lnTo>
                  <a:lnTo>
                    <a:pt x="10617" y="1086"/>
                  </a:lnTo>
                  <a:lnTo>
                    <a:pt x="8154" y="2469"/>
                  </a:lnTo>
                  <a:close/>
                  <a:moveTo>
                    <a:pt x="13547" y="4824"/>
                  </a:moveTo>
                  <a:lnTo>
                    <a:pt x="9647" y="3871"/>
                  </a:lnTo>
                  <a:lnTo>
                    <a:pt x="9068" y="4264"/>
                  </a:lnTo>
                  <a:lnTo>
                    <a:pt x="9012" y="3235"/>
                  </a:lnTo>
                  <a:lnTo>
                    <a:pt x="11195" y="2918"/>
                  </a:lnTo>
                  <a:lnTo>
                    <a:pt x="10561" y="3254"/>
                  </a:lnTo>
                  <a:lnTo>
                    <a:pt x="14516" y="4133"/>
                  </a:lnTo>
                  <a:lnTo>
                    <a:pt x="13547" y="4824"/>
                  </a:lnTo>
                  <a:close/>
                  <a:moveTo>
                    <a:pt x="4534" y="3291"/>
                  </a:moveTo>
                  <a:lnTo>
                    <a:pt x="6885" y="3011"/>
                  </a:lnTo>
                  <a:lnTo>
                    <a:pt x="6773" y="1946"/>
                  </a:lnTo>
                  <a:lnTo>
                    <a:pt x="6176" y="2300"/>
                  </a:lnTo>
                  <a:lnTo>
                    <a:pt x="2463" y="1478"/>
                  </a:lnTo>
                  <a:lnTo>
                    <a:pt x="1325" y="2039"/>
                  </a:lnTo>
                  <a:lnTo>
                    <a:pt x="5019" y="2955"/>
                  </a:lnTo>
                  <a:lnTo>
                    <a:pt x="4534" y="3291"/>
                  </a:lnTo>
                  <a:close/>
                </a:path>
              </a:pathLst>
            </a:custGeom>
            <a:grpFill/>
            <a:ln w="15875">
              <a:noFill/>
              <a:round/>
            </a:ln>
          </p:spPr>
          <p:txBody>
            <a:bodyPr vert="horz" wrap="square" lIns="103142" tIns="51573" rIns="103142" bIns="51573" numCol="1" anchor="t" anchorCtr="0" compatLnSpc="1">
              <a:prstTxWarp prst="textNoShape">
                <a:avLst/>
              </a:prstTxWarp>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1373918" fontAlgn="base">
                <a:spcBef>
                  <a:spcPct val="0"/>
                </a:spcBef>
                <a:spcAft>
                  <a:spcPct val="0"/>
                </a:spcAft>
                <a:defRPr/>
              </a:pPr>
              <a:endParaRPr lang="zh-CN" altLang="en-US" sz="1399" kern="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Arial" pitchFamily="34" charset="0"/>
              </a:endParaRPr>
            </a:p>
          </p:txBody>
        </p:sp>
      </p:grpSp>
      <p:sp>
        <p:nvSpPr>
          <p:cNvPr id="641" name="Shape 423"/>
          <p:cNvSpPr/>
          <p:nvPr/>
        </p:nvSpPr>
        <p:spPr bwMode="auto">
          <a:xfrm>
            <a:off x="3254274" y="5223669"/>
            <a:ext cx="365069" cy="184666"/>
          </a:xfrm>
          <a:prstGeom prst="rect">
            <a:avLst/>
          </a:prstGeom>
          <a:ln w="12700">
            <a:miter lim="400000"/>
          </a:ln>
          <a:extLst>
            <a:ext uri="{C572A759-6A51-4108-AA02-DFA0A04FC94B}">
              <ma14:wrappingTextBoxFlag xmlns="" xmlns:ma14="http://schemas.microsoft.com/office/mac/drawingml/2011/main" xmlns:p15="http://schemas.microsoft.com/office/powerpoint/2012/main" xmlns:a14="http://schemas.microsoft.com/office/drawing/2010/main" xmlns:p14="http://schemas.microsoft.com/office/powerpoint/2010/main" val="1"/>
            </a:ext>
          </a:extLst>
        </p:spPr>
        <p:txBody>
          <a:bodyPr wrap="square" lIns="0" tIns="0" rIns="0" bIns="0" anchor="ctr">
            <a:spAutoFit/>
          </a:bodyPr>
          <a:lstStyle>
            <a:lvl1pPr defTabSz="516747">
              <a:defRPr sz="1600">
                <a:solidFill>
                  <a:srgbClr val="FFFFFF"/>
                </a:solidFill>
                <a:latin typeface="+mn-lt"/>
                <a:ea typeface="+mn-ea"/>
                <a:cs typeface="+mn-cs"/>
                <a:sym typeface="Helvetica"/>
              </a:defRPr>
            </a:lvl1pPr>
          </a:lstStyle>
          <a:p>
            <a:pPr algn="ctr" fontAlgn="base">
              <a:spcBef>
                <a:spcPct val="0"/>
              </a:spcBef>
              <a:spcAft>
                <a:spcPct val="0"/>
              </a:spcAft>
            </a:pPr>
            <a:r>
              <a:rPr lang="en-US"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E</a:t>
            </a:r>
            <a:r>
              <a:rPr lang="en-US" altLang="zh-CN"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dge</a:t>
            </a:r>
            <a:endParaRPr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42" name="Shape 423"/>
          <p:cNvSpPr/>
          <p:nvPr/>
        </p:nvSpPr>
        <p:spPr bwMode="auto">
          <a:xfrm>
            <a:off x="3081439" y="5733545"/>
            <a:ext cx="383142" cy="184666"/>
          </a:xfrm>
          <a:prstGeom prst="rect">
            <a:avLst/>
          </a:prstGeom>
          <a:ln w="12700">
            <a:miter lim="400000"/>
          </a:ln>
          <a:extLst>
            <a:ext uri="{C572A759-6A51-4108-AA02-DFA0A04FC94B}">
              <ma14:wrappingTextBoxFlag xmlns="" xmlns:ma14="http://schemas.microsoft.com/office/mac/drawingml/2011/main" xmlns:p15="http://schemas.microsoft.com/office/powerpoint/2012/main" xmlns:a14="http://schemas.microsoft.com/office/drawing/2010/main" xmlns:p14="http://schemas.microsoft.com/office/powerpoint/2010/main" val="1"/>
            </a:ext>
          </a:extLst>
        </p:spPr>
        <p:txBody>
          <a:bodyPr wrap="square" lIns="0" tIns="0" rIns="0" bIns="0" anchor="ctr">
            <a:spAutoFit/>
          </a:bodyPr>
          <a:lstStyle>
            <a:lvl1pPr defTabSz="516747">
              <a:defRPr sz="1600">
                <a:solidFill>
                  <a:srgbClr val="FFFFFF"/>
                </a:solidFill>
                <a:latin typeface="+mn-lt"/>
                <a:ea typeface="+mn-ea"/>
                <a:cs typeface="+mn-cs"/>
                <a:sym typeface="Helvetica"/>
              </a:defRPr>
            </a:lvl1pPr>
          </a:lstStyle>
          <a:p>
            <a:pPr algn="ctr" fontAlgn="base">
              <a:spcBef>
                <a:spcPct val="0"/>
              </a:spcBef>
              <a:spcAft>
                <a:spcPct val="0"/>
              </a:spcAft>
            </a:pPr>
            <a:r>
              <a:rPr lang="en-US"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E</a:t>
            </a:r>
            <a:r>
              <a:rPr lang="en-US" altLang="zh-CN"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dge</a:t>
            </a:r>
            <a:endParaRPr sz="1200" b="1" dirty="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2287922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华为</a:t>
            </a:r>
            <a:r>
              <a:rPr lang="en-US" altLang="zh-CN" dirty="0">
                <a:sym typeface="Huawei Sans" panose="020C0503030203020204" pitchFamily="34" charset="0"/>
              </a:rPr>
              <a:t>SD-WAN</a:t>
            </a:r>
            <a:r>
              <a:rPr lang="zh-CN" altLang="en-US" dirty="0">
                <a:sym typeface="Huawei Sans" panose="020C0503030203020204" pitchFamily="34" charset="0"/>
              </a:rPr>
              <a:t>解决方案架构</a:t>
            </a:r>
          </a:p>
        </p:txBody>
      </p:sp>
      <p:grpSp>
        <p:nvGrpSpPr>
          <p:cNvPr id="5" name="Group 4"/>
          <p:cNvGrpSpPr/>
          <p:nvPr/>
        </p:nvGrpSpPr>
        <p:grpSpPr>
          <a:xfrm>
            <a:off x="643178" y="1094373"/>
            <a:ext cx="5452821" cy="5023066"/>
            <a:chOff x="1258472" y="1126647"/>
            <a:chExt cx="5452821" cy="5023066"/>
          </a:xfrm>
        </p:grpSpPr>
        <p:pic>
          <p:nvPicPr>
            <p:cNvPr id="62" name="图片 6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363620" y="4063629"/>
              <a:ext cx="280634" cy="368740"/>
            </a:xfrm>
            <a:prstGeom prst="rect">
              <a:avLst/>
            </a:prstGeom>
          </p:spPr>
        </p:pic>
        <p:cxnSp>
          <p:nvCxnSpPr>
            <p:cNvPr id="66" name="直接连接符 65"/>
            <p:cNvCxnSpPr>
              <a:cxnSpLocks/>
              <a:stCxn id="62" idx="3"/>
              <a:endCxn id="154" idx="0"/>
            </p:cNvCxnSpPr>
            <p:nvPr/>
          </p:nvCxnSpPr>
          <p:spPr bwMode="gray">
            <a:xfrm>
              <a:off x="3644254" y="4247999"/>
              <a:ext cx="349987" cy="24809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39" name="矩形 1038"/>
            <p:cNvSpPr/>
            <p:nvPr/>
          </p:nvSpPr>
          <p:spPr bwMode="gray">
            <a:xfrm>
              <a:off x="1258472" y="3991418"/>
              <a:ext cx="5452821" cy="2157937"/>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0" name="矩形 1039"/>
            <p:cNvSpPr/>
            <p:nvPr/>
          </p:nvSpPr>
          <p:spPr bwMode="gray">
            <a:xfrm>
              <a:off x="1337002" y="3704335"/>
              <a:ext cx="958100" cy="306234"/>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网络层</a:t>
              </a:r>
            </a:p>
          </p:txBody>
        </p:sp>
        <p:sp>
          <p:nvSpPr>
            <p:cNvPr id="83" name="矩形 82"/>
            <p:cNvSpPr/>
            <p:nvPr/>
          </p:nvSpPr>
          <p:spPr bwMode="gray">
            <a:xfrm>
              <a:off x="1260753" y="2894271"/>
              <a:ext cx="2339032" cy="624022"/>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矩形 83"/>
            <p:cNvSpPr/>
            <p:nvPr/>
          </p:nvSpPr>
          <p:spPr bwMode="gray">
            <a:xfrm>
              <a:off x="1337002" y="2592654"/>
              <a:ext cx="958099" cy="313746"/>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控制层</a:t>
              </a:r>
            </a:p>
          </p:txBody>
        </p:sp>
        <p:sp>
          <p:nvSpPr>
            <p:cNvPr id="86" name="矩形 85"/>
            <p:cNvSpPr/>
            <p:nvPr/>
          </p:nvSpPr>
          <p:spPr bwMode="gray">
            <a:xfrm>
              <a:off x="1337003" y="1626093"/>
              <a:ext cx="958099" cy="312012"/>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管理层</a:t>
              </a:r>
            </a:p>
          </p:txBody>
        </p:sp>
        <p:sp>
          <p:nvSpPr>
            <p:cNvPr id="89" name="矩形 88"/>
            <p:cNvSpPr/>
            <p:nvPr/>
          </p:nvSpPr>
          <p:spPr bwMode="gray">
            <a:xfrm>
              <a:off x="1260753" y="1927354"/>
              <a:ext cx="5393726" cy="624022"/>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4" name="直接箭头连接符 93"/>
            <p:cNvCxnSpPr/>
            <p:nvPr/>
          </p:nvCxnSpPr>
          <p:spPr bwMode="gray">
            <a:xfrm>
              <a:off x="2560089" y="3530613"/>
              <a:ext cx="0" cy="398398"/>
            </a:xfrm>
            <a:prstGeom prst="straightConnector1">
              <a:avLst/>
            </a:prstGeom>
            <a:ln w="28575">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bwMode="gray">
            <a:xfrm>
              <a:off x="4045783" y="2557925"/>
              <a:ext cx="0" cy="1433493"/>
            </a:xfrm>
            <a:prstGeom prst="straightConnector1">
              <a:avLst/>
            </a:prstGeom>
            <a:ln w="28575">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bwMode="gray">
            <a:xfrm>
              <a:off x="4101126" y="2955682"/>
              <a:ext cx="1446254" cy="307777"/>
            </a:xfrm>
            <a:prstGeom prst="rect">
              <a:avLst/>
            </a:prstGeom>
            <a:noFill/>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NETCONF/SSH</a:t>
              </a:r>
            </a:p>
          </p:txBody>
        </p:sp>
        <p:sp>
          <p:nvSpPr>
            <p:cNvPr id="97" name="文本框 96"/>
            <p:cNvSpPr txBox="1"/>
            <p:nvPr/>
          </p:nvSpPr>
          <p:spPr bwMode="gray">
            <a:xfrm>
              <a:off x="2587233" y="3588690"/>
              <a:ext cx="1076501" cy="307777"/>
            </a:xfrm>
            <a:prstGeom prst="rect">
              <a:avLst/>
            </a:prstGeom>
            <a:noFill/>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BGP/DTLS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文本框 97"/>
            <p:cNvSpPr txBox="1"/>
            <p:nvPr/>
          </p:nvSpPr>
          <p:spPr bwMode="gray">
            <a:xfrm>
              <a:off x="4106048" y="3340796"/>
              <a:ext cx="1024501" cy="307777"/>
            </a:xfrm>
            <a:prstGeom prst="rect">
              <a:avLst/>
            </a:prstGeom>
            <a:noFill/>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Telemetry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文本框 106"/>
            <p:cNvSpPr txBox="1"/>
            <p:nvPr/>
          </p:nvSpPr>
          <p:spPr bwMode="gray">
            <a:xfrm>
              <a:off x="2917407" y="1529743"/>
              <a:ext cx="1187666" cy="307777"/>
            </a:xfrm>
            <a:prstGeom prst="rect">
              <a:avLst/>
            </a:prstGeom>
            <a:noFill/>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RESTful API</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矩形 109"/>
            <p:cNvSpPr/>
            <p:nvPr/>
          </p:nvSpPr>
          <p:spPr bwMode="gray">
            <a:xfrm>
              <a:off x="2713036" y="1126647"/>
              <a:ext cx="2657346" cy="330069"/>
            </a:xfrm>
            <a:prstGeom prst="rect">
              <a:avLst/>
            </a:prstGeom>
            <a:solidFill>
              <a:srgbClr val="AFD89C"/>
            </a:solidFill>
            <a:ln>
              <a:solidFill>
                <a:srgbClr val="AFD8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自研</a:t>
              </a:r>
              <a:r>
                <a:rPr lang="en-US" altLang="zh-CN" sz="14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4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或第三方</a:t>
              </a:r>
              <a:r>
                <a:rPr lang="en-US" altLang="zh-CN" sz="14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BSS/OSS</a:t>
              </a:r>
              <a:endParaRPr lang="zh-CN" altLang="en-US" sz="14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Freeform 159">
              <a:extLst>
                <a:ext uri="{FF2B5EF4-FFF2-40B4-BE49-F238E27FC236}">
                  <a16:creationId xmlns:a16="http://schemas.microsoft.com/office/drawing/2014/main" id="{0BE1C8A2-DEA4-4D32-865A-D1619FDAFFC9}"/>
                </a:ext>
              </a:extLst>
            </p:cNvPr>
            <p:cNvSpPr/>
            <p:nvPr/>
          </p:nvSpPr>
          <p:spPr bwMode="gray">
            <a:xfrm flipH="1">
              <a:off x="5416875" y="4289288"/>
              <a:ext cx="940706" cy="49173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公有云站点</a:t>
              </a:r>
            </a:p>
          </p:txBody>
        </p:sp>
        <p:sp>
          <p:nvSpPr>
            <p:cNvPr id="112" name="Freeform 159">
              <a:extLst>
                <a:ext uri="{FF2B5EF4-FFF2-40B4-BE49-F238E27FC236}">
                  <a16:creationId xmlns:a16="http://schemas.microsoft.com/office/drawing/2014/main" id="{894B41C8-48E5-4D9E-8B22-09BFEB8915D5}"/>
                </a:ext>
              </a:extLst>
            </p:cNvPr>
            <p:cNvSpPr/>
            <p:nvPr/>
          </p:nvSpPr>
          <p:spPr bwMode="gray">
            <a:xfrm flipH="1">
              <a:off x="5405829" y="4966080"/>
              <a:ext cx="940706" cy="49173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p>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数据中心站点</a:t>
              </a:r>
            </a:p>
          </p:txBody>
        </p:sp>
        <p:sp>
          <p:nvSpPr>
            <p:cNvPr id="113" name="Freeform 159">
              <a:extLst>
                <a:ext uri="{FF2B5EF4-FFF2-40B4-BE49-F238E27FC236}">
                  <a16:creationId xmlns:a16="http://schemas.microsoft.com/office/drawing/2014/main" id="{066A6D22-1706-4F05-A996-A287E01179C7}"/>
                </a:ext>
              </a:extLst>
            </p:cNvPr>
            <p:cNvSpPr/>
            <p:nvPr/>
          </p:nvSpPr>
          <p:spPr bwMode="gray">
            <a:xfrm flipH="1">
              <a:off x="5408934" y="5547013"/>
              <a:ext cx="940706" cy="49173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传统站点</a:t>
              </a:r>
            </a:p>
          </p:txBody>
        </p:sp>
        <p:sp>
          <p:nvSpPr>
            <p:cNvPr id="114" name="Freeform 159">
              <a:extLst>
                <a:ext uri="{FF2B5EF4-FFF2-40B4-BE49-F238E27FC236}">
                  <a16:creationId xmlns:a16="http://schemas.microsoft.com/office/drawing/2014/main" id="{260F882A-B7C3-4E53-BD47-A5CD894AC62C}"/>
                </a:ext>
              </a:extLst>
            </p:cNvPr>
            <p:cNvSpPr/>
            <p:nvPr/>
          </p:nvSpPr>
          <p:spPr bwMode="gray">
            <a:xfrm flipH="1">
              <a:off x="1789856" y="5197603"/>
              <a:ext cx="940706" cy="49173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sp>
          <p:nvSpPr>
            <p:cNvPr id="115" name="Freeform 159">
              <a:extLst>
                <a:ext uri="{FF2B5EF4-FFF2-40B4-BE49-F238E27FC236}">
                  <a16:creationId xmlns:a16="http://schemas.microsoft.com/office/drawing/2014/main" id="{BE92E114-060B-4181-A266-8E147F8BC3B6}"/>
                </a:ext>
              </a:extLst>
            </p:cNvPr>
            <p:cNvSpPr/>
            <p:nvPr/>
          </p:nvSpPr>
          <p:spPr bwMode="gray">
            <a:xfrm flipH="1">
              <a:off x="1793830" y="4602121"/>
              <a:ext cx="940706" cy="49173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116" name="图片 130">
              <a:extLst>
                <a:ext uri="{FF2B5EF4-FFF2-40B4-BE49-F238E27FC236}">
                  <a16:creationId xmlns:a16="http://schemas.microsoft.com/office/drawing/2014/main" id="{BB7704E4-7EAD-4B82-A170-93537A41EC1F}"/>
                </a:ext>
              </a:extLst>
            </p:cNvPr>
            <p:cNvPicPr>
              <a:picLocks noChangeAspect="1"/>
            </p:cNvPicPr>
            <p:nvPr/>
          </p:nvPicPr>
          <p:blipFill>
            <a:blip r:embed="rId5"/>
            <a:stretch>
              <a:fillRect/>
            </a:stretch>
          </p:blipFill>
          <p:spPr bwMode="gray">
            <a:xfrm>
              <a:off x="1493610" y="4771951"/>
              <a:ext cx="439741" cy="357993"/>
            </a:xfrm>
            <a:prstGeom prst="rect">
              <a:avLst/>
            </a:prstGeom>
          </p:spPr>
        </p:pic>
        <p:cxnSp>
          <p:nvCxnSpPr>
            <p:cNvPr id="127" name="直接连接符 25">
              <a:extLst>
                <a:ext uri="{FF2B5EF4-FFF2-40B4-BE49-F238E27FC236}">
                  <a16:creationId xmlns:a16="http://schemas.microsoft.com/office/drawing/2014/main" id="{4AFC5793-F5AD-4BAE-8C9F-C78FC0D9F15C}"/>
                </a:ext>
              </a:extLst>
            </p:cNvPr>
            <p:cNvCxnSpPr>
              <a:cxnSpLocks/>
              <a:stCxn id="144" idx="3"/>
              <a:endCxn id="154" idx="21"/>
            </p:cNvCxnSpPr>
            <p:nvPr/>
          </p:nvCxnSpPr>
          <p:spPr bwMode="gray">
            <a:xfrm flipV="1">
              <a:off x="3038467" y="4881738"/>
              <a:ext cx="543178" cy="1759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26">
              <a:extLst>
                <a:ext uri="{FF2B5EF4-FFF2-40B4-BE49-F238E27FC236}">
                  <a16:creationId xmlns:a16="http://schemas.microsoft.com/office/drawing/2014/main" id="{96847BA8-7325-4D51-88A7-FB18F3CD188D}"/>
                </a:ext>
              </a:extLst>
            </p:cNvPr>
            <p:cNvCxnSpPr>
              <a:cxnSpLocks/>
              <a:stCxn id="144" idx="3"/>
              <a:endCxn id="153" idx="21"/>
            </p:cNvCxnSpPr>
            <p:nvPr/>
          </p:nvCxnSpPr>
          <p:spPr bwMode="gray">
            <a:xfrm>
              <a:off x="3038467" y="4899330"/>
              <a:ext cx="540466" cy="68251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30">
              <a:extLst>
                <a:ext uri="{FF2B5EF4-FFF2-40B4-BE49-F238E27FC236}">
                  <a16:creationId xmlns:a16="http://schemas.microsoft.com/office/drawing/2014/main" id="{DFDF23AC-8553-4192-9B8E-6F062C495E1F}"/>
                </a:ext>
              </a:extLst>
            </p:cNvPr>
            <p:cNvCxnSpPr>
              <a:cxnSpLocks/>
              <a:stCxn id="151" idx="3"/>
              <a:endCxn id="154" idx="21"/>
            </p:cNvCxnSpPr>
            <p:nvPr/>
          </p:nvCxnSpPr>
          <p:spPr bwMode="gray">
            <a:xfrm flipV="1">
              <a:off x="3013352" y="4881738"/>
              <a:ext cx="568293" cy="56970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31">
              <a:extLst>
                <a:ext uri="{FF2B5EF4-FFF2-40B4-BE49-F238E27FC236}">
                  <a16:creationId xmlns:a16="http://schemas.microsoft.com/office/drawing/2014/main" id="{F547D1B1-9F71-492B-A8AD-9E51CC972C4F}"/>
                </a:ext>
              </a:extLst>
            </p:cNvPr>
            <p:cNvCxnSpPr>
              <a:cxnSpLocks/>
              <a:stCxn id="151" idx="3"/>
              <a:endCxn id="153" idx="21"/>
            </p:cNvCxnSpPr>
            <p:nvPr/>
          </p:nvCxnSpPr>
          <p:spPr bwMode="gray">
            <a:xfrm>
              <a:off x="3013352" y="5451444"/>
              <a:ext cx="565581" cy="13040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51">
              <a:extLst>
                <a:ext uri="{FF2B5EF4-FFF2-40B4-BE49-F238E27FC236}">
                  <a16:creationId xmlns:a16="http://schemas.microsoft.com/office/drawing/2014/main" id="{C3AE8317-1D31-4B08-9964-2CB47262036A}"/>
                </a:ext>
              </a:extLst>
            </p:cNvPr>
            <p:cNvCxnSpPr>
              <a:cxnSpLocks/>
              <a:stCxn id="137" idx="1"/>
              <a:endCxn id="153" idx="8"/>
            </p:cNvCxnSpPr>
            <p:nvPr/>
          </p:nvCxnSpPr>
          <p:spPr bwMode="gray">
            <a:xfrm flipH="1">
              <a:off x="4631214" y="4610359"/>
              <a:ext cx="541202" cy="9614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52">
              <a:extLst>
                <a:ext uri="{FF2B5EF4-FFF2-40B4-BE49-F238E27FC236}">
                  <a16:creationId xmlns:a16="http://schemas.microsoft.com/office/drawing/2014/main" id="{F233790B-14C3-439D-87EB-EB21E4AC560C}"/>
                </a:ext>
              </a:extLst>
            </p:cNvPr>
            <p:cNvCxnSpPr>
              <a:cxnSpLocks/>
              <a:stCxn id="137" idx="1"/>
              <a:endCxn id="154" idx="8"/>
            </p:cNvCxnSpPr>
            <p:nvPr/>
          </p:nvCxnSpPr>
          <p:spPr bwMode="gray">
            <a:xfrm flipH="1">
              <a:off x="4633926" y="4610359"/>
              <a:ext cx="538490" cy="26136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75">
              <a:extLst>
                <a:ext uri="{FF2B5EF4-FFF2-40B4-BE49-F238E27FC236}">
                  <a16:creationId xmlns:a16="http://schemas.microsoft.com/office/drawing/2014/main" id="{2CFB065E-1577-4203-97AD-45603FE8A976}"/>
                </a:ext>
              </a:extLst>
            </p:cNvPr>
            <p:cNvCxnSpPr>
              <a:cxnSpLocks/>
              <a:stCxn id="139" idx="1"/>
              <a:endCxn id="154" idx="8"/>
            </p:cNvCxnSpPr>
            <p:nvPr/>
          </p:nvCxnSpPr>
          <p:spPr bwMode="gray">
            <a:xfrm flipH="1" flipV="1">
              <a:off x="4633926" y="4871726"/>
              <a:ext cx="536415" cy="37763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76">
              <a:extLst>
                <a:ext uri="{FF2B5EF4-FFF2-40B4-BE49-F238E27FC236}">
                  <a16:creationId xmlns:a16="http://schemas.microsoft.com/office/drawing/2014/main" id="{008DEAF5-386F-453A-910D-C1730B0C692B}"/>
                </a:ext>
              </a:extLst>
            </p:cNvPr>
            <p:cNvCxnSpPr>
              <a:cxnSpLocks/>
              <a:stCxn id="139" idx="1"/>
              <a:endCxn id="153" idx="8"/>
            </p:cNvCxnSpPr>
            <p:nvPr/>
          </p:nvCxnSpPr>
          <p:spPr bwMode="gray">
            <a:xfrm flipH="1">
              <a:off x="4631214" y="5249365"/>
              <a:ext cx="539127" cy="32246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94">
              <a:extLst>
                <a:ext uri="{FF2B5EF4-FFF2-40B4-BE49-F238E27FC236}">
                  <a16:creationId xmlns:a16="http://schemas.microsoft.com/office/drawing/2014/main" id="{5B66BF1F-4CBE-4074-B1AF-F93BF07B493B}"/>
                </a:ext>
              </a:extLst>
            </p:cNvPr>
            <p:cNvCxnSpPr>
              <a:cxnSpLocks/>
              <a:stCxn id="141" idx="1"/>
              <a:endCxn id="153" idx="8"/>
            </p:cNvCxnSpPr>
            <p:nvPr/>
          </p:nvCxnSpPr>
          <p:spPr bwMode="gray">
            <a:xfrm flipH="1" flipV="1">
              <a:off x="4631214" y="5571833"/>
              <a:ext cx="562215" cy="2058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95">
              <a:extLst>
                <a:ext uri="{FF2B5EF4-FFF2-40B4-BE49-F238E27FC236}">
                  <a16:creationId xmlns:a16="http://schemas.microsoft.com/office/drawing/2014/main" id="{12C96886-4FF2-4F30-85DB-953B16D01631}"/>
                </a:ext>
              </a:extLst>
            </p:cNvPr>
            <p:cNvCxnSpPr>
              <a:cxnSpLocks/>
              <a:stCxn id="141" idx="1"/>
              <a:endCxn id="154" idx="8"/>
            </p:cNvCxnSpPr>
            <p:nvPr/>
          </p:nvCxnSpPr>
          <p:spPr bwMode="gray">
            <a:xfrm flipH="1" flipV="1">
              <a:off x="4633926" y="4871726"/>
              <a:ext cx="559503" cy="90597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37" name="图片 110">
              <a:extLst>
                <a:ext uri="{FF2B5EF4-FFF2-40B4-BE49-F238E27FC236}">
                  <a16:creationId xmlns:a16="http://schemas.microsoft.com/office/drawing/2014/main" id="{94451053-4945-45E1-A5B6-9B21994E755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bwMode="gray">
            <a:xfrm>
              <a:off x="5172416" y="4455686"/>
              <a:ext cx="374964" cy="309345"/>
            </a:xfrm>
            <a:prstGeom prst="rect">
              <a:avLst/>
            </a:prstGeom>
          </p:spPr>
        </p:pic>
        <p:pic>
          <p:nvPicPr>
            <p:cNvPr id="139" name="图片 113">
              <a:extLst>
                <a:ext uri="{FF2B5EF4-FFF2-40B4-BE49-F238E27FC236}">
                  <a16:creationId xmlns:a16="http://schemas.microsoft.com/office/drawing/2014/main" id="{8FBA4737-4754-4674-8F63-6E6F56DF768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bwMode="gray">
            <a:xfrm>
              <a:off x="5170341" y="5097947"/>
              <a:ext cx="367073" cy="302835"/>
            </a:xfrm>
            <a:prstGeom prst="rect">
              <a:avLst/>
            </a:prstGeom>
          </p:spPr>
        </p:pic>
        <p:pic>
          <p:nvPicPr>
            <p:cNvPr id="140" name="图片 115">
              <a:extLst>
                <a:ext uri="{FF2B5EF4-FFF2-40B4-BE49-F238E27FC236}">
                  <a16:creationId xmlns:a16="http://schemas.microsoft.com/office/drawing/2014/main" id="{0003A4AA-E2AF-4FF7-B9A2-9829A7342DC1}"/>
                </a:ext>
              </a:extLst>
            </p:cNvPr>
            <p:cNvPicPr>
              <a:picLocks noChangeAspect="1"/>
            </p:cNvPicPr>
            <p:nvPr/>
          </p:nvPicPr>
          <p:blipFill>
            <a:blip r:embed="rId5"/>
            <a:stretch>
              <a:fillRect/>
            </a:stretch>
          </p:blipFill>
          <p:spPr bwMode="gray">
            <a:xfrm>
              <a:off x="6190442" y="5042417"/>
              <a:ext cx="439741" cy="366845"/>
            </a:xfrm>
            <a:prstGeom prst="rect">
              <a:avLst/>
            </a:prstGeom>
          </p:spPr>
        </p:pic>
        <p:pic>
          <p:nvPicPr>
            <p:cNvPr id="141" name="图片 118">
              <a:extLst>
                <a:ext uri="{FF2B5EF4-FFF2-40B4-BE49-F238E27FC236}">
                  <a16:creationId xmlns:a16="http://schemas.microsoft.com/office/drawing/2014/main" id="{557D3988-7266-4848-BD29-DE9F0D1932DB}"/>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bwMode="gray">
            <a:xfrm>
              <a:off x="5193429" y="5635814"/>
              <a:ext cx="343955" cy="283763"/>
            </a:xfrm>
            <a:prstGeom prst="rect">
              <a:avLst/>
            </a:prstGeom>
          </p:spPr>
        </p:pic>
        <p:sp>
          <p:nvSpPr>
            <p:cNvPr id="142" name="文本框 119">
              <a:extLst>
                <a:ext uri="{FF2B5EF4-FFF2-40B4-BE49-F238E27FC236}">
                  <a16:creationId xmlns:a16="http://schemas.microsoft.com/office/drawing/2014/main" id="{02B7361B-DCFA-4C3C-A713-0A18A3E386B6}"/>
                </a:ext>
              </a:extLst>
            </p:cNvPr>
            <p:cNvSpPr txBox="1"/>
            <p:nvPr/>
          </p:nvSpPr>
          <p:spPr bwMode="gray">
            <a:xfrm>
              <a:off x="4941098" y="5872714"/>
              <a:ext cx="846327"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GW</a:t>
              </a:r>
              <a:endPar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3" name="图片 125">
              <a:extLst>
                <a:ext uri="{FF2B5EF4-FFF2-40B4-BE49-F238E27FC236}">
                  <a16:creationId xmlns:a16="http://schemas.microsoft.com/office/drawing/2014/main" id="{C9FF5CB0-8B17-4F8F-A437-5EDCB9EF31FA}"/>
                </a:ext>
              </a:extLst>
            </p:cNvPr>
            <p:cNvPicPr>
              <a:picLocks noChangeAspect="1"/>
            </p:cNvPicPr>
            <p:nvPr/>
          </p:nvPicPr>
          <p:blipFill>
            <a:blip r:embed="rId5"/>
            <a:stretch>
              <a:fillRect/>
            </a:stretch>
          </p:blipFill>
          <p:spPr bwMode="gray">
            <a:xfrm>
              <a:off x="1487443" y="5420506"/>
              <a:ext cx="439741" cy="357993"/>
            </a:xfrm>
            <a:prstGeom prst="rect">
              <a:avLst/>
            </a:prstGeom>
          </p:spPr>
        </p:pic>
        <p:pic>
          <p:nvPicPr>
            <p:cNvPr id="144" name="图片 127">
              <a:extLst>
                <a:ext uri="{FF2B5EF4-FFF2-40B4-BE49-F238E27FC236}">
                  <a16:creationId xmlns:a16="http://schemas.microsoft.com/office/drawing/2014/main" id="{6BCBAFDE-01C2-452B-AC19-A690B2181BD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bwMode="gray">
            <a:xfrm>
              <a:off x="2675142" y="4749458"/>
              <a:ext cx="363325" cy="299743"/>
            </a:xfrm>
            <a:prstGeom prst="rect">
              <a:avLst/>
            </a:prstGeom>
          </p:spPr>
        </p:pic>
        <p:sp>
          <p:nvSpPr>
            <p:cNvPr id="145" name="文本框 128">
              <a:extLst>
                <a:ext uri="{FF2B5EF4-FFF2-40B4-BE49-F238E27FC236}">
                  <a16:creationId xmlns:a16="http://schemas.microsoft.com/office/drawing/2014/main" id="{8F4E457C-14CB-4134-BE38-2F432AADBDF3}"/>
                </a:ext>
              </a:extLst>
            </p:cNvPr>
            <p:cNvSpPr txBox="1"/>
            <p:nvPr/>
          </p:nvSpPr>
          <p:spPr bwMode="gray">
            <a:xfrm>
              <a:off x="2532929" y="4974582"/>
              <a:ext cx="607666"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1" name="图片 107">
              <a:extLst>
                <a:ext uri="{FF2B5EF4-FFF2-40B4-BE49-F238E27FC236}">
                  <a16:creationId xmlns:a16="http://schemas.microsoft.com/office/drawing/2014/main" id="{52FF3391-C810-4CE1-A981-6BFF07554FE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bwMode="gray">
            <a:xfrm>
              <a:off x="2658392" y="5305023"/>
              <a:ext cx="354960" cy="292842"/>
            </a:xfrm>
            <a:prstGeom prst="rect">
              <a:avLst/>
            </a:prstGeom>
          </p:spPr>
        </p:pic>
        <p:sp>
          <p:nvSpPr>
            <p:cNvPr id="153" name="Freeform 159">
              <a:extLst>
                <a:ext uri="{FF2B5EF4-FFF2-40B4-BE49-F238E27FC236}">
                  <a16:creationId xmlns:a16="http://schemas.microsoft.com/office/drawing/2014/main" id="{FD87594F-5686-4642-8F98-E456011D067B}"/>
                </a:ext>
              </a:extLst>
            </p:cNvPr>
            <p:cNvSpPr/>
            <p:nvPr/>
          </p:nvSpPr>
          <p:spPr bwMode="gray">
            <a:xfrm flipH="1">
              <a:off x="3578933" y="5196201"/>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Freeform 159">
              <a:extLst>
                <a:ext uri="{FF2B5EF4-FFF2-40B4-BE49-F238E27FC236}">
                  <a16:creationId xmlns:a16="http://schemas.microsoft.com/office/drawing/2014/main" id="{8C583DA0-83C4-4F02-A604-971AAA1A18A8}"/>
                </a:ext>
              </a:extLst>
            </p:cNvPr>
            <p:cNvSpPr/>
            <p:nvPr/>
          </p:nvSpPr>
          <p:spPr bwMode="gray">
            <a:xfrm flipH="1">
              <a:off x="3581645" y="4496094"/>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lightning-symbol_74595">
              <a:extLst>
                <a:ext uri="{FF2B5EF4-FFF2-40B4-BE49-F238E27FC236}">
                  <a16:creationId xmlns:a16="http://schemas.microsoft.com/office/drawing/2014/main" id="{9E052E81-ACAB-4526-9032-2C4030455E23}"/>
                </a:ext>
              </a:extLst>
            </p:cNvPr>
            <p:cNvSpPr>
              <a:spLocks noChangeAspect="1"/>
            </p:cNvSpPr>
            <p:nvPr/>
          </p:nvSpPr>
          <p:spPr bwMode="gray">
            <a:xfrm rot="2126789">
              <a:off x="3116880" y="4268777"/>
              <a:ext cx="155723" cy="543919"/>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Lst>
              <a:ahLst/>
              <a:cxnLst>
                <a:cxn ang="0">
                  <a:pos x="T0" y="T1"/>
                </a:cxn>
                <a:cxn ang="0">
                  <a:pos x="T2" y="T3"/>
                </a:cxn>
                <a:cxn ang="0">
                  <a:pos x="T4" y="T5"/>
                </a:cxn>
                <a:cxn ang="0">
                  <a:pos x="T6" y="T7"/>
                </a:cxn>
                <a:cxn ang="0">
                  <a:pos x="T8" y="T9"/>
                </a:cxn>
                <a:cxn ang="0">
                  <a:pos x="T10" y="T11"/>
                </a:cxn>
                <a:cxn ang="0">
                  <a:pos x="T12" y="T13"/>
                </a:cxn>
              </a:cxnLst>
              <a:rect l="0" t="0" r="r" b="b"/>
              <a:pathLst>
                <a:path w="2370" h="4352">
                  <a:moveTo>
                    <a:pt x="2370" y="2378"/>
                  </a:moveTo>
                  <a:lnTo>
                    <a:pt x="1291" y="1924"/>
                  </a:lnTo>
                  <a:lnTo>
                    <a:pt x="2101" y="0"/>
                  </a:lnTo>
                  <a:lnTo>
                    <a:pt x="0" y="1974"/>
                  </a:lnTo>
                  <a:lnTo>
                    <a:pt x="1079" y="2428"/>
                  </a:lnTo>
                  <a:lnTo>
                    <a:pt x="269" y="4352"/>
                  </a:lnTo>
                  <a:lnTo>
                    <a:pt x="2370" y="2378"/>
                  </a:ln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箭头连接符 94"/>
            <p:cNvCxnSpPr/>
            <p:nvPr/>
          </p:nvCxnSpPr>
          <p:spPr bwMode="gray">
            <a:xfrm>
              <a:off x="4045783" y="1491915"/>
              <a:ext cx="0" cy="413034"/>
            </a:xfrm>
            <a:prstGeom prst="straightConnector1">
              <a:avLst/>
            </a:prstGeom>
            <a:ln w="28575">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文本框 128">
              <a:extLst>
                <a:ext uri="{FF2B5EF4-FFF2-40B4-BE49-F238E27FC236}">
                  <a16:creationId xmlns:a16="http://schemas.microsoft.com/office/drawing/2014/main" id="{8F4E457C-14CB-4134-BE38-2F432AADBDF3}"/>
                </a:ext>
              </a:extLst>
            </p:cNvPr>
            <p:cNvSpPr txBox="1"/>
            <p:nvPr/>
          </p:nvSpPr>
          <p:spPr bwMode="gray">
            <a:xfrm>
              <a:off x="2532929" y="5557593"/>
              <a:ext cx="607666"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128">
              <a:extLst>
                <a:ext uri="{FF2B5EF4-FFF2-40B4-BE49-F238E27FC236}">
                  <a16:creationId xmlns:a16="http://schemas.microsoft.com/office/drawing/2014/main" id="{8F4E457C-14CB-4134-BE38-2F432AADBDF3}"/>
                </a:ext>
              </a:extLst>
            </p:cNvPr>
            <p:cNvSpPr txBox="1"/>
            <p:nvPr/>
          </p:nvSpPr>
          <p:spPr bwMode="gray">
            <a:xfrm>
              <a:off x="5050044" y="4731323"/>
              <a:ext cx="607666"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128">
              <a:extLst>
                <a:ext uri="{FF2B5EF4-FFF2-40B4-BE49-F238E27FC236}">
                  <a16:creationId xmlns:a16="http://schemas.microsoft.com/office/drawing/2014/main" id="{8F4E457C-14CB-4134-BE38-2F432AADBDF3}"/>
                </a:ext>
              </a:extLst>
            </p:cNvPr>
            <p:cNvSpPr txBox="1"/>
            <p:nvPr/>
          </p:nvSpPr>
          <p:spPr bwMode="gray">
            <a:xfrm>
              <a:off x="5053599" y="5365962"/>
              <a:ext cx="607666"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0" name="组合 79"/>
            <p:cNvGrpSpPr/>
            <p:nvPr/>
          </p:nvGrpSpPr>
          <p:grpSpPr bwMode="gray">
            <a:xfrm>
              <a:off x="1771315" y="3015024"/>
              <a:ext cx="1608554" cy="344251"/>
              <a:chOff x="2682673" y="2834936"/>
              <a:chExt cx="1022733" cy="224188"/>
            </a:xfrm>
          </p:grpSpPr>
          <p:sp>
            <p:nvSpPr>
              <p:cNvPr id="61" name="TextBox 139"/>
              <p:cNvSpPr txBox="1"/>
              <p:nvPr/>
            </p:nvSpPr>
            <p:spPr bwMode="gray">
              <a:xfrm>
                <a:off x="3377364" y="2834936"/>
                <a:ext cx="328042" cy="220478"/>
              </a:xfrm>
              <a:prstGeom prst="rect">
                <a:avLst/>
              </a:prstGeom>
              <a:noFill/>
            </p:spPr>
            <p:txBody>
              <a:bodyPr wrap="square" rtlCol="0">
                <a:spAutoFit/>
              </a:bodyPr>
              <a:lstStyle/>
              <a:p>
                <a:pPr algn="ctr" defTabSz="342800" eaLnBrk="0" hangingPunct="0"/>
                <a:r>
                  <a:rPr lang="en-US" altLang="zh-CN" sz="1600" b="1" dirty="0">
                    <a:latin typeface="Huawei Sans" panose="020C0503030203020204" pitchFamily="34" charset="0"/>
                    <a:ea typeface="方正兰亭黑简体" panose="02000000000000000000" pitchFamily="2" charset="-122"/>
                    <a:cs typeface="+mj-cs"/>
                    <a:sym typeface="Huawei Sans" panose="020C0503030203020204" pitchFamily="34" charset="0"/>
                  </a:rPr>
                  <a:t>RR</a:t>
                </a:r>
                <a:endParaRPr lang="en-US" sz="16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pic>
            <p:nvPicPr>
              <p:cNvPr id="63" name="Picture 2" descr="G:\做的项目\公共\扁平图标切换\更新2015_01_21\oss扁平图标库2015_01_21更新-04.png"/>
              <p:cNvPicPr>
                <a:picLocks noChangeAspect="1" noChangeArrowheads="1"/>
              </p:cNvPicPr>
              <p:nvPr/>
            </p:nvPicPr>
            <p:blipFill>
              <a:blip r:embed="rId7" cstate="print"/>
              <a:srcRect/>
              <a:stretch>
                <a:fillRect/>
              </a:stretch>
            </p:blipFill>
            <p:spPr bwMode="gray">
              <a:xfrm>
                <a:off x="3080050" y="2842389"/>
                <a:ext cx="253922" cy="216735"/>
              </a:xfrm>
              <a:prstGeom prst="rect">
                <a:avLst/>
              </a:prstGeom>
              <a:noFill/>
            </p:spPr>
          </p:pic>
          <p:pic>
            <p:nvPicPr>
              <p:cNvPr id="64" name="Picture 2" descr="G:\做的项目\公共\扁平图标切换\更新2015_01_21\oss扁平图标库2015_01_21更新-04.png"/>
              <p:cNvPicPr>
                <a:picLocks noChangeAspect="1" noChangeArrowheads="1"/>
              </p:cNvPicPr>
              <p:nvPr/>
            </p:nvPicPr>
            <p:blipFill>
              <a:blip r:embed="rId7" cstate="print"/>
              <a:srcRect/>
              <a:stretch>
                <a:fillRect/>
              </a:stretch>
            </p:blipFill>
            <p:spPr bwMode="gray">
              <a:xfrm>
                <a:off x="2682673" y="2842389"/>
                <a:ext cx="253922" cy="216735"/>
              </a:xfrm>
              <a:prstGeom prst="rect">
                <a:avLst/>
              </a:prstGeom>
              <a:noFill/>
            </p:spPr>
          </p:pic>
        </p:grpSp>
        <p:pic>
          <p:nvPicPr>
            <p:cNvPr id="65" name="图片 24">
              <a:extLst>
                <a:ext uri="{FF2B5EF4-FFF2-40B4-BE49-F238E27FC236}">
                  <a16:creationId xmlns:a16="http://schemas.microsoft.com/office/drawing/2014/main" id="{69DE37A8-271C-4841-AAF1-B32759F7DB3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2882104" y="2013267"/>
              <a:ext cx="2438044" cy="449640"/>
            </a:xfrm>
            <a:prstGeom prst="rect">
              <a:avLst/>
            </a:prstGeom>
          </p:spPr>
        </p:pic>
      </p:grpSp>
      <p:graphicFrame>
        <p:nvGraphicFramePr>
          <p:cNvPr id="67" name="表格 132"/>
          <p:cNvGraphicFramePr>
            <a:graphicFrameLocks noGrp="1"/>
          </p:cNvGraphicFramePr>
          <p:nvPr>
            <p:extLst>
              <p:ext uri="{D42A27DB-BD31-4B8C-83A1-F6EECF244321}">
                <p14:modId xmlns:p14="http://schemas.microsoft.com/office/powerpoint/2010/main" val="2925304067"/>
              </p:ext>
            </p:extLst>
          </p:nvPr>
        </p:nvGraphicFramePr>
        <p:xfrm>
          <a:off x="6419972" y="1291681"/>
          <a:ext cx="5175225" cy="3018630"/>
        </p:xfrm>
        <a:graphic>
          <a:graphicData uri="http://schemas.openxmlformats.org/drawingml/2006/table">
            <a:tbl>
              <a:tblPr/>
              <a:tblGrid>
                <a:gridCol w="1076563">
                  <a:extLst>
                    <a:ext uri="{9D8B030D-6E8A-4147-A177-3AD203B41FA5}">
                      <a16:colId xmlns:a16="http://schemas.microsoft.com/office/drawing/2014/main" val="20001"/>
                    </a:ext>
                  </a:extLst>
                </a:gridCol>
                <a:gridCol w="2694346">
                  <a:extLst>
                    <a:ext uri="{9D8B030D-6E8A-4147-A177-3AD203B41FA5}">
                      <a16:colId xmlns:a16="http://schemas.microsoft.com/office/drawing/2014/main" val="20002"/>
                    </a:ext>
                  </a:extLst>
                </a:gridCol>
                <a:gridCol w="1404316">
                  <a:extLst>
                    <a:ext uri="{9D8B030D-6E8A-4147-A177-3AD203B41FA5}">
                      <a16:colId xmlns:a16="http://schemas.microsoft.com/office/drawing/2014/main" val="20003"/>
                    </a:ext>
                  </a:extLst>
                </a:gridCol>
              </a:tblGrid>
              <a:tr h="397350">
                <a:tc>
                  <a:txBody>
                    <a:bodyPr/>
                    <a:lstStyle/>
                    <a:p>
                      <a:pPr marL="0" algn="ctr" defTabSz="914034" rtl="0" eaLnBrk="1" latinLnBrk="0" hangingPunct="1"/>
                      <a:r>
                        <a:rPr lang="zh-CN" altLang="en-US" sz="1600" b="1" kern="1200" dirty="0">
                          <a:solidFill>
                            <a:sysClr val="windowText" lastClr="00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角色</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600" b="1" kern="1200" dirty="0">
                          <a:solidFill>
                            <a:sysClr val="windowText" lastClr="00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600" b="1" kern="1200" dirty="0">
                          <a:solidFill>
                            <a:sysClr val="windowText" lastClr="00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产品形态</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88346">
                <a:tc>
                  <a:txBody>
                    <a:bodyPr/>
                    <a:lstStyle/>
                    <a:p>
                      <a:pPr marL="0" algn="ctr" defTabSz="890492" rtl="0" eaLnBrk="1" latinLnBrk="0" hangingPunct="1"/>
                      <a:r>
                        <a:rPr lang="zh-CN" altLang="en-US" sz="140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管理层</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78" rtl="0" eaLnBrk="1"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1</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）网络业务编排</a:t>
                      </a:r>
                    </a:p>
                    <a:p>
                      <a:pPr marL="0" algn="l" defTabSz="914478" rtl="0" eaLnBrk="1"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2</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）网络性能监控与可视化</a:t>
                      </a:r>
                    </a:p>
                    <a:p>
                      <a:pPr marL="0" algn="l" defTabSz="914478" rtl="0" eaLnBrk="1"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3</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）网络运维</a:t>
                      </a:r>
                    </a:p>
                    <a:p>
                      <a:pPr marL="0" algn="l" defTabSz="914478" rtl="0" eaLnBrk="1"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4</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）网络设备的管理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78" rtl="0" eaLnBrk="1" latinLnBrk="0" hangingPunct="1"/>
                      <a:r>
                        <a:rPr lang="en-US" altLang="zh-CN" sz="1400" b="0" kern="1200" dirty="0" err="1">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iMaster</a:t>
                      </a: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 NCE</a:t>
                      </a:r>
                      <a:endPar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8346">
                <a:tc>
                  <a:txBody>
                    <a:bodyPr/>
                    <a:lstStyle/>
                    <a:p>
                      <a:pPr marL="0" algn="ctr" defTabSz="890492" rtl="0" eaLnBrk="1" latinLnBrk="0" hangingPunct="1"/>
                      <a:r>
                        <a:rPr lang="zh-CN" altLang="en-US" sz="140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控制层</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1</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）路由和隧道信息分发</a:t>
                      </a:r>
                    </a:p>
                    <a:p>
                      <a:pPr marL="0" marR="0" lvl="0" indent="0" algn="l" defTabSz="914478" rtl="0" eaLnBrk="1" fontAlgn="auto" latinLnBrk="0" hangingPunct="1">
                        <a:lnSpc>
                          <a:spcPct val="100000"/>
                        </a:lnSpc>
                        <a:spcBef>
                          <a:spcPts val="0"/>
                        </a:spcBef>
                        <a:spcAft>
                          <a:spcPts val="0"/>
                        </a:spcAft>
                        <a:buClrTx/>
                        <a:buSzTx/>
                        <a:buFontTx/>
                        <a:buNone/>
                        <a:tabLst/>
                        <a:defRPr/>
                      </a:pP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2</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a:t>
                      </a: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IPsec</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秘钥交换</a:t>
                      </a:r>
                    </a:p>
                    <a:p>
                      <a:pPr marL="0" marR="0" lvl="0" indent="0" algn="l" defTabSz="914478" rtl="0" eaLnBrk="1" fontAlgn="auto" latinLnBrk="0" hangingPunct="1">
                        <a:lnSpc>
                          <a:spcPct val="100000"/>
                        </a:lnSpc>
                        <a:spcBef>
                          <a:spcPts val="0"/>
                        </a:spcBef>
                        <a:spcAft>
                          <a:spcPts val="0"/>
                        </a:spcAft>
                        <a:buClrTx/>
                        <a:buSzTx/>
                        <a:buFontTx/>
                        <a:buNone/>
                        <a:tabLst/>
                        <a:defRPr/>
                      </a:pP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3</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a:t>
                      </a: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VPN</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拓扑定义</a:t>
                      </a:r>
                    </a:p>
                    <a:p>
                      <a:pPr marL="0" marR="0" lvl="0" indent="0" algn="l" defTabSz="914478" rtl="0" eaLnBrk="1" fontAlgn="auto" latinLnBrk="0" hangingPunct="1">
                        <a:lnSpc>
                          <a:spcPct val="100000"/>
                        </a:lnSpc>
                        <a:spcBef>
                          <a:spcPts val="0"/>
                        </a:spcBef>
                        <a:spcAft>
                          <a:spcPts val="0"/>
                        </a:spcAft>
                        <a:buClrTx/>
                        <a:buSzTx/>
                        <a:buFontTx/>
                        <a:buNone/>
                        <a:tabLst/>
                        <a:defRPr/>
                      </a:pP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4</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a:t>
                      </a: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NAT Stun</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服务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RR</a:t>
                      </a:r>
                      <a:r>
                        <a:rPr lang="zh-CN" altLang="en-US" sz="1400" b="0" kern="1200" baseline="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a:t>
                      </a:r>
                      <a:r>
                        <a:rPr lang="en-US" altLang="zh-CN" sz="1400" b="0" kern="1200" baseline="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AR</a:t>
                      </a:r>
                      <a:r>
                        <a:rPr lang="zh-CN" altLang="en-US" sz="1400" b="0" kern="1200" baseline="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路由器）</a:t>
                      </a:r>
                      <a:endPar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8346">
                <a:tc>
                  <a:txBody>
                    <a:bodyPr/>
                    <a:lstStyle/>
                    <a:p>
                      <a:pPr marL="0" algn="ctr" defTabSz="890492" rtl="0" eaLnBrk="1" latinLnBrk="0" hangingPunct="1"/>
                      <a:r>
                        <a:rPr lang="zh-CN" altLang="en-US" sz="1400" kern="1200" dirty="0">
                          <a:solidFill>
                            <a:schemeClr val="tx1"/>
                          </a:solidFill>
                          <a:latin typeface="Arial" panose="020B0604020202020204" pitchFamily="34" charset="0"/>
                          <a:ea typeface="微软雅黑" panose="020B0503020204020204" pitchFamily="34" charset="-122"/>
                          <a:cs typeface="Arial" panose="020B0604020202020204" pitchFamily="34" charset="0"/>
                        </a:rPr>
                        <a:t>网络层</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914478" rtl="0" eaLnBrk="1"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1</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a:t>
                      </a: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EDGE</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：企业分支、总部、</a:t>
                      </a: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DC</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以及云等站点的出口</a:t>
                      </a: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CPE</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设备</a:t>
                      </a:r>
                    </a:p>
                    <a:p>
                      <a:pPr marL="0" algn="l" defTabSz="914478" rtl="0" eaLnBrk="1"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2</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a:t>
                      </a: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GW</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：多租户网关设备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914478" rtl="0" eaLnBrk="1"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AR</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路由器</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92510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bwMode="gray">
          <a:xfrm>
            <a:off x="1101997" y="1787763"/>
            <a:ext cx="10044407" cy="3753989"/>
          </a:xfrm>
          <a:prstGeom prst="roundRect">
            <a:avLst>
              <a:gd name="adj" fmla="val 1541"/>
            </a:avLst>
          </a:prstGeom>
          <a:noFill/>
          <a:ln w="19050" cap="flat" cmpd="sng" algn="ctr">
            <a:solidFill>
              <a:srgbClr val="30B5C5"/>
            </a:solidFill>
            <a:prstDash val="lgDash"/>
            <a:round/>
            <a:headEnd type="none" w="med" len="med"/>
            <a:tailEnd type="none" w="med" len="med"/>
          </a:ln>
          <a:effectLst/>
        </p:spPr>
        <p:txBody>
          <a:bodyPr vert="horz" wrap="square" lIns="91436" tIns="45718" rIns="91436" bIns="45718" numCol="1" rtlCol="0" anchor="t" anchorCtr="0" compatLnSpc="1">
            <a:prstTxWarp prst="textNoShape">
              <a:avLst/>
            </a:prstTxWarp>
          </a:bodyPr>
          <a:lstStyle/>
          <a:p>
            <a:pPr algn="ctr" defTabSz="801648"/>
            <a:endParaRPr lang="en-US"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矩形 82"/>
          <p:cNvSpPr/>
          <p:nvPr/>
        </p:nvSpPr>
        <p:spPr bwMode="gray">
          <a:xfrm>
            <a:off x="3203640" y="4682205"/>
            <a:ext cx="7609595" cy="573790"/>
          </a:xfrm>
          <a:prstGeom prst="rect">
            <a:avLst/>
          </a:prstGeom>
          <a:solidFill>
            <a:srgbClr val="56C4D2"/>
          </a:solidFill>
          <a:ln w="3175">
            <a:solidFill>
              <a:srgbClr val="56C4D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bodyPr>
          <a:lstStyle/>
          <a:p>
            <a:pPr font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南向接口</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88" name="矩形 87"/>
          <p:cNvSpPr/>
          <p:nvPr/>
        </p:nvSpPr>
        <p:spPr bwMode="gray">
          <a:xfrm>
            <a:off x="3190068" y="2834342"/>
            <a:ext cx="7609595" cy="468000"/>
          </a:xfrm>
          <a:prstGeom prst="rect">
            <a:avLst/>
          </a:prstGeom>
          <a:solidFill>
            <a:srgbClr val="56C4D2"/>
          </a:solidFill>
          <a:ln w="3175">
            <a:solidFill>
              <a:srgbClr val="56C4D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bodyPr>
          <a:lstStyle/>
          <a:p>
            <a:pPr font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业务功能</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01" name="矩形 100"/>
          <p:cNvSpPr/>
          <p:nvPr/>
        </p:nvSpPr>
        <p:spPr bwMode="gray">
          <a:xfrm>
            <a:off x="3194517" y="3557933"/>
            <a:ext cx="7618718" cy="898459"/>
          </a:xfrm>
          <a:prstGeom prst="rect">
            <a:avLst/>
          </a:prstGeom>
          <a:solidFill>
            <a:srgbClr val="56C4D2"/>
          </a:solidFill>
          <a:ln w="3175">
            <a:solidFill>
              <a:srgbClr val="56C4D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bodyPr>
          <a:lstStyle/>
          <a:p>
            <a:pPr font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基础功能</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26" name="矩形 125"/>
          <p:cNvSpPr/>
          <p:nvPr/>
        </p:nvSpPr>
        <p:spPr bwMode="gray">
          <a:xfrm>
            <a:off x="3203640" y="2024106"/>
            <a:ext cx="7609595" cy="572400"/>
          </a:xfrm>
          <a:prstGeom prst="rect">
            <a:avLst/>
          </a:prstGeom>
          <a:solidFill>
            <a:srgbClr val="56C4D2"/>
          </a:solidFill>
          <a:ln w="3175">
            <a:solidFill>
              <a:srgbClr val="56C4D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bodyPr>
          <a:lstStyle/>
          <a:p>
            <a:pPr font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北向接口</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sym typeface="Huawei Sans" panose="020C0503030203020204" pitchFamily="34" charset="0"/>
              </a:rPr>
              <a:t>华为</a:t>
            </a:r>
            <a:r>
              <a:rPr lang="en-US" altLang="zh-CN" dirty="0" err="1">
                <a:sym typeface="Huawei Sans" panose="020C0503030203020204" pitchFamily="34" charset="0"/>
              </a:rPr>
              <a:t>iMaster</a:t>
            </a:r>
            <a:r>
              <a:rPr lang="en-US" altLang="zh-CN" dirty="0">
                <a:sym typeface="Huawei Sans" panose="020C0503030203020204" pitchFamily="34" charset="0"/>
              </a:rPr>
              <a:t> NCE-WAN</a:t>
            </a:r>
            <a:r>
              <a:rPr lang="zh-CN" altLang="en-US" dirty="0">
                <a:sym typeface="Huawei Sans" panose="020C0503030203020204" pitchFamily="34" charset="0"/>
              </a:rPr>
              <a:t>控制器框架图</a:t>
            </a:r>
          </a:p>
        </p:txBody>
      </p:sp>
      <p:sp>
        <p:nvSpPr>
          <p:cNvPr id="82" name="Shape 502"/>
          <p:cNvSpPr>
            <a:spLocks noChangeArrowheads="1"/>
          </p:cNvSpPr>
          <p:nvPr/>
        </p:nvSpPr>
        <p:spPr bwMode="gray">
          <a:xfrm>
            <a:off x="4758949" y="4745900"/>
            <a:ext cx="2887672" cy="446400"/>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NETCONF</a:t>
            </a:r>
          </a:p>
        </p:txBody>
      </p:sp>
      <p:sp>
        <p:nvSpPr>
          <p:cNvPr id="90" name="Shape 502"/>
          <p:cNvSpPr>
            <a:spLocks noChangeArrowheads="1"/>
          </p:cNvSpPr>
          <p:nvPr/>
        </p:nvSpPr>
        <p:spPr bwMode="gray">
          <a:xfrm>
            <a:off x="6205524" y="2914843"/>
            <a:ext cx="1405811" cy="324000"/>
          </a:xfrm>
          <a:prstGeom prst="rect">
            <a:avLst/>
          </a:prstGeom>
          <a:solidFill>
            <a:srgbClr val="56C4D2"/>
          </a:solidFill>
          <a:ln w="3175">
            <a:solidFill>
              <a:schemeClr val="bg1"/>
            </a:solidFill>
            <a:round/>
            <a:headEnd/>
            <a:tailEnd/>
          </a:ln>
        </p:spPr>
        <p:txBody>
          <a:bodyPr lIns="121928" tIns="121928" rIns="121928"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流量策略</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91" name="Shape 502"/>
          <p:cNvSpPr>
            <a:spLocks noChangeArrowheads="1"/>
          </p:cNvSpPr>
          <p:nvPr/>
        </p:nvSpPr>
        <p:spPr bwMode="gray">
          <a:xfrm>
            <a:off x="7675636" y="2914843"/>
            <a:ext cx="1405811" cy="324000"/>
          </a:xfrm>
          <a:prstGeom prst="rect">
            <a:avLst/>
          </a:prstGeom>
          <a:solidFill>
            <a:srgbClr val="56C4D2"/>
          </a:solidFill>
          <a:ln w="3175">
            <a:solidFill>
              <a:schemeClr val="bg1"/>
            </a:solidFill>
            <a:round/>
            <a:headEnd/>
            <a:tailEnd/>
          </a:ln>
        </p:spPr>
        <p:txBody>
          <a:bodyPr lIns="121928" tIns="121928" rIns="121928"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安全策略</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92" name="Shape 502"/>
          <p:cNvSpPr>
            <a:spLocks noChangeArrowheads="1"/>
          </p:cNvSpPr>
          <p:nvPr/>
        </p:nvSpPr>
        <p:spPr bwMode="gray">
          <a:xfrm>
            <a:off x="4735412" y="2914843"/>
            <a:ext cx="1405811" cy="324000"/>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即插即用</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94" name="Shape 502"/>
          <p:cNvSpPr>
            <a:spLocks noChangeArrowheads="1"/>
          </p:cNvSpPr>
          <p:nvPr/>
        </p:nvSpPr>
        <p:spPr bwMode="gray">
          <a:xfrm>
            <a:off x="9145749" y="2918084"/>
            <a:ext cx="1405811" cy="317519"/>
          </a:xfrm>
          <a:prstGeom prst="rect">
            <a:avLst/>
          </a:prstGeom>
          <a:solidFill>
            <a:srgbClr val="56C4D2"/>
          </a:solidFill>
          <a:ln w="3175">
            <a:solidFill>
              <a:schemeClr val="bg1"/>
            </a:solidFill>
            <a:round/>
            <a:headEnd/>
            <a:tailEnd/>
          </a:ln>
        </p:spPr>
        <p:txBody>
          <a:bodyPr lIns="121928" tIns="121928" rIns="121928"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可视化运维</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97" name="Shape 502"/>
          <p:cNvSpPr>
            <a:spLocks noChangeArrowheads="1"/>
          </p:cNvSpPr>
          <p:nvPr/>
        </p:nvSpPr>
        <p:spPr bwMode="gray">
          <a:xfrm>
            <a:off x="6277451" y="3609042"/>
            <a:ext cx="1386000" cy="324000"/>
          </a:xfrm>
          <a:prstGeom prst="rect">
            <a:avLst/>
          </a:prstGeom>
          <a:solidFill>
            <a:srgbClr val="56C4D2"/>
          </a:solidFill>
          <a:ln w="6350">
            <a:solidFill>
              <a:schemeClr val="bg1"/>
            </a:solidFill>
            <a:round/>
            <a:headEnd/>
            <a:tailEnd/>
          </a:ln>
        </p:spPr>
        <p:txBody>
          <a:bodyPr lIns="72000" tIns="121928" rIns="72000"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多租户管理</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98" name="Shape 502"/>
          <p:cNvSpPr>
            <a:spLocks noChangeArrowheads="1"/>
          </p:cNvSpPr>
          <p:nvPr/>
        </p:nvSpPr>
        <p:spPr bwMode="gray">
          <a:xfrm>
            <a:off x="4739623" y="3609042"/>
            <a:ext cx="1386000" cy="324000"/>
          </a:xfrm>
          <a:prstGeom prst="rect">
            <a:avLst/>
          </a:prstGeom>
          <a:solidFill>
            <a:srgbClr val="56C4D2"/>
          </a:solidFill>
          <a:ln w="6350">
            <a:solidFill>
              <a:schemeClr val="bg1"/>
            </a:solidFill>
            <a:round/>
            <a:headEnd/>
            <a:tailEnd/>
          </a:ln>
        </p:spPr>
        <p:txBody>
          <a:bodyPr lIns="72000" tIns="121928" rIns="72000"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集群管理</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99" name="Shape 502"/>
          <p:cNvSpPr>
            <a:spLocks noChangeArrowheads="1"/>
          </p:cNvSpPr>
          <p:nvPr/>
        </p:nvSpPr>
        <p:spPr bwMode="gray">
          <a:xfrm>
            <a:off x="7811099" y="4057606"/>
            <a:ext cx="1386000" cy="324000"/>
          </a:xfrm>
          <a:prstGeom prst="rect">
            <a:avLst/>
          </a:prstGeom>
          <a:solidFill>
            <a:srgbClr val="56C4D2"/>
          </a:solidFill>
          <a:ln w="6350">
            <a:solidFill>
              <a:schemeClr val="bg1"/>
            </a:solidFill>
            <a:round/>
            <a:headEnd/>
            <a:tailEnd/>
          </a:ln>
        </p:spPr>
        <p:txBody>
          <a:bodyPr lIns="72000" tIns="121928" rIns="72000"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告警管理</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02" name="Shape 502"/>
          <p:cNvSpPr>
            <a:spLocks noChangeArrowheads="1"/>
          </p:cNvSpPr>
          <p:nvPr/>
        </p:nvSpPr>
        <p:spPr bwMode="gray">
          <a:xfrm>
            <a:off x="6275361" y="4057606"/>
            <a:ext cx="1386000" cy="324000"/>
          </a:xfrm>
          <a:prstGeom prst="rect">
            <a:avLst/>
          </a:prstGeom>
          <a:solidFill>
            <a:srgbClr val="56C4D2"/>
          </a:solidFill>
          <a:ln w="6350">
            <a:solidFill>
              <a:schemeClr val="bg1"/>
            </a:solidFill>
            <a:round/>
            <a:headEnd/>
            <a:tailEnd/>
          </a:ln>
        </p:spPr>
        <p:txBody>
          <a:bodyPr lIns="72000" tIns="121928" rIns="72000"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日志管理</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03" name="Shape 502"/>
          <p:cNvSpPr>
            <a:spLocks noChangeArrowheads="1"/>
          </p:cNvSpPr>
          <p:nvPr/>
        </p:nvSpPr>
        <p:spPr bwMode="gray">
          <a:xfrm>
            <a:off x="9353106" y="3609042"/>
            <a:ext cx="1386000" cy="324000"/>
          </a:xfrm>
          <a:prstGeom prst="rect">
            <a:avLst/>
          </a:prstGeom>
          <a:solidFill>
            <a:srgbClr val="56C4D2"/>
          </a:solidFill>
          <a:ln w="6350">
            <a:solidFill>
              <a:schemeClr val="bg1"/>
            </a:solidFill>
            <a:round/>
            <a:headEnd/>
            <a:tailEnd/>
          </a:ln>
        </p:spPr>
        <p:txBody>
          <a:bodyPr lIns="72000" tIns="121928" rIns="72000"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设备配置</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04" name="Shape 502"/>
          <p:cNvSpPr>
            <a:spLocks noChangeArrowheads="1"/>
          </p:cNvSpPr>
          <p:nvPr/>
        </p:nvSpPr>
        <p:spPr bwMode="gray">
          <a:xfrm>
            <a:off x="7815279" y="3609042"/>
            <a:ext cx="1386000" cy="324000"/>
          </a:xfrm>
          <a:prstGeom prst="rect">
            <a:avLst/>
          </a:prstGeom>
          <a:solidFill>
            <a:srgbClr val="56C4D2"/>
          </a:solidFill>
          <a:ln w="6350">
            <a:solidFill>
              <a:schemeClr val="bg1"/>
            </a:solidFill>
            <a:round/>
            <a:headEnd/>
            <a:tailEnd/>
          </a:ln>
        </p:spPr>
        <p:txBody>
          <a:bodyPr lIns="72000" tIns="121928" rIns="72000"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隧道管理</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05" name="Shape 502"/>
          <p:cNvSpPr>
            <a:spLocks noChangeArrowheads="1"/>
          </p:cNvSpPr>
          <p:nvPr/>
        </p:nvSpPr>
        <p:spPr bwMode="gray">
          <a:xfrm>
            <a:off x="9346838" y="4057606"/>
            <a:ext cx="1386000" cy="324000"/>
          </a:xfrm>
          <a:prstGeom prst="rect">
            <a:avLst/>
          </a:prstGeom>
          <a:solidFill>
            <a:srgbClr val="56C4D2"/>
          </a:solidFill>
          <a:ln w="6350">
            <a:solidFill>
              <a:schemeClr val="bg1"/>
            </a:solidFill>
            <a:round/>
            <a:headEnd/>
            <a:tailEnd/>
          </a:ln>
        </p:spPr>
        <p:txBody>
          <a:bodyPr lIns="72000" tIns="121928" rIns="72000"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网络巡检</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06" name="Shape 502"/>
          <p:cNvSpPr>
            <a:spLocks noChangeArrowheads="1"/>
          </p:cNvSpPr>
          <p:nvPr/>
        </p:nvSpPr>
        <p:spPr bwMode="gray">
          <a:xfrm>
            <a:off x="4739623" y="4057606"/>
            <a:ext cx="1386000" cy="324000"/>
          </a:xfrm>
          <a:prstGeom prst="rect">
            <a:avLst/>
          </a:prstGeom>
          <a:solidFill>
            <a:srgbClr val="56C4D2"/>
          </a:solidFill>
          <a:ln w="6350">
            <a:solidFill>
              <a:schemeClr val="bg1"/>
            </a:solidFill>
            <a:round/>
            <a:headEnd/>
            <a:tailEnd/>
          </a:ln>
        </p:spPr>
        <p:txBody>
          <a:bodyPr lIns="72000" tIns="121928" rIns="72000" bIns="121928" anchor="ctr"/>
          <a:lstStyle/>
          <a:p>
            <a:pPr algn="ctr" fontAlgn="ctr">
              <a:lnSpc>
                <a:spcPts val="1200"/>
              </a:lnSpc>
              <a:buSzPct val="100000"/>
            </a:pPr>
            <a:r>
              <a:rPr lang="zh-CN" altLang="en-US"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设备升级</a:t>
            </a:r>
            <a:endParaRPr lang="en-US" altLang="zh-CN" sz="12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07" name="圆角矩形 106"/>
          <p:cNvSpPr/>
          <p:nvPr/>
        </p:nvSpPr>
        <p:spPr bwMode="gray">
          <a:xfrm>
            <a:off x="1106245" y="5621956"/>
            <a:ext cx="10040159" cy="550282"/>
          </a:xfrm>
          <a:prstGeom prst="roundRect">
            <a:avLst>
              <a:gd name="adj" fmla="val 3898"/>
            </a:avLst>
          </a:prstGeom>
          <a:noFill/>
          <a:ln w="3175" cap="flat" cmpd="sng" algn="ctr">
            <a:solidFill>
              <a:srgbClr val="B5B5B5"/>
            </a:solidFill>
            <a:prstDash val="lgDash"/>
            <a:round/>
            <a:headEnd type="none" w="med" len="med"/>
            <a:tailEnd type="none" w="med" len="med"/>
          </a:ln>
          <a:effectLst/>
        </p:spPr>
        <p:txBody>
          <a:bodyPr vert="horz" wrap="square" lIns="91436" tIns="45718" rIns="91436" bIns="45718" numCol="1" rtlCol="0" anchor="ctr" anchorCtr="0" compatLnSpc="1">
            <a:prstTxWarp prst="textNoShape">
              <a:avLst/>
            </a:prstTxWarp>
          </a:bodyPr>
          <a:lstStyle/>
          <a:p>
            <a:pPr defTabSz="801648"/>
            <a:r>
              <a:rPr lang="zh-CN" altLang="en-US" sz="1800" b="1" dirty="0">
                <a:latin typeface="Huawei Sans" panose="020C0503030203020204" pitchFamily="34" charset="0"/>
                <a:ea typeface="方正兰亭黑简体" panose="02000000000000000000" pitchFamily="2" charset="-122"/>
                <a:cs typeface="+mj-cs"/>
                <a:sym typeface="Huawei Sans" panose="020C0503030203020204" pitchFamily="34" charset="0"/>
              </a:rPr>
              <a:t>网络设备</a:t>
            </a:r>
            <a:endParaRPr lang="en-US" altLang="zh-CN" sz="18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09" name="矩形 108"/>
          <p:cNvSpPr/>
          <p:nvPr/>
        </p:nvSpPr>
        <p:spPr bwMode="gray">
          <a:xfrm>
            <a:off x="4179716" y="5766292"/>
            <a:ext cx="1081855" cy="307777"/>
          </a:xfrm>
          <a:prstGeom prst="rect">
            <a:avLst/>
          </a:prstGeom>
        </p:spPr>
        <p:txBody>
          <a:bodyPr wrap="square">
            <a:spAutoFit/>
          </a:bodyPr>
          <a:lstStyle/>
          <a:p>
            <a:pPr algn="ctr" fontAlgn="ctr">
              <a:buSzPct val="100000"/>
              <a:defRPr/>
            </a:pPr>
            <a:r>
              <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rPr>
              <a:t>CPE</a:t>
            </a:r>
          </a:p>
        </p:txBody>
      </p:sp>
      <p:sp>
        <p:nvSpPr>
          <p:cNvPr id="111" name="矩形 110"/>
          <p:cNvSpPr/>
          <p:nvPr/>
        </p:nvSpPr>
        <p:spPr bwMode="gray">
          <a:xfrm>
            <a:off x="7846446" y="5766268"/>
            <a:ext cx="1081855" cy="307777"/>
          </a:xfrm>
          <a:prstGeom prst="rect">
            <a:avLst/>
          </a:prstGeom>
        </p:spPr>
        <p:txBody>
          <a:bodyPr wrap="square">
            <a:spAutoFit/>
          </a:bodyPr>
          <a:lstStyle/>
          <a:p>
            <a:pPr algn="ctr" fontAlgn="ctr">
              <a:buSzPct val="100000"/>
              <a:defRPr/>
            </a:pPr>
            <a:r>
              <a:rPr lang="en-US" altLang="zh-CN" sz="1400" dirty="0" err="1">
                <a:latin typeface="Huawei Sans" panose="020C0503030203020204" pitchFamily="34" charset="0"/>
                <a:ea typeface="方正兰亭黑简体" panose="02000000000000000000" pitchFamily="2" charset="-122"/>
                <a:cs typeface="+mj-cs"/>
                <a:sym typeface="Huawei Sans" panose="020C0503030203020204" pitchFamily="34" charset="0"/>
              </a:rPr>
              <a:t>vCPE</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12" name="圆角矩形 111"/>
          <p:cNvSpPr/>
          <p:nvPr/>
        </p:nvSpPr>
        <p:spPr bwMode="gray">
          <a:xfrm>
            <a:off x="1120525" y="1117973"/>
            <a:ext cx="10025880" cy="565047"/>
          </a:xfrm>
          <a:prstGeom prst="roundRect">
            <a:avLst>
              <a:gd name="adj" fmla="val 3898"/>
            </a:avLst>
          </a:prstGeom>
          <a:noFill/>
          <a:ln w="3175" cap="flat" cmpd="sng" algn="ctr">
            <a:solidFill>
              <a:srgbClr val="B5B5B5"/>
            </a:solidFill>
            <a:prstDash val="lgDash"/>
            <a:round/>
            <a:headEnd type="none" w="med" len="med"/>
            <a:tailEnd type="none" w="med" len="med"/>
          </a:ln>
          <a:effectLst/>
        </p:spPr>
        <p:txBody>
          <a:bodyPr vert="horz" wrap="square" lIns="91436" tIns="45718" rIns="91436" bIns="45718" numCol="1" rtlCol="0" anchor="ctr" anchorCtr="0" compatLnSpc="1">
            <a:prstTxWarp prst="textNoShape">
              <a:avLst/>
            </a:prstTxWarp>
          </a:bodyPr>
          <a:lstStyle/>
          <a:p>
            <a:pPr defTabSz="801648"/>
            <a:r>
              <a:rPr lang="zh-CN" altLang="en-US" sz="1800" b="1" dirty="0">
                <a:latin typeface="Huawei Sans" panose="020C0503030203020204" pitchFamily="34" charset="0"/>
                <a:ea typeface="方正兰亭黑简体" panose="02000000000000000000" pitchFamily="2" charset="-122"/>
                <a:cs typeface="+mj-cs"/>
                <a:sym typeface="Huawei Sans" panose="020C0503030203020204" pitchFamily="34" charset="0"/>
              </a:rPr>
              <a:t>增值业务</a:t>
            </a:r>
            <a:endParaRPr lang="en-US" altLang="zh-CN" sz="18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14" name="矩形 113"/>
          <p:cNvSpPr/>
          <p:nvPr/>
        </p:nvSpPr>
        <p:spPr bwMode="gray">
          <a:xfrm>
            <a:off x="3855963" y="1247358"/>
            <a:ext cx="1081855" cy="338554"/>
          </a:xfrm>
          <a:prstGeom prst="rect">
            <a:avLst/>
          </a:prstGeom>
        </p:spPr>
        <p:txBody>
          <a:bodyPr wrap="square">
            <a:spAutoFit/>
          </a:bodyPr>
          <a:lstStyle/>
          <a:p>
            <a:pPr algn="ctr" fontAlgn="ctr">
              <a:buSzPct val="100000"/>
            </a:pPr>
            <a:r>
              <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OSS/BSS</a:t>
            </a:r>
          </a:p>
        </p:txBody>
      </p:sp>
      <p:sp>
        <p:nvSpPr>
          <p:cNvPr id="115" name="矩形 114"/>
          <p:cNvSpPr/>
          <p:nvPr/>
        </p:nvSpPr>
        <p:spPr bwMode="gray">
          <a:xfrm>
            <a:off x="5816052" y="1261329"/>
            <a:ext cx="1081855" cy="338554"/>
          </a:xfrm>
          <a:prstGeom prst="rect">
            <a:avLst/>
          </a:prstGeom>
        </p:spPr>
        <p:txBody>
          <a:bodyPr wrap="square">
            <a:spAutoFit/>
          </a:bodyPr>
          <a:lstStyle/>
          <a:p>
            <a:pPr algn="ctr" fontAlgn="ctr">
              <a:buSzPct val="100000"/>
            </a:pP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分析系统</a:t>
            </a:r>
            <a:endPar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16" name="矩形 115"/>
          <p:cNvSpPr/>
          <p:nvPr/>
        </p:nvSpPr>
        <p:spPr bwMode="gray">
          <a:xfrm>
            <a:off x="7937705" y="1262113"/>
            <a:ext cx="1081855" cy="338554"/>
          </a:xfrm>
          <a:prstGeom prst="rect">
            <a:avLst/>
          </a:prstGeom>
        </p:spPr>
        <p:txBody>
          <a:bodyPr wrap="square">
            <a:spAutoFit/>
          </a:bodyPr>
          <a:lstStyle/>
          <a:p>
            <a:pPr algn="ctr" fontAlgn="ctr">
              <a:buSzPct val="100000"/>
            </a:pP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其他应用</a:t>
            </a:r>
            <a:endPar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17" name="Freeform 160"/>
          <p:cNvSpPr>
            <a:spLocks noChangeAspect="1" noEditPoints="1"/>
          </p:cNvSpPr>
          <p:nvPr/>
        </p:nvSpPr>
        <p:spPr bwMode="gray">
          <a:xfrm>
            <a:off x="5371168" y="1232176"/>
            <a:ext cx="468795" cy="343119"/>
          </a:xfrm>
          <a:custGeom>
            <a:avLst/>
            <a:gdLst>
              <a:gd name="T0" fmla="*/ 60 w 235"/>
              <a:gd name="T1" fmla="*/ 34 h 172"/>
              <a:gd name="T2" fmla="*/ 54 w 235"/>
              <a:gd name="T3" fmla="*/ 43 h 172"/>
              <a:gd name="T4" fmla="*/ 54 w 235"/>
              <a:gd name="T5" fmla="*/ 144 h 172"/>
              <a:gd name="T6" fmla="*/ 226 w 235"/>
              <a:gd name="T7" fmla="*/ 144 h 172"/>
              <a:gd name="T8" fmla="*/ 235 w 235"/>
              <a:gd name="T9" fmla="*/ 138 h 172"/>
              <a:gd name="T10" fmla="*/ 235 w 235"/>
              <a:gd name="T11" fmla="*/ 34 h 172"/>
              <a:gd name="T12" fmla="*/ 226 w 235"/>
              <a:gd name="T13" fmla="*/ 34 h 172"/>
              <a:gd name="T14" fmla="*/ 95 w 235"/>
              <a:gd name="T15" fmla="*/ 86 h 172"/>
              <a:gd name="T16" fmla="*/ 97 w 235"/>
              <a:gd name="T17" fmla="*/ 88 h 172"/>
              <a:gd name="T18" fmla="*/ 103 w 235"/>
              <a:gd name="T19" fmla="*/ 71 h 172"/>
              <a:gd name="T20" fmla="*/ 114 w 235"/>
              <a:gd name="T21" fmla="*/ 81 h 172"/>
              <a:gd name="T22" fmla="*/ 121 w 235"/>
              <a:gd name="T23" fmla="*/ 73 h 172"/>
              <a:gd name="T24" fmla="*/ 136 w 235"/>
              <a:gd name="T25" fmla="*/ 99 h 172"/>
              <a:gd name="T26" fmla="*/ 140 w 235"/>
              <a:gd name="T27" fmla="*/ 73 h 172"/>
              <a:gd name="T28" fmla="*/ 149 w 235"/>
              <a:gd name="T29" fmla="*/ 86 h 172"/>
              <a:gd name="T30" fmla="*/ 166 w 235"/>
              <a:gd name="T31" fmla="*/ 73 h 172"/>
              <a:gd name="T32" fmla="*/ 175 w 235"/>
              <a:gd name="T33" fmla="*/ 86 h 172"/>
              <a:gd name="T34" fmla="*/ 179 w 235"/>
              <a:gd name="T35" fmla="*/ 81 h 172"/>
              <a:gd name="T36" fmla="*/ 205 w 235"/>
              <a:gd name="T37" fmla="*/ 90 h 172"/>
              <a:gd name="T38" fmla="*/ 179 w 235"/>
              <a:gd name="T39" fmla="*/ 105 h 172"/>
              <a:gd name="T40" fmla="*/ 162 w 235"/>
              <a:gd name="T41" fmla="*/ 84 h 172"/>
              <a:gd name="T42" fmla="*/ 151 w 235"/>
              <a:gd name="T43" fmla="*/ 101 h 172"/>
              <a:gd name="T44" fmla="*/ 144 w 235"/>
              <a:gd name="T45" fmla="*/ 92 h 172"/>
              <a:gd name="T46" fmla="*/ 134 w 235"/>
              <a:gd name="T47" fmla="*/ 112 h 172"/>
              <a:gd name="T48" fmla="*/ 114 w 235"/>
              <a:gd name="T49" fmla="*/ 90 h 172"/>
              <a:gd name="T50" fmla="*/ 110 w 235"/>
              <a:gd name="T51" fmla="*/ 90 h 172"/>
              <a:gd name="T52" fmla="*/ 103 w 235"/>
              <a:gd name="T53" fmla="*/ 103 h 172"/>
              <a:gd name="T54" fmla="*/ 90 w 235"/>
              <a:gd name="T55" fmla="*/ 92 h 172"/>
              <a:gd name="T56" fmla="*/ 82 w 235"/>
              <a:gd name="T57" fmla="*/ 86 h 172"/>
              <a:gd name="T58" fmla="*/ 80 w 235"/>
              <a:gd name="T59" fmla="*/ 172 h 172"/>
              <a:gd name="T60" fmla="*/ 0 w 235"/>
              <a:gd name="T61" fmla="*/ 0 h 172"/>
              <a:gd name="T62" fmla="*/ 80 w 235"/>
              <a:gd name="T63" fmla="*/ 23 h 172"/>
              <a:gd name="T64" fmla="*/ 41 w 235"/>
              <a:gd name="T65" fmla="*/ 23 h 172"/>
              <a:gd name="T66" fmla="*/ 6 w 235"/>
              <a:gd name="T67" fmla="*/ 23 h 172"/>
              <a:gd name="T68" fmla="*/ 6 w 235"/>
              <a:gd name="T69" fmla="*/ 49 h 172"/>
              <a:gd name="T70" fmla="*/ 11 w 235"/>
              <a:gd name="T71" fmla="*/ 51 h 172"/>
              <a:gd name="T72" fmla="*/ 41 w 235"/>
              <a:gd name="T73" fmla="*/ 58 h 172"/>
              <a:gd name="T74" fmla="*/ 6 w 235"/>
              <a:gd name="T75" fmla="*/ 58 h 172"/>
              <a:gd name="T76" fmla="*/ 6 w 235"/>
              <a:gd name="T77" fmla="*/ 84 h 172"/>
              <a:gd name="T78" fmla="*/ 11 w 235"/>
              <a:gd name="T79" fmla="*/ 86 h 172"/>
              <a:gd name="T80" fmla="*/ 41 w 235"/>
              <a:gd name="T81" fmla="*/ 155 h 172"/>
              <a:gd name="T82" fmla="*/ 80 w 235"/>
              <a:gd name="T83" fmla="*/ 172 h 172"/>
              <a:gd name="T84" fmla="*/ 21 w 235"/>
              <a:gd name="T85" fmla="*/ 97 h 172"/>
              <a:gd name="T86" fmla="*/ 9 w 235"/>
              <a:gd name="T87" fmla="*/ 105 h 172"/>
              <a:gd name="T88" fmla="*/ 21 w 235"/>
              <a:gd name="T89" fmla="*/ 97 h 172"/>
              <a:gd name="T90" fmla="*/ 21 w 235"/>
              <a:gd name="T91" fmla="*/ 112 h 172"/>
              <a:gd name="T92" fmla="*/ 9 w 235"/>
              <a:gd name="T93" fmla="*/ 118 h 172"/>
              <a:gd name="T94" fmla="*/ 21 w 235"/>
              <a:gd name="T95" fmla="*/ 112 h 172"/>
              <a:gd name="T96" fmla="*/ 41 w 235"/>
              <a:gd name="T97" fmla="*/ 30 h 172"/>
              <a:gd name="T98" fmla="*/ 15 w 235"/>
              <a:gd name="T99" fmla="*/ 45 h 172"/>
              <a:gd name="T100" fmla="*/ 41 w 235"/>
              <a:gd name="T101" fmla="*/ 30 h 172"/>
              <a:gd name="T102" fmla="*/ 41 w 235"/>
              <a:gd name="T103" fmla="*/ 66 h 172"/>
              <a:gd name="T104" fmla="*/ 15 w 235"/>
              <a:gd name="T105" fmla="*/ 79 h 172"/>
              <a:gd name="T106" fmla="*/ 41 w 235"/>
              <a:gd name="T107" fmla="*/ 66 h 172"/>
              <a:gd name="T108" fmla="*/ 187 w 235"/>
              <a:gd name="T109" fmla="*/ 163 h 172"/>
              <a:gd name="T110" fmla="*/ 175 w 235"/>
              <a:gd name="T111" fmla="*/ 148 h 172"/>
              <a:gd name="T112" fmla="*/ 116 w 235"/>
              <a:gd name="T113" fmla="*/ 163 h 172"/>
              <a:gd name="T114" fmla="*/ 103 w 235"/>
              <a:gd name="T115" fmla="*/ 172 h 172"/>
              <a:gd name="T116" fmla="*/ 187 w 235"/>
              <a:gd name="T117" fmla="*/ 163 h 172"/>
              <a:gd name="T118" fmla="*/ 73 w 235"/>
              <a:gd name="T119" fmla="*/ 53 h 172"/>
              <a:gd name="T120" fmla="*/ 213 w 235"/>
              <a:gd name="T121" fmla="*/ 125 h 172"/>
              <a:gd name="T122" fmla="*/ 73 w 235"/>
              <a:gd name="T123" fmla="*/ 53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5" h="172">
                <a:moveTo>
                  <a:pt x="226" y="34"/>
                </a:moveTo>
                <a:lnTo>
                  <a:pt x="60" y="34"/>
                </a:lnTo>
                <a:lnTo>
                  <a:pt x="54" y="34"/>
                </a:lnTo>
                <a:lnTo>
                  <a:pt x="54" y="43"/>
                </a:lnTo>
                <a:lnTo>
                  <a:pt x="54" y="138"/>
                </a:lnTo>
                <a:lnTo>
                  <a:pt x="54" y="144"/>
                </a:lnTo>
                <a:lnTo>
                  <a:pt x="60" y="144"/>
                </a:lnTo>
                <a:lnTo>
                  <a:pt x="226" y="144"/>
                </a:lnTo>
                <a:lnTo>
                  <a:pt x="235" y="144"/>
                </a:lnTo>
                <a:lnTo>
                  <a:pt x="235" y="138"/>
                </a:lnTo>
                <a:lnTo>
                  <a:pt x="235" y="43"/>
                </a:lnTo>
                <a:lnTo>
                  <a:pt x="235" y="34"/>
                </a:lnTo>
                <a:lnTo>
                  <a:pt x="226" y="34"/>
                </a:lnTo>
                <a:lnTo>
                  <a:pt x="226" y="34"/>
                </a:lnTo>
                <a:close/>
                <a:moveTo>
                  <a:pt x="82" y="86"/>
                </a:moveTo>
                <a:lnTo>
                  <a:pt x="95" y="86"/>
                </a:lnTo>
                <a:lnTo>
                  <a:pt x="97" y="86"/>
                </a:lnTo>
                <a:lnTo>
                  <a:pt x="97" y="88"/>
                </a:lnTo>
                <a:lnTo>
                  <a:pt x="99" y="90"/>
                </a:lnTo>
                <a:lnTo>
                  <a:pt x="103" y="71"/>
                </a:lnTo>
                <a:lnTo>
                  <a:pt x="110" y="71"/>
                </a:lnTo>
                <a:lnTo>
                  <a:pt x="114" y="81"/>
                </a:lnTo>
                <a:lnTo>
                  <a:pt x="116" y="77"/>
                </a:lnTo>
                <a:lnTo>
                  <a:pt x="121" y="73"/>
                </a:lnTo>
                <a:lnTo>
                  <a:pt x="123" y="79"/>
                </a:lnTo>
                <a:lnTo>
                  <a:pt x="136" y="99"/>
                </a:lnTo>
                <a:lnTo>
                  <a:pt x="138" y="81"/>
                </a:lnTo>
                <a:lnTo>
                  <a:pt x="140" y="73"/>
                </a:lnTo>
                <a:lnTo>
                  <a:pt x="147" y="81"/>
                </a:lnTo>
                <a:lnTo>
                  <a:pt x="149" y="86"/>
                </a:lnTo>
                <a:lnTo>
                  <a:pt x="159" y="73"/>
                </a:lnTo>
                <a:lnTo>
                  <a:pt x="166" y="73"/>
                </a:lnTo>
                <a:lnTo>
                  <a:pt x="175" y="92"/>
                </a:lnTo>
                <a:lnTo>
                  <a:pt x="175" y="86"/>
                </a:lnTo>
                <a:lnTo>
                  <a:pt x="177" y="81"/>
                </a:lnTo>
                <a:lnTo>
                  <a:pt x="179" y="81"/>
                </a:lnTo>
                <a:lnTo>
                  <a:pt x="205" y="81"/>
                </a:lnTo>
                <a:lnTo>
                  <a:pt x="205" y="90"/>
                </a:lnTo>
                <a:lnTo>
                  <a:pt x="183" y="90"/>
                </a:lnTo>
                <a:lnTo>
                  <a:pt x="179" y="105"/>
                </a:lnTo>
                <a:lnTo>
                  <a:pt x="172" y="105"/>
                </a:lnTo>
                <a:lnTo>
                  <a:pt x="162" y="84"/>
                </a:lnTo>
                <a:lnTo>
                  <a:pt x="153" y="97"/>
                </a:lnTo>
                <a:lnTo>
                  <a:pt x="151" y="101"/>
                </a:lnTo>
                <a:lnTo>
                  <a:pt x="147" y="97"/>
                </a:lnTo>
                <a:lnTo>
                  <a:pt x="144" y="92"/>
                </a:lnTo>
                <a:lnTo>
                  <a:pt x="140" y="112"/>
                </a:lnTo>
                <a:lnTo>
                  <a:pt x="134" y="112"/>
                </a:lnTo>
                <a:lnTo>
                  <a:pt x="118" y="86"/>
                </a:lnTo>
                <a:lnTo>
                  <a:pt x="114" y="90"/>
                </a:lnTo>
                <a:lnTo>
                  <a:pt x="110" y="94"/>
                </a:lnTo>
                <a:lnTo>
                  <a:pt x="110" y="90"/>
                </a:lnTo>
                <a:lnTo>
                  <a:pt x="108" y="86"/>
                </a:lnTo>
                <a:lnTo>
                  <a:pt x="103" y="103"/>
                </a:lnTo>
                <a:lnTo>
                  <a:pt x="97" y="103"/>
                </a:lnTo>
                <a:lnTo>
                  <a:pt x="90" y="92"/>
                </a:lnTo>
                <a:lnTo>
                  <a:pt x="82" y="92"/>
                </a:lnTo>
                <a:lnTo>
                  <a:pt x="82" y="86"/>
                </a:lnTo>
                <a:lnTo>
                  <a:pt x="82" y="86"/>
                </a:lnTo>
                <a:close/>
                <a:moveTo>
                  <a:pt x="80" y="172"/>
                </a:moveTo>
                <a:lnTo>
                  <a:pt x="0" y="172"/>
                </a:lnTo>
                <a:lnTo>
                  <a:pt x="0" y="0"/>
                </a:lnTo>
                <a:lnTo>
                  <a:pt x="80" y="0"/>
                </a:lnTo>
                <a:lnTo>
                  <a:pt x="80" y="23"/>
                </a:lnTo>
                <a:lnTo>
                  <a:pt x="56" y="23"/>
                </a:lnTo>
                <a:lnTo>
                  <a:pt x="41" y="23"/>
                </a:lnTo>
                <a:lnTo>
                  <a:pt x="11" y="23"/>
                </a:lnTo>
                <a:lnTo>
                  <a:pt x="6" y="23"/>
                </a:lnTo>
                <a:lnTo>
                  <a:pt x="6" y="28"/>
                </a:lnTo>
                <a:lnTo>
                  <a:pt x="6" y="49"/>
                </a:lnTo>
                <a:lnTo>
                  <a:pt x="6" y="51"/>
                </a:lnTo>
                <a:lnTo>
                  <a:pt x="11" y="51"/>
                </a:lnTo>
                <a:lnTo>
                  <a:pt x="41" y="51"/>
                </a:lnTo>
                <a:lnTo>
                  <a:pt x="41" y="58"/>
                </a:lnTo>
                <a:lnTo>
                  <a:pt x="11" y="58"/>
                </a:lnTo>
                <a:lnTo>
                  <a:pt x="6" y="58"/>
                </a:lnTo>
                <a:lnTo>
                  <a:pt x="6" y="62"/>
                </a:lnTo>
                <a:lnTo>
                  <a:pt x="6" y="84"/>
                </a:lnTo>
                <a:lnTo>
                  <a:pt x="6" y="86"/>
                </a:lnTo>
                <a:lnTo>
                  <a:pt x="11" y="86"/>
                </a:lnTo>
                <a:lnTo>
                  <a:pt x="41" y="86"/>
                </a:lnTo>
                <a:lnTo>
                  <a:pt x="41" y="155"/>
                </a:lnTo>
                <a:lnTo>
                  <a:pt x="80" y="155"/>
                </a:lnTo>
                <a:lnTo>
                  <a:pt x="80" y="172"/>
                </a:lnTo>
                <a:lnTo>
                  <a:pt x="80" y="172"/>
                </a:lnTo>
                <a:close/>
                <a:moveTo>
                  <a:pt x="21" y="97"/>
                </a:moveTo>
                <a:lnTo>
                  <a:pt x="9" y="97"/>
                </a:lnTo>
                <a:lnTo>
                  <a:pt x="9" y="105"/>
                </a:lnTo>
                <a:lnTo>
                  <a:pt x="21" y="105"/>
                </a:lnTo>
                <a:lnTo>
                  <a:pt x="21" y="97"/>
                </a:lnTo>
                <a:lnTo>
                  <a:pt x="21" y="97"/>
                </a:lnTo>
                <a:close/>
                <a:moveTo>
                  <a:pt x="21" y="112"/>
                </a:moveTo>
                <a:lnTo>
                  <a:pt x="9" y="112"/>
                </a:lnTo>
                <a:lnTo>
                  <a:pt x="9" y="118"/>
                </a:lnTo>
                <a:lnTo>
                  <a:pt x="21" y="118"/>
                </a:lnTo>
                <a:lnTo>
                  <a:pt x="21" y="112"/>
                </a:lnTo>
                <a:lnTo>
                  <a:pt x="21" y="112"/>
                </a:lnTo>
                <a:close/>
                <a:moveTo>
                  <a:pt x="41" y="30"/>
                </a:moveTo>
                <a:lnTo>
                  <a:pt x="15" y="30"/>
                </a:lnTo>
                <a:lnTo>
                  <a:pt x="15" y="45"/>
                </a:lnTo>
                <a:lnTo>
                  <a:pt x="41" y="45"/>
                </a:lnTo>
                <a:lnTo>
                  <a:pt x="41" y="30"/>
                </a:lnTo>
                <a:lnTo>
                  <a:pt x="41" y="30"/>
                </a:lnTo>
                <a:close/>
                <a:moveTo>
                  <a:pt x="41" y="66"/>
                </a:moveTo>
                <a:lnTo>
                  <a:pt x="15" y="66"/>
                </a:lnTo>
                <a:lnTo>
                  <a:pt x="15" y="79"/>
                </a:lnTo>
                <a:lnTo>
                  <a:pt x="41" y="79"/>
                </a:lnTo>
                <a:lnTo>
                  <a:pt x="41" y="66"/>
                </a:lnTo>
                <a:lnTo>
                  <a:pt x="41" y="66"/>
                </a:lnTo>
                <a:close/>
                <a:moveTo>
                  <a:pt x="187" y="163"/>
                </a:moveTo>
                <a:lnTo>
                  <a:pt x="175" y="163"/>
                </a:lnTo>
                <a:lnTo>
                  <a:pt x="175" y="148"/>
                </a:lnTo>
                <a:lnTo>
                  <a:pt x="116" y="148"/>
                </a:lnTo>
                <a:lnTo>
                  <a:pt x="116" y="163"/>
                </a:lnTo>
                <a:lnTo>
                  <a:pt x="103" y="163"/>
                </a:lnTo>
                <a:lnTo>
                  <a:pt x="103" y="172"/>
                </a:lnTo>
                <a:lnTo>
                  <a:pt x="187" y="172"/>
                </a:lnTo>
                <a:lnTo>
                  <a:pt x="187" y="163"/>
                </a:lnTo>
                <a:lnTo>
                  <a:pt x="187" y="163"/>
                </a:lnTo>
                <a:close/>
                <a:moveTo>
                  <a:pt x="73" y="53"/>
                </a:moveTo>
                <a:lnTo>
                  <a:pt x="213" y="53"/>
                </a:lnTo>
                <a:lnTo>
                  <a:pt x="213" y="125"/>
                </a:lnTo>
                <a:lnTo>
                  <a:pt x="73" y="125"/>
                </a:lnTo>
                <a:lnTo>
                  <a:pt x="73" y="53"/>
                </a:lnTo>
                <a:close/>
              </a:path>
            </a:pathLst>
          </a:custGeom>
          <a:solidFill>
            <a:srgbClr val="0070C0"/>
          </a:solidFill>
          <a:ln>
            <a:noFill/>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Freeform 18"/>
          <p:cNvSpPr>
            <a:spLocks noChangeAspect="1" noEditPoints="1"/>
          </p:cNvSpPr>
          <p:nvPr/>
        </p:nvSpPr>
        <p:spPr bwMode="gray">
          <a:xfrm>
            <a:off x="7521642" y="1209299"/>
            <a:ext cx="492844" cy="393940"/>
          </a:xfrm>
          <a:custGeom>
            <a:avLst/>
            <a:gdLst/>
            <a:ahLst/>
            <a:cxnLst>
              <a:cxn ang="0">
                <a:pos x="354" y="18"/>
              </a:cxn>
              <a:cxn ang="0">
                <a:pos x="442" y="110"/>
              </a:cxn>
              <a:cxn ang="0">
                <a:pos x="476" y="114"/>
              </a:cxn>
              <a:cxn ang="0">
                <a:pos x="536" y="142"/>
              </a:cxn>
              <a:cxn ang="0">
                <a:pos x="576" y="196"/>
              </a:cxn>
              <a:cxn ang="0">
                <a:pos x="588" y="250"/>
              </a:cxn>
              <a:cxn ang="0">
                <a:pos x="554" y="340"/>
              </a:cxn>
              <a:cxn ang="0">
                <a:pos x="516" y="354"/>
              </a:cxn>
              <a:cxn ang="0">
                <a:pos x="508" y="272"/>
              </a:cxn>
              <a:cxn ang="0">
                <a:pos x="464" y="208"/>
              </a:cxn>
              <a:cxn ang="0">
                <a:pos x="412" y="178"/>
              </a:cxn>
              <a:cxn ang="0">
                <a:pos x="316" y="200"/>
              </a:cxn>
              <a:cxn ang="0">
                <a:pos x="248" y="212"/>
              </a:cxn>
              <a:cxn ang="0">
                <a:pos x="208" y="274"/>
              </a:cxn>
              <a:cxn ang="0">
                <a:pos x="224" y="340"/>
              </a:cxn>
              <a:cxn ang="0">
                <a:pos x="116" y="390"/>
              </a:cxn>
              <a:cxn ang="0">
                <a:pos x="34" y="356"/>
              </a:cxn>
              <a:cxn ang="0">
                <a:pos x="0" y="274"/>
              </a:cxn>
              <a:cxn ang="0">
                <a:pos x="28" y="198"/>
              </a:cxn>
              <a:cxn ang="0">
                <a:pos x="98" y="158"/>
              </a:cxn>
              <a:cxn ang="0">
                <a:pos x="124" y="82"/>
              </a:cxn>
              <a:cxn ang="0">
                <a:pos x="182" y="26"/>
              </a:cxn>
              <a:cxn ang="0">
                <a:pos x="258" y="0"/>
              </a:cxn>
              <a:cxn ang="0">
                <a:pos x="476" y="246"/>
              </a:cxn>
              <a:cxn ang="0">
                <a:pos x="502" y="332"/>
              </a:cxn>
              <a:cxn ang="0">
                <a:pos x="456" y="432"/>
              </a:cxn>
              <a:cxn ang="0">
                <a:pos x="356" y="448"/>
              </a:cxn>
              <a:cxn ang="0">
                <a:pos x="316" y="440"/>
              </a:cxn>
              <a:cxn ang="0">
                <a:pos x="228" y="390"/>
              </a:cxn>
              <a:cxn ang="0">
                <a:pos x="218" y="302"/>
              </a:cxn>
              <a:cxn ang="0">
                <a:pos x="260" y="222"/>
              </a:cxn>
              <a:cxn ang="0">
                <a:pos x="362" y="184"/>
              </a:cxn>
              <a:cxn ang="0">
                <a:pos x="444" y="244"/>
              </a:cxn>
              <a:cxn ang="0">
                <a:pos x="402" y="282"/>
              </a:cxn>
              <a:cxn ang="0">
                <a:pos x="420" y="326"/>
              </a:cxn>
              <a:cxn ang="0">
                <a:pos x="402" y="372"/>
              </a:cxn>
              <a:cxn ang="0">
                <a:pos x="360" y="390"/>
              </a:cxn>
              <a:cxn ang="0">
                <a:pos x="314" y="372"/>
              </a:cxn>
              <a:cxn ang="0">
                <a:pos x="296" y="328"/>
              </a:cxn>
              <a:cxn ang="0">
                <a:pos x="314" y="284"/>
              </a:cxn>
              <a:cxn ang="0">
                <a:pos x="358" y="264"/>
              </a:cxn>
              <a:cxn ang="0">
                <a:pos x="396" y="320"/>
              </a:cxn>
              <a:cxn ang="0">
                <a:pos x="380" y="296"/>
              </a:cxn>
              <a:cxn ang="0">
                <a:pos x="350" y="290"/>
              </a:cxn>
              <a:cxn ang="0">
                <a:pos x="326" y="306"/>
              </a:cxn>
              <a:cxn ang="0">
                <a:pos x="320" y="336"/>
              </a:cxn>
              <a:cxn ang="0">
                <a:pos x="338" y="360"/>
              </a:cxn>
              <a:cxn ang="0">
                <a:pos x="366" y="366"/>
              </a:cxn>
              <a:cxn ang="0">
                <a:pos x="390" y="348"/>
              </a:cxn>
              <a:cxn ang="0">
                <a:pos x="396" y="320"/>
              </a:cxn>
              <a:cxn ang="0">
                <a:pos x="418" y="288"/>
              </a:cxn>
              <a:cxn ang="0">
                <a:pos x="426" y="354"/>
              </a:cxn>
              <a:cxn ang="0">
                <a:pos x="386" y="394"/>
              </a:cxn>
              <a:cxn ang="0">
                <a:pos x="318" y="388"/>
              </a:cxn>
              <a:cxn ang="0">
                <a:pos x="288" y="342"/>
              </a:cxn>
              <a:cxn ang="0">
                <a:pos x="298" y="288"/>
              </a:cxn>
              <a:cxn ang="0">
                <a:pos x="358" y="256"/>
              </a:cxn>
            </a:cxnLst>
            <a:rect l="0" t="0" r="r" b="b"/>
            <a:pathLst>
              <a:path w="588" h="470">
                <a:moveTo>
                  <a:pt x="276" y="0"/>
                </a:moveTo>
                <a:lnTo>
                  <a:pt x="276" y="0"/>
                </a:lnTo>
                <a:lnTo>
                  <a:pt x="304" y="2"/>
                </a:lnTo>
                <a:lnTo>
                  <a:pt x="330" y="8"/>
                </a:lnTo>
                <a:lnTo>
                  <a:pt x="354" y="18"/>
                </a:lnTo>
                <a:lnTo>
                  <a:pt x="376" y="30"/>
                </a:lnTo>
                <a:lnTo>
                  <a:pt x="396" y="46"/>
                </a:lnTo>
                <a:lnTo>
                  <a:pt x="414" y="66"/>
                </a:lnTo>
                <a:lnTo>
                  <a:pt x="430" y="88"/>
                </a:lnTo>
                <a:lnTo>
                  <a:pt x="442" y="110"/>
                </a:lnTo>
                <a:lnTo>
                  <a:pt x="442" y="110"/>
                </a:lnTo>
                <a:lnTo>
                  <a:pt x="448" y="110"/>
                </a:lnTo>
                <a:lnTo>
                  <a:pt x="448" y="110"/>
                </a:lnTo>
                <a:lnTo>
                  <a:pt x="462" y="112"/>
                </a:lnTo>
                <a:lnTo>
                  <a:pt x="476" y="114"/>
                </a:lnTo>
                <a:lnTo>
                  <a:pt x="490" y="116"/>
                </a:lnTo>
                <a:lnTo>
                  <a:pt x="502" y="122"/>
                </a:lnTo>
                <a:lnTo>
                  <a:pt x="514" y="128"/>
                </a:lnTo>
                <a:lnTo>
                  <a:pt x="526" y="134"/>
                </a:lnTo>
                <a:lnTo>
                  <a:pt x="536" y="142"/>
                </a:lnTo>
                <a:lnTo>
                  <a:pt x="546" y="152"/>
                </a:lnTo>
                <a:lnTo>
                  <a:pt x="556" y="162"/>
                </a:lnTo>
                <a:lnTo>
                  <a:pt x="564" y="172"/>
                </a:lnTo>
                <a:lnTo>
                  <a:pt x="570" y="184"/>
                </a:lnTo>
                <a:lnTo>
                  <a:pt x="576" y="196"/>
                </a:lnTo>
                <a:lnTo>
                  <a:pt x="582" y="208"/>
                </a:lnTo>
                <a:lnTo>
                  <a:pt x="584" y="222"/>
                </a:lnTo>
                <a:lnTo>
                  <a:pt x="586" y="236"/>
                </a:lnTo>
                <a:lnTo>
                  <a:pt x="588" y="250"/>
                </a:lnTo>
                <a:lnTo>
                  <a:pt x="588" y="250"/>
                </a:lnTo>
                <a:lnTo>
                  <a:pt x="586" y="270"/>
                </a:lnTo>
                <a:lnTo>
                  <a:pt x="582" y="290"/>
                </a:lnTo>
                <a:lnTo>
                  <a:pt x="576" y="308"/>
                </a:lnTo>
                <a:lnTo>
                  <a:pt x="566" y="324"/>
                </a:lnTo>
                <a:lnTo>
                  <a:pt x="554" y="340"/>
                </a:lnTo>
                <a:lnTo>
                  <a:pt x="542" y="354"/>
                </a:lnTo>
                <a:lnTo>
                  <a:pt x="526" y="366"/>
                </a:lnTo>
                <a:lnTo>
                  <a:pt x="510" y="376"/>
                </a:lnTo>
                <a:lnTo>
                  <a:pt x="510" y="376"/>
                </a:lnTo>
                <a:lnTo>
                  <a:pt x="516" y="354"/>
                </a:lnTo>
                <a:lnTo>
                  <a:pt x="518" y="332"/>
                </a:lnTo>
                <a:lnTo>
                  <a:pt x="518" y="318"/>
                </a:lnTo>
                <a:lnTo>
                  <a:pt x="492" y="314"/>
                </a:lnTo>
                <a:lnTo>
                  <a:pt x="486" y="286"/>
                </a:lnTo>
                <a:lnTo>
                  <a:pt x="508" y="272"/>
                </a:lnTo>
                <a:lnTo>
                  <a:pt x="502" y="258"/>
                </a:lnTo>
                <a:lnTo>
                  <a:pt x="502" y="258"/>
                </a:lnTo>
                <a:lnTo>
                  <a:pt x="490" y="238"/>
                </a:lnTo>
                <a:lnTo>
                  <a:pt x="474" y="218"/>
                </a:lnTo>
                <a:lnTo>
                  <a:pt x="464" y="208"/>
                </a:lnTo>
                <a:lnTo>
                  <a:pt x="444" y="224"/>
                </a:lnTo>
                <a:lnTo>
                  <a:pt x="418" y="208"/>
                </a:lnTo>
                <a:lnTo>
                  <a:pt x="426" y="182"/>
                </a:lnTo>
                <a:lnTo>
                  <a:pt x="412" y="178"/>
                </a:lnTo>
                <a:lnTo>
                  <a:pt x="412" y="178"/>
                </a:lnTo>
                <a:lnTo>
                  <a:pt x="388" y="170"/>
                </a:lnTo>
                <a:lnTo>
                  <a:pt x="362" y="168"/>
                </a:lnTo>
                <a:lnTo>
                  <a:pt x="348" y="168"/>
                </a:lnTo>
                <a:lnTo>
                  <a:pt x="346" y="194"/>
                </a:lnTo>
                <a:lnTo>
                  <a:pt x="316" y="200"/>
                </a:lnTo>
                <a:lnTo>
                  <a:pt x="302" y="178"/>
                </a:lnTo>
                <a:lnTo>
                  <a:pt x="290" y="184"/>
                </a:lnTo>
                <a:lnTo>
                  <a:pt x="290" y="184"/>
                </a:lnTo>
                <a:lnTo>
                  <a:pt x="268" y="196"/>
                </a:lnTo>
                <a:lnTo>
                  <a:pt x="248" y="212"/>
                </a:lnTo>
                <a:lnTo>
                  <a:pt x="238" y="222"/>
                </a:lnTo>
                <a:lnTo>
                  <a:pt x="254" y="242"/>
                </a:lnTo>
                <a:lnTo>
                  <a:pt x="238" y="268"/>
                </a:lnTo>
                <a:lnTo>
                  <a:pt x="212" y="260"/>
                </a:lnTo>
                <a:lnTo>
                  <a:pt x="208" y="274"/>
                </a:lnTo>
                <a:lnTo>
                  <a:pt x="208" y="274"/>
                </a:lnTo>
                <a:lnTo>
                  <a:pt x="202" y="298"/>
                </a:lnTo>
                <a:lnTo>
                  <a:pt x="198" y="322"/>
                </a:lnTo>
                <a:lnTo>
                  <a:pt x="198" y="338"/>
                </a:lnTo>
                <a:lnTo>
                  <a:pt x="224" y="340"/>
                </a:lnTo>
                <a:lnTo>
                  <a:pt x="230" y="370"/>
                </a:lnTo>
                <a:lnTo>
                  <a:pt x="208" y="382"/>
                </a:lnTo>
                <a:lnTo>
                  <a:pt x="212" y="390"/>
                </a:lnTo>
                <a:lnTo>
                  <a:pt x="116" y="390"/>
                </a:lnTo>
                <a:lnTo>
                  <a:pt x="116" y="390"/>
                </a:lnTo>
                <a:lnTo>
                  <a:pt x="104" y="390"/>
                </a:lnTo>
                <a:lnTo>
                  <a:pt x="94" y="388"/>
                </a:lnTo>
                <a:lnTo>
                  <a:pt x="72" y="380"/>
                </a:lnTo>
                <a:lnTo>
                  <a:pt x="52" y="370"/>
                </a:lnTo>
                <a:lnTo>
                  <a:pt x="34" y="356"/>
                </a:lnTo>
                <a:lnTo>
                  <a:pt x="20" y="338"/>
                </a:lnTo>
                <a:lnTo>
                  <a:pt x="10" y="318"/>
                </a:lnTo>
                <a:lnTo>
                  <a:pt x="4" y="296"/>
                </a:lnTo>
                <a:lnTo>
                  <a:pt x="2" y="286"/>
                </a:lnTo>
                <a:lnTo>
                  <a:pt x="0" y="274"/>
                </a:lnTo>
                <a:lnTo>
                  <a:pt x="0" y="274"/>
                </a:lnTo>
                <a:lnTo>
                  <a:pt x="2" y="252"/>
                </a:lnTo>
                <a:lnTo>
                  <a:pt x="8" y="232"/>
                </a:lnTo>
                <a:lnTo>
                  <a:pt x="16" y="214"/>
                </a:lnTo>
                <a:lnTo>
                  <a:pt x="28" y="198"/>
                </a:lnTo>
                <a:lnTo>
                  <a:pt x="42" y="184"/>
                </a:lnTo>
                <a:lnTo>
                  <a:pt x="60" y="172"/>
                </a:lnTo>
                <a:lnTo>
                  <a:pt x="78" y="164"/>
                </a:lnTo>
                <a:lnTo>
                  <a:pt x="98" y="158"/>
                </a:lnTo>
                <a:lnTo>
                  <a:pt x="98" y="158"/>
                </a:lnTo>
                <a:lnTo>
                  <a:pt x="100" y="142"/>
                </a:lnTo>
                <a:lnTo>
                  <a:pt x="104" y="126"/>
                </a:lnTo>
                <a:lnTo>
                  <a:pt x="110" y="110"/>
                </a:lnTo>
                <a:lnTo>
                  <a:pt x="116" y="96"/>
                </a:lnTo>
                <a:lnTo>
                  <a:pt x="124" y="82"/>
                </a:lnTo>
                <a:lnTo>
                  <a:pt x="134" y="70"/>
                </a:lnTo>
                <a:lnTo>
                  <a:pt x="144" y="56"/>
                </a:lnTo>
                <a:lnTo>
                  <a:pt x="156" y="46"/>
                </a:lnTo>
                <a:lnTo>
                  <a:pt x="168" y="36"/>
                </a:lnTo>
                <a:lnTo>
                  <a:pt x="182" y="26"/>
                </a:lnTo>
                <a:lnTo>
                  <a:pt x="196" y="18"/>
                </a:lnTo>
                <a:lnTo>
                  <a:pt x="210" y="12"/>
                </a:lnTo>
                <a:lnTo>
                  <a:pt x="226" y="6"/>
                </a:lnTo>
                <a:lnTo>
                  <a:pt x="242" y="2"/>
                </a:lnTo>
                <a:lnTo>
                  <a:pt x="258" y="0"/>
                </a:lnTo>
                <a:lnTo>
                  <a:pt x="276" y="0"/>
                </a:lnTo>
                <a:lnTo>
                  <a:pt x="276" y="0"/>
                </a:lnTo>
                <a:close/>
                <a:moveTo>
                  <a:pt x="462" y="228"/>
                </a:moveTo>
                <a:lnTo>
                  <a:pt x="462" y="228"/>
                </a:lnTo>
                <a:lnTo>
                  <a:pt x="476" y="246"/>
                </a:lnTo>
                <a:lnTo>
                  <a:pt x="488" y="266"/>
                </a:lnTo>
                <a:lnTo>
                  <a:pt x="468" y="278"/>
                </a:lnTo>
                <a:lnTo>
                  <a:pt x="480" y="328"/>
                </a:lnTo>
                <a:lnTo>
                  <a:pt x="502" y="332"/>
                </a:lnTo>
                <a:lnTo>
                  <a:pt x="502" y="332"/>
                </a:lnTo>
                <a:lnTo>
                  <a:pt x="500" y="354"/>
                </a:lnTo>
                <a:lnTo>
                  <a:pt x="494" y="376"/>
                </a:lnTo>
                <a:lnTo>
                  <a:pt x="472" y="370"/>
                </a:lnTo>
                <a:lnTo>
                  <a:pt x="442" y="414"/>
                </a:lnTo>
                <a:lnTo>
                  <a:pt x="456" y="432"/>
                </a:lnTo>
                <a:lnTo>
                  <a:pt x="456" y="432"/>
                </a:lnTo>
                <a:lnTo>
                  <a:pt x="440" y="446"/>
                </a:lnTo>
                <a:lnTo>
                  <a:pt x="420" y="456"/>
                </a:lnTo>
                <a:lnTo>
                  <a:pt x="408" y="438"/>
                </a:lnTo>
                <a:lnTo>
                  <a:pt x="356" y="448"/>
                </a:lnTo>
                <a:lnTo>
                  <a:pt x="354" y="470"/>
                </a:lnTo>
                <a:lnTo>
                  <a:pt x="354" y="470"/>
                </a:lnTo>
                <a:lnTo>
                  <a:pt x="332" y="468"/>
                </a:lnTo>
                <a:lnTo>
                  <a:pt x="310" y="462"/>
                </a:lnTo>
                <a:lnTo>
                  <a:pt x="316" y="440"/>
                </a:lnTo>
                <a:lnTo>
                  <a:pt x="272" y="412"/>
                </a:lnTo>
                <a:lnTo>
                  <a:pt x="254" y="426"/>
                </a:lnTo>
                <a:lnTo>
                  <a:pt x="254" y="426"/>
                </a:lnTo>
                <a:lnTo>
                  <a:pt x="240" y="408"/>
                </a:lnTo>
                <a:lnTo>
                  <a:pt x="228" y="390"/>
                </a:lnTo>
                <a:lnTo>
                  <a:pt x="248" y="378"/>
                </a:lnTo>
                <a:lnTo>
                  <a:pt x="238" y="326"/>
                </a:lnTo>
                <a:lnTo>
                  <a:pt x="214" y="324"/>
                </a:lnTo>
                <a:lnTo>
                  <a:pt x="214" y="324"/>
                </a:lnTo>
                <a:lnTo>
                  <a:pt x="218" y="302"/>
                </a:lnTo>
                <a:lnTo>
                  <a:pt x="222" y="280"/>
                </a:lnTo>
                <a:lnTo>
                  <a:pt x="246" y="286"/>
                </a:lnTo>
                <a:lnTo>
                  <a:pt x="274" y="240"/>
                </a:lnTo>
                <a:lnTo>
                  <a:pt x="260" y="222"/>
                </a:lnTo>
                <a:lnTo>
                  <a:pt x="260" y="222"/>
                </a:lnTo>
                <a:lnTo>
                  <a:pt x="278" y="208"/>
                </a:lnTo>
                <a:lnTo>
                  <a:pt x="296" y="198"/>
                </a:lnTo>
                <a:lnTo>
                  <a:pt x="308" y="218"/>
                </a:lnTo>
                <a:lnTo>
                  <a:pt x="360" y="206"/>
                </a:lnTo>
                <a:lnTo>
                  <a:pt x="362" y="184"/>
                </a:lnTo>
                <a:lnTo>
                  <a:pt x="362" y="184"/>
                </a:lnTo>
                <a:lnTo>
                  <a:pt x="384" y="186"/>
                </a:lnTo>
                <a:lnTo>
                  <a:pt x="406" y="192"/>
                </a:lnTo>
                <a:lnTo>
                  <a:pt x="400" y="214"/>
                </a:lnTo>
                <a:lnTo>
                  <a:pt x="444" y="244"/>
                </a:lnTo>
                <a:lnTo>
                  <a:pt x="462" y="228"/>
                </a:lnTo>
                <a:lnTo>
                  <a:pt x="462" y="228"/>
                </a:lnTo>
                <a:close/>
                <a:moveTo>
                  <a:pt x="392" y="274"/>
                </a:moveTo>
                <a:lnTo>
                  <a:pt x="392" y="274"/>
                </a:lnTo>
                <a:lnTo>
                  <a:pt x="402" y="282"/>
                </a:lnTo>
                <a:lnTo>
                  <a:pt x="410" y="292"/>
                </a:lnTo>
                <a:lnTo>
                  <a:pt x="416" y="304"/>
                </a:lnTo>
                <a:lnTo>
                  <a:pt x="420" y="314"/>
                </a:lnTo>
                <a:lnTo>
                  <a:pt x="420" y="314"/>
                </a:lnTo>
                <a:lnTo>
                  <a:pt x="420" y="326"/>
                </a:lnTo>
                <a:lnTo>
                  <a:pt x="420" y="338"/>
                </a:lnTo>
                <a:lnTo>
                  <a:pt x="416" y="350"/>
                </a:lnTo>
                <a:lnTo>
                  <a:pt x="410" y="362"/>
                </a:lnTo>
                <a:lnTo>
                  <a:pt x="410" y="362"/>
                </a:lnTo>
                <a:lnTo>
                  <a:pt x="402" y="372"/>
                </a:lnTo>
                <a:lnTo>
                  <a:pt x="394" y="380"/>
                </a:lnTo>
                <a:lnTo>
                  <a:pt x="382" y="386"/>
                </a:lnTo>
                <a:lnTo>
                  <a:pt x="372" y="388"/>
                </a:lnTo>
                <a:lnTo>
                  <a:pt x="372" y="388"/>
                </a:lnTo>
                <a:lnTo>
                  <a:pt x="360" y="390"/>
                </a:lnTo>
                <a:lnTo>
                  <a:pt x="348" y="388"/>
                </a:lnTo>
                <a:lnTo>
                  <a:pt x="336" y="386"/>
                </a:lnTo>
                <a:lnTo>
                  <a:pt x="324" y="380"/>
                </a:lnTo>
                <a:lnTo>
                  <a:pt x="324" y="380"/>
                </a:lnTo>
                <a:lnTo>
                  <a:pt x="314" y="372"/>
                </a:lnTo>
                <a:lnTo>
                  <a:pt x="306" y="362"/>
                </a:lnTo>
                <a:lnTo>
                  <a:pt x="300" y="352"/>
                </a:lnTo>
                <a:lnTo>
                  <a:pt x="298" y="340"/>
                </a:lnTo>
                <a:lnTo>
                  <a:pt x="298" y="340"/>
                </a:lnTo>
                <a:lnTo>
                  <a:pt x="296" y="328"/>
                </a:lnTo>
                <a:lnTo>
                  <a:pt x="296" y="316"/>
                </a:lnTo>
                <a:lnTo>
                  <a:pt x="300" y="304"/>
                </a:lnTo>
                <a:lnTo>
                  <a:pt x="306" y="294"/>
                </a:lnTo>
                <a:lnTo>
                  <a:pt x="306" y="294"/>
                </a:lnTo>
                <a:lnTo>
                  <a:pt x="314" y="284"/>
                </a:lnTo>
                <a:lnTo>
                  <a:pt x="324" y="276"/>
                </a:lnTo>
                <a:lnTo>
                  <a:pt x="334" y="270"/>
                </a:lnTo>
                <a:lnTo>
                  <a:pt x="346" y="266"/>
                </a:lnTo>
                <a:lnTo>
                  <a:pt x="346" y="266"/>
                </a:lnTo>
                <a:lnTo>
                  <a:pt x="358" y="264"/>
                </a:lnTo>
                <a:lnTo>
                  <a:pt x="370" y="266"/>
                </a:lnTo>
                <a:lnTo>
                  <a:pt x="382" y="270"/>
                </a:lnTo>
                <a:lnTo>
                  <a:pt x="392" y="274"/>
                </a:lnTo>
                <a:lnTo>
                  <a:pt x="392" y="274"/>
                </a:lnTo>
                <a:close/>
                <a:moveTo>
                  <a:pt x="396" y="320"/>
                </a:moveTo>
                <a:lnTo>
                  <a:pt x="396" y="320"/>
                </a:lnTo>
                <a:lnTo>
                  <a:pt x="394" y="312"/>
                </a:lnTo>
                <a:lnTo>
                  <a:pt x="390" y="306"/>
                </a:lnTo>
                <a:lnTo>
                  <a:pt x="386" y="300"/>
                </a:lnTo>
                <a:lnTo>
                  <a:pt x="380" y="296"/>
                </a:lnTo>
                <a:lnTo>
                  <a:pt x="380" y="296"/>
                </a:lnTo>
                <a:lnTo>
                  <a:pt x="372" y="292"/>
                </a:lnTo>
                <a:lnTo>
                  <a:pt x="366" y="290"/>
                </a:lnTo>
                <a:lnTo>
                  <a:pt x="358" y="288"/>
                </a:lnTo>
                <a:lnTo>
                  <a:pt x="350" y="290"/>
                </a:lnTo>
                <a:lnTo>
                  <a:pt x="350" y="290"/>
                </a:lnTo>
                <a:lnTo>
                  <a:pt x="344" y="292"/>
                </a:lnTo>
                <a:lnTo>
                  <a:pt x="336" y="296"/>
                </a:lnTo>
                <a:lnTo>
                  <a:pt x="330" y="300"/>
                </a:lnTo>
                <a:lnTo>
                  <a:pt x="326" y="306"/>
                </a:lnTo>
                <a:lnTo>
                  <a:pt x="326" y="306"/>
                </a:lnTo>
                <a:lnTo>
                  <a:pt x="322" y="314"/>
                </a:lnTo>
                <a:lnTo>
                  <a:pt x="320" y="320"/>
                </a:lnTo>
                <a:lnTo>
                  <a:pt x="320" y="328"/>
                </a:lnTo>
                <a:lnTo>
                  <a:pt x="320" y="336"/>
                </a:lnTo>
                <a:lnTo>
                  <a:pt x="320" y="336"/>
                </a:lnTo>
                <a:lnTo>
                  <a:pt x="322" y="342"/>
                </a:lnTo>
                <a:lnTo>
                  <a:pt x="326" y="348"/>
                </a:lnTo>
                <a:lnTo>
                  <a:pt x="332" y="354"/>
                </a:lnTo>
                <a:lnTo>
                  <a:pt x="338" y="360"/>
                </a:lnTo>
                <a:lnTo>
                  <a:pt x="338" y="360"/>
                </a:lnTo>
                <a:lnTo>
                  <a:pt x="344" y="364"/>
                </a:lnTo>
                <a:lnTo>
                  <a:pt x="352" y="366"/>
                </a:lnTo>
                <a:lnTo>
                  <a:pt x="358" y="366"/>
                </a:lnTo>
                <a:lnTo>
                  <a:pt x="366" y="366"/>
                </a:lnTo>
                <a:lnTo>
                  <a:pt x="366" y="366"/>
                </a:lnTo>
                <a:lnTo>
                  <a:pt x="374" y="362"/>
                </a:lnTo>
                <a:lnTo>
                  <a:pt x="380" y="360"/>
                </a:lnTo>
                <a:lnTo>
                  <a:pt x="386" y="354"/>
                </a:lnTo>
                <a:lnTo>
                  <a:pt x="390" y="348"/>
                </a:lnTo>
                <a:lnTo>
                  <a:pt x="390" y="348"/>
                </a:lnTo>
                <a:lnTo>
                  <a:pt x="394" y="342"/>
                </a:lnTo>
                <a:lnTo>
                  <a:pt x="396" y="334"/>
                </a:lnTo>
                <a:lnTo>
                  <a:pt x="396" y="326"/>
                </a:lnTo>
                <a:lnTo>
                  <a:pt x="396" y="320"/>
                </a:lnTo>
                <a:lnTo>
                  <a:pt x="396" y="320"/>
                </a:lnTo>
                <a:close/>
                <a:moveTo>
                  <a:pt x="398" y="268"/>
                </a:moveTo>
                <a:lnTo>
                  <a:pt x="398" y="268"/>
                </a:lnTo>
                <a:lnTo>
                  <a:pt x="408" y="276"/>
                </a:lnTo>
                <a:lnTo>
                  <a:pt x="418" y="288"/>
                </a:lnTo>
                <a:lnTo>
                  <a:pt x="424" y="300"/>
                </a:lnTo>
                <a:lnTo>
                  <a:pt x="428" y="312"/>
                </a:lnTo>
                <a:lnTo>
                  <a:pt x="430" y="326"/>
                </a:lnTo>
                <a:lnTo>
                  <a:pt x="430" y="340"/>
                </a:lnTo>
                <a:lnTo>
                  <a:pt x="426" y="354"/>
                </a:lnTo>
                <a:lnTo>
                  <a:pt x="418" y="366"/>
                </a:lnTo>
                <a:lnTo>
                  <a:pt x="418" y="366"/>
                </a:lnTo>
                <a:lnTo>
                  <a:pt x="410" y="378"/>
                </a:lnTo>
                <a:lnTo>
                  <a:pt x="398" y="388"/>
                </a:lnTo>
                <a:lnTo>
                  <a:pt x="386" y="394"/>
                </a:lnTo>
                <a:lnTo>
                  <a:pt x="374" y="398"/>
                </a:lnTo>
                <a:lnTo>
                  <a:pt x="360" y="400"/>
                </a:lnTo>
                <a:lnTo>
                  <a:pt x="346" y="398"/>
                </a:lnTo>
                <a:lnTo>
                  <a:pt x="332" y="394"/>
                </a:lnTo>
                <a:lnTo>
                  <a:pt x="318" y="388"/>
                </a:lnTo>
                <a:lnTo>
                  <a:pt x="318" y="388"/>
                </a:lnTo>
                <a:lnTo>
                  <a:pt x="308" y="378"/>
                </a:lnTo>
                <a:lnTo>
                  <a:pt x="298" y="368"/>
                </a:lnTo>
                <a:lnTo>
                  <a:pt x="292" y="356"/>
                </a:lnTo>
                <a:lnTo>
                  <a:pt x="288" y="342"/>
                </a:lnTo>
                <a:lnTo>
                  <a:pt x="286" y="328"/>
                </a:lnTo>
                <a:lnTo>
                  <a:pt x="288" y="314"/>
                </a:lnTo>
                <a:lnTo>
                  <a:pt x="292" y="302"/>
                </a:lnTo>
                <a:lnTo>
                  <a:pt x="298" y="288"/>
                </a:lnTo>
                <a:lnTo>
                  <a:pt x="298" y="288"/>
                </a:lnTo>
                <a:lnTo>
                  <a:pt x="308" y="276"/>
                </a:lnTo>
                <a:lnTo>
                  <a:pt x="318" y="268"/>
                </a:lnTo>
                <a:lnTo>
                  <a:pt x="330" y="262"/>
                </a:lnTo>
                <a:lnTo>
                  <a:pt x="344" y="256"/>
                </a:lnTo>
                <a:lnTo>
                  <a:pt x="358" y="256"/>
                </a:lnTo>
                <a:lnTo>
                  <a:pt x="370" y="256"/>
                </a:lnTo>
                <a:lnTo>
                  <a:pt x="384" y="260"/>
                </a:lnTo>
                <a:lnTo>
                  <a:pt x="398" y="268"/>
                </a:lnTo>
                <a:lnTo>
                  <a:pt x="398" y="268"/>
                </a:lnTo>
                <a:close/>
              </a:path>
            </a:pathLst>
          </a:custGeom>
          <a:solidFill>
            <a:srgbClr val="0070C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9" name="组合 118"/>
          <p:cNvGrpSpPr/>
          <p:nvPr/>
        </p:nvGrpSpPr>
        <p:grpSpPr bwMode="gray">
          <a:xfrm>
            <a:off x="3529541" y="1239517"/>
            <a:ext cx="383245" cy="341133"/>
            <a:chOff x="3626110" y="1051460"/>
            <a:chExt cx="614793" cy="494442"/>
          </a:xfrm>
        </p:grpSpPr>
        <p:sp>
          <p:nvSpPr>
            <p:cNvPr id="120" name="Freeform 77"/>
            <p:cNvSpPr>
              <a:spLocks noEditPoints="1"/>
            </p:cNvSpPr>
            <p:nvPr/>
          </p:nvSpPr>
          <p:spPr bwMode="gray">
            <a:xfrm>
              <a:off x="3626110" y="1051460"/>
              <a:ext cx="614793" cy="494442"/>
            </a:xfrm>
            <a:custGeom>
              <a:avLst/>
              <a:gdLst/>
              <a:ahLst/>
              <a:cxnLst>
                <a:cxn ang="0">
                  <a:pos x="360" y="13"/>
                </a:cxn>
                <a:cxn ang="0">
                  <a:pos x="329" y="0"/>
                </a:cxn>
                <a:cxn ang="0">
                  <a:pos x="44" y="0"/>
                </a:cxn>
                <a:cxn ang="0">
                  <a:pos x="13" y="13"/>
                </a:cxn>
                <a:cxn ang="0">
                  <a:pos x="5" y="26"/>
                </a:cxn>
                <a:cxn ang="0">
                  <a:pos x="0" y="264"/>
                </a:cxn>
                <a:cxn ang="0">
                  <a:pos x="5" y="282"/>
                </a:cxn>
                <a:cxn ang="0">
                  <a:pos x="13" y="295"/>
                </a:cxn>
                <a:cxn ang="0">
                  <a:pos x="44" y="308"/>
                </a:cxn>
                <a:cxn ang="0">
                  <a:pos x="329" y="308"/>
                </a:cxn>
                <a:cxn ang="0">
                  <a:pos x="360" y="295"/>
                </a:cxn>
                <a:cxn ang="0">
                  <a:pos x="368" y="282"/>
                </a:cxn>
                <a:cxn ang="0">
                  <a:pos x="373" y="39"/>
                </a:cxn>
                <a:cxn ang="0">
                  <a:pos x="368" y="26"/>
                </a:cxn>
                <a:cxn ang="0">
                  <a:pos x="360" y="13"/>
                </a:cxn>
                <a:cxn ang="0">
                  <a:pos x="351" y="264"/>
                </a:cxn>
                <a:cxn ang="0">
                  <a:pos x="347" y="282"/>
                </a:cxn>
                <a:cxn ang="0">
                  <a:pos x="338" y="286"/>
                </a:cxn>
                <a:cxn ang="0">
                  <a:pos x="44" y="286"/>
                </a:cxn>
                <a:cxn ang="0">
                  <a:pos x="35" y="286"/>
                </a:cxn>
                <a:cxn ang="0">
                  <a:pos x="26" y="282"/>
                </a:cxn>
                <a:cxn ang="0">
                  <a:pos x="22" y="264"/>
                </a:cxn>
                <a:cxn ang="0">
                  <a:pos x="22" y="39"/>
                </a:cxn>
                <a:cxn ang="0">
                  <a:pos x="26" y="26"/>
                </a:cxn>
                <a:cxn ang="0">
                  <a:pos x="35" y="22"/>
                </a:cxn>
                <a:cxn ang="0">
                  <a:pos x="329" y="22"/>
                </a:cxn>
                <a:cxn ang="0">
                  <a:pos x="338" y="22"/>
                </a:cxn>
                <a:cxn ang="0">
                  <a:pos x="347" y="26"/>
                </a:cxn>
                <a:cxn ang="0">
                  <a:pos x="351" y="39"/>
                </a:cxn>
                <a:cxn ang="0">
                  <a:pos x="360" y="312"/>
                </a:cxn>
                <a:cxn ang="0">
                  <a:pos x="18" y="312"/>
                </a:cxn>
                <a:cxn ang="0">
                  <a:pos x="9" y="316"/>
                </a:cxn>
                <a:cxn ang="0">
                  <a:pos x="5" y="394"/>
                </a:cxn>
                <a:cxn ang="0">
                  <a:pos x="9" y="403"/>
                </a:cxn>
                <a:cxn ang="0">
                  <a:pos x="18" y="407"/>
                </a:cxn>
                <a:cxn ang="0">
                  <a:pos x="360" y="407"/>
                </a:cxn>
                <a:cxn ang="0">
                  <a:pos x="368" y="403"/>
                </a:cxn>
                <a:cxn ang="0">
                  <a:pos x="368" y="325"/>
                </a:cxn>
                <a:cxn ang="0">
                  <a:pos x="368" y="316"/>
                </a:cxn>
                <a:cxn ang="0">
                  <a:pos x="360" y="312"/>
                </a:cxn>
                <a:cxn ang="0">
                  <a:pos x="347" y="385"/>
                </a:cxn>
                <a:cxn ang="0">
                  <a:pos x="26" y="333"/>
                </a:cxn>
                <a:cxn ang="0">
                  <a:pos x="347" y="385"/>
                </a:cxn>
                <a:cxn ang="0">
                  <a:pos x="204" y="377"/>
                </a:cxn>
                <a:cxn ang="0">
                  <a:pos x="213" y="372"/>
                </a:cxn>
                <a:cxn ang="0">
                  <a:pos x="217" y="368"/>
                </a:cxn>
                <a:cxn ang="0">
                  <a:pos x="217" y="355"/>
                </a:cxn>
                <a:cxn ang="0">
                  <a:pos x="213" y="346"/>
                </a:cxn>
                <a:cxn ang="0">
                  <a:pos x="44" y="346"/>
                </a:cxn>
                <a:cxn ang="0">
                  <a:pos x="39" y="346"/>
                </a:cxn>
                <a:cxn ang="0">
                  <a:pos x="35" y="355"/>
                </a:cxn>
                <a:cxn ang="0">
                  <a:pos x="35" y="368"/>
                </a:cxn>
                <a:cxn ang="0">
                  <a:pos x="39" y="372"/>
                </a:cxn>
                <a:cxn ang="0">
                  <a:pos x="44" y="377"/>
                </a:cxn>
              </a:cxnLst>
              <a:rect l="0" t="0" r="r" b="b"/>
              <a:pathLst>
                <a:path w="373" h="407">
                  <a:moveTo>
                    <a:pt x="360" y="13"/>
                  </a:moveTo>
                  <a:lnTo>
                    <a:pt x="360" y="13"/>
                  </a:lnTo>
                  <a:lnTo>
                    <a:pt x="347" y="5"/>
                  </a:lnTo>
                  <a:lnTo>
                    <a:pt x="329" y="0"/>
                  </a:lnTo>
                  <a:lnTo>
                    <a:pt x="44" y="0"/>
                  </a:lnTo>
                  <a:lnTo>
                    <a:pt x="44" y="0"/>
                  </a:lnTo>
                  <a:lnTo>
                    <a:pt x="26" y="5"/>
                  </a:lnTo>
                  <a:lnTo>
                    <a:pt x="13" y="13"/>
                  </a:lnTo>
                  <a:lnTo>
                    <a:pt x="13" y="13"/>
                  </a:lnTo>
                  <a:lnTo>
                    <a:pt x="5" y="26"/>
                  </a:lnTo>
                  <a:lnTo>
                    <a:pt x="0" y="39"/>
                  </a:lnTo>
                  <a:lnTo>
                    <a:pt x="0" y="264"/>
                  </a:lnTo>
                  <a:lnTo>
                    <a:pt x="0" y="264"/>
                  </a:lnTo>
                  <a:lnTo>
                    <a:pt x="5" y="282"/>
                  </a:lnTo>
                  <a:lnTo>
                    <a:pt x="13" y="295"/>
                  </a:lnTo>
                  <a:lnTo>
                    <a:pt x="13" y="295"/>
                  </a:lnTo>
                  <a:lnTo>
                    <a:pt x="26" y="303"/>
                  </a:lnTo>
                  <a:lnTo>
                    <a:pt x="44" y="308"/>
                  </a:lnTo>
                  <a:lnTo>
                    <a:pt x="329" y="308"/>
                  </a:lnTo>
                  <a:lnTo>
                    <a:pt x="329" y="308"/>
                  </a:lnTo>
                  <a:lnTo>
                    <a:pt x="347" y="303"/>
                  </a:lnTo>
                  <a:lnTo>
                    <a:pt x="360" y="295"/>
                  </a:lnTo>
                  <a:lnTo>
                    <a:pt x="360" y="295"/>
                  </a:lnTo>
                  <a:lnTo>
                    <a:pt x="368" y="282"/>
                  </a:lnTo>
                  <a:lnTo>
                    <a:pt x="373" y="264"/>
                  </a:lnTo>
                  <a:lnTo>
                    <a:pt x="373" y="39"/>
                  </a:lnTo>
                  <a:lnTo>
                    <a:pt x="373" y="39"/>
                  </a:lnTo>
                  <a:lnTo>
                    <a:pt x="368" y="26"/>
                  </a:lnTo>
                  <a:lnTo>
                    <a:pt x="360" y="13"/>
                  </a:lnTo>
                  <a:lnTo>
                    <a:pt x="360" y="13"/>
                  </a:lnTo>
                  <a:close/>
                  <a:moveTo>
                    <a:pt x="351" y="264"/>
                  </a:moveTo>
                  <a:lnTo>
                    <a:pt x="351" y="264"/>
                  </a:lnTo>
                  <a:lnTo>
                    <a:pt x="351" y="273"/>
                  </a:lnTo>
                  <a:lnTo>
                    <a:pt x="347" y="282"/>
                  </a:lnTo>
                  <a:lnTo>
                    <a:pt x="347" y="282"/>
                  </a:lnTo>
                  <a:lnTo>
                    <a:pt x="338" y="286"/>
                  </a:lnTo>
                  <a:lnTo>
                    <a:pt x="329" y="286"/>
                  </a:lnTo>
                  <a:lnTo>
                    <a:pt x="44" y="286"/>
                  </a:lnTo>
                  <a:lnTo>
                    <a:pt x="44" y="286"/>
                  </a:lnTo>
                  <a:lnTo>
                    <a:pt x="35" y="286"/>
                  </a:lnTo>
                  <a:lnTo>
                    <a:pt x="26" y="282"/>
                  </a:lnTo>
                  <a:lnTo>
                    <a:pt x="26" y="282"/>
                  </a:lnTo>
                  <a:lnTo>
                    <a:pt x="22" y="273"/>
                  </a:lnTo>
                  <a:lnTo>
                    <a:pt x="22" y="264"/>
                  </a:lnTo>
                  <a:lnTo>
                    <a:pt x="22" y="39"/>
                  </a:lnTo>
                  <a:lnTo>
                    <a:pt x="22" y="39"/>
                  </a:lnTo>
                  <a:lnTo>
                    <a:pt x="22" y="35"/>
                  </a:lnTo>
                  <a:lnTo>
                    <a:pt x="26" y="26"/>
                  </a:lnTo>
                  <a:lnTo>
                    <a:pt x="26" y="26"/>
                  </a:lnTo>
                  <a:lnTo>
                    <a:pt x="35" y="22"/>
                  </a:lnTo>
                  <a:lnTo>
                    <a:pt x="44" y="22"/>
                  </a:lnTo>
                  <a:lnTo>
                    <a:pt x="329" y="22"/>
                  </a:lnTo>
                  <a:lnTo>
                    <a:pt x="329" y="22"/>
                  </a:lnTo>
                  <a:lnTo>
                    <a:pt x="338" y="22"/>
                  </a:lnTo>
                  <a:lnTo>
                    <a:pt x="347" y="26"/>
                  </a:lnTo>
                  <a:lnTo>
                    <a:pt x="347" y="26"/>
                  </a:lnTo>
                  <a:lnTo>
                    <a:pt x="351" y="35"/>
                  </a:lnTo>
                  <a:lnTo>
                    <a:pt x="351" y="39"/>
                  </a:lnTo>
                  <a:lnTo>
                    <a:pt x="351" y="264"/>
                  </a:lnTo>
                  <a:close/>
                  <a:moveTo>
                    <a:pt x="360" y="312"/>
                  </a:moveTo>
                  <a:lnTo>
                    <a:pt x="18" y="312"/>
                  </a:lnTo>
                  <a:lnTo>
                    <a:pt x="18" y="312"/>
                  </a:lnTo>
                  <a:lnTo>
                    <a:pt x="9" y="316"/>
                  </a:lnTo>
                  <a:lnTo>
                    <a:pt x="9" y="316"/>
                  </a:lnTo>
                  <a:lnTo>
                    <a:pt x="5" y="325"/>
                  </a:lnTo>
                  <a:lnTo>
                    <a:pt x="5" y="394"/>
                  </a:lnTo>
                  <a:lnTo>
                    <a:pt x="5" y="394"/>
                  </a:lnTo>
                  <a:lnTo>
                    <a:pt x="9" y="403"/>
                  </a:lnTo>
                  <a:lnTo>
                    <a:pt x="9" y="403"/>
                  </a:lnTo>
                  <a:lnTo>
                    <a:pt x="18" y="407"/>
                  </a:lnTo>
                  <a:lnTo>
                    <a:pt x="360" y="407"/>
                  </a:lnTo>
                  <a:lnTo>
                    <a:pt x="360" y="407"/>
                  </a:lnTo>
                  <a:lnTo>
                    <a:pt x="368" y="403"/>
                  </a:lnTo>
                  <a:lnTo>
                    <a:pt x="368" y="403"/>
                  </a:lnTo>
                  <a:lnTo>
                    <a:pt x="368" y="394"/>
                  </a:lnTo>
                  <a:lnTo>
                    <a:pt x="368" y="325"/>
                  </a:lnTo>
                  <a:lnTo>
                    <a:pt x="368" y="325"/>
                  </a:lnTo>
                  <a:lnTo>
                    <a:pt x="368" y="316"/>
                  </a:lnTo>
                  <a:lnTo>
                    <a:pt x="368" y="316"/>
                  </a:lnTo>
                  <a:lnTo>
                    <a:pt x="360" y="312"/>
                  </a:lnTo>
                  <a:lnTo>
                    <a:pt x="360" y="312"/>
                  </a:lnTo>
                  <a:close/>
                  <a:moveTo>
                    <a:pt x="347" y="385"/>
                  </a:moveTo>
                  <a:lnTo>
                    <a:pt x="26" y="385"/>
                  </a:lnTo>
                  <a:lnTo>
                    <a:pt x="26" y="333"/>
                  </a:lnTo>
                  <a:lnTo>
                    <a:pt x="347" y="333"/>
                  </a:lnTo>
                  <a:lnTo>
                    <a:pt x="347" y="385"/>
                  </a:lnTo>
                  <a:close/>
                  <a:moveTo>
                    <a:pt x="44" y="377"/>
                  </a:moveTo>
                  <a:lnTo>
                    <a:pt x="204" y="377"/>
                  </a:lnTo>
                  <a:lnTo>
                    <a:pt x="204" y="377"/>
                  </a:lnTo>
                  <a:lnTo>
                    <a:pt x="213" y="372"/>
                  </a:lnTo>
                  <a:lnTo>
                    <a:pt x="213" y="372"/>
                  </a:lnTo>
                  <a:lnTo>
                    <a:pt x="217" y="368"/>
                  </a:lnTo>
                  <a:lnTo>
                    <a:pt x="217" y="355"/>
                  </a:lnTo>
                  <a:lnTo>
                    <a:pt x="217" y="355"/>
                  </a:lnTo>
                  <a:lnTo>
                    <a:pt x="213" y="346"/>
                  </a:lnTo>
                  <a:lnTo>
                    <a:pt x="213" y="346"/>
                  </a:lnTo>
                  <a:lnTo>
                    <a:pt x="204" y="346"/>
                  </a:lnTo>
                  <a:lnTo>
                    <a:pt x="44" y="346"/>
                  </a:lnTo>
                  <a:lnTo>
                    <a:pt x="44" y="346"/>
                  </a:lnTo>
                  <a:lnTo>
                    <a:pt x="39" y="346"/>
                  </a:lnTo>
                  <a:lnTo>
                    <a:pt x="39" y="346"/>
                  </a:lnTo>
                  <a:lnTo>
                    <a:pt x="35" y="355"/>
                  </a:lnTo>
                  <a:lnTo>
                    <a:pt x="35" y="368"/>
                  </a:lnTo>
                  <a:lnTo>
                    <a:pt x="35" y="368"/>
                  </a:lnTo>
                  <a:lnTo>
                    <a:pt x="39" y="372"/>
                  </a:lnTo>
                  <a:lnTo>
                    <a:pt x="39" y="372"/>
                  </a:lnTo>
                  <a:lnTo>
                    <a:pt x="44" y="377"/>
                  </a:lnTo>
                  <a:lnTo>
                    <a:pt x="44" y="377"/>
                  </a:lnTo>
                  <a:close/>
                </a:path>
              </a:pathLst>
            </a:custGeom>
            <a:solidFill>
              <a:srgbClr val="0070C0"/>
            </a:solidFill>
            <a:ln w="9525">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Freeform 78"/>
            <p:cNvSpPr>
              <a:spLocks noEditPoints="1"/>
            </p:cNvSpPr>
            <p:nvPr/>
          </p:nvSpPr>
          <p:spPr bwMode="gray">
            <a:xfrm>
              <a:off x="3741487" y="1098839"/>
              <a:ext cx="384039" cy="279414"/>
            </a:xfrm>
            <a:custGeom>
              <a:avLst/>
              <a:gdLst/>
              <a:ahLst/>
              <a:cxnLst>
                <a:cxn ang="0">
                  <a:pos x="95" y="0"/>
                </a:cxn>
                <a:cxn ang="0">
                  <a:pos x="34" y="35"/>
                </a:cxn>
                <a:cxn ang="0">
                  <a:pos x="4" y="91"/>
                </a:cxn>
                <a:cxn ang="0">
                  <a:pos x="4" y="139"/>
                </a:cxn>
                <a:cxn ang="0">
                  <a:pos x="34" y="199"/>
                </a:cxn>
                <a:cxn ang="0">
                  <a:pos x="95" y="230"/>
                </a:cxn>
                <a:cxn ang="0">
                  <a:pos x="138" y="230"/>
                </a:cxn>
                <a:cxn ang="0">
                  <a:pos x="199" y="199"/>
                </a:cxn>
                <a:cxn ang="0">
                  <a:pos x="229" y="139"/>
                </a:cxn>
                <a:cxn ang="0">
                  <a:pos x="229" y="91"/>
                </a:cxn>
                <a:cxn ang="0">
                  <a:pos x="199" y="35"/>
                </a:cxn>
                <a:cxn ang="0">
                  <a:pos x="138" y="0"/>
                </a:cxn>
                <a:cxn ang="0">
                  <a:pos x="95" y="221"/>
                </a:cxn>
                <a:cxn ang="0">
                  <a:pos x="73" y="178"/>
                </a:cxn>
                <a:cxn ang="0">
                  <a:pos x="112" y="221"/>
                </a:cxn>
                <a:cxn ang="0">
                  <a:pos x="8" y="121"/>
                </a:cxn>
                <a:cxn ang="0">
                  <a:pos x="56" y="143"/>
                </a:cxn>
                <a:cxn ang="0">
                  <a:pos x="21" y="169"/>
                </a:cxn>
                <a:cxn ang="0">
                  <a:pos x="8" y="121"/>
                </a:cxn>
                <a:cxn ang="0">
                  <a:pos x="121" y="9"/>
                </a:cxn>
                <a:cxn ang="0">
                  <a:pos x="147" y="30"/>
                </a:cxn>
                <a:cxn ang="0">
                  <a:pos x="160" y="65"/>
                </a:cxn>
                <a:cxn ang="0">
                  <a:pos x="169" y="113"/>
                </a:cxn>
                <a:cxn ang="0">
                  <a:pos x="160" y="65"/>
                </a:cxn>
                <a:cxn ang="0">
                  <a:pos x="73" y="56"/>
                </a:cxn>
                <a:cxn ang="0">
                  <a:pos x="95" y="9"/>
                </a:cxn>
                <a:cxn ang="0">
                  <a:pos x="112" y="65"/>
                </a:cxn>
                <a:cxn ang="0">
                  <a:pos x="60" y="113"/>
                </a:cxn>
                <a:cxn ang="0">
                  <a:pos x="112" y="65"/>
                </a:cxn>
                <a:cxn ang="0">
                  <a:pos x="8" y="113"/>
                </a:cxn>
                <a:cxn ang="0">
                  <a:pos x="60" y="65"/>
                </a:cxn>
                <a:cxn ang="0">
                  <a:pos x="56" y="113"/>
                </a:cxn>
                <a:cxn ang="0">
                  <a:pos x="112" y="121"/>
                </a:cxn>
                <a:cxn ang="0">
                  <a:pos x="69" y="169"/>
                </a:cxn>
                <a:cxn ang="0">
                  <a:pos x="60" y="121"/>
                </a:cxn>
                <a:cxn ang="0">
                  <a:pos x="160" y="178"/>
                </a:cxn>
                <a:cxn ang="0">
                  <a:pos x="134" y="221"/>
                </a:cxn>
                <a:cxn ang="0">
                  <a:pos x="121" y="169"/>
                </a:cxn>
                <a:cxn ang="0">
                  <a:pos x="169" y="121"/>
                </a:cxn>
                <a:cxn ang="0">
                  <a:pos x="121" y="169"/>
                </a:cxn>
                <a:cxn ang="0">
                  <a:pos x="225" y="121"/>
                </a:cxn>
                <a:cxn ang="0">
                  <a:pos x="212" y="169"/>
                </a:cxn>
                <a:cxn ang="0">
                  <a:pos x="177" y="143"/>
                </a:cxn>
                <a:cxn ang="0">
                  <a:pos x="177" y="113"/>
                </a:cxn>
                <a:cxn ang="0">
                  <a:pos x="169" y="65"/>
                </a:cxn>
                <a:cxn ang="0">
                  <a:pos x="220" y="87"/>
                </a:cxn>
                <a:cxn ang="0">
                  <a:pos x="207" y="56"/>
                </a:cxn>
                <a:cxn ang="0">
                  <a:pos x="160" y="30"/>
                </a:cxn>
                <a:cxn ang="0">
                  <a:pos x="173" y="22"/>
                </a:cxn>
                <a:cxn ang="0">
                  <a:pos x="207" y="56"/>
                </a:cxn>
                <a:cxn ang="0">
                  <a:pos x="43" y="39"/>
                </a:cxn>
                <a:cxn ang="0">
                  <a:pos x="86" y="13"/>
                </a:cxn>
                <a:cxn ang="0">
                  <a:pos x="30" y="56"/>
                </a:cxn>
                <a:cxn ang="0">
                  <a:pos x="43" y="39"/>
                </a:cxn>
                <a:cxn ang="0">
                  <a:pos x="65" y="178"/>
                </a:cxn>
                <a:cxn ang="0">
                  <a:pos x="86" y="217"/>
                </a:cxn>
                <a:cxn ang="0">
                  <a:pos x="43" y="191"/>
                </a:cxn>
                <a:cxn ang="0">
                  <a:pos x="194" y="191"/>
                </a:cxn>
                <a:cxn ang="0">
                  <a:pos x="147" y="221"/>
                </a:cxn>
                <a:cxn ang="0">
                  <a:pos x="169" y="178"/>
                </a:cxn>
                <a:cxn ang="0">
                  <a:pos x="194" y="191"/>
                </a:cxn>
              </a:cxnLst>
              <a:rect l="0" t="0" r="r" b="b"/>
              <a:pathLst>
                <a:path w="233" h="230">
                  <a:moveTo>
                    <a:pt x="117" y="0"/>
                  </a:moveTo>
                  <a:lnTo>
                    <a:pt x="117" y="0"/>
                  </a:lnTo>
                  <a:lnTo>
                    <a:pt x="95" y="0"/>
                  </a:lnTo>
                  <a:lnTo>
                    <a:pt x="73" y="9"/>
                  </a:lnTo>
                  <a:lnTo>
                    <a:pt x="52" y="22"/>
                  </a:lnTo>
                  <a:lnTo>
                    <a:pt x="34" y="35"/>
                  </a:lnTo>
                  <a:lnTo>
                    <a:pt x="21" y="52"/>
                  </a:lnTo>
                  <a:lnTo>
                    <a:pt x="8" y="69"/>
                  </a:lnTo>
                  <a:lnTo>
                    <a:pt x="4" y="91"/>
                  </a:lnTo>
                  <a:lnTo>
                    <a:pt x="0" y="117"/>
                  </a:lnTo>
                  <a:lnTo>
                    <a:pt x="0" y="117"/>
                  </a:lnTo>
                  <a:lnTo>
                    <a:pt x="4" y="139"/>
                  </a:lnTo>
                  <a:lnTo>
                    <a:pt x="8" y="160"/>
                  </a:lnTo>
                  <a:lnTo>
                    <a:pt x="21" y="182"/>
                  </a:lnTo>
                  <a:lnTo>
                    <a:pt x="34" y="199"/>
                  </a:lnTo>
                  <a:lnTo>
                    <a:pt x="52" y="212"/>
                  </a:lnTo>
                  <a:lnTo>
                    <a:pt x="73" y="221"/>
                  </a:lnTo>
                  <a:lnTo>
                    <a:pt x="95" y="230"/>
                  </a:lnTo>
                  <a:lnTo>
                    <a:pt x="117" y="230"/>
                  </a:lnTo>
                  <a:lnTo>
                    <a:pt x="117" y="230"/>
                  </a:lnTo>
                  <a:lnTo>
                    <a:pt x="138" y="230"/>
                  </a:lnTo>
                  <a:lnTo>
                    <a:pt x="160" y="221"/>
                  </a:lnTo>
                  <a:lnTo>
                    <a:pt x="182" y="212"/>
                  </a:lnTo>
                  <a:lnTo>
                    <a:pt x="199" y="199"/>
                  </a:lnTo>
                  <a:lnTo>
                    <a:pt x="212" y="182"/>
                  </a:lnTo>
                  <a:lnTo>
                    <a:pt x="225" y="160"/>
                  </a:lnTo>
                  <a:lnTo>
                    <a:pt x="229" y="139"/>
                  </a:lnTo>
                  <a:lnTo>
                    <a:pt x="233" y="117"/>
                  </a:lnTo>
                  <a:lnTo>
                    <a:pt x="233" y="117"/>
                  </a:lnTo>
                  <a:lnTo>
                    <a:pt x="229" y="91"/>
                  </a:lnTo>
                  <a:lnTo>
                    <a:pt x="225" y="69"/>
                  </a:lnTo>
                  <a:lnTo>
                    <a:pt x="212" y="52"/>
                  </a:lnTo>
                  <a:lnTo>
                    <a:pt x="199" y="35"/>
                  </a:lnTo>
                  <a:lnTo>
                    <a:pt x="182" y="22"/>
                  </a:lnTo>
                  <a:lnTo>
                    <a:pt x="160" y="9"/>
                  </a:lnTo>
                  <a:lnTo>
                    <a:pt x="138" y="0"/>
                  </a:lnTo>
                  <a:lnTo>
                    <a:pt x="117" y="0"/>
                  </a:lnTo>
                  <a:lnTo>
                    <a:pt x="117" y="0"/>
                  </a:lnTo>
                  <a:close/>
                  <a:moveTo>
                    <a:pt x="95" y="221"/>
                  </a:moveTo>
                  <a:lnTo>
                    <a:pt x="95" y="221"/>
                  </a:lnTo>
                  <a:lnTo>
                    <a:pt x="82" y="199"/>
                  </a:lnTo>
                  <a:lnTo>
                    <a:pt x="73" y="178"/>
                  </a:lnTo>
                  <a:lnTo>
                    <a:pt x="112" y="178"/>
                  </a:lnTo>
                  <a:lnTo>
                    <a:pt x="112" y="221"/>
                  </a:lnTo>
                  <a:lnTo>
                    <a:pt x="112" y="221"/>
                  </a:lnTo>
                  <a:lnTo>
                    <a:pt x="95" y="221"/>
                  </a:lnTo>
                  <a:lnTo>
                    <a:pt x="95" y="221"/>
                  </a:lnTo>
                  <a:close/>
                  <a:moveTo>
                    <a:pt x="8" y="121"/>
                  </a:moveTo>
                  <a:lnTo>
                    <a:pt x="56" y="121"/>
                  </a:lnTo>
                  <a:lnTo>
                    <a:pt x="56" y="121"/>
                  </a:lnTo>
                  <a:lnTo>
                    <a:pt x="56" y="143"/>
                  </a:lnTo>
                  <a:lnTo>
                    <a:pt x="60" y="169"/>
                  </a:lnTo>
                  <a:lnTo>
                    <a:pt x="21" y="169"/>
                  </a:lnTo>
                  <a:lnTo>
                    <a:pt x="21" y="169"/>
                  </a:lnTo>
                  <a:lnTo>
                    <a:pt x="13" y="143"/>
                  </a:lnTo>
                  <a:lnTo>
                    <a:pt x="8" y="121"/>
                  </a:lnTo>
                  <a:lnTo>
                    <a:pt x="8" y="121"/>
                  </a:lnTo>
                  <a:close/>
                  <a:moveTo>
                    <a:pt x="121" y="56"/>
                  </a:moveTo>
                  <a:lnTo>
                    <a:pt x="121" y="9"/>
                  </a:lnTo>
                  <a:lnTo>
                    <a:pt x="121" y="9"/>
                  </a:lnTo>
                  <a:lnTo>
                    <a:pt x="134" y="9"/>
                  </a:lnTo>
                  <a:lnTo>
                    <a:pt x="134" y="9"/>
                  </a:lnTo>
                  <a:lnTo>
                    <a:pt x="147" y="30"/>
                  </a:lnTo>
                  <a:lnTo>
                    <a:pt x="160" y="56"/>
                  </a:lnTo>
                  <a:lnTo>
                    <a:pt x="121" y="56"/>
                  </a:lnTo>
                  <a:close/>
                  <a:moveTo>
                    <a:pt x="160" y="65"/>
                  </a:moveTo>
                  <a:lnTo>
                    <a:pt x="160" y="65"/>
                  </a:lnTo>
                  <a:lnTo>
                    <a:pt x="169" y="87"/>
                  </a:lnTo>
                  <a:lnTo>
                    <a:pt x="169" y="113"/>
                  </a:lnTo>
                  <a:lnTo>
                    <a:pt x="121" y="113"/>
                  </a:lnTo>
                  <a:lnTo>
                    <a:pt x="121" y="65"/>
                  </a:lnTo>
                  <a:lnTo>
                    <a:pt x="160" y="65"/>
                  </a:lnTo>
                  <a:close/>
                  <a:moveTo>
                    <a:pt x="112" y="56"/>
                  </a:moveTo>
                  <a:lnTo>
                    <a:pt x="73" y="56"/>
                  </a:lnTo>
                  <a:lnTo>
                    <a:pt x="73" y="56"/>
                  </a:lnTo>
                  <a:lnTo>
                    <a:pt x="82" y="30"/>
                  </a:lnTo>
                  <a:lnTo>
                    <a:pt x="95" y="9"/>
                  </a:lnTo>
                  <a:lnTo>
                    <a:pt x="95" y="9"/>
                  </a:lnTo>
                  <a:lnTo>
                    <a:pt x="112" y="9"/>
                  </a:lnTo>
                  <a:lnTo>
                    <a:pt x="112" y="56"/>
                  </a:lnTo>
                  <a:close/>
                  <a:moveTo>
                    <a:pt x="112" y="65"/>
                  </a:moveTo>
                  <a:lnTo>
                    <a:pt x="112" y="113"/>
                  </a:lnTo>
                  <a:lnTo>
                    <a:pt x="60" y="113"/>
                  </a:lnTo>
                  <a:lnTo>
                    <a:pt x="60" y="113"/>
                  </a:lnTo>
                  <a:lnTo>
                    <a:pt x="65" y="87"/>
                  </a:lnTo>
                  <a:lnTo>
                    <a:pt x="69" y="65"/>
                  </a:lnTo>
                  <a:lnTo>
                    <a:pt x="112" y="65"/>
                  </a:lnTo>
                  <a:close/>
                  <a:moveTo>
                    <a:pt x="56" y="113"/>
                  </a:moveTo>
                  <a:lnTo>
                    <a:pt x="8" y="113"/>
                  </a:lnTo>
                  <a:lnTo>
                    <a:pt x="8" y="113"/>
                  </a:lnTo>
                  <a:lnTo>
                    <a:pt x="13" y="87"/>
                  </a:lnTo>
                  <a:lnTo>
                    <a:pt x="21" y="65"/>
                  </a:lnTo>
                  <a:lnTo>
                    <a:pt x="60" y="65"/>
                  </a:lnTo>
                  <a:lnTo>
                    <a:pt x="60" y="65"/>
                  </a:lnTo>
                  <a:lnTo>
                    <a:pt x="56" y="87"/>
                  </a:lnTo>
                  <a:lnTo>
                    <a:pt x="56" y="113"/>
                  </a:lnTo>
                  <a:lnTo>
                    <a:pt x="56" y="113"/>
                  </a:lnTo>
                  <a:close/>
                  <a:moveTo>
                    <a:pt x="60" y="121"/>
                  </a:moveTo>
                  <a:lnTo>
                    <a:pt x="112" y="121"/>
                  </a:lnTo>
                  <a:lnTo>
                    <a:pt x="112" y="169"/>
                  </a:lnTo>
                  <a:lnTo>
                    <a:pt x="69" y="169"/>
                  </a:lnTo>
                  <a:lnTo>
                    <a:pt x="69" y="169"/>
                  </a:lnTo>
                  <a:lnTo>
                    <a:pt x="65" y="143"/>
                  </a:lnTo>
                  <a:lnTo>
                    <a:pt x="60" y="121"/>
                  </a:lnTo>
                  <a:lnTo>
                    <a:pt x="60" y="121"/>
                  </a:lnTo>
                  <a:close/>
                  <a:moveTo>
                    <a:pt x="121" y="178"/>
                  </a:moveTo>
                  <a:lnTo>
                    <a:pt x="160" y="178"/>
                  </a:lnTo>
                  <a:lnTo>
                    <a:pt x="160" y="178"/>
                  </a:lnTo>
                  <a:lnTo>
                    <a:pt x="147" y="199"/>
                  </a:lnTo>
                  <a:lnTo>
                    <a:pt x="134" y="221"/>
                  </a:lnTo>
                  <a:lnTo>
                    <a:pt x="134" y="221"/>
                  </a:lnTo>
                  <a:lnTo>
                    <a:pt x="121" y="221"/>
                  </a:lnTo>
                  <a:lnTo>
                    <a:pt x="121" y="178"/>
                  </a:lnTo>
                  <a:close/>
                  <a:moveTo>
                    <a:pt x="121" y="169"/>
                  </a:moveTo>
                  <a:lnTo>
                    <a:pt x="121" y="121"/>
                  </a:lnTo>
                  <a:lnTo>
                    <a:pt x="169" y="121"/>
                  </a:lnTo>
                  <a:lnTo>
                    <a:pt x="169" y="121"/>
                  </a:lnTo>
                  <a:lnTo>
                    <a:pt x="169" y="143"/>
                  </a:lnTo>
                  <a:lnTo>
                    <a:pt x="160" y="169"/>
                  </a:lnTo>
                  <a:lnTo>
                    <a:pt x="121" y="169"/>
                  </a:lnTo>
                  <a:close/>
                  <a:moveTo>
                    <a:pt x="177" y="121"/>
                  </a:moveTo>
                  <a:lnTo>
                    <a:pt x="225" y="121"/>
                  </a:lnTo>
                  <a:lnTo>
                    <a:pt x="225" y="121"/>
                  </a:lnTo>
                  <a:lnTo>
                    <a:pt x="220" y="147"/>
                  </a:lnTo>
                  <a:lnTo>
                    <a:pt x="212" y="169"/>
                  </a:lnTo>
                  <a:lnTo>
                    <a:pt x="212" y="169"/>
                  </a:lnTo>
                  <a:lnTo>
                    <a:pt x="169" y="169"/>
                  </a:lnTo>
                  <a:lnTo>
                    <a:pt x="169" y="169"/>
                  </a:lnTo>
                  <a:lnTo>
                    <a:pt x="177" y="143"/>
                  </a:lnTo>
                  <a:lnTo>
                    <a:pt x="177" y="121"/>
                  </a:lnTo>
                  <a:lnTo>
                    <a:pt x="177" y="121"/>
                  </a:lnTo>
                  <a:close/>
                  <a:moveTo>
                    <a:pt x="177" y="113"/>
                  </a:moveTo>
                  <a:lnTo>
                    <a:pt x="177" y="113"/>
                  </a:lnTo>
                  <a:lnTo>
                    <a:pt x="177" y="87"/>
                  </a:lnTo>
                  <a:lnTo>
                    <a:pt x="169" y="65"/>
                  </a:lnTo>
                  <a:lnTo>
                    <a:pt x="212" y="65"/>
                  </a:lnTo>
                  <a:lnTo>
                    <a:pt x="212" y="65"/>
                  </a:lnTo>
                  <a:lnTo>
                    <a:pt x="220" y="87"/>
                  </a:lnTo>
                  <a:lnTo>
                    <a:pt x="225" y="113"/>
                  </a:lnTo>
                  <a:lnTo>
                    <a:pt x="177" y="113"/>
                  </a:lnTo>
                  <a:close/>
                  <a:moveTo>
                    <a:pt x="207" y="56"/>
                  </a:moveTo>
                  <a:lnTo>
                    <a:pt x="169" y="56"/>
                  </a:lnTo>
                  <a:lnTo>
                    <a:pt x="169" y="56"/>
                  </a:lnTo>
                  <a:lnTo>
                    <a:pt x="160" y="30"/>
                  </a:lnTo>
                  <a:lnTo>
                    <a:pt x="147" y="13"/>
                  </a:lnTo>
                  <a:lnTo>
                    <a:pt x="147" y="13"/>
                  </a:lnTo>
                  <a:lnTo>
                    <a:pt x="173" y="22"/>
                  </a:lnTo>
                  <a:lnTo>
                    <a:pt x="194" y="39"/>
                  </a:lnTo>
                  <a:lnTo>
                    <a:pt x="194" y="39"/>
                  </a:lnTo>
                  <a:lnTo>
                    <a:pt x="207" y="56"/>
                  </a:lnTo>
                  <a:lnTo>
                    <a:pt x="207" y="56"/>
                  </a:lnTo>
                  <a:close/>
                  <a:moveTo>
                    <a:pt x="43" y="39"/>
                  </a:moveTo>
                  <a:lnTo>
                    <a:pt x="43" y="39"/>
                  </a:lnTo>
                  <a:lnTo>
                    <a:pt x="60" y="22"/>
                  </a:lnTo>
                  <a:lnTo>
                    <a:pt x="86" y="13"/>
                  </a:lnTo>
                  <a:lnTo>
                    <a:pt x="86" y="13"/>
                  </a:lnTo>
                  <a:lnTo>
                    <a:pt x="73" y="35"/>
                  </a:lnTo>
                  <a:lnTo>
                    <a:pt x="65" y="56"/>
                  </a:lnTo>
                  <a:lnTo>
                    <a:pt x="30" y="56"/>
                  </a:lnTo>
                  <a:lnTo>
                    <a:pt x="30" y="56"/>
                  </a:lnTo>
                  <a:lnTo>
                    <a:pt x="43" y="39"/>
                  </a:lnTo>
                  <a:lnTo>
                    <a:pt x="43" y="39"/>
                  </a:lnTo>
                  <a:close/>
                  <a:moveTo>
                    <a:pt x="30" y="178"/>
                  </a:moveTo>
                  <a:lnTo>
                    <a:pt x="65" y="178"/>
                  </a:lnTo>
                  <a:lnTo>
                    <a:pt x="65" y="178"/>
                  </a:lnTo>
                  <a:lnTo>
                    <a:pt x="73" y="199"/>
                  </a:lnTo>
                  <a:lnTo>
                    <a:pt x="86" y="217"/>
                  </a:lnTo>
                  <a:lnTo>
                    <a:pt x="86" y="217"/>
                  </a:lnTo>
                  <a:lnTo>
                    <a:pt x="60" y="208"/>
                  </a:lnTo>
                  <a:lnTo>
                    <a:pt x="43" y="191"/>
                  </a:lnTo>
                  <a:lnTo>
                    <a:pt x="43" y="191"/>
                  </a:lnTo>
                  <a:lnTo>
                    <a:pt x="30" y="178"/>
                  </a:lnTo>
                  <a:lnTo>
                    <a:pt x="30" y="178"/>
                  </a:lnTo>
                  <a:close/>
                  <a:moveTo>
                    <a:pt x="194" y="191"/>
                  </a:moveTo>
                  <a:lnTo>
                    <a:pt x="194" y="191"/>
                  </a:lnTo>
                  <a:lnTo>
                    <a:pt x="173" y="208"/>
                  </a:lnTo>
                  <a:lnTo>
                    <a:pt x="147" y="221"/>
                  </a:lnTo>
                  <a:lnTo>
                    <a:pt x="147" y="221"/>
                  </a:lnTo>
                  <a:lnTo>
                    <a:pt x="160" y="199"/>
                  </a:lnTo>
                  <a:lnTo>
                    <a:pt x="169" y="178"/>
                  </a:lnTo>
                  <a:lnTo>
                    <a:pt x="207" y="178"/>
                  </a:lnTo>
                  <a:lnTo>
                    <a:pt x="207" y="178"/>
                  </a:lnTo>
                  <a:lnTo>
                    <a:pt x="194" y="191"/>
                  </a:lnTo>
                  <a:lnTo>
                    <a:pt x="194" y="191"/>
                  </a:lnTo>
                  <a:close/>
                </a:path>
              </a:pathLst>
            </a:custGeom>
            <a:solidFill>
              <a:srgbClr val="0070C0"/>
            </a:solidFill>
            <a:ln w="9525">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4" name="Shape 502"/>
          <p:cNvSpPr>
            <a:spLocks noChangeArrowheads="1"/>
          </p:cNvSpPr>
          <p:nvPr/>
        </p:nvSpPr>
        <p:spPr bwMode="gray">
          <a:xfrm>
            <a:off x="4728021" y="2088580"/>
            <a:ext cx="1775521" cy="446346"/>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RESTful</a:t>
            </a:r>
          </a:p>
        </p:txBody>
      </p:sp>
      <p:sp>
        <p:nvSpPr>
          <p:cNvPr id="129" name="Freeform 61"/>
          <p:cNvSpPr>
            <a:spLocks noEditPoints="1"/>
          </p:cNvSpPr>
          <p:nvPr/>
        </p:nvSpPr>
        <p:spPr bwMode="gray">
          <a:xfrm>
            <a:off x="3884625" y="5710068"/>
            <a:ext cx="393664" cy="330482"/>
          </a:xfrm>
          <a:custGeom>
            <a:avLst/>
            <a:gdLst/>
            <a:ahLst/>
            <a:cxnLst>
              <a:cxn ang="0">
                <a:pos x="867" y="56"/>
              </a:cxn>
              <a:cxn ang="0">
                <a:pos x="1039" y="220"/>
              </a:cxn>
              <a:cxn ang="0">
                <a:pos x="1106" y="455"/>
              </a:cxn>
              <a:cxn ang="0">
                <a:pos x="231" y="278"/>
              </a:cxn>
              <a:cxn ang="0">
                <a:pos x="379" y="91"/>
              </a:cxn>
              <a:cxn ang="0">
                <a:pos x="604" y="2"/>
              </a:cxn>
              <a:cxn ang="0">
                <a:pos x="16444" y="6441"/>
              </a:cxn>
              <a:cxn ang="0">
                <a:pos x="16889" y="6757"/>
              </a:cxn>
              <a:cxn ang="0">
                <a:pos x="17116" y="7260"/>
              </a:cxn>
              <a:cxn ang="0">
                <a:pos x="17065" y="10964"/>
              </a:cxn>
              <a:cxn ang="0">
                <a:pos x="16748" y="11409"/>
              </a:cxn>
              <a:cxn ang="0">
                <a:pos x="16245" y="11636"/>
              </a:cxn>
              <a:cxn ang="0">
                <a:pos x="684" y="11585"/>
              </a:cxn>
              <a:cxn ang="0">
                <a:pos x="239" y="11268"/>
              </a:cxn>
              <a:cxn ang="0">
                <a:pos x="12" y="10765"/>
              </a:cxn>
              <a:cxn ang="0">
                <a:pos x="63" y="7061"/>
              </a:cxn>
              <a:cxn ang="0">
                <a:pos x="380" y="6615"/>
              </a:cxn>
              <a:cxn ang="0">
                <a:pos x="883" y="6389"/>
              </a:cxn>
              <a:cxn ang="0">
                <a:pos x="2717" y="8367"/>
              </a:cxn>
              <a:cxn ang="0">
                <a:pos x="2981" y="8555"/>
              </a:cxn>
              <a:cxn ang="0">
                <a:pos x="3115" y="8853"/>
              </a:cxn>
              <a:cxn ang="0">
                <a:pos x="3073" y="9187"/>
              </a:cxn>
              <a:cxn ang="0">
                <a:pos x="2873" y="9442"/>
              </a:cxn>
              <a:cxn ang="0">
                <a:pos x="2567" y="9562"/>
              </a:cxn>
              <a:cxn ang="0">
                <a:pos x="2236" y="9504"/>
              </a:cxn>
              <a:cxn ang="0">
                <a:pos x="1992" y="9292"/>
              </a:cxn>
              <a:cxn ang="0">
                <a:pos x="1887" y="8980"/>
              </a:cxn>
              <a:cxn ang="0">
                <a:pos x="1961" y="8653"/>
              </a:cxn>
              <a:cxn ang="0">
                <a:pos x="2184" y="8419"/>
              </a:cxn>
              <a:cxn ang="0">
                <a:pos x="2504" y="8330"/>
              </a:cxn>
              <a:cxn ang="0">
                <a:pos x="5335" y="8405"/>
              </a:cxn>
              <a:cxn ang="0">
                <a:pos x="5569" y="8627"/>
              </a:cxn>
              <a:cxn ang="0">
                <a:pos x="5659" y="8947"/>
              </a:cxn>
              <a:cxn ang="0">
                <a:pos x="5569" y="9268"/>
              </a:cxn>
              <a:cxn ang="0">
                <a:pos x="5335" y="9491"/>
              </a:cxn>
              <a:cxn ang="0">
                <a:pos x="5009" y="9565"/>
              </a:cxn>
              <a:cxn ang="0">
                <a:pos x="4695" y="9460"/>
              </a:cxn>
              <a:cxn ang="0">
                <a:pos x="4484" y="9215"/>
              </a:cxn>
              <a:cxn ang="0">
                <a:pos x="4425" y="8884"/>
              </a:cxn>
              <a:cxn ang="0">
                <a:pos x="4545" y="8578"/>
              </a:cxn>
              <a:cxn ang="0">
                <a:pos x="4800" y="8378"/>
              </a:cxn>
              <a:cxn ang="0">
                <a:pos x="15111" y="8526"/>
              </a:cxn>
              <a:cxn ang="0">
                <a:pos x="15325" y="8597"/>
              </a:cxn>
              <a:cxn ang="0">
                <a:pos x="15470" y="8764"/>
              </a:cxn>
              <a:cxn ang="0">
                <a:pos x="15512" y="8969"/>
              </a:cxn>
              <a:cxn ang="0">
                <a:pos x="15440" y="9183"/>
              </a:cxn>
              <a:cxn ang="0">
                <a:pos x="15272" y="9329"/>
              </a:cxn>
              <a:cxn ang="0">
                <a:pos x="8366" y="9370"/>
              </a:cxn>
              <a:cxn ang="0">
                <a:pos x="8152" y="9298"/>
              </a:cxn>
              <a:cxn ang="0">
                <a:pos x="8007" y="9131"/>
              </a:cxn>
              <a:cxn ang="0">
                <a:pos x="7966" y="8926"/>
              </a:cxn>
              <a:cxn ang="0">
                <a:pos x="8037" y="8712"/>
              </a:cxn>
              <a:cxn ang="0">
                <a:pos x="8205" y="8566"/>
              </a:cxn>
              <a:cxn ang="0">
                <a:pos x="16696" y="1"/>
              </a:cxn>
              <a:cxn ang="0">
                <a:pos x="16927" y="78"/>
              </a:cxn>
              <a:cxn ang="0">
                <a:pos x="17083" y="258"/>
              </a:cxn>
              <a:cxn ang="0">
                <a:pos x="16217" y="5856"/>
              </a:cxn>
              <a:cxn ang="0">
                <a:pos x="16273" y="239"/>
              </a:cxn>
              <a:cxn ang="0">
                <a:pos x="16436" y="66"/>
              </a:cxn>
              <a:cxn ang="0">
                <a:pos x="16673" y="0"/>
              </a:cxn>
            </a:cxnLst>
            <a:rect l="0" t="0" r="r" b="b"/>
            <a:pathLst>
              <a:path w="17128" h="11648">
                <a:moveTo>
                  <a:pt x="651" y="0"/>
                </a:moveTo>
                <a:lnTo>
                  <a:pt x="674" y="1"/>
                </a:lnTo>
                <a:lnTo>
                  <a:pt x="697" y="2"/>
                </a:lnTo>
                <a:lnTo>
                  <a:pt x="719" y="5"/>
                </a:lnTo>
                <a:lnTo>
                  <a:pt x="742" y="10"/>
                </a:lnTo>
                <a:lnTo>
                  <a:pt x="764" y="14"/>
                </a:lnTo>
                <a:lnTo>
                  <a:pt x="786" y="20"/>
                </a:lnTo>
                <a:lnTo>
                  <a:pt x="807" y="28"/>
                </a:lnTo>
                <a:lnTo>
                  <a:pt x="827" y="36"/>
                </a:lnTo>
                <a:lnTo>
                  <a:pt x="848" y="45"/>
                </a:lnTo>
                <a:lnTo>
                  <a:pt x="867" y="56"/>
                </a:lnTo>
                <a:lnTo>
                  <a:pt x="886" y="66"/>
                </a:lnTo>
                <a:lnTo>
                  <a:pt x="905" y="78"/>
                </a:lnTo>
                <a:lnTo>
                  <a:pt x="923" y="91"/>
                </a:lnTo>
                <a:lnTo>
                  <a:pt x="940" y="104"/>
                </a:lnTo>
                <a:lnTo>
                  <a:pt x="956" y="119"/>
                </a:lnTo>
                <a:lnTo>
                  <a:pt x="972" y="134"/>
                </a:lnTo>
                <a:lnTo>
                  <a:pt x="987" y="150"/>
                </a:lnTo>
                <a:lnTo>
                  <a:pt x="1002" y="166"/>
                </a:lnTo>
                <a:lnTo>
                  <a:pt x="1015" y="183"/>
                </a:lnTo>
                <a:lnTo>
                  <a:pt x="1028" y="201"/>
                </a:lnTo>
                <a:lnTo>
                  <a:pt x="1039" y="220"/>
                </a:lnTo>
                <a:lnTo>
                  <a:pt x="1051" y="239"/>
                </a:lnTo>
                <a:lnTo>
                  <a:pt x="1061" y="258"/>
                </a:lnTo>
                <a:lnTo>
                  <a:pt x="1071" y="278"/>
                </a:lnTo>
                <a:lnTo>
                  <a:pt x="1078" y="300"/>
                </a:lnTo>
                <a:lnTo>
                  <a:pt x="1085" y="320"/>
                </a:lnTo>
                <a:lnTo>
                  <a:pt x="1092" y="342"/>
                </a:lnTo>
                <a:lnTo>
                  <a:pt x="1096" y="364"/>
                </a:lnTo>
                <a:lnTo>
                  <a:pt x="1100" y="387"/>
                </a:lnTo>
                <a:lnTo>
                  <a:pt x="1104" y="409"/>
                </a:lnTo>
                <a:lnTo>
                  <a:pt x="1106" y="433"/>
                </a:lnTo>
                <a:lnTo>
                  <a:pt x="1106" y="455"/>
                </a:lnTo>
                <a:lnTo>
                  <a:pt x="1106" y="5856"/>
                </a:lnTo>
                <a:lnTo>
                  <a:pt x="195" y="5856"/>
                </a:lnTo>
                <a:lnTo>
                  <a:pt x="195" y="455"/>
                </a:lnTo>
                <a:lnTo>
                  <a:pt x="196" y="433"/>
                </a:lnTo>
                <a:lnTo>
                  <a:pt x="198" y="409"/>
                </a:lnTo>
                <a:lnTo>
                  <a:pt x="200" y="387"/>
                </a:lnTo>
                <a:lnTo>
                  <a:pt x="204" y="364"/>
                </a:lnTo>
                <a:lnTo>
                  <a:pt x="210" y="342"/>
                </a:lnTo>
                <a:lnTo>
                  <a:pt x="215" y="320"/>
                </a:lnTo>
                <a:lnTo>
                  <a:pt x="223" y="300"/>
                </a:lnTo>
                <a:lnTo>
                  <a:pt x="231" y="278"/>
                </a:lnTo>
                <a:lnTo>
                  <a:pt x="240" y="258"/>
                </a:lnTo>
                <a:lnTo>
                  <a:pt x="250" y="239"/>
                </a:lnTo>
                <a:lnTo>
                  <a:pt x="261" y="220"/>
                </a:lnTo>
                <a:lnTo>
                  <a:pt x="273" y="201"/>
                </a:lnTo>
                <a:lnTo>
                  <a:pt x="286" y="183"/>
                </a:lnTo>
                <a:lnTo>
                  <a:pt x="300" y="166"/>
                </a:lnTo>
                <a:lnTo>
                  <a:pt x="314" y="150"/>
                </a:lnTo>
                <a:lnTo>
                  <a:pt x="329" y="134"/>
                </a:lnTo>
                <a:lnTo>
                  <a:pt x="345" y="119"/>
                </a:lnTo>
                <a:lnTo>
                  <a:pt x="361" y="104"/>
                </a:lnTo>
                <a:lnTo>
                  <a:pt x="379" y="91"/>
                </a:lnTo>
                <a:lnTo>
                  <a:pt x="396" y="78"/>
                </a:lnTo>
                <a:lnTo>
                  <a:pt x="415" y="66"/>
                </a:lnTo>
                <a:lnTo>
                  <a:pt x="434" y="56"/>
                </a:lnTo>
                <a:lnTo>
                  <a:pt x="454" y="45"/>
                </a:lnTo>
                <a:lnTo>
                  <a:pt x="474" y="36"/>
                </a:lnTo>
                <a:lnTo>
                  <a:pt x="495" y="28"/>
                </a:lnTo>
                <a:lnTo>
                  <a:pt x="516" y="20"/>
                </a:lnTo>
                <a:lnTo>
                  <a:pt x="537" y="14"/>
                </a:lnTo>
                <a:lnTo>
                  <a:pt x="559" y="10"/>
                </a:lnTo>
                <a:lnTo>
                  <a:pt x="581" y="5"/>
                </a:lnTo>
                <a:lnTo>
                  <a:pt x="604" y="2"/>
                </a:lnTo>
                <a:lnTo>
                  <a:pt x="627" y="1"/>
                </a:lnTo>
                <a:lnTo>
                  <a:pt x="651" y="0"/>
                </a:lnTo>
                <a:close/>
                <a:moveTo>
                  <a:pt x="1041" y="6378"/>
                </a:moveTo>
                <a:lnTo>
                  <a:pt x="16087" y="6378"/>
                </a:lnTo>
                <a:lnTo>
                  <a:pt x="16140" y="6379"/>
                </a:lnTo>
                <a:lnTo>
                  <a:pt x="16193" y="6383"/>
                </a:lnTo>
                <a:lnTo>
                  <a:pt x="16245" y="6389"/>
                </a:lnTo>
                <a:lnTo>
                  <a:pt x="16296" y="6398"/>
                </a:lnTo>
                <a:lnTo>
                  <a:pt x="16347" y="6410"/>
                </a:lnTo>
                <a:lnTo>
                  <a:pt x="16396" y="6425"/>
                </a:lnTo>
                <a:lnTo>
                  <a:pt x="16444" y="6441"/>
                </a:lnTo>
                <a:lnTo>
                  <a:pt x="16491" y="6459"/>
                </a:lnTo>
                <a:lnTo>
                  <a:pt x="16537" y="6480"/>
                </a:lnTo>
                <a:lnTo>
                  <a:pt x="16582" y="6503"/>
                </a:lnTo>
                <a:lnTo>
                  <a:pt x="16626" y="6529"/>
                </a:lnTo>
                <a:lnTo>
                  <a:pt x="16668" y="6555"/>
                </a:lnTo>
                <a:lnTo>
                  <a:pt x="16708" y="6584"/>
                </a:lnTo>
                <a:lnTo>
                  <a:pt x="16748" y="6615"/>
                </a:lnTo>
                <a:lnTo>
                  <a:pt x="16787" y="6649"/>
                </a:lnTo>
                <a:lnTo>
                  <a:pt x="16822" y="6683"/>
                </a:lnTo>
                <a:lnTo>
                  <a:pt x="16857" y="6719"/>
                </a:lnTo>
                <a:lnTo>
                  <a:pt x="16889" y="6757"/>
                </a:lnTo>
                <a:lnTo>
                  <a:pt x="16920" y="6796"/>
                </a:lnTo>
                <a:lnTo>
                  <a:pt x="16949" y="6837"/>
                </a:lnTo>
                <a:lnTo>
                  <a:pt x="16977" y="6880"/>
                </a:lnTo>
                <a:lnTo>
                  <a:pt x="17002" y="6923"/>
                </a:lnTo>
                <a:lnTo>
                  <a:pt x="17025" y="6968"/>
                </a:lnTo>
                <a:lnTo>
                  <a:pt x="17046" y="7014"/>
                </a:lnTo>
                <a:lnTo>
                  <a:pt x="17065" y="7062"/>
                </a:lnTo>
                <a:lnTo>
                  <a:pt x="17081" y="7110"/>
                </a:lnTo>
                <a:lnTo>
                  <a:pt x="17095" y="7159"/>
                </a:lnTo>
                <a:lnTo>
                  <a:pt x="17107" y="7210"/>
                </a:lnTo>
                <a:lnTo>
                  <a:pt x="17116" y="7260"/>
                </a:lnTo>
                <a:lnTo>
                  <a:pt x="17123" y="7312"/>
                </a:lnTo>
                <a:lnTo>
                  <a:pt x="17127" y="7365"/>
                </a:lnTo>
                <a:lnTo>
                  <a:pt x="17128" y="7418"/>
                </a:lnTo>
                <a:lnTo>
                  <a:pt x="17128" y="10607"/>
                </a:lnTo>
                <a:lnTo>
                  <a:pt x="17127" y="10661"/>
                </a:lnTo>
                <a:lnTo>
                  <a:pt x="17123" y="10713"/>
                </a:lnTo>
                <a:lnTo>
                  <a:pt x="17116" y="10765"/>
                </a:lnTo>
                <a:lnTo>
                  <a:pt x="17107" y="10816"/>
                </a:lnTo>
                <a:lnTo>
                  <a:pt x="17095" y="10866"/>
                </a:lnTo>
                <a:lnTo>
                  <a:pt x="17081" y="10916"/>
                </a:lnTo>
                <a:lnTo>
                  <a:pt x="17065" y="10964"/>
                </a:lnTo>
                <a:lnTo>
                  <a:pt x="17046" y="11011"/>
                </a:lnTo>
                <a:lnTo>
                  <a:pt x="17025" y="11057"/>
                </a:lnTo>
                <a:lnTo>
                  <a:pt x="17002" y="11102"/>
                </a:lnTo>
                <a:lnTo>
                  <a:pt x="16977" y="11146"/>
                </a:lnTo>
                <a:lnTo>
                  <a:pt x="16949" y="11188"/>
                </a:lnTo>
                <a:lnTo>
                  <a:pt x="16920" y="11228"/>
                </a:lnTo>
                <a:lnTo>
                  <a:pt x="16889" y="11268"/>
                </a:lnTo>
                <a:lnTo>
                  <a:pt x="16857" y="11306"/>
                </a:lnTo>
                <a:lnTo>
                  <a:pt x="16822" y="11342"/>
                </a:lnTo>
                <a:lnTo>
                  <a:pt x="16785" y="11377"/>
                </a:lnTo>
                <a:lnTo>
                  <a:pt x="16748" y="11409"/>
                </a:lnTo>
                <a:lnTo>
                  <a:pt x="16708" y="11440"/>
                </a:lnTo>
                <a:lnTo>
                  <a:pt x="16668" y="11469"/>
                </a:lnTo>
                <a:lnTo>
                  <a:pt x="16626" y="11497"/>
                </a:lnTo>
                <a:lnTo>
                  <a:pt x="16582" y="11522"/>
                </a:lnTo>
                <a:lnTo>
                  <a:pt x="16537" y="11545"/>
                </a:lnTo>
                <a:lnTo>
                  <a:pt x="16491" y="11566"/>
                </a:lnTo>
                <a:lnTo>
                  <a:pt x="16444" y="11585"/>
                </a:lnTo>
                <a:lnTo>
                  <a:pt x="16396" y="11601"/>
                </a:lnTo>
                <a:lnTo>
                  <a:pt x="16347" y="11615"/>
                </a:lnTo>
                <a:lnTo>
                  <a:pt x="16296" y="11627"/>
                </a:lnTo>
                <a:lnTo>
                  <a:pt x="16245" y="11636"/>
                </a:lnTo>
                <a:lnTo>
                  <a:pt x="16193" y="11643"/>
                </a:lnTo>
                <a:lnTo>
                  <a:pt x="16140" y="11647"/>
                </a:lnTo>
                <a:lnTo>
                  <a:pt x="16087" y="11648"/>
                </a:lnTo>
                <a:lnTo>
                  <a:pt x="1041" y="11648"/>
                </a:lnTo>
                <a:lnTo>
                  <a:pt x="988" y="11647"/>
                </a:lnTo>
                <a:lnTo>
                  <a:pt x="935" y="11643"/>
                </a:lnTo>
                <a:lnTo>
                  <a:pt x="883" y="11636"/>
                </a:lnTo>
                <a:lnTo>
                  <a:pt x="832" y="11627"/>
                </a:lnTo>
                <a:lnTo>
                  <a:pt x="781" y="11615"/>
                </a:lnTo>
                <a:lnTo>
                  <a:pt x="732" y="11601"/>
                </a:lnTo>
                <a:lnTo>
                  <a:pt x="684" y="11585"/>
                </a:lnTo>
                <a:lnTo>
                  <a:pt x="637" y="11566"/>
                </a:lnTo>
                <a:lnTo>
                  <a:pt x="591" y="11545"/>
                </a:lnTo>
                <a:lnTo>
                  <a:pt x="546" y="11522"/>
                </a:lnTo>
                <a:lnTo>
                  <a:pt x="502" y="11497"/>
                </a:lnTo>
                <a:lnTo>
                  <a:pt x="460" y="11469"/>
                </a:lnTo>
                <a:lnTo>
                  <a:pt x="420" y="11440"/>
                </a:lnTo>
                <a:lnTo>
                  <a:pt x="380" y="11409"/>
                </a:lnTo>
                <a:lnTo>
                  <a:pt x="341" y="11377"/>
                </a:lnTo>
                <a:lnTo>
                  <a:pt x="306" y="11342"/>
                </a:lnTo>
                <a:lnTo>
                  <a:pt x="271" y="11306"/>
                </a:lnTo>
                <a:lnTo>
                  <a:pt x="239" y="11268"/>
                </a:lnTo>
                <a:lnTo>
                  <a:pt x="208" y="11229"/>
                </a:lnTo>
                <a:lnTo>
                  <a:pt x="179" y="11188"/>
                </a:lnTo>
                <a:lnTo>
                  <a:pt x="151" y="11146"/>
                </a:lnTo>
                <a:lnTo>
                  <a:pt x="126" y="11102"/>
                </a:lnTo>
                <a:lnTo>
                  <a:pt x="103" y="11057"/>
                </a:lnTo>
                <a:lnTo>
                  <a:pt x="82" y="11011"/>
                </a:lnTo>
                <a:lnTo>
                  <a:pt x="63" y="10964"/>
                </a:lnTo>
                <a:lnTo>
                  <a:pt x="47" y="10916"/>
                </a:lnTo>
                <a:lnTo>
                  <a:pt x="33" y="10866"/>
                </a:lnTo>
                <a:lnTo>
                  <a:pt x="21" y="10816"/>
                </a:lnTo>
                <a:lnTo>
                  <a:pt x="12" y="10765"/>
                </a:lnTo>
                <a:lnTo>
                  <a:pt x="5" y="10713"/>
                </a:lnTo>
                <a:lnTo>
                  <a:pt x="1" y="10661"/>
                </a:lnTo>
                <a:lnTo>
                  <a:pt x="0" y="10607"/>
                </a:lnTo>
                <a:lnTo>
                  <a:pt x="0" y="7418"/>
                </a:lnTo>
                <a:lnTo>
                  <a:pt x="1" y="7365"/>
                </a:lnTo>
                <a:lnTo>
                  <a:pt x="5" y="7312"/>
                </a:lnTo>
                <a:lnTo>
                  <a:pt x="12" y="7260"/>
                </a:lnTo>
                <a:lnTo>
                  <a:pt x="21" y="7210"/>
                </a:lnTo>
                <a:lnTo>
                  <a:pt x="33" y="7159"/>
                </a:lnTo>
                <a:lnTo>
                  <a:pt x="47" y="7110"/>
                </a:lnTo>
                <a:lnTo>
                  <a:pt x="63" y="7061"/>
                </a:lnTo>
                <a:lnTo>
                  <a:pt x="82" y="7014"/>
                </a:lnTo>
                <a:lnTo>
                  <a:pt x="103" y="6968"/>
                </a:lnTo>
                <a:lnTo>
                  <a:pt x="126" y="6923"/>
                </a:lnTo>
                <a:lnTo>
                  <a:pt x="151" y="6880"/>
                </a:lnTo>
                <a:lnTo>
                  <a:pt x="179" y="6837"/>
                </a:lnTo>
                <a:lnTo>
                  <a:pt x="208" y="6796"/>
                </a:lnTo>
                <a:lnTo>
                  <a:pt x="239" y="6757"/>
                </a:lnTo>
                <a:lnTo>
                  <a:pt x="271" y="6719"/>
                </a:lnTo>
                <a:lnTo>
                  <a:pt x="306" y="6683"/>
                </a:lnTo>
                <a:lnTo>
                  <a:pt x="341" y="6649"/>
                </a:lnTo>
                <a:lnTo>
                  <a:pt x="380" y="6615"/>
                </a:lnTo>
                <a:lnTo>
                  <a:pt x="419" y="6584"/>
                </a:lnTo>
                <a:lnTo>
                  <a:pt x="460" y="6555"/>
                </a:lnTo>
                <a:lnTo>
                  <a:pt x="502" y="6529"/>
                </a:lnTo>
                <a:lnTo>
                  <a:pt x="546" y="6503"/>
                </a:lnTo>
                <a:lnTo>
                  <a:pt x="591" y="6480"/>
                </a:lnTo>
                <a:lnTo>
                  <a:pt x="637" y="6459"/>
                </a:lnTo>
                <a:lnTo>
                  <a:pt x="684" y="6441"/>
                </a:lnTo>
                <a:lnTo>
                  <a:pt x="732" y="6425"/>
                </a:lnTo>
                <a:lnTo>
                  <a:pt x="781" y="6410"/>
                </a:lnTo>
                <a:lnTo>
                  <a:pt x="832" y="6398"/>
                </a:lnTo>
                <a:lnTo>
                  <a:pt x="883" y="6389"/>
                </a:lnTo>
                <a:lnTo>
                  <a:pt x="935" y="6383"/>
                </a:lnTo>
                <a:lnTo>
                  <a:pt x="988" y="6379"/>
                </a:lnTo>
                <a:lnTo>
                  <a:pt x="1041" y="6378"/>
                </a:lnTo>
                <a:close/>
                <a:moveTo>
                  <a:pt x="2504" y="8330"/>
                </a:moveTo>
                <a:lnTo>
                  <a:pt x="2536" y="8330"/>
                </a:lnTo>
                <a:lnTo>
                  <a:pt x="2567" y="8333"/>
                </a:lnTo>
                <a:lnTo>
                  <a:pt x="2598" y="8336"/>
                </a:lnTo>
                <a:lnTo>
                  <a:pt x="2629" y="8341"/>
                </a:lnTo>
                <a:lnTo>
                  <a:pt x="2658" y="8349"/>
                </a:lnTo>
                <a:lnTo>
                  <a:pt x="2688" y="8357"/>
                </a:lnTo>
                <a:lnTo>
                  <a:pt x="2717" y="8367"/>
                </a:lnTo>
                <a:lnTo>
                  <a:pt x="2745" y="8378"/>
                </a:lnTo>
                <a:lnTo>
                  <a:pt x="2772" y="8391"/>
                </a:lnTo>
                <a:lnTo>
                  <a:pt x="2798" y="8405"/>
                </a:lnTo>
                <a:lnTo>
                  <a:pt x="2824" y="8419"/>
                </a:lnTo>
                <a:lnTo>
                  <a:pt x="2850" y="8436"/>
                </a:lnTo>
                <a:lnTo>
                  <a:pt x="2873" y="8453"/>
                </a:lnTo>
                <a:lnTo>
                  <a:pt x="2897" y="8471"/>
                </a:lnTo>
                <a:lnTo>
                  <a:pt x="2919" y="8490"/>
                </a:lnTo>
                <a:lnTo>
                  <a:pt x="2941" y="8511"/>
                </a:lnTo>
                <a:lnTo>
                  <a:pt x="2961" y="8532"/>
                </a:lnTo>
                <a:lnTo>
                  <a:pt x="2981" y="8555"/>
                </a:lnTo>
                <a:lnTo>
                  <a:pt x="3000" y="8578"/>
                </a:lnTo>
                <a:lnTo>
                  <a:pt x="3017" y="8603"/>
                </a:lnTo>
                <a:lnTo>
                  <a:pt x="3033" y="8627"/>
                </a:lnTo>
                <a:lnTo>
                  <a:pt x="3048" y="8653"/>
                </a:lnTo>
                <a:lnTo>
                  <a:pt x="3062" y="8680"/>
                </a:lnTo>
                <a:lnTo>
                  <a:pt x="3073" y="8708"/>
                </a:lnTo>
                <a:lnTo>
                  <a:pt x="3085" y="8735"/>
                </a:lnTo>
                <a:lnTo>
                  <a:pt x="3095" y="8764"/>
                </a:lnTo>
                <a:lnTo>
                  <a:pt x="3103" y="8793"/>
                </a:lnTo>
                <a:lnTo>
                  <a:pt x="3110" y="8823"/>
                </a:lnTo>
                <a:lnTo>
                  <a:pt x="3115" y="8853"/>
                </a:lnTo>
                <a:lnTo>
                  <a:pt x="3119" y="8884"/>
                </a:lnTo>
                <a:lnTo>
                  <a:pt x="3122" y="8915"/>
                </a:lnTo>
                <a:lnTo>
                  <a:pt x="3123" y="8947"/>
                </a:lnTo>
                <a:lnTo>
                  <a:pt x="3122" y="8980"/>
                </a:lnTo>
                <a:lnTo>
                  <a:pt x="3119" y="9011"/>
                </a:lnTo>
                <a:lnTo>
                  <a:pt x="3115" y="9042"/>
                </a:lnTo>
                <a:lnTo>
                  <a:pt x="3110" y="9072"/>
                </a:lnTo>
                <a:lnTo>
                  <a:pt x="3103" y="9102"/>
                </a:lnTo>
                <a:lnTo>
                  <a:pt x="3095" y="9131"/>
                </a:lnTo>
                <a:lnTo>
                  <a:pt x="3085" y="9159"/>
                </a:lnTo>
                <a:lnTo>
                  <a:pt x="3073" y="9187"/>
                </a:lnTo>
                <a:lnTo>
                  <a:pt x="3062" y="9215"/>
                </a:lnTo>
                <a:lnTo>
                  <a:pt x="3048" y="9242"/>
                </a:lnTo>
                <a:lnTo>
                  <a:pt x="3033" y="9268"/>
                </a:lnTo>
                <a:lnTo>
                  <a:pt x="3017" y="9292"/>
                </a:lnTo>
                <a:lnTo>
                  <a:pt x="3000" y="9317"/>
                </a:lnTo>
                <a:lnTo>
                  <a:pt x="2981" y="9340"/>
                </a:lnTo>
                <a:lnTo>
                  <a:pt x="2961" y="9363"/>
                </a:lnTo>
                <a:lnTo>
                  <a:pt x="2941" y="9384"/>
                </a:lnTo>
                <a:lnTo>
                  <a:pt x="2919" y="9405"/>
                </a:lnTo>
                <a:lnTo>
                  <a:pt x="2897" y="9424"/>
                </a:lnTo>
                <a:lnTo>
                  <a:pt x="2873" y="9442"/>
                </a:lnTo>
                <a:lnTo>
                  <a:pt x="2850" y="9460"/>
                </a:lnTo>
                <a:lnTo>
                  <a:pt x="2824" y="9476"/>
                </a:lnTo>
                <a:lnTo>
                  <a:pt x="2798" y="9491"/>
                </a:lnTo>
                <a:lnTo>
                  <a:pt x="2772" y="9504"/>
                </a:lnTo>
                <a:lnTo>
                  <a:pt x="2745" y="9517"/>
                </a:lnTo>
                <a:lnTo>
                  <a:pt x="2717" y="9528"/>
                </a:lnTo>
                <a:lnTo>
                  <a:pt x="2688" y="9537"/>
                </a:lnTo>
                <a:lnTo>
                  <a:pt x="2658" y="9546"/>
                </a:lnTo>
                <a:lnTo>
                  <a:pt x="2629" y="9554"/>
                </a:lnTo>
                <a:lnTo>
                  <a:pt x="2598" y="9559"/>
                </a:lnTo>
                <a:lnTo>
                  <a:pt x="2567" y="9562"/>
                </a:lnTo>
                <a:lnTo>
                  <a:pt x="2536" y="9565"/>
                </a:lnTo>
                <a:lnTo>
                  <a:pt x="2504" y="9565"/>
                </a:lnTo>
                <a:lnTo>
                  <a:pt x="2473" y="9565"/>
                </a:lnTo>
                <a:lnTo>
                  <a:pt x="2442" y="9562"/>
                </a:lnTo>
                <a:lnTo>
                  <a:pt x="2411" y="9559"/>
                </a:lnTo>
                <a:lnTo>
                  <a:pt x="2380" y="9554"/>
                </a:lnTo>
                <a:lnTo>
                  <a:pt x="2350" y="9546"/>
                </a:lnTo>
                <a:lnTo>
                  <a:pt x="2321" y="9537"/>
                </a:lnTo>
                <a:lnTo>
                  <a:pt x="2292" y="9528"/>
                </a:lnTo>
                <a:lnTo>
                  <a:pt x="2264" y="9517"/>
                </a:lnTo>
                <a:lnTo>
                  <a:pt x="2236" y="9504"/>
                </a:lnTo>
                <a:lnTo>
                  <a:pt x="2211" y="9491"/>
                </a:lnTo>
                <a:lnTo>
                  <a:pt x="2184" y="9476"/>
                </a:lnTo>
                <a:lnTo>
                  <a:pt x="2159" y="9460"/>
                </a:lnTo>
                <a:lnTo>
                  <a:pt x="2135" y="9442"/>
                </a:lnTo>
                <a:lnTo>
                  <a:pt x="2112" y="9424"/>
                </a:lnTo>
                <a:lnTo>
                  <a:pt x="2090" y="9405"/>
                </a:lnTo>
                <a:lnTo>
                  <a:pt x="2068" y="9384"/>
                </a:lnTo>
                <a:lnTo>
                  <a:pt x="2047" y="9363"/>
                </a:lnTo>
                <a:lnTo>
                  <a:pt x="2028" y="9340"/>
                </a:lnTo>
                <a:lnTo>
                  <a:pt x="2009" y="9317"/>
                </a:lnTo>
                <a:lnTo>
                  <a:pt x="1992" y="9292"/>
                </a:lnTo>
                <a:lnTo>
                  <a:pt x="1976" y="9268"/>
                </a:lnTo>
                <a:lnTo>
                  <a:pt x="1961" y="9242"/>
                </a:lnTo>
                <a:lnTo>
                  <a:pt x="1947" y="9215"/>
                </a:lnTo>
                <a:lnTo>
                  <a:pt x="1935" y="9187"/>
                </a:lnTo>
                <a:lnTo>
                  <a:pt x="1924" y="9159"/>
                </a:lnTo>
                <a:lnTo>
                  <a:pt x="1914" y="9131"/>
                </a:lnTo>
                <a:lnTo>
                  <a:pt x="1905" y="9102"/>
                </a:lnTo>
                <a:lnTo>
                  <a:pt x="1899" y="9072"/>
                </a:lnTo>
                <a:lnTo>
                  <a:pt x="1894" y="9042"/>
                </a:lnTo>
                <a:lnTo>
                  <a:pt x="1889" y="9011"/>
                </a:lnTo>
                <a:lnTo>
                  <a:pt x="1887" y="8980"/>
                </a:lnTo>
                <a:lnTo>
                  <a:pt x="1886" y="8947"/>
                </a:lnTo>
                <a:lnTo>
                  <a:pt x="1887" y="8915"/>
                </a:lnTo>
                <a:lnTo>
                  <a:pt x="1889" y="8884"/>
                </a:lnTo>
                <a:lnTo>
                  <a:pt x="1894" y="8853"/>
                </a:lnTo>
                <a:lnTo>
                  <a:pt x="1899" y="8823"/>
                </a:lnTo>
                <a:lnTo>
                  <a:pt x="1905" y="8793"/>
                </a:lnTo>
                <a:lnTo>
                  <a:pt x="1914" y="8764"/>
                </a:lnTo>
                <a:lnTo>
                  <a:pt x="1924" y="8735"/>
                </a:lnTo>
                <a:lnTo>
                  <a:pt x="1935" y="8708"/>
                </a:lnTo>
                <a:lnTo>
                  <a:pt x="1947" y="8680"/>
                </a:lnTo>
                <a:lnTo>
                  <a:pt x="1961" y="8653"/>
                </a:lnTo>
                <a:lnTo>
                  <a:pt x="1976" y="8627"/>
                </a:lnTo>
                <a:lnTo>
                  <a:pt x="1992" y="8603"/>
                </a:lnTo>
                <a:lnTo>
                  <a:pt x="2009" y="8578"/>
                </a:lnTo>
                <a:lnTo>
                  <a:pt x="2028" y="8555"/>
                </a:lnTo>
                <a:lnTo>
                  <a:pt x="2047" y="8532"/>
                </a:lnTo>
                <a:lnTo>
                  <a:pt x="2068" y="8511"/>
                </a:lnTo>
                <a:lnTo>
                  <a:pt x="2090" y="8490"/>
                </a:lnTo>
                <a:lnTo>
                  <a:pt x="2112" y="8471"/>
                </a:lnTo>
                <a:lnTo>
                  <a:pt x="2135" y="8453"/>
                </a:lnTo>
                <a:lnTo>
                  <a:pt x="2159" y="8436"/>
                </a:lnTo>
                <a:lnTo>
                  <a:pt x="2184" y="8419"/>
                </a:lnTo>
                <a:lnTo>
                  <a:pt x="2211" y="8405"/>
                </a:lnTo>
                <a:lnTo>
                  <a:pt x="2236" y="8391"/>
                </a:lnTo>
                <a:lnTo>
                  <a:pt x="2264" y="8378"/>
                </a:lnTo>
                <a:lnTo>
                  <a:pt x="2292" y="8367"/>
                </a:lnTo>
                <a:lnTo>
                  <a:pt x="2321" y="8357"/>
                </a:lnTo>
                <a:lnTo>
                  <a:pt x="2350" y="8349"/>
                </a:lnTo>
                <a:lnTo>
                  <a:pt x="2380" y="8341"/>
                </a:lnTo>
                <a:lnTo>
                  <a:pt x="2411" y="8336"/>
                </a:lnTo>
                <a:lnTo>
                  <a:pt x="2442" y="8333"/>
                </a:lnTo>
                <a:lnTo>
                  <a:pt x="2473" y="8330"/>
                </a:lnTo>
                <a:lnTo>
                  <a:pt x="2504" y="8330"/>
                </a:lnTo>
                <a:close/>
                <a:moveTo>
                  <a:pt x="5041" y="8330"/>
                </a:moveTo>
                <a:lnTo>
                  <a:pt x="5072" y="8330"/>
                </a:lnTo>
                <a:lnTo>
                  <a:pt x="5104" y="8333"/>
                </a:lnTo>
                <a:lnTo>
                  <a:pt x="5135" y="8336"/>
                </a:lnTo>
                <a:lnTo>
                  <a:pt x="5165" y="8341"/>
                </a:lnTo>
                <a:lnTo>
                  <a:pt x="5195" y="8349"/>
                </a:lnTo>
                <a:lnTo>
                  <a:pt x="5224" y="8357"/>
                </a:lnTo>
                <a:lnTo>
                  <a:pt x="5253" y="8367"/>
                </a:lnTo>
                <a:lnTo>
                  <a:pt x="5281" y="8378"/>
                </a:lnTo>
                <a:lnTo>
                  <a:pt x="5309" y="8391"/>
                </a:lnTo>
                <a:lnTo>
                  <a:pt x="5335" y="8405"/>
                </a:lnTo>
                <a:lnTo>
                  <a:pt x="5361" y="8419"/>
                </a:lnTo>
                <a:lnTo>
                  <a:pt x="5386" y="8436"/>
                </a:lnTo>
                <a:lnTo>
                  <a:pt x="5410" y="8453"/>
                </a:lnTo>
                <a:lnTo>
                  <a:pt x="5434" y="8471"/>
                </a:lnTo>
                <a:lnTo>
                  <a:pt x="5456" y="8490"/>
                </a:lnTo>
                <a:lnTo>
                  <a:pt x="5478" y="8511"/>
                </a:lnTo>
                <a:lnTo>
                  <a:pt x="5498" y="8532"/>
                </a:lnTo>
                <a:lnTo>
                  <a:pt x="5517" y="8555"/>
                </a:lnTo>
                <a:lnTo>
                  <a:pt x="5536" y="8578"/>
                </a:lnTo>
                <a:lnTo>
                  <a:pt x="5553" y="8603"/>
                </a:lnTo>
                <a:lnTo>
                  <a:pt x="5569" y="8627"/>
                </a:lnTo>
                <a:lnTo>
                  <a:pt x="5584" y="8653"/>
                </a:lnTo>
                <a:lnTo>
                  <a:pt x="5598" y="8680"/>
                </a:lnTo>
                <a:lnTo>
                  <a:pt x="5610" y="8708"/>
                </a:lnTo>
                <a:lnTo>
                  <a:pt x="5621" y="8735"/>
                </a:lnTo>
                <a:lnTo>
                  <a:pt x="5631" y="8764"/>
                </a:lnTo>
                <a:lnTo>
                  <a:pt x="5639" y="8793"/>
                </a:lnTo>
                <a:lnTo>
                  <a:pt x="5646" y="8823"/>
                </a:lnTo>
                <a:lnTo>
                  <a:pt x="5652" y="8853"/>
                </a:lnTo>
                <a:lnTo>
                  <a:pt x="5655" y="8884"/>
                </a:lnTo>
                <a:lnTo>
                  <a:pt x="5658" y="8915"/>
                </a:lnTo>
                <a:lnTo>
                  <a:pt x="5659" y="8947"/>
                </a:lnTo>
                <a:lnTo>
                  <a:pt x="5658" y="8980"/>
                </a:lnTo>
                <a:lnTo>
                  <a:pt x="5655" y="9011"/>
                </a:lnTo>
                <a:lnTo>
                  <a:pt x="5652" y="9042"/>
                </a:lnTo>
                <a:lnTo>
                  <a:pt x="5646" y="9072"/>
                </a:lnTo>
                <a:lnTo>
                  <a:pt x="5639" y="9102"/>
                </a:lnTo>
                <a:lnTo>
                  <a:pt x="5631" y="9131"/>
                </a:lnTo>
                <a:lnTo>
                  <a:pt x="5621" y="9159"/>
                </a:lnTo>
                <a:lnTo>
                  <a:pt x="5610" y="9187"/>
                </a:lnTo>
                <a:lnTo>
                  <a:pt x="5598" y="9215"/>
                </a:lnTo>
                <a:lnTo>
                  <a:pt x="5584" y="9242"/>
                </a:lnTo>
                <a:lnTo>
                  <a:pt x="5569" y="9268"/>
                </a:lnTo>
                <a:lnTo>
                  <a:pt x="5553" y="9292"/>
                </a:lnTo>
                <a:lnTo>
                  <a:pt x="5536" y="9317"/>
                </a:lnTo>
                <a:lnTo>
                  <a:pt x="5517" y="9340"/>
                </a:lnTo>
                <a:lnTo>
                  <a:pt x="5498" y="9363"/>
                </a:lnTo>
                <a:lnTo>
                  <a:pt x="5478" y="9384"/>
                </a:lnTo>
                <a:lnTo>
                  <a:pt x="5456" y="9405"/>
                </a:lnTo>
                <a:lnTo>
                  <a:pt x="5434" y="9424"/>
                </a:lnTo>
                <a:lnTo>
                  <a:pt x="5410" y="9442"/>
                </a:lnTo>
                <a:lnTo>
                  <a:pt x="5386" y="9460"/>
                </a:lnTo>
                <a:lnTo>
                  <a:pt x="5361" y="9476"/>
                </a:lnTo>
                <a:lnTo>
                  <a:pt x="5335" y="9491"/>
                </a:lnTo>
                <a:lnTo>
                  <a:pt x="5309" y="9504"/>
                </a:lnTo>
                <a:lnTo>
                  <a:pt x="5281" y="9517"/>
                </a:lnTo>
                <a:lnTo>
                  <a:pt x="5253" y="9528"/>
                </a:lnTo>
                <a:lnTo>
                  <a:pt x="5224" y="9537"/>
                </a:lnTo>
                <a:lnTo>
                  <a:pt x="5195" y="9546"/>
                </a:lnTo>
                <a:lnTo>
                  <a:pt x="5165" y="9554"/>
                </a:lnTo>
                <a:lnTo>
                  <a:pt x="5135" y="9559"/>
                </a:lnTo>
                <a:lnTo>
                  <a:pt x="5104" y="9562"/>
                </a:lnTo>
                <a:lnTo>
                  <a:pt x="5072" y="9565"/>
                </a:lnTo>
                <a:lnTo>
                  <a:pt x="5041" y="9565"/>
                </a:lnTo>
                <a:lnTo>
                  <a:pt x="5009" y="9565"/>
                </a:lnTo>
                <a:lnTo>
                  <a:pt x="4978" y="9562"/>
                </a:lnTo>
                <a:lnTo>
                  <a:pt x="4947" y="9559"/>
                </a:lnTo>
                <a:lnTo>
                  <a:pt x="4917" y="9554"/>
                </a:lnTo>
                <a:lnTo>
                  <a:pt x="4887" y="9546"/>
                </a:lnTo>
                <a:lnTo>
                  <a:pt x="4857" y="9537"/>
                </a:lnTo>
                <a:lnTo>
                  <a:pt x="4829" y="9528"/>
                </a:lnTo>
                <a:lnTo>
                  <a:pt x="4800" y="9517"/>
                </a:lnTo>
                <a:lnTo>
                  <a:pt x="4773" y="9504"/>
                </a:lnTo>
                <a:lnTo>
                  <a:pt x="4747" y="9491"/>
                </a:lnTo>
                <a:lnTo>
                  <a:pt x="4721" y="9476"/>
                </a:lnTo>
                <a:lnTo>
                  <a:pt x="4695" y="9460"/>
                </a:lnTo>
                <a:lnTo>
                  <a:pt x="4672" y="9442"/>
                </a:lnTo>
                <a:lnTo>
                  <a:pt x="4648" y="9424"/>
                </a:lnTo>
                <a:lnTo>
                  <a:pt x="4626" y="9405"/>
                </a:lnTo>
                <a:lnTo>
                  <a:pt x="4604" y="9384"/>
                </a:lnTo>
                <a:lnTo>
                  <a:pt x="4584" y="9363"/>
                </a:lnTo>
                <a:lnTo>
                  <a:pt x="4565" y="9340"/>
                </a:lnTo>
                <a:lnTo>
                  <a:pt x="4545" y="9317"/>
                </a:lnTo>
                <a:lnTo>
                  <a:pt x="4528" y="9292"/>
                </a:lnTo>
                <a:lnTo>
                  <a:pt x="4512" y="9268"/>
                </a:lnTo>
                <a:lnTo>
                  <a:pt x="4497" y="9242"/>
                </a:lnTo>
                <a:lnTo>
                  <a:pt x="4484" y="9215"/>
                </a:lnTo>
                <a:lnTo>
                  <a:pt x="4471" y="9187"/>
                </a:lnTo>
                <a:lnTo>
                  <a:pt x="4461" y="9159"/>
                </a:lnTo>
                <a:lnTo>
                  <a:pt x="4451" y="9131"/>
                </a:lnTo>
                <a:lnTo>
                  <a:pt x="4443" y="9102"/>
                </a:lnTo>
                <a:lnTo>
                  <a:pt x="4435" y="9072"/>
                </a:lnTo>
                <a:lnTo>
                  <a:pt x="4430" y="9042"/>
                </a:lnTo>
                <a:lnTo>
                  <a:pt x="4425" y="9011"/>
                </a:lnTo>
                <a:lnTo>
                  <a:pt x="4423" y="8980"/>
                </a:lnTo>
                <a:lnTo>
                  <a:pt x="4423" y="8947"/>
                </a:lnTo>
                <a:lnTo>
                  <a:pt x="4423" y="8915"/>
                </a:lnTo>
                <a:lnTo>
                  <a:pt x="4425" y="8884"/>
                </a:lnTo>
                <a:lnTo>
                  <a:pt x="4430" y="8853"/>
                </a:lnTo>
                <a:lnTo>
                  <a:pt x="4435" y="8823"/>
                </a:lnTo>
                <a:lnTo>
                  <a:pt x="4443" y="8793"/>
                </a:lnTo>
                <a:lnTo>
                  <a:pt x="4451" y="8764"/>
                </a:lnTo>
                <a:lnTo>
                  <a:pt x="4461" y="8735"/>
                </a:lnTo>
                <a:lnTo>
                  <a:pt x="4471" y="8708"/>
                </a:lnTo>
                <a:lnTo>
                  <a:pt x="4484" y="8680"/>
                </a:lnTo>
                <a:lnTo>
                  <a:pt x="4497" y="8653"/>
                </a:lnTo>
                <a:lnTo>
                  <a:pt x="4512" y="8627"/>
                </a:lnTo>
                <a:lnTo>
                  <a:pt x="4528" y="8603"/>
                </a:lnTo>
                <a:lnTo>
                  <a:pt x="4545" y="8578"/>
                </a:lnTo>
                <a:lnTo>
                  <a:pt x="4565" y="8555"/>
                </a:lnTo>
                <a:lnTo>
                  <a:pt x="4584" y="8532"/>
                </a:lnTo>
                <a:lnTo>
                  <a:pt x="4604" y="8511"/>
                </a:lnTo>
                <a:lnTo>
                  <a:pt x="4626" y="8490"/>
                </a:lnTo>
                <a:lnTo>
                  <a:pt x="4648" y="8471"/>
                </a:lnTo>
                <a:lnTo>
                  <a:pt x="4672" y="8453"/>
                </a:lnTo>
                <a:lnTo>
                  <a:pt x="4695" y="8436"/>
                </a:lnTo>
                <a:lnTo>
                  <a:pt x="4721" y="8419"/>
                </a:lnTo>
                <a:lnTo>
                  <a:pt x="4747" y="8405"/>
                </a:lnTo>
                <a:lnTo>
                  <a:pt x="4773" y="8391"/>
                </a:lnTo>
                <a:lnTo>
                  <a:pt x="4800" y="8378"/>
                </a:lnTo>
                <a:lnTo>
                  <a:pt x="4829" y="8367"/>
                </a:lnTo>
                <a:lnTo>
                  <a:pt x="4857" y="8357"/>
                </a:lnTo>
                <a:lnTo>
                  <a:pt x="4887" y="8349"/>
                </a:lnTo>
                <a:lnTo>
                  <a:pt x="4917" y="8341"/>
                </a:lnTo>
                <a:lnTo>
                  <a:pt x="4947" y="8336"/>
                </a:lnTo>
                <a:lnTo>
                  <a:pt x="4978" y="8333"/>
                </a:lnTo>
                <a:lnTo>
                  <a:pt x="5009" y="8330"/>
                </a:lnTo>
                <a:lnTo>
                  <a:pt x="5041" y="8330"/>
                </a:lnTo>
                <a:close/>
                <a:moveTo>
                  <a:pt x="8388" y="8525"/>
                </a:moveTo>
                <a:lnTo>
                  <a:pt x="15089" y="8525"/>
                </a:lnTo>
                <a:lnTo>
                  <a:pt x="15111" y="8526"/>
                </a:lnTo>
                <a:lnTo>
                  <a:pt x="15133" y="8527"/>
                </a:lnTo>
                <a:lnTo>
                  <a:pt x="15153" y="8530"/>
                </a:lnTo>
                <a:lnTo>
                  <a:pt x="15174" y="8533"/>
                </a:lnTo>
                <a:lnTo>
                  <a:pt x="15195" y="8537"/>
                </a:lnTo>
                <a:lnTo>
                  <a:pt x="15215" y="8544"/>
                </a:lnTo>
                <a:lnTo>
                  <a:pt x="15234" y="8550"/>
                </a:lnTo>
                <a:lnTo>
                  <a:pt x="15254" y="8558"/>
                </a:lnTo>
                <a:lnTo>
                  <a:pt x="15272" y="8566"/>
                </a:lnTo>
                <a:lnTo>
                  <a:pt x="15290" y="8576"/>
                </a:lnTo>
                <a:lnTo>
                  <a:pt x="15308" y="8586"/>
                </a:lnTo>
                <a:lnTo>
                  <a:pt x="15325" y="8597"/>
                </a:lnTo>
                <a:lnTo>
                  <a:pt x="15341" y="8609"/>
                </a:lnTo>
                <a:lnTo>
                  <a:pt x="15357" y="8621"/>
                </a:lnTo>
                <a:lnTo>
                  <a:pt x="15373" y="8635"/>
                </a:lnTo>
                <a:lnTo>
                  <a:pt x="15387" y="8649"/>
                </a:lnTo>
                <a:lnTo>
                  <a:pt x="15402" y="8664"/>
                </a:lnTo>
                <a:lnTo>
                  <a:pt x="15415" y="8679"/>
                </a:lnTo>
                <a:lnTo>
                  <a:pt x="15428" y="8695"/>
                </a:lnTo>
                <a:lnTo>
                  <a:pt x="15440" y="8712"/>
                </a:lnTo>
                <a:lnTo>
                  <a:pt x="15451" y="8729"/>
                </a:lnTo>
                <a:lnTo>
                  <a:pt x="15461" y="8746"/>
                </a:lnTo>
                <a:lnTo>
                  <a:pt x="15470" y="8764"/>
                </a:lnTo>
                <a:lnTo>
                  <a:pt x="15478" y="8784"/>
                </a:lnTo>
                <a:lnTo>
                  <a:pt x="15486" y="8803"/>
                </a:lnTo>
                <a:lnTo>
                  <a:pt x="15493" y="8822"/>
                </a:lnTo>
                <a:lnTo>
                  <a:pt x="15499" y="8843"/>
                </a:lnTo>
                <a:lnTo>
                  <a:pt x="15503" y="8863"/>
                </a:lnTo>
                <a:lnTo>
                  <a:pt x="15507" y="8883"/>
                </a:lnTo>
                <a:lnTo>
                  <a:pt x="15509" y="8905"/>
                </a:lnTo>
                <a:lnTo>
                  <a:pt x="15512" y="8926"/>
                </a:lnTo>
                <a:lnTo>
                  <a:pt x="15512" y="8947"/>
                </a:lnTo>
                <a:lnTo>
                  <a:pt x="15512" y="8947"/>
                </a:lnTo>
                <a:lnTo>
                  <a:pt x="15512" y="8969"/>
                </a:lnTo>
                <a:lnTo>
                  <a:pt x="15509" y="8990"/>
                </a:lnTo>
                <a:lnTo>
                  <a:pt x="15507" y="9012"/>
                </a:lnTo>
                <a:lnTo>
                  <a:pt x="15503" y="9032"/>
                </a:lnTo>
                <a:lnTo>
                  <a:pt x="15499" y="9052"/>
                </a:lnTo>
                <a:lnTo>
                  <a:pt x="15493" y="9073"/>
                </a:lnTo>
                <a:lnTo>
                  <a:pt x="15486" y="9093"/>
                </a:lnTo>
                <a:lnTo>
                  <a:pt x="15478" y="9111"/>
                </a:lnTo>
                <a:lnTo>
                  <a:pt x="15470" y="9131"/>
                </a:lnTo>
                <a:lnTo>
                  <a:pt x="15461" y="9149"/>
                </a:lnTo>
                <a:lnTo>
                  <a:pt x="15451" y="9166"/>
                </a:lnTo>
                <a:lnTo>
                  <a:pt x="15440" y="9183"/>
                </a:lnTo>
                <a:lnTo>
                  <a:pt x="15428" y="9200"/>
                </a:lnTo>
                <a:lnTo>
                  <a:pt x="15415" y="9216"/>
                </a:lnTo>
                <a:lnTo>
                  <a:pt x="15402" y="9231"/>
                </a:lnTo>
                <a:lnTo>
                  <a:pt x="15387" y="9246"/>
                </a:lnTo>
                <a:lnTo>
                  <a:pt x="15373" y="9260"/>
                </a:lnTo>
                <a:lnTo>
                  <a:pt x="15357" y="9274"/>
                </a:lnTo>
                <a:lnTo>
                  <a:pt x="15341" y="9286"/>
                </a:lnTo>
                <a:lnTo>
                  <a:pt x="15325" y="9298"/>
                </a:lnTo>
                <a:lnTo>
                  <a:pt x="15308" y="9309"/>
                </a:lnTo>
                <a:lnTo>
                  <a:pt x="15290" y="9319"/>
                </a:lnTo>
                <a:lnTo>
                  <a:pt x="15272" y="9329"/>
                </a:lnTo>
                <a:lnTo>
                  <a:pt x="15254" y="9337"/>
                </a:lnTo>
                <a:lnTo>
                  <a:pt x="15234" y="9345"/>
                </a:lnTo>
                <a:lnTo>
                  <a:pt x="15215" y="9351"/>
                </a:lnTo>
                <a:lnTo>
                  <a:pt x="15195" y="9358"/>
                </a:lnTo>
                <a:lnTo>
                  <a:pt x="15174" y="9362"/>
                </a:lnTo>
                <a:lnTo>
                  <a:pt x="15153" y="9365"/>
                </a:lnTo>
                <a:lnTo>
                  <a:pt x="15133" y="9368"/>
                </a:lnTo>
                <a:lnTo>
                  <a:pt x="15111" y="9370"/>
                </a:lnTo>
                <a:lnTo>
                  <a:pt x="15089" y="9370"/>
                </a:lnTo>
                <a:lnTo>
                  <a:pt x="8388" y="9370"/>
                </a:lnTo>
                <a:lnTo>
                  <a:pt x="8366" y="9370"/>
                </a:lnTo>
                <a:lnTo>
                  <a:pt x="8346" y="9368"/>
                </a:lnTo>
                <a:lnTo>
                  <a:pt x="8324" y="9365"/>
                </a:lnTo>
                <a:lnTo>
                  <a:pt x="8303" y="9362"/>
                </a:lnTo>
                <a:lnTo>
                  <a:pt x="8282" y="9358"/>
                </a:lnTo>
                <a:lnTo>
                  <a:pt x="8263" y="9351"/>
                </a:lnTo>
                <a:lnTo>
                  <a:pt x="8243" y="9345"/>
                </a:lnTo>
                <a:lnTo>
                  <a:pt x="8224" y="9337"/>
                </a:lnTo>
                <a:lnTo>
                  <a:pt x="8205" y="9329"/>
                </a:lnTo>
                <a:lnTo>
                  <a:pt x="8187" y="9319"/>
                </a:lnTo>
                <a:lnTo>
                  <a:pt x="8169" y="9309"/>
                </a:lnTo>
                <a:lnTo>
                  <a:pt x="8152" y="9298"/>
                </a:lnTo>
                <a:lnTo>
                  <a:pt x="8136" y="9286"/>
                </a:lnTo>
                <a:lnTo>
                  <a:pt x="8120" y="9274"/>
                </a:lnTo>
                <a:lnTo>
                  <a:pt x="8105" y="9260"/>
                </a:lnTo>
                <a:lnTo>
                  <a:pt x="8090" y="9246"/>
                </a:lnTo>
                <a:lnTo>
                  <a:pt x="8076" y="9231"/>
                </a:lnTo>
                <a:lnTo>
                  <a:pt x="8062" y="9216"/>
                </a:lnTo>
                <a:lnTo>
                  <a:pt x="8049" y="9200"/>
                </a:lnTo>
                <a:lnTo>
                  <a:pt x="8037" y="9183"/>
                </a:lnTo>
                <a:lnTo>
                  <a:pt x="8027" y="9166"/>
                </a:lnTo>
                <a:lnTo>
                  <a:pt x="8017" y="9149"/>
                </a:lnTo>
                <a:lnTo>
                  <a:pt x="8007" y="9131"/>
                </a:lnTo>
                <a:lnTo>
                  <a:pt x="7999" y="9111"/>
                </a:lnTo>
                <a:lnTo>
                  <a:pt x="7991" y="9093"/>
                </a:lnTo>
                <a:lnTo>
                  <a:pt x="7985" y="9073"/>
                </a:lnTo>
                <a:lnTo>
                  <a:pt x="7978" y="9052"/>
                </a:lnTo>
                <a:lnTo>
                  <a:pt x="7974" y="9032"/>
                </a:lnTo>
                <a:lnTo>
                  <a:pt x="7970" y="9012"/>
                </a:lnTo>
                <a:lnTo>
                  <a:pt x="7968" y="8990"/>
                </a:lnTo>
                <a:lnTo>
                  <a:pt x="7966" y="8969"/>
                </a:lnTo>
                <a:lnTo>
                  <a:pt x="7966" y="8947"/>
                </a:lnTo>
                <a:lnTo>
                  <a:pt x="7966" y="8947"/>
                </a:lnTo>
                <a:lnTo>
                  <a:pt x="7966" y="8926"/>
                </a:lnTo>
                <a:lnTo>
                  <a:pt x="7968" y="8905"/>
                </a:lnTo>
                <a:lnTo>
                  <a:pt x="7970" y="8883"/>
                </a:lnTo>
                <a:lnTo>
                  <a:pt x="7974" y="8863"/>
                </a:lnTo>
                <a:lnTo>
                  <a:pt x="7978" y="8843"/>
                </a:lnTo>
                <a:lnTo>
                  <a:pt x="7985" y="8822"/>
                </a:lnTo>
                <a:lnTo>
                  <a:pt x="7991" y="8803"/>
                </a:lnTo>
                <a:lnTo>
                  <a:pt x="7999" y="8784"/>
                </a:lnTo>
                <a:lnTo>
                  <a:pt x="8007" y="8764"/>
                </a:lnTo>
                <a:lnTo>
                  <a:pt x="8017" y="8746"/>
                </a:lnTo>
                <a:lnTo>
                  <a:pt x="8027" y="8729"/>
                </a:lnTo>
                <a:lnTo>
                  <a:pt x="8037" y="8712"/>
                </a:lnTo>
                <a:lnTo>
                  <a:pt x="8049" y="8695"/>
                </a:lnTo>
                <a:lnTo>
                  <a:pt x="8062" y="8679"/>
                </a:lnTo>
                <a:lnTo>
                  <a:pt x="8076" y="8664"/>
                </a:lnTo>
                <a:lnTo>
                  <a:pt x="8090" y="8649"/>
                </a:lnTo>
                <a:lnTo>
                  <a:pt x="8105" y="8635"/>
                </a:lnTo>
                <a:lnTo>
                  <a:pt x="8120" y="8621"/>
                </a:lnTo>
                <a:lnTo>
                  <a:pt x="8136" y="8609"/>
                </a:lnTo>
                <a:lnTo>
                  <a:pt x="8152" y="8597"/>
                </a:lnTo>
                <a:lnTo>
                  <a:pt x="8169" y="8586"/>
                </a:lnTo>
                <a:lnTo>
                  <a:pt x="8187" y="8576"/>
                </a:lnTo>
                <a:lnTo>
                  <a:pt x="8205" y="8566"/>
                </a:lnTo>
                <a:lnTo>
                  <a:pt x="8224" y="8558"/>
                </a:lnTo>
                <a:lnTo>
                  <a:pt x="8243" y="8550"/>
                </a:lnTo>
                <a:lnTo>
                  <a:pt x="8263" y="8544"/>
                </a:lnTo>
                <a:lnTo>
                  <a:pt x="8282" y="8537"/>
                </a:lnTo>
                <a:lnTo>
                  <a:pt x="8303" y="8533"/>
                </a:lnTo>
                <a:lnTo>
                  <a:pt x="8324" y="8530"/>
                </a:lnTo>
                <a:lnTo>
                  <a:pt x="8346" y="8527"/>
                </a:lnTo>
                <a:lnTo>
                  <a:pt x="8366" y="8526"/>
                </a:lnTo>
                <a:lnTo>
                  <a:pt x="8388" y="8525"/>
                </a:lnTo>
                <a:close/>
                <a:moveTo>
                  <a:pt x="16673" y="0"/>
                </a:moveTo>
                <a:lnTo>
                  <a:pt x="16696" y="1"/>
                </a:lnTo>
                <a:lnTo>
                  <a:pt x="16719" y="2"/>
                </a:lnTo>
                <a:lnTo>
                  <a:pt x="16742" y="5"/>
                </a:lnTo>
                <a:lnTo>
                  <a:pt x="16764" y="10"/>
                </a:lnTo>
                <a:lnTo>
                  <a:pt x="16787" y="14"/>
                </a:lnTo>
                <a:lnTo>
                  <a:pt x="16808" y="20"/>
                </a:lnTo>
                <a:lnTo>
                  <a:pt x="16828" y="28"/>
                </a:lnTo>
                <a:lnTo>
                  <a:pt x="16850" y="36"/>
                </a:lnTo>
                <a:lnTo>
                  <a:pt x="16870" y="45"/>
                </a:lnTo>
                <a:lnTo>
                  <a:pt x="16889" y="56"/>
                </a:lnTo>
                <a:lnTo>
                  <a:pt x="16909" y="66"/>
                </a:lnTo>
                <a:lnTo>
                  <a:pt x="16927" y="78"/>
                </a:lnTo>
                <a:lnTo>
                  <a:pt x="16945" y="91"/>
                </a:lnTo>
                <a:lnTo>
                  <a:pt x="16962" y="104"/>
                </a:lnTo>
                <a:lnTo>
                  <a:pt x="16978" y="119"/>
                </a:lnTo>
                <a:lnTo>
                  <a:pt x="16994" y="134"/>
                </a:lnTo>
                <a:lnTo>
                  <a:pt x="17009" y="150"/>
                </a:lnTo>
                <a:lnTo>
                  <a:pt x="17024" y="166"/>
                </a:lnTo>
                <a:lnTo>
                  <a:pt x="17037" y="183"/>
                </a:lnTo>
                <a:lnTo>
                  <a:pt x="17050" y="201"/>
                </a:lnTo>
                <a:lnTo>
                  <a:pt x="17062" y="220"/>
                </a:lnTo>
                <a:lnTo>
                  <a:pt x="17072" y="239"/>
                </a:lnTo>
                <a:lnTo>
                  <a:pt x="17083" y="258"/>
                </a:lnTo>
                <a:lnTo>
                  <a:pt x="17092" y="278"/>
                </a:lnTo>
                <a:lnTo>
                  <a:pt x="17100" y="300"/>
                </a:lnTo>
                <a:lnTo>
                  <a:pt x="17108" y="320"/>
                </a:lnTo>
                <a:lnTo>
                  <a:pt x="17114" y="342"/>
                </a:lnTo>
                <a:lnTo>
                  <a:pt x="17118" y="364"/>
                </a:lnTo>
                <a:lnTo>
                  <a:pt x="17123" y="387"/>
                </a:lnTo>
                <a:lnTo>
                  <a:pt x="17126" y="409"/>
                </a:lnTo>
                <a:lnTo>
                  <a:pt x="17127" y="433"/>
                </a:lnTo>
                <a:lnTo>
                  <a:pt x="17128" y="455"/>
                </a:lnTo>
                <a:lnTo>
                  <a:pt x="17128" y="5856"/>
                </a:lnTo>
                <a:lnTo>
                  <a:pt x="16217" y="5856"/>
                </a:lnTo>
                <a:lnTo>
                  <a:pt x="16217" y="455"/>
                </a:lnTo>
                <a:lnTo>
                  <a:pt x="16218" y="433"/>
                </a:lnTo>
                <a:lnTo>
                  <a:pt x="16219" y="409"/>
                </a:lnTo>
                <a:lnTo>
                  <a:pt x="16222" y="387"/>
                </a:lnTo>
                <a:lnTo>
                  <a:pt x="16227" y="364"/>
                </a:lnTo>
                <a:lnTo>
                  <a:pt x="16232" y="342"/>
                </a:lnTo>
                <a:lnTo>
                  <a:pt x="16237" y="320"/>
                </a:lnTo>
                <a:lnTo>
                  <a:pt x="16245" y="300"/>
                </a:lnTo>
                <a:lnTo>
                  <a:pt x="16253" y="278"/>
                </a:lnTo>
                <a:lnTo>
                  <a:pt x="16262" y="258"/>
                </a:lnTo>
                <a:lnTo>
                  <a:pt x="16273" y="239"/>
                </a:lnTo>
                <a:lnTo>
                  <a:pt x="16283" y="220"/>
                </a:lnTo>
                <a:lnTo>
                  <a:pt x="16295" y="201"/>
                </a:lnTo>
                <a:lnTo>
                  <a:pt x="16308" y="183"/>
                </a:lnTo>
                <a:lnTo>
                  <a:pt x="16322" y="166"/>
                </a:lnTo>
                <a:lnTo>
                  <a:pt x="16336" y="150"/>
                </a:lnTo>
                <a:lnTo>
                  <a:pt x="16351" y="134"/>
                </a:lnTo>
                <a:lnTo>
                  <a:pt x="16367" y="119"/>
                </a:lnTo>
                <a:lnTo>
                  <a:pt x="16383" y="104"/>
                </a:lnTo>
                <a:lnTo>
                  <a:pt x="16400" y="91"/>
                </a:lnTo>
                <a:lnTo>
                  <a:pt x="16418" y="78"/>
                </a:lnTo>
                <a:lnTo>
                  <a:pt x="16436" y="66"/>
                </a:lnTo>
                <a:lnTo>
                  <a:pt x="16456" y="56"/>
                </a:lnTo>
                <a:lnTo>
                  <a:pt x="16476" y="45"/>
                </a:lnTo>
                <a:lnTo>
                  <a:pt x="16495" y="36"/>
                </a:lnTo>
                <a:lnTo>
                  <a:pt x="16517" y="28"/>
                </a:lnTo>
                <a:lnTo>
                  <a:pt x="16537" y="20"/>
                </a:lnTo>
                <a:lnTo>
                  <a:pt x="16560" y="14"/>
                </a:lnTo>
                <a:lnTo>
                  <a:pt x="16581" y="10"/>
                </a:lnTo>
                <a:lnTo>
                  <a:pt x="16603" y="5"/>
                </a:lnTo>
                <a:lnTo>
                  <a:pt x="16626" y="2"/>
                </a:lnTo>
                <a:lnTo>
                  <a:pt x="16649" y="1"/>
                </a:lnTo>
                <a:lnTo>
                  <a:pt x="16673" y="0"/>
                </a:lnTo>
                <a:close/>
              </a:path>
            </a:pathLst>
          </a:custGeom>
          <a:solidFill>
            <a:srgbClr val="0070C0"/>
          </a:solidFill>
          <a:ln>
            <a:noFill/>
          </a:ln>
          <a:effec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3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Freeform 70"/>
          <p:cNvSpPr>
            <a:spLocks noEditPoints="1"/>
          </p:cNvSpPr>
          <p:nvPr/>
        </p:nvSpPr>
        <p:spPr bwMode="gray">
          <a:xfrm>
            <a:off x="7656074" y="5833963"/>
            <a:ext cx="487389" cy="153174"/>
          </a:xfrm>
          <a:custGeom>
            <a:avLst/>
            <a:gdLst/>
            <a:ahLst/>
            <a:cxnLst>
              <a:cxn ang="0">
                <a:pos x="184" y="0"/>
              </a:cxn>
              <a:cxn ang="0">
                <a:pos x="6" y="0"/>
              </a:cxn>
              <a:cxn ang="0">
                <a:pos x="6" y="0"/>
              </a:cxn>
              <a:cxn ang="0">
                <a:pos x="2" y="0"/>
              </a:cxn>
              <a:cxn ang="0">
                <a:pos x="0" y="4"/>
              </a:cxn>
              <a:cxn ang="0">
                <a:pos x="0" y="62"/>
              </a:cxn>
              <a:cxn ang="0">
                <a:pos x="0" y="62"/>
              </a:cxn>
              <a:cxn ang="0">
                <a:pos x="2" y="66"/>
              </a:cxn>
              <a:cxn ang="0">
                <a:pos x="6" y="66"/>
              </a:cxn>
              <a:cxn ang="0">
                <a:pos x="184" y="66"/>
              </a:cxn>
              <a:cxn ang="0">
                <a:pos x="184" y="66"/>
              </a:cxn>
              <a:cxn ang="0">
                <a:pos x="188" y="66"/>
              </a:cxn>
              <a:cxn ang="0">
                <a:pos x="190" y="62"/>
              </a:cxn>
              <a:cxn ang="0">
                <a:pos x="190" y="4"/>
              </a:cxn>
              <a:cxn ang="0">
                <a:pos x="190" y="4"/>
              </a:cxn>
              <a:cxn ang="0">
                <a:pos x="188" y="0"/>
              </a:cxn>
              <a:cxn ang="0">
                <a:pos x="184" y="0"/>
              </a:cxn>
              <a:cxn ang="0">
                <a:pos x="184" y="0"/>
              </a:cxn>
              <a:cxn ang="0">
                <a:pos x="36" y="46"/>
              </a:cxn>
              <a:cxn ang="0">
                <a:pos x="36" y="46"/>
              </a:cxn>
              <a:cxn ang="0">
                <a:pos x="28" y="44"/>
              </a:cxn>
              <a:cxn ang="0">
                <a:pos x="22" y="42"/>
              </a:cxn>
              <a:cxn ang="0">
                <a:pos x="18" y="38"/>
              </a:cxn>
              <a:cxn ang="0">
                <a:pos x="16" y="32"/>
              </a:cxn>
              <a:cxn ang="0">
                <a:pos x="16" y="32"/>
              </a:cxn>
              <a:cxn ang="0">
                <a:pos x="18" y="28"/>
              </a:cxn>
              <a:cxn ang="0">
                <a:pos x="22" y="24"/>
              </a:cxn>
              <a:cxn ang="0">
                <a:pos x="28" y="22"/>
              </a:cxn>
              <a:cxn ang="0">
                <a:pos x="36" y="20"/>
              </a:cxn>
              <a:cxn ang="0">
                <a:pos x="36" y="20"/>
              </a:cxn>
              <a:cxn ang="0">
                <a:pos x="42" y="22"/>
              </a:cxn>
              <a:cxn ang="0">
                <a:pos x="48" y="24"/>
              </a:cxn>
              <a:cxn ang="0">
                <a:pos x="52" y="28"/>
              </a:cxn>
              <a:cxn ang="0">
                <a:pos x="54" y="32"/>
              </a:cxn>
              <a:cxn ang="0">
                <a:pos x="54" y="32"/>
              </a:cxn>
              <a:cxn ang="0">
                <a:pos x="52" y="38"/>
              </a:cxn>
              <a:cxn ang="0">
                <a:pos x="48" y="42"/>
              </a:cxn>
              <a:cxn ang="0">
                <a:pos x="42" y="44"/>
              </a:cxn>
              <a:cxn ang="0">
                <a:pos x="36" y="46"/>
              </a:cxn>
              <a:cxn ang="0">
                <a:pos x="36" y="46"/>
              </a:cxn>
              <a:cxn ang="0">
                <a:pos x="172" y="38"/>
              </a:cxn>
              <a:cxn ang="0">
                <a:pos x="172" y="38"/>
              </a:cxn>
              <a:cxn ang="0">
                <a:pos x="172" y="42"/>
              </a:cxn>
              <a:cxn ang="0">
                <a:pos x="168" y="42"/>
              </a:cxn>
              <a:cxn ang="0">
                <a:pos x="86" y="42"/>
              </a:cxn>
              <a:cxn ang="0">
                <a:pos x="86" y="42"/>
              </a:cxn>
              <a:cxn ang="0">
                <a:pos x="84" y="42"/>
              </a:cxn>
              <a:cxn ang="0">
                <a:pos x="82" y="38"/>
              </a:cxn>
              <a:cxn ang="0">
                <a:pos x="82" y="28"/>
              </a:cxn>
              <a:cxn ang="0">
                <a:pos x="82" y="28"/>
              </a:cxn>
              <a:cxn ang="0">
                <a:pos x="84" y="24"/>
              </a:cxn>
              <a:cxn ang="0">
                <a:pos x="86" y="24"/>
              </a:cxn>
              <a:cxn ang="0">
                <a:pos x="168" y="24"/>
              </a:cxn>
              <a:cxn ang="0">
                <a:pos x="168" y="24"/>
              </a:cxn>
              <a:cxn ang="0">
                <a:pos x="172" y="24"/>
              </a:cxn>
              <a:cxn ang="0">
                <a:pos x="172" y="28"/>
              </a:cxn>
              <a:cxn ang="0">
                <a:pos x="172" y="38"/>
              </a:cxn>
            </a:cxnLst>
            <a:rect l="0" t="0" r="r" b="b"/>
            <a:pathLst>
              <a:path w="190" h="66">
                <a:moveTo>
                  <a:pt x="184" y="0"/>
                </a:moveTo>
                <a:lnTo>
                  <a:pt x="6" y="0"/>
                </a:lnTo>
                <a:lnTo>
                  <a:pt x="6" y="0"/>
                </a:lnTo>
                <a:lnTo>
                  <a:pt x="2" y="0"/>
                </a:lnTo>
                <a:lnTo>
                  <a:pt x="0" y="4"/>
                </a:lnTo>
                <a:lnTo>
                  <a:pt x="0" y="62"/>
                </a:lnTo>
                <a:lnTo>
                  <a:pt x="0" y="62"/>
                </a:lnTo>
                <a:lnTo>
                  <a:pt x="2" y="66"/>
                </a:lnTo>
                <a:lnTo>
                  <a:pt x="6" y="66"/>
                </a:lnTo>
                <a:lnTo>
                  <a:pt x="184" y="66"/>
                </a:lnTo>
                <a:lnTo>
                  <a:pt x="184" y="66"/>
                </a:lnTo>
                <a:lnTo>
                  <a:pt x="188" y="66"/>
                </a:lnTo>
                <a:lnTo>
                  <a:pt x="190" y="62"/>
                </a:lnTo>
                <a:lnTo>
                  <a:pt x="190" y="4"/>
                </a:lnTo>
                <a:lnTo>
                  <a:pt x="190" y="4"/>
                </a:lnTo>
                <a:lnTo>
                  <a:pt x="188" y="0"/>
                </a:lnTo>
                <a:lnTo>
                  <a:pt x="184" y="0"/>
                </a:lnTo>
                <a:lnTo>
                  <a:pt x="184" y="0"/>
                </a:lnTo>
                <a:close/>
                <a:moveTo>
                  <a:pt x="36" y="46"/>
                </a:moveTo>
                <a:lnTo>
                  <a:pt x="36" y="46"/>
                </a:lnTo>
                <a:lnTo>
                  <a:pt x="28" y="44"/>
                </a:lnTo>
                <a:lnTo>
                  <a:pt x="22" y="42"/>
                </a:lnTo>
                <a:lnTo>
                  <a:pt x="18" y="38"/>
                </a:lnTo>
                <a:lnTo>
                  <a:pt x="16" y="32"/>
                </a:lnTo>
                <a:lnTo>
                  <a:pt x="16" y="32"/>
                </a:lnTo>
                <a:lnTo>
                  <a:pt x="18" y="28"/>
                </a:lnTo>
                <a:lnTo>
                  <a:pt x="22" y="24"/>
                </a:lnTo>
                <a:lnTo>
                  <a:pt x="28" y="22"/>
                </a:lnTo>
                <a:lnTo>
                  <a:pt x="36" y="20"/>
                </a:lnTo>
                <a:lnTo>
                  <a:pt x="36" y="20"/>
                </a:lnTo>
                <a:lnTo>
                  <a:pt x="42" y="22"/>
                </a:lnTo>
                <a:lnTo>
                  <a:pt x="48" y="24"/>
                </a:lnTo>
                <a:lnTo>
                  <a:pt x="52" y="28"/>
                </a:lnTo>
                <a:lnTo>
                  <a:pt x="54" y="32"/>
                </a:lnTo>
                <a:lnTo>
                  <a:pt x="54" y="32"/>
                </a:lnTo>
                <a:lnTo>
                  <a:pt x="52" y="38"/>
                </a:lnTo>
                <a:lnTo>
                  <a:pt x="48" y="42"/>
                </a:lnTo>
                <a:lnTo>
                  <a:pt x="42" y="44"/>
                </a:lnTo>
                <a:lnTo>
                  <a:pt x="36" y="46"/>
                </a:lnTo>
                <a:lnTo>
                  <a:pt x="36" y="46"/>
                </a:lnTo>
                <a:close/>
                <a:moveTo>
                  <a:pt x="172" y="38"/>
                </a:moveTo>
                <a:lnTo>
                  <a:pt x="172" y="38"/>
                </a:lnTo>
                <a:lnTo>
                  <a:pt x="172" y="42"/>
                </a:lnTo>
                <a:lnTo>
                  <a:pt x="168" y="42"/>
                </a:lnTo>
                <a:lnTo>
                  <a:pt x="86" y="42"/>
                </a:lnTo>
                <a:lnTo>
                  <a:pt x="86" y="42"/>
                </a:lnTo>
                <a:lnTo>
                  <a:pt x="84" y="42"/>
                </a:lnTo>
                <a:lnTo>
                  <a:pt x="82" y="38"/>
                </a:lnTo>
                <a:lnTo>
                  <a:pt x="82" y="28"/>
                </a:lnTo>
                <a:lnTo>
                  <a:pt x="82" y="28"/>
                </a:lnTo>
                <a:lnTo>
                  <a:pt x="84" y="24"/>
                </a:lnTo>
                <a:lnTo>
                  <a:pt x="86" y="24"/>
                </a:lnTo>
                <a:lnTo>
                  <a:pt x="168" y="24"/>
                </a:lnTo>
                <a:lnTo>
                  <a:pt x="168" y="24"/>
                </a:lnTo>
                <a:lnTo>
                  <a:pt x="172" y="24"/>
                </a:lnTo>
                <a:lnTo>
                  <a:pt x="172" y="28"/>
                </a:lnTo>
                <a:lnTo>
                  <a:pt x="172" y="38"/>
                </a:lnTo>
                <a:close/>
              </a:path>
            </a:pathLst>
          </a:custGeom>
          <a:solidFill>
            <a:srgbClr val="0070C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Shape 502"/>
          <p:cNvSpPr>
            <a:spLocks noChangeArrowheads="1"/>
          </p:cNvSpPr>
          <p:nvPr/>
        </p:nvSpPr>
        <p:spPr bwMode="gray">
          <a:xfrm>
            <a:off x="6607453" y="2088580"/>
            <a:ext cx="1828377" cy="446346"/>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SNMP Trap</a:t>
            </a:r>
            <a:endPar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33" name="Shape 502"/>
          <p:cNvSpPr>
            <a:spLocks noChangeArrowheads="1"/>
          </p:cNvSpPr>
          <p:nvPr/>
        </p:nvSpPr>
        <p:spPr bwMode="gray">
          <a:xfrm>
            <a:off x="7803382" y="4745900"/>
            <a:ext cx="2917995" cy="446400"/>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HTTP2.0</a:t>
            </a:r>
          </a:p>
        </p:txBody>
      </p:sp>
      <p:pic>
        <p:nvPicPr>
          <p:cNvPr id="3" name="图片 24">
            <a:extLst>
              <a:ext uri="{FF2B5EF4-FFF2-40B4-BE49-F238E27FC236}">
                <a16:creationId xmlns:a16="http://schemas.microsoft.com/office/drawing/2014/main" id="{208E9031-B835-481C-872C-2EFEE7088F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224551" y="3394805"/>
            <a:ext cx="1743421" cy="321533"/>
          </a:xfrm>
          <a:prstGeom prst="rect">
            <a:avLst/>
          </a:prstGeom>
        </p:spPr>
      </p:pic>
      <p:sp>
        <p:nvSpPr>
          <p:cNvPr id="40" name="Shape 502"/>
          <p:cNvSpPr>
            <a:spLocks noChangeArrowheads="1"/>
          </p:cNvSpPr>
          <p:nvPr/>
        </p:nvSpPr>
        <p:spPr bwMode="gray">
          <a:xfrm>
            <a:off x="8551436" y="2087133"/>
            <a:ext cx="1828377" cy="446346"/>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Syslog</a:t>
            </a:r>
          </a:p>
        </p:txBody>
      </p:sp>
    </p:spTree>
    <p:extLst>
      <p:ext uri="{BB962C8B-B14F-4D97-AF65-F5344CB8AC3E}">
        <p14:creationId xmlns:p14="http://schemas.microsoft.com/office/powerpoint/2010/main" val="3600532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网络层概述</a:t>
            </a:r>
          </a:p>
        </p:txBody>
      </p:sp>
      <p:sp>
        <p:nvSpPr>
          <p:cNvPr id="9" name="Text Placeholder 8">
            <a:extLst>
              <a:ext uri="{FF2B5EF4-FFF2-40B4-BE49-F238E27FC236}">
                <a16:creationId xmlns:a16="http://schemas.microsoft.com/office/drawing/2014/main" id="{CD109DE8-6610-4D56-9946-ACB068F7F111}"/>
              </a:ext>
            </a:extLst>
          </p:cNvPr>
          <p:cNvSpPr>
            <a:spLocks noGrp="1"/>
          </p:cNvSpPr>
          <p:nvPr>
            <p:ph type="body" sz="quarter" idx="10"/>
          </p:nvPr>
        </p:nvSpPr>
        <p:spPr bwMode="gray"/>
        <p:txBody>
          <a:bodyPr/>
          <a:lstStyle/>
          <a:p>
            <a:r>
              <a:rPr lang="zh-CN" altLang="en-US" sz="1800" dirty="0"/>
              <a:t>企业</a:t>
            </a:r>
            <a:r>
              <a:rPr lang="en-US" altLang="zh-CN" sz="1800" dirty="0"/>
              <a:t>SD-WAN</a:t>
            </a:r>
            <a:r>
              <a:rPr lang="zh-CN" altLang="en-US" sz="1800" dirty="0"/>
              <a:t>网络可以分为</a:t>
            </a:r>
            <a:r>
              <a:rPr lang="en-US" altLang="zh-CN" sz="1800" dirty="0"/>
              <a:t>Underlay</a:t>
            </a:r>
            <a:r>
              <a:rPr lang="zh-CN" altLang="en-US" sz="1800" dirty="0"/>
              <a:t>物理网络和</a:t>
            </a:r>
            <a:r>
              <a:rPr lang="en-US" altLang="zh-CN" sz="1800" dirty="0"/>
              <a:t>Overlay</a:t>
            </a:r>
            <a:r>
              <a:rPr lang="zh-CN" altLang="en-US" sz="1800" dirty="0"/>
              <a:t>虚拟网络两层，物理网络和虚拟网络完全解耦。</a:t>
            </a:r>
          </a:p>
          <a:p>
            <a:pPr lvl="1"/>
            <a:r>
              <a:rPr lang="zh-CN" altLang="en-US" sz="1600" dirty="0"/>
              <a:t>物理网络：主要是指运营商提供或企业自建的</a:t>
            </a:r>
            <a:r>
              <a:rPr lang="en-US" altLang="zh-CN" sz="1600" dirty="0"/>
              <a:t>Underlay WAN</a:t>
            </a:r>
            <a:r>
              <a:rPr lang="zh-CN" altLang="en-US" sz="1600" dirty="0"/>
              <a:t>，包括专线</a:t>
            </a:r>
            <a:r>
              <a:rPr lang="en-US" altLang="zh-CN" sz="1600" dirty="0"/>
              <a:t>/MPLS</a:t>
            </a:r>
            <a:r>
              <a:rPr lang="zh-CN" altLang="en-US" sz="1600" dirty="0"/>
              <a:t>等网络。</a:t>
            </a:r>
          </a:p>
          <a:p>
            <a:pPr lvl="1"/>
            <a:r>
              <a:rPr lang="zh-CN" altLang="en-US" sz="1600" dirty="0"/>
              <a:t>虚拟网络：又称为</a:t>
            </a:r>
            <a:r>
              <a:rPr lang="en-US" altLang="zh-CN" sz="1600" dirty="0"/>
              <a:t>Overlay</a:t>
            </a:r>
            <a:r>
              <a:rPr lang="zh-CN" altLang="en-US" sz="1600" dirty="0"/>
              <a:t>网络，</a:t>
            </a:r>
            <a:r>
              <a:rPr lang="en-US" altLang="zh-CN" sz="1600" dirty="0"/>
              <a:t>SD-WAN</a:t>
            </a:r>
            <a:r>
              <a:rPr lang="zh-CN" altLang="en-US" sz="1600" dirty="0"/>
              <a:t>通过引入</a:t>
            </a:r>
            <a:r>
              <a:rPr lang="en-US" altLang="zh-CN" sz="1600" dirty="0"/>
              <a:t>IP Overlay</a:t>
            </a:r>
            <a:r>
              <a:rPr lang="zh-CN" altLang="en-US" sz="1600" dirty="0"/>
              <a:t>虚拟化技术，在物理网络上构建出一张或者多张虚拟的</a:t>
            </a:r>
            <a:r>
              <a:rPr lang="en-US" altLang="zh-CN" sz="1600" dirty="0"/>
              <a:t>Overlay</a:t>
            </a:r>
            <a:r>
              <a:rPr lang="zh-CN" altLang="en-US" sz="1600" dirty="0"/>
              <a:t>网络。业务策略被部署在虚拟网络上，与物理网络解耦，从而将业务和</a:t>
            </a:r>
            <a:r>
              <a:rPr lang="en-US" altLang="zh-CN" sz="1600" dirty="0"/>
              <a:t>WAN</a:t>
            </a:r>
            <a:r>
              <a:rPr lang="zh-CN" altLang="en-US" sz="1600" dirty="0"/>
              <a:t>互联分离。</a:t>
            </a:r>
          </a:p>
          <a:p>
            <a:endParaRPr lang="en-US" dirty="0"/>
          </a:p>
        </p:txBody>
      </p:sp>
      <p:grpSp>
        <p:nvGrpSpPr>
          <p:cNvPr id="8" name="Group 7">
            <a:extLst>
              <a:ext uri="{FF2B5EF4-FFF2-40B4-BE49-F238E27FC236}">
                <a16:creationId xmlns:a16="http://schemas.microsoft.com/office/drawing/2014/main" id="{DFD8AD88-94C2-4266-B7DD-8B9905E1142B}"/>
              </a:ext>
            </a:extLst>
          </p:cNvPr>
          <p:cNvGrpSpPr/>
          <p:nvPr/>
        </p:nvGrpSpPr>
        <p:grpSpPr bwMode="gray">
          <a:xfrm>
            <a:off x="2825799" y="2866737"/>
            <a:ext cx="6535668" cy="3307994"/>
            <a:chOff x="4940521" y="3019723"/>
            <a:chExt cx="6535668" cy="3307994"/>
          </a:xfrm>
        </p:grpSpPr>
        <p:sp>
          <p:nvSpPr>
            <p:cNvPr id="112" name="梯形 41">
              <a:extLst>
                <a:ext uri="{FF2B5EF4-FFF2-40B4-BE49-F238E27FC236}">
                  <a16:creationId xmlns:a16="http://schemas.microsoft.com/office/drawing/2014/main" id="{E58C7884-415C-4FFC-BD20-C384A1F4CA8A}"/>
                </a:ext>
              </a:extLst>
            </p:cNvPr>
            <p:cNvSpPr/>
            <p:nvPr/>
          </p:nvSpPr>
          <p:spPr bwMode="gray">
            <a:xfrm>
              <a:off x="4943333" y="4078869"/>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3" name="图片 31">
              <a:extLst>
                <a:ext uri="{FF2B5EF4-FFF2-40B4-BE49-F238E27FC236}">
                  <a16:creationId xmlns:a16="http://schemas.microsoft.com/office/drawing/2014/main" id="{605F7981-8E62-4808-8310-8E868D2BD934}"/>
                </a:ext>
              </a:extLst>
            </p:cNvPr>
            <p:cNvPicPr>
              <a:picLocks noChangeAspect="1"/>
            </p:cNvPicPr>
            <p:nvPr/>
          </p:nvPicPr>
          <p:blipFill>
            <a:blip r:embed="rId3">
              <a:duotone>
                <a:schemeClr val="bg2">
                  <a:shade val="45000"/>
                  <a:satMod val="135000"/>
                </a:schemeClr>
                <a:prstClr val="white"/>
              </a:duotone>
            </a:blip>
            <a:stretch>
              <a:fillRect/>
            </a:stretch>
          </p:blipFill>
          <p:spPr bwMode="gray">
            <a:xfrm>
              <a:off x="6976966" y="4882931"/>
              <a:ext cx="466668" cy="389308"/>
            </a:xfrm>
            <a:prstGeom prst="rect">
              <a:avLst/>
            </a:prstGeom>
          </p:spPr>
        </p:pic>
        <p:pic>
          <p:nvPicPr>
            <p:cNvPr id="114" name="图片 31">
              <a:extLst>
                <a:ext uri="{FF2B5EF4-FFF2-40B4-BE49-F238E27FC236}">
                  <a16:creationId xmlns:a16="http://schemas.microsoft.com/office/drawing/2014/main" id="{B8BA393A-2B7A-41DE-8A51-41F332CB263C}"/>
                </a:ext>
              </a:extLst>
            </p:cNvPr>
            <p:cNvPicPr>
              <a:picLocks noChangeAspect="1"/>
            </p:cNvPicPr>
            <p:nvPr/>
          </p:nvPicPr>
          <p:blipFill>
            <a:blip r:embed="rId3">
              <a:duotone>
                <a:schemeClr val="bg2">
                  <a:shade val="45000"/>
                  <a:satMod val="135000"/>
                </a:schemeClr>
                <a:prstClr val="white"/>
              </a:duotone>
            </a:blip>
            <a:stretch>
              <a:fillRect/>
            </a:stretch>
          </p:blipFill>
          <p:spPr bwMode="gray">
            <a:xfrm>
              <a:off x="6230049" y="5742942"/>
              <a:ext cx="466668" cy="389308"/>
            </a:xfrm>
            <a:prstGeom prst="rect">
              <a:avLst/>
            </a:prstGeom>
          </p:spPr>
        </p:pic>
        <p:pic>
          <p:nvPicPr>
            <p:cNvPr id="115" name="图片 25">
              <a:extLst>
                <a:ext uri="{FF2B5EF4-FFF2-40B4-BE49-F238E27FC236}">
                  <a16:creationId xmlns:a16="http://schemas.microsoft.com/office/drawing/2014/main" id="{7C7D71FC-AACC-4466-940F-35BE90CDCB29}"/>
                </a:ext>
              </a:extLst>
            </p:cNvPr>
            <p:cNvPicPr>
              <a:picLocks noChangeAspect="1"/>
            </p:cNvPicPr>
            <p:nvPr/>
          </p:nvPicPr>
          <p:blipFill>
            <a:blip r:embed="rId3">
              <a:duotone>
                <a:schemeClr val="bg2">
                  <a:shade val="45000"/>
                  <a:satMod val="135000"/>
                </a:schemeClr>
                <a:prstClr val="white"/>
              </a:duotone>
            </a:blip>
            <a:stretch>
              <a:fillRect/>
            </a:stretch>
          </p:blipFill>
          <p:spPr bwMode="gray">
            <a:xfrm>
              <a:off x="9223513" y="5275325"/>
              <a:ext cx="466668" cy="389308"/>
            </a:xfrm>
            <a:prstGeom prst="rect">
              <a:avLst/>
            </a:prstGeom>
          </p:spPr>
        </p:pic>
        <p:pic>
          <p:nvPicPr>
            <p:cNvPr id="116" name="图片 31">
              <a:extLst>
                <a:ext uri="{FF2B5EF4-FFF2-40B4-BE49-F238E27FC236}">
                  <a16:creationId xmlns:a16="http://schemas.microsoft.com/office/drawing/2014/main" id="{1C6E7E35-D7BA-4A81-A955-2C79795E820D}"/>
                </a:ext>
              </a:extLst>
            </p:cNvPr>
            <p:cNvPicPr>
              <a:picLocks noChangeAspect="1"/>
            </p:cNvPicPr>
            <p:nvPr/>
          </p:nvPicPr>
          <p:blipFill>
            <a:blip r:embed="rId3">
              <a:duotone>
                <a:schemeClr val="bg2">
                  <a:shade val="45000"/>
                  <a:satMod val="135000"/>
                </a:schemeClr>
                <a:prstClr val="white"/>
              </a:duotone>
            </a:blip>
            <a:stretch>
              <a:fillRect/>
            </a:stretch>
          </p:blipFill>
          <p:spPr bwMode="gray">
            <a:xfrm>
              <a:off x="8365496" y="4427819"/>
              <a:ext cx="466668" cy="389308"/>
            </a:xfrm>
            <a:prstGeom prst="rect">
              <a:avLst/>
            </a:prstGeom>
          </p:spPr>
        </p:pic>
        <p:sp>
          <p:nvSpPr>
            <p:cNvPr id="117" name="Freeform 159">
              <a:extLst>
                <a:ext uri="{FF2B5EF4-FFF2-40B4-BE49-F238E27FC236}">
                  <a16:creationId xmlns:a16="http://schemas.microsoft.com/office/drawing/2014/main" id="{C8E8F8C7-57DF-4A72-B452-0F8AA20C2133}"/>
                </a:ext>
              </a:extLst>
            </p:cNvPr>
            <p:cNvSpPr/>
            <p:nvPr/>
          </p:nvSpPr>
          <p:spPr bwMode="gray">
            <a:xfrm flipH="1">
              <a:off x="7217356" y="5094671"/>
              <a:ext cx="1914727" cy="10008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运营商网络</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自建网络</a:t>
              </a:r>
              <a:endPar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8" name="图片 86">
              <a:extLst>
                <a:ext uri="{FF2B5EF4-FFF2-40B4-BE49-F238E27FC236}">
                  <a16:creationId xmlns:a16="http://schemas.microsoft.com/office/drawing/2014/main" id="{93600CBF-3F0C-4075-BF01-8C816FEC971E}"/>
                </a:ext>
              </a:extLst>
            </p:cNvPr>
            <p:cNvPicPr>
              <a:picLocks/>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7725641" y="5108493"/>
              <a:ext cx="391752" cy="321237"/>
            </a:xfrm>
            <a:prstGeom prst="rect">
              <a:avLst/>
            </a:prstGeom>
          </p:spPr>
        </p:pic>
        <p:pic>
          <p:nvPicPr>
            <p:cNvPr id="119" name="Picture 12" descr="E:\2016.01\1.12 扁平化图标\蓝色\AR-蓝色最新-40.png">
              <a:extLst>
                <a:ext uri="{FF2B5EF4-FFF2-40B4-BE49-F238E27FC236}">
                  <a16:creationId xmlns:a16="http://schemas.microsoft.com/office/drawing/2014/main" id="{37253B83-00FC-4AC8-9E10-D6E310FBA266}"/>
                </a:ext>
              </a:extLst>
            </p:cNvPr>
            <p:cNvPicPr>
              <a:picLocks noChangeAspect="1" noChangeArrowheads="1"/>
            </p:cNvPicPr>
            <p:nvPr/>
          </p:nvPicPr>
          <p:blipFill>
            <a:blip r:embed="rId5" cstate="print">
              <a:duotone>
                <a:schemeClr val="bg2">
                  <a:shade val="45000"/>
                  <a:satMod val="135000"/>
                </a:schemeClr>
                <a:prstClr val="white"/>
              </a:duotone>
            </a:blip>
            <a:srcRect/>
            <a:stretch>
              <a:fillRect/>
            </a:stretch>
          </p:blipFill>
          <p:spPr bwMode="gray">
            <a:xfrm>
              <a:off x="7945941" y="5717096"/>
              <a:ext cx="392039" cy="320760"/>
            </a:xfrm>
            <a:prstGeom prst="rect">
              <a:avLst/>
            </a:prstGeom>
            <a:noFill/>
          </p:spPr>
        </p:pic>
        <p:pic>
          <p:nvPicPr>
            <p:cNvPr id="120" name="图片 8" descr="DSLAM-蓝.png">
              <a:extLst>
                <a:ext uri="{FF2B5EF4-FFF2-40B4-BE49-F238E27FC236}">
                  <a16:creationId xmlns:a16="http://schemas.microsoft.com/office/drawing/2014/main" id="{0FE66E7C-A2EB-46CA-AC87-437D5BD613CB}"/>
                </a:ext>
              </a:extLst>
            </p:cNvPr>
            <p:cNvPicPr>
              <a:picLocks noChangeAspect="1"/>
            </p:cNvPicPr>
            <p:nvPr/>
          </p:nvPicPr>
          <p:blipFill>
            <a:blip r:embed="rId6" cstate="print">
              <a:duotone>
                <a:schemeClr val="bg2">
                  <a:shade val="45000"/>
                  <a:satMod val="135000"/>
                </a:schemeClr>
                <a:prstClr val="white"/>
              </a:duotone>
            </a:blip>
            <a:stretch>
              <a:fillRect/>
            </a:stretch>
          </p:blipFill>
          <p:spPr bwMode="gray">
            <a:xfrm>
              <a:off x="7342702" y="5717096"/>
              <a:ext cx="392042" cy="320760"/>
            </a:xfrm>
            <a:prstGeom prst="rect">
              <a:avLst/>
            </a:prstGeom>
          </p:spPr>
        </p:pic>
        <p:pic>
          <p:nvPicPr>
            <p:cNvPr id="121" name="图片 1118">
              <a:extLst>
                <a:ext uri="{FF2B5EF4-FFF2-40B4-BE49-F238E27FC236}">
                  <a16:creationId xmlns:a16="http://schemas.microsoft.com/office/drawing/2014/main" id="{91D1A660-A5AE-463C-A28A-1B164EEBCFC7}"/>
                </a:ext>
              </a:extLst>
            </p:cNvPr>
            <p:cNvPicPr>
              <a:picLocks noChangeAspect="1"/>
            </p:cNvPicPr>
            <p:nvPr/>
          </p:nvPicPr>
          <p:blipFill>
            <a:blip r:embed="rId7">
              <a:duotone>
                <a:schemeClr val="accent3">
                  <a:shade val="45000"/>
                  <a:satMod val="135000"/>
                </a:schemeClr>
                <a:prstClr val="white"/>
              </a:duotone>
            </a:blip>
            <a:stretch>
              <a:fillRect/>
            </a:stretch>
          </p:blipFill>
          <p:spPr bwMode="gray">
            <a:xfrm>
              <a:off x="8570715" y="5696604"/>
              <a:ext cx="450745" cy="361743"/>
            </a:xfrm>
            <a:prstGeom prst="rect">
              <a:avLst/>
            </a:prstGeom>
          </p:spPr>
        </p:pic>
        <p:cxnSp>
          <p:nvCxnSpPr>
            <p:cNvPr id="122" name="直接连接符 133">
              <a:extLst>
                <a:ext uri="{FF2B5EF4-FFF2-40B4-BE49-F238E27FC236}">
                  <a16:creationId xmlns:a16="http://schemas.microsoft.com/office/drawing/2014/main" id="{EBEC84C4-3E8B-40D2-9A28-B64C3A2261B3}"/>
                </a:ext>
              </a:extLst>
            </p:cNvPr>
            <p:cNvCxnSpPr>
              <a:stCxn id="114" idx="3"/>
              <a:endCxn id="117" idx="21"/>
            </p:cNvCxnSpPr>
            <p:nvPr/>
          </p:nvCxnSpPr>
          <p:spPr bwMode="gray">
            <a:xfrm flipV="1">
              <a:off x="6696717" y="5796387"/>
              <a:ext cx="520639" cy="141209"/>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123" name="直接连接符 133">
              <a:extLst>
                <a:ext uri="{FF2B5EF4-FFF2-40B4-BE49-F238E27FC236}">
                  <a16:creationId xmlns:a16="http://schemas.microsoft.com/office/drawing/2014/main" id="{1E7BAFD1-E6A5-4588-826B-AB5EC94023F7}"/>
                </a:ext>
              </a:extLst>
            </p:cNvPr>
            <p:cNvCxnSpPr>
              <a:stCxn id="113" idx="3"/>
              <a:endCxn id="117" idx="24"/>
            </p:cNvCxnSpPr>
            <p:nvPr/>
          </p:nvCxnSpPr>
          <p:spPr bwMode="gray">
            <a:xfrm>
              <a:off x="7443634" y="5077585"/>
              <a:ext cx="60111" cy="398904"/>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124" name="直接连接符 133">
              <a:extLst>
                <a:ext uri="{FF2B5EF4-FFF2-40B4-BE49-F238E27FC236}">
                  <a16:creationId xmlns:a16="http://schemas.microsoft.com/office/drawing/2014/main" id="{02A74DAF-3440-408B-8526-FE71D1B854DC}"/>
                </a:ext>
              </a:extLst>
            </p:cNvPr>
            <p:cNvCxnSpPr>
              <a:stCxn id="116" idx="2"/>
              <a:endCxn id="117" idx="1"/>
            </p:cNvCxnSpPr>
            <p:nvPr/>
          </p:nvCxnSpPr>
          <p:spPr bwMode="gray">
            <a:xfrm flipH="1">
              <a:off x="8303283" y="4817127"/>
              <a:ext cx="295547" cy="417603"/>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pic>
          <p:nvPicPr>
            <p:cNvPr id="125" name="图片 13" descr="开放网络-蓝.png">
              <a:extLst>
                <a:ext uri="{FF2B5EF4-FFF2-40B4-BE49-F238E27FC236}">
                  <a16:creationId xmlns:a16="http://schemas.microsoft.com/office/drawing/2014/main" id="{2C48A1E2-9FC5-4338-AD2C-108796FFFB0C}"/>
                </a:ext>
              </a:extLst>
            </p:cNvPr>
            <p:cNvPicPr>
              <a:picLocks noChangeAspect="1"/>
            </p:cNvPicPr>
            <p:nvPr/>
          </p:nvPicPr>
          <p:blipFill>
            <a:blip r:embed="rId8" cstate="print">
              <a:duotone>
                <a:schemeClr val="bg2">
                  <a:shade val="45000"/>
                  <a:satMod val="135000"/>
                </a:schemeClr>
                <a:prstClr val="white"/>
              </a:duotone>
            </a:blip>
            <a:stretch>
              <a:fillRect/>
            </a:stretch>
          </p:blipFill>
          <p:spPr bwMode="gray">
            <a:xfrm>
              <a:off x="8330892" y="5104891"/>
              <a:ext cx="391752" cy="320760"/>
            </a:xfrm>
            <a:prstGeom prst="rect">
              <a:avLst/>
            </a:prstGeom>
          </p:spPr>
        </p:pic>
        <p:cxnSp>
          <p:nvCxnSpPr>
            <p:cNvPr id="126" name="直接连接符 133">
              <a:extLst>
                <a:ext uri="{FF2B5EF4-FFF2-40B4-BE49-F238E27FC236}">
                  <a16:creationId xmlns:a16="http://schemas.microsoft.com/office/drawing/2014/main" id="{CFC0D325-3C6A-43CC-877D-41BC0C3FF2DA}"/>
                </a:ext>
              </a:extLst>
            </p:cNvPr>
            <p:cNvCxnSpPr>
              <a:stCxn id="115" idx="1"/>
              <a:endCxn id="117" idx="7"/>
            </p:cNvCxnSpPr>
            <p:nvPr/>
          </p:nvCxnSpPr>
          <p:spPr bwMode="gray">
            <a:xfrm flipH="1">
              <a:off x="8939938" y="5469979"/>
              <a:ext cx="283575" cy="15748"/>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127" name="直接连接符 133">
              <a:extLst>
                <a:ext uri="{FF2B5EF4-FFF2-40B4-BE49-F238E27FC236}">
                  <a16:creationId xmlns:a16="http://schemas.microsoft.com/office/drawing/2014/main" id="{4083CDE3-1B5C-4224-97B1-F2110F0F8488}"/>
                </a:ext>
              </a:extLst>
            </p:cNvPr>
            <p:cNvCxnSpPr>
              <a:cxnSpLocks/>
              <a:stCxn id="114" idx="0"/>
              <a:endCxn id="136" idx="2"/>
            </p:cNvCxnSpPr>
            <p:nvPr/>
          </p:nvCxnSpPr>
          <p:spPr bwMode="gray">
            <a:xfrm flipV="1">
              <a:off x="6463383" y="4935052"/>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128" name="直接连接符 133">
              <a:extLst>
                <a:ext uri="{FF2B5EF4-FFF2-40B4-BE49-F238E27FC236}">
                  <a16:creationId xmlns:a16="http://schemas.microsoft.com/office/drawing/2014/main" id="{F1EF91A4-83BF-4D04-8CD0-5A5E20514491}"/>
                </a:ext>
              </a:extLst>
            </p:cNvPr>
            <p:cNvCxnSpPr>
              <a:stCxn id="113" idx="0"/>
              <a:endCxn id="133" idx="2"/>
            </p:cNvCxnSpPr>
            <p:nvPr/>
          </p:nvCxnSpPr>
          <p:spPr bwMode="gray">
            <a:xfrm flipV="1">
              <a:off x="7210300" y="4075041"/>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129" name="直接连接符 133">
              <a:extLst>
                <a:ext uri="{FF2B5EF4-FFF2-40B4-BE49-F238E27FC236}">
                  <a16:creationId xmlns:a16="http://schemas.microsoft.com/office/drawing/2014/main" id="{1645CB2A-16EE-410F-9C95-125DDF7F893B}"/>
                </a:ext>
              </a:extLst>
            </p:cNvPr>
            <p:cNvCxnSpPr>
              <a:stCxn id="116" idx="0"/>
              <a:endCxn id="143" idx="2"/>
            </p:cNvCxnSpPr>
            <p:nvPr/>
          </p:nvCxnSpPr>
          <p:spPr bwMode="gray">
            <a:xfrm flipV="1">
              <a:off x="8598830" y="3619929"/>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130" name="直接连接符 133">
              <a:extLst>
                <a:ext uri="{FF2B5EF4-FFF2-40B4-BE49-F238E27FC236}">
                  <a16:creationId xmlns:a16="http://schemas.microsoft.com/office/drawing/2014/main" id="{E01E26E5-C70C-44B2-83C5-EBF26197AE39}"/>
                </a:ext>
              </a:extLst>
            </p:cNvPr>
            <p:cNvCxnSpPr>
              <a:stCxn id="115" idx="0"/>
              <a:endCxn id="139" idx="2"/>
            </p:cNvCxnSpPr>
            <p:nvPr/>
          </p:nvCxnSpPr>
          <p:spPr bwMode="gray">
            <a:xfrm flipV="1">
              <a:off x="9456847" y="4467435"/>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sp>
          <p:nvSpPr>
            <p:cNvPr id="131" name="梯形 41">
              <a:extLst>
                <a:ext uri="{FF2B5EF4-FFF2-40B4-BE49-F238E27FC236}">
                  <a16:creationId xmlns:a16="http://schemas.microsoft.com/office/drawing/2014/main" id="{615F23B9-7C3B-4259-A158-81B9C43FD37D}"/>
                </a:ext>
              </a:extLst>
            </p:cNvPr>
            <p:cNvSpPr/>
            <p:nvPr/>
          </p:nvSpPr>
          <p:spPr bwMode="gray">
            <a:xfrm>
              <a:off x="4940521" y="3027266"/>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Freeform 159">
              <a:extLst>
                <a:ext uri="{FF2B5EF4-FFF2-40B4-BE49-F238E27FC236}">
                  <a16:creationId xmlns:a16="http://schemas.microsoft.com/office/drawing/2014/main" id="{98AE49D6-EF2E-410F-BEAC-EBAF26076F33}"/>
                </a:ext>
              </a:extLst>
            </p:cNvPr>
            <p:cNvSpPr/>
            <p:nvPr/>
          </p:nvSpPr>
          <p:spPr bwMode="gray">
            <a:xfrm flipH="1">
              <a:off x="6227140" y="3562489"/>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133" name="图片 31">
              <a:extLst>
                <a:ext uri="{FF2B5EF4-FFF2-40B4-BE49-F238E27FC236}">
                  <a16:creationId xmlns:a16="http://schemas.microsoft.com/office/drawing/2014/main" id="{ADF67B22-BBBF-495A-AED7-8B4377CACDED}"/>
                </a:ext>
              </a:extLst>
            </p:cNvPr>
            <p:cNvPicPr>
              <a:picLocks noChangeAspect="1"/>
            </p:cNvPicPr>
            <p:nvPr/>
          </p:nvPicPr>
          <p:blipFill>
            <a:blip r:embed="rId3"/>
            <a:stretch>
              <a:fillRect/>
            </a:stretch>
          </p:blipFill>
          <p:spPr bwMode="gray">
            <a:xfrm>
              <a:off x="6976966" y="3685733"/>
              <a:ext cx="466668" cy="389308"/>
            </a:xfrm>
            <a:prstGeom prst="rect">
              <a:avLst/>
            </a:prstGeom>
          </p:spPr>
        </p:pic>
        <p:pic>
          <p:nvPicPr>
            <p:cNvPr id="134" name="图片 51" descr="交换机.png">
              <a:extLst>
                <a:ext uri="{FF2B5EF4-FFF2-40B4-BE49-F238E27FC236}">
                  <a16:creationId xmlns:a16="http://schemas.microsoft.com/office/drawing/2014/main" id="{C9EF65B9-6C3D-42C8-89FB-3C0297DF93EA}"/>
                </a:ext>
              </a:extLst>
            </p:cNvPr>
            <p:cNvPicPr>
              <a:picLocks noChangeAspect="1"/>
            </p:cNvPicPr>
            <p:nvPr/>
          </p:nvPicPr>
          <p:blipFill>
            <a:blip r:embed="rId9" cstate="print"/>
            <a:stretch>
              <a:fillRect/>
            </a:stretch>
          </p:blipFill>
          <p:spPr bwMode="gray">
            <a:xfrm>
              <a:off x="6472027" y="3344419"/>
              <a:ext cx="417163" cy="341314"/>
            </a:xfrm>
            <a:prstGeom prst="rect">
              <a:avLst/>
            </a:prstGeom>
          </p:spPr>
        </p:pic>
        <p:sp>
          <p:nvSpPr>
            <p:cNvPr id="135" name="Freeform 159">
              <a:extLst>
                <a:ext uri="{FF2B5EF4-FFF2-40B4-BE49-F238E27FC236}">
                  <a16:creationId xmlns:a16="http://schemas.microsoft.com/office/drawing/2014/main" id="{F18A6B02-131E-4A30-9311-1DA73ADED3BD}"/>
                </a:ext>
              </a:extLst>
            </p:cNvPr>
            <p:cNvSpPr/>
            <p:nvPr/>
          </p:nvSpPr>
          <p:spPr bwMode="gray">
            <a:xfrm flipH="1">
              <a:off x="5480223" y="4422500"/>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136" name="图片 31">
              <a:extLst>
                <a:ext uri="{FF2B5EF4-FFF2-40B4-BE49-F238E27FC236}">
                  <a16:creationId xmlns:a16="http://schemas.microsoft.com/office/drawing/2014/main" id="{504166E3-C5CE-4344-B935-2413CC5B634C}"/>
                </a:ext>
              </a:extLst>
            </p:cNvPr>
            <p:cNvPicPr>
              <a:picLocks noChangeAspect="1"/>
            </p:cNvPicPr>
            <p:nvPr/>
          </p:nvPicPr>
          <p:blipFill>
            <a:blip r:embed="rId3"/>
            <a:stretch>
              <a:fillRect/>
            </a:stretch>
          </p:blipFill>
          <p:spPr bwMode="gray">
            <a:xfrm>
              <a:off x="6230049" y="4545744"/>
              <a:ext cx="466668" cy="389308"/>
            </a:xfrm>
            <a:prstGeom prst="rect">
              <a:avLst/>
            </a:prstGeom>
          </p:spPr>
        </p:pic>
        <p:pic>
          <p:nvPicPr>
            <p:cNvPr id="137" name="图片 51" descr="交换机.png">
              <a:extLst>
                <a:ext uri="{FF2B5EF4-FFF2-40B4-BE49-F238E27FC236}">
                  <a16:creationId xmlns:a16="http://schemas.microsoft.com/office/drawing/2014/main" id="{F9940A65-367B-42A6-B0AE-71B555E802F0}"/>
                </a:ext>
              </a:extLst>
            </p:cNvPr>
            <p:cNvPicPr>
              <a:picLocks noChangeAspect="1"/>
            </p:cNvPicPr>
            <p:nvPr/>
          </p:nvPicPr>
          <p:blipFill>
            <a:blip r:embed="rId9" cstate="print"/>
            <a:stretch>
              <a:fillRect/>
            </a:stretch>
          </p:blipFill>
          <p:spPr bwMode="gray">
            <a:xfrm>
              <a:off x="5725110" y="4204430"/>
              <a:ext cx="417163" cy="341314"/>
            </a:xfrm>
            <a:prstGeom prst="rect">
              <a:avLst/>
            </a:prstGeom>
          </p:spPr>
        </p:pic>
        <p:sp>
          <p:nvSpPr>
            <p:cNvPr id="138" name="Freeform 159">
              <a:extLst>
                <a:ext uri="{FF2B5EF4-FFF2-40B4-BE49-F238E27FC236}">
                  <a16:creationId xmlns:a16="http://schemas.microsoft.com/office/drawing/2014/main" id="{9B3ECD36-81B5-4D25-A942-F76AF405E471}"/>
                </a:ext>
              </a:extLst>
            </p:cNvPr>
            <p:cNvSpPr/>
            <p:nvPr/>
          </p:nvSpPr>
          <p:spPr bwMode="gray">
            <a:xfrm flipH="1">
              <a:off x="9476092" y="3958041"/>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企业总部</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9" name="图片 25">
              <a:extLst>
                <a:ext uri="{FF2B5EF4-FFF2-40B4-BE49-F238E27FC236}">
                  <a16:creationId xmlns:a16="http://schemas.microsoft.com/office/drawing/2014/main" id="{854BCC5F-F46D-4112-B892-53ACF045245C}"/>
                </a:ext>
              </a:extLst>
            </p:cNvPr>
            <p:cNvPicPr>
              <a:picLocks noChangeAspect="1"/>
            </p:cNvPicPr>
            <p:nvPr/>
          </p:nvPicPr>
          <p:blipFill>
            <a:blip r:embed="rId3"/>
            <a:stretch>
              <a:fillRect/>
            </a:stretch>
          </p:blipFill>
          <p:spPr bwMode="gray">
            <a:xfrm>
              <a:off x="9223513" y="4078127"/>
              <a:ext cx="466668" cy="389308"/>
            </a:xfrm>
            <a:prstGeom prst="rect">
              <a:avLst/>
            </a:prstGeom>
          </p:spPr>
        </p:pic>
        <p:pic>
          <p:nvPicPr>
            <p:cNvPr id="140" name="图片 67">
              <a:extLst>
                <a:ext uri="{FF2B5EF4-FFF2-40B4-BE49-F238E27FC236}">
                  <a16:creationId xmlns:a16="http://schemas.microsoft.com/office/drawing/2014/main" id="{B6AD0792-3E78-4558-87E3-EC730739776E}"/>
                </a:ext>
              </a:extLst>
            </p:cNvPr>
            <p:cNvPicPr>
              <a:picLocks/>
            </p:cNvPicPr>
            <p:nvPr/>
          </p:nvPicPr>
          <p:blipFill>
            <a:blip r:embed="rId10" cstate="print">
              <a:extLst>
                <a:ext uri="{28A0092B-C50C-407E-A947-70E740481C1C}">
                  <a14:useLocalDpi xmlns:a14="http://schemas.microsoft.com/office/drawing/2010/main" val="0"/>
                </a:ext>
              </a:extLst>
            </a:blip>
            <a:stretch>
              <a:fillRect/>
            </a:stretch>
          </p:blipFill>
          <p:spPr bwMode="gray">
            <a:xfrm>
              <a:off x="10391807" y="4242502"/>
              <a:ext cx="417163" cy="342074"/>
            </a:xfrm>
            <a:prstGeom prst="rect">
              <a:avLst/>
            </a:prstGeom>
          </p:spPr>
        </p:pic>
        <p:pic>
          <p:nvPicPr>
            <p:cNvPr id="141" name="图片 14" descr="交换机.png">
              <a:extLst>
                <a:ext uri="{FF2B5EF4-FFF2-40B4-BE49-F238E27FC236}">
                  <a16:creationId xmlns:a16="http://schemas.microsoft.com/office/drawing/2014/main" id="{5311454A-8FA2-461B-A07F-9FF1DF2B5EC6}"/>
                </a:ext>
              </a:extLst>
            </p:cNvPr>
            <p:cNvPicPr>
              <a:picLocks noChangeAspect="1"/>
            </p:cNvPicPr>
            <p:nvPr/>
          </p:nvPicPr>
          <p:blipFill>
            <a:blip r:embed="rId11" cstate="print"/>
            <a:stretch>
              <a:fillRect/>
            </a:stretch>
          </p:blipFill>
          <p:spPr bwMode="gray">
            <a:xfrm>
              <a:off x="10113502" y="3778323"/>
              <a:ext cx="420077" cy="343698"/>
            </a:xfrm>
            <a:prstGeom prst="rect">
              <a:avLst/>
            </a:prstGeom>
          </p:spPr>
        </p:pic>
        <p:sp>
          <p:nvSpPr>
            <p:cNvPr id="142" name="Freeform 159">
              <a:extLst>
                <a:ext uri="{FF2B5EF4-FFF2-40B4-BE49-F238E27FC236}">
                  <a16:creationId xmlns:a16="http://schemas.microsoft.com/office/drawing/2014/main" id="{47CD9C9B-10BA-46B3-8358-58A4D775C5FC}"/>
                </a:ext>
              </a:extLst>
            </p:cNvPr>
            <p:cNvSpPr/>
            <p:nvPr/>
          </p:nvSpPr>
          <p:spPr bwMode="gray">
            <a:xfrm flipH="1">
              <a:off x="7615670" y="310737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143" name="图片 31">
              <a:extLst>
                <a:ext uri="{FF2B5EF4-FFF2-40B4-BE49-F238E27FC236}">
                  <a16:creationId xmlns:a16="http://schemas.microsoft.com/office/drawing/2014/main" id="{4CCE45B5-00A5-4650-B77B-704C0171DAF8}"/>
                </a:ext>
              </a:extLst>
            </p:cNvPr>
            <p:cNvPicPr>
              <a:picLocks noChangeAspect="1"/>
            </p:cNvPicPr>
            <p:nvPr/>
          </p:nvPicPr>
          <p:blipFill>
            <a:blip r:embed="rId3"/>
            <a:stretch>
              <a:fillRect/>
            </a:stretch>
          </p:blipFill>
          <p:spPr bwMode="gray">
            <a:xfrm>
              <a:off x="8365496" y="3230621"/>
              <a:ext cx="466668" cy="389308"/>
            </a:xfrm>
            <a:prstGeom prst="rect">
              <a:avLst/>
            </a:prstGeom>
          </p:spPr>
        </p:pic>
        <p:pic>
          <p:nvPicPr>
            <p:cNvPr id="144" name="图片 51" descr="交换机.png">
              <a:extLst>
                <a:ext uri="{FF2B5EF4-FFF2-40B4-BE49-F238E27FC236}">
                  <a16:creationId xmlns:a16="http://schemas.microsoft.com/office/drawing/2014/main" id="{122B5553-45D0-4DD8-8186-B15817FB9F3E}"/>
                </a:ext>
              </a:extLst>
            </p:cNvPr>
            <p:cNvPicPr>
              <a:picLocks noChangeAspect="1"/>
            </p:cNvPicPr>
            <p:nvPr/>
          </p:nvPicPr>
          <p:blipFill>
            <a:blip r:embed="rId9" cstate="print"/>
            <a:stretch>
              <a:fillRect/>
            </a:stretch>
          </p:blipFill>
          <p:spPr bwMode="gray">
            <a:xfrm>
              <a:off x="7342702" y="3087429"/>
              <a:ext cx="417163" cy="341314"/>
            </a:xfrm>
            <a:prstGeom prst="rect">
              <a:avLst/>
            </a:prstGeom>
          </p:spPr>
        </p:pic>
        <p:cxnSp>
          <p:nvCxnSpPr>
            <p:cNvPr id="145" name="直接连接符 133">
              <a:extLst>
                <a:ext uri="{FF2B5EF4-FFF2-40B4-BE49-F238E27FC236}">
                  <a16:creationId xmlns:a16="http://schemas.microsoft.com/office/drawing/2014/main" id="{B6253436-1B47-4F83-982D-7B495E42CCB9}"/>
                </a:ext>
              </a:extLst>
            </p:cNvPr>
            <p:cNvCxnSpPr>
              <a:cxnSpLocks/>
              <a:stCxn id="136" idx="3"/>
              <a:endCxn id="139" idx="1"/>
            </p:cNvCxnSpPr>
            <p:nvPr/>
          </p:nvCxnSpPr>
          <p:spPr bwMode="gray">
            <a:xfrm flipV="1">
              <a:off x="6696717" y="4272781"/>
              <a:ext cx="2526796" cy="467617"/>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146" name="直接连接符 133">
              <a:extLst>
                <a:ext uri="{FF2B5EF4-FFF2-40B4-BE49-F238E27FC236}">
                  <a16:creationId xmlns:a16="http://schemas.microsoft.com/office/drawing/2014/main" id="{786BE482-46C3-46F6-8FAC-7654D635AD67}"/>
                </a:ext>
              </a:extLst>
            </p:cNvPr>
            <p:cNvCxnSpPr>
              <a:stCxn id="133" idx="3"/>
              <a:endCxn id="139" idx="1"/>
            </p:cNvCxnSpPr>
            <p:nvPr/>
          </p:nvCxnSpPr>
          <p:spPr bwMode="gray">
            <a:xfrm>
              <a:off x="7443634" y="3880387"/>
              <a:ext cx="1779879" cy="392394"/>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147" name="直接连接符 133">
              <a:extLst>
                <a:ext uri="{FF2B5EF4-FFF2-40B4-BE49-F238E27FC236}">
                  <a16:creationId xmlns:a16="http://schemas.microsoft.com/office/drawing/2014/main" id="{9AF4B341-B443-42C9-A7D9-0BF072AD731A}"/>
                </a:ext>
              </a:extLst>
            </p:cNvPr>
            <p:cNvCxnSpPr>
              <a:stCxn id="143" idx="2"/>
              <a:endCxn id="139" idx="1"/>
            </p:cNvCxnSpPr>
            <p:nvPr/>
          </p:nvCxnSpPr>
          <p:spPr bwMode="gray">
            <a:xfrm>
              <a:off x="8598830" y="3619929"/>
              <a:ext cx="624683" cy="652852"/>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sp>
          <p:nvSpPr>
            <p:cNvPr id="148" name="TextBox 147">
              <a:extLst>
                <a:ext uri="{FF2B5EF4-FFF2-40B4-BE49-F238E27FC236}">
                  <a16:creationId xmlns:a16="http://schemas.microsoft.com/office/drawing/2014/main" id="{097257FA-C034-4B18-9100-6C26BB68A2CD}"/>
                </a:ext>
              </a:extLst>
            </p:cNvPr>
            <p:cNvSpPr txBox="1"/>
            <p:nvPr/>
          </p:nvSpPr>
          <p:spPr bwMode="gray">
            <a:xfrm>
              <a:off x="10255038" y="4675593"/>
              <a:ext cx="1011815" cy="584775"/>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Overlay</a:t>
              </a:r>
            </a:p>
            <a:p>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虚拟网络</a:t>
              </a:r>
            </a:p>
          </p:txBody>
        </p:sp>
        <p:sp>
          <p:nvSpPr>
            <p:cNvPr id="149" name="TextBox 148">
              <a:extLst>
                <a:ext uri="{FF2B5EF4-FFF2-40B4-BE49-F238E27FC236}">
                  <a16:creationId xmlns:a16="http://schemas.microsoft.com/office/drawing/2014/main" id="{AC76387D-D3F3-4B82-AAEF-D7417DACDA5F}"/>
                </a:ext>
              </a:extLst>
            </p:cNvPr>
            <p:cNvSpPr txBox="1"/>
            <p:nvPr/>
          </p:nvSpPr>
          <p:spPr bwMode="gray">
            <a:xfrm>
              <a:off x="10203601" y="5742942"/>
              <a:ext cx="1082348" cy="584775"/>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Underlay</a:t>
              </a:r>
            </a:p>
            <a:p>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物理网络</a:t>
              </a:r>
            </a:p>
          </p:txBody>
        </p:sp>
        <p:sp>
          <p:nvSpPr>
            <p:cNvPr id="4" name="文本框 18">
              <a:extLst>
                <a:ext uri="{FF2B5EF4-FFF2-40B4-BE49-F238E27FC236}">
                  <a16:creationId xmlns:a16="http://schemas.microsoft.com/office/drawing/2014/main" id="{D4E02747-01C2-4FF4-8F72-189FCFA08450}"/>
                </a:ext>
              </a:extLst>
            </p:cNvPr>
            <p:cNvSpPr txBox="1"/>
            <p:nvPr/>
          </p:nvSpPr>
          <p:spPr bwMode="gray">
            <a:xfrm>
              <a:off x="6204605" y="4336501"/>
              <a:ext cx="558827" cy="256545"/>
            </a:xfrm>
            <a:prstGeom prst="rect">
              <a:avLst/>
            </a:prstGeom>
            <a:noFill/>
          </p:spPr>
          <p:txBody>
            <a:bodyPr wrap="square" rtlCol="0">
              <a:spAutoFit/>
            </a:bodyPr>
            <a:lstStyle/>
            <a:p>
              <a:pPr algn="ctr"/>
              <a:r>
                <a:rPr lang="en-US" altLang="zh-CN" sz="1067"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067"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18">
              <a:extLst>
                <a:ext uri="{FF2B5EF4-FFF2-40B4-BE49-F238E27FC236}">
                  <a16:creationId xmlns:a16="http://schemas.microsoft.com/office/drawing/2014/main" id="{19F8E968-BBAD-40D4-808E-14CCDF08EF3C}"/>
                </a:ext>
              </a:extLst>
            </p:cNvPr>
            <p:cNvSpPr txBox="1"/>
            <p:nvPr/>
          </p:nvSpPr>
          <p:spPr bwMode="gray">
            <a:xfrm>
              <a:off x="6928411" y="3487237"/>
              <a:ext cx="558827" cy="256545"/>
            </a:xfrm>
            <a:prstGeom prst="rect">
              <a:avLst/>
            </a:prstGeom>
            <a:noFill/>
          </p:spPr>
          <p:txBody>
            <a:bodyPr wrap="square" rtlCol="0">
              <a:spAutoFit/>
            </a:bodyPr>
            <a:lstStyle/>
            <a:p>
              <a:pPr algn="ctr"/>
              <a:r>
                <a:rPr lang="en-US" altLang="zh-CN" sz="1067"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067"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18">
              <a:extLst>
                <a:ext uri="{FF2B5EF4-FFF2-40B4-BE49-F238E27FC236}">
                  <a16:creationId xmlns:a16="http://schemas.microsoft.com/office/drawing/2014/main" id="{656035EE-62F1-4A5E-8DBD-4EABD286E176}"/>
                </a:ext>
              </a:extLst>
            </p:cNvPr>
            <p:cNvSpPr txBox="1"/>
            <p:nvPr/>
          </p:nvSpPr>
          <p:spPr bwMode="gray">
            <a:xfrm>
              <a:off x="8320340" y="3019723"/>
              <a:ext cx="558827" cy="256545"/>
            </a:xfrm>
            <a:prstGeom prst="rect">
              <a:avLst/>
            </a:prstGeom>
            <a:noFill/>
          </p:spPr>
          <p:txBody>
            <a:bodyPr wrap="square" rtlCol="0">
              <a:spAutoFit/>
            </a:bodyPr>
            <a:lstStyle/>
            <a:p>
              <a:pPr algn="ctr"/>
              <a:r>
                <a:rPr lang="en-US" altLang="zh-CN" sz="1067"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067"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18">
              <a:extLst>
                <a:ext uri="{FF2B5EF4-FFF2-40B4-BE49-F238E27FC236}">
                  <a16:creationId xmlns:a16="http://schemas.microsoft.com/office/drawing/2014/main" id="{7B602482-0CA6-4C07-972B-F498A6611B79}"/>
                </a:ext>
              </a:extLst>
            </p:cNvPr>
            <p:cNvSpPr txBox="1"/>
            <p:nvPr/>
          </p:nvSpPr>
          <p:spPr bwMode="gray">
            <a:xfrm>
              <a:off x="9111642" y="3857607"/>
              <a:ext cx="858298" cy="256545"/>
            </a:xfrm>
            <a:prstGeom prst="rect">
              <a:avLst/>
            </a:prstGeom>
            <a:noFill/>
          </p:spPr>
          <p:txBody>
            <a:bodyPr wrap="square" rtlCol="0">
              <a:spAutoFit/>
            </a:bodyPr>
            <a:lstStyle/>
            <a:p>
              <a:pPr algn="ctr"/>
              <a:r>
                <a:rPr lang="en-US" altLang="zh-CN" sz="1067"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EDGE/RR</a:t>
              </a:r>
              <a:endParaRPr lang="zh-CN" altLang="en-US" sz="1067"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705844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EDGE</a:t>
            </a:r>
            <a:r>
              <a:rPr lang="zh-CN" altLang="en-US" dirty="0">
                <a:sym typeface="Huawei Sans" panose="020C0503030203020204" pitchFamily="34" charset="0"/>
              </a:rPr>
              <a:t>概述</a:t>
            </a:r>
          </a:p>
        </p:txBody>
      </p:sp>
      <p:sp>
        <p:nvSpPr>
          <p:cNvPr id="3" name="Text Placeholder 2">
            <a:extLst>
              <a:ext uri="{FF2B5EF4-FFF2-40B4-BE49-F238E27FC236}">
                <a16:creationId xmlns:a16="http://schemas.microsoft.com/office/drawing/2014/main" id="{E3760611-F70D-41BF-B845-64F6C950522E}"/>
              </a:ext>
            </a:extLst>
          </p:cNvPr>
          <p:cNvSpPr>
            <a:spLocks noGrp="1"/>
          </p:cNvSpPr>
          <p:nvPr>
            <p:ph type="body" sz="quarter" idx="10"/>
          </p:nvPr>
        </p:nvSpPr>
        <p:spPr bwMode="gray"/>
        <p:txBody>
          <a:bodyPr/>
          <a:lstStyle/>
          <a:p>
            <a:pPr marL="302279" indent="-302279" algn="just" defTabSz="914034" fontAlgn="ctr">
              <a:lnSpc>
                <a:spcPct val="140000"/>
              </a:lnSpc>
              <a:spcBef>
                <a:spcPts val="792"/>
              </a:spcBef>
              <a:buSzPct val="50000"/>
              <a:buFont typeface="Wingdings" panose="05000000000000000000" pitchFamily="2" charset="2"/>
              <a:buChar char="l"/>
            </a:pP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EDGE</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本质上是</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SD-WAN</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网络的边界点</a:t>
            </a:r>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EDGE</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之间通过</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IP Overlay</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隧道技术互联</a:t>
            </a:r>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endPar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EDGE</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一般可以采用传统硬件</a:t>
            </a:r>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设备</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，公有云上的站点可以部署软件虚拟设备。</a:t>
            </a:r>
            <a:endPar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企业所有的</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SD-WAN EDGE</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设备被</a:t>
            </a:r>
            <a:r>
              <a:rPr lang="en-US" altLang="zh-CN" sz="1800" dirty="0" err="1">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 NCE</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控制器统一纳管，由租户管理员管理和维护。</a:t>
            </a:r>
          </a:p>
        </p:txBody>
      </p:sp>
      <p:grpSp>
        <p:nvGrpSpPr>
          <p:cNvPr id="114" name="Group 113">
            <a:extLst>
              <a:ext uri="{FF2B5EF4-FFF2-40B4-BE49-F238E27FC236}">
                <a16:creationId xmlns:a16="http://schemas.microsoft.com/office/drawing/2014/main" id="{6939AB48-54E6-44CC-B62E-7C5228CB3FA0}"/>
              </a:ext>
            </a:extLst>
          </p:cNvPr>
          <p:cNvGrpSpPr/>
          <p:nvPr/>
        </p:nvGrpSpPr>
        <p:grpSpPr bwMode="gray">
          <a:xfrm>
            <a:off x="1340106" y="2481765"/>
            <a:ext cx="8925801" cy="3683297"/>
            <a:chOff x="1963422" y="2481765"/>
            <a:chExt cx="8925801" cy="3683297"/>
          </a:xfrm>
        </p:grpSpPr>
        <p:sp>
          <p:nvSpPr>
            <p:cNvPr id="9" name="Freeform 159">
              <a:extLst>
                <a:ext uri="{FF2B5EF4-FFF2-40B4-BE49-F238E27FC236}">
                  <a16:creationId xmlns:a16="http://schemas.microsoft.com/office/drawing/2014/main" id="{8F099A8D-6377-4441-80F4-569A30DBAA6F}"/>
                </a:ext>
              </a:extLst>
            </p:cNvPr>
            <p:cNvSpPr/>
            <p:nvPr/>
          </p:nvSpPr>
          <p:spPr bwMode="gray">
            <a:xfrm flipH="1">
              <a:off x="2300469" y="3420609"/>
              <a:ext cx="1536175" cy="8030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VPC/</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vNet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Shape 423"/>
            <p:cNvSpPr/>
            <p:nvPr/>
          </p:nvSpPr>
          <p:spPr bwMode="gray">
            <a:xfrm>
              <a:off x="2217799" y="4268377"/>
              <a:ext cx="1796027" cy="24710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noAutofit/>
            </a:bodyPr>
            <a:lstStyle>
              <a:lvl1pPr defTabSz="516747">
                <a:defRPr sz="1600">
                  <a:solidFill>
                    <a:srgbClr val="FFFFFF"/>
                  </a:solidFill>
                  <a:latin typeface="+mn-lt"/>
                  <a:ea typeface="+mn-ea"/>
                  <a:cs typeface="+mn-cs"/>
                  <a:sym typeface="Helvetica"/>
                </a:defRPr>
              </a:lvl1pPr>
            </a:lstStyle>
            <a:p>
              <a:pPr algn="ctr" fontAlgn="ctr"/>
              <a:r>
                <a:rPr lang="zh-CN" altLang="en-US" sz="1400" b="1"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软件虚拟设备（</a:t>
              </a:r>
              <a:r>
                <a:rPr lang="en-US" altLang="zh-CN" sz="1400" b="1"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vCPE</a:t>
              </a:r>
              <a:r>
                <a:rPr lang="zh-CN" altLang="en-US" sz="1400" b="1"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sz="1400" b="1"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98" name="图片 97" descr="08-Rear_looking down.png"/>
            <p:cNvPicPr/>
            <p:nvPr/>
          </p:nvPicPr>
          <p:blipFill>
            <a:blip r:embed="rId3" cstate="print"/>
            <a:stretch>
              <a:fillRect/>
            </a:stretch>
          </p:blipFill>
          <p:spPr bwMode="gray">
            <a:xfrm>
              <a:off x="2306383" y="4683840"/>
              <a:ext cx="1466951" cy="745384"/>
            </a:xfrm>
            <a:prstGeom prst="rect">
              <a:avLst/>
            </a:prstGeom>
          </p:spPr>
        </p:pic>
        <p:sp>
          <p:nvSpPr>
            <p:cNvPr id="99" name="Shape 423"/>
            <p:cNvSpPr/>
            <p:nvPr/>
          </p:nvSpPr>
          <p:spPr bwMode="gray">
            <a:xfrm>
              <a:off x="2451262" y="5450438"/>
              <a:ext cx="1285219" cy="236426"/>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noAutofit/>
            </a:bodyPr>
            <a:lstStyle>
              <a:lvl1pPr defTabSz="516747">
                <a:defRPr sz="1600">
                  <a:solidFill>
                    <a:srgbClr val="FFFFFF"/>
                  </a:solidFill>
                  <a:latin typeface="+mn-lt"/>
                  <a:ea typeface="+mn-ea"/>
                  <a:cs typeface="+mn-cs"/>
                  <a:sym typeface="Helvetica"/>
                </a:defRPr>
              </a:lvl1pPr>
            </a:lstStyle>
            <a:p>
              <a:pPr algn="ctr" fontAlgn="ctr"/>
              <a:r>
                <a:rPr lang="zh-CN" altLang="en-US" sz="1400" b="1"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硬件设备（</a:t>
              </a:r>
              <a:r>
                <a:rPr lang="en-US" altLang="zh-CN" sz="1400" b="1"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CPE</a:t>
              </a:r>
              <a:r>
                <a:rPr lang="zh-CN" altLang="en-US" sz="1400" b="1"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sz="1400" b="1"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0" name="圆角矩形 75"/>
            <p:cNvSpPr/>
            <p:nvPr/>
          </p:nvSpPr>
          <p:spPr bwMode="gray">
            <a:xfrm>
              <a:off x="1963422" y="3106635"/>
              <a:ext cx="2081493" cy="2721096"/>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43" name="图片 42" descr="交换机.png"/>
            <p:cNvPicPr>
              <a:picLocks noChangeAspect="1"/>
            </p:cNvPicPr>
            <p:nvPr/>
          </p:nvPicPr>
          <p:blipFill>
            <a:blip r:embed="rId4" cstate="print"/>
            <a:stretch>
              <a:fillRect/>
            </a:stretch>
          </p:blipFill>
          <p:spPr bwMode="gray">
            <a:xfrm>
              <a:off x="2096244" y="3714930"/>
              <a:ext cx="539999" cy="441817"/>
            </a:xfrm>
            <a:prstGeom prst="rect">
              <a:avLst/>
            </a:prstGeom>
          </p:spPr>
        </p:pic>
        <p:grpSp>
          <p:nvGrpSpPr>
            <p:cNvPr id="86" name="Group 85">
              <a:extLst>
                <a:ext uri="{FF2B5EF4-FFF2-40B4-BE49-F238E27FC236}">
                  <a16:creationId xmlns:a16="http://schemas.microsoft.com/office/drawing/2014/main" id="{193ABDA1-666C-48E5-A3BA-D387CFEC3153}"/>
                </a:ext>
              </a:extLst>
            </p:cNvPr>
            <p:cNvGrpSpPr/>
            <p:nvPr/>
          </p:nvGrpSpPr>
          <p:grpSpPr bwMode="gray">
            <a:xfrm>
              <a:off x="4356367" y="2481765"/>
              <a:ext cx="6532856" cy="3683297"/>
              <a:chOff x="2196887" y="2408187"/>
              <a:chExt cx="6532856" cy="3683297"/>
            </a:xfrm>
          </p:grpSpPr>
          <p:sp>
            <p:nvSpPr>
              <p:cNvPr id="40" name="梯形 41">
                <a:extLst>
                  <a:ext uri="{FF2B5EF4-FFF2-40B4-BE49-F238E27FC236}">
                    <a16:creationId xmlns:a16="http://schemas.microsoft.com/office/drawing/2014/main" id="{65E9AB4D-994C-4E64-9732-1613CD5CB479}"/>
                  </a:ext>
                </a:extLst>
              </p:cNvPr>
              <p:cNvSpPr/>
              <p:nvPr/>
            </p:nvSpPr>
            <p:spPr bwMode="gray">
              <a:xfrm>
                <a:off x="2196887" y="3858382"/>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24">
                <a:extLst>
                  <a:ext uri="{FF2B5EF4-FFF2-40B4-BE49-F238E27FC236}">
                    <a16:creationId xmlns:a16="http://schemas.microsoft.com/office/drawing/2014/main" id="{271AD1AB-AF3C-466A-8058-CC551EB9B76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730316" y="2444260"/>
                <a:ext cx="2615181" cy="482309"/>
              </a:xfrm>
              <a:prstGeom prst="rect">
                <a:avLst/>
              </a:prstGeom>
            </p:spPr>
          </p:pic>
          <p:cxnSp>
            <p:nvCxnSpPr>
              <p:cNvPr id="33" name="直接箭头连接符 84">
                <a:extLst>
                  <a:ext uri="{FF2B5EF4-FFF2-40B4-BE49-F238E27FC236}">
                    <a16:creationId xmlns:a16="http://schemas.microsoft.com/office/drawing/2014/main" id="{AA1BAE72-AC5D-4CA4-982B-74EC1BCDC6DE}"/>
                  </a:ext>
                </a:extLst>
              </p:cNvPr>
              <p:cNvCxnSpPr>
                <a:cxnSpLocks/>
                <a:stCxn id="10" idx="2"/>
                <a:endCxn id="59" idx="0"/>
              </p:cNvCxnSpPr>
              <p:nvPr/>
            </p:nvCxnSpPr>
            <p:spPr bwMode="gray">
              <a:xfrm>
                <a:off x="5037907" y="2941585"/>
                <a:ext cx="817289" cy="1120152"/>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0" name="圆角矩形 75">
                <a:extLst>
                  <a:ext uri="{FF2B5EF4-FFF2-40B4-BE49-F238E27FC236}">
                    <a16:creationId xmlns:a16="http://schemas.microsoft.com/office/drawing/2014/main" id="{F56FF2B2-3B4B-4EAB-8501-403C945EAF2F}"/>
                  </a:ext>
                </a:extLst>
              </p:cNvPr>
              <p:cNvSpPr/>
              <p:nvPr/>
            </p:nvSpPr>
            <p:spPr bwMode="gray">
              <a:xfrm>
                <a:off x="3638598" y="2408187"/>
                <a:ext cx="2798618" cy="533398"/>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1" name="Freeform 159">
                <a:extLst>
                  <a:ext uri="{FF2B5EF4-FFF2-40B4-BE49-F238E27FC236}">
                    <a16:creationId xmlns:a16="http://schemas.microsoft.com/office/drawing/2014/main" id="{547A810E-DF00-4F1E-A016-C8CEA15A2814}"/>
                  </a:ext>
                </a:extLst>
              </p:cNvPr>
              <p:cNvSpPr/>
              <p:nvPr/>
            </p:nvSpPr>
            <p:spPr bwMode="gray">
              <a:xfrm flipH="1">
                <a:off x="3483506" y="4393605"/>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49" name="图片 31">
                <a:extLst>
                  <a:ext uri="{FF2B5EF4-FFF2-40B4-BE49-F238E27FC236}">
                    <a16:creationId xmlns:a16="http://schemas.microsoft.com/office/drawing/2014/main" id="{E7E5EA53-3DAF-4DCF-B2D8-AF15B1CB17A7}"/>
                  </a:ext>
                </a:extLst>
              </p:cNvPr>
              <p:cNvPicPr>
                <a:picLocks noChangeAspect="1"/>
              </p:cNvPicPr>
              <p:nvPr/>
            </p:nvPicPr>
            <p:blipFill>
              <a:blip r:embed="rId6"/>
              <a:stretch>
                <a:fillRect/>
              </a:stretch>
            </p:blipFill>
            <p:spPr bwMode="gray">
              <a:xfrm>
                <a:off x="4233332" y="4516849"/>
                <a:ext cx="466668" cy="389308"/>
              </a:xfrm>
              <a:prstGeom prst="rect">
                <a:avLst/>
              </a:prstGeom>
            </p:spPr>
          </p:pic>
          <p:pic>
            <p:nvPicPr>
              <p:cNvPr id="50" name="图片 51" descr="交换机.png">
                <a:extLst>
                  <a:ext uri="{FF2B5EF4-FFF2-40B4-BE49-F238E27FC236}">
                    <a16:creationId xmlns:a16="http://schemas.microsoft.com/office/drawing/2014/main" id="{8D117205-BF93-4E5D-A819-DBF011A35538}"/>
                  </a:ext>
                </a:extLst>
              </p:cNvPr>
              <p:cNvPicPr>
                <a:picLocks noChangeAspect="1"/>
              </p:cNvPicPr>
              <p:nvPr/>
            </p:nvPicPr>
            <p:blipFill>
              <a:blip r:embed="rId7" cstate="print"/>
              <a:stretch>
                <a:fillRect/>
              </a:stretch>
            </p:blipFill>
            <p:spPr bwMode="gray">
              <a:xfrm>
                <a:off x="3728393" y="4175535"/>
                <a:ext cx="417163" cy="341314"/>
              </a:xfrm>
              <a:prstGeom prst="rect">
                <a:avLst/>
              </a:prstGeom>
            </p:spPr>
          </p:pic>
          <p:sp>
            <p:nvSpPr>
              <p:cNvPr id="51" name="Freeform 159">
                <a:extLst>
                  <a:ext uri="{FF2B5EF4-FFF2-40B4-BE49-F238E27FC236}">
                    <a16:creationId xmlns:a16="http://schemas.microsoft.com/office/drawing/2014/main" id="{58A602C2-D400-4F36-BB08-D907E9D44DEC}"/>
                  </a:ext>
                </a:extLst>
              </p:cNvPr>
              <p:cNvSpPr/>
              <p:nvPr/>
            </p:nvSpPr>
            <p:spPr bwMode="gray">
              <a:xfrm flipH="1">
                <a:off x="2736589" y="5253616"/>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52" name="图片 31">
                <a:extLst>
                  <a:ext uri="{FF2B5EF4-FFF2-40B4-BE49-F238E27FC236}">
                    <a16:creationId xmlns:a16="http://schemas.microsoft.com/office/drawing/2014/main" id="{87425169-EC47-499C-86BF-D84BCADEE4BF}"/>
                  </a:ext>
                </a:extLst>
              </p:cNvPr>
              <p:cNvPicPr>
                <a:picLocks noChangeAspect="1"/>
              </p:cNvPicPr>
              <p:nvPr/>
            </p:nvPicPr>
            <p:blipFill>
              <a:blip r:embed="rId6"/>
              <a:stretch>
                <a:fillRect/>
              </a:stretch>
            </p:blipFill>
            <p:spPr bwMode="gray">
              <a:xfrm>
                <a:off x="3486415" y="5376860"/>
                <a:ext cx="466668" cy="389308"/>
              </a:xfrm>
              <a:prstGeom prst="rect">
                <a:avLst/>
              </a:prstGeom>
            </p:spPr>
          </p:pic>
          <p:pic>
            <p:nvPicPr>
              <p:cNvPr id="53" name="图片 51" descr="交换机.png">
                <a:extLst>
                  <a:ext uri="{FF2B5EF4-FFF2-40B4-BE49-F238E27FC236}">
                    <a16:creationId xmlns:a16="http://schemas.microsoft.com/office/drawing/2014/main" id="{7A1C409D-5F6C-4B7C-867E-83EB4654CF9A}"/>
                  </a:ext>
                </a:extLst>
              </p:cNvPr>
              <p:cNvPicPr>
                <a:picLocks noChangeAspect="1"/>
              </p:cNvPicPr>
              <p:nvPr/>
            </p:nvPicPr>
            <p:blipFill>
              <a:blip r:embed="rId7" cstate="print"/>
              <a:stretch>
                <a:fillRect/>
              </a:stretch>
            </p:blipFill>
            <p:spPr bwMode="gray">
              <a:xfrm>
                <a:off x="2981476" y="5035546"/>
                <a:ext cx="417163" cy="341314"/>
              </a:xfrm>
              <a:prstGeom prst="rect">
                <a:avLst/>
              </a:prstGeom>
            </p:spPr>
          </p:pic>
          <p:sp>
            <p:nvSpPr>
              <p:cNvPr id="54" name="Freeform 159">
                <a:extLst>
                  <a:ext uri="{FF2B5EF4-FFF2-40B4-BE49-F238E27FC236}">
                    <a16:creationId xmlns:a16="http://schemas.microsoft.com/office/drawing/2014/main" id="{6E8FACE1-7373-4B2C-93FA-EC809D27036C}"/>
                  </a:ext>
                </a:extLst>
              </p:cNvPr>
              <p:cNvSpPr/>
              <p:nvPr/>
            </p:nvSpPr>
            <p:spPr bwMode="gray">
              <a:xfrm flipH="1">
                <a:off x="6732458" y="4789157"/>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企业总部</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5" name="图片 25">
                <a:extLst>
                  <a:ext uri="{FF2B5EF4-FFF2-40B4-BE49-F238E27FC236}">
                    <a16:creationId xmlns:a16="http://schemas.microsoft.com/office/drawing/2014/main" id="{B163FE70-B2AE-4218-A74A-F19AFDEDDF99}"/>
                  </a:ext>
                </a:extLst>
              </p:cNvPr>
              <p:cNvPicPr>
                <a:picLocks noChangeAspect="1"/>
              </p:cNvPicPr>
              <p:nvPr/>
            </p:nvPicPr>
            <p:blipFill>
              <a:blip r:embed="rId6"/>
              <a:stretch>
                <a:fillRect/>
              </a:stretch>
            </p:blipFill>
            <p:spPr bwMode="gray">
              <a:xfrm>
                <a:off x="6479879" y="4909243"/>
                <a:ext cx="466668" cy="389308"/>
              </a:xfrm>
              <a:prstGeom prst="rect">
                <a:avLst/>
              </a:prstGeom>
            </p:spPr>
          </p:pic>
          <p:pic>
            <p:nvPicPr>
              <p:cNvPr id="56" name="图片 67">
                <a:extLst>
                  <a:ext uri="{FF2B5EF4-FFF2-40B4-BE49-F238E27FC236}">
                    <a16:creationId xmlns:a16="http://schemas.microsoft.com/office/drawing/2014/main" id="{926C7852-E1DD-46C4-841B-AA8A7776EC71}"/>
                  </a:ext>
                </a:extLst>
              </p:cNvPr>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7648173" y="5073618"/>
                <a:ext cx="417163" cy="342074"/>
              </a:xfrm>
              <a:prstGeom prst="rect">
                <a:avLst/>
              </a:prstGeom>
            </p:spPr>
          </p:pic>
          <p:pic>
            <p:nvPicPr>
              <p:cNvPr id="57" name="图片 14" descr="交换机.png">
                <a:extLst>
                  <a:ext uri="{FF2B5EF4-FFF2-40B4-BE49-F238E27FC236}">
                    <a16:creationId xmlns:a16="http://schemas.microsoft.com/office/drawing/2014/main" id="{165C6DF5-E979-4F44-B40C-364DB786506F}"/>
                  </a:ext>
                </a:extLst>
              </p:cNvPr>
              <p:cNvPicPr>
                <a:picLocks noChangeAspect="1"/>
              </p:cNvPicPr>
              <p:nvPr/>
            </p:nvPicPr>
            <p:blipFill>
              <a:blip r:embed="rId9" cstate="print"/>
              <a:stretch>
                <a:fillRect/>
              </a:stretch>
            </p:blipFill>
            <p:spPr bwMode="gray">
              <a:xfrm>
                <a:off x="7369868" y="4609439"/>
                <a:ext cx="420077" cy="343698"/>
              </a:xfrm>
              <a:prstGeom prst="rect">
                <a:avLst/>
              </a:prstGeom>
            </p:spPr>
          </p:pic>
          <p:sp>
            <p:nvSpPr>
              <p:cNvPr id="58" name="Freeform 159">
                <a:extLst>
                  <a:ext uri="{FF2B5EF4-FFF2-40B4-BE49-F238E27FC236}">
                    <a16:creationId xmlns:a16="http://schemas.microsoft.com/office/drawing/2014/main" id="{6EDCCCD7-8639-4F1B-A623-4B4D1CAA28EC}"/>
                  </a:ext>
                </a:extLst>
              </p:cNvPr>
              <p:cNvSpPr/>
              <p:nvPr/>
            </p:nvSpPr>
            <p:spPr bwMode="gray">
              <a:xfrm flipH="1">
                <a:off x="4872036" y="393849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59" name="图片 31">
                <a:extLst>
                  <a:ext uri="{FF2B5EF4-FFF2-40B4-BE49-F238E27FC236}">
                    <a16:creationId xmlns:a16="http://schemas.microsoft.com/office/drawing/2014/main" id="{A7E7FBED-271C-4247-93E4-BBBE461E8402}"/>
                  </a:ext>
                </a:extLst>
              </p:cNvPr>
              <p:cNvPicPr>
                <a:picLocks noChangeAspect="1"/>
              </p:cNvPicPr>
              <p:nvPr/>
            </p:nvPicPr>
            <p:blipFill>
              <a:blip r:embed="rId6"/>
              <a:stretch>
                <a:fillRect/>
              </a:stretch>
            </p:blipFill>
            <p:spPr bwMode="gray">
              <a:xfrm>
                <a:off x="5621862" y="4061737"/>
                <a:ext cx="466668" cy="389308"/>
              </a:xfrm>
              <a:prstGeom prst="rect">
                <a:avLst/>
              </a:prstGeom>
            </p:spPr>
          </p:pic>
          <p:pic>
            <p:nvPicPr>
              <p:cNvPr id="60" name="图片 51" descr="交换机.png">
                <a:extLst>
                  <a:ext uri="{FF2B5EF4-FFF2-40B4-BE49-F238E27FC236}">
                    <a16:creationId xmlns:a16="http://schemas.microsoft.com/office/drawing/2014/main" id="{A56D425D-951C-4B2F-8B8B-E0F76243D402}"/>
                  </a:ext>
                </a:extLst>
              </p:cNvPr>
              <p:cNvPicPr>
                <a:picLocks noChangeAspect="1"/>
              </p:cNvPicPr>
              <p:nvPr/>
            </p:nvPicPr>
            <p:blipFill>
              <a:blip r:embed="rId7" cstate="print"/>
              <a:stretch>
                <a:fillRect/>
              </a:stretch>
            </p:blipFill>
            <p:spPr bwMode="gray">
              <a:xfrm>
                <a:off x="4599068" y="3918545"/>
                <a:ext cx="417163" cy="341314"/>
              </a:xfrm>
              <a:prstGeom prst="rect">
                <a:avLst/>
              </a:prstGeom>
            </p:spPr>
          </p:pic>
          <p:sp>
            <p:nvSpPr>
              <p:cNvPr id="64" name="TextBox 63">
                <a:extLst>
                  <a:ext uri="{FF2B5EF4-FFF2-40B4-BE49-F238E27FC236}">
                    <a16:creationId xmlns:a16="http://schemas.microsoft.com/office/drawing/2014/main" id="{A20435B6-D3B0-4EAB-AE99-B1714BC0AB65}"/>
                  </a:ext>
                </a:extLst>
              </p:cNvPr>
              <p:cNvSpPr txBox="1"/>
              <p:nvPr/>
            </p:nvSpPr>
            <p:spPr bwMode="gray">
              <a:xfrm>
                <a:off x="7511404" y="5506709"/>
                <a:ext cx="1011815" cy="584775"/>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Overlay</a:t>
                </a:r>
              </a:p>
              <a:p>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虚拟网络</a:t>
                </a:r>
              </a:p>
            </p:txBody>
          </p:sp>
          <p:cxnSp>
            <p:nvCxnSpPr>
              <p:cNvPr id="70" name="直接箭头连接符 84">
                <a:extLst>
                  <a:ext uri="{FF2B5EF4-FFF2-40B4-BE49-F238E27FC236}">
                    <a16:creationId xmlns:a16="http://schemas.microsoft.com/office/drawing/2014/main" id="{8DD8301D-8D6E-43CF-9D9F-E661323CBAF8}"/>
                  </a:ext>
                </a:extLst>
              </p:cNvPr>
              <p:cNvCxnSpPr>
                <a:cxnSpLocks/>
                <a:stCxn id="10" idx="2"/>
                <a:endCxn id="49" idx="0"/>
              </p:cNvCxnSpPr>
              <p:nvPr/>
            </p:nvCxnSpPr>
            <p:spPr bwMode="gray">
              <a:xfrm flipH="1">
                <a:off x="4466666" y="2941585"/>
                <a:ext cx="571241" cy="1575264"/>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1" name="直接箭头连接符 84">
                <a:extLst>
                  <a:ext uri="{FF2B5EF4-FFF2-40B4-BE49-F238E27FC236}">
                    <a16:creationId xmlns:a16="http://schemas.microsoft.com/office/drawing/2014/main" id="{559C6D3A-7F33-4CB3-88F8-2FE98BAB3E4B}"/>
                  </a:ext>
                </a:extLst>
              </p:cNvPr>
              <p:cNvCxnSpPr>
                <a:cxnSpLocks/>
                <a:stCxn id="10" idx="2"/>
                <a:endCxn id="52" idx="0"/>
              </p:cNvCxnSpPr>
              <p:nvPr/>
            </p:nvCxnSpPr>
            <p:spPr bwMode="gray">
              <a:xfrm flipH="1">
                <a:off x="3719749" y="2941585"/>
                <a:ext cx="1318158" cy="2435275"/>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66" name="文本框 18">
                <a:extLst>
                  <a:ext uri="{FF2B5EF4-FFF2-40B4-BE49-F238E27FC236}">
                    <a16:creationId xmlns:a16="http://schemas.microsoft.com/office/drawing/2014/main" id="{9344F353-C434-4598-8AF0-37426FE3FA27}"/>
                  </a:ext>
                </a:extLst>
              </p:cNvPr>
              <p:cNvSpPr txBox="1"/>
              <p:nvPr/>
            </p:nvSpPr>
            <p:spPr bwMode="gray">
              <a:xfrm>
                <a:off x="3452627" y="5167617"/>
                <a:ext cx="593201"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18">
                <a:extLst>
                  <a:ext uri="{FF2B5EF4-FFF2-40B4-BE49-F238E27FC236}">
                    <a16:creationId xmlns:a16="http://schemas.microsoft.com/office/drawing/2014/main" id="{931DDBE9-8091-4972-AFD5-DA1A7EDEE394}"/>
                  </a:ext>
                </a:extLst>
              </p:cNvPr>
              <p:cNvSpPr txBox="1"/>
              <p:nvPr/>
            </p:nvSpPr>
            <p:spPr bwMode="gray">
              <a:xfrm>
                <a:off x="4205366" y="4318353"/>
                <a:ext cx="587380"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文本框 18">
                <a:extLst>
                  <a:ext uri="{FF2B5EF4-FFF2-40B4-BE49-F238E27FC236}">
                    <a16:creationId xmlns:a16="http://schemas.microsoft.com/office/drawing/2014/main" id="{17BF6F03-4799-431C-9D3B-76F8C2E2A66E}"/>
                  </a:ext>
                </a:extLst>
              </p:cNvPr>
              <p:cNvSpPr txBox="1"/>
              <p:nvPr/>
            </p:nvSpPr>
            <p:spPr bwMode="gray">
              <a:xfrm>
                <a:off x="5587472" y="3855148"/>
                <a:ext cx="579176"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2" name="直接箭头连接符 84">
                <a:extLst>
                  <a:ext uri="{FF2B5EF4-FFF2-40B4-BE49-F238E27FC236}">
                    <a16:creationId xmlns:a16="http://schemas.microsoft.com/office/drawing/2014/main" id="{1F21F61A-3A03-4A86-ABCC-C3D5DB4D995C}"/>
                  </a:ext>
                </a:extLst>
              </p:cNvPr>
              <p:cNvCxnSpPr>
                <a:cxnSpLocks/>
                <a:stCxn id="10" idx="2"/>
                <a:endCxn id="55" idx="0"/>
              </p:cNvCxnSpPr>
              <p:nvPr/>
            </p:nvCxnSpPr>
            <p:spPr bwMode="gray">
              <a:xfrm>
                <a:off x="5037907" y="2941585"/>
                <a:ext cx="1675306" cy="1967658"/>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69" name="文本框 18">
                <a:extLst>
                  <a:ext uri="{FF2B5EF4-FFF2-40B4-BE49-F238E27FC236}">
                    <a16:creationId xmlns:a16="http://schemas.microsoft.com/office/drawing/2014/main" id="{D8469426-31EE-42F9-B5B9-D70612166A7F}"/>
                  </a:ext>
                </a:extLst>
              </p:cNvPr>
              <p:cNvSpPr txBox="1"/>
              <p:nvPr/>
            </p:nvSpPr>
            <p:spPr bwMode="gray">
              <a:xfrm>
                <a:off x="6368007" y="4688723"/>
                <a:ext cx="858706"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b="1"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Rectangle 7">
                <a:extLst>
                  <a:ext uri="{FF2B5EF4-FFF2-40B4-BE49-F238E27FC236}">
                    <a16:creationId xmlns:a16="http://schemas.microsoft.com/office/drawing/2014/main" id="{E626E843-5B6A-4AB0-B16A-0B83CD9C9F71}"/>
                  </a:ext>
                </a:extLst>
              </p:cNvPr>
              <p:cNvSpPr/>
              <p:nvPr/>
            </p:nvSpPr>
            <p:spPr bwMode="gray">
              <a:xfrm>
                <a:off x="4531639" y="3302884"/>
                <a:ext cx="1164980" cy="286327"/>
              </a:xfrm>
              <a:prstGeom prst="rect">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latin typeface="Huawei Sans" panose="020C0503030203020204" pitchFamily="34" charset="0"/>
                    <a:ea typeface="方正兰亭黑简体" panose="02000000000000000000" pitchFamily="2" charset="-122"/>
                    <a:sym typeface="Huawei Sans" panose="020C0503030203020204" pitchFamily="34" charset="0"/>
                  </a:rPr>
                  <a:t>统一纳管</a:t>
                </a: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89" name="Straight Connector 88">
              <a:extLst>
                <a:ext uri="{FF2B5EF4-FFF2-40B4-BE49-F238E27FC236}">
                  <a16:creationId xmlns:a16="http://schemas.microsoft.com/office/drawing/2014/main" id="{EFF1DD90-154F-4772-B3B3-1A492F101EC1}"/>
                </a:ext>
              </a:extLst>
            </p:cNvPr>
            <p:cNvCxnSpPr>
              <a:cxnSpLocks/>
            </p:cNvCxnSpPr>
            <p:nvPr/>
          </p:nvCxnSpPr>
          <p:spPr bwMode="gray">
            <a:xfrm>
              <a:off x="4044915" y="3106635"/>
              <a:ext cx="1620692" cy="2382635"/>
            </a:xfrm>
            <a:prstGeom prst="line">
              <a:avLst/>
            </a:prstGeom>
            <a:noFill/>
            <a:ln w="19050" cap="flat" cmpd="sng" algn="ctr">
              <a:solidFill>
                <a:srgbClr val="30B5C5"/>
              </a:solidFill>
              <a:prstDash val="dash"/>
              <a:miter lim="800000"/>
            </a:ln>
            <a:effectLst/>
          </p:spPr>
        </p:cxnSp>
        <p:cxnSp>
          <p:nvCxnSpPr>
            <p:cNvPr id="96" name="Straight Connector 95">
              <a:extLst>
                <a:ext uri="{FF2B5EF4-FFF2-40B4-BE49-F238E27FC236}">
                  <a16:creationId xmlns:a16="http://schemas.microsoft.com/office/drawing/2014/main" id="{3DFDE75F-C569-4021-8786-6BE674D1959F}"/>
                </a:ext>
              </a:extLst>
            </p:cNvPr>
            <p:cNvCxnSpPr>
              <a:cxnSpLocks/>
            </p:cNvCxnSpPr>
            <p:nvPr/>
          </p:nvCxnSpPr>
          <p:spPr bwMode="gray">
            <a:xfrm flipV="1">
              <a:off x="4044915" y="5808821"/>
              <a:ext cx="1620692" cy="18910"/>
            </a:xfrm>
            <a:prstGeom prst="line">
              <a:avLst/>
            </a:prstGeom>
            <a:noFill/>
            <a:ln w="19050" cap="flat" cmpd="sng" algn="ctr">
              <a:solidFill>
                <a:srgbClr val="30B5C5"/>
              </a:solidFill>
              <a:prstDash val="dash"/>
              <a:miter lim="800000"/>
            </a:ln>
            <a:effectLst/>
          </p:spPr>
        </p:cxnSp>
        <p:sp>
          <p:nvSpPr>
            <p:cNvPr id="104" name="Can 41">
              <a:extLst>
                <a:ext uri="{FF2B5EF4-FFF2-40B4-BE49-F238E27FC236}">
                  <a16:creationId xmlns:a16="http://schemas.microsoft.com/office/drawing/2014/main" id="{9577BB52-4E17-4923-81C3-B2FEEF096F69}"/>
                </a:ext>
              </a:extLst>
            </p:cNvPr>
            <p:cNvSpPr/>
            <p:nvPr/>
          </p:nvSpPr>
          <p:spPr bwMode="gray">
            <a:xfrm rot="4765598">
              <a:off x="7306860" y="4134589"/>
              <a:ext cx="166846" cy="2602133"/>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TextBox 104">
              <a:extLst>
                <a:ext uri="{FF2B5EF4-FFF2-40B4-BE49-F238E27FC236}">
                  <a16:creationId xmlns:a16="http://schemas.microsoft.com/office/drawing/2014/main" id="{CC3A803D-DB27-4D7B-B424-1A875DA98450}"/>
                </a:ext>
              </a:extLst>
            </p:cNvPr>
            <p:cNvSpPr txBox="1"/>
            <p:nvPr/>
          </p:nvSpPr>
          <p:spPr bwMode="gray">
            <a:xfrm rot="20992814">
              <a:off x="6744224" y="5294565"/>
              <a:ext cx="1226638" cy="276999"/>
            </a:xfrm>
            <a:prstGeom prst="rect">
              <a:avLst/>
            </a:prstGeom>
            <a:noFill/>
          </p:spPr>
          <p:txBody>
            <a:bodyPr wrap="square" rtlCol="0">
              <a:spAutoFit/>
            </a:bodyPr>
            <a:lstStyle/>
            <a:p>
              <a:r>
                <a:rPr lang="en-US" sz="1200" dirty="0">
                  <a:latin typeface="Huawei Sans" panose="020C0503030203020204" pitchFamily="34" charset="0"/>
                  <a:ea typeface="方正兰亭黑简体" panose="02000000000000000000" pitchFamily="2" charset="-122"/>
                  <a:sym typeface="Huawei Sans" panose="020C0503030203020204" pitchFamily="34" charset="0"/>
                </a:rPr>
                <a:t>IP O</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verlay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Can 41">
              <a:extLst>
                <a:ext uri="{FF2B5EF4-FFF2-40B4-BE49-F238E27FC236}">
                  <a16:creationId xmlns:a16="http://schemas.microsoft.com/office/drawing/2014/main" id="{0FCB04BF-AE02-4294-9FAD-2A1D044EF171}"/>
                </a:ext>
              </a:extLst>
            </p:cNvPr>
            <p:cNvSpPr/>
            <p:nvPr/>
          </p:nvSpPr>
          <p:spPr bwMode="gray">
            <a:xfrm rot="6158787">
              <a:off x="7676439" y="4047725"/>
              <a:ext cx="166846" cy="1854359"/>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TextBox 108">
              <a:extLst>
                <a:ext uri="{FF2B5EF4-FFF2-40B4-BE49-F238E27FC236}">
                  <a16:creationId xmlns:a16="http://schemas.microsoft.com/office/drawing/2014/main" id="{87C99C26-0C1C-446E-89FC-5C28604F1AFE}"/>
                </a:ext>
              </a:extLst>
            </p:cNvPr>
            <p:cNvSpPr txBox="1"/>
            <p:nvPr/>
          </p:nvSpPr>
          <p:spPr bwMode="gray">
            <a:xfrm rot="786003">
              <a:off x="7158998" y="4828361"/>
              <a:ext cx="1226638" cy="276999"/>
            </a:xfrm>
            <a:prstGeom prst="rect">
              <a:avLst/>
            </a:prstGeom>
            <a:noFill/>
          </p:spPr>
          <p:txBody>
            <a:bodyPr wrap="square" rtlCol="0">
              <a:spAutoFit/>
            </a:bodyPr>
            <a:lstStyle/>
            <a:p>
              <a:r>
                <a:rPr lang="en-US" sz="1200" dirty="0">
                  <a:latin typeface="Huawei Sans" panose="020C0503030203020204" pitchFamily="34" charset="0"/>
                  <a:ea typeface="方正兰亭黑简体" panose="02000000000000000000" pitchFamily="2" charset="-122"/>
                  <a:sym typeface="Huawei Sans" panose="020C0503030203020204" pitchFamily="34" charset="0"/>
                </a:rPr>
                <a:t>IP O</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verlay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Can 41">
              <a:extLst>
                <a:ext uri="{FF2B5EF4-FFF2-40B4-BE49-F238E27FC236}">
                  <a16:creationId xmlns:a16="http://schemas.microsoft.com/office/drawing/2014/main" id="{81AD5D56-8560-4C6B-AF6C-3034C41AF4AA}"/>
                </a:ext>
              </a:extLst>
            </p:cNvPr>
            <p:cNvSpPr/>
            <p:nvPr/>
          </p:nvSpPr>
          <p:spPr bwMode="gray">
            <a:xfrm rot="8163254">
              <a:off x="8188280" y="4106616"/>
              <a:ext cx="166846" cy="1194575"/>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TextBox 112">
              <a:extLst>
                <a:ext uri="{FF2B5EF4-FFF2-40B4-BE49-F238E27FC236}">
                  <a16:creationId xmlns:a16="http://schemas.microsoft.com/office/drawing/2014/main" id="{D0875D40-CB1A-4D4E-9A1F-66BA115AFBE6}"/>
                </a:ext>
              </a:extLst>
            </p:cNvPr>
            <p:cNvSpPr txBox="1"/>
            <p:nvPr/>
          </p:nvSpPr>
          <p:spPr bwMode="gray">
            <a:xfrm rot="2790470">
              <a:off x="7628444" y="4535213"/>
              <a:ext cx="1226638" cy="276999"/>
            </a:xfrm>
            <a:prstGeom prst="rect">
              <a:avLst/>
            </a:prstGeom>
            <a:noFill/>
          </p:spPr>
          <p:txBody>
            <a:bodyPr wrap="square" rtlCol="0">
              <a:spAutoFit/>
            </a:bodyPr>
            <a:lstStyle/>
            <a:p>
              <a:r>
                <a:rPr lang="en-US" sz="1200" dirty="0">
                  <a:latin typeface="Huawei Sans" panose="020C0503030203020204" pitchFamily="34" charset="0"/>
                  <a:ea typeface="方正兰亭黑简体" panose="02000000000000000000" pitchFamily="2" charset="-122"/>
                  <a:sym typeface="Huawei Sans" panose="020C0503030203020204" pitchFamily="34" charset="0"/>
                </a:rPr>
                <a:t>IP O</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verlay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02171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cs typeface="+mn-ea"/>
                <a:sym typeface="Huawei Sans" panose="020C0503030203020204" pitchFamily="34" charset="0"/>
              </a:rPr>
              <a:t>RR</a:t>
            </a:r>
            <a:r>
              <a:rPr lang="zh-CN" altLang="en-US" dirty="0">
                <a:cs typeface="+mn-ea"/>
                <a:sym typeface="Huawei Sans" panose="020C0503030203020204" pitchFamily="34" charset="0"/>
              </a:rPr>
              <a:t>概述</a:t>
            </a:r>
          </a:p>
        </p:txBody>
      </p:sp>
      <p:sp>
        <p:nvSpPr>
          <p:cNvPr id="4" name="Text Placeholder 3">
            <a:extLst>
              <a:ext uri="{FF2B5EF4-FFF2-40B4-BE49-F238E27FC236}">
                <a16:creationId xmlns:a16="http://schemas.microsoft.com/office/drawing/2014/main" id="{D7A0A4F8-E2DA-4AB4-A2CA-6678695CB8EF}"/>
              </a:ext>
            </a:extLst>
          </p:cNvPr>
          <p:cNvSpPr>
            <a:spLocks noGrp="1"/>
          </p:cNvSpPr>
          <p:nvPr>
            <p:ph type="body" sz="quarter" idx="10"/>
          </p:nvPr>
        </p:nvSpPr>
        <p:spPr bwMode="gray">
          <a:xfrm>
            <a:off x="6095999" y="1047750"/>
            <a:ext cx="5616575" cy="4879805"/>
          </a:xfrm>
        </p:spPr>
        <p:txBody>
          <a:bodyPr/>
          <a:lstStyle/>
          <a:p>
            <a:r>
              <a:rPr lang="en-US" altLang="zh-CN" sz="1800" dirty="0"/>
              <a:t>RR</a:t>
            </a:r>
            <a:r>
              <a:rPr lang="zh-CN" altLang="en-US" sz="1800" dirty="0"/>
              <a:t>全称为</a:t>
            </a:r>
            <a:r>
              <a:rPr lang="en-US" altLang="zh-CN" sz="1800" dirty="0"/>
              <a:t>Router Reflector</a:t>
            </a:r>
            <a:r>
              <a:rPr lang="zh-CN" altLang="en-US" sz="1800" dirty="0"/>
              <a:t>，用于传递</a:t>
            </a:r>
            <a:r>
              <a:rPr lang="en-US" altLang="zh-CN" sz="1800" dirty="0"/>
              <a:t>BGP</a:t>
            </a:r>
            <a:r>
              <a:rPr lang="zh-CN" altLang="en-US" sz="1800" dirty="0"/>
              <a:t>路由，同时减少</a:t>
            </a:r>
            <a:r>
              <a:rPr lang="en-US" altLang="zh-CN" sz="1800" dirty="0"/>
              <a:t>BGP</a:t>
            </a:r>
            <a:r>
              <a:rPr lang="zh-CN" altLang="en-US" sz="1800" dirty="0"/>
              <a:t>邻居数量。</a:t>
            </a:r>
          </a:p>
          <a:p>
            <a:r>
              <a:rPr lang="zh-CN" altLang="en-US" sz="1800" dirty="0"/>
              <a:t>在华为</a:t>
            </a:r>
            <a:r>
              <a:rPr lang="en-US" altLang="zh-CN" sz="1800" dirty="0"/>
              <a:t>SD-WAN</a:t>
            </a:r>
            <a:r>
              <a:rPr lang="zh-CN" altLang="en-US" sz="1800" dirty="0"/>
              <a:t>解决方案中，</a:t>
            </a:r>
            <a:r>
              <a:rPr lang="en-US" altLang="zh-CN" sz="1800" dirty="0"/>
              <a:t>RR</a:t>
            </a:r>
            <a:r>
              <a:rPr lang="zh-CN" altLang="en-US" sz="1800" dirty="0"/>
              <a:t>还有控制路由与网络拓扑的功能，因此在</a:t>
            </a:r>
            <a:r>
              <a:rPr lang="en-US" altLang="zh-CN" sz="1800" dirty="0"/>
              <a:t>SD-WAN</a:t>
            </a:r>
            <a:r>
              <a:rPr lang="zh-CN" altLang="en-US" sz="1800" dirty="0"/>
              <a:t>中，</a:t>
            </a:r>
            <a:r>
              <a:rPr lang="en-US" altLang="zh-CN" sz="1800" dirty="0"/>
              <a:t>RR</a:t>
            </a:r>
            <a:r>
              <a:rPr lang="zh-CN" altLang="en-US" sz="1800" dirty="0"/>
              <a:t>又被称为区域控制器。</a:t>
            </a:r>
          </a:p>
          <a:p>
            <a:r>
              <a:rPr lang="en-US" altLang="zh-CN" sz="1800" dirty="0"/>
              <a:t>RR</a:t>
            </a:r>
            <a:r>
              <a:rPr lang="zh-CN" altLang="en-US" sz="1800" dirty="0"/>
              <a:t>和</a:t>
            </a:r>
            <a:r>
              <a:rPr lang="en-US" altLang="zh-CN" sz="1800" dirty="0"/>
              <a:t>EDGE</a:t>
            </a:r>
            <a:r>
              <a:rPr lang="zh-CN" altLang="en-US" sz="1800" dirty="0"/>
              <a:t>都被</a:t>
            </a:r>
            <a:r>
              <a:rPr lang="en-US" altLang="zh-CN" sz="1800" dirty="0" err="1"/>
              <a:t>iMaster</a:t>
            </a:r>
            <a:r>
              <a:rPr lang="en-US" altLang="zh-CN" sz="1800" dirty="0"/>
              <a:t> NCE</a:t>
            </a:r>
            <a:r>
              <a:rPr lang="zh-CN" altLang="en-US" sz="1800" dirty="0"/>
              <a:t>纳管。</a:t>
            </a:r>
          </a:p>
          <a:p>
            <a:r>
              <a:rPr lang="en-US" altLang="zh-CN" sz="1800" dirty="0"/>
              <a:t>RR</a:t>
            </a:r>
            <a:r>
              <a:rPr lang="zh-CN" altLang="en-US" sz="1800" dirty="0"/>
              <a:t>之间、</a:t>
            </a:r>
            <a:r>
              <a:rPr lang="en-US" altLang="zh-CN" sz="1800" dirty="0"/>
              <a:t>RR</a:t>
            </a:r>
            <a:r>
              <a:rPr lang="zh-CN" altLang="en-US" sz="1800" dirty="0"/>
              <a:t>和</a:t>
            </a:r>
            <a:r>
              <a:rPr lang="en-US" altLang="zh-CN" sz="1800" dirty="0"/>
              <a:t>EDGE</a:t>
            </a:r>
            <a:r>
              <a:rPr lang="zh-CN" altLang="en-US" sz="1800" dirty="0"/>
              <a:t>之间建立控制通道。</a:t>
            </a:r>
          </a:p>
          <a:p>
            <a:r>
              <a:rPr lang="en-US" altLang="zh-CN" sz="1800" dirty="0"/>
              <a:t>RR</a:t>
            </a:r>
            <a:r>
              <a:rPr lang="zh-CN" altLang="en-US" sz="1800" dirty="0"/>
              <a:t>在</a:t>
            </a:r>
            <a:r>
              <a:rPr lang="en-US" altLang="zh-CN" sz="1800" dirty="0" err="1"/>
              <a:t>iMaster</a:t>
            </a:r>
            <a:r>
              <a:rPr lang="en-US" altLang="zh-CN" sz="1800" dirty="0"/>
              <a:t> NCE</a:t>
            </a:r>
            <a:r>
              <a:rPr lang="zh-CN" altLang="en-US" sz="1800" dirty="0"/>
              <a:t>的管理下工作，根据</a:t>
            </a:r>
            <a:r>
              <a:rPr lang="en-US" altLang="zh-CN" sz="1800" dirty="0"/>
              <a:t>Overlay</a:t>
            </a:r>
            <a:r>
              <a:rPr lang="zh-CN" altLang="en-US" sz="1800" dirty="0"/>
              <a:t>网络拓扑模型控制</a:t>
            </a:r>
            <a:r>
              <a:rPr lang="en-US" altLang="zh-CN" sz="1800" dirty="0"/>
              <a:t>EDGE</a:t>
            </a:r>
            <a:r>
              <a:rPr lang="zh-CN" altLang="en-US" sz="1800" dirty="0"/>
              <a:t>的路由收发，最终实现站点间按照用户设计的</a:t>
            </a:r>
            <a:r>
              <a:rPr lang="en-US" altLang="zh-CN" sz="1800" dirty="0"/>
              <a:t>Overlay</a:t>
            </a:r>
            <a:r>
              <a:rPr lang="zh-CN" altLang="en-US" sz="1800" dirty="0"/>
              <a:t>拓扑模式进行互访。</a:t>
            </a:r>
          </a:p>
          <a:p>
            <a:endParaRPr lang="en-US" dirty="0"/>
          </a:p>
        </p:txBody>
      </p:sp>
      <p:grpSp>
        <p:nvGrpSpPr>
          <p:cNvPr id="3" name="Group 2">
            <a:extLst>
              <a:ext uri="{FF2B5EF4-FFF2-40B4-BE49-F238E27FC236}">
                <a16:creationId xmlns:a16="http://schemas.microsoft.com/office/drawing/2014/main" id="{DC1D58DA-E145-4A51-B584-3236673CA796}"/>
              </a:ext>
            </a:extLst>
          </p:cNvPr>
          <p:cNvGrpSpPr/>
          <p:nvPr/>
        </p:nvGrpSpPr>
        <p:grpSpPr bwMode="gray">
          <a:xfrm>
            <a:off x="735055" y="1481826"/>
            <a:ext cx="5419412" cy="4480561"/>
            <a:chOff x="735055" y="1481826"/>
            <a:chExt cx="5419412" cy="4480561"/>
          </a:xfrm>
        </p:grpSpPr>
        <p:sp>
          <p:nvSpPr>
            <p:cNvPr id="45" name="Freeform 159">
              <a:extLst>
                <a:ext uri="{FF2B5EF4-FFF2-40B4-BE49-F238E27FC236}">
                  <a16:creationId xmlns:a16="http://schemas.microsoft.com/office/drawing/2014/main" id="{E0D98754-7F88-4B17-AE07-66524767C3C6}"/>
                </a:ext>
              </a:extLst>
            </p:cNvPr>
            <p:cNvSpPr/>
            <p:nvPr/>
          </p:nvSpPr>
          <p:spPr bwMode="gray">
            <a:xfrm flipH="1">
              <a:off x="735055" y="3438448"/>
              <a:ext cx="1391166" cy="7272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总部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p>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数据中心站点</a:t>
              </a:r>
            </a:p>
          </p:txBody>
        </p:sp>
        <p:sp>
          <p:nvSpPr>
            <p:cNvPr id="46" name="Freeform 159">
              <a:extLst>
                <a:ext uri="{FF2B5EF4-FFF2-40B4-BE49-F238E27FC236}">
                  <a16:creationId xmlns:a16="http://schemas.microsoft.com/office/drawing/2014/main" id="{46EC5659-358E-4D22-8443-A5C200FCD93C}"/>
                </a:ext>
              </a:extLst>
            </p:cNvPr>
            <p:cNvSpPr/>
            <p:nvPr/>
          </p:nvSpPr>
          <p:spPr bwMode="gray">
            <a:xfrm flipH="1">
              <a:off x="4945907" y="4527163"/>
              <a:ext cx="1037943" cy="5425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分支站点</a:t>
              </a:r>
            </a:p>
          </p:txBody>
        </p:sp>
        <p:sp>
          <p:nvSpPr>
            <p:cNvPr id="47" name="Freeform 159">
              <a:extLst>
                <a:ext uri="{FF2B5EF4-FFF2-40B4-BE49-F238E27FC236}">
                  <a16:creationId xmlns:a16="http://schemas.microsoft.com/office/drawing/2014/main" id="{6E406490-6115-45F1-A8F1-3D3A693DF7E9}"/>
                </a:ext>
              </a:extLst>
            </p:cNvPr>
            <p:cNvSpPr/>
            <p:nvPr/>
          </p:nvSpPr>
          <p:spPr bwMode="gray">
            <a:xfrm flipH="1">
              <a:off x="5116524" y="2926158"/>
              <a:ext cx="1037943" cy="5425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分支站点</a:t>
              </a:r>
            </a:p>
          </p:txBody>
        </p:sp>
        <p:cxnSp>
          <p:nvCxnSpPr>
            <p:cNvPr id="48" name="直接箭头连接符 34">
              <a:extLst>
                <a:ext uri="{FF2B5EF4-FFF2-40B4-BE49-F238E27FC236}">
                  <a16:creationId xmlns:a16="http://schemas.microsoft.com/office/drawing/2014/main" id="{483A6A1D-D26C-4C23-9290-C901473A16CB}"/>
                </a:ext>
              </a:extLst>
            </p:cNvPr>
            <p:cNvCxnSpPr>
              <a:cxnSpLocks/>
            </p:cNvCxnSpPr>
            <p:nvPr/>
          </p:nvCxnSpPr>
          <p:spPr bwMode="gray">
            <a:xfrm>
              <a:off x="4596909" y="2054664"/>
              <a:ext cx="0" cy="2563152"/>
            </a:xfrm>
            <a:prstGeom prst="straightConnector1">
              <a:avLst/>
            </a:prstGeom>
            <a:ln w="19050">
              <a:solidFill>
                <a:srgbClr val="30B5C5"/>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35">
              <a:extLst>
                <a:ext uri="{FF2B5EF4-FFF2-40B4-BE49-F238E27FC236}">
                  <a16:creationId xmlns:a16="http://schemas.microsoft.com/office/drawing/2014/main" id="{A25A36CF-1B06-4DF3-81B0-64CB2BA6FB91}"/>
                </a:ext>
              </a:extLst>
            </p:cNvPr>
            <p:cNvCxnSpPr/>
            <p:nvPr/>
          </p:nvCxnSpPr>
          <p:spPr bwMode="gray">
            <a:xfrm>
              <a:off x="2265088" y="2054664"/>
              <a:ext cx="0" cy="1624648"/>
            </a:xfrm>
            <a:prstGeom prst="straightConnector1">
              <a:avLst/>
            </a:prstGeom>
            <a:ln w="19050">
              <a:solidFill>
                <a:srgbClr val="30B5C5"/>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36">
              <a:extLst>
                <a:ext uri="{FF2B5EF4-FFF2-40B4-BE49-F238E27FC236}">
                  <a16:creationId xmlns:a16="http://schemas.microsoft.com/office/drawing/2014/main" id="{4673DF74-ADCD-4905-8073-782FE88B56AE}"/>
                </a:ext>
              </a:extLst>
            </p:cNvPr>
            <p:cNvCxnSpPr>
              <a:cxnSpLocks/>
            </p:cNvCxnSpPr>
            <p:nvPr/>
          </p:nvCxnSpPr>
          <p:spPr bwMode="gray">
            <a:xfrm>
              <a:off x="4877700" y="2054664"/>
              <a:ext cx="0" cy="1011820"/>
            </a:xfrm>
            <a:prstGeom prst="straightConnector1">
              <a:avLst/>
            </a:prstGeom>
            <a:ln w="19050">
              <a:solidFill>
                <a:srgbClr val="30B5C5"/>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51" name="图片 39">
              <a:extLst>
                <a:ext uri="{FF2B5EF4-FFF2-40B4-BE49-F238E27FC236}">
                  <a16:creationId xmlns:a16="http://schemas.microsoft.com/office/drawing/2014/main" id="{E396C6A2-889F-48CB-95B3-43D8218E4D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552632" y="4622797"/>
              <a:ext cx="490909" cy="402545"/>
            </a:xfrm>
            <a:prstGeom prst="rect">
              <a:avLst/>
            </a:prstGeom>
          </p:spPr>
        </p:pic>
        <p:sp>
          <p:nvSpPr>
            <p:cNvPr id="52" name="圆角矩形 44">
              <a:extLst>
                <a:ext uri="{FF2B5EF4-FFF2-40B4-BE49-F238E27FC236}">
                  <a16:creationId xmlns:a16="http://schemas.microsoft.com/office/drawing/2014/main" id="{72A710B5-C765-4133-B6B4-9F41D5B44832}"/>
                </a:ext>
              </a:extLst>
            </p:cNvPr>
            <p:cNvSpPr/>
            <p:nvPr/>
          </p:nvSpPr>
          <p:spPr bwMode="gray">
            <a:xfrm>
              <a:off x="2183893" y="1481826"/>
              <a:ext cx="2729420" cy="572837"/>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3" name="直接箭头连接符 45">
              <a:extLst>
                <a:ext uri="{FF2B5EF4-FFF2-40B4-BE49-F238E27FC236}">
                  <a16:creationId xmlns:a16="http://schemas.microsoft.com/office/drawing/2014/main" id="{5A17FF47-B4D8-4DE8-8536-64F812561112}"/>
                </a:ext>
              </a:extLst>
            </p:cNvPr>
            <p:cNvCxnSpPr>
              <a:stCxn id="66" idx="1"/>
              <a:endCxn id="56" idx="3"/>
            </p:cNvCxnSpPr>
            <p:nvPr/>
          </p:nvCxnSpPr>
          <p:spPr bwMode="gray">
            <a:xfrm flipH="1">
              <a:off x="2463888" y="2933920"/>
              <a:ext cx="643772" cy="946665"/>
            </a:xfrm>
            <a:prstGeom prst="straightConnector1">
              <a:avLst/>
            </a:prstGeom>
            <a:ln w="19050">
              <a:solidFill>
                <a:srgbClr val="E28189"/>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46">
              <a:extLst>
                <a:ext uri="{FF2B5EF4-FFF2-40B4-BE49-F238E27FC236}">
                  <a16:creationId xmlns:a16="http://schemas.microsoft.com/office/drawing/2014/main" id="{99438BA8-B249-4117-AA59-BB7785DC6393}"/>
                </a:ext>
              </a:extLst>
            </p:cNvPr>
            <p:cNvCxnSpPr>
              <a:stCxn id="66" idx="3"/>
              <a:endCxn id="57" idx="1"/>
            </p:cNvCxnSpPr>
            <p:nvPr/>
          </p:nvCxnSpPr>
          <p:spPr bwMode="gray">
            <a:xfrm>
              <a:off x="3587227" y="2933920"/>
              <a:ext cx="1168172" cy="333837"/>
            </a:xfrm>
            <a:prstGeom prst="straightConnector1">
              <a:avLst/>
            </a:prstGeom>
            <a:ln w="19050">
              <a:solidFill>
                <a:srgbClr val="E28189"/>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47">
              <a:extLst>
                <a:ext uri="{FF2B5EF4-FFF2-40B4-BE49-F238E27FC236}">
                  <a16:creationId xmlns:a16="http://schemas.microsoft.com/office/drawing/2014/main" id="{B54D5600-402B-4145-B877-C8FD8E81656A}"/>
                </a:ext>
              </a:extLst>
            </p:cNvPr>
            <p:cNvCxnSpPr>
              <a:cxnSpLocks/>
              <a:stCxn id="66" idx="3"/>
              <a:endCxn id="51" idx="1"/>
            </p:cNvCxnSpPr>
            <p:nvPr/>
          </p:nvCxnSpPr>
          <p:spPr bwMode="gray">
            <a:xfrm>
              <a:off x="3587227" y="2933920"/>
              <a:ext cx="965405" cy="1890150"/>
            </a:xfrm>
            <a:prstGeom prst="straightConnector1">
              <a:avLst/>
            </a:prstGeom>
            <a:ln w="19050">
              <a:solidFill>
                <a:srgbClr val="E28189"/>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56" name="图片 48">
              <a:extLst>
                <a:ext uri="{FF2B5EF4-FFF2-40B4-BE49-F238E27FC236}">
                  <a16:creationId xmlns:a16="http://schemas.microsoft.com/office/drawing/2014/main" id="{B9860039-F22A-42BE-A90E-0D33DD7BDA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972979" y="3679312"/>
              <a:ext cx="490909" cy="402545"/>
            </a:xfrm>
            <a:prstGeom prst="rect">
              <a:avLst/>
            </a:prstGeom>
          </p:spPr>
        </p:pic>
        <p:pic>
          <p:nvPicPr>
            <p:cNvPr id="57" name="图片 49">
              <a:extLst>
                <a:ext uri="{FF2B5EF4-FFF2-40B4-BE49-F238E27FC236}">
                  <a16:creationId xmlns:a16="http://schemas.microsoft.com/office/drawing/2014/main" id="{2DE36CE3-D0FA-41A3-953E-1792300123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755399" y="3066484"/>
              <a:ext cx="490909" cy="402545"/>
            </a:xfrm>
            <a:prstGeom prst="rect">
              <a:avLst/>
            </a:prstGeom>
          </p:spPr>
        </p:pic>
        <p:cxnSp>
          <p:nvCxnSpPr>
            <p:cNvPr id="58" name="直接箭头连接符 50">
              <a:extLst>
                <a:ext uri="{FF2B5EF4-FFF2-40B4-BE49-F238E27FC236}">
                  <a16:creationId xmlns:a16="http://schemas.microsoft.com/office/drawing/2014/main" id="{FF04FEDC-94C3-4D18-9364-EA8E4B169BEC}"/>
                </a:ext>
              </a:extLst>
            </p:cNvPr>
            <p:cNvCxnSpPr/>
            <p:nvPr/>
          </p:nvCxnSpPr>
          <p:spPr bwMode="gray">
            <a:xfrm>
              <a:off x="1931676" y="5812346"/>
              <a:ext cx="344277" cy="0"/>
            </a:xfrm>
            <a:prstGeom prst="straightConnector1">
              <a:avLst/>
            </a:prstGeom>
            <a:ln w="19050">
              <a:solidFill>
                <a:srgbClr val="30B5C5"/>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文本框 51">
              <a:extLst>
                <a:ext uri="{FF2B5EF4-FFF2-40B4-BE49-F238E27FC236}">
                  <a16:creationId xmlns:a16="http://schemas.microsoft.com/office/drawing/2014/main" id="{21E67128-8F70-486D-9FDE-2AAB96C40D62}"/>
                </a:ext>
              </a:extLst>
            </p:cNvPr>
            <p:cNvSpPr txBox="1"/>
            <p:nvPr/>
          </p:nvSpPr>
          <p:spPr bwMode="gray">
            <a:xfrm>
              <a:off x="2260161" y="5685388"/>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管理通道</a:t>
              </a:r>
            </a:p>
          </p:txBody>
        </p:sp>
        <p:cxnSp>
          <p:nvCxnSpPr>
            <p:cNvPr id="63" name="直接箭头连接符 52">
              <a:extLst>
                <a:ext uri="{FF2B5EF4-FFF2-40B4-BE49-F238E27FC236}">
                  <a16:creationId xmlns:a16="http://schemas.microsoft.com/office/drawing/2014/main" id="{19121546-F410-45E1-B3EE-958FBB2CA23F}"/>
                </a:ext>
              </a:extLst>
            </p:cNvPr>
            <p:cNvCxnSpPr/>
            <p:nvPr/>
          </p:nvCxnSpPr>
          <p:spPr bwMode="gray">
            <a:xfrm>
              <a:off x="3099800" y="5812346"/>
              <a:ext cx="344277" cy="0"/>
            </a:xfrm>
            <a:prstGeom prst="straightConnector1">
              <a:avLst/>
            </a:prstGeom>
            <a:ln w="19050">
              <a:solidFill>
                <a:srgbClr val="E28189"/>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4" name="文本框 53">
              <a:extLst>
                <a:ext uri="{FF2B5EF4-FFF2-40B4-BE49-F238E27FC236}">
                  <a16:creationId xmlns:a16="http://schemas.microsoft.com/office/drawing/2014/main" id="{C7F66436-EE9B-4630-9617-A86BB677A45F}"/>
                </a:ext>
              </a:extLst>
            </p:cNvPr>
            <p:cNvSpPr txBox="1"/>
            <p:nvPr/>
          </p:nvSpPr>
          <p:spPr bwMode="gray">
            <a:xfrm>
              <a:off x="3428285" y="5685388"/>
              <a:ext cx="168026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BGP EVPN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对等体关系</a:t>
              </a:r>
            </a:p>
          </p:txBody>
        </p:sp>
        <p:sp>
          <p:nvSpPr>
            <p:cNvPr id="65" name="文本框 54">
              <a:extLst>
                <a:ext uri="{FF2B5EF4-FFF2-40B4-BE49-F238E27FC236}">
                  <a16:creationId xmlns:a16="http://schemas.microsoft.com/office/drawing/2014/main" id="{4ADDD50B-A61F-4ADA-9741-E131CC83A854}"/>
                </a:ext>
              </a:extLst>
            </p:cNvPr>
            <p:cNvSpPr txBox="1"/>
            <p:nvPr/>
          </p:nvSpPr>
          <p:spPr bwMode="gray">
            <a:xfrm>
              <a:off x="2229092" y="2557683"/>
              <a:ext cx="954107" cy="461665"/>
            </a:xfrm>
            <a:prstGeom prst="rect">
              <a:avLst/>
            </a:prstGeom>
            <a:noFill/>
          </p:spPr>
          <p:txBody>
            <a:bodyPr wrap="none" rtlCol="0">
              <a:spAutoFit/>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RR</a:t>
              </a:r>
            </a:p>
            <a:p>
              <a:pPr algn="ctr"/>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区域控制器</a:t>
              </a:r>
            </a:p>
          </p:txBody>
        </p:sp>
        <p:pic>
          <p:nvPicPr>
            <p:cNvPr id="66" name="图片 55">
              <a:extLst>
                <a:ext uri="{FF2B5EF4-FFF2-40B4-BE49-F238E27FC236}">
                  <a16:creationId xmlns:a16="http://schemas.microsoft.com/office/drawing/2014/main" id="{25F10E5B-3FDD-4870-9B3B-1B3AB8FBAF71}"/>
                </a:ext>
              </a:extLst>
            </p:cNvPr>
            <p:cNvPicPr>
              <a:picLocks noChangeAspect="1"/>
            </p:cNvPicPr>
            <p:nvPr/>
          </p:nvPicPr>
          <p:blipFill>
            <a:blip r:embed="rId4"/>
            <a:stretch>
              <a:fillRect/>
            </a:stretch>
          </p:blipFill>
          <p:spPr bwMode="gray">
            <a:xfrm>
              <a:off x="3107660" y="2743042"/>
              <a:ext cx="479567" cy="381755"/>
            </a:xfrm>
            <a:prstGeom prst="rect">
              <a:avLst/>
            </a:prstGeom>
          </p:spPr>
        </p:pic>
        <p:sp>
          <p:nvSpPr>
            <p:cNvPr id="67" name="文本框 56">
              <a:extLst>
                <a:ext uri="{FF2B5EF4-FFF2-40B4-BE49-F238E27FC236}">
                  <a16:creationId xmlns:a16="http://schemas.microsoft.com/office/drawing/2014/main" id="{DE355EF9-50A0-42A1-A09B-644B79BCFE2A}"/>
                </a:ext>
              </a:extLst>
            </p:cNvPr>
            <p:cNvSpPr txBox="1"/>
            <p:nvPr/>
          </p:nvSpPr>
          <p:spPr bwMode="gray">
            <a:xfrm>
              <a:off x="1800162" y="4074148"/>
              <a:ext cx="836542"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endParaRPr lang="zh-CN" altLang="en-US" sz="1200" dirty="0" err="1">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68" name="直接连接符 57">
              <a:extLst>
                <a:ext uri="{FF2B5EF4-FFF2-40B4-BE49-F238E27FC236}">
                  <a16:creationId xmlns:a16="http://schemas.microsoft.com/office/drawing/2014/main" id="{3D6A8A3F-AC99-4F5D-AC50-B265416B9924}"/>
                </a:ext>
              </a:extLst>
            </p:cNvPr>
            <p:cNvCxnSpPr>
              <a:cxnSpLocks/>
              <a:stCxn id="56" idx="3"/>
              <a:endCxn id="94" idx="21"/>
            </p:cNvCxnSpPr>
            <p:nvPr/>
          </p:nvCxnSpPr>
          <p:spPr bwMode="gray">
            <a:xfrm flipV="1">
              <a:off x="2463888" y="3725711"/>
              <a:ext cx="378921" cy="1548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58">
              <a:extLst>
                <a:ext uri="{FF2B5EF4-FFF2-40B4-BE49-F238E27FC236}">
                  <a16:creationId xmlns:a16="http://schemas.microsoft.com/office/drawing/2014/main" id="{D467D422-A732-4500-9384-E2295B041683}"/>
                </a:ext>
              </a:extLst>
            </p:cNvPr>
            <p:cNvCxnSpPr>
              <a:cxnSpLocks/>
              <a:stCxn id="56" idx="3"/>
              <a:endCxn id="97" idx="21"/>
            </p:cNvCxnSpPr>
            <p:nvPr/>
          </p:nvCxnSpPr>
          <p:spPr bwMode="gray">
            <a:xfrm>
              <a:off x="2463888" y="3880585"/>
              <a:ext cx="379975" cy="49917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文本框 59">
              <a:extLst>
                <a:ext uri="{FF2B5EF4-FFF2-40B4-BE49-F238E27FC236}">
                  <a16:creationId xmlns:a16="http://schemas.microsoft.com/office/drawing/2014/main" id="{89FD8252-D163-489C-9275-19975D2B8901}"/>
                </a:ext>
              </a:extLst>
            </p:cNvPr>
            <p:cNvSpPr txBox="1"/>
            <p:nvPr/>
          </p:nvSpPr>
          <p:spPr bwMode="gray">
            <a:xfrm>
              <a:off x="4578842" y="3436482"/>
              <a:ext cx="836542"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endParaRPr lang="zh-CN" altLang="en-US" sz="1200" dirty="0" err="1">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3" name="文本框 60">
              <a:extLst>
                <a:ext uri="{FF2B5EF4-FFF2-40B4-BE49-F238E27FC236}">
                  <a16:creationId xmlns:a16="http://schemas.microsoft.com/office/drawing/2014/main" id="{7173D235-B0D7-4757-96BA-1D2268ADD411}"/>
                </a:ext>
              </a:extLst>
            </p:cNvPr>
            <p:cNvSpPr txBox="1"/>
            <p:nvPr/>
          </p:nvSpPr>
          <p:spPr bwMode="gray">
            <a:xfrm>
              <a:off x="4378912" y="5028993"/>
              <a:ext cx="836542"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endParaRPr lang="zh-CN" altLang="en-US" sz="1200" dirty="0" err="1">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5" name="直接连接符 61">
              <a:extLst>
                <a:ext uri="{FF2B5EF4-FFF2-40B4-BE49-F238E27FC236}">
                  <a16:creationId xmlns:a16="http://schemas.microsoft.com/office/drawing/2014/main" id="{2A1C0172-6B72-4E90-A59B-FCD4FC6D73AA}"/>
                </a:ext>
              </a:extLst>
            </p:cNvPr>
            <p:cNvCxnSpPr>
              <a:cxnSpLocks/>
              <a:stCxn id="94" idx="8"/>
              <a:endCxn id="57" idx="1"/>
            </p:cNvCxnSpPr>
            <p:nvPr/>
          </p:nvCxnSpPr>
          <p:spPr bwMode="gray">
            <a:xfrm flipV="1">
              <a:off x="3773423" y="3267757"/>
              <a:ext cx="981976" cy="4491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62">
              <a:extLst>
                <a:ext uri="{FF2B5EF4-FFF2-40B4-BE49-F238E27FC236}">
                  <a16:creationId xmlns:a16="http://schemas.microsoft.com/office/drawing/2014/main" id="{956FE281-FAEF-4F27-B1A4-68BE226330C3}"/>
                </a:ext>
              </a:extLst>
            </p:cNvPr>
            <p:cNvCxnSpPr>
              <a:cxnSpLocks/>
              <a:stCxn id="94" idx="8"/>
              <a:endCxn id="51" idx="1"/>
            </p:cNvCxnSpPr>
            <p:nvPr/>
          </p:nvCxnSpPr>
          <p:spPr bwMode="gray">
            <a:xfrm>
              <a:off x="3773423" y="3716857"/>
              <a:ext cx="779209" cy="11072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63">
              <a:extLst>
                <a:ext uri="{FF2B5EF4-FFF2-40B4-BE49-F238E27FC236}">
                  <a16:creationId xmlns:a16="http://schemas.microsoft.com/office/drawing/2014/main" id="{4759CAA5-0548-41D8-8288-3F58F8E421A2}"/>
                </a:ext>
              </a:extLst>
            </p:cNvPr>
            <p:cNvCxnSpPr>
              <a:cxnSpLocks/>
              <a:stCxn id="97" idx="8"/>
              <a:endCxn id="51" idx="1"/>
            </p:cNvCxnSpPr>
            <p:nvPr/>
          </p:nvCxnSpPr>
          <p:spPr bwMode="gray">
            <a:xfrm>
              <a:off x="3774477" y="4370903"/>
              <a:ext cx="778155" cy="45316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64">
              <a:extLst>
                <a:ext uri="{FF2B5EF4-FFF2-40B4-BE49-F238E27FC236}">
                  <a16:creationId xmlns:a16="http://schemas.microsoft.com/office/drawing/2014/main" id="{49477CDE-2973-4BB2-8F31-769B66515B60}"/>
                </a:ext>
              </a:extLst>
            </p:cNvPr>
            <p:cNvCxnSpPr>
              <a:cxnSpLocks/>
              <a:stCxn id="97" idx="8"/>
              <a:endCxn id="57" idx="1"/>
            </p:cNvCxnSpPr>
            <p:nvPr/>
          </p:nvCxnSpPr>
          <p:spPr bwMode="gray">
            <a:xfrm flipV="1">
              <a:off x="3774477" y="3267757"/>
              <a:ext cx="980922" cy="110314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8" name="图片 67">
              <a:extLst>
                <a:ext uri="{FF2B5EF4-FFF2-40B4-BE49-F238E27FC236}">
                  <a16:creationId xmlns:a16="http://schemas.microsoft.com/office/drawing/2014/main" id="{38566172-BF6C-4A1A-9B62-C3902A2427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665048" y="1606460"/>
              <a:ext cx="1792651" cy="330612"/>
            </a:xfrm>
            <a:prstGeom prst="rect">
              <a:avLst/>
            </a:prstGeom>
          </p:spPr>
        </p:pic>
        <p:cxnSp>
          <p:nvCxnSpPr>
            <p:cNvPr id="91" name="直接箭头连接符 34">
              <a:extLst>
                <a:ext uri="{FF2B5EF4-FFF2-40B4-BE49-F238E27FC236}">
                  <a16:creationId xmlns:a16="http://schemas.microsoft.com/office/drawing/2014/main" id="{D3AC0C59-2778-4459-9D1E-E6E2F493C7DE}"/>
                </a:ext>
              </a:extLst>
            </p:cNvPr>
            <p:cNvCxnSpPr>
              <a:cxnSpLocks/>
              <a:endCxn id="66" idx="0"/>
            </p:cNvCxnSpPr>
            <p:nvPr/>
          </p:nvCxnSpPr>
          <p:spPr bwMode="gray">
            <a:xfrm>
              <a:off x="3347443" y="2054788"/>
              <a:ext cx="1" cy="688254"/>
            </a:xfrm>
            <a:prstGeom prst="straightConnector1">
              <a:avLst/>
            </a:prstGeom>
            <a:ln w="19050">
              <a:solidFill>
                <a:srgbClr val="30B5C5"/>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4" name="Freeform 159">
              <a:extLst>
                <a:ext uri="{FF2B5EF4-FFF2-40B4-BE49-F238E27FC236}">
                  <a16:creationId xmlns:a16="http://schemas.microsoft.com/office/drawing/2014/main" id="{014C6EEB-A68C-476E-9EAA-918658FF19F4}"/>
                </a:ext>
              </a:extLst>
            </p:cNvPr>
            <p:cNvSpPr/>
            <p:nvPr/>
          </p:nvSpPr>
          <p:spPr bwMode="gray">
            <a:xfrm flipH="1">
              <a:off x="2842809" y="3384656"/>
              <a:ext cx="930614" cy="48645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97" name="Freeform 159">
              <a:extLst>
                <a:ext uri="{FF2B5EF4-FFF2-40B4-BE49-F238E27FC236}">
                  <a16:creationId xmlns:a16="http://schemas.microsoft.com/office/drawing/2014/main" id="{F82E25AA-1411-4A2D-AB1C-BEEFB13BC379}"/>
                </a:ext>
              </a:extLst>
            </p:cNvPr>
            <p:cNvSpPr/>
            <p:nvPr/>
          </p:nvSpPr>
          <p:spPr bwMode="gray">
            <a:xfrm flipH="1">
              <a:off x="2843863" y="4038702"/>
              <a:ext cx="930614" cy="48645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7" name="Rectangular Callout 75">
              <a:extLst>
                <a:ext uri="{FF2B5EF4-FFF2-40B4-BE49-F238E27FC236}">
                  <a16:creationId xmlns:a16="http://schemas.microsoft.com/office/drawing/2014/main" id="{62AC439F-77D5-4A67-A403-673104562416}"/>
                </a:ext>
              </a:extLst>
            </p:cNvPr>
            <p:cNvSpPr/>
            <p:nvPr/>
          </p:nvSpPr>
          <p:spPr bwMode="gray">
            <a:xfrm>
              <a:off x="3387414" y="2103987"/>
              <a:ext cx="1409769" cy="485982"/>
            </a:xfrm>
            <a:prstGeom prst="wedgeRectCallout">
              <a:avLst>
                <a:gd name="adj1" fmla="val -36735"/>
                <a:gd name="adj2" fmla="val 7925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a:t>
              </a:r>
            </a:p>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控制</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拓扑</a:t>
              </a:r>
            </a:p>
          </p:txBody>
        </p:sp>
      </p:grpSp>
    </p:spTree>
    <p:extLst>
      <p:ext uri="{BB962C8B-B14F-4D97-AF65-F5344CB8AC3E}">
        <p14:creationId xmlns:p14="http://schemas.microsoft.com/office/powerpoint/2010/main" val="3012348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GW</a:t>
            </a:r>
            <a:r>
              <a:rPr lang="zh-CN" altLang="en-US" dirty="0">
                <a:sym typeface="Huawei Sans" panose="020C0503030203020204" pitchFamily="34" charset="0"/>
              </a:rPr>
              <a:t>概述</a:t>
            </a:r>
          </a:p>
        </p:txBody>
      </p:sp>
      <p:sp>
        <p:nvSpPr>
          <p:cNvPr id="9" name="Text Placeholder 8">
            <a:extLst>
              <a:ext uri="{FF2B5EF4-FFF2-40B4-BE49-F238E27FC236}">
                <a16:creationId xmlns:a16="http://schemas.microsoft.com/office/drawing/2014/main" id="{938687F7-81BE-4968-84F4-A2C177299B46}"/>
              </a:ext>
            </a:extLst>
          </p:cNvPr>
          <p:cNvSpPr>
            <a:spLocks noGrp="1"/>
          </p:cNvSpPr>
          <p:nvPr>
            <p:ph type="body" sz="quarter" idx="10"/>
          </p:nvPr>
        </p:nvSpPr>
        <p:spPr bwMode="gray"/>
        <p:txBody>
          <a:bodyPr/>
          <a:lstStyle/>
          <a:p>
            <a:pPr marL="302279" indent="-302279" algn="just" defTabSz="914034" fontAlgn="ctr">
              <a:lnSpc>
                <a:spcPct val="140000"/>
              </a:lnSpc>
              <a:spcBef>
                <a:spcPts val="792"/>
              </a:spcBef>
              <a:buSzPct val="50000"/>
              <a:buFont typeface="Wingdings" panose="05000000000000000000" pitchFamily="2" charset="2"/>
              <a:buChar char="l"/>
            </a:pP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新建的</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SD-WAN</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站点往往要和企业的传统站点或者第三方业务进行互通，</a:t>
            </a:r>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由于部分</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传统站点采用</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MPLS VPN</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互联，</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SD-WAN</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站点基于</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IP Overlay</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隧道互联，两者无法直接互通。</a:t>
            </a:r>
            <a:endPar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r>
              <a:rPr lang="en-US" altLang="zh-CN" sz="1800" b="1"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SD-WAN GW</a:t>
            </a:r>
            <a:r>
              <a:rPr lang="zh-CN" altLang="en-US" sz="1800" b="1"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800" b="1"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Gateway</a:t>
            </a:r>
            <a:r>
              <a:rPr lang="zh-CN" altLang="en-US" sz="1800" b="1"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同时具备</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SD-WAN</a:t>
            </a:r>
            <a:r>
              <a:rPr lang="zh-CN"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和传统网络的连接能力，可以作为中间网关设备，实现两者的互联。</a:t>
            </a:r>
            <a:endParaRPr lang="en-US" altLang="zh-CN" sz="18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0" indent="0">
              <a:buNone/>
            </a:pPr>
            <a:endParaRPr lang="en-US" dirty="0"/>
          </a:p>
        </p:txBody>
      </p:sp>
      <p:grpSp>
        <p:nvGrpSpPr>
          <p:cNvPr id="4" name="Group 3">
            <a:extLst>
              <a:ext uri="{FF2B5EF4-FFF2-40B4-BE49-F238E27FC236}">
                <a16:creationId xmlns:a16="http://schemas.microsoft.com/office/drawing/2014/main" id="{B9F5F394-8E7C-422B-8295-B188E82A0A87}"/>
              </a:ext>
            </a:extLst>
          </p:cNvPr>
          <p:cNvGrpSpPr/>
          <p:nvPr/>
        </p:nvGrpSpPr>
        <p:grpSpPr bwMode="gray">
          <a:xfrm>
            <a:off x="1461821" y="2878213"/>
            <a:ext cx="9151620" cy="2062103"/>
            <a:chOff x="1212315" y="3957929"/>
            <a:chExt cx="9151620" cy="2062103"/>
          </a:xfrm>
        </p:grpSpPr>
        <p:sp>
          <p:nvSpPr>
            <p:cNvPr id="43" name="圆角矩形 42"/>
            <p:cNvSpPr/>
            <p:nvPr/>
          </p:nvSpPr>
          <p:spPr bwMode="gray">
            <a:xfrm>
              <a:off x="1212315" y="3957929"/>
              <a:ext cx="4837999" cy="2062103"/>
            </a:xfrm>
            <a:prstGeom prst="roundRect">
              <a:avLst>
                <a:gd name="adj" fmla="val 4103"/>
              </a:avLst>
            </a:prstGeom>
            <a:noFill/>
            <a:ln w="19050" cap="flat" cmpd="sng" algn="ctr">
              <a:solidFill>
                <a:schemeClr val="bg1">
                  <a:lumMod val="65000"/>
                </a:schemeClr>
              </a:solidFill>
              <a:prstDash val="sysDash"/>
              <a:round/>
              <a:headEnd type="none" w="med" len="med"/>
              <a:tailEnd type="none" w="med" len="med"/>
            </a:ln>
            <a:effectLst/>
          </p:spPr>
          <p:txBody>
            <a:bodyPr vert="horz" wrap="square" lIns="68552" tIns="34276" rIns="68552" bIns="34276" numCol="1" rtlCol="0" anchor="b" anchorCtr="0" compatLnSpc="1">
              <a:prstTxWarp prst="textNoShape">
                <a:avLst/>
              </a:prstTxWarp>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传统</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MPLS</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域</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44"/>
            <p:cNvSpPr/>
            <p:nvPr/>
          </p:nvSpPr>
          <p:spPr bwMode="gray">
            <a:xfrm>
              <a:off x="6174286" y="3957929"/>
              <a:ext cx="4189649" cy="2062103"/>
            </a:xfrm>
            <a:prstGeom prst="roundRect">
              <a:avLst>
                <a:gd name="adj" fmla="val 2090"/>
              </a:avLst>
            </a:prstGeom>
            <a:noFill/>
            <a:ln w="19050" cap="flat" cmpd="sng" algn="ctr">
              <a:solidFill>
                <a:srgbClr val="30B5C5"/>
              </a:solidFill>
              <a:prstDash val="sysDash"/>
              <a:round/>
              <a:headEnd type="none" w="med" len="med"/>
              <a:tailEnd type="none" w="med" len="med"/>
            </a:ln>
            <a:effectLst/>
          </p:spPr>
          <p:txBody>
            <a:bodyPr vert="horz" wrap="square" lIns="68552" tIns="34276" rIns="68552" bIns="34276" numCol="1" rtlCol="0" anchor="b" anchorCtr="0" compatLnSpc="1">
              <a:prstTxWarp prst="textNoShape">
                <a:avLst/>
              </a:prstTxWarp>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SD-WAN</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域</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矩形 106"/>
            <p:cNvSpPr/>
            <p:nvPr/>
          </p:nvSpPr>
          <p:spPr bwMode="gray">
            <a:xfrm>
              <a:off x="3381825" y="5391156"/>
              <a:ext cx="385042"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8" name="图片 13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842300" y="4744720"/>
              <a:ext cx="540000" cy="442800"/>
            </a:xfrm>
            <a:prstGeom prst="rect">
              <a:avLst/>
            </a:prstGeom>
            <a:noFill/>
            <a:ln>
              <a:noFill/>
            </a:ln>
          </p:spPr>
        </p:pic>
        <p:sp>
          <p:nvSpPr>
            <p:cNvPr id="44" name="矩形 43"/>
            <p:cNvSpPr/>
            <p:nvPr/>
          </p:nvSpPr>
          <p:spPr bwMode="gray">
            <a:xfrm>
              <a:off x="3546065" y="4015362"/>
              <a:ext cx="385042"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Freeform 159">
              <a:extLst>
                <a:ext uri="{FF2B5EF4-FFF2-40B4-BE49-F238E27FC236}">
                  <a16:creationId xmlns:a16="http://schemas.microsoft.com/office/drawing/2014/main" id="{EA5FC0BE-B895-46F8-9628-23D5E440DE11}"/>
                </a:ext>
              </a:extLst>
            </p:cNvPr>
            <p:cNvSpPr/>
            <p:nvPr/>
          </p:nvSpPr>
          <p:spPr bwMode="gray">
            <a:xfrm flipH="1">
              <a:off x="3528423" y="4527433"/>
              <a:ext cx="1250651" cy="65375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133">
              <a:extLst>
                <a:ext uri="{FF2B5EF4-FFF2-40B4-BE49-F238E27FC236}">
                  <a16:creationId xmlns:a16="http://schemas.microsoft.com/office/drawing/2014/main" id="{E736929F-FC38-41B6-9449-451012EA8D1C}"/>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350627" y="5055264"/>
              <a:ext cx="447438" cy="376564"/>
            </a:xfrm>
            <a:prstGeom prst="rect">
              <a:avLst/>
            </a:prstGeom>
          </p:spPr>
        </p:pic>
        <p:pic>
          <p:nvPicPr>
            <p:cNvPr id="6" name="图片 133">
              <a:extLst>
                <a:ext uri="{FF2B5EF4-FFF2-40B4-BE49-F238E27FC236}">
                  <a16:creationId xmlns:a16="http://schemas.microsoft.com/office/drawing/2014/main" id="{AE666954-0115-45F7-B38E-0DB5628D23F3}"/>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514867" y="4262204"/>
              <a:ext cx="447438" cy="376564"/>
            </a:xfrm>
            <a:prstGeom prst="rect">
              <a:avLst/>
            </a:prstGeom>
          </p:spPr>
        </p:pic>
        <p:sp>
          <p:nvSpPr>
            <p:cNvPr id="8" name="Freeform 159">
              <a:extLst>
                <a:ext uri="{FF2B5EF4-FFF2-40B4-BE49-F238E27FC236}">
                  <a16:creationId xmlns:a16="http://schemas.microsoft.com/office/drawing/2014/main" id="{CAD9A16C-0E4B-4C31-BCA9-1D47BB9EF70D}"/>
                </a:ext>
              </a:extLst>
            </p:cNvPr>
            <p:cNvSpPr/>
            <p:nvPr/>
          </p:nvSpPr>
          <p:spPr bwMode="gray">
            <a:xfrm flipH="1">
              <a:off x="7429269" y="4588587"/>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SD-WAN</a:t>
              </a:r>
            </a:p>
            <a:p>
              <a:pPr algn="ct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连接符 51">
              <a:extLst>
                <a:ext uri="{FF2B5EF4-FFF2-40B4-BE49-F238E27FC236}">
                  <a16:creationId xmlns:a16="http://schemas.microsoft.com/office/drawing/2014/main" id="{D2F3084E-26F6-4CE0-B438-0707BDE5989B}"/>
                </a:ext>
              </a:extLst>
            </p:cNvPr>
            <p:cNvCxnSpPr>
              <a:cxnSpLocks/>
              <a:stCxn id="6" idx="1"/>
              <a:endCxn id="134" idx="3"/>
            </p:cNvCxnSpPr>
            <p:nvPr/>
          </p:nvCxnSpPr>
          <p:spPr bwMode="gray">
            <a:xfrm flipH="1" flipV="1">
              <a:off x="2757484" y="4382433"/>
              <a:ext cx="757383" cy="6805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Freeform 159">
              <a:extLst>
                <a:ext uri="{FF2B5EF4-FFF2-40B4-BE49-F238E27FC236}">
                  <a16:creationId xmlns:a16="http://schemas.microsoft.com/office/drawing/2014/main" id="{3CAFD3B3-491D-4DF2-880C-646447BA13C1}"/>
                </a:ext>
              </a:extLst>
            </p:cNvPr>
            <p:cNvSpPr/>
            <p:nvPr/>
          </p:nvSpPr>
          <p:spPr bwMode="gray">
            <a:xfrm flipH="1">
              <a:off x="1445325" y="4111151"/>
              <a:ext cx="1037943" cy="5425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Freeform 159">
              <a:extLst>
                <a:ext uri="{FF2B5EF4-FFF2-40B4-BE49-F238E27FC236}">
                  <a16:creationId xmlns:a16="http://schemas.microsoft.com/office/drawing/2014/main" id="{D0C71032-532E-406D-8FB5-55366F54882E}"/>
                </a:ext>
              </a:extLst>
            </p:cNvPr>
            <p:cNvSpPr/>
            <p:nvPr/>
          </p:nvSpPr>
          <p:spPr bwMode="gray">
            <a:xfrm flipH="1">
              <a:off x="1442061" y="5046912"/>
              <a:ext cx="1037943" cy="5425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8" name="直接连接符 51">
              <a:extLst>
                <a:ext uri="{FF2B5EF4-FFF2-40B4-BE49-F238E27FC236}">
                  <a16:creationId xmlns:a16="http://schemas.microsoft.com/office/drawing/2014/main" id="{7492AC61-BF6F-4D74-9286-32A76C14DF8A}"/>
                </a:ext>
              </a:extLst>
            </p:cNvPr>
            <p:cNvCxnSpPr>
              <a:cxnSpLocks/>
              <a:stCxn id="5" idx="1"/>
              <a:endCxn id="136" idx="3"/>
            </p:cNvCxnSpPr>
            <p:nvPr/>
          </p:nvCxnSpPr>
          <p:spPr bwMode="gray">
            <a:xfrm flipH="1">
              <a:off x="2757484" y="5243546"/>
              <a:ext cx="593143" cy="8531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1">
              <a:extLst>
                <a:ext uri="{FF2B5EF4-FFF2-40B4-BE49-F238E27FC236}">
                  <a16:creationId xmlns:a16="http://schemas.microsoft.com/office/drawing/2014/main" id="{34EABC39-3292-4DFC-AC93-EDFBD0F7E146}"/>
                </a:ext>
              </a:extLst>
            </p:cNvPr>
            <p:cNvCxnSpPr>
              <a:cxnSpLocks/>
              <a:stCxn id="138" idx="1"/>
              <a:endCxn id="7" idx="8"/>
            </p:cNvCxnSpPr>
            <p:nvPr/>
          </p:nvCxnSpPr>
          <p:spPr bwMode="gray">
            <a:xfrm flipH="1">
              <a:off x="4779074" y="4966120"/>
              <a:ext cx="1063226" cy="775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51">
              <a:extLst>
                <a:ext uri="{FF2B5EF4-FFF2-40B4-BE49-F238E27FC236}">
                  <a16:creationId xmlns:a16="http://schemas.microsoft.com/office/drawing/2014/main" id="{77DD4F9D-6DAE-4830-8DEB-880801B570C7}"/>
                </a:ext>
              </a:extLst>
            </p:cNvPr>
            <p:cNvCxnSpPr>
              <a:cxnSpLocks/>
              <a:stCxn id="8" idx="21"/>
              <a:endCxn id="138" idx="3"/>
            </p:cNvCxnSpPr>
            <p:nvPr/>
          </p:nvCxnSpPr>
          <p:spPr bwMode="gray">
            <a:xfrm flipH="1" flipV="1">
              <a:off x="6382300" y="4966120"/>
              <a:ext cx="1046969" cy="81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34" name="图片 13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310046" y="4194151"/>
              <a:ext cx="447438" cy="376564"/>
            </a:xfrm>
            <a:prstGeom prst="rect">
              <a:avLst/>
            </a:prstGeom>
          </p:spPr>
        </p:pic>
        <p:pic>
          <p:nvPicPr>
            <p:cNvPr id="136" name="图片 135"/>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310046" y="5140581"/>
              <a:ext cx="447438" cy="376564"/>
            </a:xfrm>
            <a:prstGeom prst="rect">
              <a:avLst/>
            </a:prstGeom>
          </p:spPr>
        </p:pic>
        <p:sp>
          <p:nvSpPr>
            <p:cNvPr id="21" name="Freeform 159">
              <a:extLst>
                <a:ext uri="{FF2B5EF4-FFF2-40B4-BE49-F238E27FC236}">
                  <a16:creationId xmlns:a16="http://schemas.microsoft.com/office/drawing/2014/main" id="{2771C85E-1D49-4AC6-A07D-078FEC62430B}"/>
                </a:ext>
              </a:extLst>
            </p:cNvPr>
            <p:cNvSpPr/>
            <p:nvPr/>
          </p:nvSpPr>
          <p:spPr bwMode="gray">
            <a:xfrm flipH="1">
              <a:off x="8755227" y="4022091"/>
              <a:ext cx="1037943" cy="5425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 name="图片 133">
              <a:extLst>
                <a:ext uri="{FF2B5EF4-FFF2-40B4-BE49-F238E27FC236}">
                  <a16:creationId xmlns:a16="http://schemas.microsoft.com/office/drawing/2014/main" id="{E3504F7F-6668-4E5C-B5FB-CE7E87F3D6DC}"/>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531508" y="4165273"/>
              <a:ext cx="447438" cy="376564"/>
            </a:xfrm>
            <a:prstGeom prst="rect">
              <a:avLst/>
            </a:prstGeom>
          </p:spPr>
        </p:pic>
        <p:sp>
          <p:nvSpPr>
            <p:cNvPr id="23" name="Freeform 159">
              <a:extLst>
                <a:ext uri="{FF2B5EF4-FFF2-40B4-BE49-F238E27FC236}">
                  <a16:creationId xmlns:a16="http://schemas.microsoft.com/office/drawing/2014/main" id="{2676EDE8-233C-410E-853D-EF388B23776F}"/>
                </a:ext>
              </a:extLst>
            </p:cNvPr>
            <p:cNvSpPr/>
            <p:nvPr/>
          </p:nvSpPr>
          <p:spPr bwMode="gray">
            <a:xfrm flipH="1">
              <a:off x="9237667" y="4670463"/>
              <a:ext cx="1037943" cy="5425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图片 133">
              <a:extLst>
                <a:ext uri="{FF2B5EF4-FFF2-40B4-BE49-F238E27FC236}">
                  <a16:creationId xmlns:a16="http://schemas.microsoft.com/office/drawing/2014/main" id="{5A78114F-0140-421A-8B0D-086C2C4507F6}"/>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013948" y="4813645"/>
              <a:ext cx="447438" cy="376564"/>
            </a:xfrm>
            <a:prstGeom prst="rect">
              <a:avLst/>
            </a:prstGeom>
          </p:spPr>
        </p:pic>
        <p:sp>
          <p:nvSpPr>
            <p:cNvPr id="25" name="Freeform 159">
              <a:extLst>
                <a:ext uri="{FF2B5EF4-FFF2-40B4-BE49-F238E27FC236}">
                  <a16:creationId xmlns:a16="http://schemas.microsoft.com/office/drawing/2014/main" id="{9FF4ADA3-4071-480A-99C1-E69211770F3F}"/>
                </a:ext>
              </a:extLst>
            </p:cNvPr>
            <p:cNvSpPr/>
            <p:nvPr/>
          </p:nvSpPr>
          <p:spPr bwMode="gray">
            <a:xfrm flipH="1">
              <a:off x="9106636" y="5396888"/>
              <a:ext cx="1037943" cy="5425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133">
              <a:extLst>
                <a:ext uri="{FF2B5EF4-FFF2-40B4-BE49-F238E27FC236}">
                  <a16:creationId xmlns:a16="http://schemas.microsoft.com/office/drawing/2014/main" id="{6CECD12A-6F50-46F6-BDAC-19FA3E8E7B80}"/>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882917" y="5540070"/>
              <a:ext cx="447438" cy="376564"/>
            </a:xfrm>
            <a:prstGeom prst="rect">
              <a:avLst/>
            </a:prstGeom>
          </p:spPr>
        </p:pic>
        <p:cxnSp>
          <p:nvCxnSpPr>
            <p:cNvPr id="80" name="直接连接符 51">
              <a:extLst>
                <a:ext uri="{FF2B5EF4-FFF2-40B4-BE49-F238E27FC236}">
                  <a16:creationId xmlns:a16="http://schemas.microsoft.com/office/drawing/2014/main" id="{372EDE40-B400-46E7-B95A-79797BDC6CBD}"/>
                </a:ext>
              </a:extLst>
            </p:cNvPr>
            <p:cNvCxnSpPr>
              <a:cxnSpLocks/>
              <a:stCxn id="22" idx="1"/>
              <a:endCxn id="8" idx="4"/>
            </p:cNvCxnSpPr>
            <p:nvPr/>
          </p:nvCxnSpPr>
          <p:spPr bwMode="gray">
            <a:xfrm flipH="1">
              <a:off x="8161562" y="4353555"/>
              <a:ext cx="369946" cy="2899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51">
              <a:extLst>
                <a:ext uri="{FF2B5EF4-FFF2-40B4-BE49-F238E27FC236}">
                  <a16:creationId xmlns:a16="http://schemas.microsoft.com/office/drawing/2014/main" id="{AC3F59F7-2089-4B32-B1C8-C2F8196581ED}"/>
                </a:ext>
              </a:extLst>
            </p:cNvPr>
            <p:cNvCxnSpPr>
              <a:cxnSpLocks/>
              <a:stCxn id="24" idx="1"/>
              <a:endCxn id="8" idx="8"/>
            </p:cNvCxnSpPr>
            <p:nvPr/>
          </p:nvCxnSpPr>
          <p:spPr bwMode="gray">
            <a:xfrm flipH="1" flipV="1">
              <a:off x="8481550" y="4964219"/>
              <a:ext cx="532398" cy="3770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51">
              <a:extLst>
                <a:ext uri="{FF2B5EF4-FFF2-40B4-BE49-F238E27FC236}">
                  <a16:creationId xmlns:a16="http://schemas.microsoft.com/office/drawing/2014/main" id="{48E3917B-7025-4D0D-A7D6-D685CE353470}"/>
                </a:ext>
              </a:extLst>
            </p:cNvPr>
            <p:cNvCxnSpPr>
              <a:cxnSpLocks/>
              <a:stCxn id="26" idx="1"/>
              <a:endCxn id="8" idx="9"/>
            </p:cNvCxnSpPr>
            <p:nvPr/>
          </p:nvCxnSpPr>
          <p:spPr bwMode="gray">
            <a:xfrm flipH="1" flipV="1">
              <a:off x="8326331" y="5137745"/>
              <a:ext cx="556586" cy="59060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7AACAECD-2476-44E0-AA21-BF0F5E00950B}"/>
                </a:ext>
              </a:extLst>
            </p:cNvPr>
            <p:cNvSpPr/>
            <p:nvPr/>
          </p:nvSpPr>
          <p:spPr bwMode="gray">
            <a:xfrm>
              <a:off x="2289622" y="4881096"/>
              <a:ext cx="7171764" cy="398463"/>
            </a:xfrm>
            <a:custGeom>
              <a:avLst/>
              <a:gdLst>
                <a:gd name="connsiteX0" fmla="*/ 0 w 7171764"/>
                <a:gd name="connsiteY0" fmla="*/ 398463 h 398463"/>
                <a:gd name="connsiteX1" fmla="*/ 1255059 w 7171764"/>
                <a:gd name="connsiteY1" fmla="*/ 156416 h 398463"/>
                <a:gd name="connsiteX2" fmla="*/ 3406588 w 7171764"/>
                <a:gd name="connsiteY2" fmla="*/ 12981 h 398463"/>
                <a:gd name="connsiteX3" fmla="*/ 5934635 w 7171764"/>
                <a:gd name="connsiteY3" fmla="*/ 21946 h 398463"/>
                <a:gd name="connsiteX4" fmla="*/ 7171764 w 7171764"/>
                <a:gd name="connsiteY4" fmla="*/ 147452 h 398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1764" h="398463">
                  <a:moveTo>
                    <a:pt x="0" y="398463"/>
                  </a:moveTo>
                  <a:cubicBezTo>
                    <a:pt x="343647" y="309563"/>
                    <a:pt x="687294" y="220663"/>
                    <a:pt x="1255059" y="156416"/>
                  </a:cubicBezTo>
                  <a:cubicBezTo>
                    <a:pt x="1822824" y="92169"/>
                    <a:pt x="2626659" y="35393"/>
                    <a:pt x="3406588" y="12981"/>
                  </a:cubicBezTo>
                  <a:cubicBezTo>
                    <a:pt x="4186517" y="-9431"/>
                    <a:pt x="5307106" y="-466"/>
                    <a:pt x="5934635" y="21946"/>
                  </a:cubicBezTo>
                  <a:cubicBezTo>
                    <a:pt x="6562164" y="44358"/>
                    <a:pt x="6866964" y="95905"/>
                    <a:pt x="7171764" y="147452"/>
                  </a:cubicBezTo>
                </a:path>
              </a:pathLst>
            </a:custGeom>
            <a:noFill/>
            <a:ln w="28575">
              <a:solidFill>
                <a:srgbClr val="E28189"/>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5556748" y="4403921"/>
              <a:ext cx="1164101" cy="369332"/>
            </a:xfrm>
            <a:prstGeom prst="rect">
              <a:avLst/>
            </a:prstGeom>
          </p:spPr>
          <p:txBody>
            <a:bodyPr wrap="none">
              <a:spAutoFit/>
            </a:bodyPr>
            <a:lstStyle/>
            <a:p>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Gateway</a:t>
              </a:r>
              <a:endParaRPr 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52365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F706A-D04B-4737-9505-6B16ED90AE12}"/>
              </a:ext>
            </a:extLst>
          </p:cNvPr>
          <p:cNvSpPr>
            <a:spLocks noGrp="1"/>
          </p:cNvSpPr>
          <p:nvPr>
            <p:ph type="title"/>
          </p:nvPr>
        </p:nvSpPr>
        <p:spPr bwMode="gray"/>
        <p:txBody>
          <a:bodyPr>
            <a:normAutofit/>
          </a:bodyPr>
          <a:lstStyle/>
          <a:p>
            <a:r>
              <a:rPr lang="zh-CN" altLang="en-US" dirty="0">
                <a:sym typeface="Huawei Sans" panose="020C0503030203020204" pitchFamily="34" charset="0"/>
              </a:rPr>
              <a:t>华为</a:t>
            </a:r>
            <a:r>
              <a:rPr lang="en-US" altLang="zh-CN">
                <a:sym typeface="Huawei Sans" panose="020C0503030203020204" pitchFamily="34" charset="0"/>
              </a:rPr>
              <a:t>CPE</a:t>
            </a:r>
            <a:r>
              <a:rPr lang="zh-CN" altLang="en-US">
                <a:sym typeface="Huawei Sans" panose="020C0503030203020204" pitchFamily="34" charset="0"/>
              </a:rPr>
              <a:t>设备 </a:t>
            </a:r>
            <a:r>
              <a:rPr lang="en-US" altLang="zh-CN">
                <a:sym typeface="Huawei Sans" panose="020C0503030203020204" pitchFamily="34" charset="0"/>
              </a:rPr>
              <a:t>- </a:t>
            </a:r>
            <a:r>
              <a:rPr lang="en-US">
                <a:sym typeface="Huawei Sans" panose="020C0503030203020204" pitchFamily="34" charset="0"/>
              </a:rPr>
              <a:t>NetEngine AR</a:t>
            </a:r>
            <a:r>
              <a:rPr lang="zh-CN" altLang="en-US" dirty="0">
                <a:sym typeface="Huawei Sans" panose="020C0503030203020204" pitchFamily="34" charset="0"/>
              </a:rPr>
              <a:t>路由器</a:t>
            </a:r>
            <a:endParaRPr lang="en-US" dirty="0">
              <a:sym typeface="Huawei Sans" panose="020C0503030203020204" pitchFamily="34" charset="0"/>
            </a:endParaRPr>
          </a:p>
        </p:txBody>
      </p:sp>
      <p:grpSp>
        <p:nvGrpSpPr>
          <p:cNvPr id="19" name="Group 18">
            <a:extLst>
              <a:ext uri="{FF2B5EF4-FFF2-40B4-BE49-F238E27FC236}">
                <a16:creationId xmlns:a16="http://schemas.microsoft.com/office/drawing/2014/main" id="{B8BE5BB3-0FA2-4917-9979-4349B85B368C}"/>
              </a:ext>
            </a:extLst>
          </p:cNvPr>
          <p:cNvGrpSpPr/>
          <p:nvPr/>
        </p:nvGrpSpPr>
        <p:grpSpPr bwMode="gray">
          <a:xfrm>
            <a:off x="1128853" y="1088562"/>
            <a:ext cx="9763558" cy="5004188"/>
            <a:chOff x="1128853" y="1088562"/>
            <a:chExt cx="9763558" cy="5004188"/>
          </a:xfrm>
        </p:grpSpPr>
        <p:sp>
          <p:nvSpPr>
            <p:cNvPr id="59" name="Text Box 71"/>
            <p:cNvSpPr txBox="1">
              <a:spLocks noChangeArrowheads="1"/>
            </p:cNvSpPr>
            <p:nvPr/>
          </p:nvSpPr>
          <p:spPr bwMode="gray">
            <a:xfrm>
              <a:off x="3396356" y="1088562"/>
              <a:ext cx="1573351" cy="492077"/>
            </a:xfrm>
            <a:prstGeom prst="rect">
              <a:avLst/>
            </a:prstGeom>
            <a:noFill/>
            <a:ln w="31750" algn="ctr">
              <a:noFill/>
              <a:prstDash val="sysDot"/>
              <a:miter lim="800000"/>
              <a:headEnd/>
              <a:tailEnd/>
            </a:ln>
          </p:spPr>
          <p:txBody>
            <a:bodyPr lIns="121565" tIns="60779" rIns="121565" bIns="60779" anchor="ctr" anchorCtr="1">
              <a:spAutoFit/>
            </a:bodyPr>
            <a:lstStyle/>
            <a:p>
              <a:pPr algn="ctr" defTabSz="1217809" fontAlgn="base">
                <a:spcBef>
                  <a:spcPct val="0"/>
                </a:spcBef>
                <a:spcAft>
                  <a:spcPct val="0"/>
                </a:spcAft>
              </a:pPr>
              <a:r>
                <a:rPr kumimoji="1" lang="en-US" altLang="zh-CN" sz="1200" b="1" kern="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NetEngine</a:t>
              </a:r>
              <a:r>
                <a:rPr kumimoji="1" lang="en-US" altLang="zh-CN"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AR6300</a:t>
              </a:r>
            </a:p>
          </p:txBody>
        </p:sp>
        <p:sp>
          <p:nvSpPr>
            <p:cNvPr id="61" name="矩形 60"/>
            <p:cNvSpPr/>
            <p:nvPr/>
          </p:nvSpPr>
          <p:spPr bwMode="gray">
            <a:xfrm>
              <a:off x="3193465" y="2116501"/>
              <a:ext cx="1776243" cy="276999"/>
            </a:xfrm>
            <a:prstGeom prst="rect">
              <a:avLst/>
            </a:prstGeom>
          </p:spPr>
          <p:txBody>
            <a:bodyPr wrap="square">
              <a:spAutoFit/>
            </a:bodyPr>
            <a:lstStyle/>
            <a:p>
              <a:pPr algn="ctr" defTabSz="1217809" fontAlgn="base">
                <a:spcBef>
                  <a:spcPct val="0"/>
                </a:spcBef>
                <a:spcAft>
                  <a:spcPct val="0"/>
                </a:spcAft>
              </a:pPr>
              <a:r>
                <a:rPr kumimoji="1" lang="en-US" altLang="zh-CN" sz="1200" i="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SRU-400H/SRU-600H</a:t>
              </a:r>
            </a:p>
          </p:txBody>
        </p:sp>
        <p:grpSp>
          <p:nvGrpSpPr>
            <p:cNvPr id="65" name="组合 64"/>
            <p:cNvGrpSpPr/>
            <p:nvPr/>
          </p:nvGrpSpPr>
          <p:grpSpPr bwMode="gray">
            <a:xfrm>
              <a:off x="1293298" y="1501967"/>
              <a:ext cx="1468711" cy="646185"/>
              <a:chOff x="705377" y="1242099"/>
              <a:chExt cx="1140669" cy="437667"/>
            </a:xfrm>
          </p:grpSpPr>
          <p:sp>
            <p:nvSpPr>
              <p:cNvPr id="66" name="AutoShape 5"/>
              <p:cNvSpPr>
                <a:spLocks noChangeArrowheads="1"/>
              </p:cNvSpPr>
              <p:nvPr/>
            </p:nvSpPr>
            <p:spPr bwMode="gray">
              <a:xfrm>
                <a:off x="723696" y="1270364"/>
                <a:ext cx="1101419" cy="388200"/>
              </a:xfrm>
              <a:prstGeom prst="roundRect">
                <a:avLst>
                  <a:gd name="adj" fmla="val 9979"/>
                </a:avLst>
              </a:prstGeom>
              <a:solidFill>
                <a:srgbClr val="56C4D2"/>
              </a:solidFill>
              <a:ln>
                <a:noFill/>
              </a:ln>
              <a:effectLst/>
              <a:scene3d>
                <a:camera prst="orthographicFront">
                  <a:rot lat="0" lon="0" rev="0"/>
                </a:camera>
                <a:lightRig rig="threePt" dir="t">
                  <a:rot lat="0" lon="0" rev="1200000"/>
                </a:lightRig>
              </a:scene3d>
              <a:sp3d/>
            </p:spPr>
            <p:txBody>
              <a:bodyPr lIns="35944" tIns="60811" rIns="35944" bIns="60811" anchor="ctr"/>
              <a:lstStyle/>
              <a:p>
                <a:pPr algn="ctr" defTabSz="1217809" fontAlgn="ctr">
                  <a:spcBef>
                    <a:spcPct val="0"/>
                  </a:spcBef>
                  <a:spcAft>
                    <a:spcPct val="0"/>
                  </a:spcAft>
                  <a:buClr>
                    <a:srgbClr val="990000"/>
                  </a:buClr>
                  <a:buSzPct val="60000"/>
                  <a:defRPr/>
                </a:pPr>
                <a:endParaRPr kumimoji="1" lang="en-US" altLang="zh-CN" sz="1333" b="1"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67" name="TextBox 128"/>
              <p:cNvSpPr txBox="1">
                <a:spLocks noChangeArrowheads="1"/>
              </p:cNvSpPr>
              <p:nvPr/>
            </p:nvSpPr>
            <p:spPr bwMode="gray">
              <a:xfrm>
                <a:off x="705377" y="1242099"/>
                <a:ext cx="1140669" cy="437667"/>
              </a:xfrm>
              <a:prstGeom prst="rect">
                <a:avLst/>
              </a:prstGeom>
              <a:noFill/>
              <a:ln w="9525">
                <a:noFill/>
                <a:miter lim="800000"/>
                <a:headEnd/>
                <a:tailEnd/>
              </a:ln>
            </p:spPr>
            <p:txBody>
              <a:bodyPr wrap="square" lIns="91298" tIns="45648" rIns="91298" bIns="45648" anchor="ctr">
                <a:spAutoFit/>
              </a:bodyPr>
              <a:lstStyle/>
              <a:p>
                <a:pPr algn="ctr" defTabSz="1217809" eaLnBrk="0" fontAlgn="ctr" hangingPunct="0">
                  <a:spcBef>
                    <a:spcPct val="0"/>
                  </a:spcBef>
                  <a:spcAft>
                    <a:spcPct val="0"/>
                  </a:spcAft>
                  <a:buSzPct val="100000"/>
                </a:pPr>
                <a:r>
                  <a:rPr kumimoji="1" lang="en-US" altLang="zh-CN" sz="1200" b="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NetEngine AR6300/AR6200 </a:t>
                </a:r>
                <a:r>
                  <a:rPr kumimoji="1" lang="zh-CN" altLang="en-US" sz="1200" b="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系列</a:t>
                </a:r>
                <a:endParaRPr kumimoji="1" lang="en-US" altLang="zh-CN"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2" name="Rectangle 63"/>
            <p:cNvSpPr>
              <a:spLocks noChangeArrowheads="1"/>
            </p:cNvSpPr>
            <p:nvPr/>
          </p:nvSpPr>
          <p:spPr bwMode="gray">
            <a:xfrm>
              <a:off x="1402228" y="3772313"/>
              <a:ext cx="1247485" cy="338164"/>
            </a:xfrm>
            <a:prstGeom prst="rect">
              <a:avLst/>
            </a:prstGeom>
            <a:noFill/>
            <a:ln w="9525" algn="ctr">
              <a:noFill/>
              <a:miter lim="800000"/>
              <a:headEnd/>
              <a:tailEnd/>
            </a:ln>
          </p:spPr>
          <p:txBody>
            <a:bodyPr wrap="square" lIns="121746" tIns="60874" rIns="121746" bIns="60874">
              <a:spAutoFit/>
            </a:bodyPr>
            <a:lstStyle/>
            <a:p>
              <a:pPr algn="ctr" defTabSz="1217809" eaLnBrk="0" fontAlgn="ctr" hangingPunct="0">
                <a:spcBef>
                  <a:spcPct val="0"/>
                </a:spcBef>
                <a:spcAft>
                  <a:spcPct val="0"/>
                </a:spcAft>
                <a:buSzPct val="100000"/>
              </a:pPr>
              <a:r>
                <a:rPr kumimoji="1" lang="zh-CN" altLang="en-US" sz="1399"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小企业</a:t>
              </a:r>
              <a:endParaRPr kumimoji="1" lang="en-US" altLang="zh-CN" sz="1399"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6" name="图片 75"/>
            <p:cNvPicPr>
              <a:picLocks noChangeAspect="1"/>
            </p:cNvPicPr>
            <p:nvPr/>
          </p:nvPicPr>
          <p:blipFill>
            <a:blip r:embed="rId3"/>
            <a:stretch>
              <a:fillRect/>
            </a:stretch>
          </p:blipFill>
          <p:spPr bwMode="gray">
            <a:xfrm>
              <a:off x="3291427" y="4340126"/>
              <a:ext cx="1304499" cy="213861"/>
            </a:xfrm>
            <a:prstGeom prst="rect">
              <a:avLst/>
            </a:prstGeom>
          </p:spPr>
        </p:pic>
        <p:cxnSp>
          <p:nvCxnSpPr>
            <p:cNvPr id="159" name="直接连接符 158"/>
            <p:cNvCxnSpPr>
              <a:cxnSpLocks/>
            </p:cNvCxnSpPr>
            <p:nvPr/>
          </p:nvCxnSpPr>
          <p:spPr bwMode="gray">
            <a:xfrm>
              <a:off x="1303895" y="3641995"/>
              <a:ext cx="6082334" cy="0"/>
            </a:xfrm>
            <a:prstGeom prst="line">
              <a:avLst/>
            </a:prstGeom>
            <a:noFill/>
            <a:ln w="9525" cap="flat" cmpd="sng" algn="ctr">
              <a:solidFill>
                <a:srgbClr val="30B5C5"/>
              </a:solidFill>
              <a:prstDash val="dash"/>
            </a:ln>
            <a:effectLst/>
          </p:spPr>
        </p:cxnSp>
        <p:cxnSp>
          <p:nvCxnSpPr>
            <p:cNvPr id="160" name="直接连接符 159"/>
            <p:cNvCxnSpPr>
              <a:cxnSpLocks/>
            </p:cNvCxnSpPr>
            <p:nvPr/>
          </p:nvCxnSpPr>
          <p:spPr bwMode="gray">
            <a:xfrm flipV="1">
              <a:off x="1303895" y="2417320"/>
              <a:ext cx="6082334" cy="0"/>
            </a:xfrm>
            <a:prstGeom prst="line">
              <a:avLst/>
            </a:prstGeom>
            <a:noFill/>
            <a:ln w="9525" cap="flat" cmpd="sng" algn="ctr">
              <a:solidFill>
                <a:srgbClr val="30B5C5"/>
              </a:solidFill>
              <a:prstDash val="dash"/>
            </a:ln>
            <a:effectLst/>
          </p:spPr>
        </p:cxnSp>
        <p:sp>
          <p:nvSpPr>
            <p:cNvPr id="79" name="矩形 78"/>
            <p:cNvSpPr/>
            <p:nvPr/>
          </p:nvSpPr>
          <p:spPr bwMode="gray">
            <a:xfrm>
              <a:off x="3054798" y="5032690"/>
              <a:ext cx="1764558" cy="276878"/>
            </a:xfrm>
            <a:prstGeom prst="rect">
              <a:avLst/>
            </a:prstGeom>
            <a:noFill/>
          </p:spPr>
          <p:txBody>
            <a:bodyPr wrap="square" lIns="91322" tIns="45660" rIns="91322" bIns="45660">
              <a:spAutoFit/>
              <a:scene3d>
                <a:camera prst="orthographicFront"/>
                <a:lightRig rig="threePt" dir="t"/>
              </a:scene3d>
              <a:sp3d extrusionH="57150">
                <a:bevelT w="82550" h="38100" prst="coolSlant"/>
              </a:sp3d>
            </a:bodyPr>
            <a:lstStyle/>
            <a:p>
              <a:pPr algn="ctr" defTabSz="1218053" fontAlgn="ctr">
                <a:defRPr/>
              </a:pPr>
              <a:r>
                <a:rPr lang="zh-CN" altLang="en-US" sz="1200" b="1" dirty="0">
                  <a:latin typeface="Huawei Sans" panose="020C0503030203020204" pitchFamily="34" charset="0"/>
                  <a:ea typeface="方正兰亭黑简体" panose="02000000000000000000" pitchFamily="2" charset="-122"/>
                  <a:cs typeface="华文细黑"/>
                  <a:sym typeface="Huawei Sans" panose="020C0503030203020204" pitchFamily="34" charset="0"/>
                </a:rPr>
                <a:t>以太</a:t>
              </a:r>
              <a:r>
                <a:rPr lang="en-US" altLang="zh-CN" sz="1200" b="1" dirty="0">
                  <a:latin typeface="Huawei Sans" panose="020C0503030203020204" pitchFamily="34" charset="0"/>
                  <a:ea typeface="方正兰亭黑简体" panose="02000000000000000000" pitchFamily="2" charset="-122"/>
                  <a:cs typeface="华文细黑"/>
                  <a:sym typeface="Huawei Sans" panose="020C0503030203020204" pitchFamily="34" charset="0"/>
                </a:rPr>
                <a:t>+Wi-Fi+LTE</a:t>
              </a:r>
            </a:p>
          </p:txBody>
        </p:sp>
        <p:cxnSp>
          <p:nvCxnSpPr>
            <p:cNvPr id="80" name="直接连接符 79"/>
            <p:cNvCxnSpPr/>
            <p:nvPr/>
          </p:nvCxnSpPr>
          <p:spPr bwMode="gray">
            <a:xfrm>
              <a:off x="3237473" y="5309564"/>
              <a:ext cx="1316824" cy="0"/>
            </a:xfrm>
            <a:prstGeom prst="line">
              <a:avLst/>
            </a:prstGeom>
            <a:ln w="19050">
              <a:solidFill>
                <a:srgbClr val="30B5C5"/>
              </a:solidFill>
            </a:ln>
          </p:spPr>
          <p:style>
            <a:lnRef idx="1">
              <a:schemeClr val="accent1"/>
            </a:lnRef>
            <a:fillRef idx="0">
              <a:schemeClr val="accent1"/>
            </a:fillRef>
            <a:effectRef idx="0">
              <a:schemeClr val="accent1"/>
            </a:effectRef>
            <a:fontRef idx="minor">
              <a:schemeClr val="tx1"/>
            </a:fontRef>
          </p:style>
        </p:cxnSp>
        <p:sp>
          <p:nvSpPr>
            <p:cNvPr id="81" name="Text Box 35"/>
            <p:cNvSpPr txBox="1">
              <a:spLocks noChangeArrowheads="1"/>
            </p:cNvSpPr>
            <p:nvPr/>
          </p:nvSpPr>
          <p:spPr bwMode="gray">
            <a:xfrm>
              <a:off x="3408416" y="5327167"/>
              <a:ext cx="1023026" cy="238194"/>
            </a:xfrm>
            <a:prstGeom prst="rect">
              <a:avLst/>
            </a:prstGeom>
            <a:noFill/>
            <a:ln w="31750" algn="ctr">
              <a:noFill/>
              <a:prstDash val="sysDot"/>
              <a:miter lim="800000"/>
              <a:headEnd/>
              <a:tailEnd/>
            </a:ln>
          </p:spPr>
          <p:txBody>
            <a:bodyPr wrap="square" lIns="121565" tIns="60779" rIns="121565" bIns="60779" anchor="ctr" anchorCtr="1">
              <a:spAutoFit/>
            </a:bodyPr>
            <a:lstStyle>
              <a:defPPr>
                <a:defRPr lang="en-US"/>
              </a:defPPr>
              <a:lvl1pPr algn="ctr" defTabSz="1217809" eaLnBrk="0" hangingPunct="0">
                <a:spcBef>
                  <a:spcPct val="50000"/>
                </a:spcBef>
                <a:spcAft>
                  <a:spcPct val="0"/>
                </a:spcAft>
                <a:buSzPct val="100000"/>
                <a:defRPr kumimoji="1" sz="1200" b="1">
                  <a:solidFill>
                    <a:srgbClr val="000000"/>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AR610</a:t>
              </a:r>
              <a:r>
                <a:rPr lang="zh-CN" altLang="en-US" dirty="0">
                  <a:sym typeface="Huawei Sans" panose="020C0503030203020204" pitchFamily="34" charset="0"/>
                </a:rPr>
                <a:t>系列</a:t>
              </a:r>
              <a:endParaRPr lang="en-US" altLang="zh-CN" dirty="0">
                <a:sym typeface="Huawei Sans" panose="020C0503030203020204" pitchFamily="34" charset="0"/>
              </a:endParaRPr>
            </a:p>
          </p:txBody>
        </p:sp>
        <p:pic>
          <p:nvPicPr>
            <p:cNvPr id="68" name="图片 67"/>
            <p:cNvPicPr>
              <a:picLocks noChangeAspect="1"/>
            </p:cNvPicPr>
            <p:nvPr/>
          </p:nvPicPr>
          <p:blipFill>
            <a:blip r:embed="rId4"/>
            <a:stretch>
              <a:fillRect/>
            </a:stretch>
          </p:blipFill>
          <p:spPr bwMode="gray">
            <a:xfrm>
              <a:off x="3572878" y="5513293"/>
              <a:ext cx="646013" cy="450707"/>
            </a:xfrm>
            <a:prstGeom prst="rect">
              <a:avLst/>
            </a:prstGeom>
          </p:spPr>
        </p:pic>
        <p:sp>
          <p:nvSpPr>
            <p:cNvPr id="89" name="Rectangle 46"/>
            <p:cNvSpPr>
              <a:spLocks noChangeArrowheads="1"/>
            </p:cNvSpPr>
            <p:nvPr/>
          </p:nvSpPr>
          <p:spPr bwMode="gray">
            <a:xfrm>
              <a:off x="1141831" y="2487410"/>
              <a:ext cx="1768282" cy="327490"/>
            </a:xfrm>
            <a:prstGeom prst="rect">
              <a:avLst/>
            </a:prstGeom>
            <a:noFill/>
            <a:ln w="9525" algn="ctr">
              <a:noFill/>
              <a:miter lim="800000"/>
              <a:headEnd/>
              <a:tailEnd/>
            </a:ln>
          </p:spPr>
          <p:txBody>
            <a:bodyPr wrap="square" lIns="111154" tIns="55576" rIns="111154" bIns="55576">
              <a:spAutoFit/>
            </a:bodyPr>
            <a:lstStyle/>
            <a:p>
              <a:pPr algn="ctr" defTabSz="1110585" eaLnBrk="0" fontAlgn="ctr" hangingPunct="0">
                <a:buSzPct val="100000"/>
              </a:pPr>
              <a:r>
                <a:rPr lang="zh-CN" altLang="en-US" sz="1399"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中小企业分支</a:t>
              </a:r>
              <a:endParaRPr lang="en-US" altLang="zh-CN" sz="1399"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147"/>
            <p:cNvSpPr txBox="1">
              <a:spLocks noChangeArrowheads="1"/>
            </p:cNvSpPr>
            <p:nvPr/>
          </p:nvSpPr>
          <p:spPr bwMode="gray">
            <a:xfrm>
              <a:off x="1128853" y="1176747"/>
              <a:ext cx="1794238" cy="307489"/>
            </a:xfrm>
            <a:prstGeom prst="rect">
              <a:avLst/>
            </a:prstGeom>
            <a:noFill/>
            <a:ln w="9525">
              <a:noFill/>
              <a:miter lim="800000"/>
              <a:headEnd/>
              <a:tailEnd/>
            </a:ln>
          </p:spPr>
          <p:txBody>
            <a:bodyPr wrap="square" lIns="91343" tIns="45671" rIns="91343" bIns="45671">
              <a:spAutoFit/>
            </a:bodyPr>
            <a:lstStyle/>
            <a:p>
              <a:pPr algn="ctr" defTabSz="1218296" eaLnBrk="0" fontAlgn="ctr" hangingPunct="0">
                <a:buSzPct val="100000"/>
              </a:pPr>
              <a:r>
                <a:rPr lang="zh-CN" altLang="en-US" sz="1399"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r>
                <a:rPr lang="en-US" altLang="zh-CN" sz="1399"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399"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大型分支</a:t>
              </a:r>
              <a:endParaRPr lang="en-US" altLang="zh-CN" sz="13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2" name="组合 81"/>
            <p:cNvGrpSpPr/>
            <p:nvPr/>
          </p:nvGrpSpPr>
          <p:grpSpPr bwMode="gray">
            <a:xfrm>
              <a:off x="3178106" y="1536149"/>
              <a:ext cx="2009851" cy="633611"/>
              <a:chOff x="630028" y="1239761"/>
              <a:chExt cx="5453076" cy="1719100"/>
            </a:xfrm>
          </p:grpSpPr>
          <p:pic>
            <p:nvPicPr>
              <p:cNvPr id="87" name="图片 86"/>
              <p:cNvPicPr>
                <a:picLocks noChangeAspect="1"/>
              </p:cNvPicPr>
              <p:nvPr/>
            </p:nvPicPr>
            <p:blipFill rotWithShape="1">
              <a:blip r:embed="rId5"/>
              <a:srcRect l="549" t="65595" r="9472" b="4513"/>
              <a:stretch/>
            </p:blipFill>
            <p:spPr bwMode="gray">
              <a:xfrm>
                <a:off x="967640" y="1962598"/>
                <a:ext cx="4641011" cy="465826"/>
              </a:xfrm>
              <a:prstGeom prst="rect">
                <a:avLst/>
              </a:prstGeom>
            </p:spPr>
          </p:pic>
          <p:pic>
            <p:nvPicPr>
              <p:cNvPr id="91" name="Picture 2" descr="C:\Users\s00506297\AppData\Roaming\eSpace_Desktop\UserData\s00506297\imagefiles\originalImgfiles\B3FB9DF0-2493-4F93-846B-59B073C1F38E.pn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55256"/>
              <a:stretch/>
            </p:blipFill>
            <p:spPr bwMode="gray">
              <a:xfrm>
                <a:off x="630028" y="1239761"/>
                <a:ext cx="5453076" cy="171910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4" descr="C:\Users\s00506297\AppData\Roaming\eSpace_Desktop\UserData\s00506297\imagefiles\originalImgfiles\B3FB9DF0-2493-4F93-846B-59B073C1F38E.pn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711" t="28062" r="8839" b="58476"/>
              <a:stretch/>
            </p:blipFill>
            <p:spPr bwMode="gray">
              <a:xfrm>
                <a:off x="656698" y="1778117"/>
                <a:ext cx="4951953" cy="519312"/>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 descr="C:\Users\s00506297\AppData\Roaming\eSpace_Desktop\UserData\s00506297\imagefiles\originalImgfiles\B3FB9DF0-2493-4F93-846B-59B073C1F38E.pn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46112" t="656" r="8570" b="86459"/>
              <a:stretch/>
            </p:blipFill>
            <p:spPr bwMode="gray">
              <a:xfrm>
                <a:off x="656698" y="1267817"/>
                <a:ext cx="2471224" cy="495060"/>
              </a:xfrm>
              <a:prstGeom prst="rect">
                <a:avLst/>
              </a:prstGeom>
              <a:noFill/>
              <a:extLst>
                <a:ext uri="{909E8E84-426E-40DD-AFC4-6F175D3DCCD1}">
                  <a14:hiddenFill xmlns:a14="http://schemas.microsoft.com/office/drawing/2010/main">
                    <a:solidFill>
                      <a:srgbClr val="FFFFFF"/>
                    </a:solidFill>
                  </a14:hiddenFill>
                </a:ext>
              </a:extLst>
            </p:spPr>
          </p:pic>
        </p:grpSp>
        <p:sp>
          <p:nvSpPr>
            <p:cNvPr id="94" name="Text Box 71"/>
            <p:cNvSpPr txBox="1">
              <a:spLocks noChangeArrowheads="1"/>
            </p:cNvSpPr>
            <p:nvPr/>
          </p:nvSpPr>
          <p:spPr bwMode="gray">
            <a:xfrm>
              <a:off x="5638995" y="1286411"/>
              <a:ext cx="1573351" cy="492077"/>
            </a:xfrm>
            <a:prstGeom prst="rect">
              <a:avLst/>
            </a:prstGeom>
            <a:noFill/>
            <a:ln w="31750" algn="ctr">
              <a:noFill/>
              <a:prstDash val="sysDot"/>
              <a:miter lim="800000"/>
              <a:headEnd/>
              <a:tailEnd/>
            </a:ln>
          </p:spPr>
          <p:txBody>
            <a:bodyPr lIns="121565" tIns="60779" rIns="121565" bIns="60779" anchor="ctr" anchorCtr="1">
              <a:spAutoFit/>
            </a:bodyPr>
            <a:lstStyle/>
            <a:p>
              <a:pPr algn="ctr" defTabSz="1217809" fontAlgn="base">
                <a:spcBef>
                  <a:spcPct val="0"/>
                </a:spcBef>
                <a:spcAft>
                  <a:spcPct val="0"/>
                </a:spcAft>
              </a:pPr>
              <a:r>
                <a:rPr kumimoji="1" lang="en-US" altLang="zh-CN" sz="1200" b="1" kern="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NetEngine</a:t>
              </a:r>
              <a:r>
                <a:rPr kumimoji="1" lang="en-US" altLang="zh-CN"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AR6280</a:t>
              </a:r>
            </a:p>
          </p:txBody>
        </p:sp>
        <p:pic>
          <p:nvPicPr>
            <p:cNvPr id="95" name="Picture 2" descr="C:\Users\s00506297\AppData\Roaming\eSpace_Desktop\UserData\s00506297\imagefiles\originalImgfiles\54C2ED29-180F-4B49-A26E-C299E848D8FE.png"/>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b="56854"/>
            <a:stretch/>
          </p:blipFill>
          <p:spPr bwMode="gray">
            <a:xfrm>
              <a:off x="5390692" y="1747032"/>
              <a:ext cx="1995537" cy="415202"/>
            </a:xfrm>
            <a:prstGeom prst="rect">
              <a:avLst/>
            </a:prstGeom>
            <a:noFill/>
            <a:extLst>
              <a:ext uri="{909E8E84-426E-40DD-AFC4-6F175D3DCCD1}">
                <a14:hiddenFill xmlns:a14="http://schemas.microsoft.com/office/drawing/2010/main">
                  <a:solidFill>
                    <a:srgbClr val="FFFFFF"/>
                  </a:solidFill>
                </a14:hiddenFill>
              </a:ext>
            </a:extLst>
          </p:spPr>
        </p:pic>
        <p:sp>
          <p:nvSpPr>
            <p:cNvPr id="97" name="矩形 96"/>
            <p:cNvSpPr/>
            <p:nvPr/>
          </p:nvSpPr>
          <p:spPr bwMode="gray">
            <a:xfrm>
              <a:off x="5524995" y="2116501"/>
              <a:ext cx="1776243" cy="276999"/>
            </a:xfrm>
            <a:prstGeom prst="rect">
              <a:avLst/>
            </a:prstGeom>
          </p:spPr>
          <p:txBody>
            <a:bodyPr wrap="square">
              <a:spAutoFit/>
            </a:bodyPr>
            <a:lstStyle/>
            <a:p>
              <a:pPr algn="ctr" defTabSz="1217809" fontAlgn="base">
                <a:spcBef>
                  <a:spcPct val="0"/>
                </a:spcBef>
                <a:spcAft>
                  <a:spcPct val="0"/>
                </a:spcAft>
              </a:pPr>
              <a:r>
                <a:rPr kumimoji="1" lang="en-US" altLang="zh-CN" sz="1200" i="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SRU-400H/SRU-600H</a:t>
              </a:r>
            </a:p>
          </p:txBody>
        </p:sp>
        <p:grpSp>
          <p:nvGrpSpPr>
            <p:cNvPr id="98" name="组合 97"/>
            <p:cNvGrpSpPr/>
            <p:nvPr/>
          </p:nvGrpSpPr>
          <p:grpSpPr bwMode="gray">
            <a:xfrm>
              <a:off x="1293953" y="2798219"/>
              <a:ext cx="1464036" cy="573150"/>
              <a:chOff x="705886" y="1270364"/>
              <a:chExt cx="1137038" cy="388200"/>
            </a:xfrm>
          </p:grpSpPr>
          <p:sp>
            <p:nvSpPr>
              <p:cNvPr id="99" name="AutoShape 5"/>
              <p:cNvSpPr>
                <a:spLocks noChangeArrowheads="1"/>
              </p:cNvSpPr>
              <p:nvPr/>
            </p:nvSpPr>
            <p:spPr bwMode="gray">
              <a:xfrm>
                <a:off x="723696" y="1270364"/>
                <a:ext cx="1101419" cy="388200"/>
              </a:xfrm>
              <a:prstGeom prst="roundRect">
                <a:avLst>
                  <a:gd name="adj" fmla="val 9979"/>
                </a:avLst>
              </a:prstGeom>
              <a:solidFill>
                <a:srgbClr val="56C4D2"/>
              </a:solidFill>
              <a:ln>
                <a:noFill/>
              </a:ln>
              <a:effectLst/>
              <a:scene3d>
                <a:camera prst="orthographicFront">
                  <a:rot lat="0" lon="0" rev="0"/>
                </a:camera>
                <a:lightRig rig="threePt" dir="t">
                  <a:rot lat="0" lon="0" rev="1200000"/>
                </a:lightRig>
              </a:scene3d>
              <a:sp3d/>
            </p:spPr>
            <p:txBody>
              <a:bodyPr lIns="35944" tIns="60811" rIns="35944" bIns="60811" anchor="ctr"/>
              <a:lstStyle/>
              <a:p>
                <a:pPr algn="ctr" defTabSz="1217809" fontAlgn="ctr">
                  <a:spcBef>
                    <a:spcPct val="0"/>
                  </a:spcBef>
                  <a:spcAft>
                    <a:spcPct val="0"/>
                  </a:spcAft>
                  <a:buClr>
                    <a:srgbClr val="990000"/>
                  </a:buClr>
                  <a:buSzPct val="60000"/>
                  <a:defRPr/>
                </a:pPr>
                <a:endParaRPr kumimoji="1" lang="en-US" altLang="zh-CN" sz="1333" b="1"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00" name="TextBox 128"/>
              <p:cNvSpPr txBox="1">
                <a:spLocks noChangeArrowheads="1"/>
              </p:cNvSpPr>
              <p:nvPr/>
            </p:nvSpPr>
            <p:spPr bwMode="gray">
              <a:xfrm>
                <a:off x="705886" y="1309791"/>
                <a:ext cx="1137038" cy="312591"/>
              </a:xfrm>
              <a:prstGeom prst="rect">
                <a:avLst/>
              </a:prstGeom>
              <a:noFill/>
              <a:ln w="9525">
                <a:noFill/>
                <a:miter lim="800000"/>
                <a:headEnd/>
                <a:tailEnd/>
              </a:ln>
            </p:spPr>
            <p:txBody>
              <a:bodyPr wrap="square" lIns="91298" tIns="45648" rIns="91298" bIns="45648" anchor="ctr">
                <a:spAutoFit/>
              </a:bodyPr>
              <a:lstStyle/>
              <a:p>
                <a:pPr algn="ctr" defTabSz="1217809" eaLnBrk="0" fontAlgn="ctr" hangingPunct="0">
                  <a:spcBef>
                    <a:spcPct val="0"/>
                  </a:spcBef>
                  <a:spcAft>
                    <a:spcPct val="0"/>
                  </a:spcAft>
                  <a:buSzPct val="100000"/>
                </a:pPr>
                <a:r>
                  <a:rPr kumimoji="1" lang="en-US" altLang="zh-CN" sz="1200" b="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NetEngine </a:t>
                </a:r>
                <a:endParaRPr kumimoji="1" lang="en-US" altLang="zh-CN"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1217809" eaLnBrk="0" fontAlgn="ctr" hangingPunct="0">
                  <a:spcBef>
                    <a:spcPct val="0"/>
                  </a:spcBef>
                  <a:spcAft>
                    <a:spcPct val="0"/>
                  </a:spcAft>
                  <a:buSzPct val="100000"/>
                </a:pPr>
                <a:r>
                  <a:rPr kumimoji="1" lang="en-US" altLang="zh-CN" sz="1200" b="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AR6100 </a:t>
                </a:r>
                <a:r>
                  <a:rPr kumimoji="1" lang="zh-CN" altLang="en-US" sz="1200" b="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系列</a:t>
                </a:r>
                <a:endParaRPr kumimoji="1" lang="en-US" altLang="zh-CN"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4" name="Text Box 72"/>
            <p:cNvSpPr txBox="1">
              <a:spLocks noChangeArrowheads="1"/>
            </p:cNvSpPr>
            <p:nvPr/>
          </p:nvSpPr>
          <p:spPr bwMode="gray">
            <a:xfrm>
              <a:off x="5642547" y="2769585"/>
              <a:ext cx="1599163" cy="307427"/>
            </a:xfrm>
            <a:prstGeom prst="rect">
              <a:avLst/>
            </a:prstGeom>
            <a:noFill/>
            <a:ln w="31750" algn="ctr">
              <a:noFill/>
              <a:prstDash val="sysDot"/>
              <a:miter lim="800000"/>
              <a:headEnd/>
              <a:tailEnd/>
            </a:ln>
          </p:spPr>
          <p:txBody>
            <a:bodyPr wrap="square" lIns="121565" tIns="60779" rIns="121565" bIns="60779" anchor="ctr" anchorCtr="1">
              <a:spAutoFit/>
            </a:bodyPr>
            <a:lstStyle>
              <a:defPPr>
                <a:defRPr lang="en-US"/>
              </a:defPPr>
              <a:lvl1pPr algn="ctr" defTabSz="1217809" eaLnBrk="0" hangingPunct="0">
                <a:spcBef>
                  <a:spcPct val="50000"/>
                </a:spcBef>
                <a:spcAft>
                  <a:spcPct val="0"/>
                </a:spcAft>
                <a:buSzPct val="100000"/>
                <a:defRPr kumimoji="1" sz="1200" b="1">
                  <a:solidFill>
                    <a:srgbClr val="000000"/>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AR6140</a:t>
              </a:r>
              <a:r>
                <a:rPr lang="zh-CN" altLang="en-US" dirty="0">
                  <a:sym typeface="Huawei Sans" panose="020C0503030203020204" pitchFamily="34" charset="0"/>
                </a:rPr>
                <a:t>系列</a:t>
              </a:r>
              <a:endParaRPr lang="en-US" altLang="zh-CN" dirty="0">
                <a:sym typeface="Huawei Sans" panose="020C0503030203020204" pitchFamily="34" charset="0"/>
              </a:endParaRPr>
            </a:p>
          </p:txBody>
        </p:sp>
        <p:sp>
          <p:nvSpPr>
            <p:cNvPr id="58" name="Text Box 72"/>
            <p:cNvSpPr txBox="1">
              <a:spLocks noChangeArrowheads="1"/>
            </p:cNvSpPr>
            <p:nvPr/>
          </p:nvSpPr>
          <p:spPr bwMode="gray">
            <a:xfrm>
              <a:off x="3501848" y="2771818"/>
              <a:ext cx="1108523" cy="307411"/>
            </a:xfrm>
            <a:prstGeom prst="rect">
              <a:avLst/>
            </a:prstGeom>
            <a:noFill/>
            <a:ln w="31750" algn="ctr">
              <a:noFill/>
              <a:prstDash val="sysDot"/>
              <a:miter lim="800000"/>
              <a:headEnd/>
              <a:tailEnd/>
            </a:ln>
          </p:spPr>
          <p:txBody>
            <a:bodyPr wrap="square" lIns="121565" tIns="60779" rIns="121565" bIns="60779" anchor="ctr" anchorCtr="1">
              <a:spAutoFit/>
            </a:bodyPr>
            <a:lstStyle/>
            <a:p>
              <a:pPr algn="ctr" defTabSz="1217809" eaLnBrk="0" hangingPunct="0">
                <a:spcBef>
                  <a:spcPct val="50000"/>
                </a:spcBef>
                <a:spcAft>
                  <a:spcPct val="0"/>
                </a:spcAft>
                <a:buSzPct val="100000"/>
              </a:pPr>
              <a:r>
                <a:rPr kumimoji="1"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AR6120</a:t>
              </a:r>
              <a:r>
                <a:rPr kumimoji="1"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系列</a:t>
              </a:r>
              <a:endParaRPr kumimoji="1"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29" name="Picture 5" descr="C:\Users\s00506297\AppData\Roaming\eSpace_Desktop\UserData\s00506297\imagefiles\originalImgfiles\316654FD-ABBB-4440-988E-00BC89B9FDC8.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gray">
            <a:xfrm>
              <a:off x="3193465" y="3045370"/>
              <a:ext cx="1746064" cy="20650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C:\Users\s00506297\AppData\Roaming\eSpace_Desktop\UserData\s00506297\imagefiles\originalImgfiles\164B6C69-4C58-415B-ACE8-866BD1A85D80.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gray">
            <a:xfrm>
              <a:off x="5390692" y="3026878"/>
              <a:ext cx="2016517" cy="223426"/>
            </a:xfrm>
            <a:prstGeom prst="rect">
              <a:avLst/>
            </a:prstGeom>
            <a:noFill/>
            <a:extLst>
              <a:ext uri="{909E8E84-426E-40DD-AFC4-6F175D3DCCD1}">
                <a14:hiddenFill xmlns:a14="http://schemas.microsoft.com/office/drawing/2010/main">
                  <a:solidFill>
                    <a:srgbClr val="FFFFFF"/>
                  </a:solidFill>
                </a14:hiddenFill>
              </a:ext>
            </a:extLst>
          </p:spPr>
        </p:pic>
        <p:grpSp>
          <p:nvGrpSpPr>
            <p:cNvPr id="104" name="组合 103"/>
            <p:cNvGrpSpPr/>
            <p:nvPr/>
          </p:nvGrpSpPr>
          <p:grpSpPr bwMode="gray">
            <a:xfrm>
              <a:off x="1293953" y="4101348"/>
              <a:ext cx="1464036" cy="573150"/>
              <a:chOff x="705886" y="1270364"/>
              <a:chExt cx="1137038" cy="388200"/>
            </a:xfrm>
          </p:grpSpPr>
          <p:sp>
            <p:nvSpPr>
              <p:cNvPr id="105" name="AutoShape 5"/>
              <p:cNvSpPr>
                <a:spLocks noChangeArrowheads="1"/>
              </p:cNvSpPr>
              <p:nvPr/>
            </p:nvSpPr>
            <p:spPr bwMode="gray">
              <a:xfrm>
                <a:off x="723696" y="1270364"/>
                <a:ext cx="1101419" cy="388200"/>
              </a:xfrm>
              <a:prstGeom prst="roundRect">
                <a:avLst>
                  <a:gd name="adj" fmla="val 9979"/>
                </a:avLst>
              </a:prstGeom>
              <a:solidFill>
                <a:srgbClr val="56C4D2"/>
              </a:solidFill>
              <a:ln>
                <a:noFill/>
              </a:ln>
              <a:effectLst/>
              <a:scene3d>
                <a:camera prst="orthographicFront">
                  <a:rot lat="0" lon="0" rev="0"/>
                </a:camera>
                <a:lightRig rig="threePt" dir="t">
                  <a:rot lat="0" lon="0" rev="1200000"/>
                </a:lightRig>
              </a:scene3d>
              <a:sp3d/>
            </p:spPr>
            <p:txBody>
              <a:bodyPr lIns="35944" tIns="60811" rIns="35944" bIns="60811" anchor="ctr"/>
              <a:lstStyle/>
              <a:p>
                <a:pPr algn="ctr" defTabSz="1217809" fontAlgn="ctr">
                  <a:spcBef>
                    <a:spcPct val="0"/>
                  </a:spcBef>
                  <a:spcAft>
                    <a:spcPct val="0"/>
                  </a:spcAft>
                  <a:buClr>
                    <a:srgbClr val="990000"/>
                  </a:buClr>
                  <a:buSzPct val="60000"/>
                  <a:defRPr/>
                </a:pPr>
                <a:endParaRPr kumimoji="1" lang="en-US" altLang="zh-CN" sz="1333" b="1"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06" name="TextBox 128"/>
              <p:cNvSpPr txBox="1">
                <a:spLocks noChangeArrowheads="1"/>
              </p:cNvSpPr>
              <p:nvPr/>
            </p:nvSpPr>
            <p:spPr bwMode="gray">
              <a:xfrm>
                <a:off x="705886" y="1309791"/>
                <a:ext cx="1137038" cy="312591"/>
              </a:xfrm>
              <a:prstGeom prst="rect">
                <a:avLst/>
              </a:prstGeom>
              <a:noFill/>
              <a:ln w="9525">
                <a:noFill/>
                <a:miter lim="800000"/>
                <a:headEnd/>
                <a:tailEnd/>
              </a:ln>
            </p:spPr>
            <p:txBody>
              <a:bodyPr wrap="square" lIns="91298" tIns="45648" rIns="91298" bIns="45648" anchor="ctr">
                <a:spAutoFit/>
              </a:bodyPr>
              <a:lstStyle/>
              <a:p>
                <a:pPr algn="ctr" defTabSz="1217809" eaLnBrk="0" fontAlgn="ctr" hangingPunct="0">
                  <a:spcBef>
                    <a:spcPct val="0"/>
                  </a:spcBef>
                  <a:spcAft>
                    <a:spcPct val="0"/>
                  </a:spcAft>
                  <a:buSzPct val="100000"/>
                </a:pPr>
                <a:r>
                  <a:rPr kumimoji="1" lang="en-US" altLang="zh-CN" sz="1200" b="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NetEngine </a:t>
                </a:r>
                <a:endParaRPr kumimoji="1" lang="en-US" altLang="zh-CN"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1217809" eaLnBrk="0" fontAlgn="ctr" hangingPunct="0">
                  <a:spcBef>
                    <a:spcPct val="0"/>
                  </a:spcBef>
                  <a:spcAft>
                    <a:spcPct val="0"/>
                  </a:spcAft>
                  <a:buSzPct val="100000"/>
                </a:pPr>
                <a:r>
                  <a:rPr kumimoji="1" lang="en-US" altLang="zh-CN"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AR650</a:t>
                </a:r>
                <a:r>
                  <a:rPr kumimoji="1" lang="zh-CN" altLang="en-US"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系列</a:t>
                </a:r>
                <a:endParaRPr kumimoji="1" lang="en-US" altLang="zh-CN"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8" name="Text Box 35"/>
            <p:cNvSpPr txBox="1">
              <a:spLocks noChangeArrowheads="1"/>
            </p:cNvSpPr>
            <p:nvPr/>
          </p:nvSpPr>
          <p:spPr bwMode="gray">
            <a:xfrm>
              <a:off x="3443309" y="4159547"/>
              <a:ext cx="1022961" cy="238161"/>
            </a:xfrm>
            <a:prstGeom prst="rect">
              <a:avLst/>
            </a:prstGeom>
            <a:noFill/>
            <a:ln w="31750" algn="ctr">
              <a:noFill/>
              <a:prstDash val="sysDot"/>
              <a:miter lim="800000"/>
              <a:headEnd/>
              <a:tailEnd/>
            </a:ln>
          </p:spPr>
          <p:txBody>
            <a:bodyPr wrap="none" lIns="121565" tIns="60779" rIns="121565" bIns="60779" anchor="ctr" anchorCtr="1">
              <a:spAutoFit/>
            </a:bodyPr>
            <a:lstStyle/>
            <a:p>
              <a:pPr indent="-397534" algn="ctr" defTabSz="1217809" eaLnBrk="0" hangingPunct="0">
                <a:lnSpc>
                  <a:spcPct val="50000"/>
                </a:lnSpc>
                <a:spcBef>
                  <a:spcPct val="50000"/>
                </a:spcBef>
                <a:spcAft>
                  <a:spcPct val="0"/>
                </a:spcAft>
                <a:buSzPct val="100000"/>
              </a:pPr>
              <a:r>
                <a:rPr kumimoji="1"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AR650</a:t>
              </a:r>
              <a:r>
                <a:rPr kumimoji="1"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系列</a:t>
              </a:r>
              <a:endParaRPr kumimoji="1"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矩形 111"/>
            <p:cNvSpPr/>
            <p:nvPr/>
          </p:nvSpPr>
          <p:spPr bwMode="gray">
            <a:xfrm>
              <a:off x="2971693" y="3879996"/>
              <a:ext cx="1882854" cy="276854"/>
            </a:xfrm>
            <a:prstGeom prst="rect">
              <a:avLst/>
            </a:prstGeom>
            <a:noFill/>
          </p:spPr>
          <p:txBody>
            <a:bodyPr wrap="square" lIns="91298" tIns="45648" rIns="91298" bIns="45648">
              <a:spAutoFit/>
              <a:scene3d>
                <a:camera prst="orthographicFront"/>
                <a:lightRig rig="threePt" dir="t"/>
              </a:scene3d>
              <a:sp3d extrusionH="57150">
                <a:bevelT w="82550" h="38100" prst="coolSlant"/>
              </a:sp3d>
            </a:bodyPr>
            <a:lstStyle/>
            <a:p>
              <a:pPr algn="ctr" defTabSz="1217809" fontAlgn="ctr">
                <a:spcBef>
                  <a:spcPct val="0"/>
                </a:spcBef>
                <a:spcAft>
                  <a:spcPct val="0"/>
                </a:spcAft>
                <a:defRPr/>
              </a:pPr>
              <a:r>
                <a:rPr kumimoji="1"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以太 </a:t>
              </a:r>
              <a:r>
                <a:rPr kumimoji="1"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Wi-Fi + LTE(MIC)</a:t>
              </a:r>
            </a:p>
          </p:txBody>
        </p:sp>
        <p:cxnSp>
          <p:nvCxnSpPr>
            <p:cNvPr id="116" name="直接连接符 115"/>
            <p:cNvCxnSpPr/>
            <p:nvPr/>
          </p:nvCxnSpPr>
          <p:spPr bwMode="gray">
            <a:xfrm>
              <a:off x="3294922" y="4148152"/>
              <a:ext cx="1319735" cy="0"/>
            </a:xfrm>
            <a:prstGeom prst="line">
              <a:avLst/>
            </a:prstGeom>
            <a:noFill/>
            <a:ln w="19050" cap="flat" cmpd="sng" algn="ctr">
              <a:solidFill>
                <a:srgbClr val="30B5C5"/>
              </a:solidFill>
              <a:prstDash val="solid"/>
            </a:ln>
            <a:effectLst/>
          </p:spPr>
        </p:cxnSp>
        <p:cxnSp>
          <p:nvCxnSpPr>
            <p:cNvPr id="121" name="直接连接符 120"/>
            <p:cNvCxnSpPr>
              <a:cxnSpLocks/>
            </p:cNvCxnSpPr>
            <p:nvPr/>
          </p:nvCxnSpPr>
          <p:spPr bwMode="gray">
            <a:xfrm>
              <a:off x="1316885" y="4847327"/>
              <a:ext cx="6069344" cy="0"/>
            </a:xfrm>
            <a:prstGeom prst="line">
              <a:avLst/>
            </a:prstGeom>
            <a:noFill/>
            <a:ln w="9525" cap="flat" cmpd="sng" algn="ctr">
              <a:solidFill>
                <a:srgbClr val="30B5C5"/>
              </a:solidFill>
              <a:prstDash val="dash"/>
            </a:ln>
            <a:effectLst/>
          </p:spPr>
        </p:cxnSp>
        <p:sp>
          <p:nvSpPr>
            <p:cNvPr id="122" name="Rectangle 63"/>
            <p:cNvSpPr>
              <a:spLocks noChangeArrowheads="1"/>
            </p:cNvSpPr>
            <p:nvPr/>
          </p:nvSpPr>
          <p:spPr bwMode="gray">
            <a:xfrm>
              <a:off x="1383971" y="4954100"/>
              <a:ext cx="1247485" cy="338164"/>
            </a:xfrm>
            <a:prstGeom prst="rect">
              <a:avLst/>
            </a:prstGeom>
            <a:noFill/>
            <a:ln w="9525" algn="ctr">
              <a:noFill/>
              <a:miter lim="800000"/>
              <a:headEnd/>
              <a:tailEnd/>
            </a:ln>
          </p:spPr>
          <p:txBody>
            <a:bodyPr wrap="square" lIns="121746" tIns="60874" rIns="121746" bIns="60874">
              <a:spAutoFit/>
            </a:bodyPr>
            <a:lstStyle/>
            <a:p>
              <a:pPr algn="ctr" defTabSz="1217809" eaLnBrk="0" fontAlgn="ctr" hangingPunct="0">
                <a:spcBef>
                  <a:spcPct val="0"/>
                </a:spcBef>
                <a:spcAft>
                  <a:spcPct val="0"/>
                </a:spcAft>
                <a:buSzPct val="100000"/>
              </a:pPr>
              <a:r>
                <a:rPr kumimoji="1" lang="en-US" altLang="zh-CN" sz="1399"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SOHO </a:t>
              </a:r>
            </a:p>
          </p:txBody>
        </p:sp>
        <p:grpSp>
          <p:nvGrpSpPr>
            <p:cNvPr id="123" name="组合 122"/>
            <p:cNvGrpSpPr/>
            <p:nvPr/>
          </p:nvGrpSpPr>
          <p:grpSpPr bwMode="gray">
            <a:xfrm>
              <a:off x="1275696" y="5283126"/>
              <a:ext cx="1464036" cy="573150"/>
              <a:chOff x="705886" y="1209110"/>
              <a:chExt cx="1137038" cy="388200"/>
            </a:xfrm>
          </p:grpSpPr>
          <p:sp>
            <p:nvSpPr>
              <p:cNvPr id="126" name="AutoShape 5"/>
              <p:cNvSpPr>
                <a:spLocks noChangeArrowheads="1"/>
              </p:cNvSpPr>
              <p:nvPr/>
            </p:nvSpPr>
            <p:spPr bwMode="gray">
              <a:xfrm>
                <a:off x="723696" y="1209110"/>
                <a:ext cx="1101419" cy="388200"/>
              </a:xfrm>
              <a:prstGeom prst="roundRect">
                <a:avLst>
                  <a:gd name="adj" fmla="val 9979"/>
                </a:avLst>
              </a:prstGeom>
              <a:solidFill>
                <a:srgbClr val="56C4D2"/>
              </a:solidFill>
              <a:ln>
                <a:noFill/>
              </a:ln>
              <a:effectLst/>
              <a:scene3d>
                <a:camera prst="orthographicFront">
                  <a:rot lat="0" lon="0" rev="0"/>
                </a:camera>
                <a:lightRig rig="threePt" dir="t">
                  <a:rot lat="0" lon="0" rev="1200000"/>
                </a:lightRig>
              </a:scene3d>
              <a:sp3d/>
            </p:spPr>
            <p:txBody>
              <a:bodyPr lIns="35944" tIns="60811" rIns="35944" bIns="60811" anchor="ctr"/>
              <a:lstStyle/>
              <a:p>
                <a:pPr algn="ctr" defTabSz="1217809" fontAlgn="ctr">
                  <a:spcBef>
                    <a:spcPct val="0"/>
                  </a:spcBef>
                  <a:spcAft>
                    <a:spcPct val="0"/>
                  </a:spcAft>
                  <a:buClr>
                    <a:srgbClr val="990000"/>
                  </a:buClr>
                  <a:buSzPct val="60000"/>
                  <a:defRPr/>
                </a:pPr>
                <a:endParaRPr kumimoji="1" lang="en-US" altLang="zh-CN" sz="1333" b="1" kern="0"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27" name="TextBox 128"/>
              <p:cNvSpPr txBox="1">
                <a:spLocks noChangeArrowheads="1"/>
              </p:cNvSpPr>
              <p:nvPr/>
            </p:nvSpPr>
            <p:spPr bwMode="gray">
              <a:xfrm>
                <a:off x="705886" y="1248537"/>
                <a:ext cx="1137038" cy="312591"/>
              </a:xfrm>
              <a:prstGeom prst="rect">
                <a:avLst/>
              </a:prstGeom>
              <a:noFill/>
              <a:ln w="9525">
                <a:noFill/>
                <a:miter lim="800000"/>
                <a:headEnd/>
                <a:tailEnd/>
              </a:ln>
            </p:spPr>
            <p:txBody>
              <a:bodyPr wrap="square" lIns="91298" tIns="45648" rIns="91298" bIns="45648" anchor="ctr">
                <a:spAutoFit/>
              </a:bodyPr>
              <a:lstStyle/>
              <a:p>
                <a:pPr algn="ctr" defTabSz="1217809" eaLnBrk="0" fontAlgn="ctr" hangingPunct="0">
                  <a:spcBef>
                    <a:spcPct val="0"/>
                  </a:spcBef>
                  <a:spcAft>
                    <a:spcPct val="0"/>
                  </a:spcAft>
                  <a:buSzPct val="100000"/>
                </a:pPr>
                <a:r>
                  <a:rPr kumimoji="1" lang="en-US" altLang="zh-CN" sz="1200" b="1" dirty="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NetEngine</a:t>
                </a:r>
                <a:r>
                  <a:rPr kumimoji="1" lang="en-US" altLang="zh-CN"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p>
              <a:p>
                <a:pPr algn="ctr" defTabSz="1217809" eaLnBrk="0" fontAlgn="ctr" hangingPunct="0">
                  <a:spcBef>
                    <a:spcPct val="0"/>
                  </a:spcBef>
                  <a:spcAft>
                    <a:spcPct val="0"/>
                  </a:spcAft>
                  <a:buSzPct val="100000"/>
                </a:pPr>
                <a:r>
                  <a:rPr kumimoji="1" lang="en-US" altLang="zh-CN"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AR610</a:t>
                </a:r>
                <a:r>
                  <a:rPr kumimoji="1" lang="zh-CN" altLang="en-US"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系列</a:t>
                </a:r>
                <a:endParaRPr kumimoji="1" lang="en-US" altLang="zh-CN"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4" name="圆角矩形 75">
              <a:extLst>
                <a:ext uri="{FF2B5EF4-FFF2-40B4-BE49-F238E27FC236}">
                  <a16:creationId xmlns:a16="http://schemas.microsoft.com/office/drawing/2014/main" id="{BBF69540-54D8-46D7-9024-4C7B3AB824B8}"/>
                </a:ext>
              </a:extLst>
            </p:cNvPr>
            <p:cNvSpPr/>
            <p:nvPr/>
          </p:nvSpPr>
          <p:spPr bwMode="gray">
            <a:xfrm>
              <a:off x="1203904" y="1148956"/>
              <a:ext cx="6302215" cy="4943794"/>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cxnSp>
          <p:nvCxnSpPr>
            <p:cNvPr id="45" name="Straight Connector 44">
              <a:extLst>
                <a:ext uri="{FF2B5EF4-FFF2-40B4-BE49-F238E27FC236}">
                  <a16:creationId xmlns:a16="http://schemas.microsoft.com/office/drawing/2014/main" id="{6BE79EEA-8548-45EB-ABDC-5E9EF4650340}"/>
                </a:ext>
              </a:extLst>
            </p:cNvPr>
            <p:cNvCxnSpPr>
              <a:cxnSpLocks/>
            </p:cNvCxnSpPr>
            <p:nvPr/>
          </p:nvCxnSpPr>
          <p:spPr bwMode="gray">
            <a:xfrm>
              <a:off x="7486220" y="1188705"/>
              <a:ext cx="1511865" cy="1158538"/>
            </a:xfrm>
            <a:prstGeom prst="line">
              <a:avLst/>
            </a:prstGeom>
            <a:noFill/>
            <a:ln w="19050" cap="flat" cmpd="sng" algn="ctr">
              <a:solidFill>
                <a:srgbClr val="30B5C5"/>
              </a:solidFill>
              <a:prstDash val="dash"/>
              <a:miter lim="800000"/>
            </a:ln>
            <a:effectLst/>
          </p:spPr>
        </p:cxnSp>
        <p:sp>
          <p:nvSpPr>
            <p:cNvPr id="52" name="圆角矩形 75">
              <a:extLst>
                <a:ext uri="{FF2B5EF4-FFF2-40B4-BE49-F238E27FC236}">
                  <a16:creationId xmlns:a16="http://schemas.microsoft.com/office/drawing/2014/main" id="{D322594D-9864-46C3-967B-E985ACACFB6B}"/>
                </a:ext>
              </a:extLst>
            </p:cNvPr>
            <p:cNvSpPr/>
            <p:nvPr/>
          </p:nvSpPr>
          <p:spPr bwMode="gray">
            <a:xfrm>
              <a:off x="8998085" y="2347243"/>
              <a:ext cx="1894326" cy="2697289"/>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pic>
          <p:nvPicPr>
            <p:cNvPr id="53" name="图片 31">
              <a:extLst>
                <a:ext uri="{FF2B5EF4-FFF2-40B4-BE49-F238E27FC236}">
                  <a16:creationId xmlns:a16="http://schemas.microsoft.com/office/drawing/2014/main" id="{BB9D781C-61B2-497F-A57A-7E216B799BB3}"/>
                </a:ext>
              </a:extLst>
            </p:cNvPr>
            <p:cNvPicPr>
              <a:picLocks noChangeAspect="1"/>
            </p:cNvPicPr>
            <p:nvPr/>
          </p:nvPicPr>
          <p:blipFill>
            <a:blip r:embed="rId11"/>
            <a:stretch>
              <a:fillRect/>
            </a:stretch>
          </p:blipFill>
          <p:spPr bwMode="gray">
            <a:xfrm>
              <a:off x="9333320" y="2584891"/>
              <a:ext cx="466668" cy="389308"/>
            </a:xfrm>
            <a:prstGeom prst="rect">
              <a:avLst/>
            </a:prstGeom>
          </p:spPr>
        </p:pic>
        <p:pic>
          <p:nvPicPr>
            <p:cNvPr id="54" name="图片 31">
              <a:extLst>
                <a:ext uri="{FF2B5EF4-FFF2-40B4-BE49-F238E27FC236}">
                  <a16:creationId xmlns:a16="http://schemas.microsoft.com/office/drawing/2014/main" id="{8EF5D122-B64B-4729-BEA4-5B30984D87B7}"/>
                </a:ext>
              </a:extLst>
            </p:cNvPr>
            <p:cNvPicPr>
              <a:picLocks noChangeAspect="1"/>
            </p:cNvPicPr>
            <p:nvPr/>
          </p:nvPicPr>
          <p:blipFill>
            <a:blip r:embed="rId11"/>
            <a:stretch>
              <a:fillRect/>
            </a:stretch>
          </p:blipFill>
          <p:spPr bwMode="gray">
            <a:xfrm>
              <a:off x="9333320" y="3447341"/>
              <a:ext cx="466668" cy="389308"/>
            </a:xfrm>
            <a:prstGeom prst="rect">
              <a:avLst/>
            </a:prstGeom>
          </p:spPr>
        </p:pic>
        <p:pic>
          <p:nvPicPr>
            <p:cNvPr id="55" name="图片 31">
              <a:extLst>
                <a:ext uri="{FF2B5EF4-FFF2-40B4-BE49-F238E27FC236}">
                  <a16:creationId xmlns:a16="http://schemas.microsoft.com/office/drawing/2014/main" id="{0805ABDA-8CA4-4600-8F4A-1A898684A6C3}"/>
                </a:ext>
              </a:extLst>
            </p:cNvPr>
            <p:cNvPicPr>
              <a:picLocks noChangeAspect="1"/>
            </p:cNvPicPr>
            <p:nvPr/>
          </p:nvPicPr>
          <p:blipFill>
            <a:blip r:embed="rId11"/>
            <a:stretch>
              <a:fillRect/>
            </a:stretch>
          </p:blipFill>
          <p:spPr bwMode="gray">
            <a:xfrm>
              <a:off x="9333320" y="4382856"/>
              <a:ext cx="466668" cy="389308"/>
            </a:xfrm>
            <a:prstGeom prst="rect">
              <a:avLst/>
            </a:prstGeom>
          </p:spPr>
        </p:pic>
        <p:sp>
          <p:nvSpPr>
            <p:cNvPr id="56" name="Text Box 71">
              <a:extLst>
                <a:ext uri="{FF2B5EF4-FFF2-40B4-BE49-F238E27FC236}">
                  <a16:creationId xmlns:a16="http://schemas.microsoft.com/office/drawing/2014/main" id="{D63869F6-A01C-48EF-9838-B488D67333F0}"/>
                </a:ext>
              </a:extLst>
            </p:cNvPr>
            <p:cNvSpPr txBox="1">
              <a:spLocks noChangeArrowheads="1"/>
            </p:cNvSpPr>
            <p:nvPr/>
          </p:nvSpPr>
          <p:spPr bwMode="gray">
            <a:xfrm>
              <a:off x="9861819" y="2599982"/>
              <a:ext cx="720688" cy="338189"/>
            </a:xfrm>
            <a:prstGeom prst="rect">
              <a:avLst/>
            </a:prstGeom>
            <a:noFill/>
            <a:ln w="31750" algn="ctr">
              <a:noFill/>
              <a:prstDash val="sysDot"/>
              <a:miter lim="800000"/>
              <a:headEnd/>
              <a:tailEnd/>
            </a:ln>
          </p:spPr>
          <p:txBody>
            <a:bodyPr wrap="square" lIns="121565" tIns="60779" rIns="121565" bIns="60779" anchor="ctr" anchorCtr="1">
              <a:spAutoFit/>
            </a:bodyPr>
            <a:lstStyle/>
            <a:p>
              <a:pPr algn="ctr" defTabSz="1217809" fontAlgn="base">
                <a:spcBef>
                  <a:spcPct val="0"/>
                </a:spcBef>
                <a:spcAft>
                  <a:spcPct val="0"/>
                </a:spcAft>
              </a:pPr>
              <a:r>
                <a:rPr kumimoji="1"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57" name="Text Box 71">
              <a:extLst>
                <a:ext uri="{FF2B5EF4-FFF2-40B4-BE49-F238E27FC236}">
                  <a16:creationId xmlns:a16="http://schemas.microsoft.com/office/drawing/2014/main" id="{7F27E88A-5C4D-4DD0-93F1-D277F215E088}"/>
                </a:ext>
              </a:extLst>
            </p:cNvPr>
            <p:cNvSpPr txBox="1">
              <a:spLocks noChangeArrowheads="1"/>
            </p:cNvSpPr>
            <p:nvPr/>
          </p:nvSpPr>
          <p:spPr bwMode="gray">
            <a:xfrm>
              <a:off x="9861819" y="3469697"/>
              <a:ext cx="579181" cy="338189"/>
            </a:xfrm>
            <a:prstGeom prst="rect">
              <a:avLst/>
            </a:prstGeom>
            <a:noFill/>
            <a:ln w="31750" algn="ctr">
              <a:noFill/>
              <a:prstDash val="sysDot"/>
              <a:miter lim="800000"/>
              <a:headEnd/>
              <a:tailEnd/>
            </a:ln>
          </p:spPr>
          <p:txBody>
            <a:bodyPr wrap="square" lIns="121565" tIns="60779" rIns="121565" bIns="60779" anchor="ctr" anchorCtr="1">
              <a:spAutoFit/>
            </a:bodyPr>
            <a:lstStyle/>
            <a:p>
              <a:pPr algn="ctr" defTabSz="1217809" fontAlgn="base">
                <a:spcBef>
                  <a:spcPct val="0"/>
                </a:spcBef>
                <a:spcAft>
                  <a:spcPct val="0"/>
                </a:spcAft>
              </a:pPr>
              <a:r>
                <a:rPr kumimoji="1"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RR</a:t>
              </a:r>
            </a:p>
          </p:txBody>
        </p:sp>
        <p:sp>
          <p:nvSpPr>
            <p:cNvPr id="60" name="Text Box 71">
              <a:extLst>
                <a:ext uri="{FF2B5EF4-FFF2-40B4-BE49-F238E27FC236}">
                  <a16:creationId xmlns:a16="http://schemas.microsoft.com/office/drawing/2014/main" id="{4446A398-E102-4C75-B5A7-4ADBBA439C8E}"/>
                </a:ext>
              </a:extLst>
            </p:cNvPr>
            <p:cNvSpPr txBox="1">
              <a:spLocks noChangeArrowheads="1"/>
            </p:cNvSpPr>
            <p:nvPr/>
          </p:nvSpPr>
          <p:spPr bwMode="gray">
            <a:xfrm>
              <a:off x="9861819" y="4383986"/>
              <a:ext cx="579181" cy="338189"/>
            </a:xfrm>
            <a:prstGeom prst="rect">
              <a:avLst/>
            </a:prstGeom>
            <a:noFill/>
            <a:ln w="31750" algn="ctr">
              <a:noFill/>
              <a:prstDash val="sysDot"/>
              <a:miter lim="800000"/>
              <a:headEnd/>
              <a:tailEnd/>
            </a:ln>
          </p:spPr>
          <p:txBody>
            <a:bodyPr wrap="square" lIns="121565" tIns="60779" rIns="121565" bIns="60779" anchor="ctr" anchorCtr="1">
              <a:spAutoFit/>
            </a:bodyPr>
            <a:lstStyle/>
            <a:p>
              <a:pPr algn="ctr" defTabSz="1217809" fontAlgn="base">
                <a:spcBef>
                  <a:spcPct val="0"/>
                </a:spcBef>
                <a:spcAft>
                  <a:spcPct val="0"/>
                </a:spcAft>
              </a:pPr>
              <a:r>
                <a:rPr kumimoji="1" lang="en-US" altLang="zh-CN"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GW</a:t>
              </a:r>
            </a:p>
          </p:txBody>
        </p:sp>
        <p:cxnSp>
          <p:nvCxnSpPr>
            <p:cNvPr id="62" name="Straight Connector 61">
              <a:extLst>
                <a:ext uri="{FF2B5EF4-FFF2-40B4-BE49-F238E27FC236}">
                  <a16:creationId xmlns:a16="http://schemas.microsoft.com/office/drawing/2014/main" id="{790FC2D2-9F55-4FDA-BD18-743EA8E815AE}"/>
                </a:ext>
              </a:extLst>
            </p:cNvPr>
            <p:cNvCxnSpPr>
              <a:cxnSpLocks/>
            </p:cNvCxnSpPr>
            <p:nvPr/>
          </p:nvCxnSpPr>
          <p:spPr bwMode="gray">
            <a:xfrm flipV="1">
              <a:off x="7469249" y="5044532"/>
              <a:ext cx="1528836" cy="1028124"/>
            </a:xfrm>
            <a:prstGeom prst="line">
              <a:avLst/>
            </a:prstGeom>
            <a:noFill/>
            <a:ln w="19050" cap="flat" cmpd="sng" algn="ctr">
              <a:solidFill>
                <a:srgbClr val="30B5C5"/>
              </a:solidFill>
              <a:prstDash val="dash"/>
              <a:miter lim="800000"/>
            </a:ln>
            <a:effectLst/>
          </p:spPr>
        </p:cxnSp>
        <p:sp>
          <p:nvSpPr>
            <p:cNvPr id="16" name="TextBox 15">
              <a:extLst>
                <a:ext uri="{FF2B5EF4-FFF2-40B4-BE49-F238E27FC236}">
                  <a16:creationId xmlns:a16="http://schemas.microsoft.com/office/drawing/2014/main" id="{5C01BCE3-A99C-4EAC-808C-5ABCC39E9AA0}"/>
                </a:ext>
              </a:extLst>
            </p:cNvPr>
            <p:cNvSpPr txBox="1"/>
            <p:nvPr/>
          </p:nvSpPr>
          <p:spPr bwMode="gray">
            <a:xfrm>
              <a:off x="7486220" y="3159188"/>
              <a:ext cx="1557537" cy="923330"/>
            </a:xfrm>
            <a:prstGeom prst="rect">
              <a:avLst/>
            </a:prstGeom>
            <a:noFill/>
          </p:spPr>
          <p:txBody>
            <a:bodyPr wrap="square" rtlCol="0">
              <a:spAutoFit/>
            </a:bodyPr>
            <a:lstStyle/>
            <a:p>
              <a:r>
                <a:rPr lang="en-US" dirty="0"/>
                <a:t>AR</a:t>
              </a:r>
              <a:r>
                <a:rPr lang="zh-CN" altLang="en-US" dirty="0"/>
                <a:t>路由器可被用作</a:t>
              </a:r>
              <a:r>
                <a:rPr lang="en-US" altLang="zh-CN" dirty="0"/>
                <a:t>EDGE</a:t>
              </a:r>
              <a:r>
                <a:rPr lang="zh-CN" altLang="en-US" dirty="0"/>
                <a:t>、</a:t>
              </a:r>
              <a:r>
                <a:rPr lang="en-US" altLang="zh-CN" dirty="0"/>
                <a:t>RR</a:t>
              </a:r>
              <a:r>
                <a:rPr lang="zh-CN" altLang="en-US" dirty="0"/>
                <a:t>、</a:t>
              </a:r>
              <a:r>
                <a:rPr lang="en-US" altLang="zh-CN" dirty="0"/>
                <a:t>GW</a:t>
              </a:r>
              <a:endParaRPr lang="en-US" dirty="0"/>
            </a:p>
          </p:txBody>
        </p:sp>
      </p:grpSp>
    </p:spTree>
    <p:extLst>
      <p:ext uri="{BB962C8B-B14F-4D97-AF65-F5344CB8AC3E}">
        <p14:creationId xmlns:p14="http://schemas.microsoft.com/office/powerpoint/2010/main" val="2320909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2000" dirty="0">
                <a:solidFill>
                  <a:schemeClr val="bg1">
                    <a:lumMod val="50000"/>
                  </a:schemeClr>
                </a:solidFill>
              </a:rPr>
              <a:t>企业广域互联网络趋势与挑战</a:t>
            </a:r>
            <a:endParaRPr lang="en-US" altLang="zh-CN" sz="2000" dirty="0">
              <a:solidFill>
                <a:schemeClr val="bg1">
                  <a:lumMod val="50000"/>
                </a:schemeClr>
              </a:solidFill>
            </a:endParaRPr>
          </a:p>
          <a:p>
            <a:r>
              <a:rPr lang="zh-CN" altLang="en-US" sz="2000" b="1" dirty="0"/>
              <a:t>华为</a:t>
            </a:r>
            <a:r>
              <a:rPr lang="en-US" altLang="zh-CN" sz="2000" b="1" dirty="0"/>
              <a:t>SD-WAN</a:t>
            </a:r>
            <a:r>
              <a:rPr lang="zh-CN" altLang="en-US" sz="2000" b="1" dirty="0"/>
              <a:t>解决方案概述</a:t>
            </a:r>
            <a:endParaRPr lang="en-US" altLang="zh-CN" sz="2000" b="1" dirty="0"/>
          </a:p>
          <a:p>
            <a:pPr lvl="1"/>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解决方案</a:t>
            </a:r>
            <a:endParaRPr lang="en-US" altLang="zh-CN" sz="1800" dirty="0">
              <a:solidFill>
                <a:schemeClr val="bg1">
                  <a:lumMod val="50000"/>
                </a:schemeClr>
              </a:solidFill>
            </a:endParaRPr>
          </a:p>
          <a:p>
            <a:pPr lvl="1">
              <a:buSzPct val="60000"/>
              <a:buFont typeface="Wingdings" panose="05000000000000000000" pitchFamily="2" charset="2"/>
              <a:buChar char="n"/>
            </a:pPr>
            <a:r>
              <a:rPr lang="zh-CN" altLang="en-US" sz="1800" dirty="0"/>
              <a:t>华为</a:t>
            </a:r>
            <a:r>
              <a:rPr lang="en-US" altLang="zh-CN" sz="1800" dirty="0"/>
              <a:t>SD-WAN</a:t>
            </a:r>
            <a:r>
              <a:rPr lang="zh-CN" altLang="en-US" sz="1800" dirty="0"/>
              <a:t>主要功能</a:t>
            </a:r>
            <a:endParaRPr lang="en-US" altLang="zh-CN" sz="1800" dirty="0"/>
          </a:p>
          <a:p>
            <a:pPr lvl="1"/>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使用场景</a:t>
            </a:r>
            <a:endParaRPr lang="en-US" altLang="zh-CN" sz="18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组网设计</a:t>
            </a:r>
            <a:endParaRPr lang="en-US" altLang="zh-CN" sz="20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业务设计</a:t>
            </a:r>
            <a:endParaRPr lang="en-US" altLang="zh-CN" sz="20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可靠性与安全设计</a:t>
            </a:r>
            <a:endParaRPr lang="en-US" altLang="zh-CN" sz="2000" dirty="0">
              <a:solidFill>
                <a:schemeClr val="bg1">
                  <a:lumMod val="50000"/>
                </a:schemeClr>
              </a:solidFill>
            </a:endParaRPr>
          </a:p>
        </p:txBody>
      </p:sp>
    </p:spTree>
    <p:extLst>
      <p:ext uri="{BB962C8B-B14F-4D97-AF65-F5344CB8AC3E}">
        <p14:creationId xmlns:p14="http://schemas.microsoft.com/office/powerpoint/2010/main" val="2465790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标题 3"/>
          <p:cNvSpPr>
            <a:spLocks noGrp="1"/>
          </p:cNvSpPr>
          <p:nvPr>
            <p:ph type="title"/>
          </p:nvPr>
        </p:nvSpPr>
        <p:spPr bwMode="gray">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no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cs typeface="+mn-ea"/>
                <a:sym typeface="Huawei Sans" panose="020C0503030203020204" pitchFamily="34" charset="0"/>
              </a:rPr>
              <a:t>主要功能</a:t>
            </a:r>
          </a:p>
        </p:txBody>
      </p:sp>
      <p:sp>
        <p:nvSpPr>
          <p:cNvPr id="42" name="Text Placeholder 7">
            <a:extLst>
              <a:ext uri="{FF2B5EF4-FFF2-40B4-BE49-F238E27FC236}">
                <a16:creationId xmlns:a16="http://schemas.microsoft.com/office/drawing/2014/main" id="{DA7DB514-4194-409D-93B2-59F147A0EBAD}"/>
              </a:ext>
            </a:extLst>
          </p:cNvPr>
          <p:cNvSpPr>
            <a:spLocks noGrp="1"/>
          </p:cNvSpPr>
          <p:nvPr>
            <p:ph type="body" sz="quarter" idx="10"/>
          </p:nvPr>
        </p:nvSpPr>
        <p:spPr bwMode="gray"/>
        <p:txBody>
          <a:bodyPr/>
          <a:lstStyle/>
          <a:p>
            <a:r>
              <a:rPr lang="zh-CN" altLang="en-US" sz="2000" dirty="0">
                <a:sym typeface="Huawei Sans" panose="020C0503030203020204" pitchFamily="34" charset="0"/>
              </a:rPr>
              <a:t>华为</a:t>
            </a:r>
            <a:r>
              <a:rPr lang="en-US" altLang="zh-CN" sz="2000" dirty="0">
                <a:sym typeface="Huawei Sans" panose="020C0503030203020204" pitchFamily="34" charset="0"/>
              </a:rPr>
              <a:t>SD-WAN</a:t>
            </a:r>
            <a:r>
              <a:rPr lang="zh-CN" altLang="en-US" sz="2000" dirty="0">
                <a:sym typeface="Huawei Sans" panose="020C0503030203020204" pitchFamily="34" charset="0"/>
              </a:rPr>
              <a:t>解决方案主要提供如下功能：</a:t>
            </a:r>
          </a:p>
          <a:p>
            <a:pPr lvl="1"/>
            <a:r>
              <a:rPr lang="zh-CN" altLang="en-US" sz="1800" dirty="0">
                <a:sym typeface="Huawei Sans" panose="020C0503030203020204" pitchFamily="34" charset="0"/>
              </a:rPr>
              <a:t>零配置开局，分钟级业务开通</a:t>
            </a:r>
            <a:endParaRPr lang="en-US" altLang="zh-CN" sz="1600" dirty="0">
              <a:sym typeface="Huawei Sans" panose="020C0503030203020204" pitchFamily="34" charset="0"/>
            </a:endParaRPr>
          </a:p>
          <a:p>
            <a:pPr lvl="1"/>
            <a:r>
              <a:rPr lang="zh-CN" altLang="en-US" sz="1800" dirty="0">
                <a:sym typeface="Huawei Sans" panose="020C0503030203020204" pitchFamily="34" charset="0"/>
              </a:rPr>
              <a:t>转控分离，灵活组网</a:t>
            </a:r>
            <a:endParaRPr lang="en-US" altLang="zh-CN" sz="1800" dirty="0">
              <a:sym typeface="Huawei Sans" panose="020C0503030203020204" pitchFamily="34" charset="0"/>
            </a:endParaRPr>
          </a:p>
          <a:p>
            <a:pPr lvl="1"/>
            <a:r>
              <a:rPr lang="zh-CN" altLang="en-US" sz="1800" dirty="0">
                <a:sym typeface="Huawei Sans" panose="020C0503030203020204" pitchFamily="34" charset="0"/>
              </a:rPr>
              <a:t>应用体验，业务可控可视</a:t>
            </a:r>
            <a:endParaRPr lang="en-US" altLang="zh-CN" sz="1800" dirty="0">
              <a:sym typeface="Huawei Sans" panose="020C0503030203020204" pitchFamily="34" charset="0"/>
            </a:endParaRPr>
          </a:p>
          <a:p>
            <a:pPr lvl="1"/>
            <a:r>
              <a:rPr lang="zh-CN" altLang="en-US" sz="1800" dirty="0">
                <a:sym typeface="Huawei Sans" panose="020C0503030203020204" pitchFamily="34" charset="0"/>
              </a:rPr>
              <a:t>完整安全防御体系，业务安全无忧</a:t>
            </a:r>
            <a:endParaRPr lang="en-US" altLang="zh-CN" sz="1800" dirty="0">
              <a:sym typeface="Huawei Sans" panose="020C0503030203020204" pitchFamily="34" charset="0"/>
            </a:endParaRPr>
          </a:p>
        </p:txBody>
      </p:sp>
      <p:grpSp>
        <p:nvGrpSpPr>
          <p:cNvPr id="35" name="Group 34">
            <a:extLst>
              <a:ext uri="{FF2B5EF4-FFF2-40B4-BE49-F238E27FC236}">
                <a16:creationId xmlns:a16="http://schemas.microsoft.com/office/drawing/2014/main" id="{4E2636E7-9D99-47F4-8426-3E34CB90AA2F}"/>
              </a:ext>
            </a:extLst>
          </p:cNvPr>
          <p:cNvGrpSpPr/>
          <p:nvPr/>
        </p:nvGrpSpPr>
        <p:grpSpPr>
          <a:xfrm>
            <a:off x="4869396" y="1273449"/>
            <a:ext cx="6535668" cy="4951452"/>
            <a:chOff x="4869396" y="1273449"/>
            <a:chExt cx="6535668" cy="4951452"/>
          </a:xfrm>
        </p:grpSpPr>
        <p:sp>
          <p:nvSpPr>
            <p:cNvPr id="44" name="梯形 41">
              <a:extLst>
                <a:ext uri="{FF2B5EF4-FFF2-40B4-BE49-F238E27FC236}">
                  <a16:creationId xmlns:a16="http://schemas.microsoft.com/office/drawing/2014/main" id="{60A3E85E-EBCA-484A-AC43-5EA6C604B407}"/>
                </a:ext>
              </a:extLst>
            </p:cNvPr>
            <p:cNvSpPr/>
            <p:nvPr/>
          </p:nvSpPr>
          <p:spPr bwMode="gray">
            <a:xfrm>
              <a:off x="4872208" y="3976053"/>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6" name="图片 31">
              <a:extLst>
                <a:ext uri="{FF2B5EF4-FFF2-40B4-BE49-F238E27FC236}">
                  <a16:creationId xmlns:a16="http://schemas.microsoft.com/office/drawing/2014/main" id="{9D582528-06F5-439C-AC50-6E20C68080FF}"/>
                </a:ext>
              </a:extLst>
            </p:cNvPr>
            <p:cNvPicPr>
              <a:picLocks noChangeAspect="1"/>
            </p:cNvPicPr>
            <p:nvPr/>
          </p:nvPicPr>
          <p:blipFill>
            <a:blip r:embed="rId4">
              <a:duotone>
                <a:schemeClr val="bg2">
                  <a:shade val="45000"/>
                  <a:satMod val="135000"/>
                </a:schemeClr>
                <a:prstClr val="white"/>
              </a:duotone>
            </a:blip>
            <a:stretch>
              <a:fillRect/>
            </a:stretch>
          </p:blipFill>
          <p:spPr bwMode="gray">
            <a:xfrm>
              <a:off x="6905841" y="4780115"/>
              <a:ext cx="466668" cy="389308"/>
            </a:xfrm>
            <a:prstGeom prst="rect">
              <a:avLst/>
            </a:prstGeom>
          </p:spPr>
        </p:pic>
        <p:pic>
          <p:nvPicPr>
            <p:cNvPr id="67" name="图片 31">
              <a:extLst>
                <a:ext uri="{FF2B5EF4-FFF2-40B4-BE49-F238E27FC236}">
                  <a16:creationId xmlns:a16="http://schemas.microsoft.com/office/drawing/2014/main" id="{3F4F953F-9FE8-464A-ACFE-D114C1E7B338}"/>
                </a:ext>
              </a:extLst>
            </p:cNvPr>
            <p:cNvPicPr>
              <a:picLocks noChangeAspect="1"/>
            </p:cNvPicPr>
            <p:nvPr/>
          </p:nvPicPr>
          <p:blipFill>
            <a:blip r:embed="rId4">
              <a:duotone>
                <a:schemeClr val="bg2">
                  <a:shade val="45000"/>
                  <a:satMod val="135000"/>
                </a:schemeClr>
                <a:prstClr val="white"/>
              </a:duotone>
            </a:blip>
            <a:stretch>
              <a:fillRect/>
            </a:stretch>
          </p:blipFill>
          <p:spPr bwMode="gray">
            <a:xfrm>
              <a:off x="6158924" y="5640126"/>
              <a:ext cx="466668" cy="389308"/>
            </a:xfrm>
            <a:prstGeom prst="rect">
              <a:avLst/>
            </a:prstGeom>
          </p:spPr>
        </p:pic>
        <p:pic>
          <p:nvPicPr>
            <p:cNvPr id="69" name="图片 25">
              <a:extLst>
                <a:ext uri="{FF2B5EF4-FFF2-40B4-BE49-F238E27FC236}">
                  <a16:creationId xmlns:a16="http://schemas.microsoft.com/office/drawing/2014/main" id="{6D48C58B-ECD1-4988-8A54-B8D5E3F2D4D7}"/>
                </a:ext>
              </a:extLst>
            </p:cNvPr>
            <p:cNvPicPr>
              <a:picLocks noChangeAspect="1"/>
            </p:cNvPicPr>
            <p:nvPr/>
          </p:nvPicPr>
          <p:blipFill>
            <a:blip r:embed="rId4">
              <a:duotone>
                <a:schemeClr val="bg2">
                  <a:shade val="45000"/>
                  <a:satMod val="135000"/>
                </a:schemeClr>
                <a:prstClr val="white"/>
              </a:duotone>
            </a:blip>
            <a:stretch>
              <a:fillRect/>
            </a:stretch>
          </p:blipFill>
          <p:spPr bwMode="gray">
            <a:xfrm>
              <a:off x="9152388" y="5172509"/>
              <a:ext cx="466668" cy="389308"/>
            </a:xfrm>
            <a:prstGeom prst="rect">
              <a:avLst/>
            </a:prstGeom>
          </p:spPr>
        </p:pic>
        <p:pic>
          <p:nvPicPr>
            <p:cNvPr id="74" name="图片 31">
              <a:extLst>
                <a:ext uri="{FF2B5EF4-FFF2-40B4-BE49-F238E27FC236}">
                  <a16:creationId xmlns:a16="http://schemas.microsoft.com/office/drawing/2014/main" id="{5FA9A904-8116-4343-A377-E605FE646FFD}"/>
                </a:ext>
              </a:extLst>
            </p:cNvPr>
            <p:cNvPicPr>
              <a:picLocks noChangeAspect="1"/>
            </p:cNvPicPr>
            <p:nvPr/>
          </p:nvPicPr>
          <p:blipFill>
            <a:blip r:embed="rId4">
              <a:duotone>
                <a:schemeClr val="bg2">
                  <a:shade val="45000"/>
                  <a:satMod val="135000"/>
                </a:schemeClr>
                <a:prstClr val="white"/>
              </a:duotone>
            </a:blip>
            <a:stretch>
              <a:fillRect/>
            </a:stretch>
          </p:blipFill>
          <p:spPr bwMode="gray">
            <a:xfrm>
              <a:off x="8294371" y="4325003"/>
              <a:ext cx="466668" cy="389308"/>
            </a:xfrm>
            <a:prstGeom prst="rect">
              <a:avLst/>
            </a:prstGeom>
          </p:spPr>
        </p:pic>
        <p:sp>
          <p:nvSpPr>
            <p:cNvPr id="75" name="Freeform 159">
              <a:extLst>
                <a:ext uri="{FF2B5EF4-FFF2-40B4-BE49-F238E27FC236}">
                  <a16:creationId xmlns:a16="http://schemas.microsoft.com/office/drawing/2014/main" id="{2372EB56-F7DE-4CF1-9A37-DAE0D8CEC77D}"/>
                </a:ext>
              </a:extLst>
            </p:cNvPr>
            <p:cNvSpPr/>
            <p:nvPr/>
          </p:nvSpPr>
          <p:spPr bwMode="gray">
            <a:xfrm flipH="1">
              <a:off x="7146231" y="4991855"/>
              <a:ext cx="1914727" cy="10008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运营商网络</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自建网络</a:t>
              </a:r>
              <a:endPar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6" name="图片 86">
              <a:extLst>
                <a:ext uri="{FF2B5EF4-FFF2-40B4-BE49-F238E27FC236}">
                  <a16:creationId xmlns:a16="http://schemas.microsoft.com/office/drawing/2014/main" id="{EBDB3C2F-3EE6-45D6-91C7-76D98E5668F8}"/>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7654516" y="5005677"/>
              <a:ext cx="391752" cy="321237"/>
            </a:xfrm>
            <a:prstGeom prst="rect">
              <a:avLst/>
            </a:prstGeom>
          </p:spPr>
        </p:pic>
        <p:pic>
          <p:nvPicPr>
            <p:cNvPr id="77" name="Picture 12" descr="E:\2016.01\1.12 扁平化图标\蓝色\AR-蓝色最新-40.png">
              <a:extLst>
                <a:ext uri="{FF2B5EF4-FFF2-40B4-BE49-F238E27FC236}">
                  <a16:creationId xmlns:a16="http://schemas.microsoft.com/office/drawing/2014/main" id="{CCB661C6-1A06-4598-AD3B-1ECCA46F3584}"/>
                </a:ext>
              </a:extLst>
            </p:cNvPr>
            <p:cNvPicPr>
              <a:picLocks noChangeAspect="1" noChangeArrowheads="1"/>
            </p:cNvPicPr>
            <p:nvPr/>
          </p:nvPicPr>
          <p:blipFill>
            <a:blip r:embed="rId6" cstate="print">
              <a:duotone>
                <a:schemeClr val="bg2">
                  <a:shade val="45000"/>
                  <a:satMod val="135000"/>
                </a:schemeClr>
                <a:prstClr val="white"/>
              </a:duotone>
            </a:blip>
            <a:srcRect/>
            <a:stretch>
              <a:fillRect/>
            </a:stretch>
          </p:blipFill>
          <p:spPr bwMode="gray">
            <a:xfrm>
              <a:off x="7874816" y="5614280"/>
              <a:ext cx="392039" cy="320760"/>
            </a:xfrm>
            <a:prstGeom prst="rect">
              <a:avLst/>
            </a:prstGeom>
            <a:noFill/>
          </p:spPr>
        </p:pic>
        <p:pic>
          <p:nvPicPr>
            <p:cNvPr id="79" name="图片 8" descr="DSLAM-蓝.png">
              <a:extLst>
                <a:ext uri="{FF2B5EF4-FFF2-40B4-BE49-F238E27FC236}">
                  <a16:creationId xmlns:a16="http://schemas.microsoft.com/office/drawing/2014/main" id="{D5358495-1FEE-48BB-9C27-2E71622D3EEE}"/>
                </a:ext>
              </a:extLst>
            </p:cNvPr>
            <p:cNvPicPr>
              <a:picLocks noChangeAspect="1"/>
            </p:cNvPicPr>
            <p:nvPr/>
          </p:nvPicPr>
          <p:blipFill>
            <a:blip r:embed="rId7" cstate="print">
              <a:duotone>
                <a:schemeClr val="bg2">
                  <a:shade val="45000"/>
                  <a:satMod val="135000"/>
                </a:schemeClr>
                <a:prstClr val="white"/>
              </a:duotone>
            </a:blip>
            <a:stretch>
              <a:fillRect/>
            </a:stretch>
          </p:blipFill>
          <p:spPr bwMode="gray">
            <a:xfrm>
              <a:off x="7271577" y="5614280"/>
              <a:ext cx="392042" cy="320760"/>
            </a:xfrm>
            <a:prstGeom prst="rect">
              <a:avLst/>
            </a:prstGeom>
          </p:spPr>
        </p:pic>
        <p:pic>
          <p:nvPicPr>
            <p:cNvPr id="80" name="图片 1118">
              <a:extLst>
                <a:ext uri="{FF2B5EF4-FFF2-40B4-BE49-F238E27FC236}">
                  <a16:creationId xmlns:a16="http://schemas.microsoft.com/office/drawing/2014/main" id="{95A57A89-E642-4AFA-AE3D-E02AD557E6AF}"/>
                </a:ext>
              </a:extLst>
            </p:cNvPr>
            <p:cNvPicPr>
              <a:picLocks noChangeAspect="1"/>
            </p:cNvPicPr>
            <p:nvPr/>
          </p:nvPicPr>
          <p:blipFill>
            <a:blip r:embed="rId8">
              <a:duotone>
                <a:schemeClr val="accent3">
                  <a:shade val="45000"/>
                  <a:satMod val="135000"/>
                </a:schemeClr>
                <a:prstClr val="white"/>
              </a:duotone>
            </a:blip>
            <a:stretch>
              <a:fillRect/>
            </a:stretch>
          </p:blipFill>
          <p:spPr bwMode="gray">
            <a:xfrm>
              <a:off x="8499590" y="5593788"/>
              <a:ext cx="450745" cy="361743"/>
            </a:xfrm>
            <a:prstGeom prst="rect">
              <a:avLst/>
            </a:prstGeom>
          </p:spPr>
        </p:pic>
        <p:cxnSp>
          <p:nvCxnSpPr>
            <p:cNvPr id="81" name="直接连接符 133">
              <a:extLst>
                <a:ext uri="{FF2B5EF4-FFF2-40B4-BE49-F238E27FC236}">
                  <a16:creationId xmlns:a16="http://schemas.microsoft.com/office/drawing/2014/main" id="{C087C366-9270-4378-84CE-B1E59F44B3C3}"/>
                </a:ext>
              </a:extLst>
            </p:cNvPr>
            <p:cNvCxnSpPr>
              <a:stCxn id="67" idx="3"/>
              <a:endCxn id="75" idx="21"/>
            </p:cNvCxnSpPr>
            <p:nvPr/>
          </p:nvCxnSpPr>
          <p:spPr bwMode="gray">
            <a:xfrm flipV="1">
              <a:off x="6625592" y="5693571"/>
              <a:ext cx="520639" cy="141209"/>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82" name="直接连接符 133">
              <a:extLst>
                <a:ext uri="{FF2B5EF4-FFF2-40B4-BE49-F238E27FC236}">
                  <a16:creationId xmlns:a16="http://schemas.microsoft.com/office/drawing/2014/main" id="{AEBB10CF-20A5-4609-838F-BB52E504D1B2}"/>
                </a:ext>
              </a:extLst>
            </p:cNvPr>
            <p:cNvCxnSpPr>
              <a:stCxn id="66" idx="3"/>
              <a:endCxn id="75" idx="24"/>
            </p:cNvCxnSpPr>
            <p:nvPr/>
          </p:nvCxnSpPr>
          <p:spPr bwMode="gray">
            <a:xfrm>
              <a:off x="7372509" y="4974769"/>
              <a:ext cx="60111" cy="398904"/>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83" name="直接连接符 133">
              <a:extLst>
                <a:ext uri="{FF2B5EF4-FFF2-40B4-BE49-F238E27FC236}">
                  <a16:creationId xmlns:a16="http://schemas.microsoft.com/office/drawing/2014/main" id="{271E54FD-3DB7-4925-9CE8-C321E96DB43E}"/>
                </a:ext>
              </a:extLst>
            </p:cNvPr>
            <p:cNvCxnSpPr>
              <a:stCxn id="74" idx="2"/>
              <a:endCxn id="75" idx="1"/>
            </p:cNvCxnSpPr>
            <p:nvPr/>
          </p:nvCxnSpPr>
          <p:spPr bwMode="gray">
            <a:xfrm flipH="1">
              <a:off x="8232158" y="4714311"/>
              <a:ext cx="295547" cy="417603"/>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pic>
          <p:nvPicPr>
            <p:cNvPr id="84" name="图片 13" descr="开放网络-蓝.png">
              <a:extLst>
                <a:ext uri="{FF2B5EF4-FFF2-40B4-BE49-F238E27FC236}">
                  <a16:creationId xmlns:a16="http://schemas.microsoft.com/office/drawing/2014/main" id="{031D0E75-3F0D-4AE2-8560-F12A584015F8}"/>
                </a:ext>
              </a:extLst>
            </p:cNvPr>
            <p:cNvPicPr>
              <a:picLocks noChangeAspect="1"/>
            </p:cNvPicPr>
            <p:nvPr/>
          </p:nvPicPr>
          <p:blipFill>
            <a:blip r:embed="rId9" cstate="print">
              <a:duotone>
                <a:schemeClr val="bg2">
                  <a:shade val="45000"/>
                  <a:satMod val="135000"/>
                </a:schemeClr>
                <a:prstClr val="white"/>
              </a:duotone>
            </a:blip>
            <a:stretch>
              <a:fillRect/>
            </a:stretch>
          </p:blipFill>
          <p:spPr bwMode="gray">
            <a:xfrm>
              <a:off x="8259767" y="5002075"/>
              <a:ext cx="391752" cy="320760"/>
            </a:xfrm>
            <a:prstGeom prst="rect">
              <a:avLst/>
            </a:prstGeom>
          </p:spPr>
        </p:pic>
        <p:cxnSp>
          <p:nvCxnSpPr>
            <p:cNvPr id="85" name="直接连接符 133">
              <a:extLst>
                <a:ext uri="{FF2B5EF4-FFF2-40B4-BE49-F238E27FC236}">
                  <a16:creationId xmlns:a16="http://schemas.microsoft.com/office/drawing/2014/main" id="{BF959D96-7CC5-456D-8633-2B8AFFCB83F0}"/>
                </a:ext>
              </a:extLst>
            </p:cNvPr>
            <p:cNvCxnSpPr>
              <a:stCxn id="69" idx="1"/>
              <a:endCxn id="75" idx="7"/>
            </p:cNvCxnSpPr>
            <p:nvPr/>
          </p:nvCxnSpPr>
          <p:spPr bwMode="gray">
            <a:xfrm flipH="1">
              <a:off x="8868813" y="5367163"/>
              <a:ext cx="283575" cy="15748"/>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86" name="直接连接符 133">
              <a:extLst>
                <a:ext uri="{FF2B5EF4-FFF2-40B4-BE49-F238E27FC236}">
                  <a16:creationId xmlns:a16="http://schemas.microsoft.com/office/drawing/2014/main" id="{0A264F90-B03F-42D0-91CA-488736B4D0B0}"/>
                </a:ext>
              </a:extLst>
            </p:cNvPr>
            <p:cNvCxnSpPr>
              <a:cxnSpLocks/>
              <a:stCxn id="67" idx="0"/>
              <a:endCxn id="95" idx="2"/>
            </p:cNvCxnSpPr>
            <p:nvPr/>
          </p:nvCxnSpPr>
          <p:spPr bwMode="gray">
            <a:xfrm flipV="1">
              <a:off x="6392258" y="4832236"/>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87" name="直接连接符 133">
              <a:extLst>
                <a:ext uri="{FF2B5EF4-FFF2-40B4-BE49-F238E27FC236}">
                  <a16:creationId xmlns:a16="http://schemas.microsoft.com/office/drawing/2014/main" id="{8F53E8E3-9D95-4086-8934-EAC669A4F49A}"/>
                </a:ext>
              </a:extLst>
            </p:cNvPr>
            <p:cNvCxnSpPr>
              <a:stCxn id="66" idx="0"/>
              <a:endCxn id="92" idx="2"/>
            </p:cNvCxnSpPr>
            <p:nvPr/>
          </p:nvCxnSpPr>
          <p:spPr bwMode="gray">
            <a:xfrm flipV="1">
              <a:off x="7139175" y="3972225"/>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88" name="直接连接符 133">
              <a:extLst>
                <a:ext uri="{FF2B5EF4-FFF2-40B4-BE49-F238E27FC236}">
                  <a16:creationId xmlns:a16="http://schemas.microsoft.com/office/drawing/2014/main" id="{FA4390EC-FA3B-4B4A-9B53-134A2181238D}"/>
                </a:ext>
              </a:extLst>
            </p:cNvPr>
            <p:cNvCxnSpPr>
              <a:stCxn id="74" idx="0"/>
              <a:endCxn id="102" idx="2"/>
            </p:cNvCxnSpPr>
            <p:nvPr/>
          </p:nvCxnSpPr>
          <p:spPr bwMode="gray">
            <a:xfrm flipV="1">
              <a:off x="8527705" y="3517113"/>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89" name="直接连接符 133">
              <a:extLst>
                <a:ext uri="{FF2B5EF4-FFF2-40B4-BE49-F238E27FC236}">
                  <a16:creationId xmlns:a16="http://schemas.microsoft.com/office/drawing/2014/main" id="{7D05DD3B-9A57-43D5-88D3-3E8DAB1A1C68}"/>
                </a:ext>
              </a:extLst>
            </p:cNvPr>
            <p:cNvCxnSpPr>
              <a:stCxn id="69" idx="0"/>
              <a:endCxn id="98" idx="2"/>
            </p:cNvCxnSpPr>
            <p:nvPr/>
          </p:nvCxnSpPr>
          <p:spPr bwMode="gray">
            <a:xfrm flipV="1">
              <a:off x="9385722" y="4364619"/>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sp>
          <p:nvSpPr>
            <p:cNvPr id="90" name="梯形 41">
              <a:extLst>
                <a:ext uri="{FF2B5EF4-FFF2-40B4-BE49-F238E27FC236}">
                  <a16:creationId xmlns:a16="http://schemas.microsoft.com/office/drawing/2014/main" id="{79CFCA2F-0A3F-404D-B884-4A1F2D031DF6}"/>
                </a:ext>
              </a:extLst>
            </p:cNvPr>
            <p:cNvSpPr/>
            <p:nvPr/>
          </p:nvSpPr>
          <p:spPr bwMode="gray">
            <a:xfrm>
              <a:off x="4869396" y="2924450"/>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Freeform 159">
              <a:extLst>
                <a:ext uri="{FF2B5EF4-FFF2-40B4-BE49-F238E27FC236}">
                  <a16:creationId xmlns:a16="http://schemas.microsoft.com/office/drawing/2014/main" id="{5DD46FF0-F4C8-4C67-AC6C-BF475DFDF5F2}"/>
                </a:ext>
              </a:extLst>
            </p:cNvPr>
            <p:cNvSpPr/>
            <p:nvPr/>
          </p:nvSpPr>
          <p:spPr bwMode="gray">
            <a:xfrm flipH="1">
              <a:off x="6156015" y="345967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2" name="图片 31">
              <a:extLst>
                <a:ext uri="{FF2B5EF4-FFF2-40B4-BE49-F238E27FC236}">
                  <a16:creationId xmlns:a16="http://schemas.microsoft.com/office/drawing/2014/main" id="{7CCED237-1334-40F3-BCD5-CF6D4ECC5DFD}"/>
                </a:ext>
              </a:extLst>
            </p:cNvPr>
            <p:cNvPicPr>
              <a:picLocks noChangeAspect="1"/>
            </p:cNvPicPr>
            <p:nvPr/>
          </p:nvPicPr>
          <p:blipFill>
            <a:blip r:embed="rId4"/>
            <a:stretch>
              <a:fillRect/>
            </a:stretch>
          </p:blipFill>
          <p:spPr bwMode="gray">
            <a:xfrm>
              <a:off x="6905841" y="3582917"/>
              <a:ext cx="466668" cy="389308"/>
            </a:xfrm>
            <a:prstGeom prst="rect">
              <a:avLst/>
            </a:prstGeom>
          </p:spPr>
        </p:pic>
        <p:pic>
          <p:nvPicPr>
            <p:cNvPr id="93" name="图片 51" descr="交换机.png">
              <a:extLst>
                <a:ext uri="{FF2B5EF4-FFF2-40B4-BE49-F238E27FC236}">
                  <a16:creationId xmlns:a16="http://schemas.microsoft.com/office/drawing/2014/main" id="{DAD8FE17-D6AF-4710-A331-67591D58A07F}"/>
                </a:ext>
              </a:extLst>
            </p:cNvPr>
            <p:cNvPicPr>
              <a:picLocks noChangeAspect="1"/>
            </p:cNvPicPr>
            <p:nvPr/>
          </p:nvPicPr>
          <p:blipFill>
            <a:blip r:embed="rId10" cstate="print"/>
            <a:stretch>
              <a:fillRect/>
            </a:stretch>
          </p:blipFill>
          <p:spPr bwMode="gray">
            <a:xfrm>
              <a:off x="6400902" y="3241603"/>
              <a:ext cx="417163" cy="341314"/>
            </a:xfrm>
            <a:prstGeom prst="rect">
              <a:avLst/>
            </a:prstGeom>
          </p:spPr>
        </p:pic>
        <p:sp>
          <p:nvSpPr>
            <p:cNvPr id="94" name="Freeform 159">
              <a:extLst>
                <a:ext uri="{FF2B5EF4-FFF2-40B4-BE49-F238E27FC236}">
                  <a16:creationId xmlns:a16="http://schemas.microsoft.com/office/drawing/2014/main" id="{DD12CCA5-6522-43C6-936B-DF7D3F2E55F2}"/>
                </a:ext>
              </a:extLst>
            </p:cNvPr>
            <p:cNvSpPr/>
            <p:nvPr/>
          </p:nvSpPr>
          <p:spPr bwMode="gray">
            <a:xfrm flipH="1">
              <a:off x="5409098" y="4319684"/>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5" name="图片 31">
              <a:extLst>
                <a:ext uri="{FF2B5EF4-FFF2-40B4-BE49-F238E27FC236}">
                  <a16:creationId xmlns:a16="http://schemas.microsoft.com/office/drawing/2014/main" id="{4A151825-2D60-488A-BDC9-969DBA45BCFA}"/>
                </a:ext>
              </a:extLst>
            </p:cNvPr>
            <p:cNvPicPr>
              <a:picLocks noChangeAspect="1"/>
            </p:cNvPicPr>
            <p:nvPr/>
          </p:nvPicPr>
          <p:blipFill>
            <a:blip r:embed="rId4"/>
            <a:stretch>
              <a:fillRect/>
            </a:stretch>
          </p:blipFill>
          <p:spPr bwMode="gray">
            <a:xfrm>
              <a:off x="6158924" y="4442928"/>
              <a:ext cx="466668" cy="389308"/>
            </a:xfrm>
            <a:prstGeom prst="rect">
              <a:avLst/>
            </a:prstGeom>
          </p:spPr>
        </p:pic>
        <p:pic>
          <p:nvPicPr>
            <p:cNvPr id="96" name="图片 51" descr="交换机.png">
              <a:extLst>
                <a:ext uri="{FF2B5EF4-FFF2-40B4-BE49-F238E27FC236}">
                  <a16:creationId xmlns:a16="http://schemas.microsoft.com/office/drawing/2014/main" id="{7AD3A348-E207-4D10-8EC6-5161D7BA0530}"/>
                </a:ext>
              </a:extLst>
            </p:cNvPr>
            <p:cNvPicPr>
              <a:picLocks noChangeAspect="1"/>
            </p:cNvPicPr>
            <p:nvPr/>
          </p:nvPicPr>
          <p:blipFill>
            <a:blip r:embed="rId10" cstate="print"/>
            <a:stretch>
              <a:fillRect/>
            </a:stretch>
          </p:blipFill>
          <p:spPr bwMode="gray">
            <a:xfrm>
              <a:off x="5653985" y="4101614"/>
              <a:ext cx="417163" cy="341314"/>
            </a:xfrm>
            <a:prstGeom prst="rect">
              <a:avLst/>
            </a:prstGeom>
          </p:spPr>
        </p:pic>
        <p:sp>
          <p:nvSpPr>
            <p:cNvPr id="97" name="Freeform 159">
              <a:extLst>
                <a:ext uri="{FF2B5EF4-FFF2-40B4-BE49-F238E27FC236}">
                  <a16:creationId xmlns:a16="http://schemas.microsoft.com/office/drawing/2014/main" id="{9C299124-78BC-4AF8-BEA9-4F9CEEF8FAE7}"/>
                </a:ext>
              </a:extLst>
            </p:cNvPr>
            <p:cNvSpPr/>
            <p:nvPr/>
          </p:nvSpPr>
          <p:spPr bwMode="gray">
            <a:xfrm flipH="1">
              <a:off x="9404967" y="3855225"/>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企业总部</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8" name="图片 25">
              <a:extLst>
                <a:ext uri="{FF2B5EF4-FFF2-40B4-BE49-F238E27FC236}">
                  <a16:creationId xmlns:a16="http://schemas.microsoft.com/office/drawing/2014/main" id="{0FE48570-D4F8-4BC2-BFE8-37336E4B3DA2}"/>
                </a:ext>
              </a:extLst>
            </p:cNvPr>
            <p:cNvPicPr>
              <a:picLocks noChangeAspect="1"/>
            </p:cNvPicPr>
            <p:nvPr/>
          </p:nvPicPr>
          <p:blipFill>
            <a:blip r:embed="rId4"/>
            <a:stretch>
              <a:fillRect/>
            </a:stretch>
          </p:blipFill>
          <p:spPr bwMode="gray">
            <a:xfrm>
              <a:off x="9152388" y="3975311"/>
              <a:ext cx="466668" cy="389308"/>
            </a:xfrm>
            <a:prstGeom prst="rect">
              <a:avLst/>
            </a:prstGeom>
          </p:spPr>
        </p:pic>
        <p:pic>
          <p:nvPicPr>
            <p:cNvPr id="99" name="图片 67">
              <a:extLst>
                <a:ext uri="{FF2B5EF4-FFF2-40B4-BE49-F238E27FC236}">
                  <a16:creationId xmlns:a16="http://schemas.microsoft.com/office/drawing/2014/main" id="{DE41BACB-7983-4696-B92F-251C29A40E8F}"/>
                </a:ext>
              </a:extLst>
            </p:cNvPr>
            <p:cNvPicPr>
              <a:picLocks/>
            </p:cNvPicPr>
            <p:nvPr/>
          </p:nvPicPr>
          <p:blipFill>
            <a:blip r:embed="rId11" cstate="print">
              <a:extLst>
                <a:ext uri="{28A0092B-C50C-407E-A947-70E740481C1C}">
                  <a14:useLocalDpi xmlns:a14="http://schemas.microsoft.com/office/drawing/2010/main" val="0"/>
                </a:ext>
              </a:extLst>
            </a:blip>
            <a:stretch>
              <a:fillRect/>
            </a:stretch>
          </p:blipFill>
          <p:spPr bwMode="gray">
            <a:xfrm>
              <a:off x="10320682" y="4139686"/>
              <a:ext cx="417163" cy="342074"/>
            </a:xfrm>
            <a:prstGeom prst="rect">
              <a:avLst/>
            </a:prstGeom>
          </p:spPr>
        </p:pic>
        <p:pic>
          <p:nvPicPr>
            <p:cNvPr id="100" name="图片 14" descr="交换机.png">
              <a:extLst>
                <a:ext uri="{FF2B5EF4-FFF2-40B4-BE49-F238E27FC236}">
                  <a16:creationId xmlns:a16="http://schemas.microsoft.com/office/drawing/2014/main" id="{BC9B6884-6CDB-4E0C-80C7-DFCCECD379AB}"/>
                </a:ext>
              </a:extLst>
            </p:cNvPr>
            <p:cNvPicPr>
              <a:picLocks noChangeAspect="1"/>
            </p:cNvPicPr>
            <p:nvPr/>
          </p:nvPicPr>
          <p:blipFill>
            <a:blip r:embed="rId12" cstate="print"/>
            <a:stretch>
              <a:fillRect/>
            </a:stretch>
          </p:blipFill>
          <p:spPr bwMode="gray">
            <a:xfrm>
              <a:off x="10042377" y="3675507"/>
              <a:ext cx="420077" cy="343698"/>
            </a:xfrm>
            <a:prstGeom prst="rect">
              <a:avLst/>
            </a:prstGeom>
          </p:spPr>
        </p:pic>
        <p:sp>
          <p:nvSpPr>
            <p:cNvPr id="101" name="Freeform 159">
              <a:extLst>
                <a:ext uri="{FF2B5EF4-FFF2-40B4-BE49-F238E27FC236}">
                  <a16:creationId xmlns:a16="http://schemas.microsoft.com/office/drawing/2014/main" id="{8EB17397-F33A-40B3-B9C3-0DAFC39B7B01}"/>
                </a:ext>
              </a:extLst>
            </p:cNvPr>
            <p:cNvSpPr/>
            <p:nvPr/>
          </p:nvSpPr>
          <p:spPr bwMode="gray">
            <a:xfrm flipH="1">
              <a:off x="7544545" y="3004561"/>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2" name="图片 31">
              <a:extLst>
                <a:ext uri="{FF2B5EF4-FFF2-40B4-BE49-F238E27FC236}">
                  <a16:creationId xmlns:a16="http://schemas.microsoft.com/office/drawing/2014/main" id="{154F3826-D2EE-4DB6-9350-DF4C2E8ECBB9}"/>
                </a:ext>
              </a:extLst>
            </p:cNvPr>
            <p:cNvPicPr>
              <a:picLocks noChangeAspect="1"/>
            </p:cNvPicPr>
            <p:nvPr/>
          </p:nvPicPr>
          <p:blipFill>
            <a:blip r:embed="rId4"/>
            <a:stretch>
              <a:fillRect/>
            </a:stretch>
          </p:blipFill>
          <p:spPr bwMode="gray">
            <a:xfrm>
              <a:off x="8294371" y="3127805"/>
              <a:ext cx="466668" cy="389308"/>
            </a:xfrm>
            <a:prstGeom prst="rect">
              <a:avLst/>
            </a:prstGeom>
          </p:spPr>
        </p:pic>
        <p:pic>
          <p:nvPicPr>
            <p:cNvPr id="103" name="图片 51" descr="交换机.png">
              <a:extLst>
                <a:ext uri="{FF2B5EF4-FFF2-40B4-BE49-F238E27FC236}">
                  <a16:creationId xmlns:a16="http://schemas.microsoft.com/office/drawing/2014/main" id="{E95FBAD1-B747-422A-8B24-2817D2D79C02}"/>
                </a:ext>
              </a:extLst>
            </p:cNvPr>
            <p:cNvPicPr>
              <a:picLocks noChangeAspect="1"/>
            </p:cNvPicPr>
            <p:nvPr/>
          </p:nvPicPr>
          <p:blipFill>
            <a:blip r:embed="rId10" cstate="print"/>
            <a:stretch>
              <a:fillRect/>
            </a:stretch>
          </p:blipFill>
          <p:spPr bwMode="gray">
            <a:xfrm>
              <a:off x="7271577" y="2984613"/>
              <a:ext cx="417163" cy="341314"/>
            </a:xfrm>
            <a:prstGeom prst="rect">
              <a:avLst/>
            </a:prstGeom>
          </p:spPr>
        </p:pic>
        <p:cxnSp>
          <p:nvCxnSpPr>
            <p:cNvPr id="104" name="直接连接符 133">
              <a:extLst>
                <a:ext uri="{FF2B5EF4-FFF2-40B4-BE49-F238E27FC236}">
                  <a16:creationId xmlns:a16="http://schemas.microsoft.com/office/drawing/2014/main" id="{73500AA8-B5D4-4FF7-877E-6CE9DF6A2BEF}"/>
                </a:ext>
              </a:extLst>
            </p:cNvPr>
            <p:cNvCxnSpPr>
              <a:cxnSpLocks/>
              <a:stCxn id="95" idx="3"/>
              <a:endCxn id="98" idx="1"/>
            </p:cNvCxnSpPr>
            <p:nvPr/>
          </p:nvCxnSpPr>
          <p:spPr bwMode="gray">
            <a:xfrm flipV="1">
              <a:off x="6625592" y="4169965"/>
              <a:ext cx="2526796" cy="467617"/>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105" name="直接连接符 133">
              <a:extLst>
                <a:ext uri="{FF2B5EF4-FFF2-40B4-BE49-F238E27FC236}">
                  <a16:creationId xmlns:a16="http://schemas.microsoft.com/office/drawing/2014/main" id="{BCAB818D-02F2-4639-B16A-44B512391EFC}"/>
                </a:ext>
              </a:extLst>
            </p:cNvPr>
            <p:cNvCxnSpPr>
              <a:stCxn id="92" idx="3"/>
              <a:endCxn id="98" idx="1"/>
            </p:cNvCxnSpPr>
            <p:nvPr/>
          </p:nvCxnSpPr>
          <p:spPr bwMode="gray">
            <a:xfrm>
              <a:off x="7372509" y="3777571"/>
              <a:ext cx="1779879" cy="392394"/>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106" name="直接连接符 133">
              <a:extLst>
                <a:ext uri="{FF2B5EF4-FFF2-40B4-BE49-F238E27FC236}">
                  <a16:creationId xmlns:a16="http://schemas.microsoft.com/office/drawing/2014/main" id="{6AC50321-73E8-48AA-8D53-B12ED7346CAD}"/>
                </a:ext>
              </a:extLst>
            </p:cNvPr>
            <p:cNvCxnSpPr>
              <a:stCxn id="102" idx="2"/>
              <a:endCxn id="98" idx="1"/>
            </p:cNvCxnSpPr>
            <p:nvPr/>
          </p:nvCxnSpPr>
          <p:spPr bwMode="gray">
            <a:xfrm>
              <a:off x="8527705" y="3517113"/>
              <a:ext cx="624683" cy="652852"/>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sp>
          <p:nvSpPr>
            <p:cNvPr id="107" name="TextBox 106">
              <a:extLst>
                <a:ext uri="{FF2B5EF4-FFF2-40B4-BE49-F238E27FC236}">
                  <a16:creationId xmlns:a16="http://schemas.microsoft.com/office/drawing/2014/main" id="{26EEDFD1-B1E0-4B15-94FA-A713E6892A33}"/>
                </a:ext>
              </a:extLst>
            </p:cNvPr>
            <p:cNvSpPr txBox="1"/>
            <p:nvPr/>
          </p:nvSpPr>
          <p:spPr bwMode="gray">
            <a:xfrm>
              <a:off x="10183913" y="4572777"/>
              <a:ext cx="1011815" cy="584775"/>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Overlay</a:t>
              </a:r>
            </a:p>
            <a:p>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虚拟网络</a:t>
              </a:r>
            </a:p>
          </p:txBody>
        </p:sp>
        <p:sp>
          <p:nvSpPr>
            <p:cNvPr id="108" name="TextBox 107">
              <a:extLst>
                <a:ext uri="{FF2B5EF4-FFF2-40B4-BE49-F238E27FC236}">
                  <a16:creationId xmlns:a16="http://schemas.microsoft.com/office/drawing/2014/main" id="{2446095D-A1FE-48AD-8A69-8FA9B81C4818}"/>
                </a:ext>
              </a:extLst>
            </p:cNvPr>
            <p:cNvSpPr txBox="1"/>
            <p:nvPr/>
          </p:nvSpPr>
          <p:spPr bwMode="gray">
            <a:xfrm>
              <a:off x="10132476" y="5640126"/>
              <a:ext cx="1082348" cy="584775"/>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Underlay</a:t>
              </a:r>
            </a:p>
            <a:p>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物理网络</a:t>
              </a:r>
            </a:p>
          </p:txBody>
        </p:sp>
        <p:sp>
          <p:nvSpPr>
            <p:cNvPr id="109" name="文本框 18">
              <a:extLst>
                <a:ext uri="{FF2B5EF4-FFF2-40B4-BE49-F238E27FC236}">
                  <a16:creationId xmlns:a16="http://schemas.microsoft.com/office/drawing/2014/main" id="{5B9084D3-BD20-448B-9F6C-2BD0C77B4D93}"/>
                </a:ext>
              </a:extLst>
            </p:cNvPr>
            <p:cNvSpPr txBox="1"/>
            <p:nvPr/>
          </p:nvSpPr>
          <p:spPr bwMode="gray">
            <a:xfrm>
              <a:off x="6146909" y="4233685"/>
              <a:ext cx="562482" cy="256545"/>
            </a:xfrm>
            <a:prstGeom prst="rect">
              <a:avLst/>
            </a:prstGeom>
            <a:noFill/>
          </p:spPr>
          <p:txBody>
            <a:bodyPr wrap="square" rtlCol="0">
              <a:spAutoFit/>
            </a:bodyPr>
            <a:lstStyle/>
            <a:p>
              <a:pPr algn="ctr"/>
              <a:r>
                <a:rPr lang="en-US" altLang="zh-CN" sz="1067"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067"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文本框 18">
              <a:extLst>
                <a:ext uri="{FF2B5EF4-FFF2-40B4-BE49-F238E27FC236}">
                  <a16:creationId xmlns:a16="http://schemas.microsoft.com/office/drawing/2014/main" id="{1D541283-1747-4889-93A9-A66FFB5FBA10}"/>
                </a:ext>
              </a:extLst>
            </p:cNvPr>
            <p:cNvSpPr txBox="1"/>
            <p:nvPr/>
          </p:nvSpPr>
          <p:spPr bwMode="gray">
            <a:xfrm>
              <a:off x="6870715" y="3384421"/>
              <a:ext cx="562482" cy="256545"/>
            </a:xfrm>
            <a:prstGeom prst="rect">
              <a:avLst/>
            </a:prstGeom>
            <a:noFill/>
          </p:spPr>
          <p:txBody>
            <a:bodyPr wrap="square" rtlCol="0">
              <a:spAutoFit/>
            </a:bodyPr>
            <a:lstStyle/>
            <a:p>
              <a:pPr algn="ctr"/>
              <a:r>
                <a:rPr lang="en-US" altLang="zh-CN" sz="1067"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067"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文本框 18">
              <a:extLst>
                <a:ext uri="{FF2B5EF4-FFF2-40B4-BE49-F238E27FC236}">
                  <a16:creationId xmlns:a16="http://schemas.microsoft.com/office/drawing/2014/main" id="{286F1EBC-0D67-4016-9E78-97FE0B2A231C}"/>
                </a:ext>
              </a:extLst>
            </p:cNvPr>
            <p:cNvSpPr txBox="1"/>
            <p:nvPr/>
          </p:nvSpPr>
          <p:spPr bwMode="gray">
            <a:xfrm>
              <a:off x="8262644" y="2916907"/>
              <a:ext cx="562482" cy="256545"/>
            </a:xfrm>
            <a:prstGeom prst="rect">
              <a:avLst/>
            </a:prstGeom>
            <a:noFill/>
          </p:spPr>
          <p:txBody>
            <a:bodyPr wrap="square" rtlCol="0">
              <a:spAutoFit/>
            </a:bodyPr>
            <a:lstStyle/>
            <a:p>
              <a:pPr algn="ctr"/>
              <a:r>
                <a:rPr lang="en-US" altLang="zh-CN" sz="1067"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067"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文本框 18">
              <a:extLst>
                <a:ext uri="{FF2B5EF4-FFF2-40B4-BE49-F238E27FC236}">
                  <a16:creationId xmlns:a16="http://schemas.microsoft.com/office/drawing/2014/main" id="{E6D63903-CAF9-421E-A8BA-CB58F89C3C9D}"/>
                </a:ext>
              </a:extLst>
            </p:cNvPr>
            <p:cNvSpPr txBox="1"/>
            <p:nvPr/>
          </p:nvSpPr>
          <p:spPr bwMode="gray">
            <a:xfrm>
              <a:off x="9040517" y="3754791"/>
              <a:ext cx="690408" cy="256545"/>
            </a:xfrm>
            <a:prstGeom prst="rect">
              <a:avLst/>
            </a:prstGeom>
            <a:noFill/>
          </p:spPr>
          <p:txBody>
            <a:bodyPr wrap="square" rtlCol="0">
              <a:spAutoFit/>
            </a:bodyPr>
            <a:lstStyle/>
            <a:p>
              <a:pPr algn="ctr"/>
              <a:r>
                <a:rPr lang="en-US" altLang="zh-CN" sz="1067"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067"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3" name="图片 24">
              <a:extLst>
                <a:ext uri="{FF2B5EF4-FFF2-40B4-BE49-F238E27FC236}">
                  <a16:creationId xmlns:a16="http://schemas.microsoft.com/office/drawing/2014/main" id="{76B4742D-D5B8-4990-B1FE-C85EDBDA7863}"/>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bwMode="gray">
            <a:xfrm>
              <a:off x="8727094" y="1309523"/>
              <a:ext cx="1977229" cy="364654"/>
            </a:xfrm>
            <a:prstGeom prst="rect">
              <a:avLst/>
            </a:prstGeom>
          </p:spPr>
        </p:pic>
        <p:cxnSp>
          <p:nvCxnSpPr>
            <p:cNvPr id="114" name="直接箭头连接符 84">
              <a:extLst>
                <a:ext uri="{FF2B5EF4-FFF2-40B4-BE49-F238E27FC236}">
                  <a16:creationId xmlns:a16="http://schemas.microsoft.com/office/drawing/2014/main" id="{35421499-AD96-4DB2-A78E-C504448740B1}"/>
                </a:ext>
              </a:extLst>
            </p:cNvPr>
            <p:cNvCxnSpPr>
              <a:cxnSpLocks/>
              <a:stCxn id="12" idx="2"/>
              <a:endCxn id="102" idx="0"/>
            </p:cNvCxnSpPr>
            <p:nvPr/>
          </p:nvCxnSpPr>
          <p:spPr bwMode="gray">
            <a:xfrm>
              <a:off x="7998014" y="2287493"/>
              <a:ext cx="529691" cy="840312"/>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15" name="圆角矩形 75">
              <a:extLst>
                <a:ext uri="{FF2B5EF4-FFF2-40B4-BE49-F238E27FC236}">
                  <a16:creationId xmlns:a16="http://schemas.microsoft.com/office/drawing/2014/main" id="{6147D5CD-AB17-4952-AC7B-228A694BB552}"/>
                </a:ext>
              </a:extLst>
            </p:cNvPr>
            <p:cNvSpPr/>
            <p:nvPr/>
          </p:nvSpPr>
          <p:spPr bwMode="gray">
            <a:xfrm>
              <a:off x="8635376" y="1273449"/>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16" name="直接箭头连接符 84">
              <a:extLst>
                <a:ext uri="{FF2B5EF4-FFF2-40B4-BE49-F238E27FC236}">
                  <a16:creationId xmlns:a16="http://schemas.microsoft.com/office/drawing/2014/main" id="{95A29FFA-2BCA-46DE-AA78-8082E43A1114}"/>
                </a:ext>
              </a:extLst>
            </p:cNvPr>
            <p:cNvCxnSpPr>
              <a:cxnSpLocks/>
              <a:stCxn id="12" idx="2"/>
              <a:endCxn id="92" idx="0"/>
            </p:cNvCxnSpPr>
            <p:nvPr/>
          </p:nvCxnSpPr>
          <p:spPr bwMode="gray">
            <a:xfrm flipH="1">
              <a:off x="7139175" y="2287493"/>
              <a:ext cx="858839" cy="1295424"/>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18" name="直接箭头连接符 84">
              <a:extLst>
                <a:ext uri="{FF2B5EF4-FFF2-40B4-BE49-F238E27FC236}">
                  <a16:creationId xmlns:a16="http://schemas.microsoft.com/office/drawing/2014/main" id="{570BB915-0857-458D-900F-12492FAF14EE}"/>
                </a:ext>
              </a:extLst>
            </p:cNvPr>
            <p:cNvCxnSpPr>
              <a:cxnSpLocks/>
              <a:stCxn id="12" idx="2"/>
              <a:endCxn id="98" idx="0"/>
            </p:cNvCxnSpPr>
            <p:nvPr/>
          </p:nvCxnSpPr>
          <p:spPr bwMode="gray">
            <a:xfrm>
              <a:off x="7998014" y="2287493"/>
              <a:ext cx="1387708" cy="1687818"/>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7" name="businessman-silhouette-walking-with-suitcase_47866">
              <a:extLst>
                <a:ext uri="{FF2B5EF4-FFF2-40B4-BE49-F238E27FC236}">
                  <a16:creationId xmlns:a16="http://schemas.microsoft.com/office/drawing/2014/main" id="{F21CC651-ED20-46CC-8358-E1EEF8111DC5}"/>
                </a:ext>
              </a:extLst>
            </p:cNvPr>
            <p:cNvSpPr>
              <a:spLocks noChangeAspect="1"/>
            </p:cNvSpPr>
            <p:nvPr/>
          </p:nvSpPr>
          <p:spPr bwMode="gray">
            <a:xfrm>
              <a:off x="6615253" y="3590460"/>
              <a:ext cx="333936" cy="395683"/>
            </a:xfrm>
            <a:custGeom>
              <a:avLst/>
              <a:gdLst>
                <a:gd name="T0" fmla="*/ 6900 w 8989"/>
                <a:gd name="T1" fmla="*/ 5053 h 10667"/>
                <a:gd name="T2" fmla="*/ 6326 w 8989"/>
                <a:gd name="T3" fmla="*/ 4615 h 10667"/>
                <a:gd name="T4" fmla="*/ 6247 w 8989"/>
                <a:gd name="T5" fmla="*/ 5994 h 10667"/>
                <a:gd name="T6" fmla="*/ 6421 w 8989"/>
                <a:gd name="T7" fmla="*/ 6377 h 10667"/>
                <a:gd name="T8" fmla="*/ 7017 w 8989"/>
                <a:gd name="T9" fmla="*/ 7293 h 10667"/>
                <a:gd name="T10" fmla="*/ 7303 w 8989"/>
                <a:gd name="T11" fmla="*/ 8799 h 10667"/>
                <a:gd name="T12" fmla="*/ 7222 w 8989"/>
                <a:gd name="T13" fmla="*/ 10179 h 10667"/>
                <a:gd name="T14" fmla="*/ 6680 w 8989"/>
                <a:gd name="T15" fmla="*/ 10666 h 10667"/>
                <a:gd name="T16" fmla="*/ 6271 w 8989"/>
                <a:gd name="T17" fmla="*/ 8973 h 10667"/>
                <a:gd name="T18" fmla="*/ 6316 w 8989"/>
                <a:gd name="T19" fmla="*/ 8254 h 10667"/>
                <a:gd name="T20" fmla="*/ 5946 w 8989"/>
                <a:gd name="T21" fmla="*/ 7541 h 10667"/>
                <a:gd name="T22" fmla="*/ 5384 w 8989"/>
                <a:gd name="T23" fmla="*/ 6630 h 10667"/>
                <a:gd name="T24" fmla="*/ 5122 w 8989"/>
                <a:gd name="T25" fmla="*/ 6612 h 10667"/>
                <a:gd name="T26" fmla="*/ 4849 w 8989"/>
                <a:gd name="T27" fmla="*/ 8848 h 10667"/>
                <a:gd name="T28" fmla="*/ 3896 w 8989"/>
                <a:gd name="T29" fmla="*/ 10419 h 10667"/>
                <a:gd name="T30" fmla="*/ 3192 w 8989"/>
                <a:gd name="T31" fmla="*/ 10590 h 10667"/>
                <a:gd name="T32" fmla="*/ 3909 w 8989"/>
                <a:gd name="T33" fmla="*/ 8408 h 10667"/>
                <a:gd name="T34" fmla="*/ 4105 w 8989"/>
                <a:gd name="T35" fmla="*/ 8089 h 10667"/>
                <a:gd name="T36" fmla="*/ 4211 w 8989"/>
                <a:gd name="T37" fmla="*/ 3385 h 10667"/>
                <a:gd name="T38" fmla="*/ 2892 w 8989"/>
                <a:gd name="T39" fmla="*/ 5648 h 10667"/>
                <a:gd name="T40" fmla="*/ 2478 w 8989"/>
                <a:gd name="T41" fmla="*/ 6028 h 10667"/>
                <a:gd name="T42" fmla="*/ 3108 w 8989"/>
                <a:gd name="T43" fmla="*/ 3131 h 10667"/>
                <a:gd name="T44" fmla="*/ 5199 w 8989"/>
                <a:gd name="T45" fmla="*/ 2376 h 10667"/>
                <a:gd name="T46" fmla="*/ 7066 w 8989"/>
                <a:gd name="T47" fmla="*/ 4232 h 10667"/>
                <a:gd name="T48" fmla="*/ 8874 w 8989"/>
                <a:gd name="T49" fmla="*/ 3833 h 10667"/>
                <a:gd name="T50" fmla="*/ 5150 w 8989"/>
                <a:gd name="T51" fmla="*/ 2267 h 10667"/>
                <a:gd name="T52" fmla="*/ 5150 w 8989"/>
                <a:gd name="T53" fmla="*/ 0 h 10667"/>
                <a:gd name="T54" fmla="*/ 5150 w 8989"/>
                <a:gd name="T55" fmla="*/ 2267 h 10667"/>
                <a:gd name="T56" fmla="*/ 3391 w 8989"/>
                <a:gd name="T57" fmla="*/ 6869 h 10667"/>
                <a:gd name="T58" fmla="*/ 0 w 8989"/>
                <a:gd name="T59" fmla="*/ 7583 h 10667"/>
                <a:gd name="T60" fmla="*/ 1346 w 8989"/>
                <a:gd name="T61" fmla="*/ 5950 h 10667"/>
                <a:gd name="T62" fmla="*/ 2193 w 8989"/>
                <a:gd name="T63" fmla="*/ 5569 h 10667"/>
                <a:gd name="T64" fmla="*/ 3130 w 8989"/>
                <a:gd name="T65" fmla="*/ 5990 h 10667"/>
                <a:gd name="T66" fmla="*/ 2546 w 8989"/>
                <a:gd name="T67" fmla="*/ 6216 h 10667"/>
                <a:gd name="T68" fmla="*/ 1761 w 8989"/>
                <a:gd name="T69" fmla="*/ 6106 h 10667"/>
                <a:gd name="T70" fmla="*/ 2546 w 8989"/>
                <a:gd name="T71" fmla="*/ 6216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89" h="10667">
                  <a:moveTo>
                    <a:pt x="8746" y="4385"/>
                  </a:moveTo>
                  <a:cubicBezTo>
                    <a:pt x="8539" y="4515"/>
                    <a:pt x="7535" y="5053"/>
                    <a:pt x="6900" y="5053"/>
                  </a:cubicBezTo>
                  <a:cubicBezTo>
                    <a:pt x="6786" y="5053"/>
                    <a:pt x="6683" y="5036"/>
                    <a:pt x="6600" y="4995"/>
                  </a:cubicBezTo>
                  <a:cubicBezTo>
                    <a:pt x="6447" y="4921"/>
                    <a:pt x="6347" y="4782"/>
                    <a:pt x="6326" y="4615"/>
                  </a:cubicBezTo>
                  <a:cubicBezTo>
                    <a:pt x="6283" y="4271"/>
                    <a:pt x="6210" y="3985"/>
                    <a:pt x="6111" y="3763"/>
                  </a:cubicBezTo>
                  <a:cubicBezTo>
                    <a:pt x="6159" y="4365"/>
                    <a:pt x="6235" y="5393"/>
                    <a:pt x="6247" y="5994"/>
                  </a:cubicBezTo>
                  <a:cubicBezTo>
                    <a:pt x="6247" y="6021"/>
                    <a:pt x="6289" y="6142"/>
                    <a:pt x="6289" y="6142"/>
                  </a:cubicBezTo>
                  <a:lnTo>
                    <a:pt x="6421" y="6377"/>
                  </a:lnTo>
                  <a:cubicBezTo>
                    <a:pt x="6530" y="6571"/>
                    <a:pt x="6655" y="6755"/>
                    <a:pt x="6787" y="6948"/>
                  </a:cubicBezTo>
                  <a:cubicBezTo>
                    <a:pt x="6865" y="7063"/>
                    <a:pt x="6943" y="7177"/>
                    <a:pt x="7017" y="7293"/>
                  </a:cubicBezTo>
                  <a:cubicBezTo>
                    <a:pt x="7177" y="7543"/>
                    <a:pt x="7384" y="7927"/>
                    <a:pt x="7332" y="8376"/>
                  </a:cubicBezTo>
                  <a:cubicBezTo>
                    <a:pt x="7315" y="8517"/>
                    <a:pt x="7310" y="8658"/>
                    <a:pt x="7303" y="8799"/>
                  </a:cubicBezTo>
                  <a:cubicBezTo>
                    <a:pt x="7301" y="8879"/>
                    <a:pt x="7297" y="8959"/>
                    <a:pt x="7292" y="9038"/>
                  </a:cubicBezTo>
                  <a:lnTo>
                    <a:pt x="7222" y="10179"/>
                  </a:lnTo>
                  <a:cubicBezTo>
                    <a:pt x="7205" y="10455"/>
                    <a:pt x="6980" y="10667"/>
                    <a:pt x="6712" y="10667"/>
                  </a:cubicBezTo>
                  <a:cubicBezTo>
                    <a:pt x="6701" y="10667"/>
                    <a:pt x="6691" y="10666"/>
                    <a:pt x="6680" y="10666"/>
                  </a:cubicBezTo>
                  <a:cubicBezTo>
                    <a:pt x="6398" y="10648"/>
                    <a:pt x="6183" y="10401"/>
                    <a:pt x="6201" y="10114"/>
                  </a:cubicBezTo>
                  <a:lnTo>
                    <a:pt x="6271" y="8973"/>
                  </a:lnTo>
                  <a:cubicBezTo>
                    <a:pt x="6275" y="8901"/>
                    <a:pt x="6278" y="8827"/>
                    <a:pt x="6282" y="8754"/>
                  </a:cubicBezTo>
                  <a:cubicBezTo>
                    <a:pt x="6289" y="8587"/>
                    <a:pt x="6296" y="8419"/>
                    <a:pt x="6316" y="8254"/>
                  </a:cubicBezTo>
                  <a:cubicBezTo>
                    <a:pt x="6325" y="8170"/>
                    <a:pt x="6273" y="8038"/>
                    <a:pt x="6160" y="7862"/>
                  </a:cubicBezTo>
                  <a:cubicBezTo>
                    <a:pt x="6090" y="7753"/>
                    <a:pt x="6018" y="7647"/>
                    <a:pt x="5946" y="7541"/>
                  </a:cubicBezTo>
                  <a:cubicBezTo>
                    <a:pt x="5807" y="7337"/>
                    <a:pt x="5664" y="7127"/>
                    <a:pt x="5533" y="6895"/>
                  </a:cubicBezTo>
                  <a:lnTo>
                    <a:pt x="5384" y="6630"/>
                  </a:lnTo>
                  <a:cubicBezTo>
                    <a:pt x="5313" y="6616"/>
                    <a:pt x="5240" y="6604"/>
                    <a:pt x="5164" y="6604"/>
                  </a:cubicBezTo>
                  <a:cubicBezTo>
                    <a:pt x="5151" y="6604"/>
                    <a:pt x="5136" y="6610"/>
                    <a:pt x="5122" y="6612"/>
                  </a:cubicBezTo>
                  <a:cubicBezTo>
                    <a:pt x="5126" y="7107"/>
                    <a:pt x="5130" y="7602"/>
                    <a:pt x="5128" y="8097"/>
                  </a:cubicBezTo>
                  <a:cubicBezTo>
                    <a:pt x="5126" y="8435"/>
                    <a:pt x="4966" y="8673"/>
                    <a:pt x="4849" y="8848"/>
                  </a:cubicBezTo>
                  <a:cubicBezTo>
                    <a:pt x="4826" y="8882"/>
                    <a:pt x="4803" y="8916"/>
                    <a:pt x="4782" y="8951"/>
                  </a:cubicBezTo>
                  <a:lnTo>
                    <a:pt x="3896" y="10419"/>
                  </a:lnTo>
                  <a:cubicBezTo>
                    <a:pt x="3800" y="10579"/>
                    <a:pt x="3632" y="10667"/>
                    <a:pt x="3460" y="10667"/>
                  </a:cubicBezTo>
                  <a:cubicBezTo>
                    <a:pt x="3368" y="10667"/>
                    <a:pt x="3276" y="10642"/>
                    <a:pt x="3192" y="10590"/>
                  </a:cubicBezTo>
                  <a:cubicBezTo>
                    <a:pt x="2952" y="10440"/>
                    <a:pt x="2876" y="10119"/>
                    <a:pt x="3024" y="9874"/>
                  </a:cubicBezTo>
                  <a:lnTo>
                    <a:pt x="3909" y="8408"/>
                  </a:lnTo>
                  <a:cubicBezTo>
                    <a:pt x="3939" y="8358"/>
                    <a:pt x="3971" y="8310"/>
                    <a:pt x="4004" y="8262"/>
                  </a:cubicBezTo>
                  <a:cubicBezTo>
                    <a:pt x="4041" y="8205"/>
                    <a:pt x="4099" y="8119"/>
                    <a:pt x="4105" y="8089"/>
                  </a:cubicBezTo>
                  <a:cubicBezTo>
                    <a:pt x="4107" y="7543"/>
                    <a:pt x="4103" y="6993"/>
                    <a:pt x="4098" y="6443"/>
                  </a:cubicBezTo>
                  <a:cubicBezTo>
                    <a:pt x="4098" y="6443"/>
                    <a:pt x="4200" y="3597"/>
                    <a:pt x="4211" y="3385"/>
                  </a:cubicBezTo>
                  <a:cubicBezTo>
                    <a:pt x="4011" y="3462"/>
                    <a:pt x="3811" y="3570"/>
                    <a:pt x="3632" y="3732"/>
                  </a:cubicBezTo>
                  <a:cubicBezTo>
                    <a:pt x="3184" y="4136"/>
                    <a:pt x="2935" y="4780"/>
                    <a:pt x="2892" y="5648"/>
                  </a:cubicBezTo>
                  <a:cubicBezTo>
                    <a:pt x="2881" y="5862"/>
                    <a:pt x="2707" y="6029"/>
                    <a:pt x="2498" y="6029"/>
                  </a:cubicBezTo>
                  <a:cubicBezTo>
                    <a:pt x="2491" y="6029"/>
                    <a:pt x="2485" y="6029"/>
                    <a:pt x="2478" y="6028"/>
                  </a:cubicBezTo>
                  <a:cubicBezTo>
                    <a:pt x="2260" y="6017"/>
                    <a:pt x="2093" y="5829"/>
                    <a:pt x="2103" y="5607"/>
                  </a:cubicBezTo>
                  <a:cubicBezTo>
                    <a:pt x="2157" y="4517"/>
                    <a:pt x="2495" y="3683"/>
                    <a:pt x="3108" y="3131"/>
                  </a:cubicBezTo>
                  <a:cubicBezTo>
                    <a:pt x="3566" y="2719"/>
                    <a:pt x="4166" y="2504"/>
                    <a:pt x="4762" y="2405"/>
                  </a:cubicBezTo>
                  <a:cubicBezTo>
                    <a:pt x="4906" y="2381"/>
                    <a:pt x="5053" y="2372"/>
                    <a:pt x="5199" y="2376"/>
                  </a:cubicBezTo>
                  <a:cubicBezTo>
                    <a:pt x="5531" y="2386"/>
                    <a:pt x="5879" y="2443"/>
                    <a:pt x="6166" y="2622"/>
                  </a:cubicBezTo>
                  <a:cubicBezTo>
                    <a:pt x="6622" y="2905"/>
                    <a:pt x="6924" y="3446"/>
                    <a:pt x="7066" y="4232"/>
                  </a:cubicBezTo>
                  <a:cubicBezTo>
                    <a:pt x="7373" y="4163"/>
                    <a:pt x="7938" y="3949"/>
                    <a:pt x="8331" y="3703"/>
                  </a:cubicBezTo>
                  <a:cubicBezTo>
                    <a:pt x="8516" y="3586"/>
                    <a:pt x="8759" y="3645"/>
                    <a:pt x="8874" y="3833"/>
                  </a:cubicBezTo>
                  <a:cubicBezTo>
                    <a:pt x="8989" y="4022"/>
                    <a:pt x="8931" y="4269"/>
                    <a:pt x="8746" y="4385"/>
                  </a:cubicBezTo>
                  <a:close/>
                  <a:moveTo>
                    <a:pt x="5150" y="2267"/>
                  </a:moveTo>
                  <a:cubicBezTo>
                    <a:pt x="5766" y="2267"/>
                    <a:pt x="6264" y="1760"/>
                    <a:pt x="6264" y="1133"/>
                  </a:cubicBezTo>
                  <a:cubicBezTo>
                    <a:pt x="6264" y="507"/>
                    <a:pt x="5766" y="0"/>
                    <a:pt x="5150" y="0"/>
                  </a:cubicBezTo>
                  <a:cubicBezTo>
                    <a:pt x="4534" y="0"/>
                    <a:pt x="4035" y="507"/>
                    <a:pt x="4035" y="1133"/>
                  </a:cubicBezTo>
                  <a:cubicBezTo>
                    <a:pt x="4035" y="1760"/>
                    <a:pt x="4534" y="2267"/>
                    <a:pt x="5150" y="2267"/>
                  </a:cubicBezTo>
                  <a:close/>
                  <a:moveTo>
                    <a:pt x="2848" y="6625"/>
                  </a:moveTo>
                  <a:lnTo>
                    <a:pt x="3391" y="6869"/>
                  </a:lnTo>
                  <a:lnTo>
                    <a:pt x="2561" y="8735"/>
                  </a:lnTo>
                  <a:lnTo>
                    <a:pt x="0" y="7583"/>
                  </a:lnTo>
                  <a:lnTo>
                    <a:pt x="829" y="5717"/>
                  </a:lnTo>
                  <a:lnTo>
                    <a:pt x="1346" y="5950"/>
                  </a:lnTo>
                  <a:lnTo>
                    <a:pt x="1629" y="5315"/>
                  </a:lnTo>
                  <a:lnTo>
                    <a:pt x="2193" y="5569"/>
                  </a:lnTo>
                  <a:cubicBezTo>
                    <a:pt x="2189" y="5530"/>
                    <a:pt x="2668" y="5778"/>
                    <a:pt x="2888" y="5882"/>
                  </a:cubicBezTo>
                  <a:lnTo>
                    <a:pt x="3130" y="5990"/>
                  </a:lnTo>
                  <a:lnTo>
                    <a:pt x="2848" y="6625"/>
                  </a:lnTo>
                  <a:close/>
                  <a:moveTo>
                    <a:pt x="2546" y="6216"/>
                  </a:moveTo>
                  <a:lnTo>
                    <a:pt x="1851" y="5903"/>
                  </a:lnTo>
                  <a:lnTo>
                    <a:pt x="1761" y="6106"/>
                  </a:lnTo>
                  <a:lnTo>
                    <a:pt x="2456" y="6418"/>
                  </a:lnTo>
                  <a:lnTo>
                    <a:pt x="2546" y="6216"/>
                  </a:lnTo>
                  <a:close/>
                </a:path>
              </a:pathLst>
            </a:custGeom>
            <a:solidFill>
              <a:schemeClr val="accent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Rectangular Callout 75">
              <a:extLst>
                <a:ext uri="{FF2B5EF4-FFF2-40B4-BE49-F238E27FC236}">
                  <a16:creationId xmlns:a16="http://schemas.microsoft.com/office/drawing/2014/main" id="{60235860-E386-483F-A755-81B97CE2C689}"/>
                </a:ext>
              </a:extLst>
            </p:cNvPr>
            <p:cNvSpPr/>
            <p:nvPr/>
          </p:nvSpPr>
          <p:spPr bwMode="gray">
            <a:xfrm>
              <a:off x="5633804" y="3459674"/>
              <a:ext cx="918494" cy="465280"/>
            </a:xfrm>
            <a:prstGeom prst="wedgeRectCallout">
              <a:avLst>
                <a:gd name="adj1" fmla="val 61881"/>
                <a:gd name="adj2" fmla="val 1589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设备零配置开局</a:t>
              </a:r>
            </a:p>
          </p:txBody>
        </p:sp>
        <p:sp>
          <p:nvSpPr>
            <p:cNvPr id="20" name="Can 41">
              <a:extLst>
                <a:ext uri="{FF2B5EF4-FFF2-40B4-BE49-F238E27FC236}">
                  <a16:creationId xmlns:a16="http://schemas.microsoft.com/office/drawing/2014/main" id="{2C15523A-CB8C-45E8-8BCA-951D08966C59}"/>
                </a:ext>
              </a:extLst>
            </p:cNvPr>
            <p:cNvSpPr/>
            <p:nvPr/>
          </p:nvSpPr>
          <p:spPr bwMode="gray">
            <a:xfrm rot="4765598">
              <a:off x="7760230" y="2965495"/>
              <a:ext cx="166846" cy="2602133"/>
            </a:xfrm>
            <a:prstGeom prst="can">
              <a:avLst>
                <a:gd name="adj" fmla="val 55435"/>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20">
              <a:extLst>
                <a:ext uri="{FF2B5EF4-FFF2-40B4-BE49-F238E27FC236}">
                  <a16:creationId xmlns:a16="http://schemas.microsoft.com/office/drawing/2014/main" id="{075CF06F-49D3-4E51-B334-BE6A9415F8E7}"/>
                </a:ext>
              </a:extLst>
            </p:cNvPr>
            <p:cNvSpPr txBox="1"/>
            <p:nvPr/>
          </p:nvSpPr>
          <p:spPr bwMode="gray">
            <a:xfrm rot="20992814">
              <a:off x="6893953" y="4132593"/>
              <a:ext cx="1754119" cy="276999"/>
            </a:xfrm>
            <a:prstGeom prst="rect">
              <a:avLst/>
            </a:prstGeom>
            <a:noFill/>
          </p:spPr>
          <p:txBody>
            <a:bodyPr wrap="square" rtlCol="0">
              <a:spAutoFit/>
            </a:bodyPr>
            <a:lstStyle/>
            <a:p>
              <a:r>
                <a:rPr lang="en-US" sz="1200" dirty="0">
                  <a:latin typeface="Huawei Sans" panose="020C0503030203020204" pitchFamily="34" charset="0"/>
                  <a:ea typeface="方正兰亭黑简体" panose="02000000000000000000" pitchFamily="2" charset="-122"/>
                  <a:sym typeface="Huawei Sans" panose="020C0503030203020204" pitchFamily="34" charset="0"/>
                </a:rPr>
                <a:t>IP O</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verlay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（拥塞）</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Can 41">
              <a:extLst>
                <a:ext uri="{FF2B5EF4-FFF2-40B4-BE49-F238E27FC236}">
                  <a16:creationId xmlns:a16="http://schemas.microsoft.com/office/drawing/2014/main" id="{8183899C-0BD5-43C0-AD33-F5E9E8ABA8E9}"/>
                </a:ext>
              </a:extLst>
            </p:cNvPr>
            <p:cNvSpPr/>
            <p:nvPr/>
          </p:nvSpPr>
          <p:spPr bwMode="gray">
            <a:xfrm rot="4765598">
              <a:off x="7810462" y="3248210"/>
              <a:ext cx="166846" cy="2602133"/>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Rectangular Callout 75">
              <a:extLst>
                <a:ext uri="{FF2B5EF4-FFF2-40B4-BE49-F238E27FC236}">
                  <a16:creationId xmlns:a16="http://schemas.microsoft.com/office/drawing/2014/main" id="{3FC77790-D372-4689-98E3-FD019B6A4190}"/>
                </a:ext>
              </a:extLst>
            </p:cNvPr>
            <p:cNvSpPr/>
            <p:nvPr/>
          </p:nvSpPr>
          <p:spPr bwMode="gray">
            <a:xfrm rot="21011268">
              <a:off x="7946867" y="4629142"/>
              <a:ext cx="920734" cy="368095"/>
            </a:xfrm>
            <a:prstGeom prst="wedgeRectCallout">
              <a:avLst>
                <a:gd name="adj1" fmla="val -26213"/>
                <a:gd name="adj2" fmla="val -8370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应用体验</a:t>
              </a:r>
            </a:p>
          </p:txBody>
        </p:sp>
        <p:cxnSp>
          <p:nvCxnSpPr>
            <p:cNvPr id="117" name="直接箭头连接符 84">
              <a:extLst>
                <a:ext uri="{FF2B5EF4-FFF2-40B4-BE49-F238E27FC236}">
                  <a16:creationId xmlns:a16="http://schemas.microsoft.com/office/drawing/2014/main" id="{CCF0361D-2D7F-45C7-B771-A0853CF6288F}"/>
                </a:ext>
              </a:extLst>
            </p:cNvPr>
            <p:cNvCxnSpPr>
              <a:cxnSpLocks/>
              <a:stCxn id="12" idx="2"/>
              <a:endCxn id="95" idx="0"/>
            </p:cNvCxnSpPr>
            <p:nvPr/>
          </p:nvCxnSpPr>
          <p:spPr bwMode="gray">
            <a:xfrm flipH="1">
              <a:off x="6392258" y="2287493"/>
              <a:ext cx="1605756" cy="2155435"/>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8" name="Freeform: Shape 27">
              <a:extLst>
                <a:ext uri="{FF2B5EF4-FFF2-40B4-BE49-F238E27FC236}">
                  <a16:creationId xmlns:a16="http://schemas.microsoft.com/office/drawing/2014/main" id="{5A9B92BA-F736-465B-9769-01FB27AD3BB9}"/>
                </a:ext>
              </a:extLst>
            </p:cNvPr>
            <p:cNvSpPr/>
            <p:nvPr/>
          </p:nvSpPr>
          <p:spPr bwMode="gray">
            <a:xfrm>
              <a:off x="5797228" y="4244683"/>
              <a:ext cx="4597400" cy="526164"/>
            </a:xfrm>
            <a:custGeom>
              <a:avLst/>
              <a:gdLst>
                <a:gd name="connsiteX0" fmla="*/ 0 w 4597400"/>
                <a:gd name="connsiteY0" fmla="*/ 150527 h 526164"/>
                <a:gd name="connsiteX1" fmla="*/ 660400 w 4597400"/>
                <a:gd name="connsiteY1" fmla="*/ 525177 h 526164"/>
                <a:gd name="connsiteX2" fmla="*/ 2355850 w 4597400"/>
                <a:gd name="connsiteY2" fmla="*/ 252127 h 526164"/>
                <a:gd name="connsiteX3" fmla="*/ 3619500 w 4597400"/>
                <a:gd name="connsiteY3" fmla="*/ 17177 h 526164"/>
                <a:gd name="connsiteX4" fmla="*/ 4597400 w 4597400"/>
                <a:gd name="connsiteY4" fmla="*/ 36227 h 526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7400" h="526164">
                  <a:moveTo>
                    <a:pt x="0" y="150527"/>
                  </a:moveTo>
                  <a:cubicBezTo>
                    <a:pt x="133879" y="329385"/>
                    <a:pt x="267758" y="508244"/>
                    <a:pt x="660400" y="525177"/>
                  </a:cubicBezTo>
                  <a:cubicBezTo>
                    <a:pt x="1053042" y="542110"/>
                    <a:pt x="1862667" y="336794"/>
                    <a:pt x="2355850" y="252127"/>
                  </a:cubicBezTo>
                  <a:cubicBezTo>
                    <a:pt x="2849033" y="167460"/>
                    <a:pt x="3245908" y="53160"/>
                    <a:pt x="3619500" y="17177"/>
                  </a:cubicBezTo>
                  <a:cubicBezTo>
                    <a:pt x="3993092" y="-18806"/>
                    <a:pt x="4295246" y="8710"/>
                    <a:pt x="4597400" y="36227"/>
                  </a:cubicBezTo>
                </a:path>
              </a:pathLst>
            </a:custGeom>
            <a:noFill/>
            <a:ln w="28575">
              <a:solidFill>
                <a:srgbClr val="E28189"/>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22">
              <a:extLst>
                <a:ext uri="{FF2B5EF4-FFF2-40B4-BE49-F238E27FC236}">
                  <a16:creationId xmlns:a16="http://schemas.microsoft.com/office/drawing/2014/main" id="{A237AE05-9C2B-4DAE-A8C3-8DCA536E7CD2}"/>
                </a:ext>
              </a:extLst>
            </p:cNvPr>
            <p:cNvSpPr txBox="1"/>
            <p:nvPr/>
          </p:nvSpPr>
          <p:spPr bwMode="gray">
            <a:xfrm rot="20992814">
              <a:off x="6945182" y="4425151"/>
              <a:ext cx="1773898" cy="276999"/>
            </a:xfrm>
            <a:prstGeom prst="rect">
              <a:avLst/>
            </a:prstGeom>
            <a:noFill/>
          </p:spPr>
          <p:txBody>
            <a:bodyPr wrap="square" rtlCol="0">
              <a:spAutoFit/>
            </a:bodyPr>
            <a:lstStyle/>
            <a:p>
              <a:r>
                <a:rPr lang="en-US" sz="1200" dirty="0">
                  <a:latin typeface="Huawei Sans" panose="020C0503030203020204" pitchFamily="34" charset="0"/>
                  <a:ea typeface="方正兰亭黑简体" panose="02000000000000000000" pitchFamily="2" charset="-122"/>
                  <a:sym typeface="Huawei Sans" panose="020C0503030203020204" pitchFamily="34" charset="0"/>
                </a:rPr>
                <a:t>IP O</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verlay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（畅通）</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antivirus_139783">
              <a:extLst>
                <a:ext uri="{FF2B5EF4-FFF2-40B4-BE49-F238E27FC236}">
                  <a16:creationId xmlns:a16="http://schemas.microsoft.com/office/drawing/2014/main" id="{6BACB69A-3FF2-4CEB-90CD-67ECE60A0B0C}"/>
                </a:ext>
              </a:extLst>
            </p:cNvPr>
            <p:cNvSpPr>
              <a:spLocks noChangeAspect="1"/>
            </p:cNvSpPr>
            <p:nvPr/>
          </p:nvSpPr>
          <p:spPr bwMode="gray">
            <a:xfrm>
              <a:off x="8627846" y="3313159"/>
              <a:ext cx="193209" cy="251475"/>
            </a:xfrm>
            <a:custGeom>
              <a:avLst/>
              <a:gdLst>
                <a:gd name="connsiteX0" fmla="*/ 227062 w 466280"/>
                <a:gd name="connsiteY0" fmla="*/ 80509 h 606895"/>
                <a:gd name="connsiteX1" fmla="*/ 238458 w 466280"/>
                <a:gd name="connsiteY1" fmla="*/ 80509 h 606895"/>
                <a:gd name="connsiteX2" fmla="*/ 396487 w 466280"/>
                <a:gd name="connsiteY2" fmla="*/ 138155 h 606895"/>
                <a:gd name="connsiteX3" fmla="*/ 405604 w 466280"/>
                <a:gd name="connsiteY3" fmla="*/ 148016 h 606895"/>
                <a:gd name="connsiteX4" fmla="*/ 405604 w 466280"/>
                <a:gd name="connsiteY4" fmla="*/ 283790 h 606895"/>
                <a:gd name="connsiteX5" fmla="*/ 301518 w 466280"/>
                <a:gd name="connsiteY5" fmla="*/ 504517 h 606895"/>
                <a:gd name="connsiteX6" fmla="*/ 236939 w 466280"/>
                <a:gd name="connsiteY6" fmla="*/ 541684 h 606895"/>
                <a:gd name="connsiteX7" fmla="*/ 233140 w 466280"/>
                <a:gd name="connsiteY7" fmla="*/ 542442 h 606895"/>
                <a:gd name="connsiteX8" fmla="*/ 229341 w 466280"/>
                <a:gd name="connsiteY8" fmla="*/ 541684 h 606895"/>
                <a:gd name="connsiteX9" fmla="*/ 164762 w 466280"/>
                <a:gd name="connsiteY9" fmla="*/ 504517 h 606895"/>
                <a:gd name="connsiteX10" fmla="*/ 60676 w 466280"/>
                <a:gd name="connsiteY10" fmla="*/ 283790 h 606895"/>
                <a:gd name="connsiteX11" fmla="*/ 60676 w 466280"/>
                <a:gd name="connsiteY11" fmla="*/ 148016 h 606895"/>
                <a:gd name="connsiteX12" fmla="*/ 69793 w 466280"/>
                <a:gd name="connsiteY12" fmla="*/ 138155 h 606895"/>
                <a:gd name="connsiteX13" fmla="*/ 227062 w 466280"/>
                <a:gd name="connsiteY13" fmla="*/ 80509 h 606895"/>
                <a:gd name="connsiteX14" fmla="*/ 233140 w 466280"/>
                <a:gd name="connsiteY14" fmla="*/ 24457 h 606895"/>
                <a:gd name="connsiteX15" fmla="*/ 20504 w 466280"/>
                <a:gd name="connsiteY15" fmla="*/ 101054 h 606895"/>
                <a:gd name="connsiteX16" fmla="*/ 20504 w 466280"/>
                <a:gd name="connsiteY16" fmla="*/ 283824 h 606895"/>
                <a:gd name="connsiteX17" fmla="*/ 139732 w 466280"/>
                <a:gd name="connsiteY17" fmla="*/ 536365 h 606895"/>
                <a:gd name="connsiteX18" fmla="*/ 233140 w 466280"/>
                <a:gd name="connsiteY18" fmla="*/ 585660 h 606895"/>
                <a:gd name="connsiteX19" fmla="*/ 326548 w 466280"/>
                <a:gd name="connsiteY19" fmla="*/ 536365 h 606895"/>
                <a:gd name="connsiteX20" fmla="*/ 445776 w 466280"/>
                <a:gd name="connsiteY20" fmla="*/ 283824 h 606895"/>
                <a:gd name="connsiteX21" fmla="*/ 445776 w 466280"/>
                <a:gd name="connsiteY21" fmla="*/ 101054 h 606895"/>
                <a:gd name="connsiteX22" fmla="*/ 233140 w 466280"/>
                <a:gd name="connsiteY22" fmla="*/ 24457 h 606895"/>
                <a:gd name="connsiteX23" fmla="*/ 225546 w 466280"/>
                <a:gd name="connsiteY23" fmla="*/ 3981 h 606895"/>
                <a:gd name="connsiteX24" fmla="*/ 240734 w 466280"/>
                <a:gd name="connsiteY24" fmla="*/ 3981 h 606895"/>
                <a:gd name="connsiteX25" fmla="*/ 455648 w 466280"/>
                <a:gd name="connsiteY25" fmla="*/ 80577 h 606895"/>
                <a:gd name="connsiteX26" fmla="*/ 466280 w 466280"/>
                <a:gd name="connsiteY26" fmla="*/ 91195 h 606895"/>
                <a:gd name="connsiteX27" fmla="*/ 466280 w 466280"/>
                <a:gd name="connsiteY27" fmla="*/ 283824 h 606895"/>
                <a:gd name="connsiteX28" fmla="*/ 338698 w 466280"/>
                <a:gd name="connsiteY28" fmla="*/ 552292 h 606895"/>
                <a:gd name="connsiteX29" fmla="*/ 236178 w 466280"/>
                <a:gd name="connsiteY29" fmla="*/ 606137 h 606895"/>
                <a:gd name="connsiteX30" fmla="*/ 233140 w 466280"/>
                <a:gd name="connsiteY30" fmla="*/ 606895 h 606895"/>
                <a:gd name="connsiteX31" fmla="*/ 230102 w 466280"/>
                <a:gd name="connsiteY31" fmla="*/ 606137 h 606895"/>
                <a:gd name="connsiteX32" fmla="*/ 126822 w 466280"/>
                <a:gd name="connsiteY32" fmla="*/ 552292 h 606895"/>
                <a:gd name="connsiteX33" fmla="*/ 0 w 466280"/>
                <a:gd name="connsiteY33" fmla="*/ 283824 h 606895"/>
                <a:gd name="connsiteX34" fmla="*/ 0 w 466280"/>
                <a:gd name="connsiteY34" fmla="*/ 91195 h 606895"/>
                <a:gd name="connsiteX35" fmla="*/ 10632 w 466280"/>
                <a:gd name="connsiteY35" fmla="*/ 80577 h 606895"/>
                <a:gd name="connsiteX36" fmla="*/ 225546 w 466280"/>
                <a:gd name="connsiteY36" fmla="*/ 3981 h 60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6280" h="606895">
                  <a:moveTo>
                    <a:pt x="227062" y="80509"/>
                  </a:moveTo>
                  <a:cubicBezTo>
                    <a:pt x="230861" y="78233"/>
                    <a:pt x="235419" y="78233"/>
                    <a:pt x="238458" y="80509"/>
                  </a:cubicBezTo>
                  <a:cubicBezTo>
                    <a:pt x="269608" y="101747"/>
                    <a:pt x="321271" y="128295"/>
                    <a:pt x="396487" y="138155"/>
                  </a:cubicBezTo>
                  <a:cubicBezTo>
                    <a:pt x="401805" y="138155"/>
                    <a:pt x="405604" y="142707"/>
                    <a:pt x="405604" y="148016"/>
                  </a:cubicBezTo>
                  <a:lnTo>
                    <a:pt x="405604" y="283790"/>
                  </a:lnTo>
                  <a:cubicBezTo>
                    <a:pt x="405604" y="371018"/>
                    <a:pt x="366097" y="453696"/>
                    <a:pt x="301518" y="504517"/>
                  </a:cubicBezTo>
                  <a:cubicBezTo>
                    <a:pt x="281004" y="520445"/>
                    <a:pt x="258972" y="533340"/>
                    <a:pt x="236939" y="541684"/>
                  </a:cubicBezTo>
                  <a:cubicBezTo>
                    <a:pt x="235419" y="542442"/>
                    <a:pt x="234660" y="542442"/>
                    <a:pt x="233140" y="542442"/>
                  </a:cubicBezTo>
                  <a:cubicBezTo>
                    <a:pt x="231620" y="542442"/>
                    <a:pt x="230861" y="542442"/>
                    <a:pt x="229341" y="541684"/>
                  </a:cubicBezTo>
                  <a:cubicBezTo>
                    <a:pt x="207308" y="533340"/>
                    <a:pt x="185276" y="520445"/>
                    <a:pt x="164762" y="504517"/>
                  </a:cubicBezTo>
                  <a:cubicBezTo>
                    <a:pt x="99423" y="453696"/>
                    <a:pt x="60676" y="371018"/>
                    <a:pt x="60676" y="283790"/>
                  </a:cubicBezTo>
                  <a:lnTo>
                    <a:pt x="60676" y="148016"/>
                  </a:lnTo>
                  <a:cubicBezTo>
                    <a:pt x="60676" y="142707"/>
                    <a:pt x="64475" y="138155"/>
                    <a:pt x="69793" y="138155"/>
                  </a:cubicBezTo>
                  <a:cubicBezTo>
                    <a:pt x="145009" y="128295"/>
                    <a:pt x="196672" y="101747"/>
                    <a:pt x="227062" y="80509"/>
                  </a:cubicBezTo>
                  <a:close/>
                  <a:moveTo>
                    <a:pt x="233140" y="24457"/>
                  </a:moveTo>
                  <a:cubicBezTo>
                    <a:pt x="211117" y="45692"/>
                    <a:pt x="144289" y="98020"/>
                    <a:pt x="20504" y="101054"/>
                  </a:cubicBezTo>
                  <a:lnTo>
                    <a:pt x="20504" y="283824"/>
                  </a:lnTo>
                  <a:cubicBezTo>
                    <a:pt x="20504" y="383172"/>
                    <a:pt x="65310" y="477970"/>
                    <a:pt x="139732" y="536365"/>
                  </a:cubicBezTo>
                  <a:cubicBezTo>
                    <a:pt x="168590" y="559117"/>
                    <a:pt x="200485" y="575801"/>
                    <a:pt x="233140" y="585660"/>
                  </a:cubicBezTo>
                  <a:cubicBezTo>
                    <a:pt x="265795" y="575801"/>
                    <a:pt x="296931" y="559117"/>
                    <a:pt x="326548" y="536365"/>
                  </a:cubicBezTo>
                  <a:cubicBezTo>
                    <a:pt x="400970" y="477970"/>
                    <a:pt x="445776" y="383172"/>
                    <a:pt x="445776" y="283824"/>
                  </a:cubicBezTo>
                  <a:lnTo>
                    <a:pt x="445776" y="101054"/>
                  </a:lnTo>
                  <a:cubicBezTo>
                    <a:pt x="321991" y="98020"/>
                    <a:pt x="254404" y="45692"/>
                    <a:pt x="233140" y="24457"/>
                  </a:cubicBezTo>
                  <a:close/>
                  <a:moveTo>
                    <a:pt x="225546" y="3981"/>
                  </a:moveTo>
                  <a:cubicBezTo>
                    <a:pt x="229343" y="-1328"/>
                    <a:pt x="236937" y="-1328"/>
                    <a:pt x="240734" y="3981"/>
                  </a:cubicBezTo>
                  <a:cubicBezTo>
                    <a:pt x="241494" y="4739"/>
                    <a:pt x="307563" y="80577"/>
                    <a:pt x="455648" y="80577"/>
                  </a:cubicBezTo>
                  <a:cubicBezTo>
                    <a:pt x="461724" y="80577"/>
                    <a:pt x="466280" y="85128"/>
                    <a:pt x="466280" y="91195"/>
                  </a:cubicBezTo>
                  <a:lnTo>
                    <a:pt x="466280" y="283824"/>
                  </a:lnTo>
                  <a:cubicBezTo>
                    <a:pt x="466280" y="389239"/>
                    <a:pt x="418437" y="490104"/>
                    <a:pt x="338698" y="552292"/>
                  </a:cubicBezTo>
                  <a:cubicBezTo>
                    <a:pt x="306803" y="577318"/>
                    <a:pt x="271870" y="595519"/>
                    <a:pt x="236178" y="606137"/>
                  </a:cubicBezTo>
                  <a:cubicBezTo>
                    <a:pt x="234659" y="606895"/>
                    <a:pt x="233899" y="606895"/>
                    <a:pt x="233140" y="606895"/>
                  </a:cubicBezTo>
                  <a:cubicBezTo>
                    <a:pt x="232381" y="606895"/>
                    <a:pt x="230862" y="606895"/>
                    <a:pt x="230102" y="606137"/>
                  </a:cubicBezTo>
                  <a:cubicBezTo>
                    <a:pt x="193650" y="595519"/>
                    <a:pt x="159477" y="577318"/>
                    <a:pt x="126822" y="552292"/>
                  </a:cubicBezTo>
                  <a:cubicBezTo>
                    <a:pt x="47843" y="490104"/>
                    <a:pt x="0" y="389239"/>
                    <a:pt x="0" y="283824"/>
                  </a:cubicBezTo>
                  <a:lnTo>
                    <a:pt x="0" y="91195"/>
                  </a:lnTo>
                  <a:cubicBezTo>
                    <a:pt x="0" y="85128"/>
                    <a:pt x="4556" y="80577"/>
                    <a:pt x="10632" y="80577"/>
                  </a:cubicBezTo>
                  <a:cubicBezTo>
                    <a:pt x="158717" y="80577"/>
                    <a:pt x="224786" y="4739"/>
                    <a:pt x="225546" y="3981"/>
                  </a:cubicBezTo>
                  <a:close/>
                </a:path>
              </a:pathLst>
            </a:custGeom>
            <a:solidFill>
              <a:srgbClr val="AFD89C"/>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Rectangular Callout 75">
              <a:extLst>
                <a:ext uri="{FF2B5EF4-FFF2-40B4-BE49-F238E27FC236}">
                  <a16:creationId xmlns:a16="http://schemas.microsoft.com/office/drawing/2014/main" id="{792220A7-027E-4108-9030-F732963BDFAE}"/>
                </a:ext>
              </a:extLst>
            </p:cNvPr>
            <p:cNvSpPr/>
            <p:nvPr/>
          </p:nvSpPr>
          <p:spPr bwMode="gray">
            <a:xfrm>
              <a:off x="8930413" y="3173382"/>
              <a:ext cx="916258" cy="368095"/>
            </a:xfrm>
            <a:prstGeom prst="wedgeRectCallout">
              <a:avLst>
                <a:gd name="adj1" fmla="val -66713"/>
                <a:gd name="adj2" fmla="val 1769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安全加固</a:t>
              </a:r>
            </a:p>
          </p:txBody>
        </p:sp>
        <p:sp>
          <p:nvSpPr>
            <p:cNvPr id="119" name="Rectangle 118">
              <a:extLst>
                <a:ext uri="{FF2B5EF4-FFF2-40B4-BE49-F238E27FC236}">
                  <a16:creationId xmlns:a16="http://schemas.microsoft.com/office/drawing/2014/main" id="{065461C0-614F-4B28-BB32-C57F00BC3037}"/>
                </a:ext>
              </a:extLst>
            </p:cNvPr>
            <p:cNvSpPr/>
            <p:nvPr/>
          </p:nvSpPr>
          <p:spPr bwMode="gray">
            <a:xfrm>
              <a:off x="7564312" y="2501634"/>
              <a:ext cx="896176" cy="234810"/>
            </a:xfrm>
            <a:prstGeom prst="rect">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控制通道</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25">
              <a:extLst>
                <a:ext uri="{FF2B5EF4-FFF2-40B4-BE49-F238E27FC236}">
                  <a16:creationId xmlns:a16="http://schemas.microsoft.com/office/drawing/2014/main" id="{0DFBEB32-6202-4294-828C-A05B457D8DCA}"/>
                </a:ext>
              </a:extLst>
            </p:cNvPr>
            <p:cNvPicPr>
              <a:picLocks noChangeAspect="1"/>
            </p:cNvPicPr>
            <p:nvPr/>
          </p:nvPicPr>
          <p:blipFill>
            <a:blip r:embed="rId4"/>
            <a:stretch>
              <a:fillRect/>
            </a:stretch>
          </p:blipFill>
          <p:spPr bwMode="gray">
            <a:xfrm>
              <a:off x="7764680" y="1898185"/>
              <a:ext cx="466668" cy="389308"/>
            </a:xfrm>
            <a:prstGeom prst="rect">
              <a:avLst/>
            </a:prstGeom>
          </p:spPr>
        </p:pic>
        <p:sp>
          <p:nvSpPr>
            <p:cNvPr id="29" name="Rectangular Callout 75">
              <a:extLst>
                <a:ext uri="{FF2B5EF4-FFF2-40B4-BE49-F238E27FC236}">
                  <a16:creationId xmlns:a16="http://schemas.microsoft.com/office/drawing/2014/main" id="{45683742-0AE9-4183-B159-64557FA20FF3}"/>
                </a:ext>
              </a:extLst>
            </p:cNvPr>
            <p:cNvSpPr/>
            <p:nvPr/>
          </p:nvSpPr>
          <p:spPr bwMode="gray">
            <a:xfrm>
              <a:off x="8564935" y="2365092"/>
              <a:ext cx="913166" cy="368095"/>
            </a:xfrm>
            <a:prstGeom prst="wedgeRectCallout">
              <a:avLst>
                <a:gd name="adj1" fmla="val -66713"/>
                <a:gd name="adj2" fmla="val 1769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转控分离</a:t>
              </a:r>
            </a:p>
          </p:txBody>
        </p:sp>
        <p:cxnSp>
          <p:nvCxnSpPr>
            <p:cNvPr id="121" name="直接箭头连接符 84">
              <a:extLst>
                <a:ext uri="{FF2B5EF4-FFF2-40B4-BE49-F238E27FC236}">
                  <a16:creationId xmlns:a16="http://schemas.microsoft.com/office/drawing/2014/main" id="{35943C3E-0C6C-4A21-BB30-D2CC441B2865}"/>
                </a:ext>
              </a:extLst>
            </p:cNvPr>
            <p:cNvCxnSpPr>
              <a:cxnSpLocks/>
              <a:stCxn id="115" idx="1"/>
              <a:endCxn id="12" idx="0"/>
            </p:cNvCxnSpPr>
            <p:nvPr/>
          </p:nvCxnSpPr>
          <p:spPr bwMode="gray">
            <a:xfrm flipH="1">
              <a:off x="7998014" y="1475089"/>
              <a:ext cx="637362" cy="423096"/>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33" name="Rectangle 32">
              <a:extLst>
                <a:ext uri="{FF2B5EF4-FFF2-40B4-BE49-F238E27FC236}">
                  <a16:creationId xmlns:a16="http://schemas.microsoft.com/office/drawing/2014/main" id="{0E231027-2C97-4CEB-B757-A17BDAE24671}"/>
                </a:ext>
              </a:extLst>
            </p:cNvPr>
            <p:cNvSpPr/>
            <p:nvPr/>
          </p:nvSpPr>
          <p:spPr bwMode="gray">
            <a:xfrm rot="19684300">
              <a:off x="7713421" y="1448934"/>
              <a:ext cx="915693" cy="225219"/>
            </a:xfrm>
            <a:prstGeom prst="rect">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管理通道</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18">
              <a:extLst>
                <a:ext uri="{FF2B5EF4-FFF2-40B4-BE49-F238E27FC236}">
                  <a16:creationId xmlns:a16="http://schemas.microsoft.com/office/drawing/2014/main" id="{395418C3-9467-4774-B3CF-CBD25E56912F}"/>
                </a:ext>
              </a:extLst>
            </p:cNvPr>
            <p:cNvSpPr txBox="1"/>
            <p:nvPr/>
          </p:nvSpPr>
          <p:spPr bwMode="gray">
            <a:xfrm>
              <a:off x="7432620" y="1962783"/>
              <a:ext cx="388549" cy="256545"/>
            </a:xfrm>
            <a:prstGeom prst="rect">
              <a:avLst/>
            </a:prstGeom>
            <a:noFill/>
          </p:spPr>
          <p:txBody>
            <a:bodyPr wrap="square" rtlCol="0">
              <a:spAutoFit/>
            </a:bodyPr>
            <a:lstStyle/>
            <a:p>
              <a:pPr algn="ctr"/>
              <a:r>
                <a:rPr lang="en-US" altLang="zh-CN" sz="1067"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067"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ustDataLst>
      <p:tags r:id="rId1"/>
    </p:custDataLst>
    <p:extLst>
      <p:ext uri="{BB962C8B-B14F-4D97-AF65-F5344CB8AC3E}">
        <p14:creationId xmlns:p14="http://schemas.microsoft.com/office/powerpoint/2010/main" val="3868989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67C576-2F08-46C8-891A-5960ADA6075E}"/>
              </a:ext>
            </a:extLst>
          </p:cNvPr>
          <p:cNvSpPr>
            <a:spLocks noGrp="1"/>
          </p:cNvSpPr>
          <p:nvPr>
            <p:ph type="title"/>
          </p:nvPr>
        </p:nvSpPr>
        <p:spPr bwMode="gray"/>
        <p:txBody>
          <a:bodyPr>
            <a:normAutofit/>
          </a:bodyPr>
          <a:lstStyle/>
          <a:p>
            <a:r>
              <a:rPr lang="zh-CN" altLang="en-US" dirty="0">
                <a:sym typeface="Huawei Sans" panose="020C0503030203020204" pitchFamily="34" charset="0"/>
              </a:rPr>
              <a:t>零配置开局概述</a:t>
            </a:r>
            <a:endParaRPr lang="en-US" dirty="0">
              <a:sym typeface="Huawei Sans" panose="020C0503030203020204" pitchFamily="34" charset="0"/>
            </a:endParaRPr>
          </a:p>
        </p:txBody>
      </p:sp>
      <p:sp>
        <p:nvSpPr>
          <p:cNvPr id="2" name="副标题 1"/>
          <p:cNvSpPr>
            <a:spLocks noGrp="1"/>
          </p:cNvSpPr>
          <p:nvPr>
            <p:ph type="body" sz="quarter" idx="10"/>
          </p:nvPr>
        </p:nvSpPr>
        <p:spPr bwMode="gray"/>
        <p:txBody>
          <a:bodyPr/>
          <a:lstStyle/>
          <a:p>
            <a:r>
              <a:rPr lang="zh-CN" altLang="en-US" sz="1800" dirty="0">
                <a:sym typeface="Huawei Sans" panose="020C0503030203020204" pitchFamily="34" charset="0"/>
              </a:rPr>
              <a:t>随着</a:t>
            </a:r>
            <a:r>
              <a:rPr lang="en-US" altLang="zh-CN" sz="1800" dirty="0">
                <a:sym typeface="Huawei Sans" panose="020C0503030203020204" pitchFamily="34" charset="0"/>
              </a:rPr>
              <a:t>SDN</a:t>
            </a:r>
            <a:r>
              <a:rPr lang="zh-CN" altLang="en-US" sz="1800" dirty="0">
                <a:sym typeface="Huawei Sans" panose="020C0503030203020204" pitchFamily="34" charset="0"/>
              </a:rPr>
              <a:t>、云计算等网络技术的发展，越来越多的企业网络采用云化管理方式，而站点部署大多仍采用由技术工程师现场开局的方式，存在开局成本高昂，开局周期长等问题。为了解决这些问题，华为公司推出了零配置开局（</a:t>
            </a:r>
            <a:r>
              <a:rPr lang="en-US" altLang="zh-CN" sz="1800" dirty="0">
                <a:sym typeface="Huawei Sans" panose="020C0503030203020204" pitchFamily="34" charset="0"/>
              </a:rPr>
              <a:t>ZTP</a:t>
            </a:r>
            <a:r>
              <a:rPr lang="zh-CN" altLang="en-US" sz="1800" dirty="0">
                <a:sym typeface="Huawei Sans" panose="020C0503030203020204" pitchFamily="34" charset="0"/>
              </a:rPr>
              <a:t>）功能。</a:t>
            </a:r>
          </a:p>
        </p:txBody>
      </p:sp>
      <p:sp>
        <p:nvSpPr>
          <p:cNvPr id="74"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圆角矩形 75">
            <a:extLst>
              <a:ext uri="{FF2B5EF4-FFF2-40B4-BE49-F238E27FC236}">
                <a16:creationId xmlns:a16="http://schemas.microsoft.com/office/drawing/2014/main" id="{6A34F7F2-0097-48F6-ADBA-1C690F641E45}"/>
              </a:ext>
            </a:extLst>
          </p:cNvPr>
          <p:cNvSpPr/>
          <p:nvPr/>
        </p:nvSpPr>
        <p:spPr bwMode="gray">
          <a:xfrm>
            <a:off x="982457" y="2392272"/>
            <a:ext cx="10156598"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开局基本流程</a:t>
            </a:r>
          </a:p>
        </p:txBody>
      </p:sp>
      <p:sp>
        <p:nvSpPr>
          <p:cNvPr id="87" name="圆角矩形 75">
            <a:extLst>
              <a:ext uri="{FF2B5EF4-FFF2-40B4-BE49-F238E27FC236}">
                <a16:creationId xmlns:a16="http://schemas.microsoft.com/office/drawing/2014/main" id="{DE2283DF-C472-494C-A836-F722A654A64A}"/>
              </a:ext>
            </a:extLst>
          </p:cNvPr>
          <p:cNvSpPr/>
          <p:nvPr/>
        </p:nvSpPr>
        <p:spPr bwMode="gray">
          <a:xfrm>
            <a:off x="982457" y="2826560"/>
            <a:ext cx="10156598" cy="321529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 name="Group 4">
            <a:extLst>
              <a:ext uri="{FF2B5EF4-FFF2-40B4-BE49-F238E27FC236}">
                <a16:creationId xmlns:a16="http://schemas.microsoft.com/office/drawing/2014/main" id="{42112CDA-9760-454A-ADF8-F4B0FD54837B}"/>
              </a:ext>
            </a:extLst>
          </p:cNvPr>
          <p:cNvGrpSpPr/>
          <p:nvPr/>
        </p:nvGrpSpPr>
        <p:grpSpPr bwMode="gray">
          <a:xfrm>
            <a:off x="1404287" y="3145880"/>
            <a:ext cx="9368514" cy="2710267"/>
            <a:chOff x="1278522" y="3170097"/>
            <a:chExt cx="9368514" cy="2710267"/>
          </a:xfrm>
        </p:grpSpPr>
        <p:pic>
          <p:nvPicPr>
            <p:cNvPr id="13" name="图片 3">
              <a:extLst>
                <a:ext uri="{FF2B5EF4-FFF2-40B4-BE49-F238E27FC236}">
                  <a16:creationId xmlns:a16="http://schemas.microsoft.com/office/drawing/2014/main" id="{4407090D-72B2-4522-98A8-DC81BB4623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27545" y="4535579"/>
              <a:ext cx="594000" cy="487080"/>
            </a:xfrm>
            <a:prstGeom prst="rect">
              <a:avLst/>
            </a:prstGeom>
          </p:spPr>
        </p:pic>
        <p:pic>
          <p:nvPicPr>
            <p:cNvPr id="15" name="图片 6" descr="笔记本电脑.png">
              <a:extLst>
                <a:ext uri="{FF2B5EF4-FFF2-40B4-BE49-F238E27FC236}">
                  <a16:creationId xmlns:a16="http://schemas.microsoft.com/office/drawing/2014/main" id="{C474B647-B6BA-4C5E-9F3B-A743373382A9}"/>
                </a:ext>
              </a:extLst>
            </p:cNvPr>
            <p:cNvPicPr>
              <a:picLocks noChangeAspect="1"/>
            </p:cNvPicPr>
            <p:nvPr/>
          </p:nvPicPr>
          <p:blipFill>
            <a:blip r:embed="rId4" cstate="print"/>
            <a:stretch>
              <a:fillRect/>
            </a:stretch>
          </p:blipFill>
          <p:spPr bwMode="gray">
            <a:xfrm>
              <a:off x="8852599" y="4611054"/>
              <a:ext cx="539779" cy="338400"/>
            </a:xfrm>
            <a:prstGeom prst="rect">
              <a:avLst/>
            </a:prstGeom>
          </p:spPr>
        </p:pic>
        <p:pic>
          <p:nvPicPr>
            <p:cNvPr id="16" name="图片 7">
              <a:extLst>
                <a:ext uri="{FF2B5EF4-FFF2-40B4-BE49-F238E27FC236}">
                  <a16:creationId xmlns:a16="http://schemas.microsoft.com/office/drawing/2014/main" id="{0A2C13BE-0AEB-4607-8241-4A9D1458A40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563675" y="3450228"/>
              <a:ext cx="540000" cy="442174"/>
            </a:xfrm>
            <a:prstGeom prst="rect">
              <a:avLst/>
            </a:prstGeom>
          </p:spPr>
        </p:pic>
        <p:sp>
          <p:nvSpPr>
            <p:cNvPr id="17" name="下箭头 8">
              <a:extLst>
                <a:ext uri="{FF2B5EF4-FFF2-40B4-BE49-F238E27FC236}">
                  <a16:creationId xmlns:a16="http://schemas.microsoft.com/office/drawing/2014/main" id="{E8F799C4-FC07-4AF8-92A2-621BFBE4C4ED}"/>
                </a:ext>
              </a:extLst>
            </p:cNvPr>
            <p:cNvSpPr/>
            <p:nvPr/>
          </p:nvSpPr>
          <p:spPr bwMode="gray">
            <a:xfrm rot="10800000" flipV="1">
              <a:off x="2717432" y="3940378"/>
              <a:ext cx="208925" cy="523672"/>
            </a:xfrm>
            <a:prstGeom prst="downArrow">
              <a:avLst/>
            </a:pr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图片 13" descr="wifi信号蓝.png">
              <a:extLst>
                <a:ext uri="{FF2B5EF4-FFF2-40B4-BE49-F238E27FC236}">
                  <a16:creationId xmlns:a16="http://schemas.microsoft.com/office/drawing/2014/main" id="{F10C6713-0CF6-4737-A67E-37B941F5F565}"/>
                </a:ext>
              </a:extLst>
            </p:cNvPr>
            <p:cNvPicPr>
              <a:picLocks noChangeAspect="1"/>
            </p:cNvPicPr>
            <p:nvPr/>
          </p:nvPicPr>
          <p:blipFill>
            <a:blip r:embed="rId6" cstate="print"/>
            <a:stretch>
              <a:fillRect/>
            </a:stretch>
          </p:blipFill>
          <p:spPr bwMode="gray">
            <a:xfrm rot="3600000">
              <a:off x="8062056" y="4416002"/>
              <a:ext cx="285606" cy="239153"/>
            </a:xfrm>
            <a:prstGeom prst="rect">
              <a:avLst/>
            </a:prstGeom>
          </p:spPr>
        </p:pic>
        <p:pic>
          <p:nvPicPr>
            <p:cNvPr id="19" name="图片 14" descr="wifi信号蓝.png">
              <a:extLst>
                <a:ext uri="{FF2B5EF4-FFF2-40B4-BE49-F238E27FC236}">
                  <a16:creationId xmlns:a16="http://schemas.microsoft.com/office/drawing/2014/main" id="{FBC05DEC-4C71-4F21-9481-45D95EA8077D}"/>
                </a:ext>
              </a:extLst>
            </p:cNvPr>
            <p:cNvPicPr>
              <a:picLocks noChangeAspect="1"/>
            </p:cNvPicPr>
            <p:nvPr/>
          </p:nvPicPr>
          <p:blipFill>
            <a:blip r:embed="rId6" cstate="print"/>
            <a:stretch>
              <a:fillRect/>
            </a:stretch>
          </p:blipFill>
          <p:spPr bwMode="gray">
            <a:xfrm rot="18000000">
              <a:off x="8572196" y="4411850"/>
              <a:ext cx="285606" cy="239153"/>
            </a:xfrm>
            <a:prstGeom prst="rect">
              <a:avLst/>
            </a:prstGeom>
          </p:spPr>
        </p:pic>
        <p:sp>
          <p:nvSpPr>
            <p:cNvPr id="23" name="圆角矩形 21">
              <a:extLst>
                <a:ext uri="{FF2B5EF4-FFF2-40B4-BE49-F238E27FC236}">
                  <a16:creationId xmlns:a16="http://schemas.microsoft.com/office/drawing/2014/main" id="{EAE45516-5393-4787-92EC-774A8485F55B}"/>
                </a:ext>
              </a:extLst>
            </p:cNvPr>
            <p:cNvSpPr/>
            <p:nvPr/>
          </p:nvSpPr>
          <p:spPr bwMode="gray">
            <a:xfrm>
              <a:off x="6723220" y="3247255"/>
              <a:ext cx="3923816" cy="238215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4">
              <a:extLst>
                <a:ext uri="{FF2B5EF4-FFF2-40B4-BE49-F238E27FC236}">
                  <a16:creationId xmlns:a16="http://schemas.microsoft.com/office/drawing/2014/main" id="{AC325CC4-D3B7-435F-8A0C-948D0AE225C6}"/>
                </a:ext>
              </a:extLst>
            </p:cNvPr>
            <p:cNvSpPr txBox="1"/>
            <p:nvPr/>
          </p:nvSpPr>
          <p:spPr bwMode="gray">
            <a:xfrm>
              <a:off x="2280723" y="3170097"/>
              <a:ext cx="1082348" cy="307777"/>
            </a:xfrm>
            <a:prstGeom prst="rect">
              <a:avLst/>
            </a:prstGeom>
            <a:noFill/>
          </p:spPr>
          <p:txBody>
            <a:bodyPr wrap="none" rtlCol="0">
              <a:spAutoFit/>
            </a:bodyPr>
            <a:lstStyle/>
            <a:p>
              <a:pPr algn="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网络管理员</a:t>
              </a:r>
            </a:p>
          </p:txBody>
        </p:sp>
        <p:sp>
          <p:nvSpPr>
            <p:cNvPr id="26" name="文本框 26">
              <a:extLst>
                <a:ext uri="{FF2B5EF4-FFF2-40B4-BE49-F238E27FC236}">
                  <a16:creationId xmlns:a16="http://schemas.microsoft.com/office/drawing/2014/main" id="{C1461A69-0FC8-4FC9-A6B5-FDA43904B9C9}"/>
                </a:ext>
              </a:extLst>
            </p:cNvPr>
            <p:cNvSpPr txBox="1"/>
            <p:nvPr/>
          </p:nvSpPr>
          <p:spPr bwMode="gray">
            <a:xfrm>
              <a:off x="8496463" y="3356943"/>
              <a:ext cx="1261885" cy="307777"/>
            </a:xfrm>
            <a:prstGeom prst="rect">
              <a:avLst/>
            </a:prstGeom>
            <a:noFill/>
          </p:spPr>
          <p:txBody>
            <a:bodyPr wrap="none" rtlCol="0">
              <a:spAutoFit/>
            </a:bodyPr>
            <a:lstStyle/>
            <a:p>
              <a:pPr algn="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站点开局人员</a:t>
              </a:r>
            </a:p>
          </p:txBody>
        </p:sp>
        <p:sp>
          <p:nvSpPr>
            <p:cNvPr id="27" name="下箭头 27">
              <a:extLst>
                <a:ext uri="{FF2B5EF4-FFF2-40B4-BE49-F238E27FC236}">
                  <a16:creationId xmlns:a16="http://schemas.microsoft.com/office/drawing/2014/main" id="{C7161C34-828A-496D-83D6-DAD023195B9B}"/>
                </a:ext>
              </a:extLst>
            </p:cNvPr>
            <p:cNvSpPr/>
            <p:nvPr/>
          </p:nvSpPr>
          <p:spPr bwMode="gray">
            <a:xfrm rot="10800000" flipV="1">
              <a:off x="9018024" y="4151195"/>
              <a:ext cx="208925" cy="440809"/>
            </a:xfrm>
            <a:prstGeom prst="downArrow">
              <a:avLst/>
            </a:pr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30">
              <a:extLst>
                <a:ext uri="{FF2B5EF4-FFF2-40B4-BE49-F238E27FC236}">
                  <a16:creationId xmlns:a16="http://schemas.microsoft.com/office/drawing/2014/main" id="{477FF431-8B89-4EB0-B0D4-653F5FFD4CAB}"/>
                </a:ext>
              </a:extLst>
            </p:cNvPr>
            <p:cNvSpPr txBox="1"/>
            <p:nvPr/>
          </p:nvSpPr>
          <p:spPr bwMode="gray">
            <a:xfrm>
              <a:off x="7398061" y="5020274"/>
              <a:ext cx="638316"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任意多边形 37">
              <a:extLst>
                <a:ext uri="{FF2B5EF4-FFF2-40B4-BE49-F238E27FC236}">
                  <a16:creationId xmlns:a16="http://schemas.microsoft.com/office/drawing/2014/main" id="{629C368D-E6F6-4657-A8DD-957B5A80620B}"/>
                </a:ext>
              </a:extLst>
            </p:cNvPr>
            <p:cNvSpPr/>
            <p:nvPr/>
          </p:nvSpPr>
          <p:spPr bwMode="gray">
            <a:xfrm rot="5400000" flipH="1" flipV="1">
              <a:off x="5621420" y="3584041"/>
              <a:ext cx="408849" cy="3042722"/>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622570"/>
                <a:gd name="connsiteY0" fmla="*/ 2973237 h 2973237"/>
                <a:gd name="connsiteX1" fmla="*/ 622570 w 622570"/>
                <a:gd name="connsiteY1" fmla="*/ 0 h 2973237"/>
                <a:gd name="connsiteX0" fmla="*/ 0 w 622570"/>
                <a:gd name="connsiteY0" fmla="*/ 2973237 h 2976202"/>
                <a:gd name="connsiteX1" fmla="*/ 622570 w 622570"/>
                <a:gd name="connsiteY1" fmla="*/ 0 h 2976202"/>
                <a:gd name="connsiteX0" fmla="*/ 0 w 542330"/>
                <a:gd name="connsiteY0" fmla="*/ 3315278 h 3317836"/>
                <a:gd name="connsiteX1" fmla="*/ 481606 w 542330"/>
                <a:gd name="connsiteY1" fmla="*/ 0 h 3317836"/>
                <a:gd name="connsiteX0" fmla="*/ 0 w 866413"/>
                <a:gd name="connsiteY0" fmla="*/ 3315278 h 3318792"/>
                <a:gd name="connsiteX1" fmla="*/ 481606 w 866413"/>
                <a:gd name="connsiteY1" fmla="*/ 0 h 3318792"/>
                <a:gd name="connsiteX0" fmla="*/ 0 w 824658"/>
                <a:gd name="connsiteY0" fmla="*/ 3184796 h 3188581"/>
                <a:gd name="connsiteX1" fmla="*/ 414361 w 824658"/>
                <a:gd name="connsiteY1" fmla="*/ 0 h 3188581"/>
                <a:gd name="connsiteX0" fmla="*/ 0 w 909471"/>
                <a:gd name="connsiteY0" fmla="*/ 3005221 h 3009454"/>
                <a:gd name="connsiteX1" fmla="*/ 547806 w 909471"/>
                <a:gd name="connsiteY1" fmla="*/ 0 h 3009454"/>
                <a:gd name="connsiteX0" fmla="*/ 0 w 894794"/>
                <a:gd name="connsiteY0" fmla="*/ 3063318 h 3067395"/>
                <a:gd name="connsiteX1" fmla="*/ 525565 w 894794"/>
                <a:gd name="connsiteY1" fmla="*/ 0 h 3067395"/>
                <a:gd name="connsiteX0" fmla="*/ 0 w 883526"/>
                <a:gd name="connsiteY0" fmla="*/ 3036909 h 3041055"/>
                <a:gd name="connsiteX1" fmla="*/ 508267 w 883526"/>
                <a:gd name="connsiteY1" fmla="*/ 0 h 3041055"/>
                <a:gd name="connsiteX0" fmla="*/ 0 w 931709"/>
                <a:gd name="connsiteY0" fmla="*/ 3036909 h 3040561"/>
                <a:gd name="connsiteX1" fmla="*/ 508267 w 931709"/>
                <a:gd name="connsiteY1" fmla="*/ 0 h 3040561"/>
                <a:gd name="connsiteX0" fmla="*/ 1849272 w 2110960"/>
                <a:gd name="connsiteY0" fmla="*/ 4136230 h 4138472"/>
                <a:gd name="connsiteX1" fmla="*/ 0 w 2110960"/>
                <a:gd name="connsiteY1" fmla="*/ 0 h 4138472"/>
                <a:gd name="connsiteX0" fmla="*/ 0 w 981567"/>
                <a:gd name="connsiteY0" fmla="*/ 1169158 h 1233895"/>
                <a:gd name="connsiteX1" fmla="*/ 582404 w 981567"/>
                <a:gd name="connsiteY1" fmla="*/ 0 h 1233895"/>
                <a:gd name="connsiteX0" fmla="*/ 0 w 670939"/>
                <a:gd name="connsiteY0" fmla="*/ 1169158 h 1194339"/>
                <a:gd name="connsiteX1" fmla="*/ 582404 w 670939"/>
                <a:gd name="connsiteY1" fmla="*/ 0 h 1194339"/>
                <a:gd name="connsiteX0" fmla="*/ 0 w 703418"/>
                <a:gd name="connsiteY0" fmla="*/ 1251197 h 1271213"/>
                <a:gd name="connsiteX1" fmla="*/ 636770 w 703418"/>
                <a:gd name="connsiteY1" fmla="*/ 0 h 1271213"/>
                <a:gd name="connsiteX0" fmla="*/ 0 w 636858"/>
                <a:gd name="connsiteY0" fmla="*/ 1251197 h 1251197"/>
                <a:gd name="connsiteX1" fmla="*/ 636770 w 636858"/>
                <a:gd name="connsiteY1" fmla="*/ 0 h 1251197"/>
                <a:gd name="connsiteX0" fmla="*/ 0 w 587440"/>
                <a:gd name="connsiteY0" fmla="*/ 1415275 h 1415275"/>
                <a:gd name="connsiteX1" fmla="*/ 587345 w 587440"/>
                <a:gd name="connsiteY1" fmla="*/ 0 h 1415275"/>
                <a:gd name="connsiteX0" fmla="*/ 0 w 587345"/>
                <a:gd name="connsiteY0" fmla="*/ 1415275 h 1415275"/>
                <a:gd name="connsiteX1" fmla="*/ 587345 w 587345"/>
                <a:gd name="connsiteY1" fmla="*/ 0 h 1415275"/>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959452 w 959622"/>
                <a:gd name="connsiteY0" fmla="*/ 2942373 h 2942373"/>
                <a:gd name="connsiteX1" fmla="*/ 60420 w 959622"/>
                <a:gd name="connsiteY1" fmla="*/ 0 h 2942373"/>
                <a:gd name="connsiteX0" fmla="*/ 997454 w 997454"/>
                <a:gd name="connsiteY0" fmla="*/ 2942373 h 2942373"/>
                <a:gd name="connsiteX1" fmla="*/ 98422 w 997454"/>
                <a:gd name="connsiteY1" fmla="*/ 0 h 2942373"/>
                <a:gd name="connsiteX0" fmla="*/ 535503 w 535503"/>
                <a:gd name="connsiteY0" fmla="*/ 1286760 h 1286760"/>
                <a:gd name="connsiteX1" fmla="*/ 211712 w 535503"/>
                <a:gd name="connsiteY1" fmla="*/ 0 h 1286760"/>
                <a:gd name="connsiteX0" fmla="*/ 438649 w 438649"/>
                <a:gd name="connsiteY0" fmla="*/ 1286760 h 1286760"/>
                <a:gd name="connsiteX1" fmla="*/ 114858 w 438649"/>
                <a:gd name="connsiteY1" fmla="*/ 0 h 1286760"/>
                <a:gd name="connsiteX0" fmla="*/ 369202 w 369202"/>
                <a:gd name="connsiteY0" fmla="*/ 1286760 h 1286760"/>
                <a:gd name="connsiteX1" fmla="*/ 45411 w 369202"/>
                <a:gd name="connsiteY1" fmla="*/ 0 h 1286760"/>
                <a:gd name="connsiteX0" fmla="*/ 425229 w 425229"/>
                <a:gd name="connsiteY0" fmla="*/ 1286760 h 1286760"/>
                <a:gd name="connsiteX1" fmla="*/ 101438 w 425229"/>
                <a:gd name="connsiteY1" fmla="*/ 0 h 1286760"/>
                <a:gd name="connsiteX0" fmla="*/ 229413 w 229413"/>
                <a:gd name="connsiteY0" fmla="*/ 1296161 h 1296161"/>
                <a:gd name="connsiteX1" fmla="*/ 201016 w 229413"/>
                <a:gd name="connsiteY1" fmla="*/ 0 h 1296161"/>
                <a:gd name="connsiteX0" fmla="*/ 352381 w 352381"/>
                <a:gd name="connsiteY0" fmla="*/ 1296161 h 1296161"/>
                <a:gd name="connsiteX1" fmla="*/ 323984 w 352381"/>
                <a:gd name="connsiteY1" fmla="*/ 0 h 1296161"/>
                <a:gd name="connsiteX0" fmla="*/ 414844 w 414844"/>
                <a:gd name="connsiteY0" fmla="*/ 1296161 h 1296161"/>
                <a:gd name="connsiteX1" fmla="*/ 386447 w 414844"/>
                <a:gd name="connsiteY1" fmla="*/ 0 h 1296161"/>
              </a:gdLst>
              <a:ahLst/>
              <a:cxnLst>
                <a:cxn ang="0">
                  <a:pos x="connsiteX0" y="connsiteY0"/>
                </a:cxn>
                <a:cxn ang="0">
                  <a:pos x="connsiteX1" y="connsiteY1"/>
                </a:cxn>
              </a:cxnLst>
              <a:rect l="l" t="t" r="r" b="b"/>
              <a:pathLst>
                <a:path w="414844" h="1296161">
                  <a:moveTo>
                    <a:pt x="414844" y="1296161"/>
                  </a:moveTo>
                  <a:cubicBezTo>
                    <a:pt x="-96719" y="986195"/>
                    <a:pt x="-168053" y="442524"/>
                    <a:pt x="386447" y="0"/>
                  </a:cubicBezTo>
                </a:path>
              </a:pathLst>
            </a:custGeom>
            <a:noFill/>
            <a:ln w="57150">
              <a:solidFill>
                <a:srgbClr val="FF99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Freeform 159">
              <a:extLst>
                <a:ext uri="{FF2B5EF4-FFF2-40B4-BE49-F238E27FC236}">
                  <a16:creationId xmlns:a16="http://schemas.microsoft.com/office/drawing/2014/main" id="{BC7A82F1-A719-4553-9EE9-C0D7977BED89}"/>
                </a:ext>
              </a:extLst>
            </p:cNvPr>
            <p:cNvSpPr/>
            <p:nvPr/>
          </p:nvSpPr>
          <p:spPr bwMode="gray">
            <a:xfrm flipH="1">
              <a:off x="4833880" y="4144468"/>
              <a:ext cx="1752357" cy="91600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Internet/MPLS</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24">
              <a:extLst>
                <a:ext uri="{FF2B5EF4-FFF2-40B4-BE49-F238E27FC236}">
                  <a16:creationId xmlns:a16="http://schemas.microsoft.com/office/drawing/2014/main" id="{46156C6B-0A68-4388-BD59-CE9A5741E8F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1567151" y="4537965"/>
              <a:ext cx="2615181" cy="482309"/>
            </a:xfrm>
            <a:prstGeom prst="rect">
              <a:avLst/>
            </a:prstGeom>
          </p:spPr>
        </p:pic>
        <p:sp>
          <p:nvSpPr>
            <p:cNvPr id="7" name="圆角矩形 75">
              <a:extLst>
                <a:ext uri="{FF2B5EF4-FFF2-40B4-BE49-F238E27FC236}">
                  <a16:creationId xmlns:a16="http://schemas.microsoft.com/office/drawing/2014/main" id="{C4F608A5-6BBA-4474-A4DC-A23154233253}"/>
                </a:ext>
              </a:extLst>
            </p:cNvPr>
            <p:cNvSpPr/>
            <p:nvPr/>
          </p:nvSpPr>
          <p:spPr bwMode="gray">
            <a:xfrm>
              <a:off x="1475433" y="4512420"/>
              <a:ext cx="2798618" cy="533398"/>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48" name="直接连接符 63">
              <a:extLst>
                <a:ext uri="{FF2B5EF4-FFF2-40B4-BE49-F238E27FC236}">
                  <a16:creationId xmlns:a16="http://schemas.microsoft.com/office/drawing/2014/main" id="{DB2290AC-2DEC-4806-A8FE-76AE14F7E954}"/>
                </a:ext>
              </a:extLst>
            </p:cNvPr>
            <p:cNvCxnSpPr>
              <a:cxnSpLocks/>
              <a:stCxn id="7" idx="3"/>
              <a:endCxn id="4" idx="21"/>
            </p:cNvCxnSpPr>
            <p:nvPr/>
          </p:nvCxnSpPr>
          <p:spPr bwMode="gray">
            <a:xfrm>
              <a:off x="4274051" y="4779119"/>
              <a:ext cx="559829" cy="755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businessman-silhouette-walking-with-suitcase_47866">
              <a:extLst>
                <a:ext uri="{FF2B5EF4-FFF2-40B4-BE49-F238E27FC236}">
                  <a16:creationId xmlns:a16="http://schemas.microsoft.com/office/drawing/2014/main" id="{42A380F9-1F3C-4454-A6DA-EEC5F94E7F0C}"/>
                </a:ext>
              </a:extLst>
            </p:cNvPr>
            <p:cNvSpPr>
              <a:spLocks noChangeAspect="1"/>
            </p:cNvSpPr>
            <p:nvPr/>
          </p:nvSpPr>
          <p:spPr bwMode="gray">
            <a:xfrm>
              <a:off x="8869275" y="3633609"/>
              <a:ext cx="436816" cy="517586"/>
            </a:xfrm>
            <a:custGeom>
              <a:avLst/>
              <a:gdLst>
                <a:gd name="T0" fmla="*/ 6900 w 8989"/>
                <a:gd name="T1" fmla="*/ 5053 h 10667"/>
                <a:gd name="T2" fmla="*/ 6326 w 8989"/>
                <a:gd name="T3" fmla="*/ 4615 h 10667"/>
                <a:gd name="T4" fmla="*/ 6247 w 8989"/>
                <a:gd name="T5" fmla="*/ 5994 h 10667"/>
                <a:gd name="T6" fmla="*/ 6421 w 8989"/>
                <a:gd name="T7" fmla="*/ 6377 h 10667"/>
                <a:gd name="T8" fmla="*/ 7017 w 8989"/>
                <a:gd name="T9" fmla="*/ 7293 h 10667"/>
                <a:gd name="T10" fmla="*/ 7303 w 8989"/>
                <a:gd name="T11" fmla="*/ 8799 h 10667"/>
                <a:gd name="T12" fmla="*/ 7222 w 8989"/>
                <a:gd name="T13" fmla="*/ 10179 h 10667"/>
                <a:gd name="T14" fmla="*/ 6680 w 8989"/>
                <a:gd name="T15" fmla="*/ 10666 h 10667"/>
                <a:gd name="T16" fmla="*/ 6271 w 8989"/>
                <a:gd name="T17" fmla="*/ 8973 h 10667"/>
                <a:gd name="T18" fmla="*/ 6316 w 8989"/>
                <a:gd name="T19" fmla="*/ 8254 h 10667"/>
                <a:gd name="T20" fmla="*/ 5946 w 8989"/>
                <a:gd name="T21" fmla="*/ 7541 h 10667"/>
                <a:gd name="T22" fmla="*/ 5384 w 8989"/>
                <a:gd name="T23" fmla="*/ 6630 h 10667"/>
                <a:gd name="T24" fmla="*/ 5122 w 8989"/>
                <a:gd name="T25" fmla="*/ 6612 h 10667"/>
                <a:gd name="T26" fmla="*/ 4849 w 8989"/>
                <a:gd name="T27" fmla="*/ 8848 h 10667"/>
                <a:gd name="T28" fmla="*/ 3896 w 8989"/>
                <a:gd name="T29" fmla="*/ 10419 h 10667"/>
                <a:gd name="T30" fmla="*/ 3192 w 8989"/>
                <a:gd name="T31" fmla="*/ 10590 h 10667"/>
                <a:gd name="T32" fmla="*/ 3909 w 8989"/>
                <a:gd name="T33" fmla="*/ 8408 h 10667"/>
                <a:gd name="T34" fmla="*/ 4105 w 8989"/>
                <a:gd name="T35" fmla="*/ 8089 h 10667"/>
                <a:gd name="T36" fmla="*/ 4211 w 8989"/>
                <a:gd name="T37" fmla="*/ 3385 h 10667"/>
                <a:gd name="T38" fmla="*/ 2892 w 8989"/>
                <a:gd name="T39" fmla="*/ 5648 h 10667"/>
                <a:gd name="T40" fmla="*/ 2478 w 8989"/>
                <a:gd name="T41" fmla="*/ 6028 h 10667"/>
                <a:gd name="T42" fmla="*/ 3108 w 8989"/>
                <a:gd name="T43" fmla="*/ 3131 h 10667"/>
                <a:gd name="T44" fmla="*/ 5199 w 8989"/>
                <a:gd name="T45" fmla="*/ 2376 h 10667"/>
                <a:gd name="T46" fmla="*/ 7066 w 8989"/>
                <a:gd name="T47" fmla="*/ 4232 h 10667"/>
                <a:gd name="T48" fmla="*/ 8874 w 8989"/>
                <a:gd name="T49" fmla="*/ 3833 h 10667"/>
                <a:gd name="T50" fmla="*/ 5150 w 8989"/>
                <a:gd name="T51" fmla="*/ 2267 h 10667"/>
                <a:gd name="T52" fmla="*/ 5150 w 8989"/>
                <a:gd name="T53" fmla="*/ 0 h 10667"/>
                <a:gd name="T54" fmla="*/ 5150 w 8989"/>
                <a:gd name="T55" fmla="*/ 2267 h 10667"/>
                <a:gd name="T56" fmla="*/ 3391 w 8989"/>
                <a:gd name="T57" fmla="*/ 6869 h 10667"/>
                <a:gd name="T58" fmla="*/ 0 w 8989"/>
                <a:gd name="T59" fmla="*/ 7583 h 10667"/>
                <a:gd name="T60" fmla="*/ 1346 w 8989"/>
                <a:gd name="T61" fmla="*/ 5950 h 10667"/>
                <a:gd name="T62" fmla="*/ 2193 w 8989"/>
                <a:gd name="T63" fmla="*/ 5569 h 10667"/>
                <a:gd name="T64" fmla="*/ 3130 w 8989"/>
                <a:gd name="T65" fmla="*/ 5990 h 10667"/>
                <a:gd name="T66" fmla="*/ 2546 w 8989"/>
                <a:gd name="T67" fmla="*/ 6216 h 10667"/>
                <a:gd name="T68" fmla="*/ 1761 w 8989"/>
                <a:gd name="T69" fmla="*/ 6106 h 10667"/>
                <a:gd name="T70" fmla="*/ 2546 w 8989"/>
                <a:gd name="T71" fmla="*/ 6216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989" h="10667">
                  <a:moveTo>
                    <a:pt x="8746" y="4385"/>
                  </a:moveTo>
                  <a:cubicBezTo>
                    <a:pt x="8539" y="4515"/>
                    <a:pt x="7535" y="5053"/>
                    <a:pt x="6900" y="5053"/>
                  </a:cubicBezTo>
                  <a:cubicBezTo>
                    <a:pt x="6786" y="5053"/>
                    <a:pt x="6683" y="5036"/>
                    <a:pt x="6600" y="4995"/>
                  </a:cubicBezTo>
                  <a:cubicBezTo>
                    <a:pt x="6447" y="4921"/>
                    <a:pt x="6347" y="4782"/>
                    <a:pt x="6326" y="4615"/>
                  </a:cubicBezTo>
                  <a:cubicBezTo>
                    <a:pt x="6283" y="4271"/>
                    <a:pt x="6210" y="3985"/>
                    <a:pt x="6111" y="3763"/>
                  </a:cubicBezTo>
                  <a:cubicBezTo>
                    <a:pt x="6159" y="4365"/>
                    <a:pt x="6235" y="5393"/>
                    <a:pt x="6247" y="5994"/>
                  </a:cubicBezTo>
                  <a:cubicBezTo>
                    <a:pt x="6247" y="6021"/>
                    <a:pt x="6289" y="6142"/>
                    <a:pt x="6289" y="6142"/>
                  </a:cubicBezTo>
                  <a:lnTo>
                    <a:pt x="6421" y="6377"/>
                  </a:lnTo>
                  <a:cubicBezTo>
                    <a:pt x="6530" y="6571"/>
                    <a:pt x="6655" y="6755"/>
                    <a:pt x="6787" y="6948"/>
                  </a:cubicBezTo>
                  <a:cubicBezTo>
                    <a:pt x="6865" y="7063"/>
                    <a:pt x="6943" y="7177"/>
                    <a:pt x="7017" y="7293"/>
                  </a:cubicBezTo>
                  <a:cubicBezTo>
                    <a:pt x="7177" y="7543"/>
                    <a:pt x="7384" y="7927"/>
                    <a:pt x="7332" y="8376"/>
                  </a:cubicBezTo>
                  <a:cubicBezTo>
                    <a:pt x="7315" y="8517"/>
                    <a:pt x="7310" y="8658"/>
                    <a:pt x="7303" y="8799"/>
                  </a:cubicBezTo>
                  <a:cubicBezTo>
                    <a:pt x="7301" y="8879"/>
                    <a:pt x="7297" y="8959"/>
                    <a:pt x="7292" y="9038"/>
                  </a:cubicBezTo>
                  <a:lnTo>
                    <a:pt x="7222" y="10179"/>
                  </a:lnTo>
                  <a:cubicBezTo>
                    <a:pt x="7205" y="10455"/>
                    <a:pt x="6980" y="10667"/>
                    <a:pt x="6712" y="10667"/>
                  </a:cubicBezTo>
                  <a:cubicBezTo>
                    <a:pt x="6701" y="10667"/>
                    <a:pt x="6691" y="10666"/>
                    <a:pt x="6680" y="10666"/>
                  </a:cubicBezTo>
                  <a:cubicBezTo>
                    <a:pt x="6398" y="10648"/>
                    <a:pt x="6183" y="10401"/>
                    <a:pt x="6201" y="10114"/>
                  </a:cubicBezTo>
                  <a:lnTo>
                    <a:pt x="6271" y="8973"/>
                  </a:lnTo>
                  <a:cubicBezTo>
                    <a:pt x="6275" y="8901"/>
                    <a:pt x="6278" y="8827"/>
                    <a:pt x="6282" y="8754"/>
                  </a:cubicBezTo>
                  <a:cubicBezTo>
                    <a:pt x="6289" y="8587"/>
                    <a:pt x="6296" y="8419"/>
                    <a:pt x="6316" y="8254"/>
                  </a:cubicBezTo>
                  <a:cubicBezTo>
                    <a:pt x="6325" y="8170"/>
                    <a:pt x="6273" y="8038"/>
                    <a:pt x="6160" y="7862"/>
                  </a:cubicBezTo>
                  <a:cubicBezTo>
                    <a:pt x="6090" y="7753"/>
                    <a:pt x="6018" y="7647"/>
                    <a:pt x="5946" y="7541"/>
                  </a:cubicBezTo>
                  <a:cubicBezTo>
                    <a:pt x="5807" y="7337"/>
                    <a:pt x="5664" y="7127"/>
                    <a:pt x="5533" y="6895"/>
                  </a:cubicBezTo>
                  <a:lnTo>
                    <a:pt x="5384" y="6630"/>
                  </a:lnTo>
                  <a:cubicBezTo>
                    <a:pt x="5313" y="6616"/>
                    <a:pt x="5240" y="6604"/>
                    <a:pt x="5164" y="6604"/>
                  </a:cubicBezTo>
                  <a:cubicBezTo>
                    <a:pt x="5151" y="6604"/>
                    <a:pt x="5136" y="6610"/>
                    <a:pt x="5122" y="6612"/>
                  </a:cubicBezTo>
                  <a:cubicBezTo>
                    <a:pt x="5126" y="7107"/>
                    <a:pt x="5130" y="7602"/>
                    <a:pt x="5128" y="8097"/>
                  </a:cubicBezTo>
                  <a:cubicBezTo>
                    <a:pt x="5126" y="8435"/>
                    <a:pt x="4966" y="8673"/>
                    <a:pt x="4849" y="8848"/>
                  </a:cubicBezTo>
                  <a:cubicBezTo>
                    <a:pt x="4826" y="8882"/>
                    <a:pt x="4803" y="8916"/>
                    <a:pt x="4782" y="8951"/>
                  </a:cubicBezTo>
                  <a:lnTo>
                    <a:pt x="3896" y="10419"/>
                  </a:lnTo>
                  <a:cubicBezTo>
                    <a:pt x="3800" y="10579"/>
                    <a:pt x="3632" y="10667"/>
                    <a:pt x="3460" y="10667"/>
                  </a:cubicBezTo>
                  <a:cubicBezTo>
                    <a:pt x="3368" y="10667"/>
                    <a:pt x="3276" y="10642"/>
                    <a:pt x="3192" y="10590"/>
                  </a:cubicBezTo>
                  <a:cubicBezTo>
                    <a:pt x="2952" y="10440"/>
                    <a:pt x="2876" y="10119"/>
                    <a:pt x="3024" y="9874"/>
                  </a:cubicBezTo>
                  <a:lnTo>
                    <a:pt x="3909" y="8408"/>
                  </a:lnTo>
                  <a:cubicBezTo>
                    <a:pt x="3939" y="8358"/>
                    <a:pt x="3971" y="8310"/>
                    <a:pt x="4004" y="8262"/>
                  </a:cubicBezTo>
                  <a:cubicBezTo>
                    <a:pt x="4041" y="8205"/>
                    <a:pt x="4099" y="8119"/>
                    <a:pt x="4105" y="8089"/>
                  </a:cubicBezTo>
                  <a:cubicBezTo>
                    <a:pt x="4107" y="7543"/>
                    <a:pt x="4103" y="6993"/>
                    <a:pt x="4098" y="6443"/>
                  </a:cubicBezTo>
                  <a:cubicBezTo>
                    <a:pt x="4098" y="6443"/>
                    <a:pt x="4200" y="3597"/>
                    <a:pt x="4211" y="3385"/>
                  </a:cubicBezTo>
                  <a:cubicBezTo>
                    <a:pt x="4011" y="3462"/>
                    <a:pt x="3811" y="3570"/>
                    <a:pt x="3632" y="3732"/>
                  </a:cubicBezTo>
                  <a:cubicBezTo>
                    <a:pt x="3184" y="4136"/>
                    <a:pt x="2935" y="4780"/>
                    <a:pt x="2892" y="5648"/>
                  </a:cubicBezTo>
                  <a:cubicBezTo>
                    <a:pt x="2881" y="5862"/>
                    <a:pt x="2707" y="6029"/>
                    <a:pt x="2498" y="6029"/>
                  </a:cubicBezTo>
                  <a:cubicBezTo>
                    <a:pt x="2491" y="6029"/>
                    <a:pt x="2485" y="6029"/>
                    <a:pt x="2478" y="6028"/>
                  </a:cubicBezTo>
                  <a:cubicBezTo>
                    <a:pt x="2260" y="6017"/>
                    <a:pt x="2093" y="5829"/>
                    <a:pt x="2103" y="5607"/>
                  </a:cubicBezTo>
                  <a:cubicBezTo>
                    <a:pt x="2157" y="4517"/>
                    <a:pt x="2495" y="3683"/>
                    <a:pt x="3108" y="3131"/>
                  </a:cubicBezTo>
                  <a:cubicBezTo>
                    <a:pt x="3566" y="2719"/>
                    <a:pt x="4166" y="2504"/>
                    <a:pt x="4762" y="2405"/>
                  </a:cubicBezTo>
                  <a:cubicBezTo>
                    <a:pt x="4906" y="2381"/>
                    <a:pt x="5053" y="2372"/>
                    <a:pt x="5199" y="2376"/>
                  </a:cubicBezTo>
                  <a:cubicBezTo>
                    <a:pt x="5531" y="2386"/>
                    <a:pt x="5879" y="2443"/>
                    <a:pt x="6166" y="2622"/>
                  </a:cubicBezTo>
                  <a:cubicBezTo>
                    <a:pt x="6622" y="2905"/>
                    <a:pt x="6924" y="3446"/>
                    <a:pt x="7066" y="4232"/>
                  </a:cubicBezTo>
                  <a:cubicBezTo>
                    <a:pt x="7373" y="4163"/>
                    <a:pt x="7938" y="3949"/>
                    <a:pt x="8331" y="3703"/>
                  </a:cubicBezTo>
                  <a:cubicBezTo>
                    <a:pt x="8516" y="3586"/>
                    <a:pt x="8759" y="3645"/>
                    <a:pt x="8874" y="3833"/>
                  </a:cubicBezTo>
                  <a:cubicBezTo>
                    <a:pt x="8989" y="4022"/>
                    <a:pt x="8931" y="4269"/>
                    <a:pt x="8746" y="4385"/>
                  </a:cubicBezTo>
                  <a:close/>
                  <a:moveTo>
                    <a:pt x="5150" y="2267"/>
                  </a:moveTo>
                  <a:cubicBezTo>
                    <a:pt x="5766" y="2267"/>
                    <a:pt x="6264" y="1760"/>
                    <a:pt x="6264" y="1133"/>
                  </a:cubicBezTo>
                  <a:cubicBezTo>
                    <a:pt x="6264" y="507"/>
                    <a:pt x="5766" y="0"/>
                    <a:pt x="5150" y="0"/>
                  </a:cubicBezTo>
                  <a:cubicBezTo>
                    <a:pt x="4534" y="0"/>
                    <a:pt x="4035" y="507"/>
                    <a:pt x="4035" y="1133"/>
                  </a:cubicBezTo>
                  <a:cubicBezTo>
                    <a:pt x="4035" y="1760"/>
                    <a:pt x="4534" y="2267"/>
                    <a:pt x="5150" y="2267"/>
                  </a:cubicBezTo>
                  <a:close/>
                  <a:moveTo>
                    <a:pt x="2848" y="6625"/>
                  </a:moveTo>
                  <a:lnTo>
                    <a:pt x="3391" y="6869"/>
                  </a:lnTo>
                  <a:lnTo>
                    <a:pt x="2561" y="8735"/>
                  </a:lnTo>
                  <a:lnTo>
                    <a:pt x="0" y="7583"/>
                  </a:lnTo>
                  <a:lnTo>
                    <a:pt x="829" y="5717"/>
                  </a:lnTo>
                  <a:lnTo>
                    <a:pt x="1346" y="5950"/>
                  </a:lnTo>
                  <a:lnTo>
                    <a:pt x="1629" y="5315"/>
                  </a:lnTo>
                  <a:lnTo>
                    <a:pt x="2193" y="5569"/>
                  </a:lnTo>
                  <a:cubicBezTo>
                    <a:pt x="2189" y="5530"/>
                    <a:pt x="2668" y="5778"/>
                    <a:pt x="2888" y="5882"/>
                  </a:cubicBezTo>
                  <a:lnTo>
                    <a:pt x="3130" y="5990"/>
                  </a:lnTo>
                  <a:lnTo>
                    <a:pt x="2848" y="6625"/>
                  </a:lnTo>
                  <a:close/>
                  <a:moveTo>
                    <a:pt x="2546" y="6216"/>
                  </a:moveTo>
                  <a:lnTo>
                    <a:pt x="1851" y="5903"/>
                  </a:lnTo>
                  <a:lnTo>
                    <a:pt x="1761" y="6106"/>
                  </a:lnTo>
                  <a:lnTo>
                    <a:pt x="2456" y="6418"/>
                  </a:lnTo>
                  <a:lnTo>
                    <a:pt x="2546" y="6216"/>
                  </a:lnTo>
                  <a:close/>
                </a:path>
              </a:pathLst>
            </a:custGeom>
            <a:solidFill>
              <a:srgbClr val="1163AB"/>
            </a:solidFill>
            <a:ln>
              <a:solidFill>
                <a:srgbClr val="1163AB"/>
              </a:solid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63">
              <a:extLst>
                <a:ext uri="{FF2B5EF4-FFF2-40B4-BE49-F238E27FC236}">
                  <a16:creationId xmlns:a16="http://schemas.microsoft.com/office/drawing/2014/main" id="{55F7D3E1-265C-4F2C-A5D0-82B3C1393231}"/>
                </a:ext>
              </a:extLst>
            </p:cNvPr>
            <p:cNvCxnSpPr>
              <a:cxnSpLocks/>
              <a:stCxn id="4" idx="8"/>
              <a:endCxn id="13" idx="1"/>
            </p:cNvCxnSpPr>
            <p:nvPr/>
          </p:nvCxnSpPr>
          <p:spPr bwMode="gray">
            <a:xfrm>
              <a:off x="6586237" y="4770006"/>
              <a:ext cx="841308" cy="91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3">
              <a:extLst>
                <a:ext uri="{FF2B5EF4-FFF2-40B4-BE49-F238E27FC236}">
                  <a16:creationId xmlns:a16="http://schemas.microsoft.com/office/drawing/2014/main" id="{8ED80635-985C-42E0-8286-22DBE4115850}"/>
                </a:ext>
              </a:extLst>
            </p:cNvPr>
            <p:cNvCxnSpPr>
              <a:cxnSpLocks/>
              <a:stCxn id="13" idx="3"/>
              <a:endCxn id="15" idx="1"/>
            </p:cNvCxnSpPr>
            <p:nvPr/>
          </p:nvCxnSpPr>
          <p:spPr bwMode="gray">
            <a:xfrm>
              <a:off x="8021545" y="4779119"/>
              <a:ext cx="831054" cy="113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1" name="文本框 30">
              <a:extLst>
                <a:ext uri="{FF2B5EF4-FFF2-40B4-BE49-F238E27FC236}">
                  <a16:creationId xmlns:a16="http://schemas.microsoft.com/office/drawing/2014/main" id="{D5F6E654-6204-4F4F-993B-7549A4681400}"/>
                </a:ext>
              </a:extLst>
            </p:cNvPr>
            <p:cNvSpPr txBox="1"/>
            <p:nvPr/>
          </p:nvSpPr>
          <p:spPr bwMode="gray">
            <a:xfrm>
              <a:off x="8744820" y="5048007"/>
              <a:ext cx="755335" cy="307777"/>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开局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任意多边形 37">
              <a:extLst>
                <a:ext uri="{FF2B5EF4-FFF2-40B4-BE49-F238E27FC236}">
                  <a16:creationId xmlns:a16="http://schemas.microsoft.com/office/drawing/2014/main" id="{C0A4F9BA-D0BD-4F5C-8734-B42C0E8D9C58}"/>
                </a:ext>
              </a:extLst>
            </p:cNvPr>
            <p:cNvSpPr/>
            <p:nvPr/>
          </p:nvSpPr>
          <p:spPr bwMode="gray">
            <a:xfrm rot="5400000" flipH="1" flipV="1">
              <a:off x="8273455" y="4686173"/>
              <a:ext cx="304368" cy="755337"/>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622570"/>
                <a:gd name="connsiteY0" fmla="*/ 2973237 h 2973237"/>
                <a:gd name="connsiteX1" fmla="*/ 622570 w 622570"/>
                <a:gd name="connsiteY1" fmla="*/ 0 h 2973237"/>
                <a:gd name="connsiteX0" fmla="*/ 0 w 622570"/>
                <a:gd name="connsiteY0" fmla="*/ 2973237 h 2976202"/>
                <a:gd name="connsiteX1" fmla="*/ 622570 w 622570"/>
                <a:gd name="connsiteY1" fmla="*/ 0 h 2976202"/>
                <a:gd name="connsiteX0" fmla="*/ 0 w 542330"/>
                <a:gd name="connsiteY0" fmla="*/ 3315278 h 3317836"/>
                <a:gd name="connsiteX1" fmla="*/ 481606 w 542330"/>
                <a:gd name="connsiteY1" fmla="*/ 0 h 3317836"/>
                <a:gd name="connsiteX0" fmla="*/ 0 w 866413"/>
                <a:gd name="connsiteY0" fmla="*/ 3315278 h 3318792"/>
                <a:gd name="connsiteX1" fmla="*/ 481606 w 866413"/>
                <a:gd name="connsiteY1" fmla="*/ 0 h 3318792"/>
                <a:gd name="connsiteX0" fmla="*/ 0 w 824658"/>
                <a:gd name="connsiteY0" fmla="*/ 3184796 h 3188581"/>
                <a:gd name="connsiteX1" fmla="*/ 414361 w 824658"/>
                <a:gd name="connsiteY1" fmla="*/ 0 h 3188581"/>
                <a:gd name="connsiteX0" fmla="*/ 0 w 909471"/>
                <a:gd name="connsiteY0" fmla="*/ 3005221 h 3009454"/>
                <a:gd name="connsiteX1" fmla="*/ 547806 w 909471"/>
                <a:gd name="connsiteY1" fmla="*/ 0 h 3009454"/>
                <a:gd name="connsiteX0" fmla="*/ 0 w 894794"/>
                <a:gd name="connsiteY0" fmla="*/ 3063318 h 3067395"/>
                <a:gd name="connsiteX1" fmla="*/ 525565 w 894794"/>
                <a:gd name="connsiteY1" fmla="*/ 0 h 3067395"/>
                <a:gd name="connsiteX0" fmla="*/ 0 w 883526"/>
                <a:gd name="connsiteY0" fmla="*/ 3036909 h 3041055"/>
                <a:gd name="connsiteX1" fmla="*/ 508267 w 883526"/>
                <a:gd name="connsiteY1" fmla="*/ 0 h 3041055"/>
                <a:gd name="connsiteX0" fmla="*/ 0 w 931709"/>
                <a:gd name="connsiteY0" fmla="*/ 3036909 h 3040561"/>
                <a:gd name="connsiteX1" fmla="*/ 508267 w 931709"/>
                <a:gd name="connsiteY1" fmla="*/ 0 h 3040561"/>
                <a:gd name="connsiteX0" fmla="*/ 1849272 w 2110960"/>
                <a:gd name="connsiteY0" fmla="*/ 4136230 h 4138472"/>
                <a:gd name="connsiteX1" fmla="*/ 0 w 2110960"/>
                <a:gd name="connsiteY1" fmla="*/ 0 h 4138472"/>
                <a:gd name="connsiteX0" fmla="*/ 0 w 981567"/>
                <a:gd name="connsiteY0" fmla="*/ 1169158 h 1233895"/>
                <a:gd name="connsiteX1" fmla="*/ 582404 w 981567"/>
                <a:gd name="connsiteY1" fmla="*/ 0 h 1233895"/>
                <a:gd name="connsiteX0" fmla="*/ 0 w 670939"/>
                <a:gd name="connsiteY0" fmla="*/ 1169158 h 1194339"/>
                <a:gd name="connsiteX1" fmla="*/ 582404 w 670939"/>
                <a:gd name="connsiteY1" fmla="*/ 0 h 1194339"/>
                <a:gd name="connsiteX0" fmla="*/ 0 w 703418"/>
                <a:gd name="connsiteY0" fmla="*/ 1251197 h 1271213"/>
                <a:gd name="connsiteX1" fmla="*/ 636770 w 703418"/>
                <a:gd name="connsiteY1" fmla="*/ 0 h 1271213"/>
                <a:gd name="connsiteX0" fmla="*/ 0 w 636858"/>
                <a:gd name="connsiteY0" fmla="*/ 1251197 h 1251197"/>
                <a:gd name="connsiteX1" fmla="*/ 636770 w 636858"/>
                <a:gd name="connsiteY1" fmla="*/ 0 h 1251197"/>
                <a:gd name="connsiteX0" fmla="*/ 0 w 587440"/>
                <a:gd name="connsiteY0" fmla="*/ 1415275 h 1415275"/>
                <a:gd name="connsiteX1" fmla="*/ 587345 w 587440"/>
                <a:gd name="connsiteY1" fmla="*/ 0 h 1415275"/>
                <a:gd name="connsiteX0" fmla="*/ 0 w 587345"/>
                <a:gd name="connsiteY0" fmla="*/ 1415275 h 1415275"/>
                <a:gd name="connsiteX1" fmla="*/ 587345 w 587345"/>
                <a:gd name="connsiteY1" fmla="*/ 0 h 1415275"/>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959452 w 959622"/>
                <a:gd name="connsiteY0" fmla="*/ 2942373 h 2942373"/>
                <a:gd name="connsiteX1" fmla="*/ 60420 w 959622"/>
                <a:gd name="connsiteY1" fmla="*/ 0 h 2942373"/>
                <a:gd name="connsiteX0" fmla="*/ 997454 w 997454"/>
                <a:gd name="connsiteY0" fmla="*/ 2942373 h 2942373"/>
                <a:gd name="connsiteX1" fmla="*/ 98422 w 997454"/>
                <a:gd name="connsiteY1" fmla="*/ 0 h 2942373"/>
                <a:gd name="connsiteX0" fmla="*/ 535503 w 535503"/>
                <a:gd name="connsiteY0" fmla="*/ 1286760 h 1286760"/>
                <a:gd name="connsiteX1" fmla="*/ 211712 w 535503"/>
                <a:gd name="connsiteY1" fmla="*/ 0 h 1286760"/>
                <a:gd name="connsiteX0" fmla="*/ 438649 w 438649"/>
                <a:gd name="connsiteY0" fmla="*/ 1286760 h 1286760"/>
                <a:gd name="connsiteX1" fmla="*/ 114858 w 438649"/>
                <a:gd name="connsiteY1" fmla="*/ 0 h 1286760"/>
                <a:gd name="connsiteX0" fmla="*/ 369202 w 369202"/>
                <a:gd name="connsiteY0" fmla="*/ 1286760 h 1286760"/>
                <a:gd name="connsiteX1" fmla="*/ 45411 w 369202"/>
                <a:gd name="connsiteY1" fmla="*/ 0 h 1286760"/>
                <a:gd name="connsiteX0" fmla="*/ 425229 w 425229"/>
                <a:gd name="connsiteY0" fmla="*/ 1286760 h 1286760"/>
                <a:gd name="connsiteX1" fmla="*/ 101438 w 425229"/>
                <a:gd name="connsiteY1" fmla="*/ 0 h 1286760"/>
                <a:gd name="connsiteX0" fmla="*/ 229413 w 229413"/>
                <a:gd name="connsiteY0" fmla="*/ 1296161 h 1296161"/>
                <a:gd name="connsiteX1" fmla="*/ 201016 w 229413"/>
                <a:gd name="connsiteY1" fmla="*/ 0 h 1296161"/>
                <a:gd name="connsiteX0" fmla="*/ 352381 w 352381"/>
                <a:gd name="connsiteY0" fmla="*/ 1296161 h 1296161"/>
                <a:gd name="connsiteX1" fmla="*/ 323984 w 352381"/>
                <a:gd name="connsiteY1" fmla="*/ 0 h 1296161"/>
                <a:gd name="connsiteX0" fmla="*/ 414844 w 414844"/>
                <a:gd name="connsiteY0" fmla="*/ 1296161 h 1296161"/>
                <a:gd name="connsiteX1" fmla="*/ 386447 w 414844"/>
                <a:gd name="connsiteY1" fmla="*/ 0 h 1296161"/>
              </a:gdLst>
              <a:ahLst/>
              <a:cxnLst>
                <a:cxn ang="0">
                  <a:pos x="connsiteX0" y="connsiteY0"/>
                </a:cxn>
                <a:cxn ang="0">
                  <a:pos x="connsiteX1" y="connsiteY1"/>
                </a:cxn>
              </a:cxnLst>
              <a:rect l="l" t="t" r="r" b="b"/>
              <a:pathLst>
                <a:path w="414844" h="1296161">
                  <a:moveTo>
                    <a:pt x="414844" y="1296161"/>
                  </a:moveTo>
                  <a:cubicBezTo>
                    <a:pt x="-96719" y="986195"/>
                    <a:pt x="-168053" y="442524"/>
                    <a:pt x="386447" y="0"/>
                  </a:cubicBezTo>
                </a:path>
              </a:pathLst>
            </a:custGeom>
            <a:noFill/>
            <a:ln w="57150">
              <a:solidFill>
                <a:srgbClr val="FF99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任意多边形 37">
              <a:extLst>
                <a:ext uri="{FF2B5EF4-FFF2-40B4-BE49-F238E27FC236}">
                  <a16:creationId xmlns:a16="http://schemas.microsoft.com/office/drawing/2014/main" id="{55A98CF5-ED8F-48E4-8C76-8C47B60BBDF5}"/>
                </a:ext>
              </a:extLst>
            </p:cNvPr>
            <p:cNvSpPr/>
            <p:nvPr/>
          </p:nvSpPr>
          <p:spPr bwMode="gray">
            <a:xfrm rot="5085876">
              <a:off x="6122258" y="1449248"/>
              <a:ext cx="408849" cy="5006467"/>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622570"/>
                <a:gd name="connsiteY0" fmla="*/ 2973237 h 2973237"/>
                <a:gd name="connsiteX1" fmla="*/ 622570 w 622570"/>
                <a:gd name="connsiteY1" fmla="*/ 0 h 2973237"/>
                <a:gd name="connsiteX0" fmla="*/ 0 w 622570"/>
                <a:gd name="connsiteY0" fmla="*/ 2973237 h 2976202"/>
                <a:gd name="connsiteX1" fmla="*/ 622570 w 622570"/>
                <a:gd name="connsiteY1" fmla="*/ 0 h 2976202"/>
                <a:gd name="connsiteX0" fmla="*/ 0 w 542330"/>
                <a:gd name="connsiteY0" fmla="*/ 3315278 h 3317836"/>
                <a:gd name="connsiteX1" fmla="*/ 481606 w 542330"/>
                <a:gd name="connsiteY1" fmla="*/ 0 h 3317836"/>
                <a:gd name="connsiteX0" fmla="*/ 0 w 866413"/>
                <a:gd name="connsiteY0" fmla="*/ 3315278 h 3318792"/>
                <a:gd name="connsiteX1" fmla="*/ 481606 w 866413"/>
                <a:gd name="connsiteY1" fmla="*/ 0 h 3318792"/>
                <a:gd name="connsiteX0" fmla="*/ 0 w 824658"/>
                <a:gd name="connsiteY0" fmla="*/ 3184796 h 3188581"/>
                <a:gd name="connsiteX1" fmla="*/ 414361 w 824658"/>
                <a:gd name="connsiteY1" fmla="*/ 0 h 3188581"/>
                <a:gd name="connsiteX0" fmla="*/ 0 w 909471"/>
                <a:gd name="connsiteY0" fmla="*/ 3005221 h 3009454"/>
                <a:gd name="connsiteX1" fmla="*/ 547806 w 909471"/>
                <a:gd name="connsiteY1" fmla="*/ 0 h 3009454"/>
                <a:gd name="connsiteX0" fmla="*/ 0 w 894794"/>
                <a:gd name="connsiteY0" fmla="*/ 3063318 h 3067395"/>
                <a:gd name="connsiteX1" fmla="*/ 525565 w 894794"/>
                <a:gd name="connsiteY1" fmla="*/ 0 h 3067395"/>
                <a:gd name="connsiteX0" fmla="*/ 0 w 883526"/>
                <a:gd name="connsiteY0" fmla="*/ 3036909 h 3041055"/>
                <a:gd name="connsiteX1" fmla="*/ 508267 w 883526"/>
                <a:gd name="connsiteY1" fmla="*/ 0 h 3041055"/>
                <a:gd name="connsiteX0" fmla="*/ 0 w 931709"/>
                <a:gd name="connsiteY0" fmla="*/ 3036909 h 3040561"/>
                <a:gd name="connsiteX1" fmla="*/ 508267 w 931709"/>
                <a:gd name="connsiteY1" fmla="*/ 0 h 3040561"/>
                <a:gd name="connsiteX0" fmla="*/ 1849272 w 2110960"/>
                <a:gd name="connsiteY0" fmla="*/ 4136230 h 4138472"/>
                <a:gd name="connsiteX1" fmla="*/ 0 w 2110960"/>
                <a:gd name="connsiteY1" fmla="*/ 0 h 4138472"/>
                <a:gd name="connsiteX0" fmla="*/ 0 w 981567"/>
                <a:gd name="connsiteY0" fmla="*/ 1169158 h 1233895"/>
                <a:gd name="connsiteX1" fmla="*/ 582404 w 981567"/>
                <a:gd name="connsiteY1" fmla="*/ 0 h 1233895"/>
                <a:gd name="connsiteX0" fmla="*/ 0 w 670939"/>
                <a:gd name="connsiteY0" fmla="*/ 1169158 h 1194339"/>
                <a:gd name="connsiteX1" fmla="*/ 582404 w 670939"/>
                <a:gd name="connsiteY1" fmla="*/ 0 h 1194339"/>
                <a:gd name="connsiteX0" fmla="*/ 0 w 703418"/>
                <a:gd name="connsiteY0" fmla="*/ 1251197 h 1271213"/>
                <a:gd name="connsiteX1" fmla="*/ 636770 w 703418"/>
                <a:gd name="connsiteY1" fmla="*/ 0 h 1271213"/>
                <a:gd name="connsiteX0" fmla="*/ 0 w 636858"/>
                <a:gd name="connsiteY0" fmla="*/ 1251197 h 1251197"/>
                <a:gd name="connsiteX1" fmla="*/ 636770 w 636858"/>
                <a:gd name="connsiteY1" fmla="*/ 0 h 1251197"/>
                <a:gd name="connsiteX0" fmla="*/ 0 w 587440"/>
                <a:gd name="connsiteY0" fmla="*/ 1415275 h 1415275"/>
                <a:gd name="connsiteX1" fmla="*/ 587345 w 587440"/>
                <a:gd name="connsiteY1" fmla="*/ 0 h 1415275"/>
                <a:gd name="connsiteX0" fmla="*/ 0 w 587345"/>
                <a:gd name="connsiteY0" fmla="*/ 1415275 h 1415275"/>
                <a:gd name="connsiteX1" fmla="*/ 587345 w 587345"/>
                <a:gd name="connsiteY1" fmla="*/ 0 h 1415275"/>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959452 w 959622"/>
                <a:gd name="connsiteY0" fmla="*/ 2942373 h 2942373"/>
                <a:gd name="connsiteX1" fmla="*/ 60420 w 959622"/>
                <a:gd name="connsiteY1" fmla="*/ 0 h 2942373"/>
                <a:gd name="connsiteX0" fmla="*/ 997454 w 997454"/>
                <a:gd name="connsiteY0" fmla="*/ 2942373 h 2942373"/>
                <a:gd name="connsiteX1" fmla="*/ 98422 w 997454"/>
                <a:gd name="connsiteY1" fmla="*/ 0 h 2942373"/>
                <a:gd name="connsiteX0" fmla="*/ 535503 w 535503"/>
                <a:gd name="connsiteY0" fmla="*/ 1286760 h 1286760"/>
                <a:gd name="connsiteX1" fmla="*/ 211712 w 535503"/>
                <a:gd name="connsiteY1" fmla="*/ 0 h 1286760"/>
                <a:gd name="connsiteX0" fmla="*/ 438649 w 438649"/>
                <a:gd name="connsiteY0" fmla="*/ 1286760 h 1286760"/>
                <a:gd name="connsiteX1" fmla="*/ 114858 w 438649"/>
                <a:gd name="connsiteY1" fmla="*/ 0 h 1286760"/>
                <a:gd name="connsiteX0" fmla="*/ 369202 w 369202"/>
                <a:gd name="connsiteY0" fmla="*/ 1286760 h 1286760"/>
                <a:gd name="connsiteX1" fmla="*/ 45411 w 369202"/>
                <a:gd name="connsiteY1" fmla="*/ 0 h 1286760"/>
                <a:gd name="connsiteX0" fmla="*/ 425229 w 425229"/>
                <a:gd name="connsiteY0" fmla="*/ 1286760 h 1286760"/>
                <a:gd name="connsiteX1" fmla="*/ 101438 w 425229"/>
                <a:gd name="connsiteY1" fmla="*/ 0 h 1286760"/>
                <a:gd name="connsiteX0" fmla="*/ 229413 w 229413"/>
                <a:gd name="connsiteY0" fmla="*/ 1296161 h 1296161"/>
                <a:gd name="connsiteX1" fmla="*/ 201016 w 229413"/>
                <a:gd name="connsiteY1" fmla="*/ 0 h 1296161"/>
                <a:gd name="connsiteX0" fmla="*/ 352381 w 352381"/>
                <a:gd name="connsiteY0" fmla="*/ 1296161 h 1296161"/>
                <a:gd name="connsiteX1" fmla="*/ 323984 w 352381"/>
                <a:gd name="connsiteY1" fmla="*/ 0 h 1296161"/>
                <a:gd name="connsiteX0" fmla="*/ 414844 w 414844"/>
                <a:gd name="connsiteY0" fmla="*/ 1296161 h 1296161"/>
                <a:gd name="connsiteX1" fmla="*/ 386447 w 414844"/>
                <a:gd name="connsiteY1" fmla="*/ 0 h 1296161"/>
              </a:gdLst>
              <a:ahLst/>
              <a:cxnLst>
                <a:cxn ang="0">
                  <a:pos x="connsiteX0" y="connsiteY0"/>
                </a:cxn>
                <a:cxn ang="0">
                  <a:pos x="connsiteX1" y="connsiteY1"/>
                </a:cxn>
              </a:cxnLst>
              <a:rect l="l" t="t" r="r" b="b"/>
              <a:pathLst>
                <a:path w="414844" h="1296161">
                  <a:moveTo>
                    <a:pt x="414844" y="1296161"/>
                  </a:moveTo>
                  <a:cubicBezTo>
                    <a:pt x="-96719" y="986195"/>
                    <a:pt x="-168053" y="442524"/>
                    <a:pt x="386447" y="0"/>
                  </a:cubicBezTo>
                </a:path>
              </a:pathLst>
            </a:custGeom>
            <a:noFill/>
            <a:ln w="57150">
              <a:solidFill>
                <a:srgbClr val="AFD89C"/>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Rectangular Callout 26">
              <a:extLst>
                <a:ext uri="{FF2B5EF4-FFF2-40B4-BE49-F238E27FC236}">
                  <a16:creationId xmlns:a16="http://schemas.microsoft.com/office/drawing/2014/main" id="{DF3A1F9D-14A2-48A9-8EE3-8D3236B2003B}"/>
                </a:ext>
              </a:extLst>
            </p:cNvPr>
            <p:cNvSpPr/>
            <p:nvPr/>
          </p:nvSpPr>
          <p:spPr bwMode="gray">
            <a:xfrm>
              <a:off x="1394762" y="3865016"/>
              <a:ext cx="1145501" cy="388952"/>
            </a:xfrm>
            <a:prstGeom prst="wedgeRectCallout">
              <a:avLst>
                <a:gd name="adj1" fmla="val 69797"/>
                <a:gd name="adj2" fmla="val 1843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文件</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椭圆 15">
              <a:extLst>
                <a:ext uri="{FF2B5EF4-FFF2-40B4-BE49-F238E27FC236}">
                  <a16:creationId xmlns:a16="http://schemas.microsoft.com/office/drawing/2014/main" id="{A20BFB6F-52C8-4B42-9CBD-1E89856952D2}"/>
                </a:ext>
              </a:extLst>
            </p:cNvPr>
            <p:cNvSpPr>
              <a:spLocks noChangeAspect="1"/>
            </p:cNvSpPr>
            <p:nvPr/>
          </p:nvSpPr>
          <p:spPr bwMode="gray">
            <a:xfrm>
              <a:off x="1278522" y="3761873"/>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Rectangular Callout 26">
              <a:extLst>
                <a:ext uri="{FF2B5EF4-FFF2-40B4-BE49-F238E27FC236}">
                  <a16:creationId xmlns:a16="http://schemas.microsoft.com/office/drawing/2014/main" id="{EE838675-481A-4166-BF9A-2D315CDF7D33}"/>
                </a:ext>
              </a:extLst>
            </p:cNvPr>
            <p:cNvSpPr/>
            <p:nvPr/>
          </p:nvSpPr>
          <p:spPr bwMode="gray">
            <a:xfrm>
              <a:off x="4944289" y="3283398"/>
              <a:ext cx="881555" cy="388952"/>
            </a:xfrm>
            <a:prstGeom prst="wedgeRectCallout">
              <a:avLst>
                <a:gd name="adj1" fmla="val 24064"/>
                <a:gd name="adj2" fmla="val 8945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传递</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配置文件</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椭圆 15">
              <a:extLst>
                <a:ext uri="{FF2B5EF4-FFF2-40B4-BE49-F238E27FC236}">
                  <a16:creationId xmlns:a16="http://schemas.microsoft.com/office/drawing/2014/main" id="{D51F9E9D-7C9F-4615-B128-E8A50ACBB0F4}"/>
                </a:ext>
              </a:extLst>
            </p:cNvPr>
            <p:cNvSpPr>
              <a:spLocks noChangeAspect="1"/>
            </p:cNvSpPr>
            <p:nvPr/>
          </p:nvSpPr>
          <p:spPr bwMode="gray">
            <a:xfrm>
              <a:off x="5709359" y="3170097"/>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Rectangular Callout 26">
              <a:extLst>
                <a:ext uri="{FF2B5EF4-FFF2-40B4-BE49-F238E27FC236}">
                  <a16:creationId xmlns:a16="http://schemas.microsoft.com/office/drawing/2014/main" id="{EED2A739-AF80-4350-BB04-0609E72566D9}"/>
                </a:ext>
              </a:extLst>
            </p:cNvPr>
            <p:cNvSpPr/>
            <p:nvPr/>
          </p:nvSpPr>
          <p:spPr bwMode="gray">
            <a:xfrm>
              <a:off x="9322557" y="4119226"/>
              <a:ext cx="692257" cy="388952"/>
            </a:xfrm>
            <a:prstGeom prst="wedgeRectCallout">
              <a:avLst>
                <a:gd name="adj1" fmla="val -64908"/>
                <a:gd name="adj2" fmla="val 2088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登录</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PC</a:t>
              </a:r>
            </a:p>
          </p:txBody>
        </p:sp>
        <p:sp>
          <p:nvSpPr>
            <p:cNvPr id="67" name="椭圆 15">
              <a:extLst>
                <a:ext uri="{FF2B5EF4-FFF2-40B4-BE49-F238E27FC236}">
                  <a16:creationId xmlns:a16="http://schemas.microsoft.com/office/drawing/2014/main" id="{8F81F9FD-DA6E-4D85-A78E-B748824187E1}"/>
                </a:ext>
              </a:extLst>
            </p:cNvPr>
            <p:cNvSpPr>
              <a:spLocks noChangeAspect="1"/>
            </p:cNvSpPr>
            <p:nvPr/>
          </p:nvSpPr>
          <p:spPr bwMode="gray">
            <a:xfrm>
              <a:off x="9895611" y="3998685"/>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Rectangular Callout 26">
              <a:extLst>
                <a:ext uri="{FF2B5EF4-FFF2-40B4-BE49-F238E27FC236}">
                  <a16:creationId xmlns:a16="http://schemas.microsoft.com/office/drawing/2014/main" id="{FC86FD1B-8EA2-40C8-B313-ED81BAEACA2E}"/>
                </a:ext>
              </a:extLst>
            </p:cNvPr>
            <p:cNvSpPr/>
            <p:nvPr/>
          </p:nvSpPr>
          <p:spPr bwMode="gray">
            <a:xfrm>
              <a:off x="7748263" y="5339012"/>
              <a:ext cx="1055045" cy="388952"/>
            </a:xfrm>
            <a:prstGeom prst="wedgeRectCallout">
              <a:avLst>
                <a:gd name="adj1" fmla="val 18432"/>
                <a:gd name="adj2" fmla="val -8882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部署</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椭圆 15">
              <a:extLst>
                <a:ext uri="{FF2B5EF4-FFF2-40B4-BE49-F238E27FC236}">
                  <a16:creationId xmlns:a16="http://schemas.microsoft.com/office/drawing/2014/main" id="{7B01428F-5E66-47EC-BFC7-C4BC93EEE19B}"/>
                </a:ext>
              </a:extLst>
            </p:cNvPr>
            <p:cNvSpPr>
              <a:spLocks noChangeAspect="1"/>
            </p:cNvSpPr>
            <p:nvPr/>
          </p:nvSpPr>
          <p:spPr bwMode="gray">
            <a:xfrm>
              <a:off x="8685128" y="5614171"/>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Rectangular Callout 26">
              <a:extLst>
                <a:ext uri="{FF2B5EF4-FFF2-40B4-BE49-F238E27FC236}">
                  <a16:creationId xmlns:a16="http://schemas.microsoft.com/office/drawing/2014/main" id="{9ED3EE1F-4B97-4331-8FBC-3CA242A51C68}"/>
                </a:ext>
              </a:extLst>
            </p:cNvPr>
            <p:cNvSpPr/>
            <p:nvPr/>
          </p:nvSpPr>
          <p:spPr bwMode="gray">
            <a:xfrm>
              <a:off x="5349347" y="5491412"/>
              <a:ext cx="960014" cy="388952"/>
            </a:xfrm>
            <a:prstGeom prst="wedgeRectCallout">
              <a:avLst>
                <a:gd name="adj1" fmla="val 18432"/>
                <a:gd name="adj2" fmla="val -8882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注册到控制器</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椭圆 15">
              <a:extLst>
                <a:ext uri="{FF2B5EF4-FFF2-40B4-BE49-F238E27FC236}">
                  <a16:creationId xmlns:a16="http://schemas.microsoft.com/office/drawing/2014/main" id="{BAF8A096-9CAD-403D-B29A-7236562D1852}"/>
                </a:ext>
              </a:extLst>
            </p:cNvPr>
            <p:cNvSpPr>
              <a:spLocks noChangeAspect="1"/>
            </p:cNvSpPr>
            <p:nvPr/>
          </p:nvSpPr>
          <p:spPr bwMode="gray">
            <a:xfrm>
              <a:off x="6181763" y="5379415"/>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580642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67C576-2F08-46C8-891A-5960ADA6075E}"/>
              </a:ext>
            </a:extLst>
          </p:cNvPr>
          <p:cNvSpPr>
            <a:spLocks noGrp="1"/>
          </p:cNvSpPr>
          <p:nvPr>
            <p:ph type="title"/>
          </p:nvPr>
        </p:nvSpPr>
        <p:spPr bwMode="gray"/>
        <p:txBody>
          <a:bodyPr>
            <a:normAutofit/>
          </a:bodyPr>
          <a:lstStyle/>
          <a:p>
            <a:r>
              <a:rPr lang="en-US" altLang="zh-CN" dirty="0">
                <a:sym typeface="Huawei Sans" panose="020C0503030203020204" pitchFamily="34" charset="0"/>
              </a:rPr>
              <a:t>ZTP</a:t>
            </a:r>
            <a:r>
              <a:rPr lang="zh-CN" altLang="en-US" dirty="0">
                <a:sym typeface="Huawei Sans" panose="020C0503030203020204" pitchFamily="34" charset="0"/>
              </a:rPr>
              <a:t>开局方式介绍</a:t>
            </a:r>
            <a:endParaRPr lang="en-US" dirty="0">
              <a:sym typeface="Huawei Sans" panose="020C0503030203020204" pitchFamily="34" charset="0"/>
            </a:endParaRPr>
          </a:p>
        </p:txBody>
      </p:sp>
      <p:sp>
        <p:nvSpPr>
          <p:cNvPr id="2" name="副标题 1"/>
          <p:cNvSpPr>
            <a:spLocks noGrp="1"/>
          </p:cNvSpPr>
          <p:nvPr>
            <p:ph type="body" sz="quarter" idx="10"/>
          </p:nvPr>
        </p:nvSpPr>
        <p:spPr bwMode="gray"/>
        <p:txBody>
          <a:bodyPr/>
          <a:lstStyle/>
          <a:p>
            <a:r>
              <a:rPr lang="zh-CN" altLang="en-US" sz="1800" dirty="0">
                <a:sym typeface="Huawei Sans" panose="020C0503030203020204" pitchFamily="34" charset="0"/>
              </a:rPr>
              <a:t>华为</a:t>
            </a:r>
            <a:r>
              <a:rPr lang="en-US" altLang="zh-CN" sz="1800" dirty="0">
                <a:sym typeface="Huawei Sans" panose="020C0503030203020204" pitchFamily="34" charset="0"/>
              </a:rPr>
              <a:t>SD-WAN</a:t>
            </a:r>
            <a:r>
              <a:rPr lang="zh-CN" altLang="en-US" sz="1800" dirty="0">
                <a:sym typeface="Huawei Sans" panose="020C0503030203020204" pitchFamily="34" charset="0"/>
              </a:rPr>
              <a:t>解决方案的</a:t>
            </a:r>
            <a:r>
              <a:rPr lang="en-US" altLang="zh-CN" sz="1800" dirty="0">
                <a:sym typeface="Huawei Sans" panose="020C0503030203020204" pitchFamily="34" charset="0"/>
              </a:rPr>
              <a:t>ZTP</a:t>
            </a:r>
            <a:r>
              <a:rPr lang="zh-CN" altLang="en-US" sz="1800" dirty="0">
                <a:sym typeface="Huawei Sans" panose="020C0503030203020204" pitchFamily="34" charset="0"/>
              </a:rPr>
              <a:t>开局主要有以下几种方式：</a:t>
            </a:r>
            <a:endParaRPr lang="en-US" altLang="zh-CN" sz="1800" dirty="0">
              <a:sym typeface="Huawei Sans" panose="020C0503030203020204" pitchFamily="34" charset="0"/>
            </a:endParaRPr>
          </a:p>
        </p:txBody>
      </p:sp>
      <p:grpSp>
        <p:nvGrpSpPr>
          <p:cNvPr id="8" name="Group 7">
            <a:extLst>
              <a:ext uri="{FF2B5EF4-FFF2-40B4-BE49-F238E27FC236}">
                <a16:creationId xmlns:a16="http://schemas.microsoft.com/office/drawing/2014/main" id="{E5DF4E56-BA1C-4A01-BD4F-35FB898F4E79}"/>
              </a:ext>
            </a:extLst>
          </p:cNvPr>
          <p:cNvGrpSpPr/>
          <p:nvPr/>
        </p:nvGrpSpPr>
        <p:grpSpPr bwMode="gray">
          <a:xfrm>
            <a:off x="1691791" y="1932587"/>
            <a:ext cx="8156533" cy="4187529"/>
            <a:chOff x="1691791" y="1932587"/>
            <a:chExt cx="8156533" cy="4187529"/>
          </a:xfrm>
        </p:grpSpPr>
        <p:sp>
          <p:nvSpPr>
            <p:cNvPr id="40" name="椭圆 35">
              <a:extLst>
                <a:ext uri="{FF2B5EF4-FFF2-40B4-BE49-F238E27FC236}">
                  <a16:creationId xmlns:a16="http://schemas.microsoft.com/office/drawing/2014/main" id="{A0480950-9D7B-4D08-9CDE-C01C7A08C0B5}"/>
                </a:ext>
              </a:extLst>
            </p:cNvPr>
            <p:cNvSpPr/>
            <p:nvPr/>
          </p:nvSpPr>
          <p:spPr bwMode="gray">
            <a:xfrm>
              <a:off x="5506081" y="3467219"/>
              <a:ext cx="1188297" cy="1188297"/>
            </a:xfrm>
            <a:prstGeom prst="ellipse">
              <a:avLst/>
            </a:prstGeom>
            <a:solidFill>
              <a:srgbClr val="56C4D2"/>
            </a:solidFill>
            <a:ln w="25400" cap="flat" cmpd="sng" algn="ctr">
              <a:noFill/>
              <a:prstDash val="solid"/>
            </a:ln>
            <a:effectLst/>
          </p:spPr>
          <p:txBody>
            <a:bodyPr rtlCol="0" anchor="ctr"/>
            <a:lstStyle/>
            <a:p>
              <a:pPr algn="ctr" defTabSz="1218784">
                <a:defRPr/>
              </a:pPr>
              <a:endParaRPr lang="en-US" sz="2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椭圆 36">
              <a:extLst>
                <a:ext uri="{FF2B5EF4-FFF2-40B4-BE49-F238E27FC236}">
                  <a16:creationId xmlns:a16="http://schemas.microsoft.com/office/drawing/2014/main" id="{40D69B53-5596-41EC-AD89-C3F4A093ACF3}"/>
                </a:ext>
              </a:extLst>
            </p:cNvPr>
            <p:cNvSpPr/>
            <p:nvPr/>
          </p:nvSpPr>
          <p:spPr bwMode="gray">
            <a:xfrm>
              <a:off x="2870480" y="3428569"/>
              <a:ext cx="1188297" cy="1188297"/>
            </a:xfrm>
            <a:prstGeom prst="ellipse">
              <a:avLst/>
            </a:prstGeom>
            <a:solidFill>
              <a:srgbClr val="56C4D2"/>
            </a:solidFill>
            <a:ln w="25400" cap="flat" cmpd="sng" algn="ctr">
              <a:noFill/>
              <a:prstDash val="solid"/>
            </a:ln>
            <a:effectLst/>
          </p:spPr>
          <p:txBody>
            <a:bodyPr rtlCol="0" anchor="ctr"/>
            <a:lstStyle/>
            <a:p>
              <a:pPr algn="ctr" defTabSz="1218784">
                <a:defRPr/>
              </a:pPr>
              <a:endParaRPr lang="en-US" sz="2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37">
              <a:extLst>
                <a:ext uri="{FF2B5EF4-FFF2-40B4-BE49-F238E27FC236}">
                  <a16:creationId xmlns:a16="http://schemas.microsoft.com/office/drawing/2014/main" id="{FC3DEB5C-06EB-4669-BF89-55C60ED2F6FF}"/>
                </a:ext>
              </a:extLst>
            </p:cNvPr>
            <p:cNvSpPr/>
            <p:nvPr/>
          </p:nvSpPr>
          <p:spPr bwMode="gray">
            <a:xfrm>
              <a:off x="8058898" y="3464814"/>
              <a:ext cx="1188297" cy="1188297"/>
            </a:xfrm>
            <a:prstGeom prst="ellipse">
              <a:avLst/>
            </a:prstGeom>
            <a:solidFill>
              <a:srgbClr val="56C4D2"/>
            </a:solidFill>
            <a:ln w="25400" cap="flat" cmpd="sng" algn="ctr">
              <a:noFill/>
              <a:prstDash val="solid"/>
            </a:ln>
            <a:effectLst/>
          </p:spPr>
          <p:txBody>
            <a:bodyPr rtlCol="0" anchor="ctr"/>
            <a:lstStyle/>
            <a:p>
              <a:pPr algn="ctr" defTabSz="1218784">
                <a:defRPr/>
              </a:pPr>
              <a:endParaRPr lang="en-US" sz="2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连接符 41">
              <a:extLst>
                <a:ext uri="{FF2B5EF4-FFF2-40B4-BE49-F238E27FC236}">
                  <a16:creationId xmlns:a16="http://schemas.microsoft.com/office/drawing/2014/main" id="{696678A6-91FE-4B2D-8EC3-A0B99FB763B8}"/>
                </a:ext>
              </a:extLst>
            </p:cNvPr>
            <p:cNvCxnSpPr/>
            <p:nvPr/>
          </p:nvCxnSpPr>
          <p:spPr bwMode="gray">
            <a:xfrm>
              <a:off x="3425289" y="2303511"/>
              <a:ext cx="1280445" cy="0"/>
            </a:xfrm>
            <a:prstGeom prst="line">
              <a:avLst/>
            </a:prstGeom>
            <a:noFill/>
            <a:ln w="19050" cap="flat" cmpd="sng" algn="ctr">
              <a:solidFill>
                <a:srgbClr val="56C4D2"/>
              </a:solidFill>
              <a:prstDash val="solid"/>
              <a:tailEnd type="triangle"/>
            </a:ln>
            <a:effectLst/>
          </p:spPr>
        </p:cxnSp>
        <p:cxnSp>
          <p:nvCxnSpPr>
            <p:cNvPr id="53" name="直接连接符 42">
              <a:extLst>
                <a:ext uri="{FF2B5EF4-FFF2-40B4-BE49-F238E27FC236}">
                  <a16:creationId xmlns:a16="http://schemas.microsoft.com/office/drawing/2014/main" id="{C1E06CCB-5800-4573-89DB-8ADD04A34FCE}"/>
                </a:ext>
              </a:extLst>
            </p:cNvPr>
            <p:cNvCxnSpPr/>
            <p:nvPr/>
          </p:nvCxnSpPr>
          <p:spPr bwMode="gray">
            <a:xfrm flipH="1">
              <a:off x="7485644" y="2306101"/>
              <a:ext cx="1577353" cy="0"/>
            </a:xfrm>
            <a:prstGeom prst="line">
              <a:avLst/>
            </a:prstGeom>
            <a:noFill/>
            <a:ln w="19050" cap="flat" cmpd="sng" algn="ctr">
              <a:solidFill>
                <a:srgbClr val="56C4D2"/>
              </a:solidFill>
              <a:prstDash val="solid"/>
              <a:tailEnd type="triangle"/>
            </a:ln>
            <a:effectLst/>
          </p:spPr>
        </p:cxnSp>
        <p:sp>
          <p:nvSpPr>
            <p:cNvPr id="54" name="Freeform 96">
              <a:extLst>
                <a:ext uri="{FF2B5EF4-FFF2-40B4-BE49-F238E27FC236}">
                  <a16:creationId xmlns:a16="http://schemas.microsoft.com/office/drawing/2014/main" id="{6A76BFA1-C10B-47BF-B692-2930AE2AAC41}"/>
                </a:ext>
              </a:extLst>
            </p:cNvPr>
            <p:cNvSpPr>
              <a:spLocks noEditPoints="1"/>
            </p:cNvSpPr>
            <p:nvPr/>
          </p:nvSpPr>
          <p:spPr bwMode="gray">
            <a:xfrm>
              <a:off x="9234651" y="1959271"/>
              <a:ext cx="613673" cy="549080"/>
            </a:xfrm>
            <a:custGeom>
              <a:avLst/>
              <a:gdLst/>
              <a:ahLst/>
              <a:cxnLst>
                <a:cxn ang="0">
                  <a:pos x="729" y="133"/>
                </a:cxn>
                <a:cxn ang="0">
                  <a:pos x="562" y="94"/>
                </a:cxn>
                <a:cxn ang="0">
                  <a:pos x="542" y="313"/>
                </a:cxn>
                <a:cxn ang="0">
                  <a:pos x="775" y="449"/>
                </a:cxn>
                <a:cxn ang="0">
                  <a:pos x="752" y="316"/>
                </a:cxn>
                <a:cxn ang="0">
                  <a:pos x="863" y="449"/>
                </a:cxn>
                <a:cxn ang="0">
                  <a:pos x="725" y="229"/>
                </a:cxn>
                <a:cxn ang="0">
                  <a:pos x="653" y="281"/>
                </a:cxn>
                <a:cxn ang="0">
                  <a:pos x="646" y="221"/>
                </a:cxn>
                <a:cxn ang="0">
                  <a:pos x="638" y="281"/>
                </a:cxn>
                <a:cxn ang="0">
                  <a:pos x="567" y="229"/>
                </a:cxn>
                <a:cxn ang="0">
                  <a:pos x="428" y="449"/>
                </a:cxn>
                <a:cxn ang="0">
                  <a:pos x="542" y="313"/>
                </a:cxn>
                <a:cxn ang="0">
                  <a:pos x="415" y="513"/>
                </a:cxn>
                <a:cxn ang="0">
                  <a:pos x="909" y="459"/>
                </a:cxn>
                <a:cxn ang="0">
                  <a:pos x="312" y="211"/>
                </a:cxn>
                <a:cxn ang="0">
                  <a:pos x="278" y="203"/>
                </a:cxn>
                <a:cxn ang="0">
                  <a:pos x="121" y="203"/>
                </a:cxn>
                <a:cxn ang="0">
                  <a:pos x="28" y="287"/>
                </a:cxn>
                <a:cxn ang="0">
                  <a:pos x="3" y="556"/>
                </a:cxn>
                <a:cxn ang="0">
                  <a:pos x="37" y="586"/>
                </a:cxn>
                <a:cxn ang="0">
                  <a:pos x="64" y="479"/>
                </a:cxn>
                <a:cxn ang="0">
                  <a:pos x="92" y="899"/>
                </a:cxn>
                <a:cxn ang="0">
                  <a:pos x="191" y="899"/>
                </a:cxn>
                <a:cxn ang="0">
                  <a:pos x="210" y="538"/>
                </a:cxn>
                <a:cxn ang="0">
                  <a:pos x="259" y="949"/>
                </a:cxn>
                <a:cxn ang="0">
                  <a:pos x="309" y="299"/>
                </a:cxn>
                <a:cxn ang="0">
                  <a:pos x="336" y="479"/>
                </a:cxn>
                <a:cxn ang="0">
                  <a:pos x="364" y="586"/>
                </a:cxn>
                <a:cxn ang="0">
                  <a:pos x="398" y="556"/>
                </a:cxn>
                <a:cxn ang="0">
                  <a:pos x="355" y="251"/>
                </a:cxn>
                <a:cxn ang="0">
                  <a:pos x="200" y="180"/>
                </a:cxn>
                <a:cxn ang="0">
                  <a:pos x="200" y="0"/>
                </a:cxn>
                <a:cxn ang="0">
                  <a:pos x="200" y="180"/>
                </a:cxn>
              </a:cxnLst>
              <a:rect l="0" t="0" r="r" b="b"/>
              <a:pathLst>
                <a:path w="909" h="949">
                  <a:moveTo>
                    <a:pt x="626" y="197"/>
                  </a:moveTo>
                  <a:cubicBezTo>
                    <a:pt x="672" y="208"/>
                    <a:pt x="719" y="179"/>
                    <a:pt x="729" y="133"/>
                  </a:cubicBezTo>
                  <a:cubicBezTo>
                    <a:pt x="740" y="87"/>
                    <a:pt x="711" y="40"/>
                    <a:pt x="665" y="30"/>
                  </a:cubicBezTo>
                  <a:cubicBezTo>
                    <a:pt x="619" y="19"/>
                    <a:pt x="573" y="48"/>
                    <a:pt x="562" y="94"/>
                  </a:cubicBezTo>
                  <a:cubicBezTo>
                    <a:pt x="551" y="140"/>
                    <a:pt x="580" y="186"/>
                    <a:pt x="626" y="197"/>
                  </a:cubicBezTo>
                  <a:close/>
                  <a:moveTo>
                    <a:pt x="542" y="313"/>
                  </a:moveTo>
                  <a:cubicBezTo>
                    <a:pt x="516" y="449"/>
                    <a:pt x="516" y="449"/>
                    <a:pt x="516" y="449"/>
                  </a:cubicBezTo>
                  <a:cubicBezTo>
                    <a:pt x="775" y="449"/>
                    <a:pt x="775" y="449"/>
                    <a:pt x="775" y="449"/>
                  </a:cubicBezTo>
                  <a:cubicBezTo>
                    <a:pt x="749" y="313"/>
                    <a:pt x="749" y="313"/>
                    <a:pt x="749" y="313"/>
                  </a:cubicBezTo>
                  <a:cubicBezTo>
                    <a:pt x="750" y="314"/>
                    <a:pt x="751" y="315"/>
                    <a:pt x="752" y="316"/>
                  </a:cubicBezTo>
                  <a:cubicBezTo>
                    <a:pt x="771" y="341"/>
                    <a:pt x="793" y="382"/>
                    <a:pt x="810" y="449"/>
                  </a:cubicBezTo>
                  <a:cubicBezTo>
                    <a:pt x="863" y="449"/>
                    <a:pt x="863" y="449"/>
                    <a:pt x="863" y="449"/>
                  </a:cubicBezTo>
                  <a:cubicBezTo>
                    <a:pt x="843" y="359"/>
                    <a:pt x="812" y="305"/>
                    <a:pt x="782" y="272"/>
                  </a:cubicBezTo>
                  <a:cubicBezTo>
                    <a:pt x="761" y="247"/>
                    <a:pt x="740" y="235"/>
                    <a:pt x="725" y="229"/>
                  </a:cubicBezTo>
                  <a:cubicBezTo>
                    <a:pt x="665" y="328"/>
                    <a:pt x="665" y="328"/>
                    <a:pt x="665" y="328"/>
                  </a:cubicBezTo>
                  <a:cubicBezTo>
                    <a:pt x="653" y="281"/>
                    <a:pt x="653" y="281"/>
                    <a:pt x="653" y="281"/>
                  </a:cubicBezTo>
                  <a:cubicBezTo>
                    <a:pt x="688" y="224"/>
                    <a:pt x="688" y="224"/>
                    <a:pt x="688" y="224"/>
                  </a:cubicBezTo>
                  <a:cubicBezTo>
                    <a:pt x="676" y="223"/>
                    <a:pt x="662" y="221"/>
                    <a:pt x="646" y="221"/>
                  </a:cubicBezTo>
                  <a:cubicBezTo>
                    <a:pt x="629" y="221"/>
                    <a:pt x="615" y="223"/>
                    <a:pt x="603" y="224"/>
                  </a:cubicBezTo>
                  <a:cubicBezTo>
                    <a:pt x="638" y="281"/>
                    <a:pt x="638" y="281"/>
                    <a:pt x="638" y="281"/>
                  </a:cubicBezTo>
                  <a:cubicBezTo>
                    <a:pt x="626" y="328"/>
                    <a:pt x="626" y="328"/>
                    <a:pt x="626" y="328"/>
                  </a:cubicBezTo>
                  <a:cubicBezTo>
                    <a:pt x="567" y="229"/>
                    <a:pt x="567" y="229"/>
                    <a:pt x="567" y="229"/>
                  </a:cubicBezTo>
                  <a:cubicBezTo>
                    <a:pt x="552" y="235"/>
                    <a:pt x="531" y="247"/>
                    <a:pt x="509" y="272"/>
                  </a:cubicBezTo>
                  <a:cubicBezTo>
                    <a:pt x="479" y="305"/>
                    <a:pt x="448" y="359"/>
                    <a:pt x="428" y="449"/>
                  </a:cubicBezTo>
                  <a:cubicBezTo>
                    <a:pt x="481" y="449"/>
                    <a:pt x="481" y="449"/>
                    <a:pt x="481" y="449"/>
                  </a:cubicBezTo>
                  <a:cubicBezTo>
                    <a:pt x="499" y="380"/>
                    <a:pt x="522" y="338"/>
                    <a:pt x="542" y="313"/>
                  </a:cubicBezTo>
                  <a:close/>
                  <a:moveTo>
                    <a:pt x="415" y="459"/>
                  </a:moveTo>
                  <a:cubicBezTo>
                    <a:pt x="415" y="513"/>
                    <a:pt x="415" y="513"/>
                    <a:pt x="415" y="513"/>
                  </a:cubicBezTo>
                  <a:cubicBezTo>
                    <a:pt x="909" y="513"/>
                    <a:pt x="909" y="513"/>
                    <a:pt x="909" y="513"/>
                  </a:cubicBezTo>
                  <a:cubicBezTo>
                    <a:pt x="909" y="459"/>
                    <a:pt x="909" y="459"/>
                    <a:pt x="909" y="459"/>
                  </a:cubicBezTo>
                  <a:lnTo>
                    <a:pt x="415" y="459"/>
                  </a:lnTo>
                  <a:close/>
                  <a:moveTo>
                    <a:pt x="312" y="211"/>
                  </a:moveTo>
                  <a:cubicBezTo>
                    <a:pt x="299" y="205"/>
                    <a:pt x="287" y="203"/>
                    <a:pt x="280" y="203"/>
                  </a:cubicBezTo>
                  <a:cubicBezTo>
                    <a:pt x="279" y="203"/>
                    <a:pt x="278" y="203"/>
                    <a:pt x="278" y="203"/>
                  </a:cubicBezTo>
                  <a:cubicBezTo>
                    <a:pt x="123" y="203"/>
                    <a:pt x="123" y="203"/>
                    <a:pt x="123" y="203"/>
                  </a:cubicBezTo>
                  <a:cubicBezTo>
                    <a:pt x="122" y="203"/>
                    <a:pt x="122" y="203"/>
                    <a:pt x="121" y="203"/>
                  </a:cubicBezTo>
                  <a:cubicBezTo>
                    <a:pt x="114" y="203"/>
                    <a:pt x="102" y="205"/>
                    <a:pt x="89" y="211"/>
                  </a:cubicBezTo>
                  <a:cubicBezTo>
                    <a:pt x="67" y="222"/>
                    <a:pt x="44" y="245"/>
                    <a:pt x="28" y="287"/>
                  </a:cubicBezTo>
                  <a:cubicBezTo>
                    <a:pt x="11" y="328"/>
                    <a:pt x="0" y="388"/>
                    <a:pt x="0" y="479"/>
                  </a:cubicBezTo>
                  <a:cubicBezTo>
                    <a:pt x="0" y="502"/>
                    <a:pt x="1" y="528"/>
                    <a:pt x="3" y="556"/>
                  </a:cubicBezTo>
                  <a:cubicBezTo>
                    <a:pt x="4" y="573"/>
                    <a:pt x="18" y="586"/>
                    <a:pt x="35" y="586"/>
                  </a:cubicBezTo>
                  <a:cubicBezTo>
                    <a:pt x="35" y="586"/>
                    <a:pt x="36" y="586"/>
                    <a:pt x="37" y="586"/>
                  </a:cubicBezTo>
                  <a:cubicBezTo>
                    <a:pt x="54" y="585"/>
                    <a:pt x="68" y="570"/>
                    <a:pt x="67" y="552"/>
                  </a:cubicBezTo>
                  <a:cubicBezTo>
                    <a:pt x="65" y="525"/>
                    <a:pt x="64" y="501"/>
                    <a:pt x="64" y="479"/>
                  </a:cubicBezTo>
                  <a:cubicBezTo>
                    <a:pt x="64" y="382"/>
                    <a:pt x="78" y="328"/>
                    <a:pt x="92" y="299"/>
                  </a:cubicBezTo>
                  <a:cubicBezTo>
                    <a:pt x="92" y="899"/>
                    <a:pt x="92" y="899"/>
                    <a:pt x="92" y="899"/>
                  </a:cubicBezTo>
                  <a:cubicBezTo>
                    <a:pt x="92" y="927"/>
                    <a:pt x="114" y="949"/>
                    <a:pt x="142" y="949"/>
                  </a:cubicBezTo>
                  <a:cubicBezTo>
                    <a:pt x="169" y="949"/>
                    <a:pt x="191" y="927"/>
                    <a:pt x="191" y="899"/>
                  </a:cubicBezTo>
                  <a:cubicBezTo>
                    <a:pt x="191" y="538"/>
                    <a:pt x="191" y="538"/>
                    <a:pt x="191" y="538"/>
                  </a:cubicBezTo>
                  <a:cubicBezTo>
                    <a:pt x="210" y="538"/>
                    <a:pt x="210" y="538"/>
                    <a:pt x="210" y="538"/>
                  </a:cubicBezTo>
                  <a:cubicBezTo>
                    <a:pt x="210" y="899"/>
                    <a:pt x="210" y="899"/>
                    <a:pt x="210" y="899"/>
                  </a:cubicBezTo>
                  <a:cubicBezTo>
                    <a:pt x="210" y="927"/>
                    <a:pt x="232" y="949"/>
                    <a:pt x="259" y="949"/>
                  </a:cubicBezTo>
                  <a:cubicBezTo>
                    <a:pt x="286" y="949"/>
                    <a:pt x="309" y="927"/>
                    <a:pt x="309" y="899"/>
                  </a:cubicBezTo>
                  <a:cubicBezTo>
                    <a:pt x="309" y="299"/>
                    <a:pt x="309" y="299"/>
                    <a:pt x="309" y="299"/>
                  </a:cubicBezTo>
                  <a:cubicBezTo>
                    <a:pt x="311" y="304"/>
                    <a:pt x="313" y="310"/>
                    <a:pt x="316" y="316"/>
                  </a:cubicBezTo>
                  <a:cubicBezTo>
                    <a:pt x="327" y="348"/>
                    <a:pt x="336" y="399"/>
                    <a:pt x="336" y="479"/>
                  </a:cubicBezTo>
                  <a:cubicBezTo>
                    <a:pt x="336" y="501"/>
                    <a:pt x="336" y="525"/>
                    <a:pt x="334" y="552"/>
                  </a:cubicBezTo>
                  <a:cubicBezTo>
                    <a:pt x="333" y="570"/>
                    <a:pt x="347" y="585"/>
                    <a:pt x="364" y="586"/>
                  </a:cubicBezTo>
                  <a:cubicBezTo>
                    <a:pt x="365" y="586"/>
                    <a:pt x="366" y="586"/>
                    <a:pt x="366" y="586"/>
                  </a:cubicBezTo>
                  <a:cubicBezTo>
                    <a:pt x="383" y="586"/>
                    <a:pt x="397" y="573"/>
                    <a:pt x="398" y="556"/>
                  </a:cubicBezTo>
                  <a:cubicBezTo>
                    <a:pt x="400" y="528"/>
                    <a:pt x="400" y="502"/>
                    <a:pt x="400" y="479"/>
                  </a:cubicBezTo>
                  <a:cubicBezTo>
                    <a:pt x="400" y="358"/>
                    <a:pt x="381" y="291"/>
                    <a:pt x="355" y="251"/>
                  </a:cubicBezTo>
                  <a:cubicBezTo>
                    <a:pt x="342" y="231"/>
                    <a:pt x="326" y="219"/>
                    <a:pt x="312" y="211"/>
                  </a:cubicBezTo>
                  <a:close/>
                  <a:moveTo>
                    <a:pt x="200" y="180"/>
                  </a:moveTo>
                  <a:cubicBezTo>
                    <a:pt x="250" y="180"/>
                    <a:pt x="290" y="140"/>
                    <a:pt x="290" y="90"/>
                  </a:cubicBezTo>
                  <a:cubicBezTo>
                    <a:pt x="290" y="40"/>
                    <a:pt x="250" y="0"/>
                    <a:pt x="200" y="0"/>
                  </a:cubicBezTo>
                  <a:cubicBezTo>
                    <a:pt x="151" y="0"/>
                    <a:pt x="110" y="40"/>
                    <a:pt x="110" y="90"/>
                  </a:cubicBezTo>
                  <a:cubicBezTo>
                    <a:pt x="110" y="140"/>
                    <a:pt x="151" y="180"/>
                    <a:pt x="200" y="180"/>
                  </a:cubicBezTo>
                  <a:close/>
                </a:path>
              </a:pathLst>
            </a:custGeom>
            <a:solidFill>
              <a:srgbClr val="56C4D2"/>
            </a:solidFill>
            <a:ln w="12700" cap="flat" cmpd="sng" algn="ctr">
              <a:noFill/>
              <a:prstDash val="solid"/>
            </a:ln>
            <a:effectLst/>
          </p:spPr>
          <p:txBody>
            <a:bodyPr wrap="none" lIns="0" tIns="0" rIns="0" bIns="0" rtlCol="0" anchor="ctr"/>
            <a:lstStyle/>
            <a:p>
              <a:pPr algn="ctr" defTabSz="1218784">
                <a:buClr>
                  <a:srgbClr val="CC9900"/>
                </a:buClr>
                <a:buFont typeface="Wingdings" pitchFamily="2" charset="2"/>
                <a:buChar char="n"/>
                <a:defRPr/>
              </a:pPr>
              <a:endParaRPr lang="zh-CN" altLang="en-US" sz="1349" b="1" kern="0" dirty="0">
                <a:solidFill>
                  <a:prstClr val="black"/>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1" name="矩形 44">
              <a:extLst>
                <a:ext uri="{FF2B5EF4-FFF2-40B4-BE49-F238E27FC236}">
                  <a16:creationId xmlns:a16="http://schemas.microsoft.com/office/drawing/2014/main" id="{DD0B4BCD-D12E-453B-8D3A-202B7126687A}"/>
                </a:ext>
              </a:extLst>
            </p:cNvPr>
            <p:cNvSpPr/>
            <p:nvPr/>
          </p:nvSpPr>
          <p:spPr bwMode="gray">
            <a:xfrm>
              <a:off x="7747738" y="2013738"/>
              <a:ext cx="1293671" cy="276999"/>
            </a:xfrm>
            <a:prstGeom prst="rect">
              <a:avLst/>
            </a:prstGeom>
          </p:spPr>
          <p:txBody>
            <a:bodyPr wrap="square">
              <a:spAutoFit/>
            </a:bodyPr>
            <a:lstStyle/>
            <a:p>
              <a:pPr algn="ctr" defTabSz="1218784"/>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订购＆自助服务</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45">
              <a:extLst>
                <a:ext uri="{FF2B5EF4-FFF2-40B4-BE49-F238E27FC236}">
                  <a16:creationId xmlns:a16="http://schemas.microsoft.com/office/drawing/2014/main" id="{AD3DF571-23A6-4068-8248-E1D79252F13E}"/>
                </a:ext>
              </a:extLst>
            </p:cNvPr>
            <p:cNvSpPr/>
            <p:nvPr/>
          </p:nvSpPr>
          <p:spPr bwMode="gray">
            <a:xfrm>
              <a:off x="3544432" y="2010756"/>
              <a:ext cx="954108" cy="276999"/>
            </a:xfrm>
            <a:prstGeom prst="rect">
              <a:avLst/>
            </a:prstGeom>
          </p:spPr>
          <p:txBody>
            <a:bodyPr wrap="none">
              <a:spAutoFit/>
            </a:bodyPr>
            <a:lstStyle/>
            <a:p>
              <a:pPr algn="ctr" defTabSz="1218784"/>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多租户管理</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46">
              <a:extLst>
                <a:ext uri="{FF2B5EF4-FFF2-40B4-BE49-F238E27FC236}">
                  <a16:creationId xmlns:a16="http://schemas.microsoft.com/office/drawing/2014/main" id="{6D4C33C9-BF29-4492-AA32-E0722A259817}"/>
                </a:ext>
              </a:extLst>
            </p:cNvPr>
            <p:cNvSpPr/>
            <p:nvPr/>
          </p:nvSpPr>
          <p:spPr bwMode="gray">
            <a:xfrm>
              <a:off x="2470678" y="2489338"/>
              <a:ext cx="1083951" cy="276999"/>
            </a:xfrm>
            <a:prstGeom prst="rect">
              <a:avLst/>
            </a:prstGeom>
          </p:spPr>
          <p:txBody>
            <a:bodyPr wrap="none">
              <a:spAutoFit/>
            </a:bodyPr>
            <a:lstStyle/>
            <a:p>
              <a:pPr algn="ctr" defTabSz="1218784"/>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MSP /</a:t>
              </a:r>
              <a:r>
                <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运营商</a:t>
              </a:r>
              <a:endParaRPr 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47">
              <a:extLst>
                <a:ext uri="{FF2B5EF4-FFF2-40B4-BE49-F238E27FC236}">
                  <a16:creationId xmlns:a16="http://schemas.microsoft.com/office/drawing/2014/main" id="{C00D0174-595A-4F65-9106-9B2613BCE302}"/>
                </a:ext>
              </a:extLst>
            </p:cNvPr>
            <p:cNvSpPr/>
            <p:nvPr/>
          </p:nvSpPr>
          <p:spPr bwMode="gray">
            <a:xfrm>
              <a:off x="9295265" y="2517160"/>
              <a:ext cx="492444" cy="276999"/>
            </a:xfrm>
            <a:prstGeom prst="rect">
              <a:avLst/>
            </a:prstGeom>
          </p:spPr>
          <p:txBody>
            <a:bodyPr wrap="none">
              <a:spAutoFit/>
            </a:bodyPr>
            <a:lstStyle/>
            <a:p>
              <a:pPr algn="ctr" defTabSz="1218784"/>
              <a:r>
                <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企业</a:t>
              </a:r>
              <a:endParaRPr 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直接连接符 50">
              <a:extLst>
                <a:ext uri="{FF2B5EF4-FFF2-40B4-BE49-F238E27FC236}">
                  <a16:creationId xmlns:a16="http://schemas.microsoft.com/office/drawing/2014/main" id="{379B6BB8-8311-44B6-80A8-C10C930D65B1}"/>
                </a:ext>
              </a:extLst>
            </p:cNvPr>
            <p:cNvCxnSpPr>
              <a:cxnSpLocks/>
              <a:stCxn id="89" idx="2"/>
              <a:endCxn id="40" idx="0"/>
            </p:cNvCxnSpPr>
            <p:nvPr/>
          </p:nvCxnSpPr>
          <p:spPr bwMode="gray">
            <a:xfrm>
              <a:off x="6087182" y="2567577"/>
              <a:ext cx="13048" cy="899642"/>
            </a:xfrm>
            <a:prstGeom prst="line">
              <a:avLst/>
            </a:prstGeom>
            <a:noFill/>
            <a:ln w="28575" cap="flat" cmpd="sng" algn="ctr">
              <a:solidFill>
                <a:srgbClr val="56C4D2"/>
              </a:solidFill>
              <a:prstDash val="dash"/>
              <a:headEnd type="none" w="lg" len="lg"/>
              <a:tailEnd type="triangle" w="lg" len="lg"/>
            </a:ln>
            <a:effectLst/>
          </p:spPr>
        </p:cxnSp>
        <p:sp>
          <p:nvSpPr>
            <p:cNvPr id="78" name="Freeform 94">
              <a:extLst>
                <a:ext uri="{FF2B5EF4-FFF2-40B4-BE49-F238E27FC236}">
                  <a16:creationId xmlns:a16="http://schemas.microsoft.com/office/drawing/2014/main" id="{9234D6A8-EA65-475D-A81A-EFFFB7ADDC4E}"/>
                </a:ext>
              </a:extLst>
            </p:cNvPr>
            <p:cNvSpPr>
              <a:spLocks noEditPoints="1"/>
            </p:cNvSpPr>
            <p:nvPr/>
          </p:nvSpPr>
          <p:spPr bwMode="gray">
            <a:xfrm rot="10800000">
              <a:off x="3212330" y="3628334"/>
              <a:ext cx="504598" cy="433033"/>
            </a:xfrm>
            <a:custGeom>
              <a:avLst/>
              <a:gdLst/>
              <a:ahLst/>
              <a:cxnLst>
                <a:cxn ang="0">
                  <a:pos x="285" y="1027"/>
                </a:cxn>
                <a:cxn ang="0">
                  <a:pos x="464" y="965"/>
                </a:cxn>
                <a:cxn ang="0">
                  <a:pos x="1034" y="396"/>
                </a:cxn>
                <a:cxn ang="0">
                  <a:pos x="1049" y="378"/>
                </a:cxn>
                <a:cxn ang="0">
                  <a:pos x="1061" y="356"/>
                </a:cxn>
                <a:cxn ang="0">
                  <a:pos x="1067" y="334"/>
                </a:cxn>
                <a:cxn ang="0">
                  <a:pos x="1071" y="310"/>
                </a:cxn>
                <a:cxn ang="0">
                  <a:pos x="1069" y="286"/>
                </a:cxn>
                <a:cxn ang="0">
                  <a:pos x="1064" y="265"/>
                </a:cxn>
                <a:cxn ang="0">
                  <a:pos x="1054" y="243"/>
                </a:cxn>
                <a:cxn ang="0">
                  <a:pos x="1040" y="222"/>
                </a:cxn>
                <a:cxn ang="0">
                  <a:pos x="1056" y="206"/>
                </a:cxn>
                <a:cxn ang="0">
                  <a:pos x="1061" y="197"/>
                </a:cxn>
                <a:cxn ang="0">
                  <a:pos x="1056" y="189"/>
                </a:cxn>
                <a:cxn ang="0">
                  <a:pos x="882" y="13"/>
                </a:cxn>
                <a:cxn ang="0">
                  <a:pos x="873" y="10"/>
                </a:cxn>
                <a:cxn ang="0">
                  <a:pos x="865" y="13"/>
                </a:cxn>
                <a:cxn ang="0">
                  <a:pos x="848" y="30"/>
                </a:cxn>
                <a:cxn ang="0">
                  <a:pos x="828" y="17"/>
                </a:cxn>
                <a:cxn ang="0">
                  <a:pos x="806" y="6"/>
                </a:cxn>
                <a:cxn ang="0">
                  <a:pos x="784" y="1"/>
                </a:cxn>
                <a:cxn ang="0">
                  <a:pos x="760" y="0"/>
                </a:cxn>
                <a:cxn ang="0">
                  <a:pos x="737" y="3"/>
                </a:cxn>
                <a:cxn ang="0">
                  <a:pos x="715" y="10"/>
                </a:cxn>
                <a:cxn ang="0">
                  <a:pos x="693" y="22"/>
                </a:cxn>
                <a:cxn ang="0">
                  <a:pos x="674" y="37"/>
                </a:cxn>
                <a:cxn ang="0">
                  <a:pos x="163" y="664"/>
                </a:cxn>
                <a:cxn ang="0">
                  <a:pos x="0" y="828"/>
                </a:cxn>
                <a:cxn ang="0">
                  <a:pos x="199" y="1027"/>
                </a:cxn>
                <a:cxn ang="0">
                  <a:pos x="207" y="708"/>
                </a:cxn>
                <a:cxn ang="0">
                  <a:pos x="243" y="985"/>
                </a:cxn>
                <a:cxn ang="0">
                  <a:pos x="207" y="708"/>
                </a:cxn>
              </a:cxnLst>
              <a:rect l="0" t="0" r="r" b="b"/>
              <a:pathLst>
                <a:path w="1071" h="1069">
                  <a:moveTo>
                    <a:pt x="243" y="1069"/>
                  </a:moveTo>
                  <a:lnTo>
                    <a:pt x="285" y="1027"/>
                  </a:lnTo>
                  <a:lnTo>
                    <a:pt x="406" y="906"/>
                  </a:lnTo>
                  <a:lnTo>
                    <a:pt x="464" y="965"/>
                  </a:lnTo>
                  <a:lnTo>
                    <a:pt x="1034" y="396"/>
                  </a:lnTo>
                  <a:lnTo>
                    <a:pt x="1034" y="396"/>
                  </a:lnTo>
                  <a:lnTo>
                    <a:pt x="1042" y="388"/>
                  </a:lnTo>
                  <a:lnTo>
                    <a:pt x="1049" y="378"/>
                  </a:lnTo>
                  <a:lnTo>
                    <a:pt x="1056" y="367"/>
                  </a:lnTo>
                  <a:lnTo>
                    <a:pt x="1061" y="356"/>
                  </a:lnTo>
                  <a:lnTo>
                    <a:pt x="1064" y="346"/>
                  </a:lnTo>
                  <a:lnTo>
                    <a:pt x="1067" y="334"/>
                  </a:lnTo>
                  <a:lnTo>
                    <a:pt x="1069" y="322"/>
                  </a:lnTo>
                  <a:lnTo>
                    <a:pt x="1071" y="310"/>
                  </a:lnTo>
                  <a:lnTo>
                    <a:pt x="1071" y="298"/>
                  </a:lnTo>
                  <a:lnTo>
                    <a:pt x="1069" y="286"/>
                  </a:lnTo>
                  <a:lnTo>
                    <a:pt x="1067" y="275"/>
                  </a:lnTo>
                  <a:lnTo>
                    <a:pt x="1064" y="265"/>
                  </a:lnTo>
                  <a:lnTo>
                    <a:pt x="1059" y="253"/>
                  </a:lnTo>
                  <a:lnTo>
                    <a:pt x="1054" y="243"/>
                  </a:lnTo>
                  <a:lnTo>
                    <a:pt x="1047" y="233"/>
                  </a:lnTo>
                  <a:lnTo>
                    <a:pt x="1040" y="222"/>
                  </a:lnTo>
                  <a:lnTo>
                    <a:pt x="1056" y="206"/>
                  </a:lnTo>
                  <a:lnTo>
                    <a:pt x="1056" y="206"/>
                  </a:lnTo>
                  <a:lnTo>
                    <a:pt x="1059" y="202"/>
                  </a:lnTo>
                  <a:lnTo>
                    <a:pt x="1061" y="197"/>
                  </a:lnTo>
                  <a:lnTo>
                    <a:pt x="1059" y="192"/>
                  </a:lnTo>
                  <a:lnTo>
                    <a:pt x="1056" y="189"/>
                  </a:lnTo>
                  <a:lnTo>
                    <a:pt x="882" y="13"/>
                  </a:lnTo>
                  <a:lnTo>
                    <a:pt x="882" y="13"/>
                  </a:lnTo>
                  <a:lnTo>
                    <a:pt x="877" y="12"/>
                  </a:lnTo>
                  <a:lnTo>
                    <a:pt x="873" y="10"/>
                  </a:lnTo>
                  <a:lnTo>
                    <a:pt x="868" y="12"/>
                  </a:lnTo>
                  <a:lnTo>
                    <a:pt x="865" y="13"/>
                  </a:lnTo>
                  <a:lnTo>
                    <a:pt x="848" y="30"/>
                  </a:lnTo>
                  <a:lnTo>
                    <a:pt x="848" y="30"/>
                  </a:lnTo>
                  <a:lnTo>
                    <a:pt x="838" y="23"/>
                  </a:lnTo>
                  <a:lnTo>
                    <a:pt x="828" y="17"/>
                  </a:lnTo>
                  <a:lnTo>
                    <a:pt x="818" y="12"/>
                  </a:lnTo>
                  <a:lnTo>
                    <a:pt x="806" y="6"/>
                  </a:lnTo>
                  <a:lnTo>
                    <a:pt x="794" y="3"/>
                  </a:lnTo>
                  <a:lnTo>
                    <a:pt x="784" y="1"/>
                  </a:lnTo>
                  <a:lnTo>
                    <a:pt x="772" y="0"/>
                  </a:lnTo>
                  <a:lnTo>
                    <a:pt x="760" y="0"/>
                  </a:lnTo>
                  <a:lnTo>
                    <a:pt x="749" y="1"/>
                  </a:lnTo>
                  <a:lnTo>
                    <a:pt x="737" y="3"/>
                  </a:lnTo>
                  <a:lnTo>
                    <a:pt x="725" y="6"/>
                  </a:lnTo>
                  <a:lnTo>
                    <a:pt x="715" y="10"/>
                  </a:lnTo>
                  <a:lnTo>
                    <a:pt x="703" y="15"/>
                  </a:lnTo>
                  <a:lnTo>
                    <a:pt x="693" y="22"/>
                  </a:lnTo>
                  <a:lnTo>
                    <a:pt x="683" y="28"/>
                  </a:lnTo>
                  <a:lnTo>
                    <a:pt x="674" y="37"/>
                  </a:lnTo>
                  <a:lnTo>
                    <a:pt x="106" y="605"/>
                  </a:lnTo>
                  <a:lnTo>
                    <a:pt x="163" y="664"/>
                  </a:lnTo>
                  <a:lnTo>
                    <a:pt x="44" y="786"/>
                  </a:lnTo>
                  <a:lnTo>
                    <a:pt x="0" y="828"/>
                  </a:lnTo>
                  <a:lnTo>
                    <a:pt x="44" y="872"/>
                  </a:lnTo>
                  <a:lnTo>
                    <a:pt x="199" y="1027"/>
                  </a:lnTo>
                  <a:lnTo>
                    <a:pt x="243" y="1069"/>
                  </a:lnTo>
                  <a:close/>
                  <a:moveTo>
                    <a:pt x="207" y="708"/>
                  </a:moveTo>
                  <a:lnTo>
                    <a:pt x="362" y="863"/>
                  </a:lnTo>
                  <a:lnTo>
                    <a:pt x="243" y="985"/>
                  </a:lnTo>
                  <a:lnTo>
                    <a:pt x="86" y="828"/>
                  </a:lnTo>
                  <a:lnTo>
                    <a:pt x="207" y="708"/>
                  </a:lnTo>
                  <a:close/>
                </a:path>
              </a:pathLst>
            </a:custGeom>
            <a:solidFill>
              <a:sysClr val="window" lastClr="FFFFFF"/>
            </a:solidFill>
            <a:ln w="9525">
              <a:noFill/>
              <a:round/>
              <a:headEnd/>
              <a:tailEnd/>
            </a:ln>
          </p:spPr>
          <p:txBody>
            <a:bodyPr vert="horz" wrap="square" lIns="91404" tIns="45702" rIns="91404" bIns="45702" numCol="1" anchor="t" anchorCtr="0" compatLnSpc="1">
              <a:prstTxWarp prst="textNoShape">
                <a:avLst/>
              </a:prstTxWarp>
            </a:bodyPr>
            <a:lstStyle/>
            <a:p>
              <a:pPr defTabSz="1218784">
                <a:defRPr/>
              </a:pPr>
              <a:endParaRPr lang="zh-CN" altLang="en-US" sz="2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Freeform 16">
              <a:extLst>
                <a:ext uri="{FF2B5EF4-FFF2-40B4-BE49-F238E27FC236}">
                  <a16:creationId xmlns:a16="http://schemas.microsoft.com/office/drawing/2014/main" id="{8CB13BA1-0D6E-484F-A2C5-91091AE52BDB}"/>
                </a:ext>
              </a:extLst>
            </p:cNvPr>
            <p:cNvSpPr>
              <a:spLocks noEditPoints="1"/>
            </p:cNvSpPr>
            <p:nvPr/>
          </p:nvSpPr>
          <p:spPr bwMode="gray">
            <a:xfrm>
              <a:off x="5886788" y="3741261"/>
              <a:ext cx="438200" cy="320107"/>
            </a:xfrm>
            <a:custGeom>
              <a:avLst/>
              <a:gdLst/>
              <a:ahLst/>
              <a:cxnLst>
                <a:cxn ang="0">
                  <a:pos x="38" y="0"/>
                </a:cxn>
                <a:cxn ang="0">
                  <a:pos x="30" y="2"/>
                </a:cxn>
                <a:cxn ang="0">
                  <a:pos x="16" y="8"/>
                </a:cxn>
                <a:cxn ang="0">
                  <a:pos x="6" y="18"/>
                </a:cxn>
                <a:cxn ang="0">
                  <a:pos x="0" y="32"/>
                </a:cxn>
                <a:cxn ang="0">
                  <a:pos x="0" y="96"/>
                </a:cxn>
                <a:cxn ang="0">
                  <a:pos x="0" y="104"/>
                </a:cxn>
                <a:cxn ang="0">
                  <a:pos x="6" y="118"/>
                </a:cxn>
                <a:cxn ang="0">
                  <a:pos x="16" y="128"/>
                </a:cxn>
                <a:cxn ang="0">
                  <a:pos x="30" y="134"/>
                </a:cxn>
                <a:cxn ang="0">
                  <a:pos x="166" y="136"/>
                </a:cxn>
                <a:cxn ang="0">
                  <a:pos x="174" y="134"/>
                </a:cxn>
                <a:cxn ang="0">
                  <a:pos x="188" y="128"/>
                </a:cxn>
                <a:cxn ang="0">
                  <a:pos x="198" y="118"/>
                </a:cxn>
                <a:cxn ang="0">
                  <a:pos x="204" y="104"/>
                </a:cxn>
                <a:cxn ang="0">
                  <a:pos x="206" y="40"/>
                </a:cxn>
                <a:cxn ang="0">
                  <a:pos x="204" y="32"/>
                </a:cxn>
                <a:cxn ang="0">
                  <a:pos x="198" y="18"/>
                </a:cxn>
                <a:cxn ang="0">
                  <a:pos x="188" y="8"/>
                </a:cxn>
                <a:cxn ang="0">
                  <a:pos x="174" y="2"/>
                </a:cxn>
                <a:cxn ang="0">
                  <a:pos x="166" y="0"/>
                </a:cxn>
                <a:cxn ang="0">
                  <a:pos x="196" y="116"/>
                </a:cxn>
                <a:cxn ang="0">
                  <a:pos x="194" y="116"/>
                </a:cxn>
                <a:cxn ang="0">
                  <a:pos x="190" y="116"/>
                </a:cxn>
                <a:cxn ang="0">
                  <a:pos x="106" y="92"/>
                </a:cxn>
                <a:cxn ang="0">
                  <a:pos x="102" y="94"/>
                </a:cxn>
                <a:cxn ang="0">
                  <a:pos x="100" y="92"/>
                </a:cxn>
                <a:cxn ang="0">
                  <a:pos x="16" y="114"/>
                </a:cxn>
                <a:cxn ang="0">
                  <a:pos x="14" y="114"/>
                </a:cxn>
                <a:cxn ang="0">
                  <a:pos x="14" y="114"/>
                </a:cxn>
                <a:cxn ang="0">
                  <a:pos x="10" y="114"/>
                </a:cxn>
                <a:cxn ang="0">
                  <a:pos x="10" y="110"/>
                </a:cxn>
                <a:cxn ang="0">
                  <a:pos x="12" y="108"/>
                </a:cxn>
                <a:cxn ang="0">
                  <a:pos x="14" y="22"/>
                </a:cxn>
                <a:cxn ang="0">
                  <a:pos x="14" y="18"/>
                </a:cxn>
                <a:cxn ang="0">
                  <a:pos x="14" y="16"/>
                </a:cxn>
                <a:cxn ang="0">
                  <a:pos x="20" y="16"/>
                </a:cxn>
                <a:cxn ang="0">
                  <a:pos x="102" y="84"/>
                </a:cxn>
                <a:cxn ang="0">
                  <a:pos x="184" y="14"/>
                </a:cxn>
                <a:cxn ang="0">
                  <a:pos x="188" y="14"/>
                </a:cxn>
                <a:cxn ang="0">
                  <a:pos x="190" y="16"/>
                </a:cxn>
                <a:cxn ang="0">
                  <a:pos x="190" y="22"/>
                </a:cxn>
                <a:cxn ang="0">
                  <a:pos x="196" y="110"/>
                </a:cxn>
                <a:cxn ang="0">
                  <a:pos x="198" y="112"/>
                </a:cxn>
                <a:cxn ang="0">
                  <a:pos x="198" y="112"/>
                </a:cxn>
                <a:cxn ang="0">
                  <a:pos x="196" y="116"/>
                </a:cxn>
              </a:cxnLst>
              <a:rect l="0" t="0" r="r" b="b"/>
              <a:pathLst>
                <a:path w="206" h="136">
                  <a:moveTo>
                    <a:pt x="166" y="0"/>
                  </a:moveTo>
                  <a:lnTo>
                    <a:pt x="38" y="0"/>
                  </a:lnTo>
                  <a:lnTo>
                    <a:pt x="38" y="0"/>
                  </a:lnTo>
                  <a:lnTo>
                    <a:pt x="30" y="2"/>
                  </a:lnTo>
                  <a:lnTo>
                    <a:pt x="24" y="4"/>
                  </a:lnTo>
                  <a:lnTo>
                    <a:pt x="16" y="8"/>
                  </a:lnTo>
                  <a:lnTo>
                    <a:pt x="10" y="12"/>
                  </a:lnTo>
                  <a:lnTo>
                    <a:pt x="6" y="18"/>
                  </a:lnTo>
                  <a:lnTo>
                    <a:pt x="2" y="24"/>
                  </a:lnTo>
                  <a:lnTo>
                    <a:pt x="0" y="32"/>
                  </a:lnTo>
                  <a:lnTo>
                    <a:pt x="0" y="40"/>
                  </a:lnTo>
                  <a:lnTo>
                    <a:pt x="0" y="96"/>
                  </a:lnTo>
                  <a:lnTo>
                    <a:pt x="0" y="96"/>
                  </a:lnTo>
                  <a:lnTo>
                    <a:pt x="0" y="104"/>
                  </a:lnTo>
                  <a:lnTo>
                    <a:pt x="2" y="112"/>
                  </a:lnTo>
                  <a:lnTo>
                    <a:pt x="6" y="118"/>
                  </a:lnTo>
                  <a:lnTo>
                    <a:pt x="10" y="124"/>
                  </a:lnTo>
                  <a:lnTo>
                    <a:pt x="16" y="128"/>
                  </a:lnTo>
                  <a:lnTo>
                    <a:pt x="24" y="132"/>
                  </a:lnTo>
                  <a:lnTo>
                    <a:pt x="30" y="134"/>
                  </a:lnTo>
                  <a:lnTo>
                    <a:pt x="38" y="136"/>
                  </a:lnTo>
                  <a:lnTo>
                    <a:pt x="166" y="136"/>
                  </a:lnTo>
                  <a:lnTo>
                    <a:pt x="166" y="136"/>
                  </a:lnTo>
                  <a:lnTo>
                    <a:pt x="174" y="134"/>
                  </a:lnTo>
                  <a:lnTo>
                    <a:pt x="182" y="132"/>
                  </a:lnTo>
                  <a:lnTo>
                    <a:pt x="188" y="128"/>
                  </a:lnTo>
                  <a:lnTo>
                    <a:pt x="194" y="124"/>
                  </a:lnTo>
                  <a:lnTo>
                    <a:pt x="198" y="118"/>
                  </a:lnTo>
                  <a:lnTo>
                    <a:pt x="202" y="112"/>
                  </a:lnTo>
                  <a:lnTo>
                    <a:pt x="204" y="104"/>
                  </a:lnTo>
                  <a:lnTo>
                    <a:pt x="206" y="96"/>
                  </a:lnTo>
                  <a:lnTo>
                    <a:pt x="206" y="40"/>
                  </a:lnTo>
                  <a:lnTo>
                    <a:pt x="206" y="40"/>
                  </a:lnTo>
                  <a:lnTo>
                    <a:pt x="204" y="32"/>
                  </a:lnTo>
                  <a:lnTo>
                    <a:pt x="202" y="24"/>
                  </a:lnTo>
                  <a:lnTo>
                    <a:pt x="198" y="18"/>
                  </a:lnTo>
                  <a:lnTo>
                    <a:pt x="194" y="12"/>
                  </a:lnTo>
                  <a:lnTo>
                    <a:pt x="188" y="8"/>
                  </a:lnTo>
                  <a:lnTo>
                    <a:pt x="182" y="4"/>
                  </a:lnTo>
                  <a:lnTo>
                    <a:pt x="174" y="2"/>
                  </a:lnTo>
                  <a:lnTo>
                    <a:pt x="166" y="0"/>
                  </a:lnTo>
                  <a:lnTo>
                    <a:pt x="166" y="0"/>
                  </a:lnTo>
                  <a:close/>
                  <a:moveTo>
                    <a:pt x="196" y="116"/>
                  </a:moveTo>
                  <a:lnTo>
                    <a:pt x="196" y="116"/>
                  </a:lnTo>
                  <a:lnTo>
                    <a:pt x="194" y="116"/>
                  </a:lnTo>
                  <a:lnTo>
                    <a:pt x="194" y="116"/>
                  </a:lnTo>
                  <a:lnTo>
                    <a:pt x="194" y="116"/>
                  </a:lnTo>
                  <a:lnTo>
                    <a:pt x="190" y="116"/>
                  </a:lnTo>
                  <a:lnTo>
                    <a:pt x="136" y="66"/>
                  </a:lnTo>
                  <a:lnTo>
                    <a:pt x="106" y="92"/>
                  </a:lnTo>
                  <a:lnTo>
                    <a:pt x="106" y="92"/>
                  </a:lnTo>
                  <a:lnTo>
                    <a:pt x="102" y="94"/>
                  </a:lnTo>
                  <a:lnTo>
                    <a:pt x="102" y="94"/>
                  </a:lnTo>
                  <a:lnTo>
                    <a:pt x="100" y="92"/>
                  </a:lnTo>
                  <a:lnTo>
                    <a:pt x="68" y="66"/>
                  </a:lnTo>
                  <a:lnTo>
                    <a:pt x="16" y="114"/>
                  </a:lnTo>
                  <a:lnTo>
                    <a:pt x="16" y="114"/>
                  </a:lnTo>
                  <a:lnTo>
                    <a:pt x="14" y="114"/>
                  </a:lnTo>
                  <a:lnTo>
                    <a:pt x="14" y="114"/>
                  </a:lnTo>
                  <a:lnTo>
                    <a:pt x="14" y="114"/>
                  </a:lnTo>
                  <a:lnTo>
                    <a:pt x="10" y="114"/>
                  </a:lnTo>
                  <a:lnTo>
                    <a:pt x="10" y="114"/>
                  </a:lnTo>
                  <a:lnTo>
                    <a:pt x="10" y="110"/>
                  </a:lnTo>
                  <a:lnTo>
                    <a:pt x="10" y="110"/>
                  </a:lnTo>
                  <a:lnTo>
                    <a:pt x="10" y="110"/>
                  </a:lnTo>
                  <a:lnTo>
                    <a:pt x="12" y="108"/>
                  </a:lnTo>
                  <a:lnTo>
                    <a:pt x="62" y="60"/>
                  </a:lnTo>
                  <a:lnTo>
                    <a:pt x="14" y="22"/>
                  </a:lnTo>
                  <a:lnTo>
                    <a:pt x="14" y="22"/>
                  </a:lnTo>
                  <a:lnTo>
                    <a:pt x="14" y="18"/>
                  </a:lnTo>
                  <a:lnTo>
                    <a:pt x="14" y="16"/>
                  </a:lnTo>
                  <a:lnTo>
                    <a:pt x="14" y="16"/>
                  </a:lnTo>
                  <a:lnTo>
                    <a:pt x="18" y="14"/>
                  </a:lnTo>
                  <a:lnTo>
                    <a:pt x="20" y="16"/>
                  </a:lnTo>
                  <a:lnTo>
                    <a:pt x="24" y="18"/>
                  </a:lnTo>
                  <a:lnTo>
                    <a:pt x="102" y="84"/>
                  </a:lnTo>
                  <a:lnTo>
                    <a:pt x="180" y="18"/>
                  </a:lnTo>
                  <a:lnTo>
                    <a:pt x="184" y="14"/>
                  </a:lnTo>
                  <a:lnTo>
                    <a:pt x="184" y="14"/>
                  </a:lnTo>
                  <a:lnTo>
                    <a:pt x="188" y="14"/>
                  </a:lnTo>
                  <a:lnTo>
                    <a:pt x="190" y="16"/>
                  </a:lnTo>
                  <a:lnTo>
                    <a:pt x="190" y="16"/>
                  </a:lnTo>
                  <a:lnTo>
                    <a:pt x="192" y="18"/>
                  </a:lnTo>
                  <a:lnTo>
                    <a:pt x="190" y="22"/>
                  </a:lnTo>
                  <a:lnTo>
                    <a:pt x="142" y="60"/>
                  </a:lnTo>
                  <a:lnTo>
                    <a:pt x="196" y="110"/>
                  </a:lnTo>
                  <a:lnTo>
                    <a:pt x="196" y="110"/>
                  </a:lnTo>
                  <a:lnTo>
                    <a:pt x="198" y="112"/>
                  </a:lnTo>
                  <a:lnTo>
                    <a:pt x="198" y="112"/>
                  </a:lnTo>
                  <a:lnTo>
                    <a:pt x="198" y="112"/>
                  </a:lnTo>
                  <a:lnTo>
                    <a:pt x="196" y="116"/>
                  </a:lnTo>
                  <a:lnTo>
                    <a:pt x="196" y="116"/>
                  </a:lnTo>
                  <a:close/>
                </a:path>
              </a:pathLst>
            </a:custGeom>
            <a:solidFill>
              <a:sysClr val="window" lastClr="FFFFFF"/>
            </a:solidFill>
            <a:ln w="9525">
              <a:noFill/>
              <a:round/>
              <a:headEnd/>
              <a:tailEnd/>
            </a:ln>
          </p:spPr>
          <p:txBody>
            <a:bodyPr vert="horz" wrap="square" lIns="91404" tIns="45702" rIns="91404" bIns="45702" numCol="1" anchor="t" anchorCtr="0" compatLnSpc="1">
              <a:prstTxWarp prst="textNoShape">
                <a:avLst/>
              </a:prstTxWarp>
            </a:bodyPr>
            <a:lstStyle/>
            <a:p>
              <a:pPr defTabSz="1218784">
                <a:defRPr/>
              </a:pPr>
              <a:endParaRPr lang="zh-CN" altLang="en-US" sz="2399" kern="0" dirty="0">
                <a:solidFill>
                  <a:prstClr val="black"/>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0" name="矩形 55">
              <a:extLst>
                <a:ext uri="{FF2B5EF4-FFF2-40B4-BE49-F238E27FC236}">
                  <a16:creationId xmlns:a16="http://schemas.microsoft.com/office/drawing/2014/main" id="{B024A044-8E7B-4BD4-84AB-0F4768A7648B}"/>
                </a:ext>
              </a:extLst>
            </p:cNvPr>
            <p:cNvSpPr/>
            <p:nvPr/>
          </p:nvSpPr>
          <p:spPr bwMode="gray">
            <a:xfrm>
              <a:off x="5713540" y="4098965"/>
              <a:ext cx="799907" cy="276891"/>
            </a:xfrm>
            <a:prstGeom prst="rect">
              <a:avLst/>
            </a:prstGeom>
          </p:spPr>
          <p:txBody>
            <a:bodyPr wrap="none">
              <a:spAutoFit/>
            </a:bodyPr>
            <a:lstStyle/>
            <a:p>
              <a:pPr defTabSz="1218784"/>
              <a:r>
                <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邮件开局</a:t>
              </a:r>
              <a:endParaRPr 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56">
              <a:extLst>
                <a:ext uri="{FF2B5EF4-FFF2-40B4-BE49-F238E27FC236}">
                  <a16:creationId xmlns:a16="http://schemas.microsoft.com/office/drawing/2014/main" id="{6D01EF6D-8F83-494B-8140-018700362784}"/>
                </a:ext>
              </a:extLst>
            </p:cNvPr>
            <p:cNvSpPr/>
            <p:nvPr/>
          </p:nvSpPr>
          <p:spPr bwMode="gray">
            <a:xfrm>
              <a:off x="3086308" y="4098965"/>
              <a:ext cx="756642" cy="276891"/>
            </a:xfrm>
            <a:prstGeom prst="rect">
              <a:avLst/>
            </a:prstGeom>
          </p:spPr>
          <p:txBody>
            <a:bodyPr wrap="none">
              <a:spAutoFit/>
            </a:bodyPr>
            <a:lstStyle/>
            <a:p>
              <a:pPr defTabSz="1218784"/>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U</a:t>
              </a:r>
              <a:r>
                <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盘开局</a:t>
              </a:r>
              <a:endParaRPr 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2" name="Group 4">
              <a:extLst>
                <a:ext uri="{FF2B5EF4-FFF2-40B4-BE49-F238E27FC236}">
                  <a16:creationId xmlns:a16="http://schemas.microsoft.com/office/drawing/2014/main" id="{3C5AE759-D140-4F91-BFF4-57536294F3F4}"/>
                </a:ext>
              </a:extLst>
            </p:cNvPr>
            <p:cNvGrpSpPr>
              <a:grpSpLocks noChangeAspect="1"/>
            </p:cNvGrpSpPr>
            <p:nvPr/>
          </p:nvGrpSpPr>
          <p:grpSpPr bwMode="gray">
            <a:xfrm>
              <a:off x="2686180" y="1932587"/>
              <a:ext cx="648544" cy="550206"/>
              <a:chOff x="2083" y="941"/>
              <a:chExt cx="1596" cy="1354"/>
            </a:xfrm>
            <a:solidFill>
              <a:srgbClr val="56C4D2"/>
            </a:solidFill>
          </p:grpSpPr>
          <p:sp>
            <p:nvSpPr>
              <p:cNvPr id="96" name="Freeform 5">
                <a:extLst>
                  <a:ext uri="{FF2B5EF4-FFF2-40B4-BE49-F238E27FC236}">
                    <a16:creationId xmlns:a16="http://schemas.microsoft.com/office/drawing/2014/main" id="{1BEA42C2-5670-49BA-8D27-6F5F22EDD3D6}"/>
                  </a:ext>
                </a:extLst>
              </p:cNvPr>
              <p:cNvSpPr>
                <a:spLocks/>
              </p:cNvSpPr>
              <p:nvPr/>
            </p:nvSpPr>
            <p:spPr bwMode="gray">
              <a:xfrm>
                <a:off x="2083" y="941"/>
                <a:ext cx="1596" cy="1354"/>
              </a:xfrm>
              <a:custGeom>
                <a:avLst/>
                <a:gdLst>
                  <a:gd name="T0" fmla="*/ 593 w 673"/>
                  <a:gd name="T1" fmla="*/ 172 h 570"/>
                  <a:gd name="T2" fmla="*/ 593 w 673"/>
                  <a:gd name="T3" fmla="*/ 172 h 570"/>
                  <a:gd name="T4" fmla="*/ 337 w 673"/>
                  <a:gd name="T5" fmla="*/ 0 h 570"/>
                  <a:gd name="T6" fmla="*/ 80 w 673"/>
                  <a:gd name="T7" fmla="*/ 172 h 570"/>
                  <a:gd name="T8" fmla="*/ 80 w 673"/>
                  <a:gd name="T9" fmla="*/ 172 h 570"/>
                  <a:gd name="T10" fmla="*/ 0 w 673"/>
                  <a:gd name="T11" fmla="*/ 252 h 570"/>
                  <a:gd name="T12" fmla="*/ 0 w 673"/>
                  <a:gd name="T13" fmla="*/ 301 h 570"/>
                  <a:gd name="T14" fmla="*/ 79 w 673"/>
                  <a:gd name="T15" fmla="*/ 381 h 570"/>
                  <a:gd name="T16" fmla="*/ 80 w 673"/>
                  <a:gd name="T17" fmla="*/ 381 h 570"/>
                  <a:gd name="T18" fmla="*/ 80 w 673"/>
                  <a:gd name="T19" fmla="*/ 381 h 570"/>
                  <a:gd name="T20" fmla="*/ 80 w 673"/>
                  <a:gd name="T21" fmla="*/ 381 h 570"/>
                  <a:gd name="T22" fmla="*/ 103 w 673"/>
                  <a:gd name="T23" fmla="*/ 381 h 570"/>
                  <a:gd name="T24" fmla="*/ 80 w 673"/>
                  <a:gd name="T25" fmla="*/ 277 h 570"/>
                  <a:gd name="T26" fmla="*/ 337 w 673"/>
                  <a:gd name="T27" fmla="*/ 21 h 570"/>
                  <a:gd name="T28" fmla="*/ 593 w 673"/>
                  <a:gd name="T29" fmla="*/ 277 h 570"/>
                  <a:gd name="T30" fmla="*/ 593 w 673"/>
                  <a:gd name="T31" fmla="*/ 277 h 570"/>
                  <a:gd name="T32" fmla="*/ 390 w 673"/>
                  <a:gd name="T33" fmla="*/ 527 h 570"/>
                  <a:gd name="T34" fmla="*/ 365 w 673"/>
                  <a:gd name="T35" fmla="*/ 513 h 570"/>
                  <a:gd name="T36" fmla="*/ 308 w 673"/>
                  <a:gd name="T37" fmla="*/ 513 h 570"/>
                  <a:gd name="T38" fmla="*/ 279 w 673"/>
                  <a:gd name="T39" fmla="*/ 541 h 570"/>
                  <a:gd name="T40" fmla="*/ 308 w 673"/>
                  <a:gd name="T41" fmla="*/ 570 h 570"/>
                  <a:gd name="T42" fmla="*/ 365 w 673"/>
                  <a:gd name="T43" fmla="*/ 570 h 570"/>
                  <a:gd name="T44" fmla="*/ 393 w 673"/>
                  <a:gd name="T45" fmla="*/ 548 h 570"/>
                  <a:gd name="T46" fmla="*/ 593 w 673"/>
                  <a:gd name="T47" fmla="*/ 381 h 570"/>
                  <a:gd name="T48" fmla="*/ 593 w 673"/>
                  <a:gd name="T49" fmla="*/ 381 h 570"/>
                  <a:gd name="T50" fmla="*/ 673 w 673"/>
                  <a:gd name="T51" fmla="*/ 301 h 570"/>
                  <a:gd name="T52" fmla="*/ 673 w 673"/>
                  <a:gd name="T53" fmla="*/ 252 h 570"/>
                  <a:gd name="T54" fmla="*/ 593 w 673"/>
                  <a:gd name="T55" fmla="*/ 172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3" h="570">
                    <a:moveTo>
                      <a:pt x="593" y="172"/>
                    </a:moveTo>
                    <a:cubicBezTo>
                      <a:pt x="593" y="172"/>
                      <a:pt x="593" y="172"/>
                      <a:pt x="593" y="172"/>
                    </a:cubicBezTo>
                    <a:cubicBezTo>
                      <a:pt x="552" y="71"/>
                      <a:pt x="452" y="0"/>
                      <a:pt x="337" y="0"/>
                    </a:cubicBezTo>
                    <a:cubicBezTo>
                      <a:pt x="221" y="0"/>
                      <a:pt x="122" y="71"/>
                      <a:pt x="80" y="172"/>
                    </a:cubicBezTo>
                    <a:cubicBezTo>
                      <a:pt x="80" y="172"/>
                      <a:pt x="80" y="172"/>
                      <a:pt x="80" y="172"/>
                    </a:cubicBezTo>
                    <a:cubicBezTo>
                      <a:pt x="36" y="172"/>
                      <a:pt x="0" y="208"/>
                      <a:pt x="0" y="252"/>
                    </a:cubicBezTo>
                    <a:cubicBezTo>
                      <a:pt x="0" y="301"/>
                      <a:pt x="0" y="301"/>
                      <a:pt x="0" y="301"/>
                    </a:cubicBezTo>
                    <a:cubicBezTo>
                      <a:pt x="0" y="345"/>
                      <a:pt x="36" y="381"/>
                      <a:pt x="79" y="381"/>
                    </a:cubicBezTo>
                    <a:cubicBezTo>
                      <a:pt x="80" y="381"/>
                      <a:pt x="80" y="381"/>
                      <a:pt x="80" y="381"/>
                    </a:cubicBezTo>
                    <a:cubicBezTo>
                      <a:pt x="80" y="381"/>
                      <a:pt x="80" y="381"/>
                      <a:pt x="80" y="381"/>
                    </a:cubicBezTo>
                    <a:cubicBezTo>
                      <a:pt x="80" y="381"/>
                      <a:pt x="80" y="381"/>
                      <a:pt x="80" y="381"/>
                    </a:cubicBezTo>
                    <a:cubicBezTo>
                      <a:pt x="103" y="381"/>
                      <a:pt x="103" y="381"/>
                      <a:pt x="103" y="381"/>
                    </a:cubicBezTo>
                    <a:cubicBezTo>
                      <a:pt x="88" y="349"/>
                      <a:pt x="80" y="314"/>
                      <a:pt x="80" y="277"/>
                    </a:cubicBezTo>
                    <a:cubicBezTo>
                      <a:pt x="80" y="135"/>
                      <a:pt x="195" y="21"/>
                      <a:pt x="337" y="21"/>
                    </a:cubicBezTo>
                    <a:cubicBezTo>
                      <a:pt x="478" y="21"/>
                      <a:pt x="593" y="135"/>
                      <a:pt x="593" y="277"/>
                    </a:cubicBezTo>
                    <a:cubicBezTo>
                      <a:pt x="593" y="277"/>
                      <a:pt x="593" y="277"/>
                      <a:pt x="593" y="277"/>
                    </a:cubicBezTo>
                    <a:cubicBezTo>
                      <a:pt x="593" y="400"/>
                      <a:pt x="506" y="503"/>
                      <a:pt x="390" y="527"/>
                    </a:cubicBezTo>
                    <a:cubicBezTo>
                      <a:pt x="386" y="519"/>
                      <a:pt x="376" y="513"/>
                      <a:pt x="365" y="513"/>
                    </a:cubicBezTo>
                    <a:cubicBezTo>
                      <a:pt x="308" y="513"/>
                      <a:pt x="308" y="513"/>
                      <a:pt x="308" y="513"/>
                    </a:cubicBezTo>
                    <a:cubicBezTo>
                      <a:pt x="292" y="513"/>
                      <a:pt x="279" y="526"/>
                      <a:pt x="279" y="541"/>
                    </a:cubicBezTo>
                    <a:cubicBezTo>
                      <a:pt x="279" y="557"/>
                      <a:pt x="292" y="570"/>
                      <a:pt x="308" y="570"/>
                    </a:cubicBezTo>
                    <a:cubicBezTo>
                      <a:pt x="365" y="570"/>
                      <a:pt x="365" y="570"/>
                      <a:pt x="365" y="570"/>
                    </a:cubicBezTo>
                    <a:cubicBezTo>
                      <a:pt x="379" y="570"/>
                      <a:pt x="390" y="561"/>
                      <a:pt x="393" y="548"/>
                    </a:cubicBezTo>
                    <a:cubicBezTo>
                      <a:pt x="484" y="529"/>
                      <a:pt x="559" y="465"/>
                      <a:pt x="593" y="381"/>
                    </a:cubicBezTo>
                    <a:cubicBezTo>
                      <a:pt x="593" y="381"/>
                      <a:pt x="593" y="381"/>
                      <a:pt x="593" y="381"/>
                    </a:cubicBezTo>
                    <a:cubicBezTo>
                      <a:pt x="637" y="381"/>
                      <a:pt x="673" y="346"/>
                      <a:pt x="673" y="301"/>
                    </a:cubicBezTo>
                    <a:cubicBezTo>
                      <a:pt x="673" y="252"/>
                      <a:pt x="673" y="252"/>
                      <a:pt x="673" y="252"/>
                    </a:cubicBezTo>
                    <a:cubicBezTo>
                      <a:pt x="673" y="208"/>
                      <a:pt x="637" y="172"/>
                      <a:pt x="593" y="172"/>
                    </a:cubicBezTo>
                    <a:close/>
                  </a:path>
                </a:pathLst>
              </a:custGeom>
              <a:grpFill/>
              <a:ln w="12700" cap="flat" cmpd="sng" algn="ctr">
                <a:noFill/>
                <a:prstDash val="solid"/>
              </a:ln>
              <a:effectLst/>
            </p:spPr>
            <p:txBody>
              <a:bodyPr wrap="none" lIns="0" tIns="0" rIns="0" bIns="0" rtlCol="0" anchor="ctr"/>
              <a:lstStyle/>
              <a:p>
                <a:pPr algn="ctr" defTabSz="1218784">
                  <a:buClr>
                    <a:srgbClr val="CC9900"/>
                  </a:buClr>
                  <a:buFont typeface="Wingdings" pitchFamily="2" charset="2"/>
                  <a:buChar char="n"/>
                  <a:defRPr/>
                </a:pPr>
                <a:endParaRPr lang="zh-CN" altLang="en-US" sz="1349" b="1" kern="0" dirty="0">
                  <a:solidFill>
                    <a:prstClr val="black"/>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7" name="Freeform 6">
                <a:extLst>
                  <a:ext uri="{FF2B5EF4-FFF2-40B4-BE49-F238E27FC236}">
                    <a16:creationId xmlns:a16="http://schemas.microsoft.com/office/drawing/2014/main" id="{BA6BA4CA-92EE-4934-A3B0-10A76DA385A3}"/>
                  </a:ext>
                </a:extLst>
              </p:cNvPr>
              <p:cNvSpPr>
                <a:spLocks noEditPoints="1"/>
              </p:cNvSpPr>
              <p:nvPr/>
            </p:nvSpPr>
            <p:spPr bwMode="gray">
              <a:xfrm>
                <a:off x="2363" y="1078"/>
                <a:ext cx="1036" cy="1039"/>
              </a:xfrm>
              <a:custGeom>
                <a:avLst/>
                <a:gdLst>
                  <a:gd name="T0" fmla="*/ 437 w 437"/>
                  <a:gd name="T1" fmla="*/ 219 h 437"/>
                  <a:gd name="T2" fmla="*/ 219 w 437"/>
                  <a:gd name="T3" fmla="*/ 0 h 437"/>
                  <a:gd name="T4" fmla="*/ 0 w 437"/>
                  <a:gd name="T5" fmla="*/ 219 h 437"/>
                  <a:gd name="T6" fmla="*/ 219 w 437"/>
                  <a:gd name="T7" fmla="*/ 437 h 437"/>
                  <a:gd name="T8" fmla="*/ 437 w 437"/>
                  <a:gd name="T9" fmla="*/ 219 h 437"/>
                  <a:gd name="T10" fmla="*/ 304 w 437"/>
                  <a:gd name="T11" fmla="*/ 135 h 437"/>
                  <a:gd name="T12" fmla="*/ 329 w 437"/>
                  <a:gd name="T13" fmla="*/ 160 h 437"/>
                  <a:gd name="T14" fmla="*/ 304 w 437"/>
                  <a:gd name="T15" fmla="*/ 186 h 437"/>
                  <a:gd name="T16" fmla="*/ 278 w 437"/>
                  <a:gd name="T17" fmla="*/ 160 h 437"/>
                  <a:gd name="T18" fmla="*/ 304 w 437"/>
                  <a:gd name="T19" fmla="*/ 135 h 437"/>
                  <a:gd name="T20" fmla="*/ 134 w 437"/>
                  <a:gd name="T21" fmla="*/ 135 h 437"/>
                  <a:gd name="T22" fmla="*/ 159 w 437"/>
                  <a:gd name="T23" fmla="*/ 160 h 437"/>
                  <a:gd name="T24" fmla="*/ 134 w 437"/>
                  <a:gd name="T25" fmla="*/ 186 h 437"/>
                  <a:gd name="T26" fmla="*/ 108 w 437"/>
                  <a:gd name="T27" fmla="*/ 160 h 437"/>
                  <a:gd name="T28" fmla="*/ 134 w 437"/>
                  <a:gd name="T29" fmla="*/ 135 h 437"/>
                  <a:gd name="T30" fmla="*/ 79 w 437"/>
                  <a:gd name="T31" fmla="*/ 290 h 437"/>
                  <a:gd name="T32" fmla="*/ 83 w 437"/>
                  <a:gd name="T33" fmla="*/ 276 h 437"/>
                  <a:gd name="T34" fmla="*/ 97 w 437"/>
                  <a:gd name="T35" fmla="*/ 281 h 437"/>
                  <a:gd name="T36" fmla="*/ 219 w 437"/>
                  <a:gd name="T37" fmla="*/ 355 h 437"/>
                  <a:gd name="T38" fmla="*/ 340 w 437"/>
                  <a:gd name="T39" fmla="*/ 281 h 437"/>
                  <a:gd name="T40" fmla="*/ 354 w 437"/>
                  <a:gd name="T41" fmla="*/ 276 h 437"/>
                  <a:gd name="T42" fmla="*/ 358 w 437"/>
                  <a:gd name="T43" fmla="*/ 290 h 437"/>
                  <a:gd name="T44" fmla="*/ 219 w 437"/>
                  <a:gd name="T45" fmla="*/ 376 h 437"/>
                  <a:gd name="T46" fmla="*/ 79 w 437"/>
                  <a:gd name="T47" fmla="*/ 29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37" h="437">
                    <a:moveTo>
                      <a:pt x="437" y="219"/>
                    </a:moveTo>
                    <a:cubicBezTo>
                      <a:pt x="437" y="98"/>
                      <a:pt x="339" y="0"/>
                      <a:pt x="219" y="0"/>
                    </a:cubicBezTo>
                    <a:cubicBezTo>
                      <a:pt x="98" y="0"/>
                      <a:pt x="0" y="98"/>
                      <a:pt x="0" y="219"/>
                    </a:cubicBezTo>
                    <a:cubicBezTo>
                      <a:pt x="0" y="339"/>
                      <a:pt x="98" y="437"/>
                      <a:pt x="219" y="437"/>
                    </a:cubicBezTo>
                    <a:cubicBezTo>
                      <a:pt x="339" y="437"/>
                      <a:pt x="437" y="339"/>
                      <a:pt x="437" y="219"/>
                    </a:cubicBezTo>
                    <a:close/>
                    <a:moveTo>
                      <a:pt x="304" y="135"/>
                    </a:moveTo>
                    <a:cubicBezTo>
                      <a:pt x="318" y="135"/>
                      <a:pt x="329" y="146"/>
                      <a:pt x="329" y="160"/>
                    </a:cubicBezTo>
                    <a:cubicBezTo>
                      <a:pt x="329" y="175"/>
                      <a:pt x="318" y="186"/>
                      <a:pt x="304" y="186"/>
                    </a:cubicBezTo>
                    <a:cubicBezTo>
                      <a:pt x="290" y="186"/>
                      <a:pt x="278" y="175"/>
                      <a:pt x="278" y="160"/>
                    </a:cubicBezTo>
                    <a:cubicBezTo>
                      <a:pt x="278" y="146"/>
                      <a:pt x="290" y="135"/>
                      <a:pt x="304" y="135"/>
                    </a:cubicBezTo>
                    <a:close/>
                    <a:moveTo>
                      <a:pt x="134" y="135"/>
                    </a:moveTo>
                    <a:cubicBezTo>
                      <a:pt x="148" y="135"/>
                      <a:pt x="159" y="146"/>
                      <a:pt x="159" y="160"/>
                    </a:cubicBezTo>
                    <a:cubicBezTo>
                      <a:pt x="159" y="175"/>
                      <a:pt x="148" y="186"/>
                      <a:pt x="134" y="186"/>
                    </a:cubicBezTo>
                    <a:cubicBezTo>
                      <a:pt x="119" y="186"/>
                      <a:pt x="108" y="175"/>
                      <a:pt x="108" y="160"/>
                    </a:cubicBezTo>
                    <a:cubicBezTo>
                      <a:pt x="108" y="146"/>
                      <a:pt x="119" y="135"/>
                      <a:pt x="134" y="135"/>
                    </a:cubicBezTo>
                    <a:close/>
                    <a:moveTo>
                      <a:pt x="79" y="290"/>
                    </a:moveTo>
                    <a:cubicBezTo>
                      <a:pt x="76" y="285"/>
                      <a:pt x="78" y="279"/>
                      <a:pt x="83" y="276"/>
                    </a:cubicBezTo>
                    <a:cubicBezTo>
                      <a:pt x="89" y="274"/>
                      <a:pt x="95" y="276"/>
                      <a:pt x="97" y="281"/>
                    </a:cubicBezTo>
                    <a:cubicBezTo>
                      <a:pt x="120" y="325"/>
                      <a:pt x="166" y="355"/>
                      <a:pt x="219" y="355"/>
                    </a:cubicBezTo>
                    <a:cubicBezTo>
                      <a:pt x="272" y="355"/>
                      <a:pt x="317" y="325"/>
                      <a:pt x="340" y="281"/>
                    </a:cubicBezTo>
                    <a:cubicBezTo>
                      <a:pt x="343" y="276"/>
                      <a:pt x="349" y="274"/>
                      <a:pt x="354" y="276"/>
                    </a:cubicBezTo>
                    <a:cubicBezTo>
                      <a:pt x="359" y="279"/>
                      <a:pt x="361" y="285"/>
                      <a:pt x="358" y="290"/>
                    </a:cubicBezTo>
                    <a:cubicBezTo>
                      <a:pt x="332" y="341"/>
                      <a:pt x="280" y="376"/>
                      <a:pt x="219" y="376"/>
                    </a:cubicBezTo>
                    <a:cubicBezTo>
                      <a:pt x="158" y="376"/>
                      <a:pt x="105" y="341"/>
                      <a:pt x="79" y="290"/>
                    </a:cubicBezTo>
                    <a:close/>
                  </a:path>
                </a:pathLst>
              </a:custGeom>
              <a:grpFill/>
              <a:ln w="12700" cap="flat" cmpd="sng" algn="ctr">
                <a:noFill/>
                <a:prstDash val="solid"/>
              </a:ln>
              <a:effectLst/>
            </p:spPr>
            <p:txBody>
              <a:bodyPr wrap="none" lIns="0" tIns="0" rIns="0" bIns="0" rtlCol="0" anchor="ctr"/>
              <a:lstStyle/>
              <a:p>
                <a:pPr algn="ctr" defTabSz="1218784">
                  <a:buClr>
                    <a:srgbClr val="CC9900"/>
                  </a:buClr>
                  <a:buFont typeface="Wingdings" pitchFamily="2" charset="2"/>
                  <a:buChar char="n"/>
                  <a:defRPr/>
                </a:pPr>
                <a:endParaRPr lang="zh-CN" altLang="en-US" sz="1349" b="1" kern="0" dirty="0">
                  <a:solidFill>
                    <a:prstClr val="black"/>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sp>
          <p:nvSpPr>
            <p:cNvPr id="83" name="矩形 63">
              <a:extLst>
                <a:ext uri="{FF2B5EF4-FFF2-40B4-BE49-F238E27FC236}">
                  <a16:creationId xmlns:a16="http://schemas.microsoft.com/office/drawing/2014/main" id="{B08C43E1-9A7F-48BD-B95F-B35645E8B078}"/>
                </a:ext>
              </a:extLst>
            </p:cNvPr>
            <p:cNvSpPr/>
            <p:nvPr/>
          </p:nvSpPr>
          <p:spPr bwMode="gray">
            <a:xfrm>
              <a:off x="8189799" y="4098965"/>
              <a:ext cx="926495" cy="276891"/>
            </a:xfrm>
            <a:prstGeom prst="rect">
              <a:avLst/>
            </a:prstGeom>
          </p:spPr>
          <p:txBody>
            <a:bodyPr wrap="none">
              <a:spAutoFit/>
            </a:bodyPr>
            <a:lstStyle/>
            <a:p>
              <a:pPr defTabSz="1218784"/>
              <a:r>
                <a:rPr 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开局</a:t>
              </a:r>
              <a:endParaRPr 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4" name="Picture 2" descr="C:\Users\Administrator\Desktop\PPT小图标\45.png">
              <a:extLst>
                <a:ext uri="{FF2B5EF4-FFF2-40B4-BE49-F238E27FC236}">
                  <a16:creationId xmlns:a16="http://schemas.microsoft.com/office/drawing/2014/main" id="{A9197F0D-BC20-4B49-9A59-25E4C2FA746C}"/>
                </a:ext>
              </a:extLst>
            </p:cNvPr>
            <p:cNvPicPr>
              <a:picLocks noChangeAspect="1" noChangeArrowheads="1"/>
            </p:cNvPicPr>
            <p:nvPr/>
          </p:nvPicPr>
          <p:blipFill>
            <a:blip r:embed="rId3" cstate="print"/>
            <a:srcRect/>
            <a:stretch>
              <a:fillRect/>
            </a:stretch>
          </p:blipFill>
          <p:spPr bwMode="gray">
            <a:xfrm>
              <a:off x="8437642" y="3752616"/>
              <a:ext cx="441955" cy="308752"/>
            </a:xfrm>
            <a:prstGeom prst="rect">
              <a:avLst/>
            </a:prstGeom>
            <a:noFill/>
          </p:spPr>
        </p:pic>
        <p:sp>
          <p:nvSpPr>
            <p:cNvPr id="85" name="Rectangle 1">
              <a:extLst>
                <a:ext uri="{FF2B5EF4-FFF2-40B4-BE49-F238E27FC236}">
                  <a16:creationId xmlns:a16="http://schemas.microsoft.com/office/drawing/2014/main" id="{21E30064-BE4C-47E0-AD59-76D0CFE94532}"/>
                </a:ext>
              </a:extLst>
            </p:cNvPr>
            <p:cNvSpPr>
              <a:spLocks noChangeArrowheads="1"/>
            </p:cNvSpPr>
            <p:nvPr/>
          </p:nvSpPr>
          <p:spPr bwMode="gray">
            <a:xfrm>
              <a:off x="1691791" y="3866830"/>
              <a:ext cx="1253014" cy="479305"/>
            </a:xfrm>
            <a:prstGeom prst="rect">
              <a:avLst/>
            </a:prstGeom>
            <a:noFill/>
            <a:ln w="9525">
              <a:noFill/>
              <a:miter lim="800000"/>
              <a:headEnd/>
              <a:tailEnd/>
            </a:ln>
          </p:spPr>
          <p:txBody>
            <a:bodyPr lIns="91394" tIns="45698" rIns="91394" bIns="45698"/>
            <a:lstStyle/>
            <a:p>
              <a:pPr marL="0" lvl="2" defTabSz="912448">
                <a:spcBef>
                  <a:spcPts val="600"/>
                </a:spcBef>
                <a:buSzPct val="60000"/>
                <a:tabLst>
                  <a:tab pos="1369465" algn="l"/>
                </a:tabLs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库房批量操作设备，集中开局</a:t>
              </a:r>
            </a:p>
          </p:txBody>
        </p:sp>
        <p:sp>
          <p:nvSpPr>
            <p:cNvPr id="86" name="Rectangle 1">
              <a:extLst>
                <a:ext uri="{FF2B5EF4-FFF2-40B4-BE49-F238E27FC236}">
                  <a16:creationId xmlns:a16="http://schemas.microsoft.com/office/drawing/2014/main" id="{2F64D18A-64E9-44F3-8C94-B961EDDD9B39}"/>
                </a:ext>
              </a:extLst>
            </p:cNvPr>
            <p:cNvSpPr>
              <a:spLocks noChangeArrowheads="1"/>
            </p:cNvSpPr>
            <p:nvPr/>
          </p:nvSpPr>
          <p:spPr bwMode="gray">
            <a:xfrm>
              <a:off x="6892191" y="3840180"/>
              <a:ext cx="1257798" cy="437563"/>
            </a:xfrm>
            <a:prstGeom prst="rect">
              <a:avLst/>
            </a:prstGeom>
            <a:noFill/>
            <a:ln w="9525">
              <a:noFill/>
              <a:miter lim="800000"/>
              <a:headEnd/>
              <a:tailEnd/>
            </a:ln>
          </p:spPr>
          <p:txBody>
            <a:bodyPr lIns="91394" tIns="45698" rIns="91394" bIns="45698"/>
            <a:lstStyle/>
            <a:p>
              <a:pPr marL="0" lvl="2" defTabSz="912448">
                <a:spcBef>
                  <a:spcPts val="600"/>
                </a:spcBef>
                <a:buSzPct val="60000"/>
                <a:tabLst>
                  <a:tab pos="1369465" algn="l"/>
                </a:tabLs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场景，现场零技能要求</a:t>
              </a:r>
            </a:p>
          </p:txBody>
        </p:sp>
        <p:sp>
          <p:nvSpPr>
            <p:cNvPr id="87" name="Rectangle 1">
              <a:extLst>
                <a:ext uri="{FF2B5EF4-FFF2-40B4-BE49-F238E27FC236}">
                  <a16:creationId xmlns:a16="http://schemas.microsoft.com/office/drawing/2014/main" id="{A5EA74D7-A176-41E8-B9CE-A632ACD2AB90}"/>
                </a:ext>
              </a:extLst>
            </p:cNvPr>
            <p:cNvSpPr>
              <a:spLocks noChangeArrowheads="1"/>
            </p:cNvSpPr>
            <p:nvPr/>
          </p:nvSpPr>
          <p:spPr bwMode="gray">
            <a:xfrm>
              <a:off x="4318915" y="3823338"/>
              <a:ext cx="1263724" cy="479305"/>
            </a:xfrm>
            <a:prstGeom prst="rect">
              <a:avLst/>
            </a:prstGeom>
            <a:noFill/>
            <a:ln w="9525">
              <a:noFill/>
              <a:miter lim="800000"/>
              <a:headEnd/>
              <a:tailEnd/>
            </a:ln>
          </p:spPr>
          <p:txBody>
            <a:bodyPr lIns="91394" tIns="45698" rIns="91394" bIns="45698"/>
            <a:lstStyle/>
            <a:p>
              <a:pPr marL="0" lvl="2" defTabSz="912448">
                <a:spcBef>
                  <a:spcPts val="600"/>
                </a:spcBef>
                <a:buSzPct val="60000"/>
                <a:tabLst>
                  <a:tab pos="1369465" algn="l"/>
                </a:tabLs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适应于多种接入方式，一键完成</a:t>
              </a:r>
            </a:p>
          </p:txBody>
        </p:sp>
        <p:pic>
          <p:nvPicPr>
            <p:cNvPr id="88" name="图片 67">
              <a:extLst>
                <a:ext uri="{FF2B5EF4-FFF2-40B4-BE49-F238E27FC236}">
                  <a16:creationId xmlns:a16="http://schemas.microsoft.com/office/drawing/2014/main" id="{D602F526-BCDA-4248-A813-BCDCE481CF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203905" y="2119118"/>
              <a:ext cx="1792651" cy="330612"/>
            </a:xfrm>
            <a:prstGeom prst="rect">
              <a:avLst/>
            </a:prstGeom>
          </p:spPr>
        </p:pic>
        <p:sp>
          <p:nvSpPr>
            <p:cNvPr id="89" name="圆角矩形 44">
              <a:extLst>
                <a:ext uri="{FF2B5EF4-FFF2-40B4-BE49-F238E27FC236}">
                  <a16:creationId xmlns:a16="http://schemas.microsoft.com/office/drawing/2014/main" id="{EA641070-2D88-4A00-ACC4-D0D5113745CD}"/>
                </a:ext>
              </a:extLst>
            </p:cNvPr>
            <p:cNvSpPr/>
            <p:nvPr/>
          </p:nvSpPr>
          <p:spPr bwMode="gray">
            <a:xfrm>
              <a:off x="4722472" y="1994740"/>
              <a:ext cx="2729420" cy="572837"/>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90" name="Connector: Elbow 89">
              <a:extLst>
                <a:ext uri="{FF2B5EF4-FFF2-40B4-BE49-F238E27FC236}">
                  <a16:creationId xmlns:a16="http://schemas.microsoft.com/office/drawing/2014/main" id="{1A342A5F-8A1A-4034-A100-8D8D67C976E3}"/>
                </a:ext>
              </a:extLst>
            </p:cNvPr>
            <p:cNvCxnSpPr>
              <a:cxnSpLocks/>
              <a:stCxn id="89" idx="2"/>
              <a:endCxn id="41" idx="0"/>
            </p:cNvCxnSpPr>
            <p:nvPr/>
          </p:nvCxnSpPr>
          <p:spPr bwMode="gray">
            <a:xfrm rot="5400000">
              <a:off x="4345410" y="1686797"/>
              <a:ext cx="860992" cy="2622553"/>
            </a:xfrm>
            <a:prstGeom prst="bentConnector3">
              <a:avLst>
                <a:gd name="adj1" fmla="val 52054"/>
              </a:avLst>
            </a:prstGeom>
            <a:noFill/>
            <a:ln w="28575" cap="flat" cmpd="sng" algn="ctr">
              <a:solidFill>
                <a:srgbClr val="56C4D2"/>
              </a:solidFill>
              <a:prstDash val="dash"/>
              <a:headEnd type="none" w="lg" len="lg"/>
              <a:tailEnd type="triangle" w="lg" len="lg"/>
            </a:ln>
            <a:effectLst/>
          </p:spPr>
        </p:cxnSp>
        <p:cxnSp>
          <p:nvCxnSpPr>
            <p:cNvPr id="91" name="Connector: Elbow 90">
              <a:extLst>
                <a:ext uri="{FF2B5EF4-FFF2-40B4-BE49-F238E27FC236}">
                  <a16:creationId xmlns:a16="http://schemas.microsoft.com/office/drawing/2014/main" id="{255D13A1-BEFC-477D-8110-8784180DD00D}"/>
                </a:ext>
              </a:extLst>
            </p:cNvPr>
            <p:cNvCxnSpPr>
              <a:cxnSpLocks/>
              <a:stCxn id="89" idx="2"/>
              <a:endCxn id="49" idx="0"/>
            </p:cNvCxnSpPr>
            <p:nvPr/>
          </p:nvCxnSpPr>
          <p:spPr bwMode="gray">
            <a:xfrm rot="16200000" flipH="1">
              <a:off x="6921496" y="1733262"/>
              <a:ext cx="897237" cy="2565865"/>
            </a:xfrm>
            <a:prstGeom prst="bentConnector3">
              <a:avLst>
                <a:gd name="adj1" fmla="val 50000"/>
              </a:avLst>
            </a:prstGeom>
            <a:noFill/>
            <a:ln w="28575" cap="flat" cmpd="sng" algn="ctr">
              <a:solidFill>
                <a:srgbClr val="56C4D2"/>
              </a:solidFill>
              <a:prstDash val="dash"/>
              <a:headEnd type="none" w="lg" len="lg"/>
              <a:tailEnd type="triangle" w="lg" len="lg"/>
            </a:ln>
            <a:effectLst/>
          </p:spPr>
        </p:cxnSp>
        <p:pic>
          <p:nvPicPr>
            <p:cNvPr id="92" name="图片 39">
              <a:extLst>
                <a:ext uri="{FF2B5EF4-FFF2-40B4-BE49-F238E27FC236}">
                  <a16:creationId xmlns:a16="http://schemas.microsoft.com/office/drawing/2014/main" id="{B9395D3C-4D87-452F-AC8D-32C32740C23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5777525" y="5590881"/>
              <a:ext cx="645409" cy="529235"/>
            </a:xfrm>
            <a:prstGeom prst="rect">
              <a:avLst/>
            </a:prstGeom>
          </p:spPr>
        </p:pic>
        <p:cxnSp>
          <p:nvCxnSpPr>
            <p:cNvPr id="93" name="Connector: Elbow 92">
              <a:extLst>
                <a:ext uri="{FF2B5EF4-FFF2-40B4-BE49-F238E27FC236}">
                  <a16:creationId xmlns:a16="http://schemas.microsoft.com/office/drawing/2014/main" id="{F269B7B8-6E9B-4A51-85E3-5773DD0FD49A}"/>
                </a:ext>
              </a:extLst>
            </p:cNvPr>
            <p:cNvCxnSpPr>
              <a:cxnSpLocks/>
              <a:stCxn id="92" idx="0"/>
              <a:endCxn id="41" idx="4"/>
            </p:cNvCxnSpPr>
            <p:nvPr/>
          </p:nvCxnSpPr>
          <p:spPr bwMode="gray">
            <a:xfrm rot="16200000" flipV="1">
              <a:off x="4295423" y="3786073"/>
              <a:ext cx="974015" cy="2635601"/>
            </a:xfrm>
            <a:prstGeom prst="bentConnector3">
              <a:avLst>
                <a:gd name="adj1" fmla="val 46871"/>
              </a:avLst>
            </a:prstGeom>
            <a:noFill/>
            <a:ln w="28575" cap="flat" cmpd="sng" algn="ctr">
              <a:solidFill>
                <a:srgbClr val="56C4D2"/>
              </a:solidFill>
              <a:prstDash val="dash"/>
              <a:headEnd type="triangle" w="lg" len="lg"/>
              <a:tailEnd type="none" w="lg" len="lg"/>
            </a:ln>
            <a:effectLst/>
          </p:spPr>
        </p:cxnSp>
        <p:cxnSp>
          <p:nvCxnSpPr>
            <p:cNvPr id="94" name="Connector: Elbow 93">
              <a:extLst>
                <a:ext uri="{FF2B5EF4-FFF2-40B4-BE49-F238E27FC236}">
                  <a16:creationId xmlns:a16="http://schemas.microsoft.com/office/drawing/2014/main" id="{C7E1E564-737F-47F7-89F5-6CF5574FBAAD}"/>
                </a:ext>
              </a:extLst>
            </p:cNvPr>
            <p:cNvCxnSpPr>
              <a:cxnSpLocks/>
              <a:stCxn id="92" idx="0"/>
              <a:endCxn id="49" idx="4"/>
            </p:cNvCxnSpPr>
            <p:nvPr/>
          </p:nvCxnSpPr>
          <p:spPr bwMode="gray">
            <a:xfrm rot="5400000" flipH="1" flipV="1">
              <a:off x="6907753" y="3845588"/>
              <a:ext cx="937770" cy="2552817"/>
            </a:xfrm>
            <a:prstGeom prst="bentConnector3">
              <a:avLst>
                <a:gd name="adj1" fmla="val 50000"/>
              </a:avLst>
            </a:prstGeom>
            <a:noFill/>
            <a:ln w="28575" cap="flat" cmpd="sng" algn="ctr">
              <a:solidFill>
                <a:srgbClr val="56C4D2"/>
              </a:solidFill>
              <a:prstDash val="dash"/>
              <a:headEnd type="triangle" w="lg" len="lg"/>
              <a:tailEnd type="none" w="lg" len="lg"/>
            </a:ln>
            <a:effectLst/>
          </p:spPr>
        </p:cxnSp>
        <p:cxnSp>
          <p:nvCxnSpPr>
            <p:cNvPr id="95" name="直接连接符 50">
              <a:extLst>
                <a:ext uri="{FF2B5EF4-FFF2-40B4-BE49-F238E27FC236}">
                  <a16:creationId xmlns:a16="http://schemas.microsoft.com/office/drawing/2014/main" id="{09D27B97-7140-40F6-8140-925F881CB2FF}"/>
                </a:ext>
              </a:extLst>
            </p:cNvPr>
            <p:cNvCxnSpPr>
              <a:cxnSpLocks/>
              <a:stCxn id="92" idx="0"/>
              <a:endCxn id="40" idx="4"/>
            </p:cNvCxnSpPr>
            <p:nvPr/>
          </p:nvCxnSpPr>
          <p:spPr bwMode="gray">
            <a:xfrm flipV="1">
              <a:off x="6100230" y="4655516"/>
              <a:ext cx="0" cy="935365"/>
            </a:xfrm>
            <a:prstGeom prst="line">
              <a:avLst/>
            </a:prstGeom>
            <a:noFill/>
            <a:ln w="28575" cap="flat" cmpd="sng" algn="ctr">
              <a:solidFill>
                <a:srgbClr val="56C4D2"/>
              </a:solidFill>
              <a:prstDash val="dash"/>
              <a:headEnd type="triangle" w="lg" len="lg"/>
              <a:tailEnd type="none" w="lg" len="lg"/>
            </a:ln>
            <a:effectLst/>
          </p:spPr>
        </p:cxnSp>
        <p:sp>
          <p:nvSpPr>
            <p:cNvPr id="7" name="Rectangle 1">
              <a:extLst>
                <a:ext uri="{FF2B5EF4-FFF2-40B4-BE49-F238E27FC236}">
                  <a16:creationId xmlns:a16="http://schemas.microsoft.com/office/drawing/2014/main" id="{FFED90FE-D9FE-481C-8DC4-992FE3BFFABF}"/>
                </a:ext>
              </a:extLst>
            </p:cNvPr>
            <p:cNvSpPr>
              <a:spLocks noChangeArrowheads="1"/>
            </p:cNvSpPr>
            <p:nvPr/>
          </p:nvSpPr>
          <p:spPr bwMode="gray">
            <a:xfrm>
              <a:off x="5231561" y="4870721"/>
              <a:ext cx="1752585" cy="479305"/>
            </a:xfrm>
            <a:prstGeom prst="rect">
              <a:avLst/>
            </a:prstGeom>
            <a:solidFill>
              <a:schemeClr val="bg1"/>
            </a:solidFill>
            <a:ln w="9525">
              <a:noFill/>
              <a:miter lim="800000"/>
              <a:headEnd/>
              <a:tailEnd/>
            </a:ln>
          </p:spPr>
          <p:txBody>
            <a:bodyPr lIns="91394" tIns="45698" rIns="91394" bIns="45698"/>
            <a:lstStyle/>
            <a:p>
              <a:pPr marL="0" lvl="2" defTabSz="912448">
                <a:spcBef>
                  <a:spcPts val="600"/>
                </a:spcBef>
                <a:buSzPct val="60000"/>
                <a:tabLst>
                  <a:tab pos="1369465" algn="l"/>
                </a:tabLst>
              </a:pP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不同的开局模式通过不同方式传递</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文件</a:t>
              </a:r>
            </a:p>
          </p:txBody>
        </p:sp>
      </p:grpSp>
      <p:sp>
        <p:nvSpPr>
          <p:cNvPr id="42"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95163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文本框 115"/>
          <p:cNvSpPr txBox="1"/>
          <p:nvPr/>
        </p:nvSpPr>
        <p:spPr bwMode="gray">
          <a:xfrm>
            <a:off x="455613" y="1070836"/>
            <a:ext cx="5572583" cy="4269374"/>
          </a:xfrm>
          <a:prstGeom prst="rect">
            <a:avLst/>
          </a:prstGeom>
          <a:noFill/>
        </p:spPr>
        <p:txBody>
          <a:bodyPr wrap="square" rtlCol="0">
            <a:spAutoFit/>
          </a:bodyPr>
          <a:lstStyle/>
          <a:p>
            <a:pPr marL="302279" indent="-302279" algn="just" defTabSz="914034" fontAlgn="ctr">
              <a:lnSpc>
                <a:spcPct val="140000"/>
              </a:lnSpc>
              <a:spcBef>
                <a:spcPts val="792"/>
              </a:spcBef>
              <a:spcAft>
                <a:spcPts val="600"/>
              </a:spcAft>
              <a:buSzPct val="50000"/>
              <a:buFont typeface="Wingdings" panose="05000000000000000000" pitchFamily="2" charset="2"/>
              <a:buChar char="l"/>
            </a:pP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的首要功能目标是实现企业</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的灵活和可靠的组网。</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fontAlgn="ctr">
              <a:lnSpc>
                <a:spcPct val="140000"/>
              </a:lnSpc>
              <a:spcBef>
                <a:spcPts val="792"/>
              </a:spcBef>
              <a:spcAft>
                <a:spcPts val="600"/>
              </a:spcAft>
              <a:buSzPct val="50000"/>
              <a:buFont typeface="Wingdings" panose="05000000000000000000" pitchFamily="2" charset="2"/>
              <a:buChar char="l"/>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华为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解决方案以</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IP Overlay</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为基础，融合二层交换、三层路由以及</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VPN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隔离等传统网络技术，在</a:t>
            </a:r>
            <a:r>
              <a:rPr lang="en-US" altLang="zh-CN" sz="1600" dirty="0" err="1">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 NCE</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控制器的管控下实现企业分支、</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DC</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以及云之间的按需、灵活的自动化连接。</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fontAlgn="ctr">
              <a:lnSpc>
                <a:spcPct val="140000"/>
              </a:lnSpc>
              <a:spcBef>
                <a:spcPts val="792"/>
              </a:spcBef>
              <a:spcAft>
                <a:spcPts val="600"/>
              </a:spcAft>
              <a:buSzPct val="50000"/>
              <a:buFont typeface="Wingdings" panose="05000000000000000000" pitchFamily="2" charset="2"/>
              <a:buChar char="l"/>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华为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解决方案通过以下三种通道实现灵活组网：</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654938" lvl="1" indent="-251899" defTabSz="914034" fontAlgn="ctr">
              <a:lnSpc>
                <a:spcPct val="140000"/>
              </a:lnSpc>
              <a:spcBef>
                <a:spcPts val="720"/>
              </a:spcBef>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管理通道</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ctr">
              <a:lnSpc>
                <a:spcPct val="140000"/>
              </a:lnSpc>
              <a:spcBef>
                <a:spcPts val="720"/>
              </a:spcBef>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控制通道</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ctr">
              <a:lnSpc>
                <a:spcPct val="140000"/>
              </a:lnSpc>
              <a:spcBef>
                <a:spcPts val="720"/>
              </a:spcBef>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数据通道</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标题 6"/>
          <p:cNvSpPr>
            <a:spLocks noGrp="1"/>
          </p:cNvSpPr>
          <p:nvPr>
            <p:ph type="title"/>
          </p:nvPr>
        </p:nvSpPr>
        <p:spPr bwMode="gray"/>
        <p:txBody>
          <a:bodyPr>
            <a:norm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cs typeface="+mn-ea"/>
                <a:sym typeface="Huawei Sans" panose="020C0503030203020204" pitchFamily="34" charset="0"/>
              </a:rPr>
              <a:t>灵活组网概述</a:t>
            </a:r>
            <a:endParaRPr lang="zh-CN" altLang="en-US" dirty="0">
              <a:sym typeface="Huawei Sans" panose="020C0503030203020204" pitchFamily="34" charset="0"/>
            </a:endParaRPr>
          </a:p>
        </p:txBody>
      </p:sp>
      <p:grpSp>
        <p:nvGrpSpPr>
          <p:cNvPr id="10" name="Group 9">
            <a:extLst>
              <a:ext uri="{FF2B5EF4-FFF2-40B4-BE49-F238E27FC236}">
                <a16:creationId xmlns:a16="http://schemas.microsoft.com/office/drawing/2014/main" id="{30713454-88EC-46CA-B88A-E2D558BEFE06}"/>
              </a:ext>
            </a:extLst>
          </p:cNvPr>
          <p:cNvGrpSpPr/>
          <p:nvPr/>
        </p:nvGrpSpPr>
        <p:grpSpPr bwMode="gray">
          <a:xfrm>
            <a:off x="5584768" y="1327269"/>
            <a:ext cx="5795502" cy="4752757"/>
            <a:chOff x="791472" y="1405397"/>
            <a:chExt cx="5795502" cy="4752757"/>
          </a:xfrm>
        </p:grpSpPr>
        <p:grpSp>
          <p:nvGrpSpPr>
            <p:cNvPr id="103" name="组合 102"/>
            <p:cNvGrpSpPr/>
            <p:nvPr/>
          </p:nvGrpSpPr>
          <p:grpSpPr bwMode="gray">
            <a:xfrm flipH="1">
              <a:off x="4066508" y="4201834"/>
              <a:ext cx="1075899" cy="1114092"/>
              <a:chOff x="2049220" y="4543762"/>
              <a:chExt cx="1075899" cy="1114092"/>
            </a:xfrm>
          </p:grpSpPr>
          <p:grpSp>
            <p:nvGrpSpPr>
              <p:cNvPr id="104" name="Group 165"/>
              <p:cNvGrpSpPr/>
              <p:nvPr/>
            </p:nvGrpSpPr>
            <p:grpSpPr bwMode="gray">
              <a:xfrm rot="5400000">
                <a:off x="1762964" y="4830018"/>
                <a:ext cx="1114092" cy="541579"/>
                <a:chOff x="-1233037" y="914446"/>
                <a:chExt cx="1573823" cy="778776"/>
              </a:xfrm>
            </p:grpSpPr>
            <p:cxnSp>
              <p:nvCxnSpPr>
                <p:cNvPr id="108" name="Straight Connector 166"/>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67"/>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105" name="Straight Connector 166"/>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66"/>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bwMode="gray">
            <a:xfrm>
              <a:off x="2362317" y="4201834"/>
              <a:ext cx="1075899" cy="1114092"/>
              <a:chOff x="2049220" y="4543762"/>
              <a:chExt cx="1075899" cy="1114092"/>
            </a:xfrm>
          </p:grpSpPr>
          <p:grpSp>
            <p:nvGrpSpPr>
              <p:cNvPr id="97" name="Group 165"/>
              <p:cNvGrpSpPr/>
              <p:nvPr/>
            </p:nvGrpSpPr>
            <p:grpSpPr bwMode="gray">
              <a:xfrm rot="5400000">
                <a:off x="1762964" y="4830018"/>
                <a:ext cx="1114092" cy="541579"/>
                <a:chOff x="-1233037" y="914446"/>
                <a:chExt cx="1573823" cy="778776"/>
              </a:xfrm>
            </p:grpSpPr>
            <p:cxnSp>
              <p:nvCxnSpPr>
                <p:cNvPr id="99" name="Straight Connector 166"/>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167"/>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101" name="Straight Connector 166"/>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66"/>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接箭头连接符 33"/>
            <p:cNvCxnSpPr/>
            <p:nvPr/>
          </p:nvCxnSpPr>
          <p:spPr bwMode="gray">
            <a:xfrm>
              <a:off x="2095837" y="2005867"/>
              <a:ext cx="0" cy="234803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cxnSpLocks/>
              <a:stCxn id="60" idx="2"/>
              <a:endCxn id="89" idx="0"/>
            </p:cNvCxnSpPr>
            <p:nvPr/>
          </p:nvCxnSpPr>
          <p:spPr bwMode="gray">
            <a:xfrm flipH="1">
              <a:off x="2117211" y="3069288"/>
              <a:ext cx="1651817" cy="1484511"/>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cxnSpLocks/>
              <a:stCxn id="60" idx="2"/>
              <a:endCxn id="90" idx="0"/>
            </p:cNvCxnSpPr>
            <p:nvPr/>
          </p:nvCxnSpPr>
          <p:spPr bwMode="gray">
            <a:xfrm>
              <a:off x="3769028" y="3069288"/>
              <a:ext cx="1645467" cy="1490861"/>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bwMode="gray">
            <a:xfrm>
              <a:off x="1786133" y="5904238"/>
              <a:ext cx="344277" cy="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bwMode="gray">
            <a:xfrm>
              <a:off x="2114618" y="5696489"/>
              <a:ext cx="886781" cy="461665"/>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管理通道</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NETCONF</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3" name="直接箭头连接符 52"/>
            <p:cNvCxnSpPr/>
            <p:nvPr/>
          </p:nvCxnSpPr>
          <p:spPr bwMode="gray">
            <a:xfrm>
              <a:off x="2954257" y="5904238"/>
              <a:ext cx="344277" cy="0"/>
            </a:xfrm>
            <a:prstGeom prst="straightConnector1">
              <a:avLst/>
            </a:prstGeom>
            <a:ln w="19050">
              <a:solidFill>
                <a:srgbClr val="EC706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bwMode="gray">
            <a:xfrm>
              <a:off x="3282742" y="5696489"/>
              <a:ext cx="910827" cy="461665"/>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控制通道</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BGP EVPN</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文本框 58"/>
            <p:cNvSpPr txBox="1"/>
            <p:nvPr/>
          </p:nvSpPr>
          <p:spPr bwMode="gray">
            <a:xfrm>
              <a:off x="3147252" y="2724521"/>
              <a:ext cx="418704"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RR</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0" name="图片 59"/>
            <p:cNvPicPr>
              <a:picLocks noChangeAspect="1"/>
            </p:cNvPicPr>
            <p:nvPr/>
          </p:nvPicPr>
          <p:blipFill>
            <a:blip r:embed="rId3"/>
            <a:stretch>
              <a:fillRect/>
            </a:stretch>
          </p:blipFill>
          <p:spPr bwMode="gray">
            <a:xfrm>
              <a:off x="3529244" y="2687533"/>
              <a:ext cx="479567" cy="381755"/>
            </a:xfrm>
            <a:prstGeom prst="rect">
              <a:avLst/>
            </a:prstGeom>
          </p:spPr>
        </p:pic>
        <p:sp>
          <p:nvSpPr>
            <p:cNvPr id="61" name="文本框 60"/>
            <p:cNvSpPr txBox="1"/>
            <p:nvPr/>
          </p:nvSpPr>
          <p:spPr bwMode="gray">
            <a:xfrm>
              <a:off x="1835229" y="4997173"/>
              <a:ext cx="576227"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67" name="文本框 66"/>
            <p:cNvSpPr txBox="1"/>
            <p:nvPr/>
          </p:nvSpPr>
          <p:spPr bwMode="gray">
            <a:xfrm>
              <a:off x="5094171" y="5003523"/>
              <a:ext cx="591651"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pic>
          <p:nvPicPr>
            <p:cNvPr id="82" name="图片 8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2852985" y="1526857"/>
              <a:ext cx="1792651" cy="330612"/>
            </a:xfrm>
            <a:prstGeom prst="rect">
              <a:avLst/>
            </a:prstGeom>
          </p:spPr>
        </p:pic>
        <p:sp>
          <p:nvSpPr>
            <p:cNvPr id="83" name="圆角矩形 82"/>
            <p:cNvSpPr/>
            <p:nvPr/>
          </p:nvSpPr>
          <p:spPr bwMode="gray">
            <a:xfrm>
              <a:off x="5403095" y="4463564"/>
              <a:ext cx="1183879"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分支站点</a:t>
              </a:r>
            </a:p>
          </p:txBody>
        </p:sp>
        <p:sp>
          <p:nvSpPr>
            <p:cNvPr id="84" name="圆角矩形 83"/>
            <p:cNvSpPr/>
            <p:nvPr/>
          </p:nvSpPr>
          <p:spPr bwMode="gray">
            <a:xfrm>
              <a:off x="791472" y="4457214"/>
              <a:ext cx="1291198"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总部</a:t>
              </a:r>
              <a:r>
                <a:rPr lang="en-US" altLang="zh-CN"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数据中心站点</a:t>
              </a:r>
            </a:p>
          </p:txBody>
        </p:sp>
        <p:pic>
          <p:nvPicPr>
            <p:cNvPr id="89" name="图片 8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871756" y="4553799"/>
              <a:ext cx="490909" cy="402545"/>
            </a:xfrm>
            <a:prstGeom prst="rect">
              <a:avLst/>
            </a:prstGeom>
          </p:spPr>
        </p:pic>
        <p:pic>
          <p:nvPicPr>
            <p:cNvPr id="90" name="图片 8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5169040" y="4560149"/>
              <a:ext cx="490909" cy="402545"/>
            </a:xfrm>
            <a:prstGeom prst="rect">
              <a:avLst/>
            </a:prstGeom>
          </p:spPr>
        </p:pic>
        <p:sp>
          <p:nvSpPr>
            <p:cNvPr id="94" name="Can 225"/>
            <p:cNvSpPr/>
            <p:nvPr/>
          </p:nvSpPr>
          <p:spPr bwMode="gray">
            <a:xfrm rot="5400000">
              <a:off x="3660841" y="3363983"/>
              <a:ext cx="193925" cy="2776241"/>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13" name="直接箭头连接符 112"/>
            <p:cNvCxnSpPr/>
            <p:nvPr/>
          </p:nvCxnSpPr>
          <p:spPr bwMode="gray">
            <a:xfrm>
              <a:off x="5391001" y="2005867"/>
              <a:ext cx="0" cy="234803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4" name="文本框 113"/>
            <p:cNvSpPr txBox="1"/>
            <p:nvPr/>
          </p:nvSpPr>
          <p:spPr bwMode="gray">
            <a:xfrm>
              <a:off x="5041589" y="5786801"/>
              <a:ext cx="839463"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5" name="Can 225"/>
            <p:cNvSpPr/>
            <p:nvPr/>
          </p:nvSpPr>
          <p:spPr bwMode="gray">
            <a:xfrm rot="5400000">
              <a:off x="4630143" y="5629606"/>
              <a:ext cx="193925" cy="549264"/>
            </a:xfrm>
            <a:prstGeom prst="can">
              <a:avLst>
                <a:gd name="adj" fmla="val 48679"/>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9" name="直接箭头连接符 33">
              <a:extLst>
                <a:ext uri="{FF2B5EF4-FFF2-40B4-BE49-F238E27FC236}">
                  <a16:creationId xmlns:a16="http://schemas.microsoft.com/office/drawing/2014/main" id="{C7725EC0-2030-46B9-B323-DF62C01FE1CC}"/>
                </a:ext>
              </a:extLst>
            </p:cNvPr>
            <p:cNvCxnSpPr>
              <a:cxnSpLocks/>
              <a:endCxn id="60" idx="0"/>
            </p:cNvCxnSpPr>
            <p:nvPr/>
          </p:nvCxnSpPr>
          <p:spPr bwMode="gray">
            <a:xfrm>
              <a:off x="3769028" y="1999155"/>
              <a:ext cx="0" cy="688378"/>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 name="Freeform 159">
              <a:extLst>
                <a:ext uri="{FF2B5EF4-FFF2-40B4-BE49-F238E27FC236}">
                  <a16:creationId xmlns:a16="http://schemas.microsoft.com/office/drawing/2014/main" id="{7A9A5E9C-B2CD-48FE-88B6-A282A8880B76}"/>
                </a:ext>
              </a:extLst>
            </p:cNvPr>
            <p:cNvSpPr/>
            <p:nvPr/>
          </p:nvSpPr>
          <p:spPr bwMode="gray">
            <a:xfrm flipH="1">
              <a:off x="3180436" y="3811330"/>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3" name="Freeform 159">
              <a:extLst>
                <a:ext uri="{FF2B5EF4-FFF2-40B4-BE49-F238E27FC236}">
                  <a16:creationId xmlns:a16="http://schemas.microsoft.com/office/drawing/2014/main" id="{A1562766-D5B2-4143-B343-387932EFE4E7}"/>
                </a:ext>
              </a:extLst>
            </p:cNvPr>
            <p:cNvSpPr/>
            <p:nvPr/>
          </p:nvSpPr>
          <p:spPr bwMode="gray">
            <a:xfrm flipH="1">
              <a:off x="3180848" y="4969247"/>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4" name="圆角矩形 44">
              <a:extLst>
                <a:ext uri="{FF2B5EF4-FFF2-40B4-BE49-F238E27FC236}">
                  <a16:creationId xmlns:a16="http://schemas.microsoft.com/office/drawing/2014/main" id="{B9C22A3A-F827-4718-BBF9-37B1F468D1F2}"/>
                </a:ext>
              </a:extLst>
            </p:cNvPr>
            <p:cNvSpPr/>
            <p:nvPr/>
          </p:nvSpPr>
          <p:spPr bwMode="gray">
            <a:xfrm>
              <a:off x="2062573" y="1405397"/>
              <a:ext cx="3403725" cy="572837"/>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文本框 60">
              <a:extLst>
                <a:ext uri="{FF2B5EF4-FFF2-40B4-BE49-F238E27FC236}">
                  <a16:creationId xmlns:a16="http://schemas.microsoft.com/office/drawing/2014/main" id="{7ACF0D7C-EC09-4F83-8C60-9506A1BE8EC0}"/>
                </a:ext>
              </a:extLst>
            </p:cNvPr>
            <p:cNvSpPr txBox="1"/>
            <p:nvPr/>
          </p:nvSpPr>
          <p:spPr bwMode="gray">
            <a:xfrm rot="16200000">
              <a:off x="1245814" y="2657426"/>
              <a:ext cx="1168116"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NETCONF</a:t>
              </a: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文本框 60">
              <a:extLst>
                <a:ext uri="{FF2B5EF4-FFF2-40B4-BE49-F238E27FC236}">
                  <a16:creationId xmlns:a16="http://schemas.microsoft.com/office/drawing/2014/main" id="{AA8ED80B-6796-40CE-BB2B-9DEF160F1328}"/>
                </a:ext>
              </a:extLst>
            </p:cNvPr>
            <p:cNvSpPr txBox="1"/>
            <p:nvPr/>
          </p:nvSpPr>
          <p:spPr bwMode="gray">
            <a:xfrm rot="19124516">
              <a:off x="2247961" y="3369885"/>
              <a:ext cx="1213463"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BGP EVPN</a:t>
              </a: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（控制通道）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文本框 60">
              <a:extLst>
                <a:ext uri="{FF2B5EF4-FFF2-40B4-BE49-F238E27FC236}">
                  <a16:creationId xmlns:a16="http://schemas.microsoft.com/office/drawing/2014/main" id="{117D9C09-CCFD-4710-BD94-16C72720D058}"/>
                </a:ext>
              </a:extLst>
            </p:cNvPr>
            <p:cNvSpPr txBox="1"/>
            <p:nvPr/>
          </p:nvSpPr>
          <p:spPr bwMode="gray">
            <a:xfrm>
              <a:off x="2555141" y="4615362"/>
              <a:ext cx="2492406" cy="276999"/>
            </a:xfrm>
            <a:prstGeom prst="rect">
              <a:avLst/>
            </a:prstGeom>
            <a:noFill/>
          </p:spPr>
          <p:txBody>
            <a:bodyPr wrap="square" rtlCol="0">
              <a:sp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55"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05050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bwMode="gray"/>
        <p:txBody>
          <a:bodyPr>
            <a:norm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cs typeface="+mn-ea"/>
                <a:sym typeface="Huawei Sans" panose="020C0503030203020204" pitchFamily="34" charset="0"/>
              </a:rPr>
              <a:t>管理通道介绍</a:t>
            </a:r>
            <a:endParaRPr lang="zh-CN" altLang="en-US" dirty="0">
              <a:sym typeface="Huawei Sans" panose="020C0503030203020204" pitchFamily="34" charset="0"/>
            </a:endParaRPr>
          </a:p>
        </p:txBody>
      </p:sp>
      <p:sp>
        <p:nvSpPr>
          <p:cNvPr id="11" name="Text Placeholder 10">
            <a:extLst>
              <a:ext uri="{FF2B5EF4-FFF2-40B4-BE49-F238E27FC236}">
                <a16:creationId xmlns:a16="http://schemas.microsoft.com/office/drawing/2014/main" id="{023EF648-2CF4-4442-B656-BCA55CD10180}"/>
              </a:ext>
            </a:extLst>
          </p:cNvPr>
          <p:cNvSpPr>
            <a:spLocks noGrp="1"/>
          </p:cNvSpPr>
          <p:nvPr>
            <p:ph type="body" sz="quarter" idx="10"/>
          </p:nvPr>
        </p:nvSpPr>
        <p:spPr bwMode="gray">
          <a:xfrm>
            <a:off x="455613" y="1047750"/>
            <a:ext cx="5640387" cy="4879805"/>
          </a:xfrm>
        </p:spPr>
        <p:txBody>
          <a:bodyPr/>
          <a:lstStyle/>
          <a:p>
            <a:r>
              <a:rPr lang="en-US" altLang="zh-CN" sz="1800" dirty="0" err="1">
                <a:sym typeface="Huawei Sans" panose="020C0503030203020204" pitchFamily="34" charset="0"/>
              </a:rPr>
              <a:t>iMaster</a:t>
            </a:r>
            <a:r>
              <a:rPr lang="en-US" altLang="zh-CN" sz="1800" dirty="0">
                <a:sym typeface="Huawei Sans" panose="020C0503030203020204" pitchFamily="34" charset="0"/>
              </a:rPr>
              <a:t> NCE</a:t>
            </a:r>
            <a:r>
              <a:rPr lang="zh-CN" altLang="en-US" sz="1800" dirty="0">
                <a:sym typeface="Huawei Sans" panose="020C0503030203020204" pitchFamily="34" charset="0"/>
              </a:rPr>
              <a:t>控制器通过</a:t>
            </a:r>
            <a:r>
              <a:rPr lang="en-US" altLang="zh-CN" sz="1800" dirty="0">
                <a:sym typeface="Huawei Sans" panose="020C0503030203020204" pitchFamily="34" charset="0"/>
              </a:rPr>
              <a:t>Netconf</a:t>
            </a:r>
            <a:r>
              <a:rPr lang="zh-CN" altLang="en-US" sz="1800" dirty="0">
                <a:sym typeface="Huawei Sans" panose="020C0503030203020204" pitchFamily="34" charset="0"/>
              </a:rPr>
              <a:t>协议与</a:t>
            </a:r>
            <a:r>
              <a:rPr lang="en-US" altLang="zh-CN" sz="1800" dirty="0">
                <a:sym typeface="Huawei Sans" panose="020C0503030203020204" pitchFamily="34" charset="0"/>
              </a:rPr>
              <a:t>EDGE</a:t>
            </a:r>
            <a:r>
              <a:rPr lang="zh-CN" altLang="en-US" sz="1800" dirty="0">
                <a:sym typeface="Huawei Sans" panose="020C0503030203020204" pitchFamily="34" charset="0"/>
              </a:rPr>
              <a:t>设备建立管理通道。</a:t>
            </a:r>
            <a:endParaRPr lang="en-US" altLang="zh-CN" sz="1800" dirty="0">
              <a:sym typeface="Huawei Sans" panose="020C0503030203020204" pitchFamily="34" charset="0"/>
            </a:endParaRPr>
          </a:p>
          <a:p>
            <a:r>
              <a:rPr lang="zh-CN" altLang="en-US" sz="1800" dirty="0">
                <a:sym typeface="Huawei Sans" panose="020C0503030203020204" pitchFamily="34" charset="0"/>
              </a:rPr>
              <a:t>管理通道下发的配置主要提供以下功能：</a:t>
            </a:r>
            <a:endParaRPr lang="en-US" altLang="zh-CN" sz="1800" dirty="0">
              <a:sym typeface="Huawei Sans" panose="020C0503030203020204" pitchFamily="34" charset="0"/>
            </a:endParaRPr>
          </a:p>
          <a:p>
            <a:pPr lvl="1"/>
            <a:r>
              <a:rPr lang="en-US" altLang="zh-CN" sz="1600" dirty="0">
                <a:sym typeface="Huawei Sans" panose="020C0503030203020204" pitchFamily="34" charset="0"/>
              </a:rPr>
              <a:t>EDGE</a:t>
            </a:r>
            <a:r>
              <a:rPr lang="zh-CN" altLang="en-US" sz="1600" dirty="0">
                <a:sym typeface="Huawei Sans" panose="020C0503030203020204" pitchFamily="34" charset="0"/>
              </a:rPr>
              <a:t>设备的统一管理，业务自动下发和</a:t>
            </a:r>
            <a:r>
              <a:rPr lang="en-US" altLang="zh-CN" sz="1600" dirty="0">
                <a:sym typeface="Huawei Sans" panose="020C0503030203020204" pitchFamily="34" charset="0"/>
              </a:rPr>
              <a:t>Overlay</a:t>
            </a:r>
            <a:r>
              <a:rPr lang="zh-CN" altLang="en-US" sz="1600" dirty="0">
                <a:sym typeface="Huawei Sans" panose="020C0503030203020204" pitchFamily="34" charset="0"/>
              </a:rPr>
              <a:t>网络的统一控制</a:t>
            </a:r>
            <a:endParaRPr lang="en-US" altLang="zh-CN" sz="1600" dirty="0">
              <a:sym typeface="Huawei Sans" panose="020C0503030203020204" pitchFamily="34" charset="0"/>
            </a:endParaRPr>
          </a:p>
          <a:p>
            <a:pPr lvl="1"/>
            <a:r>
              <a:rPr lang="zh-CN" altLang="en-US" sz="1600" dirty="0">
                <a:sym typeface="Huawei Sans" panose="020C0503030203020204" pitchFamily="34" charset="0"/>
              </a:rPr>
              <a:t>应用可视，应用自动调优</a:t>
            </a:r>
            <a:endParaRPr lang="en-US" altLang="zh-CN" sz="1600" dirty="0">
              <a:sym typeface="Huawei Sans" panose="020C0503030203020204" pitchFamily="34" charset="0"/>
            </a:endParaRPr>
          </a:p>
          <a:p>
            <a:pPr lvl="1"/>
            <a:r>
              <a:rPr lang="zh-CN" altLang="en-US" sz="1600" dirty="0">
                <a:sym typeface="Huawei Sans" panose="020C0503030203020204" pitchFamily="34" charset="0"/>
              </a:rPr>
              <a:t>网络安全业务</a:t>
            </a:r>
            <a:endParaRPr lang="en-US" sz="1600" dirty="0">
              <a:sym typeface="Huawei Sans" panose="020C0503030203020204" pitchFamily="34" charset="0"/>
            </a:endParaRPr>
          </a:p>
        </p:txBody>
      </p:sp>
      <p:grpSp>
        <p:nvGrpSpPr>
          <p:cNvPr id="10" name="Group 9">
            <a:extLst>
              <a:ext uri="{FF2B5EF4-FFF2-40B4-BE49-F238E27FC236}">
                <a16:creationId xmlns:a16="http://schemas.microsoft.com/office/drawing/2014/main" id="{50328AC9-391D-44E8-B061-B387C62FBC54}"/>
              </a:ext>
            </a:extLst>
          </p:cNvPr>
          <p:cNvGrpSpPr/>
          <p:nvPr/>
        </p:nvGrpSpPr>
        <p:grpSpPr bwMode="gray">
          <a:xfrm>
            <a:off x="6390008" y="1212059"/>
            <a:ext cx="4887726" cy="4715496"/>
            <a:chOff x="6390008" y="1212059"/>
            <a:chExt cx="4887726" cy="4715496"/>
          </a:xfrm>
        </p:grpSpPr>
        <p:sp>
          <p:nvSpPr>
            <p:cNvPr id="63" name="文本框 60">
              <a:extLst>
                <a:ext uri="{FF2B5EF4-FFF2-40B4-BE49-F238E27FC236}">
                  <a16:creationId xmlns:a16="http://schemas.microsoft.com/office/drawing/2014/main" id="{61DAC1E0-6E2F-4454-8A8F-38581F48492D}"/>
                </a:ext>
              </a:extLst>
            </p:cNvPr>
            <p:cNvSpPr txBox="1"/>
            <p:nvPr/>
          </p:nvSpPr>
          <p:spPr bwMode="gray">
            <a:xfrm>
              <a:off x="8543557" y="5547037"/>
              <a:ext cx="609466" cy="276999"/>
            </a:xfrm>
            <a:prstGeom prst="rect">
              <a:avLst/>
            </a:prstGeom>
            <a:noFill/>
          </p:spPr>
          <p:txBody>
            <a:bodyPr wrap="square" rtlCol="0">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pic>
          <p:nvPicPr>
            <p:cNvPr id="64" name="图片 81">
              <a:extLst>
                <a:ext uri="{FF2B5EF4-FFF2-40B4-BE49-F238E27FC236}">
                  <a16:creationId xmlns:a16="http://schemas.microsoft.com/office/drawing/2014/main" id="{23630275-77AB-40A6-B575-50AA86CB13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917828" y="3906086"/>
              <a:ext cx="1792651" cy="330612"/>
            </a:xfrm>
            <a:prstGeom prst="rect">
              <a:avLst/>
            </a:prstGeom>
          </p:spPr>
        </p:pic>
        <p:pic>
          <p:nvPicPr>
            <p:cNvPr id="65" name="图片 88">
              <a:extLst>
                <a:ext uri="{FF2B5EF4-FFF2-40B4-BE49-F238E27FC236}">
                  <a16:creationId xmlns:a16="http://schemas.microsoft.com/office/drawing/2014/main" id="{433BAC42-C7EA-467A-A1FA-754CA40E94F4}"/>
                </a:ext>
              </a:extLst>
            </p:cNvPr>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586119" y="5126283"/>
              <a:ext cx="490909" cy="402545"/>
            </a:xfrm>
            <a:prstGeom prst="rect">
              <a:avLst/>
            </a:prstGeom>
          </p:spPr>
        </p:pic>
        <p:cxnSp>
          <p:nvCxnSpPr>
            <p:cNvPr id="66" name="直接箭头连接符 33">
              <a:extLst>
                <a:ext uri="{FF2B5EF4-FFF2-40B4-BE49-F238E27FC236}">
                  <a16:creationId xmlns:a16="http://schemas.microsoft.com/office/drawing/2014/main" id="{7E718B77-D174-4E24-8E68-1BDE15811C61}"/>
                </a:ext>
              </a:extLst>
            </p:cNvPr>
            <p:cNvCxnSpPr>
              <a:cxnSpLocks/>
            </p:cNvCxnSpPr>
            <p:nvPr/>
          </p:nvCxnSpPr>
          <p:spPr bwMode="gray">
            <a:xfrm>
              <a:off x="8833871" y="4378384"/>
              <a:ext cx="0" cy="688378"/>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8" name="圆角矩形 44">
              <a:extLst>
                <a:ext uri="{FF2B5EF4-FFF2-40B4-BE49-F238E27FC236}">
                  <a16:creationId xmlns:a16="http://schemas.microsoft.com/office/drawing/2014/main" id="{8D5FE52E-66C6-447A-9D08-D00B7476C008}"/>
                </a:ext>
              </a:extLst>
            </p:cNvPr>
            <p:cNvSpPr/>
            <p:nvPr/>
          </p:nvSpPr>
          <p:spPr bwMode="gray">
            <a:xfrm>
              <a:off x="7817669" y="3784626"/>
              <a:ext cx="2021260" cy="572837"/>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文本框 60">
              <a:extLst>
                <a:ext uri="{FF2B5EF4-FFF2-40B4-BE49-F238E27FC236}">
                  <a16:creationId xmlns:a16="http://schemas.microsoft.com/office/drawing/2014/main" id="{4ACB14CB-D12D-4B9F-833C-53E81CC7E90E}"/>
                </a:ext>
              </a:extLst>
            </p:cNvPr>
            <p:cNvSpPr txBox="1"/>
            <p:nvPr/>
          </p:nvSpPr>
          <p:spPr bwMode="gray">
            <a:xfrm>
              <a:off x="7876187" y="4459904"/>
              <a:ext cx="957684"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Netconf</a:t>
              </a: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Rectangle 13">
              <a:extLst>
                <a:ext uri="{FF2B5EF4-FFF2-40B4-BE49-F238E27FC236}">
                  <a16:creationId xmlns:a16="http://schemas.microsoft.com/office/drawing/2014/main" id="{214376FB-4046-4A83-8ED3-B8F062FE64AE}"/>
                </a:ext>
              </a:extLst>
            </p:cNvPr>
            <p:cNvSpPr/>
            <p:nvPr/>
          </p:nvSpPr>
          <p:spPr bwMode="gray">
            <a:xfrm>
              <a:off x="6390008" y="1465138"/>
              <a:ext cx="4887726" cy="1640724"/>
            </a:xfrm>
            <a:prstGeom prst="rect">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直接箭头连接符 33">
              <a:extLst>
                <a:ext uri="{FF2B5EF4-FFF2-40B4-BE49-F238E27FC236}">
                  <a16:creationId xmlns:a16="http://schemas.microsoft.com/office/drawing/2014/main" id="{C0179925-3052-4635-9175-2075E0EB31E0}"/>
                </a:ext>
              </a:extLst>
            </p:cNvPr>
            <p:cNvCxnSpPr>
              <a:cxnSpLocks/>
              <a:stCxn id="14" idx="2"/>
              <a:endCxn id="68" idx="0"/>
            </p:cNvCxnSpPr>
            <p:nvPr/>
          </p:nvCxnSpPr>
          <p:spPr bwMode="gray">
            <a:xfrm flipH="1">
              <a:off x="8828299" y="3105862"/>
              <a:ext cx="5572" cy="678764"/>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矩形 125">
              <a:extLst>
                <a:ext uri="{FF2B5EF4-FFF2-40B4-BE49-F238E27FC236}">
                  <a16:creationId xmlns:a16="http://schemas.microsoft.com/office/drawing/2014/main" id="{8B01EE81-532F-4325-B95E-D1B2DC7B62F1}"/>
                </a:ext>
              </a:extLst>
            </p:cNvPr>
            <p:cNvSpPr/>
            <p:nvPr/>
          </p:nvSpPr>
          <p:spPr bwMode="gray">
            <a:xfrm>
              <a:off x="6530061" y="1586996"/>
              <a:ext cx="1183425" cy="392793"/>
            </a:xfrm>
            <a:prstGeom prst="rect">
              <a:avLst/>
            </a:prstGeom>
            <a:solidFill>
              <a:srgbClr val="56C4D2"/>
            </a:solidFill>
            <a:ln w="3175">
              <a:solidFill>
                <a:srgbClr val="56C4D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spAutoFit/>
            </a:bodyPr>
            <a:lstStyle/>
            <a:p>
              <a:pPr algn="ctr">
                <a:buClr>
                  <a:srgbClr val="CC9900"/>
                </a:buClr>
                <a:tabLst>
                  <a:tab pos="241224" algn="l"/>
                </a:tabLst>
              </a:pPr>
              <a:r>
                <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NTP</a:t>
              </a: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配置</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8" name="矩形 125">
              <a:extLst>
                <a:ext uri="{FF2B5EF4-FFF2-40B4-BE49-F238E27FC236}">
                  <a16:creationId xmlns:a16="http://schemas.microsoft.com/office/drawing/2014/main" id="{FE3A4AF1-866E-4B05-8B8C-1BBC94876CD1}"/>
                </a:ext>
              </a:extLst>
            </p:cNvPr>
            <p:cNvSpPr/>
            <p:nvPr/>
          </p:nvSpPr>
          <p:spPr bwMode="gray">
            <a:xfrm>
              <a:off x="7834874" y="1586996"/>
              <a:ext cx="1250893" cy="392793"/>
            </a:xfrm>
            <a:prstGeom prst="rect">
              <a:avLst/>
            </a:prstGeom>
            <a:solidFill>
              <a:srgbClr val="56C4D2"/>
            </a:solidFill>
            <a:ln w="3175">
              <a:solidFill>
                <a:srgbClr val="56C4D2"/>
              </a:solidFill>
              <a:prstDash val="dash"/>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spAutoFit/>
            </a:bodyPr>
            <a:lstStyle/>
            <a:p>
              <a:pPr algn="ctr">
                <a:buClr>
                  <a:srgbClr val="CC9900"/>
                </a:buClr>
                <a:tabLst>
                  <a:tab pos="241224" algn="l"/>
                </a:tabLst>
              </a:pPr>
              <a:r>
                <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IPsec</a:t>
              </a: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配置</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9" name="矩形 125">
              <a:extLst>
                <a:ext uri="{FF2B5EF4-FFF2-40B4-BE49-F238E27FC236}">
                  <a16:creationId xmlns:a16="http://schemas.microsoft.com/office/drawing/2014/main" id="{506F14FF-ED4D-44E1-9B62-2AE8E35CF669}"/>
                </a:ext>
              </a:extLst>
            </p:cNvPr>
            <p:cNvSpPr/>
            <p:nvPr/>
          </p:nvSpPr>
          <p:spPr bwMode="gray">
            <a:xfrm>
              <a:off x="9203745" y="1586996"/>
              <a:ext cx="1537208" cy="392793"/>
            </a:xfrm>
            <a:prstGeom prst="rect">
              <a:avLst/>
            </a:prstGeom>
            <a:solidFill>
              <a:srgbClr val="56C4D2"/>
            </a:solidFill>
            <a:ln w="3175">
              <a:solidFill>
                <a:srgbClr val="56C4D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spAutoFit/>
            </a:bodyPr>
            <a:lstStyle/>
            <a:p>
              <a:pPr 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站点互联配置</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20" name="矩形 125">
              <a:extLst>
                <a:ext uri="{FF2B5EF4-FFF2-40B4-BE49-F238E27FC236}">
                  <a16:creationId xmlns:a16="http://schemas.microsoft.com/office/drawing/2014/main" id="{D6CF164A-0E23-46D6-A9D7-DDB935C9B651}"/>
                </a:ext>
              </a:extLst>
            </p:cNvPr>
            <p:cNvSpPr/>
            <p:nvPr/>
          </p:nvSpPr>
          <p:spPr bwMode="gray">
            <a:xfrm>
              <a:off x="6530061" y="2095851"/>
              <a:ext cx="1537208" cy="392793"/>
            </a:xfrm>
            <a:prstGeom prst="rect">
              <a:avLst/>
            </a:prstGeom>
            <a:solidFill>
              <a:srgbClr val="56C4D2"/>
            </a:solidFill>
            <a:ln w="3175">
              <a:solidFill>
                <a:srgbClr val="56C4D2"/>
              </a:solidFill>
              <a:prstDash val="dash"/>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spAutoFit/>
            </a:bodyPr>
            <a:lstStyle/>
            <a:p>
              <a:pPr 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无线网络配置</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21" name="矩形 125">
              <a:extLst>
                <a:ext uri="{FF2B5EF4-FFF2-40B4-BE49-F238E27FC236}">
                  <a16:creationId xmlns:a16="http://schemas.microsoft.com/office/drawing/2014/main" id="{234735CF-124A-4CAC-BB80-3E8CD5E35BA8}"/>
                </a:ext>
              </a:extLst>
            </p:cNvPr>
            <p:cNvSpPr/>
            <p:nvPr/>
          </p:nvSpPr>
          <p:spPr bwMode="gray">
            <a:xfrm>
              <a:off x="8179669" y="2093145"/>
              <a:ext cx="1537208" cy="392793"/>
            </a:xfrm>
            <a:prstGeom prst="rect">
              <a:avLst/>
            </a:prstGeom>
            <a:solidFill>
              <a:srgbClr val="56C4D2"/>
            </a:solidFill>
            <a:ln w="3175">
              <a:solidFill>
                <a:srgbClr val="56C4D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spAutoFit/>
            </a:bodyPr>
            <a:lstStyle/>
            <a:p>
              <a:pPr 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有线网络配置</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22" name="矩形 125">
              <a:extLst>
                <a:ext uri="{FF2B5EF4-FFF2-40B4-BE49-F238E27FC236}">
                  <a16:creationId xmlns:a16="http://schemas.microsoft.com/office/drawing/2014/main" id="{8149AF97-9945-4BFA-9A7A-524A92F5382D}"/>
                </a:ext>
              </a:extLst>
            </p:cNvPr>
            <p:cNvSpPr/>
            <p:nvPr/>
          </p:nvSpPr>
          <p:spPr bwMode="gray">
            <a:xfrm>
              <a:off x="9840173" y="2089103"/>
              <a:ext cx="1304813" cy="392793"/>
            </a:xfrm>
            <a:prstGeom prst="rect">
              <a:avLst/>
            </a:prstGeom>
            <a:solidFill>
              <a:srgbClr val="56C4D2"/>
            </a:solidFill>
            <a:ln w="3175">
              <a:solidFill>
                <a:srgbClr val="56C4D2"/>
              </a:solidFill>
              <a:prstDash val="dash"/>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spAutoFit/>
            </a:bodyPr>
            <a:lstStyle/>
            <a:p>
              <a:pPr algn="ctr">
                <a:buClr>
                  <a:srgbClr val="CC9900"/>
                </a:buClr>
                <a:tabLst>
                  <a:tab pos="241224" algn="l"/>
                </a:tabLst>
              </a:pPr>
              <a:r>
                <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IP</a:t>
              </a: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业务配置</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23" name="矩形 125">
              <a:extLst>
                <a:ext uri="{FF2B5EF4-FFF2-40B4-BE49-F238E27FC236}">
                  <a16:creationId xmlns:a16="http://schemas.microsoft.com/office/drawing/2014/main" id="{625532F8-5535-4193-B8D9-AA94A6451904}"/>
                </a:ext>
              </a:extLst>
            </p:cNvPr>
            <p:cNvSpPr/>
            <p:nvPr/>
          </p:nvSpPr>
          <p:spPr bwMode="gray">
            <a:xfrm>
              <a:off x="6530061" y="2585145"/>
              <a:ext cx="1537208" cy="392793"/>
            </a:xfrm>
            <a:prstGeom prst="rect">
              <a:avLst/>
            </a:prstGeom>
            <a:solidFill>
              <a:srgbClr val="56C4D2"/>
            </a:solidFill>
            <a:ln w="3175">
              <a:solidFill>
                <a:srgbClr val="56C4D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spAutoFit/>
            </a:bodyPr>
            <a:lstStyle/>
            <a:p>
              <a:pPr 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路由协议配置</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28" name="TextBox 27">
              <a:extLst>
                <a:ext uri="{FF2B5EF4-FFF2-40B4-BE49-F238E27FC236}">
                  <a16:creationId xmlns:a16="http://schemas.microsoft.com/office/drawing/2014/main" id="{7C6C4E9A-32BF-42F8-92B6-ABB15A4F4A19}"/>
                </a:ext>
              </a:extLst>
            </p:cNvPr>
            <p:cNvSpPr txBox="1"/>
            <p:nvPr/>
          </p:nvSpPr>
          <p:spPr bwMode="gray">
            <a:xfrm>
              <a:off x="9852820" y="2588379"/>
              <a:ext cx="1053719" cy="392793"/>
            </a:xfrm>
            <a:prstGeom prst="rect">
              <a:avLst/>
            </a:prstGeom>
            <a:solidFill>
              <a:srgbClr val="56C4D2"/>
            </a:solidFill>
            <a:ln w="3175">
              <a:solidFill>
                <a:srgbClr val="56C4D2"/>
              </a:solidFill>
              <a:prstDash val="dash"/>
            </a:ln>
            <a:effectLst/>
          </p:spPr>
          <p:txBody>
            <a:bodyPr vert="horz" wrap="square" lIns="145156" tIns="72577" rIns="145156" bIns="72577" numCol="1" rtlCol="0" anchor="ctr" anchorCtr="0" compatLnSpc="1">
              <a:prstTxWarp prst="textNoShape">
                <a:avLst/>
              </a:prstTxWarp>
              <a:spAutoFit/>
            </a:bodyPr>
            <a:lstStyle>
              <a:defPPr>
                <a:defRPr lang="en-US"/>
              </a:defPPr>
              <a:lvl1pPr algn="ctr">
                <a:buClr>
                  <a:srgbClr val="CC9900"/>
                </a:buClr>
                <a:tabLst>
                  <a:tab pos="241224" algn="l"/>
                </a:tabLst>
                <a:defRPr sz="1600" b="1">
                  <a:solidFill>
                    <a:schemeClr val="bg1"/>
                  </a:solidFill>
                  <a:cs typeface="+mj-cs"/>
                </a:defRPr>
              </a:lvl1pPr>
            </a:lstStyle>
            <a:p>
              <a:r>
                <a:rPr lang="en-US" dirty="0">
                  <a:latin typeface="Huawei Sans" panose="020C0503030203020204" pitchFamily="34" charset="0"/>
                  <a:ea typeface="方正兰亭黑简体" panose="02000000000000000000" pitchFamily="2" charset="-122"/>
                  <a:sym typeface="Huawei Sans" panose="020C0503030203020204" pitchFamily="34" charset="0"/>
                </a:rPr>
                <a:t>. . .</a:t>
              </a:r>
            </a:p>
          </p:txBody>
        </p:sp>
        <p:pic>
          <p:nvPicPr>
            <p:cNvPr id="29" name="图片 7">
              <a:extLst>
                <a:ext uri="{FF2B5EF4-FFF2-40B4-BE49-F238E27FC236}">
                  <a16:creationId xmlns:a16="http://schemas.microsoft.com/office/drawing/2014/main" id="{6218FCCD-7D21-4378-8A16-FD574A585E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179669" y="3190648"/>
              <a:ext cx="540000" cy="442174"/>
            </a:xfrm>
            <a:prstGeom prst="rect">
              <a:avLst/>
            </a:prstGeom>
          </p:spPr>
        </p:pic>
        <p:sp>
          <p:nvSpPr>
            <p:cNvPr id="30" name="文本框 24">
              <a:extLst>
                <a:ext uri="{FF2B5EF4-FFF2-40B4-BE49-F238E27FC236}">
                  <a16:creationId xmlns:a16="http://schemas.microsoft.com/office/drawing/2014/main" id="{5287863F-BC77-477C-BC9E-27DF9FD7E044}"/>
                </a:ext>
              </a:extLst>
            </p:cNvPr>
            <p:cNvSpPr txBox="1"/>
            <p:nvPr/>
          </p:nvSpPr>
          <p:spPr bwMode="gray">
            <a:xfrm>
              <a:off x="7150462" y="3254651"/>
              <a:ext cx="1082348" cy="307777"/>
            </a:xfrm>
            <a:prstGeom prst="rect">
              <a:avLst/>
            </a:prstGeom>
            <a:noFill/>
          </p:spPr>
          <p:txBody>
            <a:bodyPr wrap="none" rtlCol="0">
              <a:spAutoFit/>
            </a:bodyPr>
            <a:lstStyle/>
            <a:p>
              <a:pPr algn="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网络管理员</a:t>
              </a:r>
            </a:p>
          </p:txBody>
        </p:sp>
        <p:sp>
          <p:nvSpPr>
            <p:cNvPr id="43" name="Rectangular Callout 26">
              <a:extLst>
                <a:ext uri="{FF2B5EF4-FFF2-40B4-BE49-F238E27FC236}">
                  <a16:creationId xmlns:a16="http://schemas.microsoft.com/office/drawing/2014/main" id="{86831967-C4F6-4E5F-AF43-3DC7F551A382}"/>
                </a:ext>
              </a:extLst>
            </p:cNvPr>
            <p:cNvSpPr/>
            <p:nvPr/>
          </p:nvSpPr>
          <p:spPr bwMode="gray">
            <a:xfrm>
              <a:off x="9023897" y="3208360"/>
              <a:ext cx="1461947" cy="388952"/>
            </a:xfrm>
            <a:prstGeom prst="wedgeRectCallout">
              <a:avLst>
                <a:gd name="adj1" fmla="val -63629"/>
                <a:gd name="adj2" fmla="val -2515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在</a:t>
              </a:r>
              <a:r>
                <a:rPr lang="en-US" altLang="zh-CN" sz="1200" dirty="0" err="1">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 NCE</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控制器上配置参数</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Rectangular Callout 26">
              <a:extLst>
                <a:ext uri="{FF2B5EF4-FFF2-40B4-BE49-F238E27FC236}">
                  <a16:creationId xmlns:a16="http://schemas.microsoft.com/office/drawing/2014/main" id="{5A58BA99-6146-4DDD-9D53-82F2361B05F4}"/>
                </a:ext>
              </a:extLst>
            </p:cNvPr>
            <p:cNvSpPr/>
            <p:nvPr/>
          </p:nvSpPr>
          <p:spPr bwMode="gray">
            <a:xfrm>
              <a:off x="9023897" y="4506321"/>
              <a:ext cx="1149121" cy="388952"/>
            </a:xfrm>
            <a:prstGeom prst="wedgeRectCallout">
              <a:avLst>
                <a:gd name="adj1" fmla="val -63629"/>
                <a:gd name="adj2" fmla="val -2515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Netconf</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协议下发配置</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椭圆 15">
              <a:extLst>
                <a:ext uri="{FF2B5EF4-FFF2-40B4-BE49-F238E27FC236}">
                  <a16:creationId xmlns:a16="http://schemas.microsoft.com/office/drawing/2014/main" id="{E629C95E-1B3C-4741-9337-4E189D525FD8}"/>
                </a:ext>
              </a:extLst>
            </p:cNvPr>
            <p:cNvSpPr>
              <a:spLocks noChangeAspect="1"/>
            </p:cNvSpPr>
            <p:nvPr/>
          </p:nvSpPr>
          <p:spPr bwMode="gray">
            <a:xfrm>
              <a:off x="10379679" y="3483230"/>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椭圆 15">
              <a:extLst>
                <a:ext uri="{FF2B5EF4-FFF2-40B4-BE49-F238E27FC236}">
                  <a16:creationId xmlns:a16="http://schemas.microsoft.com/office/drawing/2014/main" id="{0632F1BC-32F1-4F4A-9F4C-333B59E05305}"/>
                </a:ext>
              </a:extLst>
            </p:cNvPr>
            <p:cNvSpPr>
              <a:spLocks noChangeAspect="1"/>
            </p:cNvSpPr>
            <p:nvPr/>
          </p:nvSpPr>
          <p:spPr bwMode="gray">
            <a:xfrm>
              <a:off x="10094499" y="4780370"/>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矩形 125">
              <a:extLst>
                <a:ext uri="{FF2B5EF4-FFF2-40B4-BE49-F238E27FC236}">
                  <a16:creationId xmlns:a16="http://schemas.microsoft.com/office/drawing/2014/main" id="{D237BE62-EA22-439E-9D3D-1959B4BD07D8}"/>
                </a:ext>
              </a:extLst>
            </p:cNvPr>
            <p:cNvSpPr/>
            <p:nvPr/>
          </p:nvSpPr>
          <p:spPr bwMode="gray">
            <a:xfrm>
              <a:off x="8193495" y="2588379"/>
              <a:ext cx="1537208" cy="392793"/>
            </a:xfrm>
            <a:prstGeom prst="rect">
              <a:avLst/>
            </a:prstGeom>
            <a:solidFill>
              <a:srgbClr val="56C4D2"/>
            </a:solidFill>
            <a:ln w="3175">
              <a:solidFill>
                <a:srgbClr val="56C4D2"/>
              </a:solidFill>
              <a:prstDash val="dash"/>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spAutoFit/>
            </a:bodyPr>
            <a:lstStyle/>
            <a:p>
              <a:pPr 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路由策略配置</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4" name="矩形 1039">
              <a:extLst>
                <a:ext uri="{FF2B5EF4-FFF2-40B4-BE49-F238E27FC236}">
                  <a16:creationId xmlns:a16="http://schemas.microsoft.com/office/drawing/2014/main" id="{0ABC0C4C-0BFC-4775-A1E3-1E024256A764}"/>
                </a:ext>
              </a:extLst>
            </p:cNvPr>
            <p:cNvSpPr/>
            <p:nvPr/>
          </p:nvSpPr>
          <p:spPr bwMode="gray">
            <a:xfrm>
              <a:off x="6894984" y="3784482"/>
              <a:ext cx="922685" cy="248336"/>
            </a:xfrm>
            <a:prstGeom prst="rect">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控制层</a:t>
              </a:r>
            </a:p>
          </p:txBody>
        </p:sp>
        <p:sp>
          <p:nvSpPr>
            <p:cNvPr id="5" name="矩形 1039">
              <a:extLst>
                <a:ext uri="{FF2B5EF4-FFF2-40B4-BE49-F238E27FC236}">
                  <a16:creationId xmlns:a16="http://schemas.microsoft.com/office/drawing/2014/main" id="{5A5741E2-E63C-467E-BFC8-F694743B7167}"/>
                </a:ext>
              </a:extLst>
            </p:cNvPr>
            <p:cNvSpPr/>
            <p:nvPr/>
          </p:nvSpPr>
          <p:spPr bwMode="gray">
            <a:xfrm>
              <a:off x="6390008" y="1212059"/>
              <a:ext cx="1138867" cy="248336"/>
            </a:xfrm>
            <a:prstGeom prst="rect">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管理层</a:t>
              </a:r>
            </a:p>
          </p:txBody>
        </p:sp>
        <p:sp>
          <p:nvSpPr>
            <p:cNvPr id="8" name="Rectangle 7">
              <a:extLst>
                <a:ext uri="{FF2B5EF4-FFF2-40B4-BE49-F238E27FC236}">
                  <a16:creationId xmlns:a16="http://schemas.microsoft.com/office/drawing/2014/main" id="{EAE17F54-2343-44F4-BE94-8B8C564824E0}"/>
                </a:ext>
              </a:extLst>
            </p:cNvPr>
            <p:cNvSpPr/>
            <p:nvPr/>
          </p:nvSpPr>
          <p:spPr bwMode="gray">
            <a:xfrm>
              <a:off x="8016869" y="5087683"/>
              <a:ext cx="1662842" cy="839872"/>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1039">
              <a:extLst>
                <a:ext uri="{FF2B5EF4-FFF2-40B4-BE49-F238E27FC236}">
                  <a16:creationId xmlns:a16="http://schemas.microsoft.com/office/drawing/2014/main" id="{DB589DB5-DFAB-40ED-8149-FE8C454A5855}"/>
                </a:ext>
              </a:extLst>
            </p:cNvPr>
            <p:cNvSpPr/>
            <p:nvPr/>
          </p:nvSpPr>
          <p:spPr bwMode="gray">
            <a:xfrm>
              <a:off x="7094184" y="5076502"/>
              <a:ext cx="922685" cy="248336"/>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网络层</a:t>
              </a:r>
            </a:p>
          </p:txBody>
        </p:sp>
      </p:grpSp>
      <p:sp>
        <p:nvSpPr>
          <p:cNvPr id="37"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21738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bwMode="gray"/>
        <p:txBody>
          <a:bodyPr>
            <a:norm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cs typeface="+mn-ea"/>
                <a:sym typeface="Huawei Sans" panose="020C0503030203020204" pitchFamily="34" charset="0"/>
              </a:rPr>
              <a:t>控制通道介绍</a:t>
            </a:r>
            <a:endParaRPr lang="zh-CN" altLang="en-US" dirty="0">
              <a:sym typeface="Huawei Sans" panose="020C0503030203020204" pitchFamily="34" charset="0"/>
            </a:endParaRPr>
          </a:p>
        </p:txBody>
      </p:sp>
      <p:sp>
        <p:nvSpPr>
          <p:cNvPr id="11" name="Text Placeholder 10">
            <a:extLst>
              <a:ext uri="{FF2B5EF4-FFF2-40B4-BE49-F238E27FC236}">
                <a16:creationId xmlns:a16="http://schemas.microsoft.com/office/drawing/2014/main" id="{023EF648-2CF4-4442-B656-BCA55CD10180}"/>
              </a:ext>
            </a:extLst>
          </p:cNvPr>
          <p:cNvSpPr>
            <a:spLocks noGrp="1"/>
          </p:cNvSpPr>
          <p:nvPr>
            <p:ph type="body" sz="quarter" idx="10"/>
          </p:nvPr>
        </p:nvSpPr>
        <p:spPr bwMode="gray"/>
        <p:txBody>
          <a:bodyPr/>
          <a:lstStyle/>
          <a:p>
            <a:r>
              <a:rPr lang="zh-CN" altLang="en-US" sz="1800" dirty="0">
                <a:sym typeface="Huawei Sans" panose="020C0503030203020204" pitchFamily="34" charset="0"/>
              </a:rPr>
              <a:t>当</a:t>
            </a:r>
            <a:r>
              <a:rPr lang="en-US" altLang="zh-CN" sz="1800" dirty="0" err="1">
                <a:sym typeface="Huawei Sans" panose="020C0503030203020204" pitchFamily="34" charset="0"/>
              </a:rPr>
              <a:t>iMaster</a:t>
            </a:r>
            <a:r>
              <a:rPr lang="en-US" altLang="zh-CN" sz="1800" dirty="0">
                <a:sym typeface="Huawei Sans" panose="020C0503030203020204" pitchFamily="34" charset="0"/>
              </a:rPr>
              <a:t> NCE</a:t>
            </a:r>
            <a:r>
              <a:rPr lang="zh-CN" altLang="en-US" sz="1800" dirty="0">
                <a:sym typeface="Huawei Sans" panose="020C0503030203020204" pitchFamily="34" charset="0"/>
              </a:rPr>
              <a:t>通过管理通道下发配置后，设备通过</a:t>
            </a:r>
            <a:r>
              <a:rPr lang="en-US" altLang="zh-CN" sz="1800" dirty="0">
                <a:sym typeface="Huawei Sans" panose="020C0503030203020204" pitchFamily="34" charset="0"/>
              </a:rPr>
              <a:t>BGP EVPN</a:t>
            </a:r>
            <a:r>
              <a:rPr lang="zh-CN" altLang="en-US" sz="1800" dirty="0">
                <a:sym typeface="Huawei Sans" panose="020C0503030203020204" pitchFamily="34" charset="0"/>
              </a:rPr>
              <a:t>协议建立控制通道。</a:t>
            </a:r>
            <a:endParaRPr lang="en-US" altLang="zh-CN" sz="1800" dirty="0">
              <a:sym typeface="Huawei Sans" panose="020C0503030203020204" pitchFamily="34" charset="0"/>
            </a:endParaRPr>
          </a:p>
          <a:p>
            <a:r>
              <a:rPr lang="zh-CN" altLang="en-US" sz="1800" dirty="0">
                <a:sym typeface="Huawei Sans" panose="020C0503030203020204" pitchFamily="34" charset="0"/>
              </a:rPr>
              <a:t>控制通道的主要作用是传递</a:t>
            </a:r>
            <a:r>
              <a:rPr lang="en-US" altLang="zh-CN" sz="1800" dirty="0">
                <a:sym typeface="Huawei Sans" panose="020C0503030203020204" pitchFamily="34" charset="0"/>
              </a:rPr>
              <a:t>TNP</a:t>
            </a:r>
            <a:r>
              <a:rPr lang="zh-CN" altLang="en-US" sz="1800" dirty="0">
                <a:sym typeface="Huawei Sans" panose="020C0503030203020204" pitchFamily="34" charset="0"/>
              </a:rPr>
              <a:t>（</a:t>
            </a:r>
            <a:r>
              <a:rPr lang="en-US" altLang="zh-CN" sz="1800" dirty="0">
                <a:sym typeface="Huawei Sans" panose="020C0503030203020204" pitchFamily="34" charset="0"/>
              </a:rPr>
              <a:t>Transport Network Port</a:t>
            </a:r>
            <a:r>
              <a:rPr lang="zh-CN" altLang="en-US" sz="1800" dirty="0">
                <a:sym typeface="Huawei Sans" panose="020C0503030203020204" pitchFamily="34" charset="0"/>
              </a:rPr>
              <a:t>），</a:t>
            </a:r>
            <a:r>
              <a:rPr lang="en-US" altLang="zh-CN" sz="1800" dirty="0">
                <a:sym typeface="Huawei Sans" panose="020C0503030203020204" pitchFamily="34" charset="0"/>
              </a:rPr>
              <a:t>IPsec SA</a:t>
            </a:r>
            <a:r>
              <a:rPr lang="zh-CN" altLang="en-US" sz="1800" dirty="0">
                <a:sym typeface="Huawei Sans" panose="020C0503030203020204" pitchFamily="34" charset="0"/>
              </a:rPr>
              <a:t>，客户业务路由等信息。</a:t>
            </a:r>
            <a:endParaRPr lang="en-US" altLang="zh-CN" sz="1800" dirty="0">
              <a:sym typeface="Huawei Sans" panose="020C0503030203020204" pitchFamily="34" charset="0"/>
            </a:endParaRPr>
          </a:p>
          <a:p>
            <a:r>
              <a:rPr lang="zh-CN" altLang="en-US" sz="1800" dirty="0">
                <a:sym typeface="Huawei Sans" panose="020C0503030203020204" pitchFamily="34" charset="0"/>
              </a:rPr>
              <a:t>控制通道建立后，</a:t>
            </a:r>
            <a:r>
              <a:rPr lang="en-US" altLang="zh-CN" sz="1800" dirty="0" err="1">
                <a:sym typeface="Huawei Sans" panose="020C0503030203020204" pitchFamily="34" charset="0"/>
              </a:rPr>
              <a:t>iMaster</a:t>
            </a:r>
            <a:r>
              <a:rPr lang="en-US" altLang="zh-CN" sz="1800" dirty="0">
                <a:sym typeface="Huawei Sans" panose="020C0503030203020204" pitchFamily="34" charset="0"/>
              </a:rPr>
              <a:t> NCE</a:t>
            </a:r>
            <a:r>
              <a:rPr lang="zh-CN" altLang="en-US" sz="1800" dirty="0">
                <a:sym typeface="Huawei Sans" panose="020C0503030203020204" pitchFamily="34" charset="0"/>
              </a:rPr>
              <a:t>通过在</a:t>
            </a:r>
            <a:r>
              <a:rPr lang="en-US" altLang="zh-CN" sz="1800" dirty="0">
                <a:sym typeface="Huawei Sans" panose="020C0503030203020204" pitchFamily="34" charset="0"/>
              </a:rPr>
              <a:t>RR</a:t>
            </a:r>
            <a:r>
              <a:rPr lang="zh-CN" altLang="en-US" sz="1800" dirty="0">
                <a:sym typeface="Huawei Sans" panose="020C0503030203020204" pitchFamily="34" charset="0"/>
              </a:rPr>
              <a:t>上部署策略控制路由传递与</a:t>
            </a:r>
            <a:r>
              <a:rPr lang="en-US" altLang="zh-CN" sz="1800" dirty="0">
                <a:sym typeface="Huawei Sans" panose="020C0503030203020204" pitchFamily="34" charset="0"/>
              </a:rPr>
              <a:t>Overlay</a:t>
            </a:r>
            <a:r>
              <a:rPr lang="zh-CN" altLang="en-US" sz="1800" dirty="0">
                <a:sym typeface="Huawei Sans" panose="020C0503030203020204" pitchFamily="34" charset="0"/>
              </a:rPr>
              <a:t>拓扑建立。</a:t>
            </a:r>
            <a:endParaRPr lang="en-US" sz="1800" dirty="0">
              <a:sym typeface="Huawei Sans" panose="020C0503030203020204" pitchFamily="34" charset="0"/>
            </a:endParaRPr>
          </a:p>
        </p:txBody>
      </p:sp>
      <p:grpSp>
        <p:nvGrpSpPr>
          <p:cNvPr id="12" name="Group 11">
            <a:extLst>
              <a:ext uri="{FF2B5EF4-FFF2-40B4-BE49-F238E27FC236}">
                <a16:creationId xmlns:a16="http://schemas.microsoft.com/office/drawing/2014/main" id="{E4B35CC8-290C-495D-A38A-F5ABEF790B64}"/>
              </a:ext>
            </a:extLst>
          </p:cNvPr>
          <p:cNvGrpSpPr/>
          <p:nvPr/>
        </p:nvGrpSpPr>
        <p:grpSpPr bwMode="gray">
          <a:xfrm>
            <a:off x="2314575" y="2503264"/>
            <a:ext cx="7562850" cy="3638706"/>
            <a:chOff x="2314575" y="2562898"/>
            <a:chExt cx="7562850" cy="3638706"/>
          </a:xfrm>
        </p:grpSpPr>
        <p:cxnSp>
          <p:nvCxnSpPr>
            <p:cNvPr id="38" name="Straight Connector 166">
              <a:extLst>
                <a:ext uri="{FF2B5EF4-FFF2-40B4-BE49-F238E27FC236}">
                  <a16:creationId xmlns:a16="http://schemas.microsoft.com/office/drawing/2014/main" id="{4BC7725A-ECE0-4193-9C9D-C66133839E96}"/>
                </a:ext>
              </a:extLst>
            </p:cNvPr>
            <p:cNvCxnSpPr>
              <a:cxnSpLocks/>
              <a:stCxn id="5" idx="1"/>
              <a:endCxn id="42" idx="8"/>
            </p:cNvCxnSpPr>
            <p:nvPr/>
          </p:nvCxnSpPr>
          <p:spPr bwMode="gray">
            <a:xfrm flipH="1" flipV="1">
              <a:off x="6712544" y="4880206"/>
              <a:ext cx="1749627" cy="5313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167">
              <a:extLst>
                <a:ext uri="{FF2B5EF4-FFF2-40B4-BE49-F238E27FC236}">
                  <a16:creationId xmlns:a16="http://schemas.microsoft.com/office/drawing/2014/main" id="{3DFED980-B957-498B-801B-8557E648D3AE}"/>
                </a:ext>
              </a:extLst>
            </p:cNvPr>
            <p:cNvCxnSpPr>
              <a:cxnSpLocks/>
              <a:stCxn id="5" idx="1"/>
              <a:endCxn id="43" idx="8"/>
            </p:cNvCxnSpPr>
            <p:nvPr/>
          </p:nvCxnSpPr>
          <p:spPr bwMode="gray">
            <a:xfrm flipH="1">
              <a:off x="6712956" y="5411561"/>
              <a:ext cx="1749215" cy="502737"/>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0" name="Straight Connector 166">
              <a:extLst>
                <a:ext uri="{FF2B5EF4-FFF2-40B4-BE49-F238E27FC236}">
                  <a16:creationId xmlns:a16="http://schemas.microsoft.com/office/drawing/2014/main" id="{AE605206-2703-4F1B-8460-6FE25D771F46}"/>
                </a:ext>
              </a:extLst>
            </p:cNvPr>
            <p:cNvCxnSpPr>
              <a:cxnSpLocks/>
              <a:stCxn id="4" idx="3"/>
              <a:endCxn id="42" idx="21"/>
            </p:cNvCxnSpPr>
            <p:nvPr/>
          </p:nvCxnSpPr>
          <p:spPr bwMode="gray">
            <a:xfrm flipV="1">
              <a:off x="3729831" y="4891440"/>
              <a:ext cx="1802012" cy="5201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167">
              <a:extLst>
                <a:ext uri="{FF2B5EF4-FFF2-40B4-BE49-F238E27FC236}">
                  <a16:creationId xmlns:a16="http://schemas.microsoft.com/office/drawing/2014/main" id="{6BD95F54-2B16-41DB-B475-CBBC845D3524}"/>
                </a:ext>
              </a:extLst>
            </p:cNvPr>
            <p:cNvCxnSpPr>
              <a:cxnSpLocks/>
              <a:stCxn id="4" idx="3"/>
              <a:endCxn id="43" idx="21"/>
            </p:cNvCxnSpPr>
            <p:nvPr/>
          </p:nvCxnSpPr>
          <p:spPr bwMode="gray">
            <a:xfrm>
              <a:off x="3729831" y="5411562"/>
              <a:ext cx="1802424" cy="513970"/>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2" name="Freeform 159">
              <a:extLst>
                <a:ext uri="{FF2B5EF4-FFF2-40B4-BE49-F238E27FC236}">
                  <a16:creationId xmlns:a16="http://schemas.microsoft.com/office/drawing/2014/main" id="{01953F45-4715-4CC5-ACFC-4E79F2B8F03F}"/>
                </a:ext>
              </a:extLst>
            </p:cNvPr>
            <p:cNvSpPr/>
            <p:nvPr/>
          </p:nvSpPr>
          <p:spPr bwMode="gray">
            <a:xfrm flipH="1">
              <a:off x="5531843" y="4458732"/>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43" name="Freeform 159">
              <a:extLst>
                <a:ext uri="{FF2B5EF4-FFF2-40B4-BE49-F238E27FC236}">
                  <a16:creationId xmlns:a16="http://schemas.microsoft.com/office/drawing/2014/main" id="{B755FF74-5E1F-4F50-8D02-C443E6E85BF7}"/>
                </a:ext>
              </a:extLst>
            </p:cNvPr>
            <p:cNvSpPr/>
            <p:nvPr/>
          </p:nvSpPr>
          <p:spPr bwMode="gray">
            <a:xfrm flipH="1">
              <a:off x="5532255" y="5492824"/>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pic>
          <p:nvPicPr>
            <p:cNvPr id="2" name="图片 81">
              <a:extLst>
                <a:ext uri="{FF2B5EF4-FFF2-40B4-BE49-F238E27FC236}">
                  <a16:creationId xmlns:a16="http://schemas.microsoft.com/office/drawing/2014/main" id="{DFA4220A-3034-4955-B6B5-C2E23E229FAF}"/>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184549" y="2684358"/>
              <a:ext cx="1792651" cy="330612"/>
            </a:xfrm>
            <a:prstGeom prst="rect">
              <a:avLst/>
            </a:prstGeom>
          </p:spPr>
        </p:pic>
        <p:sp>
          <p:nvSpPr>
            <p:cNvPr id="3" name="圆角矩形 44">
              <a:extLst>
                <a:ext uri="{FF2B5EF4-FFF2-40B4-BE49-F238E27FC236}">
                  <a16:creationId xmlns:a16="http://schemas.microsoft.com/office/drawing/2014/main" id="{082D18AA-8DA6-4462-B9CA-430E058B9B2A}"/>
                </a:ext>
              </a:extLst>
            </p:cNvPr>
            <p:cNvSpPr/>
            <p:nvPr/>
          </p:nvSpPr>
          <p:spPr bwMode="gray">
            <a:xfrm>
              <a:off x="5084390" y="2562898"/>
              <a:ext cx="2021260" cy="572837"/>
            </a:xfrm>
            <a:prstGeom prst="roundRect">
              <a:avLst>
                <a:gd name="adj" fmla="val 6377"/>
              </a:avLst>
            </a:prstGeom>
            <a:noFill/>
            <a:ln w="19050">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 name="图片 88">
              <a:extLst>
                <a:ext uri="{FF2B5EF4-FFF2-40B4-BE49-F238E27FC236}">
                  <a16:creationId xmlns:a16="http://schemas.microsoft.com/office/drawing/2014/main" id="{6355B415-A518-45EF-A9C0-C43C1B20FB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238922" y="5210289"/>
              <a:ext cx="490909" cy="402545"/>
            </a:xfrm>
            <a:prstGeom prst="rect">
              <a:avLst/>
            </a:prstGeom>
          </p:spPr>
        </p:pic>
        <p:pic>
          <p:nvPicPr>
            <p:cNvPr id="5" name="图片 88">
              <a:extLst>
                <a:ext uri="{FF2B5EF4-FFF2-40B4-BE49-F238E27FC236}">
                  <a16:creationId xmlns:a16="http://schemas.microsoft.com/office/drawing/2014/main" id="{F5172A53-B0BE-48C5-BE4E-71979E6307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462171" y="5210288"/>
              <a:ext cx="490909" cy="402545"/>
            </a:xfrm>
            <a:prstGeom prst="rect">
              <a:avLst/>
            </a:prstGeom>
          </p:spPr>
        </p:pic>
        <p:pic>
          <p:nvPicPr>
            <p:cNvPr id="6" name="图片 59">
              <a:extLst>
                <a:ext uri="{FF2B5EF4-FFF2-40B4-BE49-F238E27FC236}">
                  <a16:creationId xmlns:a16="http://schemas.microsoft.com/office/drawing/2014/main" id="{B4A85562-CF84-44E3-88C8-8564D7020AF7}"/>
                </a:ext>
              </a:extLst>
            </p:cNvPr>
            <p:cNvPicPr>
              <a:picLocks noChangeAspect="1"/>
            </p:cNvPicPr>
            <p:nvPr/>
          </p:nvPicPr>
          <p:blipFill>
            <a:blip r:embed="rId5"/>
            <a:stretch>
              <a:fillRect/>
            </a:stretch>
          </p:blipFill>
          <p:spPr bwMode="gray">
            <a:xfrm>
              <a:off x="5856216" y="3705564"/>
              <a:ext cx="479567" cy="381755"/>
            </a:xfrm>
            <a:prstGeom prst="rect">
              <a:avLst/>
            </a:prstGeom>
          </p:spPr>
        </p:pic>
        <p:cxnSp>
          <p:nvCxnSpPr>
            <p:cNvPr id="45" name="直接箭头连接符 33">
              <a:extLst>
                <a:ext uri="{FF2B5EF4-FFF2-40B4-BE49-F238E27FC236}">
                  <a16:creationId xmlns:a16="http://schemas.microsoft.com/office/drawing/2014/main" id="{DA949A28-E9A0-4F51-B131-22204F511189}"/>
                </a:ext>
              </a:extLst>
            </p:cNvPr>
            <p:cNvCxnSpPr>
              <a:cxnSpLocks/>
              <a:stCxn id="3" idx="2"/>
              <a:endCxn id="13" idx="0"/>
            </p:cNvCxnSpPr>
            <p:nvPr/>
          </p:nvCxnSpPr>
          <p:spPr bwMode="gray">
            <a:xfrm>
              <a:off x="6095020" y="3135735"/>
              <a:ext cx="980" cy="437225"/>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 name="圆角矩形 44">
              <a:extLst>
                <a:ext uri="{FF2B5EF4-FFF2-40B4-BE49-F238E27FC236}">
                  <a16:creationId xmlns:a16="http://schemas.microsoft.com/office/drawing/2014/main" id="{1E7E7FBF-C600-43B9-BAA6-903F6283774D}"/>
                </a:ext>
              </a:extLst>
            </p:cNvPr>
            <p:cNvSpPr/>
            <p:nvPr/>
          </p:nvSpPr>
          <p:spPr bwMode="gray">
            <a:xfrm>
              <a:off x="2314575" y="3572960"/>
              <a:ext cx="7562850" cy="2628644"/>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2" name="直接箭头连接符 44">
              <a:extLst>
                <a:ext uri="{FF2B5EF4-FFF2-40B4-BE49-F238E27FC236}">
                  <a16:creationId xmlns:a16="http://schemas.microsoft.com/office/drawing/2014/main" id="{F586575A-76B4-456B-A381-2052A5D8BA9D}"/>
                </a:ext>
              </a:extLst>
            </p:cNvPr>
            <p:cNvCxnSpPr>
              <a:cxnSpLocks/>
              <a:stCxn id="6" idx="2"/>
              <a:endCxn id="4" idx="0"/>
            </p:cNvCxnSpPr>
            <p:nvPr/>
          </p:nvCxnSpPr>
          <p:spPr bwMode="gray">
            <a:xfrm flipH="1">
              <a:off x="3484377" y="4087319"/>
              <a:ext cx="2611623" cy="1122970"/>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直接箭头连接符 45">
              <a:extLst>
                <a:ext uri="{FF2B5EF4-FFF2-40B4-BE49-F238E27FC236}">
                  <a16:creationId xmlns:a16="http://schemas.microsoft.com/office/drawing/2014/main" id="{93E9E510-8DA3-49D6-AFF9-4B205D5DB19D}"/>
                </a:ext>
              </a:extLst>
            </p:cNvPr>
            <p:cNvCxnSpPr>
              <a:cxnSpLocks/>
              <a:stCxn id="6" idx="2"/>
              <a:endCxn id="5" idx="0"/>
            </p:cNvCxnSpPr>
            <p:nvPr/>
          </p:nvCxnSpPr>
          <p:spPr bwMode="gray">
            <a:xfrm>
              <a:off x="6096000" y="4087319"/>
              <a:ext cx="2611626" cy="1122969"/>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文本框 60">
              <a:extLst>
                <a:ext uri="{FF2B5EF4-FFF2-40B4-BE49-F238E27FC236}">
                  <a16:creationId xmlns:a16="http://schemas.microsoft.com/office/drawing/2014/main" id="{0C403BEC-2257-4A94-9659-10C66A33080D}"/>
                </a:ext>
              </a:extLst>
            </p:cNvPr>
            <p:cNvSpPr txBox="1"/>
            <p:nvPr/>
          </p:nvSpPr>
          <p:spPr bwMode="gray">
            <a:xfrm rot="1409078">
              <a:off x="6616998" y="4416311"/>
              <a:ext cx="1824595"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BGP EVPN</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控制通道</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文本框 60">
              <a:extLst>
                <a:ext uri="{FF2B5EF4-FFF2-40B4-BE49-F238E27FC236}">
                  <a16:creationId xmlns:a16="http://schemas.microsoft.com/office/drawing/2014/main" id="{ABB65EE7-8AE3-4620-87B1-A7FCDEF6DB45}"/>
                </a:ext>
              </a:extLst>
            </p:cNvPr>
            <p:cNvSpPr txBox="1"/>
            <p:nvPr/>
          </p:nvSpPr>
          <p:spPr bwMode="gray">
            <a:xfrm rot="20218639">
              <a:off x="3777726" y="5015993"/>
              <a:ext cx="586963" cy="276999"/>
            </a:xfrm>
            <a:prstGeom prst="rect">
              <a:avLst/>
            </a:prstGeom>
            <a:solidFill>
              <a:srgbClr val="56C4D2"/>
            </a:solidFill>
            <a:ln>
              <a:solidFill>
                <a:srgbClr val="56C4D2"/>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TNP</a:t>
              </a:r>
            </a:p>
          </p:txBody>
        </p:sp>
        <p:sp>
          <p:nvSpPr>
            <p:cNvPr id="51" name="文本框 60">
              <a:extLst>
                <a:ext uri="{FF2B5EF4-FFF2-40B4-BE49-F238E27FC236}">
                  <a16:creationId xmlns:a16="http://schemas.microsoft.com/office/drawing/2014/main" id="{842D4E70-ED54-4BBF-B07E-CDCD33CA33FB}"/>
                </a:ext>
              </a:extLst>
            </p:cNvPr>
            <p:cNvSpPr txBox="1"/>
            <p:nvPr/>
          </p:nvSpPr>
          <p:spPr bwMode="gray">
            <a:xfrm rot="20218639">
              <a:off x="3888131" y="5258240"/>
              <a:ext cx="838093" cy="276999"/>
            </a:xfrm>
            <a:prstGeom prst="rect">
              <a:avLst/>
            </a:prstGeom>
            <a:solidFill>
              <a:srgbClr val="AFD89C"/>
            </a:solidFill>
            <a:ln>
              <a:solidFill>
                <a:srgbClr val="AFD89C"/>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 SA</a:t>
              </a:r>
            </a:p>
          </p:txBody>
        </p:sp>
        <p:cxnSp>
          <p:nvCxnSpPr>
            <p:cNvPr id="60" name="Straight Arrow Connector 59">
              <a:extLst>
                <a:ext uri="{FF2B5EF4-FFF2-40B4-BE49-F238E27FC236}">
                  <a16:creationId xmlns:a16="http://schemas.microsoft.com/office/drawing/2014/main" id="{5E6CEC60-6EFA-48BD-AB39-21EAD4DB0904}"/>
                </a:ext>
              </a:extLst>
            </p:cNvPr>
            <p:cNvCxnSpPr>
              <a:cxnSpLocks/>
              <a:stCxn id="46" idx="3"/>
            </p:cNvCxnSpPr>
            <p:nvPr/>
          </p:nvCxnSpPr>
          <p:spPr bwMode="gray">
            <a:xfrm flipV="1">
              <a:off x="4341313" y="4846315"/>
              <a:ext cx="447227" cy="193399"/>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FE813E4B-BDCC-4B76-9D25-4116AB483157}"/>
                </a:ext>
              </a:extLst>
            </p:cNvPr>
            <p:cNvCxnSpPr>
              <a:cxnSpLocks/>
              <a:stCxn id="51" idx="3"/>
            </p:cNvCxnSpPr>
            <p:nvPr/>
          </p:nvCxnSpPr>
          <p:spPr bwMode="gray">
            <a:xfrm flipV="1">
              <a:off x="4692847" y="5028432"/>
              <a:ext cx="448328" cy="204421"/>
            </a:xfrm>
            <a:prstGeom prst="straightConnector1">
              <a:avLst/>
            </a:prstGeom>
            <a:ln w="19050">
              <a:solidFill>
                <a:srgbClr val="AFD89C"/>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ular Callout 26">
              <a:extLst>
                <a:ext uri="{FF2B5EF4-FFF2-40B4-BE49-F238E27FC236}">
                  <a16:creationId xmlns:a16="http://schemas.microsoft.com/office/drawing/2014/main" id="{C9C4DE23-9EEC-491F-BE32-52A4ED74C304}"/>
                </a:ext>
              </a:extLst>
            </p:cNvPr>
            <p:cNvSpPr/>
            <p:nvPr/>
          </p:nvSpPr>
          <p:spPr bwMode="gray">
            <a:xfrm>
              <a:off x="7405253" y="3912714"/>
              <a:ext cx="1395847" cy="388952"/>
            </a:xfrm>
            <a:prstGeom prst="wedgeRectCallout">
              <a:avLst>
                <a:gd name="adj1" fmla="val -28815"/>
                <a:gd name="adj2" fmla="val 9973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基于配置与</a:t>
              </a: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RR</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建立</a:t>
              </a: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BGP EVPN</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邻居</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文本框 60">
              <a:extLst>
                <a:ext uri="{FF2B5EF4-FFF2-40B4-BE49-F238E27FC236}">
                  <a16:creationId xmlns:a16="http://schemas.microsoft.com/office/drawing/2014/main" id="{006EF07B-977A-498D-80E8-5E862AD23628}"/>
                </a:ext>
              </a:extLst>
            </p:cNvPr>
            <p:cNvSpPr txBox="1"/>
            <p:nvPr/>
          </p:nvSpPr>
          <p:spPr bwMode="gray">
            <a:xfrm>
              <a:off x="5142908" y="3085719"/>
              <a:ext cx="957684" cy="461665"/>
            </a:xfrm>
            <a:prstGeom prst="rect">
              <a:avLst/>
            </a:prstGeom>
            <a:noFill/>
          </p:spPr>
          <p:txBody>
            <a:bodyPr wrap="square" rtlCol="0">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Netconf</a:t>
              </a:r>
            </a:p>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 name="Rectangular Callout 26">
              <a:extLst>
                <a:ext uri="{FF2B5EF4-FFF2-40B4-BE49-F238E27FC236}">
                  <a16:creationId xmlns:a16="http://schemas.microsoft.com/office/drawing/2014/main" id="{85B5F7DB-ADCE-4D4E-B709-91A30998F04F}"/>
                </a:ext>
              </a:extLst>
            </p:cNvPr>
            <p:cNvSpPr/>
            <p:nvPr/>
          </p:nvSpPr>
          <p:spPr bwMode="gray">
            <a:xfrm>
              <a:off x="6290618" y="3132136"/>
              <a:ext cx="1149121" cy="388952"/>
            </a:xfrm>
            <a:prstGeom prst="wedgeRectCallout">
              <a:avLst>
                <a:gd name="adj1" fmla="val -63629"/>
                <a:gd name="adj2" fmla="val -2515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Netconf</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协议下发配置</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 name="椭圆 15">
              <a:extLst>
                <a:ext uri="{FF2B5EF4-FFF2-40B4-BE49-F238E27FC236}">
                  <a16:creationId xmlns:a16="http://schemas.microsoft.com/office/drawing/2014/main" id="{618BDAFB-AED0-4907-AEC3-4B02CF11E788}"/>
                </a:ext>
              </a:extLst>
            </p:cNvPr>
            <p:cNvSpPr>
              <a:spLocks noChangeAspect="1"/>
            </p:cNvSpPr>
            <p:nvPr/>
          </p:nvSpPr>
          <p:spPr bwMode="gray">
            <a:xfrm>
              <a:off x="7323499" y="3406185"/>
              <a:ext cx="232480" cy="232480"/>
            </a:xfrm>
            <a:prstGeom prst="ellipse">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椭圆 15">
              <a:extLst>
                <a:ext uri="{FF2B5EF4-FFF2-40B4-BE49-F238E27FC236}">
                  <a16:creationId xmlns:a16="http://schemas.microsoft.com/office/drawing/2014/main" id="{15152FB8-162C-483E-9A2E-E7B2123093B0}"/>
                </a:ext>
              </a:extLst>
            </p:cNvPr>
            <p:cNvSpPr>
              <a:spLocks noChangeAspect="1"/>
            </p:cNvSpPr>
            <p:nvPr/>
          </p:nvSpPr>
          <p:spPr bwMode="gray">
            <a:xfrm>
              <a:off x="8690387" y="3796473"/>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Rectangular Callout 26">
              <a:extLst>
                <a:ext uri="{FF2B5EF4-FFF2-40B4-BE49-F238E27FC236}">
                  <a16:creationId xmlns:a16="http://schemas.microsoft.com/office/drawing/2014/main" id="{39CB805E-6A03-45E1-8D3B-C47522EA0BFB}"/>
                </a:ext>
              </a:extLst>
            </p:cNvPr>
            <p:cNvSpPr/>
            <p:nvPr/>
          </p:nvSpPr>
          <p:spPr bwMode="gray">
            <a:xfrm>
              <a:off x="2473447" y="4008864"/>
              <a:ext cx="1538505" cy="573267"/>
            </a:xfrm>
            <a:prstGeom prst="wedgeRectCallout">
              <a:avLst>
                <a:gd name="adj1" fmla="val 26260"/>
                <a:gd name="adj2" fmla="val 7786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BGP EVPN</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路由传递</a:t>
              </a: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TNP</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IPsec SA</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，业务路由等信息</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 name="椭圆 15">
              <a:extLst>
                <a:ext uri="{FF2B5EF4-FFF2-40B4-BE49-F238E27FC236}">
                  <a16:creationId xmlns:a16="http://schemas.microsoft.com/office/drawing/2014/main" id="{0ADEA3E5-A0E0-4AF7-9688-5F6C297AEB9D}"/>
                </a:ext>
              </a:extLst>
            </p:cNvPr>
            <p:cNvSpPr>
              <a:spLocks noChangeAspect="1"/>
            </p:cNvSpPr>
            <p:nvPr/>
          </p:nvSpPr>
          <p:spPr bwMode="gray">
            <a:xfrm>
              <a:off x="6038852" y="5372263"/>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Rectangular Callout 26">
              <a:extLst>
                <a:ext uri="{FF2B5EF4-FFF2-40B4-BE49-F238E27FC236}">
                  <a16:creationId xmlns:a16="http://schemas.microsoft.com/office/drawing/2014/main" id="{DD6D4C79-9487-4D2D-B420-59E4456D86E5}"/>
                </a:ext>
              </a:extLst>
            </p:cNvPr>
            <p:cNvSpPr/>
            <p:nvPr/>
          </p:nvSpPr>
          <p:spPr bwMode="gray">
            <a:xfrm>
              <a:off x="4641669" y="3692725"/>
              <a:ext cx="1056009" cy="419296"/>
            </a:xfrm>
            <a:prstGeom prst="wedgeRectCallout">
              <a:avLst>
                <a:gd name="adj1" fmla="val 63693"/>
                <a:gd name="adj2" fmla="val -2121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基于策略控制路由传递</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 name="椭圆 15">
              <a:extLst>
                <a:ext uri="{FF2B5EF4-FFF2-40B4-BE49-F238E27FC236}">
                  <a16:creationId xmlns:a16="http://schemas.microsoft.com/office/drawing/2014/main" id="{07EA82BC-0938-4B49-9591-32857853B39C}"/>
                </a:ext>
              </a:extLst>
            </p:cNvPr>
            <p:cNvSpPr>
              <a:spLocks noChangeAspect="1"/>
            </p:cNvSpPr>
            <p:nvPr/>
          </p:nvSpPr>
          <p:spPr bwMode="gray">
            <a:xfrm>
              <a:off x="4539528" y="3987443"/>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60">
              <a:extLst>
                <a:ext uri="{FF2B5EF4-FFF2-40B4-BE49-F238E27FC236}">
                  <a16:creationId xmlns:a16="http://schemas.microsoft.com/office/drawing/2014/main" id="{3193A566-3E54-447C-A541-BC70C58B95B0}"/>
                </a:ext>
              </a:extLst>
            </p:cNvPr>
            <p:cNvSpPr txBox="1"/>
            <p:nvPr/>
          </p:nvSpPr>
          <p:spPr bwMode="gray">
            <a:xfrm rot="20218639">
              <a:off x="3609826" y="4644083"/>
              <a:ext cx="793936" cy="276999"/>
            </a:xfrm>
            <a:prstGeom prst="rect">
              <a:avLst/>
            </a:prstGeom>
            <a:solidFill>
              <a:srgbClr val="FDD351"/>
            </a:solidFill>
            <a:ln>
              <a:solidFill>
                <a:srgbClr val="FDD351"/>
              </a:solidFill>
            </a:ln>
          </p:spPr>
          <p:txBody>
            <a:bodyPr wrap="square" rtlCol="0">
              <a:sp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业务路由</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35" name="Straight Arrow Connector 34">
              <a:extLst>
                <a:ext uri="{FF2B5EF4-FFF2-40B4-BE49-F238E27FC236}">
                  <a16:creationId xmlns:a16="http://schemas.microsoft.com/office/drawing/2014/main" id="{F785789A-02AA-429F-8A3D-F3F847E29A5A}"/>
                </a:ext>
              </a:extLst>
            </p:cNvPr>
            <p:cNvCxnSpPr>
              <a:cxnSpLocks/>
              <a:stCxn id="8" idx="3"/>
            </p:cNvCxnSpPr>
            <p:nvPr/>
          </p:nvCxnSpPr>
          <p:spPr bwMode="gray">
            <a:xfrm flipV="1">
              <a:off x="4372144" y="4443770"/>
              <a:ext cx="432120" cy="183561"/>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1039">
              <a:extLst>
                <a:ext uri="{FF2B5EF4-FFF2-40B4-BE49-F238E27FC236}">
                  <a16:creationId xmlns:a16="http://schemas.microsoft.com/office/drawing/2014/main" id="{D5AB998B-11A4-445F-8DE4-1BACCFCCFAA3}"/>
                </a:ext>
              </a:extLst>
            </p:cNvPr>
            <p:cNvSpPr/>
            <p:nvPr/>
          </p:nvSpPr>
          <p:spPr bwMode="gray">
            <a:xfrm>
              <a:off x="4153302" y="2599754"/>
              <a:ext cx="922685" cy="248336"/>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管理层</a:t>
              </a:r>
            </a:p>
          </p:txBody>
        </p:sp>
        <p:sp>
          <p:nvSpPr>
            <p:cNvPr id="10" name="矩形 1039">
              <a:extLst>
                <a:ext uri="{FF2B5EF4-FFF2-40B4-BE49-F238E27FC236}">
                  <a16:creationId xmlns:a16="http://schemas.microsoft.com/office/drawing/2014/main" id="{2789F548-0782-404B-8573-2937AE88BC64}"/>
                </a:ext>
              </a:extLst>
            </p:cNvPr>
            <p:cNvSpPr/>
            <p:nvPr/>
          </p:nvSpPr>
          <p:spPr bwMode="gray">
            <a:xfrm>
              <a:off x="2476031" y="3307583"/>
              <a:ext cx="922685" cy="248336"/>
            </a:xfrm>
            <a:prstGeom prst="rect">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网络层</a:t>
              </a:r>
            </a:p>
          </p:txBody>
        </p:sp>
      </p:grpSp>
      <p:sp>
        <p:nvSpPr>
          <p:cNvPr id="44"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78868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bwMode="gray"/>
        <p:txBody>
          <a:bodyPr>
            <a:norm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cs typeface="+mn-ea"/>
                <a:sym typeface="Huawei Sans" panose="020C0503030203020204" pitchFamily="34" charset="0"/>
              </a:rPr>
              <a:t>数据通道介绍</a:t>
            </a:r>
            <a:endParaRPr lang="zh-CN" altLang="en-US" dirty="0">
              <a:sym typeface="Huawei Sans" panose="020C0503030203020204" pitchFamily="34" charset="0"/>
            </a:endParaRPr>
          </a:p>
        </p:txBody>
      </p:sp>
      <p:sp>
        <p:nvSpPr>
          <p:cNvPr id="11" name="Text Placeholder 10">
            <a:extLst>
              <a:ext uri="{FF2B5EF4-FFF2-40B4-BE49-F238E27FC236}">
                <a16:creationId xmlns:a16="http://schemas.microsoft.com/office/drawing/2014/main" id="{023EF648-2CF4-4442-B656-BCA55CD10180}"/>
              </a:ext>
            </a:extLst>
          </p:cNvPr>
          <p:cNvSpPr>
            <a:spLocks noGrp="1"/>
          </p:cNvSpPr>
          <p:nvPr>
            <p:ph type="body" sz="quarter" idx="10"/>
          </p:nvPr>
        </p:nvSpPr>
        <p:spPr bwMode="gray"/>
        <p:txBody>
          <a:bodyPr/>
          <a:lstStyle/>
          <a:p>
            <a:r>
              <a:rPr lang="zh-CN" altLang="en-US" sz="1800" dirty="0">
                <a:sym typeface="Huawei Sans" panose="020C0503030203020204" pitchFamily="34" charset="0"/>
              </a:rPr>
              <a:t>华为</a:t>
            </a:r>
            <a:r>
              <a:rPr lang="en-US" altLang="zh-CN" sz="1800" dirty="0">
                <a:sym typeface="Huawei Sans" panose="020C0503030203020204" pitchFamily="34" charset="0"/>
              </a:rPr>
              <a:t>SD-WAN</a:t>
            </a:r>
            <a:r>
              <a:rPr lang="zh-CN" altLang="en-US" sz="1800" dirty="0">
                <a:sym typeface="Huawei Sans" panose="020C0503030203020204" pitchFamily="34" charset="0"/>
              </a:rPr>
              <a:t>主要通过</a:t>
            </a:r>
            <a:r>
              <a:rPr lang="en-US" altLang="zh-CN" sz="1800" dirty="0">
                <a:sym typeface="Huawei Sans" panose="020C0503030203020204" pitchFamily="34" charset="0"/>
              </a:rPr>
              <a:t>GRE</a:t>
            </a:r>
            <a:r>
              <a:rPr lang="zh-CN" altLang="en-US" sz="1800" dirty="0">
                <a:sym typeface="Huawei Sans" panose="020C0503030203020204" pitchFamily="34" charset="0"/>
              </a:rPr>
              <a:t>或</a:t>
            </a:r>
            <a:r>
              <a:rPr lang="en-US" altLang="zh-CN" sz="1800" dirty="0">
                <a:sym typeface="Huawei Sans" panose="020C0503030203020204" pitchFamily="34" charset="0"/>
              </a:rPr>
              <a:t>GRE Over IPsec</a:t>
            </a:r>
            <a:r>
              <a:rPr lang="zh-CN" altLang="en-US" sz="1800" dirty="0">
                <a:sym typeface="Huawei Sans" panose="020C0503030203020204" pitchFamily="34" charset="0"/>
              </a:rPr>
              <a:t>建立数据通道。</a:t>
            </a:r>
            <a:endParaRPr lang="en-US" altLang="zh-CN" sz="1800" dirty="0">
              <a:sym typeface="Huawei Sans" panose="020C0503030203020204" pitchFamily="34" charset="0"/>
            </a:endParaRPr>
          </a:p>
          <a:p>
            <a:r>
              <a:rPr lang="zh-CN" altLang="en-US" sz="1800" dirty="0">
                <a:sym typeface="Huawei Sans" panose="020C0503030203020204" pitchFamily="34" charset="0"/>
              </a:rPr>
              <a:t>设备基于</a:t>
            </a:r>
            <a:r>
              <a:rPr lang="en-US" altLang="zh-CN" sz="1800" dirty="0">
                <a:sym typeface="Huawei Sans" panose="020C0503030203020204" pitchFamily="34" charset="0"/>
              </a:rPr>
              <a:t>BGP EVPN</a:t>
            </a:r>
            <a:r>
              <a:rPr lang="zh-CN" altLang="en-US" sz="1800" dirty="0">
                <a:sym typeface="Huawei Sans" panose="020C0503030203020204" pitchFamily="34" charset="0"/>
              </a:rPr>
              <a:t>传递的</a:t>
            </a:r>
            <a:r>
              <a:rPr lang="en-US" altLang="zh-CN" sz="1800" dirty="0">
                <a:sym typeface="Huawei Sans" panose="020C0503030203020204" pitchFamily="34" charset="0"/>
              </a:rPr>
              <a:t>TNP</a:t>
            </a:r>
            <a:r>
              <a:rPr lang="zh-CN" altLang="en-US" sz="1800" dirty="0">
                <a:sym typeface="Huawei Sans" panose="020C0503030203020204" pitchFamily="34" charset="0"/>
              </a:rPr>
              <a:t>与</a:t>
            </a:r>
            <a:r>
              <a:rPr lang="en-US" altLang="zh-CN" sz="1800" dirty="0">
                <a:sym typeface="Huawei Sans" panose="020C0503030203020204" pitchFamily="34" charset="0"/>
              </a:rPr>
              <a:t>IPsec SA</a:t>
            </a:r>
            <a:r>
              <a:rPr lang="zh-CN" altLang="en-US" sz="1800" dirty="0">
                <a:sym typeface="Huawei Sans" panose="020C0503030203020204" pitchFamily="34" charset="0"/>
              </a:rPr>
              <a:t>建立</a:t>
            </a:r>
            <a:r>
              <a:rPr lang="en-US" altLang="zh-CN" sz="1800" dirty="0">
                <a:sym typeface="Huawei Sans" panose="020C0503030203020204" pitchFamily="34" charset="0"/>
              </a:rPr>
              <a:t>GRE</a:t>
            </a:r>
            <a:r>
              <a:rPr lang="zh-CN" altLang="en-US" sz="1800" dirty="0">
                <a:sym typeface="Huawei Sans" panose="020C0503030203020204" pitchFamily="34" charset="0"/>
              </a:rPr>
              <a:t>或</a:t>
            </a:r>
            <a:r>
              <a:rPr lang="en-US" altLang="zh-CN" sz="1800" dirty="0">
                <a:sym typeface="Huawei Sans" panose="020C0503030203020204" pitchFamily="34" charset="0"/>
              </a:rPr>
              <a:t>GRE Over IPsec</a:t>
            </a:r>
            <a:r>
              <a:rPr lang="zh-CN" altLang="en-US" sz="1800" dirty="0">
                <a:sym typeface="Huawei Sans" panose="020C0503030203020204" pitchFamily="34" charset="0"/>
              </a:rPr>
              <a:t>隧道。</a:t>
            </a:r>
            <a:endParaRPr lang="en-US" altLang="zh-CN" sz="1800" dirty="0">
              <a:sym typeface="Huawei Sans" panose="020C0503030203020204" pitchFamily="34" charset="0"/>
            </a:endParaRPr>
          </a:p>
          <a:p>
            <a:r>
              <a:rPr lang="zh-CN" altLang="en-US" sz="1800" dirty="0">
                <a:sym typeface="Huawei Sans" panose="020C0503030203020204" pitchFamily="34" charset="0"/>
              </a:rPr>
              <a:t>设备基于</a:t>
            </a:r>
            <a:r>
              <a:rPr lang="en-US" altLang="zh-CN" sz="1800" dirty="0">
                <a:sym typeface="Huawei Sans" panose="020C0503030203020204" pitchFamily="34" charset="0"/>
              </a:rPr>
              <a:t>BGP EVPN</a:t>
            </a:r>
            <a:r>
              <a:rPr lang="zh-CN" altLang="en-US" sz="1800" dirty="0">
                <a:sym typeface="Huawei Sans" panose="020C0503030203020204" pitchFamily="34" charset="0"/>
              </a:rPr>
              <a:t>传递的业务路由转发数据。</a:t>
            </a:r>
            <a:endParaRPr lang="en-US" sz="1800" dirty="0">
              <a:sym typeface="Huawei Sans" panose="020C0503030203020204" pitchFamily="34" charset="0"/>
            </a:endParaRPr>
          </a:p>
        </p:txBody>
      </p:sp>
      <p:grpSp>
        <p:nvGrpSpPr>
          <p:cNvPr id="6" name="Group 5">
            <a:extLst>
              <a:ext uri="{FF2B5EF4-FFF2-40B4-BE49-F238E27FC236}">
                <a16:creationId xmlns:a16="http://schemas.microsoft.com/office/drawing/2014/main" id="{DF14BE2D-6E0D-4624-9C1D-E43429FA39F2}"/>
              </a:ext>
            </a:extLst>
          </p:cNvPr>
          <p:cNvGrpSpPr/>
          <p:nvPr/>
        </p:nvGrpSpPr>
        <p:grpSpPr bwMode="gray">
          <a:xfrm>
            <a:off x="1952031" y="2695520"/>
            <a:ext cx="8315091" cy="3224016"/>
            <a:chOff x="1952031" y="2695520"/>
            <a:chExt cx="8315091" cy="3224016"/>
          </a:xfrm>
        </p:grpSpPr>
        <p:sp>
          <p:nvSpPr>
            <p:cNvPr id="30" name="Freeform 159">
              <a:extLst>
                <a:ext uri="{FF2B5EF4-FFF2-40B4-BE49-F238E27FC236}">
                  <a16:creationId xmlns:a16="http://schemas.microsoft.com/office/drawing/2014/main" id="{4B134A45-ABDB-49D6-8888-76134124F05B}"/>
                </a:ext>
              </a:extLst>
            </p:cNvPr>
            <p:cNvSpPr/>
            <p:nvPr/>
          </p:nvSpPr>
          <p:spPr bwMode="gray">
            <a:xfrm flipH="1">
              <a:off x="8848539" y="4652233"/>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业务网段</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Freeform 159">
              <a:extLst>
                <a:ext uri="{FF2B5EF4-FFF2-40B4-BE49-F238E27FC236}">
                  <a16:creationId xmlns:a16="http://schemas.microsoft.com/office/drawing/2014/main" id="{4FFF094B-E46B-4B1E-8062-409F79BDC989}"/>
                </a:ext>
              </a:extLst>
            </p:cNvPr>
            <p:cNvSpPr/>
            <p:nvPr/>
          </p:nvSpPr>
          <p:spPr bwMode="gray">
            <a:xfrm flipH="1">
              <a:off x="2150604" y="4652233"/>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业务网段</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88">
              <a:extLst>
                <a:ext uri="{FF2B5EF4-FFF2-40B4-BE49-F238E27FC236}">
                  <a16:creationId xmlns:a16="http://schemas.microsoft.com/office/drawing/2014/main" id="{0E2E7E11-4915-4F9E-8777-29670FC180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38922" y="4795268"/>
              <a:ext cx="490909" cy="402545"/>
            </a:xfrm>
            <a:prstGeom prst="rect">
              <a:avLst/>
            </a:prstGeom>
          </p:spPr>
        </p:pic>
        <p:pic>
          <p:nvPicPr>
            <p:cNvPr id="34" name="图片 88">
              <a:extLst>
                <a:ext uri="{FF2B5EF4-FFF2-40B4-BE49-F238E27FC236}">
                  <a16:creationId xmlns:a16="http://schemas.microsoft.com/office/drawing/2014/main" id="{C54348E8-2541-4F18-88FE-F415CE729E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462171" y="4795267"/>
              <a:ext cx="490909" cy="402545"/>
            </a:xfrm>
            <a:prstGeom prst="rect">
              <a:avLst/>
            </a:prstGeom>
          </p:spPr>
        </p:pic>
        <p:pic>
          <p:nvPicPr>
            <p:cNvPr id="35" name="图片 59">
              <a:extLst>
                <a:ext uri="{FF2B5EF4-FFF2-40B4-BE49-F238E27FC236}">
                  <a16:creationId xmlns:a16="http://schemas.microsoft.com/office/drawing/2014/main" id="{1ED5D75E-F11A-416E-B9AD-694E980F9D5F}"/>
                </a:ext>
              </a:extLst>
            </p:cNvPr>
            <p:cNvPicPr>
              <a:picLocks noChangeAspect="1"/>
            </p:cNvPicPr>
            <p:nvPr/>
          </p:nvPicPr>
          <p:blipFill>
            <a:blip r:embed="rId4"/>
            <a:stretch>
              <a:fillRect/>
            </a:stretch>
          </p:blipFill>
          <p:spPr bwMode="gray">
            <a:xfrm>
              <a:off x="5856216" y="3100043"/>
              <a:ext cx="479567" cy="381755"/>
            </a:xfrm>
            <a:prstGeom prst="rect">
              <a:avLst/>
            </a:prstGeom>
          </p:spPr>
        </p:pic>
        <p:cxnSp>
          <p:nvCxnSpPr>
            <p:cNvPr id="37" name="直接箭头连接符 44">
              <a:extLst>
                <a:ext uri="{FF2B5EF4-FFF2-40B4-BE49-F238E27FC236}">
                  <a16:creationId xmlns:a16="http://schemas.microsoft.com/office/drawing/2014/main" id="{BB26C97D-62AB-4683-A142-FD6B6E869190}"/>
                </a:ext>
              </a:extLst>
            </p:cNvPr>
            <p:cNvCxnSpPr>
              <a:cxnSpLocks/>
              <a:stCxn id="35" idx="2"/>
              <a:endCxn id="33" idx="0"/>
            </p:cNvCxnSpPr>
            <p:nvPr/>
          </p:nvCxnSpPr>
          <p:spPr bwMode="gray">
            <a:xfrm flipH="1">
              <a:off x="3484377" y="3481798"/>
              <a:ext cx="2611623" cy="1313470"/>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45">
              <a:extLst>
                <a:ext uri="{FF2B5EF4-FFF2-40B4-BE49-F238E27FC236}">
                  <a16:creationId xmlns:a16="http://schemas.microsoft.com/office/drawing/2014/main" id="{1D0440D5-A5D8-4528-B761-07F2326D3A18}"/>
                </a:ext>
              </a:extLst>
            </p:cNvPr>
            <p:cNvCxnSpPr>
              <a:cxnSpLocks/>
              <a:stCxn id="35" idx="2"/>
              <a:endCxn id="34" idx="0"/>
            </p:cNvCxnSpPr>
            <p:nvPr/>
          </p:nvCxnSpPr>
          <p:spPr bwMode="gray">
            <a:xfrm>
              <a:off x="6096000" y="3481798"/>
              <a:ext cx="2611626" cy="1313469"/>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文本框 60">
              <a:extLst>
                <a:ext uri="{FF2B5EF4-FFF2-40B4-BE49-F238E27FC236}">
                  <a16:creationId xmlns:a16="http://schemas.microsoft.com/office/drawing/2014/main" id="{A9F49139-7DFC-45DD-A45F-6031982D0277}"/>
                </a:ext>
              </a:extLst>
            </p:cNvPr>
            <p:cNvSpPr txBox="1"/>
            <p:nvPr/>
          </p:nvSpPr>
          <p:spPr bwMode="gray">
            <a:xfrm>
              <a:off x="5458891" y="3614402"/>
              <a:ext cx="1213463"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BGP EVPN</a:t>
              </a: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（控制通道）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文本框 60">
              <a:extLst>
                <a:ext uri="{FF2B5EF4-FFF2-40B4-BE49-F238E27FC236}">
                  <a16:creationId xmlns:a16="http://schemas.microsoft.com/office/drawing/2014/main" id="{F857003B-9F10-41DE-8777-4A3F7D9914EF}"/>
                </a:ext>
              </a:extLst>
            </p:cNvPr>
            <p:cNvSpPr txBox="1"/>
            <p:nvPr/>
          </p:nvSpPr>
          <p:spPr bwMode="gray">
            <a:xfrm>
              <a:off x="2667053" y="3797935"/>
              <a:ext cx="586963" cy="276999"/>
            </a:xfrm>
            <a:prstGeom prst="rect">
              <a:avLst/>
            </a:prstGeom>
            <a:solidFill>
              <a:srgbClr val="56C4D2"/>
            </a:solidFill>
            <a:ln>
              <a:solidFill>
                <a:srgbClr val="56C4D2"/>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TNP</a:t>
              </a:r>
            </a:p>
          </p:txBody>
        </p:sp>
        <p:sp>
          <p:nvSpPr>
            <p:cNvPr id="41" name="文本框 60">
              <a:extLst>
                <a:ext uri="{FF2B5EF4-FFF2-40B4-BE49-F238E27FC236}">
                  <a16:creationId xmlns:a16="http://schemas.microsoft.com/office/drawing/2014/main" id="{63741808-E611-4F0A-A0AA-2A87799F4151}"/>
                </a:ext>
              </a:extLst>
            </p:cNvPr>
            <p:cNvSpPr txBox="1"/>
            <p:nvPr/>
          </p:nvSpPr>
          <p:spPr bwMode="gray">
            <a:xfrm>
              <a:off x="2669671" y="4125195"/>
              <a:ext cx="838093" cy="276999"/>
            </a:xfrm>
            <a:prstGeom prst="rect">
              <a:avLst/>
            </a:prstGeom>
            <a:solidFill>
              <a:srgbClr val="AFD89C"/>
            </a:solidFill>
            <a:ln>
              <a:solidFill>
                <a:srgbClr val="AFD89C"/>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 SA</a:t>
              </a:r>
            </a:p>
          </p:txBody>
        </p:sp>
        <p:cxnSp>
          <p:nvCxnSpPr>
            <p:cNvPr id="18" name="Straight Connector 166">
              <a:extLst>
                <a:ext uri="{FF2B5EF4-FFF2-40B4-BE49-F238E27FC236}">
                  <a16:creationId xmlns:a16="http://schemas.microsoft.com/office/drawing/2014/main" id="{CF8E9B68-9B6A-4BEE-B4DE-8303682B8DB3}"/>
                </a:ext>
              </a:extLst>
            </p:cNvPr>
            <p:cNvCxnSpPr>
              <a:cxnSpLocks/>
              <a:stCxn id="34" idx="1"/>
              <a:endCxn id="26" idx="8"/>
            </p:cNvCxnSpPr>
            <p:nvPr/>
          </p:nvCxnSpPr>
          <p:spPr bwMode="gray">
            <a:xfrm flipH="1" flipV="1">
              <a:off x="6712544" y="4469664"/>
              <a:ext cx="1749627" cy="5268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67">
              <a:extLst>
                <a:ext uri="{FF2B5EF4-FFF2-40B4-BE49-F238E27FC236}">
                  <a16:creationId xmlns:a16="http://schemas.microsoft.com/office/drawing/2014/main" id="{B68DE729-0E41-40DF-81B6-A739E00F43E2}"/>
                </a:ext>
              </a:extLst>
            </p:cNvPr>
            <p:cNvCxnSpPr>
              <a:cxnSpLocks/>
              <a:stCxn id="34" idx="1"/>
              <a:endCxn id="27" idx="8"/>
            </p:cNvCxnSpPr>
            <p:nvPr/>
          </p:nvCxnSpPr>
          <p:spPr bwMode="gray">
            <a:xfrm flipH="1">
              <a:off x="6712956" y="4996540"/>
              <a:ext cx="1749215" cy="50721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2" name="Straight Connector 166">
              <a:extLst>
                <a:ext uri="{FF2B5EF4-FFF2-40B4-BE49-F238E27FC236}">
                  <a16:creationId xmlns:a16="http://schemas.microsoft.com/office/drawing/2014/main" id="{C28E131C-6D98-4561-AD08-1D7D573F4106}"/>
                </a:ext>
              </a:extLst>
            </p:cNvPr>
            <p:cNvCxnSpPr>
              <a:cxnSpLocks/>
              <a:stCxn id="33" idx="3"/>
              <a:endCxn id="26" idx="21"/>
            </p:cNvCxnSpPr>
            <p:nvPr/>
          </p:nvCxnSpPr>
          <p:spPr bwMode="gray">
            <a:xfrm flipV="1">
              <a:off x="3729831" y="4480898"/>
              <a:ext cx="1802012" cy="51564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167">
              <a:extLst>
                <a:ext uri="{FF2B5EF4-FFF2-40B4-BE49-F238E27FC236}">
                  <a16:creationId xmlns:a16="http://schemas.microsoft.com/office/drawing/2014/main" id="{D6DD4013-6EC4-4C2C-BB36-EFFE29B0AE73}"/>
                </a:ext>
              </a:extLst>
            </p:cNvPr>
            <p:cNvCxnSpPr>
              <a:cxnSpLocks/>
              <a:stCxn id="33" idx="3"/>
              <a:endCxn id="27" idx="21"/>
            </p:cNvCxnSpPr>
            <p:nvPr/>
          </p:nvCxnSpPr>
          <p:spPr bwMode="gray">
            <a:xfrm>
              <a:off x="3729831" y="4996541"/>
              <a:ext cx="1802424" cy="518449"/>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6" name="Freeform 159">
              <a:extLst>
                <a:ext uri="{FF2B5EF4-FFF2-40B4-BE49-F238E27FC236}">
                  <a16:creationId xmlns:a16="http://schemas.microsoft.com/office/drawing/2014/main" id="{EAD340F6-A862-4726-9770-73814D05136A}"/>
                </a:ext>
              </a:extLst>
            </p:cNvPr>
            <p:cNvSpPr/>
            <p:nvPr/>
          </p:nvSpPr>
          <p:spPr bwMode="gray">
            <a:xfrm flipH="1">
              <a:off x="5531843" y="4048190"/>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27" name="Freeform 159">
              <a:extLst>
                <a:ext uri="{FF2B5EF4-FFF2-40B4-BE49-F238E27FC236}">
                  <a16:creationId xmlns:a16="http://schemas.microsoft.com/office/drawing/2014/main" id="{8C8479C7-249F-45A7-9D51-AAAC6F231C23}"/>
                </a:ext>
              </a:extLst>
            </p:cNvPr>
            <p:cNvSpPr/>
            <p:nvPr/>
          </p:nvSpPr>
          <p:spPr bwMode="gray">
            <a:xfrm flipH="1">
              <a:off x="5532255" y="5082282"/>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15" name="文本框 60">
              <a:extLst>
                <a:ext uri="{FF2B5EF4-FFF2-40B4-BE49-F238E27FC236}">
                  <a16:creationId xmlns:a16="http://schemas.microsoft.com/office/drawing/2014/main" id="{57B41CF2-8287-43A7-8843-9976381FF1EF}"/>
                </a:ext>
              </a:extLst>
            </p:cNvPr>
            <p:cNvSpPr txBox="1"/>
            <p:nvPr/>
          </p:nvSpPr>
          <p:spPr bwMode="gray">
            <a:xfrm>
              <a:off x="2667053" y="4468049"/>
              <a:ext cx="793936" cy="276999"/>
            </a:xfrm>
            <a:prstGeom prst="rect">
              <a:avLst/>
            </a:prstGeom>
            <a:solidFill>
              <a:srgbClr val="FDD351"/>
            </a:solidFill>
            <a:ln>
              <a:solidFill>
                <a:srgbClr val="FDD351"/>
              </a:solidFill>
            </a:ln>
          </p:spPr>
          <p:txBody>
            <a:bodyPr wrap="square" rtlCol="0">
              <a:sp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业务路由</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文本框 60">
              <a:extLst>
                <a:ext uri="{FF2B5EF4-FFF2-40B4-BE49-F238E27FC236}">
                  <a16:creationId xmlns:a16="http://schemas.microsoft.com/office/drawing/2014/main" id="{ECD9A841-FABD-4783-9EE6-8EEBF038A4FB}"/>
                </a:ext>
              </a:extLst>
            </p:cNvPr>
            <p:cNvSpPr txBox="1"/>
            <p:nvPr/>
          </p:nvSpPr>
          <p:spPr bwMode="gray">
            <a:xfrm>
              <a:off x="8987669" y="3797935"/>
              <a:ext cx="586963" cy="276999"/>
            </a:xfrm>
            <a:prstGeom prst="rect">
              <a:avLst/>
            </a:prstGeom>
            <a:solidFill>
              <a:srgbClr val="56C4D2"/>
            </a:solidFill>
            <a:ln>
              <a:solidFill>
                <a:srgbClr val="56C4D2"/>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TNP</a:t>
              </a:r>
            </a:p>
          </p:txBody>
        </p:sp>
        <p:sp>
          <p:nvSpPr>
            <p:cNvPr id="17" name="文本框 60">
              <a:extLst>
                <a:ext uri="{FF2B5EF4-FFF2-40B4-BE49-F238E27FC236}">
                  <a16:creationId xmlns:a16="http://schemas.microsoft.com/office/drawing/2014/main" id="{077EC5E3-76EB-42E7-9EEE-C712BBF659B2}"/>
                </a:ext>
              </a:extLst>
            </p:cNvPr>
            <p:cNvSpPr txBox="1"/>
            <p:nvPr/>
          </p:nvSpPr>
          <p:spPr bwMode="gray">
            <a:xfrm>
              <a:off x="8736539" y="4125195"/>
              <a:ext cx="838093" cy="276999"/>
            </a:xfrm>
            <a:prstGeom prst="rect">
              <a:avLst/>
            </a:prstGeom>
            <a:solidFill>
              <a:srgbClr val="AFD89C"/>
            </a:solidFill>
            <a:ln>
              <a:solidFill>
                <a:srgbClr val="AFD89C"/>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 SA</a:t>
              </a:r>
            </a:p>
          </p:txBody>
        </p:sp>
        <p:sp>
          <p:nvSpPr>
            <p:cNvPr id="28" name="文本框 60">
              <a:extLst>
                <a:ext uri="{FF2B5EF4-FFF2-40B4-BE49-F238E27FC236}">
                  <a16:creationId xmlns:a16="http://schemas.microsoft.com/office/drawing/2014/main" id="{449CE76E-28AD-4A75-8285-3377444851E9}"/>
                </a:ext>
              </a:extLst>
            </p:cNvPr>
            <p:cNvSpPr txBox="1"/>
            <p:nvPr/>
          </p:nvSpPr>
          <p:spPr bwMode="gray">
            <a:xfrm>
              <a:off x="8780696" y="4468049"/>
              <a:ext cx="793936" cy="276999"/>
            </a:xfrm>
            <a:prstGeom prst="rect">
              <a:avLst/>
            </a:prstGeom>
            <a:solidFill>
              <a:srgbClr val="FDD351"/>
            </a:solidFill>
            <a:ln>
              <a:solidFill>
                <a:srgbClr val="FDD351"/>
              </a:solidFill>
            </a:ln>
          </p:spPr>
          <p:txBody>
            <a:bodyPr wrap="square" rtlCol="0">
              <a:sp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业务路由</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 name="Freeform: Shape 1">
              <a:extLst>
                <a:ext uri="{FF2B5EF4-FFF2-40B4-BE49-F238E27FC236}">
                  <a16:creationId xmlns:a16="http://schemas.microsoft.com/office/drawing/2014/main" id="{F9F9DE52-C156-477A-889E-2E4E01E3CD8D}"/>
                </a:ext>
              </a:extLst>
            </p:cNvPr>
            <p:cNvSpPr/>
            <p:nvPr/>
          </p:nvSpPr>
          <p:spPr bwMode="gray">
            <a:xfrm>
              <a:off x="2607545" y="5003156"/>
              <a:ext cx="1188720" cy="129540"/>
            </a:xfrm>
            <a:custGeom>
              <a:avLst/>
              <a:gdLst>
                <a:gd name="connsiteX0" fmla="*/ 1188720 w 1188720"/>
                <a:gd name="connsiteY0" fmla="*/ 0 h 129540"/>
                <a:gd name="connsiteX1" fmla="*/ 586740 w 1188720"/>
                <a:gd name="connsiteY1" fmla="*/ 30480 h 129540"/>
                <a:gd name="connsiteX2" fmla="*/ 0 w 1188720"/>
                <a:gd name="connsiteY2" fmla="*/ 129540 h 129540"/>
              </a:gdLst>
              <a:ahLst/>
              <a:cxnLst>
                <a:cxn ang="0">
                  <a:pos x="connsiteX0" y="connsiteY0"/>
                </a:cxn>
                <a:cxn ang="0">
                  <a:pos x="connsiteX1" y="connsiteY1"/>
                </a:cxn>
                <a:cxn ang="0">
                  <a:pos x="connsiteX2" y="connsiteY2"/>
                </a:cxn>
              </a:cxnLst>
              <a:rect l="l" t="t" r="r" b="b"/>
              <a:pathLst>
                <a:path w="1188720" h="129540">
                  <a:moveTo>
                    <a:pt x="1188720" y="0"/>
                  </a:moveTo>
                  <a:cubicBezTo>
                    <a:pt x="986790" y="4445"/>
                    <a:pt x="784860" y="8890"/>
                    <a:pt x="586740" y="30480"/>
                  </a:cubicBezTo>
                  <a:cubicBezTo>
                    <a:pt x="388620" y="52070"/>
                    <a:pt x="194310" y="90805"/>
                    <a:pt x="0" y="12954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Can 225">
              <a:extLst>
                <a:ext uri="{FF2B5EF4-FFF2-40B4-BE49-F238E27FC236}">
                  <a16:creationId xmlns:a16="http://schemas.microsoft.com/office/drawing/2014/main" id="{5202BA1F-832B-419F-B641-F9CF69CE42E9}"/>
                </a:ext>
              </a:extLst>
            </p:cNvPr>
            <p:cNvSpPr/>
            <p:nvPr/>
          </p:nvSpPr>
          <p:spPr bwMode="gray">
            <a:xfrm rot="5400000">
              <a:off x="5991099" y="2668499"/>
              <a:ext cx="193925" cy="4664076"/>
            </a:xfrm>
            <a:prstGeom prst="can">
              <a:avLst>
                <a:gd name="adj" fmla="val 51134"/>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文本框 60">
              <a:extLst>
                <a:ext uri="{FF2B5EF4-FFF2-40B4-BE49-F238E27FC236}">
                  <a16:creationId xmlns:a16="http://schemas.microsoft.com/office/drawing/2014/main" id="{B15FB306-BEFC-4AF7-A5B3-6CE7A105ABC3}"/>
                </a:ext>
              </a:extLst>
            </p:cNvPr>
            <p:cNvSpPr txBox="1"/>
            <p:nvPr/>
          </p:nvSpPr>
          <p:spPr bwMode="gray">
            <a:xfrm>
              <a:off x="4846289" y="4854428"/>
              <a:ext cx="249240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或</a:t>
              </a: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 Over IPsec</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 name="Freeform: Shape 2">
              <a:extLst>
                <a:ext uri="{FF2B5EF4-FFF2-40B4-BE49-F238E27FC236}">
                  <a16:creationId xmlns:a16="http://schemas.microsoft.com/office/drawing/2014/main" id="{6ECA8841-E584-4BE9-89D7-BEC658EE0597}"/>
                </a:ext>
              </a:extLst>
            </p:cNvPr>
            <p:cNvSpPr/>
            <p:nvPr/>
          </p:nvSpPr>
          <p:spPr bwMode="gray">
            <a:xfrm flipH="1">
              <a:off x="8383784" y="5008581"/>
              <a:ext cx="1188720" cy="129540"/>
            </a:xfrm>
            <a:custGeom>
              <a:avLst/>
              <a:gdLst>
                <a:gd name="connsiteX0" fmla="*/ 1188720 w 1188720"/>
                <a:gd name="connsiteY0" fmla="*/ 0 h 129540"/>
                <a:gd name="connsiteX1" fmla="*/ 586740 w 1188720"/>
                <a:gd name="connsiteY1" fmla="*/ 30480 h 129540"/>
                <a:gd name="connsiteX2" fmla="*/ 0 w 1188720"/>
                <a:gd name="connsiteY2" fmla="*/ 129540 h 129540"/>
              </a:gdLst>
              <a:ahLst/>
              <a:cxnLst>
                <a:cxn ang="0">
                  <a:pos x="connsiteX0" y="connsiteY0"/>
                </a:cxn>
                <a:cxn ang="0">
                  <a:pos x="connsiteX1" y="connsiteY1"/>
                </a:cxn>
                <a:cxn ang="0">
                  <a:pos x="connsiteX2" y="connsiteY2"/>
                </a:cxn>
              </a:cxnLst>
              <a:rect l="l" t="t" r="r" b="b"/>
              <a:pathLst>
                <a:path w="1188720" h="129540">
                  <a:moveTo>
                    <a:pt x="1188720" y="0"/>
                  </a:moveTo>
                  <a:cubicBezTo>
                    <a:pt x="986790" y="4445"/>
                    <a:pt x="784860" y="8890"/>
                    <a:pt x="586740" y="30480"/>
                  </a:cubicBezTo>
                  <a:cubicBezTo>
                    <a:pt x="388620" y="52070"/>
                    <a:pt x="194310" y="90805"/>
                    <a:pt x="0" y="12954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44">
              <a:extLst>
                <a:ext uri="{FF2B5EF4-FFF2-40B4-BE49-F238E27FC236}">
                  <a16:creationId xmlns:a16="http://schemas.microsoft.com/office/drawing/2014/main" id="{DA5D51FD-4DDE-48A0-9671-72FCBF7C80F0}"/>
                </a:ext>
              </a:extLst>
            </p:cNvPr>
            <p:cNvSpPr/>
            <p:nvPr/>
          </p:nvSpPr>
          <p:spPr bwMode="gray">
            <a:xfrm>
              <a:off x="1952031" y="2960897"/>
              <a:ext cx="8315091" cy="2958639"/>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矩形 1039">
              <a:extLst>
                <a:ext uri="{FF2B5EF4-FFF2-40B4-BE49-F238E27FC236}">
                  <a16:creationId xmlns:a16="http://schemas.microsoft.com/office/drawing/2014/main" id="{20CC30E0-D9FB-4F4E-AF59-7D31C39EE8EA}"/>
                </a:ext>
              </a:extLst>
            </p:cNvPr>
            <p:cNvSpPr/>
            <p:nvPr/>
          </p:nvSpPr>
          <p:spPr bwMode="gray">
            <a:xfrm>
              <a:off x="2113488" y="2695520"/>
              <a:ext cx="922685" cy="248336"/>
            </a:xfrm>
            <a:prstGeom prst="rect">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网络层</a:t>
              </a:r>
            </a:p>
          </p:txBody>
        </p:sp>
      </p:grpSp>
      <p:sp>
        <p:nvSpPr>
          <p:cNvPr id="36"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6400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bwMode="gray"/>
        <p:txBody>
          <a:bodyPr>
            <a:norm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cs typeface="+mn-ea"/>
                <a:sym typeface="Huawei Sans" panose="020C0503030203020204" pitchFamily="34" charset="0"/>
              </a:rPr>
              <a:t>应用体验概述</a:t>
            </a:r>
            <a:endParaRPr lang="zh-CN" altLang="en-US" dirty="0">
              <a:sym typeface="Huawei Sans" panose="020C0503030203020204" pitchFamily="34" charset="0"/>
            </a:endParaRPr>
          </a:p>
        </p:txBody>
      </p:sp>
      <p:sp>
        <p:nvSpPr>
          <p:cNvPr id="11" name="Text Placeholder 10">
            <a:extLst>
              <a:ext uri="{FF2B5EF4-FFF2-40B4-BE49-F238E27FC236}">
                <a16:creationId xmlns:a16="http://schemas.microsoft.com/office/drawing/2014/main" id="{023EF648-2CF4-4442-B656-BCA55CD10180}"/>
              </a:ext>
            </a:extLst>
          </p:cNvPr>
          <p:cNvSpPr>
            <a:spLocks noGrp="1"/>
          </p:cNvSpPr>
          <p:nvPr>
            <p:ph type="body" sz="quarter" idx="10"/>
          </p:nvPr>
        </p:nvSpPr>
        <p:spPr bwMode="gray"/>
        <p:txBody>
          <a:bodyPr/>
          <a:lstStyle/>
          <a:p>
            <a:r>
              <a:rPr lang="zh-CN" altLang="en-US" sz="1600" dirty="0">
                <a:sym typeface="Huawei Sans" panose="020C0503030203020204" pitchFamily="34" charset="0"/>
              </a:rPr>
              <a:t>从企业各种应用对网络的需求来看，传统</a:t>
            </a:r>
            <a:r>
              <a:rPr lang="en-US" altLang="zh-CN" sz="1600" dirty="0">
                <a:sym typeface="Huawei Sans" panose="020C0503030203020204" pitchFamily="34" charset="0"/>
              </a:rPr>
              <a:t>WAN</a:t>
            </a:r>
            <a:r>
              <a:rPr lang="zh-CN" altLang="en-US" sz="1600" dirty="0">
                <a:sym typeface="Huawei Sans" panose="020C0503030203020204" pitchFamily="34" charset="0"/>
              </a:rPr>
              <a:t>有以下问题：</a:t>
            </a:r>
          </a:p>
          <a:p>
            <a:pPr lvl="1"/>
            <a:r>
              <a:rPr lang="zh-CN" altLang="en-US" sz="1600" dirty="0">
                <a:sym typeface="Huawei Sans" panose="020C0503030203020204" pitchFamily="34" charset="0"/>
              </a:rPr>
              <a:t>不同价值的应用承载在相同链路上</a:t>
            </a:r>
          </a:p>
          <a:p>
            <a:pPr lvl="1"/>
            <a:r>
              <a:rPr lang="zh-CN" altLang="en-US" sz="1600" dirty="0">
                <a:sym typeface="Huawei Sans" panose="020C0503030203020204" pitchFamily="34" charset="0"/>
              </a:rPr>
              <a:t>链路质量下降时应用不能动态选路</a:t>
            </a:r>
          </a:p>
          <a:p>
            <a:pPr lvl="1"/>
            <a:r>
              <a:rPr lang="zh-CN" altLang="en-US" sz="1600" dirty="0">
                <a:sym typeface="Huawei Sans" panose="020C0503030203020204" pitchFamily="34" charset="0"/>
              </a:rPr>
              <a:t>链路质量劣化时缺少有效改善手段</a:t>
            </a:r>
            <a:endParaRPr lang="en-US" altLang="zh-CN" sz="1600" dirty="0">
              <a:sym typeface="Huawei Sans" panose="020C0503030203020204" pitchFamily="34" charset="0"/>
            </a:endParaRPr>
          </a:p>
          <a:p>
            <a:r>
              <a:rPr lang="en-US" altLang="zh-CN" sz="1600" dirty="0">
                <a:sym typeface="Huawei Sans" panose="020C0503030203020204" pitchFamily="34" charset="0"/>
              </a:rPr>
              <a:t>SD-WAN</a:t>
            </a:r>
            <a:r>
              <a:rPr lang="zh-CN" altLang="en-US" sz="1600" dirty="0">
                <a:sym typeface="Huawei Sans" panose="020C0503030203020204" pitchFamily="34" charset="0"/>
              </a:rPr>
              <a:t>解决方案针对以上问题，提出了企业应用体验优化方案。包含以下几方面：</a:t>
            </a:r>
          </a:p>
          <a:p>
            <a:pPr lvl="1"/>
            <a:r>
              <a:rPr lang="zh-CN" altLang="en-US" sz="1600" dirty="0">
                <a:sym typeface="Huawei Sans" panose="020C0503030203020204" pitchFamily="34" charset="0"/>
              </a:rPr>
              <a:t>应用识别</a:t>
            </a:r>
          </a:p>
          <a:p>
            <a:pPr lvl="1"/>
            <a:r>
              <a:rPr lang="zh-CN" altLang="en-US" sz="1600" dirty="0">
                <a:sym typeface="Huawei Sans" panose="020C0503030203020204" pitchFamily="34" charset="0"/>
              </a:rPr>
              <a:t>智能选路</a:t>
            </a:r>
          </a:p>
          <a:p>
            <a:pPr lvl="1"/>
            <a:r>
              <a:rPr lang="zh-CN" altLang="en-US" sz="1600" dirty="0">
                <a:sym typeface="Huawei Sans" panose="020C0503030203020204" pitchFamily="34" charset="0"/>
              </a:rPr>
              <a:t>广域优化</a:t>
            </a:r>
            <a:endParaRPr lang="en-US" altLang="zh-CN" sz="1600" dirty="0">
              <a:sym typeface="Huawei Sans" panose="020C0503030203020204" pitchFamily="34" charset="0"/>
            </a:endParaRPr>
          </a:p>
          <a:p>
            <a:pPr lvl="1"/>
            <a:r>
              <a:rPr lang="en-US" altLang="zh-CN" sz="1600" dirty="0" err="1">
                <a:sym typeface="Huawei Sans" panose="020C0503030203020204" pitchFamily="34" charset="0"/>
              </a:rPr>
              <a:t>QoS</a:t>
            </a:r>
            <a:endParaRPr lang="zh-CN" altLang="en-US" sz="1600" dirty="0">
              <a:sym typeface="Huawei Sans" panose="020C0503030203020204" pitchFamily="34" charset="0"/>
            </a:endParaRPr>
          </a:p>
        </p:txBody>
      </p:sp>
      <p:sp>
        <p:nvSpPr>
          <p:cNvPr id="42" name="矩形 50">
            <a:extLst>
              <a:ext uri="{FF2B5EF4-FFF2-40B4-BE49-F238E27FC236}">
                <a16:creationId xmlns:a16="http://schemas.microsoft.com/office/drawing/2014/main" id="{522C1797-3FE3-4C99-8157-248399A6ACF1}"/>
              </a:ext>
            </a:extLst>
          </p:cNvPr>
          <p:cNvSpPr/>
          <p:nvPr/>
        </p:nvSpPr>
        <p:spPr bwMode="gray">
          <a:xfrm>
            <a:off x="5403183" y="4614611"/>
            <a:ext cx="765783" cy="822630"/>
          </a:xfrm>
          <a:prstGeom prst="rect">
            <a:avLst/>
          </a:prstGeom>
          <a:solidFill>
            <a:srgbClr val="56C4D2"/>
          </a:solidFill>
          <a:ln>
            <a:noFill/>
          </a:ln>
          <a:effectLst/>
        </p:spPr>
        <p:txBody>
          <a:bodyPr vert="horz" wrap="square" lIns="91440" tIns="45720" rIns="91440" bIns="45720" numCol="1" rtlCol="0" anchor="ctr" anchorCtr="0" compatLnSpc="1">
            <a:prstTxWarp prst="textNoShape">
              <a:avLst/>
            </a:prstTxWarp>
          </a:bodyPr>
          <a:lstStyle/>
          <a:p>
            <a:pPr algn="ctr">
              <a:buClr>
                <a:srgbClr val="CC9900"/>
              </a:buClr>
            </a:pPr>
            <a:r>
              <a:rPr lang="zh-CN" altLang="en-US" sz="18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应用识别</a:t>
            </a:r>
          </a:p>
        </p:txBody>
      </p:sp>
      <p:cxnSp>
        <p:nvCxnSpPr>
          <p:cNvPr id="45" name="直接箭头连接符 9">
            <a:extLst>
              <a:ext uri="{FF2B5EF4-FFF2-40B4-BE49-F238E27FC236}">
                <a16:creationId xmlns:a16="http://schemas.microsoft.com/office/drawing/2014/main" id="{8C876081-E2DF-4B14-9C7C-9A3F37E79C8D}"/>
              </a:ext>
            </a:extLst>
          </p:cNvPr>
          <p:cNvCxnSpPr>
            <a:cxnSpLocks/>
            <a:stCxn id="46" idx="3"/>
            <a:endCxn id="42" idx="1"/>
          </p:cNvCxnSpPr>
          <p:nvPr/>
        </p:nvCxnSpPr>
        <p:spPr bwMode="gray">
          <a:xfrm flipV="1">
            <a:off x="5056156" y="5025926"/>
            <a:ext cx="347027" cy="1"/>
          </a:xfrm>
          <a:prstGeom prst="straightConnector1">
            <a:avLst/>
          </a:prstGeom>
          <a:ln w="28575" cap="flat" cmpd="sng" algn="ctr">
            <a:solidFill>
              <a:schemeClr val="bg1">
                <a:lumMod val="50000"/>
              </a:schemeClr>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6" name="文本框 58">
            <a:extLst>
              <a:ext uri="{FF2B5EF4-FFF2-40B4-BE49-F238E27FC236}">
                <a16:creationId xmlns:a16="http://schemas.microsoft.com/office/drawing/2014/main" id="{BFB9A769-D3F6-49D7-9DDB-27727124AE8E}"/>
              </a:ext>
            </a:extLst>
          </p:cNvPr>
          <p:cNvSpPr txBox="1"/>
          <p:nvPr/>
        </p:nvSpPr>
        <p:spPr bwMode="gray">
          <a:xfrm>
            <a:off x="4502168" y="4779709"/>
            <a:ext cx="553988" cy="492436"/>
          </a:xfrm>
          <a:prstGeom prst="rect">
            <a:avLst/>
          </a:prstGeom>
          <a:solidFill>
            <a:srgbClr val="FDD351"/>
          </a:solidFill>
        </p:spPr>
        <p:txBody>
          <a:bodyPr wrap="square" lIns="121915" tIns="60957" rIns="121915" bIns="60957" rtlCol="0">
            <a:spAutoFit/>
          </a:bodyPr>
          <a:lstStyle/>
          <a:p>
            <a:r>
              <a:rPr lang="zh-CN" altLang="en-US"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接收报文</a:t>
            </a:r>
          </a:p>
        </p:txBody>
      </p:sp>
      <p:sp>
        <p:nvSpPr>
          <p:cNvPr id="84" name="矩形 107">
            <a:extLst>
              <a:ext uri="{FF2B5EF4-FFF2-40B4-BE49-F238E27FC236}">
                <a16:creationId xmlns:a16="http://schemas.microsoft.com/office/drawing/2014/main" id="{1C060B32-2844-4786-A845-5145F14281B7}"/>
              </a:ext>
            </a:extLst>
          </p:cNvPr>
          <p:cNvSpPr/>
          <p:nvPr/>
        </p:nvSpPr>
        <p:spPr bwMode="gray">
          <a:xfrm>
            <a:off x="4241041" y="4178338"/>
            <a:ext cx="6484109" cy="1656184"/>
          </a:xfrm>
          <a:prstGeom prst="rect">
            <a:avLst/>
          </a:prstGeom>
          <a:noFill/>
          <a:ln>
            <a:solidFill>
              <a:schemeClr val="tx1"/>
            </a:solidFill>
            <a:prstDash val="dash"/>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pPr>
            <a:r>
              <a:rPr lang="en-US" altLang="zh-CN" sz="18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EDGE</a:t>
            </a:r>
            <a:endParaRPr lang="zh-CN" altLang="en-US" sz="18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 name="矩形 50">
            <a:extLst>
              <a:ext uri="{FF2B5EF4-FFF2-40B4-BE49-F238E27FC236}">
                <a16:creationId xmlns:a16="http://schemas.microsoft.com/office/drawing/2014/main" id="{E6F34F1A-37C9-45DE-9DC3-6480D45CF9B4}"/>
              </a:ext>
            </a:extLst>
          </p:cNvPr>
          <p:cNvSpPr/>
          <p:nvPr/>
        </p:nvSpPr>
        <p:spPr bwMode="gray">
          <a:xfrm>
            <a:off x="6515993" y="4633663"/>
            <a:ext cx="765783" cy="784526"/>
          </a:xfrm>
          <a:prstGeom prst="rect">
            <a:avLst/>
          </a:prstGeom>
          <a:solidFill>
            <a:srgbClr val="56C4D2"/>
          </a:solidFill>
          <a:ln>
            <a:noFill/>
          </a:ln>
          <a:effectLst/>
        </p:spPr>
        <p:txBody>
          <a:bodyPr vert="horz" wrap="square" lIns="91440" tIns="45720" rIns="91440" bIns="45720" numCol="1" rtlCol="0" anchor="ctr" anchorCtr="0" compatLnSpc="1">
            <a:prstTxWarp prst="textNoShape">
              <a:avLst/>
            </a:prstTxWarp>
          </a:bodyPr>
          <a:lstStyle/>
          <a:p>
            <a:pPr algn="ctr">
              <a:buClr>
                <a:srgbClr val="CC9900"/>
              </a:buClr>
            </a:pPr>
            <a:r>
              <a:rPr lang="zh-CN" altLang="en-US" sz="18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智能选路</a:t>
            </a:r>
          </a:p>
        </p:txBody>
      </p:sp>
      <p:sp>
        <p:nvSpPr>
          <p:cNvPr id="8" name="矩形 50">
            <a:extLst>
              <a:ext uri="{FF2B5EF4-FFF2-40B4-BE49-F238E27FC236}">
                <a16:creationId xmlns:a16="http://schemas.microsoft.com/office/drawing/2014/main" id="{CB08E978-43C8-49FE-AADA-3506520CACA5}"/>
              </a:ext>
            </a:extLst>
          </p:cNvPr>
          <p:cNvSpPr/>
          <p:nvPr/>
        </p:nvSpPr>
        <p:spPr bwMode="gray">
          <a:xfrm>
            <a:off x="7628803" y="4633663"/>
            <a:ext cx="765783" cy="784526"/>
          </a:xfrm>
          <a:prstGeom prst="rect">
            <a:avLst/>
          </a:prstGeom>
          <a:solidFill>
            <a:srgbClr val="56C4D2"/>
          </a:solidFill>
          <a:ln>
            <a:noFill/>
          </a:ln>
          <a:effectLst/>
        </p:spPr>
        <p:txBody>
          <a:bodyPr vert="horz" wrap="square" lIns="91440" tIns="45720" rIns="91440" bIns="45720" numCol="1" rtlCol="0" anchor="ctr" anchorCtr="0" compatLnSpc="1">
            <a:prstTxWarp prst="textNoShape">
              <a:avLst/>
            </a:prstTxWarp>
          </a:bodyPr>
          <a:lstStyle/>
          <a:p>
            <a:pPr algn="ctr">
              <a:buClr>
                <a:srgbClr val="CC9900"/>
              </a:buClr>
            </a:pPr>
            <a:r>
              <a:rPr lang="zh-CN" altLang="en-US" sz="18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广域优化</a:t>
            </a:r>
          </a:p>
        </p:txBody>
      </p:sp>
      <p:sp>
        <p:nvSpPr>
          <p:cNvPr id="9" name="矩形 50">
            <a:extLst>
              <a:ext uri="{FF2B5EF4-FFF2-40B4-BE49-F238E27FC236}">
                <a16:creationId xmlns:a16="http://schemas.microsoft.com/office/drawing/2014/main" id="{0395BCDE-2A39-406F-A835-B8A7C67AA8F4}"/>
              </a:ext>
            </a:extLst>
          </p:cNvPr>
          <p:cNvSpPr/>
          <p:nvPr/>
        </p:nvSpPr>
        <p:spPr bwMode="gray">
          <a:xfrm>
            <a:off x="8741613" y="4633663"/>
            <a:ext cx="765783" cy="784526"/>
          </a:xfrm>
          <a:prstGeom prst="rect">
            <a:avLst/>
          </a:prstGeom>
          <a:solidFill>
            <a:srgbClr val="56C4D2"/>
          </a:solidFill>
          <a:ln>
            <a:noFill/>
          </a:ln>
          <a:effectLst/>
        </p:spPr>
        <p:txBody>
          <a:bodyPr vert="horz" wrap="square" lIns="91440" tIns="45720" rIns="91440" bIns="45720" numCol="1" rtlCol="0" anchor="ctr" anchorCtr="0" compatLnSpc="1">
            <a:prstTxWarp prst="textNoShape">
              <a:avLst/>
            </a:prstTxWarp>
          </a:bodyPr>
          <a:lstStyle/>
          <a:p>
            <a:pPr algn="ctr">
              <a:buClr>
                <a:srgbClr val="CC9900"/>
              </a:buClr>
            </a:pPr>
            <a:r>
              <a:rPr lang="en-US" altLang="zh-CN" sz="1800" dirty="0" err="1">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QoS</a:t>
            </a:r>
            <a:endParaRPr lang="zh-CN" altLang="en-US" sz="18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 name="文本框 58">
            <a:extLst>
              <a:ext uri="{FF2B5EF4-FFF2-40B4-BE49-F238E27FC236}">
                <a16:creationId xmlns:a16="http://schemas.microsoft.com/office/drawing/2014/main" id="{316C7905-E3FB-4C35-A5AC-4F5BBDE81124}"/>
              </a:ext>
            </a:extLst>
          </p:cNvPr>
          <p:cNvSpPr txBox="1"/>
          <p:nvPr/>
        </p:nvSpPr>
        <p:spPr bwMode="gray">
          <a:xfrm>
            <a:off x="9854423" y="4779708"/>
            <a:ext cx="556405" cy="492436"/>
          </a:xfrm>
          <a:prstGeom prst="rect">
            <a:avLst/>
          </a:prstGeom>
          <a:solidFill>
            <a:srgbClr val="FDD351"/>
          </a:solidFill>
        </p:spPr>
        <p:txBody>
          <a:bodyPr wrap="square" lIns="121915" tIns="60957" rIns="121915" bIns="60957" rtlCol="0">
            <a:sp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转发报文</a:t>
            </a:r>
          </a:p>
        </p:txBody>
      </p:sp>
      <p:cxnSp>
        <p:nvCxnSpPr>
          <p:cNvPr id="90" name="直接箭头连接符 9">
            <a:extLst>
              <a:ext uri="{FF2B5EF4-FFF2-40B4-BE49-F238E27FC236}">
                <a16:creationId xmlns:a16="http://schemas.microsoft.com/office/drawing/2014/main" id="{256749D8-0353-4EEA-BFC0-CB4581FD2700}"/>
              </a:ext>
            </a:extLst>
          </p:cNvPr>
          <p:cNvCxnSpPr>
            <a:cxnSpLocks/>
            <a:stCxn id="9" idx="3"/>
            <a:endCxn id="10" idx="1"/>
          </p:cNvCxnSpPr>
          <p:nvPr/>
        </p:nvCxnSpPr>
        <p:spPr bwMode="gray">
          <a:xfrm>
            <a:off x="9507396" y="5025926"/>
            <a:ext cx="347027" cy="0"/>
          </a:xfrm>
          <a:prstGeom prst="straightConnector1">
            <a:avLst/>
          </a:prstGeom>
          <a:ln w="28575" cap="flat" cmpd="sng" algn="ctr">
            <a:solidFill>
              <a:schemeClr val="bg1">
                <a:lumMod val="50000"/>
              </a:schemeClr>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1" name="直接箭头连接符 9">
            <a:extLst>
              <a:ext uri="{FF2B5EF4-FFF2-40B4-BE49-F238E27FC236}">
                <a16:creationId xmlns:a16="http://schemas.microsoft.com/office/drawing/2014/main" id="{3F471FF2-22AA-4EF6-B905-9FA6990290F7}"/>
              </a:ext>
            </a:extLst>
          </p:cNvPr>
          <p:cNvCxnSpPr>
            <a:stCxn id="42" idx="3"/>
            <a:endCxn id="6" idx="1"/>
          </p:cNvCxnSpPr>
          <p:nvPr/>
        </p:nvCxnSpPr>
        <p:spPr bwMode="gray">
          <a:xfrm>
            <a:off x="6168966" y="5025926"/>
            <a:ext cx="347027" cy="0"/>
          </a:xfrm>
          <a:prstGeom prst="straightConnector1">
            <a:avLst/>
          </a:prstGeom>
          <a:ln w="28575" cap="flat" cmpd="sng" algn="ctr">
            <a:solidFill>
              <a:schemeClr val="bg1">
                <a:lumMod val="50000"/>
              </a:schemeClr>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2" name="直接箭头连接符 9">
            <a:extLst>
              <a:ext uri="{FF2B5EF4-FFF2-40B4-BE49-F238E27FC236}">
                <a16:creationId xmlns:a16="http://schemas.microsoft.com/office/drawing/2014/main" id="{9D1AA4B5-E96F-489D-A4D4-D63D7C570A6F}"/>
              </a:ext>
            </a:extLst>
          </p:cNvPr>
          <p:cNvCxnSpPr>
            <a:stCxn id="6" idx="3"/>
            <a:endCxn id="8" idx="1"/>
          </p:cNvCxnSpPr>
          <p:nvPr/>
        </p:nvCxnSpPr>
        <p:spPr bwMode="gray">
          <a:xfrm>
            <a:off x="7281776" y="5025926"/>
            <a:ext cx="347027" cy="0"/>
          </a:xfrm>
          <a:prstGeom prst="straightConnector1">
            <a:avLst/>
          </a:prstGeom>
          <a:ln w="28575" cap="flat" cmpd="sng" algn="ctr">
            <a:solidFill>
              <a:schemeClr val="bg1">
                <a:lumMod val="50000"/>
              </a:schemeClr>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4" name="直接箭头连接符 9">
            <a:extLst>
              <a:ext uri="{FF2B5EF4-FFF2-40B4-BE49-F238E27FC236}">
                <a16:creationId xmlns:a16="http://schemas.microsoft.com/office/drawing/2014/main" id="{CFEB297E-2A08-4597-9882-A8D444EE2074}"/>
              </a:ext>
            </a:extLst>
          </p:cNvPr>
          <p:cNvCxnSpPr>
            <a:stCxn id="8" idx="3"/>
            <a:endCxn id="9" idx="1"/>
          </p:cNvCxnSpPr>
          <p:nvPr/>
        </p:nvCxnSpPr>
        <p:spPr bwMode="gray">
          <a:xfrm>
            <a:off x="8394586" y="5025926"/>
            <a:ext cx="347027" cy="0"/>
          </a:xfrm>
          <a:prstGeom prst="straightConnector1">
            <a:avLst/>
          </a:prstGeom>
          <a:ln w="28575" cap="flat" cmpd="sng" algn="ctr">
            <a:solidFill>
              <a:schemeClr val="bg1">
                <a:lumMod val="50000"/>
              </a:schemeClr>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04" name="圆角矩形 75">
            <a:extLst>
              <a:ext uri="{FF2B5EF4-FFF2-40B4-BE49-F238E27FC236}">
                <a16:creationId xmlns:a16="http://schemas.microsoft.com/office/drawing/2014/main" id="{743A9910-BC6C-4877-8467-B7866DD9D02D}"/>
              </a:ext>
            </a:extLst>
          </p:cNvPr>
          <p:cNvSpPr/>
          <p:nvPr/>
        </p:nvSpPr>
        <p:spPr bwMode="gray">
          <a:xfrm>
            <a:off x="3827599" y="3308180"/>
            <a:ext cx="722428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应用体验基本流程</a:t>
            </a:r>
          </a:p>
        </p:txBody>
      </p:sp>
      <p:sp>
        <p:nvSpPr>
          <p:cNvPr id="106" name="圆角矩形 75">
            <a:extLst>
              <a:ext uri="{FF2B5EF4-FFF2-40B4-BE49-F238E27FC236}">
                <a16:creationId xmlns:a16="http://schemas.microsoft.com/office/drawing/2014/main" id="{754E5DF2-B1A7-4359-AE04-CCDE0647D2A6}"/>
              </a:ext>
            </a:extLst>
          </p:cNvPr>
          <p:cNvSpPr/>
          <p:nvPr/>
        </p:nvSpPr>
        <p:spPr bwMode="gray">
          <a:xfrm>
            <a:off x="3827599" y="3742468"/>
            <a:ext cx="7224280" cy="233748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58883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bwMode="gray"/>
        <p:txBody>
          <a:bodyPr>
            <a:norm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cs typeface="+mn-ea"/>
                <a:sym typeface="Huawei Sans" panose="020C0503030203020204" pitchFamily="34" charset="0"/>
              </a:rPr>
              <a:t>应用识别与选路介绍</a:t>
            </a:r>
            <a:endParaRPr lang="zh-CN" altLang="en-US" dirty="0">
              <a:sym typeface="Huawei Sans" panose="020C0503030203020204" pitchFamily="34" charset="0"/>
            </a:endParaRPr>
          </a:p>
        </p:txBody>
      </p:sp>
      <p:sp>
        <p:nvSpPr>
          <p:cNvPr id="11" name="Text Placeholder 10">
            <a:extLst>
              <a:ext uri="{FF2B5EF4-FFF2-40B4-BE49-F238E27FC236}">
                <a16:creationId xmlns:a16="http://schemas.microsoft.com/office/drawing/2014/main" id="{023EF648-2CF4-4442-B656-BCA55CD10180}"/>
              </a:ext>
            </a:extLst>
          </p:cNvPr>
          <p:cNvSpPr>
            <a:spLocks noGrp="1"/>
          </p:cNvSpPr>
          <p:nvPr>
            <p:ph type="body" sz="quarter" idx="10"/>
          </p:nvPr>
        </p:nvSpPr>
        <p:spPr bwMode="gray"/>
        <p:txBody>
          <a:bodyPr/>
          <a:lstStyle/>
          <a:p>
            <a:pPr algn="l"/>
            <a:r>
              <a:rPr lang="zh-CN" altLang="en-US" sz="1800" dirty="0">
                <a:sym typeface="Huawei Sans" panose="020C0503030203020204" pitchFamily="34" charset="0"/>
              </a:rPr>
              <a:t>华为</a:t>
            </a:r>
            <a:r>
              <a:rPr lang="en-US" altLang="zh-CN" sz="1800" dirty="0">
                <a:sym typeface="Huawei Sans" panose="020C0503030203020204" pitchFamily="34" charset="0"/>
              </a:rPr>
              <a:t>SD-WAN</a:t>
            </a:r>
            <a:r>
              <a:rPr lang="zh-CN" altLang="en-US" sz="1800" dirty="0">
                <a:sym typeface="Huawei Sans" panose="020C0503030203020204" pitchFamily="34" charset="0"/>
              </a:rPr>
              <a:t>通过</a:t>
            </a:r>
            <a:r>
              <a:rPr lang="en-US" altLang="zh-CN" sz="1800" dirty="0">
                <a:sym typeface="Huawei Sans" panose="020C0503030203020204" pitchFamily="34" charset="0"/>
              </a:rPr>
              <a:t>SA</a:t>
            </a:r>
            <a:r>
              <a:rPr lang="zh-CN" altLang="en-US" sz="1800" dirty="0">
                <a:sym typeface="Huawei Sans" panose="020C0503030203020204" pitchFamily="34" charset="0"/>
              </a:rPr>
              <a:t>（</a:t>
            </a:r>
            <a:r>
              <a:rPr lang="en-US" altLang="zh-CN" sz="1800" dirty="0">
                <a:sym typeface="Huawei Sans" panose="020C0503030203020204" pitchFamily="34" charset="0"/>
              </a:rPr>
              <a:t>Service Awareness</a:t>
            </a:r>
            <a:r>
              <a:rPr lang="zh-CN" altLang="en-US" sz="1800" dirty="0">
                <a:sym typeface="Huawei Sans" panose="020C0503030203020204" pitchFamily="34" charset="0"/>
              </a:rPr>
              <a:t>）识别应用，并通过</a:t>
            </a:r>
            <a:r>
              <a:rPr lang="en-US" altLang="zh-CN" sz="1800" dirty="0">
                <a:sym typeface="Huawei Sans" panose="020C0503030203020204" pitchFamily="34" charset="0"/>
              </a:rPr>
              <a:t>SPR</a:t>
            </a:r>
            <a:r>
              <a:rPr lang="zh-CN" altLang="en-US" sz="1800" dirty="0">
                <a:sym typeface="Huawei Sans" panose="020C0503030203020204" pitchFamily="34" charset="0"/>
              </a:rPr>
              <a:t>（</a:t>
            </a:r>
            <a:r>
              <a:rPr lang="en-US" altLang="zh-CN" sz="1800" dirty="0">
                <a:sym typeface="Huawei Sans" panose="020C0503030203020204" pitchFamily="34" charset="0"/>
              </a:rPr>
              <a:t>Smart Policy Routing</a:t>
            </a:r>
            <a:r>
              <a:rPr lang="zh-CN" altLang="en-US" sz="1800" dirty="0">
                <a:sym typeface="Huawei Sans" panose="020C0503030203020204" pitchFamily="34" charset="0"/>
              </a:rPr>
              <a:t>，智能策略路由）实现智能选路。</a:t>
            </a:r>
            <a:endParaRPr lang="en-US" altLang="zh-CN" sz="1800" dirty="0">
              <a:sym typeface="Huawei Sans" panose="020C0503030203020204" pitchFamily="34" charset="0"/>
            </a:endParaRPr>
          </a:p>
          <a:p>
            <a:pPr lvl="1"/>
            <a:r>
              <a:rPr lang="en-US" altLang="zh-CN" sz="1600" dirty="0">
                <a:sym typeface="Huawei Sans" panose="020C0503030203020204" pitchFamily="34" charset="0"/>
              </a:rPr>
              <a:t>SAC</a:t>
            </a:r>
            <a:r>
              <a:rPr lang="zh-CN" altLang="en-US" sz="1600" dirty="0">
                <a:sym typeface="Huawei Sans" panose="020C0503030203020204" pitchFamily="34" charset="0"/>
              </a:rPr>
              <a:t>通过</a:t>
            </a:r>
            <a:r>
              <a:rPr lang="en-US" altLang="zh-CN" sz="1600" dirty="0">
                <a:sym typeface="Huawei Sans" panose="020C0503030203020204" pitchFamily="34" charset="0"/>
              </a:rPr>
              <a:t>SA</a:t>
            </a:r>
            <a:r>
              <a:rPr lang="zh-CN" altLang="en-US" sz="1600" dirty="0">
                <a:sym typeface="Huawei Sans" panose="020C0503030203020204" pitchFamily="34" charset="0"/>
              </a:rPr>
              <a:t>与</a:t>
            </a:r>
            <a:r>
              <a:rPr lang="en-US" altLang="zh-CN" sz="1600" dirty="0">
                <a:sym typeface="Huawei Sans" panose="020C0503030203020204" pitchFamily="34" charset="0"/>
              </a:rPr>
              <a:t>FPI</a:t>
            </a:r>
            <a:r>
              <a:rPr lang="zh-CN" altLang="en-US" sz="1600" dirty="0">
                <a:sym typeface="Huawei Sans" panose="020C0503030203020204" pitchFamily="34" charset="0"/>
              </a:rPr>
              <a:t>识别应用并分组流量</a:t>
            </a:r>
            <a:endParaRPr lang="en-US" altLang="zh-CN" sz="1600" dirty="0">
              <a:sym typeface="Huawei Sans" panose="020C0503030203020204" pitchFamily="34" charset="0"/>
            </a:endParaRPr>
          </a:p>
          <a:p>
            <a:pPr lvl="1"/>
            <a:r>
              <a:rPr lang="en-US" altLang="zh-CN" sz="1600" dirty="0">
                <a:sym typeface="Huawei Sans" panose="020C0503030203020204" pitchFamily="34" charset="0"/>
              </a:rPr>
              <a:t>SPR</a:t>
            </a:r>
            <a:r>
              <a:rPr lang="zh-CN" altLang="en-US" sz="1600" dirty="0">
                <a:sym typeface="Huawei Sans" panose="020C0503030203020204" pitchFamily="34" charset="0"/>
              </a:rPr>
              <a:t>基于探测报文确定链路质量从而决定转发路径</a:t>
            </a:r>
          </a:p>
        </p:txBody>
      </p:sp>
      <p:grpSp>
        <p:nvGrpSpPr>
          <p:cNvPr id="18" name="Group 17">
            <a:extLst>
              <a:ext uri="{FF2B5EF4-FFF2-40B4-BE49-F238E27FC236}">
                <a16:creationId xmlns:a16="http://schemas.microsoft.com/office/drawing/2014/main" id="{E66601D4-553B-495D-844C-C3E0B844B07E}"/>
              </a:ext>
            </a:extLst>
          </p:cNvPr>
          <p:cNvGrpSpPr/>
          <p:nvPr/>
        </p:nvGrpSpPr>
        <p:grpSpPr bwMode="gray">
          <a:xfrm>
            <a:off x="960669" y="3831221"/>
            <a:ext cx="10328852" cy="1734702"/>
            <a:chOff x="932706" y="3345205"/>
            <a:chExt cx="10328852" cy="1734702"/>
          </a:xfrm>
        </p:grpSpPr>
        <p:grpSp>
          <p:nvGrpSpPr>
            <p:cNvPr id="70" name="Group 69">
              <a:extLst>
                <a:ext uri="{FF2B5EF4-FFF2-40B4-BE49-F238E27FC236}">
                  <a16:creationId xmlns:a16="http://schemas.microsoft.com/office/drawing/2014/main" id="{71DECB0D-B15E-419C-9692-17F416272CD6}"/>
                </a:ext>
              </a:extLst>
            </p:cNvPr>
            <p:cNvGrpSpPr/>
            <p:nvPr/>
          </p:nvGrpSpPr>
          <p:grpSpPr bwMode="gray">
            <a:xfrm>
              <a:off x="932706" y="3345205"/>
              <a:ext cx="10328852" cy="1707845"/>
              <a:chOff x="923081" y="3116605"/>
              <a:chExt cx="10328852" cy="1707845"/>
            </a:xfrm>
          </p:grpSpPr>
          <p:pic>
            <p:nvPicPr>
              <p:cNvPr id="3" name="Picture 12" descr="E:\2016.01\1.12 扁平化图标\蓝色\AR-蓝色最新-40.png">
                <a:extLst>
                  <a:ext uri="{FF2B5EF4-FFF2-40B4-BE49-F238E27FC236}">
                    <a16:creationId xmlns:a16="http://schemas.microsoft.com/office/drawing/2014/main" id="{74F4DA4E-FE98-495C-9878-D65CEC2FBF61}"/>
                  </a:ext>
                </a:extLst>
              </p:cNvPr>
              <p:cNvPicPr>
                <a:picLocks noChangeAspect="1" noChangeArrowheads="1"/>
              </p:cNvPicPr>
              <p:nvPr/>
            </p:nvPicPr>
            <p:blipFill>
              <a:blip r:embed="rId3" cstate="print"/>
              <a:srcRect/>
              <a:stretch>
                <a:fillRect/>
              </a:stretch>
            </p:blipFill>
            <p:spPr bwMode="gray">
              <a:xfrm>
                <a:off x="10656668" y="3919241"/>
                <a:ext cx="440049" cy="360040"/>
              </a:xfrm>
              <a:prstGeom prst="rect">
                <a:avLst/>
              </a:prstGeom>
              <a:noFill/>
            </p:spPr>
          </p:pic>
          <p:sp>
            <p:nvSpPr>
              <p:cNvPr id="25" name="Freeform 159">
                <a:extLst>
                  <a:ext uri="{FF2B5EF4-FFF2-40B4-BE49-F238E27FC236}">
                    <a16:creationId xmlns:a16="http://schemas.microsoft.com/office/drawing/2014/main" id="{7FA4A89D-BBF1-4095-9E45-99725D0A5DF6}"/>
                  </a:ext>
                </a:extLst>
              </p:cNvPr>
              <p:cNvSpPr/>
              <p:nvPr/>
            </p:nvSpPr>
            <p:spPr bwMode="gray">
              <a:xfrm flipH="1">
                <a:off x="8634568" y="3272624"/>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cxnSp>
            <p:nvCxnSpPr>
              <p:cNvPr id="26" name="Straight Connector 25">
                <a:extLst>
                  <a:ext uri="{FF2B5EF4-FFF2-40B4-BE49-F238E27FC236}">
                    <a16:creationId xmlns:a16="http://schemas.microsoft.com/office/drawing/2014/main" id="{415036CB-04E7-415D-8129-5B403757739B}"/>
                  </a:ext>
                </a:extLst>
              </p:cNvPr>
              <p:cNvCxnSpPr>
                <a:cxnSpLocks/>
                <a:stCxn id="33" idx="0"/>
                <a:endCxn id="25" idx="21"/>
              </p:cNvCxnSpPr>
              <p:nvPr/>
            </p:nvCxnSpPr>
            <p:spPr bwMode="gray">
              <a:xfrm flipV="1">
                <a:off x="7277039" y="3605934"/>
                <a:ext cx="1357529" cy="2800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Freeform 159">
                <a:extLst>
                  <a:ext uri="{FF2B5EF4-FFF2-40B4-BE49-F238E27FC236}">
                    <a16:creationId xmlns:a16="http://schemas.microsoft.com/office/drawing/2014/main" id="{718EA6D1-48BE-499A-B427-BA4133069446}"/>
                  </a:ext>
                </a:extLst>
              </p:cNvPr>
              <p:cNvSpPr/>
              <p:nvPr/>
            </p:nvSpPr>
            <p:spPr bwMode="gray">
              <a:xfrm flipH="1">
                <a:off x="8634568" y="4345384"/>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Straight Connector 28">
                <a:extLst>
                  <a:ext uri="{FF2B5EF4-FFF2-40B4-BE49-F238E27FC236}">
                    <a16:creationId xmlns:a16="http://schemas.microsoft.com/office/drawing/2014/main" id="{880B185E-7C14-4912-AB6C-C5B5D1878401}"/>
                  </a:ext>
                </a:extLst>
              </p:cNvPr>
              <p:cNvCxnSpPr>
                <a:cxnSpLocks/>
                <a:stCxn id="33" idx="2"/>
                <a:endCxn id="28" idx="21"/>
              </p:cNvCxnSpPr>
              <p:nvPr/>
            </p:nvCxnSpPr>
            <p:spPr bwMode="gray">
              <a:xfrm>
                <a:off x="7277039" y="4246068"/>
                <a:ext cx="1357529" cy="43262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33" name="Picture 12" descr="E:\2016.01\1.12 扁平化图标\蓝色\AR-蓝色最新-40.png">
                <a:extLst>
                  <a:ext uri="{FF2B5EF4-FFF2-40B4-BE49-F238E27FC236}">
                    <a16:creationId xmlns:a16="http://schemas.microsoft.com/office/drawing/2014/main" id="{02AA7429-9D69-4B0A-B491-A7D83DFC8698}"/>
                  </a:ext>
                </a:extLst>
              </p:cNvPr>
              <p:cNvPicPr>
                <a:picLocks noChangeAspect="1" noChangeArrowheads="1"/>
              </p:cNvPicPr>
              <p:nvPr/>
            </p:nvPicPr>
            <p:blipFill>
              <a:blip r:embed="rId3" cstate="print"/>
              <a:srcRect/>
              <a:stretch>
                <a:fillRect/>
              </a:stretch>
            </p:blipFill>
            <p:spPr bwMode="gray">
              <a:xfrm>
                <a:off x="7057014" y="3886028"/>
                <a:ext cx="440049" cy="360040"/>
              </a:xfrm>
              <a:prstGeom prst="rect">
                <a:avLst/>
              </a:prstGeom>
              <a:noFill/>
            </p:spPr>
          </p:pic>
          <p:sp>
            <p:nvSpPr>
              <p:cNvPr id="39" name="Trapezoid 53">
                <a:extLst>
                  <a:ext uri="{FF2B5EF4-FFF2-40B4-BE49-F238E27FC236}">
                    <a16:creationId xmlns:a16="http://schemas.microsoft.com/office/drawing/2014/main" id="{038ED0B9-9B19-4B40-AEAD-2480688A9092}"/>
                  </a:ext>
                </a:extLst>
              </p:cNvPr>
              <p:cNvSpPr/>
              <p:nvPr/>
            </p:nvSpPr>
            <p:spPr bwMode="gray">
              <a:xfrm rot="5400000">
                <a:off x="5139269" y="3204984"/>
                <a:ext cx="677646" cy="861736"/>
              </a:xfrm>
              <a:custGeom>
                <a:avLst/>
                <a:gdLst>
                  <a:gd name="connsiteX0" fmla="*/ 0 w 648072"/>
                  <a:gd name="connsiteY0" fmla="*/ 438787 h 438787"/>
                  <a:gd name="connsiteX1" fmla="*/ 271622 w 648072"/>
                  <a:gd name="connsiteY1" fmla="*/ 0 h 438787"/>
                  <a:gd name="connsiteX2" fmla="*/ 376450 w 648072"/>
                  <a:gd name="connsiteY2" fmla="*/ 0 h 438787"/>
                  <a:gd name="connsiteX3" fmla="*/ 648072 w 648072"/>
                  <a:gd name="connsiteY3" fmla="*/ 438787 h 438787"/>
                  <a:gd name="connsiteX4" fmla="*/ 0 w 648072"/>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289300 w 376450"/>
                  <a:gd name="connsiteY3" fmla="*/ 435612 h 438787"/>
                  <a:gd name="connsiteX4" fmla="*/ 0 w 376450"/>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298079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319245 w 376450"/>
                  <a:gd name="connsiteY1" fmla="*/ 0 h 438787"/>
                  <a:gd name="connsiteX2" fmla="*/ 376450 w 376450"/>
                  <a:gd name="connsiteY2" fmla="*/ 0 h 438787"/>
                  <a:gd name="connsiteX3" fmla="*/ 196783 w 376450"/>
                  <a:gd name="connsiteY3" fmla="*/ 436825 h 438787"/>
                  <a:gd name="connsiteX4" fmla="*/ 0 w 376450"/>
                  <a:gd name="connsiteY4" fmla="*/ 438787 h 438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450" h="438787">
                    <a:moveTo>
                      <a:pt x="0" y="438787"/>
                    </a:moveTo>
                    <a:lnTo>
                      <a:pt x="319245" y="0"/>
                    </a:lnTo>
                    <a:lnTo>
                      <a:pt x="376450" y="0"/>
                    </a:lnTo>
                    <a:lnTo>
                      <a:pt x="196783" y="436825"/>
                    </a:lnTo>
                    <a:lnTo>
                      <a:pt x="0" y="438787"/>
                    </a:lnTo>
                    <a:close/>
                  </a:path>
                </a:pathLst>
              </a:cu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Rectangle 39">
                <a:extLst>
                  <a:ext uri="{FF2B5EF4-FFF2-40B4-BE49-F238E27FC236}">
                    <a16:creationId xmlns:a16="http://schemas.microsoft.com/office/drawing/2014/main" id="{B15B0304-57F4-439B-BD79-9500B5117D96}"/>
                  </a:ext>
                </a:extLst>
              </p:cNvPr>
              <p:cNvSpPr/>
              <p:nvPr/>
            </p:nvSpPr>
            <p:spPr bwMode="gray">
              <a:xfrm>
                <a:off x="3622387" y="3307074"/>
                <a:ext cx="1383404" cy="352417"/>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视频应用</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rapezoid 53">
                <a:extLst>
                  <a:ext uri="{FF2B5EF4-FFF2-40B4-BE49-F238E27FC236}">
                    <a16:creationId xmlns:a16="http://schemas.microsoft.com/office/drawing/2014/main" id="{D1398E27-557D-4FA3-9451-DB6657ED8A3E}"/>
                  </a:ext>
                </a:extLst>
              </p:cNvPr>
              <p:cNvSpPr/>
              <p:nvPr/>
            </p:nvSpPr>
            <p:spPr bwMode="gray">
              <a:xfrm rot="16200000" flipV="1">
                <a:off x="5139542" y="4054758"/>
                <a:ext cx="677646" cy="861736"/>
              </a:xfrm>
              <a:custGeom>
                <a:avLst/>
                <a:gdLst>
                  <a:gd name="connsiteX0" fmla="*/ 0 w 648072"/>
                  <a:gd name="connsiteY0" fmla="*/ 438787 h 438787"/>
                  <a:gd name="connsiteX1" fmla="*/ 271622 w 648072"/>
                  <a:gd name="connsiteY1" fmla="*/ 0 h 438787"/>
                  <a:gd name="connsiteX2" fmla="*/ 376450 w 648072"/>
                  <a:gd name="connsiteY2" fmla="*/ 0 h 438787"/>
                  <a:gd name="connsiteX3" fmla="*/ 648072 w 648072"/>
                  <a:gd name="connsiteY3" fmla="*/ 438787 h 438787"/>
                  <a:gd name="connsiteX4" fmla="*/ 0 w 648072"/>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289300 w 376450"/>
                  <a:gd name="connsiteY3" fmla="*/ 435612 h 438787"/>
                  <a:gd name="connsiteX4" fmla="*/ 0 w 376450"/>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316599 w 376450"/>
                  <a:gd name="connsiteY1" fmla="*/ 0 h 438787"/>
                  <a:gd name="connsiteX2" fmla="*/ 376450 w 376450"/>
                  <a:gd name="connsiteY2" fmla="*/ 0 h 438787"/>
                  <a:gd name="connsiteX3" fmla="*/ 196783 w 376450"/>
                  <a:gd name="connsiteY3" fmla="*/ 436825 h 438787"/>
                  <a:gd name="connsiteX4" fmla="*/ 0 w 376450"/>
                  <a:gd name="connsiteY4" fmla="*/ 438787 h 438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450" h="438787">
                    <a:moveTo>
                      <a:pt x="0" y="438787"/>
                    </a:moveTo>
                    <a:lnTo>
                      <a:pt x="316599" y="0"/>
                    </a:lnTo>
                    <a:lnTo>
                      <a:pt x="376450" y="0"/>
                    </a:lnTo>
                    <a:lnTo>
                      <a:pt x="196783" y="436825"/>
                    </a:lnTo>
                    <a:lnTo>
                      <a:pt x="0" y="438787"/>
                    </a:lnTo>
                    <a:close/>
                  </a:path>
                </a:pathLst>
              </a:cu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Rectangle 42">
                <a:extLst>
                  <a:ext uri="{FF2B5EF4-FFF2-40B4-BE49-F238E27FC236}">
                    <a16:creationId xmlns:a16="http://schemas.microsoft.com/office/drawing/2014/main" id="{156CB4B6-6453-472D-BF9F-2ABCC4EE9599}"/>
                  </a:ext>
                </a:extLst>
              </p:cNvPr>
              <p:cNvSpPr/>
              <p:nvPr/>
            </p:nvSpPr>
            <p:spPr bwMode="gray">
              <a:xfrm>
                <a:off x="3622386" y="4472033"/>
                <a:ext cx="1386727" cy="352417"/>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上网业务</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rapezoid 43">
                <a:extLst>
                  <a:ext uri="{FF2B5EF4-FFF2-40B4-BE49-F238E27FC236}">
                    <a16:creationId xmlns:a16="http://schemas.microsoft.com/office/drawing/2014/main" id="{9C8FCBB6-74C4-4A08-8DB4-E564A08D8FFE}"/>
                  </a:ext>
                </a:extLst>
              </p:cNvPr>
              <p:cNvSpPr/>
              <p:nvPr/>
            </p:nvSpPr>
            <p:spPr bwMode="gray">
              <a:xfrm rot="5400000">
                <a:off x="5307153" y="3635139"/>
                <a:ext cx="352417" cy="829182"/>
              </a:xfrm>
              <a:prstGeom prst="trapezoid">
                <a:avLst>
                  <a:gd name="adj" fmla="val 34538"/>
                </a:avLst>
              </a:pr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Rectangle 46">
                <a:extLst>
                  <a:ext uri="{FF2B5EF4-FFF2-40B4-BE49-F238E27FC236}">
                    <a16:creationId xmlns:a16="http://schemas.microsoft.com/office/drawing/2014/main" id="{1CF5BC8C-5F87-49DF-AE7A-41075425E20B}"/>
                  </a:ext>
                </a:extLst>
              </p:cNvPr>
              <p:cNvSpPr/>
              <p:nvPr/>
            </p:nvSpPr>
            <p:spPr bwMode="gray">
              <a:xfrm>
                <a:off x="3619063" y="3873521"/>
                <a:ext cx="1386727" cy="352417"/>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语音应用</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Shape 51">
                <a:extLst>
                  <a:ext uri="{FF2B5EF4-FFF2-40B4-BE49-F238E27FC236}">
                    <a16:creationId xmlns:a16="http://schemas.microsoft.com/office/drawing/2014/main" id="{5114A956-D9CF-4053-943F-5779A33298C7}"/>
                  </a:ext>
                </a:extLst>
              </p:cNvPr>
              <p:cNvSpPr/>
              <p:nvPr/>
            </p:nvSpPr>
            <p:spPr bwMode="gray">
              <a:xfrm>
                <a:off x="5040404" y="3519439"/>
                <a:ext cx="6211529" cy="518033"/>
              </a:xfrm>
              <a:custGeom>
                <a:avLst/>
                <a:gdLst>
                  <a:gd name="connsiteX0" fmla="*/ 0 w 6996223"/>
                  <a:gd name="connsiteY0" fmla="*/ 0 h 831556"/>
                  <a:gd name="connsiteX1" fmla="*/ 1233377 w 6996223"/>
                  <a:gd name="connsiteY1" fmla="*/ 606056 h 831556"/>
                  <a:gd name="connsiteX2" fmla="*/ 2147777 w 6996223"/>
                  <a:gd name="connsiteY2" fmla="*/ 606056 h 831556"/>
                  <a:gd name="connsiteX3" fmla="*/ 4125433 w 6996223"/>
                  <a:gd name="connsiteY3" fmla="*/ 127591 h 831556"/>
                  <a:gd name="connsiteX4" fmla="*/ 6177516 w 6996223"/>
                  <a:gd name="connsiteY4" fmla="*/ 723014 h 831556"/>
                  <a:gd name="connsiteX5" fmla="*/ 6996223 w 6996223"/>
                  <a:gd name="connsiteY5" fmla="*/ 829340 h 83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6223" h="831556">
                    <a:moveTo>
                      <a:pt x="0" y="0"/>
                    </a:moveTo>
                    <a:cubicBezTo>
                      <a:pt x="437707" y="252523"/>
                      <a:pt x="875414" y="505047"/>
                      <a:pt x="1233377" y="606056"/>
                    </a:cubicBezTo>
                    <a:cubicBezTo>
                      <a:pt x="1591340" y="707065"/>
                      <a:pt x="1665768" y="685800"/>
                      <a:pt x="2147777" y="606056"/>
                    </a:cubicBezTo>
                    <a:cubicBezTo>
                      <a:pt x="2629786" y="526312"/>
                      <a:pt x="3453810" y="108098"/>
                      <a:pt x="4125433" y="127591"/>
                    </a:cubicBezTo>
                    <a:cubicBezTo>
                      <a:pt x="4797056" y="147084"/>
                      <a:pt x="5699051" y="606056"/>
                      <a:pt x="6177516" y="723014"/>
                    </a:cubicBezTo>
                    <a:cubicBezTo>
                      <a:pt x="6655981" y="839972"/>
                      <a:pt x="6826102" y="834656"/>
                      <a:pt x="6996223" y="82934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Shape 52">
                <a:extLst>
                  <a:ext uri="{FF2B5EF4-FFF2-40B4-BE49-F238E27FC236}">
                    <a16:creationId xmlns:a16="http://schemas.microsoft.com/office/drawing/2014/main" id="{A6581B1D-FE2A-4D0E-B6F9-ADA5E26101B2}"/>
                  </a:ext>
                </a:extLst>
              </p:cNvPr>
              <p:cNvSpPr/>
              <p:nvPr/>
            </p:nvSpPr>
            <p:spPr bwMode="gray">
              <a:xfrm>
                <a:off x="5005790" y="4054885"/>
                <a:ext cx="6246143" cy="682122"/>
              </a:xfrm>
              <a:custGeom>
                <a:avLst/>
                <a:gdLst>
                  <a:gd name="connsiteX0" fmla="*/ 0 w 6953693"/>
                  <a:gd name="connsiteY0" fmla="*/ 624722 h 624722"/>
                  <a:gd name="connsiteX1" fmla="*/ 1063256 w 6953693"/>
                  <a:gd name="connsiteY1" fmla="*/ 71829 h 624722"/>
                  <a:gd name="connsiteX2" fmla="*/ 2243470 w 6953693"/>
                  <a:gd name="connsiteY2" fmla="*/ 61196 h 624722"/>
                  <a:gd name="connsiteX3" fmla="*/ 3987209 w 6953693"/>
                  <a:gd name="connsiteY3" fmla="*/ 571559 h 624722"/>
                  <a:gd name="connsiteX4" fmla="*/ 6060558 w 6953693"/>
                  <a:gd name="connsiteY4" fmla="*/ 188787 h 624722"/>
                  <a:gd name="connsiteX5" fmla="*/ 6953693 w 6953693"/>
                  <a:gd name="connsiteY5" fmla="*/ 114359 h 624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53693" h="624722">
                    <a:moveTo>
                      <a:pt x="0" y="624722"/>
                    </a:moveTo>
                    <a:cubicBezTo>
                      <a:pt x="344672" y="395236"/>
                      <a:pt x="689344" y="165750"/>
                      <a:pt x="1063256" y="71829"/>
                    </a:cubicBezTo>
                    <a:cubicBezTo>
                      <a:pt x="1437168" y="-22092"/>
                      <a:pt x="1756145" y="-22092"/>
                      <a:pt x="2243470" y="61196"/>
                    </a:cubicBezTo>
                    <a:cubicBezTo>
                      <a:pt x="2730795" y="144484"/>
                      <a:pt x="3351028" y="550294"/>
                      <a:pt x="3987209" y="571559"/>
                    </a:cubicBezTo>
                    <a:cubicBezTo>
                      <a:pt x="4623390" y="592824"/>
                      <a:pt x="5566144" y="264987"/>
                      <a:pt x="6060558" y="188787"/>
                    </a:cubicBezTo>
                    <a:cubicBezTo>
                      <a:pt x="6554972" y="112587"/>
                      <a:pt x="6754332" y="113473"/>
                      <a:pt x="6953693" y="114359"/>
                    </a:cubicBezTo>
                  </a:path>
                </a:pathLst>
              </a:custGeom>
              <a:noFill/>
              <a:ln w="28575">
                <a:solidFill>
                  <a:srgbClr val="AFD89C"/>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Freeform: Shape 53">
                <a:extLst>
                  <a:ext uri="{FF2B5EF4-FFF2-40B4-BE49-F238E27FC236}">
                    <a16:creationId xmlns:a16="http://schemas.microsoft.com/office/drawing/2014/main" id="{409A0A8A-CAB8-4B39-913C-394585C63222}"/>
                  </a:ext>
                </a:extLst>
              </p:cNvPr>
              <p:cNvSpPr/>
              <p:nvPr/>
            </p:nvSpPr>
            <p:spPr bwMode="gray">
              <a:xfrm rot="21329663">
                <a:off x="5069533" y="3995039"/>
                <a:ext cx="1435425" cy="75915"/>
              </a:xfrm>
              <a:custGeom>
                <a:avLst/>
                <a:gdLst>
                  <a:gd name="connsiteX0" fmla="*/ 0 w 1541721"/>
                  <a:gd name="connsiteY0" fmla="*/ 42531 h 75915"/>
                  <a:gd name="connsiteX1" fmla="*/ 765544 w 1541721"/>
                  <a:gd name="connsiteY1" fmla="*/ 74428 h 75915"/>
                  <a:gd name="connsiteX2" fmla="*/ 1541721 w 1541721"/>
                  <a:gd name="connsiteY2" fmla="*/ 0 h 75915"/>
                </a:gdLst>
                <a:ahLst/>
                <a:cxnLst>
                  <a:cxn ang="0">
                    <a:pos x="connsiteX0" y="connsiteY0"/>
                  </a:cxn>
                  <a:cxn ang="0">
                    <a:pos x="connsiteX1" y="connsiteY1"/>
                  </a:cxn>
                  <a:cxn ang="0">
                    <a:pos x="connsiteX2" y="connsiteY2"/>
                  </a:cxn>
                </a:cxnLst>
                <a:rect l="l" t="t" r="r" b="b"/>
                <a:pathLst>
                  <a:path w="1541721" h="75915">
                    <a:moveTo>
                      <a:pt x="0" y="42531"/>
                    </a:moveTo>
                    <a:cubicBezTo>
                      <a:pt x="254295" y="62023"/>
                      <a:pt x="508591" y="81516"/>
                      <a:pt x="765544" y="74428"/>
                    </a:cubicBezTo>
                    <a:cubicBezTo>
                      <a:pt x="1022497" y="67340"/>
                      <a:pt x="1378689" y="12405"/>
                      <a:pt x="1541721" y="0"/>
                    </a:cubicBezTo>
                  </a:path>
                </a:pathLst>
              </a:custGeom>
              <a:noFill/>
              <a:ln w="28575">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Rectangle 1">
                <a:extLst>
                  <a:ext uri="{FF2B5EF4-FFF2-40B4-BE49-F238E27FC236}">
                    <a16:creationId xmlns:a16="http://schemas.microsoft.com/office/drawing/2014/main" id="{0B5677AB-A797-4A28-8387-0B4456D28E89}"/>
                  </a:ext>
                </a:extLst>
              </p:cNvPr>
              <p:cNvSpPr/>
              <p:nvPr/>
            </p:nvSpPr>
            <p:spPr bwMode="gray">
              <a:xfrm>
                <a:off x="1615231" y="3873520"/>
                <a:ext cx="1074669" cy="352417"/>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功能模块</a:t>
                </a:r>
                <a:endPar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1" name="Straight Connector 60">
                <a:extLst>
                  <a:ext uri="{FF2B5EF4-FFF2-40B4-BE49-F238E27FC236}">
                    <a16:creationId xmlns:a16="http://schemas.microsoft.com/office/drawing/2014/main" id="{6177151F-82B6-447D-9523-0281FE3D7086}"/>
                  </a:ext>
                </a:extLst>
              </p:cNvPr>
              <p:cNvCxnSpPr>
                <a:cxnSpLocks/>
                <a:stCxn id="28" idx="8"/>
                <a:endCxn id="3" idx="2"/>
              </p:cNvCxnSpPr>
              <p:nvPr/>
            </p:nvCxnSpPr>
            <p:spPr bwMode="gray">
              <a:xfrm flipV="1">
                <a:off x="9544050" y="4279281"/>
                <a:ext cx="1332643" cy="3907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E3876C2-03F3-46FE-92AC-EC2FD5577D97}"/>
                  </a:ext>
                </a:extLst>
              </p:cNvPr>
              <p:cNvCxnSpPr>
                <a:cxnSpLocks/>
                <a:stCxn id="25" idx="8"/>
                <a:endCxn id="3" idx="0"/>
              </p:cNvCxnSpPr>
              <p:nvPr/>
            </p:nvCxnSpPr>
            <p:spPr bwMode="gray">
              <a:xfrm>
                <a:off x="9544050" y="3597281"/>
                <a:ext cx="1332643" cy="3219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FA6C5358-38A2-4A3F-BA27-F573C4C61814}"/>
                  </a:ext>
                </a:extLst>
              </p:cNvPr>
              <p:cNvSpPr/>
              <p:nvPr/>
            </p:nvSpPr>
            <p:spPr bwMode="gray">
              <a:xfrm rot="20048925">
                <a:off x="2699953" y="3710129"/>
                <a:ext cx="963431" cy="75915"/>
              </a:xfrm>
              <a:custGeom>
                <a:avLst/>
                <a:gdLst>
                  <a:gd name="connsiteX0" fmla="*/ 0 w 1541721"/>
                  <a:gd name="connsiteY0" fmla="*/ 42531 h 75915"/>
                  <a:gd name="connsiteX1" fmla="*/ 765544 w 1541721"/>
                  <a:gd name="connsiteY1" fmla="*/ 74428 h 75915"/>
                  <a:gd name="connsiteX2" fmla="*/ 1541721 w 1541721"/>
                  <a:gd name="connsiteY2" fmla="*/ 0 h 75915"/>
                </a:gdLst>
                <a:ahLst/>
                <a:cxnLst>
                  <a:cxn ang="0">
                    <a:pos x="connsiteX0" y="connsiteY0"/>
                  </a:cxn>
                  <a:cxn ang="0">
                    <a:pos x="connsiteX1" y="connsiteY1"/>
                  </a:cxn>
                  <a:cxn ang="0">
                    <a:pos x="connsiteX2" y="connsiteY2"/>
                  </a:cxn>
                </a:cxnLst>
                <a:rect l="l" t="t" r="r" b="b"/>
                <a:pathLst>
                  <a:path w="1541721" h="75915">
                    <a:moveTo>
                      <a:pt x="0" y="42531"/>
                    </a:moveTo>
                    <a:cubicBezTo>
                      <a:pt x="254295" y="62023"/>
                      <a:pt x="508591" y="81516"/>
                      <a:pt x="765544" y="74428"/>
                    </a:cubicBezTo>
                    <a:cubicBezTo>
                      <a:pt x="1022497" y="67340"/>
                      <a:pt x="1378689" y="12405"/>
                      <a:pt x="1541721"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Freeform: Shape 15">
                <a:extLst>
                  <a:ext uri="{FF2B5EF4-FFF2-40B4-BE49-F238E27FC236}">
                    <a16:creationId xmlns:a16="http://schemas.microsoft.com/office/drawing/2014/main" id="{81E0CD36-C61C-4280-A43E-37E0C5198B2E}"/>
                  </a:ext>
                </a:extLst>
              </p:cNvPr>
              <p:cNvSpPr/>
              <p:nvPr/>
            </p:nvSpPr>
            <p:spPr bwMode="gray">
              <a:xfrm rot="1551075" flipV="1">
                <a:off x="2679518" y="4314821"/>
                <a:ext cx="963431" cy="75915"/>
              </a:xfrm>
              <a:custGeom>
                <a:avLst/>
                <a:gdLst>
                  <a:gd name="connsiteX0" fmla="*/ 0 w 1541721"/>
                  <a:gd name="connsiteY0" fmla="*/ 42531 h 75915"/>
                  <a:gd name="connsiteX1" fmla="*/ 765544 w 1541721"/>
                  <a:gd name="connsiteY1" fmla="*/ 74428 h 75915"/>
                  <a:gd name="connsiteX2" fmla="*/ 1541721 w 1541721"/>
                  <a:gd name="connsiteY2" fmla="*/ 0 h 75915"/>
                </a:gdLst>
                <a:ahLst/>
                <a:cxnLst>
                  <a:cxn ang="0">
                    <a:pos x="connsiteX0" y="connsiteY0"/>
                  </a:cxn>
                  <a:cxn ang="0">
                    <a:pos x="connsiteX1" y="connsiteY1"/>
                  </a:cxn>
                  <a:cxn ang="0">
                    <a:pos x="connsiteX2" y="connsiteY2"/>
                  </a:cxn>
                </a:cxnLst>
                <a:rect l="l" t="t" r="r" b="b"/>
                <a:pathLst>
                  <a:path w="1541721" h="75915">
                    <a:moveTo>
                      <a:pt x="0" y="42531"/>
                    </a:moveTo>
                    <a:cubicBezTo>
                      <a:pt x="254295" y="62023"/>
                      <a:pt x="508591" y="81516"/>
                      <a:pt x="765544" y="74428"/>
                    </a:cubicBezTo>
                    <a:cubicBezTo>
                      <a:pt x="1022497" y="67340"/>
                      <a:pt x="1378689" y="12405"/>
                      <a:pt x="1541721" y="0"/>
                    </a:cubicBezTo>
                  </a:path>
                </a:pathLst>
              </a:custGeom>
              <a:noFill/>
              <a:ln w="28575">
                <a:solidFill>
                  <a:srgbClr val="AFD89C"/>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Freeform: Shape 16">
                <a:extLst>
                  <a:ext uri="{FF2B5EF4-FFF2-40B4-BE49-F238E27FC236}">
                    <a16:creationId xmlns:a16="http://schemas.microsoft.com/office/drawing/2014/main" id="{DFDE0B45-71EA-40B4-A35E-CA075E900F99}"/>
                  </a:ext>
                </a:extLst>
              </p:cNvPr>
              <p:cNvSpPr/>
              <p:nvPr/>
            </p:nvSpPr>
            <p:spPr bwMode="gray">
              <a:xfrm>
                <a:off x="2737879" y="4005700"/>
                <a:ext cx="863357" cy="75915"/>
              </a:xfrm>
              <a:custGeom>
                <a:avLst/>
                <a:gdLst>
                  <a:gd name="connsiteX0" fmla="*/ 0 w 1541721"/>
                  <a:gd name="connsiteY0" fmla="*/ 42531 h 75915"/>
                  <a:gd name="connsiteX1" fmla="*/ 765544 w 1541721"/>
                  <a:gd name="connsiteY1" fmla="*/ 74428 h 75915"/>
                  <a:gd name="connsiteX2" fmla="*/ 1541721 w 1541721"/>
                  <a:gd name="connsiteY2" fmla="*/ 0 h 75915"/>
                </a:gdLst>
                <a:ahLst/>
                <a:cxnLst>
                  <a:cxn ang="0">
                    <a:pos x="connsiteX0" y="connsiteY0"/>
                  </a:cxn>
                  <a:cxn ang="0">
                    <a:pos x="connsiteX1" y="connsiteY1"/>
                  </a:cxn>
                  <a:cxn ang="0">
                    <a:pos x="connsiteX2" y="connsiteY2"/>
                  </a:cxn>
                </a:cxnLst>
                <a:rect l="l" t="t" r="r" b="b"/>
                <a:pathLst>
                  <a:path w="1541721" h="75915">
                    <a:moveTo>
                      <a:pt x="0" y="42531"/>
                    </a:moveTo>
                    <a:cubicBezTo>
                      <a:pt x="254295" y="62023"/>
                      <a:pt x="508591" y="81516"/>
                      <a:pt x="765544" y="74428"/>
                    </a:cubicBezTo>
                    <a:cubicBezTo>
                      <a:pt x="1022497" y="67340"/>
                      <a:pt x="1378689" y="12405"/>
                      <a:pt x="1541721"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 name="Straight Connector 19">
                <a:extLst>
                  <a:ext uri="{FF2B5EF4-FFF2-40B4-BE49-F238E27FC236}">
                    <a16:creationId xmlns:a16="http://schemas.microsoft.com/office/drawing/2014/main" id="{D2299D05-8238-4053-A390-5C867EB4F5DD}"/>
                  </a:ext>
                </a:extLst>
              </p:cNvPr>
              <p:cNvCxnSpPr>
                <a:cxnSpLocks/>
              </p:cNvCxnSpPr>
              <p:nvPr/>
            </p:nvCxnSpPr>
            <p:spPr bwMode="gray">
              <a:xfrm>
                <a:off x="923081" y="4043657"/>
                <a:ext cx="673100" cy="0"/>
              </a:xfrm>
              <a:prstGeom prst="line">
                <a:avLst/>
              </a:prstGeom>
              <a:ln w="762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Rectangular Callout 26">
                <a:extLst>
                  <a:ext uri="{FF2B5EF4-FFF2-40B4-BE49-F238E27FC236}">
                    <a16:creationId xmlns:a16="http://schemas.microsoft.com/office/drawing/2014/main" id="{37C54591-EB27-433C-85A7-7016137E60CC}"/>
                  </a:ext>
                </a:extLst>
              </p:cNvPr>
              <p:cNvSpPr/>
              <p:nvPr/>
            </p:nvSpPr>
            <p:spPr bwMode="gray">
              <a:xfrm>
                <a:off x="1622325" y="3229965"/>
                <a:ext cx="1074669" cy="388952"/>
              </a:xfrm>
              <a:prstGeom prst="wedgeRectCallout">
                <a:avLst>
                  <a:gd name="adj1" fmla="val 27672"/>
                  <a:gd name="adj2" fmla="val 8867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应用识别</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Rectangular Callout 26">
                <a:extLst>
                  <a:ext uri="{FF2B5EF4-FFF2-40B4-BE49-F238E27FC236}">
                    <a16:creationId xmlns:a16="http://schemas.microsoft.com/office/drawing/2014/main" id="{BC066AFF-F73C-4ADB-958A-9B01AB6C2467}"/>
                  </a:ext>
                </a:extLst>
              </p:cNvPr>
              <p:cNvSpPr/>
              <p:nvPr/>
            </p:nvSpPr>
            <p:spPr bwMode="gray">
              <a:xfrm>
                <a:off x="5982345" y="3229965"/>
                <a:ext cx="1074669" cy="388952"/>
              </a:xfrm>
              <a:prstGeom prst="wedgeRectCallout">
                <a:avLst>
                  <a:gd name="adj1" fmla="val 27672"/>
                  <a:gd name="adj2" fmla="val 8867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智能选路</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椭圆 15">
                <a:extLst>
                  <a:ext uri="{FF2B5EF4-FFF2-40B4-BE49-F238E27FC236}">
                    <a16:creationId xmlns:a16="http://schemas.microsoft.com/office/drawing/2014/main" id="{81306C12-5AB7-4E89-BC22-15609264CF82}"/>
                  </a:ext>
                </a:extLst>
              </p:cNvPr>
              <p:cNvSpPr>
                <a:spLocks noChangeAspect="1"/>
              </p:cNvSpPr>
              <p:nvPr/>
            </p:nvSpPr>
            <p:spPr bwMode="gray">
              <a:xfrm>
                <a:off x="1506085" y="3120055"/>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椭圆 15">
                <a:extLst>
                  <a:ext uri="{FF2B5EF4-FFF2-40B4-BE49-F238E27FC236}">
                    <a16:creationId xmlns:a16="http://schemas.microsoft.com/office/drawing/2014/main" id="{DEC285F9-FF33-4B1E-AB94-A5115FFE032F}"/>
                  </a:ext>
                </a:extLst>
              </p:cNvPr>
              <p:cNvSpPr>
                <a:spLocks noChangeAspect="1"/>
              </p:cNvSpPr>
              <p:nvPr/>
            </p:nvSpPr>
            <p:spPr bwMode="gray">
              <a:xfrm>
                <a:off x="5896571" y="3116605"/>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Rectangle 37">
                <a:extLst>
                  <a:ext uri="{FF2B5EF4-FFF2-40B4-BE49-F238E27FC236}">
                    <a16:creationId xmlns:a16="http://schemas.microsoft.com/office/drawing/2014/main" id="{FAB7567E-8222-47B5-993E-7FA1C162F688}"/>
                  </a:ext>
                </a:extLst>
              </p:cNvPr>
              <p:cNvSpPr/>
              <p:nvPr/>
            </p:nvSpPr>
            <p:spPr bwMode="gray">
              <a:xfrm>
                <a:off x="5915780" y="3873522"/>
                <a:ext cx="1074669" cy="352417"/>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SPR</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功能模块</a:t>
                </a:r>
                <a:endPar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 name="TextBox 3">
              <a:extLst>
                <a:ext uri="{FF2B5EF4-FFF2-40B4-BE49-F238E27FC236}">
                  <a16:creationId xmlns:a16="http://schemas.microsoft.com/office/drawing/2014/main" id="{F7741726-0341-4D22-8209-90F0100D23DA}"/>
                </a:ext>
              </a:extLst>
            </p:cNvPr>
            <p:cNvSpPr txBox="1"/>
            <p:nvPr/>
          </p:nvSpPr>
          <p:spPr bwMode="gray">
            <a:xfrm rot="20941601">
              <a:off x="7290629" y="3646435"/>
              <a:ext cx="829073" cy="276999"/>
            </a:xfrm>
            <a:prstGeom prst="rect">
              <a:avLst/>
            </a:prstGeom>
            <a:solidFill>
              <a:schemeClr val="bg1">
                <a:lumMod val="50000"/>
              </a:schemeClr>
            </a:solidFill>
          </p:spPr>
          <p:txBody>
            <a:bodyPr wrap="none" rtlCol="0">
              <a:spAutoFit/>
            </a:bodyPr>
            <a:lstStyle/>
            <a:p>
              <a:pPr fontAlgn="auto"/>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链路探测</a:t>
              </a:r>
              <a:endPar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TextBox 4">
              <a:extLst>
                <a:ext uri="{FF2B5EF4-FFF2-40B4-BE49-F238E27FC236}">
                  <a16:creationId xmlns:a16="http://schemas.microsoft.com/office/drawing/2014/main" id="{FD01F45C-DB35-47F5-BB1C-E8358BD54C39}"/>
                </a:ext>
              </a:extLst>
            </p:cNvPr>
            <p:cNvSpPr txBox="1"/>
            <p:nvPr/>
          </p:nvSpPr>
          <p:spPr bwMode="gray">
            <a:xfrm rot="1255723">
              <a:off x="7246323" y="4694484"/>
              <a:ext cx="829073" cy="276999"/>
            </a:xfrm>
            <a:prstGeom prst="rect">
              <a:avLst/>
            </a:prstGeom>
            <a:solidFill>
              <a:schemeClr val="bg1">
                <a:lumMod val="50000"/>
              </a:schemeClr>
            </a:solidFill>
          </p:spPr>
          <p:txBody>
            <a:bodyPr wrap="none" rtlCol="0">
              <a:spAutoFit/>
            </a:bodyPr>
            <a:lstStyle/>
            <a:p>
              <a:pPr fontAlgn="auto"/>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链路探测</a:t>
              </a:r>
              <a:endPar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Straight Arrow Connector 45">
              <a:extLst>
                <a:ext uri="{FF2B5EF4-FFF2-40B4-BE49-F238E27FC236}">
                  <a16:creationId xmlns:a16="http://schemas.microsoft.com/office/drawing/2014/main" id="{BDE2EE3A-90E3-46C4-9205-87ECA836D5D0}"/>
                </a:ext>
              </a:extLst>
            </p:cNvPr>
            <p:cNvCxnSpPr>
              <a:cxnSpLocks/>
              <a:stCxn id="4" idx="3"/>
            </p:cNvCxnSpPr>
            <p:nvPr/>
          </p:nvCxnSpPr>
          <p:spPr bwMode="gray">
            <a:xfrm flipV="1">
              <a:off x="8112123" y="3633221"/>
              <a:ext cx="307775" cy="72806"/>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B5CB564-9650-4333-BFEC-C6823DEC62FF}"/>
                </a:ext>
              </a:extLst>
            </p:cNvPr>
            <p:cNvCxnSpPr>
              <a:cxnSpLocks/>
              <a:stCxn id="5" idx="3"/>
            </p:cNvCxnSpPr>
            <p:nvPr/>
          </p:nvCxnSpPr>
          <p:spPr bwMode="gray">
            <a:xfrm>
              <a:off x="8048047" y="4981059"/>
              <a:ext cx="268107" cy="98848"/>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6" name="圆角矩形 75">
            <a:extLst>
              <a:ext uri="{FF2B5EF4-FFF2-40B4-BE49-F238E27FC236}">
                <a16:creationId xmlns:a16="http://schemas.microsoft.com/office/drawing/2014/main" id="{1E8302AB-E11C-4ACC-B675-9731A08988F2}"/>
              </a:ext>
            </a:extLst>
          </p:cNvPr>
          <p:cNvSpPr/>
          <p:nvPr/>
        </p:nvSpPr>
        <p:spPr bwMode="gray">
          <a:xfrm>
            <a:off x="810236" y="2872149"/>
            <a:ext cx="10571527"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应用识别与选路基本流程</a:t>
            </a:r>
          </a:p>
        </p:txBody>
      </p:sp>
      <p:sp>
        <p:nvSpPr>
          <p:cNvPr id="8" name="圆角矩形 75">
            <a:extLst>
              <a:ext uri="{FF2B5EF4-FFF2-40B4-BE49-F238E27FC236}">
                <a16:creationId xmlns:a16="http://schemas.microsoft.com/office/drawing/2014/main" id="{C96F2478-BD3E-45C3-A1D4-0A8F8AE34CB1}"/>
              </a:ext>
            </a:extLst>
          </p:cNvPr>
          <p:cNvSpPr/>
          <p:nvPr/>
        </p:nvSpPr>
        <p:spPr bwMode="gray">
          <a:xfrm>
            <a:off x="810236" y="3306437"/>
            <a:ext cx="10571527" cy="273541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81194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bwMode="gray"/>
        <p:txBody>
          <a:bodyPr>
            <a:norm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 </a:t>
            </a:r>
            <a:r>
              <a:rPr lang="en-US" altLang="zh-CN" dirty="0" err="1">
                <a:cs typeface="+mn-ea"/>
                <a:sym typeface="Huawei Sans" panose="020C0503030203020204" pitchFamily="34" charset="0"/>
              </a:rPr>
              <a:t>QoS</a:t>
            </a:r>
            <a:r>
              <a:rPr lang="zh-CN" altLang="en-US" dirty="0">
                <a:cs typeface="+mn-ea"/>
                <a:sym typeface="Huawei Sans" panose="020C0503030203020204" pitchFamily="34" charset="0"/>
              </a:rPr>
              <a:t>与广域优化介绍</a:t>
            </a:r>
            <a:endParaRPr lang="zh-CN" altLang="en-US" dirty="0">
              <a:sym typeface="Huawei Sans" panose="020C0503030203020204" pitchFamily="34" charset="0"/>
            </a:endParaRPr>
          </a:p>
        </p:txBody>
      </p:sp>
      <p:sp>
        <p:nvSpPr>
          <p:cNvPr id="11" name="Text Placeholder 10">
            <a:extLst>
              <a:ext uri="{FF2B5EF4-FFF2-40B4-BE49-F238E27FC236}">
                <a16:creationId xmlns:a16="http://schemas.microsoft.com/office/drawing/2014/main" id="{023EF648-2CF4-4442-B656-BCA55CD10180}"/>
              </a:ext>
            </a:extLst>
          </p:cNvPr>
          <p:cNvSpPr>
            <a:spLocks noGrp="1"/>
          </p:cNvSpPr>
          <p:nvPr>
            <p:ph type="body" sz="quarter" idx="10"/>
          </p:nvPr>
        </p:nvSpPr>
        <p:spPr bwMode="gray"/>
        <p:txBody>
          <a:bodyPr/>
          <a:lstStyle/>
          <a:p>
            <a:pPr algn="l"/>
            <a:r>
              <a:rPr lang="zh-CN" altLang="en-US" sz="1800" dirty="0">
                <a:sym typeface="Huawei Sans" panose="020C0503030203020204" pitchFamily="34" charset="0"/>
              </a:rPr>
              <a:t>华为</a:t>
            </a:r>
            <a:r>
              <a:rPr lang="en-US" altLang="zh-CN" sz="1800" dirty="0">
                <a:sym typeface="Huawei Sans" panose="020C0503030203020204" pitchFamily="34" charset="0"/>
              </a:rPr>
              <a:t>SD-WAN</a:t>
            </a:r>
            <a:r>
              <a:rPr lang="zh-CN" altLang="en-US" sz="1800" dirty="0">
                <a:sym typeface="Huawei Sans" panose="020C0503030203020204" pitchFamily="34" charset="0"/>
              </a:rPr>
              <a:t>通过</a:t>
            </a:r>
            <a:r>
              <a:rPr lang="en-US" altLang="zh-CN" sz="1800" dirty="0" err="1">
                <a:sym typeface="Huawei Sans" panose="020C0503030203020204" pitchFamily="34" charset="0"/>
              </a:rPr>
              <a:t>HQoS</a:t>
            </a:r>
            <a:r>
              <a:rPr lang="zh-CN" altLang="en-US" sz="1800" dirty="0">
                <a:sym typeface="Huawei Sans" panose="020C0503030203020204" pitchFamily="34" charset="0"/>
              </a:rPr>
              <a:t>实现带宽控制与调度，通过</a:t>
            </a:r>
            <a:r>
              <a:rPr lang="en-US" altLang="zh-CN" sz="1800" dirty="0">
                <a:sym typeface="Huawei Sans" panose="020C0503030203020204" pitchFamily="34" charset="0"/>
              </a:rPr>
              <a:t>FEC</a:t>
            </a:r>
            <a:r>
              <a:rPr lang="zh-CN" altLang="en-US" sz="1800" dirty="0">
                <a:sym typeface="Huawei Sans" panose="020C0503030203020204" pitchFamily="34" charset="0"/>
              </a:rPr>
              <a:t>（</a:t>
            </a:r>
            <a:r>
              <a:rPr lang="en-US" altLang="zh-CN" sz="1800" dirty="0">
                <a:sym typeface="Huawei Sans" panose="020C0503030203020204" pitchFamily="34" charset="0"/>
              </a:rPr>
              <a:t>Forward Error Correction</a:t>
            </a:r>
            <a:r>
              <a:rPr lang="zh-CN" altLang="en-US" sz="1800" dirty="0">
                <a:sym typeface="Huawei Sans" panose="020C0503030203020204" pitchFamily="34" charset="0"/>
              </a:rPr>
              <a:t>）</a:t>
            </a:r>
            <a:r>
              <a:rPr lang="en-US" altLang="zh-CN" sz="1800" dirty="0">
                <a:sym typeface="Huawei Sans" panose="020C0503030203020204" pitchFamily="34" charset="0"/>
              </a:rPr>
              <a:t>/A-FEC</a:t>
            </a:r>
            <a:r>
              <a:rPr lang="zh-CN" altLang="en-US" sz="1800" dirty="0">
                <a:sym typeface="Huawei Sans" panose="020C0503030203020204" pitchFamily="34" charset="0"/>
              </a:rPr>
              <a:t> （</a:t>
            </a:r>
            <a:r>
              <a:rPr lang="en-US" altLang="zh-CN" sz="1800" dirty="0">
                <a:sym typeface="Huawei Sans" panose="020C0503030203020204" pitchFamily="34" charset="0"/>
              </a:rPr>
              <a:t>Adaptive Forward Error Correction</a:t>
            </a:r>
            <a:r>
              <a:rPr lang="zh-CN" altLang="en-US" sz="1800" dirty="0">
                <a:sym typeface="Huawei Sans" panose="020C0503030203020204" pitchFamily="34" charset="0"/>
              </a:rPr>
              <a:t>）实现流量的广域优化。</a:t>
            </a:r>
            <a:endParaRPr lang="en-US" altLang="zh-CN" sz="1800" dirty="0">
              <a:sym typeface="Huawei Sans" panose="020C0503030203020204" pitchFamily="34" charset="0"/>
            </a:endParaRPr>
          </a:p>
          <a:p>
            <a:pPr lvl="1"/>
            <a:r>
              <a:rPr lang="en-US" altLang="zh-CN" sz="1600" dirty="0">
                <a:sym typeface="Huawei Sans" panose="020C0503030203020204" pitchFamily="34" charset="0"/>
              </a:rPr>
              <a:t>HQoS</a:t>
            </a:r>
            <a:r>
              <a:rPr lang="zh-CN" altLang="en-US" sz="1600" dirty="0">
                <a:sym typeface="Huawei Sans" panose="020C0503030203020204" pitchFamily="34" charset="0"/>
              </a:rPr>
              <a:t>基于多级队列实现层次化调度，不仅区分了业务，也区分了用户，实现了精细化的</a:t>
            </a:r>
            <a:r>
              <a:rPr lang="en-US" altLang="zh-CN" sz="1600" dirty="0">
                <a:sym typeface="Huawei Sans" panose="020C0503030203020204" pitchFamily="34" charset="0"/>
              </a:rPr>
              <a:t>QoS</a:t>
            </a:r>
            <a:r>
              <a:rPr lang="zh-CN" altLang="en-US" sz="1600" dirty="0">
                <a:sym typeface="Huawei Sans" panose="020C0503030203020204" pitchFamily="34" charset="0"/>
              </a:rPr>
              <a:t>服务</a:t>
            </a:r>
            <a:endParaRPr lang="en-US" altLang="zh-CN" sz="1600" dirty="0">
              <a:sym typeface="Huawei Sans" panose="020C0503030203020204" pitchFamily="34" charset="0"/>
            </a:endParaRPr>
          </a:p>
          <a:p>
            <a:pPr lvl="1"/>
            <a:r>
              <a:rPr lang="en-US" altLang="zh-CN" sz="1600" dirty="0">
                <a:sym typeface="Huawei Sans" panose="020C0503030203020204" pitchFamily="34" charset="0"/>
              </a:rPr>
              <a:t>FEC/A-FEC</a:t>
            </a:r>
            <a:r>
              <a:rPr lang="zh-CN" altLang="en-US" sz="1600" dirty="0">
                <a:sym typeface="Huawei Sans" panose="020C0503030203020204" pitchFamily="34" charset="0"/>
              </a:rPr>
              <a:t>优化根据网络的丢包情况调整相关参数生成冗余包，并由对端设备对数据报文进行校验和重组</a:t>
            </a:r>
            <a:endParaRPr lang="en-US" altLang="zh-CN" sz="1600" strike="sngStrike" dirty="0">
              <a:solidFill>
                <a:srgbClr val="FF0000"/>
              </a:solidFill>
              <a:sym typeface="Huawei Sans" panose="020C0503030203020204" pitchFamily="34" charset="0"/>
            </a:endParaRPr>
          </a:p>
        </p:txBody>
      </p:sp>
      <p:grpSp>
        <p:nvGrpSpPr>
          <p:cNvPr id="227" name="Group 226">
            <a:extLst>
              <a:ext uri="{FF2B5EF4-FFF2-40B4-BE49-F238E27FC236}">
                <a16:creationId xmlns:a16="http://schemas.microsoft.com/office/drawing/2014/main" id="{2FA2558E-DD8C-40E6-A567-87BEE7535574}"/>
              </a:ext>
            </a:extLst>
          </p:cNvPr>
          <p:cNvGrpSpPr/>
          <p:nvPr/>
        </p:nvGrpSpPr>
        <p:grpSpPr bwMode="gray">
          <a:xfrm>
            <a:off x="1275759" y="3344602"/>
            <a:ext cx="9555382" cy="2740450"/>
            <a:chOff x="990600" y="3243714"/>
            <a:chExt cx="9555382" cy="2740450"/>
          </a:xfrm>
        </p:grpSpPr>
        <p:sp>
          <p:nvSpPr>
            <p:cNvPr id="147" name="Freeform 159">
              <a:extLst>
                <a:ext uri="{FF2B5EF4-FFF2-40B4-BE49-F238E27FC236}">
                  <a16:creationId xmlns:a16="http://schemas.microsoft.com/office/drawing/2014/main" id="{21FB5724-401F-4258-AD61-A3A03400D5CA}"/>
                </a:ext>
              </a:extLst>
            </p:cNvPr>
            <p:cNvSpPr/>
            <p:nvPr/>
          </p:nvSpPr>
          <p:spPr bwMode="gray">
            <a:xfrm flipH="1">
              <a:off x="1381779" y="4664564"/>
              <a:ext cx="1614965" cy="84418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7" name="矩形 50">
              <a:extLst>
                <a:ext uri="{FF2B5EF4-FFF2-40B4-BE49-F238E27FC236}">
                  <a16:creationId xmlns:a16="http://schemas.microsoft.com/office/drawing/2014/main" id="{8C71C1D0-285D-46E1-8F26-A27BC2AF583A}"/>
                </a:ext>
              </a:extLst>
            </p:cNvPr>
            <p:cNvSpPr/>
            <p:nvPr/>
          </p:nvSpPr>
          <p:spPr bwMode="gray">
            <a:xfrm>
              <a:off x="1559210" y="5007712"/>
              <a:ext cx="805673" cy="481907"/>
            </a:xfrm>
            <a:prstGeom prst="rect">
              <a:avLst/>
            </a:prstGeom>
            <a:solidFill>
              <a:schemeClr val="bg1">
                <a:lumMod val="50000"/>
              </a:schemeClr>
            </a:solidFill>
            <a:ln>
              <a:noFill/>
            </a:ln>
            <a:effectLst/>
          </p:spPr>
          <p:txBody>
            <a:bodyPr vert="horz" wrap="square" lIns="91440" tIns="45720" rIns="91440" bIns="45720" numCol="1" rtlCol="0" anchor="ctr" anchorCtr="0" compatLnSpc="1">
              <a:prstTxWarp prst="textNoShape">
                <a:avLst/>
              </a:prstTxWarp>
            </a:bodyPr>
            <a:lstStyle/>
            <a:p>
              <a:pPr algn="ctr">
                <a:buClr>
                  <a:srgbClr val="CC9900"/>
                </a:buClr>
              </a:pPr>
              <a:r>
                <a:rPr lang="zh-CN" altLang="en-US" sz="14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应用识别</a:t>
              </a:r>
              <a:r>
                <a:rPr lang="en-US" altLang="zh-CN" sz="14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zh-CN" altLang="en-US" sz="14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选路</a:t>
              </a:r>
            </a:p>
          </p:txBody>
        </p:sp>
        <p:cxnSp>
          <p:nvCxnSpPr>
            <p:cNvPr id="148" name="Straight Connector 147">
              <a:extLst>
                <a:ext uri="{FF2B5EF4-FFF2-40B4-BE49-F238E27FC236}">
                  <a16:creationId xmlns:a16="http://schemas.microsoft.com/office/drawing/2014/main" id="{E3E3EC8B-398F-48D3-90F5-D5D82A059B85}"/>
                </a:ext>
              </a:extLst>
            </p:cNvPr>
            <p:cNvCxnSpPr>
              <a:cxnSpLocks/>
              <a:stCxn id="95" idx="1"/>
              <a:endCxn id="147" idx="8"/>
            </p:cNvCxnSpPr>
            <p:nvPr/>
          </p:nvCxnSpPr>
          <p:spPr bwMode="gray">
            <a:xfrm flipH="1">
              <a:off x="2996744" y="5229416"/>
              <a:ext cx="1066961" cy="1164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6" name="Picture 12" descr="E:\2016.01\1.12 扁平化图标\蓝色\AR-蓝色最新-40.png">
              <a:extLst>
                <a:ext uri="{FF2B5EF4-FFF2-40B4-BE49-F238E27FC236}">
                  <a16:creationId xmlns:a16="http://schemas.microsoft.com/office/drawing/2014/main" id="{1280D839-8218-4E99-8521-808955137FB0}"/>
                </a:ext>
              </a:extLst>
            </p:cNvPr>
            <p:cNvPicPr>
              <a:picLocks noChangeAspect="1" noChangeArrowheads="1"/>
            </p:cNvPicPr>
            <p:nvPr/>
          </p:nvPicPr>
          <p:blipFill>
            <a:blip r:embed="rId3" cstate="print"/>
            <a:srcRect/>
            <a:stretch>
              <a:fillRect/>
            </a:stretch>
          </p:blipFill>
          <p:spPr bwMode="gray">
            <a:xfrm>
              <a:off x="7663359" y="5082609"/>
              <a:ext cx="440049" cy="360040"/>
            </a:xfrm>
            <a:prstGeom prst="rect">
              <a:avLst/>
            </a:prstGeom>
            <a:noFill/>
          </p:spPr>
        </p:pic>
        <p:sp>
          <p:nvSpPr>
            <p:cNvPr id="87" name="Freeform 159">
              <a:extLst>
                <a:ext uri="{FF2B5EF4-FFF2-40B4-BE49-F238E27FC236}">
                  <a16:creationId xmlns:a16="http://schemas.microsoft.com/office/drawing/2014/main" id="{570BBFA4-6832-4485-8346-CE49F51982C4}"/>
                </a:ext>
              </a:extLst>
            </p:cNvPr>
            <p:cNvSpPr/>
            <p:nvPr/>
          </p:nvSpPr>
          <p:spPr bwMode="gray">
            <a:xfrm flipH="1">
              <a:off x="5641259" y="4435992"/>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cxnSp>
          <p:nvCxnSpPr>
            <p:cNvPr id="88" name="Straight Connector 87">
              <a:extLst>
                <a:ext uri="{FF2B5EF4-FFF2-40B4-BE49-F238E27FC236}">
                  <a16:creationId xmlns:a16="http://schemas.microsoft.com/office/drawing/2014/main" id="{63E45703-3552-42BC-A82B-EF7691E453AA}"/>
                </a:ext>
              </a:extLst>
            </p:cNvPr>
            <p:cNvCxnSpPr>
              <a:cxnSpLocks/>
              <a:stCxn id="95" idx="0"/>
              <a:endCxn id="87" idx="21"/>
            </p:cNvCxnSpPr>
            <p:nvPr/>
          </p:nvCxnSpPr>
          <p:spPr bwMode="gray">
            <a:xfrm flipV="1">
              <a:off x="4283730" y="4769302"/>
              <a:ext cx="1357529" cy="2800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9" name="Freeform 159">
              <a:extLst>
                <a:ext uri="{FF2B5EF4-FFF2-40B4-BE49-F238E27FC236}">
                  <a16:creationId xmlns:a16="http://schemas.microsoft.com/office/drawing/2014/main" id="{A3A58D07-D641-4C3B-A9A3-7044E79F71E1}"/>
                </a:ext>
              </a:extLst>
            </p:cNvPr>
            <p:cNvSpPr/>
            <p:nvPr/>
          </p:nvSpPr>
          <p:spPr bwMode="gray">
            <a:xfrm flipH="1">
              <a:off x="5641259" y="5508752"/>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nterne</a:t>
              </a:r>
              <a:endPar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3" name="Straight Connector 92">
              <a:extLst>
                <a:ext uri="{FF2B5EF4-FFF2-40B4-BE49-F238E27FC236}">
                  <a16:creationId xmlns:a16="http://schemas.microsoft.com/office/drawing/2014/main" id="{D89774F8-73A0-423E-8ADD-1C6A7155308E}"/>
                </a:ext>
              </a:extLst>
            </p:cNvPr>
            <p:cNvCxnSpPr>
              <a:cxnSpLocks/>
              <a:stCxn id="95" idx="2"/>
              <a:endCxn id="89" idx="21"/>
            </p:cNvCxnSpPr>
            <p:nvPr/>
          </p:nvCxnSpPr>
          <p:spPr bwMode="gray">
            <a:xfrm>
              <a:off x="4283730" y="5409436"/>
              <a:ext cx="1357529" cy="43262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95" name="Picture 12" descr="E:\2016.01\1.12 扁平化图标\蓝色\AR-蓝色最新-40.png">
              <a:extLst>
                <a:ext uri="{FF2B5EF4-FFF2-40B4-BE49-F238E27FC236}">
                  <a16:creationId xmlns:a16="http://schemas.microsoft.com/office/drawing/2014/main" id="{89C89542-DD56-4CB9-9A17-A1769363D699}"/>
                </a:ext>
              </a:extLst>
            </p:cNvPr>
            <p:cNvPicPr>
              <a:picLocks noChangeAspect="1" noChangeArrowheads="1"/>
            </p:cNvPicPr>
            <p:nvPr/>
          </p:nvPicPr>
          <p:blipFill>
            <a:blip r:embed="rId3" cstate="print"/>
            <a:srcRect/>
            <a:stretch>
              <a:fillRect/>
            </a:stretch>
          </p:blipFill>
          <p:spPr bwMode="gray">
            <a:xfrm>
              <a:off x="4063705" y="5049396"/>
              <a:ext cx="440049" cy="360040"/>
            </a:xfrm>
            <a:prstGeom prst="rect">
              <a:avLst/>
            </a:prstGeom>
            <a:noFill/>
          </p:spPr>
        </p:pic>
        <p:cxnSp>
          <p:nvCxnSpPr>
            <p:cNvPr id="109" name="Straight Connector 108">
              <a:extLst>
                <a:ext uri="{FF2B5EF4-FFF2-40B4-BE49-F238E27FC236}">
                  <a16:creationId xmlns:a16="http://schemas.microsoft.com/office/drawing/2014/main" id="{05D6CF82-7824-49F2-A4C2-9EC1640CACC5}"/>
                </a:ext>
              </a:extLst>
            </p:cNvPr>
            <p:cNvCxnSpPr>
              <a:cxnSpLocks/>
              <a:stCxn id="89" idx="8"/>
              <a:endCxn id="86" idx="2"/>
            </p:cNvCxnSpPr>
            <p:nvPr/>
          </p:nvCxnSpPr>
          <p:spPr bwMode="gray">
            <a:xfrm flipV="1">
              <a:off x="6550741" y="5442649"/>
              <a:ext cx="1332643" cy="3907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1055547-F53B-4E82-9CCE-29B1AA4584B5}"/>
                </a:ext>
              </a:extLst>
            </p:cNvPr>
            <p:cNvCxnSpPr>
              <a:cxnSpLocks/>
              <a:stCxn id="87" idx="8"/>
              <a:endCxn id="86" idx="0"/>
            </p:cNvCxnSpPr>
            <p:nvPr/>
          </p:nvCxnSpPr>
          <p:spPr bwMode="gray">
            <a:xfrm>
              <a:off x="6550741" y="4760649"/>
              <a:ext cx="1332643" cy="3219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3" name="Freeform 159">
              <a:extLst>
                <a:ext uri="{FF2B5EF4-FFF2-40B4-BE49-F238E27FC236}">
                  <a16:creationId xmlns:a16="http://schemas.microsoft.com/office/drawing/2014/main" id="{741C692B-04C2-4A65-87AC-A2A3772C69D4}"/>
                </a:ext>
              </a:extLst>
            </p:cNvPr>
            <p:cNvSpPr/>
            <p:nvPr/>
          </p:nvSpPr>
          <p:spPr bwMode="gray">
            <a:xfrm flipH="1">
              <a:off x="8471763" y="4680439"/>
              <a:ext cx="1614965" cy="84418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4" name="Straight Connector 153">
              <a:extLst>
                <a:ext uri="{FF2B5EF4-FFF2-40B4-BE49-F238E27FC236}">
                  <a16:creationId xmlns:a16="http://schemas.microsoft.com/office/drawing/2014/main" id="{AD7490E3-7029-44FF-84C2-008F7C4C4130}"/>
                </a:ext>
              </a:extLst>
            </p:cNvPr>
            <p:cNvCxnSpPr>
              <a:cxnSpLocks/>
              <a:stCxn id="86" idx="3"/>
              <a:endCxn id="153" idx="21"/>
            </p:cNvCxnSpPr>
            <p:nvPr/>
          </p:nvCxnSpPr>
          <p:spPr bwMode="gray">
            <a:xfrm>
              <a:off x="8103408" y="5262629"/>
              <a:ext cx="368355" cy="966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1" name="Freeform: Shape 140">
              <a:extLst>
                <a:ext uri="{FF2B5EF4-FFF2-40B4-BE49-F238E27FC236}">
                  <a16:creationId xmlns:a16="http://schemas.microsoft.com/office/drawing/2014/main" id="{65BD203E-0993-47CD-87E2-2BB3935F423A}"/>
                </a:ext>
              </a:extLst>
            </p:cNvPr>
            <p:cNvSpPr/>
            <p:nvPr/>
          </p:nvSpPr>
          <p:spPr bwMode="gray">
            <a:xfrm>
              <a:off x="3898546" y="4677401"/>
              <a:ext cx="4896204" cy="442791"/>
            </a:xfrm>
            <a:custGeom>
              <a:avLst/>
              <a:gdLst>
                <a:gd name="connsiteX0" fmla="*/ 0 w 4427621"/>
                <a:gd name="connsiteY0" fmla="*/ 365789 h 442791"/>
                <a:gd name="connsiteX1" fmla="*/ 462013 w 4427621"/>
                <a:gd name="connsiteY1" fmla="*/ 317662 h 442791"/>
                <a:gd name="connsiteX2" fmla="*/ 2069432 w 4427621"/>
                <a:gd name="connsiteY2" fmla="*/ 29 h 442791"/>
                <a:gd name="connsiteX3" fmla="*/ 3734602 w 4427621"/>
                <a:gd name="connsiteY3" fmla="*/ 336913 h 442791"/>
                <a:gd name="connsiteX4" fmla="*/ 4427621 w 4427621"/>
                <a:gd name="connsiteY4" fmla="*/ 442791 h 442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7621" h="442791">
                  <a:moveTo>
                    <a:pt x="0" y="365789"/>
                  </a:moveTo>
                  <a:lnTo>
                    <a:pt x="462013" y="317662"/>
                  </a:lnTo>
                  <a:cubicBezTo>
                    <a:pt x="806918" y="256702"/>
                    <a:pt x="1524001" y="-3179"/>
                    <a:pt x="2069432" y="29"/>
                  </a:cubicBezTo>
                  <a:cubicBezTo>
                    <a:pt x="2614863" y="3237"/>
                    <a:pt x="3341571" y="263119"/>
                    <a:pt x="3734602" y="336913"/>
                  </a:cubicBezTo>
                  <a:cubicBezTo>
                    <a:pt x="4127633" y="410707"/>
                    <a:pt x="4277627" y="426749"/>
                    <a:pt x="4427621" y="442791"/>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Freeform: Shape 142">
              <a:extLst>
                <a:ext uri="{FF2B5EF4-FFF2-40B4-BE49-F238E27FC236}">
                  <a16:creationId xmlns:a16="http://schemas.microsoft.com/office/drawing/2014/main" id="{B863E725-0F2D-4A92-8EDB-47525D48F518}"/>
                </a:ext>
              </a:extLst>
            </p:cNvPr>
            <p:cNvSpPr/>
            <p:nvPr/>
          </p:nvSpPr>
          <p:spPr bwMode="gray">
            <a:xfrm>
              <a:off x="3940838" y="4822506"/>
              <a:ext cx="4853912" cy="442791"/>
            </a:xfrm>
            <a:custGeom>
              <a:avLst/>
              <a:gdLst>
                <a:gd name="connsiteX0" fmla="*/ 0 w 4427621"/>
                <a:gd name="connsiteY0" fmla="*/ 365789 h 442791"/>
                <a:gd name="connsiteX1" fmla="*/ 462013 w 4427621"/>
                <a:gd name="connsiteY1" fmla="*/ 317662 h 442791"/>
                <a:gd name="connsiteX2" fmla="*/ 2069432 w 4427621"/>
                <a:gd name="connsiteY2" fmla="*/ 29 h 442791"/>
                <a:gd name="connsiteX3" fmla="*/ 3734602 w 4427621"/>
                <a:gd name="connsiteY3" fmla="*/ 336913 h 442791"/>
                <a:gd name="connsiteX4" fmla="*/ 4427621 w 4427621"/>
                <a:gd name="connsiteY4" fmla="*/ 442791 h 442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7621" h="442791">
                  <a:moveTo>
                    <a:pt x="0" y="365789"/>
                  </a:moveTo>
                  <a:lnTo>
                    <a:pt x="462013" y="317662"/>
                  </a:lnTo>
                  <a:cubicBezTo>
                    <a:pt x="806918" y="256702"/>
                    <a:pt x="1524001" y="-3179"/>
                    <a:pt x="2069432" y="29"/>
                  </a:cubicBezTo>
                  <a:cubicBezTo>
                    <a:pt x="2614863" y="3237"/>
                    <a:pt x="3341571" y="263119"/>
                    <a:pt x="3734602" y="336913"/>
                  </a:cubicBezTo>
                  <a:cubicBezTo>
                    <a:pt x="4127633" y="410707"/>
                    <a:pt x="4277627" y="426749"/>
                    <a:pt x="4427621" y="442791"/>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Freeform: Shape 144">
              <a:extLst>
                <a:ext uri="{FF2B5EF4-FFF2-40B4-BE49-F238E27FC236}">
                  <a16:creationId xmlns:a16="http://schemas.microsoft.com/office/drawing/2014/main" id="{C25EBF0E-0992-4BF1-8051-3E4D94066280}"/>
                </a:ext>
              </a:extLst>
            </p:cNvPr>
            <p:cNvSpPr/>
            <p:nvPr/>
          </p:nvSpPr>
          <p:spPr bwMode="gray">
            <a:xfrm flipV="1">
              <a:off x="3946387" y="5392877"/>
              <a:ext cx="4848363" cy="442791"/>
            </a:xfrm>
            <a:custGeom>
              <a:avLst/>
              <a:gdLst>
                <a:gd name="connsiteX0" fmla="*/ 0 w 4427621"/>
                <a:gd name="connsiteY0" fmla="*/ 365789 h 442791"/>
                <a:gd name="connsiteX1" fmla="*/ 462013 w 4427621"/>
                <a:gd name="connsiteY1" fmla="*/ 317662 h 442791"/>
                <a:gd name="connsiteX2" fmla="*/ 2069432 w 4427621"/>
                <a:gd name="connsiteY2" fmla="*/ 29 h 442791"/>
                <a:gd name="connsiteX3" fmla="*/ 3734602 w 4427621"/>
                <a:gd name="connsiteY3" fmla="*/ 336913 h 442791"/>
                <a:gd name="connsiteX4" fmla="*/ 4427621 w 4427621"/>
                <a:gd name="connsiteY4" fmla="*/ 442791 h 442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7621" h="442791">
                  <a:moveTo>
                    <a:pt x="0" y="365789"/>
                  </a:moveTo>
                  <a:lnTo>
                    <a:pt x="462013" y="317662"/>
                  </a:lnTo>
                  <a:cubicBezTo>
                    <a:pt x="806918" y="256702"/>
                    <a:pt x="1524001" y="-3179"/>
                    <a:pt x="2069432" y="29"/>
                  </a:cubicBezTo>
                  <a:cubicBezTo>
                    <a:pt x="2614863" y="3237"/>
                    <a:pt x="3341571" y="263119"/>
                    <a:pt x="3734602" y="336913"/>
                  </a:cubicBezTo>
                  <a:cubicBezTo>
                    <a:pt x="4127633" y="410707"/>
                    <a:pt x="4277627" y="426749"/>
                    <a:pt x="4427621" y="442791"/>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Cylinder 70">
              <a:extLst>
                <a:ext uri="{FF2B5EF4-FFF2-40B4-BE49-F238E27FC236}">
                  <a16:creationId xmlns:a16="http://schemas.microsoft.com/office/drawing/2014/main" id="{4F8D2B16-8A83-4517-ADF9-E4604A7FBF86}"/>
                </a:ext>
              </a:extLst>
            </p:cNvPr>
            <p:cNvSpPr/>
            <p:nvPr/>
          </p:nvSpPr>
          <p:spPr bwMode="gray">
            <a:xfrm rot="16200000">
              <a:off x="3457309" y="4998139"/>
              <a:ext cx="638822" cy="461241"/>
            </a:xfrm>
            <a:prstGeom prst="can">
              <a:avLst/>
            </a:prstGeom>
            <a:solidFill>
              <a:srgbClr val="56C4D2"/>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Cylinder 71">
              <a:extLst>
                <a:ext uri="{FF2B5EF4-FFF2-40B4-BE49-F238E27FC236}">
                  <a16:creationId xmlns:a16="http://schemas.microsoft.com/office/drawing/2014/main" id="{ED7EFB19-6BE5-47F8-A9F7-E1B19D58D714}"/>
                </a:ext>
              </a:extLst>
            </p:cNvPr>
            <p:cNvSpPr/>
            <p:nvPr/>
          </p:nvSpPr>
          <p:spPr bwMode="gray">
            <a:xfrm rot="16200000">
              <a:off x="3192233" y="4899505"/>
              <a:ext cx="388045" cy="502633"/>
            </a:xfrm>
            <a:prstGeom prst="can">
              <a:avLst/>
            </a:prstGeom>
            <a:solidFill>
              <a:srgbClr val="81C15F"/>
            </a:solidFill>
            <a:ln>
              <a:solidFill>
                <a:srgbClr val="AFD8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Cylinder 75">
              <a:extLst>
                <a:ext uri="{FF2B5EF4-FFF2-40B4-BE49-F238E27FC236}">
                  <a16:creationId xmlns:a16="http://schemas.microsoft.com/office/drawing/2014/main" id="{9C6734FB-66F7-4057-8AA4-E8E5EA7A5614}"/>
                </a:ext>
              </a:extLst>
            </p:cNvPr>
            <p:cNvSpPr/>
            <p:nvPr/>
          </p:nvSpPr>
          <p:spPr bwMode="gray">
            <a:xfrm rot="16200000">
              <a:off x="3302460" y="5215031"/>
              <a:ext cx="126202" cy="461240"/>
            </a:xfrm>
            <a:prstGeom prst="can">
              <a:avLst>
                <a:gd name="adj" fmla="val 34434"/>
              </a:avLst>
            </a:prstGeom>
            <a:solidFill>
              <a:srgbClr val="81C15F"/>
            </a:solidFill>
            <a:ln>
              <a:solidFill>
                <a:srgbClr val="AFD8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Cylinder 77">
              <a:extLst>
                <a:ext uri="{FF2B5EF4-FFF2-40B4-BE49-F238E27FC236}">
                  <a16:creationId xmlns:a16="http://schemas.microsoft.com/office/drawing/2014/main" id="{67170EC6-6B4D-42E4-8989-E695C89A2646}"/>
                </a:ext>
              </a:extLst>
            </p:cNvPr>
            <p:cNvSpPr/>
            <p:nvPr/>
          </p:nvSpPr>
          <p:spPr bwMode="gray">
            <a:xfrm rot="16200000">
              <a:off x="2902172" y="4839289"/>
              <a:ext cx="126202" cy="461240"/>
            </a:xfrm>
            <a:prstGeom prst="can">
              <a:avLst>
                <a:gd name="adj" fmla="val 34434"/>
              </a:avLst>
            </a:prstGeom>
            <a:solidFill>
              <a:srgbClr val="FCC800"/>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Cylinder 79">
              <a:extLst>
                <a:ext uri="{FF2B5EF4-FFF2-40B4-BE49-F238E27FC236}">
                  <a16:creationId xmlns:a16="http://schemas.microsoft.com/office/drawing/2014/main" id="{82542893-E4A8-4556-AD5A-655BEC328273}"/>
                </a:ext>
              </a:extLst>
            </p:cNvPr>
            <p:cNvSpPr/>
            <p:nvPr/>
          </p:nvSpPr>
          <p:spPr bwMode="gray">
            <a:xfrm rot="16200000">
              <a:off x="2902172" y="4991689"/>
              <a:ext cx="126202" cy="461240"/>
            </a:xfrm>
            <a:prstGeom prst="can">
              <a:avLst>
                <a:gd name="adj" fmla="val 34434"/>
              </a:avLst>
            </a:prstGeom>
            <a:solidFill>
              <a:srgbClr val="FCC800"/>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Cylinder 81">
              <a:extLst>
                <a:ext uri="{FF2B5EF4-FFF2-40B4-BE49-F238E27FC236}">
                  <a16:creationId xmlns:a16="http://schemas.microsoft.com/office/drawing/2014/main" id="{55DF9DE7-1441-4550-B6A2-80A13D47F163}"/>
                </a:ext>
              </a:extLst>
            </p:cNvPr>
            <p:cNvSpPr/>
            <p:nvPr/>
          </p:nvSpPr>
          <p:spPr bwMode="gray">
            <a:xfrm rot="16200000">
              <a:off x="2902850" y="5235593"/>
              <a:ext cx="85432" cy="421827"/>
            </a:xfrm>
            <a:prstGeom prst="can">
              <a:avLst>
                <a:gd name="adj" fmla="val 34434"/>
              </a:avLst>
            </a:prstGeom>
            <a:solidFill>
              <a:srgbClr val="FCC800"/>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6" name="Straight Arrow Connector 125">
              <a:extLst>
                <a:ext uri="{FF2B5EF4-FFF2-40B4-BE49-F238E27FC236}">
                  <a16:creationId xmlns:a16="http://schemas.microsoft.com/office/drawing/2014/main" id="{AA772565-CEDB-4D1D-AE5B-16BF1AA62E6F}"/>
                </a:ext>
              </a:extLst>
            </p:cNvPr>
            <p:cNvCxnSpPr>
              <a:cxnSpLocks/>
            </p:cNvCxnSpPr>
            <p:nvPr/>
          </p:nvCxnSpPr>
          <p:spPr bwMode="gray">
            <a:xfrm>
              <a:off x="2324993" y="5063307"/>
              <a:ext cx="433473" cy="0"/>
            </a:xfrm>
            <a:prstGeom prst="straightConnector1">
              <a:avLst/>
            </a:prstGeom>
            <a:ln w="19050">
              <a:solidFill>
                <a:srgbClr val="E28189"/>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3B6928CE-9F95-444E-8B9A-104FF97B46E7}"/>
                </a:ext>
              </a:extLst>
            </p:cNvPr>
            <p:cNvCxnSpPr>
              <a:cxnSpLocks/>
            </p:cNvCxnSpPr>
            <p:nvPr/>
          </p:nvCxnSpPr>
          <p:spPr bwMode="gray">
            <a:xfrm>
              <a:off x="2324993" y="5219921"/>
              <a:ext cx="433473" cy="0"/>
            </a:xfrm>
            <a:prstGeom prst="straightConnector1">
              <a:avLst/>
            </a:prstGeom>
            <a:ln w="19050">
              <a:solidFill>
                <a:srgbClr val="E28189"/>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BE303B5E-966D-4FDF-8492-22CDA9FBDF83}"/>
                </a:ext>
              </a:extLst>
            </p:cNvPr>
            <p:cNvCxnSpPr>
              <a:cxnSpLocks/>
            </p:cNvCxnSpPr>
            <p:nvPr/>
          </p:nvCxnSpPr>
          <p:spPr bwMode="gray">
            <a:xfrm>
              <a:off x="2324993" y="5448696"/>
              <a:ext cx="433473" cy="0"/>
            </a:xfrm>
            <a:prstGeom prst="straightConnector1">
              <a:avLst/>
            </a:prstGeom>
            <a:ln w="19050">
              <a:solidFill>
                <a:srgbClr val="E28189"/>
              </a:solidFill>
              <a:tailEnd type="triangle"/>
            </a:ln>
          </p:spPr>
          <p:style>
            <a:lnRef idx="1">
              <a:schemeClr val="accent1"/>
            </a:lnRef>
            <a:fillRef idx="0">
              <a:schemeClr val="accent1"/>
            </a:fillRef>
            <a:effectRef idx="0">
              <a:schemeClr val="accent1"/>
            </a:effectRef>
            <a:fontRef idx="minor">
              <a:schemeClr val="tx1"/>
            </a:fontRef>
          </p:style>
        </p:cxnSp>
        <p:grpSp>
          <p:nvGrpSpPr>
            <p:cNvPr id="168" name="Group 167">
              <a:extLst>
                <a:ext uri="{FF2B5EF4-FFF2-40B4-BE49-F238E27FC236}">
                  <a16:creationId xmlns:a16="http://schemas.microsoft.com/office/drawing/2014/main" id="{A5371112-2E63-460B-A2F7-149ACCD93A17}"/>
                </a:ext>
              </a:extLst>
            </p:cNvPr>
            <p:cNvGrpSpPr/>
            <p:nvPr/>
          </p:nvGrpSpPr>
          <p:grpSpPr bwMode="gray">
            <a:xfrm>
              <a:off x="1697953" y="4523359"/>
              <a:ext cx="1366037" cy="388045"/>
              <a:chOff x="1785406" y="2934248"/>
              <a:chExt cx="1366037" cy="388045"/>
            </a:xfrm>
          </p:grpSpPr>
          <p:sp>
            <p:nvSpPr>
              <p:cNvPr id="167" name="Rectangle 166">
                <a:extLst>
                  <a:ext uri="{FF2B5EF4-FFF2-40B4-BE49-F238E27FC236}">
                    <a16:creationId xmlns:a16="http://schemas.microsoft.com/office/drawing/2014/main" id="{1C86560A-5FB3-4996-A61F-BBAF3D930CBA}"/>
                  </a:ext>
                </a:extLst>
              </p:cNvPr>
              <p:cNvSpPr/>
              <p:nvPr/>
            </p:nvSpPr>
            <p:spPr bwMode="gray">
              <a:xfrm>
                <a:off x="1785406" y="2934248"/>
                <a:ext cx="1366037"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TextBox 158">
                <a:extLst>
                  <a:ext uri="{FF2B5EF4-FFF2-40B4-BE49-F238E27FC236}">
                    <a16:creationId xmlns:a16="http://schemas.microsoft.com/office/drawing/2014/main" id="{511FED49-1AD0-49D3-853D-558E5F4E6610}"/>
                  </a:ext>
                </a:extLst>
              </p:cNvPr>
              <p:cNvSpPr txBox="1"/>
              <p:nvPr/>
            </p:nvSpPr>
            <p:spPr bwMode="gray">
              <a:xfrm>
                <a:off x="2820297" y="298678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161" name="TextBox 160">
                <a:extLst>
                  <a:ext uri="{FF2B5EF4-FFF2-40B4-BE49-F238E27FC236}">
                    <a16:creationId xmlns:a16="http://schemas.microsoft.com/office/drawing/2014/main" id="{21D8EC98-1CF0-4133-BB3D-540D203832D7}"/>
                  </a:ext>
                </a:extLst>
              </p:cNvPr>
              <p:cNvSpPr txBox="1"/>
              <p:nvPr/>
            </p:nvSpPr>
            <p:spPr bwMode="gray">
              <a:xfrm>
                <a:off x="2490150" y="298678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163" name="TextBox 162">
                <a:extLst>
                  <a:ext uri="{FF2B5EF4-FFF2-40B4-BE49-F238E27FC236}">
                    <a16:creationId xmlns:a16="http://schemas.microsoft.com/office/drawing/2014/main" id="{2BD9F3F3-1EBF-4AD9-9BB2-37BA965B8DD3}"/>
                  </a:ext>
                </a:extLst>
              </p:cNvPr>
              <p:cNvSpPr txBox="1"/>
              <p:nvPr/>
            </p:nvSpPr>
            <p:spPr bwMode="gray">
              <a:xfrm>
                <a:off x="2160003" y="299261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165" name="TextBox 164">
                <a:extLst>
                  <a:ext uri="{FF2B5EF4-FFF2-40B4-BE49-F238E27FC236}">
                    <a16:creationId xmlns:a16="http://schemas.microsoft.com/office/drawing/2014/main" id="{16CAB4EF-152B-42BA-88DC-6030E2C8D0EA}"/>
                  </a:ext>
                </a:extLst>
              </p:cNvPr>
              <p:cNvSpPr txBox="1"/>
              <p:nvPr/>
            </p:nvSpPr>
            <p:spPr bwMode="gray">
              <a:xfrm>
                <a:off x="1829856" y="299261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grpSp>
        <p:sp>
          <p:nvSpPr>
            <p:cNvPr id="169" name="TextBox 168">
              <a:extLst>
                <a:ext uri="{FF2B5EF4-FFF2-40B4-BE49-F238E27FC236}">
                  <a16:creationId xmlns:a16="http://schemas.microsoft.com/office/drawing/2014/main" id="{CDEC5844-39F4-4C78-AA56-C9B0CC6DE203}"/>
                </a:ext>
              </a:extLst>
            </p:cNvPr>
            <p:cNvSpPr txBox="1"/>
            <p:nvPr/>
          </p:nvSpPr>
          <p:spPr bwMode="gray">
            <a:xfrm>
              <a:off x="1929565" y="4209879"/>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关键流量</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Rectangular Callout 26">
              <a:extLst>
                <a:ext uri="{FF2B5EF4-FFF2-40B4-BE49-F238E27FC236}">
                  <a16:creationId xmlns:a16="http://schemas.microsoft.com/office/drawing/2014/main" id="{CBA7EF11-6043-4A84-92E9-38323E41190B}"/>
                </a:ext>
              </a:extLst>
            </p:cNvPr>
            <p:cNvSpPr/>
            <p:nvPr/>
          </p:nvSpPr>
          <p:spPr bwMode="gray">
            <a:xfrm>
              <a:off x="3189859" y="4376404"/>
              <a:ext cx="876257" cy="388952"/>
            </a:xfrm>
            <a:prstGeom prst="wedgeRectCallout">
              <a:avLst>
                <a:gd name="adj1" fmla="val 18649"/>
                <a:gd name="adj2" fmla="val 7630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HQoS</a:t>
              </a:r>
            </a:p>
          </p:txBody>
        </p:sp>
        <p:sp>
          <p:nvSpPr>
            <p:cNvPr id="176" name="Rectangle 175">
              <a:extLst>
                <a:ext uri="{FF2B5EF4-FFF2-40B4-BE49-F238E27FC236}">
                  <a16:creationId xmlns:a16="http://schemas.microsoft.com/office/drawing/2014/main" id="{8CE4DB35-AA97-4EA4-8793-63F728F2589A}"/>
                </a:ext>
              </a:extLst>
            </p:cNvPr>
            <p:cNvSpPr/>
            <p:nvPr/>
          </p:nvSpPr>
          <p:spPr bwMode="gray">
            <a:xfrm>
              <a:off x="5149515" y="3877815"/>
              <a:ext cx="1735625"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7" name="TextBox 176">
              <a:extLst>
                <a:ext uri="{FF2B5EF4-FFF2-40B4-BE49-F238E27FC236}">
                  <a16:creationId xmlns:a16="http://schemas.microsoft.com/office/drawing/2014/main" id="{1F19ED97-99B2-4ED7-9F0C-63EF6542737B}"/>
                </a:ext>
              </a:extLst>
            </p:cNvPr>
            <p:cNvSpPr txBox="1"/>
            <p:nvPr/>
          </p:nvSpPr>
          <p:spPr bwMode="gray">
            <a:xfrm>
              <a:off x="6525119" y="3930356"/>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178" name="TextBox 177">
              <a:extLst>
                <a:ext uri="{FF2B5EF4-FFF2-40B4-BE49-F238E27FC236}">
                  <a16:creationId xmlns:a16="http://schemas.microsoft.com/office/drawing/2014/main" id="{4F1F229D-E8B0-40ED-91D7-8B79C21A35CB}"/>
                </a:ext>
              </a:extLst>
            </p:cNvPr>
            <p:cNvSpPr txBox="1"/>
            <p:nvPr/>
          </p:nvSpPr>
          <p:spPr bwMode="gray">
            <a:xfrm>
              <a:off x="6194972" y="3535720"/>
              <a:ext cx="273050" cy="276999"/>
            </a:xfrm>
            <a:prstGeom prst="rect">
              <a:avLst/>
            </a:prstGeom>
            <a:solidFill>
              <a:srgbClr val="E28189"/>
            </a:solidFill>
            <a:ln>
              <a:solidFill>
                <a:srgbClr val="E28189"/>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179" name="TextBox 178">
              <a:extLst>
                <a:ext uri="{FF2B5EF4-FFF2-40B4-BE49-F238E27FC236}">
                  <a16:creationId xmlns:a16="http://schemas.microsoft.com/office/drawing/2014/main" id="{30B590BC-FE7D-4F9A-866F-23396086E2CD}"/>
                </a:ext>
              </a:extLst>
            </p:cNvPr>
            <p:cNvSpPr txBox="1"/>
            <p:nvPr/>
          </p:nvSpPr>
          <p:spPr bwMode="gray">
            <a:xfrm>
              <a:off x="5864825" y="3936186"/>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180" name="TextBox 179">
              <a:extLst>
                <a:ext uri="{FF2B5EF4-FFF2-40B4-BE49-F238E27FC236}">
                  <a16:creationId xmlns:a16="http://schemas.microsoft.com/office/drawing/2014/main" id="{86DA4114-DE06-4AB7-AFF0-59E058DFF51F}"/>
                </a:ext>
              </a:extLst>
            </p:cNvPr>
            <p:cNvSpPr txBox="1"/>
            <p:nvPr/>
          </p:nvSpPr>
          <p:spPr bwMode="gray">
            <a:xfrm>
              <a:off x="5534678" y="3936186"/>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sp>
          <p:nvSpPr>
            <p:cNvPr id="181" name="TextBox 180">
              <a:extLst>
                <a:ext uri="{FF2B5EF4-FFF2-40B4-BE49-F238E27FC236}">
                  <a16:creationId xmlns:a16="http://schemas.microsoft.com/office/drawing/2014/main" id="{A936A56B-FB98-4462-B2F2-A2B9E55E2B77}"/>
                </a:ext>
              </a:extLst>
            </p:cNvPr>
            <p:cNvSpPr txBox="1"/>
            <p:nvPr/>
          </p:nvSpPr>
          <p:spPr bwMode="gray">
            <a:xfrm>
              <a:off x="5121484" y="3536986"/>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关键流量</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3" name="Rectangular Callout 26">
              <a:extLst>
                <a:ext uri="{FF2B5EF4-FFF2-40B4-BE49-F238E27FC236}">
                  <a16:creationId xmlns:a16="http://schemas.microsoft.com/office/drawing/2014/main" id="{635E1ED4-6013-4A07-98CB-87D42E733D61}"/>
                </a:ext>
              </a:extLst>
            </p:cNvPr>
            <p:cNvSpPr/>
            <p:nvPr/>
          </p:nvSpPr>
          <p:spPr bwMode="gray">
            <a:xfrm>
              <a:off x="4147294" y="3718223"/>
              <a:ext cx="876257" cy="388952"/>
            </a:xfrm>
            <a:prstGeom prst="wedgeRectCallout">
              <a:avLst>
                <a:gd name="adj1" fmla="val 65882"/>
                <a:gd name="adj2" fmla="val 2433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添加</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冗余包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5" name="TextBox 184">
              <a:extLst>
                <a:ext uri="{FF2B5EF4-FFF2-40B4-BE49-F238E27FC236}">
                  <a16:creationId xmlns:a16="http://schemas.microsoft.com/office/drawing/2014/main" id="{3AD8776F-2517-497F-A416-40C7EFB0724B}"/>
                </a:ext>
              </a:extLst>
            </p:cNvPr>
            <p:cNvSpPr txBox="1"/>
            <p:nvPr/>
          </p:nvSpPr>
          <p:spPr bwMode="gray">
            <a:xfrm>
              <a:off x="5204531" y="3938891"/>
              <a:ext cx="273050" cy="276999"/>
            </a:xfrm>
            <a:prstGeom prst="rect">
              <a:avLst/>
            </a:prstGeom>
            <a:solidFill>
              <a:schemeClr val="bg1">
                <a:lumMod val="50000"/>
              </a:schemeClr>
            </a:solidFill>
            <a:ln>
              <a:solidFill>
                <a:schemeClr val="bg1">
                  <a:lumMod val="50000"/>
                </a:schemeClr>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p>
          </p:txBody>
        </p:sp>
        <p:cxnSp>
          <p:nvCxnSpPr>
            <p:cNvPr id="191" name="Straight Arrow Connector 190">
              <a:extLst>
                <a:ext uri="{FF2B5EF4-FFF2-40B4-BE49-F238E27FC236}">
                  <a16:creationId xmlns:a16="http://schemas.microsoft.com/office/drawing/2014/main" id="{84CC3FCB-7F28-4656-A0B4-48B1E127ED0F}"/>
                </a:ext>
              </a:extLst>
            </p:cNvPr>
            <p:cNvCxnSpPr>
              <a:cxnSpLocks/>
            </p:cNvCxnSpPr>
            <p:nvPr/>
          </p:nvCxnSpPr>
          <p:spPr bwMode="gray">
            <a:xfrm>
              <a:off x="990600" y="5235236"/>
              <a:ext cx="568610" cy="0"/>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8DF005BF-1F74-445A-BA80-7DF9EC017AC6}"/>
                </a:ext>
              </a:extLst>
            </p:cNvPr>
            <p:cNvCxnSpPr>
              <a:cxnSpLocks/>
              <a:stCxn id="178" idx="0"/>
            </p:cNvCxnSpPr>
            <p:nvPr/>
          </p:nvCxnSpPr>
          <p:spPr bwMode="gray">
            <a:xfrm flipV="1">
              <a:off x="6331497" y="3243714"/>
              <a:ext cx="0" cy="292006"/>
            </a:xfrm>
            <a:prstGeom prst="straightConnector1">
              <a:avLst/>
            </a:prstGeom>
            <a:ln w="190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198" name="Rectangular Callout 26">
              <a:extLst>
                <a:ext uri="{FF2B5EF4-FFF2-40B4-BE49-F238E27FC236}">
                  <a16:creationId xmlns:a16="http://schemas.microsoft.com/office/drawing/2014/main" id="{019DA2B4-81A4-4D65-BDC8-47476680BC8B}"/>
                </a:ext>
              </a:extLst>
            </p:cNvPr>
            <p:cNvSpPr/>
            <p:nvPr/>
          </p:nvSpPr>
          <p:spPr bwMode="gray">
            <a:xfrm>
              <a:off x="6638699" y="3336886"/>
              <a:ext cx="876257" cy="388952"/>
            </a:xfrm>
            <a:prstGeom prst="wedgeRectCallout">
              <a:avLst>
                <a:gd name="adj1" fmla="val -68907"/>
                <a:gd name="adj2" fmla="val 1650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数据丢包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0" name="Rectangle 199">
              <a:extLst>
                <a:ext uri="{FF2B5EF4-FFF2-40B4-BE49-F238E27FC236}">
                  <a16:creationId xmlns:a16="http://schemas.microsoft.com/office/drawing/2014/main" id="{013CD97A-3558-4764-AC89-90E309776D4D}"/>
                </a:ext>
              </a:extLst>
            </p:cNvPr>
            <p:cNvSpPr/>
            <p:nvPr/>
          </p:nvSpPr>
          <p:spPr bwMode="gray">
            <a:xfrm>
              <a:off x="8810357" y="4696559"/>
              <a:ext cx="1735625"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2" name="TextBox 201">
              <a:extLst>
                <a:ext uri="{FF2B5EF4-FFF2-40B4-BE49-F238E27FC236}">
                  <a16:creationId xmlns:a16="http://schemas.microsoft.com/office/drawing/2014/main" id="{6070C65F-67AF-4BFC-9AE1-9C20C4EA6755}"/>
                </a:ext>
              </a:extLst>
            </p:cNvPr>
            <p:cNvSpPr txBox="1"/>
            <p:nvPr/>
          </p:nvSpPr>
          <p:spPr bwMode="gray">
            <a:xfrm>
              <a:off x="10185961" y="4749100"/>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204" name="TextBox 203">
              <a:extLst>
                <a:ext uri="{FF2B5EF4-FFF2-40B4-BE49-F238E27FC236}">
                  <a16:creationId xmlns:a16="http://schemas.microsoft.com/office/drawing/2014/main" id="{F2EE6A1C-BF71-4372-9E15-74F4DE97C275}"/>
                </a:ext>
              </a:extLst>
            </p:cNvPr>
            <p:cNvSpPr txBox="1"/>
            <p:nvPr/>
          </p:nvSpPr>
          <p:spPr bwMode="gray">
            <a:xfrm>
              <a:off x="9525667" y="4754930"/>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206" name="TextBox 205">
              <a:extLst>
                <a:ext uri="{FF2B5EF4-FFF2-40B4-BE49-F238E27FC236}">
                  <a16:creationId xmlns:a16="http://schemas.microsoft.com/office/drawing/2014/main" id="{6E8BFDE0-F5D3-440A-A6E1-8D90A5DFAB5B}"/>
                </a:ext>
              </a:extLst>
            </p:cNvPr>
            <p:cNvSpPr txBox="1"/>
            <p:nvPr/>
          </p:nvSpPr>
          <p:spPr bwMode="gray">
            <a:xfrm>
              <a:off x="9195520" y="4754930"/>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sp>
          <p:nvSpPr>
            <p:cNvPr id="208" name="TextBox 207">
              <a:extLst>
                <a:ext uri="{FF2B5EF4-FFF2-40B4-BE49-F238E27FC236}">
                  <a16:creationId xmlns:a16="http://schemas.microsoft.com/office/drawing/2014/main" id="{C71056E5-1405-405A-A160-02C1824A22CC}"/>
                </a:ext>
              </a:extLst>
            </p:cNvPr>
            <p:cNvSpPr txBox="1"/>
            <p:nvPr/>
          </p:nvSpPr>
          <p:spPr bwMode="gray">
            <a:xfrm>
              <a:off x="9210786" y="4355730"/>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关键流量</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2" name="TextBox 211">
              <a:extLst>
                <a:ext uri="{FF2B5EF4-FFF2-40B4-BE49-F238E27FC236}">
                  <a16:creationId xmlns:a16="http://schemas.microsoft.com/office/drawing/2014/main" id="{3A48D925-21B2-48EA-95A1-5C53C6B8D23D}"/>
                </a:ext>
              </a:extLst>
            </p:cNvPr>
            <p:cNvSpPr txBox="1"/>
            <p:nvPr/>
          </p:nvSpPr>
          <p:spPr bwMode="gray">
            <a:xfrm>
              <a:off x="8865373" y="4757635"/>
              <a:ext cx="273050" cy="276999"/>
            </a:xfrm>
            <a:prstGeom prst="rect">
              <a:avLst/>
            </a:prstGeom>
            <a:solidFill>
              <a:schemeClr val="bg1">
                <a:lumMod val="50000"/>
              </a:schemeClr>
            </a:solidFill>
            <a:ln>
              <a:solidFill>
                <a:schemeClr val="bg1">
                  <a:lumMod val="50000"/>
                </a:schemeClr>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p>
          </p:txBody>
        </p:sp>
        <p:sp>
          <p:nvSpPr>
            <p:cNvPr id="214" name="TextBox 213">
              <a:extLst>
                <a:ext uri="{FF2B5EF4-FFF2-40B4-BE49-F238E27FC236}">
                  <a16:creationId xmlns:a16="http://schemas.microsoft.com/office/drawing/2014/main" id="{996DEFE0-0176-48B3-B8C6-C1E1290DB267}"/>
                </a:ext>
              </a:extLst>
            </p:cNvPr>
            <p:cNvSpPr txBox="1"/>
            <p:nvPr/>
          </p:nvSpPr>
          <p:spPr bwMode="gray">
            <a:xfrm>
              <a:off x="9851875" y="4757277"/>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cxnSp>
          <p:nvCxnSpPr>
            <p:cNvPr id="217" name="Connector: Elbow 216">
              <a:extLst>
                <a:ext uri="{FF2B5EF4-FFF2-40B4-BE49-F238E27FC236}">
                  <a16:creationId xmlns:a16="http://schemas.microsoft.com/office/drawing/2014/main" id="{F3A2331E-A7CF-48F1-8B85-A7560AE4CA50}"/>
                </a:ext>
              </a:extLst>
            </p:cNvPr>
            <p:cNvCxnSpPr>
              <a:cxnSpLocks/>
              <a:stCxn id="212" idx="2"/>
              <a:endCxn id="214" idx="2"/>
            </p:cNvCxnSpPr>
            <p:nvPr/>
          </p:nvCxnSpPr>
          <p:spPr bwMode="gray">
            <a:xfrm rot="5400000" flipH="1" flipV="1">
              <a:off x="9494970" y="4541204"/>
              <a:ext cx="358" cy="986502"/>
            </a:xfrm>
            <a:prstGeom prst="bentConnector3">
              <a:avLst>
                <a:gd name="adj1" fmla="val -96006145"/>
              </a:avLst>
            </a:prstGeom>
            <a:ln w="19050">
              <a:gradFill>
                <a:gsLst>
                  <a:gs pos="0">
                    <a:schemeClr val="bg1">
                      <a:lumMod val="50000"/>
                    </a:schemeClr>
                  </a:gs>
                  <a:gs pos="100000">
                    <a:srgbClr val="56C4D2"/>
                  </a:gs>
                </a:gsLst>
                <a:lin ang="5400000" scaled="1"/>
              </a:gra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2" name="Rectangular Callout 26">
              <a:extLst>
                <a:ext uri="{FF2B5EF4-FFF2-40B4-BE49-F238E27FC236}">
                  <a16:creationId xmlns:a16="http://schemas.microsoft.com/office/drawing/2014/main" id="{177D36AD-3E3F-4315-8D2B-5A660F4AD70F}"/>
                </a:ext>
              </a:extLst>
            </p:cNvPr>
            <p:cNvSpPr/>
            <p:nvPr/>
          </p:nvSpPr>
          <p:spPr bwMode="gray">
            <a:xfrm>
              <a:off x="9109598" y="5499648"/>
              <a:ext cx="876257" cy="388952"/>
            </a:xfrm>
            <a:prstGeom prst="wedgeRectCallout">
              <a:avLst>
                <a:gd name="adj1" fmla="val -21079"/>
                <a:gd name="adj2" fmla="val -7166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还原</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2" name="圆角矩形 75">
            <a:extLst>
              <a:ext uri="{FF2B5EF4-FFF2-40B4-BE49-F238E27FC236}">
                <a16:creationId xmlns:a16="http://schemas.microsoft.com/office/drawing/2014/main" id="{CE177D42-6BAB-4F14-A2D7-7417691FCF97}"/>
              </a:ext>
            </a:extLst>
          </p:cNvPr>
          <p:cNvSpPr/>
          <p:nvPr/>
        </p:nvSpPr>
        <p:spPr bwMode="gray">
          <a:xfrm>
            <a:off x="1005818" y="2832309"/>
            <a:ext cx="1010404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与广域优化基本流程</a:t>
            </a:r>
          </a:p>
        </p:txBody>
      </p:sp>
      <p:sp>
        <p:nvSpPr>
          <p:cNvPr id="3" name="圆角矩形 75">
            <a:extLst>
              <a:ext uri="{FF2B5EF4-FFF2-40B4-BE49-F238E27FC236}">
                <a16:creationId xmlns:a16="http://schemas.microsoft.com/office/drawing/2014/main" id="{1CA1F319-EB19-4E34-8BE3-94C67017F742}"/>
              </a:ext>
            </a:extLst>
          </p:cNvPr>
          <p:cNvSpPr/>
          <p:nvPr/>
        </p:nvSpPr>
        <p:spPr bwMode="gray">
          <a:xfrm>
            <a:off x="1005818" y="3266598"/>
            <a:ext cx="10104045" cy="291240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92107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bwMode="gray"/>
        <p:txBody>
          <a:bodyPr>
            <a:norm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cs typeface="+mn-ea"/>
                <a:sym typeface="Huawei Sans" panose="020C0503030203020204" pitchFamily="34" charset="0"/>
              </a:rPr>
              <a:t>安全概述</a:t>
            </a:r>
            <a:endParaRPr lang="zh-CN" altLang="en-US" dirty="0">
              <a:sym typeface="Huawei Sans" panose="020C0503030203020204" pitchFamily="34" charset="0"/>
            </a:endParaRPr>
          </a:p>
        </p:txBody>
      </p:sp>
      <p:sp>
        <p:nvSpPr>
          <p:cNvPr id="11" name="Text Placeholder 10">
            <a:extLst>
              <a:ext uri="{FF2B5EF4-FFF2-40B4-BE49-F238E27FC236}">
                <a16:creationId xmlns:a16="http://schemas.microsoft.com/office/drawing/2014/main" id="{023EF648-2CF4-4442-B656-BCA55CD10180}"/>
              </a:ext>
            </a:extLst>
          </p:cNvPr>
          <p:cNvSpPr>
            <a:spLocks noGrp="1"/>
          </p:cNvSpPr>
          <p:nvPr>
            <p:ph type="body" sz="quarter" idx="10"/>
          </p:nvPr>
        </p:nvSpPr>
        <p:spPr bwMode="gray"/>
        <p:txBody>
          <a:bodyPr/>
          <a:lstStyle/>
          <a:p>
            <a:pPr algn="l"/>
            <a:r>
              <a:rPr lang="en-US" altLang="zh-CN" sz="1600" dirty="0">
                <a:sym typeface="Huawei Sans" panose="020C0503030203020204" pitchFamily="34" charset="0"/>
              </a:rPr>
              <a:t>SD-WAN</a:t>
            </a:r>
            <a:r>
              <a:rPr lang="zh-CN" altLang="en-US" sz="1600" dirty="0">
                <a:sym typeface="Huawei Sans" panose="020C0503030203020204" pitchFamily="34" charset="0"/>
              </a:rPr>
              <a:t>出现后，传统企业</a:t>
            </a:r>
            <a:r>
              <a:rPr lang="en-US" altLang="zh-CN" sz="1600" dirty="0">
                <a:sym typeface="Huawei Sans" panose="020C0503030203020204" pitchFamily="34" charset="0"/>
              </a:rPr>
              <a:t>WAN</a:t>
            </a:r>
            <a:r>
              <a:rPr lang="zh-CN" altLang="en-US" sz="1600" dirty="0">
                <a:sym typeface="Huawei Sans" panose="020C0503030203020204" pitchFamily="34" charset="0"/>
              </a:rPr>
              <a:t>的封闭式架构向开放式架构转变，在无形中扩大了攻击面，带来了新的安全挑战，如非法接入、数据泄露、网络攻击等。</a:t>
            </a:r>
          </a:p>
          <a:p>
            <a:pPr algn="l"/>
            <a:r>
              <a:rPr lang="zh-CN" altLang="en-US" sz="1600" dirty="0">
                <a:sym typeface="Huawei Sans" panose="020C0503030203020204" pitchFamily="34" charset="0"/>
              </a:rPr>
              <a:t>华为</a:t>
            </a:r>
            <a:r>
              <a:rPr lang="en-US" altLang="zh-CN" sz="1600" dirty="0">
                <a:sym typeface="Huawei Sans" panose="020C0503030203020204" pitchFamily="34" charset="0"/>
              </a:rPr>
              <a:t>SD-WAN</a:t>
            </a:r>
            <a:r>
              <a:rPr lang="zh-CN" altLang="en-US" sz="1600" dirty="0">
                <a:sym typeface="Huawei Sans" panose="020C0503030203020204" pitchFamily="34" charset="0"/>
              </a:rPr>
              <a:t>解决方案的安全从整体上分为两个层面：</a:t>
            </a:r>
            <a:endParaRPr lang="en-US" altLang="zh-CN" sz="1600" dirty="0">
              <a:sym typeface="Huawei Sans" panose="020C0503030203020204" pitchFamily="34" charset="0"/>
            </a:endParaRPr>
          </a:p>
          <a:p>
            <a:pPr marL="745939" lvl="1" indent="-342900">
              <a:buSzPct val="100000"/>
              <a:buFont typeface="+mj-lt"/>
              <a:buAutoNum type="arabicPeriod"/>
            </a:pPr>
            <a:r>
              <a:rPr lang="zh-CN" altLang="en-US" sz="1400" dirty="0">
                <a:sym typeface="Huawei Sans" panose="020C0503030203020204" pitchFamily="34" charset="0"/>
              </a:rPr>
              <a:t>系统安全：功能包括组件间安全与组件自身安全。</a:t>
            </a:r>
            <a:endParaRPr lang="en-US" altLang="zh-CN" sz="1400" dirty="0">
              <a:sym typeface="Huawei Sans" panose="020C0503030203020204" pitchFamily="34" charset="0"/>
            </a:endParaRPr>
          </a:p>
          <a:p>
            <a:pPr marL="745939" lvl="1" indent="-342900">
              <a:buSzPct val="100000"/>
              <a:buFont typeface="+mj-lt"/>
              <a:buAutoNum type="arabicPeriod"/>
            </a:pPr>
            <a:r>
              <a:rPr lang="zh-CN" altLang="en-US" sz="1400" dirty="0">
                <a:sym typeface="Huawei Sans" panose="020C0503030203020204" pitchFamily="34" charset="0"/>
              </a:rPr>
              <a:t>业务安全：功能包括防火墙，</a:t>
            </a:r>
            <a:r>
              <a:rPr lang="en-US" altLang="zh-CN" sz="1400" dirty="0">
                <a:sym typeface="Huawei Sans" panose="020C0503030203020204" pitchFamily="34" charset="0"/>
              </a:rPr>
              <a:t>IPS</a:t>
            </a:r>
            <a:r>
              <a:rPr lang="zh-CN" altLang="en-US" sz="1400" dirty="0">
                <a:sym typeface="Huawei Sans" panose="020C0503030203020204" pitchFamily="34" charset="0"/>
              </a:rPr>
              <a:t>，</a:t>
            </a:r>
            <a:r>
              <a:rPr lang="en-US" altLang="zh-CN" sz="1400" dirty="0">
                <a:sym typeface="Huawei Sans" panose="020C0503030203020204" pitchFamily="34" charset="0"/>
              </a:rPr>
              <a:t>URL</a:t>
            </a:r>
            <a:r>
              <a:rPr lang="zh-CN" altLang="en-US" sz="1400" dirty="0">
                <a:sym typeface="Huawei Sans" panose="020C0503030203020204" pitchFamily="34" charset="0"/>
              </a:rPr>
              <a:t>过滤。</a:t>
            </a:r>
          </a:p>
          <a:p>
            <a:pPr lvl="1"/>
            <a:endParaRPr lang="en-US" altLang="zh-CN" sz="1400" dirty="0">
              <a:sym typeface="Huawei Sans" panose="020C0503030203020204" pitchFamily="34" charset="0"/>
            </a:endParaRPr>
          </a:p>
        </p:txBody>
      </p:sp>
      <p:grpSp>
        <p:nvGrpSpPr>
          <p:cNvPr id="50" name="Group 49">
            <a:extLst>
              <a:ext uri="{FF2B5EF4-FFF2-40B4-BE49-F238E27FC236}">
                <a16:creationId xmlns:a16="http://schemas.microsoft.com/office/drawing/2014/main" id="{4FBA5886-9935-4458-9C36-573EBB46E291}"/>
              </a:ext>
            </a:extLst>
          </p:cNvPr>
          <p:cNvGrpSpPr/>
          <p:nvPr/>
        </p:nvGrpSpPr>
        <p:grpSpPr bwMode="gray">
          <a:xfrm>
            <a:off x="7198059" y="-857106"/>
            <a:ext cx="4239703" cy="211431"/>
            <a:chOff x="7680837" y="42496"/>
            <a:chExt cx="4239703" cy="211431"/>
          </a:xfrm>
        </p:grpSpPr>
        <p:sp>
          <p:nvSpPr>
            <p:cNvPr id="56" name="燕尾形 25">
              <a:extLst>
                <a:ext uri="{FF2B5EF4-FFF2-40B4-BE49-F238E27FC236}">
                  <a16:creationId xmlns:a16="http://schemas.microsoft.com/office/drawing/2014/main" id="{3DDAD917-2BA7-4C7B-9383-E26A73385CEF}"/>
                </a:ext>
              </a:extLst>
            </p:cNvPr>
            <p:cNvSpPr/>
            <p:nvPr/>
          </p:nvSpPr>
          <p:spPr bwMode="gray">
            <a:xfrm>
              <a:off x="7680837" y="42496"/>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25">
              <a:extLst>
                <a:ext uri="{FF2B5EF4-FFF2-40B4-BE49-F238E27FC236}">
                  <a16:creationId xmlns:a16="http://schemas.microsoft.com/office/drawing/2014/main" id="{2AA0A228-74C2-402D-9C90-061C4E9142EE}"/>
                </a:ext>
              </a:extLst>
            </p:cNvPr>
            <p:cNvSpPr/>
            <p:nvPr/>
          </p:nvSpPr>
          <p:spPr bwMode="gray">
            <a:xfrm>
              <a:off x="9709664" y="42496"/>
              <a:ext cx="1136136"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25">
              <a:extLst>
                <a:ext uri="{FF2B5EF4-FFF2-40B4-BE49-F238E27FC236}">
                  <a16:creationId xmlns:a16="http://schemas.microsoft.com/office/drawing/2014/main" id="{0593424D-D083-4F27-AE94-B4447FB6857D}"/>
                </a:ext>
              </a:extLst>
            </p:cNvPr>
            <p:cNvSpPr/>
            <p:nvPr/>
          </p:nvSpPr>
          <p:spPr bwMode="gray">
            <a:xfrm>
              <a:off x="10787960" y="42496"/>
              <a:ext cx="1132580"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25">
              <a:extLst>
                <a:ext uri="{FF2B5EF4-FFF2-40B4-BE49-F238E27FC236}">
                  <a16:creationId xmlns:a16="http://schemas.microsoft.com/office/drawing/2014/main" id="{849984ED-8DD9-4781-9676-73CAE10DB4B7}"/>
                </a:ext>
              </a:extLst>
            </p:cNvPr>
            <p:cNvSpPr/>
            <p:nvPr/>
          </p:nvSpPr>
          <p:spPr bwMode="gray">
            <a:xfrm>
              <a:off x="8625783" y="42496"/>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6" name="Group 85">
            <a:extLst>
              <a:ext uri="{FF2B5EF4-FFF2-40B4-BE49-F238E27FC236}">
                <a16:creationId xmlns:a16="http://schemas.microsoft.com/office/drawing/2014/main" id="{51BE4BA3-66F6-49F0-984A-281C4E12B90E}"/>
              </a:ext>
            </a:extLst>
          </p:cNvPr>
          <p:cNvGrpSpPr/>
          <p:nvPr/>
        </p:nvGrpSpPr>
        <p:grpSpPr bwMode="gray">
          <a:xfrm>
            <a:off x="5201345" y="1979293"/>
            <a:ext cx="6254106" cy="4181037"/>
            <a:chOff x="5201345" y="1979293"/>
            <a:chExt cx="6254106" cy="4181037"/>
          </a:xfrm>
        </p:grpSpPr>
        <p:grpSp>
          <p:nvGrpSpPr>
            <p:cNvPr id="21" name="组合 102">
              <a:extLst>
                <a:ext uri="{FF2B5EF4-FFF2-40B4-BE49-F238E27FC236}">
                  <a16:creationId xmlns:a16="http://schemas.microsoft.com/office/drawing/2014/main" id="{5F0F1657-8B1C-45A7-BDE2-5C332A28D3C9}"/>
                </a:ext>
              </a:extLst>
            </p:cNvPr>
            <p:cNvGrpSpPr/>
            <p:nvPr/>
          </p:nvGrpSpPr>
          <p:grpSpPr bwMode="gray">
            <a:xfrm flipH="1">
              <a:off x="8934985" y="4775730"/>
              <a:ext cx="1075899" cy="1114092"/>
              <a:chOff x="2049220" y="4543762"/>
              <a:chExt cx="1075899" cy="1114092"/>
            </a:xfrm>
          </p:grpSpPr>
          <p:grpSp>
            <p:nvGrpSpPr>
              <p:cNvPr id="60" name="Group 165">
                <a:extLst>
                  <a:ext uri="{FF2B5EF4-FFF2-40B4-BE49-F238E27FC236}">
                    <a16:creationId xmlns:a16="http://schemas.microsoft.com/office/drawing/2014/main" id="{B62151ED-CB15-4A35-B5B5-CF7AABF32A5E}"/>
                  </a:ext>
                </a:extLst>
              </p:cNvPr>
              <p:cNvGrpSpPr/>
              <p:nvPr/>
            </p:nvGrpSpPr>
            <p:grpSpPr bwMode="gray">
              <a:xfrm rot="5400000">
                <a:off x="1762964" y="4830018"/>
                <a:ext cx="1114092" cy="541579"/>
                <a:chOff x="-1233037" y="914446"/>
                <a:chExt cx="1573823" cy="778776"/>
              </a:xfrm>
            </p:grpSpPr>
            <p:cxnSp>
              <p:nvCxnSpPr>
                <p:cNvPr id="64" name="Straight Connector 166">
                  <a:extLst>
                    <a:ext uri="{FF2B5EF4-FFF2-40B4-BE49-F238E27FC236}">
                      <a16:creationId xmlns:a16="http://schemas.microsoft.com/office/drawing/2014/main" id="{083E6928-EF13-47D9-A83F-5C88F4E3A413}"/>
                    </a:ext>
                  </a:extLst>
                </p:cNvPr>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167">
                  <a:extLst>
                    <a:ext uri="{FF2B5EF4-FFF2-40B4-BE49-F238E27FC236}">
                      <a16:creationId xmlns:a16="http://schemas.microsoft.com/office/drawing/2014/main" id="{BD594E8B-3FA0-4B59-BFE5-F2639AEABB21}"/>
                    </a:ext>
                  </a:extLst>
                </p:cNvPr>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61" name="Straight Connector 166">
                <a:extLst>
                  <a:ext uri="{FF2B5EF4-FFF2-40B4-BE49-F238E27FC236}">
                    <a16:creationId xmlns:a16="http://schemas.microsoft.com/office/drawing/2014/main" id="{77CE8123-7D5A-4814-ACD2-A26F74BFC897}"/>
                  </a:ext>
                </a:extLst>
              </p:cNvPr>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166">
                <a:extLst>
                  <a:ext uri="{FF2B5EF4-FFF2-40B4-BE49-F238E27FC236}">
                    <a16:creationId xmlns:a16="http://schemas.microsoft.com/office/drawing/2014/main" id="{11C20215-54C2-4BEC-8C8D-9CBFEBABEF1E}"/>
                  </a:ext>
                </a:extLst>
              </p:cNvPr>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2" name="组合 4">
              <a:extLst>
                <a:ext uri="{FF2B5EF4-FFF2-40B4-BE49-F238E27FC236}">
                  <a16:creationId xmlns:a16="http://schemas.microsoft.com/office/drawing/2014/main" id="{E2456442-4F33-4E5F-B4E6-DC2B2477C98B}"/>
                </a:ext>
              </a:extLst>
            </p:cNvPr>
            <p:cNvGrpSpPr/>
            <p:nvPr/>
          </p:nvGrpSpPr>
          <p:grpSpPr bwMode="gray">
            <a:xfrm>
              <a:off x="7230794" y="4775730"/>
              <a:ext cx="1075899" cy="1114092"/>
              <a:chOff x="2049220" y="4543762"/>
              <a:chExt cx="1075899" cy="1114092"/>
            </a:xfrm>
          </p:grpSpPr>
          <p:grpSp>
            <p:nvGrpSpPr>
              <p:cNvPr id="51" name="Group 165">
                <a:extLst>
                  <a:ext uri="{FF2B5EF4-FFF2-40B4-BE49-F238E27FC236}">
                    <a16:creationId xmlns:a16="http://schemas.microsoft.com/office/drawing/2014/main" id="{C7D14787-1535-41BE-9ECE-5D7988C16E37}"/>
                  </a:ext>
                </a:extLst>
              </p:cNvPr>
              <p:cNvGrpSpPr/>
              <p:nvPr/>
            </p:nvGrpSpPr>
            <p:grpSpPr bwMode="gray">
              <a:xfrm rot="5400000">
                <a:off x="1762964" y="4830018"/>
                <a:ext cx="1114092" cy="541579"/>
                <a:chOff x="-1233037" y="914446"/>
                <a:chExt cx="1573823" cy="778776"/>
              </a:xfrm>
            </p:grpSpPr>
            <p:cxnSp>
              <p:nvCxnSpPr>
                <p:cNvPr id="54" name="Straight Connector 166">
                  <a:extLst>
                    <a:ext uri="{FF2B5EF4-FFF2-40B4-BE49-F238E27FC236}">
                      <a16:creationId xmlns:a16="http://schemas.microsoft.com/office/drawing/2014/main" id="{9D614061-FFC4-4E58-BCB3-21449C2D0AFA}"/>
                    </a:ext>
                  </a:extLst>
                </p:cNvPr>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167">
                  <a:extLst>
                    <a:ext uri="{FF2B5EF4-FFF2-40B4-BE49-F238E27FC236}">
                      <a16:creationId xmlns:a16="http://schemas.microsoft.com/office/drawing/2014/main" id="{15EF6CD6-698A-4993-88A3-33266D4ECAC9}"/>
                    </a:ext>
                  </a:extLst>
                </p:cNvPr>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52" name="Straight Connector 166">
                <a:extLst>
                  <a:ext uri="{FF2B5EF4-FFF2-40B4-BE49-F238E27FC236}">
                    <a16:creationId xmlns:a16="http://schemas.microsoft.com/office/drawing/2014/main" id="{1FA07BAE-9EA9-40BB-B91E-421416613883}"/>
                  </a:ext>
                </a:extLst>
              </p:cNvPr>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166">
                <a:extLst>
                  <a:ext uri="{FF2B5EF4-FFF2-40B4-BE49-F238E27FC236}">
                    <a16:creationId xmlns:a16="http://schemas.microsoft.com/office/drawing/2014/main" id="{F66CE704-5462-472C-8ED8-9A3999E3AAD8}"/>
                  </a:ext>
                </a:extLst>
              </p:cNvPr>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23" name="直接箭头连接符 33">
              <a:extLst>
                <a:ext uri="{FF2B5EF4-FFF2-40B4-BE49-F238E27FC236}">
                  <a16:creationId xmlns:a16="http://schemas.microsoft.com/office/drawing/2014/main" id="{A49BDC7C-B378-4522-8415-2CBA9EFC8B67}"/>
                </a:ext>
              </a:extLst>
            </p:cNvPr>
            <p:cNvCxnSpPr/>
            <p:nvPr/>
          </p:nvCxnSpPr>
          <p:spPr bwMode="gray">
            <a:xfrm>
              <a:off x="6964314" y="2579763"/>
              <a:ext cx="0" cy="234803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44">
              <a:extLst>
                <a:ext uri="{FF2B5EF4-FFF2-40B4-BE49-F238E27FC236}">
                  <a16:creationId xmlns:a16="http://schemas.microsoft.com/office/drawing/2014/main" id="{4BAC9C98-4DAB-49D6-92EF-DEACCC9F404B}"/>
                </a:ext>
              </a:extLst>
            </p:cNvPr>
            <p:cNvCxnSpPr>
              <a:cxnSpLocks/>
              <a:stCxn id="31" idx="2"/>
              <a:endCxn id="37" idx="0"/>
            </p:cNvCxnSpPr>
            <p:nvPr/>
          </p:nvCxnSpPr>
          <p:spPr bwMode="gray">
            <a:xfrm flipH="1">
              <a:off x="6985688" y="3643184"/>
              <a:ext cx="1651817" cy="1484511"/>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45">
              <a:extLst>
                <a:ext uri="{FF2B5EF4-FFF2-40B4-BE49-F238E27FC236}">
                  <a16:creationId xmlns:a16="http://schemas.microsoft.com/office/drawing/2014/main" id="{79068D41-FAAF-4FD0-8CE1-4581DA8DEE78}"/>
                </a:ext>
              </a:extLst>
            </p:cNvPr>
            <p:cNvCxnSpPr>
              <a:cxnSpLocks/>
              <a:stCxn id="31" idx="2"/>
              <a:endCxn id="38" idx="0"/>
            </p:cNvCxnSpPr>
            <p:nvPr/>
          </p:nvCxnSpPr>
          <p:spPr bwMode="gray">
            <a:xfrm>
              <a:off x="8637505" y="3643184"/>
              <a:ext cx="1645467" cy="1490861"/>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文本框 58">
              <a:extLst>
                <a:ext uri="{FF2B5EF4-FFF2-40B4-BE49-F238E27FC236}">
                  <a16:creationId xmlns:a16="http://schemas.microsoft.com/office/drawing/2014/main" id="{F7A5E69C-0C98-42ED-BE75-A854ED6651AF}"/>
                </a:ext>
              </a:extLst>
            </p:cNvPr>
            <p:cNvSpPr txBox="1"/>
            <p:nvPr/>
          </p:nvSpPr>
          <p:spPr bwMode="gray">
            <a:xfrm>
              <a:off x="8015729" y="3298417"/>
              <a:ext cx="418704"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RR</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1" name="图片 59">
              <a:extLst>
                <a:ext uri="{FF2B5EF4-FFF2-40B4-BE49-F238E27FC236}">
                  <a16:creationId xmlns:a16="http://schemas.microsoft.com/office/drawing/2014/main" id="{3CAC54C1-E4ED-4EB0-A40E-17E782E88CCD}"/>
                </a:ext>
              </a:extLst>
            </p:cNvPr>
            <p:cNvPicPr>
              <a:picLocks noChangeAspect="1"/>
            </p:cNvPicPr>
            <p:nvPr/>
          </p:nvPicPr>
          <p:blipFill>
            <a:blip r:embed="rId3"/>
            <a:stretch>
              <a:fillRect/>
            </a:stretch>
          </p:blipFill>
          <p:spPr bwMode="gray">
            <a:xfrm>
              <a:off x="8397721" y="3261429"/>
              <a:ext cx="479567" cy="381755"/>
            </a:xfrm>
            <a:prstGeom prst="rect">
              <a:avLst/>
            </a:prstGeom>
          </p:spPr>
        </p:pic>
        <p:sp>
          <p:nvSpPr>
            <p:cNvPr id="32" name="文本框 60">
              <a:extLst>
                <a:ext uri="{FF2B5EF4-FFF2-40B4-BE49-F238E27FC236}">
                  <a16:creationId xmlns:a16="http://schemas.microsoft.com/office/drawing/2014/main" id="{D828CE1A-63A8-409D-B392-B32ECE57304E}"/>
                </a:ext>
              </a:extLst>
            </p:cNvPr>
            <p:cNvSpPr txBox="1"/>
            <p:nvPr/>
          </p:nvSpPr>
          <p:spPr bwMode="gray">
            <a:xfrm>
              <a:off x="6697428" y="5581790"/>
              <a:ext cx="609952"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33" name="文本框 66">
              <a:extLst>
                <a:ext uri="{FF2B5EF4-FFF2-40B4-BE49-F238E27FC236}">
                  <a16:creationId xmlns:a16="http://schemas.microsoft.com/office/drawing/2014/main" id="{E517E296-6E8B-4DE1-9335-1A2FFC74102E}"/>
                </a:ext>
              </a:extLst>
            </p:cNvPr>
            <p:cNvSpPr txBox="1"/>
            <p:nvPr/>
          </p:nvSpPr>
          <p:spPr bwMode="gray">
            <a:xfrm>
              <a:off x="9966596" y="5588140"/>
              <a:ext cx="609952"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pic>
          <p:nvPicPr>
            <p:cNvPr id="34" name="图片 81">
              <a:extLst>
                <a:ext uri="{FF2B5EF4-FFF2-40B4-BE49-F238E27FC236}">
                  <a16:creationId xmlns:a16="http://schemas.microsoft.com/office/drawing/2014/main" id="{035F5A6C-263A-47BA-97EC-C61CB06EEB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721462" y="2100753"/>
              <a:ext cx="1792651" cy="330612"/>
            </a:xfrm>
            <a:prstGeom prst="rect">
              <a:avLst/>
            </a:prstGeom>
          </p:spPr>
        </p:pic>
        <p:sp>
          <p:nvSpPr>
            <p:cNvPr id="35" name="圆角矩形 82">
              <a:extLst>
                <a:ext uri="{FF2B5EF4-FFF2-40B4-BE49-F238E27FC236}">
                  <a16:creationId xmlns:a16="http://schemas.microsoft.com/office/drawing/2014/main" id="{1D3FB87E-A0AA-4248-B9D1-1E5426D99A66}"/>
                </a:ext>
              </a:extLst>
            </p:cNvPr>
            <p:cNvSpPr/>
            <p:nvPr/>
          </p:nvSpPr>
          <p:spPr bwMode="gray">
            <a:xfrm>
              <a:off x="10271572" y="5037460"/>
              <a:ext cx="1183879"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分支站点</a:t>
              </a:r>
            </a:p>
          </p:txBody>
        </p:sp>
        <p:sp>
          <p:nvSpPr>
            <p:cNvPr id="36" name="圆角矩形 83">
              <a:extLst>
                <a:ext uri="{FF2B5EF4-FFF2-40B4-BE49-F238E27FC236}">
                  <a16:creationId xmlns:a16="http://schemas.microsoft.com/office/drawing/2014/main" id="{64B2A97D-C9AB-4B28-A0E6-EF3FC893639C}"/>
                </a:ext>
              </a:extLst>
            </p:cNvPr>
            <p:cNvSpPr/>
            <p:nvPr/>
          </p:nvSpPr>
          <p:spPr bwMode="gray">
            <a:xfrm>
              <a:off x="5659949" y="5031110"/>
              <a:ext cx="1291198"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总部</a:t>
              </a:r>
              <a:r>
                <a:rPr lang="en-US" altLang="zh-CN"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数据中心站点</a:t>
              </a:r>
            </a:p>
          </p:txBody>
        </p:sp>
        <p:pic>
          <p:nvPicPr>
            <p:cNvPr id="37" name="图片 88">
              <a:extLst>
                <a:ext uri="{FF2B5EF4-FFF2-40B4-BE49-F238E27FC236}">
                  <a16:creationId xmlns:a16="http://schemas.microsoft.com/office/drawing/2014/main" id="{80A46A30-9361-4506-9E38-1A1576D28C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6740233" y="5127695"/>
              <a:ext cx="490909" cy="402545"/>
            </a:xfrm>
            <a:prstGeom prst="rect">
              <a:avLst/>
            </a:prstGeom>
          </p:spPr>
        </p:pic>
        <p:pic>
          <p:nvPicPr>
            <p:cNvPr id="38" name="图片 89">
              <a:extLst>
                <a:ext uri="{FF2B5EF4-FFF2-40B4-BE49-F238E27FC236}">
                  <a16:creationId xmlns:a16="http://schemas.microsoft.com/office/drawing/2014/main" id="{5DE00EE0-9A6E-466E-8E19-4F35E8BF29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0037517" y="5134045"/>
              <a:ext cx="490909" cy="402545"/>
            </a:xfrm>
            <a:prstGeom prst="rect">
              <a:avLst/>
            </a:prstGeom>
          </p:spPr>
        </p:pic>
        <p:sp>
          <p:nvSpPr>
            <p:cNvPr id="39" name="Can 225">
              <a:extLst>
                <a:ext uri="{FF2B5EF4-FFF2-40B4-BE49-F238E27FC236}">
                  <a16:creationId xmlns:a16="http://schemas.microsoft.com/office/drawing/2014/main" id="{DD2AC7E1-9DD1-430D-8089-59FFEA70AF38}"/>
                </a:ext>
              </a:extLst>
            </p:cNvPr>
            <p:cNvSpPr/>
            <p:nvPr/>
          </p:nvSpPr>
          <p:spPr bwMode="gray">
            <a:xfrm rot="5400000">
              <a:off x="8529318" y="3937879"/>
              <a:ext cx="193925" cy="2776241"/>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0" name="直接箭头连接符 112">
              <a:extLst>
                <a:ext uri="{FF2B5EF4-FFF2-40B4-BE49-F238E27FC236}">
                  <a16:creationId xmlns:a16="http://schemas.microsoft.com/office/drawing/2014/main" id="{EBD72244-4301-49E3-BE5A-D803A0CB57E1}"/>
                </a:ext>
              </a:extLst>
            </p:cNvPr>
            <p:cNvCxnSpPr/>
            <p:nvPr/>
          </p:nvCxnSpPr>
          <p:spPr bwMode="gray">
            <a:xfrm>
              <a:off x="10259478" y="2579763"/>
              <a:ext cx="0" cy="234803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33">
              <a:extLst>
                <a:ext uri="{FF2B5EF4-FFF2-40B4-BE49-F238E27FC236}">
                  <a16:creationId xmlns:a16="http://schemas.microsoft.com/office/drawing/2014/main" id="{8B348506-8887-4E47-B456-31C34C996B3F}"/>
                </a:ext>
              </a:extLst>
            </p:cNvPr>
            <p:cNvCxnSpPr>
              <a:cxnSpLocks/>
              <a:endCxn id="31" idx="0"/>
            </p:cNvCxnSpPr>
            <p:nvPr/>
          </p:nvCxnSpPr>
          <p:spPr bwMode="gray">
            <a:xfrm>
              <a:off x="8637505" y="2573051"/>
              <a:ext cx="0" cy="688378"/>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4" name="Freeform 159">
              <a:extLst>
                <a:ext uri="{FF2B5EF4-FFF2-40B4-BE49-F238E27FC236}">
                  <a16:creationId xmlns:a16="http://schemas.microsoft.com/office/drawing/2014/main" id="{2451FA4F-C181-4226-9C8F-D48B4BDB65A6}"/>
                </a:ext>
              </a:extLst>
            </p:cNvPr>
            <p:cNvSpPr/>
            <p:nvPr/>
          </p:nvSpPr>
          <p:spPr bwMode="gray">
            <a:xfrm flipH="1">
              <a:off x="8048913" y="4385226"/>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Freeform 159">
              <a:extLst>
                <a:ext uri="{FF2B5EF4-FFF2-40B4-BE49-F238E27FC236}">
                  <a16:creationId xmlns:a16="http://schemas.microsoft.com/office/drawing/2014/main" id="{FE1A9AA4-65C0-4D06-B599-B471A8D5202A}"/>
                </a:ext>
              </a:extLst>
            </p:cNvPr>
            <p:cNvSpPr/>
            <p:nvPr/>
          </p:nvSpPr>
          <p:spPr bwMode="gray">
            <a:xfrm flipH="1">
              <a:off x="8049325" y="5543143"/>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44">
              <a:extLst>
                <a:ext uri="{FF2B5EF4-FFF2-40B4-BE49-F238E27FC236}">
                  <a16:creationId xmlns:a16="http://schemas.microsoft.com/office/drawing/2014/main" id="{9F513282-D78A-493E-AFBA-692B214874B5}"/>
                </a:ext>
              </a:extLst>
            </p:cNvPr>
            <p:cNvSpPr/>
            <p:nvPr/>
          </p:nvSpPr>
          <p:spPr bwMode="gray">
            <a:xfrm>
              <a:off x="6931050" y="1979293"/>
              <a:ext cx="3403725" cy="572837"/>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文本框 60">
              <a:extLst>
                <a:ext uri="{FF2B5EF4-FFF2-40B4-BE49-F238E27FC236}">
                  <a16:creationId xmlns:a16="http://schemas.microsoft.com/office/drawing/2014/main" id="{A440A726-35D4-4ECC-A0E5-FAC352C539B1}"/>
                </a:ext>
              </a:extLst>
            </p:cNvPr>
            <p:cNvSpPr txBox="1"/>
            <p:nvPr/>
          </p:nvSpPr>
          <p:spPr bwMode="gray">
            <a:xfrm rot="16200000">
              <a:off x="6114291" y="3231322"/>
              <a:ext cx="1168116"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Netconf</a:t>
              </a: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文本框 60">
              <a:extLst>
                <a:ext uri="{FF2B5EF4-FFF2-40B4-BE49-F238E27FC236}">
                  <a16:creationId xmlns:a16="http://schemas.microsoft.com/office/drawing/2014/main" id="{4197599D-187D-47EE-8EDE-66EB002F3085}"/>
                </a:ext>
              </a:extLst>
            </p:cNvPr>
            <p:cNvSpPr txBox="1"/>
            <p:nvPr/>
          </p:nvSpPr>
          <p:spPr bwMode="gray">
            <a:xfrm rot="19124516">
              <a:off x="7116438" y="3943781"/>
              <a:ext cx="1213463"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BGP EVPN</a:t>
              </a: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（控制通道）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文本框 60">
              <a:extLst>
                <a:ext uri="{FF2B5EF4-FFF2-40B4-BE49-F238E27FC236}">
                  <a16:creationId xmlns:a16="http://schemas.microsoft.com/office/drawing/2014/main" id="{A3FF05E6-D414-4C04-86CC-C70891A373BD}"/>
                </a:ext>
              </a:extLst>
            </p:cNvPr>
            <p:cNvSpPr txBox="1"/>
            <p:nvPr/>
          </p:nvSpPr>
          <p:spPr bwMode="gray">
            <a:xfrm>
              <a:off x="7423618" y="5189258"/>
              <a:ext cx="249240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或</a:t>
              </a: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 Over IPsec</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Rectangular Callout 26">
              <a:extLst>
                <a:ext uri="{FF2B5EF4-FFF2-40B4-BE49-F238E27FC236}">
                  <a16:creationId xmlns:a16="http://schemas.microsoft.com/office/drawing/2014/main" id="{5B5616C6-B166-4AE2-B485-8319B62F3F11}"/>
                </a:ext>
              </a:extLst>
            </p:cNvPr>
            <p:cNvSpPr/>
            <p:nvPr/>
          </p:nvSpPr>
          <p:spPr bwMode="gray">
            <a:xfrm>
              <a:off x="5317585" y="3298417"/>
              <a:ext cx="1074669" cy="493203"/>
            </a:xfrm>
            <a:prstGeom prst="wedgeRectCallout">
              <a:avLst>
                <a:gd name="adj1" fmla="val 62112"/>
                <a:gd name="adj2" fmla="val -1487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Rectangular Callout 26">
              <a:extLst>
                <a:ext uri="{FF2B5EF4-FFF2-40B4-BE49-F238E27FC236}">
                  <a16:creationId xmlns:a16="http://schemas.microsoft.com/office/drawing/2014/main" id="{2A0C54E3-1056-48B3-8D3E-3611340FEF75}"/>
                </a:ext>
              </a:extLst>
            </p:cNvPr>
            <p:cNvSpPr/>
            <p:nvPr/>
          </p:nvSpPr>
          <p:spPr bwMode="gray">
            <a:xfrm>
              <a:off x="8256019" y="3820147"/>
              <a:ext cx="1074669" cy="493203"/>
            </a:xfrm>
            <a:prstGeom prst="wedgeRectCallout">
              <a:avLst>
                <a:gd name="adj1" fmla="val -64505"/>
                <a:gd name="adj2" fmla="val -2149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控制通道安全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Rectangular Callout 26">
              <a:extLst>
                <a:ext uri="{FF2B5EF4-FFF2-40B4-BE49-F238E27FC236}">
                  <a16:creationId xmlns:a16="http://schemas.microsoft.com/office/drawing/2014/main" id="{E5085C24-26DD-4BE3-836F-91AF88044FEA}"/>
                </a:ext>
              </a:extLst>
            </p:cNvPr>
            <p:cNvSpPr/>
            <p:nvPr/>
          </p:nvSpPr>
          <p:spPr bwMode="gray">
            <a:xfrm>
              <a:off x="8934986" y="2632116"/>
              <a:ext cx="1186532" cy="493203"/>
            </a:xfrm>
            <a:prstGeom prst="wedgeRectCallout">
              <a:avLst>
                <a:gd name="adj1" fmla="val 19569"/>
                <a:gd name="adj2" fmla="val -8550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NCE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自身安全加固</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Rectangular Callout 26">
              <a:extLst>
                <a:ext uri="{FF2B5EF4-FFF2-40B4-BE49-F238E27FC236}">
                  <a16:creationId xmlns:a16="http://schemas.microsoft.com/office/drawing/2014/main" id="{DD953BFF-29AD-47C5-88A2-68F68EC539FC}"/>
                </a:ext>
              </a:extLst>
            </p:cNvPr>
            <p:cNvSpPr/>
            <p:nvPr/>
          </p:nvSpPr>
          <p:spPr bwMode="gray">
            <a:xfrm>
              <a:off x="8692279" y="5516919"/>
              <a:ext cx="1074669" cy="493203"/>
            </a:xfrm>
            <a:prstGeom prst="wedgeRectCallout">
              <a:avLst>
                <a:gd name="adj1" fmla="val 19569"/>
                <a:gd name="adj2" fmla="val -8550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antivirus_139783">
              <a:extLst>
                <a:ext uri="{FF2B5EF4-FFF2-40B4-BE49-F238E27FC236}">
                  <a16:creationId xmlns:a16="http://schemas.microsoft.com/office/drawing/2014/main" id="{6488816C-05E0-4CD1-AD80-5EC97597FD31}"/>
                </a:ext>
              </a:extLst>
            </p:cNvPr>
            <p:cNvSpPr>
              <a:spLocks noChangeAspect="1"/>
            </p:cNvSpPr>
            <p:nvPr/>
          </p:nvSpPr>
          <p:spPr bwMode="gray">
            <a:xfrm>
              <a:off x="7048869" y="5239144"/>
              <a:ext cx="309277" cy="402545"/>
            </a:xfrm>
            <a:custGeom>
              <a:avLst/>
              <a:gdLst>
                <a:gd name="connsiteX0" fmla="*/ 227062 w 466280"/>
                <a:gd name="connsiteY0" fmla="*/ 80509 h 606895"/>
                <a:gd name="connsiteX1" fmla="*/ 238458 w 466280"/>
                <a:gd name="connsiteY1" fmla="*/ 80509 h 606895"/>
                <a:gd name="connsiteX2" fmla="*/ 396487 w 466280"/>
                <a:gd name="connsiteY2" fmla="*/ 138155 h 606895"/>
                <a:gd name="connsiteX3" fmla="*/ 405604 w 466280"/>
                <a:gd name="connsiteY3" fmla="*/ 148016 h 606895"/>
                <a:gd name="connsiteX4" fmla="*/ 405604 w 466280"/>
                <a:gd name="connsiteY4" fmla="*/ 283790 h 606895"/>
                <a:gd name="connsiteX5" fmla="*/ 301518 w 466280"/>
                <a:gd name="connsiteY5" fmla="*/ 504517 h 606895"/>
                <a:gd name="connsiteX6" fmla="*/ 236939 w 466280"/>
                <a:gd name="connsiteY6" fmla="*/ 541684 h 606895"/>
                <a:gd name="connsiteX7" fmla="*/ 233140 w 466280"/>
                <a:gd name="connsiteY7" fmla="*/ 542442 h 606895"/>
                <a:gd name="connsiteX8" fmla="*/ 229341 w 466280"/>
                <a:gd name="connsiteY8" fmla="*/ 541684 h 606895"/>
                <a:gd name="connsiteX9" fmla="*/ 164762 w 466280"/>
                <a:gd name="connsiteY9" fmla="*/ 504517 h 606895"/>
                <a:gd name="connsiteX10" fmla="*/ 60676 w 466280"/>
                <a:gd name="connsiteY10" fmla="*/ 283790 h 606895"/>
                <a:gd name="connsiteX11" fmla="*/ 60676 w 466280"/>
                <a:gd name="connsiteY11" fmla="*/ 148016 h 606895"/>
                <a:gd name="connsiteX12" fmla="*/ 69793 w 466280"/>
                <a:gd name="connsiteY12" fmla="*/ 138155 h 606895"/>
                <a:gd name="connsiteX13" fmla="*/ 227062 w 466280"/>
                <a:gd name="connsiteY13" fmla="*/ 80509 h 606895"/>
                <a:gd name="connsiteX14" fmla="*/ 233140 w 466280"/>
                <a:gd name="connsiteY14" fmla="*/ 24457 h 606895"/>
                <a:gd name="connsiteX15" fmla="*/ 20504 w 466280"/>
                <a:gd name="connsiteY15" fmla="*/ 101054 h 606895"/>
                <a:gd name="connsiteX16" fmla="*/ 20504 w 466280"/>
                <a:gd name="connsiteY16" fmla="*/ 283824 h 606895"/>
                <a:gd name="connsiteX17" fmla="*/ 139732 w 466280"/>
                <a:gd name="connsiteY17" fmla="*/ 536365 h 606895"/>
                <a:gd name="connsiteX18" fmla="*/ 233140 w 466280"/>
                <a:gd name="connsiteY18" fmla="*/ 585660 h 606895"/>
                <a:gd name="connsiteX19" fmla="*/ 326548 w 466280"/>
                <a:gd name="connsiteY19" fmla="*/ 536365 h 606895"/>
                <a:gd name="connsiteX20" fmla="*/ 445776 w 466280"/>
                <a:gd name="connsiteY20" fmla="*/ 283824 h 606895"/>
                <a:gd name="connsiteX21" fmla="*/ 445776 w 466280"/>
                <a:gd name="connsiteY21" fmla="*/ 101054 h 606895"/>
                <a:gd name="connsiteX22" fmla="*/ 233140 w 466280"/>
                <a:gd name="connsiteY22" fmla="*/ 24457 h 606895"/>
                <a:gd name="connsiteX23" fmla="*/ 225546 w 466280"/>
                <a:gd name="connsiteY23" fmla="*/ 3981 h 606895"/>
                <a:gd name="connsiteX24" fmla="*/ 240734 w 466280"/>
                <a:gd name="connsiteY24" fmla="*/ 3981 h 606895"/>
                <a:gd name="connsiteX25" fmla="*/ 455648 w 466280"/>
                <a:gd name="connsiteY25" fmla="*/ 80577 h 606895"/>
                <a:gd name="connsiteX26" fmla="*/ 466280 w 466280"/>
                <a:gd name="connsiteY26" fmla="*/ 91195 h 606895"/>
                <a:gd name="connsiteX27" fmla="*/ 466280 w 466280"/>
                <a:gd name="connsiteY27" fmla="*/ 283824 h 606895"/>
                <a:gd name="connsiteX28" fmla="*/ 338698 w 466280"/>
                <a:gd name="connsiteY28" fmla="*/ 552292 h 606895"/>
                <a:gd name="connsiteX29" fmla="*/ 236178 w 466280"/>
                <a:gd name="connsiteY29" fmla="*/ 606137 h 606895"/>
                <a:gd name="connsiteX30" fmla="*/ 233140 w 466280"/>
                <a:gd name="connsiteY30" fmla="*/ 606895 h 606895"/>
                <a:gd name="connsiteX31" fmla="*/ 230102 w 466280"/>
                <a:gd name="connsiteY31" fmla="*/ 606137 h 606895"/>
                <a:gd name="connsiteX32" fmla="*/ 126822 w 466280"/>
                <a:gd name="connsiteY32" fmla="*/ 552292 h 606895"/>
                <a:gd name="connsiteX33" fmla="*/ 0 w 466280"/>
                <a:gd name="connsiteY33" fmla="*/ 283824 h 606895"/>
                <a:gd name="connsiteX34" fmla="*/ 0 w 466280"/>
                <a:gd name="connsiteY34" fmla="*/ 91195 h 606895"/>
                <a:gd name="connsiteX35" fmla="*/ 10632 w 466280"/>
                <a:gd name="connsiteY35" fmla="*/ 80577 h 606895"/>
                <a:gd name="connsiteX36" fmla="*/ 225546 w 466280"/>
                <a:gd name="connsiteY36" fmla="*/ 3981 h 60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6280" h="606895">
                  <a:moveTo>
                    <a:pt x="227062" y="80509"/>
                  </a:moveTo>
                  <a:cubicBezTo>
                    <a:pt x="230861" y="78233"/>
                    <a:pt x="235419" y="78233"/>
                    <a:pt x="238458" y="80509"/>
                  </a:cubicBezTo>
                  <a:cubicBezTo>
                    <a:pt x="269608" y="101747"/>
                    <a:pt x="321271" y="128295"/>
                    <a:pt x="396487" y="138155"/>
                  </a:cubicBezTo>
                  <a:cubicBezTo>
                    <a:pt x="401805" y="138155"/>
                    <a:pt x="405604" y="142707"/>
                    <a:pt x="405604" y="148016"/>
                  </a:cubicBezTo>
                  <a:lnTo>
                    <a:pt x="405604" y="283790"/>
                  </a:lnTo>
                  <a:cubicBezTo>
                    <a:pt x="405604" y="371018"/>
                    <a:pt x="366097" y="453696"/>
                    <a:pt x="301518" y="504517"/>
                  </a:cubicBezTo>
                  <a:cubicBezTo>
                    <a:pt x="281004" y="520445"/>
                    <a:pt x="258972" y="533340"/>
                    <a:pt x="236939" y="541684"/>
                  </a:cubicBezTo>
                  <a:cubicBezTo>
                    <a:pt x="235419" y="542442"/>
                    <a:pt x="234660" y="542442"/>
                    <a:pt x="233140" y="542442"/>
                  </a:cubicBezTo>
                  <a:cubicBezTo>
                    <a:pt x="231620" y="542442"/>
                    <a:pt x="230861" y="542442"/>
                    <a:pt x="229341" y="541684"/>
                  </a:cubicBezTo>
                  <a:cubicBezTo>
                    <a:pt x="207308" y="533340"/>
                    <a:pt x="185276" y="520445"/>
                    <a:pt x="164762" y="504517"/>
                  </a:cubicBezTo>
                  <a:cubicBezTo>
                    <a:pt x="99423" y="453696"/>
                    <a:pt x="60676" y="371018"/>
                    <a:pt x="60676" y="283790"/>
                  </a:cubicBezTo>
                  <a:lnTo>
                    <a:pt x="60676" y="148016"/>
                  </a:lnTo>
                  <a:cubicBezTo>
                    <a:pt x="60676" y="142707"/>
                    <a:pt x="64475" y="138155"/>
                    <a:pt x="69793" y="138155"/>
                  </a:cubicBezTo>
                  <a:cubicBezTo>
                    <a:pt x="145009" y="128295"/>
                    <a:pt x="196672" y="101747"/>
                    <a:pt x="227062" y="80509"/>
                  </a:cubicBezTo>
                  <a:close/>
                  <a:moveTo>
                    <a:pt x="233140" y="24457"/>
                  </a:moveTo>
                  <a:cubicBezTo>
                    <a:pt x="211117" y="45692"/>
                    <a:pt x="144289" y="98020"/>
                    <a:pt x="20504" y="101054"/>
                  </a:cubicBezTo>
                  <a:lnTo>
                    <a:pt x="20504" y="283824"/>
                  </a:lnTo>
                  <a:cubicBezTo>
                    <a:pt x="20504" y="383172"/>
                    <a:pt x="65310" y="477970"/>
                    <a:pt x="139732" y="536365"/>
                  </a:cubicBezTo>
                  <a:cubicBezTo>
                    <a:pt x="168590" y="559117"/>
                    <a:pt x="200485" y="575801"/>
                    <a:pt x="233140" y="585660"/>
                  </a:cubicBezTo>
                  <a:cubicBezTo>
                    <a:pt x="265795" y="575801"/>
                    <a:pt x="296931" y="559117"/>
                    <a:pt x="326548" y="536365"/>
                  </a:cubicBezTo>
                  <a:cubicBezTo>
                    <a:pt x="400970" y="477970"/>
                    <a:pt x="445776" y="383172"/>
                    <a:pt x="445776" y="283824"/>
                  </a:cubicBezTo>
                  <a:lnTo>
                    <a:pt x="445776" y="101054"/>
                  </a:lnTo>
                  <a:cubicBezTo>
                    <a:pt x="321991" y="98020"/>
                    <a:pt x="254404" y="45692"/>
                    <a:pt x="233140" y="24457"/>
                  </a:cubicBezTo>
                  <a:close/>
                  <a:moveTo>
                    <a:pt x="225546" y="3981"/>
                  </a:moveTo>
                  <a:cubicBezTo>
                    <a:pt x="229343" y="-1328"/>
                    <a:pt x="236937" y="-1328"/>
                    <a:pt x="240734" y="3981"/>
                  </a:cubicBezTo>
                  <a:cubicBezTo>
                    <a:pt x="241494" y="4739"/>
                    <a:pt x="307563" y="80577"/>
                    <a:pt x="455648" y="80577"/>
                  </a:cubicBezTo>
                  <a:cubicBezTo>
                    <a:pt x="461724" y="80577"/>
                    <a:pt x="466280" y="85128"/>
                    <a:pt x="466280" y="91195"/>
                  </a:cubicBezTo>
                  <a:lnTo>
                    <a:pt x="466280" y="283824"/>
                  </a:lnTo>
                  <a:cubicBezTo>
                    <a:pt x="466280" y="389239"/>
                    <a:pt x="418437" y="490104"/>
                    <a:pt x="338698" y="552292"/>
                  </a:cubicBezTo>
                  <a:cubicBezTo>
                    <a:pt x="306803" y="577318"/>
                    <a:pt x="271870" y="595519"/>
                    <a:pt x="236178" y="606137"/>
                  </a:cubicBezTo>
                  <a:cubicBezTo>
                    <a:pt x="234659" y="606895"/>
                    <a:pt x="233899" y="606895"/>
                    <a:pt x="233140" y="606895"/>
                  </a:cubicBezTo>
                  <a:cubicBezTo>
                    <a:pt x="232381" y="606895"/>
                    <a:pt x="230862" y="606895"/>
                    <a:pt x="230102" y="606137"/>
                  </a:cubicBezTo>
                  <a:cubicBezTo>
                    <a:pt x="193650" y="595519"/>
                    <a:pt x="159477" y="577318"/>
                    <a:pt x="126822" y="552292"/>
                  </a:cubicBezTo>
                  <a:cubicBezTo>
                    <a:pt x="47843" y="490104"/>
                    <a:pt x="0" y="389239"/>
                    <a:pt x="0" y="283824"/>
                  </a:cubicBezTo>
                  <a:lnTo>
                    <a:pt x="0" y="91195"/>
                  </a:lnTo>
                  <a:cubicBezTo>
                    <a:pt x="0" y="85128"/>
                    <a:pt x="4556" y="80577"/>
                    <a:pt x="10632" y="80577"/>
                  </a:cubicBezTo>
                  <a:cubicBezTo>
                    <a:pt x="158717" y="80577"/>
                    <a:pt x="224786" y="4739"/>
                    <a:pt x="225546" y="3981"/>
                  </a:cubicBez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Rectangular Callout 26">
              <a:extLst>
                <a:ext uri="{FF2B5EF4-FFF2-40B4-BE49-F238E27FC236}">
                  <a16:creationId xmlns:a16="http://schemas.microsoft.com/office/drawing/2014/main" id="{039E1702-AC3C-4183-9CDC-AD8A2BA76750}"/>
                </a:ext>
              </a:extLst>
            </p:cNvPr>
            <p:cNvSpPr/>
            <p:nvPr/>
          </p:nvSpPr>
          <p:spPr bwMode="gray">
            <a:xfrm>
              <a:off x="7294700" y="5623135"/>
              <a:ext cx="1074669" cy="493203"/>
            </a:xfrm>
            <a:prstGeom prst="wedgeRectCallout">
              <a:avLst>
                <a:gd name="adj1" fmla="val -47284"/>
                <a:gd name="adj2" fmla="val -8108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业务流量安全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3" name="椭圆 15">
              <a:extLst>
                <a:ext uri="{FF2B5EF4-FFF2-40B4-BE49-F238E27FC236}">
                  <a16:creationId xmlns:a16="http://schemas.microsoft.com/office/drawing/2014/main" id="{9B53A318-261E-4D28-A255-D86A2E4F55DB}"/>
                </a:ext>
              </a:extLst>
            </p:cNvPr>
            <p:cNvSpPr>
              <a:spLocks noChangeAspect="1"/>
            </p:cNvSpPr>
            <p:nvPr/>
          </p:nvSpPr>
          <p:spPr bwMode="gray">
            <a:xfrm>
              <a:off x="5201345" y="3184117"/>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椭圆 15">
              <a:extLst>
                <a:ext uri="{FF2B5EF4-FFF2-40B4-BE49-F238E27FC236}">
                  <a16:creationId xmlns:a16="http://schemas.microsoft.com/office/drawing/2014/main" id="{9F4E8470-459B-45CA-B80F-37A506920008}"/>
                </a:ext>
              </a:extLst>
            </p:cNvPr>
            <p:cNvSpPr>
              <a:spLocks noChangeAspect="1"/>
            </p:cNvSpPr>
            <p:nvPr/>
          </p:nvSpPr>
          <p:spPr bwMode="gray">
            <a:xfrm>
              <a:off x="10003505" y="3009080"/>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椭圆 15">
              <a:extLst>
                <a:ext uri="{FF2B5EF4-FFF2-40B4-BE49-F238E27FC236}">
                  <a16:creationId xmlns:a16="http://schemas.microsoft.com/office/drawing/2014/main" id="{8E66DE3C-5D90-436D-95E6-5CFD9C4ECB4B}"/>
                </a:ext>
              </a:extLst>
            </p:cNvPr>
            <p:cNvSpPr>
              <a:spLocks noChangeAspect="1"/>
            </p:cNvSpPr>
            <p:nvPr/>
          </p:nvSpPr>
          <p:spPr bwMode="gray">
            <a:xfrm>
              <a:off x="9219663" y="3710456"/>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椭圆 15">
              <a:extLst>
                <a:ext uri="{FF2B5EF4-FFF2-40B4-BE49-F238E27FC236}">
                  <a16:creationId xmlns:a16="http://schemas.microsoft.com/office/drawing/2014/main" id="{591974D0-2EC6-43DF-9D1B-1783CB1E9F5A}"/>
                </a:ext>
              </a:extLst>
            </p:cNvPr>
            <p:cNvSpPr>
              <a:spLocks noChangeAspect="1"/>
            </p:cNvSpPr>
            <p:nvPr/>
          </p:nvSpPr>
          <p:spPr bwMode="gray">
            <a:xfrm>
              <a:off x="9650708" y="5399560"/>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椭圆 15">
              <a:extLst>
                <a:ext uri="{FF2B5EF4-FFF2-40B4-BE49-F238E27FC236}">
                  <a16:creationId xmlns:a16="http://schemas.microsoft.com/office/drawing/2014/main" id="{F0FB7539-FC6A-40CD-9364-EBE45CA6B66C}"/>
                </a:ext>
              </a:extLst>
            </p:cNvPr>
            <p:cNvSpPr>
              <a:spLocks noChangeAspect="1"/>
            </p:cNvSpPr>
            <p:nvPr/>
          </p:nvSpPr>
          <p:spPr bwMode="gray">
            <a:xfrm>
              <a:off x="8249095" y="5500464"/>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Rectangular Callout 26">
              <a:extLst>
                <a:ext uri="{FF2B5EF4-FFF2-40B4-BE49-F238E27FC236}">
                  <a16:creationId xmlns:a16="http://schemas.microsoft.com/office/drawing/2014/main" id="{250B3DBF-A253-427F-84DC-C45543738926}"/>
                </a:ext>
              </a:extLst>
            </p:cNvPr>
            <p:cNvSpPr/>
            <p:nvPr/>
          </p:nvSpPr>
          <p:spPr bwMode="gray">
            <a:xfrm>
              <a:off x="10363093" y="4337260"/>
              <a:ext cx="1074669" cy="493203"/>
            </a:xfrm>
            <a:prstGeom prst="wedgeRectCallout">
              <a:avLst>
                <a:gd name="adj1" fmla="val -40110"/>
                <a:gd name="adj2" fmla="val 10762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CPE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自身安全加固</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 name="椭圆 15">
              <a:extLst>
                <a:ext uri="{FF2B5EF4-FFF2-40B4-BE49-F238E27FC236}">
                  <a16:creationId xmlns:a16="http://schemas.microsoft.com/office/drawing/2014/main" id="{C76D7B6C-F467-46AF-977E-303DFCC0F838}"/>
                </a:ext>
              </a:extLst>
            </p:cNvPr>
            <p:cNvSpPr>
              <a:spLocks noChangeAspect="1"/>
            </p:cNvSpPr>
            <p:nvPr/>
          </p:nvSpPr>
          <p:spPr bwMode="gray">
            <a:xfrm>
              <a:off x="10246853" y="4223170"/>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6"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47815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bwMode="gray"/>
        <p:txBody>
          <a:bodyPr>
            <a:norm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cs typeface="+mn-ea"/>
                <a:sym typeface="Huawei Sans" panose="020C0503030203020204" pitchFamily="34" charset="0"/>
              </a:rPr>
              <a:t>系统安全加固介绍</a:t>
            </a:r>
            <a:endParaRPr lang="zh-CN" altLang="en-US" dirty="0">
              <a:sym typeface="Huawei Sans" panose="020C0503030203020204" pitchFamily="34" charset="0"/>
            </a:endParaRPr>
          </a:p>
        </p:txBody>
      </p:sp>
      <p:sp>
        <p:nvSpPr>
          <p:cNvPr id="11" name="Text Placeholder 10">
            <a:extLst>
              <a:ext uri="{FF2B5EF4-FFF2-40B4-BE49-F238E27FC236}">
                <a16:creationId xmlns:a16="http://schemas.microsoft.com/office/drawing/2014/main" id="{023EF648-2CF4-4442-B656-BCA55CD10180}"/>
              </a:ext>
            </a:extLst>
          </p:cNvPr>
          <p:cNvSpPr>
            <a:spLocks noGrp="1"/>
          </p:cNvSpPr>
          <p:nvPr>
            <p:ph type="body" sz="quarter" idx="10"/>
          </p:nvPr>
        </p:nvSpPr>
        <p:spPr bwMode="gray"/>
        <p:txBody>
          <a:bodyPr/>
          <a:lstStyle/>
          <a:p>
            <a:pPr algn="l"/>
            <a:r>
              <a:rPr lang="en-US" altLang="zh-CN" sz="1800" dirty="0">
                <a:sym typeface="Huawei Sans" panose="020C0503030203020204" pitchFamily="34" charset="0"/>
              </a:rPr>
              <a:t>SD-WAN</a:t>
            </a:r>
            <a:r>
              <a:rPr lang="zh-CN" altLang="en-US" sz="1800" dirty="0">
                <a:sym typeface="Huawei Sans" panose="020C0503030203020204" pitchFamily="34" charset="0"/>
              </a:rPr>
              <a:t>系统安全主要包括组件间安全与组件本身安全两类。</a:t>
            </a:r>
            <a:endParaRPr lang="en-US" altLang="zh-CN" sz="1800" dirty="0">
              <a:sym typeface="Huawei Sans" panose="020C0503030203020204" pitchFamily="34" charset="0"/>
            </a:endParaRPr>
          </a:p>
          <a:p>
            <a:pPr marL="745939" lvl="1" indent="-342900">
              <a:buSzPct val="100000"/>
              <a:buFont typeface="+mj-lt"/>
              <a:buAutoNum type="arabicPeriod"/>
            </a:pPr>
            <a:r>
              <a:rPr lang="zh-CN" altLang="en-US" sz="1600" dirty="0">
                <a:sym typeface="Huawei Sans" panose="020C0503030203020204" pitchFamily="34" charset="0"/>
              </a:rPr>
              <a:t>组件间安全主要包括管理通道安全，控制通道安全和数据通道安全。</a:t>
            </a:r>
            <a:endParaRPr lang="en-US" altLang="zh-CN" sz="1600" dirty="0">
              <a:sym typeface="Huawei Sans" panose="020C0503030203020204" pitchFamily="34" charset="0"/>
            </a:endParaRPr>
          </a:p>
          <a:p>
            <a:pPr marL="745939" lvl="1" indent="-342900">
              <a:buSzPct val="100000"/>
              <a:buFont typeface="+mj-lt"/>
              <a:buAutoNum type="arabicPeriod"/>
            </a:pPr>
            <a:r>
              <a:rPr lang="zh-CN" altLang="en-US" sz="1600" dirty="0">
                <a:sym typeface="Huawei Sans" panose="020C0503030203020204" pitchFamily="34" charset="0"/>
              </a:rPr>
              <a:t>组件自身安全主要包括</a:t>
            </a:r>
            <a:r>
              <a:rPr lang="en-US" altLang="zh-CN" sz="1600" dirty="0" err="1">
                <a:sym typeface="Huawei Sans" panose="020C0503030203020204" pitchFamily="34" charset="0"/>
              </a:rPr>
              <a:t>iMaster</a:t>
            </a:r>
            <a:r>
              <a:rPr lang="en-US" altLang="zh-CN" sz="1600" dirty="0">
                <a:sym typeface="Huawei Sans" panose="020C0503030203020204" pitchFamily="34" charset="0"/>
              </a:rPr>
              <a:t> NCE</a:t>
            </a:r>
            <a:r>
              <a:rPr lang="zh-CN" altLang="en-US" sz="1600" dirty="0">
                <a:sym typeface="Huawei Sans" panose="020C0503030203020204" pitchFamily="34" charset="0"/>
              </a:rPr>
              <a:t>系统自身的安全与</a:t>
            </a:r>
            <a:r>
              <a:rPr lang="en-US" altLang="zh-CN" sz="1600" dirty="0">
                <a:sym typeface="Huawei Sans" panose="020C0503030203020204" pitchFamily="34" charset="0"/>
              </a:rPr>
              <a:t>CPE</a:t>
            </a:r>
            <a:r>
              <a:rPr lang="zh-CN" altLang="en-US" sz="1600" dirty="0">
                <a:sym typeface="Huawei Sans" panose="020C0503030203020204" pitchFamily="34" charset="0"/>
              </a:rPr>
              <a:t>自身安全。</a:t>
            </a:r>
          </a:p>
        </p:txBody>
      </p:sp>
      <p:grpSp>
        <p:nvGrpSpPr>
          <p:cNvPr id="26" name="Group 25">
            <a:extLst>
              <a:ext uri="{FF2B5EF4-FFF2-40B4-BE49-F238E27FC236}">
                <a16:creationId xmlns:a16="http://schemas.microsoft.com/office/drawing/2014/main" id="{16083DBE-39B8-43A7-9600-31F95BB1512F}"/>
              </a:ext>
            </a:extLst>
          </p:cNvPr>
          <p:cNvGrpSpPr/>
          <p:nvPr/>
        </p:nvGrpSpPr>
        <p:grpSpPr bwMode="gray">
          <a:xfrm>
            <a:off x="2533682" y="2288976"/>
            <a:ext cx="6723557" cy="3867864"/>
            <a:chOff x="2533682" y="2288976"/>
            <a:chExt cx="6723557" cy="3867864"/>
          </a:xfrm>
        </p:grpSpPr>
        <p:grpSp>
          <p:nvGrpSpPr>
            <p:cNvPr id="67" name="组合 102">
              <a:extLst>
                <a:ext uri="{FF2B5EF4-FFF2-40B4-BE49-F238E27FC236}">
                  <a16:creationId xmlns:a16="http://schemas.microsoft.com/office/drawing/2014/main" id="{2BF296CD-6FB8-44E9-AAEF-5A38933FBD21}"/>
                </a:ext>
              </a:extLst>
            </p:cNvPr>
            <p:cNvGrpSpPr/>
            <p:nvPr/>
          </p:nvGrpSpPr>
          <p:grpSpPr bwMode="gray">
            <a:xfrm flipH="1">
              <a:off x="6318075" y="4772017"/>
              <a:ext cx="1075899" cy="1114092"/>
              <a:chOff x="2049220" y="4543762"/>
              <a:chExt cx="1075899" cy="1114092"/>
            </a:xfrm>
          </p:grpSpPr>
          <p:grpSp>
            <p:nvGrpSpPr>
              <p:cNvPr id="115" name="Group 165">
                <a:extLst>
                  <a:ext uri="{FF2B5EF4-FFF2-40B4-BE49-F238E27FC236}">
                    <a16:creationId xmlns:a16="http://schemas.microsoft.com/office/drawing/2014/main" id="{203E9587-6EC7-4275-B4BD-5DCC2E8A7522}"/>
                  </a:ext>
                </a:extLst>
              </p:cNvPr>
              <p:cNvGrpSpPr/>
              <p:nvPr/>
            </p:nvGrpSpPr>
            <p:grpSpPr bwMode="gray">
              <a:xfrm rot="5400000">
                <a:off x="1762964" y="4830018"/>
                <a:ext cx="1114092" cy="541579"/>
                <a:chOff x="-1233037" y="914446"/>
                <a:chExt cx="1573823" cy="778776"/>
              </a:xfrm>
            </p:grpSpPr>
            <p:cxnSp>
              <p:nvCxnSpPr>
                <p:cNvPr id="118" name="Straight Connector 166">
                  <a:extLst>
                    <a:ext uri="{FF2B5EF4-FFF2-40B4-BE49-F238E27FC236}">
                      <a16:creationId xmlns:a16="http://schemas.microsoft.com/office/drawing/2014/main" id="{D1CE78D5-C8FA-404B-928F-E16C228D7567}"/>
                    </a:ext>
                  </a:extLst>
                </p:cNvPr>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67">
                  <a:extLst>
                    <a:ext uri="{FF2B5EF4-FFF2-40B4-BE49-F238E27FC236}">
                      <a16:creationId xmlns:a16="http://schemas.microsoft.com/office/drawing/2014/main" id="{AC1793D5-C916-4BFD-9B17-21D762221969}"/>
                    </a:ext>
                  </a:extLst>
                </p:cNvPr>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116" name="Straight Connector 166">
                <a:extLst>
                  <a:ext uri="{FF2B5EF4-FFF2-40B4-BE49-F238E27FC236}">
                    <a16:creationId xmlns:a16="http://schemas.microsoft.com/office/drawing/2014/main" id="{D30A2707-9022-4672-BC4A-3F0DD49D2C88}"/>
                  </a:ext>
                </a:extLst>
              </p:cNvPr>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66">
                <a:extLst>
                  <a:ext uri="{FF2B5EF4-FFF2-40B4-BE49-F238E27FC236}">
                    <a16:creationId xmlns:a16="http://schemas.microsoft.com/office/drawing/2014/main" id="{C18A4395-EA3E-4FE1-86C5-6C3CFE489D61}"/>
                  </a:ext>
                </a:extLst>
              </p:cNvPr>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68" name="组合 4">
              <a:extLst>
                <a:ext uri="{FF2B5EF4-FFF2-40B4-BE49-F238E27FC236}">
                  <a16:creationId xmlns:a16="http://schemas.microsoft.com/office/drawing/2014/main" id="{FB5DD79D-F542-4888-88F1-4A3D566AD818}"/>
                </a:ext>
              </a:extLst>
            </p:cNvPr>
            <p:cNvGrpSpPr/>
            <p:nvPr/>
          </p:nvGrpSpPr>
          <p:grpSpPr bwMode="gray">
            <a:xfrm>
              <a:off x="4613884" y="4772017"/>
              <a:ext cx="1075899" cy="1114092"/>
              <a:chOff x="2049220" y="4543762"/>
              <a:chExt cx="1075899" cy="1114092"/>
            </a:xfrm>
          </p:grpSpPr>
          <p:grpSp>
            <p:nvGrpSpPr>
              <p:cNvPr id="110" name="Group 165">
                <a:extLst>
                  <a:ext uri="{FF2B5EF4-FFF2-40B4-BE49-F238E27FC236}">
                    <a16:creationId xmlns:a16="http://schemas.microsoft.com/office/drawing/2014/main" id="{8D3D887E-3769-4CF5-8329-41A73A35AE75}"/>
                  </a:ext>
                </a:extLst>
              </p:cNvPr>
              <p:cNvGrpSpPr/>
              <p:nvPr/>
            </p:nvGrpSpPr>
            <p:grpSpPr bwMode="gray">
              <a:xfrm rot="5400000">
                <a:off x="1762964" y="4830018"/>
                <a:ext cx="1114092" cy="541579"/>
                <a:chOff x="-1233037" y="914446"/>
                <a:chExt cx="1573823" cy="778776"/>
              </a:xfrm>
            </p:grpSpPr>
            <p:cxnSp>
              <p:nvCxnSpPr>
                <p:cNvPr id="113" name="Straight Connector 166">
                  <a:extLst>
                    <a:ext uri="{FF2B5EF4-FFF2-40B4-BE49-F238E27FC236}">
                      <a16:creationId xmlns:a16="http://schemas.microsoft.com/office/drawing/2014/main" id="{61A0CC21-316B-4D4E-9674-AEB82B870768}"/>
                    </a:ext>
                  </a:extLst>
                </p:cNvPr>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67">
                  <a:extLst>
                    <a:ext uri="{FF2B5EF4-FFF2-40B4-BE49-F238E27FC236}">
                      <a16:creationId xmlns:a16="http://schemas.microsoft.com/office/drawing/2014/main" id="{DCCF118A-4A0F-4272-9FC8-E8D21F7208EF}"/>
                    </a:ext>
                  </a:extLst>
                </p:cNvPr>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111" name="Straight Connector 166">
                <a:extLst>
                  <a:ext uri="{FF2B5EF4-FFF2-40B4-BE49-F238E27FC236}">
                    <a16:creationId xmlns:a16="http://schemas.microsoft.com/office/drawing/2014/main" id="{0C1C413D-E956-46AB-A873-4F6FE30107CA}"/>
                  </a:ext>
                </a:extLst>
              </p:cNvPr>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66">
                <a:extLst>
                  <a:ext uri="{FF2B5EF4-FFF2-40B4-BE49-F238E27FC236}">
                    <a16:creationId xmlns:a16="http://schemas.microsoft.com/office/drawing/2014/main" id="{904FE2AF-1A17-4049-B3F2-E7CA9D122F8A}"/>
                  </a:ext>
                </a:extLst>
              </p:cNvPr>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69" name="直接箭头连接符 33">
              <a:extLst>
                <a:ext uri="{FF2B5EF4-FFF2-40B4-BE49-F238E27FC236}">
                  <a16:creationId xmlns:a16="http://schemas.microsoft.com/office/drawing/2014/main" id="{20047D64-261B-4288-8DC9-FAC25472C9D0}"/>
                </a:ext>
              </a:extLst>
            </p:cNvPr>
            <p:cNvCxnSpPr>
              <a:cxnSpLocks/>
            </p:cNvCxnSpPr>
            <p:nvPr/>
          </p:nvCxnSpPr>
          <p:spPr bwMode="gray">
            <a:xfrm>
              <a:off x="4347404" y="2951192"/>
              <a:ext cx="0" cy="1972888"/>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44">
              <a:extLst>
                <a:ext uri="{FF2B5EF4-FFF2-40B4-BE49-F238E27FC236}">
                  <a16:creationId xmlns:a16="http://schemas.microsoft.com/office/drawing/2014/main" id="{78A1031E-010F-4D8D-9603-AE67C2663970}"/>
                </a:ext>
              </a:extLst>
            </p:cNvPr>
            <p:cNvCxnSpPr>
              <a:cxnSpLocks/>
              <a:stCxn id="74" idx="2"/>
              <a:endCxn id="86" idx="0"/>
            </p:cNvCxnSpPr>
            <p:nvPr/>
          </p:nvCxnSpPr>
          <p:spPr bwMode="gray">
            <a:xfrm flipH="1">
              <a:off x="4368778" y="3639471"/>
              <a:ext cx="1651817" cy="1484511"/>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直接箭头连接符 45">
              <a:extLst>
                <a:ext uri="{FF2B5EF4-FFF2-40B4-BE49-F238E27FC236}">
                  <a16:creationId xmlns:a16="http://schemas.microsoft.com/office/drawing/2014/main" id="{8CF434ED-468F-441C-9E3E-B17CCCC18CFE}"/>
                </a:ext>
              </a:extLst>
            </p:cNvPr>
            <p:cNvCxnSpPr>
              <a:cxnSpLocks/>
              <a:stCxn id="74" idx="2"/>
              <a:endCxn id="87" idx="0"/>
            </p:cNvCxnSpPr>
            <p:nvPr/>
          </p:nvCxnSpPr>
          <p:spPr bwMode="gray">
            <a:xfrm>
              <a:off x="6020595" y="3639471"/>
              <a:ext cx="1645467" cy="1490861"/>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文本框 58">
              <a:extLst>
                <a:ext uri="{FF2B5EF4-FFF2-40B4-BE49-F238E27FC236}">
                  <a16:creationId xmlns:a16="http://schemas.microsoft.com/office/drawing/2014/main" id="{8582EAC9-5AB8-44E5-8C9E-B9AD65617302}"/>
                </a:ext>
              </a:extLst>
            </p:cNvPr>
            <p:cNvSpPr txBox="1"/>
            <p:nvPr/>
          </p:nvSpPr>
          <p:spPr bwMode="gray">
            <a:xfrm>
              <a:off x="5398819" y="3294704"/>
              <a:ext cx="418704"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RR</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74" name="图片 59">
              <a:extLst>
                <a:ext uri="{FF2B5EF4-FFF2-40B4-BE49-F238E27FC236}">
                  <a16:creationId xmlns:a16="http://schemas.microsoft.com/office/drawing/2014/main" id="{0B1524FF-8DCE-4B30-863E-89505CD4036B}"/>
                </a:ext>
              </a:extLst>
            </p:cNvPr>
            <p:cNvPicPr>
              <a:picLocks noChangeAspect="1"/>
            </p:cNvPicPr>
            <p:nvPr/>
          </p:nvPicPr>
          <p:blipFill>
            <a:blip r:embed="rId3"/>
            <a:stretch>
              <a:fillRect/>
            </a:stretch>
          </p:blipFill>
          <p:spPr bwMode="gray">
            <a:xfrm>
              <a:off x="5780811" y="3257716"/>
              <a:ext cx="479567" cy="381755"/>
            </a:xfrm>
            <a:prstGeom prst="rect">
              <a:avLst/>
            </a:prstGeom>
          </p:spPr>
        </p:pic>
        <p:sp>
          <p:nvSpPr>
            <p:cNvPr id="76" name="文本框 60">
              <a:extLst>
                <a:ext uri="{FF2B5EF4-FFF2-40B4-BE49-F238E27FC236}">
                  <a16:creationId xmlns:a16="http://schemas.microsoft.com/office/drawing/2014/main" id="{91722486-E247-46D4-AF44-F5A8ED786446}"/>
                </a:ext>
              </a:extLst>
            </p:cNvPr>
            <p:cNvSpPr txBox="1"/>
            <p:nvPr/>
          </p:nvSpPr>
          <p:spPr bwMode="gray">
            <a:xfrm>
              <a:off x="4037578" y="5577336"/>
              <a:ext cx="63123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78" name="文本框 66">
              <a:extLst>
                <a:ext uri="{FF2B5EF4-FFF2-40B4-BE49-F238E27FC236}">
                  <a16:creationId xmlns:a16="http://schemas.microsoft.com/office/drawing/2014/main" id="{7C17BF51-68C1-474C-BA15-58E0E9F5D98E}"/>
                </a:ext>
              </a:extLst>
            </p:cNvPr>
            <p:cNvSpPr txBox="1"/>
            <p:nvPr/>
          </p:nvSpPr>
          <p:spPr bwMode="gray">
            <a:xfrm>
              <a:off x="7378721" y="5596008"/>
              <a:ext cx="591651"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pic>
          <p:nvPicPr>
            <p:cNvPr id="80" name="图片 81">
              <a:extLst>
                <a:ext uri="{FF2B5EF4-FFF2-40B4-BE49-F238E27FC236}">
                  <a16:creationId xmlns:a16="http://schemas.microsoft.com/office/drawing/2014/main" id="{34FB250B-2C5C-463D-B908-53D0D94F15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110902" y="2499815"/>
              <a:ext cx="1792651" cy="330612"/>
            </a:xfrm>
            <a:prstGeom prst="rect">
              <a:avLst/>
            </a:prstGeom>
          </p:spPr>
        </p:pic>
        <p:sp>
          <p:nvSpPr>
            <p:cNvPr id="82" name="圆角矩形 82">
              <a:extLst>
                <a:ext uri="{FF2B5EF4-FFF2-40B4-BE49-F238E27FC236}">
                  <a16:creationId xmlns:a16="http://schemas.microsoft.com/office/drawing/2014/main" id="{E0F9069C-8C58-49B2-98B0-BA40C4F140E2}"/>
                </a:ext>
              </a:extLst>
            </p:cNvPr>
            <p:cNvSpPr/>
            <p:nvPr/>
          </p:nvSpPr>
          <p:spPr bwMode="gray">
            <a:xfrm>
              <a:off x="7654662" y="5033747"/>
              <a:ext cx="1183879"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分支站点</a:t>
              </a:r>
            </a:p>
          </p:txBody>
        </p:sp>
        <p:sp>
          <p:nvSpPr>
            <p:cNvPr id="84" name="圆角矩形 83">
              <a:extLst>
                <a:ext uri="{FF2B5EF4-FFF2-40B4-BE49-F238E27FC236}">
                  <a16:creationId xmlns:a16="http://schemas.microsoft.com/office/drawing/2014/main" id="{396463FF-7976-4999-92CD-4470A013573C}"/>
                </a:ext>
              </a:extLst>
            </p:cNvPr>
            <p:cNvSpPr/>
            <p:nvPr/>
          </p:nvSpPr>
          <p:spPr bwMode="gray">
            <a:xfrm>
              <a:off x="3043039" y="5027397"/>
              <a:ext cx="1291198"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总部</a:t>
              </a:r>
              <a:r>
                <a:rPr lang="en-US" altLang="zh-CN"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数据中心站点</a:t>
              </a:r>
            </a:p>
          </p:txBody>
        </p:sp>
        <p:pic>
          <p:nvPicPr>
            <p:cNvPr id="86" name="图片 88">
              <a:extLst>
                <a:ext uri="{FF2B5EF4-FFF2-40B4-BE49-F238E27FC236}">
                  <a16:creationId xmlns:a16="http://schemas.microsoft.com/office/drawing/2014/main" id="{BDE73257-82F1-4E4B-9BCB-82A8DF5D854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4123323" y="5123982"/>
              <a:ext cx="490909" cy="402545"/>
            </a:xfrm>
            <a:prstGeom prst="rect">
              <a:avLst/>
            </a:prstGeom>
          </p:spPr>
        </p:pic>
        <p:pic>
          <p:nvPicPr>
            <p:cNvPr id="87" name="图片 89">
              <a:extLst>
                <a:ext uri="{FF2B5EF4-FFF2-40B4-BE49-F238E27FC236}">
                  <a16:creationId xmlns:a16="http://schemas.microsoft.com/office/drawing/2014/main" id="{8736100F-5B6E-4BC9-BBEA-4D8A3713F5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7420607" y="5130332"/>
              <a:ext cx="490909" cy="402545"/>
            </a:xfrm>
            <a:prstGeom prst="rect">
              <a:avLst/>
            </a:prstGeom>
          </p:spPr>
        </p:pic>
        <p:sp>
          <p:nvSpPr>
            <p:cNvPr id="88" name="Can 225">
              <a:extLst>
                <a:ext uri="{FF2B5EF4-FFF2-40B4-BE49-F238E27FC236}">
                  <a16:creationId xmlns:a16="http://schemas.microsoft.com/office/drawing/2014/main" id="{6B08449C-FF48-4A0B-BF3C-E4FEDE709E0F}"/>
                </a:ext>
              </a:extLst>
            </p:cNvPr>
            <p:cNvSpPr/>
            <p:nvPr/>
          </p:nvSpPr>
          <p:spPr bwMode="gray">
            <a:xfrm rot="5400000">
              <a:off x="5912408" y="3934166"/>
              <a:ext cx="193925" cy="2776241"/>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89" name="直接箭头连接符 112">
              <a:extLst>
                <a:ext uri="{FF2B5EF4-FFF2-40B4-BE49-F238E27FC236}">
                  <a16:creationId xmlns:a16="http://schemas.microsoft.com/office/drawing/2014/main" id="{FBD7D899-DC56-464B-A90C-4CAFF41F0C02}"/>
                </a:ext>
              </a:extLst>
            </p:cNvPr>
            <p:cNvCxnSpPr>
              <a:cxnSpLocks/>
            </p:cNvCxnSpPr>
            <p:nvPr/>
          </p:nvCxnSpPr>
          <p:spPr bwMode="gray">
            <a:xfrm>
              <a:off x="7642568" y="2951192"/>
              <a:ext cx="0" cy="1972888"/>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33">
              <a:extLst>
                <a:ext uri="{FF2B5EF4-FFF2-40B4-BE49-F238E27FC236}">
                  <a16:creationId xmlns:a16="http://schemas.microsoft.com/office/drawing/2014/main" id="{23AC3DCB-AE95-4AB8-9772-115156078F1A}"/>
                </a:ext>
              </a:extLst>
            </p:cNvPr>
            <p:cNvCxnSpPr>
              <a:cxnSpLocks/>
              <a:stCxn id="93" idx="2"/>
              <a:endCxn id="74" idx="0"/>
            </p:cNvCxnSpPr>
            <p:nvPr/>
          </p:nvCxnSpPr>
          <p:spPr bwMode="gray">
            <a:xfrm flipH="1">
              <a:off x="6020595" y="2951192"/>
              <a:ext cx="1758" cy="306524"/>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1" name="Freeform 159">
              <a:extLst>
                <a:ext uri="{FF2B5EF4-FFF2-40B4-BE49-F238E27FC236}">
                  <a16:creationId xmlns:a16="http://schemas.microsoft.com/office/drawing/2014/main" id="{AB6945E0-48CD-4195-A7E9-3C7FBC906803}"/>
                </a:ext>
              </a:extLst>
            </p:cNvPr>
            <p:cNvSpPr/>
            <p:nvPr/>
          </p:nvSpPr>
          <p:spPr bwMode="gray">
            <a:xfrm flipH="1">
              <a:off x="5432003" y="4381513"/>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Freeform 159">
              <a:extLst>
                <a:ext uri="{FF2B5EF4-FFF2-40B4-BE49-F238E27FC236}">
                  <a16:creationId xmlns:a16="http://schemas.microsoft.com/office/drawing/2014/main" id="{5D6567E1-ECF3-48DC-BE6F-256DFC5CA622}"/>
                </a:ext>
              </a:extLst>
            </p:cNvPr>
            <p:cNvSpPr/>
            <p:nvPr/>
          </p:nvSpPr>
          <p:spPr bwMode="gray">
            <a:xfrm flipH="1">
              <a:off x="5432415" y="5539430"/>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圆角矩形 44">
              <a:extLst>
                <a:ext uri="{FF2B5EF4-FFF2-40B4-BE49-F238E27FC236}">
                  <a16:creationId xmlns:a16="http://schemas.microsoft.com/office/drawing/2014/main" id="{FC80D7F7-65A9-495F-9611-1C23C3A4BD52}"/>
                </a:ext>
              </a:extLst>
            </p:cNvPr>
            <p:cNvSpPr/>
            <p:nvPr/>
          </p:nvSpPr>
          <p:spPr bwMode="gray">
            <a:xfrm>
              <a:off x="4320490" y="2378355"/>
              <a:ext cx="3403725" cy="572837"/>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 name="文本框 60">
              <a:extLst>
                <a:ext uri="{FF2B5EF4-FFF2-40B4-BE49-F238E27FC236}">
                  <a16:creationId xmlns:a16="http://schemas.microsoft.com/office/drawing/2014/main" id="{2A9AB357-26D9-45AA-A9CE-50A0AC8B3E24}"/>
                </a:ext>
              </a:extLst>
            </p:cNvPr>
            <p:cNvSpPr txBox="1"/>
            <p:nvPr/>
          </p:nvSpPr>
          <p:spPr bwMode="gray">
            <a:xfrm rot="16200000">
              <a:off x="3327875" y="3637946"/>
              <a:ext cx="1507129"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Netconf Over SSH</a:t>
              </a: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 name="文本框 60">
              <a:extLst>
                <a:ext uri="{FF2B5EF4-FFF2-40B4-BE49-F238E27FC236}">
                  <a16:creationId xmlns:a16="http://schemas.microsoft.com/office/drawing/2014/main" id="{B24E1007-82A5-443F-9550-B87424866777}"/>
                </a:ext>
              </a:extLst>
            </p:cNvPr>
            <p:cNvSpPr txBox="1"/>
            <p:nvPr/>
          </p:nvSpPr>
          <p:spPr bwMode="gray">
            <a:xfrm rot="19124516">
              <a:off x="4350095" y="3968900"/>
              <a:ext cx="1496305"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BGP Over IPsec</a:t>
              </a: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（控制通道）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 name="文本框 60">
              <a:extLst>
                <a:ext uri="{FF2B5EF4-FFF2-40B4-BE49-F238E27FC236}">
                  <a16:creationId xmlns:a16="http://schemas.microsoft.com/office/drawing/2014/main" id="{9ED0ECAC-7501-40FA-92C0-257C4CD48634}"/>
                </a:ext>
              </a:extLst>
            </p:cNvPr>
            <p:cNvSpPr txBox="1"/>
            <p:nvPr/>
          </p:nvSpPr>
          <p:spPr bwMode="gray">
            <a:xfrm>
              <a:off x="4806708" y="5185545"/>
              <a:ext cx="249240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或</a:t>
              </a: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 Over IPsec</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8" name="Rectangular Callout 26">
              <a:extLst>
                <a:ext uri="{FF2B5EF4-FFF2-40B4-BE49-F238E27FC236}">
                  <a16:creationId xmlns:a16="http://schemas.microsoft.com/office/drawing/2014/main" id="{1F1FB67C-A9D1-4166-8EA5-5594FB61F892}"/>
                </a:ext>
              </a:extLst>
            </p:cNvPr>
            <p:cNvSpPr/>
            <p:nvPr/>
          </p:nvSpPr>
          <p:spPr bwMode="gray">
            <a:xfrm>
              <a:off x="5639109" y="3816434"/>
              <a:ext cx="1180701" cy="493203"/>
            </a:xfrm>
            <a:prstGeom prst="wedgeRectCallout">
              <a:avLst>
                <a:gd name="adj1" fmla="val -64505"/>
                <a:gd name="adj2" fmla="val -2149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保障控制通道安全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9" name="Rectangular Callout 26">
              <a:extLst>
                <a:ext uri="{FF2B5EF4-FFF2-40B4-BE49-F238E27FC236}">
                  <a16:creationId xmlns:a16="http://schemas.microsoft.com/office/drawing/2014/main" id="{22A7F209-7705-4FDA-84C5-AB07E6643EEC}"/>
                </a:ext>
              </a:extLst>
            </p:cNvPr>
            <p:cNvSpPr/>
            <p:nvPr/>
          </p:nvSpPr>
          <p:spPr bwMode="gray">
            <a:xfrm>
              <a:off x="7777558" y="2288976"/>
              <a:ext cx="1347986" cy="666301"/>
            </a:xfrm>
            <a:prstGeom prst="wedgeRectCallout">
              <a:avLst>
                <a:gd name="adj1" fmla="val -58629"/>
                <a:gd name="adj2" fmla="val 2532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通过鉴权认证等特性保障</a:t>
              </a:r>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NCE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0" name="Rectangular Callout 26">
              <a:extLst>
                <a:ext uri="{FF2B5EF4-FFF2-40B4-BE49-F238E27FC236}">
                  <a16:creationId xmlns:a16="http://schemas.microsoft.com/office/drawing/2014/main" id="{D5557FC0-2919-4E34-B19E-A49D1990E6D5}"/>
                </a:ext>
              </a:extLst>
            </p:cNvPr>
            <p:cNvSpPr/>
            <p:nvPr/>
          </p:nvSpPr>
          <p:spPr bwMode="gray">
            <a:xfrm>
              <a:off x="6031167" y="5547070"/>
              <a:ext cx="1118871" cy="493203"/>
            </a:xfrm>
            <a:prstGeom prst="wedgeRectCallout">
              <a:avLst>
                <a:gd name="adj1" fmla="val 19569"/>
                <a:gd name="adj2" fmla="val -8550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保障转发面安全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8" name="Rectangular Callout 26">
              <a:extLst>
                <a:ext uri="{FF2B5EF4-FFF2-40B4-BE49-F238E27FC236}">
                  <a16:creationId xmlns:a16="http://schemas.microsoft.com/office/drawing/2014/main" id="{57DE2F93-38A1-4565-91DE-B4FCF035698D}"/>
                </a:ext>
              </a:extLst>
            </p:cNvPr>
            <p:cNvSpPr/>
            <p:nvPr/>
          </p:nvSpPr>
          <p:spPr bwMode="gray">
            <a:xfrm>
              <a:off x="7408402" y="4187020"/>
              <a:ext cx="1311030" cy="655850"/>
            </a:xfrm>
            <a:prstGeom prst="wedgeRectCallout">
              <a:avLst>
                <a:gd name="adj1" fmla="val -20182"/>
                <a:gd name="adj2" fmla="val 10762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通过本地防攻击，鉴权认证等特性保障</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CPE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 name="Rectangular Callout 26">
              <a:extLst>
                <a:ext uri="{FF2B5EF4-FFF2-40B4-BE49-F238E27FC236}">
                  <a16:creationId xmlns:a16="http://schemas.microsoft.com/office/drawing/2014/main" id="{8B8D7B0F-A73D-4F8B-AC6A-1A495203B34B}"/>
                </a:ext>
              </a:extLst>
            </p:cNvPr>
            <p:cNvSpPr/>
            <p:nvPr/>
          </p:nvSpPr>
          <p:spPr bwMode="gray">
            <a:xfrm>
              <a:off x="2649922" y="3575186"/>
              <a:ext cx="1105373" cy="595714"/>
            </a:xfrm>
            <a:prstGeom prst="wedgeRectCallout">
              <a:avLst>
                <a:gd name="adj1" fmla="val 62112"/>
                <a:gd name="adj2" fmla="val -2583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SSH</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保障管理通道安全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椭圆 15">
              <a:extLst>
                <a:ext uri="{FF2B5EF4-FFF2-40B4-BE49-F238E27FC236}">
                  <a16:creationId xmlns:a16="http://schemas.microsoft.com/office/drawing/2014/main" id="{81E442A0-4C78-45C0-BFDE-0072EFA3E8D6}"/>
                </a:ext>
              </a:extLst>
            </p:cNvPr>
            <p:cNvSpPr>
              <a:spLocks noChangeAspect="1"/>
            </p:cNvSpPr>
            <p:nvPr/>
          </p:nvSpPr>
          <p:spPr bwMode="gray">
            <a:xfrm>
              <a:off x="2533682" y="3458946"/>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椭圆 15">
              <a:extLst>
                <a:ext uri="{FF2B5EF4-FFF2-40B4-BE49-F238E27FC236}">
                  <a16:creationId xmlns:a16="http://schemas.microsoft.com/office/drawing/2014/main" id="{91E3E56F-50D9-49B9-913E-1E860F38566D}"/>
                </a:ext>
              </a:extLst>
            </p:cNvPr>
            <p:cNvSpPr>
              <a:spLocks noChangeAspect="1"/>
            </p:cNvSpPr>
            <p:nvPr/>
          </p:nvSpPr>
          <p:spPr bwMode="gray">
            <a:xfrm>
              <a:off x="6703570" y="3701615"/>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椭圆 15">
              <a:extLst>
                <a:ext uri="{FF2B5EF4-FFF2-40B4-BE49-F238E27FC236}">
                  <a16:creationId xmlns:a16="http://schemas.microsoft.com/office/drawing/2014/main" id="{F86715F1-331C-4ADD-8B49-7713E4927096}"/>
                </a:ext>
              </a:extLst>
            </p:cNvPr>
            <p:cNvSpPr>
              <a:spLocks noChangeAspect="1"/>
            </p:cNvSpPr>
            <p:nvPr/>
          </p:nvSpPr>
          <p:spPr bwMode="gray">
            <a:xfrm>
              <a:off x="7030325" y="5924360"/>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椭圆 15">
              <a:extLst>
                <a:ext uri="{FF2B5EF4-FFF2-40B4-BE49-F238E27FC236}">
                  <a16:creationId xmlns:a16="http://schemas.microsoft.com/office/drawing/2014/main" id="{69BDA196-4769-4AF6-A5BE-AB791032A78E}"/>
                </a:ext>
              </a:extLst>
            </p:cNvPr>
            <p:cNvSpPr>
              <a:spLocks noChangeAspect="1"/>
            </p:cNvSpPr>
            <p:nvPr/>
          </p:nvSpPr>
          <p:spPr bwMode="gray">
            <a:xfrm>
              <a:off x="8603192" y="4070780"/>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椭圆 15">
              <a:extLst>
                <a:ext uri="{FF2B5EF4-FFF2-40B4-BE49-F238E27FC236}">
                  <a16:creationId xmlns:a16="http://schemas.microsoft.com/office/drawing/2014/main" id="{F995A712-6405-4897-90DF-F2A4A40D3A68}"/>
                </a:ext>
              </a:extLst>
            </p:cNvPr>
            <p:cNvSpPr>
              <a:spLocks noChangeAspect="1"/>
            </p:cNvSpPr>
            <p:nvPr/>
          </p:nvSpPr>
          <p:spPr bwMode="gray">
            <a:xfrm>
              <a:off x="9024759" y="2834952"/>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3"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74376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bwMode="gray"/>
        <p:txBody>
          <a:bodyPr>
            <a:normAutofit/>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cs typeface="+mn-ea"/>
                <a:sym typeface="Huawei Sans" panose="020C0503030203020204" pitchFamily="34" charset="0"/>
              </a:rPr>
              <a:t>业务安全介绍</a:t>
            </a:r>
            <a:endParaRPr lang="zh-CN" altLang="en-US" dirty="0">
              <a:sym typeface="Huawei Sans" panose="020C0503030203020204" pitchFamily="34" charset="0"/>
            </a:endParaRPr>
          </a:p>
        </p:txBody>
      </p:sp>
      <p:sp>
        <p:nvSpPr>
          <p:cNvPr id="11" name="Text Placeholder 10">
            <a:extLst>
              <a:ext uri="{FF2B5EF4-FFF2-40B4-BE49-F238E27FC236}">
                <a16:creationId xmlns:a16="http://schemas.microsoft.com/office/drawing/2014/main" id="{023EF648-2CF4-4442-B656-BCA55CD10180}"/>
              </a:ext>
            </a:extLst>
          </p:cNvPr>
          <p:cNvSpPr>
            <a:spLocks noGrp="1"/>
          </p:cNvSpPr>
          <p:nvPr>
            <p:ph type="body" sz="quarter" idx="10"/>
          </p:nvPr>
        </p:nvSpPr>
        <p:spPr bwMode="gray">
          <a:xfrm>
            <a:off x="455613" y="1047750"/>
            <a:ext cx="5584781" cy="4879805"/>
          </a:xfrm>
        </p:spPr>
        <p:txBody>
          <a:bodyPr/>
          <a:lstStyle/>
          <a:p>
            <a:pPr algn="l"/>
            <a:r>
              <a:rPr lang="zh-CN" altLang="en-US" sz="2000" dirty="0">
                <a:sym typeface="Huawei Sans" panose="020C0503030203020204" pitchFamily="34" charset="0"/>
              </a:rPr>
              <a:t>从流量角度看，</a:t>
            </a:r>
            <a:r>
              <a:rPr lang="en-US" altLang="zh-CN" sz="2000" dirty="0">
                <a:sym typeface="Huawei Sans" panose="020C0503030203020204" pitchFamily="34" charset="0"/>
              </a:rPr>
              <a:t>SD-WAN</a:t>
            </a:r>
            <a:r>
              <a:rPr lang="zh-CN" altLang="en-US" sz="2000" dirty="0">
                <a:sym typeface="Huawei Sans" panose="020C0503030203020204" pitchFamily="34" charset="0"/>
              </a:rPr>
              <a:t>的业务主要分为：</a:t>
            </a:r>
            <a:endParaRPr lang="en-US" altLang="zh-CN" sz="2000" dirty="0">
              <a:sym typeface="Huawei Sans" panose="020C0503030203020204" pitchFamily="34" charset="0"/>
            </a:endParaRPr>
          </a:p>
          <a:p>
            <a:pPr marL="745939" lvl="1" indent="-342900">
              <a:buSzPct val="100000"/>
              <a:buFont typeface="+mj-lt"/>
              <a:buAutoNum type="arabicPeriod"/>
            </a:pPr>
            <a:r>
              <a:rPr lang="zh-CN" altLang="en-US" sz="1600" dirty="0">
                <a:sym typeface="Huawei Sans" panose="020C0503030203020204" pitchFamily="34" charset="0"/>
              </a:rPr>
              <a:t>站点间互访业务</a:t>
            </a:r>
            <a:endParaRPr lang="en-US" altLang="zh-CN" sz="1600" dirty="0">
              <a:sym typeface="Huawei Sans" panose="020C0503030203020204" pitchFamily="34" charset="0"/>
            </a:endParaRPr>
          </a:p>
          <a:p>
            <a:pPr lvl="2"/>
            <a:r>
              <a:rPr lang="zh-CN" altLang="en-US" sz="1400" dirty="0">
                <a:sym typeface="Huawei Sans" panose="020C0503030203020204" pitchFamily="34" charset="0"/>
              </a:rPr>
              <a:t>站点间互访业务安全主要通过</a:t>
            </a:r>
            <a:r>
              <a:rPr lang="en-US" altLang="zh-CN" sz="1400" dirty="0">
                <a:sym typeface="Huawei Sans" panose="020C0503030203020204" pitchFamily="34" charset="0"/>
              </a:rPr>
              <a:t>IPsec</a:t>
            </a:r>
            <a:r>
              <a:rPr lang="zh-CN" altLang="en-US" sz="1400" dirty="0">
                <a:sym typeface="Huawei Sans" panose="020C0503030203020204" pitchFamily="34" charset="0"/>
              </a:rPr>
              <a:t>加密实现。</a:t>
            </a:r>
            <a:endParaRPr lang="en-US" altLang="zh-CN" sz="1400" dirty="0">
              <a:sym typeface="Huawei Sans" panose="020C0503030203020204" pitchFamily="34" charset="0"/>
            </a:endParaRPr>
          </a:p>
          <a:p>
            <a:pPr marL="745939" lvl="1" indent="-342900">
              <a:buSzPct val="100000"/>
              <a:buFont typeface="+mj-lt"/>
              <a:buAutoNum type="arabicPeriod"/>
            </a:pPr>
            <a:r>
              <a:rPr lang="zh-CN" altLang="en-US" sz="1600" dirty="0">
                <a:sym typeface="Huawei Sans" panose="020C0503030203020204" pitchFamily="34" charset="0"/>
              </a:rPr>
              <a:t>站点访问</a:t>
            </a:r>
            <a:r>
              <a:rPr lang="en-US" altLang="zh-CN" sz="1600" dirty="0">
                <a:sym typeface="Huawei Sans" panose="020C0503030203020204" pitchFamily="34" charset="0"/>
              </a:rPr>
              <a:t>Internet</a:t>
            </a:r>
            <a:r>
              <a:rPr lang="zh-CN" altLang="en-US" sz="1600" dirty="0">
                <a:sym typeface="Huawei Sans" panose="020C0503030203020204" pitchFamily="34" charset="0"/>
              </a:rPr>
              <a:t>业务</a:t>
            </a:r>
            <a:endParaRPr lang="en-US" altLang="zh-CN" sz="1600" dirty="0">
              <a:sym typeface="Huawei Sans" panose="020C0503030203020204" pitchFamily="34" charset="0"/>
            </a:endParaRPr>
          </a:p>
          <a:p>
            <a:pPr lvl="2"/>
            <a:r>
              <a:rPr lang="zh-CN" altLang="en-US" sz="1400" dirty="0">
                <a:sym typeface="Huawei Sans" panose="020C0503030203020204" pitchFamily="34" charset="0"/>
              </a:rPr>
              <a:t>站点访问</a:t>
            </a:r>
            <a:r>
              <a:rPr lang="en-US" altLang="zh-CN" sz="1400" dirty="0">
                <a:sym typeface="Huawei Sans" panose="020C0503030203020204" pitchFamily="34" charset="0"/>
              </a:rPr>
              <a:t>Internet</a:t>
            </a:r>
            <a:r>
              <a:rPr lang="zh-CN" altLang="en-US" sz="1400" dirty="0">
                <a:sym typeface="Huawei Sans" panose="020C0503030203020204" pitchFamily="34" charset="0"/>
              </a:rPr>
              <a:t>安全可以通过</a:t>
            </a:r>
            <a:r>
              <a:rPr lang="en-US" altLang="zh-CN" sz="1400" dirty="0">
                <a:sym typeface="Huawei Sans" panose="020C0503030203020204" pitchFamily="34" charset="0"/>
              </a:rPr>
              <a:t>EDGE</a:t>
            </a:r>
            <a:r>
              <a:rPr lang="zh-CN" altLang="en-US" sz="1400" dirty="0">
                <a:sym typeface="Huawei Sans" panose="020C0503030203020204" pitchFamily="34" charset="0"/>
              </a:rPr>
              <a:t>内置防火墙，</a:t>
            </a:r>
            <a:r>
              <a:rPr lang="en-US" altLang="zh-CN" sz="1400" dirty="0">
                <a:sym typeface="Huawei Sans" panose="020C0503030203020204" pitchFamily="34" charset="0"/>
              </a:rPr>
              <a:t>IPS</a:t>
            </a:r>
            <a:r>
              <a:rPr lang="zh-CN" altLang="en-US" sz="1400" dirty="0">
                <a:sym typeface="Huawei Sans" panose="020C0503030203020204" pitchFamily="34" charset="0"/>
              </a:rPr>
              <a:t>与</a:t>
            </a:r>
            <a:r>
              <a:rPr lang="en-US" altLang="zh-CN" sz="1400" dirty="0">
                <a:sym typeface="Huawei Sans" panose="020C0503030203020204" pitchFamily="34" charset="0"/>
              </a:rPr>
              <a:t>URL</a:t>
            </a:r>
            <a:r>
              <a:rPr lang="zh-CN" altLang="en-US" sz="1400" dirty="0">
                <a:sym typeface="Huawei Sans" panose="020C0503030203020204" pitchFamily="34" charset="0"/>
              </a:rPr>
              <a:t>过滤实现。</a:t>
            </a:r>
            <a:endParaRPr lang="en-US" altLang="zh-CN" sz="1400" dirty="0">
              <a:sym typeface="Huawei Sans" panose="020C0503030203020204" pitchFamily="34" charset="0"/>
            </a:endParaRPr>
          </a:p>
          <a:p>
            <a:pPr marL="745939" lvl="1" indent="-342900">
              <a:buSzPct val="100000"/>
              <a:buFont typeface="+mj-lt"/>
              <a:buAutoNum type="arabicPeriod"/>
            </a:pPr>
            <a:r>
              <a:rPr lang="zh-CN" altLang="en-US" sz="1600" dirty="0">
                <a:sym typeface="Huawei Sans" panose="020C0503030203020204" pitchFamily="34" charset="0"/>
              </a:rPr>
              <a:t>站点访问云应用业务</a:t>
            </a:r>
            <a:endParaRPr lang="en-US" altLang="zh-CN" sz="1600" dirty="0">
              <a:sym typeface="Huawei Sans" panose="020C0503030203020204" pitchFamily="34" charset="0"/>
            </a:endParaRPr>
          </a:p>
          <a:p>
            <a:pPr lvl="2"/>
            <a:r>
              <a:rPr lang="zh-CN" altLang="en-US" sz="1400" dirty="0">
                <a:sym typeface="Huawei Sans" panose="020C0503030203020204" pitchFamily="34" charset="0"/>
              </a:rPr>
              <a:t>站点对接第三方云安全网关，将企业访问</a:t>
            </a:r>
            <a:r>
              <a:rPr lang="en-US" altLang="zh-CN" sz="1400" dirty="0">
                <a:sym typeface="Huawei Sans" panose="020C0503030203020204" pitchFamily="34" charset="0"/>
              </a:rPr>
              <a:t>SaaS</a:t>
            </a:r>
            <a:r>
              <a:rPr lang="zh-CN" altLang="en-US" sz="1400" dirty="0">
                <a:sym typeface="Huawei Sans" panose="020C0503030203020204" pitchFamily="34" charset="0"/>
              </a:rPr>
              <a:t>云应用的流量发送至第三方云安全网关。</a:t>
            </a:r>
          </a:p>
        </p:txBody>
      </p:sp>
      <p:grpSp>
        <p:nvGrpSpPr>
          <p:cNvPr id="133" name="Group 132">
            <a:extLst>
              <a:ext uri="{FF2B5EF4-FFF2-40B4-BE49-F238E27FC236}">
                <a16:creationId xmlns:a16="http://schemas.microsoft.com/office/drawing/2014/main" id="{43F28F1F-EA21-429C-930E-A7F2F4388976}"/>
              </a:ext>
            </a:extLst>
          </p:cNvPr>
          <p:cNvGrpSpPr/>
          <p:nvPr/>
        </p:nvGrpSpPr>
        <p:grpSpPr bwMode="gray">
          <a:xfrm>
            <a:off x="6119883" y="1600517"/>
            <a:ext cx="5504375" cy="3621961"/>
            <a:chOff x="6198130" y="2626898"/>
            <a:chExt cx="5504375" cy="3621961"/>
          </a:xfrm>
        </p:grpSpPr>
        <p:sp>
          <p:nvSpPr>
            <p:cNvPr id="15" name="Freeform 159">
              <a:extLst>
                <a:ext uri="{FF2B5EF4-FFF2-40B4-BE49-F238E27FC236}">
                  <a16:creationId xmlns:a16="http://schemas.microsoft.com/office/drawing/2014/main" id="{8BC38981-E720-4B16-9ACD-F921559D8409}"/>
                </a:ext>
              </a:extLst>
            </p:cNvPr>
            <p:cNvSpPr/>
            <p:nvPr/>
          </p:nvSpPr>
          <p:spPr bwMode="gray">
            <a:xfrm flipH="1">
              <a:off x="9761797" y="2626898"/>
              <a:ext cx="1649234" cy="8621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SaaS</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云应用</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 name="图片 88">
              <a:extLst>
                <a:ext uri="{FF2B5EF4-FFF2-40B4-BE49-F238E27FC236}">
                  <a16:creationId xmlns:a16="http://schemas.microsoft.com/office/drawing/2014/main" id="{F6C1F692-B946-4D6E-854A-EC2941AFF6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854933" y="5197141"/>
              <a:ext cx="490909" cy="402545"/>
            </a:xfrm>
            <a:prstGeom prst="rect">
              <a:avLst/>
            </a:prstGeom>
          </p:spPr>
        </p:pic>
        <p:pic>
          <p:nvPicPr>
            <p:cNvPr id="3" name="图片 88">
              <a:extLst>
                <a:ext uri="{FF2B5EF4-FFF2-40B4-BE49-F238E27FC236}">
                  <a16:creationId xmlns:a16="http://schemas.microsoft.com/office/drawing/2014/main" id="{EA8834AA-CE09-4ABD-AC03-9F81A26F9F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242077" y="5152131"/>
              <a:ext cx="490909" cy="402545"/>
            </a:xfrm>
            <a:prstGeom prst="rect">
              <a:avLst/>
            </a:prstGeom>
          </p:spPr>
        </p:pic>
        <p:pic>
          <p:nvPicPr>
            <p:cNvPr id="8" name="图片 93">
              <a:extLst>
                <a:ext uri="{FF2B5EF4-FFF2-40B4-BE49-F238E27FC236}">
                  <a16:creationId xmlns:a16="http://schemas.microsoft.com/office/drawing/2014/main" id="{EB67A972-56B5-4E87-BE24-4DA16C2110C8}"/>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063043" y="3087169"/>
              <a:ext cx="493113" cy="401832"/>
            </a:xfrm>
            <a:prstGeom prst="rect">
              <a:avLst/>
            </a:prstGeom>
          </p:spPr>
        </p:pic>
        <p:sp>
          <p:nvSpPr>
            <p:cNvPr id="9" name="Freeform 159">
              <a:extLst>
                <a:ext uri="{FF2B5EF4-FFF2-40B4-BE49-F238E27FC236}">
                  <a16:creationId xmlns:a16="http://schemas.microsoft.com/office/drawing/2014/main" id="{ED6D5719-D8CF-4896-9500-04AACA2EA5F2}"/>
                </a:ext>
              </a:extLst>
            </p:cNvPr>
            <p:cNvSpPr/>
            <p:nvPr/>
          </p:nvSpPr>
          <p:spPr bwMode="gray">
            <a:xfrm flipH="1">
              <a:off x="7953248" y="3918347"/>
              <a:ext cx="1649234" cy="8621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图片 212">
              <a:extLst>
                <a:ext uri="{FF2B5EF4-FFF2-40B4-BE49-F238E27FC236}">
                  <a16:creationId xmlns:a16="http://schemas.microsoft.com/office/drawing/2014/main" id="{3BC203D7-58AF-4C2C-8A43-DE8FF5876BC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9456246" y="2837549"/>
              <a:ext cx="493114" cy="439345"/>
            </a:xfrm>
            <a:prstGeom prst="rect">
              <a:avLst/>
            </a:prstGeom>
          </p:spPr>
        </p:pic>
        <p:cxnSp>
          <p:nvCxnSpPr>
            <p:cNvPr id="65" name="Straight Connector 64">
              <a:extLst>
                <a:ext uri="{FF2B5EF4-FFF2-40B4-BE49-F238E27FC236}">
                  <a16:creationId xmlns:a16="http://schemas.microsoft.com/office/drawing/2014/main" id="{ADE87A79-833C-4BC6-90B6-4671D3F4115E}"/>
                </a:ext>
              </a:extLst>
            </p:cNvPr>
            <p:cNvCxnSpPr>
              <a:cxnSpLocks/>
              <a:stCxn id="9" idx="24"/>
              <a:endCxn id="8" idx="2"/>
            </p:cNvCxnSpPr>
            <p:nvPr/>
          </p:nvCxnSpPr>
          <p:spPr bwMode="gray">
            <a:xfrm flipH="1" flipV="1">
              <a:off x="7309600" y="3489001"/>
              <a:ext cx="890327" cy="7582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A43CC7A0-0A83-4835-AFA6-E6D74BE1BFFA}"/>
                </a:ext>
              </a:extLst>
            </p:cNvPr>
            <p:cNvCxnSpPr>
              <a:cxnSpLocks/>
              <a:stCxn id="9" idx="20"/>
              <a:endCxn id="2" idx="3"/>
            </p:cNvCxnSpPr>
            <p:nvPr/>
          </p:nvCxnSpPr>
          <p:spPr bwMode="gray">
            <a:xfrm flipH="1">
              <a:off x="7345842" y="4775215"/>
              <a:ext cx="811356" cy="6231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B123F55-53FF-4875-BEA9-7E01C4109EE8}"/>
                </a:ext>
              </a:extLst>
            </p:cNvPr>
            <p:cNvCxnSpPr>
              <a:cxnSpLocks/>
              <a:stCxn id="9" idx="12"/>
              <a:endCxn id="3" idx="1"/>
            </p:cNvCxnSpPr>
            <p:nvPr/>
          </p:nvCxnSpPr>
          <p:spPr bwMode="gray">
            <a:xfrm>
              <a:off x="9331509" y="4780450"/>
              <a:ext cx="910568" cy="57295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111FCE3-0F21-482D-9395-3AA4C0B6B96F}"/>
                </a:ext>
              </a:extLst>
            </p:cNvPr>
            <p:cNvCxnSpPr>
              <a:cxnSpLocks/>
              <a:stCxn id="9" idx="7"/>
              <a:endCxn id="13" idx="2"/>
            </p:cNvCxnSpPr>
            <p:nvPr/>
          </p:nvCxnSpPr>
          <p:spPr bwMode="gray">
            <a:xfrm flipV="1">
              <a:off x="9436980" y="3276894"/>
              <a:ext cx="265823" cy="97828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0" name="Can 225">
              <a:extLst>
                <a:ext uri="{FF2B5EF4-FFF2-40B4-BE49-F238E27FC236}">
                  <a16:creationId xmlns:a16="http://schemas.microsoft.com/office/drawing/2014/main" id="{0120DC5F-0B76-4AC5-8E38-E024D7C358DD}"/>
                </a:ext>
              </a:extLst>
            </p:cNvPr>
            <p:cNvSpPr/>
            <p:nvPr/>
          </p:nvSpPr>
          <p:spPr bwMode="gray">
            <a:xfrm rot="5400000">
              <a:off x="8696997" y="4010294"/>
              <a:ext cx="193925" cy="2776241"/>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文本框 60">
              <a:extLst>
                <a:ext uri="{FF2B5EF4-FFF2-40B4-BE49-F238E27FC236}">
                  <a16:creationId xmlns:a16="http://schemas.microsoft.com/office/drawing/2014/main" id="{89E00E59-ADE3-4EAC-906D-6407F9990BA0}"/>
                </a:ext>
              </a:extLst>
            </p:cNvPr>
            <p:cNvSpPr txBox="1"/>
            <p:nvPr/>
          </p:nvSpPr>
          <p:spPr bwMode="gray">
            <a:xfrm>
              <a:off x="7932398" y="5250384"/>
              <a:ext cx="1700544" cy="276999"/>
            </a:xfrm>
            <a:prstGeom prst="rect">
              <a:avLst/>
            </a:prstGeom>
            <a:noFill/>
          </p:spPr>
          <p:txBody>
            <a:bodyPr wrap="square" rtlCol="0">
              <a:sp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Freeform: Shape 33">
              <a:extLst>
                <a:ext uri="{FF2B5EF4-FFF2-40B4-BE49-F238E27FC236}">
                  <a16:creationId xmlns:a16="http://schemas.microsoft.com/office/drawing/2014/main" id="{07EA577D-889F-45F1-B5A2-FEB56CC68BA0}"/>
                </a:ext>
              </a:extLst>
            </p:cNvPr>
            <p:cNvSpPr/>
            <p:nvPr/>
          </p:nvSpPr>
          <p:spPr bwMode="gray">
            <a:xfrm rot="21298083">
              <a:off x="7297995" y="3480378"/>
              <a:ext cx="1007232" cy="1778255"/>
            </a:xfrm>
            <a:custGeom>
              <a:avLst/>
              <a:gdLst>
                <a:gd name="connsiteX0" fmla="*/ 0 w 862644"/>
                <a:gd name="connsiteY0" fmla="*/ 1665515 h 1665515"/>
                <a:gd name="connsiteX1" fmla="*/ 859971 w 862644"/>
                <a:gd name="connsiteY1" fmla="*/ 1077686 h 1665515"/>
                <a:gd name="connsiteX2" fmla="*/ 217714 w 862644"/>
                <a:gd name="connsiteY2" fmla="*/ 0 h 1665515"/>
              </a:gdLst>
              <a:ahLst/>
              <a:cxnLst>
                <a:cxn ang="0">
                  <a:pos x="connsiteX0" y="connsiteY0"/>
                </a:cxn>
                <a:cxn ang="0">
                  <a:pos x="connsiteX1" y="connsiteY1"/>
                </a:cxn>
                <a:cxn ang="0">
                  <a:pos x="connsiteX2" y="connsiteY2"/>
                </a:cxn>
              </a:cxnLst>
              <a:rect l="l" t="t" r="r" b="b"/>
              <a:pathLst>
                <a:path w="862644" h="1665515">
                  <a:moveTo>
                    <a:pt x="0" y="1665515"/>
                  </a:moveTo>
                  <a:cubicBezTo>
                    <a:pt x="411842" y="1510393"/>
                    <a:pt x="823685" y="1355272"/>
                    <a:pt x="859971" y="1077686"/>
                  </a:cubicBezTo>
                  <a:cubicBezTo>
                    <a:pt x="896257" y="800100"/>
                    <a:pt x="556985" y="400050"/>
                    <a:pt x="217714"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Can 225">
              <a:extLst>
                <a:ext uri="{FF2B5EF4-FFF2-40B4-BE49-F238E27FC236}">
                  <a16:creationId xmlns:a16="http://schemas.microsoft.com/office/drawing/2014/main" id="{98717954-E657-43F9-B364-648C75CBFAEB}"/>
                </a:ext>
              </a:extLst>
            </p:cNvPr>
            <p:cNvSpPr/>
            <p:nvPr/>
          </p:nvSpPr>
          <p:spPr bwMode="gray">
            <a:xfrm rot="9466130">
              <a:off x="10077890" y="3162629"/>
              <a:ext cx="193925" cy="2020883"/>
            </a:xfrm>
            <a:prstGeom prst="can">
              <a:avLst>
                <a:gd name="adj" fmla="val 4737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文本框 60">
              <a:extLst>
                <a:ext uri="{FF2B5EF4-FFF2-40B4-BE49-F238E27FC236}">
                  <a16:creationId xmlns:a16="http://schemas.microsoft.com/office/drawing/2014/main" id="{5E1A2A44-0E61-4DA3-BB48-156B890C761A}"/>
                </a:ext>
              </a:extLst>
            </p:cNvPr>
            <p:cNvSpPr txBox="1"/>
            <p:nvPr/>
          </p:nvSpPr>
          <p:spPr bwMode="gray">
            <a:xfrm rot="4066130">
              <a:off x="9315105" y="4021140"/>
              <a:ext cx="1708105" cy="276999"/>
            </a:xfrm>
            <a:prstGeom prst="rect">
              <a:avLst/>
            </a:prstGeom>
            <a:noFill/>
          </p:spPr>
          <p:txBody>
            <a:bodyPr wrap="square" rtlCol="0">
              <a:sp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Rectangular Callout 26">
              <a:extLst>
                <a:ext uri="{FF2B5EF4-FFF2-40B4-BE49-F238E27FC236}">
                  <a16:creationId xmlns:a16="http://schemas.microsoft.com/office/drawing/2014/main" id="{5CF2CF40-D548-4133-9B5E-26E784FAF60D}"/>
                </a:ext>
              </a:extLst>
            </p:cNvPr>
            <p:cNvSpPr/>
            <p:nvPr/>
          </p:nvSpPr>
          <p:spPr bwMode="gray">
            <a:xfrm>
              <a:off x="8122093" y="5627804"/>
              <a:ext cx="1290619" cy="493203"/>
            </a:xfrm>
            <a:prstGeom prst="wedgeRectCallout">
              <a:avLst>
                <a:gd name="adj1" fmla="val -20942"/>
                <a:gd name="adj2" fmla="val -8136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站点间业务通过</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保障安全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antivirus_139783">
              <a:extLst>
                <a:ext uri="{FF2B5EF4-FFF2-40B4-BE49-F238E27FC236}">
                  <a16:creationId xmlns:a16="http://schemas.microsoft.com/office/drawing/2014/main" id="{3FC94537-7921-4433-BA6D-83B063A869AD}"/>
                </a:ext>
              </a:extLst>
            </p:cNvPr>
            <p:cNvSpPr>
              <a:spLocks noChangeAspect="1"/>
            </p:cNvSpPr>
            <p:nvPr/>
          </p:nvSpPr>
          <p:spPr bwMode="gray">
            <a:xfrm>
              <a:off x="7153854" y="5044350"/>
              <a:ext cx="309277" cy="402545"/>
            </a:xfrm>
            <a:custGeom>
              <a:avLst/>
              <a:gdLst>
                <a:gd name="connsiteX0" fmla="*/ 227062 w 466280"/>
                <a:gd name="connsiteY0" fmla="*/ 80509 h 606895"/>
                <a:gd name="connsiteX1" fmla="*/ 238458 w 466280"/>
                <a:gd name="connsiteY1" fmla="*/ 80509 h 606895"/>
                <a:gd name="connsiteX2" fmla="*/ 396487 w 466280"/>
                <a:gd name="connsiteY2" fmla="*/ 138155 h 606895"/>
                <a:gd name="connsiteX3" fmla="*/ 405604 w 466280"/>
                <a:gd name="connsiteY3" fmla="*/ 148016 h 606895"/>
                <a:gd name="connsiteX4" fmla="*/ 405604 w 466280"/>
                <a:gd name="connsiteY4" fmla="*/ 283790 h 606895"/>
                <a:gd name="connsiteX5" fmla="*/ 301518 w 466280"/>
                <a:gd name="connsiteY5" fmla="*/ 504517 h 606895"/>
                <a:gd name="connsiteX6" fmla="*/ 236939 w 466280"/>
                <a:gd name="connsiteY6" fmla="*/ 541684 h 606895"/>
                <a:gd name="connsiteX7" fmla="*/ 233140 w 466280"/>
                <a:gd name="connsiteY7" fmla="*/ 542442 h 606895"/>
                <a:gd name="connsiteX8" fmla="*/ 229341 w 466280"/>
                <a:gd name="connsiteY8" fmla="*/ 541684 h 606895"/>
                <a:gd name="connsiteX9" fmla="*/ 164762 w 466280"/>
                <a:gd name="connsiteY9" fmla="*/ 504517 h 606895"/>
                <a:gd name="connsiteX10" fmla="*/ 60676 w 466280"/>
                <a:gd name="connsiteY10" fmla="*/ 283790 h 606895"/>
                <a:gd name="connsiteX11" fmla="*/ 60676 w 466280"/>
                <a:gd name="connsiteY11" fmla="*/ 148016 h 606895"/>
                <a:gd name="connsiteX12" fmla="*/ 69793 w 466280"/>
                <a:gd name="connsiteY12" fmla="*/ 138155 h 606895"/>
                <a:gd name="connsiteX13" fmla="*/ 227062 w 466280"/>
                <a:gd name="connsiteY13" fmla="*/ 80509 h 606895"/>
                <a:gd name="connsiteX14" fmla="*/ 233140 w 466280"/>
                <a:gd name="connsiteY14" fmla="*/ 24457 h 606895"/>
                <a:gd name="connsiteX15" fmla="*/ 20504 w 466280"/>
                <a:gd name="connsiteY15" fmla="*/ 101054 h 606895"/>
                <a:gd name="connsiteX16" fmla="*/ 20504 w 466280"/>
                <a:gd name="connsiteY16" fmla="*/ 283824 h 606895"/>
                <a:gd name="connsiteX17" fmla="*/ 139732 w 466280"/>
                <a:gd name="connsiteY17" fmla="*/ 536365 h 606895"/>
                <a:gd name="connsiteX18" fmla="*/ 233140 w 466280"/>
                <a:gd name="connsiteY18" fmla="*/ 585660 h 606895"/>
                <a:gd name="connsiteX19" fmla="*/ 326548 w 466280"/>
                <a:gd name="connsiteY19" fmla="*/ 536365 h 606895"/>
                <a:gd name="connsiteX20" fmla="*/ 445776 w 466280"/>
                <a:gd name="connsiteY20" fmla="*/ 283824 h 606895"/>
                <a:gd name="connsiteX21" fmla="*/ 445776 w 466280"/>
                <a:gd name="connsiteY21" fmla="*/ 101054 h 606895"/>
                <a:gd name="connsiteX22" fmla="*/ 233140 w 466280"/>
                <a:gd name="connsiteY22" fmla="*/ 24457 h 606895"/>
                <a:gd name="connsiteX23" fmla="*/ 225546 w 466280"/>
                <a:gd name="connsiteY23" fmla="*/ 3981 h 606895"/>
                <a:gd name="connsiteX24" fmla="*/ 240734 w 466280"/>
                <a:gd name="connsiteY24" fmla="*/ 3981 h 606895"/>
                <a:gd name="connsiteX25" fmla="*/ 455648 w 466280"/>
                <a:gd name="connsiteY25" fmla="*/ 80577 h 606895"/>
                <a:gd name="connsiteX26" fmla="*/ 466280 w 466280"/>
                <a:gd name="connsiteY26" fmla="*/ 91195 h 606895"/>
                <a:gd name="connsiteX27" fmla="*/ 466280 w 466280"/>
                <a:gd name="connsiteY27" fmla="*/ 283824 h 606895"/>
                <a:gd name="connsiteX28" fmla="*/ 338698 w 466280"/>
                <a:gd name="connsiteY28" fmla="*/ 552292 h 606895"/>
                <a:gd name="connsiteX29" fmla="*/ 236178 w 466280"/>
                <a:gd name="connsiteY29" fmla="*/ 606137 h 606895"/>
                <a:gd name="connsiteX30" fmla="*/ 233140 w 466280"/>
                <a:gd name="connsiteY30" fmla="*/ 606895 h 606895"/>
                <a:gd name="connsiteX31" fmla="*/ 230102 w 466280"/>
                <a:gd name="connsiteY31" fmla="*/ 606137 h 606895"/>
                <a:gd name="connsiteX32" fmla="*/ 126822 w 466280"/>
                <a:gd name="connsiteY32" fmla="*/ 552292 h 606895"/>
                <a:gd name="connsiteX33" fmla="*/ 0 w 466280"/>
                <a:gd name="connsiteY33" fmla="*/ 283824 h 606895"/>
                <a:gd name="connsiteX34" fmla="*/ 0 w 466280"/>
                <a:gd name="connsiteY34" fmla="*/ 91195 h 606895"/>
                <a:gd name="connsiteX35" fmla="*/ 10632 w 466280"/>
                <a:gd name="connsiteY35" fmla="*/ 80577 h 606895"/>
                <a:gd name="connsiteX36" fmla="*/ 225546 w 466280"/>
                <a:gd name="connsiteY36" fmla="*/ 3981 h 60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6280" h="606895">
                  <a:moveTo>
                    <a:pt x="227062" y="80509"/>
                  </a:moveTo>
                  <a:cubicBezTo>
                    <a:pt x="230861" y="78233"/>
                    <a:pt x="235419" y="78233"/>
                    <a:pt x="238458" y="80509"/>
                  </a:cubicBezTo>
                  <a:cubicBezTo>
                    <a:pt x="269608" y="101747"/>
                    <a:pt x="321271" y="128295"/>
                    <a:pt x="396487" y="138155"/>
                  </a:cubicBezTo>
                  <a:cubicBezTo>
                    <a:pt x="401805" y="138155"/>
                    <a:pt x="405604" y="142707"/>
                    <a:pt x="405604" y="148016"/>
                  </a:cubicBezTo>
                  <a:lnTo>
                    <a:pt x="405604" y="283790"/>
                  </a:lnTo>
                  <a:cubicBezTo>
                    <a:pt x="405604" y="371018"/>
                    <a:pt x="366097" y="453696"/>
                    <a:pt x="301518" y="504517"/>
                  </a:cubicBezTo>
                  <a:cubicBezTo>
                    <a:pt x="281004" y="520445"/>
                    <a:pt x="258972" y="533340"/>
                    <a:pt x="236939" y="541684"/>
                  </a:cubicBezTo>
                  <a:cubicBezTo>
                    <a:pt x="235419" y="542442"/>
                    <a:pt x="234660" y="542442"/>
                    <a:pt x="233140" y="542442"/>
                  </a:cubicBezTo>
                  <a:cubicBezTo>
                    <a:pt x="231620" y="542442"/>
                    <a:pt x="230861" y="542442"/>
                    <a:pt x="229341" y="541684"/>
                  </a:cubicBezTo>
                  <a:cubicBezTo>
                    <a:pt x="207308" y="533340"/>
                    <a:pt x="185276" y="520445"/>
                    <a:pt x="164762" y="504517"/>
                  </a:cubicBezTo>
                  <a:cubicBezTo>
                    <a:pt x="99423" y="453696"/>
                    <a:pt x="60676" y="371018"/>
                    <a:pt x="60676" y="283790"/>
                  </a:cubicBezTo>
                  <a:lnTo>
                    <a:pt x="60676" y="148016"/>
                  </a:lnTo>
                  <a:cubicBezTo>
                    <a:pt x="60676" y="142707"/>
                    <a:pt x="64475" y="138155"/>
                    <a:pt x="69793" y="138155"/>
                  </a:cubicBezTo>
                  <a:cubicBezTo>
                    <a:pt x="145009" y="128295"/>
                    <a:pt x="196672" y="101747"/>
                    <a:pt x="227062" y="80509"/>
                  </a:cubicBezTo>
                  <a:close/>
                  <a:moveTo>
                    <a:pt x="233140" y="24457"/>
                  </a:moveTo>
                  <a:cubicBezTo>
                    <a:pt x="211117" y="45692"/>
                    <a:pt x="144289" y="98020"/>
                    <a:pt x="20504" y="101054"/>
                  </a:cubicBezTo>
                  <a:lnTo>
                    <a:pt x="20504" y="283824"/>
                  </a:lnTo>
                  <a:cubicBezTo>
                    <a:pt x="20504" y="383172"/>
                    <a:pt x="65310" y="477970"/>
                    <a:pt x="139732" y="536365"/>
                  </a:cubicBezTo>
                  <a:cubicBezTo>
                    <a:pt x="168590" y="559117"/>
                    <a:pt x="200485" y="575801"/>
                    <a:pt x="233140" y="585660"/>
                  </a:cubicBezTo>
                  <a:cubicBezTo>
                    <a:pt x="265795" y="575801"/>
                    <a:pt x="296931" y="559117"/>
                    <a:pt x="326548" y="536365"/>
                  </a:cubicBezTo>
                  <a:cubicBezTo>
                    <a:pt x="400970" y="477970"/>
                    <a:pt x="445776" y="383172"/>
                    <a:pt x="445776" y="283824"/>
                  </a:cubicBezTo>
                  <a:lnTo>
                    <a:pt x="445776" y="101054"/>
                  </a:lnTo>
                  <a:cubicBezTo>
                    <a:pt x="321991" y="98020"/>
                    <a:pt x="254404" y="45692"/>
                    <a:pt x="233140" y="24457"/>
                  </a:cubicBezTo>
                  <a:close/>
                  <a:moveTo>
                    <a:pt x="225546" y="3981"/>
                  </a:moveTo>
                  <a:cubicBezTo>
                    <a:pt x="229343" y="-1328"/>
                    <a:pt x="236937" y="-1328"/>
                    <a:pt x="240734" y="3981"/>
                  </a:cubicBezTo>
                  <a:cubicBezTo>
                    <a:pt x="241494" y="4739"/>
                    <a:pt x="307563" y="80577"/>
                    <a:pt x="455648" y="80577"/>
                  </a:cubicBezTo>
                  <a:cubicBezTo>
                    <a:pt x="461724" y="80577"/>
                    <a:pt x="466280" y="85128"/>
                    <a:pt x="466280" y="91195"/>
                  </a:cubicBezTo>
                  <a:lnTo>
                    <a:pt x="466280" y="283824"/>
                  </a:lnTo>
                  <a:cubicBezTo>
                    <a:pt x="466280" y="389239"/>
                    <a:pt x="418437" y="490104"/>
                    <a:pt x="338698" y="552292"/>
                  </a:cubicBezTo>
                  <a:cubicBezTo>
                    <a:pt x="306803" y="577318"/>
                    <a:pt x="271870" y="595519"/>
                    <a:pt x="236178" y="606137"/>
                  </a:cubicBezTo>
                  <a:cubicBezTo>
                    <a:pt x="234659" y="606895"/>
                    <a:pt x="233899" y="606895"/>
                    <a:pt x="233140" y="606895"/>
                  </a:cubicBezTo>
                  <a:cubicBezTo>
                    <a:pt x="232381" y="606895"/>
                    <a:pt x="230862" y="606895"/>
                    <a:pt x="230102" y="606137"/>
                  </a:cubicBezTo>
                  <a:cubicBezTo>
                    <a:pt x="193650" y="595519"/>
                    <a:pt x="159477" y="577318"/>
                    <a:pt x="126822" y="552292"/>
                  </a:cubicBezTo>
                  <a:cubicBezTo>
                    <a:pt x="47843" y="490104"/>
                    <a:pt x="0" y="389239"/>
                    <a:pt x="0" y="283824"/>
                  </a:cubicBezTo>
                  <a:lnTo>
                    <a:pt x="0" y="91195"/>
                  </a:lnTo>
                  <a:cubicBezTo>
                    <a:pt x="0" y="85128"/>
                    <a:pt x="4556" y="80577"/>
                    <a:pt x="10632" y="80577"/>
                  </a:cubicBezTo>
                  <a:cubicBezTo>
                    <a:pt x="158717" y="80577"/>
                    <a:pt x="224786" y="4739"/>
                    <a:pt x="225546" y="3981"/>
                  </a:cubicBez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Rectangular Callout 26">
              <a:extLst>
                <a:ext uri="{FF2B5EF4-FFF2-40B4-BE49-F238E27FC236}">
                  <a16:creationId xmlns:a16="http://schemas.microsoft.com/office/drawing/2014/main" id="{13D4FB1D-64A5-42D4-A792-91646AA53695}"/>
                </a:ext>
              </a:extLst>
            </p:cNvPr>
            <p:cNvSpPr/>
            <p:nvPr/>
          </p:nvSpPr>
          <p:spPr bwMode="gray">
            <a:xfrm>
              <a:off x="6357702" y="4247223"/>
              <a:ext cx="1554472" cy="662559"/>
            </a:xfrm>
            <a:prstGeom prst="wedgeRectCallout">
              <a:avLst>
                <a:gd name="adj1" fmla="val 24815"/>
                <a:gd name="adj2" fmla="val 7699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访问</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的流量通过防火墙，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IPS</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URL</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过滤保障安全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文本框 60">
              <a:extLst>
                <a:ext uri="{FF2B5EF4-FFF2-40B4-BE49-F238E27FC236}">
                  <a16:creationId xmlns:a16="http://schemas.microsoft.com/office/drawing/2014/main" id="{9803BAD8-899E-4E4C-8C51-CA8FB9073010}"/>
                </a:ext>
              </a:extLst>
            </p:cNvPr>
            <p:cNvSpPr txBox="1"/>
            <p:nvPr/>
          </p:nvSpPr>
          <p:spPr bwMode="gray">
            <a:xfrm>
              <a:off x="6796623" y="5585598"/>
              <a:ext cx="588139"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54" name="文本框 60">
              <a:extLst>
                <a:ext uri="{FF2B5EF4-FFF2-40B4-BE49-F238E27FC236}">
                  <a16:creationId xmlns:a16="http://schemas.microsoft.com/office/drawing/2014/main" id="{8963A042-B4AE-4A9F-90DE-267075347F16}"/>
                </a:ext>
              </a:extLst>
            </p:cNvPr>
            <p:cNvSpPr txBox="1"/>
            <p:nvPr/>
          </p:nvSpPr>
          <p:spPr bwMode="gray">
            <a:xfrm>
              <a:off x="10182080" y="5554676"/>
              <a:ext cx="588139"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66" name="文本框 60">
              <a:extLst>
                <a:ext uri="{FF2B5EF4-FFF2-40B4-BE49-F238E27FC236}">
                  <a16:creationId xmlns:a16="http://schemas.microsoft.com/office/drawing/2014/main" id="{29339899-EB4D-4494-AE3C-399473FF8EF1}"/>
                </a:ext>
              </a:extLst>
            </p:cNvPr>
            <p:cNvSpPr txBox="1"/>
            <p:nvPr/>
          </p:nvSpPr>
          <p:spPr bwMode="gray">
            <a:xfrm>
              <a:off x="6198130" y="3023567"/>
              <a:ext cx="935398"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业务服务器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 name="文本框 60">
              <a:extLst>
                <a:ext uri="{FF2B5EF4-FFF2-40B4-BE49-F238E27FC236}">
                  <a16:creationId xmlns:a16="http://schemas.microsoft.com/office/drawing/2014/main" id="{FDE186EE-F85B-4D96-8979-26548A92A6FA}"/>
                </a:ext>
              </a:extLst>
            </p:cNvPr>
            <p:cNvSpPr txBox="1"/>
            <p:nvPr/>
          </p:nvSpPr>
          <p:spPr bwMode="gray">
            <a:xfrm>
              <a:off x="8611863" y="2826388"/>
              <a:ext cx="935398" cy="461665"/>
            </a:xfrm>
            <a:prstGeom prst="rect">
              <a:avLst/>
            </a:prstGeom>
            <a:noFill/>
          </p:spPr>
          <p:txBody>
            <a:bodyPr wrap="square" rtlCol="0">
              <a:sp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第三方安全网关</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3" name="Rectangular Callout 26">
              <a:extLst>
                <a:ext uri="{FF2B5EF4-FFF2-40B4-BE49-F238E27FC236}">
                  <a16:creationId xmlns:a16="http://schemas.microsoft.com/office/drawing/2014/main" id="{6CEDCC48-17D9-4366-9423-EF4EE6ABE511}"/>
                </a:ext>
              </a:extLst>
            </p:cNvPr>
            <p:cNvSpPr/>
            <p:nvPr/>
          </p:nvSpPr>
          <p:spPr bwMode="gray">
            <a:xfrm>
              <a:off x="10373643" y="3513807"/>
              <a:ext cx="1209984" cy="592890"/>
            </a:xfrm>
            <a:prstGeom prst="wedgeRectCallout">
              <a:avLst>
                <a:gd name="adj1" fmla="val -60057"/>
                <a:gd name="adj2" fmla="val 1906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控制第三方安全网关与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建立</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5" name="椭圆 15">
              <a:extLst>
                <a:ext uri="{FF2B5EF4-FFF2-40B4-BE49-F238E27FC236}">
                  <a16:creationId xmlns:a16="http://schemas.microsoft.com/office/drawing/2014/main" id="{A9BC7ED5-5895-4215-AE9B-E2315B73983D}"/>
                </a:ext>
              </a:extLst>
            </p:cNvPr>
            <p:cNvSpPr>
              <a:spLocks noChangeAspect="1"/>
            </p:cNvSpPr>
            <p:nvPr/>
          </p:nvSpPr>
          <p:spPr bwMode="gray">
            <a:xfrm>
              <a:off x="8005853" y="6016379"/>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椭圆 15">
              <a:extLst>
                <a:ext uri="{FF2B5EF4-FFF2-40B4-BE49-F238E27FC236}">
                  <a16:creationId xmlns:a16="http://schemas.microsoft.com/office/drawing/2014/main" id="{8C641967-7C24-49AB-8432-251232276617}"/>
                </a:ext>
              </a:extLst>
            </p:cNvPr>
            <p:cNvSpPr>
              <a:spLocks noChangeAspect="1"/>
            </p:cNvSpPr>
            <p:nvPr/>
          </p:nvSpPr>
          <p:spPr bwMode="gray">
            <a:xfrm>
              <a:off x="6251541" y="4130983"/>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椭圆 15">
              <a:extLst>
                <a:ext uri="{FF2B5EF4-FFF2-40B4-BE49-F238E27FC236}">
                  <a16:creationId xmlns:a16="http://schemas.microsoft.com/office/drawing/2014/main" id="{4DAF212B-0A29-4937-8FE0-87FF6A1C0F6B}"/>
                </a:ext>
              </a:extLst>
            </p:cNvPr>
            <p:cNvSpPr>
              <a:spLocks noChangeAspect="1"/>
            </p:cNvSpPr>
            <p:nvPr/>
          </p:nvSpPr>
          <p:spPr bwMode="gray">
            <a:xfrm>
              <a:off x="11470025" y="3397567"/>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6" name="燕尾形 25">
            <a:extLst>
              <a:ext uri="{FF2B5EF4-FFF2-40B4-BE49-F238E27FC236}">
                <a16:creationId xmlns:a16="http://schemas.microsoft.com/office/drawing/2014/main" id="{A3AFF8B1-049A-490C-9662-FA765F8D7227}"/>
              </a:ext>
            </a:extLst>
          </p:cNvPr>
          <p:cNvSpPr/>
          <p:nvPr/>
        </p:nvSpPr>
        <p:spPr bwMode="gray">
          <a:xfrm>
            <a:off x="7509385" y="109272"/>
            <a:ext cx="1005964" cy="211431"/>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25">
            <a:extLst>
              <a:ext uri="{FF2B5EF4-FFF2-40B4-BE49-F238E27FC236}">
                <a16:creationId xmlns:a16="http://schemas.microsoft.com/office/drawing/2014/main" id="{69D00CC9-9B08-47B2-A53E-26EB30BE1E6B}"/>
              </a:ext>
            </a:extLst>
          </p:cNvPr>
          <p:cNvSpPr/>
          <p:nvPr/>
        </p:nvSpPr>
        <p:spPr bwMode="gray">
          <a:xfrm>
            <a:off x="9538212" y="109272"/>
            <a:ext cx="1136136"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应用体验概述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25">
            <a:extLst>
              <a:ext uri="{FF2B5EF4-FFF2-40B4-BE49-F238E27FC236}">
                <a16:creationId xmlns:a16="http://schemas.microsoft.com/office/drawing/2014/main" id="{63D5D457-242E-4711-871D-46E31C33ACF8}"/>
              </a:ext>
            </a:extLst>
          </p:cNvPr>
          <p:cNvSpPr/>
          <p:nvPr/>
        </p:nvSpPr>
        <p:spPr bwMode="gray">
          <a:xfrm>
            <a:off x="10616508" y="109272"/>
            <a:ext cx="1132580"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安全概述</a:t>
            </a:r>
            <a:endParaRPr lang="en-US" altLang="zh-CN" sz="12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25">
            <a:extLst>
              <a:ext uri="{FF2B5EF4-FFF2-40B4-BE49-F238E27FC236}">
                <a16:creationId xmlns:a16="http://schemas.microsoft.com/office/drawing/2014/main" id="{720A7AAF-DF73-47D8-B4AF-829977F274D8}"/>
              </a:ext>
            </a:extLst>
          </p:cNvPr>
          <p:cNvSpPr/>
          <p:nvPr/>
        </p:nvSpPr>
        <p:spPr bwMode="gray">
          <a:xfrm>
            <a:off x="8454331" y="109272"/>
            <a:ext cx="1132580"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灵活组网概述</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35031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cs typeface="+mn-ea"/>
                <a:sym typeface="Huawei Sans" panose="020C0503030203020204" pitchFamily="34" charset="0"/>
              </a:rPr>
              <a:t>华为</a:t>
            </a:r>
            <a:r>
              <a:rPr lang="en-US" altLang="zh-CN" dirty="0">
                <a:cs typeface="+mn-ea"/>
                <a:sym typeface="Huawei Sans" panose="020C0503030203020204" pitchFamily="34" charset="0"/>
              </a:rPr>
              <a:t>SD-WAN</a:t>
            </a:r>
            <a:r>
              <a:rPr lang="zh-CN" altLang="en-US" dirty="0"/>
              <a:t>可视化运维概述</a:t>
            </a:r>
          </a:p>
        </p:txBody>
      </p:sp>
      <p:sp>
        <p:nvSpPr>
          <p:cNvPr id="7" name="Rectangle 1"/>
          <p:cNvSpPr>
            <a:spLocks noChangeArrowheads="1"/>
          </p:cNvSpPr>
          <p:nvPr/>
        </p:nvSpPr>
        <p:spPr bwMode="gray">
          <a:xfrm>
            <a:off x="713871" y="4275818"/>
            <a:ext cx="3088913" cy="1396979"/>
          </a:xfrm>
          <a:prstGeom prst="rect">
            <a:avLst/>
          </a:prstGeom>
          <a:noFill/>
          <a:ln w="19050">
            <a:solidFill>
              <a:srgbClr val="56C4D2"/>
            </a:solidFill>
            <a:prstDash val="dash"/>
            <a:miter lim="800000"/>
            <a:headEnd/>
            <a:tailEnd/>
          </a:ln>
        </p:spPr>
        <p:txBody>
          <a:bodyPr lIns="91370" tIns="45686" rIns="91370" bIns="45686"/>
          <a:lstStyle/>
          <a:p>
            <a:pPr marL="0" lvl="2" algn="ctr" defTabSz="912174" fontAlgn="auto">
              <a:spcBef>
                <a:spcPts val="600"/>
              </a:spcBef>
              <a:spcAft>
                <a:spcPts val="0"/>
              </a:spcAft>
              <a:buSzPct val="60000"/>
              <a:tabLst>
                <a:tab pos="1369054" algn="l"/>
              </a:tabLst>
            </a:pPr>
            <a:r>
              <a:rPr lang="zh-CN" altLang="en-US" sz="1600" b="1" dirty="0">
                <a:solidFill>
                  <a:srgbClr val="C7000B"/>
                </a:solidFill>
                <a:latin typeface="Huawei Sans" panose="020C0503030203020204" pitchFamily="34" charset="0"/>
                <a:ea typeface="方正兰亭黑简体" panose="02000000000000000000" pitchFamily="2" charset="-122"/>
                <a:sym typeface="Wingdings" pitchFamily="2" charset="2"/>
              </a:rPr>
              <a:t>告警实时监控</a:t>
            </a:r>
            <a:endParaRPr lang="en-US" altLang="zh-CN" sz="1600" b="1" dirty="0">
              <a:solidFill>
                <a:srgbClr val="C7000B"/>
              </a:solidFill>
              <a:latin typeface="Huawei Sans" panose="020C0503030203020204" pitchFamily="34" charset="0"/>
              <a:ea typeface="方正兰亭黑简体" panose="02000000000000000000" pitchFamily="2" charset="-122"/>
              <a:sym typeface="Wingdings" pitchFamily="2" charset="2"/>
            </a:endParaRPr>
          </a:p>
          <a:p>
            <a:pPr marL="285636" lvl="2" indent="-285636" defTabSz="912174" fontAlgn="auto">
              <a:spcBef>
                <a:spcPts val="600"/>
              </a:spcBef>
              <a:spcAft>
                <a:spcPts val="0"/>
              </a:spcAft>
              <a:buSzPct val="60000"/>
              <a:buFont typeface="Arial" panose="020B0604020202020204" pitchFamily="34" charset="0"/>
              <a:buChar char="•"/>
              <a:tabLst>
                <a:tab pos="1369054" algn="l"/>
              </a:tabLst>
            </a:pPr>
            <a:r>
              <a:rPr lang="zh-CN" altLang="en-US" sz="1399" dirty="0">
                <a:solidFill>
                  <a:prstClr val="black"/>
                </a:solidFill>
                <a:latin typeface="Huawei Sans" panose="020C0503030203020204" pitchFamily="34" charset="0"/>
                <a:ea typeface="方正兰亭黑简体" panose="02000000000000000000" pitchFamily="2" charset="-122"/>
                <a:sym typeface="Wingdings" pitchFamily="2" charset="2"/>
              </a:rPr>
              <a:t>自定义</a:t>
            </a:r>
            <a:r>
              <a:rPr lang="en-US" altLang="zh-CN" sz="1399" dirty="0">
                <a:solidFill>
                  <a:prstClr val="black"/>
                </a:solidFill>
                <a:latin typeface="Huawei Sans" panose="020C0503030203020204" pitchFamily="34" charset="0"/>
                <a:ea typeface="方正兰亭黑简体" panose="02000000000000000000" pitchFamily="2" charset="-122"/>
                <a:sym typeface="Wingdings" pitchFamily="2" charset="2"/>
              </a:rPr>
              <a:t>Dashboard</a:t>
            </a:r>
            <a:r>
              <a:rPr lang="zh-CN" altLang="en-US" sz="1200" dirty="0">
                <a:solidFill>
                  <a:prstClr val="black"/>
                </a:solidFill>
                <a:latin typeface="Huawei Sans" panose="020C0503030203020204" pitchFamily="34" charset="0"/>
                <a:ea typeface="方正兰亭黑简体" panose="02000000000000000000" pitchFamily="2" charset="-122"/>
                <a:sym typeface="Wingdings" pitchFamily="2" charset="2"/>
              </a:rPr>
              <a:t>（角色或偏好）</a:t>
            </a:r>
            <a:endParaRPr lang="en-US" altLang="zh-CN" sz="1200" dirty="0">
              <a:solidFill>
                <a:prstClr val="black"/>
              </a:solidFill>
              <a:latin typeface="Huawei Sans" panose="020C0503030203020204" pitchFamily="34" charset="0"/>
              <a:ea typeface="方正兰亭黑简体" panose="02000000000000000000" pitchFamily="2" charset="-122"/>
              <a:sym typeface="Wingdings" pitchFamily="2" charset="2"/>
            </a:endParaRPr>
          </a:p>
          <a:p>
            <a:pPr marL="285636" lvl="2" indent="-285636" defTabSz="912174" fontAlgn="auto">
              <a:spcBef>
                <a:spcPts val="600"/>
              </a:spcBef>
              <a:spcAft>
                <a:spcPts val="0"/>
              </a:spcAft>
              <a:buSzPct val="60000"/>
              <a:buFont typeface="Arial" panose="020B0604020202020204" pitchFamily="34" charset="0"/>
              <a:buChar char="•"/>
              <a:tabLst>
                <a:tab pos="1369054" algn="l"/>
              </a:tabLst>
            </a:pPr>
            <a:r>
              <a:rPr lang="zh-CN" altLang="en-US" sz="1399" dirty="0">
                <a:solidFill>
                  <a:prstClr val="black"/>
                </a:solidFill>
                <a:latin typeface="Huawei Sans" panose="020C0503030203020204" pitchFamily="34" charset="0"/>
                <a:ea typeface="方正兰亭黑简体" panose="02000000000000000000" pitchFamily="2" charset="-122"/>
                <a:sym typeface="Wingdings" pitchFamily="2" charset="2"/>
              </a:rPr>
              <a:t>全网实时告警</a:t>
            </a:r>
            <a:r>
              <a:rPr lang="zh-CN" altLang="en-US" sz="1200" dirty="0">
                <a:solidFill>
                  <a:prstClr val="black"/>
                </a:solidFill>
                <a:latin typeface="Huawei Sans" panose="020C0503030203020204" pitchFamily="34" charset="0"/>
                <a:ea typeface="方正兰亭黑简体" panose="02000000000000000000" pitchFamily="2" charset="-122"/>
                <a:sym typeface="Wingdings" pitchFamily="2" charset="2"/>
              </a:rPr>
              <a:t>（分钟级）</a:t>
            </a:r>
            <a:endParaRPr lang="en-US" altLang="zh-CN" sz="1200" dirty="0">
              <a:solidFill>
                <a:prstClr val="black"/>
              </a:solidFill>
              <a:latin typeface="Huawei Sans" panose="020C0503030203020204" pitchFamily="34" charset="0"/>
              <a:ea typeface="方正兰亭黑简体" panose="02000000000000000000" pitchFamily="2" charset="-122"/>
              <a:sym typeface="Wingdings" pitchFamily="2" charset="2"/>
            </a:endParaRPr>
          </a:p>
        </p:txBody>
      </p:sp>
      <p:cxnSp>
        <p:nvCxnSpPr>
          <p:cNvPr id="8" name="直接箭头连接符 7"/>
          <p:cNvCxnSpPr/>
          <p:nvPr/>
        </p:nvCxnSpPr>
        <p:spPr bwMode="gray">
          <a:xfrm>
            <a:off x="3802784" y="2725949"/>
            <a:ext cx="599836" cy="0"/>
          </a:xfrm>
          <a:prstGeom prst="straightConnector1">
            <a:avLst/>
          </a:prstGeom>
          <a:noFill/>
          <a:ln w="76200" cap="flat">
            <a:solidFill>
              <a:srgbClr val="56C4D2"/>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9" name="矩形 8"/>
          <p:cNvSpPr/>
          <p:nvPr/>
        </p:nvSpPr>
        <p:spPr bwMode="gray">
          <a:xfrm>
            <a:off x="828775" y="1268761"/>
            <a:ext cx="2859104" cy="338554"/>
          </a:xfrm>
          <a:prstGeom prst="rect">
            <a:avLst/>
          </a:prstGeom>
          <a:noFill/>
        </p:spPr>
        <p:txBody>
          <a:bodyPr wrap="square">
            <a:spAutoFit/>
          </a:bodyPr>
          <a:lstStyle/>
          <a:p>
            <a:pPr algn="ctr" defTabSz="1218540" fontAlgn="auto">
              <a:spcBef>
                <a:spcPts val="0"/>
              </a:spcBef>
              <a:spcAft>
                <a:spcPts val="1000"/>
              </a:spcAft>
            </a:pPr>
            <a:r>
              <a:rPr lang="zh-CN" altLang="en-US" sz="1600" b="1"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快速获取异常流量</a:t>
            </a:r>
            <a:endParaRPr lang="en-US" altLang="zh-CN" sz="1600" b="1"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endParaRPr>
          </a:p>
        </p:txBody>
      </p:sp>
      <p:grpSp>
        <p:nvGrpSpPr>
          <p:cNvPr id="3" name="Group 2"/>
          <p:cNvGrpSpPr/>
          <p:nvPr/>
        </p:nvGrpSpPr>
        <p:grpSpPr>
          <a:xfrm>
            <a:off x="803955" y="1757136"/>
            <a:ext cx="2864726" cy="2242909"/>
            <a:chOff x="803955" y="1757136"/>
            <a:chExt cx="2864726" cy="2242909"/>
          </a:xfrm>
        </p:grpSpPr>
        <p:pic>
          <p:nvPicPr>
            <p:cNvPr id="27" name="Picture 26"/>
            <p:cNvPicPr/>
            <p:nvPr/>
          </p:nvPicPr>
          <p:blipFill rotWithShape="1">
            <a:blip r:embed="rId3"/>
            <a:srcRect r="16695"/>
            <a:stretch/>
          </p:blipFill>
          <p:spPr>
            <a:xfrm>
              <a:off x="899091" y="1838661"/>
              <a:ext cx="2689929" cy="1628440"/>
            </a:xfrm>
            <a:prstGeom prst="rect">
              <a:avLst/>
            </a:prstGeom>
            <a:noFill/>
            <a:ln w="12700">
              <a:solidFill>
                <a:schemeClr val="bg1">
                  <a:lumMod val="85000"/>
                </a:schemeClr>
              </a:solidFill>
            </a:ln>
          </p:spPr>
        </p:pic>
        <p:sp>
          <p:nvSpPr>
            <p:cNvPr id="12" name="Freeform 14"/>
            <p:cNvSpPr>
              <a:spLocks noEditPoints="1"/>
            </p:cNvSpPr>
            <p:nvPr/>
          </p:nvSpPr>
          <p:spPr bwMode="gray">
            <a:xfrm>
              <a:off x="803955" y="1757136"/>
              <a:ext cx="2864726" cy="2242909"/>
            </a:xfrm>
            <a:custGeom>
              <a:avLst/>
              <a:gdLst/>
              <a:ahLst/>
              <a:cxnLst>
                <a:cxn ang="0">
                  <a:pos x="3845" y="13163"/>
                </a:cxn>
                <a:cxn ang="0">
                  <a:pos x="7457" y="13163"/>
                </a:cxn>
                <a:cxn ang="0">
                  <a:pos x="7457" y="11165"/>
                </a:cxn>
                <a:cxn ang="0">
                  <a:pos x="0" y="11165"/>
                </a:cxn>
                <a:cxn ang="0">
                  <a:pos x="0" y="0"/>
                </a:cxn>
                <a:cxn ang="0">
                  <a:pos x="16812" y="0"/>
                </a:cxn>
                <a:cxn ang="0">
                  <a:pos x="16812" y="11165"/>
                </a:cxn>
                <a:cxn ang="0">
                  <a:pos x="10277" y="11165"/>
                </a:cxn>
                <a:cxn ang="0">
                  <a:pos x="10277" y="13163"/>
                </a:cxn>
                <a:cxn ang="0">
                  <a:pos x="13890" y="13163"/>
                </a:cxn>
                <a:cxn ang="0">
                  <a:pos x="13890" y="13572"/>
                </a:cxn>
                <a:cxn ang="0">
                  <a:pos x="3845" y="13572"/>
                </a:cxn>
                <a:cxn ang="0">
                  <a:pos x="3845" y="13163"/>
                </a:cxn>
                <a:cxn ang="0">
                  <a:pos x="829" y="863"/>
                </a:cxn>
                <a:cxn ang="0">
                  <a:pos x="15983" y="863"/>
                </a:cxn>
                <a:cxn ang="0">
                  <a:pos x="15983" y="10067"/>
                </a:cxn>
                <a:cxn ang="0">
                  <a:pos x="829" y="10067"/>
                </a:cxn>
                <a:cxn ang="0">
                  <a:pos x="829" y="863"/>
                </a:cxn>
              </a:cxnLst>
              <a:rect l="0" t="0" r="r" b="b"/>
              <a:pathLst>
                <a:path w="16812" h="13572">
                  <a:moveTo>
                    <a:pt x="3845" y="13163"/>
                  </a:moveTo>
                  <a:lnTo>
                    <a:pt x="7457" y="13163"/>
                  </a:lnTo>
                  <a:lnTo>
                    <a:pt x="7457" y="11165"/>
                  </a:lnTo>
                  <a:lnTo>
                    <a:pt x="0" y="11165"/>
                  </a:lnTo>
                  <a:lnTo>
                    <a:pt x="0" y="0"/>
                  </a:lnTo>
                  <a:lnTo>
                    <a:pt x="16812" y="0"/>
                  </a:lnTo>
                  <a:lnTo>
                    <a:pt x="16812" y="11165"/>
                  </a:lnTo>
                  <a:lnTo>
                    <a:pt x="10277" y="11165"/>
                  </a:lnTo>
                  <a:lnTo>
                    <a:pt x="10277" y="13163"/>
                  </a:lnTo>
                  <a:lnTo>
                    <a:pt x="13890" y="13163"/>
                  </a:lnTo>
                  <a:lnTo>
                    <a:pt x="13890" y="13572"/>
                  </a:lnTo>
                  <a:lnTo>
                    <a:pt x="3845" y="13572"/>
                  </a:lnTo>
                  <a:lnTo>
                    <a:pt x="3845" y="13163"/>
                  </a:lnTo>
                  <a:close/>
                  <a:moveTo>
                    <a:pt x="829" y="863"/>
                  </a:moveTo>
                  <a:lnTo>
                    <a:pt x="15983" y="863"/>
                  </a:lnTo>
                  <a:lnTo>
                    <a:pt x="15983" y="10067"/>
                  </a:lnTo>
                  <a:lnTo>
                    <a:pt x="829" y="10067"/>
                  </a:lnTo>
                  <a:lnTo>
                    <a:pt x="829" y="863"/>
                  </a:lnTo>
                  <a:close/>
                </a:path>
              </a:pathLst>
            </a:custGeom>
            <a:solidFill>
              <a:srgbClr val="00B0F0"/>
            </a:solidFill>
            <a:ln w="9525">
              <a:noFill/>
              <a:round/>
              <a:headEnd/>
              <a:tailEnd/>
            </a:ln>
          </p:spPr>
          <p:txBody>
            <a:bodyPr/>
            <a:lstStyle/>
            <a:p>
              <a:pPr defTabSz="1218540" fontAlgn="auto">
                <a:spcBef>
                  <a:spcPts val="0"/>
                </a:spcBef>
                <a:spcAft>
                  <a:spcPts val="0"/>
                </a:spcAft>
                <a:defRPr/>
              </a:pPr>
              <a:endParaRPr lang="zh-CN" altLang="en-US" sz="2399"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14" name="矩形 13"/>
          <p:cNvSpPr/>
          <p:nvPr/>
        </p:nvSpPr>
        <p:spPr bwMode="gray">
          <a:xfrm>
            <a:off x="8312382" y="1268760"/>
            <a:ext cx="2610781" cy="338554"/>
          </a:xfrm>
          <a:prstGeom prst="rect">
            <a:avLst/>
          </a:prstGeom>
          <a:noFill/>
        </p:spPr>
        <p:txBody>
          <a:bodyPr wrap="square">
            <a:spAutoFit/>
          </a:bodyPr>
          <a:lstStyle/>
          <a:p>
            <a:pPr algn="ctr" defTabSz="1218540" fontAlgn="auto">
              <a:spcBef>
                <a:spcPts val="0"/>
              </a:spcBef>
              <a:spcAft>
                <a:spcPts val="1000"/>
              </a:spcAft>
            </a:pPr>
            <a:r>
              <a:rPr lang="zh-CN" altLang="en-US" sz="1600" b="1"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优化</a:t>
            </a:r>
            <a:r>
              <a:rPr lang="en-US" altLang="zh-CN" sz="1600" b="1"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WAN</a:t>
            </a:r>
            <a:r>
              <a:rPr lang="zh-CN" altLang="en-US" sz="1600" b="1"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投资及配置策略</a:t>
            </a:r>
            <a:endParaRPr lang="en-US" altLang="zh-CN" sz="1600" b="1"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endParaRPr>
          </a:p>
        </p:txBody>
      </p:sp>
      <p:grpSp>
        <p:nvGrpSpPr>
          <p:cNvPr id="15" name="组合 14"/>
          <p:cNvGrpSpPr/>
          <p:nvPr/>
        </p:nvGrpSpPr>
        <p:grpSpPr bwMode="gray">
          <a:xfrm>
            <a:off x="4523626" y="1757136"/>
            <a:ext cx="2849066" cy="2241405"/>
            <a:chOff x="6803182" y="2926100"/>
            <a:chExt cx="1517420" cy="1188049"/>
          </a:xfrm>
        </p:grpSpPr>
        <p:pic>
          <p:nvPicPr>
            <p:cNvPr id="16" name="图片 15"/>
            <p:cNvPicPr>
              <a:picLocks noChangeAspect="1"/>
            </p:cNvPicPr>
            <p:nvPr/>
          </p:nvPicPr>
          <p:blipFill>
            <a:blip r:embed="rId4"/>
            <a:stretch>
              <a:fillRect/>
            </a:stretch>
          </p:blipFill>
          <p:spPr bwMode="gray">
            <a:xfrm>
              <a:off x="6870802" y="2993657"/>
              <a:ext cx="1361254" cy="870151"/>
            </a:xfrm>
            <a:prstGeom prst="rect">
              <a:avLst/>
            </a:prstGeom>
            <a:ln>
              <a:solidFill>
                <a:srgbClr val="00B0F0"/>
              </a:solidFill>
            </a:ln>
          </p:spPr>
        </p:pic>
        <p:sp>
          <p:nvSpPr>
            <p:cNvPr id="17" name="Freeform 14"/>
            <p:cNvSpPr>
              <a:spLocks noEditPoints="1"/>
            </p:cNvSpPr>
            <p:nvPr/>
          </p:nvSpPr>
          <p:spPr bwMode="gray">
            <a:xfrm>
              <a:off x="6803182" y="2926100"/>
              <a:ext cx="1517420" cy="1188049"/>
            </a:xfrm>
            <a:custGeom>
              <a:avLst/>
              <a:gdLst/>
              <a:ahLst/>
              <a:cxnLst>
                <a:cxn ang="0">
                  <a:pos x="3845" y="13163"/>
                </a:cxn>
                <a:cxn ang="0">
                  <a:pos x="7457" y="13163"/>
                </a:cxn>
                <a:cxn ang="0">
                  <a:pos x="7457" y="11165"/>
                </a:cxn>
                <a:cxn ang="0">
                  <a:pos x="0" y="11165"/>
                </a:cxn>
                <a:cxn ang="0">
                  <a:pos x="0" y="0"/>
                </a:cxn>
                <a:cxn ang="0">
                  <a:pos x="16812" y="0"/>
                </a:cxn>
                <a:cxn ang="0">
                  <a:pos x="16812" y="11165"/>
                </a:cxn>
                <a:cxn ang="0">
                  <a:pos x="10277" y="11165"/>
                </a:cxn>
                <a:cxn ang="0">
                  <a:pos x="10277" y="13163"/>
                </a:cxn>
                <a:cxn ang="0">
                  <a:pos x="13890" y="13163"/>
                </a:cxn>
                <a:cxn ang="0">
                  <a:pos x="13890" y="13572"/>
                </a:cxn>
                <a:cxn ang="0">
                  <a:pos x="3845" y="13572"/>
                </a:cxn>
                <a:cxn ang="0">
                  <a:pos x="3845" y="13163"/>
                </a:cxn>
                <a:cxn ang="0">
                  <a:pos x="829" y="863"/>
                </a:cxn>
                <a:cxn ang="0">
                  <a:pos x="15983" y="863"/>
                </a:cxn>
                <a:cxn ang="0">
                  <a:pos x="15983" y="10067"/>
                </a:cxn>
                <a:cxn ang="0">
                  <a:pos x="829" y="10067"/>
                </a:cxn>
                <a:cxn ang="0">
                  <a:pos x="829" y="863"/>
                </a:cxn>
              </a:cxnLst>
              <a:rect l="0" t="0" r="r" b="b"/>
              <a:pathLst>
                <a:path w="16812" h="13572">
                  <a:moveTo>
                    <a:pt x="3845" y="13163"/>
                  </a:moveTo>
                  <a:lnTo>
                    <a:pt x="7457" y="13163"/>
                  </a:lnTo>
                  <a:lnTo>
                    <a:pt x="7457" y="11165"/>
                  </a:lnTo>
                  <a:lnTo>
                    <a:pt x="0" y="11165"/>
                  </a:lnTo>
                  <a:lnTo>
                    <a:pt x="0" y="0"/>
                  </a:lnTo>
                  <a:lnTo>
                    <a:pt x="16812" y="0"/>
                  </a:lnTo>
                  <a:lnTo>
                    <a:pt x="16812" y="11165"/>
                  </a:lnTo>
                  <a:lnTo>
                    <a:pt x="10277" y="11165"/>
                  </a:lnTo>
                  <a:lnTo>
                    <a:pt x="10277" y="13163"/>
                  </a:lnTo>
                  <a:lnTo>
                    <a:pt x="13890" y="13163"/>
                  </a:lnTo>
                  <a:lnTo>
                    <a:pt x="13890" y="13572"/>
                  </a:lnTo>
                  <a:lnTo>
                    <a:pt x="3845" y="13572"/>
                  </a:lnTo>
                  <a:lnTo>
                    <a:pt x="3845" y="13163"/>
                  </a:lnTo>
                  <a:close/>
                  <a:moveTo>
                    <a:pt x="829" y="863"/>
                  </a:moveTo>
                  <a:lnTo>
                    <a:pt x="15983" y="863"/>
                  </a:lnTo>
                  <a:lnTo>
                    <a:pt x="15983" y="10067"/>
                  </a:lnTo>
                  <a:lnTo>
                    <a:pt x="829" y="10067"/>
                  </a:lnTo>
                  <a:lnTo>
                    <a:pt x="829" y="863"/>
                  </a:lnTo>
                  <a:close/>
                </a:path>
              </a:pathLst>
            </a:custGeom>
            <a:solidFill>
              <a:srgbClr val="00B0F0"/>
            </a:solidFill>
            <a:ln w="9525">
              <a:noFill/>
              <a:round/>
              <a:headEnd/>
              <a:tailEnd/>
            </a:ln>
          </p:spPr>
          <p:txBody>
            <a:bodyPr/>
            <a:lstStyle/>
            <a:p>
              <a:pPr defTabSz="1218540" fontAlgn="auto">
                <a:spcBef>
                  <a:spcPts val="0"/>
                </a:spcBef>
                <a:spcAft>
                  <a:spcPts val="0"/>
                </a:spcAft>
                <a:defRPr/>
              </a:pPr>
              <a:endParaRPr lang="zh-CN" altLang="en-US" sz="2399"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18" name="Rectangle 1"/>
          <p:cNvSpPr>
            <a:spLocks noChangeArrowheads="1"/>
          </p:cNvSpPr>
          <p:nvPr/>
        </p:nvSpPr>
        <p:spPr bwMode="gray">
          <a:xfrm>
            <a:off x="4268516" y="4275816"/>
            <a:ext cx="3088913" cy="1396980"/>
          </a:xfrm>
          <a:prstGeom prst="rect">
            <a:avLst/>
          </a:prstGeom>
          <a:noFill/>
          <a:ln w="19050">
            <a:solidFill>
              <a:srgbClr val="56C4D2"/>
            </a:solidFill>
            <a:prstDash val="dash"/>
            <a:miter lim="800000"/>
            <a:headEnd/>
            <a:tailEnd/>
          </a:ln>
        </p:spPr>
        <p:txBody>
          <a:bodyPr lIns="91370" tIns="45686" rIns="91370" bIns="45686"/>
          <a:lstStyle/>
          <a:p>
            <a:pPr marL="0" lvl="2" algn="ctr" defTabSz="912174" fontAlgn="auto">
              <a:spcBef>
                <a:spcPts val="600"/>
              </a:spcBef>
              <a:spcAft>
                <a:spcPts val="0"/>
              </a:spcAft>
              <a:buSzPct val="60000"/>
              <a:tabLst>
                <a:tab pos="1369054" algn="l"/>
              </a:tabLst>
            </a:pPr>
            <a:r>
              <a:rPr lang="zh-CN" altLang="en-US" sz="1600" b="1" dirty="0">
                <a:solidFill>
                  <a:srgbClr val="C7000B"/>
                </a:solidFill>
                <a:latin typeface="Huawei Sans" panose="020C0503030203020204" pitchFamily="34" charset="0"/>
                <a:ea typeface="方正兰亭黑简体" panose="02000000000000000000" pitchFamily="2" charset="-122"/>
                <a:sym typeface="Wingdings" pitchFamily="2" charset="2"/>
              </a:rPr>
              <a:t>拓扑状态可视</a:t>
            </a:r>
            <a:endParaRPr lang="en-US" altLang="zh-CN" sz="1600" b="1" dirty="0">
              <a:solidFill>
                <a:srgbClr val="C7000B"/>
              </a:solidFill>
              <a:latin typeface="Huawei Sans" panose="020C0503030203020204" pitchFamily="34" charset="0"/>
              <a:ea typeface="方正兰亭黑简体" panose="02000000000000000000" pitchFamily="2" charset="-122"/>
              <a:sym typeface="Wingdings" pitchFamily="2" charset="2"/>
            </a:endParaRPr>
          </a:p>
          <a:p>
            <a:pPr marL="285636" lvl="2" indent="-285636" defTabSz="912174" fontAlgn="auto">
              <a:spcBef>
                <a:spcPts val="600"/>
              </a:spcBef>
              <a:spcAft>
                <a:spcPts val="0"/>
              </a:spcAft>
              <a:buSzPct val="60000"/>
              <a:buFont typeface="Arial" panose="020B0604020202020204" pitchFamily="34" charset="0"/>
              <a:buChar char="•"/>
              <a:tabLst>
                <a:tab pos="1369054" algn="l"/>
              </a:tabLst>
            </a:pPr>
            <a:r>
              <a:rPr lang="zh-CN" altLang="en-US" sz="1399" dirty="0">
                <a:solidFill>
                  <a:prstClr val="black"/>
                </a:solidFill>
                <a:latin typeface="Huawei Sans" panose="020C0503030203020204" pitchFamily="34" charset="0"/>
                <a:ea typeface="方正兰亭黑简体" panose="02000000000000000000" pitchFamily="2" charset="-122"/>
                <a:sym typeface="Wingdings" pitchFamily="2" charset="2"/>
              </a:rPr>
              <a:t>基于站点、链路的拓扑展示</a:t>
            </a:r>
            <a:endParaRPr lang="en-US" altLang="zh-CN" sz="1399" dirty="0">
              <a:solidFill>
                <a:prstClr val="black"/>
              </a:solidFill>
              <a:latin typeface="Huawei Sans" panose="020C0503030203020204" pitchFamily="34" charset="0"/>
              <a:ea typeface="方正兰亭黑简体" panose="02000000000000000000" pitchFamily="2" charset="-122"/>
              <a:sym typeface="Wingdings" pitchFamily="2" charset="2"/>
            </a:endParaRPr>
          </a:p>
          <a:p>
            <a:pPr marL="285636" lvl="2" indent="-285636" defTabSz="912174" fontAlgn="auto">
              <a:spcBef>
                <a:spcPts val="600"/>
              </a:spcBef>
              <a:spcAft>
                <a:spcPts val="0"/>
              </a:spcAft>
              <a:buSzPct val="60000"/>
              <a:buFont typeface="Arial" panose="020B0604020202020204" pitchFamily="34" charset="0"/>
              <a:buChar char="•"/>
              <a:tabLst>
                <a:tab pos="1369054" algn="l"/>
              </a:tabLst>
            </a:pPr>
            <a:r>
              <a:rPr lang="zh-CN" altLang="en-US" sz="1399" dirty="0">
                <a:solidFill>
                  <a:prstClr val="black"/>
                </a:solidFill>
                <a:latin typeface="Huawei Sans" panose="020C0503030203020204" pitchFamily="34" charset="0"/>
                <a:ea typeface="方正兰亭黑简体" panose="02000000000000000000" pitchFamily="2" charset="-122"/>
                <a:sym typeface="Wingdings" pitchFamily="2" charset="2"/>
              </a:rPr>
              <a:t>企业实时获取站点、链路的状态及性能信息</a:t>
            </a:r>
            <a:endParaRPr lang="en-US" altLang="zh-CN" sz="1399" dirty="0">
              <a:solidFill>
                <a:prstClr val="black"/>
              </a:solidFill>
              <a:latin typeface="Huawei Sans" panose="020C0503030203020204" pitchFamily="34" charset="0"/>
              <a:ea typeface="方正兰亭黑简体" panose="02000000000000000000" pitchFamily="2" charset="-122"/>
              <a:sym typeface="Wingdings" pitchFamily="2" charset="2"/>
            </a:endParaRPr>
          </a:p>
        </p:txBody>
      </p:sp>
      <p:cxnSp>
        <p:nvCxnSpPr>
          <p:cNvPr id="19" name="直接箭头连接符 18"/>
          <p:cNvCxnSpPr/>
          <p:nvPr/>
        </p:nvCxnSpPr>
        <p:spPr bwMode="gray">
          <a:xfrm>
            <a:off x="7556297" y="2725949"/>
            <a:ext cx="543615" cy="0"/>
          </a:xfrm>
          <a:prstGeom prst="straightConnector1">
            <a:avLst/>
          </a:prstGeom>
          <a:noFill/>
          <a:ln w="76200" cap="flat">
            <a:solidFill>
              <a:srgbClr val="56C4D2"/>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20" name="矩形 19"/>
          <p:cNvSpPr/>
          <p:nvPr/>
        </p:nvSpPr>
        <p:spPr bwMode="gray">
          <a:xfrm rot="10800000" flipH="1" flipV="1">
            <a:off x="4300734" y="1268761"/>
            <a:ext cx="3255563" cy="338554"/>
          </a:xfrm>
          <a:prstGeom prst="rect">
            <a:avLst/>
          </a:prstGeom>
          <a:noFill/>
        </p:spPr>
        <p:txBody>
          <a:bodyPr wrap="square">
            <a:spAutoFit/>
          </a:bodyPr>
          <a:lstStyle/>
          <a:p>
            <a:pPr algn="ctr" defTabSz="1218540" fontAlgn="auto">
              <a:spcBef>
                <a:spcPts val="0"/>
              </a:spcBef>
              <a:spcAft>
                <a:spcPts val="1000"/>
              </a:spcAft>
            </a:pPr>
            <a:r>
              <a:rPr lang="zh-CN" altLang="en-US" sz="1600" b="1"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快速定位故障设备或站点</a:t>
            </a:r>
            <a:endParaRPr lang="en-US" altLang="zh-CN" sz="1600" b="1"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endParaRPr>
          </a:p>
        </p:txBody>
      </p:sp>
      <p:grpSp>
        <p:nvGrpSpPr>
          <p:cNvPr id="21" name="组合 20"/>
          <p:cNvGrpSpPr/>
          <p:nvPr/>
        </p:nvGrpSpPr>
        <p:grpSpPr bwMode="gray">
          <a:xfrm>
            <a:off x="8227635" y="1757136"/>
            <a:ext cx="2808849" cy="2242909"/>
            <a:chOff x="6629400" y="5019328"/>
            <a:chExt cx="1944216" cy="1522204"/>
          </a:xfrm>
        </p:grpSpPr>
        <p:pic>
          <p:nvPicPr>
            <p:cNvPr id="22" name="图片 21"/>
            <p:cNvPicPr>
              <a:picLocks noChangeAspect="1"/>
            </p:cNvPicPr>
            <p:nvPr/>
          </p:nvPicPr>
          <p:blipFill>
            <a:blip r:embed="rId5"/>
            <a:stretch>
              <a:fillRect/>
            </a:stretch>
          </p:blipFill>
          <p:spPr bwMode="gray">
            <a:xfrm>
              <a:off x="6720456" y="5126118"/>
              <a:ext cx="1742328" cy="1017053"/>
            </a:xfrm>
            <a:prstGeom prst="rect">
              <a:avLst/>
            </a:prstGeom>
            <a:ln>
              <a:solidFill>
                <a:srgbClr val="00B0F0"/>
              </a:solidFill>
            </a:ln>
          </p:spPr>
        </p:pic>
        <p:sp>
          <p:nvSpPr>
            <p:cNvPr id="23" name="Freeform 14"/>
            <p:cNvSpPr>
              <a:spLocks noEditPoints="1"/>
            </p:cNvSpPr>
            <p:nvPr/>
          </p:nvSpPr>
          <p:spPr bwMode="gray">
            <a:xfrm>
              <a:off x="6629400" y="5019328"/>
              <a:ext cx="1944216" cy="1522204"/>
            </a:xfrm>
            <a:custGeom>
              <a:avLst/>
              <a:gdLst/>
              <a:ahLst/>
              <a:cxnLst>
                <a:cxn ang="0">
                  <a:pos x="3845" y="13163"/>
                </a:cxn>
                <a:cxn ang="0">
                  <a:pos x="7457" y="13163"/>
                </a:cxn>
                <a:cxn ang="0">
                  <a:pos x="7457" y="11165"/>
                </a:cxn>
                <a:cxn ang="0">
                  <a:pos x="0" y="11165"/>
                </a:cxn>
                <a:cxn ang="0">
                  <a:pos x="0" y="0"/>
                </a:cxn>
                <a:cxn ang="0">
                  <a:pos x="16812" y="0"/>
                </a:cxn>
                <a:cxn ang="0">
                  <a:pos x="16812" y="11165"/>
                </a:cxn>
                <a:cxn ang="0">
                  <a:pos x="10277" y="11165"/>
                </a:cxn>
                <a:cxn ang="0">
                  <a:pos x="10277" y="13163"/>
                </a:cxn>
                <a:cxn ang="0">
                  <a:pos x="13890" y="13163"/>
                </a:cxn>
                <a:cxn ang="0">
                  <a:pos x="13890" y="13572"/>
                </a:cxn>
                <a:cxn ang="0">
                  <a:pos x="3845" y="13572"/>
                </a:cxn>
                <a:cxn ang="0">
                  <a:pos x="3845" y="13163"/>
                </a:cxn>
                <a:cxn ang="0">
                  <a:pos x="829" y="863"/>
                </a:cxn>
                <a:cxn ang="0">
                  <a:pos x="15983" y="863"/>
                </a:cxn>
                <a:cxn ang="0">
                  <a:pos x="15983" y="10067"/>
                </a:cxn>
                <a:cxn ang="0">
                  <a:pos x="829" y="10067"/>
                </a:cxn>
                <a:cxn ang="0">
                  <a:pos x="829" y="863"/>
                </a:cxn>
              </a:cxnLst>
              <a:rect l="0" t="0" r="r" b="b"/>
              <a:pathLst>
                <a:path w="16812" h="13572">
                  <a:moveTo>
                    <a:pt x="3845" y="13163"/>
                  </a:moveTo>
                  <a:lnTo>
                    <a:pt x="7457" y="13163"/>
                  </a:lnTo>
                  <a:lnTo>
                    <a:pt x="7457" y="11165"/>
                  </a:lnTo>
                  <a:lnTo>
                    <a:pt x="0" y="11165"/>
                  </a:lnTo>
                  <a:lnTo>
                    <a:pt x="0" y="0"/>
                  </a:lnTo>
                  <a:lnTo>
                    <a:pt x="16812" y="0"/>
                  </a:lnTo>
                  <a:lnTo>
                    <a:pt x="16812" y="11165"/>
                  </a:lnTo>
                  <a:lnTo>
                    <a:pt x="10277" y="11165"/>
                  </a:lnTo>
                  <a:lnTo>
                    <a:pt x="10277" y="13163"/>
                  </a:lnTo>
                  <a:lnTo>
                    <a:pt x="13890" y="13163"/>
                  </a:lnTo>
                  <a:lnTo>
                    <a:pt x="13890" y="13572"/>
                  </a:lnTo>
                  <a:lnTo>
                    <a:pt x="3845" y="13572"/>
                  </a:lnTo>
                  <a:lnTo>
                    <a:pt x="3845" y="13163"/>
                  </a:lnTo>
                  <a:close/>
                  <a:moveTo>
                    <a:pt x="829" y="863"/>
                  </a:moveTo>
                  <a:lnTo>
                    <a:pt x="15983" y="863"/>
                  </a:lnTo>
                  <a:lnTo>
                    <a:pt x="15983" y="10067"/>
                  </a:lnTo>
                  <a:lnTo>
                    <a:pt x="829" y="10067"/>
                  </a:lnTo>
                  <a:lnTo>
                    <a:pt x="829" y="863"/>
                  </a:lnTo>
                  <a:close/>
                </a:path>
              </a:pathLst>
            </a:custGeom>
            <a:solidFill>
              <a:srgbClr val="00B0F0"/>
            </a:solidFill>
            <a:ln w="9525">
              <a:noFill/>
              <a:round/>
              <a:headEnd/>
              <a:tailEnd/>
            </a:ln>
          </p:spPr>
          <p:txBody>
            <a:bodyPr/>
            <a:lstStyle/>
            <a:p>
              <a:pPr defTabSz="1218540" fontAlgn="auto">
                <a:spcBef>
                  <a:spcPts val="0"/>
                </a:spcBef>
                <a:spcAft>
                  <a:spcPts val="0"/>
                </a:spcAft>
                <a:defRPr/>
              </a:pPr>
              <a:endParaRPr lang="zh-CN" altLang="en-US" sz="2399" dirty="0">
                <a:solidFill>
                  <a:prstClr val="white"/>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24" name="Rectangle 1"/>
          <p:cNvSpPr>
            <a:spLocks noChangeArrowheads="1"/>
          </p:cNvSpPr>
          <p:nvPr/>
        </p:nvSpPr>
        <p:spPr bwMode="gray">
          <a:xfrm>
            <a:off x="8083901" y="4275819"/>
            <a:ext cx="3176553" cy="1396979"/>
          </a:xfrm>
          <a:prstGeom prst="rect">
            <a:avLst/>
          </a:prstGeom>
          <a:noFill/>
          <a:ln w="19050">
            <a:solidFill>
              <a:srgbClr val="56C4D2"/>
            </a:solidFill>
            <a:prstDash val="dash"/>
            <a:miter lim="800000"/>
            <a:headEnd/>
            <a:tailEnd/>
          </a:ln>
        </p:spPr>
        <p:txBody>
          <a:bodyPr lIns="91370" tIns="45686" rIns="91370" bIns="45686"/>
          <a:lstStyle/>
          <a:p>
            <a:pPr marL="0" lvl="2" algn="ctr" defTabSz="912174" fontAlgn="auto">
              <a:spcBef>
                <a:spcPts val="600"/>
              </a:spcBef>
              <a:spcAft>
                <a:spcPts val="0"/>
              </a:spcAft>
              <a:buSzPct val="60000"/>
              <a:tabLst>
                <a:tab pos="1369054" algn="l"/>
              </a:tabLst>
            </a:pPr>
            <a:r>
              <a:rPr lang="en-US" altLang="zh-CN" sz="1600" b="1" dirty="0">
                <a:solidFill>
                  <a:srgbClr val="C7000B"/>
                </a:solidFill>
                <a:latin typeface="Huawei Sans" panose="020C0503030203020204" pitchFamily="34" charset="0"/>
                <a:ea typeface="方正兰亭黑简体" panose="02000000000000000000" pitchFamily="2" charset="-122"/>
                <a:sym typeface="Wingdings" pitchFamily="2" charset="2"/>
              </a:rPr>
              <a:t>45+</a:t>
            </a:r>
            <a:r>
              <a:rPr lang="zh-CN" altLang="en-US" sz="1600" b="1" dirty="0">
                <a:solidFill>
                  <a:srgbClr val="C7000B"/>
                </a:solidFill>
                <a:latin typeface="Huawei Sans" panose="020C0503030203020204" pitchFamily="34" charset="0"/>
                <a:ea typeface="方正兰亭黑简体" panose="02000000000000000000" pitchFamily="2" charset="-122"/>
                <a:sym typeface="Wingdings" pitchFamily="2" charset="2"/>
              </a:rPr>
              <a:t>自定义视图</a:t>
            </a:r>
            <a:endParaRPr lang="en-US" altLang="zh-CN" sz="1600" b="1" dirty="0">
              <a:solidFill>
                <a:srgbClr val="C7000B"/>
              </a:solidFill>
              <a:latin typeface="Huawei Sans" panose="020C0503030203020204" pitchFamily="34" charset="0"/>
              <a:ea typeface="方正兰亭黑简体" panose="02000000000000000000" pitchFamily="2" charset="-122"/>
              <a:sym typeface="Wingdings" pitchFamily="2" charset="2"/>
            </a:endParaRPr>
          </a:p>
          <a:p>
            <a:pPr marL="0" lvl="2" algn="ctr" defTabSz="912174" fontAlgn="auto">
              <a:spcBef>
                <a:spcPts val="600"/>
              </a:spcBef>
              <a:spcAft>
                <a:spcPts val="0"/>
              </a:spcAft>
              <a:buSzPct val="60000"/>
              <a:tabLst>
                <a:tab pos="1369054" algn="l"/>
              </a:tabLst>
            </a:pPr>
            <a:r>
              <a:rPr lang="zh-CN" altLang="en-US" sz="1400" b="1" dirty="0">
                <a:solidFill>
                  <a:prstClr val="black"/>
                </a:solidFill>
                <a:latin typeface="Huawei Sans" panose="020C0503030203020204" pitchFamily="34" charset="0"/>
                <a:ea typeface="方正兰亭黑简体" panose="02000000000000000000" pitchFamily="2" charset="-122"/>
                <a:sym typeface="Wingdings" pitchFamily="2" charset="2"/>
              </a:rPr>
              <a:t>站点</a:t>
            </a:r>
            <a:r>
              <a:rPr lang="en-US" altLang="zh-CN" sz="1400" b="1" dirty="0">
                <a:solidFill>
                  <a:prstClr val="black"/>
                </a:solidFill>
                <a:latin typeface="Huawei Sans" panose="020C0503030203020204" pitchFamily="34" charset="0"/>
                <a:ea typeface="方正兰亭黑简体" panose="02000000000000000000" pitchFamily="2" charset="-122"/>
                <a:sym typeface="Wingdings" pitchFamily="2" charset="2"/>
              </a:rPr>
              <a:t>/</a:t>
            </a:r>
            <a:r>
              <a:rPr lang="zh-CN" altLang="en-US" sz="1400" b="1" dirty="0">
                <a:solidFill>
                  <a:prstClr val="black"/>
                </a:solidFill>
                <a:latin typeface="Huawei Sans" panose="020C0503030203020204" pitchFamily="34" charset="0"/>
                <a:ea typeface="方正兰亭黑简体" panose="02000000000000000000" pitchFamily="2" charset="-122"/>
                <a:sym typeface="Wingdings" pitchFamily="2" charset="2"/>
              </a:rPr>
              <a:t>链路</a:t>
            </a:r>
            <a:r>
              <a:rPr lang="en-US" altLang="zh-CN" sz="1400" b="1" dirty="0">
                <a:solidFill>
                  <a:prstClr val="black"/>
                </a:solidFill>
                <a:latin typeface="Huawei Sans" panose="020C0503030203020204" pitchFamily="34" charset="0"/>
                <a:ea typeface="方正兰亭黑简体" panose="02000000000000000000" pitchFamily="2" charset="-122"/>
                <a:sym typeface="Wingdings" pitchFamily="2" charset="2"/>
              </a:rPr>
              <a:t>/</a:t>
            </a:r>
            <a:r>
              <a:rPr lang="zh-CN" altLang="en-US" sz="1400" b="1" dirty="0">
                <a:solidFill>
                  <a:prstClr val="black"/>
                </a:solidFill>
                <a:latin typeface="Huawei Sans" panose="020C0503030203020204" pitchFamily="34" charset="0"/>
                <a:ea typeface="方正兰亭黑简体" panose="02000000000000000000" pitchFamily="2" charset="-122"/>
                <a:sym typeface="Wingdings" pitchFamily="2" charset="2"/>
              </a:rPr>
              <a:t>应用</a:t>
            </a:r>
            <a:r>
              <a:rPr lang="en-US" altLang="zh-CN" sz="1400" b="1" dirty="0">
                <a:solidFill>
                  <a:prstClr val="black"/>
                </a:solidFill>
                <a:latin typeface="Huawei Sans" panose="020C0503030203020204" pitchFamily="34" charset="0"/>
                <a:ea typeface="方正兰亭黑简体" panose="02000000000000000000" pitchFamily="2" charset="-122"/>
                <a:sym typeface="Wingdings" pitchFamily="2" charset="2"/>
              </a:rPr>
              <a:t>/</a:t>
            </a:r>
            <a:r>
              <a:rPr lang="zh-CN" altLang="en-US" sz="1400" b="1" dirty="0">
                <a:solidFill>
                  <a:prstClr val="black"/>
                </a:solidFill>
                <a:latin typeface="Huawei Sans" panose="020C0503030203020204" pitchFamily="34" charset="0"/>
                <a:ea typeface="方正兰亭黑简体" panose="02000000000000000000" pitchFamily="2" charset="-122"/>
                <a:sym typeface="Wingdings" pitchFamily="2" charset="2"/>
              </a:rPr>
              <a:t>设备</a:t>
            </a:r>
            <a:r>
              <a:rPr lang="en-US" altLang="zh-CN" sz="1400" b="1" dirty="0">
                <a:solidFill>
                  <a:prstClr val="black"/>
                </a:solidFill>
                <a:latin typeface="Huawei Sans" panose="020C0503030203020204" pitchFamily="34" charset="0"/>
                <a:ea typeface="方正兰亭黑简体" panose="02000000000000000000" pitchFamily="2" charset="-122"/>
                <a:sym typeface="Wingdings" pitchFamily="2" charset="2"/>
              </a:rPr>
              <a:t>/</a:t>
            </a:r>
            <a:r>
              <a:rPr lang="zh-CN" altLang="en-US" sz="1400" b="1" dirty="0">
                <a:solidFill>
                  <a:prstClr val="black"/>
                </a:solidFill>
                <a:latin typeface="Huawei Sans" panose="020C0503030203020204" pitchFamily="34" charset="0"/>
                <a:ea typeface="方正兰亭黑简体" panose="02000000000000000000" pitchFamily="2" charset="-122"/>
                <a:sym typeface="Wingdings" pitchFamily="2" charset="2"/>
              </a:rPr>
              <a:t>用户健康度视图</a:t>
            </a:r>
            <a:endParaRPr lang="en-US" altLang="zh-CN" sz="14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endParaRPr>
          </a:p>
          <a:p>
            <a:pPr defTabSz="1218540" fontAlgn="auto">
              <a:spcBef>
                <a:spcPts val="0"/>
              </a:spcBef>
              <a:spcAft>
                <a:spcPts val="1000"/>
              </a:spcAft>
            </a:pPr>
            <a:endParaRPr lang="zh-CN" altLang="zh-CN" sz="18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endParaRPr>
          </a:p>
        </p:txBody>
      </p:sp>
      <p:sp>
        <p:nvSpPr>
          <p:cNvPr id="25" name="矩形 24"/>
          <p:cNvSpPr/>
          <p:nvPr/>
        </p:nvSpPr>
        <p:spPr bwMode="gray">
          <a:xfrm>
            <a:off x="8099912" y="4963967"/>
            <a:ext cx="1742122" cy="589905"/>
          </a:xfrm>
          <a:prstGeom prst="rect">
            <a:avLst/>
          </a:prstGeom>
        </p:spPr>
        <p:txBody>
          <a:bodyPr wrap="square">
            <a:spAutoFit/>
          </a:bodyPr>
          <a:lstStyle/>
          <a:p>
            <a:pPr marL="171381" indent="-171381" defTabSz="1218540" fontAlgn="auto">
              <a:spcBef>
                <a:spcPts val="0"/>
              </a:spcBef>
              <a:spcAft>
                <a:spcPts val="1000"/>
              </a:spcAft>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站点带宽利用率</a:t>
            </a:r>
            <a:endParaRPr lang="zh-CN" altLang="zh-CN"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endParaRPr>
          </a:p>
          <a:p>
            <a:pPr marL="171381" indent="-171381" defTabSz="1218540" fontAlgn="auto">
              <a:spcBef>
                <a:spcPts val="0"/>
              </a:spcBef>
              <a:spcAft>
                <a:spcPts val="1000"/>
              </a:spcAft>
              <a:buFont typeface="Arial" panose="020B0604020202020204" pitchFamily="34" charset="0"/>
              <a:buChar char="•"/>
            </a:pPr>
            <a:r>
              <a:rPr lang="en-US" altLang="zh-CN"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Top N</a:t>
            </a:r>
            <a:r>
              <a:rPr lang="zh-CN" altLang="en-US"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吞吐量站点</a:t>
            </a:r>
            <a:endParaRPr lang="en-US" altLang="zh-CN"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endParaRPr>
          </a:p>
        </p:txBody>
      </p:sp>
      <p:sp>
        <p:nvSpPr>
          <p:cNvPr id="26" name="矩形 25"/>
          <p:cNvSpPr/>
          <p:nvPr/>
        </p:nvSpPr>
        <p:spPr bwMode="gray">
          <a:xfrm>
            <a:off x="9674461" y="4963967"/>
            <a:ext cx="1585993" cy="589905"/>
          </a:xfrm>
          <a:prstGeom prst="rect">
            <a:avLst/>
          </a:prstGeom>
        </p:spPr>
        <p:txBody>
          <a:bodyPr wrap="square">
            <a:spAutoFit/>
          </a:bodyPr>
          <a:lstStyle/>
          <a:p>
            <a:pPr marL="171381" indent="-171381" defTabSz="1218540" fontAlgn="auto">
              <a:spcBef>
                <a:spcPts val="0"/>
              </a:spcBef>
              <a:spcAft>
                <a:spcPts val="1000"/>
              </a:spcAft>
              <a:buFont typeface="Arial" panose="020B0604020202020204" pitchFamily="34" charset="0"/>
              <a:buChar char="•"/>
            </a:pPr>
            <a:r>
              <a:rPr lang="en-US" altLang="zh-CN"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Top N</a:t>
            </a:r>
            <a:r>
              <a:rPr lang="zh-CN" altLang="en-US"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应用流量</a:t>
            </a:r>
            <a:endParaRPr lang="zh-CN" altLang="zh-CN"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endParaRPr>
          </a:p>
          <a:p>
            <a:pPr marL="171381" indent="-171381" defTabSz="1218540" fontAlgn="auto">
              <a:spcBef>
                <a:spcPts val="0"/>
              </a:spcBef>
              <a:spcAft>
                <a:spcPts val="1000"/>
              </a:spcAft>
              <a:buFont typeface="Arial" panose="020B0604020202020204" pitchFamily="34" charset="0"/>
              <a:buChar char="•"/>
            </a:pPr>
            <a:r>
              <a:rPr lang="zh-CN" altLang="en-US"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链路吞吐量趋势</a:t>
            </a:r>
            <a:r>
              <a:rPr lang="en-US" altLang="zh-CN"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rPr>
              <a:t>…</a:t>
            </a:r>
            <a:endParaRPr lang="zh-CN" altLang="zh-CN" sz="120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endParaRPr>
          </a:p>
        </p:txBody>
      </p:sp>
    </p:spTree>
    <p:extLst>
      <p:ext uri="{BB962C8B-B14F-4D97-AF65-F5344CB8AC3E}">
        <p14:creationId xmlns:p14="http://schemas.microsoft.com/office/powerpoint/2010/main" val="1847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2000" dirty="0">
                <a:solidFill>
                  <a:schemeClr val="bg1">
                    <a:lumMod val="50000"/>
                  </a:schemeClr>
                </a:solidFill>
              </a:rPr>
              <a:t>企业广域互联网络趋势与挑战</a:t>
            </a:r>
            <a:endParaRPr lang="en-US" altLang="zh-CN" sz="2000" dirty="0">
              <a:solidFill>
                <a:schemeClr val="bg1">
                  <a:lumMod val="50000"/>
                </a:schemeClr>
              </a:solidFill>
            </a:endParaRPr>
          </a:p>
          <a:p>
            <a:r>
              <a:rPr lang="zh-CN" altLang="en-US" sz="2000" b="1" dirty="0"/>
              <a:t>华为</a:t>
            </a:r>
            <a:r>
              <a:rPr lang="en-US" altLang="zh-CN" sz="2000" b="1" dirty="0"/>
              <a:t>SD-WAN</a:t>
            </a:r>
            <a:r>
              <a:rPr lang="zh-CN" altLang="en-US" sz="2000" b="1" dirty="0"/>
              <a:t>解决方案概述</a:t>
            </a:r>
            <a:endParaRPr lang="en-US" altLang="zh-CN" sz="2000" b="1" dirty="0"/>
          </a:p>
          <a:p>
            <a:pPr lvl="1"/>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解决方案</a:t>
            </a:r>
            <a:endParaRPr lang="en-US" altLang="zh-CN" sz="1800" dirty="0">
              <a:solidFill>
                <a:schemeClr val="bg1">
                  <a:lumMod val="50000"/>
                </a:schemeClr>
              </a:solidFill>
            </a:endParaRPr>
          </a:p>
          <a:p>
            <a:pPr lvl="1"/>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主要功能</a:t>
            </a:r>
            <a:endParaRPr lang="en-US" altLang="zh-CN" sz="1800" dirty="0">
              <a:solidFill>
                <a:schemeClr val="bg1">
                  <a:lumMod val="50000"/>
                </a:schemeClr>
              </a:solidFill>
            </a:endParaRPr>
          </a:p>
          <a:p>
            <a:pPr lvl="1">
              <a:buSzPct val="60000"/>
              <a:buFont typeface="Wingdings" panose="05000000000000000000" pitchFamily="2" charset="2"/>
              <a:buChar char="n"/>
            </a:pPr>
            <a:r>
              <a:rPr lang="zh-CN" altLang="en-US" sz="1800" dirty="0"/>
              <a:t>华为</a:t>
            </a:r>
            <a:r>
              <a:rPr lang="en-US" altLang="zh-CN" sz="1800" dirty="0"/>
              <a:t>SD-WAN</a:t>
            </a:r>
            <a:r>
              <a:rPr lang="zh-CN" altLang="en-US" sz="1800" dirty="0"/>
              <a:t>使用场景</a:t>
            </a:r>
            <a:endParaRPr lang="en-US" altLang="zh-CN" sz="1800" dirty="0"/>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组网设计</a:t>
            </a:r>
            <a:endParaRPr lang="en-US" altLang="zh-CN" sz="20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业务设计</a:t>
            </a:r>
            <a:endParaRPr lang="en-US" altLang="zh-CN" sz="20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可靠性与安全设计</a:t>
            </a:r>
            <a:endParaRPr lang="en-US" altLang="zh-CN" sz="2000" dirty="0">
              <a:solidFill>
                <a:schemeClr val="bg1">
                  <a:lumMod val="50000"/>
                </a:schemeClr>
              </a:solidFill>
            </a:endParaRPr>
          </a:p>
        </p:txBody>
      </p:sp>
    </p:spTree>
    <p:extLst>
      <p:ext uri="{BB962C8B-B14F-4D97-AF65-F5344CB8AC3E}">
        <p14:creationId xmlns:p14="http://schemas.microsoft.com/office/powerpoint/2010/main" val="9027544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Freeform 159">
            <a:extLst>
              <a:ext uri="{FF2B5EF4-FFF2-40B4-BE49-F238E27FC236}">
                <a16:creationId xmlns:a16="http://schemas.microsoft.com/office/drawing/2014/main" id="{AA345BA5-AF83-4BB7-9C98-7833D4BE2889}"/>
              </a:ext>
            </a:extLst>
          </p:cNvPr>
          <p:cNvSpPr/>
          <p:nvPr/>
        </p:nvSpPr>
        <p:spPr bwMode="gray">
          <a:xfrm flipH="1">
            <a:off x="5593754" y="4119834"/>
            <a:ext cx="915632" cy="47862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传统站点</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33" name="椭圆 32"/>
          <p:cNvSpPr/>
          <p:nvPr/>
        </p:nvSpPr>
        <p:spPr bwMode="gray">
          <a:xfrm>
            <a:off x="2486104" y="2575785"/>
            <a:ext cx="2886565" cy="1479707"/>
          </a:xfrm>
          <a:prstGeom prst="ellipse">
            <a:avLst/>
          </a:prstGeom>
          <a:gradFill flip="none" rotWithShape="1">
            <a:gsLst>
              <a:gs pos="0">
                <a:schemeClr val="accent3">
                  <a:lumMod val="60000"/>
                  <a:lumOff val="40000"/>
                  <a:alpha val="25000"/>
                </a:schemeClr>
              </a:gs>
              <a:gs pos="100000">
                <a:schemeClr val="accent3">
                  <a:lumMod val="60000"/>
                  <a:lumOff val="40000"/>
                  <a:alpha val="0"/>
                </a:schemeClr>
              </a:gs>
            </a:gsLst>
            <a:lin ang="16200000" scaled="1"/>
            <a:tileRect/>
          </a:gradFill>
          <a:ln w="0" cap="flat" cmpd="sng" algn="ctr">
            <a:solidFill>
              <a:schemeClr val="accent3"/>
            </a:solidFill>
            <a:prstDash val="dash"/>
            <a:miter lim="800000"/>
          </a:ln>
          <a:effectLst/>
        </p:spPr>
        <p:txBody>
          <a:bodyPr wrap="square" rtlCol="0" anchor="ctr">
            <a:noAutofit/>
          </a:bodyPr>
          <a:lstStyle/>
          <a:p>
            <a:pPr indent="-250993" algn="ctr" defTabSz="685800" fontAlgn="ctr">
              <a:spcBef>
                <a:spcPct val="20000"/>
              </a:spcBef>
              <a:spcAft>
                <a:spcPts val="2246"/>
              </a:spcAft>
              <a:buClr>
                <a:prstClr val="white"/>
              </a:buClr>
              <a:buSzPct val="60000"/>
              <a:defRPr/>
            </a:pPr>
            <a:endParaRPr lang="en-US" sz="1200" b="1" kern="0" dirty="0">
              <a:solidFill>
                <a:prstClr val="white"/>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97" name="直接连接符 96"/>
          <p:cNvCxnSpPr/>
          <p:nvPr/>
        </p:nvCxnSpPr>
        <p:spPr bwMode="gray">
          <a:xfrm>
            <a:off x="5007433" y="4379859"/>
            <a:ext cx="6107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bwMode="gray">
          <a:xfrm flipV="1">
            <a:off x="6051570" y="2769946"/>
            <a:ext cx="0" cy="2408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p:nvPr>
        </p:nvSpPr>
        <p:spPr bwMode="gray"/>
        <p:txBody>
          <a:bodyPr/>
          <a:lstStyle/>
          <a:p>
            <a:r>
              <a:rPr lang="zh-CN" altLang="en-US" dirty="0"/>
              <a:t>企业自建</a:t>
            </a:r>
            <a:r>
              <a:rPr lang="en-US" altLang="zh-CN" dirty="0"/>
              <a:t>SD-WAN</a:t>
            </a:r>
            <a:r>
              <a:rPr lang="zh-CN" altLang="en-US" dirty="0"/>
              <a:t>场景</a:t>
            </a:r>
          </a:p>
        </p:txBody>
      </p:sp>
      <p:pic>
        <p:nvPicPr>
          <p:cNvPr id="52" name="图片 5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513728" y="2705561"/>
            <a:ext cx="540000" cy="442800"/>
          </a:xfrm>
          <a:prstGeom prst="rect">
            <a:avLst/>
          </a:prstGeom>
        </p:spPr>
      </p:pic>
      <p:pic>
        <p:nvPicPr>
          <p:cNvPr id="53" name="图片 5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776401" y="2401769"/>
            <a:ext cx="540000" cy="442800"/>
          </a:xfrm>
          <a:prstGeom prst="rect">
            <a:avLst/>
          </a:prstGeom>
        </p:spPr>
      </p:pic>
      <p:sp>
        <p:nvSpPr>
          <p:cNvPr id="65" name="TextBox 401"/>
          <p:cNvSpPr txBox="1"/>
          <p:nvPr/>
        </p:nvSpPr>
        <p:spPr bwMode="gray">
          <a:xfrm>
            <a:off x="6179634" y="2157885"/>
            <a:ext cx="1237246" cy="598514"/>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zh-CN" altLang="en-US" sz="1400" b="1" kern="0" dirty="0">
                <a:solidFill>
                  <a:prstClr val="black"/>
                </a:solidFill>
                <a:latin typeface="Huawei Sans" panose="020C0503030203020204" pitchFamily="34" charset="0"/>
                <a:ea typeface="方正兰亭黑简体" panose="02000000000000000000" pitchFamily="2" charset="-122"/>
              </a:rPr>
              <a:t>企业总部</a:t>
            </a:r>
            <a:r>
              <a:rPr lang="en-US" altLang="zh-CN" sz="1400" b="1" kern="0" dirty="0">
                <a:solidFill>
                  <a:prstClr val="black"/>
                </a:solidFill>
                <a:latin typeface="Huawei Sans" panose="020C0503030203020204" pitchFamily="34" charset="0"/>
                <a:ea typeface="方正兰亭黑简体" panose="02000000000000000000" pitchFamily="2" charset="-122"/>
              </a:rPr>
              <a:t>/</a:t>
            </a:r>
            <a:r>
              <a:rPr lang="zh-CN" altLang="en-US" sz="1400" b="1" kern="0" dirty="0">
                <a:solidFill>
                  <a:prstClr val="black"/>
                </a:solidFill>
                <a:latin typeface="Huawei Sans" panose="020C0503030203020204" pitchFamily="34" charset="0"/>
                <a:ea typeface="方正兰亭黑简体" panose="02000000000000000000" pitchFamily="2" charset="-122"/>
              </a:rPr>
              <a:t>数据中心</a:t>
            </a:r>
            <a:endParaRPr lang="en-US" altLang="zh-CN" sz="1400" b="1" kern="0" dirty="0">
              <a:solidFill>
                <a:prstClr val="black"/>
              </a:solidFill>
              <a:latin typeface="Huawei Sans" panose="020C0503030203020204" pitchFamily="34" charset="0"/>
              <a:ea typeface="方正兰亭黑简体" panose="02000000000000000000" pitchFamily="2" charset="-122"/>
            </a:endParaRPr>
          </a:p>
        </p:txBody>
      </p:sp>
      <p:sp>
        <p:nvSpPr>
          <p:cNvPr id="66" name="TextBox 401"/>
          <p:cNvSpPr txBox="1"/>
          <p:nvPr/>
        </p:nvSpPr>
        <p:spPr bwMode="gray">
          <a:xfrm>
            <a:off x="1191283" y="3887639"/>
            <a:ext cx="1066005" cy="383071"/>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zh-CN" altLang="en-US" sz="1400" b="1" kern="0" dirty="0">
                <a:solidFill>
                  <a:prstClr val="black"/>
                </a:solidFill>
                <a:latin typeface="Huawei Sans" panose="020C0503030203020204" pitchFamily="34" charset="0"/>
                <a:ea typeface="方正兰亭黑简体" panose="02000000000000000000" pitchFamily="2" charset="-122"/>
              </a:rPr>
              <a:t>企业分支</a:t>
            </a:r>
            <a:endParaRPr lang="en-US" altLang="zh-CN" sz="1400" b="1" kern="0" dirty="0">
              <a:solidFill>
                <a:prstClr val="black"/>
              </a:solidFill>
              <a:latin typeface="Huawei Sans" panose="020C0503030203020204" pitchFamily="34" charset="0"/>
              <a:ea typeface="方正兰亭黑简体" panose="02000000000000000000" pitchFamily="2" charset="-122"/>
            </a:endParaRPr>
          </a:p>
        </p:txBody>
      </p:sp>
      <p:sp>
        <p:nvSpPr>
          <p:cNvPr id="67" name="TextBox 401"/>
          <p:cNvSpPr txBox="1"/>
          <p:nvPr/>
        </p:nvSpPr>
        <p:spPr bwMode="gray">
          <a:xfrm>
            <a:off x="4208702" y="1150251"/>
            <a:ext cx="1736608" cy="383071"/>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400" b="1" kern="0" dirty="0">
                <a:solidFill>
                  <a:prstClr val="black"/>
                </a:solidFill>
                <a:latin typeface="Huawei Sans" panose="020C0503030203020204" pitchFamily="34" charset="0"/>
                <a:ea typeface="方正兰亭黑简体" panose="02000000000000000000" pitchFamily="2" charset="-122"/>
              </a:rPr>
              <a:t>SD-WAN</a:t>
            </a:r>
            <a:r>
              <a:rPr lang="zh-CN" altLang="en-US" sz="1400" b="1" kern="0" dirty="0">
                <a:solidFill>
                  <a:prstClr val="black"/>
                </a:solidFill>
                <a:latin typeface="Huawei Sans" panose="020C0503030203020204" pitchFamily="34" charset="0"/>
                <a:ea typeface="方正兰亭黑简体" panose="02000000000000000000" pitchFamily="2" charset="-122"/>
              </a:rPr>
              <a:t>控制器</a:t>
            </a:r>
            <a:endParaRPr lang="en-US" altLang="zh-CN" sz="1400" b="1" kern="0" dirty="0">
              <a:solidFill>
                <a:prstClr val="black"/>
              </a:solidFill>
              <a:latin typeface="Huawei Sans" panose="020C0503030203020204" pitchFamily="34" charset="0"/>
              <a:ea typeface="方正兰亭黑简体" panose="02000000000000000000" pitchFamily="2" charset="-122"/>
            </a:endParaRPr>
          </a:p>
        </p:txBody>
      </p:sp>
      <p:sp>
        <p:nvSpPr>
          <p:cNvPr id="69" name="矩形 68"/>
          <p:cNvSpPr/>
          <p:nvPr/>
        </p:nvSpPr>
        <p:spPr bwMode="gray">
          <a:xfrm>
            <a:off x="455613" y="4546817"/>
            <a:ext cx="11256962" cy="1650708"/>
          </a:xfrm>
          <a:prstGeom prst="rect">
            <a:avLst/>
          </a:prstGeom>
        </p:spPr>
        <p:txBody>
          <a:bodyPr wrap="square">
            <a:spAutoFit/>
          </a:bodyPr>
          <a:lstStyle/>
          <a:p>
            <a:pPr marL="302279" lvl="1" indent="-302279" algn="just" defTabSz="914034" fontAlgn="ctr" hangingPunct="0">
              <a:lnSpc>
                <a:spcPct val="140000"/>
              </a:lnSpc>
              <a:spcBef>
                <a:spcPts val="792"/>
              </a:spcBef>
              <a:spcAft>
                <a:spcPts val="600"/>
              </a:spcAft>
              <a:buSzPct val="50000"/>
              <a:buFont typeface="Wingdings" panose="05000000000000000000" pitchFamily="2" charset="2"/>
              <a:buChar char="l"/>
              <a:defRPr/>
            </a:pP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Software Defined 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，通过在</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网络中部署</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控制器，集中管理</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EDGE</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设备，零配置开局，缩短业务开通时间，从而帮助企业应对云化带来的挑战，做到业务随需而变。</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marL="302279" lvl="1" indent="-302279" algn="just" defTabSz="914034" fontAlgn="ctr" hangingPunct="0">
              <a:lnSpc>
                <a:spcPct val="140000"/>
              </a:lnSpc>
              <a:spcBef>
                <a:spcPts val="792"/>
              </a:spcBef>
              <a:spcAft>
                <a:spcPts val="600"/>
              </a:spcAft>
              <a:buSzPct val="50000"/>
              <a:buFont typeface="Wingdings" panose="05000000000000000000" pitchFamily="2" charset="2"/>
              <a:buChar char="l"/>
              <a:defRP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像金融、零售连锁、加油站这类具有大量分支的大型企业，可以在企业总部部署</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控制器，组建企业</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网络，自助管理企业的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业务。</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1" name="图片 2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07238" y="2681428"/>
            <a:ext cx="540000" cy="442800"/>
          </a:xfrm>
          <a:prstGeom prst="rect">
            <a:avLst/>
          </a:prstGeom>
        </p:spPr>
      </p:pic>
      <p:pic>
        <p:nvPicPr>
          <p:cNvPr id="28" name="图片 27" descr="酒店-蓝.png"/>
          <p:cNvPicPr>
            <a:picLocks noChangeAspect="1"/>
          </p:cNvPicPr>
          <p:nvPr/>
        </p:nvPicPr>
        <p:blipFill>
          <a:blip r:embed="rId5" cstate="print"/>
          <a:stretch>
            <a:fillRect/>
          </a:stretch>
        </p:blipFill>
        <p:spPr bwMode="gray">
          <a:xfrm>
            <a:off x="868967" y="2649327"/>
            <a:ext cx="539607" cy="441817"/>
          </a:xfrm>
          <a:prstGeom prst="rect">
            <a:avLst/>
          </a:prstGeom>
        </p:spPr>
      </p:pic>
      <p:pic>
        <p:nvPicPr>
          <p:cNvPr id="31" name="Picture 2" descr="D:\南太\资料\品牌\HC2017\光8528.png"/>
          <p:cNvPicPr>
            <a:picLocks noChangeAspect="1" noChangeArrowheads="1"/>
          </p:cNvPicPr>
          <p:nvPr/>
        </p:nvPicPr>
        <p:blipFill rotWithShape="1">
          <a:blip r:embed="rId6" cstate="print">
            <a:duotone>
              <a:schemeClr val="accent3">
                <a:shade val="45000"/>
                <a:satMod val="135000"/>
              </a:schemeClr>
              <a:prstClr val="white"/>
            </a:duotone>
          </a:blip>
          <a:srcRect t="39550" b="41013"/>
          <a:stretch/>
        </p:blipFill>
        <p:spPr bwMode="gray">
          <a:xfrm>
            <a:off x="860061" y="1553796"/>
            <a:ext cx="6192840" cy="952472"/>
          </a:xfrm>
          <a:prstGeom prst="rect">
            <a:avLst/>
          </a:prstGeom>
          <a:noFill/>
        </p:spPr>
      </p:pic>
      <p:sp>
        <p:nvSpPr>
          <p:cNvPr id="47" name="椭圆 46"/>
          <p:cNvSpPr/>
          <p:nvPr/>
        </p:nvSpPr>
        <p:spPr bwMode="gray">
          <a:xfrm>
            <a:off x="3364478" y="2027976"/>
            <a:ext cx="1166330" cy="477946"/>
          </a:xfrm>
          <a:prstGeom prst="ellipse">
            <a:avLst/>
          </a:prstGeom>
          <a:solidFill>
            <a:srgbClr val="26B7C8">
              <a:alpha val="20000"/>
            </a:srgbClr>
          </a:solidFill>
          <a:ln>
            <a:solidFill>
              <a:srgbClr val="00B0F0">
                <a:alpha val="50000"/>
              </a:srgbClr>
            </a:solidFill>
            <a:prstDash val="dash"/>
          </a:ln>
        </p:spPr>
        <p:txBody>
          <a:bodyPr wrap="square" lIns="121932" tIns="60967" rIns="121932" bIns="60967" rtlCol="0" anchor="ctr" anchorCtr="1">
            <a:noAutofit/>
          </a:bodyPr>
          <a:lstStyle/>
          <a:p>
            <a:pPr indent="717460" defTabSz="1219048" fontAlgn="ctr">
              <a:buClr>
                <a:srgbClr val="FFC000"/>
              </a:buClr>
              <a:buSzPct val="60000"/>
              <a:buFont typeface="Wingdings" pitchFamily="2" charset="2"/>
              <a:buChar char="n"/>
            </a:pPr>
            <a:endParaRPr lang="zh-CN" altLang="en-US" sz="2099"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8" name="任意多边形 47"/>
          <p:cNvSpPr/>
          <p:nvPr/>
        </p:nvSpPr>
        <p:spPr bwMode="gray">
          <a:xfrm>
            <a:off x="3556982" y="2095181"/>
            <a:ext cx="279400" cy="72596"/>
          </a:xfrm>
          <a:custGeom>
            <a:avLst/>
            <a:gdLst>
              <a:gd name="connsiteX0" fmla="*/ 0 w 279400"/>
              <a:gd name="connsiteY0" fmla="*/ 76200 h 83532"/>
              <a:gd name="connsiteX1" fmla="*/ 152400 w 279400"/>
              <a:gd name="connsiteY1" fmla="*/ 76200 h 83532"/>
              <a:gd name="connsiteX2" fmla="*/ 279400 w 279400"/>
              <a:gd name="connsiteY2" fmla="*/ 0 h 83532"/>
            </a:gdLst>
            <a:ahLst/>
            <a:cxnLst>
              <a:cxn ang="0">
                <a:pos x="connsiteX0" y="connsiteY0"/>
              </a:cxn>
              <a:cxn ang="0">
                <a:pos x="connsiteX1" y="connsiteY1"/>
              </a:cxn>
              <a:cxn ang="0">
                <a:pos x="connsiteX2" y="connsiteY2"/>
              </a:cxn>
            </a:cxnLst>
            <a:rect l="l" t="t" r="r" b="b"/>
            <a:pathLst>
              <a:path w="279400" h="83532">
                <a:moveTo>
                  <a:pt x="0" y="76200"/>
                </a:moveTo>
                <a:cubicBezTo>
                  <a:pt x="52916" y="82550"/>
                  <a:pt x="105833" y="88900"/>
                  <a:pt x="152400" y="76200"/>
                </a:cubicBezTo>
                <a:cubicBezTo>
                  <a:pt x="198967" y="63500"/>
                  <a:pt x="239183" y="31750"/>
                  <a:pt x="279400" y="0"/>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49" name="任意多边形 48"/>
          <p:cNvSpPr/>
          <p:nvPr/>
        </p:nvSpPr>
        <p:spPr bwMode="gray">
          <a:xfrm>
            <a:off x="4001482" y="2095181"/>
            <a:ext cx="292100" cy="88298"/>
          </a:xfrm>
          <a:custGeom>
            <a:avLst/>
            <a:gdLst>
              <a:gd name="connsiteX0" fmla="*/ 0 w 292100"/>
              <a:gd name="connsiteY0" fmla="*/ 0 h 101600"/>
              <a:gd name="connsiteX1" fmla="*/ 101600 w 292100"/>
              <a:gd name="connsiteY1" fmla="*/ 76200 h 101600"/>
              <a:gd name="connsiteX2" fmla="*/ 292100 w 292100"/>
              <a:gd name="connsiteY2" fmla="*/ 101600 h 101600"/>
            </a:gdLst>
            <a:ahLst/>
            <a:cxnLst>
              <a:cxn ang="0">
                <a:pos x="connsiteX0" y="connsiteY0"/>
              </a:cxn>
              <a:cxn ang="0">
                <a:pos x="connsiteX1" y="connsiteY1"/>
              </a:cxn>
              <a:cxn ang="0">
                <a:pos x="connsiteX2" y="connsiteY2"/>
              </a:cxn>
            </a:cxnLst>
            <a:rect l="l" t="t" r="r" b="b"/>
            <a:pathLst>
              <a:path w="292100" h="101600">
                <a:moveTo>
                  <a:pt x="0" y="0"/>
                </a:moveTo>
                <a:cubicBezTo>
                  <a:pt x="26458" y="29633"/>
                  <a:pt x="52917" y="59267"/>
                  <a:pt x="101600" y="76200"/>
                </a:cubicBezTo>
                <a:cubicBezTo>
                  <a:pt x="150283" y="93133"/>
                  <a:pt x="221191" y="97366"/>
                  <a:pt x="292100" y="101600"/>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0" name="任意多边形 49"/>
          <p:cNvSpPr/>
          <p:nvPr/>
        </p:nvSpPr>
        <p:spPr bwMode="gray">
          <a:xfrm>
            <a:off x="3506182" y="2227628"/>
            <a:ext cx="215900" cy="143484"/>
          </a:xfrm>
          <a:custGeom>
            <a:avLst/>
            <a:gdLst>
              <a:gd name="connsiteX0" fmla="*/ 0 w 215900"/>
              <a:gd name="connsiteY0" fmla="*/ 0 h 165100"/>
              <a:gd name="connsiteX1" fmla="*/ 165100 w 215900"/>
              <a:gd name="connsiteY1" fmla="*/ 38100 h 165100"/>
              <a:gd name="connsiteX2" fmla="*/ 215900 w 215900"/>
              <a:gd name="connsiteY2" fmla="*/ 165100 h 165100"/>
            </a:gdLst>
            <a:ahLst/>
            <a:cxnLst>
              <a:cxn ang="0">
                <a:pos x="connsiteX0" y="connsiteY0"/>
              </a:cxn>
              <a:cxn ang="0">
                <a:pos x="connsiteX1" y="connsiteY1"/>
              </a:cxn>
              <a:cxn ang="0">
                <a:pos x="connsiteX2" y="connsiteY2"/>
              </a:cxn>
            </a:cxnLst>
            <a:rect l="l" t="t" r="r" b="b"/>
            <a:pathLst>
              <a:path w="215900" h="165100">
                <a:moveTo>
                  <a:pt x="0" y="0"/>
                </a:moveTo>
                <a:cubicBezTo>
                  <a:pt x="64558" y="5291"/>
                  <a:pt x="129117" y="10583"/>
                  <a:pt x="165100" y="38100"/>
                </a:cubicBezTo>
                <a:cubicBezTo>
                  <a:pt x="201083" y="65617"/>
                  <a:pt x="208491" y="115358"/>
                  <a:pt x="215900" y="165100"/>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1" name="任意多边形 50"/>
          <p:cNvSpPr/>
          <p:nvPr/>
        </p:nvSpPr>
        <p:spPr bwMode="gray">
          <a:xfrm>
            <a:off x="4119331" y="2230713"/>
            <a:ext cx="199651" cy="173512"/>
          </a:xfrm>
          <a:custGeom>
            <a:avLst/>
            <a:gdLst>
              <a:gd name="connsiteX0" fmla="*/ 199651 w 199651"/>
              <a:gd name="connsiteY0" fmla="*/ 9151 h 199651"/>
              <a:gd name="connsiteX1" fmla="*/ 21851 w 199651"/>
              <a:gd name="connsiteY1" fmla="*/ 21851 h 199651"/>
              <a:gd name="connsiteX2" fmla="*/ 9151 w 199651"/>
              <a:gd name="connsiteY2" fmla="*/ 199651 h 199651"/>
            </a:gdLst>
            <a:ahLst/>
            <a:cxnLst>
              <a:cxn ang="0">
                <a:pos x="connsiteX0" y="connsiteY0"/>
              </a:cxn>
              <a:cxn ang="0">
                <a:pos x="connsiteX1" y="connsiteY1"/>
              </a:cxn>
              <a:cxn ang="0">
                <a:pos x="connsiteX2" y="connsiteY2"/>
              </a:cxn>
            </a:cxnLst>
            <a:rect l="l" t="t" r="r" b="b"/>
            <a:pathLst>
              <a:path w="199651" h="199651">
                <a:moveTo>
                  <a:pt x="199651" y="9151"/>
                </a:moveTo>
                <a:cubicBezTo>
                  <a:pt x="126626" y="-374"/>
                  <a:pt x="53601" y="-9899"/>
                  <a:pt x="21851" y="21851"/>
                </a:cubicBezTo>
                <a:cubicBezTo>
                  <a:pt x="-9899" y="53601"/>
                  <a:pt x="-374" y="126626"/>
                  <a:pt x="9151" y="199651"/>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5" name="任意多边形 54"/>
          <p:cNvSpPr/>
          <p:nvPr/>
        </p:nvSpPr>
        <p:spPr bwMode="gray">
          <a:xfrm>
            <a:off x="3722082" y="2247453"/>
            <a:ext cx="406400" cy="55659"/>
          </a:xfrm>
          <a:custGeom>
            <a:avLst/>
            <a:gdLst>
              <a:gd name="connsiteX0" fmla="*/ 0 w 406400"/>
              <a:gd name="connsiteY0" fmla="*/ 64044 h 64044"/>
              <a:gd name="connsiteX1" fmla="*/ 127000 w 406400"/>
              <a:gd name="connsiteY1" fmla="*/ 544 h 64044"/>
              <a:gd name="connsiteX2" fmla="*/ 406400 w 406400"/>
              <a:gd name="connsiteY2" fmla="*/ 38644 h 64044"/>
            </a:gdLst>
            <a:ahLst/>
            <a:cxnLst>
              <a:cxn ang="0">
                <a:pos x="connsiteX0" y="connsiteY0"/>
              </a:cxn>
              <a:cxn ang="0">
                <a:pos x="connsiteX1" y="connsiteY1"/>
              </a:cxn>
              <a:cxn ang="0">
                <a:pos x="connsiteX2" y="connsiteY2"/>
              </a:cxn>
            </a:cxnLst>
            <a:rect l="l" t="t" r="r" b="b"/>
            <a:pathLst>
              <a:path w="406400" h="64044">
                <a:moveTo>
                  <a:pt x="0" y="64044"/>
                </a:moveTo>
                <a:cubicBezTo>
                  <a:pt x="29633" y="34410"/>
                  <a:pt x="59267" y="4777"/>
                  <a:pt x="127000" y="544"/>
                </a:cubicBezTo>
                <a:cubicBezTo>
                  <a:pt x="194733" y="-3689"/>
                  <a:pt x="300566" y="17477"/>
                  <a:pt x="406400" y="38644"/>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6" name="任意多边形 55"/>
          <p:cNvSpPr/>
          <p:nvPr/>
        </p:nvSpPr>
        <p:spPr bwMode="gray">
          <a:xfrm>
            <a:off x="3734782" y="2117256"/>
            <a:ext cx="177800" cy="275931"/>
          </a:xfrm>
          <a:custGeom>
            <a:avLst/>
            <a:gdLst>
              <a:gd name="connsiteX0" fmla="*/ 177800 w 177800"/>
              <a:gd name="connsiteY0" fmla="*/ 0 h 317500"/>
              <a:gd name="connsiteX1" fmla="*/ 139700 w 177800"/>
              <a:gd name="connsiteY1" fmla="*/ 165100 h 317500"/>
              <a:gd name="connsiteX2" fmla="*/ 0 w 177800"/>
              <a:gd name="connsiteY2" fmla="*/ 317500 h 317500"/>
            </a:gdLst>
            <a:ahLst/>
            <a:cxnLst>
              <a:cxn ang="0">
                <a:pos x="connsiteX0" y="connsiteY0"/>
              </a:cxn>
              <a:cxn ang="0">
                <a:pos x="connsiteX1" y="connsiteY1"/>
              </a:cxn>
              <a:cxn ang="0">
                <a:pos x="connsiteX2" y="connsiteY2"/>
              </a:cxn>
            </a:cxnLst>
            <a:rect l="l" t="t" r="r" b="b"/>
            <a:pathLst>
              <a:path w="177800" h="317500">
                <a:moveTo>
                  <a:pt x="177800" y="0"/>
                </a:moveTo>
                <a:cubicBezTo>
                  <a:pt x="173566" y="56091"/>
                  <a:pt x="169333" y="112183"/>
                  <a:pt x="139700" y="165100"/>
                </a:cubicBezTo>
                <a:cubicBezTo>
                  <a:pt x="110067" y="218017"/>
                  <a:pt x="55033" y="267758"/>
                  <a:pt x="0" y="317500"/>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7" name="任意多边形 56"/>
          <p:cNvSpPr/>
          <p:nvPr/>
        </p:nvSpPr>
        <p:spPr bwMode="gray">
          <a:xfrm>
            <a:off x="3925282" y="2128293"/>
            <a:ext cx="177800" cy="264894"/>
          </a:xfrm>
          <a:custGeom>
            <a:avLst/>
            <a:gdLst>
              <a:gd name="connsiteX0" fmla="*/ 0 w 177800"/>
              <a:gd name="connsiteY0" fmla="*/ 0 h 304800"/>
              <a:gd name="connsiteX1" fmla="*/ 38100 w 177800"/>
              <a:gd name="connsiteY1" fmla="*/ 177800 h 304800"/>
              <a:gd name="connsiteX2" fmla="*/ 177800 w 177800"/>
              <a:gd name="connsiteY2" fmla="*/ 304800 h 304800"/>
            </a:gdLst>
            <a:ahLst/>
            <a:cxnLst>
              <a:cxn ang="0">
                <a:pos x="connsiteX0" y="connsiteY0"/>
              </a:cxn>
              <a:cxn ang="0">
                <a:pos x="connsiteX1" y="connsiteY1"/>
              </a:cxn>
              <a:cxn ang="0">
                <a:pos x="connsiteX2" y="connsiteY2"/>
              </a:cxn>
            </a:cxnLst>
            <a:rect l="l" t="t" r="r" b="b"/>
            <a:pathLst>
              <a:path w="177800" h="304800">
                <a:moveTo>
                  <a:pt x="0" y="0"/>
                </a:moveTo>
                <a:cubicBezTo>
                  <a:pt x="4233" y="63500"/>
                  <a:pt x="8467" y="127000"/>
                  <a:pt x="38100" y="177800"/>
                </a:cubicBezTo>
                <a:cubicBezTo>
                  <a:pt x="67733" y="228600"/>
                  <a:pt x="122766" y="266700"/>
                  <a:pt x="177800" y="304800"/>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8" name="任意多边形 57"/>
          <p:cNvSpPr/>
          <p:nvPr/>
        </p:nvSpPr>
        <p:spPr bwMode="gray">
          <a:xfrm>
            <a:off x="3560157" y="2178737"/>
            <a:ext cx="547688" cy="226868"/>
          </a:xfrm>
          <a:custGeom>
            <a:avLst/>
            <a:gdLst>
              <a:gd name="connsiteX0" fmla="*/ 0 w 547688"/>
              <a:gd name="connsiteY0" fmla="*/ 13395 h 261045"/>
              <a:gd name="connsiteX1" fmla="*/ 300038 w 547688"/>
              <a:gd name="connsiteY1" fmla="*/ 27682 h 261045"/>
              <a:gd name="connsiteX2" fmla="*/ 547688 w 547688"/>
              <a:gd name="connsiteY2" fmla="*/ 261045 h 261045"/>
            </a:gdLst>
            <a:ahLst/>
            <a:cxnLst>
              <a:cxn ang="0">
                <a:pos x="connsiteX0" y="connsiteY0"/>
              </a:cxn>
              <a:cxn ang="0">
                <a:pos x="connsiteX1" y="connsiteY1"/>
              </a:cxn>
              <a:cxn ang="0">
                <a:pos x="connsiteX2" y="connsiteY2"/>
              </a:cxn>
            </a:cxnLst>
            <a:rect l="l" t="t" r="r" b="b"/>
            <a:pathLst>
              <a:path w="547688" h="261045">
                <a:moveTo>
                  <a:pt x="0" y="13395"/>
                </a:moveTo>
                <a:cubicBezTo>
                  <a:pt x="104378" y="-99"/>
                  <a:pt x="208757" y="-13593"/>
                  <a:pt x="300038" y="27682"/>
                </a:cubicBezTo>
                <a:cubicBezTo>
                  <a:pt x="391319" y="68957"/>
                  <a:pt x="469503" y="165001"/>
                  <a:pt x="547688" y="261045"/>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61" name="任意多边形 60"/>
          <p:cNvSpPr/>
          <p:nvPr/>
        </p:nvSpPr>
        <p:spPr bwMode="gray">
          <a:xfrm>
            <a:off x="3726845" y="2191503"/>
            <a:ext cx="571500" cy="189268"/>
          </a:xfrm>
          <a:custGeom>
            <a:avLst/>
            <a:gdLst>
              <a:gd name="connsiteX0" fmla="*/ 571500 w 571500"/>
              <a:gd name="connsiteY0" fmla="*/ 22518 h 217781"/>
              <a:gd name="connsiteX1" fmla="*/ 242887 w 571500"/>
              <a:gd name="connsiteY1" fmla="*/ 17756 h 217781"/>
              <a:gd name="connsiteX2" fmla="*/ 0 w 571500"/>
              <a:gd name="connsiteY2" fmla="*/ 217781 h 217781"/>
            </a:gdLst>
            <a:ahLst/>
            <a:cxnLst>
              <a:cxn ang="0">
                <a:pos x="connsiteX0" y="connsiteY0"/>
              </a:cxn>
              <a:cxn ang="0">
                <a:pos x="connsiteX1" y="connsiteY1"/>
              </a:cxn>
              <a:cxn ang="0">
                <a:pos x="connsiteX2" y="connsiteY2"/>
              </a:cxn>
            </a:cxnLst>
            <a:rect l="l" t="t" r="r" b="b"/>
            <a:pathLst>
              <a:path w="571500" h="217781">
                <a:moveTo>
                  <a:pt x="571500" y="22518"/>
                </a:moveTo>
                <a:cubicBezTo>
                  <a:pt x="454818" y="3865"/>
                  <a:pt x="338137" y="-14788"/>
                  <a:pt x="242887" y="17756"/>
                </a:cubicBezTo>
                <a:cubicBezTo>
                  <a:pt x="147637" y="50300"/>
                  <a:pt x="73818" y="134040"/>
                  <a:pt x="0" y="217781"/>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62" name="矩形 61"/>
          <p:cNvSpPr/>
          <p:nvPr/>
        </p:nvSpPr>
        <p:spPr bwMode="gray">
          <a:xfrm>
            <a:off x="4027573" y="1724920"/>
            <a:ext cx="916363" cy="276989"/>
          </a:xfrm>
          <a:prstGeom prst="rect">
            <a:avLst/>
          </a:prstGeom>
        </p:spPr>
        <p:txBody>
          <a:bodyPr wrap="square" lIns="91429" tIns="45715" rIns="91429" bIns="45715">
            <a:spAutoFit/>
          </a:bodyPr>
          <a:lstStyle/>
          <a:p>
            <a:pPr algn="ctr" defTabSz="516682" font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sym typeface="Helvetica"/>
              </a:rPr>
              <a:t> RR</a:t>
            </a:r>
          </a:p>
        </p:txBody>
      </p:sp>
      <p:pic>
        <p:nvPicPr>
          <p:cNvPr id="68" name="图片 67"/>
          <p:cNvPicPr>
            <a:picLocks noChangeAspect="1"/>
          </p:cNvPicPr>
          <p:nvPr/>
        </p:nvPicPr>
        <p:blipFill>
          <a:blip r:embed="rId7"/>
          <a:stretch>
            <a:fillRect/>
          </a:stretch>
        </p:blipFill>
        <p:spPr bwMode="gray">
          <a:xfrm>
            <a:off x="4279689" y="2137887"/>
            <a:ext cx="572675" cy="455873"/>
          </a:xfrm>
          <a:prstGeom prst="rect">
            <a:avLst/>
          </a:prstGeom>
        </p:spPr>
      </p:pic>
      <p:pic>
        <p:nvPicPr>
          <p:cNvPr id="72" name="图片 71"/>
          <p:cNvPicPr>
            <a:picLocks noChangeAspect="1"/>
          </p:cNvPicPr>
          <p:nvPr/>
        </p:nvPicPr>
        <p:blipFill>
          <a:blip r:embed="rId7"/>
          <a:stretch>
            <a:fillRect/>
          </a:stretch>
        </p:blipFill>
        <p:spPr bwMode="gray">
          <a:xfrm>
            <a:off x="2916944" y="2137886"/>
            <a:ext cx="572675" cy="455873"/>
          </a:xfrm>
          <a:prstGeom prst="rect">
            <a:avLst/>
          </a:prstGeom>
        </p:spPr>
      </p:pic>
      <p:pic>
        <p:nvPicPr>
          <p:cNvPr id="73" name="图片 72"/>
          <p:cNvPicPr>
            <a:picLocks noChangeAspect="1"/>
          </p:cNvPicPr>
          <p:nvPr/>
        </p:nvPicPr>
        <p:blipFill>
          <a:blip r:embed="rId7"/>
          <a:stretch>
            <a:fillRect/>
          </a:stretch>
        </p:blipFill>
        <p:spPr bwMode="gray">
          <a:xfrm>
            <a:off x="3650815" y="1630364"/>
            <a:ext cx="572675" cy="455873"/>
          </a:xfrm>
          <a:prstGeom prst="rect">
            <a:avLst/>
          </a:prstGeom>
        </p:spPr>
      </p:pic>
      <p:pic>
        <p:nvPicPr>
          <p:cNvPr id="74" name="图片 7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488473" y="3476995"/>
            <a:ext cx="540000" cy="442800"/>
          </a:xfrm>
          <a:prstGeom prst="rect">
            <a:avLst/>
          </a:prstGeom>
        </p:spPr>
      </p:pic>
      <p:pic>
        <p:nvPicPr>
          <p:cNvPr id="75" name="图片 74" descr="酒店-蓝.png"/>
          <p:cNvPicPr>
            <a:picLocks noChangeAspect="1"/>
          </p:cNvPicPr>
          <p:nvPr/>
        </p:nvPicPr>
        <p:blipFill>
          <a:blip r:embed="rId5" cstate="print"/>
          <a:stretch>
            <a:fillRect/>
          </a:stretch>
        </p:blipFill>
        <p:spPr bwMode="gray">
          <a:xfrm>
            <a:off x="870775" y="3488225"/>
            <a:ext cx="539607" cy="441817"/>
          </a:xfrm>
          <a:prstGeom prst="rect">
            <a:avLst/>
          </a:prstGeom>
        </p:spPr>
      </p:pic>
      <p:cxnSp>
        <p:nvCxnSpPr>
          <p:cNvPr id="81" name="直接连接符 80"/>
          <p:cNvCxnSpPr/>
          <p:nvPr/>
        </p:nvCxnSpPr>
        <p:spPr bwMode="gray">
          <a:xfrm>
            <a:off x="2046134" y="2878552"/>
            <a:ext cx="7310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2" name="图片 81"/>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776401" y="2939898"/>
            <a:ext cx="540000" cy="442800"/>
          </a:xfrm>
          <a:prstGeom prst="rect">
            <a:avLst/>
          </a:prstGeom>
        </p:spPr>
      </p:pic>
      <p:cxnSp>
        <p:nvCxnSpPr>
          <p:cNvPr id="83" name="直接连接符 82"/>
          <p:cNvCxnSpPr>
            <a:stCxn id="33" idx="7"/>
            <a:endCxn id="82" idx="1"/>
          </p:cNvCxnSpPr>
          <p:nvPr/>
        </p:nvCxnSpPr>
        <p:spPr bwMode="gray">
          <a:xfrm>
            <a:off x="4949941" y="2792483"/>
            <a:ext cx="826460" cy="3688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33" idx="7"/>
          </p:cNvCxnSpPr>
          <p:nvPr/>
        </p:nvCxnSpPr>
        <p:spPr bwMode="gray">
          <a:xfrm flipV="1">
            <a:off x="4949941" y="2575785"/>
            <a:ext cx="826460" cy="216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bwMode="gray">
          <a:xfrm>
            <a:off x="2047024" y="2966864"/>
            <a:ext cx="6107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bwMode="gray">
          <a:xfrm>
            <a:off x="2030840" y="3647876"/>
            <a:ext cx="6107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TextBox 401"/>
          <p:cNvSpPr txBox="1"/>
          <p:nvPr/>
        </p:nvSpPr>
        <p:spPr bwMode="gray">
          <a:xfrm>
            <a:off x="1385766" y="2354904"/>
            <a:ext cx="745413" cy="352293"/>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200" b="1" kern="0" dirty="0">
                <a:solidFill>
                  <a:prstClr val="black"/>
                </a:solidFill>
                <a:latin typeface="Huawei Sans" panose="020C0503030203020204" pitchFamily="34" charset="0"/>
                <a:ea typeface="方正兰亭黑简体" panose="02000000000000000000" pitchFamily="2" charset="-122"/>
              </a:rPr>
              <a:t>EDGE</a:t>
            </a:r>
          </a:p>
        </p:txBody>
      </p:sp>
      <p:sp>
        <p:nvSpPr>
          <p:cNvPr id="90" name="TextBox 401"/>
          <p:cNvSpPr txBox="1"/>
          <p:nvPr/>
        </p:nvSpPr>
        <p:spPr bwMode="gray">
          <a:xfrm>
            <a:off x="5391315" y="2123645"/>
            <a:ext cx="1237246" cy="352293"/>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200" b="1" kern="0" dirty="0">
                <a:solidFill>
                  <a:prstClr val="black"/>
                </a:solidFill>
                <a:latin typeface="Huawei Sans" panose="020C0503030203020204" pitchFamily="34" charset="0"/>
                <a:ea typeface="方正兰亭黑简体" panose="02000000000000000000" pitchFamily="2" charset="-122"/>
              </a:rPr>
              <a:t>EDGE</a:t>
            </a:r>
          </a:p>
        </p:txBody>
      </p:sp>
      <p:pic>
        <p:nvPicPr>
          <p:cNvPr id="94" name="图片 9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467433" y="4184638"/>
            <a:ext cx="540000" cy="442800"/>
          </a:xfrm>
          <a:prstGeom prst="rect">
            <a:avLst/>
          </a:prstGeom>
        </p:spPr>
      </p:pic>
      <p:cxnSp>
        <p:nvCxnSpPr>
          <p:cNvPr id="95" name="直接连接符 94"/>
          <p:cNvCxnSpPr/>
          <p:nvPr/>
        </p:nvCxnSpPr>
        <p:spPr bwMode="gray">
          <a:xfrm flipV="1">
            <a:off x="4722568" y="3937173"/>
            <a:ext cx="0" cy="2408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TextBox 401"/>
          <p:cNvSpPr txBox="1"/>
          <p:nvPr/>
        </p:nvSpPr>
        <p:spPr bwMode="gray">
          <a:xfrm>
            <a:off x="3515874" y="4121015"/>
            <a:ext cx="1108947" cy="536959"/>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200" b="1" kern="0" dirty="0">
                <a:solidFill>
                  <a:prstClr val="black"/>
                </a:solidFill>
                <a:latin typeface="Huawei Sans" panose="020C0503030203020204" pitchFamily="34" charset="0"/>
                <a:ea typeface="方正兰亭黑简体" panose="02000000000000000000" pitchFamily="2" charset="-122"/>
              </a:rPr>
              <a:t>SD-WAN GW</a:t>
            </a:r>
          </a:p>
        </p:txBody>
      </p:sp>
      <p:sp>
        <p:nvSpPr>
          <p:cNvPr id="98" name="Freeform 159"/>
          <p:cNvSpPr/>
          <p:nvPr/>
        </p:nvSpPr>
        <p:spPr bwMode="gray">
          <a:xfrm flipH="1">
            <a:off x="6198119" y="3417026"/>
            <a:ext cx="900300" cy="4706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rPr>
              <a:t>Cloud</a:t>
            </a:r>
            <a:endParaRPr lang="en-US" dirty="0">
              <a:solidFill>
                <a:schemeClr val="tx1"/>
              </a:solidFill>
              <a:latin typeface="Huawei Sans" panose="020C0503030203020204" pitchFamily="34" charset="0"/>
              <a:ea typeface="方正兰亭黑简体" panose="02000000000000000000" pitchFamily="2" charset="-122"/>
            </a:endParaRPr>
          </a:p>
        </p:txBody>
      </p:sp>
      <p:cxnSp>
        <p:nvCxnSpPr>
          <p:cNvPr id="99" name="直接连接符 98"/>
          <p:cNvCxnSpPr>
            <a:cxnSpLocks/>
          </p:cNvCxnSpPr>
          <p:nvPr/>
        </p:nvCxnSpPr>
        <p:spPr bwMode="gray">
          <a:xfrm>
            <a:off x="5201174" y="3673498"/>
            <a:ext cx="7543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3" name="图片 102" descr="交换机.png"/>
          <p:cNvPicPr>
            <a:picLocks noChangeAspect="1"/>
          </p:cNvPicPr>
          <p:nvPr/>
        </p:nvPicPr>
        <p:blipFill>
          <a:blip r:embed="rId8" cstate="print"/>
          <a:stretch>
            <a:fillRect/>
          </a:stretch>
        </p:blipFill>
        <p:spPr bwMode="gray">
          <a:xfrm>
            <a:off x="5779322" y="3456219"/>
            <a:ext cx="539999" cy="441816"/>
          </a:xfrm>
          <a:prstGeom prst="rect">
            <a:avLst/>
          </a:prstGeom>
        </p:spPr>
      </p:pic>
      <p:sp>
        <p:nvSpPr>
          <p:cNvPr id="104" name="TextBox 401"/>
          <p:cNvSpPr txBox="1"/>
          <p:nvPr/>
        </p:nvSpPr>
        <p:spPr bwMode="gray">
          <a:xfrm>
            <a:off x="5630991" y="3802213"/>
            <a:ext cx="806507" cy="352293"/>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200" b="1" kern="0" dirty="0">
                <a:solidFill>
                  <a:prstClr val="black"/>
                </a:solidFill>
                <a:latin typeface="Huawei Sans" panose="020C0503030203020204" pitchFamily="34" charset="0"/>
                <a:ea typeface="方正兰亭黑简体" panose="02000000000000000000" pitchFamily="2" charset="-122"/>
              </a:rPr>
              <a:t>EDGE</a:t>
            </a:r>
          </a:p>
        </p:txBody>
      </p:sp>
      <p:graphicFrame>
        <p:nvGraphicFramePr>
          <p:cNvPr id="59" name="表格 58"/>
          <p:cNvGraphicFramePr>
            <a:graphicFrameLocks noGrp="1"/>
          </p:cNvGraphicFramePr>
          <p:nvPr>
            <p:extLst>
              <p:ext uri="{D42A27DB-BD31-4B8C-83A1-F6EECF244321}">
                <p14:modId xmlns:p14="http://schemas.microsoft.com/office/powerpoint/2010/main" val="256293693"/>
              </p:ext>
            </p:extLst>
          </p:nvPr>
        </p:nvGraphicFramePr>
        <p:xfrm>
          <a:off x="7437987" y="1279769"/>
          <a:ext cx="3990730" cy="2853514"/>
        </p:xfrm>
        <a:graphic>
          <a:graphicData uri="http://schemas.openxmlformats.org/drawingml/2006/table">
            <a:tbl>
              <a:tblPr firstRow="1" bandRow="1"/>
              <a:tblGrid>
                <a:gridCol w="994201">
                  <a:extLst>
                    <a:ext uri="{9D8B030D-6E8A-4147-A177-3AD203B41FA5}">
                      <a16:colId xmlns:a16="http://schemas.microsoft.com/office/drawing/2014/main" val="20000"/>
                    </a:ext>
                  </a:extLst>
                </a:gridCol>
                <a:gridCol w="2996529">
                  <a:extLst>
                    <a:ext uri="{9D8B030D-6E8A-4147-A177-3AD203B41FA5}">
                      <a16:colId xmlns:a16="http://schemas.microsoft.com/office/drawing/2014/main" val="20001"/>
                    </a:ext>
                  </a:extLst>
                </a:gridCol>
              </a:tblGrid>
              <a:tr h="33612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890492" rtl="0" eaLnBrk="1" fontAlgn="auto" latinLnBrk="0" hangingPunct="1">
                        <a:lnSpc>
                          <a:spcPct val="100000"/>
                        </a:lnSpc>
                        <a:spcBef>
                          <a:spcPts val="0"/>
                        </a:spcBef>
                        <a:spcAft>
                          <a:spcPts val="0"/>
                        </a:spcAft>
                        <a:buClrTx/>
                        <a:buSzTx/>
                        <a:buFontTx/>
                        <a:buNone/>
                        <a:tabLst/>
                        <a:defRPr/>
                      </a:pPr>
                      <a:r>
                        <a:rPr lang="zh-CN" altLang="en-US" sz="1400" b="1" kern="1200" dirty="0">
                          <a:solidFill>
                            <a:schemeClr val="tx1"/>
                          </a:solidFill>
                          <a:latin typeface="+mn-lt"/>
                          <a:ea typeface="+mn-ea"/>
                        </a:rPr>
                        <a:t>产品形态</a:t>
                      </a:r>
                      <a:endParaRPr lang="zh-CN" altLang="en-US" sz="1400" b="1" kern="1200" dirty="0">
                        <a:solidFill>
                          <a:schemeClr val="tx1"/>
                        </a:solidFill>
                        <a:latin typeface="+mn-lt"/>
                        <a:ea typeface="+mn-ea"/>
                        <a:cs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lvl1pPr marL="0" algn="l" defTabSz="1187798" rtl="0" eaLnBrk="1" latinLnBrk="0" hangingPunct="1">
                        <a:defRPr sz="2338" b="1" kern="1200">
                          <a:solidFill>
                            <a:schemeClr val="lt1"/>
                          </a:solidFill>
                          <a:latin typeface="FrutigerNext LT Medium"/>
                          <a:ea typeface="华文细黑"/>
                          <a:cs typeface="宋体"/>
                        </a:defRPr>
                      </a:lvl1pPr>
                      <a:lvl2pPr marL="593900" algn="l" defTabSz="1187798" rtl="0" eaLnBrk="1" latinLnBrk="0" hangingPunct="1">
                        <a:defRPr sz="2338" b="1" kern="1200">
                          <a:solidFill>
                            <a:schemeClr val="lt1"/>
                          </a:solidFill>
                          <a:latin typeface="FrutigerNext LT Medium"/>
                          <a:ea typeface="华文细黑"/>
                          <a:cs typeface="宋体"/>
                        </a:defRPr>
                      </a:lvl2pPr>
                      <a:lvl3pPr marL="1187798" algn="l" defTabSz="1187798" rtl="0" eaLnBrk="1" latinLnBrk="0" hangingPunct="1">
                        <a:defRPr sz="2338" b="1" kern="1200">
                          <a:solidFill>
                            <a:schemeClr val="lt1"/>
                          </a:solidFill>
                          <a:latin typeface="FrutigerNext LT Medium"/>
                          <a:ea typeface="华文细黑"/>
                          <a:cs typeface="宋体"/>
                        </a:defRPr>
                      </a:lvl3pPr>
                      <a:lvl4pPr marL="1781699" algn="l" defTabSz="1187798" rtl="0" eaLnBrk="1" latinLnBrk="0" hangingPunct="1">
                        <a:defRPr sz="2338" b="1" kern="1200">
                          <a:solidFill>
                            <a:schemeClr val="lt1"/>
                          </a:solidFill>
                          <a:latin typeface="FrutigerNext LT Medium"/>
                          <a:ea typeface="华文细黑"/>
                          <a:cs typeface="宋体"/>
                        </a:defRPr>
                      </a:lvl4pPr>
                      <a:lvl5pPr marL="2375598" algn="l" defTabSz="1187798" rtl="0" eaLnBrk="1" latinLnBrk="0" hangingPunct="1">
                        <a:defRPr sz="2338" b="1" kern="1200">
                          <a:solidFill>
                            <a:schemeClr val="lt1"/>
                          </a:solidFill>
                          <a:latin typeface="FrutigerNext LT Medium"/>
                          <a:ea typeface="华文细黑"/>
                          <a:cs typeface="宋体"/>
                        </a:defRPr>
                      </a:lvl5pPr>
                      <a:lvl6pPr marL="2969497" algn="l" defTabSz="1187798" rtl="0" eaLnBrk="1" latinLnBrk="0" hangingPunct="1">
                        <a:defRPr sz="2338" b="1" kern="1200">
                          <a:solidFill>
                            <a:schemeClr val="lt1"/>
                          </a:solidFill>
                          <a:latin typeface="FrutigerNext LT Medium"/>
                          <a:ea typeface="华文细黑"/>
                          <a:cs typeface="宋体"/>
                        </a:defRPr>
                      </a:lvl6pPr>
                      <a:lvl7pPr marL="3563396" algn="l" defTabSz="1187798" rtl="0" eaLnBrk="1" latinLnBrk="0" hangingPunct="1">
                        <a:defRPr sz="2338" b="1" kern="1200">
                          <a:solidFill>
                            <a:schemeClr val="lt1"/>
                          </a:solidFill>
                          <a:latin typeface="FrutigerNext LT Medium"/>
                          <a:ea typeface="华文细黑"/>
                          <a:cs typeface="宋体"/>
                        </a:defRPr>
                      </a:lvl7pPr>
                      <a:lvl8pPr marL="4157297" algn="l" defTabSz="1187798" rtl="0" eaLnBrk="1" latinLnBrk="0" hangingPunct="1">
                        <a:defRPr sz="2338" b="1" kern="1200">
                          <a:solidFill>
                            <a:schemeClr val="lt1"/>
                          </a:solidFill>
                          <a:latin typeface="FrutigerNext LT Medium"/>
                          <a:ea typeface="华文细黑"/>
                          <a:cs typeface="宋体"/>
                        </a:defRPr>
                      </a:lvl8pPr>
                      <a:lvl9pPr marL="4751195" algn="l" defTabSz="1187798" rtl="0" eaLnBrk="1" latinLnBrk="0" hangingPunct="1">
                        <a:defRPr sz="2338" b="1" kern="1200">
                          <a:solidFill>
                            <a:schemeClr val="lt1"/>
                          </a:solidFill>
                          <a:latin typeface="FrutigerNext LT Medium"/>
                          <a:ea typeface="华文细黑"/>
                          <a:cs typeface="宋体"/>
                        </a:defRPr>
                      </a:lvl9pPr>
                    </a:lstStyle>
                    <a:p>
                      <a:pPr marL="0" marR="0" lvl="0" indent="0" algn="ctr" defTabSz="890492" rtl="0" eaLnBrk="1" fontAlgn="auto" latinLnBrk="0" hangingPunct="1">
                        <a:lnSpc>
                          <a:spcPct val="100000"/>
                        </a:lnSpc>
                        <a:spcBef>
                          <a:spcPts val="0"/>
                        </a:spcBef>
                        <a:spcAft>
                          <a:spcPts val="0"/>
                        </a:spcAft>
                        <a:buClrTx/>
                        <a:buSzTx/>
                        <a:buFontTx/>
                        <a:buNone/>
                        <a:tabLst/>
                        <a:defRPr/>
                      </a:pPr>
                      <a:r>
                        <a:rPr lang="zh-CN" altLang="en-US" sz="1400" b="1" kern="1200" dirty="0">
                          <a:solidFill>
                            <a:schemeClr val="tx1"/>
                          </a:solidFill>
                          <a:latin typeface="+mn-lt"/>
                          <a:ea typeface="+mn-ea"/>
                        </a:rPr>
                        <a:t>功能</a:t>
                      </a:r>
                      <a:endParaRPr lang="zh-CN" altLang="en-US" sz="1400" b="1" kern="1200" dirty="0">
                        <a:solidFill>
                          <a:schemeClr val="tx1"/>
                        </a:solidFill>
                        <a:latin typeface="+mn-lt"/>
                        <a:ea typeface="+mn-ea"/>
                        <a:cs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739409">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890492" rtl="0" eaLnBrk="1" latinLnBrk="0" hangingPunct="1"/>
                      <a:r>
                        <a:rPr lang="en-US" altLang="zh-CN" sz="1300" kern="1200" dirty="0">
                          <a:latin typeface="+mn-lt"/>
                          <a:ea typeface="+mn-ea"/>
                        </a:rPr>
                        <a:t>SD-WAN</a:t>
                      </a:r>
                      <a:r>
                        <a:rPr lang="zh-CN" altLang="en-US" sz="1300" kern="1200" dirty="0">
                          <a:latin typeface="+mn-lt"/>
                          <a:ea typeface="+mn-ea"/>
                        </a:rPr>
                        <a:t>控制器</a:t>
                      </a:r>
                      <a:endParaRPr lang="zh-CN" altLang="en-US" sz="1300" b="1" kern="1200" dirty="0">
                        <a:solidFill>
                          <a:schemeClr val="tx1"/>
                        </a:solidFill>
                        <a:latin typeface="+mn-lt"/>
                        <a:ea typeface="+mn-ea"/>
                        <a:cs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FrutigerNext LT Medium"/>
                          <a:ea typeface="华文细黑"/>
                          <a:cs typeface="宋体"/>
                        </a:defRPr>
                      </a:lvl1pPr>
                      <a:lvl2pPr marL="593900" algn="l" defTabSz="1187798" rtl="0" eaLnBrk="1" latinLnBrk="0" hangingPunct="1">
                        <a:defRPr sz="2338" kern="1200">
                          <a:solidFill>
                            <a:schemeClr val="dk1"/>
                          </a:solidFill>
                          <a:latin typeface="FrutigerNext LT Medium"/>
                          <a:ea typeface="华文细黑"/>
                          <a:cs typeface="宋体"/>
                        </a:defRPr>
                      </a:lvl2pPr>
                      <a:lvl3pPr marL="1187798" algn="l" defTabSz="1187798" rtl="0" eaLnBrk="1" latinLnBrk="0" hangingPunct="1">
                        <a:defRPr sz="2338" kern="1200">
                          <a:solidFill>
                            <a:schemeClr val="dk1"/>
                          </a:solidFill>
                          <a:latin typeface="FrutigerNext LT Medium"/>
                          <a:ea typeface="华文细黑"/>
                          <a:cs typeface="宋体"/>
                        </a:defRPr>
                      </a:lvl3pPr>
                      <a:lvl4pPr marL="1781699" algn="l" defTabSz="1187798" rtl="0" eaLnBrk="1" latinLnBrk="0" hangingPunct="1">
                        <a:defRPr sz="2338" kern="1200">
                          <a:solidFill>
                            <a:schemeClr val="dk1"/>
                          </a:solidFill>
                          <a:latin typeface="FrutigerNext LT Medium"/>
                          <a:ea typeface="华文细黑"/>
                          <a:cs typeface="宋体"/>
                        </a:defRPr>
                      </a:lvl4pPr>
                      <a:lvl5pPr marL="2375598" algn="l" defTabSz="1187798" rtl="0" eaLnBrk="1" latinLnBrk="0" hangingPunct="1">
                        <a:defRPr sz="2338" kern="1200">
                          <a:solidFill>
                            <a:schemeClr val="dk1"/>
                          </a:solidFill>
                          <a:latin typeface="FrutigerNext LT Medium"/>
                          <a:ea typeface="华文细黑"/>
                          <a:cs typeface="宋体"/>
                        </a:defRPr>
                      </a:lvl5pPr>
                      <a:lvl6pPr marL="2969497" algn="l" defTabSz="1187798" rtl="0" eaLnBrk="1" latinLnBrk="0" hangingPunct="1">
                        <a:defRPr sz="2338" kern="1200">
                          <a:solidFill>
                            <a:schemeClr val="dk1"/>
                          </a:solidFill>
                          <a:latin typeface="FrutigerNext LT Medium"/>
                          <a:ea typeface="华文细黑"/>
                          <a:cs typeface="宋体"/>
                        </a:defRPr>
                      </a:lvl6pPr>
                      <a:lvl7pPr marL="3563396" algn="l" defTabSz="1187798" rtl="0" eaLnBrk="1" latinLnBrk="0" hangingPunct="1">
                        <a:defRPr sz="2338" kern="1200">
                          <a:solidFill>
                            <a:schemeClr val="dk1"/>
                          </a:solidFill>
                          <a:latin typeface="FrutigerNext LT Medium"/>
                          <a:ea typeface="华文细黑"/>
                          <a:cs typeface="宋体"/>
                        </a:defRPr>
                      </a:lvl7pPr>
                      <a:lvl8pPr marL="4157297" algn="l" defTabSz="1187798" rtl="0" eaLnBrk="1" latinLnBrk="0" hangingPunct="1">
                        <a:defRPr sz="2338" kern="1200">
                          <a:solidFill>
                            <a:schemeClr val="dk1"/>
                          </a:solidFill>
                          <a:latin typeface="FrutigerNext LT Medium"/>
                          <a:ea typeface="华文细黑"/>
                          <a:cs typeface="宋体"/>
                        </a:defRPr>
                      </a:lvl8pPr>
                      <a:lvl9pPr marL="4751195" algn="l" defTabSz="1187798" rtl="0" eaLnBrk="1" latinLnBrk="0" hangingPunct="1">
                        <a:defRPr sz="2338" kern="1200">
                          <a:solidFill>
                            <a:schemeClr val="dk1"/>
                          </a:solidFill>
                          <a:latin typeface="FrutigerNext LT Medium"/>
                          <a:ea typeface="华文细黑"/>
                          <a:cs typeface="宋体"/>
                        </a:defRPr>
                      </a:lvl9pPr>
                    </a:lstStyle>
                    <a:p>
                      <a:pPr marL="0" marR="0" lvl="0" indent="0" algn="l" defTabSz="890492" rtl="0" eaLnBrk="1" fontAlgn="auto" latinLnBrk="0" hangingPunct="1">
                        <a:lnSpc>
                          <a:spcPct val="125000"/>
                        </a:lnSpc>
                        <a:spcBef>
                          <a:spcPts val="0"/>
                        </a:spcBef>
                        <a:spcAft>
                          <a:spcPts val="0"/>
                        </a:spcAft>
                        <a:buClrTx/>
                        <a:buSzTx/>
                        <a:buFontTx/>
                        <a:buNone/>
                        <a:tabLst/>
                        <a:defRPr/>
                      </a:pPr>
                      <a:r>
                        <a:rPr lang="zh-CN" altLang="en-US" sz="1300" kern="1200" dirty="0">
                          <a:latin typeface="+mn-lt"/>
                          <a:ea typeface="+mn-ea"/>
                        </a:rPr>
                        <a:t>作为</a:t>
                      </a:r>
                      <a:r>
                        <a:rPr lang="en-US" altLang="zh-CN" sz="1300" kern="1200" dirty="0">
                          <a:latin typeface="+mn-lt"/>
                          <a:ea typeface="+mn-ea"/>
                        </a:rPr>
                        <a:t>SD-WAN</a:t>
                      </a:r>
                      <a:r>
                        <a:rPr lang="zh-CN" altLang="en-US" sz="1300" kern="1200" dirty="0">
                          <a:latin typeface="+mn-lt"/>
                          <a:ea typeface="+mn-ea"/>
                        </a:rPr>
                        <a:t>最核心的部分，实现</a:t>
                      </a:r>
                      <a:r>
                        <a:rPr lang="en-US" altLang="zh-CN" sz="1300" kern="1200" dirty="0">
                          <a:latin typeface="+mn-lt"/>
                          <a:ea typeface="+mn-ea"/>
                        </a:rPr>
                        <a:t>CPE</a:t>
                      </a:r>
                      <a:r>
                        <a:rPr lang="zh-CN" altLang="en-US" sz="1300" kern="1200" dirty="0">
                          <a:latin typeface="+mn-lt"/>
                          <a:ea typeface="+mn-ea"/>
                        </a:rPr>
                        <a:t>设备的统一管理，业务自动下发和</a:t>
                      </a:r>
                      <a:r>
                        <a:rPr lang="en-US" altLang="zh-CN" sz="1300" kern="1200" dirty="0">
                          <a:latin typeface="+mn-lt"/>
                          <a:ea typeface="+mn-ea"/>
                        </a:rPr>
                        <a:t>Overlay</a:t>
                      </a:r>
                      <a:r>
                        <a:rPr lang="zh-CN" altLang="en-US" sz="1300" kern="1200" dirty="0">
                          <a:latin typeface="+mn-lt"/>
                          <a:ea typeface="+mn-ea"/>
                        </a:rPr>
                        <a:t>网络的统一控制。</a:t>
                      </a:r>
                      <a:endParaRPr lang="en-US" altLang="zh-CN" sz="1300" kern="1200" dirty="0">
                        <a:solidFill>
                          <a:schemeClr val="tx1"/>
                        </a:solidFill>
                        <a:latin typeface="+mn-lt"/>
                        <a:ea typeface="+mn-ea"/>
                        <a:cs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55258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890492" rtl="0" eaLnBrk="1" fontAlgn="auto" latinLnBrk="0" hangingPunct="1">
                        <a:lnSpc>
                          <a:spcPct val="100000"/>
                        </a:lnSpc>
                        <a:spcBef>
                          <a:spcPts val="0"/>
                        </a:spcBef>
                        <a:spcAft>
                          <a:spcPts val="0"/>
                        </a:spcAft>
                        <a:buClrTx/>
                        <a:buSzTx/>
                        <a:buFontTx/>
                        <a:buNone/>
                        <a:tabLst/>
                        <a:defRPr/>
                      </a:pPr>
                      <a:r>
                        <a:rPr lang="en-US" altLang="zh-CN" sz="1300" kern="1200" dirty="0">
                          <a:latin typeface="+mn-lt"/>
                          <a:ea typeface="+mn-ea"/>
                        </a:rPr>
                        <a:t>RR</a:t>
                      </a:r>
                      <a:endParaRPr lang="en-US" altLang="zh-CN" sz="1300" b="1" kern="1200" dirty="0">
                        <a:solidFill>
                          <a:schemeClr val="tx1"/>
                        </a:solidFill>
                        <a:latin typeface="+mn-lt"/>
                        <a:ea typeface="+mn-ea"/>
                        <a:cs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FrutigerNext LT Medium"/>
                          <a:ea typeface="华文细黑"/>
                          <a:cs typeface="宋体"/>
                        </a:defRPr>
                      </a:lvl1pPr>
                      <a:lvl2pPr marL="593900" algn="l" defTabSz="1187798" rtl="0" eaLnBrk="1" latinLnBrk="0" hangingPunct="1">
                        <a:defRPr sz="2338" kern="1200">
                          <a:solidFill>
                            <a:schemeClr val="dk1"/>
                          </a:solidFill>
                          <a:latin typeface="FrutigerNext LT Medium"/>
                          <a:ea typeface="华文细黑"/>
                          <a:cs typeface="宋体"/>
                        </a:defRPr>
                      </a:lvl2pPr>
                      <a:lvl3pPr marL="1187798" algn="l" defTabSz="1187798" rtl="0" eaLnBrk="1" latinLnBrk="0" hangingPunct="1">
                        <a:defRPr sz="2338" kern="1200">
                          <a:solidFill>
                            <a:schemeClr val="dk1"/>
                          </a:solidFill>
                          <a:latin typeface="FrutigerNext LT Medium"/>
                          <a:ea typeface="华文细黑"/>
                          <a:cs typeface="宋体"/>
                        </a:defRPr>
                      </a:lvl3pPr>
                      <a:lvl4pPr marL="1781699" algn="l" defTabSz="1187798" rtl="0" eaLnBrk="1" latinLnBrk="0" hangingPunct="1">
                        <a:defRPr sz="2338" kern="1200">
                          <a:solidFill>
                            <a:schemeClr val="dk1"/>
                          </a:solidFill>
                          <a:latin typeface="FrutigerNext LT Medium"/>
                          <a:ea typeface="华文细黑"/>
                          <a:cs typeface="宋体"/>
                        </a:defRPr>
                      </a:lvl4pPr>
                      <a:lvl5pPr marL="2375598" algn="l" defTabSz="1187798" rtl="0" eaLnBrk="1" latinLnBrk="0" hangingPunct="1">
                        <a:defRPr sz="2338" kern="1200">
                          <a:solidFill>
                            <a:schemeClr val="dk1"/>
                          </a:solidFill>
                          <a:latin typeface="FrutigerNext LT Medium"/>
                          <a:ea typeface="华文细黑"/>
                          <a:cs typeface="宋体"/>
                        </a:defRPr>
                      </a:lvl5pPr>
                      <a:lvl6pPr marL="2969497" algn="l" defTabSz="1187798" rtl="0" eaLnBrk="1" latinLnBrk="0" hangingPunct="1">
                        <a:defRPr sz="2338" kern="1200">
                          <a:solidFill>
                            <a:schemeClr val="dk1"/>
                          </a:solidFill>
                          <a:latin typeface="FrutigerNext LT Medium"/>
                          <a:ea typeface="华文细黑"/>
                          <a:cs typeface="宋体"/>
                        </a:defRPr>
                      </a:lvl6pPr>
                      <a:lvl7pPr marL="3563396" algn="l" defTabSz="1187798" rtl="0" eaLnBrk="1" latinLnBrk="0" hangingPunct="1">
                        <a:defRPr sz="2338" kern="1200">
                          <a:solidFill>
                            <a:schemeClr val="dk1"/>
                          </a:solidFill>
                          <a:latin typeface="FrutigerNext LT Medium"/>
                          <a:ea typeface="华文细黑"/>
                          <a:cs typeface="宋体"/>
                        </a:defRPr>
                      </a:lvl7pPr>
                      <a:lvl8pPr marL="4157297" algn="l" defTabSz="1187798" rtl="0" eaLnBrk="1" latinLnBrk="0" hangingPunct="1">
                        <a:defRPr sz="2338" kern="1200">
                          <a:solidFill>
                            <a:schemeClr val="dk1"/>
                          </a:solidFill>
                          <a:latin typeface="FrutigerNext LT Medium"/>
                          <a:ea typeface="华文细黑"/>
                          <a:cs typeface="宋体"/>
                        </a:defRPr>
                      </a:lvl8pPr>
                      <a:lvl9pPr marL="4751195" algn="l" defTabSz="1187798" rtl="0" eaLnBrk="1" latinLnBrk="0" hangingPunct="1">
                        <a:defRPr sz="2338" kern="1200">
                          <a:solidFill>
                            <a:schemeClr val="dk1"/>
                          </a:solidFill>
                          <a:latin typeface="FrutigerNext LT Medium"/>
                          <a:ea typeface="华文细黑"/>
                          <a:cs typeface="宋体"/>
                        </a:defRPr>
                      </a:lvl9pPr>
                    </a:lstStyle>
                    <a:p>
                      <a:pPr marL="0" marR="0" lvl="0" indent="0" algn="l" defTabSz="890492" rtl="0" eaLnBrk="1" fontAlgn="auto" latinLnBrk="0" hangingPunct="1">
                        <a:lnSpc>
                          <a:spcPct val="125000"/>
                        </a:lnSpc>
                        <a:spcBef>
                          <a:spcPts val="0"/>
                        </a:spcBef>
                        <a:spcAft>
                          <a:spcPts val="0"/>
                        </a:spcAft>
                        <a:buClrTx/>
                        <a:buSzTx/>
                        <a:buFontTx/>
                        <a:buNone/>
                        <a:tabLst/>
                        <a:defRPr/>
                      </a:pPr>
                      <a:r>
                        <a:rPr lang="zh-CN" altLang="en-US" sz="1300" kern="1200" dirty="0">
                          <a:latin typeface="+mn-lt"/>
                          <a:ea typeface="+mn-ea"/>
                        </a:rPr>
                        <a:t>分布式控制组件，基于</a:t>
                      </a:r>
                      <a:r>
                        <a:rPr lang="en-US" altLang="zh-CN" sz="1300" kern="1200" dirty="0">
                          <a:latin typeface="+mn-lt"/>
                          <a:ea typeface="+mn-ea"/>
                        </a:rPr>
                        <a:t>VPN</a:t>
                      </a:r>
                      <a:r>
                        <a:rPr lang="zh-CN" altLang="en-US" sz="1300" kern="1200" dirty="0">
                          <a:latin typeface="+mn-lt"/>
                          <a:ea typeface="+mn-ea"/>
                        </a:rPr>
                        <a:t>拓扑策略，负责</a:t>
                      </a:r>
                      <a:r>
                        <a:rPr lang="en-US" altLang="zh-CN" sz="1300" kern="1200" dirty="0">
                          <a:latin typeface="+mn-lt"/>
                          <a:ea typeface="+mn-ea"/>
                        </a:rPr>
                        <a:t>CPE</a:t>
                      </a:r>
                      <a:r>
                        <a:rPr lang="zh-CN" altLang="en-US" sz="1300" kern="1200" dirty="0">
                          <a:latin typeface="+mn-lt"/>
                          <a:ea typeface="+mn-ea"/>
                        </a:rPr>
                        <a:t>之间的</a:t>
                      </a:r>
                      <a:r>
                        <a:rPr lang="en-US" altLang="zh-CN" sz="1300" kern="1200" dirty="0">
                          <a:latin typeface="+mn-lt"/>
                          <a:ea typeface="+mn-ea"/>
                        </a:rPr>
                        <a:t>VPN</a:t>
                      </a:r>
                      <a:r>
                        <a:rPr lang="zh-CN" altLang="en-US" sz="1300" kern="1200" dirty="0">
                          <a:latin typeface="+mn-lt"/>
                          <a:ea typeface="+mn-ea"/>
                        </a:rPr>
                        <a:t>路由分发。</a:t>
                      </a:r>
                      <a:endParaRPr lang="zh-CN" altLang="en-US" sz="1300" kern="1200" dirty="0">
                        <a:solidFill>
                          <a:schemeClr val="tx1"/>
                        </a:solidFill>
                        <a:latin typeface="+mn-lt"/>
                        <a:ea typeface="+mn-ea"/>
                        <a:cs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463979">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890492" rtl="0" eaLnBrk="1" latinLnBrk="0" hangingPunct="1"/>
                      <a:r>
                        <a:rPr lang="en-US" altLang="zh-CN" sz="1300" kern="1200" dirty="0">
                          <a:latin typeface="+mn-lt"/>
                          <a:ea typeface="+mn-ea"/>
                        </a:rPr>
                        <a:t>EDGE</a:t>
                      </a:r>
                      <a:endParaRPr lang="en-US" altLang="zh-CN" sz="1300" b="1" kern="1200" dirty="0">
                        <a:solidFill>
                          <a:schemeClr val="tx1"/>
                        </a:solidFill>
                        <a:latin typeface="+mn-lt"/>
                        <a:ea typeface="+mn-ea"/>
                        <a:cs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lvl1pPr marL="0" algn="l" defTabSz="1187798" rtl="0" eaLnBrk="1" latinLnBrk="0" hangingPunct="1">
                        <a:defRPr sz="2338" kern="1200">
                          <a:solidFill>
                            <a:schemeClr val="dk1"/>
                          </a:solidFill>
                          <a:latin typeface="FrutigerNext LT Medium"/>
                          <a:ea typeface="华文细黑"/>
                          <a:cs typeface="宋体"/>
                        </a:defRPr>
                      </a:lvl1pPr>
                      <a:lvl2pPr marL="593900" algn="l" defTabSz="1187798" rtl="0" eaLnBrk="1" latinLnBrk="0" hangingPunct="1">
                        <a:defRPr sz="2338" kern="1200">
                          <a:solidFill>
                            <a:schemeClr val="dk1"/>
                          </a:solidFill>
                          <a:latin typeface="FrutigerNext LT Medium"/>
                          <a:ea typeface="华文细黑"/>
                          <a:cs typeface="宋体"/>
                        </a:defRPr>
                      </a:lvl2pPr>
                      <a:lvl3pPr marL="1187798" algn="l" defTabSz="1187798" rtl="0" eaLnBrk="1" latinLnBrk="0" hangingPunct="1">
                        <a:defRPr sz="2338" kern="1200">
                          <a:solidFill>
                            <a:schemeClr val="dk1"/>
                          </a:solidFill>
                          <a:latin typeface="FrutigerNext LT Medium"/>
                          <a:ea typeface="华文细黑"/>
                          <a:cs typeface="宋体"/>
                        </a:defRPr>
                      </a:lvl3pPr>
                      <a:lvl4pPr marL="1781699" algn="l" defTabSz="1187798" rtl="0" eaLnBrk="1" latinLnBrk="0" hangingPunct="1">
                        <a:defRPr sz="2338" kern="1200">
                          <a:solidFill>
                            <a:schemeClr val="dk1"/>
                          </a:solidFill>
                          <a:latin typeface="FrutigerNext LT Medium"/>
                          <a:ea typeface="华文细黑"/>
                          <a:cs typeface="宋体"/>
                        </a:defRPr>
                      </a:lvl4pPr>
                      <a:lvl5pPr marL="2375598" algn="l" defTabSz="1187798" rtl="0" eaLnBrk="1" latinLnBrk="0" hangingPunct="1">
                        <a:defRPr sz="2338" kern="1200">
                          <a:solidFill>
                            <a:schemeClr val="dk1"/>
                          </a:solidFill>
                          <a:latin typeface="FrutigerNext LT Medium"/>
                          <a:ea typeface="华文细黑"/>
                          <a:cs typeface="宋体"/>
                        </a:defRPr>
                      </a:lvl5pPr>
                      <a:lvl6pPr marL="2969497" algn="l" defTabSz="1187798" rtl="0" eaLnBrk="1" latinLnBrk="0" hangingPunct="1">
                        <a:defRPr sz="2338" kern="1200">
                          <a:solidFill>
                            <a:schemeClr val="dk1"/>
                          </a:solidFill>
                          <a:latin typeface="FrutigerNext LT Medium"/>
                          <a:ea typeface="华文细黑"/>
                          <a:cs typeface="宋体"/>
                        </a:defRPr>
                      </a:lvl6pPr>
                      <a:lvl7pPr marL="3563396" algn="l" defTabSz="1187798" rtl="0" eaLnBrk="1" latinLnBrk="0" hangingPunct="1">
                        <a:defRPr sz="2338" kern="1200">
                          <a:solidFill>
                            <a:schemeClr val="dk1"/>
                          </a:solidFill>
                          <a:latin typeface="FrutigerNext LT Medium"/>
                          <a:ea typeface="华文细黑"/>
                          <a:cs typeface="宋体"/>
                        </a:defRPr>
                      </a:lvl7pPr>
                      <a:lvl8pPr marL="4157297" algn="l" defTabSz="1187798" rtl="0" eaLnBrk="1" latinLnBrk="0" hangingPunct="1">
                        <a:defRPr sz="2338" kern="1200">
                          <a:solidFill>
                            <a:schemeClr val="dk1"/>
                          </a:solidFill>
                          <a:latin typeface="FrutigerNext LT Medium"/>
                          <a:ea typeface="华文细黑"/>
                          <a:cs typeface="宋体"/>
                        </a:defRPr>
                      </a:lvl8pPr>
                      <a:lvl9pPr marL="4751195" algn="l" defTabSz="1187798" rtl="0" eaLnBrk="1" latinLnBrk="0" hangingPunct="1">
                        <a:defRPr sz="2338" kern="1200">
                          <a:solidFill>
                            <a:schemeClr val="dk1"/>
                          </a:solidFill>
                          <a:latin typeface="FrutigerNext LT Medium"/>
                          <a:ea typeface="华文细黑"/>
                          <a:cs typeface="宋体"/>
                        </a:defRPr>
                      </a:lvl9pPr>
                    </a:lstStyle>
                    <a:p>
                      <a:pPr marL="0" algn="l" defTabSz="890492" rtl="0" eaLnBrk="1" latinLnBrk="0" hangingPunct="1">
                        <a:lnSpc>
                          <a:spcPct val="125000"/>
                        </a:lnSpc>
                      </a:pPr>
                      <a:r>
                        <a:rPr lang="zh-CN" altLang="en-US" sz="1300" kern="1200" dirty="0">
                          <a:latin typeface="+mn-lt"/>
                          <a:ea typeface="+mn-ea"/>
                        </a:rPr>
                        <a:t>企业分支、总部、</a:t>
                      </a:r>
                      <a:r>
                        <a:rPr lang="en-US" altLang="zh-CN" sz="1300" kern="1200" dirty="0">
                          <a:latin typeface="+mn-lt"/>
                          <a:ea typeface="+mn-ea"/>
                        </a:rPr>
                        <a:t>DC</a:t>
                      </a:r>
                      <a:r>
                        <a:rPr lang="zh-CN" altLang="en-US" sz="1300" kern="1200" dirty="0">
                          <a:latin typeface="+mn-lt"/>
                          <a:ea typeface="+mn-ea"/>
                        </a:rPr>
                        <a:t>等站点的出口设备。</a:t>
                      </a:r>
                      <a:endParaRPr lang="en-US" altLang="zh-CN" sz="1300" kern="1200" dirty="0">
                        <a:solidFill>
                          <a:schemeClr val="tx1"/>
                        </a:solidFill>
                        <a:latin typeface="+mn-lt"/>
                        <a:ea typeface="+mn-ea"/>
                        <a:cs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450503">
                <a:tc>
                  <a:txBody>
                    <a:bodyPr/>
                    <a:lstStyle/>
                    <a:p>
                      <a:pPr marL="0" algn="ctr" defTabSz="890492" rtl="0" eaLnBrk="1" latinLnBrk="0" hangingPunct="1"/>
                      <a:r>
                        <a:rPr lang="en-US" altLang="zh-CN" sz="1300" kern="1200" dirty="0">
                          <a:latin typeface="+mn-lt"/>
                          <a:ea typeface="+mn-ea"/>
                        </a:rPr>
                        <a:t>SD-WAN GW</a:t>
                      </a:r>
                      <a:endParaRPr lang="en-US" altLang="zh-CN" sz="1300" b="1" kern="1200" dirty="0">
                        <a:solidFill>
                          <a:schemeClr val="tx1"/>
                        </a:solidFill>
                        <a:latin typeface="+mn-lt"/>
                        <a:ea typeface="+mn-ea"/>
                        <a:cs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marR="0" lvl="0" indent="0" algn="l" defTabSz="890492" rtl="0" eaLnBrk="1" fontAlgn="auto" latinLnBrk="0" hangingPunct="1">
                        <a:lnSpc>
                          <a:spcPct val="125000"/>
                        </a:lnSpc>
                        <a:spcBef>
                          <a:spcPts val="0"/>
                        </a:spcBef>
                        <a:spcAft>
                          <a:spcPts val="0"/>
                        </a:spcAft>
                        <a:buClrTx/>
                        <a:buSzTx/>
                        <a:buFontTx/>
                        <a:buNone/>
                        <a:tabLst/>
                        <a:defRPr/>
                      </a:pPr>
                      <a:r>
                        <a:rPr lang="zh-CN" altLang="en-US" sz="1300" kern="1200" dirty="0">
                          <a:latin typeface="+mn-lt"/>
                          <a:ea typeface="+mn-ea"/>
                        </a:rPr>
                        <a:t>负责连接</a:t>
                      </a:r>
                      <a:r>
                        <a:rPr lang="en-US" altLang="zh-CN" sz="1300" kern="1200" dirty="0">
                          <a:latin typeface="+mn-lt"/>
                          <a:ea typeface="+mn-ea"/>
                        </a:rPr>
                        <a:t>SD-WAN</a:t>
                      </a:r>
                      <a:r>
                        <a:rPr lang="zh-CN" altLang="en-US" sz="1300" kern="1200" dirty="0">
                          <a:latin typeface="+mn-lt"/>
                          <a:ea typeface="+mn-ea"/>
                        </a:rPr>
                        <a:t>网络和非</a:t>
                      </a:r>
                      <a:r>
                        <a:rPr lang="en-US" altLang="zh-CN" sz="1300" kern="1200" dirty="0">
                          <a:latin typeface="+mn-lt"/>
                          <a:ea typeface="+mn-ea"/>
                        </a:rPr>
                        <a:t>SD-WAN</a:t>
                      </a:r>
                      <a:r>
                        <a:rPr lang="zh-CN" altLang="en-US" sz="1300" kern="1200" dirty="0">
                          <a:latin typeface="+mn-lt"/>
                          <a:ea typeface="+mn-ea"/>
                        </a:rPr>
                        <a:t>网络的中间网关设备。</a:t>
                      </a:r>
                      <a:endParaRPr lang="en-US" altLang="zh-CN" sz="1300" kern="1200" dirty="0">
                        <a:solidFill>
                          <a:schemeClr val="tx1"/>
                        </a:solidFill>
                        <a:latin typeface="+mn-lt"/>
                        <a:ea typeface="+mn-ea"/>
                        <a:cs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60" name="组合 50">
            <a:extLst>
              <a:ext uri="{FF2B5EF4-FFF2-40B4-BE49-F238E27FC236}">
                <a16:creationId xmlns:a16="http://schemas.microsoft.com/office/drawing/2014/main" id="{ECEC8185-D779-4CA4-AA9A-8BF2237F6FB6}"/>
              </a:ext>
            </a:extLst>
          </p:cNvPr>
          <p:cNvGrpSpPr>
            <a:grpSpLocks noChangeAspect="1"/>
          </p:cNvGrpSpPr>
          <p:nvPr/>
        </p:nvGrpSpPr>
        <p:grpSpPr bwMode="gray">
          <a:xfrm>
            <a:off x="3577837" y="1069405"/>
            <a:ext cx="731004" cy="475204"/>
            <a:chOff x="4137025" y="950913"/>
            <a:chExt cx="1982788" cy="1244599"/>
          </a:xfrm>
        </p:grpSpPr>
        <p:sp>
          <p:nvSpPr>
            <p:cNvPr id="63" name="Freeform 9">
              <a:extLst>
                <a:ext uri="{FF2B5EF4-FFF2-40B4-BE49-F238E27FC236}">
                  <a16:creationId xmlns:a16="http://schemas.microsoft.com/office/drawing/2014/main" id="{8751C36B-C5ED-46B4-B9A4-C0F7FB71E649}"/>
                </a:ext>
              </a:extLst>
            </p:cNvPr>
            <p:cNvSpPr>
              <a:spLocks/>
            </p:cNvSpPr>
            <p:nvPr/>
          </p:nvSpPr>
          <p:spPr bwMode="gray">
            <a:xfrm>
              <a:off x="4137025" y="950913"/>
              <a:ext cx="1982788" cy="1203325"/>
            </a:xfrm>
            <a:custGeom>
              <a:avLst/>
              <a:gdLst>
                <a:gd name="T0" fmla="*/ 1688762 w 526"/>
                <a:gd name="T1" fmla="*/ 1203325 h 320"/>
                <a:gd name="T2" fmla="*/ 1568137 w 526"/>
                <a:gd name="T3" fmla="*/ 1203325 h 320"/>
                <a:gd name="T4" fmla="*/ 1568137 w 526"/>
                <a:gd name="T5" fmla="*/ 1128117 h 320"/>
                <a:gd name="T6" fmla="*/ 1688762 w 526"/>
                <a:gd name="T7" fmla="*/ 1128117 h 320"/>
                <a:gd name="T8" fmla="*/ 1756614 w 526"/>
                <a:gd name="T9" fmla="*/ 1109315 h 320"/>
                <a:gd name="T10" fmla="*/ 1907397 w 526"/>
                <a:gd name="T11" fmla="*/ 800963 h 320"/>
                <a:gd name="T12" fmla="*/ 1522902 w 526"/>
                <a:gd name="T13" fmla="*/ 413643 h 320"/>
                <a:gd name="T14" fmla="*/ 1488976 w 526"/>
                <a:gd name="T15" fmla="*/ 394841 h 320"/>
                <a:gd name="T16" fmla="*/ 946159 w 526"/>
                <a:gd name="T17" fmla="*/ 75208 h 320"/>
                <a:gd name="T18" fmla="*/ 346799 w 526"/>
                <a:gd name="T19" fmla="*/ 541496 h 320"/>
                <a:gd name="T20" fmla="*/ 316643 w 526"/>
                <a:gd name="T21" fmla="*/ 567819 h 320"/>
                <a:gd name="T22" fmla="*/ 75391 w 526"/>
                <a:gd name="T23" fmla="*/ 846088 h 320"/>
                <a:gd name="T24" fmla="*/ 358108 w 526"/>
                <a:gd name="T25" fmla="*/ 1128117 h 320"/>
                <a:gd name="T26" fmla="*/ 1338193 w 526"/>
                <a:gd name="T27" fmla="*/ 1128117 h 320"/>
                <a:gd name="T28" fmla="*/ 1338193 w 526"/>
                <a:gd name="T29" fmla="*/ 1203325 h 320"/>
                <a:gd name="T30" fmla="*/ 358108 w 526"/>
                <a:gd name="T31" fmla="*/ 1203325 h 320"/>
                <a:gd name="T32" fmla="*/ 0 w 526"/>
                <a:gd name="T33" fmla="*/ 846088 h 320"/>
                <a:gd name="T34" fmla="*/ 278947 w 526"/>
                <a:gd name="T35" fmla="*/ 496372 h 320"/>
                <a:gd name="T36" fmla="*/ 946159 w 526"/>
                <a:gd name="T37" fmla="*/ 0 h 320"/>
                <a:gd name="T38" fmla="*/ 1545519 w 526"/>
                <a:gd name="T39" fmla="*/ 338435 h 320"/>
                <a:gd name="T40" fmla="*/ 1982788 w 526"/>
                <a:gd name="T41" fmla="*/ 800963 h 320"/>
                <a:gd name="T42" fmla="*/ 1805619 w 526"/>
                <a:gd name="T43" fmla="*/ 1165721 h 320"/>
                <a:gd name="T44" fmla="*/ 1688762 w 526"/>
                <a:gd name="T45" fmla="*/ 1203325 h 3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26" h="320">
                  <a:moveTo>
                    <a:pt x="448" y="320"/>
                  </a:moveTo>
                  <a:cubicBezTo>
                    <a:pt x="416" y="320"/>
                    <a:pt x="416" y="320"/>
                    <a:pt x="416" y="320"/>
                  </a:cubicBezTo>
                  <a:cubicBezTo>
                    <a:pt x="416" y="300"/>
                    <a:pt x="416" y="300"/>
                    <a:pt x="416" y="300"/>
                  </a:cubicBezTo>
                  <a:cubicBezTo>
                    <a:pt x="448" y="300"/>
                    <a:pt x="448" y="300"/>
                    <a:pt x="448" y="300"/>
                  </a:cubicBezTo>
                  <a:cubicBezTo>
                    <a:pt x="456" y="300"/>
                    <a:pt x="462" y="298"/>
                    <a:pt x="466" y="295"/>
                  </a:cubicBezTo>
                  <a:cubicBezTo>
                    <a:pt x="492" y="274"/>
                    <a:pt x="506" y="244"/>
                    <a:pt x="506" y="213"/>
                  </a:cubicBezTo>
                  <a:cubicBezTo>
                    <a:pt x="506" y="157"/>
                    <a:pt x="460" y="111"/>
                    <a:pt x="404" y="110"/>
                  </a:cubicBezTo>
                  <a:cubicBezTo>
                    <a:pt x="400" y="110"/>
                    <a:pt x="397" y="108"/>
                    <a:pt x="395" y="105"/>
                  </a:cubicBezTo>
                  <a:cubicBezTo>
                    <a:pt x="366" y="53"/>
                    <a:pt x="311" y="20"/>
                    <a:pt x="251" y="20"/>
                  </a:cubicBezTo>
                  <a:cubicBezTo>
                    <a:pt x="176" y="20"/>
                    <a:pt x="111" y="71"/>
                    <a:pt x="92" y="144"/>
                  </a:cubicBezTo>
                  <a:cubicBezTo>
                    <a:pt x="91" y="148"/>
                    <a:pt x="88" y="150"/>
                    <a:pt x="84" y="151"/>
                  </a:cubicBezTo>
                  <a:cubicBezTo>
                    <a:pt x="47" y="156"/>
                    <a:pt x="20" y="188"/>
                    <a:pt x="20" y="225"/>
                  </a:cubicBezTo>
                  <a:cubicBezTo>
                    <a:pt x="20" y="266"/>
                    <a:pt x="53" y="300"/>
                    <a:pt x="95" y="300"/>
                  </a:cubicBezTo>
                  <a:cubicBezTo>
                    <a:pt x="355" y="300"/>
                    <a:pt x="355" y="300"/>
                    <a:pt x="355" y="300"/>
                  </a:cubicBezTo>
                  <a:cubicBezTo>
                    <a:pt x="355" y="320"/>
                    <a:pt x="355" y="320"/>
                    <a:pt x="355" y="320"/>
                  </a:cubicBezTo>
                  <a:cubicBezTo>
                    <a:pt x="95" y="320"/>
                    <a:pt x="95" y="320"/>
                    <a:pt x="95" y="320"/>
                  </a:cubicBezTo>
                  <a:cubicBezTo>
                    <a:pt x="42" y="320"/>
                    <a:pt x="0" y="277"/>
                    <a:pt x="0" y="225"/>
                  </a:cubicBezTo>
                  <a:cubicBezTo>
                    <a:pt x="0" y="181"/>
                    <a:pt x="31" y="142"/>
                    <a:pt x="74" y="132"/>
                  </a:cubicBezTo>
                  <a:cubicBezTo>
                    <a:pt x="97" y="54"/>
                    <a:pt x="169" y="0"/>
                    <a:pt x="251" y="0"/>
                  </a:cubicBezTo>
                  <a:cubicBezTo>
                    <a:pt x="316" y="0"/>
                    <a:pt x="377" y="35"/>
                    <a:pt x="410" y="90"/>
                  </a:cubicBezTo>
                  <a:cubicBezTo>
                    <a:pt x="475" y="94"/>
                    <a:pt x="526" y="148"/>
                    <a:pt x="526" y="213"/>
                  </a:cubicBezTo>
                  <a:cubicBezTo>
                    <a:pt x="526" y="250"/>
                    <a:pt x="509" y="286"/>
                    <a:pt x="479" y="310"/>
                  </a:cubicBezTo>
                  <a:cubicBezTo>
                    <a:pt x="471" y="317"/>
                    <a:pt x="460" y="320"/>
                    <a:pt x="448" y="320"/>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64" name="Oval 10">
              <a:extLst>
                <a:ext uri="{FF2B5EF4-FFF2-40B4-BE49-F238E27FC236}">
                  <a16:creationId xmlns:a16="http://schemas.microsoft.com/office/drawing/2014/main" id="{70B27DAE-096F-4B50-8D01-8B8EAAF138E4}"/>
                </a:ext>
              </a:extLst>
            </p:cNvPr>
            <p:cNvSpPr>
              <a:spLocks noChangeArrowheads="1"/>
            </p:cNvSpPr>
            <p:nvPr/>
          </p:nvSpPr>
          <p:spPr bwMode="gray">
            <a:xfrm>
              <a:off x="5422900" y="2038350"/>
              <a:ext cx="153988" cy="157162"/>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70" name="Oval 11">
              <a:extLst>
                <a:ext uri="{FF2B5EF4-FFF2-40B4-BE49-F238E27FC236}">
                  <a16:creationId xmlns:a16="http://schemas.microsoft.com/office/drawing/2014/main" id="{663A4BDB-EF2A-4D26-929A-73B9D2DA7911}"/>
                </a:ext>
              </a:extLst>
            </p:cNvPr>
            <p:cNvSpPr>
              <a:spLocks noChangeArrowheads="1"/>
            </p:cNvSpPr>
            <p:nvPr/>
          </p:nvSpPr>
          <p:spPr bwMode="gray">
            <a:xfrm>
              <a:off x="5664200" y="2038350"/>
              <a:ext cx="153988" cy="157162"/>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71" name="Freeform 12">
              <a:extLst>
                <a:ext uri="{FF2B5EF4-FFF2-40B4-BE49-F238E27FC236}">
                  <a16:creationId xmlns:a16="http://schemas.microsoft.com/office/drawing/2014/main" id="{B429255A-B6D6-4FD5-8EEF-9C453776257D}"/>
                </a:ext>
              </a:extLst>
            </p:cNvPr>
            <p:cNvSpPr>
              <a:spLocks/>
            </p:cNvSpPr>
            <p:nvPr/>
          </p:nvSpPr>
          <p:spPr bwMode="gray">
            <a:xfrm>
              <a:off x="5102225" y="1211263"/>
              <a:ext cx="406400" cy="750887"/>
            </a:xfrm>
            <a:custGeom>
              <a:avLst/>
              <a:gdLst>
                <a:gd name="T0" fmla="*/ 316089 w 108"/>
                <a:gd name="T1" fmla="*/ 289091 h 200"/>
                <a:gd name="T2" fmla="*/ 312326 w 108"/>
                <a:gd name="T3" fmla="*/ 285337 h 200"/>
                <a:gd name="T4" fmla="*/ 289748 w 108"/>
                <a:gd name="T5" fmla="*/ 236529 h 200"/>
                <a:gd name="T6" fmla="*/ 316089 w 108"/>
                <a:gd name="T7" fmla="*/ 206494 h 200"/>
                <a:gd name="T8" fmla="*/ 316089 w 108"/>
                <a:gd name="T9" fmla="*/ 127651 h 200"/>
                <a:gd name="T10" fmla="*/ 237067 w 108"/>
                <a:gd name="T11" fmla="*/ 71334 h 200"/>
                <a:gd name="T12" fmla="*/ 173096 w 108"/>
                <a:gd name="T13" fmla="*/ 112633 h 200"/>
                <a:gd name="T14" fmla="*/ 169333 w 108"/>
                <a:gd name="T15" fmla="*/ 112633 h 200"/>
                <a:gd name="T16" fmla="*/ 120415 w 108"/>
                <a:gd name="T17" fmla="*/ 93861 h 200"/>
                <a:gd name="T18" fmla="*/ 112889 w 108"/>
                <a:gd name="T19" fmla="*/ 86352 h 200"/>
                <a:gd name="T20" fmla="*/ 56444 w 108"/>
                <a:gd name="T21" fmla="*/ 0 h 200"/>
                <a:gd name="T22" fmla="*/ 0 w 108"/>
                <a:gd name="T23" fmla="*/ 30035 h 200"/>
                <a:gd name="T24" fmla="*/ 52681 w 108"/>
                <a:gd name="T25" fmla="*/ 60071 h 200"/>
                <a:gd name="T26" fmla="*/ 97837 w 108"/>
                <a:gd name="T27" fmla="*/ 150177 h 200"/>
                <a:gd name="T28" fmla="*/ 169333 w 108"/>
                <a:gd name="T29" fmla="*/ 172704 h 200"/>
                <a:gd name="T30" fmla="*/ 237067 w 108"/>
                <a:gd name="T31" fmla="*/ 135160 h 200"/>
                <a:gd name="T32" fmla="*/ 248356 w 108"/>
                <a:gd name="T33" fmla="*/ 187722 h 200"/>
                <a:gd name="T34" fmla="*/ 252119 w 108"/>
                <a:gd name="T35" fmla="*/ 304109 h 200"/>
                <a:gd name="T36" fmla="*/ 346193 w 108"/>
                <a:gd name="T37" fmla="*/ 352917 h 200"/>
                <a:gd name="T38" fmla="*/ 316089 w 108"/>
                <a:gd name="T39" fmla="*/ 397970 h 200"/>
                <a:gd name="T40" fmla="*/ 237067 w 108"/>
                <a:gd name="T41" fmla="*/ 484322 h 200"/>
                <a:gd name="T42" fmla="*/ 267170 w 108"/>
                <a:gd name="T43" fmla="*/ 578183 h 200"/>
                <a:gd name="T44" fmla="*/ 218252 w 108"/>
                <a:gd name="T45" fmla="*/ 593201 h 200"/>
                <a:gd name="T46" fmla="*/ 139230 w 108"/>
                <a:gd name="T47" fmla="*/ 578183 h 200"/>
                <a:gd name="T48" fmla="*/ 52681 w 108"/>
                <a:gd name="T49" fmla="*/ 660781 h 200"/>
                <a:gd name="T50" fmla="*/ 30104 w 108"/>
                <a:gd name="T51" fmla="*/ 687062 h 200"/>
                <a:gd name="T52" fmla="*/ 30104 w 108"/>
                <a:gd name="T53" fmla="*/ 750887 h 200"/>
                <a:gd name="T54" fmla="*/ 112889 w 108"/>
                <a:gd name="T55" fmla="*/ 690816 h 200"/>
                <a:gd name="T56" fmla="*/ 116652 w 108"/>
                <a:gd name="T57" fmla="*/ 657026 h 200"/>
                <a:gd name="T58" fmla="*/ 165570 w 108"/>
                <a:gd name="T59" fmla="*/ 634500 h 200"/>
                <a:gd name="T60" fmla="*/ 169333 w 108"/>
                <a:gd name="T61" fmla="*/ 634500 h 200"/>
                <a:gd name="T62" fmla="*/ 195674 w 108"/>
                <a:gd name="T63" fmla="*/ 657026 h 200"/>
                <a:gd name="T64" fmla="*/ 278459 w 108"/>
                <a:gd name="T65" fmla="*/ 657026 h 200"/>
                <a:gd name="T66" fmla="*/ 331141 w 108"/>
                <a:gd name="T67" fmla="*/ 578183 h 200"/>
                <a:gd name="T68" fmla="*/ 293511 w 108"/>
                <a:gd name="T69" fmla="*/ 518112 h 200"/>
                <a:gd name="T70" fmla="*/ 293511 w 108"/>
                <a:gd name="T71" fmla="*/ 506849 h 200"/>
                <a:gd name="T72" fmla="*/ 312326 w 108"/>
                <a:gd name="T73" fmla="*/ 461796 h 200"/>
                <a:gd name="T74" fmla="*/ 349956 w 108"/>
                <a:gd name="T75" fmla="*/ 458041 h 200"/>
                <a:gd name="T76" fmla="*/ 406400 w 108"/>
                <a:gd name="T77" fmla="*/ 345408 h 2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8" h="200">
                  <a:moveTo>
                    <a:pt x="93" y="77"/>
                  </a:moveTo>
                  <a:cubicBezTo>
                    <a:pt x="84" y="77"/>
                    <a:pt x="84" y="77"/>
                    <a:pt x="84" y="77"/>
                  </a:cubicBezTo>
                  <a:cubicBezTo>
                    <a:pt x="84" y="77"/>
                    <a:pt x="83" y="77"/>
                    <a:pt x="83" y="76"/>
                  </a:cubicBezTo>
                  <a:cubicBezTo>
                    <a:pt x="83" y="76"/>
                    <a:pt x="83" y="76"/>
                    <a:pt x="83" y="76"/>
                  </a:cubicBezTo>
                  <a:cubicBezTo>
                    <a:pt x="78" y="64"/>
                    <a:pt x="78" y="64"/>
                    <a:pt x="78" y="64"/>
                  </a:cubicBezTo>
                  <a:cubicBezTo>
                    <a:pt x="78" y="63"/>
                    <a:pt x="78" y="63"/>
                    <a:pt x="77" y="63"/>
                  </a:cubicBezTo>
                  <a:cubicBezTo>
                    <a:pt x="77" y="63"/>
                    <a:pt x="77" y="62"/>
                    <a:pt x="78" y="61"/>
                  </a:cubicBezTo>
                  <a:cubicBezTo>
                    <a:pt x="84" y="55"/>
                    <a:pt x="84" y="55"/>
                    <a:pt x="84" y="55"/>
                  </a:cubicBezTo>
                  <a:cubicBezTo>
                    <a:pt x="87" y="53"/>
                    <a:pt x="88" y="49"/>
                    <a:pt x="88" y="45"/>
                  </a:cubicBezTo>
                  <a:cubicBezTo>
                    <a:pt x="88" y="41"/>
                    <a:pt x="87" y="37"/>
                    <a:pt x="84" y="34"/>
                  </a:cubicBezTo>
                  <a:cubicBezTo>
                    <a:pt x="74" y="24"/>
                    <a:pt x="74" y="24"/>
                    <a:pt x="74" y="24"/>
                  </a:cubicBezTo>
                  <a:cubicBezTo>
                    <a:pt x="71" y="21"/>
                    <a:pt x="67" y="19"/>
                    <a:pt x="63" y="19"/>
                  </a:cubicBezTo>
                  <a:cubicBezTo>
                    <a:pt x="59" y="19"/>
                    <a:pt x="55" y="21"/>
                    <a:pt x="52" y="24"/>
                  </a:cubicBezTo>
                  <a:cubicBezTo>
                    <a:pt x="46" y="30"/>
                    <a:pt x="46" y="30"/>
                    <a:pt x="46" y="30"/>
                  </a:cubicBezTo>
                  <a:cubicBezTo>
                    <a:pt x="46" y="30"/>
                    <a:pt x="46" y="30"/>
                    <a:pt x="45" y="30"/>
                  </a:cubicBezTo>
                  <a:cubicBezTo>
                    <a:pt x="45" y="30"/>
                    <a:pt x="45" y="30"/>
                    <a:pt x="45" y="30"/>
                  </a:cubicBezTo>
                  <a:cubicBezTo>
                    <a:pt x="44" y="30"/>
                    <a:pt x="44" y="30"/>
                    <a:pt x="44" y="30"/>
                  </a:cubicBezTo>
                  <a:cubicBezTo>
                    <a:pt x="32" y="25"/>
                    <a:pt x="32" y="25"/>
                    <a:pt x="32" y="25"/>
                  </a:cubicBezTo>
                  <a:cubicBezTo>
                    <a:pt x="32" y="25"/>
                    <a:pt x="32" y="25"/>
                    <a:pt x="31" y="25"/>
                  </a:cubicBezTo>
                  <a:cubicBezTo>
                    <a:pt x="31" y="24"/>
                    <a:pt x="30" y="24"/>
                    <a:pt x="30" y="23"/>
                  </a:cubicBezTo>
                  <a:cubicBezTo>
                    <a:pt x="30" y="15"/>
                    <a:pt x="30" y="15"/>
                    <a:pt x="30" y="15"/>
                  </a:cubicBezTo>
                  <a:cubicBezTo>
                    <a:pt x="30" y="6"/>
                    <a:pt x="23" y="0"/>
                    <a:pt x="15" y="0"/>
                  </a:cubicBezTo>
                  <a:cubicBezTo>
                    <a:pt x="8" y="0"/>
                    <a:pt x="8" y="0"/>
                    <a:pt x="8" y="0"/>
                  </a:cubicBezTo>
                  <a:cubicBezTo>
                    <a:pt x="3" y="0"/>
                    <a:pt x="0" y="3"/>
                    <a:pt x="0" y="8"/>
                  </a:cubicBezTo>
                  <a:cubicBezTo>
                    <a:pt x="0" y="12"/>
                    <a:pt x="3" y="16"/>
                    <a:pt x="8" y="16"/>
                  </a:cubicBezTo>
                  <a:cubicBezTo>
                    <a:pt x="14" y="16"/>
                    <a:pt x="14" y="16"/>
                    <a:pt x="14" y="16"/>
                  </a:cubicBezTo>
                  <a:cubicBezTo>
                    <a:pt x="14" y="23"/>
                    <a:pt x="14" y="23"/>
                    <a:pt x="14" y="23"/>
                  </a:cubicBezTo>
                  <a:cubicBezTo>
                    <a:pt x="14" y="31"/>
                    <a:pt x="19" y="38"/>
                    <a:pt x="26" y="40"/>
                  </a:cubicBezTo>
                  <a:cubicBezTo>
                    <a:pt x="37" y="45"/>
                    <a:pt x="37" y="45"/>
                    <a:pt x="37" y="45"/>
                  </a:cubicBezTo>
                  <a:cubicBezTo>
                    <a:pt x="39" y="46"/>
                    <a:pt x="42" y="46"/>
                    <a:pt x="45" y="46"/>
                  </a:cubicBezTo>
                  <a:cubicBezTo>
                    <a:pt x="50" y="46"/>
                    <a:pt x="54" y="45"/>
                    <a:pt x="58" y="41"/>
                  </a:cubicBezTo>
                  <a:cubicBezTo>
                    <a:pt x="63" y="36"/>
                    <a:pt x="63" y="36"/>
                    <a:pt x="63" y="36"/>
                  </a:cubicBezTo>
                  <a:cubicBezTo>
                    <a:pt x="71" y="45"/>
                    <a:pt x="71" y="45"/>
                    <a:pt x="71" y="45"/>
                  </a:cubicBezTo>
                  <a:cubicBezTo>
                    <a:pt x="66" y="50"/>
                    <a:pt x="66" y="50"/>
                    <a:pt x="66" y="50"/>
                  </a:cubicBezTo>
                  <a:cubicBezTo>
                    <a:pt x="61" y="55"/>
                    <a:pt x="60" y="64"/>
                    <a:pt x="63" y="70"/>
                  </a:cubicBezTo>
                  <a:cubicBezTo>
                    <a:pt x="67" y="81"/>
                    <a:pt x="67" y="81"/>
                    <a:pt x="67" y="81"/>
                  </a:cubicBezTo>
                  <a:cubicBezTo>
                    <a:pt x="70" y="88"/>
                    <a:pt x="77" y="94"/>
                    <a:pt x="84" y="94"/>
                  </a:cubicBezTo>
                  <a:cubicBezTo>
                    <a:pt x="92" y="94"/>
                    <a:pt x="92" y="94"/>
                    <a:pt x="92" y="94"/>
                  </a:cubicBezTo>
                  <a:cubicBezTo>
                    <a:pt x="92" y="106"/>
                    <a:pt x="92" y="106"/>
                    <a:pt x="92" y="106"/>
                  </a:cubicBezTo>
                  <a:cubicBezTo>
                    <a:pt x="84" y="106"/>
                    <a:pt x="84" y="106"/>
                    <a:pt x="84" y="106"/>
                  </a:cubicBezTo>
                  <a:cubicBezTo>
                    <a:pt x="77" y="106"/>
                    <a:pt x="70" y="111"/>
                    <a:pt x="67" y="118"/>
                  </a:cubicBezTo>
                  <a:cubicBezTo>
                    <a:pt x="63" y="129"/>
                    <a:pt x="63" y="129"/>
                    <a:pt x="63" y="129"/>
                  </a:cubicBezTo>
                  <a:cubicBezTo>
                    <a:pt x="60" y="135"/>
                    <a:pt x="61" y="144"/>
                    <a:pt x="66" y="149"/>
                  </a:cubicBezTo>
                  <a:cubicBezTo>
                    <a:pt x="71" y="154"/>
                    <a:pt x="71" y="154"/>
                    <a:pt x="71" y="154"/>
                  </a:cubicBezTo>
                  <a:cubicBezTo>
                    <a:pt x="63" y="163"/>
                    <a:pt x="63" y="163"/>
                    <a:pt x="63" y="163"/>
                  </a:cubicBezTo>
                  <a:cubicBezTo>
                    <a:pt x="58" y="158"/>
                    <a:pt x="58" y="158"/>
                    <a:pt x="58" y="158"/>
                  </a:cubicBezTo>
                  <a:cubicBezTo>
                    <a:pt x="54" y="155"/>
                    <a:pt x="50" y="153"/>
                    <a:pt x="45" y="153"/>
                  </a:cubicBezTo>
                  <a:cubicBezTo>
                    <a:pt x="42" y="153"/>
                    <a:pt x="39" y="153"/>
                    <a:pt x="37" y="154"/>
                  </a:cubicBezTo>
                  <a:cubicBezTo>
                    <a:pt x="26" y="159"/>
                    <a:pt x="26" y="159"/>
                    <a:pt x="26" y="159"/>
                  </a:cubicBezTo>
                  <a:cubicBezTo>
                    <a:pt x="19" y="161"/>
                    <a:pt x="14" y="169"/>
                    <a:pt x="14" y="176"/>
                  </a:cubicBezTo>
                  <a:cubicBezTo>
                    <a:pt x="14" y="183"/>
                    <a:pt x="14" y="183"/>
                    <a:pt x="14" y="183"/>
                  </a:cubicBezTo>
                  <a:cubicBezTo>
                    <a:pt x="8" y="183"/>
                    <a:pt x="8" y="183"/>
                    <a:pt x="8" y="183"/>
                  </a:cubicBezTo>
                  <a:cubicBezTo>
                    <a:pt x="3" y="183"/>
                    <a:pt x="0" y="187"/>
                    <a:pt x="0" y="191"/>
                  </a:cubicBezTo>
                  <a:cubicBezTo>
                    <a:pt x="0" y="196"/>
                    <a:pt x="3" y="200"/>
                    <a:pt x="8" y="200"/>
                  </a:cubicBezTo>
                  <a:cubicBezTo>
                    <a:pt x="15" y="200"/>
                    <a:pt x="15" y="200"/>
                    <a:pt x="15" y="200"/>
                  </a:cubicBezTo>
                  <a:cubicBezTo>
                    <a:pt x="23" y="200"/>
                    <a:pt x="30" y="193"/>
                    <a:pt x="30" y="184"/>
                  </a:cubicBezTo>
                  <a:cubicBezTo>
                    <a:pt x="30" y="176"/>
                    <a:pt x="30" y="176"/>
                    <a:pt x="30" y="176"/>
                  </a:cubicBezTo>
                  <a:cubicBezTo>
                    <a:pt x="30" y="175"/>
                    <a:pt x="31" y="175"/>
                    <a:pt x="31" y="175"/>
                  </a:cubicBezTo>
                  <a:cubicBezTo>
                    <a:pt x="31" y="174"/>
                    <a:pt x="32" y="174"/>
                    <a:pt x="32" y="174"/>
                  </a:cubicBezTo>
                  <a:cubicBezTo>
                    <a:pt x="44" y="169"/>
                    <a:pt x="44" y="169"/>
                    <a:pt x="44" y="169"/>
                  </a:cubicBezTo>
                  <a:cubicBezTo>
                    <a:pt x="44" y="169"/>
                    <a:pt x="44" y="169"/>
                    <a:pt x="45" y="169"/>
                  </a:cubicBezTo>
                  <a:cubicBezTo>
                    <a:pt x="45" y="169"/>
                    <a:pt x="45" y="169"/>
                    <a:pt x="45" y="169"/>
                  </a:cubicBezTo>
                  <a:cubicBezTo>
                    <a:pt x="46" y="169"/>
                    <a:pt x="46" y="169"/>
                    <a:pt x="46" y="169"/>
                  </a:cubicBezTo>
                  <a:cubicBezTo>
                    <a:pt x="52" y="175"/>
                    <a:pt x="52" y="175"/>
                    <a:pt x="52" y="175"/>
                  </a:cubicBezTo>
                  <a:cubicBezTo>
                    <a:pt x="55" y="178"/>
                    <a:pt x="59" y="180"/>
                    <a:pt x="63" y="180"/>
                  </a:cubicBezTo>
                  <a:cubicBezTo>
                    <a:pt x="67" y="180"/>
                    <a:pt x="71" y="178"/>
                    <a:pt x="74" y="175"/>
                  </a:cubicBezTo>
                  <a:cubicBezTo>
                    <a:pt x="84" y="165"/>
                    <a:pt x="84" y="165"/>
                    <a:pt x="84" y="165"/>
                  </a:cubicBezTo>
                  <a:cubicBezTo>
                    <a:pt x="87" y="162"/>
                    <a:pt x="88" y="159"/>
                    <a:pt x="88" y="154"/>
                  </a:cubicBezTo>
                  <a:cubicBezTo>
                    <a:pt x="88" y="150"/>
                    <a:pt x="87" y="147"/>
                    <a:pt x="84" y="144"/>
                  </a:cubicBezTo>
                  <a:cubicBezTo>
                    <a:pt x="78" y="138"/>
                    <a:pt x="78" y="138"/>
                    <a:pt x="78" y="138"/>
                  </a:cubicBezTo>
                  <a:cubicBezTo>
                    <a:pt x="77" y="137"/>
                    <a:pt x="77" y="136"/>
                    <a:pt x="77" y="136"/>
                  </a:cubicBezTo>
                  <a:cubicBezTo>
                    <a:pt x="78" y="136"/>
                    <a:pt x="78" y="136"/>
                    <a:pt x="78" y="135"/>
                  </a:cubicBezTo>
                  <a:cubicBezTo>
                    <a:pt x="83" y="124"/>
                    <a:pt x="83" y="124"/>
                    <a:pt x="83" y="124"/>
                  </a:cubicBezTo>
                  <a:cubicBezTo>
                    <a:pt x="83" y="123"/>
                    <a:pt x="83" y="123"/>
                    <a:pt x="83" y="123"/>
                  </a:cubicBezTo>
                  <a:cubicBezTo>
                    <a:pt x="83" y="123"/>
                    <a:pt x="84" y="122"/>
                    <a:pt x="84" y="122"/>
                  </a:cubicBezTo>
                  <a:cubicBezTo>
                    <a:pt x="93" y="122"/>
                    <a:pt x="93" y="122"/>
                    <a:pt x="93" y="122"/>
                  </a:cubicBezTo>
                  <a:cubicBezTo>
                    <a:pt x="101" y="122"/>
                    <a:pt x="108" y="115"/>
                    <a:pt x="108" y="107"/>
                  </a:cubicBezTo>
                  <a:cubicBezTo>
                    <a:pt x="108" y="92"/>
                    <a:pt x="108" y="92"/>
                    <a:pt x="108" y="92"/>
                  </a:cubicBezTo>
                  <a:cubicBezTo>
                    <a:pt x="108" y="84"/>
                    <a:pt x="101" y="77"/>
                    <a:pt x="93" y="77"/>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85" name="Freeform 13">
              <a:extLst>
                <a:ext uri="{FF2B5EF4-FFF2-40B4-BE49-F238E27FC236}">
                  <a16:creationId xmlns:a16="http://schemas.microsoft.com/office/drawing/2014/main" id="{582AE119-7621-42E1-9540-F527D3D6CD4F}"/>
                </a:ext>
              </a:extLst>
            </p:cNvPr>
            <p:cNvSpPr>
              <a:spLocks/>
            </p:cNvSpPr>
            <p:nvPr/>
          </p:nvSpPr>
          <p:spPr bwMode="gray">
            <a:xfrm>
              <a:off x="5102225" y="1420813"/>
              <a:ext cx="192088" cy="327025"/>
            </a:xfrm>
            <a:custGeom>
              <a:avLst/>
              <a:gdLst>
                <a:gd name="T0" fmla="*/ 30131 w 51"/>
                <a:gd name="T1" fmla="*/ 266882 h 87"/>
                <a:gd name="T2" fmla="*/ 0 w 51"/>
                <a:gd name="T3" fmla="*/ 296954 h 87"/>
                <a:gd name="T4" fmla="*/ 30131 w 51"/>
                <a:gd name="T5" fmla="*/ 327025 h 87"/>
                <a:gd name="T6" fmla="*/ 192088 w 51"/>
                <a:gd name="T7" fmla="*/ 165392 h 87"/>
                <a:gd name="T8" fmla="*/ 30131 w 51"/>
                <a:gd name="T9" fmla="*/ 0 h 87"/>
                <a:gd name="T10" fmla="*/ 0 w 51"/>
                <a:gd name="T11" fmla="*/ 30071 h 87"/>
                <a:gd name="T12" fmla="*/ 30131 w 51"/>
                <a:gd name="T13" fmla="*/ 60143 h 87"/>
                <a:gd name="T14" fmla="*/ 131825 w 51"/>
                <a:gd name="T15" fmla="*/ 165392 h 87"/>
                <a:gd name="T16" fmla="*/ 30131 w 51"/>
                <a:gd name="T17" fmla="*/ 266882 h 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 h="87">
                  <a:moveTo>
                    <a:pt x="8" y="71"/>
                  </a:moveTo>
                  <a:cubicBezTo>
                    <a:pt x="4" y="71"/>
                    <a:pt x="0" y="74"/>
                    <a:pt x="0" y="79"/>
                  </a:cubicBezTo>
                  <a:cubicBezTo>
                    <a:pt x="0" y="83"/>
                    <a:pt x="4" y="87"/>
                    <a:pt x="8" y="87"/>
                  </a:cubicBezTo>
                  <a:cubicBezTo>
                    <a:pt x="32" y="87"/>
                    <a:pt x="51" y="68"/>
                    <a:pt x="51" y="44"/>
                  </a:cubicBezTo>
                  <a:cubicBezTo>
                    <a:pt x="51" y="20"/>
                    <a:pt x="32" y="0"/>
                    <a:pt x="8" y="0"/>
                  </a:cubicBezTo>
                  <a:cubicBezTo>
                    <a:pt x="4" y="0"/>
                    <a:pt x="0" y="4"/>
                    <a:pt x="0" y="8"/>
                  </a:cubicBezTo>
                  <a:cubicBezTo>
                    <a:pt x="0" y="13"/>
                    <a:pt x="4" y="16"/>
                    <a:pt x="8" y="16"/>
                  </a:cubicBezTo>
                  <a:cubicBezTo>
                    <a:pt x="23" y="16"/>
                    <a:pt x="35" y="29"/>
                    <a:pt x="35" y="44"/>
                  </a:cubicBezTo>
                  <a:cubicBezTo>
                    <a:pt x="35" y="59"/>
                    <a:pt x="23" y="71"/>
                    <a:pt x="8" y="71"/>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00" name="Freeform 14">
              <a:extLst>
                <a:ext uri="{FF2B5EF4-FFF2-40B4-BE49-F238E27FC236}">
                  <a16:creationId xmlns:a16="http://schemas.microsoft.com/office/drawing/2014/main" id="{9EEC0C72-5169-4F1D-B6A6-2741F94A66E0}"/>
                </a:ext>
              </a:extLst>
            </p:cNvPr>
            <p:cNvSpPr>
              <a:spLocks noEditPoints="1"/>
            </p:cNvSpPr>
            <p:nvPr/>
          </p:nvSpPr>
          <p:spPr bwMode="gray">
            <a:xfrm>
              <a:off x="4656138" y="1211263"/>
              <a:ext cx="415925" cy="750887"/>
            </a:xfrm>
            <a:custGeom>
              <a:avLst/>
              <a:gdLst>
                <a:gd name="T0" fmla="*/ 317615 w 110"/>
                <a:gd name="T1" fmla="*/ 0 h 200"/>
                <a:gd name="T2" fmla="*/ 196619 w 110"/>
                <a:gd name="T3" fmla="*/ 75089 h 200"/>
                <a:gd name="T4" fmla="*/ 86966 w 110"/>
                <a:gd name="T5" fmla="*/ 221512 h 200"/>
                <a:gd name="T6" fmla="*/ 68060 w 110"/>
                <a:gd name="T7" fmla="*/ 458041 h 200"/>
                <a:gd name="T8" fmla="*/ 196619 w 110"/>
                <a:gd name="T9" fmla="*/ 679553 h 200"/>
                <a:gd name="T10" fmla="*/ 302491 w 110"/>
                <a:gd name="T11" fmla="*/ 750887 h 200"/>
                <a:gd name="T12" fmla="*/ 381895 w 110"/>
                <a:gd name="T13" fmla="*/ 717097 h 200"/>
                <a:gd name="T14" fmla="*/ 415925 w 110"/>
                <a:gd name="T15" fmla="*/ 638254 h 200"/>
                <a:gd name="T16" fmla="*/ 415925 w 110"/>
                <a:gd name="T17" fmla="*/ 93861 h 200"/>
                <a:gd name="T18" fmla="*/ 415925 w 110"/>
                <a:gd name="T19" fmla="*/ 93861 h 200"/>
                <a:gd name="T20" fmla="*/ 302491 w 110"/>
                <a:gd name="T21" fmla="*/ 322881 h 200"/>
                <a:gd name="T22" fmla="*/ 336521 w 110"/>
                <a:gd name="T23" fmla="*/ 529375 h 200"/>
                <a:gd name="T24" fmla="*/ 336521 w 110"/>
                <a:gd name="T25" fmla="*/ 529375 h 200"/>
                <a:gd name="T26" fmla="*/ 196619 w 110"/>
                <a:gd name="T27" fmla="*/ 300355 h 200"/>
                <a:gd name="T28" fmla="*/ 223087 w 110"/>
                <a:gd name="T29" fmla="*/ 274074 h 200"/>
                <a:gd name="T30" fmla="*/ 196619 w 110"/>
                <a:gd name="T31" fmla="*/ 247793 h 200"/>
                <a:gd name="T32" fmla="*/ 147464 w 110"/>
                <a:gd name="T33" fmla="*/ 221512 h 200"/>
                <a:gd name="T34" fmla="*/ 196619 w 110"/>
                <a:gd name="T35" fmla="*/ 127651 h 200"/>
                <a:gd name="T36" fmla="*/ 317615 w 110"/>
                <a:gd name="T37" fmla="*/ 191476 h 200"/>
                <a:gd name="T38" fmla="*/ 340302 w 110"/>
                <a:gd name="T39" fmla="*/ 183967 h 200"/>
                <a:gd name="T40" fmla="*/ 340302 w 110"/>
                <a:gd name="T41" fmla="*/ 146423 h 200"/>
                <a:gd name="T42" fmla="*/ 276023 w 110"/>
                <a:gd name="T43" fmla="*/ 93861 h 200"/>
                <a:gd name="T44" fmla="*/ 362989 w 110"/>
                <a:gd name="T45" fmla="*/ 93861 h 200"/>
                <a:gd name="T46" fmla="*/ 362989 w 110"/>
                <a:gd name="T47" fmla="*/ 232775 h 200"/>
                <a:gd name="T48" fmla="*/ 302491 w 110"/>
                <a:gd name="T49" fmla="*/ 277828 h 200"/>
                <a:gd name="T50" fmla="*/ 276023 w 110"/>
                <a:gd name="T51" fmla="*/ 304109 h 200"/>
                <a:gd name="T52" fmla="*/ 302491 w 110"/>
                <a:gd name="T53" fmla="*/ 330390 h 200"/>
                <a:gd name="T54" fmla="*/ 362989 w 110"/>
                <a:gd name="T55" fmla="*/ 319127 h 200"/>
                <a:gd name="T56" fmla="*/ 336521 w 110"/>
                <a:gd name="T57" fmla="*/ 488077 h 200"/>
                <a:gd name="T58" fmla="*/ 310053 w 110"/>
                <a:gd name="T59" fmla="*/ 514358 h 200"/>
                <a:gd name="T60" fmla="*/ 336521 w 110"/>
                <a:gd name="T61" fmla="*/ 540639 h 200"/>
                <a:gd name="T62" fmla="*/ 362989 w 110"/>
                <a:gd name="T63" fmla="*/ 536884 h 200"/>
                <a:gd name="T64" fmla="*/ 344083 w 110"/>
                <a:gd name="T65" fmla="*/ 679553 h 200"/>
                <a:gd name="T66" fmla="*/ 257117 w 110"/>
                <a:gd name="T67" fmla="*/ 679553 h 200"/>
                <a:gd name="T68" fmla="*/ 268461 w 110"/>
                <a:gd name="T69" fmla="*/ 574429 h 200"/>
                <a:gd name="T70" fmla="*/ 219306 w 110"/>
                <a:gd name="T71" fmla="*/ 555656 h 200"/>
                <a:gd name="T72" fmla="*/ 128559 w 110"/>
                <a:gd name="T73" fmla="*/ 596955 h 200"/>
                <a:gd name="T74" fmla="*/ 128559 w 110"/>
                <a:gd name="T75" fmla="*/ 461796 h 200"/>
                <a:gd name="T76" fmla="*/ 264680 w 110"/>
                <a:gd name="T77" fmla="*/ 461796 h 200"/>
                <a:gd name="T78" fmla="*/ 302491 w 110"/>
                <a:gd name="T79" fmla="*/ 461796 h 200"/>
                <a:gd name="T80" fmla="*/ 302491 w 110"/>
                <a:gd name="T81" fmla="*/ 424251 h 200"/>
                <a:gd name="T82" fmla="*/ 102091 w 110"/>
                <a:gd name="T83" fmla="*/ 416742 h 200"/>
                <a:gd name="T84" fmla="*/ 113434 w 110"/>
                <a:gd name="T85" fmla="*/ 266565 h 200"/>
                <a:gd name="T86" fmla="*/ 302491 w 110"/>
                <a:gd name="T87" fmla="*/ 739624 h 2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0" h="200">
                  <a:moveTo>
                    <a:pt x="110" y="25"/>
                  </a:moveTo>
                  <a:cubicBezTo>
                    <a:pt x="110" y="11"/>
                    <a:pt x="99" y="0"/>
                    <a:pt x="84" y="0"/>
                  </a:cubicBezTo>
                  <a:cubicBezTo>
                    <a:pt x="72" y="0"/>
                    <a:pt x="61" y="9"/>
                    <a:pt x="59" y="20"/>
                  </a:cubicBezTo>
                  <a:cubicBezTo>
                    <a:pt x="57" y="20"/>
                    <a:pt x="54" y="20"/>
                    <a:pt x="52" y="20"/>
                  </a:cubicBezTo>
                  <a:cubicBezTo>
                    <a:pt x="35" y="20"/>
                    <a:pt x="22" y="33"/>
                    <a:pt x="22" y="50"/>
                  </a:cubicBezTo>
                  <a:cubicBezTo>
                    <a:pt x="22" y="53"/>
                    <a:pt x="22" y="56"/>
                    <a:pt x="23" y="59"/>
                  </a:cubicBezTo>
                  <a:cubicBezTo>
                    <a:pt x="10" y="64"/>
                    <a:pt x="0" y="76"/>
                    <a:pt x="0" y="91"/>
                  </a:cubicBezTo>
                  <a:cubicBezTo>
                    <a:pt x="0" y="104"/>
                    <a:pt x="7" y="116"/>
                    <a:pt x="18" y="122"/>
                  </a:cubicBezTo>
                  <a:cubicBezTo>
                    <a:pt x="9" y="137"/>
                    <a:pt x="11" y="156"/>
                    <a:pt x="24" y="169"/>
                  </a:cubicBezTo>
                  <a:cubicBezTo>
                    <a:pt x="31" y="177"/>
                    <a:pt x="41" y="181"/>
                    <a:pt x="52" y="181"/>
                  </a:cubicBezTo>
                  <a:cubicBezTo>
                    <a:pt x="53" y="185"/>
                    <a:pt x="56" y="188"/>
                    <a:pt x="58" y="191"/>
                  </a:cubicBezTo>
                  <a:cubicBezTo>
                    <a:pt x="64" y="196"/>
                    <a:pt x="72" y="200"/>
                    <a:pt x="80" y="200"/>
                  </a:cubicBezTo>
                  <a:cubicBezTo>
                    <a:pt x="80" y="200"/>
                    <a:pt x="80" y="200"/>
                    <a:pt x="80" y="200"/>
                  </a:cubicBezTo>
                  <a:cubicBezTo>
                    <a:pt x="88" y="200"/>
                    <a:pt x="96" y="196"/>
                    <a:pt x="101" y="191"/>
                  </a:cubicBezTo>
                  <a:cubicBezTo>
                    <a:pt x="107" y="185"/>
                    <a:pt x="110" y="178"/>
                    <a:pt x="110" y="170"/>
                  </a:cubicBezTo>
                  <a:cubicBezTo>
                    <a:pt x="110" y="170"/>
                    <a:pt x="110" y="170"/>
                    <a:pt x="110" y="170"/>
                  </a:cubicBezTo>
                  <a:cubicBezTo>
                    <a:pt x="110" y="170"/>
                    <a:pt x="110" y="170"/>
                    <a:pt x="110" y="170"/>
                  </a:cubicBezTo>
                  <a:cubicBezTo>
                    <a:pt x="110" y="25"/>
                    <a:pt x="110" y="25"/>
                    <a:pt x="110" y="25"/>
                  </a:cubicBezTo>
                  <a:cubicBezTo>
                    <a:pt x="110" y="25"/>
                    <a:pt x="110" y="25"/>
                    <a:pt x="110" y="25"/>
                  </a:cubicBezTo>
                  <a:cubicBezTo>
                    <a:pt x="110" y="25"/>
                    <a:pt x="110" y="25"/>
                    <a:pt x="110" y="25"/>
                  </a:cubicBezTo>
                  <a:close/>
                  <a:moveTo>
                    <a:pt x="80" y="86"/>
                  </a:moveTo>
                  <a:cubicBezTo>
                    <a:pt x="80" y="86"/>
                    <a:pt x="80" y="86"/>
                    <a:pt x="80" y="86"/>
                  </a:cubicBezTo>
                  <a:cubicBezTo>
                    <a:pt x="80" y="86"/>
                    <a:pt x="80" y="86"/>
                    <a:pt x="80" y="86"/>
                  </a:cubicBezTo>
                  <a:close/>
                  <a:moveTo>
                    <a:pt x="89" y="141"/>
                  </a:moveTo>
                  <a:cubicBezTo>
                    <a:pt x="89" y="141"/>
                    <a:pt x="89" y="141"/>
                    <a:pt x="89" y="141"/>
                  </a:cubicBezTo>
                  <a:cubicBezTo>
                    <a:pt x="89" y="141"/>
                    <a:pt x="89" y="141"/>
                    <a:pt x="89" y="141"/>
                  </a:cubicBezTo>
                  <a:close/>
                  <a:moveTo>
                    <a:pt x="30" y="71"/>
                  </a:moveTo>
                  <a:cubicBezTo>
                    <a:pt x="36" y="77"/>
                    <a:pt x="43" y="80"/>
                    <a:pt x="52" y="80"/>
                  </a:cubicBezTo>
                  <a:cubicBezTo>
                    <a:pt x="54" y="80"/>
                    <a:pt x="56" y="80"/>
                    <a:pt x="57" y="78"/>
                  </a:cubicBezTo>
                  <a:cubicBezTo>
                    <a:pt x="58" y="77"/>
                    <a:pt x="59" y="75"/>
                    <a:pt x="59" y="73"/>
                  </a:cubicBezTo>
                  <a:cubicBezTo>
                    <a:pt x="59" y="71"/>
                    <a:pt x="58" y="69"/>
                    <a:pt x="57" y="68"/>
                  </a:cubicBezTo>
                  <a:cubicBezTo>
                    <a:pt x="56" y="67"/>
                    <a:pt x="54" y="66"/>
                    <a:pt x="52" y="66"/>
                  </a:cubicBezTo>
                  <a:cubicBezTo>
                    <a:pt x="48" y="66"/>
                    <a:pt x="44" y="64"/>
                    <a:pt x="41" y="62"/>
                  </a:cubicBezTo>
                  <a:cubicBezTo>
                    <a:pt x="40" y="61"/>
                    <a:pt x="40" y="60"/>
                    <a:pt x="39" y="59"/>
                  </a:cubicBezTo>
                  <a:cubicBezTo>
                    <a:pt x="37" y="57"/>
                    <a:pt x="36" y="53"/>
                    <a:pt x="36" y="50"/>
                  </a:cubicBezTo>
                  <a:cubicBezTo>
                    <a:pt x="36" y="41"/>
                    <a:pt x="43" y="34"/>
                    <a:pt x="52" y="34"/>
                  </a:cubicBezTo>
                  <a:cubicBezTo>
                    <a:pt x="55" y="34"/>
                    <a:pt x="59" y="35"/>
                    <a:pt x="62" y="37"/>
                  </a:cubicBezTo>
                  <a:cubicBezTo>
                    <a:pt x="66" y="45"/>
                    <a:pt x="75" y="51"/>
                    <a:pt x="84" y="51"/>
                  </a:cubicBezTo>
                  <a:cubicBezTo>
                    <a:pt x="84" y="51"/>
                    <a:pt x="84" y="51"/>
                    <a:pt x="84" y="51"/>
                  </a:cubicBezTo>
                  <a:cubicBezTo>
                    <a:pt x="86" y="51"/>
                    <a:pt x="88" y="50"/>
                    <a:pt x="90" y="49"/>
                  </a:cubicBezTo>
                  <a:cubicBezTo>
                    <a:pt x="91" y="48"/>
                    <a:pt x="92" y="46"/>
                    <a:pt x="92" y="44"/>
                  </a:cubicBezTo>
                  <a:cubicBezTo>
                    <a:pt x="92" y="42"/>
                    <a:pt x="91" y="40"/>
                    <a:pt x="90" y="39"/>
                  </a:cubicBezTo>
                  <a:cubicBezTo>
                    <a:pt x="88" y="37"/>
                    <a:pt x="86" y="37"/>
                    <a:pt x="84" y="37"/>
                  </a:cubicBezTo>
                  <a:cubicBezTo>
                    <a:pt x="78" y="37"/>
                    <a:pt x="73" y="32"/>
                    <a:pt x="73" y="25"/>
                  </a:cubicBezTo>
                  <a:cubicBezTo>
                    <a:pt x="73" y="19"/>
                    <a:pt x="78" y="14"/>
                    <a:pt x="84" y="14"/>
                  </a:cubicBezTo>
                  <a:cubicBezTo>
                    <a:pt x="91" y="14"/>
                    <a:pt x="96" y="19"/>
                    <a:pt x="96" y="25"/>
                  </a:cubicBezTo>
                  <a:cubicBezTo>
                    <a:pt x="96" y="25"/>
                    <a:pt x="96" y="25"/>
                    <a:pt x="96" y="25"/>
                  </a:cubicBezTo>
                  <a:cubicBezTo>
                    <a:pt x="96" y="62"/>
                    <a:pt x="96" y="62"/>
                    <a:pt x="96" y="62"/>
                  </a:cubicBezTo>
                  <a:cubicBezTo>
                    <a:pt x="96" y="62"/>
                    <a:pt x="96" y="62"/>
                    <a:pt x="96" y="62"/>
                  </a:cubicBezTo>
                  <a:cubicBezTo>
                    <a:pt x="96" y="64"/>
                    <a:pt x="95" y="74"/>
                    <a:pt x="80" y="74"/>
                  </a:cubicBezTo>
                  <a:cubicBezTo>
                    <a:pt x="78" y="74"/>
                    <a:pt x="76" y="75"/>
                    <a:pt x="75" y="76"/>
                  </a:cubicBezTo>
                  <a:cubicBezTo>
                    <a:pt x="73" y="77"/>
                    <a:pt x="73" y="79"/>
                    <a:pt x="73" y="81"/>
                  </a:cubicBezTo>
                  <a:cubicBezTo>
                    <a:pt x="73" y="83"/>
                    <a:pt x="73" y="85"/>
                    <a:pt x="75" y="86"/>
                  </a:cubicBezTo>
                  <a:cubicBezTo>
                    <a:pt x="76" y="87"/>
                    <a:pt x="78" y="88"/>
                    <a:pt x="80" y="88"/>
                  </a:cubicBezTo>
                  <a:cubicBezTo>
                    <a:pt x="80" y="88"/>
                    <a:pt x="80" y="88"/>
                    <a:pt x="80" y="88"/>
                  </a:cubicBezTo>
                  <a:cubicBezTo>
                    <a:pt x="86" y="88"/>
                    <a:pt x="92" y="87"/>
                    <a:pt x="96" y="85"/>
                  </a:cubicBezTo>
                  <a:cubicBezTo>
                    <a:pt x="96" y="125"/>
                    <a:pt x="96" y="125"/>
                    <a:pt x="96" y="125"/>
                  </a:cubicBezTo>
                  <a:cubicBezTo>
                    <a:pt x="95" y="127"/>
                    <a:pt x="92" y="130"/>
                    <a:pt x="89" y="130"/>
                  </a:cubicBezTo>
                  <a:cubicBezTo>
                    <a:pt x="87" y="130"/>
                    <a:pt x="85" y="130"/>
                    <a:pt x="84" y="132"/>
                  </a:cubicBezTo>
                  <a:cubicBezTo>
                    <a:pt x="83" y="133"/>
                    <a:pt x="82" y="135"/>
                    <a:pt x="82" y="137"/>
                  </a:cubicBezTo>
                  <a:cubicBezTo>
                    <a:pt x="82" y="139"/>
                    <a:pt x="83" y="140"/>
                    <a:pt x="84" y="142"/>
                  </a:cubicBezTo>
                  <a:cubicBezTo>
                    <a:pt x="85" y="143"/>
                    <a:pt x="87" y="144"/>
                    <a:pt x="89" y="144"/>
                  </a:cubicBezTo>
                  <a:cubicBezTo>
                    <a:pt x="89" y="144"/>
                    <a:pt x="89" y="144"/>
                    <a:pt x="89" y="144"/>
                  </a:cubicBezTo>
                  <a:cubicBezTo>
                    <a:pt x="92" y="144"/>
                    <a:pt x="94" y="143"/>
                    <a:pt x="96" y="143"/>
                  </a:cubicBezTo>
                  <a:cubicBezTo>
                    <a:pt x="96" y="169"/>
                    <a:pt x="96" y="169"/>
                    <a:pt x="96" y="169"/>
                  </a:cubicBezTo>
                  <a:cubicBezTo>
                    <a:pt x="96" y="174"/>
                    <a:pt x="94" y="178"/>
                    <a:pt x="91" y="181"/>
                  </a:cubicBezTo>
                  <a:cubicBezTo>
                    <a:pt x="88" y="184"/>
                    <a:pt x="84" y="185"/>
                    <a:pt x="80" y="185"/>
                  </a:cubicBezTo>
                  <a:cubicBezTo>
                    <a:pt x="76" y="185"/>
                    <a:pt x="71" y="184"/>
                    <a:pt x="68" y="181"/>
                  </a:cubicBezTo>
                  <a:cubicBezTo>
                    <a:pt x="62" y="174"/>
                    <a:pt x="62" y="164"/>
                    <a:pt x="68" y="158"/>
                  </a:cubicBezTo>
                  <a:cubicBezTo>
                    <a:pt x="70" y="156"/>
                    <a:pt x="71" y="155"/>
                    <a:pt x="71" y="153"/>
                  </a:cubicBezTo>
                  <a:cubicBezTo>
                    <a:pt x="71" y="151"/>
                    <a:pt x="70" y="149"/>
                    <a:pt x="68" y="148"/>
                  </a:cubicBezTo>
                  <a:cubicBezTo>
                    <a:pt x="66" y="145"/>
                    <a:pt x="61" y="145"/>
                    <a:pt x="58" y="148"/>
                  </a:cubicBezTo>
                  <a:cubicBezTo>
                    <a:pt x="53" y="153"/>
                    <a:pt x="50" y="159"/>
                    <a:pt x="50" y="167"/>
                  </a:cubicBezTo>
                  <a:cubicBezTo>
                    <a:pt x="44" y="166"/>
                    <a:pt x="38" y="163"/>
                    <a:pt x="34" y="159"/>
                  </a:cubicBezTo>
                  <a:cubicBezTo>
                    <a:pt x="29" y="154"/>
                    <a:pt x="27" y="148"/>
                    <a:pt x="27" y="141"/>
                  </a:cubicBezTo>
                  <a:cubicBezTo>
                    <a:pt x="27" y="135"/>
                    <a:pt x="29" y="128"/>
                    <a:pt x="34" y="123"/>
                  </a:cubicBezTo>
                  <a:cubicBezTo>
                    <a:pt x="39" y="119"/>
                    <a:pt x="45" y="116"/>
                    <a:pt x="52" y="116"/>
                  </a:cubicBezTo>
                  <a:cubicBezTo>
                    <a:pt x="59" y="116"/>
                    <a:pt x="65" y="119"/>
                    <a:pt x="70" y="123"/>
                  </a:cubicBezTo>
                  <a:cubicBezTo>
                    <a:pt x="71" y="125"/>
                    <a:pt x="73" y="126"/>
                    <a:pt x="75" y="126"/>
                  </a:cubicBezTo>
                  <a:cubicBezTo>
                    <a:pt x="77" y="126"/>
                    <a:pt x="79" y="125"/>
                    <a:pt x="80" y="123"/>
                  </a:cubicBezTo>
                  <a:cubicBezTo>
                    <a:pt x="81" y="122"/>
                    <a:pt x="82" y="120"/>
                    <a:pt x="82" y="118"/>
                  </a:cubicBezTo>
                  <a:cubicBezTo>
                    <a:pt x="82" y="116"/>
                    <a:pt x="81" y="115"/>
                    <a:pt x="80" y="113"/>
                  </a:cubicBezTo>
                  <a:cubicBezTo>
                    <a:pt x="73" y="106"/>
                    <a:pt x="63" y="102"/>
                    <a:pt x="52" y="102"/>
                  </a:cubicBezTo>
                  <a:cubicBezTo>
                    <a:pt x="43" y="102"/>
                    <a:pt x="34" y="105"/>
                    <a:pt x="27" y="111"/>
                  </a:cubicBezTo>
                  <a:cubicBezTo>
                    <a:pt x="20" y="107"/>
                    <a:pt x="14" y="100"/>
                    <a:pt x="14" y="91"/>
                  </a:cubicBezTo>
                  <a:cubicBezTo>
                    <a:pt x="14" y="82"/>
                    <a:pt x="21" y="74"/>
                    <a:pt x="30" y="71"/>
                  </a:cubicBezTo>
                  <a:close/>
                  <a:moveTo>
                    <a:pt x="80" y="197"/>
                  </a:moveTo>
                  <a:cubicBezTo>
                    <a:pt x="80" y="197"/>
                    <a:pt x="80" y="197"/>
                    <a:pt x="80" y="197"/>
                  </a:cubicBezTo>
                  <a:cubicBezTo>
                    <a:pt x="80" y="197"/>
                    <a:pt x="80" y="197"/>
                    <a:pt x="80" y="197"/>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grpSp>
      <p:sp>
        <p:nvSpPr>
          <p:cNvPr id="102" name="Freeform 159">
            <a:extLst>
              <a:ext uri="{FF2B5EF4-FFF2-40B4-BE49-F238E27FC236}">
                <a16:creationId xmlns:a16="http://schemas.microsoft.com/office/drawing/2014/main" id="{D36CD6A7-8658-43DC-8B43-DC50B43A3990}"/>
              </a:ext>
            </a:extLst>
          </p:cNvPr>
          <p:cNvSpPr/>
          <p:nvPr/>
        </p:nvSpPr>
        <p:spPr bwMode="gray">
          <a:xfrm flipH="1">
            <a:off x="2898280" y="3168057"/>
            <a:ext cx="1031739" cy="53932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rPr>
              <a:t>I</a:t>
            </a:r>
            <a:r>
              <a:rPr lang="en-US" altLang="zh-CN" sz="1400" dirty="0">
                <a:solidFill>
                  <a:schemeClr val="tx1"/>
                </a:solidFill>
                <a:latin typeface="Huawei Sans" panose="020C0503030203020204" pitchFamily="34" charset="0"/>
                <a:ea typeface="方正兰亭黑简体" panose="02000000000000000000" pitchFamily="2" charset="-122"/>
              </a:rPr>
              <a:t>nternet</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05" name="Freeform 159">
            <a:extLst>
              <a:ext uri="{FF2B5EF4-FFF2-40B4-BE49-F238E27FC236}">
                <a16:creationId xmlns:a16="http://schemas.microsoft.com/office/drawing/2014/main" id="{009881D2-DBB8-47A0-81AB-4668531A9ACF}"/>
              </a:ext>
            </a:extLst>
          </p:cNvPr>
          <p:cNvSpPr/>
          <p:nvPr/>
        </p:nvSpPr>
        <p:spPr bwMode="gray">
          <a:xfrm flipH="1">
            <a:off x="3405887" y="2756399"/>
            <a:ext cx="1031739" cy="53932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rPr>
              <a:t>MPLS</a:t>
            </a:r>
          </a:p>
        </p:txBody>
      </p:sp>
      <p:sp>
        <p:nvSpPr>
          <p:cNvPr id="106" name="Freeform 159">
            <a:extLst>
              <a:ext uri="{FF2B5EF4-FFF2-40B4-BE49-F238E27FC236}">
                <a16:creationId xmlns:a16="http://schemas.microsoft.com/office/drawing/2014/main" id="{7BA47F32-A517-4E18-8995-4285CD20F132}"/>
              </a:ext>
            </a:extLst>
          </p:cNvPr>
          <p:cNvSpPr/>
          <p:nvPr/>
        </p:nvSpPr>
        <p:spPr bwMode="gray">
          <a:xfrm flipH="1">
            <a:off x="4070043" y="3161525"/>
            <a:ext cx="1031739" cy="53932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rPr>
              <a:t>LTE</a:t>
            </a:r>
          </a:p>
        </p:txBody>
      </p:sp>
    </p:spTree>
    <p:extLst>
      <p:ext uri="{BB962C8B-B14F-4D97-AF65-F5344CB8AC3E}">
        <p14:creationId xmlns:p14="http://schemas.microsoft.com/office/powerpoint/2010/main" val="4057228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椭圆 32"/>
          <p:cNvSpPr/>
          <p:nvPr/>
        </p:nvSpPr>
        <p:spPr bwMode="gray">
          <a:xfrm>
            <a:off x="4331531" y="2702260"/>
            <a:ext cx="2886565" cy="1479707"/>
          </a:xfrm>
          <a:prstGeom prst="ellipse">
            <a:avLst/>
          </a:prstGeom>
          <a:solidFill>
            <a:schemeClr val="accent2">
              <a:lumMod val="40000"/>
              <a:lumOff val="60000"/>
            </a:schemeClr>
          </a:solidFill>
          <a:ln w="0" cap="flat" cmpd="sng" algn="ctr">
            <a:solidFill>
              <a:schemeClr val="accent2">
                <a:lumMod val="60000"/>
                <a:lumOff val="40000"/>
              </a:schemeClr>
            </a:solidFill>
            <a:prstDash val="dash"/>
            <a:miter lim="800000"/>
          </a:ln>
          <a:effectLst/>
        </p:spPr>
        <p:txBody>
          <a:bodyPr wrap="square" rtlCol="0" anchor="ctr">
            <a:noAutofit/>
          </a:bodyPr>
          <a:lstStyle/>
          <a:p>
            <a:pPr indent="-250993" algn="ctr" defTabSz="685800" fontAlgn="ctr">
              <a:spcBef>
                <a:spcPct val="20000"/>
              </a:spcBef>
              <a:spcAft>
                <a:spcPts val="2246"/>
              </a:spcAft>
              <a:buClr>
                <a:prstClr val="white"/>
              </a:buClr>
              <a:buSzPct val="60000"/>
              <a:defRPr/>
            </a:pPr>
            <a:endParaRPr lang="en-US" sz="1200" b="1" kern="0" dirty="0">
              <a:solidFill>
                <a:prstClr val="white"/>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86" name="直接连接符 85"/>
          <p:cNvCxnSpPr/>
          <p:nvPr/>
        </p:nvCxnSpPr>
        <p:spPr bwMode="gray">
          <a:xfrm flipV="1">
            <a:off x="10101717" y="3272341"/>
            <a:ext cx="0" cy="2408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p:nvPr>
        </p:nvSpPr>
        <p:spPr bwMode="gray"/>
        <p:txBody>
          <a:bodyPr/>
          <a:lstStyle/>
          <a:p>
            <a:r>
              <a:rPr lang="en-US" altLang="zh-CN" dirty="0"/>
              <a:t>MSP</a:t>
            </a:r>
            <a:r>
              <a:rPr lang="zh-CN" altLang="en-US" dirty="0"/>
              <a:t>转售</a:t>
            </a:r>
            <a:r>
              <a:rPr lang="en-US" altLang="zh-CN" dirty="0"/>
              <a:t>SD-WAN</a:t>
            </a:r>
            <a:r>
              <a:rPr lang="zh-CN" altLang="en-US" dirty="0"/>
              <a:t>场景</a:t>
            </a:r>
          </a:p>
        </p:txBody>
      </p:sp>
      <p:pic>
        <p:nvPicPr>
          <p:cNvPr id="52" name="图片 5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563875" y="3207956"/>
            <a:ext cx="540000" cy="442800"/>
          </a:xfrm>
          <a:prstGeom prst="rect">
            <a:avLst/>
          </a:prstGeom>
        </p:spPr>
      </p:pic>
      <p:pic>
        <p:nvPicPr>
          <p:cNvPr id="53" name="图片 5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826548" y="2904164"/>
            <a:ext cx="540000" cy="442800"/>
          </a:xfrm>
          <a:prstGeom prst="rect">
            <a:avLst/>
          </a:prstGeom>
        </p:spPr>
      </p:pic>
      <p:sp>
        <p:nvSpPr>
          <p:cNvPr id="65" name="TextBox 401"/>
          <p:cNvSpPr txBox="1"/>
          <p:nvPr/>
        </p:nvSpPr>
        <p:spPr bwMode="gray">
          <a:xfrm>
            <a:off x="9354902" y="2038765"/>
            <a:ext cx="1237246" cy="660070"/>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zh-CN" altLang="en-US" sz="1600" b="1" kern="0" dirty="0">
                <a:solidFill>
                  <a:prstClr val="black"/>
                </a:solidFill>
                <a:latin typeface="Huawei Sans" panose="020C0503030203020204" pitchFamily="34" charset="0"/>
                <a:ea typeface="方正兰亭黑简体" panose="02000000000000000000" pitchFamily="2" charset="-122"/>
              </a:rPr>
              <a:t>企业总部</a:t>
            </a:r>
            <a:r>
              <a:rPr lang="en-US" altLang="zh-CN" sz="1600" b="1" kern="0" dirty="0">
                <a:solidFill>
                  <a:prstClr val="black"/>
                </a:solidFill>
                <a:latin typeface="Huawei Sans" panose="020C0503030203020204" pitchFamily="34" charset="0"/>
                <a:ea typeface="方正兰亭黑简体" panose="02000000000000000000" pitchFamily="2" charset="-122"/>
              </a:rPr>
              <a:t>/</a:t>
            </a:r>
            <a:r>
              <a:rPr lang="zh-CN" altLang="en-US" sz="1600" b="1" kern="0" dirty="0">
                <a:solidFill>
                  <a:prstClr val="black"/>
                </a:solidFill>
                <a:latin typeface="Huawei Sans" panose="020C0503030203020204" pitchFamily="34" charset="0"/>
                <a:ea typeface="方正兰亭黑简体" panose="02000000000000000000" pitchFamily="2" charset="-122"/>
              </a:rPr>
              <a:t>数据中心</a:t>
            </a:r>
            <a:endParaRPr lang="en-US" altLang="zh-CN" sz="1600" b="1" kern="0" dirty="0">
              <a:solidFill>
                <a:prstClr val="black"/>
              </a:solidFill>
              <a:latin typeface="Huawei Sans" panose="020C0503030203020204" pitchFamily="34" charset="0"/>
              <a:ea typeface="方正兰亭黑简体" panose="02000000000000000000" pitchFamily="2" charset="-122"/>
            </a:endParaRPr>
          </a:p>
        </p:txBody>
      </p:sp>
      <p:sp>
        <p:nvSpPr>
          <p:cNvPr id="66" name="TextBox 401"/>
          <p:cNvSpPr txBox="1"/>
          <p:nvPr/>
        </p:nvSpPr>
        <p:spPr bwMode="gray">
          <a:xfrm>
            <a:off x="1138737" y="3795362"/>
            <a:ext cx="1237246" cy="413848"/>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zh-CN" altLang="en-US" sz="1600" b="1" kern="0" dirty="0">
                <a:solidFill>
                  <a:prstClr val="black"/>
                </a:solidFill>
                <a:latin typeface="Huawei Sans" panose="020C0503030203020204" pitchFamily="34" charset="0"/>
                <a:ea typeface="方正兰亭黑简体" panose="02000000000000000000" pitchFamily="2" charset="-122"/>
              </a:rPr>
              <a:t>企业分支</a:t>
            </a:r>
            <a:endParaRPr lang="en-US" altLang="zh-CN" sz="1600" b="1" kern="0" dirty="0">
              <a:solidFill>
                <a:prstClr val="black"/>
              </a:solidFill>
              <a:latin typeface="Huawei Sans" panose="020C0503030203020204" pitchFamily="34" charset="0"/>
              <a:ea typeface="方正兰亭黑简体" panose="02000000000000000000" pitchFamily="2" charset="-122"/>
            </a:endParaRPr>
          </a:p>
        </p:txBody>
      </p:sp>
      <p:sp>
        <p:nvSpPr>
          <p:cNvPr id="67" name="TextBox 401"/>
          <p:cNvSpPr txBox="1"/>
          <p:nvPr/>
        </p:nvSpPr>
        <p:spPr bwMode="gray">
          <a:xfrm>
            <a:off x="5947572" y="1246287"/>
            <a:ext cx="2022187" cy="413848"/>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600" b="1" kern="0" dirty="0">
                <a:solidFill>
                  <a:prstClr val="black"/>
                </a:solidFill>
                <a:latin typeface="Huawei Sans" panose="020C0503030203020204" pitchFamily="34" charset="0"/>
                <a:ea typeface="方正兰亭黑简体" panose="02000000000000000000" pitchFamily="2" charset="-122"/>
              </a:rPr>
              <a:t>SD-WAN</a:t>
            </a:r>
            <a:r>
              <a:rPr lang="zh-CN" altLang="en-US" sz="1600" b="1" kern="0" dirty="0">
                <a:solidFill>
                  <a:prstClr val="black"/>
                </a:solidFill>
                <a:latin typeface="Huawei Sans" panose="020C0503030203020204" pitchFamily="34" charset="0"/>
                <a:ea typeface="方正兰亭黑简体" panose="02000000000000000000" pitchFamily="2" charset="-122"/>
              </a:rPr>
              <a:t>控制器</a:t>
            </a:r>
            <a:endParaRPr lang="en-US" altLang="zh-CN" sz="1600" b="1" kern="0" dirty="0">
              <a:solidFill>
                <a:prstClr val="black"/>
              </a:solidFill>
              <a:latin typeface="Huawei Sans" panose="020C0503030203020204" pitchFamily="34" charset="0"/>
              <a:ea typeface="方正兰亭黑简体" panose="02000000000000000000" pitchFamily="2" charset="-122"/>
            </a:endParaRPr>
          </a:p>
        </p:txBody>
      </p:sp>
      <p:sp>
        <p:nvSpPr>
          <p:cNvPr id="69" name="矩形 68"/>
          <p:cNvSpPr/>
          <p:nvPr/>
        </p:nvSpPr>
        <p:spPr bwMode="gray">
          <a:xfrm>
            <a:off x="455613" y="4274270"/>
            <a:ext cx="11256962" cy="1995418"/>
          </a:xfrm>
          <a:prstGeom prst="rect">
            <a:avLst/>
          </a:prstGeom>
        </p:spPr>
        <p:txBody>
          <a:bodyPr wrap="square">
            <a:spAutoFit/>
          </a:bodyPr>
          <a:lstStyle/>
          <a:p>
            <a:pPr marL="302279" lvl="1" indent="-302279" algn="just" defTabSz="914034" fontAlgn="ctr" hangingPunct="0">
              <a:lnSpc>
                <a:spcPct val="140000"/>
              </a:lnSpc>
              <a:spcBef>
                <a:spcPts val="792"/>
              </a:spcBef>
              <a:spcAft>
                <a:spcPts val="600"/>
              </a:spcAft>
              <a:buSzPct val="50000"/>
              <a:buFont typeface="Wingdings" panose="05000000000000000000" pitchFamily="2" charset="2"/>
              <a:buChar char="l"/>
              <a:defRPr/>
            </a:pP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MSP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Management Service Provider</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）提供统一的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控制器为多个企业提供</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服务，</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MSP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自建</a:t>
            </a:r>
            <a:r>
              <a:rPr lang="en-US" altLang="zh-CN" sz="1600" dirty="0" err="1">
                <a:latin typeface="Huawei Sans" panose="020C0503030203020204" pitchFamily="34" charset="0"/>
                <a:ea typeface="方正兰亭黑简体" panose="02000000000000000000" pitchFamily="2" charset="-122"/>
                <a:cs typeface="Huawei Sans" panose="020C0503030203020204" pitchFamily="34" charset="0"/>
              </a:rPr>
              <a:t>PoP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骨干网，提供</a:t>
            </a:r>
            <a:r>
              <a:rPr lang="en-US" altLang="zh-CN" sz="1600" dirty="0" err="1">
                <a:latin typeface="Huawei Sans" panose="020C0503030203020204" pitchFamily="34" charset="0"/>
                <a:ea typeface="方正兰亭黑简体" panose="02000000000000000000" pitchFamily="2" charset="-122"/>
                <a:cs typeface="Huawei Sans" panose="020C0503030203020204" pitchFamily="34" charset="0"/>
              </a:rPr>
              <a:t>PoP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点接入，企业可以就近接入</a:t>
            </a:r>
            <a:r>
              <a:rPr lang="en-US" altLang="zh-CN" sz="1600" dirty="0" err="1">
                <a:latin typeface="Huawei Sans" panose="020C0503030203020204" pitchFamily="34" charset="0"/>
                <a:ea typeface="方正兰亭黑简体" panose="02000000000000000000" pitchFamily="2" charset="-122"/>
                <a:cs typeface="Huawei Sans" panose="020C0503030203020204" pitchFamily="34" charset="0"/>
              </a:rPr>
              <a:t>PoP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点，实现高品质企业互联。</a:t>
            </a:r>
            <a:r>
              <a:rPr lang="en-US" altLang="zh-CN" sz="1600" dirty="0" err="1">
                <a:latin typeface="Huawei Sans" panose="020C0503030203020204" pitchFamily="34" charset="0"/>
                <a:ea typeface="方正兰亭黑简体" panose="02000000000000000000" pitchFamily="2" charset="-122"/>
                <a:cs typeface="Huawei Sans" panose="020C0503030203020204" pitchFamily="34" charset="0"/>
              </a:rPr>
              <a:t>PoP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点支持多租户，可以同时为多个企业实现</a:t>
            </a:r>
            <a:r>
              <a:rPr lang="en-US" altLang="zh-CN" sz="1600" dirty="0" err="1">
                <a:latin typeface="Huawei Sans" panose="020C0503030203020204" pitchFamily="34" charset="0"/>
                <a:ea typeface="方正兰亭黑简体" panose="02000000000000000000" pitchFamily="2" charset="-122"/>
                <a:cs typeface="Huawei Sans" panose="020C0503030203020204" pitchFamily="34" charset="0"/>
              </a:rPr>
              <a:t>PoP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接入功能。</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marL="302279" lvl="1" indent="-302279" algn="just" defTabSz="914034" fontAlgn="ctr" hangingPunct="0">
              <a:lnSpc>
                <a:spcPct val="140000"/>
              </a:lnSpc>
              <a:spcBef>
                <a:spcPts val="792"/>
              </a:spcBef>
              <a:spcAft>
                <a:spcPts val="600"/>
              </a:spcAft>
              <a:buSzPct val="50000"/>
              <a:buFont typeface="Wingdings" panose="05000000000000000000" pitchFamily="2" charset="2"/>
              <a:buChar char="l"/>
              <a:defRP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企业可以作为租户，租用</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MSP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提供的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服务，企业租户可以管控本企业范围内所有站点的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业务，但是无法看到其他租户的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业务。</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1" name="图片 2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718123" y="3294991"/>
            <a:ext cx="540000" cy="442800"/>
          </a:xfrm>
          <a:prstGeom prst="rect">
            <a:avLst/>
          </a:prstGeom>
        </p:spPr>
      </p:pic>
      <p:pic>
        <p:nvPicPr>
          <p:cNvPr id="28" name="图片 27" descr="酒店-蓝.png"/>
          <p:cNvPicPr>
            <a:picLocks noChangeAspect="1"/>
          </p:cNvPicPr>
          <p:nvPr/>
        </p:nvPicPr>
        <p:blipFill>
          <a:blip r:embed="rId5" cstate="print"/>
          <a:stretch>
            <a:fillRect/>
          </a:stretch>
        </p:blipFill>
        <p:spPr bwMode="gray">
          <a:xfrm>
            <a:off x="1000333" y="3306221"/>
            <a:ext cx="539607" cy="441817"/>
          </a:xfrm>
          <a:prstGeom prst="rect">
            <a:avLst/>
          </a:prstGeom>
        </p:spPr>
      </p:pic>
      <p:pic>
        <p:nvPicPr>
          <p:cNvPr id="31" name="Picture 2" descr="D:\南太\资料\品牌\HC2017\光8528.png"/>
          <p:cNvPicPr>
            <a:picLocks noChangeAspect="1" noChangeArrowheads="1"/>
          </p:cNvPicPr>
          <p:nvPr/>
        </p:nvPicPr>
        <p:blipFill rotWithShape="1">
          <a:blip r:embed="rId6" cstate="print">
            <a:duotone>
              <a:schemeClr val="accent3">
                <a:shade val="45000"/>
                <a:satMod val="135000"/>
              </a:schemeClr>
              <a:prstClr val="white"/>
            </a:duotone>
          </a:blip>
          <a:srcRect t="39550" b="41013"/>
          <a:stretch/>
        </p:blipFill>
        <p:spPr bwMode="gray">
          <a:xfrm>
            <a:off x="2710781" y="1689953"/>
            <a:ext cx="6192840" cy="952472"/>
          </a:xfrm>
          <a:prstGeom prst="rect">
            <a:avLst/>
          </a:prstGeom>
          <a:noFill/>
        </p:spPr>
      </p:pic>
      <p:sp>
        <p:nvSpPr>
          <p:cNvPr id="47" name="椭圆 46"/>
          <p:cNvSpPr/>
          <p:nvPr/>
        </p:nvSpPr>
        <p:spPr bwMode="gray">
          <a:xfrm>
            <a:off x="5182438" y="2100163"/>
            <a:ext cx="1166330" cy="477946"/>
          </a:xfrm>
          <a:prstGeom prst="ellipse">
            <a:avLst/>
          </a:prstGeom>
          <a:solidFill>
            <a:srgbClr val="26B7C8">
              <a:alpha val="20000"/>
            </a:srgbClr>
          </a:solidFill>
          <a:ln>
            <a:solidFill>
              <a:srgbClr val="00B0F0">
                <a:alpha val="50000"/>
              </a:srgbClr>
            </a:solidFill>
            <a:prstDash val="dash"/>
          </a:ln>
        </p:spPr>
        <p:txBody>
          <a:bodyPr wrap="square" lIns="121932" tIns="60967" rIns="121932" bIns="60967" rtlCol="0" anchor="ctr" anchorCtr="1">
            <a:noAutofit/>
          </a:bodyPr>
          <a:lstStyle/>
          <a:p>
            <a:pPr indent="717460" defTabSz="1219048" fontAlgn="ctr">
              <a:buClr>
                <a:srgbClr val="FFC000"/>
              </a:buClr>
              <a:buSzPct val="60000"/>
              <a:buFont typeface="Wingdings" pitchFamily="2" charset="2"/>
              <a:buChar char="n"/>
            </a:pPr>
            <a:endParaRPr lang="zh-CN" altLang="en-US" sz="2099"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8" name="任意多边形 47"/>
          <p:cNvSpPr/>
          <p:nvPr/>
        </p:nvSpPr>
        <p:spPr bwMode="gray">
          <a:xfrm>
            <a:off x="5374942" y="2167368"/>
            <a:ext cx="279400" cy="72596"/>
          </a:xfrm>
          <a:custGeom>
            <a:avLst/>
            <a:gdLst>
              <a:gd name="connsiteX0" fmla="*/ 0 w 279400"/>
              <a:gd name="connsiteY0" fmla="*/ 76200 h 83532"/>
              <a:gd name="connsiteX1" fmla="*/ 152400 w 279400"/>
              <a:gd name="connsiteY1" fmla="*/ 76200 h 83532"/>
              <a:gd name="connsiteX2" fmla="*/ 279400 w 279400"/>
              <a:gd name="connsiteY2" fmla="*/ 0 h 83532"/>
            </a:gdLst>
            <a:ahLst/>
            <a:cxnLst>
              <a:cxn ang="0">
                <a:pos x="connsiteX0" y="connsiteY0"/>
              </a:cxn>
              <a:cxn ang="0">
                <a:pos x="connsiteX1" y="connsiteY1"/>
              </a:cxn>
              <a:cxn ang="0">
                <a:pos x="connsiteX2" y="connsiteY2"/>
              </a:cxn>
            </a:cxnLst>
            <a:rect l="l" t="t" r="r" b="b"/>
            <a:pathLst>
              <a:path w="279400" h="83532">
                <a:moveTo>
                  <a:pt x="0" y="76200"/>
                </a:moveTo>
                <a:cubicBezTo>
                  <a:pt x="52916" y="82550"/>
                  <a:pt x="105833" y="88900"/>
                  <a:pt x="152400" y="76200"/>
                </a:cubicBezTo>
                <a:cubicBezTo>
                  <a:pt x="198967" y="63500"/>
                  <a:pt x="239183" y="31750"/>
                  <a:pt x="279400" y="0"/>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49" name="任意多边形 48"/>
          <p:cNvSpPr/>
          <p:nvPr/>
        </p:nvSpPr>
        <p:spPr bwMode="gray">
          <a:xfrm>
            <a:off x="5819442" y="2167368"/>
            <a:ext cx="292100" cy="88298"/>
          </a:xfrm>
          <a:custGeom>
            <a:avLst/>
            <a:gdLst>
              <a:gd name="connsiteX0" fmla="*/ 0 w 292100"/>
              <a:gd name="connsiteY0" fmla="*/ 0 h 101600"/>
              <a:gd name="connsiteX1" fmla="*/ 101600 w 292100"/>
              <a:gd name="connsiteY1" fmla="*/ 76200 h 101600"/>
              <a:gd name="connsiteX2" fmla="*/ 292100 w 292100"/>
              <a:gd name="connsiteY2" fmla="*/ 101600 h 101600"/>
            </a:gdLst>
            <a:ahLst/>
            <a:cxnLst>
              <a:cxn ang="0">
                <a:pos x="connsiteX0" y="connsiteY0"/>
              </a:cxn>
              <a:cxn ang="0">
                <a:pos x="connsiteX1" y="connsiteY1"/>
              </a:cxn>
              <a:cxn ang="0">
                <a:pos x="connsiteX2" y="connsiteY2"/>
              </a:cxn>
            </a:cxnLst>
            <a:rect l="l" t="t" r="r" b="b"/>
            <a:pathLst>
              <a:path w="292100" h="101600">
                <a:moveTo>
                  <a:pt x="0" y="0"/>
                </a:moveTo>
                <a:cubicBezTo>
                  <a:pt x="26458" y="29633"/>
                  <a:pt x="52917" y="59267"/>
                  <a:pt x="101600" y="76200"/>
                </a:cubicBezTo>
                <a:cubicBezTo>
                  <a:pt x="150283" y="93133"/>
                  <a:pt x="221191" y="97366"/>
                  <a:pt x="292100" y="101600"/>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0" name="任意多边形 49"/>
          <p:cNvSpPr/>
          <p:nvPr/>
        </p:nvSpPr>
        <p:spPr bwMode="gray">
          <a:xfrm>
            <a:off x="5324142" y="2299815"/>
            <a:ext cx="215900" cy="143484"/>
          </a:xfrm>
          <a:custGeom>
            <a:avLst/>
            <a:gdLst>
              <a:gd name="connsiteX0" fmla="*/ 0 w 215900"/>
              <a:gd name="connsiteY0" fmla="*/ 0 h 165100"/>
              <a:gd name="connsiteX1" fmla="*/ 165100 w 215900"/>
              <a:gd name="connsiteY1" fmla="*/ 38100 h 165100"/>
              <a:gd name="connsiteX2" fmla="*/ 215900 w 215900"/>
              <a:gd name="connsiteY2" fmla="*/ 165100 h 165100"/>
            </a:gdLst>
            <a:ahLst/>
            <a:cxnLst>
              <a:cxn ang="0">
                <a:pos x="connsiteX0" y="connsiteY0"/>
              </a:cxn>
              <a:cxn ang="0">
                <a:pos x="connsiteX1" y="connsiteY1"/>
              </a:cxn>
              <a:cxn ang="0">
                <a:pos x="connsiteX2" y="connsiteY2"/>
              </a:cxn>
            </a:cxnLst>
            <a:rect l="l" t="t" r="r" b="b"/>
            <a:pathLst>
              <a:path w="215900" h="165100">
                <a:moveTo>
                  <a:pt x="0" y="0"/>
                </a:moveTo>
                <a:cubicBezTo>
                  <a:pt x="64558" y="5291"/>
                  <a:pt x="129117" y="10583"/>
                  <a:pt x="165100" y="38100"/>
                </a:cubicBezTo>
                <a:cubicBezTo>
                  <a:pt x="201083" y="65617"/>
                  <a:pt x="208491" y="115358"/>
                  <a:pt x="215900" y="165100"/>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1" name="任意多边形 50"/>
          <p:cNvSpPr/>
          <p:nvPr/>
        </p:nvSpPr>
        <p:spPr bwMode="gray">
          <a:xfrm>
            <a:off x="5937291" y="2302900"/>
            <a:ext cx="199651" cy="173512"/>
          </a:xfrm>
          <a:custGeom>
            <a:avLst/>
            <a:gdLst>
              <a:gd name="connsiteX0" fmla="*/ 199651 w 199651"/>
              <a:gd name="connsiteY0" fmla="*/ 9151 h 199651"/>
              <a:gd name="connsiteX1" fmla="*/ 21851 w 199651"/>
              <a:gd name="connsiteY1" fmla="*/ 21851 h 199651"/>
              <a:gd name="connsiteX2" fmla="*/ 9151 w 199651"/>
              <a:gd name="connsiteY2" fmla="*/ 199651 h 199651"/>
            </a:gdLst>
            <a:ahLst/>
            <a:cxnLst>
              <a:cxn ang="0">
                <a:pos x="connsiteX0" y="connsiteY0"/>
              </a:cxn>
              <a:cxn ang="0">
                <a:pos x="connsiteX1" y="connsiteY1"/>
              </a:cxn>
              <a:cxn ang="0">
                <a:pos x="connsiteX2" y="connsiteY2"/>
              </a:cxn>
            </a:cxnLst>
            <a:rect l="l" t="t" r="r" b="b"/>
            <a:pathLst>
              <a:path w="199651" h="199651">
                <a:moveTo>
                  <a:pt x="199651" y="9151"/>
                </a:moveTo>
                <a:cubicBezTo>
                  <a:pt x="126626" y="-374"/>
                  <a:pt x="53601" y="-9899"/>
                  <a:pt x="21851" y="21851"/>
                </a:cubicBezTo>
                <a:cubicBezTo>
                  <a:pt x="-9899" y="53601"/>
                  <a:pt x="-374" y="126626"/>
                  <a:pt x="9151" y="199651"/>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5" name="任意多边形 54"/>
          <p:cNvSpPr/>
          <p:nvPr/>
        </p:nvSpPr>
        <p:spPr bwMode="gray">
          <a:xfrm>
            <a:off x="5540042" y="2453864"/>
            <a:ext cx="406400" cy="55659"/>
          </a:xfrm>
          <a:custGeom>
            <a:avLst/>
            <a:gdLst>
              <a:gd name="connsiteX0" fmla="*/ 0 w 406400"/>
              <a:gd name="connsiteY0" fmla="*/ 64044 h 64044"/>
              <a:gd name="connsiteX1" fmla="*/ 127000 w 406400"/>
              <a:gd name="connsiteY1" fmla="*/ 544 h 64044"/>
              <a:gd name="connsiteX2" fmla="*/ 406400 w 406400"/>
              <a:gd name="connsiteY2" fmla="*/ 38644 h 64044"/>
            </a:gdLst>
            <a:ahLst/>
            <a:cxnLst>
              <a:cxn ang="0">
                <a:pos x="connsiteX0" y="connsiteY0"/>
              </a:cxn>
              <a:cxn ang="0">
                <a:pos x="connsiteX1" y="connsiteY1"/>
              </a:cxn>
              <a:cxn ang="0">
                <a:pos x="connsiteX2" y="connsiteY2"/>
              </a:cxn>
            </a:cxnLst>
            <a:rect l="l" t="t" r="r" b="b"/>
            <a:pathLst>
              <a:path w="406400" h="64044">
                <a:moveTo>
                  <a:pt x="0" y="64044"/>
                </a:moveTo>
                <a:cubicBezTo>
                  <a:pt x="29633" y="34410"/>
                  <a:pt x="59267" y="4777"/>
                  <a:pt x="127000" y="544"/>
                </a:cubicBezTo>
                <a:cubicBezTo>
                  <a:pt x="194733" y="-3689"/>
                  <a:pt x="300566" y="17477"/>
                  <a:pt x="406400" y="38644"/>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6" name="任意多边形 55"/>
          <p:cNvSpPr/>
          <p:nvPr/>
        </p:nvSpPr>
        <p:spPr bwMode="gray">
          <a:xfrm>
            <a:off x="5552742" y="2189443"/>
            <a:ext cx="177800" cy="275931"/>
          </a:xfrm>
          <a:custGeom>
            <a:avLst/>
            <a:gdLst>
              <a:gd name="connsiteX0" fmla="*/ 177800 w 177800"/>
              <a:gd name="connsiteY0" fmla="*/ 0 h 317500"/>
              <a:gd name="connsiteX1" fmla="*/ 139700 w 177800"/>
              <a:gd name="connsiteY1" fmla="*/ 165100 h 317500"/>
              <a:gd name="connsiteX2" fmla="*/ 0 w 177800"/>
              <a:gd name="connsiteY2" fmla="*/ 317500 h 317500"/>
            </a:gdLst>
            <a:ahLst/>
            <a:cxnLst>
              <a:cxn ang="0">
                <a:pos x="connsiteX0" y="connsiteY0"/>
              </a:cxn>
              <a:cxn ang="0">
                <a:pos x="connsiteX1" y="connsiteY1"/>
              </a:cxn>
              <a:cxn ang="0">
                <a:pos x="connsiteX2" y="connsiteY2"/>
              </a:cxn>
            </a:cxnLst>
            <a:rect l="l" t="t" r="r" b="b"/>
            <a:pathLst>
              <a:path w="177800" h="317500">
                <a:moveTo>
                  <a:pt x="177800" y="0"/>
                </a:moveTo>
                <a:cubicBezTo>
                  <a:pt x="173566" y="56091"/>
                  <a:pt x="169333" y="112183"/>
                  <a:pt x="139700" y="165100"/>
                </a:cubicBezTo>
                <a:cubicBezTo>
                  <a:pt x="110067" y="218017"/>
                  <a:pt x="55033" y="267758"/>
                  <a:pt x="0" y="317500"/>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7" name="任意多边形 56"/>
          <p:cNvSpPr/>
          <p:nvPr/>
        </p:nvSpPr>
        <p:spPr bwMode="gray">
          <a:xfrm>
            <a:off x="5743242" y="2200480"/>
            <a:ext cx="177800" cy="264894"/>
          </a:xfrm>
          <a:custGeom>
            <a:avLst/>
            <a:gdLst>
              <a:gd name="connsiteX0" fmla="*/ 0 w 177800"/>
              <a:gd name="connsiteY0" fmla="*/ 0 h 304800"/>
              <a:gd name="connsiteX1" fmla="*/ 38100 w 177800"/>
              <a:gd name="connsiteY1" fmla="*/ 177800 h 304800"/>
              <a:gd name="connsiteX2" fmla="*/ 177800 w 177800"/>
              <a:gd name="connsiteY2" fmla="*/ 304800 h 304800"/>
            </a:gdLst>
            <a:ahLst/>
            <a:cxnLst>
              <a:cxn ang="0">
                <a:pos x="connsiteX0" y="connsiteY0"/>
              </a:cxn>
              <a:cxn ang="0">
                <a:pos x="connsiteX1" y="connsiteY1"/>
              </a:cxn>
              <a:cxn ang="0">
                <a:pos x="connsiteX2" y="connsiteY2"/>
              </a:cxn>
            </a:cxnLst>
            <a:rect l="l" t="t" r="r" b="b"/>
            <a:pathLst>
              <a:path w="177800" h="304800">
                <a:moveTo>
                  <a:pt x="0" y="0"/>
                </a:moveTo>
                <a:cubicBezTo>
                  <a:pt x="4233" y="63500"/>
                  <a:pt x="8467" y="127000"/>
                  <a:pt x="38100" y="177800"/>
                </a:cubicBezTo>
                <a:cubicBezTo>
                  <a:pt x="67733" y="228600"/>
                  <a:pt x="122766" y="266700"/>
                  <a:pt x="177800" y="304800"/>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8" name="任意多边形 57"/>
          <p:cNvSpPr/>
          <p:nvPr/>
        </p:nvSpPr>
        <p:spPr bwMode="gray">
          <a:xfrm>
            <a:off x="5378117" y="2250924"/>
            <a:ext cx="547688" cy="226868"/>
          </a:xfrm>
          <a:custGeom>
            <a:avLst/>
            <a:gdLst>
              <a:gd name="connsiteX0" fmla="*/ 0 w 547688"/>
              <a:gd name="connsiteY0" fmla="*/ 13395 h 261045"/>
              <a:gd name="connsiteX1" fmla="*/ 300038 w 547688"/>
              <a:gd name="connsiteY1" fmla="*/ 27682 h 261045"/>
              <a:gd name="connsiteX2" fmla="*/ 547688 w 547688"/>
              <a:gd name="connsiteY2" fmla="*/ 261045 h 261045"/>
            </a:gdLst>
            <a:ahLst/>
            <a:cxnLst>
              <a:cxn ang="0">
                <a:pos x="connsiteX0" y="connsiteY0"/>
              </a:cxn>
              <a:cxn ang="0">
                <a:pos x="connsiteX1" y="connsiteY1"/>
              </a:cxn>
              <a:cxn ang="0">
                <a:pos x="connsiteX2" y="connsiteY2"/>
              </a:cxn>
            </a:cxnLst>
            <a:rect l="l" t="t" r="r" b="b"/>
            <a:pathLst>
              <a:path w="547688" h="261045">
                <a:moveTo>
                  <a:pt x="0" y="13395"/>
                </a:moveTo>
                <a:cubicBezTo>
                  <a:pt x="104378" y="-99"/>
                  <a:pt x="208757" y="-13593"/>
                  <a:pt x="300038" y="27682"/>
                </a:cubicBezTo>
                <a:cubicBezTo>
                  <a:pt x="391319" y="68957"/>
                  <a:pt x="469503" y="165001"/>
                  <a:pt x="547688" y="261045"/>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61" name="任意多边形 60"/>
          <p:cNvSpPr/>
          <p:nvPr/>
        </p:nvSpPr>
        <p:spPr bwMode="gray">
          <a:xfrm>
            <a:off x="5544805" y="2263690"/>
            <a:ext cx="571500" cy="189268"/>
          </a:xfrm>
          <a:custGeom>
            <a:avLst/>
            <a:gdLst>
              <a:gd name="connsiteX0" fmla="*/ 571500 w 571500"/>
              <a:gd name="connsiteY0" fmla="*/ 22518 h 217781"/>
              <a:gd name="connsiteX1" fmla="*/ 242887 w 571500"/>
              <a:gd name="connsiteY1" fmla="*/ 17756 h 217781"/>
              <a:gd name="connsiteX2" fmla="*/ 0 w 571500"/>
              <a:gd name="connsiteY2" fmla="*/ 217781 h 217781"/>
            </a:gdLst>
            <a:ahLst/>
            <a:cxnLst>
              <a:cxn ang="0">
                <a:pos x="connsiteX0" y="connsiteY0"/>
              </a:cxn>
              <a:cxn ang="0">
                <a:pos x="connsiteX1" y="connsiteY1"/>
              </a:cxn>
              <a:cxn ang="0">
                <a:pos x="connsiteX2" y="connsiteY2"/>
              </a:cxn>
            </a:cxnLst>
            <a:rect l="l" t="t" r="r" b="b"/>
            <a:pathLst>
              <a:path w="571500" h="217781">
                <a:moveTo>
                  <a:pt x="571500" y="22518"/>
                </a:moveTo>
                <a:cubicBezTo>
                  <a:pt x="454818" y="3865"/>
                  <a:pt x="338137" y="-14788"/>
                  <a:pt x="242887" y="17756"/>
                </a:cubicBezTo>
                <a:cubicBezTo>
                  <a:pt x="147637" y="50300"/>
                  <a:pt x="73818" y="134040"/>
                  <a:pt x="0" y="217781"/>
                </a:cubicBezTo>
              </a:path>
            </a:pathLst>
          </a:custGeom>
          <a:noFill/>
          <a:ln w="3175">
            <a:solidFill>
              <a:srgbClr val="22C3F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62" name="矩形 61"/>
          <p:cNvSpPr/>
          <p:nvPr/>
        </p:nvSpPr>
        <p:spPr bwMode="gray">
          <a:xfrm>
            <a:off x="5845533" y="1797107"/>
            <a:ext cx="916363" cy="276989"/>
          </a:xfrm>
          <a:prstGeom prst="rect">
            <a:avLst/>
          </a:prstGeom>
        </p:spPr>
        <p:txBody>
          <a:bodyPr wrap="square" lIns="91429" tIns="45715" rIns="91429" bIns="45715">
            <a:spAutoFit/>
          </a:bodyPr>
          <a:lstStyle/>
          <a:p>
            <a:pPr algn="ctr" defTabSz="516682" fontAlgn="ctr"/>
            <a:r>
              <a:rPr lang="en-US" altLang="zh-CN" sz="1200" b="1">
                <a:latin typeface="Huawei Sans" panose="020C0503030203020204" pitchFamily="34" charset="0"/>
                <a:ea typeface="方正兰亭黑简体" panose="02000000000000000000" pitchFamily="2" charset="-122"/>
                <a:cs typeface="Huawei Sans" panose="020C0503030203020204" pitchFamily="34" charset="0"/>
                <a:sym typeface="Helvetica"/>
              </a:rPr>
              <a:t> RR</a:t>
            </a:r>
            <a:endPar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sym typeface="Helvetica"/>
            </a:endParaRPr>
          </a:p>
        </p:txBody>
      </p:sp>
      <p:pic>
        <p:nvPicPr>
          <p:cNvPr id="68" name="图片 67"/>
          <p:cNvPicPr>
            <a:picLocks noChangeAspect="1"/>
          </p:cNvPicPr>
          <p:nvPr/>
        </p:nvPicPr>
        <p:blipFill>
          <a:blip r:embed="rId7"/>
          <a:stretch>
            <a:fillRect/>
          </a:stretch>
        </p:blipFill>
        <p:spPr bwMode="gray">
          <a:xfrm>
            <a:off x="6097649" y="2210074"/>
            <a:ext cx="572675" cy="455873"/>
          </a:xfrm>
          <a:prstGeom prst="rect">
            <a:avLst/>
          </a:prstGeom>
        </p:spPr>
      </p:pic>
      <p:pic>
        <p:nvPicPr>
          <p:cNvPr id="72" name="图片 71"/>
          <p:cNvPicPr>
            <a:picLocks noChangeAspect="1"/>
          </p:cNvPicPr>
          <p:nvPr/>
        </p:nvPicPr>
        <p:blipFill>
          <a:blip r:embed="rId7"/>
          <a:stretch>
            <a:fillRect/>
          </a:stretch>
        </p:blipFill>
        <p:spPr bwMode="gray">
          <a:xfrm>
            <a:off x="4734904" y="2210073"/>
            <a:ext cx="572675" cy="455873"/>
          </a:xfrm>
          <a:prstGeom prst="rect">
            <a:avLst/>
          </a:prstGeom>
        </p:spPr>
      </p:pic>
      <p:pic>
        <p:nvPicPr>
          <p:cNvPr id="73" name="图片 72"/>
          <p:cNvPicPr>
            <a:picLocks noChangeAspect="1"/>
          </p:cNvPicPr>
          <p:nvPr/>
        </p:nvPicPr>
        <p:blipFill>
          <a:blip r:embed="rId7"/>
          <a:stretch>
            <a:fillRect/>
          </a:stretch>
        </p:blipFill>
        <p:spPr bwMode="gray">
          <a:xfrm>
            <a:off x="5468775" y="1702551"/>
            <a:ext cx="572675" cy="455873"/>
          </a:xfrm>
          <a:prstGeom prst="rect">
            <a:avLst/>
          </a:prstGeom>
        </p:spPr>
      </p:pic>
      <p:cxnSp>
        <p:nvCxnSpPr>
          <p:cNvPr id="81" name="直接连接符 80"/>
          <p:cNvCxnSpPr>
            <a:endCxn id="60" idx="1"/>
          </p:cNvCxnSpPr>
          <p:nvPr/>
        </p:nvCxnSpPr>
        <p:spPr bwMode="gray">
          <a:xfrm flipV="1">
            <a:off x="3888168" y="3107624"/>
            <a:ext cx="340601" cy="3471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2" name="图片 81"/>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826548" y="3442293"/>
            <a:ext cx="540000" cy="442800"/>
          </a:xfrm>
          <a:prstGeom prst="rect">
            <a:avLst/>
          </a:prstGeom>
        </p:spPr>
      </p:pic>
      <p:cxnSp>
        <p:nvCxnSpPr>
          <p:cNvPr id="83" name="直接连接符 82"/>
          <p:cNvCxnSpPr>
            <a:stCxn id="130" idx="3"/>
            <a:endCxn id="82" idx="1"/>
          </p:cNvCxnSpPr>
          <p:nvPr/>
        </p:nvCxnSpPr>
        <p:spPr bwMode="gray">
          <a:xfrm>
            <a:off x="9066224" y="3416873"/>
            <a:ext cx="760324" cy="24682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bwMode="gray">
          <a:xfrm flipV="1">
            <a:off x="9061411" y="3065693"/>
            <a:ext cx="770626" cy="37892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endCxn id="63" idx="1"/>
          </p:cNvCxnSpPr>
          <p:nvPr/>
        </p:nvCxnSpPr>
        <p:spPr bwMode="gray">
          <a:xfrm>
            <a:off x="3888168" y="3468497"/>
            <a:ext cx="340601" cy="31174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9" name="TextBox 401"/>
          <p:cNvSpPr txBox="1"/>
          <p:nvPr/>
        </p:nvSpPr>
        <p:spPr bwMode="gray">
          <a:xfrm>
            <a:off x="1385318" y="2935313"/>
            <a:ext cx="1237246" cy="352293"/>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200" b="1" kern="0" dirty="0">
                <a:solidFill>
                  <a:prstClr val="black"/>
                </a:solidFill>
                <a:latin typeface="Huawei Sans" panose="020C0503030203020204" pitchFamily="34" charset="0"/>
                <a:ea typeface="方正兰亭黑简体" panose="02000000000000000000" pitchFamily="2" charset="-122"/>
              </a:rPr>
              <a:t>EDGE</a:t>
            </a:r>
          </a:p>
        </p:txBody>
      </p:sp>
      <p:sp>
        <p:nvSpPr>
          <p:cNvPr id="90" name="TextBox 401"/>
          <p:cNvSpPr txBox="1"/>
          <p:nvPr/>
        </p:nvSpPr>
        <p:spPr bwMode="gray">
          <a:xfrm>
            <a:off x="9441462" y="2617522"/>
            <a:ext cx="1237246" cy="352293"/>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200" b="1" kern="0" dirty="0">
                <a:solidFill>
                  <a:prstClr val="black"/>
                </a:solidFill>
                <a:latin typeface="Huawei Sans" panose="020C0503030203020204" pitchFamily="34" charset="0"/>
                <a:ea typeface="方正兰亭黑简体" panose="02000000000000000000" pitchFamily="2" charset="-122"/>
              </a:rPr>
              <a:t>EDGE</a:t>
            </a:r>
          </a:p>
        </p:txBody>
      </p:sp>
      <p:sp>
        <p:nvSpPr>
          <p:cNvPr id="59" name="TextBox 401"/>
          <p:cNvSpPr txBox="1"/>
          <p:nvPr/>
        </p:nvSpPr>
        <p:spPr bwMode="gray">
          <a:xfrm>
            <a:off x="4706920" y="3241089"/>
            <a:ext cx="2160174" cy="413848"/>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600" b="1" kern="0">
                <a:solidFill>
                  <a:prstClr val="black"/>
                </a:solidFill>
                <a:latin typeface="Huawei Sans" panose="020C0503030203020204" pitchFamily="34" charset="0"/>
                <a:ea typeface="方正兰亭黑简体" panose="02000000000000000000" pitchFamily="2" charset="-122"/>
              </a:rPr>
              <a:t>MSP</a:t>
            </a:r>
            <a:r>
              <a:rPr lang="zh-CN" altLang="en-US" sz="1600" b="1" kern="0">
                <a:solidFill>
                  <a:prstClr val="black"/>
                </a:solidFill>
                <a:latin typeface="Huawei Sans" panose="020C0503030203020204" pitchFamily="34" charset="0"/>
                <a:ea typeface="方正兰亭黑简体" panose="02000000000000000000" pitchFamily="2" charset="-122"/>
              </a:rPr>
              <a:t>多</a:t>
            </a:r>
            <a:r>
              <a:rPr lang="en-US" altLang="zh-CN" sz="1600" b="1" kern="0">
                <a:solidFill>
                  <a:prstClr val="black"/>
                </a:solidFill>
                <a:latin typeface="Huawei Sans" panose="020C0503030203020204" pitchFamily="34" charset="0"/>
                <a:ea typeface="方正兰亭黑简体" panose="02000000000000000000" pitchFamily="2" charset="-122"/>
              </a:rPr>
              <a:t>PoP</a:t>
            </a:r>
            <a:r>
              <a:rPr lang="zh-CN" altLang="en-US" sz="1600" b="1" kern="0">
                <a:solidFill>
                  <a:prstClr val="black"/>
                </a:solidFill>
                <a:latin typeface="Huawei Sans" panose="020C0503030203020204" pitchFamily="34" charset="0"/>
                <a:ea typeface="方正兰亭黑简体" panose="02000000000000000000" pitchFamily="2" charset="-122"/>
              </a:rPr>
              <a:t>骨干</a:t>
            </a:r>
            <a:r>
              <a:rPr lang="zh-CN" altLang="en-US" sz="1600" b="1" kern="0" dirty="0">
                <a:solidFill>
                  <a:prstClr val="black"/>
                </a:solidFill>
                <a:latin typeface="Huawei Sans" panose="020C0503030203020204" pitchFamily="34" charset="0"/>
                <a:ea typeface="方正兰亭黑简体" panose="02000000000000000000" pitchFamily="2" charset="-122"/>
              </a:rPr>
              <a:t>网</a:t>
            </a:r>
            <a:endParaRPr lang="en-US" altLang="zh-CN" sz="1600" b="1" kern="0" dirty="0">
              <a:solidFill>
                <a:prstClr val="black"/>
              </a:solidFill>
              <a:latin typeface="Huawei Sans" panose="020C0503030203020204" pitchFamily="34" charset="0"/>
              <a:ea typeface="方正兰亭黑简体" panose="02000000000000000000" pitchFamily="2" charset="-122"/>
            </a:endParaRPr>
          </a:p>
        </p:txBody>
      </p:sp>
      <p:pic>
        <p:nvPicPr>
          <p:cNvPr id="60" name="图片 59"/>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4228769" y="2886224"/>
            <a:ext cx="540000" cy="442800"/>
          </a:xfrm>
          <a:prstGeom prst="rect">
            <a:avLst/>
          </a:prstGeom>
        </p:spPr>
      </p:pic>
      <p:pic>
        <p:nvPicPr>
          <p:cNvPr id="63" name="图片 62"/>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4228769" y="3558841"/>
            <a:ext cx="540000" cy="442800"/>
          </a:xfrm>
          <a:prstGeom prst="rect">
            <a:avLst/>
          </a:prstGeom>
        </p:spPr>
      </p:pic>
      <p:pic>
        <p:nvPicPr>
          <p:cNvPr id="64" name="图片 63"/>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6831936" y="2897463"/>
            <a:ext cx="540000" cy="442800"/>
          </a:xfrm>
          <a:prstGeom prst="rect">
            <a:avLst/>
          </a:prstGeom>
        </p:spPr>
      </p:pic>
      <p:sp>
        <p:nvSpPr>
          <p:cNvPr id="70" name="TextBox 401"/>
          <p:cNvSpPr txBox="1"/>
          <p:nvPr/>
        </p:nvSpPr>
        <p:spPr bwMode="gray">
          <a:xfrm>
            <a:off x="6569378" y="4068871"/>
            <a:ext cx="1237246" cy="352293"/>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200" b="1" kern="0" dirty="0" err="1">
                <a:solidFill>
                  <a:prstClr val="black"/>
                </a:solidFill>
                <a:latin typeface="Huawei Sans" panose="020C0503030203020204" pitchFamily="34" charset="0"/>
                <a:ea typeface="方正兰亭黑简体" panose="02000000000000000000" pitchFamily="2" charset="-122"/>
              </a:rPr>
              <a:t>PoP</a:t>
            </a:r>
            <a:r>
              <a:rPr lang="zh-CN" altLang="en-US" sz="1200" b="1" kern="0" dirty="0">
                <a:solidFill>
                  <a:prstClr val="black"/>
                </a:solidFill>
                <a:latin typeface="Huawei Sans" panose="020C0503030203020204" pitchFamily="34" charset="0"/>
                <a:ea typeface="方正兰亭黑简体" panose="02000000000000000000" pitchFamily="2" charset="-122"/>
              </a:rPr>
              <a:t>点</a:t>
            </a:r>
            <a:endParaRPr lang="en-US" altLang="zh-CN" sz="1200" b="1" kern="0" dirty="0">
              <a:solidFill>
                <a:prstClr val="black"/>
              </a:solidFill>
              <a:latin typeface="Huawei Sans" panose="020C0503030203020204" pitchFamily="34" charset="0"/>
              <a:ea typeface="方正兰亭黑简体" panose="02000000000000000000" pitchFamily="2" charset="-122"/>
            </a:endParaRPr>
          </a:p>
        </p:txBody>
      </p:sp>
      <p:pic>
        <p:nvPicPr>
          <p:cNvPr id="71" name="图片 70"/>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6830518" y="3568622"/>
            <a:ext cx="540000" cy="442800"/>
          </a:xfrm>
          <a:prstGeom prst="rect">
            <a:avLst/>
          </a:prstGeom>
        </p:spPr>
      </p:pic>
      <p:sp>
        <p:nvSpPr>
          <p:cNvPr id="100" name="TextBox 401"/>
          <p:cNvSpPr txBox="1"/>
          <p:nvPr/>
        </p:nvSpPr>
        <p:spPr bwMode="gray">
          <a:xfrm>
            <a:off x="3872470" y="4000242"/>
            <a:ext cx="1237246" cy="352293"/>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200" b="1" kern="0" dirty="0" err="1">
                <a:solidFill>
                  <a:prstClr val="black"/>
                </a:solidFill>
                <a:latin typeface="Huawei Sans" panose="020C0503030203020204" pitchFamily="34" charset="0"/>
                <a:ea typeface="方正兰亭黑简体" panose="02000000000000000000" pitchFamily="2" charset="-122"/>
              </a:rPr>
              <a:t>PoP</a:t>
            </a:r>
            <a:r>
              <a:rPr lang="zh-CN" altLang="en-US" sz="1200" b="1" kern="0" dirty="0">
                <a:solidFill>
                  <a:prstClr val="black"/>
                </a:solidFill>
                <a:latin typeface="Huawei Sans" panose="020C0503030203020204" pitchFamily="34" charset="0"/>
                <a:ea typeface="方正兰亭黑简体" panose="02000000000000000000" pitchFamily="2" charset="-122"/>
              </a:rPr>
              <a:t>点</a:t>
            </a:r>
            <a:endParaRPr lang="en-US" altLang="zh-CN" sz="1200" b="1" kern="0" dirty="0">
              <a:solidFill>
                <a:prstClr val="black"/>
              </a:solidFill>
              <a:latin typeface="Huawei Sans" panose="020C0503030203020204" pitchFamily="34" charset="0"/>
              <a:ea typeface="方正兰亭黑简体" panose="02000000000000000000" pitchFamily="2" charset="-122"/>
            </a:endParaRPr>
          </a:p>
        </p:txBody>
      </p:sp>
      <p:sp>
        <p:nvSpPr>
          <p:cNvPr id="121" name="圆角矩形 120"/>
          <p:cNvSpPr/>
          <p:nvPr/>
        </p:nvSpPr>
        <p:spPr bwMode="gray">
          <a:xfrm>
            <a:off x="2592931" y="3009043"/>
            <a:ext cx="1280710" cy="1061298"/>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a:ln>
                <a:noFill/>
              </a:ln>
              <a:solidFill>
                <a:srgbClr val="575756"/>
              </a:solidFill>
              <a:effectLst/>
              <a:latin typeface="Huawei Sans" panose="020C0503030203020204" pitchFamily="34" charset="0"/>
              <a:ea typeface="方正兰亭黑简体" panose="02000000000000000000" pitchFamily="2" charset="-122"/>
            </a:endParaRPr>
          </a:p>
        </p:txBody>
      </p:sp>
      <p:cxnSp>
        <p:nvCxnSpPr>
          <p:cNvPr id="123" name="直接连接符 122"/>
          <p:cNvCxnSpPr/>
          <p:nvPr/>
        </p:nvCxnSpPr>
        <p:spPr bwMode="gray">
          <a:xfrm flipV="1">
            <a:off x="4492424" y="3312300"/>
            <a:ext cx="0" cy="2408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bwMode="gray">
          <a:xfrm flipV="1">
            <a:off x="7123864" y="3322460"/>
            <a:ext cx="0" cy="2408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0" name="圆角矩形 129"/>
          <p:cNvSpPr/>
          <p:nvPr/>
        </p:nvSpPr>
        <p:spPr bwMode="gray">
          <a:xfrm>
            <a:off x="7785514" y="2886224"/>
            <a:ext cx="1280710" cy="1061298"/>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a:ln>
                <a:noFill/>
              </a:ln>
              <a:solidFill>
                <a:srgbClr val="575756"/>
              </a:solidFill>
              <a:effectLst/>
              <a:latin typeface="Huawei Sans" panose="020C0503030203020204" pitchFamily="34" charset="0"/>
              <a:ea typeface="方正兰亭黑简体" panose="02000000000000000000" pitchFamily="2" charset="-122"/>
            </a:endParaRPr>
          </a:p>
        </p:txBody>
      </p:sp>
      <p:cxnSp>
        <p:nvCxnSpPr>
          <p:cNvPr id="136" name="直接连接符 135"/>
          <p:cNvCxnSpPr/>
          <p:nvPr/>
        </p:nvCxnSpPr>
        <p:spPr bwMode="gray">
          <a:xfrm>
            <a:off x="2258123" y="3468497"/>
            <a:ext cx="33774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bwMode="gray">
          <a:xfrm>
            <a:off x="2258123" y="3587183"/>
            <a:ext cx="33774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a:endCxn id="130" idx="1"/>
          </p:cNvCxnSpPr>
          <p:nvPr/>
        </p:nvCxnSpPr>
        <p:spPr bwMode="gray">
          <a:xfrm>
            <a:off x="7358153" y="3142545"/>
            <a:ext cx="427361" cy="27432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a:stCxn id="71" idx="3"/>
          </p:cNvCxnSpPr>
          <p:nvPr/>
        </p:nvCxnSpPr>
        <p:spPr bwMode="gray">
          <a:xfrm flipV="1">
            <a:off x="7370518" y="3451890"/>
            <a:ext cx="407652" cy="33813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4" name="组合 50">
            <a:extLst>
              <a:ext uri="{FF2B5EF4-FFF2-40B4-BE49-F238E27FC236}">
                <a16:creationId xmlns:a16="http://schemas.microsoft.com/office/drawing/2014/main" id="{591B7B8A-ABD3-416D-8216-58E7044035BA}"/>
              </a:ext>
            </a:extLst>
          </p:cNvPr>
          <p:cNvGrpSpPr>
            <a:grpSpLocks noChangeAspect="1"/>
          </p:cNvGrpSpPr>
          <p:nvPr/>
        </p:nvGrpSpPr>
        <p:grpSpPr bwMode="gray">
          <a:xfrm>
            <a:off x="5380538" y="1184931"/>
            <a:ext cx="731004" cy="475204"/>
            <a:chOff x="4137025" y="950913"/>
            <a:chExt cx="1982788" cy="1244599"/>
          </a:xfrm>
        </p:grpSpPr>
        <p:sp>
          <p:nvSpPr>
            <p:cNvPr id="75" name="Freeform 9">
              <a:extLst>
                <a:ext uri="{FF2B5EF4-FFF2-40B4-BE49-F238E27FC236}">
                  <a16:creationId xmlns:a16="http://schemas.microsoft.com/office/drawing/2014/main" id="{634D247D-270A-4475-86FF-162CC0EF52DF}"/>
                </a:ext>
              </a:extLst>
            </p:cNvPr>
            <p:cNvSpPr>
              <a:spLocks/>
            </p:cNvSpPr>
            <p:nvPr/>
          </p:nvSpPr>
          <p:spPr bwMode="gray">
            <a:xfrm>
              <a:off x="4137025" y="950913"/>
              <a:ext cx="1982788" cy="1203325"/>
            </a:xfrm>
            <a:custGeom>
              <a:avLst/>
              <a:gdLst>
                <a:gd name="T0" fmla="*/ 1688762 w 526"/>
                <a:gd name="T1" fmla="*/ 1203325 h 320"/>
                <a:gd name="T2" fmla="*/ 1568137 w 526"/>
                <a:gd name="T3" fmla="*/ 1203325 h 320"/>
                <a:gd name="T4" fmla="*/ 1568137 w 526"/>
                <a:gd name="T5" fmla="*/ 1128117 h 320"/>
                <a:gd name="T6" fmla="*/ 1688762 w 526"/>
                <a:gd name="T7" fmla="*/ 1128117 h 320"/>
                <a:gd name="T8" fmla="*/ 1756614 w 526"/>
                <a:gd name="T9" fmla="*/ 1109315 h 320"/>
                <a:gd name="T10" fmla="*/ 1907397 w 526"/>
                <a:gd name="T11" fmla="*/ 800963 h 320"/>
                <a:gd name="T12" fmla="*/ 1522902 w 526"/>
                <a:gd name="T13" fmla="*/ 413643 h 320"/>
                <a:gd name="T14" fmla="*/ 1488976 w 526"/>
                <a:gd name="T15" fmla="*/ 394841 h 320"/>
                <a:gd name="T16" fmla="*/ 946159 w 526"/>
                <a:gd name="T17" fmla="*/ 75208 h 320"/>
                <a:gd name="T18" fmla="*/ 346799 w 526"/>
                <a:gd name="T19" fmla="*/ 541496 h 320"/>
                <a:gd name="T20" fmla="*/ 316643 w 526"/>
                <a:gd name="T21" fmla="*/ 567819 h 320"/>
                <a:gd name="T22" fmla="*/ 75391 w 526"/>
                <a:gd name="T23" fmla="*/ 846088 h 320"/>
                <a:gd name="T24" fmla="*/ 358108 w 526"/>
                <a:gd name="T25" fmla="*/ 1128117 h 320"/>
                <a:gd name="T26" fmla="*/ 1338193 w 526"/>
                <a:gd name="T27" fmla="*/ 1128117 h 320"/>
                <a:gd name="T28" fmla="*/ 1338193 w 526"/>
                <a:gd name="T29" fmla="*/ 1203325 h 320"/>
                <a:gd name="T30" fmla="*/ 358108 w 526"/>
                <a:gd name="T31" fmla="*/ 1203325 h 320"/>
                <a:gd name="T32" fmla="*/ 0 w 526"/>
                <a:gd name="T33" fmla="*/ 846088 h 320"/>
                <a:gd name="T34" fmla="*/ 278947 w 526"/>
                <a:gd name="T35" fmla="*/ 496372 h 320"/>
                <a:gd name="T36" fmla="*/ 946159 w 526"/>
                <a:gd name="T37" fmla="*/ 0 h 320"/>
                <a:gd name="T38" fmla="*/ 1545519 w 526"/>
                <a:gd name="T39" fmla="*/ 338435 h 320"/>
                <a:gd name="T40" fmla="*/ 1982788 w 526"/>
                <a:gd name="T41" fmla="*/ 800963 h 320"/>
                <a:gd name="T42" fmla="*/ 1805619 w 526"/>
                <a:gd name="T43" fmla="*/ 1165721 h 320"/>
                <a:gd name="T44" fmla="*/ 1688762 w 526"/>
                <a:gd name="T45" fmla="*/ 1203325 h 3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26" h="320">
                  <a:moveTo>
                    <a:pt x="448" y="320"/>
                  </a:moveTo>
                  <a:cubicBezTo>
                    <a:pt x="416" y="320"/>
                    <a:pt x="416" y="320"/>
                    <a:pt x="416" y="320"/>
                  </a:cubicBezTo>
                  <a:cubicBezTo>
                    <a:pt x="416" y="300"/>
                    <a:pt x="416" y="300"/>
                    <a:pt x="416" y="300"/>
                  </a:cubicBezTo>
                  <a:cubicBezTo>
                    <a:pt x="448" y="300"/>
                    <a:pt x="448" y="300"/>
                    <a:pt x="448" y="300"/>
                  </a:cubicBezTo>
                  <a:cubicBezTo>
                    <a:pt x="456" y="300"/>
                    <a:pt x="462" y="298"/>
                    <a:pt x="466" y="295"/>
                  </a:cubicBezTo>
                  <a:cubicBezTo>
                    <a:pt x="492" y="274"/>
                    <a:pt x="506" y="244"/>
                    <a:pt x="506" y="213"/>
                  </a:cubicBezTo>
                  <a:cubicBezTo>
                    <a:pt x="506" y="157"/>
                    <a:pt x="460" y="111"/>
                    <a:pt x="404" y="110"/>
                  </a:cubicBezTo>
                  <a:cubicBezTo>
                    <a:pt x="400" y="110"/>
                    <a:pt x="397" y="108"/>
                    <a:pt x="395" y="105"/>
                  </a:cubicBezTo>
                  <a:cubicBezTo>
                    <a:pt x="366" y="53"/>
                    <a:pt x="311" y="20"/>
                    <a:pt x="251" y="20"/>
                  </a:cubicBezTo>
                  <a:cubicBezTo>
                    <a:pt x="176" y="20"/>
                    <a:pt x="111" y="71"/>
                    <a:pt x="92" y="144"/>
                  </a:cubicBezTo>
                  <a:cubicBezTo>
                    <a:pt x="91" y="148"/>
                    <a:pt x="88" y="150"/>
                    <a:pt x="84" y="151"/>
                  </a:cubicBezTo>
                  <a:cubicBezTo>
                    <a:pt x="47" y="156"/>
                    <a:pt x="20" y="188"/>
                    <a:pt x="20" y="225"/>
                  </a:cubicBezTo>
                  <a:cubicBezTo>
                    <a:pt x="20" y="266"/>
                    <a:pt x="53" y="300"/>
                    <a:pt x="95" y="300"/>
                  </a:cubicBezTo>
                  <a:cubicBezTo>
                    <a:pt x="355" y="300"/>
                    <a:pt x="355" y="300"/>
                    <a:pt x="355" y="300"/>
                  </a:cubicBezTo>
                  <a:cubicBezTo>
                    <a:pt x="355" y="320"/>
                    <a:pt x="355" y="320"/>
                    <a:pt x="355" y="320"/>
                  </a:cubicBezTo>
                  <a:cubicBezTo>
                    <a:pt x="95" y="320"/>
                    <a:pt x="95" y="320"/>
                    <a:pt x="95" y="320"/>
                  </a:cubicBezTo>
                  <a:cubicBezTo>
                    <a:pt x="42" y="320"/>
                    <a:pt x="0" y="277"/>
                    <a:pt x="0" y="225"/>
                  </a:cubicBezTo>
                  <a:cubicBezTo>
                    <a:pt x="0" y="181"/>
                    <a:pt x="31" y="142"/>
                    <a:pt x="74" y="132"/>
                  </a:cubicBezTo>
                  <a:cubicBezTo>
                    <a:pt x="97" y="54"/>
                    <a:pt x="169" y="0"/>
                    <a:pt x="251" y="0"/>
                  </a:cubicBezTo>
                  <a:cubicBezTo>
                    <a:pt x="316" y="0"/>
                    <a:pt x="377" y="35"/>
                    <a:pt x="410" y="90"/>
                  </a:cubicBezTo>
                  <a:cubicBezTo>
                    <a:pt x="475" y="94"/>
                    <a:pt x="526" y="148"/>
                    <a:pt x="526" y="213"/>
                  </a:cubicBezTo>
                  <a:cubicBezTo>
                    <a:pt x="526" y="250"/>
                    <a:pt x="509" y="286"/>
                    <a:pt x="479" y="310"/>
                  </a:cubicBezTo>
                  <a:cubicBezTo>
                    <a:pt x="471" y="317"/>
                    <a:pt x="460" y="320"/>
                    <a:pt x="448" y="320"/>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85" name="Oval 10">
              <a:extLst>
                <a:ext uri="{FF2B5EF4-FFF2-40B4-BE49-F238E27FC236}">
                  <a16:creationId xmlns:a16="http://schemas.microsoft.com/office/drawing/2014/main" id="{C7D87173-A2A1-40B5-A532-26D1B93FF85C}"/>
                </a:ext>
              </a:extLst>
            </p:cNvPr>
            <p:cNvSpPr>
              <a:spLocks noChangeArrowheads="1"/>
            </p:cNvSpPr>
            <p:nvPr/>
          </p:nvSpPr>
          <p:spPr bwMode="gray">
            <a:xfrm>
              <a:off x="5422900" y="2038350"/>
              <a:ext cx="153988" cy="157162"/>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88" name="Oval 11">
              <a:extLst>
                <a:ext uri="{FF2B5EF4-FFF2-40B4-BE49-F238E27FC236}">
                  <a16:creationId xmlns:a16="http://schemas.microsoft.com/office/drawing/2014/main" id="{7DEEAB8A-1B23-4134-BFF4-47CFDBCA7256}"/>
                </a:ext>
              </a:extLst>
            </p:cNvPr>
            <p:cNvSpPr>
              <a:spLocks noChangeArrowheads="1"/>
            </p:cNvSpPr>
            <p:nvPr/>
          </p:nvSpPr>
          <p:spPr bwMode="gray">
            <a:xfrm>
              <a:off x="5664200" y="2038350"/>
              <a:ext cx="153988" cy="157162"/>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91" name="Freeform 12">
              <a:extLst>
                <a:ext uri="{FF2B5EF4-FFF2-40B4-BE49-F238E27FC236}">
                  <a16:creationId xmlns:a16="http://schemas.microsoft.com/office/drawing/2014/main" id="{9B05AC38-0124-4E7F-88D2-E3FD624E86C8}"/>
                </a:ext>
              </a:extLst>
            </p:cNvPr>
            <p:cNvSpPr>
              <a:spLocks/>
            </p:cNvSpPr>
            <p:nvPr/>
          </p:nvSpPr>
          <p:spPr bwMode="gray">
            <a:xfrm>
              <a:off x="5102225" y="1211263"/>
              <a:ext cx="406400" cy="750887"/>
            </a:xfrm>
            <a:custGeom>
              <a:avLst/>
              <a:gdLst>
                <a:gd name="T0" fmla="*/ 316089 w 108"/>
                <a:gd name="T1" fmla="*/ 289091 h 200"/>
                <a:gd name="T2" fmla="*/ 312326 w 108"/>
                <a:gd name="T3" fmla="*/ 285337 h 200"/>
                <a:gd name="T4" fmla="*/ 289748 w 108"/>
                <a:gd name="T5" fmla="*/ 236529 h 200"/>
                <a:gd name="T6" fmla="*/ 316089 w 108"/>
                <a:gd name="T7" fmla="*/ 206494 h 200"/>
                <a:gd name="T8" fmla="*/ 316089 w 108"/>
                <a:gd name="T9" fmla="*/ 127651 h 200"/>
                <a:gd name="T10" fmla="*/ 237067 w 108"/>
                <a:gd name="T11" fmla="*/ 71334 h 200"/>
                <a:gd name="T12" fmla="*/ 173096 w 108"/>
                <a:gd name="T13" fmla="*/ 112633 h 200"/>
                <a:gd name="T14" fmla="*/ 169333 w 108"/>
                <a:gd name="T15" fmla="*/ 112633 h 200"/>
                <a:gd name="T16" fmla="*/ 120415 w 108"/>
                <a:gd name="T17" fmla="*/ 93861 h 200"/>
                <a:gd name="T18" fmla="*/ 112889 w 108"/>
                <a:gd name="T19" fmla="*/ 86352 h 200"/>
                <a:gd name="T20" fmla="*/ 56444 w 108"/>
                <a:gd name="T21" fmla="*/ 0 h 200"/>
                <a:gd name="T22" fmla="*/ 0 w 108"/>
                <a:gd name="T23" fmla="*/ 30035 h 200"/>
                <a:gd name="T24" fmla="*/ 52681 w 108"/>
                <a:gd name="T25" fmla="*/ 60071 h 200"/>
                <a:gd name="T26" fmla="*/ 97837 w 108"/>
                <a:gd name="T27" fmla="*/ 150177 h 200"/>
                <a:gd name="T28" fmla="*/ 169333 w 108"/>
                <a:gd name="T29" fmla="*/ 172704 h 200"/>
                <a:gd name="T30" fmla="*/ 237067 w 108"/>
                <a:gd name="T31" fmla="*/ 135160 h 200"/>
                <a:gd name="T32" fmla="*/ 248356 w 108"/>
                <a:gd name="T33" fmla="*/ 187722 h 200"/>
                <a:gd name="T34" fmla="*/ 252119 w 108"/>
                <a:gd name="T35" fmla="*/ 304109 h 200"/>
                <a:gd name="T36" fmla="*/ 346193 w 108"/>
                <a:gd name="T37" fmla="*/ 352917 h 200"/>
                <a:gd name="T38" fmla="*/ 316089 w 108"/>
                <a:gd name="T39" fmla="*/ 397970 h 200"/>
                <a:gd name="T40" fmla="*/ 237067 w 108"/>
                <a:gd name="T41" fmla="*/ 484322 h 200"/>
                <a:gd name="T42" fmla="*/ 267170 w 108"/>
                <a:gd name="T43" fmla="*/ 578183 h 200"/>
                <a:gd name="T44" fmla="*/ 218252 w 108"/>
                <a:gd name="T45" fmla="*/ 593201 h 200"/>
                <a:gd name="T46" fmla="*/ 139230 w 108"/>
                <a:gd name="T47" fmla="*/ 578183 h 200"/>
                <a:gd name="T48" fmla="*/ 52681 w 108"/>
                <a:gd name="T49" fmla="*/ 660781 h 200"/>
                <a:gd name="T50" fmla="*/ 30104 w 108"/>
                <a:gd name="T51" fmla="*/ 687062 h 200"/>
                <a:gd name="T52" fmla="*/ 30104 w 108"/>
                <a:gd name="T53" fmla="*/ 750887 h 200"/>
                <a:gd name="T54" fmla="*/ 112889 w 108"/>
                <a:gd name="T55" fmla="*/ 690816 h 200"/>
                <a:gd name="T56" fmla="*/ 116652 w 108"/>
                <a:gd name="T57" fmla="*/ 657026 h 200"/>
                <a:gd name="T58" fmla="*/ 165570 w 108"/>
                <a:gd name="T59" fmla="*/ 634500 h 200"/>
                <a:gd name="T60" fmla="*/ 169333 w 108"/>
                <a:gd name="T61" fmla="*/ 634500 h 200"/>
                <a:gd name="T62" fmla="*/ 195674 w 108"/>
                <a:gd name="T63" fmla="*/ 657026 h 200"/>
                <a:gd name="T64" fmla="*/ 278459 w 108"/>
                <a:gd name="T65" fmla="*/ 657026 h 200"/>
                <a:gd name="T66" fmla="*/ 331141 w 108"/>
                <a:gd name="T67" fmla="*/ 578183 h 200"/>
                <a:gd name="T68" fmla="*/ 293511 w 108"/>
                <a:gd name="T69" fmla="*/ 518112 h 200"/>
                <a:gd name="T70" fmla="*/ 293511 w 108"/>
                <a:gd name="T71" fmla="*/ 506849 h 200"/>
                <a:gd name="T72" fmla="*/ 312326 w 108"/>
                <a:gd name="T73" fmla="*/ 461796 h 200"/>
                <a:gd name="T74" fmla="*/ 349956 w 108"/>
                <a:gd name="T75" fmla="*/ 458041 h 200"/>
                <a:gd name="T76" fmla="*/ 406400 w 108"/>
                <a:gd name="T77" fmla="*/ 345408 h 2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8" h="200">
                  <a:moveTo>
                    <a:pt x="93" y="77"/>
                  </a:moveTo>
                  <a:cubicBezTo>
                    <a:pt x="84" y="77"/>
                    <a:pt x="84" y="77"/>
                    <a:pt x="84" y="77"/>
                  </a:cubicBezTo>
                  <a:cubicBezTo>
                    <a:pt x="84" y="77"/>
                    <a:pt x="83" y="77"/>
                    <a:pt x="83" y="76"/>
                  </a:cubicBezTo>
                  <a:cubicBezTo>
                    <a:pt x="83" y="76"/>
                    <a:pt x="83" y="76"/>
                    <a:pt x="83" y="76"/>
                  </a:cubicBezTo>
                  <a:cubicBezTo>
                    <a:pt x="78" y="64"/>
                    <a:pt x="78" y="64"/>
                    <a:pt x="78" y="64"/>
                  </a:cubicBezTo>
                  <a:cubicBezTo>
                    <a:pt x="78" y="63"/>
                    <a:pt x="78" y="63"/>
                    <a:pt x="77" y="63"/>
                  </a:cubicBezTo>
                  <a:cubicBezTo>
                    <a:pt x="77" y="63"/>
                    <a:pt x="77" y="62"/>
                    <a:pt x="78" y="61"/>
                  </a:cubicBezTo>
                  <a:cubicBezTo>
                    <a:pt x="84" y="55"/>
                    <a:pt x="84" y="55"/>
                    <a:pt x="84" y="55"/>
                  </a:cubicBezTo>
                  <a:cubicBezTo>
                    <a:pt x="87" y="53"/>
                    <a:pt x="88" y="49"/>
                    <a:pt x="88" y="45"/>
                  </a:cubicBezTo>
                  <a:cubicBezTo>
                    <a:pt x="88" y="41"/>
                    <a:pt x="87" y="37"/>
                    <a:pt x="84" y="34"/>
                  </a:cubicBezTo>
                  <a:cubicBezTo>
                    <a:pt x="74" y="24"/>
                    <a:pt x="74" y="24"/>
                    <a:pt x="74" y="24"/>
                  </a:cubicBezTo>
                  <a:cubicBezTo>
                    <a:pt x="71" y="21"/>
                    <a:pt x="67" y="19"/>
                    <a:pt x="63" y="19"/>
                  </a:cubicBezTo>
                  <a:cubicBezTo>
                    <a:pt x="59" y="19"/>
                    <a:pt x="55" y="21"/>
                    <a:pt x="52" y="24"/>
                  </a:cubicBezTo>
                  <a:cubicBezTo>
                    <a:pt x="46" y="30"/>
                    <a:pt x="46" y="30"/>
                    <a:pt x="46" y="30"/>
                  </a:cubicBezTo>
                  <a:cubicBezTo>
                    <a:pt x="46" y="30"/>
                    <a:pt x="46" y="30"/>
                    <a:pt x="45" y="30"/>
                  </a:cubicBezTo>
                  <a:cubicBezTo>
                    <a:pt x="45" y="30"/>
                    <a:pt x="45" y="30"/>
                    <a:pt x="45" y="30"/>
                  </a:cubicBezTo>
                  <a:cubicBezTo>
                    <a:pt x="44" y="30"/>
                    <a:pt x="44" y="30"/>
                    <a:pt x="44" y="30"/>
                  </a:cubicBezTo>
                  <a:cubicBezTo>
                    <a:pt x="32" y="25"/>
                    <a:pt x="32" y="25"/>
                    <a:pt x="32" y="25"/>
                  </a:cubicBezTo>
                  <a:cubicBezTo>
                    <a:pt x="32" y="25"/>
                    <a:pt x="32" y="25"/>
                    <a:pt x="31" y="25"/>
                  </a:cubicBezTo>
                  <a:cubicBezTo>
                    <a:pt x="31" y="24"/>
                    <a:pt x="30" y="24"/>
                    <a:pt x="30" y="23"/>
                  </a:cubicBezTo>
                  <a:cubicBezTo>
                    <a:pt x="30" y="15"/>
                    <a:pt x="30" y="15"/>
                    <a:pt x="30" y="15"/>
                  </a:cubicBezTo>
                  <a:cubicBezTo>
                    <a:pt x="30" y="6"/>
                    <a:pt x="23" y="0"/>
                    <a:pt x="15" y="0"/>
                  </a:cubicBezTo>
                  <a:cubicBezTo>
                    <a:pt x="8" y="0"/>
                    <a:pt x="8" y="0"/>
                    <a:pt x="8" y="0"/>
                  </a:cubicBezTo>
                  <a:cubicBezTo>
                    <a:pt x="3" y="0"/>
                    <a:pt x="0" y="3"/>
                    <a:pt x="0" y="8"/>
                  </a:cubicBezTo>
                  <a:cubicBezTo>
                    <a:pt x="0" y="12"/>
                    <a:pt x="3" y="16"/>
                    <a:pt x="8" y="16"/>
                  </a:cubicBezTo>
                  <a:cubicBezTo>
                    <a:pt x="14" y="16"/>
                    <a:pt x="14" y="16"/>
                    <a:pt x="14" y="16"/>
                  </a:cubicBezTo>
                  <a:cubicBezTo>
                    <a:pt x="14" y="23"/>
                    <a:pt x="14" y="23"/>
                    <a:pt x="14" y="23"/>
                  </a:cubicBezTo>
                  <a:cubicBezTo>
                    <a:pt x="14" y="31"/>
                    <a:pt x="19" y="38"/>
                    <a:pt x="26" y="40"/>
                  </a:cubicBezTo>
                  <a:cubicBezTo>
                    <a:pt x="37" y="45"/>
                    <a:pt x="37" y="45"/>
                    <a:pt x="37" y="45"/>
                  </a:cubicBezTo>
                  <a:cubicBezTo>
                    <a:pt x="39" y="46"/>
                    <a:pt x="42" y="46"/>
                    <a:pt x="45" y="46"/>
                  </a:cubicBezTo>
                  <a:cubicBezTo>
                    <a:pt x="50" y="46"/>
                    <a:pt x="54" y="45"/>
                    <a:pt x="58" y="41"/>
                  </a:cubicBezTo>
                  <a:cubicBezTo>
                    <a:pt x="63" y="36"/>
                    <a:pt x="63" y="36"/>
                    <a:pt x="63" y="36"/>
                  </a:cubicBezTo>
                  <a:cubicBezTo>
                    <a:pt x="71" y="45"/>
                    <a:pt x="71" y="45"/>
                    <a:pt x="71" y="45"/>
                  </a:cubicBezTo>
                  <a:cubicBezTo>
                    <a:pt x="66" y="50"/>
                    <a:pt x="66" y="50"/>
                    <a:pt x="66" y="50"/>
                  </a:cubicBezTo>
                  <a:cubicBezTo>
                    <a:pt x="61" y="55"/>
                    <a:pt x="60" y="64"/>
                    <a:pt x="63" y="70"/>
                  </a:cubicBezTo>
                  <a:cubicBezTo>
                    <a:pt x="67" y="81"/>
                    <a:pt x="67" y="81"/>
                    <a:pt x="67" y="81"/>
                  </a:cubicBezTo>
                  <a:cubicBezTo>
                    <a:pt x="70" y="88"/>
                    <a:pt x="77" y="94"/>
                    <a:pt x="84" y="94"/>
                  </a:cubicBezTo>
                  <a:cubicBezTo>
                    <a:pt x="92" y="94"/>
                    <a:pt x="92" y="94"/>
                    <a:pt x="92" y="94"/>
                  </a:cubicBezTo>
                  <a:cubicBezTo>
                    <a:pt x="92" y="106"/>
                    <a:pt x="92" y="106"/>
                    <a:pt x="92" y="106"/>
                  </a:cubicBezTo>
                  <a:cubicBezTo>
                    <a:pt x="84" y="106"/>
                    <a:pt x="84" y="106"/>
                    <a:pt x="84" y="106"/>
                  </a:cubicBezTo>
                  <a:cubicBezTo>
                    <a:pt x="77" y="106"/>
                    <a:pt x="70" y="111"/>
                    <a:pt x="67" y="118"/>
                  </a:cubicBezTo>
                  <a:cubicBezTo>
                    <a:pt x="63" y="129"/>
                    <a:pt x="63" y="129"/>
                    <a:pt x="63" y="129"/>
                  </a:cubicBezTo>
                  <a:cubicBezTo>
                    <a:pt x="60" y="135"/>
                    <a:pt x="61" y="144"/>
                    <a:pt x="66" y="149"/>
                  </a:cubicBezTo>
                  <a:cubicBezTo>
                    <a:pt x="71" y="154"/>
                    <a:pt x="71" y="154"/>
                    <a:pt x="71" y="154"/>
                  </a:cubicBezTo>
                  <a:cubicBezTo>
                    <a:pt x="63" y="163"/>
                    <a:pt x="63" y="163"/>
                    <a:pt x="63" y="163"/>
                  </a:cubicBezTo>
                  <a:cubicBezTo>
                    <a:pt x="58" y="158"/>
                    <a:pt x="58" y="158"/>
                    <a:pt x="58" y="158"/>
                  </a:cubicBezTo>
                  <a:cubicBezTo>
                    <a:pt x="54" y="155"/>
                    <a:pt x="50" y="153"/>
                    <a:pt x="45" y="153"/>
                  </a:cubicBezTo>
                  <a:cubicBezTo>
                    <a:pt x="42" y="153"/>
                    <a:pt x="39" y="153"/>
                    <a:pt x="37" y="154"/>
                  </a:cubicBezTo>
                  <a:cubicBezTo>
                    <a:pt x="26" y="159"/>
                    <a:pt x="26" y="159"/>
                    <a:pt x="26" y="159"/>
                  </a:cubicBezTo>
                  <a:cubicBezTo>
                    <a:pt x="19" y="161"/>
                    <a:pt x="14" y="169"/>
                    <a:pt x="14" y="176"/>
                  </a:cubicBezTo>
                  <a:cubicBezTo>
                    <a:pt x="14" y="183"/>
                    <a:pt x="14" y="183"/>
                    <a:pt x="14" y="183"/>
                  </a:cubicBezTo>
                  <a:cubicBezTo>
                    <a:pt x="8" y="183"/>
                    <a:pt x="8" y="183"/>
                    <a:pt x="8" y="183"/>
                  </a:cubicBezTo>
                  <a:cubicBezTo>
                    <a:pt x="3" y="183"/>
                    <a:pt x="0" y="187"/>
                    <a:pt x="0" y="191"/>
                  </a:cubicBezTo>
                  <a:cubicBezTo>
                    <a:pt x="0" y="196"/>
                    <a:pt x="3" y="200"/>
                    <a:pt x="8" y="200"/>
                  </a:cubicBezTo>
                  <a:cubicBezTo>
                    <a:pt x="15" y="200"/>
                    <a:pt x="15" y="200"/>
                    <a:pt x="15" y="200"/>
                  </a:cubicBezTo>
                  <a:cubicBezTo>
                    <a:pt x="23" y="200"/>
                    <a:pt x="30" y="193"/>
                    <a:pt x="30" y="184"/>
                  </a:cubicBezTo>
                  <a:cubicBezTo>
                    <a:pt x="30" y="176"/>
                    <a:pt x="30" y="176"/>
                    <a:pt x="30" y="176"/>
                  </a:cubicBezTo>
                  <a:cubicBezTo>
                    <a:pt x="30" y="175"/>
                    <a:pt x="31" y="175"/>
                    <a:pt x="31" y="175"/>
                  </a:cubicBezTo>
                  <a:cubicBezTo>
                    <a:pt x="31" y="174"/>
                    <a:pt x="32" y="174"/>
                    <a:pt x="32" y="174"/>
                  </a:cubicBezTo>
                  <a:cubicBezTo>
                    <a:pt x="44" y="169"/>
                    <a:pt x="44" y="169"/>
                    <a:pt x="44" y="169"/>
                  </a:cubicBezTo>
                  <a:cubicBezTo>
                    <a:pt x="44" y="169"/>
                    <a:pt x="44" y="169"/>
                    <a:pt x="45" y="169"/>
                  </a:cubicBezTo>
                  <a:cubicBezTo>
                    <a:pt x="45" y="169"/>
                    <a:pt x="45" y="169"/>
                    <a:pt x="45" y="169"/>
                  </a:cubicBezTo>
                  <a:cubicBezTo>
                    <a:pt x="46" y="169"/>
                    <a:pt x="46" y="169"/>
                    <a:pt x="46" y="169"/>
                  </a:cubicBezTo>
                  <a:cubicBezTo>
                    <a:pt x="52" y="175"/>
                    <a:pt x="52" y="175"/>
                    <a:pt x="52" y="175"/>
                  </a:cubicBezTo>
                  <a:cubicBezTo>
                    <a:pt x="55" y="178"/>
                    <a:pt x="59" y="180"/>
                    <a:pt x="63" y="180"/>
                  </a:cubicBezTo>
                  <a:cubicBezTo>
                    <a:pt x="67" y="180"/>
                    <a:pt x="71" y="178"/>
                    <a:pt x="74" y="175"/>
                  </a:cubicBezTo>
                  <a:cubicBezTo>
                    <a:pt x="84" y="165"/>
                    <a:pt x="84" y="165"/>
                    <a:pt x="84" y="165"/>
                  </a:cubicBezTo>
                  <a:cubicBezTo>
                    <a:pt x="87" y="162"/>
                    <a:pt x="88" y="159"/>
                    <a:pt x="88" y="154"/>
                  </a:cubicBezTo>
                  <a:cubicBezTo>
                    <a:pt x="88" y="150"/>
                    <a:pt x="87" y="147"/>
                    <a:pt x="84" y="144"/>
                  </a:cubicBezTo>
                  <a:cubicBezTo>
                    <a:pt x="78" y="138"/>
                    <a:pt x="78" y="138"/>
                    <a:pt x="78" y="138"/>
                  </a:cubicBezTo>
                  <a:cubicBezTo>
                    <a:pt x="77" y="137"/>
                    <a:pt x="77" y="136"/>
                    <a:pt x="77" y="136"/>
                  </a:cubicBezTo>
                  <a:cubicBezTo>
                    <a:pt x="78" y="136"/>
                    <a:pt x="78" y="136"/>
                    <a:pt x="78" y="135"/>
                  </a:cubicBezTo>
                  <a:cubicBezTo>
                    <a:pt x="83" y="124"/>
                    <a:pt x="83" y="124"/>
                    <a:pt x="83" y="124"/>
                  </a:cubicBezTo>
                  <a:cubicBezTo>
                    <a:pt x="83" y="123"/>
                    <a:pt x="83" y="123"/>
                    <a:pt x="83" y="123"/>
                  </a:cubicBezTo>
                  <a:cubicBezTo>
                    <a:pt x="83" y="123"/>
                    <a:pt x="84" y="122"/>
                    <a:pt x="84" y="122"/>
                  </a:cubicBezTo>
                  <a:cubicBezTo>
                    <a:pt x="93" y="122"/>
                    <a:pt x="93" y="122"/>
                    <a:pt x="93" y="122"/>
                  </a:cubicBezTo>
                  <a:cubicBezTo>
                    <a:pt x="101" y="122"/>
                    <a:pt x="108" y="115"/>
                    <a:pt x="108" y="107"/>
                  </a:cubicBezTo>
                  <a:cubicBezTo>
                    <a:pt x="108" y="92"/>
                    <a:pt x="108" y="92"/>
                    <a:pt x="108" y="92"/>
                  </a:cubicBezTo>
                  <a:cubicBezTo>
                    <a:pt x="108" y="84"/>
                    <a:pt x="101" y="77"/>
                    <a:pt x="93" y="77"/>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92" name="Freeform 13">
              <a:extLst>
                <a:ext uri="{FF2B5EF4-FFF2-40B4-BE49-F238E27FC236}">
                  <a16:creationId xmlns:a16="http://schemas.microsoft.com/office/drawing/2014/main" id="{C27E71CB-3473-4302-A112-16177EDCA953}"/>
                </a:ext>
              </a:extLst>
            </p:cNvPr>
            <p:cNvSpPr>
              <a:spLocks/>
            </p:cNvSpPr>
            <p:nvPr/>
          </p:nvSpPr>
          <p:spPr bwMode="gray">
            <a:xfrm>
              <a:off x="5102225" y="1420813"/>
              <a:ext cx="192088" cy="327025"/>
            </a:xfrm>
            <a:custGeom>
              <a:avLst/>
              <a:gdLst>
                <a:gd name="T0" fmla="*/ 30131 w 51"/>
                <a:gd name="T1" fmla="*/ 266882 h 87"/>
                <a:gd name="T2" fmla="*/ 0 w 51"/>
                <a:gd name="T3" fmla="*/ 296954 h 87"/>
                <a:gd name="T4" fmla="*/ 30131 w 51"/>
                <a:gd name="T5" fmla="*/ 327025 h 87"/>
                <a:gd name="T6" fmla="*/ 192088 w 51"/>
                <a:gd name="T7" fmla="*/ 165392 h 87"/>
                <a:gd name="T8" fmla="*/ 30131 w 51"/>
                <a:gd name="T9" fmla="*/ 0 h 87"/>
                <a:gd name="T10" fmla="*/ 0 w 51"/>
                <a:gd name="T11" fmla="*/ 30071 h 87"/>
                <a:gd name="T12" fmla="*/ 30131 w 51"/>
                <a:gd name="T13" fmla="*/ 60143 h 87"/>
                <a:gd name="T14" fmla="*/ 131825 w 51"/>
                <a:gd name="T15" fmla="*/ 165392 h 87"/>
                <a:gd name="T16" fmla="*/ 30131 w 51"/>
                <a:gd name="T17" fmla="*/ 266882 h 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 h="87">
                  <a:moveTo>
                    <a:pt x="8" y="71"/>
                  </a:moveTo>
                  <a:cubicBezTo>
                    <a:pt x="4" y="71"/>
                    <a:pt x="0" y="74"/>
                    <a:pt x="0" y="79"/>
                  </a:cubicBezTo>
                  <a:cubicBezTo>
                    <a:pt x="0" y="83"/>
                    <a:pt x="4" y="87"/>
                    <a:pt x="8" y="87"/>
                  </a:cubicBezTo>
                  <a:cubicBezTo>
                    <a:pt x="32" y="87"/>
                    <a:pt x="51" y="68"/>
                    <a:pt x="51" y="44"/>
                  </a:cubicBezTo>
                  <a:cubicBezTo>
                    <a:pt x="51" y="20"/>
                    <a:pt x="32" y="0"/>
                    <a:pt x="8" y="0"/>
                  </a:cubicBezTo>
                  <a:cubicBezTo>
                    <a:pt x="4" y="0"/>
                    <a:pt x="0" y="4"/>
                    <a:pt x="0" y="8"/>
                  </a:cubicBezTo>
                  <a:cubicBezTo>
                    <a:pt x="0" y="13"/>
                    <a:pt x="4" y="16"/>
                    <a:pt x="8" y="16"/>
                  </a:cubicBezTo>
                  <a:cubicBezTo>
                    <a:pt x="23" y="16"/>
                    <a:pt x="35" y="29"/>
                    <a:pt x="35" y="44"/>
                  </a:cubicBezTo>
                  <a:cubicBezTo>
                    <a:pt x="35" y="59"/>
                    <a:pt x="23" y="71"/>
                    <a:pt x="8" y="71"/>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93" name="Freeform 14">
              <a:extLst>
                <a:ext uri="{FF2B5EF4-FFF2-40B4-BE49-F238E27FC236}">
                  <a16:creationId xmlns:a16="http://schemas.microsoft.com/office/drawing/2014/main" id="{98CEA01E-17E4-4470-B1D6-BEEDDB10FF16}"/>
                </a:ext>
              </a:extLst>
            </p:cNvPr>
            <p:cNvSpPr>
              <a:spLocks noEditPoints="1"/>
            </p:cNvSpPr>
            <p:nvPr/>
          </p:nvSpPr>
          <p:spPr bwMode="gray">
            <a:xfrm>
              <a:off x="4656138" y="1211263"/>
              <a:ext cx="415925" cy="750887"/>
            </a:xfrm>
            <a:custGeom>
              <a:avLst/>
              <a:gdLst>
                <a:gd name="T0" fmla="*/ 317615 w 110"/>
                <a:gd name="T1" fmla="*/ 0 h 200"/>
                <a:gd name="T2" fmla="*/ 196619 w 110"/>
                <a:gd name="T3" fmla="*/ 75089 h 200"/>
                <a:gd name="T4" fmla="*/ 86966 w 110"/>
                <a:gd name="T5" fmla="*/ 221512 h 200"/>
                <a:gd name="T6" fmla="*/ 68060 w 110"/>
                <a:gd name="T7" fmla="*/ 458041 h 200"/>
                <a:gd name="T8" fmla="*/ 196619 w 110"/>
                <a:gd name="T9" fmla="*/ 679553 h 200"/>
                <a:gd name="T10" fmla="*/ 302491 w 110"/>
                <a:gd name="T11" fmla="*/ 750887 h 200"/>
                <a:gd name="T12" fmla="*/ 381895 w 110"/>
                <a:gd name="T13" fmla="*/ 717097 h 200"/>
                <a:gd name="T14" fmla="*/ 415925 w 110"/>
                <a:gd name="T15" fmla="*/ 638254 h 200"/>
                <a:gd name="T16" fmla="*/ 415925 w 110"/>
                <a:gd name="T17" fmla="*/ 93861 h 200"/>
                <a:gd name="T18" fmla="*/ 415925 w 110"/>
                <a:gd name="T19" fmla="*/ 93861 h 200"/>
                <a:gd name="T20" fmla="*/ 302491 w 110"/>
                <a:gd name="T21" fmla="*/ 322881 h 200"/>
                <a:gd name="T22" fmla="*/ 336521 w 110"/>
                <a:gd name="T23" fmla="*/ 529375 h 200"/>
                <a:gd name="T24" fmla="*/ 336521 w 110"/>
                <a:gd name="T25" fmla="*/ 529375 h 200"/>
                <a:gd name="T26" fmla="*/ 196619 w 110"/>
                <a:gd name="T27" fmla="*/ 300355 h 200"/>
                <a:gd name="T28" fmla="*/ 223087 w 110"/>
                <a:gd name="T29" fmla="*/ 274074 h 200"/>
                <a:gd name="T30" fmla="*/ 196619 w 110"/>
                <a:gd name="T31" fmla="*/ 247793 h 200"/>
                <a:gd name="T32" fmla="*/ 147464 w 110"/>
                <a:gd name="T33" fmla="*/ 221512 h 200"/>
                <a:gd name="T34" fmla="*/ 196619 w 110"/>
                <a:gd name="T35" fmla="*/ 127651 h 200"/>
                <a:gd name="T36" fmla="*/ 317615 w 110"/>
                <a:gd name="T37" fmla="*/ 191476 h 200"/>
                <a:gd name="T38" fmla="*/ 340302 w 110"/>
                <a:gd name="T39" fmla="*/ 183967 h 200"/>
                <a:gd name="T40" fmla="*/ 340302 w 110"/>
                <a:gd name="T41" fmla="*/ 146423 h 200"/>
                <a:gd name="T42" fmla="*/ 276023 w 110"/>
                <a:gd name="T43" fmla="*/ 93861 h 200"/>
                <a:gd name="T44" fmla="*/ 362989 w 110"/>
                <a:gd name="T45" fmla="*/ 93861 h 200"/>
                <a:gd name="T46" fmla="*/ 362989 w 110"/>
                <a:gd name="T47" fmla="*/ 232775 h 200"/>
                <a:gd name="T48" fmla="*/ 302491 w 110"/>
                <a:gd name="T49" fmla="*/ 277828 h 200"/>
                <a:gd name="T50" fmla="*/ 276023 w 110"/>
                <a:gd name="T51" fmla="*/ 304109 h 200"/>
                <a:gd name="T52" fmla="*/ 302491 w 110"/>
                <a:gd name="T53" fmla="*/ 330390 h 200"/>
                <a:gd name="T54" fmla="*/ 362989 w 110"/>
                <a:gd name="T55" fmla="*/ 319127 h 200"/>
                <a:gd name="T56" fmla="*/ 336521 w 110"/>
                <a:gd name="T57" fmla="*/ 488077 h 200"/>
                <a:gd name="T58" fmla="*/ 310053 w 110"/>
                <a:gd name="T59" fmla="*/ 514358 h 200"/>
                <a:gd name="T60" fmla="*/ 336521 w 110"/>
                <a:gd name="T61" fmla="*/ 540639 h 200"/>
                <a:gd name="T62" fmla="*/ 362989 w 110"/>
                <a:gd name="T63" fmla="*/ 536884 h 200"/>
                <a:gd name="T64" fmla="*/ 344083 w 110"/>
                <a:gd name="T65" fmla="*/ 679553 h 200"/>
                <a:gd name="T66" fmla="*/ 257117 w 110"/>
                <a:gd name="T67" fmla="*/ 679553 h 200"/>
                <a:gd name="T68" fmla="*/ 268461 w 110"/>
                <a:gd name="T69" fmla="*/ 574429 h 200"/>
                <a:gd name="T70" fmla="*/ 219306 w 110"/>
                <a:gd name="T71" fmla="*/ 555656 h 200"/>
                <a:gd name="T72" fmla="*/ 128559 w 110"/>
                <a:gd name="T73" fmla="*/ 596955 h 200"/>
                <a:gd name="T74" fmla="*/ 128559 w 110"/>
                <a:gd name="T75" fmla="*/ 461796 h 200"/>
                <a:gd name="T76" fmla="*/ 264680 w 110"/>
                <a:gd name="T77" fmla="*/ 461796 h 200"/>
                <a:gd name="T78" fmla="*/ 302491 w 110"/>
                <a:gd name="T79" fmla="*/ 461796 h 200"/>
                <a:gd name="T80" fmla="*/ 302491 w 110"/>
                <a:gd name="T81" fmla="*/ 424251 h 200"/>
                <a:gd name="T82" fmla="*/ 102091 w 110"/>
                <a:gd name="T83" fmla="*/ 416742 h 200"/>
                <a:gd name="T84" fmla="*/ 113434 w 110"/>
                <a:gd name="T85" fmla="*/ 266565 h 200"/>
                <a:gd name="T86" fmla="*/ 302491 w 110"/>
                <a:gd name="T87" fmla="*/ 739624 h 2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0" h="200">
                  <a:moveTo>
                    <a:pt x="110" y="25"/>
                  </a:moveTo>
                  <a:cubicBezTo>
                    <a:pt x="110" y="11"/>
                    <a:pt x="99" y="0"/>
                    <a:pt x="84" y="0"/>
                  </a:cubicBezTo>
                  <a:cubicBezTo>
                    <a:pt x="72" y="0"/>
                    <a:pt x="61" y="9"/>
                    <a:pt x="59" y="20"/>
                  </a:cubicBezTo>
                  <a:cubicBezTo>
                    <a:pt x="57" y="20"/>
                    <a:pt x="54" y="20"/>
                    <a:pt x="52" y="20"/>
                  </a:cubicBezTo>
                  <a:cubicBezTo>
                    <a:pt x="35" y="20"/>
                    <a:pt x="22" y="33"/>
                    <a:pt x="22" y="50"/>
                  </a:cubicBezTo>
                  <a:cubicBezTo>
                    <a:pt x="22" y="53"/>
                    <a:pt x="22" y="56"/>
                    <a:pt x="23" y="59"/>
                  </a:cubicBezTo>
                  <a:cubicBezTo>
                    <a:pt x="10" y="64"/>
                    <a:pt x="0" y="76"/>
                    <a:pt x="0" y="91"/>
                  </a:cubicBezTo>
                  <a:cubicBezTo>
                    <a:pt x="0" y="104"/>
                    <a:pt x="7" y="116"/>
                    <a:pt x="18" y="122"/>
                  </a:cubicBezTo>
                  <a:cubicBezTo>
                    <a:pt x="9" y="137"/>
                    <a:pt x="11" y="156"/>
                    <a:pt x="24" y="169"/>
                  </a:cubicBezTo>
                  <a:cubicBezTo>
                    <a:pt x="31" y="177"/>
                    <a:pt x="41" y="181"/>
                    <a:pt x="52" y="181"/>
                  </a:cubicBezTo>
                  <a:cubicBezTo>
                    <a:pt x="53" y="185"/>
                    <a:pt x="56" y="188"/>
                    <a:pt x="58" y="191"/>
                  </a:cubicBezTo>
                  <a:cubicBezTo>
                    <a:pt x="64" y="196"/>
                    <a:pt x="72" y="200"/>
                    <a:pt x="80" y="200"/>
                  </a:cubicBezTo>
                  <a:cubicBezTo>
                    <a:pt x="80" y="200"/>
                    <a:pt x="80" y="200"/>
                    <a:pt x="80" y="200"/>
                  </a:cubicBezTo>
                  <a:cubicBezTo>
                    <a:pt x="88" y="200"/>
                    <a:pt x="96" y="196"/>
                    <a:pt x="101" y="191"/>
                  </a:cubicBezTo>
                  <a:cubicBezTo>
                    <a:pt x="107" y="185"/>
                    <a:pt x="110" y="178"/>
                    <a:pt x="110" y="170"/>
                  </a:cubicBezTo>
                  <a:cubicBezTo>
                    <a:pt x="110" y="170"/>
                    <a:pt x="110" y="170"/>
                    <a:pt x="110" y="170"/>
                  </a:cubicBezTo>
                  <a:cubicBezTo>
                    <a:pt x="110" y="170"/>
                    <a:pt x="110" y="170"/>
                    <a:pt x="110" y="170"/>
                  </a:cubicBezTo>
                  <a:cubicBezTo>
                    <a:pt x="110" y="25"/>
                    <a:pt x="110" y="25"/>
                    <a:pt x="110" y="25"/>
                  </a:cubicBezTo>
                  <a:cubicBezTo>
                    <a:pt x="110" y="25"/>
                    <a:pt x="110" y="25"/>
                    <a:pt x="110" y="25"/>
                  </a:cubicBezTo>
                  <a:cubicBezTo>
                    <a:pt x="110" y="25"/>
                    <a:pt x="110" y="25"/>
                    <a:pt x="110" y="25"/>
                  </a:cubicBezTo>
                  <a:close/>
                  <a:moveTo>
                    <a:pt x="80" y="86"/>
                  </a:moveTo>
                  <a:cubicBezTo>
                    <a:pt x="80" y="86"/>
                    <a:pt x="80" y="86"/>
                    <a:pt x="80" y="86"/>
                  </a:cubicBezTo>
                  <a:cubicBezTo>
                    <a:pt x="80" y="86"/>
                    <a:pt x="80" y="86"/>
                    <a:pt x="80" y="86"/>
                  </a:cubicBezTo>
                  <a:close/>
                  <a:moveTo>
                    <a:pt x="89" y="141"/>
                  </a:moveTo>
                  <a:cubicBezTo>
                    <a:pt x="89" y="141"/>
                    <a:pt x="89" y="141"/>
                    <a:pt x="89" y="141"/>
                  </a:cubicBezTo>
                  <a:cubicBezTo>
                    <a:pt x="89" y="141"/>
                    <a:pt x="89" y="141"/>
                    <a:pt x="89" y="141"/>
                  </a:cubicBezTo>
                  <a:close/>
                  <a:moveTo>
                    <a:pt x="30" y="71"/>
                  </a:moveTo>
                  <a:cubicBezTo>
                    <a:pt x="36" y="77"/>
                    <a:pt x="43" y="80"/>
                    <a:pt x="52" y="80"/>
                  </a:cubicBezTo>
                  <a:cubicBezTo>
                    <a:pt x="54" y="80"/>
                    <a:pt x="56" y="80"/>
                    <a:pt x="57" y="78"/>
                  </a:cubicBezTo>
                  <a:cubicBezTo>
                    <a:pt x="58" y="77"/>
                    <a:pt x="59" y="75"/>
                    <a:pt x="59" y="73"/>
                  </a:cubicBezTo>
                  <a:cubicBezTo>
                    <a:pt x="59" y="71"/>
                    <a:pt x="58" y="69"/>
                    <a:pt x="57" y="68"/>
                  </a:cubicBezTo>
                  <a:cubicBezTo>
                    <a:pt x="56" y="67"/>
                    <a:pt x="54" y="66"/>
                    <a:pt x="52" y="66"/>
                  </a:cubicBezTo>
                  <a:cubicBezTo>
                    <a:pt x="48" y="66"/>
                    <a:pt x="44" y="64"/>
                    <a:pt x="41" y="62"/>
                  </a:cubicBezTo>
                  <a:cubicBezTo>
                    <a:pt x="40" y="61"/>
                    <a:pt x="40" y="60"/>
                    <a:pt x="39" y="59"/>
                  </a:cubicBezTo>
                  <a:cubicBezTo>
                    <a:pt x="37" y="57"/>
                    <a:pt x="36" y="53"/>
                    <a:pt x="36" y="50"/>
                  </a:cubicBezTo>
                  <a:cubicBezTo>
                    <a:pt x="36" y="41"/>
                    <a:pt x="43" y="34"/>
                    <a:pt x="52" y="34"/>
                  </a:cubicBezTo>
                  <a:cubicBezTo>
                    <a:pt x="55" y="34"/>
                    <a:pt x="59" y="35"/>
                    <a:pt x="62" y="37"/>
                  </a:cubicBezTo>
                  <a:cubicBezTo>
                    <a:pt x="66" y="45"/>
                    <a:pt x="75" y="51"/>
                    <a:pt x="84" y="51"/>
                  </a:cubicBezTo>
                  <a:cubicBezTo>
                    <a:pt x="84" y="51"/>
                    <a:pt x="84" y="51"/>
                    <a:pt x="84" y="51"/>
                  </a:cubicBezTo>
                  <a:cubicBezTo>
                    <a:pt x="86" y="51"/>
                    <a:pt x="88" y="50"/>
                    <a:pt x="90" y="49"/>
                  </a:cubicBezTo>
                  <a:cubicBezTo>
                    <a:pt x="91" y="48"/>
                    <a:pt x="92" y="46"/>
                    <a:pt x="92" y="44"/>
                  </a:cubicBezTo>
                  <a:cubicBezTo>
                    <a:pt x="92" y="42"/>
                    <a:pt x="91" y="40"/>
                    <a:pt x="90" y="39"/>
                  </a:cubicBezTo>
                  <a:cubicBezTo>
                    <a:pt x="88" y="37"/>
                    <a:pt x="86" y="37"/>
                    <a:pt x="84" y="37"/>
                  </a:cubicBezTo>
                  <a:cubicBezTo>
                    <a:pt x="78" y="37"/>
                    <a:pt x="73" y="32"/>
                    <a:pt x="73" y="25"/>
                  </a:cubicBezTo>
                  <a:cubicBezTo>
                    <a:pt x="73" y="19"/>
                    <a:pt x="78" y="14"/>
                    <a:pt x="84" y="14"/>
                  </a:cubicBezTo>
                  <a:cubicBezTo>
                    <a:pt x="91" y="14"/>
                    <a:pt x="96" y="19"/>
                    <a:pt x="96" y="25"/>
                  </a:cubicBezTo>
                  <a:cubicBezTo>
                    <a:pt x="96" y="25"/>
                    <a:pt x="96" y="25"/>
                    <a:pt x="96" y="25"/>
                  </a:cubicBezTo>
                  <a:cubicBezTo>
                    <a:pt x="96" y="62"/>
                    <a:pt x="96" y="62"/>
                    <a:pt x="96" y="62"/>
                  </a:cubicBezTo>
                  <a:cubicBezTo>
                    <a:pt x="96" y="62"/>
                    <a:pt x="96" y="62"/>
                    <a:pt x="96" y="62"/>
                  </a:cubicBezTo>
                  <a:cubicBezTo>
                    <a:pt x="96" y="64"/>
                    <a:pt x="95" y="74"/>
                    <a:pt x="80" y="74"/>
                  </a:cubicBezTo>
                  <a:cubicBezTo>
                    <a:pt x="78" y="74"/>
                    <a:pt x="76" y="75"/>
                    <a:pt x="75" y="76"/>
                  </a:cubicBezTo>
                  <a:cubicBezTo>
                    <a:pt x="73" y="77"/>
                    <a:pt x="73" y="79"/>
                    <a:pt x="73" y="81"/>
                  </a:cubicBezTo>
                  <a:cubicBezTo>
                    <a:pt x="73" y="83"/>
                    <a:pt x="73" y="85"/>
                    <a:pt x="75" y="86"/>
                  </a:cubicBezTo>
                  <a:cubicBezTo>
                    <a:pt x="76" y="87"/>
                    <a:pt x="78" y="88"/>
                    <a:pt x="80" y="88"/>
                  </a:cubicBezTo>
                  <a:cubicBezTo>
                    <a:pt x="80" y="88"/>
                    <a:pt x="80" y="88"/>
                    <a:pt x="80" y="88"/>
                  </a:cubicBezTo>
                  <a:cubicBezTo>
                    <a:pt x="86" y="88"/>
                    <a:pt x="92" y="87"/>
                    <a:pt x="96" y="85"/>
                  </a:cubicBezTo>
                  <a:cubicBezTo>
                    <a:pt x="96" y="125"/>
                    <a:pt x="96" y="125"/>
                    <a:pt x="96" y="125"/>
                  </a:cubicBezTo>
                  <a:cubicBezTo>
                    <a:pt x="95" y="127"/>
                    <a:pt x="92" y="130"/>
                    <a:pt x="89" y="130"/>
                  </a:cubicBezTo>
                  <a:cubicBezTo>
                    <a:pt x="87" y="130"/>
                    <a:pt x="85" y="130"/>
                    <a:pt x="84" y="132"/>
                  </a:cubicBezTo>
                  <a:cubicBezTo>
                    <a:pt x="83" y="133"/>
                    <a:pt x="82" y="135"/>
                    <a:pt x="82" y="137"/>
                  </a:cubicBezTo>
                  <a:cubicBezTo>
                    <a:pt x="82" y="139"/>
                    <a:pt x="83" y="140"/>
                    <a:pt x="84" y="142"/>
                  </a:cubicBezTo>
                  <a:cubicBezTo>
                    <a:pt x="85" y="143"/>
                    <a:pt x="87" y="144"/>
                    <a:pt x="89" y="144"/>
                  </a:cubicBezTo>
                  <a:cubicBezTo>
                    <a:pt x="89" y="144"/>
                    <a:pt x="89" y="144"/>
                    <a:pt x="89" y="144"/>
                  </a:cubicBezTo>
                  <a:cubicBezTo>
                    <a:pt x="92" y="144"/>
                    <a:pt x="94" y="143"/>
                    <a:pt x="96" y="143"/>
                  </a:cubicBezTo>
                  <a:cubicBezTo>
                    <a:pt x="96" y="169"/>
                    <a:pt x="96" y="169"/>
                    <a:pt x="96" y="169"/>
                  </a:cubicBezTo>
                  <a:cubicBezTo>
                    <a:pt x="96" y="174"/>
                    <a:pt x="94" y="178"/>
                    <a:pt x="91" y="181"/>
                  </a:cubicBezTo>
                  <a:cubicBezTo>
                    <a:pt x="88" y="184"/>
                    <a:pt x="84" y="185"/>
                    <a:pt x="80" y="185"/>
                  </a:cubicBezTo>
                  <a:cubicBezTo>
                    <a:pt x="76" y="185"/>
                    <a:pt x="71" y="184"/>
                    <a:pt x="68" y="181"/>
                  </a:cubicBezTo>
                  <a:cubicBezTo>
                    <a:pt x="62" y="174"/>
                    <a:pt x="62" y="164"/>
                    <a:pt x="68" y="158"/>
                  </a:cubicBezTo>
                  <a:cubicBezTo>
                    <a:pt x="70" y="156"/>
                    <a:pt x="71" y="155"/>
                    <a:pt x="71" y="153"/>
                  </a:cubicBezTo>
                  <a:cubicBezTo>
                    <a:pt x="71" y="151"/>
                    <a:pt x="70" y="149"/>
                    <a:pt x="68" y="148"/>
                  </a:cubicBezTo>
                  <a:cubicBezTo>
                    <a:pt x="66" y="145"/>
                    <a:pt x="61" y="145"/>
                    <a:pt x="58" y="148"/>
                  </a:cubicBezTo>
                  <a:cubicBezTo>
                    <a:pt x="53" y="153"/>
                    <a:pt x="50" y="159"/>
                    <a:pt x="50" y="167"/>
                  </a:cubicBezTo>
                  <a:cubicBezTo>
                    <a:pt x="44" y="166"/>
                    <a:pt x="38" y="163"/>
                    <a:pt x="34" y="159"/>
                  </a:cubicBezTo>
                  <a:cubicBezTo>
                    <a:pt x="29" y="154"/>
                    <a:pt x="27" y="148"/>
                    <a:pt x="27" y="141"/>
                  </a:cubicBezTo>
                  <a:cubicBezTo>
                    <a:pt x="27" y="135"/>
                    <a:pt x="29" y="128"/>
                    <a:pt x="34" y="123"/>
                  </a:cubicBezTo>
                  <a:cubicBezTo>
                    <a:pt x="39" y="119"/>
                    <a:pt x="45" y="116"/>
                    <a:pt x="52" y="116"/>
                  </a:cubicBezTo>
                  <a:cubicBezTo>
                    <a:pt x="59" y="116"/>
                    <a:pt x="65" y="119"/>
                    <a:pt x="70" y="123"/>
                  </a:cubicBezTo>
                  <a:cubicBezTo>
                    <a:pt x="71" y="125"/>
                    <a:pt x="73" y="126"/>
                    <a:pt x="75" y="126"/>
                  </a:cubicBezTo>
                  <a:cubicBezTo>
                    <a:pt x="77" y="126"/>
                    <a:pt x="79" y="125"/>
                    <a:pt x="80" y="123"/>
                  </a:cubicBezTo>
                  <a:cubicBezTo>
                    <a:pt x="81" y="122"/>
                    <a:pt x="82" y="120"/>
                    <a:pt x="82" y="118"/>
                  </a:cubicBezTo>
                  <a:cubicBezTo>
                    <a:pt x="82" y="116"/>
                    <a:pt x="81" y="115"/>
                    <a:pt x="80" y="113"/>
                  </a:cubicBezTo>
                  <a:cubicBezTo>
                    <a:pt x="73" y="106"/>
                    <a:pt x="63" y="102"/>
                    <a:pt x="52" y="102"/>
                  </a:cubicBezTo>
                  <a:cubicBezTo>
                    <a:pt x="43" y="102"/>
                    <a:pt x="34" y="105"/>
                    <a:pt x="27" y="111"/>
                  </a:cubicBezTo>
                  <a:cubicBezTo>
                    <a:pt x="20" y="107"/>
                    <a:pt x="14" y="100"/>
                    <a:pt x="14" y="91"/>
                  </a:cubicBezTo>
                  <a:cubicBezTo>
                    <a:pt x="14" y="82"/>
                    <a:pt x="21" y="74"/>
                    <a:pt x="30" y="71"/>
                  </a:cubicBezTo>
                  <a:close/>
                  <a:moveTo>
                    <a:pt x="80" y="197"/>
                  </a:moveTo>
                  <a:cubicBezTo>
                    <a:pt x="80" y="197"/>
                    <a:pt x="80" y="197"/>
                    <a:pt x="80" y="197"/>
                  </a:cubicBezTo>
                  <a:cubicBezTo>
                    <a:pt x="80" y="197"/>
                    <a:pt x="80" y="197"/>
                    <a:pt x="80" y="197"/>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grpSp>
      <p:sp>
        <p:nvSpPr>
          <p:cNvPr id="96" name="Freeform 159">
            <a:extLst>
              <a:ext uri="{FF2B5EF4-FFF2-40B4-BE49-F238E27FC236}">
                <a16:creationId xmlns:a16="http://schemas.microsoft.com/office/drawing/2014/main" id="{CF89BD6B-3957-44D0-B3F9-8C286DB4211A}"/>
              </a:ext>
            </a:extLst>
          </p:cNvPr>
          <p:cNvSpPr/>
          <p:nvPr/>
        </p:nvSpPr>
        <p:spPr bwMode="gray">
          <a:xfrm flipH="1">
            <a:off x="3003115" y="3350992"/>
            <a:ext cx="851718" cy="4452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rPr>
              <a:t>LTE</a:t>
            </a:r>
          </a:p>
        </p:txBody>
      </p:sp>
      <p:sp>
        <p:nvSpPr>
          <p:cNvPr id="94" name="Freeform 159">
            <a:extLst>
              <a:ext uri="{FF2B5EF4-FFF2-40B4-BE49-F238E27FC236}">
                <a16:creationId xmlns:a16="http://schemas.microsoft.com/office/drawing/2014/main" id="{0D53A6BF-D7AA-4CB4-BBE5-DCB037A05F34}"/>
              </a:ext>
            </a:extLst>
          </p:cNvPr>
          <p:cNvSpPr/>
          <p:nvPr/>
        </p:nvSpPr>
        <p:spPr bwMode="gray">
          <a:xfrm flipH="1">
            <a:off x="2607180" y="3029864"/>
            <a:ext cx="851718" cy="4452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rPr>
              <a:t>I</a:t>
            </a:r>
            <a:r>
              <a:rPr lang="en-US" altLang="zh-CN" sz="1400" dirty="0">
                <a:solidFill>
                  <a:schemeClr val="tx1"/>
                </a:solidFill>
                <a:latin typeface="Huawei Sans" panose="020C0503030203020204" pitchFamily="34" charset="0"/>
                <a:ea typeface="方正兰亭黑简体" panose="02000000000000000000" pitchFamily="2" charset="-122"/>
              </a:rPr>
              <a:t>nternet</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95" name="Freeform 159">
            <a:extLst>
              <a:ext uri="{FF2B5EF4-FFF2-40B4-BE49-F238E27FC236}">
                <a16:creationId xmlns:a16="http://schemas.microsoft.com/office/drawing/2014/main" id="{B6770A00-258C-4610-A250-5654AEC0869F}"/>
              </a:ext>
            </a:extLst>
          </p:cNvPr>
          <p:cNvSpPr/>
          <p:nvPr/>
        </p:nvSpPr>
        <p:spPr bwMode="gray">
          <a:xfrm flipH="1">
            <a:off x="2631162" y="3571966"/>
            <a:ext cx="851718" cy="4452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rPr>
              <a:t>MPLS</a:t>
            </a:r>
          </a:p>
        </p:txBody>
      </p:sp>
      <p:sp>
        <p:nvSpPr>
          <p:cNvPr id="98" name="Freeform 159">
            <a:extLst>
              <a:ext uri="{FF2B5EF4-FFF2-40B4-BE49-F238E27FC236}">
                <a16:creationId xmlns:a16="http://schemas.microsoft.com/office/drawing/2014/main" id="{BA20E1B9-D796-4036-A504-710084E23BB2}"/>
              </a:ext>
            </a:extLst>
          </p:cNvPr>
          <p:cNvSpPr/>
          <p:nvPr/>
        </p:nvSpPr>
        <p:spPr bwMode="gray">
          <a:xfrm flipH="1">
            <a:off x="8196937" y="3247970"/>
            <a:ext cx="851718" cy="4452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rPr>
              <a:t>LTE</a:t>
            </a:r>
          </a:p>
        </p:txBody>
      </p:sp>
      <p:sp>
        <p:nvSpPr>
          <p:cNvPr id="99" name="Freeform 159">
            <a:extLst>
              <a:ext uri="{FF2B5EF4-FFF2-40B4-BE49-F238E27FC236}">
                <a16:creationId xmlns:a16="http://schemas.microsoft.com/office/drawing/2014/main" id="{0452C32D-FB8D-4F67-9757-BEA908483537}"/>
              </a:ext>
            </a:extLst>
          </p:cNvPr>
          <p:cNvSpPr/>
          <p:nvPr/>
        </p:nvSpPr>
        <p:spPr bwMode="gray">
          <a:xfrm flipH="1">
            <a:off x="7801002" y="2926842"/>
            <a:ext cx="851718" cy="4452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rPr>
              <a:t>I</a:t>
            </a:r>
            <a:r>
              <a:rPr lang="en-US" altLang="zh-CN" sz="1400" dirty="0">
                <a:solidFill>
                  <a:schemeClr val="tx1"/>
                </a:solidFill>
                <a:latin typeface="Huawei Sans" panose="020C0503030203020204" pitchFamily="34" charset="0"/>
                <a:ea typeface="方正兰亭黑简体" panose="02000000000000000000" pitchFamily="2" charset="-122"/>
              </a:rPr>
              <a:t>nternet</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01" name="Freeform 159">
            <a:extLst>
              <a:ext uri="{FF2B5EF4-FFF2-40B4-BE49-F238E27FC236}">
                <a16:creationId xmlns:a16="http://schemas.microsoft.com/office/drawing/2014/main" id="{9FA5FA5B-4BF4-4A2E-B9A6-3D973C6E9389}"/>
              </a:ext>
            </a:extLst>
          </p:cNvPr>
          <p:cNvSpPr/>
          <p:nvPr/>
        </p:nvSpPr>
        <p:spPr bwMode="gray">
          <a:xfrm flipH="1">
            <a:off x="7824984" y="3468944"/>
            <a:ext cx="851718" cy="4452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rPr>
              <a:t>MPLS</a:t>
            </a:r>
          </a:p>
        </p:txBody>
      </p:sp>
    </p:spTree>
    <p:extLst>
      <p:ext uri="{BB962C8B-B14F-4D97-AF65-F5344CB8AC3E}">
        <p14:creationId xmlns:p14="http://schemas.microsoft.com/office/powerpoint/2010/main" val="1069615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dirty="0"/>
              <a:t>运营商转售</a:t>
            </a:r>
            <a:r>
              <a:rPr lang="en-US" altLang="zh-CN" dirty="0"/>
              <a:t>SD-WAN</a:t>
            </a:r>
            <a:r>
              <a:rPr lang="zh-CN" altLang="en-US" dirty="0"/>
              <a:t>场景</a:t>
            </a:r>
          </a:p>
        </p:txBody>
      </p:sp>
      <p:sp>
        <p:nvSpPr>
          <p:cNvPr id="82" name="矩形 81"/>
          <p:cNvSpPr/>
          <p:nvPr/>
        </p:nvSpPr>
        <p:spPr bwMode="gray">
          <a:xfrm>
            <a:off x="6110068" y="1056681"/>
            <a:ext cx="5291497" cy="3898503"/>
          </a:xfrm>
          <a:prstGeom prst="rect">
            <a:avLst/>
          </a:prstGeom>
        </p:spPr>
        <p:txBody>
          <a:bodyPr wrap="square">
            <a:spAutoFit/>
          </a:bodyPr>
          <a:lstStyle/>
          <a:p>
            <a:pPr marL="302279" lvl="1" indent="-302279" algn="just" defTabSz="914034" fontAlgn="ctr" hangingPunct="0">
              <a:lnSpc>
                <a:spcPct val="140000"/>
              </a:lnSpc>
              <a:spcBef>
                <a:spcPts val="792"/>
              </a:spcBef>
              <a:spcAft>
                <a:spcPts val="600"/>
              </a:spcAft>
              <a:buSzPct val="50000"/>
              <a:buFont typeface="Wingdings" panose="05000000000000000000" pitchFamily="2" charset="2"/>
              <a:buChar char="l"/>
              <a:defRP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运营商提供统一的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控制器为多个企业提供</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服务。</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marL="302279" lvl="1" indent="-302279" algn="just" defTabSz="914034" fontAlgn="ctr" hangingPunct="0">
              <a:lnSpc>
                <a:spcPct val="140000"/>
              </a:lnSpc>
              <a:spcBef>
                <a:spcPts val="792"/>
              </a:spcBef>
              <a:spcAft>
                <a:spcPts val="600"/>
              </a:spcAft>
              <a:buSzPct val="50000"/>
              <a:buFont typeface="Wingdings" panose="05000000000000000000" pitchFamily="2" charset="2"/>
              <a:buChar char="l"/>
              <a:defRP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企业可以作为租户，租用运营商提供的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服务，企业租户可以管控本企业范围内所有站点的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业务，但是无法看到其他租户的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业务。企业可以通过运营商分配的租户权限对自己的企业网络的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业务进行管控，也可以托管给运营商，由运营商对企业网络的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业务进行管控。</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marL="302279" lvl="1" indent="-302279" algn="just" defTabSz="914034" fontAlgn="ctr" hangingPunct="0">
              <a:lnSpc>
                <a:spcPct val="140000"/>
              </a:lnSpc>
              <a:spcBef>
                <a:spcPts val="792"/>
              </a:spcBef>
              <a:spcAft>
                <a:spcPts val="600"/>
              </a:spcAft>
              <a:buSzPct val="50000"/>
              <a:buFont typeface="Wingdings" panose="05000000000000000000" pitchFamily="2" charset="2"/>
              <a:buChar char="l"/>
              <a:defRP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通过</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 GW</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实现</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SD-WAN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网络与传统运营商骨干网灵活对接，快速兼容。</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7" name="Freeform 159">
            <a:extLst>
              <a:ext uri="{FF2B5EF4-FFF2-40B4-BE49-F238E27FC236}">
                <a16:creationId xmlns:a16="http://schemas.microsoft.com/office/drawing/2014/main" id="{E264B379-54B6-4871-A2C2-77B880B9C522}"/>
              </a:ext>
            </a:extLst>
          </p:cNvPr>
          <p:cNvSpPr/>
          <p:nvPr/>
        </p:nvSpPr>
        <p:spPr bwMode="gray">
          <a:xfrm flipH="1">
            <a:off x="3335963" y="1060664"/>
            <a:ext cx="1004663" cy="5251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base">
              <a:spcBef>
                <a:spcPct val="0"/>
              </a:spcBef>
              <a:spcAft>
                <a:spcPct val="0"/>
              </a:spcAft>
            </a:pPr>
            <a:r>
              <a:rPr lang="zh-CN" altLang="en-US" sz="1200" b="1" dirty="0">
                <a:solidFill>
                  <a:schemeClr val="tx1"/>
                </a:solidFill>
              </a:rPr>
              <a:t>运营商</a:t>
            </a:r>
            <a:r>
              <a:rPr lang="en-US" altLang="zh-CN" sz="1200" b="1" dirty="0">
                <a:solidFill>
                  <a:schemeClr val="tx1"/>
                </a:solidFill>
              </a:rPr>
              <a:t>DC</a:t>
            </a:r>
            <a:endParaRPr lang="zh-CN" altLang="en-US" sz="1200" b="1" dirty="0">
              <a:solidFill>
                <a:schemeClr val="tx1"/>
              </a:solidFill>
            </a:endParaRPr>
          </a:p>
        </p:txBody>
      </p:sp>
      <p:sp>
        <p:nvSpPr>
          <p:cNvPr id="66" name="Freeform 159">
            <a:extLst>
              <a:ext uri="{FF2B5EF4-FFF2-40B4-BE49-F238E27FC236}">
                <a16:creationId xmlns:a16="http://schemas.microsoft.com/office/drawing/2014/main" id="{7C092FA9-971F-4A1E-9D98-C0FD32CF00B0}"/>
              </a:ext>
            </a:extLst>
          </p:cNvPr>
          <p:cNvSpPr/>
          <p:nvPr/>
        </p:nvSpPr>
        <p:spPr bwMode="gray">
          <a:xfrm flipH="1">
            <a:off x="2075835" y="3499833"/>
            <a:ext cx="1004663" cy="5251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base">
              <a:spcBef>
                <a:spcPct val="0"/>
              </a:spcBef>
              <a:spcAft>
                <a:spcPct val="0"/>
              </a:spcAft>
            </a:pPr>
            <a:r>
              <a:rPr lang="zh-CN" altLang="en-US" sz="1200" b="1" dirty="0">
                <a:solidFill>
                  <a:srgbClr val="575756"/>
                </a:solidFill>
              </a:rPr>
              <a:t>零售企业</a:t>
            </a:r>
            <a:endParaRPr lang="en-US" altLang="zh-CN" sz="1200" b="1" dirty="0">
              <a:solidFill>
                <a:srgbClr val="575756"/>
              </a:solidFill>
            </a:endParaRPr>
          </a:p>
          <a:p>
            <a:pPr algn="ctr" fontAlgn="base">
              <a:spcBef>
                <a:spcPct val="0"/>
              </a:spcBef>
              <a:spcAft>
                <a:spcPct val="0"/>
              </a:spcAft>
            </a:pPr>
            <a:r>
              <a:rPr lang="zh-CN" altLang="en-US" sz="1200" b="1" dirty="0">
                <a:solidFill>
                  <a:srgbClr val="575756"/>
                </a:solidFill>
              </a:rPr>
              <a:t>总部</a:t>
            </a:r>
            <a:r>
              <a:rPr lang="en-US" altLang="zh-CN" sz="1200" b="1" dirty="0">
                <a:solidFill>
                  <a:srgbClr val="575756"/>
                </a:solidFill>
              </a:rPr>
              <a:t>/DC</a:t>
            </a:r>
            <a:endParaRPr lang="zh-CN" altLang="en-US" sz="1200" b="1" dirty="0">
              <a:solidFill>
                <a:srgbClr val="575756"/>
              </a:solidFill>
            </a:endParaRPr>
          </a:p>
        </p:txBody>
      </p:sp>
      <p:sp>
        <p:nvSpPr>
          <p:cNvPr id="65" name="Freeform 159">
            <a:extLst>
              <a:ext uri="{FF2B5EF4-FFF2-40B4-BE49-F238E27FC236}">
                <a16:creationId xmlns:a16="http://schemas.microsoft.com/office/drawing/2014/main" id="{E8D838BC-7B4F-4BF7-B43F-60265EE9E798}"/>
              </a:ext>
            </a:extLst>
          </p:cNvPr>
          <p:cNvSpPr/>
          <p:nvPr/>
        </p:nvSpPr>
        <p:spPr bwMode="gray">
          <a:xfrm flipH="1">
            <a:off x="4528819" y="3508305"/>
            <a:ext cx="1004663" cy="5251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base">
              <a:spcBef>
                <a:spcPct val="0"/>
              </a:spcBef>
              <a:spcAft>
                <a:spcPct val="0"/>
              </a:spcAft>
            </a:pPr>
            <a:r>
              <a:rPr lang="zh-CN" altLang="en-US" sz="1200" b="1" dirty="0">
                <a:solidFill>
                  <a:srgbClr val="575756"/>
                </a:solidFill>
              </a:rPr>
              <a:t>科技企业</a:t>
            </a:r>
            <a:endParaRPr lang="en-US" altLang="zh-CN" sz="1200" b="1" dirty="0">
              <a:solidFill>
                <a:srgbClr val="575756"/>
              </a:solidFill>
            </a:endParaRPr>
          </a:p>
          <a:p>
            <a:pPr algn="ctr" fontAlgn="base">
              <a:spcBef>
                <a:spcPct val="0"/>
              </a:spcBef>
              <a:spcAft>
                <a:spcPct val="0"/>
              </a:spcAft>
            </a:pPr>
            <a:r>
              <a:rPr lang="zh-CN" altLang="en-US" sz="1200" b="1" dirty="0">
                <a:solidFill>
                  <a:srgbClr val="575756"/>
                </a:solidFill>
              </a:rPr>
              <a:t>总部</a:t>
            </a:r>
            <a:r>
              <a:rPr lang="en-US" altLang="zh-CN" sz="1200" b="1" dirty="0">
                <a:solidFill>
                  <a:srgbClr val="575756"/>
                </a:solidFill>
              </a:rPr>
              <a:t>/DC</a:t>
            </a:r>
            <a:endParaRPr lang="zh-CN" altLang="en-US" sz="1200" b="1" dirty="0">
              <a:solidFill>
                <a:srgbClr val="575756"/>
              </a:solidFill>
            </a:endParaRPr>
          </a:p>
        </p:txBody>
      </p:sp>
      <p:sp>
        <p:nvSpPr>
          <p:cNvPr id="125" name="椭圆 124"/>
          <p:cNvSpPr/>
          <p:nvPr/>
        </p:nvSpPr>
        <p:spPr bwMode="gray">
          <a:xfrm>
            <a:off x="2382297" y="1996539"/>
            <a:ext cx="2886565" cy="1479707"/>
          </a:xfrm>
          <a:prstGeom prst="ellipse">
            <a:avLst/>
          </a:prstGeom>
          <a:gradFill flip="none" rotWithShape="1">
            <a:gsLst>
              <a:gs pos="0">
                <a:schemeClr val="accent3">
                  <a:lumMod val="60000"/>
                  <a:lumOff val="40000"/>
                  <a:alpha val="25000"/>
                </a:schemeClr>
              </a:gs>
              <a:gs pos="100000">
                <a:schemeClr val="accent3">
                  <a:lumMod val="60000"/>
                  <a:lumOff val="40000"/>
                  <a:alpha val="0"/>
                </a:schemeClr>
              </a:gs>
            </a:gsLst>
            <a:lin ang="16200000" scaled="1"/>
            <a:tileRect/>
          </a:gradFill>
          <a:ln w="0" cap="flat" cmpd="sng" algn="ctr">
            <a:solidFill>
              <a:schemeClr val="accent3"/>
            </a:solidFill>
            <a:prstDash val="dash"/>
            <a:miter lim="800000"/>
          </a:ln>
          <a:effectLst/>
        </p:spPr>
        <p:txBody>
          <a:bodyPr wrap="square" rtlCol="0" anchor="ctr">
            <a:noAutofit/>
          </a:bodyPr>
          <a:lstStyle/>
          <a:p>
            <a:pPr indent="-250993" algn="ctr" defTabSz="685800" fontAlgn="ctr">
              <a:spcBef>
                <a:spcPct val="20000"/>
              </a:spcBef>
              <a:spcAft>
                <a:spcPts val="2246"/>
              </a:spcAft>
              <a:buClr>
                <a:prstClr val="white"/>
              </a:buClr>
              <a:buSzPct val="60000"/>
              <a:defRPr/>
            </a:pPr>
            <a:endParaRPr lang="en-US" sz="1200" b="1" kern="0" dirty="0">
              <a:solidFill>
                <a:prstClr val="white"/>
              </a:solidFill>
              <a:effectLst>
                <a:outerShdw blurRad="38100" dist="38100" dir="2700000" algn="tl">
                  <a:srgbClr val="000000">
                    <a:alpha val="43137"/>
                  </a:srgbClr>
                </a:outerShdw>
              </a:effectLst>
              <a:latin typeface="方正兰亭黑简体" panose="02000000000000000000" pitchFamily="2" charset="-122"/>
              <a:ea typeface="方正兰亭黑简体" panose="02000000000000000000" pitchFamily="2" charset="-122"/>
              <a:cs typeface="Huawei Sans" panose="020C0503030203020204" pitchFamily="34" charset="0"/>
            </a:endParaRPr>
          </a:p>
        </p:txBody>
      </p:sp>
      <p:cxnSp>
        <p:nvCxnSpPr>
          <p:cNvPr id="7" name="直接连接符 6"/>
          <p:cNvCxnSpPr/>
          <p:nvPr/>
        </p:nvCxnSpPr>
        <p:spPr bwMode="gray">
          <a:xfrm flipH="1" flipV="1">
            <a:off x="2114348" y="5387849"/>
            <a:ext cx="4050" cy="277879"/>
          </a:xfrm>
          <a:prstGeom prst="line">
            <a:avLst/>
          </a:prstGeom>
          <a:noFill/>
          <a:ln w="9525" cap="flat" cmpd="sng" algn="ctr">
            <a:solidFill>
              <a:schemeClr val="bg2">
                <a:lumMod val="7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p:cNvCxnSpPr/>
          <p:nvPr/>
        </p:nvCxnSpPr>
        <p:spPr bwMode="gray">
          <a:xfrm flipH="1" flipV="1">
            <a:off x="1960773" y="5387849"/>
            <a:ext cx="4050" cy="27787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p:nvPr/>
        </p:nvCxnSpPr>
        <p:spPr bwMode="gray">
          <a:xfrm flipH="1" flipV="1">
            <a:off x="3186592" y="5387849"/>
            <a:ext cx="4050" cy="277879"/>
          </a:xfrm>
          <a:prstGeom prst="line">
            <a:avLst/>
          </a:prstGeom>
          <a:noFill/>
          <a:ln w="9525" cap="flat" cmpd="sng" algn="ctr">
            <a:solidFill>
              <a:schemeClr val="bg2">
                <a:lumMod val="7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p:nvPr/>
        </p:nvCxnSpPr>
        <p:spPr bwMode="gray">
          <a:xfrm flipH="1" flipV="1">
            <a:off x="3033017" y="5387849"/>
            <a:ext cx="4050" cy="27787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p:cNvCxnSpPr/>
          <p:nvPr/>
        </p:nvCxnSpPr>
        <p:spPr bwMode="gray">
          <a:xfrm flipH="1" flipV="1">
            <a:off x="2320109" y="4334068"/>
            <a:ext cx="4050" cy="27787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p:cNvCxnSpPr/>
          <p:nvPr/>
        </p:nvCxnSpPr>
        <p:spPr bwMode="gray">
          <a:xfrm flipH="1" flipV="1">
            <a:off x="2821736" y="4324735"/>
            <a:ext cx="4050" cy="27787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圆角矩形 22"/>
          <p:cNvSpPr/>
          <p:nvPr/>
        </p:nvSpPr>
        <p:spPr bwMode="gray">
          <a:xfrm>
            <a:off x="1796330" y="4597657"/>
            <a:ext cx="1550155" cy="786054"/>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200" b="0" i="0" u="none" strike="noStrike" cap="none" normalizeH="0" baseline="0">
              <a:ln>
                <a:noFill/>
              </a:ln>
              <a:solidFill>
                <a:srgbClr val="575756"/>
              </a:solidFill>
              <a:effectLst/>
            </a:endParaRPr>
          </a:p>
        </p:txBody>
      </p:sp>
      <p:cxnSp>
        <p:nvCxnSpPr>
          <p:cNvPr id="27" name="直接连接符 26"/>
          <p:cNvCxnSpPr/>
          <p:nvPr/>
        </p:nvCxnSpPr>
        <p:spPr bwMode="gray">
          <a:xfrm flipH="1" flipV="1">
            <a:off x="4562710" y="5387849"/>
            <a:ext cx="4050" cy="277879"/>
          </a:xfrm>
          <a:prstGeom prst="line">
            <a:avLst/>
          </a:prstGeom>
          <a:noFill/>
          <a:ln w="9525" cap="flat" cmpd="sng" algn="ctr">
            <a:solidFill>
              <a:schemeClr val="bg2">
                <a:lumMod val="7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p:cNvCxnSpPr/>
          <p:nvPr/>
        </p:nvCxnSpPr>
        <p:spPr bwMode="gray">
          <a:xfrm flipH="1" flipV="1">
            <a:off x="4409135" y="5387849"/>
            <a:ext cx="4050" cy="27787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p:cNvCxnSpPr/>
          <p:nvPr/>
        </p:nvCxnSpPr>
        <p:spPr bwMode="gray">
          <a:xfrm flipH="1" flipV="1">
            <a:off x="5634954" y="5387849"/>
            <a:ext cx="4050" cy="277879"/>
          </a:xfrm>
          <a:prstGeom prst="line">
            <a:avLst/>
          </a:prstGeom>
          <a:noFill/>
          <a:ln w="9525" cap="flat" cmpd="sng" algn="ctr">
            <a:solidFill>
              <a:schemeClr val="bg2">
                <a:lumMod val="7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p:cNvCxnSpPr/>
          <p:nvPr/>
        </p:nvCxnSpPr>
        <p:spPr bwMode="gray">
          <a:xfrm flipH="1" flipV="1">
            <a:off x="5481379" y="5387849"/>
            <a:ext cx="4050" cy="27787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连接符 38"/>
          <p:cNvCxnSpPr/>
          <p:nvPr/>
        </p:nvCxnSpPr>
        <p:spPr bwMode="gray">
          <a:xfrm flipH="1" flipV="1">
            <a:off x="4768471" y="4334068"/>
            <a:ext cx="4050" cy="27787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39"/>
          <p:cNvCxnSpPr/>
          <p:nvPr/>
        </p:nvCxnSpPr>
        <p:spPr bwMode="gray">
          <a:xfrm flipH="1" flipV="1">
            <a:off x="5270098" y="4324735"/>
            <a:ext cx="4050" cy="27787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圆角矩形 40"/>
          <p:cNvSpPr/>
          <p:nvPr/>
        </p:nvSpPr>
        <p:spPr bwMode="gray">
          <a:xfrm>
            <a:off x="4036662" y="4597657"/>
            <a:ext cx="1963658" cy="786054"/>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200" b="0" i="0" u="none" strike="noStrike" cap="none" normalizeH="0" baseline="0">
              <a:ln>
                <a:noFill/>
              </a:ln>
              <a:solidFill>
                <a:srgbClr val="575756"/>
              </a:solidFill>
              <a:effectLst/>
            </a:endParaRPr>
          </a:p>
        </p:txBody>
      </p:sp>
      <p:pic>
        <p:nvPicPr>
          <p:cNvPr id="88" name="图片 87"/>
          <p:cNvPicPr>
            <a:picLocks noChangeAspect="1"/>
          </p:cNvPicPr>
          <p:nvPr/>
        </p:nvPicPr>
        <p:blipFill>
          <a:blip r:embed="rId3"/>
          <a:stretch>
            <a:fillRect/>
          </a:stretch>
        </p:blipFill>
        <p:spPr bwMode="gray">
          <a:xfrm>
            <a:off x="5147852" y="2052641"/>
            <a:ext cx="488418" cy="388800"/>
          </a:xfrm>
          <a:prstGeom prst="rect">
            <a:avLst/>
          </a:prstGeom>
        </p:spPr>
      </p:pic>
      <p:pic>
        <p:nvPicPr>
          <p:cNvPr id="89" name="图片 88"/>
          <p:cNvPicPr>
            <a:picLocks noChangeAspect="1"/>
          </p:cNvPicPr>
          <p:nvPr/>
        </p:nvPicPr>
        <p:blipFill>
          <a:blip r:embed="rId3"/>
          <a:stretch>
            <a:fillRect/>
          </a:stretch>
        </p:blipFill>
        <p:spPr bwMode="gray">
          <a:xfrm>
            <a:off x="4659434" y="2052641"/>
            <a:ext cx="488418" cy="388800"/>
          </a:xfrm>
          <a:prstGeom prst="rect">
            <a:avLst/>
          </a:prstGeom>
        </p:spPr>
      </p:pic>
      <p:pic>
        <p:nvPicPr>
          <p:cNvPr id="90" name="图片 89"/>
          <p:cNvPicPr>
            <a:picLocks noChangeAspect="1"/>
          </p:cNvPicPr>
          <p:nvPr/>
        </p:nvPicPr>
        <p:blipFill>
          <a:blip r:embed="rId3"/>
          <a:stretch>
            <a:fillRect/>
          </a:stretch>
        </p:blipFill>
        <p:spPr bwMode="gray">
          <a:xfrm>
            <a:off x="2504251" y="2052641"/>
            <a:ext cx="488418" cy="388800"/>
          </a:xfrm>
          <a:prstGeom prst="rect">
            <a:avLst/>
          </a:prstGeom>
        </p:spPr>
      </p:pic>
      <p:pic>
        <p:nvPicPr>
          <p:cNvPr id="91" name="图片 90"/>
          <p:cNvPicPr>
            <a:picLocks noChangeAspect="1"/>
          </p:cNvPicPr>
          <p:nvPr/>
        </p:nvPicPr>
        <p:blipFill>
          <a:blip r:embed="rId3"/>
          <a:stretch>
            <a:fillRect/>
          </a:stretch>
        </p:blipFill>
        <p:spPr bwMode="gray">
          <a:xfrm>
            <a:off x="2015833" y="2052641"/>
            <a:ext cx="488418" cy="388800"/>
          </a:xfrm>
          <a:prstGeom prst="rect">
            <a:avLst/>
          </a:prstGeom>
        </p:spPr>
      </p:pic>
      <p:cxnSp>
        <p:nvCxnSpPr>
          <p:cNvPr id="95" name="直接连接符 94"/>
          <p:cNvCxnSpPr/>
          <p:nvPr/>
        </p:nvCxnSpPr>
        <p:spPr bwMode="gray">
          <a:xfrm>
            <a:off x="1659483" y="3476246"/>
            <a:ext cx="4357424" cy="0"/>
          </a:xfrm>
          <a:prstGeom prst="line">
            <a:avLst/>
          </a:prstGeom>
          <a:noFill/>
          <a:ln w="9525" cap="flat" cmpd="sng" algn="ctr">
            <a:solidFill>
              <a:srgbClr val="0070C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gray">
          <a:xfrm>
            <a:off x="1720007" y="1970184"/>
            <a:ext cx="4329966" cy="0"/>
          </a:xfrm>
          <a:prstGeom prst="line">
            <a:avLst/>
          </a:prstGeom>
          <a:noFill/>
          <a:ln w="9525" cap="flat" cmpd="sng" algn="ctr">
            <a:solidFill>
              <a:srgbClr val="0070C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文本框 96"/>
          <p:cNvSpPr txBox="1"/>
          <p:nvPr/>
        </p:nvSpPr>
        <p:spPr bwMode="gray">
          <a:xfrm>
            <a:off x="619987" y="4369288"/>
            <a:ext cx="902811" cy="307777"/>
          </a:xfrm>
          <a:prstGeom prst="rect">
            <a:avLst/>
          </a:prstGeom>
          <a:noFill/>
        </p:spPr>
        <p:txBody>
          <a:bodyPr wrap="none" rtlCol="0">
            <a:spAutoFit/>
          </a:bodyPr>
          <a:lstStyle/>
          <a:p>
            <a:r>
              <a:rPr lang="zh-CN" altLang="en-US" sz="1400" b="1" dirty="0">
                <a:solidFill>
                  <a:srgbClr val="575756"/>
                </a:solidFill>
              </a:rPr>
              <a:t>企业网络</a:t>
            </a:r>
          </a:p>
        </p:txBody>
      </p:sp>
      <p:sp>
        <p:nvSpPr>
          <p:cNvPr id="98" name="文本框 97"/>
          <p:cNvSpPr txBox="1"/>
          <p:nvPr/>
        </p:nvSpPr>
        <p:spPr bwMode="gray">
          <a:xfrm>
            <a:off x="598009" y="2779789"/>
            <a:ext cx="1082348" cy="307777"/>
          </a:xfrm>
          <a:prstGeom prst="rect">
            <a:avLst/>
          </a:prstGeom>
          <a:noFill/>
        </p:spPr>
        <p:txBody>
          <a:bodyPr wrap="none" rtlCol="0">
            <a:spAutoFit/>
          </a:bodyPr>
          <a:lstStyle/>
          <a:p>
            <a:r>
              <a:rPr lang="zh-CN" altLang="en-US" sz="1400" b="1" dirty="0">
                <a:solidFill>
                  <a:srgbClr val="575756"/>
                </a:solidFill>
              </a:rPr>
              <a:t>运营商网络</a:t>
            </a:r>
          </a:p>
        </p:txBody>
      </p:sp>
      <p:sp>
        <p:nvSpPr>
          <p:cNvPr id="99" name="文本框 98"/>
          <p:cNvSpPr txBox="1"/>
          <p:nvPr/>
        </p:nvSpPr>
        <p:spPr bwMode="gray">
          <a:xfrm>
            <a:off x="619987" y="1441491"/>
            <a:ext cx="1441420" cy="307777"/>
          </a:xfrm>
          <a:prstGeom prst="rect">
            <a:avLst/>
          </a:prstGeom>
          <a:noFill/>
        </p:spPr>
        <p:txBody>
          <a:bodyPr wrap="none" rtlCol="0">
            <a:spAutoFit/>
          </a:bodyPr>
          <a:lstStyle/>
          <a:p>
            <a:r>
              <a:rPr lang="zh-CN" altLang="en-US" sz="1400" b="1" dirty="0">
                <a:solidFill>
                  <a:srgbClr val="575756"/>
                </a:solidFill>
              </a:rPr>
              <a:t>运营商管理中心</a:t>
            </a:r>
          </a:p>
        </p:txBody>
      </p:sp>
      <p:sp>
        <p:nvSpPr>
          <p:cNvPr id="101" name="文本框 100"/>
          <p:cNvSpPr txBox="1"/>
          <p:nvPr/>
        </p:nvSpPr>
        <p:spPr bwMode="gray">
          <a:xfrm>
            <a:off x="5578591" y="2115510"/>
            <a:ext cx="383438" cy="276999"/>
          </a:xfrm>
          <a:prstGeom prst="rect">
            <a:avLst/>
          </a:prstGeom>
          <a:noFill/>
        </p:spPr>
        <p:txBody>
          <a:bodyPr wrap="none" rtlCol="0">
            <a:spAutoFit/>
          </a:bodyPr>
          <a:lstStyle/>
          <a:p>
            <a:r>
              <a:rPr lang="en-US" altLang="zh-CN" sz="1200" b="1" dirty="0">
                <a:solidFill>
                  <a:srgbClr val="575756"/>
                </a:solidFill>
              </a:rPr>
              <a:t>RR</a:t>
            </a:r>
            <a:endParaRPr lang="zh-CN" altLang="en-US" sz="1200" b="1" dirty="0">
              <a:solidFill>
                <a:srgbClr val="575756"/>
              </a:solidFill>
            </a:endParaRPr>
          </a:p>
        </p:txBody>
      </p:sp>
      <p:sp>
        <p:nvSpPr>
          <p:cNvPr id="102" name="文本框 101"/>
          <p:cNvSpPr txBox="1"/>
          <p:nvPr/>
        </p:nvSpPr>
        <p:spPr bwMode="gray">
          <a:xfrm>
            <a:off x="2934990" y="2115510"/>
            <a:ext cx="383438" cy="276999"/>
          </a:xfrm>
          <a:prstGeom prst="rect">
            <a:avLst/>
          </a:prstGeom>
          <a:noFill/>
        </p:spPr>
        <p:txBody>
          <a:bodyPr wrap="none" rtlCol="0">
            <a:spAutoFit/>
          </a:bodyPr>
          <a:lstStyle/>
          <a:p>
            <a:r>
              <a:rPr lang="en-US" altLang="zh-CN" sz="1200" b="1" dirty="0">
                <a:solidFill>
                  <a:srgbClr val="575756"/>
                </a:solidFill>
              </a:rPr>
              <a:t>RR</a:t>
            </a:r>
            <a:endParaRPr lang="zh-CN" altLang="en-US" sz="1200" b="1" dirty="0">
              <a:solidFill>
                <a:srgbClr val="575756"/>
              </a:solidFill>
            </a:endParaRPr>
          </a:p>
        </p:txBody>
      </p:sp>
      <p:sp>
        <p:nvSpPr>
          <p:cNvPr id="103" name="文本框 102"/>
          <p:cNvSpPr txBox="1"/>
          <p:nvPr/>
        </p:nvSpPr>
        <p:spPr bwMode="gray">
          <a:xfrm>
            <a:off x="1842242" y="3107969"/>
            <a:ext cx="1152880" cy="276999"/>
          </a:xfrm>
          <a:prstGeom prst="rect">
            <a:avLst/>
          </a:prstGeom>
          <a:noFill/>
        </p:spPr>
        <p:txBody>
          <a:bodyPr wrap="none" rtlCol="0">
            <a:spAutoFit/>
          </a:bodyPr>
          <a:lstStyle/>
          <a:p>
            <a:r>
              <a:rPr lang="en-US" altLang="zh-CN" sz="1200" b="1" dirty="0">
                <a:solidFill>
                  <a:srgbClr val="575756"/>
                </a:solidFill>
              </a:rPr>
              <a:t>SD-WAN GW</a:t>
            </a:r>
            <a:endParaRPr lang="zh-CN" altLang="en-US" sz="1200" b="1" dirty="0">
              <a:solidFill>
                <a:srgbClr val="575756"/>
              </a:solidFill>
            </a:endParaRPr>
          </a:p>
        </p:txBody>
      </p:sp>
      <p:sp>
        <p:nvSpPr>
          <p:cNvPr id="104" name="文本框 103"/>
          <p:cNvSpPr txBox="1"/>
          <p:nvPr/>
        </p:nvSpPr>
        <p:spPr bwMode="gray">
          <a:xfrm>
            <a:off x="3314654" y="2989011"/>
            <a:ext cx="1152880" cy="276999"/>
          </a:xfrm>
          <a:prstGeom prst="rect">
            <a:avLst/>
          </a:prstGeom>
          <a:noFill/>
        </p:spPr>
        <p:txBody>
          <a:bodyPr wrap="none" rtlCol="0">
            <a:spAutoFit/>
          </a:bodyPr>
          <a:lstStyle/>
          <a:p>
            <a:r>
              <a:rPr lang="en-US" altLang="zh-CN" sz="1200" b="1">
                <a:solidFill>
                  <a:srgbClr val="575756"/>
                </a:solidFill>
              </a:rPr>
              <a:t>SD-WAN GW</a:t>
            </a:r>
            <a:endParaRPr lang="zh-CN" altLang="en-US" sz="1200" b="1" dirty="0">
              <a:solidFill>
                <a:srgbClr val="575756"/>
              </a:solidFill>
            </a:endParaRPr>
          </a:p>
        </p:txBody>
      </p:sp>
      <p:sp>
        <p:nvSpPr>
          <p:cNvPr id="105" name="文本框 104"/>
          <p:cNvSpPr txBox="1"/>
          <p:nvPr/>
        </p:nvSpPr>
        <p:spPr bwMode="gray">
          <a:xfrm>
            <a:off x="4712361" y="3184883"/>
            <a:ext cx="1152880" cy="276999"/>
          </a:xfrm>
          <a:prstGeom prst="rect">
            <a:avLst/>
          </a:prstGeom>
          <a:noFill/>
        </p:spPr>
        <p:txBody>
          <a:bodyPr wrap="none" rtlCol="0">
            <a:spAutoFit/>
          </a:bodyPr>
          <a:lstStyle/>
          <a:p>
            <a:r>
              <a:rPr lang="en-US" altLang="zh-CN" sz="1200" b="1">
                <a:solidFill>
                  <a:srgbClr val="575756"/>
                </a:solidFill>
              </a:rPr>
              <a:t>SD-WAN GW</a:t>
            </a:r>
            <a:endParaRPr lang="zh-CN" altLang="en-US" sz="1200" b="1" dirty="0">
              <a:solidFill>
                <a:srgbClr val="575756"/>
              </a:solidFill>
            </a:endParaRPr>
          </a:p>
        </p:txBody>
      </p:sp>
      <p:sp>
        <p:nvSpPr>
          <p:cNvPr id="107" name="文本框 106"/>
          <p:cNvSpPr txBox="1"/>
          <p:nvPr/>
        </p:nvSpPr>
        <p:spPr bwMode="gray">
          <a:xfrm>
            <a:off x="2183262" y="5730688"/>
            <a:ext cx="583814" cy="276999"/>
          </a:xfrm>
          <a:prstGeom prst="rect">
            <a:avLst/>
          </a:prstGeom>
          <a:noFill/>
        </p:spPr>
        <p:txBody>
          <a:bodyPr wrap="none" rtlCol="0">
            <a:spAutoFit/>
          </a:bodyPr>
          <a:lstStyle/>
          <a:p>
            <a:r>
              <a:rPr lang="en-US" altLang="zh-CN" sz="1200" b="1" dirty="0">
                <a:solidFill>
                  <a:srgbClr val="575756"/>
                </a:solidFill>
              </a:rPr>
              <a:t>EDGE</a:t>
            </a:r>
            <a:endParaRPr lang="zh-CN" altLang="en-US" sz="1200" b="1" dirty="0">
              <a:solidFill>
                <a:srgbClr val="575756"/>
              </a:solidFill>
            </a:endParaRPr>
          </a:p>
        </p:txBody>
      </p:sp>
      <p:sp>
        <p:nvSpPr>
          <p:cNvPr id="108" name="文本框 107"/>
          <p:cNvSpPr txBox="1"/>
          <p:nvPr/>
        </p:nvSpPr>
        <p:spPr bwMode="gray">
          <a:xfrm>
            <a:off x="3242301" y="5730688"/>
            <a:ext cx="583814" cy="276999"/>
          </a:xfrm>
          <a:prstGeom prst="rect">
            <a:avLst/>
          </a:prstGeom>
          <a:noFill/>
        </p:spPr>
        <p:txBody>
          <a:bodyPr wrap="none" rtlCol="0">
            <a:spAutoFit/>
          </a:bodyPr>
          <a:lstStyle/>
          <a:p>
            <a:r>
              <a:rPr lang="en-US" altLang="zh-CN" sz="1200" b="1" dirty="0">
                <a:solidFill>
                  <a:srgbClr val="575756"/>
                </a:solidFill>
              </a:rPr>
              <a:t>EDGE</a:t>
            </a:r>
            <a:endParaRPr lang="zh-CN" altLang="en-US" sz="1200" b="1" dirty="0">
              <a:solidFill>
                <a:srgbClr val="575756"/>
              </a:solidFill>
            </a:endParaRPr>
          </a:p>
        </p:txBody>
      </p:sp>
      <p:sp>
        <p:nvSpPr>
          <p:cNvPr id="109" name="文本框 108"/>
          <p:cNvSpPr txBox="1"/>
          <p:nvPr/>
        </p:nvSpPr>
        <p:spPr bwMode="gray">
          <a:xfrm>
            <a:off x="3071361" y="4042521"/>
            <a:ext cx="583814" cy="276999"/>
          </a:xfrm>
          <a:prstGeom prst="rect">
            <a:avLst/>
          </a:prstGeom>
          <a:noFill/>
        </p:spPr>
        <p:txBody>
          <a:bodyPr wrap="none" rtlCol="0">
            <a:spAutoFit/>
          </a:bodyPr>
          <a:lstStyle/>
          <a:p>
            <a:r>
              <a:rPr lang="en-US" altLang="zh-CN" sz="1200" b="1" dirty="0">
                <a:solidFill>
                  <a:srgbClr val="575756"/>
                </a:solidFill>
              </a:rPr>
              <a:t>EDGE</a:t>
            </a:r>
            <a:endParaRPr lang="zh-CN" altLang="en-US" sz="1200" b="1" dirty="0">
              <a:solidFill>
                <a:srgbClr val="575756"/>
              </a:solidFill>
            </a:endParaRPr>
          </a:p>
        </p:txBody>
      </p:sp>
      <p:sp>
        <p:nvSpPr>
          <p:cNvPr id="110" name="文本框 109"/>
          <p:cNvSpPr txBox="1"/>
          <p:nvPr/>
        </p:nvSpPr>
        <p:spPr bwMode="gray">
          <a:xfrm>
            <a:off x="4613123" y="5730688"/>
            <a:ext cx="583814" cy="276999"/>
          </a:xfrm>
          <a:prstGeom prst="rect">
            <a:avLst/>
          </a:prstGeom>
          <a:noFill/>
        </p:spPr>
        <p:txBody>
          <a:bodyPr wrap="none" rtlCol="0">
            <a:spAutoFit/>
          </a:bodyPr>
          <a:lstStyle/>
          <a:p>
            <a:r>
              <a:rPr lang="en-US" altLang="zh-CN" sz="1200" b="1" dirty="0">
                <a:solidFill>
                  <a:srgbClr val="575756"/>
                </a:solidFill>
              </a:rPr>
              <a:t>EDGE</a:t>
            </a:r>
            <a:endParaRPr lang="zh-CN" altLang="en-US" sz="1200" b="1" dirty="0">
              <a:solidFill>
                <a:srgbClr val="575756"/>
              </a:solidFill>
            </a:endParaRPr>
          </a:p>
        </p:txBody>
      </p:sp>
      <p:sp>
        <p:nvSpPr>
          <p:cNvPr id="111" name="文本框 110"/>
          <p:cNvSpPr txBox="1"/>
          <p:nvPr/>
        </p:nvSpPr>
        <p:spPr bwMode="gray">
          <a:xfrm>
            <a:off x="5707793" y="5715967"/>
            <a:ext cx="583814" cy="276999"/>
          </a:xfrm>
          <a:prstGeom prst="rect">
            <a:avLst/>
          </a:prstGeom>
          <a:noFill/>
        </p:spPr>
        <p:txBody>
          <a:bodyPr wrap="none" rtlCol="0">
            <a:spAutoFit/>
          </a:bodyPr>
          <a:lstStyle/>
          <a:p>
            <a:r>
              <a:rPr lang="en-US" altLang="zh-CN" sz="1200" b="1" dirty="0">
                <a:solidFill>
                  <a:srgbClr val="575756"/>
                </a:solidFill>
              </a:rPr>
              <a:t>EDGE</a:t>
            </a:r>
            <a:endParaRPr lang="zh-CN" altLang="en-US" sz="1200" b="1" dirty="0">
              <a:solidFill>
                <a:srgbClr val="575756"/>
              </a:solidFill>
            </a:endParaRPr>
          </a:p>
        </p:txBody>
      </p:sp>
      <p:sp>
        <p:nvSpPr>
          <p:cNvPr id="112" name="文本框 111"/>
          <p:cNvSpPr txBox="1"/>
          <p:nvPr/>
        </p:nvSpPr>
        <p:spPr bwMode="gray">
          <a:xfrm>
            <a:off x="5524538" y="4042521"/>
            <a:ext cx="583814" cy="276999"/>
          </a:xfrm>
          <a:prstGeom prst="rect">
            <a:avLst/>
          </a:prstGeom>
          <a:noFill/>
        </p:spPr>
        <p:txBody>
          <a:bodyPr wrap="none" rtlCol="0">
            <a:spAutoFit/>
          </a:bodyPr>
          <a:lstStyle/>
          <a:p>
            <a:r>
              <a:rPr lang="en-US" altLang="zh-CN" sz="1200" b="1" dirty="0">
                <a:solidFill>
                  <a:srgbClr val="575756"/>
                </a:solidFill>
              </a:rPr>
              <a:t>EDGE</a:t>
            </a:r>
            <a:endParaRPr lang="zh-CN" altLang="en-US" sz="1200" b="1" dirty="0">
              <a:solidFill>
                <a:srgbClr val="575756"/>
              </a:solidFill>
            </a:endParaRPr>
          </a:p>
        </p:txBody>
      </p:sp>
      <p:sp>
        <p:nvSpPr>
          <p:cNvPr id="122" name="TextBox 401"/>
          <p:cNvSpPr txBox="1"/>
          <p:nvPr/>
        </p:nvSpPr>
        <p:spPr bwMode="gray">
          <a:xfrm>
            <a:off x="3996627" y="1718125"/>
            <a:ext cx="1691785" cy="352293"/>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en-US" altLang="zh-CN" sz="1200" b="1" kern="0" dirty="0">
                <a:solidFill>
                  <a:prstClr val="black"/>
                </a:solidFill>
                <a:latin typeface="+mn-lt"/>
                <a:ea typeface="+mn-ea"/>
              </a:rPr>
              <a:t>SD-WAN</a:t>
            </a:r>
            <a:r>
              <a:rPr lang="zh-CN" altLang="en-US" sz="1200" b="1" kern="0" dirty="0">
                <a:solidFill>
                  <a:prstClr val="black"/>
                </a:solidFill>
                <a:latin typeface="+mn-lt"/>
                <a:ea typeface="+mn-ea"/>
              </a:rPr>
              <a:t>控制器</a:t>
            </a:r>
            <a:endParaRPr lang="en-US" altLang="zh-CN" sz="1200" b="1" kern="0" dirty="0">
              <a:solidFill>
                <a:prstClr val="black"/>
              </a:solidFill>
              <a:latin typeface="+mn-lt"/>
              <a:ea typeface="+mn-ea"/>
            </a:endParaRPr>
          </a:p>
        </p:txBody>
      </p:sp>
      <p:sp>
        <p:nvSpPr>
          <p:cNvPr id="126" name="TextBox 401"/>
          <p:cNvSpPr txBox="1"/>
          <p:nvPr/>
        </p:nvSpPr>
        <p:spPr bwMode="gray">
          <a:xfrm>
            <a:off x="3039098" y="2506995"/>
            <a:ext cx="1691785" cy="352293"/>
          </a:xfrm>
          <a:prstGeom prst="rect">
            <a:avLst/>
          </a:prstGeom>
          <a:noFill/>
        </p:spPr>
        <p:txBody>
          <a:bodyPr wrap="square" lIns="166008" tIns="83003" rIns="166008" bIns="83003" rtlCol="0">
            <a:spAutoFit/>
          </a:bodyPr>
          <a:lstStyle>
            <a:defPPr>
              <a:defRPr lang="zh-CN"/>
            </a:defPPr>
            <a:lvl1pPr algn="ctr">
              <a:defRPr sz="1000">
                <a:latin typeface="Arial" panose="020B0604020202020204" pitchFamily="34" charset="0"/>
                <a:ea typeface="微软雅黑" panose="020B0503020204020204" pitchFamily="34" charset="-122"/>
              </a:defRPr>
            </a:lvl1pPr>
          </a:lstStyle>
          <a:p>
            <a:pPr defTabSz="1218784">
              <a:defRPr/>
            </a:pPr>
            <a:r>
              <a:rPr lang="zh-CN" altLang="en-US" sz="1200" b="1" kern="0" dirty="0">
                <a:solidFill>
                  <a:prstClr val="black"/>
                </a:solidFill>
                <a:latin typeface="+mn-ea"/>
                <a:ea typeface="+mn-ea"/>
              </a:rPr>
              <a:t>运营商骨干网</a:t>
            </a:r>
            <a:endParaRPr lang="en-US" altLang="zh-CN" sz="1200" b="1" kern="0" dirty="0">
              <a:solidFill>
                <a:prstClr val="black"/>
              </a:solidFill>
              <a:latin typeface="+mn-ea"/>
              <a:ea typeface="+mn-ea"/>
            </a:endParaRPr>
          </a:p>
        </p:txBody>
      </p:sp>
      <p:pic>
        <p:nvPicPr>
          <p:cNvPr id="130" name="图片 1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101325" y="3998221"/>
            <a:ext cx="441571" cy="362088"/>
          </a:xfrm>
          <a:prstGeom prst="rect">
            <a:avLst/>
          </a:prstGeom>
        </p:spPr>
      </p:pic>
      <p:pic>
        <p:nvPicPr>
          <p:cNvPr id="131" name="图片 13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618051" y="4017661"/>
            <a:ext cx="441571" cy="362088"/>
          </a:xfrm>
          <a:prstGeom prst="rect">
            <a:avLst/>
          </a:prstGeom>
        </p:spPr>
      </p:pic>
      <p:pic>
        <p:nvPicPr>
          <p:cNvPr id="132" name="图片 131"/>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559726" y="4008549"/>
            <a:ext cx="441571" cy="362088"/>
          </a:xfrm>
          <a:prstGeom prst="rect">
            <a:avLst/>
          </a:prstGeom>
        </p:spPr>
      </p:pic>
      <p:pic>
        <p:nvPicPr>
          <p:cNvPr id="133" name="图片 1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088963" y="4007579"/>
            <a:ext cx="441571" cy="362088"/>
          </a:xfrm>
          <a:prstGeom prst="rect">
            <a:avLst/>
          </a:prstGeom>
        </p:spPr>
      </p:pic>
      <p:pic>
        <p:nvPicPr>
          <p:cNvPr id="138" name="图片 13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317644" y="5653606"/>
            <a:ext cx="441571" cy="362088"/>
          </a:xfrm>
          <a:prstGeom prst="rect">
            <a:avLst/>
          </a:prstGeom>
        </p:spPr>
      </p:pic>
      <p:pic>
        <p:nvPicPr>
          <p:cNvPr id="139" name="图片 13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245400" y="5665728"/>
            <a:ext cx="441571" cy="362088"/>
          </a:xfrm>
          <a:prstGeom prst="rect">
            <a:avLst/>
          </a:prstGeom>
        </p:spPr>
      </p:pic>
      <p:pic>
        <p:nvPicPr>
          <p:cNvPr id="140" name="图片 13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882255" y="5653606"/>
            <a:ext cx="441571" cy="362088"/>
          </a:xfrm>
          <a:prstGeom prst="rect">
            <a:avLst/>
          </a:prstGeom>
        </p:spPr>
      </p:pic>
      <p:pic>
        <p:nvPicPr>
          <p:cNvPr id="141" name="图片 14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810011" y="5665728"/>
            <a:ext cx="441571" cy="362088"/>
          </a:xfrm>
          <a:prstGeom prst="rect">
            <a:avLst/>
          </a:prstGeom>
        </p:spPr>
      </p:pic>
      <p:sp>
        <p:nvSpPr>
          <p:cNvPr id="67" name="Freeform 159">
            <a:extLst>
              <a:ext uri="{FF2B5EF4-FFF2-40B4-BE49-F238E27FC236}">
                <a16:creationId xmlns:a16="http://schemas.microsoft.com/office/drawing/2014/main" id="{92F4C7C8-C154-481C-9ED1-8D064B94003B}"/>
              </a:ext>
            </a:extLst>
          </p:cNvPr>
          <p:cNvSpPr/>
          <p:nvPr/>
        </p:nvSpPr>
        <p:spPr bwMode="gray">
          <a:xfrm flipH="1">
            <a:off x="2434667" y="4894693"/>
            <a:ext cx="849210" cy="44390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base">
              <a:spcBef>
                <a:spcPct val="0"/>
              </a:spcBef>
              <a:spcAft>
                <a:spcPct val="0"/>
              </a:spcAft>
            </a:pPr>
            <a:r>
              <a:rPr lang="en-US" altLang="zh-CN" sz="1200" b="1" dirty="0">
                <a:solidFill>
                  <a:srgbClr val="575756"/>
                </a:solidFill>
              </a:rPr>
              <a:t>LTE</a:t>
            </a:r>
            <a:endParaRPr lang="zh-CN" altLang="en-US" sz="1200" b="1" dirty="0">
              <a:solidFill>
                <a:srgbClr val="575756"/>
              </a:solidFill>
            </a:endParaRPr>
          </a:p>
        </p:txBody>
      </p:sp>
      <p:sp>
        <p:nvSpPr>
          <p:cNvPr id="64" name="Freeform 159">
            <a:extLst>
              <a:ext uri="{FF2B5EF4-FFF2-40B4-BE49-F238E27FC236}">
                <a16:creationId xmlns:a16="http://schemas.microsoft.com/office/drawing/2014/main" id="{FC5F9F96-973B-4C6F-BCC2-2024753F59D7}"/>
              </a:ext>
            </a:extLst>
          </p:cNvPr>
          <p:cNvSpPr/>
          <p:nvPr/>
        </p:nvSpPr>
        <p:spPr bwMode="gray">
          <a:xfrm flipH="1">
            <a:off x="1857544" y="4675184"/>
            <a:ext cx="849210" cy="44390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base">
              <a:spcBef>
                <a:spcPct val="0"/>
              </a:spcBef>
              <a:spcAft>
                <a:spcPct val="0"/>
              </a:spcAft>
            </a:pPr>
            <a:r>
              <a:rPr lang="en-US" altLang="zh-CN" sz="1200" b="1" dirty="0">
                <a:solidFill>
                  <a:srgbClr val="575756"/>
                </a:solidFill>
              </a:rPr>
              <a:t>Internet</a:t>
            </a:r>
            <a:endParaRPr lang="zh-CN" altLang="en-US" sz="1200" b="1" dirty="0">
              <a:solidFill>
                <a:srgbClr val="575756"/>
              </a:solidFill>
            </a:endParaRPr>
          </a:p>
        </p:txBody>
      </p:sp>
      <p:sp>
        <p:nvSpPr>
          <p:cNvPr id="68" name="Freeform 159">
            <a:extLst>
              <a:ext uri="{FF2B5EF4-FFF2-40B4-BE49-F238E27FC236}">
                <a16:creationId xmlns:a16="http://schemas.microsoft.com/office/drawing/2014/main" id="{F55E3D01-9110-47ED-AF31-D480E3FAF8F4}"/>
              </a:ext>
            </a:extLst>
          </p:cNvPr>
          <p:cNvSpPr/>
          <p:nvPr/>
        </p:nvSpPr>
        <p:spPr bwMode="gray">
          <a:xfrm flipH="1">
            <a:off x="5022138" y="4779627"/>
            <a:ext cx="849210" cy="44390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base">
              <a:spcBef>
                <a:spcPct val="0"/>
              </a:spcBef>
              <a:spcAft>
                <a:spcPct val="0"/>
              </a:spcAft>
            </a:pPr>
            <a:r>
              <a:rPr lang="en-US" altLang="zh-CN" sz="1200" b="1" dirty="0">
                <a:solidFill>
                  <a:srgbClr val="575756"/>
                </a:solidFill>
              </a:rPr>
              <a:t>Internet</a:t>
            </a:r>
            <a:endParaRPr lang="zh-CN" altLang="en-US" sz="1200" b="1" dirty="0">
              <a:solidFill>
                <a:srgbClr val="575756"/>
              </a:solidFill>
            </a:endParaRPr>
          </a:p>
        </p:txBody>
      </p:sp>
      <p:sp>
        <p:nvSpPr>
          <p:cNvPr id="69" name="Freeform 159">
            <a:extLst>
              <a:ext uri="{FF2B5EF4-FFF2-40B4-BE49-F238E27FC236}">
                <a16:creationId xmlns:a16="http://schemas.microsoft.com/office/drawing/2014/main" id="{4C2C8A6E-AC0E-4FD9-A497-BBCEB42D8F4F}"/>
              </a:ext>
            </a:extLst>
          </p:cNvPr>
          <p:cNvSpPr/>
          <p:nvPr/>
        </p:nvSpPr>
        <p:spPr bwMode="gray">
          <a:xfrm flipH="1">
            <a:off x="4113744" y="4781849"/>
            <a:ext cx="849210" cy="44390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base">
              <a:spcBef>
                <a:spcPct val="0"/>
              </a:spcBef>
              <a:spcAft>
                <a:spcPct val="0"/>
              </a:spcAft>
            </a:pPr>
            <a:r>
              <a:rPr lang="en-US" altLang="zh-CN" sz="1200" b="1" dirty="0">
                <a:solidFill>
                  <a:srgbClr val="575756"/>
                </a:solidFill>
              </a:rPr>
              <a:t>MPLS</a:t>
            </a:r>
            <a:endParaRPr lang="zh-CN" altLang="en-US" sz="1200" b="1" dirty="0">
              <a:solidFill>
                <a:srgbClr val="575756"/>
              </a:solidFill>
            </a:endParaRPr>
          </a:p>
        </p:txBody>
      </p:sp>
      <p:grpSp>
        <p:nvGrpSpPr>
          <p:cNvPr id="70" name="组合 50">
            <a:extLst>
              <a:ext uri="{FF2B5EF4-FFF2-40B4-BE49-F238E27FC236}">
                <a16:creationId xmlns:a16="http://schemas.microsoft.com/office/drawing/2014/main" id="{05485127-0F20-4155-AF25-E0A2B172A648}"/>
              </a:ext>
            </a:extLst>
          </p:cNvPr>
          <p:cNvGrpSpPr>
            <a:grpSpLocks noChangeAspect="1"/>
          </p:cNvGrpSpPr>
          <p:nvPr/>
        </p:nvGrpSpPr>
        <p:grpSpPr bwMode="gray">
          <a:xfrm>
            <a:off x="3469325" y="1625836"/>
            <a:ext cx="731004" cy="475204"/>
            <a:chOff x="4137025" y="950913"/>
            <a:chExt cx="1982788" cy="1244599"/>
          </a:xfrm>
        </p:grpSpPr>
        <p:sp>
          <p:nvSpPr>
            <p:cNvPr id="71" name="Freeform 9">
              <a:extLst>
                <a:ext uri="{FF2B5EF4-FFF2-40B4-BE49-F238E27FC236}">
                  <a16:creationId xmlns:a16="http://schemas.microsoft.com/office/drawing/2014/main" id="{73BA694C-CF04-4416-A599-420F9CC5DC4D}"/>
                </a:ext>
              </a:extLst>
            </p:cNvPr>
            <p:cNvSpPr>
              <a:spLocks/>
            </p:cNvSpPr>
            <p:nvPr/>
          </p:nvSpPr>
          <p:spPr bwMode="gray">
            <a:xfrm>
              <a:off x="4137025" y="950913"/>
              <a:ext cx="1982788" cy="1203325"/>
            </a:xfrm>
            <a:custGeom>
              <a:avLst/>
              <a:gdLst>
                <a:gd name="T0" fmla="*/ 1688762 w 526"/>
                <a:gd name="T1" fmla="*/ 1203325 h 320"/>
                <a:gd name="T2" fmla="*/ 1568137 w 526"/>
                <a:gd name="T3" fmla="*/ 1203325 h 320"/>
                <a:gd name="T4" fmla="*/ 1568137 w 526"/>
                <a:gd name="T5" fmla="*/ 1128117 h 320"/>
                <a:gd name="T6" fmla="*/ 1688762 w 526"/>
                <a:gd name="T7" fmla="*/ 1128117 h 320"/>
                <a:gd name="T8" fmla="*/ 1756614 w 526"/>
                <a:gd name="T9" fmla="*/ 1109315 h 320"/>
                <a:gd name="T10" fmla="*/ 1907397 w 526"/>
                <a:gd name="T11" fmla="*/ 800963 h 320"/>
                <a:gd name="T12" fmla="*/ 1522902 w 526"/>
                <a:gd name="T13" fmla="*/ 413643 h 320"/>
                <a:gd name="T14" fmla="*/ 1488976 w 526"/>
                <a:gd name="T15" fmla="*/ 394841 h 320"/>
                <a:gd name="T16" fmla="*/ 946159 w 526"/>
                <a:gd name="T17" fmla="*/ 75208 h 320"/>
                <a:gd name="T18" fmla="*/ 346799 w 526"/>
                <a:gd name="T19" fmla="*/ 541496 h 320"/>
                <a:gd name="T20" fmla="*/ 316643 w 526"/>
                <a:gd name="T21" fmla="*/ 567819 h 320"/>
                <a:gd name="T22" fmla="*/ 75391 w 526"/>
                <a:gd name="T23" fmla="*/ 846088 h 320"/>
                <a:gd name="T24" fmla="*/ 358108 w 526"/>
                <a:gd name="T25" fmla="*/ 1128117 h 320"/>
                <a:gd name="T26" fmla="*/ 1338193 w 526"/>
                <a:gd name="T27" fmla="*/ 1128117 h 320"/>
                <a:gd name="T28" fmla="*/ 1338193 w 526"/>
                <a:gd name="T29" fmla="*/ 1203325 h 320"/>
                <a:gd name="T30" fmla="*/ 358108 w 526"/>
                <a:gd name="T31" fmla="*/ 1203325 h 320"/>
                <a:gd name="T32" fmla="*/ 0 w 526"/>
                <a:gd name="T33" fmla="*/ 846088 h 320"/>
                <a:gd name="T34" fmla="*/ 278947 w 526"/>
                <a:gd name="T35" fmla="*/ 496372 h 320"/>
                <a:gd name="T36" fmla="*/ 946159 w 526"/>
                <a:gd name="T37" fmla="*/ 0 h 320"/>
                <a:gd name="T38" fmla="*/ 1545519 w 526"/>
                <a:gd name="T39" fmla="*/ 338435 h 320"/>
                <a:gd name="T40" fmla="*/ 1982788 w 526"/>
                <a:gd name="T41" fmla="*/ 800963 h 320"/>
                <a:gd name="T42" fmla="*/ 1805619 w 526"/>
                <a:gd name="T43" fmla="*/ 1165721 h 320"/>
                <a:gd name="T44" fmla="*/ 1688762 w 526"/>
                <a:gd name="T45" fmla="*/ 1203325 h 3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26" h="320">
                  <a:moveTo>
                    <a:pt x="448" y="320"/>
                  </a:moveTo>
                  <a:cubicBezTo>
                    <a:pt x="416" y="320"/>
                    <a:pt x="416" y="320"/>
                    <a:pt x="416" y="320"/>
                  </a:cubicBezTo>
                  <a:cubicBezTo>
                    <a:pt x="416" y="300"/>
                    <a:pt x="416" y="300"/>
                    <a:pt x="416" y="300"/>
                  </a:cubicBezTo>
                  <a:cubicBezTo>
                    <a:pt x="448" y="300"/>
                    <a:pt x="448" y="300"/>
                    <a:pt x="448" y="300"/>
                  </a:cubicBezTo>
                  <a:cubicBezTo>
                    <a:pt x="456" y="300"/>
                    <a:pt x="462" y="298"/>
                    <a:pt x="466" y="295"/>
                  </a:cubicBezTo>
                  <a:cubicBezTo>
                    <a:pt x="492" y="274"/>
                    <a:pt x="506" y="244"/>
                    <a:pt x="506" y="213"/>
                  </a:cubicBezTo>
                  <a:cubicBezTo>
                    <a:pt x="506" y="157"/>
                    <a:pt x="460" y="111"/>
                    <a:pt x="404" y="110"/>
                  </a:cubicBezTo>
                  <a:cubicBezTo>
                    <a:pt x="400" y="110"/>
                    <a:pt x="397" y="108"/>
                    <a:pt x="395" y="105"/>
                  </a:cubicBezTo>
                  <a:cubicBezTo>
                    <a:pt x="366" y="53"/>
                    <a:pt x="311" y="20"/>
                    <a:pt x="251" y="20"/>
                  </a:cubicBezTo>
                  <a:cubicBezTo>
                    <a:pt x="176" y="20"/>
                    <a:pt x="111" y="71"/>
                    <a:pt x="92" y="144"/>
                  </a:cubicBezTo>
                  <a:cubicBezTo>
                    <a:pt x="91" y="148"/>
                    <a:pt x="88" y="150"/>
                    <a:pt x="84" y="151"/>
                  </a:cubicBezTo>
                  <a:cubicBezTo>
                    <a:pt x="47" y="156"/>
                    <a:pt x="20" y="188"/>
                    <a:pt x="20" y="225"/>
                  </a:cubicBezTo>
                  <a:cubicBezTo>
                    <a:pt x="20" y="266"/>
                    <a:pt x="53" y="300"/>
                    <a:pt x="95" y="300"/>
                  </a:cubicBezTo>
                  <a:cubicBezTo>
                    <a:pt x="355" y="300"/>
                    <a:pt x="355" y="300"/>
                    <a:pt x="355" y="300"/>
                  </a:cubicBezTo>
                  <a:cubicBezTo>
                    <a:pt x="355" y="320"/>
                    <a:pt x="355" y="320"/>
                    <a:pt x="355" y="320"/>
                  </a:cubicBezTo>
                  <a:cubicBezTo>
                    <a:pt x="95" y="320"/>
                    <a:pt x="95" y="320"/>
                    <a:pt x="95" y="320"/>
                  </a:cubicBezTo>
                  <a:cubicBezTo>
                    <a:pt x="42" y="320"/>
                    <a:pt x="0" y="277"/>
                    <a:pt x="0" y="225"/>
                  </a:cubicBezTo>
                  <a:cubicBezTo>
                    <a:pt x="0" y="181"/>
                    <a:pt x="31" y="142"/>
                    <a:pt x="74" y="132"/>
                  </a:cubicBezTo>
                  <a:cubicBezTo>
                    <a:pt x="97" y="54"/>
                    <a:pt x="169" y="0"/>
                    <a:pt x="251" y="0"/>
                  </a:cubicBezTo>
                  <a:cubicBezTo>
                    <a:pt x="316" y="0"/>
                    <a:pt x="377" y="35"/>
                    <a:pt x="410" y="90"/>
                  </a:cubicBezTo>
                  <a:cubicBezTo>
                    <a:pt x="475" y="94"/>
                    <a:pt x="526" y="148"/>
                    <a:pt x="526" y="213"/>
                  </a:cubicBezTo>
                  <a:cubicBezTo>
                    <a:pt x="526" y="250"/>
                    <a:pt x="509" y="286"/>
                    <a:pt x="479" y="310"/>
                  </a:cubicBezTo>
                  <a:cubicBezTo>
                    <a:pt x="471" y="317"/>
                    <a:pt x="460" y="320"/>
                    <a:pt x="448" y="320"/>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等线" panose="02010600030101010101" pitchFamily="2" charset="-122"/>
              </a:endParaRPr>
            </a:p>
          </p:txBody>
        </p:sp>
        <p:sp>
          <p:nvSpPr>
            <p:cNvPr id="72" name="Oval 10">
              <a:extLst>
                <a:ext uri="{FF2B5EF4-FFF2-40B4-BE49-F238E27FC236}">
                  <a16:creationId xmlns:a16="http://schemas.microsoft.com/office/drawing/2014/main" id="{DB3335BA-4ECE-4A85-A739-BDD3A399716B}"/>
                </a:ext>
              </a:extLst>
            </p:cNvPr>
            <p:cNvSpPr>
              <a:spLocks noChangeArrowheads="1"/>
            </p:cNvSpPr>
            <p:nvPr/>
          </p:nvSpPr>
          <p:spPr bwMode="gray">
            <a:xfrm>
              <a:off x="5422900" y="2038350"/>
              <a:ext cx="153988" cy="157162"/>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1D1D1A"/>
                </a:solidFill>
                <a:effectLst/>
                <a:uLnTx/>
                <a:uFillTx/>
                <a:latin typeface="Huawei Sans" panose="020C0503030203020204" pitchFamily="34" charset="0"/>
                <a:ea typeface="+mn-ea"/>
              </a:endParaRPr>
            </a:p>
          </p:txBody>
        </p:sp>
        <p:sp>
          <p:nvSpPr>
            <p:cNvPr id="73" name="Oval 11">
              <a:extLst>
                <a:ext uri="{FF2B5EF4-FFF2-40B4-BE49-F238E27FC236}">
                  <a16:creationId xmlns:a16="http://schemas.microsoft.com/office/drawing/2014/main" id="{EBD086FE-E7A9-4D20-B472-85F9781DB85E}"/>
                </a:ext>
              </a:extLst>
            </p:cNvPr>
            <p:cNvSpPr>
              <a:spLocks noChangeArrowheads="1"/>
            </p:cNvSpPr>
            <p:nvPr/>
          </p:nvSpPr>
          <p:spPr bwMode="gray">
            <a:xfrm>
              <a:off x="5664200" y="2038350"/>
              <a:ext cx="153988" cy="157162"/>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1D1D1A"/>
                </a:solidFill>
                <a:effectLst/>
                <a:uLnTx/>
                <a:uFillTx/>
                <a:latin typeface="Huawei Sans" panose="020C0503030203020204" pitchFamily="34" charset="0"/>
                <a:ea typeface="+mn-ea"/>
              </a:endParaRPr>
            </a:p>
          </p:txBody>
        </p:sp>
        <p:sp>
          <p:nvSpPr>
            <p:cNvPr id="74" name="Freeform 12">
              <a:extLst>
                <a:ext uri="{FF2B5EF4-FFF2-40B4-BE49-F238E27FC236}">
                  <a16:creationId xmlns:a16="http://schemas.microsoft.com/office/drawing/2014/main" id="{70C88E49-776A-4779-A027-905D62CBD2E4}"/>
                </a:ext>
              </a:extLst>
            </p:cNvPr>
            <p:cNvSpPr>
              <a:spLocks/>
            </p:cNvSpPr>
            <p:nvPr/>
          </p:nvSpPr>
          <p:spPr bwMode="gray">
            <a:xfrm>
              <a:off x="5102225" y="1211263"/>
              <a:ext cx="406400" cy="750887"/>
            </a:xfrm>
            <a:custGeom>
              <a:avLst/>
              <a:gdLst>
                <a:gd name="T0" fmla="*/ 316089 w 108"/>
                <a:gd name="T1" fmla="*/ 289091 h 200"/>
                <a:gd name="T2" fmla="*/ 312326 w 108"/>
                <a:gd name="T3" fmla="*/ 285337 h 200"/>
                <a:gd name="T4" fmla="*/ 289748 w 108"/>
                <a:gd name="T5" fmla="*/ 236529 h 200"/>
                <a:gd name="T6" fmla="*/ 316089 w 108"/>
                <a:gd name="T7" fmla="*/ 206494 h 200"/>
                <a:gd name="T8" fmla="*/ 316089 w 108"/>
                <a:gd name="T9" fmla="*/ 127651 h 200"/>
                <a:gd name="T10" fmla="*/ 237067 w 108"/>
                <a:gd name="T11" fmla="*/ 71334 h 200"/>
                <a:gd name="T12" fmla="*/ 173096 w 108"/>
                <a:gd name="T13" fmla="*/ 112633 h 200"/>
                <a:gd name="T14" fmla="*/ 169333 w 108"/>
                <a:gd name="T15" fmla="*/ 112633 h 200"/>
                <a:gd name="T16" fmla="*/ 120415 w 108"/>
                <a:gd name="T17" fmla="*/ 93861 h 200"/>
                <a:gd name="T18" fmla="*/ 112889 w 108"/>
                <a:gd name="T19" fmla="*/ 86352 h 200"/>
                <a:gd name="T20" fmla="*/ 56444 w 108"/>
                <a:gd name="T21" fmla="*/ 0 h 200"/>
                <a:gd name="T22" fmla="*/ 0 w 108"/>
                <a:gd name="T23" fmla="*/ 30035 h 200"/>
                <a:gd name="T24" fmla="*/ 52681 w 108"/>
                <a:gd name="T25" fmla="*/ 60071 h 200"/>
                <a:gd name="T26" fmla="*/ 97837 w 108"/>
                <a:gd name="T27" fmla="*/ 150177 h 200"/>
                <a:gd name="T28" fmla="*/ 169333 w 108"/>
                <a:gd name="T29" fmla="*/ 172704 h 200"/>
                <a:gd name="T30" fmla="*/ 237067 w 108"/>
                <a:gd name="T31" fmla="*/ 135160 h 200"/>
                <a:gd name="T32" fmla="*/ 248356 w 108"/>
                <a:gd name="T33" fmla="*/ 187722 h 200"/>
                <a:gd name="T34" fmla="*/ 252119 w 108"/>
                <a:gd name="T35" fmla="*/ 304109 h 200"/>
                <a:gd name="T36" fmla="*/ 346193 w 108"/>
                <a:gd name="T37" fmla="*/ 352917 h 200"/>
                <a:gd name="T38" fmla="*/ 316089 w 108"/>
                <a:gd name="T39" fmla="*/ 397970 h 200"/>
                <a:gd name="T40" fmla="*/ 237067 w 108"/>
                <a:gd name="T41" fmla="*/ 484322 h 200"/>
                <a:gd name="T42" fmla="*/ 267170 w 108"/>
                <a:gd name="T43" fmla="*/ 578183 h 200"/>
                <a:gd name="T44" fmla="*/ 218252 w 108"/>
                <a:gd name="T45" fmla="*/ 593201 h 200"/>
                <a:gd name="T46" fmla="*/ 139230 w 108"/>
                <a:gd name="T47" fmla="*/ 578183 h 200"/>
                <a:gd name="T48" fmla="*/ 52681 w 108"/>
                <a:gd name="T49" fmla="*/ 660781 h 200"/>
                <a:gd name="T50" fmla="*/ 30104 w 108"/>
                <a:gd name="T51" fmla="*/ 687062 h 200"/>
                <a:gd name="T52" fmla="*/ 30104 w 108"/>
                <a:gd name="T53" fmla="*/ 750887 h 200"/>
                <a:gd name="T54" fmla="*/ 112889 w 108"/>
                <a:gd name="T55" fmla="*/ 690816 h 200"/>
                <a:gd name="T56" fmla="*/ 116652 w 108"/>
                <a:gd name="T57" fmla="*/ 657026 h 200"/>
                <a:gd name="T58" fmla="*/ 165570 w 108"/>
                <a:gd name="T59" fmla="*/ 634500 h 200"/>
                <a:gd name="T60" fmla="*/ 169333 w 108"/>
                <a:gd name="T61" fmla="*/ 634500 h 200"/>
                <a:gd name="T62" fmla="*/ 195674 w 108"/>
                <a:gd name="T63" fmla="*/ 657026 h 200"/>
                <a:gd name="T64" fmla="*/ 278459 w 108"/>
                <a:gd name="T65" fmla="*/ 657026 h 200"/>
                <a:gd name="T66" fmla="*/ 331141 w 108"/>
                <a:gd name="T67" fmla="*/ 578183 h 200"/>
                <a:gd name="T68" fmla="*/ 293511 w 108"/>
                <a:gd name="T69" fmla="*/ 518112 h 200"/>
                <a:gd name="T70" fmla="*/ 293511 w 108"/>
                <a:gd name="T71" fmla="*/ 506849 h 200"/>
                <a:gd name="T72" fmla="*/ 312326 w 108"/>
                <a:gd name="T73" fmla="*/ 461796 h 200"/>
                <a:gd name="T74" fmla="*/ 349956 w 108"/>
                <a:gd name="T75" fmla="*/ 458041 h 200"/>
                <a:gd name="T76" fmla="*/ 406400 w 108"/>
                <a:gd name="T77" fmla="*/ 345408 h 2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8" h="200">
                  <a:moveTo>
                    <a:pt x="93" y="77"/>
                  </a:moveTo>
                  <a:cubicBezTo>
                    <a:pt x="84" y="77"/>
                    <a:pt x="84" y="77"/>
                    <a:pt x="84" y="77"/>
                  </a:cubicBezTo>
                  <a:cubicBezTo>
                    <a:pt x="84" y="77"/>
                    <a:pt x="83" y="77"/>
                    <a:pt x="83" y="76"/>
                  </a:cubicBezTo>
                  <a:cubicBezTo>
                    <a:pt x="83" y="76"/>
                    <a:pt x="83" y="76"/>
                    <a:pt x="83" y="76"/>
                  </a:cubicBezTo>
                  <a:cubicBezTo>
                    <a:pt x="78" y="64"/>
                    <a:pt x="78" y="64"/>
                    <a:pt x="78" y="64"/>
                  </a:cubicBezTo>
                  <a:cubicBezTo>
                    <a:pt x="78" y="63"/>
                    <a:pt x="78" y="63"/>
                    <a:pt x="77" y="63"/>
                  </a:cubicBezTo>
                  <a:cubicBezTo>
                    <a:pt x="77" y="63"/>
                    <a:pt x="77" y="62"/>
                    <a:pt x="78" y="61"/>
                  </a:cubicBezTo>
                  <a:cubicBezTo>
                    <a:pt x="84" y="55"/>
                    <a:pt x="84" y="55"/>
                    <a:pt x="84" y="55"/>
                  </a:cubicBezTo>
                  <a:cubicBezTo>
                    <a:pt x="87" y="53"/>
                    <a:pt x="88" y="49"/>
                    <a:pt x="88" y="45"/>
                  </a:cubicBezTo>
                  <a:cubicBezTo>
                    <a:pt x="88" y="41"/>
                    <a:pt x="87" y="37"/>
                    <a:pt x="84" y="34"/>
                  </a:cubicBezTo>
                  <a:cubicBezTo>
                    <a:pt x="74" y="24"/>
                    <a:pt x="74" y="24"/>
                    <a:pt x="74" y="24"/>
                  </a:cubicBezTo>
                  <a:cubicBezTo>
                    <a:pt x="71" y="21"/>
                    <a:pt x="67" y="19"/>
                    <a:pt x="63" y="19"/>
                  </a:cubicBezTo>
                  <a:cubicBezTo>
                    <a:pt x="59" y="19"/>
                    <a:pt x="55" y="21"/>
                    <a:pt x="52" y="24"/>
                  </a:cubicBezTo>
                  <a:cubicBezTo>
                    <a:pt x="46" y="30"/>
                    <a:pt x="46" y="30"/>
                    <a:pt x="46" y="30"/>
                  </a:cubicBezTo>
                  <a:cubicBezTo>
                    <a:pt x="46" y="30"/>
                    <a:pt x="46" y="30"/>
                    <a:pt x="45" y="30"/>
                  </a:cubicBezTo>
                  <a:cubicBezTo>
                    <a:pt x="45" y="30"/>
                    <a:pt x="45" y="30"/>
                    <a:pt x="45" y="30"/>
                  </a:cubicBezTo>
                  <a:cubicBezTo>
                    <a:pt x="44" y="30"/>
                    <a:pt x="44" y="30"/>
                    <a:pt x="44" y="30"/>
                  </a:cubicBezTo>
                  <a:cubicBezTo>
                    <a:pt x="32" y="25"/>
                    <a:pt x="32" y="25"/>
                    <a:pt x="32" y="25"/>
                  </a:cubicBezTo>
                  <a:cubicBezTo>
                    <a:pt x="32" y="25"/>
                    <a:pt x="32" y="25"/>
                    <a:pt x="31" y="25"/>
                  </a:cubicBezTo>
                  <a:cubicBezTo>
                    <a:pt x="31" y="24"/>
                    <a:pt x="30" y="24"/>
                    <a:pt x="30" y="23"/>
                  </a:cubicBezTo>
                  <a:cubicBezTo>
                    <a:pt x="30" y="15"/>
                    <a:pt x="30" y="15"/>
                    <a:pt x="30" y="15"/>
                  </a:cubicBezTo>
                  <a:cubicBezTo>
                    <a:pt x="30" y="6"/>
                    <a:pt x="23" y="0"/>
                    <a:pt x="15" y="0"/>
                  </a:cubicBezTo>
                  <a:cubicBezTo>
                    <a:pt x="8" y="0"/>
                    <a:pt x="8" y="0"/>
                    <a:pt x="8" y="0"/>
                  </a:cubicBezTo>
                  <a:cubicBezTo>
                    <a:pt x="3" y="0"/>
                    <a:pt x="0" y="3"/>
                    <a:pt x="0" y="8"/>
                  </a:cubicBezTo>
                  <a:cubicBezTo>
                    <a:pt x="0" y="12"/>
                    <a:pt x="3" y="16"/>
                    <a:pt x="8" y="16"/>
                  </a:cubicBezTo>
                  <a:cubicBezTo>
                    <a:pt x="14" y="16"/>
                    <a:pt x="14" y="16"/>
                    <a:pt x="14" y="16"/>
                  </a:cubicBezTo>
                  <a:cubicBezTo>
                    <a:pt x="14" y="23"/>
                    <a:pt x="14" y="23"/>
                    <a:pt x="14" y="23"/>
                  </a:cubicBezTo>
                  <a:cubicBezTo>
                    <a:pt x="14" y="31"/>
                    <a:pt x="19" y="38"/>
                    <a:pt x="26" y="40"/>
                  </a:cubicBezTo>
                  <a:cubicBezTo>
                    <a:pt x="37" y="45"/>
                    <a:pt x="37" y="45"/>
                    <a:pt x="37" y="45"/>
                  </a:cubicBezTo>
                  <a:cubicBezTo>
                    <a:pt x="39" y="46"/>
                    <a:pt x="42" y="46"/>
                    <a:pt x="45" y="46"/>
                  </a:cubicBezTo>
                  <a:cubicBezTo>
                    <a:pt x="50" y="46"/>
                    <a:pt x="54" y="45"/>
                    <a:pt x="58" y="41"/>
                  </a:cubicBezTo>
                  <a:cubicBezTo>
                    <a:pt x="63" y="36"/>
                    <a:pt x="63" y="36"/>
                    <a:pt x="63" y="36"/>
                  </a:cubicBezTo>
                  <a:cubicBezTo>
                    <a:pt x="71" y="45"/>
                    <a:pt x="71" y="45"/>
                    <a:pt x="71" y="45"/>
                  </a:cubicBezTo>
                  <a:cubicBezTo>
                    <a:pt x="66" y="50"/>
                    <a:pt x="66" y="50"/>
                    <a:pt x="66" y="50"/>
                  </a:cubicBezTo>
                  <a:cubicBezTo>
                    <a:pt x="61" y="55"/>
                    <a:pt x="60" y="64"/>
                    <a:pt x="63" y="70"/>
                  </a:cubicBezTo>
                  <a:cubicBezTo>
                    <a:pt x="67" y="81"/>
                    <a:pt x="67" y="81"/>
                    <a:pt x="67" y="81"/>
                  </a:cubicBezTo>
                  <a:cubicBezTo>
                    <a:pt x="70" y="88"/>
                    <a:pt x="77" y="94"/>
                    <a:pt x="84" y="94"/>
                  </a:cubicBezTo>
                  <a:cubicBezTo>
                    <a:pt x="92" y="94"/>
                    <a:pt x="92" y="94"/>
                    <a:pt x="92" y="94"/>
                  </a:cubicBezTo>
                  <a:cubicBezTo>
                    <a:pt x="92" y="106"/>
                    <a:pt x="92" y="106"/>
                    <a:pt x="92" y="106"/>
                  </a:cubicBezTo>
                  <a:cubicBezTo>
                    <a:pt x="84" y="106"/>
                    <a:pt x="84" y="106"/>
                    <a:pt x="84" y="106"/>
                  </a:cubicBezTo>
                  <a:cubicBezTo>
                    <a:pt x="77" y="106"/>
                    <a:pt x="70" y="111"/>
                    <a:pt x="67" y="118"/>
                  </a:cubicBezTo>
                  <a:cubicBezTo>
                    <a:pt x="63" y="129"/>
                    <a:pt x="63" y="129"/>
                    <a:pt x="63" y="129"/>
                  </a:cubicBezTo>
                  <a:cubicBezTo>
                    <a:pt x="60" y="135"/>
                    <a:pt x="61" y="144"/>
                    <a:pt x="66" y="149"/>
                  </a:cubicBezTo>
                  <a:cubicBezTo>
                    <a:pt x="71" y="154"/>
                    <a:pt x="71" y="154"/>
                    <a:pt x="71" y="154"/>
                  </a:cubicBezTo>
                  <a:cubicBezTo>
                    <a:pt x="63" y="163"/>
                    <a:pt x="63" y="163"/>
                    <a:pt x="63" y="163"/>
                  </a:cubicBezTo>
                  <a:cubicBezTo>
                    <a:pt x="58" y="158"/>
                    <a:pt x="58" y="158"/>
                    <a:pt x="58" y="158"/>
                  </a:cubicBezTo>
                  <a:cubicBezTo>
                    <a:pt x="54" y="155"/>
                    <a:pt x="50" y="153"/>
                    <a:pt x="45" y="153"/>
                  </a:cubicBezTo>
                  <a:cubicBezTo>
                    <a:pt x="42" y="153"/>
                    <a:pt x="39" y="153"/>
                    <a:pt x="37" y="154"/>
                  </a:cubicBezTo>
                  <a:cubicBezTo>
                    <a:pt x="26" y="159"/>
                    <a:pt x="26" y="159"/>
                    <a:pt x="26" y="159"/>
                  </a:cubicBezTo>
                  <a:cubicBezTo>
                    <a:pt x="19" y="161"/>
                    <a:pt x="14" y="169"/>
                    <a:pt x="14" y="176"/>
                  </a:cubicBezTo>
                  <a:cubicBezTo>
                    <a:pt x="14" y="183"/>
                    <a:pt x="14" y="183"/>
                    <a:pt x="14" y="183"/>
                  </a:cubicBezTo>
                  <a:cubicBezTo>
                    <a:pt x="8" y="183"/>
                    <a:pt x="8" y="183"/>
                    <a:pt x="8" y="183"/>
                  </a:cubicBezTo>
                  <a:cubicBezTo>
                    <a:pt x="3" y="183"/>
                    <a:pt x="0" y="187"/>
                    <a:pt x="0" y="191"/>
                  </a:cubicBezTo>
                  <a:cubicBezTo>
                    <a:pt x="0" y="196"/>
                    <a:pt x="3" y="200"/>
                    <a:pt x="8" y="200"/>
                  </a:cubicBezTo>
                  <a:cubicBezTo>
                    <a:pt x="15" y="200"/>
                    <a:pt x="15" y="200"/>
                    <a:pt x="15" y="200"/>
                  </a:cubicBezTo>
                  <a:cubicBezTo>
                    <a:pt x="23" y="200"/>
                    <a:pt x="30" y="193"/>
                    <a:pt x="30" y="184"/>
                  </a:cubicBezTo>
                  <a:cubicBezTo>
                    <a:pt x="30" y="176"/>
                    <a:pt x="30" y="176"/>
                    <a:pt x="30" y="176"/>
                  </a:cubicBezTo>
                  <a:cubicBezTo>
                    <a:pt x="30" y="175"/>
                    <a:pt x="31" y="175"/>
                    <a:pt x="31" y="175"/>
                  </a:cubicBezTo>
                  <a:cubicBezTo>
                    <a:pt x="31" y="174"/>
                    <a:pt x="32" y="174"/>
                    <a:pt x="32" y="174"/>
                  </a:cubicBezTo>
                  <a:cubicBezTo>
                    <a:pt x="44" y="169"/>
                    <a:pt x="44" y="169"/>
                    <a:pt x="44" y="169"/>
                  </a:cubicBezTo>
                  <a:cubicBezTo>
                    <a:pt x="44" y="169"/>
                    <a:pt x="44" y="169"/>
                    <a:pt x="45" y="169"/>
                  </a:cubicBezTo>
                  <a:cubicBezTo>
                    <a:pt x="45" y="169"/>
                    <a:pt x="45" y="169"/>
                    <a:pt x="45" y="169"/>
                  </a:cubicBezTo>
                  <a:cubicBezTo>
                    <a:pt x="46" y="169"/>
                    <a:pt x="46" y="169"/>
                    <a:pt x="46" y="169"/>
                  </a:cubicBezTo>
                  <a:cubicBezTo>
                    <a:pt x="52" y="175"/>
                    <a:pt x="52" y="175"/>
                    <a:pt x="52" y="175"/>
                  </a:cubicBezTo>
                  <a:cubicBezTo>
                    <a:pt x="55" y="178"/>
                    <a:pt x="59" y="180"/>
                    <a:pt x="63" y="180"/>
                  </a:cubicBezTo>
                  <a:cubicBezTo>
                    <a:pt x="67" y="180"/>
                    <a:pt x="71" y="178"/>
                    <a:pt x="74" y="175"/>
                  </a:cubicBezTo>
                  <a:cubicBezTo>
                    <a:pt x="84" y="165"/>
                    <a:pt x="84" y="165"/>
                    <a:pt x="84" y="165"/>
                  </a:cubicBezTo>
                  <a:cubicBezTo>
                    <a:pt x="87" y="162"/>
                    <a:pt x="88" y="159"/>
                    <a:pt x="88" y="154"/>
                  </a:cubicBezTo>
                  <a:cubicBezTo>
                    <a:pt x="88" y="150"/>
                    <a:pt x="87" y="147"/>
                    <a:pt x="84" y="144"/>
                  </a:cubicBezTo>
                  <a:cubicBezTo>
                    <a:pt x="78" y="138"/>
                    <a:pt x="78" y="138"/>
                    <a:pt x="78" y="138"/>
                  </a:cubicBezTo>
                  <a:cubicBezTo>
                    <a:pt x="77" y="137"/>
                    <a:pt x="77" y="136"/>
                    <a:pt x="77" y="136"/>
                  </a:cubicBezTo>
                  <a:cubicBezTo>
                    <a:pt x="78" y="136"/>
                    <a:pt x="78" y="136"/>
                    <a:pt x="78" y="135"/>
                  </a:cubicBezTo>
                  <a:cubicBezTo>
                    <a:pt x="83" y="124"/>
                    <a:pt x="83" y="124"/>
                    <a:pt x="83" y="124"/>
                  </a:cubicBezTo>
                  <a:cubicBezTo>
                    <a:pt x="83" y="123"/>
                    <a:pt x="83" y="123"/>
                    <a:pt x="83" y="123"/>
                  </a:cubicBezTo>
                  <a:cubicBezTo>
                    <a:pt x="83" y="123"/>
                    <a:pt x="84" y="122"/>
                    <a:pt x="84" y="122"/>
                  </a:cubicBezTo>
                  <a:cubicBezTo>
                    <a:pt x="93" y="122"/>
                    <a:pt x="93" y="122"/>
                    <a:pt x="93" y="122"/>
                  </a:cubicBezTo>
                  <a:cubicBezTo>
                    <a:pt x="101" y="122"/>
                    <a:pt x="108" y="115"/>
                    <a:pt x="108" y="107"/>
                  </a:cubicBezTo>
                  <a:cubicBezTo>
                    <a:pt x="108" y="92"/>
                    <a:pt x="108" y="92"/>
                    <a:pt x="108" y="92"/>
                  </a:cubicBezTo>
                  <a:cubicBezTo>
                    <a:pt x="108" y="84"/>
                    <a:pt x="101" y="77"/>
                    <a:pt x="93" y="77"/>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等线" panose="02010600030101010101" pitchFamily="2" charset="-122"/>
              </a:endParaRPr>
            </a:p>
          </p:txBody>
        </p:sp>
        <p:sp>
          <p:nvSpPr>
            <p:cNvPr id="75" name="Freeform 13">
              <a:extLst>
                <a:ext uri="{FF2B5EF4-FFF2-40B4-BE49-F238E27FC236}">
                  <a16:creationId xmlns:a16="http://schemas.microsoft.com/office/drawing/2014/main" id="{1F0D74AF-2A93-481E-BB6A-C9005C74AFC1}"/>
                </a:ext>
              </a:extLst>
            </p:cNvPr>
            <p:cNvSpPr>
              <a:spLocks/>
            </p:cNvSpPr>
            <p:nvPr/>
          </p:nvSpPr>
          <p:spPr bwMode="gray">
            <a:xfrm>
              <a:off x="5102225" y="1420813"/>
              <a:ext cx="192088" cy="327025"/>
            </a:xfrm>
            <a:custGeom>
              <a:avLst/>
              <a:gdLst>
                <a:gd name="T0" fmla="*/ 30131 w 51"/>
                <a:gd name="T1" fmla="*/ 266882 h 87"/>
                <a:gd name="T2" fmla="*/ 0 w 51"/>
                <a:gd name="T3" fmla="*/ 296954 h 87"/>
                <a:gd name="T4" fmla="*/ 30131 w 51"/>
                <a:gd name="T5" fmla="*/ 327025 h 87"/>
                <a:gd name="T6" fmla="*/ 192088 w 51"/>
                <a:gd name="T7" fmla="*/ 165392 h 87"/>
                <a:gd name="T8" fmla="*/ 30131 w 51"/>
                <a:gd name="T9" fmla="*/ 0 h 87"/>
                <a:gd name="T10" fmla="*/ 0 w 51"/>
                <a:gd name="T11" fmla="*/ 30071 h 87"/>
                <a:gd name="T12" fmla="*/ 30131 w 51"/>
                <a:gd name="T13" fmla="*/ 60143 h 87"/>
                <a:gd name="T14" fmla="*/ 131825 w 51"/>
                <a:gd name="T15" fmla="*/ 165392 h 87"/>
                <a:gd name="T16" fmla="*/ 30131 w 51"/>
                <a:gd name="T17" fmla="*/ 266882 h 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 h="87">
                  <a:moveTo>
                    <a:pt x="8" y="71"/>
                  </a:moveTo>
                  <a:cubicBezTo>
                    <a:pt x="4" y="71"/>
                    <a:pt x="0" y="74"/>
                    <a:pt x="0" y="79"/>
                  </a:cubicBezTo>
                  <a:cubicBezTo>
                    <a:pt x="0" y="83"/>
                    <a:pt x="4" y="87"/>
                    <a:pt x="8" y="87"/>
                  </a:cubicBezTo>
                  <a:cubicBezTo>
                    <a:pt x="32" y="87"/>
                    <a:pt x="51" y="68"/>
                    <a:pt x="51" y="44"/>
                  </a:cubicBezTo>
                  <a:cubicBezTo>
                    <a:pt x="51" y="20"/>
                    <a:pt x="32" y="0"/>
                    <a:pt x="8" y="0"/>
                  </a:cubicBezTo>
                  <a:cubicBezTo>
                    <a:pt x="4" y="0"/>
                    <a:pt x="0" y="4"/>
                    <a:pt x="0" y="8"/>
                  </a:cubicBezTo>
                  <a:cubicBezTo>
                    <a:pt x="0" y="13"/>
                    <a:pt x="4" y="16"/>
                    <a:pt x="8" y="16"/>
                  </a:cubicBezTo>
                  <a:cubicBezTo>
                    <a:pt x="23" y="16"/>
                    <a:pt x="35" y="29"/>
                    <a:pt x="35" y="44"/>
                  </a:cubicBezTo>
                  <a:cubicBezTo>
                    <a:pt x="35" y="59"/>
                    <a:pt x="23" y="71"/>
                    <a:pt x="8" y="71"/>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等线" panose="02010600030101010101" pitchFamily="2" charset="-122"/>
              </a:endParaRPr>
            </a:p>
          </p:txBody>
        </p:sp>
        <p:sp>
          <p:nvSpPr>
            <p:cNvPr id="76" name="Freeform 14">
              <a:extLst>
                <a:ext uri="{FF2B5EF4-FFF2-40B4-BE49-F238E27FC236}">
                  <a16:creationId xmlns:a16="http://schemas.microsoft.com/office/drawing/2014/main" id="{E28BF043-E0C9-44C7-8612-665E1FFD8890}"/>
                </a:ext>
              </a:extLst>
            </p:cNvPr>
            <p:cNvSpPr>
              <a:spLocks noEditPoints="1"/>
            </p:cNvSpPr>
            <p:nvPr/>
          </p:nvSpPr>
          <p:spPr bwMode="gray">
            <a:xfrm>
              <a:off x="4656138" y="1211263"/>
              <a:ext cx="415925" cy="750887"/>
            </a:xfrm>
            <a:custGeom>
              <a:avLst/>
              <a:gdLst>
                <a:gd name="T0" fmla="*/ 317615 w 110"/>
                <a:gd name="T1" fmla="*/ 0 h 200"/>
                <a:gd name="T2" fmla="*/ 196619 w 110"/>
                <a:gd name="T3" fmla="*/ 75089 h 200"/>
                <a:gd name="T4" fmla="*/ 86966 w 110"/>
                <a:gd name="T5" fmla="*/ 221512 h 200"/>
                <a:gd name="T6" fmla="*/ 68060 w 110"/>
                <a:gd name="T7" fmla="*/ 458041 h 200"/>
                <a:gd name="T8" fmla="*/ 196619 w 110"/>
                <a:gd name="T9" fmla="*/ 679553 h 200"/>
                <a:gd name="T10" fmla="*/ 302491 w 110"/>
                <a:gd name="T11" fmla="*/ 750887 h 200"/>
                <a:gd name="T12" fmla="*/ 381895 w 110"/>
                <a:gd name="T13" fmla="*/ 717097 h 200"/>
                <a:gd name="T14" fmla="*/ 415925 w 110"/>
                <a:gd name="T15" fmla="*/ 638254 h 200"/>
                <a:gd name="T16" fmla="*/ 415925 w 110"/>
                <a:gd name="T17" fmla="*/ 93861 h 200"/>
                <a:gd name="T18" fmla="*/ 415925 w 110"/>
                <a:gd name="T19" fmla="*/ 93861 h 200"/>
                <a:gd name="T20" fmla="*/ 302491 w 110"/>
                <a:gd name="T21" fmla="*/ 322881 h 200"/>
                <a:gd name="T22" fmla="*/ 336521 w 110"/>
                <a:gd name="T23" fmla="*/ 529375 h 200"/>
                <a:gd name="T24" fmla="*/ 336521 w 110"/>
                <a:gd name="T25" fmla="*/ 529375 h 200"/>
                <a:gd name="T26" fmla="*/ 196619 w 110"/>
                <a:gd name="T27" fmla="*/ 300355 h 200"/>
                <a:gd name="T28" fmla="*/ 223087 w 110"/>
                <a:gd name="T29" fmla="*/ 274074 h 200"/>
                <a:gd name="T30" fmla="*/ 196619 w 110"/>
                <a:gd name="T31" fmla="*/ 247793 h 200"/>
                <a:gd name="T32" fmla="*/ 147464 w 110"/>
                <a:gd name="T33" fmla="*/ 221512 h 200"/>
                <a:gd name="T34" fmla="*/ 196619 w 110"/>
                <a:gd name="T35" fmla="*/ 127651 h 200"/>
                <a:gd name="T36" fmla="*/ 317615 w 110"/>
                <a:gd name="T37" fmla="*/ 191476 h 200"/>
                <a:gd name="T38" fmla="*/ 340302 w 110"/>
                <a:gd name="T39" fmla="*/ 183967 h 200"/>
                <a:gd name="T40" fmla="*/ 340302 w 110"/>
                <a:gd name="T41" fmla="*/ 146423 h 200"/>
                <a:gd name="T42" fmla="*/ 276023 w 110"/>
                <a:gd name="T43" fmla="*/ 93861 h 200"/>
                <a:gd name="T44" fmla="*/ 362989 w 110"/>
                <a:gd name="T45" fmla="*/ 93861 h 200"/>
                <a:gd name="T46" fmla="*/ 362989 w 110"/>
                <a:gd name="T47" fmla="*/ 232775 h 200"/>
                <a:gd name="T48" fmla="*/ 302491 w 110"/>
                <a:gd name="T49" fmla="*/ 277828 h 200"/>
                <a:gd name="T50" fmla="*/ 276023 w 110"/>
                <a:gd name="T51" fmla="*/ 304109 h 200"/>
                <a:gd name="T52" fmla="*/ 302491 w 110"/>
                <a:gd name="T53" fmla="*/ 330390 h 200"/>
                <a:gd name="T54" fmla="*/ 362989 w 110"/>
                <a:gd name="T55" fmla="*/ 319127 h 200"/>
                <a:gd name="T56" fmla="*/ 336521 w 110"/>
                <a:gd name="T57" fmla="*/ 488077 h 200"/>
                <a:gd name="T58" fmla="*/ 310053 w 110"/>
                <a:gd name="T59" fmla="*/ 514358 h 200"/>
                <a:gd name="T60" fmla="*/ 336521 w 110"/>
                <a:gd name="T61" fmla="*/ 540639 h 200"/>
                <a:gd name="T62" fmla="*/ 362989 w 110"/>
                <a:gd name="T63" fmla="*/ 536884 h 200"/>
                <a:gd name="T64" fmla="*/ 344083 w 110"/>
                <a:gd name="T65" fmla="*/ 679553 h 200"/>
                <a:gd name="T66" fmla="*/ 257117 w 110"/>
                <a:gd name="T67" fmla="*/ 679553 h 200"/>
                <a:gd name="T68" fmla="*/ 268461 w 110"/>
                <a:gd name="T69" fmla="*/ 574429 h 200"/>
                <a:gd name="T70" fmla="*/ 219306 w 110"/>
                <a:gd name="T71" fmla="*/ 555656 h 200"/>
                <a:gd name="T72" fmla="*/ 128559 w 110"/>
                <a:gd name="T73" fmla="*/ 596955 h 200"/>
                <a:gd name="T74" fmla="*/ 128559 w 110"/>
                <a:gd name="T75" fmla="*/ 461796 h 200"/>
                <a:gd name="T76" fmla="*/ 264680 w 110"/>
                <a:gd name="T77" fmla="*/ 461796 h 200"/>
                <a:gd name="T78" fmla="*/ 302491 w 110"/>
                <a:gd name="T79" fmla="*/ 461796 h 200"/>
                <a:gd name="T80" fmla="*/ 302491 w 110"/>
                <a:gd name="T81" fmla="*/ 424251 h 200"/>
                <a:gd name="T82" fmla="*/ 102091 w 110"/>
                <a:gd name="T83" fmla="*/ 416742 h 200"/>
                <a:gd name="T84" fmla="*/ 113434 w 110"/>
                <a:gd name="T85" fmla="*/ 266565 h 200"/>
                <a:gd name="T86" fmla="*/ 302491 w 110"/>
                <a:gd name="T87" fmla="*/ 739624 h 2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0" h="200">
                  <a:moveTo>
                    <a:pt x="110" y="25"/>
                  </a:moveTo>
                  <a:cubicBezTo>
                    <a:pt x="110" y="11"/>
                    <a:pt x="99" y="0"/>
                    <a:pt x="84" y="0"/>
                  </a:cubicBezTo>
                  <a:cubicBezTo>
                    <a:pt x="72" y="0"/>
                    <a:pt x="61" y="9"/>
                    <a:pt x="59" y="20"/>
                  </a:cubicBezTo>
                  <a:cubicBezTo>
                    <a:pt x="57" y="20"/>
                    <a:pt x="54" y="20"/>
                    <a:pt x="52" y="20"/>
                  </a:cubicBezTo>
                  <a:cubicBezTo>
                    <a:pt x="35" y="20"/>
                    <a:pt x="22" y="33"/>
                    <a:pt x="22" y="50"/>
                  </a:cubicBezTo>
                  <a:cubicBezTo>
                    <a:pt x="22" y="53"/>
                    <a:pt x="22" y="56"/>
                    <a:pt x="23" y="59"/>
                  </a:cubicBezTo>
                  <a:cubicBezTo>
                    <a:pt x="10" y="64"/>
                    <a:pt x="0" y="76"/>
                    <a:pt x="0" y="91"/>
                  </a:cubicBezTo>
                  <a:cubicBezTo>
                    <a:pt x="0" y="104"/>
                    <a:pt x="7" y="116"/>
                    <a:pt x="18" y="122"/>
                  </a:cubicBezTo>
                  <a:cubicBezTo>
                    <a:pt x="9" y="137"/>
                    <a:pt x="11" y="156"/>
                    <a:pt x="24" y="169"/>
                  </a:cubicBezTo>
                  <a:cubicBezTo>
                    <a:pt x="31" y="177"/>
                    <a:pt x="41" y="181"/>
                    <a:pt x="52" y="181"/>
                  </a:cubicBezTo>
                  <a:cubicBezTo>
                    <a:pt x="53" y="185"/>
                    <a:pt x="56" y="188"/>
                    <a:pt x="58" y="191"/>
                  </a:cubicBezTo>
                  <a:cubicBezTo>
                    <a:pt x="64" y="196"/>
                    <a:pt x="72" y="200"/>
                    <a:pt x="80" y="200"/>
                  </a:cubicBezTo>
                  <a:cubicBezTo>
                    <a:pt x="80" y="200"/>
                    <a:pt x="80" y="200"/>
                    <a:pt x="80" y="200"/>
                  </a:cubicBezTo>
                  <a:cubicBezTo>
                    <a:pt x="88" y="200"/>
                    <a:pt x="96" y="196"/>
                    <a:pt x="101" y="191"/>
                  </a:cubicBezTo>
                  <a:cubicBezTo>
                    <a:pt x="107" y="185"/>
                    <a:pt x="110" y="178"/>
                    <a:pt x="110" y="170"/>
                  </a:cubicBezTo>
                  <a:cubicBezTo>
                    <a:pt x="110" y="170"/>
                    <a:pt x="110" y="170"/>
                    <a:pt x="110" y="170"/>
                  </a:cubicBezTo>
                  <a:cubicBezTo>
                    <a:pt x="110" y="170"/>
                    <a:pt x="110" y="170"/>
                    <a:pt x="110" y="170"/>
                  </a:cubicBezTo>
                  <a:cubicBezTo>
                    <a:pt x="110" y="25"/>
                    <a:pt x="110" y="25"/>
                    <a:pt x="110" y="25"/>
                  </a:cubicBezTo>
                  <a:cubicBezTo>
                    <a:pt x="110" y="25"/>
                    <a:pt x="110" y="25"/>
                    <a:pt x="110" y="25"/>
                  </a:cubicBezTo>
                  <a:cubicBezTo>
                    <a:pt x="110" y="25"/>
                    <a:pt x="110" y="25"/>
                    <a:pt x="110" y="25"/>
                  </a:cubicBezTo>
                  <a:close/>
                  <a:moveTo>
                    <a:pt x="80" y="86"/>
                  </a:moveTo>
                  <a:cubicBezTo>
                    <a:pt x="80" y="86"/>
                    <a:pt x="80" y="86"/>
                    <a:pt x="80" y="86"/>
                  </a:cubicBezTo>
                  <a:cubicBezTo>
                    <a:pt x="80" y="86"/>
                    <a:pt x="80" y="86"/>
                    <a:pt x="80" y="86"/>
                  </a:cubicBezTo>
                  <a:close/>
                  <a:moveTo>
                    <a:pt x="89" y="141"/>
                  </a:moveTo>
                  <a:cubicBezTo>
                    <a:pt x="89" y="141"/>
                    <a:pt x="89" y="141"/>
                    <a:pt x="89" y="141"/>
                  </a:cubicBezTo>
                  <a:cubicBezTo>
                    <a:pt x="89" y="141"/>
                    <a:pt x="89" y="141"/>
                    <a:pt x="89" y="141"/>
                  </a:cubicBezTo>
                  <a:close/>
                  <a:moveTo>
                    <a:pt x="30" y="71"/>
                  </a:moveTo>
                  <a:cubicBezTo>
                    <a:pt x="36" y="77"/>
                    <a:pt x="43" y="80"/>
                    <a:pt x="52" y="80"/>
                  </a:cubicBezTo>
                  <a:cubicBezTo>
                    <a:pt x="54" y="80"/>
                    <a:pt x="56" y="80"/>
                    <a:pt x="57" y="78"/>
                  </a:cubicBezTo>
                  <a:cubicBezTo>
                    <a:pt x="58" y="77"/>
                    <a:pt x="59" y="75"/>
                    <a:pt x="59" y="73"/>
                  </a:cubicBezTo>
                  <a:cubicBezTo>
                    <a:pt x="59" y="71"/>
                    <a:pt x="58" y="69"/>
                    <a:pt x="57" y="68"/>
                  </a:cubicBezTo>
                  <a:cubicBezTo>
                    <a:pt x="56" y="67"/>
                    <a:pt x="54" y="66"/>
                    <a:pt x="52" y="66"/>
                  </a:cubicBezTo>
                  <a:cubicBezTo>
                    <a:pt x="48" y="66"/>
                    <a:pt x="44" y="64"/>
                    <a:pt x="41" y="62"/>
                  </a:cubicBezTo>
                  <a:cubicBezTo>
                    <a:pt x="40" y="61"/>
                    <a:pt x="40" y="60"/>
                    <a:pt x="39" y="59"/>
                  </a:cubicBezTo>
                  <a:cubicBezTo>
                    <a:pt x="37" y="57"/>
                    <a:pt x="36" y="53"/>
                    <a:pt x="36" y="50"/>
                  </a:cubicBezTo>
                  <a:cubicBezTo>
                    <a:pt x="36" y="41"/>
                    <a:pt x="43" y="34"/>
                    <a:pt x="52" y="34"/>
                  </a:cubicBezTo>
                  <a:cubicBezTo>
                    <a:pt x="55" y="34"/>
                    <a:pt x="59" y="35"/>
                    <a:pt x="62" y="37"/>
                  </a:cubicBezTo>
                  <a:cubicBezTo>
                    <a:pt x="66" y="45"/>
                    <a:pt x="75" y="51"/>
                    <a:pt x="84" y="51"/>
                  </a:cubicBezTo>
                  <a:cubicBezTo>
                    <a:pt x="84" y="51"/>
                    <a:pt x="84" y="51"/>
                    <a:pt x="84" y="51"/>
                  </a:cubicBezTo>
                  <a:cubicBezTo>
                    <a:pt x="86" y="51"/>
                    <a:pt x="88" y="50"/>
                    <a:pt x="90" y="49"/>
                  </a:cubicBezTo>
                  <a:cubicBezTo>
                    <a:pt x="91" y="48"/>
                    <a:pt x="92" y="46"/>
                    <a:pt x="92" y="44"/>
                  </a:cubicBezTo>
                  <a:cubicBezTo>
                    <a:pt x="92" y="42"/>
                    <a:pt x="91" y="40"/>
                    <a:pt x="90" y="39"/>
                  </a:cubicBezTo>
                  <a:cubicBezTo>
                    <a:pt x="88" y="37"/>
                    <a:pt x="86" y="37"/>
                    <a:pt x="84" y="37"/>
                  </a:cubicBezTo>
                  <a:cubicBezTo>
                    <a:pt x="78" y="37"/>
                    <a:pt x="73" y="32"/>
                    <a:pt x="73" y="25"/>
                  </a:cubicBezTo>
                  <a:cubicBezTo>
                    <a:pt x="73" y="19"/>
                    <a:pt x="78" y="14"/>
                    <a:pt x="84" y="14"/>
                  </a:cubicBezTo>
                  <a:cubicBezTo>
                    <a:pt x="91" y="14"/>
                    <a:pt x="96" y="19"/>
                    <a:pt x="96" y="25"/>
                  </a:cubicBezTo>
                  <a:cubicBezTo>
                    <a:pt x="96" y="25"/>
                    <a:pt x="96" y="25"/>
                    <a:pt x="96" y="25"/>
                  </a:cubicBezTo>
                  <a:cubicBezTo>
                    <a:pt x="96" y="62"/>
                    <a:pt x="96" y="62"/>
                    <a:pt x="96" y="62"/>
                  </a:cubicBezTo>
                  <a:cubicBezTo>
                    <a:pt x="96" y="62"/>
                    <a:pt x="96" y="62"/>
                    <a:pt x="96" y="62"/>
                  </a:cubicBezTo>
                  <a:cubicBezTo>
                    <a:pt x="96" y="64"/>
                    <a:pt x="95" y="74"/>
                    <a:pt x="80" y="74"/>
                  </a:cubicBezTo>
                  <a:cubicBezTo>
                    <a:pt x="78" y="74"/>
                    <a:pt x="76" y="75"/>
                    <a:pt x="75" y="76"/>
                  </a:cubicBezTo>
                  <a:cubicBezTo>
                    <a:pt x="73" y="77"/>
                    <a:pt x="73" y="79"/>
                    <a:pt x="73" y="81"/>
                  </a:cubicBezTo>
                  <a:cubicBezTo>
                    <a:pt x="73" y="83"/>
                    <a:pt x="73" y="85"/>
                    <a:pt x="75" y="86"/>
                  </a:cubicBezTo>
                  <a:cubicBezTo>
                    <a:pt x="76" y="87"/>
                    <a:pt x="78" y="88"/>
                    <a:pt x="80" y="88"/>
                  </a:cubicBezTo>
                  <a:cubicBezTo>
                    <a:pt x="80" y="88"/>
                    <a:pt x="80" y="88"/>
                    <a:pt x="80" y="88"/>
                  </a:cubicBezTo>
                  <a:cubicBezTo>
                    <a:pt x="86" y="88"/>
                    <a:pt x="92" y="87"/>
                    <a:pt x="96" y="85"/>
                  </a:cubicBezTo>
                  <a:cubicBezTo>
                    <a:pt x="96" y="125"/>
                    <a:pt x="96" y="125"/>
                    <a:pt x="96" y="125"/>
                  </a:cubicBezTo>
                  <a:cubicBezTo>
                    <a:pt x="95" y="127"/>
                    <a:pt x="92" y="130"/>
                    <a:pt x="89" y="130"/>
                  </a:cubicBezTo>
                  <a:cubicBezTo>
                    <a:pt x="87" y="130"/>
                    <a:pt x="85" y="130"/>
                    <a:pt x="84" y="132"/>
                  </a:cubicBezTo>
                  <a:cubicBezTo>
                    <a:pt x="83" y="133"/>
                    <a:pt x="82" y="135"/>
                    <a:pt x="82" y="137"/>
                  </a:cubicBezTo>
                  <a:cubicBezTo>
                    <a:pt x="82" y="139"/>
                    <a:pt x="83" y="140"/>
                    <a:pt x="84" y="142"/>
                  </a:cubicBezTo>
                  <a:cubicBezTo>
                    <a:pt x="85" y="143"/>
                    <a:pt x="87" y="144"/>
                    <a:pt x="89" y="144"/>
                  </a:cubicBezTo>
                  <a:cubicBezTo>
                    <a:pt x="89" y="144"/>
                    <a:pt x="89" y="144"/>
                    <a:pt x="89" y="144"/>
                  </a:cubicBezTo>
                  <a:cubicBezTo>
                    <a:pt x="92" y="144"/>
                    <a:pt x="94" y="143"/>
                    <a:pt x="96" y="143"/>
                  </a:cubicBezTo>
                  <a:cubicBezTo>
                    <a:pt x="96" y="169"/>
                    <a:pt x="96" y="169"/>
                    <a:pt x="96" y="169"/>
                  </a:cubicBezTo>
                  <a:cubicBezTo>
                    <a:pt x="96" y="174"/>
                    <a:pt x="94" y="178"/>
                    <a:pt x="91" y="181"/>
                  </a:cubicBezTo>
                  <a:cubicBezTo>
                    <a:pt x="88" y="184"/>
                    <a:pt x="84" y="185"/>
                    <a:pt x="80" y="185"/>
                  </a:cubicBezTo>
                  <a:cubicBezTo>
                    <a:pt x="76" y="185"/>
                    <a:pt x="71" y="184"/>
                    <a:pt x="68" y="181"/>
                  </a:cubicBezTo>
                  <a:cubicBezTo>
                    <a:pt x="62" y="174"/>
                    <a:pt x="62" y="164"/>
                    <a:pt x="68" y="158"/>
                  </a:cubicBezTo>
                  <a:cubicBezTo>
                    <a:pt x="70" y="156"/>
                    <a:pt x="71" y="155"/>
                    <a:pt x="71" y="153"/>
                  </a:cubicBezTo>
                  <a:cubicBezTo>
                    <a:pt x="71" y="151"/>
                    <a:pt x="70" y="149"/>
                    <a:pt x="68" y="148"/>
                  </a:cubicBezTo>
                  <a:cubicBezTo>
                    <a:pt x="66" y="145"/>
                    <a:pt x="61" y="145"/>
                    <a:pt x="58" y="148"/>
                  </a:cubicBezTo>
                  <a:cubicBezTo>
                    <a:pt x="53" y="153"/>
                    <a:pt x="50" y="159"/>
                    <a:pt x="50" y="167"/>
                  </a:cubicBezTo>
                  <a:cubicBezTo>
                    <a:pt x="44" y="166"/>
                    <a:pt x="38" y="163"/>
                    <a:pt x="34" y="159"/>
                  </a:cubicBezTo>
                  <a:cubicBezTo>
                    <a:pt x="29" y="154"/>
                    <a:pt x="27" y="148"/>
                    <a:pt x="27" y="141"/>
                  </a:cubicBezTo>
                  <a:cubicBezTo>
                    <a:pt x="27" y="135"/>
                    <a:pt x="29" y="128"/>
                    <a:pt x="34" y="123"/>
                  </a:cubicBezTo>
                  <a:cubicBezTo>
                    <a:pt x="39" y="119"/>
                    <a:pt x="45" y="116"/>
                    <a:pt x="52" y="116"/>
                  </a:cubicBezTo>
                  <a:cubicBezTo>
                    <a:pt x="59" y="116"/>
                    <a:pt x="65" y="119"/>
                    <a:pt x="70" y="123"/>
                  </a:cubicBezTo>
                  <a:cubicBezTo>
                    <a:pt x="71" y="125"/>
                    <a:pt x="73" y="126"/>
                    <a:pt x="75" y="126"/>
                  </a:cubicBezTo>
                  <a:cubicBezTo>
                    <a:pt x="77" y="126"/>
                    <a:pt x="79" y="125"/>
                    <a:pt x="80" y="123"/>
                  </a:cubicBezTo>
                  <a:cubicBezTo>
                    <a:pt x="81" y="122"/>
                    <a:pt x="82" y="120"/>
                    <a:pt x="82" y="118"/>
                  </a:cubicBezTo>
                  <a:cubicBezTo>
                    <a:pt x="82" y="116"/>
                    <a:pt x="81" y="115"/>
                    <a:pt x="80" y="113"/>
                  </a:cubicBezTo>
                  <a:cubicBezTo>
                    <a:pt x="73" y="106"/>
                    <a:pt x="63" y="102"/>
                    <a:pt x="52" y="102"/>
                  </a:cubicBezTo>
                  <a:cubicBezTo>
                    <a:pt x="43" y="102"/>
                    <a:pt x="34" y="105"/>
                    <a:pt x="27" y="111"/>
                  </a:cubicBezTo>
                  <a:cubicBezTo>
                    <a:pt x="20" y="107"/>
                    <a:pt x="14" y="100"/>
                    <a:pt x="14" y="91"/>
                  </a:cubicBezTo>
                  <a:cubicBezTo>
                    <a:pt x="14" y="82"/>
                    <a:pt x="21" y="74"/>
                    <a:pt x="30" y="71"/>
                  </a:cubicBezTo>
                  <a:close/>
                  <a:moveTo>
                    <a:pt x="80" y="197"/>
                  </a:moveTo>
                  <a:cubicBezTo>
                    <a:pt x="80" y="197"/>
                    <a:pt x="80" y="197"/>
                    <a:pt x="80" y="197"/>
                  </a:cubicBezTo>
                  <a:cubicBezTo>
                    <a:pt x="80" y="197"/>
                    <a:pt x="80" y="197"/>
                    <a:pt x="80" y="197"/>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等线" panose="02010600030101010101" pitchFamily="2" charset="-122"/>
              </a:endParaRPr>
            </a:p>
          </p:txBody>
        </p:sp>
      </p:grpSp>
      <p:pic>
        <p:nvPicPr>
          <p:cNvPr id="78" name="图片 6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979552" y="2815643"/>
            <a:ext cx="382471" cy="313626"/>
          </a:xfrm>
          <a:prstGeom prst="rect">
            <a:avLst/>
          </a:prstGeom>
        </p:spPr>
      </p:pic>
      <p:pic>
        <p:nvPicPr>
          <p:cNvPr id="79" name="图片 6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665346" y="3245215"/>
            <a:ext cx="382471" cy="313626"/>
          </a:xfrm>
          <a:prstGeom prst="rect">
            <a:avLst/>
          </a:prstGeom>
        </p:spPr>
      </p:pic>
      <p:pic>
        <p:nvPicPr>
          <p:cNvPr id="80" name="图片 6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282149" y="2815643"/>
            <a:ext cx="382471" cy="313626"/>
          </a:xfrm>
          <a:prstGeom prst="rect">
            <a:avLst/>
          </a:prstGeom>
        </p:spPr>
      </p:pic>
    </p:spTree>
    <p:extLst>
      <p:ext uri="{BB962C8B-B14F-4D97-AF65-F5344CB8AC3E}">
        <p14:creationId xmlns:p14="http://schemas.microsoft.com/office/powerpoint/2010/main" val="39046568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bwMode="gray"/>
        <p:txBody>
          <a:bodyPr/>
          <a:lstStyle/>
          <a:p>
            <a:r>
              <a:rPr lang="en-US" sz="1800" dirty="0"/>
              <a:t>SD-WAN</a:t>
            </a:r>
            <a:r>
              <a:rPr lang="zh-CN" altLang="en-US" sz="1800" dirty="0"/>
              <a:t>主要解决了多分支互联管理困难，建设和维护昂贵的问题。同时也能保障关键业务质量。</a:t>
            </a:r>
            <a:endParaRPr lang="en-US" altLang="zh-CN" sz="1800" dirty="0"/>
          </a:p>
          <a:p>
            <a:r>
              <a:rPr lang="zh-CN" altLang="en-US" sz="1800" dirty="0"/>
              <a:t>华为</a:t>
            </a:r>
            <a:r>
              <a:rPr lang="en-US" sz="1800" dirty="0"/>
              <a:t>SD-WAN</a:t>
            </a:r>
            <a:r>
              <a:rPr lang="zh-CN" altLang="en-US" sz="1800" dirty="0"/>
              <a:t>解决方案提供以下功能：</a:t>
            </a:r>
            <a:endParaRPr lang="en-US" altLang="zh-CN" sz="1800" dirty="0"/>
          </a:p>
          <a:p>
            <a:pPr lvl="1"/>
            <a:r>
              <a:rPr lang="zh-CN" altLang="en-US" sz="1600" dirty="0"/>
              <a:t>零配置开局，</a:t>
            </a:r>
            <a:r>
              <a:rPr lang="en-US" altLang="zh-CN" sz="1600" dirty="0"/>
              <a:t>1</a:t>
            </a:r>
            <a:r>
              <a:rPr lang="zh-CN" altLang="en-US" sz="1600" dirty="0"/>
              <a:t>小时内完成业务开通</a:t>
            </a:r>
          </a:p>
          <a:p>
            <a:pPr lvl="1"/>
            <a:r>
              <a:rPr lang="zh-CN" altLang="en-US" sz="1600" dirty="0"/>
              <a:t>转控分离，灵活组网</a:t>
            </a:r>
          </a:p>
          <a:p>
            <a:pPr lvl="1"/>
            <a:r>
              <a:rPr lang="zh-CN" altLang="en-US" sz="1600" dirty="0"/>
              <a:t>应用优化，业务可控可视</a:t>
            </a:r>
          </a:p>
          <a:p>
            <a:pPr lvl="1"/>
            <a:r>
              <a:rPr lang="zh-CN" altLang="en-US" sz="1600" dirty="0"/>
              <a:t>完整安全防御体系，业务安全无忧</a:t>
            </a:r>
          </a:p>
          <a:p>
            <a:pPr lvl="1"/>
            <a:r>
              <a:rPr lang="zh-CN" altLang="en-US" sz="1600" dirty="0"/>
              <a:t>可视化运维，快速定位故障</a:t>
            </a:r>
          </a:p>
          <a:p>
            <a:r>
              <a:rPr lang="zh-CN" altLang="en-US" sz="1800" dirty="0"/>
              <a:t>华为</a:t>
            </a:r>
            <a:r>
              <a:rPr lang="en-US" altLang="zh-CN" sz="1800" dirty="0"/>
              <a:t>SD-WAN</a:t>
            </a:r>
            <a:r>
              <a:rPr lang="zh-CN" altLang="en-US" sz="1800" dirty="0"/>
              <a:t>的使用场景主要有：企业自建，</a:t>
            </a:r>
            <a:r>
              <a:rPr lang="en-US" altLang="zh-CN" sz="1800" dirty="0"/>
              <a:t>MSP</a:t>
            </a:r>
            <a:r>
              <a:rPr lang="zh-CN" altLang="en-US" sz="1800" dirty="0"/>
              <a:t>转售与运营商转售。</a:t>
            </a:r>
            <a:endParaRPr lang="en-US" sz="1800" dirty="0"/>
          </a:p>
        </p:txBody>
      </p:sp>
    </p:spTree>
    <p:extLst>
      <p:ext uri="{BB962C8B-B14F-4D97-AF65-F5344CB8AC3E}">
        <p14:creationId xmlns:p14="http://schemas.microsoft.com/office/powerpoint/2010/main" val="16982068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dirty="0">
                <a:solidFill>
                  <a:schemeClr val="bg1">
                    <a:lumMod val="50000"/>
                  </a:schemeClr>
                </a:solidFill>
              </a:rPr>
              <a:t>企业广域互联网络趋势与挑战</a:t>
            </a:r>
            <a:endParaRPr lang="en-US" altLang="zh-CN" sz="1800" dirty="0">
              <a:solidFill>
                <a:schemeClr val="bg1">
                  <a:lumMod val="50000"/>
                </a:schemeClr>
              </a:solidFill>
            </a:endParaRPr>
          </a:p>
          <a:p>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解决方案概述</a:t>
            </a:r>
            <a:endParaRPr lang="en-US" altLang="zh-CN" sz="1800" dirty="0">
              <a:solidFill>
                <a:schemeClr val="bg1">
                  <a:lumMod val="50000"/>
                </a:schemeClr>
              </a:solidFill>
            </a:endParaRPr>
          </a:p>
          <a:p>
            <a:pPr>
              <a:buFont typeface="+mj-lt"/>
              <a:buAutoNum type="arabicPeriod" startAt="3"/>
            </a:pPr>
            <a:r>
              <a:rPr lang="zh-CN" altLang="en-US" sz="1800" b="1" dirty="0"/>
              <a:t>华为</a:t>
            </a:r>
            <a:r>
              <a:rPr lang="en-US" altLang="zh-CN" sz="1800" b="1" dirty="0"/>
              <a:t>SD-WAN</a:t>
            </a:r>
            <a:r>
              <a:rPr lang="zh-CN" altLang="en-US" sz="1800" b="1" dirty="0"/>
              <a:t>组网设计</a:t>
            </a:r>
            <a:endParaRPr lang="en-US" altLang="zh-CN" sz="1800" b="1" dirty="0"/>
          </a:p>
          <a:p>
            <a:pPr lvl="1">
              <a:buSzPct val="60000"/>
              <a:buFont typeface="Wingdings" panose="05000000000000000000" pitchFamily="2" charset="2"/>
              <a:buChar char="n"/>
            </a:pPr>
            <a:r>
              <a:rPr lang="en-US" altLang="zh-CN" sz="1600" dirty="0"/>
              <a:t>SD-WAN</a:t>
            </a:r>
            <a:r>
              <a:rPr lang="zh-CN" altLang="en-US" sz="1600" dirty="0"/>
              <a:t>组网设计概览</a:t>
            </a:r>
            <a:endParaRPr lang="en-US" altLang="zh-CN" sz="1600" dirty="0"/>
          </a:p>
          <a:p>
            <a:pPr lvl="1"/>
            <a:r>
              <a:rPr lang="en-US" altLang="zh-CN" sz="1600" dirty="0">
                <a:solidFill>
                  <a:schemeClr val="bg1">
                    <a:lumMod val="50000"/>
                  </a:schemeClr>
                </a:solidFill>
              </a:rPr>
              <a:t>SD-WAN</a:t>
            </a:r>
            <a:r>
              <a:rPr lang="zh-CN" altLang="en-US" sz="1600" dirty="0">
                <a:solidFill>
                  <a:schemeClr val="bg1">
                    <a:lumMod val="50000"/>
                  </a:schemeClr>
                </a:solidFill>
              </a:rPr>
              <a:t>站点设计</a:t>
            </a:r>
            <a:endParaRPr lang="en-US" altLang="zh-CN" sz="1600" dirty="0">
              <a:solidFill>
                <a:schemeClr val="bg1">
                  <a:lumMod val="50000"/>
                </a:schemeClr>
              </a:solidFill>
            </a:endParaRPr>
          </a:p>
          <a:p>
            <a:pPr lvl="1"/>
            <a:r>
              <a:rPr lang="en-US" altLang="zh-CN" sz="1600" dirty="0">
                <a:solidFill>
                  <a:schemeClr val="bg1">
                    <a:lumMod val="50000"/>
                  </a:schemeClr>
                </a:solidFill>
              </a:rPr>
              <a:t>SD-WAN</a:t>
            </a:r>
            <a:r>
              <a:rPr lang="zh-CN" altLang="en-US" sz="1600" dirty="0">
                <a:solidFill>
                  <a:schemeClr val="bg1">
                    <a:lumMod val="50000"/>
                  </a:schemeClr>
                </a:solidFill>
              </a:rPr>
              <a:t>隧道设计</a:t>
            </a:r>
            <a:endParaRPr lang="en-US" altLang="zh-CN" sz="1600" dirty="0">
              <a:solidFill>
                <a:schemeClr val="bg1">
                  <a:lumMod val="50000"/>
                </a:schemeClr>
              </a:solidFill>
            </a:endParaRPr>
          </a:p>
          <a:p>
            <a:pPr lvl="1"/>
            <a:r>
              <a:rPr lang="en-US" altLang="zh-CN" sz="1600" dirty="0">
                <a:solidFill>
                  <a:schemeClr val="bg1">
                    <a:lumMod val="50000"/>
                  </a:schemeClr>
                </a:solidFill>
              </a:rPr>
              <a:t>SD-WAN VPN</a:t>
            </a:r>
            <a:r>
              <a:rPr lang="zh-CN" altLang="en-US" sz="1600" dirty="0">
                <a:solidFill>
                  <a:schemeClr val="bg1">
                    <a:lumMod val="50000"/>
                  </a:schemeClr>
                </a:solidFill>
              </a:rPr>
              <a:t>设计</a:t>
            </a:r>
            <a:endParaRPr lang="en-US" altLang="zh-CN" sz="1600" dirty="0">
              <a:solidFill>
                <a:schemeClr val="bg1">
                  <a:lumMod val="50000"/>
                </a:schemeClr>
              </a:solidFill>
            </a:endParaRPr>
          </a:p>
          <a:p>
            <a:pPr>
              <a:buAutoNum type="arabicPeriod" startAt="3"/>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业务设计</a:t>
            </a:r>
            <a:endParaRPr lang="en-US" altLang="zh-CN" sz="1800" dirty="0">
              <a:solidFill>
                <a:schemeClr val="bg1">
                  <a:lumMod val="50000"/>
                </a:schemeClr>
              </a:solidFill>
            </a:endParaRPr>
          </a:p>
          <a:p>
            <a:pPr>
              <a:buAutoNum type="arabicPeriod" startAt="3"/>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可靠性与安全设计</a:t>
            </a:r>
          </a:p>
        </p:txBody>
      </p:sp>
    </p:spTree>
    <p:extLst>
      <p:ext uri="{BB962C8B-B14F-4D97-AF65-F5344CB8AC3E}">
        <p14:creationId xmlns:p14="http://schemas.microsoft.com/office/powerpoint/2010/main" val="1920172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微软雅黑" panose="020B0503020204020204" pitchFamily="34" charset="-122"/>
              </a:rPr>
              <a:t>华为</a:t>
            </a:r>
            <a:r>
              <a:rPr lang="en-US" altLang="zh-CN">
                <a:sym typeface="微软雅黑" panose="020B0503020204020204" pitchFamily="34" charset="-122"/>
              </a:rPr>
              <a:t>SD-WAN</a:t>
            </a:r>
            <a:r>
              <a:rPr lang="zh-CN" altLang="en-US">
                <a:sym typeface="微软雅黑" panose="020B0503020204020204" pitchFamily="34" charset="-122"/>
              </a:rPr>
              <a:t>组网设计概览</a:t>
            </a:r>
            <a:endParaRPr lang="zh-CN" altLang="en-US" dirty="0"/>
          </a:p>
        </p:txBody>
      </p:sp>
      <p:sp>
        <p:nvSpPr>
          <p:cNvPr id="3" name="Text Placeholder 2">
            <a:extLst>
              <a:ext uri="{FF2B5EF4-FFF2-40B4-BE49-F238E27FC236}">
                <a16:creationId xmlns:a16="http://schemas.microsoft.com/office/drawing/2014/main" id="{F0658BE2-DEDD-48D9-877B-257B5A7A747F}"/>
              </a:ext>
            </a:extLst>
          </p:cNvPr>
          <p:cNvSpPr>
            <a:spLocks noGrp="1"/>
          </p:cNvSpPr>
          <p:nvPr>
            <p:ph type="body" sz="quarter" idx="10"/>
          </p:nvPr>
        </p:nvSpPr>
        <p:spPr>
          <a:xfrm>
            <a:off x="455612" y="1047750"/>
            <a:ext cx="11293475" cy="804109"/>
          </a:xfrm>
        </p:spPr>
        <p:txBody>
          <a:bodyPr/>
          <a:lstStyle/>
          <a:p>
            <a:r>
              <a:rPr lang="en-US" altLang="zh-CN" sz="2000"/>
              <a:t>SD-WAN</a:t>
            </a:r>
            <a:r>
              <a:rPr lang="zh-CN" altLang="en-US" sz="2000"/>
              <a:t>组网设计主要包括站点设计，隧道设计与</a:t>
            </a:r>
            <a:r>
              <a:rPr lang="en-US" altLang="zh-CN" sz="2000"/>
              <a:t>VPN</a:t>
            </a:r>
            <a:r>
              <a:rPr lang="zh-CN" altLang="en-US" sz="2000"/>
              <a:t>设计。</a:t>
            </a:r>
            <a:endParaRPr lang="en-US" altLang="zh-CN" sz="2000" dirty="0"/>
          </a:p>
        </p:txBody>
      </p:sp>
      <p:sp>
        <p:nvSpPr>
          <p:cNvPr id="198" name="梯形 41">
            <a:extLst>
              <a:ext uri="{FF2B5EF4-FFF2-40B4-BE49-F238E27FC236}">
                <a16:creationId xmlns:a16="http://schemas.microsoft.com/office/drawing/2014/main" id="{967A7F12-DA97-4C1F-A936-1C8A3C6CE4AF}"/>
              </a:ext>
            </a:extLst>
          </p:cNvPr>
          <p:cNvSpPr/>
          <p:nvPr/>
        </p:nvSpPr>
        <p:spPr bwMode="gray">
          <a:xfrm>
            <a:off x="727520" y="3300777"/>
            <a:ext cx="8563973"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9" name="图片 31">
            <a:extLst>
              <a:ext uri="{FF2B5EF4-FFF2-40B4-BE49-F238E27FC236}">
                <a16:creationId xmlns:a16="http://schemas.microsoft.com/office/drawing/2014/main" id="{818E43A1-32FE-4938-9277-76C9BF0384B3}"/>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3075741" y="4099269"/>
            <a:ext cx="466668" cy="385001"/>
          </a:xfrm>
          <a:prstGeom prst="rect">
            <a:avLst/>
          </a:prstGeom>
        </p:spPr>
      </p:pic>
      <p:pic>
        <p:nvPicPr>
          <p:cNvPr id="200" name="图片 31">
            <a:extLst>
              <a:ext uri="{FF2B5EF4-FFF2-40B4-BE49-F238E27FC236}">
                <a16:creationId xmlns:a16="http://schemas.microsoft.com/office/drawing/2014/main" id="{F389AC2D-7222-4FCD-9F4C-D04CBB3F8310}"/>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2328824" y="4959280"/>
            <a:ext cx="466668" cy="385001"/>
          </a:xfrm>
          <a:prstGeom prst="rect">
            <a:avLst/>
          </a:prstGeom>
        </p:spPr>
      </p:pic>
      <p:pic>
        <p:nvPicPr>
          <p:cNvPr id="201" name="图片 25">
            <a:extLst>
              <a:ext uri="{FF2B5EF4-FFF2-40B4-BE49-F238E27FC236}">
                <a16:creationId xmlns:a16="http://schemas.microsoft.com/office/drawing/2014/main" id="{AE8E9C3F-1387-42FC-86E9-D2920E2864DC}"/>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6583914" y="4977450"/>
            <a:ext cx="466668" cy="385001"/>
          </a:xfrm>
          <a:prstGeom prst="rect">
            <a:avLst/>
          </a:prstGeom>
        </p:spPr>
      </p:pic>
      <p:pic>
        <p:nvPicPr>
          <p:cNvPr id="202" name="图片 31">
            <a:extLst>
              <a:ext uri="{FF2B5EF4-FFF2-40B4-BE49-F238E27FC236}">
                <a16:creationId xmlns:a16="http://schemas.microsoft.com/office/drawing/2014/main" id="{FB1E0E28-E3FE-4B21-B32D-9F123F437620}"/>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5924800" y="4096549"/>
            <a:ext cx="466668" cy="385001"/>
          </a:xfrm>
          <a:prstGeom prst="rect">
            <a:avLst/>
          </a:prstGeom>
        </p:spPr>
      </p:pic>
      <p:sp>
        <p:nvSpPr>
          <p:cNvPr id="203" name="Freeform 159">
            <a:extLst>
              <a:ext uri="{FF2B5EF4-FFF2-40B4-BE49-F238E27FC236}">
                <a16:creationId xmlns:a16="http://schemas.microsoft.com/office/drawing/2014/main" id="{7DA6E9EE-1E70-4339-B73D-402A0F2F9596}"/>
              </a:ext>
            </a:extLst>
          </p:cNvPr>
          <p:cNvSpPr/>
          <p:nvPr/>
        </p:nvSpPr>
        <p:spPr bwMode="gray">
          <a:xfrm flipH="1">
            <a:off x="3810116" y="4308856"/>
            <a:ext cx="1914727" cy="10008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运营商网络</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自建网络</a:t>
            </a:r>
            <a:endPar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4" name="图片 86">
            <a:extLst>
              <a:ext uri="{FF2B5EF4-FFF2-40B4-BE49-F238E27FC236}">
                <a16:creationId xmlns:a16="http://schemas.microsoft.com/office/drawing/2014/main" id="{3CE5E23F-011C-4BA4-92DB-1DCE524D88BB}"/>
              </a:ext>
            </a:extLst>
          </p:cNvPr>
          <p:cNvPicPr>
            <a:picLocks/>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318401" y="4322678"/>
            <a:ext cx="391752" cy="321237"/>
          </a:xfrm>
          <a:prstGeom prst="rect">
            <a:avLst/>
          </a:prstGeom>
        </p:spPr>
      </p:pic>
      <p:pic>
        <p:nvPicPr>
          <p:cNvPr id="205" name="Picture 12" descr="E:\2016.01\1.12 扁平化图标\蓝色\AR-蓝色最新-40.png">
            <a:extLst>
              <a:ext uri="{FF2B5EF4-FFF2-40B4-BE49-F238E27FC236}">
                <a16:creationId xmlns:a16="http://schemas.microsoft.com/office/drawing/2014/main" id="{6F592543-83AA-4BE7-A8EC-ED0326A00A87}"/>
              </a:ext>
            </a:extLst>
          </p:cNvPr>
          <p:cNvPicPr>
            <a:picLocks noChangeAspect="1" noChangeArrowheads="1"/>
          </p:cNvPicPr>
          <p:nvPr/>
        </p:nvPicPr>
        <p:blipFill>
          <a:blip r:embed="rId5" cstate="print">
            <a:duotone>
              <a:schemeClr val="bg2">
                <a:shade val="45000"/>
                <a:satMod val="135000"/>
              </a:schemeClr>
              <a:prstClr val="white"/>
            </a:duotone>
          </a:blip>
          <a:srcRect/>
          <a:stretch>
            <a:fillRect/>
          </a:stretch>
        </p:blipFill>
        <p:spPr bwMode="gray">
          <a:xfrm>
            <a:off x="4538701" y="4931281"/>
            <a:ext cx="392039" cy="320760"/>
          </a:xfrm>
          <a:prstGeom prst="rect">
            <a:avLst/>
          </a:prstGeom>
          <a:noFill/>
        </p:spPr>
      </p:pic>
      <p:pic>
        <p:nvPicPr>
          <p:cNvPr id="206" name="图片 8" descr="DSLAM-蓝.png">
            <a:extLst>
              <a:ext uri="{FF2B5EF4-FFF2-40B4-BE49-F238E27FC236}">
                <a16:creationId xmlns:a16="http://schemas.microsoft.com/office/drawing/2014/main" id="{3321EFE7-D7AB-41BE-BDB7-A66C70085D76}"/>
              </a:ext>
            </a:extLst>
          </p:cNvPr>
          <p:cNvPicPr>
            <a:picLocks noChangeAspect="1"/>
          </p:cNvPicPr>
          <p:nvPr/>
        </p:nvPicPr>
        <p:blipFill>
          <a:blip r:embed="rId6" cstate="print">
            <a:duotone>
              <a:schemeClr val="bg2">
                <a:shade val="45000"/>
                <a:satMod val="135000"/>
              </a:schemeClr>
              <a:prstClr val="white"/>
            </a:duotone>
          </a:blip>
          <a:stretch>
            <a:fillRect/>
          </a:stretch>
        </p:blipFill>
        <p:spPr bwMode="gray">
          <a:xfrm>
            <a:off x="3935462" y="4931281"/>
            <a:ext cx="392042" cy="320760"/>
          </a:xfrm>
          <a:prstGeom prst="rect">
            <a:avLst/>
          </a:prstGeom>
        </p:spPr>
      </p:pic>
      <p:pic>
        <p:nvPicPr>
          <p:cNvPr id="207" name="图片 1118">
            <a:extLst>
              <a:ext uri="{FF2B5EF4-FFF2-40B4-BE49-F238E27FC236}">
                <a16:creationId xmlns:a16="http://schemas.microsoft.com/office/drawing/2014/main" id="{76665A81-617C-45F2-ACE8-4D63F96EB21F}"/>
              </a:ext>
            </a:extLst>
          </p:cNvPr>
          <p:cNvPicPr>
            <a:picLocks noChangeAspect="1"/>
          </p:cNvPicPr>
          <p:nvPr/>
        </p:nvPicPr>
        <p:blipFill>
          <a:blip r:embed="rId7">
            <a:duotone>
              <a:schemeClr val="accent3">
                <a:shade val="45000"/>
                <a:satMod val="135000"/>
              </a:schemeClr>
              <a:prstClr val="white"/>
            </a:duotone>
          </a:blip>
          <a:stretch>
            <a:fillRect/>
          </a:stretch>
        </p:blipFill>
        <p:spPr bwMode="gray">
          <a:xfrm>
            <a:off x="5163475" y="4910789"/>
            <a:ext cx="450745" cy="361743"/>
          </a:xfrm>
          <a:prstGeom prst="rect">
            <a:avLst/>
          </a:prstGeom>
        </p:spPr>
      </p:pic>
      <p:cxnSp>
        <p:nvCxnSpPr>
          <p:cNvPr id="208" name="直接连接符 133">
            <a:extLst>
              <a:ext uri="{FF2B5EF4-FFF2-40B4-BE49-F238E27FC236}">
                <a16:creationId xmlns:a16="http://schemas.microsoft.com/office/drawing/2014/main" id="{9154D302-4BD0-48C1-A6BF-F294A6E6DB5F}"/>
              </a:ext>
            </a:extLst>
          </p:cNvPr>
          <p:cNvCxnSpPr>
            <a:stCxn id="200" idx="3"/>
            <a:endCxn id="203" idx="21"/>
          </p:cNvCxnSpPr>
          <p:nvPr/>
        </p:nvCxnSpPr>
        <p:spPr bwMode="gray">
          <a:xfrm flipV="1">
            <a:off x="2795492" y="5010572"/>
            <a:ext cx="1014624" cy="141209"/>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09" name="直接连接符 133">
            <a:extLst>
              <a:ext uri="{FF2B5EF4-FFF2-40B4-BE49-F238E27FC236}">
                <a16:creationId xmlns:a16="http://schemas.microsoft.com/office/drawing/2014/main" id="{B473A703-F222-4555-9F13-26BDBD45B3BF}"/>
              </a:ext>
            </a:extLst>
          </p:cNvPr>
          <p:cNvCxnSpPr>
            <a:stCxn id="199" idx="3"/>
            <a:endCxn id="203" idx="24"/>
          </p:cNvCxnSpPr>
          <p:nvPr/>
        </p:nvCxnSpPr>
        <p:spPr bwMode="gray">
          <a:xfrm>
            <a:off x="3542409" y="4291770"/>
            <a:ext cx="554096" cy="398904"/>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10" name="直接连接符 133">
            <a:extLst>
              <a:ext uri="{FF2B5EF4-FFF2-40B4-BE49-F238E27FC236}">
                <a16:creationId xmlns:a16="http://schemas.microsoft.com/office/drawing/2014/main" id="{50D91E60-4C1A-4A78-8B35-F15C8E6A1B97}"/>
              </a:ext>
            </a:extLst>
          </p:cNvPr>
          <p:cNvCxnSpPr>
            <a:cxnSpLocks/>
            <a:stCxn id="202" idx="1"/>
            <a:endCxn id="211" idx="3"/>
          </p:cNvCxnSpPr>
          <p:nvPr/>
        </p:nvCxnSpPr>
        <p:spPr bwMode="gray">
          <a:xfrm flipH="1">
            <a:off x="5315404" y="4289050"/>
            <a:ext cx="609396" cy="190406"/>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pic>
        <p:nvPicPr>
          <p:cNvPr id="211" name="图片 13" descr="开放网络-蓝.png">
            <a:extLst>
              <a:ext uri="{FF2B5EF4-FFF2-40B4-BE49-F238E27FC236}">
                <a16:creationId xmlns:a16="http://schemas.microsoft.com/office/drawing/2014/main" id="{3907957B-290D-4AF9-B688-495102455C70}"/>
              </a:ext>
            </a:extLst>
          </p:cNvPr>
          <p:cNvPicPr>
            <a:picLocks noChangeAspect="1"/>
          </p:cNvPicPr>
          <p:nvPr/>
        </p:nvPicPr>
        <p:blipFill>
          <a:blip r:embed="rId8" cstate="print">
            <a:duotone>
              <a:schemeClr val="bg2">
                <a:shade val="45000"/>
                <a:satMod val="135000"/>
              </a:schemeClr>
              <a:prstClr val="white"/>
            </a:duotone>
          </a:blip>
          <a:stretch>
            <a:fillRect/>
          </a:stretch>
        </p:blipFill>
        <p:spPr bwMode="gray">
          <a:xfrm>
            <a:off x="4923652" y="4319076"/>
            <a:ext cx="391752" cy="320760"/>
          </a:xfrm>
          <a:prstGeom prst="rect">
            <a:avLst/>
          </a:prstGeom>
        </p:spPr>
      </p:pic>
      <p:cxnSp>
        <p:nvCxnSpPr>
          <p:cNvPr id="212" name="直接连接符 133">
            <a:extLst>
              <a:ext uri="{FF2B5EF4-FFF2-40B4-BE49-F238E27FC236}">
                <a16:creationId xmlns:a16="http://schemas.microsoft.com/office/drawing/2014/main" id="{C15245AF-002F-4485-BF62-012192D0F857}"/>
              </a:ext>
            </a:extLst>
          </p:cNvPr>
          <p:cNvCxnSpPr>
            <a:cxnSpLocks/>
            <a:stCxn id="201" idx="1"/>
            <a:endCxn id="203" idx="8"/>
          </p:cNvCxnSpPr>
          <p:nvPr/>
        </p:nvCxnSpPr>
        <p:spPr bwMode="gray">
          <a:xfrm flipH="1" flipV="1">
            <a:off x="5724843" y="4992355"/>
            <a:ext cx="859071" cy="177596"/>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13" name="直接连接符 133">
            <a:extLst>
              <a:ext uri="{FF2B5EF4-FFF2-40B4-BE49-F238E27FC236}">
                <a16:creationId xmlns:a16="http://schemas.microsoft.com/office/drawing/2014/main" id="{F11AF12D-A24E-4993-AFDE-B2294D7E233A}"/>
              </a:ext>
            </a:extLst>
          </p:cNvPr>
          <p:cNvCxnSpPr>
            <a:cxnSpLocks/>
            <a:stCxn id="200" idx="0"/>
            <a:endCxn id="222" idx="2"/>
          </p:cNvCxnSpPr>
          <p:nvPr/>
        </p:nvCxnSpPr>
        <p:spPr bwMode="gray">
          <a:xfrm flipV="1">
            <a:off x="2562158" y="4149237"/>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214" name="直接连接符 133">
            <a:extLst>
              <a:ext uri="{FF2B5EF4-FFF2-40B4-BE49-F238E27FC236}">
                <a16:creationId xmlns:a16="http://schemas.microsoft.com/office/drawing/2014/main" id="{929E5CBB-582D-4820-809A-FAB1A320A619}"/>
              </a:ext>
            </a:extLst>
          </p:cNvPr>
          <p:cNvCxnSpPr>
            <a:stCxn id="199" idx="0"/>
            <a:endCxn id="219" idx="2"/>
          </p:cNvCxnSpPr>
          <p:nvPr/>
        </p:nvCxnSpPr>
        <p:spPr bwMode="gray">
          <a:xfrm flipV="1">
            <a:off x="3309075" y="3289226"/>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215" name="直接连接符 133">
            <a:extLst>
              <a:ext uri="{FF2B5EF4-FFF2-40B4-BE49-F238E27FC236}">
                <a16:creationId xmlns:a16="http://schemas.microsoft.com/office/drawing/2014/main" id="{9AFBD6DE-FB10-4AC5-83AE-37ADF2E5E811}"/>
              </a:ext>
            </a:extLst>
          </p:cNvPr>
          <p:cNvCxnSpPr>
            <a:stCxn id="202" idx="0"/>
            <a:endCxn id="228" idx="2"/>
          </p:cNvCxnSpPr>
          <p:nvPr/>
        </p:nvCxnSpPr>
        <p:spPr bwMode="gray">
          <a:xfrm flipV="1">
            <a:off x="6158134" y="3286506"/>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216" name="直接连接符 133">
            <a:extLst>
              <a:ext uri="{FF2B5EF4-FFF2-40B4-BE49-F238E27FC236}">
                <a16:creationId xmlns:a16="http://schemas.microsoft.com/office/drawing/2014/main" id="{161F0A76-B5D8-4E5C-BE2C-FC329B2E6A22}"/>
              </a:ext>
            </a:extLst>
          </p:cNvPr>
          <p:cNvCxnSpPr>
            <a:stCxn id="201" idx="0"/>
            <a:endCxn id="225" idx="2"/>
          </p:cNvCxnSpPr>
          <p:nvPr/>
        </p:nvCxnSpPr>
        <p:spPr bwMode="gray">
          <a:xfrm flipV="1">
            <a:off x="6817248" y="4167407"/>
            <a:ext cx="0" cy="807890"/>
          </a:xfrm>
          <a:prstGeom prst="line">
            <a:avLst/>
          </a:prstGeom>
          <a:ln w="12700">
            <a:prstDash val="dash"/>
          </a:ln>
        </p:spPr>
        <p:style>
          <a:lnRef idx="3">
            <a:schemeClr val="dk1"/>
          </a:lnRef>
          <a:fillRef idx="0">
            <a:schemeClr val="dk1"/>
          </a:fillRef>
          <a:effectRef idx="2">
            <a:schemeClr val="dk1"/>
          </a:effectRef>
          <a:fontRef idx="minor">
            <a:schemeClr val="tx1"/>
          </a:fontRef>
        </p:style>
      </p:cxnSp>
      <p:sp>
        <p:nvSpPr>
          <p:cNvPr id="217" name="梯形 41">
            <a:extLst>
              <a:ext uri="{FF2B5EF4-FFF2-40B4-BE49-F238E27FC236}">
                <a16:creationId xmlns:a16="http://schemas.microsoft.com/office/drawing/2014/main" id="{9CA39EBE-68B8-40E3-85DF-48971C7A97F2}"/>
              </a:ext>
            </a:extLst>
          </p:cNvPr>
          <p:cNvSpPr/>
          <p:nvPr/>
        </p:nvSpPr>
        <p:spPr bwMode="gray">
          <a:xfrm>
            <a:off x="634689" y="2332809"/>
            <a:ext cx="8563973"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8" name="Freeform 159">
            <a:extLst>
              <a:ext uri="{FF2B5EF4-FFF2-40B4-BE49-F238E27FC236}">
                <a16:creationId xmlns:a16="http://schemas.microsoft.com/office/drawing/2014/main" id="{2BE31BA5-52BC-4123-B876-AC458E943DBB}"/>
              </a:ext>
            </a:extLst>
          </p:cNvPr>
          <p:cNvSpPr/>
          <p:nvPr/>
        </p:nvSpPr>
        <p:spPr bwMode="gray">
          <a:xfrm flipH="1">
            <a:off x="2299788" y="2776674"/>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219" name="图片 31">
            <a:extLst>
              <a:ext uri="{FF2B5EF4-FFF2-40B4-BE49-F238E27FC236}">
                <a16:creationId xmlns:a16="http://schemas.microsoft.com/office/drawing/2014/main" id="{26672EB5-266A-434A-8839-911E38A0F2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075741" y="2902071"/>
            <a:ext cx="466668" cy="385001"/>
          </a:xfrm>
          <a:prstGeom prst="rect">
            <a:avLst/>
          </a:prstGeom>
        </p:spPr>
      </p:pic>
      <p:pic>
        <p:nvPicPr>
          <p:cNvPr id="220" name="图片 51" descr="交换机.png">
            <a:extLst>
              <a:ext uri="{FF2B5EF4-FFF2-40B4-BE49-F238E27FC236}">
                <a16:creationId xmlns:a16="http://schemas.microsoft.com/office/drawing/2014/main" id="{55D8D2B4-B37F-434F-9770-9EC2869413A0}"/>
              </a:ext>
            </a:extLst>
          </p:cNvPr>
          <p:cNvPicPr>
            <a:picLocks noChangeAspect="1"/>
          </p:cNvPicPr>
          <p:nvPr/>
        </p:nvPicPr>
        <p:blipFill>
          <a:blip r:embed="rId9" cstate="print"/>
          <a:stretch>
            <a:fillRect/>
          </a:stretch>
        </p:blipFill>
        <p:spPr bwMode="gray">
          <a:xfrm>
            <a:off x="2526115" y="2544395"/>
            <a:ext cx="417163" cy="341314"/>
          </a:xfrm>
          <a:prstGeom prst="rect">
            <a:avLst/>
          </a:prstGeom>
        </p:spPr>
      </p:pic>
      <p:sp>
        <p:nvSpPr>
          <p:cNvPr id="221" name="Freeform 159">
            <a:extLst>
              <a:ext uri="{FF2B5EF4-FFF2-40B4-BE49-F238E27FC236}">
                <a16:creationId xmlns:a16="http://schemas.microsoft.com/office/drawing/2014/main" id="{C5B1CA5F-2138-4462-963D-454A836A8D08}"/>
              </a:ext>
            </a:extLst>
          </p:cNvPr>
          <p:cNvSpPr/>
          <p:nvPr/>
        </p:nvSpPr>
        <p:spPr bwMode="gray">
          <a:xfrm flipH="1">
            <a:off x="1544162" y="3636685"/>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222" name="图片 31">
            <a:extLst>
              <a:ext uri="{FF2B5EF4-FFF2-40B4-BE49-F238E27FC236}">
                <a16:creationId xmlns:a16="http://schemas.microsoft.com/office/drawing/2014/main" id="{76BB75C7-1FEC-44AD-8771-84D511C76FF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328824" y="3762082"/>
            <a:ext cx="466668" cy="385001"/>
          </a:xfrm>
          <a:prstGeom prst="rect">
            <a:avLst/>
          </a:prstGeom>
        </p:spPr>
      </p:pic>
      <p:pic>
        <p:nvPicPr>
          <p:cNvPr id="223" name="图片 51" descr="交换机.png">
            <a:extLst>
              <a:ext uri="{FF2B5EF4-FFF2-40B4-BE49-F238E27FC236}">
                <a16:creationId xmlns:a16="http://schemas.microsoft.com/office/drawing/2014/main" id="{C434DDA8-B663-412B-B1DE-36921CBC109A}"/>
              </a:ext>
            </a:extLst>
          </p:cNvPr>
          <p:cNvPicPr>
            <a:picLocks noChangeAspect="1"/>
          </p:cNvPicPr>
          <p:nvPr/>
        </p:nvPicPr>
        <p:blipFill>
          <a:blip r:embed="rId9" cstate="print"/>
          <a:stretch>
            <a:fillRect/>
          </a:stretch>
        </p:blipFill>
        <p:spPr bwMode="gray">
          <a:xfrm>
            <a:off x="1823885" y="3418615"/>
            <a:ext cx="417163" cy="341314"/>
          </a:xfrm>
          <a:prstGeom prst="rect">
            <a:avLst/>
          </a:prstGeom>
        </p:spPr>
      </p:pic>
      <p:sp>
        <p:nvSpPr>
          <p:cNvPr id="224" name="Freeform 159">
            <a:extLst>
              <a:ext uri="{FF2B5EF4-FFF2-40B4-BE49-F238E27FC236}">
                <a16:creationId xmlns:a16="http://schemas.microsoft.com/office/drawing/2014/main" id="{C9A9E9D8-038B-4DB5-8E58-BCD2DF9FAB5B}"/>
              </a:ext>
            </a:extLst>
          </p:cNvPr>
          <p:cNvSpPr/>
          <p:nvPr/>
        </p:nvSpPr>
        <p:spPr bwMode="gray">
          <a:xfrm flipH="1">
            <a:off x="6952220" y="3658013"/>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主数据中心</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5" name="图片 25">
            <a:extLst>
              <a:ext uri="{FF2B5EF4-FFF2-40B4-BE49-F238E27FC236}">
                <a16:creationId xmlns:a16="http://schemas.microsoft.com/office/drawing/2014/main" id="{B519AEBD-35C5-4976-99BA-A992C26F273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583914" y="3780252"/>
            <a:ext cx="466668" cy="385001"/>
          </a:xfrm>
          <a:prstGeom prst="rect">
            <a:avLst/>
          </a:prstGeom>
        </p:spPr>
      </p:pic>
      <p:pic>
        <p:nvPicPr>
          <p:cNvPr id="226" name="图片 14" descr="交换机.png">
            <a:extLst>
              <a:ext uri="{FF2B5EF4-FFF2-40B4-BE49-F238E27FC236}">
                <a16:creationId xmlns:a16="http://schemas.microsoft.com/office/drawing/2014/main" id="{5CE3DB13-0763-4EFB-A391-F09D42D955D8}"/>
              </a:ext>
            </a:extLst>
          </p:cNvPr>
          <p:cNvPicPr>
            <a:picLocks noChangeAspect="1"/>
          </p:cNvPicPr>
          <p:nvPr/>
        </p:nvPicPr>
        <p:blipFill>
          <a:blip r:embed="rId10" cstate="print"/>
          <a:stretch>
            <a:fillRect/>
          </a:stretch>
        </p:blipFill>
        <p:spPr bwMode="gray">
          <a:xfrm>
            <a:off x="7209763" y="3502783"/>
            <a:ext cx="420077" cy="343698"/>
          </a:xfrm>
          <a:prstGeom prst="rect">
            <a:avLst/>
          </a:prstGeom>
        </p:spPr>
      </p:pic>
      <p:sp>
        <p:nvSpPr>
          <p:cNvPr id="227" name="Freeform 159">
            <a:extLst>
              <a:ext uri="{FF2B5EF4-FFF2-40B4-BE49-F238E27FC236}">
                <a16:creationId xmlns:a16="http://schemas.microsoft.com/office/drawing/2014/main" id="{34D9DB41-E1C9-402A-A236-F1366D69ED6C}"/>
              </a:ext>
            </a:extLst>
          </p:cNvPr>
          <p:cNvSpPr/>
          <p:nvPr/>
        </p:nvSpPr>
        <p:spPr bwMode="gray">
          <a:xfrm flipH="1">
            <a:off x="6307846" y="2742937"/>
            <a:ext cx="946333" cy="4946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备数据中心</a:t>
            </a:r>
          </a:p>
        </p:txBody>
      </p:sp>
      <p:pic>
        <p:nvPicPr>
          <p:cNvPr id="228" name="图片 31">
            <a:extLst>
              <a:ext uri="{FF2B5EF4-FFF2-40B4-BE49-F238E27FC236}">
                <a16:creationId xmlns:a16="http://schemas.microsoft.com/office/drawing/2014/main" id="{9F488EFF-9224-444B-88E5-0AFEF55669A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5924800" y="2899351"/>
            <a:ext cx="466668" cy="385001"/>
          </a:xfrm>
          <a:prstGeom prst="rect">
            <a:avLst/>
          </a:prstGeom>
        </p:spPr>
      </p:pic>
      <p:cxnSp>
        <p:nvCxnSpPr>
          <p:cNvPr id="229" name="直接连接符 133">
            <a:extLst>
              <a:ext uri="{FF2B5EF4-FFF2-40B4-BE49-F238E27FC236}">
                <a16:creationId xmlns:a16="http://schemas.microsoft.com/office/drawing/2014/main" id="{AC54ED7B-6C01-43EF-94EF-66A91AB9DF2A}"/>
              </a:ext>
            </a:extLst>
          </p:cNvPr>
          <p:cNvCxnSpPr>
            <a:cxnSpLocks/>
            <a:stCxn id="222" idx="3"/>
            <a:endCxn id="225" idx="1"/>
          </p:cNvCxnSpPr>
          <p:nvPr/>
        </p:nvCxnSpPr>
        <p:spPr bwMode="gray">
          <a:xfrm>
            <a:off x="2795492" y="3954583"/>
            <a:ext cx="3788422" cy="18170"/>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230" name="直接连接符 133">
            <a:extLst>
              <a:ext uri="{FF2B5EF4-FFF2-40B4-BE49-F238E27FC236}">
                <a16:creationId xmlns:a16="http://schemas.microsoft.com/office/drawing/2014/main" id="{6A3E154C-A647-49FC-89B2-3C2B8675A04C}"/>
              </a:ext>
            </a:extLst>
          </p:cNvPr>
          <p:cNvCxnSpPr>
            <a:stCxn id="219" idx="3"/>
            <a:endCxn id="225" idx="1"/>
          </p:cNvCxnSpPr>
          <p:nvPr/>
        </p:nvCxnSpPr>
        <p:spPr bwMode="gray">
          <a:xfrm>
            <a:off x="3542409" y="3094572"/>
            <a:ext cx="3041505" cy="878181"/>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231" name="直接连接符 133">
            <a:extLst>
              <a:ext uri="{FF2B5EF4-FFF2-40B4-BE49-F238E27FC236}">
                <a16:creationId xmlns:a16="http://schemas.microsoft.com/office/drawing/2014/main" id="{784E543C-FC54-48A0-BF52-19D5B1EDFCA8}"/>
              </a:ext>
            </a:extLst>
          </p:cNvPr>
          <p:cNvCxnSpPr>
            <a:cxnSpLocks/>
            <a:stCxn id="228" idx="1"/>
            <a:endCxn id="219" idx="3"/>
          </p:cNvCxnSpPr>
          <p:nvPr/>
        </p:nvCxnSpPr>
        <p:spPr bwMode="gray">
          <a:xfrm flipH="1">
            <a:off x="3542409" y="3091852"/>
            <a:ext cx="2382391" cy="2720"/>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sp>
        <p:nvSpPr>
          <p:cNvPr id="232" name="TextBox 231">
            <a:extLst>
              <a:ext uri="{FF2B5EF4-FFF2-40B4-BE49-F238E27FC236}">
                <a16:creationId xmlns:a16="http://schemas.microsoft.com/office/drawing/2014/main" id="{1DA4500F-DCBE-426D-BD12-DD3CEE061E4A}"/>
              </a:ext>
            </a:extLst>
          </p:cNvPr>
          <p:cNvSpPr txBox="1"/>
          <p:nvPr/>
        </p:nvSpPr>
        <p:spPr bwMode="gray">
          <a:xfrm>
            <a:off x="7017205" y="4214995"/>
            <a:ext cx="1669006" cy="307777"/>
          </a:xfrm>
          <a:prstGeom prst="rect">
            <a:avLst/>
          </a:prstGeom>
          <a:noFill/>
        </p:spPr>
        <p:txBody>
          <a:bodyPr wrap="squar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Overlay </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虚拟</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网络</a:t>
            </a:r>
          </a:p>
        </p:txBody>
      </p:sp>
      <p:sp>
        <p:nvSpPr>
          <p:cNvPr id="233" name="TextBox 232">
            <a:extLst>
              <a:ext uri="{FF2B5EF4-FFF2-40B4-BE49-F238E27FC236}">
                <a16:creationId xmlns:a16="http://schemas.microsoft.com/office/drawing/2014/main" id="{CD405375-E16E-4F68-8CF8-88C04202840A}"/>
              </a:ext>
            </a:extLst>
          </p:cNvPr>
          <p:cNvSpPr txBox="1"/>
          <p:nvPr/>
        </p:nvSpPr>
        <p:spPr bwMode="gray">
          <a:xfrm>
            <a:off x="7276579" y="5169951"/>
            <a:ext cx="1745991"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Underlay </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物理</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网络</a:t>
            </a:r>
          </a:p>
        </p:txBody>
      </p:sp>
      <p:sp>
        <p:nvSpPr>
          <p:cNvPr id="234" name="文本框 18">
            <a:extLst>
              <a:ext uri="{FF2B5EF4-FFF2-40B4-BE49-F238E27FC236}">
                <a16:creationId xmlns:a16="http://schemas.microsoft.com/office/drawing/2014/main" id="{2737A01D-5D7B-4BD6-9D2F-3CA45BF63BAA}"/>
              </a:ext>
            </a:extLst>
          </p:cNvPr>
          <p:cNvSpPr txBox="1"/>
          <p:nvPr/>
        </p:nvSpPr>
        <p:spPr bwMode="gray">
          <a:xfrm>
            <a:off x="2271642" y="3550686"/>
            <a:ext cx="598030"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5" name="文本框 18">
            <a:extLst>
              <a:ext uri="{FF2B5EF4-FFF2-40B4-BE49-F238E27FC236}">
                <a16:creationId xmlns:a16="http://schemas.microsoft.com/office/drawing/2014/main" id="{FA5FC1DA-FA62-445B-B937-AB4B567E8407}"/>
              </a:ext>
            </a:extLst>
          </p:cNvPr>
          <p:cNvSpPr txBox="1"/>
          <p:nvPr/>
        </p:nvSpPr>
        <p:spPr bwMode="gray">
          <a:xfrm>
            <a:off x="2993841" y="2686120"/>
            <a:ext cx="619565"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6" name="文本框 18">
            <a:extLst>
              <a:ext uri="{FF2B5EF4-FFF2-40B4-BE49-F238E27FC236}">
                <a16:creationId xmlns:a16="http://schemas.microsoft.com/office/drawing/2014/main" id="{1AB21FDF-ADE0-47DD-AC9D-3B7A0DA83DBD}"/>
              </a:ext>
            </a:extLst>
          </p:cNvPr>
          <p:cNvSpPr txBox="1"/>
          <p:nvPr/>
        </p:nvSpPr>
        <p:spPr bwMode="gray">
          <a:xfrm>
            <a:off x="5685415" y="2675790"/>
            <a:ext cx="846691"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EDGE/RR</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7" name="文本框 18">
            <a:extLst>
              <a:ext uri="{FF2B5EF4-FFF2-40B4-BE49-F238E27FC236}">
                <a16:creationId xmlns:a16="http://schemas.microsoft.com/office/drawing/2014/main" id="{8D47DA68-3FE5-4B8D-819E-16F5E69B4226}"/>
              </a:ext>
            </a:extLst>
          </p:cNvPr>
          <p:cNvSpPr txBox="1"/>
          <p:nvPr/>
        </p:nvSpPr>
        <p:spPr bwMode="gray">
          <a:xfrm>
            <a:off x="6360943" y="3557579"/>
            <a:ext cx="868547"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EDGE/RR</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8" name="图片 14" descr="交换机.png">
            <a:extLst>
              <a:ext uri="{FF2B5EF4-FFF2-40B4-BE49-F238E27FC236}">
                <a16:creationId xmlns:a16="http://schemas.microsoft.com/office/drawing/2014/main" id="{51309F8C-E2D5-4DCC-8237-76792A039F8D}"/>
              </a:ext>
            </a:extLst>
          </p:cNvPr>
          <p:cNvPicPr>
            <a:picLocks noChangeAspect="1"/>
          </p:cNvPicPr>
          <p:nvPr/>
        </p:nvPicPr>
        <p:blipFill>
          <a:blip r:embed="rId10" cstate="print"/>
          <a:stretch>
            <a:fillRect/>
          </a:stretch>
        </p:blipFill>
        <p:spPr bwMode="gray">
          <a:xfrm>
            <a:off x="6549689" y="2536539"/>
            <a:ext cx="420077" cy="343698"/>
          </a:xfrm>
          <a:prstGeom prst="rect">
            <a:avLst/>
          </a:prstGeom>
        </p:spPr>
      </p:pic>
      <p:cxnSp>
        <p:nvCxnSpPr>
          <p:cNvPr id="239" name="直接连接符 133">
            <a:extLst>
              <a:ext uri="{FF2B5EF4-FFF2-40B4-BE49-F238E27FC236}">
                <a16:creationId xmlns:a16="http://schemas.microsoft.com/office/drawing/2014/main" id="{AC5E342A-FC72-4204-8E4F-241B7D230350}"/>
              </a:ext>
            </a:extLst>
          </p:cNvPr>
          <p:cNvCxnSpPr>
            <a:cxnSpLocks/>
            <a:stCxn id="222" idx="3"/>
            <a:endCxn id="228" idx="1"/>
          </p:cNvCxnSpPr>
          <p:nvPr/>
        </p:nvCxnSpPr>
        <p:spPr bwMode="gray">
          <a:xfrm flipV="1">
            <a:off x="2795492" y="3091852"/>
            <a:ext cx="3129308" cy="862731"/>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sp>
        <p:nvSpPr>
          <p:cNvPr id="283" name="圆角矩形 75">
            <a:extLst>
              <a:ext uri="{FF2B5EF4-FFF2-40B4-BE49-F238E27FC236}">
                <a16:creationId xmlns:a16="http://schemas.microsoft.com/office/drawing/2014/main" id="{629A2761-D155-4A80-9BE4-5B4A08268D6D}"/>
              </a:ext>
            </a:extLst>
          </p:cNvPr>
          <p:cNvSpPr/>
          <p:nvPr/>
        </p:nvSpPr>
        <p:spPr bwMode="gray">
          <a:xfrm>
            <a:off x="3816973" y="2528910"/>
            <a:ext cx="1708604"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隧道设计</a:t>
            </a:r>
          </a:p>
        </p:txBody>
      </p:sp>
      <p:sp>
        <p:nvSpPr>
          <p:cNvPr id="285" name="圆角矩形 75">
            <a:extLst>
              <a:ext uri="{FF2B5EF4-FFF2-40B4-BE49-F238E27FC236}">
                <a16:creationId xmlns:a16="http://schemas.microsoft.com/office/drawing/2014/main" id="{CDF37429-C464-4F2A-A61E-E537A9C15126}"/>
              </a:ext>
            </a:extLst>
          </p:cNvPr>
          <p:cNvSpPr/>
          <p:nvPr/>
        </p:nvSpPr>
        <p:spPr bwMode="gray">
          <a:xfrm>
            <a:off x="650072" y="2961385"/>
            <a:ext cx="1708604"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站点设计</a:t>
            </a:r>
          </a:p>
        </p:txBody>
      </p:sp>
      <p:sp>
        <p:nvSpPr>
          <p:cNvPr id="299" name="Can 225">
            <a:extLst>
              <a:ext uri="{FF2B5EF4-FFF2-40B4-BE49-F238E27FC236}">
                <a16:creationId xmlns:a16="http://schemas.microsoft.com/office/drawing/2014/main" id="{EE34907A-A4D1-4604-A47C-FD840C172A1C}"/>
              </a:ext>
            </a:extLst>
          </p:cNvPr>
          <p:cNvSpPr/>
          <p:nvPr/>
        </p:nvSpPr>
        <p:spPr bwMode="gray">
          <a:xfrm rot="5400000">
            <a:off x="4583124" y="2089924"/>
            <a:ext cx="193925" cy="3807652"/>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1" name="Can 225">
            <a:extLst>
              <a:ext uri="{FF2B5EF4-FFF2-40B4-BE49-F238E27FC236}">
                <a16:creationId xmlns:a16="http://schemas.microsoft.com/office/drawing/2014/main" id="{7FA14654-C38B-4406-B9C9-CC9A3DDD385A}"/>
              </a:ext>
            </a:extLst>
          </p:cNvPr>
          <p:cNvSpPr/>
          <p:nvPr/>
        </p:nvSpPr>
        <p:spPr bwMode="gray">
          <a:xfrm rot="6352182">
            <a:off x="4926159" y="1948416"/>
            <a:ext cx="193925" cy="3150052"/>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2" name="Can 225">
            <a:extLst>
              <a:ext uri="{FF2B5EF4-FFF2-40B4-BE49-F238E27FC236}">
                <a16:creationId xmlns:a16="http://schemas.microsoft.com/office/drawing/2014/main" id="{26864791-F71D-491C-A580-AD506815465A}"/>
              </a:ext>
            </a:extLst>
          </p:cNvPr>
          <p:cNvSpPr/>
          <p:nvPr/>
        </p:nvSpPr>
        <p:spPr bwMode="gray">
          <a:xfrm rot="5400000">
            <a:off x="4628735" y="1877157"/>
            <a:ext cx="193925" cy="2429120"/>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9" name="Group 8">
            <a:extLst>
              <a:ext uri="{FF2B5EF4-FFF2-40B4-BE49-F238E27FC236}">
                <a16:creationId xmlns:a16="http://schemas.microsoft.com/office/drawing/2014/main" id="{C60A5F89-CBDC-4DAE-85BB-FD911100DCEF}"/>
              </a:ext>
            </a:extLst>
          </p:cNvPr>
          <p:cNvGrpSpPr/>
          <p:nvPr/>
        </p:nvGrpSpPr>
        <p:grpSpPr bwMode="gray">
          <a:xfrm rot="20672476">
            <a:off x="2699215" y="3413553"/>
            <a:ext cx="3319613" cy="276999"/>
            <a:chOff x="4871816" y="4190927"/>
            <a:chExt cx="3319613" cy="276999"/>
          </a:xfrm>
        </p:grpSpPr>
        <p:sp>
          <p:nvSpPr>
            <p:cNvPr id="292" name="Can 225">
              <a:extLst>
                <a:ext uri="{FF2B5EF4-FFF2-40B4-BE49-F238E27FC236}">
                  <a16:creationId xmlns:a16="http://schemas.microsoft.com/office/drawing/2014/main" id="{45F924F0-B122-4B6A-8050-99BA58958306}"/>
                </a:ext>
              </a:extLst>
            </p:cNvPr>
            <p:cNvSpPr/>
            <p:nvPr/>
          </p:nvSpPr>
          <p:spPr bwMode="gray">
            <a:xfrm rot="5400000">
              <a:off x="6434660" y="2674421"/>
              <a:ext cx="193925" cy="3319613"/>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3" name="文本框 60">
              <a:extLst>
                <a:ext uri="{FF2B5EF4-FFF2-40B4-BE49-F238E27FC236}">
                  <a16:creationId xmlns:a16="http://schemas.microsoft.com/office/drawing/2014/main" id="{71D83756-D6AA-49BC-BE7B-7E0B067D1A9B}"/>
                </a:ext>
              </a:extLst>
            </p:cNvPr>
            <p:cNvSpPr txBox="1"/>
            <p:nvPr/>
          </p:nvSpPr>
          <p:spPr bwMode="gray">
            <a:xfrm>
              <a:off x="5400579" y="4190927"/>
              <a:ext cx="249240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a:t>
              </a:r>
              <a:r>
                <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或</a:t>
              </a:r>
              <a:r>
                <a:rPr lang="en-US" altLang="zh-CN"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 over IPsec</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6" name="Parallelogram 5">
            <a:extLst>
              <a:ext uri="{FF2B5EF4-FFF2-40B4-BE49-F238E27FC236}">
                <a16:creationId xmlns:a16="http://schemas.microsoft.com/office/drawing/2014/main" id="{ACFA3E9C-87B0-4BFE-BAD1-2491BA129133}"/>
              </a:ext>
            </a:extLst>
          </p:cNvPr>
          <p:cNvSpPr/>
          <p:nvPr/>
        </p:nvSpPr>
        <p:spPr bwMode="gray">
          <a:xfrm flipH="1">
            <a:off x="7064381" y="2118311"/>
            <a:ext cx="3486255" cy="1150883"/>
          </a:xfrm>
          <a:prstGeom prst="parallelogram">
            <a:avLst>
              <a:gd name="adj" fmla="val 75705"/>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uawei Sans" panose="020C0503030203020204" pitchFamily="34" charset="0"/>
              <a:ea typeface="方正兰亭黑简体" panose="02000000000000000000" pitchFamily="2" charset="-122"/>
            </a:endParaRPr>
          </a:p>
        </p:txBody>
      </p:sp>
      <p:pic>
        <p:nvPicPr>
          <p:cNvPr id="57" name="图片 63">
            <a:extLst>
              <a:ext uri="{FF2B5EF4-FFF2-40B4-BE49-F238E27FC236}">
                <a16:creationId xmlns:a16="http://schemas.microsoft.com/office/drawing/2014/main" id="{C56C6D54-0883-44AA-AE4A-4A799FAD523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8072580" y="2242167"/>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58" name="图片 64">
            <a:extLst>
              <a:ext uri="{FF2B5EF4-FFF2-40B4-BE49-F238E27FC236}">
                <a16:creationId xmlns:a16="http://schemas.microsoft.com/office/drawing/2014/main" id="{571135D5-1827-41AE-A98D-B5D071AC927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8072580" y="2952606"/>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59" name="图片 65">
            <a:extLst>
              <a:ext uri="{FF2B5EF4-FFF2-40B4-BE49-F238E27FC236}">
                <a16:creationId xmlns:a16="http://schemas.microsoft.com/office/drawing/2014/main" id="{E227AD94-8B80-4F32-A397-55295B9E01A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9279049" y="2248360"/>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60" name="图片 66">
            <a:extLst>
              <a:ext uri="{FF2B5EF4-FFF2-40B4-BE49-F238E27FC236}">
                <a16:creationId xmlns:a16="http://schemas.microsoft.com/office/drawing/2014/main" id="{26AB69F4-DC9E-4EF0-A1CC-0F694E2BEAE1}"/>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9786257" y="2948382"/>
            <a:ext cx="273867" cy="224571"/>
          </a:xfrm>
          <a:prstGeom prst="rect">
            <a:avLst/>
          </a:prstGeom>
          <a:gradFill flip="none" rotWithShape="1">
            <a:gsLst>
              <a:gs pos="0">
                <a:schemeClr val="bg1"/>
              </a:gs>
              <a:gs pos="100000">
                <a:srgbClr val="94DAE2">
                  <a:alpha val="26000"/>
                </a:srgbClr>
              </a:gs>
            </a:gsLst>
            <a:lin ang="5400000" scaled="1"/>
            <a:tileRect/>
          </a:gradFill>
          <a:ln>
            <a:noFill/>
          </a:ln>
        </p:spPr>
      </p:pic>
      <p:cxnSp>
        <p:nvCxnSpPr>
          <p:cNvPr id="61" name="直接连接符 69">
            <a:extLst>
              <a:ext uri="{FF2B5EF4-FFF2-40B4-BE49-F238E27FC236}">
                <a16:creationId xmlns:a16="http://schemas.microsoft.com/office/drawing/2014/main" id="{CD7FC6B5-C644-409C-BA55-0508D1415105}"/>
              </a:ext>
            </a:extLst>
          </p:cNvPr>
          <p:cNvCxnSpPr>
            <a:cxnSpLocks/>
            <a:stCxn id="57" idx="3"/>
            <a:endCxn id="59" idx="1"/>
          </p:cNvCxnSpPr>
          <p:nvPr/>
        </p:nvCxnSpPr>
        <p:spPr bwMode="gray">
          <a:xfrm>
            <a:off x="8346447" y="2354453"/>
            <a:ext cx="932602" cy="6193"/>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cxnSp>
        <p:nvCxnSpPr>
          <p:cNvPr id="62" name="直接连接符 72">
            <a:extLst>
              <a:ext uri="{FF2B5EF4-FFF2-40B4-BE49-F238E27FC236}">
                <a16:creationId xmlns:a16="http://schemas.microsoft.com/office/drawing/2014/main" id="{9F64A27E-6517-41B1-A76E-B8A035D0A8C5}"/>
              </a:ext>
            </a:extLst>
          </p:cNvPr>
          <p:cNvCxnSpPr>
            <a:cxnSpLocks/>
            <a:stCxn id="57" idx="3"/>
            <a:endCxn id="60" idx="1"/>
          </p:cNvCxnSpPr>
          <p:nvPr/>
        </p:nvCxnSpPr>
        <p:spPr bwMode="gray">
          <a:xfrm>
            <a:off x="8346447" y="2354453"/>
            <a:ext cx="1439810" cy="706215"/>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cxnSp>
        <p:nvCxnSpPr>
          <p:cNvPr id="63" name="直接连接符 75">
            <a:extLst>
              <a:ext uri="{FF2B5EF4-FFF2-40B4-BE49-F238E27FC236}">
                <a16:creationId xmlns:a16="http://schemas.microsoft.com/office/drawing/2014/main" id="{E5BA1586-48A5-4831-8DDB-CD4095EB9597}"/>
              </a:ext>
            </a:extLst>
          </p:cNvPr>
          <p:cNvCxnSpPr>
            <a:cxnSpLocks/>
            <a:stCxn id="58" idx="3"/>
            <a:endCxn id="59" idx="1"/>
          </p:cNvCxnSpPr>
          <p:nvPr/>
        </p:nvCxnSpPr>
        <p:spPr bwMode="gray">
          <a:xfrm flipV="1">
            <a:off x="8346447" y="2360646"/>
            <a:ext cx="932602" cy="704246"/>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cxnSp>
        <p:nvCxnSpPr>
          <p:cNvPr id="64" name="直接连接符 78">
            <a:extLst>
              <a:ext uri="{FF2B5EF4-FFF2-40B4-BE49-F238E27FC236}">
                <a16:creationId xmlns:a16="http://schemas.microsoft.com/office/drawing/2014/main" id="{6DE51917-5EE9-4F9E-B692-4F4ABDF03C24}"/>
              </a:ext>
            </a:extLst>
          </p:cNvPr>
          <p:cNvCxnSpPr>
            <a:cxnSpLocks/>
            <a:stCxn id="58" idx="3"/>
            <a:endCxn id="60" idx="1"/>
          </p:cNvCxnSpPr>
          <p:nvPr/>
        </p:nvCxnSpPr>
        <p:spPr bwMode="gray">
          <a:xfrm flipV="1">
            <a:off x="8346447" y="3060668"/>
            <a:ext cx="1439810" cy="4224"/>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sp>
        <p:nvSpPr>
          <p:cNvPr id="65" name="任意多边形 85">
            <a:extLst>
              <a:ext uri="{FF2B5EF4-FFF2-40B4-BE49-F238E27FC236}">
                <a16:creationId xmlns:a16="http://schemas.microsoft.com/office/drawing/2014/main" id="{2EF28B13-E464-482C-A15A-84BD7B6FDC66}"/>
              </a:ext>
            </a:extLst>
          </p:cNvPr>
          <p:cNvSpPr/>
          <p:nvPr/>
        </p:nvSpPr>
        <p:spPr bwMode="gray">
          <a:xfrm flipV="1">
            <a:off x="8334437" y="2469577"/>
            <a:ext cx="156197" cy="512599"/>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610722 w 926312"/>
              <a:gd name="connsiteY0" fmla="*/ 0 h 667428"/>
              <a:gd name="connsiteX1" fmla="*/ 926312 w 926312"/>
              <a:gd name="connsiteY1" fmla="*/ 667428 h 667428"/>
              <a:gd name="connsiteX0" fmla="*/ 0 w 315590"/>
              <a:gd name="connsiteY0" fmla="*/ 0 h 667428"/>
              <a:gd name="connsiteX1" fmla="*/ 315590 w 315590"/>
              <a:gd name="connsiteY1" fmla="*/ 667428 h 667428"/>
              <a:gd name="connsiteX0" fmla="*/ 206472 w 295963"/>
              <a:gd name="connsiteY0" fmla="*/ 0 h 631086"/>
              <a:gd name="connsiteX1" fmla="*/ 219629 w 295963"/>
              <a:gd name="connsiteY1" fmla="*/ 631086 h 631086"/>
              <a:gd name="connsiteX0" fmla="*/ 0 w 237291"/>
              <a:gd name="connsiteY0" fmla="*/ 0 h 631086"/>
              <a:gd name="connsiteX1" fmla="*/ 13157 w 237291"/>
              <a:gd name="connsiteY1" fmla="*/ 631086 h 631086"/>
              <a:gd name="connsiteX0" fmla="*/ 0 w 236114"/>
              <a:gd name="connsiteY0" fmla="*/ 0 h 599936"/>
              <a:gd name="connsiteX1" fmla="*/ 10357 w 236114"/>
              <a:gd name="connsiteY1" fmla="*/ 599936 h 599936"/>
              <a:gd name="connsiteX0" fmla="*/ 0 w 224372"/>
              <a:gd name="connsiteY0" fmla="*/ 0 h 599936"/>
              <a:gd name="connsiteX1" fmla="*/ 10357 w 224372"/>
              <a:gd name="connsiteY1" fmla="*/ 599936 h 599936"/>
              <a:gd name="connsiteX0" fmla="*/ 0 w 187373"/>
              <a:gd name="connsiteY0" fmla="*/ 0 h 599936"/>
              <a:gd name="connsiteX1" fmla="*/ 10357 w 187373"/>
              <a:gd name="connsiteY1" fmla="*/ 599936 h 599936"/>
            </a:gdLst>
            <a:ahLst/>
            <a:cxnLst>
              <a:cxn ang="0">
                <a:pos x="connsiteX0" y="connsiteY0"/>
              </a:cxn>
              <a:cxn ang="0">
                <a:pos x="connsiteX1" y="connsiteY1"/>
              </a:cxn>
            </a:cxnLst>
            <a:rect l="l" t="t" r="r" b="b"/>
            <a:pathLst>
              <a:path w="187373" h="599936">
                <a:moveTo>
                  <a:pt x="0" y="0"/>
                </a:moveTo>
                <a:cubicBezTo>
                  <a:pt x="294009" y="286999"/>
                  <a:pt x="198509" y="385366"/>
                  <a:pt x="10357" y="599936"/>
                </a:cubicBezTo>
              </a:path>
            </a:pathLst>
          </a:cu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任意多边形 86">
            <a:extLst>
              <a:ext uri="{FF2B5EF4-FFF2-40B4-BE49-F238E27FC236}">
                <a16:creationId xmlns:a16="http://schemas.microsoft.com/office/drawing/2014/main" id="{23944DEB-CD12-4E02-BFFA-66D233D1C3ED}"/>
              </a:ext>
            </a:extLst>
          </p:cNvPr>
          <p:cNvSpPr/>
          <p:nvPr/>
        </p:nvSpPr>
        <p:spPr bwMode="gray">
          <a:xfrm rot="8589212" flipV="1">
            <a:off x="9466530" y="2412314"/>
            <a:ext cx="203748" cy="634503"/>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610722 w 926312"/>
              <a:gd name="connsiteY0" fmla="*/ 0 h 667428"/>
              <a:gd name="connsiteX1" fmla="*/ 926312 w 926312"/>
              <a:gd name="connsiteY1" fmla="*/ 667428 h 667428"/>
              <a:gd name="connsiteX0" fmla="*/ 0 w 315590"/>
              <a:gd name="connsiteY0" fmla="*/ 0 h 667428"/>
              <a:gd name="connsiteX1" fmla="*/ 315590 w 315590"/>
              <a:gd name="connsiteY1" fmla="*/ 667428 h 667428"/>
              <a:gd name="connsiteX0" fmla="*/ 206472 w 295963"/>
              <a:gd name="connsiteY0" fmla="*/ 0 h 631086"/>
              <a:gd name="connsiteX1" fmla="*/ 219629 w 295963"/>
              <a:gd name="connsiteY1" fmla="*/ 631086 h 631086"/>
              <a:gd name="connsiteX0" fmla="*/ 0 w 237291"/>
              <a:gd name="connsiteY0" fmla="*/ 0 h 631086"/>
              <a:gd name="connsiteX1" fmla="*/ 13157 w 237291"/>
              <a:gd name="connsiteY1" fmla="*/ 631086 h 631086"/>
              <a:gd name="connsiteX0" fmla="*/ 0 w 236114"/>
              <a:gd name="connsiteY0" fmla="*/ 0 h 599936"/>
              <a:gd name="connsiteX1" fmla="*/ 10357 w 236114"/>
              <a:gd name="connsiteY1" fmla="*/ 599936 h 599936"/>
              <a:gd name="connsiteX0" fmla="*/ 0 w 224372"/>
              <a:gd name="connsiteY0" fmla="*/ 0 h 599936"/>
              <a:gd name="connsiteX1" fmla="*/ 10357 w 224372"/>
              <a:gd name="connsiteY1" fmla="*/ 599936 h 599936"/>
              <a:gd name="connsiteX0" fmla="*/ 0 w 187373"/>
              <a:gd name="connsiteY0" fmla="*/ 0 h 599936"/>
              <a:gd name="connsiteX1" fmla="*/ 10357 w 187373"/>
              <a:gd name="connsiteY1" fmla="*/ 599936 h 599936"/>
            </a:gdLst>
            <a:ahLst/>
            <a:cxnLst>
              <a:cxn ang="0">
                <a:pos x="connsiteX0" y="connsiteY0"/>
              </a:cxn>
              <a:cxn ang="0">
                <a:pos x="connsiteX1" y="connsiteY1"/>
              </a:cxn>
            </a:cxnLst>
            <a:rect l="l" t="t" r="r" b="b"/>
            <a:pathLst>
              <a:path w="187373" h="599936">
                <a:moveTo>
                  <a:pt x="0" y="0"/>
                </a:moveTo>
                <a:cubicBezTo>
                  <a:pt x="294009" y="286999"/>
                  <a:pt x="198509" y="385366"/>
                  <a:pt x="10357" y="599936"/>
                </a:cubicBezTo>
              </a:path>
            </a:pathLst>
          </a:cu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文本框 87">
            <a:extLst>
              <a:ext uri="{FF2B5EF4-FFF2-40B4-BE49-F238E27FC236}">
                <a16:creationId xmlns:a16="http://schemas.microsoft.com/office/drawing/2014/main" id="{DC0C70B5-7C81-4A30-AC1F-A073B9C7A7F6}"/>
              </a:ext>
            </a:extLst>
          </p:cNvPr>
          <p:cNvSpPr txBox="1"/>
          <p:nvPr/>
        </p:nvSpPr>
        <p:spPr bwMode="gray">
          <a:xfrm>
            <a:off x="7298382" y="2076307"/>
            <a:ext cx="851193" cy="307777"/>
          </a:xfrm>
          <a:prstGeom prst="rect">
            <a:avLst/>
          </a:prstGeom>
          <a:noFill/>
        </p:spPr>
        <p:txBody>
          <a:bodyPr wrap="square" rtlCol="0" anchor="ctr" anchorCtr="0">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VPN1</a:t>
            </a:r>
            <a:endPar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 name="Parallelogram 83">
            <a:extLst>
              <a:ext uri="{FF2B5EF4-FFF2-40B4-BE49-F238E27FC236}">
                <a16:creationId xmlns:a16="http://schemas.microsoft.com/office/drawing/2014/main" id="{A8A88340-71F5-4B15-93AE-1D8C31E81EBC}"/>
              </a:ext>
            </a:extLst>
          </p:cNvPr>
          <p:cNvSpPr/>
          <p:nvPr/>
        </p:nvSpPr>
        <p:spPr bwMode="gray">
          <a:xfrm flipH="1">
            <a:off x="8014355" y="3436947"/>
            <a:ext cx="3486255" cy="1150883"/>
          </a:xfrm>
          <a:prstGeom prst="parallelogram">
            <a:avLst>
              <a:gd name="adj" fmla="val 75705"/>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uawei Sans" panose="020C0503030203020204" pitchFamily="34" charset="0"/>
              <a:ea typeface="方正兰亭黑简体" panose="02000000000000000000" pitchFamily="2" charset="-122"/>
            </a:endParaRPr>
          </a:p>
        </p:txBody>
      </p:sp>
      <p:pic>
        <p:nvPicPr>
          <p:cNvPr id="68" name="图片 95">
            <a:extLst>
              <a:ext uri="{FF2B5EF4-FFF2-40B4-BE49-F238E27FC236}">
                <a16:creationId xmlns:a16="http://schemas.microsoft.com/office/drawing/2014/main" id="{48D06FCC-ECC1-4B6D-A096-F9020D612DD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9017593" y="3597589"/>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69" name="图片 97">
            <a:extLst>
              <a:ext uri="{FF2B5EF4-FFF2-40B4-BE49-F238E27FC236}">
                <a16:creationId xmlns:a16="http://schemas.microsoft.com/office/drawing/2014/main" id="{CB3DC10C-279B-4021-8180-6F19EC588E2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9036330" y="4308028"/>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70" name="图片 99">
            <a:extLst>
              <a:ext uri="{FF2B5EF4-FFF2-40B4-BE49-F238E27FC236}">
                <a16:creationId xmlns:a16="http://schemas.microsoft.com/office/drawing/2014/main" id="{704FB62D-627F-4998-B128-DDE91D02A20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10119922" y="3597589"/>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71" name="图片 100">
            <a:extLst>
              <a:ext uri="{FF2B5EF4-FFF2-40B4-BE49-F238E27FC236}">
                <a16:creationId xmlns:a16="http://schemas.microsoft.com/office/drawing/2014/main" id="{6F1D4ABE-290C-4F29-A17C-CA193F95A77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10396868" y="4308028"/>
            <a:ext cx="273867" cy="224571"/>
          </a:xfrm>
          <a:prstGeom prst="rect">
            <a:avLst/>
          </a:prstGeom>
          <a:gradFill flip="none" rotWithShape="1">
            <a:gsLst>
              <a:gs pos="0">
                <a:schemeClr val="bg1"/>
              </a:gs>
              <a:gs pos="100000">
                <a:srgbClr val="94DAE2">
                  <a:alpha val="26000"/>
                </a:srgbClr>
              </a:gs>
            </a:gsLst>
            <a:lin ang="5400000" scaled="1"/>
            <a:tileRect/>
          </a:gradFill>
          <a:ln>
            <a:noFill/>
          </a:ln>
        </p:spPr>
      </p:pic>
      <p:cxnSp>
        <p:nvCxnSpPr>
          <p:cNvPr id="72" name="直接连接符 101">
            <a:extLst>
              <a:ext uri="{FF2B5EF4-FFF2-40B4-BE49-F238E27FC236}">
                <a16:creationId xmlns:a16="http://schemas.microsoft.com/office/drawing/2014/main" id="{0466DF35-FF97-4F3E-8CE4-AC8800899871}"/>
              </a:ext>
            </a:extLst>
          </p:cNvPr>
          <p:cNvCxnSpPr>
            <a:cxnSpLocks/>
            <a:stCxn id="68" idx="3"/>
            <a:endCxn id="70" idx="1"/>
          </p:cNvCxnSpPr>
          <p:nvPr/>
        </p:nvCxnSpPr>
        <p:spPr bwMode="gray">
          <a:xfrm>
            <a:off x="9291460" y="3709875"/>
            <a:ext cx="828462" cy="0"/>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cxnSp>
        <p:nvCxnSpPr>
          <p:cNvPr id="73" name="直接连接符 102">
            <a:extLst>
              <a:ext uri="{FF2B5EF4-FFF2-40B4-BE49-F238E27FC236}">
                <a16:creationId xmlns:a16="http://schemas.microsoft.com/office/drawing/2014/main" id="{4CE94B1A-B6F1-41AB-B968-D45C7EC0A951}"/>
              </a:ext>
            </a:extLst>
          </p:cNvPr>
          <p:cNvCxnSpPr>
            <a:cxnSpLocks/>
            <a:stCxn id="68" idx="3"/>
            <a:endCxn id="71" idx="1"/>
          </p:cNvCxnSpPr>
          <p:nvPr/>
        </p:nvCxnSpPr>
        <p:spPr bwMode="gray">
          <a:xfrm>
            <a:off x="9291461" y="3709875"/>
            <a:ext cx="1105408" cy="710439"/>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sp>
        <p:nvSpPr>
          <p:cNvPr id="74" name="任意多边形 103">
            <a:extLst>
              <a:ext uri="{FF2B5EF4-FFF2-40B4-BE49-F238E27FC236}">
                <a16:creationId xmlns:a16="http://schemas.microsoft.com/office/drawing/2014/main" id="{7824143C-FE89-4D0D-AF99-F72108D0EA75}"/>
              </a:ext>
            </a:extLst>
          </p:cNvPr>
          <p:cNvSpPr/>
          <p:nvPr/>
        </p:nvSpPr>
        <p:spPr bwMode="gray">
          <a:xfrm flipV="1">
            <a:off x="9368476" y="3825000"/>
            <a:ext cx="179573" cy="512599"/>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610722 w 926312"/>
              <a:gd name="connsiteY0" fmla="*/ 0 h 667428"/>
              <a:gd name="connsiteX1" fmla="*/ 926312 w 926312"/>
              <a:gd name="connsiteY1" fmla="*/ 667428 h 667428"/>
              <a:gd name="connsiteX0" fmla="*/ 0 w 315590"/>
              <a:gd name="connsiteY0" fmla="*/ 0 h 667428"/>
              <a:gd name="connsiteX1" fmla="*/ 315590 w 315590"/>
              <a:gd name="connsiteY1" fmla="*/ 667428 h 667428"/>
              <a:gd name="connsiteX0" fmla="*/ 206472 w 295963"/>
              <a:gd name="connsiteY0" fmla="*/ 0 h 631086"/>
              <a:gd name="connsiteX1" fmla="*/ 219629 w 295963"/>
              <a:gd name="connsiteY1" fmla="*/ 631086 h 631086"/>
              <a:gd name="connsiteX0" fmla="*/ 0 w 237291"/>
              <a:gd name="connsiteY0" fmla="*/ 0 h 631086"/>
              <a:gd name="connsiteX1" fmla="*/ 13157 w 237291"/>
              <a:gd name="connsiteY1" fmla="*/ 631086 h 631086"/>
              <a:gd name="connsiteX0" fmla="*/ 0 w 236114"/>
              <a:gd name="connsiteY0" fmla="*/ 0 h 599936"/>
              <a:gd name="connsiteX1" fmla="*/ 10357 w 236114"/>
              <a:gd name="connsiteY1" fmla="*/ 599936 h 599936"/>
              <a:gd name="connsiteX0" fmla="*/ 0 w 224372"/>
              <a:gd name="connsiteY0" fmla="*/ 0 h 599936"/>
              <a:gd name="connsiteX1" fmla="*/ 10357 w 224372"/>
              <a:gd name="connsiteY1" fmla="*/ 599936 h 599936"/>
              <a:gd name="connsiteX0" fmla="*/ 0 w 187373"/>
              <a:gd name="connsiteY0" fmla="*/ 0 h 599936"/>
              <a:gd name="connsiteX1" fmla="*/ 10357 w 187373"/>
              <a:gd name="connsiteY1" fmla="*/ 599936 h 599936"/>
            </a:gdLst>
            <a:ahLst/>
            <a:cxnLst>
              <a:cxn ang="0">
                <a:pos x="connsiteX0" y="connsiteY0"/>
              </a:cxn>
              <a:cxn ang="0">
                <a:pos x="connsiteX1" y="connsiteY1"/>
              </a:cxn>
            </a:cxnLst>
            <a:rect l="l" t="t" r="r" b="b"/>
            <a:pathLst>
              <a:path w="187373" h="599936">
                <a:moveTo>
                  <a:pt x="0" y="0"/>
                </a:moveTo>
                <a:cubicBezTo>
                  <a:pt x="294009" y="286999"/>
                  <a:pt x="198509" y="385366"/>
                  <a:pt x="10357" y="599936"/>
                </a:cubicBezTo>
              </a:path>
            </a:pathLst>
          </a:cu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5" name="文本框 104">
            <a:extLst>
              <a:ext uri="{FF2B5EF4-FFF2-40B4-BE49-F238E27FC236}">
                <a16:creationId xmlns:a16="http://schemas.microsoft.com/office/drawing/2014/main" id="{F09C6DAE-E71C-4C2C-B3CA-734E9A222D6E}"/>
              </a:ext>
            </a:extLst>
          </p:cNvPr>
          <p:cNvSpPr txBox="1"/>
          <p:nvPr/>
        </p:nvSpPr>
        <p:spPr bwMode="gray">
          <a:xfrm>
            <a:off x="8095362" y="3446344"/>
            <a:ext cx="851193" cy="307777"/>
          </a:xfrm>
          <a:prstGeom prst="rect">
            <a:avLst/>
          </a:prstGeom>
          <a:noFill/>
        </p:spPr>
        <p:txBody>
          <a:bodyPr wrap="square" rtlCol="0" anchor="ctr" anchorCtr="0">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VPN2</a:t>
            </a:r>
            <a:endPar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 name="圆角矩形 75">
            <a:extLst>
              <a:ext uri="{FF2B5EF4-FFF2-40B4-BE49-F238E27FC236}">
                <a16:creationId xmlns:a16="http://schemas.microsoft.com/office/drawing/2014/main" id="{EB38D1F7-E755-44CF-8A54-836F0818E685}"/>
              </a:ext>
            </a:extLst>
          </p:cNvPr>
          <p:cNvSpPr/>
          <p:nvPr/>
        </p:nvSpPr>
        <p:spPr bwMode="gray">
          <a:xfrm>
            <a:off x="9870631" y="3161480"/>
            <a:ext cx="1708604"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Tree>
    <p:extLst>
      <p:ext uri="{BB962C8B-B14F-4D97-AF65-F5344CB8AC3E}">
        <p14:creationId xmlns:p14="http://schemas.microsoft.com/office/powerpoint/2010/main" val="37980088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DA22D1-2C48-4679-829A-16DA9A803EC9}"/>
              </a:ext>
            </a:extLst>
          </p:cNvPr>
          <p:cNvSpPr>
            <a:spLocks noGrp="1"/>
          </p:cNvSpPr>
          <p:nvPr>
            <p:ph type="title"/>
          </p:nvPr>
        </p:nvSpPr>
        <p:spPr bwMode="gray"/>
        <p:txBody>
          <a:bodyPr/>
          <a:lstStyle/>
          <a:p>
            <a:r>
              <a:rPr lang="zh-CN" altLang="en-US" dirty="0"/>
              <a:t>华为</a:t>
            </a:r>
            <a:r>
              <a:rPr lang="en-US" altLang="zh-CN" dirty="0"/>
              <a:t>SD-WAN</a:t>
            </a:r>
            <a:r>
              <a:rPr lang="zh-CN" altLang="en-US" dirty="0"/>
              <a:t>组网设计思路</a:t>
            </a:r>
            <a:endParaRPr lang="en-US" dirty="0"/>
          </a:p>
        </p:txBody>
      </p:sp>
      <p:sp>
        <p:nvSpPr>
          <p:cNvPr id="58" name="圆角矩形 3">
            <a:extLst>
              <a:ext uri="{FF2B5EF4-FFF2-40B4-BE49-F238E27FC236}">
                <a16:creationId xmlns:a16="http://schemas.microsoft.com/office/drawing/2014/main" id="{4ED66F89-6ED3-42CA-980E-8D218B3D94B8}"/>
              </a:ext>
            </a:extLst>
          </p:cNvPr>
          <p:cNvSpPr/>
          <p:nvPr/>
        </p:nvSpPr>
        <p:spPr bwMode="gray">
          <a:xfrm>
            <a:off x="1657747"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59" name="圆角矩形 4">
            <a:extLst>
              <a:ext uri="{FF2B5EF4-FFF2-40B4-BE49-F238E27FC236}">
                <a16:creationId xmlns:a16="http://schemas.microsoft.com/office/drawing/2014/main" id="{AF71656F-1AA7-49E6-BB16-79D96BCB86CA}"/>
              </a:ext>
            </a:extLst>
          </p:cNvPr>
          <p:cNvSpPr/>
          <p:nvPr/>
        </p:nvSpPr>
        <p:spPr bwMode="gray">
          <a:xfrm>
            <a:off x="1657747"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5">
            <a:extLst>
              <a:ext uri="{FF2B5EF4-FFF2-40B4-BE49-F238E27FC236}">
                <a16:creationId xmlns:a16="http://schemas.microsoft.com/office/drawing/2014/main" id="{B84320CC-7B6E-448A-9D03-231BDDB0B47C}"/>
              </a:ext>
            </a:extLst>
          </p:cNvPr>
          <p:cNvSpPr/>
          <p:nvPr/>
        </p:nvSpPr>
        <p:spPr bwMode="gray">
          <a:xfrm>
            <a:off x="1855358" y="2360214"/>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侧网络设计</a:t>
            </a:r>
          </a:p>
        </p:txBody>
      </p:sp>
      <p:sp>
        <p:nvSpPr>
          <p:cNvPr id="61" name="圆角矩形 6">
            <a:extLst>
              <a:ext uri="{FF2B5EF4-FFF2-40B4-BE49-F238E27FC236}">
                <a16:creationId xmlns:a16="http://schemas.microsoft.com/office/drawing/2014/main" id="{B52BA4D1-794C-42B4-8CA7-9EC116ADD2F8}"/>
              </a:ext>
            </a:extLst>
          </p:cNvPr>
          <p:cNvSpPr/>
          <p:nvPr/>
        </p:nvSpPr>
        <p:spPr bwMode="gray">
          <a:xfrm>
            <a:off x="7956504" y="2850521"/>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62" name="圆角矩形 9">
            <a:extLst>
              <a:ext uri="{FF2B5EF4-FFF2-40B4-BE49-F238E27FC236}">
                <a16:creationId xmlns:a16="http://schemas.microsoft.com/office/drawing/2014/main" id="{974218D8-2D58-43CE-B082-AA48CD716142}"/>
              </a:ext>
            </a:extLst>
          </p:cNvPr>
          <p:cNvSpPr/>
          <p:nvPr/>
        </p:nvSpPr>
        <p:spPr bwMode="gray">
          <a:xfrm>
            <a:off x="4701316"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a:t>
            </a:r>
            <a:r>
              <a:rPr lang="zh-CN" altLang="en-US"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隧道</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63" name="圆角矩形 10">
            <a:extLst>
              <a:ext uri="{FF2B5EF4-FFF2-40B4-BE49-F238E27FC236}">
                <a16:creationId xmlns:a16="http://schemas.microsoft.com/office/drawing/2014/main" id="{1AD1AE9F-7C1F-4740-B480-FB10EBBF7249}"/>
              </a:ext>
            </a:extLst>
          </p:cNvPr>
          <p:cNvSpPr/>
          <p:nvPr/>
        </p:nvSpPr>
        <p:spPr bwMode="gray">
          <a:xfrm>
            <a:off x="4701316" y="2205517"/>
            <a:ext cx="2789367" cy="2124444"/>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圆角矩形 11">
            <a:extLst>
              <a:ext uri="{FF2B5EF4-FFF2-40B4-BE49-F238E27FC236}">
                <a16:creationId xmlns:a16="http://schemas.microsoft.com/office/drawing/2014/main" id="{23CB9D6A-C40B-4E72-821A-60F40401AE3F}"/>
              </a:ext>
            </a:extLst>
          </p:cNvPr>
          <p:cNvSpPr/>
          <p:nvPr/>
        </p:nvSpPr>
        <p:spPr bwMode="gray">
          <a:xfrm>
            <a:off x="7956504" y="236021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拓扑设计</a:t>
            </a:r>
          </a:p>
        </p:txBody>
      </p:sp>
      <p:sp>
        <p:nvSpPr>
          <p:cNvPr id="65" name="圆角矩形 12">
            <a:extLst>
              <a:ext uri="{FF2B5EF4-FFF2-40B4-BE49-F238E27FC236}">
                <a16:creationId xmlns:a16="http://schemas.microsoft.com/office/drawing/2014/main" id="{D7593D5B-DC1D-496B-A697-2DD9A8B76C8B}"/>
              </a:ext>
            </a:extLst>
          </p:cNvPr>
          <p:cNvSpPr/>
          <p:nvPr/>
        </p:nvSpPr>
        <p:spPr bwMode="gray">
          <a:xfrm>
            <a:off x="1855358" y="285009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侧网络设计</a:t>
            </a:r>
          </a:p>
        </p:txBody>
      </p:sp>
      <p:sp>
        <p:nvSpPr>
          <p:cNvPr id="66" name="圆角矩形 13">
            <a:extLst>
              <a:ext uri="{FF2B5EF4-FFF2-40B4-BE49-F238E27FC236}">
                <a16:creationId xmlns:a16="http://schemas.microsoft.com/office/drawing/2014/main" id="{A7F75EF6-9F65-4360-BCA6-D1F42693A59C}"/>
              </a:ext>
            </a:extLst>
          </p:cNvPr>
          <p:cNvSpPr/>
          <p:nvPr/>
        </p:nvSpPr>
        <p:spPr bwMode="gray">
          <a:xfrm>
            <a:off x="7956504" y="3340829"/>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73" name="圆角矩形 6">
            <a:extLst>
              <a:ext uri="{FF2B5EF4-FFF2-40B4-BE49-F238E27FC236}">
                <a16:creationId xmlns:a16="http://schemas.microsoft.com/office/drawing/2014/main" id="{0FD11917-2261-4FB8-AE36-2CEC60EDCAC4}"/>
              </a:ext>
            </a:extLst>
          </p:cNvPr>
          <p:cNvSpPr/>
          <p:nvPr/>
        </p:nvSpPr>
        <p:spPr bwMode="gray">
          <a:xfrm>
            <a:off x="4919285" y="236021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组网设计</a:t>
            </a:r>
          </a:p>
        </p:txBody>
      </p:sp>
      <p:sp>
        <p:nvSpPr>
          <p:cNvPr id="75" name="圆角矩形 6">
            <a:extLst>
              <a:ext uri="{FF2B5EF4-FFF2-40B4-BE49-F238E27FC236}">
                <a16:creationId xmlns:a16="http://schemas.microsoft.com/office/drawing/2014/main" id="{2AC1794A-3BC9-4FF8-AED2-6AAE7F6549D6}"/>
              </a:ext>
            </a:extLst>
          </p:cNvPr>
          <p:cNvSpPr/>
          <p:nvPr/>
        </p:nvSpPr>
        <p:spPr bwMode="gray">
          <a:xfrm>
            <a:off x="4912934" y="333814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穿越设计</a:t>
            </a:r>
          </a:p>
        </p:txBody>
      </p:sp>
      <p:sp>
        <p:nvSpPr>
          <p:cNvPr id="16" name="圆角矩形 11">
            <a:extLst>
              <a:ext uri="{FF2B5EF4-FFF2-40B4-BE49-F238E27FC236}">
                <a16:creationId xmlns:a16="http://schemas.microsoft.com/office/drawing/2014/main" id="{E601D290-EB47-429A-A8A8-F3126767711D}"/>
              </a:ext>
            </a:extLst>
          </p:cNvPr>
          <p:cNvSpPr/>
          <p:nvPr/>
        </p:nvSpPr>
        <p:spPr bwMode="gray">
          <a:xfrm>
            <a:off x="4919285" y="2849178"/>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数据隧道设计</a:t>
            </a:r>
          </a:p>
        </p:txBody>
      </p:sp>
      <p:sp>
        <p:nvSpPr>
          <p:cNvPr id="17" name="圆角矩形 6">
            <a:extLst>
              <a:ext uri="{FF2B5EF4-FFF2-40B4-BE49-F238E27FC236}">
                <a16:creationId xmlns:a16="http://schemas.microsoft.com/office/drawing/2014/main" id="{10FA005B-CC94-4F42-A90A-C7DB7AD8AF07}"/>
              </a:ext>
            </a:extLst>
          </p:cNvPr>
          <p:cNvSpPr/>
          <p:nvPr/>
        </p:nvSpPr>
        <p:spPr bwMode="gray">
          <a:xfrm>
            <a:off x="1855358" y="3338426"/>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双</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CPE</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互联设计</a:t>
            </a:r>
          </a:p>
        </p:txBody>
      </p:sp>
      <p:sp>
        <p:nvSpPr>
          <p:cNvPr id="18" name="圆角矩形 13">
            <a:extLst>
              <a:ext uri="{FF2B5EF4-FFF2-40B4-BE49-F238E27FC236}">
                <a16:creationId xmlns:a16="http://schemas.microsoft.com/office/drawing/2014/main" id="{3E29D403-1CF9-4EA7-87C6-CAF624719097}"/>
              </a:ext>
            </a:extLst>
          </p:cNvPr>
          <p:cNvSpPr/>
          <p:nvPr/>
        </p:nvSpPr>
        <p:spPr bwMode="gray">
          <a:xfrm>
            <a:off x="4912934" y="3827108"/>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网络超规设计</a:t>
            </a:r>
          </a:p>
        </p:txBody>
      </p:sp>
      <p:sp>
        <p:nvSpPr>
          <p:cNvPr id="26" name="圆角矩形 9">
            <a:extLst>
              <a:ext uri="{FF2B5EF4-FFF2-40B4-BE49-F238E27FC236}">
                <a16:creationId xmlns:a16="http://schemas.microsoft.com/office/drawing/2014/main" id="{372F4AF4-9ADB-41E9-8E93-1B605264066D}"/>
              </a:ext>
            </a:extLst>
          </p:cNvPr>
          <p:cNvSpPr/>
          <p:nvPr/>
        </p:nvSpPr>
        <p:spPr bwMode="gray">
          <a:xfrm>
            <a:off x="7744886"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3. VPN</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27" name="圆角矩形 10">
            <a:extLst>
              <a:ext uri="{FF2B5EF4-FFF2-40B4-BE49-F238E27FC236}">
                <a16:creationId xmlns:a16="http://schemas.microsoft.com/office/drawing/2014/main" id="{5E9349E8-5242-47A9-A547-EF9F6B2B1A13}"/>
              </a:ext>
            </a:extLst>
          </p:cNvPr>
          <p:cNvSpPr/>
          <p:nvPr/>
        </p:nvSpPr>
        <p:spPr bwMode="gray">
          <a:xfrm>
            <a:off x="7744886"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253833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dirty="0">
                <a:solidFill>
                  <a:schemeClr val="bg1">
                    <a:lumMod val="50000"/>
                  </a:schemeClr>
                </a:solidFill>
              </a:rPr>
              <a:t>企业广域互联网络趋势与挑战</a:t>
            </a:r>
            <a:endParaRPr lang="en-US" altLang="zh-CN" sz="1800" dirty="0">
              <a:solidFill>
                <a:schemeClr val="bg1">
                  <a:lumMod val="50000"/>
                </a:schemeClr>
              </a:solidFill>
            </a:endParaRPr>
          </a:p>
          <a:p>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解决方案概述</a:t>
            </a:r>
            <a:endParaRPr lang="en-US" altLang="zh-CN" sz="1800" dirty="0">
              <a:solidFill>
                <a:schemeClr val="bg1">
                  <a:lumMod val="50000"/>
                </a:schemeClr>
              </a:solidFill>
            </a:endParaRPr>
          </a:p>
          <a:p>
            <a:pPr>
              <a:buFont typeface="+mj-lt"/>
              <a:buAutoNum type="arabicPeriod" startAt="3"/>
            </a:pPr>
            <a:r>
              <a:rPr lang="zh-CN" altLang="en-US" sz="1800" b="1" dirty="0"/>
              <a:t>华为</a:t>
            </a:r>
            <a:r>
              <a:rPr lang="en-US" altLang="zh-CN" sz="1800" b="1" dirty="0"/>
              <a:t>SD-WAN</a:t>
            </a:r>
            <a:r>
              <a:rPr lang="zh-CN" altLang="en-US" sz="1800" b="1" dirty="0"/>
              <a:t>组网设计</a:t>
            </a:r>
            <a:endParaRPr lang="en-US" altLang="zh-CN" sz="1800" b="1" dirty="0"/>
          </a:p>
          <a:p>
            <a:pPr lvl="1"/>
            <a:r>
              <a:rPr lang="en-US" altLang="zh-CN" sz="1600" dirty="0">
                <a:solidFill>
                  <a:schemeClr val="bg1">
                    <a:lumMod val="50000"/>
                  </a:schemeClr>
                </a:solidFill>
              </a:rPr>
              <a:t>SD-WAN</a:t>
            </a:r>
            <a:r>
              <a:rPr lang="zh-CN" altLang="en-US" sz="1600" dirty="0">
                <a:solidFill>
                  <a:schemeClr val="bg1">
                    <a:lumMod val="50000"/>
                  </a:schemeClr>
                </a:solidFill>
              </a:rPr>
              <a:t>组网设计概览</a:t>
            </a:r>
            <a:endParaRPr lang="en-US" altLang="zh-CN" sz="1600" dirty="0">
              <a:solidFill>
                <a:schemeClr val="bg1">
                  <a:lumMod val="50000"/>
                </a:schemeClr>
              </a:solidFill>
            </a:endParaRPr>
          </a:p>
          <a:p>
            <a:pPr lvl="1">
              <a:buSzPct val="60000"/>
              <a:buFont typeface="Wingdings" panose="05000000000000000000" pitchFamily="2" charset="2"/>
              <a:buChar char="n"/>
            </a:pPr>
            <a:r>
              <a:rPr lang="en-US" altLang="zh-CN" sz="1600" dirty="0"/>
              <a:t>SD-WAN</a:t>
            </a:r>
            <a:r>
              <a:rPr lang="zh-CN" altLang="en-US" sz="1600" dirty="0"/>
              <a:t>站点设计</a:t>
            </a:r>
            <a:endParaRPr lang="en-US" altLang="zh-CN" sz="1600" dirty="0"/>
          </a:p>
          <a:p>
            <a:pPr lvl="1"/>
            <a:r>
              <a:rPr lang="en-US" altLang="zh-CN" sz="1600" dirty="0">
                <a:solidFill>
                  <a:schemeClr val="bg1">
                    <a:lumMod val="50000"/>
                  </a:schemeClr>
                </a:solidFill>
              </a:rPr>
              <a:t>SD-WAN</a:t>
            </a:r>
            <a:r>
              <a:rPr lang="zh-CN" altLang="en-US" sz="1600" dirty="0">
                <a:solidFill>
                  <a:schemeClr val="bg1">
                    <a:lumMod val="50000"/>
                  </a:schemeClr>
                </a:solidFill>
              </a:rPr>
              <a:t>隧道设计</a:t>
            </a:r>
            <a:endParaRPr lang="en-US" altLang="zh-CN" sz="1600" dirty="0">
              <a:solidFill>
                <a:schemeClr val="bg1">
                  <a:lumMod val="50000"/>
                </a:schemeClr>
              </a:solidFill>
            </a:endParaRPr>
          </a:p>
          <a:p>
            <a:pPr lvl="1"/>
            <a:r>
              <a:rPr lang="en-US" altLang="zh-CN" sz="1600" dirty="0">
                <a:solidFill>
                  <a:schemeClr val="bg1">
                    <a:lumMod val="50000"/>
                  </a:schemeClr>
                </a:solidFill>
              </a:rPr>
              <a:t>SD-WAN VPN</a:t>
            </a:r>
            <a:r>
              <a:rPr lang="zh-CN" altLang="en-US" sz="1600" dirty="0">
                <a:solidFill>
                  <a:schemeClr val="bg1">
                    <a:lumMod val="50000"/>
                  </a:schemeClr>
                </a:solidFill>
              </a:rPr>
              <a:t>设计</a:t>
            </a:r>
            <a:endParaRPr lang="en-US" altLang="zh-CN" sz="1600" dirty="0">
              <a:solidFill>
                <a:schemeClr val="bg1">
                  <a:lumMod val="50000"/>
                </a:schemeClr>
              </a:solidFill>
            </a:endParaRPr>
          </a:p>
          <a:p>
            <a:pPr>
              <a:buFont typeface="+mj-lt"/>
              <a:buAutoNum type="arabicPeriod" startAt="3"/>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业务设计</a:t>
            </a:r>
            <a:endParaRPr lang="en-US" altLang="zh-CN" sz="1800" dirty="0">
              <a:solidFill>
                <a:schemeClr val="bg1">
                  <a:lumMod val="50000"/>
                </a:schemeClr>
              </a:solidFill>
            </a:endParaRPr>
          </a:p>
          <a:p>
            <a:pPr>
              <a:buFont typeface="+mj-lt"/>
              <a:buAutoNum type="arabicPeriod" startAt="3"/>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可靠性与安全设计</a:t>
            </a:r>
          </a:p>
        </p:txBody>
      </p:sp>
    </p:spTree>
    <p:extLst>
      <p:ext uri="{BB962C8B-B14F-4D97-AF65-F5344CB8AC3E}">
        <p14:creationId xmlns:p14="http://schemas.microsoft.com/office/powerpoint/2010/main" val="21583317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32A32D-DD3E-40B2-8DF4-1B711544535B}"/>
              </a:ext>
            </a:extLst>
          </p:cNvPr>
          <p:cNvSpPr>
            <a:spLocks noGrp="1"/>
          </p:cNvSpPr>
          <p:nvPr>
            <p:ph type="title"/>
          </p:nvPr>
        </p:nvSpPr>
        <p:spPr bwMode="gray"/>
        <p:txBody>
          <a:bodyPr/>
          <a:lstStyle/>
          <a:p>
            <a:r>
              <a:rPr lang="zh-CN" altLang="en-US" dirty="0"/>
              <a:t>站点设计全景图</a:t>
            </a:r>
            <a:endParaRPr lang="en-US" dirty="0"/>
          </a:p>
        </p:txBody>
      </p:sp>
      <p:sp>
        <p:nvSpPr>
          <p:cNvPr id="164" name="Text Placeholder 163">
            <a:extLst>
              <a:ext uri="{FF2B5EF4-FFF2-40B4-BE49-F238E27FC236}">
                <a16:creationId xmlns:a16="http://schemas.microsoft.com/office/drawing/2014/main" id="{8C527F74-1DF0-4D25-9B9E-857A9CC4A091}"/>
              </a:ext>
            </a:extLst>
          </p:cNvPr>
          <p:cNvSpPr>
            <a:spLocks noGrp="1"/>
          </p:cNvSpPr>
          <p:nvPr>
            <p:ph type="body" sz="quarter" idx="10"/>
          </p:nvPr>
        </p:nvSpPr>
        <p:spPr bwMode="gray">
          <a:xfrm>
            <a:off x="455612" y="1047751"/>
            <a:ext cx="11293475" cy="2922984"/>
          </a:xfrm>
        </p:spPr>
        <p:txBody>
          <a:bodyPr/>
          <a:lstStyle/>
          <a:p>
            <a:r>
              <a:rPr lang="en-US" altLang="zh-CN" sz="2000" dirty="0"/>
              <a:t>SD-WAN</a:t>
            </a:r>
            <a:r>
              <a:rPr lang="zh-CN" altLang="en-US" sz="2000" dirty="0"/>
              <a:t>站点是指部署了</a:t>
            </a:r>
            <a:r>
              <a:rPr lang="en-US" altLang="zh-CN" sz="2000" dirty="0"/>
              <a:t>SD-WAN</a:t>
            </a:r>
            <a:r>
              <a:rPr lang="zh-CN" altLang="en-US" sz="2000" dirty="0"/>
              <a:t>网络互连的站点，并统一被</a:t>
            </a:r>
            <a:r>
              <a:rPr lang="en-US" altLang="zh-CN" sz="2000" dirty="0" err="1"/>
              <a:t>iMaster</a:t>
            </a:r>
            <a:r>
              <a:rPr lang="en-US" altLang="zh-CN" sz="2000" dirty="0"/>
              <a:t> NCE-WAN/</a:t>
            </a:r>
            <a:r>
              <a:rPr lang="en-US" altLang="zh-CN" sz="2000" dirty="0" err="1"/>
              <a:t>iMaster</a:t>
            </a:r>
            <a:r>
              <a:rPr lang="en-US" altLang="zh-CN" sz="2000" dirty="0"/>
              <a:t> NCE-Campus</a:t>
            </a:r>
            <a:r>
              <a:rPr lang="zh-CN" altLang="en-US" sz="2000" dirty="0"/>
              <a:t>控制器管理和监控。</a:t>
            </a:r>
            <a:endParaRPr lang="en-US" altLang="zh-CN" sz="2000" dirty="0"/>
          </a:p>
          <a:p>
            <a:r>
              <a:rPr lang="zh-CN" altLang="en-US" sz="2000" dirty="0"/>
              <a:t>站点设计一般可以分为：</a:t>
            </a:r>
            <a:endParaRPr lang="en-US" altLang="zh-CN" sz="2000" dirty="0"/>
          </a:p>
          <a:p>
            <a:pPr lvl="1"/>
            <a:r>
              <a:rPr lang="en-US" sz="1800" dirty="0"/>
              <a:t>WAN</a:t>
            </a:r>
            <a:r>
              <a:rPr lang="zh-CN" altLang="en-US" sz="1800" dirty="0"/>
              <a:t>侧网络设计</a:t>
            </a:r>
            <a:endParaRPr lang="en-US" altLang="zh-CN" sz="1800" dirty="0"/>
          </a:p>
          <a:p>
            <a:pPr lvl="1"/>
            <a:r>
              <a:rPr lang="en-US" altLang="zh-CN" sz="1800" dirty="0"/>
              <a:t>LAN</a:t>
            </a:r>
            <a:r>
              <a:rPr lang="zh-CN" altLang="en-US" sz="1800" dirty="0"/>
              <a:t>侧网络设计</a:t>
            </a:r>
            <a:endParaRPr lang="en-US" altLang="zh-CN" sz="1800" dirty="0"/>
          </a:p>
          <a:p>
            <a:pPr lvl="1"/>
            <a:r>
              <a:rPr lang="zh-CN" altLang="en-US" sz="1800" dirty="0"/>
              <a:t>双</a:t>
            </a:r>
            <a:r>
              <a:rPr lang="en-US" sz="1800" dirty="0"/>
              <a:t>CPE</a:t>
            </a:r>
            <a:r>
              <a:rPr lang="zh-CN" altLang="en-US" sz="1800" dirty="0"/>
              <a:t>互联设计</a:t>
            </a:r>
            <a:endParaRPr lang="en-US" altLang="zh-CN" sz="1800" dirty="0"/>
          </a:p>
        </p:txBody>
      </p:sp>
      <p:pic>
        <p:nvPicPr>
          <p:cNvPr id="111" name="Picture 12" descr="E:\2016.01\1.12 扁平化图标\蓝色\AR-蓝色最新-40.png">
            <a:extLst>
              <a:ext uri="{FF2B5EF4-FFF2-40B4-BE49-F238E27FC236}">
                <a16:creationId xmlns:a16="http://schemas.microsoft.com/office/drawing/2014/main" id="{8349F6EC-3071-4F26-8351-50269BE83E2C}"/>
              </a:ext>
            </a:extLst>
          </p:cNvPr>
          <p:cNvPicPr>
            <a:picLocks noChangeAspect="1" noChangeArrowheads="1"/>
          </p:cNvPicPr>
          <p:nvPr/>
        </p:nvPicPr>
        <p:blipFill>
          <a:blip r:embed="rId3" cstate="print"/>
          <a:srcRect/>
          <a:stretch>
            <a:fillRect/>
          </a:stretch>
        </p:blipFill>
        <p:spPr bwMode="gray">
          <a:xfrm>
            <a:off x="6754803" y="4595047"/>
            <a:ext cx="474524" cy="388247"/>
          </a:xfrm>
          <a:prstGeom prst="rect">
            <a:avLst/>
          </a:prstGeom>
          <a:noFill/>
        </p:spPr>
      </p:pic>
      <p:cxnSp>
        <p:nvCxnSpPr>
          <p:cNvPr id="112" name="Straight Connector 111">
            <a:extLst>
              <a:ext uri="{FF2B5EF4-FFF2-40B4-BE49-F238E27FC236}">
                <a16:creationId xmlns:a16="http://schemas.microsoft.com/office/drawing/2014/main" id="{9C25A942-E267-4A86-9237-5D82E83348CD}"/>
              </a:ext>
            </a:extLst>
          </p:cNvPr>
          <p:cNvCxnSpPr>
            <a:cxnSpLocks/>
            <a:endCxn id="111" idx="0"/>
          </p:cNvCxnSpPr>
          <p:nvPr/>
        </p:nvCxnSpPr>
        <p:spPr bwMode="gray">
          <a:xfrm>
            <a:off x="6992065" y="3716380"/>
            <a:ext cx="0" cy="87866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4BF7B53F-D281-406A-B273-FEFDE4A47994}"/>
              </a:ext>
            </a:extLst>
          </p:cNvPr>
          <p:cNvCxnSpPr>
            <a:cxnSpLocks/>
            <a:endCxn id="111" idx="0"/>
          </p:cNvCxnSpPr>
          <p:nvPr/>
        </p:nvCxnSpPr>
        <p:spPr bwMode="gray">
          <a:xfrm flipH="1">
            <a:off x="6992065" y="3731513"/>
            <a:ext cx="2056725" cy="86353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5" name="Freeform 159">
            <a:extLst>
              <a:ext uri="{FF2B5EF4-FFF2-40B4-BE49-F238E27FC236}">
                <a16:creationId xmlns:a16="http://schemas.microsoft.com/office/drawing/2014/main" id="{A559A030-F538-4C30-BA47-A15A6A235BB9}"/>
              </a:ext>
            </a:extLst>
          </p:cNvPr>
          <p:cNvSpPr/>
          <p:nvPr/>
        </p:nvSpPr>
        <p:spPr bwMode="gray">
          <a:xfrm flipH="1">
            <a:off x="6458738" y="3070378"/>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116" name="Freeform 159">
            <a:extLst>
              <a:ext uri="{FF2B5EF4-FFF2-40B4-BE49-F238E27FC236}">
                <a16:creationId xmlns:a16="http://schemas.microsoft.com/office/drawing/2014/main" id="{01972DA1-0F87-4A2A-9774-6E238908BB39}"/>
              </a:ext>
            </a:extLst>
          </p:cNvPr>
          <p:cNvSpPr/>
          <p:nvPr/>
        </p:nvSpPr>
        <p:spPr bwMode="gray">
          <a:xfrm flipH="1">
            <a:off x="8451822" y="3070377"/>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sp>
        <p:nvSpPr>
          <p:cNvPr id="117" name="Freeform 159">
            <a:extLst>
              <a:ext uri="{FF2B5EF4-FFF2-40B4-BE49-F238E27FC236}">
                <a16:creationId xmlns:a16="http://schemas.microsoft.com/office/drawing/2014/main" id="{9B6DB2C2-BEFD-4FBD-BFB4-874C5C682014}"/>
              </a:ext>
            </a:extLst>
          </p:cNvPr>
          <p:cNvSpPr/>
          <p:nvPr/>
        </p:nvSpPr>
        <p:spPr bwMode="gray">
          <a:xfrm flipH="1">
            <a:off x="7188686" y="1714742"/>
            <a:ext cx="1429629" cy="7642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18" name="Straight Connector 117">
            <a:extLst>
              <a:ext uri="{FF2B5EF4-FFF2-40B4-BE49-F238E27FC236}">
                <a16:creationId xmlns:a16="http://schemas.microsoft.com/office/drawing/2014/main" id="{BF2F5795-936A-4295-A3B2-F37EC6435798}"/>
              </a:ext>
            </a:extLst>
          </p:cNvPr>
          <p:cNvCxnSpPr>
            <a:cxnSpLocks/>
            <a:stCxn id="121" idx="2"/>
            <a:endCxn id="116" idx="0"/>
          </p:cNvCxnSpPr>
          <p:nvPr/>
        </p:nvCxnSpPr>
        <p:spPr bwMode="gray">
          <a:xfrm>
            <a:off x="8130460" y="2336421"/>
            <a:ext cx="789501" cy="7339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42E9E91-1968-41DC-9DC3-F81B04544E99}"/>
              </a:ext>
            </a:extLst>
          </p:cNvPr>
          <p:cNvCxnSpPr>
            <a:cxnSpLocks/>
            <a:stCxn id="120" idx="2"/>
            <a:endCxn id="115" idx="0"/>
          </p:cNvCxnSpPr>
          <p:nvPr/>
        </p:nvCxnSpPr>
        <p:spPr bwMode="gray">
          <a:xfrm flipH="1">
            <a:off x="6926877" y="2337189"/>
            <a:ext cx="742941" cy="733189"/>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20" name="Picture 12" descr="E:\2016.01\1.12 扁平化图标\蓝色\AR-蓝色最新-40.png">
            <a:extLst>
              <a:ext uri="{FF2B5EF4-FFF2-40B4-BE49-F238E27FC236}">
                <a16:creationId xmlns:a16="http://schemas.microsoft.com/office/drawing/2014/main" id="{B805462D-CBA1-4679-9DC7-50FBD6BB75D9}"/>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7516423" y="2086180"/>
            <a:ext cx="306789" cy="251009"/>
          </a:xfrm>
          <a:prstGeom prst="rect">
            <a:avLst/>
          </a:prstGeom>
          <a:noFill/>
        </p:spPr>
      </p:pic>
      <p:pic>
        <p:nvPicPr>
          <p:cNvPr id="121" name="Picture 12" descr="E:\2016.01\1.12 扁平化图标\蓝色\AR-蓝色最新-40.png">
            <a:extLst>
              <a:ext uri="{FF2B5EF4-FFF2-40B4-BE49-F238E27FC236}">
                <a16:creationId xmlns:a16="http://schemas.microsoft.com/office/drawing/2014/main" id="{41B1B99D-CD26-4032-9FB2-8A6D8EF0441D}"/>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7977065" y="2085412"/>
            <a:ext cx="306789" cy="251009"/>
          </a:xfrm>
          <a:prstGeom prst="rect">
            <a:avLst/>
          </a:prstGeom>
          <a:noFill/>
        </p:spPr>
      </p:pic>
      <p:sp>
        <p:nvSpPr>
          <p:cNvPr id="122" name="TextBox 121">
            <a:extLst>
              <a:ext uri="{FF2B5EF4-FFF2-40B4-BE49-F238E27FC236}">
                <a16:creationId xmlns:a16="http://schemas.microsoft.com/office/drawing/2014/main" id="{56034ACF-B78F-46C7-8C69-3953467B04FD}"/>
              </a:ext>
            </a:extLst>
          </p:cNvPr>
          <p:cNvSpPr txBox="1"/>
          <p:nvPr/>
        </p:nvSpPr>
        <p:spPr bwMode="gray">
          <a:xfrm>
            <a:off x="7491730" y="1821408"/>
            <a:ext cx="836286" cy="307777"/>
          </a:xfrm>
          <a:prstGeom prst="rect">
            <a:avLst/>
          </a:prstGeom>
          <a:noFill/>
        </p:spPr>
        <p:txBody>
          <a:bodyPr wrap="square" rtlCol="0">
            <a:spAutoFit/>
          </a:bodyPr>
          <a:lstStyle/>
          <a:p>
            <a:pPr algn="ctr"/>
            <a:r>
              <a:rPr lang="en-US" altLang="zh-CN" sz="1400"/>
              <a:t>Hub</a:t>
            </a:r>
            <a:endParaRPr lang="zh-CN" altLang="en-US" sz="1600" dirty="0"/>
          </a:p>
        </p:txBody>
      </p:sp>
      <p:pic>
        <p:nvPicPr>
          <p:cNvPr id="123" name="Picture 12" descr="E:\2016.01\1.12 扁平化图标\蓝色\AR-蓝色最新-40.png">
            <a:extLst>
              <a:ext uri="{FF2B5EF4-FFF2-40B4-BE49-F238E27FC236}">
                <a16:creationId xmlns:a16="http://schemas.microsoft.com/office/drawing/2014/main" id="{0C43333D-3A81-4E0C-916C-DC67E58BBFA8}"/>
              </a:ext>
            </a:extLst>
          </p:cNvPr>
          <p:cNvPicPr>
            <a:picLocks noChangeAspect="1" noChangeArrowheads="1"/>
          </p:cNvPicPr>
          <p:nvPr/>
        </p:nvPicPr>
        <p:blipFill>
          <a:blip r:embed="rId3" cstate="print"/>
          <a:srcRect/>
          <a:stretch>
            <a:fillRect/>
          </a:stretch>
        </p:blipFill>
        <p:spPr bwMode="gray">
          <a:xfrm>
            <a:off x="8415560" y="4606659"/>
            <a:ext cx="474524" cy="388247"/>
          </a:xfrm>
          <a:prstGeom prst="rect">
            <a:avLst/>
          </a:prstGeom>
          <a:noFill/>
        </p:spPr>
      </p:pic>
      <p:pic>
        <p:nvPicPr>
          <p:cNvPr id="124" name="Picture 12" descr="E:\2016.01\1.12 扁平化图标\蓝色\AR-蓝色最新-40.png">
            <a:extLst>
              <a:ext uri="{FF2B5EF4-FFF2-40B4-BE49-F238E27FC236}">
                <a16:creationId xmlns:a16="http://schemas.microsoft.com/office/drawing/2014/main" id="{2764CB85-46B0-4A84-B8DF-18F5E9805ACE}"/>
              </a:ext>
            </a:extLst>
          </p:cNvPr>
          <p:cNvPicPr>
            <a:picLocks noChangeAspect="1" noChangeArrowheads="1"/>
          </p:cNvPicPr>
          <p:nvPr/>
        </p:nvPicPr>
        <p:blipFill>
          <a:blip r:embed="rId3" cstate="print"/>
          <a:srcRect/>
          <a:stretch>
            <a:fillRect/>
          </a:stretch>
        </p:blipFill>
        <p:spPr bwMode="gray">
          <a:xfrm>
            <a:off x="9103017" y="4607721"/>
            <a:ext cx="474524" cy="388247"/>
          </a:xfrm>
          <a:prstGeom prst="rect">
            <a:avLst/>
          </a:prstGeom>
          <a:noFill/>
        </p:spPr>
      </p:pic>
      <p:cxnSp>
        <p:nvCxnSpPr>
          <p:cNvPr id="126" name="Straight Connector 125">
            <a:extLst>
              <a:ext uri="{FF2B5EF4-FFF2-40B4-BE49-F238E27FC236}">
                <a16:creationId xmlns:a16="http://schemas.microsoft.com/office/drawing/2014/main" id="{FDCBACDC-4A92-4D8B-9FC8-A2260C5AE468}"/>
              </a:ext>
            </a:extLst>
          </p:cNvPr>
          <p:cNvCxnSpPr>
            <a:cxnSpLocks/>
            <a:endCxn id="123" idx="0"/>
          </p:cNvCxnSpPr>
          <p:nvPr/>
        </p:nvCxnSpPr>
        <p:spPr bwMode="gray">
          <a:xfrm>
            <a:off x="7047535" y="3731514"/>
            <a:ext cx="1605287" cy="87514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EA9C2A84-97D0-45BA-8BE9-6DCA63CA3369}"/>
              </a:ext>
            </a:extLst>
          </p:cNvPr>
          <p:cNvCxnSpPr>
            <a:cxnSpLocks/>
            <a:endCxn id="124" idx="0"/>
          </p:cNvCxnSpPr>
          <p:nvPr/>
        </p:nvCxnSpPr>
        <p:spPr bwMode="gray">
          <a:xfrm>
            <a:off x="9114154" y="3717229"/>
            <a:ext cx="226125" cy="89049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4EA57057-8A43-42C9-9C82-527E2C21CE02}"/>
              </a:ext>
            </a:extLst>
          </p:cNvPr>
          <p:cNvCxnSpPr>
            <a:cxnSpLocks/>
            <a:stCxn id="124" idx="1"/>
            <a:endCxn id="123" idx="3"/>
          </p:cNvCxnSpPr>
          <p:nvPr/>
        </p:nvCxnSpPr>
        <p:spPr bwMode="gray">
          <a:xfrm flipH="1" flipV="1">
            <a:off x="8890084" y="4800783"/>
            <a:ext cx="212933" cy="1062"/>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29" name="Picture 12" descr="E:\2016.01\1.12 扁平化图标\蓝色\AR-蓝色最新-40.png">
            <a:extLst>
              <a:ext uri="{FF2B5EF4-FFF2-40B4-BE49-F238E27FC236}">
                <a16:creationId xmlns:a16="http://schemas.microsoft.com/office/drawing/2014/main" id="{BE421A65-93FE-412F-8855-FDFA01D01379}"/>
              </a:ext>
            </a:extLst>
          </p:cNvPr>
          <p:cNvPicPr>
            <a:picLocks noChangeAspect="1" noChangeArrowheads="1"/>
          </p:cNvPicPr>
          <p:nvPr/>
        </p:nvPicPr>
        <p:blipFill>
          <a:blip r:embed="rId3" cstate="print"/>
          <a:srcRect/>
          <a:stretch>
            <a:fillRect/>
          </a:stretch>
        </p:blipFill>
        <p:spPr bwMode="gray">
          <a:xfrm>
            <a:off x="5793544" y="2086181"/>
            <a:ext cx="474524" cy="388247"/>
          </a:xfrm>
          <a:prstGeom prst="rect">
            <a:avLst/>
          </a:prstGeom>
          <a:noFill/>
        </p:spPr>
      </p:pic>
      <p:pic>
        <p:nvPicPr>
          <p:cNvPr id="130" name="Picture 12" descr="E:\2016.01\1.12 扁平化图标\蓝色\AR-蓝色最新-40.png">
            <a:extLst>
              <a:ext uri="{FF2B5EF4-FFF2-40B4-BE49-F238E27FC236}">
                <a16:creationId xmlns:a16="http://schemas.microsoft.com/office/drawing/2014/main" id="{FA800812-EB79-4EA9-B5E0-4337F15B62AE}"/>
              </a:ext>
            </a:extLst>
          </p:cNvPr>
          <p:cNvPicPr>
            <a:picLocks noChangeAspect="1" noChangeArrowheads="1"/>
          </p:cNvPicPr>
          <p:nvPr/>
        </p:nvPicPr>
        <p:blipFill>
          <a:blip r:embed="rId3" cstate="print"/>
          <a:srcRect/>
          <a:stretch>
            <a:fillRect/>
          </a:stretch>
        </p:blipFill>
        <p:spPr bwMode="gray">
          <a:xfrm>
            <a:off x="9563399" y="2080073"/>
            <a:ext cx="474524" cy="388247"/>
          </a:xfrm>
          <a:prstGeom prst="rect">
            <a:avLst/>
          </a:prstGeom>
          <a:noFill/>
        </p:spPr>
      </p:pic>
      <p:cxnSp>
        <p:nvCxnSpPr>
          <p:cNvPr id="131" name="Straight Connector 130">
            <a:extLst>
              <a:ext uri="{FF2B5EF4-FFF2-40B4-BE49-F238E27FC236}">
                <a16:creationId xmlns:a16="http://schemas.microsoft.com/office/drawing/2014/main" id="{B3A32C99-F3C4-40F8-A299-1BAE4E118889}"/>
              </a:ext>
            </a:extLst>
          </p:cNvPr>
          <p:cNvCxnSpPr>
            <a:cxnSpLocks/>
            <a:stCxn id="115" idx="21"/>
            <a:endCxn id="129" idx="2"/>
          </p:cNvCxnSpPr>
          <p:nvPr/>
        </p:nvCxnSpPr>
        <p:spPr bwMode="gray">
          <a:xfrm flipH="1" flipV="1">
            <a:off x="6030806" y="2474428"/>
            <a:ext cx="427932" cy="104886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FBCD690-A24D-44D5-8F61-9F8D1C5A2E23}"/>
              </a:ext>
            </a:extLst>
          </p:cNvPr>
          <p:cNvCxnSpPr>
            <a:cxnSpLocks/>
            <a:stCxn id="116" idx="21"/>
            <a:endCxn id="129" idx="3"/>
          </p:cNvCxnSpPr>
          <p:nvPr/>
        </p:nvCxnSpPr>
        <p:spPr bwMode="gray">
          <a:xfrm flipH="1" flipV="1">
            <a:off x="6268068" y="2280305"/>
            <a:ext cx="2183754" cy="124298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DF810D-4A89-43AF-8E8A-FBACAA004B10}"/>
              </a:ext>
            </a:extLst>
          </p:cNvPr>
          <p:cNvCxnSpPr>
            <a:cxnSpLocks/>
            <a:stCxn id="130" idx="2"/>
            <a:endCxn id="116" idx="8"/>
          </p:cNvCxnSpPr>
          <p:nvPr/>
        </p:nvCxnSpPr>
        <p:spPr bwMode="gray">
          <a:xfrm flipH="1">
            <a:off x="9645759" y="2468320"/>
            <a:ext cx="154902" cy="104320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FF710F4E-EE2D-4516-8431-49EC0A73017C}"/>
              </a:ext>
            </a:extLst>
          </p:cNvPr>
          <p:cNvSpPr txBox="1"/>
          <p:nvPr/>
        </p:nvSpPr>
        <p:spPr bwMode="gray">
          <a:xfrm>
            <a:off x="5812665" y="1809181"/>
            <a:ext cx="460382" cy="276999"/>
          </a:xfrm>
          <a:prstGeom prst="rect">
            <a:avLst/>
          </a:prstGeom>
          <a:noFill/>
        </p:spPr>
        <p:txBody>
          <a:bodyPr wrap="none" rtlCol="0">
            <a:spAutoFit/>
          </a:bodyPr>
          <a:lstStyle/>
          <a:p>
            <a:r>
              <a:rPr lang="en-US" altLang="zh-CN" sz="1200" dirty="0"/>
              <a:t>RR1</a:t>
            </a:r>
            <a:endParaRPr lang="zh-CN" altLang="en-US" sz="1200" dirty="0"/>
          </a:p>
        </p:txBody>
      </p:sp>
      <p:sp>
        <p:nvSpPr>
          <p:cNvPr id="136" name="TextBox 135">
            <a:extLst>
              <a:ext uri="{FF2B5EF4-FFF2-40B4-BE49-F238E27FC236}">
                <a16:creationId xmlns:a16="http://schemas.microsoft.com/office/drawing/2014/main" id="{10C147B5-7DF6-4C2D-93E5-F5B757C9E908}"/>
              </a:ext>
            </a:extLst>
          </p:cNvPr>
          <p:cNvSpPr txBox="1"/>
          <p:nvPr/>
        </p:nvSpPr>
        <p:spPr bwMode="gray">
          <a:xfrm>
            <a:off x="9577541" y="1821408"/>
            <a:ext cx="460382" cy="276999"/>
          </a:xfrm>
          <a:prstGeom prst="rect">
            <a:avLst/>
          </a:prstGeom>
          <a:noFill/>
        </p:spPr>
        <p:txBody>
          <a:bodyPr wrap="none" rtlCol="0">
            <a:spAutoFit/>
          </a:bodyPr>
          <a:lstStyle/>
          <a:p>
            <a:r>
              <a:rPr lang="en-US" altLang="zh-CN" sz="1200" dirty="0"/>
              <a:t>RR2</a:t>
            </a:r>
            <a:endParaRPr lang="zh-CN" altLang="en-US" sz="1200" dirty="0"/>
          </a:p>
        </p:txBody>
      </p:sp>
      <p:pic>
        <p:nvPicPr>
          <p:cNvPr id="137" name="Picture 12" descr="E:\2016.01\1.12 扁平化图标\蓝色\AR-蓝色最新-40.png">
            <a:extLst>
              <a:ext uri="{FF2B5EF4-FFF2-40B4-BE49-F238E27FC236}">
                <a16:creationId xmlns:a16="http://schemas.microsoft.com/office/drawing/2014/main" id="{D16E8A7E-F117-4F7A-93D7-C3AE83863FB6}"/>
              </a:ext>
            </a:extLst>
          </p:cNvPr>
          <p:cNvPicPr>
            <a:picLocks noChangeAspect="1" noChangeArrowheads="1"/>
          </p:cNvPicPr>
          <p:nvPr/>
        </p:nvPicPr>
        <p:blipFill>
          <a:blip r:embed="rId3" cstate="print"/>
          <a:srcRect/>
          <a:stretch>
            <a:fillRect/>
          </a:stretch>
        </p:blipFill>
        <p:spPr bwMode="gray">
          <a:xfrm>
            <a:off x="6895335" y="2016202"/>
            <a:ext cx="474524" cy="388247"/>
          </a:xfrm>
          <a:prstGeom prst="rect">
            <a:avLst/>
          </a:prstGeom>
          <a:noFill/>
        </p:spPr>
      </p:pic>
      <p:pic>
        <p:nvPicPr>
          <p:cNvPr id="138" name="Picture 12" descr="E:\2016.01\1.12 扁平化图标\蓝色\AR-蓝色最新-40.png">
            <a:extLst>
              <a:ext uri="{FF2B5EF4-FFF2-40B4-BE49-F238E27FC236}">
                <a16:creationId xmlns:a16="http://schemas.microsoft.com/office/drawing/2014/main" id="{41CC8698-4A6B-487A-B5CE-559D44E15C35}"/>
              </a:ext>
            </a:extLst>
          </p:cNvPr>
          <p:cNvPicPr>
            <a:picLocks noChangeAspect="1" noChangeArrowheads="1"/>
          </p:cNvPicPr>
          <p:nvPr/>
        </p:nvPicPr>
        <p:blipFill>
          <a:blip r:embed="rId3" cstate="print"/>
          <a:srcRect/>
          <a:stretch>
            <a:fillRect/>
          </a:stretch>
        </p:blipFill>
        <p:spPr bwMode="gray">
          <a:xfrm>
            <a:off x="8451822" y="2017884"/>
            <a:ext cx="474524" cy="388247"/>
          </a:xfrm>
          <a:prstGeom prst="rect">
            <a:avLst/>
          </a:prstGeom>
          <a:noFill/>
        </p:spPr>
      </p:pic>
      <p:cxnSp>
        <p:nvCxnSpPr>
          <p:cNvPr id="139" name="Straight Connector 138">
            <a:extLst>
              <a:ext uri="{FF2B5EF4-FFF2-40B4-BE49-F238E27FC236}">
                <a16:creationId xmlns:a16="http://schemas.microsoft.com/office/drawing/2014/main" id="{A01E4C0E-F29D-4846-9A9C-305FF65199EA}"/>
              </a:ext>
            </a:extLst>
          </p:cNvPr>
          <p:cNvCxnSpPr>
            <a:cxnSpLocks/>
            <a:stCxn id="137" idx="3"/>
            <a:endCxn id="120" idx="1"/>
          </p:cNvCxnSpPr>
          <p:nvPr/>
        </p:nvCxnSpPr>
        <p:spPr bwMode="gray">
          <a:xfrm>
            <a:off x="7369859" y="2210326"/>
            <a:ext cx="146564" cy="13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03702CB-F884-420A-A92B-0AB127029A53}"/>
              </a:ext>
            </a:extLst>
          </p:cNvPr>
          <p:cNvCxnSpPr>
            <a:cxnSpLocks/>
            <a:stCxn id="121" idx="3"/>
            <a:endCxn id="138" idx="1"/>
          </p:cNvCxnSpPr>
          <p:nvPr/>
        </p:nvCxnSpPr>
        <p:spPr bwMode="gray">
          <a:xfrm>
            <a:off x="8283854" y="2210917"/>
            <a:ext cx="167968" cy="109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a16="http://schemas.microsoft.com/office/drawing/2014/main" id="{DBD55503-E506-4994-A931-568B67AE3C3D}"/>
              </a:ext>
            </a:extLst>
          </p:cNvPr>
          <p:cNvSpPr txBox="1"/>
          <p:nvPr/>
        </p:nvSpPr>
        <p:spPr bwMode="gray">
          <a:xfrm>
            <a:off x="6322213" y="4646813"/>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142" name="TextBox 141">
            <a:extLst>
              <a:ext uri="{FF2B5EF4-FFF2-40B4-BE49-F238E27FC236}">
                <a16:creationId xmlns:a16="http://schemas.microsoft.com/office/drawing/2014/main" id="{5695E0A9-398A-4766-A0C2-D1323E141B66}"/>
              </a:ext>
            </a:extLst>
          </p:cNvPr>
          <p:cNvSpPr txBox="1"/>
          <p:nvPr/>
        </p:nvSpPr>
        <p:spPr bwMode="gray">
          <a:xfrm>
            <a:off x="7998292" y="4656490"/>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143" name="TextBox 142">
            <a:extLst>
              <a:ext uri="{FF2B5EF4-FFF2-40B4-BE49-F238E27FC236}">
                <a16:creationId xmlns:a16="http://schemas.microsoft.com/office/drawing/2014/main" id="{39AAC69B-EF5F-41E3-8183-C0BA17DE5D07}"/>
              </a:ext>
            </a:extLst>
          </p:cNvPr>
          <p:cNvSpPr txBox="1"/>
          <p:nvPr/>
        </p:nvSpPr>
        <p:spPr bwMode="gray">
          <a:xfrm>
            <a:off x="9522020" y="4656490"/>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144" name="TextBox 143">
            <a:extLst>
              <a:ext uri="{FF2B5EF4-FFF2-40B4-BE49-F238E27FC236}">
                <a16:creationId xmlns:a16="http://schemas.microsoft.com/office/drawing/2014/main" id="{CF57C7C0-CC0D-4616-83B3-6EEF0C27E44F}"/>
              </a:ext>
            </a:extLst>
          </p:cNvPr>
          <p:cNvSpPr txBox="1"/>
          <p:nvPr/>
        </p:nvSpPr>
        <p:spPr bwMode="gray">
          <a:xfrm>
            <a:off x="6742308" y="1768945"/>
            <a:ext cx="700833" cy="276999"/>
          </a:xfrm>
          <a:prstGeom prst="rect">
            <a:avLst/>
          </a:prstGeom>
          <a:noFill/>
        </p:spPr>
        <p:txBody>
          <a:bodyPr wrap="none" rtlCol="0">
            <a:spAutoFit/>
          </a:bodyPr>
          <a:lstStyle/>
          <a:p>
            <a:r>
              <a:rPr lang="en-US" altLang="zh-CN" sz="1200" dirty="0"/>
              <a:t>CPE/RR</a:t>
            </a:r>
            <a:endParaRPr lang="zh-CN" altLang="en-US" sz="1200" dirty="0"/>
          </a:p>
        </p:txBody>
      </p:sp>
      <p:sp>
        <p:nvSpPr>
          <p:cNvPr id="145" name="TextBox 144">
            <a:extLst>
              <a:ext uri="{FF2B5EF4-FFF2-40B4-BE49-F238E27FC236}">
                <a16:creationId xmlns:a16="http://schemas.microsoft.com/office/drawing/2014/main" id="{429C99DC-40BA-429D-B451-C99C1D572A53}"/>
              </a:ext>
            </a:extLst>
          </p:cNvPr>
          <p:cNvSpPr txBox="1"/>
          <p:nvPr/>
        </p:nvSpPr>
        <p:spPr bwMode="gray">
          <a:xfrm>
            <a:off x="8347957" y="1786219"/>
            <a:ext cx="700833" cy="276999"/>
          </a:xfrm>
          <a:prstGeom prst="rect">
            <a:avLst/>
          </a:prstGeom>
          <a:noFill/>
        </p:spPr>
        <p:txBody>
          <a:bodyPr wrap="none" rtlCol="0">
            <a:spAutoFit/>
          </a:bodyPr>
          <a:lstStyle/>
          <a:p>
            <a:r>
              <a:rPr lang="en-US" altLang="zh-CN" sz="1200" dirty="0"/>
              <a:t>CPE/RR</a:t>
            </a:r>
            <a:endParaRPr lang="zh-CN" altLang="en-US" sz="1200" dirty="0"/>
          </a:p>
        </p:txBody>
      </p:sp>
      <p:cxnSp>
        <p:nvCxnSpPr>
          <p:cNvPr id="146" name="Straight Connector 145">
            <a:extLst>
              <a:ext uri="{FF2B5EF4-FFF2-40B4-BE49-F238E27FC236}">
                <a16:creationId xmlns:a16="http://schemas.microsoft.com/office/drawing/2014/main" id="{8CF56DCB-A361-4ABE-9569-DEBC46C4B7AB}"/>
              </a:ext>
            </a:extLst>
          </p:cNvPr>
          <p:cNvCxnSpPr>
            <a:cxnSpLocks/>
            <a:stCxn id="121" idx="1"/>
            <a:endCxn id="120" idx="3"/>
          </p:cNvCxnSpPr>
          <p:nvPr/>
        </p:nvCxnSpPr>
        <p:spPr bwMode="gray">
          <a:xfrm flipH="1">
            <a:off x="7823212" y="2210917"/>
            <a:ext cx="153853" cy="768"/>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59" name="图片 21">
            <a:extLst>
              <a:ext uri="{FF2B5EF4-FFF2-40B4-BE49-F238E27FC236}">
                <a16:creationId xmlns:a16="http://schemas.microsoft.com/office/drawing/2014/main" id="{0A7A602A-5E99-4386-A2AF-361EC29737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847727" y="3549285"/>
            <a:ext cx="467490" cy="382800"/>
          </a:xfrm>
          <a:prstGeom prst="rect">
            <a:avLst/>
          </a:prstGeom>
        </p:spPr>
      </p:pic>
      <p:pic>
        <p:nvPicPr>
          <p:cNvPr id="161" name="图片 21">
            <a:extLst>
              <a:ext uri="{FF2B5EF4-FFF2-40B4-BE49-F238E27FC236}">
                <a16:creationId xmlns:a16="http://schemas.microsoft.com/office/drawing/2014/main" id="{9F4C51EA-D26D-4512-83AE-A6BA954B96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705611" y="2903043"/>
            <a:ext cx="467490" cy="382800"/>
          </a:xfrm>
          <a:prstGeom prst="rect">
            <a:avLst/>
          </a:prstGeom>
        </p:spPr>
      </p:pic>
      <p:cxnSp>
        <p:nvCxnSpPr>
          <p:cNvPr id="134" name="Straight Connector 133">
            <a:extLst>
              <a:ext uri="{FF2B5EF4-FFF2-40B4-BE49-F238E27FC236}">
                <a16:creationId xmlns:a16="http://schemas.microsoft.com/office/drawing/2014/main" id="{73F37873-8EC6-4D63-8DC7-AF6E9159AA26}"/>
              </a:ext>
            </a:extLst>
          </p:cNvPr>
          <p:cNvCxnSpPr>
            <a:cxnSpLocks/>
            <a:stCxn id="130" idx="1"/>
            <a:endCxn id="115" idx="8"/>
          </p:cNvCxnSpPr>
          <p:nvPr/>
        </p:nvCxnSpPr>
        <p:spPr bwMode="gray">
          <a:xfrm flipH="1">
            <a:off x="7652675" y="2274197"/>
            <a:ext cx="1910724" cy="1237333"/>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53" name="图片 140" descr="通用交换机.png">
            <a:extLst>
              <a:ext uri="{FF2B5EF4-FFF2-40B4-BE49-F238E27FC236}">
                <a16:creationId xmlns:a16="http://schemas.microsoft.com/office/drawing/2014/main" id="{8CC9A649-B2F5-42ED-BA0A-40D56578933A}"/>
              </a:ext>
            </a:extLst>
          </p:cNvPr>
          <p:cNvPicPr>
            <a:picLocks noChangeAspect="1"/>
          </p:cNvPicPr>
          <p:nvPr/>
        </p:nvPicPr>
        <p:blipFill>
          <a:blip r:embed="rId5" cstate="print">
            <a:grayscl/>
          </a:blip>
          <a:stretch>
            <a:fillRect/>
          </a:stretch>
        </p:blipFill>
        <p:spPr bwMode="gray">
          <a:xfrm>
            <a:off x="6754803" y="5331604"/>
            <a:ext cx="473914" cy="387749"/>
          </a:xfrm>
          <a:prstGeom prst="rect">
            <a:avLst/>
          </a:prstGeom>
        </p:spPr>
      </p:pic>
      <p:pic>
        <p:nvPicPr>
          <p:cNvPr id="54" name="图片 73" descr="PC.png">
            <a:extLst>
              <a:ext uri="{FF2B5EF4-FFF2-40B4-BE49-F238E27FC236}">
                <a16:creationId xmlns:a16="http://schemas.microsoft.com/office/drawing/2014/main" id="{278C7158-26E9-4FCB-AF4C-210A49005C30}"/>
              </a:ext>
            </a:extLst>
          </p:cNvPr>
          <p:cNvPicPr>
            <a:picLocks noChangeAspect="1"/>
          </p:cNvPicPr>
          <p:nvPr/>
        </p:nvPicPr>
        <p:blipFill>
          <a:blip r:embed="rId6" cstate="print"/>
          <a:stretch>
            <a:fillRect/>
          </a:stretch>
        </p:blipFill>
        <p:spPr bwMode="gray">
          <a:xfrm>
            <a:off x="7395256" y="5331604"/>
            <a:ext cx="504882" cy="387749"/>
          </a:xfrm>
          <a:prstGeom prst="rect">
            <a:avLst/>
          </a:prstGeom>
        </p:spPr>
      </p:pic>
      <p:cxnSp>
        <p:nvCxnSpPr>
          <p:cNvPr id="55" name="Straight Connector 54">
            <a:extLst>
              <a:ext uri="{FF2B5EF4-FFF2-40B4-BE49-F238E27FC236}">
                <a16:creationId xmlns:a16="http://schemas.microsoft.com/office/drawing/2014/main" id="{675CFBF8-F3D7-4FC7-B220-93BB4210BC89}"/>
              </a:ext>
            </a:extLst>
          </p:cNvPr>
          <p:cNvCxnSpPr>
            <a:cxnSpLocks/>
            <a:stCxn id="54" idx="1"/>
            <a:endCxn id="53" idx="3"/>
          </p:cNvCxnSpPr>
          <p:nvPr/>
        </p:nvCxnSpPr>
        <p:spPr bwMode="gray">
          <a:xfrm flipH="1">
            <a:off x="7228717" y="5525479"/>
            <a:ext cx="166539"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CE841F6-6AF9-498E-B981-4A97DA9AC320}"/>
              </a:ext>
            </a:extLst>
          </p:cNvPr>
          <p:cNvCxnSpPr>
            <a:cxnSpLocks/>
            <a:stCxn id="53" idx="0"/>
            <a:endCxn id="111" idx="2"/>
          </p:cNvCxnSpPr>
          <p:nvPr/>
        </p:nvCxnSpPr>
        <p:spPr bwMode="gray">
          <a:xfrm flipV="1">
            <a:off x="6991760" y="4983294"/>
            <a:ext cx="305" cy="34831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Rectangle: Rounded Corners 63">
            <a:extLst>
              <a:ext uri="{FF2B5EF4-FFF2-40B4-BE49-F238E27FC236}">
                <a16:creationId xmlns:a16="http://schemas.microsoft.com/office/drawing/2014/main" id="{4AB6AB52-A6C5-4C62-9963-F9CF1E19233B}"/>
              </a:ext>
            </a:extLst>
          </p:cNvPr>
          <p:cNvSpPr/>
          <p:nvPr/>
        </p:nvSpPr>
        <p:spPr bwMode="gray">
          <a:xfrm>
            <a:off x="6176016" y="4460755"/>
            <a:ext cx="1787140" cy="1398649"/>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Rounded Corners 64">
            <a:extLst>
              <a:ext uri="{FF2B5EF4-FFF2-40B4-BE49-F238E27FC236}">
                <a16:creationId xmlns:a16="http://schemas.microsoft.com/office/drawing/2014/main" id="{5FB35C9D-DA27-4F62-B6A0-51DC5DB71EAF}"/>
              </a:ext>
            </a:extLst>
          </p:cNvPr>
          <p:cNvSpPr/>
          <p:nvPr/>
        </p:nvSpPr>
        <p:spPr bwMode="gray">
          <a:xfrm>
            <a:off x="6236226" y="5861280"/>
            <a:ext cx="811309" cy="259930"/>
          </a:xfrm>
          <a:prstGeom prst="roundRect">
            <a:avLst>
              <a:gd name="adj" fmla="val 4012"/>
            </a:avLst>
          </a:prstGeom>
          <a:solidFill>
            <a:srgbClr val="56C4D2"/>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分支站点</a:t>
            </a:r>
            <a:endParaRPr lang="en-US" sz="1200" dirty="0"/>
          </a:p>
        </p:txBody>
      </p:sp>
      <p:sp>
        <p:nvSpPr>
          <p:cNvPr id="149" name="Rectangular Callout 26">
            <a:extLst>
              <a:ext uri="{FF2B5EF4-FFF2-40B4-BE49-F238E27FC236}">
                <a16:creationId xmlns:a16="http://schemas.microsoft.com/office/drawing/2014/main" id="{41A1A31F-F972-4004-BA02-847B0F30E5DD}"/>
              </a:ext>
            </a:extLst>
          </p:cNvPr>
          <p:cNvSpPr/>
          <p:nvPr/>
        </p:nvSpPr>
        <p:spPr bwMode="gray">
          <a:xfrm>
            <a:off x="5620728" y="4075708"/>
            <a:ext cx="1074669" cy="419540"/>
          </a:xfrm>
          <a:prstGeom prst="wedgeRectCallout">
            <a:avLst>
              <a:gd name="adj1" fmla="val 72748"/>
              <a:gd name="adj2" fmla="val 4723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WAN</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侧网络设计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Rectangle: Rounded Corners 66">
            <a:extLst>
              <a:ext uri="{FF2B5EF4-FFF2-40B4-BE49-F238E27FC236}">
                <a16:creationId xmlns:a16="http://schemas.microsoft.com/office/drawing/2014/main" id="{434B8A18-5AD2-4391-BAD0-343307584F4C}"/>
              </a:ext>
            </a:extLst>
          </p:cNvPr>
          <p:cNvSpPr/>
          <p:nvPr/>
        </p:nvSpPr>
        <p:spPr bwMode="gray">
          <a:xfrm>
            <a:off x="8028520" y="4468403"/>
            <a:ext cx="1945868" cy="1398649"/>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Rounded Corners 67">
            <a:extLst>
              <a:ext uri="{FF2B5EF4-FFF2-40B4-BE49-F238E27FC236}">
                <a16:creationId xmlns:a16="http://schemas.microsoft.com/office/drawing/2014/main" id="{A1269869-E772-4805-AE96-896F0998FD48}"/>
              </a:ext>
            </a:extLst>
          </p:cNvPr>
          <p:cNvSpPr/>
          <p:nvPr/>
        </p:nvSpPr>
        <p:spPr bwMode="gray">
          <a:xfrm>
            <a:off x="8088730" y="5868928"/>
            <a:ext cx="837616" cy="259930"/>
          </a:xfrm>
          <a:prstGeom prst="roundRect">
            <a:avLst>
              <a:gd name="adj" fmla="val 4012"/>
            </a:avLst>
          </a:prstGeom>
          <a:solidFill>
            <a:srgbClr val="56C4D2"/>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分支站点</a:t>
            </a:r>
            <a:endParaRPr lang="en-US" sz="1200" dirty="0"/>
          </a:p>
        </p:txBody>
      </p:sp>
      <p:sp>
        <p:nvSpPr>
          <p:cNvPr id="150" name="Rectangular Callout 26">
            <a:extLst>
              <a:ext uri="{FF2B5EF4-FFF2-40B4-BE49-F238E27FC236}">
                <a16:creationId xmlns:a16="http://schemas.microsoft.com/office/drawing/2014/main" id="{E99F49C9-35C5-4BAD-94EA-BF631E1F8A03}"/>
              </a:ext>
            </a:extLst>
          </p:cNvPr>
          <p:cNvSpPr/>
          <p:nvPr/>
        </p:nvSpPr>
        <p:spPr bwMode="gray">
          <a:xfrm>
            <a:off x="9436775" y="4086293"/>
            <a:ext cx="797015" cy="454638"/>
          </a:xfrm>
          <a:prstGeom prst="wedgeRectCallout">
            <a:avLst>
              <a:gd name="adj1" fmla="val -102267"/>
              <a:gd name="adj2" fmla="val 8633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双</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CPE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互联设计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9" name="图片 140" descr="通用交换机.png">
            <a:extLst>
              <a:ext uri="{FF2B5EF4-FFF2-40B4-BE49-F238E27FC236}">
                <a16:creationId xmlns:a16="http://schemas.microsoft.com/office/drawing/2014/main" id="{9CE99499-0BF2-47DF-8EC1-9486A96F08CB}"/>
              </a:ext>
            </a:extLst>
          </p:cNvPr>
          <p:cNvPicPr>
            <a:picLocks noChangeAspect="1"/>
          </p:cNvPicPr>
          <p:nvPr/>
        </p:nvPicPr>
        <p:blipFill>
          <a:blip r:embed="rId5" cstate="print">
            <a:grayscl/>
          </a:blip>
          <a:stretch>
            <a:fillRect/>
          </a:stretch>
        </p:blipFill>
        <p:spPr bwMode="gray">
          <a:xfrm>
            <a:off x="8753302" y="5325458"/>
            <a:ext cx="473914" cy="387749"/>
          </a:xfrm>
          <a:prstGeom prst="rect">
            <a:avLst/>
          </a:prstGeom>
        </p:spPr>
      </p:pic>
      <p:cxnSp>
        <p:nvCxnSpPr>
          <p:cNvPr id="70" name="Straight Connector 69">
            <a:extLst>
              <a:ext uri="{FF2B5EF4-FFF2-40B4-BE49-F238E27FC236}">
                <a16:creationId xmlns:a16="http://schemas.microsoft.com/office/drawing/2014/main" id="{F4B139F9-CB49-48B1-A04C-29884431CD77}"/>
              </a:ext>
            </a:extLst>
          </p:cNvPr>
          <p:cNvCxnSpPr>
            <a:cxnSpLocks/>
            <a:stCxn id="69" idx="0"/>
            <a:endCxn id="123" idx="2"/>
          </p:cNvCxnSpPr>
          <p:nvPr/>
        </p:nvCxnSpPr>
        <p:spPr bwMode="gray">
          <a:xfrm flipH="1" flipV="1">
            <a:off x="8652822" y="4994906"/>
            <a:ext cx="337437" cy="33055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186AF48-ED63-448E-A18D-B336C6C54E5F}"/>
              </a:ext>
            </a:extLst>
          </p:cNvPr>
          <p:cNvCxnSpPr>
            <a:cxnSpLocks/>
            <a:stCxn id="69" idx="0"/>
            <a:endCxn id="124" idx="2"/>
          </p:cNvCxnSpPr>
          <p:nvPr/>
        </p:nvCxnSpPr>
        <p:spPr bwMode="gray">
          <a:xfrm flipV="1">
            <a:off x="8990259" y="4995968"/>
            <a:ext cx="350020" cy="32949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6" name="图片 73" descr="PC.png">
            <a:extLst>
              <a:ext uri="{FF2B5EF4-FFF2-40B4-BE49-F238E27FC236}">
                <a16:creationId xmlns:a16="http://schemas.microsoft.com/office/drawing/2014/main" id="{B8A09102-9456-4195-8629-231B29A9D58B}"/>
              </a:ext>
            </a:extLst>
          </p:cNvPr>
          <p:cNvPicPr>
            <a:picLocks noChangeAspect="1"/>
          </p:cNvPicPr>
          <p:nvPr/>
        </p:nvPicPr>
        <p:blipFill>
          <a:blip r:embed="rId6" cstate="print"/>
          <a:stretch>
            <a:fillRect/>
          </a:stretch>
        </p:blipFill>
        <p:spPr bwMode="gray">
          <a:xfrm>
            <a:off x="9393318" y="5327810"/>
            <a:ext cx="504882" cy="387749"/>
          </a:xfrm>
          <a:prstGeom prst="rect">
            <a:avLst/>
          </a:prstGeom>
        </p:spPr>
      </p:pic>
      <p:cxnSp>
        <p:nvCxnSpPr>
          <p:cNvPr id="77" name="Straight Connector 76">
            <a:extLst>
              <a:ext uri="{FF2B5EF4-FFF2-40B4-BE49-F238E27FC236}">
                <a16:creationId xmlns:a16="http://schemas.microsoft.com/office/drawing/2014/main" id="{B9718E2B-D71C-4FA8-81A2-F89D727FCE9B}"/>
              </a:ext>
            </a:extLst>
          </p:cNvPr>
          <p:cNvCxnSpPr>
            <a:cxnSpLocks/>
            <a:stCxn id="76" idx="1"/>
            <a:endCxn id="69" idx="3"/>
          </p:cNvCxnSpPr>
          <p:nvPr/>
        </p:nvCxnSpPr>
        <p:spPr bwMode="gray">
          <a:xfrm flipH="1" flipV="1">
            <a:off x="9227216" y="5519333"/>
            <a:ext cx="166102" cy="235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Rectangular Callout 26">
            <a:extLst>
              <a:ext uri="{FF2B5EF4-FFF2-40B4-BE49-F238E27FC236}">
                <a16:creationId xmlns:a16="http://schemas.microsoft.com/office/drawing/2014/main" id="{93E2AC60-03A4-4F75-A9D3-EEE5A5AC064C}"/>
              </a:ext>
            </a:extLst>
          </p:cNvPr>
          <p:cNvSpPr/>
          <p:nvPr/>
        </p:nvSpPr>
        <p:spPr bwMode="gray">
          <a:xfrm>
            <a:off x="5635825" y="5034112"/>
            <a:ext cx="1074669" cy="419540"/>
          </a:xfrm>
          <a:prstGeom prst="wedgeRectCallout">
            <a:avLst>
              <a:gd name="adj1" fmla="val 68173"/>
              <a:gd name="adj2" fmla="val -1838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LAN</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侧网络设计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765988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Freeform 159">
            <a:extLst>
              <a:ext uri="{FF2B5EF4-FFF2-40B4-BE49-F238E27FC236}">
                <a16:creationId xmlns:a16="http://schemas.microsoft.com/office/drawing/2014/main" id="{0CAAC971-7A6A-42F3-8B69-2CC1ABA22A20}"/>
              </a:ext>
            </a:extLst>
          </p:cNvPr>
          <p:cNvSpPr/>
          <p:nvPr/>
        </p:nvSpPr>
        <p:spPr bwMode="gray">
          <a:xfrm flipH="1">
            <a:off x="1754199" y="5309546"/>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企业内网</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Freeform 159">
            <a:extLst>
              <a:ext uri="{FF2B5EF4-FFF2-40B4-BE49-F238E27FC236}">
                <a16:creationId xmlns:a16="http://schemas.microsoft.com/office/drawing/2014/main" id="{01C4928C-A6E7-49F2-B042-9D16C8FB6680}"/>
              </a:ext>
            </a:extLst>
          </p:cNvPr>
          <p:cNvSpPr/>
          <p:nvPr/>
        </p:nvSpPr>
        <p:spPr bwMode="gray">
          <a:xfrm flipH="1">
            <a:off x="3843421" y="5309546"/>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企业内网</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Freeform 159">
            <a:extLst>
              <a:ext uri="{FF2B5EF4-FFF2-40B4-BE49-F238E27FC236}">
                <a16:creationId xmlns:a16="http://schemas.microsoft.com/office/drawing/2014/main" id="{5642D043-85DB-4A5F-A31C-FE0ECC6278E0}"/>
              </a:ext>
            </a:extLst>
          </p:cNvPr>
          <p:cNvSpPr/>
          <p:nvPr/>
        </p:nvSpPr>
        <p:spPr bwMode="gray">
          <a:xfrm flipH="1">
            <a:off x="5958647" y="5309546"/>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企业内网</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Freeform 159">
            <a:extLst>
              <a:ext uri="{FF2B5EF4-FFF2-40B4-BE49-F238E27FC236}">
                <a16:creationId xmlns:a16="http://schemas.microsoft.com/office/drawing/2014/main" id="{F3DDD40D-2777-4013-B874-946597AAD652}"/>
              </a:ext>
            </a:extLst>
          </p:cNvPr>
          <p:cNvSpPr/>
          <p:nvPr/>
        </p:nvSpPr>
        <p:spPr bwMode="gray">
          <a:xfrm flipH="1">
            <a:off x="8700453" y="5338121"/>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企业内网</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159">
            <a:extLst>
              <a:ext uri="{FF2B5EF4-FFF2-40B4-BE49-F238E27FC236}">
                <a16:creationId xmlns:a16="http://schemas.microsoft.com/office/drawing/2014/main" id="{7B901E6F-BE65-4A8C-B5EB-73EBDE951356}"/>
              </a:ext>
            </a:extLst>
          </p:cNvPr>
          <p:cNvSpPr/>
          <p:nvPr/>
        </p:nvSpPr>
        <p:spPr bwMode="gray">
          <a:xfrm flipH="1">
            <a:off x="8139292" y="2812433"/>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企业内网</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Freeform 159">
            <a:extLst>
              <a:ext uri="{FF2B5EF4-FFF2-40B4-BE49-F238E27FC236}">
                <a16:creationId xmlns:a16="http://schemas.microsoft.com/office/drawing/2014/main" id="{9FB50E5A-77EA-4362-9982-B066DFE5D7B2}"/>
              </a:ext>
            </a:extLst>
          </p:cNvPr>
          <p:cNvSpPr/>
          <p:nvPr/>
        </p:nvSpPr>
        <p:spPr bwMode="gray">
          <a:xfrm flipH="1">
            <a:off x="4673260" y="2783858"/>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企业内网</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Freeform 159">
            <a:extLst>
              <a:ext uri="{FF2B5EF4-FFF2-40B4-BE49-F238E27FC236}">
                <a16:creationId xmlns:a16="http://schemas.microsoft.com/office/drawing/2014/main" id="{A4C2BA96-FD04-4EE2-A42D-6F5686BE51F0}"/>
              </a:ext>
            </a:extLst>
          </p:cNvPr>
          <p:cNvSpPr/>
          <p:nvPr/>
        </p:nvSpPr>
        <p:spPr bwMode="gray">
          <a:xfrm flipH="1">
            <a:off x="1761617" y="2783693"/>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企业内网</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en-US" dirty="0"/>
              <a:t>WAN</a:t>
            </a:r>
            <a:r>
              <a:rPr lang="zh-CN" altLang="en-US" dirty="0"/>
              <a:t>侧网络组网模型</a:t>
            </a:r>
            <a:endParaRPr lang="en-US" dirty="0"/>
          </a:p>
        </p:txBody>
      </p:sp>
      <p:sp>
        <p:nvSpPr>
          <p:cNvPr id="6" name="五边形 2">
            <a:extLst>
              <a:ext uri="{FF2B5EF4-FFF2-40B4-BE49-F238E27FC236}">
                <a16:creationId xmlns:a16="http://schemas.microsoft.com/office/drawing/2014/main" id="{EE70B2CB-6DF6-45DD-8C9F-892B95D45942}"/>
              </a:ext>
            </a:extLst>
          </p:cNvPr>
          <p:cNvSpPr/>
          <p:nvPr/>
        </p:nvSpPr>
        <p:spPr bwMode="gray">
          <a:xfrm>
            <a:off x="7742323" y="121856"/>
            <a:ext cx="142606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侧网络设计</a:t>
            </a:r>
          </a:p>
        </p:txBody>
      </p:sp>
      <p:sp>
        <p:nvSpPr>
          <p:cNvPr id="10" name="圆角矩形 75">
            <a:extLst>
              <a:ext uri="{FF2B5EF4-FFF2-40B4-BE49-F238E27FC236}">
                <a16:creationId xmlns:a16="http://schemas.microsoft.com/office/drawing/2014/main" id="{E172460B-7D40-4D80-AD71-2674E05B6474}"/>
              </a:ext>
            </a:extLst>
          </p:cNvPr>
          <p:cNvSpPr/>
          <p:nvPr/>
        </p:nvSpPr>
        <p:spPr bwMode="gray">
          <a:xfrm>
            <a:off x="1265238" y="1083686"/>
            <a:ext cx="9669463"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 站点</a:t>
            </a:r>
            <a:r>
              <a:rPr lang="zh-CN" altLang="en-US" sz="1600" dirty="0">
                <a:solidFill>
                  <a:srgbClr val="30B5C5"/>
                </a:solidFill>
                <a:latin typeface="Huawei Sans" panose="020C0503030203020204" pitchFamily="34" charset="0"/>
                <a:ea typeface="方正兰亭黑简体" panose="02000000000000000000" pitchFamily="2" charset="-122"/>
              </a:rPr>
              <a:t>单设备组网</a:t>
            </a:r>
          </a:p>
        </p:txBody>
      </p:sp>
      <p:sp>
        <p:nvSpPr>
          <p:cNvPr id="11" name="圆角矩形 75">
            <a:extLst>
              <a:ext uri="{FF2B5EF4-FFF2-40B4-BE49-F238E27FC236}">
                <a16:creationId xmlns:a16="http://schemas.microsoft.com/office/drawing/2014/main" id="{410A1BCC-BE55-40A7-8700-4E23E9453CFE}"/>
              </a:ext>
            </a:extLst>
          </p:cNvPr>
          <p:cNvSpPr/>
          <p:nvPr/>
        </p:nvSpPr>
        <p:spPr bwMode="gray">
          <a:xfrm>
            <a:off x="1265238" y="1523463"/>
            <a:ext cx="9669463" cy="199310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4" name="直接连接符 63">
            <a:extLst>
              <a:ext uri="{FF2B5EF4-FFF2-40B4-BE49-F238E27FC236}">
                <a16:creationId xmlns:a16="http://schemas.microsoft.com/office/drawing/2014/main" id="{2B2BA825-4EA7-454E-A8BA-8F4CA93F4B9A}"/>
              </a:ext>
            </a:extLst>
          </p:cNvPr>
          <p:cNvCxnSpPr>
            <a:cxnSpLocks/>
            <a:endCxn id="15" idx="0"/>
          </p:cNvCxnSpPr>
          <p:nvPr/>
        </p:nvCxnSpPr>
        <p:spPr bwMode="gray">
          <a:xfrm>
            <a:off x="2320660" y="2206818"/>
            <a:ext cx="0" cy="3157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图片 64">
            <a:extLst>
              <a:ext uri="{FF2B5EF4-FFF2-40B4-BE49-F238E27FC236}">
                <a16:creationId xmlns:a16="http://schemas.microsoft.com/office/drawing/2014/main" id="{5E5FB5E4-0986-4FD7-97FD-E8382DA7A8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075205" y="2522610"/>
            <a:ext cx="490909" cy="402545"/>
          </a:xfrm>
          <a:prstGeom prst="rect">
            <a:avLst/>
          </a:prstGeom>
        </p:spPr>
      </p:pic>
      <p:cxnSp>
        <p:nvCxnSpPr>
          <p:cNvPr id="18" name="直接连接符 80">
            <a:extLst>
              <a:ext uri="{FF2B5EF4-FFF2-40B4-BE49-F238E27FC236}">
                <a16:creationId xmlns:a16="http://schemas.microsoft.com/office/drawing/2014/main" id="{DA7F104A-4136-4A35-AF39-C53A45C95322}"/>
              </a:ext>
            </a:extLst>
          </p:cNvPr>
          <p:cNvCxnSpPr>
            <a:cxnSpLocks/>
            <a:endCxn id="19" idx="0"/>
          </p:cNvCxnSpPr>
          <p:nvPr/>
        </p:nvCxnSpPr>
        <p:spPr bwMode="gray">
          <a:xfrm>
            <a:off x="4699326" y="2222629"/>
            <a:ext cx="536084" cy="2714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图片 81">
            <a:extLst>
              <a:ext uri="{FF2B5EF4-FFF2-40B4-BE49-F238E27FC236}">
                <a16:creationId xmlns:a16="http://schemas.microsoft.com/office/drawing/2014/main" id="{ADB2426C-95A4-48FF-8538-5D9400A51B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989955" y="2494035"/>
            <a:ext cx="490909" cy="402545"/>
          </a:xfrm>
          <a:prstGeom prst="rect">
            <a:avLst/>
          </a:prstGeom>
        </p:spPr>
      </p:pic>
      <p:cxnSp>
        <p:nvCxnSpPr>
          <p:cNvPr id="20" name="直接连接符 84">
            <a:extLst>
              <a:ext uri="{FF2B5EF4-FFF2-40B4-BE49-F238E27FC236}">
                <a16:creationId xmlns:a16="http://schemas.microsoft.com/office/drawing/2014/main" id="{6F6A6364-D8E9-4ABF-BDCE-E7A7996847A5}"/>
              </a:ext>
            </a:extLst>
          </p:cNvPr>
          <p:cNvCxnSpPr>
            <a:cxnSpLocks/>
            <a:endCxn id="19" idx="0"/>
          </p:cNvCxnSpPr>
          <p:nvPr/>
        </p:nvCxnSpPr>
        <p:spPr bwMode="gray">
          <a:xfrm flipH="1">
            <a:off x="5235410" y="2232876"/>
            <a:ext cx="512621" cy="2611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87">
            <a:extLst>
              <a:ext uri="{FF2B5EF4-FFF2-40B4-BE49-F238E27FC236}">
                <a16:creationId xmlns:a16="http://schemas.microsoft.com/office/drawing/2014/main" id="{8C378901-D2A1-4B36-B555-40283DFC0DAE}"/>
              </a:ext>
            </a:extLst>
          </p:cNvPr>
          <p:cNvCxnSpPr>
            <a:endCxn id="24" idx="0"/>
          </p:cNvCxnSpPr>
          <p:nvPr/>
        </p:nvCxnSpPr>
        <p:spPr bwMode="gray">
          <a:xfrm>
            <a:off x="7584653" y="2218984"/>
            <a:ext cx="1109279" cy="3550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图片 88">
            <a:extLst>
              <a:ext uri="{FF2B5EF4-FFF2-40B4-BE49-F238E27FC236}">
                <a16:creationId xmlns:a16="http://schemas.microsoft.com/office/drawing/2014/main" id="{11C4ACC6-F15A-4793-9CB7-A877F3543E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448477" y="2574062"/>
            <a:ext cx="490909" cy="402545"/>
          </a:xfrm>
          <a:prstGeom prst="rect">
            <a:avLst/>
          </a:prstGeom>
        </p:spPr>
      </p:pic>
      <p:cxnSp>
        <p:nvCxnSpPr>
          <p:cNvPr id="25" name="直接连接符 92">
            <a:extLst>
              <a:ext uri="{FF2B5EF4-FFF2-40B4-BE49-F238E27FC236}">
                <a16:creationId xmlns:a16="http://schemas.microsoft.com/office/drawing/2014/main" id="{95377746-A177-4C65-B273-69547BDAA6A2}"/>
              </a:ext>
            </a:extLst>
          </p:cNvPr>
          <p:cNvCxnSpPr>
            <a:cxnSpLocks/>
            <a:endCxn id="24" idx="0"/>
          </p:cNvCxnSpPr>
          <p:nvPr/>
        </p:nvCxnSpPr>
        <p:spPr bwMode="gray">
          <a:xfrm>
            <a:off x="8693931" y="2228707"/>
            <a:ext cx="1" cy="3453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94">
            <a:extLst>
              <a:ext uri="{FF2B5EF4-FFF2-40B4-BE49-F238E27FC236}">
                <a16:creationId xmlns:a16="http://schemas.microsoft.com/office/drawing/2014/main" id="{BB690CC9-472E-4720-AE3F-8387271DDDAA}"/>
              </a:ext>
            </a:extLst>
          </p:cNvPr>
          <p:cNvCxnSpPr>
            <a:cxnSpLocks/>
            <a:endCxn id="24" idx="0"/>
          </p:cNvCxnSpPr>
          <p:nvPr/>
        </p:nvCxnSpPr>
        <p:spPr bwMode="gray">
          <a:xfrm flipH="1">
            <a:off x="8693932" y="2220902"/>
            <a:ext cx="1076874" cy="35316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204">
            <a:extLst>
              <a:ext uri="{FF2B5EF4-FFF2-40B4-BE49-F238E27FC236}">
                <a16:creationId xmlns:a16="http://schemas.microsoft.com/office/drawing/2014/main" id="{CDAB6814-3F58-4929-BBE3-E5469E27B4E3}"/>
              </a:ext>
            </a:extLst>
          </p:cNvPr>
          <p:cNvCxnSpPr>
            <a:cxnSpLocks/>
            <a:endCxn id="60" idx="0"/>
          </p:cNvCxnSpPr>
          <p:nvPr/>
        </p:nvCxnSpPr>
        <p:spPr bwMode="gray">
          <a:xfrm>
            <a:off x="1856851" y="4774761"/>
            <a:ext cx="197168" cy="2755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0" name="图片 205">
            <a:extLst>
              <a:ext uri="{FF2B5EF4-FFF2-40B4-BE49-F238E27FC236}">
                <a16:creationId xmlns:a16="http://schemas.microsoft.com/office/drawing/2014/main" id="{12067AF5-48B5-490A-B5E6-4709D00CC2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808564" y="5050288"/>
            <a:ext cx="490909" cy="402545"/>
          </a:xfrm>
          <a:prstGeom prst="rect">
            <a:avLst/>
          </a:prstGeom>
        </p:spPr>
      </p:pic>
      <p:pic>
        <p:nvPicPr>
          <p:cNvPr id="61" name="图片 206">
            <a:extLst>
              <a:ext uri="{FF2B5EF4-FFF2-40B4-BE49-F238E27FC236}">
                <a16:creationId xmlns:a16="http://schemas.microsoft.com/office/drawing/2014/main" id="{19E8FF82-4F74-43BC-964B-47175BD84F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371162" y="5050288"/>
            <a:ext cx="490909" cy="402545"/>
          </a:xfrm>
          <a:prstGeom prst="rect">
            <a:avLst/>
          </a:prstGeom>
        </p:spPr>
      </p:pic>
      <p:cxnSp>
        <p:nvCxnSpPr>
          <p:cNvPr id="62" name="直接连接符 207">
            <a:extLst>
              <a:ext uri="{FF2B5EF4-FFF2-40B4-BE49-F238E27FC236}">
                <a16:creationId xmlns:a16="http://schemas.microsoft.com/office/drawing/2014/main" id="{6DF23890-B982-46A7-9DFD-1F5AF3064D79}"/>
              </a:ext>
            </a:extLst>
          </p:cNvPr>
          <p:cNvCxnSpPr>
            <a:stCxn id="61" idx="1"/>
            <a:endCxn id="60" idx="3"/>
          </p:cNvCxnSpPr>
          <p:nvPr/>
        </p:nvCxnSpPr>
        <p:spPr bwMode="gray">
          <a:xfrm flipH="1">
            <a:off x="2299473" y="5251561"/>
            <a:ext cx="716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208">
            <a:extLst>
              <a:ext uri="{FF2B5EF4-FFF2-40B4-BE49-F238E27FC236}">
                <a16:creationId xmlns:a16="http://schemas.microsoft.com/office/drawing/2014/main" id="{FDE5C5D6-C5D4-40CE-BCBE-79DADD58CF29}"/>
              </a:ext>
            </a:extLst>
          </p:cNvPr>
          <p:cNvCxnSpPr>
            <a:cxnSpLocks/>
            <a:endCxn id="61" idx="0"/>
          </p:cNvCxnSpPr>
          <p:nvPr/>
        </p:nvCxnSpPr>
        <p:spPr bwMode="gray">
          <a:xfrm flipH="1">
            <a:off x="2616617" y="4783494"/>
            <a:ext cx="225485" cy="266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211">
            <a:extLst>
              <a:ext uri="{FF2B5EF4-FFF2-40B4-BE49-F238E27FC236}">
                <a16:creationId xmlns:a16="http://schemas.microsoft.com/office/drawing/2014/main" id="{03B0EA66-2671-4358-8486-E08773E60D04}"/>
              </a:ext>
            </a:extLst>
          </p:cNvPr>
          <p:cNvCxnSpPr>
            <a:cxnSpLocks/>
            <a:endCxn id="67" idx="0"/>
          </p:cNvCxnSpPr>
          <p:nvPr/>
        </p:nvCxnSpPr>
        <p:spPr bwMode="gray">
          <a:xfrm>
            <a:off x="3913837" y="4763739"/>
            <a:ext cx="217606" cy="2865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7" name="图片 212">
            <a:extLst>
              <a:ext uri="{FF2B5EF4-FFF2-40B4-BE49-F238E27FC236}">
                <a16:creationId xmlns:a16="http://schemas.microsoft.com/office/drawing/2014/main" id="{5467D3B0-0FFB-4267-A1FE-7A2EC26777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885988" y="5050288"/>
            <a:ext cx="490909" cy="402545"/>
          </a:xfrm>
          <a:prstGeom prst="rect">
            <a:avLst/>
          </a:prstGeom>
        </p:spPr>
      </p:pic>
      <p:pic>
        <p:nvPicPr>
          <p:cNvPr id="68" name="图片 213">
            <a:extLst>
              <a:ext uri="{FF2B5EF4-FFF2-40B4-BE49-F238E27FC236}">
                <a16:creationId xmlns:a16="http://schemas.microsoft.com/office/drawing/2014/main" id="{3410B3E0-F2C5-44F1-9508-15DEDE2A77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448586" y="5050288"/>
            <a:ext cx="490909" cy="402545"/>
          </a:xfrm>
          <a:prstGeom prst="rect">
            <a:avLst/>
          </a:prstGeom>
        </p:spPr>
      </p:pic>
      <p:cxnSp>
        <p:nvCxnSpPr>
          <p:cNvPr id="69" name="直接连接符 214">
            <a:extLst>
              <a:ext uri="{FF2B5EF4-FFF2-40B4-BE49-F238E27FC236}">
                <a16:creationId xmlns:a16="http://schemas.microsoft.com/office/drawing/2014/main" id="{974F364A-60B4-448B-B044-5FCAE94D8F91}"/>
              </a:ext>
            </a:extLst>
          </p:cNvPr>
          <p:cNvCxnSpPr>
            <a:stCxn id="68" idx="1"/>
            <a:endCxn id="67" idx="3"/>
          </p:cNvCxnSpPr>
          <p:nvPr/>
        </p:nvCxnSpPr>
        <p:spPr bwMode="gray">
          <a:xfrm flipH="1">
            <a:off x="4376897" y="5251561"/>
            <a:ext cx="716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215">
            <a:extLst>
              <a:ext uri="{FF2B5EF4-FFF2-40B4-BE49-F238E27FC236}">
                <a16:creationId xmlns:a16="http://schemas.microsoft.com/office/drawing/2014/main" id="{37E742C2-952C-41D2-895A-68F53674C7CD}"/>
              </a:ext>
            </a:extLst>
          </p:cNvPr>
          <p:cNvCxnSpPr>
            <a:cxnSpLocks/>
            <a:endCxn id="68" idx="0"/>
          </p:cNvCxnSpPr>
          <p:nvPr/>
        </p:nvCxnSpPr>
        <p:spPr bwMode="gray">
          <a:xfrm flipH="1">
            <a:off x="4694041" y="4772433"/>
            <a:ext cx="243025" cy="2778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216">
            <a:extLst>
              <a:ext uri="{FF2B5EF4-FFF2-40B4-BE49-F238E27FC236}">
                <a16:creationId xmlns:a16="http://schemas.microsoft.com/office/drawing/2014/main" id="{14D19BBF-6CB0-4991-AE37-5943350D08FB}"/>
              </a:ext>
            </a:extLst>
          </p:cNvPr>
          <p:cNvCxnSpPr>
            <a:cxnSpLocks/>
            <a:endCxn id="67" idx="0"/>
          </p:cNvCxnSpPr>
          <p:nvPr/>
        </p:nvCxnSpPr>
        <p:spPr bwMode="gray">
          <a:xfrm flipH="1">
            <a:off x="4131443" y="4772433"/>
            <a:ext cx="805623" cy="2778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219">
            <a:extLst>
              <a:ext uri="{FF2B5EF4-FFF2-40B4-BE49-F238E27FC236}">
                <a16:creationId xmlns:a16="http://schemas.microsoft.com/office/drawing/2014/main" id="{8CDBB47D-004A-4503-AF3E-18A83ECFA0CD}"/>
              </a:ext>
            </a:extLst>
          </p:cNvPr>
          <p:cNvCxnSpPr>
            <a:cxnSpLocks/>
            <a:endCxn id="75" idx="0"/>
          </p:cNvCxnSpPr>
          <p:nvPr/>
        </p:nvCxnSpPr>
        <p:spPr bwMode="gray">
          <a:xfrm>
            <a:off x="6036556" y="4768946"/>
            <a:ext cx="241470" cy="2813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图片 220">
            <a:extLst>
              <a:ext uri="{FF2B5EF4-FFF2-40B4-BE49-F238E27FC236}">
                <a16:creationId xmlns:a16="http://schemas.microsoft.com/office/drawing/2014/main" id="{462BCA23-0E65-4D4F-A6A4-173F624F8F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032571" y="5050288"/>
            <a:ext cx="490909" cy="402545"/>
          </a:xfrm>
          <a:prstGeom prst="rect">
            <a:avLst/>
          </a:prstGeom>
        </p:spPr>
      </p:pic>
      <p:pic>
        <p:nvPicPr>
          <p:cNvPr id="76" name="图片 221">
            <a:extLst>
              <a:ext uri="{FF2B5EF4-FFF2-40B4-BE49-F238E27FC236}">
                <a16:creationId xmlns:a16="http://schemas.microsoft.com/office/drawing/2014/main" id="{865FD099-2DD5-4FDF-945C-1F5B024552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595169" y="5050288"/>
            <a:ext cx="490909" cy="402545"/>
          </a:xfrm>
          <a:prstGeom prst="rect">
            <a:avLst/>
          </a:prstGeom>
        </p:spPr>
      </p:pic>
      <p:cxnSp>
        <p:nvCxnSpPr>
          <p:cNvPr id="77" name="直接连接符 222">
            <a:extLst>
              <a:ext uri="{FF2B5EF4-FFF2-40B4-BE49-F238E27FC236}">
                <a16:creationId xmlns:a16="http://schemas.microsoft.com/office/drawing/2014/main" id="{6FC535EF-981A-49B5-AD58-8C51F83B3E2A}"/>
              </a:ext>
            </a:extLst>
          </p:cNvPr>
          <p:cNvCxnSpPr>
            <a:stCxn id="76" idx="1"/>
            <a:endCxn id="75" idx="3"/>
          </p:cNvCxnSpPr>
          <p:nvPr/>
        </p:nvCxnSpPr>
        <p:spPr bwMode="gray">
          <a:xfrm flipH="1">
            <a:off x="6523480" y="5251561"/>
            <a:ext cx="716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223">
            <a:extLst>
              <a:ext uri="{FF2B5EF4-FFF2-40B4-BE49-F238E27FC236}">
                <a16:creationId xmlns:a16="http://schemas.microsoft.com/office/drawing/2014/main" id="{60C09188-B640-4670-9DDB-79C388B8321D}"/>
              </a:ext>
            </a:extLst>
          </p:cNvPr>
          <p:cNvCxnSpPr>
            <a:cxnSpLocks/>
            <a:endCxn id="76" idx="0"/>
          </p:cNvCxnSpPr>
          <p:nvPr/>
        </p:nvCxnSpPr>
        <p:spPr bwMode="gray">
          <a:xfrm flipH="1">
            <a:off x="6840624" y="4777726"/>
            <a:ext cx="220810" cy="2725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224">
            <a:extLst>
              <a:ext uri="{FF2B5EF4-FFF2-40B4-BE49-F238E27FC236}">
                <a16:creationId xmlns:a16="http://schemas.microsoft.com/office/drawing/2014/main" id="{7075D316-40DF-4356-9708-916C46315F89}"/>
              </a:ext>
            </a:extLst>
          </p:cNvPr>
          <p:cNvCxnSpPr>
            <a:cxnSpLocks/>
            <a:endCxn id="75" idx="0"/>
          </p:cNvCxnSpPr>
          <p:nvPr/>
        </p:nvCxnSpPr>
        <p:spPr bwMode="gray">
          <a:xfrm flipH="1">
            <a:off x="6278026" y="4777726"/>
            <a:ext cx="783408" cy="2725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225">
            <a:extLst>
              <a:ext uri="{FF2B5EF4-FFF2-40B4-BE49-F238E27FC236}">
                <a16:creationId xmlns:a16="http://schemas.microsoft.com/office/drawing/2014/main" id="{BC9C3BD7-71F2-4267-890B-E471804949BF}"/>
              </a:ext>
            </a:extLst>
          </p:cNvPr>
          <p:cNvCxnSpPr>
            <a:cxnSpLocks/>
            <a:endCxn id="76" idx="0"/>
          </p:cNvCxnSpPr>
          <p:nvPr/>
        </p:nvCxnSpPr>
        <p:spPr bwMode="gray">
          <a:xfrm>
            <a:off x="6036556" y="4768946"/>
            <a:ext cx="804068" cy="2813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230">
            <a:extLst>
              <a:ext uri="{FF2B5EF4-FFF2-40B4-BE49-F238E27FC236}">
                <a16:creationId xmlns:a16="http://schemas.microsoft.com/office/drawing/2014/main" id="{0B9D96EF-67A3-4EBF-8D3F-5989116B8F6D}"/>
              </a:ext>
            </a:extLst>
          </p:cNvPr>
          <p:cNvCxnSpPr>
            <a:cxnSpLocks/>
            <a:endCxn id="84" idx="0"/>
          </p:cNvCxnSpPr>
          <p:nvPr/>
        </p:nvCxnSpPr>
        <p:spPr bwMode="gray">
          <a:xfrm>
            <a:off x="8251827" y="4760064"/>
            <a:ext cx="765321" cy="3135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4" name="图片 231">
            <a:extLst>
              <a:ext uri="{FF2B5EF4-FFF2-40B4-BE49-F238E27FC236}">
                <a16:creationId xmlns:a16="http://schemas.microsoft.com/office/drawing/2014/main" id="{E656B372-3891-40E3-8B60-0FF656DB92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71693" y="5073656"/>
            <a:ext cx="490909" cy="402545"/>
          </a:xfrm>
          <a:prstGeom prst="rect">
            <a:avLst/>
          </a:prstGeom>
        </p:spPr>
      </p:pic>
      <p:pic>
        <p:nvPicPr>
          <p:cNvPr id="85" name="图片 232">
            <a:extLst>
              <a:ext uri="{FF2B5EF4-FFF2-40B4-BE49-F238E27FC236}">
                <a16:creationId xmlns:a16="http://schemas.microsoft.com/office/drawing/2014/main" id="{3817F1A6-E5CF-4B25-9CE9-1BF2249ACF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334291" y="5073656"/>
            <a:ext cx="490909" cy="402545"/>
          </a:xfrm>
          <a:prstGeom prst="rect">
            <a:avLst/>
          </a:prstGeom>
        </p:spPr>
      </p:pic>
      <p:cxnSp>
        <p:nvCxnSpPr>
          <p:cNvPr id="86" name="直接连接符 233">
            <a:extLst>
              <a:ext uri="{FF2B5EF4-FFF2-40B4-BE49-F238E27FC236}">
                <a16:creationId xmlns:a16="http://schemas.microsoft.com/office/drawing/2014/main" id="{903C0FFC-DDA4-4F35-807E-05B5AC91309E}"/>
              </a:ext>
            </a:extLst>
          </p:cNvPr>
          <p:cNvCxnSpPr>
            <a:stCxn id="85" idx="1"/>
            <a:endCxn id="84" idx="3"/>
          </p:cNvCxnSpPr>
          <p:nvPr/>
        </p:nvCxnSpPr>
        <p:spPr bwMode="gray">
          <a:xfrm flipH="1">
            <a:off x="9262602" y="5274929"/>
            <a:ext cx="716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234">
            <a:extLst>
              <a:ext uri="{FF2B5EF4-FFF2-40B4-BE49-F238E27FC236}">
                <a16:creationId xmlns:a16="http://schemas.microsoft.com/office/drawing/2014/main" id="{A1DEAD33-1A5B-4AEA-AA1D-4F2F40DD8274}"/>
              </a:ext>
            </a:extLst>
          </p:cNvPr>
          <p:cNvCxnSpPr>
            <a:cxnSpLocks/>
            <a:endCxn id="85" idx="0"/>
          </p:cNvCxnSpPr>
          <p:nvPr/>
        </p:nvCxnSpPr>
        <p:spPr bwMode="gray">
          <a:xfrm>
            <a:off x="9238458" y="4735888"/>
            <a:ext cx="341288" cy="337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235">
            <a:extLst>
              <a:ext uri="{FF2B5EF4-FFF2-40B4-BE49-F238E27FC236}">
                <a16:creationId xmlns:a16="http://schemas.microsoft.com/office/drawing/2014/main" id="{E6623BA2-5EAF-456B-A7DF-9F140613026D}"/>
              </a:ext>
            </a:extLst>
          </p:cNvPr>
          <p:cNvCxnSpPr>
            <a:cxnSpLocks/>
            <a:endCxn id="84" idx="0"/>
          </p:cNvCxnSpPr>
          <p:nvPr/>
        </p:nvCxnSpPr>
        <p:spPr bwMode="gray">
          <a:xfrm flipH="1">
            <a:off x="9017148" y="4735888"/>
            <a:ext cx="221310" cy="337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236">
            <a:extLst>
              <a:ext uri="{FF2B5EF4-FFF2-40B4-BE49-F238E27FC236}">
                <a16:creationId xmlns:a16="http://schemas.microsoft.com/office/drawing/2014/main" id="{337CFE6A-57B4-46FE-BEE7-54A050093174}"/>
              </a:ext>
            </a:extLst>
          </p:cNvPr>
          <p:cNvCxnSpPr>
            <a:cxnSpLocks/>
            <a:endCxn id="85" idx="0"/>
          </p:cNvCxnSpPr>
          <p:nvPr/>
        </p:nvCxnSpPr>
        <p:spPr bwMode="gray">
          <a:xfrm>
            <a:off x="8251827" y="4760064"/>
            <a:ext cx="1327919" cy="3135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241">
            <a:extLst>
              <a:ext uri="{FF2B5EF4-FFF2-40B4-BE49-F238E27FC236}">
                <a16:creationId xmlns:a16="http://schemas.microsoft.com/office/drawing/2014/main" id="{CC80584A-18F8-4EF4-8331-117BA52FFD97}"/>
              </a:ext>
            </a:extLst>
          </p:cNvPr>
          <p:cNvCxnSpPr>
            <a:cxnSpLocks/>
            <a:endCxn id="85" idx="0"/>
          </p:cNvCxnSpPr>
          <p:nvPr/>
        </p:nvCxnSpPr>
        <p:spPr bwMode="gray">
          <a:xfrm flipH="1">
            <a:off x="9579746" y="4735888"/>
            <a:ext cx="674738" cy="33776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1" name="直接连接符 244">
            <a:extLst>
              <a:ext uri="{FF2B5EF4-FFF2-40B4-BE49-F238E27FC236}">
                <a16:creationId xmlns:a16="http://schemas.microsoft.com/office/drawing/2014/main" id="{1BB994F8-B17A-4F70-8A60-1DF3CCC92361}"/>
              </a:ext>
            </a:extLst>
          </p:cNvPr>
          <p:cNvCxnSpPr>
            <a:cxnSpLocks/>
            <a:endCxn id="84" idx="0"/>
          </p:cNvCxnSpPr>
          <p:nvPr/>
        </p:nvCxnSpPr>
        <p:spPr bwMode="gray">
          <a:xfrm flipH="1">
            <a:off x="9017148" y="4735888"/>
            <a:ext cx="1237336" cy="33776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2" name="圆角矩形 75">
            <a:extLst>
              <a:ext uri="{FF2B5EF4-FFF2-40B4-BE49-F238E27FC236}">
                <a16:creationId xmlns:a16="http://schemas.microsoft.com/office/drawing/2014/main" id="{D0DF3C8D-8D40-4098-97F6-AB659C30365D}"/>
              </a:ext>
            </a:extLst>
          </p:cNvPr>
          <p:cNvSpPr/>
          <p:nvPr/>
        </p:nvSpPr>
        <p:spPr bwMode="gray">
          <a:xfrm>
            <a:off x="1265239" y="3598070"/>
            <a:ext cx="9669462"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站点双设备组网</a:t>
            </a:r>
          </a:p>
        </p:txBody>
      </p:sp>
      <p:sp>
        <p:nvSpPr>
          <p:cNvPr id="93" name="圆角矩形 75">
            <a:extLst>
              <a:ext uri="{FF2B5EF4-FFF2-40B4-BE49-F238E27FC236}">
                <a16:creationId xmlns:a16="http://schemas.microsoft.com/office/drawing/2014/main" id="{340B0BE9-9835-4CE8-9DD3-F5F14BFC1CCE}"/>
              </a:ext>
            </a:extLst>
          </p:cNvPr>
          <p:cNvSpPr/>
          <p:nvPr/>
        </p:nvSpPr>
        <p:spPr bwMode="gray">
          <a:xfrm>
            <a:off x="1265239" y="4037848"/>
            <a:ext cx="9669462" cy="202005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4" name="Freeform 159">
            <a:extLst>
              <a:ext uri="{FF2B5EF4-FFF2-40B4-BE49-F238E27FC236}">
                <a16:creationId xmlns:a16="http://schemas.microsoft.com/office/drawing/2014/main" id="{A82A3676-33F8-490F-B7C6-652E3DD5500F}"/>
              </a:ext>
            </a:extLst>
          </p:cNvPr>
          <p:cNvSpPr/>
          <p:nvPr/>
        </p:nvSpPr>
        <p:spPr bwMode="gray">
          <a:xfrm flipH="1">
            <a:off x="1755444" y="1633199"/>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p>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reeform 159">
            <a:extLst>
              <a:ext uri="{FF2B5EF4-FFF2-40B4-BE49-F238E27FC236}">
                <a16:creationId xmlns:a16="http://schemas.microsoft.com/office/drawing/2014/main" id="{E61B46D6-23E5-4058-93E1-ADFF8E489814}"/>
              </a:ext>
            </a:extLst>
          </p:cNvPr>
          <p:cNvSpPr/>
          <p:nvPr/>
        </p:nvSpPr>
        <p:spPr bwMode="gray">
          <a:xfrm flipH="1">
            <a:off x="4240886" y="1725170"/>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99" name="Freeform 159">
            <a:extLst>
              <a:ext uri="{FF2B5EF4-FFF2-40B4-BE49-F238E27FC236}">
                <a16:creationId xmlns:a16="http://schemas.microsoft.com/office/drawing/2014/main" id="{B175DC02-A300-4529-9221-0AEC8901F91D}"/>
              </a:ext>
            </a:extLst>
          </p:cNvPr>
          <p:cNvSpPr/>
          <p:nvPr/>
        </p:nvSpPr>
        <p:spPr bwMode="gray">
          <a:xfrm flipH="1">
            <a:off x="5323219" y="1728657"/>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101" name="Freeform 159">
            <a:extLst>
              <a:ext uri="{FF2B5EF4-FFF2-40B4-BE49-F238E27FC236}">
                <a16:creationId xmlns:a16="http://schemas.microsoft.com/office/drawing/2014/main" id="{D410E646-0372-4711-AF49-99FF30CEDD2B}"/>
              </a:ext>
            </a:extLst>
          </p:cNvPr>
          <p:cNvSpPr/>
          <p:nvPr/>
        </p:nvSpPr>
        <p:spPr bwMode="gray">
          <a:xfrm flipH="1">
            <a:off x="7174471" y="1741622"/>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102" name="Freeform 159">
            <a:extLst>
              <a:ext uri="{FF2B5EF4-FFF2-40B4-BE49-F238E27FC236}">
                <a16:creationId xmlns:a16="http://schemas.microsoft.com/office/drawing/2014/main" id="{9ACE0D44-DDAB-4D9E-9BDA-A0FDE38FF6E1}"/>
              </a:ext>
            </a:extLst>
          </p:cNvPr>
          <p:cNvSpPr/>
          <p:nvPr/>
        </p:nvSpPr>
        <p:spPr bwMode="gray">
          <a:xfrm flipH="1">
            <a:off x="8235491" y="1757232"/>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103" name="Freeform 159">
            <a:extLst>
              <a:ext uri="{FF2B5EF4-FFF2-40B4-BE49-F238E27FC236}">
                <a16:creationId xmlns:a16="http://schemas.microsoft.com/office/drawing/2014/main" id="{01EF61BD-26E6-4DBB-B223-BB29112F4DAE}"/>
              </a:ext>
            </a:extLst>
          </p:cNvPr>
          <p:cNvSpPr/>
          <p:nvPr/>
        </p:nvSpPr>
        <p:spPr bwMode="gray">
          <a:xfrm flipH="1">
            <a:off x="9331930" y="1747168"/>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LTE/5G</a:t>
            </a:r>
          </a:p>
        </p:txBody>
      </p:sp>
      <p:sp>
        <p:nvSpPr>
          <p:cNvPr id="106" name="Freeform 159">
            <a:extLst>
              <a:ext uri="{FF2B5EF4-FFF2-40B4-BE49-F238E27FC236}">
                <a16:creationId xmlns:a16="http://schemas.microsoft.com/office/drawing/2014/main" id="{925F3D1B-73F4-4BE1-923D-E63B65DA7110}"/>
              </a:ext>
            </a:extLst>
          </p:cNvPr>
          <p:cNvSpPr/>
          <p:nvPr/>
        </p:nvSpPr>
        <p:spPr bwMode="gray">
          <a:xfrm flipH="1">
            <a:off x="1375701" y="4280972"/>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107" name="Freeform 159">
            <a:extLst>
              <a:ext uri="{FF2B5EF4-FFF2-40B4-BE49-F238E27FC236}">
                <a16:creationId xmlns:a16="http://schemas.microsoft.com/office/drawing/2014/main" id="{4A050F62-D0E3-4C78-A532-DF6934A08190}"/>
              </a:ext>
            </a:extLst>
          </p:cNvPr>
          <p:cNvSpPr/>
          <p:nvPr/>
        </p:nvSpPr>
        <p:spPr bwMode="gray">
          <a:xfrm flipH="1">
            <a:off x="2458034" y="4284459"/>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108" name="Freeform 159">
            <a:extLst>
              <a:ext uri="{FF2B5EF4-FFF2-40B4-BE49-F238E27FC236}">
                <a16:creationId xmlns:a16="http://schemas.microsoft.com/office/drawing/2014/main" id="{EA2DE9AE-383B-4523-80B1-74CB8D876AF0}"/>
              </a:ext>
            </a:extLst>
          </p:cNvPr>
          <p:cNvSpPr/>
          <p:nvPr/>
        </p:nvSpPr>
        <p:spPr bwMode="gray">
          <a:xfrm flipH="1">
            <a:off x="3459836" y="4271191"/>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109" name="Freeform 159">
            <a:extLst>
              <a:ext uri="{FF2B5EF4-FFF2-40B4-BE49-F238E27FC236}">
                <a16:creationId xmlns:a16="http://schemas.microsoft.com/office/drawing/2014/main" id="{D378A90B-791C-4EF6-ACEE-2BDF15CE6911}"/>
              </a:ext>
            </a:extLst>
          </p:cNvPr>
          <p:cNvSpPr/>
          <p:nvPr/>
        </p:nvSpPr>
        <p:spPr bwMode="gray">
          <a:xfrm flipH="1">
            <a:off x="4542169" y="4274678"/>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110" name="Freeform 159">
            <a:extLst>
              <a:ext uri="{FF2B5EF4-FFF2-40B4-BE49-F238E27FC236}">
                <a16:creationId xmlns:a16="http://schemas.microsoft.com/office/drawing/2014/main" id="{FD5803CB-7BD5-43DB-BFE9-FBD4B0D1E84C}"/>
              </a:ext>
            </a:extLst>
          </p:cNvPr>
          <p:cNvSpPr/>
          <p:nvPr/>
        </p:nvSpPr>
        <p:spPr bwMode="gray">
          <a:xfrm flipH="1">
            <a:off x="5565465" y="4261395"/>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111" name="Freeform 159">
            <a:extLst>
              <a:ext uri="{FF2B5EF4-FFF2-40B4-BE49-F238E27FC236}">
                <a16:creationId xmlns:a16="http://schemas.microsoft.com/office/drawing/2014/main" id="{4A05471A-BF7E-47AC-8E89-A76318CAA878}"/>
              </a:ext>
            </a:extLst>
          </p:cNvPr>
          <p:cNvSpPr/>
          <p:nvPr/>
        </p:nvSpPr>
        <p:spPr bwMode="gray">
          <a:xfrm flipH="1">
            <a:off x="6647798" y="4264882"/>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112" name="Freeform 159">
            <a:extLst>
              <a:ext uri="{FF2B5EF4-FFF2-40B4-BE49-F238E27FC236}">
                <a16:creationId xmlns:a16="http://schemas.microsoft.com/office/drawing/2014/main" id="{819507D2-F9DE-416A-B9B5-089A21C4C916}"/>
              </a:ext>
            </a:extLst>
          </p:cNvPr>
          <p:cNvSpPr/>
          <p:nvPr/>
        </p:nvSpPr>
        <p:spPr bwMode="gray">
          <a:xfrm flipH="1">
            <a:off x="7709373" y="4247222"/>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113" name="Freeform 159">
            <a:extLst>
              <a:ext uri="{FF2B5EF4-FFF2-40B4-BE49-F238E27FC236}">
                <a16:creationId xmlns:a16="http://schemas.microsoft.com/office/drawing/2014/main" id="{B93EBE29-27D3-4071-B84E-8543CD07B78D}"/>
              </a:ext>
            </a:extLst>
          </p:cNvPr>
          <p:cNvSpPr/>
          <p:nvPr/>
        </p:nvSpPr>
        <p:spPr bwMode="gray">
          <a:xfrm flipH="1">
            <a:off x="8770393" y="4262832"/>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114" name="Freeform 159">
            <a:extLst>
              <a:ext uri="{FF2B5EF4-FFF2-40B4-BE49-F238E27FC236}">
                <a16:creationId xmlns:a16="http://schemas.microsoft.com/office/drawing/2014/main" id="{DEBD6B5B-C1DF-43DC-B4D7-4E5388D5AE11}"/>
              </a:ext>
            </a:extLst>
          </p:cNvPr>
          <p:cNvSpPr/>
          <p:nvPr/>
        </p:nvSpPr>
        <p:spPr bwMode="gray">
          <a:xfrm flipH="1">
            <a:off x="9866832" y="4252768"/>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LTE/5G</a:t>
            </a:r>
          </a:p>
        </p:txBody>
      </p:sp>
      <p:sp>
        <p:nvSpPr>
          <p:cNvPr id="72" name="燕尾形 3">
            <a:extLst>
              <a:ext uri="{FF2B5EF4-FFF2-40B4-BE49-F238E27FC236}">
                <a16:creationId xmlns:a16="http://schemas.microsoft.com/office/drawing/2014/main" id="{F751EB43-6577-4337-A5CD-474EA47C0E90}"/>
              </a:ext>
            </a:extLst>
          </p:cNvPr>
          <p:cNvSpPr/>
          <p:nvPr/>
        </p:nvSpPr>
        <p:spPr bwMode="gray">
          <a:xfrm>
            <a:off x="10441326" y="12185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双</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CPE</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互联设计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燕尾形 3">
            <a:extLst>
              <a:ext uri="{FF2B5EF4-FFF2-40B4-BE49-F238E27FC236}">
                <a16:creationId xmlns:a16="http://schemas.microsoft.com/office/drawing/2014/main" id="{3628227F-43F9-413D-84F1-6CE1E055F788}"/>
              </a:ext>
            </a:extLst>
          </p:cNvPr>
          <p:cNvSpPr/>
          <p:nvPr/>
        </p:nvSpPr>
        <p:spPr bwMode="gray">
          <a:xfrm>
            <a:off x="9091825" y="121856"/>
            <a:ext cx="142606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侧网络设计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089934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en-US" dirty="0"/>
              <a:t>WAN</a:t>
            </a:r>
            <a:r>
              <a:rPr lang="zh-CN" altLang="en-US" dirty="0"/>
              <a:t>侧网络典型组网</a:t>
            </a:r>
            <a:endParaRPr lang="en-US" dirty="0"/>
          </a:p>
        </p:txBody>
      </p:sp>
      <p:sp>
        <p:nvSpPr>
          <p:cNvPr id="8" name="圆角矩形 75">
            <a:extLst>
              <a:ext uri="{FF2B5EF4-FFF2-40B4-BE49-F238E27FC236}">
                <a16:creationId xmlns:a16="http://schemas.microsoft.com/office/drawing/2014/main" id="{7BAFC7CF-5813-40FE-A82B-D3EA6F63267E}"/>
              </a:ext>
            </a:extLst>
          </p:cNvPr>
          <p:cNvSpPr/>
          <p:nvPr/>
        </p:nvSpPr>
        <p:spPr bwMode="gray">
          <a:xfrm>
            <a:off x="503239" y="1094077"/>
            <a:ext cx="5526468"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单</a:t>
            </a:r>
            <a:r>
              <a:rPr lang="en-US" altLang="zh-CN" sz="1600" dirty="0">
                <a:solidFill>
                  <a:srgbClr val="30B5C5"/>
                </a:solidFill>
                <a:latin typeface="Huawei Sans" panose="020C0503030203020204" pitchFamily="34" charset="0"/>
                <a:ea typeface="方正兰亭黑简体" panose="02000000000000000000" pitchFamily="2" charset="-122"/>
              </a:rPr>
              <a:t>CPE</a:t>
            </a:r>
            <a:r>
              <a:rPr lang="zh-CN" altLang="en-US" sz="1600" dirty="0">
                <a:solidFill>
                  <a:srgbClr val="30B5C5"/>
                </a:solidFill>
                <a:latin typeface="Huawei Sans" panose="020C0503030203020204" pitchFamily="34" charset="0"/>
                <a:ea typeface="方正兰亭黑简体" panose="02000000000000000000" pitchFamily="2" charset="-122"/>
              </a:rPr>
              <a:t>多</a:t>
            </a:r>
            <a:r>
              <a:rPr lang="en-US" altLang="zh-CN" sz="1600" dirty="0">
                <a:solidFill>
                  <a:srgbClr val="30B5C5"/>
                </a:solidFill>
                <a:latin typeface="Huawei Sans" panose="020C0503030203020204" pitchFamily="34" charset="0"/>
                <a:ea typeface="方正兰亭黑简体" panose="02000000000000000000" pitchFamily="2" charset="-122"/>
              </a:rPr>
              <a:t>WAN</a:t>
            </a:r>
            <a:r>
              <a:rPr lang="zh-CN" altLang="en-US" sz="1600" dirty="0">
                <a:solidFill>
                  <a:srgbClr val="30B5C5"/>
                </a:solidFill>
                <a:latin typeface="Huawei Sans" panose="020C0503030203020204" pitchFamily="34" charset="0"/>
                <a:ea typeface="方正兰亭黑简体" panose="02000000000000000000" pitchFamily="2" charset="-122"/>
              </a:rPr>
              <a:t>链路</a:t>
            </a:r>
          </a:p>
        </p:txBody>
      </p:sp>
      <p:sp>
        <p:nvSpPr>
          <p:cNvPr id="9" name="圆角矩形 75">
            <a:extLst>
              <a:ext uri="{FF2B5EF4-FFF2-40B4-BE49-F238E27FC236}">
                <a16:creationId xmlns:a16="http://schemas.microsoft.com/office/drawing/2014/main" id="{A586E2D7-E091-420D-BBA6-F2EF0575A71B}"/>
              </a:ext>
            </a:extLst>
          </p:cNvPr>
          <p:cNvSpPr/>
          <p:nvPr/>
        </p:nvSpPr>
        <p:spPr bwMode="gray">
          <a:xfrm>
            <a:off x="503238" y="1553104"/>
            <a:ext cx="5526469" cy="4313197"/>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r>
              <a:rPr lang="zh-CN" altLang="en-US" sz="1400" dirty="0"/>
              <a:t>对于中小站点或者可靠性要求不是很高的分支站点，可考虑只部署单个</a:t>
            </a:r>
            <a:r>
              <a:rPr lang="en-US" altLang="zh-CN" sz="1400" dirty="0"/>
              <a:t>CPE</a:t>
            </a:r>
            <a:r>
              <a:rPr lang="zh-CN" altLang="en-US" sz="1400" dirty="0"/>
              <a:t>，同时可考虑部署多个</a:t>
            </a:r>
            <a:r>
              <a:rPr lang="en-US" altLang="zh-CN" sz="1400" dirty="0"/>
              <a:t>WAN</a:t>
            </a:r>
            <a:r>
              <a:rPr lang="zh-CN" altLang="en-US" sz="1400" dirty="0"/>
              <a:t>链路，并将不同价值的企业应用流量分布到不同的链路。</a:t>
            </a:r>
          </a:p>
          <a:p>
            <a:pPr marL="228594" indent="-228594">
              <a:buFont typeface="Arial" panose="020B0604020202020204" pitchFamily="34" charset="0"/>
              <a:buChar char="•"/>
            </a:pPr>
            <a:r>
              <a:rPr lang="zh-CN" altLang="en-US" sz="1400" dirty="0"/>
              <a:t>常见的部署方式可采用一条</a:t>
            </a:r>
            <a:r>
              <a:rPr lang="en-US" altLang="zh-CN" sz="1400" dirty="0"/>
              <a:t>MPLS+</a:t>
            </a:r>
            <a:r>
              <a:rPr lang="zh-CN" altLang="en-US" sz="1400" dirty="0"/>
              <a:t>一条</a:t>
            </a:r>
            <a:r>
              <a:rPr lang="en-US" altLang="zh-CN" sz="1400" dirty="0"/>
              <a:t>Internet WAN</a:t>
            </a:r>
            <a:r>
              <a:rPr lang="zh-CN" altLang="en-US" sz="1400" dirty="0"/>
              <a:t>链路。其中</a:t>
            </a:r>
            <a:r>
              <a:rPr lang="en-US" altLang="zh-CN" sz="1400" dirty="0"/>
              <a:t>MPLS</a:t>
            </a:r>
            <a:r>
              <a:rPr lang="zh-CN" altLang="en-US" sz="1400" dirty="0"/>
              <a:t>链路传输质量好，有</a:t>
            </a:r>
            <a:r>
              <a:rPr lang="en-US" altLang="zh-CN" sz="1400" dirty="0"/>
              <a:t>SLA</a:t>
            </a:r>
            <a:r>
              <a:rPr lang="zh-CN" altLang="en-US" sz="1400" dirty="0"/>
              <a:t>保证，可以承载企业关键价值应用，而非关键类应用使用</a:t>
            </a:r>
            <a:r>
              <a:rPr lang="en-US" altLang="zh-CN" sz="1400" dirty="0"/>
              <a:t>Internet</a:t>
            </a:r>
            <a:r>
              <a:rPr lang="zh-CN" altLang="en-US" sz="1400" dirty="0"/>
              <a:t>链路进行传输。</a:t>
            </a:r>
            <a:endParaRPr lang="en-US" altLang="zh-CN" sz="1400" dirty="0"/>
          </a:p>
        </p:txBody>
      </p:sp>
      <p:sp>
        <p:nvSpPr>
          <p:cNvPr id="10" name="Freeform 159">
            <a:extLst>
              <a:ext uri="{FF2B5EF4-FFF2-40B4-BE49-F238E27FC236}">
                <a16:creationId xmlns:a16="http://schemas.microsoft.com/office/drawing/2014/main" id="{E9C74901-366C-4ECB-9D6B-1A4559BAB023}"/>
              </a:ext>
            </a:extLst>
          </p:cNvPr>
          <p:cNvSpPr/>
          <p:nvPr/>
        </p:nvSpPr>
        <p:spPr bwMode="gray">
          <a:xfrm flipH="1">
            <a:off x="1035961" y="2194746"/>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企业内网</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连接符 80">
            <a:extLst>
              <a:ext uri="{FF2B5EF4-FFF2-40B4-BE49-F238E27FC236}">
                <a16:creationId xmlns:a16="http://schemas.microsoft.com/office/drawing/2014/main" id="{37FC47B4-824F-4064-94CD-7EF0134B5B89}"/>
              </a:ext>
            </a:extLst>
          </p:cNvPr>
          <p:cNvCxnSpPr>
            <a:cxnSpLocks/>
            <a:stCxn id="14" idx="21"/>
            <a:endCxn id="12" idx="2"/>
          </p:cNvCxnSpPr>
          <p:nvPr/>
        </p:nvCxnSpPr>
        <p:spPr bwMode="gray">
          <a:xfrm flipH="1" flipV="1">
            <a:off x="2284083" y="2737239"/>
            <a:ext cx="708550" cy="2908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图片 81">
            <a:extLst>
              <a:ext uri="{FF2B5EF4-FFF2-40B4-BE49-F238E27FC236}">
                <a16:creationId xmlns:a16="http://schemas.microsoft.com/office/drawing/2014/main" id="{B7ECB86E-921C-4131-A4FF-C9D35E0E50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038628" y="2334694"/>
            <a:ext cx="490909" cy="402545"/>
          </a:xfrm>
          <a:prstGeom prst="rect">
            <a:avLst/>
          </a:prstGeom>
        </p:spPr>
      </p:pic>
      <p:cxnSp>
        <p:nvCxnSpPr>
          <p:cNvPr id="13" name="直接连接符 84">
            <a:extLst>
              <a:ext uri="{FF2B5EF4-FFF2-40B4-BE49-F238E27FC236}">
                <a16:creationId xmlns:a16="http://schemas.microsoft.com/office/drawing/2014/main" id="{2821CD1F-2F48-4193-BF84-4156EC34840E}"/>
              </a:ext>
            </a:extLst>
          </p:cNvPr>
          <p:cNvCxnSpPr>
            <a:cxnSpLocks/>
            <a:stCxn id="15" idx="21"/>
            <a:endCxn id="12" idx="0"/>
          </p:cNvCxnSpPr>
          <p:nvPr/>
        </p:nvCxnSpPr>
        <p:spPr bwMode="gray">
          <a:xfrm flipH="1">
            <a:off x="2284083" y="2093251"/>
            <a:ext cx="708550" cy="2414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reeform 159">
            <a:extLst>
              <a:ext uri="{FF2B5EF4-FFF2-40B4-BE49-F238E27FC236}">
                <a16:creationId xmlns:a16="http://schemas.microsoft.com/office/drawing/2014/main" id="{A90A85CB-1C50-4B8A-A18B-4E7975AB1987}"/>
              </a:ext>
            </a:extLst>
          </p:cNvPr>
          <p:cNvSpPr/>
          <p:nvPr/>
        </p:nvSpPr>
        <p:spPr bwMode="gray">
          <a:xfrm flipH="1">
            <a:off x="2992633" y="2692111"/>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15" name="Freeform 159">
            <a:extLst>
              <a:ext uri="{FF2B5EF4-FFF2-40B4-BE49-F238E27FC236}">
                <a16:creationId xmlns:a16="http://schemas.microsoft.com/office/drawing/2014/main" id="{BC74F21F-EF01-4D94-94B9-5EA93183009C}"/>
              </a:ext>
            </a:extLst>
          </p:cNvPr>
          <p:cNvSpPr/>
          <p:nvPr/>
        </p:nvSpPr>
        <p:spPr bwMode="gray">
          <a:xfrm flipH="1">
            <a:off x="2992633" y="1757230"/>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24" name="圆角矩形 75">
            <a:extLst>
              <a:ext uri="{FF2B5EF4-FFF2-40B4-BE49-F238E27FC236}">
                <a16:creationId xmlns:a16="http://schemas.microsoft.com/office/drawing/2014/main" id="{1E29A4D9-380F-40C8-8FE1-6C186EBCDB1D}"/>
              </a:ext>
            </a:extLst>
          </p:cNvPr>
          <p:cNvSpPr/>
          <p:nvPr/>
        </p:nvSpPr>
        <p:spPr bwMode="gray">
          <a:xfrm>
            <a:off x="6191251" y="1110881"/>
            <a:ext cx="5436067"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双</a:t>
            </a:r>
            <a:r>
              <a:rPr lang="en-US" altLang="zh-CN" sz="1600" dirty="0">
                <a:solidFill>
                  <a:srgbClr val="30B5C5"/>
                </a:solidFill>
                <a:latin typeface="Huawei Sans" panose="020C0503030203020204" pitchFamily="34" charset="0"/>
                <a:ea typeface="方正兰亭黑简体" panose="02000000000000000000" pitchFamily="2" charset="-122"/>
              </a:rPr>
              <a:t>CPE</a:t>
            </a:r>
            <a:r>
              <a:rPr lang="zh-CN" altLang="en-US" sz="1600" dirty="0">
                <a:solidFill>
                  <a:srgbClr val="30B5C5"/>
                </a:solidFill>
                <a:latin typeface="Huawei Sans" panose="020C0503030203020204" pitchFamily="34" charset="0"/>
                <a:ea typeface="方正兰亭黑简体" panose="02000000000000000000" pitchFamily="2" charset="-122"/>
              </a:rPr>
              <a:t>多</a:t>
            </a:r>
            <a:r>
              <a:rPr lang="en-US" altLang="zh-CN" sz="1600" dirty="0">
                <a:solidFill>
                  <a:srgbClr val="30B5C5"/>
                </a:solidFill>
                <a:latin typeface="Huawei Sans" panose="020C0503030203020204" pitchFamily="34" charset="0"/>
                <a:ea typeface="方正兰亭黑简体" panose="02000000000000000000" pitchFamily="2" charset="-122"/>
              </a:rPr>
              <a:t>WAN</a:t>
            </a:r>
            <a:r>
              <a:rPr lang="zh-CN" altLang="en-US" sz="1600" dirty="0">
                <a:solidFill>
                  <a:srgbClr val="30B5C5"/>
                </a:solidFill>
                <a:latin typeface="Huawei Sans" panose="020C0503030203020204" pitchFamily="34" charset="0"/>
                <a:ea typeface="方正兰亭黑简体" panose="02000000000000000000" pitchFamily="2" charset="-122"/>
              </a:rPr>
              <a:t>链路</a:t>
            </a:r>
          </a:p>
        </p:txBody>
      </p:sp>
      <p:sp>
        <p:nvSpPr>
          <p:cNvPr id="25" name="圆角矩形 75">
            <a:extLst>
              <a:ext uri="{FF2B5EF4-FFF2-40B4-BE49-F238E27FC236}">
                <a16:creationId xmlns:a16="http://schemas.microsoft.com/office/drawing/2014/main" id="{76A40407-0528-49EF-B27E-D409499389A1}"/>
              </a:ext>
            </a:extLst>
          </p:cNvPr>
          <p:cNvSpPr/>
          <p:nvPr/>
        </p:nvSpPr>
        <p:spPr bwMode="gray">
          <a:xfrm>
            <a:off x="6200876" y="1550658"/>
            <a:ext cx="5426442" cy="4313197"/>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r>
              <a:rPr lang="zh-CN" altLang="en-US" sz="1400" dirty="0"/>
              <a:t>在大型站点或者可靠性要求高的分支站点，一般要部署双</a:t>
            </a:r>
            <a:r>
              <a:rPr lang="en-US" altLang="zh-CN" sz="1400" dirty="0"/>
              <a:t>CPE</a:t>
            </a:r>
            <a:r>
              <a:rPr lang="zh-CN" altLang="en-US" sz="1400" dirty="0"/>
              <a:t>。同时为了保障业务传输的可靠性，部署至少两条或者两条以上的</a:t>
            </a:r>
            <a:r>
              <a:rPr lang="en-US" altLang="zh-CN" sz="1400" dirty="0"/>
              <a:t>WAN</a:t>
            </a:r>
            <a:r>
              <a:rPr lang="zh-CN" altLang="en-US" sz="1400" dirty="0"/>
              <a:t>链路。</a:t>
            </a:r>
          </a:p>
          <a:p>
            <a:pPr marL="228594" indent="-228594">
              <a:buFont typeface="Arial" panose="020B0604020202020204" pitchFamily="34" charset="0"/>
              <a:buChar char="•"/>
            </a:pPr>
            <a:r>
              <a:rPr lang="zh-CN" altLang="en-US" sz="1400" dirty="0"/>
              <a:t>分支站点部署双</a:t>
            </a:r>
            <a:r>
              <a:rPr lang="en-US" altLang="zh-CN" sz="1400" dirty="0"/>
              <a:t>CPE</a:t>
            </a:r>
            <a:r>
              <a:rPr lang="zh-CN" altLang="en-US" sz="1400" dirty="0"/>
              <a:t>，同时每个网关具备一条</a:t>
            </a:r>
            <a:r>
              <a:rPr lang="en-US" altLang="zh-CN" sz="1400" dirty="0"/>
              <a:t>WAN</a:t>
            </a:r>
            <a:r>
              <a:rPr lang="zh-CN" altLang="en-US" sz="1400" dirty="0"/>
              <a:t>链路，分别是</a:t>
            </a:r>
            <a:r>
              <a:rPr lang="en-US" altLang="zh-CN" sz="1400" dirty="0"/>
              <a:t>MPLS</a:t>
            </a:r>
            <a:r>
              <a:rPr lang="zh-CN" altLang="en-US" sz="1400" dirty="0"/>
              <a:t>和</a:t>
            </a:r>
            <a:r>
              <a:rPr lang="en-US" altLang="zh-CN" sz="1400" dirty="0"/>
              <a:t>Internet</a:t>
            </a:r>
            <a:r>
              <a:rPr lang="zh-CN" altLang="en-US" sz="1400" dirty="0"/>
              <a:t>。为了保障可靠性，双</a:t>
            </a:r>
            <a:r>
              <a:rPr lang="en-US" altLang="zh-CN" sz="1400" dirty="0"/>
              <a:t>CPE</a:t>
            </a:r>
            <a:r>
              <a:rPr lang="zh-CN" altLang="en-US" sz="1400" dirty="0"/>
              <a:t>之间需要部署互联链路，避免单设备故障后无法转发数据。</a:t>
            </a:r>
            <a:endParaRPr lang="en-US" altLang="zh-CN" sz="1400" dirty="0"/>
          </a:p>
        </p:txBody>
      </p:sp>
      <p:sp>
        <p:nvSpPr>
          <p:cNvPr id="26" name="Freeform 159">
            <a:extLst>
              <a:ext uri="{FF2B5EF4-FFF2-40B4-BE49-F238E27FC236}">
                <a16:creationId xmlns:a16="http://schemas.microsoft.com/office/drawing/2014/main" id="{210C2E4D-0059-4863-9DB4-2C5C4D8C139C}"/>
              </a:ext>
            </a:extLst>
          </p:cNvPr>
          <p:cNvSpPr/>
          <p:nvPr/>
        </p:nvSpPr>
        <p:spPr bwMode="gray">
          <a:xfrm flipH="1">
            <a:off x="6793606" y="2204505"/>
            <a:ext cx="1463394" cy="76495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企业内网</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连接符 80">
            <a:extLst>
              <a:ext uri="{FF2B5EF4-FFF2-40B4-BE49-F238E27FC236}">
                <a16:creationId xmlns:a16="http://schemas.microsoft.com/office/drawing/2014/main" id="{826ACC9D-3232-42F4-BB9F-FC7624A1F2AC}"/>
              </a:ext>
            </a:extLst>
          </p:cNvPr>
          <p:cNvCxnSpPr>
            <a:cxnSpLocks/>
            <a:stCxn id="30" idx="21"/>
            <a:endCxn id="34" idx="3"/>
          </p:cNvCxnSpPr>
          <p:nvPr/>
        </p:nvCxnSpPr>
        <p:spPr bwMode="gray">
          <a:xfrm flipH="1" flipV="1">
            <a:off x="8257000" y="3091928"/>
            <a:ext cx="586921" cy="38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8" name="图片 81">
            <a:extLst>
              <a:ext uri="{FF2B5EF4-FFF2-40B4-BE49-F238E27FC236}">
                <a16:creationId xmlns:a16="http://schemas.microsoft.com/office/drawing/2014/main" id="{C9A86539-640B-4BEA-8E6B-A2FDBD25A5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766091" y="1960530"/>
            <a:ext cx="490909" cy="402545"/>
          </a:xfrm>
          <a:prstGeom prst="rect">
            <a:avLst/>
          </a:prstGeom>
        </p:spPr>
      </p:pic>
      <p:cxnSp>
        <p:nvCxnSpPr>
          <p:cNvPr id="29" name="直接连接符 84">
            <a:extLst>
              <a:ext uri="{FF2B5EF4-FFF2-40B4-BE49-F238E27FC236}">
                <a16:creationId xmlns:a16="http://schemas.microsoft.com/office/drawing/2014/main" id="{3DE00AFD-FEA5-42DE-BF88-F950F9999A42}"/>
              </a:ext>
            </a:extLst>
          </p:cNvPr>
          <p:cNvCxnSpPr>
            <a:cxnSpLocks/>
            <a:stCxn id="31" idx="21"/>
            <a:endCxn id="28" idx="3"/>
          </p:cNvCxnSpPr>
          <p:nvPr/>
        </p:nvCxnSpPr>
        <p:spPr bwMode="gray">
          <a:xfrm flipH="1">
            <a:off x="8257000" y="2160944"/>
            <a:ext cx="586921" cy="8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159">
            <a:extLst>
              <a:ext uri="{FF2B5EF4-FFF2-40B4-BE49-F238E27FC236}">
                <a16:creationId xmlns:a16="http://schemas.microsoft.com/office/drawing/2014/main" id="{CB3EA024-9919-4E23-842D-CF67BBEAA5E0}"/>
              </a:ext>
            </a:extLst>
          </p:cNvPr>
          <p:cNvSpPr/>
          <p:nvPr/>
        </p:nvSpPr>
        <p:spPr bwMode="gray">
          <a:xfrm flipH="1">
            <a:off x="8843921" y="2759804"/>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31" name="Freeform 159">
            <a:extLst>
              <a:ext uri="{FF2B5EF4-FFF2-40B4-BE49-F238E27FC236}">
                <a16:creationId xmlns:a16="http://schemas.microsoft.com/office/drawing/2014/main" id="{46CF333A-B1E7-4B0B-AB0E-324E8BCE0524}"/>
              </a:ext>
            </a:extLst>
          </p:cNvPr>
          <p:cNvSpPr/>
          <p:nvPr/>
        </p:nvSpPr>
        <p:spPr bwMode="gray">
          <a:xfrm flipH="1">
            <a:off x="8843921" y="1824923"/>
            <a:ext cx="916880" cy="4792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pic>
        <p:nvPicPr>
          <p:cNvPr id="34" name="图片 81">
            <a:extLst>
              <a:ext uri="{FF2B5EF4-FFF2-40B4-BE49-F238E27FC236}">
                <a16:creationId xmlns:a16="http://schemas.microsoft.com/office/drawing/2014/main" id="{FCE51306-4D0C-4DC8-8530-E67AFF3317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766091" y="2890655"/>
            <a:ext cx="490909" cy="402545"/>
          </a:xfrm>
          <a:prstGeom prst="rect">
            <a:avLst/>
          </a:prstGeom>
        </p:spPr>
      </p:pic>
      <p:cxnSp>
        <p:nvCxnSpPr>
          <p:cNvPr id="39" name="直接连接符 80">
            <a:extLst>
              <a:ext uri="{FF2B5EF4-FFF2-40B4-BE49-F238E27FC236}">
                <a16:creationId xmlns:a16="http://schemas.microsoft.com/office/drawing/2014/main" id="{025A2513-99CD-49DF-ABD3-C2802603CF22}"/>
              </a:ext>
            </a:extLst>
          </p:cNvPr>
          <p:cNvCxnSpPr>
            <a:cxnSpLocks/>
            <a:stCxn id="34" idx="0"/>
            <a:endCxn id="28" idx="2"/>
          </p:cNvCxnSpPr>
          <p:nvPr/>
        </p:nvCxnSpPr>
        <p:spPr bwMode="gray">
          <a:xfrm flipV="1">
            <a:off x="8011546" y="2363075"/>
            <a:ext cx="0" cy="5275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Freeform: Shape 43">
            <a:extLst>
              <a:ext uri="{FF2B5EF4-FFF2-40B4-BE49-F238E27FC236}">
                <a16:creationId xmlns:a16="http://schemas.microsoft.com/office/drawing/2014/main" id="{DEDD579C-74D3-4F3B-887E-8BA6B059A529}"/>
              </a:ext>
            </a:extLst>
          </p:cNvPr>
          <p:cNvSpPr/>
          <p:nvPr/>
        </p:nvSpPr>
        <p:spPr bwMode="gray">
          <a:xfrm>
            <a:off x="1813077" y="1913034"/>
            <a:ext cx="2627751" cy="471680"/>
          </a:xfrm>
          <a:custGeom>
            <a:avLst/>
            <a:gdLst>
              <a:gd name="connsiteX0" fmla="*/ 0 w 2247900"/>
              <a:gd name="connsiteY0" fmla="*/ 471680 h 471680"/>
              <a:gd name="connsiteX1" fmla="*/ 466725 w 2247900"/>
              <a:gd name="connsiteY1" fmla="*/ 347855 h 471680"/>
              <a:gd name="connsiteX2" fmla="*/ 1362075 w 2247900"/>
              <a:gd name="connsiteY2" fmla="*/ 33530 h 471680"/>
              <a:gd name="connsiteX3" fmla="*/ 2247900 w 2247900"/>
              <a:gd name="connsiteY3" fmla="*/ 24005 h 471680"/>
            </a:gdLst>
            <a:ahLst/>
            <a:cxnLst>
              <a:cxn ang="0">
                <a:pos x="connsiteX0" y="connsiteY0"/>
              </a:cxn>
              <a:cxn ang="0">
                <a:pos x="connsiteX1" y="connsiteY1"/>
              </a:cxn>
              <a:cxn ang="0">
                <a:pos x="connsiteX2" y="connsiteY2"/>
              </a:cxn>
              <a:cxn ang="0">
                <a:pos x="connsiteX3" y="connsiteY3"/>
              </a:cxn>
            </a:cxnLst>
            <a:rect l="l" t="t" r="r" b="b"/>
            <a:pathLst>
              <a:path w="2247900" h="471680">
                <a:moveTo>
                  <a:pt x="0" y="471680"/>
                </a:moveTo>
                <a:cubicBezTo>
                  <a:pt x="119856" y="446280"/>
                  <a:pt x="239713" y="420880"/>
                  <a:pt x="466725" y="347855"/>
                </a:cubicBezTo>
                <a:cubicBezTo>
                  <a:pt x="693738" y="274830"/>
                  <a:pt x="1065213" y="87505"/>
                  <a:pt x="1362075" y="33530"/>
                </a:cubicBezTo>
                <a:cubicBezTo>
                  <a:pt x="1658938" y="-20445"/>
                  <a:pt x="1953419" y="1780"/>
                  <a:pt x="2247900" y="24005"/>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B93320F9-C296-43A4-9BD2-0AC8E0642613}"/>
              </a:ext>
            </a:extLst>
          </p:cNvPr>
          <p:cNvSpPr/>
          <p:nvPr/>
        </p:nvSpPr>
        <p:spPr bwMode="blackGray">
          <a:xfrm flipV="1">
            <a:off x="1800002" y="2679447"/>
            <a:ext cx="2627750" cy="471680"/>
          </a:xfrm>
          <a:custGeom>
            <a:avLst/>
            <a:gdLst>
              <a:gd name="connsiteX0" fmla="*/ 0 w 2247900"/>
              <a:gd name="connsiteY0" fmla="*/ 471680 h 471680"/>
              <a:gd name="connsiteX1" fmla="*/ 466725 w 2247900"/>
              <a:gd name="connsiteY1" fmla="*/ 347855 h 471680"/>
              <a:gd name="connsiteX2" fmla="*/ 1362075 w 2247900"/>
              <a:gd name="connsiteY2" fmla="*/ 33530 h 471680"/>
              <a:gd name="connsiteX3" fmla="*/ 2247900 w 2247900"/>
              <a:gd name="connsiteY3" fmla="*/ 24005 h 471680"/>
            </a:gdLst>
            <a:ahLst/>
            <a:cxnLst>
              <a:cxn ang="0">
                <a:pos x="connsiteX0" y="connsiteY0"/>
              </a:cxn>
              <a:cxn ang="0">
                <a:pos x="connsiteX1" y="connsiteY1"/>
              </a:cxn>
              <a:cxn ang="0">
                <a:pos x="connsiteX2" y="connsiteY2"/>
              </a:cxn>
              <a:cxn ang="0">
                <a:pos x="connsiteX3" y="connsiteY3"/>
              </a:cxn>
            </a:cxnLst>
            <a:rect l="l" t="t" r="r" b="b"/>
            <a:pathLst>
              <a:path w="2247900" h="471680">
                <a:moveTo>
                  <a:pt x="0" y="471680"/>
                </a:moveTo>
                <a:cubicBezTo>
                  <a:pt x="119856" y="446280"/>
                  <a:pt x="239713" y="420880"/>
                  <a:pt x="466725" y="347855"/>
                </a:cubicBezTo>
                <a:cubicBezTo>
                  <a:pt x="693738" y="274830"/>
                  <a:pt x="1065213" y="87505"/>
                  <a:pt x="1362075" y="33530"/>
                </a:cubicBezTo>
                <a:cubicBezTo>
                  <a:pt x="1658938" y="-20445"/>
                  <a:pt x="1953419" y="1780"/>
                  <a:pt x="2247900" y="24005"/>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35BC1563-6AD6-4721-BB95-33455226C594}"/>
              </a:ext>
            </a:extLst>
          </p:cNvPr>
          <p:cNvSpPr txBox="1"/>
          <p:nvPr/>
        </p:nvSpPr>
        <p:spPr bwMode="gray">
          <a:xfrm>
            <a:off x="3800066" y="1595553"/>
            <a:ext cx="1210588" cy="338554"/>
          </a:xfrm>
          <a:prstGeom prst="rect">
            <a:avLst/>
          </a:prstGeom>
          <a:noFill/>
        </p:spPr>
        <p:txBody>
          <a:bodyPr wrap="none" rtlCol="0">
            <a:spAutoFit/>
          </a:bodyPr>
          <a:lstStyle/>
          <a:p>
            <a:r>
              <a:rPr lang="zh-CN" altLang="en-US" sz="1600" dirty="0"/>
              <a:t>非关键业务</a:t>
            </a:r>
            <a:endParaRPr lang="en-US" sz="1600" dirty="0"/>
          </a:p>
        </p:txBody>
      </p:sp>
      <p:sp>
        <p:nvSpPr>
          <p:cNvPr id="47" name="TextBox 46">
            <a:extLst>
              <a:ext uri="{FF2B5EF4-FFF2-40B4-BE49-F238E27FC236}">
                <a16:creationId xmlns:a16="http://schemas.microsoft.com/office/drawing/2014/main" id="{B552C2B5-CFAB-4207-865F-A8D9A03C63B7}"/>
              </a:ext>
            </a:extLst>
          </p:cNvPr>
          <p:cNvSpPr txBox="1"/>
          <p:nvPr/>
        </p:nvSpPr>
        <p:spPr bwMode="gray">
          <a:xfrm>
            <a:off x="3822458" y="3168817"/>
            <a:ext cx="1005403" cy="338554"/>
          </a:xfrm>
          <a:prstGeom prst="rect">
            <a:avLst/>
          </a:prstGeom>
          <a:noFill/>
        </p:spPr>
        <p:txBody>
          <a:bodyPr wrap="none" rtlCol="0">
            <a:spAutoFit/>
          </a:bodyPr>
          <a:lstStyle/>
          <a:p>
            <a:r>
              <a:rPr lang="zh-CN" altLang="en-US" sz="1600" dirty="0"/>
              <a:t>关键业务</a:t>
            </a:r>
            <a:endParaRPr lang="en-US" sz="1600" dirty="0"/>
          </a:p>
        </p:txBody>
      </p:sp>
      <p:sp>
        <p:nvSpPr>
          <p:cNvPr id="49" name="Freeform: Shape 48">
            <a:extLst>
              <a:ext uri="{FF2B5EF4-FFF2-40B4-BE49-F238E27FC236}">
                <a16:creationId xmlns:a16="http://schemas.microsoft.com/office/drawing/2014/main" id="{A779208B-F0EA-42FF-83F3-BA4098B61EC1}"/>
              </a:ext>
            </a:extLst>
          </p:cNvPr>
          <p:cNvSpPr/>
          <p:nvPr/>
        </p:nvSpPr>
        <p:spPr bwMode="gray">
          <a:xfrm>
            <a:off x="7341870" y="2098964"/>
            <a:ext cx="2533650" cy="257175"/>
          </a:xfrm>
          <a:custGeom>
            <a:avLst/>
            <a:gdLst>
              <a:gd name="connsiteX0" fmla="*/ 0 w 1590675"/>
              <a:gd name="connsiteY0" fmla="*/ 257175 h 257175"/>
              <a:gd name="connsiteX1" fmla="*/ 428625 w 1590675"/>
              <a:gd name="connsiteY1" fmla="*/ 47625 h 257175"/>
              <a:gd name="connsiteX2" fmla="*/ 1590675 w 1590675"/>
              <a:gd name="connsiteY2" fmla="*/ 0 h 257175"/>
            </a:gdLst>
            <a:ahLst/>
            <a:cxnLst>
              <a:cxn ang="0">
                <a:pos x="connsiteX0" y="connsiteY0"/>
              </a:cxn>
              <a:cxn ang="0">
                <a:pos x="connsiteX1" y="connsiteY1"/>
              </a:cxn>
              <a:cxn ang="0">
                <a:pos x="connsiteX2" y="connsiteY2"/>
              </a:cxn>
            </a:cxnLst>
            <a:rect l="l" t="t" r="r" b="b"/>
            <a:pathLst>
              <a:path w="1590675" h="257175">
                <a:moveTo>
                  <a:pt x="0" y="257175"/>
                </a:moveTo>
                <a:cubicBezTo>
                  <a:pt x="81756" y="173831"/>
                  <a:pt x="163513" y="90487"/>
                  <a:pt x="428625" y="47625"/>
                </a:cubicBezTo>
                <a:cubicBezTo>
                  <a:pt x="693737" y="4763"/>
                  <a:pt x="1142206" y="2381"/>
                  <a:pt x="1590675" y="0"/>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Freeform: Shape 49">
            <a:extLst>
              <a:ext uri="{FF2B5EF4-FFF2-40B4-BE49-F238E27FC236}">
                <a16:creationId xmlns:a16="http://schemas.microsoft.com/office/drawing/2014/main" id="{E6932C58-64E4-4E0F-809F-D2E203914F8E}"/>
              </a:ext>
            </a:extLst>
          </p:cNvPr>
          <p:cNvSpPr/>
          <p:nvPr/>
        </p:nvSpPr>
        <p:spPr bwMode="blackGray">
          <a:xfrm flipV="1">
            <a:off x="7296703" y="2880281"/>
            <a:ext cx="2533650" cy="257175"/>
          </a:xfrm>
          <a:custGeom>
            <a:avLst/>
            <a:gdLst>
              <a:gd name="connsiteX0" fmla="*/ 0 w 1590675"/>
              <a:gd name="connsiteY0" fmla="*/ 257175 h 257175"/>
              <a:gd name="connsiteX1" fmla="*/ 428625 w 1590675"/>
              <a:gd name="connsiteY1" fmla="*/ 47625 h 257175"/>
              <a:gd name="connsiteX2" fmla="*/ 1590675 w 1590675"/>
              <a:gd name="connsiteY2" fmla="*/ 0 h 257175"/>
            </a:gdLst>
            <a:ahLst/>
            <a:cxnLst>
              <a:cxn ang="0">
                <a:pos x="connsiteX0" y="connsiteY0"/>
              </a:cxn>
              <a:cxn ang="0">
                <a:pos x="connsiteX1" y="connsiteY1"/>
              </a:cxn>
              <a:cxn ang="0">
                <a:pos x="connsiteX2" y="connsiteY2"/>
              </a:cxn>
            </a:cxnLst>
            <a:rect l="l" t="t" r="r" b="b"/>
            <a:pathLst>
              <a:path w="1590675" h="257175">
                <a:moveTo>
                  <a:pt x="0" y="257175"/>
                </a:moveTo>
                <a:cubicBezTo>
                  <a:pt x="81756" y="173831"/>
                  <a:pt x="163513" y="90487"/>
                  <a:pt x="428625" y="47625"/>
                </a:cubicBezTo>
                <a:cubicBezTo>
                  <a:pt x="693737" y="4763"/>
                  <a:pt x="1142206" y="2381"/>
                  <a:pt x="1590675"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Freeform: Shape 52">
            <a:extLst>
              <a:ext uri="{FF2B5EF4-FFF2-40B4-BE49-F238E27FC236}">
                <a16:creationId xmlns:a16="http://schemas.microsoft.com/office/drawing/2014/main" id="{A996375D-CC24-4DE5-A4BD-85F4B64F6354}"/>
              </a:ext>
            </a:extLst>
          </p:cNvPr>
          <p:cNvSpPr/>
          <p:nvPr/>
        </p:nvSpPr>
        <p:spPr bwMode="gray">
          <a:xfrm>
            <a:off x="7725047" y="2188924"/>
            <a:ext cx="2070100" cy="886650"/>
          </a:xfrm>
          <a:custGeom>
            <a:avLst/>
            <a:gdLst>
              <a:gd name="connsiteX0" fmla="*/ 0 w 2070100"/>
              <a:gd name="connsiteY0" fmla="*/ 2115 h 886650"/>
              <a:gd name="connsiteX1" fmla="*/ 298450 w 2070100"/>
              <a:gd name="connsiteY1" fmla="*/ 100540 h 886650"/>
              <a:gd name="connsiteX2" fmla="*/ 381000 w 2070100"/>
              <a:gd name="connsiteY2" fmla="*/ 652990 h 886650"/>
              <a:gd name="connsiteX3" fmla="*/ 1546225 w 2070100"/>
              <a:gd name="connsiteY3" fmla="*/ 859365 h 886650"/>
              <a:gd name="connsiteX4" fmla="*/ 2070100 w 2070100"/>
              <a:gd name="connsiteY4" fmla="*/ 878415 h 886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100" h="886650">
                <a:moveTo>
                  <a:pt x="0" y="2115"/>
                </a:moveTo>
                <a:cubicBezTo>
                  <a:pt x="117475" y="-2912"/>
                  <a:pt x="234950" y="-7939"/>
                  <a:pt x="298450" y="100540"/>
                </a:cubicBezTo>
                <a:cubicBezTo>
                  <a:pt x="361950" y="209019"/>
                  <a:pt x="173038" y="526519"/>
                  <a:pt x="381000" y="652990"/>
                </a:cubicBezTo>
                <a:cubicBezTo>
                  <a:pt x="588963" y="779461"/>
                  <a:pt x="1264708" y="821794"/>
                  <a:pt x="1546225" y="859365"/>
                </a:cubicBezTo>
                <a:cubicBezTo>
                  <a:pt x="1827742" y="896936"/>
                  <a:pt x="1948921" y="887675"/>
                  <a:pt x="2070100" y="878415"/>
                </a:cubicBezTo>
              </a:path>
            </a:pathLst>
          </a:custGeom>
          <a:noFill/>
          <a:ln w="28575">
            <a:solidFill>
              <a:srgbClr val="56C4D2"/>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7BF08FC6-C003-447C-A84A-5DCC8592B83E}"/>
              </a:ext>
            </a:extLst>
          </p:cNvPr>
          <p:cNvSpPr/>
          <p:nvPr/>
        </p:nvSpPr>
        <p:spPr bwMode="blackGray">
          <a:xfrm flipV="1">
            <a:off x="7725047" y="2166822"/>
            <a:ext cx="2070100" cy="886650"/>
          </a:xfrm>
          <a:custGeom>
            <a:avLst/>
            <a:gdLst>
              <a:gd name="connsiteX0" fmla="*/ 0 w 2070100"/>
              <a:gd name="connsiteY0" fmla="*/ 2115 h 886650"/>
              <a:gd name="connsiteX1" fmla="*/ 298450 w 2070100"/>
              <a:gd name="connsiteY1" fmla="*/ 100540 h 886650"/>
              <a:gd name="connsiteX2" fmla="*/ 381000 w 2070100"/>
              <a:gd name="connsiteY2" fmla="*/ 652990 h 886650"/>
              <a:gd name="connsiteX3" fmla="*/ 1546225 w 2070100"/>
              <a:gd name="connsiteY3" fmla="*/ 859365 h 886650"/>
              <a:gd name="connsiteX4" fmla="*/ 2070100 w 2070100"/>
              <a:gd name="connsiteY4" fmla="*/ 878415 h 886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100" h="886650">
                <a:moveTo>
                  <a:pt x="0" y="2115"/>
                </a:moveTo>
                <a:cubicBezTo>
                  <a:pt x="117475" y="-2912"/>
                  <a:pt x="234950" y="-7939"/>
                  <a:pt x="298450" y="100540"/>
                </a:cubicBezTo>
                <a:cubicBezTo>
                  <a:pt x="361950" y="209019"/>
                  <a:pt x="173038" y="526519"/>
                  <a:pt x="381000" y="652990"/>
                </a:cubicBezTo>
                <a:cubicBezTo>
                  <a:pt x="588963" y="779461"/>
                  <a:pt x="1264708" y="821794"/>
                  <a:pt x="1546225" y="859365"/>
                </a:cubicBezTo>
                <a:cubicBezTo>
                  <a:pt x="1827742" y="896936"/>
                  <a:pt x="1948921" y="887675"/>
                  <a:pt x="2070100" y="878415"/>
                </a:cubicBezTo>
              </a:path>
            </a:pathLst>
          </a:cu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extBox 54">
            <a:extLst>
              <a:ext uri="{FF2B5EF4-FFF2-40B4-BE49-F238E27FC236}">
                <a16:creationId xmlns:a16="http://schemas.microsoft.com/office/drawing/2014/main" id="{9B31093B-5834-44E8-98AE-38605CF6F7F3}"/>
              </a:ext>
            </a:extLst>
          </p:cNvPr>
          <p:cNvSpPr txBox="1"/>
          <p:nvPr/>
        </p:nvSpPr>
        <p:spPr bwMode="gray">
          <a:xfrm>
            <a:off x="8550460" y="1655646"/>
            <a:ext cx="1826141" cy="338554"/>
          </a:xfrm>
          <a:prstGeom prst="rect">
            <a:avLst/>
          </a:prstGeom>
          <a:noFill/>
        </p:spPr>
        <p:txBody>
          <a:bodyPr wrap="none" rtlCol="0">
            <a:spAutoFit/>
          </a:bodyPr>
          <a:lstStyle/>
          <a:p>
            <a:r>
              <a:rPr lang="zh-CN" altLang="en-US" sz="1600" dirty="0"/>
              <a:t>非关键业务主路径</a:t>
            </a:r>
            <a:endParaRPr lang="en-US" sz="1600" dirty="0"/>
          </a:p>
        </p:txBody>
      </p:sp>
      <p:sp>
        <p:nvSpPr>
          <p:cNvPr id="56" name="TextBox 55">
            <a:extLst>
              <a:ext uri="{FF2B5EF4-FFF2-40B4-BE49-F238E27FC236}">
                <a16:creationId xmlns:a16="http://schemas.microsoft.com/office/drawing/2014/main" id="{B24773BB-1143-4219-B21D-91DFF7565C2F}"/>
              </a:ext>
            </a:extLst>
          </p:cNvPr>
          <p:cNvSpPr txBox="1"/>
          <p:nvPr/>
        </p:nvSpPr>
        <p:spPr bwMode="gray">
          <a:xfrm>
            <a:off x="8565445" y="3211507"/>
            <a:ext cx="1620957" cy="338554"/>
          </a:xfrm>
          <a:prstGeom prst="rect">
            <a:avLst/>
          </a:prstGeom>
          <a:noFill/>
        </p:spPr>
        <p:txBody>
          <a:bodyPr wrap="none" rtlCol="0">
            <a:spAutoFit/>
          </a:bodyPr>
          <a:lstStyle/>
          <a:p>
            <a:r>
              <a:rPr lang="zh-CN" altLang="en-US" sz="1600" dirty="0"/>
              <a:t>关键业务主路径</a:t>
            </a:r>
            <a:endParaRPr lang="en-US" sz="1600" dirty="0"/>
          </a:p>
        </p:txBody>
      </p:sp>
      <p:sp>
        <p:nvSpPr>
          <p:cNvPr id="57" name="TextBox 56">
            <a:extLst>
              <a:ext uri="{FF2B5EF4-FFF2-40B4-BE49-F238E27FC236}">
                <a16:creationId xmlns:a16="http://schemas.microsoft.com/office/drawing/2014/main" id="{81623D49-20B6-4FEF-AC4A-89EA54761720}"/>
              </a:ext>
            </a:extLst>
          </p:cNvPr>
          <p:cNvSpPr txBox="1"/>
          <p:nvPr/>
        </p:nvSpPr>
        <p:spPr bwMode="gray">
          <a:xfrm>
            <a:off x="9504911" y="2158766"/>
            <a:ext cx="1620957" cy="338554"/>
          </a:xfrm>
          <a:prstGeom prst="rect">
            <a:avLst/>
          </a:prstGeom>
          <a:noFill/>
        </p:spPr>
        <p:txBody>
          <a:bodyPr wrap="none" rtlCol="0">
            <a:spAutoFit/>
          </a:bodyPr>
          <a:lstStyle/>
          <a:p>
            <a:r>
              <a:rPr lang="zh-CN" altLang="en-US" sz="1600" dirty="0"/>
              <a:t>关键业务备路径</a:t>
            </a:r>
            <a:endParaRPr lang="en-US" sz="1600" dirty="0"/>
          </a:p>
        </p:txBody>
      </p:sp>
      <p:sp>
        <p:nvSpPr>
          <p:cNvPr id="58" name="TextBox 57">
            <a:extLst>
              <a:ext uri="{FF2B5EF4-FFF2-40B4-BE49-F238E27FC236}">
                <a16:creationId xmlns:a16="http://schemas.microsoft.com/office/drawing/2014/main" id="{9470CEEE-FB07-4C1E-BDC4-254D6247A8E8}"/>
              </a:ext>
            </a:extLst>
          </p:cNvPr>
          <p:cNvSpPr txBox="1"/>
          <p:nvPr/>
        </p:nvSpPr>
        <p:spPr bwMode="gray">
          <a:xfrm>
            <a:off x="9463530" y="2718925"/>
            <a:ext cx="1854995" cy="338554"/>
          </a:xfrm>
          <a:prstGeom prst="rect">
            <a:avLst/>
          </a:prstGeom>
          <a:noFill/>
        </p:spPr>
        <p:txBody>
          <a:bodyPr wrap="none" rtlCol="0">
            <a:spAutoFit/>
          </a:bodyPr>
          <a:lstStyle/>
          <a:p>
            <a:r>
              <a:rPr lang="zh-CN" altLang="en-US" sz="1600" dirty="0"/>
              <a:t>非关键业务备路径</a:t>
            </a:r>
            <a:endParaRPr lang="en-US" sz="1600" dirty="0"/>
          </a:p>
        </p:txBody>
      </p:sp>
      <p:sp>
        <p:nvSpPr>
          <p:cNvPr id="36" name="五边形 2">
            <a:extLst>
              <a:ext uri="{FF2B5EF4-FFF2-40B4-BE49-F238E27FC236}">
                <a16:creationId xmlns:a16="http://schemas.microsoft.com/office/drawing/2014/main" id="{EE70B2CB-6DF6-45DD-8C9F-892B95D45942}"/>
              </a:ext>
            </a:extLst>
          </p:cNvPr>
          <p:cNvSpPr/>
          <p:nvPr/>
        </p:nvSpPr>
        <p:spPr bwMode="gray">
          <a:xfrm>
            <a:off x="7742323" y="121856"/>
            <a:ext cx="142606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侧网络设计</a:t>
            </a:r>
          </a:p>
        </p:txBody>
      </p:sp>
      <p:sp>
        <p:nvSpPr>
          <p:cNvPr id="37" name="燕尾形 3">
            <a:extLst>
              <a:ext uri="{FF2B5EF4-FFF2-40B4-BE49-F238E27FC236}">
                <a16:creationId xmlns:a16="http://schemas.microsoft.com/office/drawing/2014/main" id="{F751EB43-6577-4337-A5CD-474EA47C0E90}"/>
              </a:ext>
            </a:extLst>
          </p:cNvPr>
          <p:cNvSpPr/>
          <p:nvPr/>
        </p:nvSpPr>
        <p:spPr bwMode="gray">
          <a:xfrm>
            <a:off x="10441326" y="12185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双</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CPE</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互联设计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3">
            <a:extLst>
              <a:ext uri="{FF2B5EF4-FFF2-40B4-BE49-F238E27FC236}">
                <a16:creationId xmlns:a16="http://schemas.microsoft.com/office/drawing/2014/main" id="{3628227F-43F9-413D-84F1-6CE1E055F788}"/>
              </a:ext>
            </a:extLst>
          </p:cNvPr>
          <p:cNvSpPr/>
          <p:nvPr/>
        </p:nvSpPr>
        <p:spPr bwMode="gray">
          <a:xfrm>
            <a:off x="9091825" y="121856"/>
            <a:ext cx="142606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侧网络设计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656683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en-US" altLang="zh-CN" dirty="0"/>
              <a:t>WAN</a:t>
            </a:r>
            <a:r>
              <a:rPr lang="zh-CN" altLang="en-US" dirty="0"/>
              <a:t>侧</a:t>
            </a:r>
            <a:r>
              <a:rPr lang="en-US" altLang="zh-CN" dirty="0"/>
              <a:t>Underlay</a:t>
            </a:r>
            <a:r>
              <a:rPr lang="zh-CN" altLang="en-US" dirty="0"/>
              <a:t>路由设计</a:t>
            </a:r>
            <a:endParaRPr lang="en-US" dirty="0"/>
          </a:p>
        </p:txBody>
      </p:sp>
      <p:sp>
        <p:nvSpPr>
          <p:cNvPr id="35" name="圆角矩形 75">
            <a:extLst>
              <a:ext uri="{FF2B5EF4-FFF2-40B4-BE49-F238E27FC236}">
                <a16:creationId xmlns:a16="http://schemas.microsoft.com/office/drawing/2014/main" id="{6D8BEEE9-7966-403F-B4E2-5CB6ED2DF116}"/>
              </a:ext>
            </a:extLst>
          </p:cNvPr>
          <p:cNvSpPr/>
          <p:nvPr/>
        </p:nvSpPr>
        <p:spPr bwMode="gray">
          <a:xfrm>
            <a:off x="845353" y="1528090"/>
            <a:ext cx="10519723" cy="3838567"/>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r>
              <a:rPr lang="en-US" altLang="zh-CN" sz="1400" dirty="0">
                <a:solidFill>
                  <a:schemeClr val="tx1"/>
                </a:solidFill>
              </a:rPr>
              <a:t>EDGE</a:t>
            </a:r>
            <a:r>
              <a:rPr lang="zh-CN" altLang="en-US" sz="1400" dirty="0">
                <a:solidFill>
                  <a:schemeClr val="tx1"/>
                </a:solidFill>
              </a:rPr>
              <a:t>的</a:t>
            </a:r>
            <a:r>
              <a:rPr lang="en-US" altLang="zh-CN" sz="1400" dirty="0">
                <a:solidFill>
                  <a:schemeClr val="tx1"/>
                </a:solidFill>
              </a:rPr>
              <a:t>WAN</a:t>
            </a:r>
            <a:r>
              <a:rPr lang="zh-CN" altLang="en-US" sz="1400" dirty="0">
                <a:solidFill>
                  <a:schemeClr val="tx1"/>
                </a:solidFill>
              </a:rPr>
              <a:t>接口，支持部署传统的静态路由、</a:t>
            </a:r>
            <a:r>
              <a:rPr lang="en-US" altLang="zh-CN" sz="1400" dirty="0">
                <a:solidFill>
                  <a:schemeClr val="tx1"/>
                </a:solidFill>
              </a:rPr>
              <a:t>OSPF</a:t>
            </a:r>
            <a:r>
              <a:rPr lang="zh-CN" altLang="en-US" sz="1400" dirty="0">
                <a:solidFill>
                  <a:schemeClr val="tx1"/>
                </a:solidFill>
              </a:rPr>
              <a:t>或者</a:t>
            </a:r>
            <a:r>
              <a:rPr lang="en-US" altLang="zh-CN" sz="1400" dirty="0">
                <a:solidFill>
                  <a:schemeClr val="tx1"/>
                </a:solidFill>
              </a:rPr>
              <a:t>EBGP</a:t>
            </a:r>
            <a:r>
              <a:rPr lang="zh-CN" altLang="en-US" sz="1400" dirty="0">
                <a:solidFill>
                  <a:schemeClr val="tx1"/>
                </a:solidFill>
              </a:rPr>
              <a:t>路由协议。具体采用哪一种，是由</a:t>
            </a:r>
            <a:r>
              <a:rPr lang="en-US" altLang="zh-CN" sz="1400" dirty="0">
                <a:solidFill>
                  <a:schemeClr val="tx1"/>
                </a:solidFill>
              </a:rPr>
              <a:t>WAN</a:t>
            </a:r>
            <a:r>
              <a:rPr lang="zh-CN" altLang="en-US" sz="1400" dirty="0">
                <a:solidFill>
                  <a:schemeClr val="tx1"/>
                </a:solidFill>
              </a:rPr>
              <a:t>侧</a:t>
            </a:r>
            <a:r>
              <a:rPr lang="en-US" altLang="zh-CN" sz="1400" dirty="0">
                <a:solidFill>
                  <a:schemeClr val="tx1"/>
                </a:solidFill>
              </a:rPr>
              <a:t>Underlay</a:t>
            </a:r>
            <a:r>
              <a:rPr lang="zh-CN" altLang="en-US" sz="1400" dirty="0">
                <a:solidFill>
                  <a:schemeClr val="tx1"/>
                </a:solidFill>
              </a:rPr>
              <a:t>网络对接的网络设备的路由部署方式决定，两边保持一致即可。</a:t>
            </a:r>
            <a:endParaRPr lang="en-US" altLang="zh-CN" sz="1400" dirty="0">
              <a:solidFill>
                <a:schemeClr val="tx1"/>
              </a:solidFill>
            </a:endParaRPr>
          </a:p>
          <a:p>
            <a:pPr marL="228594" indent="-228594">
              <a:buFont typeface="Arial" panose="020B0604020202020204" pitchFamily="34" charset="0"/>
              <a:buChar char="•"/>
            </a:pPr>
            <a:r>
              <a:rPr lang="zh-CN" altLang="en-US" sz="1400" dirty="0">
                <a:solidFill>
                  <a:schemeClr val="tx1"/>
                </a:solidFill>
              </a:rPr>
              <a:t>在现网使用时，由于静态路由没有协议交互，无法感知非直连链路的</a:t>
            </a:r>
            <a:r>
              <a:rPr lang="en-US" altLang="zh-CN" sz="1400" dirty="0">
                <a:solidFill>
                  <a:schemeClr val="tx1"/>
                </a:solidFill>
              </a:rPr>
              <a:t>WAN</a:t>
            </a:r>
            <a:r>
              <a:rPr lang="zh-CN" altLang="en-US" sz="1400" dirty="0">
                <a:solidFill>
                  <a:schemeClr val="tx1"/>
                </a:solidFill>
              </a:rPr>
              <a:t>网络故障，可能会造成业务中断。</a:t>
            </a:r>
          </a:p>
        </p:txBody>
      </p:sp>
      <p:sp>
        <p:nvSpPr>
          <p:cNvPr id="59" name="圆角矩形 75">
            <a:extLst>
              <a:ext uri="{FF2B5EF4-FFF2-40B4-BE49-F238E27FC236}">
                <a16:creationId xmlns:a16="http://schemas.microsoft.com/office/drawing/2014/main" id="{7F2E9DEB-208F-4D91-9AD4-5BE410910E80}"/>
              </a:ext>
            </a:extLst>
          </p:cNvPr>
          <p:cNvSpPr/>
          <p:nvPr/>
        </p:nvSpPr>
        <p:spPr bwMode="gray">
          <a:xfrm>
            <a:off x="845353" y="1088313"/>
            <a:ext cx="10519723"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使用</a:t>
            </a:r>
            <a:r>
              <a:rPr lang="en-US" altLang="zh-CN" sz="1600" dirty="0">
                <a:solidFill>
                  <a:srgbClr val="30B5C5"/>
                </a:solidFill>
                <a:latin typeface="Huawei Sans" panose="020C0503030203020204" pitchFamily="34" charset="0"/>
                <a:ea typeface="方正兰亭黑简体" panose="02000000000000000000" pitchFamily="2" charset="-122"/>
              </a:rPr>
              <a:t>BGP</a:t>
            </a:r>
            <a:r>
              <a:rPr lang="zh-CN" altLang="en-US" sz="1600" dirty="0">
                <a:solidFill>
                  <a:srgbClr val="30B5C5"/>
                </a:solidFill>
                <a:latin typeface="Huawei Sans" panose="020C0503030203020204" pitchFamily="34" charset="0"/>
                <a:ea typeface="方正兰亭黑简体" panose="02000000000000000000" pitchFamily="2" charset="-122"/>
              </a:rPr>
              <a:t>协议接入</a:t>
            </a:r>
            <a:r>
              <a:rPr lang="en-US" altLang="zh-CN" sz="1600" dirty="0">
                <a:solidFill>
                  <a:srgbClr val="30B5C5"/>
                </a:solidFill>
                <a:latin typeface="Huawei Sans" panose="020C0503030203020204" pitchFamily="34" charset="0"/>
                <a:ea typeface="方正兰亭黑简体" panose="02000000000000000000" pitchFamily="2" charset="-122"/>
              </a:rPr>
              <a:t>WAN</a:t>
            </a:r>
            <a:r>
              <a:rPr lang="zh-CN" altLang="en-US" sz="1600" dirty="0">
                <a:solidFill>
                  <a:srgbClr val="30B5C5"/>
                </a:solidFill>
                <a:latin typeface="Huawei Sans" panose="020C0503030203020204" pitchFamily="34" charset="0"/>
                <a:ea typeface="方正兰亭黑简体" panose="02000000000000000000" pitchFamily="2" charset="-122"/>
              </a:rPr>
              <a:t>网络</a:t>
            </a:r>
          </a:p>
        </p:txBody>
      </p:sp>
      <p:sp>
        <p:nvSpPr>
          <p:cNvPr id="60" name="Freeform 159">
            <a:extLst>
              <a:ext uri="{FF2B5EF4-FFF2-40B4-BE49-F238E27FC236}">
                <a16:creationId xmlns:a16="http://schemas.microsoft.com/office/drawing/2014/main" id="{7E1EDA8B-65DF-45BC-89B5-7B8A065D29D0}"/>
              </a:ext>
            </a:extLst>
          </p:cNvPr>
          <p:cNvSpPr/>
          <p:nvPr/>
        </p:nvSpPr>
        <p:spPr bwMode="gray">
          <a:xfrm flipH="1">
            <a:off x="3372612" y="2589591"/>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企业内网</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1" name="直接连接符 80">
            <a:extLst>
              <a:ext uri="{FF2B5EF4-FFF2-40B4-BE49-F238E27FC236}">
                <a16:creationId xmlns:a16="http://schemas.microsoft.com/office/drawing/2014/main" id="{85B76E9A-D363-4F7C-AA18-BB6C4F488E15}"/>
              </a:ext>
            </a:extLst>
          </p:cNvPr>
          <p:cNvCxnSpPr>
            <a:cxnSpLocks/>
            <a:stCxn id="71" idx="1"/>
            <a:endCxn id="62" idx="2"/>
          </p:cNvCxnSpPr>
          <p:nvPr/>
        </p:nvCxnSpPr>
        <p:spPr bwMode="gray">
          <a:xfrm flipH="1" flipV="1">
            <a:off x="4575319" y="3132084"/>
            <a:ext cx="1202706" cy="4475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2" name="图片 81">
            <a:extLst>
              <a:ext uri="{FF2B5EF4-FFF2-40B4-BE49-F238E27FC236}">
                <a16:creationId xmlns:a16="http://schemas.microsoft.com/office/drawing/2014/main" id="{682BBD64-588B-405F-A28B-50A6B0C139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29864" y="2729539"/>
            <a:ext cx="490909" cy="402545"/>
          </a:xfrm>
          <a:prstGeom prst="rect">
            <a:avLst/>
          </a:prstGeom>
        </p:spPr>
      </p:pic>
      <p:cxnSp>
        <p:nvCxnSpPr>
          <p:cNvPr id="63" name="直接连接符 84">
            <a:extLst>
              <a:ext uri="{FF2B5EF4-FFF2-40B4-BE49-F238E27FC236}">
                <a16:creationId xmlns:a16="http://schemas.microsoft.com/office/drawing/2014/main" id="{076223DE-26C0-4211-86F6-D73828F77C8E}"/>
              </a:ext>
            </a:extLst>
          </p:cNvPr>
          <p:cNvCxnSpPr>
            <a:cxnSpLocks/>
            <a:stCxn id="70" idx="1"/>
            <a:endCxn id="62" idx="0"/>
          </p:cNvCxnSpPr>
          <p:nvPr/>
        </p:nvCxnSpPr>
        <p:spPr bwMode="gray">
          <a:xfrm flipH="1">
            <a:off x="4575319" y="2366928"/>
            <a:ext cx="1202706" cy="3626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Freeform 159">
            <a:extLst>
              <a:ext uri="{FF2B5EF4-FFF2-40B4-BE49-F238E27FC236}">
                <a16:creationId xmlns:a16="http://schemas.microsoft.com/office/drawing/2014/main" id="{1AA5C6BA-A763-475B-B946-C0FDC5A539BE}"/>
              </a:ext>
            </a:extLst>
          </p:cNvPr>
          <p:cNvSpPr/>
          <p:nvPr/>
        </p:nvSpPr>
        <p:spPr bwMode="gray">
          <a:xfrm flipH="1">
            <a:off x="5953205" y="3069866"/>
            <a:ext cx="1374071" cy="7182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65" name="Freeform 159">
            <a:extLst>
              <a:ext uri="{FF2B5EF4-FFF2-40B4-BE49-F238E27FC236}">
                <a16:creationId xmlns:a16="http://schemas.microsoft.com/office/drawing/2014/main" id="{485DF812-0A3C-4A1C-AC71-437ECB5ED35A}"/>
              </a:ext>
            </a:extLst>
          </p:cNvPr>
          <p:cNvSpPr/>
          <p:nvPr/>
        </p:nvSpPr>
        <p:spPr bwMode="gray">
          <a:xfrm flipH="1">
            <a:off x="5953206" y="1841721"/>
            <a:ext cx="1374071" cy="7182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pic>
        <p:nvPicPr>
          <p:cNvPr id="70" name="图片 12">
            <a:extLst>
              <a:ext uri="{FF2B5EF4-FFF2-40B4-BE49-F238E27FC236}">
                <a16:creationId xmlns:a16="http://schemas.microsoft.com/office/drawing/2014/main" id="{A685115B-A8C9-4C16-ABFE-84056FA753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778025" y="2165655"/>
            <a:ext cx="490909" cy="402545"/>
          </a:xfrm>
          <a:prstGeom prst="rect">
            <a:avLst/>
          </a:prstGeom>
        </p:spPr>
      </p:pic>
      <p:pic>
        <p:nvPicPr>
          <p:cNvPr id="71" name="图片 12">
            <a:extLst>
              <a:ext uri="{FF2B5EF4-FFF2-40B4-BE49-F238E27FC236}">
                <a16:creationId xmlns:a16="http://schemas.microsoft.com/office/drawing/2014/main" id="{9C508D48-AFD0-4D33-9871-DBB3651D7B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778025" y="3378394"/>
            <a:ext cx="490909" cy="402545"/>
          </a:xfrm>
          <a:prstGeom prst="rect">
            <a:avLst/>
          </a:prstGeom>
        </p:spPr>
      </p:pic>
      <p:cxnSp>
        <p:nvCxnSpPr>
          <p:cNvPr id="72" name="直接连接符 32">
            <a:extLst>
              <a:ext uri="{FF2B5EF4-FFF2-40B4-BE49-F238E27FC236}">
                <a16:creationId xmlns:a16="http://schemas.microsoft.com/office/drawing/2014/main" id="{520EABDB-F6F3-4B3F-A094-7E9B3640B144}"/>
              </a:ext>
            </a:extLst>
          </p:cNvPr>
          <p:cNvCxnSpPr>
            <a:cxnSpLocks/>
          </p:cNvCxnSpPr>
          <p:nvPr/>
        </p:nvCxnSpPr>
        <p:spPr bwMode="gray">
          <a:xfrm flipH="1" flipV="1">
            <a:off x="4624321" y="3227761"/>
            <a:ext cx="1029147" cy="412891"/>
          </a:xfrm>
          <a:prstGeom prst="line">
            <a:avLst/>
          </a:prstGeom>
          <a:ln w="19050">
            <a:solidFill>
              <a:srgbClr val="E28189"/>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73" name="文本框 33">
            <a:extLst>
              <a:ext uri="{FF2B5EF4-FFF2-40B4-BE49-F238E27FC236}">
                <a16:creationId xmlns:a16="http://schemas.microsoft.com/office/drawing/2014/main" id="{14894D0C-201F-4588-B24A-A23A8BB0BA0F}"/>
              </a:ext>
            </a:extLst>
          </p:cNvPr>
          <p:cNvSpPr txBox="1"/>
          <p:nvPr/>
        </p:nvSpPr>
        <p:spPr bwMode="gray">
          <a:xfrm rot="1299819">
            <a:off x="4515311" y="3425780"/>
            <a:ext cx="1128815" cy="307777"/>
          </a:xfrm>
          <a:prstGeom prst="rect">
            <a:avLst/>
          </a:prstGeom>
          <a:noFill/>
        </p:spPr>
        <p:txBody>
          <a:bodyPr wrap="square" rtlCol="0">
            <a:spAutoFit/>
          </a:bodyPr>
          <a:lstStyle/>
          <a:p>
            <a:r>
              <a:rPr lang="en-US" altLang="zh-CN" sz="1400" b="1" dirty="0">
                <a:solidFill>
                  <a:srgbClr val="C7000B"/>
                </a:solidFill>
              </a:rPr>
              <a:t>OSPF/BGP</a:t>
            </a:r>
          </a:p>
        </p:txBody>
      </p:sp>
      <p:cxnSp>
        <p:nvCxnSpPr>
          <p:cNvPr id="74" name="直接连接符 32">
            <a:extLst>
              <a:ext uri="{FF2B5EF4-FFF2-40B4-BE49-F238E27FC236}">
                <a16:creationId xmlns:a16="http://schemas.microsoft.com/office/drawing/2014/main" id="{19080367-4801-475D-B8CD-E95C52B60BDD}"/>
              </a:ext>
            </a:extLst>
          </p:cNvPr>
          <p:cNvCxnSpPr>
            <a:cxnSpLocks/>
          </p:cNvCxnSpPr>
          <p:nvPr/>
        </p:nvCxnSpPr>
        <p:spPr bwMode="gray">
          <a:xfrm flipH="1">
            <a:off x="4624322" y="2305943"/>
            <a:ext cx="1029146" cy="335305"/>
          </a:xfrm>
          <a:prstGeom prst="line">
            <a:avLst/>
          </a:prstGeom>
          <a:ln w="19050">
            <a:solidFill>
              <a:srgbClr val="E28189"/>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75" name="文本框 33">
            <a:extLst>
              <a:ext uri="{FF2B5EF4-FFF2-40B4-BE49-F238E27FC236}">
                <a16:creationId xmlns:a16="http://schemas.microsoft.com/office/drawing/2014/main" id="{E97226E2-44A5-4BE5-AAE2-5126F5B0E313}"/>
              </a:ext>
            </a:extLst>
          </p:cNvPr>
          <p:cNvSpPr txBox="1"/>
          <p:nvPr/>
        </p:nvSpPr>
        <p:spPr bwMode="gray">
          <a:xfrm rot="20586010">
            <a:off x="4648801" y="2180217"/>
            <a:ext cx="938103" cy="307777"/>
          </a:xfrm>
          <a:prstGeom prst="rect">
            <a:avLst/>
          </a:prstGeom>
          <a:noFill/>
        </p:spPr>
        <p:txBody>
          <a:bodyPr wrap="square" rtlCol="0">
            <a:spAutoFit/>
          </a:bodyPr>
          <a:lstStyle/>
          <a:p>
            <a:r>
              <a:rPr lang="zh-CN" altLang="en-US" sz="1400" b="1" dirty="0">
                <a:solidFill>
                  <a:srgbClr val="C7000B"/>
                </a:solidFill>
              </a:rPr>
              <a:t>静态路由</a:t>
            </a:r>
            <a:endParaRPr lang="en-US" altLang="zh-CN" sz="1400" b="1" dirty="0">
              <a:solidFill>
                <a:srgbClr val="C7000B"/>
              </a:solidFill>
            </a:endParaRPr>
          </a:p>
        </p:txBody>
      </p:sp>
      <p:sp>
        <p:nvSpPr>
          <p:cNvPr id="76" name="文本框 18">
            <a:extLst>
              <a:ext uri="{FF2B5EF4-FFF2-40B4-BE49-F238E27FC236}">
                <a16:creationId xmlns:a16="http://schemas.microsoft.com/office/drawing/2014/main" id="{4121A735-6906-4143-9022-2388D2F45BDB}"/>
              </a:ext>
            </a:extLst>
          </p:cNvPr>
          <p:cNvSpPr txBox="1"/>
          <p:nvPr/>
        </p:nvSpPr>
        <p:spPr bwMode="gray">
          <a:xfrm>
            <a:off x="4735545" y="2781291"/>
            <a:ext cx="718616" cy="307777"/>
          </a:xfrm>
          <a:prstGeom prst="rect">
            <a:avLst/>
          </a:prstGeom>
          <a:noFill/>
        </p:spPr>
        <p:txBody>
          <a:bodyPr wrap="square" rtlCol="0">
            <a:spAutoFit/>
          </a:bodyPr>
          <a:lstStyle/>
          <a:p>
            <a:pPr algn="ct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4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五边形 2">
            <a:extLst>
              <a:ext uri="{FF2B5EF4-FFF2-40B4-BE49-F238E27FC236}">
                <a16:creationId xmlns:a16="http://schemas.microsoft.com/office/drawing/2014/main" id="{EE70B2CB-6DF6-45DD-8C9F-892B95D45942}"/>
              </a:ext>
            </a:extLst>
          </p:cNvPr>
          <p:cNvSpPr/>
          <p:nvPr/>
        </p:nvSpPr>
        <p:spPr bwMode="gray">
          <a:xfrm>
            <a:off x="7742323" y="121856"/>
            <a:ext cx="142606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侧网络设计</a:t>
            </a:r>
          </a:p>
        </p:txBody>
      </p:sp>
      <p:sp>
        <p:nvSpPr>
          <p:cNvPr id="22" name="燕尾形 3">
            <a:extLst>
              <a:ext uri="{FF2B5EF4-FFF2-40B4-BE49-F238E27FC236}">
                <a16:creationId xmlns:a16="http://schemas.microsoft.com/office/drawing/2014/main" id="{F751EB43-6577-4337-A5CD-474EA47C0E90}"/>
              </a:ext>
            </a:extLst>
          </p:cNvPr>
          <p:cNvSpPr/>
          <p:nvPr/>
        </p:nvSpPr>
        <p:spPr bwMode="gray">
          <a:xfrm>
            <a:off x="10441326" y="12185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双</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CPE</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互联设计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3">
            <a:extLst>
              <a:ext uri="{FF2B5EF4-FFF2-40B4-BE49-F238E27FC236}">
                <a16:creationId xmlns:a16="http://schemas.microsoft.com/office/drawing/2014/main" id="{3628227F-43F9-413D-84F1-6CE1E055F788}"/>
              </a:ext>
            </a:extLst>
          </p:cNvPr>
          <p:cNvSpPr/>
          <p:nvPr/>
        </p:nvSpPr>
        <p:spPr bwMode="gray">
          <a:xfrm>
            <a:off x="9091825" y="121856"/>
            <a:ext cx="142606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侧网络设计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95587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en-US" dirty="0"/>
              <a:t>LAN</a:t>
            </a:r>
            <a:r>
              <a:rPr lang="zh-CN" altLang="en-US" dirty="0"/>
              <a:t>侧网络组网模型</a:t>
            </a:r>
            <a:endParaRPr lang="en-US" dirty="0"/>
          </a:p>
        </p:txBody>
      </p:sp>
      <p:sp>
        <p:nvSpPr>
          <p:cNvPr id="72" name="圆角矩形 75">
            <a:extLst>
              <a:ext uri="{FF2B5EF4-FFF2-40B4-BE49-F238E27FC236}">
                <a16:creationId xmlns:a16="http://schemas.microsoft.com/office/drawing/2014/main" id="{1797F6A7-2917-4229-9E5D-AD190692D073}"/>
              </a:ext>
            </a:extLst>
          </p:cNvPr>
          <p:cNvSpPr/>
          <p:nvPr/>
        </p:nvSpPr>
        <p:spPr bwMode="gray">
          <a:xfrm>
            <a:off x="1257300" y="1166814"/>
            <a:ext cx="954405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LAN</a:t>
            </a:r>
            <a:r>
              <a:rPr lang="zh-CN" altLang="en-US" sz="1600" dirty="0">
                <a:solidFill>
                  <a:srgbClr val="30B5C5"/>
                </a:solidFill>
                <a:latin typeface="Huawei Sans" panose="020C0503030203020204" pitchFamily="34" charset="0"/>
                <a:ea typeface="方正兰亭黑简体" panose="02000000000000000000" pitchFamily="2" charset="-122"/>
              </a:rPr>
              <a:t>侧对接</a:t>
            </a:r>
            <a:r>
              <a:rPr lang="en-US" altLang="zh-CN" sz="1600" dirty="0">
                <a:solidFill>
                  <a:srgbClr val="30B5C5"/>
                </a:solidFill>
                <a:latin typeface="Huawei Sans" panose="020C0503030203020204" pitchFamily="34" charset="0"/>
                <a:ea typeface="方正兰亭黑简体" panose="02000000000000000000" pitchFamily="2" charset="-122"/>
              </a:rPr>
              <a:t>L2</a:t>
            </a:r>
            <a:r>
              <a:rPr lang="zh-CN" altLang="en-US" sz="1600" dirty="0">
                <a:solidFill>
                  <a:srgbClr val="30B5C5"/>
                </a:solidFill>
                <a:latin typeface="Huawei Sans" panose="020C0503030203020204" pitchFamily="34" charset="0"/>
                <a:ea typeface="方正兰亭黑简体" panose="02000000000000000000" pitchFamily="2" charset="-122"/>
              </a:rPr>
              <a:t>网络</a:t>
            </a:r>
          </a:p>
        </p:txBody>
      </p:sp>
      <p:sp>
        <p:nvSpPr>
          <p:cNvPr id="73" name="圆角矩形 75">
            <a:extLst>
              <a:ext uri="{FF2B5EF4-FFF2-40B4-BE49-F238E27FC236}">
                <a16:creationId xmlns:a16="http://schemas.microsoft.com/office/drawing/2014/main" id="{D76AF2BB-08B8-40DA-9BE7-466F301B635A}"/>
              </a:ext>
            </a:extLst>
          </p:cNvPr>
          <p:cNvSpPr/>
          <p:nvPr/>
        </p:nvSpPr>
        <p:spPr bwMode="gray">
          <a:xfrm>
            <a:off x="1257300" y="1606591"/>
            <a:ext cx="9544050" cy="194464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1" name="圆角矩形 75">
            <a:extLst>
              <a:ext uri="{FF2B5EF4-FFF2-40B4-BE49-F238E27FC236}">
                <a16:creationId xmlns:a16="http://schemas.microsoft.com/office/drawing/2014/main" id="{4466B102-6D27-44C0-A8B5-048F5E89CB7C}"/>
              </a:ext>
            </a:extLst>
          </p:cNvPr>
          <p:cNvSpPr/>
          <p:nvPr/>
        </p:nvSpPr>
        <p:spPr bwMode="gray">
          <a:xfrm>
            <a:off x="1257300" y="3660416"/>
            <a:ext cx="954405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LAN</a:t>
            </a:r>
            <a:r>
              <a:rPr lang="zh-CN" altLang="en-US" sz="1600" dirty="0">
                <a:solidFill>
                  <a:srgbClr val="30B5C5"/>
                </a:solidFill>
                <a:latin typeface="Huawei Sans" panose="020C0503030203020204" pitchFamily="34" charset="0"/>
                <a:ea typeface="方正兰亭黑简体" panose="02000000000000000000" pitchFamily="2" charset="-122"/>
              </a:rPr>
              <a:t>侧对接</a:t>
            </a:r>
            <a:r>
              <a:rPr lang="en-US" altLang="zh-CN" sz="1600" dirty="0">
                <a:solidFill>
                  <a:srgbClr val="30B5C5"/>
                </a:solidFill>
                <a:latin typeface="Huawei Sans" panose="020C0503030203020204" pitchFamily="34" charset="0"/>
                <a:ea typeface="方正兰亭黑简体" panose="02000000000000000000" pitchFamily="2" charset="-122"/>
              </a:rPr>
              <a:t>L3</a:t>
            </a:r>
            <a:r>
              <a:rPr lang="zh-CN" altLang="en-US" sz="1600" dirty="0">
                <a:solidFill>
                  <a:srgbClr val="30B5C5"/>
                </a:solidFill>
                <a:latin typeface="Huawei Sans" panose="020C0503030203020204" pitchFamily="34" charset="0"/>
                <a:ea typeface="方正兰亭黑简体" panose="02000000000000000000" pitchFamily="2" charset="-122"/>
              </a:rPr>
              <a:t>网络</a:t>
            </a:r>
          </a:p>
        </p:txBody>
      </p:sp>
      <p:sp>
        <p:nvSpPr>
          <p:cNvPr id="82" name="圆角矩形 75">
            <a:extLst>
              <a:ext uri="{FF2B5EF4-FFF2-40B4-BE49-F238E27FC236}">
                <a16:creationId xmlns:a16="http://schemas.microsoft.com/office/drawing/2014/main" id="{3B9EC425-F587-4AE4-9B39-A7896A0A0D50}"/>
              </a:ext>
            </a:extLst>
          </p:cNvPr>
          <p:cNvSpPr/>
          <p:nvPr/>
        </p:nvSpPr>
        <p:spPr bwMode="gray">
          <a:xfrm>
            <a:off x="1257300" y="4100193"/>
            <a:ext cx="9544050" cy="199927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96" name="直線コネクタ 58">
            <a:extLst>
              <a:ext uri="{FF2B5EF4-FFF2-40B4-BE49-F238E27FC236}">
                <a16:creationId xmlns:a16="http://schemas.microsoft.com/office/drawing/2014/main" id="{1333E99A-1695-4232-B1C0-0B189D163C56}"/>
              </a:ext>
            </a:extLst>
          </p:cNvPr>
          <p:cNvCxnSpPr/>
          <p:nvPr/>
        </p:nvCxnSpPr>
        <p:spPr bwMode="gray">
          <a:xfrm flipH="1">
            <a:off x="2193149" y="2193134"/>
            <a:ext cx="1" cy="604640"/>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sp>
        <p:nvSpPr>
          <p:cNvPr id="97" name="矩形 90">
            <a:extLst>
              <a:ext uri="{FF2B5EF4-FFF2-40B4-BE49-F238E27FC236}">
                <a16:creationId xmlns:a16="http://schemas.microsoft.com/office/drawing/2014/main" id="{30363BB8-76E7-4C58-A15A-88DAF1A3438C}"/>
              </a:ext>
            </a:extLst>
          </p:cNvPr>
          <p:cNvSpPr/>
          <p:nvPr/>
        </p:nvSpPr>
        <p:spPr bwMode="gray">
          <a:xfrm>
            <a:off x="1719305" y="3211423"/>
            <a:ext cx="877786" cy="307766"/>
          </a:xfrm>
          <a:prstGeom prst="rect">
            <a:avLst/>
          </a:prstGeom>
        </p:spPr>
        <p:txBody>
          <a:bodyPr wrap="none" lIns="121911" tIns="60955" rIns="121911" bIns="60955">
            <a:spAutoFit/>
          </a:bodyPr>
          <a:lstStyle/>
          <a:p>
            <a:pPr eaLnBrk="0" hangingPunct="0"/>
            <a:r>
              <a:rPr lang="en-US" altLang="ja-JP" sz="1200" kern="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ヒラギノ角ゴ StdN"/>
              </a:rPr>
              <a:t>L2</a:t>
            </a:r>
            <a:r>
              <a:rPr lang="ja-JP" altLang="en-US" sz="1200" kern="0" dirty="0">
                <a:solidFill>
                  <a:srgbClr val="000000"/>
                </a:solidFill>
                <a:latin typeface="Huawei Sans" panose="020C0503030203020204" pitchFamily="34" charset="0"/>
                <a:ea typeface="微软雅黑" panose="020B0503020204020204" pitchFamily="34" charset="-122"/>
                <a:cs typeface="Huawei Sans" panose="020C0503030203020204" pitchFamily="34" charset="0"/>
                <a:sym typeface="ヒラギノ角ゴ StdN"/>
              </a:rPr>
              <a:t>交换机</a:t>
            </a:r>
            <a:endPar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04" name="直線コネクタ 74">
            <a:extLst>
              <a:ext uri="{FF2B5EF4-FFF2-40B4-BE49-F238E27FC236}">
                <a16:creationId xmlns:a16="http://schemas.microsoft.com/office/drawing/2014/main" id="{9CC8D9B1-D6D4-442C-A3DA-74AAC6E78A35}"/>
              </a:ext>
            </a:extLst>
          </p:cNvPr>
          <p:cNvCxnSpPr/>
          <p:nvPr/>
        </p:nvCxnSpPr>
        <p:spPr bwMode="gray">
          <a:xfrm>
            <a:off x="6142449" y="2234712"/>
            <a:ext cx="687004" cy="560999"/>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19" name="直線コネクタ 81">
            <a:extLst>
              <a:ext uri="{FF2B5EF4-FFF2-40B4-BE49-F238E27FC236}">
                <a16:creationId xmlns:a16="http://schemas.microsoft.com/office/drawing/2014/main" id="{74E5BE0D-1D80-4339-978D-C507D2D179B6}"/>
              </a:ext>
            </a:extLst>
          </p:cNvPr>
          <p:cNvCxnSpPr/>
          <p:nvPr/>
        </p:nvCxnSpPr>
        <p:spPr bwMode="gray">
          <a:xfrm flipH="1">
            <a:off x="6829452" y="2240553"/>
            <a:ext cx="617333" cy="555159"/>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sp>
        <p:nvSpPr>
          <p:cNvPr id="121" name="テキスト ボックス 84">
            <a:extLst>
              <a:ext uri="{FF2B5EF4-FFF2-40B4-BE49-F238E27FC236}">
                <a16:creationId xmlns:a16="http://schemas.microsoft.com/office/drawing/2014/main" id="{E9DDF098-7B57-483E-8C36-3B3D0ADA4F43}"/>
              </a:ext>
            </a:extLst>
          </p:cNvPr>
          <p:cNvSpPr txBox="1"/>
          <p:nvPr/>
        </p:nvSpPr>
        <p:spPr bwMode="gray">
          <a:xfrm>
            <a:off x="6426111" y="2222829"/>
            <a:ext cx="792319" cy="3214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7728" tIns="67728" rIns="67728" bIns="67728" numCol="1" spcCol="50797" rtlCol="0" anchor="ctr">
            <a:spAutoFit/>
          </a:bodyPr>
          <a:lstStyle/>
          <a:p>
            <a:pPr algn="ctr" defTabSz="609515" eaLnBrk="0" latinLnBrk="1" hangingPunct="0"/>
            <a:r>
              <a:rPr lang="en-US" altLang="ja-JP" sz="1200"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VRRP</a:t>
            </a:r>
            <a:endParaRPr lang="ja-JP" altLang="en-US" sz="1200" dirty="0">
              <a:solidFill>
                <a:srgbClr val="C7000B"/>
              </a:solidFill>
              <a:latin typeface="Huawei Sans" panose="020C0503030203020204" pitchFamily="34" charset="0"/>
              <a:ea typeface="微软雅黑" panose="020B0503020204020204" pitchFamily="34" charset="-122"/>
              <a:cs typeface="Huawei Sans" panose="020C0503030203020204" pitchFamily="34" charset="0"/>
              <a:sym typeface="Lucida Grande"/>
            </a:endParaRPr>
          </a:p>
        </p:txBody>
      </p:sp>
      <p:cxnSp>
        <p:nvCxnSpPr>
          <p:cNvPr id="122" name="直線コネクタ 74">
            <a:extLst>
              <a:ext uri="{FF2B5EF4-FFF2-40B4-BE49-F238E27FC236}">
                <a16:creationId xmlns:a16="http://schemas.microsoft.com/office/drawing/2014/main" id="{2A3EE377-2372-4CE7-8290-1262670D0656}"/>
              </a:ext>
            </a:extLst>
          </p:cNvPr>
          <p:cNvCxnSpPr/>
          <p:nvPr/>
        </p:nvCxnSpPr>
        <p:spPr bwMode="gray">
          <a:xfrm flipH="1">
            <a:off x="8692296" y="2292237"/>
            <a:ext cx="3" cy="490975"/>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23" name="直線コネクタ 81">
            <a:extLst>
              <a:ext uri="{FF2B5EF4-FFF2-40B4-BE49-F238E27FC236}">
                <a16:creationId xmlns:a16="http://schemas.microsoft.com/office/drawing/2014/main" id="{9CDFE3F1-D9A6-4517-B4D8-4E006638BB36}"/>
              </a:ext>
            </a:extLst>
          </p:cNvPr>
          <p:cNvCxnSpPr/>
          <p:nvPr/>
        </p:nvCxnSpPr>
        <p:spPr bwMode="gray">
          <a:xfrm flipH="1">
            <a:off x="9996636" y="2277755"/>
            <a:ext cx="1" cy="510392"/>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sp>
        <p:nvSpPr>
          <p:cNvPr id="125" name="テキスト ボックス 84">
            <a:extLst>
              <a:ext uri="{FF2B5EF4-FFF2-40B4-BE49-F238E27FC236}">
                <a16:creationId xmlns:a16="http://schemas.microsoft.com/office/drawing/2014/main" id="{87B61544-1EF9-4DE7-80D1-BA325CE87E87}"/>
              </a:ext>
            </a:extLst>
          </p:cNvPr>
          <p:cNvSpPr txBox="1"/>
          <p:nvPr/>
        </p:nvSpPr>
        <p:spPr bwMode="gray">
          <a:xfrm>
            <a:off x="9087319" y="2370381"/>
            <a:ext cx="525156" cy="3214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7728" tIns="67728" rIns="67728" bIns="67728" numCol="1" spcCol="50797" rtlCol="0" anchor="ctr">
            <a:spAutoFit/>
          </a:bodyPr>
          <a:lstStyle/>
          <a:p>
            <a:pPr algn="ctr" defTabSz="609515" eaLnBrk="0" latinLnBrk="1" hangingPunct="0"/>
            <a:r>
              <a:rPr lang="en-US" altLang="ja-JP" sz="1200" dirty="0">
                <a:solidFill>
                  <a:srgbClr val="C7000B"/>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VRRP</a:t>
            </a:r>
            <a:endParaRPr lang="ja-JP" altLang="en-US" sz="1200" dirty="0">
              <a:solidFill>
                <a:srgbClr val="C7000B"/>
              </a:solidFill>
              <a:latin typeface="Huawei Sans" panose="020C0503030203020204" pitchFamily="34" charset="0"/>
              <a:ea typeface="微软雅黑" panose="020B0503020204020204" pitchFamily="34" charset="-122"/>
              <a:cs typeface="Huawei Sans" panose="020C0503030203020204" pitchFamily="34" charset="0"/>
              <a:sym typeface="Lucida Grande"/>
            </a:endParaRPr>
          </a:p>
        </p:txBody>
      </p:sp>
      <p:cxnSp>
        <p:nvCxnSpPr>
          <p:cNvPr id="126" name="直線コネクタ 35">
            <a:extLst>
              <a:ext uri="{FF2B5EF4-FFF2-40B4-BE49-F238E27FC236}">
                <a16:creationId xmlns:a16="http://schemas.microsoft.com/office/drawing/2014/main" id="{E9338D28-2495-454F-82E8-906F1D55CDB9}"/>
              </a:ext>
            </a:extLst>
          </p:cNvPr>
          <p:cNvCxnSpPr>
            <a:stCxn id="145" idx="3"/>
            <a:endCxn id="146" idx="1"/>
          </p:cNvCxnSpPr>
          <p:nvPr/>
        </p:nvCxnSpPr>
        <p:spPr bwMode="gray">
          <a:xfrm>
            <a:off x="8966388" y="3021634"/>
            <a:ext cx="730685" cy="8080"/>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35" name="直接连接符 126">
            <a:extLst>
              <a:ext uri="{FF2B5EF4-FFF2-40B4-BE49-F238E27FC236}">
                <a16:creationId xmlns:a16="http://schemas.microsoft.com/office/drawing/2014/main" id="{64836CD6-9FFE-4C5A-BE3B-8395D76AD73C}"/>
              </a:ext>
            </a:extLst>
          </p:cNvPr>
          <p:cNvCxnSpPr/>
          <p:nvPr/>
        </p:nvCxnSpPr>
        <p:spPr bwMode="gray">
          <a:xfrm>
            <a:off x="6457821" y="2013529"/>
            <a:ext cx="673588" cy="5839"/>
          </a:xfrm>
          <a:prstGeom prst="lin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直接连接符 127">
            <a:extLst>
              <a:ext uri="{FF2B5EF4-FFF2-40B4-BE49-F238E27FC236}">
                <a16:creationId xmlns:a16="http://schemas.microsoft.com/office/drawing/2014/main" id="{609DB291-943E-43F7-B4F2-4B6C09D79079}"/>
              </a:ext>
            </a:extLst>
          </p:cNvPr>
          <p:cNvCxnSpPr/>
          <p:nvPr/>
        </p:nvCxnSpPr>
        <p:spPr bwMode="gray">
          <a:xfrm>
            <a:off x="9000101" y="2085261"/>
            <a:ext cx="673588" cy="5839"/>
          </a:xfrm>
          <a:prstGeom prst="lin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7" name="Picture 12" descr="E:\2016.01\1.12 扁平化图标\蓝色\AR-蓝色最新-40.png">
            <a:extLst>
              <a:ext uri="{FF2B5EF4-FFF2-40B4-BE49-F238E27FC236}">
                <a16:creationId xmlns:a16="http://schemas.microsoft.com/office/drawing/2014/main" id="{36163091-CC00-4C48-BCC0-0E638DDD75AB}"/>
              </a:ext>
            </a:extLst>
          </p:cNvPr>
          <p:cNvPicPr>
            <a:picLocks noChangeAspect="1" noChangeArrowheads="1"/>
          </p:cNvPicPr>
          <p:nvPr/>
        </p:nvPicPr>
        <p:blipFill>
          <a:blip r:embed="rId3" cstate="print"/>
          <a:srcRect/>
          <a:stretch>
            <a:fillRect/>
          </a:stretch>
        </p:blipFill>
        <p:spPr bwMode="gray">
          <a:xfrm>
            <a:off x="1882193" y="1762483"/>
            <a:ext cx="577305" cy="449757"/>
          </a:xfrm>
          <a:prstGeom prst="rect">
            <a:avLst/>
          </a:prstGeom>
          <a:noFill/>
        </p:spPr>
      </p:pic>
      <p:pic>
        <p:nvPicPr>
          <p:cNvPr id="138" name="Picture 12" descr="E:\2016.01\1.12 扁平化图标\蓝色\AR-蓝色最新-40.png">
            <a:extLst>
              <a:ext uri="{FF2B5EF4-FFF2-40B4-BE49-F238E27FC236}">
                <a16:creationId xmlns:a16="http://schemas.microsoft.com/office/drawing/2014/main" id="{4680979F-9471-4685-8BCA-91FF4FDD7B66}"/>
              </a:ext>
            </a:extLst>
          </p:cNvPr>
          <p:cNvPicPr>
            <a:picLocks noChangeAspect="1" noChangeArrowheads="1"/>
          </p:cNvPicPr>
          <p:nvPr/>
        </p:nvPicPr>
        <p:blipFill>
          <a:blip r:embed="rId3" cstate="print"/>
          <a:srcRect/>
          <a:stretch>
            <a:fillRect/>
          </a:stretch>
        </p:blipFill>
        <p:spPr bwMode="gray">
          <a:xfrm>
            <a:off x="4200680" y="1747236"/>
            <a:ext cx="577305" cy="449757"/>
          </a:xfrm>
          <a:prstGeom prst="rect">
            <a:avLst/>
          </a:prstGeom>
          <a:noFill/>
        </p:spPr>
      </p:pic>
      <p:pic>
        <p:nvPicPr>
          <p:cNvPr id="139" name="Picture 12" descr="E:\2016.01\1.12 扁平化图标\蓝色\AR-蓝色最新-40.png">
            <a:extLst>
              <a:ext uri="{FF2B5EF4-FFF2-40B4-BE49-F238E27FC236}">
                <a16:creationId xmlns:a16="http://schemas.microsoft.com/office/drawing/2014/main" id="{0FDB7C2D-760A-4537-AC87-F5DE6394743E}"/>
              </a:ext>
            </a:extLst>
          </p:cNvPr>
          <p:cNvPicPr>
            <a:picLocks noChangeAspect="1" noChangeArrowheads="1"/>
          </p:cNvPicPr>
          <p:nvPr/>
        </p:nvPicPr>
        <p:blipFill>
          <a:blip r:embed="rId3" cstate="print"/>
          <a:srcRect/>
          <a:stretch>
            <a:fillRect/>
          </a:stretch>
        </p:blipFill>
        <p:spPr bwMode="gray">
          <a:xfrm>
            <a:off x="5917585" y="1802257"/>
            <a:ext cx="577305" cy="449757"/>
          </a:xfrm>
          <a:prstGeom prst="rect">
            <a:avLst/>
          </a:prstGeom>
          <a:noFill/>
        </p:spPr>
      </p:pic>
      <p:pic>
        <p:nvPicPr>
          <p:cNvPr id="140" name="Picture 12" descr="E:\2016.01\1.12 扁平化图标\蓝色\AR-蓝色最新-40.png">
            <a:extLst>
              <a:ext uri="{FF2B5EF4-FFF2-40B4-BE49-F238E27FC236}">
                <a16:creationId xmlns:a16="http://schemas.microsoft.com/office/drawing/2014/main" id="{2D5255AC-FB6D-43EE-9932-BE02FC4561E9}"/>
              </a:ext>
            </a:extLst>
          </p:cNvPr>
          <p:cNvPicPr>
            <a:picLocks noChangeAspect="1" noChangeArrowheads="1"/>
          </p:cNvPicPr>
          <p:nvPr/>
        </p:nvPicPr>
        <p:blipFill>
          <a:blip r:embed="rId3" cstate="print"/>
          <a:srcRect/>
          <a:stretch>
            <a:fillRect/>
          </a:stretch>
        </p:blipFill>
        <p:spPr bwMode="gray">
          <a:xfrm>
            <a:off x="7123180" y="1766707"/>
            <a:ext cx="577305" cy="449757"/>
          </a:xfrm>
          <a:prstGeom prst="rect">
            <a:avLst/>
          </a:prstGeom>
          <a:noFill/>
        </p:spPr>
      </p:pic>
      <p:pic>
        <p:nvPicPr>
          <p:cNvPr id="141" name="Picture 12" descr="E:\2016.01\1.12 扁平化图标\蓝色\AR-蓝色最新-40.png">
            <a:extLst>
              <a:ext uri="{FF2B5EF4-FFF2-40B4-BE49-F238E27FC236}">
                <a16:creationId xmlns:a16="http://schemas.microsoft.com/office/drawing/2014/main" id="{8FD3F00D-944B-47A7-99BE-951366EAD09A}"/>
              </a:ext>
            </a:extLst>
          </p:cNvPr>
          <p:cNvPicPr>
            <a:picLocks noChangeAspect="1" noChangeArrowheads="1"/>
          </p:cNvPicPr>
          <p:nvPr/>
        </p:nvPicPr>
        <p:blipFill>
          <a:blip r:embed="rId3" cstate="print"/>
          <a:srcRect/>
          <a:stretch>
            <a:fillRect/>
          </a:stretch>
        </p:blipFill>
        <p:spPr bwMode="gray">
          <a:xfrm>
            <a:off x="8421392" y="1847761"/>
            <a:ext cx="577305" cy="449757"/>
          </a:xfrm>
          <a:prstGeom prst="rect">
            <a:avLst/>
          </a:prstGeom>
          <a:noFill/>
        </p:spPr>
      </p:pic>
      <p:pic>
        <p:nvPicPr>
          <p:cNvPr id="142" name="Picture 12" descr="E:\2016.01\1.12 扁平化图标\蓝色\AR-蓝色最新-40.png">
            <a:extLst>
              <a:ext uri="{FF2B5EF4-FFF2-40B4-BE49-F238E27FC236}">
                <a16:creationId xmlns:a16="http://schemas.microsoft.com/office/drawing/2014/main" id="{C15924F2-0C11-492B-A08A-A238B61D0CB1}"/>
              </a:ext>
            </a:extLst>
          </p:cNvPr>
          <p:cNvPicPr>
            <a:picLocks noChangeAspect="1" noChangeArrowheads="1"/>
          </p:cNvPicPr>
          <p:nvPr/>
        </p:nvPicPr>
        <p:blipFill>
          <a:blip r:embed="rId3" cstate="print"/>
          <a:srcRect/>
          <a:stretch>
            <a:fillRect/>
          </a:stretch>
        </p:blipFill>
        <p:spPr bwMode="gray">
          <a:xfrm>
            <a:off x="9673689" y="1856197"/>
            <a:ext cx="577305" cy="449757"/>
          </a:xfrm>
          <a:prstGeom prst="rect">
            <a:avLst/>
          </a:prstGeom>
          <a:noFill/>
        </p:spPr>
      </p:pic>
      <p:pic>
        <p:nvPicPr>
          <p:cNvPr id="143" name="图片 140" descr="通用交换机.png">
            <a:extLst>
              <a:ext uri="{FF2B5EF4-FFF2-40B4-BE49-F238E27FC236}">
                <a16:creationId xmlns:a16="http://schemas.microsoft.com/office/drawing/2014/main" id="{FF146D45-04D1-425B-B5F9-680E44106AE1}"/>
              </a:ext>
            </a:extLst>
          </p:cNvPr>
          <p:cNvPicPr>
            <a:picLocks noChangeAspect="1"/>
          </p:cNvPicPr>
          <p:nvPr/>
        </p:nvPicPr>
        <p:blipFill>
          <a:blip r:embed="rId4" cstate="print">
            <a:grayscl/>
          </a:blip>
          <a:stretch>
            <a:fillRect/>
          </a:stretch>
        </p:blipFill>
        <p:spPr bwMode="gray">
          <a:xfrm>
            <a:off x="1860604" y="2779749"/>
            <a:ext cx="595024" cy="486839"/>
          </a:xfrm>
          <a:prstGeom prst="rect">
            <a:avLst/>
          </a:prstGeom>
        </p:spPr>
      </p:pic>
      <p:pic>
        <p:nvPicPr>
          <p:cNvPr id="144" name="图片 141" descr="通用交换机.png">
            <a:extLst>
              <a:ext uri="{FF2B5EF4-FFF2-40B4-BE49-F238E27FC236}">
                <a16:creationId xmlns:a16="http://schemas.microsoft.com/office/drawing/2014/main" id="{FFE72F95-6659-4B5A-AD4C-275FEE97FBF2}"/>
              </a:ext>
            </a:extLst>
          </p:cNvPr>
          <p:cNvPicPr>
            <a:picLocks noChangeAspect="1"/>
          </p:cNvPicPr>
          <p:nvPr/>
        </p:nvPicPr>
        <p:blipFill>
          <a:blip r:embed="rId4" cstate="print">
            <a:grayscl/>
          </a:blip>
          <a:stretch>
            <a:fillRect/>
          </a:stretch>
        </p:blipFill>
        <p:spPr bwMode="gray">
          <a:xfrm>
            <a:off x="6509227" y="2786294"/>
            <a:ext cx="595024" cy="486839"/>
          </a:xfrm>
          <a:prstGeom prst="rect">
            <a:avLst/>
          </a:prstGeom>
        </p:spPr>
      </p:pic>
      <p:pic>
        <p:nvPicPr>
          <p:cNvPr id="145" name="图片 142" descr="通用交换机.png">
            <a:extLst>
              <a:ext uri="{FF2B5EF4-FFF2-40B4-BE49-F238E27FC236}">
                <a16:creationId xmlns:a16="http://schemas.microsoft.com/office/drawing/2014/main" id="{1ED36C67-3DF2-4235-908B-540F35D0CB88}"/>
              </a:ext>
            </a:extLst>
          </p:cNvPr>
          <p:cNvPicPr>
            <a:picLocks noChangeAspect="1"/>
          </p:cNvPicPr>
          <p:nvPr/>
        </p:nvPicPr>
        <p:blipFill>
          <a:blip r:embed="rId4" cstate="print">
            <a:grayscl/>
          </a:blip>
          <a:stretch>
            <a:fillRect/>
          </a:stretch>
        </p:blipFill>
        <p:spPr bwMode="gray">
          <a:xfrm>
            <a:off x="8371364" y="2778214"/>
            <a:ext cx="595024" cy="486839"/>
          </a:xfrm>
          <a:prstGeom prst="rect">
            <a:avLst/>
          </a:prstGeom>
        </p:spPr>
      </p:pic>
      <p:pic>
        <p:nvPicPr>
          <p:cNvPr id="146" name="图片 143" descr="通用交换机.png">
            <a:extLst>
              <a:ext uri="{FF2B5EF4-FFF2-40B4-BE49-F238E27FC236}">
                <a16:creationId xmlns:a16="http://schemas.microsoft.com/office/drawing/2014/main" id="{9B740AF0-490F-4854-ACFC-FC96C0A5AC74}"/>
              </a:ext>
            </a:extLst>
          </p:cNvPr>
          <p:cNvPicPr>
            <a:picLocks noChangeAspect="1"/>
          </p:cNvPicPr>
          <p:nvPr/>
        </p:nvPicPr>
        <p:blipFill>
          <a:blip r:embed="rId4" cstate="print">
            <a:grayscl/>
          </a:blip>
          <a:stretch>
            <a:fillRect/>
          </a:stretch>
        </p:blipFill>
        <p:spPr bwMode="gray">
          <a:xfrm>
            <a:off x="9697073" y="2786294"/>
            <a:ext cx="595024" cy="486839"/>
          </a:xfrm>
          <a:prstGeom prst="rect">
            <a:avLst/>
          </a:prstGeom>
        </p:spPr>
      </p:pic>
      <p:sp>
        <p:nvSpPr>
          <p:cNvPr id="147" name="椭圆 144">
            <a:extLst>
              <a:ext uri="{FF2B5EF4-FFF2-40B4-BE49-F238E27FC236}">
                <a16:creationId xmlns:a16="http://schemas.microsoft.com/office/drawing/2014/main" id="{256456B2-FC8C-467A-8998-893E507B9E72}"/>
              </a:ext>
            </a:extLst>
          </p:cNvPr>
          <p:cNvSpPr/>
          <p:nvPr/>
        </p:nvSpPr>
        <p:spPr bwMode="gray">
          <a:xfrm>
            <a:off x="1964697" y="2439330"/>
            <a:ext cx="412295" cy="97472"/>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cxnSp>
        <p:nvCxnSpPr>
          <p:cNvPr id="148" name="直線コネクタ 58">
            <a:extLst>
              <a:ext uri="{FF2B5EF4-FFF2-40B4-BE49-F238E27FC236}">
                <a16:creationId xmlns:a16="http://schemas.microsoft.com/office/drawing/2014/main" id="{C0CCDAB7-A54B-435D-8ACA-3CD49640AB81}"/>
              </a:ext>
            </a:extLst>
          </p:cNvPr>
          <p:cNvCxnSpPr/>
          <p:nvPr/>
        </p:nvCxnSpPr>
        <p:spPr bwMode="gray">
          <a:xfrm flipH="1">
            <a:off x="2140285" y="2193134"/>
            <a:ext cx="1" cy="604640"/>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grpSp>
        <p:nvGrpSpPr>
          <p:cNvPr id="156" name="组合 159">
            <a:extLst>
              <a:ext uri="{FF2B5EF4-FFF2-40B4-BE49-F238E27FC236}">
                <a16:creationId xmlns:a16="http://schemas.microsoft.com/office/drawing/2014/main" id="{4D7B1FFB-5614-4075-BF32-C85A07652B6D}"/>
              </a:ext>
            </a:extLst>
          </p:cNvPr>
          <p:cNvGrpSpPr/>
          <p:nvPr/>
        </p:nvGrpSpPr>
        <p:grpSpPr bwMode="gray">
          <a:xfrm>
            <a:off x="3684683" y="4320369"/>
            <a:ext cx="1876251" cy="1653089"/>
            <a:chOff x="2844946" y="4296554"/>
            <a:chExt cx="1876739" cy="1653520"/>
          </a:xfrm>
        </p:grpSpPr>
        <p:cxnSp>
          <p:nvCxnSpPr>
            <p:cNvPr id="157" name="直線コネクタ 45">
              <a:extLst>
                <a:ext uri="{FF2B5EF4-FFF2-40B4-BE49-F238E27FC236}">
                  <a16:creationId xmlns:a16="http://schemas.microsoft.com/office/drawing/2014/main" id="{41509B37-24D9-472F-AF0C-9064792A8B33}"/>
                </a:ext>
              </a:extLst>
            </p:cNvPr>
            <p:cNvCxnSpPr>
              <a:cxnSpLocks/>
              <a:stCxn id="160" idx="2"/>
              <a:endCxn id="162" idx="0"/>
            </p:cNvCxnSpPr>
            <p:nvPr/>
          </p:nvCxnSpPr>
          <p:spPr bwMode="gray">
            <a:xfrm>
              <a:off x="3133674" y="4746428"/>
              <a:ext cx="664124" cy="753771"/>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58" name="直線コネクタ 47">
              <a:extLst>
                <a:ext uri="{FF2B5EF4-FFF2-40B4-BE49-F238E27FC236}">
                  <a16:creationId xmlns:a16="http://schemas.microsoft.com/office/drawing/2014/main" id="{E514B368-A96A-49BB-9BA4-2B26CBC67432}"/>
                </a:ext>
              </a:extLst>
            </p:cNvPr>
            <p:cNvCxnSpPr>
              <a:cxnSpLocks/>
              <a:stCxn id="161" idx="2"/>
              <a:endCxn id="162" idx="0"/>
            </p:cNvCxnSpPr>
            <p:nvPr/>
          </p:nvCxnSpPr>
          <p:spPr bwMode="gray">
            <a:xfrm flipH="1">
              <a:off x="3797798" y="4746428"/>
              <a:ext cx="635159" cy="753771"/>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59" name="直接连接符 167">
              <a:extLst>
                <a:ext uri="{FF2B5EF4-FFF2-40B4-BE49-F238E27FC236}">
                  <a16:creationId xmlns:a16="http://schemas.microsoft.com/office/drawing/2014/main" id="{6BEF6182-5308-459A-AE5F-2D5620825FD5}"/>
                </a:ext>
              </a:extLst>
            </p:cNvPr>
            <p:cNvCxnSpPr>
              <a:stCxn id="160" idx="3"/>
              <a:endCxn id="161" idx="1"/>
            </p:cNvCxnSpPr>
            <p:nvPr/>
          </p:nvCxnSpPr>
          <p:spPr bwMode="gray">
            <a:xfrm>
              <a:off x="3422402" y="4521492"/>
              <a:ext cx="721827" cy="0"/>
            </a:xfrm>
            <a:prstGeom prst="lin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60" name="Picture 12" descr="E:\2016.01\1.12 扁平化图标\蓝色\AR-蓝色最新-40.png">
              <a:extLst>
                <a:ext uri="{FF2B5EF4-FFF2-40B4-BE49-F238E27FC236}">
                  <a16:creationId xmlns:a16="http://schemas.microsoft.com/office/drawing/2014/main" id="{FA08A328-6C92-4B83-B88C-314B9B520CEE}"/>
                </a:ext>
              </a:extLst>
            </p:cNvPr>
            <p:cNvPicPr>
              <a:picLocks noChangeAspect="1" noChangeArrowheads="1"/>
            </p:cNvPicPr>
            <p:nvPr/>
          </p:nvPicPr>
          <p:blipFill>
            <a:blip r:embed="rId3" cstate="print"/>
            <a:srcRect/>
            <a:stretch>
              <a:fillRect/>
            </a:stretch>
          </p:blipFill>
          <p:spPr bwMode="gray">
            <a:xfrm>
              <a:off x="2844946" y="4296554"/>
              <a:ext cx="577456" cy="449874"/>
            </a:xfrm>
            <a:prstGeom prst="rect">
              <a:avLst/>
            </a:prstGeom>
            <a:noFill/>
          </p:spPr>
        </p:pic>
        <p:pic>
          <p:nvPicPr>
            <p:cNvPr id="161" name="Picture 12" descr="E:\2016.01\1.12 扁平化图标\蓝色\AR-蓝色最新-40.png">
              <a:extLst>
                <a:ext uri="{FF2B5EF4-FFF2-40B4-BE49-F238E27FC236}">
                  <a16:creationId xmlns:a16="http://schemas.microsoft.com/office/drawing/2014/main" id="{422D3CCE-E5CA-40B4-81A5-EAA78ABCE8F9}"/>
                </a:ext>
              </a:extLst>
            </p:cNvPr>
            <p:cNvPicPr>
              <a:picLocks noChangeAspect="1" noChangeArrowheads="1"/>
            </p:cNvPicPr>
            <p:nvPr/>
          </p:nvPicPr>
          <p:blipFill>
            <a:blip r:embed="rId3" cstate="print"/>
            <a:srcRect/>
            <a:stretch>
              <a:fillRect/>
            </a:stretch>
          </p:blipFill>
          <p:spPr bwMode="gray">
            <a:xfrm>
              <a:off x="4144229" y="4296554"/>
              <a:ext cx="577456" cy="449874"/>
            </a:xfrm>
            <a:prstGeom prst="rect">
              <a:avLst/>
            </a:prstGeom>
            <a:noFill/>
          </p:spPr>
        </p:pic>
        <p:pic>
          <p:nvPicPr>
            <p:cNvPr id="162" name="Picture 12" descr="E:\2016.01\1.12 扁平化图标\蓝色\AR-蓝色最新-40.png">
              <a:extLst>
                <a:ext uri="{FF2B5EF4-FFF2-40B4-BE49-F238E27FC236}">
                  <a16:creationId xmlns:a16="http://schemas.microsoft.com/office/drawing/2014/main" id="{89159A08-0FA7-4589-A9A4-B03897DF781D}"/>
                </a:ext>
              </a:extLst>
            </p:cNvPr>
            <p:cNvPicPr>
              <a:picLocks noChangeAspect="1" noChangeArrowheads="1"/>
            </p:cNvPicPr>
            <p:nvPr/>
          </p:nvPicPr>
          <p:blipFill>
            <a:blip r:embed="rId3" cstate="print">
              <a:grayscl/>
            </a:blip>
            <a:srcRect/>
            <a:stretch>
              <a:fillRect/>
            </a:stretch>
          </p:blipFill>
          <p:spPr bwMode="gray">
            <a:xfrm>
              <a:off x="3509070" y="5500200"/>
              <a:ext cx="577456" cy="449874"/>
            </a:xfrm>
            <a:prstGeom prst="rect">
              <a:avLst/>
            </a:prstGeom>
          </p:spPr>
        </p:pic>
      </p:grpSp>
      <p:sp>
        <p:nvSpPr>
          <p:cNvPr id="163" name="テキスト ボックス 68">
            <a:extLst>
              <a:ext uri="{FF2B5EF4-FFF2-40B4-BE49-F238E27FC236}">
                <a16:creationId xmlns:a16="http://schemas.microsoft.com/office/drawing/2014/main" id="{4901168A-B926-437E-9224-FB2CEE93BA6B}"/>
              </a:ext>
            </a:extLst>
          </p:cNvPr>
          <p:cNvSpPr txBox="1"/>
          <p:nvPr/>
        </p:nvSpPr>
        <p:spPr bwMode="gray">
          <a:xfrm>
            <a:off x="3644930" y="4733623"/>
            <a:ext cx="802108" cy="87544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7728" tIns="67728" rIns="67728" bIns="67728" numCol="1" spcCol="50797" rtlCol="0" anchor="ctr">
            <a:spAutoFit/>
          </a:bodyPr>
          <a:lstStyle/>
          <a:p>
            <a:pP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BGP </a:t>
            </a:r>
          </a:p>
          <a:p>
            <a:pP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OSPF</a:t>
            </a:r>
          </a:p>
          <a:p>
            <a:pPr defTabSz="609515" eaLnBrk="0" latinLnBrk="1" hangingPunct="0"/>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直连</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a:p>
            <a:pPr defTabSz="609515" eaLnBrk="0" latinLnBrk="1" hangingPunct="0"/>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静态路由</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p:txBody>
      </p:sp>
      <p:grpSp>
        <p:nvGrpSpPr>
          <p:cNvPr id="164" name="组合 172">
            <a:extLst>
              <a:ext uri="{FF2B5EF4-FFF2-40B4-BE49-F238E27FC236}">
                <a16:creationId xmlns:a16="http://schemas.microsoft.com/office/drawing/2014/main" id="{34EAEEDF-B09B-40CE-9437-9276B87B3777}"/>
              </a:ext>
            </a:extLst>
          </p:cNvPr>
          <p:cNvGrpSpPr/>
          <p:nvPr/>
        </p:nvGrpSpPr>
        <p:grpSpPr bwMode="gray">
          <a:xfrm>
            <a:off x="5793863" y="4304810"/>
            <a:ext cx="2183993" cy="1596661"/>
            <a:chOff x="4921136" y="4280990"/>
            <a:chExt cx="2184563" cy="1597076"/>
          </a:xfrm>
        </p:grpSpPr>
        <p:cxnSp>
          <p:nvCxnSpPr>
            <p:cNvPr id="165" name="直線コネクタ 78">
              <a:extLst>
                <a:ext uri="{FF2B5EF4-FFF2-40B4-BE49-F238E27FC236}">
                  <a16:creationId xmlns:a16="http://schemas.microsoft.com/office/drawing/2014/main" id="{E26B8750-6811-442C-A247-1EF56D97F2D2}"/>
                </a:ext>
              </a:extLst>
            </p:cNvPr>
            <p:cNvCxnSpPr>
              <a:cxnSpLocks/>
              <a:stCxn id="169" idx="2"/>
              <a:endCxn id="171" idx="0"/>
            </p:cNvCxnSpPr>
            <p:nvPr/>
          </p:nvCxnSpPr>
          <p:spPr bwMode="gray">
            <a:xfrm>
              <a:off x="5623416" y="4731294"/>
              <a:ext cx="6235" cy="696898"/>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66" name="直線コネクタ 93">
              <a:extLst>
                <a:ext uri="{FF2B5EF4-FFF2-40B4-BE49-F238E27FC236}">
                  <a16:creationId xmlns:a16="http://schemas.microsoft.com/office/drawing/2014/main" id="{1A9C9F12-4422-4F3B-8282-4FD7F0C9A5EA}"/>
                </a:ext>
              </a:extLst>
            </p:cNvPr>
            <p:cNvCxnSpPr>
              <a:stCxn id="172" idx="1"/>
              <a:endCxn id="171" idx="3"/>
            </p:cNvCxnSpPr>
            <p:nvPr/>
          </p:nvCxnSpPr>
          <p:spPr bwMode="gray">
            <a:xfrm flipH="1">
              <a:off x="5918379" y="5653129"/>
              <a:ext cx="609864" cy="0"/>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67" name="直線コネクタ 95">
              <a:extLst>
                <a:ext uri="{FF2B5EF4-FFF2-40B4-BE49-F238E27FC236}">
                  <a16:creationId xmlns:a16="http://schemas.microsoft.com/office/drawing/2014/main" id="{F15E14EE-19CA-4876-84D5-4CA865288F16}"/>
                </a:ext>
              </a:extLst>
            </p:cNvPr>
            <p:cNvCxnSpPr>
              <a:cxnSpLocks/>
              <a:stCxn id="170" idx="2"/>
              <a:endCxn id="172" idx="0"/>
            </p:cNvCxnSpPr>
            <p:nvPr/>
          </p:nvCxnSpPr>
          <p:spPr bwMode="gray">
            <a:xfrm>
              <a:off x="6816972" y="4730864"/>
              <a:ext cx="0" cy="697328"/>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68" name="直接连接符 177">
              <a:extLst>
                <a:ext uri="{FF2B5EF4-FFF2-40B4-BE49-F238E27FC236}">
                  <a16:creationId xmlns:a16="http://schemas.microsoft.com/office/drawing/2014/main" id="{A35A6228-B96B-4026-823B-239CFB0C7863}"/>
                </a:ext>
              </a:extLst>
            </p:cNvPr>
            <p:cNvCxnSpPr>
              <a:stCxn id="169" idx="3"/>
              <a:endCxn id="170" idx="1"/>
            </p:cNvCxnSpPr>
            <p:nvPr/>
          </p:nvCxnSpPr>
          <p:spPr bwMode="gray">
            <a:xfrm flipV="1">
              <a:off x="5912144" y="4505927"/>
              <a:ext cx="616100" cy="430"/>
            </a:xfrm>
            <a:prstGeom prst="lin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69" name="Picture 12" descr="E:\2016.01\1.12 扁平化图标\蓝色\AR-蓝色最新-40.png">
              <a:extLst>
                <a:ext uri="{FF2B5EF4-FFF2-40B4-BE49-F238E27FC236}">
                  <a16:creationId xmlns:a16="http://schemas.microsoft.com/office/drawing/2014/main" id="{6C9379DF-48E4-48A3-9289-67024CE7F026}"/>
                </a:ext>
              </a:extLst>
            </p:cNvPr>
            <p:cNvPicPr>
              <a:picLocks noChangeAspect="1" noChangeArrowheads="1"/>
            </p:cNvPicPr>
            <p:nvPr/>
          </p:nvPicPr>
          <p:blipFill>
            <a:blip r:embed="rId3" cstate="print"/>
            <a:srcRect/>
            <a:stretch>
              <a:fillRect/>
            </a:stretch>
          </p:blipFill>
          <p:spPr bwMode="gray">
            <a:xfrm>
              <a:off x="5334688" y="4281420"/>
              <a:ext cx="577456" cy="449874"/>
            </a:xfrm>
            <a:prstGeom prst="rect">
              <a:avLst/>
            </a:prstGeom>
            <a:noFill/>
          </p:spPr>
        </p:pic>
        <p:pic>
          <p:nvPicPr>
            <p:cNvPr id="170" name="Picture 12" descr="E:\2016.01\1.12 扁平化图标\蓝色\AR-蓝色最新-40.png">
              <a:extLst>
                <a:ext uri="{FF2B5EF4-FFF2-40B4-BE49-F238E27FC236}">
                  <a16:creationId xmlns:a16="http://schemas.microsoft.com/office/drawing/2014/main" id="{F66F51CD-78FE-4B06-87D3-C320C0A77424}"/>
                </a:ext>
              </a:extLst>
            </p:cNvPr>
            <p:cNvPicPr>
              <a:picLocks noChangeAspect="1" noChangeArrowheads="1"/>
            </p:cNvPicPr>
            <p:nvPr/>
          </p:nvPicPr>
          <p:blipFill>
            <a:blip r:embed="rId3" cstate="print"/>
            <a:srcRect/>
            <a:stretch>
              <a:fillRect/>
            </a:stretch>
          </p:blipFill>
          <p:spPr bwMode="gray">
            <a:xfrm>
              <a:off x="6528243" y="4280990"/>
              <a:ext cx="577456" cy="449874"/>
            </a:xfrm>
            <a:prstGeom prst="rect">
              <a:avLst/>
            </a:prstGeom>
            <a:noFill/>
          </p:spPr>
        </p:pic>
        <p:pic>
          <p:nvPicPr>
            <p:cNvPr id="171" name="Picture 12" descr="E:\2016.01\1.12 扁平化图标\蓝色\AR-蓝色最新-40.png">
              <a:extLst>
                <a:ext uri="{FF2B5EF4-FFF2-40B4-BE49-F238E27FC236}">
                  <a16:creationId xmlns:a16="http://schemas.microsoft.com/office/drawing/2014/main" id="{4B05B772-DC87-4E55-BA18-4BD2BC7C7354}"/>
                </a:ext>
              </a:extLst>
            </p:cNvPr>
            <p:cNvPicPr>
              <a:picLocks noChangeAspect="1" noChangeArrowheads="1"/>
            </p:cNvPicPr>
            <p:nvPr/>
          </p:nvPicPr>
          <p:blipFill>
            <a:blip r:embed="rId3" cstate="print">
              <a:grayscl/>
            </a:blip>
            <a:srcRect/>
            <a:stretch>
              <a:fillRect/>
            </a:stretch>
          </p:blipFill>
          <p:spPr bwMode="gray">
            <a:xfrm>
              <a:off x="5340923" y="5428192"/>
              <a:ext cx="577456" cy="449874"/>
            </a:xfrm>
            <a:prstGeom prst="rect">
              <a:avLst/>
            </a:prstGeom>
          </p:spPr>
        </p:pic>
        <p:pic>
          <p:nvPicPr>
            <p:cNvPr id="172" name="Picture 12" descr="E:\2016.01\1.12 扁平化图标\蓝色\AR-蓝色最新-40.png">
              <a:extLst>
                <a:ext uri="{FF2B5EF4-FFF2-40B4-BE49-F238E27FC236}">
                  <a16:creationId xmlns:a16="http://schemas.microsoft.com/office/drawing/2014/main" id="{8BFC5E0A-D52B-4E05-9ECF-EF61C017A529}"/>
                </a:ext>
              </a:extLst>
            </p:cNvPr>
            <p:cNvPicPr>
              <a:picLocks noChangeAspect="1" noChangeArrowheads="1"/>
            </p:cNvPicPr>
            <p:nvPr/>
          </p:nvPicPr>
          <p:blipFill>
            <a:blip r:embed="rId3" cstate="print">
              <a:grayscl/>
            </a:blip>
            <a:srcRect/>
            <a:stretch>
              <a:fillRect/>
            </a:stretch>
          </p:blipFill>
          <p:spPr bwMode="gray">
            <a:xfrm>
              <a:off x="6528243" y="5428192"/>
              <a:ext cx="577456" cy="449874"/>
            </a:xfrm>
            <a:prstGeom prst="rect">
              <a:avLst/>
            </a:prstGeom>
          </p:spPr>
        </p:pic>
        <p:sp>
          <p:nvSpPr>
            <p:cNvPr id="173" name="テキスト ボックス 68">
              <a:extLst>
                <a:ext uri="{FF2B5EF4-FFF2-40B4-BE49-F238E27FC236}">
                  <a16:creationId xmlns:a16="http://schemas.microsoft.com/office/drawing/2014/main" id="{9CEFE9CF-CFD5-4636-985E-7E41A4ADCB7C}"/>
                </a:ext>
              </a:extLst>
            </p:cNvPr>
            <p:cNvSpPr txBox="1"/>
            <p:nvPr/>
          </p:nvSpPr>
          <p:spPr bwMode="gray">
            <a:xfrm>
              <a:off x="4921136" y="4624527"/>
              <a:ext cx="831868" cy="87567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7728" tIns="67728" rIns="67728" bIns="67728" numCol="1" spcCol="50797" rtlCol="0" anchor="ctr">
              <a:spAutoFit/>
            </a:bodyPr>
            <a:lstStyle/>
            <a:p>
              <a:pP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BGP </a:t>
              </a:r>
            </a:p>
            <a:p>
              <a:pP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OSPF</a:t>
              </a:r>
            </a:p>
            <a:p>
              <a:pPr defTabSz="609515" eaLnBrk="0" latinLnBrk="1" hangingPunct="0"/>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直连</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a:p>
              <a:pPr defTabSz="609515" eaLnBrk="0" latinLnBrk="1" hangingPunct="0"/>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静态路由</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p:txBody>
        </p:sp>
      </p:grpSp>
      <p:grpSp>
        <p:nvGrpSpPr>
          <p:cNvPr id="174" name="组合 187">
            <a:extLst>
              <a:ext uri="{FF2B5EF4-FFF2-40B4-BE49-F238E27FC236}">
                <a16:creationId xmlns:a16="http://schemas.microsoft.com/office/drawing/2014/main" id="{E297AB8D-9F0C-4E87-A42D-086CFB51FBB3}"/>
              </a:ext>
            </a:extLst>
          </p:cNvPr>
          <p:cNvGrpSpPr/>
          <p:nvPr/>
        </p:nvGrpSpPr>
        <p:grpSpPr bwMode="gray">
          <a:xfrm>
            <a:off x="8288460" y="4304809"/>
            <a:ext cx="2212686" cy="1596662"/>
            <a:chOff x="7290852" y="4275377"/>
            <a:chExt cx="2213264" cy="1597077"/>
          </a:xfrm>
        </p:grpSpPr>
        <p:cxnSp>
          <p:nvCxnSpPr>
            <p:cNvPr id="175" name="直線コネクタ 78">
              <a:extLst>
                <a:ext uri="{FF2B5EF4-FFF2-40B4-BE49-F238E27FC236}">
                  <a16:creationId xmlns:a16="http://schemas.microsoft.com/office/drawing/2014/main" id="{3C922609-3A1B-41FD-A350-12FB0B00E559}"/>
                </a:ext>
              </a:extLst>
            </p:cNvPr>
            <p:cNvCxnSpPr>
              <a:cxnSpLocks/>
              <a:stCxn id="181" idx="2"/>
              <a:endCxn id="183" idx="0"/>
            </p:cNvCxnSpPr>
            <p:nvPr/>
          </p:nvCxnSpPr>
          <p:spPr bwMode="gray">
            <a:xfrm>
              <a:off x="8026041" y="4725682"/>
              <a:ext cx="2027" cy="696898"/>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76" name="直線コネクタ 86">
              <a:extLst>
                <a:ext uri="{FF2B5EF4-FFF2-40B4-BE49-F238E27FC236}">
                  <a16:creationId xmlns:a16="http://schemas.microsoft.com/office/drawing/2014/main" id="{B5743D04-7C9E-4DF5-A1C2-7FB2CC18ADD2}"/>
                </a:ext>
              </a:extLst>
            </p:cNvPr>
            <p:cNvCxnSpPr>
              <a:cxnSpLocks/>
              <a:stCxn id="182" idx="2"/>
              <a:endCxn id="183" idx="0"/>
            </p:cNvCxnSpPr>
            <p:nvPr/>
          </p:nvCxnSpPr>
          <p:spPr bwMode="gray">
            <a:xfrm flipH="1">
              <a:off x="8028068" y="4725251"/>
              <a:ext cx="1187321" cy="697329"/>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77" name="直線コネクタ 93">
              <a:extLst>
                <a:ext uri="{FF2B5EF4-FFF2-40B4-BE49-F238E27FC236}">
                  <a16:creationId xmlns:a16="http://schemas.microsoft.com/office/drawing/2014/main" id="{8DE54CA2-E343-41AF-A226-E70F98065836}"/>
                </a:ext>
              </a:extLst>
            </p:cNvPr>
            <p:cNvCxnSpPr>
              <a:stCxn id="184" idx="1"/>
              <a:endCxn id="183" idx="3"/>
            </p:cNvCxnSpPr>
            <p:nvPr/>
          </p:nvCxnSpPr>
          <p:spPr bwMode="gray">
            <a:xfrm flipH="1">
              <a:off x="8316796" y="5647517"/>
              <a:ext cx="609864" cy="0"/>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78" name="直線コネクタ 94">
              <a:extLst>
                <a:ext uri="{FF2B5EF4-FFF2-40B4-BE49-F238E27FC236}">
                  <a16:creationId xmlns:a16="http://schemas.microsoft.com/office/drawing/2014/main" id="{8123F5AE-58BB-42CA-834E-72F1719C04C0}"/>
                </a:ext>
              </a:extLst>
            </p:cNvPr>
            <p:cNvCxnSpPr>
              <a:cxnSpLocks/>
              <a:stCxn id="181" idx="2"/>
              <a:endCxn id="184" idx="0"/>
            </p:cNvCxnSpPr>
            <p:nvPr/>
          </p:nvCxnSpPr>
          <p:spPr bwMode="gray">
            <a:xfrm>
              <a:off x="8026041" y="4725682"/>
              <a:ext cx="1189347" cy="696898"/>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79" name="直線コネクタ 95">
              <a:extLst>
                <a:ext uri="{FF2B5EF4-FFF2-40B4-BE49-F238E27FC236}">
                  <a16:creationId xmlns:a16="http://schemas.microsoft.com/office/drawing/2014/main" id="{D9F1CB47-06C2-41E4-A97B-EAFD5AD307D3}"/>
                </a:ext>
              </a:extLst>
            </p:cNvPr>
            <p:cNvCxnSpPr>
              <a:cxnSpLocks/>
              <a:stCxn id="182" idx="2"/>
              <a:endCxn id="184" idx="0"/>
            </p:cNvCxnSpPr>
            <p:nvPr/>
          </p:nvCxnSpPr>
          <p:spPr bwMode="gray">
            <a:xfrm>
              <a:off x="9215389" y="4725251"/>
              <a:ext cx="0" cy="697329"/>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cxnSp>
          <p:nvCxnSpPr>
            <p:cNvPr id="180" name="直接连接符 194">
              <a:extLst>
                <a:ext uri="{FF2B5EF4-FFF2-40B4-BE49-F238E27FC236}">
                  <a16:creationId xmlns:a16="http://schemas.microsoft.com/office/drawing/2014/main" id="{1816D73E-6CDF-4ED3-91FB-E07CE93B886B}"/>
                </a:ext>
              </a:extLst>
            </p:cNvPr>
            <p:cNvCxnSpPr>
              <a:stCxn id="181" idx="3"/>
              <a:endCxn id="182" idx="1"/>
            </p:cNvCxnSpPr>
            <p:nvPr/>
          </p:nvCxnSpPr>
          <p:spPr bwMode="gray">
            <a:xfrm flipV="1">
              <a:off x="8314769" y="4500314"/>
              <a:ext cx="611892" cy="431"/>
            </a:xfrm>
            <a:prstGeom prst="lin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81" name="Picture 12" descr="E:\2016.01\1.12 扁平化图标\蓝色\AR-蓝色最新-40.png">
              <a:extLst>
                <a:ext uri="{FF2B5EF4-FFF2-40B4-BE49-F238E27FC236}">
                  <a16:creationId xmlns:a16="http://schemas.microsoft.com/office/drawing/2014/main" id="{8C32427E-0FE6-4D47-8275-E4838B18C846}"/>
                </a:ext>
              </a:extLst>
            </p:cNvPr>
            <p:cNvPicPr>
              <a:picLocks noChangeAspect="1" noChangeArrowheads="1"/>
            </p:cNvPicPr>
            <p:nvPr/>
          </p:nvPicPr>
          <p:blipFill>
            <a:blip r:embed="rId3" cstate="print"/>
            <a:srcRect/>
            <a:stretch>
              <a:fillRect/>
            </a:stretch>
          </p:blipFill>
          <p:spPr bwMode="gray">
            <a:xfrm>
              <a:off x="7737313" y="4275808"/>
              <a:ext cx="577456" cy="449874"/>
            </a:xfrm>
            <a:prstGeom prst="rect">
              <a:avLst/>
            </a:prstGeom>
            <a:noFill/>
          </p:spPr>
        </p:pic>
        <p:pic>
          <p:nvPicPr>
            <p:cNvPr id="182" name="Picture 12" descr="E:\2016.01\1.12 扁平化图标\蓝色\AR-蓝色最新-40.png">
              <a:extLst>
                <a:ext uri="{FF2B5EF4-FFF2-40B4-BE49-F238E27FC236}">
                  <a16:creationId xmlns:a16="http://schemas.microsoft.com/office/drawing/2014/main" id="{C9F7D8D6-6455-4C6D-87E4-24830855F2BB}"/>
                </a:ext>
              </a:extLst>
            </p:cNvPr>
            <p:cNvPicPr>
              <a:picLocks noChangeAspect="1" noChangeArrowheads="1"/>
            </p:cNvPicPr>
            <p:nvPr/>
          </p:nvPicPr>
          <p:blipFill>
            <a:blip r:embed="rId3" cstate="print"/>
            <a:srcRect/>
            <a:stretch>
              <a:fillRect/>
            </a:stretch>
          </p:blipFill>
          <p:spPr bwMode="gray">
            <a:xfrm>
              <a:off x="8926660" y="4275377"/>
              <a:ext cx="577456" cy="449874"/>
            </a:xfrm>
            <a:prstGeom prst="rect">
              <a:avLst/>
            </a:prstGeom>
            <a:noFill/>
          </p:spPr>
        </p:pic>
        <p:pic>
          <p:nvPicPr>
            <p:cNvPr id="183" name="Picture 12" descr="E:\2016.01\1.12 扁平化图标\蓝色\AR-蓝色最新-40.png">
              <a:extLst>
                <a:ext uri="{FF2B5EF4-FFF2-40B4-BE49-F238E27FC236}">
                  <a16:creationId xmlns:a16="http://schemas.microsoft.com/office/drawing/2014/main" id="{D58A20CC-BA36-449D-8FA9-5CAB0F44DABB}"/>
                </a:ext>
              </a:extLst>
            </p:cNvPr>
            <p:cNvPicPr>
              <a:picLocks noChangeAspect="1" noChangeArrowheads="1"/>
            </p:cNvPicPr>
            <p:nvPr/>
          </p:nvPicPr>
          <p:blipFill>
            <a:blip r:embed="rId3" cstate="print">
              <a:grayscl/>
            </a:blip>
            <a:srcRect/>
            <a:stretch>
              <a:fillRect/>
            </a:stretch>
          </p:blipFill>
          <p:spPr bwMode="gray">
            <a:xfrm>
              <a:off x="7739340" y="5422580"/>
              <a:ext cx="577456" cy="449874"/>
            </a:xfrm>
            <a:prstGeom prst="rect">
              <a:avLst/>
            </a:prstGeom>
          </p:spPr>
        </p:pic>
        <p:pic>
          <p:nvPicPr>
            <p:cNvPr id="184" name="Picture 12" descr="E:\2016.01\1.12 扁平化图标\蓝色\AR-蓝色最新-40.png">
              <a:extLst>
                <a:ext uri="{FF2B5EF4-FFF2-40B4-BE49-F238E27FC236}">
                  <a16:creationId xmlns:a16="http://schemas.microsoft.com/office/drawing/2014/main" id="{7F7483D7-5DA8-49B4-B88B-58BB0300D588}"/>
                </a:ext>
              </a:extLst>
            </p:cNvPr>
            <p:cNvPicPr>
              <a:picLocks noChangeAspect="1" noChangeArrowheads="1"/>
            </p:cNvPicPr>
            <p:nvPr/>
          </p:nvPicPr>
          <p:blipFill>
            <a:blip r:embed="rId3" cstate="print">
              <a:grayscl/>
            </a:blip>
            <a:srcRect/>
            <a:stretch>
              <a:fillRect/>
            </a:stretch>
          </p:blipFill>
          <p:spPr bwMode="gray">
            <a:xfrm>
              <a:off x="8926660" y="5422580"/>
              <a:ext cx="577456" cy="449874"/>
            </a:xfrm>
            <a:prstGeom prst="rect">
              <a:avLst/>
            </a:prstGeom>
          </p:spPr>
        </p:pic>
        <p:sp>
          <p:nvSpPr>
            <p:cNvPr id="185" name="テキスト ボックス 68">
              <a:extLst>
                <a:ext uri="{FF2B5EF4-FFF2-40B4-BE49-F238E27FC236}">
                  <a16:creationId xmlns:a16="http://schemas.microsoft.com/office/drawing/2014/main" id="{812E13AB-CC39-4B45-907F-67278E34A7A8}"/>
                </a:ext>
              </a:extLst>
            </p:cNvPr>
            <p:cNvSpPr txBox="1"/>
            <p:nvPr/>
          </p:nvSpPr>
          <p:spPr bwMode="gray">
            <a:xfrm>
              <a:off x="7290852" y="4618915"/>
              <a:ext cx="795028" cy="87567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7728" tIns="67728" rIns="67728" bIns="67728" numCol="1" spcCol="50797" rtlCol="0" anchor="ctr">
              <a:spAutoFit/>
            </a:bodyPr>
            <a:lstStyle/>
            <a:p>
              <a:pP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BGP </a:t>
              </a:r>
            </a:p>
            <a:p>
              <a:pP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OSPF</a:t>
              </a:r>
            </a:p>
            <a:p>
              <a:pPr defTabSz="609515" eaLnBrk="0" latinLnBrk="1" hangingPunct="0"/>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直连</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a:p>
              <a:pPr defTabSz="609515" eaLnBrk="0" latinLnBrk="1" hangingPunct="0"/>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静态路由</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p:txBody>
        </p:sp>
      </p:grpSp>
      <p:sp>
        <p:nvSpPr>
          <p:cNvPr id="187" name="矩形 90">
            <a:extLst>
              <a:ext uri="{FF2B5EF4-FFF2-40B4-BE49-F238E27FC236}">
                <a16:creationId xmlns:a16="http://schemas.microsoft.com/office/drawing/2014/main" id="{309D8AA2-0F23-48B7-A27F-DC861AD89561}"/>
              </a:ext>
            </a:extLst>
          </p:cNvPr>
          <p:cNvSpPr/>
          <p:nvPr/>
        </p:nvSpPr>
        <p:spPr bwMode="gray">
          <a:xfrm>
            <a:off x="6392143" y="3214729"/>
            <a:ext cx="877786" cy="307766"/>
          </a:xfrm>
          <a:prstGeom prst="rect">
            <a:avLst/>
          </a:prstGeom>
        </p:spPr>
        <p:txBody>
          <a:bodyPr wrap="none" lIns="121911" tIns="60955" rIns="121911" bIns="60955">
            <a:spAutoFit/>
          </a:bodyPr>
          <a:lstStyle/>
          <a:p>
            <a:pPr eaLnBrk="0" hangingPunct="0"/>
            <a:r>
              <a:rPr lang="en-US" altLang="ja-JP" sz="1200" kern="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ヒラギノ角ゴ StdN"/>
              </a:rPr>
              <a:t>L2</a:t>
            </a:r>
            <a:r>
              <a:rPr lang="ja-JP" altLang="en-US" sz="1200" kern="0" dirty="0">
                <a:solidFill>
                  <a:srgbClr val="000000"/>
                </a:solidFill>
                <a:latin typeface="Huawei Sans" panose="020C0503030203020204" pitchFamily="34" charset="0"/>
                <a:ea typeface="微软雅黑" panose="020B0503020204020204" pitchFamily="34" charset="-122"/>
                <a:cs typeface="Huawei Sans" panose="020C0503030203020204" pitchFamily="34" charset="0"/>
                <a:sym typeface="ヒラギノ角ゴ StdN"/>
              </a:rPr>
              <a:t>交换机</a:t>
            </a:r>
            <a:endPar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88" name="矩形 90">
            <a:extLst>
              <a:ext uri="{FF2B5EF4-FFF2-40B4-BE49-F238E27FC236}">
                <a16:creationId xmlns:a16="http://schemas.microsoft.com/office/drawing/2014/main" id="{6A707C63-4C0B-41CB-8ACA-9C3B8A96A98B}"/>
              </a:ext>
            </a:extLst>
          </p:cNvPr>
          <p:cNvSpPr/>
          <p:nvPr/>
        </p:nvSpPr>
        <p:spPr bwMode="gray">
          <a:xfrm>
            <a:off x="8892838" y="3225210"/>
            <a:ext cx="877786" cy="307766"/>
          </a:xfrm>
          <a:prstGeom prst="rect">
            <a:avLst/>
          </a:prstGeom>
        </p:spPr>
        <p:txBody>
          <a:bodyPr wrap="none" lIns="121911" tIns="60955" rIns="121911" bIns="60955">
            <a:spAutoFit/>
          </a:bodyPr>
          <a:lstStyle/>
          <a:p>
            <a:pPr eaLnBrk="0" hangingPunct="0"/>
            <a:r>
              <a:rPr lang="en-US" altLang="ja-JP" sz="1200" kern="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ヒラギノ角ゴ StdN"/>
              </a:rPr>
              <a:t>L2</a:t>
            </a:r>
            <a:r>
              <a:rPr lang="ja-JP" altLang="en-US" sz="1200" kern="0" dirty="0">
                <a:solidFill>
                  <a:srgbClr val="000000"/>
                </a:solidFill>
                <a:latin typeface="Huawei Sans" panose="020C0503030203020204" pitchFamily="34" charset="0"/>
                <a:ea typeface="微软雅黑" panose="020B0503020204020204" pitchFamily="34" charset="-122"/>
                <a:cs typeface="Huawei Sans" panose="020C0503030203020204" pitchFamily="34" charset="0"/>
                <a:sym typeface="ヒラギノ角ゴ StdN"/>
              </a:rPr>
              <a:t>交换机</a:t>
            </a:r>
            <a:endPar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189" name="组合 758">
            <a:extLst>
              <a:ext uri="{FF2B5EF4-FFF2-40B4-BE49-F238E27FC236}">
                <a16:creationId xmlns:a16="http://schemas.microsoft.com/office/drawing/2014/main" id="{F8DD4DB0-9CCE-48C0-9B7D-CEC130516B58}"/>
              </a:ext>
            </a:extLst>
          </p:cNvPr>
          <p:cNvGrpSpPr/>
          <p:nvPr/>
        </p:nvGrpSpPr>
        <p:grpSpPr bwMode="gray">
          <a:xfrm flipV="1">
            <a:off x="4207046" y="2301436"/>
            <a:ext cx="559926" cy="474163"/>
            <a:chOff x="7440613" y="4868863"/>
            <a:chExt cx="1019175" cy="828675"/>
          </a:xfrm>
          <a:solidFill>
            <a:schemeClr val="bg1">
              <a:lumMod val="50000"/>
            </a:schemeClr>
          </a:solidFill>
        </p:grpSpPr>
        <p:sp>
          <p:nvSpPr>
            <p:cNvPr id="190" name="Freeform 15">
              <a:extLst>
                <a:ext uri="{FF2B5EF4-FFF2-40B4-BE49-F238E27FC236}">
                  <a16:creationId xmlns:a16="http://schemas.microsoft.com/office/drawing/2014/main" id="{FDC2A5D4-4534-4223-842E-2000AAD3B15B}"/>
                </a:ext>
              </a:extLst>
            </p:cNvPr>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1" name="Freeform 16">
              <a:extLst>
                <a:ext uri="{FF2B5EF4-FFF2-40B4-BE49-F238E27FC236}">
                  <a16:creationId xmlns:a16="http://schemas.microsoft.com/office/drawing/2014/main" id="{F3982DEE-6FFA-49F8-B0F1-183C1C8E4D37}"/>
                </a:ext>
              </a:extLst>
            </p:cNvPr>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0" name="Group 49">
            <a:extLst>
              <a:ext uri="{FF2B5EF4-FFF2-40B4-BE49-F238E27FC236}">
                <a16:creationId xmlns:a16="http://schemas.microsoft.com/office/drawing/2014/main" id="{45047C8D-EA1A-4A89-9F49-120AAABBE5E9}"/>
              </a:ext>
            </a:extLst>
          </p:cNvPr>
          <p:cNvGrpSpPr/>
          <p:nvPr/>
        </p:nvGrpSpPr>
        <p:grpSpPr bwMode="gray">
          <a:xfrm>
            <a:off x="1457425" y="4320369"/>
            <a:ext cx="1946640" cy="1701082"/>
            <a:chOff x="1326801" y="4430897"/>
            <a:chExt cx="1946640" cy="1701082"/>
          </a:xfrm>
        </p:grpSpPr>
        <p:cxnSp>
          <p:nvCxnSpPr>
            <p:cNvPr id="150" name="直線コネクタ 64">
              <a:extLst>
                <a:ext uri="{FF2B5EF4-FFF2-40B4-BE49-F238E27FC236}">
                  <a16:creationId xmlns:a16="http://schemas.microsoft.com/office/drawing/2014/main" id="{9055D8D5-5D32-4952-A3B4-1F44748DD2B5}"/>
                </a:ext>
              </a:extLst>
            </p:cNvPr>
            <p:cNvCxnSpPr/>
            <p:nvPr/>
          </p:nvCxnSpPr>
          <p:spPr bwMode="gray">
            <a:xfrm flipH="1">
              <a:off x="2159764" y="4808798"/>
              <a:ext cx="664" cy="843198"/>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sp>
          <p:nvSpPr>
            <p:cNvPr id="151" name="テキスト ボックス 68">
              <a:extLst>
                <a:ext uri="{FF2B5EF4-FFF2-40B4-BE49-F238E27FC236}">
                  <a16:creationId xmlns:a16="http://schemas.microsoft.com/office/drawing/2014/main" id="{CB06A7C1-E8BD-4DBD-B4D4-ECA1511EB4D1}"/>
                </a:ext>
              </a:extLst>
            </p:cNvPr>
            <p:cNvSpPr txBox="1"/>
            <p:nvPr/>
          </p:nvSpPr>
          <p:spPr bwMode="gray">
            <a:xfrm>
              <a:off x="1326801" y="4798186"/>
              <a:ext cx="781309" cy="87544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7728" tIns="67728" rIns="67728" bIns="67728" numCol="1" spcCol="50797" rtlCol="0" anchor="ctr">
              <a:spAutoFit/>
            </a:bodyPr>
            <a:lstStyle/>
            <a:p>
              <a:pP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BGP </a:t>
              </a:r>
            </a:p>
            <a:p>
              <a:pP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OSPF</a:t>
              </a:r>
            </a:p>
            <a:p>
              <a:pPr defTabSz="609515" eaLnBrk="0" latinLnBrk="1" hangingPunct="0"/>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直连</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a:p>
              <a:pPr defTabSz="609515" eaLnBrk="0" latinLnBrk="1" hangingPunct="0"/>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静态路由</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p:txBody>
        </p:sp>
        <p:sp>
          <p:nvSpPr>
            <p:cNvPr id="152" name="矩形 154">
              <a:extLst>
                <a:ext uri="{FF2B5EF4-FFF2-40B4-BE49-F238E27FC236}">
                  <a16:creationId xmlns:a16="http://schemas.microsoft.com/office/drawing/2014/main" id="{B03C7EAD-BFE2-406B-A1D1-3B436B313829}"/>
                </a:ext>
              </a:extLst>
            </p:cNvPr>
            <p:cNvSpPr/>
            <p:nvPr/>
          </p:nvSpPr>
          <p:spPr bwMode="gray">
            <a:xfrm>
              <a:off x="2395656" y="5756954"/>
              <a:ext cx="877785" cy="307766"/>
            </a:xfrm>
            <a:prstGeom prst="rect">
              <a:avLst/>
            </a:prstGeom>
          </p:spPr>
          <p:txBody>
            <a:bodyPr wrap="none" lIns="121911" tIns="60955" rIns="121911" bIns="60955">
              <a:spAutoFit/>
            </a:bodyPr>
            <a:lstStyle/>
            <a:p>
              <a:pPr eaLnBrk="0" hangingPunct="0"/>
              <a:r>
                <a:rPr lang="en-US" altLang="ja-JP" sz="1200" kern="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ヒラギノ角ゴ StdN"/>
                </a:rPr>
                <a:t>L3</a:t>
              </a:r>
              <a:r>
                <a:rPr lang="ja-JP" altLang="en-US" sz="1200" kern="0" dirty="0">
                  <a:solidFill>
                    <a:srgbClr val="000000"/>
                  </a:solidFill>
                  <a:latin typeface="Huawei Sans" panose="020C0503030203020204" pitchFamily="34" charset="0"/>
                  <a:ea typeface="微软雅黑" panose="020B0503020204020204" pitchFamily="34" charset="-122"/>
                  <a:cs typeface="Huawei Sans" panose="020C0503030203020204" pitchFamily="34" charset="0"/>
                  <a:sym typeface="ヒラギノ角ゴ StdN"/>
                </a:rPr>
                <a:t>交换机</a:t>
              </a:r>
              <a:endPar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53" name="Picture 12" descr="E:\2016.01\1.12 扁平化图标\蓝色\AR-蓝色最新-40.png">
              <a:extLst>
                <a:ext uri="{FF2B5EF4-FFF2-40B4-BE49-F238E27FC236}">
                  <a16:creationId xmlns:a16="http://schemas.microsoft.com/office/drawing/2014/main" id="{76732147-D67F-4178-B306-B67FB26D6136}"/>
                </a:ext>
              </a:extLst>
            </p:cNvPr>
            <p:cNvPicPr>
              <a:picLocks noChangeAspect="1" noChangeArrowheads="1"/>
            </p:cNvPicPr>
            <p:nvPr/>
          </p:nvPicPr>
          <p:blipFill>
            <a:blip r:embed="rId3" cstate="print"/>
            <a:srcRect/>
            <a:stretch>
              <a:fillRect/>
            </a:stretch>
          </p:blipFill>
          <p:spPr bwMode="gray">
            <a:xfrm>
              <a:off x="1853180" y="4430897"/>
              <a:ext cx="577305" cy="449757"/>
            </a:xfrm>
            <a:prstGeom prst="rect">
              <a:avLst/>
            </a:prstGeom>
            <a:noFill/>
          </p:spPr>
        </p:pic>
        <p:cxnSp>
          <p:nvCxnSpPr>
            <p:cNvPr id="155" name="直線コネクタ 64">
              <a:extLst>
                <a:ext uri="{FF2B5EF4-FFF2-40B4-BE49-F238E27FC236}">
                  <a16:creationId xmlns:a16="http://schemas.microsoft.com/office/drawing/2014/main" id="{384D2C26-CAC7-4A89-A053-3037819E1CDD}"/>
                </a:ext>
              </a:extLst>
            </p:cNvPr>
            <p:cNvCxnSpPr>
              <a:cxnSpLocks/>
            </p:cNvCxnSpPr>
            <p:nvPr/>
          </p:nvCxnSpPr>
          <p:spPr bwMode="gray">
            <a:xfrm>
              <a:off x="2105420" y="4865525"/>
              <a:ext cx="0" cy="788575"/>
            </a:xfrm>
            <a:prstGeom prst="line">
              <a:avLst/>
            </a:prstGeom>
            <a:noFill/>
            <a:ln w="19050" cap="flat" cmpd="sng">
              <a:solidFill>
                <a:schemeClr val="tx1"/>
              </a:solidFill>
              <a:prstDash val="solid"/>
              <a:bevel/>
            </a:ln>
            <a:effectLst/>
          </p:spPr>
          <p:style>
            <a:lnRef idx="0">
              <a:scrgbClr r="0" g="0" b="0"/>
            </a:lnRef>
            <a:fillRef idx="0">
              <a:scrgbClr r="0" g="0" b="0"/>
            </a:fillRef>
            <a:effectRef idx="0">
              <a:scrgbClr r="0" g="0" b="0"/>
            </a:effectRef>
            <a:fontRef idx="none"/>
          </p:style>
        </p:cxnSp>
        <p:sp>
          <p:nvSpPr>
            <p:cNvPr id="186" name="椭圆 200">
              <a:extLst>
                <a:ext uri="{FF2B5EF4-FFF2-40B4-BE49-F238E27FC236}">
                  <a16:creationId xmlns:a16="http://schemas.microsoft.com/office/drawing/2014/main" id="{868280AA-C91B-486D-93CB-15C7FDB627A3}"/>
                </a:ext>
              </a:extLst>
            </p:cNvPr>
            <p:cNvSpPr/>
            <p:nvPr/>
          </p:nvSpPr>
          <p:spPr bwMode="gray">
            <a:xfrm>
              <a:off x="1934852" y="5184401"/>
              <a:ext cx="412295" cy="97472"/>
            </a:xfrm>
            <a:prstGeom prst="ellips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pic>
          <p:nvPicPr>
            <p:cNvPr id="192" name="图片 140" descr="通用交换机.png">
              <a:extLst>
                <a:ext uri="{FF2B5EF4-FFF2-40B4-BE49-F238E27FC236}">
                  <a16:creationId xmlns:a16="http://schemas.microsoft.com/office/drawing/2014/main" id="{C98B4985-B3D1-43DC-971C-6E580C52F47A}"/>
                </a:ext>
              </a:extLst>
            </p:cNvPr>
            <p:cNvPicPr>
              <a:picLocks noChangeAspect="1"/>
            </p:cNvPicPr>
            <p:nvPr/>
          </p:nvPicPr>
          <p:blipFill>
            <a:blip r:embed="rId4" cstate="print">
              <a:grayscl/>
            </a:blip>
            <a:stretch>
              <a:fillRect/>
            </a:stretch>
          </p:blipFill>
          <p:spPr bwMode="gray">
            <a:xfrm>
              <a:off x="1842773" y="5645140"/>
              <a:ext cx="595024" cy="486839"/>
            </a:xfrm>
            <a:prstGeom prst="rect">
              <a:avLst/>
            </a:prstGeom>
          </p:spPr>
        </p:pic>
      </p:grpSp>
      <p:pic>
        <p:nvPicPr>
          <p:cNvPr id="193" name="图片 157" descr="故障链路.png">
            <a:extLst>
              <a:ext uri="{FF2B5EF4-FFF2-40B4-BE49-F238E27FC236}">
                <a16:creationId xmlns:a16="http://schemas.microsoft.com/office/drawing/2014/main" id="{DD447995-6BB5-467C-9519-FE150CA35E36}"/>
              </a:ext>
            </a:extLst>
          </p:cNvPr>
          <p:cNvPicPr>
            <a:picLocks noChangeAspect="1"/>
          </p:cNvPicPr>
          <p:nvPr/>
        </p:nvPicPr>
        <p:blipFill>
          <a:blip r:embed="rId5"/>
          <a:stretch>
            <a:fillRect/>
          </a:stretch>
        </p:blipFill>
        <p:spPr bwMode="gray">
          <a:xfrm>
            <a:off x="3813006" y="2821546"/>
            <a:ext cx="589672" cy="439707"/>
          </a:xfrm>
          <a:prstGeom prst="rect">
            <a:avLst/>
          </a:prstGeom>
        </p:spPr>
      </p:pic>
      <p:pic>
        <p:nvPicPr>
          <p:cNvPr id="194" name="图片 14" descr="日志告警服务器-蓝.png">
            <a:extLst>
              <a:ext uri="{FF2B5EF4-FFF2-40B4-BE49-F238E27FC236}">
                <a16:creationId xmlns:a16="http://schemas.microsoft.com/office/drawing/2014/main" id="{BD944E42-8B99-4D6C-9944-2D298A8439B2}"/>
              </a:ext>
            </a:extLst>
          </p:cNvPr>
          <p:cNvPicPr>
            <a:picLocks noChangeAspect="1"/>
          </p:cNvPicPr>
          <p:nvPr/>
        </p:nvPicPr>
        <p:blipFill>
          <a:blip r:embed="rId6" cstate="print"/>
          <a:stretch>
            <a:fillRect/>
          </a:stretch>
        </p:blipFill>
        <p:spPr bwMode="gray">
          <a:xfrm>
            <a:off x="4570391" y="2887507"/>
            <a:ext cx="589672" cy="368203"/>
          </a:xfrm>
          <a:prstGeom prst="rect">
            <a:avLst/>
          </a:prstGeom>
        </p:spPr>
      </p:pic>
      <p:sp>
        <p:nvSpPr>
          <p:cNvPr id="195" name="矩形 90">
            <a:extLst>
              <a:ext uri="{FF2B5EF4-FFF2-40B4-BE49-F238E27FC236}">
                <a16:creationId xmlns:a16="http://schemas.microsoft.com/office/drawing/2014/main" id="{C450D8DA-DDDC-4EC3-8454-4A9BDD34D44C}"/>
              </a:ext>
            </a:extLst>
          </p:cNvPr>
          <p:cNvSpPr/>
          <p:nvPr/>
        </p:nvSpPr>
        <p:spPr bwMode="gray">
          <a:xfrm>
            <a:off x="4038456" y="3226141"/>
            <a:ext cx="553980" cy="307766"/>
          </a:xfrm>
          <a:prstGeom prst="rect">
            <a:avLst/>
          </a:prstGeom>
        </p:spPr>
        <p:txBody>
          <a:bodyPr wrap="none" lIns="121911" tIns="60955" rIns="121911" bIns="60955">
            <a:spAutoFit/>
          </a:bodyPr>
          <a:lstStyle/>
          <a:p>
            <a:pPr eaLnBrk="0" hangingPunct="0"/>
            <a:r>
              <a:rPr lang="zh-CN" altLang="en-US" sz="1200" kern="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ヒラギノ角ゴ StdN"/>
              </a:rPr>
              <a:t>终端</a:t>
            </a:r>
            <a:endPar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9" name="五边形 2">
            <a:extLst>
              <a:ext uri="{FF2B5EF4-FFF2-40B4-BE49-F238E27FC236}">
                <a16:creationId xmlns:a16="http://schemas.microsoft.com/office/drawing/2014/main" id="{EE70B2CB-6DF6-45DD-8C9F-892B95D45942}"/>
              </a:ext>
            </a:extLst>
          </p:cNvPr>
          <p:cNvSpPr/>
          <p:nvPr/>
        </p:nvSpPr>
        <p:spPr bwMode="gray">
          <a:xfrm>
            <a:off x="7742323" y="121856"/>
            <a:ext cx="142606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侧网络设计</a:t>
            </a:r>
          </a:p>
        </p:txBody>
      </p:sp>
      <p:sp>
        <p:nvSpPr>
          <p:cNvPr id="80" name="燕尾形 3">
            <a:extLst>
              <a:ext uri="{FF2B5EF4-FFF2-40B4-BE49-F238E27FC236}">
                <a16:creationId xmlns:a16="http://schemas.microsoft.com/office/drawing/2014/main" id="{F751EB43-6577-4337-A5CD-474EA47C0E90}"/>
              </a:ext>
            </a:extLst>
          </p:cNvPr>
          <p:cNvSpPr/>
          <p:nvPr/>
        </p:nvSpPr>
        <p:spPr bwMode="gray">
          <a:xfrm>
            <a:off x="10441326" y="12185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双</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CPE</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互联设计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燕尾形 3">
            <a:extLst>
              <a:ext uri="{FF2B5EF4-FFF2-40B4-BE49-F238E27FC236}">
                <a16:creationId xmlns:a16="http://schemas.microsoft.com/office/drawing/2014/main" id="{3628227F-43F9-413D-84F1-6CE1E055F788}"/>
              </a:ext>
            </a:extLst>
          </p:cNvPr>
          <p:cNvSpPr/>
          <p:nvPr/>
        </p:nvSpPr>
        <p:spPr bwMode="gray">
          <a:xfrm>
            <a:off x="9091825" y="121856"/>
            <a:ext cx="142606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侧网络设计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67044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圆角矩形 75">
            <a:extLst>
              <a:ext uri="{FF2B5EF4-FFF2-40B4-BE49-F238E27FC236}">
                <a16:creationId xmlns:a16="http://schemas.microsoft.com/office/drawing/2014/main" id="{E5F5DC1C-2A2A-4210-BDCC-7B638ADCE85A}"/>
              </a:ext>
            </a:extLst>
          </p:cNvPr>
          <p:cNvSpPr/>
          <p:nvPr/>
        </p:nvSpPr>
        <p:spPr bwMode="gray">
          <a:xfrm>
            <a:off x="1034143" y="1586869"/>
            <a:ext cx="4691920" cy="4392488"/>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r>
              <a:rPr lang="zh-CN" altLang="en-US" sz="1400" dirty="0">
                <a:solidFill>
                  <a:schemeClr val="tx1"/>
                </a:solidFill>
              </a:rPr>
              <a:t>单</a:t>
            </a:r>
            <a:r>
              <a:rPr lang="en-US" altLang="zh-CN" sz="1400" dirty="0">
                <a:solidFill>
                  <a:schemeClr val="tx1"/>
                </a:solidFill>
              </a:rPr>
              <a:t>CPE</a:t>
            </a:r>
            <a:r>
              <a:rPr lang="zh-CN" altLang="en-US" sz="1400" dirty="0">
                <a:solidFill>
                  <a:schemeClr val="tx1"/>
                </a:solidFill>
              </a:rPr>
              <a:t>结构下，对于站点规模较小的情况下可以通过</a:t>
            </a:r>
            <a:r>
              <a:rPr lang="en-US" altLang="zh-CN" sz="1400" dirty="0">
                <a:solidFill>
                  <a:schemeClr val="tx1"/>
                </a:solidFill>
              </a:rPr>
              <a:t>LAN</a:t>
            </a:r>
            <a:r>
              <a:rPr lang="zh-CN" altLang="en-US" sz="1400" dirty="0">
                <a:solidFill>
                  <a:schemeClr val="tx1"/>
                </a:solidFill>
              </a:rPr>
              <a:t>侧的接口直接连接站点的终端。</a:t>
            </a:r>
            <a:endParaRPr lang="en-US" altLang="zh-CN" sz="1400" dirty="0">
              <a:solidFill>
                <a:schemeClr val="tx1"/>
              </a:solidFill>
            </a:endParaRPr>
          </a:p>
          <a:p>
            <a:pPr marL="228594" indent="-228594">
              <a:buFont typeface="Arial" panose="020B0604020202020204" pitchFamily="34" charset="0"/>
              <a:buChar char="•"/>
            </a:pPr>
            <a:r>
              <a:rPr lang="zh-CN" altLang="en-US" sz="1400" dirty="0">
                <a:solidFill>
                  <a:schemeClr val="tx1"/>
                </a:solidFill>
              </a:rPr>
              <a:t>如果</a:t>
            </a:r>
            <a:r>
              <a:rPr lang="en-US" altLang="zh-CN" sz="1400" dirty="0">
                <a:solidFill>
                  <a:schemeClr val="tx1"/>
                </a:solidFill>
              </a:rPr>
              <a:t>CPE</a:t>
            </a:r>
            <a:r>
              <a:rPr lang="zh-CN" altLang="en-US" sz="1400" dirty="0">
                <a:solidFill>
                  <a:schemeClr val="tx1"/>
                </a:solidFill>
              </a:rPr>
              <a:t>的</a:t>
            </a:r>
            <a:r>
              <a:rPr lang="en-US" altLang="zh-CN" sz="1400" dirty="0">
                <a:solidFill>
                  <a:schemeClr val="tx1"/>
                </a:solidFill>
              </a:rPr>
              <a:t>LAN</a:t>
            </a:r>
            <a:r>
              <a:rPr lang="zh-CN" altLang="en-US" sz="1400" dirty="0">
                <a:solidFill>
                  <a:schemeClr val="tx1"/>
                </a:solidFill>
              </a:rPr>
              <a:t>侧接口不足，则可以在</a:t>
            </a:r>
            <a:r>
              <a:rPr lang="en-US" altLang="zh-CN" sz="1400" dirty="0">
                <a:solidFill>
                  <a:schemeClr val="tx1"/>
                </a:solidFill>
              </a:rPr>
              <a:t>CPE</a:t>
            </a:r>
            <a:r>
              <a:rPr lang="zh-CN" altLang="en-US" sz="1400" dirty="0">
                <a:solidFill>
                  <a:schemeClr val="tx1"/>
                </a:solidFill>
              </a:rPr>
              <a:t>下面部署接入交换机。</a:t>
            </a:r>
          </a:p>
          <a:p>
            <a:pPr marL="228594" indent="-228594">
              <a:buFont typeface="Arial" panose="020B0604020202020204" pitchFamily="34" charset="0"/>
              <a:buChar char="•"/>
            </a:pPr>
            <a:endParaRPr lang="en-US" altLang="zh-CN" sz="1400" dirty="0">
              <a:solidFill>
                <a:schemeClr val="tx1"/>
              </a:solidFill>
            </a:endParaRPr>
          </a:p>
        </p:txBody>
      </p:sp>
      <p:sp>
        <p:nvSpPr>
          <p:cNvPr id="47" name="圆角矩形 75">
            <a:extLst>
              <a:ext uri="{FF2B5EF4-FFF2-40B4-BE49-F238E27FC236}">
                <a16:creationId xmlns:a16="http://schemas.microsoft.com/office/drawing/2014/main" id="{7F3AB8B4-B18A-4D8F-9A1C-2828DDC93239}"/>
              </a:ext>
            </a:extLst>
          </p:cNvPr>
          <p:cNvSpPr/>
          <p:nvPr/>
        </p:nvSpPr>
        <p:spPr bwMode="gray">
          <a:xfrm>
            <a:off x="6488224" y="1586869"/>
            <a:ext cx="4691920" cy="4392488"/>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r>
              <a:rPr lang="zh-CN" altLang="en-US" sz="1400" dirty="0">
                <a:solidFill>
                  <a:schemeClr val="tx1"/>
                </a:solidFill>
              </a:rPr>
              <a:t>双</a:t>
            </a:r>
            <a:r>
              <a:rPr lang="en-US" altLang="zh-CN" sz="1400" dirty="0">
                <a:solidFill>
                  <a:schemeClr val="tx1"/>
                </a:solidFill>
              </a:rPr>
              <a:t>CPE</a:t>
            </a:r>
            <a:r>
              <a:rPr lang="zh-CN" altLang="en-US" sz="1400" dirty="0">
                <a:solidFill>
                  <a:schemeClr val="tx1"/>
                </a:solidFill>
              </a:rPr>
              <a:t>结构下，通常会部署</a:t>
            </a:r>
            <a:r>
              <a:rPr lang="en-US" altLang="zh-CN" sz="1400" dirty="0">
                <a:solidFill>
                  <a:schemeClr val="tx1"/>
                </a:solidFill>
              </a:rPr>
              <a:t>VRRP</a:t>
            </a:r>
            <a:r>
              <a:rPr lang="zh-CN" altLang="en-US" sz="1400" dirty="0">
                <a:solidFill>
                  <a:schemeClr val="tx1"/>
                </a:solidFill>
              </a:rPr>
              <a:t>。</a:t>
            </a:r>
            <a:endParaRPr lang="en-US" altLang="zh-CN" sz="1400" dirty="0">
              <a:solidFill>
                <a:schemeClr val="tx1"/>
              </a:solidFill>
            </a:endParaRPr>
          </a:p>
          <a:p>
            <a:pPr marL="228594" indent="-228594">
              <a:buFont typeface="Arial" panose="020B0604020202020204" pitchFamily="34" charset="0"/>
              <a:buChar char="•"/>
            </a:pPr>
            <a:r>
              <a:rPr lang="en-US" altLang="zh-CN" sz="1400" dirty="0">
                <a:solidFill>
                  <a:schemeClr val="tx1"/>
                </a:solidFill>
              </a:rPr>
              <a:t>LAN</a:t>
            </a:r>
            <a:r>
              <a:rPr lang="zh-CN" altLang="en-US" sz="1400" dirty="0">
                <a:solidFill>
                  <a:schemeClr val="tx1"/>
                </a:solidFill>
              </a:rPr>
              <a:t>侧的交换机可以通过堆叠的方式部署。</a:t>
            </a:r>
          </a:p>
          <a:p>
            <a:pPr marL="228594" indent="-228594">
              <a:buFont typeface="Arial" panose="020B0604020202020204" pitchFamily="34" charset="0"/>
              <a:buChar char="•"/>
            </a:pPr>
            <a:r>
              <a:rPr lang="en-US" altLang="zh-CN" sz="1400" dirty="0">
                <a:solidFill>
                  <a:schemeClr val="tx1"/>
                </a:solidFill>
              </a:rPr>
              <a:t>CPE</a:t>
            </a:r>
            <a:r>
              <a:rPr lang="zh-CN" altLang="en-US" sz="1400" dirty="0">
                <a:solidFill>
                  <a:schemeClr val="tx1"/>
                </a:solidFill>
              </a:rPr>
              <a:t>间需建立一个互联链路，用于在设备间转发业务报文。</a:t>
            </a:r>
          </a:p>
          <a:p>
            <a:pPr marL="228594" indent="-228594">
              <a:buFont typeface="Arial" panose="020B0604020202020204" pitchFamily="34" charset="0"/>
              <a:buChar char="•"/>
            </a:pPr>
            <a:endParaRPr lang="en-US" altLang="zh-CN" sz="1400" dirty="0">
              <a:solidFill>
                <a:schemeClr val="tx1"/>
              </a:solidFill>
            </a:endParaRPr>
          </a:p>
        </p:txBody>
      </p:sp>
      <p:sp>
        <p:nvSpPr>
          <p:cNvPr id="2" name="标题 1"/>
          <p:cNvSpPr>
            <a:spLocks noGrp="1"/>
          </p:cNvSpPr>
          <p:nvPr>
            <p:ph type="title"/>
          </p:nvPr>
        </p:nvSpPr>
        <p:spPr bwMode="gray"/>
        <p:txBody>
          <a:bodyPr/>
          <a:lstStyle/>
          <a:p>
            <a:r>
              <a:rPr lang="en-US" dirty="0"/>
              <a:t>LAN</a:t>
            </a:r>
            <a:r>
              <a:rPr lang="zh-CN" altLang="en-US" dirty="0"/>
              <a:t>侧二层网络对接典型场景</a:t>
            </a:r>
          </a:p>
        </p:txBody>
      </p:sp>
      <p:grpSp>
        <p:nvGrpSpPr>
          <p:cNvPr id="56" name="组合 55"/>
          <p:cNvGrpSpPr/>
          <p:nvPr/>
        </p:nvGrpSpPr>
        <p:grpSpPr bwMode="gray">
          <a:xfrm>
            <a:off x="6963670" y="2281196"/>
            <a:ext cx="3739476" cy="1611641"/>
            <a:chOff x="7799701" y="2204864"/>
            <a:chExt cx="3739476" cy="1611641"/>
          </a:xfrm>
        </p:grpSpPr>
        <p:grpSp>
          <p:nvGrpSpPr>
            <p:cNvPr id="25" name="组合 24"/>
            <p:cNvGrpSpPr/>
            <p:nvPr/>
          </p:nvGrpSpPr>
          <p:grpSpPr bwMode="gray">
            <a:xfrm>
              <a:off x="8681987" y="2492896"/>
              <a:ext cx="2087686" cy="1225271"/>
              <a:chOff x="6247982" y="2069174"/>
              <a:chExt cx="1212016" cy="1110758"/>
            </a:xfrm>
          </p:grpSpPr>
          <p:cxnSp>
            <p:nvCxnSpPr>
              <p:cNvPr id="26" name="直接连接符 25"/>
              <p:cNvCxnSpPr/>
              <p:nvPr/>
            </p:nvCxnSpPr>
            <p:spPr bwMode="gray">
              <a:xfrm rot="10800000" flipH="1">
                <a:off x="6853990" y="2069174"/>
                <a:ext cx="606008" cy="11107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gray">
              <a:xfrm rot="10800000">
                <a:off x="6247982" y="2069174"/>
                <a:ext cx="606008" cy="11107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328248" y="2204864"/>
              <a:ext cx="490909" cy="402545"/>
            </a:xfrm>
            <a:prstGeom prst="rect">
              <a:avLst/>
            </a:prstGeom>
          </p:spPr>
        </p:pic>
        <p:pic>
          <p:nvPicPr>
            <p:cNvPr id="23" name="图片 22" descr="接入交换机.png"/>
            <p:cNvPicPr>
              <a:picLocks noChangeAspect="1"/>
            </p:cNvPicPr>
            <p:nvPr/>
          </p:nvPicPr>
          <p:blipFill>
            <a:blip r:embed="rId4" cstate="print"/>
            <a:stretch>
              <a:fillRect/>
            </a:stretch>
          </p:blipFill>
          <p:spPr bwMode="gray">
            <a:xfrm>
              <a:off x="9480376" y="3414852"/>
              <a:ext cx="490909" cy="401653"/>
            </a:xfrm>
            <a:prstGeom prst="rect">
              <a:avLst/>
            </a:prstGeom>
          </p:spPr>
        </p:pic>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632504" y="2204864"/>
              <a:ext cx="490909" cy="402545"/>
            </a:xfrm>
            <a:prstGeom prst="rect">
              <a:avLst/>
            </a:prstGeom>
          </p:spPr>
        </p:pic>
        <p:cxnSp>
          <p:nvCxnSpPr>
            <p:cNvPr id="28" name="直接连接符 27"/>
            <p:cNvCxnSpPr>
              <a:stCxn id="24" idx="1"/>
              <a:endCxn id="21" idx="3"/>
            </p:cNvCxnSpPr>
            <p:nvPr/>
          </p:nvCxnSpPr>
          <p:spPr bwMode="gray">
            <a:xfrm flipH="1">
              <a:off x="8819157" y="2406137"/>
              <a:ext cx="1813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bwMode="gray">
            <a:xfrm>
              <a:off x="7799701" y="2252247"/>
              <a:ext cx="505268" cy="307777"/>
            </a:xfrm>
            <a:prstGeom prst="rect">
              <a:avLst/>
            </a:prstGeom>
            <a:noFill/>
          </p:spPr>
          <p:txBody>
            <a:bodyPr wrap="none" rtlCol="0">
              <a:spAutoFit/>
            </a:bodyPr>
            <a:lstStyle/>
            <a:p>
              <a:pPr algn="r"/>
              <a:r>
                <a:rPr lang="en-US" altLang="zh-CN" sz="1400" b="1" dirty="0"/>
                <a:t>CPE</a:t>
              </a:r>
              <a:endParaRPr lang="zh-CN" altLang="en-US" sz="1400" b="1" dirty="0"/>
            </a:p>
          </p:txBody>
        </p:sp>
        <p:sp>
          <p:nvSpPr>
            <p:cNvPr id="36" name="文本框 35"/>
            <p:cNvSpPr txBox="1"/>
            <p:nvPr/>
          </p:nvSpPr>
          <p:spPr bwMode="gray">
            <a:xfrm>
              <a:off x="8735476" y="3461789"/>
              <a:ext cx="732894" cy="307777"/>
            </a:xfrm>
            <a:prstGeom prst="rect">
              <a:avLst/>
            </a:prstGeom>
            <a:noFill/>
          </p:spPr>
          <p:txBody>
            <a:bodyPr wrap="none" rtlCol="0">
              <a:spAutoFit/>
            </a:bodyPr>
            <a:lstStyle/>
            <a:p>
              <a:pPr algn="r"/>
              <a:r>
                <a:rPr lang="en-US" altLang="zh-CN" sz="1400" b="1"/>
                <a:t>L2 SW</a:t>
              </a:r>
              <a:endParaRPr lang="zh-CN" altLang="en-US" sz="1400" b="1" dirty="0"/>
            </a:p>
          </p:txBody>
        </p:sp>
        <p:sp>
          <p:nvSpPr>
            <p:cNvPr id="37" name="文本框 36"/>
            <p:cNvSpPr txBox="1"/>
            <p:nvPr/>
          </p:nvSpPr>
          <p:spPr bwMode="gray">
            <a:xfrm>
              <a:off x="11033909" y="2252247"/>
              <a:ext cx="505268" cy="307777"/>
            </a:xfrm>
            <a:prstGeom prst="rect">
              <a:avLst/>
            </a:prstGeom>
            <a:noFill/>
          </p:spPr>
          <p:txBody>
            <a:bodyPr wrap="none" rtlCol="0">
              <a:spAutoFit/>
            </a:bodyPr>
            <a:lstStyle/>
            <a:p>
              <a:pPr algn="r"/>
              <a:r>
                <a:rPr lang="en-US" altLang="zh-CN" sz="1400" b="1" dirty="0"/>
                <a:t>CPE</a:t>
              </a:r>
              <a:endParaRPr lang="zh-CN" altLang="en-US" sz="1400" b="1" dirty="0"/>
            </a:p>
          </p:txBody>
        </p:sp>
        <p:sp>
          <p:nvSpPr>
            <p:cNvPr id="38" name="任意多边形 37"/>
            <p:cNvSpPr/>
            <p:nvPr/>
          </p:nvSpPr>
          <p:spPr bwMode="gray">
            <a:xfrm rot="5400000" flipV="1">
              <a:off x="9375846" y="2142049"/>
              <a:ext cx="697037" cy="1571082"/>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610722 w 926312"/>
                <a:gd name="connsiteY0" fmla="*/ 0 h 667428"/>
                <a:gd name="connsiteX1" fmla="*/ 926312 w 926312"/>
                <a:gd name="connsiteY1" fmla="*/ 667428 h 667428"/>
                <a:gd name="connsiteX0" fmla="*/ 0 w 315590"/>
                <a:gd name="connsiteY0" fmla="*/ 0 h 667428"/>
                <a:gd name="connsiteX1" fmla="*/ 315590 w 315590"/>
                <a:gd name="connsiteY1" fmla="*/ 667428 h 667428"/>
                <a:gd name="connsiteX0" fmla="*/ 206472 w 295963"/>
                <a:gd name="connsiteY0" fmla="*/ 0 h 631086"/>
                <a:gd name="connsiteX1" fmla="*/ 219629 w 295963"/>
                <a:gd name="connsiteY1" fmla="*/ 631086 h 631086"/>
                <a:gd name="connsiteX0" fmla="*/ 0 w 237291"/>
                <a:gd name="connsiteY0" fmla="*/ 0 h 631086"/>
                <a:gd name="connsiteX1" fmla="*/ 13157 w 237291"/>
                <a:gd name="connsiteY1" fmla="*/ 631086 h 631086"/>
                <a:gd name="connsiteX0" fmla="*/ 0 w 236114"/>
                <a:gd name="connsiteY0" fmla="*/ 0 h 599936"/>
                <a:gd name="connsiteX1" fmla="*/ 10357 w 236114"/>
                <a:gd name="connsiteY1" fmla="*/ 599936 h 599936"/>
                <a:gd name="connsiteX0" fmla="*/ 0 w 224372"/>
                <a:gd name="connsiteY0" fmla="*/ 0 h 599936"/>
                <a:gd name="connsiteX1" fmla="*/ 10357 w 224372"/>
                <a:gd name="connsiteY1" fmla="*/ 599936 h 599936"/>
                <a:gd name="connsiteX0" fmla="*/ 0 w 187373"/>
                <a:gd name="connsiteY0" fmla="*/ 0 h 599936"/>
                <a:gd name="connsiteX1" fmla="*/ 10357 w 187373"/>
                <a:gd name="connsiteY1" fmla="*/ 599936 h 599936"/>
              </a:gdLst>
              <a:ahLst/>
              <a:cxnLst>
                <a:cxn ang="0">
                  <a:pos x="connsiteX0" y="connsiteY0"/>
                </a:cxn>
                <a:cxn ang="0">
                  <a:pos x="connsiteX1" y="connsiteY1"/>
                </a:cxn>
              </a:cxnLst>
              <a:rect l="l" t="t" r="r" b="b"/>
              <a:pathLst>
                <a:path w="187373" h="599936">
                  <a:moveTo>
                    <a:pt x="0" y="0"/>
                  </a:moveTo>
                  <a:cubicBezTo>
                    <a:pt x="294009" y="286999"/>
                    <a:pt x="198509" y="385366"/>
                    <a:pt x="10357" y="599936"/>
                  </a:cubicBezTo>
                </a:path>
              </a:pathLst>
            </a:custGeom>
            <a:ln w="19050">
              <a:solidFill>
                <a:srgbClr val="E28189"/>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文本框 38"/>
            <p:cNvSpPr txBox="1"/>
            <p:nvPr/>
          </p:nvSpPr>
          <p:spPr bwMode="gray">
            <a:xfrm>
              <a:off x="9415565" y="2881579"/>
              <a:ext cx="647933" cy="307777"/>
            </a:xfrm>
            <a:prstGeom prst="rect">
              <a:avLst/>
            </a:prstGeom>
            <a:noFill/>
          </p:spPr>
          <p:txBody>
            <a:bodyPr wrap="none" rtlCol="0">
              <a:spAutoFit/>
            </a:bodyPr>
            <a:lstStyle/>
            <a:p>
              <a:pPr algn="ctr"/>
              <a:r>
                <a:rPr lang="en-US" altLang="zh-CN" sz="1400" b="1" dirty="0">
                  <a:solidFill>
                    <a:srgbClr val="C7000B"/>
                  </a:solidFill>
                </a:rPr>
                <a:t>VRRP</a:t>
              </a:r>
              <a:endParaRPr lang="zh-CN" altLang="en-US" sz="1400" b="1" dirty="0">
                <a:solidFill>
                  <a:srgbClr val="C7000B"/>
                </a:solidFill>
              </a:endParaRPr>
            </a:p>
          </p:txBody>
        </p:sp>
      </p:gr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087211" y="2281196"/>
            <a:ext cx="490909" cy="402545"/>
          </a:xfrm>
          <a:prstGeom prst="rect">
            <a:avLst/>
          </a:prstGeom>
        </p:spPr>
      </p:pic>
      <p:pic>
        <p:nvPicPr>
          <p:cNvPr id="9" name="图片 8" descr="AP.png"/>
          <p:cNvPicPr>
            <a:picLocks noChangeAspect="1"/>
          </p:cNvPicPr>
          <p:nvPr/>
        </p:nvPicPr>
        <p:blipFill>
          <a:blip r:embed="rId5" cstate="print"/>
          <a:stretch>
            <a:fillRect/>
          </a:stretch>
        </p:blipFill>
        <p:spPr bwMode="gray">
          <a:xfrm>
            <a:off x="2087211" y="3491184"/>
            <a:ext cx="490909" cy="401653"/>
          </a:xfrm>
          <a:prstGeom prst="rect">
            <a:avLst/>
          </a:prstGeom>
        </p:spPr>
      </p:pic>
      <p:cxnSp>
        <p:nvCxnSpPr>
          <p:cNvPr id="10" name="直接连接符 9"/>
          <p:cNvCxnSpPr>
            <a:stCxn id="9" idx="0"/>
            <a:endCxn id="8" idx="2"/>
          </p:cNvCxnSpPr>
          <p:nvPr/>
        </p:nvCxnSpPr>
        <p:spPr bwMode="gray">
          <a:xfrm flipV="1">
            <a:off x="2332666" y="2683741"/>
            <a:ext cx="0" cy="8074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121110" y="2281196"/>
            <a:ext cx="490909" cy="402545"/>
          </a:xfrm>
          <a:prstGeom prst="rect">
            <a:avLst/>
          </a:prstGeom>
        </p:spPr>
      </p:pic>
      <p:cxnSp>
        <p:nvCxnSpPr>
          <p:cNvPr id="16" name="直接连接符 15"/>
          <p:cNvCxnSpPr>
            <a:endCxn id="14" idx="2"/>
          </p:cNvCxnSpPr>
          <p:nvPr/>
        </p:nvCxnSpPr>
        <p:spPr bwMode="gray">
          <a:xfrm flipV="1">
            <a:off x="4366565" y="2683741"/>
            <a:ext cx="0" cy="10372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图片 16" descr="接入交换机.png"/>
          <p:cNvPicPr>
            <a:picLocks noChangeAspect="1"/>
          </p:cNvPicPr>
          <p:nvPr/>
        </p:nvPicPr>
        <p:blipFill>
          <a:blip r:embed="rId4" cstate="print"/>
          <a:stretch>
            <a:fillRect/>
          </a:stretch>
        </p:blipFill>
        <p:spPr bwMode="gray">
          <a:xfrm>
            <a:off x="4121109" y="3491184"/>
            <a:ext cx="490909" cy="401653"/>
          </a:xfrm>
          <a:prstGeom prst="rect">
            <a:avLst/>
          </a:prstGeom>
        </p:spPr>
      </p:pic>
      <p:sp>
        <p:nvSpPr>
          <p:cNvPr id="31" name="文本框 30"/>
          <p:cNvSpPr txBox="1"/>
          <p:nvPr/>
        </p:nvSpPr>
        <p:spPr bwMode="gray">
          <a:xfrm>
            <a:off x="1581943" y="2328579"/>
            <a:ext cx="505268" cy="307777"/>
          </a:xfrm>
          <a:prstGeom prst="rect">
            <a:avLst/>
          </a:prstGeom>
          <a:noFill/>
        </p:spPr>
        <p:txBody>
          <a:bodyPr wrap="none" rtlCol="0">
            <a:spAutoFit/>
          </a:bodyPr>
          <a:lstStyle/>
          <a:p>
            <a:pPr algn="r"/>
            <a:r>
              <a:rPr lang="en-US" altLang="zh-CN" sz="1400" b="1" dirty="0"/>
              <a:t>CPE</a:t>
            </a:r>
            <a:endParaRPr lang="zh-CN" altLang="en-US" sz="1400" b="1" dirty="0"/>
          </a:p>
        </p:txBody>
      </p:sp>
      <p:sp>
        <p:nvSpPr>
          <p:cNvPr id="32" name="文本框 31"/>
          <p:cNvSpPr txBox="1"/>
          <p:nvPr/>
        </p:nvSpPr>
        <p:spPr bwMode="gray">
          <a:xfrm>
            <a:off x="1642859" y="3538121"/>
            <a:ext cx="434734" cy="307777"/>
          </a:xfrm>
          <a:prstGeom prst="rect">
            <a:avLst/>
          </a:prstGeom>
          <a:noFill/>
        </p:spPr>
        <p:txBody>
          <a:bodyPr wrap="none" rtlCol="0">
            <a:spAutoFit/>
          </a:bodyPr>
          <a:lstStyle/>
          <a:p>
            <a:pPr algn="r"/>
            <a:r>
              <a:rPr lang="en-US" altLang="zh-CN" sz="1400" b="1" dirty="0"/>
              <a:t>AP</a:t>
            </a:r>
            <a:endParaRPr lang="zh-CN" altLang="en-US" sz="1400" b="1"/>
          </a:p>
        </p:txBody>
      </p:sp>
      <p:sp>
        <p:nvSpPr>
          <p:cNvPr id="33" name="文本框 32"/>
          <p:cNvSpPr txBox="1"/>
          <p:nvPr/>
        </p:nvSpPr>
        <p:spPr bwMode="gray">
          <a:xfrm>
            <a:off x="3577525" y="2328579"/>
            <a:ext cx="505268" cy="307777"/>
          </a:xfrm>
          <a:prstGeom prst="rect">
            <a:avLst/>
          </a:prstGeom>
          <a:noFill/>
        </p:spPr>
        <p:txBody>
          <a:bodyPr wrap="none" rtlCol="0">
            <a:spAutoFit/>
          </a:bodyPr>
          <a:lstStyle/>
          <a:p>
            <a:pPr algn="r"/>
            <a:r>
              <a:rPr lang="en-US" altLang="zh-CN" sz="1400" b="1" dirty="0"/>
              <a:t>CPE</a:t>
            </a:r>
            <a:endParaRPr lang="zh-CN" altLang="en-US" sz="1400" b="1" dirty="0"/>
          </a:p>
        </p:txBody>
      </p:sp>
      <p:sp>
        <p:nvSpPr>
          <p:cNvPr id="34" name="文本框 33"/>
          <p:cNvSpPr txBox="1"/>
          <p:nvPr/>
        </p:nvSpPr>
        <p:spPr bwMode="gray">
          <a:xfrm>
            <a:off x="3340281" y="3538121"/>
            <a:ext cx="732894" cy="307777"/>
          </a:xfrm>
          <a:prstGeom prst="rect">
            <a:avLst/>
          </a:prstGeom>
          <a:noFill/>
        </p:spPr>
        <p:txBody>
          <a:bodyPr wrap="none" rtlCol="0">
            <a:spAutoFit/>
          </a:bodyPr>
          <a:lstStyle/>
          <a:p>
            <a:pPr algn="r"/>
            <a:r>
              <a:rPr lang="en-US" altLang="zh-CN" sz="1400" b="1"/>
              <a:t>L2 SW</a:t>
            </a:r>
            <a:endParaRPr lang="zh-CN" altLang="en-US" sz="1400" b="1" dirty="0"/>
          </a:p>
        </p:txBody>
      </p:sp>
      <p:sp>
        <p:nvSpPr>
          <p:cNvPr id="46" name="圆角矩形 75">
            <a:extLst>
              <a:ext uri="{FF2B5EF4-FFF2-40B4-BE49-F238E27FC236}">
                <a16:creationId xmlns:a16="http://schemas.microsoft.com/office/drawing/2014/main" id="{0653B71E-87F1-4EDC-A0B4-39E70A18B496}"/>
              </a:ext>
            </a:extLst>
          </p:cNvPr>
          <p:cNvSpPr/>
          <p:nvPr/>
        </p:nvSpPr>
        <p:spPr bwMode="gray">
          <a:xfrm>
            <a:off x="1034143" y="1147092"/>
            <a:ext cx="469192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单</a:t>
            </a:r>
            <a:r>
              <a:rPr lang="en-US" altLang="zh-CN" sz="1600" dirty="0">
                <a:solidFill>
                  <a:srgbClr val="30B5C5"/>
                </a:solidFill>
                <a:latin typeface="Huawei Sans" panose="020C0503030203020204" pitchFamily="34" charset="0"/>
                <a:ea typeface="方正兰亭黑简体" panose="02000000000000000000" pitchFamily="2" charset="-122"/>
              </a:rPr>
              <a:t>CPE LAN</a:t>
            </a:r>
            <a:r>
              <a:rPr lang="zh-CN" altLang="en-US" sz="1600" dirty="0">
                <a:solidFill>
                  <a:srgbClr val="30B5C5"/>
                </a:solidFill>
                <a:latin typeface="Huawei Sans" panose="020C0503030203020204" pitchFamily="34" charset="0"/>
                <a:ea typeface="方正兰亭黑简体" panose="02000000000000000000" pitchFamily="2" charset="-122"/>
              </a:rPr>
              <a:t>侧二层对接场景</a:t>
            </a:r>
          </a:p>
        </p:txBody>
      </p:sp>
      <p:sp>
        <p:nvSpPr>
          <p:cNvPr id="48" name="圆角矩形 75">
            <a:extLst>
              <a:ext uri="{FF2B5EF4-FFF2-40B4-BE49-F238E27FC236}">
                <a16:creationId xmlns:a16="http://schemas.microsoft.com/office/drawing/2014/main" id="{F404EAA5-79FF-4F34-A635-58C8A1A421DC}"/>
              </a:ext>
            </a:extLst>
          </p:cNvPr>
          <p:cNvSpPr/>
          <p:nvPr/>
        </p:nvSpPr>
        <p:spPr bwMode="gray">
          <a:xfrm>
            <a:off x="6488224" y="1147092"/>
            <a:ext cx="469192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双</a:t>
            </a:r>
            <a:r>
              <a:rPr lang="en-US" altLang="zh-CN" sz="1600" dirty="0">
                <a:solidFill>
                  <a:srgbClr val="30B5C5"/>
                </a:solidFill>
                <a:latin typeface="Huawei Sans" panose="020C0503030203020204" pitchFamily="34" charset="0"/>
                <a:ea typeface="方正兰亭黑简体" panose="02000000000000000000" pitchFamily="2" charset="-122"/>
              </a:rPr>
              <a:t>CPE LAN</a:t>
            </a:r>
            <a:r>
              <a:rPr lang="zh-CN" altLang="en-US" sz="1600" dirty="0">
                <a:solidFill>
                  <a:srgbClr val="30B5C5"/>
                </a:solidFill>
                <a:latin typeface="Huawei Sans" panose="020C0503030203020204" pitchFamily="34" charset="0"/>
                <a:ea typeface="方正兰亭黑简体" panose="02000000000000000000" pitchFamily="2" charset="-122"/>
              </a:rPr>
              <a:t>侧二层对接场景</a:t>
            </a:r>
          </a:p>
        </p:txBody>
      </p:sp>
      <p:sp>
        <p:nvSpPr>
          <p:cNvPr id="40" name="五边形 2">
            <a:extLst>
              <a:ext uri="{FF2B5EF4-FFF2-40B4-BE49-F238E27FC236}">
                <a16:creationId xmlns:a16="http://schemas.microsoft.com/office/drawing/2014/main" id="{EE70B2CB-6DF6-45DD-8C9F-892B95D45942}"/>
              </a:ext>
            </a:extLst>
          </p:cNvPr>
          <p:cNvSpPr/>
          <p:nvPr/>
        </p:nvSpPr>
        <p:spPr bwMode="gray">
          <a:xfrm>
            <a:off x="7742323" y="121856"/>
            <a:ext cx="142606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侧网络设计</a:t>
            </a:r>
          </a:p>
        </p:txBody>
      </p:sp>
      <p:sp>
        <p:nvSpPr>
          <p:cNvPr id="44" name="燕尾形 3">
            <a:extLst>
              <a:ext uri="{FF2B5EF4-FFF2-40B4-BE49-F238E27FC236}">
                <a16:creationId xmlns:a16="http://schemas.microsoft.com/office/drawing/2014/main" id="{F751EB43-6577-4337-A5CD-474EA47C0E90}"/>
              </a:ext>
            </a:extLst>
          </p:cNvPr>
          <p:cNvSpPr/>
          <p:nvPr/>
        </p:nvSpPr>
        <p:spPr bwMode="gray">
          <a:xfrm>
            <a:off x="10441326" y="12185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双</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CPE</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互联设计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3">
            <a:extLst>
              <a:ext uri="{FF2B5EF4-FFF2-40B4-BE49-F238E27FC236}">
                <a16:creationId xmlns:a16="http://schemas.microsoft.com/office/drawing/2014/main" id="{3628227F-43F9-413D-84F1-6CE1E055F788}"/>
              </a:ext>
            </a:extLst>
          </p:cNvPr>
          <p:cNvSpPr/>
          <p:nvPr/>
        </p:nvSpPr>
        <p:spPr bwMode="gray">
          <a:xfrm>
            <a:off x="9091825" y="121856"/>
            <a:ext cx="142606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侧网络设计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992738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圆角矩形 75">
            <a:extLst>
              <a:ext uri="{FF2B5EF4-FFF2-40B4-BE49-F238E27FC236}">
                <a16:creationId xmlns:a16="http://schemas.microsoft.com/office/drawing/2014/main" id="{F6E3012A-CAF1-446E-9640-560AB1759B6B}"/>
              </a:ext>
            </a:extLst>
          </p:cNvPr>
          <p:cNvSpPr/>
          <p:nvPr/>
        </p:nvSpPr>
        <p:spPr bwMode="gray">
          <a:xfrm>
            <a:off x="2028055" y="1586869"/>
            <a:ext cx="8145392" cy="3619832"/>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r>
              <a:rPr lang="zh-CN" altLang="en-US" sz="1400" dirty="0">
                <a:solidFill>
                  <a:schemeClr val="tx1"/>
                </a:solidFill>
              </a:rPr>
              <a:t>三层对接场景下，单设备的场景比较简单，</a:t>
            </a:r>
            <a:r>
              <a:rPr lang="zh-CN" altLang="en-US" sz="1400">
                <a:solidFill>
                  <a:schemeClr val="tx1"/>
                </a:solidFill>
              </a:rPr>
              <a:t>根据</a:t>
            </a:r>
            <a:r>
              <a:rPr lang="en-US" altLang="zh-CN" sz="1400">
                <a:solidFill>
                  <a:schemeClr val="tx1"/>
                </a:solidFill>
              </a:rPr>
              <a:t>LAN</a:t>
            </a:r>
            <a:r>
              <a:rPr lang="zh-CN" altLang="en-US" sz="1400" dirty="0">
                <a:solidFill>
                  <a:schemeClr val="tx1"/>
                </a:solidFill>
              </a:rPr>
              <a:t>设备的要求配置相关的路由协议即可</a:t>
            </a:r>
            <a:r>
              <a:rPr lang="zh-CN" altLang="en-US" sz="1400">
                <a:solidFill>
                  <a:schemeClr val="tx1"/>
                </a:solidFill>
              </a:rPr>
              <a:t>完成</a:t>
            </a:r>
            <a:r>
              <a:rPr lang="en-US" altLang="zh-CN" sz="1400">
                <a:solidFill>
                  <a:schemeClr val="tx1"/>
                </a:solidFill>
              </a:rPr>
              <a:t>LAN</a:t>
            </a:r>
            <a:r>
              <a:rPr lang="zh-CN" altLang="en-US" sz="1400">
                <a:solidFill>
                  <a:schemeClr val="tx1"/>
                </a:solidFill>
              </a:rPr>
              <a:t>侧的配置。 </a:t>
            </a:r>
            <a:endParaRPr lang="zh-CN" altLang="en-US"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p:txBody>
      </p:sp>
      <p:sp>
        <p:nvSpPr>
          <p:cNvPr id="2" name="标题 1"/>
          <p:cNvSpPr>
            <a:spLocks noGrp="1"/>
          </p:cNvSpPr>
          <p:nvPr>
            <p:ph type="title"/>
          </p:nvPr>
        </p:nvSpPr>
        <p:spPr bwMode="gray"/>
        <p:txBody>
          <a:bodyPr/>
          <a:lstStyle/>
          <a:p>
            <a:r>
              <a:rPr lang="en-US" dirty="0"/>
              <a:t>LAN</a:t>
            </a:r>
            <a:r>
              <a:rPr lang="zh-CN" altLang="en-US" dirty="0"/>
              <a:t>侧三层网络对接典型场景</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856394" y="2161077"/>
            <a:ext cx="490909" cy="402545"/>
          </a:xfrm>
          <a:prstGeom prst="rect">
            <a:avLst/>
          </a:prstGeom>
        </p:spPr>
      </p:pic>
      <p:cxnSp>
        <p:nvCxnSpPr>
          <p:cNvPr id="11" name="直接连接符 10"/>
          <p:cNvCxnSpPr>
            <a:endCxn id="10" idx="2"/>
          </p:cNvCxnSpPr>
          <p:nvPr/>
        </p:nvCxnSpPr>
        <p:spPr bwMode="gray">
          <a:xfrm flipV="1">
            <a:off x="4101849" y="2563622"/>
            <a:ext cx="0" cy="10372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图片 11" descr="接入交换机.png"/>
          <p:cNvPicPr>
            <a:picLocks noChangeAspect="1"/>
          </p:cNvPicPr>
          <p:nvPr/>
        </p:nvPicPr>
        <p:blipFill>
          <a:blip r:embed="rId4" cstate="print"/>
          <a:stretch>
            <a:fillRect/>
          </a:stretch>
        </p:blipFill>
        <p:spPr bwMode="gray">
          <a:xfrm>
            <a:off x="3856393" y="3371065"/>
            <a:ext cx="490909" cy="401653"/>
          </a:xfrm>
          <a:prstGeom prst="rect">
            <a:avLst/>
          </a:prstGeom>
        </p:spPr>
      </p:pic>
      <p:sp>
        <p:nvSpPr>
          <p:cNvPr id="13" name="文本框 12"/>
          <p:cNvSpPr txBox="1"/>
          <p:nvPr/>
        </p:nvSpPr>
        <p:spPr bwMode="gray">
          <a:xfrm>
            <a:off x="3312809" y="2208460"/>
            <a:ext cx="505268" cy="307777"/>
          </a:xfrm>
          <a:prstGeom prst="rect">
            <a:avLst/>
          </a:prstGeom>
          <a:noFill/>
        </p:spPr>
        <p:txBody>
          <a:bodyPr wrap="none" rtlCol="0">
            <a:spAutoFit/>
          </a:bodyPr>
          <a:lstStyle/>
          <a:p>
            <a:pPr algn="r"/>
            <a:r>
              <a:rPr lang="en-US" altLang="zh-CN" sz="1400" b="1" dirty="0"/>
              <a:t>CPE</a:t>
            </a:r>
            <a:endParaRPr lang="zh-CN" altLang="en-US" sz="1400" b="1" dirty="0"/>
          </a:p>
        </p:txBody>
      </p:sp>
      <p:sp>
        <p:nvSpPr>
          <p:cNvPr id="14" name="文本框 13"/>
          <p:cNvSpPr txBox="1"/>
          <p:nvPr/>
        </p:nvSpPr>
        <p:spPr bwMode="gray">
          <a:xfrm>
            <a:off x="3075565" y="3418002"/>
            <a:ext cx="732894" cy="307777"/>
          </a:xfrm>
          <a:prstGeom prst="rect">
            <a:avLst/>
          </a:prstGeom>
          <a:noFill/>
        </p:spPr>
        <p:txBody>
          <a:bodyPr wrap="none" rtlCol="0">
            <a:spAutoFit/>
          </a:bodyPr>
          <a:lstStyle/>
          <a:p>
            <a:pPr algn="r"/>
            <a:r>
              <a:rPr lang="en-US" altLang="zh-CN" sz="1400" b="1"/>
              <a:t>L3 SW</a:t>
            </a:r>
            <a:endParaRPr lang="zh-CN" altLang="en-US" sz="1400" b="1" dirty="0"/>
          </a:p>
        </p:txBody>
      </p:sp>
      <p:grpSp>
        <p:nvGrpSpPr>
          <p:cNvPr id="16" name="组合 15"/>
          <p:cNvGrpSpPr/>
          <p:nvPr/>
        </p:nvGrpSpPr>
        <p:grpSpPr bwMode="gray">
          <a:xfrm>
            <a:off x="5748328" y="2161077"/>
            <a:ext cx="3739476" cy="1611641"/>
            <a:chOff x="7799701" y="2204864"/>
            <a:chExt cx="3739476" cy="1611641"/>
          </a:xfrm>
        </p:grpSpPr>
        <p:grpSp>
          <p:nvGrpSpPr>
            <p:cNvPr id="17" name="组合 16"/>
            <p:cNvGrpSpPr/>
            <p:nvPr/>
          </p:nvGrpSpPr>
          <p:grpSpPr bwMode="gray">
            <a:xfrm>
              <a:off x="8681987" y="2492896"/>
              <a:ext cx="2087686" cy="1225271"/>
              <a:chOff x="6247982" y="2069174"/>
              <a:chExt cx="1212016" cy="1110758"/>
            </a:xfrm>
          </p:grpSpPr>
          <p:cxnSp>
            <p:nvCxnSpPr>
              <p:cNvPr id="27" name="直接连接符 26"/>
              <p:cNvCxnSpPr/>
              <p:nvPr/>
            </p:nvCxnSpPr>
            <p:spPr bwMode="gray">
              <a:xfrm rot="10800000" flipH="1">
                <a:off x="6853990" y="2069174"/>
                <a:ext cx="606008" cy="11107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gray">
              <a:xfrm rot="10800000">
                <a:off x="6247982" y="2069174"/>
                <a:ext cx="606008" cy="11107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328248" y="2204864"/>
              <a:ext cx="490909" cy="402545"/>
            </a:xfrm>
            <a:prstGeom prst="rect">
              <a:avLst/>
            </a:prstGeom>
          </p:spPr>
        </p:pic>
        <p:pic>
          <p:nvPicPr>
            <p:cNvPr id="19" name="图片 18" descr="接入交换机.png"/>
            <p:cNvPicPr>
              <a:picLocks noChangeAspect="1"/>
            </p:cNvPicPr>
            <p:nvPr/>
          </p:nvPicPr>
          <p:blipFill>
            <a:blip r:embed="rId4" cstate="print"/>
            <a:stretch>
              <a:fillRect/>
            </a:stretch>
          </p:blipFill>
          <p:spPr bwMode="gray">
            <a:xfrm>
              <a:off x="9480376" y="3414852"/>
              <a:ext cx="490909" cy="401653"/>
            </a:xfrm>
            <a:prstGeom prst="rect">
              <a:avLst/>
            </a:prstGeom>
          </p:spPr>
        </p:pic>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632504" y="2204864"/>
              <a:ext cx="490909" cy="402545"/>
            </a:xfrm>
            <a:prstGeom prst="rect">
              <a:avLst/>
            </a:prstGeom>
          </p:spPr>
        </p:pic>
        <p:cxnSp>
          <p:nvCxnSpPr>
            <p:cNvPr id="21" name="直接连接符 20"/>
            <p:cNvCxnSpPr>
              <a:stCxn id="20" idx="1"/>
              <a:endCxn id="18" idx="3"/>
            </p:cNvCxnSpPr>
            <p:nvPr/>
          </p:nvCxnSpPr>
          <p:spPr bwMode="gray">
            <a:xfrm flipH="1">
              <a:off x="8819157" y="2406137"/>
              <a:ext cx="1813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bwMode="gray">
            <a:xfrm>
              <a:off x="7799701" y="2252247"/>
              <a:ext cx="505268" cy="307777"/>
            </a:xfrm>
            <a:prstGeom prst="rect">
              <a:avLst/>
            </a:prstGeom>
            <a:noFill/>
          </p:spPr>
          <p:txBody>
            <a:bodyPr wrap="none" rtlCol="0">
              <a:spAutoFit/>
            </a:bodyPr>
            <a:lstStyle/>
            <a:p>
              <a:pPr algn="r"/>
              <a:r>
                <a:rPr lang="en-US" altLang="zh-CN" sz="1400" b="1" dirty="0"/>
                <a:t>CPE</a:t>
              </a:r>
              <a:endParaRPr lang="zh-CN" altLang="en-US" sz="1400" b="1" dirty="0"/>
            </a:p>
          </p:txBody>
        </p:sp>
        <p:sp>
          <p:nvSpPr>
            <p:cNvPr id="23" name="文本框 22"/>
            <p:cNvSpPr txBox="1"/>
            <p:nvPr/>
          </p:nvSpPr>
          <p:spPr bwMode="gray">
            <a:xfrm>
              <a:off x="8735476" y="3461789"/>
              <a:ext cx="732894" cy="307777"/>
            </a:xfrm>
            <a:prstGeom prst="rect">
              <a:avLst/>
            </a:prstGeom>
            <a:noFill/>
          </p:spPr>
          <p:txBody>
            <a:bodyPr wrap="none" rtlCol="0">
              <a:spAutoFit/>
            </a:bodyPr>
            <a:lstStyle/>
            <a:p>
              <a:pPr algn="r"/>
              <a:r>
                <a:rPr lang="en-US" altLang="zh-CN" sz="1400" b="1"/>
                <a:t>L3 SW</a:t>
              </a:r>
              <a:endParaRPr lang="zh-CN" altLang="en-US" sz="1400" b="1" dirty="0"/>
            </a:p>
          </p:txBody>
        </p:sp>
        <p:sp>
          <p:nvSpPr>
            <p:cNvPr id="24" name="文本框 23"/>
            <p:cNvSpPr txBox="1"/>
            <p:nvPr/>
          </p:nvSpPr>
          <p:spPr bwMode="gray">
            <a:xfrm>
              <a:off x="11033909" y="2252247"/>
              <a:ext cx="505268" cy="307777"/>
            </a:xfrm>
            <a:prstGeom prst="rect">
              <a:avLst/>
            </a:prstGeom>
            <a:noFill/>
          </p:spPr>
          <p:txBody>
            <a:bodyPr wrap="none" rtlCol="0">
              <a:spAutoFit/>
            </a:bodyPr>
            <a:lstStyle/>
            <a:p>
              <a:pPr algn="r"/>
              <a:r>
                <a:rPr lang="en-US" altLang="zh-CN" sz="1400" b="1" dirty="0"/>
                <a:t>CPE</a:t>
              </a:r>
              <a:endParaRPr lang="zh-CN" altLang="en-US" sz="1400" b="1" dirty="0"/>
            </a:p>
          </p:txBody>
        </p:sp>
      </p:grpSp>
      <p:cxnSp>
        <p:nvCxnSpPr>
          <p:cNvPr id="29" name="直接箭头连接符 28"/>
          <p:cNvCxnSpPr/>
          <p:nvPr/>
        </p:nvCxnSpPr>
        <p:spPr bwMode="gray">
          <a:xfrm flipV="1">
            <a:off x="4257394" y="2628636"/>
            <a:ext cx="0" cy="638822"/>
          </a:xfrm>
          <a:prstGeom prst="straightConnector1">
            <a:avLst/>
          </a:prstGeom>
          <a:ln w="19050">
            <a:solidFill>
              <a:srgbClr val="C7000B"/>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bwMode="gray">
          <a:xfrm>
            <a:off x="4358064" y="2573955"/>
            <a:ext cx="902875" cy="738664"/>
          </a:xfrm>
          <a:prstGeom prst="rect">
            <a:avLst/>
          </a:prstGeom>
          <a:noFill/>
        </p:spPr>
        <p:txBody>
          <a:bodyPr wrap="none" rtlCol="0">
            <a:spAutoFit/>
          </a:bodyPr>
          <a:lstStyle/>
          <a:p>
            <a:r>
              <a:rPr lang="zh-CN" altLang="en-US" sz="1400" dirty="0">
                <a:solidFill>
                  <a:srgbClr val="C7000B"/>
                </a:solidFill>
              </a:rPr>
              <a:t>静态路由</a:t>
            </a:r>
            <a:endParaRPr lang="en-US" altLang="zh-CN" sz="1400" dirty="0">
              <a:solidFill>
                <a:srgbClr val="C7000B"/>
              </a:solidFill>
            </a:endParaRPr>
          </a:p>
          <a:p>
            <a:r>
              <a:rPr lang="en-US" altLang="zh-CN" sz="1400" dirty="0">
                <a:solidFill>
                  <a:srgbClr val="C7000B"/>
                </a:solidFill>
              </a:rPr>
              <a:t>OSPF</a:t>
            </a:r>
          </a:p>
          <a:p>
            <a:r>
              <a:rPr lang="en-US" altLang="zh-CN" sz="1400" dirty="0">
                <a:solidFill>
                  <a:srgbClr val="C7000B"/>
                </a:solidFill>
              </a:rPr>
              <a:t>BGP</a:t>
            </a:r>
            <a:endParaRPr lang="zh-CN" altLang="en-US" sz="1400" dirty="0">
              <a:solidFill>
                <a:srgbClr val="C7000B"/>
              </a:solidFill>
            </a:endParaRPr>
          </a:p>
        </p:txBody>
      </p:sp>
      <p:sp>
        <p:nvSpPr>
          <p:cNvPr id="32" name="文本框 31"/>
          <p:cNvSpPr txBox="1"/>
          <p:nvPr/>
        </p:nvSpPr>
        <p:spPr bwMode="gray">
          <a:xfrm>
            <a:off x="7197086" y="2573955"/>
            <a:ext cx="902875" cy="738664"/>
          </a:xfrm>
          <a:prstGeom prst="rect">
            <a:avLst/>
          </a:prstGeom>
          <a:noFill/>
        </p:spPr>
        <p:txBody>
          <a:bodyPr wrap="none" rtlCol="0">
            <a:spAutoFit/>
          </a:bodyPr>
          <a:lstStyle/>
          <a:p>
            <a:pPr algn="ctr"/>
            <a:r>
              <a:rPr lang="zh-CN" altLang="en-US" sz="1400" dirty="0">
                <a:solidFill>
                  <a:srgbClr val="C7000B"/>
                </a:solidFill>
              </a:rPr>
              <a:t>静态路由</a:t>
            </a:r>
            <a:endParaRPr lang="en-US" altLang="zh-CN" sz="1400" dirty="0">
              <a:solidFill>
                <a:srgbClr val="C7000B"/>
              </a:solidFill>
            </a:endParaRPr>
          </a:p>
          <a:p>
            <a:pPr algn="ctr"/>
            <a:r>
              <a:rPr lang="en-US" altLang="zh-CN" sz="1400" dirty="0">
                <a:solidFill>
                  <a:srgbClr val="C7000B"/>
                </a:solidFill>
              </a:rPr>
              <a:t>OSPF</a:t>
            </a:r>
          </a:p>
          <a:p>
            <a:pPr algn="ctr"/>
            <a:r>
              <a:rPr lang="en-US" altLang="zh-CN" sz="1400" dirty="0">
                <a:solidFill>
                  <a:srgbClr val="C7000B"/>
                </a:solidFill>
              </a:rPr>
              <a:t>BGP</a:t>
            </a:r>
            <a:endParaRPr lang="zh-CN" altLang="en-US" sz="1400" dirty="0">
              <a:solidFill>
                <a:srgbClr val="C7000B"/>
              </a:solidFill>
            </a:endParaRPr>
          </a:p>
        </p:txBody>
      </p:sp>
      <p:sp>
        <p:nvSpPr>
          <p:cNvPr id="37" name="圆角矩形 75">
            <a:extLst>
              <a:ext uri="{FF2B5EF4-FFF2-40B4-BE49-F238E27FC236}">
                <a16:creationId xmlns:a16="http://schemas.microsoft.com/office/drawing/2014/main" id="{B08E71B3-6D44-4262-99D3-C7FD1FF97CA0}"/>
              </a:ext>
            </a:extLst>
          </p:cNvPr>
          <p:cNvSpPr/>
          <p:nvPr/>
        </p:nvSpPr>
        <p:spPr bwMode="gray">
          <a:xfrm>
            <a:off x="2028055" y="1147092"/>
            <a:ext cx="8145392"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单</a:t>
            </a:r>
            <a:r>
              <a:rPr lang="en-US" altLang="zh-CN" sz="1600" dirty="0">
                <a:solidFill>
                  <a:srgbClr val="30B5C5"/>
                </a:solidFill>
                <a:latin typeface="Huawei Sans" panose="020C0503030203020204" pitchFamily="34" charset="0"/>
                <a:ea typeface="方正兰亭黑简体" panose="02000000000000000000" pitchFamily="2" charset="-122"/>
              </a:rPr>
              <a:t>/</a:t>
            </a:r>
            <a:r>
              <a:rPr lang="zh-CN" altLang="en-US" sz="1600" dirty="0">
                <a:solidFill>
                  <a:srgbClr val="30B5C5"/>
                </a:solidFill>
                <a:latin typeface="Huawei Sans" panose="020C0503030203020204" pitchFamily="34" charset="0"/>
                <a:ea typeface="方正兰亭黑简体" panose="02000000000000000000" pitchFamily="2" charset="-122"/>
              </a:rPr>
              <a:t>双</a:t>
            </a:r>
            <a:r>
              <a:rPr lang="en-US" altLang="zh-CN" sz="1600" dirty="0">
                <a:solidFill>
                  <a:srgbClr val="30B5C5"/>
                </a:solidFill>
                <a:latin typeface="Huawei Sans" panose="020C0503030203020204" pitchFamily="34" charset="0"/>
                <a:ea typeface="方正兰亭黑简体" panose="02000000000000000000" pitchFamily="2" charset="-122"/>
              </a:rPr>
              <a:t>CPE LAN</a:t>
            </a:r>
            <a:r>
              <a:rPr lang="zh-CN" altLang="en-US" sz="1600" dirty="0">
                <a:solidFill>
                  <a:srgbClr val="30B5C5"/>
                </a:solidFill>
                <a:latin typeface="Huawei Sans" panose="020C0503030203020204" pitchFamily="34" charset="0"/>
                <a:ea typeface="方正兰亭黑简体" panose="02000000000000000000" pitchFamily="2" charset="-122"/>
              </a:rPr>
              <a:t>侧三层对接场景</a:t>
            </a:r>
          </a:p>
        </p:txBody>
      </p:sp>
      <p:sp>
        <p:nvSpPr>
          <p:cNvPr id="33" name="五边形 2">
            <a:extLst>
              <a:ext uri="{FF2B5EF4-FFF2-40B4-BE49-F238E27FC236}">
                <a16:creationId xmlns:a16="http://schemas.microsoft.com/office/drawing/2014/main" id="{EE70B2CB-6DF6-45DD-8C9F-892B95D45942}"/>
              </a:ext>
            </a:extLst>
          </p:cNvPr>
          <p:cNvSpPr/>
          <p:nvPr/>
        </p:nvSpPr>
        <p:spPr bwMode="gray">
          <a:xfrm>
            <a:off x="7742323" y="121856"/>
            <a:ext cx="142606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侧网络设计</a:t>
            </a:r>
          </a:p>
        </p:txBody>
      </p:sp>
      <p:sp>
        <p:nvSpPr>
          <p:cNvPr id="38" name="燕尾形 3">
            <a:extLst>
              <a:ext uri="{FF2B5EF4-FFF2-40B4-BE49-F238E27FC236}">
                <a16:creationId xmlns:a16="http://schemas.microsoft.com/office/drawing/2014/main" id="{F751EB43-6577-4337-A5CD-474EA47C0E90}"/>
              </a:ext>
            </a:extLst>
          </p:cNvPr>
          <p:cNvSpPr/>
          <p:nvPr/>
        </p:nvSpPr>
        <p:spPr bwMode="gray">
          <a:xfrm>
            <a:off x="10441326" y="12185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双</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CPE</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互联设计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
            <a:extLst>
              <a:ext uri="{FF2B5EF4-FFF2-40B4-BE49-F238E27FC236}">
                <a16:creationId xmlns:a16="http://schemas.microsoft.com/office/drawing/2014/main" id="{3628227F-43F9-413D-84F1-6CE1E055F788}"/>
              </a:ext>
            </a:extLst>
          </p:cNvPr>
          <p:cNvSpPr/>
          <p:nvPr/>
        </p:nvSpPr>
        <p:spPr bwMode="gray">
          <a:xfrm>
            <a:off x="9091825" y="121856"/>
            <a:ext cx="142606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侧网络设计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133513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17767-884E-45C8-BBA0-1DCBA943634C}"/>
              </a:ext>
            </a:extLst>
          </p:cNvPr>
          <p:cNvSpPr>
            <a:spLocks noGrp="1"/>
          </p:cNvSpPr>
          <p:nvPr>
            <p:ph type="title"/>
          </p:nvPr>
        </p:nvSpPr>
        <p:spPr bwMode="gray"/>
        <p:txBody>
          <a:bodyPr>
            <a:normAutofit/>
          </a:bodyPr>
          <a:lstStyle/>
          <a:p>
            <a:r>
              <a:rPr lang="zh-CN" altLang="en-US" dirty="0"/>
              <a:t>双</a:t>
            </a:r>
            <a:r>
              <a:rPr lang="en-US" dirty="0"/>
              <a:t>CPE</a:t>
            </a:r>
            <a:r>
              <a:rPr lang="zh-CN" altLang="en-US" dirty="0"/>
              <a:t>互联组网模型</a:t>
            </a:r>
          </a:p>
        </p:txBody>
      </p:sp>
      <p:sp>
        <p:nvSpPr>
          <p:cNvPr id="3" name="Text Placeholder 2">
            <a:extLst>
              <a:ext uri="{FF2B5EF4-FFF2-40B4-BE49-F238E27FC236}">
                <a16:creationId xmlns:a16="http://schemas.microsoft.com/office/drawing/2014/main" id="{43CBDB12-C4A9-49D7-899F-0D2D74D660FF}"/>
              </a:ext>
            </a:extLst>
          </p:cNvPr>
          <p:cNvSpPr>
            <a:spLocks noGrp="1"/>
          </p:cNvSpPr>
          <p:nvPr>
            <p:ph type="body" sz="quarter" idx="10"/>
          </p:nvPr>
        </p:nvSpPr>
        <p:spPr bwMode="gray">
          <a:xfrm>
            <a:off x="455612" y="1047750"/>
            <a:ext cx="5659551" cy="4879805"/>
          </a:xfrm>
        </p:spPr>
        <p:txBody>
          <a:bodyPr/>
          <a:lstStyle/>
          <a:p>
            <a:r>
              <a:rPr lang="zh-CN" altLang="en-US" sz="1800" dirty="0"/>
              <a:t>双</a:t>
            </a:r>
            <a:r>
              <a:rPr lang="en-US" altLang="zh-CN" sz="1800" dirty="0"/>
              <a:t>CPE</a:t>
            </a:r>
            <a:r>
              <a:rPr lang="zh-CN" altLang="en-US" sz="1800" dirty="0"/>
              <a:t>双链路组网的场景下如果某条上行链路出现了故障，则需要</a:t>
            </a:r>
            <a:r>
              <a:rPr lang="en-US" altLang="zh-CN" sz="1800" dirty="0"/>
              <a:t>CPE</a:t>
            </a:r>
            <a:r>
              <a:rPr lang="zh-CN" altLang="en-US" sz="1800" dirty="0"/>
              <a:t>互联链路（</a:t>
            </a:r>
            <a:r>
              <a:rPr lang="en-US" altLang="zh-CN" sz="1800" dirty="0"/>
              <a:t>Interlink</a:t>
            </a:r>
            <a:r>
              <a:rPr lang="zh-CN" altLang="en-US" sz="1800" dirty="0"/>
              <a:t>）传递数据。</a:t>
            </a:r>
            <a:endParaRPr lang="en-US" altLang="zh-CN" sz="1800" dirty="0"/>
          </a:p>
          <a:p>
            <a:r>
              <a:rPr lang="en-US" altLang="zh-CN" sz="1800" dirty="0"/>
              <a:t>Interlink</a:t>
            </a:r>
            <a:r>
              <a:rPr lang="zh-CN" altLang="en-US" sz="1800" dirty="0"/>
              <a:t>除了用于站点双</a:t>
            </a:r>
            <a:r>
              <a:rPr lang="en-US" altLang="zh-CN" sz="1800" dirty="0"/>
              <a:t>CPE</a:t>
            </a:r>
            <a:r>
              <a:rPr lang="zh-CN" altLang="en-US" sz="1800" dirty="0"/>
              <a:t>间路由交互，还用于在双</a:t>
            </a:r>
            <a:r>
              <a:rPr lang="en-US" altLang="zh-CN" sz="1800" dirty="0"/>
              <a:t>CPE</a:t>
            </a:r>
            <a:r>
              <a:rPr lang="zh-CN" altLang="en-US" sz="1800" dirty="0"/>
              <a:t>之间同步关键信息，包括：链路信息、隧道连接信息、隧道连接的</a:t>
            </a:r>
            <a:r>
              <a:rPr lang="en-US" altLang="zh-CN" sz="1800" dirty="0"/>
              <a:t>SLA</a:t>
            </a:r>
            <a:r>
              <a:rPr lang="zh-CN" altLang="en-US" sz="1800" dirty="0"/>
              <a:t>信息</a:t>
            </a:r>
            <a:r>
              <a:rPr lang="zh-CN" altLang="en-US" sz="1800"/>
              <a:t>、</a:t>
            </a:r>
            <a:r>
              <a:rPr lang="en-US" altLang="zh-CN" sz="1800"/>
              <a:t>IPsec SA</a:t>
            </a:r>
            <a:r>
              <a:rPr lang="zh-CN" altLang="en-US" sz="1800" dirty="0"/>
              <a:t>、应用识别的结果信息等。</a:t>
            </a:r>
          </a:p>
          <a:p>
            <a:r>
              <a:rPr lang="zh-CN" altLang="en-US" sz="1800" dirty="0"/>
              <a:t>这些信息使得</a:t>
            </a:r>
            <a:r>
              <a:rPr lang="en-US" altLang="zh-CN" sz="1800" dirty="0"/>
              <a:t>SD-WAN</a:t>
            </a:r>
            <a:r>
              <a:rPr lang="zh-CN" altLang="en-US" sz="1800" dirty="0"/>
              <a:t>站点内的双</a:t>
            </a:r>
            <a:r>
              <a:rPr lang="en-US" altLang="zh-CN" sz="1800" dirty="0"/>
              <a:t>CPE</a:t>
            </a:r>
            <a:r>
              <a:rPr lang="zh-CN" altLang="en-US" sz="1800" dirty="0"/>
              <a:t>资源可以被统一看待，以实现跨设备选路等业务场景。</a:t>
            </a:r>
            <a:endParaRPr lang="en-US" sz="1800" dirty="0"/>
          </a:p>
        </p:txBody>
      </p:sp>
      <p:grpSp>
        <p:nvGrpSpPr>
          <p:cNvPr id="6" name="Group 5">
            <a:extLst>
              <a:ext uri="{FF2B5EF4-FFF2-40B4-BE49-F238E27FC236}">
                <a16:creationId xmlns:a16="http://schemas.microsoft.com/office/drawing/2014/main" id="{6B48C8EC-1B1E-497E-B9CC-C30126E2D869}"/>
              </a:ext>
            </a:extLst>
          </p:cNvPr>
          <p:cNvGrpSpPr/>
          <p:nvPr/>
        </p:nvGrpSpPr>
        <p:grpSpPr bwMode="gray">
          <a:xfrm>
            <a:off x="6544832" y="1722498"/>
            <a:ext cx="4608622" cy="3670214"/>
            <a:chOff x="1042968" y="1886894"/>
            <a:chExt cx="4608622" cy="3670214"/>
          </a:xfrm>
        </p:grpSpPr>
        <p:pic>
          <p:nvPicPr>
            <p:cNvPr id="7" name="图片 9">
              <a:extLst>
                <a:ext uri="{FF2B5EF4-FFF2-40B4-BE49-F238E27FC236}">
                  <a16:creationId xmlns:a16="http://schemas.microsoft.com/office/drawing/2014/main" id="{B4A6541F-FF1C-43B2-9450-F97DE50F8A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213004" y="3834666"/>
              <a:ext cx="490909" cy="402545"/>
            </a:xfrm>
            <a:prstGeom prst="rect">
              <a:avLst/>
            </a:prstGeom>
          </p:spPr>
        </p:pic>
        <p:pic>
          <p:nvPicPr>
            <p:cNvPr id="8" name="图片 9">
              <a:extLst>
                <a:ext uri="{FF2B5EF4-FFF2-40B4-BE49-F238E27FC236}">
                  <a16:creationId xmlns:a16="http://schemas.microsoft.com/office/drawing/2014/main" id="{8C559F1E-FB20-41AE-ACBE-ECC1876174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880144" y="3834666"/>
              <a:ext cx="490909" cy="402545"/>
            </a:xfrm>
            <a:prstGeom prst="rect">
              <a:avLst/>
            </a:prstGeom>
          </p:spPr>
        </p:pic>
        <p:sp>
          <p:nvSpPr>
            <p:cNvPr id="9" name="Freeform 159">
              <a:extLst>
                <a:ext uri="{FF2B5EF4-FFF2-40B4-BE49-F238E27FC236}">
                  <a16:creationId xmlns:a16="http://schemas.microsoft.com/office/drawing/2014/main" id="{96DB0F03-AF2E-44E4-B43F-96C503BECFBE}"/>
                </a:ext>
              </a:extLst>
            </p:cNvPr>
            <p:cNvSpPr/>
            <p:nvPr/>
          </p:nvSpPr>
          <p:spPr bwMode="gray">
            <a:xfrm flipH="1">
              <a:off x="2587749" y="4717140"/>
              <a:ext cx="1292395" cy="6755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LAN</a:t>
              </a:r>
              <a:endParaRPr lang="en-US" sz="1400" dirty="0">
                <a:solidFill>
                  <a:schemeClr val="tx1"/>
                </a:solidFill>
              </a:endParaRPr>
            </a:p>
          </p:txBody>
        </p:sp>
        <p:cxnSp>
          <p:nvCxnSpPr>
            <p:cNvPr id="10" name="直接连接符 10">
              <a:extLst>
                <a:ext uri="{FF2B5EF4-FFF2-40B4-BE49-F238E27FC236}">
                  <a16:creationId xmlns:a16="http://schemas.microsoft.com/office/drawing/2014/main" id="{B058DF40-CFA6-4A1D-8051-FDE62596627B}"/>
                </a:ext>
              </a:extLst>
            </p:cNvPr>
            <p:cNvCxnSpPr>
              <a:cxnSpLocks/>
              <a:stCxn id="9" idx="0"/>
              <a:endCxn id="7" idx="2"/>
            </p:cNvCxnSpPr>
            <p:nvPr/>
          </p:nvCxnSpPr>
          <p:spPr bwMode="gray">
            <a:xfrm flipH="1" flipV="1">
              <a:off x="2458459" y="4237211"/>
              <a:ext cx="636034" cy="4799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3BE10E6-8D60-4FFC-B93E-F70E1048FC1F}"/>
                </a:ext>
              </a:extLst>
            </p:cNvPr>
            <p:cNvCxnSpPr>
              <a:cxnSpLocks/>
              <a:stCxn id="9" idx="4"/>
              <a:endCxn id="8" idx="2"/>
            </p:cNvCxnSpPr>
            <p:nvPr/>
          </p:nvCxnSpPr>
          <p:spPr bwMode="gray">
            <a:xfrm flipV="1">
              <a:off x="3487140" y="4237211"/>
              <a:ext cx="638459" cy="5474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0">
              <a:extLst>
                <a:ext uri="{FF2B5EF4-FFF2-40B4-BE49-F238E27FC236}">
                  <a16:creationId xmlns:a16="http://schemas.microsoft.com/office/drawing/2014/main" id="{F559451C-CBBD-429B-B4CF-D1F827D2662E}"/>
                </a:ext>
              </a:extLst>
            </p:cNvPr>
            <p:cNvCxnSpPr>
              <a:cxnSpLocks/>
              <a:stCxn id="7" idx="3"/>
              <a:endCxn id="8" idx="1"/>
            </p:cNvCxnSpPr>
            <p:nvPr/>
          </p:nvCxnSpPr>
          <p:spPr bwMode="gray">
            <a:xfrm>
              <a:off x="2703913" y="4035939"/>
              <a:ext cx="11762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reeform 159">
              <a:extLst>
                <a:ext uri="{FF2B5EF4-FFF2-40B4-BE49-F238E27FC236}">
                  <a16:creationId xmlns:a16="http://schemas.microsoft.com/office/drawing/2014/main" id="{4C00D2B3-1D03-4DEA-985C-9124A8FC317B}"/>
                </a:ext>
              </a:extLst>
            </p:cNvPr>
            <p:cNvSpPr/>
            <p:nvPr/>
          </p:nvSpPr>
          <p:spPr bwMode="gray">
            <a:xfrm flipH="1">
              <a:off x="1042968" y="2347604"/>
              <a:ext cx="1292395" cy="6755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14" name="Freeform 159">
              <a:extLst>
                <a:ext uri="{FF2B5EF4-FFF2-40B4-BE49-F238E27FC236}">
                  <a16:creationId xmlns:a16="http://schemas.microsoft.com/office/drawing/2014/main" id="{2E745411-6D6D-4F58-BCF7-91268F54DB03}"/>
                </a:ext>
              </a:extLst>
            </p:cNvPr>
            <p:cNvSpPr/>
            <p:nvPr/>
          </p:nvSpPr>
          <p:spPr bwMode="gray">
            <a:xfrm flipH="1">
              <a:off x="4359195" y="2341379"/>
              <a:ext cx="1292395" cy="6755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sp>
          <p:nvSpPr>
            <p:cNvPr id="15" name="Can 41">
              <a:extLst>
                <a:ext uri="{FF2B5EF4-FFF2-40B4-BE49-F238E27FC236}">
                  <a16:creationId xmlns:a16="http://schemas.microsoft.com/office/drawing/2014/main" id="{5E68A791-10B2-46D7-A84C-35C1147F8FA5}"/>
                </a:ext>
              </a:extLst>
            </p:cNvPr>
            <p:cNvSpPr/>
            <p:nvPr/>
          </p:nvSpPr>
          <p:spPr bwMode="gray">
            <a:xfrm rot="20535278">
              <a:off x="2067874" y="1886894"/>
              <a:ext cx="185815" cy="1964939"/>
            </a:xfrm>
            <a:prstGeom prst="can">
              <a:avLst>
                <a:gd name="adj" fmla="val 55435"/>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Can 41">
              <a:extLst>
                <a:ext uri="{FF2B5EF4-FFF2-40B4-BE49-F238E27FC236}">
                  <a16:creationId xmlns:a16="http://schemas.microsoft.com/office/drawing/2014/main" id="{D606EA00-53E1-47DA-8E8E-6C6C1740E7C0}"/>
                </a:ext>
              </a:extLst>
            </p:cNvPr>
            <p:cNvSpPr/>
            <p:nvPr/>
          </p:nvSpPr>
          <p:spPr bwMode="gray">
            <a:xfrm rot="1064722" flipH="1">
              <a:off x="4343346" y="1901432"/>
              <a:ext cx="185815" cy="1964939"/>
            </a:xfrm>
            <a:prstGeom prst="can">
              <a:avLst>
                <a:gd name="adj" fmla="val 55435"/>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Rectangle 16">
              <a:extLst>
                <a:ext uri="{FF2B5EF4-FFF2-40B4-BE49-F238E27FC236}">
                  <a16:creationId xmlns:a16="http://schemas.microsoft.com/office/drawing/2014/main" id="{BEC7F9F1-DBE0-4EAD-AC4C-5DF9AD5DAB0A}"/>
                </a:ext>
              </a:extLst>
            </p:cNvPr>
            <p:cNvSpPr/>
            <p:nvPr/>
          </p:nvSpPr>
          <p:spPr bwMode="gray">
            <a:xfrm>
              <a:off x="1381125" y="3629025"/>
              <a:ext cx="3705225" cy="1928083"/>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64C7C891-C377-40B4-9293-8F30D2FAC7C4}"/>
                </a:ext>
              </a:extLst>
            </p:cNvPr>
            <p:cNvSpPr txBox="1"/>
            <p:nvPr/>
          </p:nvSpPr>
          <p:spPr bwMode="gray">
            <a:xfrm>
              <a:off x="4309813" y="5167351"/>
              <a:ext cx="729687" cy="338554"/>
            </a:xfrm>
            <a:prstGeom prst="rect">
              <a:avLst/>
            </a:prstGeom>
            <a:noFill/>
          </p:spPr>
          <p:txBody>
            <a:bodyPr wrap="none" rtlCol="0">
              <a:spAutoFit/>
            </a:bodyPr>
            <a:lstStyle/>
            <a:p>
              <a:r>
                <a:rPr lang="zh-CN" altLang="en-US" sz="1600" dirty="0"/>
                <a:t>站点</a:t>
              </a:r>
              <a:r>
                <a:rPr lang="en-US" altLang="zh-CN" sz="1600" dirty="0"/>
                <a:t>A</a:t>
              </a:r>
              <a:endParaRPr lang="en-US" sz="1600" dirty="0"/>
            </a:p>
          </p:txBody>
        </p:sp>
        <p:sp>
          <p:nvSpPr>
            <p:cNvPr id="19" name="TextBox 18">
              <a:extLst>
                <a:ext uri="{FF2B5EF4-FFF2-40B4-BE49-F238E27FC236}">
                  <a16:creationId xmlns:a16="http://schemas.microsoft.com/office/drawing/2014/main" id="{96F1767D-5DBC-49C6-9241-2E0BA701BFF8}"/>
                </a:ext>
              </a:extLst>
            </p:cNvPr>
            <p:cNvSpPr txBox="1"/>
            <p:nvPr/>
          </p:nvSpPr>
          <p:spPr bwMode="gray">
            <a:xfrm>
              <a:off x="1678645" y="3863212"/>
              <a:ext cx="595035" cy="307777"/>
            </a:xfrm>
            <a:prstGeom prst="rect">
              <a:avLst/>
            </a:prstGeom>
            <a:noFill/>
          </p:spPr>
          <p:txBody>
            <a:bodyPr wrap="none" rtlCol="0">
              <a:spAutoFit/>
            </a:bodyPr>
            <a:lstStyle/>
            <a:p>
              <a:r>
                <a:rPr lang="en-US" altLang="zh-CN" sz="1400" dirty="0"/>
                <a:t>CPE1</a:t>
              </a:r>
              <a:endParaRPr lang="en-US" sz="1400" dirty="0"/>
            </a:p>
          </p:txBody>
        </p:sp>
        <p:sp>
          <p:nvSpPr>
            <p:cNvPr id="20" name="TextBox 19">
              <a:extLst>
                <a:ext uri="{FF2B5EF4-FFF2-40B4-BE49-F238E27FC236}">
                  <a16:creationId xmlns:a16="http://schemas.microsoft.com/office/drawing/2014/main" id="{6D3E0E32-B0AF-4896-B718-B6F186E15A17}"/>
                </a:ext>
              </a:extLst>
            </p:cNvPr>
            <p:cNvSpPr txBox="1"/>
            <p:nvPr/>
          </p:nvSpPr>
          <p:spPr bwMode="gray">
            <a:xfrm>
              <a:off x="4309813" y="3863212"/>
              <a:ext cx="595035" cy="307777"/>
            </a:xfrm>
            <a:prstGeom prst="rect">
              <a:avLst/>
            </a:prstGeom>
            <a:noFill/>
          </p:spPr>
          <p:txBody>
            <a:bodyPr wrap="none" rtlCol="0">
              <a:spAutoFit/>
            </a:bodyPr>
            <a:lstStyle/>
            <a:p>
              <a:r>
                <a:rPr lang="en-US" altLang="zh-CN" sz="1400" dirty="0"/>
                <a:t>CPE2</a:t>
              </a:r>
              <a:endParaRPr lang="en-US" sz="1400" dirty="0"/>
            </a:p>
          </p:txBody>
        </p:sp>
        <p:sp>
          <p:nvSpPr>
            <p:cNvPr id="21" name="Freeform: Shape 20">
              <a:extLst>
                <a:ext uri="{FF2B5EF4-FFF2-40B4-BE49-F238E27FC236}">
                  <a16:creationId xmlns:a16="http://schemas.microsoft.com/office/drawing/2014/main" id="{FC1C58B9-A6FC-4B97-9B7D-A485532F25DB}"/>
                </a:ext>
              </a:extLst>
            </p:cNvPr>
            <p:cNvSpPr/>
            <p:nvPr/>
          </p:nvSpPr>
          <p:spPr bwMode="gray">
            <a:xfrm>
              <a:off x="2386610" y="2471776"/>
              <a:ext cx="2201059" cy="2357399"/>
            </a:xfrm>
            <a:custGeom>
              <a:avLst/>
              <a:gdLst>
                <a:gd name="connsiteX0" fmla="*/ 800884 w 2201059"/>
                <a:gd name="connsiteY0" fmla="*/ 2095500 h 2095500"/>
                <a:gd name="connsiteX1" fmla="*/ 19834 w 2201059"/>
                <a:gd name="connsiteY1" fmla="*/ 1495425 h 2095500"/>
                <a:gd name="connsiteX2" fmla="*/ 1524784 w 2201059"/>
                <a:gd name="connsiteY2" fmla="*/ 1276350 h 2095500"/>
                <a:gd name="connsiteX3" fmla="*/ 2201059 w 2201059"/>
                <a:gd name="connsiteY3" fmla="*/ 0 h 2095500"/>
              </a:gdLst>
              <a:ahLst/>
              <a:cxnLst>
                <a:cxn ang="0">
                  <a:pos x="connsiteX0" y="connsiteY0"/>
                </a:cxn>
                <a:cxn ang="0">
                  <a:pos x="connsiteX1" y="connsiteY1"/>
                </a:cxn>
                <a:cxn ang="0">
                  <a:pos x="connsiteX2" y="connsiteY2"/>
                </a:cxn>
                <a:cxn ang="0">
                  <a:pos x="connsiteX3" y="connsiteY3"/>
                </a:cxn>
              </a:cxnLst>
              <a:rect l="l" t="t" r="r" b="b"/>
              <a:pathLst>
                <a:path w="2201059" h="2095500">
                  <a:moveTo>
                    <a:pt x="800884" y="2095500"/>
                  </a:moveTo>
                  <a:cubicBezTo>
                    <a:pt x="350034" y="1863725"/>
                    <a:pt x="-100816" y="1631950"/>
                    <a:pt x="19834" y="1495425"/>
                  </a:cubicBezTo>
                  <a:cubicBezTo>
                    <a:pt x="140484" y="1358900"/>
                    <a:pt x="1161247" y="1525587"/>
                    <a:pt x="1524784" y="1276350"/>
                  </a:cubicBezTo>
                  <a:cubicBezTo>
                    <a:pt x="1888321" y="1027113"/>
                    <a:pt x="2044690" y="513556"/>
                    <a:pt x="2201059" y="0"/>
                  </a:cubicBezTo>
                </a:path>
              </a:pathLst>
            </a:custGeom>
            <a:noFill/>
            <a:ln w="38100">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 name="Plus Sign 23">
            <a:extLst>
              <a:ext uri="{FF2B5EF4-FFF2-40B4-BE49-F238E27FC236}">
                <a16:creationId xmlns:a16="http://schemas.microsoft.com/office/drawing/2014/main" id="{676B7667-2716-44CA-8DA9-A77402A6B6F4}"/>
              </a:ext>
            </a:extLst>
          </p:cNvPr>
          <p:cNvSpPr/>
          <p:nvPr/>
        </p:nvSpPr>
        <p:spPr bwMode="gray">
          <a:xfrm rot="2581241">
            <a:off x="7515886" y="2695596"/>
            <a:ext cx="470513" cy="470513"/>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9E1D129A-E588-425E-B12F-162AC9CBB442}"/>
              </a:ext>
            </a:extLst>
          </p:cNvPr>
          <p:cNvSpPr txBox="1"/>
          <p:nvPr/>
        </p:nvSpPr>
        <p:spPr bwMode="gray">
          <a:xfrm>
            <a:off x="8309903" y="3545759"/>
            <a:ext cx="862737" cy="307777"/>
          </a:xfrm>
          <a:prstGeom prst="rect">
            <a:avLst/>
          </a:prstGeom>
          <a:noFill/>
        </p:spPr>
        <p:txBody>
          <a:bodyPr wrap="none" rtlCol="0">
            <a:spAutoFit/>
          </a:bodyPr>
          <a:lstStyle/>
          <a:p>
            <a:r>
              <a:rPr lang="en-US" sz="1400" dirty="0"/>
              <a:t>I</a:t>
            </a:r>
            <a:r>
              <a:rPr lang="en-US" altLang="zh-CN" sz="1400" dirty="0"/>
              <a:t>nterlink</a:t>
            </a:r>
            <a:endParaRPr lang="en-US" sz="1400" dirty="0"/>
          </a:p>
        </p:txBody>
      </p:sp>
      <p:sp>
        <p:nvSpPr>
          <p:cNvPr id="26" name="五边形 2">
            <a:extLst>
              <a:ext uri="{FF2B5EF4-FFF2-40B4-BE49-F238E27FC236}">
                <a16:creationId xmlns:a16="http://schemas.microsoft.com/office/drawing/2014/main" id="{EE70B2CB-6DF6-45DD-8C9F-892B95D45942}"/>
              </a:ext>
            </a:extLst>
          </p:cNvPr>
          <p:cNvSpPr/>
          <p:nvPr/>
        </p:nvSpPr>
        <p:spPr bwMode="gray">
          <a:xfrm>
            <a:off x="7742323" y="121856"/>
            <a:ext cx="142606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侧网络设计</a:t>
            </a:r>
          </a:p>
        </p:txBody>
      </p:sp>
      <p:sp>
        <p:nvSpPr>
          <p:cNvPr id="28" name="燕尾形 3">
            <a:extLst>
              <a:ext uri="{FF2B5EF4-FFF2-40B4-BE49-F238E27FC236}">
                <a16:creationId xmlns:a16="http://schemas.microsoft.com/office/drawing/2014/main" id="{F751EB43-6577-4337-A5CD-474EA47C0E90}"/>
              </a:ext>
            </a:extLst>
          </p:cNvPr>
          <p:cNvSpPr/>
          <p:nvPr/>
        </p:nvSpPr>
        <p:spPr bwMode="gray">
          <a:xfrm>
            <a:off x="10441326" y="121856"/>
            <a:ext cx="13077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双</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CPE</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互联设计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3">
            <a:extLst>
              <a:ext uri="{FF2B5EF4-FFF2-40B4-BE49-F238E27FC236}">
                <a16:creationId xmlns:a16="http://schemas.microsoft.com/office/drawing/2014/main" id="{3628227F-43F9-413D-84F1-6CE1E055F788}"/>
              </a:ext>
            </a:extLst>
          </p:cNvPr>
          <p:cNvSpPr/>
          <p:nvPr/>
        </p:nvSpPr>
        <p:spPr bwMode="gray">
          <a:xfrm>
            <a:off x="9091825" y="121856"/>
            <a:ext cx="142606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侧网络设计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064403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78">
            <a:extLst>
              <a:ext uri="{FF2B5EF4-FFF2-40B4-BE49-F238E27FC236}">
                <a16:creationId xmlns:a16="http://schemas.microsoft.com/office/drawing/2014/main" id="{7F4E7B0C-AD01-4B18-9B3E-4BCE614E50E9}"/>
              </a:ext>
            </a:extLst>
          </p:cNvPr>
          <p:cNvSpPr/>
          <p:nvPr/>
        </p:nvSpPr>
        <p:spPr bwMode="gray">
          <a:xfrm>
            <a:off x="7090630" y="2771293"/>
            <a:ext cx="3705225" cy="1928083"/>
          </a:xfrm>
          <a:prstGeom prst="rect">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29B2FE1F-5AE3-48FF-9153-35F573CD676B}"/>
              </a:ext>
            </a:extLst>
          </p:cNvPr>
          <p:cNvSpPr/>
          <p:nvPr/>
        </p:nvSpPr>
        <p:spPr bwMode="gray">
          <a:xfrm>
            <a:off x="1213884" y="2777388"/>
            <a:ext cx="3705225" cy="1928083"/>
          </a:xfrm>
          <a:prstGeom prst="rect">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圆角矩形 75">
            <a:extLst>
              <a:ext uri="{FF2B5EF4-FFF2-40B4-BE49-F238E27FC236}">
                <a16:creationId xmlns:a16="http://schemas.microsoft.com/office/drawing/2014/main" id="{C31CF220-F6BB-4F9A-B835-9067D1B1B26C}"/>
              </a:ext>
            </a:extLst>
          </p:cNvPr>
          <p:cNvSpPr/>
          <p:nvPr/>
        </p:nvSpPr>
        <p:spPr bwMode="gray">
          <a:xfrm>
            <a:off x="6297183" y="1533854"/>
            <a:ext cx="5171325" cy="4191537"/>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r>
              <a:rPr lang="zh-CN" altLang="en-US" sz="1400" dirty="0">
                <a:solidFill>
                  <a:schemeClr val="tx1"/>
                </a:solidFill>
              </a:rPr>
              <a:t>当</a:t>
            </a:r>
            <a:r>
              <a:rPr lang="en-US" altLang="zh-CN" sz="1400" dirty="0">
                <a:solidFill>
                  <a:schemeClr val="tx1"/>
                </a:solidFill>
              </a:rPr>
              <a:t>CPE</a:t>
            </a:r>
            <a:r>
              <a:rPr lang="zh-CN" altLang="en-US" sz="1400" dirty="0">
                <a:solidFill>
                  <a:schemeClr val="tx1"/>
                </a:solidFill>
              </a:rPr>
              <a:t>端口资源有限时，</a:t>
            </a:r>
            <a:r>
              <a:rPr lang="en-US" altLang="zh-CN" sz="1400" dirty="0">
                <a:solidFill>
                  <a:schemeClr val="tx1"/>
                </a:solidFill>
              </a:rPr>
              <a:t>Interlink</a:t>
            </a:r>
            <a:r>
              <a:rPr lang="zh-CN" altLang="en-US" sz="1400" dirty="0">
                <a:solidFill>
                  <a:schemeClr val="tx1"/>
                </a:solidFill>
              </a:rPr>
              <a:t>可以借用</a:t>
            </a:r>
            <a:r>
              <a:rPr lang="en-US" altLang="zh-CN" sz="1400" dirty="0">
                <a:solidFill>
                  <a:schemeClr val="tx1"/>
                </a:solidFill>
              </a:rPr>
              <a:t>CPE LAN</a:t>
            </a:r>
            <a:r>
              <a:rPr lang="zh-CN" altLang="en-US" sz="1400" dirty="0">
                <a:solidFill>
                  <a:schemeClr val="tx1"/>
                </a:solidFill>
              </a:rPr>
              <a:t>侧的二层业务接口实现互连。</a:t>
            </a:r>
          </a:p>
          <a:p>
            <a:pPr marL="228594" indent="-228594">
              <a:buFont typeface="Arial" panose="020B0604020202020204" pitchFamily="34" charset="0"/>
              <a:buChar char="•"/>
            </a:pPr>
            <a:endParaRPr lang="en-US" altLang="zh-CN" sz="1400" dirty="0">
              <a:solidFill>
                <a:schemeClr val="tx1"/>
              </a:solidFill>
            </a:endParaRPr>
          </a:p>
        </p:txBody>
      </p:sp>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zh-CN" altLang="en-US" dirty="0"/>
              <a:t>双</a:t>
            </a:r>
            <a:r>
              <a:rPr lang="en-US" dirty="0"/>
              <a:t>CPE</a:t>
            </a:r>
            <a:r>
              <a:rPr lang="zh-CN" altLang="en-US" dirty="0"/>
              <a:t>互联组网方案</a:t>
            </a:r>
            <a:endParaRPr lang="en-US" dirty="0"/>
          </a:p>
        </p:txBody>
      </p:sp>
      <p:sp>
        <p:nvSpPr>
          <p:cNvPr id="36" name="圆角矩形 75">
            <a:extLst>
              <a:ext uri="{FF2B5EF4-FFF2-40B4-BE49-F238E27FC236}">
                <a16:creationId xmlns:a16="http://schemas.microsoft.com/office/drawing/2014/main" id="{78AEE943-48EE-402E-BCD9-B44CDB5FAAD2}"/>
              </a:ext>
            </a:extLst>
          </p:cNvPr>
          <p:cNvSpPr/>
          <p:nvPr/>
        </p:nvSpPr>
        <p:spPr bwMode="gray">
          <a:xfrm>
            <a:off x="701510" y="1094077"/>
            <a:ext cx="523553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双</a:t>
            </a:r>
            <a:r>
              <a:rPr lang="en-US" altLang="zh-CN" sz="1600" dirty="0">
                <a:solidFill>
                  <a:srgbClr val="30B5C5"/>
                </a:solidFill>
                <a:latin typeface="Huawei Sans" panose="020C0503030203020204" pitchFamily="34" charset="0"/>
                <a:ea typeface="方正兰亭黑简体" panose="02000000000000000000" pitchFamily="2" charset="-122"/>
              </a:rPr>
              <a:t>CPE</a:t>
            </a:r>
            <a:r>
              <a:rPr lang="zh-CN" altLang="en-US" sz="1600" dirty="0">
                <a:solidFill>
                  <a:srgbClr val="30B5C5"/>
                </a:solidFill>
                <a:latin typeface="Huawei Sans" panose="020C0503030203020204" pitchFamily="34" charset="0"/>
                <a:ea typeface="方正兰亭黑简体" panose="02000000000000000000" pitchFamily="2" charset="-122"/>
              </a:rPr>
              <a:t>互联组网方案一</a:t>
            </a:r>
          </a:p>
        </p:txBody>
      </p:sp>
      <p:sp>
        <p:nvSpPr>
          <p:cNvPr id="37" name="圆角矩形 75">
            <a:extLst>
              <a:ext uri="{FF2B5EF4-FFF2-40B4-BE49-F238E27FC236}">
                <a16:creationId xmlns:a16="http://schemas.microsoft.com/office/drawing/2014/main" id="{07242CA5-EEA3-47F7-8506-0CAFCE8DEEE3}"/>
              </a:ext>
            </a:extLst>
          </p:cNvPr>
          <p:cNvSpPr/>
          <p:nvPr/>
        </p:nvSpPr>
        <p:spPr bwMode="gray">
          <a:xfrm>
            <a:off x="701510" y="1533854"/>
            <a:ext cx="5235535" cy="4191537"/>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r>
              <a:rPr lang="en-US" altLang="zh-CN" sz="1400" dirty="0">
                <a:solidFill>
                  <a:schemeClr val="tx1"/>
                </a:solidFill>
              </a:rPr>
              <a:t>Interlink</a:t>
            </a:r>
            <a:r>
              <a:rPr lang="zh-CN" altLang="en-US" sz="1400" dirty="0">
                <a:solidFill>
                  <a:schemeClr val="tx1"/>
                </a:solidFill>
              </a:rPr>
              <a:t>采用直连链路互连。当站点业务流量较大，</a:t>
            </a:r>
            <a:r>
              <a:rPr lang="en-US" altLang="zh-CN" sz="1400" dirty="0">
                <a:solidFill>
                  <a:schemeClr val="tx1"/>
                </a:solidFill>
              </a:rPr>
              <a:t>CPE</a:t>
            </a:r>
            <a:r>
              <a:rPr lang="zh-CN" altLang="en-US" sz="1400" dirty="0">
                <a:solidFill>
                  <a:schemeClr val="tx1"/>
                </a:solidFill>
              </a:rPr>
              <a:t>端口资源充足时，建议使用两个</a:t>
            </a:r>
            <a:r>
              <a:rPr lang="en-US" altLang="zh-CN" sz="1400" dirty="0">
                <a:solidFill>
                  <a:schemeClr val="tx1"/>
                </a:solidFill>
              </a:rPr>
              <a:t>Interlink</a:t>
            </a:r>
            <a:r>
              <a:rPr lang="zh-CN" altLang="en-US" sz="1400" dirty="0">
                <a:solidFill>
                  <a:schemeClr val="tx1"/>
                </a:solidFill>
              </a:rPr>
              <a:t>接口，控制器会自动将这个两个</a:t>
            </a:r>
            <a:r>
              <a:rPr lang="en-US" altLang="zh-CN" sz="1400" dirty="0">
                <a:solidFill>
                  <a:schemeClr val="tx1"/>
                </a:solidFill>
              </a:rPr>
              <a:t>interlink</a:t>
            </a:r>
            <a:r>
              <a:rPr lang="zh-CN" altLang="en-US" sz="1400" dirty="0">
                <a:solidFill>
                  <a:schemeClr val="tx1"/>
                </a:solidFill>
              </a:rPr>
              <a:t>接口编排成</a:t>
            </a:r>
            <a:r>
              <a:rPr lang="en-US" altLang="zh-CN" sz="1400" dirty="0">
                <a:solidFill>
                  <a:schemeClr val="tx1"/>
                </a:solidFill>
              </a:rPr>
              <a:t>Eth-trunk</a:t>
            </a:r>
            <a:r>
              <a:rPr lang="zh-CN" altLang="en-US" sz="1400" dirty="0">
                <a:solidFill>
                  <a:schemeClr val="tx1"/>
                </a:solidFill>
              </a:rPr>
              <a:t>接口，一方面增加</a:t>
            </a:r>
            <a:r>
              <a:rPr lang="en-US" altLang="zh-CN" sz="1400" dirty="0">
                <a:solidFill>
                  <a:schemeClr val="tx1"/>
                </a:solidFill>
              </a:rPr>
              <a:t>Interlink</a:t>
            </a:r>
            <a:r>
              <a:rPr lang="zh-CN" altLang="en-US" sz="1400" dirty="0">
                <a:solidFill>
                  <a:schemeClr val="tx1"/>
                </a:solidFill>
              </a:rPr>
              <a:t>的带宽，另一方面保证</a:t>
            </a:r>
            <a:r>
              <a:rPr lang="en-US" altLang="zh-CN" sz="1400" dirty="0">
                <a:solidFill>
                  <a:schemeClr val="tx1"/>
                </a:solidFill>
              </a:rPr>
              <a:t>Interlink</a:t>
            </a:r>
            <a:r>
              <a:rPr lang="zh-CN" altLang="en-US" sz="1400" dirty="0">
                <a:solidFill>
                  <a:schemeClr val="tx1"/>
                </a:solidFill>
              </a:rPr>
              <a:t>的可靠性。</a:t>
            </a:r>
          </a:p>
        </p:txBody>
      </p:sp>
      <p:pic>
        <p:nvPicPr>
          <p:cNvPr id="40" name="图片 9">
            <a:extLst>
              <a:ext uri="{FF2B5EF4-FFF2-40B4-BE49-F238E27FC236}">
                <a16:creationId xmlns:a16="http://schemas.microsoft.com/office/drawing/2014/main" id="{D7F2F3B4-7E5F-4F0A-A6A9-AB861AE051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045763" y="2983029"/>
            <a:ext cx="490909" cy="402545"/>
          </a:xfrm>
          <a:prstGeom prst="rect">
            <a:avLst/>
          </a:prstGeom>
        </p:spPr>
      </p:pic>
      <p:pic>
        <p:nvPicPr>
          <p:cNvPr id="41" name="图片 9">
            <a:extLst>
              <a:ext uri="{FF2B5EF4-FFF2-40B4-BE49-F238E27FC236}">
                <a16:creationId xmlns:a16="http://schemas.microsoft.com/office/drawing/2014/main" id="{24099828-9F6B-499E-89FE-13061B30B8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712903" y="2983029"/>
            <a:ext cx="490909" cy="402545"/>
          </a:xfrm>
          <a:prstGeom prst="rect">
            <a:avLst/>
          </a:prstGeom>
        </p:spPr>
      </p:pic>
      <p:sp>
        <p:nvSpPr>
          <p:cNvPr id="42" name="Freeform 159">
            <a:extLst>
              <a:ext uri="{FF2B5EF4-FFF2-40B4-BE49-F238E27FC236}">
                <a16:creationId xmlns:a16="http://schemas.microsoft.com/office/drawing/2014/main" id="{67B21479-8E4F-49BE-AC93-12C4FBDC337D}"/>
              </a:ext>
            </a:extLst>
          </p:cNvPr>
          <p:cNvSpPr/>
          <p:nvPr/>
        </p:nvSpPr>
        <p:spPr bwMode="gray">
          <a:xfrm flipH="1">
            <a:off x="2420508" y="3865503"/>
            <a:ext cx="1292395" cy="6755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LAN</a:t>
            </a:r>
            <a:endParaRPr lang="en-US" sz="1400" dirty="0">
              <a:solidFill>
                <a:schemeClr val="tx1"/>
              </a:solidFill>
            </a:endParaRPr>
          </a:p>
        </p:txBody>
      </p:sp>
      <p:cxnSp>
        <p:nvCxnSpPr>
          <p:cNvPr id="43" name="直接连接符 10">
            <a:extLst>
              <a:ext uri="{FF2B5EF4-FFF2-40B4-BE49-F238E27FC236}">
                <a16:creationId xmlns:a16="http://schemas.microsoft.com/office/drawing/2014/main" id="{A26B7AD9-58A7-4951-8E39-68BADFFB82B4}"/>
              </a:ext>
            </a:extLst>
          </p:cNvPr>
          <p:cNvCxnSpPr>
            <a:cxnSpLocks/>
            <a:stCxn id="42" idx="0"/>
            <a:endCxn id="40" idx="2"/>
          </p:cNvCxnSpPr>
          <p:nvPr/>
        </p:nvCxnSpPr>
        <p:spPr bwMode="gray">
          <a:xfrm flipH="1" flipV="1">
            <a:off x="2291218" y="3385574"/>
            <a:ext cx="636034" cy="4799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10">
            <a:extLst>
              <a:ext uri="{FF2B5EF4-FFF2-40B4-BE49-F238E27FC236}">
                <a16:creationId xmlns:a16="http://schemas.microsoft.com/office/drawing/2014/main" id="{E60CC55D-6610-424A-9BD4-B060F578600C}"/>
              </a:ext>
            </a:extLst>
          </p:cNvPr>
          <p:cNvCxnSpPr>
            <a:cxnSpLocks/>
            <a:stCxn id="42" idx="4"/>
            <a:endCxn id="41" idx="2"/>
          </p:cNvCxnSpPr>
          <p:nvPr/>
        </p:nvCxnSpPr>
        <p:spPr bwMode="gray">
          <a:xfrm flipV="1">
            <a:off x="3319899" y="3385574"/>
            <a:ext cx="638459" cy="5474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10">
            <a:extLst>
              <a:ext uri="{FF2B5EF4-FFF2-40B4-BE49-F238E27FC236}">
                <a16:creationId xmlns:a16="http://schemas.microsoft.com/office/drawing/2014/main" id="{865029E2-B49D-4F6E-B306-4E170FD965B8}"/>
              </a:ext>
            </a:extLst>
          </p:cNvPr>
          <p:cNvCxnSpPr>
            <a:cxnSpLocks/>
            <a:stCxn id="40" idx="3"/>
            <a:endCxn id="41" idx="1"/>
          </p:cNvCxnSpPr>
          <p:nvPr/>
        </p:nvCxnSpPr>
        <p:spPr bwMode="gray">
          <a:xfrm>
            <a:off x="2536672" y="3184302"/>
            <a:ext cx="11762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Freeform 159">
            <a:extLst>
              <a:ext uri="{FF2B5EF4-FFF2-40B4-BE49-F238E27FC236}">
                <a16:creationId xmlns:a16="http://schemas.microsoft.com/office/drawing/2014/main" id="{DA909E0A-3736-4D0A-BA1D-D84C94C8D641}"/>
              </a:ext>
            </a:extLst>
          </p:cNvPr>
          <p:cNvSpPr/>
          <p:nvPr/>
        </p:nvSpPr>
        <p:spPr bwMode="gray">
          <a:xfrm flipH="1">
            <a:off x="865206" y="1742142"/>
            <a:ext cx="1292395" cy="6755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59" name="Freeform 159">
            <a:extLst>
              <a:ext uri="{FF2B5EF4-FFF2-40B4-BE49-F238E27FC236}">
                <a16:creationId xmlns:a16="http://schemas.microsoft.com/office/drawing/2014/main" id="{2B13D508-6E4F-4851-BED1-BBBD16F32BFC}"/>
              </a:ext>
            </a:extLst>
          </p:cNvPr>
          <p:cNvSpPr/>
          <p:nvPr/>
        </p:nvSpPr>
        <p:spPr bwMode="gray">
          <a:xfrm flipH="1">
            <a:off x="4125366" y="1781026"/>
            <a:ext cx="1292395" cy="6755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sp>
        <p:nvSpPr>
          <p:cNvPr id="60" name="Can 41">
            <a:extLst>
              <a:ext uri="{FF2B5EF4-FFF2-40B4-BE49-F238E27FC236}">
                <a16:creationId xmlns:a16="http://schemas.microsoft.com/office/drawing/2014/main" id="{0F4FED7A-94CA-4001-BC1C-2DCEDB332F2E}"/>
              </a:ext>
            </a:extLst>
          </p:cNvPr>
          <p:cNvSpPr/>
          <p:nvPr/>
        </p:nvSpPr>
        <p:spPr bwMode="gray">
          <a:xfrm rot="20535278">
            <a:off x="1983800" y="1577841"/>
            <a:ext cx="185815" cy="1419199"/>
          </a:xfrm>
          <a:prstGeom prst="can">
            <a:avLst>
              <a:gd name="adj" fmla="val 55435"/>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Can 41">
            <a:extLst>
              <a:ext uri="{FF2B5EF4-FFF2-40B4-BE49-F238E27FC236}">
                <a16:creationId xmlns:a16="http://schemas.microsoft.com/office/drawing/2014/main" id="{606E2308-0549-4A0F-86BE-C56E8C1382D0}"/>
              </a:ext>
            </a:extLst>
          </p:cNvPr>
          <p:cNvSpPr/>
          <p:nvPr/>
        </p:nvSpPr>
        <p:spPr bwMode="gray">
          <a:xfrm rot="1064722" flipH="1">
            <a:off x="4092937" y="1582552"/>
            <a:ext cx="185815" cy="1419199"/>
          </a:xfrm>
          <a:prstGeom prst="can">
            <a:avLst>
              <a:gd name="adj" fmla="val 55435"/>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62">
            <a:extLst>
              <a:ext uri="{FF2B5EF4-FFF2-40B4-BE49-F238E27FC236}">
                <a16:creationId xmlns:a16="http://schemas.microsoft.com/office/drawing/2014/main" id="{4B7EE171-EA45-4C08-B8ED-244BAC42D153}"/>
              </a:ext>
            </a:extLst>
          </p:cNvPr>
          <p:cNvSpPr txBox="1"/>
          <p:nvPr/>
        </p:nvSpPr>
        <p:spPr bwMode="gray">
          <a:xfrm>
            <a:off x="4142572" y="4315714"/>
            <a:ext cx="729687" cy="338554"/>
          </a:xfrm>
          <a:prstGeom prst="rect">
            <a:avLst/>
          </a:prstGeom>
          <a:noFill/>
        </p:spPr>
        <p:txBody>
          <a:bodyPr wrap="none" rtlCol="0">
            <a:spAutoFit/>
          </a:bodyPr>
          <a:lstStyle/>
          <a:p>
            <a:r>
              <a:rPr lang="zh-CN" altLang="en-US" sz="1600" dirty="0"/>
              <a:t>站点</a:t>
            </a:r>
            <a:r>
              <a:rPr lang="en-US" altLang="zh-CN" sz="1600" dirty="0"/>
              <a:t>A</a:t>
            </a:r>
            <a:endParaRPr lang="en-US" sz="1600" dirty="0"/>
          </a:p>
        </p:txBody>
      </p:sp>
      <p:sp>
        <p:nvSpPr>
          <p:cNvPr id="64" name="TextBox 63">
            <a:extLst>
              <a:ext uri="{FF2B5EF4-FFF2-40B4-BE49-F238E27FC236}">
                <a16:creationId xmlns:a16="http://schemas.microsoft.com/office/drawing/2014/main" id="{BD54B4BB-0E40-400A-A390-6845DFD32955}"/>
              </a:ext>
            </a:extLst>
          </p:cNvPr>
          <p:cNvSpPr txBox="1"/>
          <p:nvPr/>
        </p:nvSpPr>
        <p:spPr bwMode="gray">
          <a:xfrm>
            <a:off x="1511404" y="3011575"/>
            <a:ext cx="595035" cy="307777"/>
          </a:xfrm>
          <a:prstGeom prst="rect">
            <a:avLst/>
          </a:prstGeom>
          <a:noFill/>
        </p:spPr>
        <p:txBody>
          <a:bodyPr wrap="none" rtlCol="0">
            <a:spAutoFit/>
          </a:bodyPr>
          <a:lstStyle/>
          <a:p>
            <a:r>
              <a:rPr lang="en-US" altLang="zh-CN" sz="1400" dirty="0"/>
              <a:t>CPE1</a:t>
            </a:r>
            <a:endParaRPr lang="en-US" sz="1400" dirty="0"/>
          </a:p>
        </p:txBody>
      </p:sp>
      <p:sp>
        <p:nvSpPr>
          <p:cNvPr id="65" name="TextBox 64">
            <a:extLst>
              <a:ext uri="{FF2B5EF4-FFF2-40B4-BE49-F238E27FC236}">
                <a16:creationId xmlns:a16="http://schemas.microsoft.com/office/drawing/2014/main" id="{8EDB65F1-4393-4EC2-BF22-776491DB2C8E}"/>
              </a:ext>
            </a:extLst>
          </p:cNvPr>
          <p:cNvSpPr txBox="1"/>
          <p:nvPr/>
        </p:nvSpPr>
        <p:spPr bwMode="gray">
          <a:xfrm>
            <a:off x="4142572" y="3011575"/>
            <a:ext cx="595035" cy="307777"/>
          </a:xfrm>
          <a:prstGeom prst="rect">
            <a:avLst/>
          </a:prstGeom>
          <a:noFill/>
        </p:spPr>
        <p:txBody>
          <a:bodyPr wrap="none" rtlCol="0">
            <a:spAutoFit/>
          </a:bodyPr>
          <a:lstStyle/>
          <a:p>
            <a:r>
              <a:rPr lang="en-US" altLang="zh-CN" sz="1400" dirty="0"/>
              <a:t>CPE2</a:t>
            </a:r>
            <a:endParaRPr lang="en-US" sz="1400" dirty="0"/>
          </a:p>
        </p:txBody>
      </p:sp>
      <p:sp>
        <p:nvSpPr>
          <p:cNvPr id="67" name="TextBox 66">
            <a:extLst>
              <a:ext uri="{FF2B5EF4-FFF2-40B4-BE49-F238E27FC236}">
                <a16:creationId xmlns:a16="http://schemas.microsoft.com/office/drawing/2014/main" id="{4EF7E873-82DF-46D2-B22F-2840D735DED0}"/>
              </a:ext>
            </a:extLst>
          </p:cNvPr>
          <p:cNvSpPr txBox="1"/>
          <p:nvPr/>
        </p:nvSpPr>
        <p:spPr bwMode="gray">
          <a:xfrm>
            <a:off x="2682440" y="2850577"/>
            <a:ext cx="862737" cy="307777"/>
          </a:xfrm>
          <a:prstGeom prst="rect">
            <a:avLst/>
          </a:prstGeom>
          <a:noFill/>
        </p:spPr>
        <p:txBody>
          <a:bodyPr wrap="none" rtlCol="0">
            <a:spAutoFit/>
          </a:bodyPr>
          <a:lstStyle/>
          <a:p>
            <a:r>
              <a:rPr lang="en-US" sz="1400" dirty="0"/>
              <a:t>I</a:t>
            </a:r>
            <a:r>
              <a:rPr lang="en-US" altLang="zh-CN" sz="1400" dirty="0"/>
              <a:t>nterlink</a:t>
            </a:r>
            <a:endParaRPr lang="en-US" sz="1400" dirty="0"/>
          </a:p>
        </p:txBody>
      </p:sp>
      <p:pic>
        <p:nvPicPr>
          <p:cNvPr id="69" name="图片 9">
            <a:extLst>
              <a:ext uri="{FF2B5EF4-FFF2-40B4-BE49-F238E27FC236}">
                <a16:creationId xmlns:a16="http://schemas.microsoft.com/office/drawing/2014/main" id="{A3FB0389-CA80-4A0A-8621-4DCD272E0A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922509" y="2976934"/>
            <a:ext cx="490909" cy="402545"/>
          </a:xfrm>
          <a:prstGeom prst="rect">
            <a:avLst/>
          </a:prstGeom>
        </p:spPr>
      </p:pic>
      <p:pic>
        <p:nvPicPr>
          <p:cNvPr id="70" name="图片 9">
            <a:extLst>
              <a:ext uri="{FF2B5EF4-FFF2-40B4-BE49-F238E27FC236}">
                <a16:creationId xmlns:a16="http://schemas.microsoft.com/office/drawing/2014/main" id="{0E6CD326-CDE4-4FD4-A8B1-5229782E1C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589649" y="2976934"/>
            <a:ext cx="490909" cy="402545"/>
          </a:xfrm>
          <a:prstGeom prst="rect">
            <a:avLst/>
          </a:prstGeom>
        </p:spPr>
      </p:pic>
      <p:sp>
        <p:nvSpPr>
          <p:cNvPr id="71" name="Freeform 159">
            <a:extLst>
              <a:ext uri="{FF2B5EF4-FFF2-40B4-BE49-F238E27FC236}">
                <a16:creationId xmlns:a16="http://schemas.microsoft.com/office/drawing/2014/main" id="{0D093796-6FE4-417D-9C15-C45E4732433F}"/>
              </a:ext>
            </a:extLst>
          </p:cNvPr>
          <p:cNvSpPr/>
          <p:nvPr/>
        </p:nvSpPr>
        <p:spPr bwMode="gray">
          <a:xfrm flipH="1">
            <a:off x="8376887" y="3859408"/>
            <a:ext cx="1292395" cy="6755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LAN</a:t>
            </a:r>
            <a:endParaRPr lang="en-US" sz="1400" dirty="0">
              <a:solidFill>
                <a:schemeClr val="tx1"/>
              </a:solidFill>
            </a:endParaRPr>
          </a:p>
        </p:txBody>
      </p:sp>
      <p:cxnSp>
        <p:nvCxnSpPr>
          <p:cNvPr id="72" name="直接连接符 10">
            <a:extLst>
              <a:ext uri="{FF2B5EF4-FFF2-40B4-BE49-F238E27FC236}">
                <a16:creationId xmlns:a16="http://schemas.microsoft.com/office/drawing/2014/main" id="{EA618423-900B-4919-8AAB-0413C860261B}"/>
              </a:ext>
            </a:extLst>
          </p:cNvPr>
          <p:cNvCxnSpPr>
            <a:cxnSpLocks/>
            <a:stCxn id="85" idx="1"/>
            <a:endCxn id="69" idx="2"/>
          </p:cNvCxnSpPr>
          <p:nvPr/>
        </p:nvCxnSpPr>
        <p:spPr bwMode="gray">
          <a:xfrm flipH="1" flipV="1">
            <a:off x="8167964" y="3379479"/>
            <a:ext cx="586903" cy="4745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10">
            <a:extLst>
              <a:ext uri="{FF2B5EF4-FFF2-40B4-BE49-F238E27FC236}">
                <a16:creationId xmlns:a16="http://schemas.microsoft.com/office/drawing/2014/main" id="{4FDAC43A-F277-43E4-82E2-AFE3F6725036}"/>
              </a:ext>
            </a:extLst>
          </p:cNvPr>
          <p:cNvCxnSpPr>
            <a:cxnSpLocks/>
            <a:stCxn id="85" idx="3"/>
            <a:endCxn id="70" idx="2"/>
          </p:cNvCxnSpPr>
          <p:nvPr/>
        </p:nvCxnSpPr>
        <p:spPr bwMode="gray">
          <a:xfrm flipV="1">
            <a:off x="9245776" y="3379479"/>
            <a:ext cx="589328" cy="4745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Freeform 159">
            <a:extLst>
              <a:ext uri="{FF2B5EF4-FFF2-40B4-BE49-F238E27FC236}">
                <a16:creationId xmlns:a16="http://schemas.microsoft.com/office/drawing/2014/main" id="{6740FF09-3FFA-4AF9-8EA1-574C2E2AAFF8}"/>
              </a:ext>
            </a:extLst>
          </p:cNvPr>
          <p:cNvSpPr/>
          <p:nvPr/>
        </p:nvSpPr>
        <p:spPr bwMode="gray">
          <a:xfrm flipH="1">
            <a:off x="6752473" y="1774153"/>
            <a:ext cx="1292395" cy="6755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76" name="Freeform 159">
            <a:extLst>
              <a:ext uri="{FF2B5EF4-FFF2-40B4-BE49-F238E27FC236}">
                <a16:creationId xmlns:a16="http://schemas.microsoft.com/office/drawing/2014/main" id="{58B269E9-E6DF-4F74-A5BA-2B36DC002F3C}"/>
              </a:ext>
            </a:extLst>
          </p:cNvPr>
          <p:cNvSpPr/>
          <p:nvPr/>
        </p:nvSpPr>
        <p:spPr bwMode="gray">
          <a:xfrm flipH="1">
            <a:off x="10068700" y="1767928"/>
            <a:ext cx="1292395" cy="6755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sp>
        <p:nvSpPr>
          <p:cNvPr id="77" name="Can 41">
            <a:extLst>
              <a:ext uri="{FF2B5EF4-FFF2-40B4-BE49-F238E27FC236}">
                <a16:creationId xmlns:a16="http://schemas.microsoft.com/office/drawing/2014/main" id="{2175821C-52D6-4689-9A7D-BBFFEEEC897B}"/>
              </a:ext>
            </a:extLst>
          </p:cNvPr>
          <p:cNvSpPr/>
          <p:nvPr/>
        </p:nvSpPr>
        <p:spPr bwMode="gray">
          <a:xfrm rot="20535278">
            <a:off x="7866015" y="1596949"/>
            <a:ext cx="185815" cy="1383315"/>
          </a:xfrm>
          <a:prstGeom prst="can">
            <a:avLst>
              <a:gd name="adj" fmla="val 55435"/>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Can 41">
            <a:extLst>
              <a:ext uri="{FF2B5EF4-FFF2-40B4-BE49-F238E27FC236}">
                <a16:creationId xmlns:a16="http://schemas.microsoft.com/office/drawing/2014/main" id="{D3F79267-DB46-4D5C-A16B-E1CE6430B235}"/>
              </a:ext>
            </a:extLst>
          </p:cNvPr>
          <p:cNvSpPr/>
          <p:nvPr/>
        </p:nvSpPr>
        <p:spPr bwMode="gray">
          <a:xfrm rot="1064722" flipH="1">
            <a:off x="9964214" y="1611487"/>
            <a:ext cx="185815" cy="1383315"/>
          </a:xfrm>
          <a:prstGeom prst="can">
            <a:avLst>
              <a:gd name="adj" fmla="val 55435"/>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79">
            <a:extLst>
              <a:ext uri="{FF2B5EF4-FFF2-40B4-BE49-F238E27FC236}">
                <a16:creationId xmlns:a16="http://schemas.microsoft.com/office/drawing/2014/main" id="{61985785-F34B-4E9E-B667-5D2BA025525D}"/>
              </a:ext>
            </a:extLst>
          </p:cNvPr>
          <p:cNvSpPr txBox="1"/>
          <p:nvPr/>
        </p:nvSpPr>
        <p:spPr bwMode="gray">
          <a:xfrm>
            <a:off x="10019318" y="4309619"/>
            <a:ext cx="729687" cy="338554"/>
          </a:xfrm>
          <a:prstGeom prst="rect">
            <a:avLst/>
          </a:prstGeom>
          <a:noFill/>
        </p:spPr>
        <p:txBody>
          <a:bodyPr wrap="none" rtlCol="0">
            <a:spAutoFit/>
          </a:bodyPr>
          <a:lstStyle/>
          <a:p>
            <a:r>
              <a:rPr lang="zh-CN" altLang="en-US" sz="1600" dirty="0"/>
              <a:t>站点</a:t>
            </a:r>
            <a:r>
              <a:rPr lang="en-US" altLang="zh-CN" sz="1600" dirty="0"/>
              <a:t>A</a:t>
            </a:r>
            <a:endParaRPr lang="en-US" sz="1600" dirty="0"/>
          </a:p>
        </p:txBody>
      </p:sp>
      <p:sp>
        <p:nvSpPr>
          <p:cNvPr id="81" name="TextBox 80">
            <a:extLst>
              <a:ext uri="{FF2B5EF4-FFF2-40B4-BE49-F238E27FC236}">
                <a16:creationId xmlns:a16="http://schemas.microsoft.com/office/drawing/2014/main" id="{F0B484C5-AD53-4948-AB60-1A63711A88EA}"/>
              </a:ext>
            </a:extLst>
          </p:cNvPr>
          <p:cNvSpPr txBox="1"/>
          <p:nvPr/>
        </p:nvSpPr>
        <p:spPr bwMode="gray">
          <a:xfrm>
            <a:off x="7388150" y="3005480"/>
            <a:ext cx="595035" cy="307777"/>
          </a:xfrm>
          <a:prstGeom prst="rect">
            <a:avLst/>
          </a:prstGeom>
          <a:noFill/>
        </p:spPr>
        <p:txBody>
          <a:bodyPr wrap="none" rtlCol="0">
            <a:spAutoFit/>
          </a:bodyPr>
          <a:lstStyle/>
          <a:p>
            <a:r>
              <a:rPr lang="en-US" altLang="zh-CN" sz="1400" dirty="0"/>
              <a:t>CPE1</a:t>
            </a:r>
            <a:endParaRPr lang="en-US" sz="1400" dirty="0"/>
          </a:p>
        </p:txBody>
      </p:sp>
      <p:sp>
        <p:nvSpPr>
          <p:cNvPr id="82" name="TextBox 81">
            <a:extLst>
              <a:ext uri="{FF2B5EF4-FFF2-40B4-BE49-F238E27FC236}">
                <a16:creationId xmlns:a16="http://schemas.microsoft.com/office/drawing/2014/main" id="{E87914EE-FC73-4945-8311-2B5BEFE5CB23}"/>
              </a:ext>
            </a:extLst>
          </p:cNvPr>
          <p:cNvSpPr txBox="1"/>
          <p:nvPr/>
        </p:nvSpPr>
        <p:spPr bwMode="gray">
          <a:xfrm>
            <a:off x="10019318" y="3005480"/>
            <a:ext cx="595035" cy="307777"/>
          </a:xfrm>
          <a:prstGeom prst="rect">
            <a:avLst/>
          </a:prstGeom>
          <a:noFill/>
        </p:spPr>
        <p:txBody>
          <a:bodyPr wrap="none" rtlCol="0">
            <a:spAutoFit/>
          </a:bodyPr>
          <a:lstStyle/>
          <a:p>
            <a:r>
              <a:rPr lang="en-US" altLang="zh-CN" sz="1400" dirty="0"/>
              <a:t>CPE2</a:t>
            </a:r>
            <a:endParaRPr lang="en-US" sz="1400" dirty="0"/>
          </a:p>
        </p:txBody>
      </p:sp>
      <p:sp>
        <p:nvSpPr>
          <p:cNvPr id="84" name="TextBox 83">
            <a:extLst>
              <a:ext uri="{FF2B5EF4-FFF2-40B4-BE49-F238E27FC236}">
                <a16:creationId xmlns:a16="http://schemas.microsoft.com/office/drawing/2014/main" id="{3C6B027E-C537-4702-92B9-4CCF748BC156}"/>
              </a:ext>
            </a:extLst>
          </p:cNvPr>
          <p:cNvSpPr txBox="1"/>
          <p:nvPr/>
        </p:nvSpPr>
        <p:spPr bwMode="gray">
          <a:xfrm>
            <a:off x="8568952" y="3298019"/>
            <a:ext cx="862737" cy="307777"/>
          </a:xfrm>
          <a:prstGeom prst="rect">
            <a:avLst/>
          </a:prstGeom>
          <a:noFill/>
        </p:spPr>
        <p:txBody>
          <a:bodyPr wrap="none" rtlCol="0">
            <a:spAutoFit/>
          </a:bodyPr>
          <a:lstStyle/>
          <a:p>
            <a:r>
              <a:rPr lang="en-US" sz="1400" dirty="0"/>
              <a:t>I</a:t>
            </a:r>
            <a:r>
              <a:rPr lang="en-US" altLang="zh-CN" sz="1400" dirty="0"/>
              <a:t>nterlink</a:t>
            </a:r>
            <a:endParaRPr lang="en-US" sz="1400" dirty="0"/>
          </a:p>
        </p:txBody>
      </p:sp>
      <p:pic>
        <p:nvPicPr>
          <p:cNvPr id="85" name="图片 18" descr="接入交换机.png">
            <a:extLst>
              <a:ext uri="{FF2B5EF4-FFF2-40B4-BE49-F238E27FC236}">
                <a16:creationId xmlns:a16="http://schemas.microsoft.com/office/drawing/2014/main" id="{F45504CE-93A6-45E0-A442-1A423AA6FEAA}"/>
              </a:ext>
            </a:extLst>
          </p:cNvPr>
          <p:cNvPicPr>
            <a:picLocks noChangeAspect="1"/>
          </p:cNvPicPr>
          <p:nvPr/>
        </p:nvPicPr>
        <p:blipFill>
          <a:blip r:embed="rId4" cstate="print"/>
          <a:stretch>
            <a:fillRect/>
          </a:stretch>
        </p:blipFill>
        <p:spPr bwMode="gray">
          <a:xfrm>
            <a:off x="8754867" y="3653180"/>
            <a:ext cx="490909" cy="401653"/>
          </a:xfrm>
          <a:prstGeom prst="rect">
            <a:avLst/>
          </a:prstGeom>
        </p:spPr>
      </p:pic>
      <p:sp>
        <p:nvSpPr>
          <p:cNvPr id="18" name="Freeform: Shape 17">
            <a:extLst>
              <a:ext uri="{FF2B5EF4-FFF2-40B4-BE49-F238E27FC236}">
                <a16:creationId xmlns:a16="http://schemas.microsoft.com/office/drawing/2014/main" id="{BB685500-3261-411E-9127-C1A9CAF5AD69}"/>
              </a:ext>
            </a:extLst>
          </p:cNvPr>
          <p:cNvSpPr/>
          <p:nvPr/>
        </p:nvSpPr>
        <p:spPr bwMode="gray">
          <a:xfrm>
            <a:off x="8302412" y="3358810"/>
            <a:ext cx="1429725" cy="363447"/>
          </a:xfrm>
          <a:custGeom>
            <a:avLst/>
            <a:gdLst>
              <a:gd name="connsiteX0" fmla="*/ 0 w 1023257"/>
              <a:gd name="connsiteY0" fmla="*/ 0 h 304800"/>
              <a:gd name="connsiteX1" fmla="*/ 500743 w 1023257"/>
              <a:gd name="connsiteY1" fmla="*/ 304800 h 304800"/>
              <a:gd name="connsiteX2" fmla="*/ 1023257 w 1023257"/>
              <a:gd name="connsiteY2" fmla="*/ 0 h 304800"/>
            </a:gdLst>
            <a:ahLst/>
            <a:cxnLst>
              <a:cxn ang="0">
                <a:pos x="connsiteX0" y="connsiteY0"/>
              </a:cxn>
              <a:cxn ang="0">
                <a:pos x="connsiteX1" y="connsiteY1"/>
              </a:cxn>
              <a:cxn ang="0">
                <a:pos x="connsiteX2" y="connsiteY2"/>
              </a:cxn>
            </a:cxnLst>
            <a:rect l="l" t="t" r="r" b="b"/>
            <a:pathLst>
              <a:path w="1023257" h="304800">
                <a:moveTo>
                  <a:pt x="0" y="0"/>
                </a:moveTo>
                <a:cubicBezTo>
                  <a:pt x="165100" y="152400"/>
                  <a:pt x="330200" y="304800"/>
                  <a:pt x="500743" y="304800"/>
                </a:cubicBezTo>
                <a:cubicBezTo>
                  <a:pt x="671286" y="304800"/>
                  <a:pt x="847271" y="152400"/>
                  <a:pt x="1023257" y="0"/>
                </a:cubicBezTo>
              </a:path>
            </a:pathLst>
          </a:custGeom>
          <a:noFill/>
          <a:ln w="28575">
            <a:solidFill>
              <a:srgbClr val="E2818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圆角矩形 75">
            <a:extLst>
              <a:ext uri="{FF2B5EF4-FFF2-40B4-BE49-F238E27FC236}">
                <a16:creationId xmlns:a16="http://schemas.microsoft.com/office/drawing/2014/main" id="{34C61B61-A59C-4AC6-94B2-49F194670990}"/>
              </a:ext>
            </a:extLst>
          </p:cNvPr>
          <p:cNvSpPr/>
          <p:nvPr/>
        </p:nvSpPr>
        <p:spPr bwMode="gray">
          <a:xfrm>
            <a:off x="6297183" y="1094077"/>
            <a:ext cx="517132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双</a:t>
            </a:r>
            <a:r>
              <a:rPr lang="en-US" altLang="zh-CN" sz="1600" dirty="0">
                <a:solidFill>
                  <a:srgbClr val="30B5C5"/>
                </a:solidFill>
                <a:latin typeface="Huawei Sans" panose="020C0503030203020204" pitchFamily="34" charset="0"/>
                <a:ea typeface="方正兰亭黑简体" panose="02000000000000000000" pitchFamily="2" charset="-122"/>
              </a:rPr>
              <a:t>CPE</a:t>
            </a:r>
            <a:r>
              <a:rPr lang="zh-CN" altLang="en-US" sz="1600" dirty="0">
                <a:solidFill>
                  <a:srgbClr val="30B5C5"/>
                </a:solidFill>
                <a:latin typeface="Huawei Sans" panose="020C0503030203020204" pitchFamily="34" charset="0"/>
                <a:ea typeface="方正兰亭黑简体" panose="02000000000000000000" pitchFamily="2" charset="-122"/>
              </a:rPr>
              <a:t>互联组网方案二</a:t>
            </a:r>
          </a:p>
        </p:txBody>
      </p:sp>
      <p:sp>
        <p:nvSpPr>
          <p:cNvPr id="47" name="五边形 2">
            <a:extLst>
              <a:ext uri="{FF2B5EF4-FFF2-40B4-BE49-F238E27FC236}">
                <a16:creationId xmlns:a16="http://schemas.microsoft.com/office/drawing/2014/main" id="{EE70B2CB-6DF6-45DD-8C9F-892B95D45942}"/>
              </a:ext>
            </a:extLst>
          </p:cNvPr>
          <p:cNvSpPr/>
          <p:nvPr/>
        </p:nvSpPr>
        <p:spPr bwMode="gray">
          <a:xfrm>
            <a:off x="7742323" y="121856"/>
            <a:ext cx="142606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侧网络设计</a:t>
            </a:r>
          </a:p>
        </p:txBody>
      </p:sp>
      <p:sp>
        <p:nvSpPr>
          <p:cNvPr id="49" name="燕尾形 3">
            <a:extLst>
              <a:ext uri="{FF2B5EF4-FFF2-40B4-BE49-F238E27FC236}">
                <a16:creationId xmlns:a16="http://schemas.microsoft.com/office/drawing/2014/main" id="{F751EB43-6577-4337-A5CD-474EA47C0E90}"/>
              </a:ext>
            </a:extLst>
          </p:cNvPr>
          <p:cNvSpPr/>
          <p:nvPr/>
        </p:nvSpPr>
        <p:spPr bwMode="gray">
          <a:xfrm>
            <a:off x="10441326" y="121856"/>
            <a:ext cx="13077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双</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CPE</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互联设计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3">
            <a:extLst>
              <a:ext uri="{FF2B5EF4-FFF2-40B4-BE49-F238E27FC236}">
                <a16:creationId xmlns:a16="http://schemas.microsoft.com/office/drawing/2014/main" id="{3628227F-43F9-413D-84F1-6CE1E055F788}"/>
              </a:ext>
            </a:extLst>
          </p:cNvPr>
          <p:cNvSpPr/>
          <p:nvPr/>
        </p:nvSpPr>
        <p:spPr bwMode="gray">
          <a:xfrm>
            <a:off x="9091825" y="121856"/>
            <a:ext cx="142606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侧网络设计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376154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dirty="0">
                <a:solidFill>
                  <a:schemeClr val="bg1">
                    <a:lumMod val="50000"/>
                  </a:schemeClr>
                </a:solidFill>
              </a:rPr>
              <a:t>企业广域互联网络趋势与挑战</a:t>
            </a:r>
            <a:endParaRPr lang="en-US" altLang="zh-CN" sz="1800" dirty="0">
              <a:solidFill>
                <a:schemeClr val="bg1">
                  <a:lumMod val="50000"/>
                </a:schemeClr>
              </a:solidFill>
            </a:endParaRPr>
          </a:p>
          <a:p>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解决方案概述</a:t>
            </a:r>
            <a:endParaRPr lang="en-US" altLang="zh-CN" sz="1800" dirty="0">
              <a:solidFill>
                <a:schemeClr val="bg1">
                  <a:lumMod val="50000"/>
                </a:schemeClr>
              </a:solidFill>
            </a:endParaRPr>
          </a:p>
          <a:p>
            <a:pPr>
              <a:buFont typeface="+mj-lt"/>
              <a:buAutoNum type="arabicPeriod" startAt="3"/>
            </a:pPr>
            <a:r>
              <a:rPr lang="zh-CN" altLang="en-US" sz="1800" b="1" dirty="0"/>
              <a:t>华为</a:t>
            </a:r>
            <a:r>
              <a:rPr lang="en-US" altLang="zh-CN" sz="1800" b="1" dirty="0"/>
              <a:t>SD-WAN</a:t>
            </a:r>
            <a:r>
              <a:rPr lang="zh-CN" altLang="en-US" sz="1800" b="1" dirty="0"/>
              <a:t>组网设计</a:t>
            </a:r>
            <a:endParaRPr lang="en-US" altLang="zh-CN" sz="1800" b="1" dirty="0"/>
          </a:p>
          <a:p>
            <a:pPr lvl="1"/>
            <a:r>
              <a:rPr lang="en-US" altLang="zh-CN" sz="1600" dirty="0">
                <a:solidFill>
                  <a:schemeClr val="bg1">
                    <a:lumMod val="50000"/>
                  </a:schemeClr>
                </a:solidFill>
              </a:rPr>
              <a:t>SD-WAN</a:t>
            </a:r>
            <a:r>
              <a:rPr lang="zh-CN" altLang="en-US" sz="1600" dirty="0">
                <a:solidFill>
                  <a:schemeClr val="bg1">
                    <a:lumMod val="50000"/>
                  </a:schemeClr>
                </a:solidFill>
              </a:rPr>
              <a:t>组网设计概览</a:t>
            </a:r>
            <a:endParaRPr lang="en-US" altLang="zh-CN" sz="1600" dirty="0">
              <a:solidFill>
                <a:schemeClr val="bg1">
                  <a:lumMod val="50000"/>
                </a:schemeClr>
              </a:solidFill>
            </a:endParaRPr>
          </a:p>
          <a:p>
            <a:pPr lvl="1"/>
            <a:r>
              <a:rPr lang="en-US" altLang="zh-CN" sz="1600" dirty="0">
                <a:solidFill>
                  <a:schemeClr val="bg1">
                    <a:lumMod val="50000"/>
                  </a:schemeClr>
                </a:solidFill>
              </a:rPr>
              <a:t>SD-WAN</a:t>
            </a:r>
            <a:r>
              <a:rPr lang="zh-CN" altLang="en-US" sz="1600" dirty="0">
                <a:solidFill>
                  <a:schemeClr val="bg1">
                    <a:lumMod val="50000"/>
                  </a:schemeClr>
                </a:solidFill>
              </a:rPr>
              <a:t>站点设计</a:t>
            </a:r>
            <a:endParaRPr lang="en-US" altLang="zh-CN" sz="1600" dirty="0">
              <a:solidFill>
                <a:schemeClr val="bg1">
                  <a:lumMod val="50000"/>
                </a:schemeClr>
              </a:solidFill>
            </a:endParaRPr>
          </a:p>
          <a:p>
            <a:pPr lvl="1">
              <a:buSzPct val="60000"/>
              <a:buFont typeface="Wingdings" panose="05000000000000000000" pitchFamily="2" charset="2"/>
              <a:buChar char="n"/>
            </a:pPr>
            <a:r>
              <a:rPr lang="en-US" altLang="zh-CN" sz="1600" dirty="0"/>
              <a:t>SD-WAN</a:t>
            </a:r>
            <a:r>
              <a:rPr lang="zh-CN" altLang="en-US" sz="1600" dirty="0"/>
              <a:t>隧道设计</a:t>
            </a:r>
            <a:endParaRPr lang="en-US" altLang="zh-CN" sz="1600" dirty="0"/>
          </a:p>
          <a:p>
            <a:pPr lvl="1"/>
            <a:r>
              <a:rPr lang="en-US" altLang="zh-CN" sz="1600" dirty="0">
                <a:solidFill>
                  <a:schemeClr val="bg1">
                    <a:lumMod val="50000"/>
                  </a:schemeClr>
                </a:solidFill>
              </a:rPr>
              <a:t>SD-WAN VPN</a:t>
            </a:r>
            <a:r>
              <a:rPr lang="zh-CN" altLang="en-US" sz="1600" dirty="0">
                <a:solidFill>
                  <a:schemeClr val="bg1">
                    <a:lumMod val="50000"/>
                  </a:schemeClr>
                </a:solidFill>
              </a:rPr>
              <a:t>设计</a:t>
            </a:r>
            <a:endParaRPr lang="en-US" altLang="zh-CN" sz="1600" dirty="0">
              <a:solidFill>
                <a:schemeClr val="bg1">
                  <a:lumMod val="50000"/>
                </a:schemeClr>
              </a:solidFill>
            </a:endParaRPr>
          </a:p>
          <a:p>
            <a:pPr>
              <a:buAutoNum type="arabicPeriod" startAt="3"/>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业务设计</a:t>
            </a:r>
            <a:endParaRPr lang="en-US" altLang="zh-CN" sz="1800" dirty="0">
              <a:solidFill>
                <a:schemeClr val="bg1">
                  <a:lumMod val="50000"/>
                </a:schemeClr>
              </a:solidFill>
            </a:endParaRPr>
          </a:p>
          <a:p>
            <a:pPr>
              <a:buAutoNum type="arabicPeriod" startAt="3"/>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可靠性与安全设计</a:t>
            </a:r>
          </a:p>
        </p:txBody>
      </p:sp>
    </p:spTree>
    <p:extLst>
      <p:ext uri="{BB962C8B-B14F-4D97-AF65-F5344CB8AC3E}">
        <p14:creationId xmlns:p14="http://schemas.microsoft.com/office/powerpoint/2010/main" val="30925973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xt Placeholder 163">
            <a:extLst>
              <a:ext uri="{FF2B5EF4-FFF2-40B4-BE49-F238E27FC236}">
                <a16:creationId xmlns:a16="http://schemas.microsoft.com/office/drawing/2014/main" id="{8C527F74-1DF0-4D25-9B9E-857A9CC4A091}"/>
              </a:ext>
            </a:extLst>
          </p:cNvPr>
          <p:cNvSpPr>
            <a:spLocks noGrp="1"/>
          </p:cNvSpPr>
          <p:nvPr>
            <p:ph type="body" sz="quarter" idx="10"/>
          </p:nvPr>
        </p:nvSpPr>
        <p:spPr bwMode="gray"/>
        <p:txBody>
          <a:bodyPr/>
          <a:lstStyle/>
          <a:p>
            <a:r>
              <a:rPr lang="en-US" sz="1800" dirty="0"/>
              <a:t>SD-WAN</a:t>
            </a:r>
            <a:r>
              <a:rPr lang="zh-CN" altLang="en-US" sz="1800" dirty="0"/>
              <a:t>解决方案中一共有三种隧道：管理隧道、控制隧道与数据隧道。其中控制通道主要在</a:t>
            </a:r>
            <a:r>
              <a:rPr lang="en-US" altLang="zh-CN" sz="1800" dirty="0"/>
              <a:t>RR</a:t>
            </a:r>
            <a:r>
              <a:rPr lang="zh-CN" altLang="en-US" sz="1800" dirty="0"/>
              <a:t>与</a:t>
            </a:r>
            <a:r>
              <a:rPr lang="en-US" altLang="zh-CN" sz="1800" dirty="0"/>
              <a:t>EDGE</a:t>
            </a:r>
            <a:r>
              <a:rPr lang="zh-CN" altLang="en-US" sz="1800" dirty="0"/>
              <a:t>之间建立，数据隧道主要在</a:t>
            </a:r>
            <a:r>
              <a:rPr lang="en-US" altLang="zh-CN" sz="1800" dirty="0"/>
              <a:t>EDGE</a:t>
            </a:r>
            <a:r>
              <a:rPr lang="zh-CN" altLang="en-US" sz="1800" dirty="0"/>
              <a:t>之间建立，最终承载业务的是数据隧道。</a:t>
            </a:r>
            <a:endParaRPr lang="en-US" altLang="zh-CN" sz="1800" dirty="0"/>
          </a:p>
          <a:p>
            <a:r>
              <a:rPr lang="zh-CN" altLang="en-US" sz="1800" dirty="0"/>
              <a:t>隧道设计一般可以分为：</a:t>
            </a:r>
            <a:endParaRPr lang="en-US" altLang="zh-CN" sz="1800" dirty="0"/>
          </a:p>
          <a:p>
            <a:pPr lvl="1"/>
            <a:r>
              <a:rPr lang="zh-CN" altLang="en-US" sz="1600" dirty="0"/>
              <a:t>数据隧道设计</a:t>
            </a:r>
            <a:endParaRPr lang="en-US" altLang="zh-CN" sz="1600" dirty="0"/>
          </a:p>
          <a:p>
            <a:pPr lvl="1"/>
            <a:r>
              <a:rPr lang="en-US" altLang="zh-CN" sz="1600" dirty="0"/>
              <a:t>RR</a:t>
            </a:r>
            <a:r>
              <a:rPr lang="zh-CN" altLang="en-US" sz="1600" dirty="0"/>
              <a:t>设计</a:t>
            </a:r>
            <a:endParaRPr lang="en-US" altLang="zh-CN" sz="1600" dirty="0"/>
          </a:p>
          <a:p>
            <a:pPr lvl="1"/>
            <a:r>
              <a:rPr lang="en-US" altLang="zh-CN" sz="1600" dirty="0"/>
              <a:t>NAT</a:t>
            </a:r>
            <a:r>
              <a:rPr lang="zh-CN" altLang="en-US" sz="1600" dirty="0"/>
              <a:t>穿越设计</a:t>
            </a:r>
            <a:endParaRPr lang="en-US" altLang="zh-CN" sz="1600" dirty="0"/>
          </a:p>
          <a:p>
            <a:pPr lvl="1"/>
            <a:r>
              <a:rPr lang="zh-CN" altLang="en-US" sz="1600" dirty="0"/>
              <a:t>网络超规设计</a:t>
            </a:r>
            <a:endParaRPr lang="en-US" altLang="zh-CN" sz="1600" dirty="0"/>
          </a:p>
        </p:txBody>
      </p:sp>
      <p:sp>
        <p:nvSpPr>
          <p:cNvPr id="3" name="Title 2">
            <a:extLst>
              <a:ext uri="{FF2B5EF4-FFF2-40B4-BE49-F238E27FC236}">
                <a16:creationId xmlns:a16="http://schemas.microsoft.com/office/drawing/2014/main" id="{D332A32D-DD3E-40B2-8DF4-1B711544535B}"/>
              </a:ext>
            </a:extLst>
          </p:cNvPr>
          <p:cNvSpPr>
            <a:spLocks noGrp="1"/>
          </p:cNvSpPr>
          <p:nvPr>
            <p:ph type="title"/>
          </p:nvPr>
        </p:nvSpPr>
        <p:spPr bwMode="gray"/>
        <p:txBody>
          <a:bodyPr/>
          <a:lstStyle/>
          <a:p>
            <a:r>
              <a:rPr lang="zh-CN" altLang="en-US" dirty="0"/>
              <a:t>隧道设计全景图</a:t>
            </a:r>
            <a:endParaRPr lang="en-US" dirty="0"/>
          </a:p>
        </p:txBody>
      </p:sp>
      <p:grpSp>
        <p:nvGrpSpPr>
          <p:cNvPr id="2" name="Group 1">
            <a:extLst>
              <a:ext uri="{FF2B5EF4-FFF2-40B4-BE49-F238E27FC236}">
                <a16:creationId xmlns:a16="http://schemas.microsoft.com/office/drawing/2014/main" id="{5D812DC9-65C8-453D-AB77-365B7E02A0A9}"/>
              </a:ext>
            </a:extLst>
          </p:cNvPr>
          <p:cNvGrpSpPr/>
          <p:nvPr/>
        </p:nvGrpSpPr>
        <p:grpSpPr>
          <a:xfrm>
            <a:off x="5715969" y="2116172"/>
            <a:ext cx="5513167" cy="3643506"/>
            <a:chOff x="5715969" y="2116172"/>
            <a:chExt cx="5513167" cy="3643506"/>
          </a:xfrm>
        </p:grpSpPr>
        <p:sp>
          <p:nvSpPr>
            <p:cNvPr id="64" name="Freeform 159">
              <a:extLst>
                <a:ext uri="{FF2B5EF4-FFF2-40B4-BE49-F238E27FC236}">
                  <a16:creationId xmlns:a16="http://schemas.microsoft.com/office/drawing/2014/main" id="{6511B90C-E4C4-4455-9C86-29F46893D300}"/>
                </a:ext>
              </a:extLst>
            </p:cNvPr>
            <p:cNvSpPr/>
            <p:nvPr/>
          </p:nvSpPr>
          <p:spPr bwMode="gray">
            <a:xfrm flipH="1">
              <a:off x="9156651" y="5113674"/>
              <a:ext cx="1208491"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159">
              <a:extLst>
                <a:ext uri="{FF2B5EF4-FFF2-40B4-BE49-F238E27FC236}">
                  <a16:creationId xmlns:a16="http://schemas.microsoft.com/office/drawing/2014/main" id="{301CDCC7-E49C-4BA5-82CD-1FAA1FC47942}"/>
                </a:ext>
              </a:extLst>
            </p:cNvPr>
            <p:cNvSpPr/>
            <p:nvPr/>
          </p:nvSpPr>
          <p:spPr bwMode="gray">
            <a:xfrm flipH="1">
              <a:off x="7188602" y="5113675"/>
              <a:ext cx="1208491"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6" name="Picture 12" descr="E:\2016.01\1.12 扁平化图标\蓝色\AR-蓝色最新-40.png">
              <a:extLst>
                <a:ext uri="{FF2B5EF4-FFF2-40B4-BE49-F238E27FC236}">
                  <a16:creationId xmlns:a16="http://schemas.microsoft.com/office/drawing/2014/main" id="{3953AD03-1E4C-41A5-B9F3-ECECEC51DCC4}"/>
                </a:ext>
              </a:extLst>
            </p:cNvPr>
            <p:cNvPicPr>
              <a:picLocks noChangeAspect="1" noChangeArrowheads="1"/>
            </p:cNvPicPr>
            <p:nvPr/>
          </p:nvPicPr>
          <p:blipFill>
            <a:blip r:embed="rId3" cstate="print"/>
            <a:srcRect/>
            <a:stretch>
              <a:fillRect/>
            </a:stretch>
          </p:blipFill>
          <p:spPr bwMode="gray">
            <a:xfrm>
              <a:off x="7584338" y="4996477"/>
              <a:ext cx="474524" cy="388247"/>
            </a:xfrm>
            <a:prstGeom prst="rect">
              <a:avLst/>
            </a:prstGeom>
            <a:noFill/>
          </p:spPr>
        </p:pic>
        <p:cxnSp>
          <p:nvCxnSpPr>
            <p:cNvPr id="67" name="Straight Connector 66">
              <a:extLst>
                <a:ext uri="{FF2B5EF4-FFF2-40B4-BE49-F238E27FC236}">
                  <a16:creationId xmlns:a16="http://schemas.microsoft.com/office/drawing/2014/main" id="{B87BAD57-CF0A-4687-A334-3A20A55E601E}"/>
                </a:ext>
              </a:extLst>
            </p:cNvPr>
            <p:cNvCxnSpPr>
              <a:cxnSpLocks/>
              <a:endCxn id="66" idx="0"/>
            </p:cNvCxnSpPr>
            <p:nvPr/>
          </p:nvCxnSpPr>
          <p:spPr bwMode="gray">
            <a:xfrm>
              <a:off x="7821600" y="4117810"/>
              <a:ext cx="0" cy="87866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01BE728-1BE4-4111-881F-25A9EBAF8DA8}"/>
                </a:ext>
              </a:extLst>
            </p:cNvPr>
            <p:cNvCxnSpPr>
              <a:cxnSpLocks/>
              <a:stCxn id="71" idx="20"/>
              <a:endCxn id="66" idx="0"/>
            </p:cNvCxnSpPr>
            <p:nvPr/>
          </p:nvCxnSpPr>
          <p:spPr bwMode="gray">
            <a:xfrm flipH="1">
              <a:off x="7821600" y="4505900"/>
              <a:ext cx="1858575" cy="49057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B432D16E-A73D-4E66-8B47-F52477B5DA44}"/>
                </a:ext>
              </a:extLst>
            </p:cNvPr>
            <p:cNvSpPr txBox="1"/>
            <p:nvPr/>
          </p:nvSpPr>
          <p:spPr bwMode="gray">
            <a:xfrm>
              <a:off x="7566334" y="5346364"/>
              <a:ext cx="543739" cy="307777"/>
            </a:xfrm>
            <a:prstGeom prst="rect">
              <a:avLst/>
            </a:prstGeom>
            <a:noFill/>
          </p:spPr>
          <p:txBody>
            <a:bodyPr wrap="none" rtlCol="0">
              <a:spAutoFit/>
            </a:bodyPr>
            <a:lstStyle/>
            <a:p>
              <a:r>
                <a:rPr lang="zh-CN" altLang="en-US" sz="1400" dirty="0"/>
                <a:t>分支</a:t>
              </a:r>
            </a:p>
          </p:txBody>
        </p:sp>
        <p:sp>
          <p:nvSpPr>
            <p:cNvPr id="70" name="Freeform 159">
              <a:extLst>
                <a:ext uri="{FF2B5EF4-FFF2-40B4-BE49-F238E27FC236}">
                  <a16:creationId xmlns:a16="http://schemas.microsoft.com/office/drawing/2014/main" id="{8946A044-3752-4B95-B8A5-27D65E3F62CE}"/>
                </a:ext>
              </a:extLst>
            </p:cNvPr>
            <p:cNvSpPr/>
            <p:nvPr/>
          </p:nvSpPr>
          <p:spPr bwMode="gray">
            <a:xfrm flipH="1">
              <a:off x="7306009" y="3904820"/>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a:solidFill>
                    <a:schemeClr val="tx1"/>
                  </a:solidFill>
                </a:rPr>
                <a:t> MPLS</a:t>
              </a:r>
              <a:endParaRPr lang="en-US" sz="1400" dirty="0">
                <a:solidFill>
                  <a:schemeClr val="tx1"/>
                </a:solidFill>
              </a:endParaRPr>
            </a:p>
          </p:txBody>
        </p:sp>
        <p:sp>
          <p:nvSpPr>
            <p:cNvPr id="71" name="Freeform 159">
              <a:extLst>
                <a:ext uri="{FF2B5EF4-FFF2-40B4-BE49-F238E27FC236}">
                  <a16:creationId xmlns:a16="http://schemas.microsoft.com/office/drawing/2014/main" id="{4FE10D5D-E9D5-4C38-AC4F-A15693160832}"/>
                </a:ext>
              </a:extLst>
            </p:cNvPr>
            <p:cNvSpPr/>
            <p:nvPr/>
          </p:nvSpPr>
          <p:spPr bwMode="gray">
            <a:xfrm flipH="1">
              <a:off x="9532528" y="3863820"/>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a:solidFill>
                    <a:schemeClr val="tx1"/>
                  </a:solidFill>
                </a:rPr>
                <a:t>  I</a:t>
              </a:r>
              <a:r>
                <a:rPr lang="en-US" altLang="zh-CN" sz="1400">
                  <a:solidFill>
                    <a:schemeClr val="tx1"/>
                  </a:solidFill>
                </a:rPr>
                <a:t>nternet</a:t>
              </a:r>
              <a:endParaRPr lang="en-US" sz="1400" dirty="0">
                <a:solidFill>
                  <a:schemeClr val="tx1"/>
                </a:solidFill>
              </a:endParaRPr>
            </a:p>
          </p:txBody>
        </p:sp>
        <p:sp>
          <p:nvSpPr>
            <p:cNvPr id="72" name="Freeform 159">
              <a:extLst>
                <a:ext uri="{FF2B5EF4-FFF2-40B4-BE49-F238E27FC236}">
                  <a16:creationId xmlns:a16="http://schemas.microsoft.com/office/drawing/2014/main" id="{9B009384-26AC-4C82-AC2F-BAC212B88AB7}"/>
                </a:ext>
              </a:extLst>
            </p:cNvPr>
            <p:cNvSpPr/>
            <p:nvPr/>
          </p:nvSpPr>
          <p:spPr bwMode="gray">
            <a:xfrm flipH="1">
              <a:off x="8018221" y="2116172"/>
              <a:ext cx="1429629" cy="7642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73" name="Straight Connector 72">
              <a:extLst>
                <a:ext uri="{FF2B5EF4-FFF2-40B4-BE49-F238E27FC236}">
                  <a16:creationId xmlns:a16="http://schemas.microsoft.com/office/drawing/2014/main" id="{1ABCDA34-80EF-4610-AFB9-6CD798FB9EC9}"/>
                </a:ext>
              </a:extLst>
            </p:cNvPr>
            <p:cNvCxnSpPr>
              <a:cxnSpLocks/>
              <a:stCxn id="76" idx="2"/>
              <a:endCxn id="71" idx="0"/>
            </p:cNvCxnSpPr>
            <p:nvPr/>
          </p:nvCxnSpPr>
          <p:spPr bwMode="gray">
            <a:xfrm>
              <a:off x="8959995" y="2737851"/>
              <a:ext cx="1040672" cy="112596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D7142C4-04BA-4B7A-A9DF-F9F430D6AD42}"/>
                </a:ext>
              </a:extLst>
            </p:cNvPr>
            <p:cNvCxnSpPr>
              <a:cxnSpLocks/>
              <a:stCxn id="75" idx="2"/>
              <a:endCxn id="70" idx="0"/>
            </p:cNvCxnSpPr>
            <p:nvPr/>
          </p:nvCxnSpPr>
          <p:spPr bwMode="gray">
            <a:xfrm flipH="1">
              <a:off x="7774148" y="2738619"/>
              <a:ext cx="725205" cy="1166201"/>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75" name="Picture 12" descr="E:\2016.01\1.12 扁平化图标\蓝色\AR-蓝色最新-40.png">
              <a:extLst>
                <a:ext uri="{FF2B5EF4-FFF2-40B4-BE49-F238E27FC236}">
                  <a16:creationId xmlns:a16="http://schemas.microsoft.com/office/drawing/2014/main" id="{F67AB748-4676-4500-B8D0-7B6866D167F4}"/>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8345958" y="2487610"/>
              <a:ext cx="306789" cy="251009"/>
            </a:xfrm>
            <a:prstGeom prst="rect">
              <a:avLst/>
            </a:prstGeom>
            <a:noFill/>
          </p:spPr>
        </p:pic>
        <p:pic>
          <p:nvPicPr>
            <p:cNvPr id="76" name="Picture 12" descr="E:\2016.01\1.12 扁平化图标\蓝色\AR-蓝色最新-40.png">
              <a:extLst>
                <a:ext uri="{FF2B5EF4-FFF2-40B4-BE49-F238E27FC236}">
                  <a16:creationId xmlns:a16="http://schemas.microsoft.com/office/drawing/2014/main" id="{73DA4CEE-3C64-4A2B-BAE2-335EBD8C97A1}"/>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8806600" y="2486842"/>
              <a:ext cx="306789" cy="251009"/>
            </a:xfrm>
            <a:prstGeom prst="rect">
              <a:avLst/>
            </a:prstGeom>
            <a:noFill/>
          </p:spPr>
        </p:pic>
        <p:sp>
          <p:nvSpPr>
            <p:cNvPr id="77" name="TextBox 76">
              <a:extLst>
                <a:ext uri="{FF2B5EF4-FFF2-40B4-BE49-F238E27FC236}">
                  <a16:creationId xmlns:a16="http://schemas.microsoft.com/office/drawing/2014/main" id="{C390AAB5-1D5B-4B47-96D4-298C620B6D9B}"/>
                </a:ext>
              </a:extLst>
            </p:cNvPr>
            <p:cNvSpPr txBox="1"/>
            <p:nvPr/>
          </p:nvSpPr>
          <p:spPr bwMode="gray">
            <a:xfrm>
              <a:off x="8321265" y="2222838"/>
              <a:ext cx="836286" cy="307777"/>
            </a:xfrm>
            <a:prstGeom prst="rect">
              <a:avLst/>
            </a:prstGeom>
            <a:noFill/>
          </p:spPr>
          <p:txBody>
            <a:bodyPr wrap="square" rtlCol="0">
              <a:spAutoFit/>
            </a:bodyPr>
            <a:lstStyle/>
            <a:p>
              <a:pPr algn="ctr"/>
              <a:r>
                <a:rPr lang="en-US" altLang="zh-CN" sz="1400"/>
                <a:t>Hub</a:t>
              </a:r>
              <a:endParaRPr lang="zh-CN" altLang="en-US" sz="1600" dirty="0"/>
            </a:p>
          </p:txBody>
        </p:sp>
        <p:pic>
          <p:nvPicPr>
            <p:cNvPr id="78" name="Picture 12" descr="E:\2016.01\1.12 扁平化图标\蓝色\AR-蓝色最新-40.png">
              <a:extLst>
                <a:ext uri="{FF2B5EF4-FFF2-40B4-BE49-F238E27FC236}">
                  <a16:creationId xmlns:a16="http://schemas.microsoft.com/office/drawing/2014/main" id="{97BE0A68-9DEE-49F5-8B7A-B2294DB4EF6D}"/>
                </a:ext>
              </a:extLst>
            </p:cNvPr>
            <p:cNvPicPr>
              <a:picLocks noChangeAspect="1" noChangeArrowheads="1"/>
            </p:cNvPicPr>
            <p:nvPr/>
          </p:nvPicPr>
          <p:blipFill>
            <a:blip r:embed="rId3" cstate="print"/>
            <a:srcRect/>
            <a:stretch>
              <a:fillRect/>
            </a:stretch>
          </p:blipFill>
          <p:spPr bwMode="gray">
            <a:xfrm>
              <a:off x="9245095" y="5008089"/>
              <a:ext cx="474524" cy="388247"/>
            </a:xfrm>
            <a:prstGeom prst="rect">
              <a:avLst/>
            </a:prstGeom>
            <a:noFill/>
          </p:spPr>
        </p:pic>
        <p:pic>
          <p:nvPicPr>
            <p:cNvPr id="79" name="Picture 12" descr="E:\2016.01\1.12 扁平化图标\蓝色\AR-蓝色最新-40.png">
              <a:extLst>
                <a:ext uri="{FF2B5EF4-FFF2-40B4-BE49-F238E27FC236}">
                  <a16:creationId xmlns:a16="http://schemas.microsoft.com/office/drawing/2014/main" id="{B9784566-73C4-4B82-B505-6D5D74931CC8}"/>
                </a:ext>
              </a:extLst>
            </p:cNvPr>
            <p:cNvPicPr>
              <a:picLocks noChangeAspect="1" noChangeArrowheads="1"/>
            </p:cNvPicPr>
            <p:nvPr/>
          </p:nvPicPr>
          <p:blipFill>
            <a:blip r:embed="rId3" cstate="print"/>
            <a:srcRect/>
            <a:stretch>
              <a:fillRect/>
            </a:stretch>
          </p:blipFill>
          <p:spPr bwMode="gray">
            <a:xfrm>
              <a:off x="9932552" y="5009151"/>
              <a:ext cx="474524" cy="388247"/>
            </a:xfrm>
            <a:prstGeom prst="rect">
              <a:avLst/>
            </a:prstGeom>
            <a:noFill/>
          </p:spPr>
        </p:pic>
        <p:sp>
          <p:nvSpPr>
            <p:cNvPr id="80" name="TextBox 79">
              <a:extLst>
                <a:ext uri="{FF2B5EF4-FFF2-40B4-BE49-F238E27FC236}">
                  <a16:creationId xmlns:a16="http://schemas.microsoft.com/office/drawing/2014/main" id="{C8086406-7F5B-4E00-BB86-86476185F002}"/>
                </a:ext>
              </a:extLst>
            </p:cNvPr>
            <p:cNvSpPr txBox="1"/>
            <p:nvPr/>
          </p:nvSpPr>
          <p:spPr bwMode="gray">
            <a:xfrm>
              <a:off x="9554216" y="5362359"/>
              <a:ext cx="543739" cy="307777"/>
            </a:xfrm>
            <a:prstGeom prst="rect">
              <a:avLst/>
            </a:prstGeom>
            <a:noFill/>
          </p:spPr>
          <p:txBody>
            <a:bodyPr wrap="none" rtlCol="0">
              <a:spAutoFit/>
            </a:bodyPr>
            <a:lstStyle/>
            <a:p>
              <a:r>
                <a:rPr lang="zh-CN" altLang="en-US" sz="1400" dirty="0"/>
                <a:t>分支</a:t>
              </a:r>
            </a:p>
          </p:txBody>
        </p:sp>
        <p:cxnSp>
          <p:nvCxnSpPr>
            <p:cNvPr id="81" name="Straight Connector 80">
              <a:extLst>
                <a:ext uri="{FF2B5EF4-FFF2-40B4-BE49-F238E27FC236}">
                  <a16:creationId xmlns:a16="http://schemas.microsoft.com/office/drawing/2014/main" id="{8057ED4A-ECA4-41E3-ABDE-F75D8798B85D}"/>
                </a:ext>
              </a:extLst>
            </p:cNvPr>
            <p:cNvCxnSpPr>
              <a:cxnSpLocks/>
              <a:stCxn id="70" idx="14"/>
              <a:endCxn id="78" idx="0"/>
            </p:cNvCxnSpPr>
            <p:nvPr/>
          </p:nvCxnSpPr>
          <p:spPr bwMode="gray">
            <a:xfrm>
              <a:off x="8303769" y="4550823"/>
              <a:ext cx="1178588" cy="457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ACA7DF6-9F50-4BFC-8319-D8059080CB2C}"/>
                </a:ext>
              </a:extLst>
            </p:cNvPr>
            <p:cNvCxnSpPr>
              <a:cxnSpLocks/>
              <a:endCxn id="79" idx="0"/>
            </p:cNvCxnSpPr>
            <p:nvPr/>
          </p:nvCxnSpPr>
          <p:spPr bwMode="gray">
            <a:xfrm flipH="1">
              <a:off x="10169814" y="4510672"/>
              <a:ext cx="25046" cy="49847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D7FDEBF-7F3F-4EDB-8F6E-257F73C00C98}"/>
                </a:ext>
              </a:extLst>
            </p:cNvPr>
            <p:cNvCxnSpPr>
              <a:cxnSpLocks/>
            </p:cNvCxnSpPr>
            <p:nvPr/>
          </p:nvCxnSpPr>
          <p:spPr bwMode="gray">
            <a:xfrm flipH="1" flipV="1">
              <a:off x="9719619" y="5203274"/>
              <a:ext cx="212933" cy="1062"/>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84" name="Picture 12" descr="E:\2016.01\1.12 扁平化图标\蓝色\AR-蓝色最新-40.png">
              <a:extLst>
                <a:ext uri="{FF2B5EF4-FFF2-40B4-BE49-F238E27FC236}">
                  <a16:creationId xmlns:a16="http://schemas.microsoft.com/office/drawing/2014/main" id="{E9177546-1912-4689-882F-556DCBF08320}"/>
                </a:ext>
              </a:extLst>
            </p:cNvPr>
            <p:cNvPicPr>
              <a:picLocks noChangeAspect="1" noChangeArrowheads="1"/>
            </p:cNvPicPr>
            <p:nvPr/>
          </p:nvPicPr>
          <p:blipFill>
            <a:blip r:embed="rId3" cstate="print"/>
            <a:srcRect/>
            <a:stretch>
              <a:fillRect/>
            </a:stretch>
          </p:blipFill>
          <p:spPr bwMode="gray">
            <a:xfrm>
              <a:off x="6737030" y="3000550"/>
              <a:ext cx="474524" cy="388247"/>
            </a:xfrm>
            <a:prstGeom prst="rect">
              <a:avLst/>
            </a:prstGeom>
            <a:noFill/>
          </p:spPr>
        </p:pic>
        <p:pic>
          <p:nvPicPr>
            <p:cNvPr id="85" name="Picture 12" descr="E:\2016.01\1.12 扁平化图标\蓝色\AR-蓝色最新-40.png">
              <a:extLst>
                <a:ext uri="{FF2B5EF4-FFF2-40B4-BE49-F238E27FC236}">
                  <a16:creationId xmlns:a16="http://schemas.microsoft.com/office/drawing/2014/main" id="{37C9F5CD-58DE-4F74-8EEB-A13A0EF8356C}"/>
                </a:ext>
              </a:extLst>
            </p:cNvPr>
            <p:cNvPicPr>
              <a:picLocks noChangeAspect="1" noChangeArrowheads="1"/>
            </p:cNvPicPr>
            <p:nvPr/>
          </p:nvPicPr>
          <p:blipFill>
            <a:blip r:embed="rId3" cstate="print"/>
            <a:srcRect/>
            <a:stretch>
              <a:fillRect/>
            </a:stretch>
          </p:blipFill>
          <p:spPr bwMode="gray">
            <a:xfrm>
              <a:off x="10573732" y="3000550"/>
              <a:ext cx="474524" cy="388247"/>
            </a:xfrm>
            <a:prstGeom prst="rect">
              <a:avLst/>
            </a:prstGeom>
            <a:noFill/>
          </p:spPr>
        </p:pic>
        <p:cxnSp>
          <p:nvCxnSpPr>
            <p:cNvPr id="86" name="Straight Connector 85">
              <a:extLst>
                <a:ext uri="{FF2B5EF4-FFF2-40B4-BE49-F238E27FC236}">
                  <a16:creationId xmlns:a16="http://schemas.microsoft.com/office/drawing/2014/main" id="{37FDEA13-976C-4DAE-A9DE-F2B4B54E6783}"/>
                </a:ext>
              </a:extLst>
            </p:cNvPr>
            <p:cNvCxnSpPr>
              <a:cxnSpLocks/>
              <a:stCxn id="70" idx="21"/>
              <a:endCxn id="84" idx="2"/>
            </p:cNvCxnSpPr>
            <p:nvPr/>
          </p:nvCxnSpPr>
          <p:spPr bwMode="gray">
            <a:xfrm flipH="1" flipV="1">
              <a:off x="6974292" y="3388797"/>
              <a:ext cx="331717" cy="96893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E594EC5-0C16-4327-BD47-EE27721C0F58}"/>
                </a:ext>
              </a:extLst>
            </p:cNvPr>
            <p:cNvCxnSpPr>
              <a:cxnSpLocks/>
              <a:stCxn id="71" idx="21"/>
              <a:endCxn id="84" idx="3"/>
            </p:cNvCxnSpPr>
            <p:nvPr/>
          </p:nvCxnSpPr>
          <p:spPr bwMode="gray">
            <a:xfrm flipH="1" flipV="1">
              <a:off x="7211554" y="3194674"/>
              <a:ext cx="2320974" cy="11220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9E9F661-E4D5-4DDE-B5B7-41B7E3C7D18D}"/>
                </a:ext>
              </a:extLst>
            </p:cNvPr>
            <p:cNvCxnSpPr>
              <a:cxnSpLocks/>
              <a:stCxn id="85" idx="2"/>
              <a:endCxn id="71" idx="8"/>
            </p:cNvCxnSpPr>
            <p:nvPr/>
          </p:nvCxnSpPr>
          <p:spPr bwMode="gray">
            <a:xfrm flipH="1">
              <a:off x="10726465" y="3388797"/>
              <a:ext cx="84529" cy="91617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B2FDB1E7-C5F1-4195-A889-0FBA33A3325A}"/>
                </a:ext>
              </a:extLst>
            </p:cNvPr>
            <p:cNvSpPr txBox="1"/>
            <p:nvPr/>
          </p:nvSpPr>
          <p:spPr bwMode="gray">
            <a:xfrm>
              <a:off x="6756151" y="2723550"/>
              <a:ext cx="460382" cy="276999"/>
            </a:xfrm>
            <a:prstGeom prst="rect">
              <a:avLst/>
            </a:prstGeom>
            <a:noFill/>
          </p:spPr>
          <p:txBody>
            <a:bodyPr wrap="none" rtlCol="0">
              <a:spAutoFit/>
            </a:bodyPr>
            <a:lstStyle/>
            <a:p>
              <a:r>
                <a:rPr lang="en-US" altLang="zh-CN" sz="1200" dirty="0"/>
                <a:t>RR1</a:t>
              </a:r>
              <a:endParaRPr lang="zh-CN" altLang="en-US" sz="1200" dirty="0"/>
            </a:p>
          </p:txBody>
        </p:sp>
        <p:sp>
          <p:nvSpPr>
            <p:cNvPr id="90" name="TextBox 89">
              <a:extLst>
                <a:ext uri="{FF2B5EF4-FFF2-40B4-BE49-F238E27FC236}">
                  <a16:creationId xmlns:a16="http://schemas.microsoft.com/office/drawing/2014/main" id="{AFC0D0DE-91E5-4470-AEDD-A1F6D9A9BD97}"/>
                </a:ext>
              </a:extLst>
            </p:cNvPr>
            <p:cNvSpPr txBox="1"/>
            <p:nvPr/>
          </p:nvSpPr>
          <p:spPr bwMode="gray">
            <a:xfrm>
              <a:off x="10587874" y="2741885"/>
              <a:ext cx="460382" cy="276999"/>
            </a:xfrm>
            <a:prstGeom prst="rect">
              <a:avLst/>
            </a:prstGeom>
            <a:noFill/>
          </p:spPr>
          <p:txBody>
            <a:bodyPr wrap="none" rtlCol="0">
              <a:spAutoFit/>
            </a:bodyPr>
            <a:lstStyle/>
            <a:p>
              <a:r>
                <a:rPr lang="en-US" altLang="zh-CN" sz="1200" dirty="0"/>
                <a:t>RR2</a:t>
              </a:r>
              <a:endParaRPr lang="zh-CN" altLang="en-US" sz="1200" dirty="0"/>
            </a:p>
          </p:txBody>
        </p:sp>
        <p:pic>
          <p:nvPicPr>
            <p:cNvPr id="91" name="Picture 12" descr="E:\2016.01\1.12 扁平化图标\蓝色\AR-蓝色最新-40.png">
              <a:extLst>
                <a:ext uri="{FF2B5EF4-FFF2-40B4-BE49-F238E27FC236}">
                  <a16:creationId xmlns:a16="http://schemas.microsoft.com/office/drawing/2014/main" id="{F8538B33-9B1B-4363-9CDC-B157B6D6E4A6}"/>
                </a:ext>
              </a:extLst>
            </p:cNvPr>
            <p:cNvPicPr>
              <a:picLocks noChangeAspect="1" noChangeArrowheads="1"/>
            </p:cNvPicPr>
            <p:nvPr/>
          </p:nvPicPr>
          <p:blipFill>
            <a:blip r:embed="rId3" cstate="print"/>
            <a:srcRect/>
            <a:stretch>
              <a:fillRect/>
            </a:stretch>
          </p:blipFill>
          <p:spPr bwMode="gray">
            <a:xfrm>
              <a:off x="7724870" y="2417632"/>
              <a:ext cx="474524" cy="388247"/>
            </a:xfrm>
            <a:prstGeom prst="rect">
              <a:avLst/>
            </a:prstGeom>
            <a:noFill/>
          </p:spPr>
        </p:pic>
        <p:pic>
          <p:nvPicPr>
            <p:cNvPr id="92" name="Picture 12" descr="E:\2016.01\1.12 扁平化图标\蓝色\AR-蓝色最新-40.png">
              <a:extLst>
                <a:ext uri="{FF2B5EF4-FFF2-40B4-BE49-F238E27FC236}">
                  <a16:creationId xmlns:a16="http://schemas.microsoft.com/office/drawing/2014/main" id="{F3933F20-B970-482E-8BF6-2C9B89D75F93}"/>
                </a:ext>
              </a:extLst>
            </p:cNvPr>
            <p:cNvPicPr>
              <a:picLocks noChangeAspect="1" noChangeArrowheads="1"/>
            </p:cNvPicPr>
            <p:nvPr/>
          </p:nvPicPr>
          <p:blipFill>
            <a:blip r:embed="rId3" cstate="print"/>
            <a:srcRect/>
            <a:stretch>
              <a:fillRect/>
            </a:stretch>
          </p:blipFill>
          <p:spPr bwMode="gray">
            <a:xfrm>
              <a:off x="9281357" y="2419314"/>
              <a:ext cx="474524" cy="388247"/>
            </a:xfrm>
            <a:prstGeom prst="rect">
              <a:avLst/>
            </a:prstGeom>
            <a:noFill/>
          </p:spPr>
        </p:pic>
        <p:cxnSp>
          <p:nvCxnSpPr>
            <p:cNvPr id="93" name="Straight Connector 92">
              <a:extLst>
                <a:ext uri="{FF2B5EF4-FFF2-40B4-BE49-F238E27FC236}">
                  <a16:creationId xmlns:a16="http://schemas.microsoft.com/office/drawing/2014/main" id="{15FF9833-CC3E-4C61-8D3A-96AC117ACCD1}"/>
                </a:ext>
              </a:extLst>
            </p:cNvPr>
            <p:cNvCxnSpPr>
              <a:cxnSpLocks/>
              <a:stCxn id="91" idx="3"/>
              <a:endCxn id="75" idx="1"/>
            </p:cNvCxnSpPr>
            <p:nvPr/>
          </p:nvCxnSpPr>
          <p:spPr bwMode="gray">
            <a:xfrm>
              <a:off x="8199394" y="2611756"/>
              <a:ext cx="146564" cy="13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5024BBCD-0396-4D8C-9725-B1B3D9331232}"/>
                </a:ext>
              </a:extLst>
            </p:cNvPr>
            <p:cNvCxnSpPr>
              <a:cxnSpLocks/>
              <a:stCxn id="76" idx="3"/>
              <a:endCxn id="92" idx="1"/>
            </p:cNvCxnSpPr>
            <p:nvPr/>
          </p:nvCxnSpPr>
          <p:spPr bwMode="gray">
            <a:xfrm>
              <a:off x="9113389" y="2612347"/>
              <a:ext cx="167968" cy="109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C1E57914-678B-47C2-8034-FA1E929A5903}"/>
                </a:ext>
              </a:extLst>
            </p:cNvPr>
            <p:cNvSpPr txBox="1"/>
            <p:nvPr/>
          </p:nvSpPr>
          <p:spPr bwMode="gray">
            <a:xfrm>
              <a:off x="7064387" y="5048243"/>
              <a:ext cx="575799" cy="276999"/>
            </a:xfrm>
            <a:prstGeom prst="rect">
              <a:avLst/>
            </a:prstGeom>
            <a:noFill/>
          </p:spPr>
          <p:txBody>
            <a:bodyPr wrap="none" rtlCol="0">
              <a:spAutoFit/>
            </a:bodyPr>
            <a:lstStyle/>
            <a:p>
              <a:r>
                <a:rPr lang="en-US" altLang="zh-CN" sz="1200" dirty="0"/>
                <a:t>EDGE</a:t>
              </a:r>
              <a:endParaRPr lang="zh-CN" altLang="en-US" sz="1200" dirty="0"/>
            </a:p>
          </p:txBody>
        </p:sp>
        <p:sp>
          <p:nvSpPr>
            <p:cNvPr id="96" name="TextBox 95">
              <a:extLst>
                <a:ext uri="{FF2B5EF4-FFF2-40B4-BE49-F238E27FC236}">
                  <a16:creationId xmlns:a16="http://schemas.microsoft.com/office/drawing/2014/main" id="{90619BAC-1194-4A33-BB58-51D4F6AB49A9}"/>
                </a:ext>
              </a:extLst>
            </p:cNvPr>
            <p:cNvSpPr txBox="1"/>
            <p:nvPr/>
          </p:nvSpPr>
          <p:spPr bwMode="gray">
            <a:xfrm>
              <a:off x="8747694" y="5057920"/>
              <a:ext cx="575799" cy="276999"/>
            </a:xfrm>
            <a:prstGeom prst="rect">
              <a:avLst/>
            </a:prstGeom>
            <a:noFill/>
          </p:spPr>
          <p:txBody>
            <a:bodyPr wrap="none" rtlCol="0">
              <a:spAutoFit/>
            </a:bodyPr>
            <a:lstStyle/>
            <a:p>
              <a:r>
                <a:rPr lang="en-US" altLang="zh-CN" sz="1200" dirty="0"/>
                <a:t>EDGE</a:t>
              </a:r>
              <a:endParaRPr lang="zh-CN" altLang="en-US" sz="1200" dirty="0"/>
            </a:p>
          </p:txBody>
        </p:sp>
        <p:sp>
          <p:nvSpPr>
            <p:cNvPr id="97" name="TextBox 96">
              <a:extLst>
                <a:ext uri="{FF2B5EF4-FFF2-40B4-BE49-F238E27FC236}">
                  <a16:creationId xmlns:a16="http://schemas.microsoft.com/office/drawing/2014/main" id="{5FE44E8A-4014-40EF-A6FE-40CFF6CFD3F7}"/>
                </a:ext>
              </a:extLst>
            </p:cNvPr>
            <p:cNvSpPr txBox="1"/>
            <p:nvPr/>
          </p:nvSpPr>
          <p:spPr bwMode="gray">
            <a:xfrm>
              <a:off x="10351555" y="5057920"/>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98" name="TextBox 97">
              <a:extLst>
                <a:ext uri="{FF2B5EF4-FFF2-40B4-BE49-F238E27FC236}">
                  <a16:creationId xmlns:a16="http://schemas.microsoft.com/office/drawing/2014/main" id="{B948E31C-87FF-4FAE-B750-A7125F4039AE}"/>
                </a:ext>
              </a:extLst>
            </p:cNvPr>
            <p:cNvSpPr txBox="1"/>
            <p:nvPr/>
          </p:nvSpPr>
          <p:spPr bwMode="gray">
            <a:xfrm>
              <a:off x="7542170" y="2170375"/>
              <a:ext cx="824265" cy="276999"/>
            </a:xfrm>
            <a:prstGeom prst="rect">
              <a:avLst/>
            </a:prstGeom>
            <a:noFill/>
          </p:spPr>
          <p:txBody>
            <a:bodyPr wrap="none" rtlCol="0">
              <a:spAutoFit/>
            </a:bodyPr>
            <a:lstStyle/>
            <a:p>
              <a:r>
                <a:rPr lang="en-US" altLang="zh-CN" sz="1200" dirty="0"/>
                <a:t>EDGE/RR</a:t>
              </a:r>
              <a:endParaRPr lang="zh-CN" altLang="en-US" sz="1200" dirty="0"/>
            </a:p>
          </p:txBody>
        </p:sp>
        <p:sp>
          <p:nvSpPr>
            <p:cNvPr id="99" name="TextBox 98">
              <a:extLst>
                <a:ext uri="{FF2B5EF4-FFF2-40B4-BE49-F238E27FC236}">
                  <a16:creationId xmlns:a16="http://schemas.microsoft.com/office/drawing/2014/main" id="{46AB2307-8093-4B0D-81BB-94F4BD598FEE}"/>
                </a:ext>
              </a:extLst>
            </p:cNvPr>
            <p:cNvSpPr txBox="1"/>
            <p:nvPr/>
          </p:nvSpPr>
          <p:spPr bwMode="gray">
            <a:xfrm>
              <a:off x="9120395" y="2176271"/>
              <a:ext cx="824265" cy="276999"/>
            </a:xfrm>
            <a:prstGeom prst="rect">
              <a:avLst/>
            </a:prstGeom>
            <a:noFill/>
          </p:spPr>
          <p:txBody>
            <a:bodyPr wrap="none" rtlCol="0">
              <a:spAutoFit/>
            </a:bodyPr>
            <a:lstStyle/>
            <a:p>
              <a:r>
                <a:rPr lang="en-US" altLang="zh-CN" sz="1200" dirty="0"/>
                <a:t>EDGE/RR</a:t>
              </a:r>
              <a:endParaRPr lang="zh-CN" altLang="en-US" sz="1200" dirty="0"/>
            </a:p>
          </p:txBody>
        </p:sp>
        <p:cxnSp>
          <p:nvCxnSpPr>
            <p:cNvPr id="100" name="Straight Connector 99">
              <a:extLst>
                <a:ext uri="{FF2B5EF4-FFF2-40B4-BE49-F238E27FC236}">
                  <a16:creationId xmlns:a16="http://schemas.microsoft.com/office/drawing/2014/main" id="{66C3A082-07FD-4DA7-9B84-B4831B3CBF6A}"/>
                </a:ext>
              </a:extLst>
            </p:cNvPr>
            <p:cNvCxnSpPr>
              <a:cxnSpLocks/>
              <a:stCxn id="76" idx="1"/>
              <a:endCxn id="75" idx="3"/>
            </p:cNvCxnSpPr>
            <p:nvPr/>
          </p:nvCxnSpPr>
          <p:spPr bwMode="gray">
            <a:xfrm flipH="1">
              <a:off x="8652747" y="2612347"/>
              <a:ext cx="153853" cy="76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1" name="Rectangular Callout 26">
              <a:extLst>
                <a:ext uri="{FF2B5EF4-FFF2-40B4-BE49-F238E27FC236}">
                  <a16:creationId xmlns:a16="http://schemas.microsoft.com/office/drawing/2014/main" id="{9F25B971-14A7-4B12-BF9C-CA0E40D5C883}"/>
                </a:ext>
              </a:extLst>
            </p:cNvPr>
            <p:cNvSpPr/>
            <p:nvPr/>
          </p:nvSpPr>
          <p:spPr bwMode="gray">
            <a:xfrm>
              <a:off x="5715969" y="2511435"/>
              <a:ext cx="988249" cy="330774"/>
            </a:xfrm>
            <a:prstGeom prst="wedgeRectCallout">
              <a:avLst>
                <a:gd name="adj1" fmla="val 44971"/>
                <a:gd name="adj2" fmla="val 11161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RR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02" name="图片 21">
              <a:extLst>
                <a:ext uri="{FF2B5EF4-FFF2-40B4-BE49-F238E27FC236}">
                  <a16:creationId xmlns:a16="http://schemas.microsoft.com/office/drawing/2014/main" id="{B4E9BD7C-725C-4AB8-B120-3058C4BEC9D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928433" y="4342728"/>
              <a:ext cx="467490" cy="382800"/>
            </a:xfrm>
            <a:prstGeom prst="rect">
              <a:avLst/>
            </a:prstGeom>
          </p:spPr>
        </p:pic>
        <p:sp>
          <p:nvSpPr>
            <p:cNvPr id="103" name="TextBox 102">
              <a:extLst>
                <a:ext uri="{FF2B5EF4-FFF2-40B4-BE49-F238E27FC236}">
                  <a16:creationId xmlns:a16="http://schemas.microsoft.com/office/drawing/2014/main" id="{18B1D364-4BA1-44C6-986B-C8A831ACA5AC}"/>
                </a:ext>
              </a:extLst>
            </p:cNvPr>
            <p:cNvSpPr txBox="1"/>
            <p:nvPr/>
          </p:nvSpPr>
          <p:spPr bwMode="gray">
            <a:xfrm>
              <a:off x="10339095" y="4494397"/>
              <a:ext cx="797013" cy="276999"/>
            </a:xfrm>
            <a:prstGeom prst="rect">
              <a:avLst/>
            </a:prstGeom>
            <a:noFill/>
          </p:spPr>
          <p:txBody>
            <a:bodyPr wrap="none" rtlCol="0">
              <a:spAutoFit/>
            </a:bodyPr>
            <a:lstStyle/>
            <a:p>
              <a:r>
                <a:rPr lang="en-US" altLang="zh-CN" sz="1200" dirty="0"/>
                <a:t>NAT</a:t>
              </a:r>
              <a:r>
                <a:rPr lang="zh-CN" altLang="en-US" sz="1200" dirty="0"/>
                <a:t>设备</a:t>
              </a:r>
            </a:p>
          </p:txBody>
        </p:sp>
        <p:pic>
          <p:nvPicPr>
            <p:cNvPr id="104" name="图片 21">
              <a:extLst>
                <a:ext uri="{FF2B5EF4-FFF2-40B4-BE49-F238E27FC236}">
                  <a16:creationId xmlns:a16="http://schemas.microsoft.com/office/drawing/2014/main" id="{C1542582-AF31-4F77-B7A5-18E631B5A4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786317" y="3696486"/>
              <a:ext cx="467490" cy="382800"/>
            </a:xfrm>
            <a:prstGeom prst="rect">
              <a:avLst/>
            </a:prstGeom>
          </p:spPr>
        </p:pic>
        <p:cxnSp>
          <p:nvCxnSpPr>
            <p:cNvPr id="105" name="Straight Connector 104">
              <a:extLst>
                <a:ext uri="{FF2B5EF4-FFF2-40B4-BE49-F238E27FC236}">
                  <a16:creationId xmlns:a16="http://schemas.microsoft.com/office/drawing/2014/main" id="{C62C2956-4979-4FEF-A743-88FA02F6D1A0}"/>
                </a:ext>
              </a:extLst>
            </p:cNvPr>
            <p:cNvCxnSpPr>
              <a:cxnSpLocks/>
              <a:stCxn id="85" idx="1"/>
              <a:endCxn id="70" idx="8"/>
            </p:cNvCxnSpPr>
            <p:nvPr/>
          </p:nvCxnSpPr>
          <p:spPr bwMode="gray">
            <a:xfrm flipH="1">
              <a:off x="8499946" y="3194674"/>
              <a:ext cx="2073786" cy="115129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6" name="Rectangular Callout 26">
              <a:extLst>
                <a:ext uri="{FF2B5EF4-FFF2-40B4-BE49-F238E27FC236}">
                  <a16:creationId xmlns:a16="http://schemas.microsoft.com/office/drawing/2014/main" id="{B1064846-4535-4B7D-ACB0-22007FA1C99A}"/>
                </a:ext>
              </a:extLst>
            </p:cNvPr>
            <p:cNvSpPr/>
            <p:nvPr/>
          </p:nvSpPr>
          <p:spPr bwMode="gray">
            <a:xfrm>
              <a:off x="10432122" y="4885078"/>
              <a:ext cx="797014" cy="418324"/>
            </a:xfrm>
            <a:prstGeom prst="wedgeRectCallout">
              <a:avLst>
                <a:gd name="adj1" fmla="val -50916"/>
                <a:gd name="adj2" fmla="val -8116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穿越设计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7" name="Rectangular Callout 26">
              <a:extLst>
                <a:ext uri="{FF2B5EF4-FFF2-40B4-BE49-F238E27FC236}">
                  <a16:creationId xmlns:a16="http://schemas.microsoft.com/office/drawing/2014/main" id="{6750BC9E-6454-4CAC-8101-927836B315A7}"/>
                </a:ext>
              </a:extLst>
            </p:cNvPr>
            <p:cNvSpPr/>
            <p:nvPr/>
          </p:nvSpPr>
          <p:spPr bwMode="gray">
            <a:xfrm>
              <a:off x="9901014" y="2314771"/>
              <a:ext cx="1133100" cy="330774"/>
            </a:xfrm>
            <a:prstGeom prst="wedgeRectCallout">
              <a:avLst>
                <a:gd name="adj1" fmla="val -60146"/>
                <a:gd name="adj2" fmla="val 162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网络超规设计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8" name="Freeform: Shape 107">
              <a:extLst>
                <a:ext uri="{FF2B5EF4-FFF2-40B4-BE49-F238E27FC236}">
                  <a16:creationId xmlns:a16="http://schemas.microsoft.com/office/drawing/2014/main" id="{0A15B812-9107-48B9-868A-FDE6436E1D61}"/>
                </a:ext>
              </a:extLst>
            </p:cNvPr>
            <p:cNvSpPr/>
            <p:nvPr/>
          </p:nvSpPr>
          <p:spPr bwMode="gray">
            <a:xfrm>
              <a:off x="7584572" y="2805880"/>
              <a:ext cx="433649" cy="2190598"/>
            </a:xfrm>
            <a:custGeom>
              <a:avLst/>
              <a:gdLst>
                <a:gd name="connsiteX0" fmla="*/ 99352 w 433649"/>
                <a:gd name="connsiteY0" fmla="*/ 2094271 h 2094271"/>
                <a:gd name="connsiteX1" fmla="*/ 20694 w 433649"/>
                <a:gd name="connsiteY1" fmla="*/ 1170039 h 2094271"/>
                <a:gd name="connsiteX2" fmla="*/ 433649 w 433649"/>
                <a:gd name="connsiteY2" fmla="*/ 0 h 2094271"/>
              </a:gdLst>
              <a:ahLst/>
              <a:cxnLst>
                <a:cxn ang="0">
                  <a:pos x="connsiteX0" y="connsiteY0"/>
                </a:cxn>
                <a:cxn ang="0">
                  <a:pos x="connsiteX1" y="connsiteY1"/>
                </a:cxn>
                <a:cxn ang="0">
                  <a:pos x="connsiteX2" y="connsiteY2"/>
                </a:cxn>
              </a:cxnLst>
              <a:rect l="l" t="t" r="r" b="b"/>
              <a:pathLst>
                <a:path w="433649" h="2094271">
                  <a:moveTo>
                    <a:pt x="99352" y="2094271"/>
                  </a:moveTo>
                  <a:cubicBezTo>
                    <a:pt x="32165" y="1806677"/>
                    <a:pt x="-35022" y="1519084"/>
                    <a:pt x="20694" y="1170039"/>
                  </a:cubicBezTo>
                  <a:cubicBezTo>
                    <a:pt x="76410" y="820994"/>
                    <a:pt x="255029" y="410497"/>
                    <a:pt x="433649" y="0"/>
                  </a:cubicBezTo>
                </a:path>
              </a:pathLst>
            </a:custGeom>
            <a:noFill/>
            <a:ln w="762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Freeform: Shape 108">
              <a:extLst>
                <a:ext uri="{FF2B5EF4-FFF2-40B4-BE49-F238E27FC236}">
                  <a16:creationId xmlns:a16="http://schemas.microsoft.com/office/drawing/2014/main" id="{8DBCFF57-91ED-4490-9A1E-FAAFD1382981}"/>
                </a:ext>
              </a:extLst>
            </p:cNvPr>
            <p:cNvSpPr/>
            <p:nvPr/>
          </p:nvSpPr>
          <p:spPr bwMode="gray">
            <a:xfrm>
              <a:off x="7890384" y="2809927"/>
              <a:ext cx="2116668" cy="2226209"/>
            </a:xfrm>
            <a:custGeom>
              <a:avLst/>
              <a:gdLst>
                <a:gd name="connsiteX0" fmla="*/ 0 w 1785798"/>
                <a:gd name="connsiteY0" fmla="*/ 2172929 h 2172929"/>
                <a:gd name="connsiteX1" fmla="*/ 1681317 w 1785798"/>
                <a:gd name="connsiteY1" fmla="*/ 1179871 h 2172929"/>
                <a:gd name="connsiteX2" fmla="*/ 1465007 w 1785798"/>
                <a:gd name="connsiteY2" fmla="*/ 0 h 2172929"/>
              </a:gdLst>
              <a:ahLst/>
              <a:cxnLst>
                <a:cxn ang="0">
                  <a:pos x="connsiteX0" y="connsiteY0"/>
                </a:cxn>
                <a:cxn ang="0">
                  <a:pos x="connsiteX1" y="connsiteY1"/>
                </a:cxn>
                <a:cxn ang="0">
                  <a:pos x="connsiteX2" y="connsiteY2"/>
                </a:cxn>
              </a:cxnLst>
              <a:rect l="l" t="t" r="r" b="b"/>
              <a:pathLst>
                <a:path w="1785798" h="2172929">
                  <a:moveTo>
                    <a:pt x="0" y="2172929"/>
                  </a:moveTo>
                  <a:cubicBezTo>
                    <a:pt x="718574" y="1857477"/>
                    <a:pt x="1437149" y="1542026"/>
                    <a:pt x="1681317" y="1179871"/>
                  </a:cubicBezTo>
                  <a:cubicBezTo>
                    <a:pt x="1925485" y="817716"/>
                    <a:pt x="1695246" y="408858"/>
                    <a:pt x="1465007" y="0"/>
                  </a:cubicBezTo>
                </a:path>
              </a:pathLst>
            </a:custGeom>
            <a:noFill/>
            <a:ln w="762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ectangular Callout 26">
              <a:extLst>
                <a:ext uri="{FF2B5EF4-FFF2-40B4-BE49-F238E27FC236}">
                  <a16:creationId xmlns:a16="http://schemas.microsoft.com/office/drawing/2014/main" id="{B0B29B80-896E-47FE-8C9C-659B5901783F}"/>
                </a:ext>
              </a:extLst>
            </p:cNvPr>
            <p:cNvSpPr/>
            <p:nvPr/>
          </p:nvSpPr>
          <p:spPr bwMode="gray">
            <a:xfrm>
              <a:off x="6331869" y="4417375"/>
              <a:ext cx="797014" cy="418324"/>
            </a:xfrm>
            <a:prstGeom prst="wedgeRectCallout">
              <a:avLst>
                <a:gd name="adj1" fmla="val 71214"/>
                <a:gd name="adj2" fmla="val -2240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数据隧道设计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Tree>
    <p:extLst>
      <p:ext uri="{BB962C8B-B14F-4D97-AF65-F5344CB8AC3E}">
        <p14:creationId xmlns:p14="http://schemas.microsoft.com/office/powerpoint/2010/main" val="21888162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隧道基本概念</a:t>
            </a:r>
          </a:p>
        </p:txBody>
      </p:sp>
      <p:sp>
        <p:nvSpPr>
          <p:cNvPr id="65" name="矩形 64"/>
          <p:cNvSpPr/>
          <p:nvPr/>
        </p:nvSpPr>
        <p:spPr bwMode="gray">
          <a:xfrm>
            <a:off x="5920464" y="973899"/>
            <a:ext cx="5549924" cy="4824398"/>
          </a:xfrm>
          <a:prstGeom prst="rect">
            <a:avLst/>
          </a:prstGeom>
        </p:spPr>
        <p:txBody>
          <a:bodyPr wrap="square">
            <a:spAutoFit/>
          </a:bodyPr>
          <a:lstStyle/>
          <a:p>
            <a:pPr marL="285750" indent="-285750">
              <a:lnSpc>
                <a:spcPts val="24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rPr>
              <a:t>Transport Network</a:t>
            </a:r>
            <a:r>
              <a:rPr lang="zh-CN" altLang="en-US" sz="1400" b="1" dirty="0">
                <a:latin typeface="Huawei Sans" panose="020C0503030203020204" pitchFamily="34" charset="0"/>
                <a:ea typeface="方正兰亭黑简体" panose="02000000000000000000" pitchFamily="2" charset="-122"/>
              </a:rPr>
              <a:t>（</a:t>
            </a:r>
            <a:r>
              <a:rPr lang="en-US" altLang="zh-CN" sz="1400" b="1" dirty="0">
                <a:latin typeface="Huawei Sans" panose="020C0503030203020204" pitchFamily="34" charset="0"/>
                <a:ea typeface="方正兰亭黑简体" panose="02000000000000000000" pitchFamily="2" charset="-122"/>
              </a:rPr>
              <a:t>TN</a:t>
            </a:r>
            <a:r>
              <a:rPr lang="zh-CN" altLang="en-US" sz="1400" b="1" dirty="0">
                <a:latin typeface="Huawei Sans" panose="020C0503030203020204" pitchFamily="34" charset="0"/>
                <a:ea typeface="方正兰亭黑简体" panose="02000000000000000000" pitchFamily="2" charset="-122"/>
              </a:rPr>
              <a:t>，传输网络）：</a:t>
            </a:r>
            <a:r>
              <a:rPr lang="zh-CN" altLang="en-US" sz="1400" dirty="0">
                <a:latin typeface="Huawei Sans" panose="020C0503030203020204" pitchFamily="34" charset="0"/>
                <a:ea typeface="方正兰亭黑简体" panose="02000000000000000000" pitchFamily="2" charset="-122"/>
              </a:rPr>
              <a:t>运营商提供的广域接入网络，实现企业的广域分支互联。</a:t>
            </a:r>
            <a:endParaRPr lang="en-US" altLang="zh-CN" sz="1400" dirty="0">
              <a:latin typeface="Huawei Sans" panose="020C0503030203020204" pitchFamily="34" charset="0"/>
              <a:ea typeface="方正兰亭黑简体" panose="02000000000000000000" pitchFamily="2" charset="-122"/>
            </a:endParaRPr>
          </a:p>
          <a:p>
            <a:pPr marL="285750" indent="-285750">
              <a:lnSpc>
                <a:spcPts val="24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rPr>
              <a:t>Routing Domain</a:t>
            </a:r>
            <a:r>
              <a:rPr lang="zh-CN" altLang="en-US" sz="1400" b="1" dirty="0">
                <a:latin typeface="Huawei Sans" panose="020C0503030203020204" pitchFamily="34" charset="0"/>
                <a:ea typeface="方正兰亭黑简体" panose="02000000000000000000" pitchFamily="2" charset="-122"/>
              </a:rPr>
              <a:t>（</a:t>
            </a:r>
            <a:r>
              <a:rPr lang="en-US" altLang="zh-CN" sz="1400" b="1" dirty="0">
                <a:latin typeface="Huawei Sans" panose="020C0503030203020204" pitchFamily="34" charset="0"/>
                <a:ea typeface="方正兰亭黑简体" panose="02000000000000000000" pitchFamily="2" charset="-122"/>
              </a:rPr>
              <a:t>RD</a:t>
            </a:r>
            <a:r>
              <a:rPr lang="zh-CN" altLang="en-US" sz="1400" b="1" dirty="0">
                <a:latin typeface="Huawei Sans" panose="020C0503030203020204" pitchFamily="34" charset="0"/>
                <a:ea typeface="方正兰亭黑简体" panose="02000000000000000000" pitchFamily="2" charset="-122"/>
              </a:rPr>
              <a:t>，路由域）：</a:t>
            </a:r>
            <a:r>
              <a:rPr lang="zh-CN" altLang="en-US" sz="1400" dirty="0">
                <a:latin typeface="Huawei Sans" panose="020C0503030203020204" pitchFamily="34" charset="0"/>
                <a:ea typeface="方正兰亭黑简体" panose="02000000000000000000" pitchFamily="2" charset="-122"/>
              </a:rPr>
              <a:t>若不同的</a:t>
            </a:r>
            <a:r>
              <a:rPr lang="en-US" altLang="zh-CN" sz="1400" dirty="0">
                <a:latin typeface="Huawei Sans" panose="020C0503030203020204" pitchFamily="34" charset="0"/>
                <a:ea typeface="方正兰亭黑简体" panose="02000000000000000000" pitchFamily="2" charset="-122"/>
              </a:rPr>
              <a:t>Transport Network</a:t>
            </a:r>
            <a:r>
              <a:rPr lang="zh-CN" altLang="en-US" sz="1400" dirty="0">
                <a:latin typeface="Huawei Sans" panose="020C0503030203020204" pitchFamily="34" charset="0"/>
                <a:ea typeface="方正兰亭黑简体" panose="02000000000000000000" pitchFamily="2" charset="-122"/>
              </a:rPr>
              <a:t>彼此之间路由可达，或如左图</a:t>
            </a:r>
            <a:r>
              <a:rPr lang="en-US" altLang="zh-CN" sz="1400" dirty="0">
                <a:latin typeface="Huawei Sans" panose="020C0503030203020204" pitchFamily="34" charset="0"/>
                <a:ea typeface="方正兰亭黑简体" panose="02000000000000000000" pitchFamily="2" charset="-122"/>
              </a:rPr>
              <a:t>ISP-B</a:t>
            </a:r>
            <a:r>
              <a:rPr lang="zh-CN" altLang="en-US" sz="1400" dirty="0">
                <a:latin typeface="Huawei Sans" panose="020C0503030203020204" pitchFamily="34" charset="0"/>
                <a:ea typeface="方正兰亭黑简体" panose="02000000000000000000" pitchFamily="2" charset="-122"/>
              </a:rPr>
              <a:t>和</a:t>
            </a:r>
            <a:r>
              <a:rPr lang="en-US" altLang="zh-CN" sz="1400" dirty="0">
                <a:latin typeface="Huawei Sans" panose="020C0503030203020204" pitchFamily="34" charset="0"/>
                <a:ea typeface="方正兰亭黑简体" panose="02000000000000000000" pitchFamily="2" charset="-122"/>
              </a:rPr>
              <a:t>ISP-C</a:t>
            </a:r>
            <a:r>
              <a:rPr lang="zh-CN" altLang="en-US" sz="1400" dirty="0">
                <a:latin typeface="Huawei Sans" panose="020C0503030203020204" pitchFamily="34" charset="0"/>
                <a:ea typeface="方正兰亭黑简体" panose="02000000000000000000" pitchFamily="2" charset="-122"/>
              </a:rPr>
              <a:t>提供的</a:t>
            </a:r>
            <a:r>
              <a:rPr lang="en-US" altLang="zh-CN" sz="1400" dirty="0">
                <a:latin typeface="Huawei Sans" panose="020C0503030203020204" pitchFamily="34" charset="0"/>
                <a:ea typeface="方正兰亭黑简体" panose="02000000000000000000" pitchFamily="2" charset="-122"/>
              </a:rPr>
              <a:t>Internet</a:t>
            </a:r>
            <a:r>
              <a:rPr lang="zh-CN" altLang="en-US" sz="1400" dirty="0">
                <a:latin typeface="Huawei Sans" panose="020C0503030203020204" pitchFamily="34" charset="0"/>
                <a:ea typeface="方正兰亭黑简体" panose="02000000000000000000" pitchFamily="2" charset="-122"/>
              </a:rPr>
              <a:t>彼此能够互通，则认为它们在同一个</a:t>
            </a:r>
            <a:r>
              <a:rPr lang="en-US" altLang="zh-CN" sz="1400" dirty="0">
                <a:latin typeface="Huawei Sans" panose="020C0503030203020204" pitchFamily="34" charset="0"/>
                <a:ea typeface="方正兰亭黑简体" panose="02000000000000000000" pitchFamily="2" charset="-122"/>
              </a:rPr>
              <a:t>Routing Domain</a:t>
            </a:r>
            <a:r>
              <a:rPr lang="zh-CN" altLang="en-US" sz="1400" dirty="0">
                <a:latin typeface="Huawei Sans" panose="020C0503030203020204" pitchFamily="34" charset="0"/>
                <a:ea typeface="方正兰亭黑简体" panose="02000000000000000000" pitchFamily="2" charset="-122"/>
              </a:rPr>
              <a:t>内。</a:t>
            </a:r>
            <a:endParaRPr lang="en-US" altLang="zh-CN" sz="1400" dirty="0">
              <a:latin typeface="Huawei Sans" panose="020C0503030203020204" pitchFamily="34" charset="0"/>
              <a:ea typeface="方正兰亭黑简体" panose="02000000000000000000" pitchFamily="2" charset="-122"/>
            </a:endParaRPr>
          </a:p>
          <a:p>
            <a:pPr marL="285750" indent="-285750">
              <a:lnSpc>
                <a:spcPts val="24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rPr>
              <a:t>Site ID</a:t>
            </a:r>
            <a:r>
              <a:rPr lang="zh-CN" altLang="en-US" sz="1400" b="1" dirty="0">
                <a:latin typeface="Huawei Sans" panose="020C0503030203020204" pitchFamily="34" charset="0"/>
                <a:ea typeface="方正兰亭黑简体" panose="02000000000000000000" pitchFamily="2" charset="-122"/>
              </a:rPr>
              <a:t>：</a:t>
            </a:r>
            <a:r>
              <a:rPr lang="zh-CN" altLang="en-US" sz="1400" dirty="0">
                <a:latin typeface="Huawei Sans" panose="020C0503030203020204" pitchFamily="34" charset="0"/>
                <a:ea typeface="方正兰亭黑简体" panose="02000000000000000000" pitchFamily="2" charset="-122"/>
              </a:rPr>
              <a:t>租户站点的全局唯一标识，数值由控制器分配。</a:t>
            </a:r>
          </a:p>
          <a:p>
            <a:pPr marL="285750" indent="-285750">
              <a:lnSpc>
                <a:spcPts val="24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rPr>
              <a:t>CPE Router ID</a:t>
            </a:r>
            <a:r>
              <a:rPr lang="zh-CN" altLang="en-US" sz="1400" b="1" dirty="0">
                <a:latin typeface="Huawei Sans" panose="020C0503030203020204" pitchFamily="34" charset="0"/>
                <a:ea typeface="方正兰亭黑简体" panose="02000000000000000000" pitchFamily="2" charset="-122"/>
              </a:rPr>
              <a:t>：</a:t>
            </a:r>
            <a:r>
              <a:rPr lang="zh-CN" altLang="en-US" sz="1400" dirty="0">
                <a:latin typeface="Huawei Sans" panose="020C0503030203020204" pitchFamily="34" charset="0"/>
                <a:ea typeface="方正兰亭黑简体" panose="02000000000000000000" pitchFamily="2" charset="-122"/>
              </a:rPr>
              <a:t>站点</a:t>
            </a:r>
            <a:r>
              <a:rPr lang="en-US" altLang="zh-CN" sz="1400" dirty="0">
                <a:latin typeface="Huawei Sans" panose="020C0503030203020204" pitchFamily="34" charset="0"/>
                <a:ea typeface="方正兰亭黑简体" panose="02000000000000000000" pitchFamily="2" charset="-122"/>
              </a:rPr>
              <a:t>CPE</a:t>
            </a:r>
            <a:r>
              <a:rPr lang="zh-CN" altLang="en-US" sz="1400" dirty="0">
                <a:latin typeface="Huawei Sans" panose="020C0503030203020204" pitchFamily="34" charset="0"/>
                <a:ea typeface="方正兰亭黑简体" panose="02000000000000000000" pitchFamily="2" charset="-122"/>
              </a:rPr>
              <a:t>的全局唯一标识，一个站点可以包含</a:t>
            </a:r>
            <a:r>
              <a:rPr lang="en-US" altLang="zh-CN" sz="1400" dirty="0">
                <a:latin typeface="Huawei Sans" panose="020C0503030203020204" pitchFamily="34" charset="0"/>
                <a:ea typeface="方正兰亭黑简体" panose="02000000000000000000" pitchFamily="2" charset="-122"/>
              </a:rPr>
              <a:t>1~2</a:t>
            </a:r>
            <a:r>
              <a:rPr lang="zh-CN" altLang="en-US" sz="1400" dirty="0">
                <a:latin typeface="Huawei Sans" panose="020C0503030203020204" pitchFamily="34" charset="0"/>
                <a:ea typeface="方正兰亭黑简体" panose="02000000000000000000" pitchFamily="2" charset="-122"/>
              </a:rPr>
              <a:t>个</a:t>
            </a:r>
            <a:r>
              <a:rPr lang="en-US" altLang="zh-CN" sz="1400" dirty="0">
                <a:latin typeface="Huawei Sans" panose="020C0503030203020204" pitchFamily="34" charset="0"/>
                <a:ea typeface="方正兰亭黑简体" panose="02000000000000000000" pitchFamily="2" charset="-122"/>
              </a:rPr>
              <a:t>CPE</a:t>
            </a:r>
            <a:r>
              <a:rPr lang="zh-CN" altLang="en-US" sz="1400" dirty="0">
                <a:latin typeface="Huawei Sans" panose="020C0503030203020204" pitchFamily="34" charset="0"/>
                <a:ea typeface="方正兰亭黑简体" panose="02000000000000000000" pitchFamily="2" charset="-122"/>
              </a:rPr>
              <a:t>设备，一般使用设备环回地址。</a:t>
            </a:r>
          </a:p>
          <a:p>
            <a:pPr marL="285750" lvl="1" indent="-285750">
              <a:lnSpc>
                <a:spcPts val="2400"/>
              </a:lnSpc>
              <a:spcBef>
                <a:spcPts val="300"/>
              </a:spcBef>
              <a:spcAft>
                <a:spcPts val="600"/>
              </a:spcAft>
              <a:buSzPct val="100000"/>
              <a:buFont typeface="Arial" panose="020B0604020202020204" pitchFamily="34" charset="0"/>
              <a:buChar char="•"/>
              <a:defRPr/>
            </a:pPr>
            <a:r>
              <a:rPr lang="en-US" altLang="zh-CN" sz="1400" b="1" dirty="0">
                <a:latin typeface="Huawei Sans" panose="020C0503030203020204" pitchFamily="34" charset="0"/>
                <a:ea typeface="方正兰亭黑简体" panose="02000000000000000000" pitchFamily="2" charset="-122"/>
              </a:rPr>
              <a:t>WAN Link</a:t>
            </a:r>
            <a:r>
              <a:rPr lang="zh-CN" altLang="en-US" sz="1400" b="1"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WAN</a:t>
            </a:r>
            <a:r>
              <a:rPr lang="zh-CN" altLang="en-US" sz="1400" dirty="0">
                <a:latin typeface="Huawei Sans" panose="020C0503030203020204" pitchFamily="34" charset="0"/>
                <a:ea typeface="方正兰亭黑简体" panose="02000000000000000000" pitchFamily="2" charset="-122"/>
              </a:rPr>
              <a:t>接口连接的链路为</a:t>
            </a:r>
            <a:r>
              <a:rPr lang="en-US" altLang="zh-CN" sz="1400" dirty="0">
                <a:latin typeface="Huawei Sans" panose="020C0503030203020204" pitchFamily="34" charset="0"/>
                <a:ea typeface="方正兰亭黑简体" panose="02000000000000000000" pitchFamily="2" charset="-122"/>
              </a:rPr>
              <a:t>WAN LINK</a:t>
            </a:r>
            <a:r>
              <a:rPr lang="zh-CN" altLang="en-US" sz="1400" dirty="0">
                <a:latin typeface="Huawei Sans" panose="020C0503030203020204" pitchFamily="34" charset="0"/>
                <a:ea typeface="方正兰亭黑简体" panose="02000000000000000000" pitchFamily="2" charset="-122"/>
              </a:rPr>
              <a:t>，其与</a:t>
            </a:r>
            <a:r>
              <a:rPr lang="en-US" altLang="zh-CN" sz="1400" dirty="0">
                <a:latin typeface="Huawei Sans" panose="020C0503030203020204" pitchFamily="34" charset="0"/>
                <a:ea typeface="方正兰亭黑简体" panose="02000000000000000000" pitchFamily="2" charset="-122"/>
              </a:rPr>
              <a:t>WAN</a:t>
            </a:r>
            <a:r>
              <a:rPr lang="zh-CN" altLang="en-US" sz="1400" dirty="0">
                <a:latin typeface="Huawei Sans" panose="020C0503030203020204" pitchFamily="34" charset="0"/>
                <a:ea typeface="方正兰亭黑简体" panose="02000000000000000000" pitchFamily="2" charset="-122"/>
              </a:rPr>
              <a:t>口一一对应，其上可以配置地址获取方式、链路速率协商、签约带宽等。</a:t>
            </a:r>
          </a:p>
          <a:p>
            <a:pPr marL="285750" indent="-285750">
              <a:lnSpc>
                <a:spcPts val="24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rPr>
              <a:t>TNP</a:t>
            </a:r>
            <a:r>
              <a:rPr lang="zh-CN" altLang="en-US" sz="1400" b="1"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CPE</a:t>
            </a:r>
            <a:r>
              <a:rPr lang="zh-CN" altLang="en-US" sz="1400" dirty="0">
                <a:latin typeface="Huawei Sans" panose="020C0503030203020204" pitchFamily="34" charset="0"/>
                <a:ea typeface="方正兰亭黑简体" panose="02000000000000000000" pitchFamily="2" charset="-122"/>
              </a:rPr>
              <a:t>接入</a:t>
            </a:r>
            <a:r>
              <a:rPr lang="en-US" altLang="zh-CN" sz="1400" dirty="0">
                <a:latin typeface="Huawei Sans" panose="020C0503030203020204" pitchFamily="34" charset="0"/>
                <a:ea typeface="方正兰亭黑简体" panose="02000000000000000000" pitchFamily="2" charset="-122"/>
              </a:rPr>
              <a:t>Transport Network</a:t>
            </a:r>
            <a:r>
              <a:rPr lang="zh-CN" altLang="en-US" sz="1400" dirty="0">
                <a:latin typeface="Huawei Sans" panose="020C0503030203020204" pitchFamily="34" charset="0"/>
                <a:ea typeface="方正兰亭黑简体" panose="02000000000000000000" pitchFamily="2" charset="-122"/>
              </a:rPr>
              <a:t>的</a:t>
            </a:r>
            <a:r>
              <a:rPr lang="en-US" altLang="zh-CN" sz="1400" dirty="0">
                <a:latin typeface="Huawei Sans" panose="020C0503030203020204" pitchFamily="34" charset="0"/>
                <a:ea typeface="方正兰亭黑简体" panose="02000000000000000000" pitchFamily="2" charset="-122"/>
              </a:rPr>
              <a:t>WAN</a:t>
            </a:r>
            <a:r>
              <a:rPr lang="zh-CN" altLang="en-US" sz="1400" dirty="0">
                <a:latin typeface="Huawei Sans" panose="020C0503030203020204" pitchFamily="34" charset="0"/>
                <a:ea typeface="方正兰亭黑简体" panose="02000000000000000000" pitchFamily="2" charset="-122"/>
              </a:rPr>
              <a:t>接口，关键信息包括：</a:t>
            </a:r>
            <a:r>
              <a:rPr lang="en-US" altLang="zh-CN" sz="1400" dirty="0">
                <a:latin typeface="Huawei Sans" panose="020C0503030203020204" pitchFamily="34" charset="0"/>
                <a:ea typeface="方正兰亭黑简体" panose="02000000000000000000" pitchFamily="2" charset="-122"/>
              </a:rPr>
              <a:t>Site ID</a:t>
            </a:r>
            <a:r>
              <a:rPr lang="zh-CN" altLang="en-US" sz="1400"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CPE Router ID</a:t>
            </a:r>
            <a:r>
              <a:rPr lang="zh-CN" altLang="en-US" sz="1400"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Transport Network-ID</a:t>
            </a:r>
            <a:r>
              <a:rPr lang="zh-CN" altLang="en-US" sz="1400"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public IP</a:t>
            </a:r>
            <a:r>
              <a:rPr lang="zh-CN" altLang="en-US" sz="1400"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private IP</a:t>
            </a:r>
            <a:r>
              <a:rPr lang="zh-CN" altLang="en-US" sz="1400"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Tunnel Encapsulation</a:t>
            </a:r>
            <a:r>
              <a:rPr lang="zh-CN" altLang="en-US" sz="1400" dirty="0">
                <a:latin typeface="Huawei Sans" panose="020C0503030203020204" pitchFamily="34" charset="0"/>
                <a:ea typeface="方正兰亭黑简体" panose="02000000000000000000" pitchFamily="2" charset="-122"/>
              </a:rPr>
              <a:t>等。</a:t>
            </a:r>
            <a:endParaRPr lang="en-US" altLang="zh-CN" sz="1400" dirty="0">
              <a:latin typeface="Huawei Sans" panose="020C0503030203020204" pitchFamily="34" charset="0"/>
              <a:ea typeface="方正兰亭黑简体" panose="02000000000000000000" pitchFamily="2" charset="-122"/>
            </a:endParaRPr>
          </a:p>
        </p:txBody>
      </p:sp>
      <p:grpSp>
        <p:nvGrpSpPr>
          <p:cNvPr id="7" name="Group 6">
            <a:extLst>
              <a:ext uri="{FF2B5EF4-FFF2-40B4-BE49-F238E27FC236}">
                <a16:creationId xmlns:a16="http://schemas.microsoft.com/office/drawing/2014/main" id="{E005FFF6-FBEE-4040-AEEB-9B3D75026B54}"/>
              </a:ext>
            </a:extLst>
          </p:cNvPr>
          <p:cNvGrpSpPr/>
          <p:nvPr/>
        </p:nvGrpSpPr>
        <p:grpSpPr>
          <a:xfrm>
            <a:off x="864691" y="1176504"/>
            <a:ext cx="4891998" cy="4961650"/>
            <a:chOff x="864691" y="1176504"/>
            <a:chExt cx="4891998" cy="4961650"/>
          </a:xfrm>
        </p:grpSpPr>
        <p:pic>
          <p:nvPicPr>
            <p:cNvPr id="4" name="图片 3"/>
            <p:cNvPicPr>
              <a:picLocks noChangeAspect="1"/>
            </p:cNvPicPr>
            <p:nvPr/>
          </p:nvPicPr>
          <p:blipFill>
            <a:blip r:embed="rId3"/>
            <a:stretch>
              <a:fillRect/>
            </a:stretch>
          </p:blipFill>
          <p:spPr bwMode="gray">
            <a:xfrm>
              <a:off x="2243092" y="5095844"/>
              <a:ext cx="563738" cy="459037"/>
            </a:xfrm>
            <a:prstGeom prst="rect">
              <a:avLst/>
            </a:prstGeom>
          </p:spPr>
        </p:pic>
        <p:sp>
          <p:nvSpPr>
            <p:cNvPr id="5" name="Rectangle 296"/>
            <p:cNvSpPr/>
            <p:nvPr/>
          </p:nvSpPr>
          <p:spPr bwMode="gray">
            <a:xfrm>
              <a:off x="3082916" y="4913439"/>
              <a:ext cx="2596317" cy="930927"/>
            </a:xfrm>
            <a:prstGeom prst="rect">
              <a:avLst/>
            </a:prstGeom>
            <a:solidFill>
              <a:srgbClr val="FFFFFF">
                <a:lumMod val="95000"/>
              </a:srgbClr>
            </a:solidFill>
            <a:ln w="12700" cap="flat">
              <a:solidFill>
                <a:srgbClr val="282828">
                  <a:lumMod val="25000"/>
                  <a:lumOff val="75000"/>
                </a:srgbClr>
              </a:solidFill>
              <a:prstDash val="sysDash"/>
              <a:miter lim="800000"/>
              <a:headEnd type="none" w="med" len="med"/>
              <a:tailEnd type="none" w="med" len="med"/>
            </a:ln>
          </p:spPr>
          <p:txBody>
            <a:bodyPr lIns="121888" tIns="60944" rIns="121888" bIns="60944" rtlCol="0" anchor="ctr"/>
            <a:lstStyle/>
            <a:p>
              <a:pPr algn="ctr" defTabSz="685583">
                <a:defRPr/>
              </a:pPr>
              <a:endParaRPr lang="en-US" sz="1067" kern="0" dirty="0">
                <a:solidFill>
                  <a:srgbClr val="005073"/>
                </a:solidFill>
                <a:latin typeface="Huawei Sans" panose="020C0503030203020204" pitchFamily="34" charset="0"/>
                <a:ea typeface="方正兰亭黑简体" panose="02000000000000000000" pitchFamily="2" charset="-122"/>
                <a:cs typeface="Huawei Sans" panose="020C0503030203020204" pitchFamily="34" charset="0"/>
                <a:sym typeface="Arial" pitchFamily="-107" charset="0"/>
              </a:endParaRPr>
            </a:p>
          </p:txBody>
        </p:sp>
        <p:sp>
          <p:nvSpPr>
            <p:cNvPr id="6" name="Rectangle 296"/>
            <p:cNvSpPr/>
            <p:nvPr/>
          </p:nvSpPr>
          <p:spPr bwMode="gray">
            <a:xfrm>
              <a:off x="1963243" y="1456380"/>
              <a:ext cx="2716707" cy="908999"/>
            </a:xfrm>
            <a:prstGeom prst="rect">
              <a:avLst/>
            </a:prstGeom>
            <a:solidFill>
              <a:srgbClr val="FFFFFF">
                <a:lumMod val="95000"/>
              </a:srgbClr>
            </a:solidFill>
            <a:ln w="12700" cap="flat">
              <a:solidFill>
                <a:srgbClr val="282828">
                  <a:lumMod val="25000"/>
                  <a:lumOff val="75000"/>
                </a:srgbClr>
              </a:solidFill>
              <a:prstDash val="sysDash"/>
              <a:miter lim="800000"/>
              <a:headEnd type="none" w="med" len="med"/>
              <a:tailEnd type="none" w="med" len="med"/>
            </a:ln>
          </p:spPr>
          <p:txBody>
            <a:bodyPr lIns="121888" tIns="60944" rIns="121888" bIns="60944" rtlCol="0" anchor="ctr"/>
            <a:lstStyle/>
            <a:p>
              <a:pPr algn="ctr" defTabSz="685583">
                <a:defRPr/>
              </a:pPr>
              <a:endParaRPr lang="en-US" sz="1067" kern="0" dirty="0">
                <a:solidFill>
                  <a:srgbClr val="005073"/>
                </a:solidFill>
                <a:latin typeface="Huawei Sans" panose="020C0503030203020204" pitchFamily="34" charset="0"/>
                <a:ea typeface="方正兰亭黑简体" panose="02000000000000000000" pitchFamily="2" charset="-122"/>
                <a:cs typeface="Huawei Sans" panose="020C0503030203020204" pitchFamily="34" charset="0"/>
                <a:sym typeface="Arial" pitchFamily="-107" charset="0"/>
              </a:endParaRPr>
            </a:p>
          </p:txBody>
        </p:sp>
        <p:cxnSp>
          <p:nvCxnSpPr>
            <p:cNvPr id="8" name="直接连接符 78"/>
            <p:cNvCxnSpPr>
              <a:cxnSpLocks noChangeShapeType="1"/>
              <a:stCxn id="38" idx="2"/>
              <a:endCxn id="62" idx="1"/>
            </p:cNvCxnSpPr>
            <p:nvPr/>
          </p:nvCxnSpPr>
          <p:spPr bwMode="gray">
            <a:xfrm flipH="1">
              <a:off x="1702951" y="2235877"/>
              <a:ext cx="1158920" cy="1064070"/>
            </a:xfrm>
            <a:prstGeom prst="line">
              <a:avLst/>
            </a:prstGeom>
            <a:noFill/>
            <a:ln w="19050" algn="ctr">
              <a:solidFill>
                <a:schemeClr val="bg1">
                  <a:lumMod val="50000"/>
                </a:schemeClr>
              </a:solidFill>
              <a:round/>
              <a:headEnd/>
              <a:tailEnd/>
            </a:ln>
          </p:spPr>
        </p:cxnSp>
        <p:sp>
          <p:nvSpPr>
            <p:cNvPr id="9" name="文本框 8"/>
            <p:cNvSpPr txBox="1"/>
            <p:nvPr/>
          </p:nvSpPr>
          <p:spPr bwMode="gray">
            <a:xfrm>
              <a:off x="1963243" y="1177222"/>
              <a:ext cx="825964" cy="276999"/>
            </a:xfrm>
            <a:prstGeom prst="rect">
              <a:avLst/>
            </a:prstGeom>
            <a:noFill/>
          </p:spPr>
          <p:txBody>
            <a:bodyPr wrap="square" rtlCol="0">
              <a:sp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总部站点</a:t>
              </a:r>
            </a:p>
          </p:txBody>
        </p:sp>
        <p:sp>
          <p:nvSpPr>
            <p:cNvPr id="12" name="文本框 11"/>
            <p:cNvSpPr txBox="1"/>
            <p:nvPr/>
          </p:nvSpPr>
          <p:spPr bwMode="gray">
            <a:xfrm>
              <a:off x="3648123" y="4080634"/>
              <a:ext cx="1142548" cy="276999"/>
            </a:xfrm>
            <a:prstGeom prst="rect">
              <a:avLst/>
            </a:prstGeom>
            <a:noFill/>
          </p:spPr>
          <p:txBody>
            <a:bodyPr wrap="square" rtlCol="0">
              <a:spAutoFit/>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rPr>
                <a:t>RD</a:t>
              </a:r>
              <a:r>
                <a:rPr lang="zh-CN" altLang="en-US" sz="1200" dirty="0">
                  <a:solidFill>
                    <a:srgbClr val="000000"/>
                  </a:solidFill>
                  <a:latin typeface="Huawei Sans" panose="020C0503030203020204" pitchFamily="34" charset="0"/>
                  <a:ea typeface="方正兰亭黑简体" panose="02000000000000000000" pitchFamily="2" charset="-122"/>
                </a:rPr>
                <a:t>：</a:t>
              </a:r>
              <a:r>
                <a:rPr lang="en-US" altLang="zh-CN" sz="1200" dirty="0">
                  <a:solidFill>
                    <a:srgbClr val="000000"/>
                  </a:solidFill>
                  <a:latin typeface="Huawei Sans" panose="020C0503030203020204" pitchFamily="34" charset="0"/>
                  <a:ea typeface="方正兰亭黑简体" panose="02000000000000000000" pitchFamily="2" charset="-122"/>
                </a:rPr>
                <a:t>Internet</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13" name="Rectangle 296"/>
            <p:cNvSpPr/>
            <p:nvPr/>
          </p:nvSpPr>
          <p:spPr bwMode="gray">
            <a:xfrm>
              <a:off x="1645300" y="4920917"/>
              <a:ext cx="1318565" cy="930927"/>
            </a:xfrm>
            <a:prstGeom prst="rect">
              <a:avLst/>
            </a:prstGeom>
            <a:solidFill>
              <a:srgbClr val="FFFFFF">
                <a:lumMod val="95000"/>
              </a:srgbClr>
            </a:solidFill>
            <a:ln w="12700" cap="flat">
              <a:solidFill>
                <a:srgbClr val="282828">
                  <a:lumMod val="25000"/>
                  <a:lumOff val="75000"/>
                </a:srgbClr>
              </a:solidFill>
              <a:prstDash val="sysDash"/>
              <a:miter lim="800000"/>
              <a:headEnd type="none" w="med" len="med"/>
              <a:tailEnd type="none" w="med" len="med"/>
            </a:ln>
          </p:spPr>
          <p:txBody>
            <a:bodyPr lIns="121888" tIns="60944" rIns="121888" bIns="60944" rtlCol="0" anchor="ctr"/>
            <a:lstStyle/>
            <a:p>
              <a:pPr algn="ctr" defTabSz="685583">
                <a:defRPr/>
              </a:pPr>
              <a:endParaRPr lang="en-US" sz="1067" kern="0" dirty="0">
                <a:solidFill>
                  <a:srgbClr val="005073"/>
                </a:solidFill>
                <a:latin typeface="Huawei Sans" panose="020C0503030203020204" pitchFamily="34" charset="0"/>
                <a:ea typeface="方正兰亭黑简体" panose="02000000000000000000" pitchFamily="2" charset="-122"/>
                <a:cs typeface="Huawei Sans" panose="020C0503030203020204" pitchFamily="34" charset="0"/>
                <a:sym typeface="Arial" pitchFamily="-107" charset="0"/>
              </a:endParaRPr>
            </a:p>
          </p:txBody>
        </p:sp>
        <p:cxnSp>
          <p:nvCxnSpPr>
            <p:cNvPr id="14" name="直接连接符 78"/>
            <p:cNvCxnSpPr>
              <a:cxnSpLocks noChangeShapeType="1"/>
              <a:stCxn id="35" idx="0"/>
            </p:cNvCxnSpPr>
            <p:nvPr/>
          </p:nvCxnSpPr>
          <p:spPr bwMode="gray">
            <a:xfrm flipH="1" flipV="1">
              <a:off x="1622496" y="3716024"/>
              <a:ext cx="660586" cy="1388406"/>
            </a:xfrm>
            <a:prstGeom prst="line">
              <a:avLst/>
            </a:prstGeom>
            <a:noFill/>
            <a:ln w="19050" algn="ctr">
              <a:solidFill>
                <a:schemeClr val="bg1">
                  <a:lumMod val="50000"/>
                </a:schemeClr>
              </a:solidFill>
              <a:round/>
              <a:headEnd/>
              <a:tailEnd/>
            </a:ln>
          </p:spPr>
        </p:cxnSp>
        <p:cxnSp>
          <p:nvCxnSpPr>
            <p:cNvPr id="15" name="直接连接符 78"/>
            <p:cNvCxnSpPr>
              <a:cxnSpLocks noChangeShapeType="1"/>
              <a:stCxn id="35" idx="0"/>
            </p:cNvCxnSpPr>
            <p:nvPr/>
          </p:nvCxnSpPr>
          <p:spPr bwMode="gray">
            <a:xfrm flipV="1">
              <a:off x="2283082" y="3765882"/>
              <a:ext cx="1018248" cy="1338548"/>
            </a:xfrm>
            <a:prstGeom prst="line">
              <a:avLst/>
            </a:prstGeom>
            <a:noFill/>
            <a:ln w="19050" algn="ctr">
              <a:solidFill>
                <a:schemeClr val="bg1">
                  <a:lumMod val="50000"/>
                </a:schemeClr>
              </a:solidFill>
              <a:round/>
              <a:headEnd/>
              <a:tailEnd/>
            </a:ln>
          </p:spPr>
        </p:cxnSp>
        <p:cxnSp>
          <p:nvCxnSpPr>
            <p:cNvPr id="17" name="直接连接符 78"/>
            <p:cNvCxnSpPr>
              <a:cxnSpLocks noChangeShapeType="1"/>
              <a:endCxn id="37" idx="0"/>
            </p:cNvCxnSpPr>
            <p:nvPr/>
          </p:nvCxnSpPr>
          <p:spPr bwMode="gray">
            <a:xfrm flipH="1">
              <a:off x="4801539" y="3741157"/>
              <a:ext cx="405978" cy="1363273"/>
            </a:xfrm>
            <a:prstGeom prst="line">
              <a:avLst/>
            </a:prstGeom>
            <a:noFill/>
            <a:ln w="19050" algn="ctr">
              <a:solidFill>
                <a:schemeClr val="bg1">
                  <a:lumMod val="50000"/>
                </a:schemeClr>
              </a:solidFill>
              <a:round/>
              <a:headEnd/>
              <a:tailEnd/>
            </a:ln>
          </p:spPr>
        </p:cxnSp>
        <p:cxnSp>
          <p:nvCxnSpPr>
            <p:cNvPr id="18" name="直接连接符 78"/>
            <p:cNvCxnSpPr>
              <a:cxnSpLocks noChangeShapeType="1"/>
              <a:stCxn id="39" idx="1"/>
              <a:endCxn id="38" idx="3"/>
            </p:cNvCxnSpPr>
            <p:nvPr/>
          </p:nvCxnSpPr>
          <p:spPr bwMode="gray">
            <a:xfrm flipH="1">
              <a:off x="3104708" y="2035537"/>
              <a:ext cx="427979" cy="0"/>
            </a:xfrm>
            <a:prstGeom prst="line">
              <a:avLst/>
            </a:prstGeom>
            <a:noFill/>
            <a:ln w="19050" algn="ctr">
              <a:solidFill>
                <a:schemeClr val="bg1">
                  <a:lumMod val="50000"/>
                </a:schemeClr>
              </a:solidFill>
              <a:round/>
              <a:headEnd/>
              <a:tailEnd/>
            </a:ln>
          </p:spPr>
        </p:cxnSp>
        <p:cxnSp>
          <p:nvCxnSpPr>
            <p:cNvPr id="19" name="直接连接符 78"/>
            <p:cNvCxnSpPr>
              <a:cxnSpLocks noChangeShapeType="1"/>
              <a:stCxn id="39" idx="2"/>
              <a:endCxn id="95" idx="0"/>
            </p:cNvCxnSpPr>
            <p:nvPr/>
          </p:nvCxnSpPr>
          <p:spPr bwMode="gray">
            <a:xfrm>
              <a:off x="3775524" y="2235877"/>
              <a:ext cx="1185958" cy="956350"/>
            </a:xfrm>
            <a:prstGeom prst="line">
              <a:avLst/>
            </a:prstGeom>
            <a:noFill/>
            <a:ln w="19050" algn="ctr">
              <a:solidFill>
                <a:schemeClr val="bg1">
                  <a:lumMod val="50000"/>
                </a:schemeClr>
              </a:solidFill>
              <a:round/>
              <a:headEnd/>
              <a:tailEnd/>
            </a:ln>
          </p:spPr>
        </p:cxnSp>
        <p:cxnSp>
          <p:nvCxnSpPr>
            <p:cNvPr id="20" name="直接连接符 78"/>
            <p:cNvCxnSpPr>
              <a:cxnSpLocks noChangeShapeType="1"/>
              <a:endCxn id="36" idx="0"/>
            </p:cNvCxnSpPr>
            <p:nvPr/>
          </p:nvCxnSpPr>
          <p:spPr bwMode="gray">
            <a:xfrm>
              <a:off x="1611751" y="3716023"/>
              <a:ext cx="2135525" cy="1388407"/>
            </a:xfrm>
            <a:prstGeom prst="line">
              <a:avLst/>
            </a:prstGeom>
            <a:noFill/>
            <a:ln w="19050" algn="ctr">
              <a:solidFill>
                <a:schemeClr val="bg1">
                  <a:lumMod val="50000"/>
                </a:schemeClr>
              </a:solidFill>
              <a:round/>
              <a:headEnd/>
              <a:tailEnd/>
            </a:ln>
          </p:spPr>
        </p:cxnSp>
        <p:cxnSp>
          <p:nvCxnSpPr>
            <p:cNvPr id="21" name="直接连接符 78"/>
            <p:cNvCxnSpPr>
              <a:cxnSpLocks noChangeShapeType="1"/>
              <a:stCxn id="37" idx="1"/>
              <a:endCxn id="36" idx="3"/>
            </p:cNvCxnSpPr>
            <p:nvPr/>
          </p:nvCxnSpPr>
          <p:spPr bwMode="gray">
            <a:xfrm flipH="1">
              <a:off x="3990113" y="5304771"/>
              <a:ext cx="568589" cy="0"/>
            </a:xfrm>
            <a:prstGeom prst="line">
              <a:avLst/>
            </a:prstGeom>
            <a:noFill/>
            <a:ln w="19050" algn="ctr">
              <a:solidFill>
                <a:schemeClr val="bg1">
                  <a:lumMod val="50000"/>
                </a:schemeClr>
              </a:solidFill>
              <a:round/>
              <a:headEnd/>
              <a:tailEnd/>
            </a:ln>
          </p:spPr>
        </p:cxnSp>
        <p:sp>
          <p:nvSpPr>
            <p:cNvPr id="22" name="左大括号 21"/>
            <p:cNvSpPr/>
            <p:nvPr/>
          </p:nvSpPr>
          <p:spPr bwMode="gray">
            <a:xfrm rot="16200000">
              <a:off x="4102844" y="3109527"/>
              <a:ext cx="233107" cy="1709107"/>
            </a:xfrm>
            <a:prstGeom prst="leftBrace">
              <a:avLst>
                <a:gd name="adj1" fmla="val 8333"/>
                <a:gd name="adj2" fmla="val 49563"/>
              </a:avLst>
            </a:prstGeom>
            <a:ln>
              <a:solidFill>
                <a:srgbClr val="0099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67">
                <a:solidFill>
                  <a:srgbClr val="000000"/>
                </a:solidFill>
                <a:latin typeface="Huawei Sans" panose="020C0503030203020204" pitchFamily="34" charset="0"/>
                <a:ea typeface="方正兰亭黑简体" panose="02000000000000000000" pitchFamily="2" charset="-122"/>
              </a:endParaRPr>
            </a:p>
          </p:txBody>
        </p:sp>
        <p:sp>
          <p:nvSpPr>
            <p:cNvPr id="25" name="文本框 24"/>
            <p:cNvSpPr txBox="1"/>
            <p:nvPr/>
          </p:nvSpPr>
          <p:spPr bwMode="gray">
            <a:xfrm>
              <a:off x="1161667" y="4063673"/>
              <a:ext cx="967265" cy="276999"/>
            </a:xfrm>
            <a:prstGeom prst="rect">
              <a:avLst/>
            </a:prstGeom>
            <a:noFill/>
          </p:spPr>
          <p:txBody>
            <a:bodyPr wrap="square" rtlCol="0">
              <a:spAutoFit/>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rPr>
                <a:t>RD</a:t>
              </a:r>
              <a:r>
                <a:rPr lang="zh-CN" altLang="en-US" sz="1200" dirty="0">
                  <a:solidFill>
                    <a:srgbClr val="000000"/>
                  </a:solidFill>
                  <a:latin typeface="Huawei Sans" panose="020C0503030203020204" pitchFamily="34" charset="0"/>
                  <a:ea typeface="方正兰亭黑简体" panose="02000000000000000000" pitchFamily="2" charset="-122"/>
                </a:rPr>
                <a:t>：</a:t>
              </a:r>
              <a:r>
                <a:rPr lang="en-US" altLang="zh-CN" sz="1200" dirty="0">
                  <a:solidFill>
                    <a:srgbClr val="000000"/>
                  </a:solidFill>
                  <a:latin typeface="Huawei Sans" panose="020C0503030203020204" pitchFamily="34" charset="0"/>
                  <a:ea typeface="方正兰亭黑简体" panose="02000000000000000000" pitchFamily="2" charset="-122"/>
                </a:rPr>
                <a:t>MPLS</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26" name="左大括号 25"/>
            <p:cNvSpPr/>
            <p:nvPr/>
          </p:nvSpPr>
          <p:spPr bwMode="gray">
            <a:xfrm rot="16200000">
              <a:off x="1522900" y="3499332"/>
              <a:ext cx="191481" cy="877250"/>
            </a:xfrm>
            <a:prstGeom prst="leftBrace">
              <a:avLst>
                <a:gd name="adj1" fmla="val 8333"/>
                <a:gd name="adj2" fmla="val 50012"/>
              </a:avLst>
            </a:prstGeom>
            <a:ln>
              <a:solidFill>
                <a:srgbClr val="0099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67">
                <a:solidFill>
                  <a:srgbClr val="000000"/>
                </a:solidFill>
                <a:latin typeface="Huawei Sans" panose="020C0503030203020204" pitchFamily="34" charset="0"/>
                <a:ea typeface="方正兰亭黑简体" panose="02000000000000000000" pitchFamily="2" charset="-122"/>
              </a:endParaRPr>
            </a:p>
          </p:txBody>
        </p:sp>
        <p:sp>
          <p:nvSpPr>
            <p:cNvPr id="27" name="文本框 26"/>
            <p:cNvSpPr txBox="1"/>
            <p:nvPr/>
          </p:nvSpPr>
          <p:spPr bwMode="gray">
            <a:xfrm>
              <a:off x="864691" y="5861155"/>
              <a:ext cx="900008" cy="276999"/>
            </a:xfrm>
            <a:prstGeom prst="rect">
              <a:avLst/>
            </a:prstGeom>
            <a:noFill/>
          </p:spPr>
          <p:txBody>
            <a:bodyPr wrap="square" rtlCol="0">
              <a:sp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r>
                <a:rPr lang="en-US" altLang="zh-CN" sz="1200" dirty="0">
                  <a:solidFill>
                    <a:srgbClr val="000000"/>
                  </a:solidFill>
                  <a:latin typeface="Huawei Sans" panose="020C0503030203020204" pitchFamily="34" charset="0"/>
                  <a:ea typeface="方正兰亭黑简体" panose="02000000000000000000" pitchFamily="2" charset="-122"/>
                </a:rPr>
                <a:t>1</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30" name="矩形 29"/>
            <p:cNvSpPr/>
            <p:nvPr/>
          </p:nvSpPr>
          <p:spPr bwMode="gray">
            <a:xfrm>
              <a:off x="2726688" y="1176504"/>
              <a:ext cx="1074333" cy="276999"/>
            </a:xfrm>
            <a:prstGeom prst="rect">
              <a:avLst/>
            </a:prstGeom>
            <a:solidFill>
              <a:schemeClr val="bg1">
                <a:lumMod val="75000"/>
              </a:schemeClr>
            </a:solidFill>
          </p:spPr>
          <p:txBody>
            <a:bodyPr wrap="none">
              <a:spAutoFit/>
            </a:bodyPr>
            <a:lstStyle/>
            <a:p>
              <a:r>
                <a:rPr lang="en-US" altLang="zh-CN" sz="1200" b="1">
                  <a:solidFill>
                    <a:srgbClr val="C7000B"/>
                  </a:solidFill>
                  <a:latin typeface="Huawei Sans" panose="020C0503030203020204" pitchFamily="34" charset="0"/>
                  <a:ea typeface="方正兰亭黑简体" panose="02000000000000000000" pitchFamily="2" charset="-122"/>
                </a:rPr>
                <a:t>Site-ID</a:t>
              </a:r>
              <a:r>
                <a:rPr lang="en-US" altLang="zh-CN" sz="1200">
                  <a:solidFill>
                    <a:srgbClr val="000000"/>
                  </a:solidFill>
                  <a:latin typeface="Huawei Sans" panose="020C0503030203020204" pitchFamily="34" charset="0"/>
                  <a:ea typeface="方正兰亭黑简体" panose="02000000000000000000" pitchFamily="2" charset="-122"/>
                </a:rPr>
                <a:t>: AAA</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31" name="矩形 30"/>
            <p:cNvSpPr/>
            <p:nvPr/>
          </p:nvSpPr>
          <p:spPr bwMode="gray">
            <a:xfrm>
              <a:off x="1741411" y="5851844"/>
              <a:ext cx="1120820" cy="276999"/>
            </a:xfrm>
            <a:prstGeom prst="rect">
              <a:avLst/>
            </a:prstGeom>
            <a:solidFill>
              <a:schemeClr val="bg1">
                <a:lumMod val="75000"/>
              </a:schemeClr>
            </a:solidFill>
          </p:spPr>
          <p:txBody>
            <a:bodyPr wrap="none">
              <a:spAutoFit/>
            </a:bodyPr>
            <a:lstStyle/>
            <a:p>
              <a:r>
                <a:rPr lang="en-US" altLang="zh-CN" sz="1200" b="1" dirty="0">
                  <a:solidFill>
                    <a:srgbClr val="C7000B"/>
                  </a:solidFill>
                  <a:latin typeface="Huawei Sans" panose="020C0503030203020204" pitchFamily="34" charset="0"/>
                  <a:ea typeface="方正兰亭黑简体" panose="02000000000000000000" pitchFamily="2" charset="-122"/>
                </a:rPr>
                <a:t>Site-ID</a:t>
              </a:r>
              <a:r>
                <a:rPr lang="zh-CN" altLang="en-US" sz="1200" dirty="0">
                  <a:solidFill>
                    <a:srgbClr val="000000"/>
                  </a:solidFill>
                  <a:latin typeface="Huawei Sans" panose="020C0503030203020204" pitchFamily="34" charset="0"/>
                  <a:ea typeface="方正兰亭黑简体" panose="02000000000000000000" pitchFamily="2" charset="-122"/>
                </a:rPr>
                <a:t>：</a:t>
              </a:r>
              <a:r>
                <a:rPr lang="en-US" altLang="zh-CN" sz="1200" dirty="0">
                  <a:solidFill>
                    <a:srgbClr val="000000"/>
                  </a:solidFill>
                  <a:latin typeface="Huawei Sans" panose="020C0503030203020204" pitchFamily="34" charset="0"/>
                  <a:ea typeface="方正兰亭黑简体" panose="02000000000000000000" pitchFamily="2" charset="-122"/>
                </a:rPr>
                <a:t>BBB</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32" name="文本框 31"/>
            <p:cNvSpPr txBox="1"/>
            <p:nvPr/>
          </p:nvSpPr>
          <p:spPr bwMode="gray">
            <a:xfrm>
              <a:off x="2145726" y="1868005"/>
              <a:ext cx="558135"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CPE1</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33" name="文本框 32"/>
            <p:cNvSpPr txBox="1"/>
            <p:nvPr/>
          </p:nvSpPr>
          <p:spPr bwMode="gray">
            <a:xfrm>
              <a:off x="3954897" y="1870116"/>
              <a:ext cx="577213"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CPE2</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34" name="矩形 33"/>
            <p:cNvSpPr/>
            <p:nvPr/>
          </p:nvSpPr>
          <p:spPr bwMode="gray">
            <a:xfrm>
              <a:off x="3708355" y="5846579"/>
              <a:ext cx="1125629" cy="276999"/>
            </a:xfrm>
            <a:prstGeom prst="rect">
              <a:avLst/>
            </a:prstGeom>
            <a:solidFill>
              <a:schemeClr val="bg1">
                <a:lumMod val="75000"/>
              </a:schemeClr>
            </a:solidFill>
          </p:spPr>
          <p:txBody>
            <a:bodyPr wrap="none">
              <a:spAutoFit/>
            </a:bodyPr>
            <a:lstStyle/>
            <a:p>
              <a:r>
                <a:rPr lang="en-US" altLang="zh-CN" sz="1200" b="1" dirty="0">
                  <a:solidFill>
                    <a:srgbClr val="C7000B"/>
                  </a:solidFill>
                  <a:latin typeface="Huawei Sans" panose="020C0503030203020204" pitchFamily="34" charset="0"/>
                  <a:ea typeface="方正兰亭黑简体" panose="02000000000000000000" pitchFamily="2" charset="-122"/>
                </a:rPr>
                <a:t>Site-ID</a:t>
              </a:r>
              <a:r>
                <a:rPr lang="zh-CN" altLang="en-US" sz="1200" dirty="0">
                  <a:solidFill>
                    <a:srgbClr val="000000"/>
                  </a:solidFill>
                  <a:latin typeface="Huawei Sans" panose="020C0503030203020204" pitchFamily="34" charset="0"/>
                  <a:ea typeface="方正兰亭黑简体" panose="02000000000000000000" pitchFamily="2" charset="-122"/>
                </a:rPr>
                <a:t>：</a:t>
              </a:r>
              <a:r>
                <a:rPr lang="en-US" altLang="zh-CN" sz="1200" dirty="0">
                  <a:solidFill>
                    <a:srgbClr val="000000"/>
                  </a:solidFill>
                  <a:latin typeface="Huawei Sans" panose="020C0503030203020204" pitchFamily="34" charset="0"/>
                  <a:ea typeface="方正兰亭黑简体" panose="02000000000000000000" pitchFamily="2" charset="-122"/>
                </a:rPr>
                <a:t>CCC</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35" name="图片 34"/>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040245" y="5104430"/>
              <a:ext cx="485674" cy="400681"/>
            </a:xfrm>
            <a:prstGeom prst="rect">
              <a:avLst/>
            </a:prstGeom>
          </p:spPr>
        </p:pic>
        <p:pic>
          <p:nvPicPr>
            <p:cNvPr id="36" name="图片 35"/>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3504439" y="5104430"/>
              <a:ext cx="485674" cy="400681"/>
            </a:xfrm>
            <a:prstGeom prst="rect">
              <a:avLst/>
            </a:prstGeom>
          </p:spPr>
        </p:pic>
        <p:pic>
          <p:nvPicPr>
            <p:cNvPr id="37" name="图片 36"/>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4558702" y="5104430"/>
              <a:ext cx="485674" cy="400681"/>
            </a:xfrm>
            <a:prstGeom prst="rect">
              <a:avLst/>
            </a:prstGeom>
          </p:spPr>
        </p:pic>
        <p:pic>
          <p:nvPicPr>
            <p:cNvPr id="38" name="图片 37"/>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619034" y="1835196"/>
              <a:ext cx="485674" cy="400681"/>
            </a:xfrm>
            <a:prstGeom prst="rect">
              <a:avLst/>
            </a:prstGeom>
          </p:spPr>
        </p:pic>
        <p:pic>
          <p:nvPicPr>
            <p:cNvPr id="39" name="图片 38"/>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3532687" y="1835196"/>
              <a:ext cx="485674" cy="400681"/>
            </a:xfrm>
            <a:prstGeom prst="rect">
              <a:avLst/>
            </a:prstGeom>
          </p:spPr>
        </p:pic>
        <p:sp>
          <p:nvSpPr>
            <p:cNvPr id="40" name="文本框 39"/>
            <p:cNvSpPr txBox="1"/>
            <p:nvPr/>
          </p:nvSpPr>
          <p:spPr bwMode="gray">
            <a:xfrm>
              <a:off x="4862117" y="5857783"/>
              <a:ext cx="894572" cy="276999"/>
            </a:xfrm>
            <a:prstGeom prst="rect">
              <a:avLst/>
            </a:prstGeom>
            <a:noFill/>
          </p:spPr>
          <p:txBody>
            <a:bodyPr wrap="square" rtlCol="0">
              <a:sp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r>
                <a:rPr lang="en-US" altLang="zh-CN" sz="1200" dirty="0">
                  <a:solidFill>
                    <a:srgbClr val="000000"/>
                  </a:solidFill>
                  <a:latin typeface="Huawei Sans" panose="020C0503030203020204" pitchFamily="34" charset="0"/>
                  <a:ea typeface="方正兰亭黑简体" panose="02000000000000000000" pitchFamily="2" charset="-122"/>
                </a:rPr>
                <a:t>2</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41" name="矩形 40"/>
            <p:cNvSpPr/>
            <p:nvPr/>
          </p:nvSpPr>
          <p:spPr bwMode="gray">
            <a:xfrm>
              <a:off x="1533731" y="5454858"/>
              <a:ext cx="1526380"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rPr>
                <a:t>3.3.3.3</a:t>
              </a:r>
            </a:p>
            <a:p>
              <a:pPr algn="ctr"/>
              <a:r>
                <a:rPr lang="zh-CN" altLang="en-US" sz="1200" dirty="0">
                  <a:latin typeface="Huawei Sans" panose="020C0503030203020204" pitchFamily="34" charset="0"/>
                  <a:ea typeface="方正兰亭黑简体" panose="02000000000000000000" pitchFamily="2" charset="-122"/>
                </a:rPr>
                <a:t>（</a:t>
              </a:r>
              <a:r>
                <a:rPr lang="en-US" altLang="zh-CN" sz="1200" b="1" dirty="0">
                  <a:solidFill>
                    <a:srgbClr val="C7000B"/>
                  </a:solidFill>
                  <a:latin typeface="Huawei Sans" panose="020C0503030203020204" pitchFamily="34" charset="0"/>
                  <a:ea typeface="方正兰亭黑简体" panose="02000000000000000000" pitchFamily="2" charset="-122"/>
                </a:rPr>
                <a:t>CPE Router ID</a:t>
              </a:r>
              <a:r>
                <a:rPr lang="zh-CN" altLang="en-US" sz="1200" dirty="0">
                  <a:latin typeface="Huawei Sans" panose="020C0503030203020204" pitchFamily="34" charset="0"/>
                  <a:ea typeface="方正兰亭黑简体" panose="02000000000000000000" pitchFamily="2" charset="-122"/>
                </a:rPr>
                <a:t>）</a:t>
              </a:r>
            </a:p>
          </p:txBody>
        </p:sp>
        <p:sp>
          <p:nvSpPr>
            <p:cNvPr id="42" name="矩形 41"/>
            <p:cNvSpPr/>
            <p:nvPr/>
          </p:nvSpPr>
          <p:spPr bwMode="gray">
            <a:xfrm>
              <a:off x="2937606" y="5446450"/>
              <a:ext cx="1526380"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rPr>
                <a:t>4.4.4.4</a:t>
              </a:r>
              <a:r>
                <a:rPr lang="zh-CN" altLang="en-US" sz="1200" dirty="0">
                  <a:latin typeface="Huawei Sans" panose="020C0503030203020204" pitchFamily="34" charset="0"/>
                  <a:ea typeface="方正兰亭黑简体" panose="02000000000000000000" pitchFamily="2" charset="-122"/>
                </a:rPr>
                <a:t> </a:t>
              </a:r>
              <a:endParaRPr lang="en-US" altLang="zh-CN" sz="1200" dirty="0">
                <a:latin typeface="Huawei Sans" panose="020C0503030203020204" pitchFamily="34" charset="0"/>
                <a:ea typeface="方正兰亭黑简体" panose="02000000000000000000" pitchFamily="2" charset="-122"/>
              </a:endParaRPr>
            </a:p>
            <a:p>
              <a:pPr algn="ctr"/>
              <a:r>
                <a:rPr lang="zh-CN" altLang="en-US" sz="1200" dirty="0">
                  <a:latin typeface="Huawei Sans" panose="020C0503030203020204" pitchFamily="34" charset="0"/>
                  <a:ea typeface="方正兰亭黑简体" panose="02000000000000000000" pitchFamily="2" charset="-122"/>
                </a:rPr>
                <a:t>（</a:t>
              </a:r>
              <a:r>
                <a:rPr lang="en-US" altLang="zh-CN" sz="1200" b="1" dirty="0">
                  <a:solidFill>
                    <a:srgbClr val="C7000B"/>
                  </a:solidFill>
                  <a:latin typeface="Huawei Sans" panose="020C0503030203020204" pitchFamily="34" charset="0"/>
                  <a:ea typeface="方正兰亭黑简体" panose="02000000000000000000" pitchFamily="2" charset="-122"/>
                </a:rPr>
                <a:t>CPE Router ID</a:t>
              </a:r>
              <a:r>
                <a:rPr lang="zh-CN" altLang="en-US" sz="1200" dirty="0">
                  <a:latin typeface="Huawei Sans" panose="020C0503030203020204" pitchFamily="34" charset="0"/>
                  <a:ea typeface="方正兰亭黑简体" panose="02000000000000000000" pitchFamily="2" charset="-122"/>
                </a:rPr>
                <a:t>）</a:t>
              </a:r>
            </a:p>
          </p:txBody>
        </p:sp>
        <p:sp>
          <p:nvSpPr>
            <p:cNvPr id="43" name="矩形 42"/>
            <p:cNvSpPr/>
            <p:nvPr/>
          </p:nvSpPr>
          <p:spPr bwMode="gray">
            <a:xfrm>
              <a:off x="4174572" y="5444552"/>
              <a:ext cx="1526380"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rPr>
                <a:t>5.5.5.5</a:t>
              </a:r>
              <a:r>
                <a:rPr lang="zh-CN" altLang="en-US" sz="1200" dirty="0">
                  <a:latin typeface="Huawei Sans" panose="020C0503030203020204" pitchFamily="34" charset="0"/>
                  <a:ea typeface="方正兰亭黑简体" panose="02000000000000000000" pitchFamily="2" charset="-122"/>
                </a:rPr>
                <a:t> </a:t>
              </a:r>
              <a:endParaRPr lang="en-US" altLang="zh-CN" sz="1200" dirty="0">
                <a:latin typeface="Huawei Sans" panose="020C0503030203020204" pitchFamily="34" charset="0"/>
                <a:ea typeface="方正兰亭黑简体" panose="02000000000000000000" pitchFamily="2" charset="-122"/>
              </a:endParaRPr>
            </a:p>
            <a:p>
              <a:pPr algn="ctr"/>
              <a:r>
                <a:rPr lang="zh-CN" altLang="en-US" sz="1200" dirty="0">
                  <a:latin typeface="Huawei Sans" panose="020C0503030203020204" pitchFamily="34" charset="0"/>
                  <a:ea typeface="方正兰亭黑简体" panose="02000000000000000000" pitchFamily="2" charset="-122"/>
                </a:rPr>
                <a:t>（</a:t>
              </a:r>
              <a:r>
                <a:rPr lang="en-US" altLang="zh-CN" sz="1200" b="1" dirty="0">
                  <a:solidFill>
                    <a:srgbClr val="C7000B"/>
                  </a:solidFill>
                  <a:latin typeface="Huawei Sans" panose="020C0503030203020204" pitchFamily="34" charset="0"/>
                  <a:ea typeface="方正兰亭黑简体" panose="02000000000000000000" pitchFamily="2" charset="-122"/>
                </a:rPr>
                <a:t>CPE Router ID</a:t>
              </a:r>
              <a:r>
                <a:rPr lang="zh-CN" altLang="en-US" sz="1200" dirty="0">
                  <a:latin typeface="Huawei Sans" panose="020C0503030203020204" pitchFamily="34" charset="0"/>
                  <a:ea typeface="方正兰亭黑简体" panose="02000000000000000000" pitchFamily="2" charset="-122"/>
                </a:rPr>
                <a:t>）</a:t>
              </a:r>
            </a:p>
          </p:txBody>
        </p:sp>
        <p:sp>
          <p:nvSpPr>
            <p:cNvPr id="44" name="矩形 43"/>
            <p:cNvSpPr/>
            <p:nvPr/>
          </p:nvSpPr>
          <p:spPr bwMode="gray">
            <a:xfrm>
              <a:off x="1924040" y="1411527"/>
              <a:ext cx="1526380"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rPr>
                <a:t>1.1.1.1</a:t>
              </a:r>
            </a:p>
            <a:p>
              <a:pPr algn="ctr"/>
              <a:r>
                <a:rPr lang="zh-CN" altLang="en-US" sz="1200" dirty="0">
                  <a:latin typeface="Huawei Sans" panose="020C0503030203020204" pitchFamily="34" charset="0"/>
                  <a:ea typeface="方正兰亭黑简体" panose="02000000000000000000" pitchFamily="2" charset="-122"/>
                </a:rPr>
                <a:t>（</a:t>
              </a:r>
              <a:r>
                <a:rPr lang="en-US" altLang="zh-CN" sz="1200" b="1" dirty="0">
                  <a:solidFill>
                    <a:srgbClr val="C7000B"/>
                  </a:solidFill>
                  <a:latin typeface="Huawei Sans" panose="020C0503030203020204" pitchFamily="34" charset="0"/>
                  <a:ea typeface="方正兰亭黑简体" panose="02000000000000000000" pitchFamily="2" charset="-122"/>
                </a:rPr>
                <a:t>CPE Router ID</a:t>
              </a:r>
              <a:r>
                <a:rPr lang="zh-CN" altLang="en-US" sz="1200" dirty="0">
                  <a:latin typeface="Huawei Sans" panose="020C0503030203020204" pitchFamily="34" charset="0"/>
                  <a:ea typeface="方正兰亭黑简体" panose="02000000000000000000" pitchFamily="2" charset="-122"/>
                </a:rPr>
                <a:t>）</a:t>
              </a:r>
            </a:p>
          </p:txBody>
        </p:sp>
        <p:sp>
          <p:nvSpPr>
            <p:cNvPr id="45" name="矩形 44"/>
            <p:cNvSpPr/>
            <p:nvPr/>
          </p:nvSpPr>
          <p:spPr bwMode="gray">
            <a:xfrm>
              <a:off x="3224114" y="1387675"/>
              <a:ext cx="1526380"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rPr>
                <a:t>2.2.2.2</a:t>
              </a:r>
            </a:p>
            <a:p>
              <a:pPr algn="ctr"/>
              <a:r>
                <a:rPr lang="zh-CN" altLang="en-US" sz="1200" dirty="0">
                  <a:latin typeface="Huawei Sans" panose="020C0503030203020204" pitchFamily="34" charset="0"/>
                  <a:ea typeface="方正兰亭黑简体" panose="02000000000000000000" pitchFamily="2" charset="-122"/>
                </a:rPr>
                <a:t>（</a:t>
              </a:r>
              <a:r>
                <a:rPr lang="en-US" altLang="zh-CN" sz="1200" b="1" dirty="0">
                  <a:solidFill>
                    <a:srgbClr val="C7000B"/>
                  </a:solidFill>
                  <a:latin typeface="Huawei Sans" panose="020C0503030203020204" pitchFamily="34" charset="0"/>
                  <a:ea typeface="方正兰亭黑简体" panose="02000000000000000000" pitchFamily="2" charset="-122"/>
                </a:rPr>
                <a:t>CPE Router ID</a:t>
              </a:r>
              <a:r>
                <a:rPr lang="zh-CN" altLang="en-US" sz="1200" dirty="0">
                  <a:latin typeface="Huawei Sans" panose="020C0503030203020204" pitchFamily="34" charset="0"/>
                  <a:ea typeface="方正兰亭黑简体" panose="02000000000000000000" pitchFamily="2" charset="-122"/>
                </a:rPr>
                <a:t>）</a:t>
              </a:r>
            </a:p>
          </p:txBody>
        </p:sp>
        <p:sp>
          <p:nvSpPr>
            <p:cNvPr id="46" name="矩形 45"/>
            <p:cNvSpPr/>
            <p:nvPr/>
          </p:nvSpPr>
          <p:spPr bwMode="gray">
            <a:xfrm>
              <a:off x="1694562" y="4780870"/>
              <a:ext cx="465192"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GE0</a:t>
              </a:r>
              <a:endParaRPr lang="zh-CN" altLang="en-US" sz="1200" dirty="0">
                <a:latin typeface="Huawei Sans" panose="020C0503030203020204" pitchFamily="34" charset="0"/>
                <a:ea typeface="方正兰亭黑简体" panose="02000000000000000000" pitchFamily="2" charset="-122"/>
              </a:endParaRPr>
            </a:p>
          </p:txBody>
        </p:sp>
        <p:sp>
          <p:nvSpPr>
            <p:cNvPr id="47" name="矩形 46"/>
            <p:cNvSpPr/>
            <p:nvPr/>
          </p:nvSpPr>
          <p:spPr bwMode="gray">
            <a:xfrm>
              <a:off x="2480433" y="4777787"/>
              <a:ext cx="465192"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GE1</a:t>
              </a:r>
              <a:endParaRPr lang="zh-CN" altLang="en-US" sz="1200" dirty="0">
                <a:latin typeface="Huawei Sans" panose="020C0503030203020204" pitchFamily="34" charset="0"/>
                <a:ea typeface="方正兰亭黑简体" panose="02000000000000000000" pitchFamily="2" charset="-122"/>
              </a:endParaRPr>
            </a:p>
          </p:txBody>
        </p:sp>
        <p:sp>
          <p:nvSpPr>
            <p:cNvPr id="51" name="矩形 50"/>
            <p:cNvSpPr/>
            <p:nvPr/>
          </p:nvSpPr>
          <p:spPr bwMode="gray">
            <a:xfrm>
              <a:off x="3504716" y="4772726"/>
              <a:ext cx="465192"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GE0</a:t>
              </a:r>
              <a:endParaRPr lang="zh-CN" altLang="en-US" sz="1200" dirty="0">
                <a:latin typeface="Huawei Sans" panose="020C0503030203020204" pitchFamily="34" charset="0"/>
                <a:ea typeface="方正兰亭黑简体" panose="02000000000000000000" pitchFamily="2" charset="-122"/>
              </a:endParaRPr>
            </a:p>
          </p:txBody>
        </p:sp>
        <p:sp>
          <p:nvSpPr>
            <p:cNvPr id="52" name="矩形 51"/>
            <p:cNvSpPr/>
            <p:nvPr/>
          </p:nvSpPr>
          <p:spPr bwMode="gray">
            <a:xfrm>
              <a:off x="4394520" y="4770336"/>
              <a:ext cx="465192"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GE1</a:t>
              </a:r>
              <a:endParaRPr lang="zh-CN" altLang="en-US" sz="1200" dirty="0">
                <a:latin typeface="Huawei Sans" panose="020C0503030203020204" pitchFamily="34" charset="0"/>
                <a:ea typeface="方正兰亭黑简体" panose="02000000000000000000" pitchFamily="2" charset="-122"/>
              </a:endParaRPr>
            </a:p>
          </p:txBody>
        </p:sp>
        <p:sp>
          <p:nvSpPr>
            <p:cNvPr id="53" name="矩形 52"/>
            <p:cNvSpPr/>
            <p:nvPr/>
          </p:nvSpPr>
          <p:spPr bwMode="gray">
            <a:xfrm>
              <a:off x="2214024" y="2231560"/>
              <a:ext cx="473206"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GE0</a:t>
              </a:r>
              <a:endParaRPr lang="zh-CN" altLang="en-US" sz="1200" dirty="0">
                <a:latin typeface="Huawei Sans" panose="020C0503030203020204" pitchFamily="34" charset="0"/>
                <a:ea typeface="方正兰亭黑简体" panose="02000000000000000000" pitchFamily="2" charset="-122"/>
              </a:endParaRPr>
            </a:p>
          </p:txBody>
        </p:sp>
        <p:sp>
          <p:nvSpPr>
            <p:cNvPr id="54" name="矩形 53"/>
            <p:cNvSpPr/>
            <p:nvPr/>
          </p:nvSpPr>
          <p:spPr bwMode="gray">
            <a:xfrm>
              <a:off x="3017321" y="2238121"/>
              <a:ext cx="473206"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GE1</a:t>
              </a:r>
              <a:endParaRPr lang="zh-CN" altLang="en-US" sz="1200" dirty="0">
                <a:latin typeface="Huawei Sans" panose="020C0503030203020204" pitchFamily="34" charset="0"/>
                <a:ea typeface="方正兰亭黑简体" panose="02000000000000000000" pitchFamily="2" charset="-122"/>
              </a:endParaRPr>
            </a:p>
          </p:txBody>
        </p:sp>
        <p:sp>
          <p:nvSpPr>
            <p:cNvPr id="55" name="矩形 54"/>
            <p:cNvSpPr/>
            <p:nvPr/>
          </p:nvSpPr>
          <p:spPr bwMode="gray">
            <a:xfrm>
              <a:off x="3976303" y="2235877"/>
              <a:ext cx="473206"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GE0</a:t>
              </a:r>
              <a:endParaRPr lang="zh-CN" altLang="en-US" sz="1200" dirty="0">
                <a:latin typeface="Huawei Sans" panose="020C0503030203020204" pitchFamily="34" charset="0"/>
                <a:ea typeface="方正兰亭黑简体" panose="02000000000000000000" pitchFamily="2" charset="-122"/>
              </a:endParaRPr>
            </a:p>
          </p:txBody>
        </p:sp>
        <p:sp>
          <p:nvSpPr>
            <p:cNvPr id="56" name="文本框 55"/>
            <p:cNvSpPr txBox="1"/>
            <p:nvPr/>
          </p:nvSpPr>
          <p:spPr bwMode="gray">
            <a:xfrm>
              <a:off x="1515856" y="5195773"/>
              <a:ext cx="62973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CPE3</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57" name="文本框 56"/>
            <p:cNvSpPr txBox="1"/>
            <p:nvPr/>
          </p:nvSpPr>
          <p:spPr bwMode="gray">
            <a:xfrm>
              <a:off x="3001909" y="5189046"/>
              <a:ext cx="62973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CPE4</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cxnSp>
          <p:nvCxnSpPr>
            <p:cNvPr id="58" name="直接连接符 78"/>
            <p:cNvCxnSpPr>
              <a:cxnSpLocks noChangeShapeType="1"/>
              <a:stCxn id="38" idx="2"/>
              <a:endCxn id="93" idx="1"/>
            </p:cNvCxnSpPr>
            <p:nvPr/>
          </p:nvCxnSpPr>
          <p:spPr bwMode="gray">
            <a:xfrm>
              <a:off x="2861871" y="2235877"/>
              <a:ext cx="596964" cy="1055344"/>
            </a:xfrm>
            <a:prstGeom prst="line">
              <a:avLst/>
            </a:prstGeom>
            <a:noFill/>
            <a:ln w="19050" algn="ctr">
              <a:solidFill>
                <a:schemeClr val="bg1">
                  <a:lumMod val="50000"/>
                </a:schemeClr>
              </a:solidFill>
              <a:round/>
              <a:headEnd/>
              <a:tailEnd/>
            </a:ln>
          </p:spPr>
        </p:cxnSp>
        <p:sp>
          <p:nvSpPr>
            <p:cNvPr id="62" name="Freeform 159">
              <a:extLst>
                <a:ext uri="{FF2B5EF4-FFF2-40B4-BE49-F238E27FC236}">
                  <a16:creationId xmlns:a16="http://schemas.microsoft.com/office/drawing/2014/main" id="{974970EF-342B-446B-891F-156BCC96A99C}"/>
                </a:ext>
              </a:extLst>
            </p:cNvPr>
            <p:cNvSpPr/>
            <p:nvPr/>
          </p:nvSpPr>
          <p:spPr bwMode="gray">
            <a:xfrm flipH="1">
              <a:off x="1033323" y="3213581"/>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MPLS-ISP-A</a:t>
              </a:r>
            </a:p>
            <a:p>
              <a:pPr algn="ctr">
                <a:defRPr/>
              </a:pP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TN</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77" name="Oval 41">
              <a:extLst>
                <a:ext uri="{FF2B5EF4-FFF2-40B4-BE49-F238E27FC236}">
                  <a16:creationId xmlns:a16="http://schemas.microsoft.com/office/drawing/2014/main" id="{A274032F-ED46-4817-BB59-9129EA3C02AE}"/>
                </a:ext>
              </a:extLst>
            </p:cNvPr>
            <p:cNvSpPr>
              <a:spLocks noChangeAspect="1"/>
            </p:cNvSpPr>
            <p:nvPr/>
          </p:nvSpPr>
          <p:spPr bwMode="gray">
            <a:xfrm>
              <a:off x="2369348" y="4841286"/>
              <a:ext cx="159261" cy="159261"/>
            </a:xfrm>
            <a:prstGeom prst="ellipse">
              <a:avLst/>
            </a:prstGeom>
            <a:pattFill prst="pct50">
              <a:fgClr>
                <a:srgbClr val="30B5C5"/>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9" name="Oval 41">
              <a:extLst>
                <a:ext uri="{FF2B5EF4-FFF2-40B4-BE49-F238E27FC236}">
                  <a16:creationId xmlns:a16="http://schemas.microsoft.com/office/drawing/2014/main" id="{BBA8BF14-1315-4C7A-BA94-C8D25F766773}"/>
                </a:ext>
              </a:extLst>
            </p:cNvPr>
            <p:cNvSpPr>
              <a:spLocks noChangeAspect="1"/>
            </p:cNvSpPr>
            <p:nvPr/>
          </p:nvSpPr>
          <p:spPr bwMode="gray">
            <a:xfrm>
              <a:off x="2635615" y="2293241"/>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81" name="Oval 41">
              <a:extLst>
                <a:ext uri="{FF2B5EF4-FFF2-40B4-BE49-F238E27FC236}">
                  <a16:creationId xmlns:a16="http://schemas.microsoft.com/office/drawing/2014/main" id="{4A6B2A35-71D2-4EF1-9572-0FB3FF8A448E}"/>
                </a:ext>
              </a:extLst>
            </p:cNvPr>
            <p:cNvSpPr>
              <a:spLocks noChangeAspect="1"/>
            </p:cNvSpPr>
            <p:nvPr/>
          </p:nvSpPr>
          <p:spPr bwMode="gray">
            <a:xfrm>
              <a:off x="2114775" y="484047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83" name="Oval 41">
              <a:extLst>
                <a:ext uri="{FF2B5EF4-FFF2-40B4-BE49-F238E27FC236}">
                  <a16:creationId xmlns:a16="http://schemas.microsoft.com/office/drawing/2014/main" id="{21F6D396-50E1-4F14-BD8E-FC253F7E8575}"/>
                </a:ext>
              </a:extLst>
            </p:cNvPr>
            <p:cNvSpPr>
              <a:spLocks noChangeAspect="1"/>
            </p:cNvSpPr>
            <p:nvPr/>
          </p:nvSpPr>
          <p:spPr bwMode="gray">
            <a:xfrm>
              <a:off x="3384022" y="4833808"/>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85" name="Oval 41">
              <a:extLst>
                <a:ext uri="{FF2B5EF4-FFF2-40B4-BE49-F238E27FC236}">
                  <a16:creationId xmlns:a16="http://schemas.microsoft.com/office/drawing/2014/main" id="{AC6BCBA1-C6E4-49F6-8054-09EFDBD8A31D}"/>
                </a:ext>
              </a:extLst>
            </p:cNvPr>
            <p:cNvSpPr>
              <a:spLocks noChangeAspect="1"/>
            </p:cNvSpPr>
            <p:nvPr/>
          </p:nvSpPr>
          <p:spPr bwMode="gray">
            <a:xfrm>
              <a:off x="2906941" y="2288863"/>
              <a:ext cx="159261" cy="159261"/>
            </a:xfrm>
            <a:prstGeom prst="ellipse">
              <a:avLst/>
            </a:prstGeom>
            <a:pattFill prst="pct50">
              <a:fgClr>
                <a:srgbClr val="30B5C5"/>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87" name="Oval 41">
              <a:extLst>
                <a:ext uri="{FF2B5EF4-FFF2-40B4-BE49-F238E27FC236}">
                  <a16:creationId xmlns:a16="http://schemas.microsoft.com/office/drawing/2014/main" id="{3806F94B-4A41-4891-B592-BBF94650B14D}"/>
                </a:ext>
              </a:extLst>
            </p:cNvPr>
            <p:cNvSpPr>
              <a:spLocks noChangeAspect="1"/>
            </p:cNvSpPr>
            <p:nvPr/>
          </p:nvSpPr>
          <p:spPr bwMode="gray">
            <a:xfrm>
              <a:off x="3887884" y="2289093"/>
              <a:ext cx="159261" cy="159261"/>
            </a:xfrm>
            <a:prstGeom prst="ellipse">
              <a:avLst/>
            </a:prstGeom>
            <a:pattFill prst="pct50">
              <a:fgClr>
                <a:srgbClr val="30B5C5"/>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89" name="Oval 41">
              <a:extLst>
                <a:ext uri="{FF2B5EF4-FFF2-40B4-BE49-F238E27FC236}">
                  <a16:creationId xmlns:a16="http://schemas.microsoft.com/office/drawing/2014/main" id="{E7F8D474-2B77-4DE5-98E4-93EB55CAA9E0}"/>
                </a:ext>
              </a:extLst>
            </p:cNvPr>
            <p:cNvSpPr>
              <a:spLocks noChangeAspect="1"/>
            </p:cNvSpPr>
            <p:nvPr/>
          </p:nvSpPr>
          <p:spPr bwMode="gray">
            <a:xfrm>
              <a:off x="4783077" y="4834864"/>
              <a:ext cx="159261" cy="159261"/>
            </a:xfrm>
            <a:prstGeom prst="ellipse">
              <a:avLst/>
            </a:prstGeom>
            <a:pattFill prst="pct50">
              <a:fgClr>
                <a:srgbClr val="30B5C5"/>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93" name="Freeform 159">
              <a:extLst>
                <a:ext uri="{FF2B5EF4-FFF2-40B4-BE49-F238E27FC236}">
                  <a16:creationId xmlns:a16="http://schemas.microsoft.com/office/drawing/2014/main" id="{EF983DAC-365C-47AB-931A-7D4DB8FD1123}"/>
                </a:ext>
              </a:extLst>
            </p:cNvPr>
            <p:cNvSpPr/>
            <p:nvPr/>
          </p:nvSpPr>
          <p:spPr bwMode="gray">
            <a:xfrm flipH="1">
              <a:off x="2789207" y="3204855"/>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30B5C5"/>
            </a:solidFill>
            <a:ln w="28575">
              <a:solidFill>
                <a:srgbClr val="C0E8E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chemeClr val="bg1"/>
                  </a:solidFill>
                  <a:latin typeface="Huawei Sans" panose="020C0503030203020204" pitchFamily="34" charset="0"/>
                  <a:ea typeface="方正兰亭黑简体" panose="02000000000000000000" pitchFamily="2" charset="-122"/>
                </a:rPr>
                <a:t>Internet-ISP-B</a:t>
              </a:r>
              <a:r>
                <a:rPr lang="zh-CN" altLang="en-US" sz="1400" b="1" dirty="0">
                  <a:solidFill>
                    <a:srgbClr val="C7000B"/>
                  </a:solidFill>
                  <a:latin typeface="Huawei Sans" panose="020C0503030203020204" pitchFamily="34" charset="0"/>
                  <a:ea typeface="方正兰亭黑简体" panose="02000000000000000000" pitchFamily="2" charset="-122"/>
                </a:rPr>
                <a:t>（</a:t>
              </a:r>
              <a:r>
                <a:rPr lang="en-US" altLang="zh-CN" sz="1400" b="1" dirty="0">
                  <a:solidFill>
                    <a:srgbClr val="C7000B"/>
                  </a:solidFill>
                  <a:latin typeface="Huawei Sans" panose="020C0503030203020204" pitchFamily="34" charset="0"/>
                  <a:ea typeface="方正兰亭黑简体" panose="02000000000000000000" pitchFamily="2" charset="-122"/>
                </a:rPr>
                <a:t>TN</a:t>
              </a:r>
              <a:r>
                <a:rPr lang="zh-CN" altLang="en-US" sz="1400" b="1" dirty="0">
                  <a:solidFill>
                    <a:srgbClr val="C7000B"/>
                  </a:solidFill>
                  <a:latin typeface="Huawei Sans" panose="020C0503030203020204" pitchFamily="34" charset="0"/>
                  <a:ea typeface="方正兰亭黑简体" panose="02000000000000000000" pitchFamily="2" charset="-122"/>
                </a:rPr>
                <a:t>）</a:t>
              </a:r>
            </a:p>
          </p:txBody>
        </p:sp>
        <p:sp>
          <p:nvSpPr>
            <p:cNvPr id="95" name="Freeform 159">
              <a:extLst>
                <a:ext uri="{FF2B5EF4-FFF2-40B4-BE49-F238E27FC236}">
                  <a16:creationId xmlns:a16="http://schemas.microsoft.com/office/drawing/2014/main" id="{56E01E28-2EED-44A9-877E-80BF44FC07FD}"/>
                </a:ext>
              </a:extLst>
            </p:cNvPr>
            <p:cNvSpPr/>
            <p:nvPr/>
          </p:nvSpPr>
          <p:spPr bwMode="gray">
            <a:xfrm flipH="1">
              <a:off x="4498533" y="3192227"/>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30B5C5"/>
            </a:solidFill>
            <a:ln w="28575">
              <a:solidFill>
                <a:srgbClr val="C0E8E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chemeClr val="bg1"/>
                  </a:solidFill>
                  <a:latin typeface="Huawei Sans" panose="020C0503030203020204" pitchFamily="34" charset="0"/>
                  <a:ea typeface="方正兰亭黑简体" panose="02000000000000000000" pitchFamily="2" charset="-122"/>
                </a:rPr>
                <a:t>Internet-ISP-C</a:t>
              </a:r>
              <a:r>
                <a:rPr lang="zh-CN" altLang="en-US" sz="1400" b="1" dirty="0">
                  <a:solidFill>
                    <a:srgbClr val="C7000B"/>
                  </a:solidFill>
                  <a:latin typeface="Huawei Sans" panose="020C0503030203020204" pitchFamily="34" charset="0"/>
                  <a:ea typeface="方正兰亭黑简体" panose="02000000000000000000" pitchFamily="2" charset="-122"/>
                </a:rPr>
                <a:t>（</a:t>
              </a:r>
              <a:r>
                <a:rPr lang="en-US" altLang="zh-CN" sz="1400" b="1" dirty="0">
                  <a:solidFill>
                    <a:srgbClr val="C7000B"/>
                  </a:solidFill>
                  <a:latin typeface="Huawei Sans" panose="020C0503030203020204" pitchFamily="34" charset="0"/>
                  <a:ea typeface="方正兰亭黑简体" panose="02000000000000000000" pitchFamily="2" charset="-122"/>
                </a:rPr>
                <a:t>TN</a:t>
              </a:r>
              <a:r>
                <a:rPr lang="zh-CN" altLang="en-US" sz="1400" b="1" dirty="0">
                  <a:solidFill>
                    <a:srgbClr val="C7000B"/>
                  </a:solidFill>
                  <a:latin typeface="Huawei Sans" panose="020C0503030203020204" pitchFamily="34" charset="0"/>
                  <a:ea typeface="方正兰亭黑简体" panose="02000000000000000000" pitchFamily="2" charset="-122"/>
                </a:rPr>
                <a:t>）</a:t>
              </a:r>
              <a:endParaRPr lang="zh-CN" altLang="en-US" sz="1200" b="1" dirty="0">
                <a:solidFill>
                  <a:srgbClr val="C7000B"/>
                </a:solidFill>
                <a:latin typeface="Huawei Sans" panose="020C0503030203020204" pitchFamily="34" charset="0"/>
                <a:ea typeface="方正兰亭黑简体" panose="02000000000000000000" pitchFamily="2" charset="-122"/>
              </a:endParaRPr>
            </a:p>
          </p:txBody>
        </p:sp>
        <p:cxnSp>
          <p:nvCxnSpPr>
            <p:cNvPr id="104" name="直接连接符 78">
              <a:extLst>
                <a:ext uri="{FF2B5EF4-FFF2-40B4-BE49-F238E27FC236}">
                  <a16:creationId xmlns:a16="http://schemas.microsoft.com/office/drawing/2014/main" id="{D3F9749C-6A83-495E-8668-DE2381B74A4C}"/>
                </a:ext>
              </a:extLst>
            </p:cNvPr>
            <p:cNvCxnSpPr>
              <a:cxnSpLocks noChangeShapeType="1"/>
              <a:stCxn id="93" idx="8"/>
              <a:endCxn id="95" idx="21"/>
            </p:cNvCxnSpPr>
            <p:nvPr/>
          </p:nvCxnSpPr>
          <p:spPr bwMode="gray">
            <a:xfrm flipV="1">
              <a:off x="3969908" y="3624935"/>
              <a:ext cx="528625" cy="1394"/>
            </a:xfrm>
            <a:prstGeom prst="line">
              <a:avLst/>
            </a:prstGeom>
            <a:noFill/>
            <a:ln w="19050" algn="ctr">
              <a:solidFill>
                <a:schemeClr val="bg1">
                  <a:lumMod val="50000"/>
                </a:schemeClr>
              </a:solidFill>
              <a:round/>
              <a:headEnd/>
              <a:tailEnd/>
            </a:ln>
          </p:spPr>
        </p:cxnSp>
        <p:sp>
          <p:nvSpPr>
            <p:cNvPr id="115" name="文本框 56">
              <a:extLst>
                <a:ext uri="{FF2B5EF4-FFF2-40B4-BE49-F238E27FC236}">
                  <a16:creationId xmlns:a16="http://schemas.microsoft.com/office/drawing/2014/main" id="{70882826-F833-4A8E-990B-D953FA8657B7}"/>
                </a:ext>
              </a:extLst>
            </p:cNvPr>
            <p:cNvSpPr txBox="1"/>
            <p:nvPr/>
          </p:nvSpPr>
          <p:spPr bwMode="gray">
            <a:xfrm>
              <a:off x="4913657" y="5171392"/>
              <a:ext cx="62973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CPE5</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117" name="文本框 11">
              <a:extLst>
                <a:ext uri="{FF2B5EF4-FFF2-40B4-BE49-F238E27FC236}">
                  <a16:creationId xmlns:a16="http://schemas.microsoft.com/office/drawing/2014/main" id="{B2BC37C6-9D43-4CC2-9ECE-B2C885997659}"/>
                </a:ext>
              </a:extLst>
            </p:cNvPr>
            <p:cNvSpPr txBox="1"/>
            <p:nvPr/>
          </p:nvSpPr>
          <p:spPr bwMode="gray">
            <a:xfrm rot="17150264">
              <a:off x="4575231" y="4222927"/>
              <a:ext cx="1095772" cy="276999"/>
            </a:xfrm>
            <a:prstGeom prst="rect">
              <a:avLst/>
            </a:prstGeom>
            <a:noFill/>
          </p:spPr>
          <p:txBody>
            <a:bodyPr wrap="square" rtlCol="0">
              <a:spAutoFit/>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rPr>
                <a:t>WAN Link</a:t>
              </a:r>
              <a:endParaRPr lang="zh-CN" altLang="en-US" sz="1200" b="1" dirty="0">
                <a:solidFill>
                  <a:srgbClr val="C7000B"/>
                </a:solidFill>
                <a:latin typeface="Huawei Sans" panose="020C0503030203020204" pitchFamily="34" charset="0"/>
                <a:ea typeface="方正兰亭黑简体" panose="02000000000000000000" pitchFamily="2" charset="-122"/>
              </a:endParaRPr>
            </a:p>
          </p:txBody>
        </p:sp>
        <p:sp>
          <p:nvSpPr>
            <p:cNvPr id="119" name="文本框 11">
              <a:extLst>
                <a:ext uri="{FF2B5EF4-FFF2-40B4-BE49-F238E27FC236}">
                  <a16:creationId xmlns:a16="http://schemas.microsoft.com/office/drawing/2014/main" id="{1BE20AFF-330E-4C2E-960F-C536B84C7826}"/>
                </a:ext>
              </a:extLst>
            </p:cNvPr>
            <p:cNvSpPr txBox="1"/>
            <p:nvPr/>
          </p:nvSpPr>
          <p:spPr bwMode="gray">
            <a:xfrm rot="2370382">
              <a:off x="4103947" y="2666400"/>
              <a:ext cx="1095772" cy="276999"/>
            </a:xfrm>
            <a:prstGeom prst="rect">
              <a:avLst/>
            </a:prstGeom>
            <a:noFill/>
          </p:spPr>
          <p:txBody>
            <a:bodyPr wrap="square" rtlCol="0">
              <a:spAutoFit/>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rPr>
                <a:t>WAN Link</a:t>
              </a:r>
              <a:endParaRPr lang="zh-CN" altLang="en-US" sz="1200" b="1" dirty="0">
                <a:solidFill>
                  <a:srgbClr val="C7000B"/>
                </a:solidFill>
                <a:latin typeface="Huawei Sans" panose="020C0503030203020204" pitchFamily="34" charset="0"/>
                <a:ea typeface="方正兰亭黑简体" panose="02000000000000000000" pitchFamily="2" charset="-122"/>
              </a:endParaRPr>
            </a:p>
          </p:txBody>
        </p:sp>
        <p:sp>
          <p:nvSpPr>
            <p:cNvPr id="120" name="Arrow: Up 119">
              <a:extLst>
                <a:ext uri="{FF2B5EF4-FFF2-40B4-BE49-F238E27FC236}">
                  <a16:creationId xmlns:a16="http://schemas.microsoft.com/office/drawing/2014/main" id="{9F51487B-DAB1-4FB0-A65A-563FB14754BE}"/>
                </a:ext>
              </a:extLst>
            </p:cNvPr>
            <p:cNvSpPr/>
            <p:nvPr/>
          </p:nvSpPr>
          <p:spPr bwMode="gray">
            <a:xfrm rot="21409013">
              <a:off x="2647996" y="2488118"/>
              <a:ext cx="159362" cy="186504"/>
            </a:xfrm>
            <a:prstGeom prst="upArrow">
              <a:avLst/>
            </a:prstGeom>
            <a:solidFill>
              <a:srgbClr val="E28189"/>
            </a:solidFill>
            <a:ln>
              <a:solidFill>
                <a:srgbClr val="D339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Arrow: Up 121">
              <a:extLst>
                <a:ext uri="{FF2B5EF4-FFF2-40B4-BE49-F238E27FC236}">
                  <a16:creationId xmlns:a16="http://schemas.microsoft.com/office/drawing/2014/main" id="{C6DB0B11-795E-463D-B995-20527EBCDD70}"/>
                </a:ext>
              </a:extLst>
            </p:cNvPr>
            <p:cNvSpPr/>
            <p:nvPr/>
          </p:nvSpPr>
          <p:spPr bwMode="gray">
            <a:xfrm rot="810192">
              <a:off x="2865944" y="2486530"/>
              <a:ext cx="159362" cy="206161"/>
            </a:xfrm>
            <a:prstGeom prst="upArrow">
              <a:avLst/>
            </a:prstGeom>
            <a:solidFill>
              <a:srgbClr val="E28189"/>
            </a:solidFill>
            <a:ln>
              <a:solidFill>
                <a:srgbClr val="D339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矩形 52">
              <a:extLst>
                <a:ext uri="{FF2B5EF4-FFF2-40B4-BE49-F238E27FC236}">
                  <a16:creationId xmlns:a16="http://schemas.microsoft.com/office/drawing/2014/main" id="{2852A98D-D784-4F5D-9EB4-C985A2A3802C}"/>
                </a:ext>
              </a:extLst>
            </p:cNvPr>
            <p:cNvSpPr/>
            <p:nvPr/>
          </p:nvSpPr>
          <p:spPr bwMode="gray">
            <a:xfrm>
              <a:off x="2574208" y="2674343"/>
              <a:ext cx="492443" cy="276999"/>
            </a:xfrm>
            <a:prstGeom prst="rect">
              <a:avLst/>
            </a:prstGeom>
          </p:spPr>
          <p:txBody>
            <a:bodyPr wrap="none">
              <a:spAutoFit/>
            </a:bodyPr>
            <a:lstStyle/>
            <a:p>
              <a:r>
                <a:rPr lang="en-US" altLang="zh-CN" sz="1200" b="1" dirty="0">
                  <a:solidFill>
                    <a:srgbClr val="C7000B"/>
                  </a:solidFill>
                  <a:latin typeface="Huawei Sans" panose="020C0503030203020204" pitchFamily="34" charset="0"/>
                  <a:ea typeface="方正兰亭黑简体" panose="02000000000000000000" pitchFamily="2" charset="-122"/>
                </a:rPr>
                <a:t>TNP</a:t>
              </a:r>
              <a:endParaRPr lang="zh-CN" altLang="en-US" sz="1200" b="1" dirty="0">
                <a:solidFill>
                  <a:srgbClr val="C7000B"/>
                </a:solidFill>
                <a:latin typeface="Huawei Sans" panose="020C0503030203020204" pitchFamily="34" charset="0"/>
                <a:ea typeface="方正兰亭黑简体" panose="02000000000000000000" pitchFamily="2" charset="-122"/>
              </a:endParaRPr>
            </a:p>
          </p:txBody>
        </p:sp>
      </p:grpSp>
      <p:sp>
        <p:nvSpPr>
          <p:cNvPr id="84"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86"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692042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1E7B9-DB52-4106-8132-DEB4BBB1DC35}"/>
              </a:ext>
            </a:extLst>
          </p:cNvPr>
          <p:cNvSpPr>
            <a:spLocks noGrp="1"/>
          </p:cNvSpPr>
          <p:nvPr>
            <p:ph type="title"/>
          </p:nvPr>
        </p:nvSpPr>
        <p:spPr bwMode="gray"/>
        <p:txBody>
          <a:bodyPr/>
          <a:lstStyle/>
          <a:p>
            <a:r>
              <a:rPr lang="en-US" dirty="0"/>
              <a:t>TNP</a:t>
            </a:r>
            <a:r>
              <a:rPr lang="zh-CN" altLang="en-US" dirty="0"/>
              <a:t>介绍</a:t>
            </a:r>
            <a:endParaRPr lang="en-US" dirty="0"/>
          </a:p>
        </p:txBody>
      </p:sp>
      <p:sp>
        <p:nvSpPr>
          <p:cNvPr id="3" name="Text Placeholder 2">
            <a:extLst>
              <a:ext uri="{FF2B5EF4-FFF2-40B4-BE49-F238E27FC236}">
                <a16:creationId xmlns:a16="http://schemas.microsoft.com/office/drawing/2014/main" id="{7C94DBE2-BC73-4C4A-BACF-211EB6D8563E}"/>
              </a:ext>
            </a:extLst>
          </p:cNvPr>
          <p:cNvSpPr>
            <a:spLocks noGrp="1"/>
          </p:cNvSpPr>
          <p:nvPr>
            <p:ph type="body" sz="quarter" idx="10"/>
          </p:nvPr>
        </p:nvSpPr>
        <p:spPr bwMode="gray"/>
        <p:txBody>
          <a:bodyPr/>
          <a:lstStyle/>
          <a:p>
            <a:r>
              <a:rPr lang="en-US" sz="1800" dirty="0"/>
              <a:t>TNP</a:t>
            </a:r>
            <a:r>
              <a:rPr lang="zh-CN" altLang="en-US" sz="1800" dirty="0"/>
              <a:t>主要用于描述站点的</a:t>
            </a:r>
            <a:r>
              <a:rPr lang="en-US" altLang="zh-CN" sz="1800" dirty="0"/>
              <a:t>WAN</a:t>
            </a:r>
            <a:r>
              <a:rPr lang="zh-CN" altLang="en-US" sz="1800" dirty="0"/>
              <a:t>链路信息，该信息主要被用于建立控制和数据隧道。</a:t>
            </a:r>
            <a:endParaRPr lang="en-US" altLang="zh-CN" sz="1800" dirty="0"/>
          </a:p>
          <a:p>
            <a:r>
              <a:rPr lang="en-US" altLang="zh-CN" sz="1800" dirty="0"/>
              <a:t>TNP</a:t>
            </a:r>
            <a:r>
              <a:rPr lang="zh-CN" altLang="en-US" sz="1800" dirty="0"/>
              <a:t>的主要信息如下：</a:t>
            </a:r>
            <a:endParaRPr lang="en-US" altLang="zh-CN" sz="1600" dirty="0"/>
          </a:p>
          <a:p>
            <a:pPr lvl="1"/>
            <a:endParaRPr lang="en-US" sz="1600" dirty="0"/>
          </a:p>
        </p:txBody>
      </p:sp>
      <p:graphicFrame>
        <p:nvGraphicFramePr>
          <p:cNvPr id="4" name="Table 4">
            <a:extLst>
              <a:ext uri="{FF2B5EF4-FFF2-40B4-BE49-F238E27FC236}">
                <a16:creationId xmlns:a16="http://schemas.microsoft.com/office/drawing/2014/main" id="{02E10C65-41DB-40E3-AB3B-B780B5E3A4B4}"/>
              </a:ext>
            </a:extLst>
          </p:cNvPr>
          <p:cNvGraphicFramePr>
            <a:graphicFrameLocks noGrp="1"/>
          </p:cNvGraphicFramePr>
          <p:nvPr>
            <p:extLst>
              <p:ext uri="{D42A27DB-BD31-4B8C-83A1-F6EECF244321}">
                <p14:modId xmlns:p14="http://schemas.microsoft.com/office/powerpoint/2010/main" val="103410440"/>
              </p:ext>
            </p:extLst>
          </p:nvPr>
        </p:nvGraphicFramePr>
        <p:xfrm>
          <a:off x="1754354" y="2427040"/>
          <a:ext cx="4997513" cy="3510280"/>
        </p:xfrm>
        <a:graphic>
          <a:graphicData uri="http://schemas.openxmlformats.org/drawingml/2006/table">
            <a:tbl>
              <a:tblPr firstRow="1" bandRow="1">
                <a:tableStyleId>{72833802-FEF1-4C79-8D5D-14CF1EAF98D9}</a:tableStyleId>
              </a:tblPr>
              <a:tblGrid>
                <a:gridCol w="1589492">
                  <a:extLst>
                    <a:ext uri="{9D8B030D-6E8A-4147-A177-3AD203B41FA5}">
                      <a16:colId xmlns:a16="http://schemas.microsoft.com/office/drawing/2014/main" val="3334940838"/>
                    </a:ext>
                  </a:extLst>
                </a:gridCol>
                <a:gridCol w="914400">
                  <a:extLst>
                    <a:ext uri="{9D8B030D-6E8A-4147-A177-3AD203B41FA5}">
                      <a16:colId xmlns:a16="http://schemas.microsoft.com/office/drawing/2014/main" val="4239198685"/>
                    </a:ext>
                  </a:extLst>
                </a:gridCol>
                <a:gridCol w="1054758">
                  <a:extLst>
                    <a:ext uri="{9D8B030D-6E8A-4147-A177-3AD203B41FA5}">
                      <a16:colId xmlns:a16="http://schemas.microsoft.com/office/drawing/2014/main" val="3286316881"/>
                    </a:ext>
                  </a:extLst>
                </a:gridCol>
                <a:gridCol w="1438863">
                  <a:extLst>
                    <a:ext uri="{9D8B030D-6E8A-4147-A177-3AD203B41FA5}">
                      <a16:colId xmlns:a16="http://schemas.microsoft.com/office/drawing/2014/main" val="601954423"/>
                    </a:ext>
                  </a:extLst>
                </a:gridCol>
              </a:tblGrid>
              <a:tr h="370840">
                <a:tc>
                  <a:txBody>
                    <a:bodyPr/>
                    <a:lstStyle/>
                    <a:p>
                      <a:pPr algn="ctr"/>
                      <a:r>
                        <a:rPr lang="en-US" sz="1200" dirty="0">
                          <a:solidFill>
                            <a:sysClr val="windowText" lastClr="000000"/>
                          </a:solidFill>
                        </a:rPr>
                        <a:t>TNP</a:t>
                      </a:r>
                      <a:r>
                        <a:rPr lang="zh-CN" altLang="en-US" sz="1200" dirty="0">
                          <a:solidFill>
                            <a:sysClr val="windowText" lastClr="000000"/>
                          </a:solidFill>
                        </a:rPr>
                        <a:t>信息</a:t>
                      </a:r>
                      <a:endParaRPr lang="en-US" sz="1200" dirty="0">
                        <a:solidFill>
                          <a:sysClr val="windowText" lastClr="000000"/>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ctr"/>
                      <a:r>
                        <a:rPr lang="zh-CN" altLang="en-US" sz="1200" dirty="0">
                          <a:solidFill>
                            <a:sysClr val="windowText" lastClr="000000"/>
                          </a:solidFill>
                        </a:rPr>
                        <a:t>举例</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sz="12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dirty="0">
                          <a:solidFill>
                            <a:sysClr val="windowText" lastClr="000000"/>
                          </a:solidFill>
                        </a:rPr>
                        <a:t>备注</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07077649"/>
                  </a:ext>
                </a:extLst>
              </a:tr>
              <a:tr h="370840">
                <a:tc>
                  <a:txBody>
                    <a:bodyPr/>
                    <a:lstStyle/>
                    <a:p>
                      <a:pPr algn="l"/>
                      <a:r>
                        <a:rPr lang="en-US" sz="1200">
                          <a:solidFill>
                            <a:sysClr val="windowText" lastClr="000000"/>
                          </a:solidFill>
                        </a:rPr>
                        <a:t>S</a:t>
                      </a:r>
                      <a:r>
                        <a:rPr lang="en-US" altLang="zh-CN" sz="1200">
                          <a:solidFill>
                            <a:sysClr val="windowText" lastClr="000000"/>
                          </a:solidFill>
                        </a:rPr>
                        <a:t>ite ID</a:t>
                      </a:r>
                      <a:endParaRPr lang="en-US" sz="1200" dirty="0">
                        <a:solidFill>
                          <a:sysClr val="windowText" lastClr="000000"/>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l"/>
                      <a:r>
                        <a:rPr lang="en-US" sz="1200" dirty="0">
                          <a:solidFill>
                            <a:sysClr val="windowText" lastClr="000000"/>
                          </a:solidFill>
                        </a:rPr>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TNP</a:t>
                      </a:r>
                      <a:r>
                        <a:rPr lang="zh-CN" altLang="en-US" sz="1200" dirty="0">
                          <a:solidFill>
                            <a:sysClr val="windowText" lastClr="000000"/>
                          </a:solidFill>
                        </a:rPr>
                        <a:t>所属站点</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5432156"/>
                  </a:ext>
                </a:extLst>
              </a:tr>
              <a:tr h="370840">
                <a:tc>
                  <a:txBody>
                    <a:bodyPr/>
                    <a:lstStyle/>
                    <a:p>
                      <a:pPr algn="l"/>
                      <a:r>
                        <a:rPr lang="en-US" sz="1200">
                          <a:solidFill>
                            <a:sysClr val="windowText" lastClr="000000"/>
                          </a:solidFill>
                        </a:rPr>
                        <a:t>CPE Router ID</a:t>
                      </a:r>
                      <a:endParaRPr lang="en-US" sz="1200" dirty="0">
                        <a:solidFill>
                          <a:sysClr val="windowText" lastClr="000000"/>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l"/>
                      <a:r>
                        <a:rPr lang="en-US" sz="1200" dirty="0">
                          <a:solidFill>
                            <a:sysClr val="windowText" lastClr="000000"/>
                          </a:solidFill>
                        </a:rPr>
                        <a:t>1.1.1.1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solidFill>
                          <a:sysClr val="windowText" lastClr="000000"/>
                        </a:solidFill>
                      </a:endParaRPr>
                    </a:p>
                  </a:txBody>
                  <a:tcPr/>
                </a:tc>
                <a:tc>
                  <a:txBody>
                    <a:bodyPr/>
                    <a:lstStyle/>
                    <a:p>
                      <a:pPr algn="l"/>
                      <a:r>
                        <a:rPr lang="en-US" sz="1200" dirty="0">
                          <a:solidFill>
                            <a:sysClr val="windowText" lastClr="000000"/>
                          </a:solidFill>
                        </a:rPr>
                        <a:t>TNP</a:t>
                      </a:r>
                      <a:r>
                        <a:rPr lang="zh-CN" altLang="en-US" sz="1200" dirty="0">
                          <a:solidFill>
                            <a:sysClr val="windowText" lastClr="000000"/>
                          </a:solidFill>
                        </a:rPr>
                        <a:t>所属</a:t>
                      </a:r>
                      <a:r>
                        <a:rPr lang="en-US" altLang="zh-CN" sz="1200" dirty="0">
                          <a:solidFill>
                            <a:sysClr val="windowText" lastClr="000000"/>
                          </a:solidFill>
                        </a:rPr>
                        <a:t>CPE</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5447012"/>
                  </a:ext>
                </a:extLst>
              </a:tr>
              <a:tr h="370840">
                <a:tc>
                  <a:txBody>
                    <a:bodyPr/>
                    <a:lstStyle/>
                    <a:p>
                      <a:pPr algn="l"/>
                      <a:r>
                        <a:rPr lang="en-US" sz="1200">
                          <a:solidFill>
                            <a:sysClr val="windowText" lastClr="000000"/>
                          </a:solidFill>
                        </a:rPr>
                        <a:t>TNP ID</a:t>
                      </a:r>
                      <a:endParaRPr lang="en-US" sz="1200" dirty="0">
                        <a:solidFill>
                          <a:sysClr val="windowText" lastClr="000000"/>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TNP</a:t>
                      </a:r>
                      <a:r>
                        <a:rPr lang="zh-CN" altLang="en-US" sz="1200" dirty="0">
                          <a:solidFill>
                            <a:sysClr val="windowText" lastClr="000000"/>
                          </a:solidFill>
                        </a:rPr>
                        <a:t>编号</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2309794"/>
                  </a:ext>
                </a:extLst>
              </a:tr>
              <a:tr h="370840">
                <a:tc>
                  <a:txBody>
                    <a:bodyPr/>
                    <a:lstStyle/>
                    <a:p>
                      <a:pPr algn="l"/>
                      <a:r>
                        <a:rPr lang="en-US" sz="1200">
                          <a:solidFill>
                            <a:sysClr val="windowText" lastClr="000000"/>
                          </a:solidFill>
                        </a:rPr>
                        <a:t>T</a:t>
                      </a:r>
                      <a:r>
                        <a:rPr lang="en-US" altLang="zh-CN" sz="1200">
                          <a:solidFill>
                            <a:sysClr val="windowText" lastClr="000000"/>
                          </a:solidFill>
                        </a:rPr>
                        <a:t>ransport Network</a:t>
                      </a:r>
                      <a:endParaRPr lang="en-US" sz="1200" dirty="0">
                        <a:solidFill>
                          <a:sysClr val="windowText" lastClr="000000"/>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TN1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ysClr val="windowText" lastClr="000000"/>
                          </a:solidFill>
                        </a:rPr>
                        <a:t>TN2</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TNP</a:t>
                      </a:r>
                      <a:r>
                        <a:rPr lang="zh-CN" altLang="en-US" sz="1200" dirty="0">
                          <a:solidFill>
                            <a:sysClr val="windowText" lastClr="000000"/>
                          </a:solidFill>
                        </a:rPr>
                        <a:t>所属传输网络</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300383"/>
                  </a:ext>
                </a:extLst>
              </a:tr>
              <a:tr h="370840">
                <a:tc>
                  <a:txBody>
                    <a:bodyPr/>
                    <a:lstStyle/>
                    <a:p>
                      <a:pPr algn="l"/>
                      <a:r>
                        <a:rPr lang="en-US" sz="1200">
                          <a:solidFill>
                            <a:sysClr val="windowText" lastClr="000000"/>
                          </a:solidFill>
                        </a:rPr>
                        <a:t>R</a:t>
                      </a:r>
                      <a:r>
                        <a:rPr lang="en-US" altLang="zh-CN" sz="1200">
                          <a:solidFill>
                            <a:sysClr val="windowText" lastClr="000000"/>
                          </a:solidFill>
                        </a:rPr>
                        <a:t>outing Domain</a:t>
                      </a:r>
                      <a:endParaRPr lang="en-US" sz="1200" dirty="0">
                        <a:solidFill>
                          <a:sysClr val="windowText" lastClr="000000"/>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RD1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RD1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200" dirty="0">
                          <a:solidFill>
                            <a:sysClr val="windowText" lastClr="000000"/>
                          </a:solidFill>
                        </a:rPr>
                        <a:t>TNP</a:t>
                      </a:r>
                      <a:r>
                        <a:rPr lang="zh-CN" altLang="en-US" sz="1200" dirty="0">
                          <a:solidFill>
                            <a:sysClr val="windowText" lastClr="000000"/>
                          </a:solidFill>
                        </a:rPr>
                        <a:t>所属路由域</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941759"/>
                  </a:ext>
                </a:extLst>
              </a:tr>
              <a:tr h="370840">
                <a:tc>
                  <a:txBody>
                    <a:bodyPr/>
                    <a:lstStyle/>
                    <a:p>
                      <a:pPr algn="l"/>
                      <a:r>
                        <a:rPr lang="en-US" sz="1200">
                          <a:solidFill>
                            <a:sysClr val="windowText" lastClr="000000"/>
                          </a:solidFill>
                        </a:rPr>
                        <a:t>P</a:t>
                      </a:r>
                      <a:r>
                        <a:rPr lang="en-US" altLang="zh-CN" sz="1200">
                          <a:solidFill>
                            <a:sysClr val="windowText" lastClr="000000"/>
                          </a:solidFill>
                        </a:rPr>
                        <a:t>ublic IP</a:t>
                      </a:r>
                      <a:endParaRPr lang="en-US" sz="1200" dirty="0">
                        <a:solidFill>
                          <a:sysClr val="windowText" lastClr="000000"/>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10.2.1.1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202.2.2.1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WAN</a:t>
                      </a:r>
                      <a:r>
                        <a:rPr lang="zh-CN" altLang="en-US" sz="1200" dirty="0">
                          <a:solidFill>
                            <a:sysClr val="windowText" lastClr="000000"/>
                          </a:solidFill>
                        </a:rPr>
                        <a:t>侧公网地址（</a:t>
                      </a:r>
                      <a:r>
                        <a:rPr lang="en-US" altLang="zh-CN" sz="1200" dirty="0">
                          <a:solidFill>
                            <a:sysClr val="windowText" lastClr="000000"/>
                          </a:solidFill>
                        </a:rPr>
                        <a:t>NAT</a:t>
                      </a:r>
                      <a:r>
                        <a:rPr lang="zh-CN" altLang="en-US" sz="1200" dirty="0">
                          <a:solidFill>
                            <a:sysClr val="windowText" lastClr="000000"/>
                          </a:solidFill>
                        </a:rPr>
                        <a:t>后）</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9129119"/>
                  </a:ext>
                </a:extLst>
              </a:tr>
              <a:tr h="370840">
                <a:tc>
                  <a:txBody>
                    <a:bodyPr/>
                    <a:lstStyle/>
                    <a:p>
                      <a:pPr algn="l"/>
                      <a:r>
                        <a:rPr lang="en-US" sz="1200">
                          <a:solidFill>
                            <a:sysClr val="windowText" lastClr="000000"/>
                          </a:solidFill>
                        </a:rPr>
                        <a:t>Private IP</a:t>
                      </a:r>
                      <a:endParaRPr lang="en-US" sz="1200" dirty="0">
                        <a:solidFill>
                          <a:sysClr val="windowText" lastClr="000000"/>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10.2.1.1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10.2.2.1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WAN</a:t>
                      </a:r>
                      <a:r>
                        <a:rPr lang="zh-CN" altLang="en-US" sz="1200" dirty="0">
                          <a:solidFill>
                            <a:sysClr val="windowText" lastClr="000000"/>
                          </a:solidFill>
                        </a:rPr>
                        <a:t>侧私网地址（</a:t>
                      </a:r>
                      <a:r>
                        <a:rPr lang="en-US" altLang="zh-CN" sz="1200" dirty="0">
                          <a:solidFill>
                            <a:sysClr val="windowText" lastClr="000000"/>
                          </a:solidFill>
                        </a:rPr>
                        <a:t>NAT</a:t>
                      </a:r>
                      <a:r>
                        <a:rPr lang="zh-CN" altLang="en-US" sz="1200" dirty="0">
                          <a:solidFill>
                            <a:sysClr val="windowText" lastClr="000000"/>
                          </a:solidFill>
                        </a:rPr>
                        <a:t>前）</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5208413"/>
                  </a:ext>
                </a:extLst>
              </a:tr>
              <a:tr h="370840">
                <a:tc>
                  <a:txBody>
                    <a:bodyPr/>
                    <a:lstStyle/>
                    <a:p>
                      <a:pPr algn="l"/>
                      <a:r>
                        <a:rPr lang="en-US" sz="1200" dirty="0">
                          <a:solidFill>
                            <a:sysClr val="windowText" lastClr="000000"/>
                          </a:solidFill>
                        </a:rPr>
                        <a:t>Encapsulation</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GRE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en-US" sz="1200" dirty="0">
                          <a:solidFill>
                            <a:sysClr val="windowText" lastClr="000000"/>
                          </a:solidFill>
                        </a:rPr>
                        <a:t>GRE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zh-CN" altLang="en-US" sz="1200" dirty="0">
                          <a:solidFill>
                            <a:sysClr val="windowText" lastClr="000000"/>
                          </a:solidFill>
                        </a:rPr>
                        <a:t>封装方式</a:t>
                      </a:r>
                      <a:endParaRPr lang="en-US" sz="12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7082179"/>
                  </a:ext>
                </a:extLst>
              </a:tr>
            </a:tbl>
          </a:graphicData>
        </a:graphic>
      </p:graphicFrame>
      <p:grpSp>
        <p:nvGrpSpPr>
          <p:cNvPr id="8" name="Group 7">
            <a:extLst>
              <a:ext uri="{FF2B5EF4-FFF2-40B4-BE49-F238E27FC236}">
                <a16:creationId xmlns:a16="http://schemas.microsoft.com/office/drawing/2014/main" id="{3DD557CA-6E22-4985-90DF-454EA43308B0}"/>
              </a:ext>
            </a:extLst>
          </p:cNvPr>
          <p:cNvGrpSpPr/>
          <p:nvPr/>
        </p:nvGrpSpPr>
        <p:grpSpPr bwMode="gray">
          <a:xfrm>
            <a:off x="6788567" y="2207766"/>
            <a:ext cx="3458302" cy="3770830"/>
            <a:chOff x="6788567" y="2207766"/>
            <a:chExt cx="3458302" cy="3770830"/>
          </a:xfrm>
        </p:grpSpPr>
        <p:pic>
          <p:nvPicPr>
            <p:cNvPr id="5" name="图片 51">
              <a:extLst>
                <a:ext uri="{FF2B5EF4-FFF2-40B4-BE49-F238E27FC236}">
                  <a16:creationId xmlns:a16="http://schemas.microsoft.com/office/drawing/2014/main" id="{5B2EF3F2-108D-4230-81C2-902BD40095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938557" y="3817190"/>
              <a:ext cx="504950" cy="413141"/>
            </a:xfrm>
            <a:prstGeom prst="rect">
              <a:avLst/>
            </a:prstGeom>
          </p:spPr>
        </p:pic>
        <p:sp>
          <p:nvSpPr>
            <p:cNvPr id="14" name="Rectangle 296">
              <a:extLst>
                <a:ext uri="{FF2B5EF4-FFF2-40B4-BE49-F238E27FC236}">
                  <a16:creationId xmlns:a16="http://schemas.microsoft.com/office/drawing/2014/main" id="{A89C8802-92C3-4029-AFAA-0F3D064F84EE}"/>
                </a:ext>
              </a:extLst>
            </p:cNvPr>
            <p:cNvSpPr/>
            <p:nvPr/>
          </p:nvSpPr>
          <p:spPr bwMode="gray">
            <a:xfrm>
              <a:off x="7983539" y="4773845"/>
              <a:ext cx="1318565" cy="930927"/>
            </a:xfrm>
            <a:prstGeom prst="rect">
              <a:avLst/>
            </a:prstGeom>
            <a:solidFill>
              <a:srgbClr val="FFFFFF">
                <a:lumMod val="95000"/>
              </a:srgbClr>
            </a:solidFill>
            <a:ln w="12700" cap="flat">
              <a:solidFill>
                <a:srgbClr val="282828">
                  <a:lumMod val="25000"/>
                  <a:lumOff val="75000"/>
                </a:srgbClr>
              </a:solidFill>
              <a:prstDash val="sysDash"/>
              <a:miter lim="800000"/>
              <a:headEnd type="none" w="med" len="med"/>
              <a:tailEnd type="none" w="med" len="med"/>
            </a:ln>
          </p:spPr>
          <p:txBody>
            <a:bodyPr lIns="121888" tIns="60944" rIns="121888" bIns="60944" rtlCol="0" anchor="ctr"/>
            <a:lstStyle/>
            <a:p>
              <a:pPr algn="ctr" defTabSz="685583">
                <a:defRPr/>
              </a:pPr>
              <a:endParaRPr lang="en-US" sz="1400" kern="0" dirty="0">
                <a:solidFill>
                  <a:srgbClr val="005073"/>
                </a:solidFill>
                <a:latin typeface="Huawei Sans" panose="020C0503030203020204" pitchFamily="34" charset="0"/>
                <a:ea typeface="方正兰亭黑简体" panose="02000000000000000000" pitchFamily="2" charset="-122"/>
                <a:cs typeface="Huawei Sans" panose="020C0503030203020204" pitchFamily="34" charset="0"/>
                <a:sym typeface="Arial" pitchFamily="-107" charset="0"/>
              </a:endParaRPr>
            </a:p>
          </p:txBody>
        </p:sp>
        <p:sp>
          <p:nvSpPr>
            <p:cNvPr id="89" name="Trapezoid 88">
              <a:extLst>
                <a:ext uri="{FF2B5EF4-FFF2-40B4-BE49-F238E27FC236}">
                  <a16:creationId xmlns:a16="http://schemas.microsoft.com/office/drawing/2014/main" id="{7AAC93A1-E984-46F2-BE4E-09EB355E9F91}"/>
                </a:ext>
              </a:extLst>
            </p:cNvPr>
            <p:cNvSpPr/>
            <p:nvPr/>
          </p:nvSpPr>
          <p:spPr bwMode="gray">
            <a:xfrm rot="5400000" flipH="1">
              <a:off x="5845218" y="3355897"/>
              <a:ext cx="3478351" cy="1591654"/>
            </a:xfrm>
            <a:custGeom>
              <a:avLst/>
              <a:gdLst>
                <a:gd name="connsiteX0" fmla="*/ 0 w 717045"/>
                <a:gd name="connsiteY0" fmla="*/ 1665368 h 1665368"/>
                <a:gd name="connsiteX1" fmla="*/ 179261 w 717045"/>
                <a:gd name="connsiteY1" fmla="*/ 0 h 1665368"/>
                <a:gd name="connsiteX2" fmla="*/ 537784 w 717045"/>
                <a:gd name="connsiteY2" fmla="*/ 0 h 1665368"/>
                <a:gd name="connsiteX3" fmla="*/ 717045 w 717045"/>
                <a:gd name="connsiteY3" fmla="*/ 1665368 h 1665368"/>
                <a:gd name="connsiteX4" fmla="*/ 0 w 717045"/>
                <a:gd name="connsiteY4" fmla="*/ 1665368 h 1665368"/>
                <a:gd name="connsiteX0" fmla="*/ 0 w 2873508"/>
                <a:gd name="connsiteY0" fmla="*/ 1665368 h 1665371"/>
                <a:gd name="connsiteX1" fmla="*/ 179261 w 2873508"/>
                <a:gd name="connsiteY1" fmla="*/ 0 h 1665371"/>
                <a:gd name="connsiteX2" fmla="*/ 537784 w 2873508"/>
                <a:gd name="connsiteY2" fmla="*/ 0 h 1665371"/>
                <a:gd name="connsiteX3" fmla="*/ 2873508 w 2873508"/>
                <a:gd name="connsiteY3" fmla="*/ 1665371 h 1665371"/>
                <a:gd name="connsiteX4" fmla="*/ 0 w 2873508"/>
                <a:gd name="connsiteY4" fmla="*/ 1665368 h 1665371"/>
                <a:gd name="connsiteX0" fmla="*/ 0 w 3216409"/>
                <a:gd name="connsiteY0" fmla="*/ 1665371 h 1665371"/>
                <a:gd name="connsiteX1" fmla="*/ 522162 w 3216409"/>
                <a:gd name="connsiteY1" fmla="*/ 0 h 1665371"/>
                <a:gd name="connsiteX2" fmla="*/ 880685 w 3216409"/>
                <a:gd name="connsiteY2" fmla="*/ 0 h 1665371"/>
                <a:gd name="connsiteX3" fmla="*/ 3216409 w 3216409"/>
                <a:gd name="connsiteY3" fmla="*/ 1665371 h 1665371"/>
                <a:gd name="connsiteX4" fmla="*/ 0 w 3216409"/>
                <a:gd name="connsiteY4" fmla="*/ 1665371 h 1665371"/>
                <a:gd name="connsiteX0" fmla="*/ 0 w 3406909"/>
                <a:gd name="connsiteY0" fmla="*/ 1665371 h 1675379"/>
                <a:gd name="connsiteX1" fmla="*/ 522162 w 3406909"/>
                <a:gd name="connsiteY1" fmla="*/ 0 h 1675379"/>
                <a:gd name="connsiteX2" fmla="*/ 880685 w 3406909"/>
                <a:gd name="connsiteY2" fmla="*/ 0 h 1675379"/>
                <a:gd name="connsiteX3" fmla="*/ 3406909 w 3406909"/>
                <a:gd name="connsiteY3" fmla="*/ 1675379 h 1675379"/>
                <a:gd name="connsiteX4" fmla="*/ 0 w 3406909"/>
                <a:gd name="connsiteY4" fmla="*/ 1665371 h 1675379"/>
                <a:gd name="connsiteX0" fmla="*/ 0 w 3445010"/>
                <a:gd name="connsiteY0" fmla="*/ 1675382 h 1675382"/>
                <a:gd name="connsiteX1" fmla="*/ 560263 w 3445010"/>
                <a:gd name="connsiteY1" fmla="*/ 0 h 1675382"/>
                <a:gd name="connsiteX2" fmla="*/ 918786 w 3445010"/>
                <a:gd name="connsiteY2" fmla="*/ 0 h 1675382"/>
                <a:gd name="connsiteX3" fmla="*/ 3445010 w 3445010"/>
                <a:gd name="connsiteY3" fmla="*/ 1675379 h 1675382"/>
                <a:gd name="connsiteX4" fmla="*/ 0 w 3445010"/>
                <a:gd name="connsiteY4" fmla="*/ 1675382 h 1675382"/>
                <a:gd name="connsiteX0" fmla="*/ 0 w 3464063"/>
                <a:gd name="connsiteY0" fmla="*/ 1675382 h 1675382"/>
                <a:gd name="connsiteX1" fmla="*/ 560263 w 3464063"/>
                <a:gd name="connsiteY1" fmla="*/ 0 h 1675382"/>
                <a:gd name="connsiteX2" fmla="*/ 918786 w 3464063"/>
                <a:gd name="connsiteY2" fmla="*/ 0 h 1675382"/>
                <a:gd name="connsiteX3" fmla="*/ 3464063 w 3464063"/>
                <a:gd name="connsiteY3" fmla="*/ 1675381 h 1675382"/>
                <a:gd name="connsiteX4" fmla="*/ 0 w 3464063"/>
                <a:gd name="connsiteY4" fmla="*/ 1675382 h 1675382"/>
                <a:gd name="connsiteX0" fmla="*/ 0 w 3478351"/>
                <a:gd name="connsiteY0" fmla="*/ 1675382 h 1680385"/>
                <a:gd name="connsiteX1" fmla="*/ 560263 w 3478351"/>
                <a:gd name="connsiteY1" fmla="*/ 0 h 1680385"/>
                <a:gd name="connsiteX2" fmla="*/ 918786 w 3478351"/>
                <a:gd name="connsiteY2" fmla="*/ 0 h 1680385"/>
                <a:gd name="connsiteX3" fmla="*/ 3478351 w 3478351"/>
                <a:gd name="connsiteY3" fmla="*/ 1680385 h 1680385"/>
                <a:gd name="connsiteX4" fmla="*/ 0 w 3478351"/>
                <a:gd name="connsiteY4" fmla="*/ 1675382 h 168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351" h="1680385">
                  <a:moveTo>
                    <a:pt x="0" y="1675382"/>
                  </a:moveTo>
                  <a:lnTo>
                    <a:pt x="560263" y="0"/>
                  </a:lnTo>
                  <a:lnTo>
                    <a:pt x="918786" y="0"/>
                  </a:lnTo>
                  <a:lnTo>
                    <a:pt x="3478351" y="1680385"/>
                  </a:lnTo>
                  <a:lnTo>
                    <a:pt x="0" y="1675382"/>
                  </a:lnTo>
                  <a:close/>
                </a:path>
              </a:pathLst>
            </a:custGeom>
            <a:gradFill>
              <a:gsLst>
                <a:gs pos="0">
                  <a:schemeClr val="accent1">
                    <a:lumMod val="5000"/>
                    <a:lumOff val="95000"/>
                  </a:schemeClr>
                </a:gs>
                <a:gs pos="100000">
                  <a:srgbClr val="BEE9EE">
                    <a:alpha val="5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直接连接符 78">
              <a:extLst>
                <a:ext uri="{FF2B5EF4-FFF2-40B4-BE49-F238E27FC236}">
                  <a16:creationId xmlns:a16="http://schemas.microsoft.com/office/drawing/2014/main" id="{2ADF0A7C-DE25-42EB-81FF-7D21C3393843}"/>
                </a:ext>
              </a:extLst>
            </p:cNvPr>
            <p:cNvCxnSpPr>
              <a:cxnSpLocks noChangeShapeType="1"/>
              <a:stCxn id="31" idx="0"/>
            </p:cNvCxnSpPr>
            <p:nvPr/>
          </p:nvCxnSpPr>
          <p:spPr bwMode="gray">
            <a:xfrm flipH="1" flipV="1">
              <a:off x="7432177" y="3105813"/>
              <a:ext cx="1224511" cy="1798419"/>
            </a:xfrm>
            <a:prstGeom prst="line">
              <a:avLst/>
            </a:prstGeom>
            <a:noFill/>
            <a:ln w="19050" algn="ctr">
              <a:solidFill>
                <a:schemeClr val="bg1">
                  <a:lumMod val="50000"/>
                </a:schemeClr>
              </a:solidFill>
              <a:round/>
              <a:headEnd/>
              <a:tailEnd/>
            </a:ln>
          </p:spPr>
        </p:cxnSp>
        <p:cxnSp>
          <p:nvCxnSpPr>
            <p:cNvPr id="16" name="直接连接符 78">
              <a:extLst>
                <a:ext uri="{FF2B5EF4-FFF2-40B4-BE49-F238E27FC236}">
                  <a16:creationId xmlns:a16="http://schemas.microsoft.com/office/drawing/2014/main" id="{DDF7FC90-B60C-4F60-A2CE-AD0BFB2F2BD9}"/>
                </a:ext>
              </a:extLst>
            </p:cNvPr>
            <p:cNvCxnSpPr>
              <a:cxnSpLocks noChangeShapeType="1"/>
              <a:stCxn id="31" idx="0"/>
              <a:endCxn id="5" idx="2"/>
            </p:cNvCxnSpPr>
            <p:nvPr/>
          </p:nvCxnSpPr>
          <p:spPr bwMode="gray">
            <a:xfrm flipV="1">
              <a:off x="8656688" y="4230331"/>
              <a:ext cx="534344" cy="673901"/>
            </a:xfrm>
            <a:prstGeom prst="line">
              <a:avLst/>
            </a:prstGeom>
            <a:noFill/>
            <a:ln w="19050" algn="ctr">
              <a:solidFill>
                <a:schemeClr val="bg1">
                  <a:lumMod val="50000"/>
                </a:schemeClr>
              </a:solidFill>
              <a:round/>
              <a:headEnd/>
              <a:tailEnd/>
            </a:ln>
          </p:spPr>
        </p:cxnSp>
        <p:sp>
          <p:nvSpPr>
            <p:cNvPr id="27" name="矩形 30">
              <a:extLst>
                <a:ext uri="{FF2B5EF4-FFF2-40B4-BE49-F238E27FC236}">
                  <a16:creationId xmlns:a16="http://schemas.microsoft.com/office/drawing/2014/main" id="{CF039014-5FBA-4A7F-B278-F375F80659C1}"/>
                </a:ext>
              </a:extLst>
            </p:cNvPr>
            <p:cNvSpPr/>
            <p:nvPr/>
          </p:nvSpPr>
          <p:spPr bwMode="gray">
            <a:xfrm>
              <a:off x="8089175" y="5701597"/>
              <a:ext cx="1101584" cy="276999"/>
            </a:xfrm>
            <a:prstGeom prst="rect">
              <a:avLst/>
            </a:prstGeom>
            <a:solidFill>
              <a:schemeClr val="bg1">
                <a:lumMod val="75000"/>
              </a:schemeClr>
            </a:solidFill>
          </p:spPr>
          <p:txBody>
            <a:bodyPr wrap="none">
              <a:spAutoFit/>
            </a:bodyPr>
            <a:lstStyle/>
            <a:p>
              <a:r>
                <a:rPr lang="en-US" altLang="zh-CN" sz="1200" b="1" dirty="0">
                  <a:solidFill>
                    <a:srgbClr val="C7000B"/>
                  </a:solidFill>
                  <a:latin typeface="Huawei Sans" panose="020C0503030203020204" pitchFamily="34" charset="0"/>
                  <a:ea typeface="方正兰亭黑简体" panose="02000000000000000000" pitchFamily="2" charset="-122"/>
                </a:rPr>
                <a:t>Site-ID</a:t>
              </a:r>
              <a:r>
                <a:rPr lang="zh-CN" altLang="en-US" sz="1200" dirty="0">
                  <a:solidFill>
                    <a:srgbClr val="000000"/>
                  </a:solidFill>
                  <a:latin typeface="Huawei Sans" panose="020C0503030203020204" pitchFamily="34" charset="0"/>
                  <a:ea typeface="方正兰亭黑简体" panose="02000000000000000000" pitchFamily="2" charset="-122"/>
                </a:rPr>
                <a:t>：</a:t>
              </a:r>
              <a:r>
                <a:rPr lang="en-US" altLang="zh-CN" sz="1200" dirty="0">
                  <a:solidFill>
                    <a:srgbClr val="000000"/>
                  </a:solidFill>
                  <a:latin typeface="Huawei Sans" panose="020C0503030203020204" pitchFamily="34" charset="0"/>
                  <a:ea typeface="方正兰亭黑简体" panose="02000000000000000000" pitchFamily="2" charset="-122"/>
                </a:rPr>
                <a:t>111</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31" name="图片 34">
              <a:extLst>
                <a:ext uri="{FF2B5EF4-FFF2-40B4-BE49-F238E27FC236}">
                  <a16:creationId xmlns:a16="http://schemas.microsoft.com/office/drawing/2014/main" id="{3A54CD1B-B90B-48B8-85EC-838EAD26225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8378484" y="4904232"/>
              <a:ext cx="556408" cy="459037"/>
            </a:xfrm>
            <a:prstGeom prst="rect">
              <a:avLst/>
            </a:prstGeom>
          </p:spPr>
        </p:pic>
        <p:sp>
          <p:nvSpPr>
            <p:cNvPr id="37" name="矩形 40">
              <a:extLst>
                <a:ext uri="{FF2B5EF4-FFF2-40B4-BE49-F238E27FC236}">
                  <a16:creationId xmlns:a16="http://schemas.microsoft.com/office/drawing/2014/main" id="{F8448328-2320-4AC8-821A-99B1084D456C}"/>
                </a:ext>
              </a:extLst>
            </p:cNvPr>
            <p:cNvSpPr/>
            <p:nvPr/>
          </p:nvSpPr>
          <p:spPr bwMode="gray">
            <a:xfrm>
              <a:off x="7871969" y="5299480"/>
              <a:ext cx="1526380"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rPr>
                <a:t>1.1.1.1</a:t>
              </a:r>
            </a:p>
            <a:p>
              <a:pPr algn="ctr"/>
              <a:r>
                <a:rPr lang="zh-CN" altLang="en-US" sz="1200" dirty="0">
                  <a:latin typeface="Huawei Sans" panose="020C0503030203020204" pitchFamily="34" charset="0"/>
                  <a:ea typeface="方正兰亭黑简体" panose="02000000000000000000" pitchFamily="2" charset="-122"/>
                </a:rPr>
                <a:t>（</a:t>
              </a:r>
              <a:r>
                <a:rPr lang="en-US" altLang="zh-CN" sz="1200" b="1" dirty="0">
                  <a:solidFill>
                    <a:srgbClr val="C7000B"/>
                  </a:solidFill>
                  <a:latin typeface="Huawei Sans" panose="020C0503030203020204" pitchFamily="34" charset="0"/>
                  <a:ea typeface="方正兰亭黑简体" panose="02000000000000000000" pitchFamily="2" charset="-122"/>
                </a:rPr>
                <a:t>CPE Router ID</a:t>
              </a:r>
              <a:r>
                <a:rPr lang="zh-CN" altLang="en-US" sz="1200" dirty="0">
                  <a:latin typeface="Huawei Sans" panose="020C0503030203020204" pitchFamily="34" charset="0"/>
                  <a:ea typeface="方正兰亭黑简体" panose="02000000000000000000" pitchFamily="2" charset="-122"/>
                </a:rPr>
                <a:t>）</a:t>
              </a:r>
            </a:p>
          </p:txBody>
        </p:sp>
        <p:sp>
          <p:nvSpPr>
            <p:cNvPr id="42" name="矩形 45">
              <a:extLst>
                <a:ext uri="{FF2B5EF4-FFF2-40B4-BE49-F238E27FC236}">
                  <a16:creationId xmlns:a16="http://schemas.microsoft.com/office/drawing/2014/main" id="{F7D5703F-774B-4663-9965-D4EC208AC519}"/>
                </a:ext>
              </a:extLst>
            </p:cNvPr>
            <p:cNvSpPr/>
            <p:nvPr/>
          </p:nvSpPr>
          <p:spPr bwMode="gray">
            <a:xfrm>
              <a:off x="7520617" y="4501906"/>
              <a:ext cx="955711" cy="461665"/>
            </a:xfrm>
            <a:prstGeom prst="rect">
              <a:avLst/>
            </a:prstGeom>
          </p:spPr>
          <p:txBody>
            <a:bodyPr wrap="none">
              <a:spAutoFit/>
            </a:bodyPr>
            <a:lstStyle/>
            <a:p>
              <a:pPr algn="r"/>
              <a:r>
                <a:rPr lang="en-US" altLang="zh-CN" sz="1200" dirty="0">
                  <a:latin typeface="Huawei Sans" panose="020C0503030203020204" pitchFamily="34" charset="0"/>
                  <a:ea typeface="方正兰亭黑简体" panose="02000000000000000000" pitchFamily="2" charset="-122"/>
                </a:rPr>
                <a:t>GE0</a:t>
              </a:r>
            </a:p>
            <a:p>
              <a:pPr algn="r"/>
              <a:r>
                <a:rPr lang="en-US" altLang="zh-CN" sz="1200" dirty="0">
                  <a:latin typeface="Huawei Sans" panose="020C0503030203020204" pitchFamily="34" charset="0"/>
                  <a:ea typeface="方正兰亭黑简体" panose="02000000000000000000" pitchFamily="2" charset="-122"/>
                </a:rPr>
                <a:t>10.2.1.1/30</a:t>
              </a:r>
              <a:endParaRPr lang="zh-CN" altLang="en-US" sz="1200" dirty="0">
                <a:latin typeface="Huawei Sans" panose="020C0503030203020204" pitchFamily="34" charset="0"/>
                <a:ea typeface="方正兰亭黑简体" panose="02000000000000000000" pitchFamily="2" charset="-122"/>
              </a:endParaRPr>
            </a:p>
          </p:txBody>
        </p:sp>
        <p:sp>
          <p:nvSpPr>
            <p:cNvPr id="49" name="文本框 55">
              <a:extLst>
                <a:ext uri="{FF2B5EF4-FFF2-40B4-BE49-F238E27FC236}">
                  <a16:creationId xmlns:a16="http://schemas.microsoft.com/office/drawing/2014/main" id="{5A867652-2E7F-4900-BD9E-D1A41D7D3F85}"/>
                </a:ext>
              </a:extLst>
            </p:cNvPr>
            <p:cNvSpPr txBox="1"/>
            <p:nvPr/>
          </p:nvSpPr>
          <p:spPr bwMode="gray">
            <a:xfrm>
              <a:off x="8824783" y="5028224"/>
              <a:ext cx="62973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CPE1</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52" name="Freeform 159">
              <a:extLst>
                <a:ext uri="{FF2B5EF4-FFF2-40B4-BE49-F238E27FC236}">
                  <a16:creationId xmlns:a16="http://schemas.microsoft.com/office/drawing/2014/main" id="{F36998F5-CF5C-42FA-AA1C-4BBD1761D158}"/>
                </a:ext>
              </a:extLst>
            </p:cNvPr>
            <p:cNvSpPr/>
            <p:nvPr/>
          </p:nvSpPr>
          <p:spPr bwMode="gray">
            <a:xfrm flipH="1">
              <a:off x="6841827" y="2495283"/>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a:defRPr/>
              </a:pPr>
              <a:r>
                <a:rPr lang="en-US" altLang="zh-CN" sz="1200" kern="0" dirty="0">
                  <a:solidFill>
                    <a:srgbClr val="000000"/>
                  </a:solidFill>
                  <a:latin typeface="Huawei Sans" panose="020C0503030203020204" pitchFamily="34" charset="0"/>
                  <a:ea typeface="方正兰亭黑简体" panose="02000000000000000000" pitchFamily="2" charset="-122"/>
                </a:rPr>
                <a:t>MPLS-ISPA</a:t>
              </a:r>
            </a:p>
            <a:p>
              <a:pPr algn="ctr">
                <a:defRPr/>
              </a:pP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TN1</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3" name="Oval 41">
              <a:extLst>
                <a:ext uri="{FF2B5EF4-FFF2-40B4-BE49-F238E27FC236}">
                  <a16:creationId xmlns:a16="http://schemas.microsoft.com/office/drawing/2014/main" id="{2FD97522-D630-4B03-9A82-E46B487CC9FC}"/>
                </a:ext>
              </a:extLst>
            </p:cNvPr>
            <p:cNvSpPr>
              <a:spLocks noChangeAspect="1"/>
            </p:cNvSpPr>
            <p:nvPr/>
          </p:nvSpPr>
          <p:spPr bwMode="gray">
            <a:xfrm>
              <a:off x="8737404" y="4649764"/>
              <a:ext cx="159261" cy="159261"/>
            </a:xfrm>
            <a:prstGeom prst="ellipse">
              <a:avLst/>
            </a:prstGeom>
            <a:pattFill prst="pct50">
              <a:fgClr>
                <a:srgbClr val="30B5C5"/>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5" name="Oval 41">
              <a:extLst>
                <a:ext uri="{FF2B5EF4-FFF2-40B4-BE49-F238E27FC236}">
                  <a16:creationId xmlns:a16="http://schemas.microsoft.com/office/drawing/2014/main" id="{8535472A-A6FB-406B-BCEC-6D3E011FE632}"/>
                </a:ext>
              </a:extLst>
            </p:cNvPr>
            <p:cNvSpPr>
              <a:spLocks noChangeAspect="1"/>
            </p:cNvSpPr>
            <p:nvPr/>
          </p:nvSpPr>
          <p:spPr bwMode="gray">
            <a:xfrm>
              <a:off x="8443075" y="464895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60" name="Freeform 159">
              <a:extLst>
                <a:ext uri="{FF2B5EF4-FFF2-40B4-BE49-F238E27FC236}">
                  <a16:creationId xmlns:a16="http://schemas.microsoft.com/office/drawing/2014/main" id="{1338924F-46AF-4BF6-95FC-C049458335E8}"/>
                </a:ext>
              </a:extLst>
            </p:cNvPr>
            <p:cNvSpPr/>
            <p:nvPr/>
          </p:nvSpPr>
          <p:spPr bwMode="gray">
            <a:xfrm flipH="1">
              <a:off x="8978313" y="2495283"/>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30B5C5"/>
            </a:solidFill>
            <a:ln w="28575">
              <a:solidFill>
                <a:srgbClr val="C0E8E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a:defRPr/>
              </a:pPr>
              <a:r>
                <a:rPr lang="en-US" altLang="zh-CN" sz="1200" kern="0" dirty="0">
                  <a:solidFill>
                    <a:schemeClr val="bg1"/>
                  </a:solidFill>
                  <a:latin typeface="Huawei Sans" panose="020C0503030203020204" pitchFamily="34" charset="0"/>
                  <a:ea typeface="方正兰亭黑简体" panose="02000000000000000000" pitchFamily="2" charset="-122"/>
                </a:rPr>
                <a:t>Internet-ISPB</a:t>
              </a:r>
              <a:r>
                <a:rPr lang="zh-CN" altLang="en-US" sz="1200" b="1" dirty="0">
                  <a:solidFill>
                    <a:srgbClr val="C7000B"/>
                  </a:solidFill>
                  <a:latin typeface="Huawei Sans" panose="020C0503030203020204" pitchFamily="34" charset="0"/>
                  <a:ea typeface="方正兰亭黑简体" panose="02000000000000000000" pitchFamily="2" charset="-122"/>
                </a:rPr>
                <a:t>（</a:t>
              </a:r>
              <a:r>
                <a:rPr lang="en-US" altLang="zh-CN" sz="1200" b="1" dirty="0">
                  <a:solidFill>
                    <a:srgbClr val="C7000B"/>
                  </a:solidFill>
                  <a:latin typeface="Huawei Sans" panose="020C0503030203020204" pitchFamily="34" charset="0"/>
                  <a:ea typeface="方正兰亭黑简体" panose="02000000000000000000" pitchFamily="2" charset="-122"/>
                </a:rPr>
                <a:t>TN2</a:t>
              </a:r>
              <a:r>
                <a:rPr lang="zh-CN" altLang="en-US" sz="1200" b="1" dirty="0">
                  <a:solidFill>
                    <a:srgbClr val="C7000B"/>
                  </a:solidFill>
                  <a:latin typeface="Huawei Sans" panose="020C0503030203020204" pitchFamily="34" charset="0"/>
                  <a:ea typeface="方正兰亭黑简体" panose="02000000000000000000" pitchFamily="2" charset="-122"/>
                </a:rPr>
                <a:t>）</a:t>
              </a:r>
            </a:p>
          </p:txBody>
        </p:sp>
        <p:cxnSp>
          <p:nvCxnSpPr>
            <p:cNvPr id="80" name="直接连接符 78">
              <a:extLst>
                <a:ext uri="{FF2B5EF4-FFF2-40B4-BE49-F238E27FC236}">
                  <a16:creationId xmlns:a16="http://schemas.microsoft.com/office/drawing/2014/main" id="{DB593B51-DDBE-4390-B868-D38580452B6A}"/>
                </a:ext>
              </a:extLst>
            </p:cNvPr>
            <p:cNvCxnSpPr>
              <a:cxnSpLocks noChangeShapeType="1"/>
              <a:stCxn id="5" idx="0"/>
            </p:cNvCxnSpPr>
            <p:nvPr/>
          </p:nvCxnSpPr>
          <p:spPr bwMode="gray">
            <a:xfrm flipV="1">
              <a:off x="9191032" y="3074048"/>
              <a:ext cx="377631" cy="743142"/>
            </a:xfrm>
            <a:prstGeom prst="line">
              <a:avLst/>
            </a:prstGeom>
            <a:noFill/>
            <a:ln w="19050" algn="ctr">
              <a:solidFill>
                <a:schemeClr val="bg1">
                  <a:lumMod val="50000"/>
                </a:schemeClr>
              </a:solidFill>
              <a:round/>
              <a:headEnd/>
              <a:tailEnd/>
            </a:ln>
          </p:spPr>
        </p:cxnSp>
        <p:sp>
          <p:nvSpPr>
            <p:cNvPr id="86" name="矩形 46">
              <a:extLst>
                <a:ext uri="{FF2B5EF4-FFF2-40B4-BE49-F238E27FC236}">
                  <a16:creationId xmlns:a16="http://schemas.microsoft.com/office/drawing/2014/main" id="{67AA7305-C830-4F1D-84C5-079410F32CBA}"/>
                </a:ext>
              </a:extLst>
            </p:cNvPr>
            <p:cNvSpPr/>
            <p:nvPr/>
          </p:nvSpPr>
          <p:spPr bwMode="gray">
            <a:xfrm>
              <a:off x="8247389" y="3327994"/>
              <a:ext cx="1042273" cy="461665"/>
            </a:xfrm>
            <a:prstGeom prst="rect">
              <a:avLst/>
            </a:prstGeom>
          </p:spPr>
          <p:txBody>
            <a:bodyPr wrap="none">
              <a:spAutoFit/>
            </a:bodyPr>
            <a:lstStyle/>
            <a:p>
              <a:pPr algn="r"/>
              <a:r>
                <a:rPr lang="en-US" altLang="zh-CN" sz="1200" dirty="0">
                  <a:latin typeface="Huawei Sans" panose="020C0503030203020204" pitchFamily="34" charset="0"/>
                  <a:ea typeface="方正兰亭黑简体" panose="02000000000000000000" pitchFamily="2" charset="-122"/>
                </a:rPr>
                <a:t>GE0</a:t>
              </a:r>
            </a:p>
            <a:p>
              <a:pPr algn="r"/>
              <a:r>
                <a:rPr lang="en-US" altLang="zh-CN" sz="1200" dirty="0">
                  <a:latin typeface="Huawei Sans" panose="020C0503030203020204" pitchFamily="34" charset="0"/>
                  <a:ea typeface="方正兰亭黑简体" panose="02000000000000000000" pitchFamily="2" charset="-122"/>
                </a:rPr>
                <a:t>202.2.2.1/30</a:t>
              </a:r>
              <a:endParaRPr lang="zh-CN" altLang="en-US" sz="1200" dirty="0">
                <a:latin typeface="Huawei Sans" panose="020C0503030203020204" pitchFamily="34" charset="0"/>
                <a:ea typeface="方正兰亭黑简体" panose="02000000000000000000" pitchFamily="2" charset="-122"/>
              </a:endParaRPr>
            </a:p>
          </p:txBody>
        </p:sp>
        <p:sp>
          <p:nvSpPr>
            <p:cNvPr id="88" name="Oval 41">
              <a:extLst>
                <a:ext uri="{FF2B5EF4-FFF2-40B4-BE49-F238E27FC236}">
                  <a16:creationId xmlns:a16="http://schemas.microsoft.com/office/drawing/2014/main" id="{609EBC3F-7807-4B10-A090-E1339408E878}"/>
                </a:ext>
              </a:extLst>
            </p:cNvPr>
            <p:cNvSpPr>
              <a:spLocks noChangeAspect="1"/>
            </p:cNvSpPr>
            <p:nvPr/>
          </p:nvSpPr>
          <p:spPr bwMode="gray">
            <a:xfrm>
              <a:off x="9111128" y="3739655"/>
              <a:ext cx="159261" cy="159261"/>
            </a:xfrm>
            <a:prstGeom prst="ellipse">
              <a:avLst/>
            </a:prstGeom>
            <a:pattFill prst="horzBrick">
              <a:fgClr>
                <a:srgbClr val="E28189"/>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43" name="矩形 46">
              <a:extLst>
                <a:ext uri="{FF2B5EF4-FFF2-40B4-BE49-F238E27FC236}">
                  <a16:creationId xmlns:a16="http://schemas.microsoft.com/office/drawing/2014/main" id="{9B3711DF-21F5-4E64-A44A-84787C3076F5}"/>
                </a:ext>
              </a:extLst>
            </p:cNvPr>
            <p:cNvSpPr/>
            <p:nvPr/>
          </p:nvSpPr>
          <p:spPr bwMode="gray">
            <a:xfrm>
              <a:off x="8869005" y="4497638"/>
              <a:ext cx="955711" cy="461665"/>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GE1</a:t>
              </a:r>
            </a:p>
            <a:p>
              <a:r>
                <a:rPr lang="en-US" altLang="zh-CN" sz="1200" dirty="0">
                  <a:latin typeface="Huawei Sans" panose="020C0503030203020204" pitchFamily="34" charset="0"/>
                  <a:ea typeface="方正兰亭黑简体" panose="02000000000000000000" pitchFamily="2" charset="-122"/>
                </a:rPr>
                <a:t>10.2.2.1/30</a:t>
              </a:r>
              <a:endParaRPr lang="zh-CN" altLang="en-US" sz="1200" dirty="0">
                <a:latin typeface="Huawei Sans" panose="020C0503030203020204" pitchFamily="34" charset="0"/>
                <a:ea typeface="方正兰亭黑简体" panose="02000000000000000000" pitchFamily="2" charset="-122"/>
              </a:endParaRPr>
            </a:p>
          </p:txBody>
        </p:sp>
        <p:sp>
          <p:nvSpPr>
            <p:cNvPr id="84" name="文本框 26">
              <a:extLst>
                <a:ext uri="{FF2B5EF4-FFF2-40B4-BE49-F238E27FC236}">
                  <a16:creationId xmlns:a16="http://schemas.microsoft.com/office/drawing/2014/main" id="{8C1AF81F-2EF0-4EA5-9D39-8D37ADB74A1A}"/>
                </a:ext>
              </a:extLst>
            </p:cNvPr>
            <p:cNvSpPr txBox="1"/>
            <p:nvPr/>
          </p:nvSpPr>
          <p:spPr bwMode="gray">
            <a:xfrm>
              <a:off x="9346861" y="3772857"/>
              <a:ext cx="900008" cy="461665"/>
            </a:xfrm>
            <a:prstGeom prst="rect">
              <a:avLst/>
            </a:prstGeom>
            <a:noFill/>
          </p:spPr>
          <p:txBody>
            <a:bodyPr wrap="square" rtlCol="0">
              <a:sp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运营商</a:t>
              </a:r>
              <a:r>
                <a:rPr lang="en-US" altLang="zh-CN" sz="1200" dirty="0">
                  <a:solidFill>
                    <a:srgbClr val="000000"/>
                  </a:solidFill>
                  <a:latin typeface="Huawei Sans" panose="020C0503030203020204" pitchFamily="34" charset="0"/>
                  <a:ea typeface="方正兰亭黑简体" panose="02000000000000000000" pitchFamily="2" charset="-122"/>
                </a:rPr>
                <a:t>NAT</a:t>
              </a:r>
              <a:r>
                <a:rPr lang="zh-CN" altLang="en-US" sz="1200" dirty="0">
                  <a:solidFill>
                    <a:srgbClr val="000000"/>
                  </a:solidFill>
                  <a:latin typeface="Huawei Sans" panose="020C0503030203020204" pitchFamily="34" charset="0"/>
                  <a:ea typeface="方正兰亭黑简体" panose="02000000000000000000" pitchFamily="2" charset="-122"/>
                </a:rPr>
                <a:t>设备</a:t>
              </a:r>
            </a:p>
          </p:txBody>
        </p:sp>
        <p:cxnSp>
          <p:nvCxnSpPr>
            <p:cNvPr id="90" name="直接连接符 78">
              <a:extLst>
                <a:ext uri="{FF2B5EF4-FFF2-40B4-BE49-F238E27FC236}">
                  <a16:creationId xmlns:a16="http://schemas.microsoft.com/office/drawing/2014/main" id="{5F254868-3C87-4912-A86F-B297B5D20DF3}"/>
                </a:ext>
              </a:extLst>
            </p:cNvPr>
            <p:cNvCxnSpPr>
              <a:cxnSpLocks noChangeShapeType="1"/>
              <a:stCxn id="52" idx="8"/>
              <a:endCxn id="60" idx="21"/>
            </p:cNvCxnSpPr>
            <p:nvPr/>
          </p:nvCxnSpPr>
          <p:spPr bwMode="gray">
            <a:xfrm>
              <a:off x="8022528" y="2916757"/>
              <a:ext cx="955785" cy="11234"/>
            </a:xfrm>
            <a:prstGeom prst="line">
              <a:avLst/>
            </a:prstGeom>
            <a:noFill/>
            <a:ln w="19050" algn="ctr">
              <a:solidFill>
                <a:schemeClr val="bg1">
                  <a:lumMod val="50000"/>
                </a:schemeClr>
              </a:solidFill>
              <a:round/>
              <a:headEnd/>
              <a:tailEnd/>
            </a:ln>
          </p:spPr>
        </p:cxnSp>
        <p:sp>
          <p:nvSpPr>
            <p:cNvPr id="94" name="文本框 24">
              <a:extLst>
                <a:ext uri="{FF2B5EF4-FFF2-40B4-BE49-F238E27FC236}">
                  <a16:creationId xmlns:a16="http://schemas.microsoft.com/office/drawing/2014/main" id="{2872EF14-4924-4475-9563-460DBB37CE8E}"/>
                </a:ext>
              </a:extLst>
            </p:cNvPr>
            <p:cNvSpPr txBox="1"/>
            <p:nvPr/>
          </p:nvSpPr>
          <p:spPr bwMode="gray">
            <a:xfrm>
              <a:off x="8094310" y="2207766"/>
              <a:ext cx="854368" cy="276999"/>
            </a:xfrm>
            <a:prstGeom prst="rect">
              <a:avLst/>
            </a:prstGeom>
            <a:noFill/>
          </p:spPr>
          <p:txBody>
            <a:bodyPr wrap="square" rtlCol="0">
              <a:spAutoFit/>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rPr>
                <a:t>RD</a:t>
              </a:r>
              <a:r>
                <a:rPr lang="zh-CN" altLang="en-US" sz="1200" dirty="0">
                  <a:solidFill>
                    <a:srgbClr val="000000"/>
                  </a:solidFill>
                  <a:latin typeface="Huawei Sans" panose="020C0503030203020204" pitchFamily="34" charset="0"/>
                  <a:ea typeface="方正兰亭黑简体" panose="02000000000000000000" pitchFamily="2" charset="-122"/>
                </a:rPr>
                <a:t>：</a:t>
              </a:r>
              <a:r>
                <a:rPr lang="en-US" altLang="zh-CN" sz="1200" dirty="0">
                  <a:solidFill>
                    <a:srgbClr val="000000"/>
                  </a:solidFill>
                  <a:latin typeface="Huawei Sans" panose="020C0503030203020204" pitchFamily="34" charset="0"/>
                  <a:ea typeface="方正兰亭黑简体" panose="02000000000000000000" pitchFamily="2" charset="-122"/>
                </a:rPr>
                <a:t>RD1</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96" name="左大括号 25">
              <a:extLst>
                <a:ext uri="{FF2B5EF4-FFF2-40B4-BE49-F238E27FC236}">
                  <a16:creationId xmlns:a16="http://schemas.microsoft.com/office/drawing/2014/main" id="{F25E21F0-C38F-4D85-88D4-0E460E6B362B}"/>
                </a:ext>
              </a:extLst>
            </p:cNvPr>
            <p:cNvSpPr/>
            <p:nvPr/>
          </p:nvSpPr>
          <p:spPr bwMode="gray">
            <a:xfrm rot="16200000" flipH="1">
              <a:off x="8441864" y="1948047"/>
              <a:ext cx="159260" cy="1282297"/>
            </a:xfrm>
            <a:prstGeom prst="leftBrace">
              <a:avLst>
                <a:gd name="adj1" fmla="val 8333"/>
                <a:gd name="adj2" fmla="val 50012"/>
              </a:avLst>
            </a:prstGeom>
            <a:ln w="19050">
              <a:solidFill>
                <a:srgbClr val="0099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solidFill>
                  <a:srgbClr val="000000"/>
                </a:solidFill>
                <a:latin typeface="Huawei Sans" panose="020C0503030203020204" pitchFamily="34" charset="0"/>
                <a:ea typeface="方正兰亭黑简体" panose="02000000000000000000" pitchFamily="2" charset="-122"/>
              </a:endParaRPr>
            </a:p>
          </p:txBody>
        </p:sp>
      </p:grpSp>
      <p:sp>
        <p:nvSpPr>
          <p:cNvPr id="33"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34"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694209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1D0F6-F0C0-42A0-B597-91ECDEE36C83}"/>
              </a:ext>
            </a:extLst>
          </p:cNvPr>
          <p:cNvSpPr>
            <a:spLocks noGrp="1"/>
          </p:cNvSpPr>
          <p:nvPr>
            <p:ph type="title"/>
          </p:nvPr>
        </p:nvSpPr>
        <p:spPr bwMode="gray"/>
        <p:txBody>
          <a:bodyPr/>
          <a:lstStyle/>
          <a:p>
            <a:r>
              <a:rPr lang="zh-CN" altLang="en-US" dirty="0"/>
              <a:t>隧道枚举介绍</a:t>
            </a:r>
            <a:endParaRPr lang="en-US" dirty="0"/>
          </a:p>
        </p:txBody>
      </p:sp>
      <p:sp>
        <p:nvSpPr>
          <p:cNvPr id="3" name="Text Placeholder 2">
            <a:extLst>
              <a:ext uri="{FF2B5EF4-FFF2-40B4-BE49-F238E27FC236}">
                <a16:creationId xmlns:a16="http://schemas.microsoft.com/office/drawing/2014/main" id="{6993649D-3689-4B00-B1BF-74E61217A5FA}"/>
              </a:ext>
            </a:extLst>
          </p:cNvPr>
          <p:cNvSpPr>
            <a:spLocks noGrp="1"/>
          </p:cNvSpPr>
          <p:nvPr>
            <p:ph type="body" sz="quarter" idx="10"/>
          </p:nvPr>
        </p:nvSpPr>
        <p:spPr bwMode="gray">
          <a:xfrm>
            <a:off x="455613" y="1047750"/>
            <a:ext cx="5627719" cy="4879805"/>
          </a:xfrm>
        </p:spPr>
        <p:txBody>
          <a:bodyPr/>
          <a:lstStyle/>
          <a:p>
            <a:r>
              <a:rPr lang="en-US" altLang="zh-CN" sz="1800" dirty="0"/>
              <a:t>CPE</a:t>
            </a:r>
            <a:r>
              <a:rPr lang="zh-CN" altLang="en-US" sz="1800" dirty="0"/>
              <a:t>会根据</a:t>
            </a:r>
            <a:r>
              <a:rPr lang="en-US" altLang="zh-CN" sz="1800" dirty="0"/>
              <a:t>TNP</a:t>
            </a:r>
            <a:r>
              <a:rPr lang="zh-CN" altLang="en-US" sz="1800" dirty="0"/>
              <a:t>中的</a:t>
            </a:r>
            <a:r>
              <a:rPr lang="en-US" altLang="zh-CN" sz="1800" b="1" dirty="0">
                <a:solidFill>
                  <a:srgbClr val="C7000B"/>
                </a:solidFill>
              </a:rPr>
              <a:t>RD</a:t>
            </a:r>
            <a:r>
              <a:rPr lang="zh-CN" altLang="en-US" sz="1800" dirty="0"/>
              <a:t>与</a:t>
            </a:r>
            <a:r>
              <a:rPr lang="en-US" altLang="zh-CN" sz="1800" b="1" dirty="0">
                <a:solidFill>
                  <a:srgbClr val="C7000B"/>
                </a:solidFill>
              </a:rPr>
              <a:t>TN</a:t>
            </a:r>
            <a:r>
              <a:rPr lang="zh-CN" altLang="en-US" sz="1800" dirty="0"/>
              <a:t>值进行隧道枚举。</a:t>
            </a:r>
            <a:endParaRPr lang="en-US" altLang="zh-CN" sz="1800" dirty="0"/>
          </a:p>
          <a:p>
            <a:r>
              <a:rPr lang="zh-CN" altLang="en-US" sz="1800" dirty="0"/>
              <a:t>隧道枚举可以保障</a:t>
            </a:r>
            <a:r>
              <a:rPr lang="en-US" altLang="zh-CN" sz="1800" dirty="0"/>
              <a:t>SD-WAN</a:t>
            </a:r>
            <a:r>
              <a:rPr lang="zh-CN" altLang="en-US" sz="1800" dirty="0"/>
              <a:t>网络的可靠性，同时也能提高业务感知。</a:t>
            </a:r>
            <a:endParaRPr lang="en-US" altLang="zh-CN" sz="1800" dirty="0"/>
          </a:p>
          <a:p>
            <a:r>
              <a:rPr lang="zh-CN" altLang="en-US" sz="1800" dirty="0"/>
              <a:t>隧道枚举原则：</a:t>
            </a:r>
            <a:endParaRPr lang="en-US" altLang="zh-CN" sz="1800" dirty="0"/>
          </a:p>
          <a:p>
            <a:pPr lvl="1"/>
            <a:r>
              <a:rPr lang="zh-CN" altLang="en-US" sz="1600" dirty="0"/>
              <a:t>只有相同路由域的</a:t>
            </a:r>
            <a:r>
              <a:rPr lang="en-US" altLang="zh-CN" sz="1600" dirty="0"/>
              <a:t>TNP</a:t>
            </a:r>
            <a:r>
              <a:rPr lang="zh-CN" altLang="en-US" sz="1600" dirty="0"/>
              <a:t>才能枚举连接，同一个</a:t>
            </a:r>
            <a:r>
              <a:rPr lang="en-US" altLang="zh-CN" sz="1600" dirty="0"/>
              <a:t>RD</a:t>
            </a:r>
            <a:r>
              <a:rPr lang="zh-CN" altLang="en-US" sz="1600" dirty="0"/>
              <a:t>的接口建立</a:t>
            </a:r>
            <a:r>
              <a:rPr lang="en-US" altLang="zh-CN" sz="1600" dirty="0"/>
              <a:t>Full-mesh</a:t>
            </a:r>
            <a:r>
              <a:rPr lang="zh-CN" altLang="en-US" sz="1600" dirty="0"/>
              <a:t>连接。</a:t>
            </a:r>
            <a:endParaRPr lang="en-US" altLang="zh-CN" sz="1600" dirty="0"/>
          </a:p>
          <a:p>
            <a:pPr lvl="1"/>
            <a:r>
              <a:rPr lang="zh-CN" altLang="en-US" sz="1600" dirty="0"/>
              <a:t>不同路由域的</a:t>
            </a:r>
            <a:r>
              <a:rPr lang="en-US" altLang="zh-CN" sz="1600" dirty="0"/>
              <a:t>TNP</a:t>
            </a:r>
            <a:r>
              <a:rPr lang="zh-CN" altLang="en-US" sz="1600" dirty="0"/>
              <a:t>不能枚举连接。</a:t>
            </a:r>
            <a:endParaRPr lang="en-US" sz="1600" dirty="0"/>
          </a:p>
        </p:txBody>
      </p:sp>
      <p:pic>
        <p:nvPicPr>
          <p:cNvPr id="5" name="图片 3">
            <a:extLst>
              <a:ext uri="{FF2B5EF4-FFF2-40B4-BE49-F238E27FC236}">
                <a16:creationId xmlns:a16="http://schemas.microsoft.com/office/drawing/2014/main" id="{83D1814D-5345-4716-8A7F-EB303E0D802E}"/>
              </a:ext>
            </a:extLst>
          </p:cNvPr>
          <p:cNvPicPr>
            <a:picLocks noChangeAspect="1"/>
          </p:cNvPicPr>
          <p:nvPr/>
        </p:nvPicPr>
        <p:blipFill>
          <a:blip r:embed="rId3"/>
          <a:stretch>
            <a:fillRect/>
          </a:stretch>
        </p:blipFill>
        <p:spPr bwMode="gray">
          <a:xfrm>
            <a:off x="8443095" y="5136814"/>
            <a:ext cx="563738" cy="459037"/>
          </a:xfrm>
          <a:prstGeom prst="rect">
            <a:avLst/>
          </a:prstGeom>
        </p:spPr>
      </p:pic>
      <p:sp>
        <p:nvSpPr>
          <p:cNvPr id="7" name="Rectangle 296">
            <a:extLst>
              <a:ext uri="{FF2B5EF4-FFF2-40B4-BE49-F238E27FC236}">
                <a16:creationId xmlns:a16="http://schemas.microsoft.com/office/drawing/2014/main" id="{0E3F23E0-176D-4AF7-BB9F-5FA0448F2064}"/>
              </a:ext>
            </a:extLst>
          </p:cNvPr>
          <p:cNvSpPr/>
          <p:nvPr/>
        </p:nvSpPr>
        <p:spPr bwMode="gray">
          <a:xfrm>
            <a:off x="7741185" y="1617396"/>
            <a:ext cx="2311803" cy="693703"/>
          </a:xfrm>
          <a:prstGeom prst="rect">
            <a:avLst/>
          </a:prstGeom>
          <a:solidFill>
            <a:srgbClr val="FFFFFF">
              <a:lumMod val="95000"/>
            </a:srgbClr>
          </a:solidFill>
          <a:ln w="12700" cap="flat">
            <a:solidFill>
              <a:srgbClr val="282828">
                <a:lumMod val="25000"/>
                <a:lumOff val="75000"/>
              </a:srgbClr>
            </a:solidFill>
            <a:prstDash val="sysDash"/>
            <a:miter lim="800000"/>
            <a:headEnd type="none" w="med" len="med"/>
            <a:tailEnd type="none" w="med" len="med"/>
          </a:ln>
        </p:spPr>
        <p:txBody>
          <a:bodyPr lIns="121888" tIns="60944" rIns="121888" bIns="60944" rtlCol="0" anchor="ctr"/>
          <a:lstStyle/>
          <a:p>
            <a:pPr algn="ctr" defTabSz="685583">
              <a:defRPr/>
            </a:pPr>
            <a:endParaRPr lang="en-US" sz="1067" kern="0" dirty="0">
              <a:solidFill>
                <a:srgbClr val="005073"/>
              </a:solidFill>
              <a:latin typeface="Huawei Sans" panose="020C0503030203020204" pitchFamily="34" charset="0"/>
              <a:ea typeface="方正兰亭黑简体" panose="02000000000000000000" pitchFamily="2" charset="-122"/>
              <a:cs typeface="Huawei Sans" panose="020C0503030203020204" pitchFamily="34" charset="0"/>
              <a:sym typeface="Arial" pitchFamily="-107" charset="0"/>
            </a:endParaRPr>
          </a:p>
        </p:txBody>
      </p:sp>
      <p:cxnSp>
        <p:nvCxnSpPr>
          <p:cNvPr id="8" name="直接连接符 78">
            <a:extLst>
              <a:ext uri="{FF2B5EF4-FFF2-40B4-BE49-F238E27FC236}">
                <a16:creationId xmlns:a16="http://schemas.microsoft.com/office/drawing/2014/main" id="{FEE6DA0C-C952-4843-9D9D-3930424FC1B6}"/>
              </a:ext>
            </a:extLst>
          </p:cNvPr>
          <p:cNvCxnSpPr>
            <a:cxnSpLocks noChangeShapeType="1"/>
            <a:stCxn id="31" idx="2"/>
            <a:endCxn id="49" idx="1"/>
          </p:cNvCxnSpPr>
          <p:nvPr/>
        </p:nvCxnSpPr>
        <p:spPr bwMode="gray">
          <a:xfrm flipH="1">
            <a:off x="7245729" y="2113529"/>
            <a:ext cx="1153034" cy="1132138"/>
          </a:xfrm>
          <a:prstGeom prst="line">
            <a:avLst/>
          </a:prstGeom>
          <a:noFill/>
          <a:ln w="19050" algn="ctr">
            <a:solidFill>
              <a:schemeClr val="bg1">
                <a:lumMod val="50000"/>
              </a:schemeClr>
            </a:solidFill>
            <a:round/>
            <a:headEnd/>
            <a:tailEnd/>
          </a:ln>
        </p:spPr>
      </p:cxnSp>
      <p:sp>
        <p:nvSpPr>
          <p:cNvPr id="10" name="文本框 11">
            <a:extLst>
              <a:ext uri="{FF2B5EF4-FFF2-40B4-BE49-F238E27FC236}">
                <a16:creationId xmlns:a16="http://schemas.microsoft.com/office/drawing/2014/main" id="{649D801E-FA5E-4086-855B-137FE588F434}"/>
              </a:ext>
            </a:extLst>
          </p:cNvPr>
          <p:cNvSpPr txBox="1"/>
          <p:nvPr/>
        </p:nvSpPr>
        <p:spPr bwMode="gray">
          <a:xfrm>
            <a:off x="9190901" y="4026354"/>
            <a:ext cx="1142548" cy="276999"/>
          </a:xfrm>
          <a:prstGeom prst="rect">
            <a:avLst/>
          </a:prstGeom>
          <a:noFill/>
        </p:spPr>
        <p:txBody>
          <a:bodyPr wrap="square" rtlCol="0">
            <a:spAutoFit/>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rPr>
              <a:t>RD</a:t>
            </a:r>
            <a:r>
              <a:rPr lang="zh-CN" altLang="en-US" sz="1200" dirty="0">
                <a:solidFill>
                  <a:srgbClr val="000000"/>
                </a:solidFill>
                <a:latin typeface="Huawei Sans" panose="020C0503030203020204" pitchFamily="34" charset="0"/>
                <a:ea typeface="方正兰亭黑简体" panose="02000000000000000000" pitchFamily="2" charset="-122"/>
              </a:rPr>
              <a:t>：</a:t>
            </a:r>
            <a:r>
              <a:rPr lang="en-US" altLang="zh-CN" sz="1200" dirty="0">
                <a:solidFill>
                  <a:srgbClr val="000000"/>
                </a:solidFill>
                <a:latin typeface="Huawei Sans" panose="020C0503030203020204" pitchFamily="34" charset="0"/>
                <a:ea typeface="方正兰亭黑简体" panose="02000000000000000000" pitchFamily="2" charset="-122"/>
              </a:rPr>
              <a:t>Internet</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11" name="Rectangle 296">
            <a:extLst>
              <a:ext uri="{FF2B5EF4-FFF2-40B4-BE49-F238E27FC236}">
                <a16:creationId xmlns:a16="http://schemas.microsoft.com/office/drawing/2014/main" id="{1B09417E-CD58-471D-8BF5-82E2D9915ADD}"/>
              </a:ext>
            </a:extLst>
          </p:cNvPr>
          <p:cNvSpPr/>
          <p:nvPr/>
        </p:nvSpPr>
        <p:spPr bwMode="gray">
          <a:xfrm>
            <a:off x="7845303" y="4961887"/>
            <a:ext cx="1318565" cy="771545"/>
          </a:xfrm>
          <a:prstGeom prst="rect">
            <a:avLst/>
          </a:prstGeom>
          <a:solidFill>
            <a:srgbClr val="FFFFFF">
              <a:lumMod val="95000"/>
            </a:srgbClr>
          </a:solidFill>
          <a:ln w="12700" cap="flat">
            <a:solidFill>
              <a:srgbClr val="282828">
                <a:lumMod val="25000"/>
                <a:lumOff val="75000"/>
              </a:srgbClr>
            </a:solidFill>
            <a:prstDash val="sysDash"/>
            <a:miter lim="800000"/>
            <a:headEnd type="none" w="med" len="med"/>
            <a:tailEnd type="none" w="med" len="med"/>
          </a:ln>
        </p:spPr>
        <p:txBody>
          <a:bodyPr lIns="121888" tIns="60944" rIns="121888" bIns="60944" rtlCol="0" anchor="ctr"/>
          <a:lstStyle/>
          <a:p>
            <a:pPr algn="ctr" defTabSz="685583">
              <a:defRPr/>
            </a:pPr>
            <a:endParaRPr lang="en-US" sz="1067" kern="0" dirty="0">
              <a:solidFill>
                <a:srgbClr val="005073"/>
              </a:solidFill>
              <a:latin typeface="Huawei Sans" panose="020C0503030203020204" pitchFamily="34" charset="0"/>
              <a:ea typeface="方正兰亭黑简体" panose="02000000000000000000" pitchFamily="2" charset="-122"/>
              <a:cs typeface="Huawei Sans" panose="020C0503030203020204" pitchFamily="34" charset="0"/>
              <a:sym typeface="Arial" pitchFamily="-107" charset="0"/>
            </a:endParaRPr>
          </a:p>
        </p:txBody>
      </p:sp>
      <p:cxnSp>
        <p:nvCxnSpPr>
          <p:cNvPr id="12" name="直接连接符 78">
            <a:extLst>
              <a:ext uri="{FF2B5EF4-FFF2-40B4-BE49-F238E27FC236}">
                <a16:creationId xmlns:a16="http://schemas.microsoft.com/office/drawing/2014/main" id="{CBC2CA71-23EB-487E-B637-825F309E5DAE}"/>
              </a:ext>
            </a:extLst>
          </p:cNvPr>
          <p:cNvCxnSpPr>
            <a:cxnSpLocks noChangeShapeType="1"/>
            <a:stCxn id="28" idx="0"/>
          </p:cNvCxnSpPr>
          <p:nvPr/>
        </p:nvCxnSpPr>
        <p:spPr bwMode="gray">
          <a:xfrm flipH="1" flipV="1">
            <a:off x="7166293" y="3767762"/>
            <a:ext cx="1328836" cy="1386892"/>
          </a:xfrm>
          <a:prstGeom prst="line">
            <a:avLst/>
          </a:prstGeom>
          <a:noFill/>
          <a:ln w="19050" algn="ctr">
            <a:solidFill>
              <a:schemeClr val="bg1">
                <a:lumMod val="50000"/>
              </a:schemeClr>
            </a:solidFill>
            <a:round/>
            <a:headEnd/>
            <a:tailEnd/>
          </a:ln>
        </p:spPr>
      </p:cxnSp>
      <p:cxnSp>
        <p:nvCxnSpPr>
          <p:cNvPr id="13" name="直接连接符 78">
            <a:extLst>
              <a:ext uri="{FF2B5EF4-FFF2-40B4-BE49-F238E27FC236}">
                <a16:creationId xmlns:a16="http://schemas.microsoft.com/office/drawing/2014/main" id="{4285A164-90AE-4FD4-A82F-7AA3363C5139}"/>
              </a:ext>
            </a:extLst>
          </p:cNvPr>
          <p:cNvCxnSpPr>
            <a:cxnSpLocks noChangeShapeType="1"/>
            <a:stCxn id="28" idx="0"/>
          </p:cNvCxnSpPr>
          <p:nvPr/>
        </p:nvCxnSpPr>
        <p:spPr bwMode="gray">
          <a:xfrm flipV="1">
            <a:off x="8495129" y="3765944"/>
            <a:ext cx="430423" cy="1388710"/>
          </a:xfrm>
          <a:prstGeom prst="line">
            <a:avLst/>
          </a:prstGeom>
          <a:noFill/>
          <a:ln w="19050" algn="ctr">
            <a:solidFill>
              <a:schemeClr val="bg1">
                <a:lumMod val="50000"/>
              </a:schemeClr>
            </a:solidFill>
            <a:round/>
            <a:headEnd/>
            <a:tailEnd/>
          </a:ln>
        </p:spPr>
      </p:cxnSp>
      <p:cxnSp>
        <p:nvCxnSpPr>
          <p:cNvPr id="15" name="直接连接符 78">
            <a:extLst>
              <a:ext uri="{FF2B5EF4-FFF2-40B4-BE49-F238E27FC236}">
                <a16:creationId xmlns:a16="http://schemas.microsoft.com/office/drawing/2014/main" id="{E71F5D44-B2F9-4066-92B5-F448978E7C75}"/>
              </a:ext>
            </a:extLst>
          </p:cNvPr>
          <p:cNvCxnSpPr>
            <a:cxnSpLocks noChangeShapeType="1"/>
            <a:stCxn id="32" idx="1"/>
            <a:endCxn id="31" idx="3"/>
          </p:cNvCxnSpPr>
          <p:nvPr/>
        </p:nvCxnSpPr>
        <p:spPr bwMode="gray">
          <a:xfrm flipH="1">
            <a:off x="8635713" y="1918045"/>
            <a:ext cx="439752" cy="0"/>
          </a:xfrm>
          <a:prstGeom prst="line">
            <a:avLst/>
          </a:prstGeom>
          <a:noFill/>
          <a:ln w="19050" algn="ctr">
            <a:solidFill>
              <a:schemeClr val="bg1">
                <a:lumMod val="50000"/>
              </a:schemeClr>
            </a:solidFill>
            <a:round/>
            <a:headEnd/>
            <a:tailEnd/>
          </a:ln>
        </p:spPr>
      </p:cxnSp>
      <p:cxnSp>
        <p:nvCxnSpPr>
          <p:cNvPr id="16" name="直接连接符 78">
            <a:extLst>
              <a:ext uri="{FF2B5EF4-FFF2-40B4-BE49-F238E27FC236}">
                <a16:creationId xmlns:a16="http://schemas.microsoft.com/office/drawing/2014/main" id="{BF0A6B83-5EBD-451E-9537-8FDC7E28B802}"/>
              </a:ext>
            </a:extLst>
          </p:cNvPr>
          <p:cNvCxnSpPr>
            <a:cxnSpLocks noChangeShapeType="1"/>
            <a:stCxn id="32" idx="2"/>
            <a:endCxn id="58" idx="0"/>
          </p:cNvCxnSpPr>
          <p:nvPr/>
        </p:nvCxnSpPr>
        <p:spPr bwMode="gray">
          <a:xfrm>
            <a:off x="9312416" y="2113529"/>
            <a:ext cx="1191844" cy="1024418"/>
          </a:xfrm>
          <a:prstGeom prst="line">
            <a:avLst/>
          </a:prstGeom>
          <a:noFill/>
          <a:ln w="19050" algn="ctr">
            <a:solidFill>
              <a:schemeClr val="bg1">
                <a:lumMod val="50000"/>
              </a:schemeClr>
            </a:solidFill>
            <a:round/>
            <a:headEnd/>
            <a:tailEnd/>
          </a:ln>
        </p:spPr>
      </p:cxnSp>
      <p:sp>
        <p:nvSpPr>
          <p:cNvPr id="19" name="左大括号 21">
            <a:extLst>
              <a:ext uri="{FF2B5EF4-FFF2-40B4-BE49-F238E27FC236}">
                <a16:creationId xmlns:a16="http://schemas.microsoft.com/office/drawing/2014/main" id="{37BE8587-1807-4C3B-9258-E994ECCE8850}"/>
              </a:ext>
            </a:extLst>
          </p:cNvPr>
          <p:cNvSpPr/>
          <p:nvPr/>
        </p:nvSpPr>
        <p:spPr bwMode="gray">
          <a:xfrm rot="16200000">
            <a:off x="9645622" y="3055247"/>
            <a:ext cx="233107" cy="1709107"/>
          </a:xfrm>
          <a:prstGeom prst="leftBrace">
            <a:avLst>
              <a:gd name="adj1" fmla="val 8333"/>
              <a:gd name="adj2" fmla="val 49563"/>
            </a:avLst>
          </a:prstGeom>
          <a:ln>
            <a:solidFill>
              <a:srgbClr val="0099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67">
              <a:solidFill>
                <a:srgbClr val="000000"/>
              </a:solidFill>
              <a:latin typeface="Huawei Sans" panose="020C0503030203020204" pitchFamily="34" charset="0"/>
              <a:ea typeface="方正兰亭黑简体" panose="02000000000000000000" pitchFamily="2" charset="-122"/>
            </a:endParaRPr>
          </a:p>
        </p:txBody>
      </p:sp>
      <p:sp>
        <p:nvSpPr>
          <p:cNvPr id="21" name="左大括号 25">
            <a:extLst>
              <a:ext uri="{FF2B5EF4-FFF2-40B4-BE49-F238E27FC236}">
                <a16:creationId xmlns:a16="http://schemas.microsoft.com/office/drawing/2014/main" id="{04D48794-BA71-45D8-92EB-159282FB6729}"/>
              </a:ext>
            </a:extLst>
          </p:cNvPr>
          <p:cNvSpPr/>
          <p:nvPr/>
        </p:nvSpPr>
        <p:spPr bwMode="gray">
          <a:xfrm rot="16200000">
            <a:off x="7065678" y="3445052"/>
            <a:ext cx="191481" cy="877250"/>
          </a:xfrm>
          <a:prstGeom prst="leftBrace">
            <a:avLst>
              <a:gd name="adj1" fmla="val 8333"/>
              <a:gd name="adj2" fmla="val 50012"/>
            </a:avLst>
          </a:prstGeom>
          <a:ln>
            <a:solidFill>
              <a:srgbClr val="0099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67">
              <a:solidFill>
                <a:srgbClr val="000000"/>
              </a:solidFill>
              <a:latin typeface="Huawei Sans" panose="020C0503030203020204" pitchFamily="34" charset="0"/>
              <a:ea typeface="方正兰亭黑简体" panose="02000000000000000000" pitchFamily="2" charset="-122"/>
            </a:endParaRPr>
          </a:p>
        </p:txBody>
      </p:sp>
      <p:sp>
        <p:nvSpPr>
          <p:cNvPr id="25" name="文本框 31">
            <a:extLst>
              <a:ext uri="{FF2B5EF4-FFF2-40B4-BE49-F238E27FC236}">
                <a16:creationId xmlns:a16="http://schemas.microsoft.com/office/drawing/2014/main" id="{CA963361-2A2D-4FA4-A3F6-65DBEE2E708A}"/>
              </a:ext>
            </a:extLst>
          </p:cNvPr>
          <p:cNvSpPr txBox="1"/>
          <p:nvPr/>
        </p:nvSpPr>
        <p:spPr bwMode="gray">
          <a:xfrm>
            <a:off x="7704492" y="1798159"/>
            <a:ext cx="542147"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CPE1</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26" name="文本框 32">
            <a:extLst>
              <a:ext uri="{FF2B5EF4-FFF2-40B4-BE49-F238E27FC236}">
                <a16:creationId xmlns:a16="http://schemas.microsoft.com/office/drawing/2014/main" id="{E17B11F7-AAE5-42CA-9A80-20B3A38A77B4}"/>
              </a:ext>
            </a:extLst>
          </p:cNvPr>
          <p:cNvSpPr txBox="1"/>
          <p:nvPr/>
        </p:nvSpPr>
        <p:spPr bwMode="gray">
          <a:xfrm>
            <a:off x="9462025" y="1777524"/>
            <a:ext cx="563534"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CPE2</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28" name="图片 34">
            <a:extLst>
              <a:ext uri="{FF2B5EF4-FFF2-40B4-BE49-F238E27FC236}">
                <a16:creationId xmlns:a16="http://schemas.microsoft.com/office/drawing/2014/main" id="{0B39B87F-104A-4415-AAEE-16CB554F6EE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8258178" y="5154654"/>
            <a:ext cx="473901" cy="390969"/>
          </a:xfrm>
          <a:prstGeom prst="rect">
            <a:avLst/>
          </a:prstGeom>
        </p:spPr>
      </p:pic>
      <p:pic>
        <p:nvPicPr>
          <p:cNvPr id="31" name="图片 37">
            <a:extLst>
              <a:ext uri="{FF2B5EF4-FFF2-40B4-BE49-F238E27FC236}">
                <a16:creationId xmlns:a16="http://schemas.microsoft.com/office/drawing/2014/main" id="{067D9A5D-40FD-4073-AB16-B0C4CB7F046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8161812" y="1722560"/>
            <a:ext cx="473901" cy="390969"/>
          </a:xfrm>
          <a:prstGeom prst="rect">
            <a:avLst/>
          </a:prstGeom>
        </p:spPr>
      </p:pic>
      <p:pic>
        <p:nvPicPr>
          <p:cNvPr id="32" name="图片 38">
            <a:extLst>
              <a:ext uri="{FF2B5EF4-FFF2-40B4-BE49-F238E27FC236}">
                <a16:creationId xmlns:a16="http://schemas.microsoft.com/office/drawing/2014/main" id="{87547279-3D95-4922-8183-32D46EC78C5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9075465" y="1722560"/>
            <a:ext cx="473901" cy="390969"/>
          </a:xfrm>
          <a:prstGeom prst="rect">
            <a:avLst/>
          </a:prstGeom>
        </p:spPr>
      </p:pic>
      <p:sp>
        <p:nvSpPr>
          <p:cNvPr id="46" name="文本框 55">
            <a:extLst>
              <a:ext uri="{FF2B5EF4-FFF2-40B4-BE49-F238E27FC236}">
                <a16:creationId xmlns:a16="http://schemas.microsoft.com/office/drawing/2014/main" id="{84FE03AE-4509-4F0D-91F3-EC6F06903523}"/>
              </a:ext>
            </a:extLst>
          </p:cNvPr>
          <p:cNvSpPr txBox="1"/>
          <p:nvPr/>
        </p:nvSpPr>
        <p:spPr bwMode="gray">
          <a:xfrm>
            <a:off x="7753522" y="5233472"/>
            <a:ext cx="62973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CPE3</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cxnSp>
        <p:nvCxnSpPr>
          <p:cNvPr id="48" name="直接连接符 78">
            <a:extLst>
              <a:ext uri="{FF2B5EF4-FFF2-40B4-BE49-F238E27FC236}">
                <a16:creationId xmlns:a16="http://schemas.microsoft.com/office/drawing/2014/main" id="{B7E792AB-7A8A-494D-BB7B-2BFBA6F301CE}"/>
              </a:ext>
            </a:extLst>
          </p:cNvPr>
          <p:cNvCxnSpPr>
            <a:cxnSpLocks noChangeShapeType="1"/>
            <a:stCxn id="31" idx="2"/>
            <a:endCxn id="57" idx="1"/>
          </p:cNvCxnSpPr>
          <p:nvPr/>
        </p:nvCxnSpPr>
        <p:spPr bwMode="gray">
          <a:xfrm>
            <a:off x="8398763" y="2113529"/>
            <a:ext cx="602850" cy="1123412"/>
          </a:xfrm>
          <a:prstGeom prst="line">
            <a:avLst/>
          </a:prstGeom>
          <a:noFill/>
          <a:ln w="19050" algn="ctr">
            <a:solidFill>
              <a:schemeClr val="bg1">
                <a:lumMod val="50000"/>
              </a:schemeClr>
            </a:solidFill>
            <a:round/>
            <a:headEnd/>
            <a:tailEnd/>
          </a:ln>
        </p:spPr>
      </p:cxnSp>
      <p:sp>
        <p:nvSpPr>
          <p:cNvPr id="49" name="Freeform 159">
            <a:extLst>
              <a:ext uri="{FF2B5EF4-FFF2-40B4-BE49-F238E27FC236}">
                <a16:creationId xmlns:a16="http://schemas.microsoft.com/office/drawing/2014/main" id="{26CF0843-A48E-48CA-9010-532317263C56}"/>
              </a:ext>
            </a:extLst>
          </p:cNvPr>
          <p:cNvSpPr/>
          <p:nvPr/>
        </p:nvSpPr>
        <p:spPr bwMode="gray">
          <a:xfrm flipH="1">
            <a:off x="6576101" y="3159301"/>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MPLS-ISPA</a:t>
            </a:r>
          </a:p>
          <a:p>
            <a:pPr algn="ctr">
              <a:defRPr/>
            </a:pP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TN</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0" name="Oval 41">
            <a:extLst>
              <a:ext uri="{FF2B5EF4-FFF2-40B4-BE49-F238E27FC236}">
                <a16:creationId xmlns:a16="http://schemas.microsoft.com/office/drawing/2014/main" id="{B406918E-3926-4A3E-9250-6C06D0C43B54}"/>
              </a:ext>
            </a:extLst>
          </p:cNvPr>
          <p:cNvSpPr>
            <a:spLocks noChangeAspect="1"/>
          </p:cNvSpPr>
          <p:nvPr/>
        </p:nvSpPr>
        <p:spPr bwMode="gray">
          <a:xfrm>
            <a:off x="8493151" y="4882256"/>
            <a:ext cx="159261" cy="159261"/>
          </a:xfrm>
          <a:prstGeom prst="ellipse">
            <a:avLst/>
          </a:prstGeom>
          <a:pattFill prst="pct50">
            <a:fgClr>
              <a:srgbClr val="30B5C5"/>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1" name="Oval 41">
            <a:extLst>
              <a:ext uri="{FF2B5EF4-FFF2-40B4-BE49-F238E27FC236}">
                <a16:creationId xmlns:a16="http://schemas.microsoft.com/office/drawing/2014/main" id="{B6B00E90-0245-4C66-975D-3D902FD58411}"/>
              </a:ext>
            </a:extLst>
          </p:cNvPr>
          <p:cNvSpPr>
            <a:spLocks noChangeAspect="1"/>
          </p:cNvSpPr>
          <p:nvPr/>
        </p:nvSpPr>
        <p:spPr bwMode="gray">
          <a:xfrm>
            <a:off x="8178393" y="2238961"/>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2" name="Oval 41">
            <a:extLst>
              <a:ext uri="{FF2B5EF4-FFF2-40B4-BE49-F238E27FC236}">
                <a16:creationId xmlns:a16="http://schemas.microsoft.com/office/drawing/2014/main" id="{647CC7D5-C78F-4474-947C-E04331E15FEE}"/>
              </a:ext>
            </a:extLst>
          </p:cNvPr>
          <p:cNvSpPr>
            <a:spLocks noChangeAspect="1"/>
          </p:cNvSpPr>
          <p:nvPr/>
        </p:nvSpPr>
        <p:spPr bwMode="gray">
          <a:xfrm>
            <a:off x="8248103" y="488144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4" name="Oval 41">
            <a:extLst>
              <a:ext uri="{FF2B5EF4-FFF2-40B4-BE49-F238E27FC236}">
                <a16:creationId xmlns:a16="http://schemas.microsoft.com/office/drawing/2014/main" id="{A180BFA3-97F1-4610-B130-018FEC347BE9}"/>
              </a:ext>
            </a:extLst>
          </p:cNvPr>
          <p:cNvSpPr>
            <a:spLocks noChangeAspect="1"/>
          </p:cNvSpPr>
          <p:nvPr/>
        </p:nvSpPr>
        <p:spPr bwMode="gray">
          <a:xfrm>
            <a:off x="8449719" y="2234583"/>
            <a:ext cx="159261" cy="159261"/>
          </a:xfrm>
          <a:prstGeom prst="ellipse">
            <a:avLst/>
          </a:prstGeom>
          <a:pattFill prst="pct50">
            <a:fgClr>
              <a:srgbClr val="30B5C5"/>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5" name="Oval 41">
            <a:extLst>
              <a:ext uri="{FF2B5EF4-FFF2-40B4-BE49-F238E27FC236}">
                <a16:creationId xmlns:a16="http://schemas.microsoft.com/office/drawing/2014/main" id="{BA7CD327-90B7-446B-B1D0-B6F61EAAAC47}"/>
              </a:ext>
            </a:extLst>
          </p:cNvPr>
          <p:cNvSpPr>
            <a:spLocks noChangeAspect="1"/>
          </p:cNvSpPr>
          <p:nvPr/>
        </p:nvSpPr>
        <p:spPr bwMode="gray">
          <a:xfrm>
            <a:off x="9430662" y="2234813"/>
            <a:ext cx="159261" cy="159261"/>
          </a:xfrm>
          <a:prstGeom prst="ellipse">
            <a:avLst/>
          </a:prstGeom>
          <a:pattFill prst="pct50">
            <a:fgClr>
              <a:srgbClr val="30B5C5"/>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7" name="Freeform 159">
            <a:extLst>
              <a:ext uri="{FF2B5EF4-FFF2-40B4-BE49-F238E27FC236}">
                <a16:creationId xmlns:a16="http://schemas.microsoft.com/office/drawing/2014/main" id="{CFECCD9B-C718-4D60-A72E-474683B33059}"/>
              </a:ext>
            </a:extLst>
          </p:cNvPr>
          <p:cNvSpPr/>
          <p:nvPr/>
        </p:nvSpPr>
        <p:spPr bwMode="gray">
          <a:xfrm flipH="1">
            <a:off x="8331985" y="3150575"/>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30B5C5"/>
          </a:solidFill>
          <a:ln w="28575">
            <a:solidFill>
              <a:srgbClr val="C0E8E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chemeClr val="bg1"/>
                </a:solidFill>
                <a:latin typeface="Huawei Sans" panose="020C0503030203020204" pitchFamily="34" charset="0"/>
                <a:ea typeface="方正兰亭黑简体" panose="02000000000000000000" pitchFamily="2" charset="-122"/>
              </a:rPr>
              <a:t>Internet-ISPB</a:t>
            </a:r>
            <a:r>
              <a:rPr lang="zh-CN" altLang="en-US" sz="1400" b="1" dirty="0">
                <a:solidFill>
                  <a:srgbClr val="C7000B"/>
                </a:solidFill>
                <a:latin typeface="Huawei Sans" panose="020C0503030203020204" pitchFamily="34" charset="0"/>
                <a:ea typeface="方正兰亭黑简体" panose="02000000000000000000" pitchFamily="2" charset="-122"/>
              </a:rPr>
              <a:t>（</a:t>
            </a:r>
            <a:r>
              <a:rPr lang="en-US" altLang="zh-CN" sz="1400" b="1" dirty="0">
                <a:solidFill>
                  <a:srgbClr val="C7000B"/>
                </a:solidFill>
                <a:latin typeface="Huawei Sans" panose="020C0503030203020204" pitchFamily="34" charset="0"/>
                <a:ea typeface="方正兰亭黑简体" panose="02000000000000000000" pitchFamily="2" charset="-122"/>
              </a:rPr>
              <a:t>TN</a:t>
            </a:r>
            <a:r>
              <a:rPr lang="zh-CN" altLang="en-US" sz="1400" b="1" dirty="0">
                <a:solidFill>
                  <a:srgbClr val="C7000B"/>
                </a:solidFill>
                <a:latin typeface="Huawei Sans" panose="020C0503030203020204" pitchFamily="34" charset="0"/>
                <a:ea typeface="方正兰亭黑简体" panose="02000000000000000000" pitchFamily="2" charset="-122"/>
              </a:rPr>
              <a:t>）</a:t>
            </a:r>
          </a:p>
        </p:txBody>
      </p:sp>
      <p:sp>
        <p:nvSpPr>
          <p:cNvPr id="58" name="Freeform 159">
            <a:extLst>
              <a:ext uri="{FF2B5EF4-FFF2-40B4-BE49-F238E27FC236}">
                <a16:creationId xmlns:a16="http://schemas.microsoft.com/office/drawing/2014/main" id="{EB1C620E-6F6B-4385-873B-B45C3734897C}"/>
              </a:ext>
            </a:extLst>
          </p:cNvPr>
          <p:cNvSpPr/>
          <p:nvPr/>
        </p:nvSpPr>
        <p:spPr bwMode="gray">
          <a:xfrm flipH="1">
            <a:off x="10041311" y="3137947"/>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30B5C5"/>
          </a:solidFill>
          <a:ln w="28575">
            <a:solidFill>
              <a:srgbClr val="C0E8E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chemeClr val="bg1"/>
                </a:solidFill>
                <a:latin typeface="Huawei Sans" panose="020C0503030203020204" pitchFamily="34" charset="0"/>
                <a:ea typeface="方正兰亭黑简体" panose="02000000000000000000" pitchFamily="2" charset="-122"/>
              </a:rPr>
              <a:t>Internet-ISPC</a:t>
            </a:r>
            <a:r>
              <a:rPr lang="zh-CN" altLang="en-US" sz="1400" b="1" dirty="0">
                <a:solidFill>
                  <a:srgbClr val="C7000B"/>
                </a:solidFill>
                <a:latin typeface="Huawei Sans" panose="020C0503030203020204" pitchFamily="34" charset="0"/>
                <a:ea typeface="方正兰亭黑简体" panose="02000000000000000000" pitchFamily="2" charset="-122"/>
              </a:rPr>
              <a:t>（</a:t>
            </a:r>
            <a:r>
              <a:rPr lang="en-US" altLang="zh-CN" sz="1400" b="1" dirty="0">
                <a:solidFill>
                  <a:srgbClr val="C7000B"/>
                </a:solidFill>
                <a:latin typeface="Huawei Sans" panose="020C0503030203020204" pitchFamily="34" charset="0"/>
                <a:ea typeface="方正兰亭黑简体" panose="02000000000000000000" pitchFamily="2" charset="-122"/>
              </a:rPr>
              <a:t>TN</a:t>
            </a:r>
            <a:r>
              <a:rPr lang="zh-CN" altLang="en-US" sz="1400" b="1" dirty="0">
                <a:solidFill>
                  <a:srgbClr val="C7000B"/>
                </a:solidFill>
                <a:latin typeface="Huawei Sans" panose="020C0503030203020204" pitchFamily="34" charset="0"/>
                <a:ea typeface="方正兰亭黑简体" panose="02000000000000000000" pitchFamily="2" charset="-122"/>
              </a:rPr>
              <a:t>）</a:t>
            </a:r>
            <a:endParaRPr lang="zh-CN" altLang="en-US" sz="1200" b="1" dirty="0">
              <a:solidFill>
                <a:srgbClr val="C7000B"/>
              </a:solidFill>
              <a:latin typeface="Huawei Sans" panose="020C0503030203020204" pitchFamily="34" charset="0"/>
              <a:ea typeface="方正兰亭黑简体" panose="02000000000000000000" pitchFamily="2" charset="-122"/>
            </a:endParaRPr>
          </a:p>
        </p:txBody>
      </p:sp>
      <p:cxnSp>
        <p:nvCxnSpPr>
          <p:cNvPr id="59" name="直接连接符 78">
            <a:extLst>
              <a:ext uri="{FF2B5EF4-FFF2-40B4-BE49-F238E27FC236}">
                <a16:creationId xmlns:a16="http://schemas.microsoft.com/office/drawing/2014/main" id="{5AEA4862-650B-416B-8B0F-B263BB8720E8}"/>
              </a:ext>
            </a:extLst>
          </p:cNvPr>
          <p:cNvCxnSpPr>
            <a:cxnSpLocks noChangeShapeType="1"/>
            <a:stCxn id="57" idx="8"/>
            <a:endCxn id="58" idx="21"/>
          </p:cNvCxnSpPr>
          <p:nvPr/>
        </p:nvCxnSpPr>
        <p:spPr bwMode="gray">
          <a:xfrm flipV="1">
            <a:off x="9512686" y="3570655"/>
            <a:ext cx="528625" cy="1394"/>
          </a:xfrm>
          <a:prstGeom prst="line">
            <a:avLst/>
          </a:prstGeom>
          <a:noFill/>
          <a:ln w="19050" algn="ctr">
            <a:solidFill>
              <a:schemeClr val="bg1">
                <a:lumMod val="50000"/>
              </a:schemeClr>
            </a:solidFill>
            <a:round/>
            <a:headEnd/>
            <a:tailEnd/>
          </a:ln>
        </p:spPr>
      </p:cxnSp>
      <p:sp>
        <p:nvSpPr>
          <p:cNvPr id="70" name="Freeform: Shape 69">
            <a:extLst>
              <a:ext uri="{FF2B5EF4-FFF2-40B4-BE49-F238E27FC236}">
                <a16:creationId xmlns:a16="http://schemas.microsoft.com/office/drawing/2014/main" id="{E43CF8FE-7E06-4779-B753-ADB2A335723E}"/>
              </a:ext>
            </a:extLst>
          </p:cNvPr>
          <p:cNvSpPr/>
          <p:nvPr/>
        </p:nvSpPr>
        <p:spPr bwMode="invGray">
          <a:xfrm>
            <a:off x="6715116" y="2190750"/>
            <a:ext cx="1628784" cy="2990850"/>
          </a:xfrm>
          <a:custGeom>
            <a:avLst/>
            <a:gdLst>
              <a:gd name="connsiteX0" fmla="*/ 1609734 w 1628784"/>
              <a:gd name="connsiteY0" fmla="*/ 0 h 2990850"/>
              <a:gd name="connsiteX1" fmla="*/ 9 w 1628784"/>
              <a:gd name="connsiteY1" fmla="*/ 1181100 h 2990850"/>
              <a:gd name="connsiteX2" fmla="*/ 1628784 w 1628784"/>
              <a:gd name="connsiteY2" fmla="*/ 2990850 h 2990850"/>
            </a:gdLst>
            <a:ahLst/>
            <a:cxnLst>
              <a:cxn ang="0">
                <a:pos x="connsiteX0" y="connsiteY0"/>
              </a:cxn>
              <a:cxn ang="0">
                <a:pos x="connsiteX1" y="connsiteY1"/>
              </a:cxn>
              <a:cxn ang="0">
                <a:pos x="connsiteX2" y="connsiteY2"/>
              </a:cxn>
            </a:cxnLst>
            <a:rect l="l" t="t" r="r" b="b"/>
            <a:pathLst>
              <a:path w="1628784" h="2990850">
                <a:moveTo>
                  <a:pt x="1609734" y="0"/>
                </a:moveTo>
                <a:cubicBezTo>
                  <a:pt x="803284" y="341312"/>
                  <a:pt x="-3166" y="682625"/>
                  <a:pt x="9" y="1181100"/>
                </a:cubicBezTo>
                <a:cubicBezTo>
                  <a:pt x="3184" y="1679575"/>
                  <a:pt x="815984" y="2335212"/>
                  <a:pt x="1628784" y="2990850"/>
                </a:cubicBezTo>
              </a:path>
            </a:pathLst>
          </a:custGeom>
          <a:noFill/>
          <a:ln w="762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Freeform: Shape 70">
            <a:extLst>
              <a:ext uri="{FF2B5EF4-FFF2-40B4-BE49-F238E27FC236}">
                <a16:creationId xmlns:a16="http://schemas.microsoft.com/office/drawing/2014/main" id="{BC9BFEAB-987D-4A23-B751-9942E360335D}"/>
              </a:ext>
            </a:extLst>
          </p:cNvPr>
          <p:cNvSpPr/>
          <p:nvPr/>
        </p:nvSpPr>
        <p:spPr bwMode="gray">
          <a:xfrm>
            <a:off x="8601075" y="2190750"/>
            <a:ext cx="657225" cy="2905125"/>
          </a:xfrm>
          <a:custGeom>
            <a:avLst/>
            <a:gdLst>
              <a:gd name="connsiteX0" fmla="*/ 0 w 657225"/>
              <a:gd name="connsiteY0" fmla="*/ 0 h 2905125"/>
              <a:gd name="connsiteX1" fmla="*/ 657225 w 657225"/>
              <a:gd name="connsiteY1" fmla="*/ 1266825 h 2905125"/>
              <a:gd name="connsiteX2" fmla="*/ 0 w 657225"/>
              <a:gd name="connsiteY2" fmla="*/ 2905125 h 2905125"/>
            </a:gdLst>
            <a:ahLst/>
            <a:cxnLst>
              <a:cxn ang="0">
                <a:pos x="connsiteX0" y="connsiteY0"/>
              </a:cxn>
              <a:cxn ang="0">
                <a:pos x="connsiteX1" y="connsiteY1"/>
              </a:cxn>
              <a:cxn ang="0">
                <a:pos x="connsiteX2" y="connsiteY2"/>
              </a:cxn>
            </a:cxnLst>
            <a:rect l="l" t="t" r="r" b="b"/>
            <a:pathLst>
              <a:path w="657225" h="2905125">
                <a:moveTo>
                  <a:pt x="0" y="0"/>
                </a:moveTo>
                <a:cubicBezTo>
                  <a:pt x="328612" y="391319"/>
                  <a:pt x="657225" y="782638"/>
                  <a:pt x="657225" y="1266825"/>
                </a:cubicBezTo>
                <a:cubicBezTo>
                  <a:pt x="657225" y="1751012"/>
                  <a:pt x="112712" y="2641600"/>
                  <a:pt x="0" y="2905125"/>
                </a:cubicBezTo>
              </a:path>
            </a:pathLst>
          </a:cu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Freeform: Shape 71">
            <a:extLst>
              <a:ext uri="{FF2B5EF4-FFF2-40B4-BE49-F238E27FC236}">
                <a16:creationId xmlns:a16="http://schemas.microsoft.com/office/drawing/2014/main" id="{C074CABE-97F2-4EA3-AAB9-9F8EE4CE4743}"/>
              </a:ext>
            </a:extLst>
          </p:cNvPr>
          <p:cNvSpPr/>
          <p:nvPr/>
        </p:nvSpPr>
        <p:spPr bwMode="gray">
          <a:xfrm>
            <a:off x="8734425" y="2181225"/>
            <a:ext cx="1930683" cy="2895600"/>
          </a:xfrm>
          <a:custGeom>
            <a:avLst/>
            <a:gdLst>
              <a:gd name="connsiteX0" fmla="*/ 800100 w 2057923"/>
              <a:gd name="connsiteY0" fmla="*/ 0 h 2895600"/>
              <a:gd name="connsiteX1" fmla="*/ 2057400 w 2057923"/>
              <a:gd name="connsiteY1" fmla="*/ 981075 h 2895600"/>
              <a:gd name="connsiteX2" fmla="*/ 942975 w 2057923"/>
              <a:gd name="connsiteY2" fmla="*/ 1314450 h 2895600"/>
              <a:gd name="connsiteX3" fmla="*/ 0 w 2057923"/>
              <a:gd name="connsiteY3" fmla="*/ 2895600 h 2895600"/>
            </a:gdLst>
            <a:ahLst/>
            <a:cxnLst>
              <a:cxn ang="0">
                <a:pos x="connsiteX0" y="connsiteY0"/>
              </a:cxn>
              <a:cxn ang="0">
                <a:pos x="connsiteX1" y="connsiteY1"/>
              </a:cxn>
              <a:cxn ang="0">
                <a:pos x="connsiteX2" y="connsiteY2"/>
              </a:cxn>
              <a:cxn ang="0">
                <a:pos x="connsiteX3" y="connsiteY3"/>
              </a:cxn>
            </a:cxnLst>
            <a:rect l="l" t="t" r="r" b="b"/>
            <a:pathLst>
              <a:path w="2057923" h="2895600">
                <a:moveTo>
                  <a:pt x="800100" y="0"/>
                </a:moveTo>
                <a:cubicBezTo>
                  <a:pt x="1416844" y="381000"/>
                  <a:pt x="2033588" y="762000"/>
                  <a:pt x="2057400" y="981075"/>
                </a:cubicBezTo>
                <a:cubicBezTo>
                  <a:pt x="2081212" y="1200150"/>
                  <a:pt x="1285875" y="995363"/>
                  <a:pt x="942975" y="1314450"/>
                </a:cubicBezTo>
                <a:cubicBezTo>
                  <a:pt x="600075" y="1633537"/>
                  <a:pt x="300037" y="2264568"/>
                  <a:pt x="0" y="2895600"/>
                </a:cubicBezTo>
              </a:path>
            </a:pathLst>
          </a:cu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ular Callout 75">
            <a:extLst>
              <a:ext uri="{FF2B5EF4-FFF2-40B4-BE49-F238E27FC236}">
                <a16:creationId xmlns:a16="http://schemas.microsoft.com/office/drawing/2014/main" id="{32D37C86-8609-4133-B479-3D05C0EC26C1}"/>
              </a:ext>
            </a:extLst>
          </p:cNvPr>
          <p:cNvSpPr/>
          <p:nvPr/>
        </p:nvSpPr>
        <p:spPr bwMode="gray">
          <a:xfrm>
            <a:off x="9346543" y="4293709"/>
            <a:ext cx="1318565" cy="709200"/>
          </a:xfrm>
          <a:prstGeom prst="wedgeRectCallout">
            <a:avLst>
              <a:gd name="adj1" fmla="val -66785"/>
              <a:gd name="adj2" fmla="val -2928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同</a:t>
            </a:r>
            <a:r>
              <a:rPr lang="en-US" altLang="zh-CN" sz="1400" dirty="0">
                <a:solidFill>
                  <a:schemeClr val="tx1"/>
                </a:solidFill>
                <a:latin typeface="Huawei Sans" panose="020C0503030203020204" pitchFamily="34" charset="0"/>
                <a:ea typeface="方正兰亭黑简体" panose="02000000000000000000" pitchFamily="2" charset="-122"/>
              </a:rPr>
              <a:t>RD</a:t>
            </a:r>
            <a:r>
              <a:rPr lang="zh-CN" altLang="en-US" sz="1400" dirty="0">
                <a:solidFill>
                  <a:schemeClr val="tx1"/>
                </a:solidFill>
                <a:latin typeface="Huawei Sans" panose="020C0503030203020204" pitchFamily="34" charset="0"/>
                <a:ea typeface="方正兰亭黑简体" panose="02000000000000000000" pitchFamily="2" charset="-122"/>
              </a:rPr>
              <a:t>的接口之间</a:t>
            </a:r>
            <a:r>
              <a:rPr lang="zh-CN" altLang="en-US" sz="1400">
                <a:solidFill>
                  <a:schemeClr val="tx1"/>
                </a:solidFill>
                <a:latin typeface="Huawei Sans" panose="020C0503030203020204" pitchFamily="34" charset="0"/>
                <a:ea typeface="方正兰亭黑简体" panose="02000000000000000000" pitchFamily="2" charset="-122"/>
              </a:rPr>
              <a:t>会建立</a:t>
            </a:r>
            <a:r>
              <a:rPr lang="en-US" altLang="zh-CN" sz="1400">
                <a:solidFill>
                  <a:schemeClr val="tx1"/>
                </a:solidFill>
                <a:latin typeface="Huawei Sans" panose="020C0503030203020204" pitchFamily="34" charset="0"/>
                <a:ea typeface="方正兰亭黑简体" panose="02000000000000000000" pitchFamily="2" charset="-122"/>
              </a:rPr>
              <a:t>Full-mesh</a:t>
            </a:r>
            <a:r>
              <a:rPr lang="zh-CN" altLang="en-US" sz="1400">
                <a:solidFill>
                  <a:schemeClr val="tx1"/>
                </a:solidFill>
                <a:latin typeface="Huawei Sans" panose="020C0503030203020204" pitchFamily="34" charset="0"/>
                <a:ea typeface="方正兰亭黑简体" panose="02000000000000000000" pitchFamily="2" charset="-122"/>
              </a:rPr>
              <a:t>连接</a:t>
            </a:r>
            <a:endParaRPr lang="zh-CN" altLang="en-US" sz="1400" dirty="0">
              <a:solidFill>
                <a:schemeClr val="tx1"/>
              </a:solidFill>
              <a:latin typeface="Huawei Sans" panose="020C0503030203020204" pitchFamily="34" charset="0"/>
              <a:ea typeface="方正兰亭黑简体" panose="02000000000000000000" pitchFamily="2" charset="-122"/>
            </a:endParaRPr>
          </a:p>
        </p:txBody>
      </p:sp>
      <p:sp>
        <p:nvSpPr>
          <p:cNvPr id="39" name="矩形 45">
            <a:extLst>
              <a:ext uri="{FF2B5EF4-FFF2-40B4-BE49-F238E27FC236}">
                <a16:creationId xmlns:a16="http://schemas.microsoft.com/office/drawing/2014/main" id="{FFA8DD2F-3969-4404-A196-CAFC991AB512}"/>
              </a:ext>
            </a:extLst>
          </p:cNvPr>
          <p:cNvSpPr/>
          <p:nvPr/>
        </p:nvSpPr>
        <p:spPr bwMode="gray">
          <a:xfrm>
            <a:off x="7827890" y="4821840"/>
            <a:ext cx="465192"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GE0</a:t>
            </a:r>
            <a:endParaRPr lang="zh-CN" altLang="en-US" sz="1200" dirty="0">
              <a:latin typeface="Huawei Sans" panose="020C0503030203020204" pitchFamily="34" charset="0"/>
              <a:ea typeface="方正兰亭黑简体" panose="02000000000000000000" pitchFamily="2" charset="-122"/>
            </a:endParaRPr>
          </a:p>
        </p:txBody>
      </p:sp>
      <p:sp>
        <p:nvSpPr>
          <p:cNvPr id="40" name="矩形 46">
            <a:extLst>
              <a:ext uri="{FF2B5EF4-FFF2-40B4-BE49-F238E27FC236}">
                <a16:creationId xmlns:a16="http://schemas.microsoft.com/office/drawing/2014/main" id="{0A0EDE76-1209-4F92-80E2-6900AFA35923}"/>
              </a:ext>
            </a:extLst>
          </p:cNvPr>
          <p:cNvSpPr/>
          <p:nvPr/>
        </p:nvSpPr>
        <p:spPr bwMode="gray">
          <a:xfrm>
            <a:off x="8604236" y="4818757"/>
            <a:ext cx="465192"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GE1</a:t>
            </a:r>
            <a:endParaRPr lang="zh-CN" altLang="en-US" sz="1200" dirty="0">
              <a:latin typeface="Huawei Sans" panose="020C0503030203020204" pitchFamily="34" charset="0"/>
              <a:ea typeface="方正兰亭黑简体" panose="02000000000000000000" pitchFamily="2" charset="-122"/>
            </a:endParaRPr>
          </a:p>
        </p:txBody>
      </p:sp>
      <p:sp>
        <p:nvSpPr>
          <p:cNvPr id="20" name="文本框 24">
            <a:extLst>
              <a:ext uri="{FF2B5EF4-FFF2-40B4-BE49-F238E27FC236}">
                <a16:creationId xmlns:a16="http://schemas.microsoft.com/office/drawing/2014/main" id="{84390DA5-F9C4-4C72-8645-96822C67A4AF}"/>
              </a:ext>
            </a:extLst>
          </p:cNvPr>
          <p:cNvSpPr txBox="1"/>
          <p:nvPr/>
        </p:nvSpPr>
        <p:spPr bwMode="gray">
          <a:xfrm>
            <a:off x="6704445" y="4009393"/>
            <a:ext cx="967265" cy="276999"/>
          </a:xfrm>
          <a:prstGeom prst="rect">
            <a:avLst/>
          </a:prstGeom>
          <a:noFill/>
        </p:spPr>
        <p:txBody>
          <a:bodyPr wrap="square" rtlCol="0">
            <a:spAutoFit/>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rPr>
              <a:t>RD</a:t>
            </a:r>
            <a:r>
              <a:rPr lang="zh-CN" altLang="en-US" sz="1200" dirty="0">
                <a:solidFill>
                  <a:srgbClr val="000000"/>
                </a:solidFill>
                <a:latin typeface="Huawei Sans" panose="020C0503030203020204" pitchFamily="34" charset="0"/>
                <a:ea typeface="方正兰亭黑简体" panose="02000000000000000000" pitchFamily="2" charset="-122"/>
              </a:rPr>
              <a:t>：</a:t>
            </a:r>
            <a:r>
              <a:rPr lang="en-US" altLang="zh-CN" sz="1200" dirty="0">
                <a:solidFill>
                  <a:srgbClr val="000000"/>
                </a:solidFill>
                <a:latin typeface="Huawei Sans" panose="020C0503030203020204" pitchFamily="34" charset="0"/>
                <a:ea typeface="方正兰亭黑简体" panose="02000000000000000000" pitchFamily="2" charset="-122"/>
              </a:rPr>
              <a:t>MPLS</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43" name="矩形 52">
            <a:extLst>
              <a:ext uri="{FF2B5EF4-FFF2-40B4-BE49-F238E27FC236}">
                <a16:creationId xmlns:a16="http://schemas.microsoft.com/office/drawing/2014/main" id="{C0F67ABB-0BEF-4B12-8494-AD90D53599F3}"/>
              </a:ext>
            </a:extLst>
          </p:cNvPr>
          <p:cNvSpPr/>
          <p:nvPr/>
        </p:nvSpPr>
        <p:spPr bwMode="gray">
          <a:xfrm>
            <a:off x="7756802" y="2177280"/>
            <a:ext cx="473206"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GE0</a:t>
            </a:r>
            <a:endParaRPr lang="zh-CN" altLang="en-US" sz="1200" dirty="0">
              <a:latin typeface="Huawei Sans" panose="020C0503030203020204" pitchFamily="34" charset="0"/>
              <a:ea typeface="方正兰亭黑简体" panose="02000000000000000000" pitchFamily="2" charset="-122"/>
            </a:endParaRPr>
          </a:p>
        </p:txBody>
      </p:sp>
      <p:sp>
        <p:nvSpPr>
          <p:cNvPr id="44" name="矩形 53">
            <a:extLst>
              <a:ext uri="{FF2B5EF4-FFF2-40B4-BE49-F238E27FC236}">
                <a16:creationId xmlns:a16="http://schemas.microsoft.com/office/drawing/2014/main" id="{51471B4C-002C-4235-B665-F5FD43C34D9F}"/>
              </a:ext>
            </a:extLst>
          </p:cNvPr>
          <p:cNvSpPr/>
          <p:nvPr/>
        </p:nvSpPr>
        <p:spPr bwMode="gray">
          <a:xfrm>
            <a:off x="8560099" y="2183841"/>
            <a:ext cx="473206"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GE1</a:t>
            </a:r>
            <a:endParaRPr lang="zh-CN" altLang="en-US" sz="1200" dirty="0">
              <a:latin typeface="Huawei Sans" panose="020C0503030203020204" pitchFamily="34" charset="0"/>
              <a:ea typeface="方正兰亭黑简体" panose="02000000000000000000" pitchFamily="2" charset="-122"/>
            </a:endParaRPr>
          </a:p>
        </p:txBody>
      </p:sp>
      <p:sp>
        <p:nvSpPr>
          <p:cNvPr id="45" name="矩形 54">
            <a:extLst>
              <a:ext uri="{FF2B5EF4-FFF2-40B4-BE49-F238E27FC236}">
                <a16:creationId xmlns:a16="http://schemas.microsoft.com/office/drawing/2014/main" id="{C800351B-E12A-4D47-AD94-C353E7708AF2}"/>
              </a:ext>
            </a:extLst>
          </p:cNvPr>
          <p:cNvSpPr/>
          <p:nvPr/>
        </p:nvSpPr>
        <p:spPr bwMode="gray">
          <a:xfrm>
            <a:off x="9519081" y="2181597"/>
            <a:ext cx="473206"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rPr>
              <a:t>GE0</a:t>
            </a:r>
            <a:endParaRPr lang="zh-CN" altLang="en-US" sz="1200" dirty="0">
              <a:latin typeface="Huawei Sans" panose="020C0503030203020204" pitchFamily="34" charset="0"/>
              <a:ea typeface="方正兰亭黑简体" panose="02000000000000000000" pitchFamily="2" charset="-122"/>
            </a:endParaRPr>
          </a:p>
        </p:txBody>
      </p:sp>
      <p:sp>
        <p:nvSpPr>
          <p:cNvPr id="47"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3"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749419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EF290-1107-45BB-9654-1014482E5E6F}"/>
              </a:ext>
            </a:extLst>
          </p:cNvPr>
          <p:cNvSpPr>
            <a:spLocks noGrp="1"/>
          </p:cNvSpPr>
          <p:nvPr>
            <p:ph type="title"/>
          </p:nvPr>
        </p:nvSpPr>
        <p:spPr bwMode="gray"/>
        <p:txBody>
          <a:bodyPr/>
          <a:lstStyle/>
          <a:p>
            <a:pPr>
              <a:tabLst>
                <a:tab pos="5829300" algn="l"/>
              </a:tabLst>
            </a:pPr>
            <a:r>
              <a:rPr lang="en-US" dirty="0"/>
              <a:t>SD-WAN</a:t>
            </a:r>
            <a:r>
              <a:rPr lang="zh-CN" altLang="en-US" dirty="0"/>
              <a:t>隧道建立流程</a:t>
            </a:r>
            <a:endParaRPr lang="en-US" dirty="0"/>
          </a:p>
        </p:txBody>
      </p:sp>
      <p:sp>
        <p:nvSpPr>
          <p:cNvPr id="3" name="Text Placeholder 2">
            <a:extLst>
              <a:ext uri="{FF2B5EF4-FFF2-40B4-BE49-F238E27FC236}">
                <a16:creationId xmlns:a16="http://schemas.microsoft.com/office/drawing/2014/main" id="{A5D41A09-877D-4168-9756-401DB8D26FE3}"/>
              </a:ext>
            </a:extLst>
          </p:cNvPr>
          <p:cNvSpPr>
            <a:spLocks noGrp="1"/>
          </p:cNvSpPr>
          <p:nvPr>
            <p:ph type="body" sz="quarter" idx="10"/>
          </p:nvPr>
        </p:nvSpPr>
        <p:spPr bwMode="gray">
          <a:xfrm>
            <a:off x="455612" y="1047751"/>
            <a:ext cx="11293475" cy="537426"/>
          </a:xfrm>
        </p:spPr>
        <p:txBody>
          <a:bodyPr/>
          <a:lstStyle/>
          <a:p>
            <a:r>
              <a:rPr lang="en-US" sz="1800" dirty="0"/>
              <a:t>SD-WAN</a:t>
            </a:r>
            <a:r>
              <a:rPr lang="zh-CN" altLang="en-US" sz="1800" dirty="0"/>
              <a:t>各隧道建立流程如下：</a:t>
            </a:r>
            <a:endParaRPr lang="en-US" sz="1800" dirty="0"/>
          </a:p>
        </p:txBody>
      </p:sp>
      <p:sp>
        <p:nvSpPr>
          <p:cNvPr id="4" name="圆角矩形 75">
            <a:extLst>
              <a:ext uri="{FF2B5EF4-FFF2-40B4-BE49-F238E27FC236}">
                <a16:creationId xmlns:a16="http://schemas.microsoft.com/office/drawing/2014/main" id="{70E06F8E-88F6-4A8B-B057-7C52A308F814}"/>
              </a:ext>
            </a:extLst>
          </p:cNvPr>
          <p:cNvSpPr/>
          <p:nvPr/>
        </p:nvSpPr>
        <p:spPr bwMode="gray">
          <a:xfrm>
            <a:off x="807254" y="1599748"/>
            <a:ext cx="343012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管理通道建立</a:t>
            </a:r>
          </a:p>
        </p:txBody>
      </p:sp>
      <p:sp>
        <p:nvSpPr>
          <p:cNvPr id="5" name="圆角矩形 75">
            <a:extLst>
              <a:ext uri="{FF2B5EF4-FFF2-40B4-BE49-F238E27FC236}">
                <a16:creationId xmlns:a16="http://schemas.microsoft.com/office/drawing/2014/main" id="{9EAF90C8-A56B-4B8A-A539-9AC6FDB533DC}"/>
              </a:ext>
            </a:extLst>
          </p:cNvPr>
          <p:cNvSpPr/>
          <p:nvPr/>
        </p:nvSpPr>
        <p:spPr bwMode="gray">
          <a:xfrm>
            <a:off x="807254" y="2034036"/>
            <a:ext cx="3430120" cy="4074533"/>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1800"/>
              </a:lnSpc>
              <a:spcAft>
                <a:spcPts val="300"/>
              </a:spcAft>
              <a:buFont typeface="+mj-lt"/>
              <a:buAutoNum type="arabicPeriod"/>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管理员在控制器上配置</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WAN Link</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参数。</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1800"/>
              </a:lnSpc>
              <a:spcAft>
                <a:spcPts val="300"/>
              </a:spcAft>
              <a:buFont typeface="+mj-lt"/>
              <a:buAutoNum type="arabicPeriod"/>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安装人员通过</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下发配置到</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1800"/>
              </a:lnSpc>
              <a:spcAft>
                <a:spcPts val="300"/>
              </a:spcAft>
              <a:buFont typeface="+mj-lt"/>
              <a:buAutoNum type="arabicPeriod"/>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主动注册到控制器上，与控制器建立</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NETCONF</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通道（管理通道）。</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a:extLst>
              <a:ext uri="{FF2B5EF4-FFF2-40B4-BE49-F238E27FC236}">
                <a16:creationId xmlns:a16="http://schemas.microsoft.com/office/drawing/2014/main" id="{B29C20E2-891C-466C-8604-AADB19680C08}"/>
              </a:ext>
            </a:extLst>
          </p:cNvPr>
          <p:cNvSpPr/>
          <p:nvPr/>
        </p:nvSpPr>
        <p:spPr bwMode="gray">
          <a:xfrm>
            <a:off x="4389774" y="1599748"/>
            <a:ext cx="343012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控制通道建立</a:t>
            </a:r>
          </a:p>
        </p:txBody>
      </p:sp>
      <p:sp>
        <p:nvSpPr>
          <p:cNvPr id="7" name="圆角矩形 75">
            <a:extLst>
              <a:ext uri="{FF2B5EF4-FFF2-40B4-BE49-F238E27FC236}">
                <a16:creationId xmlns:a16="http://schemas.microsoft.com/office/drawing/2014/main" id="{7CBF8A6A-3025-4A1F-A7B3-1A3EC4BEB794}"/>
              </a:ext>
            </a:extLst>
          </p:cNvPr>
          <p:cNvSpPr/>
          <p:nvPr/>
        </p:nvSpPr>
        <p:spPr bwMode="gray">
          <a:xfrm>
            <a:off x="4389774" y="2034036"/>
            <a:ext cx="3430120" cy="4074533"/>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1800"/>
              </a:lnSpc>
              <a:spcAft>
                <a:spcPts val="300"/>
              </a:spcAft>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控制器通过管理通道下发配置到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DTLS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管理通道。</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1800"/>
              </a:lnSpc>
              <a:spcAft>
                <a:spcPts val="300"/>
              </a:spcAft>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之间交互</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TNP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IPsec SA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1800"/>
              </a:lnSpc>
              <a:spcAft>
                <a:spcPts val="300"/>
              </a:spcAft>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TNP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控制通道。</a:t>
            </a:r>
          </a:p>
        </p:txBody>
      </p:sp>
      <p:sp>
        <p:nvSpPr>
          <p:cNvPr id="8" name="圆角矩形 75">
            <a:extLst>
              <a:ext uri="{FF2B5EF4-FFF2-40B4-BE49-F238E27FC236}">
                <a16:creationId xmlns:a16="http://schemas.microsoft.com/office/drawing/2014/main" id="{54B26B45-B7A9-4702-A1AA-C733D0359483}"/>
              </a:ext>
            </a:extLst>
          </p:cNvPr>
          <p:cNvSpPr/>
          <p:nvPr/>
        </p:nvSpPr>
        <p:spPr bwMode="gray">
          <a:xfrm>
            <a:off x="7972294" y="1599748"/>
            <a:ext cx="343012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数据通道建立</a:t>
            </a:r>
            <a:r>
              <a:rPr lang="en-US" altLang="zh-CN" sz="1600" dirty="0">
                <a:solidFill>
                  <a:srgbClr val="30B5C5"/>
                </a:solidFill>
                <a:latin typeface="Huawei Sans" panose="020C0503030203020204" pitchFamily="34" charset="0"/>
                <a:ea typeface="方正兰亭黑简体" panose="02000000000000000000" pitchFamily="2" charset="-122"/>
              </a:rPr>
              <a:t>+</a:t>
            </a:r>
            <a:r>
              <a:rPr lang="zh-CN" altLang="en-US" sz="1600" dirty="0">
                <a:solidFill>
                  <a:srgbClr val="30B5C5"/>
                </a:solidFill>
                <a:latin typeface="Huawei Sans" panose="020C0503030203020204" pitchFamily="34" charset="0"/>
                <a:ea typeface="方正兰亭黑简体" panose="02000000000000000000" pitchFamily="2" charset="-122"/>
              </a:rPr>
              <a:t>数据转发</a:t>
            </a:r>
          </a:p>
        </p:txBody>
      </p:sp>
      <p:sp>
        <p:nvSpPr>
          <p:cNvPr id="9" name="圆角矩形 75">
            <a:extLst>
              <a:ext uri="{FF2B5EF4-FFF2-40B4-BE49-F238E27FC236}">
                <a16:creationId xmlns:a16="http://schemas.microsoft.com/office/drawing/2014/main" id="{3EEF1879-6D78-49AF-BC6D-16A73DB88341}"/>
              </a:ext>
            </a:extLst>
          </p:cNvPr>
          <p:cNvSpPr/>
          <p:nvPr/>
        </p:nvSpPr>
        <p:spPr bwMode="gray">
          <a:xfrm>
            <a:off x="7972294" y="2034036"/>
            <a:ext cx="3430120" cy="4074533"/>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28594" indent="-228594" fontAlgn="ctr">
              <a:lnSpc>
                <a:spcPts val="1800"/>
              </a:lnSpc>
              <a:spcAft>
                <a:spcPts val="300"/>
              </a:spcAft>
              <a:buFont typeface="Arial" panose="020B0604020202020204" pitchFamily="34" charset="0"/>
              <a:buChar char="•"/>
            </a:pP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1800"/>
              </a:lnSpc>
              <a:spcAft>
                <a:spcPts val="300"/>
              </a:spcAft>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反射各自的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TNP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IPsec SA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1800"/>
              </a:lnSpc>
              <a:spcAft>
                <a:spcPts val="300"/>
              </a:spcAft>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反射各自的业务路由。</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ctr">
              <a:lnSpc>
                <a:spcPts val="1800"/>
              </a:lnSpc>
              <a:spcAft>
                <a:spcPts val="300"/>
              </a:spcAft>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发布</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TNP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IPsec SA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信息后，通过路由触发建立数据通道。</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 name="Group 9">
            <a:extLst>
              <a:ext uri="{FF2B5EF4-FFF2-40B4-BE49-F238E27FC236}">
                <a16:creationId xmlns:a16="http://schemas.microsoft.com/office/drawing/2014/main" id="{13850E00-19BA-4F2B-A64B-D1F98143E158}"/>
              </a:ext>
            </a:extLst>
          </p:cNvPr>
          <p:cNvGrpSpPr/>
          <p:nvPr/>
        </p:nvGrpSpPr>
        <p:grpSpPr bwMode="gray">
          <a:xfrm>
            <a:off x="832230" y="2129076"/>
            <a:ext cx="3342289" cy="2006500"/>
            <a:chOff x="832230" y="2129076"/>
            <a:chExt cx="3342289" cy="2006500"/>
          </a:xfrm>
        </p:grpSpPr>
        <p:pic>
          <p:nvPicPr>
            <p:cNvPr id="11" name="图片 24">
              <a:extLst>
                <a:ext uri="{FF2B5EF4-FFF2-40B4-BE49-F238E27FC236}">
                  <a16:creationId xmlns:a16="http://schemas.microsoft.com/office/drawing/2014/main" id="{057058D5-B810-4097-BDBD-6979458C32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314678" y="2157357"/>
              <a:ext cx="1626074" cy="299891"/>
            </a:xfrm>
            <a:prstGeom prst="rect">
              <a:avLst/>
            </a:prstGeom>
          </p:spPr>
        </p:pic>
        <p:sp>
          <p:nvSpPr>
            <p:cNvPr id="12" name="圆角矩形 75">
              <a:extLst>
                <a:ext uri="{FF2B5EF4-FFF2-40B4-BE49-F238E27FC236}">
                  <a16:creationId xmlns:a16="http://schemas.microsoft.com/office/drawing/2014/main" id="{57B0EB57-FC15-4EF1-B9FA-7338A46F4D90}"/>
                </a:ext>
              </a:extLst>
            </p:cNvPr>
            <p:cNvSpPr/>
            <p:nvPr/>
          </p:nvSpPr>
          <p:spPr bwMode="gray">
            <a:xfrm>
              <a:off x="2257649" y="2134491"/>
              <a:ext cx="1740132" cy="331658"/>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2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3" name="图片 31">
              <a:extLst>
                <a:ext uri="{FF2B5EF4-FFF2-40B4-BE49-F238E27FC236}">
                  <a16:creationId xmlns:a16="http://schemas.microsoft.com/office/drawing/2014/main" id="{1AFCEA8A-AD29-4D08-9703-7097B3115D72}"/>
                </a:ext>
              </a:extLst>
            </p:cNvPr>
            <p:cNvPicPr>
              <a:picLocks noChangeAspect="1"/>
            </p:cNvPicPr>
            <p:nvPr/>
          </p:nvPicPr>
          <p:blipFill>
            <a:blip r:embed="rId4"/>
            <a:stretch>
              <a:fillRect/>
            </a:stretch>
          </p:blipFill>
          <p:spPr bwMode="gray">
            <a:xfrm>
              <a:off x="2888031" y="3746268"/>
              <a:ext cx="466668" cy="389308"/>
            </a:xfrm>
            <a:prstGeom prst="rect">
              <a:avLst/>
            </a:prstGeom>
          </p:spPr>
        </p:pic>
        <p:sp>
          <p:nvSpPr>
            <p:cNvPr id="14" name="Freeform 159">
              <a:extLst>
                <a:ext uri="{FF2B5EF4-FFF2-40B4-BE49-F238E27FC236}">
                  <a16:creationId xmlns:a16="http://schemas.microsoft.com/office/drawing/2014/main" id="{6CFEAD81-A393-4B02-BAF6-D028142661E7}"/>
                </a:ext>
              </a:extLst>
            </p:cNvPr>
            <p:cNvSpPr/>
            <p:nvPr/>
          </p:nvSpPr>
          <p:spPr bwMode="gray">
            <a:xfrm flipH="1">
              <a:off x="2658722" y="2875885"/>
              <a:ext cx="823685" cy="4305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直接连接符 78">
              <a:extLst>
                <a:ext uri="{FF2B5EF4-FFF2-40B4-BE49-F238E27FC236}">
                  <a16:creationId xmlns:a16="http://schemas.microsoft.com/office/drawing/2014/main" id="{60C31D34-487C-4759-AA4D-FF96B67F9E82}"/>
                </a:ext>
              </a:extLst>
            </p:cNvPr>
            <p:cNvCxnSpPr>
              <a:cxnSpLocks noChangeShapeType="1"/>
              <a:stCxn id="11" idx="2"/>
              <a:endCxn id="14" idx="1"/>
            </p:cNvCxnSpPr>
            <p:nvPr/>
          </p:nvCxnSpPr>
          <p:spPr bwMode="gray">
            <a:xfrm flipH="1">
              <a:off x="3125871" y="2457248"/>
              <a:ext cx="1844" cy="478888"/>
            </a:xfrm>
            <a:prstGeom prst="line">
              <a:avLst/>
            </a:prstGeom>
            <a:noFill/>
            <a:ln w="19050" algn="ctr">
              <a:solidFill>
                <a:schemeClr val="bg1">
                  <a:lumMod val="50000"/>
                </a:schemeClr>
              </a:solidFill>
              <a:round/>
              <a:headEnd/>
              <a:tailEnd/>
            </a:ln>
          </p:spPr>
        </p:cxnSp>
        <p:cxnSp>
          <p:nvCxnSpPr>
            <p:cNvPr id="16" name="直接连接符 78">
              <a:extLst>
                <a:ext uri="{FF2B5EF4-FFF2-40B4-BE49-F238E27FC236}">
                  <a16:creationId xmlns:a16="http://schemas.microsoft.com/office/drawing/2014/main" id="{41DCC4A3-7DC2-4F4F-A961-21E26084CBB4}"/>
                </a:ext>
              </a:extLst>
            </p:cNvPr>
            <p:cNvCxnSpPr>
              <a:cxnSpLocks noChangeShapeType="1"/>
              <a:endCxn id="13" idx="0"/>
            </p:cNvCxnSpPr>
            <p:nvPr/>
          </p:nvCxnSpPr>
          <p:spPr bwMode="gray">
            <a:xfrm>
              <a:off x="3121365" y="3306449"/>
              <a:ext cx="0" cy="439819"/>
            </a:xfrm>
            <a:prstGeom prst="line">
              <a:avLst/>
            </a:prstGeom>
            <a:noFill/>
            <a:ln w="19050" algn="ctr">
              <a:solidFill>
                <a:schemeClr val="bg1">
                  <a:lumMod val="50000"/>
                </a:schemeClr>
              </a:solidFill>
              <a:round/>
              <a:headEnd/>
              <a:tailEnd/>
            </a:ln>
          </p:spPr>
        </p:cxnSp>
        <p:cxnSp>
          <p:nvCxnSpPr>
            <p:cNvPr id="17" name="Straight Arrow Connector 16">
              <a:extLst>
                <a:ext uri="{FF2B5EF4-FFF2-40B4-BE49-F238E27FC236}">
                  <a16:creationId xmlns:a16="http://schemas.microsoft.com/office/drawing/2014/main" id="{79DDBA3F-55A4-44A5-B5C6-72B4DD15A6D1}"/>
                </a:ext>
              </a:extLst>
            </p:cNvPr>
            <p:cNvCxnSpPr>
              <a:cxnSpLocks/>
              <a:stCxn id="18" idx="3"/>
              <a:endCxn id="12" idx="1"/>
            </p:cNvCxnSpPr>
            <p:nvPr/>
          </p:nvCxnSpPr>
          <p:spPr bwMode="gray">
            <a:xfrm>
              <a:off x="1444612" y="2299583"/>
              <a:ext cx="813037" cy="737"/>
            </a:xfrm>
            <a:prstGeom prst="straightConnector1">
              <a:avLst/>
            </a:prstGeom>
            <a:solidFill>
              <a:schemeClr val="accent1"/>
            </a:solidFill>
            <a:ln w="19050" cap="flat" cmpd="sng" algn="ctr">
              <a:solidFill>
                <a:srgbClr val="56C4D2"/>
              </a:solidFill>
              <a:prstDash val="dash"/>
              <a:round/>
              <a:headEnd type="none" w="med" len="med"/>
              <a:tailEnd type="triangle" w="med" len="med"/>
            </a:ln>
            <a:effectLst/>
          </p:spPr>
        </p:cxnSp>
        <p:pic>
          <p:nvPicPr>
            <p:cNvPr id="18" name="图片 32" descr="管理员-蓝.png">
              <a:extLst>
                <a:ext uri="{FF2B5EF4-FFF2-40B4-BE49-F238E27FC236}">
                  <a16:creationId xmlns:a16="http://schemas.microsoft.com/office/drawing/2014/main" id="{872DCD01-4EE9-4934-BCD9-3A929F7197D4}"/>
                </a:ext>
              </a:extLst>
            </p:cNvPr>
            <p:cNvPicPr>
              <a:picLocks noChangeAspect="1"/>
            </p:cNvPicPr>
            <p:nvPr/>
          </p:nvPicPr>
          <p:blipFill>
            <a:blip r:embed="rId5" cstate="print"/>
            <a:stretch>
              <a:fillRect/>
            </a:stretch>
          </p:blipFill>
          <p:spPr bwMode="gray">
            <a:xfrm>
              <a:off x="1027818" y="2129076"/>
              <a:ext cx="416794" cy="341013"/>
            </a:xfrm>
            <a:prstGeom prst="rect">
              <a:avLst/>
            </a:prstGeom>
          </p:spPr>
        </p:pic>
        <p:sp>
          <p:nvSpPr>
            <p:cNvPr id="19" name="TextBox 18">
              <a:extLst>
                <a:ext uri="{FF2B5EF4-FFF2-40B4-BE49-F238E27FC236}">
                  <a16:creationId xmlns:a16="http://schemas.microsoft.com/office/drawing/2014/main" id="{769A1142-DF78-4705-8F90-75B7125B3615}"/>
                </a:ext>
              </a:extLst>
            </p:cNvPr>
            <p:cNvSpPr txBox="1"/>
            <p:nvPr/>
          </p:nvSpPr>
          <p:spPr bwMode="gray">
            <a:xfrm>
              <a:off x="840944" y="2470089"/>
              <a:ext cx="828092"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200" dirty="0">
                  <a:latin typeface="Huawei Sans" panose="020C0503030203020204" pitchFamily="34" charset="0"/>
                  <a:ea typeface="方正兰亭黑简体" panose="02000000000000000000" pitchFamily="2" charset="-122"/>
                </a:rPr>
                <a:t>网管人员</a:t>
              </a:r>
            </a:p>
          </p:txBody>
        </p:sp>
        <p:pic>
          <p:nvPicPr>
            <p:cNvPr id="20" name="图片 73">
              <a:extLst>
                <a:ext uri="{FF2B5EF4-FFF2-40B4-BE49-F238E27FC236}">
                  <a16:creationId xmlns:a16="http://schemas.microsoft.com/office/drawing/2014/main" id="{0829184F-21F5-441E-9130-7AF83AF91566}"/>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027818" y="3746268"/>
              <a:ext cx="416794" cy="341771"/>
            </a:xfrm>
            <a:prstGeom prst="rect">
              <a:avLst/>
            </a:prstGeom>
          </p:spPr>
        </p:pic>
        <p:cxnSp>
          <p:nvCxnSpPr>
            <p:cNvPr id="21" name="Straight Arrow Connector 20">
              <a:extLst>
                <a:ext uri="{FF2B5EF4-FFF2-40B4-BE49-F238E27FC236}">
                  <a16:creationId xmlns:a16="http://schemas.microsoft.com/office/drawing/2014/main" id="{F491E20C-2D93-4B4D-B5E4-3797301BBAC8}"/>
                </a:ext>
              </a:extLst>
            </p:cNvPr>
            <p:cNvCxnSpPr>
              <a:cxnSpLocks/>
              <a:endCxn id="13" idx="1"/>
            </p:cNvCxnSpPr>
            <p:nvPr/>
          </p:nvCxnSpPr>
          <p:spPr bwMode="gray">
            <a:xfrm>
              <a:off x="1444612" y="3940922"/>
              <a:ext cx="1443419" cy="0"/>
            </a:xfrm>
            <a:prstGeom prst="straightConnector1">
              <a:avLst/>
            </a:prstGeom>
            <a:solidFill>
              <a:schemeClr val="accent1"/>
            </a:solidFill>
            <a:ln w="19050" cap="flat" cmpd="sng" algn="ctr">
              <a:solidFill>
                <a:srgbClr val="56C4D2"/>
              </a:solidFill>
              <a:prstDash val="dash"/>
              <a:round/>
              <a:headEnd type="none" w="med" len="med"/>
              <a:tailEnd type="triangle" w="med" len="med"/>
            </a:ln>
            <a:effectLst/>
          </p:spPr>
        </p:cxnSp>
        <p:cxnSp>
          <p:nvCxnSpPr>
            <p:cNvPr id="22" name="Straight Arrow Connector 21">
              <a:extLst>
                <a:ext uri="{FF2B5EF4-FFF2-40B4-BE49-F238E27FC236}">
                  <a16:creationId xmlns:a16="http://schemas.microsoft.com/office/drawing/2014/main" id="{10914420-9022-4EE7-9300-E0BE2117A834}"/>
                </a:ext>
              </a:extLst>
            </p:cNvPr>
            <p:cNvCxnSpPr>
              <a:cxnSpLocks/>
            </p:cNvCxnSpPr>
            <p:nvPr/>
          </p:nvCxnSpPr>
          <p:spPr bwMode="gray">
            <a:xfrm flipV="1">
              <a:off x="2973945" y="2453077"/>
              <a:ext cx="0" cy="1276179"/>
            </a:xfrm>
            <a:prstGeom prst="straightConnector1">
              <a:avLst/>
            </a:prstGeom>
            <a:solidFill>
              <a:schemeClr val="accent1"/>
            </a:solidFill>
            <a:ln w="19050" cap="flat" cmpd="sng" algn="ctr">
              <a:solidFill>
                <a:srgbClr val="56C4D2"/>
              </a:solidFill>
              <a:prstDash val="dash"/>
              <a:round/>
              <a:headEnd type="none" w="med" len="med"/>
              <a:tailEnd type="triangle" w="med" len="med"/>
            </a:ln>
            <a:effectLst/>
          </p:spPr>
        </p:cxnSp>
        <p:sp>
          <p:nvSpPr>
            <p:cNvPr id="23" name="Can 41">
              <a:extLst>
                <a:ext uri="{FF2B5EF4-FFF2-40B4-BE49-F238E27FC236}">
                  <a16:creationId xmlns:a16="http://schemas.microsoft.com/office/drawing/2014/main" id="{6282831F-9724-4E9A-8E30-EF7BE97D4254}"/>
                </a:ext>
              </a:extLst>
            </p:cNvPr>
            <p:cNvSpPr/>
            <p:nvPr/>
          </p:nvSpPr>
          <p:spPr bwMode="gray">
            <a:xfrm>
              <a:off x="3049362" y="2501886"/>
              <a:ext cx="166846" cy="1229503"/>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椭圆 50">
              <a:extLst>
                <a:ext uri="{FF2B5EF4-FFF2-40B4-BE49-F238E27FC236}">
                  <a16:creationId xmlns:a16="http://schemas.microsoft.com/office/drawing/2014/main" id="{E1F6C6C4-23CF-4DF6-A07A-1C265C2DFB6B}"/>
                </a:ext>
              </a:extLst>
            </p:cNvPr>
            <p:cNvSpPr/>
            <p:nvPr/>
          </p:nvSpPr>
          <p:spPr bwMode="gray">
            <a:xfrm>
              <a:off x="1758112" y="2358191"/>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椭圆 50">
              <a:extLst>
                <a:ext uri="{FF2B5EF4-FFF2-40B4-BE49-F238E27FC236}">
                  <a16:creationId xmlns:a16="http://schemas.microsoft.com/office/drawing/2014/main" id="{C9BDA350-18A1-4C2E-8005-7809E1190696}"/>
                </a:ext>
              </a:extLst>
            </p:cNvPr>
            <p:cNvSpPr/>
            <p:nvPr/>
          </p:nvSpPr>
          <p:spPr bwMode="gray">
            <a:xfrm>
              <a:off x="2018470" y="3690607"/>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椭圆 50">
              <a:extLst>
                <a:ext uri="{FF2B5EF4-FFF2-40B4-BE49-F238E27FC236}">
                  <a16:creationId xmlns:a16="http://schemas.microsoft.com/office/drawing/2014/main" id="{822A0635-CECD-47B3-9BB3-C2F53C572DC4}"/>
                </a:ext>
              </a:extLst>
            </p:cNvPr>
            <p:cNvSpPr/>
            <p:nvPr/>
          </p:nvSpPr>
          <p:spPr bwMode="gray">
            <a:xfrm>
              <a:off x="2713587" y="3008679"/>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26">
              <a:extLst>
                <a:ext uri="{FF2B5EF4-FFF2-40B4-BE49-F238E27FC236}">
                  <a16:creationId xmlns:a16="http://schemas.microsoft.com/office/drawing/2014/main" id="{8D84DFB5-15BA-4118-89D1-E32E03E923C8}"/>
                </a:ext>
              </a:extLst>
            </p:cNvPr>
            <p:cNvSpPr txBox="1"/>
            <p:nvPr/>
          </p:nvSpPr>
          <p:spPr bwMode="gray">
            <a:xfrm>
              <a:off x="832230" y="3521712"/>
              <a:ext cx="828092"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zh-CN" altLang="en-US" sz="1200" dirty="0">
                  <a:latin typeface="Huawei Sans" panose="020C0503030203020204" pitchFamily="34" charset="0"/>
                  <a:ea typeface="方正兰亭黑简体" panose="02000000000000000000" pitchFamily="2" charset="-122"/>
                </a:rPr>
                <a:t>安装人员</a:t>
              </a:r>
            </a:p>
          </p:txBody>
        </p:sp>
        <p:sp>
          <p:nvSpPr>
            <p:cNvPr id="28" name="TextBox 27">
              <a:extLst>
                <a:ext uri="{FF2B5EF4-FFF2-40B4-BE49-F238E27FC236}">
                  <a16:creationId xmlns:a16="http://schemas.microsoft.com/office/drawing/2014/main" id="{93BE2BD0-D9F7-4A4E-99EA-DFD2B91F4D64}"/>
                </a:ext>
              </a:extLst>
            </p:cNvPr>
            <p:cNvSpPr txBox="1"/>
            <p:nvPr/>
          </p:nvSpPr>
          <p:spPr bwMode="gray">
            <a:xfrm>
              <a:off x="3155859" y="2495536"/>
              <a:ext cx="1018660"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200" dirty="0">
                  <a:latin typeface="Huawei Sans" panose="020C0503030203020204" pitchFamily="34" charset="0"/>
                  <a:ea typeface="方正兰亭黑简体" panose="02000000000000000000" pitchFamily="2" charset="-122"/>
                </a:rPr>
                <a:t>NETCONF</a:t>
              </a:r>
            </a:p>
            <a:p>
              <a:pPr algn="ctr"/>
              <a:r>
                <a:rPr lang="zh-CN" altLang="en-US" sz="1200" dirty="0">
                  <a:latin typeface="Huawei Sans" panose="020C0503030203020204" pitchFamily="34" charset="0"/>
                  <a:ea typeface="方正兰亭黑简体" panose="02000000000000000000" pitchFamily="2" charset="-122"/>
                </a:rPr>
                <a:t>（管理通道）</a:t>
              </a:r>
            </a:p>
          </p:txBody>
        </p:sp>
        <p:sp>
          <p:nvSpPr>
            <p:cNvPr id="29" name="TextBox 28">
              <a:extLst>
                <a:ext uri="{FF2B5EF4-FFF2-40B4-BE49-F238E27FC236}">
                  <a16:creationId xmlns:a16="http://schemas.microsoft.com/office/drawing/2014/main" id="{DAF32509-C52E-4865-85D8-C4E708E47AC0}"/>
                </a:ext>
              </a:extLst>
            </p:cNvPr>
            <p:cNvSpPr txBox="1"/>
            <p:nvPr/>
          </p:nvSpPr>
          <p:spPr bwMode="gray">
            <a:xfrm>
              <a:off x="3302709" y="3795975"/>
              <a:ext cx="840180"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Huawei Sans" panose="020C0503030203020204" pitchFamily="34" charset="0"/>
                  <a:ea typeface="方正兰亭黑简体" panose="02000000000000000000" pitchFamily="2" charset="-122"/>
                </a:rPr>
                <a:t>EDGE/RR</a:t>
              </a:r>
              <a:endParaRPr lang="zh-CN" altLang="en-US" sz="1200" dirty="0">
                <a:latin typeface="Huawei Sans" panose="020C0503030203020204" pitchFamily="34" charset="0"/>
                <a:ea typeface="方正兰亭黑简体" panose="02000000000000000000" pitchFamily="2" charset="-122"/>
              </a:endParaRPr>
            </a:p>
          </p:txBody>
        </p:sp>
      </p:grpSp>
      <p:pic>
        <p:nvPicPr>
          <p:cNvPr id="30" name="图片 31">
            <a:extLst>
              <a:ext uri="{FF2B5EF4-FFF2-40B4-BE49-F238E27FC236}">
                <a16:creationId xmlns:a16="http://schemas.microsoft.com/office/drawing/2014/main" id="{6014DADF-C89D-4B13-9033-3AAA3B5E6FC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bwMode="gray">
          <a:xfrm>
            <a:off x="8171405" y="3387194"/>
            <a:ext cx="466668" cy="385001"/>
          </a:xfrm>
          <a:prstGeom prst="rect">
            <a:avLst/>
          </a:prstGeom>
        </p:spPr>
      </p:pic>
      <p:pic>
        <p:nvPicPr>
          <p:cNvPr id="31" name="图片 31">
            <a:extLst>
              <a:ext uri="{FF2B5EF4-FFF2-40B4-BE49-F238E27FC236}">
                <a16:creationId xmlns:a16="http://schemas.microsoft.com/office/drawing/2014/main" id="{D6BE07D0-5380-409D-9A8E-74386FC60B3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bwMode="gray">
          <a:xfrm>
            <a:off x="10764944" y="3387401"/>
            <a:ext cx="466668" cy="385001"/>
          </a:xfrm>
          <a:prstGeom prst="rect">
            <a:avLst/>
          </a:prstGeom>
        </p:spPr>
      </p:pic>
      <p:cxnSp>
        <p:nvCxnSpPr>
          <p:cNvPr id="32" name="直接连接符 78">
            <a:extLst>
              <a:ext uri="{FF2B5EF4-FFF2-40B4-BE49-F238E27FC236}">
                <a16:creationId xmlns:a16="http://schemas.microsoft.com/office/drawing/2014/main" id="{F6D6E225-262F-4991-9C15-09A2082C786C}"/>
              </a:ext>
            </a:extLst>
          </p:cNvPr>
          <p:cNvCxnSpPr>
            <a:cxnSpLocks noChangeShapeType="1"/>
            <a:stCxn id="30" idx="3"/>
            <a:endCxn id="34" idx="21"/>
          </p:cNvCxnSpPr>
          <p:nvPr/>
        </p:nvCxnSpPr>
        <p:spPr bwMode="gray">
          <a:xfrm>
            <a:off x="8638073" y="3579695"/>
            <a:ext cx="675304" cy="8044"/>
          </a:xfrm>
          <a:prstGeom prst="line">
            <a:avLst/>
          </a:prstGeom>
          <a:noFill/>
          <a:ln w="19050" algn="ctr">
            <a:solidFill>
              <a:schemeClr val="bg1">
                <a:lumMod val="50000"/>
              </a:schemeClr>
            </a:solidFill>
            <a:round/>
            <a:headEnd/>
            <a:tailEnd/>
          </a:ln>
        </p:spPr>
      </p:cxnSp>
      <p:cxnSp>
        <p:nvCxnSpPr>
          <p:cNvPr id="33" name="直接连接符 78">
            <a:extLst>
              <a:ext uri="{FF2B5EF4-FFF2-40B4-BE49-F238E27FC236}">
                <a16:creationId xmlns:a16="http://schemas.microsoft.com/office/drawing/2014/main" id="{DE33EDB7-7A4A-4CDB-A0BF-35A4B3A27BF7}"/>
              </a:ext>
            </a:extLst>
          </p:cNvPr>
          <p:cNvCxnSpPr>
            <a:cxnSpLocks noChangeShapeType="1"/>
            <a:stCxn id="31" idx="1"/>
            <a:endCxn id="34" idx="8"/>
          </p:cNvCxnSpPr>
          <p:nvPr/>
        </p:nvCxnSpPr>
        <p:spPr bwMode="gray">
          <a:xfrm flipH="1">
            <a:off x="10137062" y="3579902"/>
            <a:ext cx="627882" cy="0"/>
          </a:xfrm>
          <a:prstGeom prst="line">
            <a:avLst/>
          </a:prstGeom>
          <a:noFill/>
          <a:ln w="19050" algn="ctr">
            <a:solidFill>
              <a:schemeClr val="bg1">
                <a:lumMod val="50000"/>
              </a:schemeClr>
            </a:solidFill>
            <a:round/>
            <a:headEnd/>
            <a:tailEnd/>
          </a:ln>
        </p:spPr>
      </p:cxnSp>
      <p:sp>
        <p:nvSpPr>
          <p:cNvPr id="34" name="Freeform 159">
            <a:extLst>
              <a:ext uri="{FF2B5EF4-FFF2-40B4-BE49-F238E27FC236}">
                <a16:creationId xmlns:a16="http://schemas.microsoft.com/office/drawing/2014/main" id="{F4CC6E78-B5CB-4E6D-8CF4-60059CA33DB3}"/>
              </a:ext>
            </a:extLst>
          </p:cNvPr>
          <p:cNvSpPr/>
          <p:nvPr/>
        </p:nvSpPr>
        <p:spPr bwMode="gray">
          <a:xfrm flipH="1">
            <a:off x="9313377" y="3285872"/>
            <a:ext cx="823685" cy="4305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34">
            <a:extLst>
              <a:ext uri="{FF2B5EF4-FFF2-40B4-BE49-F238E27FC236}">
                <a16:creationId xmlns:a16="http://schemas.microsoft.com/office/drawing/2014/main" id="{E8EB52E6-EFB9-4D81-822A-D20457B017C9}"/>
              </a:ext>
            </a:extLst>
          </p:cNvPr>
          <p:cNvSpPr txBox="1"/>
          <p:nvPr/>
        </p:nvSpPr>
        <p:spPr bwMode="gray">
          <a:xfrm>
            <a:off x="8120923" y="3756241"/>
            <a:ext cx="598882"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Huawei Sans" panose="020C0503030203020204" pitchFamily="34" charset="0"/>
                <a:ea typeface="方正兰亭黑简体" panose="02000000000000000000" pitchFamily="2" charset="-122"/>
              </a:rPr>
              <a:t>EDGE</a:t>
            </a:r>
            <a:endParaRPr lang="zh-CN" altLang="en-US" sz="1200" dirty="0">
              <a:latin typeface="Huawei Sans" panose="020C0503030203020204" pitchFamily="34" charset="0"/>
              <a:ea typeface="方正兰亭黑简体" panose="02000000000000000000" pitchFamily="2" charset="-122"/>
            </a:endParaRPr>
          </a:p>
        </p:txBody>
      </p:sp>
      <p:sp>
        <p:nvSpPr>
          <p:cNvPr id="36" name="TextBox 35">
            <a:extLst>
              <a:ext uri="{FF2B5EF4-FFF2-40B4-BE49-F238E27FC236}">
                <a16:creationId xmlns:a16="http://schemas.microsoft.com/office/drawing/2014/main" id="{A57A3AEC-77DA-465B-9567-E3350839AB76}"/>
              </a:ext>
            </a:extLst>
          </p:cNvPr>
          <p:cNvSpPr txBox="1"/>
          <p:nvPr/>
        </p:nvSpPr>
        <p:spPr bwMode="gray">
          <a:xfrm>
            <a:off x="10714509" y="3745064"/>
            <a:ext cx="623626"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Huawei Sans" panose="020C0503030203020204" pitchFamily="34" charset="0"/>
                <a:ea typeface="方正兰亭黑简体" panose="02000000000000000000" pitchFamily="2" charset="-122"/>
              </a:rPr>
              <a:t>EDGE</a:t>
            </a:r>
            <a:endParaRPr lang="zh-CN" altLang="en-US" sz="1200" dirty="0">
              <a:latin typeface="Huawei Sans" panose="020C0503030203020204" pitchFamily="34" charset="0"/>
              <a:ea typeface="方正兰亭黑简体" panose="02000000000000000000" pitchFamily="2" charset="-122"/>
            </a:endParaRPr>
          </a:p>
        </p:txBody>
      </p:sp>
      <p:sp>
        <p:nvSpPr>
          <p:cNvPr id="37" name="Can 41">
            <a:extLst>
              <a:ext uri="{FF2B5EF4-FFF2-40B4-BE49-F238E27FC236}">
                <a16:creationId xmlns:a16="http://schemas.microsoft.com/office/drawing/2014/main" id="{8FCECDDA-4B9F-46DB-8465-E40BC1AB8EB7}"/>
              </a:ext>
            </a:extLst>
          </p:cNvPr>
          <p:cNvSpPr/>
          <p:nvPr/>
        </p:nvSpPr>
        <p:spPr bwMode="gray">
          <a:xfrm rot="16200000" flipH="1">
            <a:off x="9599167" y="2534070"/>
            <a:ext cx="166846" cy="2063838"/>
          </a:xfrm>
          <a:prstGeom prst="can">
            <a:avLst>
              <a:gd name="adj" fmla="val 55435"/>
            </a:avLst>
          </a:prstGeom>
          <a:solidFill>
            <a:srgbClr val="D0E8C4"/>
          </a:solidFill>
          <a:ln w="12700">
            <a:solidFill>
              <a:srgbClr val="AFD8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37">
            <a:extLst>
              <a:ext uri="{FF2B5EF4-FFF2-40B4-BE49-F238E27FC236}">
                <a16:creationId xmlns:a16="http://schemas.microsoft.com/office/drawing/2014/main" id="{B994969A-DF1E-4AD6-BBE6-8E40321A8F64}"/>
              </a:ext>
            </a:extLst>
          </p:cNvPr>
          <p:cNvSpPr txBox="1"/>
          <p:nvPr/>
        </p:nvSpPr>
        <p:spPr bwMode="gray">
          <a:xfrm>
            <a:off x="8662153" y="3430687"/>
            <a:ext cx="2063838"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zh-CN" altLang="en-US" sz="1200" dirty="0">
                <a:latin typeface="Huawei Sans" panose="020C0503030203020204" pitchFamily="34" charset="0"/>
                <a:ea typeface="方正兰亭黑简体" panose="02000000000000000000" pitchFamily="2" charset="-122"/>
              </a:rPr>
              <a:t>数据通道</a:t>
            </a:r>
          </a:p>
        </p:txBody>
      </p:sp>
      <p:sp>
        <p:nvSpPr>
          <p:cNvPr id="39" name="文本框 60">
            <a:extLst>
              <a:ext uri="{FF2B5EF4-FFF2-40B4-BE49-F238E27FC236}">
                <a16:creationId xmlns:a16="http://schemas.microsoft.com/office/drawing/2014/main" id="{05B37824-49C3-4735-8321-9799CF5A3DB5}"/>
              </a:ext>
            </a:extLst>
          </p:cNvPr>
          <p:cNvSpPr txBox="1"/>
          <p:nvPr/>
        </p:nvSpPr>
        <p:spPr bwMode="gray">
          <a:xfrm>
            <a:off x="8061349" y="2305676"/>
            <a:ext cx="586963" cy="276999"/>
          </a:xfrm>
          <a:prstGeom prst="rect">
            <a:avLst/>
          </a:prstGeom>
          <a:solidFill>
            <a:srgbClr val="56C4D2"/>
          </a:solidFill>
          <a:ln>
            <a:solidFill>
              <a:srgbClr val="56C4D2"/>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TNP</a:t>
            </a:r>
          </a:p>
        </p:txBody>
      </p:sp>
      <p:sp>
        <p:nvSpPr>
          <p:cNvPr id="40" name="文本框 60">
            <a:extLst>
              <a:ext uri="{FF2B5EF4-FFF2-40B4-BE49-F238E27FC236}">
                <a16:creationId xmlns:a16="http://schemas.microsoft.com/office/drawing/2014/main" id="{0B17B59C-3BF1-4088-B3AA-8E3B976A86D2}"/>
              </a:ext>
            </a:extLst>
          </p:cNvPr>
          <p:cNvSpPr txBox="1"/>
          <p:nvPr/>
        </p:nvSpPr>
        <p:spPr bwMode="gray">
          <a:xfrm>
            <a:off x="8063967" y="2632936"/>
            <a:ext cx="838093" cy="276999"/>
          </a:xfrm>
          <a:prstGeom prst="rect">
            <a:avLst/>
          </a:prstGeom>
          <a:solidFill>
            <a:srgbClr val="AFD89C"/>
          </a:solidFill>
          <a:ln>
            <a:solidFill>
              <a:srgbClr val="AFD89C"/>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 SA</a:t>
            </a:r>
          </a:p>
        </p:txBody>
      </p:sp>
      <p:sp>
        <p:nvSpPr>
          <p:cNvPr id="41" name="文本框 60">
            <a:extLst>
              <a:ext uri="{FF2B5EF4-FFF2-40B4-BE49-F238E27FC236}">
                <a16:creationId xmlns:a16="http://schemas.microsoft.com/office/drawing/2014/main" id="{F1877156-CD97-45FA-9B07-34C14F633F6C}"/>
              </a:ext>
            </a:extLst>
          </p:cNvPr>
          <p:cNvSpPr txBox="1"/>
          <p:nvPr/>
        </p:nvSpPr>
        <p:spPr bwMode="gray">
          <a:xfrm>
            <a:off x="8061349" y="2958932"/>
            <a:ext cx="793936" cy="276999"/>
          </a:xfrm>
          <a:prstGeom prst="rect">
            <a:avLst/>
          </a:prstGeom>
          <a:solidFill>
            <a:srgbClr val="FDD351"/>
          </a:solidFill>
          <a:ln>
            <a:solidFill>
              <a:srgbClr val="FDD351"/>
            </a:solidFill>
          </a:ln>
        </p:spPr>
        <p:txBody>
          <a:bodyPr wrap="square" rtlCol="0">
            <a:sp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业务路由</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文本框 60">
            <a:extLst>
              <a:ext uri="{FF2B5EF4-FFF2-40B4-BE49-F238E27FC236}">
                <a16:creationId xmlns:a16="http://schemas.microsoft.com/office/drawing/2014/main" id="{388BD414-E451-4609-B2C2-4F327D505F03}"/>
              </a:ext>
            </a:extLst>
          </p:cNvPr>
          <p:cNvSpPr txBox="1"/>
          <p:nvPr/>
        </p:nvSpPr>
        <p:spPr bwMode="gray">
          <a:xfrm>
            <a:off x="10685018" y="2298975"/>
            <a:ext cx="586963" cy="276999"/>
          </a:xfrm>
          <a:prstGeom prst="rect">
            <a:avLst/>
          </a:prstGeom>
          <a:solidFill>
            <a:srgbClr val="56C4D2"/>
          </a:solidFill>
          <a:ln>
            <a:solidFill>
              <a:srgbClr val="56C4D2"/>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TNP</a:t>
            </a:r>
          </a:p>
        </p:txBody>
      </p:sp>
      <p:sp>
        <p:nvSpPr>
          <p:cNvPr id="43" name="文本框 60">
            <a:extLst>
              <a:ext uri="{FF2B5EF4-FFF2-40B4-BE49-F238E27FC236}">
                <a16:creationId xmlns:a16="http://schemas.microsoft.com/office/drawing/2014/main" id="{634EB449-5F02-4E43-8065-2ED945E534FC}"/>
              </a:ext>
            </a:extLst>
          </p:cNvPr>
          <p:cNvSpPr txBox="1"/>
          <p:nvPr/>
        </p:nvSpPr>
        <p:spPr bwMode="gray">
          <a:xfrm>
            <a:off x="10433888" y="2626235"/>
            <a:ext cx="838093" cy="276999"/>
          </a:xfrm>
          <a:prstGeom prst="rect">
            <a:avLst/>
          </a:prstGeom>
          <a:solidFill>
            <a:srgbClr val="AFD89C"/>
          </a:solidFill>
          <a:ln>
            <a:solidFill>
              <a:srgbClr val="AFD89C"/>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 SA</a:t>
            </a:r>
          </a:p>
        </p:txBody>
      </p:sp>
      <p:sp>
        <p:nvSpPr>
          <p:cNvPr id="44" name="文本框 60">
            <a:extLst>
              <a:ext uri="{FF2B5EF4-FFF2-40B4-BE49-F238E27FC236}">
                <a16:creationId xmlns:a16="http://schemas.microsoft.com/office/drawing/2014/main" id="{93D3D1DB-89CD-4566-AC0E-E3B913BF0150}"/>
              </a:ext>
            </a:extLst>
          </p:cNvPr>
          <p:cNvSpPr txBox="1"/>
          <p:nvPr/>
        </p:nvSpPr>
        <p:spPr bwMode="gray">
          <a:xfrm>
            <a:off x="10478045" y="2952231"/>
            <a:ext cx="793936" cy="276999"/>
          </a:xfrm>
          <a:prstGeom prst="rect">
            <a:avLst/>
          </a:prstGeom>
          <a:solidFill>
            <a:srgbClr val="FDD351"/>
          </a:solidFill>
          <a:ln>
            <a:solidFill>
              <a:srgbClr val="FDD351"/>
            </a:solidFill>
          </a:ln>
        </p:spPr>
        <p:txBody>
          <a:bodyPr wrap="square" rtlCol="0">
            <a:sp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业务路由</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5" name="Straight Arrow Connector 44">
            <a:extLst>
              <a:ext uri="{FF2B5EF4-FFF2-40B4-BE49-F238E27FC236}">
                <a16:creationId xmlns:a16="http://schemas.microsoft.com/office/drawing/2014/main" id="{2729A706-6E00-4FD8-B091-666D68CB2D5B}"/>
              </a:ext>
            </a:extLst>
          </p:cNvPr>
          <p:cNvCxnSpPr>
            <a:cxnSpLocks/>
          </p:cNvCxnSpPr>
          <p:nvPr/>
        </p:nvCxnSpPr>
        <p:spPr bwMode="gray">
          <a:xfrm flipH="1">
            <a:off x="8954581" y="2523469"/>
            <a:ext cx="1456018" cy="4391"/>
          </a:xfrm>
          <a:prstGeom prst="straightConnector1">
            <a:avLst/>
          </a:prstGeom>
          <a:solidFill>
            <a:schemeClr val="accent1"/>
          </a:solidFill>
          <a:ln w="19050" cap="flat" cmpd="sng" algn="ctr">
            <a:solidFill>
              <a:srgbClr val="56C4D2"/>
            </a:solidFill>
            <a:prstDash val="dash"/>
            <a:round/>
            <a:headEnd type="triangle" w="med" len="med"/>
            <a:tailEnd type="triangle" w="med" len="med"/>
          </a:ln>
          <a:effectLst/>
        </p:spPr>
      </p:cxnSp>
      <p:sp>
        <p:nvSpPr>
          <p:cNvPr id="46" name="椭圆 50">
            <a:extLst>
              <a:ext uri="{FF2B5EF4-FFF2-40B4-BE49-F238E27FC236}">
                <a16:creationId xmlns:a16="http://schemas.microsoft.com/office/drawing/2014/main" id="{D452F231-2E6F-4C10-AA7F-97CCEEE32B9C}"/>
              </a:ext>
            </a:extLst>
          </p:cNvPr>
          <p:cNvSpPr/>
          <p:nvPr/>
        </p:nvSpPr>
        <p:spPr bwMode="gray">
          <a:xfrm>
            <a:off x="10114505" y="3244368"/>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椭圆 50">
            <a:extLst>
              <a:ext uri="{FF2B5EF4-FFF2-40B4-BE49-F238E27FC236}">
                <a16:creationId xmlns:a16="http://schemas.microsoft.com/office/drawing/2014/main" id="{7C21AA3B-553F-42E6-9C95-1D4165310ED4}"/>
              </a:ext>
            </a:extLst>
          </p:cNvPr>
          <p:cNvSpPr/>
          <p:nvPr/>
        </p:nvSpPr>
        <p:spPr bwMode="gray">
          <a:xfrm>
            <a:off x="9617261" y="2296069"/>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Straight Arrow Connector 47">
            <a:extLst>
              <a:ext uri="{FF2B5EF4-FFF2-40B4-BE49-F238E27FC236}">
                <a16:creationId xmlns:a16="http://schemas.microsoft.com/office/drawing/2014/main" id="{590282EB-966E-440E-9F7F-4D67CE052A21}"/>
              </a:ext>
            </a:extLst>
          </p:cNvPr>
          <p:cNvCxnSpPr>
            <a:cxnSpLocks/>
          </p:cNvCxnSpPr>
          <p:nvPr/>
        </p:nvCxnSpPr>
        <p:spPr bwMode="gray">
          <a:xfrm flipH="1">
            <a:off x="8928851" y="3094816"/>
            <a:ext cx="1456018" cy="4391"/>
          </a:xfrm>
          <a:prstGeom prst="straightConnector1">
            <a:avLst/>
          </a:prstGeom>
          <a:solidFill>
            <a:schemeClr val="accent1"/>
          </a:solidFill>
          <a:ln w="19050" cap="flat" cmpd="sng" algn="ctr">
            <a:solidFill>
              <a:srgbClr val="56C4D2"/>
            </a:solidFill>
            <a:prstDash val="dash"/>
            <a:round/>
            <a:headEnd type="triangle" w="med" len="med"/>
            <a:tailEnd type="triangle" w="med" len="med"/>
          </a:ln>
          <a:effectLst/>
        </p:spPr>
      </p:cxnSp>
      <p:sp>
        <p:nvSpPr>
          <p:cNvPr id="49" name="椭圆 50">
            <a:extLst>
              <a:ext uri="{FF2B5EF4-FFF2-40B4-BE49-F238E27FC236}">
                <a16:creationId xmlns:a16="http://schemas.microsoft.com/office/drawing/2014/main" id="{B847829F-0799-4CF0-B81C-EDAEA52E1E57}"/>
              </a:ext>
            </a:extLst>
          </p:cNvPr>
          <p:cNvSpPr/>
          <p:nvPr/>
        </p:nvSpPr>
        <p:spPr bwMode="gray">
          <a:xfrm>
            <a:off x="9629448" y="2850974"/>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Arrow: Right 49">
            <a:extLst>
              <a:ext uri="{FF2B5EF4-FFF2-40B4-BE49-F238E27FC236}">
                <a16:creationId xmlns:a16="http://schemas.microsoft.com/office/drawing/2014/main" id="{D0207AC4-265E-480F-B4C9-8622B9C7DA42}"/>
              </a:ext>
            </a:extLst>
          </p:cNvPr>
          <p:cNvSpPr/>
          <p:nvPr/>
        </p:nvSpPr>
        <p:spPr bwMode="gray">
          <a:xfrm>
            <a:off x="4129041" y="1653088"/>
            <a:ext cx="385615" cy="276645"/>
          </a:xfrm>
          <a:prstGeom prst="rightArrow">
            <a:avLst/>
          </a:prstGeom>
          <a:solidFill>
            <a:srgbClr val="EEB3B8"/>
          </a:solidFill>
          <a:ln>
            <a:solidFill>
              <a:srgbClr val="E2818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Arrow: Right 50">
            <a:extLst>
              <a:ext uri="{FF2B5EF4-FFF2-40B4-BE49-F238E27FC236}">
                <a16:creationId xmlns:a16="http://schemas.microsoft.com/office/drawing/2014/main" id="{606E5952-00DE-4FD2-96B9-F7CBE6756EC1}"/>
              </a:ext>
            </a:extLst>
          </p:cNvPr>
          <p:cNvSpPr/>
          <p:nvPr/>
        </p:nvSpPr>
        <p:spPr bwMode="gray">
          <a:xfrm>
            <a:off x="7735308" y="1653088"/>
            <a:ext cx="385615" cy="276645"/>
          </a:xfrm>
          <a:prstGeom prst="rightArrow">
            <a:avLst/>
          </a:prstGeom>
          <a:solidFill>
            <a:srgbClr val="EEB3B8"/>
          </a:solidFill>
          <a:ln>
            <a:solidFill>
              <a:srgbClr val="E2818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2" name="Group 51">
            <a:extLst>
              <a:ext uri="{FF2B5EF4-FFF2-40B4-BE49-F238E27FC236}">
                <a16:creationId xmlns:a16="http://schemas.microsoft.com/office/drawing/2014/main" id="{1A368E0A-2A35-4B13-92A4-5DE527E31EAF}"/>
              </a:ext>
            </a:extLst>
          </p:cNvPr>
          <p:cNvGrpSpPr/>
          <p:nvPr/>
        </p:nvGrpSpPr>
        <p:grpSpPr bwMode="gray">
          <a:xfrm>
            <a:off x="4660222" y="1992413"/>
            <a:ext cx="2833159" cy="2269239"/>
            <a:chOff x="4660222" y="1992413"/>
            <a:chExt cx="2833159" cy="2269239"/>
          </a:xfrm>
        </p:grpSpPr>
        <p:pic>
          <p:nvPicPr>
            <p:cNvPr id="53" name="图片 31">
              <a:extLst>
                <a:ext uri="{FF2B5EF4-FFF2-40B4-BE49-F238E27FC236}">
                  <a16:creationId xmlns:a16="http://schemas.microsoft.com/office/drawing/2014/main" id="{61D2A607-9D8E-4341-9C53-E9B3097C3CDE}"/>
                </a:ext>
              </a:extLst>
            </p:cNvPr>
            <p:cNvPicPr>
              <a:picLocks noChangeAspect="1"/>
            </p:cNvPicPr>
            <p:nvPr/>
          </p:nvPicPr>
          <p:blipFill>
            <a:blip r:embed="rId4"/>
            <a:stretch>
              <a:fillRect/>
            </a:stretch>
          </p:blipFill>
          <p:spPr bwMode="gray">
            <a:xfrm>
              <a:off x="4720336" y="3658374"/>
              <a:ext cx="466668" cy="389308"/>
            </a:xfrm>
            <a:prstGeom prst="rect">
              <a:avLst/>
            </a:prstGeom>
          </p:spPr>
        </p:pic>
        <p:pic>
          <p:nvPicPr>
            <p:cNvPr id="54" name="图片 31">
              <a:extLst>
                <a:ext uri="{FF2B5EF4-FFF2-40B4-BE49-F238E27FC236}">
                  <a16:creationId xmlns:a16="http://schemas.microsoft.com/office/drawing/2014/main" id="{A0507AF4-B026-40E6-9318-CF41AEDE23EE}"/>
                </a:ext>
              </a:extLst>
            </p:cNvPr>
            <p:cNvPicPr>
              <a:picLocks noChangeAspect="1"/>
            </p:cNvPicPr>
            <p:nvPr/>
          </p:nvPicPr>
          <p:blipFill>
            <a:blip r:embed="rId4"/>
            <a:stretch>
              <a:fillRect/>
            </a:stretch>
          </p:blipFill>
          <p:spPr bwMode="gray">
            <a:xfrm>
              <a:off x="6964734" y="3662724"/>
              <a:ext cx="466668" cy="389308"/>
            </a:xfrm>
            <a:prstGeom prst="rect">
              <a:avLst/>
            </a:prstGeom>
          </p:spPr>
        </p:pic>
        <p:pic>
          <p:nvPicPr>
            <p:cNvPr id="55" name="图片 31">
              <a:extLst>
                <a:ext uri="{FF2B5EF4-FFF2-40B4-BE49-F238E27FC236}">
                  <a16:creationId xmlns:a16="http://schemas.microsoft.com/office/drawing/2014/main" id="{B656AB52-DF4F-4757-ABDE-3007FC8A2DBC}"/>
                </a:ext>
              </a:extLst>
            </p:cNvPr>
            <p:cNvPicPr>
              <a:picLocks noChangeAspect="1"/>
            </p:cNvPicPr>
            <p:nvPr/>
          </p:nvPicPr>
          <p:blipFill>
            <a:blip r:embed="rId4"/>
            <a:stretch>
              <a:fillRect/>
            </a:stretch>
          </p:blipFill>
          <p:spPr bwMode="gray">
            <a:xfrm>
              <a:off x="5862666" y="2187080"/>
              <a:ext cx="466668" cy="389308"/>
            </a:xfrm>
            <a:prstGeom prst="rect">
              <a:avLst/>
            </a:prstGeom>
          </p:spPr>
        </p:pic>
        <p:cxnSp>
          <p:nvCxnSpPr>
            <p:cNvPr id="56" name="直接连接符 78">
              <a:extLst>
                <a:ext uri="{FF2B5EF4-FFF2-40B4-BE49-F238E27FC236}">
                  <a16:creationId xmlns:a16="http://schemas.microsoft.com/office/drawing/2014/main" id="{47D862DC-41F6-4BA4-AE21-BDD3955A45D6}"/>
                </a:ext>
              </a:extLst>
            </p:cNvPr>
            <p:cNvCxnSpPr>
              <a:cxnSpLocks noChangeShapeType="1"/>
              <a:stCxn id="55" idx="2"/>
            </p:cNvCxnSpPr>
            <p:nvPr/>
          </p:nvCxnSpPr>
          <p:spPr bwMode="gray">
            <a:xfrm>
              <a:off x="6096000" y="2576388"/>
              <a:ext cx="0" cy="558611"/>
            </a:xfrm>
            <a:prstGeom prst="line">
              <a:avLst/>
            </a:prstGeom>
            <a:noFill/>
            <a:ln w="19050" algn="ctr">
              <a:solidFill>
                <a:schemeClr val="bg1">
                  <a:lumMod val="50000"/>
                </a:schemeClr>
              </a:solidFill>
              <a:round/>
              <a:headEnd/>
              <a:tailEnd/>
            </a:ln>
          </p:spPr>
        </p:cxnSp>
        <p:cxnSp>
          <p:nvCxnSpPr>
            <p:cNvPr id="57" name="直接连接符 78">
              <a:extLst>
                <a:ext uri="{FF2B5EF4-FFF2-40B4-BE49-F238E27FC236}">
                  <a16:creationId xmlns:a16="http://schemas.microsoft.com/office/drawing/2014/main" id="{693BD456-D189-4B30-A22A-ADCD8DA6BDBC}"/>
                </a:ext>
              </a:extLst>
            </p:cNvPr>
            <p:cNvCxnSpPr>
              <a:cxnSpLocks noChangeShapeType="1"/>
              <a:stCxn id="53" idx="0"/>
              <a:endCxn id="59" idx="20"/>
            </p:cNvCxnSpPr>
            <p:nvPr/>
          </p:nvCxnSpPr>
          <p:spPr bwMode="gray">
            <a:xfrm flipV="1">
              <a:off x="4953670" y="3399162"/>
              <a:ext cx="832347" cy="259212"/>
            </a:xfrm>
            <a:prstGeom prst="line">
              <a:avLst/>
            </a:prstGeom>
            <a:noFill/>
            <a:ln w="19050" algn="ctr">
              <a:solidFill>
                <a:schemeClr val="bg1">
                  <a:lumMod val="50000"/>
                </a:schemeClr>
              </a:solidFill>
              <a:round/>
              <a:headEnd/>
              <a:tailEnd/>
            </a:ln>
          </p:spPr>
        </p:cxnSp>
        <p:cxnSp>
          <p:nvCxnSpPr>
            <p:cNvPr id="58" name="直接连接符 78">
              <a:extLst>
                <a:ext uri="{FF2B5EF4-FFF2-40B4-BE49-F238E27FC236}">
                  <a16:creationId xmlns:a16="http://schemas.microsoft.com/office/drawing/2014/main" id="{3C35DCAF-097B-4EE2-A1EF-C5BE24FC2DAA}"/>
                </a:ext>
              </a:extLst>
            </p:cNvPr>
            <p:cNvCxnSpPr>
              <a:cxnSpLocks noChangeShapeType="1"/>
              <a:stCxn id="54" idx="0"/>
              <a:endCxn id="59" idx="9"/>
            </p:cNvCxnSpPr>
            <p:nvPr/>
          </p:nvCxnSpPr>
          <p:spPr bwMode="gray">
            <a:xfrm flipH="1" flipV="1">
              <a:off x="6386342" y="3401072"/>
              <a:ext cx="811726" cy="261652"/>
            </a:xfrm>
            <a:prstGeom prst="line">
              <a:avLst/>
            </a:prstGeom>
            <a:noFill/>
            <a:ln w="19050" algn="ctr">
              <a:solidFill>
                <a:schemeClr val="bg1">
                  <a:lumMod val="50000"/>
                </a:schemeClr>
              </a:solidFill>
              <a:round/>
              <a:headEnd/>
              <a:tailEnd/>
            </a:ln>
          </p:spPr>
        </p:cxnSp>
        <p:sp>
          <p:nvSpPr>
            <p:cNvPr id="59" name="Freeform 159">
              <a:extLst>
                <a:ext uri="{FF2B5EF4-FFF2-40B4-BE49-F238E27FC236}">
                  <a16:creationId xmlns:a16="http://schemas.microsoft.com/office/drawing/2014/main" id="{50C8CC6E-EC49-41E4-A217-7DD1DA7BFDF9}"/>
                </a:ext>
              </a:extLst>
            </p:cNvPr>
            <p:cNvSpPr/>
            <p:nvPr/>
          </p:nvSpPr>
          <p:spPr bwMode="gray">
            <a:xfrm flipH="1">
              <a:off x="5684157" y="2971213"/>
              <a:ext cx="823685" cy="4305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Can 41">
              <a:extLst>
                <a:ext uri="{FF2B5EF4-FFF2-40B4-BE49-F238E27FC236}">
                  <a16:creationId xmlns:a16="http://schemas.microsoft.com/office/drawing/2014/main" id="{FB33155F-E3FE-4FBC-9C91-5C42ED7A5072}"/>
                </a:ext>
              </a:extLst>
            </p:cNvPr>
            <p:cNvSpPr/>
            <p:nvPr/>
          </p:nvSpPr>
          <p:spPr bwMode="gray">
            <a:xfrm rot="2346802">
              <a:off x="5330222" y="2345900"/>
              <a:ext cx="166846" cy="146342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Shape 60">
              <a:extLst>
                <a:ext uri="{FF2B5EF4-FFF2-40B4-BE49-F238E27FC236}">
                  <a16:creationId xmlns:a16="http://schemas.microsoft.com/office/drawing/2014/main" id="{AACDD728-EE5A-45F8-8DC7-D839FD79D08B}"/>
                </a:ext>
              </a:extLst>
            </p:cNvPr>
            <p:cNvSpPr/>
            <p:nvPr/>
          </p:nvSpPr>
          <p:spPr bwMode="gray">
            <a:xfrm>
              <a:off x="4854575" y="2363474"/>
              <a:ext cx="962025" cy="1250950"/>
            </a:xfrm>
            <a:custGeom>
              <a:avLst/>
              <a:gdLst>
                <a:gd name="connsiteX0" fmla="*/ 962025 w 962025"/>
                <a:gd name="connsiteY0" fmla="*/ 0 h 1250950"/>
                <a:gd name="connsiteX1" fmla="*/ 250825 w 962025"/>
                <a:gd name="connsiteY1" fmla="*/ 279400 h 1250950"/>
                <a:gd name="connsiteX2" fmla="*/ 0 w 962025"/>
                <a:gd name="connsiteY2" fmla="*/ 1250950 h 1250950"/>
              </a:gdLst>
              <a:ahLst/>
              <a:cxnLst>
                <a:cxn ang="0">
                  <a:pos x="connsiteX0" y="connsiteY0"/>
                </a:cxn>
                <a:cxn ang="0">
                  <a:pos x="connsiteX1" y="connsiteY1"/>
                </a:cxn>
                <a:cxn ang="0">
                  <a:pos x="connsiteX2" y="connsiteY2"/>
                </a:cxn>
              </a:cxnLst>
              <a:rect l="l" t="t" r="r" b="b"/>
              <a:pathLst>
                <a:path w="962025" h="1250950">
                  <a:moveTo>
                    <a:pt x="962025" y="0"/>
                  </a:moveTo>
                  <a:cubicBezTo>
                    <a:pt x="686593" y="35454"/>
                    <a:pt x="411162" y="70908"/>
                    <a:pt x="250825" y="279400"/>
                  </a:cubicBezTo>
                  <a:cubicBezTo>
                    <a:pt x="90488" y="487892"/>
                    <a:pt x="45244" y="869421"/>
                    <a:pt x="0" y="1250950"/>
                  </a:cubicBezTo>
                </a:path>
              </a:pathLst>
            </a:custGeom>
            <a:noFill/>
            <a:ln w="19050">
              <a:solidFill>
                <a:srgbClr val="56C4D2"/>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C2DDFDC2-F235-47AD-952E-9622F742D3A9}"/>
                </a:ext>
              </a:extLst>
            </p:cNvPr>
            <p:cNvSpPr/>
            <p:nvPr/>
          </p:nvSpPr>
          <p:spPr bwMode="gray">
            <a:xfrm flipH="1">
              <a:off x="6323351" y="2358191"/>
              <a:ext cx="962025" cy="1250950"/>
            </a:xfrm>
            <a:custGeom>
              <a:avLst/>
              <a:gdLst>
                <a:gd name="connsiteX0" fmla="*/ 962025 w 962025"/>
                <a:gd name="connsiteY0" fmla="*/ 0 h 1250950"/>
                <a:gd name="connsiteX1" fmla="*/ 250825 w 962025"/>
                <a:gd name="connsiteY1" fmla="*/ 279400 h 1250950"/>
                <a:gd name="connsiteX2" fmla="*/ 0 w 962025"/>
                <a:gd name="connsiteY2" fmla="*/ 1250950 h 1250950"/>
              </a:gdLst>
              <a:ahLst/>
              <a:cxnLst>
                <a:cxn ang="0">
                  <a:pos x="connsiteX0" y="connsiteY0"/>
                </a:cxn>
                <a:cxn ang="0">
                  <a:pos x="connsiteX1" y="connsiteY1"/>
                </a:cxn>
                <a:cxn ang="0">
                  <a:pos x="connsiteX2" y="connsiteY2"/>
                </a:cxn>
              </a:cxnLst>
              <a:rect l="l" t="t" r="r" b="b"/>
              <a:pathLst>
                <a:path w="962025" h="1250950">
                  <a:moveTo>
                    <a:pt x="962025" y="0"/>
                  </a:moveTo>
                  <a:cubicBezTo>
                    <a:pt x="686593" y="35454"/>
                    <a:pt x="411162" y="70908"/>
                    <a:pt x="250825" y="279400"/>
                  </a:cubicBezTo>
                  <a:cubicBezTo>
                    <a:pt x="90488" y="487892"/>
                    <a:pt x="45244" y="869421"/>
                    <a:pt x="0" y="1250950"/>
                  </a:cubicBezTo>
                </a:path>
              </a:pathLst>
            </a:custGeom>
            <a:noFill/>
            <a:ln w="19050">
              <a:solidFill>
                <a:srgbClr val="56C4D2"/>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Can 41">
              <a:extLst>
                <a:ext uri="{FF2B5EF4-FFF2-40B4-BE49-F238E27FC236}">
                  <a16:creationId xmlns:a16="http://schemas.microsoft.com/office/drawing/2014/main" id="{F587A828-4F77-4A8B-8304-2E32033D8AE1}"/>
                </a:ext>
              </a:extLst>
            </p:cNvPr>
            <p:cNvSpPr/>
            <p:nvPr/>
          </p:nvSpPr>
          <p:spPr bwMode="gray">
            <a:xfrm rot="19253198" flipH="1">
              <a:off x="6666056" y="2355426"/>
              <a:ext cx="166846" cy="146342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63">
              <a:extLst>
                <a:ext uri="{FF2B5EF4-FFF2-40B4-BE49-F238E27FC236}">
                  <a16:creationId xmlns:a16="http://schemas.microsoft.com/office/drawing/2014/main" id="{4261E1C3-8043-4EE0-90CF-300E0E14D82C}"/>
                </a:ext>
              </a:extLst>
            </p:cNvPr>
            <p:cNvSpPr txBox="1"/>
            <p:nvPr/>
          </p:nvSpPr>
          <p:spPr bwMode="gray">
            <a:xfrm rot="17302698">
              <a:off x="4273795" y="2726243"/>
              <a:ext cx="1176653"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Huawei Sans" panose="020C0503030203020204" pitchFamily="34" charset="0"/>
                  <a:ea typeface="方正兰亭黑简体" panose="02000000000000000000" pitchFamily="2" charset="-122"/>
                </a:rPr>
                <a:t>DTLS</a:t>
              </a:r>
              <a:r>
                <a:rPr lang="zh-CN" altLang="en-US" sz="1200" dirty="0">
                  <a:latin typeface="Huawei Sans" panose="020C0503030203020204" pitchFamily="34" charset="0"/>
                  <a:ea typeface="方正兰亭黑简体" panose="02000000000000000000" pitchFamily="2" charset="-122"/>
                </a:rPr>
                <a:t>管理通道</a:t>
              </a:r>
            </a:p>
          </p:txBody>
        </p:sp>
        <p:sp>
          <p:nvSpPr>
            <p:cNvPr id="65" name="TextBox 64">
              <a:extLst>
                <a:ext uri="{FF2B5EF4-FFF2-40B4-BE49-F238E27FC236}">
                  <a16:creationId xmlns:a16="http://schemas.microsoft.com/office/drawing/2014/main" id="{4F86A7F1-0AA0-4843-B5D4-EF27B3F722F3}"/>
                </a:ext>
              </a:extLst>
            </p:cNvPr>
            <p:cNvSpPr txBox="1"/>
            <p:nvPr/>
          </p:nvSpPr>
          <p:spPr bwMode="gray">
            <a:xfrm rot="4297302" flipH="1">
              <a:off x="6684363" y="2779628"/>
              <a:ext cx="1175810"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Huawei Sans" panose="020C0503030203020204" pitchFamily="34" charset="0"/>
                  <a:ea typeface="方正兰亭黑简体" panose="02000000000000000000" pitchFamily="2" charset="-122"/>
                </a:rPr>
                <a:t>DTLS</a:t>
              </a:r>
              <a:r>
                <a:rPr lang="zh-CN" altLang="en-US" sz="1200" dirty="0">
                  <a:latin typeface="Huawei Sans" panose="020C0503030203020204" pitchFamily="34" charset="0"/>
                  <a:ea typeface="方正兰亭黑简体" panose="02000000000000000000" pitchFamily="2" charset="-122"/>
                </a:rPr>
                <a:t>管理通道</a:t>
              </a:r>
            </a:p>
          </p:txBody>
        </p:sp>
        <p:sp>
          <p:nvSpPr>
            <p:cNvPr id="66" name="TextBox 65">
              <a:extLst>
                <a:ext uri="{FF2B5EF4-FFF2-40B4-BE49-F238E27FC236}">
                  <a16:creationId xmlns:a16="http://schemas.microsoft.com/office/drawing/2014/main" id="{8A68C1B6-DBD7-4824-A6A5-DE74100B5BD7}"/>
                </a:ext>
              </a:extLst>
            </p:cNvPr>
            <p:cNvSpPr txBox="1"/>
            <p:nvPr/>
          </p:nvSpPr>
          <p:spPr bwMode="gray">
            <a:xfrm rot="18561856">
              <a:off x="4572227" y="2940555"/>
              <a:ext cx="1690300"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200" dirty="0">
                  <a:latin typeface="Huawei Sans" panose="020C0503030203020204" pitchFamily="34" charset="0"/>
                  <a:ea typeface="方正兰亭黑简体" panose="02000000000000000000" pitchFamily="2" charset="-122"/>
                </a:rPr>
                <a:t>BGP</a:t>
              </a:r>
              <a:r>
                <a:rPr lang="zh-CN" altLang="en-US" sz="1200" dirty="0">
                  <a:latin typeface="Huawei Sans" panose="020C0503030203020204" pitchFamily="34" charset="0"/>
                  <a:ea typeface="方正兰亭黑简体" panose="02000000000000000000" pitchFamily="2" charset="-122"/>
                </a:rPr>
                <a:t>（控制通道）</a:t>
              </a:r>
            </a:p>
          </p:txBody>
        </p:sp>
        <p:sp>
          <p:nvSpPr>
            <p:cNvPr id="67" name="TextBox 66">
              <a:extLst>
                <a:ext uri="{FF2B5EF4-FFF2-40B4-BE49-F238E27FC236}">
                  <a16:creationId xmlns:a16="http://schemas.microsoft.com/office/drawing/2014/main" id="{EC4C9508-2FC6-4802-9FA3-B2222B5340C8}"/>
                </a:ext>
              </a:extLst>
            </p:cNvPr>
            <p:cNvSpPr txBox="1"/>
            <p:nvPr/>
          </p:nvSpPr>
          <p:spPr bwMode="gray">
            <a:xfrm rot="3036206" flipH="1">
              <a:off x="5927297" y="2951736"/>
              <a:ext cx="1661994"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200" dirty="0">
                  <a:latin typeface="Huawei Sans" panose="020C0503030203020204" pitchFamily="34" charset="0"/>
                  <a:ea typeface="方正兰亭黑简体" panose="02000000000000000000" pitchFamily="2" charset="-122"/>
                </a:rPr>
                <a:t>BGP</a:t>
              </a:r>
              <a:r>
                <a:rPr lang="zh-CN" altLang="en-US" sz="1200" dirty="0">
                  <a:latin typeface="Huawei Sans" panose="020C0503030203020204" pitchFamily="34" charset="0"/>
                  <a:ea typeface="方正兰亭黑简体" panose="02000000000000000000" pitchFamily="2" charset="-122"/>
                </a:rPr>
                <a:t>（控制通道）</a:t>
              </a:r>
            </a:p>
          </p:txBody>
        </p:sp>
        <p:sp>
          <p:nvSpPr>
            <p:cNvPr id="68" name="TextBox 67">
              <a:extLst>
                <a:ext uri="{FF2B5EF4-FFF2-40B4-BE49-F238E27FC236}">
                  <a16:creationId xmlns:a16="http://schemas.microsoft.com/office/drawing/2014/main" id="{0C2BD7B6-F9CC-46C4-B755-3535453E66B1}"/>
                </a:ext>
              </a:extLst>
            </p:cNvPr>
            <p:cNvSpPr txBox="1"/>
            <p:nvPr/>
          </p:nvSpPr>
          <p:spPr bwMode="gray">
            <a:xfrm>
              <a:off x="4660222" y="3977088"/>
              <a:ext cx="624664"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Huawei Sans" panose="020C0503030203020204" pitchFamily="34" charset="0"/>
                  <a:ea typeface="方正兰亭黑简体" panose="02000000000000000000" pitchFamily="2" charset="-122"/>
                </a:rPr>
                <a:t>EDGE</a:t>
              </a:r>
              <a:endParaRPr lang="zh-CN" altLang="en-US" sz="1200" dirty="0">
                <a:latin typeface="Huawei Sans" panose="020C0503030203020204" pitchFamily="34" charset="0"/>
                <a:ea typeface="方正兰亭黑简体" panose="02000000000000000000" pitchFamily="2" charset="-122"/>
              </a:endParaRPr>
            </a:p>
          </p:txBody>
        </p:sp>
        <p:sp>
          <p:nvSpPr>
            <p:cNvPr id="69" name="TextBox 68">
              <a:extLst>
                <a:ext uri="{FF2B5EF4-FFF2-40B4-BE49-F238E27FC236}">
                  <a16:creationId xmlns:a16="http://schemas.microsoft.com/office/drawing/2014/main" id="{74613F33-D3E1-41C1-B57D-97A908D1D0AD}"/>
                </a:ext>
              </a:extLst>
            </p:cNvPr>
            <p:cNvSpPr txBox="1"/>
            <p:nvPr/>
          </p:nvSpPr>
          <p:spPr bwMode="gray">
            <a:xfrm>
              <a:off x="6885797" y="3988327"/>
              <a:ext cx="607584"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Huawei Sans" panose="020C0503030203020204" pitchFamily="34" charset="0"/>
                  <a:ea typeface="方正兰亭黑简体" panose="02000000000000000000" pitchFamily="2" charset="-122"/>
                </a:rPr>
                <a:t>EDGE</a:t>
              </a:r>
              <a:endParaRPr lang="zh-CN" altLang="en-US" sz="1200" dirty="0">
                <a:latin typeface="Huawei Sans" panose="020C0503030203020204" pitchFamily="34" charset="0"/>
                <a:ea typeface="方正兰亭黑简体" panose="02000000000000000000" pitchFamily="2" charset="-122"/>
              </a:endParaRPr>
            </a:p>
          </p:txBody>
        </p:sp>
        <p:sp>
          <p:nvSpPr>
            <p:cNvPr id="70" name="TextBox 69">
              <a:extLst>
                <a:ext uri="{FF2B5EF4-FFF2-40B4-BE49-F238E27FC236}">
                  <a16:creationId xmlns:a16="http://schemas.microsoft.com/office/drawing/2014/main" id="{AB37EE4C-C07D-4F8A-A15B-84CE769A9BD4}"/>
                </a:ext>
              </a:extLst>
            </p:cNvPr>
            <p:cNvSpPr txBox="1"/>
            <p:nvPr/>
          </p:nvSpPr>
          <p:spPr bwMode="gray">
            <a:xfrm>
              <a:off x="5906957" y="1992413"/>
              <a:ext cx="395754"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r>
                <a:rPr lang="en-US" altLang="zh-CN" sz="1200" dirty="0">
                  <a:latin typeface="Huawei Sans" panose="020C0503030203020204" pitchFamily="34" charset="0"/>
                  <a:ea typeface="方正兰亭黑简体" panose="02000000000000000000" pitchFamily="2" charset="-122"/>
                </a:rPr>
                <a:t>RR</a:t>
              </a:r>
              <a:endParaRPr lang="zh-CN" altLang="en-US" sz="1200" dirty="0">
                <a:latin typeface="Huawei Sans" panose="020C0503030203020204" pitchFamily="34" charset="0"/>
                <a:ea typeface="方正兰亭黑简体" panose="02000000000000000000" pitchFamily="2" charset="-122"/>
              </a:endParaRPr>
            </a:p>
          </p:txBody>
        </p:sp>
        <p:sp>
          <p:nvSpPr>
            <p:cNvPr id="71" name="椭圆 50">
              <a:extLst>
                <a:ext uri="{FF2B5EF4-FFF2-40B4-BE49-F238E27FC236}">
                  <a16:creationId xmlns:a16="http://schemas.microsoft.com/office/drawing/2014/main" id="{E4B05F35-79A4-4DA4-89C0-CEE0FD2F1468}"/>
                </a:ext>
              </a:extLst>
            </p:cNvPr>
            <p:cNvSpPr/>
            <p:nvPr/>
          </p:nvSpPr>
          <p:spPr bwMode="gray">
            <a:xfrm>
              <a:off x="4999963" y="3725006"/>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椭圆 50">
              <a:extLst>
                <a:ext uri="{FF2B5EF4-FFF2-40B4-BE49-F238E27FC236}">
                  <a16:creationId xmlns:a16="http://schemas.microsoft.com/office/drawing/2014/main" id="{4A863979-FF74-4AE6-B3AA-CE847B3A8A5F}"/>
                </a:ext>
              </a:extLst>
            </p:cNvPr>
            <p:cNvSpPr/>
            <p:nvPr/>
          </p:nvSpPr>
          <p:spPr bwMode="gray">
            <a:xfrm>
              <a:off x="5126148" y="2263180"/>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椭圆 50">
              <a:extLst>
                <a:ext uri="{FF2B5EF4-FFF2-40B4-BE49-F238E27FC236}">
                  <a16:creationId xmlns:a16="http://schemas.microsoft.com/office/drawing/2014/main" id="{C460C4DA-4FD8-4DF2-8823-7898D5CD4C3F}"/>
                </a:ext>
              </a:extLst>
            </p:cNvPr>
            <p:cNvSpPr/>
            <p:nvPr/>
          </p:nvSpPr>
          <p:spPr bwMode="gray">
            <a:xfrm>
              <a:off x="5273402" y="2692196"/>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60">
              <a:extLst>
                <a:ext uri="{FF2B5EF4-FFF2-40B4-BE49-F238E27FC236}">
                  <a16:creationId xmlns:a16="http://schemas.microsoft.com/office/drawing/2014/main" id="{9F90D110-34F2-455C-9AD2-F3E066D69AB5}"/>
                </a:ext>
              </a:extLst>
            </p:cNvPr>
            <p:cNvSpPr txBox="1"/>
            <p:nvPr/>
          </p:nvSpPr>
          <p:spPr bwMode="gray">
            <a:xfrm>
              <a:off x="5282268" y="3546715"/>
              <a:ext cx="586963" cy="276999"/>
            </a:xfrm>
            <a:prstGeom prst="rect">
              <a:avLst/>
            </a:prstGeom>
            <a:solidFill>
              <a:srgbClr val="56C4D2"/>
            </a:solidFill>
            <a:ln>
              <a:solidFill>
                <a:srgbClr val="56C4D2"/>
              </a:solidFill>
            </a:ln>
          </p:spPr>
          <p:txBody>
            <a:bodyPr wrap="square" rtlCol="0">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TNP</a:t>
              </a:r>
            </a:p>
          </p:txBody>
        </p:sp>
        <p:sp>
          <p:nvSpPr>
            <p:cNvPr id="75" name="文本框 60">
              <a:extLst>
                <a:ext uri="{FF2B5EF4-FFF2-40B4-BE49-F238E27FC236}">
                  <a16:creationId xmlns:a16="http://schemas.microsoft.com/office/drawing/2014/main" id="{9B4D70EF-A5E0-41A4-AF12-3029E7E13228}"/>
                </a:ext>
              </a:extLst>
            </p:cNvPr>
            <p:cNvSpPr txBox="1"/>
            <p:nvPr/>
          </p:nvSpPr>
          <p:spPr bwMode="gray">
            <a:xfrm>
              <a:off x="5284886" y="3873975"/>
              <a:ext cx="838093" cy="276999"/>
            </a:xfrm>
            <a:prstGeom prst="rect">
              <a:avLst/>
            </a:prstGeom>
            <a:solidFill>
              <a:srgbClr val="AFD89C"/>
            </a:solidFill>
            <a:ln>
              <a:solidFill>
                <a:srgbClr val="AFD89C"/>
              </a:solidFill>
            </a:ln>
          </p:spPr>
          <p:txBody>
            <a:bodyPr wrap="square" rtlCol="0">
              <a:spAutoFit/>
            </a:bodyPr>
            <a:lstStyle/>
            <a:p>
              <a:pPr algn="ctr"/>
              <a:r>
                <a:rPr lang="en-US" altLang="zh-CN" sz="120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 SA</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6" name="Straight Arrow Connector 75">
              <a:extLst>
                <a:ext uri="{FF2B5EF4-FFF2-40B4-BE49-F238E27FC236}">
                  <a16:creationId xmlns:a16="http://schemas.microsoft.com/office/drawing/2014/main" id="{7B46ADCE-D4AC-4C88-BA04-43DAF5E080A7}"/>
                </a:ext>
              </a:extLst>
            </p:cNvPr>
            <p:cNvCxnSpPr>
              <a:cxnSpLocks/>
              <a:stCxn id="74" idx="0"/>
              <a:endCxn id="55" idx="2"/>
            </p:cNvCxnSpPr>
            <p:nvPr/>
          </p:nvCxnSpPr>
          <p:spPr bwMode="gray">
            <a:xfrm flipV="1">
              <a:off x="5575750" y="2576388"/>
              <a:ext cx="520250" cy="970327"/>
            </a:xfrm>
            <a:prstGeom prst="straightConnector1">
              <a:avLst/>
            </a:prstGeom>
            <a:solidFill>
              <a:schemeClr val="accent1"/>
            </a:solidFill>
            <a:ln w="19050" cap="flat" cmpd="sng" algn="ctr">
              <a:solidFill>
                <a:srgbClr val="56C4D2"/>
              </a:solidFill>
              <a:prstDash val="dash"/>
              <a:round/>
              <a:headEnd type="triangle" w="med" len="med"/>
              <a:tailEnd type="triangle" w="med" len="med"/>
            </a:ln>
            <a:effectLst/>
          </p:spPr>
        </p:cxnSp>
      </p:grpSp>
      <p:sp>
        <p:nvSpPr>
          <p:cNvPr id="82"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83"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086773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圆角矩形 75">
            <a:extLst>
              <a:ext uri="{FF2B5EF4-FFF2-40B4-BE49-F238E27FC236}">
                <a16:creationId xmlns:a16="http://schemas.microsoft.com/office/drawing/2014/main" id="{DD8DF679-58BE-4B96-A041-4F6DC1F593BE}"/>
              </a:ext>
            </a:extLst>
          </p:cNvPr>
          <p:cNvSpPr/>
          <p:nvPr/>
        </p:nvSpPr>
        <p:spPr bwMode="gray">
          <a:xfrm>
            <a:off x="7894764" y="1477769"/>
            <a:ext cx="3699418" cy="4604532"/>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r>
              <a:rPr lang="zh-CN" altLang="en-US" sz="1400" dirty="0">
                <a:latin typeface="Huawei Sans" panose="020C0503030203020204" pitchFamily="34" charset="0"/>
                <a:ea typeface="方正兰亭黑简体" panose="02000000000000000000" pitchFamily="2" charset="-122"/>
              </a:rPr>
              <a:t>站点</a:t>
            </a:r>
            <a:r>
              <a:rPr lang="en-US" altLang="zh-CN" sz="1400" dirty="0">
                <a:latin typeface="Huawei Sans" panose="020C0503030203020204" pitchFamily="34" charset="0"/>
                <a:ea typeface="方正兰亭黑简体" panose="02000000000000000000" pitchFamily="2" charset="-122"/>
              </a:rPr>
              <a:t>A/B</a:t>
            </a:r>
            <a:r>
              <a:rPr lang="zh-CN" altLang="en-US" sz="1400" dirty="0">
                <a:latin typeface="Huawei Sans" panose="020C0503030203020204" pitchFamily="34" charset="0"/>
                <a:ea typeface="方正兰亭黑简体" panose="02000000000000000000" pitchFamily="2" charset="-122"/>
              </a:rPr>
              <a:t>双</a:t>
            </a:r>
            <a:r>
              <a:rPr lang="zh-CN" altLang="en-US" sz="1400">
                <a:latin typeface="Huawei Sans" panose="020C0503030203020204" pitchFamily="34" charset="0"/>
                <a:ea typeface="方正兰亭黑简体" panose="02000000000000000000" pitchFamily="2" charset="-122"/>
              </a:rPr>
              <a:t>链路网络</a:t>
            </a:r>
            <a:r>
              <a:rPr lang="en-US" altLang="zh-CN" sz="1400" dirty="0">
                <a:latin typeface="Huawei Sans" panose="020C0503030203020204" pitchFamily="34" charset="0"/>
                <a:ea typeface="方正兰亭黑简体" panose="02000000000000000000" pitchFamily="2" charset="-122"/>
              </a:rPr>
              <a:t>U</a:t>
            </a:r>
            <a:r>
              <a:rPr lang="en-US" altLang="zh-CN" sz="1400">
                <a:latin typeface="Huawei Sans" panose="020C0503030203020204" pitchFamily="34" charset="0"/>
                <a:ea typeface="方正兰亭黑简体" panose="02000000000000000000" pitchFamily="2" charset="-122"/>
              </a:rPr>
              <a:t>nderlay</a:t>
            </a:r>
            <a:r>
              <a:rPr lang="zh-CN" altLang="en-US" sz="1400" dirty="0">
                <a:latin typeface="Huawei Sans" panose="020C0503030203020204" pitchFamily="34" charset="0"/>
                <a:ea typeface="方正兰亭黑简体" panose="02000000000000000000" pitchFamily="2" charset="-122"/>
              </a:rPr>
              <a:t>互通，但规划不相同</a:t>
            </a:r>
            <a:r>
              <a:rPr lang="en-US" altLang="zh-CN" sz="1400" dirty="0">
                <a:latin typeface="Huawei Sans" panose="020C0503030203020204" pitchFamily="34" charset="0"/>
                <a:ea typeface="方正兰亭黑简体" panose="02000000000000000000" pitchFamily="2" charset="-122"/>
              </a:rPr>
              <a:t>RD</a:t>
            </a:r>
            <a:r>
              <a:rPr lang="zh-CN" altLang="en-US" sz="1400" dirty="0">
                <a:latin typeface="Huawei Sans" panose="020C0503030203020204" pitchFamily="34" charset="0"/>
                <a:ea typeface="方正兰亭黑简体" panose="02000000000000000000" pitchFamily="2" charset="-122"/>
              </a:rPr>
              <a:t>，站点间建立两条隧道。</a:t>
            </a:r>
            <a:endParaRPr lang="en-US" altLang="zh-CN" sz="1400" dirty="0">
              <a:latin typeface="Huawei Sans" panose="020C0503030203020204" pitchFamily="34" charset="0"/>
              <a:ea typeface="方正兰亭黑简体" panose="02000000000000000000" pitchFamily="2" charset="-122"/>
            </a:endParaRPr>
          </a:p>
        </p:txBody>
      </p:sp>
      <p:sp>
        <p:nvSpPr>
          <p:cNvPr id="173" name="圆角矩形 75">
            <a:extLst>
              <a:ext uri="{FF2B5EF4-FFF2-40B4-BE49-F238E27FC236}">
                <a16:creationId xmlns:a16="http://schemas.microsoft.com/office/drawing/2014/main" id="{F12BF7B2-48D5-4F71-9774-3395CABBD9A2}"/>
              </a:ext>
            </a:extLst>
          </p:cNvPr>
          <p:cNvSpPr/>
          <p:nvPr/>
        </p:nvSpPr>
        <p:spPr bwMode="gray">
          <a:xfrm>
            <a:off x="4238756" y="1477769"/>
            <a:ext cx="3570455" cy="4604532"/>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r>
              <a:rPr lang="zh-CN" altLang="en-US" sz="1400" dirty="0">
                <a:latin typeface="Huawei Sans" panose="020C0503030203020204" pitchFamily="34" charset="0"/>
                <a:ea typeface="方正兰亭黑简体" panose="02000000000000000000" pitchFamily="2" charset="-122"/>
              </a:rPr>
              <a:t>站点</a:t>
            </a:r>
            <a:r>
              <a:rPr lang="en-US" altLang="zh-CN" sz="1400" dirty="0">
                <a:latin typeface="Huawei Sans" panose="020C0503030203020204" pitchFamily="34" charset="0"/>
                <a:ea typeface="方正兰亭黑简体" panose="02000000000000000000" pitchFamily="2" charset="-122"/>
              </a:rPr>
              <a:t>A/B</a:t>
            </a:r>
            <a:r>
              <a:rPr lang="zh-CN" altLang="en-US" sz="1400" dirty="0">
                <a:latin typeface="Huawei Sans" panose="020C0503030203020204" pitchFamily="34" charset="0"/>
                <a:ea typeface="方正兰亭黑简体" panose="02000000000000000000" pitchFamily="2" charset="-122"/>
              </a:rPr>
              <a:t>双</a:t>
            </a:r>
            <a:r>
              <a:rPr lang="zh-CN" altLang="en-US" sz="1400">
                <a:latin typeface="Huawei Sans" panose="020C0503030203020204" pitchFamily="34" charset="0"/>
                <a:ea typeface="方正兰亭黑简体" panose="02000000000000000000" pitchFamily="2" charset="-122"/>
              </a:rPr>
              <a:t>链路网络</a:t>
            </a:r>
            <a:r>
              <a:rPr lang="en-US" altLang="zh-CN" sz="1400">
                <a:latin typeface="Huawei Sans" panose="020C0503030203020204" pitchFamily="34" charset="0"/>
                <a:ea typeface="方正兰亭黑简体" panose="02000000000000000000" pitchFamily="2" charset="-122"/>
              </a:rPr>
              <a:t>Underlay</a:t>
            </a:r>
            <a:r>
              <a:rPr lang="zh-CN" altLang="en-US" sz="1400" dirty="0">
                <a:latin typeface="Huawei Sans" panose="020C0503030203020204" pitchFamily="34" charset="0"/>
                <a:ea typeface="方正兰亭黑简体" panose="02000000000000000000" pitchFamily="2" charset="-122"/>
              </a:rPr>
              <a:t>互通，规划在相同</a:t>
            </a:r>
            <a:r>
              <a:rPr lang="en-US" altLang="zh-CN" sz="1400" dirty="0">
                <a:latin typeface="Huawei Sans" panose="020C0503030203020204" pitchFamily="34" charset="0"/>
                <a:ea typeface="方正兰亭黑简体" panose="02000000000000000000" pitchFamily="2" charset="-122"/>
              </a:rPr>
              <a:t>RD</a:t>
            </a:r>
            <a:r>
              <a:rPr lang="zh-CN" altLang="en-US" sz="1400" dirty="0">
                <a:latin typeface="Huawei Sans" panose="020C0503030203020204" pitchFamily="34" charset="0"/>
                <a:ea typeface="方正兰亭黑简体" panose="02000000000000000000" pitchFamily="2" charset="-122"/>
              </a:rPr>
              <a:t>，站点</a:t>
            </a:r>
            <a:r>
              <a:rPr lang="zh-CN" altLang="en-US" sz="1400">
                <a:latin typeface="Huawei Sans" panose="020C0503030203020204" pitchFamily="34" charset="0"/>
                <a:ea typeface="方正兰亭黑简体" panose="02000000000000000000" pitchFamily="2" charset="-122"/>
              </a:rPr>
              <a:t>间建立</a:t>
            </a:r>
            <a:r>
              <a:rPr lang="en-US" altLang="zh-CN" sz="1400">
                <a:latin typeface="Huawei Sans" panose="020C0503030203020204" pitchFamily="34" charset="0"/>
                <a:ea typeface="方正兰亭黑简体" panose="02000000000000000000" pitchFamily="2" charset="-122"/>
              </a:rPr>
              <a:t>Full-mesh</a:t>
            </a:r>
            <a:r>
              <a:rPr lang="zh-CN" altLang="en-US" sz="1400">
                <a:latin typeface="Huawei Sans" panose="020C0503030203020204" pitchFamily="34" charset="0"/>
                <a:ea typeface="方正兰亭黑简体" panose="02000000000000000000" pitchFamily="2" charset="-122"/>
              </a:rPr>
              <a:t>网络</a:t>
            </a:r>
            <a:r>
              <a:rPr lang="zh-CN" altLang="en-US" sz="1400" dirty="0">
                <a:latin typeface="Huawei Sans" panose="020C0503030203020204" pitchFamily="34" charset="0"/>
                <a:ea typeface="方正兰亭黑简体" panose="02000000000000000000" pitchFamily="2" charset="-122"/>
              </a:rPr>
              <a:t>。</a:t>
            </a:r>
          </a:p>
        </p:txBody>
      </p:sp>
      <p:sp>
        <p:nvSpPr>
          <p:cNvPr id="172" name="圆角矩形 75">
            <a:extLst>
              <a:ext uri="{FF2B5EF4-FFF2-40B4-BE49-F238E27FC236}">
                <a16:creationId xmlns:a16="http://schemas.microsoft.com/office/drawing/2014/main" id="{0947AC72-105C-463B-AF43-C330E069AC38}"/>
              </a:ext>
            </a:extLst>
          </p:cNvPr>
          <p:cNvSpPr/>
          <p:nvPr/>
        </p:nvSpPr>
        <p:spPr bwMode="gray">
          <a:xfrm>
            <a:off x="540445" y="1464460"/>
            <a:ext cx="3606705" cy="4604532"/>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endParaRPr lang="en-US" altLang="zh-CN" sz="1400" dirty="0">
              <a:latin typeface="Huawei Sans" panose="020C0503030203020204" pitchFamily="34" charset="0"/>
              <a:ea typeface="方正兰亭黑简体" panose="02000000000000000000" pitchFamily="2" charset="-122"/>
            </a:endParaRPr>
          </a:p>
          <a:p>
            <a:pPr marL="228594" indent="-228594" fontAlgn="ctr">
              <a:lnSpc>
                <a:spcPts val="1800"/>
              </a:lnSpc>
              <a:spcAft>
                <a:spcPts val="300"/>
              </a:spcAft>
              <a:buFont typeface="Arial" panose="020B0604020202020204" pitchFamily="34" charset="0"/>
              <a:buChar char="•"/>
              <a:defRPr/>
            </a:pPr>
            <a:r>
              <a:rPr lang="zh-CN" altLang="en-US" sz="1400" dirty="0">
                <a:latin typeface="Huawei Sans" panose="020C0503030203020204" pitchFamily="34" charset="0"/>
                <a:ea typeface="方正兰亭黑简体" panose="02000000000000000000" pitchFamily="2" charset="-122"/>
              </a:rPr>
              <a:t>站点</a:t>
            </a:r>
            <a:r>
              <a:rPr lang="en-US" altLang="zh-CN" sz="1400" dirty="0">
                <a:latin typeface="Huawei Sans" panose="020C0503030203020204" pitchFamily="34" charset="0"/>
                <a:ea typeface="方正兰亭黑简体" panose="02000000000000000000" pitchFamily="2" charset="-122"/>
              </a:rPr>
              <a:t>A/B</a:t>
            </a:r>
            <a:r>
              <a:rPr lang="zh-CN" altLang="en-US" sz="1400" dirty="0">
                <a:latin typeface="Huawei Sans" panose="020C0503030203020204" pitchFamily="34" charset="0"/>
                <a:ea typeface="方正兰亭黑简体" panose="02000000000000000000" pitchFamily="2" charset="-122"/>
              </a:rPr>
              <a:t>双</a:t>
            </a:r>
            <a:r>
              <a:rPr lang="zh-CN" altLang="en-US" sz="1400">
                <a:latin typeface="Huawei Sans" panose="020C0503030203020204" pitchFamily="34" charset="0"/>
                <a:ea typeface="方正兰亭黑简体" panose="02000000000000000000" pitchFamily="2" charset="-122"/>
              </a:rPr>
              <a:t>链路网络</a:t>
            </a:r>
            <a:r>
              <a:rPr lang="en-US" altLang="zh-CN" sz="1400" dirty="0">
                <a:latin typeface="Huawei Sans" panose="020C0503030203020204" pitchFamily="34" charset="0"/>
                <a:ea typeface="方正兰亭黑简体" panose="02000000000000000000" pitchFamily="2" charset="-122"/>
              </a:rPr>
              <a:t>U</a:t>
            </a:r>
            <a:r>
              <a:rPr lang="en-US" altLang="zh-CN" sz="1400">
                <a:latin typeface="Huawei Sans" panose="020C0503030203020204" pitchFamily="34" charset="0"/>
                <a:ea typeface="方正兰亭黑简体" panose="02000000000000000000" pitchFamily="2" charset="-122"/>
              </a:rPr>
              <a:t>nderlay</a:t>
            </a:r>
            <a:r>
              <a:rPr lang="zh-CN" altLang="en-US" sz="1400" dirty="0">
                <a:latin typeface="Huawei Sans" panose="020C0503030203020204" pitchFamily="34" charset="0"/>
                <a:ea typeface="方正兰亭黑简体" panose="02000000000000000000" pitchFamily="2" charset="-122"/>
              </a:rPr>
              <a:t>隔离，规划不同</a:t>
            </a:r>
            <a:r>
              <a:rPr lang="en-US" altLang="zh-CN" sz="1400" dirty="0">
                <a:latin typeface="Huawei Sans" panose="020C0503030203020204" pitchFamily="34" charset="0"/>
                <a:ea typeface="方正兰亭黑简体" panose="02000000000000000000" pitchFamily="2" charset="-122"/>
              </a:rPr>
              <a:t>RD</a:t>
            </a:r>
            <a:r>
              <a:rPr lang="zh-CN" altLang="en-US" sz="1400" dirty="0">
                <a:latin typeface="Huawei Sans" panose="020C0503030203020204" pitchFamily="34" charset="0"/>
                <a:ea typeface="方正兰亭黑简体" panose="02000000000000000000" pitchFamily="2" charset="-122"/>
              </a:rPr>
              <a:t>，站点间建立两条隧道。</a:t>
            </a:r>
          </a:p>
        </p:txBody>
      </p:sp>
      <p:sp>
        <p:nvSpPr>
          <p:cNvPr id="183" name="Freeform 159">
            <a:extLst>
              <a:ext uri="{FF2B5EF4-FFF2-40B4-BE49-F238E27FC236}">
                <a16:creationId xmlns:a16="http://schemas.microsoft.com/office/drawing/2014/main" id="{0AE9B620-5E5E-4651-A853-512C16189D8B}"/>
              </a:ext>
            </a:extLst>
          </p:cNvPr>
          <p:cNvSpPr/>
          <p:nvPr/>
        </p:nvSpPr>
        <p:spPr bwMode="gray">
          <a:xfrm flipH="1">
            <a:off x="5097535" y="179627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A</a:t>
            </a:r>
          </a:p>
        </p:txBody>
      </p:sp>
      <p:sp>
        <p:nvSpPr>
          <p:cNvPr id="184" name="Freeform 159">
            <a:extLst>
              <a:ext uri="{FF2B5EF4-FFF2-40B4-BE49-F238E27FC236}">
                <a16:creationId xmlns:a16="http://schemas.microsoft.com/office/drawing/2014/main" id="{77737E80-3EE9-4E55-B45E-D1D075D049AE}"/>
              </a:ext>
            </a:extLst>
          </p:cNvPr>
          <p:cNvSpPr/>
          <p:nvPr/>
        </p:nvSpPr>
        <p:spPr bwMode="gray">
          <a:xfrm flipH="1">
            <a:off x="5057365" y="447738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B</a:t>
            </a:r>
          </a:p>
        </p:txBody>
      </p:sp>
      <p:sp>
        <p:nvSpPr>
          <p:cNvPr id="182" name="Freeform 159">
            <a:extLst>
              <a:ext uri="{FF2B5EF4-FFF2-40B4-BE49-F238E27FC236}">
                <a16:creationId xmlns:a16="http://schemas.microsoft.com/office/drawing/2014/main" id="{84F168F8-D380-4280-9587-786A8EE9208E}"/>
              </a:ext>
            </a:extLst>
          </p:cNvPr>
          <p:cNvSpPr/>
          <p:nvPr/>
        </p:nvSpPr>
        <p:spPr bwMode="gray">
          <a:xfrm flipH="1">
            <a:off x="1434441" y="179627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A</a:t>
            </a:r>
          </a:p>
        </p:txBody>
      </p:sp>
      <p:sp>
        <p:nvSpPr>
          <p:cNvPr id="181" name="Freeform 159">
            <a:extLst>
              <a:ext uri="{FF2B5EF4-FFF2-40B4-BE49-F238E27FC236}">
                <a16:creationId xmlns:a16="http://schemas.microsoft.com/office/drawing/2014/main" id="{E7393916-B023-4F0F-B091-BDF0B0B65E2D}"/>
              </a:ext>
            </a:extLst>
          </p:cNvPr>
          <p:cNvSpPr/>
          <p:nvPr/>
        </p:nvSpPr>
        <p:spPr bwMode="gray">
          <a:xfrm flipH="1">
            <a:off x="1394271" y="447738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B</a:t>
            </a:r>
          </a:p>
        </p:txBody>
      </p:sp>
      <p:sp>
        <p:nvSpPr>
          <p:cNvPr id="179" name="Freeform 159">
            <a:extLst>
              <a:ext uri="{FF2B5EF4-FFF2-40B4-BE49-F238E27FC236}">
                <a16:creationId xmlns:a16="http://schemas.microsoft.com/office/drawing/2014/main" id="{C043FA6D-B0AA-4F63-BD23-F244063F183A}"/>
              </a:ext>
            </a:extLst>
          </p:cNvPr>
          <p:cNvSpPr/>
          <p:nvPr/>
        </p:nvSpPr>
        <p:spPr bwMode="gray">
          <a:xfrm flipH="1">
            <a:off x="4283433" y="3037808"/>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a:t>
            </a:r>
          </a:p>
        </p:txBody>
      </p:sp>
      <p:sp>
        <p:nvSpPr>
          <p:cNvPr id="180" name="Freeform 159">
            <a:extLst>
              <a:ext uri="{FF2B5EF4-FFF2-40B4-BE49-F238E27FC236}">
                <a16:creationId xmlns:a16="http://schemas.microsoft.com/office/drawing/2014/main" id="{FFEB61FA-6545-4BAB-9994-36E5FDCC1996}"/>
              </a:ext>
            </a:extLst>
          </p:cNvPr>
          <p:cNvSpPr/>
          <p:nvPr/>
        </p:nvSpPr>
        <p:spPr bwMode="gray">
          <a:xfrm flipH="1">
            <a:off x="5676272" y="3025270"/>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Internet-B</a:t>
            </a:r>
          </a:p>
        </p:txBody>
      </p:sp>
      <p:sp>
        <p:nvSpPr>
          <p:cNvPr id="177" name="Freeform 159">
            <a:extLst>
              <a:ext uri="{FF2B5EF4-FFF2-40B4-BE49-F238E27FC236}">
                <a16:creationId xmlns:a16="http://schemas.microsoft.com/office/drawing/2014/main" id="{2FFC60D3-73C6-41B0-A3A0-9B18DC044EC1}"/>
              </a:ext>
            </a:extLst>
          </p:cNvPr>
          <p:cNvSpPr/>
          <p:nvPr/>
        </p:nvSpPr>
        <p:spPr bwMode="gray">
          <a:xfrm flipH="1">
            <a:off x="597818" y="3032795"/>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a:t>
            </a:r>
          </a:p>
        </p:txBody>
      </p:sp>
      <p:sp>
        <p:nvSpPr>
          <p:cNvPr id="178" name="Freeform 159">
            <a:extLst>
              <a:ext uri="{FF2B5EF4-FFF2-40B4-BE49-F238E27FC236}">
                <a16:creationId xmlns:a16="http://schemas.microsoft.com/office/drawing/2014/main" id="{94B241C0-C3E2-488D-A6FF-1350E399F5CF}"/>
              </a:ext>
            </a:extLst>
          </p:cNvPr>
          <p:cNvSpPr/>
          <p:nvPr/>
        </p:nvSpPr>
        <p:spPr bwMode="gray">
          <a:xfrm flipH="1">
            <a:off x="1990657" y="3038029"/>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a:t>
            </a:r>
          </a:p>
        </p:txBody>
      </p:sp>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zh-CN" altLang="en-US" dirty="0"/>
              <a:t>隧道组网模型</a:t>
            </a:r>
            <a:endParaRPr lang="en-US" dirty="0"/>
          </a:p>
        </p:txBody>
      </p:sp>
      <p:cxnSp>
        <p:nvCxnSpPr>
          <p:cNvPr id="96" name="直接连接符 45">
            <a:extLst>
              <a:ext uri="{FF2B5EF4-FFF2-40B4-BE49-F238E27FC236}">
                <a16:creationId xmlns:a16="http://schemas.microsoft.com/office/drawing/2014/main" id="{E87868A3-1824-45DF-A6EE-65B2B3FFD8B0}"/>
              </a:ext>
            </a:extLst>
          </p:cNvPr>
          <p:cNvCxnSpPr>
            <a:cxnSpLocks/>
            <a:stCxn id="180" idx="21"/>
            <a:endCxn id="179" idx="8"/>
          </p:cNvCxnSpPr>
          <p:nvPr/>
        </p:nvCxnSpPr>
        <p:spPr bwMode="gray">
          <a:xfrm flipH="1">
            <a:off x="5464134" y="3457978"/>
            <a:ext cx="212138" cy="13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7">
            <a:extLst>
              <a:ext uri="{FF2B5EF4-FFF2-40B4-BE49-F238E27FC236}">
                <a16:creationId xmlns:a16="http://schemas.microsoft.com/office/drawing/2014/main" id="{0C236393-F57C-438E-83DE-5055188AD22E}"/>
              </a:ext>
            </a:extLst>
          </p:cNvPr>
          <p:cNvCxnSpPr>
            <a:cxnSpLocks/>
            <a:endCxn id="120" idx="0"/>
          </p:cNvCxnSpPr>
          <p:nvPr/>
        </p:nvCxnSpPr>
        <p:spPr bwMode="gray">
          <a:xfrm>
            <a:off x="1247648" y="3641907"/>
            <a:ext cx="667969" cy="53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20" name="图片 8">
            <a:extLst>
              <a:ext uri="{FF2B5EF4-FFF2-40B4-BE49-F238E27FC236}">
                <a16:creationId xmlns:a16="http://schemas.microsoft.com/office/drawing/2014/main" id="{A3CBE46F-28D5-43A8-B27F-06A7A27412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670162" y="4177080"/>
            <a:ext cx="490909" cy="402545"/>
          </a:xfrm>
          <a:prstGeom prst="rect">
            <a:avLst/>
          </a:prstGeom>
        </p:spPr>
      </p:pic>
      <p:cxnSp>
        <p:nvCxnSpPr>
          <p:cNvPr id="121" name="直接连接符 9">
            <a:extLst>
              <a:ext uri="{FF2B5EF4-FFF2-40B4-BE49-F238E27FC236}">
                <a16:creationId xmlns:a16="http://schemas.microsoft.com/office/drawing/2014/main" id="{65750426-6107-4A61-BC26-C2F3A76A3517}"/>
              </a:ext>
            </a:extLst>
          </p:cNvPr>
          <p:cNvCxnSpPr>
            <a:cxnSpLocks/>
            <a:endCxn id="120" idx="0"/>
          </p:cNvCxnSpPr>
          <p:nvPr/>
        </p:nvCxnSpPr>
        <p:spPr bwMode="gray">
          <a:xfrm flipH="1">
            <a:off x="1915617" y="3652154"/>
            <a:ext cx="679675" cy="5249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26" name="图片 18">
            <a:extLst>
              <a:ext uri="{FF2B5EF4-FFF2-40B4-BE49-F238E27FC236}">
                <a16:creationId xmlns:a16="http://schemas.microsoft.com/office/drawing/2014/main" id="{6502D9C8-AB72-44A2-977F-81749C25FB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670162" y="2155267"/>
            <a:ext cx="490909" cy="402545"/>
          </a:xfrm>
          <a:prstGeom prst="rect">
            <a:avLst/>
          </a:prstGeom>
        </p:spPr>
      </p:pic>
      <p:cxnSp>
        <p:nvCxnSpPr>
          <p:cNvPr id="127" name="直接连接符 19">
            <a:extLst>
              <a:ext uri="{FF2B5EF4-FFF2-40B4-BE49-F238E27FC236}">
                <a16:creationId xmlns:a16="http://schemas.microsoft.com/office/drawing/2014/main" id="{D17EB337-77FF-42D5-90EF-ABE78243C158}"/>
              </a:ext>
            </a:extLst>
          </p:cNvPr>
          <p:cNvCxnSpPr>
            <a:cxnSpLocks/>
            <a:stCxn id="126" idx="2"/>
            <a:endCxn id="177" idx="1"/>
          </p:cNvCxnSpPr>
          <p:nvPr/>
        </p:nvCxnSpPr>
        <p:spPr bwMode="gray">
          <a:xfrm flipH="1">
            <a:off x="1267446" y="2557812"/>
            <a:ext cx="648171" cy="5613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接连接符 22">
            <a:extLst>
              <a:ext uri="{FF2B5EF4-FFF2-40B4-BE49-F238E27FC236}">
                <a16:creationId xmlns:a16="http://schemas.microsoft.com/office/drawing/2014/main" id="{CE317589-00BF-4CF6-8187-272786910EA7}"/>
              </a:ext>
            </a:extLst>
          </p:cNvPr>
          <p:cNvCxnSpPr>
            <a:cxnSpLocks/>
            <a:stCxn id="126" idx="2"/>
            <a:endCxn id="178" idx="1"/>
          </p:cNvCxnSpPr>
          <p:nvPr/>
        </p:nvCxnSpPr>
        <p:spPr bwMode="gray">
          <a:xfrm>
            <a:off x="1915617" y="2557812"/>
            <a:ext cx="744668" cy="5665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29" name="Table 84">
            <a:extLst>
              <a:ext uri="{FF2B5EF4-FFF2-40B4-BE49-F238E27FC236}">
                <a16:creationId xmlns:a16="http://schemas.microsoft.com/office/drawing/2014/main" id="{9A627425-3144-4C84-8EF9-051B65367A73}"/>
              </a:ext>
            </a:extLst>
          </p:cNvPr>
          <p:cNvGraphicFramePr>
            <a:graphicFrameLocks noGrp="1"/>
          </p:cNvGraphicFramePr>
          <p:nvPr>
            <p:extLst>
              <p:ext uri="{D42A27DB-BD31-4B8C-83A1-F6EECF244321}">
                <p14:modId xmlns:p14="http://schemas.microsoft.com/office/powerpoint/2010/main" val="628203411"/>
              </p:ext>
            </p:extLst>
          </p:nvPr>
        </p:nvGraphicFramePr>
        <p:xfrm>
          <a:off x="2528724" y="1841655"/>
          <a:ext cx="1586607" cy="822960"/>
        </p:xfrm>
        <a:graphic>
          <a:graphicData uri="http://schemas.openxmlformats.org/drawingml/2006/table">
            <a:tbl>
              <a:tblPr firstRow="1" bandRow="1"/>
              <a:tblGrid>
                <a:gridCol w="962137">
                  <a:extLst>
                    <a:ext uri="{9D8B030D-6E8A-4147-A177-3AD203B41FA5}">
                      <a16:colId xmlns:a16="http://schemas.microsoft.com/office/drawing/2014/main" val="20000"/>
                    </a:ext>
                  </a:extLst>
                </a:gridCol>
                <a:gridCol w="624470">
                  <a:extLst>
                    <a:ext uri="{9D8B030D-6E8A-4147-A177-3AD203B41FA5}">
                      <a16:colId xmlns:a16="http://schemas.microsoft.com/office/drawing/2014/main" val="20001"/>
                    </a:ext>
                  </a:extLst>
                </a:gridCol>
              </a:tblGrid>
              <a:tr h="227960">
                <a:tc>
                  <a:txBody>
                    <a:bodyPr/>
                    <a:lstStyle/>
                    <a:p>
                      <a:pPr algn="ctr"/>
                      <a:r>
                        <a:rPr lang="en-US" altLang="zh-CN" sz="1200" b="1" dirty="0">
                          <a:latin typeface="+mj-lt"/>
                          <a:ea typeface="方正兰亭黑简体" panose="02000000000000000000" pitchFamily="2" charset="-122"/>
                        </a:rPr>
                        <a:t>TN</a:t>
                      </a:r>
                      <a:endParaRPr lang="zh-CN" altLang="en-US" sz="1200" b="1" dirty="0">
                        <a:latin typeface="+mj-lt"/>
                        <a:ea typeface="方正兰亭黑简体" panose="02000000000000000000" pitchFamily="2" charset="-122"/>
                      </a:endParaRPr>
                    </a:p>
                  </a:txBody>
                  <a:tcPr>
                    <a:lnL w="28575" cap="flat" cmpd="sng" algn="ctr">
                      <a:solidFill>
                        <a:schemeClr val="tx1"/>
                      </a:solidFill>
                      <a:prstDash val="solid"/>
                      <a:round/>
                      <a:headEnd type="none" w="med" len="med"/>
                      <a:tailEnd type="none" w="med" len="med"/>
                    </a:lnL>
                    <a:lnR w="12700" cmpd="sng">
                      <a:solidFill>
                        <a:sysClr val="windowText" lastClr="000000"/>
                      </a:solidFill>
                    </a:lnR>
                    <a:lnT w="28575" cap="flat" cmpd="sng" algn="ctr">
                      <a:solidFill>
                        <a:schemeClr val="tx1"/>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p>
                      <a:pPr algn="ctr"/>
                      <a:r>
                        <a:rPr lang="en-US" altLang="zh-CN" sz="1200" b="1" dirty="0">
                          <a:latin typeface="+mj-lt"/>
                          <a:ea typeface="方正兰亭黑简体" panose="02000000000000000000" pitchFamily="2" charset="-122"/>
                        </a:rPr>
                        <a:t>RD</a:t>
                      </a:r>
                      <a:endParaRPr lang="zh-CN" altLang="en-US" sz="1200" b="1" dirty="0">
                        <a:latin typeface="+mj-lt"/>
                        <a:ea typeface="方正兰亭黑简体" panose="02000000000000000000" pitchFamily="2" charset="-122"/>
                      </a:endParaRPr>
                    </a:p>
                  </a:txBody>
                  <a:tcPr>
                    <a:lnL w="12700" cmpd="sng">
                      <a:solidFill>
                        <a:sysClr val="windowText" lastClr="000000"/>
                      </a:solid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0"/>
                  </a:ext>
                </a:extLst>
              </a:tr>
              <a:tr h="0">
                <a:tc>
                  <a:txBody>
                    <a:bodyPr/>
                    <a:lstStyle/>
                    <a:p>
                      <a:r>
                        <a:rPr lang="en-US" altLang="zh-CN" sz="1200" dirty="0">
                          <a:latin typeface="+mj-lt"/>
                          <a:ea typeface="方正兰亭黑简体" panose="02000000000000000000" pitchFamily="2" charset="-122"/>
                        </a:rPr>
                        <a:t>MPLS-A</a:t>
                      </a:r>
                      <a:endParaRPr lang="zh-CN" altLang="en-US" sz="1200" dirty="0">
                        <a:latin typeface="+mj-lt"/>
                        <a:ea typeface="方正兰亭黑简体" panose="02000000000000000000" pitchFamily="2" charset="-122"/>
                      </a:endParaRPr>
                    </a:p>
                  </a:txBody>
                  <a:tcPr>
                    <a:lnL w="28575" cap="flat" cmpd="sng" algn="ctr">
                      <a:solidFill>
                        <a:schemeClr val="tx1"/>
                      </a:solidFill>
                      <a:prstDash val="solid"/>
                      <a:round/>
                      <a:headEnd type="none" w="med" len="med"/>
                      <a:tailEnd type="none" w="med" len="med"/>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r>
                        <a:rPr lang="en-US" altLang="zh-CN" sz="1200" dirty="0">
                          <a:latin typeface="+mj-lt"/>
                          <a:ea typeface="方正兰亭黑简体" panose="02000000000000000000" pitchFamily="2" charset="-122"/>
                        </a:rPr>
                        <a:t>RD1</a:t>
                      </a:r>
                      <a:endParaRPr lang="zh-CN" altLang="en-US" sz="1200" dirty="0">
                        <a:latin typeface="+mj-lt"/>
                        <a:ea typeface="方正兰亭黑简体" panose="02000000000000000000" pitchFamily="2" charset="-122"/>
                      </a:endParaRPr>
                    </a:p>
                  </a:txBody>
                  <a:tcPr>
                    <a:lnL w="12700" cmpd="sng">
                      <a:solidFill>
                        <a:sysClr val="windowText" lastClr="000000"/>
                      </a:solidFill>
                    </a:lnL>
                    <a:lnR w="28575" cap="flat" cmpd="sng" algn="ctr">
                      <a:solidFill>
                        <a:schemeClr val="tx1"/>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0">
                <a:tc>
                  <a:txBody>
                    <a:bodyPr/>
                    <a:lstStyle/>
                    <a:p>
                      <a:r>
                        <a:rPr lang="en-US" altLang="zh-CN" sz="1200" dirty="0">
                          <a:latin typeface="+mj-lt"/>
                          <a:ea typeface="方正兰亭黑简体" panose="02000000000000000000" pitchFamily="2" charset="-122"/>
                        </a:rPr>
                        <a:t>Internet-A</a:t>
                      </a:r>
                      <a:endParaRPr lang="zh-CN" altLang="en-US" sz="1200" dirty="0">
                        <a:latin typeface="+mj-lt"/>
                        <a:ea typeface="方正兰亭黑简体" panose="02000000000000000000" pitchFamily="2" charset="-122"/>
                      </a:endParaRPr>
                    </a:p>
                  </a:txBody>
                  <a:tcPr>
                    <a:lnL w="28575" cap="flat" cmpd="sng" algn="ctr">
                      <a:solidFill>
                        <a:schemeClr val="tx1"/>
                      </a:solidFill>
                      <a:prstDash val="solid"/>
                      <a:round/>
                      <a:headEnd type="none" w="med" len="med"/>
                      <a:tailEnd type="none" w="med" len="med"/>
                    </a:lnL>
                    <a:lnR w="12700" cmpd="sng">
                      <a:solidFill>
                        <a:sysClr val="windowText" lastClr="000000"/>
                      </a:solidFill>
                    </a:lnR>
                    <a:lnT w="12700" cmpd="sng">
                      <a:solidFill>
                        <a:sysClr val="windowText" lastClr="000000"/>
                      </a:solid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r>
                        <a:rPr lang="en-US" altLang="zh-CN" sz="1200" dirty="0">
                          <a:latin typeface="+mj-lt"/>
                          <a:ea typeface="方正兰亭黑简体" panose="02000000000000000000" pitchFamily="2" charset="-122"/>
                        </a:rPr>
                        <a:t>RD2</a:t>
                      </a:r>
                      <a:endParaRPr lang="zh-CN" altLang="en-US" sz="1200" dirty="0">
                        <a:latin typeface="+mj-lt"/>
                        <a:ea typeface="方正兰亭黑简体" panose="02000000000000000000" pitchFamily="2" charset="-122"/>
                      </a:endParaRPr>
                    </a:p>
                  </a:txBody>
                  <a:tcPr>
                    <a:lnL w="12700" cmpd="sng">
                      <a:solidFill>
                        <a:sysClr val="windowText" lastClr="000000"/>
                      </a:solidFill>
                    </a:lnL>
                    <a:lnR w="28575" cap="flat" cmpd="sng" algn="ctr">
                      <a:solidFill>
                        <a:schemeClr val="tx1"/>
                      </a:solidFill>
                      <a:prstDash val="solid"/>
                      <a:round/>
                      <a:headEnd type="none" w="med" len="med"/>
                      <a:tailEnd type="none" w="med" len="med"/>
                    </a:lnR>
                    <a:lnT w="12700" cmpd="sng">
                      <a:solidFill>
                        <a:sysClr val="windowText" lastClr="000000"/>
                      </a:solid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bl>
          </a:graphicData>
        </a:graphic>
      </p:graphicFrame>
      <p:cxnSp>
        <p:nvCxnSpPr>
          <p:cNvPr id="132" name="直接连接符 30">
            <a:extLst>
              <a:ext uri="{FF2B5EF4-FFF2-40B4-BE49-F238E27FC236}">
                <a16:creationId xmlns:a16="http://schemas.microsoft.com/office/drawing/2014/main" id="{0D5CB7D7-911F-4616-8C5A-94F4F9593778}"/>
              </a:ext>
            </a:extLst>
          </p:cNvPr>
          <p:cNvCxnSpPr>
            <a:cxnSpLocks/>
            <a:endCxn id="133" idx="0"/>
          </p:cNvCxnSpPr>
          <p:nvPr/>
        </p:nvCxnSpPr>
        <p:spPr bwMode="gray">
          <a:xfrm>
            <a:off x="4877775" y="3655216"/>
            <a:ext cx="667969" cy="53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33" name="图片 31">
            <a:extLst>
              <a:ext uri="{FF2B5EF4-FFF2-40B4-BE49-F238E27FC236}">
                <a16:creationId xmlns:a16="http://schemas.microsoft.com/office/drawing/2014/main" id="{DE2A254B-AA39-4E91-B7FA-C286DC6A6D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00289" y="4190389"/>
            <a:ext cx="490909" cy="402545"/>
          </a:xfrm>
          <a:prstGeom prst="rect">
            <a:avLst/>
          </a:prstGeom>
        </p:spPr>
      </p:pic>
      <p:cxnSp>
        <p:nvCxnSpPr>
          <p:cNvPr id="134" name="直接连接符 32">
            <a:extLst>
              <a:ext uri="{FF2B5EF4-FFF2-40B4-BE49-F238E27FC236}">
                <a16:creationId xmlns:a16="http://schemas.microsoft.com/office/drawing/2014/main" id="{0102E2F2-FA3F-48C3-A522-5CB44C68D15A}"/>
              </a:ext>
            </a:extLst>
          </p:cNvPr>
          <p:cNvCxnSpPr>
            <a:cxnSpLocks/>
            <a:endCxn id="133" idx="0"/>
          </p:cNvCxnSpPr>
          <p:nvPr/>
        </p:nvCxnSpPr>
        <p:spPr bwMode="gray">
          <a:xfrm flipH="1">
            <a:off x="5545744" y="3642457"/>
            <a:ext cx="715812" cy="5479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41" name="图片 39">
            <a:extLst>
              <a:ext uri="{FF2B5EF4-FFF2-40B4-BE49-F238E27FC236}">
                <a16:creationId xmlns:a16="http://schemas.microsoft.com/office/drawing/2014/main" id="{BF79C884-0527-4FEE-A12D-D71656B676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00289" y="2168576"/>
            <a:ext cx="490909" cy="402545"/>
          </a:xfrm>
          <a:prstGeom prst="rect">
            <a:avLst/>
          </a:prstGeom>
        </p:spPr>
      </p:pic>
      <p:cxnSp>
        <p:nvCxnSpPr>
          <p:cNvPr id="142" name="直接连接符 40">
            <a:extLst>
              <a:ext uri="{FF2B5EF4-FFF2-40B4-BE49-F238E27FC236}">
                <a16:creationId xmlns:a16="http://schemas.microsoft.com/office/drawing/2014/main" id="{D96E8B36-8846-41F2-96C7-85B6216B260C}"/>
              </a:ext>
            </a:extLst>
          </p:cNvPr>
          <p:cNvCxnSpPr>
            <a:cxnSpLocks/>
            <a:stCxn id="141" idx="2"/>
            <a:endCxn id="179" idx="1"/>
          </p:cNvCxnSpPr>
          <p:nvPr/>
        </p:nvCxnSpPr>
        <p:spPr bwMode="gray">
          <a:xfrm flipH="1">
            <a:off x="4953061" y="2571121"/>
            <a:ext cx="592683" cy="5530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接连接符 41">
            <a:extLst>
              <a:ext uri="{FF2B5EF4-FFF2-40B4-BE49-F238E27FC236}">
                <a16:creationId xmlns:a16="http://schemas.microsoft.com/office/drawing/2014/main" id="{B5F8498F-83FA-43E4-ABCE-CE8655D8CF3A}"/>
              </a:ext>
            </a:extLst>
          </p:cNvPr>
          <p:cNvCxnSpPr>
            <a:cxnSpLocks/>
            <a:stCxn id="141" idx="2"/>
            <a:endCxn id="180" idx="0"/>
          </p:cNvCxnSpPr>
          <p:nvPr/>
        </p:nvCxnSpPr>
        <p:spPr bwMode="gray">
          <a:xfrm>
            <a:off x="5545744" y="2571121"/>
            <a:ext cx="593477" cy="4541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1" name="任意多边形 70">
            <a:extLst>
              <a:ext uri="{FF2B5EF4-FFF2-40B4-BE49-F238E27FC236}">
                <a16:creationId xmlns:a16="http://schemas.microsoft.com/office/drawing/2014/main" id="{A99A39EC-F50B-41FE-A27A-1E632247CC64}"/>
              </a:ext>
            </a:extLst>
          </p:cNvPr>
          <p:cNvSpPr/>
          <p:nvPr/>
        </p:nvSpPr>
        <p:spPr bwMode="gray">
          <a:xfrm>
            <a:off x="1274043" y="2561461"/>
            <a:ext cx="624301" cy="1617785"/>
          </a:xfrm>
          <a:custGeom>
            <a:avLst/>
            <a:gdLst>
              <a:gd name="connsiteX0" fmla="*/ 624301 w 624301"/>
              <a:gd name="connsiteY0" fmla="*/ 0 h 1617785"/>
              <a:gd name="connsiteX1" fmla="*/ 47 w 624301"/>
              <a:gd name="connsiteY1" fmla="*/ 764931 h 1617785"/>
              <a:gd name="connsiteX2" fmla="*/ 597924 w 624301"/>
              <a:gd name="connsiteY2" fmla="*/ 1617785 h 1617785"/>
            </a:gdLst>
            <a:ahLst/>
            <a:cxnLst>
              <a:cxn ang="0">
                <a:pos x="connsiteX0" y="connsiteY0"/>
              </a:cxn>
              <a:cxn ang="0">
                <a:pos x="connsiteX1" y="connsiteY1"/>
              </a:cxn>
              <a:cxn ang="0">
                <a:pos x="connsiteX2" y="connsiteY2"/>
              </a:cxn>
            </a:cxnLst>
            <a:rect l="l" t="t" r="r" b="b"/>
            <a:pathLst>
              <a:path w="624301" h="1617785">
                <a:moveTo>
                  <a:pt x="624301" y="0"/>
                </a:moveTo>
                <a:cubicBezTo>
                  <a:pt x="314372" y="247650"/>
                  <a:pt x="4443" y="495300"/>
                  <a:pt x="47" y="764931"/>
                </a:cubicBezTo>
                <a:cubicBezTo>
                  <a:pt x="-4349" y="1034562"/>
                  <a:pt x="296787" y="1326173"/>
                  <a:pt x="597924" y="1617785"/>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162" name="任意多边形 71">
            <a:extLst>
              <a:ext uri="{FF2B5EF4-FFF2-40B4-BE49-F238E27FC236}">
                <a16:creationId xmlns:a16="http://schemas.microsoft.com/office/drawing/2014/main" id="{C954D27E-D453-448A-88FC-B1508DF7AC40}"/>
              </a:ext>
            </a:extLst>
          </p:cNvPr>
          <p:cNvSpPr/>
          <p:nvPr/>
        </p:nvSpPr>
        <p:spPr bwMode="gray">
          <a:xfrm>
            <a:off x="1915929" y="2561461"/>
            <a:ext cx="756155" cy="1608993"/>
          </a:xfrm>
          <a:custGeom>
            <a:avLst/>
            <a:gdLst>
              <a:gd name="connsiteX0" fmla="*/ 0 w 756155"/>
              <a:gd name="connsiteY0" fmla="*/ 0 h 1608993"/>
              <a:gd name="connsiteX1" fmla="*/ 756138 w 756155"/>
              <a:gd name="connsiteY1" fmla="*/ 800100 h 1608993"/>
              <a:gd name="connsiteX2" fmla="*/ 17584 w 756155"/>
              <a:gd name="connsiteY2" fmla="*/ 1608993 h 1608993"/>
            </a:gdLst>
            <a:ahLst/>
            <a:cxnLst>
              <a:cxn ang="0">
                <a:pos x="connsiteX0" y="connsiteY0"/>
              </a:cxn>
              <a:cxn ang="0">
                <a:pos x="connsiteX1" y="connsiteY1"/>
              </a:cxn>
              <a:cxn ang="0">
                <a:pos x="connsiteX2" y="connsiteY2"/>
              </a:cxn>
            </a:cxnLst>
            <a:rect l="l" t="t" r="r" b="b"/>
            <a:pathLst>
              <a:path w="756155" h="1608993">
                <a:moveTo>
                  <a:pt x="0" y="0"/>
                </a:moveTo>
                <a:cubicBezTo>
                  <a:pt x="376603" y="265967"/>
                  <a:pt x="753207" y="531935"/>
                  <a:pt x="756138" y="800100"/>
                </a:cubicBezTo>
                <a:cubicBezTo>
                  <a:pt x="759069" y="1068265"/>
                  <a:pt x="388326" y="1338629"/>
                  <a:pt x="17584" y="160899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163" name="任意多边形 73">
            <a:extLst>
              <a:ext uri="{FF2B5EF4-FFF2-40B4-BE49-F238E27FC236}">
                <a16:creationId xmlns:a16="http://schemas.microsoft.com/office/drawing/2014/main" id="{9D25A47B-197B-4354-8D88-E02DE2A04E3D}"/>
              </a:ext>
            </a:extLst>
          </p:cNvPr>
          <p:cNvSpPr/>
          <p:nvPr/>
        </p:nvSpPr>
        <p:spPr bwMode="gray">
          <a:xfrm>
            <a:off x="4921616" y="2574770"/>
            <a:ext cx="624301" cy="1617785"/>
          </a:xfrm>
          <a:custGeom>
            <a:avLst/>
            <a:gdLst>
              <a:gd name="connsiteX0" fmla="*/ 624301 w 624301"/>
              <a:gd name="connsiteY0" fmla="*/ 0 h 1617785"/>
              <a:gd name="connsiteX1" fmla="*/ 47 w 624301"/>
              <a:gd name="connsiteY1" fmla="*/ 764931 h 1617785"/>
              <a:gd name="connsiteX2" fmla="*/ 597924 w 624301"/>
              <a:gd name="connsiteY2" fmla="*/ 1617785 h 1617785"/>
            </a:gdLst>
            <a:ahLst/>
            <a:cxnLst>
              <a:cxn ang="0">
                <a:pos x="connsiteX0" y="connsiteY0"/>
              </a:cxn>
              <a:cxn ang="0">
                <a:pos x="connsiteX1" y="connsiteY1"/>
              </a:cxn>
              <a:cxn ang="0">
                <a:pos x="connsiteX2" y="connsiteY2"/>
              </a:cxn>
            </a:cxnLst>
            <a:rect l="l" t="t" r="r" b="b"/>
            <a:pathLst>
              <a:path w="624301" h="1617785">
                <a:moveTo>
                  <a:pt x="624301" y="0"/>
                </a:moveTo>
                <a:cubicBezTo>
                  <a:pt x="314372" y="247650"/>
                  <a:pt x="4443" y="495300"/>
                  <a:pt x="47" y="764931"/>
                </a:cubicBezTo>
                <a:cubicBezTo>
                  <a:pt x="-4349" y="1034562"/>
                  <a:pt x="296787" y="1326173"/>
                  <a:pt x="597924" y="1617785"/>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164" name="任意多边形 74">
            <a:extLst>
              <a:ext uri="{FF2B5EF4-FFF2-40B4-BE49-F238E27FC236}">
                <a16:creationId xmlns:a16="http://schemas.microsoft.com/office/drawing/2014/main" id="{27375B3B-BF18-46AC-93DA-F12FFDA79068}"/>
              </a:ext>
            </a:extLst>
          </p:cNvPr>
          <p:cNvSpPr/>
          <p:nvPr/>
        </p:nvSpPr>
        <p:spPr bwMode="gray">
          <a:xfrm>
            <a:off x="5563502" y="2574770"/>
            <a:ext cx="756155" cy="1608993"/>
          </a:xfrm>
          <a:custGeom>
            <a:avLst/>
            <a:gdLst>
              <a:gd name="connsiteX0" fmla="*/ 0 w 756155"/>
              <a:gd name="connsiteY0" fmla="*/ 0 h 1608993"/>
              <a:gd name="connsiteX1" fmla="*/ 756138 w 756155"/>
              <a:gd name="connsiteY1" fmla="*/ 800100 h 1608993"/>
              <a:gd name="connsiteX2" fmla="*/ 17584 w 756155"/>
              <a:gd name="connsiteY2" fmla="*/ 1608993 h 1608993"/>
            </a:gdLst>
            <a:ahLst/>
            <a:cxnLst>
              <a:cxn ang="0">
                <a:pos x="connsiteX0" y="connsiteY0"/>
              </a:cxn>
              <a:cxn ang="0">
                <a:pos x="connsiteX1" y="connsiteY1"/>
              </a:cxn>
              <a:cxn ang="0">
                <a:pos x="connsiteX2" y="connsiteY2"/>
              </a:cxn>
            </a:cxnLst>
            <a:rect l="l" t="t" r="r" b="b"/>
            <a:pathLst>
              <a:path w="756155" h="1608993">
                <a:moveTo>
                  <a:pt x="0" y="0"/>
                </a:moveTo>
                <a:cubicBezTo>
                  <a:pt x="376603" y="265967"/>
                  <a:pt x="753207" y="531935"/>
                  <a:pt x="756138" y="800100"/>
                </a:cubicBezTo>
                <a:cubicBezTo>
                  <a:pt x="759069" y="1068265"/>
                  <a:pt x="388326" y="1338629"/>
                  <a:pt x="17584" y="160899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167" name="任意多边形 77">
            <a:extLst>
              <a:ext uri="{FF2B5EF4-FFF2-40B4-BE49-F238E27FC236}">
                <a16:creationId xmlns:a16="http://schemas.microsoft.com/office/drawing/2014/main" id="{F070E875-5FB1-423E-80D8-3D7F87369A5D}"/>
              </a:ext>
            </a:extLst>
          </p:cNvPr>
          <p:cNvSpPr/>
          <p:nvPr/>
        </p:nvSpPr>
        <p:spPr bwMode="gray">
          <a:xfrm>
            <a:off x="5149190" y="2601147"/>
            <a:ext cx="888639" cy="1573823"/>
          </a:xfrm>
          <a:custGeom>
            <a:avLst/>
            <a:gdLst>
              <a:gd name="connsiteX0" fmla="*/ 379281 w 888639"/>
              <a:gd name="connsiteY0" fmla="*/ 1573823 h 1573823"/>
              <a:gd name="connsiteX1" fmla="*/ 880443 w 888639"/>
              <a:gd name="connsiteY1" fmla="*/ 984739 h 1573823"/>
              <a:gd name="connsiteX2" fmla="*/ 18797 w 888639"/>
              <a:gd name="connsiteY2" fmla="*/ 720970 h 1573823"/>
              <a:gd name="connsiteX3" fmla="*/ 370489 w 888639"/>
              <a:gd name="connsiteY3" fmla="*/ 0 h 1573823"/>
            </a:gdLst>
            <a:ahLst/>
            <a:cxnLst>
              <a:cxn ang="0">
                <a:pos x="connsiteX0" y="connsiteY0"/>
              </a:cxn>
              <a:cxn ang="0">
                <a:pos x="connsiteX1" y="connsiteY1"/>
              </a:cxn>
              <a:cxn ang="0">
                <a:pos x="connsiteX2" y="connsiteY2"/>
              </a:cxn>
              <a:cxn ang="0">
                <a:pos x="connsiteX3" y="connsiteY3"/>
              </a:cxn>
            </a:cxnLst>
            <a:rect l="l" t="t" r="r" b="b"/>
            <a:pathLst>
              <a:path w="888639" h="1573823">
                <a:moveTo>
                  <a:pt x="379281" y="1573823"/>
                </a:moveTo>
                <a:cubicBezTo>
                  <a:pt x="659902" y="1350352"/>
                  <a:pt x="940524" y="1126881"/>
                  <a:pt x="880443" y="984739"/>
                </a:cubicBezTo>
                <a:cubicBezTo>
                  <a:pt x="820362" y="842597"/>
                  <a:pt x="103789" y="885093"/>
                  <a:pt x="18797" y="720970"/>
                </a:cubicBezTo>
                <a:cubicBezTo>
                  <a:pt x="-66195" y="556847"/>
                  <a:pt x="152147" y="278423"/>
                  <a:pt x="370489" y="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168" name="任意多边形 78">
            <a:extLst>
              <a:ext uri="{FF2B5EF4-FFF2-40B4-BE49-F238E27FC236}">
                <a16:creationId xmlns:a16="http://schemas.microsoft.com/office/drawing/2014/main" id="{A08B5D27-615D-4822-9324-349655BD9747}"/>
              </a:ext>
            </a:extLst>
          </p:cNvPr>
          <p:cNvSpPr/>
          <p:nvPr/>
        </p:nvSpPr>
        <p:spPr bwMode="gray">
          <a:xfrm>
            <a:off x="5199126" y="2601147"/>
            <a:ext cx="752829" cy="1573823"/>
          </a:xfrm>
          <a:custGeom>
            <a:avLst/>
            <a:gdLst>
              <a:gd name="connsiteX0" fmla="*/ 346930 w 752829"/>
              <a:gd name="connsiteY0" fmla="*/ 1573823 h 1573823"/>
              <a:gd name="connsiteX1" fmla="*/ 12822 w 752829"/>
              <a:gd name="connsiteY1" fmla="*/ 1037493 h 1573823"/>
              <a:gd name="connsiteX2" fmla="*/ 742584 w 752829"/>
              <a:gd name="connsiteY2" fmla="*/ 677008 h 1573823"/>
              <a:gd name="connsiteX3" fmla="*/ 373307 w 752829"/>
              <a:gd name="connsiteY3" fmla="*/ 0 h 1573823"/>
            </a:gdLst>
            <a:ahLst/>
            <a:cxnLst>
              <a:cxn ang="0">
                <a:pos x="connsiteX0" y="connsiteY0"/>
              </a:cxn>
              <a:cxn ang="0">
                <a:pos x="connsiteX1" y="connsiteY1"/>
              </a:cxn>
              <a:cxn ang="0">
                <a:pos x="connsiteX2" y="connsiteY2"/>
              </a:cxn>
              <a:cxn ang="0">
                <a:pos x="connsiteX3" y="connsiteY3"/>
              </a:cxn>
            </a:cxnLst>
            <a:rect l="l" t="t" r="r" b="b"/>
            <a:pathLst>
              <a:path w="752829" h="1573823">
                <a:moveTo>
                  <a:pt x="346930" y="1573823"/>
                </a:moveTo>
                <a:cubicBezTo>
                  <a:pt x="146905" y="1380392"/>
                  <a:pt x="-53120" y="1186962"/>
                  <a:pt x="12822" y="1037493"/>
                </a:cubicBezTo>
                <a:cubicBezTo>
                  <a:pt x="78764" y="888024"/>
                  <a:pt x="682503" y="849923"/>
                  <a:pt x="742584" y="677008"/>
                </a:cubicBezTo>
                <a:cubicBezTo>
                  <a:pt x="802665" y="504093"/>
                  <a:pt x="587986" y="252046"/>
                  <a:pt x="373307" y="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169" name="圆角矩形 75">
            <a:extLst>
              <a:ext uri="{FF2B5EF4-FFF2-40B4-BE49-F238E27FC236}">
                <a16:creationId xmlns:a16="http://schemas.microsoft.com/office/drawing/2014/main" id="{CB5D4F00-E2CA-45B0-8235-051DDA3B1B57}"/>
              </a:ext>
            </a:extLst>
          </p:cNvPr>
          <p:cNvSpPr/>
          <p:nvPr/>
        </p:nvSpPr>
        <p:spPr bwMode="gray">
          <a:xfrm>
            <a:off x="540445" y="1052513"/>
            <a:ext cx="3606705" cy="373373"/>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不同</a:t>
            </a:r>
            <a:r>
              <a:rPr lang="en-US" altLang="zh-CN" sz="1600" dirty="0">
                <a:solidFill>
                  <a:srgbClr val="30B5C5"/>
                </a:solidFill>
                <a:latin typeface="Huawei Sans" panose="020C0503030203020204" pitchFamily="34" charset="0"/>
                <a:ea typeface="方正兰亭黑简体" panose="02000000000000000000" pitchFamily="2" charset="-122"/>
              </a:rPr>
              <a:t>RD</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
        <p:nvSpPr>
          <p:cNvPr id="170" name="圆角矩形 75">
            <a:extLst>
              <a:ext uri="{FF2B5EF4-FFF2-40B4-BE49-F238E27FC236}">
                <a16:creationId xmlns:a16="http://schemas.microsoft.com/office/drawing/2014/main" id="{FA434902-126F-4A74-8B00-36A6EE9921C6}"/>
              </a:ext>
            </a:extLst>
          </p:cNvPr>
          <p:cNvSpPr/>
          <p:nvPr/>
        </p:nvSpPr>
        <p:spPr bwMode="gray">
          <a:xfrm>
            <a:off x="4238756" y="1065822"/>
            <a:ext cx="3570455" cy="373373"/>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同</a:t>
            </a:r>
            <a:r>
              <a:rPr lang="en-US" altLang="zh-CN" sz="1600" dirty="0">
                <a:solidFill>
                  <a:srgbClr val="30B5C5"/>
                </a:solidFill>
                <a:latin typeface="Huawei Sans" panose="020C0503030203020204" pitchFamily="34" charset="0"/>
                <a:ea typeface="方正兰亭黑简体" panose="02000000000000000000" pitchFamily="2" charset="-122"/>
              </a:rPr>
              <a:t>RD</a:t>
            </a:r>
            <a:r>
              <a:rPr lang="zh-CN" altLang="en-US" sz="1600">
                <a:solidFill>
                  <a:srgbClr val="30B5C5"/>
                </a:solidFill>
                <a:latin typeface="Huawei Sans" panose="020C0503030203020204" pitchFamily="34" charset="0"/>
                <a:ea typeface="方正兰亭黑简体" panose="02000000000000000000" pitchFamily="2" charset="-122"/>
              </a:rPr>
              <a:t>不同</a:t>
            </a:r>
            <a:r>
              <a:rPr lang="en-US" altLang="zh-CN" sz="1600" dirty="0">
                <a:solidFill>
                  <a:srgbClr val="30B5C5"/>
                </a:solidFill>
                <a:latin typeface="Huawei Sans" panose="020C0503030203020204" pitchFamily="34" charset="0"/>
                <a:ea typeface="方正兰亭黑简体" panose="02000000000000000000" pitchFamily="2" charset="-122"/>
              </a:rPr>
              <a:t>TN</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
        <p:nvSpPr>
          <p:cNvPr id="171" name="圆角矩形 75">
            <a:extLst>
              <a:ext uri="{FF2B5EF4-FFF2-40B4-BE49-F238E27FC236}">
                <a16:creationId xmlns:a16="http://schemas.microsoft.com/office/drawing/2014/main" id="{F3661F4B-D549-4F7D-96CE-B838FC837EA8}"/>
              </a:ext>
            </a:extLst>
          </p:cNvPr>
          <p:cNvSpPr/>
          <p:nvPr/>
        </p:nvSpPr>
        <p:spPr bwMode="gray">
          <a:xfrm>
            <a:off x="7894765" y="1065822"/>
            <a:ext cx="3699418" cy="373373"/>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网络同</a:t>
            </a:r>
            <a:r>
              <a:rPr lang="en-US" altLang="zh-CN" sz="1600" dirty="0">
                <a:solidFill>
                  <a:srgbClr val="30B5C5"/>
                </a:solidFill>
                <a:latin typeface="Huawei Sans" panose="020C0503030203020204" pitchFamily="34" charset="0"/>
                <a:ea typeface="方正兰亭黑简体" panose="02000000000000000000" pitchFamily="2" charset="-122"/>
              </a:rPr>
              <a:t>RD</a:t>
            </a:r>
            <a:r>
              <a:rPr lang="zh-CN" altLang="en-US" sz="1600" dirty="0">
                <a:solidFill>
                  <a:srgbClr val="30B5C5"/>
                </a:solidFill>
                <a:latin typeface="Huawei Sans" panose="020C0503030203020204" pitchFamily="34" charset="0"/>
                <a:ea typeface="方正兰亭黑简体" panose="02000000000000000000" pitchFamily="2" charset="-122"/>
              </a:rPr>
              <a:t>，逻辑划分不同</a:t>
            </a:r>
            <a:r>
              <a:rPr lang="en-US" altLang="zh-CN" sz="1600" dirty="0">
                <a:solidFill>
                  <a:srgbClr val="30B5C5"/>
                </a:solidFill>
                <a:latin typeface="Huawei Sans" panose="020C0503030203020204" pitchFamily="34" charset="0"/>
                <a:ea typeface="方正兰亭黑简体" panose="02000000000000000000" pitchFamily="2" charset="-122"/>
              </a:rPr>
              <a:t>RD</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graphicFrame>
        <p:nvGraphicFramePr>
          <p:cNvPr id="175" name="Table 84">
            <a:extLst>
              <a:ext uri="{FF2B5EF4-FFF2-40B4-BE49-F238E27FC236}">
                <a16:creationId xmlns:a16="http://schemas.microsoft.com/office/drawing/2014/main" id="{0D0371D1-1D10-4301-AA3E-E9086815DB2A}"/>
              </a:ext>
            </a:extLst>
          </p:cNvPr>
          <p:cNvGraphicFramePr>
            <a:graphicFrameLocks noGrp="1"/>
          </p:cNvGraphicFramePr>
          <p:nvPr>
            <p:extLst>
              <p:ext uri="{D42A27DB-BD31-4B8C-83A1-F6EECF244321}">
                <p14:modId xmlns:p14="http://schemas.microsoft.com/office/powerpoint/2010/main" val="2429218734"/>
              </p:ext>
            </p:extLst>
          </p:nvPr>
        </p:nvGraphicFramePr>
        <p:xfrm>
          <a:off x="6180171" y="1844287"/>
          <a:ext cx="1602706" cy="822960"/>
        </p:xfrm>
        <a:graphic>
          <a:graphicData uri="http://schemas.openxmlformats.org/drawingml/2006/table">
            <a:tbl>
              <a:tblPr firstRow="1" bandRow="1"/>
              <a:tblGrid>
                <a:gridCol w="971900">
                  <a:extLst>
                    <a:ext uri="{9D8B030D-6E8A-4147-A177-3AD203B41FA5}">
                      <a16:colId xmlns:a16="http://schemas.microsoft.com/office/drawing/2014/main" val="20000"/>
                    </a:ext>
                  </a:extLst>
                </a:gridCol>
                <a:gridCol w="630806">
                  <a:extLst>
                    <a:ext uri="{9D8B030D-6E8A-4147-A177-3AD203B41FA5}">
                      <a16:colId xmlns:a16="http://schemas.microsoft.com/office/drawing/2014/main" val="20001"/>
                    </a:ext>
                  </a:extLst>
                </a:gridCol>
              </a:tblGrid>
              <a:tr h="227960">
                <a:tc>
                  <a:txBody>
                    <a:bodyPr/>
                    <a:lstStyle/>
                    <a:p>
                      <a:pPr algn="ctr"/>
                      <a:r>
                        <a:rPr lang="en-US" altLang="zh-CN" sz="1200" b="1" dirty="0">
                          <a:latin typeface="+mj-lt"/>
                          <a:ea typeface="方正兰亭黑简体" panose="02000000000000000000" pitchFamily="2" charset="-122"/>
                        </a:rPr>
                        <a:t>TN</a:t>
                      </a:r>
                      <a:endParaRPr lang="zh-CN" altLang="en-US" sz="1200" b="1" dirty="0">
                        <a:latin typeface="+mj-lt"/>
                        <a:ea typeface="方正兰亭黑简体" panose="02000000000000000000" pitchFamily="2" charset="-122"/>
                      </a:endParaRPr>
                    </a:p>
                  </a:txBody>
                  <a:tcPr>
                    <a:lnL w="28575" cap="flat" cmpd="sng" algn="ctr">
                      <a:solidFill>
                        <a:schemeClr val="tx1"/>
                      </a:solidFill>
                      <a:prstDash val="solid"/>
                      <a:round/>
                      <a:headEnd type="none" w="med" len="med"/>
                      <a:tailEnd type="none" w="med" len="med"/>
                    </a:lnL>
                    <a:lnR w="12700" cmpd="sng">
                      <a:solidFill>
                        <a:sysClr val="windowText" lastClr="000000"/>
                      </a:solidFill>
                    </a:lnR>
                    <a:lnT w="28575" cap="flat" cmpd="sng" algn="ctr">
                      <a:solidFill>
                        <a:schemeClr val="tx1"/>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p>
                      <a:pPr algn="ctr"/>
                      <a:r>
                        <a:rPr lang="en-US" altLang="zh-CN" sz="1200" b="1" dirty="0">
                          <a:latin typeface="+mj-lt"/>
                          <a:ea typeface="方正兰亭黑简体" panose="02000000000000000000" pitchFamily="2" charset="-122"/>
                        </a:rPr>
                        <a:t>RD</a:t>
                      </a:r>
                      <a:endParaRPr lang="zh-CN" altLang="en-US" sz="1200" b="1" dirty="0">
                        <a:latin typeface="+mj-lt"/>
                        <a:ea typeface="方正兰亭黑简体" panose="02000000000000000000" pitchFamily="2" charset="-122"/>
                      </a:endParaRPr>
                    </a:p>
                  </a:txBody>
                  <a:tcPr>
                    <a:lnL w="12700" cmpd="sng">
                      <a:solidFill>
                        <a:sysClr val="windowText" lastClr="000000"/>
                      </a:solid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0"/>
                  </a:ext>
                </a:extLst>
              </a:tr>
              <a:tr h="0">
                <a:tc>
                  <a:txBody>
                    <a:bodyPr/>
                    <a:lstStyle/>
                    <a:p>
                      <a:r>
                        <a:rPr lang="en-US" altLang="zh-CN" sz="1200" dirty="0">
                          <a:latin typeface="+mj-lt"/>
                          <a:ea typeface="方正兰亭黑简体" panose="02000000000000000000" pitchFamily="2" charset="-122"/>
                        </a:rPr>
                        <a:t>Internet-A</a:t>
                      </a:r>
                      <a:endParaRPr lang="zh-CN" altLang="en-US" sz="1200" dirty="0">
                        <a:latin typeface="+mj-lt"/>
                        <a:ea typeface="方正兰亭黑简体" panose="02000000000000000000" pitchFamily="2" charset="-122"/>
                      </a:endParaRPr>
                    </a:p>
                  </a:txBody>
                  <a:tcPr>
                    <a:lnL w="28575" cap="flat" cmpd="sng" algn="ctr">
                      <a:solidFill>
                        <a:schemeClr val="tx1"/>
                      </a:solidFill>
                      <a:prstDash val="solid"/>
                      <a:round/>
                      <a:headEnd type="none" w="med" len="med"/>
                      <a:tailEnd type="none" w="med" len="med"/>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r>
                        <a:rPr lang="en-US" altLang="zh-CN" sz="1200" dirty="0">
                          <a:latin typeface="+mj-lt"/>
                          <a:ea typeface="方正兰亭黑简体" panose="02000000000000000000" pitchFamily="2" charset="-122"/>
                        </a:rPr>
                        <a:t>RD1</a:t>
                      </a:r>
                      <a:endParaRPr lang="zh-CN" altLang="en-US" sz="1200" dirty="0">
                        <a:latin typeface="+mj-lt"/>
                        <a:ea typeface="方正兰亭黑简体" panose="02000000000000000000" pitchFamily="2" charset="-122"/>
                      </a:endParaRPr>
                    </a:p>
                  </a:txBody>
                  <a:tcPr>
                    <a:lnL w="12700" cmpd="sng">
                      <a:solidFill>
                        <a:sysClr val="windowText" lastClr="000000"/>
                      </a:solidFill>
                    </a:lnL>
                    <a:lnR w="28575" cap="flat" cmpd="sng" algn="ctr">
                      <a:solidFill>
                        <a:schemeClr val="tx1"/>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0">
                <a:tc>
                  <a:txBody>
                    <a:bodyPr/>
                    <a:lstStyle/>
                    <a:p>
                      <a:r>
                        <a:rPr lang="en-US" altLang="zh-CN" sz="1200" dirty="0">
                          <a:latin typeface="+mj-lt"/>
                          <a:ea typeface="方正兰亭黑简体" panose="02000000000000000000" pitchFamily="2" charset="-122"/>
                        </a:rPr>
                        <a:t>Internet-B</a:t>
                      </a:r>
                      <a:endParaRPr lang="zh-CN" altLang="en-US" sz="1200" dirty="0">
                        <a:latin typeface="+mj-lt"/>
                        <a:ea typeface="方正兰亭黑简体" panose="02000000000000000000" pitchFamily="2" charset="-122"/>
                      </a:endParaRPr>
                    </a:p>
                  </a:txBody>
                  <a:tcPr>
                    <a:lnL w="28575" cap="flat" cmpd="sng" algn="ctr">
                      <a:solidFill>
                        <a:schemeClr val="tx1"/>
                      </a:solidFill>
                      <a:prstDash val="solid"/>
                      <a:round/>
                      <a:headEnd type="none" w="med" len="med"/>
                      <a:tailEnd type="none" w="med" len="med"/>
                    </a:lnL>
                    <a:lnR w="12700" cmpd="sng">
                      <a:solidFill>
                        <a:sysClr val="windowText" lastClr="000000"/>
                      </a:solidFill>
                    </a:lnR>
                    <a:lnT w="12700" cmpd="sng">
                      <a:solidFill>
                        <a:sysClr val="windowText" lastClr="000000"/>
                      </a:solid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r>
                        <a:rPr lang="en-US" altLang="zh-CN" sz="1200" dirty="0">
                          <a:latin typeface="+mj-lt"/>
                          <a:ea typeface="方正兰亭黑简体" panose="02000000000000000000" pitchFamily="2" charset="-122"/>
                        </a:rPr>
                        <a:t>RD1</a:t>
                      </a:r>
                      <a:endParaRPr lang="zh-CN" altLang="en-US" sz="1200" dirty="0">
                        <a:latin typeface="+mj-lt"/>
                        <a:ea typeface="方正兰亭黑简体" panose="02000000000000000000" pitchFamily="2" charset="-122"/>
                      </a:endParaRPr>
                    </a:p>
                  </a:txBody>
                  <a:tcPr>
                    <a:lnL w="12700" cmpd="sng">
                      <a:solidFill>
                        <a:sysClr val="windowText" lastClr="000000"/>
                      </a:solidFill>
                    </a:lnL>
                    <a:lnR w="28575" cap="flat" cmpd="sng" algn="ctr">
                      <a:solidFill>
                        <a:schemeClr val="tx1"/>
                      </a:solidFill>
                      <a:prstDash val="solid"/>
                      <a:round/>
                      <a:headEnd type="none" w="med" len="med"/>
                      <a:tailEnd type="none" w="med" len="med"/>
                    </a:lnR>
                    <a:lnT w="12700" cmpd="sng">
                      <a:solidFill>
                        <a:sysClr val="windowText" lastClr="000000"/>
                      </a:solid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bl>
          </a:graphicData>
        </a:graphic>
      </p:graphicFrame>
      <p:graphicFrame>
        <p:nvGraphicFramePr>
          <p:cNvPr id="176" name="Table 84">
            <a:extLst>
              <a:ext uri="{FF2B5EF4-FFF2-40B4-BE49-F238E27FC236}">
                <a16:creationId xmlns:a16="http://schemas.microsoft.com/office/drawing/2014/main" id="{ECBB1AB4-A2F2-48E5-87E1-664B806B05B2}"/>
              </a:ext>
            </a:extLst>
          </p:cNvPr>
          <p:cNvGraphicFramePr>
            <a:graphicFrameLocks noGrp="1"/>
          </p:cNvGraphicFramePr>
          <p:nvPr>
            <p:extLst>
              <p:ext uri="{D42A27DB-BD31-4B8C-83A1-F6EECF244321}">
                <p14:modId xmlns:p14="http://schemas.microsoft.com/office/powerpoint/2010/main" val="1047555044"/>
              </p:ext>
            </p:extLst>
          </p:nvPr>
        </p:nvGraphicFramePr>
        <p:xfrm>
          <a:off x="9831661" y="1835514"/>
          <a:ext cx="1640934" cy="822960"/>
        </p:xfrm>
        <a:graphic>
          <a:graphicData uri="http://schemas.openxmlformats.org/drawingml/2006/table">
            <a:tbl>
              <a:tblPr firstRow="1" bandRow="1"/>
              <a:tblGrid>
                <a:gridCol w="995081">
                  <a:extLst>
                    <a:ext uri="{9D8B030D-6E8A-4147-A177-3AD203B41FA5}">
                      <a16:colId xmlns:a16="http://schemas.microsoft.com/office/drawing/2014/main" val="20000"/>
                    </a:ext>
                  </a:extLst>
                </a:gridCol>
                <a:gridCol w="645853">
                  <a:extLst>
                    <a:ext uri="{9D8B030D-6E8A-4147-A177-3AD203B41FA5}">
                      <a16:colId xmlns:a16="http://schemas.microsoft.com/office/drawing/2014/main" val="20001"/>
                    </a:ext>
                  </a:extLst>
                </a:gridCol>
              </a:tblGrid>
              <a:tr h="227960">
                <a:tc>
                  <a:txBody>
                    <a:bodyPr/>
                    <a:lstStyle/>
                    <a:p>
                      <a:pPr algn="ctr"/>
                      <a:r>
                        <a:rPr lang="en-US" altLang="zh-CN" sz="1200" b="1" dirty="0">
                          <a:latin typeface="+mj-lt"/>
                          <a:ea typeface="方正兰亭黑简体" panose="02000000000000000000" pitchFamily="2" charset="-122"/>
                        </a:rPr>
                        <a:t>TN</a:t>
                      </a:r>
                      <a:endParaRPr lang="zh-CN" altLang="en-US" sz="1200" b="1" dirty="0">
                        <a:latin typeface="+mj-lt"/>
                        <a:ea typeface="方正兰亭黑简体" panose="02000000000000000000" pitchFamily="2" charset="-122"/>
                      </a:endParaRPr>
                    </a:p>
                  </a:txBody>
                  <a:tcPr>
                    <a:lnL w="28575" cap="flat" cmpd="sng" algn="ctr">
                      <a:solidFill>
                        <a:schemeClr val="tx1"/>
                      </a:solidFill>
                      <a:prstDash val="solid"/>
                      <a:round/>
                      <a:headEnd type="none" w="med" len="med"/>
                      <a:tailEnd type="none" w="med" len="med"/>
                    </a:lnL>
                    <a:lnR w="12700" cmpd="sng">
                      <a:solidFill>
                        <a:sysClr val="windowText" lastClr="000000"/>
                      </a:solidFill>
                    </a:lnR>
                    <a:lnT w="28575" cap="flat" cmpd="sng" algn="ctr">
                      <a:solidFill>
                        <a:schemeClr val="tx1"/>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p>
                      <a:pPr algn="ctr"/>
                      <a:r>
                        <a:rPr lang="en-US" altLang="zh-CN" sz="1200" b="1" dirty="0">
                          <a:latin typeface="+mj-lt"/>
                          <a:ea typeface="方正兰亭黑简体" panose="02000000000000000000" pitchFamily="2" charset="-122"/>
                        </a:rPr>
                        <a:t>RD</a:t>
                      </a:r>
                      <a:endParaRPr lang="zh-CN" altLang="en-US" sz="1200" b="1" dirty="0">
                        <a:latin typeface="+mj-lt"/>
                        <a:ea typeface="方正兰亭黑简体" panose="02000000000000000000" pitchFamily="2" charset="-122"/>
                      </a:endParaRPr>
                    </a:p>
                  </a:txBody>
                  <a:tcPr>
                    <a:lnL w="12700" cmpd="sng">
                      <a:solidFill>
                        <a:sysClr val="windowText" lastClr="000000"/>
                      </a:solid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0"/>
                  </a:ext>
                </a:extLst>
              </a:tr>
              <a:tr h="0">
                <a:tc>
                  <a:txBody>
                    <a:bodyPr/>
                    <a:lstStyle/>
                    <a:p>
                      <a:r>
                        <a:rPr lang="en-US" altLang="zh-CN" sz="1200" dirty="0">
                          <a:latin typeface="+mj-lt"/>
                          <a:ea typeface="方正兰亭黑简体" panose="02000000000000000000" pitchFamily="2" charset="-122"/>
                        </a:rPr>
                        <a:t>Internet-A</a:t>
                      </a:r>
                      <a:endParaRPr lang="zh-CN" altLang="en-US" sz="1200" dirty="0">
                        <a:latin typeface="+mj-lt"/>
                        <a:ea typeface="方正兰亭黑简体" panose="02000000000000000000" pitchFamily="2" charset="-122"/>
                      </a:endParaRPr>
                    </a:p>
                  </a:txBody>
                  <a:tcPr>
                    <a:lnL w="28575" cap="flat" cmpd="sng" algn="ctr">
                      <a:solidFill>
                        <a:schemeClr val="tx1"/>
                      </a:solidFill>
                      <a:prstDash val="solid"/>
                      <a:round/>
                      <a:headEnd type="none" w="med" len="med"/>
                      <a:tailEnd type="none" w="med" len="med"/>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r>
                        <a:rPr lang="en-US" altLang="zh-CN" sz="1200" dirty="0">
                          <a:latin typeface="+mj-lt"/>
                          <a:ea typeface="方正兰亭黑简体" panose="02000000000000000000" pitchFamily="2" charset="-122"/>
                        </a:rPr>
                        <a:t>RD1</a:t>
                      </a:r>
                      <a:endParaRPr lang="zh-CN" altLang="en-US" sz="1200" dirty="0">
                        <a:latin typeface="+mj-lt"/>
                        <a:ea typeface="方正兰亭黑简体" panose="02000000000000000000" pitchFamily="2" charset="-122"/>
                      </a:endParaRPr>
                    </a:p>
                  </a:txBody>
                  <a:tcPr>
                    <a:lnL w="12700" cmpd="sng">
                      <a:solidFill>
                        <a:sysClr val="windowText" lastClr="000000"/>
                      </a:solidFill>
                    </a:lnL>
                    <a:lnR w="28575" cap="flat" cmpd="sng" algn="ctr">
                      <a:solidFill>
                        <a:schemeClr val="tx1"/>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0">
                <a:tc>
                  <a:txBody>
                    <a:bodyPr/>
                    <a:lstStyle/>
                    <a:p>
                      <a:r>
                        <a:rPr lang="en-US" altLang="zh-CN" sz="1200" dirty="0">
                          <a:latin typeface="+mj-lt"/>
                          <a:ea typeface="方正兰亭黑简体" panose="02000000000000000000" pitchFamily="2" charset="-122"/>
                        </a:rPr>
                        <a:t>Internet-B</a:t>
                      </a:r>
                      <a:endParaRPr lang="zh-CN" altLang="en-US" sz="1200" dirty="0">
                        <a:latin typeface="+mj-lt"/>
                        <a:ea typeface="方正兰亭黑简体" panose="02000000000000000000" pitchFamily="2" charset="-122"/>
                      </a:endParaRPr>
                    </a:p>
                  </a:txBody>
                  <a:tcPr>
                    <a:lnL w="28575" cap="flat" cmpd="sng" algn="ctr">
                      <a:solidFill>
                        <a:schemeClr val="tx1"/>
                      </a:solidFill>
                      <a:prstDash val="solid"/>
                      <a:round/>
                      <a:headEnd type="none" w="med" len="med"/>
                      <a:tailEnd type="none" w="med" len="med"/>
                    </a:lnL>
                    <a:lnR w="12700" cmpd="sng">
                      <a:solidFill>
                        <a:sysClr val="windowText" lastClr="000000"/>
                      </a:solidFill>
                    </a:lnR>
                    <a:lnT w="12700" cmpd="sng">
                      <a:solidFill>
                        <a:sysClr val="windowText" lastClr="000000"/>
                      </a:solid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r>
                        <a:rPr lang="en-US" altLang="zh-CN" sz="1200" dirty="0">
                          <a:latin typeface="+mj-lt"/>
                          <a:ea typeface="方正兰亭黑简体" panose="02000000000000000000" pitchFamily="2" charset="-122"/>
                        </a:rPr>
                        <a:t>RD2</a:t>
                      </a:r>
                      <a:endParaRPr lang="zh-CN" altLang="en-US" sz="1200" dirty="0">
                        <a:latin typeface="+mj-lt"/>
                        <a:ea typeface="方正兰亭黑简体" panose="02000000000000000000" pitchFamily="2" charset="-122"/>
                      </a:endParaRPr>
                    </a:p>
                  </a:txBody>
                  <a:tcPr>
                    <a:lnL w="12700" cmpd="sng">
                      <a:solidFill>
                        <a:sysClr val="windowText" lastClr="000000"/>
                      </a:solidFill>
                    </a:lnL>
                    <a:lnR w="28575" cap="flat" cmpd="sng" algn="ctr">
                      <a:solidFill>
                        <a:schemeClr val="tx1"/>
                      </a:solidFill>
                      <a:prstDash val="solid"/>
                      <a:round/>
                      <a:headEnd type="none" w="med" len="med"/>
                      <a:tailEnd type="none" w="med" len="med"/>
                    </a:lnR>
                    <a:lnT w="12700" cmpd="sng">
                      <a:solidFill>
                        <a:sysClr val="windowText" lastClr="000000"/>
                      </a:solid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bl>
          </a:graphicData>
        </a:graphic>
      </p:graphicFrame>
      <p:sp>
        <p:nvSpPr>
          <p:cNvPr id="185" name="Freeform 159">
            <a:extLst>
              <a:ext uri="{FF2B5EF4-FFF2-40B4-BE49-F238E27FC236}">
                <a16:creationId xmlns:a16="http://schemas.microsoft.com/office/drawing/2014/main" id="{85579ACE-44D5-4CE1-B1A2-FA35BE9C956C}"/>
              </a:ext>
            </a:extLst>
          </p:cNvPr>
          <p:cNvSpPr/>
          <p:nvPr/>
        </p:nvSpPr>
        <p:spPr bwMode="gray">
          <a:xfrm flipH="1">
            <a:off x="8829370" y="179572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A</a:t>
            </a:r>
          </a:p>
        </p:txBody>
      </p:sp>
      <p:sp>
        <p:nvSpPr>
          <p:cNvPr id="186" name="Freeform 159">
            <a:extLst>
              <a:ext uri="{FF2B5EF4-FFF2-40B4-BE49-F238E27FC236}">
                <a16:creationId xmlns:a16="http://schemas.microsoft.com/office/drawing/2014/main" id="{556E9D68-67F7-4084-8AE3-096CDAC05431}"/>
              </a:ext>
            </a:extLst>
          </p:cNvPr>
          <p:cNvSpPr/>
          <p:nvPr/>
        </p:nvSpPr>
        <p:spPr bwMode="gray">
          <a:xfrm flipH="1">
            <a:off x="8789200" y="447683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B</a:t>
            </a:r>
          </a:p>
        </p:txBody>
      </p:sp>
      <p:sp>
        <p:nvSpPr>
          <p:cNvPr id="187" name="Freeform 159">
            <a:extLst>
              <a:ext uri="{FF2B5EF4-FFF2-40B4-BE49-F238E27FC236}">
                <a16:creationId xmlns:a16="http://schemas.microsoft.com/office/drawing/2014/main" id="{ACA14C19-5FA6-4C88-9AF9-8E1CDDE26D4D}"/>
              </a:ext>
            </a:extLst>
          </p:cNvPr>
          <p:cNvSpPr/>
          <p:nvPr/>
        </p:nvSpPr>
        <p:spPr bwMode="gray">
          <a:xfrm flipH="1">
            <a:off x="8015268" y="3037258"/>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a:t>
            </a:r>
          </a:p>
        </p:txBody>
      </p:sp>
      <p:sp>
        <p:nvSpPr>
          <p:cNvPr id="188" name="Freeform 159">
            <a:extLst>
              <a:ext uri="{FF2B5EF4-FFF2-40B4-BE49-F238E27FC236}">
                <a16:creationId xmlns:a16="http://schemas.microsoft.com/office/drawing/2014/main" id="{E2702862-E4A1-4A0E-939F-93097D35812F}"/>
              </a:ext>
            </a:extLst>
          </p:cNvPr>
          <p:cNvSpPr/>
          <p:nvPr/>
        </p:nvSpPr>
        <p:spPr bwMode="gray">
          <a:xfrm flipH="1">
            <a:off x="9408107" y="3024720"/>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Internet-B</a:t>
            </a:r>
          </a:p>
        </p:txBody>
      </p:sp>
      <p:cxnSp>
        <p:nvCxnSpPr>
          <p:cNvPr id="189" name="直接连接符 45">
            <a:extLst>
              <a:ext uri="{FF2B5EF4-FFF2-40B4-BE49-F238E27FC236}">
                <a16:creationId xmlns:a16="http://schemas.microsoft.com/office/drawing/2014/main" id="{B217D98D-F9EB-4047-A173-F349F67E8044}"/>
              </a:ext>
            </a:extLst>
          </p:cNvPr>
          <p:cNvCxnSpPr>
            <a:cxnSpLocks/>
            <a:stCxn id="188" idx="21"/>
            <a:endCxn id="187" idx="8"/>
          </p:cNvCxnSpPr>
          <p:nvPr/>
        </p:nvCxnSpPr>
        <p:spPr bwMode="gray">
          <a:xfrm flipH="1">
            <a:off x="9195969" y="3457428"/>
            <a:ext cx="212138" cy="13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30">
            <a:extLst>
              <a:ext uri="{FF2B5EF4-FFF2-40B4-BE49-F238E27FC236}">
                <a16:creationId xmlns:a16="http://schemas.microsoft.com/office/drawing/2014/main" id="{268A4778-CC7D-482F-8839-54808B83E61F}"/>
              </a:ext>
            </a:extLst>
          </p:cNvPr>
          <p:cNvCxnSpPr>
            <a:cxnSpLocks/>
            <a:endCxn id="191" idx="0"/>
          </p:cNvCxnSpPr>
          <p:nvPr/>
        </p:nvCxnSpPr>
        <p:spPr bwMode="gray">
          <a:xfrm>
            <a:off x="8609610" y="3654666"/>
            <a:ext cx="667969" cy="53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91" name="图片 31">
            <a:extLst>
              <a:ext uri="{FF2B5EF4-FFF2-40B4-BE49-F238E27FC236}">
                <a16:creationId xmlns:a16="http://schemas.microsoft.com/office/drawing/2014/main" id="{9C04C507-8E42-4B05-AC78-37AD347B1D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032124" y="4189839"/>
            <a:ext cx="490909" cy="402545"/>
          </a:xfrm>
          <a:prstGeom prst="rect">
            <a:avLst/>
          </a:prstGeom>
        </p:spPr>
      </p:pic>
      <p:cxnSp>
        <p:nvCxnSpPr>
          <p:cNvPr id="192" name="直接连接符 32">
            <a:extLst>
              <a:ext uri="{FF2B5EF4-FFF2-40B4-BE49-F238E27FC236}">
                <a16:creationId xmlns:a16="http://schemas.microsoft.com/office/drawing/2014/main" id="{4580AB61-4F9A-4869-A23D-2D28998622EF}"/>
              </a:ext>
            </a:extLst>
          </p:cNvPr>
          <p:cNvCxnSpPr>
            <a:cxnSpLocks/>
            <a:endCxn id="191" idx="0"/>
          </p:cNvCxnSpPr>
          <p:nvPr/>
        </p:nvCxnSpPr>
        <p:spPr bwMode="gray">
          <a:xfrm flipH="1">
            <a:off x="9277579" y="3641907"/>
            <a:ext cx="715812" cy="5479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93" name="图片 39">
            <a:extLst>
              <a:ext uri="{FF2B5EF4-FFF2-40B4-BE49-F238E27FC236}">
                <a16:creationId xmlns:a16="http://schemas.microsoft.com/office/drawing/2014/main" id="{08E90591-40B5-40E9-A5E1-A3806F5A45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032124" y="2168026"/>
            <a:ext cx="490909" cy="402545"/>
          </a:xfrm>
          <a:prstGeom prst="rect">
            <a:avLst/>
          </a:prstGeom>
        </p:spPr>
      </p:pic>
      <p:cxnSp>
        <p:nvCxnSpPr>
          <p:cNvPr id="194" name="直接连接符 40">
            <a:extLst>
              <a:ext uri="{FF2B5EF4-FFF2-40B4-BE49-F238E27FC236}">
                <a16:creationId xmlns:a16="http://schemas.microsoft.com/office/drawing/2014/main" id="{5D295A29-BCF3-43C7-8991-82E40358024A}"/>
              </a:ext>
            </a:extLst>
          </p:cNvPr>
          <p:cNvCxnSpPr>
            <a:cxnSpLocks/>
            <a:stCxn id="193" idx="2"/>
            <a:endCxn id="187" idx="1"/>
          </p:cNvCxnSpPr>
          <p:nvPr/>
        </p:nvCxnSpPr>
        <p:spPr bwMode="gray">
          <a:xfrm flipH="1">
            <a:off x="8684896" y="2570571"/>
            <a:ext cx="592683" cy="5530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直接连接符 41">
            <a:extLst>
              <a:ext uri="{FF2B5EF4-FFF2-40B4-BE49-F238E27FC236}">
                <a16:creationId xmlns:a16="http://schemas.microsoft.com/office/drawing/2014/main" id="{84C65CAB-9AE4-430C-A6FB-A3DC363BA939}"/>
              </a:ext>
            </a:extLst>
          </p:cNvPr>
          <p:cNvCxnSpPr>
            <a:cxnSpLocks/>
            <a:stCxn id="193" idx="2"/>
            <a:endCxn id="188" idx="0"/>
          </p:cNvCxnSpPr>
          <p:nvPr/>
        </p:nvCxnSpPr>
        <p:spPr bwMode="gray">
          <a:xfrm>
            <a:off x="9277579" y="2570571"/>
            <a:ext cx="593477" cy="4541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6" name="任意多边形 73">
            <a:extLst>
              <a:ext uri="{FF2B5EF4-FFF2-40B4-BE49-F238E27FC236}">
                <a16:creationId xmlns:a16="http://schemas.microsoft.com/office/drawing/2014/main" id="{D3EB7EC0-E0CB-412A-9A2D-000435DB1646}"/>
              </a:ext>
            </a:extLst>
          </p:cNvPr>
          <p:cNvSpPr/>
          <p:nvPr/>
        </p:nvSpPr>
        <p:spPr bwMode="gray">
          <a:xfrm>
            <a:off x="8653451" y="2574220"/>
            <a:ext cx="624301" cy="1617785"/>
          </a:xfrm>
          <a:custGeom>
            <a:avLst/>
            <a:gdLst>
              <a:gd name="connsiteX0" fmla="*/ 624301 w 624301"/>
              <a:gd name="connsiteY0" fmla="*/ 0 h 1617785"/>
              <a:gd name="connsiteX1" fmla="*/ 47 w 624301"/>
              <a:gd name="connsiteY1" fmla="*/ 764931 h 1617785"/>
              <a:gd name="connsiteX2" fmla="*/ 597924 w 624301"/>
              <a:gd name="connsiteY2" fmla="*/ 1617785 h 1617785"/>
            </a:gdLst>
            <a:ahLst/>
            <a:cxnLst>
              <a:cxn ang="0">
                <a:pos x="connsiteX0" y="connsiteY0"/>
              </a:cxn>
              <a:cxn ang="0">
                <a:pos x="connsiteX1" y="connsiteY1"/>
              </a:cxn>
              <a:cxn ang="0">
                <a:pos x="connsiteX2" y="connsiteY2"/>
              </a:cxn>
            </a:cxnLst>
            <a:rect l="l" t="t" r="r" b="b"/>
            <a:pathLst>
              <a:path w="624301" h="1617785">
                <a:moveTo>
                  <a:pt x="624301" y="0"/>
                </a:moveTo>
                <a:cubicBezTo>
                  <a:pt x="314372" y="247650"/>
                  <a:pt x="4443" y="495300"/>
                  <a:pt x="47" y="764931"/>
                </a:cubicBezTo>
                <a:cubicBezTo>
                  <a:pt x="-4349" y="1034562"/>
                  <a:pt x="296787" y="1326173"/>
                  <a:pt x="597924" y="1617785"/>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197" name="任意多边形 74">
            <a:extLst>
              <a:ext uri="{FF2B5EF4-FFF2-40B4-BE49-F238E27FC236}">
                <a16:creationId xmlns:a16="http://schemas.microsoft.com/office/drawing/2014/main" id="{F2847869-99AA-4753-B1AD-C156C5C02125}"/>
              </a:ext>
            </a:extLst>
          </p:cNvPr>
          <p:cNvSpPr/>
          <p:nvPr/>
        </p:nvSpPr>
        <p:spPr bwMode="gray">
          <a:xfrm>
            <a:off x="9295337" y="2574220"/>
            <a:ext cx="756155" cy="1608993"/>
          </a:xfrm>
          <a:custGeom>
            <a:avLst/>
            <a:gdLst>
              <a:gd name="connsiteX0" fmla="*/ 0 w 756155"/>
              <a:gd name="connsiteY0" fmla="*/ 0 h 1608993"/>
              <a:gd name="connsiteX1" fmla="*/ 756138 w 756155"/>
              <a:gd name="connsiteY1" fmla="*/ 800100 h 1608993"/>
              <a:gd name="connsiteX2" fmla="*/ 17584 w 756155"/>
              <a:gd name="connsiteY2" fmla="*/ 1608993 h 1608993"/>
            </a:gdLst>
            <a:ahLst/>
            <a:cxnLst>
              <a:cxn ang="0">
                <a:pos x="connsiteX0" y="connsiteY0"/>
              </a:cxn>
              <a:cxn ang="0">
                <a:pos x="connsiteX1" y="connsiteY1"/>
              </a:cxn>
              <a:cxn ang="0">
                <a:pos x="connsiteX2" y="connsiteY2"/>
              </a:cxn>
            </a:cxnLst>
            <a:rect l="l" t="t" r="r" b="b"/>
            <a:pathLst>
              <a:path w="756155" h="1608993">
                <a:moveTo>
                  <a:pt x="0" y="0"/>
                </a:moveTo>
                <a:cubicBezTo>
                  <a:pt x="376603" y="265967"/>
                  <a:pt x="753207" y="531935"/>
                  <a:pt x="756138" y="800100"/>
                </a:cubicBezTo>
                <a:cubicBezTo>
                  <a:pt x="759069" y="1068265"/>
                  <a:pt x="388326" y="1338629"/>
                  <a:pt x="17584" y="160899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7"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8"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055358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Freeform 159">
            <a:extLst>
              <a:ext uri="{FF2B5EF4-FFF2-40B4-BE49-F238E27FC236}">
                <a16:creationId xmlns:a16="http://schemas.microsoft.com/office/drawing/2014/main" id="{2DE92052-B046-4C50-B11B-80328A7E1C6E}"/>
              </a:ext>
            </a:extLst>
          </p:cNvPr>
          <p:cNvSpPr/>
          <p:nvPr/>
        </p:nvSpPr>
        <p:spPr bwMode="gray">
          <a:xfrm flipH="1">
            <a:off x="6190575" y="3414923"/>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a:t>
            </a:r>
          </a:p>
        </p:txBody>
      </p:sp>
      <p:sp>
        <p:nvSpPr>
          <p:cNvPr id="166" name="Freeform 159">
            <a:extLst>
              <a:ext uri="{FF2B5EF4-FFF2-40B4-BE49-F238E27FC236}">
                <a16:creationId xmlns:a16="http://schemas.microsoft.com/office/drawing/2014/main" id="{3C5525AC-E9E5-4C6A-9E79-6DB6C0130B41}"/>
              </a:ext>
            </a:extLst>
          </p:cNvPr>
          <p:cNvSpPr/>
          <p:nvPr/>
        </p:nvSpPr>
        <p:spPr bwMode="gray">
          <a:xfrm flipH="1">
            <a:off x="7525743" y="3404872"/>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a:t>
            </a:r>
          </a:p>
        </p:txBody>
      </p:sp>
      <p:sp>
        <p:nvSpPr>
          <p:cNvPr id="200" name="Freeform 159">
            <a:extLst>
              <a:ext uri="{FF2B5EF4-FFF2-40B4-BE49-F238E27FC236}">
                <a16:creationId xmlns:a16="http://schemas.microsoft.com/office/drawing/2014/main" id="{9048D02C-E675-405D-B640-6FC4CD550A92}"/>
              </a:ext>
            </a:extLst>
          </p:cNvPr>
          <p:cNvSpPr/>
          <p:nvPr/>
        </p:nvSpPr>
        <p:spPr bwMode="gray">
          <a:xfrm flipH="1">
            <a:off x="8804020" y="3390459"/>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a:t>
            </a:r>
          </a:p>
        </p:txBody>
      </p:sp>
      <p:sp>
        <p:nvSpPr>
          <p:cNvPr id="201" name="Freeform 159">
            <a:extLst>
              <a:ext uri="{FF2B5EF4-FFF2-40B4-BE49-F238E27FC236}">
                <a16:creationId xmlns:a16="http://schemas.microsoft.com/office/drawing/2014/main" id="{073FA53E-FEA9-45DC-A72A-1302E904DE07}"/>
              </a:ext>
            </a:extLst>
          </p:cNvPr>
          <p:cNvSpPr/>
          <p:nvPr/>
        </p:nvSpPr>
        <p:spPr bwMode="gray">
          <a:xfrm flipH="1">
            <a:off x="10193120" y="3375660"/>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a:t>
            </a:r>
          </a:p>
        </p:txBody>
      </p:sp>
      <p:sp>
        <p:nvSpPr>
          <p:cNvPr id="159" name="Freeform 159">
            <a:extLst>
              <a:ext uri="{FF2B5EF4-FFF2-40B4-BE49-F238E27FC236}">
                <a16:creationId xmlns:a16="http://schemas.microsoft.com/office/drawing/2014/main" id="{F2066649-DD86-487B-8D31-AFC9560FB7D8}"/>
              </a:ext>
            </a:extLst>
          </p:cNvPr>
          <p:cNvSpPr/>
          <p:nvPr/>
        </p:nvSpPr>
        <p:spPr bwMode="gray">
          <a:xfrm flipH="1">
            <a:off x="6987028" y="2178406"/>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A</a:t>
            </a:r>
          </a:p>
        </p:txBody>
      </p:sp>
      <p:sp>
        <p:nvSpPr>
          <p:cNvPr id="160" name="Freeform 159">
            <a:extLst>
              <a:ext uri="{FF2B5EF4-FFF2-40B4-BE49-F238E27FC236}">
                <a16:creationId xmlns:a16="http://schemas.microsoft.com/office/drawing/2014/main" id="{89653776-7CA1-463C-9A84-B8357AC38BB8}"/>
              </a:ext>
            </a:extLst>
          </p:cNvPr>
          <p:cNvSpPr/>
          <p:nvPr/>
        </p:nvSpPr>
        <p:spPr bwMode="gray">
          <a:xfrm flipH="1">
            <a:off x="6987028" y="4859516"/>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B</a:t>
            </a:r>
          </a:p>
        </p:txBody>
      </p:sp>
      <p:sp>
        <p:nvSpPr>
          <p:cNvPr id="198" name="Freeform 159">
            <a:extLst>
              <a:ext uri="{FF2B5EF4-FFF2-40B4-BE49-F238E27FC236}">
                <a16:creationId xmlns:a16="http://schemas.microsoft.com/office/drawing/2014/main" id="{21688AA5-092F-4AAF-AB03-85752FFC5314}"/>
              </a:ext>
            </a:extLst>
          </p:cNvPr>
          <p:cNvSpPr/>
          <p:nvPr/>
        </p:nvSpPr>
        <p:spPr bwMode="gray">
          <a:xfrm flipH="1">
            <a:off x="9600473" y="2153942"/>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A</a:t>
            </a:r>
          </a:p>
        </p:txBody>
      </p:sp>
      <p:sp>
        <p:nvSpPr>
          <p:cNvPr id="199" name="Freeform 159">
            <a:extLst>
              <a:ext uri="{FF2B5EF4-FFF2-40B4-BE49-F238E27FC236}">
                <a16:creationId xmlns:a16="http://schemas.microsoft.com/office/drawing/2014/main" id="{65A49D64-78F8-45D8-BE30-74B396A91A85}"/>
              </a:ext>
            </a:extLst>
          </p:cNvPr>
          <p:cNvSpPr/>
          <p:nvPr/>
        </p:nvSpPr>
        <p:spPr bwMode="gray">
          <a:xfrm flipH="1">
            <a:off x="9600473" y="4835052"/>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B</a:t>
            </a:r>
          </a:p>
        </p:txBody>
      </p:sp>
      <p:sp>
        <p:nvSpPr>
          <p:cNvPr id="155" name="Freeform 159">
            <a:extLst>
              <a:ext uri="{FF2B5EF4-FFF2-40B4-BE49-F238E27FC236}">
                <a16:creationId xmlns:a16="http://schemas.microsoft.com/office/drawing/2014/main" id="{4E0526BC-67A8-4686-B03E-1E1C83F6C1CB}"/>
              </a:ext>
            </a:extLst>
          </p:cNvPr>
          <p:cNvSpPr/>
          <p:nvPr/>
        </p:nvSpPr>
        <p:spPr bwMode="gray">
          <a:xfrm flipH="1">
            <a:off x="4153225" y="2199662"/>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A</a:t>
            </a:r>
          </a:p>
        </p:txBody>
      </p:sp>
      <p:sp>
        <p:nvSpPr>
          <p:cNvPr id="156" name="Freeform 159">
            <a:extLst>
              <a:ext uri="{FF2B5EF4-FFF2-40B4-BE49-F238E27FC236}">
                <a16:creationId xmlns:a16="http://schemas.microsoft.com/office/drawing/2014/main" id="{F472FB16-E2FA-4437-B6D6-CA33FAA0FA1F}"/>
              </a:ext>
            </a:extLst>
          </p:cNvPr>
          <p:cNvSpPr/>
          <p:nvPr/>
        </p:nvSpPr>
        <p:spPr bwMode="gray">
          <a:xfrm flipH="1">
            <a:off x="4153225" y="4880772"/>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B</a:t>
            </a:r>
          </a:p>
        </p:txBody>
      </p:sp>
      <p:sp>
        <p:nvSpPr>
          <p:cNvPr id="157" name="Freeform 159">
            <a:extLst>
              <a:ext uri="{FF2B5EF4-FFF2-40B4-BE49-F238E27FC236}">
                <a16:creationId xmlns:a16="http://schemas.microsoft.com/office/drawing/2014/main" id="{E155482E-E5AC-4519-B31A-90DA72EFFF5B}"/>
              </a:ext>
            </a:extLst>
          </p:cNvPr>
          <p:cNvSpPr/>
          <p:nvPr/>
        </p:nvSpPr>
        <p:spPr bwMode="gray">
          <a:xfrm flipH="1">
            <a:off x="3356772" y="3436179"/>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a:t>
            </a:r>
          </a:p>
        </p:txBody>
      </p:sp>
      <p:sp>
        <p:nvSpPr>
          <p:cNvPr id="158" name="Freeform 159">
            <a:extLst>
              <a:ext uri="{FF2B5EF4-FFF2-40B4-BE49-F238E27FC236}">
                <a16:creationId xmlns:a16="http://schemas.microsoft.com/office/drawing/2014/main" id="{B6A357AB-CD35-4FC7-BF0B-DE26564A4793}"/>
              </a:ext>
            </a:extLst>
          </p:cNvPr>
          <p:cNvSpPr/>
          <p:nvPr/>
        </p:nvSpPr>
        <p:spPr bwMode="gray">
          <a:xfrm flipH="1">
            <a:off x="4745872" y="3429000"/>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a:t>
            </a:r>
          </a:p>
        </p:txBody>
      </p:sp>
      <p:sp>
        <p:nvSpPr>
          <p:cNvPr id="151" name="Freeform 159">
            <a:extLst>
              <a:ext uri="{FF2B5EF4-FFF2-40B4-BE49-F238E27FC236}">
                <a16:creationId xmlns:a16="http://schemas.microsoft.com/office/drawing/2014/main" id="{6D433470-26C8-4972-9F69-6212CA89A46A}"/>
              </a:ext>
            </a:extLst>
          </p:cNvPr>
          <p:cNvSpPr/>
          <p:nvPr/>
        </p:nvSpPr>
        <p:spPr bwMode="gray">
          <a:xfrm flipH="1">
            <a:off x="1466382" y="2216862"/>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A</a:t>
            </a:r>
          </a:p>
        </p:txBody>
      </p:sp>
      <p:sp>
        <p:nvSpPr>
          <p:cNvPr id="152" name="Freeform 159">
            <a:extLst>
              <a:ext uri="{FF2B5EF4-FFF2-40B4-BE49-F238E27FC236}">
                <a16:creationId xmlns:a16="http://schemas.microsoft.com/office/drawing/2014/main" id="{2962CBDF-F149-4D1F-A4DB-009FEBA0A6F1}"/>
              </a:ext>
            </a:extLst>
          </p:cNvPr>
          <p:cNvSpPr/>
          <p:nvPr/>
        </p:nvSpPr>
        <p:spPr bwMode="gray">
          <a:xfrm flipH="1">
            <a:off x="1466382" y="4897972"/>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站点</a:t>
            </a:r>
            <a:r>
              <a:rPr lang="en-US" altLang="zh-CN" sz="1400" kern="0" dirty="0">
                <a:solidFill>
                  <a:srgbClr val="000000"/>
                </a:solidFill>
                <a:latin typeface="Huawei Sans" panose="020C0503030203020204" pitchFamily="34" charset="0"/>
                <a:ea typeface="方正兰亭黑简体" panose="02000000000000000000" pitchFamily="2" charset="-122"/>
              </a:rPr>
              <a:t>B</a:t>
            </a:r>
          </a:p>
        </p:txBody>
      </p:sp>
      <p:sp>
        <p:nvSpPr>
          <p:cNvPr id="153" name="Freeform 159">
            <a:extLst>
              <a:ext uri="{FF2B5EF4-FFF2-40B4-BE49-F238E27FC236}">
                <a16:creationId xmlns:a16="http://schemas.microsoft.com/office/drawing/2014/main" id="{FCBEFEE6-B481-47AF-92EE-9787169289EA}"/>
              </a:ext>
            </a:extLst>
          </p:cNvPr>
          <p:cNvSpPr/>
          <p:nvPr/>
        </p:nvSpPr>
        <p:spPr bwMode="gray">
          <a:xfrm flipH="1">
            <a:off x="669929" y="3453379"/>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a:t>
            </a:r>
          </a:p>
        </p:txBody>
      </p:sp>
      <p:sp>
        <p:nvSpPr>
          <p:cNvPr id="154" name="Freeform 159">
            <a:extLst>
              <a:ext uri="{FF2B5EF4-FFF2-40B4-BE49-F238E27FC236}">
                <a16:creationId xmlns:a16="http://schemas.microsoft.com/office/drawing/2014/main" id="{B7B9CE12-62C9-49F7-81A2-BD244CD2C194}"/>
              </a:ext>
            </a:extLst>
          </p:cNvPr>
          <p:cNvSpPr/>
          <p:nvPr/>
        </p:nvSpPr>
        <p:spPr bwMode="gray">
          <a:xfrm flipH="1">
            <a:off x="2059029" y="3446200"/>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a:t>
            </a:r>
          </a:p>
        </p:txBody>
      </p:sp>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zh-CN" altLang="en-US" dirty="0"/>
              <a:t>隧道组网可靠性</a:t>
            </a:r>
            <a:endParaRPr lang="en-US" dirty="0"/>
          </a:p>
        </p:txBody>
      </p:sp>
      <p:cxnSp>
        <p:nvCxnSpPr>
          <p:cNvPr id="56" name="直接连接符 2">
            <a:extLst>
              <a:ext uri="{FF2B5EF4-FFF2-40B4-BE49-F238E27FC236}">
                <a16:creationId xmlns:a16="http://schemas.microsoft.com/office/drawing/2014/main" id="{FD103E58-96FB-4CF3-9573-EEFB5B1EC522}"/>
              </a:ext>
            </a:extLst>
          </p:cNvPr>
          <p:cNvCxnSpPr>
            <a:cxnSpLocks/>
            <a:stCxn id="166" idx="21"/>
            <a:endCxn id="165" idx="8"/>
          </p:cNvCxnSpPr>
          <p:nvPr/>
        </p:nvCxnSpPr>
        <p:spPr bwMode="gray">
          <a:xfrm flipH="1" flipV="1">
            <a:off x="7371276" y="3836397"/>
            <a:ext cx="154467" cy="11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
            <a:extLst>
              <a:ext uri="{FF2B5EF4-FFF2-40B4-BE49-F238E27FC236}">
                <a16:creationId xmlns:a16="http://schemas.microsoft.com/office/drawing/2014/main" id="{7AD89B90-CEC7-49A4-9BEC-EC196C9932B1}"/>
              </a:ext>
            </a:extLst>
          </p:cNvPr>
          <p:cNvCxnSpPr>
            <a:cxnSpLocks/>
            <a:endCxn id="60" idx="0"/>
          </p:cNvCxnSpPr>
          <p:nvPr/>
        </p:nvCxnSpPr>
        <p:spPr bwMode="gray">
          <a:xfrm>
            <a:off x="6753705" y="4022059"/>
            <a:ext cx="713643" cy="5839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0" name="图片 6">
            <a:extLst>
              <a:ext uri="{FF2B5EF4-FFF2-40B4-BE49-F238E27FC236}">
                <a16:creationId xmlns:a16="http://schemas.microsoft.com/office/drawing/2014/main" id="{0DD02C94-9494-4B90-9272-6A7D2A7E3A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21893" y="4605960"/>
            <a:ext cx="490909" cy="402545"/>
          </a:xfrm>
          <a:prstGeom prst="rect">
            <a:avLst/>
          </a:prstGeom>
        </p:spPr>
      </p:pic>
      <p:cxnSp>
        <p:nvCxnSpPr>
          <p:cNvPr id="61" name="直接连接符 7">
            <a:extLst>
              <a:ext uri="{FF2B5EF4-FFF2-40B4-BE49-F238E27FC236}">
                <a16:creationId xmlns:a16="http://schemas.microsoft.com/office/drawing/2014/main" id="{DCFFD776-FB38-437D-8F32-AD7C0FC0477B}"/>
              </a:ext>
            </a:extLst>
          </p:cNvPr>
          <p:cNvCxnSpPr>
            <a:cxnSpLocks/>
            <a:endCxn id="60" idx="0"/>
          </p:cNvCxnSpPr>
          <p:nvPr/>
        </p:nvCxnSpPr>
        <p:spPr bwMode="gray">
          <a:xfrm flipH="1">
            <a:off x="7467348" y="4022059"/>
            <a:ext cx="679675" cy="5839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图片 14">
            <a:extLst>
              <a:ext uri="{FF2B5EF4-FFF2-40B4-BE49-F238E27FC236}">
                <a16:creationId xmlns:a16="http://schemas.microsoft.com/office/drawing/2014/main" id="{1C206CD5-B8C6-4D6A-84C7-5547062A7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21893" y="2584147"/>
            <a:ext cx="490909" cy="402545"/>
          </a:xfrm>
          <a:prstGeom prst="rect">
            <a:avLst/>
          </a:prstGeom>
        </p:spPr>
      </p:pic>
      <p:cxnSp>
        <p:nvCxnSpPr>
          <p:cNvPr id="69" name="直接连接符 15">
            <a:extLst>
              <a:ext uri="{FF2B5EF4-FFF2-40B4-BE49-F238E27FC236}">
                <a16:creationId xmlns:a16="http://schemas.microsoft.com/office/drawing/2014/main" id="{B1220497-7EF1-477C-A76C-361DB07D5616}"/>
              </a:ext>
            </a:extLst>
          </p:cNvPr>
          <p:cNvCxnSpPr>
            <a:cxnSpLocks/>
            <a:stCxn id="68" idx="2"/>
            <a:endCxn id="165" idx="1"/>
          </p:cNvCxnSpPr>
          <p:nvPr/>
        </p:nvCxnSpPr>
        <p:spPr bwMode="gray">
          <a:xfrm flipH="1">
            <a:off x="6860203" y="2986692"/>
            <a:ext cx="607145" cy="5145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16">
            <a:extLst>
              <a:ext uri="{FF2B5EF4-FFF2-40B4-BE49-F238E27FC236}">
                <a16:creationId xmlns:a16="http://schemas.microsoft.com/office/drawing/2014/main" id="{48FE195D-694B-4E19-84BF-15A950FDC3B5}"/>
              </a:ext>
            </a:extLst>
          </p:cNvPr>
          <p:cNvCxnSpPr>
            <a:cxnSpLocks/>
            <a:stCxn id="68" idx="2"/>
            <a:endCxn id="166" idx="0"/>
          </p:cNvCxnSpPr>
          <p:nvPr/>
        </p:nvCxnSpPr>
        <p:spPr bwMode="gray">
          <a:xfrm>
            <a:off x="7467348" y="2986692"/>
            <a:ext cx="521344" cy="4181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任意多边形 17">
            <a:extLst>
              <a:ext uri="{FF2B5EF4-FFF2-40B4-BE49-F238E27FC236}">
                <a16:creationId xmlns:a16="http://schemas.microsoft.com/office/drawing/2014/main" id="{C64BBA83-D92C-4DB7-B1C8-69FE1966EE91}"/>
              </a:ext>
            </a:extLst>
          </p:cNvPr>
          <p:cNvSpPr/>
          <p:nvPr/>
        </p:nvSpPr>
        <p:spPr bwMode="gray">
          <a:xfrm>
            <a:off x="6843220" y="2990341"/>
            <a:ext cx="624301" cy="1617785"/>
          </a:xfrm>
          <a:custGeom>
            <a:avLst/>
            <a:gdLst>
              <a:gd name="connsiteX0" fmla="*/ 624301 w 624301"/>
              <a:gd name="connsiteY0" fmla="*/ 0 h 1617785"/>
              <a:gd name="connsiteX1" fmla="*/ 47 w 624301"/>
              <a:gd name="connsiteY1" fmla="*/ 764931 h 1617785"/>
              <a:gd name="connsiteX2" fmla="*/ 597924 w 624301"/>
              <a:gd name="connsiteY2" fmla="*/ 1617785 h 1617785"/>
            </a:gdLst>
            <a:ahLst/>
            <a:cxnLst>
              <a:cxn ang="0">
                <a:pos x="connsiteX0" y="connsiteY0"/>
              </a:cxn>
              <a:cxn ang="0">
                <a:pos x="connsiteX1" y="connsiteY1"/>
              </a:cxn>
              <a:cxn ang="0">
                <a:pos x="connsiteX2" y="connsiteY2"/>
              </a:cxn>
            </a:cxnLst>
            <a:rect l="l" t="t" r="r" b="b"/>
            <a:pathLst>
              <a:path w="624301" h="1617785">
                <a:moveTo>
                  <a:pt x="624301" y="0"/>
                </a:moveTo>
                <a:cubicBezTo>
                  <a:pt x="314372" y="247650"/>
                  <a:pt x="4443" y="495300"/>
                  <a:pt x="47" y="764931"/>
                </a:cubicBezTo>
                <a:cubicBezTo>
                  <a:pt x="-4349" y="1034562"/>
                  <a:pt x="296787" y="1326173"/>
                  <a:pt x="597924" y="1617785"/>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cxnSp>
        <p:nvCxnSpPr>
          <p:cNvPr id="74" name="直接连接符 21">
            <a:extLst>
              <a:ext uri="{FF2B5EF4-FFF2-40B4-BE49-F238E27FC236}">
                <a16:creationId xmlns:a16="http://schemas.microsoft.com/office/drawing/2014/main" id="{3442BE09-AC69-42F4-93BB-E396AECC597C}"/>
              </a:ext>
            </a:extLst>
          </p:cNvPr>
          <p:cNvCxnSpPr>
            <a:cxnSpLocks/>
            <a:stCxn id="201" idx="21"/>
            <a:endCxn id="200" idx="8"/>
          </p:cNvCxnSpPr>
          <p:nvPr/>
        </p:nvCxnSpPr>
        <p:spPr bwMode="gray">
          <a:xfrm flipH="1">
            <a:off x="9984721" y="3808368"/>
            <a:ext cx="208399" cy="35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24">
            <a:extLst>
              <a:ext uri="{FF2B5EF4-FFF2-40B4-BE49-F238E27FC236}">
                <a16:creationId xmlns:a16="http://schemas.microsoft.com/office/drawing/2014/main" id="{1FE9F12F-7CF6-4B3C-BADF-07DF800C60AB}"/>
              </a:ext>
            </a:extLst>
          </p:cNvPr>
          <p:cNvCxnSpPr>
            <a:cxnSpLocks/>
            <a:endCxn id="78" idx="0"/>
          </p:cNvCxnSpPr>
          <p:nvPr/>
        </p:nvCxnSpPr>
        <p:spPr bwMode="gray">
          <a:xfrm>
            <a:off x="9389817" y="4007646"/>
            <a:ext cx="702767" cy="5525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8" name="图片 25">
            <a:extLst>
              <a:ext uri="{FF2B5EF4-FFF2-40B4-BE49-F238E27FC236}">
                <a16:creationId xmlns:a16="http://schemas.microsoft.com/office/drawing/2014/main" id="{5B3EEF4F-2E10-491F-AD69-BC41E29384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847129" y="4560240"/>
            <a:ext cx="490909" cy="402545"/>
          </a:xfrm>
          <a:prstGeom prst="rect">
            <a:avLst/>
          </a:prstGeom>
        </p:spPr>
      </p:pic>
      <p:cxnSp>
        <p:nvCxnSpPr>
          <p:cNvPr id="79" name="直接连接符 26">
            <a:extLst>
              <a:ext uri="{FF2B5EF4-FFF2-40B4-BE49-F238E27FC236}">
                <a16:creationId xmlns:a16="http://schemas.microsoft.com/office/drawing/2014/main" id="{A3AA0E42-592D-4CAD-98C5-6CAD6CD01D28}"/>
              </a:ext>
            </a:extLst>
          </p:cNvPr>
          <p:cNvCxnSpPr>
            <a:cxnSpLocks/>
            <a:endCxn id="78" idx="0"/>
          </p:cNvCxnSpPr>
          <p:nvPr/>
        </p:nvCxnSpPr>
        <p:spPr bwMode="gray">
          <a:xfrm flipH="1">
            <a:off x="10092584" y="3992847"/>
            <a:ext cx="679675" cy="5673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6" name="图片 33">
            <a:extLst>
              <a:ext uri="{FF2B5EF4-FFF2-40B4-BE49-F238E27FC236}">
                <a16:creationId xmlns:a16="http://schemas.microsoft.com/office/drawing/2014/main" id="{356E81BC-0514-4701-BE31-F49301C9D7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847129" y="2538427"/>
            <a:ext cx="490909" cy="402545"/>
          </a:xfrm>
          <a:prstGeom prst="rect">
            <a:avLst/>
          </a:prstGeom>
        </p:spPr>
      </p:pic>
      <p:cxnSp>
        <p:nvCxnSpPr>
          <p:cNvPr id="87" name="直接连接符 34">
            <a:extLst>
              <a:ext uri="{FF2B5EF4-FFF2-40B4-BE49-F238E27FC236}">
                <a16:creationId xmlns:a16="http://schemas.microsoft.com/office/drawing/2014/main" id="{4B10A61B-CA4A-43CA-A78E-6EFEFEFA0F6A}"/>
              </a:ext>
            </a:extLst>
          </p:cNvPr>
          <p:cNvCxnSpPr>
            <a:cxnSpLocks/>
            <a:stCxn id="86" idx="2"/>
            <a:endCxn id="200" idx="1"/>
          </p:cNvCxnSpPr>
          <p:nvPr/>
        </p:nvCxnSpPr>
        <p:spPr bwMode="gray">
          <a:xfrm flipH="1">
            <a:off x="9473648" y="2940972"/>
            <a:ext cx="618936" cy="5358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35">
            <a:extLst>
              <a:ext uri="{FF2B5EF4-FFF2-40B4-BE49-F238E27FC236}">
                <a16:creationId xmlns:a16="http://schemas.microsoft.com/office/drawing/2014/main" id="{56DDC81E-1BC0-4A1C-AAA1-2D69A8DA1535}"/>
              </a:ext>
            </a:extLst>
          </p:cNvPr>
          <p:cNvCxnSpPr>
            <a:cxnSpLocks/>
            <a:stCxn id="86" idx="2"/>
            <a:endCxn id="201" idx="0"/>
          </p:cNvCxnSpPr>
          <p:nvPr/>
        </p:nvCxnSpPr>
        <p:spPr bwMode="gray">
          <a:xfrm>
            <a:off x="10092584" y="2940972"/>
            <a:ext cx="563485" cy="4346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文本框 40">
            <a:extLst>
              <a:ext uri="{FF2B5EF4-FFF2-40B4-BE49-F238E27FC236}">
                <a16:creationId xmlns:a16="http://schemas.microsoft.com/office/drawing/2014/main" id="{2DAC1008-630D-472E-94F2-AD93CED3B0D0}"/>
              </a:ext>
            </a:extLst>
          </p:cNvPr>
          <p:cNvSpPr txBox="1"/>
          <p:nvPr/>
        </p:nvSpPr>
        <p:spPr bwMode="gray">
          <a:xfrm>
            <a:off x="6830973" y="1625007"/>
            <a:ext cx="1326776" cy="338554"/>
          </a:xfrm>
          <a:prstGeom prst="rect">
            <a:avLst/>
          </a:prstGeom>
          <a:noFill/>
        </p:spPr>
        <p:txBody>
          <a:bodyPr wrap="square" rtlCol="0">
            <a:spAutoFit/>
          </a:bodyPr>
          <a:lstStyle/>
          <a:p>
            <a:r>
              <a:rPr lang="zh-CN" altLang="en-US" sz="1600" dirty="0">
                <a:solidFill>
                  <a:srgbClr val="000000"/>
                </a:solidFill>
                <a:latin typeface="Huawei Sans" panose="020C0503030203020204" pitchFamily="34" charset="0"/>
                <a:ea typeface="方正兰亭黑简体" panose="02000000000000000000" pitchFamily="2" charset="-122"/>
              </a:rPr>
              <a:t>故障场景</a:t>
            </a:r>
            <a:r>
              <a:rPr lang="en-US" altLang="zh-CN" sz="1600" dirty="0">
                <a:solidFill>
                  <a:srgbClr val="000000"/>
                </a:solidFill>
                <a:latin typeface="Huawei Sans" panose="020C0503030203020204" pitchFamily="34" charset="0"/>
                <a:ea typeface="方正兰亭黑简体" panose="02000000000000000000" pitchFamily="2" charset="-122"/>
              </a:rPr>
              <a:t>A</a:t>
            </a:r>
            <a:endParaRPr lang="zh-CN" altLang="en-US" sz="1600" dirty="0">
              <a:solidFill>
                <a:srgbClr val="000000"/>
              </a:solidFill>
              <a:latin typeface="Huawei Sans" panose="020C0503030203020204" pitchFamily="34" charset="0"/>
              <a:ea typeface="方正兰亭黑简体" panose="02000000000000000000" pitchFamily="2" charset="-122"/>
            </a:endParaRPr>
          </a:p>
        </p:txBody>
      </p:sp>
      <p:sp>
        <p:nvSpPr>
          <p:cNvPr id="90" name="文本框 41">
            <a:extLst>
              <a:ext uri="{FF2B5EF4-FFF2-40B4-BE49-F238E27FC236}">
                <a16:creationId xmlns:a16="http://schemas.microsoft.com/office/drawing/2014/main" id="{8920E600-CC47-4140-B485-CEF024BDC0CE}"/>
              </a:ext>
            </a:extLst>
          </p:cNvPr>
          <p:cNvSpPr txBox="1"/>
          <p:nvPr/>
        </p:nvSpPr>
        <p:spPr bwMode="gray">
          <a:xfrm>
            <a:off x="9501284" y="1619675"/>
            <a:ext cx="1326776" cy="338554"/>
          </a:xfrm>
          <a:prstGeom prst="rect">
            <a:avLst/>
          </a:prstGeom>
          <a:noFill/>
        </p:spPr>
        <p:txBody>
          <a:bodyPr wrap="square" rtlCol="0">
            <a:spAutoFit/>
          </a:bodyPr>
          <a:lstStyle/>
          <a:p>
            <a:r>
              <a:rPr lang="zh-CN" altLang="en-US" sz="1600" dirty="0">
                <a:solidFill>
                  <a:srgbClr val="000000"/>
                </a:solidFill>
                <a:latin typeface="Huawei Sans" panose="020C0503030203020204" pitchFamily="34" charset="0"/>
                <a:ea typeface="方正兰亭黑简体" panose="02000000000000000000" pitchFamily="2" charset="-122"/>
              </a:rPr>
              <a:t>故障场景</a:t>
            </a:r>
            <a:r>
              <a:rPr lang="en-US" altLang="zh-CN" sz="1600" dirty="0">
                <a:solidFill>
                  <a:srgbClr val="000000"/>
                </a:solidFill>
                <a:latin typeface="Huawei Sans" panose="020C0503030203020204" pitchFamily="34" charset="0"/>
                <a:ea typeface="方正兰亭黑简体" panose="02000000000000000000" pitchFamily="2" charset="-122"/>
              </a:rPr>
              <a:t>B</a:t>
            </a:r>
            <a:endParaRPr lang="zh-CN" altLang="en-US" sz="1600" dirty="0">
              <a:solidFill>
                <a:srgbClr val="000000"/>
              </a:solidFill>
              <a:latin typeface="Huawei Sans" panose="020C0503030203020204" pitchFamily="34" charset="0"/>
              <a:ea typeface="方正兰亭黑简体" panose="02000000000000000000" pitchFamily="2" charset="-122"/>
            </a:endParaRPr>
          </a:p>
        </p:txBody>
      </p:sp>
      <p:sp>
        <p:nvSpPr>
          <p:cNvPr id="91" name="十字形 42">
            <a:extLst>
              <a:ext uri="{FF2B5EF4-FFF2-40B4-BE49-F238E27FC236}">
                <a16:creationId xmlns:a16="http://schemas.microsoft.com/office/drawing/2014/main" id="{C66809DB-79CD-4693-82BA-DC6522EA1F3E}"/>
              </a:ext>
            </a:extLst>
          </p:cNvPr>
          <p:cNvSpPr/>
          <p:nvPr/>
        </p:nvSpPr>
        <p:spPr bwMode="gray">
          <a:xfrm rot="2785165">
            <a:off x="7628608" y="3076270"/>
            <a:ext cx="345945" cy="345945"/>
          </a:xfrm>
          <a:prstGeom prst="plus">
            <a:avLst>
              <a:gd name="adj" fmla="val 3969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200">
              <a:solidFill>
                <a:prstClr val="white"/>
              </a:solidFill>
              <a:latin typeface="Huawei Sans" panose="020C0503030203020204" pitchFamily="34" charset="0"/>
              <a:ea typeface="方正兰亭黑简体" panose="02000000000000000000" pitchFamily="2" charset="-122"/>
            </a:endParaRPr>
          </a:p>
        </p:txBody>
      </p:sp>
      <p:sp>
        <p:nvSpPr>
          <p:cNvPr id="92" name="十字形 43">
            <a:extLst>
              <a:ext uri="{FF2B5EF4-FFF2-40B4-BE49-F238E27FC236}">
                <a16:creationId xmlns:a16="http://schemas.microsoft.com/office/drawing/2014/main" id="{32ADB95A-7DEA-4BF6-8837-5D53186271FD}"/>
              </a:ext>
            </a:extLst>
          </p:cNvPr>
          <p:cNvSpPr/>
          <p:nvPr/>
        </p:nvSpPr>
        <p:spPr bwMode="gray">
          <a:xfrm rot="2785165">
            <a:off x="10320761" y="3049380"/>
            <a:ext cx="345945" cy="345945"/>
          </a:xfrm>
          <a:prstGeom prst="plus">
            <a:avLst>
              <a:gd name="adj" fmla="val 3969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200">
              <a:solidFill>
                <a:prstClr val="white"/>
              </a:solidFill>
              <a:latin typeface="Huawei Sans" panose="020C0503030203020204" pitchFamily="34" charset="0"/>
              <a:ea typeface="方正兰亭黑简体" panose="02000000000000000000" pitchFamily="2" charset="-122"/>
            </a:endParaRPr>
          </a:p>
        </p:txBody>
      </p:sp>
      <p:sp>
        <p:nvSpPr>
          <p:cNvPr id="93" name="十字形 44">
            <a:extLst>
              <a:ext uri="{FF2B5EF4-FFF2-40B4-BE49-F238E27FC236}">
                <a16:creationId xmlns:a16="http://schemas.microsoft.com/office/drawing/2014/main" id="{45435620-FE00-45C8-81F6-7E0832F1A9AD}"/>
              </a:ext>
            </a:extLst>
          </p:cNvPr>
          <p:cNvSpPr/>
          <p:nvPr/>
        </p:nvSpPr>
        <p:spPr bwMode="gray">
          <a:xfrm rot="2785165">
            <a:off x="9585551" y="4096638"/>
            <a:ext cx="345945" cy="345945"/>
          </a:xfrm>
          <a:prstGeom prst="plus">
            <a:avLst>
              <a:gd name="adj" fmla="val 3969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200">
              <a:solidFill>
                <a:prstClr val="white"/>
              </a:solidFill>
              <a:latin typeface="Huawei Sans" panose="020C0503030203020204" pitchFamily="34" charset="0"/>
              <a:ea typeface="方正兰亭黑简体" panose="02000000000000000000" pitchFamily="2" charset="-122"/>
            </a:endParaRPr>
          </a:p>
        </p:txBody>
      </p:sp>
      <p:cxnSp>
        <p:nvCxnSpPr>
          <p:cNvPr id="94" name="直接连接符 45">
            <a:extLst>
              <a:ext uri="{FF2B5EF4-FFF2-40B4-BE49-F238E27FC236}">
                <a16:creationId xmlns:a16="http://schemas.microsoft.com/office/drawing/2014/main" id="{C7807AA8-B190-472D-AF10-38D1618178C0}"/>
              </a:ext>
            </a:extLst>
          </p:cNvPr>
          <p:cNvCxnSpPr>
            <a:cxnSpLocks/>
            <a:stCxn id="154" idx="21"/>
            <a:endCxn id="153" idx="8"/>
          </p:cNvCxnSpPr>
          <p:nvPr/>
        </p:nvCxnSpPr>
        <p:spPr bwMode="gray">
          <a:xfrm flipH="1" flipV="1">
            <a:off x="1850630" y="3874853"/>
            <a:ext cx="208399" cy="4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48">
            <a:extLst>
              <a:ext uri="{FF2B5EF4-FFF2-40B4-BE49-F238E27FC236}">
                <a16:creationId xmlns:a16="http://schemas.microsoft.com/office/drawing/2014/main" id="{ED1E90B2-7979-4808-AB1D-A73799B22E07}"/>
              </a:ext>
            </a:extLst>
          </p:cNvPr>
          <p:cNvCxnSpPr>
            <a:cxnSpLocks/>
            <a:endCxn id="99" idx="0"/>
          </p:cNvCxnSpPr>
          <p:nvPr/>
        </p:nvCxnSpPr>
        <p:spPr bwMode="gray">
          <a:xfrm>
            <a:off x="1253865" y="4070787"/>
            <a:ext cx="667969" cy="53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99" name="图片 49">
            <a:extLst>
              <a:ext uri="{FF2B5EF4-FFF2-40B4-BE49-F238E27FC236}">
                <a16:creationId xmlns:a16="http://schemas.microsoft.com/office/drawing/2014/main" id="{7FBA0DDF-6B8E-476F-B883-A93E288463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676379" y="4605960"/>
            <a:ext cx="490909" cy="402545"/>
          </a:xfrm>
          <a:prstGeom prst="rect">
            <a:avLst/>
          </a:prstGeom>
        </p:spPr>
      </p:pic>
      <p:cxnSp>
        <p:nvCxnSpPr>
          <p:cNvPr id="100" name="直接连接符 50">
            <a:extLst>
              <a:ext uri="{FF2B5EF4-FFF2-40B4-BE49-F238E27FC236}">
                <a16:creationId xmlns:a16="http://schemas.microsoft.com/office/drawing/2014/main" id="{ADCF6DB0-F124-4B9F-9CA9-A72B46D17BFE}"/>
              </a:ext>
            </a:extLst>
          </p:cNvPr>
          <p:cNvCxnSpPr>
            <a:cxnSpLocks/>
            <a:endCxn id="99" idx="0"/>
          </p:cNvCxnSpPr>
          <p:nvPr/>
        </p:nvCxnSpPr>
        <p:spPr bwMode="gray">
          <a:xfrm flipH="1">
            <a:off x="1921834" y="4081034"/>
            <a:ext cx="679675" cy="5249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7" name="图片 57">
            <a:extLst>
              <a:ext uri="{FF2B5EF4-FFF2-40B4-BE49-F238E27FC236}">
                <a16:creationId xmlns:a16="http://schemas.microsoft.com/office/drawing/2014/main" id="{12F4060C-74FF-4C7E-AAC1-D8AF0D8709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676379" y="2584147"/>
            <a:ext cx="490909" cy="402545"/>
          </a:xfrm>
          <a:prstGeom prst="rect">
            <a:avLst/>
          </a:prstGeom>
        </p:spPr>
      </p:pic>
      <p:cxnSp>
        <p:nvCxnSpPr>
          <p:cNvPr id="108" name="直接连接符 58">
            <a:extLst>
              <a:ext uri="{FF2B5EF4-FFF2-40B4-BE49-F238E27FC236}">
                <a16:creationId xmlns:a16="http://schemas.microsoft.com/office/drawing/2014/main" id="{954EF787-531A-4B61-9D38-AD4DEA49BF14}"/>
              </a:ext>
            </a:extLst>
          </p:cNvPr>
          <p:cNvCxnSpPr>
            <a:cxnSpLocks/>
            <a:stCxn id="107" idx="2"/>
            <a:endCxn id="153" idx="1"/>
          </p:cNvCxnSpPr>
          <p:nvPr/>
        </p:nvCxnSpPr>
        <p:spPr bwMode="gray">
          <a:xfrm flipH="1">
            <a:off x="1339557" y="2986692"/>
            <a:ext cx="582277" cy="5530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59">
            <a:extLst>
              <a:ext uri="{FF2B5EF4-FFF2-40B4-BE49-F238E27FC236}">
                <a16:creationId xmlns:a16="http://schemas.microsoft.com/office/drawing/2014/main" id="{75F9DDB9-E403-45FA-A216-22633DFF627B}"/>
              </a:ext>
            </a:extLst>
          </p:cNvPr>
          <p:cNvCxnSpPr>
            <a:cxnSpLocks/>
            <a:stCxn id="107" idx="2"/>
            <a:endCxn id="154" idx="0"/>
          </p:cNvCxnSpPr>
          <p:nvPr/>
        </p:nvCxnSpPr>
        <p:spPr bwMode="gray">
          <a:xfrm>
            <a:off x="1921834" y="2986692"/>
            <a:ext cx="600144" cy="4595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任意多边形 60">
            <a:extLst>
              <a:ext uri="{FF2B5EF4-FFF2-40B4-BE49-F238E27FC236}">
                <a16:creationId xmlns:a16="http://schemas.microsoft.com/office/drawing/2014/main" id="{71EDC421-48CC-49FC-823B-2C03B463FAA5}"/>
              </a:ext>
            </a:extLst>
          </p:cNvPr>
          <p:cNvSpPr/>
          <p:nvPr/>
        </p:nvSpPr>
        <p:spPr bwMode="gray">
          <a:xfrm>
            <a:off x="1297706" y="2990341"/>
            <a:ext cx="624301" cy="1617785"/>
          </a:xfrm>
          <a:custGeom>
            <a:avLst/>
            <a:gdLst>
              <a:gd name="connsiteX0" fmla="*/ 624301 w 624301"/>
              <a:gd name="connsiteY0" fmla="*/ 0 h 1617785"/>
              <a:gd name="connsiteX1" fmla="*/ 47 w 624301"/>
              <a:gd name="connsiteY1" fmla="*/ 764931 h 1617785"/>
              <a:gd name="connsiteX2" fmla="*/ 597924 w 624301"/>
              <a:gd name="connsiteY2" fmla="*/ 1617785 h 1617785"/>
            </a:gdLst>
            <a:ahLst/>
            <a:cxnLst>
              <a:cxn ang="0">
                <a:pos x="connsiteX0" y="connsiteY0"/>
              </a:cxn>
              <a:cxn ang="0">
                <a:pos x="connsiteX1" y="connsiteY1"/>
              </a:cxn>
              <a:cxn ang="0">
                <a:pos x="connsiteX2" y="connsiteY2"/>
              </a:cxn>
            </a:cxnLst>
            <a:rect l="l" t="t" r="r" b="b"/>
            <a:pathLst>
              <a:path w="624301" h="1617785">
                <a:moveTo>
                  <a:pt x="624301" y="0"/>
                </a:moveTo>
                <a:cubicBezTo>
                  <a:pt x="314372" y="247650"/>
                  <a:pt x="4443" y="495300"/>
                  <a:pt x="47" y="764931"/>
                </a:cubicBezTo>
                <a:cubicBezTo>
                  <a:pt x="-4349" y="1034562"/>
                  <a:pt x="296787" y="1326173"/>
                  <a:pt x="597924" y="1617785"/>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cxnSp>
        <p:nvCxnSpPr>
          <p:cNvPr id="114" name="直接连接符 64">
            <a:extLst>
              <a:ext uri="{FF2B5EF4-FFF2-40B4-BE49-F238E27FC236}">
                <a16:creationId xmlns:a16="http://schemas.microsoft.com/office/drawing/2014/main" id="{7861B8F1-FBD6-4DC5-AAAC-C30F7AF35627}"/>
              </a:ext>
            </a:extLst>
          </p:cNvPr>
          <p:cNvCxnSpPr>
            <a:cxnSpLocks/>
            <a:endCxn id="115" idx="0"/>
          </p:cNvCxnSpPr>
          <p:nvPr/>
        </p:nvCxnSpPr>
        <p:spPr bwMode="gray">
          <a:xfrm>
            <a:off x="3891137" y="4053366"/>
            <a:ext cx="702167" cy="5525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5" name="图片 65">
            <a:extLst>
              <a:ext uri="{FF2B5EF4-FFF2-40B4-BE49-F238E27FC236}">
                <a16:creationId xmlns:a16="http://schemas.microsoft.com/office/drawing/2014/main" id="{3731217E-3B0D-4992-8D5F-B8C042B03C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47849" y="4605960"/>
            <a:ext cx="490909" cy="402545"/>
          </a:xfrm>
          <a:prstGeom prst="rect">
            <a:avLst/>
          </a:prstGeom>
        </p:spPr>
      </p:pic>
      <p:cxnSp>
        <p:nvCxnSpPr>
          <p:cNvPr id="116" name="直接连接符 66">
            <a:extLst>
              <a:ext uri="{FF2B5EF4-FFF2-40B4-BE49-F238E27FC236}">
                <a16:creationId xmlns:a16="http://schemas.microsoft.com/office/drawing/2014/main" id="{432B55D7-31F7-4BCC-B898-E2B2C5306953}"/>
              </a:ext>
            </a:extLst>
          </p:cNvPr>
          <p:cNvCxnSpPr>
            <a:cxnSpLocks/>
            <a:endCxn id="115" idx="0"/>
          </p:cNvCxnSpPr>
          <p:nvPr/>
        </p:nvCxnSpPr>
        <p:spPr bwMode="gray">
          <a:xfrm flipH="1">
            <a:off x="4593304" y="4046187"/>
            <a:ext cx="717099" cy="559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30" name="图片 73">
            <a:extLst>
              <a:ext uri="{FF2B5EF4-FFF2-40B4-BE49-F238E27FC236}">
                <a16:creationId xmlns:a16="http://schemas.microsoft.com/office/drawing/2014/main" id="{46D82A65-5ACB-40BA-A499-4A4BB48785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47849" y="2584147"/>
            <a:ext cx="490909" cy="402545"/>
          </a:xfrm>
          <a:prstGeom prst="rect">
            <a:avLst/>
          </a:prstGeom>
        </p:spPr>
      </p:pic>
      <p:cxnSp>
        <p:nvCxnSpPr>
          <p:cNvPr id="131" name="直接连接符 74">
            <a:extLst>
              <a:ext uri="{FF2B5EF4-FFF2-40B4-BE49-F238E27FC236}">
                <a16:creationId xmlns:a16="http://schemas.microsoft.com/office/drawing/2014/main" id="{7207237B-204B-409A-884B-FA35F2FB7F0E}"/>
              </a:ext>
            </a:extLst>
          </p:cNvPr>
          <p:cNvCxnSpPr>
            <a:cxnSpLocks/>
            <a:stCxn id="130" idx="2"/>
            <a:endCxn id="157" idx="1"/>
          </p:cNvCxnSpPr>
          <p:nvPr/>
        </p:nvCxnSpPr>
        <p:spPr bwMode="gray">
          <a:xfrm flipH="1">
            <a:off x="4026400" y="2986692"/>
            <a:ext cx="566904" cy="5358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75">
            <a:extLst>
              <a:ext uri="{FF2B5EF4-FFF2-40B4-BE49-F238E27FC236}">
                <a16:creationId xmlns:a16="http://schemas.microsoft.com/office/drawing/2014/main" id="{017DA6A6-D12B-4F00-AC37-3C6B965E9A00}"/>
              </a:ext>
            </a:extLst>
          </p:cNvPr>
          <p:cNvCxnSpPr>
            <a:cxnSpLocks/>
            <a:stCxn id="130" idx="2"/>
            <a:endCxn id="158" idx="0"/>
          </p:cNvCxnSpPr>
          <p:nvPr/>
        </p:nvCxnSpPr>
        <p:spPr bwMode="gray">
          <a:xfrm>
            <a:off x="4593304" y="2986692"/>
            <a:ext cx="615517" cy="4423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文本框 76">
            <a:extLst>
              <a:ext uri="{FF2B5EF4-FFF2-40B4-BE49-F238E27FC236}">
                <a16:creationId xmlns:a16="http://schemas.microsoft.com/office/drawing/2014/main" id="{4D5305FA-DF73-46F4-841E-DA43552B5082}"/>
              </a:ext>
            </a:extLst>
          </p:cNvPr>
          <p:cNvSpPr txBox="1"/>
          <p:nvPr/>
        </p:nvSpPr>
        <p:spPr bwMode="gray">
          <a:xfrm>
            <a:off x="1360571" y="1625007"/>
            <a:ext cx="1326776" cy="338554"/>
          </a:xfrm>
          <a:prstGeom prst="rect">
            <a:avLst/>
          </a:prstGeom>
          <a:noFill/>
        </p:spPr>
        <p:txBody>
          <a:bodyPr wrap="square" rtlCol="0">
            <a:spAutoFit/>
          </a:bodyPr>
          <a:lstStyle/>
          <a:p>
            <a:r>
              <a:rPr lang="zh-CN" altLang="en-US" sz="1600" dirty="0">
                <a:solidFill>
                  <a:srgbClr val="000000"/>
                </a:solidFill>
                <a:latin typeface="Huawei Sans" panose="020C0503030203020204" pitchFamily="34" charset="0"/>
                <a:ea typeface="方正兰亭黑简体" panose="02000000000000000000" pitchFamily="2" charset="-122"/>
              </a:rPr>
              <a:t>故障场景</a:t>
            </a:r>
            <a:r>
              <a:rPr lang="en-US" altLang="zh-CN" sz="1600" dirty="0">
                <a:solidFill>
                  <a:srgbClr val="000000"/>
                </a:solidFill>
                <a:latin typeface="Huawei Sans" panose="020C0503030203020204" pitchFamily="34" charset="0"/>
                <a:ea typeface="方正兰亭黑简体" panose="02000000000000000000" pitchFamily="2" charset="-122"/>
              </a:rPr>
              <a:t>A</a:t>
            </a:r>
            <a:endParaRPr lang="zh-CN" altLang="en-US" sz="1600" dirty="0">
              <a:solidFill>
                <a:srgbClr val="000000"/>
              </a:solidFill>
              <a:latin typeface="Huawei Sans" panose="020C0503030203020204" pitchFamily="34" charset="0"/>
              <a:ea typeface="方正兰亭黑简体" panose="02000000000000000000" pitchFamily="2" charset="-122"/>
            </a:endParaRPr>
          </a:p>
        </p:txBody>
      </p:sp>
      <p:sp>
        <p:nvSpPr>
          <p:cNvPr id="137" name="文本框 77">
            <a:extLst>
              <a:ext uri="{FF2B5EF4-FFF2-40B4-BE49-F238E27FC236}">
                <a16:creationId xmlns:a16="http://schemas.microsoft.com/office/drawing/2014/main" id="{0F2181B2-FB2E-44BA-9187-01038D907459}"/>
              </a:ext>
            </a:extLst>
          </p:cNvPr>
          <p:cNvSpPr txBox="1"/>
          <p:nvPr/>
        </p:nvSpPr>
        <p:spPr bwMode="gray">
          <a:xfrm>
            <a:off x="4038609" y="1625007"/>
            <a:ext cx="1326776" cy="338554"/>
          </a:xfrm>
          <a:prstGeom prst="rect">
            <a:avLst/>
          </a:prstGeom>
          <a:noFill/>
        </p:spPr>
        <p:txBody>
          <a:bodyPr wrap="square" rtlCol="0">
            <a:spAutoFit/>
          </a:bodyPr>
          <a:lstStyle/>
          <a:p>
            <a:r>
              <a:rPr lang="zh-CN" altLang="en-US" sz="1600" dirty="0">
                <a:solidFill>
                  <a:srgbClr val="000000"/>
                </a:solidFill>
                <a:latin typeface="Huawei Sans" panose="020C0503030203020204" pitchFamily="34" charset="0"/>
                <a:ea typeface="方正兰亭黑简体" panose="02000000000000000000" pitchFamily="2" charset="-122"/>
              </a:rPr>
              <a:t>故障场景</a:t>
            </a:r>
            <a:r>
              <a:rPr lang="en-US" altLang="zh-CN" sz="1600" dirty="0">
                <a:solidFill>
                  <a:srgbClr val="000000"/>
                </a:solidFill>
                <a:latin typeface="Huawei Sans" panose="020C0503030203020204" pitchFamily="34" charset="0"/>
                <a:ea typeface="方正兰亭黑简体" panose="02000000000000000000" pitchFamily="2" charset="-122"/>
              </a:rPr>
              <a:t>B</a:t>
            </a:r>
            <a:endParaRPr lang="zh-CN" altLang="en-US" sz="1600" dirty="0">
              <a:solidFill>
                <a:srgbClr val="000000"/>
              </a:solidFill>
              <a:latin typeface="Huawei Sans" panose="020C0503030203020204" pitchFamily="34" charset="0"/>
              <a:ea typeface="方正兰亭黑简体" panose="02000000000000000000" pitchFamily="2" charset="-122"/>
            </a:endParaRPr>
          </a:p>
        </p:txBody>
      </p:sp>
      <p:sp>
        <p:nvSpPr>
          <p:cNvPr id="138" name="十字形 78">
            <a:extLst>
              <a:ext uri="{FF2B5EF4-FFF2-40B4-BE49-F238E27FC236}">
                <a16:creationId xmlns:a16="http://schemas.microsoft.com/office/drawing/2014/main" id="{773CF1B4-FFCA-4C9E-9411-406ACF9BBF6D}"/>
              </a:ext>
            </a:extLst>
          </p:cNvPr>
          <p:cNvSpPr/>
          <p:nvPr/>
        </p:nvSpPr>
        <p:spPr bwMode="gray">
          <a:xfrm rot="2785165">
            <a:off x="2128444" y="3095100"/>
            <a:ext cx="345945" cy="345945"/>
          </a:xfrm>
          <a:prstGeom prst="plus">
            <a:avLst>
              <a:gd name="adj" fmla="val 3969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200">
              <a:solidFill>
                <a:prstClr val="white"/>
              </a:solidFill>
              <a:latin typeface="Huawei Sans" panose="020C0503030203020204" pitchFamily="34" charset="0"/>
              <a:ea typeface="方正兰亭黑简体" panose="02000000000000000000" pitchFamily="2" charset="-122"/>
            </a:endParaRPr>
          </a:p>
        </p:txBody>
      </p:sp>
      <p:sp>
        <p:nvSpPr>
          <p:cNvPr id="139" name="十字形 79">
            <a:extLst>
              <a:ext uri="{FF2B5EF4-FFF2-40B4-BE49-F238E27FC236}">
                <a16:creationId xmlns:a16="http://schemas.microsoft.com/office/drawing/2014/main" id="{CE3D8795-9DFC-45AC-888E-3ECC2F568C8F}"/>
              </a:ext>
            </a:extLst>
          </p:cNvPr>
          <p:cNvSpPr/>
          <p:nvPr/>
        </p:nvSpPr>
        <p:spPr bwMode="gray">
          <a:xfrm rot="2785165">
            <a:off x="4821481" y="3095100"/>
            <a:ext cx="345945" cy="345945"/>
          </a:xfrm>
          <a:prstGeom prst="plus">
            <a:avLst>
              <a:gd name="adj" fmla="val 3969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200">
              <a:solidFill>
                <a:prstClr val="white"/>
              </a:solidFill>
              <a:latin typeface="Huawei Sans" panose="020C0503030203020204" pitchFamily="34" charset="0"/>
              <a:ea typeface="方正兰亭黑简体" panose="02000000000000000000" pitchFamily="2" charset="-122"/>
            </a:endParaRPr>
          </a:p>
        </p:txBody>
      </p:sp>
      <p:sp>
        <p:nvSpPr>
          <p:cNvPr id="140" name="十字形 80">
            <a:extLst>
              <a:ext uri="{FF2B5EF4-FFF2-40B4-BE49-F238E27FC236}">
                <a16:creationId xmlns:a16="http://schemas.microsoft.com/office/drawing/2014/main" id="{10018056-8037-4458-BF22-6655379348CB}"/>
              </a:ext>
            </a:extLst>
          </p:cNvPr>
          <p:cNvSpPr/>
          <p:nvPr/>
        </p:nvSpPr>
        <p:spPr bwMode="gray">
          <a:xfrm rot="2785165">
            <a:off x="4086271" y="4142358"/>
            <a:ext cx="345945" cy="345945"/>
          </a:xfrm>
          <a:prstGeom prst="plus">
            <a:avLst>
              <a:gd name="adj" fmla="val 3969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200">
              <a:solidFill>
                <a:prstClr val="white"/>
              </a:solidFill>
              <a:latin typeface="Huawei Sans" panose="020C0503030203020204" pitchFamily="34" charset="0"/>
              <a:ea typeface="方正兰亭黑简体" panose="02000000000000000000" pitchFamily="2" charset="-122"/>
            </a:endParaRPr>
          </a:p>
        </p:txBody>
      </p:sp>
      <p:sp>
        <p:nvSpPr>
          <p:cNvPr id="144" name="任意多边形 81">
            <a:extLst>
              <a:ext uri="{FF2B5EF4-FFF2-40B4-BE49-F238E27FC236}">
                <a16:creationId xmlns:a16="http://schemas.microsoft.com/office/drawing/2014/main" id="{9F4E76D6-5D6D-4F3A-B920-17FE72420249}"/>
              </a:ext>
            </a:extLst>
          </p:cNvPr>
          <p:cNvSpPr/>
          <p:nvPr/>
        </p:nvSpPr>
        <p:spPr bwMode="gray">
          <a:xfrm>
            <a:off x="1555817" y="3010046"/>
            <a:ext cx="888639" cy="1573823"/>
          </a:xfrm>
          <a:custGeom>
            <a:avLst/>
            <a:gdLst>
              <a:gd name="connsiteX0" fmla="*/ 379281 w 888639"/>
              <a:gd name="connsiteY0" fmla="*/ 1573823 h 1573823"/>
              <a:gd name="connsiteX1" fmla="*/ 880443 w 888639"/>
              <a:gd name="connsiteY1" fmla="*/ 984739 h 1573823"/>
              <a:gd name="connsiteX2" fmla="*/ 18797 w 888639"/>
              <a:gd name="connsiteY2" fmla="*/ 720970 h 1573823"/>
              <a:gd name="connsiteX3" fmla="*/ 370489 w 888639"/>
              <a:gd name="connsiteY3" fmla="*/ 0 h 1573823"/>
            </a:gdLst>
            <a:ahLst/>
            <a:cxnLst>
              <a:cxn ang="0">
                <a:pos x="connsiteX0" y="connsiteY0"/>
              </a:cxn>
              <a:cxn ang="0">
                <a:pos x="connsiteX1" y="connsiteY1"/>
              </a:cxn>
              <a:cxn ang="0">
                <a:pos x="connsiteX2" y="connsiteY2"/>
              </a:cxn>
              <a:cxn ang="0">
                <a:pos x="connsiteX3" y="connsiteY3"/>
              </a:cxn>
            </a:cxnLst>
            <a:rect l="l" t="t" r="r" b="b"/>
            <a:pathLst>
              <a:path w="888639" h="1573823">
                <a:moveTo>
                  <a:pt x="379281" y="1573823"/>
                </a:moveTo>
                <a:cubicBezTo>
                  <a:pt x="659902" y="1350352"/>
                  <a:pt x="940524" y="1126881"/>
                  <a:pt x="880443" y="984739"/>
                </a:cubicBezTo>
                <a:cubicBezTo>
                  <a:pt x="820362" y="842597"/>
                  <a:pt x="103789" y="885093"/>
                  <a:pt x="18797" y="720970"/>
                </a:cubicBezTo>
                <a:cubicBezTo>
                  <a:pt x="-66195" y="556847"/>
                  <a:pt x="152147" y="278423"/>
                  <a:pt x="370489" y="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cxnSp>
        <p:nvCxnSpPr>
          <p:cNvPr id="145" name="直接连接符 82">
            <a:extLst>
              <a:ext uri="{FF2B5EF4-FFF2-40B4-BE49-F238E27FC236}">
                <a16:creationId xmlns:a16="http://schemas.microsoft.com/office/drawing/2014/main" id="{4F8612BC-EFA5-410E-AF69-00C684FBC4CE}"/>
              </a:ext>
            </a:extLst>
          </p:cNvPr>
          <p:cNvCxnSpPr>
            <a:cxnSpLocks/>
            <a:stCxn id="158" idx="21"/>
            <a:endCxn id="157" idx="8"/>
          </p:cNvCxnSpPr>
          <p:nvPr/>
        </p:nvCxnSpPr>
        <p:spPr bwMode="gray">
          <a:xfrm flipH="1" flipV="1">
            <a:off x="4537473" y="3857653"/>
            <a:ext cx="208399" cy="4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任意多边形 83">
            <a:extLst>
              <a:ext uri="{FF2B5EF4-FFF2-40B4-BE49-F238E27FC236}">
                <a16:creationId xmlns:a16="http://schemas.microsoft.com/office/drawing/2014/main" id="{ED87A0EA-A170-479B-8356-6E501C75B0D2}"/>
              </a:ext>
            </a:extLst>
          </p:cNvPr>
          <p:cNvSpPr/>
          <p:nvPr/>
        </p:nvSpPr>
        <p:spPr bwMode="gray">
          <a:xfrm>
            <a:off x="4229152" y="2995950"/>
            <a:ext cx="888639" cy="1573823"/>
          </a:xfrm>
          <a:custGeom>
            <a:avLst/>
            <a:gdLst>
              <a:gd name="connsiteX0" fmla="*/ 379281 w 888639"/>
              <a:gd name="connsiteY0" fmla="*/ 1573823 h 1573823"/>
              <a:gd name="connsiteX1" fmla="*/ 880443 w 888639"/>
              <a:gd name="connsiteY1" fmla="*/ 984739 h 1573823"/>
              <a:gd name="connsiteX2" fmla="*/ 18797 w 888639"/>
              <a:gd name="connsiteY2" fmla="*/ 720970 h 1573823"/>
              <a:gd name="connsiteX3" fmla="*/ 370489 w 888639"/>
              <a:gd name="connsiteY3" fmla="*/ 0 h 1573823"/>
            </a:gdLst>
            <a:ahLst/>
            <a:cxnLst>
              <a:cxn ang="0">
                <a:pos x="connsiteX0" y="connsiteY0"/>
              </a:cxn>
              <a:cxn ang="0">
                <a:pos x="connsiteX1" y="connsiteY1"/>
              </a:cxn>
              <a:cxn ang="0">
                <a:pos x="connsiteX2" y="connsiteY2"/>
              </a:cxn>
              <a:cxn ang="0">
                <a:pos x="connsiteX3" y="connsiteY3"/>
              </a:cxn>
            </a:cxnLst>
            <a:rect l="l" t="t" r="r" b="b"/>
            <a:pathLst>
              <a:path w="888639" h="1573823">
                <a:moveTo>
                  <a:pt x="379281" y="1573823"/>
                </a:moveTo>
                <a:cubicBezTo>
                  <a:pt x="659902" y="1350352"/>
                  <a:pt x="940524" y="1126881"/>
                  <a:pt x="880443" y="984739"/>
                </a:cubicBezTo>
                <a:cubicBezTo>
                  <a:pt x="820362" y="842597"/>
                  <a:pt x="103789" y="885093"/>
                  <a:pt x="18797" y="720970"/>
                </a:cubicBezTo>
                <a:cubicBezTo>
                  <a:pt x="-66195" y="556847"/>
                  <a:pt x="152147" y="278423"/>
                  <a:pt x="370489" y="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147" name="圆角矩形 75">
            <a:extLst>
              <a:ext uri="{FF2B5EF4-FFF2-40B4-BE49-F238E27FC236}">
                <a16:creationId xmlns:a16="http://schemas.microsoft.com/office/drawing/2014/main" id="{15C6E31F-A044-41DC-B535-BF3B34593B73}"/>
              </a:ext>
            </a:extLst>
          </p:cNvPr>
          <p:cNvSpPr/>
          <p:nvPr/>
        </p:nvSpPr>
        <p:spPr bwMode="gray">
          <a:xfrm>
            <a:off x="6134977" y="1071565"/>
            <a:ext cx="5387093"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不同</a:t>
            </a:r>
            <a:r>
              <a:rPr lang="en-US" altLang="zh-CN" sz="1600" dirty="0">
                <a:solidFill>
                  <a:srgbClr val="30B5C5"/>
                </a:solidFill>
                <a:latin typeface="Huawei Sans" panose="020C0503030203020204" pitchFamily="34" charset="0"/>
                <a:ea typeface="方正兰亭黑简体" panose="02000000000000000000" pitchFamily="2" charset="-122"/>
              </a:rPr>
              <a:t>RD</a:t>
            </a:r>
            <a:r>
              <a:rPr lang="zh-CN" altLang="en-US" sz="1600" dirty="0">
                <a:solidFill>
                  <a:srgbClr val="30B5C5"/>
                </a:solidFill>
                <a:latin typeface="Huawei Sans" panose="020C0503030203020204" pitchFamily="34" charset="0"/>
                <a:ea typeface="方正兰亭黑简体" panose="02000000000000000000" pitchFamily="2" charset="-122"/>
              </a:rPr>
              <a:t>不同</a:t>
            </a:r>
            <a:r>
              <a:rPr lang="en-US" altLang="zh-CN" sz="1600" dirty="0">
                <a:solidFill>
                  <a:srgbClr val="30B5C5"/>
                </a:solidFill>
                <a:latin typeface="Huawei Sans" panose="020C0503030203020204" pitchFamily="34" charset="0"/>
                <a:ea typeface="方正兰亭黑简体" panose="02000000000000000000" pitchFamily="2" charset="-122"/>
              </a:rPr>
              <a:t>TN</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
        <p:nvSpPr>
          <p:cNvPr id="148" name="圆角矩形 75">
            <a:extLst>
              <a:ext uri="{FF2B5EF4-FFF2-40B4-BE49-F238E27FC236}">
                <a16:creationId xmlns:a16="http://schemas.microsoft.com/office/drawing/2014/main" id="{23755392-DD4A-4B61-A1E5-24CF713793E5}"/>
              </a:ext>
            </a:extLst>
          </p:cNvPr>
          <p:cNvSpPr/>
          <p:nvPr/>
        </p:nvSpPr>
        <p:spPr bwMode="gray">
          <a:xfrm>
            <a:off x="561975" y="1073356"/>
            <a:ext cx="549606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同</a:t>
            </a:r>
            <a:r>
              <a:rPr lang="en-US" altLang="zh-CN" sz="1600" dirty="0">
                <a:solidFill>
                  <a:srgbClr val="30B5C5"/>
                </a:solidFill>
                <a:latin typeface="Huawei Sans" panose="020C0503030203020204" pitchFamily="34" charset="0"/>
                <a:ea typeface="方正兰亭黑简体" panose="02000000000000000000" pitchFamily="2" charset="-122"/>
              </a:rPr>
              <a:t>RD</a:t>
            </a:r>
            <a:r>
              <a:rPr lang="zh-CN" altLang="en-US" sz="1600" dirty="0">
                <a:solidFill>
                  <a:srgbClr val="30B5C5"/>
                </a:solidFill>
                <a:latin typeface="Huawei Sans" panose="020C0503030203020204" pitchFamily="34" charset="0"/>
                <a:ea typeface="方正兰亭黑简体" panose="02000000000000000000" pitchFamily="2" charset="-122"/>
              </a:rPr>
              <a:t>不同</a:t>
            </a:r>
            <a:r>
              <a:rPr lang="en-US" altLang="zh-CN" sz="1600" dirty="0">
                <a:solidFill>
                  <a:srgbClr val="30B5C5"/>
                </a:solidFill>
                <a:latin typeface="Huawei Sans" panose="020C0503030203020204" pitchFamily="34" charset="0"/>
                <a:ea typeface="方正兰亭黑简体" panose="02000000000000000000" pitchFamily="2" charset="-122"/>
              </a:rPr>
              <a:t>TN</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
        <p:nvSpPr>
          <p:cNvPr id="149" name="圆角矩形 75">
            <a:extLst>
              <a:ext uri="{FF2B5EF4-FFF2-40B4-BE49-F238E27FC236}">
                <a16:creationId xmlns:a16="http://schemas.microsoft.com/office/drawing/2014/main" id="{2ED2F027-D176-49ED-B65F-C6827D70153E}"/>
              </a:ext>
            </a:extLst>
          </p:cNvPr>
          <p:cNvSpPr/>
          <p:nvPr/>
        </p:nvSpPr>
        <p:spPr bwMode="gray">
          <a:xfrm>
            <a:off x="6134977" y="1536791"/>
            <a:ext cx="5387093" cy="4632392"/>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r>
              <a:rPr lang="zh-CN" altLang="en-US" sz="1400" dirty="0">
                <a:solidFill>
                  <a:schemeClr val="tx1"/>
                </a:solidFill>
              </a:rPr>
              <a:t>不同</a:t>
            </a:r>
            <a:r>
              <a:rPr lang="en-US" altLang="zh-CN" sz="1400" dirty="0">
                <a:solidFill>
                  <a:schemeClr val="tx1"/>
                </a:solidFill>
              </a:rPr>
              <a:t>TN</a:t>
            </a:r>
            <a:r>
              <a:rPr lang="zh-CN" altLang="en-US" sz="1400" dirty="0">
                <a:solidFill>
                  <a:schemeClr val="tx1"/>
                </a:solidFill>
              </a:rPr>
              <a:t>规划到不同</a:t>
            </a:r>
            <a:r>
              <a:rPr lang="en-US" altLang="zh-CN" sz="1400" dirty="0">
                <a:solidFill>
                  <a:schemeClr val="tx1"/>
                </a:solidFill>
              </a:rPr>
              <a:t>RD</a:t>
            </a:r>
            <a:r>
              <a:rPr lang="zh-CN" altLang="en-US" sz="1400" dirty="0">
                <a:solidFill>
                  <a:schemeClr val="tx1"/>
                </a:solidFill>
              </a:rPr>
              <a:t>：减少了连接数扩大了组网规模，但组网可靠性相对较低。</a:t>
            </a:r>
          </a:p>
        </p:txBody>
      </p:sp>
      <p:sp>
        <p:nvSpPr>
          <p:cNvPr id="150" name="圆角矩形 75">
            <a:extLst>
              <a:ext uri="{FF2B5EF4-FFF2-40B4-BE49-F238E27FC236}">
                <a16:creationId xmlns:a16="http://schemas.microsoft.com/office/drawing/2014/main" id="{C698EBE8-D334-40C3-AE3E-D61F83197941}"/>
              </a:ext>
            </a:extLst>
          </p:cNvPr>
          <p:cNvSpPr/>
          <p:nvPr/>
        </p:nvSpPr>
        <p:spPr bwMode="gray">
          <a:xfrm>
            <a:off x="561975" y="1536791"/>
            <a:ext cx="5496060" cy="4632392"/>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r>
              <a:rPr lang="zh-CN" altLang="en-US" sz="1400" dirty="0">
                <a:solidFill>
                  <a:schemeClr val="tx1"/>
                </a:solidFill>
              </a:rPr>
              <a:t>不同</a:t>
            </a:r>
            <a:r>
              <a:rPr lang="en-US" altLang="zh-CN" sz="1400" dirty="0">
                <a:solidFill>
                  <a:schemeClr val="tx1"/>
                </a:solidFill>
              </a:rPr>
              <a:t>TN</a:t>
            </a:r>
            <a:r>
              <a:rPr lang="zh-CN" altLang="en-US" sz="1400" dirty="0">
                <a:solidFill>
                  <a:schemeClr val="tx1"/>
                </a:solidFill>
              </a:rPr>
              <a:t>规划到同一</a:t>
            </a:r>
            <a:r>
              <a:rPr lang="en-US" altLang="zh-CN" sz="1400" dirty="0">
                <a:solidFill>
                  <a:schemeClr val="tx1"/>
                </a:solidFill>
              </a:rPr>
              <a:t>RD</a:t>
            </a:r>
            <a:r>
              <a:rPr lang="zh-CN" altLang="en-US" sz="1400" dirty="0">
                <a:solidFill>
                  <a:schemeClr val="tx1"/>
                </a:solidFill>
              </a:rPr>
              <a:t>：组网可靠性更高，但对设备的虚拟连接资源消耗较大。</a:t>
            </a:r>
          </a:p>
        </p:txBody>
      </p:sp>
      <p:sp>
        <p:nvSpPr>
          <p:cNvPr id="72"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73"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319988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圆角矩形 75">
            <a:extLst>
              <a:ext uri="{FF2B5EF4-FFF2-40B4-BE49-F238E27FC236}">
                <a16:creationId xmlns:a16="http://schemas.microsoft.com/office/drawing/2014/main" id="{E9835996-6C52-4711-8E8D-BCE52CA33ED6}"/>
              </a:ext>
            </a:extLst>
          </p:cNvPr>
          <p:cNvSpPr/>
          <p:nvPr/>
        </p:nvSpPr>
        <p:spPr bwMode="gray">
          <a:xfrm>
            <a:off x="7776308" y="1485301"/>
            <a:ext cx="3657416" cy="4723006"/>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r>
              <a:rPr lang="zh-CN" altLang="en-US" sz="1400" dirty="0">
                <a:solidFill>
                  <a:prstClr val="black"/>
                </a:solidFill>
                <a:latin typeface="Huawei Sans" panose="020C0503030203020204" pitchFamily="34" charset="0"/>
                <a:ea typeface="方正兰亭黑简体" panose="02000000000000000000" pitchFamily="2" charset="-122"/>
              </a:rPr>
              <a:t>划分多个区域，每个区域布放至少一对</a:t>
            </a:r>
            <a:r>
              <a:rPr lang="en-US" altLang="zh-CN" sz="1400" dirty="0">
                <a:solidFill>
                  <a:prstClr val="black"/>
                </a:solidFill>
                <a:latin typeface="Huawei Sans" panose="020C0503030203020204" pitchFamily="34" charset="0"/>
                <a:ea typeface="方正兰亭黑简体" panose="02000000000000000000" pitchFamily="2" charset="-122"/>
              </a:rPr>
              <a:t>RR</a:t>
            </a:r>
            <a:r>
              <a:rPr lang="zh-CN" altLang="en-US" sz="1400" dirty="0">
                <a:solidFill>
                  <a:prstClr val="black"/>
                </a:solidFill>
                <a:latin typeface="Huawei Sans" panose="020C0503030203020204" pitchFamily="34" charset="0"/>
                <a:ea typeface="方正兰亭黑简体" panose="02000000000000000000" pitchFamily="2" charset="-122"/>
              </a:rPr>
              <a:t>，然后不同区域的</a:t>
            </a:r>
            <a:r>
              <a:rPr lang="en-US" altLang="zh-CN" sz="1400" dirty="0">
                <a:solidFill>
                  <a:prstClr val="black"/>
                </a:solidFill>
                <a:latin typeface="Huawei Sans" panose="020C0503030203020204" pitchFamily="34" charset="0"/>
                <a:ea typeface="方正兰亭黑简体" panose="02000000000000000000" pitchFamily="2" charset="-122"/>
              </a:rPr>
              <a:t>RR</a:t>
            </a:r>
            <a:r>
              <a:rPr lang="zh-CN" altLang="en-US" sz="1400" dirty="0">
                <a:solidFill>
                  <a:prstClr val="black"/>
                </a:solidFill>
                <a:latin typeface="Huawei Sans" panose="020C0503030203020204" pitchFamily="34" charset="0"/>
                <a:ea typeface="方正兰亭黑简体" panose="02000000000000000000" pitchFamily="2" charset="-122"/>
              </a:rPr>
              <a:t>之间彼此建立</a:t>
            </a:r>
            <a:r>
              <a:rPr lang="en-US" altLang="zh-CN" sz="1400" dirty="0">
                <a:solidFill>
                  <a:prstClr val="black"/>
                </a:solidFill>
                <a:latin typeface="Huawei Sans" panose="020C0503030203020204" pitchFamily="34" charset="0"/>
                <a:ea typeface="方正兰亭黑简体" panose="02000000000000000000" pitchFamily="2" charset="-122"/>
              </a:rPr>
              <a:t>BGP EVPN</a:t>
            </a:r>
            <a:r>
              <a:rPr lang="zh-CN" altLang="en-US" sz="1400" dirty="0">
                <a:solidFill>
                  <a:prstClr val="black"/>
                </a:solidFill>
                <a:latin typeface="Huawei Sans" panose="020C0503030203020204" pitchFamily="34" charset="0"/>
                <a:ea typeface="方正兰亭黑简体" panose="02000000000000000000" pitchFamily="2" charset="-122"/>
              </a:rPr>
              <a:t>邻居，互相传播和学习不同区域的</a:t>
            </a:r>
            <a:r>
              <a:rPr lang="en-US" altLang="zh-CN" sz="1400" dirty="0">
                <a:solidFill>
                  <a:prstClr val="black"/>
                </a:solidFill>
                <a:latin typeface="Huawei Sans" panose="020C0503030203020204" pitchFamily="34" charset="0"/>
                <a:ea typeface="方正兰亭黑简体" panose="02000000000000000000" pitchFamily="2" charset="-122"/>
              </a:rPr>
              <a:t>VPN</a:t>
            </a:r>
            <a:r>
              <a:rPr lang="zh-CN" altLang="en-US" sz="1400" dirty="0">
                <a:solidFill>
                  <a:prstClr val="black"/>
                </a:solidFill>
                <a:latin typeface="Huawei Sans" panose="020C0503030203020204" pitchFamily="34" charset="0"/>
                <a:ea typeface="方正兰亭黑简体" panose="02000000000000000000" pitchFamily="2" charset="-122"/>
              </a:rPr>
              <a:t>路由。</a:t>
            </a:r>
          </a:p>
        </p:txBody>
      </p:sp>
      <p:sp>
        <p:nvSpPr>
          <p:cNvPr id="56" name="圆角矩形 75">
            <a:extLst>
              <a:ext uri="{FF2B5EF4-FFF2-40B4-BE49-F238E27FC236}">
                <a16:creationId xmlns:a16="http://schemas.microsoft.com/office/drawing/2014/main" id="{3D94167A-765A-4925-816D-3A154BF95430}"/>
              </a:ext>
            </a:extLst>
          </p:cNvPr>
          <p:cNvSpPr/>
          <p:nvPr/>
        </p:nvSpPr>
        <p:spPr bwMode="gray">
          <a:xfrm>
            <a:off x="613849" y="1484465"/>
            <a:ext cx="3396491" cy="4723006"/>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85750" indent="-285750" algn="just" defTabSz="914112" fontAlgn="ctr">
              <a:lnSpc>
                <a:spcPts val="2599"/>
              </a:lnSpc>
              <a:spcAft>
                <a:spcPts val="600"/>
              </a:spcAft>
              <a:buFont typeface="Arial" panose="020B0604020202020204" pitchFamily="34" charset="0"/>
              <a:buChar char="•"/>
              <a:defRPr/>
            </a:pPr>
            <a:r>
              <a:rPr lang="zh-CN" altLang="en-US" sz="1400" dirty="0">
                <a:solidFill>
                  <a:prstClr val="black"/>
                </a:solidFill>
                <a:latin typeface="Huawei Sans" panose="020C0503030203020204" pitchFamily="34" charset="0"/>
                <a:ea typeface="方正兰亭黑简体" panose="02000000000000000000" pitchFamily="2" charset="-122"/>
              </a:rPr>
              <a:t>作为</a:t>
            </a:r>
            <a:r>
              <a:rPr lang="en-US" altLang="zh-CN" sz="1400" dirty="0">
                <a:solidFill>
                  <a:prstClr val="black"/>
                </a:solidFill>
                <a:latin typeface="Huawei Sans" panose="020C0503030203020204" pitchFamily="34" charset="0"/>
                <a:ea typeface="方正兰亭黑简体" panose="02000000000000000000" pitchFamily="2" charset="-122"/>
              </a:rPr>
              <a:t>RR</a:t>
            </a:r>
            <a:r>
              <a:rPr lang="zh-CN" altLang="en-US" sz="1400" dirty="0">
                <a:solidFill>
                  <a:prstClr val="black"/>
                </a:solidFill>
                <a:latin typeface="Huawei Sans" panose="020C0503030203020204" pitchFamily="34" charset="0"/>
                <a:ea typeface="方正兰亭黑简体" panose="02000000000000000000" pitchFamily="2" charset="-122"/>
              </a:rPr>
              <a:t>的站点既承担控制层面的工作，又负责转发站点的业务流量，承担转发层面的工作。</a:t>
            </a:r>
          </a:p>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baseline="0" noProof="0" dirty="0">
              <a:ln>
                <a:noFill/>
              </a:ln>
              <a:solidFill>
                <a:prstClr val="black"/>
              </a:solidFill>
              <a:effectLst/>
              <a:uLnTx/>
              <a:uFillTx/>
              <a:cs typeface="Huawei Sans" panose="020C0503030203020204" pitchFamily="34" charset="0"/>
            </a:endParaRPr>
          </a:p>
        </p:txBody>
      </p:sp>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en-US" altLang="zh-CN" dirty="0"/>
              <a:t>RR</a:t>
            </a:r>
            <a:r>
              <a:rPr lang="zh-CN" altLang="en-US" dirty="0"/>
              <a:t>部署方式</a:t>
            </a:r>
            <a:endParaRPr lang="en-US" dirty="0"/>
          </a:p>
        </p:txBody>
      </p:sp>
      <p:sp>
        <p:nvSpPr>
          <p:cNvPr id="53" name="圆角矩形 75">
            <a:extLst>
              <a:ext uri="{FF2B5EF4-FFF2-40B4-BE49-F238E27FC236}">
                <a16:creationId xmlns:a16="http://schemas.microsoft.com/office/drawing/2014/main" id="{19D591C8-5610-454B-B156-E40D74A10D35}"/>
              </a:ext>
            </a:extLst>
          </p:cNvPr>
          <p:cNvSpPr/>
          <p:nvPr/>
        </p:nvSpPr>
        <p:spPr bwMode="gray">
          <a:xfrm>
            <a:off x="613849" y="1072518"/>
            <a:ext cx="3396491" cy="373373"/>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方式</a:t>
            </a:r>
            <a:r>
              <a:rPr lang="en-US" altLang="zh-CN" sz="1600" dirty="0">
                <a:solidFill>
                  <a:srgbClr val="30B5C5"/>
                </a:solidFill>
                <a:latin typeface="Huawei Sans" panose="020C0503030203020204" pitchFamily="34" charset="0"/>
                <a:ea typeface="方正兰亭黑简体" panose="02000000000000000000" pitchFamily="2" charset="-122"/>
              </a:rPr>
              <a:t>1</a:t>
            </a:r>
            <a:r>
              <a:rPr lang="zh-CN" altLang="en-US" sz="1600" dirty="0">
                <a:solidFill>
                  <a:srgbClr val="30B5C5"/>
                </a:solidFill>
                <a:latin typeface="Huawei Sans" panose="020C0503030203020204" pitchFamily="34" charset="0"/>
                <a:ea typeface="方正兰亭黑简体" panose="02000000000000000000" pitchFamily="2" charset="-122"/>
              </a:rPr>
              <a:t>：</a:t>
            </a:r>
            <a:r>
              <a:rPr lang="en-US" altLang="zh-CN" sz="1600" dirty="0">
                <a:solidFill>
                  <a:srgbClr val="30B5C5"/>
                </a:solidFill>
                <a:latin typeface="Huawei Sans" panose="020C0503030203020204" pitchFamily="34" charset="0"/>
                <a:ea typeface="方正兰亭黑简体" panose="02000000000000000000" pitchFamily="2" charset="-122"/>
              </a:rPr>
              <a:t>RR</a:t>
            </a:r>
            <a:r>
              <a:rPr lang="zh-CN" altLang="en-US" sz="1600" dirty="0">
                <a:solidFill>
                  <a:srgbClr val="30B5C5"/>
                </a:solidFill>
                <a:latin typeface="Huawei Sans" panose="020C0503030203020204" pitchFamily="34" charset="0"/>
                <a:ea typeface="方正兰亭黑简体" panose="02000000000000000000" pitchFamily="2" charset="-122"/>
              </a:rPr>
              <a:t>与站点共部署</a:t>
            </a:r>
          </a:p>
        </p:txBody>
      </p:sp>
      <p:sp>
        <p:nvSpPr>
          <p:cNvPr id="54" name="圆角矩形 75">
            <a:extLst>
              <a:ext uri="{FF2B5EF4-FFF2-40B4-BE49-F238E27FC236}">
                <a16:creationId xmlns:a16="http://schemas.microsoft.com/office/drawing/2014/main" id="{2D1BF8DE-3CDE-41C1-88AC-56D7D78E2527}"/>
              </a:ext>
            </a:extLst>
          </p:cNvPr>
          <p:cNvSpPr/>
          <p:nvPr/>
        </p:nvSpPr>
        <p:spPr bwMode="gray">
          <a:xfrm>
            <a:off x="4209412" y="1072518"/>
            <a:ext cx="3396491" cy="373373"/>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方式</a:t>
            </a:r>
            <a:r>
              <a:rPr lang="en-US" altLang="zh-CN" sz="1600" dirty="0">
                <a:solidFill>
                  <a:srgbClr val="30B5C5"/>
                </a:solidFill>
                <a:latin typeface="Huawei Sans" panose="020C0503030203020204" pitchFamily="34" charset="0"/>
                <a:ea typeface="方正兰亭黑简体" panose="02000000000000000000" pitchFamily="2" charset="-122"/>
              </a:rPr>
              <a:t>2</a:t>
            </a:r>
            <a:r>
              <a:rPr lang="zh-CN" altLang="en-US" sz="1600" dirty="0">
                <a:solidFill>
                  <a:srgbClr val="30B5C5"/>
                </a:solidFill>
                <a:latin typeface="Huawei Sans" panose="020C0503030203020204" pitchFamily="34" charset="0"/>
                <a:ea typeface="方正兰亭黑简体" panose="02000000000000000000" pitchFamily="2" charset="-122"/>
              </a:rPr>
              <a:t>：</a:t>
            </a:r>
            <a:r>
              <a:rPr lang="en-US" altLang="zh-CN" sz="1600" dirty="0">
                <a:solidFill>
                  <a:srgbClr val="30B5C5"/>
                </a:solidFill>
                <a:latin typeface="Huawei Sans" panose="020C0503030203020204" pitchFamily="34" charset="0"/>
                <a:ea typeface="方正兰亭黑简体" panose="02000000000000000000" pitchFamily="2" charset="-122"/>
              </a:rPr>
              <a:t>RR</a:t>
            </a:r>
            <a:r>
              <a:rPr lang="zh-CN" altLang="en-US" sz="1600" dirty="0">
                <a:solidFill>
                  <a:srgbClr val="30B5C5"/>
                </a:solidFill>
                <a:latin typeface="Huawei Sans" panose="020C0503030203020204" pitchFamily="34" charset="0"/>
                <a:ea typeface="方正兰亭黑简体" panose="02000000000000000000" pitchFamily="2" charset="-122"/>
              </a:rPr>
              <a:t>独立部署</a:t>
            </a:r>
          </a:p>
        </p:txBody>
      </p:sp>
      <p:sp>
        <p:nvSpPr>
          <p:cNvPr id="55" name="圆角矩形 75">
            <a:extLst>
              <a:ext uri="{FF2B5EF4-FFF2-40B4-BE49-F238E27FC236}">
                <a16:creationId xmlns:a16="http://schemas.microsoft.com/office/drawing/2014/main" id="{D337B89A-59CE-414B-B695-1CB5EF6F57FA}"/>
              </a:ext>
            </a:extLst>
          </p:cNvPr>
          <p:cNvSpPr/>
          <p:nvPr/>
        </p:nvSpPr>
        <p:spPr bwMode="gray">
          <a:xfrm>
            <a:off x="7776308" y="1073354"/>
            <a:ext cx="3657416" cy="373373"/>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方式</a:t>
            </a:r>
            <a:r>
              <a:rPr lang="en-US" altLang="zh-CN" sz="1600" dirty="0">
                <a:solidFill>
                  <a:srgbClr val="30B5C5"/>
                </a:solidFill>
                <a:latin typeface="Huawei Sans" panose="020C0503030203020204" pitchFamily="34" charset="0"/>
                <a:ea typeface="方正兰亭黑简体" panose="02000000000000000000" pitchFamily="2" charset="-122"/>
              </a:rPr>
              <a:t>3</a:t>
            </a:r>
            <a:r>
              <a:rPr lang="zh-CN" altLang="en-US" sz="1600" dirty="0">
                <a:solidFill>
                  <a:srgbClr val="30B5C5"/>
                </a:solidFill>
                <a:latin typeface="Huawei Sans" panose="020C0503030203020204" pitchFamily="34" charset="0"/>
                <a:ea typeface="方正兰亭黑简体" panose="02000000000000000000" pitchFamily="2" charset="-122"/>
              </a:rPr>
              <a:t>：</a:t>
            </a:r>
            <a:r>
              <a:rPr lang="en-US" altLang="zh-CN" sz="1600" dirty="0">
                <a:solidFill>
                  <a:srgbClr val="30B5C5"/>
                </a:solidFill>
                <a:latin typeface="Huawei Sans" panose="020C0503030203020204" pitchFamily="34" charset="0"/>
                <a:ea typeface="方正兰亭黑简体" panose="02000000000000000000" pitchFamily="2" charset="-122"/>
              </a:rPr>
              <a:t>RR</a:t>
            </a:r>
            <a:r>
              <a:rPr lang="zh-CN" altLang="en-US" sz="1600" dirty="0">
                <a:solidFill>
                  <a:srgbClr val="30B5C5"/>
                </a:solidFill>
                <a:latin typeface="Huawei Sans" panose="020C0503030203020204" pitchFamily="34" charset="0"/>
                <a:ea typeface="方正兰亭黑简体" panose="02000000000000000000" pitchFamily="2" charset="-122"/>
              </a:rPr>
              <a:t>多区域部署</a:t>
            </a:r>
          </a:p>
        </p:txBody>
      </p:sp>
      <p:sp>
        <p:nvSpPr>
          <p:cNvPr id="57" name="圆角矩形 75">
            <a:extLst>
              <a:ext uri="{FF2B5EF4-FFF2-40B4-BE49-F238E27FC236}">
                <a16:creationId xmlns:a16="http://schemas.microsoft.com/office/drawing/2014/main" id="{3A41C65F-C6FD-4697-90C7-A72137EE0B68}"/>
              </a:ext>
            </a:extLst>
          </p:cNvPr>
          <p:cNvSpPr/>
          <p:nvPr/>
        </p:nvSpPr>
        <p:spPr bwMode="gray">
          <a:xfrm>
            <a:off x="4209412" y="1484465"/>
            <a:ext cx="3396491" cy="4723006"/>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t" anchorCtr="0">
            <a:noAutofit/>
          </a:bodyPr>
          <a:lstStyle/>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gn="just" defTabSz="914112" fontAlgn="ctr">
              <a:lnSpc>
                <a:spcPts val="2599"/>
              </a:lnSpc>
              <a:spcAft>
                <a:spcPts val="600"/>
              </a:spcAft>
              <a:buFont typeface="Arial" panose="020B0604020202020204" pitchFamily="34" charset="0"/>
              <a:buChar char="•"/>
              <a:defRPr/>
            </a:pPr>
            <a:r>
              <a:rPr lang="zh-CN" altLang="en-US" sz="1400" dirty="0">
                <a:solidFill>
                  <a:prstClr val="black"/>
                </a:solidFill>
                <a:latin typeface="Huawei Sans" panose="020C0503030203020204" pitchFamily="34" charset="0"/>
                <a:ea typeface="方正兰亭黑简体" panose="02000000000000000000" pitchFamily="2" charset="-122"/>
              </a:rPr>
              <a:t>作为</a:t>
            </a:r>
            <a:r>
              <a:rPr lang="en-US" altLang="zh-CN" sz="1400" dirty="0">
                <a:solidFill>
                  <a:prstClr val="black"/>
                </a:solidFill>
                <a:latin typeface="Huawei Sans" panose="020C0503030203020204" pitchFamily="34" charset="0"/>
                <a:ea typeface="方正兰亭黑简体" panose="02000000000000000000" pitchFamily="2" charset="-122"/>
              </a:rPr>
              <a:t>RR</a:t>
            </a:r>
            <a:r>
              <a:rPr lang="zh-CN" altLang="en-US" sz="1400" dirty="0">
                <a:solidFill>
                  <a:prstClr val="black"/>
                </a:solidFill>
                <a:latin typeface="Huawei Sans" panose="020C0503030203020204" pitchFamily="34" charset="0"/>
                <a:ea typeface="方正兰亭黑简体" panose="02000000000000000000" pitchFamily="2" charset="-122"/>
              </a:rPr>
              <a:t>的站点没有</a:t>
            </a:r>
            <a:r>
              <a:rPr lang="en-US" altLang="zh-CN" sz="1400" dirty="0">
                <a:solidFill>
                  <a:prstClr val="black"/>
                </a:solidFill>
                <a:latin typeface="Huawei Sans" panose="020C0503030203020204" pitchFamily="34" charset="0"/>
                <a:ea typeface="方正兰亭黑简体" panose="02000000000000000000" pitchFamily="2" charset="-122"/>
              </a:rPr>
              <a:t>LAN</a:t>
            </a:r>
            <a:r>
              <a:rPr lang="zh-CN" altLang="en-US" sz="1400" dirty="0">
                <a:solidFill>
                  <a:prstClr val="black"/>
                </a:solidFill>
                <a:latin typeface="Huawei Sans" panose="020C0503030203020204" pitchFamily="34" charset="0"/>
                <a:ea typeface="方正兰亭黑简体" panose="02000000000000000000" pitchFamily="2" charset="-122"/>
              </a:rPr>
              <a:t>侧网络，也不作为其他站点互访的</a:t>
            </a:r>
            <a:r>
              <a:rPr lang="en-US" altLang="zh-CN" sz="1400" dirty="0">
                <a:solidFill>
                  <a:prstClr val="black"/>
                </a:solidFill>
                <a:latin typeface="Huawei Sans" panose="020C0503030203020204" pitchFamily="34" charset="0"/>
                <a:ea typeface="方正兰亭黑简体" panose="02000000000000000000" pitchFamily="2" charset="-122"/>
              </a:rPr>
              <a:t>Hub</a:t>
            </a:r>
            <a:r>
              <a:rPr lang="zh-CN" altLang="en-US" sz="1400" dirty="0">
                <a:solidFill>
                  <a:prstClr val="black"/>
                </a:solidFill>
                <a:latin typeface="Huawei Sans" panose="020C0503030203020204" pitchFamily="34" charset="0"/>
                <a:ea typeface="方正兰亭黑简体" panose="02000000000000000000" pitchFamily="2" charset="-122"/>
              </a:rPr>
              <a:t>点。</a:t>
            </a:r>
            <a:r>
              <a:rPr lang="en-US" altLang="zh-CN" sz="1400" dirty="0">
                <a:solidFill>
                  <a:prstClr val="black"/>
                </a:solidFill>
                <a:latin typeface="Huawei Sans" panose="020C0503030203020204" pitchFamily="34" charset="0"/>
                <a:ea typeface="方正兰亭黑简体" panose="02000000000000000000" pitchFamily="2" charset="-122"/>
              </a:rPr>
              <a:t>RR</a:t>
            </a:r>
            <a:r>
              <a:rPr lang="zh-CN" altLang="en-US" sz="1400" dirty="0">
                <a:solidFill>
                  <a:prstClr val="black"/>
                </a:solidFill>
                <a:latin typeface="Huawei Sans" panose="020C0503030203020204" pitchFamily="34" charset="0"/>
                <a:ea typeface="方正兰亭黑简体" panose="02000000000000000000" pitchFamily="2" charset="-122"/>
              </a:rPr>
              <a:t>不跑业务数据，只承担控制层面的工作。</a:t>
            </a:r>
          </a:p>
        </p:txBody>
      </p:sp>
      <p:grpSp>
        <p:nvGrpSpPr>
          <p:cNvPr id="21" name="Group 20">
            <a:extLst>
              <a:ext uri="{FF2B5EF4-FFF2-40B4-BE49-F238E27FC236}">
                <a16:creationId xmlns:a16="http://schemas.microsoft.com/office/drawing/2014/main" id="{BD67C8E4-C0FD-4A37-9918-1362C0BE99D2}"/>
              </a:ext>
            </a:extLst>
          </p:cNvPr>
          <p:cNvGrpSpPr/>
          <p:nvPr/>
        </p:nvGrpSpPr>
        <p:grpSpPr bwMode="gray">
          <a:xfrm>
            <a:off x="650092" y="1648133"/>
            <a:ext cx="3120418" cy="3060687"/>
            <a:chOff x="650092" y="1771947"/>
            <a:chExt cx="3120418" cy="3060687"/>
          </a:xfrm>
        </p:grpSpPr>
        <p:sp>
          <p:nvSpPr>
            <p:cNvPr id="213" name="Freeform 159">
              <a:extLst>
                <a:ext uri="{FF2B5EF4-FFF2-40B4-BE49-F238E27FC236}">
                  <a16:creationId xmlns:a16="http://schemas.microsoft.com/office/drawing/2014/main" id="{F9EA2F9C-6646-4D58-BC93-A7081829B73C}"/>
                </a:ext>
              </a:extLst>
            </p:cNvPr>
            <p:cNvSpPr/>
            <p:nvPr/>
          </p:nvSpPr>
          <p:spPr bwMode="gray">
            <a:xfrm flipH="1">
              <a:off x="1005105" y="4323987"/>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分支一</a:t>
              </a:r>
              <a:endParaRPr lang="en-US" sz="1400" dirty="0">
                <a:solidFill>
                  <a:schemeClr val="tx1"/>
                </a:solidFill>
              </a:endParaRPr>
            </a:p>
          </p:txBody>
        </p:sp>
        <p:sp>
          <p:nvSpPr>
            <p:cNvPr id="214" name="Freeform 159">
              <a:extLst>
                <a:ext uri="{FF2B5EF4-FFF2-40B4-BE49-F238E27FC236}">
                  <a16:creationId xmlns:a16="http://schemas.microsoft.com/office/drawing/2014/main" id="{5AC76F47-FC06-4BB3-A2C7-715B50823187}"/>
                </a:ext>
              </a:extLst>
            </p:cNvPr>
            <p:cNvSpPr/>
            <p:nvPr/>
          </p:nvSpPr>
          <p:spPr bwMode="gray">
            <a:xfrm flipH="1">
              <a:off x="2682266" y="4320835"/>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分支二</a:t>
              </a:r>
              <a:endParaRPr lang="en-US" sz="1400" dirty="0">
                <a:solidFill>
                  <a:schemeClr val="tx1"/>
                </a:solidFill>
              </a:endParaRPr>
            </a:p>
          </p:txBody>
        </p:sp>
        <p:sp>
          <p:nvSpPr>
            <p:cNvPr id="212" name="Freeform 159">
              <a:extLst>
                <a:ext uri="{FF2B5EF4-FFF2-40B4-BE49-F238E27FC236}">
                  <a16:creationId xmlns:a16="http://schemas.microsoft.com/office/drawing/2014/main" id="{1958EF5A-FA1C-4CD4-A2F3-060129BF0CE0}"/>
                </a:ext>
              </a:extLst>
            </p:cNvPr>
            <p:cNvSpPr/>
            <p:nvPr/>
          </p:nvSpPr>
          <p:spPr bwMode="gray">
            <a:xfrm flipH="1">
              <a:off x="1872365" y="1771947"/>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HQ/DC</a:t>
              </a:r>
              <a:endParaRPr lang="en-US" sz="1400" dirty="0">
                <a:solidFill>
                  <a:schemeClr val="tx1"/>
                </a:solidFill>
              </a:endParaRPr>
            </a:p>
          </p:txBody>
        </p:sp>
        <p:cxnSp>
          <p:nvCxnSpPr>
            <p:cNvPr id="66" name="直接连接符 78">
              <a:extLst>
                <a:ext uri="{FF2B5EF4-FFF2-40B4-BE49-F238E27FC236}">
                  <a16:creationId xmlns:a16="http://schemas.microsoft.com/office/drawing/2014/main" id="{52D6B7B6-84CE-4991-B249-8D49DC125594}"/>
                </a:ext>
              </a:extLst>
            </p:cNvPr>
            <p:cNvCxnSpPr>
              <a:stCxn id="95" idx="3"/>
              <a:endCxn id="98" idx="1"/>
            </p:cNvCxnSpPr>
            <p:nvPr/>
          </p:nvCxnSpPr>
          <p:spPr bwMode="gray">
            <a:xfrm flipV="1">
              <a:off x="3136724" y="4228735"/>
              <a:ext cx="115777" cy="89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8" name="图片 87">
              <a:extLst>
                <a:ext uri="{FF2B5EF4-FFF2-40B4-BE49-F238E27FC236}">
                  <a16:creationId xmlns:a16="http://schemas.microsoft.com/office/drawing/2014/main" id="{D18DEE9E-8636-4EA9-8FCB-6210A96EA34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264753" y="4037130"/>
              <a:ext cx="466668" cy="385001"/>
            </a:xfrm>
            <a:prstGeom prst="rect">
              <a:avLst/>
            </a:prstGeom>
          </p:spPr>
        </p:pic>
        <p:sp>
          <p:nvSpPr>
            <p:cNvPr id="89" name="文本框 88">
              <a:extLst>
                <a:ext uri="{FF2B5EF4-FFF2-40B4-BE49-F238E27FC236}">
                  <a16:creationId xmlns:a16="http://schemas.microsoft.com/office/drawing/2014/main" id="{8CE57E8B-7F92-4BA2-B93B-4A6C139DFCC2}"/>
                </a:ext>
              </a:extLst>
            </p:cNvPr>
            <p:cNvSpPr txBox="1"/>
            <p:nvPr/>
          </p:nvSpPr>
          <p:spPr bwMode="gray">
            <a:xfrm>
              <a:off x="650092" y="4093743"/>
              <a:ext cx="677575"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cxnSp>
          <p:nvCxnSpPr>
            <p:cNvPr id="91" name="直接连接符 90">
              <a:extLst>
                <a:ext uri="{FF2B5EF4-FFF2-40B4-BE49-F238E27FC236}">
                  <a16:creationId xmlns:a16="http://schemas.microsoft.com/office/drawing/2014/main" id="{7064F321-8A78-48E2-974B-95737DDF354A}"/>
                </a:ext>
              </a:extLst>
            </p:cNvPr>
            <p:cNvCxnSpPr>
              <a:cxnSpLocks/>
              <a:stCxn id="88" idx="0"/>
            </p:cNvCxnSpPr>
            <p:nvPr/>
          </p:nvCxnSpPr>
          <p:spPr bwMode="gray">
            <a:xfrm flipV="1">
              <a:off x="1498087" y="3547820"/>
              <a:ext cx="1431346" cy="48715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连接符 91">
              <a:extLst>
                <a:ext uri="{FF2B5EF4-FFF2-40B4-BE49-F238E27FC236}">
                  <a16:creationId xmlns:a16="http://schemas.microsoft.com/office/drawing/2014/main" id="{C20F518B-BDC2-42D6-BBD7-05CDE2392C41}"/>
                </a:ext>
              </a:extLst>
            </p:cNvPr>
            <p:cNvCxnSpPr>
              <a:cxnSpLocks/>
              <a:stCxn id="106" idx="2"/>
              <a:endCxn id="211" idx="2"/>
            </p:cNvCxnSpPr>
            <p:nvPr/>
          </p:nvCxnSpPr>
          <p:spPr bwMode="gray">
            <a:xfrm>
              <a:off x="2660131" y="2544793"/>
              <a:ext cx="345781" cy="63368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92">
              <a:extLst>
                <a:ext uri="{FF2B5EF4-FFF2-40B4-BE49-F238E27FC236}">
                  <a16:creationId xmlns:a16="http://schemas.microsoft.com/office/drawing/2014/main" id="{92484BD3-96C2-41E8-8CFC-CF48CEEDDEC9}"/>
                </a:ext>
              </a:extLst>
            </p:cNvPr>
            <p:cNvCxnSpPr>
              <a:cxnSpLocks/>
              <a:stCxn id="88" idx="0"/>
            </p:cNvCxnSpPr>
            <p:nvPr/>
          </p:nvCxnSpPr>
          <p:spPr bwMode="gray">
            <a:xfrm flipV="1">
              <a:off x="1498087" y="3561013"/>
              <a:ext cx="334664"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5" name="图片 94">
              <a:extLst>
                <a:ext uri="{FF2B5EF4-FFF2-40B4-BE49-F238E27FC236}">
                  <a16:creationId xmlns:a16="http://schemas.microsoft.com/office/drawing/2014/main" id="{EF3F71A5-E83F-4716-A81D-C41B1444083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670056" y="4037130"/>
              <a:ext cx="466668" cy="385001"/>
            </a:xfrm>
            <a:prstGeom prst="rect">
              <a:avLst/>
            </a:prstGeom>
          </p:spPr>
        </p:pic>
        <p:sp>
          <p:nvSpPr>
            <p:cNvPr id="96" name="文本框 95">
              <a:extLst>
                <a:ext uri="{FF2B5EF4-FFF2-40B4-BE49-F238E27FC236}">
                  <a16:creationId xmlns:a16="http://schemas.microsoft.com/office/drawing/2014/main" id="{CF1B538D-C007-4FC0-B637-57866C3A3169}"/>
                </a:ext>
              </a:extLst>
            </p:cNvPr>
            <p:cNvSpPr txBox="1"/>
            <p:nvPr/>
          </p:nvSpPr>
          <p:spPr bwMode="gray">
            <a:xfrm>
              <a:off x="2062062" y="4072935"/>
              <a:ext cx="680092"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pic>
          <p:nvPicPr>
            <p:cNvPr id="98" name="图片 97">
              <a:extLst>
                <a:ext uri="{FF2B5EF4-FFF2-40B4-BE49-F238E27FC236}">
                  <a16:creationId xmlns:a16="http://schemas.microsoft.com/office/drawing/2014/main" id="{3AEEABB0-1798-4584-B49A-9A6352619D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252501" y="4036234"/>
              <a:ext cx="466668" cy="385001"/>
            </a:xfrm>
            <a:prstGeom prst="rect">
              <a:avLst/>
            </a:prstGeom>
          </p:spPr>
        </p:pic>
        <p:cxnSp>
          <p:nvCxnSpPr>
            <p:cNvPr id="99" name="直接连接符 98">
              <a:extLst>
                <a:ext uri="{FF2B5EF4-FFF2-40B4-BE49-F238E27FC236}">
                  <a16:creationId xmlns:a16="http://schemas.microsoft.com/office/drawing/2014/main" id="{873117D9-3C77-4269-BE2D-12382DBE9AD2}"/>
                </a:ext>
              </a:extLst>
            </p:cNvPr>
            <p:cNvCxnSpPr>
              <a:cxnSpLocks/>
              <a:stCxn id="95" idx="0"/>
            </p:cNvCxnSpPr>
            <p:nvPr/>
          </p:nvCxnSpPr>
          <p:spPr bwMode="gray">
            <a:xfrm flipH="1" flipV="1">
              <a:off x="1796201" y="3561013"/>
              <a:ext cx="1107189"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接连接符 99">
              <a:extLst>
                <a:ext uri="{FF2B5EF4-FFF2-40B4-BE49-F238E27FC236}">
                  <a16:creationId xmlns:a16="http://schemas.microsoft.com/office/drawing/2014/main" id="{BADCDE77-2A6E-4638-B65E-2BC8996E285B}"/>
                </a:ext>
              </a:extLst>
            </p:cNvPr>
            <p:cNvCxnSpPr>
              <a:cxnSpLocks/>
              <a:stCxn id="98" idx="0"/>
            </p:cNvCxnSpPr>
            <p:nvPr/>
          </p:nvCxnSpPr>
          <p:spPr bwMode="gray">
            <a:xfrm flipH="1" flipV="1">
              <a:off x="2929433" y="3547820"/>
              <a:ext cx="556402" cy="48626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连接符 100">
              <a:extLst>
                <a:ext uri="{FF2B5EF4-FFF2-40B4-BE49-F238E27FC236}">
                  <a16:creationId xmlns:a16="http://schemas.microsoft.com/office/drawing/2014/main" id="{8F46D1AE-EE4E-4375-BBA3-02B187236F06}"/>
                </a:ext>
              </a:extLst>
            </p:cNvPr>
            <p:cNvCxnSpPr>
              <a:stCxn id="103" idx="3"/>
              <a:endCxn id="106" idx="1"/>
            </p:cNvCxnSpPr>
            <p:nvPr/>
          </p:nvCxnSpPr>
          <p:spPr bwMode="gray">
            <a:xfrm flipV="1">
              <a:off x="2262710" y="2350139"/>
              <a:ext cx="164087" cy="89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3" name="图片 102">
              <a:extLst>
                <a:ext uri="{FF2B5EF4-FFF2-40B4-BE49-F238E27FC236}">
                  <a16:creationId xmlns:a16="http://schemas.microsoft.com/office/drawing/2014/main" id="{9B87A9DF-AB08-4739-A874-0E0605970B6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796042" y="2158534"/>
              <a:ext cx="466668" cy="385001"/>
            </a:xfrm>
            <a:prstGeom prst="rect">
              <a:avLst/>
            </a:prstGeom>
          </p:spPr>
        </p:pic>
        <p:sp>
          <p:nvSpPr>
            <p:cNvPr id="104" name="文本框 103">
              <a:extLst>
                <a:ext uri="{FF2B5EF4-FFF2-40B4-BE49-F238E27FC236}">
                  <a16:creationId xmlns:a16="http://schemas.microsoft.com/office/drawing/2014/main" id="{EBD6050D-F89B-4D56-8A28-8B52AF43F335}"/>
                </a:ext>
              </a:extLst>
            </p:cNvPr>
            <p:cNvSpPr txBox="1"/>
            <p:nvPr/>
          </p:nvSpPr>
          <p:spPr bwMode="gray">
            <a:xfrm>
              <a:off x="2849379" y="2174565"/>
              <a:ext cx="921131" cy="307777"/>
            </a:xfrm>
            <a:prstGeom prst="rect">
              <a:avLst/>
            </a:prstGeom>
            <a:noFill/>
          </p:spPr>
          <p:txBody>
            <a:bodyPr wrap="square" rtlCol="0">
              <a:spAutoFit/>
            </a:bodyPr>
            <a:lstStyle/>
            <a:p>
              <a:pPr algn="ctr"/>
              <a:r>
                <a:rPr lang="en-US" altLang="zh-CN" sz="1400" dirty="0">
                  <a:solidFill>
                    <a:srgbClr val="000000"/>
                  </a:solidFill>
                </a:rPr>
                <a:t>EDGE(RR)</a:t>
              </a:r>
              <a:endParaRPr lang="zh-CN" altLang="en-US" sz="1400" dirty="0">
                <a:solidFill>
                  <a:srgbClr val="000000"/>
                </a:solidFill>
              </a:endParaRPr>
            </a:p>
          </p:txBody>
        </p:sp>
        <p:pic>
          <p:nvPicPr>
            <p:cNvPr id="106" name="图片 105">
              <a:extLst>
                <a:ext uri="{FF2B5EF4-FFF2-40B4-BE49-F238E27FC236}">
                  <a16:creationId xmlns:a16="http://schemas.microsoft.com/office/drawing/2014/main" id="{F757BB48-B5F8-4AB9-A5AD-0AD28E59D28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426797" y="2157638"/>
              <a:ext cx="466668" cy="385001"/>
            </a:xfrm>
            <a:prstGeom prst="rect">
              <a:avLst/>
            </a:prstGeom>
          </p:spPr>
        </p:pic>
        <p:cxnSp>
          <p:nvCxnSpPr>
            <p:cNvPr id="107" name="直接连接符 106">
              <a:extLst>
                <a:ext uri="{FF2B5EF4-FFF2-40B4-BE49-F238E27FC236}">
                  <a16:creationId xmlns:a16="http://schemas.microsoft.com/office/drawing/2014/main" id="{3C99D3A9-8148-457E-B4FC-66B25563B898}"/>
                </a:ext>
              </a:extLst>
            </p:cNvPr>
            <p:cNvCxnSpPr>
              <a:cxnSpLocks/>
              <a:stCxn id="103" idx="2"/>
              <a:endCxn id="210" idx="0"/>
            </p:cNvCxnSpPr>
            <p:nvPr/>
          </p:nvCxnSpPr>
          <p:spPr bwMode="gray">
            <a:xfrm flipH="1">
              <a:off x="1780414" y="2545689"/>
              <a:ext cx="248962" cy="569869"/>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0" name="Freeform 159">
              <a:extLst>
                <a:ext uri="{FF2B5EF4-FFF2-40B4-BE49-F238E27FC236}">
                  <a16:creationId xmlns:a16="http://schemas.microsoft.com/office/drawing/2014/main" id="{25F85A47-FF65-434C-B4A1-6ECB939A315E}"/>
                </a:ext>
              </a:extLst>
            </p:cNvPr>
            <p:cNvSpPr/>
            <p:nvPr/>
          </p:nvSpPr>
          <p:spPr bwMode="gray">
            <a:xfrm flipH="1">
              <a:off x="1446279" y="3115558"/>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211" name="Freeform 159">
              <a:extLst>
                <a:ext uri="{FF2B5EF4-FFF2-40B4-BE49-F238E27FC236}">
                  <a16:creationId xmlns:a16="http://schemas.microsoft.com/office/drawing/2014/main" id="{A1268B32-712D-422D-BF03-64F612EAD46F}"/>
                </a:ext>
              </a:extLst>
            </p:cNvPr>
            <p:cNvSpPr/>
            <p:nvPr/>
          </p:nvSpPr>
          <p:spPr bwMode="gray">
            <a:xfrm flipH="1">
              <a:off x="2511339" y="3102365"/>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grpSp>
      <p:grpSp>
        <p:nvGrpSpPr>
          <p:cNvPr id="26" name="Group 25">
            <a:extLst>
              <a:ext uri="{FF2B5EF4-FFF2-40B4-BE49-F238E27FC236}">
                <a16:creationId xmlns:a16="http://schemas.microsoft.com/office/drawing/2014/main" id="{216ADFB5-F846-48B3-9A5F-B219B6D86A91}"/>
              </a:ext>
            </a:extLst>
          </p:cNvPr>
          <p:cNvGrpSpPr/>
          <p:nvPr/>
        </p:nvGrpSpPr>
        <p:grpSpPr bwMode="gray">
          <a:xfrm>
            <a:off x="4122406" y="1636316"/>
            <a:ext cx="3540720" cy="3072504"/>
            <a:chOff x="4222048" y="1636316"/>
            <a:chExt cx="3540720" cy="3072504"/>
          </a:xfrm>
        </p:grpSpPr>
        <p:sp>
          <p:nvSpPr>
            <p:cNvPr id="244" name="Freeform 159">
              <a:extLst>
                <a:ext uri="{FF2B5EF4-FFF2-40B4-BE49-F238E27FC236}">
                  <a16:creationId xmlns:a16="http://schemas.microsoft.com/office/drawing/2014/main" id="{825A3A70-A60C-477C-B9CC-8B60AD4E130E}"/>
                </a:ext>
              </a:extLst>
            </p:cNvPr>
            <p:cNvSpPr/>
            <p:nvPr/>
          </p:nvSpPr>
          <p:spPr bwMode="gray">
            <a:xfrm flipH="1">
              <a:off x="4709631" y="1636316"/>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RR</a:t>
              </a:r>
              <a:r>
                <a:rPr lang="zh-CN" altLang="en-US" sz="1400" dirty="0">
                  <a:solidFill>
                    <a:schemeClr val="tx1"/>
                  </a:solidFill>
                </a:rPr>
                <a:t>站点</a:t>
              </a:r>
              <a:endParaRPr lang="en-US" sz="1400" dirty="0">
                <a:solidFill>
                  <a:schemeClr val="tx1"/>
                </a:solidFill>
              </a:endParaRPr>
            </a:p>
          </p:txBody>
        </p:sp>
        <p:sp>
          <p:nvSpPr>
            <p:cNvPr id="216" name="Freeform 159">
              <a:extLst>
                <a:ext uri="{FF2B5EF4-FFF2-40B4-BE49-F238E27FC236}">
                  <a16:creationId xmlns:a16="http://schemas.microsoft.com/office/drawing/2014/main" id="{0FA91FA2-3C11-4889-860F-DA07DBE399FE}"/>
                </a:ext>
              </a:extLst>
            </p:cNvPr>
            <p:cNvSpPr/>
            <p:nvPr/>
          </p:nvSpPr>
          <p:spPr bwMode="gray">
            <a:xfrm flipH="1">
              <a:off x="4557384" y="4200173"/>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分支一</a:t>
              </a:r>
              <a:endParaRPr lang="en-US" sz="1400" dirty="0">
                <a:solidFill>
                  <a:schemeClr val="tx1"/>
                </a:solidFill>
              </a:endParaRPr>
            </a:p>
          </p:txBody>
        </p:sp>
        <p:sp>
          <p:nvSpPr>
            <p:cNvPr id="217" name="Freeform 159">
              <a:extLst>
                <a:ext uri="{FF2B5EF4-FFF2-40B4-BE49-F238E27FC236}">
                  <a16:creationId xmlns:a16="http://schemas.microsoft.com/office/drawing/2014/main" id="{1914450B-8E47-4990-A8E7-5869D87F9241}"/>
                </a:ext>
              </a:extLst>
            </p:cNvPr>
            <p:cNvSpPr/>
            <p:nvPr/>
          </p:nvSpPr>
          <p:spPr bwMode="gray">
            <a:xfrm flipH="1">
              <a:off x="6234545" y="4197021"/>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分支二</a:t>
              </a:r>
              <a:endParaRPr lang="en-US" sz="1400" dirty="0">
                <a:solidFill>
                  <a:schemeClr val="tx1"/>
                </a:solidFill>
              </a:endParaRPr>
            </a:p>
          </p:txBody>
        </p:sp>
        <p:sp>
          <p:nvSpPr>
            <p:cNvPr id="218" name="Freeform 159">
              <a:extLst>
                <a:ext uri="{FF2B5EF4-FFF2-40B4-BE49-F238E27FC236}">
                  <a16:creationId xmlns:a16="http://schemas.microsoft.com/office/drawing/2014/main" id="{F8412D78-13D6-453E-AA82-F3A5986E8C2C}"/>
                </a:ext>
              </a:extLst>
            </p:cNvPr>
            <p:cNvSpPr/>
            <p:nvPr/>
          </p:nvSpPr>
          <p:spPr bwMode="gray">
            <a:xfrm flipH="1">
              <a:off x="6177119" y="1648133"/>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HQ/DC</a:t>
              </a:r>
              <a:endParaRPr lang="en-US" sz="1400" dirty="0">
                <a:solidFill>
                  <a:schemeClr val="tx1"/>
                </a:solidFill>
              </a:endParaRPr>
            </a:p>
          </p:txBody>
        </p:sp>
        <p:cxnSp>
          <p:nvCxnSpPr>
            <p:cNvPr id="219" name="直接连接符 78">
              <a:extLst>
                <a:ext uri="{FF2B5EF4-FFF2-40B4-BE49-F238E27FC236}">
                  <a16:creationId xmlns:a16="http://schemas.microsoft.com/office/drawing/2014/main" id="{9E04E14C-41D4-4748-A006-800ACD4BF7FC}"/>
                </a:ext>
              </a:extLst>
            </p:cNvPr>
            <p:cNvCxnSpPr>
              <a:stCxn id="225" idx="3"/>
              <a:endCxn id="227" idx="1"/>
            </p:cNvCxnSpPr>
            <p:nvPr/>
          </p:nvCxnSpPr>
          <p:spPr bwMode="gray">
            <a:xfrm flipV="1">
              <a:off x="6689003" y="4104921"/>
              <a:ext cx="115777" cy="89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20" name="图片 87">
              <a:extLst>
                <a:ext uri="{FF2B5EF4-FFF2-40B4-BE49-F238E27FC236}">
                  <a16:creationId xmlns:a16="http://schemas.microsoft.com/office/drawing/2014/main" id="{C61A4134-527B-4F34-A2ED-0EE81A0092A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4817032" y="3913316"/>
              <a:ext cx="466668" cy="385001"/>
            </a:xfrm>
            <a:prstGeom prst="rect">
              <a:avLst/>
            </a:prstGeom>
          </p:spPr>
        </p:pic>
        <p:sp>
          <p:nvSpPr>
            <p:cNvPr id="221" name="文本框 88">
              <a:extLst>
                <a:ext uri="{FF2B5EF4-FFF2-40B4-BE49-F238E27FC236}">
                  <a16:creationId xmlns:a16="http://schemas.microsoft.com/office/drawing/2014/main" id="{238FDE09-7D22-46A8-B19C-B13F23D3BD1B}"/>
                </a:ext>
              </a:extLst>
            </p:cNvPr>
            <p:cNvSpPr txBox="1"/>
            <p:nvPr/>
          </p:nvSpPr>
          <p:spPr bwMode="gray">
            <a:xfrm>
              <a:off x="4222048" y="3969929"/>
              <a:ext cx="657898"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cxnSp>
          <p:nvCxnSpPr>
            <p:cNvPr id="222" name="直接连接符 90">
              <a:extLst>
                <a:ext uri="{FF2B5EF4-FFF2-40B4-BE49-F238E27FC236}">
                  <a16:creationId xmlns:a16="http://schemas.microsoft.com/office/drawing/2014/main" id="{67C58B8B-7E21-42F8-97E5-A9BDB3738880}"/>
                </a:ext>
              </a:extLst>
            </p:cNvPr>
            <p:cNvCxnSpPr>
              <a:cxnSpLocks/>
              <a:stCxn id="220" idx="0"/>
            </p:cNvCxnSpPr>
            <p:nvPr/>
          </p:nvCxnSpPr>
          <p:spPr bwMode="gray">
            <a:xfrm flipV="1">
              <a:off x="5050366" y="3424006"/>
              <a:ext cx="1431346" cy="48715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3" name="直接连接符 91">
              <a:extLst>
                <a:ext uri="{FF2B5EF4-FFF2-40B4-BE49-F238E27FC236}">
                  <a16:creationId xmlns:a16="http://schemas.microsoft.com/office/drawing/2014/main" id="{66EC5DFA-D3B5-4320-90FE-4B3FA392D8EE}"/>
                </a:ext>
              </a:extLst>
            </p:cNvPr>
            <p:cNvCxnSpPr>
              <a:cxnSpLocks/>
              <a:stCxn id="233" idx="2"/>
              <a:endCxn id="236" idx="2"/>
            </p:cNvCxnSpPr>
            <p:nvPr/>
          </p:nvCxnSpPr>
          <p:spPr bwMode="gray">
            <a:xfrm flipH="1">
              <a:off x="6558191" y="2420979"/>
              <a:ext cx="406694" cy="63368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4" name="直接连接符 92">
              <a:extLst>
                <a:ext uri="{FF2B5EF4-FFF2-40B4-BE49-F238E27FC236}">
                  <a16:creationId xmlns:a16="http://schemas.microsoft.com/office/drawing/2014/main" id="{B9C5CDE0-4699-41A4-B9FA-297F01A3E936}"/>
                </a:ext>
              </a:extLst>
            </p:cNvPr>
            <p:cNvCxnSpPr>
              <a:cxnSpLocks/>
              <a:stCxn id="220" idx="0"/>
            </p:cNvCxnSpPr>
            <p:nvPr/>
          </p:nvCxnSpPr>
          <p:spPr bwMode="gray">
            <a:xfrm flipV="1">
              <a:off x="5050366" y="3437199"/>
              <a:ext cx="334664"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25" name="图片 94">
              <a:extLst>
                <a:ext uri="{FF2B5EF4-FFF2-40B4-BE49-F238E27FC236}">
                  <a16:creationId xmlns:a16="http://schemas.microsoft.com/office/drawing/2014/main" id="{48930D87-18B9-4BE0-9466-3DDFD69EE3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222335" y="3913316"/>
              <a:ext cx="466668" cy="385001"/>
            </a:xfrm>
            <a:prstGeom prst="rect">
              <a:avLst/>
            </a:prstGeom>
          </p:spPr>
        </p:pic>
        <p:sp>
          <p:nvSpPr>
            <p:cNvPr id="226" name="文本框 95">
              <a:extLst>
                <a:ext uri="{FF2B5EF4-FFF2-40B4-BE49-F238E27FC236}">
                  <a16:creationId xmlns:a16="http://schemas.microsoft.com/office/drawing/2014/main" id="{DE31AED2-7357-4C4C-8982-4E632FAF209C}"/>
                </a:ext>
              </a:extLst>
            </p:cNvPr>
            <p:cNvSpPr txBox="1"/>
            <p:nvPr/>
          </p:nvSpPr>
          <p:spPr bwMode="gray">
            <a:xfrm>
              <a:off x="5632811" y="3949121"/>
              <a:ext cx="661622"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pic>
          <p:nvPicPr>
            <p:cNvPr id="227" name="图片 97">
              <a:extLst>
                <a:ext uri="{FF2B5EF4-FFF2-40B4-BE49-F238E27FC236}">
                  <a16:creationId xmlns:a16="http://schemas.microsoft.com/office/drawing/2014/main" id="{A282CBAC-B80B-44FE-B3DD-81999F6920B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804780" y="3912420"/>
              <a:ext cx="466668" cy="385001"/>
            </a:xfrm>
            <a:prstGeom prst="rect">
              <a:avLst/>
            </a:prstGeom>
          </p:spPr>
        </p:pic>
        <p:cxnSp>
          <p:nvCxnSpPr>
            <p:cNvPr id="228" name="直接连接符 98">
              <a:extLst>
                <a:ext uri="{FF2B5EF4-FFF2-40B4-BE49-F238E27FC236}">
                  <a16:creationId xmlns:a16="http://schemas.microsoft.com/office/drawing/2014/main" id="{E9C2C881-C126-4FE7-BED1-D0226419DE79}"/>
                </a:ext>
              </a:extLst>
            </p:cNvPr>
            <p:cNvCxnSpPr>
              <a:cxnSpLocks/>
              <a:stCxn id="225" idx="0"/>
            </p:cNvCxnSpPr>
            <p:nvPr/>
          </p:nvCxnSpPr>
          <p:spPr bwMode="gray">
            <a:xfrm flipH="1" flipV="1">
              <a:off x="5348480" y="3437199"/>
              <a:ext cx="1107189"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直接连接符 99">
              <a:extLst>
                <a:ext uri="{FF2B5EF4-FFF2-40B4-BE49-F238E27FC236}">
                  <a16:creationId xmlns:a16="http://schemas.microsoft.com/office/drawing/2014/main" id="{B2ED48F6-E002-4491-8529-54601461477E}"/>
                </a:ext>
              </a:extLst>
            </p:cNvPr>
            <p:cNvCxnSpPr>
              <a:cxnSpLocks/>
              <a:stCxn id="227" idx="0"/>
            </p:cNvCxnSpPr>
            <p:nvPr/>
          </p:nvCxnSpPr>
          <p:spPr bwMode="gray">
            <a:xfrm flipH="1" flipV="1">
              <a:off x="6481712" y="3424006"/>
              <a:ext cx="556402" cy="48626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直接连接符 100">
              <a:extLst>
                <a:ext uri="{FF2B5EF4-FFF2-40B4-BE49-F238E27FC236}">
                  <a16:creationId xmlns:a16="http://schemas.microsoft.com/office/drawing/2014/main" id="{9845164D-AD79-4E3D-9348-D573128432ED}"/>
                </a:ext>
              </a:extLst>
            </p:cNvPr>
            <p:cNvCxnSpPr>
              <a:stCxn id="231" idx="3"/>
              <a:endCxn id="233" idx="1"/>
            </p:cNvCxnSpPr>
            <p:nvPr/>
          </p:nvCxnSpPr>
          <p:spPr bwMode="gray">
            <a:xfrm flipV="1">
              <a:off x="6567464" y="2226325"/>
              <a:ext cx="164087" cy="89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31" name="图片 102">
              <a:extLst>
                <a:ext uri="{FF2B5EF4-FFF2-40B4-BE49-F238E27FC236}">
                  <a16:creationId xmlns:a16="http://schemas.microsoft.com/office/drawing/2014/main" id="{FA15B714-430E-4226-AEB4-9E9A979CF70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100796" y="2034720"/>
              <a:ext cx="466668" cy="385001"/>
            </a:xfrm>
            <a:prstGeom prst="rect">
              <a:avLst/>
            </a:prstGeom>
          </p:spPr>
        </p:pic>
        <p:sp>
          <p:nvSpPr>
            <p:cNvPr id="232" name="文本框 103">
              <a:extLst>
                <a:ext uri="{FF2B5EF4-FFF2-40B4-BE49-F238E27FC236}">
                  <a16:creationId xmlns:a16="http://schemas.microsoft.com/office/drawing/2014/main" id="{00885316-24F4-486C-AC3E-FE12329A71CD}"/>
                </a:ext>
              </a:extLst>
            </p:cNvPr>
            <p:cNvSpPr txBox="1"/>
            <p:nvPr/>
          </p:nvSpPr>
          <p:spPr bwMode="gray">
            <a:xfrm>
              <a:off x="7121289" y="2050751"/>
              <a:ext cx="641479"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pic>
          <p:nvPicPr>
            <p:cNvPr id="233" name="图片 105">
              <a:extLst>
                <a:ext uri="{FF2B5EF4-FFF2-40B4-BE49-F238E27FC236}">
                  <a16:creationId xmlns:a16="http://schemas.microsoft.com/office/drawing/2014/main" id="{E3F692A9-3926-4E1D-8A69-564BE87750A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731551" y="2033824"/>
              <a:ext cx="466668" cy="385001"/>
            </a:xfrm>
            <a:prstGeom prst="rect">
              <a:avLst/>
            </a:prstGeom>
          </p:spPr>
        </p:pic>
        <p:cxnSp>
          <p:nvCxnSpPr>
            <p:cNvPr id="234" name="直接连接符 106">
              <a:extLst>
                <a:ext uri="{FF2B5EF4-FFF2-40B4-BE49-F238E27FC236}">
                  <a16:creationId xmlns:a16="http://schemas.microsoft.com/office/drawing/2014/main" id="{E9AD0713-B3E9-41E6-9DE5-1009521F8B36}"/>
                </a:ext>
              </a:extLst>
            </p:cNvPr>
            <p:cNvCxnSpPr>
              <a:cxnSpLocks/>
              <a:stCxn id="231" idx="2"/>
              <a:endCxn id="235" idx="0"/>
            </p:cNvCxnSpPr>
            <p:nvPr/>
          </p:nvCxnSpPr>
          <p:spPr bwMode="gray">
            <a:xfrm flipH="1">
              <a:off x="5332693" y="2421875"/>
              <a:ext cx="1001437" cy="569869"/>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5" name="Freeform 159">
              <a:extLst>
                <a:ext uri="{FF2B5EF4-FFF2-40B4-BE49-F238E27FC236}">
                  <a16:creationId xmlns:a16="http://schemas.microsoft.com/office/drawing/2014/main" id="{431279F1-5319-4AED-ADE5-978A8A7D66BF}"/>
                </a:ext>
              </a:extLst>
            </p:cNvPr>
            <p:cNvSpPr/>
            <p:nvPr/>
          </p:nvSpPr>
          <p:spPr bwMode="gray">
            <a:xfrm flipH="1">
              <a:off x="4998558" y="2991744"/>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236" name="Freeform 159">
              <a:extLst>
                <a:ext uri="{FF2B5EF4-FFF2-40B4-BE49-F238E27FC236}">
                  <a16:creationId xmlns:a16="http://schemas.microsoft.com/office/drawing/2014/main" id="{6439D954-3950-40DD-8C8F-E942AF11D2C7}"/>
                </a:ext>
              </a:extLst>
            </p:cNvPr>
            <p:cNvSpPr/>
            <p:nvPr/>
          </p:nvSpPr>
          <p:spPr bwMode="gray">
            <a:xfrm flipH="1">
              <a:off x="6063618" y="2978551"/>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cxnSp>
          <p:nvCxnSpPr>
            <p:cNvPr id="238" name="直接连接符 100">
              <a:extLst>
                <a:ext uri="{FF2B5EF4-FFF2-40B4-BE49-F238E27FC236}">
                  <a16:creationId xmlns:a16="http://schemas.microsoft.com/office/drawing/2014/main" id="{96A65BB4-E0C5-467D-A894-96FBC55C129D}"/>
                </a:ext>
              </a:extLst>
            </p:cNvPr>
            <p:cNvCxnSpPr>
              <a:stCxn id="239" idx="3"/>
              <a:endCxn id="241" idx="1"/>
            </p:cNvCxnSpPr>
            <p:nvPr/>
          </p:nvCxnSpPr>
          <p:spPr bwMode="gray">
            <a:xfrm flipV="1">
              <a:off x="5128260" y="2207288"/>
              <a:ext cx="164087" cy="89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39" name="图片 102">
              <a:extLst>
                <a:ext uri="{FF2B5EF4-FFF2-40B4-BE49-F238E27FC236}">
                  <a16:creationId xmlns:a16="http://schemas.microsoft.com/office/drawing/2014/main" id="{FE719B98-BF04-4585-8B4E-0FB961B3B8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4661592" y="2015683"/>
              <a:ext cx="466668" cy="385001"/>
            </a:xfrm>
            <a:prstGeom prst="rect">
              <a:avLst/>
            </a:prstGeom>
          </p:spPr>
        </p:pic>
        <p:sp>
          <p:nvSpPr>
            <p:cNvPr id="240" name="文本框 103">
              <a:extLst>
                <a:ext uri="{FF2B5EF4-FFF2-40B4-BE49-F238E27FC236}">
                  <a16:creationId xmlns:a16="http://schemas.microsoft.com/office/drawing/2014/main" id="{5C08A4C3-0259-4F54-B066-816221AC2C9A}"/>
                </a:ext>
              </a:extLst>
            </p:cNvPr>
            <p:cNvSpPr txBox="1"/>
            <p:nvPr/>
          </p:nvSpPr>
          <p:spPr bwMode="gray">
            <a:xfrm>
              <a:off x="4300511" y="2054295"/>
              <a:ext cx="428743" cy="307777"/>
            </a:xfrm>
            <a:prstGeom prst="rect">
              <a:avLst/>
            </a:prstGeom>
            <a:noFill/>
          </p:spPr>
          <p:txBody>
            <a:bodyPr wrap="square" rtlCol="0">
              <a:spAutoFit/>
            </a:bodyPr>
            <a:lstStyle/>
            <a:p>
              <a:pPr algn="ctr"/>
              <a:r>
                <a:rPr lang="en-US" altLang="zh-CN" sz="1400" dirty="0">
                  <a:solidFill>
                    <a:srgbClr val="000000"/>
                  </a:solidFill>
                </a:rPr>
                <a:t>RR</a:t>
              </a:r>
              <a:endParaRPr lang="zh-CN" altLang="en-US" sz="1400" dirty="0">
                <a:solidFill>
                  <a:srgbClr val="000000"/>
                </a:solidFill>
              </a:endParaRPr>
            </a:p>
          </p:txBody>
        </p:sp>
        <p:pic>
          <p:nvPicPr>
            <p:cNvPr id="241" name="图片 105">
              <a:extLst>
                <a:ext uri="{FF2B5EF4-FFF2-40B4-BE49-F238E27FC236}">
                  <a16:creationId xmlns:a16="http://schemas.microsoft.com/office/drawing/2014/main" id="{EEE8EC78-0D00-451A-B2AA-DC2BA935C0F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5292347" y="2014787"/>
              <a:ext cx="466668" cy="385001"/>
            </a:xfrm>
            <a:prstGeom prst="rect">
              <a:avLst/>
            </a:prstGeom>
          </p:spPr>
        </p:pic>
        <p:cxnSp>
          <p:nvCxnSpPr>
            <p:cNvPr id="242" name="直接连接符 106">
              <a:extLst>
                <a:ext uri="{FF2B5EF4-FFF2-40B4-BE49-F238E27FC236}">
                  <a16:creationId xmlns:a16="http://schemas.microsoft.com/office/drawing/2014/main" id="{D95A7320-668C-4037-881E-DEA5E66095AC}"/>
                </a:ext>
              </a:extLst>
            </p:cNvPr>
            <p:cNvCxnSpPr>
              <a:cxnSpLocks/>
              <a:stCxn id="235" idx="0"/>
              <a:endCxn id="239" idx="2"/>
            </p:cNvCxnSpPr>
            <p:nvPr/>
          </p:nvCxnSpPr>
          <p:spPr bwMode="gray">
            <a:xfrm flipH="1" flipV="1">
              <a:off x="4894926" y="2402838"/>
              <a:ext cx="437767" cy="58890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直接连接符 106">
              <a:extLst>
                <a:ext uri="{FF2B5EF4-FFF2-40B4-BE49-F238E27FC236}">
                  <a16:creationId xmlns:a16="http://schemas.microsoft.com/office/drawing/2014/main" id="{0C0F38B1-BA14-4634-B136-36610E41EE1F}"/>
                </a:ext>
              </a:extLst>
            </p:cNvPr>
            <p:cNvCxnSpPr>
              <a:cxnSpLocks/>
              <a:stCxn id="236" idx="1"/>
              <a:endCxn id="241" idx="2"/>
            </p:cNvCxnSpPr>
            <p:nvPr/>
          </p:nvCxnSpPr>
          <p:spPr bwMode="gray">
            <a:xfrm flipH="1" flipV="1">
              <a:off x="5525681" y="2401942"/>
              <a:ext cx="1021242" cy="63894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47" name="Freeform 159">
            <a:extLst>
              <a:ext uri="{FF2B5EF4-FFF2-40B4-BE49-F238E27FC236}">
                <a16:creationId xmlns:a16="http://schemas.microsoft.com/office/drawing/2014/main" id="{50D39BBE-C2FF-4782-9D5E-BA1570B07BFE}"/>
              </a:ext>
            </a:extLst>
          </p:cNvPr>
          <p:cNvSpPr/>
          <p:nvPr/>
        </p:nvSpPr>
        <p:spPr bwMode="gray">
          <a:xfrm flipH="1">
            <a:off x="8074967" y="4424782"/>
            <a:ext cx="698047" cy="3648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251" name="图片 87">
            <a:extLst>
              <a:ext uri="{FF2B5EF4-FFF2-40B4-BE49-F238E27FC236}">
                <a16:creationId xmlns:a16="http://schemas.microsoft.com/office/drawing/2014/main" id="{DBE9BC69-85ED-4E78-A5B4-7FA17616D9B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226833" y="4207531"/>
            <a:ext cx="466668" cy="385001"/>
          </a:xfrm>
          <a:prstGeom prst="rect">
            <a:avLst/>
          </a:prstGeom>
        </p:spPr>
      </p:pic>
      <p:sp>
        <p:nvSpPr>
          <p:cNvPr id="252" name="文本框 88">
            <a:extLst>
              <a:ext uri="{FF2B5EF4-FFF2-40B4-BE49-F238E27FC236}">
                <a16:creationId xmlns:a16="http://schemas.microsoft.com/office/drawing/2014/main" id="{75EB3520-0505-4425-BE39-683B0CB599AE}"/>
              </a:ext>
            </a:extLst>
          </p:cNvPr>
          <p:cNvSpPr txBox="1"/>
          <p:nvPr/>
        </p:nvSpPr>
        <p:spPr bwMode="gray">
          <a:xfrm>
            <a:off x="7886071" y="3985317"/>
            <a:ext cx="571341"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cxnSp>
        <p:nvCxnSpPr>
          <p:cNvPr id="253" name="直接连接符 90">
            <a:extLst>
              <a:ext uri="{FF2B5EF4-FFF2-40B4-BE49-F238E27FC236}">
                <a16:creationId xmlns:a16="http://schemas.microsoft.com/office/drawing/2014/main" id="{52F09853-EA1C-483D-8F2D-F6D94C375C09}"/>
              </a:ext>
            </a:extLst>
          </p:cNvPr>
          <p:cNvCxnSpPr>
            <a:cxnSpLocks/>
            <a:stCxn id="251" idx="0"/>
            <a:endCxn id="277" idx="2"/>
          </p:cNvCxnSpPr>
          <p:nvPr/>
        </p:nvCxnSpPr>
        <p:spPr bwMode="gray">
          <a:xfrm flipV="1">
            <a:off x="8460167" y="4014360"/>
            <a:ext cx="679191"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5" name="直接连接符 92">
            <a:extLst>
              <a:ext uri="{FF2B5EF4-FFF2-40B4-BE49-F238E27FC236}">
                <a16:creationId xmlns:a16="http://schemas.microsoft.com/office/drawing/2014/main" id="{C35BD0CB-1B5A-4F10-A6C8-DA8ECFBEA881}"/>
              </a:ext>
            </a:extLst>
          </p:cNvPr>
          <p:cNvCxnSpPr>
            <a:cxnSpLocks/>
            <a:stCxn id="251" idx="0"/>
            <a:endCxn id="276" idx="2"/>
          </p:cNvCxnSpPr>
          <p:nvPr/>
        </p:nvCxnSpPr>
        <p:spPr bwMode="gray">
          <a:xfrm flipV="1">
            <a:off x="8460167" y="4014360"/>
            <a:ext cx="94463"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 name="Freeform 159">
            <a:extLst>
              <a:ext uri="{FF2B5EF4-FFF2-40B4-BE49-F238E27FC236}">
                <a16:creationId xmlns:a16="http://schemas.microsoft.com/office/drawing/2014/main" id="{96A0B351-E73A-47AE-8211-1F379352FBF6}"/>
              </a:ext>
            </a:extLst>
          </p:cNvPr>
          <p:cNvSpPr/>
          <p:nvPr/>
        </p:nvSpPr>
        <p:spPr bwMode="gray">
          <a:xfrm flipH="1">
            <a:off x="8665722" y="2981666"/>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267" name="Freeform 159">
            <a:extLst>
              <a:ext uri="{FF2B5EF4-FFF2-40B4-BE49-F238E27FC236}">
                <a16:creationId xmlns:a16="http://schemas.microsoft.com/office/drawing/2014/main" id="{88B4FB77-7ED2-4DB2-B8AC-691BFAC4F95B}"/>
              </a:ext>
            </a:extLst>
          </p:cNvPr>
          <p:cNvSpPr/>
          <p:nvPr/>
        </p:nvSpPr>
        <p:spPr bwMode="gray">
          <a:xfrm flipH="1">
            <a:off x="9730782" y="2968473"/>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sp>
        <p:nvSpPr>
          <p:cNvPr id="274" name="Freeform 159">
            <a:extLst>
              <a:ext uri="{FF2B5EF4-FFF2-40B4-BE49-F238E27FC236}">
                <a16:creationId xmlns:a16="http://schemas.microsoft.com/office/drawing/2014/main" id="{7328154E-695A-408D-A159-96D87AA5750B}"/>
              </a:ext>
            </a:extLst>
          </p:cNvPr>
          <p:cNvSpPr/>
          <p:nvPr/>
        </p:nvSpPr>
        <p:spPr bwMode="gray">
          <a:xfrm flipH="1">
            <a:off x="8838339" y="4424782"/>
            <a:ext cx="698047" cy="3648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275" name="图片 87">
            <a:extLst>
              <a:ext uri="{FF2B5EF4-FFF2-40B4-BE49-F238E27FC236}">
                <a16:creationId xmlns:a16="http://schemas.microsoft.com/office/drawing/2014/main" id="{FB2B8EE9-D057-4647-8FD6-038B4111EA4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990205" y="4207531"/>
            <a:ext cx="466668" cy="385001"/>
          </a:xfrm>
          <a:prstGeom prst="rect">
            <a:avLst/>
          </a:prstGeom>
        </p:spPr>
      </p:pic>
      <p:pic>
        <p:nvPicPr>
          <p:cNvPr id="276" name="图片 87">
            <a:extLst>
              <a:ext uri="{FF2B5EF4-FFF2-40B4-BE49-F238E27FC236}">
                <a16:creationId xmlns:a16="http://schemas.microsoft.com/office/drawing/2014/main" id="{EF7F49CA-2E00-42E8-90BA-768A8B85542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321296" y="3627205"/>
            <a:ext cx="466668" cy="385001"/>
          </a:xfrm>
          <a:prstGeom prst="rect">
            <a:avLst/>
          </a:prstGeom>
        </p:spPr>
      </p:pic>
      <p:pic>
        <p:nvPicPr>
          <p:cNvPr id="277" name="图片 87">
            <a:extLst>
              <a:ext uri="{FF2B5EF4-FFF2-40B4-BE49-F238E27FC236}">
                <a16:creationId xmlns:a16="http://schemas.microsoft.com/office/drawing/2014/main" id="{B6EA6CA1-A4C8-4A39-B01E-2C2743643F3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906024" y="3627205"/>
            <a:ext cx="466668" cy="385001"/>
          </a:xfrm>
          <a:prstGeom prst="rect">
            <a:avLst/>
          </a:prstGeom>
        </p:spPr>
      </p:pic>
      <p:cxnSp>
        <p:nvCxnSpPr>
          <p:cNvPr id="278" name="直接连接符 90">
            <a:extLst>
              <a:ext uri="{FF2B5EF4-FFF2-40B4-BE49-F238E27FC236}">
                <a16:creationId xmlns:a16="http://schemas.microsoft.com/office/drawing/2014/main" id="{FCBD0501-7FCE-44C5-943B-B8795FF7D69C}"/>
              </a:ext>
            </a:extLst>
          </p:cNvPr>
          <p:cNvCxnSpPr>
            <a:cxnSpLocks/>
            <a:stCxn id="276" idx="2"/>
            <a:endCxn id="275" idx="0"/>
          </p:cNvCxnSpPr>
          <p:nvPr/>
        </p:nvCxnSpPr>
        <p:spPr bwMode="gray">
          <a:xfrm>
            <a:off x="8554630" y="4014360"/>
            <a:ext cx="668909"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9" name="直接连接符 90">
            <a:extLst>
              <a:ext uri="{FF2B5EF4-FFF2-40B4-BE49-F238E27FC236}">
                <a16:creationId xmlns:a16="http://schemas.microsoft.com/office/drawing/2014/main" id="{7EF4FB96-EBEA-4F76-B13E-D93EFCF49C1C}"/>
              </a:ext>
            </a:extLst>
          </p:cNvPr>
          <p:cNvCxnSpPr>
            <a:cxnSpLocks/>
            <a:stCxn id="277" idx="2"/>
            <a:endCxn id="275" idx="0"/>
          </p:cNvCxnSpPr>
          <p:nvPr/>
        </p:nvCxnSpPr>
        <p:spPr bwMode="gray">
          <a:xfrm>
            <a:off x="9139358" y="4014360"/>
            <a:ext cx="84181"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0" name="文本框 88">
            <a:extLst>
              <a:ext uri="{FF2B5EF4-FFF2-40B4-BE49-F238E27FC236}">
                <a16:creationId xmlns:a16="http://schemas.microsoft.com/office/drawing/2014/main" id="{08929634-8695-4BD8-8D00-7D4A78A43B73}"/>
              </a:ext>
            </a:extLst>
          </p:cNvPr>
          <p:cNvSpPr txBox="1"/>
          <p:nvPr/>
        </p:nvSpPr>
        <p:spPr bwMode="gray">
          <a:xfrm>
            <a:off x="7967675" y="3673456"/>
            <a:ext cx="400385" cy="276999"/>
          </a:xfrm>
          <a:prstGeom prst="rect">
            <a:avLst/>
          </a:prstGeom>
          <a:noFill/>
        </p:spPr>
        <p:txBody>
          <a:bodyPr wrap="square" rtlCol="0">
            <a:spAutoFit/>
          </a:bodyPr>
          <a:lstStyle/>
          <a:p>
            <a:pPr algn="ctr"/>
            <a:r>
              <a:rPr lang="en-US" altLang="zh-CN" sz="1200" dirty="0">
                <a:solidFill>
                  <a:srgbClr val="000000"/>
                </a:solidFill>
              </a:rPr>
              <a:t>RR</a:t>
            </a:r>
            <a:endParaRPr lang="zh-CN" altLang="en-US" sz="1200" dirty="0">
              <a:solidFill>
                <a:srgbClr val="000000"/>
              </a:solidFill>
            </a:endParaRPr>
          </a:p>
        </p:txBody>
      </p:sp>
      <p:sp>
        <p:nvSpPr>
          <p:cNvPr id="33" name="Rectangle: Rounded Corners 32">
            <a:extLst>
              <a:ext uri="{FF2B5EF4-FFF2-40B4-BE49-F238E27FC236}">
                <a16:creationId xmlns:a16="http://schemas.microsoft.com/office/drawing/2014/main" id="{7069387E-0350-49A9-8BD1-D76D925C7A0A}"/>
              </a:ext>
            </a:extLst>
          </p:cNvPr>
          <p:cNvSpPr/>
          <p:nvPr/>
        </p:nvSpPr>
        <p:spPr bwMode="gray">
          <a:xfrm>
            <a:off x="7918059" y="3570571"/>
            <a:ext cx="1656427" cy="1287179"/>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1" name="Rectangle: Rounded Corners 280">
            <a:extLst>
              <a:ext uri="{FF2B5EF4-FFF2-40B4-BE49-F238E27FC236}">
                <a16:creationId xmlns:a16="http://schemas.microsoft.com/office/drawing/2014/main" id="{1EEE09CE-ADF9-456D-9F1B-F442B889E151}"/>
              </a:ext>
            </a:extLst>
          </p:cNvPr>
          <p:cNvSpPr/>
          <p:nvPr/>
        </p:nvSpPr>
        <p:spPr bwMode="gray">
          <a:xfrm>
            <a:off x="7949500" y="3353462"/>
            <a:ext cx="612589" cy="224485"/>
          </a:xfrm>
          <a:prstGeom prst="roundRect">
            <a:avLst>
              <a:gd name="adj" fmla="val 10967"/>
            </a:avLst>
          </a:prstGeom>
          <a:solidFill>
            <a:srgbClr val="56C4D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区域</a:t>
            </a:r>
            <a:r>
              <a:rPr lang="en-US" altLang="zh-CN" sz="1200" dirty="0"/>
              <a:t>B</a:t>
            </a:r>
            <a:endParaRPr lang="en-US" sz="1200" dirty="0"/>
          </a:p>
        </p:txBody>
      </p:sp>
      <p:cxnSp>
        <p:nvCxnSpPr>
          <p:cNvPr id="282" name="直接连接符 92">
            <a:extLst>
              <a:ext uri="{FF2B5EF4-FFF2-40B4-BE49-F238E27FC236}">
                <a16:creationId xmlns:a16="http://schemas.microsoft.com/office/drawing/2014/main" id="{0209A7B1-2422-47F1-A38D-36E7501AB0F5}"/>
              </a:ext>
            </a:extLst>
          </p:cNvPr>
          <p:cNvCxnSpPr>
            <a:cxnSpLocks/>
            <a:endCxn id="276" idx="0"/>
          </p:cNvCxnSpPr>
          <p:nvPr/>
        </p:nvCxnSpPr>
        <p:spPr bwMode="gray">
          <a:xfrm flipH="1">
            <a:off x="8554630" y="3424006"/>
            <a:ext cx="508528" cy="20104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3" name="直接连接符 90">
            <a:extLst>
              <a:ext uri="{FF2B5EF4-FFF2-40B4-BE49-F238E27FC236}">
                <a16:creationId xmlns:a16="http://schemas.microsoft.com/office/drawing/2014/main" id="{609D60F8-C0EC-49AD-86CB-D9CA3947C6D7}"/>
              </a:ext>
            </a:extLst>
          </p:cNvPr>
          <p:cNvCxnSpPr>
            <a:cxnSpLocks/>
            <a:stCxn id="277" idx="0"/>
          </p:cNvCxnSpPr>
          <p:nvPr/>
        </p:nvCxnSpPr>
        <p:spPr bwMode="gray">
          <a:xfrm flipV="1">
            <a:off x="9139358" y="3413928"/>
            <a:ext cx="1017510" cy="21112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4" name="Freeform 159">
            <a:extLst>
              <a:ext uri="{FF2B5EF4-FFF2-40B4-BE49-F238E27FC236}">
                <a16:creationId xmlns:a16="http://schemas.microsoft.com/office/drawing/2014/main" id="{88467FC6-E70B-46EE-B8B2-4CE3F43ECFE2}"/>
              </a:ext>
            </a:extLst>
          </p:cNvPr>
          <p:cNvSpPr/>
          <p:nvPr/>
        </p:nvSpPr>
        <p:spPr bwMode="gray">
          <a:xfrm flipH="1">
            <a:off x="9835042" y="4415999"/>
            <a:ext cx="698047" cy="3648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285" name="图片 87">
            <a:extLst>
              <a:ext uri="{FF2B5EF4-FFF2-40B4-BE49-F238E27FC236}">
                <a16:creationId xmlns:a16="http://schemas.microsoft.com/office/drawing/2014/main" id="{B67B6FA0-2F1A-4B24-B36B-0F677A05354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986908" y="4198748"/>
            <a:ext cx="466668" cy="385001"/>
          </a:xfrm>
          <a:prstGeom prst="rect">
            <a:avLst/>
          </a:prstGeom>
        </p:spPr>
      </p:pic>
      <p:sp>
        <p:nvSpPr>
          <p:cNvPr id="286" name="文本框 88">
            <a:extLst>
              <a:ext uri="{FF2B5EF4-FFF2-40B4-BE49-F238E27FC236}">
                <a16:creationId xmlns:a16="http://schemas.microsoft.com/office/drawing/2014/main" id="{4EB77E38-3824-4F88-92A4-060E3407B5E1}"/>
              </a:ext>
            </a:extLst>
          </p:cNvPr>
          <p:cNvSpPr txBox="1"/>
          <p:nvPr/>
        </p:nvSpPr>
        <p:spPr bwMode="gray">
          <a:xfrm>
            <a:off x="9656516" y="3985317"/>
            <a:ext cx="593628"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cxnSp>
        <p:nvCxnSpPr>
          <p:cNvPr id="287" name="直接连接符 90">
            <a:extLst>
              <a:ext uri="{FF2B5EF4-FFF2-40B4-BE49-F238E27FC236}">
                <a16:creationId xmlns:a16="http://schemas.microsoft.com/office/drawing/2014/main" id="{829E9B3D-A6CF-4CBC-84A1-2DD4A6A8C1BA}"/>
              </a:ext>
            </a:extLst>
          </p:cNvPr>
          <p:cNvCxnSpPr>
            <a:cxnSpLocks/>
            <a:stCxn id="285" idx="0"/>
            <a:endCxn id="292" idx="2"/>
          </p:cNvCxnSpPr>
          <p:nvPr/>
        </p:nvCxnSpPr>
        <p:spPr bwMode="gray">
          <a:xfrm flipV="1">
            <a:off x="10220242" y="4005577"/>
            <a:ext cx="679191"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 name="直接连接符 92">
            <a:extLst>
              <a:ext uri="{FF2B5EF4-FFF2-40B4-BE49-F238E27FC236}">
                <a16:creationId xmlns:a16="http://schemas.microsoft.com/office/drawing/2014/main" id="{BCE6636B-620C-4704-81D5-B0A866C0AADA}"/>
              </a:ext>
            </a:extLst>
          </p:cNvPr>
          <p:cNvCxnSpPr>
            <a:cxnSpLocks/>
            <a:stCxn id="285" idx="0"/>
            <a:endCxn id="291" idx="2"/>
          </p:cNvCxnSpPr>
          <p:nvPr/>
        </p:nvCxnSpPr>
        <p:spPr bwMode="gray">
          <a:xfrm flipV="1">
            <a:off x="10220242" y="4005577"/>
            <a:ext cx="94463"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 name="Freeform 159">
            <a:extLst>
              <a:ext uri="{FF2B5EF4-FFF2-40B4-BE49-F238E27FC236}">
                <a16:creationId xmlns:a16="http://schemas.microsoft.com/office/drawing/2014/main" id="{A8D9AA53-F673-4102-B42A-0B9E86EB5B55}"/>
              </a:ext>
            </a:extLst>
          </p:cNvPr>
          <p:cNvSpPr/>
          <p:nvPr/>
        </p:nvSpPr>
        <p:spPr bwMode="gray">
          <a:xfrm flipH="1">
            <a:off x="10598414" y="4415999"/>
            <a:ext cx="698047" cy="3648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290" name="图片 87">
            <a:extLst>
              <a:ext uri="{FF2B5EF4-FFF2-40B4-BE49-F238E27FC236}">
                <a16:creationId xmlns:a16="http://schemas.microsoft.com/office/drawing/2014/main" id="{9F66AE61-77DD-42A3-BB26-E33277EB39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0750280" y="4198748"/>
            <a:ext cx="466668" cy="385001"/>
          </a:xfrm>
          <a:prstGeom prst="rect">
            <a:avLst/>
          </a:prstGeom>
        </p:spPr>
      </p:pic>
      <p:pic>
        <p:nvPicPr>
          <p:cNvPr id="291" name="图片 87">
            <a:extLst>
              <a:ext uri="{FF2B5EF4-FFF2-40B4-BE49-F238E27FC236}">
                <a16:creationId xmlns:a16="http://schemas.microsoft.com/office/drawing/2014/main" id="{3399116C-2CB0-470C-8BBA-CF79D2DBFB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0081371" y="3618422"/>
            <a:ext cx="466668" cy="385001"/>
          </a:xfrm>
          <a:prstGeom prst="rect">
            <a:avLst/>
          </a:prstGeom>
        </p:spPr>
      </p:pic>
      <p:pic>
        <p:nvPicPr>
          <p:cNvPr id="292" name="图片 87">
            <a:extLst>
              <a:ext uri="{FF2B5EF4-FFF2-40B4-BE49-F238E27FC236}">
                <a16:creationId xmlns:a16="http://schemas.microsoft.com/office/drawing/2014/main" id="{F3496E7C-1CAA-497A-9AEB-8262A302B66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0666099" y="3618422"/>
            <a:ext cx="466668" cy="385001"/>
          </a:xfrm>
          <a:prstGeom prst="rect">
            <a:avLst/>
          </a:prstGeom>
        </p:spPr>
      </p:pic>
      <p:cxnSp>
        <p:nvCxnSpPr>
          <p:cNvPr id="293" name="直接连接符 90">
            <a:extLst>
              <a:ext uri="{FF2B5EF4-FFF2-40B4-BE49-F238E27FC236}">
                <a16:creationId xmlns:a16="http://schemas.microsoft.com/office/drawing/2014/main" id="{D209AC29-BE55-468F-BE2C-4B0B493995F4}"/>
              </a:ext>
            </a:extLst>
          </p:cNvPr>
          <p:cNvCxnSpPr>
            <a:cxnSpLocks/>
            <a:stCxn id="291" idx="2"/>
            <a:endCxn id="290" idx="0"/>
          </p:cNvCxnSpPr>
          <p:nvPr/>
        </p:nvCxnSpPr>
        <p:spPr bwMode="gray">
          <a:xfrm>
            <a:off x="10314705" y="4005577"/>
            <a:ext cx="668909"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 name="直接连接符 90">
            <a:extLst>
              <a:ext uri="{FF2B5EF4-FFF2-40B4-BE49-F238E27FC236}">
                <a16:creationId xmlns:a16="http://schemas.microsoft.com/office/drawing/2014/main" id="{5C90283A-CDCE-4088-8538-41095C180D65}"/>
              </a:ext>
            </a:extLst>
          </p:cNvPr>
          <p:cNvCxnSpPr>
            <a:cxnSpLocks/>
            <a:stCxn id="292" idx="2"/>
            <a:endCxn id="290" idx="0"/>
          </p:cNvCxnSpPr>
          <p:nvPr/>
        </p:nvCxnSpPr>
        <p:spPr bwMode="gray">
          <a:xfrm>
            <a:off x="10899433" y="4005577"/>
            <a:ext cx="84181"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5" name="文本框 88">
            <a:extLst>
              <a:ext uri="{FF2B5EF4-FFF2-40B4-BE49-F238E27FC236}">
                <a16:creationId xmlns:a16="http://schemas.microsoft.com/office/drawing/2014/main" id="{1414049D-C786-4B4C-97D0-9E046F6EEC41}"/>
              </a:ext>
            </a:extLst>
          </p:cNvPr>
          <p:cNvSpPr txBox="1"/>
          <p:nvPr/>
        </p:nvSpPr>
        <p:spPr bwMode="gray">
          <a:xfrm>
            <a:off x="9727750" y="3664673"/>
            <a:ext cx="400385" cy="276999"/>
          </a:xfrm>
          <a:prstGeom prst="rect">
            <a:avLst/>
          </a:prstGeom>
          <a:noFill/>
        </p:spPr>
        <p:txBody>
          <a:bodyPr wrap="square" rtlCol="0">
            <a:spAutoFit/>
          </a:bodyPr>
          <a:lstStyle/>
          <a:p>
            <a:pPr algn="ctr"/>
            <a:r>
              <a:rPr lang="en-US" altLang="zh-CN" sz="1200" dirty="0">
                <a:solidFill>
                  <a:srgbClr val="000000"/>
                </a:solidFill>
              </a:rPr>
              <a:t>RR</a:t>
            </a:r>
            <a:endParaRPr lang="zh-CN" altLang="en-US" sz="1200" dirty="0">
              <a:solidFill>
                <a:srgbClr val="000000"/>
              </a:solidFill>
            </a:endParaRPr>
          </a:p>
        </p:txBody>
      </p:sp>
      <p:sp>
        <p:nvSpPr>
          <p:cNvPr id="296" name="Rectangle: Rounded Corners 295">
            <a:extLst>
              <a:ext uri="{FF2B5EF4-FFF2-40B4-BE49-F238E27FC236}">
                <a16:creationId xmlns:a16="http://schemas.microsoft.com/office/drawing/2014/main" id="{9405ADB5-56BE-4542-8F4D-2AF84CBF5F82}"/>
              </a:ext>
            </a:extLst>
          </p:cNvPr>
          <p:cNvSpPr/>
          <p:nvPr/>
        </p:nvSpPr>
        <p:spPr bwMode="gray">
          <a:xfrm>
            <a:off x="9678134" y="3561788"/>
            <a:ext cx="1656427" cy="1287179"/>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7" name="Rectangle: Rounded Corners 296">
            <a:extLst>
              <a:ext uri="{FF2B5EF4-FFF2-40B4-BE49-F238E27FC236}">
                <a16:creationId xmlns:a16="http://schemas.microsoft.com/office/drawing/2014/main" id="{3EAC1054-6F78-4EF1-AEC5-D9EA82AF2BC8}"/>
              </a:ext>
            </a:extLst>
          </p:cNvPr>
          <p:cNvSpPr/>
          <p:nvPr/>
        </p:nvSpPr>
        <p:spPr bwMode="gray">
          <a:xfrm>
            <a:off x="10690538" y="3342418"/>
            <a:ext cx="612589" cy="224485"/>
          </a:xfrm>
          <a:prstGeom prst="roundRect">
            <a:avLst>
              <a:gd name="adj" fmla="val 10967"/>
            </a:avLst>
          </a:prstGeom>
          <a:solidFill>
            <a:srgbClr val="56C4D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区域</a:t>
            </a:r>
            <a:r>
              <a:rPr lang="en-US" altLang="zh-CN" sz="1200" dirty="0"/>
              <a:t>C</a:t>
            </a:r>
            <a:endParaRPr lang="en-US" sz="1200" dirty="0"/>
          </a:p>
        </p:txBody>
      </p:sp>
      <p:cxnSp>
        <p:nvCxnSpPr>
          <p:cNvPr id="298" name="直接连接符 92">
            <a:extLst>
              <a:ext uri="{FF2B5EF4-FFF2-40B4-BE49-F238E27FC236}">
                <a16:creationId xmlns:a16="http://schemas.microsoft.com/office/drawing/2014/main" id="{6E7ABCE6-8A8E-40B7-A71B-C35850102D6C}"/>
              </a:ext>
            </a:extLst>
          </p:cNvPr>
          <p:cNvCxnSpPr>
            <a:cxnSpLocks/>
            <a:endCxn id="291" idx="0"/>
          </p:cNvCxnSpPr>
          <p:nvPr/>
        </p:nvCxnSpPr>
        <p:spPr bwMode="gray">
          <a:xfrm>
            <a:off x="9063158" y="3423107"/>
            <a:ext cx="1251547" cy="193162"/>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9" name="直接连接符 90">
            <a:extLst>
              <a:ext uri="{FF2B5EF4-FFF2-40B4-BE49-F238E27FC236}">
                <a16:creationId xmlns:a16="http://schemas.microsoft.com/office/drawing/2014/main" id="{41CE617F-EEC4-4C9B-8529-D3A736EC352E}"/>
              </a:ext>
            </a:extLst>
          </p:cNvPr>
          <p:cNvCxnSpPr>
            <a:cxnSpLocks/>
            <a:stCxn id="292" idx="0"/>
          </p:cNvCxnSpPr>
          <p:nvPr/>
        </p:nvCxnSpPr>
        <p:spPr bwMode="gray">
          <a:xfrm flipH="1" flipV="1">
            <a:off x="10156868" y="3413928"/>
            <a:ext cx="742565" cy="20234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2" name="Freeform 159">
            <a:extLst>
              <a:ext uri="{FF2B5EF4-FFF2-40B4-BE49-F238E27FC236}">
                <a16:creationId xmlns:a16="http://schemas.microsoft.com/office/drawing/2014/main" id="{A36D95C5-1EF8-425F-803D-0BC7E871EEA5}"/>
              </a:ext>
            </a:extLst>
          </p:cNvPr>
          <p:cNvSpPr/>
          <p:nvPr/>
        </p:nvSpPr>
        <p:spPr bwMode="gray">
          <a:xfrm flipH="1">
            <a:off x="8893144" y="1653344"/>
            <a:ext cx="698047" cy="3648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303" name="图片 87">
            <a:extLst>
              <a:ext uri="{FF2B5EF4-FFF2-40B4-BE49-F238E27FC236}">
                <a16:creationId xmlns:a16="http://schemas.microsoft.com/office/drawing/2014/main" id="{D27BC923-F217-42E4-9271-7B2931F86F2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045010" y="1850482"/>
            <a:ext cx="466668" cy="385001"/>
          </a:xfrm>
          <a:prstGeom prst="rect">
            <a:avLst/>
          </a:prstGeom>
        </p:spPr>
      </p:pic>
      <p:sp>
        <p:nvSpPr>
          <p:cNvPr id="304" name="文本框 88">
            <a:extLst>
              <a:ext uri="{FF2B5EF4-FFF2-40B4-BE49-F238E27FC236}">
                <a16:creationId xmlns:a16="http://schemas.microsoft.com/office/drawing/2014/main" id="{DBE70CD6-AF5B-4776-A90C-24F3227FDD27}"/>
              </a:ext>
            </a:extLst>
          </p:cNvPr>
          <p:cNvSpPr txBox="1"/>
          <p:nvPr/>
        </p:nvSpPr>
        <p:spPr bwMode="gray">
          <a:xfrm>
            <a:off x="8648607" y="2158926"/>
            <a:ext cx="648436"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cxnSp>
        <p:nvCxnSpPr>
          <p:cNvPr id="305" name="直接连接符 90">
            <a:extLst>
              <a:ext uri="{FF2B5EF4-FFF2-40B4-BE49-F238E27FC236}">
                <a16:creationId xmlns:a16="http://schemas.microsoft.com/office/drawing/2014/main" id="{E2E89D1E-4687-43D7-B701-75F173367692}"/>
              </a:ext>
            </a:extLst>
          </p:cNvPr>
          <p:cNvCxnSpPr>
            <a:cxnSpLocks/>
            <a:stCxn id="303" idx="2"/>
            <a:endCxn id="310" idx="0"/>
          </p:cNvCxnSpPr>
          <p:nvPr/>
        </p:nvCxnSpPr>
        <p:spPr bwMode="gray">
          <a:xfrm>
            <a:off x="9278344" y="2237637"/>
            <a:ext cx="679191"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6" name="直接连接符 92">
            <a:extLst>
              <a:ext uri="{FF2B5EF4-FFF2-40B4-BE49-F238E27FC236}">
                <a16:creationId xmlns:a16="http://schemas.microsoft.com/office/drawing/2014/main" id="{DC6C8CAC-4998-40B6-BDE4-C583168774A8}"/>
              </a:ext>
            </a:extLst>
          </p:cNvPr>
          <p:cNvCxnSpPr>
            <a:cxnSpLocks/>
            <a:stCxn id="303" idx="2"/>
            <a:endCxn id="309" idx="0"/>
          </p:cNvCxnSpPr>
          <p:nvPr/>
        </p:nvCxnSpPr>
        <p:spPr bwMode="gray">
          <a:xfrm>
            <a:off x="9278344" y="2237637"/>
            <a:ext cx="94463"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 name="Freeform 159">
            <a:extLst>
              <a:ext uri="{FF2B5EF4-FFF2-40B4-BE49-F238E27FC236}">
                <a16:creationId xmlns:a16="http://schemas.microsoft.com/office/drawing/2014/main" id="{CA9029AA-FA5D-4B1D-9BCE-4C3DC91602F1}"/>
              </a:ext>
            </a:extLst>
          </p:cNvPr>
          <p:cNvSpPr/>
          <p:nvPr/>
        </p:nvSpPr>
        <p:spPr bwMode="gray">
          <a:xfrm flipH="1">
            <a:off x="9656516" y="1653344"/>
            <a:ext cx="698047" cy="3648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308" name="图片 87">
            <a:extLst>
              <a:ext uri="{FF2B5EF4-FFF2-40B4-BE49-F238E27FC236}">
                <a16:creationId xmlns:a16="http://schemas.microsoft.com/office/drawing/2014/main" id="{CC812553-621B-4958-B9B0-EBCEE22DB71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808382" y="1850482"/>
            <a:ext cx="466668" cy="385001"/>
          </a:xfrm>
          <a:prstGeom prst="rect">
            <a:avLst/>
          </a:prstGeom>
        </p:spPr>
      </p:pic>
      <p:pic>
        <p:nvPicPr>
          <p:cNvPr id="309" name="图片 87">
            <a:extLst>
              <a:ext uri="{FF2B5EF4-FFF2-40B4-BE49-F238E27FC236}">
                <a16:creationId xmlns:a16="http://schemas.microsoft.com/office/drawing/2014/main" id="{404B3AE1-C9DB-4080-87C8-553843FB5C6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139473" y="2430808"/>
            <a:ext cx="466668" cy="385001"/>
          </a:xfrm>
          <a:prstGeom prst="rect">
            <a:avLst/>
          </a:prstGeom>
        </p:spPr>
      </p:pic>
      <p:pic>
        <p:nvPicPr>
          <p:cNvPr id="310" name="图片 87">
            <a:extLst>
              <a:ext uri="{FF2B5EF4-FFF2-40B4-BE49-F238E27FC236}">
                <a16:creationId xmlns:a16="http://schemas.microsoft.com/office/drawing/2014/main" id="{F4F90709-D3BA-470D-B36A-FE779E7534C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724201" y="2430808"/>
            <a:ext cx="466668" cy="385001"/>
          </a:xfrm>
          <a:prstGeom prst="rect">
            <a:avLst/>
          </a:prstGeom>
        </p:spPr>
      </p:pic>
      <p:cxnSp>
        <p:nvCxnSpPr>
          <p:cNvPr id="311" name="直接连接符 90">
            <a:extLst>
              <a:ext uri="{FF2B5EF4-FFF2-40B4-BE49-F238E27FC236}">
                <a16:creationId xmlns:a16="http://schemas.microsoft.com/office/drawing/2014/main" id="{802C4BAD-1F5E-4797-89D2-ABAEA8CC1629}"/>
              </a:ext>
            </a:extLst>
          </p:cNvPr>
          <p:cNvCxnSpPr>
            <a:cxnSpLocks/>
            <a:stCxn id="309" idx="0"/>
            <a:endCxn id="308" idx="2"/>
          </p:cNvCxnSpPr>
          <p:nvPr/>
        </p:nvCxnSpPr>
        <p:spPr bwMode="gray">
          <a:xfrm flipV="1">
            <a:off x="9372807" y="2237637"/>
            <a:ext cx="668909"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2" name="直接连接符 90">
            <a:extLst>
              <a:ext uri="{FF2B5EF4-FFF2-40B4-BE49-F238E27FC236}">
                <a16:creationId xmlns:a16="http://schemas.microsoft.com/office/drawing/2014/main" id="{8B2DAFC0-6387-4F7C-8D80-DE32E611A9B9}"/>
              </a:ext>
            </a:extLst>
          </p:cNvPr>
          <p:cNvCxnSpPr>
            <a:cxnSpLocks/>
            <a:stCxn id="310" idx="0"/>
            <a:endCxn id="308" idx="2"/>
          </p:cNvCxnSpPr>
          <p:nvPr/>
        </p:nvCxnSpPr>
        <p:spPr bwMode="gray">
          <a:xfrm flipV="1">
            <a:off x="9957535" y="2237637"/>
            <a:ext cx="84181" cy="19101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3" name="文本框 88">
            <a:extLst>
              <a:ext uri="{FF2B5EF4-FFF2-40B4-BE49-F238E27FC236}">
                <a16:creationId xmlns:a16="http://schemas.microsoft.com/office/drawing/2014/main" id="{E988FC91-53AA-4711-8C5E-B26A0276651A}"/>
              </a:ext>
            </a:extLst>
          </p:cNvPr>
          <p:cNvSpPr txBox="1"/>
          <p:nvPr/>
        </p:nvSpPr>
        <p:spPr bwMode="gray">
          <a:xfrm>
            <a:off x="8785852" y="2492560"/>
            <a:ext cx="400385" cy="276999"/>
          </a:xfrm>
          <a:prstGeom prst="rect">
            <a:avLst/>
          </a:prstGeom>
          <a:noFill/>
        </p:spPr>
        <p:txBody>
          <a:bodyPr wrap="square" rtlCol="0">
            <a:spAutoFit/>
          </a:bodyPr>
          <a:lstStyle/>
          <a:p>
            <a:pPr algn="ctr"/>
            <a:r>
              <a:rPr lang="en-US" altLang="zh-CN" sz="1200" dirty="0">
                <a:solidFill>
                  <a:srgbClr val="000000"/>
                </a:solidFill>
              </a:rPr>
              <a:t>RR</a:t>
            </a:r>
            <a:endParaRPr lang="zh-CN" altLang="en-US" sz="1200" dirty="0">
              <a:solidFill>
                <a:srgbClr val="000000"/>
              </a:solidFill>
            </a:endParaRPr>
          </a:p>
        </p:txBody>
      </p:sp>
      <p:sp>
        <p:nvSpPr>
          <p:cNvPr id="314" name="Rectangle: Rounded Corners 313">
            <a:extLst>
              <a:ext uri="{FF2B5EF4-FFF2-40B4-BE49-F238E27FC236}">
                <a16:creationId xmlns:a16="http://schemas.microsoft.com/office/drawing/2014/main" id="{6141E2C5-0B61-489A-B188-65BBF0AE463F}"/>
              </a:ext>
            </a:extLst>
          </p:cNvPr>
          <p:cNvSpPr/>
          <p:nvPr/>
        </p:nvSpPr>
        <p:spPr bwMode="gray">
          <a:xfrm flipV="1">
            <a:off x="8736236" y="1585265"/>
            <a:ext cx="1656427" cy="1287179"/>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5" name="Rectangle: Rounded Corners 314">
            <a:extLst>
              <a:ext uri="{FF2B5EF4-FFF2-40B4-BE49-F238E27FC236}">
                <a16:creationId xmlns:a16="http://schemas.microsoft.com/office/drawing/2014/main" id="{5F048CCC-004C-438E-BE0F-C408AD968890}"/>
              </a:ext>
            </a:extLst>
          </p:cNvPr>
          <p:cNvSpPr/>
          <p:nvPr/>
        </p:nvSpPr>
        <p:spPr bwMode="gray">
          <a:xfrm>
            <a:off x="8123647" y="1623186"/>
            <a:ext cx="612589" cy="224485"/>
          </a:xfrm>
          <a:prstGeom prst="roundRect">
            <a:avLst>
              <a:gd name="adj" fmla="val 10967"/>
            </a:avLst>
          </a:prstGeom>
          <a:solidFill>
            <a:srgbClr val="56C4D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区域</a:t>
            </a:r>
            <a:r>
              <a:rPr lang="en-US" altLang="zh-CN" sz="1200" dirty="0"/>
              <a:t>A</a:t>
            </a:r>
            <a:endParaRPr lang="en-US" sz="1200" dirty="0"/>
          </a:p>
        </p:txBody>
      </p:sp>
      <p:cxnSp>
        <p:nvCxnSpPr>
          <p:cNvPr id="316" name="直接连接符 92">
            <a:extLst>
              <a:ext uri="{FF2B5EF4-FFF2-40B4-BE49-F238E27FC236}">
                <a16:creationId xmlns:a16="http://schemas.microsoft.com/office/drawing/2014/main" id="{546430CB-66D7-4FCD-BDE5-9FB5245747B6}"/>
              </a:ext>
            </a:extLst>
          </p:cNvPr>
          <p:cNvCxnSpPr>
            <a:cxnSpLocks/>
            <a:stCxn id="266" idx="1"/>
            <a:endCxn id="309" idx="2"/>
          </p:cNvCxnSpPr>
          <p:nvPr/>
        </p:nvCxnSpPr>
        <p:spPr bwMode="gray">
          <a:xfrm flipV="1">
            <a:off x="9149027" y="2817963"/>
            <a:ext cx="223780" cy="22603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 name="直接连接符 90">
            <a:extLst>
              <a:ext uri="{FF2B5EF4-FFF2-40B4-BE49-F238E27FC236}">
                <a16:creationId xmlns:a16="http://schemas.microsoft.com/office/drawing/2014/main" id="{79042CFF-4BB8-433C-812C-E6D48F54837B}"/>
              </a:ext>
            </a:extLst>
          </p:cNvPr>
          <p:cNvCxnSpPr>
            <a:cxnSpLocks/>
            <a:stCxn id="310" idx="2"/>
            <a:endCxn id="267" idx="0"/>
          </p:cNvCxnSpPr>
          <p:nvPr/>
        </p:nvCxnSpPr>
        <p:spPr bwMode="gray">
          <a:xfrm>
            <a:off x="9957535" y="2817963"/>
            <a:ext cx="107382" cy="15051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116"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376284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78979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en-US" altLang="zh-CN" dirty="0"/>
              <a:t>RR</a:t>
            </a:r>
            <a:r>
              <a:rPr lang="zh-CN" altLang="en-US" dirty="0"/>
              <a:t>部署原则</a:t>
            </a:r>
            <a:endParaRPr lang="en-US" dirty="0"/>
          </a:p>
        </p:txBody>
      </p:sp>
      <p:sp>
        <p:nvSpPr>
          <p:cNvPr id="3" name="Text Placeholder 2">
            <a:extLst>
              <a:ext uri="{FF2B5EF4-FFF2-40B4-BE49-F238E27FC236}">
                <a16:creationId xmlns:a16="http://schemas.microsoft.com/office/drawing/2014/main" id="{7DC63265-E5C7-4220-BD6F-7E49A241C7FE}"/>
              </a:ext>
            </a:extLst>
          </p:cNvPr>
          <p:cNvSpPr>
            <a:spLocks noGrp="1"/>
          </p:cNvSpPr>
          <p:nvPr>
            <p:ph type="body" sz="quarter" idx="10"/>
          </p:nvPr>
        </p:nvSpPr>
        <p:spPr bwMode="gray">
          <a:xfrm>
            <a:off x="6096000" y="1047750"/>
            <a:ext cx="5653087" cy="4879805"/>
          </a:xfrm>
        </p:spPr>
        <p:txBody>
          <a:bodyPr/>
          <a:lstStyle/>
          <a:p>
            <a:r>
              <a:rPr lang="zh-CN" altLang="en-US" sz="1800" dirty="0"/>
              <a:t>鉴于</a:t>
            </a:r>
            <a:r>
              <a:rPr lang="en-US" altLang="zh-CN" sz="1800" dirty="0"/>
              <a:t>RR</a:t>
            </a:r>
            <a:r>
              <a:rPr lang="zh-CN" altLang="en-US" sz="1800" dirty="0"/>
              <a:t>的重要性，</a:t>
            </a:r>
            <a:r>
              <a:rPr lang="en-US" altLang="zh-CN" sz="1800" dirty="0"/>
              <a:t>RR</a:t>
            </a:r>
            <a:r>
              <a:rPr lang="zh-CN" altLang="en-US" sz="1800" dirty="0"/>
              <a:t>在实际部署时应遵循以下原则：</a:t>
            </a:r>
            <a:endParaRPr lang="en-US" altLang="zh-CN" sz="1800" dirty="0"/>
          </a:p>
          <a:p>
            <a:pPr lvl="1"/>
            <a:r>
              <a:rPr lang="en-US" altLang="zh-CN" sz="1600" dirty="0"/>
              <a:t>RR</a:t>
            </a:r>
            <a:r>
              <a:rPr lang="zh-CN" altLang="en-US" sz="1600" dirty="0"/>
              <a:t>必须冗余配置，现网至少要有两台</a:t>
            </a:r>
            <a:r>
              <a:rPr lang="en-US" altLang="zh-CN" sz="1600" dirty="0"/>
              <a:t>RR</a:t>
            </a:r>
            <a:r>
              <a:rPr lang="zh-CN" altLang="en-US" sz="1600" dirty="0"/>
              <a:t>设备存在。避免全网只有一台</a:t>
            </a:r>
            <a:r>
              <a:rPr lang="en-US" altLang="zh-CN" sz="1600"/>
              <a:t>RR</a:t>
            </a:r>
            <a:r>
              <a:rPr lang="zh-CN" altLang="en-US" sz="1600"/>
              <a:t>设备时，</a:t>
            </a:r>
            <a:r>
              <a:rPr lang="en-US" altLang="zh-CN" sz="1600"/>
              <a:t>RR</a:t>
            </a:r>
            <a:r>
              <a:rPr lang="zh-CN" altLang="en-US" sz="1600"/>
              <a:t>设备故障造成</a:t>
            </a:r>
            <a:r>
              <a:rPr lang="zh-CN" altLang="en-US" sz="1600" dirty="0"/>
              <a:t>全网业务中断。</a:t>
            </a:r>
            <a:endParaRPr lang="en-US" altLang="zh-CN" sz="1600" dirty="0"/>
          </a:p>
          <a:p>
            <a:pPr lvl="1"/>
            <a:r>
              <a:rPr lang="en-US" altLang="zh-CN" sz="1600" dirty="0"/>
              <a:t>Edge</a:t>
            </a:r>
            <a:r>
              <a:rPr lang="zh-CN" altLang="en-US" sz="1600" dirty="0"/>
              <a:t>站点应双上行到两个</a:t>
            </a:r>
            <a:r>
              <a:rPr lang="en-US" altLang="zh-CN" sz="1600" dirty="0"/>
              <a:t>RR</a:t>
            </a:r>
            <a:r>
              <a:rPr lang="zh-CN" altLang="en-US" sz="1600" dirty="0"/>
              <a:t>设备，以实现出口备份。</a:t>
            </a:r>
            <a:endParaRPr lang="en-US" altLang="zh-CN" sz="1600" dirty="0"/>
          </a:p>
          <a:p>
            <a:pPr lvl="1"/>
            <a:r>
              <a:rPr lang="zh-CN" altLang="en-US" sz="1600" dirty="0"/>
              <a:t>尽量选择独立的</a:t>
            </a:r>
            <a:r>
              <a:rPr lang="en-US" altLang="zh-CN" sz="1600" dirty="0"/>
              <a:t>RR</a:t>
            </a:r>
            <a:r>
              <a:rPr lang="zh-CN" altLang="en-US" sz="1600" dirty="0"/>
              <a:t>，保持</a:t>
            </a:r>
            <a:r>
              <a:rPr lang="en-US" altLang="zh-CN" sz="1600" dirty="0"/>
              <a:t>RR</a:t>
            </a:r>
            <a:r>
              <a:rPr lang="zh-CN" altLang="en-US" sz="1600" dirty="0"/>
              <a:t>的稳定性。</a:t>
            </a:r>
            <a:endParaRPr lang="en-US" altLang="zh-CN" sz="1600" dirty="0"/>
          </a:p>
          <a:p>
            <a:pPr lvl="1"/>
            <a:r>
              <a:rPr lang="zh-CN" altLang="en-US" sz="1600" dirty="0"/>
              <a:t>如不能选取独立</a:t>
            </a:r>
            <a:r>
              <a:rPr lang="en-US" altLang="zh-CN" sz="1600" dirty="0"/>
              <a:t>RR</a:t>
            </a:r>
            <a:r>
              <a:rPr lang="zh-CN" altLang="en-US" sz="1600" dirty="0"/>
              <a:t>，尽量选取核心位置的设备作为</a:t>
            </a:r>
            <a:r>
              <a:rPr lang="en-US" altLang="zh-CN" sz="1600" dirty="0"/>
              <a:t>RR</a:t>
            </a:r>
            <a:r>
              <a:rPr lang="zh-CN" altLang="en-US" sz="1600" dirty="0"/>
              <a:t>，</a:t>
            </a:r>
            <a:r>
              <a:rPr lang="zh-CN" altLang="en-US" sz="1600"/>
              <a:t>且保证设备性能</a:t>
            </a:r>
            <a:r>
              <a:rPr lang="zh-CN" altLang="en-US" sz="1600" dirty="0"/>
              <a:t>上能够承受。</a:t>
            </a:r>
            <a:endParaRPr lang="en-US" altLang="zh-CN" sz="1600" dirty="0"/>
          </a:p>
          <a:p>
            <a:pPr lvl="1"/>
            <a:r>
              <a:rPr lang="zh-CN" altLang="en-US" sz="1600" dirty="0"/>
              <a:t>使用规格清单中推荐的</a:t>
            </a:r>
            <a:r>
              <a:rPr lang="en-US" altLang="zh-CN" sz="1600"/>
              <a:t>RR</a:t>
            </a:r>
            <a:r>
              <a:rPr lang="zh-CN" altLang="en-US" sz="1600"/>
              <a:t>款型。</a:t>
            </a:r>
            <a:endParaRPr lang="en-US" sz="1600" dirty="0"/>
          </a:p>
        </p:txBody>
      </p:sp>
      <p:sp>
        <p:nvSpPr>
          <p:cNvPr id="117" name="Freeform 159">
            <a:extLst>
              <a:ext uri="{FF2B5EF4-FFF2-40B4-BE49-F238E27FC236}">
                <a16:creationId xmlns:a16="http://schemas.microsoft.com/office/drawing/2014/main" id="{3DC753A1-8702-4BC9-A42F-7E30115E5FAB}"/>
              </a:ext>
            </a:extLst>
          </p:cNvPr>
          <p:cNvSpPr/>
          <p:nvPr/>
        </p:nvSpPr>
        <p:spPr bwMode="gray">
          <a:xfrm flipH="1">
            <a:off x="3813537" y="4747865"/>
            <a:ext cx="1208491"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8" name="Freeform 159">
            <a:extLst>
              <a:ext uri="{FF2B5EF4-FFF2-40B4-BE49-F238E27FC236}">
                <a16:creationId xmlns:a16="http://schemas.microsoft.com/office/drawing/2014/main" id="{8C19FD35-0342-449F-8326-B6456D1DE676}"/>
              </a:ext>
            </a:extLst>
          </p:cNvPr>
          <p:cNvSpPr/>
          <p:nvPr/>
        </p:nvSpPr>
        <p:spPr bwMode="gray">
          <a:xfrm flipH="1">
            <a:off x="1845488" y="4747866"/>
            <a:ext cx="1208491"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19" name="Picture 12" descr="E:\2016.01\1.12 扁平化图标\蓝色\AR-蓝色最新-40.png">
            <a:extLst>
              <a:ext uri="{FF2B5EF4-FFF2-40B4-BE49-F238E27FC236}">
                <a16:creationId xmlns:a16="http://schemas.microsoft.com/office/drawing/2014/main" id="{49151F95-D04C-4F71-A0B1-C3EFFDE8EE31}"/>
              </a:ext>
            </a:extLst>
          </p:cNvPr>
          <p:cNvPicPr>
            <a:picLocks noChangeAspect="1" noChangeArrowheads="1"/>
          </p:cNvPicPr>
          <p:nvPr/>
        </p:nvPicPr>
        <p:blipFill>
          <a:blip r:embed="rId3" cstate="print"/>
          <a:srcRect/>
          <a:stretch>
            <a:fillRect/>
          </a:stretch>
        </p:blipFill>
        <p:spPr bwMode="gray">
          <a:xfrm>
            <a:off x="2241224" y="4630668"/>
            <a:ext cx="474524" cy="388247"/>
          </a:xfrm>
          <a:prstGeom prst="rect">
            <a:avLst/>
          </a:prstGeom>
          <a:noFill/>
        </p:spPr>
      </p:pic>
      <p:cxnSp>
        <p:nvCxnSpPr>
          <p:cNvPr id="120" name="Straight Connector 119">
            <a:extLst>
              <a:ext uri="{FF2B5EF4-FFF2-40B4-BE49-F238E27FC236}">
                <a16:creationId xmlns:a16="http://schemas.microsoft.com/office/drawing/2014/main" id="{3A412881-A33E-4866-AAD5-8AB04A91E647}"/>
              </a:ext>
            </a:extLst>
          </p:cNvPr>
          <p:cNvCxnSpPr>
            <a:cxnSpLocks/>
            <a:endCxn id="119" idx="0"/>
          </p:cNvCxnSpPr>
          <p:nvPr/>
        </p:nvCxnSpPr>
        <p:spPr bwMode="gray">
          <a:xfrm>
            <a:off x="2478486" y="3752001"/>
            <a:ext cx="0" cy="87866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986974AA-A800-40CC-9821-D8C03D01CB6B}"/>
              </a:ext>
            </a:extLst>
          </p:cNvPr>
          <p:cNvCxnSpPr>
            <a:cxnSpLocks/>
            <a:endCxn id="119" idx="0"/>
          </p:cNvCxnSpPr>
          <p:nvPr/>
        </p:nvCxnSpPr>
        <p:spPr bwMode="gray">
          <a:xfrm flipH="1">
            <a:off x="2478486" y="3767134"/>
            <a:ext cx="2056725" cy="8635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AA42DD0E-CD69-43A8-B63E-FE30182EEDD9}"/>
              </a:ext>
            </a:extLst>
          </p:cNvPr>
          <p:cNvSpPr txBox="1"/>
          <p:nvPr/>
        </p:nvSpPr>
        <p:spPr bwMode="gray">
          <a:xfrm>
            <a:off x="2223220" y="4980555"/>
            <a:ext cx="543739" cy="307777"/>
          </a:xfrm>
          <a:prstGeom prst="rect">
            <a:avLst/>
          </a:prstGeom>
          <a:noFill/>
        </p:spPr>
        <p:txBody>
          <a:bodyPr wrap="none" rtlCol="0">
            <a:spAutoFit/>
          </a:bodyPr>
          <a:lstStyle/>
          <a:p>
            <a:r>
              <a:rPr lang="zh-CN" altLang="en-US" sz="1400" dirty="0"/>
              <a:t>分支</a:t>
            </a:r>
          </a:p>
        </p:txBody>
      </p:sp>
      <p:sp>
        <p:nvSpPr>
          <p:cNvPr id="123" name="Freeform 159">
            <a:extLst>
              <a:ext uri="{FF2B5EF4-FFF2-40B4-BE49-F238E27FC236}">
                <a16:creationId xmlns:a16="http://schemas.microsoft.com/office/drawing/2014/main" id="{D9A17191-373E-491F-94C8-674C7F9F1DAF}"/>
              </a:ext>
            </a:extLst>
          </p:cNvPr>
          <p:cNvSpPr/>
          <p:nvPr/>
        </p:nvSpPr>
        <p:spPr bwMode="gray">
          <a:xfrm flipH="1">
            <a:off x="1945159" y="3105999"/>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124" name="Freeform 159">
            <a:extLst>
              <a:ext uri="{FF2B5EF4-FFF2-40B4-BE49-F238E27FC236}">
                <a16:creationId xmlns:a16="http://schemas.microsoft.com/office/drawing/2014/main" id="{FD565DA7-ADB9-46D7-80EE-D741572FD96C}"/>
              </a:ext>
            </a:extLst>
          </p:cNvPr>
          <p:cNvSpPr/>
          <p:nvPr/>
        </p:nvSpPr>
        <p:spPr bwMode="gray">
          <a:xfrm flipH="1">
            <a:off x="3938243" y="3105998"/>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sp>
        <p:nvSpPr>
          <p:cNvPr id="125" name="Freeform 159">
            <a:extLst>
              <a:ext uri="{FF2B5EF4-FFF2-40B4-BE49-F238E27FC236}">
                <a16:creationId xmlns:a16="http://schemas.microsoft.com/office/drawing/2014/main" id="{A1630E1B-36D7-4F92-9675-25B1C323E6C4}"/>
              </a:ext>
            </a:extLst>
          </p:cNvPr>
          <p:cNvSpPr/>
          <p:nvPr/>
        </p:nvSpPr>
        <p:spPr bwMode="gray">
          <a:xfrm flipH="1">
            <a:off x="2675107" y="1750363"/>
            <a:ext cx="1429629" cy="7642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26" name="Straight Connector 125">
            <a:extLst>
              <a:ext uri="{FF2B5EF4-FFF2-40B4-BE49-F238E27FC236}">
                <a16:creationId xmlns:a16="http://schemas.microsoft.com/office/drawing/2014/main" id="{72E9F1D6-ADE9-4782-B75A-DCB5169BAB6A}"/>
              </a:ext>
            </a:extLst>
          </p:cNvPr>
          <p:cNvCxnSpPr>
            <a:cxnSpLocks/>
            <a:stCxn id="129" idx="2"/>
            <a:endCxn id="124" idx="0"/>
          </p:cNvCxnSpPr>
          <p:nvPr/>
        </p:nvCxnSpPr>
        <p:spPr bwMode="gray">
          <a:xfrm>
            <a:off x="3616881" y="2372042"/>
            <a:ext cx="789501" cy="7339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991D8964-CB26-42D0-AE33-E9BAF1DCA6B6}"/>
              </a:ext>
            </a:extLst>
          </p:cNvPr>
          <p:cNvCxnSpPr>
            <a:cxnSpLocks/>
            <a:stCxn id="128" idx="2"/>
            <a:endCxn id="123" idx="0"/>
          </p:cNvCxnSpPr>
          <p:nvPr/>
        </p:nvCxnSpPr>
        <p:spPr bwMode="gray">
          <a:xfrm flipH="1">
            <a:off x="2413298" y="2372810"/>
            <a:ext cx="742941" cy="73318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28" name="Picture 12" descr="E:\2016.01\1.12 扁平化图标\蓝色\AR-蓝色最新-40.png">
            <a:extLst>
              <a:ext uri="{FF2B5EF4-FFF2-40B4-BE49-F238E27FC236}">
                <a16:creationId xmlns:a16="http://schemas.microsoft.com/office/drawing/2014/main" id="{573FC795-5305-428D-9775-5A7CF1F4C6BB}"/>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3002844" y="2121801"/>
            <a:ext cx="306789" cy="251009"/>
          </a:xfrm>
          <a:prstGeom prst="rect">
            <a:avLst/>
          </a:prstGeom>
          <a:noFill/>
        </p:spPr>
      </p:pic>
      <p:pic>
        <p:nvPicPr>
          <p:cNvPr id="129" name="Picture 12" descr="E:\2016.01\1.12 扁平化图标\蓝色\AR-蓝色最新-40.png">
            <a:extLst>
              <a:ext uri="{FF2B5EF4-FFF2-40B4-BE49-F238E27FC236}">
                <a16:creationId xmlns:a16="http://schemas.microsoft.com/office/drawing/2014/main" id="{98541CA1-8FF6-476C-A189-E920CD5E3EA4}"/>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3463486" y="2121033"/>
            <a:ext cx="306789" cy="251009"/>
          </a:xfrm>
          <a:prstGeom prst="rect">
            <a:avLst/>
          </a:prstGeom>
          <a:noFill/>
        </p:spPr>
      </p:pic>
      <p:sp>
        <p:nvSpPr>
          <p:cNvPr id="130" name="TextBox 129">
            <a:extLst>
              <a:ext uri="{FF2B5EF4-FFF2-40B4-BE49-F238E27FC236}">
                <a16:creationId xmlns:a16="http://schemas.microsoft.com/office/drawing/2014/main" id="{2669E3F1-5DBC-4E4C-A509-227634A2115F}"/>
              </a:ext>
            </a:extLst>
          </p:cNvPr>
          <p:cNvSpPr txBox="1"/>
          <p:nvPr/>
        </p:nvSpPr>
        <p:spPr bwMode="gray">
          <a:xfrm>
            <a:off x="2978151" y="1857029"/>
            <a:ext cx="836286" cy="307777"/>
          </a:xfrm>
          <a:prstGeom prst="rect">
            <a:avLst/>
          </a:prstGeom>
          <a:noFill/>
        </p:spPr>
        <p:txBody>
          <a:bodyPr wrap="square" rtlCol="0">
            <a:spAutoFit/>
          </a:bodyPr>
          <a:lstStyle/>
          <a:p>
            <a:pPr algn="ctr"/>
            <a:r>
              <a:rPr lang="en-US" altLang="zh-CN" sz="1400"/>
              <a:t>Hub</a:t>
            </a:r>
            <a:endParaRPr lang="zh-CN" altLang="en-US" sz="1600" dirty="0"/>
          </a:p>
        </p:txBody>
      </p:sp>
      <p:pic>
        <p:nvPicPr>
          <p:cNvPr id="131" name="Picture 12" descr="E:\2016.01\1.12 扁平化图标\蓝色\AR-蓝色最新-40.png">
            <a:extLst>
              <a:ext uri="{FF2B5EF4-FFF2-40B4-BE49-F238E27FC236}">
                <a16:creationId xmlns:a16="http://schemas.microsoft.com/office/drawing/2014/main" id="{E853A70F-B22F-4901-B07D-23152727DECB}"/>
              </a:ext>
            </a:extLst>
          </p:cNvPr>
          <p:cNvPicPr>
            <a:picLocks noChangeAspect="1" noChangeArrowheads="1"/>
          </p:cNvPicPr>
          <p:nvPr/>
        </p:nvPicPr>
        <p:blipFill>
          <a:blip r:embed="rId3" cstate="print"/>
          <a:srcRect/>
          <a:stretch>
            <a:fillRect/>
          </a:stretch>
        </p:blipFill>
        <p:spPr bwMode="gray">
          <a:xfrm>
            <a:off x="3901981" y="4642280"/>
            <a:ext cx="474524" cy="388247"/>
          </a:xfrm>
          <a:prstGeom prst="rect">
            <a:avLst/>
          </a:prstGeom>
          <a:noFill/>
        </p:spPr>
      </p:pic>
      <p:pic>
        <p:nvPicPr>
          <p:cNvPr id="132" name="Picture 12" descr="E:\2016.01\1.12 扁平化图标\蓝色\AR-蓝色最新-40.png">
            <a:extLst>
              <a:ext uri="{FF2B5EF4-FFF2-40B4-BE49-F238E27FC236}">
                <a16:creationId xmlns:a16="http://schemas.microsoft.com/office/drawing/2014/main" id="{CBEC553A-1D3A-4DC0-9032-4EE60142C206}"/>
              </a:ext>
            </a:extLst>
          </p:cNvPr>
          <p:cNvPicPr>
            <a:picLocks noChangeAspect="1" noChangeArrowheads="1"/>
          </p:cNvPicPr>
          <p:nvPr/>
        </p:nvPicPr>
        <p:blipFill>
          <a:blip r:embed="rId3" cstate="print"/>
          <a:srcRect/>
          <a:stretch>
            <a:fillRect/>
          </a:stretch>
        </p:blipFill>
        <p:spPr bwMode="gray">
          <a:xfrm>
            <a:off x="4589438" y="4643342"/>
            <a:ext cx="474524" cy="388247"/>
          </a:xfrm>
          <a:prstGeom prst="rect">
            <a:avLst/>
          </a:prstGeom>
          <a:noFill/>
        </p:spPr>
      </p:pic>
      <p:sp>
        <p:nvSpPr>
          <p:cNvPr id="133" name="TextBox 132">
            <a:extLst>
              <a:ext uri="{FF2B5EF4-FFF2-40B4-BE49-F238E27FC236}">
                <a16:creationId xmlns:a16="http://schemas.microsoft.com/office/drawing/2014/main" id="{C24FEB3A-0FFB-4BC1-ABE3-81CAD7028E97}"/>
              </a:ext>
            </a:extLst>
          </p:cNvPr>
          <p:cNvSpPr txBox="1"/>
          <p:nvPr/>
        </p:nvSpPr>
        <p:spPr bwMode="gray">
          <a:xfrm>
            <a:off x="4211102" y="4996550"/>
            <a:ext cx="543739" cy="307777"/>
          </a:xfrm>
          <a:prstGeom prst="rect">
            <a:avLst/>
          </a:prstGeom>
          <a:noFill/>
        </p:spPr>
        <p:txBody>
          <a:bodyPr wrap="none" rtlCol="0">
            <a:spAutoFit/>
          </a:bodyPr>
          <a:lstStyle/>
          <a:p>
            <a:r>
              <a:rPr lang="zh-CN" altLang="en-US" sz="1400" dirty="0"/>
              <a:t>分支</a:t>
            </a:r>
          </a:p>
        </p:txBody>
      </p:sp>
      <p:cxnSp>
        <p:nvCxnSpPr>
          <p:cNvPr id="134" name="Straight Connector 133">
            <a:extLst>
              <a:ext uri="{FF2B5EF4-FFF2-40B4-BE49-F238E27FC236}">
                <a16:creationId xmlns:a16="http://schemas.microsoft.com/office/drawing/2014/main" id="{B83781ED-13B4-4297-A933-06ED64D002C8}"/>
              </a:ext>
            </a:extLst>
          </p:cNvPr>
          <p:cNvCxnSpPr>
            <a:cxnSpLocks/>
            <a:endCxn id="131" idx="0"/>
          </p:cNvCxnSpPr>
          <p:nvPr/>
        </p:nvCxnSpPr>
        <p:spPr bwMode="gray">
          <a:xfrm>
            <a:off x="2533956" y="3767135"/>
            <a:ext cx="1605287" cy="87514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E68D3B1-EBCE-420F-B67E-25E4DEBEBDD5}"/>
              </a:ext>
            </a:extLst>
          </p:cNvPr>
          <p:cNvCxnSpPr>
            <a:cxnSpLocks/>
            <a:endCxn id="132" idx="0"/>
          </p:cNvCxnSpPr>
          <p:nvPr/>
        </p:nvCxnSpPr>
        <p:spPr bwMode="gray">
          <a:xfrm>
            <a:off x="4600575" y="3752850"/>
            <a:ext cx="226125" cy="89049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71C01EC-A5A6-47EC-BE9E-0F825FD694AB}"/>
              </a:ext>
            </a:extLst>
          </p:cNvPr>
          <p:cNvCxnSpPr>
            <a:cxnSpLocks/>
            <a:stCxn id="132" idx="1"/>
            <a:endCxn id="131" idx="3"/>
          </p:cNvCxnSpPr>
          <p:nvPr/>
        </p:nvCxnSpPr>
        <p:spPr bwMode="gray">
          <a:xfrm flipH="1" flipV="1">
            <a:off x="4376505" y="4836404"/>
            <a:ext cx="212933" cy="106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37" name="Picture 12" descr="E:\2016.01\1.12 扁平化图标\蓝色\AR-蓝色最新-40.png">
            <a:extLst>
              <a:ext uri="{FF2B5EF4-FFF2-40B4-BE49-F238E27FC236}">
                <a16:creationId xmlns:a16="http://schemas.microsoft.com/office/drawing/2014/main" id="{B6F9E3A1-79BC-4185-9B55-0C59ECAE2747}"/>
              </a:ext>
            </a:extLst>
          </p:cNvPr>
          <p:cNvPicPr>
            <a:picLocks noChangeAspect="1" noChangeArrowheads="1"/>
          </p:cNvPicPr>
          <p:nvPr/>
        </p:nvPicPr>
        <p:blipFill>
          <a:blip r:embed="rId3" cstate="print"/>
          <a:srcRect/>
          <a:stretch>
            <a:fillRect/>
          </a:stretch>
        </p:blipFill>
        <p:spPr bwMode="gray">
          <a:xfrm>
            <a:off x="1123004" y="2375741"/>
            <a:ext cx="474524" cy="388247"/>
          </a:xfrm>
          <a:prstGeom prst="rect">
            <a:avLst/>
          </a:prstGeom>
          <a:noFill/>
        </p:spPr>
      </p:pic>
      <p:pic>
        <p:nvPicPr>
          <p:cNvPr id="138" name="Picture 12" descr="E:\2016.01\1.12 扁平化图标\蓝色\AR-蓝色最新-40.png">
            <a:extLst>
              <a:ext uri="{FF2B5EF4-FFF2-40B4-BE49-F238E27FC236}">
                <a16:creationId xmlns:a16="http://schemas.microsoft.com/office/drawing/2014/main" id="{B812AD44-2536-40F8-A907-A4B55E0EB1B5}"/>
              </a:ext>
            </a:extLst>
          </p:cNvPr>
          <p:cNvPicPr>
            <a:picLocks noChangeAspect="1" noChangeArrowheads="1"/>
          </p:cNvPicPr>
          <p:nvPr/>
        </p:nvPicPr>
        <p:blipFill>
          <a:blip r:embed="rId3" cstate="print"/>
          <a:srcRect/>
          <a:stretch>
            <a:fillRect/>
          </a:stretch>
        </p:blipFill>
        <p:spPr bwMode="gray">
          <a:xfrm>
            <a:off x="5216476" y="2404618"/>
            <a:ext cx="474524" cy="388247"/>
          </a:xfrm>
          <a:prstGeom prst="rect">
            <a:avLst/>
          </a:prstGeom>
          <a:noFill/>
        </p:spPr>
      </p:pic>
      <p:cxnSp>
        <p:nvCxnSpPr>
          <p:cNvPr id="139" name="Straight Connector 138">
            <a:extLst>
              <a:ext uri="{FF2B5EF4-FFF2-40B4-BE49-F238E27FC236}">
                <a16:creationId xmlns:a16="http://schemas.microsoft.com/office/drawing/2014/main" id="{36C0A8AE-8D38-45E7-8AA1-26974785889A}"/>
              </a:ext>
            </a:extLst>
          </p:cNvPr>
          <p:cNvCxnSpPr>
            <a:cxnSpLocks/>
            <a:stCxn id="123" idx="24"/>
            <a:endCxn id="137" idx="2"/>
          </p:cNvCxnSpPr>
          <p:nvPr/>
        </p:nvCxnSpPr>
        <p:spPr bwMode="gray">
          <a:xfrm flipH="1" flipV="1">
            <a:off x="1360266" y="2763988"/>
            <a:ext cx="763472" cy="58844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D8407CEF-DC1B-4CD9-83C6-26D953053C7C}"/>
              </a:ext>
            </a:extLst>
          </p:cNvPr>
          <p:cNvCxnSpPr>
            <a:cxnSpLocks/>
            <a:stCxn id="124" idx="21"/>
            <a:endCxn id="137" idx="3"/>
          </p:cNvCxnSpPr>
          <p:nvPr/>
        </p:nvCxnSpPr>
        <p:spPr bwMode="gray">
          <a:xfrm flipH="1" flipV="1">
            <a:off x="1597528" y="2569865"/>
            <a:ext cx="2340715" cy="98904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00322675-71D5-425B-8219-8D1D02B63436}"/>
              </a:ext>
            </a:extLst>
          </p:cNvPr>
          <p:cNvCxnSpPr>
            <a:cxnSpLocks/>
            <a:stCxn id="138" idx="2"/>
            <a:endCxn id="124" idx="8"/>
          </p:cNvCxnSpPr>
          <p:nvPr/>
        </p:nvCxnSpPr>
        <p:spPr bwMode="gray">
          <a:xfrm flipH="1">
            <a:off x="5132180" y="2792865"/>
            <a:ext cx="321558" cy="75428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2C0007F-BF9A-4D65-B1AD-0F5CC24987F2}"/>
              </a:ext>
            </a:extLst>
          </p:cNvPr>
          <p:cNvCxnSpPr>
            <a:cxnSpLocks/>
            <a:stCxn id="138" idx="1"/>
            <a:endCxn id="123" idx="8"/>
          </p:cNvCxnSpPr>
          <p:nvPr/>
        </p:nvCxnSpPr>
        <p:spPr bwMode="gray">
          <a:xfrm flipH="1">
            <a:off x="3139096" y="2598742"/>
            <a:ext cx="2077380" cy="94840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a16="http://schemas.microsoft.com/office/drawing/2014/main" id="{930D7658-2679-478D-803B-D8B843DDF024}"/>
              </a:ext>
            </a:extLst>
          </p:cNvPr>
          <p:cNvSpPr txBox="1"/>
          <p:nvPr/>
        </p:nvSpPr>
        <p:spPr bwMode="gray">
          <a:xfrm>
            <a:off x="1142125" y="2098741"/>
            <a:ext cx="460382" cy="276999"/>
          </a:xfrm>
          <a:prstGeom prst="rect">
            <a:avLst/>
          </a:prstGeom>
          <a:noFill/>
        </p:spPr>
        <p:txBody>
          <a:bodyPr wrap="none" rtlCol="0">
            <a:spAutoFit/>
          </a:bodyPr>
          <a:lstStyle/>
          <a:p>
            <a:r>
              <a:rPr lang="en-US" altLang="zh-CN" sz="1200" dirty="0"/>
              <a:t>RR1</a:t>
            </a:r>
            <a:endParaRPr lang="zh-CN" altLang="en-US" sz="1200" dirty="0"/>
          </a:p>
        </p:txBody>
      </p:sp>
      <p:sp>
        <p:nvSpPr>
          <p:cNvPr id="144" name="TextBox 143">
            <a:extLst>
              <a:ext uri="{FF2B5EF4-FFF2-40B4-BE49-F238E27FC236}">
                <a16:creationId xmlns:a16="http://schemas.microsoft.com/office/drawing/2014/main" id="{55B9A1B4-12CA-4B3C-94AA-1CBA2CBCF7AF}"/>
              </a:ext>
            </a:extLst>
          </p:cNvPr>
          <p:cNvSpPr txBox="1"/>
          <p:nvPr/>
        </p:nvSpPr>
        <p:spPr bwMode="gray">
          <a:xfrm>
            <a:off x="5230618" y="2145953"/>
            <a:ext cx="460382" cy="276999"/>
          </a:xfrm>
          <a:prstGeom prst="rect">
            <a:avLst/>
          </a:prstGeom>
          <a:noFill/>
        </p:spPr>
        <p:txBody>
          <a:bodyPr wrap="none" rtlCol="0">
            <a:spAutoFit/>
          </a:bodyPr>
          <a:lstStyle/>
          <a:p>
            <a:r>
              <a:rPr lang="en-US" altLang="zh-CN" sz="1200" dirty="0"/>
              <a:t>RR2</a:t>
            </a:r>
            <a:endParaRPr lang="zh-CN" altLang="en-US" sz="1200" dirty="0"/>
          </a:p>
        </p:txBody>
      </p:sp>
      <p:pic>
        <p:nvPicPr>
          <p:cNvPr id="145" name="Picture 12" descr="E:\2016.01\1.12 扁平化图标\蓝色\AR-蓝色最新-40.png">
            <a:extLst>
              <a:ext uri="{FF2B5EF4-FFF2-40B4-BE49-F238E27FC236}">
                <a16:creationId xmlns:a16="http://schemas.microsoft.com/office/drawing/2014/main" id="{A2BA72DB-96F0-43DE-B8E6-4CEC9E2527EE}"/>
              </a:ext>
            </a:extLst>
          </p:cNvPr>
          <p:cNvPicPr>
            <a:picLocks noChangeAspect="1" noChangeArrowheads="1"/>
          </p:cNvPicPr>
          <p:nvPr/>
        </p:nvPicPr>
        <p:blipFill>
          <a:blip r:embed="rId3" cstate="print"/>
          <a:srcRect/>
          <a:stretch>
            <a:fillRect/>
          </a:stretch>
        </p:blipFill>
        <p:spPr bwMode="gray">
          <a:xfrm>
            <a:off x="2381756" y="2051823"/>
            <a:ext cx="474524" cy="388247"/>
          </a:xfrm>
          <a:prstGeom prst="rect">
            <a:avLst/>
          </a:prstGeom>
          <a:noFill/>
        </p:spPr>
      </p:pic>
      <p:pic>
        <p:nvPicPr>
          <p:cNvPr id="146" name="Picture 12" descr="E:\2016.01\1.12 扁平化图标\蓝色\AR-蓝色最新-40.png">
            <a:extLst>
              <a:ext uri="{FF2B5EF4-FFF2-40B4-BE49-F238E27FC236}">
                <a16:creationId xmlns:a16="http://schemas.microsoft.com/office/drawing/2014/main" id="{87431E71-9A82-45CF-8E2F-DBFE8A80B357}"/>
              </a:ext>
            </a:extLst>
          </p:cNvPr>
          <p:cNvPicPr>
            <a:picLocks noChangeAspect="1" noChangeArrowheads="1"/>
          </p:cNvPicPr>
          <p:nvPr/>
        </p:nvPicPr>
        <p:blipFill>
          <a:blip r:embed="rId3" cstate="print"/>
          <a:srcRect/>
          <a:stretch>
            <a:fillRect/>
          </a:stretch>
        </p:blipFill>
        <p:spPr bwMode="gray">
          <a:xfrm>
            <a:off x="3938243" y="2053505"/>
            <a:ext cx="474524" cy="388247"/>
          </a:xfrm>
          <a:prstGeom prst="rect">
            <a:avLst/>
          </a:prstGeom>
          <a:noFill/>
        </p:spPr>
      </p:pic>
      <p:cxnSp>
        <p:nvCxnSpPr>
          <p:cNvPr id="147" name="Straight Connector 146">
            <a:extLst>
              <a:ext uri="{FF2B5EF4-FFF2-40B4-BE49-F238E27FC236}">
                <a16:creationId xmlns:a16="http://schemas.microsoft.com/office/drawing/2014/main" id="{51E63764-DBD4-44A8-B25C-70536BB12446}"/>
              </a:ext>
            </a:extLst>
          </p:cNvPr>
          <p:cNvCxnSpPr>
            <a:cxnSpLocks/>
            <a:stCxn id="145" idx="3"/>
            <a:endCxn id="128" idx="1"/>
          </p:cNvCxnSpPr>
          <p:nvPr/>
        </p:nvCxnSpPr>
        <p:spPr bwMode="gray">
          <a:xfrm>
            <a:off x="2856280" y="2245947"/>
            <a:ext cx="146564" cy="135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58C4454-2BA0-4A42-9039-D5D6D137EF36}"/>
              </a:ext>
            </a:extLst>
          </p:cNvPr>
          <p:cNvCxnSpPr>
            <a:cxnSpLocks/>
            <a:stCxn id="129" idx="3"/>
            <a:endCxn id="146" idx="1"/>
          </p:cNvCxnSpPr>
          <p:nvPr/>
        </p:nvCxnSpPr>
        <p:spPr bwMode="gray">
          <a:xfrm>
            <a:off x="3770275" y="2246538"/>
            <a:ext cx="167968" cy="10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9" name="TextBox 148">
            <a:extLst>
              <a:ext uri="{FF2B5EF4-FFF2-40B4-BE49-F238E27FC236}">
                <a16:creationId xmlns:a16="http://schemas.microsoft.com/office/drawing/2014/main" id="{17D15007-1368-4B91-946B-823052C411D6}"/>
              </a:ext>
            </a:extLst>
          </p:cNvPr>
          <p:cNvSpPr txBox="1"/>
          <p:nvPr/>
        </p:nvSpPr>
        <p:spPr bwMode="gray">
          <a:xfrm>
            <a:off x="1704831" y="4682434"/>
            <a:ext cx="575799" cy="276999"/>
          </a:xfrm>
          <a:prstGeom prst="rect">
            <a:avLst/>
          </a:prstGeom>
          <a:noFill/>
        </p:spPr>
        <p:txBody>
          <a:bodyPr wrap="none" rtlCol="0">
            <a:spAutoFit/>
          </a:bodyPr>
          <a:lstStyle/>
          <a:p>
            <a:r>
              <a:rPr lang="en-US" altLang="zh-CN" sz="1200" dirty="0"/>
              <a:t>EDGE</a:t>
            </a:r>
            <a:endParaRPr lang="zh-CN" altLang="en-US" sz="1200" dirty="0"/>
          </a:p>
        </p:txBody>
      </p:sp>
      <p:sp>
        <p:nvSpPr>
          <p:cNvPr id="150" name="TextBox 149">
            <a:extLst>
              <a:ext uri="{FF2B5EF4-FFF2-40B4-BE49-F238E27FC236}">
                <a16:creationId xmlns:a16="http://schemas.microsoft.com/office/drawing/2014/main" id="{2E88C57C-6697-4718-A55A-9D5BADD44FCD}"/>
              </a:ext>
            </a:extLst>
          </p:cNvPr>
          <p:cNvSpPr txBox="1"/>
          <p:nvPr/>
        </p:nvSpPr>
        <p:spPr bwMode="gray">
          <a:xfrm>
            <a:off x="5022028" y="4678394"/>
            <a:ext cx="575799" cy="276999"/>
          </a:xfrm>
          <a:prstGeom prst="rect">
            <a:avLst/>
          </a:prstGeom>
          <a:noFill/>
        </p:spPr>
        <p:txBody>
          <a:bodyPr wrap="none" rtlCol="0">
            <a:spAutoFit/>
          </a:bodyPr>
          <a:lstStyle/>
          <a:p>
            <a:r>
              <a:rPr lang="en-US" altLang="zh-CN" sz="1200" dirty="0"/>
              <a:t>EDGE</a:t>
            </a:r>
            <a:endParaRPr lang="zh-CN" altLang="en-US" sz="1200" dirty="0"/>
          </a:p>
        </p:txBody>
      </p:sp>
      <p:sp>
        <p:nvSpPr>
          <p:cNvPr id="152" name="TextBox 151">
            <a:extLst>
              <a:ext uri="{FF2B5EF4-FFF2-40B4-BE49-F238E27FC236}">
                <a16:creationId xmlns:a16="http://schemas.microsoft.com/office/drawing/2014/main" id="{9CB3CC91-0279-4F5D-A005-8A2F4DE3B775}"/>
              </a:ext>
            </a:extLst>
          </p:cNvPr>
          <p:cNvSpPr txBox="1"/>
          <p:nvPr/>
        </p:nvSpPr>
        <p:spPr bwMode="gray">
          <a:xfrm>
            <a:off x="2228729" y="1804566"/>
            <a:ext cx="700833" cy="276999"/>
          </a:xfrm>
          <a:prstGeom prst="rect">
            <a:avLst/>
          </a:prstGeom>
          <a:noFill/>
        </p:spPr>
        <p:txBody>
          <a:bodyPr wrap="none" rtlCol="0">
            <a:spAutoFit/>
          </a:bodyPr>
          <a:lstStyle/>
          <a:p>
            <a:r>
              <a:rPr lang="en-US" altLang="zh-CN" sz="1200" dirty="0"/>
              <a:t>CPE/RR</a:t>
            </a:r>
            <a:endParaRPr lang="zh-CN" altLang="en-US" sz="1200" dirty="0"/>
          </a:p>
        </p:txBody>
      </p:sp>
      <p:sp>
        <p:nvSpPr>
          <p:cNvPr id="153" name="TextBox 152">
            <a:extLst>
              <a:ext uri="{FF2B5EF4-FFF2-40B4-BE49-F238E27FC236}">
                <a16:creationId xmlns:a16="http://schemas.microsoft.com/office/drawing/2014/main" id="{584A1430-7170-4D81-8920-6341A8BAA67C}"/>
              </a:ext>
            </a:extLst>
          </p:cNvPr>
          <p:cNvSpPr txBox="1"/>
          <p:nvPr/>
        </p:nvSpPr>
        <p:spPr bwMode="gray">
          <a:xfrm>
            <a:off x="3834378" y="1821840"/>
            <a:ext cx="700833" cy="276999"/>
          </a:xfrm>
          <a:prstGeom prst="rect">
            <a:avLst/>
          </a:prstGeom>
          <a:noFill/>
        </p:spPr>
        <p:txBody>
          <a:bodyPr wrap="none" rtlCol="0">
            <a:spAutoFit/>
          </a:bodyPr>
          <a:lstStyle/>
          <a:p>
            <a:r>
              <a:rPr lang="en-US" altLang="zh-CN" sz="1200" dirty="0"/>
              <a:t>CPE/RR</a:t>
            </a:r>
            <a:endParaRPr lang="zh-CN" altLang="en-US" sz="1200" dirty="0"/>
          </a:p>
        </p:txBody>
      </p:sp>
      <p:cxnSp>
        <p:nvCxnSpPr>
          <p:cNvPr id="154" name="Straight Connector 153">
            <a:extLst>
              <a:ext uri="{FF2B5EF4-FFF2-40B4-BE49-F238E27FC236}">
                <a16:creationId xmlns:a16="http://schemas.microsoft.com/office/drawing/2014/main" id="{E0C05901-4BDE-4690-9E6D-CA8E3C95BB1E}"/>
              </a:ext>
            </a:extLst>
          </p:cNvPr>
          <p:cNvCxnSpPr>
            <a:cxnSpLocks/>
            <a:stCxn id="129" idx="1"/>
            <a:endCxn id="128" idx="3"/>
          </p:cNvCxnSpPr>
          <p:nvPr/>
        </p:nvCxnSpPr>
        <p:spPr bwMode="gray">
          <a:xfrm flipH="1">
            <a:off x="3309633" y="2246538"/>
            <a:ext cx="153853" cy="76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5" name="Rectangular Callout 75">
            <a:extLst>
              <a:ext uri="{FF2B5EF4-FFF2-40B4-BE49-F238E27FC236}">
                <a16:creationId xmlns:a16="http://schemas.microsoft.com/office/drawing/2014/main" id="{7FD3841B-2702-4B25-AE42-EFD3B48FB2B4}"/>
              </a:ext>
            </a:extLst>
          </p:cNvPr>
          <p:cNvSpPr/>
          <p:nvPr/>
        </p:nvSpPr>
        <p:spPr bwMode="gray">
          <a:xfrm>
            <a:off x="1031113" y="1553572"/>
            <a:ext cx="950087" cy="432436"/>
          </a:xfrm>
          <a:prstGeom prst="wedgeRectCallout">
            <a:avLst>
              <a:gd name="adj1" fmla="val -15561"/>
              <a:gd name="adj2" fmla="val 8095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独立部署</a:t>
            </a:r>
            <a:r>
              <a:rPr lang="en-US" altLang="zh-CN" sz="1400" dirty="0">
                <a:solidFill>
                  <a:schemeClr val="tx1"/>
                </a:solidFill>
                <a:latin typeface="Huawei Sans" panose="020C0503030203020204" pitchFamily="34" charset="0"/>
                <a:ea typeface="方正兰亭黑简体" panose="02000000000000000000" pitchFamily="2" charset="-122"/>
              </a:rPr>
              <a:t>RR</a:t>
            </a:r>
            <a:endParaRPr lang="zh-CN" altLang="en-US" sz="1400" dirty="0">
              <a:solidFill>
                <a:schemeClr val="tx1"/>
              </a:solidFill>
              <a:latin typeface="Huawei Sans" panose="020C0503030203020204" pitchFamily="34" charset="0"/>
              <a:ea typeface="方正兰亭黑简体" panose="02000000000000000000" pitchFamily="2" charset="-122"/>
            </a:endParaRPr>
          </a:p>
        </p:txBody>
      </p:sp>
      <p:sp>
        <p:nvSpPr>
          <p:cNvPr id="156" name="Rectangular Callout 75">
            <a:extLst>
              <a:ext uri="{FF2B5EF4-FFF2-40B4-BE49-F238E27FC236}">
                <a16:creationId xmlns:a16="http://schemas.microsoft.com/office/drawing/2014/main" id="{9BC5FCB5-7FC6-4B67-80A2-8D8DC71C92B2}"/>
              </a:ext>
            </a:extLst>
          </p:cNvPr>
          <p:cNvSpPr/>
          <p:nvPr/>
        </p:nvSpPr>
        <p:spPr bwMode="gray">
          <a:xfrm>
            <a:off x="2200063" y="1225355"/>
            <a:ext cx="950087" cy="432436"/>
          </a:xfrm>
          <a:prstGeom prst="wedgeRectCallout">
            <a:avLst>
              <a:gd name="adj1" fmla="val -15561"/>
              <a:gd name="adj2" fmla="val 8095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共站部署</a:t>
            </a:r>
            <a:r>
              <a:rPr lang="en-US" altLang="zh-CN" sz="1400" dirty="0">
                <a:solidFill>
                  <a:schemeClr val="tx1"/>
                </a:solidFill>
                <a:latin typeface="Huawei Sans" panose="020C0503030203020204" pitchFamily="34" charset="0"/>
                <a:ea typeface="方正兰亭黑简体" panose="02000000000000000000" pitchFamily="2" charset="-122"/>
              </a:rPr>
              <a:t>RR</a:t>
            </a:r>
            <a:endParaRPr lang="zh-CN" altLang="en-US" sz="1400" dirty="0">
              <a:solidFill>
                <a:schemeClr val="tx1"/>
              </a:solidFill>
              <a:latin typeface="Huawei Sans" panose="020C0503030203020204" pitchFamily="34" charset="0"/>
              <a:ea typeface="方正兰亭黑简体" panose="02000000000000000000" pitchFamily="2" charset="-122"/>
            </a:endParaRPr>
          </a:p>
        </p:txBody>
      </p:sp>
      <p:sp>
        <p:nvSpPr>
          <p:cNvPr id="48"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49"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926955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en-US" altLang="zh-CN" dirty="0"/>
              <a:t>RR</a:t>
            </a:r>
            <a:r>
              <a:rPr lang="zh-CN" altLang="en-US" dirty="0"/>
              <a:t>组网典型场景</a:t>
            </a:r>
            <a:r>
              <a:rPr lang="en-US" altLang="zh-CN" dirty="0"/>
              <a:t> - </a:t>
            </a:r>
            <a:r>
              <a:rPr lang="zh-CN" altLang="en-US" dirty="0"/>
              <a:t>企业自建</a:t>
            </a:r>
            <a:endParaRPr lang="en-US" dirty="0"/>
          </a:p>
        </p:txBody>
      </p:sp>
      <p:sp>
        <p:nvSpPr>
          <p:cNvPr id="52" name="圆角矩形 75">
            <a:extLst>
              <a:ext uri="{FF2B5EF4-FFF2-40B4-BE49-F238E27FC236}">
                <a16:creationId xmlns:a16="http://schemas.microsoft.com/office/drawing/2014/main" id="{6B807661-0F70-43C2-B566-6E8D92ABC8BA}"/>
              </a:ext>
            </a:extLst>
          </p:cNvPr>
          <p:cNvSpPr/>
          <p:nvPr/>
        </p:nvSpPr>
        <p:spPr bwMode="gray">
          <a:xfrm>
            <a:off x="6325161" y="1068625"/>
            <a:ext cx="497096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RR</a:t>
            </a:r>
            <a:r>
              <a:rPr lang="zh-CN" altLang="en-US" sz="1600" dirty="0">
                <a:solidFill>
                  <a:srgbClr val="30B5C5"/>
                </a:solidFill>
                <a:latin typeface="Huawei Sans" panose="020C0503030203020204" pitchFamily="34" charset="0"/>
                <a:ea typeface="方正兰亭黑简体" panose="02000000000000000000" pitchFamily="2" charset="-122"/>
              </a:rPr>
              <a:t>独立部署</a:t>
            </a:r>
          </a:p>
        </p:txBody>
      </p:sp>
      <p:sp>
        <p:nvSpPr>
          <p:cNvPr id="53" name="圆角矩形 75">
            <a:extLst>
              <a:ext uri="{FF2B5EF4-FFF2-40B4-BE49-F238E27FC236}">
                <a16:creationId xmlns:a16="http://schemas.microsoft.com/office/drawing/2014/main" id="{ADCC7108-0031-4D0E-8F9D-EF97146A7826}"/>
              </a:ext>
            </a:extLst>
          </p:cNvPr>
          <p:cNvSpPr/>
          <p:nvPr/>
        </p:nvSpPr>
        <p:spPr bwMode="gray">
          <a:xfrm>
            <a:off x="838085" y="1052513"/>
            <a:ext cx="515653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RR</a:t>
            </a:r>
            <a:r>
              <a:rPr lang="zh-CN" altLang="en-US" sz="1600" dirty="0">
                <a:solidFill>
                  <a:srgbClr val="30B5C5"/>
                </a:solidFill>
                <a:latin typeface="Huawei Sans" panose="020C0503030203020204" pitchFamily="34" charset="0"/>
                <a:ea typeface="方正兰亭黑简体" panose="02000000000000000000" pitchFamily="2" charset="-122"/>
              </a:rPr>
              <a:t>与站点共部署</a:t>
            </a:r>
          </a:p>
        </p:txBody>
      </p:sp>
      <p:sp>
        <p:nvSpPr>
          <p:cNvPr id="54" name="圆角矩形 75">
            <a:extLst>
              <a:ext uri="{FF2B5EF4-FFF2-40B4-BE49-F238E27FC236}">
                <a16:creationId xmlns:a16="http://schemas.microsoft.com/office/drawing/2014/main" id="{CBD7B4A7-E6E6-4762-A8D8-768B81B9EA64}"/>
              </a:ext>
            </a:extLst>
          </p:cNvPr>
          <p:cNvSpPr/>
          <p:nvPr/>
        </p:nvSpPr>
        <p:spPr bwMode="gray">
          <a:xfrm>
            <a:off x="6325161" y="1510193"/>
            <a:ext cx="4970964" cy="4480204"/>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r>
              <a:rPr lang="zh-CN" altLang="en-US" sz="1400" dirty="0">
                <a:solidFill>
                  <a:schemeClr val="tx1"/>
                </a:solidFill>
              </a:rPr>
              <a:t>对于大型企业客户，站点数量多。在对网络可靠性要求高的情况下，推荐使用</a:t>
            </a:r>
            <a:r>
              <a:rPr lang="en-US" altLang="zh-CN" sz="1400" dirty="0">
                <a:solidFill>
                  <a:schemeClr val="tx1"/>
                </a:solidFill>
              </a:rPr>
              <a:t>RR</a:t>
            </a:r>
            <a:r>
              <a:rPr lang="zh-CN" altLang="en-US" sz="1400" dirty="0">
                <a:solidFill>
                  <a:schemeClr val="tx1"/>
                </a:solidFill>
              </a:rPr>
              <a:t>独立部署形式。</a:t>
            </a: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p:txBody>
      </p:sp>
      <p:sp>
        <p:nvSpPr>
          <p:cNvPr id="55" name="圆角矩形 75">
            <a:extLst>
              <a:ext uri="{FF2B5EF4-FFF2-40B4-BE49-F238E27FC236}">
                <a16:creationId xmlns:a16="http://schemas.microsoft.com/office/drawing/2014/main" id="{762C8140-463B-4424-948A-77B630188478}"/>
              </a:ext>
            </a:extLst>
          </p:cNvPr>
          <p:cNvSpPr/>
          <p:nvPr/>
        </p:nvSpPr>
        <p:spPr bwMode="gray">
          <a:xfrm>
            <a:off x="838085" y="1492290"/>
            <a:ext cx="5156535" cy="4480204"/>
          </a:xfrm>
          <a:prstGeom prst="roundRect">
            <a:avLst>
              <a:gd name="adj" fmla="val 874"/>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a:p>
            <a:pPr marL="228594" indent="-228594">
              <a:buFont typeface="Arial" panose="020B0604020202020204" pitchFamily="34" charset="0"/>
              <a:buChar char="•"/>
            </a:pPr>
            <a:r>
              <a:rPr lang="zh-CN" altLang="en-US" sz="1400" dirty="0">
                <a:solidFill>
                  <a:schemeClr val="tx1"/>
                </a:solidFill>
              </a:rPr>
              <a:t>对于中小企业客户，分支站点数量少。在分支与总部</a:t>
            </a:r>
            <a:r>
              <a:rPr lang="en-US" altLang="zh-CN" sz="1400" dirty="0">
                <a:solidFill>
                  <a:schemeClr val="tx1"/>
                </a:solidFill>
              </a:rPr>
              <a:t>/</a:t>
            </a:r>
            <a:r>
              <a:rPr lang="zh-CN" altLang="en-US" sz="1400" dirty="0">
                <a:solidFill>
                  <a:schemeClr val="tx1"/>
                </a:solidFill>
              </a:rPr>
              <a:t>数据中心间互访流量不大的情况下，推荐使用</a:t>
            </a:r>
            <a:r>
              <a:rPr lang="en-US" altLang="zh-CN" sz="1400" dirty="0">
                <a:solidFill>
                  <a:schemeClr val="tx1"/>
                </a:solidFill>
              </a:rPr>
              <a:t>RR</a:t>
            </a:r>
            <a:r>
              <a:rPr lang="zh-CN" altLang="en-US" sz="1400" dirty="0">
                <a:solidFill>
                  <a:schemeClr val="tx1"/>
                </a:solidFill>
              </a:rPr>
              <a:t>与站点共部署，将</a:t>
            </a:r>
            <a:r>
              <a:rPr lang="en-US" altLang="zh-CN" sz="1400" dirty="0">
                <a:solidFill>
                  <a:schemeClr val="tx1"/>
                </a:solidFill>
              </a:rPr>
              <a:t>Hub</a:t>
            </a:r>
            <a:r>
              <a:rPr lang="zh-CN" altLang="en-US" sz="1400" dirty="0">
                <a:solidFill>
                  <a:schemeClr val="tx1"/>
                </a:solidFill>
              </a:rPr>
              <a:t>站点作为</a:t>
            </a:r>
            <a:r>
              <a:rPr lang="en-US" altLang="zh-CN" sz="1400" dirty="0">
                <a:solidFill>
                  <a:schemeClr val="tx1"/>
                </a:solidFill>
              </a:rPr>
              <a:t>RR</a:t>
            </a:r>
            <a:r>
              <a:rPr lang="zh-CN" altLang="en-US" sz="1400" dirty="0">
                <a:solidFill>
                  <a:schemeClr val="tx1"/>
                </a:solidFill>
              </a:rPr>
              <a:t>，承载控制面。</a:t>
            </a:r>
            <a:endParaRPr lang="en-US" altLang="zh-CN" sz="1400" dirty="0">
              <a:solidFill>
                <a:schemeClr val="tx1"/>
              </a:solidFill>
            </a:endParaRPr>
          </a:p>
          <a:p>
            <a:pPr marL="228594" indent="-228594">
              <a:buFont typeface="Arial" panose="020B0604020202020204" pitchFamily="34" charset="0"/>
              <a:buChar char="•"/>
            </a:pPr>
            <a:endParaRPr lang="en-US" altLang="zh-CN" sz="1400" dirty="0">
              <a:solidFill>
                <a:schemeClr val="tx1"/>
              </a:solidFill>
            </a:endParaRPr>
          </a:p>
        </p:txBody>
      </p:sp>
      <p:sp>
        <p:nvSpPr>
          <p:cNvPr id="113" name="Freeform 159">
            <a:extLst>
              <a:ext uri="{FF2B5EF4-FFF2-40B4-BE49-F238E27FC236}">
                <a16:creationId xmlns:a16="http://schemas.microsoft.com/office/drawing/2014/main" id="{6BCD1FDB-01C0-470A-9E29-8EAE807ED1D0}"/>
              </a:ext>
            </a:extLst>
          </p:cNvPr>
          <p:cNvSpPr/>
          <p:nvPr/>
        </p:nvSpPr>
        <p:spPr bwMode="gray">
          <a:xfrm flipH="1">
            <a:off x="2024954" y="4332253"/>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分支一</a:t>
            </a:r>
            <a:endParaRPr lang="en-US" sz="1400" dirty="0">
              <a:solidFill>
                <a:schemeClr val="tx1"/>
              </a:solidFill>
            </a:endParaRPr>
          </a:p>
        </p:txBody>
      </p:sp>
      <p:sp>
        <p:nvSpPr>
          <p:cNvPr id="114" name="Freeform 159">
            <a:extLst>
              <a:ext uri="{FF2B5EF4-FFF2-40B4-BE49-F238E27FC236}">
                <a16:creationId xmlns:a16="http://schemas.microsoft.com/office/drawing/2014/main" id="{0640326E-CB6F-480F-80E2-E01365EFF54D}"/>
              </a:ext>
            </a:extLst>
          </p:cNvPr>
          <p:cNvSpPr/>
          <p:nvPr/>
        </p:nvSpPr>
        <p:spPr bwMode="gray">
          <a:xfrm flipH="1">
            <a:off x="3702115" y="4329101"/>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分支二</a:t>
            </a:r>
            <a:endParaRPr lang="en-US" sz="1400" dirty="0">
              <a:solidFill>
                <a:schemeClr val="tx1"/>
              </a:solidFill>
            </a:endParaRPr>
          </a:p>
        </p:txBody>
      </p:sp>
      <p:sp>
        <p:nvSpPr>
          <p:cNvPr id="115" name="Freeform 159">
            <a:extLst>
              <a:ext uri="{FF2B5EF4-FFF2-40B4-BE49-F238E27FC236}">
                <a16:creationId xmlns:a16="http://schemas.microsoft.com/office/drawing/2014/main" id="{D599D767-6861-4EBC-BCDE-013CC4EF94A4}"/>
              </a:ext>
            </a:extLst>
          </p:cNvPr>
          <p:cNvSpPr/>
          <p:nvPr/>
        </p:nvSpPr>
        <p:spPr bwMode="gray">
          <a:xfrm flipH="1">
            <a:off x="2892214" y="1780213"/>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HUB</a:t>
            </a:r>
            <a:endParaRPr lang="en-US" sz="1400" dirty="0">
              <a:solidFill>
                <a:schemeClr val="tx1"/>
              </a:solidFill>
            </a:endParaRPr>
          </a:p>
        </p:txBody>
      </p:sp>
      <p:cxnSp>
        <p:nvCxnSpPr>
          <p:cNvPr id="116" name="直接连接符 78">
            <a:extLst>
              <a:ext uri="{FF2B5EF4-FFF2-40B4-BE49-F238E27FC236}">
                <a16:creationId xmlns:a16="http://schemas.microsoft.com/office/drawing/2014/main" id="{B143019A-6AAE-41C4-9C76-AAB510EED598}"/>
              </a:ext>
            </a:extLst>
          </p:cNvPr>
          <p:cNvCxnSpPr/>
          <p:nvPr/>
        </p:nvCxnSpPr>
        <p:spPr bwMode="gray">
          <a:xfrm>
            <a:off x="3949282" y="4237001"/>
            <a:ext cx="434079" cy="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57" name="图片 87">
            <a:extLst>
              <a:ext uri="{FF2B5EF4-FFF2-40B4-BE49-F238E27FC236}">
                <a16:creationId xmlns:a16="http://schemas.microsoft.com/office/drawing/2014/main" id="{A51708E9-8B8C-4D27-AB25-2BCE2F9B550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284602" y="4045396"/>
            <a:ext cx="466668" cy="385001"/>
          </a:xfrm>
          <a:prstGeom prst="rect">
            <a:avLst/>
          </a:prstGeom>
        </p:spPr>
      </p:pic>
      <p:sp>
        <p:nvSpPr>
          <p:cNvPr id="158" name="文本框 88">
            <a:extLst>
              <a:ext uri="{FF2B5EF4-FFF2-40B4-BE49-F238E27FC236}">
                <a16:creationId xmlns:a16="http://schemas.microsoft.com/office/drawing/2014/main" id="{FE2A3752-6857-416D-8DF5-53257FA3E6B3}"/>
              </a:ext>
            </a:extLst>
          </p:cNvPr>
          <p:cNvSpPr txBox="1"/>
          <p:nvPr/>
        </p:nvSpPr>
        <p:spPr bwMode="gray">
          <a:xfrm>
            <a:off x="1694413" y="4102009"/>
            <a:ext cx="653103"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cxnSp>
        <p:nvCxnSpPr>
          <p:cNvPr id="159" name="直接连接符 90">
            <a:extLst>
              <a:ext uri="{FF2B5EF4-FFF2-40B4-BE49-F238E27FC236}">
                <a16:creationId xmlns:a16="http://schemas.microsoft.com/office/drawing/2014/main" id="{4EF70A7C-8E32-4E1B-993A-CBC6A04E529E}"/>
              </a:ext>
            </a:extLst>
          </p:cNvPr>
          <p:cNvCxnSpPr>
            <a:cxnSpLocks/>
            <a:stCxn id="157" idx="0"/>
          </p:cNvCxnSpPr>
          <p:nvPr/>
        </p:nvCxnSpPr>
        <p:spPr bwMode="gray">
          <a:xfrm flipV="1">
            <a:off x="2517936" y="3556086"/>
            <a:ext cx="1431346" cy="48715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直接连接符 91">
            <a:extLst>
              <a:ext uri="{FF2B5EF4-FFF2-40B4-BE49-F238E27FC236}">
                <a16:creationId xmlns:a16="http://schemas.microsoft.com/office/drawing/2014/main" id="{E9BE6709-B845-4BA0-B807-0AD292A64AA2}"/>
              </a:ext>
            </a:extLst>
          </p:cNvPr>
          <p:cNvCxnSpPr>
            <a:cxnSpLocks/>
            <a:stCxn id="170" idx="2"/>
            <a:endCxn id="173" idx="2"/>
          </p:cNvCxnSpPr>
          <p:nvPr/>
        </p:nvCxnSpPr>
        <p:spPr bwMode="gray">
          <a:xfrm>
            <a:off x="3679980" y="2553059"/>
            <a:ext cx="345781" cy="63368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直接连接符 92">
            <a:extLst>
              <a:ext uri="{FF2B5EF4-FFF2-40B4-BE49-F238E27FC236}">
                <a16:creationId xmlns:a16="http://schemas.microsoft.com/office/drawing/2014/main" id="{DFDF692B-DE00-45FF-9A19-58609B5F54C0}"/>
              </a:ext>
            </a:extLst>
          </p:cNvPr>
          <p:cNvCxnSpPr>
            <a:cxnSpLocks/>
            <a:stCxn id="157" idx="0"/>
          </p:cNvCxnSpPr>
          <p:nvPr/>
        </p:nvCxnSpPr>
        <p:spPr bwMode="gray">
          <a:xfrm flipV="1">
            <a:off x="2517936" y="3569279"/>
            <a:ext cx="334664"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62" name="图片 94">
            <a:extLst>
              <a:ext uri="{FF2B5EF4-FFF2-40B4-BE49-F238E27FC236}">
                <a16:creationId xmlns:a16="http://schemas.microsoft.com/office/drawing/2014/main" id="{F3D4503D-6AD9-4D44-BCD0-A0CA41903F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689905" y="4045396"/>
            <a:ext cx="466668" cy="385001"/>
          </a:xfrm>
          <a:prstGeom prst="rect">
            <a:avLst/>
          </a:prstGeom>
        </p:spPr>
      </p:pic>
      <p:sp>
        <p:nvSpPr>
          <p:cNvPr id="163" name="文本框 95">
            <a:extLst>
              <a:ext uri="{FF2B5EF4-FFF2-40B4-BE49-F238E27FC236}">
                <a16:creationId xmlns:a16="http://schemas.microsoft.com/office/drawing/2014/main" id="{C95B16A0-8BE5-4811-AB6A-7D99CD44DC64}"/>
              </a:ext>
            </a:extLst>
          </p:cNvPr>
          <p:cNvSpPr txBox="1"/>
          <p:nvPr/>
        </p:nvSpPr>
        <p:spPr bwMode="gray">
          <a:xfrm>
            <a:off x="4660374" y="4102009"/>
            <a:ext cx="661622"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pic>
        <p:nvPicPr>
          <p:cNvPr id="164" name="图片 97">
            <a:extLst>
              <a:ext uri="{FF2B5EF4-FFF2-40B4-BE49-F238E27FC236}">
                <a16:creationId xmlns:a16="http://schemas.microsoft.com/office/drawing/2014/main" id="{982EDF88-2A15-4F05-B577-24A111C646E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4272350" y="4044500"/>
            <a:ext cx="466668" cy="385001"/>
          </a:xfrm>
          <a:prstGeom prst="rect">
            <a:avLst/>
          </a:prstGeom>
        </p:spPr>
      </p:pic>
      <p:cxnSp>
        <p:nvCxnSpPr>
          <p:cNvPr id="165" name="直接连接符 98">
            <a:extLst>
              <a:ext uri="{FF2B5EF4-FFF2-40B4-BE49-F238E27FC236}">
                <a16:creationId xmlns:a16="http://schemas.microsoft.com/office/drawing/2014/main" id="{F24DFDAE-033A-43D9-A150-AC5BD9A7E976}"/>
              </a:ext>
            </a:extLst>
          </p:cNvPr>
          <p:cNvCxnSpPr>
            <a:cxnSpLocks/>
            <a:stCxn id="162" idx="0"/>
          </p:cNvCxnSpPr>
          <p:nvPr/>
        </p:nvCxnSpPr>
        <p:spPr bwMode="gray">
          <a:xfrm flipH="1" flipV="1">
            <a:off x="2816050" y="3569279"/>
            <a:ext cx="1107189"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直接连接符 99">
            <a:extLst>
              <a:ext uri="{FF2B5EF4-FFF2-40B4-BE49-F238E27FC236}">
                <a16:creationId xmlns:a16="http://schemas.microsoft.com/office/drawing/2014/main" id="{83A8B920-CB43-4B57-B070-7A4BB2C540BE}"/>
              </a:ext>
            </a:extLst>
          </p:cNvPr>
          <p:cNvCxnSpPr>
            <a:cxnSpLocks/>
            <a:stCxn id="164" idx="0"/>
          </p:cNvCxnSpPr>
          <p:nvPr/>
        </p:nvCxnSpPr>
        <p:spPr bwMode="gray">
          <a:xfrm flipH="1" flipV="1">
            <a:off x="3949282" y="3556086"/>
            <a:ext cx="556402" cy="48626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直接连接符 100">
            <a:extLst>
              <a:ext uri="{FF2B5EF4-FFF2-40B4-BE49-F238E27FC236}">
                <a16:creationId xmlns:a16="http://schemas.microsoft.com/office/drawing/2014/main" id="{9910BE06-2A5E-401F-83DE-6117EE984A3C}"/>
              </a:ext>
            </a:extLst>
          </p:cNvPr>
          <p:cNvCxnSpPr/>
          <p:nvPr/>
        </p:nvCxnSpPr>
        <p:spPr bwMode="gray">
          <a:xfrm>
            <a:off x="2998015" y="2358405"/>
            <a:ext cx="691890" cy="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68" name="图片 102">
            <a:extLst>
              <a:ext uri="{FF2B5EF4-FFF2-40B4-BE49-F238E27FC236}">
                <a16:creationId xmlns:a16="http://schemas.microsoft.com/office/drawing/2014/main" id="{4CEC7F5D-A48C-479E-B817-22C66FE6908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815891" y="2166800"/>
            <a:ext cx="466668" cy="385001"/>
          </a:xfrm>
          <a:prstGeom prst="rect">
            <a:avLst/>
          </a:prstGeom>
        </p:spPr>
      </p:pic>
      <p:sp>
        <p:nvSpPr>
          <p:cNvPr id="169" name="文本框 103">
            <a:extLst>
              <a:ext uri="{FF2B5EF4-FFF2-40B4-BE49-F238E27FC236}">
                <a16:creationId xmlns:a16="http://schemas.microsoft.com/office/drawing/2014/main" id="{E00758AF-9094-4846-AD16-2439F0905A5A}"/>
              </a:ext>
            </a:extLst>
          </p:cNvPr>
          <p:cNvSpPr txBox="1"/>
          <p:nvPr/>
        </p:nvSpPr>
        <p:spPr bwMode="gray">
          <a:xfrm>
            <a:off x="3913905" y="2182831"/>
            <a:ext cx="921131" cy="307777"/>
          </a:xfrm>
          <a:prstGeom prst="rect">
            <a:avLst/>
          </a:prstGeom>
          <a:noFill/>
        </p:spPr>
        <p:txBody>
          <a:bodyPr wrap="square" rtlCol="0">
            <a:spAutoFit/>
          </a:bodyPr>
          <a:lstStyle/>
          <a:p>
            <a:pPr algn="ctr"/>
            <a:r>
              <a:rPr lang="en-US" altLang="zh-CN" sz="1400" dirty="0">
                <a:solidFill>
                  <a:srgbClr val="000000"/>
                </a:solidFill>
              </a:rPr>
              <a:t>EDGE(RR)</a:t>
            </a:r>
            <a:endParaRPr lang="zh-CN" altLang="en-US" sz="1400" dirty="0">
              <a:solidFill>
                <a:srgbClr val="000000"/>
              </a:solidFill>
            </a:endParaRPr>
          </a:p>
        </p:txBody>
      </p:sp>
      <p:pic>
        <p:nvPicPr>
          <p:cNvPr id="170" name="图片 105">
            <a:extLst>
              <a:ext uri="{FF2B5EF4-FFF2-40B4-BE49-F238E27FC236}">
                <a16:creationId xmlns:a16="http://schemas.microsoft.com/office/drawing/2014/main" id="{8DDC51B9-1B7A-4CE7-83AA-774E89DD7FD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446646" y="2165904"/>
            <a:ext cx="466668" cy="385001"/>
          </a:xfrm>
          <a:prstGeom prst="rect">
            <a:avLst/>
          </a:prstGeom>
        </p:spPr>
      </p:pic>
      <p:cxnSp>
        <p:nvCxnSpPr>
          <p:cNvPr id="171" name="直接连接符 106">
            <a:extLst>
              <a:ext uri="{FF2B5EF4-FFF2-40B4-BE49-F238E27FC236}">
                <a16:creationId xmlns:a16="http://schemas.microsoft.com/office/drawing/2014/main" id="{26BADB50-F5EB-491B-9129-D82F008B05E1}"/>
              </a:ext>
            </a:extLst>
          </p:cNvPr>
          <p:cNvCxnSpPr>
            <a:cxnSpLocks/>
            <a:stCxn id="168" idx="2"/>
            <a:endCxn id="172" idx="0"/>
          </p:cNvCxnSpPr>
          <p:nvPr/>
        </p:nvCxnSpPr>
        <p:spPr bwMode="gray">
          <a:xfrm flipH="1">
            <a:off x="2800263" y="2553955"/>
            <a:ext cx="248962" cy="569869"/>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2" name="Freeform 159">
            <a:extLst>
              <a:ext uri="{FF2B5EF4-FFF2-40B4-BE49-F238E27FC236}">
                <a16:creationId xmlns:a16="http://schemas.microsoft.com/office/drawing/2014/main" id="{340CE3CC-A2B8-4737-A59A-D1F5F83C2955}"/>
              </a:ext>
            </a:extLst>
          </p:cNvPr>
          <p:cNvSpPr/>
          <p:nvPr/>
        </p:nvSpPr>
        <p:spPr bwMode="gray">
          <a:xfrm flipH="1">
            <a:off x="2466128" y="3123824"/>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173" name="Freeform 159">
            <a:extLst>
              <a:ext uri="{FF2B5EF4-FFF2-40B4-BE49-F238E27FC236}">
                <a16:creationId xmlns:a16="http://schemas.microsoft.com/office/drawing/2014/main" id="{2C978D60-FA0B-4810-8E0C-7F7477AD7BF2}"/>
              </a:ext>
            </a:extLst>
          </p:cNvPr>
          <p:cNvSpPr/>
          <p:nvPr/>
        </p:nvSpPr>
        <p:spPr bwMode="gray">
          <a:xfrm flipH="1">
            <a:off x="3531188" y="3110631"/>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grpSp>
        <p:nvGrpSpPr>
          <p:cNvPr id="174" name="Group 173">
            <a:extLst>
              <a:ext uri="{FF2B5EF4-FFF2-40B4-BE49-F238E27FC236}">
                <a16:creationId xmlns:a16="http://schemas.microsoft.com/office/drawing/2014/main" id="{E736939D-0B04-41D1-91B4-460C978EECCA}"/>
              </a:ext>
            </a:extLst>
          </p:cNvPr>
          <p:cNvGrpSpPr/>
          <p:nvPr/>
        </p:nvGrpSpPr>
        <p:grpSpPr bwMode="gray">
          <a:xfrm>
            <a:off x="7073136" y="1810299"/>
            <a:ext cx="3636621" cy="3072504"/>
            <a:chOff x="4241622" y="1636316"/>
            <a:chExt cx="3636621" cy="3072504"/>
          </a:xfrm>
        </p:grpSpPr>
        <p:sp>
          <p:nvSpPr>
            <p:cNvPr id="175" name="Freeform 159">
              <a:extLst>
                <a:ext uri="{FF2B5EF4-FFF2-40B4-BE49-F238E27FC236}">
                  <a16:creationId xmlns:a16="http://schemas.microsoft.com/office/drawing/2014/main" id="{6748B03B-A86D-410B-BA9F-10F1DE6E90E5}"/>
                </a:ext>
              </a:extLst>
            </p:cNvPr>
            <p:cNvSpPr/>
            <p:nvPr/>
          </p:nvSpPr>
          <p:spPr bwMode="gray">
            <a:xfrm flipH="1">
              <a:off x="4709631" y="1636316"/>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RR</a:t>
              </a:r>
              <a:r>
                <a:rPr lang="zh-CN" altLang="en-US" sz="1400" dirty="0">
                  <a:solidFill>
                    <a:schemeClr val="tx1"/>
                  </a:solidFill>
                </a:rPr>
                <a:t>站点</a:t>
              </a:r>
              <a:endParaRPr lang="en-US" sz="1400" dirty="0">
                <a:solidFill>
                  <a:schemeClr val="tx1"/>
                </a:solidFill>
              </a:endParaRPr>
            </a:p>
          </p:txBody>
        </p:sp>
        <p:sp>
          <p:nvSpPr>
            <p:cNvPr id="176" name="Freeform 159">
              <a:extLst>
                <a:ext uri="{FF2B5EF4-FFF2-40B4-BE49-F238E27FC236}">
                  <a16:creationId xmlns:a16="http://schemas.microsoft.com/office/drawing/2014/main" id="{FFA9136A-4894-4039-80FB-0E536E2C31E1}"/>
                </a:ext>
              </a:extLst>
            </p:cNvPr>
            <p:cNvSpPr/>
            <p:nvPr/>
          </p:nvSpPr>
          <p:spPr bwMode="gray">
            <a:xfrm flipH="1">
              <a:off x="4557384" y="4200173"/>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分支一</a:t>
              </a:r>
              <a:endParaRPr lang="en-US" sz="1400" dirty="0">
                <a:solidFill>
                  <a:schemeClr val="tx1"/>
                </a:solidFill>
              </a:endParaRPr>
            </a:p>
          </p:txBody>
        </p:sp>
        <p:sp>
          <p:nvSpPr>
            <p:cNvPr id="177" name="Freeform 159">
              <a:extLst>
                <a:ext uri="{FF2B5EF4-FFF2-40B4-BE49-F238E27FC236}">
                  <a16:creationId xmlns:a16="http://schemas.microsoft.com/office/drawing/2014/main" id="{A6FB2044-BBAC-4999-96E4-A12D41252E04}"/>
                </a:ext>
              </a:extLst>
            </p:cNvPr>
            <p:cNvSpPr/>
            <p:nvPr/>
          </p:nvSpPr>
          <p:spPr bwMode="gray">
            <a:xfrm flipH="1">
              <a:off x="6234545" y="4197021"/>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分支二</a:t>
              </a:r>
              <a:endParaRPr lang="en-US" sz="1400" dirty="0">
                <a:solidFill>
                  <a:schemeClr val="tx1"/>
                </a:solidFill>
              </a:endParaRPr>
            </a:p>
          </p:txBody>
        </p:sp>
        <p:sp>
          <p:nvSpPr>
            <p:cNvPr id="178" name="Freeform 159">
              <a:extLst>
                <a:ext uri="{FF2B5EF4-FFF2-40B4-BE49-F238E27FC236}">
                  <a16:creationId xmlns:a16="http://schemas.microsoft.com/office/drawing/2014/main" id="{ED0DC4C4-2FC5-427E-AFAD-23CDB2BAE67D}"/>
                </a:ext>
              </a:extLst>
            </p:cNvPr>
            <p:cNvSpPr/>
            <p:nvPr/>
          </p:nvSpPr>
          <p:spPr bwMode="gray">
            <a:xfrm flipH="1">
              <a:off x="6177119" y="1648133"/>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HUB</a:t>
              </a:r>
            </a:p>
          </p:txBody>
        </p:sp>
        <p:cxnSp>
          <p:nvCxnSpPr>
            <p:cNvPr id="179" name="直接连接符 78">
              <a:extLst>
                <a:ext uri="{FF2B5EF4-FFF2-40B4-BE49-F238E27FC236}">
                  <a16:creationId xmlns:a16="http://schemas.microsoft.com/office/drawing/2014/main" id="{6B33D434-A088-4698-A2C5-A2B6CB0B1FB4}"/>
                </a:ext>
              </a:extLst>
            </p:cNvPr>
            <p:cNvCxnSpPr/>
            <p:nvPr/>
          </p:nvCxnSpPr>
          <p:spPr bwMode="gray">
            <a:xfrm>
              <a:off x="6481712" y="4072623"/>
              <a:ext cx="434079" cy="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80" name="图片 87">
              <a:extLst>
                <a:ext uri="{FF2B5EF4-FFF2-40B4-BE49-F238E27FC236}">
                  <a16:creationId xmlns:a16="http://schemas.microsoft.com/office/drawing/2014/main" id="{48888DD0-BA7D-486E-BB36-7A60828607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4817032" y="3913316"/>
              <a:ext cx="466668" cy="385001"/>
            </a:xfrm>
            <a:prstGeom prst="rect">
              <a:avLst/>
            </a:prstGeom>
          </p:spPr>
        </p:pic>
        <p:sp>
          <p:nvSpPr>
            <p:cNvPr id="181" name="文本框 88">
              <a:extLst>
                <a:ext uri="{FF2B5EF4-FFF2-40B4-BE49-F238E27FC236}">
                  <a16:creationId xmlns:a16="http://schemas.microsoft.com/office/drawing/2014/main" id="{B3170ACA-1DBC-4EBE-BD50-3B5B42E9E9E3}"/>
                </a:ext>
              </a:extLst>
            </p:cNvPr>
            <p:cNvSpPr txBox="1"/>
            <p:nvPr/>
          </p:nvSpPr>
          <p:spPr bwMode="gray">
            <a:xfrm>
              <a:off x="4241622" y="3935354"/>
              <a:ext cx="638324"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cxnSp>
          <p:nvCxnSpPr>
            <p:cNvPr id="182" name="直接连接符 90">
              <a:extLst>
                <a:ext uri="{FF2B5EF4-FFF2-40B4-BE49-F238E27FC236}">
                  <a16:creationId xmlns:a16="http://schemas.microsoft.com/office/drawing/2014/main" id="{7C9922C0-C40A-4B5F-A3F9-A3DB67F495BA}"/>
                </a:ext>
              </a:extLst>
            </p:cNvPr>
            <p:cNvCxnSpPr>
              <a:cxnSpLocks/>
              <a:stCxn id="180" idx="0"/>
            </p:cNvCxnSpPr>
            <p:nvPr/>
          </p:nvCxnSpPr>
          <p:spPr bwMode="gray">
            <a:xfrm flipV="1">
              <a:off x="5050366" y="3424006"/>
              <a:ext cx="1431346" cy="48715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直接连接符 91">
              <a:extLst>
                <a:ext uri="{FF2B5EF4-FFF2-40B4-BE49-F238E27FC236}">
                  <a16:creationId xmlns:a16="http://schemas.microsoft.com/office/drawing/2014/main" id="{032C102A-5BB4-432B-B2CA-78E95C60FF06}"/>
                </a:ext>
              </a:extLst>
            </p:cNvPr>
            <p:cNvCxnSpPr>
              <a:cxnSpLocks/>
              <a:endCxn id="196" idx="2"/>
            </p:cNvCxnSpPr>
            <p:nvPr/>
          </p:nvCxnSpPr>
          <p:spPr bwMode="gray">
            <a:xfrm flipH="1">
              <a:off x="6558191" y="2293669"/>
              <a:ext cx="404177" cy="76099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直接连接符 92">
              <a:extLst>
                <a:ext uri="{FF2B5EF4-FFF2-40B4-BE49-F238E27FC236}">
                  <a16:creationId xmlns:a16="http://schemas.microsoft.com/office/drawing/2014/main" id="{4DB89065-F1CA-44DD-A9C4-719280130D81}"/>
                </a:ext>
              </a:extLst>
            </p:cNvPr>
            <p:cNvCxnSpPr>
              <a:cxnSpLocks/>
              <a:stCxn id="180" idx="0"/>
            </p:cNvCxnSpPr>
            <p:nvPr/>
          </p:nvCxnSpPr>
          <p:spPr bwMode="gray">
            <a:xfrm flipV="1">
              <a:off x="5050366" y="3437199"/>
              <a:ext cx="334664"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85" name="图片 94">
              <a:extLst>
                <a:ext uri="{FF2B5EF4-FFF2-40B4-BE49-F238E27FC236}">
                  <a16:creationId xmlns:a16="http://schemas.microsoft.com/office/drawing/2014/main" id="{AE90EED6-39FB-497D-8686-1D9340F3178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222335" y="3913316"/>
              <a:ext cx="466668" cy="385001"/>
            </a:xfrm>
            <a:prstGeom prst="rect">
              <a:avLst/>
            </a:prstGeom>
          </p:spPr>
        </p:pic>
        <p:sp>
          <p:nvSpPr>
            <p:cNvPr id="186" name="文本框 95">
              <a:extLst>
                <a:ext uri="{FF2B5EF4-FFF2-40B4-BE49-F238E27FC236}">
                  <a16:creationId xmlns:a16="http://schemas.microsoft.com/office/drawing/2014/main" id="{75F5B05D-C2F9-4DB5-AE4B-8784655DC55E}"/>
                </a:ext>
              </a:extLst>
            </p:cNvPr>
            <p:cNvSpPr txBox="1"/>
            <p:nvPr/>
          </p:nvSpPr>
          <p:spPr bwMode="gray">
            <a:xfrm>
              <a:off x="7198051" y="3928025"/>
              <a:ext cx="680192"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pic>
          <p:nvPicPr>
            <p:cNvPr id="187" name="图片 97">
              <a:extLst>
                <a:ext uri="{FF2B5EF4-FFF2-40B4-BE49-F238E27FC236}">
                  <a16:creationId xmlns:a16="http://schemas.microsoft.com/office/drawing/2014/main" id="{1ABF81BA-68F3-4EEF-9113-800928C9BED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804780" y="3912420"/>
              <a:ext cx="466668" cy="385001"/>
            </a:xfrm>
            <a:prstGeom prst="rect">
              <a:avLst/>
            </a:prstGeom>
          </p:spPr>
        </p:pic>
        <p:cxnSp>
          <p:nvCxnSpPr>
            <p:cNvPr id="188" name="直接连接符 98">
              <a:extLst>
                <a:ext uri="{FF2B5EF4-FFF2-40B4-BE49-F238E27FC236}">
                  <a16:creationId xmlns:a16="http://schemas.microsoft.com/office/drawing/2014/main" id="{1EF86D8A-D30D-4B9A-836F-FC3BC29A7255}"/>
                </a:ext>
              </a:extLst>
            </p:cNvPr>
            <p:cNvCxnSpPr>
              <a:cxnSpLocks/>
              <a:stCxn id="185" idx="0"/>
            </p:cNvCxnSpPr>
            <p:nvPr/>
          </p:nvCxnSpPr>
          <p:spPr bwMode="gray">
            <a:xfrm flipH="1" flipV="1">
              <a:off x="5348480" y="3437199"/>
              <a:ext cx="1107189"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直接连接符 99">
              <a:extLst>
                <a:ext uri="{FF2B5EF4-FFF2-40B4-BE49-F238E27FC236}">
                  <a16:creationId xmlns:a16="http://schemas.microsoft.com/office/drawing/2014/main" id="{E3DB215B-B676-472E-BCB5-127D9B52B682}"/>
                </a:ext>
              </a:extLst>
            </p:cNvPr>
            <p:cNvCxnSpPr>
              <a:cxnSpLocks/>
              <a:stCxn id="187" idx="0"/>
            </p:cNvCxnSpPr>
            <p:nvPr/>
          </p:nvCxnSpPr>
          <p:spPr bwMode="gray">
            <a:xfrm flipH="1" flipV="1">
              <a:off x="6481712" y="3424006"/>
              <a:ext cx="556402" cy="48626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直接连接符 100">
              <a:extLst>
                <a:ext uri="{FF2B5EF4-FFF2-40B4-BE49-F238E27FC236}">
                  <a16:creationId xmlns:a16="http://schemas.microsoft.com/office/drawing/2014/main" id="{7F4EE362-D35F-48E0-9F57-975A8C501632}"/>
                </a:ext>
              </a:extLst>
            </p:cNvPr>
            <p:cNvCxnSpPr/>
            <p:nvPr/>
          </p:nvCxnSpPr>
          <p:spPr bwMode="gray">
            <a:xfrm>
              <a:off x="6455669" y="2218530"/>
              <a:ext cx="460122" cy="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2" name="文本框 103">
              <a:extLst>
                <a:ext uri="{FF2B5EF4-FFF2-40B4-BE49-F238E27FC236}">
                  <a16:creationId xmlns:a16="http://schemas.microsoft.com/office/drawing/2014/main" id="{0E02CC19-E0CA-407C-AEC5-AE1785A6E471}"/>
                </a:ext>
              </a:extLst>
            </p:cNvPr>
            <p:cNvSpPr txBox="1"/>
            <p:nvPr/>
          </p:nvSpPr>
          <p:spPr bwMode="gray">
            <a:xfrm>
              <a:off x="7095241" y="2050751"/>
              <a:ext cx="749964"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cxnSp>
          <p:nvCxnSpPr>
            <p:cNvPr id="194" name="直接连接符 106">
              <a:extLst>
                <a:ext uri="{FF2B5EF4-FFF2-40B4-BE49-F238E27FC236}">
                  <a16:creationId xmlns:a16="http://schemas.microsoft.com/office/drawing/2014/main" id="{C18E4CDF-4DB0-4030-99FA-156303E72B82}"/>
                </a:ext>
              </a:extLst>
            </p:cNvPr>
            <p:cNvCxnSpPr>
              <a:cxnSpLocks/>
              <a:endCxn id="195" idx="0"/>
            </p:cNvCxnSpPr>
            <p:nvPr/>
          </p:nvCxnSpPr>
          <p:spPr bwMode="gray">
            <a:xfrm flipH="1">
              <a:off x="5332693" y="2306998"/>
              <a:ext cx="1012611" cy="68474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5" name="Freeform 159">
              <a:extLst>
                <a:ext uri="{FF2B5EF4-FFF2-40B4-BE49-F238E27FC236}">
                  <a16:creationId xmlns:a16="http://schemas.microsoft.com/office/drawing/2014/main" id="{7C15CA7B-0BA4-40F2-A83E-EC627423C343}"/>
                </a:ext>
              </a:extLst>
            </p:cNvPr>
            <p:cNvSpPr/>
            <p:nvPr/>
          </p:nvSpPr>
          <p:spPr bwMode="gray">
            <a:xfrm flipH="1">
              <a:off x="4998558" y="2991744"/>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196" name="Freeform 159">
              <a:extLst>
                <a:ext uri="{FF2B5EF4-FFF2-40B4-BE49-F238E27FC236}">
                  <a16:creationId xmlns:a16="http://schemas.microsoft.com/office/drawing/2014/main" id="{5504BE86-35BE-4B35-87E2-228D1341E189}"/>
                </a:ext>
              </a:extLst>
            </p:cNvPr>
            <p:cNvSpPr/>
            <p:nvPr/>
          </p:nvSpPr>
          <p:spPr bwMode="gray">
            <a:xfrm flipH="1">
              <a:off x="6063618" y="2978551"/>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cxnSp>
          <p:nvCxnSpPr>
            <p:cNvPr id="197" name="直接连接符 100">
              <a:extLst>
                <a:ext uri="{FF2B5EF4-FFF2-40B4-BE49-F238E27FC236}">
                  <a16:creationId xmlns:a16="http://schemas.microsoft.com/office/drawing/2014/main" id="{60EBF8B6-888A-4A0C-9A23-97004FC85A0F}"/>
                </a:ext>
              </a:extLst>
            </p:cNvPr>
            <p:cNvCxnSpPr/>
            <p:nvPr/>
          </p:nvCxnSpPr>
          <p:spPr bwMode="gray">
            <a:xfrm>
              <a:off x="4894926" y="2207288"/>
              <a:ext cx="618540" cy="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 name="文本框 103">
              <a:extLst>
                <a:ext uri="{FF2B5EF4-FFF2-40B4-BE49-F238E27FC236}">
                  <a16:creationId xmlns:a16="http://schemas.microsoft.com/office/drawing/2014/main" id="{3EA90EF1-7265-4F5B-91C9-9969493E1EE9}"/>
                </a:ext>
              </a:extLst>
            </p:cNvPr>
            <p:cNvSpPr txBox="1"/>
            <p:nvPr/>
          </p:nvSpPr>
          <p:spPr bwMode="gray">
            <a:xfrm>
              <a:off x="4300511" y="2054295"/>
              <a:ext cx="428743" cy="307777"/>
            </a:xfrm>
            <a:prstGeom prst="rect">
              <a:avLst/>
            </a:prstGeom>
            <a:noFill/>
          </p:spPr>
          <p:txBody>
            <a:bodyPr wrap="square" rtlCol="0">
              <a:spAutoFit/>
            </a:bodyPr>
            <a:lstStyle/>
            <a:p>
              <a:pPr algn="ctr"/>
              <a:r>
                <a:rPr lang="en-US" altLang="zh-CN" sz="1400" dirty="0">
                  <a:solidFill>
                    <a:srgbClr val="000000"/>
                  </a:solidFill>
                </a:rPr>
                <a:t>RR</a:t>
              </a:r>
              <a:endParaRPr lang="zh-CN" altLang="en-US" sz="1400" dirty="0">
                <a:solidFill>
                  <a:srgbClr val="000000"/>
                </a:solidFill>
              </a:endParaRPr>
            </a:p>
          </p:txBody>
        </p:sp>
        <p:cxnSp>
          <p:nvCxnSpPr>
            <p:cNvPr id="201" name="直接连接符 106">
              <a:extLst>
                <a:ext uri="{FF2B5EF4-FFF2-40B4-BE49-F238E27FC236}">
                  <a16:creationId xmlns:a16="http://schemas.microsoft.com/office/drawing/2014/main" id="{58BEB193-F7BD-4EAA-AE88-3DC130112721}"/>
                </a:ext>
              </a:extLst>
            </p:cNvPr>
            <p:cNvCxnSpPr>
              <a:cxnSpLocks/>
              <a:stCxn id="195" idx="0"/>
            </p:cNvCxnSpPr>
            <p:nvPr/>
          </p:nvCxnSpPr>
          <p:spPr bwMode="gray">
            <a:xfrm flipH="1" flipV="1">
              <a:off x="4804495" y="2267792"/>
              <a:ext cx="528198" cy="723952"/>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 name="直接连接符 106">
              <a:extLst>
                <a:ext uri="{FF2B5EF4-FFF2-40B4-BE49-F238E27FC236}">
                  <a16:creationId xmlns:a16="http://schemas.microsoft.com/office/drawing/2014/main" id="{9801EF36-4D73-447B-A012-5F1E18F5C7D5}"/>
                </a:ext>
              </a:extLst>
            </p:cNvPr>
            <p:cNvCxnSpPr>
              <a:cxnSpLocks/>
              <a:stCxn id="196" idx="1"/>
            </p:cNvCxnSpPr>
            <p:nvPr/>
          </p:nvCxnSpPr>
          <p:spPr bwMode="gray">
            <a:xfrm flipH="1" flipV="1">
              <a:off x="5483732" y="2256489"/>
              <a:ext cx="1063191" cy="78439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98" name="图片 102">
              <a:extLst>
                <a:ext uri="{FF2B5EF4-FFF2-40B4-BE49-F238E27FC236}">
                  <a16:creationId xmlns:a16="http://schemas.microsoft.com/office/drawing/2014/main" id="{34183720-E1E7-45B1-BAC5-EF966944640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4661592" y="2015683"/>
              <a:ext cx="466668" cy="385001"/>
            </a:xfrm>
            <a:prstGeom prst="rect">
              <a:avLst/>
            </a:prstGeom>
          </p:spPr>
        </p:pic>
        <p:pic>
          <p:nvPicPr>
            <p:cNvPr id="191" name="图片 102">
              <a:extLst>
                <a:ext uri="{FF2B5EF4-FFF2-40B4-BE49-F238E27FC236}">
                  <a16:creationId xmlns:a16="http://schemas.microsoft.com/office/drawing/2014/main" id="{67E5B17A-1882-405C-9E79-AE171092070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100796" y="2034720"/>
              <a:ext cx="466668" cy="385001"/>
            </a:xfrm>
            <a:prstGeom prst="rect">
              <a:avLst/>
            </a:prstGeom>
          </p:spPr>
        </p:pic>
        <p:pic>
          <p:nvPicPr>
            <p:cNvPr id="193" name="图片 105">
              <a:extLst>
                <a:ext uri="{FF2B5EF4-FFF2-40B4-BE49-F238E27FC236}">
                  <a16:creationId xmlns:a16="http://schemas.microsoft.com/office/drawing/2014/main" id="{B4733FEC-0973-4717-B848-F9FEE64A885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731551" y="2033824"/>
              <a:ext cx="466668" cy="385001"/>
            </a:xfrm>
            <a:prstGeom prst="rect">
              <a:avLst/>
            </a:prstGeom>
          </p:spPr>
        </p:pic>
        <p:pic>
          <p:nvPicPr>
            <p:cNvPr id="200" name="图片 105">
              <a:extLst>
                <a:ext uri="{FF2B5EF4-FFF2-40B4-BE49-F238E27FC236}">
                  <a16:creationId xmlns:a16="http://schemas.microsoft.com/office/drawing/2014/main" id="{262A30AC-546E-4C1C-A3C4-DA4797B7602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5292347" y="2014787"/>
              <a:ext cx="466668" cy="385001"/>
            </a:xfrm>
            <a:prstGeom prst="rect">
              <a:avLst/>
            </a:prstGeom>
          </p:spPr>
        </p:pic>
      </p:grpSp>
      <p:sp>
        <p:nvSpPr>
          <p:cNvPr id="62"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63"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537705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8854-1E58-4981-A3CD-5F884FA56D29}"/>
              </a:ext>
            </a:extLst>
          </p:cNvPr>
          <p:cNvSpPr>
            <a:spLocks noGrp="1"/>
          </p:cNvSpPr>
          <p:nvPr>
            <p:ph type="title"/>
          </p:nvPr>
        </p:nvSpPr>
        <p:spPr bwMode="gray"/>
        <p:txBody>
          <a:bodyPr/>
          <a:lstStyle/>
          <a:p>
            <a:r>
              <a:rPr lang="en-US" altLang="zh-CN" dirty="0"/>
              <a:t>RR</a:t>
            </a:r>
            <a:r>
              <a:rPr lang="zh-CN" altLang="en-US" dirty="0"/>
              <a:t>组网典型场景</a:t>
            </a:r>
            <a:r>
              <a:rPr lang="en-US" altLang="zh-CN" dirty="0"/>
              <a:t> - </a:t>
            </a:r>
            <a:r>
              <a:rPr lang="zh-CN" altLang="en-US" dirty="0"/>
              <a:t>运营商</a:t>
            </a:r>
            <a:r>
              <a:rPr lang="en-US" altLang="zh-CN" dirty="0"/>
              <a:t>/MSP</a:t>
            </a:r>
            <a:r>
              <a:rPr lang="zh-CN" altLang="en-US" dirty="0"/>
              <a:t>转售</a:t>
            </a:r>
            <a:endParaRPr lang="en-US" dirty="0"/>
          </a:p>
        </p:txBody>
      </p:sp>
      <p:sp>
        <p:nvSpPr>
          <p:cNvPr id="9" name="Text Placeholder 8">
            <a:extLst>
              <a:ext uri="{FF2B5EF4-FFF2-40B4-BE49-F238E27FC236}">
                <a16:creationId xmlns:a16="http://schemas.microsoft.com/office/drawing/2014/main" id="{19872F25-2C0D-4067-9071-59243438D2B6}"/>
              </a:ext>
            </a:extLst>
          </p:cNvPr>
          <p:cNvSpPr>
            <a:spLocks noGrp="1"/>
          </p:cNvSpPr>
          <p:nvPr>
            <p:ph type="body" sz="quarter" idx="10"/>
          </p:nvPr>
        </p:nvSpPr>
        <p:spPr bwMode="gray">
          <a:xfrm>
            <a:off x="6861250" y="1047750"/>
            <a:ext cx="4887837" cy="4879805"/>
          </a:xfrm>
        </p:spPr>
        <p:txBody>
          <a:bodyPr/>
          <a:lstStyle/>
          <a:p>
            <a:r>
              <a:rPr lang="zh-CN" altLang="en-US" sz="1800" dirty="0"/>
              <a:t>运营商</a:t>
            </a:r>
            <a:r>
              <a:rPr lang="en-US" altLang="zh-CN" sz="1800" dirty="0"/>
              <a:t>/MSP</a:t>
            </a:r>
            <a:r>
              <a:rPr lang="zh-CN" altLang="en-US" sz="1800" dirty="0"/>
              <a:t>场景推荐采用</a:t>
            </a:r>
            <a:r>
              <a:rPr lang="en-US" altLang="zh-CN" sz="1800" dirty="0"/>
              <a:t>RR</a:t>
            </a:r>
            <a:r>
              <a:rPr lang="zh-CN" altLang="en-US" sz="1800" dirty="0"/>
              <a:t>独立部署的方式，由</a:t>
            </a:r>
            <a:r>
              <a:rPr lang="en-US" altLang="zh-CN" sz="1800" dirty="0"/>
              <a:t>MSP</a:t>
            </a:r>
            <a:r>
              <a:rPr lang="zh-CN" altLang="en-US" sz="1800" dirty="0"/>
              <a:t>管理员创建</a:t>
            </a:r>
            <a:r>
              <a:rPr lang="en-US" altLang="zh-CN" sz="1800" dirty="0"/>
              <a:t>RR</a:t>
            </a:r>
            <a:r>
              <a:rPr lang="zh-CN" altLang="en-US" sz="1800" dirty="0"/>
              <a:t>，划分接入区，将</a:t>
            </a:r>
            <a:r>
              <a:rPr lang="en-US" altLang="zh-CN" sz="1800" dirty="0"/>
              <a:t>RR</a:t>
            </a:r>
            <a:r>
              <a:rPr lang="zh-CN" altLang="en-US" sz="1800" dirty="0"/>
              <a:t>分配到对应的接入区内分组管理。</a:t>
            </a:r>
            <a:endParaRPr lang="en-US" altLang="zh-CN" sz="1800" dirty="0"/>
          </a:p>
          <a:p>
            <a:r>
              <a:rPr lang="zh-CN" altLang="en-US" sz="1800" dirty="0"/>
              <a:t>该部署方式的优势在于所有企业客户</a:t>
            </a:r>
            <a:r>
              <a:rPr lang="en-US" altLang="zh-CN" sz="1800" dirty="0"/>
              <a:t>SD-WAN</a:t>
            </a:r>
            <a:r>
              <a:rPr lang="zh-CN" altLang="en-US" sz="1800" dirty="0"/>
              <a:t>网络的控制面统一</a:t>
            </a:r>
            <a:r>
              <a:rPr lang="zh-CN" altLang="en-US" sz="1800"/>
              <a:t>集中管理。</a:t>
            </a:r>
            <a:r>
              <a:rPr lang="en-US" altLang="zh-CN" sz="1800"/>
              <a:t>RR</a:t>
            </a:r>
            <a:r>
              <a:rPr lang="zh-CN" altLang="en-US" sz="1800" dirty="0"/>
              <a:t>可灵活分配给不同的租户使用，同时在</a:t>
            </a:r>
            <a:r>
              <a:rPr lang="en-US" altLang="zh-CN" sz="1800" dirty="0"/>
              <a:t>MSP</a:t>
            </a:r>
            <a:r>
              <a:rPr lang="zh-CN" altLang="en-US" sz="1800" dirty="0"/>
              <a:t>部署的</a:t>
            </a:r>
            <a:r>
              <a:rPr lang="en-US" altLang="zh-CN" sz="1800" dirty="0"/>
              <a:t>RR</a:t>
            </a:r>
            <a:r>
              <a:rPr lang="zh-CN" altLang="en-US" sz="1800" dirty="0"/>
              <a:t>基础上运营商</a:t>
            </a:r>
            <a:r>
              <a:rPr lang="en-US" altLang="zh-CN" sz="1800" dirty="0"/>
              <a:t>/MSP</a:t>
            </a:r>
            <a:r>
              <a:rPr lang="zh-CN" altLang="en-US" sz="1800" dirty="0"/>
              <a:t>可向企业客户提供多租户</a:t>
            </a:r>
            <a:r>
              <a:rPr lang="en-US" altLang="zh-CN" sz="1800" dirty="0"/>
              <a:t>GW</a:t>
            </a:r>
            <a:r>
              <a:rPr lang="zh-CN" altLang="en-US" sz="1800" dirty="0"/>
              <a:t>的接入服务。</a:t>
            </a:r>
            <a:endParaRPr lang="en-US" sz="1800" dirty="0"/>
          </a:p>
        </p:txBody>
      </p:sp>
      <p:grpSp>
        <p:nvGrpSpPr>
          <p:cNvPr id="3" name="Group 2">
            <a:extLst>
              <a:ext uri="{FF2B5EF4-FFF2-40B4-BE49-F238E27FC236}">
                <a16:creationId xmlns:a16="http://schemas.microsoft.com/office/drawing/2014/main" id="{EFE5608B-3408-41C9-99B1-68471FEA16E5}"/>
              </a:ext>
            </a:extLst>
          </p:cNvPr>
          <p:cNvGrpSpPr/>
          <p:nvPr/>
        </p:nvGrpSpPr>
        <p:grpSpPr bwMode="gray">
          <a:xfrm>
            <a:off x="501428" y="3095511"/>
            <a:ext cx="3115004" cy="2990656"/>
            <a:chOff x="423371" y="3064338"/>
            <a:chExt cx="3115004" cy="2990656"/>
          </a:xfrm>
        </p:grpSpPr>
        <p:sp>
          <p:nvSpPr>
            <p:cNvPr id="96" name="文本框 37">
              <a:extLst>
                <a:ext uri="{FF2B5EF4-FFF2-40B4-BE49-F238E27FC236}">
                  <a16:creationId xmlns:a16="http://schemas.microsoft.com/office/drawing/2014/main" id="{F4F7DB91-3DF7-44F7-BFA0-31A84C7D2778}"/>
                </a:ext>
              </a:extLst>
            </p:cNvPr>
            <p:cNvSpPr txBox="1"/>
            <p:nvPr/>
          </p:nvSpPr>
          <p:spPr bwMode="gray">
            <a:xfrm>
              <a:off x="521924" y="3084306"/>
              <a:ext cx="655949" cy="297454"/>
            </a:xfrm>
            <a:prstGeom prst="rect">
              <a:avLst/>
            </a:prstGeom>
            <a:noFill/>
          </p:spPr>
          <p:txBody>
            <a:bodyPr wrap="none" rtlCol="0">
              <a:spAutoFit/>
            </a:bodyPr>
            <a:lstStyle/>
            <a:p>
              <a:r>
                <a:rPr lang="zh-CN" altLang="en-US" sz="1333" b="1" dirty="0">
                  <a:latin typeface="Huawei Sans" panose="020C0503030203020204" pitchFamily="34" charset="0"/>
                  <a:ea typeface="方正兰亭黑简体" panose="02000000000000000000" pitchFamily="2" charset="-122"/>
                </a:rPr>
                <a:t>企业</a:t>
              </a:r>
              <a:r>
                <a:rPr lang="en-US" altLang="zh-CN" sz="1333" b="1" dirty="0">
                  <a:latin typeface="Huawei Sans" panose="020C0503030203020204" pitchFamily="34" charset="0"/>
                  <a:ea typeface="方正兰亭黑简体" panose="02000000000000000000" pitchFamily="2" charset="-122"/>
                </a:rPr>
                <a:t>A</a:t>
              </a:r>
              <a:endParaRPr lang="zh-CN" altLang="en-US" sz="1333" b="1" dirty="0">
                <a:latin typeface="Huawei Sans" panose="020C0503030203020204" pitchFamily="34" charset="0"/>
                <a:ea typeface="方正兰亭黑简体" panose="02000000000000000000" pitchFamily="2" charset="-122"/>
              </a:endParaRPr>
            </a:p>
          </p:txBody>
        </p:sp>
        <p:sp>
          <p:nvSpPr>
            <p:cNvPr id="145" name="Rectangle: Rounded Corners 144">
              <a:extLst>
                <a:ext uri="{FF2B5EF4-FFF2-40B4-BE49-F238E27FC236}">
                  <a16:creationId xmlns:a16="http://schemas.microsoft.com/office/drawing/2014/main" id="{F241C7AD-EF09-4E11-8234-D9459722BA99}"/>
                </a:ext>
              </a:extLst>
            </p:cNvPr>
            <p:cNvSpPr/>
            <p:nvPr/>
          </p:nvSpPr>
          <p:spPr bwMode="gray">
            <a:xfrm>
              <a:off x="462934" y="3064338"/>
              <a:ext cx="3075441" cy="2990656"/>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8" name="Freeform 159">
              <a:extLst>
                <a:ext uri="{FF2B5EF4-FFF2-40B4-BE49-F238E27FC236}">
                  <a16:creationId xmlns:a16="http://schemas.microsoft.com/office/drawing/2014/main" id="{C9C43CE9-F927-4278-9D1A-7FC67BB121DA}"/>
                </a:ext>
              </a:extLst>
            </p:cNvPr>
            <p:cNvSpPr/>
            <p:nvPr/>
          </p:nvSpPr>
          <p:spPr bwMode="gray">
            <a:xfrm flipH="1">
              <a:off x="732582" y="5445703"/>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分支一</a:t>
              </a:r>
              <a:endParaRPr lang="en-US" sz="1400" dirty="0">
                <a:solidFill>
                  <a:schemeClr val="tx1"/>
                </a:solidFill>
              </a:endParaRPr>
            </a:p>
          </p:txBody>
        </p:sp>
        <p:sp>
          <p:nvSpPr>
            <p:cNvPr id="149" name="Freeform 159">
              <a:extLst>
                <a:ext uri="{FF2B5EF4-FFF2-40B4-BE49-F238E27FC236}">
                  <a16:creationId xmlns:a16="http://schemas.microsoft.com/office/drawing/2014/main" id="{0BFABF95-0608-4819-B0A1-1A85D8C01FFB}"/>
                </a:ext>
              </a:extLst>
            </p:cNvPr>
            <p:cNvSpPr/>
            <p:nvPr/>
          </p:nvSpPr>
          <p:spPr bwMode="gray">
            <a:xfrm flipH="1">
              <a:off x="2409743" y="5442551"/>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分支二</a:t>
              </a:r>
              <a:endParaRPr lang="en-US" sz="1400" dirty="0">
                <a:solidFill>
                  <a:schemeClr val="tx1"/>
                </a:solidFill>
              </a:endParaRPr>
            </a:p>
          </p:txBody>
        </p:sp>
        <p:sp>
          <p:nvSpPr>
            <p:cNvPr id="150" name="Freeform 159">
              <a:extLst>
                <a:ext uri="{FF2B5EF4-FFF2-40B4-BE49-F238E27FC236}">
                  <a16:creationId xmlns:a16="http://schemas.microsoft.com/office/drawing/2014/main" id="{F741B70B-E185-4F23-9959-5408BF4FBEB8}"/>
                </a:ext>
              </a:extLst>
            </p:cNvPr>
            <p:cNvSpPr/>
            <p:nvPr/>
          </p:nvSpPr>
          <p:spPr bwMode="gray">
            <a:xfrm flipH="1">
              <a:off x="1599842" y="3177439"/>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HQ/DC</a:t>
              </a:r>
              <a:endParaRPr lang="en-US" sz="1400" dirty="0">
                <a:solidFill>
                  <a:schemeClr val="tx1"/>
                </a:solidFill>
              </a:endParaRPr>
            </a:p>
          </p:txBody>
        </p:sp>
        <p:cxnSp>
          <p:nvCxnSpPr>
            <p:cNvPr id="151" name="直接连接符 78">
              <a:extLst>
                <a:ext uri="{FF2B5EF4-FFF2-40B4-BE49-F238E27FC236}">
                  <a16:creationId xmlns:a16="http://schemas.microsoft.com/office/drawing/2014/main" id="{0AE5D2AA-71CD-49AD-A8AE-9C7CF06DC348}"/>
                </a:ext>
              </a:extLst>
            </p:cNvPr>
            <p:cNvCxnSpPr/>
            <p:nvPr/>
          </p:nvCxnSpPr>
          <p:spPr bwMode="gray">
            <a:xfrm>
              <a:off x="2733389" y="5350451"/>
              <a:ext cx="357601" cy="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52" name="图片 87">
              <a:extLst>
                <a:ext uri="{FF2B5EF4-FFF2-40B4-BE49-F238E27FC236}">
                  <a16:creationId xmlns:a16="http://schemas.microsoft.com/office/drawing/2014/main" id="{59D40AD5-4784-4814-82E2-E4FBA80EC9B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92230" y="5158846"/>
              <a:ext cx="466668" cy="385001"/>
            </a:xfrm>
            <a:prstGeom prst="rect">
              <a:avLst/>
            </a:prstGeom>
          </p:spPr>
        </p:pic>
        <p:sp>
          <p:nvSpPr>
            <p:cNvPr id="153" name="文本框 88">
              <a:extLst>
                <a:ext uri="{FF2B5EF4-FFF2-40B4-BE49-F238E27FC236}">
                  <a16:creationId xmlns:a16="http://schemas.microsoft.com/office/drawing/2014/main" id="{A144E31D-6509-49C9-B2B8-2211872E0D68}"/>
                </a:ext>
              </a:extLst>
            </p:cNvPr>
            <p:cNvSpPr txBox="1"/>
            <p:nvPr/>
          </p:nvSpPr>
          <p:spPr bwMode="gray">
            <a:xfrm>
              <a:off x="423371" y="5215459"/>
              <a:ext cx="637785"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cxnSp>
          <p:nvCxnSpPr>
            <p:cNvPr id="154" name="直接连接符 90">
              <a:extLst>
                <a:ext uri="{FF2B5EF4-FFF2-40B4-BE49-F238E27FC236}">
                  <a16:creationId xmlns:a16="http://schemas.microsoft.com/office/drawing/2014/main" id="{BC8694DD-2FF5-430B-B61A-C7C78A327DD0}"/>
                </a:ext>
              </a:extLst>
            </p:cNvPr>
            <p:cNvCxnSpPr>
              <a:cxnSpLocks/>
              <a:stCxn id="152" idx="0"/>
            </p:cNvCxnSpPr>
            <p:nvPr/>
          </p:nvCxnSpPr>
          <p:spPr bwMode="gray">
            <a:xfrm flipV="1">
              <a:off x="1225564" y="4669536"/>
              <a:ext cx="1431346" cy="48715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直接连接符 91">
              <a:extLst>
                <a:ext uri="{FF2B5EF4-FFF2-40B4-BE49-F238E27FC236}">
                  <a16:creationId xmlns:a16="http://schemas.microsoft.com/office/drawing/2014/main" id="{88324503-E292-4FD0-8A5F-7DD0CA2B6341}"/>
                </a:ext>
              </a:extLst>
            </p:cNvPr>
            <p:cNvCxnSpPr>
              <a:cxnSpLocks/>
              <a:stCxn id="211" idx="2"/>
              <a:endCxn id="214" idx="2"/>
            </p:cNvCxnSpPr>
            <p:nvPr/>
          </p:nvCxnSpPr>
          <p:spPr bwMode="gray">
            <a:xfrm>
              <a:off x="2387608" y="3950285"/>
              <a:ext cx="345781" cy="43398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6" name="直接连接符 92">
              <a:extLst>
                <a:ext uri="{FF2B5EF4-FFF2-40B4-BE49-F238E27FC236}">
                  <a16:creationId xmlns:a16="http://schemas.microsoft.com/office/drawing/2014/main" id="{BFDA451F-1BBC-4D7D-B737-8D76362EAF19}"/>
                </a:ext>
              </a:extLst>
            </p:cNvPr>
            <p:cNvCxnSpPr>
              <a:cxnSpLocks/>
              <a:stCxn id="152" idx="0"/>
            </p:cNvCxnSpPr>
            <p:nvPr/>
          </p:nvCxnSpPr>
          <p:spPr bwMode="gray">
            <a:xfrm flipV="1">
              <a:off x="1225564" y="4682729"/>
              <a:ext cx="334664"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3" name="图片 94">
              <a:extLst>
                <a:ext uri="{FF2B5EF4-FFF2-40B4-BE49-F238E27FC236}">
                  <a16:creationId xmlns:a16="http://schemas.microsoft.com/office/drawing/2014/main" id="{9B97B621-B7D3-4214-A860-4885E882C7A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397533" y="5158846"/>
              <a:ext cx="466668" cy="385001"/>
            </a:xfrm>
            <a:prstGeom prst="rect">
              <a:avLst/>
            </a:prstGeom>
          </p:spPr>
        </p:pic>
        <p:sp>
          <p:nvSpPr>
            <p:cNvPr id="204" name="文本框 95">
              <a:extLst>
                <a:ext uri="{FF2B5EF4-FFF2-40B4-BE49-F238E27FC236}">
                  <a16:creationId xmlns:a16="http://schemas.microsoft.com/office/drawing/2014/main" id="{169D4A8B-B17A-4CEE-A41E-39D4C97EFC59}"/>
                </a:ext>
              </a:extLst>
            </p:cNvPr>
            <p:cNvSpPr txBox="1"/>
            <p:nvPr/>
          </p:nvSpPr>
          <p:spPr bwMode="gray">
            <a:xfrm>
              <a:off x="1829712" y="5194651"/>
              <a:ext cx="639919"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pic>
          <p:nvPicPr>
            <p:cNvPr id="205" name="图片 97">
              <a:extLst>
                <a:ext uri="{FF2B5EF4-FFF2-40B4-BE49-F238E27FC236}">
                  <a16:creationId xmlns:a16="http://schemas.microsoft.com/office/drawing/2014/main" id="{DB070713-FCBE-4421-A143-5D8F09BB8FF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979978" y="5157950"/>
              <a:ext cx="466668" cy="385001"/>
            </a:xfrm>
            <a:prstGeom prst="rect">
              <a:avLst/>
            </a:prstGeom>
          </p:spPr>
        </p:pic>
        <p:cxnSp>
          <p:nvCxnSpPr>
            <p:cNvPr id="206" name="直接连接符 98">
              <a:extLst>
                <a:ext uri="{FF2B5EF4-FFF2-40B4-BE49-F238E27FC236}">
                  <a16:creationId xmlns:a16="http://schemas.microsoft.com/office/drawing/2014/main" id="{96B75240-035B-48DC-AD8C-BB1027CBAF36}"/>
                </a:ext>
              </a:extLst>
            </p:cNvPr>
            <p:cNvCxnSpPr>
              <a:cxnSpLocks/>
              <a:stCxn id="203" idx="0"/>
            </p:cNvCxnSpPr>
            <p:nvPr/>
          </p:nvCxnSpPr>
          <p:spPr bwMode="gray">
            <a:xfrm flipH="1" flipV="1">
              <a:off x="1523678" y="4682729"/>
              <a:ext cx="1107189"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直接连接符 99">
              <a:extLst>
                <a:ext uri="{FF2B5EF4-FFF2-40B4-BE49-F238E27FC236}">
                  <a16:creationId xmlns:a16="http://schemas.microsoft.com/office/drawing/2014/main" id="{8349354E-2D0D-45C2-B2CA-09C2503793EB}"/>
                </a:ext>
              </a:extLst>
            </p:cNvPr>
            <p:cNvCxnSpPr>
              <a:cxnSpLocks/>
              <a:stCxn id="205" idx="0"/>
            </p:cNvCxnSpPr>
            <p:nvPr/>
          </p:nvCxnSpPr>
          <p:spPr bwMode="gray">
            <a:xfrm flipH="1" flipV="1">
              <a:off x="2656910" y="4669536"/>
              <a:ext cx="556402" cy="48626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直接连接符 100">
              <a:extLst>
                <a:ext uri="{FF2B5EF4-FFF2-40B4-BE49-F238E27FC236}">
                  <a16:creationId xmlns:a16="http://schemas.microsoft.com/office/drawing/2014/main" id="{386A7938-77B3-408A-942F-514C588014F5}"/>
                </a:ext>
              </a:extLst>
            </p:cNvPr>
            <p:cNvCxnSpPr/>
            <p:nvPr/>
          </p:nvCxnSpPr>
          <p:spPr bwMode="gray">
            <a:xfrm>
              <a:off x="1705643" y="3755631"/>
              <a:ext cx="649065" cy="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9" name="图片 102">
              <a:extLst>
                <a:ext uri="{FF2B5EF4-FFF2-40B4-BE49-F238E27FC236}">
                  <a16:creationId xmlns:a16="http://schemas.microsoft.com/office/drawing/2014/main" id="{CF0DDDFF-FE4B-428C-893C-EF5C8AF49E2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523519" y="3564026"/>
              <a:ext cx="466668" cy="385001"/>
            </a:xfrm>
            <a:prstGeom prst="rect">
              <a:avLst/>
            </a:prstGeom>
          </p:spPr>
        </p:pic>
        <p:sp>
          <p:nvSpPr>
            <p:cNvPr id="210" name="文本框 103">
              <a:extLst>
                <a:ext uri="{FF2B5EF4-FFF2-40B4-BE49-F238E27FC236}">
                  <a16:creationId xmlns:a16="http://schemas.microsoft.com/office/drawing/2014/main" id="{A1DA92DA-997E-4841-BE3F-424616BBB39E}"/>
                </a:ext>
              </a:extLst>
            </p:cNvPr>
            <p:cNvSpPr txBox="1"/>
            <p:nvPr/>
          </p:nvSpPr>
          <p:spPr bwMode="gray">
            <a:xfrm>
              <a:off x="2533573" y="3580057"/>
              <a:ext cx="676186"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pic>
          <p:nvPicPr>
            <p:cNvPr id="211" name="图片 105">
              <a:extLst>
                <a:ext uri="{FF2B5EF4-FFF2-40B4-BE49-F238E27FC236}">
                  <a16:creationId xmlns:a16="http://schemas.microsoft.com/office/drawing/2014/main" id="{0E46C592-6D2A-443B-850D-583A18021A5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154274" y="3563130"/>
              <a:ext cx="466668" cy="385001"/>
            </a:xfrm>
            <a:prstGeom prst="rect">
              <a:avLst/>
            </a:prstGeom>
          </p:spPr>
        </p:pic>
        <p:cxnSp>
          <p:nvCxnSpPr>
            <p:cNvPr id="212" name="直接连接符 106">
              <a:extLst>
                <a:ext uri="{FF2B5EF4-FFF2-40B4-BE49-F238E27FC236}">
                  <a16:creationId xmlns:a16="http://schemas.microsoft.com/office/drawing/2014/main" id="{A3AB3CAC-B43B-481C-BC31-F57D002EF052}"/>
                </a:ext>
              </a:extLst>
            </p:cNvPr>
            <p:cNvCxnSpPr>
              <a:cxnSpLocks/>
              <a:stCxn id="209" idx="2"/>
              <a:endCxn id="213" idx="0"/>
            </p:cNvCxnSpPr>
            <p:nvPr/>
          </p:nvCxnSpPr>
          <p:spPr bwMode="gray">
            <a:xfrm flipH="1">
              <a:off x="1507891" y="3951181"/>
              <a:ext cx="248962" cy="37017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3" name="Freeform 159">
              <a:extLst>
                <a:ext uri="{FF2B5EF4-FFF2-40B4-BE49-F238E27FC236}">
                  <a16:creationId xmlns:a16="http://schemas.microsoft.com/office/drawing/2014/main" id="{A3C4692E-02E5-4C40-8865-306E5ED96BFC}"/>
                </a:ext>
              </a:extLst>
            </p:cNvPr>
            <p:cNvSpPr/>
            <p:nvPr/>
          </p:nvSpPr>
          <p:spPr bwMode="gray">
            <a:xfrm flipH="1">
              <a:off x="1173756" y="4321354"/>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214" name="Freeform 159">
              <a:extLst>
                <a:ext uri="{FF2B5EF4-FFF2-40B4-BE49-F238E27FC236}">
                  <a16:creationId xmlns:a16="http://schemas.microsoft.com/office/drawing/2014/main" id="{E9467634-4DA2-41C3-9BA3-F76769686C13}"/>
                </a:ext>
              </a:extLst>
            </p:cNvPr>
            <p:cNvSpPr/>
            <p:nvPr/>
          </p:nvSpPr>
          <p:spPr bwMode="gray">
            <a:xfrm flipH="1">
              <a:off x="2238816" y="4308161"/>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grpSp>
      <p:grpSp>
        <p:nvGrpSpPr>
          <p:cNvPr id="215" name="Group 214">
            <a:extLst>
              <a:ext uri="{FF2B5EF4-FFF2-40B4-BE49-F238E27FC236}">
                <a16:creationId xmlns:a16="http://schemas.microsoft.com/office/drawing/2014/main" id="{63A31277-00E5-4654-AB81-519AA4738469}"/>
              </a:ext>
            </a:extLst>
          </p:cNvPr>
          <p:cNvGrpSpPr/>
          <p:nvPr/>
        </p:nvGrpSpPr>
        <p:grpSpPr bwMode="gray">
          <a:xfrm>
            <a:off x="3678977" y="3095511"/>
            <a:ext cx="3148116" cy="2990656"/>
            <a:chOff x="379108" y="3057424"/>
            <a:chExt cx="3148116" cy="2990656"/>
          </a:xfrm>
        </p:grpSpPr>
        <p:sp>
          <p:nvSpPr>
            <p:cNvPr id="216" name="文本框 37">
              <a:extLst>
                <a:ext uri="{FF2B5EF4-FFF2-40B4-BE49-F238E27FC236}">
                  <a16:creationId xmlns:a16="http://schemas.microsoft.com/office/drawing/2014/main" id="{87A88CE4-10E2-4523-BC23-37B8CB64DD62}"/>
                </a:ext>
              </a:extLst>
            </p:cNvPr>
            <p:cNvSpPr txBox="1"/>
            <p:nvPr/>
          </p:nvSpPr>
          <p:spPr bwMode="gray">
            <a:xfrm>
              <a:off x="521924" y="3084306"/>
              <a:ext cx="635110" cy="297454"/>
            </a:xfrm>
            <a:prstGeom prst="rect">
              <a:avLst/>
            </a:prstGeom>
            <a:noFill/>
          </p:spPr>
          <p:txBody>
            <a:bodyPr wrap="none" rtlCol="0">
              <a:spAutoFit/>
            </a:bodyPr>
            <a:lstStyle/>
            <a:p>
              <a:r>
                <a:rPr lang="zh-CN" altLang="en-US" sz="1333" b="1" dirty="0">
                  <a:latin typeface="Huawei Sans" panose="020C0503030203020204" pitchFamily="34" charset="0"/>
                  <a:ea typeface="方正兰亭黑简体" panose="02000000000000000000" pitchFamily="2" charset="-122"/>
                </a:rPr>
                <a:t>企业</a:t>
              </a:r>
              <a:r>
                <a:rPr lang="en-US" altLang="zh-CN" sz="1333" b="1" dirty="0">
                  <a:latin typeface="Huawei Sans" panose="020C0503030203020204" pitchFamily="34" charset="0"/>
                  <a:ea typeface="方正兰亭黑简体" panose="02000000000000000000" pitchFamily="2" charset="-122"/>
                </a:rPr>
                <a:t>B</a:t>
              </a:r>
              <a:endParaRPr lang="zh-CN" altLang="en-US" sz="1333" b="1" dirty="0">
                <a:latin typeface="Huawei Sans" panose="020C0503030203020204" pitchFamily="34" charset="0"/>
                <a:ea typeface="方正兰亭黑简体" panose="02000000000000000000" pitchFamily="2" charset="-122"/>
              </a:endParaRPr>
            </a:p>
          </p:txBody>
        </p:sp>
        <p:sp>
          <p:nvSpPr>
            <p:cNvPr id="217" name="Rectangle: Rounded Corners 216">
              <a:extLst>
                <a:ext uri="{FF2B5EF4-FFF2-40B4-BE49-F238E27FC236}">
                  <a16:creationId xmlns:a16="http://schemas.microsoft.com/office/drawing/2014/main" id="{BA9DAC47-2D91-4055-AB27-625C3C75613D}"/>
                </a:ext>
              </a:extLst>
            </p:cNvPr>
            <p:cNvSpPr/>
            <p:nvPr/>
          </p:nvSpPr>
          <p:spPr bwMode="gray">
            <a:xfrm>
              <a:off x="451783" y="3057424"/>
              <a:ext cx="3075441" cy="2990656"/>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Freeform 159">
              <a:extLst>
                <a:ext uri="{FF2B5EF4-FFF2-40B4-BE49-F238E27FC236}">
                  <a16:creationId xmlns:a16="http://schemas.microsoft.com/office/drawing/2014/main" id="{2C370DE2-939E-4B4F-898F-6676C3A9EAF5}"/>
                </a:ext>
              </a:extLst>
            </p:cNvPr>
            <p:cNvSpPr/>
            <p:nvPr/>
          </p:nvSpPr>
          <p:spPr bwMode="gray">
            <a:xfrm flipH="1">
              <a:off x="732582" y="5445703"/>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分支一</a:t>
              </a:r>
              <a:endParaRPr lang="en-US" sz="1400" dirty="0">
                <a:solidFill>
                  <a:schemeClr val="tx1"/>
                </a:solidFill>
              </a:endParaRPr>
            </a:p>
          </p:txBody>
        </p:sp>
        <p:sp>
          <p:nvSpPr>
            <p:cNvPr id="219" name="Freeform 159">
              <a:extLst>
                <a:ext uri="{FF2B5EF4-FFF2-40B4-BE49-F238E27FC236}">
                  <a16:creationId xmlns:a16="http://schemas.microsoft.com/office/drawing/2014/main" id="{7EEDBC26-DD9E-4E52-80BC-0CAD42D4C259}"/>
                </a:ext>
              </a:extLst>
            </p:cNvPr>
            <p:cNvSpPr/>
            <p:nvPr/>
          </p:nvSpPr>
          <p:spPr bwMode="gray">
            <a:xfrm flipH="1">
              <a:off x="2409743" y="5442551"/>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分支二</a:t>
              </a:r>
              <a:endParaRPr lang="en-US" sz="1400" dirty="0">
                <a:solidFill>
                  <a:schemeClr val="tx1"/>
                </a:solidFill>
              </a:endParaRPr>
            </a:p>
          </p:txBody>
        </p:sp>
        <p:sp>
          <p:nvSpPr>
            <p:cNvPr id="220" name="Freeform 159">
              <a:extLst>
                <a:ext uri="{FF2B5EF4-FFF2-40B4-BE49-F238E27FC236}">
                  <a16:creationId xmlns:a16="http://schemas.microsoft.com/office/drawing/2014/main" id="{15147D47-B31B-4DAA-8023-795E79E3B04B}"/>
                </a:ext>
              </a:extLst>
            </p:cNvPr>
            <p:cNvSpPr/>
            <p:nvPr/>
          </p:nvSpPr>
          <p:spPr bwMode="gray">
            <a:xfrm flipH="1">
              <a:off x="1599842" y="3177439"/>
              <a:ext cx="973061" cy="5086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HQ/DC</a:t>
              </a:r>
              <a:endParaRPr lang="en-US" sz="1400" dirty="0">
                <a:solidFill>
                  <a:schemeClr val="tx1"/>
                </a:solidFill>
              </a:endParaRPr>
            </a:p>
          </p:txBody>
        </p:sp>
        <p:cxnSp>
          <p:nvCxnSpPr>
            <p:cNvPr id="221" name="直接连接符 78">
              <a:extLst>
                <a:ext uri="{FF2B5EF4-FFF2-40B4-BE49-F238E27FC236}">
                  <a16:creationId xmlns:a16="http://schemas.microsoft.com/office/drawing/2014/main" id="{519C60B5-9BBC-4A2F-BEC5-A820B8030A37}"/>
                </a:ext>
              </a:extLst>
            </p:cNvPr>
            <p:cNvCxnSpPr/>
            <p:nvPr/>
          </p:nvCxnSpPr>
          <p:spPr bwMode="gray">
            <a:xfrm flipV="1">
              <a:off x="2656910" y="5350451"/>
              <a:ext cx="515130" cy="89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22" name="图片 87">
              <a:extLst>
                <a:ext uri="{FF2B5EF4-FFF2-40B4-BE49-F238E27FC236}">
                  <a16:creationId xmlns:a16="http://schemas.microsoft.com/office/drawing/2014/main" id="{E51C7AD3-2950-46FF-9033-20D226B9C35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92230" y="5158846"/>
              <a:ext cx="466668" cy="385001"/>
            </a:xfrm>
            <a:prstGeom prst="rect">
              <a:avLst/>
            </a:prstGeom>
          </p:spPr>
        </p:pic>
        <p:sp>
          <p:nvSpPr>
            <p:cNvPr id="223" name="文本框 88">
              <a:extLst>
                <a:ext uri="{FF2B5EF4-FFF2-40B4-BE49-F238E27FC236}">
                  <a16:creationId xmlns:a16="http://schemas.microsoft.com/office/drawing/2014/main" id="{E8693B35-E6B8-4E3B-A759-3C74840B858C}"/>
                </a:ext>
              </a:extLst>
            </p:cNvPr>
            <p:cNvSpPr txBox="1"/>
            <p:nvPr/>
          </p:nvSpPr>
          <p:spPr bwMode="gray">
            <a:xfrm>
              <a:off x="379108" y="5215459"/>
              <a:ext cx="676036"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cxnSp>
          <p:nvCxnSpPr>
            <p:cNvPr id="224" name="直接连接符 90">
              <a:extLst>
                <a:ext uri="{FF2B5EF4-FFF2-40B4-BE49-F238E27FC236}">
                  <a16:creationId xmlns:a16="http://schemas.microsoft.com/office/drawing/2014/main" id="{59151E58-1CAB-425F-B6EF-09B72193349A}"/>
                </a:ext>
              </a:extLst>
            </p:cNvPr>
            <p:cNvCxnSpPr>
              <a:cxnSpLocks/>
              <a:stCxn id="222" idx="0"/>
            </p:cNvCxnSpPr>
            <p:nvPr/>
          </p:nvCxnSpPr>
          <p:spPr bwMode="gray">
            <a:xfrm flipV="1">
              <a:off x="1225564" y="4669536"/>
              <a:ext cx="1431346" cy="48715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 name="直接连接符 91">
              <a:extLst>
                <a:ext uri="{FF2B5EF4-FFF2-40B4-BE49-F238E27FC236}">
                  <a16:creationId xmlns:a16="http://schemas.microsoft.com/office/drawing/2014/main" id="{7BBFA52E-0568-4865-9178-392E7EFD82A8}"/>
                </a:ext>
              </a:extLst>
            </p:cNvPr>
            <p:cNvCxnSpPr>
              <a:cxnSpLocks/>
              <a:stCxn id="235" idx="2"/>
              <a:endCxn id="238" idx="2"/>
            </p:cNvCxnSpPr>
            <p:nvPr/>
          </p:nvCxnSpPr>
          <p:spPr bwMode="gray">
            <a:xfrm>
              <a:off x="2387608" y="3950285"/>
              <a:ext cx="345781" cy="43398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直接连接符 92">
              <a:extLst>
                <a:ext uri="{FF2B5EF4-FFF2-40B4-BE49-F238E27FC236}">
                  <a16:creationId xmlns:a16="http://schemas.microsoft.com/office/drawing/2014/main" id="{31BEF697-D09D-4A82-8499-C18ECE776231}"/>
                </a:ext>
              </a:extLst>
            </p:cNvPr>
            <p:cNvCxnSpPr>
              <a:cxnSpLocks/>
              <a:stCxn id="222" idx="0"/>
            </p:cNvCxnSpPr>
            <p:nvPr/>
          </p:nvCxnSpPr>
          <p:spPr bwMode="gray">
            <a:xfrm flipV="1">
              <a:off x="1225564" y="4682729"/>
              <a:ext cx="334664"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27" name="图片 94">
              <a:extLst>
                <a:ext uri="{FF2B5EF4-FFF2-40B4-BE49-F238E27FC236}">
                  <a16:creationId xmlns:a16="http://schemas.microsoft.com/office/drawing/2014/main" id="{F4A063FA-5E2B-4F69-AADE-BCEF8EAFAAB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397533" y="5158846"/>
              <a:ext cx="466668" cy="385001"/>
            </a:xfrm>
            <a:prstGeom prst="rect">
              <a:avLst/>
            </a:prstGeom>
          </p:spPr>
        </p:pic>
        <p:sp>
          <p:nvSpPr>
            <p:cNvPr id="228" name="文本框 95">
              <a:extLst>
                <a:ext uri="{FF2B5EF4-FFF2-40B4-BE49-F238E27FC236}">
                  <a16:creationId xmlns:a16="http://schemas.microsoft.com/office/drawing/2014/main" id="{47DD1B56-FE70-4CEA-BC80-730CA1003A1B}"/>
                </a:ext>
              </a:extLst>
            </p:cNvPr>
            <p:cNvSpPr txBox="1"/>
            <p:nvPr/>
          </p:nvSpPr>
          <p:spPr bwMode="gray">
            <a:xfrm>
              <a:off x="1821420" y="5194651"/>
              <a:ext cx="648211"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pic>
          <p:nvPicPr>
            <p:cNvPr id="229" name="图片 97">
              <a:extLst>
                <a:ext uri="{FF2B5EF4-FFF2-40B4-BE49-F238E27FC236}">
                  <a16:creationId xmlns:a16="http://schemas.microsoft.com/office/drawing/2014/main" id="{B088AF57-A17D-471D-BE0E-7C831A58A89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979978" y="5157950"/>
              <a:ext cx="466668" cy="385001"/>
            </a:xfrm>
            <a:prstGeom prst="rect">
              <a:avLst/>
            </a:prstGeom>
          </p:spPr>
        </p:pic>
        <p:cxnSp>
          <p:nvCxnSpPr>
            <p:cNvPr id="230" name="直接连接符 98">
              <a:extLst>
                <a:ext uri="{FF2B5EF4-FFF2-40B4-BE49-F238E27FC236}">
                  <a16:creationId xmlns:a16="http://schemas.microsoft.com/office/drawing/2014/main" id="{2E9BAD6E-3397-4D97-94E1-9016CA4E8C3C}"/>
                </a:ext>
              </a:extLst>
            </p:cNvPr>
            <p:cNvCxnSpPr>
              <a:cxnSpLocks/>
              <a:stCxn id="227" idx="0"/>
            </p:cNvCxnSpPr>
            <p:nvPr/>
          </p:nvCxnSpPr>
          <p:spPr bwMode="gray">
            <a:xfrm flipH="1" flipV="1">
              <a:off x="1523678" y="4682729"/>
              <a:ext cx="1107189" cy="4739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1" name="直接连接符 99">
              <a:extLst>
                <a:ext uri="{FF2B5EF4-FFF2-40B4-BE49-F238E27FC236}">
                  <a16:creationId xmlns:a16="http://schemas.microsoft.com/office/drawing/2014/main" id="{C4723D94-6750-4070-9BED-078937948E37}"/>
                </a:ext>
              </a:extLst>
            </p:cNvPr>
            <p:cNvCxnSpPr>
              <a:cxnSpLocks/>
              <a:stCxn id="229" idx="0"/>
            </p:cNvCxnSpPr>
            <p:nvPr/>
          </p:nvCxnSpPr>
          <p:spPr bwMode="gray">
            <a:xfrm flipH="1" flipV="1">
              <a:off x="2656910" y="4669536"/>
              <a:ext cx="556402" cy="48626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2" name="直接连接符 100">
              <a:extLst>
                <a:ext uri="{FF2B5EF4-FFF2-40B4-BE49-F238E27FC236}">
                  <a16:creationId xmlns:a16="http://schemas.microsoft.com/office/drawing/2014/main" id="{C07C8F6E-B817-458F-9908-EF7A9777D63F}"/>
                </a:ext>
              </a:extLst>
            </p:cNvPr>
            <p:cNvCxnSpPr/>
            <p:nvPr/>
          </p:nvCxnSpPr>
          <p:spPr bwMode="gray">
            <a:xfrm>
              <a:off x="1756853" y="3755631"/>
              <a:ext cx="481963" cy="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33" name="图片 102">
              <a:extLst>
                <a:ext uri="{FF2B5EF4-FFF2-40B4-BE49-F238E27FC236}">
                  <a16:creationId xmlns:a16="http://schemas.microsoft.com/office/drawing/2014/main" id="{585468BE-094F-4410-9AF9-81A4266B85D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523519" y="3564026"/>
              <a:ext cx="466668" cy="385001"/>
            </a:xfrm>
            <a:prstGeom prst="rect">
              <a:avLst/>
            </a:prstGeom>
          </p:spPr>
        </p:pic>
        <p:sp>
          <p:nvSpPr>
            <p:cNvPr id="234" name="文本框 103">
              <a:extLst>
                <a:ext uri="{FF2B5EF4-FFF2-40B4-BE49-F238E27FC236}">
                  <a16:creationId xmlns:a16="http://schemas.microsoft.com/office/drawing/2014/main" id="{5578A6CE-3B9E-4964-B2A2-AC5C0E0034B3}"/>
                </a:ext>
              </a:extLst>
            </p:cNvPr>
            <p:cNvSpPr txBox="1"/>
            <p:nvPr/>
          </p:nvSpPr>
          <p:spPr bwMode="gray">
            <a:xfrm>
              <a:off x="2532035" y="3580057"/>
              <a:ext cx="672853"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pic>
          <p:nvPicPr>
            <p:cNvPr id="235" name="图片 105">
              <a:extLst>
                <a:ext uri="{FF2B5EF4-FFF2-40B4-BE49-F238E27FC236}">
                  <a16:creationId xmlns:a16="http://schemas.microsoft.com/office/drawing/2014/main" id="{91DC2589-D2B9-4455-98FE-351AF6DB6D2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154274" y="3563130"/>
              <a:ext cx="466668" cy="385001"/>
            </a:xfrm>
            <a:prstGeom prst="rect">
              <a:avLst/>
            </a:prstGeom>
          </p:spPr>
        </p:pic>
        <p:cxnSp>
          <p:nvCxnSpPr>
            <p:cNvPr id="236" name="直接连接符 106">
              <a:extLst>
                <a:ext uri="{FF2B5EF4-FFF2-40B4-BE49-F238E27FC236}">
                  <a16:creationId xmlns:a16="http://schemas.microsoft.com/office/drawing/2014/main" id="{F829822F-EE70-40EA-99B9-CCE55ACA7B79}"/>
                </a:ext>
              </a:extLst>
            </p:cNvPr>
            <p:cNvCxnSpPr>
              <a:cxnSpLocks/>
              <a:stCxn id="233" idx="2"/>
              <a:endCxn id="237" idx="0"/>
            </p:cNvCxnSpPr>
            <p:nvPr/>
          </p:nvCxnSpPr>
          <p:spPr bwMode="gray">
            <a:xfrm flipH="1">
              <a:off x="1507891" y="3951181"/>
              <a:ext cx="248962" cy="37017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7" name="Freeform 159">
              <a:extLst>
                <a:ext uri="{FF2B5EF4-FFF2-40B4-BE49-F238E27FC236}">
                  <a16:creationId xmlns:a16="http://schemas.microsoft.com/office/drawing/2014/main" id="{4CFF095B-8456-4DE5-92D8-2FCC86DF20E9}"/>
                </a:ext>
              </a:extLst>
            </p:cNvPr>
            <p:cNvSpPr/>
            <p:nvPr/>
          </p:nvSpPr>
          <p:spPr bwMode="gray">
            <a:xfrm flipH="1">
              <a:off x="1173756" y="4321354"/>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238" name="Freeform 159">
              <a:extLst>
                <a:ext uri="{FF2B5EF4-FFF2-40B4-BE49-F238E27FC236}">
                  <a16:creationId xmlns:a16="http://schemas.microsoft.com/office/drawing/2014/main" id="{000F11CE-02D0-4BAE-99BD-507C3F59EA13}"/>
                </a:ext>
              </a:extLst>
            </p:cNvPr>
            <p:cNvSpPr/>
            <p:nvPr/>
          </p:nvSpPr>
          <p:spPr bwMode="gray">
            <a:xfrm flipH="1">
              <a:off x="2238816" y="4308161"/>
              <a:ext cx="852173" cy="4454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grpSp>
      <p:grpSp>
        <p:nvGrpSpPr>
          <p:cNvPr id="10" name="Group 9">
            <a:extLst>
              <a:ext uri="{FF2B5EF4-FFF2-40B4-BE49-F238E27FC236}">
                <a16:creationId xmlns:a16="http://schemas.microsoft.com/office/drawing/2014/main" id="{34FA1989-41E2-40BA-9A1C-3BFA738A1245}"/>
              </a:ext>
            </a:extLst>
          </p:cNvPr>
          <p:cNvGrpSpPr/>
          <p:nvPr/>
        </p:nvGrpSpPr>
        <p:grpSpPr bwMode="gray">
          <a:xfrm>
            <a:off x="1705643" y="1102410"/>
            <a:ext cx="4613759" cy="1499376"/>
            <a:chOff x="1705643" y="1071237"/>
            <a:chExt cx="4613759" cy="1499376"/>
          </a:xfrm>
        </p:grpSpPr>
        <p:sp>
          <p:nvSpPr>
            <p:cNvPr id="87" name="文本框 28">
              <a:extLst>
                <a:ext uri="{FF2B5EF4-FFF2-40B4-BE49-F238E27FC236}">
                  <a16:creationId xmlns:a16="http://schemas.microsoft.com/office/drawing/2014/main" id="{9692565A-F5F6-475A-AD6C-B93EE8F89254}"/>
                </a:ext>
              </a:extLst>
            </p:cNvPr>
            <p:cNvSpPr txBox="1"/>
            <p:nvPr/>
          </p:nvSpPr>
          <p:spPr bwMode="gray">
            <a:xfrm>
              <a:off x="5139464" y="1598433"/>
              <a:ext cx="1135079" cy="502573"/>
            </a:xfrm>
            <a:prstGeom prst="rect">
              <a:avLst/>
            </a:prstGeom>
            <a:noFill/>
          </p:spPr>
          <p:txBody>
            <a:bodyPr wrap="square" rtlCol="0">
              <a:spAutoFit/>
            </a:bodyPr>
            <a:lstStyle/>
            <a:p>
              <a:pPr algn="ctr"/>
              <a:r>
                <a:rPr lang="zh-CN" altLang="en-US" sz="1333" b="1" dirty="0">
                  <a:solidFill>
                    <a:srgbClr val="000000"/>
                  </a:solidFill>
                  <a:latin typeface="Huawei Sans" panose="020C0503030203020204" pitchFamily="34" charset="0"/>
                  <a:ea typeface="方正兰亭黑简体" panose="02000000000000000000" pitchFamily="2" charset="-122"/>
                </a:rPr>
                <a:t>运营商</a:t>
              </a:r>
              <a:r>
                <a:rPr lang="en-US" altLang="zh-CN" sz="1333" b="1" dirty="0">
                  <a:solidFill>
                    <a:srgbClr val="000000"/>
                  </a:solidFill>
                  <a:latin typeface="Huawei Sans" panose="020C0503030203020204" pitchFamily="34" charset="0"/>
                  <a:ea typeface="方正兰亭黑简体" panose="02000000000000000000" pitchFamily="2" charset="-122"/>
                </a:rPr>
                <a:t>/MSP DC</a:t>
              </a:r>
              <a:endParaRPr lang="zh-CN" altLang="en-US" sz="1333" b="1" dirty="0">
                <a:solidFill>
                  <a:srgbClr val="000000"/>
                </a:solidFill>
                <a:latin typeface="Huawei Sans" panose="020C0503030203020204" pitchFamily="34" charset="0"/>
                <a:ea typeface="方正兰亭黑简体" panose="02000000000000000000" pitchFamily="2" charset="-122"/>
              </a:endParaRPr>
            </a:p>
          </p:txBody>
        </p:sp>
        <p:pic>
          <p:nvPicPr>
            <p:cNvPr id="88" name="图片 29">
              <a:extLst>
                <a:ext uri="{FF2B5EF4-FFF2-40B4-BE49-F238E27FC236}">
                  <a16:creationId xmlns:a16="http://schemas.microsoft.com/office/drawing/2014/main" id="{A7039899-45CD-48E3-BD22-5FDB856F673B}"/>
                </a:ext>
              </a:extLst>
            </p:cNvPr>
            <p:cNvPicPr>
              <a:picLocks noChangeAspect="1"/>
            </p:cNvPicPr>
            <p:nvPr/>
          </p:nvPicPr>
          <p:blipFill>
            <a:blip r:embed="rId4"/>
            <a:stretch>
              <a:fillRect/>
            </a:stretch>
          </p:blipFill>
          <p:spPr bwMode="gray">
            <a:xfrm>
              <a:off x="2435943" y="2020262"/>
              <a:ext cx="480649" cy="382616"/>
            </a:xfrm>
            <a:prstGeom prst="rect">
              <a:avLst/>
            </a:prstGeom>
          </p:spPr>
        </p:pic>
        <p:pic>
          <p:nvPicPr>
            <p:cNvPr id="89" name="图片 30">
              <a:extLst>
                <a:ext uri="{FF2B5EF4-FFF2-40B4-BE49-F238E27FC236}">
                  <a16:creationId xmlns:a16="http://schemas.microsoft.com/office/drawing/2014/main" id="{260ED302-99F8-4426-9EAC-500F84EA2472}"/>
                </a:ext>
              </a:extLst>
            </p:cNvPr>
            <p:cNvPicPr>
              <a:picLocks noChangeAspect="1"/>
            </p:cNvPicPr>
            <p:nvPr/>
          </p:nvPicPr>
          <p:blipFill>
            <a:blip r:embed="rId4"/>
            <a:stretch>
              <a:fillRect/>
            </a:stretch>
          </p:blipFill>
          <p:spPr bwMode="gray">
            <a:xfrm>
              <a:off x="2946534" y="2020262"/>
              <a:ext cx="480649" cy="382616"/>
            </a:xfrm>
            <a:prstGeom prst="rect">
              <a:avLst/>
            </a:prstGeom>
          </p:spPr>
        </p:pic>
        <p:sp>
          <p:nvSpPr>
            <p:cNvPr id="134" name="文本框 70">
              <a:extLst>
                <a:ext uri="{FF2B5EF4-FFF2-40B4-BE49-F238E27FC236}">
                  <a16:creationId xmlns:a16="http://schemas.microsoft.com/office/drawing/2014/main" id="{1DFCCB27-839B-402D-AC76-1A22CC3439EE}"/>
                </a:ext>
              </a:extLst>
            </p:cNvPr>
            <p:cNvSpPr txBox="1"/>
            <p:nvPr/>
          </p:nvSpPr>
          <p:spPr bwMode="gray">
            <a:xfrm>
              <a:off x="2389656" y="1213973"/>
              <a:ext cx="1083813" cy="297454"/>
            </a:xfrm>
            <a:prstGeom prst="rect">
              <a:avLst/>
            </a:prstGeom>
            <a:noFill/>
          </p:spPr>
          <p:txBody>
            <a:bodyPr wrap="square" rtlCol="0">
              <a:spAutoFit/>
            </a:bodyPr>
            <a:lstStyle/>
            <a:p>
              <a:pPr algn="ctr"/>
              <a:r>
                <a:rPr lang="en-US" altLang="zh-CN" sz="1333" dirty="0">
                  <a:solidFill>
                    <a:srgbClr val="000000"/>
                  </a:solidFill>
                  <a:latin typeface="Huawei Sans" panose="020C0503030203020204" pitchFamily="34" charset="0"/>
                  <a:ea typeface="方正兰亭黑简体" panose="02000000000000000000" pitchFamily="2" charset="-122"/>
                </a:rPr>
                <a:t>RR</a:t>
              </a:r>
              <a:r>
                <a:rPr lang="zh-CN" altLang="en-US" sz="1333" dirty="0">
                  <a:solidFill>
                    <a:srgbClr val="000000"/>
                  </a:solidFill>
                  <a:latin typeface="Huawei Sans" panose="020C0503030203020204" pitchFamily="34" charset="0"/>
                  <a:ea typeface="方正兰亭黑简体" panose="02000000000000000000" pitchFamily="2" charset="-122"/>
                </a:rPr>
                <a:t>接入区</a:t>
              </a:r>
              <a:r>
                <a:rPr lang="en-US" altLang="zh-CN" sz="1333" dirty="0">
                  <a:solidFill>
                    <a:srgbClr val="000000"/>
                  </a:solidFill>
                  <a:latin typeface="Huawei Sans" panose="020C0503030203020204" pitchFamily="34" charset="0"/>
                  <a:ea typeface="方正兰亭黑简体" panose="02000000000000000000" pitchFamily="2" charset="-122"/>
                </a:rPr>
                <a:t>1</a:t>
              </a:r>
              <a:endParaRPr lang="zh-CN" altLang="en-US" sz="1333" dirty="0">
                <a:solidFill>
                  <a:srgbClr val="000000"/>
                </a:solidFill>
                <a:latin typeface="Huawei Sans" panose="020C0503030203020204" pitchFamily="34" charset="0"/>
                <a:ea typeface="方正兰亭黑简体" panose="02000000000000000000" pitchFamily="2" charset="-122"/>
              </a:endParaRPr>
            </a:p>
          </p:txBody>
        </p:sp>
        <p:pic>
          <p:nvPicPr>
            <p:cNvPr id="135" name="图片 71">
              <a:extLst>
                <a:ext uri="{FF2B5EF4-FFF2-40B4-BE49-F238E27FC236}">
                  <a16:creationId xmlns:a16="http://schemas.microsoft.com/office/drawing/2014/main" id="{C3B41FD1-4768-4E8C-9246-2BAACE2C4674}"/>
                </a:ext>
              </a:extLst>
            </p:cNvPr>
            <p:cNvPicPr>
              <a:picLocks noChangeAspect="1"/>
            </p:cNvPicPr>
            <p:nvPr/>
          </p:nvPicPr>
          <p:blipFill>
            <a:blip r:embed="rId4"/>
            <a:stretch>
              <a:fillRect/>
            </a:stretch>
          </p:blipFill>
          <p:spPr bwMode="gray">
            <a:xfrm>
              <a:off x="2438487" y="1549458"/>
              <a:ext cx="480649" cy="382616"/>
            </a:xfrm>
            <a:prstGeom prst="rect">
              <a:avLst/>
            </a:prstGeom>
          </p:spPr>
        </p:pic>
        <p:pic>
          <p:nvPicPr>
            <p:cNvPr id="136" name="图片 72">
              <a:extLst>
                <a:ext uri="{FF2B5EF4-FFF2-40B4-BE49-F238E27FC236}">
                  <a16:creationId xmlns:a16="http://schemas.microsoft.com/office/drawing/2014/main" id="{E286E881-AF39-4A75-8DB6-CB511495E46D}"/>
                </a:ext>
              </a:extLst>
            </p:cNvPr>
            <p:cNvPicPr>
              <a:picLocks noChangeAspect="1"/>
            </p:cNvPicPr>
            <p:nvPr/>
          </p:nvPicPr>
          <p:blipFill>
            <a:blip r:embed="rId4"/>
            <a:stretch>
              <a:fillRect/>
            </a:stretch>
          </p:blipFill>
          <p:spPr bwMode="gray">
            <a:xfrm>
              <a:off x="2949078" y="1549458"/>
              <a:ext cx="480649" cy="382616"/>
            </a:xfrm>
            <a:prstGeom prst="rect">
              <a:avLst/>
            </a:prstGeom>
          </p:spPr>
        </p:pic>
        <p:pic>
          <p:nvPicPr>
            <p:cNvPr id="138" name="图片 74">
              <a:extLst>
                <a:ext uri="{FF2B5EF4-FFF2-40B4-BE49-F238E27FC236}">
                  <a16:creationId xmlns:a16="http://schemas.microsoft.com/office/drawing/2014/main" id="{DBC9876F-B988-464D-904E-5BF7110A078D}"/>
                </a:ext>
              </a:extLst>
            </p:cNvPr>
            <p:cNvPicPr>
              <a:picLocks noChangeAspect="1"/>
            </p:cNvPicPr>
            <p:nvPr/>
          </p:nvPicPr>
          <p:blipFill>
            <a:blip r:embed="rId4"/>
            <a:stretch>
              <a:fillRect/>
            </a:stretch>
          </p:blipFill>
          <p:spPr bwMode="gray">
            <a:xfrm>
              <a:off x="3887533" y="2020262"/>
              <a:ext cx="480649" cy="382616"/>
            </a:xfrm>
            <a:prstGeom prst="rect">
              <a:avLst/>
            </a:prstGeom>
          </p:spPr>
        </p:pic>
        <p:pic>
          <p:nvPicPr>
            <p:cNvPr id="139" name="图片 75">
              <a:extLst>
                <a:ext uri="{FF2B5EF4-FFF2-40B4-BE49-F238E27FC236}">
                  <a16:creationId xmlns:a16="http://schemas.microsoft.com/office/drawing/2014/main" id="{8EE2493C-6892-48BC-B4B3-9C7A08E6739E}"/>
                </a:ext>
              </a:extLst>
            </p:cNvPr>
            <p:cNvPicPr>
              <a:picLocks noChangeAspect="1"/>
            </p:cNvPicPr>
            <p:nvPr/>
          </p:nvPicPr>
          <p:blipFill>
            <a:blip r:embed="rId4"/>
            <a:stretch>
              <a:fillRect/>
            </a:stretch>
          </p:blipFill>
          <p:spPr bwMode="gray">
            <a:xfrm>
              <a:off x="4398123" y="2020262"/>
              <a:ext cx="480649" cy="382616"/>
            </a:xfrm>
            <a:prstGeom prst="rect">
              <a:avLst/>
            </a:prstGeom>
          </p:spPr>
        </p:pic>
        <p:sp>
          <p:nvSpPr>
            <p:cNvPr id="140" name="文本框 76">
              <a:extLst>
                <a:ext uri="{FF2B5EF4-FFF2-40B4-BE49-F238E27FC236}">
                  <a16:creationId xmlns:a16="http://schemas.microsoft.com/office/drawing/2014/main" id="{F3B42E56-9EF1-448F-A9A4-6B68215F9981}"/>
                </a:ext>
              </a:extLst>
            </p:cNvPr>
            <p:cNvSpPr txBox="1"/>
            <p:nvPr/>
          </p:nvSpPr>
          <p:spPr bwMode="gray">
            <a:xfrm>
              <a:off x="3851121" y="1213971"/>
              <a:ext cx="1100525" cy="297454"/>
            </a:xfrm>
            <a:prstGeom prst="rect">
              <a:avLst/>
            </a:prstGeom>
            <a:noFill/>
          </p:spPr>
          <p:txBody>
            <a:bodyPr wrap="square" rtlCol="0">
              <a:spAutoFit/>
            </a:bodyPr>
            <a:lstStyle/>
            <a:p>
              <a:pPr algn="ctr"/>
              <a:r>
                <a:rPr lang="en-US" altLang="zh-CN" sz="1333" dirty="0">
                  <a:solidFill>
                    <a:srgbClr val="000000"/>
                  </a:solidFill>
                  <a:latin typeface="Huawei Sans" panose="020C0503030203020204" pitchFamily="34" charset="0"/>
                  <a:ea typeface="方正兰亭黑简体" panose="02000000000000000000" pitchFamily="2" charset="-122"/>
                </a:rPr>
                <a:t>RR</a:t>
              </a:r>
              <a:r>
                <a:rPr lang="zh-CN" altLang="en-US" sz="1333" dirty="0">
                  <a:solidFill>
                    <a:srgbClr val="000000"/>
                  </a:solidFill>
                  <a:latin typeface="Huawei Sans" panose="020C0503030203020204" pitchFamily="34" charset="0"/>
                  <a:ea typeface="方正兰亭黑简体" panose="02000000000000000000" pitchFamily="2" charset="-122"/>
                </a:rPr>
                <a:t>接入区</a:t>
              </a:r>
              <a:r>
                <a:rPr lang="en-US" altLang="zh-CN" sz="1333" dirty="0">
                  <a:solidFill>
                    <a:srgbClr val="000000"/>
                  </a:solidFill>
                  <a:latin typeface="Huawei Sans" panose="020C0503030203020204" pitchFamily="34" charset="0"/>
                  <a:ea typeface="方正兰亭黑简体" panose="02000000000000000000" pitchFamily="2" charset="-122"/>
                </a:rPr>
                <a:t>2</a:t>
              </a:r>
              <a:endParaRPr lang="zh-CN" altLang="en-US" sz="1333" dirty="0">
                <a:solidFill>
                  <a:srgbClr val="000000"/>
                </a:solidFill>
                <a:latin typeface="Huawei Sans" panose="020C0503030203020204" pitchFamily="34" charset="0"/>
                <a:ea typeface="方正兰亭黑简体" panose="02000000000000000000" pitchFamily="2" charset="-122"/>
              </a:endParaRPr>
            </a:p>
          </p:txBody>
        </p:sp>
        <p:pic>
          <p:nvPicPr>
            <p:cNvPr id="141" name="图片 77">
              <a:extLst>
                <a:ext uri="{FF2B5EF4-FFF2-40B4-BE49-F238E27FC236}">
                  <a16:creationId xmlns:a16="http://schemas.microsoft.com/office/drawing/2014/main" id="{B1C6657D-10C1-429D-A3E1-79D9FEC2E2F6}"/>
                </a:ext>
              </a:extLst>
            </p:cNvPr>
            <p:cNvPicPr>
              <a:picLocks noChangeAspect="1"/>
            </p:cNvPicPr>
            <p:nvPr/>
          </p:nvPicPr>
          <p:blipFill>
            <a:blip r:embed="rId4"/>
            <a:stretch>
              <a:fillRect/>
            </a:stretch>
          </p:blipFill>
          <p:spPr bwMode="gray">
            <a:xfrm>
              <a:off x="3890077" y="1549458"/>
              <a:ext cx="480649" cy="382616"/>
            </a:xfrm>
            <a:prstGeom prst="rect">
              <a:avLst/>
            </a:prstGeom>
          </p:spPr>
        </p:pic>
        <p:pic>
          <p:nvPicPr>
            <p:cNvPr id="142" name="图片 78">
              <a:extLst>
                <a:ext uri="{FF2B5EF4-FFF2-40B4-BE49-F238E27FC236}">
                  <a16:creationId xmlns:a16="http://schemas.microsoft.com/office/drawing/2014/main" id="{18F7CECF-4861-4385-91E8-8B21BDC5F905}"/>
                </a:ext>
              </a:extLst>
            </p:cNvPr>
            <p:cNvPicPr>
              <a:picLocks noChangeAspect="1"/>
            </p:cNvPicPr>
            <p:nvPr/>
          </p:nvPicPr>
          <p:blipFill>
            <a:blip r:embed="rId4"/>
            <a:stretch>
              <a:fillRect/>
            </a:stretch>
          </p:blipFill>
          <p:spPr bwMode="gray">
            <a:xfrm>
              <a:off x="4400667" y="1549458"/>
              <a:ext cx="480649" cy="382616"/>
            </a:xfrm>
            <a:prstGeom prst="rect">
              <a:avLst/>
            </a:prstGeom>
          </p:spPr>
        </p:pic>
        <p:sp>
          <p:nvSpPr>
            <p:cNvPr id="263" name="Rectangle: Rounded Corners 262">
              <a:extLst>
                <a:ext uri="{FF2B5EF4-FFF2-40B4-BE49-F238E27FC236}">
                  <a16:creationId xmlns:a16="http://schemas.microsoft.com/office/drawing/2014/main" id="{9F10CFF0-509F-4FFE-91BE-BE1DC7AFD6FA}"/>
                </a:ext>
              </a:extLst>
            </p:cNvPr>
            <p:cNvSpPr/>
            <p:nvPr/>
          </p:nvSpPr>
          <p:spPr bwMode="gray">
            <a:xfrm>
              <a:off x="1705643" y="1071237"/>
              <a:ext cx="4613759" cy="1499376"/>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4" name="Rectangle: Rounded Corners 263">
              <a:extLst>
                <a:ext uri="{FF2B5EF4-FFF2-40B4-BE49-F238E27FC236}">
                  <a16:creationId xmlns:a16="http://schemas.microsoft.com/office/drawing/2014/main" id="{690D8686-9A1E-48AC-9AEE-0B3ACDF34773}"/>
                </a:ext>
              </a:extLst>
            </p:cNvPr>
            <p:cNvSpPr/>
            <p:nvPr/>
          </p:nvSpPr>
          <p:spPr bwMode="gray">
            <a:xfrm>
              <a:off x="2354708" y="1221559"/>
              <a:ext cx="1135079" cy="1236629"/>
            </a:xfrm>
            <a:prstGeom prst="roundRect">
              <a:avLst>
                <a:gd name="adj" fmla="val 4012"/>
              </a:avLst>
            </a:prstGeom>
            <a:no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5" name="Rectangle: Rounded Corners 264">
              <a:extLst>
                <a:ext uri="{FF2B5EF4-FFF2-40B4-BE49-F238E27FC236}">
                  <a16:creationId xmlns:a16="http://schemas.microsoft.com/office/drawing/2014/main" id="{EB638B56-A2F5-4C00-8743-FAC38290CBFE}"/>
                </a:ext>
              </a:extLst>
            </p:cNvPr>
            <p:cNvSpPr/>
            <p:nvPr/>
          </p:nvSpPr>
          <p:spPr bwMode="gray">
            <a:xfrm>
              <a:off x="3797639" y="1225439"/>
              <a:ext cx="1135079" cy="1236629"/>
            </a:xfrm>
            <a:prstGeom prst="roundRect">
              <a:avLst>
                <a:gd name="adj" fmla="val 4012"/>
              </a:avLst>
            </a:prstGeom>
            <a:no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266" name="直接连接符 91">
            <a:extLst>
              <a:ext uri="{FF2B5EF4-FFF2-40B4-BE49-F238E27FC236}">
                <a16:creationId xmlns:a16="http://schemas.microsoft.com/office/drawing/2014/main" id="{33A4D1C7-2C5A-485D-A6B5-612C1B82F1DD}"/>
              </a:ext>
            </a:extLst>
          </p:cNvPr>
          <p:cNvCxnSpPr>
            <a:cxnSpLocks/>
            <a:stCxn id="264" idx="2"/>
            <a:endCxn id="145" idx="0"/>
          </p:cNvCxnSpPr>
          <p:nvPr/>
        </p:nvCxnSpPr>
        <p:spPr bwMode="gray">
          <a:xfrm flipH="1">
            <a:off x="2078712" y="2489361"/>
            <a:ext cx="843536" cy="606150"/>
          </a:xfrm>
          <a:prstGeom prst="line">
            <a:avLst/>
          </a:prstGeom>
          <a:noFill/>
          <a:ln w="19050" cap="flat" cmpd="sng" algn="ctr">
            <a:solidFill>
              <a:schemeClr val="bg1">
                <a:lumMod val="50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7" name="直接连接符 91">
            <a:extLst>
              <a:ext uri="{FF2B5EF4-FFF2-40B4-BE49-F238E27FC236}">
                <a16:creationId xmlns:a16="http://schemas.microsoft.com/office/drawing/2014/main" id="{26CAA9E3-76EB-4E5B-BD8A-07FFBFA9AF3D}"/>
              </a:ext>
            </a:extLst>
          </p:cNvPr>
          <p:cNvCxnSpPr>
            <a:cxnSpLocks/>
            <a:stCxn id="265" idx="2"/>
            <a:endCxn id="217" idx="0"/>
          </p:cNvCxnSpPr>
          <p:nvPr/>
        </p:nvCxnSpPr>
        <p:spPr bwMode="gray">
          <a:xfrm>
            <a:off x="4365179" y="2493241"/>
            <a:ext cx="924194" cy="602270"/>
          </a:xfrm>
          <a:prstGeom prst="line">
            <a:avLst/>
          </a:prstGeom>
          <a:noFill/>
          <a:ln w="19050" cap="flat" cmpd="sng" algn="ctr">
            <a:solidFill>
              <a:schemeClr val="bg1">
                <a:lumMod val="50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75"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300336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392E4-3F1E-4115-BAE4-4E648BE04E9E}"/>
              </a:ext>
            </a:extLst>
          </p:cNvPr>
          <p:cNvSpPr>
            <a:spLocks noGrp="1"/>
          </p:cNvSpPr>
          <p:nvPr>
            <p:ph type="title"/>
          </p:nvPr>
        </p:nvSpPr>
        <p:spPr bwMode="gray"/>
        <p:txBody>
          <a:bodyPr/>
          <a:lstStyle/>
          <a:p>
            <a:r>
              <a:rPr lang="en-US" dirty="0"/>
              <a:t>NAT</a:t>
            </a:r>
            <a:r>
              <a:rPr lang="zh-CN" altLang="en-US" dirty="0"/>
              <a:t>穿越介绍</a:t>
            </a:r>
            <a:endParaRPr lang="en-US" dirty="0"/>
          </a:p>
        </p:txBody>
      </p:sp>
      <p:sp>
        <p:nvSpPr>
          <p:cNvPr id="3" name="Text Placeholder 2">
            <a:extLst>
              <a:ext uri="{FF2B5EF4-FFF2-40B4-BE49-F238E27FC236}">
                <a16:creationId xmlns:a16="http://schemas.microsoft.com/office/drawing/2014/main" id="{CDFCE491-314A-4A6F-8EB6-38CA25EE4181}"/>
              </a:ext>
            </a:extLst>
          </p:cNvPr>
          <p:cNvSpPr>
            <a:spLocks noGrp="1"/>
          </p:cNvSpPr>
          <p:nvPr>
            <p:ph type="body" sz="quarter" idx="10"/>
          </p:nvPr>
        </p:nvSpPr>
        <p:spPr bwMode="gray"/>
        <p:txBody>
          <a:bodyPr/>
          <a:lstStyle/>
          <a:p>
            <a:r>
              <a:rPr lang="zh-CN" altLang="en-US" sz="1800" dirty="0"/>
              <a:t>现网中存在部分企业分支使用家庭宽带连接网络或使用省内</a:t>
            </a:r>
            <a:r>
              <a:rPr lang="en-US" altLang="zh-CN" sz="1800" dirty="0"/>
              <a:t>IP</a:t>
            </a:r>
            <a:r>
              <a:rPr lang="zh-CN" altLang="en-US" sz="1800" dirty="0"/>
              <a:t>上网的情况。</a:t>
            </a:r>
            <a:endParaRPr lang="en-US" altLang="zh-CN" sz="1800" dirty="0"/>
          </a:p>
          <a:p>
            <a:pPr lvl="1"/>
            <a:r>
              <a:rPr lang="zh-CN" altLang="en-US" sz="1600" dirty="0"/>
              <a:t>当企业分支使用家庭宽带或省内</a:t>
            </a:r>
            <a:r>
              <a:rPr lang="en-US" altLang="zh-CN" sz="1600" dirty="0"/>
              <a:t>IP</a:t>
            </a:r>
            <a:r>
              <a:rPr lang="zh-CN" altLang="en-US" sz="1600" dirty="0"/>
              <a:t>上网时，流量需要流经</a:t>
            </a:r>
            <a:r>
              <a:rPr lang="en-US" altLang="zh-CN" sz="1600" dirty="0"/>
              <a:t>NAT</a:t>
            </a:r>
            <a:r>
              <a:rPr lang="zh-CN" altLang="en-US" sz="1600" dirty="0"/>
              <a:t>设备，因此该类企业分支无法直接互联。</a:t>
            </a:r>
            <a:endParaRPr lang="en-US" altLang="zh-CN" sz="1600" dirty="0"/>
          </a:p>
          <a:p>
            <a:r>
              <a:rPr lang="zh-CN" altLang="en-US" sz="1800" dirty="0"/>
              <a:t>在</a:t>
            </a:r>
            <a:r>
              <a:rPr lang="en-US" altLang="zh-CN" sz="1800" dirty="0"/>
              <a:t>SD-WAN</a:t>
            </a:r>
            <a:r>
              <a:rPr lang="zh-CN" altLang="en-US" sz="1800" dirty="0"/>
              <a:t>场景下，该类企业分支在互联时需要使用</a:t>
            </a:r>
            <a:r>
              <a:rPr lang="en-US" altLang="zh-CN" sz="1800" dirty="0"/>
              <a:t>NAT</a:t>
            </a:r>
            <a:r>
              <a:rPr lang="zh-CN" altLang="en-US" sz="1800" dirty="0"/>
              <a:t>穿越技术。</a:t>
            </a:r>
            <a:endParaRPr lang="en-US" altLang="zh-CN" sz="1800" dirty="0"/>
          </a:p>
        </p:txBody>
      </p:sp>
      <p:sp>
        <p:nvSpPr>
          <p:cNvPr id="10" name="圆角矩形 75">
            <a:extLst>
              <a:ext uri="{FF2B5EF4-FFF2-40B4-BE49-F238E27FC236}">
                <a16:creationId xmlns:a16="http://schemas.microsoft.com/office/drawing/2014/main" id="{424843EE-5C74-4630-B725-59D954AB9DFA}"/>
              </a:ext>
            </a:extLst>
          </p:cNvPr>
          <p:cNvSpPr/>
          <p:nvPr/>
        </p:nvSpPr>
        <p:spPr bwMode="gray">
          <a:xfrm>
            <a:off x="875994" y="2961598"/>
            <a:ext cx="10450534" cy="313404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p:txBody>
      </p:sp>
      <p:cxnSp>
        <p:nvCxnSpPr>
          <p:cNvPr id="11" name="直接连接符 12">
            <a:extLst>
              <a:ext uri="{FF2B5EF4-FFF2-40B4-BE49-F238E27FC236}">
                <a16:creationId xmlns:a16="http://schemas.microsoft.com/office/drawing/2014/main" id="{B37A1FB0-B74B-4FD8-B02B-4002EBADEB05}"/>
              </a:ext>
            </a:extLst>
          </p:cNvPr>
          <p:cNvCxnSpPr>
            <a:stCxn id="12" idx="2"/>
          </p:cNvCxnSpPr>
          <p:nvPr/>
        </p:nvCxnSpPr>
        <p:spPr bwMode="gray">
          <a:xfrm flipH="1">
            <a:off x="6104150" y="3467641"/>
            <a:ext cx="1" cy="197869"/>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2" name="Picture 2" descr="G:\做的项目\公共\扁平图标切换\更新2015_01_21\oss扁平图标库2015_01_21更新-04.png">
            <a:extLst>
              <a:ext uri="{FF2B5EF4-FFF2-40B4-BE49-F238E27FC236}">
                <a16:creationId xmlns:a16="http://schemas.microsoft.com/office/drawing/2014/main" id="{0B59637E-0F9B-4DAC-960F-193F731B3657}"/>
              </a:ext>
            </a:extLst>
          </p:cNvPr>
          <p:cNvPicPr>
            <a:picLocks noChangeAspect="1" noChangeArrowheads="1"/>
          </p:cNvPicPr>
          <p:nvPr/>
        </p:nvPicPr>
        <p:blipFill>
          <a:blip r:embed="rId3" cstate="print"/>
          <a:stretch>
            <a:fillRect/>
          </a:stretch>
        </p:blipFill>
        <p:spPr bwMode="gray">
          <a:xfrm>
            <a:off x="5833656" y="3025015"/>
            <a:ext cx="540989" cy="442626"/>
          </a:xfrm>
          <a:prstGeom prst="rect">
            <a:avLst/>
          </a:prstGeom>
          <a:noFill/>
        </p:spPr>
      </p:pic>
      <p:sp>
        <p:nvSpPr>
          <p:cNvPr id="13" name="圆角矩形 75">
            <a:extLst>
              <a:ext uri="{FF2B5EF4-FFF2-40B4-BE49-F238E27FC236}">
                <a16:creationId xmlns:a16="http://schemas.microsoft.com/office/drawing/2014/main" id="{641C95DD-2923-45BE-BF8A-5F3AF79B0E0F}"/>
              </a:ext>
            </a:extLst>
          </p:cNvPr>
          <p:cNvSpPr/>
          <p:nvPr/>
        </p:nvSpPr>
        <p:spPr bwMode="gray">
          <a:xfrm>
            <a:off x="875994" y="2533400"/>
            <a:ext cx="10453748"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穿越</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建立数据通道</a:t>
            </a:r>
          </a:p>
        </p:txBody>
      </p:sp>
      <p:graphicFrame>
        <p:nvGraphicFramePr>
          <p:cNvPr id="14" name="表格 27">
            <a:extLst>
              <a:ext uri="{FF2B5EF4-FFF2-40B4-BE49-F238E27FC236}">
                <a16:creationId xmlns:a16="http://schemas.microsoft.com/office/drawing/2014/main" id="{175CC53A-625A-478F-B2C7-8C879A3B216A}"/>
              </a:ext>
            </a:extLst>
          </p:cNvPr>
          <p:cNvGraphicFramePr>
            <a:graphicFrameLocks noGrp="1"/>
          </p:cNvGraphicFramePr>
          <p:nvPr>
            <p:extLst>
              <p:ext uri="{D42A27DB-BD31-4B8C-83A1-F6EECF244321}">
                <p14:modId xmlns:p14="http://schemas.microsoft.com/office/powerpoint/2010/main" val="3055338749"/>
              </p:ext>
            </p:extLst>
          </p:nvPr>
        </p:nvGraphicFramePr>
        <p:xfrm>
          <a:off x="1351867" y="4854093"/>
          <a:ext cx="2619172" cy="548640"/>
        </p:xfrm>
        <a:graphic>
          <a:graphicData uri="http://schemas.openxmlformats.org/drawingml/2006/table">
            <a:tbl>
              <a:tblPr firstRow="1" bandRow="1"/>
              <a:tblGrid>
                <a:gridCol w="1308688">
                  <a:extLst>
                    <a:ext uri="{9D8B030D-6E8A-4147-A177-3AD203B41FA5}">
                      <a16:colId xmlns:a16="http://schemas.microsoft.com/office/drawing/2014/main" val="20000"/>
                    </a:ext>
                  </a:extLst>
                </a:gridCol>
                <a:gridCol w="1310484">
                  <a:extLst>
                    <a:ext uri="{9D8B030D-6E8A-4147-A177-3AD203B41FA5}">
                      <a16:colId xmlns:a16="http://schemas.microsoft.com/office/drawing/2014/main" val="20001"/>
                    </a:ext>
                  </a:extLst>
                </a:gridCol>
              </a:tblGrid>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en-US" altLang="zh-CN" sz="1200" b="0"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IP1:Port1</a:t>
                      </a:r>
                      <a:endParaRPr lang="zh-CN" altLang="en-US" sz="1200" b="0"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IP2:Port2</a:t>
                      </a:r>
                      <a:endParaRPr lang="zh-CN" altLang="en-US" sz="1200" b="0"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5" name="Freeform 159">
            <a:extLst>
              <a:ext uri="{FF2B5EF4-FFF2-40B4-BE49-F238E27FC236}">
                <a16:creationId xmlns:a16="http://schemas.microsoft.com/office/drawing/2014/main" id="{E19A20BF-B657-425C-A0E1-BCDD2D809C74}"/>
              </a:ext>
            </a:extLst>
          </p:cNvPr>
          <p:cNvSpPr/>
          <p:nvPr/>
        </p:nvSpPr>
        <p:spPr bwMode="gray">
          <a:xfrm flipH="1">
            <a:off x="8857570" y="3589840"/>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私网</a:t>
            </a:r>
            <a:endParaRPr lang="en-US" sz="1400" dirty="0">
              <a:solidFill>
                <a:schemeClr val="tx1"/>
              </a:solidFill>
            </a:endParaRPr>
          </a:p>
        </p:txBody>
      </p:sp>
      <p:sp>
        <p:nvSpPr>
          <p:cNvPr id="16" name="Freeform 159">
            <a:extLst>
              <a:ext uri="{FF2B5EF4-FFF2-40B4-BE49-F238E27FC236}">
                <a16:creationId xmlns:a16="http://schemas.microsoft.com/office/drawing/2014/main" id="{7EB7EB4D-48F8-4E19-9624-B289A50F7CAC}"/>
              </a:ext>
            </a:extLst>
          </p:cNvPr>
          <p:cNvSpPr/>
          <p:nvPr/>
        </p:nvSpPr>
        <p:spPr bwMode="gray">
          <a:xfrm flipH="1">
            <a:off x="1530580" y="3589840"/>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私网</a:t>
            </a:r>
            <a:endParaRPr lang="en-US" sz="1400" dirty="0">
              <a:solidFill>
                <a:schemeClr val="tx1"/>
              </a:solidFill>
            </a:endParaRPr>
          </a:p>
        </p:txBody>
      </p:sp>
      <p:sp>
        <p:nvSpPr>
          <p:cNvPr id="17" name="Freeform 159">
            <a:extLst>
              <a:ext uri="{FF2B5EF4-FFF2-40B4-BE49-F238E27FC236}">
                <a16:creationId xmlns:a16="http://schemas.microsoft.com/office/drawing/2014/main" id="{D9C1B682-15CC-4246-AF1A-884BCC44651A}"/>
              </a:ext>
            </a:extLst>
          </p:cNvPr>
          <p:cNvSpPr/>
          <p:nvPr/>
        </p:nvSpPr>
        <p:spPr bwMode="gray">
          <a:xfrm flipH="1">
            <a:off x="5250447" y="3602204"/>
            <a:ext cx="1707405" cy="8925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cxnSp>
        <p:nvCxnSpPr>
          <p:cNvPr id="18" name="直接连接符 12">
            <a:extLst>
              <a:ext uri="{FF2B5EF4-FFF2-40B4-BE49-F238E27FC236}">
                <a16:creationId xmlns:a16="http://schemas.microsoft.com/office/drawing/2014/main" id="{B73D6032-EF9B-49ED-AB13-C50EDC3CD64B}"/>
              </a:ext>
            </a:extLst>
          </p:cNvPr>
          <p:cNvCxnSpPr>
            <a:cxnSpLocks/>
            <a:stCxn id="25" idx="3"/>
            <a:endCxn id="52" idx="3"/>
          </p:cNvCxnSpPr>
          <p:nvPr/>
        </p:nvCxnSpPr>
        <p:spPr bwMode="gray">
          <a:xfrm flipH="1" flipV="1">
            <a:off x="5373384" y="4217675"/>
            <a:ext cx="496648" cy="1093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9" name="直接连接符 12">
            <a:extLst>
              <a:ext uri="{FF2B5EF4-FFF2-40B4-BE49-F238E27FC236}">
                <a16:creationId xmlns:a16="http://schemas.microsoft.com/office/drawing/2014/main" id="{636D16DD-ECD1-49D3-9DE8-D794916586C4}"/>
              </a:ext>
            </a:extLst>
          </p:cNvPr>
          <p:cNvCxnSpPr>
            <a:cxnSpLocks/>
            <a:stCxn id="53" idx="1"/>
            <a:endCxn id="26" idx="1"/>
          </p:cNvCxnSpPr>
          <p:nvPr/>
        </p:nvCxnSpPr>
        <p:spPr bwMode="gray">
          <a:xfrm flipH="1" flipV="1">
            <a:off x="6331918" y="4206551"/>
            <a:ext cx="497121" cy="640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 name="直接连接符 12">
            <a:extLst>
              <a:ext uri="{FF2B5EF4-FFF2-40B4-BE49-F238E27FC236}">
                <a16:creationId xmlns:a16="http://schemas.microsoft.com/office/drawing/2014/main" id="{581CC90F-DCA8-47F4-AE79-3FF391BB90A6}"/>
              </a:ext>
            </a:extLst>
          </p:cNvPr>
          <p:cNvCxnSpPr>
            <a:stCxn id="52" idx="1"/>
            <a:endCxn id="42" idx="3"/>
          </p:cNvCxnSpPr>
          <p:nvPr/>
        </p:nvCxnSpPr>
        <p:spPr bwMode="gray">
          <a:xfrm flipH="1" flipV="1">
            <a:off x="3444429" y="4212955"/>
            <a:ext cx="1387966" cy="472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 name="直接连接符 12">
            <a:extLst>
              <a:ext uri="{FF2B5EF4-FFF2-40B4-BE49-F238E27FC236}">
                <a16:creationId xmlns:a16="http://schemas.microsoft.com/office/drawing/2014/main" id="{3519DA8F-6458-4FAE-B935-0629FEC50037}"/>
              </a:ext>
            </a:extLst>
          </p:cNvPr>
          <p:cNvCxnSpPr>
            <a:stCxn id="43" idx="1"/>
            <a:endCxn id="53" idx="3"/>
          </p:cNvCxnSpPr>
          <p:nvPr/>
        </p:nvCxnSpPr>
        <p:spPr bwMode="gray">
          <a:xfrm flipH="1" flipV="1">
            <a:off x="7370028" y="4212955"/>
            <a:ext cx="1368422" cy="6712"/>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2" name="矩形 26">
            <a:extLst>
              <a:ext uri="{FF2B5EF4-FFF2-40B4-BE49-F238E27FC236}">
                <a16:creationId xmlns:a16="http://schemas.microsoft.com/office/drawing/2014/main" id="{E3E09D28-EA92-4D46-96C9-4E481328DCA5}"/>
              </a:ext>
            </a:extLst>
          </p:cNvPr>
          <p:cNvSpPr/>
          <p:nvPr/>
        </p:nvSpPr>
        <p:spPr bwMode="gray">
          <a:xfrm>
            <a:off x="4708023" y="3771440"/>
            <a:ext cx="797013"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23" name="矩形 26">
            <a:extLst>
              <a:ext uri="{FF2B5EF4-FFF2-40B4-BE49-F238E27FC236}">
                <a16:creationId xmlns:a16="http://schemas.microsoft.com/office/drawing/2014/main" id="{2782B3C3-1ED1-4C73-90A7-90E2F2D7EF7C}"/>
              </a:ext>
            </a:extLst>
          </p:cNvPr>
          <p:cNvSpPr/>
          <p:nvPr/>
        </p:nvSpPr>
        <p:spPr bwMode="gray">
          <a:xfrm>
            <a:off x="6730429" y="3755776"/>
            <a:ext cx="797013"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24" name="矩形 26">
            <a:extLst>
              <a:ext uri="{FF2B5EF4-FFF2-40B4-BE49-F238E27FC236}">
                <a16:creationId xmlns:a16="http://schemas.microsoft.com/office/drawing/2014/main" id="{F46A7CB3-0FA8-42DB-9413-6C3979CA8F5F}"/>
              </a:ext>
            </a:extLst>
          </p:cNvPr>
          <p:cNvSpPr/>
          <p:nvPr/>
        </p:nvSpPr>
        <p:spPr bwMode="gray">
          <a:xfrm>
            <a:off x="3372246" y="3968086"/>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IP1</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矩形 26">
            <a:extLst>
              <a:ext uri="{FF2B5EF4-FFF2-40B4-BE49-F238E27FC236}">
                <a16:creationId xmlns:a16="http://schemas.microsoft.com/office/drawing/2014/main" id="{0E30D912-0477-4128-AA7B-89924BA5442B}"/>
              </a:ext>
            </a:extLst>
          </p:cNvPr>
          <p:cNvSpPr/>
          <p:nvPr/>
        </p:nvSpPr>
        <p:spPr bwMode="gray">
          <a:xfrm>
            <a:off x="5308660" y="3997779"/>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IP2</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矩形 26">
            <a:extLst>
              <a:ext uri="{FF2B5EF4-FFF2-40B4-BE49-F238E27FC236}">
                <a16:creationId xmlns:a16="http://schemas.microsoft.com/office/drawing/2014/main" id="{A20F7570-3EEC-48BD-83BA-E3C3851590A4}"/>
              </a:ext>
            </a:extLst>
          </p:cNvPr>
          <p:cNvSpPr/>
          <p:nvPr/>
        </p:nvSpPr>
        <p:spPr bwMode="gray">
          <a:xfrm>
            <a:off x="6331918" y="3975718"/>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IP3</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Port3</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矩形 26">
            <a:extLst>
              <a:ext uri="{FF2B5EF4-FFF2-40B4-BE49-F238E27FC236}">
                <a16:creationId xmlns:a16="http://schemas.microsoft.com/office/drawing/2014/main" id="{F7D6DAAB-95BC-4A44-BE62-B62A6622FD96}"/>
              </a:ext>
            </a:extLst>
          </p:cNvPr>
          <p:cNvSpPr/>
          <p:nvPr/>
        </p:nvSpPr>
        <p:spPr bwMode="gray">
          <a:xfrm>
            <a:off x="8212803" y="3959131"/>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IP4</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Port4</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矩形 26">
            <a:extLst>
              <a:ext uri="{FF2B5EF4-FFF2-40B4-BE49-F238E27FC236}">
                <a16:creationId xmlns:a16="http://schemas.microsoft.com/office/drawing/2014/main" id="{840C9213-E354-41B1-ACD1-DF67B77C46DF}"/>
              </a:ext>
            </a:extLst>
          </p:cNvPr>
          <p:cNvSpPr/>
          <p:nvPr/>
        </p:nvSpPr>
        <p:spPr bwMode="gray">
          <a:xfrm>
            <a:off x="6329130" y="2961554"/>
            <a:ext cx="1540806"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RR</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服务器）</a:t>
            </a:r>
          </a:p>
        </p:txBody>
      </p:sp>
      <p:sp>
        <p:nvSpPr>
          <p:cNvPr id="29" name="矩形 26">
            <a:extLst>
              <a:ext uri="{FF2B5EF4-FFF2-40B4-BE49-F238E27FC236}">
                <a16:creationId xmlns:a16="http://schemas.microsoft.com/office/drawing/2014/main" id="{B17998DF-3916-446E-9FE3-0F52B9758747}"/>
              </a:ext>
            </a:extLst>
          </p:cNvPr>
          <p:cNvSpPr/>
          <p:nvPr/>
        </p:nvSpPr>
        <p:spPr bwMode="gray">
          <a:xfrm>
            <a:off x="2389813" y="4422700"/>
            <a:ext cx="1351652" cy="461665"/>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EDGE</a:t>
            </a:r>
          </a:p>
          <a:p>
            <a:pPr algn="ctr" defTabSz="914034" fontAlgn="auto"/>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客户端）</a:t>
            </a:r>
          </a:p>
        </p:txBody>
      </p:sp>
      <p:sp>
        <p:nvSpPr>
          <p:cNvPr id="30" name="矩形 26">
            <a:extLst>
              <a:ext uri="{FF2B5EF4-FFF2-40B4-BE49-F238E27FC236}">
                <a16:creationId xmlns:a16="http://schemas.microsoft.com/office/drawing/2014/main" id="{B7A7477E-5F3D-4092-B709-AE6D502F36B6}"/>
              </a:ext>
            </a:extLst>
          </p:cNvPr>
          <p:cNvSpPr/>
          <p:nvPr/>
        </p:nvSpPr>
        <p:spPr bwMode="gray">
          <a:xfrm>
            <a:off x="8443601" y="4412405"/>
            <a:ext cx="1351652" cy="461665"/>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EDGE</a:t>
            </a:r>
          </a:p>
          <a:p>
            <a:pPr algn="ctr" defTabSz="914034" fontAlgn="auto"/>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客户端）</a:t>
            </a:r>
          </a:p>
        </p:txBody>
      </p:sp>
      <p:sp>
        <p:nvSpPr>
          <p:cNvPr id="31" name="Freeform 47">
            <a:extLst>
              <a:ext uri="{FF2B5EF4-FFF2-40B4-BE49-F238E27FC236}">
                <a16:creationId xmlns:a16="http://schemas.microsoft.com/office/drawing/2014/main" id="{37B4CA40-F2E0-4D52-B063-743BD21FD306}"/>
              </a:ext>
            </a:extLst>
          </p:cNvPr>
          <p:cNvSpPr/>
          <p:nvPr/>
        </p:nvSpPr>
        <p:spPr bwMode="gray">
          <a:xfrm>
            <a:off x="3519651" y="3282969"/>
            <a:ext cx="2294940" cy="861060"/>
          </a:xfrm>
          <a:custGeom>
            <a:avLst/>
            <a:gdLst>
              <a:gd name="connsiteX0" fmla="*/ 0 w 1379220"/>
              <a:gd name="connsiteY0" fmla="*/ 861060 h 861060"/>
              <a:gd name="connsiteX1" fmla="*/ 876300 w 1379220"/>
              <a:gd name="connsiteY1" fmla="*/ 586740 h 861060"/>
              <a:gd name="connsiteX2" fmla="*/ 1379220 w 1379220"/>
              <a:gd name="connsiteY2" fmla="*/ 0 h 861060"/>
            </a:gdLst>
            <a:ahLst/>
            <a:cxnLst>
              <a:cxn ang="0">
                <a:pos x="connsiteX0" y="connsiteY0"/>
              </a:cxn>
              <a:cxn ang="0">
                <a:pos x="connsiteX1" y="connsiteY1"/>
              </a:cxn>
              <a:cxn ang="0">
                <a:pos x="connsiteX2" y="connsiteY2"/>
              </a:cxn>
            </a:cxnLst>
            <a:rect l="l" t="t" r="r" b="b"/>
            <a:pathLst>
              <a:path w="1379220" h="861060">
                <a:moveTo>
                  <a:pt x="0" y="861060"/>
                </a:moveTo>
                <a:cubicBezTo>
                  <a:pt x="323215" y="795655"/>
                  <a:pt x="646430" y="730250"/>
                  <a:pt x="876300" y="586740"/>
                </a:cubicBezTo>
                <a:cubicBezTo>
                  <a:pt x="1106170" y="443230"/>
                  <a:pt x="1242695" y="221615"/>
                  <a:pt x="1379220" y="0"/>
                </a:cubicBezTo>
              </a:path>
            </a:pathLst>
          </a:custGeom>
          <a:noFill/>
          <a:ln w="1905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48">
            <a:extLst>
              <a:ext uri="{FF2B5EF4-FFF2-40B4-BE49-F238E27FC236}">
                <a16:creationId xmlns:a16="http://schemas.microsoft.com/office/drawing/2014/main" id="{91C3BB8F-93D3-4B13-A267-9FAE7B46A374}"/>
              </a:ext>
            </a:extLst>
          </p:cNvPr>
          <p:cNvSpPr/>
          <p:nvPr/>
        </p:nvSpPr>
        <p:spPr bwMode="gray">
          <a:xfrm flipH="1">
            <a:off x="6393587" y="3267437"/>
            <a:ext cx="2321351" cy="861060"/>
          </a:xfrm>
          <a:custGeom>
            <a:avLst/>
            <a:gdLst>
              <a:gd name="connsiteX0" fmla="*/ 0 w 1379220"/>
              <a:gd name="connsiteY0" fmla="*/ 861060 h 861060"/>
              <a:gd name="connsiteX1" fmla="*/ 876300 w 1379220"/>
              <a:gd name="connsiteY1" fmla="*/ 586740 h 861060"/>
              <a:gd name="connsiteX2" fmla="*/ 1379220 w 1379220"/>
              <a:gd name="connsiteY2" fmla="*/ 0 h 861060"/>
            </a:gdLst>
            <a:ahLst/>
            <a:cxnLst>
              <a:cxn ang="0">
                <a:pos x="connsiteX0" y="connsiteY0"/>
              </a:cxn>
              <a:cxn ang="0">
                <a:pos x="connsiteX1" y="connsiteY1"/>
              </a:cxn>
              <a:cxn ang="0">
                <a:pos x="connsiteX2" y="connsiteY2"/>
              </a:cxn>
            </a:cxnLst>
            <a:rect l="l" t="t" r="r" b="b"/>
            <a:pathLst>
              <a:path w="1379220" h="861060">
                <a:moveTo>
                  <a:pt x="0" y="861060"/>
                </a:moveTo>
                <a:cubicBezTo>
                  <a:pt x="323215" y="795655"/>
                  <a:pt x="646430" y="730250"/>
                  <a:pt x="876300" y="586740"/>
                </a:cubicBezTo>
                <a:cubicBezTo>
                  <a:pt x="1106170" y="443230"/>
                  <a:pt x="1242695" y="221615"/>
                  <a:pt x="1379220" y="0"/>
                </a:cubicBezTo>
              </a:path>
            </a:pathLst>
          </a:custGeom>
          <a:noFill/>
          <a:ln w="1905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26">
            <a:extLst>
              <a:ext uri="{FF2B5EF4-FFF2-40B4-BE49-F238E27FC236}">
                <a16:creationId xmlns:a16="http://schemas.microsoft.com/office/drawing/2014/main" id="{A3000293-A1F7-4350-AAA1-CC164CD05402}"/>
              </a:ext>
            </a:extLst>
          </p:cNvPr>
          <p:cNvSpPr/>
          <p:nvPr/>
        </p:nvSpPr>
        <p:spPr bwMode="gray">
          <a:xfrm rot="20818920">
            <a:off x="3623093" y="3452773"/>
            <a:ext cx="1325185" cy="550247"/>
          </a:xfrm>
          <a:prstGeom prst="rightArrow">
            <a:avLst/>
          </a:prstGeom>
          <a:solidFill>
            <a:srgbClr val="5B9BD5"/>
          </a:solidFill>
        </p:spPr>
        <p:txBody>
          <a:bodyPr wrap="none">
            <a:spAutoFit/>
          </a:bodyPr>
          <a:lstStyle/>
          <a:p>
            <a:pPr algn="ctr" defTabSz="914034" fontAlgn="auto"/>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绑定请求</a:t>
            </a:r>
          </a:p>
        </p:txBody>
      </p:sp>
      <p:sp>
        <p:nvSpPr>
          <p:cNvPr id="34" name="矩形 26">
            <a:extLst>
              <a:ext uri="{FF2B5EF4-FFF2-40B4-BE49-F238E27FC236}">
                <a16:creationId xmlns:a16="http://schemas.microsoft.com/office/drawing/2014/main" id="{9074F44E-9A97-4229-A963-73AA45DBF5B2}"/>
              </a:ext>
            </a:extLst>
          </p:cNvPr>
          <p:cNvSpPr/>
          <p:nvPr/>
        </p:nvSpPr>
        <p:spPr bwMode="gray">
          <a:xfrm rot="653494">
            <a:off x="7431676" y="3476861"/>
            <a:ext cx="1325185" cy="550247"/>
          </a:xfrm>
          <a:prstGeom prst="leftArrow">
            <a:avLst/>
          </a:prstGeom>
          <a:solidFill>
            <a:srgbClr val="5B9BD5"/>
          </a:solidFill>
        </p:spPr>
        <p:txBody>
          <a:bodyPr wrap="none">
            <a:spAutoFit/>
          </a:bodyPr>
          <a:lstStyle/>
          <a:p>
            <a:pPr algn="ctr" defTabSz="914034" fontAlgn="auto"/>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绑定请求</a:t>
            </a:r>
          </a:p>
        </p:txBody>
      </p:sp>
      <p:sp>
        <p:nvSpPr>
          <p:cNvPr id="35" name="Freeform 51">
            <a:extLst>
              <a:ext uri="{FF2B5EF4-FFF2-40B4-BE49-F238E27FC236}">
                <a16:creationId xmlns:a16="http://schemas.microsoft.com/office/drawing/2014/main" id="{7F5DE7E3-3F5C-4D0C-8138-0CE01EE2BEB6}"/>
              </a:ext>
            </a:extLst>
          </p:cNvPr>
          <p:cNvSpPr/>
          <p:nvPr/>
        </p:nvSpPr>
        <p:spPr bwMode="gray">
          <a:xfrm>
            <a:off x="3556374" y="3526482"/>
            <a:ext cx="2379392" cy="861060"/>
          </a:xfrm>
          <a:custGeom>
            <a:avLst/>
            <a:gdLst>
              <a:gd name="connsiteX0" fmla="*/ 0 w 1379220"/>
              <a:gd name="connsiteY0" fmla="*/ 861060 h 861060"/>
              <a:gd name="connsiteX1" fmla="*/ 876300 w 1379220"/>
              <a:gd name="connsiteY1" fmla="*/ 586740 h 861060"/>
              <a:gd name="connsiteX2" fmla="*/ 1379220 w 1379220"/>
              <a:gd name="connsiteY2" fmla="*/ 0 h 861060"/>
            </a:gdLst>
            <a:ahLst/>
            <a:cxnLst>
              <a:cxn ang="0">
                <a:pos x="connsiteX0" y="connsiteY0"/>
              </a:cxn>
              <a:cxn ang="0">
                <a:pos x="connsiteX1" y="connsiteY1"/>
              </a:cxn>
              <a:cxn ang="0">
                <a:pos x="connsiteX2" y="connsiteY2"/>
              </a:cxn>
            </a:cxnLst>
            <a:rect l="l" t="t" r="r" b="b"/>
            <a:pathLst>
              <a:path w="1379220" h="861060">
                <a:moveTo>
                  <a:pt x="0" y="861060"/>
                </a:moveTo>
                <a:cubicBezTo>
                  <a:pt x="323215" y="795655"/>
                  <a:pt x="646430" y="730250"/>
                  <a:pt x="876300" y="586740"/>
                </a:cubicBezTo>
                <a:cubicBezTo>
                  <a:pt x="1106170" y="443230"/>
                  <a:pt x="1242695" y="221615"/>
                  <a:pt x="1379220" y="0"/>
                </a:cubicBezTo>
              </a:path>
            </a:pathLst>
          </a:custGeom>
          <a:noFill/>
          <a:ln w="19050">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Freeform 54">
            <a:extLst>
              <a:ext uri="{FF2B5EF4-FFF2-40B4-BE49-F238E27FC236}">
                <a16:creationId xmlns:a16="http://schemas.microsoft.com/office/drawing/2014/main" id="{B751E6BF-4CEC-426F-A0BE-A8E961BAF963}"/>
              </a:ext>
            </a:extLst>
          </p:cNvPr>
          <p:cNvSpPr/>
          <p:nvPr/>
        </p:nvSpPr>
        <p:spPr bwMode="gray">
          <a:xfrm flipH="1">
            <a:off x="6272413" y="3524184"/>
            <a:ext cx="2424351" cy="861060"/>
          </a:xfrm>
          <a:custGeom>
            <a:avLst/>
            <a:gdLst>
              <a:gd name="connsiteX0" fmla="*/ 0 w 1379220"/>
              <a:gd name="connsiteY0" fmla="*/ 861060 h 861060"/>
              <a:gd name="connsiteX1" fmla="*/ 876300 w 1379220"/>
              <a:gd name="connsiteY1" fmla="*/ 586740 h 861060"/>
              <a:gd name="connsiteX2" fmla="*/ 1379220 w 1379220"/>
              <a:gd name="connsiteY2" fmla="*/ 0 h 861060"/>
            </a:gdLst>
            <a:ahLst/>
            <a:cxnLst>
              <a:cxn ang="0">
                <a:pos x="connsiteX0" y="connsiteY0"/>
              </a:cxn>
              <a:cxn ang="0">
                <a:pos x="connsiteX1" y="connsiteY1"/>
              </a:cxn>
              <a:cxn ang="0">
                <a:pos x="connsiteX2" y="connsiteY2"/>
              </a:cxn>
            </a:cxnLst>
            <a:rect l="l" t="t" r="r" b="b"/>
            <a:pathLst>
              <a:path w="1379220" h="861060">
                <a:moveTo>
                  <a:pt x="0" y="861060"/>
                </a:moveTo>
                <a:cubicBezTo>
                  <a:pt x="323215" y="795655"/>
                  <a:pt x="646430" y="730250"/>
                  <a:pt x="876300" y="586740"/>
                </a:cubicBezTo>
                <a:cubicBezTo>
                  <a:pt x="1106170" y="443230"/>
                  <a:pt x="1242695" y="221615"/>
                  <a:pt x="1379220" y="0"/>
                </a:cubicBezTo>
              </a:path>
            </a:pathLst>
          </a:custGeom>
          <a:noFill/>
          <a:ln w="19050">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26">
            <a:extLst>
              <a:ext uri="{FF2B5EF4-FFF2-40B4-BE49-F238E27FC236}">
                <a16:creationId xmlns:a16="http://schemas.microsoft.com/office/drawing/2014/main" id="{9844092A-4F8A-435B-B1F1-4B3194974B94}"/>
              </a:ext>
            </a:extLst>
          </p:cNvPr>
          <p:cNvSpPr/>
          <p:nvPr/>
        </p:nvSpPr>
        <p:spPr bwMode="gray">
          <a:xfrm rot="21135608">
            <a:off x="3515815" y="4273108"/>
            <a:ext cx="1325185" cy="550247"/>
          </a:xfrm>
          <a:prstGeom prst="leftArrow">
            <a:avLst/>
          </a:prstGeom>
          <a:solidFill>
            <a:srgbClr val="FFC000"/>
          </a:solidFill>
        </p:spPr>
        <p:txBody>
          <a:bodyPr wrap="none">
            <a:spAutoFit/>
          </a:bodyPr>
          <a:lstStyle/>
          <a:p>
            <a:pPr algn="ctr" defTabSz="914034" fontAlgn="auto"/>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绑定响应</a:t>
            </a:r>
          </a:p>
        </p:txBody>
      </p:sp>
      <p:sp>
        <p:nvSpPr>
          <p:cNvPr id="38" name="矩形 26">
            <a:extLst>
              <a:ext uri="{FF2B5EF4-FFF2-40B4-BE49-F238E27FC236}">
                <a16:creationId xmlns:a16="http://schemas.microsoft.com/office/drawing/2014/main" id="{0D250BA5-75FD-42AF-9F4B-0623050039D3}"/>
              </a:ext>
            </a:extLst>
          </p:cNvPr>
          <p:cNvSpPr/>
          <p:nvPr/>
        </p:nvSpPr>
        <p:spPr bwMode="gray">
          <a:xfrm rot="703320">
            <a:off x="7367260" y="4245226"/>
            <a:ext cx="1325185" cy="550247"/>
          </a:xfrm>
          <a:prstGeom prst="rightArrow">
            <a:avLst/>
          </a:prstGeom>
          <a:solidFill>
            <a:srgbClr val="FFC000"/>
          </a:solidFill>
        </p:spPr>
        <p:txBody>
          <a:bodyPr wrap="none">
            <a:spAutoFit/>
          </a:bodyPr>
          <a:lstStyle/>
          <a:p>
            <a:pPr algn="ctr" defTabSz="914034" fontAlgn="auto"/>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绑定响应</a:t>
            </a:r>
          </a:p>
        </p:txBody>
      </p:sp>
      <p:graphicFrame>
        <p:nvGraphicFramePr>
          <p:cNvPr id="39" name="表格 27">
            <a:extLst>
              <a:ext uri="{FF2B5EF4-FFF2-40B4-BE49-F238E27FC236}">
                <a16:creationId xmlns:a16="http://schemas.microsoft.com/office/drawing/2014/main" id="{D1BE3533-2E64-41A4-91FC-0B6E56E66C1B}"/>
              </a:ext>
            </a:extLst>
          </p:cNvPr>
          <p:cNvGraphicFramePr>
            <a:graphicFrameLocks noGrp="1"/>
          </p:cNvGraphicFramePr>
          <p:nvPr>
            <p:extLst>
              <p:ext uri="{D42A27DB-BD31-4B8C-83A1-F6EECF244321}">
                <p14:modId xmlns:p14="http://schemas.microsoft.com/office/powerpoint/2010/main" val="1078467727"/>
              </p:ext>
            </p:extLst>
          </p:nvPr>
        </p:nvGraphicFramePr>
        <p:xfrm>
          <a:off x="8333691" y="4842757"/>
          <a:ext cx="2619172" cy="548640"/>
        </p:xfrm>
        <a:graphic>
          <a:graphicData uri="http://schemas.openxmlformats.org/drawingml/2006/table">
            <a:tbl>
              <a:tblPr firstRow="1" bandRow="1"/>
              <a:tblGrid>
                <a:gridCol w="1308688">
                  <a:extLst>
                    <a:ext uri="{9D8B030D-6E8A-4147-A177-3AD203B41FA5}">
                      <a16:colId xmlns:a16="http://schemas.microsoft.com/office/drawing/2014/main" val="20000"/>
                    </a:ext>
                  </a:extLst>
                </a:gridCol>
                <a:gridCol w="1310484">
                  <a:extLst>
                    <a:ext uri="{9D8B030D-6E8A-4147-A177-3AD203B41FA5}">
                      <a16:colId xmlns:a16="http://schemas.microsoft.com/office/drawing/2014/main" val="20001"/>
                    </a:ext>
                  </a:extLst>
                </a:gridCol>
              </a:tblGrid>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en-US" altLang="zh-CN" sz="1200" b="0"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IP4:Port4</a:t>
                      </a:r>
                      <a:endParaRPr lang="zh-CN" altLang="en-US" sz="1200" b="0"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IP3:Port3</a:t>
                      </a:r>
                      <a:endParaRPr lang="zh-CN" altLang="en-US" sz="1200" b="0"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40" name="Straight Arrow Connector 39">
            <a:extLst>
              <a:ext uri="{FF2B5EF4-FFF2-40B4-BE49-F238E27FC236}">
                <a16:creationId xmlns:a16="http://schemas.microsoft.com/office/drawing/2014/main" id="{7D9532CF-66B8-4BE3-B66A-BF4BD6CB598D}"/>
              </a:ext>
            </a:extLst>
          </p:cNvPr>
          <p:cNvCxnSpPr>
            <a:cxnSpLocks/>
          </p:cNvCxnSpPr>
          <p:nvPr/>
        </p:nvCxnSpPr>
        <p:spPr bwMode="gray">
          <a:xfrm>
            <a:off x="3173934" y="5601142"/>
            <a:ext cx="5895498" cy="0"/>
          </a:xfrm>
          <a:prstGeom prst="straightConnector1">
            <a:avLst/>
          </a:prstGeom>
          <a:ln w="19050">
            <a:solidFill>
              <a:srgbClr val="41719C"/>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矩形 26">
            <a:extLst>
              <a:ext uri="{FF2B5EF4-FFF2-40B4-BE49-F238E27FC236}">
                <a16:creationId xmlns:a16="http://schemas.microsoft.com/office/drawing/2014/main" id="{E2E93851-2DD2-4678-982D-9FBC5F2D0848}"/>
              </a:ext>
            </a:extLst>
          </p:cNvPr>
          <p:cNvSpPr/>
          <p:nvPr/>
        </p:nvSpPr>
        <p:spPr bwMode="gray">
          <a:xfrm>
            <a:off x="5064574" y="5306183"/>
            <a:ext cx="2305439" cy="276999"/>
          </a:xfrm>
          <a:prstGeom prst="rect">
            <a:avLst/>
          </a:prstGeom>
          <a:noFill/>
        </p:spPr>
        <p:txBody>
          <a:bodyPr wrap="none">
            <a:spAutoFit/>
          </a:bodyPr>
          <a:lstStyle/>
          <a:p>
            <a:pPr algn="ctr" defTabSz="914034" fontAlgn="auto"/>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学习对端的</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TNP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与路由</a:t>
            </a:r>
          </a:p>
        </p:txBody>
      </p:sp>
      <p:pic>
        <p:nvPicPr>
          <p:cNvPr id="42" name="Picture 2" descr="G:\做的项目\公共\扁平图标切换\更新2015_01_21\oss扁平图标库2015_01_21更新-04.png">
            <a:extLst>
              <a:ext uri="{FF2B5EF4-FFF2-40B4-BE49-F238E27FC236}">
                <a16:creationId xmlns:a16="http://schemas.microsoft.com/office/drawing/2014/main" id="{9348CE79-36D0-40BB-9D6A-C1F80C03B33A}"/>
              </a:ext>
            </a:extLst>
          </p:cNvPr>
          <p:cNvPicPr>
            <a:picLocks noChangeAspect="1" noChangeArrowheads="1"/>
          </p:cNvPicPr>
          <p:nvPr/>
        </p:nvPicPr>
        <p:blipFill>
          <a:blip r:embed="rId3" cstate="print"/>
          <a:stretch>
            <a:fillRect/>
          </a:stretch>
        </p:blipFill>
        <p:spPr bwMode="gray">
          <a:xfrm>
            <a:off x="2903440" y="3991642"/>
            <a:ext cx="540989" cy="442626"/>
          </a:xfrm>
          <a:prstGeom prst="rect">
            <a:avLst/>
          </a:prstGeom>
          <a:noFill/>
        </p:spPr>
      </p:pic>
      <p:pic>
        <p:nvPicPr>
          <p:cNvPr id="43" name="Picture 2" descr="G:\做的项目\公共\扁平图标切换\更新2015_01_21\oss扁平图标库2015_01_21更新-04.png">
            <a:extLst>
              <a:ext uri="{FF2B5EF4-FFF2-40B4-BE49-F238E27FC236}">
                <a16:creationId xmlns:a16="http://schemas.microsoft.com/office/drawing/2014/main" id="{E1A1F124-1B09-4AE8-911B-2AE5928E2A50}"/>
              </a:ext>
            </a:extLst>
          </p:cNvPr>
          <p:cNvPicPr>
            <a:picLocks noChangeAspect="1" noChangeArrowheads="1"/>
          </p:cNvPicPr>
          <p:nvPr/>
        </p:nvPicPr>
        <p:blipFill>
          <a:blip r:embed="rId3" cstate="print"/>
          <a:stretch>
            <a:fillRect/>
          </a:stretch>
        </p:blipFill>
        <p:spPr bwMode="gray">
          <a:xfrm>
            <a:off x="8738450" y="3998354"/>
            <a:ext cx="540989" cy="442626"/>
          </a:xfrm>
          <a:prstGeom prst="rect">
            <a:avLst/>
          </a:prstGeom>
          <a:noFill/>
        </p:spPr>
      </p:pic>
      <p:cxnSp>
        <p:nvCxnSpPr>
          <p:cNvPr id="44" name="Straight Arrow Connector 43">
            <a:extLst>
              <a:ext uri="{FF2B5EF4-FFF2-40B4-BE49-F238E27FC236}">
                <a16:creationId xmlns:a16="http://schemas.microsoft.com/office/drawing/2014/main" id="{95CD6C88-FF9E-465E-BE36-13E4AEBFDB11}"/>
              </a:ext>
            </a:extLst>
          </p:cNvPr>
          <p:cNvCxnSpPr>
            <a:cxnSpLocks/>
          </p:cNvCxnSpPr>
          <p:nvPr/>
        </p:nvCxnSpPr>
        <p:spPr bwMode="gray">
          <a:xfrm>
            <a:off x="3173934" y="5946651"/>
            <a:ext cx="5931502" cy="0"/>
          </a:xfrm>
          <a:prstGeom prst="straightConnector1">
            <a:avLst/>
          </a:prstGeom>
          <a:ln w="381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椭圆 50">
            <a:extLst>
              <a:ext uri="{FF2B5EF4-FFF2-40B4-BE49-F238E27FC236}">
                <a16:creationId xmlns:a16="http://schemas.microsoft.com/office/drawing/2014/main" id="{85BBA38D-01CE-4A76-9968-1167F9780AE1}"/>
              </a:ext>
            </a:extLst>
          </p:cNvPr>
          <p:cNvSpPr/>
          <p:nvPr/>
        </p:nvSpPr>
        <p:spPr bwMode="gray">
          <a:xfrm>
            <a:off x="3535856" y="3665953"/>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椭圆 50">
            <a:extLst>
              <a:ext uri="{FF2B5EF4-FFF2-40B4-BE49-F238E27FC236}">
                <a16:creationId xmlns:a16="http://schemas.microsoft.com/office/drawing/2014/main" id="{F40152E5-07E4-402F-97CB-A0B87D388D63}"/>
              </a:ext>
            </a:extLst>
          </p:cNvPr>
          <p:cNvSpPr/>
          <p:nvPr/>
        </p:nvSpPr>
        <p:spPr bwMode="gray">
          <a:xfrm>
            <a:off x="8660123" y="3646345"/>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椭圆 50">
            <a:extLst>
              <a:ext uri="{FF2B5EF4-FFF2-40B4-BE49-F238E27FC236}">
                <a16:creationId xmlns:a16="http://schemas.microsoft.com/office/drawing/2014/main" id="{B4B2ECAA-8825-46F0-858C-25BF6BFA8C09}"/>
              </a:ext>
            </a:extLst>
          </p:cNvPr>
          <p:cNvSpPr/>
          <p:nvPr/>
        </p:nvSpPr>
        <p:spPr bwMode="gray">
          <a:xfrm>
            <a:off x="4771812" y="4468984"/>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椭圆 50">
            <a:extLst>
              <a:ext uri="{FF2B5EF4-FFF2-40B4-BE49-F238E27FC236}">
                <a16:creationId xmlns:a16="http://schemas.microsoft.com/office/drawing/2014/main" id="{F29A8CF0-B7AF-4C6B-A2E6-E35521598ED2}"/>
              </a:ext>
            </a:extLst>
          </p:cNvPr>
          <p:cNvSpPr/>
          <p:nvPr/>
        </p:nvSpPr>
        <p:spPr bwMode="gray">
          <a:xfrm>
            <a:off x="7269232" y="4443339"/>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50">
            <a:extLst>
              <a:ext uri="{FF2B5EF4-FFF2-40B4-BE49-F238E27FC236}">
                <a16:creationId xmlns:a16="http://schemas.microsoft.com/office/drawing/2014/main" id="{28BE61EA-E568-4F92-8173-31A570ADFD0B}"/>
              </a:ext>
            </a:extLst>
          </p:cNvPr>
          <p:cNvSpPr/>
          <p:nvPr/>
        </p:nvSpPr>
        <p:spPr bwMode="gray">
          <a:xfrm>
            <a:off x="4931538" y="5349134"/>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26">
            <a:extLst>
              <a:ext uri="{FF2B5EF4-FFF2-40B4-BE49-F238E27FC236}">
                <a16:creationId xmlns:a16="http://schemas.microsoft.com/office/drawing/2014/main" id="{5B490062-B851-41A4-B37A-B7D0106CA3A6}"/>
              </a:ext>
            </a:extLst>
          </p:cNvPr>
          <p:cNvSpPr/>
          <p:nvPr/>
        </p:nvSpPr>
        <p:spPr bwMode="gray">
          <a:xfrm>
            <a:off x="5164143" y="5691968"/>
            <a:ext cx="1874232" cy="276999"/>
          </a:xfrm>
          <a:prstGeom prst="rect">
            <a:avLst/>
          </a:prstGeom>
          <a:noFill/>
        </p:spPr>
        <p:txBody>
          <a:bodyPr wrap="none">
            <a:spAutoFit/>
          </a:bodyPr>
          <a:lstStyle/>
          <a:p>
            <a:pPr algn="ctr" defTabSz="914034" fontAlgn="auto"/>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建立穿越</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的数据通道</a:t>
            </a:r>
          </a:p>
        </p:txBody>
      </p:sp>
      <p:sp>
        <p:nvSpPr>
          <p:cNvPr id="51" name="椭圆 50">
            <a:extLst>
              <a:ext uri="{FF2B5EF4-FFF2-40B4-BE49-F238E27FC236}">
                <a16:creationId xmlns:a16="http://schemas.microsoft.com/office/drawing/2014/main" id="{0380880A-B0F5-4029-9481-62AF50BCC4C9}"/>
              </a:ext>
            </a:extLst>
          </p:cNvPr>
          <p:cNvSpPr/>
          <p:nvPr/>
        </p:nvSpPr>
        <p:spPr bwMode="gray">
          <a:xfrm>
            <a:off x="4940881" y="5721850"/>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2" name="Picture 2" descr="G:\做的项目\公共\扁平图标切换\更新2015_01_21\oss扁平图标库2015_01_21更新-04.png">
            <a:extLst>
              <a:ext uri="{FF2B5EF4-FFF2-40B4-BE49-F238E27FC236}">
                <a16:creationId xmlns:a16="http://schemas.microsoft.com/office/drawing/2014/main" id="{1E878FCA-F1E3-4914-96A1-B5F715BF1D50}"/>
              </a:ext>
            </a:extLst>
          </p:cNvPr>
          <p:cNvPicPr>
            <a:picLocks noChangeAspect="1" noChangeArrowheads="1"/>
          </p:cNvPicPr>
          <p:nvPr/>
        </p:nvPicPr>
        <p:blipFill>
          <a:blip r:embed="rId3" cstate="print"/>
          <a:stretch>
            <a:fillRect/>
          </a:stretch>
        </p:blipFill>
        <p:spPr bwMode="gray">
          <a:xfrm>
            <a:off x="4832395" y="3996362"/>
            <a:ext cx="540989" cy="442626"/>
          </a:xfrm>
          <a:prstGeom prst="rect">
            <a:avLst/>
          </a:prstGeom>
          <a:noFill/>
        </p:spPr>
      </p:pic>
      <p:pic>
        <p:nvPicPr>
          <p:cNvPr id="53" name="Picture 2" descr="G:\做的项目\公共\扁平图标切换\更新2015_01_21\oss扁平图标库2015_01_21更新-04.png">
            <a:extLst>
              <a:ext uri="{FF2B5EF4-FFF2-40B4-BE49-F238E27FC236}">
                <a16:creationId xmlns:a16="http://schemas.microsoft.com/office/drawing/2014/main" id="{4CFACB2C-BFF7-4818-9146-F4B12AC3BBBB}"/>
              </a:ext>
            </a:extLst>
          </p:cNvPr>
          <p:cNvPicPr>
            <a:picLocks noChangeAspect="1" noChangeArrowheads="1"/>
          </p:cNvPicPr>
          <p:nvPr/>
        </p:nvPicPr>
        <p:blipFill>
          <a:blip r:embed="rId3" cstate="print"/>
          <a:stretch>
            <a:fillRect/>
          </a:stretch>
        </p:blipFill>
        <p:spPr bwMode="gray">
          <a:xfrm>
            <a:off x="6829039" y="3991642"/>
            <a:ext cx="540989" cy="442626"/>
          </a:xfrm>
          <a:prstGeom prst="rect">
            <a:avLst/>
          </a:prstGeom>
          <a:noFill/>
        </p:spPr>
      </p:pic>
      <p:pic>
        <p:nvPicPr>
          <p:cNvPr id="54" name="图片 73" descr="PC.png">
            <a:extLst>
              <a:ext uri="{FF2B5EF4-FFF2-40B4-BE49-F238E27FC236}">
                <a16:creationId xmlns:a16="http://schemas.microsoft.com/office/drawing/2014/main" id="{95F6E4FA-3688-4160-96CB-0FC6FA64E39A}"/>
              </a:ext>
            </a:extLst>
          </p:cNvPr>
          <p:cNvPicPr>
            <a:picLocks noChangeAspect="1"/>
          </p:cNvPicPr>
          <p:nvPr/>
        </p:nvPicPr>
        <p:blipFill>
          <a:blip r:embed="rId4" cstate="print"/>
          <a:stretch>
            <a:fillRect/>
          </a:stretch>
        </p:blipFill>
        <p:spPr bwMode="gray">
          <a:xfrm>
            <a:off x="1365573" y="3998354"/>
            <a:ext cx="539063" cy="414000"/>
          </a:xfrm>
          <a:prstGeom prst="rect">
            <a:avLst/>
          </a:prstGeom>
        </p:spPr>
      </p:pic>
      <p:pic>
        <p:nvPicPr>
          <p:cNvPr id="55" name="图片 73" descr="PC.png">
            <a:extLst>
              <a:ext uri="{FF2B5EF4-FFF2-40B4-BE49-F238E27FC236}">
                <a16:creationId xmlns:a16="http://schemas.microsoft.com/office/drawing/2014/main" id="{690507CA-B4CF-400F-B298-3A645647098B}"/>
              </a:ext>
            </a:extLst>
          </p:cNvPr>
          <p:cNvPicPr>
            <a:picLocks noChangeAspect="1"/>
          </p:cNvPicPr>
          <p:nvPr/>
        </p:nvPicPr>
        <p:blipFill>
          <a:blip r:embed="rId4" cstate="print"/>
          <a:stretch>
            <a:fillRect/>
          </a:stretch>
        </p:blipFill>
        <p:spPr bwMode="gray">
          <a:xfrm>
            <a:off x="10247434" y="4007413"/>
            <a:ext cx="539063" cy="414000"/>
          </a:xfrm>
          <a:prstGeom prst="rect">
            <a:avLst/>
          </a:prstGeom>
        </p:spPr>
      </p:pic>
      <p:cxnSp>
        <p:nvCxnSpPr>
          <p:cNvPr id="56" name="直接连接符 12">
            <a:extLst>
              <a:ext uri="{FF2B5EF4-FFF2-40B4-BE49-F238E27FC236}">
                <a16:creationId xmlns:a16="http://schemas.microsoft.com/office/drawing/2014/main" id="{98D0CF14-B133-4E48-897D-ADB854213E7F}"/>
              </a:ext>
            </a:extLst>
          </p:cNvPr>
          <p:cNvCxnSpPr>
            <a:cxnSpLocks/>
            <a:stCxn id="42" idx="1"/>
            <a:endCxn id="54" idx="3"/>
          </p:cNvCxnSpPr>
          <p:nvPr/>
        </p:nvCxnSpPr>
        <p:spPr bwMode="gray">
          <a:xfrm flipH="1" flipV="1">
            <a:off x="1904636" y="4205354"/>
            <a:ext cx="998804" cy="760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7" name="直接连接符 12">
            <a:extLst>
              <a:ext uri="{FF2B5EF4-FFF2-40B4-BE49-F238E27FC236}">
                <a16:creationId xmlns:a16="http://schemas.microsoft.com/office/drawing/2014/main" id="{7E93A48C-053F-41D6-B597-7A54C1A60B25}"/>
              </a:ext>
            </a:extLst>
          </p:cNvPr>
          <p:cNvCxnSpPr>
            <a:cxnSpLocks/>
            <a:stCxn id="55" idx="1"/>
            <a:endCxn id="43" idx="3"/>
          </p:cNvCxnSpPr>
          <p:nvPr/>
        </p:nvCxnSpPr>
        <p:spPr bwMode="gray">
          <a:xfrm flipH="1">
            <a:off x="9279439" y="4214413"/>
            <a:ext cx="967995" cy="52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8"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9"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762841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392E4-3F1E-4115-BAE4-4E648BE04E9E}"/>
              </a:ext>
            </a:extLst>
          </p:cNvPr>
          <p:cNvSpPr>
            <a:spLocks noGrp="1"/>
          </p:cNvSpPr>
          <p:nvPr>
            <p:ph type="title"/>
          </p:nvPr>
        </p:nvSpPr>
        <p:spPr bwMode="gray"/>
        <p:txBody>
          <a:bodyPr/>
          <a:lstStyle/>
          <a:p>
            <a:r>
              <a:rPr lang="en-US" dirty="0"/>
              <a:t>NAT</a:t>
            </a:r>
            <a:r>
              <a:rPr lang="zh-CN" altLang="en-US" dirty="0"/>
              <a:t>穿越场景 </a:t>
            </a:r>
            <a:r>
              <a:rPr lang="en-US" altLang="zh-CN" dirty="0"/>
              <a:t>- EDGE</a:t>
            </a:r>
            <a:r>
              <a:rPr lang="zh-CN" altLang="en-US" dirty="0"/>
              <a:t>与控制器连接</a:t>
            </a:r>
            <a:r>
              <a:rPr lang="en-US" altLang="zh-CN" dirty="0"/>
              <a:t> </a:t>
            </a:r>
            <a:endParaRPr lang="en-US" dirty="0"/>
          </a:p>
        </p:txBody>
      </p:sp>
      <p:sp>
        <p:nvSpPr>
          <p:cNvPr id="118" name="Text Placeholder 117">
            <a:extLst>
              <a:ext uri="{FF2B5EF4-FFF2-40B4-BE49-F238E27FC236}">
                <a16:creationId xmlns:a16="http://schemas.microsoft.com/office/drawing/2014/main" id="{82F084BE-68F9-40FA-8E2B-B41888F8981E}"/>
              </a:ext>
            </a:extLst>
          </p:cNvPr>
          <p:cNvSpPr>
            <a:spLocks noGrp="1"/>
          </p:cNvSpPr>
          <p:nvPr>
            <p:ph type="body" sz="quarter" idx="10"/>
          </p:nvPr>
        </p:nvSpPr>
        <p:spPr bwMode="gray">
          <a:xfrm>
            <a:off x="4690005" y="1047750"/>
            <a:ext cx="7059082" cy="4879805"/>
          </a:xfrm>
        </p:spPr>
        <p:txBody>
          <a:bodyPr/>
          <a:lstStyle/>
          <a:p>
            <a:r>
              <a:rPr lang="en-US" sz="1800" dirty="0"/>
              <a:t>EDGE</a:t>
            </a:r>
            <a:r>
              <a:rPr lang="zh-CN" altLang="en-US" sz="1800" dirty="0"/>
              <a:t>向</a:t>
            </a:r>
            <a:r>
              <a:rPr lang="en-US" sz="1800" dirty="0" err="1"/>
              <a:t>iMaster</a:t>
            </a:r>
            <a:r>
              <a:rPr lang="en-US" sz="1800" dirty="0"/>
              <a:t> NCE-WAN/</a:t>
            </a:r>
            <a:r>
              <a:rPr lang="en-US" sz="1800" dirty="0" err="1"/>
              <a:t>iMaster</a:t>
            </a:r>
            <a:r>
              <a:rPr lang="en-US" sz="1800" dirty="0"/>
              <a:t> NCE-Campus</a:t>
            </a:r>
            <a:r>
              <a:rPr lang="zh-CN" altLang="en-US" sz="1800" dirty="0"/>
              <a:t>控制器主动发起注册申请，这就要求</a:t>
            </a:r>
            <a:r>
              <a:rPr lang="en-US" sz="1800" dirty="0" err="1"/>
              <a:t>iMaster</a:t>
            </a:r>
            <a:r>
              <a:rPr lang="en-US" sz="1800" dirty="0"/>
              <a:t> </a:t>
            </a:r>
            <a:r>
              <a:rPr lang="en-US" altLang="zh-CN" sz="1800" dirty="0" err="1"/>
              <a:t>iMaster</a:t>
            </a:r>
            <a:r>
              <a:rPr lang="en-US" altLang="zh-CN" sz="1800" dirty="0"/>
              <a:t> NCE-WAN/</a:t>
            </a:r>
            <a:r>
              <a:rPr lang="en-US" altLang="zh-CN" sz="1800" dirty="0" err="1"/>
              <a:t>iMaster</a:t>
            </a:r>
            <a:r>
              <a:rPr lang="en-US" altLang="zh-CN" sz="1800" dirty="0"/>
              <a:t> NCE-Campus</a:t>
            </a:r>
            <a:r>
              <a:rPr lang="zh-CN" altLang="en-US" sz="1800" dirty="0"/>
              <a:t>控制器的南向地址</a:t>
            </a:r>
            <a:r>
              <a:rPr lang="en-US" altLang="zh-CN" sz="1800" dirty="0"/>
              <a:t>IP</a:t>
            </a:r>
            <a:r>
              <a:rPr lang="zh-CN" altLang="en-US" sz="1800" dirty="0"/>
              <a:t>可达。</a:t>
            </a:r>
            <a:endParaRPr lang="en-US" altLang="zh-CN" sz="1800" dirty="0"/>
          </a:p>
          <a:p>
            <a:r>
              <a:rPr lang="zh-CN" altLang="en-US" sz="1800" dirty="0"/>
              <a:t>部分现网场景中控制器会被放置于</a:t>
            </a:r>
            <a:r>
              <a:rPr lang="en-US" altLang="zh-CN" sz="1800" dirty="0"/>
              <a:t>NAT</a:t>
            </a:r>
            <a:r>
              <a:rPr lang="zh-CN" altLang="en-US" sz="1800" dirty="0"/>
              <a:t>设备之后，因此需要在</a:t>
            </a:r>
            <a:r>
              <a:rPr lang="en-US" altLang="zh-CN" sz="1800" dirty="0"/>
              <a:t>NAT</a:t>
            </a:r>
            <a:r>
              <a:rPr lang="zh-CN" altLang="en-US" sz="1800" dirty="0"/>
              <a:t>设备上部署</a:t>
            </a:r>
            <a:r>
              <a:rPr lang="en-US" altLang="zh-CN" sz="1800" dirty="0"/>
              <a:t>NAT Server</a:t>
            </a:r>
            <a:r>
              <a:rPr lang="zh-CN" altLang="en-US" sz="1800" dirty="0"/>
              <a:t>特性并映射如下端口：</a:t>
            </a:r>
            <a:endParaRPr lang="en-US" altLang="zh-CN" sz="1800" dirty="0"/>
          </a:p>
          <a:p>
            <a:pPr lvl="1"/>
            <a:r>
              <a:rPr lang="en-US" sz="1600" dirty="0"/>
              <a:t>10020</a:t>
            </a:r>
            <a:r>
              <a:rPr lang="zh-CN" altLang="en-US" sz="1600" dirty="0"/>
              <a:t>，南向端口，设备注册到</a:t>
            </a:r>
            <a:r>
              <a:rPr lang="en-US" altLang="zh-CN" sz="1600" dirty="0" err="1"/>
              <a:t>iMaster</a:t>
            </a:r>
            <a:r>
              <a:rPr lang="en-US" altLang="zh-CN" sz="1600" dirty="0"/>
              <a:t> NCE</a:t>
            </a:r>
            <a:r>
              <a:rPr lang="zh-CN" altLang="en-US" sz="1600" dirty="0"/>
              <a:t>使用的端口。</a:t>
            </a:r>
            <a:endParaRPr lang="en-US" altLang="zh-CN" sz="1600" dirty="0"/>
          </a:p>
          <a:p>
            <a:pPr lvl="1"/>
            <a:r>
              <a:rPr lang="en-US" sz="1600" dirty="0"/>
              <a:t>10031</a:t>
            </a:r>
            <a:r>
              <a:rPr lang="zh-CN" altLang="en-US" sz="1600" dirty="0"/>
              <a:t>，南向端口，设备到</a:t>
            </a:r>
            <a:r>
              <a:rPr lang="en-US" altLang="zh-CN" sz="1600" dirty="0" err="1"/>
              <a:t>iMaster</a:t>
            </a:r>
            <a:r>
              <a:rPr lang="en-US" altLang="zh-CN" sz="1600" dirty="0"/>
              <a:t> NCE</a:t>
            </a:r>
            <a:r>
              <a:rPr lang="zh-CN" altLang="en-US" sz="1600" dirty="0"/>
              <a:t>的</a:t>
            </a:r>
            <a:r>
              <a:rPr lang="en-US" altLang="zh-CN" sz="1600" dirty="0"/>
              <a:t>HTTP</a:t>
            </a:r>
            <a:r>
              <a:rPr lang="zh-CN" altLang="en-US" sz="1600" dirty="0"/>
              <a:t>端口。</a:t>
            </a:r>
            <a:endParaRPr lang="en-US" altLang="zh-CN" sz="1600" dirty="0"/>
          </a:p>
          <a:p>
            <a:pPr lvl="1"/>
            <a:r>
              <a:rPr lang="en-US" sz="1600" dirty="0"/>
              <a:t>18008</a:t>
            </a:r>
            <a:r>
              <a:rPr lang="zh-CN" altLang="en-US" sz="1600" dirty="0"/>
              <a:t>，北向端口，</a:t>
            </a:r>
            <a:r>
              <a:rPr lang="en-US" altLang="zh-CN" sz="1600" dirty="0"/>
              <a:t>Web</a:t>
            </a:r>
            <a:r>
              <a:rPr lang="zh-CN" altLang="en-US" sz="1600" dirty="0"/>
              <a:t>登录使用的端口。</a:t>
            </a:r>
            <a:endParaRPr lang="en-US" altLang="zh-CN" sz="1600" dirty="0"/>
          </a:p>
          <a:p>
            <a:pPr lvl="1"/>
            <a:r>
              <a:rPr lang="en-US" sz="1600" dirty="0"/>
              <a:t>80</a:t>
            </a:r>
            <a:r>
              <a:rPr lang="zh-CN" altLang="en-US" sz="1600" dirty="0"/>
              <a:t>，北向端口，</a:t>
            </a:r>
            <a:r>
              <a:rPr lang="en-US" altLang="zh-CN" sz="1600" dirty="0"/>
              <a:t>Web</a:t>
            </a:r>
            <a:r>
              <a:rPr lang="zh-CN" altLang="en-US" sz="1600" dirty="0"/>
              <a:t>登录使用的端口。</a:t>
            </a:r>
            <a:endParaRPr lang="en-US" altLang="zh-CN" sz="1600" dirty="0"/>
          </a:p>
          <a:p>
            <a:pPr lvl="1"/>
            <a:r>
              <a:rPr lang="en-US" altLang="zh-CN" sz="1600" dirty="0"/>
              <a:t>18018</a:t>
            </a:r>
            <a:r>
              <a:rPr lang="zh-CN" altLang="en-US" sz="1600" dirty="0"/>
              <a:t>，北向端口，终端</a:t>
            </a:r>
            <a:r>
              <a:rPr lang="en-US" altLang="zh-CN" sz="1600" dirty="0"/>
              <a:t>PC</a:t>
            </a:r>
            <a:r>
              <a:rPr lang="zh-CN" altLang="en-US" sz="1600" dirty="0"/>
              <a:t>上传文件到</a:t>
            </a:r>
            <a:r>
              <a:rPr lang="en-US" altLang="zh-CN" sz="1600" dirty="0" err="1"/>
              <a:t>iMaster</a:t>
            </a:r>
            <a:r>
              <a:rPr lang="en-US" altLang="zh-CN" sz="1600" dirty="0"/>
              <a:t> NCE</a:t>
            </a:r>
            <a:r>
              <a:rPr lang="zh-CN" altLang="en-US" sz="1600" dirty="0"/>
              <a:t>使用的端口。</a:t>
            </a:r>
            <a:endParaRPr lang="en-US" altLang="zh-CN" sz="1600" dirty="0"/>
          </a:p>
          <a:p>
            <a:pPr lvl="1"/>
            <a:r>
              <a:rPr lang="en-US" sz="1600" dirty="0"/>
              <a:t>18021</a:t>
            </a:r>
            <a:r>
              <a:rPr lang="zh-CN" altLang="en-US" sz="1600" dirty="0"/>
              <a:t>，文件服务器端口，</a:t>
            </a:r>
            <a:r>
              <a:rPr lang="en-US" altLang="zh-CN" sz="1600" dirty="0" err="1"/>
              <a:t>iMaster</a:t>
            </a:r>
            <a:r>
              <a:rPr lang="en-US" altLang="zh-CN" sz="1600" dirty="0"/>
              <a:t> NCE</a:t>
            </a:r>
            <a:r>
              <a:rPr lang="zh-CN" altLang="en-US" sz="1600" dirty="0"/>
              <a:t>文件更新用到的端口。</a:t>
            </a:r>
            <a:endParaRPr lang="en-US" altLang="zh-CN" sz="1600" dirty="0"/>
          </a:p>
          <a:p>
            <a:r>
              <a:rPr lang="zh-CN" altLang="en-US" sz="1800" dirty="0"/>
              <a:t>由于可以部署</a:t>
            </a:r>
            <a:r>
              <a:rPr lang="en-US" altLang="zh-CN" sz="1800" dirty="0"/>
              <a:t>NAT Server</a:t>
            </a:r>
            <a:r>
              <a:rPr lang="zh-CN" altLang="en-US" sz="1800" dirty="0"/>
              <a:t>特性，所以可以认为没有</a:t>
            </a:r>
            <a:r>
              <a:rPr lang="en-US" altLang="zh-CN" sz="1800" dirty="0"/>
              <a:t>NAT</a:t>
            </a:r>
            <a:r>
              <a:rPr lang="zh-CN" altLang="en-US" sz="1800" dirty="0"/>
              <a:t>穿越问题。</a:t>
            </a:r>
            <a:endParaRPr lang="en-US" altLang="zh-CN" sz="1800" dirty="0"/>
          </a:p>
        </p:txBody>
      </p:sp>
      <p:grpSp>
        <p:nvGrpSpPr>
          <p:cNvPr id="121" name="Group 120">
            <a:extLst>
              <a:ext uri="{FF2B5EF4-FFF2-40B4-BE49-F238E27FC236}">
                <a16:creationId xmlns:a16="http://schemas.microsoft.com/office/drawing/2014/main" id="{D53AC3F9-3E25-4E0E-B5F7-A82B63D735F2}"/>
              </a:ext>
            </a:extLst>
          </p:cNvPr>
          <p:cNvGrpSpPr/>
          <p:nvPr/>
        </p:nvGrpSpPr>
        <p:grpSpPr bwMode="gray">
          <a:xfrm>
            <a:off x="968225" y="1547400"/>
            <a:ext cx="3675857" cy="3974231"/>
            <a:chOff x="968225" y="1547400"/>
            <a:chExt cx="3675857" cy="3974231"/>
          </a:xfrm>
        </p:grpSpPr>
        <p:sp>
          <p:nvSpPr>
            <p:cNvPr id="94" name="Freeform 159">
              <a:extLst>
                <a:ext uri="{FF2B5EF4-FFF2-40B4-BE49-F238E27FC236}">
                  <a16:creationId xmlns:a16="http://schemas.microsoft.com/office/drawing/2014/main" id="{3C848390-87D4-4111-A248-D32ACC96664B}"/>
                </a:ext>
              </a:extLst>
            </p:cNvPr>
            <p:cNvSpPr/>
            <p:nvPr/>
          </p:nvSpPr>
          <p:spPr bwMode="gray">
            <a:xfrm flipH="1">
              <a:off x="3229549" y="4906631"/>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分支</a:t>
              </a:r>
              <a:endParaRPr lang="en-US" sz="1600" dirty="0">
                <a:solidFill>
                  <a:schemeClr val="tx1"/>
                </a:solidFill>
              </a:endParaRPr>
            </a:p>
          </p:txBody>
        </p:sp>
        <p:sp>
          <p:nvSpPr>
            <p:cNvPr id="93" name="Freeform 159">
              <a:extLst>
                <a:ext uri="{FF2B5EF4-FFF2-40B4-BE49-F238E27FC236}">
                  <a16:creationId xmlns:a16="http://schemas.microsoft.com/office/drawing/2014/main" id="{6FB95DDC-8EEF-4C9B-A255-8F85B9F1B1CD}"/>
                </a:ext>
              </a:extLst>
            </p:cNvPr>
            <p:cNvSpPr/>
            <p:nvPr/>
          </p:nvSpPr>
          <p:spPr bwMode="gray">
            <a:xfrm flipH="1">
              <a:off x="1208795" y="4906631"/>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分支</a:t>
              </a:r>
              <a:endParaRPr lang="en-US" sz="1600" dirty="0">
                <a:solidFill>
                  <a:schemeClr val="tx1"/>
                </a:solidFill>
              </a:endParaRPr>
            </a:p>
          </p:txBody>
        </p:sp>
        <p:sp>
          <p:nvSpPr>
            <p:cNvPr id="83" name="Freeform 159">
              <a:extLst>
                <a:ext uri="{FF2B5EF4-FFF2-40B4-BE49-F238E27FC236}">
                  <a16:creationId xmlns:a16="http://schemas.microsoft.com/office/drawing/2014/main" id="{8FAD36D2-2D04-4A82-959B-C0FF3884F88C}"/>
                </a:ext>
              </a:extLst>
            </p:cNvPr>
            <p:cNvSpPr/>
            <p:nvPr/>
          </p:nvSpPr>
          <p:spPr bwMode="gray">
            <a:xfrm flipH="1">
              <a:off x="1807226" y="2999125"/>
              <a:ext cx="1910257" cy="103358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Internet</a:t>
              </a:r>
              <a:endParaRPr lang="en-US" dirty="0">
                <a:solidFill>
                  <a:schemeClr val="tx1"/>
                </a:solidFill>
              </a:endParaRPr>
            </a:p>
          </p:txBody>
        </p:sp>
        <p:pic>
          <p:nvPicPr>
            <p:cNvPr id="61" name="图片 16">
              <a:extLst>
                <a:ext uri="{FF2B5EF4-FFF2-40B4-BE49-F238E27FC236}">
                  <a16:creationId xmlns:a16="http://schemas.microsoft.com/office/drawing/2014/main" id="{AB865E5B-02EB-4395-BFF4-A04E8D01636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554934" y="4661399"/>
              <a:ext cx="458866" cy="378564"/>
            </a:xfrm>
            <a:prstGeom prst="rect">
              <a:avLst/>
            </a:prstGeom>
          </p:spPr>
        </p:pic>
        <p:pic>
          <p:nvPicPr>
            <p:cNvPr id="62" name="图片 17">
              <a:extLst>
                <a:ext uri="{FF2B5EF4-FFF2-40B4-BE49-F238E27FC236}">
                  <a16:creationId xmlns:a16="http://schemas.microsoft.com/office/drawing/2014/main" id="{20922173-AFD9-4994-9836-76036FB986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579442" y="4661399"/>
              <a:ext cx="458866" cy="378564"/>
            </a:xfrm>
            <a:prstGeom prst="rect">
              <a:avLst/>
            </a:prstGeom>
          </p:spPr>
        </p:pic>
        <p:pic>
          <p:nvPicPr>
            <p:cNvPr id="65" name="图片 20">
              <a:extLst>
                <a:ext uri="{FF2B5EF4-FFF2-40B4-BE49-F238E27FC236}">
                  <a16:creationId xmlns:a16="http://schemas.microsoft.com/office/drawing/2014/main" id="{C9D89AFF-5161-4126-A1D2-9A2D308010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930530" y="3907907"/>
              <a:ext cx="467490" cy="382800"/>
            </a:xfrm>
            <a:prstGeom prst="rect">
              <a:avLst/>
            </a:prstGeom>
          </p:spPr>
        </p:pic>
        <p:pic>
          <p:nvPicPr>
            <p:cNvPr id="66" name="图片 21">
              <a:extLst>
                <a:ext uri="{FF2B5EF4-FFF2-40B4-BE49-F238E27FC236}">
                  <a16:creationId xmlns:a16="http://schemas.microsoft.com/office/drawing/2014/main" id="{9EBD31BB-D97C-4E6C-87DD-AD4524D6660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242995" y="3907907"/>
              <a:ext cx="467490" cy="382800"/>
            </a:xfrm>
            <a:prstGeom prst="rect">
              <a:avLst/>
            </a:prstGeom>
          </p:spPr>
        </p:pic>
        <p:sp>
          <p:nvSpPr>
            <p:cNvPr id="69" name="文本框 24">
              <a:extLst>
                <a:ext uri="{FF2B5EF4-FFF2-40B4-BE49-F238E27FC236}">
                  <a16:creationId xmlns:a16="http://schemas.microsoft.com/office/drawing/2014/main" id="{01CA2CE5-5DFE-46A0-9B75-8839273698B5}"/>
                </a:ext>
              </a:extLst>
            </p:cNvPr>
            <p:cNvSpPr txBox="1"/>
            <p:nvPr/>
          </p:nvSpPr>
          <p:spPr bwMode="gray">
            <a:xfrm>
              <a:off x="968225" y="4696696"/>
              <a:ext cx="638298"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70" name="文本框 25">
              <a:extLst>
                <a:ext uri="{FF2B5EF4-FFF2-40B4-BE49-F238E27FC236}">
                  <a16:creationId xmlns:a16="http://schemas.microsoft.com/office/drawing/2014/main" id="{01769F73-1BD6-45B9-9DAC-B662C60AD487}"/>
                </a:ext>
              </a:extLst>
            </p:cNvPr>
            <p:cNvSpPr txBox="1"/>
            <p:nvPr/>
          </p:nvSpPr>
          <p:spPr bwMode="gray">
            <a:xfrm>
              <a:off x="3970371" y="4696695"/>
              <a:ext cx="673711"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73" name="文本框 28">
              <a:extLst>
                <a:ext uri="{FF2B5EF4-FFF2-40B4-BE49-F238E27FC236}">
                  <a16:creationId xmlns:a16="http://schemas.microsoft.com/office/drawing/2014/main" id="{D67CCF96-D91D-4A0C-803F-7EB824B45ECB}"/>
                </a:ext>
              </a:extLst>
            </p:cNvPr>
            <p:cNvSpPr txBox="1"/>
            <p:nvPr/>
          </p:nvSpPr>
          <p:spPr bwMode="gray">
            <a:xfrm>
              <a:off x="1026755" y="3925347"/>
              <a:ext cx="903775" cy="307777"/>
            </a:xfrm>
            <a:prstGeom prst="rect">
              <a:avLst/>
            </a:prstGeom>
            <a:noFill/>
          </p:spPr>
          <p:txBody>
            <a:bodyPr wrap="square" rtlCol="0">
              <a:spAutoFit/>
            </a:bodyPr>
            <a:lstStyle/>
            <a:p>
              <a:r>
                <a:rPr lang="en-US" sz="1400" dirty="0">
                  <a:solidFill>
                    <a:srgbClr val="000000"/>
                  </a:solidFill>
                </a:rPr>
                <a:t>NAT</a:t>
              </a:r>
              <a:r>
                <a:rPr lang="zh-CN" altLang="en-US" sz="1400" dirty="0">
                  <a:solidFill>
                    <a:srgbClr val="000000"/>
                  </a:solidFill>
                </a:rPr>
                <a:t>设备</a:t>
              </a:r>
              <a:endParaRPr lang="en-US" altLang="zh-CN" sz="1400" dirty="0">
                <a:solidFill>
                  <a:srgbClr val="000000"/>
                </a:solidFill>
              </a:endParaRPr>
            </a:p>
          </p:txBody>
        </p:sp>
        <p:sp>
          <p:nvSpPr>
            <p:cNvPr id="84" name="文本框 28">
              <a:extLst>
                <a:ext uri="{FF2B5EF4-FFF2-40B4-BE49-F238E27FC236}">
                  <a16:creationId xmlns:a16="http://schemas.microsoft.com/office/drawing/2014/main" id="{5CF64C01-88F2-4198-B9A6-C185EE3D3C8C}"/>
                </a:ext>
              </a:extLst>
            </p:cNvPr>
            <p:cNvSpPr txBox="1"/>
            <p:nvPr/>
          </p:nvSpPr>
          <p:spPr bwMode="gray">
            <a:xfrm>
              <a:off x="3664446" y="3945418"/>
              <a:ext cx="903775" cy="307777"/>
            </a:xfrm>
            <a:prstGeom prst="rect">
              <a:avLst/>
            </a:prstGeom>
            <a:noFill/>
          </p:spPr>
          <p:txBody>
            <a:bodyPr wrap="square" rtlCol="0">
              <a:spAutoFit/>
            </a:bodyPr>
            <a:lstStyle/>
            <a:p>
              <a:r>
                <a:rPr lang="en-US" sz="1400" dirty="0">
                  <a:solidFill>
                    <a:srgbClr val="000000"/>
                  </a:solidFill>
                </a:rPr>
                <a:t>NAT</a:t>
              </a:r>
              <a:r>
                <a:rPr lang="zh-CN" altLang="en-US" sz="1400" dirty="0">
                  <a:solidFill>
                    <a:srgbClr val="000000"/>
                  </a:solidFill>
                </a:rPr>
                <a:t>设备</a:t>
              </a:r>
              <a:endParaRPr lang="en-US" altLang="zh-CN" sz="1400" dirty="0">
                <a:solidFill>
                  <a:srgbClr val="000000"/>
                </a:solidFill>
              </a:endParaRPr>
            </a:p>
          </p:txBody>
        </p:sp>
        <p:sp>
          <p:nvSpPr>
            <p:cNvPr id="95" name="Freeform 159">
              <a:extLst>
                <a:ext uri="{FF2B5EF4-FFF2-40B4-BE49-F238E27FC236}">
                  <a16:creationId xmlns:a16="http://schemas.microsoft.com/office/drawing/2014/main" id="{82DA77D6-87AB-4FAE-A421-DCD5292FD1B6}"/>
                </a:ext>
              </a:extLst>
            </p:cNvPr>
            <p:cNvSpPr/>
            <p:nvPr/>
          </p:nvSpPr>
          <p:spPr bwMode="gray">
            <a:xfrm flipH="1">
              <a:off x="2173607" y="1547400"/>
              <a:ext cx="1434023" cy="77590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endParaRPr>
            </a:p>
          </p:txBody>
        </p:sp>
        <p:pic>
          <p:nvPicPr>
            <p:cNvPr id="85" name="图片 24">
              <a:extLst>
                <a:ext uri="{FF2B5EF4-FFF2-40B4-BE49-F238E27FC236}">
                  <a16:creationId xmlns:a16="http://schemas.microsoft.com/office/drawing/2014/main" id="{DB899287-5903-40C0-B006-9B5626D5EB5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525983" y="1734931"/>
              <a:ext cx="1434023" cy="264472"/>
            </a:xfrm>
            <a:prstGeom prst="rect">
              <a:avLst/>
            </a:prstGeom>
          </p:spPr>
        </p:pic>
        <p:cxnSp>
          <p:nvCxnSpPr>
            <p:cNvPr id="99" name="直接连接符 106">
              <a:extLst>
                <a:ext uri="{FF2B5EF4-FFF2-40B4-BE49-F238E27FC236}">
                  <a16:creationId xmlns:a16="http://schemas.microsoft.com/office/drawing/2014/main" id="{E3B21721-8A34-440B-9833-0C7A5E552F53}"/>
                </a:ext>
              </a:extLst>
            </p:cNvPr>
            <p:cNvCxnSpPr>
              <a:cxnSpLocks/>
              <a:stCxn id="65" idx="2"/>
              <a:endCxn id="61" idx="0"/>
            </p:cNvCxnSpPr>
            <p:nvPr/>
          </p:nvCxnSpPr>
          <p:spPr bwMode="gray">
            <a:xfrm flipH="1">
              <a:off x="1784367" y="4290707"/>
              <a:ext cx="379908" cy="36857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直接连接符 106">
              <a:extLst>
                <a:ext uri="{FF2B5EF4-FFF2-40B4-BE49-F238E27FC236}">
                  <a16:creationId xmlns:a16="http://schemas.microsoft.com/office/drawing/2014/main" id="{25388BBF-1D04-410B-8AAC-4DD3C22F5C2E}"/>
                </a:ext>
              </a:extLst>
            </p:cNvPr>
            <p:cNvCxnSpPr>
              <a:cxnSpLocks/>
              <a:stCxn id="62" idx="0"/>
              <a:endCxn id="66" idx="2"/>
            </p:cNvCxnSpPr>
            <p:nvPr/>
          </p:nvCxnSpPr>
          <p:spPr bwMode="gray">
            <a:xfrm flipH="1" flipV="1">
              <a:off x="3476740" y="4290707"/>
              <a:ext cx="332135" cy="36857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2" name="图片 20">
              <a:extLst>
                <a:ext uri="{FF2B5EF4-FFF2-40B4-BE49-F238E27FC236}">
                  <a16:creationId xmlns:a16="http://schemas.microsoft.com/office/drawing/2014/main" id="{61D8E37E-E2CF-4AE0-8726-2D3C52FFBE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2656873" y="2121264"/>
              <a:ext cx="467490" cy="382800"/>
            </a:xfrm>
            <a:prstGeom prst="rect">
              <a:avLst/>
            </a:prstGeom>
          </p:spPr>
        </p:pic>
        <p:cxnSp>
          <p:nvCxnSpPr>
            <p:cNvPr id="113" name="直接连接符 106">
              <a:extLst>
                <a:ext uri="{FF2B5EF4-FFF2-40B4-BE49-F238E27FC236}">
                  <a16:creationId xmlns:a16="http://schemas.microsoft.com/office/drawing/2014/main" id="{41BA9033-58DA-4E52-8A67-8B7243FFF273}"/>
                </a:ext>
              </a:extLst>
            </p:cNvPr>
            <p:cNvCxnSpPr>
              <a:cxnSpLocks/>
              <a:stCxn id="112" idx="2"/>
              <a:endCxn id="83" idx="1"/>
            </p:cNvCxnSpPr>
            <p:nvPr/>
          </p:nvCxnSpPr>
          <p:spPr bwMode="gray">
            <a:xfrm>
              <a:off x="2890618" y="2504064"/>
              <a:ext cx="0" cy="639695"/>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文本框 28">
              <a:extLst>
                <a:ext uri="{FF2B5EF4-FFF2-40B4-BE49-F238E27FC236}">
                  <a16:creationId xmlns:a16="http://schemas.microsoft.com/office/drawing/2014/main" id="{D83C77C6-1B85-4F8E-BAC1-716CBD56F349}"/>
                </a:ext>
              </a:extLst>
            </p:cNvPr>
            <p:cNvSpPr txBox="1"/>
            <p:nvPr/>
          </p:nvSpPr>
          <p:spPr bwMode="gray">
            <a:xfrm>
              <a:off x="3070236" y="2269626"/>
              <a:ext cx="903775" cy="307777"/>
            </a:xfrm>
            <a:prstGeom prst="rect">
              <a:avLst/>
            </a:prstGeom>
            <a:noFill/>
          </p:spPr>
          <p:txBody>
            <a:bodyPr wrap="square" rtlCol="0">
              <a:spAutoFit/>
            </a:bodyPr>
            <a:lstStyle/>
            <a:p>
              <a:r>
                <a:rPr lang="en-US" sz="1400" dirty="0">
                  <a:solidFill>
                    <a:srgbClr val="000000"/>
                  </a:solidFill>
                </a:rPr>
                <a:t>NAT</a:t>
              </a:r>
              <a:r>
                <a:rPr lang="zh-CN" altLang="en-US" sz="1400" dirty="0">
                  <a:solidFill>
                    <a:srgbClr val="000000"/>
                  </a:solidFill>
                </a:rPr>
                <a:t>设备</a:t>
              </a:r>
              <a:endParaRPr lang="en-US" altLang="zh-CN" sz="1400" dirty="0">
                <a:solidFill>
                  <a:srgbClr val="000000"/>
                </a:solidFill>
              </a:endParaRPr>
            </a:p>
          </p:txBody>
        </p:sp>
        <p:sp>
          <p:nvSpPr>
            <p:cNvPr id="119" name="Oval 41">
              <a:extLst>
                <a:ext uri="{FF2B5EF4-FFF2-40B4-BE49-F238E27FC236}">
                  <a16:creationId xmlns:a16="http://schemas.microsoft.com/office/drawing/2014/main" id="{3753D5DD-E5F2-47ED-B82D-621BDD3FAF63}"/>
                </a:ext>
              </a:extLst>
            </p:cNvPr>
            <p:cNvSpPr>
              <a:spLocks noChangeAspect="1"/>
            </p:cNvSpPr>
            <p:nvPr/>
          </p:nvSpPr>
          <p:spPr bwMode="gray">
            <a:xfrm>
              <a:off x="2810987" y="242112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120" name="Rectangular Callout 75">
              <a:extLst>
                <a:ext uri="{FF2B5EF4-FFF2-40B4-BE49-F238E27FC236}">
                  <a16:creationId xmlns:a16="http://schemas.microsoft.com/office/drawing/2014/main" id="{84D63907-C074-49BA-9928-B54FB36024A2}"/>
                </a:ext>
              </a:extLst>
            </p:cNvPr>
            <p:cNvSpPr/>
            <p:nvPr/>
          </p:nvSpPr>
          <p:spPr bwMode="gray">
            <a:xfrm>
              <a:off x="1104775" y="2367977"/>
              <a:ext cx="1434023" cy="432436"/>
            </a:xfrm>
            <a:prstGeom prst="wedgeRectCallout">
              <a:avLst>
                <a:gd name="adj1" fmla="val 65993"/>
                <a:gd name="adj2" fmla="val -2355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配置公网</a:t>
              </a:r>
              <a:r>
                <a:rPr lang="en-US" altLang="zh-CN" sz="1400" dirty="0">
                  <a:solidFill>
                    <a:schemeClr val="tx1"/>
                  </a:solidFill>
                  <a:latin typeface="Huawei Sans" panose="020C0503030203020204" pitchFamily="34" charset="0"/>
                  <a:ea typeface="方正兰亭黑简体" panose="02000000000000000000" pitchFamily="2" charset="-122"/>
                </a:rPr>
                <a:t>IP</a:t>
              </a:r>
              <a:r>
                <a:rPr lang="zh-CN" altLang="en-US" sz="1400" dirty="0">
                  <a:solidFill>
                    <a:schemeClr val="tx1"/>
                  </a:solidFill>
                  <a:latin typeface="Huawei Sans" panose="020C0503030203020204" pitchFamily="34" charset="0"/>
                  <a:ea typeface="方正兰亭黑简体" panose="02000000000000000000" pitchFamily="2" charset="-122"/>
                </a:rPr>
                <a:t>，部署</a:t>
              </a:r>
              <a:r>
                <a:rPr lang="en-US" altLang="zh-CN" sz="1400" dirty="0">
                  <a:solidFill>
                    <a:schemeClr val="tx1"/>
                  </a:solidFill>
                  <a:latin typeface="Huawei Sans" panose="020C0503030203020204" pitchFamily="34" charset="0"/>
                  <a:ea typeface="方正兰亭黑简体" panose="02000000000000000000" pitchFamily="2" charset="-122"/>
                </a:rPr>
                <a:t>NAT Server</a:t>
              </a:r>
              <a:endParaRPr lang="zh-CN" altLang="en-US" sz="1400" dirty="0">
                <a:solidFill>
                  <a:schemeClr val="tx1"/>
                </a:solidFill>
                <a:latin typeface="Huawei Sans" panose="020C0503030203020204" pitchFamily="34" charset="0"/>
                <a:ea typeface="方正兰亭黑简体" panose="02000000000000000000" pitchFamily="2" charset="-122"/>
              </a:endParaRPr>
            </a:p>
          </p:txBody>
        </p:sp>
      </p:grpSp>
      <p:sp>
        <p:nvSpPr>
          <p:cNvPr id="122" name="Freeform: Shape 121">
            <a:extLst>
              <a:ext uri="{FF2B5EF4-FFF2-40B4-BE49-F238E27FC236}">
                <a16:creationId xmlns:a16="http://schemas.microsoft.com/office/drawing/2014/main" id="{16DBD8D5-C3AB-435A-962E-B30AB0577BB7}"/>
              </a:ext>
            </a:extLst>
          </p:cNvPr>
          <p:cNvSpPr/>
          <p:nvPr/>
        </p:nvSpPr>
        <p:spPr bwMode="gray">
          <a:xfrm>
            <a:off x="1902495" y="1951370"/>
            <a:ext cx="1125912" cy="2679120"/>
          </a:xfrm>
          <a:custGeom>
            <a:avLst/>
            <a:gdLst>
              <a:gd name="connsiteX0" fmla="*/ 0 w 1125912"/>
              <a:gd name="connsiteY0" fmla="*/ 2596055 h 2596055"/>
              <a:gd name="connsiteX1" fmla="*/ 966952 w 1125912"/>
              <a:gd name="connsiteY1" fmla="*/ 1524000 h 2596055"/>
              <a:gd name="connsiteX2" fmla="*/ 1114096 w 1125912"/>
              <a:gd name="connsiteY2" fmla="*/ 0 h 2596055"/>
            </a:gdLst>
            <a:ahLst/>
            <a:cxnLst>
              <a:cxn ang="0">
                <a:pos x="connsiteX0" y="connsiteY0"/>
              </a:cxn>
              <a:cxn ang="0">
                <a:pos x="connsiteX1" y="connsiteY1"/>
              </a:cxn>
              <a:cxn ang="0">
                <a:pos x="connsiteX2" y="connsiteY2"/>
              </a:cxn>
            </a:cxnLst>
            <a:rect l="l" t="t" r="r" b="b"/>
            <a:pathLst>
              <a:path w="1125912" h="2596055">
                <a:moveTo>
                  <a:pt x="0" y="2596055"/>
                </a:moveTo>
                <a:cubicBezTo>
                  <a:pt x="390634" y="2276365"/>
                  <a:pt x="781269" y="1956676"/>
                  <a:pt x="966952" y="1524000"/>
                </a:cubicBezTo>
                <a:cubicBezTo>
                  <a:pt x="1152635" y="1091324"/>
                  <a:pt x="1133365" y="545662"/>
                  <a:pt x="1114096"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32"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486964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392E4-3F1E-4115-BAE4-4E648BE04E9E}"/>
              </a:ext>
            </a:extLst>
          </p:cNvPr>
          <p:cNvSpPr>
            <a:spLocks noGrp="1"/>
          </p:cNvSpPr>
          <p:nvPr>
            <p:ph type="title"/>
          </p:nvPr>
        </p:nvSpPr>
        <p:spPr bwMode="gray"/>
        <p:txBody>
          <a:bodyPr/>
          <a:lstStyle/>
          <a:p>
            <a:r>
              <a:rPr lang="en-US" dirty="0"/>
              <a:t>NAT</a:t>
            </a:r>
            <a:r>
              <a:rPr lang="zh-CN" altLang="en-US" dirty="0"/>
              <a:t>穿越场景 </a:t>
            </a:r>
            <a:r>
              <a:rPr lang="en-US" altLang="zh-CN" dirty="0"/>
              <a:t>- EDGE</a:t>
            </a:r>
            <a:r>
              <a:rPr lang="zh-CN" altLang="en-US" dirty="0"/>
              <a:t>与</a:t>
            </a:r>
            <a:r>
              <a:rPr lang="en-US" altLang="zh-CN" dirty="0"/>
              <a:t>RR</a:t>
            </a:r>
            <a:r>
              <a:rPr lang="zh-CN" altLang="en-US" dirty="0"/>
              <a:t>连接</a:t>
            </a:r>
            <a:r>
              <a:rPr lang="en-US" altLang="zh-CN" dirty="0"/>
              <a:t> </a:t>
            </a:r>
            <a:endParaRPr lang="en-US" dirty="0"/>
          </a:p>
        </p:txBody>
      </p:sp>
      <p:sp>
        <p:nvSpPr>
          <p:cNvPr id="10" name="Text Placeholder 9">
            <a:extLst>
              <a:ext uri="{FF2B5EF4-FFF2-40B4-BE49-F238E27FC236}">
                <a16:creationId xmlns:a16="http://schemas.microsoft.com/office/drawing/2014/main" id="{8B89ADBA-C238-427E-AC71-10D19FA55356}"/>
              </a:ext>
            </a:extLst>
          </p:cNvPr>
          <p:cNvSpPr>
            <a:spLocks noGrp="1"/>
          </p:cNvSpPr>
          <p:nvPr>
            <p:ph type="body" sz="quarter" idx="10"/>
          </p:nvPr>
        </p:nvSpPr>
        <p:spPr bwMode="gray">
          <a:xfrm>
            <a:off x="6186587" y="1047750"/>
            <a:ext cx="5562500" cy="4879805"/>
          </a:xfrm>
        </p:spPr>
        <p:txBody>
          <a:bodyPr/>
          <a:lstStyle/>
          <a:p>
            <a:endParaRPr lang="en-US" altLang="zh-CN" sz="2000" dirty="0"/>
          </a:p>
          <a:p>
            <a:endParaRPr lang="en-US" altLang="zh-CN" sz="2000" dirty="0"/>
          </a:p>
          <a:p>
            <a:endParaRPr lang="en-US" altLang="zh-CN" sz="2000" dirty="0"/>
          </a:p>
          <a:p>
            <a:r>
              <a:rPr lang="en-US" altLang="zh-CN" sz="2000" dirty="0"/>
              <a:t>RR</a:t>
            </a:r>
            <a:r>
              <a:rPr lang="zh-CN" altLang="en-US" sz="2000" dirty="0"/>
              <a:t>在部署时，要求必须有公网</a:t>
            </a:r>
            <a:r>
              <a:rPr lang="en-US" altLang="zh-CN" sz="2000" dirty="0"/>
              <a:t>IP</a:t>
            </a:r>
            <a:r>
              <a:rPr lang="zh-CN" altLang="en-US" sz="2000" dirty="0"/>
              <a:t>地址或者是</a:t>
            </a:r>
            <a:r>
              <a:rPr lang="en-US" altLang="zh-CN" sz="2000" dirty="0"/>
              <a:t>1:1</a:t>
            </a:r>
            <a:r>
              <a:rPr lang="zh-CN" altLang="en-US" sz="2000" dirty="0"/>
              <a:t>的静态</a:t>
            </a:r>
            <a:r>
              <a:rPr lang="en-US" altLang="zh-CN" sz="2000" dirty="0"/>
              <a:t>NAT</a:t>
            </a:r>
            <a:r>
              <a:rPr lang="zh-CN" altLang="en-US" sz="2000" dirty="0"/>
              <a:t>地址。因此</a:t>
            </a:r>
            <a:r>
              <a:rPr lang="en-US" altLang="zh-CN" sz="2000" dirty="0"/>
              <a:t>EDGE</a:t>
            </a:r>
            <a:r>
              <a:rPr lang="zh-CN" altLang="en-US" sz="2000" dirty="0"/>
              <a:t>与</a:t>
            </a:r>
            <a:r>
              <a:rPr lang="en-US" altLang="zh-CN" sz="2000" dirty="0"/>
              <a:t>RR</a:t>
            </a:r>
            <a:r>
              <a:rPr lang="zh-CN" altLang="en-US" sz="2000" dirty="0"/>
              <a:t>之间的通信可以认为没有</a:t>
            </a:r>
            <a:r>
              <a:rPr lang="en-US" altLang="zh-CN" sz="2000" dirty="0"/>
              <a:t>NAT</a:t>
            </a:r>
            <a:r>
              <a:rPr lang="zh-CN" altLang="en-US" sz="2000" dirty="0"/>
              <a:t>穿越的问题。</a:t>
            </a:r>
            <a:endParaRPr lang="en-US" altLang="zh-CN" sz="2000" dirty="0"/>
          </a:p>
        </p:txBody>
      </p:sp>
      <p:sp>
        <p:nvSpPr>
          <p:cNvPr id="33" name="Freeform 159">
            <a:extLst>
              <a:ext uri="{FF2B5EF4-FFF2-40B4-BE49-F238E27FC236}">
                <a16:creationId xmlns:a16="http://schemas.microsoft.com/office/drawing/2014/main" id="{211BE68F-A19E-43FE-9723-345C2B3B11EB}"/>
              </a:ext>
            </a:extLst>
          </p:cNvPr>
          <p:cNvSpPr/>
          <p:nvPr/>
        </p:nvSpPr>
        <p:spPr bwMode="gray">
          <a:xfrm flipH="1">
            <a:off x="3634782" y="5015355"/>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分支</a:t>
            </a:r>
            <a:endParaRPr lang="en-US" sz="1600" dirty="0">
              <a:solidFill>
                <a:schemeClr val="tx1"/>
              </a:solidFill>
            </a:endParaRPr>
          </a:p>
        </p:txBody>
      </p:sp>
      <p:sp>
        <p:nvSpPr>
          <p:cNvPr id="34" name="Freeform 159">
            <a:extLst>
              <a:ext uri="{FF2B5EF4-FFF2-40B4-BE49-F238E27FC236}">
                <a16:creationId xmlns:a16="http://schemas.microsoft.com/office/drawing/2014/main" id="{DAD810CB-2E13-48AB-9FAB-9DD1AB89C2BB}"/>
              </a:ext>
            </a:extLst>
          </p:cNvPr>
          <p:cNvSpPr/>
          <p:nvPr/>
        </p:nvSpPr>
        <p:spPr bwMode="gray">
          <a:xfrm flipH="1">
            <a:off x="1614028" y="5015355"/>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分支</a:t>
            </a:r>
            <a:endParaRPr lang="en-US" sz="1600" dirty="0">
              <a:solidFill>
                <a:schemeClr val="tx1"/>
              </a:solidFill>
            </a:endParaRPr>
          </a:p>
        </p:txBody>
      </p:sp>
      <p:sp>
        <p:nvSpPr>
          <p:cNvPr id="35" name="Freeform 159">
            <a:extLst>
              <a:ext uri="{FF2B5EF4-FFF2-40B4-BE49-F238E27FC236}">
                <a16:creationId xmlns:a16="http://schemas.microsoft.com/office/drawing/2014/main" id="{443DFA89-F53E-40C0-BFCB-692B51E0D42E}"/>
              </a:ext>
            </a:extLst>
          </p:cNvPr>
          <p:cNvSpPr/>
          <p:nvPr/>
        </p:nvSpPr>
        <p:spPr bwMode="gray">
          <a:xfrm flipH="1">
            <a:off x="2212459" y="3107849"/>
            <a:ext cx="1910257" cy="103358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Internet</a:t>
            </a:r>
            <a:endParaRPr lang="en-US" dirty="0">
              <a:solidFill>
                <a:schemeClr val="tx1"/>
              </a:solidFill>
            </a:endParaRPr>
          </a:p>
        </p:txBody>
      </p:sp>
      <p:pic>
        <p:nvPicPr>
          <p:cNvPr id="36" name="图片 16">
            <a:extLst>
              <a:ext uri="{FF2B5EF4-FFF2-40B4-BE49-F238E27FC236}">
                <a16:creationId xmlns:a16="http://schemas.microsoft.com/office/drawing/2014/main" id="{29B9B157-ADB7-4CB2-B5AC-26A0E834F3E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960167" y="4770123"/>
            <a:ext cx="458866" cy="378564"/>
          </a:xfrm>
          <a:prstGeom prst="rect">
            <a:avLst/>
          </a:prstGeom>
        </p:spPr>
      </p:pic>
      <p:pic>
        <p:nvPicPr>
          <p:cNvPr id="37" name="图片 17">
            <a:extLst>
              <a:ext uri="{FF2B5EF4-FFF2-40B4-BE49-F238E27FC236}">
                <a16:creationId xmlns:a16="http://schemas.microsoft.com/office/drawing/2014/main" id="{6F90D417-BB37-4CAA-9D05-4F1DAC58D27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984675" y="4770123"/>
            <a:ext cx="458866" cy="378564"/>
          </a:xfrm>
          <a:prstGeom prst="rect">
            <a:avLst/>
          </a:prstGeom>
        </p:spPr>
      </p:pic>
      <p:pic>
        <p:nvPicPr>
          <p:cNvPr id="38" name="图片 20">
            <a:extLst>
              <a:ext uri="{FF2B5EF4-FFF2-40B4-BE49-F238E27FC236}">
                <a16:creationId xmlns:a16="http://schemas.microsoft.com/office/drawing/2014/main" id="{2BA36FD9-BB37-430B-8FFF-6E7A929ADC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2335763" y="4016631"/>
            <a:ext cx="467490" cy="382800"/>
          </a:xfrm>
          <a:prstGeom prst="rect">
            <a:avLst/>
          </a:prstGeom>
        </p:spPr>
      </p:pic>
      <p:pic>
        <p:nvPicPr>
          <p:cNvPr id="39" name="图片 21">
            <a:extLst>
              <a:ext uri="{FF2B5EF4-FFF2-40B4-BE49-F238E27FC236}">
                <a16:creationId xmlns:a16="http://schemas.microsoft.com/office/drawing/2014/main" id="{124E16DB-380D-4D6E-84E4-13D5852AB1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648228" y="4016631"/>
            <a:ext cx="467490" cy="382800"/>
          </a:xfrm>
          <a:prstGeom prst="rect">
            <a:avLst/>
          </a:prstGeom>
        </p:spPr>
      </p:pic>
      <p:sp>
        <p:nvSpPr>
          <p:cNvPr id="40" name="文本框 24">
            <a:extLst>
              <a:ext uri="{FF2B5EF4-FFF2-40B4-BE49-F238E27FC236}">
                <a16:creationId xmlns:a16="http://schemas.microsoft.com/office/drawing/2014/main" id="{74177096-305E-4BA5-8F2C-40A555F4E043}"/>
              </a:ext>
            </a:extLst>
          </p:cNvPr>
          <p:cNvSpPr txBox="1"/>
          <p:nvPr/>
        </p:nvSpPr>
        <p:spPr bwMode="gray">
          <a:xfrm>
            <a:off x="1390925" y="4805420"/>
            <a:ext cx="638298"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41" name="文本框 25">
            <a:extLst>
              <a:ext uri="{FF2B5EF4-FFF2-40B4-BE49-F238E27FC236}">
                <a16:creationId xmlns:a16="http://schemas.microsoft.com/office/drawing/2014/main" id="{A6AAB81F-6A71-44E0-85F3-E5EAA6EEAFED}"/>
              </a:ext>
            </a:extLst>
          </p:cNvPr>
          <p:cNvSpPr txBox="1"/>
          <p:nvPr/>
        </p:nvSpPr>
        <p:spPr bwMode="gray">
          <a:xfrm>
            <a:off x="4421527" y="4812403"/>
            <a:ext cx="699786"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42" name="文本框 28">
            <a:extLst>
              <a:ext uri="{FF2B5EF4-FFF2-40B4-BE49-F238E27FC236}">
                <a16:creationId xmlns:a16="http://schemas.microsoft.com/office/drawing/2014/main" id="{2A6BF1C0-CD16-4FB9-B223-BD4DDE2774E9}"/>
              </a:ext>
            </a:extLst>
          </p:cNvPr>
          <p:cNvSpPr txBox="1"/>
          <p:nvPr/>
        </p:nvSpPr>
        <p:spPr bwMode="gray">
          <a:xfrm>
            <a:off x="1431988" y="4034071"/>
            <a:ext cx="903775" cy="307777"/>
          </a:xfrm>
          <a:prstGeom prst="rect">
            <a:avLst/>
          </a:prstGeom>
          <a:noFill/>
        </p:spPr>
        <p:txBody>
          <a:bodyPr wrap="square" rtlCol="0">
            <a:spAutoFit/>
          </a:bodyPr>
          <a:lstStyle/>
          <a:p>
            <a:r>
              <a:rPr lang="en-US" sz="1400" dirty="0">
                <a:solidFill>
                  <a:srgbClr val="000000"/>
                </a:solidFill>
              </a:rPr>
              <a:t>NAT</a:t>
            </a:r>
            <a:r>
              <a:rPr lang="zh-CN" altLang="en-US" sz="1400" dirty="0">
                <a:solidFill>
                  <a:srgbClr val="000000"/>
                </a:solidFill>
              </a:rPr>
              <a:t>设备</a:t>
            </a:r>
            <a:endParaRPr lang="en-US" altLang="zh-CN" sz="1400" dirty="0">
              <a:solidFill>
                <a:srgbClr val="000000"/>
              </a:solidFill>
            </a:endParaRPr>
          </a:p>
        </p:txBody>
      </p:sp>
      <p:sp>
        <p:nvSpPr>
          <p:cNvPr id="43" name="文本框 28">
            <a:extLst>
              <a:ext uri="{FF2B5EF4-FFF2-40B4-BE49-F238E27FC236}">
                <a16:creationId xmlns:a16="http://schemas.microsoft.com/office/drawing/2014/main" id="{868ED6EF-1F1F-4E9B-A865-32BA79E3F81B}"/>
              </a:ext>
            </a:extLst>
          </p:cNvPr>
          <p:cNvSpPr txBox="1"/>
          <p:nvPr/>
        </p:nvSpPr>
        <p:spPr bwMode="gray">
          <a:xfrm>
            <a:off x="4069679" y="4054142"/>
            <a:ext cx="903775" cy="307777"/>
          </a:xfrm>
          <a:prstGeom prst="rect">
            <a:avLst/>
          </a:prstGeom>
          <a:noFill/>
        </p:spPr>
        <p:txBody>
          <a:bodyPr wrap="square" rtlCol="0">
            <a:spAutoFit/>
          </a:bodyPr>
          <a:lstStyle/>
          <a:p>
            <a:r>
              <a:rPr lang="en-US" sz="1400" dirty="0">
                <a:solidFill>
                  <a:srgbClr val="000000"/>
                </a:solidFill>
              </a:rPr>
              <a:t>NAT</a:t>
            </a:r>
            <a:r>
              <a:rPr lang="zh-CN" altLang="en-US" sz="1400" dirty="0">
                <a:solidFill>
                  <a:srgbClr val="000000"/>
                </a:solidFill>
              </a:rPr>
              <a:t>设备</a:t>
            </a:r>
            <a:endParaRPr lang="en-US" altLang="zh-CN" sz="1400" dirty="0">
              <a:solidFill>
                <a:srgbClr val="000000"/>
              </a:solidFill>
            </a:endParaRPr>
          </a:p>
        </p:txBody>
      </p:sp>
      <p:sp>
        <p:nvSpPr>
          <p:cNvPr id="44" name="Freeform 159">
            <a:extLst>
              <a:ext uri="{FF2B5EF4-FFF2-40B4-BE49-F238E27FC236}">
                <a16:creationId xmlns:a16="http://schemas.microsoft.com/office/drawing/2014/main" id="{F82EC2C0-0A12-4ACD-BAE6-BBB97EA80C7F}"/>
              </a:ext>
            </a:extLst>
          </p:cNvPr>
          <p:cNvSpPr/>
          <p:nvPr/>
        </p:nvSpPr>
        <p:spPr bwMode="gray">
          <a:xfrm flipH="1">
            <a:off x="2798219" y="1695442"/>
            <a:ext cx="1714241" cy="83982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endParaRPr>
          </a:p>
        </p:txBody>
      </p:sp>
      <p:cxnSp>
        <p:nvCxnSpPr>
          <p:cNvPr id="46" name="直接连接符 106">
            <a:extLst>
              <a:ext uri="{FF2B5EF4-FFF2-40B4-BE49-F238E27FC236}">
                <a16:creationId xmlns:a16="http://schemas.microsoft.com/office/drawing/2014/main" id="{ADEFC34D-63F9-4FEF-9A5A-278778B89613}"/>
              </a:ext>
            </a:extLst>
          </p:cNvPr>
          <p:cNvCxnSpPr>
            <a:cxnSpLocks/>
            <a:stCxn id="38" idx="2"/>
            <a:endCxn id="36" idx="0"/>
          </p:cNvCxnSpPr>
          <p:nvPr/>
        </p:nvCxnSpPr>
        <p:spPr bwMode="gray">
          <a:xfrm flipH="1">
            <a:off x="2189600" y="4399431"/>
            <a:ext cx="379908" cy="36857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106">
            <a:extLst>
              <a:ext uri="{FF2B5EF4-FFF2-40B4-BE49-F238E27FC236}">
                <a16:creationId xmlns:a16="http://schemas.microsoft.com/office/drawing/2014/main" id="{3DE9967B-BFDA-44C2-85BD-9BCF1395C8EF}"/>
              </a:ext>
            </a:extLst>
          </p:cNvPr>
          <p:cNvCxnSpPr>
            <a:cxnSpLocks/>
            <a:stCxn id="37" idx="0"/>
            <a:endCxn id="39" idx="2"/>
          </p:cNvCxnSpPr>
          <p:nvPr/>
        </p:nvCxnSpPr>
        <p:spPr bwMode="gray">
          <a:xfrm flipH="1" flipV="1">
            <a:off x="3881973" y="4399431"/>
            <a:ext cx="332135" cy="36857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8" name="图片 20">
            <a:extLst>
              <a:ext uri="{FF2B5EF4-FFF2-40B4-BE49-F238E27FC236}">
                <a16:creationId xmlns:a16="http://schemas.microsoft.com/office/drawing/2014/main" id="{329A0427-3F15-4045-BE92-9C9D022742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062106" y="2229988"/>
            <a:ext cx="467490" cy="382800"/>
          </a:xfrm>
          <a:prstGeom prst="rect">
            <a:avLst/>
          </a:prstGeom>
        </p:spPr>
      </p:pic>
      <p:cxnSp>
        <p:nvCxnSpPr>
          <p:cNvPr id="49" name="直接连接符 106">
            <a:extLst>
              <a:ext uri="{FF2B5EF4-FFF2-40B4-BE49-F238E27FC236}">
                <a16:creationId xmlns:a16="http://schemas.microsoft.com/office/drawing/2014/main" id="{B85C331D-8EEF-45F1-8381-D500444809C9}"/>
              </a:ext>
            </a:extLst>
          </p:cNvPr>
          <p:cNvCxnSpPr>
            <a:cxnSpLocks/>
            <a:stCxn id="48" idx="2"/>
            <a:endCxn id="35" idx="1"/>
          </p:cNvCxnSpPr>
          <p:nvPr/>
        </p:nvCxnSpPr>
        <p:spPr bwMode="gray">
          <a:xfrm>
            <a:off x="3295851" y="2612788"/>
            <a:ext cx="0" cy="639695"/>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文本框 28">
            <a:extLst>
              <a:ext uri="{FF2B5EF4-FFF2-40B4-BE49-F238E27FC236}">
                <a16:creationId xmlns:a16="http://schemas.microsoft.com/office/drawing/2014/main" id="{7D816483-40A2-4FF9-BA03-A08E18DF07EB}"/>
              </a:ext>
            </a:extLst>
          </p:cNvPr>
          <p:cNvSpPr txBox="1"/>
          <p:nvPr/>
        </p:nvSpPr>
        <p:spPr bwMode="gray">
          <a:xfrm>
            <a:off x="2235388" y="2284923"/>
            <a:ext cx="903775" cy="307777"/>
          </a:xfrm>
          <a:prstGeom prst="rect">
            <a:avLst/>
          </a:prstGeom>
          <a:noFill/>
        </p:spPr>
        <p:txBody>
          <a:bodyPr wrap="square" rtlCol="0">
            <a:spAutoFit/>
          </a:bodyPr>
          <a:lstStyle/>
          <a:p>
            <a:r>
              <a:rPr lang="en-US" sz="1400" dirty="0">
                <a:solidFill>
                  <a:srgbClr val="000000"/>
                </a:solidFill>
              </a:rPr>
              <a:t>NAT</a:t>
            </a:r>
            <a:r>
              <a:rPr lang="zh-CN" altLang="en-US" sz="1400" dirty="0">
                <a:solidFill>
                  <a:srgbClr val="000000"/>
                </a:solidFill>
              </a:rPr>
              <a:t>设备</a:t>
            </a:r>
            <a:endParaRPr lang="en-US" altLang="zh-CN" sz="1400" dirty="0">
              <a:solidFill>
                <a:srgbClr val="000000"/>
              </a:solidFill>
            </a:endParaRPr>
          </a:p>
        </p:txBody>
      </p:sp>
      <p:sp>
        <p:nvSpPr>
          <p:cNvPr id="51" name="Oval 41">
            <a:extLst>
              <a:ext uri="{FF2B5EF4-FFF2-40B4-BE49-F238E27FC236}">
                <a16:creationId xmlns:a16="http://schemas.microsoft.com/office/drawing/2014/main" id="{9B93E046-AE3F-48C2-B905-68F16980BE83}"/>
              </a:ext>
            </a:extLst>
          </p:cNvPr>
          <p:cNvSpPr>
            <a:spLocks noChangeAspect="1"/>
          </p:cNvSpPr>
          <p:nvPr/>
        </p:nvSpPr>
        <p:spPr bwMode="gray">
          <a:xfrm>
            <a:off x="3216220" y="252984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pic>
        <p:nvPicPr>
          <p:cNvPr id="53" name="图片 30">
            <a:extLst>
              <a:ext uri="{FF2B5EF4-FFF2-40B4-BE49-F238E27FC236}">
                <a16:creationId xmlns:a16="http://schemas.microsoft.com/office/drawing/2014/main" id="{352529BE-C2B3-45B0-8FD3-A9F9933E7812}"/>
              </a:ext>
            </a:extLst>
          </p:cNvPr>
          <p:cNvPicPr>
            <a:picLocks noChangeAspect="1"/>
          </p:cNvPicPr>
          <p:nvPr/>
        </p:nvPicPr>
        <p:blipFill>
          <a:blip r:embed="rId5"/>
          <a:stretch>
            <a:fillRect/>
          </a:stretch>
        </p:blipFill>
        <p:spPr bwMode="gray">
          <a:xfrm>
            <a:off x="3289271" y="1601902"/>
            <a:ext cx="480649" cy="382616"/>
          </a:xfrm>
          <a:prstGeom prst="rect">
            <a:avLst/>
          </a:prstGeom>
        </p:spPr>
      </p:pic>
      <p:pic>
        <p:nvPicPr>
          <p:cNvPr id="54" name="图片 30">
            <a:extLst>
              <a:ext uri="{FF2B5EF4-FFF2-40B4-BE49-F238E27FC236}">
                <a16:creationId xmlns:a16="http://schemas.microsoft.com/office/drawing/2014/main" id="{31F0ED2D-BA14-4D19-B414-13CD607F51FD}"/>
              </a:ext>
            </a:extLst>
          </p:cNvPr>
          <p:cNvPicPr>
            <a:picLocks noChangeAspect="1"/>
          </p:cNvPicPr>
          <p:nvPr/>
        </p:nvPicPr>
        <p:blipFill>
          <a:blip r:embed="rId5"/>
          <a:stretch>
            <a:fillRect/>
          </a:stretch>
        </p:blipFill>
        <p:spPr bwMode="gray">
          <a:xfrm>
            <a:off x="3851447" y="2247503"/>
            <a:ext cx="480649" cy="382616"/>
          </a:xfrm>
          <a:prstGeom prst="rect">
            <a:avLst/>
          </a:prstGeom>
        </p:spPr>
      </p:pic>
      <p:sp>
        <p:nvSpPr>
          <p:cNvPr id="55" name="文本框 28">
            <a:extLst>
              <a:ext uri="{FF2B5EF4-FFF2-40B4-BE49-F238E27FC236}">
                <a16:creationId xmlns:a16="http://schemas.microsoft.com/office/drawing/2014/main" id="{B6D8BD13-1EE3-444B-94B3-8DF31E5857B5}"/>
              </a:ext>
            </a:extLst>
          </p:cNvPr>
          <p:cNvSpPr txBox="1"/>
          <p:nvPr/>
        </p:nvSpPr>
        <p:spPr bwMode="gray">
          <a:xfrm>
            <a:off x="3316844" y="1332730"/>
            <a:ext cx="425501" cy="307777"/>
          </a:xfrm>
          <a:prstGeom prst="rect">
            <a:avLst/>
          </a:prstGeom>
          <a:noFill/>
        </p:spPr>
        <p:txBody>
          <a:bodyPr wrap="square" rtlCol="0">
            <a:spAutoFit/>
          </a:bodyPr>
          <a:lstStyle/>
          <a:p>
            <a:pPr algn="ctr"/>
            <a:r>
              <a:rPr lang="en-US" sz="1400" dirty="0">
                <a:solidFill>
                  <a:srgbClr val="000000"/>
                </a:solidFill>
              </a:rPr>
              <a:t>RR</a:t>
            </a:r>
            <a:endParaRPr lang="en-US" altLang="zh-CN" sz="1400" dirty="0">
              <a:solidFill>
                <a:srgbClr val="000000"/>
              </a:solidFill>
            </a:endParaRPr>
          </a:p>
        </p:txBody>
      </p:sp>
      <p:sp>
        <p:nvSpPr>
          <p:cNvPr id="56" name="文本框 28">
            <a:extLst>
              <a:ext uri="{FF2B5EF4-FFF2-40B4-BE49-F238E27FC236}">
                <a16:creationId xmlns:a16="http://schemas.microsoft.com/office/drawing/2014/main" id="{21C6B7DB-1BD7-49E0-A367-F7ACFD8D70AF}"/>
              </a:ext>
            </a:extLst>
          </p:cNvPr>
          <p:cNvSpPr txBox="1"/>
          <p:nvPr/>
        </p:nvSpPr>
        <p:spPr bwMode="gray">
          <a:xfrm>
            <a:off x="3883101" y="2025746"/>
            <a:ext cx="425501" cy="307777"/>
          </a:xfrm>
          <a:prstGeom prst="rect">
            <a:avLst/>
          </a:prstGeom>
          <a:noFill/>
        </p:spPr>
        <p:txBody>
          <a:bodyPr wrap="square" rtlCol="0">
            <a:spAutoFit/>
          </a:bodyPr>
          <a:lstStyle/>
          <a:p>
            <a:pPr algn="ctr"/>
            <a:r>
              <a:rPr lang="en-US" sz="1400" dirty="0">
                <a:solidFill>
                  <a:srgbClr val="000000"/>
                </a:solidFill>
              </a:rPr>
              <a:t>RR</a:t>
            </a:r>
            <a:endParaRPr lang="en-US" altLang="zh-CN" sz="1400" dirty="0">
              <a:solidFill>
                <a:srgbClr val="000000"/>
              </a:solidFill>
            </a:endParaRPr>
          </a:p>
        </p:txBody>
      </p:sp>
      <p:cxnSp>
        <p:nvCxnSpPr>
          <p:cNvPr id="57" name="直接连接符 106">
            <a:extLst>
              <a:ext uri="{FF2B5EF4-FFF2-40B4-BE49-F238E27FC236}">
                <a16:creationId xmlns:a16="http://schemas.microsoft.com/office/drawing/2014/main" id="{6E18722A-BD2C-46D4-87A0-FC4EECA92D34}"/>
              </a:ext>
            </a:extLst>
          </p:cNvPr>
          <p:cNvCxnSpPr>
            <a:cxnSpLocks/>
            <a:stCxn id="54" idx="2"/>
            <a:endCxn id="35" idx="4"/>
          </p:cNvCxnSpPr>
          <p:nvPr/>
        </p:nvCxnSpPr>
        <p:spPr bwMode="gray">
          <a:xfrm flipH="1">
            <a:off x="3541827" y="2630119"/>
            <a:ext cx="549945" cy="580959"/>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Oval 41">
            <a:extLst>
              <a:ext uri="{FF2B5EF4-FFF2-40B4-BE49-F238E27FC236}">
                <a16:creationId xmlns:a16="http://schemas.microsoft.com/office/drawing/2014/main" id="{46129D1D-AB7E-4AC5-A630-8B704FDC394C}"/>
              </a:ext>
            </a:extLst>
          </p:cNvPr>
          <p:cNvSpPr>
            <a:spLocks noChangeAspect="1"/>
          </p:cNvSpPr>
          <p:nvPr/>
        </p:nvSpPr>
        <p:spPr bwMode="gray">
          <a:xfrm>
            <a:off x="4012140" y="252377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cxnSp>
        <p:nvCxnSpPr>
          <p:cNvPr id="63" name="直接连接符 106">
            <a:extLst>
              <a:ext uri="{FF2B5EF4-FFF2-40B4-BE49-F238E27FC236}">
                <a16:creationId xmlns:a16="http://schemas.microsoft.com/office/drawing/2014/main" id="{43AAE9A7-837B-4675-81FB-0E2A6C8107AD}"/>
              </a:ext>
            </a:extLst>
          </p:cNvPr>
          <p:cNvCxnSpPr>
            <a:cxnSpLocks/>
            <a:stCxn id="53" idx="2"/>
            <a:endCxn id="48" idx="0"/>
          </p:cNvCxnSpPr>
          <p:nvPr/>
        </p:nvCxnSpPr>
        <p:spPr bwMode="gray">
          <a:xfrm flipH="1">
            <a:off x="3295851" y="1984518"/>
            <a:ext cx="233745" cy="24547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Rectangular Callout 75">
            <a:extLst>
              <a:ext uri="{FF2B5EF4-FFF2-40B4-BE49-F238E27FC236}">
                <a16:creationId xmlns:a16="http://schemas.microsoft.com/office/drawing/2014/main" id="{C5E8B572-5CB7-4334-81D6-CA88F95E7918}"/>
              </a:ext>
            </a:extLst>
          </p:cNvPr>
          <p:cNvSpPr/>
          <p:nvPr/>
        </p:nvSpPr>
        <p:spPr bwMode="gray">
          <a:xfrm>
            <a:off x="4443541" y="2488162"/>
            <a:ext cx="1055073" cy="432436"/>
          </a:xfrm>
          <a:prstGeom prst="wedgeRectCallout">
            <a:avLst>
              <a:gd name="adj1" fmla="val -69183"/>
              <a:gd name="adj2" fmla="val -2112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rPr>
              <a:t>RR</a:t>
            </a:r>
            <a:r>
              <a:rPr lang="zh-CN" altLang="en-US" sz="1400" dirty="0">
                <a:solidFill>
                  <a:schemeClr val="tx1"/>
                </a:solidFill>
                <a:latin typeface="Huawei Sans" panose="020C0503030203020204" pitchFamily="34" charset="0"/>
                <a:ea typeface="方正兰亭黑简体" panose="02000000000000000000" pitchFamily="2" charset="-122"/>
              </a:rPr>
              <a:t>直接使用公网</a:t>
            </a:r>
            <a:r>
              <a:rPr lang="en-US" altLang="zh-CN" sz="1400" dirty="0">
                <a:solidFill>
                  <a:schemeClr val="tx1"/>
                </a:solidFill>
                <a:latin typeface="Huawei Sans" panose="020C0503030203020204" pitchFamily="34" charset="0"/>
                <a:ea typeface="方正兰亭黑简体" panose="02000000000000000000" pitchFamily="2" charset="-122"/>
              </a:rPr>
              <a:t>IP</a:t>
            </a:r>
            <a:endParaRPr lang="zh-CN" altLang="en-US" sz="1400" dirty="0">
              <a:solidFill>
                <a:schemeClr val="tx1"/>
              </a:solidFill>
              <a:latin typeface="Huawei Sans" panose="020C0503030203020204" pitchFamily="34" charset="0"/>
              <a:ea typeface="方正兰亭黑简体" panose="02000000000000000000" pitchFamily="2" charset="-122"/>
            </a:endParaRPr>
          </a:p>
        </p:txBody>
      </p:sp>
      <p:sp>
        <p:nvSpPr>
          <p:cNvPr id="67" name="Rectangular Callout 75">
            <a:extLst>
              <a:ext uri="{FF2B5EF4-FFF2-40B4-BE49-F238E27FC236}">
                <a16:creationId xmlns:a16="http://schemas.microsoft.com/office/drawing/2014/main" id="{3DDB8B0F-1AD5-493D-8975-B053B0E7FF7C}"/>
              </a:ext>
            </a:extLst>
          </p:cNvPr>
          <p:cNvSpPr/>
          <p:nvPr/>
        </p:nvSpPr>
        <p:spPr bwMode="gray">
          <a:xfrm>
            <a:off x="1614029" y="2755758"/>
            <a:ext cx="1470268" cy="673241"/>
          </a:xfrm>
          <a:prstGeom prst="wedgeRectCallout">
            <a:avLst>
              <a:gd name="adj1" fmla="val 54882"/>
              <a:gd name="adj2" fmla="val -6678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rPr>
              <a:t>NAT</a:t>
            </a:r>
            <a:r>
              <a:rPr lang="zh-CN" altLang="en-US" sz="1400" dirty="0">
                <a:solidFill>
                  <a:schemeClr val="tx1"/>
                </a:solidFill>
                <a:latin typeface="Huawei Sans" panose="020C0503030203020204" pitchFamily="34" charset="0"/>
                <a:ea typeface="方正兰亭黑简体" panose="02000000000000000000" pitchFamily="2" charset="-122"/>
              </a:rPr>
              <a:t>设备配置公网</a:t>
            </a:r>
            <a:r>
              <a:rPr lang="en-US" altLang="zh-CN" sz="1400" dirty="0">
                <a:solidFill>
                  <a:schemeClr val="tx1"/>
                </a:solidFill>
                <a:latin typeface="Huawei Sans" panose="020C0503030203020204" pitchFamily="34" charset="0"/>
                <a:ea typeface="方正兰亭黑简体" panose="02000000000000000000" pitchFamily="2" charset="-122"/>
              </a:rPr>
              <a:t>IP</a:t>
            </a:r>
            <a:r>
              <a:rPr lang="zh-CN" altLang="en-US" sz="1400" dirty="0">
                <a:solidFill>
                  <a:schemeClr val="tx1"/>
                </a:solidFill>
                <a:latin typeface="Huawei Sans" panose="020C0503030203020204" pitchFamily="34" charset="0"/>
                <a:ea typeface="方正兰亭黑简体" panose="02000000000000000000" pitchFamily="2" charset="-122"/>
              </a:rPr>
              <a:t>，并部署静态</a:t>
            </a:r>
            <a:r>
              <a:rPr lang="en-US" altLang="zh-CN" sz="1400" dirty="0">
                <a:solidFill>
                  <a:schemeClr val="tx1"/>
                </a:solidFill>
                <a:latin typeface="Huawei Sans" panose="020C0503030203020204" pitchFamily="34" charset="0"/>
                <a:ea typeface="方正兰亭黑简体" panose="02000000000000000000" pitchFamily="2" charset="-122"/>
              </a:rPr>
              <a:t>1:1NAT</a:t>
            </a:r>
            <a:r>
              <a:rPr lang="zh-CN" altLang="en-US" sz="1400" dirty="0">
                <a:solidFill>
                  <a:schemeClr val="tx1"/>
                </a:solidFill>
                <a:latin typeface="Huawei Sans" panose="020C0503030203020204" pitchFamily="34" charset="0"/>
                <a:ea typeface="方正兰亭黑简体" panose="02000000000000000000" pitchFamily="2" charset="-122"/>
              </a:rPr>
              <a:t>映射</a:t>
            </a:r>
          </a:p>
        </p:txBody>
      </p:sp>
      <p:sp>
        <p:nvSpPr>
          <p:cNvPr id="68" name="Freeform: Shape 67">
            <a:extLst>
              <a:ext uri="{FF2B5EF4-FFF2-40B4-BE49-F238E27FC236}">
                <a16:creationId xmlns:a16="http://schemas.microsoft.com/office/drawing/2014/main" id="{6776F67B-F36A-4865-9F05-AE2A3D8D66AC}"/>
              </a:ext>
            </a:extLst>
          </p:cNvPr>
          <p:cNvSpPr/>
          <p:nvPr/>
        </p:nvSpPr>
        <p:spPr bwMode="gray">
          <a:xfrm>
            <a:off x="2322871" y="1984518"/>
            <a:ext cx="1125912" cy="2761266"/>
          </a:xfrm>
          <a:custGeom>
            <a:avLst/>
            <a:gdLst>
              <a:gd name="connsiteX0" fmla="*/ 0 w 1125912"/>
              <a:gd name="connsiteY0" fmla="*/ 2596055 h 2596055"/>
              <a:gd name="connsiteX1" fmla="*/ 966952 w 1125912"/>
              <a:gd name="connsiteY1" fmla="*/ 1524000 h 2596055"/>
              <a:gd name="connsiteX2" fmla="*/ 1114096 w 1125912"/>
              <a:gd name="connsiteY2" fmla="*/ 0 h 2596055"/>
            </a:gdLst>
            <a:ahLst/>
            <a:cxnLst>
              <a:cxn ang="0">
                <a:pos x="connsiteX0" y="connsiteY0"/>
              </a:cxn>
              <a:cxn ang="0">
                <a:pos x="connsiteX1" y="connsiteY1"/>
              </a:cxn>
              <a:cxn ang="0">
                <a:pos x="connsiteX2" y="connsiteY2"/>
              </a:cxn>
            </a:cxnLst>
            <a:rect l="l" t="t" r="r" b="b"/>
            <a:pathLst>
              <a:path w="1125912" h="2596055">
                <a:moveTo>
                  <a:pt x="0" y="2596055"/>
                </a:moveTo>
                <a:cubicBezTo>
                  <a:pt x="390634" y="2276365"/>
                  <a:pt x="781269" y="1956676"/>
                  <a:pt x="966952" y="1524000"/>
                </a:cubicBezTo>
                <a:cubicBezTo>
                  <a:pt x="1152635" y="1091324"/>
                  <a:pt x="1133365" y="545662"/>
                  <a:pt x="1114096"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5A3E86B3-5A8C-428A-9BCF-F930D28C3F71}"/>
              </a:ext>
            </a:extLst>
          </p:cNvPr>
          <p:cNvSpPr/>
          <p:nvPr/>
        </p:nvSpPr>
        <p:spPr bwMode="gray">
          <a:xfrm>
            <a:off x="3655341" y="2630119"/>
            <a:ext cx="422673" cy="2099536"/>
          </a:xfrm>
          <a:custGeom>
            <a:avLst/>
            <a:gdLst>
              <a:gd name="connsiteX0" fmla="*/ 422673 w 422673"/>
              <a:gd name="connsiteY0" fmla="*/ 2070538 h 2070538"/>
              <a:gd name="connsiteX1" fmla="*/ 2259 w 422673"/>
              <a:gd name="connsiteY1" fmla="*/ 1261242 h 2070538"/>
              <a:gd name="connsiteX2" fmla="*/ 286038 w 422673"/>
              <a:gd name="connsiteY2" fmla="*/ 0 h 2070538"/>
            </a:gdLst>
            <a:ahLst/>
            <a:cxnLst>
              <a:cxn ang="0">
                <a:pos x="connsiteX0" y="connsiteY0"/>
              </a:cxn>
              <a:cxn ang="0">
                <a:pos x="connsiteX1" y="connsiteY1"/>
              </a:cxn>
              <a:cxn ang="0">
                <a:pos x="connsiteX2" y="connsiteY2"/>
              </a:cxn>
            </a:cxnLst>
            <a:rect l="l" t="t" r="r" b="b"/>
            <a:pathLst>
              <a:path w="422673" h="2070538">
                <a:moveTo>
                  <a:pt x="422673" y="2070538"/>
                </a:moveTo>
                <a:cubicBezTo>
                  <a:pt x="223852" y="1838435"/>
                  <a:pt x="25031" y="1606332"/>
                  <a:pt x="2259" y="1261242"/>
                </a:cubicBezTo>
                <a:cubicBezTo>
                  <a:pt x="-20513" y="916152"/>
                  <a:pt x="132762" y="458076"/>
                  <a:pt x="286038"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2"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834148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392E4-3F1E-4115-BAE4-4E648BE04E9E}"/>
              </a:ext>
            </a:extLst>
          </p:cNvPr>
          <p:cNvSpPr>
            <a:spLocks noGrp="1"/>
          </p:cNvSpPr>
          <p:nvPr>
            <p:ph type="title"/>
          </p:nvPr>
        </p:nvSpPr>
        <p:spPr bwMode="gray"/>
        <p:txBody>
          <a:bodyPr/>
          <a:lstStyle/>
          <a:p>
            <a:r>
              <a:rPr lang="en-US" dirty="0"/>
              <a:t>NAT</a:t>
            </a:r>
            <a:r>
              <a:rPr lang="zh-CN" altLang="en-US" dirty="0"/>
              <a:t>穿越场景 </a:t>
            </a:r>
            <a:r>
              <a:rPr lang="en-US" altLang="zh-CN" dirty="0"/>
              <a:t>- EDGE</a:t>
            </a:r>
            <a:r>
              <a:rPr lang="zh-CN" altLang="en-US" dirty="0"/>
              <a:t>与</a:t>
            </a:r>
            <a:r>
              <a:rPr lang="en-US" altLang="zh-CN" dirty="0"/>
              <a:t>EDGE</a:t>
            </a:r>
            <a:r>
              <a:rPr lang="zh-CN" altLang="en-US" dirty="0"/>
              <a:t>连接</a:t>
            </a:r>
            <a:r>
              <a:rPr lang="en-US" altLang="zh-CN" dirty="0"/>
              <a:t> </a:t>
            </a:r>
            <a:endParaRPr lang="en-US" dirty="0"/>
          </a:p>
        </p:txBody>
      </p:sp>
      <p:sp>
        <p:nvSpPr>
          <p:cNvPr id="10" name="Text Placeholder 9">
            <a:extLst>
              <a:ext uri="{FF2B5EF4-FFF2-40B4-BE49-F238E27FC236}">
                <a16:creationId xmlns:a16="http://schemas.microsoft.com/office/drawing/2014/main" id="{8B89ADBA-C238-427E-AC71-10D19FA55356}"/>
              </a:ext>
            </a:extLst>
          </p:cNvPr>
          <p:cNvSpPr>
            <a:spLocks noGrp="1"/>
          </p:cNvSpPr>
          <p:nvPr>
            <p:ph type="body" sz="quarter" idx="10"/>
          </p:nvPr>
        </p:nvSpPr>
        <p:spPr bwMode="gray">
          <a:xfrm>
            <a:off x="6096001" y="1047750"/>
            <a:ext cx="5653086" cy="4879805"/>
          </a:xfrm>
        </p:spPr>
        <p:txBody>
          <a:bodyPr/>
          <a:lstStyle/>
          <a:p>
            <a:endParaRPr lang="en-US" altLang="zh-CN" sz="2000" dirty="0"/>
          </a:p>
          <a:p>
            <a:endParaRPr lang="en-US" altLang="zh-CN" sz="2000" dirty="0"/>
          </a:p>
          <a:p>
            <a:r>
              <a:rPr lang="en-US" altLang="zh-CN" sz="2000" dirty="0"/>
              <a:t>EDGE</a:t>
            </a:r>
            <a:r>
              <a:rPr lang="zh-CN" altLang="en-US" sz="2000" dirty="0"/>
              <a:t>和</a:t>
            </a:r>
            <a:r>
              <a:rPr lang="en-US" altLang="zh-CN" sz="2000" dirty="0"/>
              <a:t>EDGE</a:t>
            </a:r>
            <a:r>
              <a:rPr lang="zh-CN" altLang="en-US" sz="2000" dirty="0"/>
              <a:t>之间会建立数据通道，站点间互访的流量会通过数据通道传输。当</a:t>
            </a:r>
            <a:r>
              <a:rPr lang="en-US" altLang="zh-CN" sz="2000" dirty="0"/>
              <a:t>EDGE</a:t>
            </a:r>
            <a:r>
              <a:rPr lang="zh-CN" altLang="en-US" sz="2000" dirty="0"/>
              <a:t>位于</a:t>
            </a:r>
            <a:r>
              <a:rPr lang="en-US" altLang="zh-CN" sz="2000" dirty="0"/>
              <a:t>NAT</a:t>
            </a:r>
            <a:r>
              <a:rPr lang="zh-CN" altLang="en-US" sz="2000" dirty="0"/>
              <a:t>设备后的私网时，特别是两个站点的</a:t>
            </a:r>
            <a:r>
              <a:rPr lang="en-US" altLang="zh-CN" sz="2000" dirty="0"/>
              <a:t>EDGE</a:t>
            </a:r>
            <a:r>
              <a:rPr lang="zh-CN" altLang="en-US" sz="2000" dirty="0"/>
              <a:t>同时位于</a:t>
            </a:r>
            <a:r>
              <a:rPr lang="en-US" altLang="zh-CN" sz="2000" dirty="0"/>
              <a:t>NAT</a:t>
            </a:r>
            <a:r>
              <a:rPr lang="zh-CN" altLang="en-US" sz="2000" dirty="0"/>
              <a:t>设备后的私网时，</a:t>
            </a:r>
            <a:r>
              <a:rPr lang="en-US" altLang="zh-CN" sz="2000" dirty="0"/>
              <a:t>EDGE</a:t>
            </a:r>
            <a:r>
              <a:rPr lang="zh-CN" altLang="en-US" sz="2000" dirty="0"/>
              <a:t>之间需要使用</a:t>
            </a:r>
            <a:r>
              <a:rPr lang="en-US" altLang="zh-CN" sz="2000" dirty="0"/>
              <a:t>NAT</a:t>
            </a:r>
            <a:r>
              <a:rPr lang="zh-CN" altLang="en-US" sz="2000" dirty="0"/>
              <a:t>穿越技术。</a:t>
            </a:r>
            <a:endParaRPr lang="en-US" altLang="zh-CN" sz="2000" dirty="0"/>
          </a:p>
        </p:txBody>
      </p:sp>
      <p:sp>
        <p:nvSpPr>
          <p:cNvPr id="33" name="Freeform 159">
            <a:extLst>
              <a:ext uri="{FF2B5EF4-FFF2-40B4-BE49-F238E27FC236}">
                <a16:creationId xmlns:a16="http://schemas.microsoft.com/office/drawing/2014/main" id="{211BE68F-A19E-43FE-9723-345C2B3B11EB}"/>
              </a:ext>
            </a:extLst>
          </p:cNvPr>
          <p:cNvSpPr/>
          <p:nvPr/>
        </p:nvSpPr>
        <p:spPr bwMode="gray">
          <a:xfrm flipH="1">
            <a:off x="3207836" y="4629948"/>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分支</a:t>
            </a:r>
            <a:endParaRPr lang="en-US" sz="1600" dirty="0">
              <a:solidFill>
                <a:schemeClr val="tx1"/>
              </a:solidFill>
            </a:endParaRPr>
          </a:p>
        </p:txBody>
      </p:sp>
      <p:sp>
        <p:nvSpPr>
          <p:cNvPr id="34" name="Freeform 159">
            <a:extLst>
              <a:ext uri="{FF2B5EF4-FFF2-40B4-BE49-F238E27FC236}">
                <a16:creationId xmlns:a16="http://schemas.microsoft.com/office/drawing/2014/main" id="{DAD810CB-2E13-48AB-9FAB-9DD1AB89C2BB}"/>
              </a:ext>
            </a:extLst>
          </p:cNvPr>
          <p:cNvSpPr/>
          <p:nvPr/>
        </p:nvSpPr>
        <p:spPr bwMode="gray">
          <a:xfrm flipH="1">
            <a:off x="1187082" y="4629948"/>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分支</a:t>
            </a:r>
            <a:endParaRPr lang="en-US" sz="1600" dirty="0">
              <a:solidFill>
                <a:schemeClr val="tx1"/>
              </a:solidFill>
            </a:endParaRPr>
          </a:p>
        </p:txBody>
      </p:sp>
      <p:sp>
        <p:nvSpPr>
          <p:cNvPr id="35" name="Freeform 159">
            <a:extLst>
              <a:ext uri="{FF2B5EF4-FFF2-40B4-BE49-F238E27FC236}">
                <a16:creationId xmlns:a16="http://schemas.microsoft.com/office/drawing/2014/main" id="{443DFA89-F53E-40C0-BFCB-692B51E0D42E}"/>
              </a:ext>
            </a:extLst>
          </p:cNvPr>
          <p:cNvSpPr/>
          <p:nvPr/>
        </p:nvSpPr>
        <p:spPr bwMode="gray">
          <a:xfrm flipH="1">
            <a:off x="1785513" y="2722442"/>
            <a:ext cx="1910257" cy="103358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Internet</a:t>
            </a:r>
            <a:endParaRPr lang="en-US" dirty="0">
              <a:solidFill>
                <a:schemeClr val="tx1"/>
              </a:solidFill>
            </a:endParaRPr>
          </a:p>
        </p:txBody>
      </p:sp>
      <p:pic>
        <p:nvPicPr>
          <p:cNvPr id="36" name="图片 16">
            <a:extLst>
              <a:ext uri="{FF2B5EF4-FFF2-40B4-BE49-F238E27FC236}">
                <a16:creationId xmlns:a16="http://schemas.microsoft.com/office/drawing/2014/main" id="{29B9B157-ADB7-4CB2-B5AC-26A0E834F3E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533221" y="4384716"/>
            <a:ext cx="458866" cy="378564"/>
          </a:xfrm>
          <a:prstGeom prst="rect">
            <a:avLst/>
          </a:prstGeom>
        </p:spPr>
      </p:pic>
      <p:pic>
        <p:nvPicPr>
          <p:cNvPr id="37" name="图片 17">
            <a:extLst>
              <a:ext uri="{FF2B5EF4-FFF2-40B4-BE49-F238E27FC236}">
                <a16:creationId xmlns:a16="http://schemas.microsoft.com/office/drawing/2014/main" id="{6F90D417-BB37-4CAA-9D05-4F1DAC58D27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557729" y="4384716"/>
            <a:ext cx="458866" cy="378564"/>
          </a:xfrm>
          <a:prstGeom prst="rect">
            <a:avLst/>
          </a:prstGeom>
        </p:spPr>
      </p:pic>
      <p:pic>
        <p:nvPicPr>
          <p:cNvPr id="38" name="图片 20">
            <a:extLst>
              <a:ext uri="{FF2B5EF4-FFF2-40B4-BE49-F238E27FC236}">
                <a16:creationId xmlns:a16="http://schemas.microsoft.com/office/drawing/2014/main" id="{2BA36FD9-BB37-430B-8FFF-6E7A929ADC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908817" y="3631224"/>
            <a:ext cx="467490" cy="382800"/>
          </a:xfrm>
          <a:prstGeom prst="rect">
            <a:avLst/>
          </a:prstGeom>
        </p:spPr>
      </p:pic>
      <p:pic>
        <p:nvPicPr>
          <p:cNvPr id="39" name="图片 21">
            <a:extLst>
              <a:ext uri="{FF2B5EF4-FFF2-40B4-BE49-F238E27FC236}">
                <a16:creationId xmlns:a16="http://schemas.microsoft.com/office/drawing/2014/main" id="{124E16DB-380D-4D6E-84E4-13D5852AB1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221282" y="3631224"/>
            <a:ext cx="467490" cy="382800"/>
          </a:xfrm>
          <a:prstGeom prst="rect">
            <a:avLst/>
          </a:prstGeom>
        </p:spPr>
      </p:pic>
      <p:sp>
        <p:nvSpPr>
          <p:cNvPr id="40" name="文本框 24">
            <a:extLst>
              <a:ext uri="{FF2B5EF4-FFF2-40B4-BE49-F238E27FC236}">
                <a16:creationId xmlns:a16="http://schemas.microsoft.com/office/drawing/2014/main" id="{74177096-305E-4BA5-8F2C-40A555F4E043}"/>
              </a:ext>
            </a:extLst>
          </p:cNvPr>
          <p:cNvSpPr txBox="1"/>
          <p:nvPr/>
        </p:nvSpPr>
        <p:spPr bwMode="gray">
          <a:xfrm>
            <a:off x="963979" y="4420013"/>
            <a:ext cx="638298"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41" name="文本框 25">
            <a:extLst>
              <a:ext uri="{FF2B5EF4-FFF2-40B4-BE49-F238E27FC236}">
                <a16:creationId xmlns:a16="http://schemas.microsoft.com/office/drawing/2014/main" id="{A6AAB81F-6A71-44E0-85F3-E5EAA6EEAFED}"/>
              </a:ext>
            </a:extLst>
          </p:cNvPr>
          <p:cNvSpPr txBox="1"/>
          <p:nvPr/>
        </p:nvSpPr>
        <p:spPr bwMode="gray">
          <a:xfrm>
            <a:off x="3994580" y="4426996"/>
            <a:ext cx="664805"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42" name="文本框 28">
            <a:extLst>
              <a:ext uri="{FF2B5EF4-FFF2-40B4-BE49-F238E27FC236}">
                <a16:creationId xmlns:a16="http://schemas.microsoft.com/office/drawing/2014/main" id="{2A6BF1C0-CD16-4FB9-B223-BD4DDE2774E9}"/>
              </a:ext>
            </a:extLst>
          </p:cNvPr>
          <p:cNvSpPr txBox="1"/>
          <p:nvPr/>
        </p:nvSpPr>
        <p:spPr bwMode="gray">
          <a:xfrm>
            <a:off x="1005042" y="3648664"/>
            <a:ext cx="903775" cy="307777"/>
          </a:xfrm>
          <a:prstGeom prst="rect">
            <a:avLst/>
          </a:prstGeom>
          <a:noFill/>
        </p:spPr>
        <p:txBody>
          <a:bodyPr wrap="square" rtlCol="0">
            <a:spAutoFit/>
          </a:bodyPr>
          <a:lstStyle/>
          <a:p>
            <a:r>
              <a:rPr lang="en-US" sz="1400" dirty="0">
                <a:solidFill>
                  <a:srgbClr val="000000"/>
                </a:solidFill>
              </a:rPr>
              <a:t>NAT</a:t>
            </a:r>
            <a:r>
              <a:rPr lang="zh-CN" altLang="en-US" sz="1400" dirty="0">
                <a:solidFill>
                  <a:srgbClr val="000000"/>
                </a:solidFill>
              </a:rPr>
              <a:t>设备</a:t>
            </a:r>
            <a:endParaRPr lang="en-US" altLang="zh-CN" sz="1400" dirty="0">
              <a:solidFill>
                <a:srgbClr val="000000"/>
              </a:solidFill>
            </a:endParaRPr>
          </a:p>
        </p:txBody>
      </p:sp>
      <p:sp>
        <p:nvSpPr>
          <p:cNvPr id="43" name="文本框 28">
            <a:extLst>
              <a:ext uri="{FF2B5EF4-FFF2-40B4-BE49-F238E27FC236}">
                <a16:creationId xmlns:a16="http://schemas.microsoft.com/office/drawing/2014/main" id="{868ED6EF-1F1F-4E9B-A865-32BA79E3F81B}"/>
              </a:ext>
            </a:extLst>
          </p:cNvPr>
          <p:cNvSpPr txBox="1"/>
          <p:nvPr/>
        </p:nvSpPr>
        <p:spPr bwMode="gray">
          <a:xfrm>
            <a:off x="3642733" y="3668735"/>
            <a:ext cx="903775" cy="307777"/>
          </a:xfrm>
          <a:prstGeom prst="rect">
            <a:avLst/>
          </a:prstGeom>
          <a:noFill/>
        </p:spPr>
        <p:txBody>
          <a:bodyPr wrap="square" rtlCol="0">
            <a:spAutoFit/>
          </a:bodyPr>
          <a:lstStyle/>
          <a:p>
            <a:r>
              <a:rPr lang="en-US" sz="1400" dirty="0">
                <a:solidFill>
                  <a:srgbClr val="000000"/>
                </a:solidFill>
              </a:rPr>
              <a:t>NAT</a:t>
            </a:r>
            <a:r>
              <a:rPr lang="zh-CN" altLang="en-US" sz="1400" dirty="0">
                <a:solidFill>
                  <a:srgbClr val="000000"/>
                </a:solidFill>
              </a:rPr>
              <a:t>设备</a:t>
            </a:r>
            <a:endParaRPr lang="en-US" altLang="zh-CN" sz="1400" dirty="0">
              <a:solidFill>
                <a:srgbClr val="000000"/>
              </a:solidFill>
            </a:endParaRPr>
          </a:p>
        </p:txBody>
      </p:sp>
      <p:cxnSp>
        <p:nvCxnSpPr>
          <p:cNvPr id="46" name="直接连接符 106">
            <a:extLst>
              <a:ext uri="{FF2B5EF4-FFF2-40B4-BE49-F238E27FC236}">
                <a16:creationId xmlns:a16="http://schemas.microsoft.com/office/drawing/2014/main" id="{ADEFC34D-63F9-4FEF-9A5A-278778B89613}"/>
              </a:ext>
            </a:extLst>
          </p:cNvPr>
          <p:cNvCxnSpPr>
            <a:cxnSpLocks/>
            <a:stCxn id="38" idx="2"/>
            <a:endCxn id="36" idx="0"/>
          </p:cNvCxnSpPr>
          <p:nvPr/>
        </p:nvCxnSpPr>
        <p:spPr bwMode="gray">
          <a:xfrm flipH="1">
            <a:off x="1762654" y="4014024"/>
            <a:ext cx="379908" cy="36857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106">
            <a:extLst>
              <a:ext uri="{FF2B5EF4-FFF2-40B4-BE49-F238E27FC236}">
                <a16:creationId xmlns:a16="http://schemas.microsoft.com/office/drawing/2014/main" id="{3DE9967B-BFDA-44C2-85BD-9BCF1395C8EF}"/>
              </a:ext>
            </a:extLst>
          </p:cNvPr>
          <p:cNvCxnSpPr>
            <a:cxnSpLocks/>
            <a:stCxn id="37" idx="0"/>
            <a:endCxn id="39" idx="2"/>
          </p:cNvCxnSpPr>
          <p:nvPr/>
        </p:nvCxnSpPr>
        <p:spPr bwMode="gray">
          <a:xfrm flipH="1" flipV="1">
            <a:off x="3455027" y="4014024"/>
            <a:ext cx="332135" cy="36857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Freeform: Shape 10">
            <a:extLst>
              <a:ext uri="{FF2B5EF4-FFF2-40B4-BE49-F238E27FC236}">
                <a16:creationId xmlns:a16="http://schemas.microsoft.com/office/drawing/2014/main" id="{524A5F87-8284-4CE8-92DD-4DC1E03539AF}"/>
              </a:ext>
            </a:extLst>
          </p:cNvPr>
          <p:cNvSpPr/>
          <p:nvPr/>
        </p:nvSpPr>
        <p:spPr bwMode="gray">
          <a:xfrm>
            <a:off x="1719131" y="3324587"/>
            <a:ext cx="2111554" cy="1047361"/>
          </a:xfrm>
          <a:custGeom>
            <a:avLst/>
            <a:gdLst>
              <a:gd name="connsiteX0" fmla="*/ 0 w 1650124"/>
              <a:gd name="connsiteY0" fmla="*/ 998500 h 998500"/>
              <a:gd name="connsiteX1" fmla="*/ 893380 w 1650124"/>
              <a:gd name="connsiteY1" fmla="*/ 18 h 998500"/>
              <a:gd name="connsiteX2" fmla="*/ 1650124 w 1650124"/>
              <a:gd name="connsiteY2" fmla="*/ 977480 h 998500"/>
            </a:gdLst>
            <a:ahLst/>
            <a:cxnLst>
              <a:cxn ang="0">
                <a:pos x="connsiteX0" y="connsiteY0"/>
              </a:cxn>
              <a:cxn ang="0">
                <a:pos x="connsiteX1" y="connsiteY1"/>
              </a:cxn>
              <a:cxn ang="0">
                <a:pos x="connsiteX2" y="connsiteY2"/>
              </a:cxn>
            </a:cxnLst>
            <a:rect l="l" t="t" r="r" b="b"/>
            <a:pathLst>
              <a:path w="1650124" h="998500">
                <a:moveTo>
                  <a:pt x="0" y="998500"/>
                </a:moveTo>
                <a:cubicBezTo>
                  <a:pt x="309179" y="501010"/>
                  <a:pt x="618359" y="3521"/>
                  <a:pt x="893380" y="18"/>
                </a:cubicBezTo>
                <a:cubicBezTo>
                  <a:pt x="1168401" y="-3485"/>
                  <a:pt x="1409262" y="486997"/>
                  <a:pt x="1650124" y="977480"/>
                </a:cubicBezTo>
              </a:path>
            </a:pathLst>
          </a:custGeom>
          <a:noFill/>
          <a:ln w="28575">
            <a:solidFill>
              <a:srgbClr val="E28189"/>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ular Callout 75">
            <a:extLst>
              <a:ext uri="{FF2B5EF4-FFF2-40B4-BE49-F238E27FC236}">
                <a16:creationId xmlns:a16="http://schemas.microsoft.com/office/drawing/2014/main" id="{B68043C0-4640-4376-A5FF-0B60AFDEE179}"/>
              </a:ext>
            </a:extLst>
          </p:cNvPr>
          <p:cNvSpPr/>
          <p:nvPr/>
        </p:nvSpPr>
        <p:spPr bwMode="gray">
          <a:xfrm>
            <a:off x="3289401" y="2234930"/>
            <a:ext cx="1055073" cy="307777"/>
          </a:xfrm>
          <a:prstGeom prst="wedgeRectCallout">
            <a:avLst>
              <a:gd name="adj1" fmla="val -69183"/>
              <a:gd name="adj2" fmla="val -2112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rPr>
              <a:t>STUN</a:t>
            </a:r>
            <a:r>
              <a:rPr lang="zh-CN" altLang="en-US" sz="1400" dirty="0">
                <a:solidFill>
                  <a:schemeClr val="tx1"/>
                </a:solidFill>
                <a:latin typeface="Huawei Sans" panose="020C0503030203020204" pitchFamily="34" charset="0"/>
                <a:ea typeface="方正兰亭黑简体" panose="02000000000000000000" pitchFamily="2" charset="-122"/>
              </a:rPr>
              <a:t>会话</a:t>
            </a:r>
          </a:p>
        </p:txBody>
      </p:sp>
      <p:pic>
        <p:nvPicPr>
          <p:cNvPr id="29" name="Picture 2" descr="G:\做的项目\公共\扁平图标切换\更新2015_01_21\oss扁平图标库2015_01_21更新-04.png">
            <a:extLst>
              <a:ext uri="{FF2B5EF4-FFF2-40B4-BE49-F238E27FC236}">
                <a16:creationId xmlns:a16="http://schemas.microsoft.com/office/drawing/2014/main" id="{6E931B64-9F9A-457B-B8C0-DE619C6747B4}"/>
              </a:ext>
            </a:extLst>
          </p:cNvPr>
          <p:cNvPicPr>
            <a:picLocks noChangeAspect="1" noChangeArrowheads="1"/>
          </p:cNvPicPr>
          <p:nvPr/>
        </p:nvPicPr>
        <p:blipFill>
          <a:blip r:embed="rId5" cstate="print"/>
          <a:stretch>
            <a:fillRect/>
          </a:stretch>
        </p:blipFill>
        <p:spPr bwMode="gray">
          <a:xfrm>
            <a:off x="2651709" y="1713300"/>
            <a:ext cx="434391" cy="355410"/>
          </a:xfrm>
          <a:prstGeom prst="rect">
            <a:avLst/>
          </a:prstGeom>
          <a:noFill/>
        </p:spPr>
      </p:pic>
      <p:cxnSp>
        <p:nvCxnSpPr>
          <p:cNvPr id="30" name="直接连接符 106">
            <a:extLst>
              <a:ext uri="{FF2B5EF4-FFF2-40B4-BE49-F238E27FC236}">
                <a16:creationId xmlns:a16="http://schemas.microsoft.com/office/drawing/2014/main" id="{A7630CD8-BAE8-4396-94AD-835CAAE21146}"/>
              </a:ext>
            </a:extLst>
          </p:cNvPr>
          <p:cNvCxnSpPr>
            <a:cxnSpLocks/>
            <a:stCxn id="29" idx="2"/>
            <a:endCxn id="35" idx="1"/>
          </p:cNvCxnSpPr>
          <p:nvPr/>
        </p:nvCxnSpPr>
        <p:spPr bwMode="gray">
          <a:xfrm>
            <a:off x="2868905" y="2068710"/>
            <a:ext cx="0" cy="79836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Freeform: Shape 5">
            <a:extLst>
              <a:ext uri="{FF2B5EF4-FFF2-40B4-BE49-F238E27FC236}">
                <a16:creationId xmlns:a16="http://schemas.microsoft.com/office/drawing/2014/main" id="{EFD5CF9C-6F92-4F84-8309-A7375BE5311A}"/>
              </a:ext>
            </a:extLst>
          </p:cNvPr>
          <p:cNvSpPr/>
          <p:nvPr/>
        </p:nvSpPr>
        <p:spPr bwMode="gray">
          <a:xfrm>
            <a:off x="1673966" y="2117820"/>
            <a:ext cx="1038225" cy="2254128"/>
          </a:xfrm>
          <a:custGeom>
            <a:avLst/>
            <a:gdLst>
              <a:gd name="connsiteX0" fmla="*/ 0 w 1038225"/>
              <a:gd name="connsiteY0" fmla="*/ 2181225 h 2181225"/>
              <a:gd name="connsiteX1" fmla="*/ 714375 w 1038225"/>
              <a:gd name="connsiteY1" fmla="*/ 1028700 h 2181225"/>
              <a:gd name="connsiteX2" fmla="*/ 1038225 w 1038225"/>
              <a:gd name="connsiteY2" fmla="*/ 0 h 2181225"/>
            </a:gdLst>
            <a:ahLst/>
            <a:cxnLst>
              <a:cxn ang="0">
                <a:pos x="connsiteX0" y="connsiteY0"/>
              </a:cxn>
              <a:cxn ang="0">
                <a:pos x="connsiteX1" y="connsiteY1"/>
              </a:cxn>
              <a:cxn ang="0">
                <a:pos x="connsiteX2" y="connsiteY2"/>
              </a:cxn>
            </a:cxnLst>
            <a:rect l="l" t="t" r="r" b="b"/>
            <a:pathLst>
              <a:path w="1038225" h="2181225">
                <a:moveTo>
                  <a:pt x="0" y="2181225"/>
                </a:moveTo>
                <a:cubicBezTo>
                  <a:pt x="270669" y="1786731"/>
                  <a:pt x="541338" y="1392237"/>
                  <a:pt x="714375" y="1028700"/>
                </a:cubicBezTo>
                <a:cubicBezTo>
                  <a:pt x="887413" y="665162"/>
                  <a:pt x="962819" y="332581"/>
                  <a:pt x="1038225" y="0"/>
                </a:cubicBezTo>
              </a:path>
            </a:pathLst>
          </a:custGeom>
          <a:noFill/>
          <a:ln w="19050">
            <a:solidFill>
              <a:srgbClr val="56C4D2"/>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264A70BF-6A11-43F2-A0CE-BC20BC224011}"/>
              </a:ext>
            </a:extLst>
          </p:cNvPr>
          <p:cNvSpPr/>
          <p:nvPr/>
        </p:nvSpPr>
        <p:spPr bwMode="gray">
          <a:xfrm flipH="1">
            <a:off x="2998049" y="2104975"/>
            <a:ext cx="903774" cy="2266973"/>
          </a:xfrm>
          <a:custGeom>
            <a:avLst/>
            <a:gdLst>
              <a:gd name="connsiteX0" fmla="*/ 0 w 1038225"/>
              <a:gd name="connsiteY0" fmla="*/ 2181225 h 2181225"/>
              <a:gd name="connsiteX1" fmla="*/ 714375 w 1038225"/>
              <a:gd name="connsiteY1" fmla="*/ 1028700 h 2181225"/>
              <a:gd name="connsiteX2" fmla="*/ 1038225 w 1038225"/>
              <a:gd name="connsiteY2" fmla="*/ 0 h 2181225"/>
            </a:gdLst>
            <a:ahLst/>
            <a:cxnLst>
              <a:cxn ang="0">
                <a:pos x="connsiteX0" y="connsiteY0"/>
              </a:cxn>
              <a:cxn ang="0">
                <a:pos x="connsiteX1" y="connsiteY1"/>
              </a:cxn>
              <a:cxn ang="0">
                <a:pos x="connsiteX2" y="connsiteY2"/>
              </a:cxn>
            </a:cxnLst>
            <a:rect l="l" t="t" r="r" b="b"/>
            <a:pathLst>
              <a:path w="1038225" h="2181225">
                <a:moveTo>
                  <a:pt x="0" y="2181225"/>
                </a:moveTo>
                <a:cubicBezTo>
                  <a:pt x="270669" y="1786731"/>
                  <a:pt x="541338" y="1392237"/>
                  <a:pt x="714375" y="1028700"/>
                </a:cubicBezTo>
                <a:cubicBezTo>
                  <a:pt x="887413" y="665162"/>
                  <a:pt x="962819" y="332581"/>
                  <a:pt x="1038225" y="0"/>
                </a:cubicBezTo>
              </a:path>
            </a:pathLst>
          </a:custGeom>
          <a:noFill/>
          <a:ln w="19050">
            <a:solidFill>
              <a:srgbClr val="56C4D2"/>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ular Callout 75">
            <a:extLst>
              <a:ext uri="{FF2B5EF4-FFF2-40B4-BE49-F238E27FC236}">
                <a16:creationId xmlns:a16="http://schemas.microsoft.com/office/drawing/2014/main" id="{D0569CB8-0252-4751-82D9-6BCD932722DA}"/>
              </a:ext>
            </a:extLst>
          </p:cNvPr>
          <p:cNvSpPr/>
          <p:nvPr/>
        </p:nvSpPr>
        <p:spPr bwMode="gray">
          <a:xfrm>
            <a:off x="2166209" y="4119219"/>
            <a:ext cx="1055073" cy="307777"/>
          </a:xfrm>
          <a:prstGeom prst="wedgeRectCallout">
            <a:avLst>
              <a:gd name="adj1" fmla="val 38248"/>
              <a:gd name="adj2" fmla="val -23775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rPr>
              <a:t>NAT</a:t>
            </a:r>
            <a:r>
              <a:rPr lang="zh-CN" altLang="en-US" sz="1400" dirty="0">
                <a:solidFill>
                  <a:schemeClr val="tx1"/>
                </a:solidFill>
                <a:latin typeface="Huawei Sans" panose="020C0503030203020204" pitchFamily="34" charset="0"/>
                <a:ea typeface="方正兰亭黑简体" panose="02000000000000000000" pitchFamily="2" charset="-122"/>
              </a:rPr>
              <a:t>穿越</a:t>
            </a:r>
          </a:p>
        </p:txBody>
      </p:sp>
      <p:sp>
        <p:nvSpPr>
          <p:cNvPr id="44" name="文本框 25">
            <a:extLst>
              <a:ext uri="{FF2B5EF4-FFF2-40B4-BE49-F238E27FC236}">
                <a16:creationId xmlns:a16="http://schemas.microsoft.com/office/drawing/2014/main" id="{DCDFF3F5-C80E-42A1-BAEF-578AB0C6FB06}"/>
              </a:ext>
            </a:extLst>
          </p:cNvPr>
          <p:cNvSpPr txBox="1"/>
          <p:nvPr/>
        </p:nvSpPr>
        <p:spPr bwMode="gray">
          <a:xfrm>
            <a:off x="3086100" y="1730563"/>
            <a:ext cx="1248278" cy="307777"/>
          </a:xfrm>
          <a:prstGeom prst="rect">
            <a:avLst/>
          </a:prstGeom>
          <a:noFill/>
        </p:spPr>
        <p:txBody>
          <a:bodyPr wrap="square" rtlCol="0">
            <a:spAutoFit/>
          </a:bodyPr>
          <a:lstStyle/>
          <a:p>
            <a:pPr fontAlgn="ctr"/>
            <a:r>
              <a:rPr lang="en-US" sz="1400" dirty="0">
                <a:solidFill>
                  <a:srgbClr val="000000"/>
                </a:solidFill>
              </a:rPr>
              <a:t>STUN</a:t>
            </a:r>
            <a:r>
              <a:rPr lang="zh-CN" altLang="en-US" sz="1400" dirty="0">
                <a:solidFill>
                  <a:srgbClr val="000000"/>
                </a:solidFill>
              </a:rPr>
              <a:t>服务器</a:t>
            </a:r>
            <a:endParaRPr lang="en-US" altLang="zh-CN" sz="1400" dirty="0">
              <a:solidFill>
                <a:srgbClr val="000000"/>
              </a:solidFill>
            </a:endParaRPr>
          </a:p>
        </p:txBody>
      </p:sp>
      <p:sp>
        <p:nvSpPr>
          <p:cNvPr id="45"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48"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525586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Freeform 159">
            <a:extLst>
              <a:ext uri="{FF2B5EF4-FFF2-40B4-BE49-F238E27FC236}">
                <a16:creationId xmlns:a16="http://schemas.microsoft.com/office/drawing/2014/main" id="{AD92918F-BEA5-480E-940A-12D33E23D853}"/>
              </a:ext>
            </a:extLst>
          </p:cNvPr>
          <p:cNvSpPr/>
          <p:nvPr/>
        </p:nvSpPr>
        <p:spPr bwMode="gray">
          <a:xfrm flipH="1">
            <a:off x="914902" y="5269508"/>
            <a:ext cx="953047" cy="51566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区域</a:t>
            </a:r>
            <a:r>
              <a:rPr lang="en-US" sz="1400" dirty="0">
                <a:solidFill>
                  <a:schemeClr val="tx1"/>
                </a:solidFill>
              </a:rPr>
              <a:t>1</a:t>
            </a:r>
          </a:p>
        </p:txBody>
      </p:sp>
      <p:sp>
        <p:nvSpPr>
          <p:cNvPr id="149" name="Freeform 159">
            <a:extLst>
              <a:ext uri="{FF2B5EF4-FFF2-40B4-BE49-F238E27FC236}">
                <a16:creationId xmlns:a16="http://schemas.microsoft.com/office/drawing/2014/main" id="{D29F4D20-5DAE-49F2-8774-14A51E9A88D4}"/>
              </a:ext>
            </a:extLst>
          </p:cNvPr>
          <p:cNvSpPr/>
          <p:nvPr/>
        </p:nvSpPr>
        <p:spPr bwMode="gray">
          <a:xfrm flipH="1">
            <a:off x="2118439" y="5264687"/>
            <a:ext cx="953047" cy="51566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区域</a:t>
            </a:r>
            <a:r>
              <a:rPr lang="en-US" sz="1400" dirty="0">
                <a:solidFill>
                  <a:schemeClr val="tx1"/>
                </a:solidFill>
              </a:rPr>
              <a:t>2</a:t>
            </a:r>
          </a:p>
        </p:txBody>
      </p:sp>
      <p:sp>
        <p:nvSpPr>
          <p:cNvPr id="150" name="Freeform 159">
            <a:extLst>
              <a:ext uri="{FF2B5EF4-FFF2-40B4-BE49-F238E27FC236}">
                <a16:creationId xmlns:a16="http://schemas.microsoft.com/office/drawing/2014/main" id="{F1208605-1706-4130-BABE-EB3DA100A29A}"/>
              </a:ext>
            </a:extLst>
          </p:cNvPr>
          <p:cNvSpPr/>
          <p:nvPr/>
        </p:nvSpPr>
        <p:spPr bwMode="gray">
          <a:xfrm flipH="1">
            <a:off x="3480698" y="5268202"/>
            <a:ext cx="953047" cy="51566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区域</a:t>
            </a:r>
            <a:r>
              <a:rPr lang="en-US" sz="1400" dirty="0">
                <a:solidFill>
                  <a:schemeClr val="tx1"/>
                </a:solidFill>
              </a:rPr>
              <a:t>3</a:t>
            </a:r>
          </a:p>
        </p:txBody>
      </p:sp>
      <p:sp>
        <p:nvSpPr>
          <p:cNvPr id="151" name="Freeform 159">
            <a:extLst>
              <a:ext uri="{FF2B5EF4-FFF2-40B4-BE49-F238E27FC236}">
                <a16:creationId xmlns:a16="http://schemas.microsoft.com/office/drawing/2014/main" id="{D32E3444-1BF0-4A0C-A429-CA9FAF0DD1AC}"/>
              </a:ext>
            </a:extLst>
          </p:cNvPr>
          <p:cNvSpPr/>
          <p:nvPr/>
        </p:nvSpPr>
        <p:spPr bwMode="gray">
          <a:xfrm flipH="1">
            <a:off x="4694434" y="5263265"/>
            <a:ext cx="953047" cy="51566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区域</a:t>
            </a:r>
            <a:r>
              <a:rPr lang="en-US" sz="1400" dirty="0">
                <a:solidFill>
                  <a:schemeClr val="tx1"/>
                </a:solidFill>
              </a:rPr>
              <a:t>4</a:t>
            </a:r>
          </a:p>
        </p:txBody>
      </p:sp>
      <p:sp>
        <p:nvSpPr>
          <p:cNvPr id="2" name="标题 1"/>
          <p:cNvSpPr>
            <a:spLocks noGrp="1"/>
          </p:cNvSpPr>
          <p:nvPr>
            <p:ph type="title"/>
          </p:nvPr>
        </p:nvSpPr>
        <p:spPr bwMode="gray"/>
        <p:txBody>
          <a:bodyPr/>
          <a:lstStyle/>
          <a:p>
            <a:pPr defTabSz="914090"/>
            <a:r>
              <a:rPr lang="zh-CN" altLang="en-US" dirty="0">
                <a:latin typeface="Microsoft YaHei" panose="020B0503020204020204" pitchFamily="34" charset="-122"/>
                <a:ea typeface="Microsoft YaHei" panose="020B0503020204020204" pitchFamily="34" charset="-122"/>
                <a:sym typeface="微软雅黑" panose="020B0503020204020204" pitchFamily="34" charset="-122"/>
              </a:rPr>
              <a:t>组网规格计算</a:t>
            </a:r>
            <a:endParaRPr lang="zh-CN" altLang="en-US" dirty="0">
              <a:latin typeface="Microsoft YaHei" panose="020B0503020204020204" pitchFamily="34" charset="-122"/>
              <a:ea typeface="Microsoft YaHei" panose="020B0503020204020204" pitchFamily="34" charset="-122"/>
            </a:endParaRPr>
          </a:p>
        </p:txBody>
      </p:sp>
      <p:sp>
        <p:nvSpPr>
          <p:cNvPr id="4" name="Text Placeholder 3">
            <a:extLst>
              <a:ext uri="{FF2B5EF4-FFF2-40B4-BE49-F238E27FC236}">
                <a16:creationId xmlns:a16="http://schemas.microsoft.com/office/drawing/2014/main" id="{CF56627F-1F4D-4A69-95C7-4C53C4214BAC}"/>
              </a:ext>
            </a:extLst>
          </p:cNvPr>
          <p:cNvSpPr>
            <a:spLocks noGrp="1"/>
          </p:cNvSpPr>
          <p:nvPr>
            <p:ph type="body" sz="quarter" idx="10"/>
          </p:nvPr>
        </p:nvSpPr>
        <p:spPr bwMode="gray">
          <a:xfrm>
            <a:off x="6096000" y="1047750"/>
            <a:ext cx="5364164" cy="4879805"/>
          </a:xfrm>
        </p:spPr>
        <p:txBody>
          <a:bodyPr/>
          <a:lstStyle/>
          <a:p>
            <a:r>
              <a:rPr lang="zh-CN" altLang="en-US" sz="1600" dirty="0"/>
              <a:t>规划网络时需要考虑设备的承受能力。在</a:t>
            </a:r>
            <a:r>
              <a:rPr lang="en-US" altLang="zh-CN" sz="1600" dirty="0"/>
              <a:t>SD-WAN</a:t>
            </a:r>
            <a:r>
              <a:rPr lang="zh-CN" altLang="en-US" sz="1600" dirty="0"/>
              <a:t>解决方案中，</a:t>
            </a:r>
            <a:r>
              <a:rPr lang="en-US" altLang="zh-CN" sz="1600" dirty="0"/>
              <a:t>BGP</a:t>
            </a:r>
            <a:r>
              <a:rPr lang="zh-CN" altLang="en-US" sz="1600" dirty="0"/>
              <a:t>邻居数量、隧道数量、带宽都是需要考虑的因素。</a:t>
            </a:r>
            <a:endParaRPr lang="en-US" altLang="zh-CN" sz="1400" dirty="0"/>
          </a:p>
          <a:p>
            <a:r>
              <a:rPr lang="zh-CN" altLang="en-US" sz="1600" dirty="0"/>
              <a:t>组网规格计算</a:t>
            </a:r>
            <a:endParaRPr lang="en-US" altLang="zh-CN" sz="1600" dirty="0"/>
          </a:p>
          <a:p>
            <a:pPr lvl="1"/>
            <a:r>
              <a:rPr lang="en-US" sz="1400" dirty="0"/>
              <a:t>Hub/RR</a:t>
            </a:r>
            <a:r>
              <a:rPr lang="zh-CN" altLang="en-US" sz="1400" dirty="0"/>
              <a:t>的</a:t>
            </a:r>
            <a:r>
              <a:rPr lang="en-US" altLang="zh-CN" sz="1400" dirty="0"/>
              <a:t>BGP</a:t>
            </a:r>
            <a:r>
              <a:rPr lang="zh-CN" altLang="en-US" sz="1400" dirty="0"/>
              <a:t>邻居数</a:t>
            </a:r>
            <a:r>
              <a:rPr lang="en-US" altLang="zh-CN" sz="1400" dirty="0"/>
              <a:t>=</a:t>
            </a:r>
            <a:r>
              <a:rPr lang="zh-CN" altLang="en-US" sz="1400" dirty="0"/>
              <a:t>双网关站点数</a:t>
            </a:r>
            <a:r>
              <a:rPr lang="zh-CN" altLang="en-US" sz="1400"/>
              <a:t>*</a:t>
            </a:r>
            <a:r>
              <a:rPr lang="en-US" altLang="zh-CN" sz="1400"/>
              <a:t>2 + </a:t>
            </a:r>
            <a:r>
              <a:rPr lang="zh-CN" altLang="en-US" sz="1400"/>
              <a:t>单</a:t>
            </a:r>
            <a:r>
              <a:rPr lang="zh-CN" altLang="en-US" sz="1400" dirty="0"/>
              <a:t>网关站点数</a:t>
            </a:r>
          </a:p>
          <a:p>
            <a:pPr lvl="2"/>
            <a:r>
              <a:rPr lang="en-US" sz="1200" dirty="0"/>
              <a:t>BGP</a:t>
            </a:r>
            <a:r>
              <a:rPr lang="zh-CN" altLang="en-US" sz="1200" dirty="0"/>
              <a:t>邻居数</a:t>
            </a:r>
            <a:r>
              <a:rPr lang="en-US" altLang="zh-CN" sz="1200" dirty="0"/>
              <a:t>=200*2+100=500</a:t>
            </a:r>
          </a:p>
          <a:p>
            <a:pPr lvl="1"/>
            <a:r>
              <a:rPr lang="en-US" sz="1400" dirty="0"/>
              <a:t>Hub</a:t>
            </a:r>
            <a:r>
              <a:rPr lang="zh-CN" altLang="en-US" sz="1400" dirty="0"/>
              <a:t>隧道数</a:t>
            </a:r>
            <a:r>
              <a:rPr lang="en-US" altLang="zh-CN" sz="1400" dirty="0"/>
              <a:t>=Hub</a:t>
            </a:r>
            <a:r>
              <a:rPr lang="zh-CN" altLang="en-US" sz="1400" dirty="0"/>
              <a:t>双网关各自的隧道之和</a:t>
            </a:r>
            <a:endParaRPr lang="en-US" altLang="zh-CN" sz="1400" dirty="0"/>
          </a:p>
          <a:p>
            <a:pPr lvl="2"/>
            <a:r>
              <a:rPr lang="zh-CN" altLang="en-US" sz="1200" dirty="0"/>
              <a:t>双</a:t>
            </a:r>
            <a:r>
              <a:rPr lang="en-US" altLang="zh-CN" sz="1200" dirty="0"/>
              <a:t>Hub</a:t>
            </a:r>
            <a:r>
              <a:rPr lang="zh-CN" altLang="en-US" sz="1200" dirty="0"/>
              <a:t>站点共享隧道规格，比如每个</a:t>
            </a:r>
            <a:r>
              <a:rPr lang="en-US" altLang="zh-CN" sz="1200" dirty="0"/>
              <a:t>Hub</a:t>
            </a:r>
            <a:r>
              <a:rPr lang="zh-CN" altLang="en-US" sz="1200" dirty="0"/>
              <a:t>的隧道规格是</a:t>
            </a:r>
            <a:r>
              <a:rPr lang="en-US" altLang="zh-CN" sz="1200" dirty="0"/>
              <a:t>1000</a:t>
            </a:r>
            <a:r>
              <a:rPr lang="zh-CN" altLang="en-US" sz="1200" dirty="0"/>
              <a:t>，则在双</a:t>
            </a:r>
            <a:r>
              <a:rPr lang="en-US" altLang="zh-CN" sz="1200" dirty="0"/>
              <a:t>Hub</a:t>
            </a:r>
            <a:r>
              <a:rPr lang="zh-CN" altLang="en-US" sz="1200" dirty="0"/>
              <a:t>场景下，这两个</a:t>
            </a:r>
            <a:r>
              <a:rPr lang="en-US" altLang="zh-CN" sz="1200" dirty="0"/>
              <a:t>Hub</a:t>
            </a:r>
            <a:r>
              <a:rPr lang="zh-CN" altLang="en-US" sz="1200" dirty="0"/>
              <a:t>共享这</a:t>
            </a:r>
            <a:r>
              <a:rPr lang="en-US" altLang="zh-CN" sz="1200" dirty="0"/>
              <a:t>1000</a:t>
            </a:r>
            <a:r>
              <a:rPr lang="zh-CN" altLang="en-US" sz="1200" dirty="0"/>
              <a:t>个隧道规格。</a:t>
            </a:r>
            <a:endParaRPr lang="en-US" altLang="zh-CN" sz="1200" dirty="0"/>
          </a:p>
          <a:p>
            <a:pPr lvl="2"/>
            <a:r>
              <a:rPr lang="en-US" sz="1200" dirty="0"/>
              <a:t>Hub</a:t>
            </a:r>
            <a:r>
              <a:rPr lang="zh-CN" altLang="en-US" sz="1200" dirty="0"/>
              <a:t>隧道数</a:t>
            </a:r>
            <a:r>
              <a:rPr lang="en-US" altLang="zh-CN" sz="1200" dirty="0"/>
              <a:t>=300*4=1200</a:t>
            </a:r>
          </a:p>
          <a:p>
            <a:pPr lvl="1"/>
            <a:r>
              <a:rPr lang="en-US" altLang="zh-CN" sz="1400" dirty="0"/>
              <a:t>Hub</a:t>
            </a:r>
            <a:r>
              <a:rPr lang="zh-CN" altLang="en-US" sz="1400" dirty="0"/>
              <a:t>站点网络带宽</a:t>
            </a:r>
            <a:r>
              <a:rPr lang="en-US" altLang="zh-CN" sz="1400" dirty="0"/>
              <a:t>=</a:t>
            </a:r>
            <a:r>
              <a:rPr lang="zh-CN" altLang="en-US" sz="1400" dirty="0"/>
              <a:t>分支站点数量</a:t>
            </a:r>
            <a:r>
              <a:rPr lang="en-US" altLang="zh-CN" sz="1400" dirty="0"/>
              <a:t>*</a:t>
            </a:r>
            <a:r>
              <a:rPr lang="zh-CN" altLang="en-US" sz="1400" dirty="0"/>
              <a:t>站点所需带宽</a:t>
            </a:r>
            <a:endParaRPr lang="en-US" altLang="zh-CN" sz="1400" dirty="0"/>
          </a:p>
          <a:p>
            <a:pPr lvl="2"/>
            <a:r>
              <a:rPr lang="en-US" altLang="zh-CN" sz="1200" dirty="0"/>
              <a:t>Hub</a:t>
            </a:r>
            <a:r>
              <a:rPr lang="zh-CN" altLang="en-US" sz="1200" dirty="0"/>
              <a:t>所需网络总带宽</a:t>
            </a:r>
            <a:r>
              <a:rPr lang="en-US" altLang="zh-CN" sz="1200"/>
              <a:t>=300*10 Mbps=3 Gbps</a:t>
            </a:r>
            <a:endParaRPr lang="en-US" altLang="zh-CN" sz="1200" dirty="0"/>
          </a:p>
          <a:p>
            <a:pPr lvl="1"/>
            <a:r>
              <a:rPr lang="zh-CN" altLang="en-US" sz="1400" dirty="0"/>
              <a:t>控制器可管理大量站点，一般在组网规格计算中无需太过关注。</a:t>
            </a:r>
            <a:endParaRPr lang="en-US" altLang="zh-CN" sz="1400" dirty="0"/>
          </a:p>
        </p:txBody>
      </p:sp>
      <p:pic>
        <p:nvPicPr>
          <p:cNvPr id="71" name="图片 45">
            <a:extLst>
              <a:ext uri="{FF2B5EF4-FFF2-40B4-BE49-F238E27FC236}">
                <a16:creationId xmlns:a16="http://schemas.microsoft.com/office/drawing/2014/main" id="{B4F2E6A4-0BF2-4D8A-ABF4-5DD4F6DD4D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851629" y="1183069"/>
            <a:ext cx="1486668" cy="933488"/>
          </a:xfrm>
          <a:prstGeom prst="rect">
            <a:avLst/>
          </a:prstGeom>
        </p:spPr>
      </p:pic>
      <p:sp>
        <p:nvSpPr>
          <p:cNvPr id="72" name="文本框 46">
            <a:extLst>
              <a:ext uri="{FF2B5EF4-FFF2-40B4-BE49-F238E27FC236}">
                <a16:creationId xmlns:a16="http://schemas.microsoft.com/office/drawing/2014/main" id="{24E2C191-C7D8-400A-8CB3-5F161BC37783}"/>
              </a:ext>
            </a:extLst>
          </p:cNvPr>
          <p:cNvSpPr txBox="1"/>
          <p:nvPr/>
        </p:nvSpPr>
        <p:spPr bwMode="gray">
          <a:xfrm>
            <a:off x="2125147" y="1491347"/>
            <a:ext cx="940450" cy="307777"/>
          </a:xfrm>
          <a:prstGeom prst="rect">
            <a:avLst/>
          </a:prstGeom>
          <a:noFill/>
        </p:spPr>
        <p:txBody>
          <a:bodyPr wrap="square" rtlCol="0">
            <a:spAutoFit/>
          </a:bodyPr>
          <a:lstStyle/>
          <a:p>
            <a:pPr algn="ctr" fontAlgn="base">
              <a:spcBef>
                <a:spcPct val="0"/>
              </a:spcBef>
              <a:spcAft>
                <a:spcPct val="0"/>
              </a:spcAft>
            </a:pPr>
            <a:r>
              <a:rPr lang="zh-CN" altLang="en-US" sz="1400" b="1" dirty="0">
                <a:solidFill>
                  <a:srgbClr val="000000"/>
                </a:solidFill>
              </a:rPr>
              <a:t>总部</a:t>
            </a:r>
            <a:r>
              <a:rPr lang="en-US" altLang="zh-CN" sz="1400" b="1" dirty="0">
                <a:solidFill>
                  <a:srgbClr val="000000"/>
                </a:solidFill>
              </a:rPr>
              <a:t>/DC</a:t>
            </a:r>
            <a:endParaRPr lang="zh-CN" altLang="en-US" sz="1400" b="1" dirty="0">
              <a:solidFill>
                <a:srgbClr val="000000"/>
              </a:solidFill>
            </a:endParaRPr>
          </a:p>
        </p:txBody>
      </p:sp>
      <p:pic>
        <p:nvPicPr>
          <p:cNvPr id="74" name="图片 48">
            <a:extLst>
              <a:ext uri="{FF2B5EF4-FFF2-40B4-BE49-F238E27FC236}">
                <a16:creationId xmlns:a16="http://schemas.microsoft.com/office/drawing/2014/main" id="{D6DC85C0-75FB-434F-BEE6-2CD1F58A224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673038" y="4991956"/>
            <a:ext cx="466668" cy="385001"/>
          </a:xfrm>
          <a:prstGeom prst="rect">
            <a:avLst/>
          </a:prstGeom>
        </p:spPr>
      </p:pic>
      <p:cxnSp>
        <p:nvCxnSpPr>
          <p:cNvPr id="76" name="直接连接符 50">
            <a:extLst>
              <a:ext uri="{FF2B5EF4-FFF2-40B4-BE49-F238E27FC236}">
                <a16:creationId xmlns:a16="http://schemas.microsoft.com/office/drawing/2014/main" id="{10AEF5FE-284D-4CA7-AD3E-5A9B6DDD53DF}"/>
              </a:ext>
            </a:extLst>
          </p:cNvPr>
          <p:cNvCxnSpPr>
            <a:cxnSpLocks/>
            <a:stCxn id="74" idx="0"/>
          </p:cNvCxnSpPr>
          <p:nvPr/>
        </p:nvCxnSpPr>
        <p:spPr bwMode="gray">
          <a:xfrm flipV="1">
            <a:off x="2906372" y="3905320"/>
            <a:ext cx="296597" cy="1084483"/>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79" name="图片 53">
            <a:extLst>
              <a:ext uri="{FF2B5EF4-FFF2-40B4-BE49-F238E27FC236}">
                <a16:creationId xmlns:a16="http://schemas.microsoft.com/office/drawing/2014/main" id="{0084CF1A-3CC2-482C-90BA-FED18DAAC20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137553" y="4991956"/>
            <a:ext cx="466668" cy="385001"/>
          </a:xfrm>
          <a:prstGeom prst="rect">
            <a:avLst/>
          </a:prstGeom>
        </p:spPr>
      </p:pic>
      <p:cxnSp>
        <p:nvCxnSpPr>
          <p:cNvPr id="80" name="直接连接符 54">
            <a:extLst>
              <a:ext uri="{FF2B5EF4-FFF2-40B4-BE49-F238E27FC236}">
                <a16:creationId xmlns:a16="http://schemas.microsoft.com/office/drawing/2014/main" id="{ECFCE6D8-4872-438F-A2A6-49BC669E8428}"/>
              </a:ext>
            </a:extLst>
          </p:cNvPr>
          <p:cNvCxnSpPr>
            <a:stCxn id="74" idx="1"/>
            <a:endCxn id="79" idx="3"/>
          </p:cNvCxnSpPr>
          <p:nvPr/>
        </p:nvCxnSpPr>
        <p:spPr bwMode="gray">
          <a:xfrm flipH="1">
            <a:off x="2604223" y="5184457"/>
            <a:ext cx="6881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1" name="直接连接符 55">
            <a:extLst>
              <a:ext uri="{FF2B5EF4-FFF2-40B4-BE49-F238E27FC236}">
                <a16:creationId xmlns:a16="http://schemas.microsoft.com/office/drawing/2014/main" id="{11A70F72-DA68-4E2D-B3FA-3855BF129CF5}"/>
              </a:ext>
            </a:extLst>
          </p:cNvPr>
          <p:cNvCxnSpPr>
            <a:cxnSpLocks/>
            <a:stCxn id="79" idx="0"/>
          </p:cNvCxnSpPr>
          <p:nvPr/>
        </p:nvCxnSpPr>
        <p:spPr bwMode="gray">
          <a:xfrm flipH="1" flipV="1">
            <a:off x="1672305" y="3905323"/>
            <a:ext cx="698582" cy="10844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5" name="直接连接符 59">
            <a:extLst>
              <a:ext uri="{FF2B5EF4-FFF2-40B4-BE49-F238E27FC236}">
                <a16:creationId xmlns:a16="http://schemas.microsoft.com/office/drawing/2014/main" id="{3134E7C6-439E-44B6-B604-50B9BE02DE9C}"/>
              </a:ext>
            </a:extLst>
          </p:cNvPr>
          <p:cNvCxnSpPr/>
          <p:nvPr/>
        </p:nvCxnSpPr>
        <p:spPr bwMode="gray">
          <a:xfrm flipH="1">
            <a:off x="4044084" y="3592776"/>
            <a:ext cx="178871" cy="7429"/>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直接连接符 60">
            <a:extLst>
              <a:ext uri="{FF2B5EF4-FFF2-40B4-BE49-F238E27FC236}">
                <a16:creationId xmlns:a16="http://schemas.microsoft.com/office/drawing/2014/main" id="{9D36294E-C4DA-4527-B30E-B2AA9035B1E3}"/>
              </a:ext>
            </a:extLst>
          </p:cNvPr>
          <p:cNvCxnSpPr>
            <a:cxnSpLocks/>
            <a:stCxn id="74" idx="0"/>
          </p:cNvCxnSpPr>
          <p:nvPr/>
        </p:nvCxnSpPr>
        <p:spPr bwMode="gray">
          <a:xfrm flipV="1">
            <a:off x="2906372" y="3898600"/>
            <a:ext cx="1788062" cy="1091203"/>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87" name="图片 61">
            <a:extLst>
              <a:ext uri="{FF2B5EF4-FFF2-40B4-BE49-F238E27FC236}">
                <a16:creationId xmlns:a16="http://schemas.microsoft.com/office/drawing/2014/main" id="{0B8DA6CB-3623-4A38-910B-76EB0432402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629372" y="1854885"/>
            <a:ext cx="466668" cy="385001"/>
          </a:xfrm>
          <a:prstGeom prst="rect">
            <a:avLst/>
          </a:prstGeom>
        </p:spPr>
      </p:pic>
      <p:pic>
        <p:nvPicPr>
          <p:cNvPr id="88" name="图片 62">
            <a:extLst>
              <a:ext uri="{FF2B5EF4-FFF2-40B4-BE49-F238E27FC236}">
                <a16:creationId xmlns:a16="http://schemas.microsoft.com/office/drawing/2014/main" id="{B9B4ECC2-0D7E-4F6E-871D-E38A927D4AE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093887" y="1854885"/>
            <a:ext cx="466668" cy="385001"/>
          </a:xfrm>
          <a:prstGeom prst="rect">
            <a:avLst/>
          </a:prstGeom>
        </p:spPr>
      </p:pic>
      <p:cxnSp>
        <p:nvCxnSpPr>
          <p:cNvPr id="89" name="直接连接符 63">
            <a:extLst>
              <a:ext uri="{FF2B5EF4-FFF2-40B4-BE49-F238E27FC236}">
                <a16:creationId xmlns:a16="http://schemas.microsoft.com/office/drawing/2014/main" id="{6F88CF2C-BDB2-4E71-A42D-6E979B239A3B}"/>
              </a:ext>
            </a:extLst>
          </p:cNvPr>
          <p:cNvCxnSpPr>
            <a:stCxn id="87" idx="1"/>
            <a:endCxn id="88" idx="3"/>
          </p:cNvCxnSpPr>
          <p:nvPr/>
        </p:nvCxnSpPr>
        <p:spPr bwMode="gray">
          <a:xfrm flipH="1">
            <a:off x="2560557" y="2047386"/>
            <a:ext cx="6881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0" name="直接连接符 64">
            <a:extLst>
              <a:ext uri="{FF2B5EF4-FFF2-40B4-BE49-F238E27FC236}">
                <a16:creationId xmlns:a16="http://schemas.microsoft.com/office/drawing/2014/main" id="{F4884AFC-2A9A-428D-9089-DC91B0DCF39D}"/>
              </a:ext>
            </a:extLst>
          </p:cNvPr>
          <p:cNvCxnSpPr>
            <a:cxnSpLocks/>
            <a:stCxn id="145" idx="3"/>
            <a:endCxn id="88" idx="2"/>
          </p:cNvCxnSpPr>
          <p:nvPr/>
        </p:nvCxnSpPr>
        <p:spPr bwMode="gray">
          <a:xfrm flipV="1">
            <a:off x="1817304" y="2242040"/>
            <a:ext cx="509917" cy="10763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1" name="直接连接符 65">
            <a:extLst>
              <a:ext uri="{FF2B5EF4-FFF2-40B4-BE49-F238E27FC236}">
                <a16:creationId xmlns:a16="http://schemas.microsoft.com/office/drawing/2014/main" id="{DFA254F7-5775-4548-9A14-B8E554341518}"/>
              </a:ext>
            </a:extLst>
          </p:cNvPr>
          <p:cNvCxnSpPr>
            <a:cxnSpLocks/>
            <a:stCxn id="146" idx="2"/>
            <a:endCxn id="88" idx="2"/>
          </p:cNvCxnSpPr>
          <p:nvPr/>
        </p:nvCxnSpPr>
        <p:spPr bwMode="gray">
          <a:xfrm flipH="1" flipV="1">
            <a:off x="2327221" y="2242040"/>
            <a:ext cx="968140" cy="108523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2" name="直接连接符 66">
            <a:extLst>
              <a:ext uri="{FF2B5EF4-FFF2-40B4-BE49-F238E27FC236}">
                <a16:creationId xmlns:a16="http://schemas.microsoft.com/office/drawing/2014/main" id="{CE1D4D9A-BBCE-4CBB-84EA-D3D2060262B2}"/>
              </a:ext>
            </a:extLst>
          </p:cNvPr>
          <p:cNvCxnSpPr>
            <a:cxnSpLocks/>
            <a:stCxn id="146" idx="2"/>
            <a:endCxn id="87" idx="2"/>
          </p:cNvCxnSpPr>
          <p:nvPr/>
        </p:nvCxnSpPr>
        <p:spPr bwMode="gray">
          <a:xfrm flipH="1" flipV="1">
            <a:off x="2862706" y="2242040"/>
            <a:ext cx="432655" cy="108523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3" name="直接连接符 67">
            <a:extLst>
              <a:ext uri="{FF2B5EF4-FFF2-40B4-BE49-F238E27FC236}">
                <a16:creationId xmlns:a16="http://schemas.microsoft.com/office/drawing/2014/main" id="{90F9DC46-24E3-40D3-861C-C262884A9E01}"/>
              </a:ext>
            </a:extLst>
          </p:cNvPr>
          <p:cNvCxnSpPr>
            <a:cxnSpLocks/>
            <a:stCxn id="145" idx="3"/>
            <a:endCxn id="87" idx="2"/>
          </p:cNvCxnSpPr>
          <p:nvPr/>
        </p:nvCxnSpPr>
        <p:spPr bwMode="gray">
          <a:xfrm flipV="1">
            <a:off x="1817304" y="2242040"/>
            <a:ext cx="1045402" cy="1076356"/>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95" name="图片 69">
            <a:extLst>
              <a:ext uri="{FF2B5EF4-FFF2-40B4-BE49-F238E27FC236}">
                <a16:creationId xmlns:a16="http://schemas.microsoft.com/office/drawing/2014/main" id="{A06F4D67-9C57-41F2-B636-81160A0C85F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1460243" y="4999385"/>
            <a:ext cx="466668" cy="385001"/>
          </a:xfrm>
          <a:prstGeom prst="rect">
            <a:avLst/>
          </a:prstGeom>
        </p:spPr>
      </p:pic>
      <p:pic>
        <p:nvPicPr>
          <p:cNvPr id="103" name="图片 71">
            <a:extLst>
              <a:ext uri="{FF2B5EF4-FFF2-40B4-BE49-F238E27FC236}">
                <a16:creationId xmlns:a16="http://schemas.microsoft.com/office/drawing/2014/main" id="{8839762A-0B1D-4F6E-AE38-884532D53F4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924758" y="4999385"/>
            <a:ext cx="466668" cy="385001"/>
          </a:xfrm>
          <a:prstGeom prst="rect">
            <a:avLst/>
          </a:prstGeom>
        </p:spPr>
      </p:pic>
      <p:cxnSp>
        <p:nvCxnSpPr>
          <p:cNvPr id="108" name="直接连接符 72">
            <a:extLst>
              <a:ext uri="{FF2B5EF4-FFF2-40B4-BE49-F238E27FC236}">
                <a16:creationId xmlns:a16="http://schemas.microsoft.com/office/drawing/2014/main" id="{7E3A3368-8C47-4CC2-B834-CFE38C1BF31D}"/>
              </a:ext>
            </a:extLst>
          </p:cNvPr>
          <p:cNvCxnSpPr>
            <a:cxnSpLocks/>
            <a:stCxn id="95" idx="1"/>
            <a:endCxn id="103" idx="3"/>
          </p:cNvCxnSpPr>
          <p:nvPr/>
        </p:nvCxnSpPr>
        <p:spPr bwMode="gray">
          <a:xfrm flipH="1">
            <a:off x="1391426" y="5191886"/>
            <a:ext cx="68817"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14" name="图片 74">
            <a:extLst>
              <a:ext uri="{FF2B5EF4-FFF2-40B4-BE49-F238E27FC236}">
                <a16:creationId xmlns:a16="http://schemas.microsoft.com/office/drawing/2014/main" id="{AE212F65-3E24-41C8-A141-99781B37B26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4955701" y="4999385"/>
            <a:ext cx="466668" cy="385001"/>
          </a:xfrm>
          <a:prstGeom prst="rect">
            <a:avLst/>
          </a:prstGeom>
        </p:spPr>
      </p:pic>
      <p:pic>
        <p:nvPicPr>
          <p:cNvPr id="117" name="图片 78">
            <a:extLst>
              <a:ext uri="{FF2B5EF4-FFF2-40B4-BE49-F238E27FC236}">
                <a16:creationId xmlns:a16="http://schemas.microsoft.com/office/drawing/2014/main" id="{08DBB484-E350-4EFA-9462-1725BB49CD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3744231" y="4995816"/>
            <a:ext cx="466668" cy="385001"/>
          </a:xfrm>
          <a:prstGeom prst="rect">
            <a:avLst/>
          </a:prstGeom>
        </p:spPr>
      </p:pic>
      <p:cxnSp>
        <p:nvCxnSpPr>
          <p:cNvPr id="120" name="直接连接符 80">
            <a:extLst>
              <a:ext uri="{FF2B5EF4-FFF2-40B4-BE49-F238E27FC236}">
                <a16:creationId xmlns:a16="http://schemas.microsoft.com/office/drawing/2014/main" id="{0ACBE329-A15F-4058-9F3D-8FA7E54B0AE3}"/>
              </a:ext>
            </a:extLst>
          </p:cNvPr>
          <p:cNvCxnSpPr>
            <a:cxnSpLocks/>
            <a:stCxn id="103" idx="0"/>
          </p:cNvCxnSpPr>
          <p:nvPr/>
        </p:nvCxnSpPr>
        <p:spPr bwMode="gray">
          <a:xfrm flipV="1">
            <a:off x="1158092" y="3898600"/>
            <a:ext cx="514213" cy="10986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1" name="直接连接符 81">
            <a:extLst>
              <a:ext uri="{FF2B5EF4-FFF2-40B4-BE49-F238E27FC236}">
                <a16:creationId xmlns:a16="http://schemas.microsoft.com/office/drawing/2014/main" id="{B465D9D4-94EE-4345-BF98-4908A1EDF57F}"/>
              </a:ext>
            </a:extLst>
          </p:cNvPr>
          <p:cNvCxnSpPr>
            <a:cxnSpLocks/>
            <a:stCxn id="95" idx="0"/>
          </p:cNvCxnSpPr>
          <p:nvPr/>
        </p:nvCxnSpPr>
        <p:spPr bwMode="gray">
          <a:xfrm flipV="1">
            <a:off x="1693577" y="3905321"/>
            <a:ext cx="1524048" cy="109191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3" name="直接连接符 82">
            <a:extLst>
              <a:ext uri="{FF2B5EF4-FFF2-40B4-BE49-F238E27FC236}">
                <a16:creationId xmlns:a16="http://schemas.microsoft.com/office/drawing/2014/main" id="{9534D5FE-6F2C-4858-941B-151086402344}"/>
              </a:ext>
            </a:extLst>
          </p:cNvPr>
          <p:cNvCxnSpPr>
            <a:cxnSpLocks/>
            <a:stCxn id="114" idx="0"/>
          </p:cNvCxnSpPr>
          <p:nvPr/>
        </p:nvCxnSpPr>
        <p:spPr bwMode="gray">
          <a:xfrm flipH="1" flipV="1">
            <a:off x="1672304" y="3905322"/>
            <a:ext cx="3516731" cy="10919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5" name="直接连接符 83">
            <a:extLst>
              <a:ext uri="{FF2B5EF4-FFF2-40B4-BE49-F238E27FC236}">
                <a16:creationId xmlns:a16="http://schemas.microsoft.com/office/drawing/2014/main" id="{6FC70E60-3A79-45DC-86D4-537355E5F526}"/>
              </a:ext>
            </a:extLst>
          </p:cNvPr>
          <p:cNvCxnSpPr>
            <a:cxnSpLocks/>
            <a:stCxn id="114" idx="0"/>
          </p:cNvCxnSpPr>
          <p:nvPr/>
        </p:nvCxnSpPr>
        <p:spPr bwMode="gray">
          <a:xfrm flipH="1" flipV="1">
            <a:off x="3217625" y="3912045"/>
            <a:ext cx="1971410" cy="108518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6" name="直接连接符 84">
            <a:extLst>
              <a:ext uri="{FF2B5EF4-FFF2-40B4-BE49-F238E27FC236}">
                <a16:creationId xmlns:a16="http://schemas.microsoft.com/office/drawing/2014/main" id="{1F46D7C3-31C7-4C55-A349-1468E82DD7F0}"/>
              </a:ext>
            </a:extLst>
          </p:cNvPr>
          <p:cNvCxnSpPr>
            <a:cxnSpLocks/>
            <a:stCxn id="117" idx="0"/>
          </p:cNvCxnSpPr>
          <p:nvPr/>
        </p:nvCxnSpPr>
        <p:spPr bwMode="gray">
          <a:xfrm flipH="1" flipV="1">
            <a:off x="1679240" y="3912045"/>
            <a:ext cx="2298325" cy="108161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7" name="直接连接符 85">
            <a:extLst>
              <a:ext uri="{FF2B5EF4-FFF2-40B4-BE49-F238E27FC236}">
                <a16:creationId xmlns:a16="http://schemas.microsoft.com/office/drawing/2014/main" id="{72C50699-3C98-4F35-826E-B3E1EEDD6456}"/>
              </a:ext>
            </a:extLst>
          </p:cNvPr>
          <p:cNvCxnSpPr>
            <a:cxnSpLocks/>
            <a:stCxn id="117" idx="0"/>
          </p:cNvCxnSpPr>
          <p:nvPr/>
        </p:nvCxnSpPr>
        <p:spPr bwMode="gray">
          <a:xfrm flipH="1" flipV="1">
            <a:off x="3202969" y="3898600"/>
            <a:ext cx="774596" cy="10950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8" name="直接连接符 86">
            <a:extLst>
              <a:ext uri="{FF2B5EF4-FFF2-40B4-BE49-F238E27FC236}">
                <a16:creationId xmlns:a16="http://schemas.microsoft.com/office/drawing/2014/main" id="{F4CF406A-9A44-4818-9E29-E0D709462E08}"/>
              </a:ext>
            </a:extLst>
          </p:cNvPr>
          <p:cNvCxnSpPr>
            <a:cxnSpLocks/>
            <a:stCxn id="114" idx="0"/>
          </p:cNvCxnSpPr>
          <p:nvPr/>
        </p:nvCxnSpPr>
        <p:spPr bwMode="gray">
          <a:xfrm flipH="1" flipV="1">
            <a:off x="4694434" y="3912045"/>
            <a:ext cx="494601" cy="108518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1" name="文本框 87">
            <a:extLst>
              <a:ext uri="{FF2B5EF4-FFF2-40B4-BE49-F238E27FC236}">
                <a16:creationId xmlns:a16="http://schemas.microsoft.com/office/drawing/2014/main" id="{64E0D6EB-CCB8-4EF3-B731-878E84B039A2}"/>
              </a:ext>
            </a:extLst>
          </p:cNvPr>
          <p:cNvSpPr txBox="1"/>
          <p:nvPr/>
        </p:nvSpPr>
        <p:spPr bwMode="gray">
          <a:xfrm>
            <a:off x="935674" y="5884636"/>
            <a:ext cx="882769" cy="276999"/>
          </a:xfrm>
          <a:prstGeom prst="rect">
            <a:avLst/>
          </a:prstGeom>
          <a:noFill/>
        </p:spPr>
        <p:txBody>
          <a:bodyPr wrap="square" rtlCol="0">
            <a:spAutoFit/>
          </a:bodyPr>
          <a:lstStyle/>
          <a:p>
            <a:pPr algn="ctr" fontAlgn="base">
              <a:spcBef>
                <a:spcPct val="0"/>
              </a:spcBef>
              <a:spcAft>
                <a:spcPct val="0"/>
              </a:spcAft>
            </a:pPr>
            <a:r>
              <a:rPr lang="en-US" altLang="zh-CN" sz="1200" b="1" dirty="0">
                <a:solidFill>
                  <a:srgbClr val="000000"/>
                </a:solidFill>
              </a:rPr>
              <a:t>30</a:t>
            </a:r>
            <a:r>
              <a:rPr lang="zh-CN" altLang="en-US" sz="1200" b="1" dirty="0">
                <a:solidFill>
                  <a:srgbClr val="000000"/>
                </a:solidFill>
              </a:rPr>
              <a:t>个</a:t>
            </a:r>
          </a:p>
        </p:txBody>
      </p:sp>
      <p:sp>
        <p:nvSpPr>
          <p:cNvPr id="132" name="文本框 88">
            <a:extLst>
              <a:ext uri="{FF2B5EF4-FFF2-40B4-BE49-F238E27FC236}">
                <a16:creationId xmlns:a16="http://schemas.microsoft.com/office/drawing/2014/main" id="{70D92D39-9D1D-4976-8F11-FB1FA9675E02}"/>
              </a:ext>
            </a:extLst>
          </p:cNvPr>
          <p:cNvSpPr txBox="1"/>
          <p:nvPr/>
        </p:nvSpPr>
        <p:spPr bwMode="gray">
          <a:xfrm>
            <a:off x="2162838" y="5884636"/>
            <a:ext cx="882769" cy="276999"/>
          </a:xfrm>
          <a:prstGeom prst="rect">
            <a:avLst/>
          </a:prstGeom>
          <a:noFill/>
        </p:spPr>
        <p:txBody>
          <a:bodyPr wrap="square" rtlCol="0">
            <a:spAutoFit/>
          </a:bodyPr>
          <a:lstStyle/>
          <a:p>
            <a:pPr algn="ctr" fontAlgn="base">
              <a:spcBef>
                <a:spcPct val="0"/>
              </a:spcBef>
              <a:spcAft>
                <a:spcPct val="0"/>
              </a:spcAft>
            </a:pPr>
            <a:r>
              <a:rPr lang="en-US" altLang="zh-CN" sz="1200" b="1" dirty="0">
                <a:solidFill>
                  <a:srgbClr val="000000"/>
                </a:solidFill>
              </a:rPr>
              <a:t>170</a:t>
            </a:r>
            <a:r>
              <a:rPr lang="zh-CN" altLang="en-US" sz="1200" b="1" dirty="0">
                <a:solidFill>
                  <a:srgbClr val="000000"/>
                </a:solidFill>
              </a:rPr>
              <a:t>个</a:t>
            </a:r>
          </a:p>
        </p:txBody>
      </p:sp>
      <p:sp>
        <p:nvSpPr>
          <p:cNvPr id="133" name="文本框 89">
            <a:extLst>
              <a:ext uri="{FF2B5EF4-FFF2-40B4-BE49-F238E27FC236}">
                <a16:creationId xmlns:a16="http://schemas.microsoft.com/office/drawing/2014/main" id="{EDF60975-2C2A-402A-9AAB-978B40B4C56D}"/>
              </a:ext>
            </a:extLst>
          </p:cNvPr>
          <p:cNvSpPr txBox="1"/>
          <p:nvPr/>
        </p:nvSpPr>
        <p:spPr bwMode="gray">
          <a:xfrm>
            <a:off x="3536182" y="5884636"/>
            <a:ext cx="882769" cy="276999"/>
          </a:xfrm>
          <a:prstGeom prst="rect">
            <a:avLst/>
          </a:prstGeom>
          <a:noFill/>
        </p:spPr>
        <p:txBody>
          <a:bodyPr wrap="square" rtlCol="0">
            <a:spAutoFit/>
          </a:bodyPr>
          <a:lstStyle/>
          <a:p>
            <a:pPr algn="ctr" fontAlgn="base">
              <a:spcBef>
                <a:spcPct val="0"/>
              </a:spcBef>
              <a:spcAft>
                <a:spcPct val="0"/>
              </a:spcAft>
            </a:pPr>
            <a:r>
              <a:rPr lang="en-US" altLang="zh-CN" sz="1200" b="1" dirty="0">
                <a:solidFill>
                  <a:srgbClr val="000000"/>
                </a:solidFill>
              </a:rPr>
              <a:t>15</a:t>
            </a:r>
            <a:r>
              <a:rPr lang="zh-CN" altLang="en-US" sz="1200" b="1" dirty="0">
                <a:solidFill>
                  <a:srgbClr val="000000"/>
                </a:solidFill>
              </a:rPr>
              <a:t>个</a:t>
            </a:r>
          </a:p>
        </p:txBody>
      </p:sp>
      <p:sp>
        <p:nvSpPr>
          <p:cNvPr id="134" name="文本框 90">
            <a:extLst>
              <a:ext uri="{FF2B5EF4-FFF2-40B4-BE49-F238E27FC236}">
                <a16:creationId xmlns:a16="http://schemas.microsoft.com/office/drawing/2014/main" id="{E05CC600-C44A-4C51-BFF1-B9B8E621A844}"/>
              </a:ext>
            </a:extLst>
          </p:cNvPr>
          <p:cNvSpPr txBox="1"/>
          <p:nvPr/>
        </p:nvSpPr>
        <p:spPr bwMode="gray">
          <a:xfrm>
            <a:off x="4733714" y="5884635"/>
            <a:ext cx="882769" cy="276999"/>
          </a:xfrm>
          <a:prstGeom prst="rect">
            <a:avLst/>
          </a:prstGeom>
          <a:noFill/>
        </p:spPr>
        <p:txBody>
          <a:bodyPr wrap="square" rtlCol="0">
            <a:spAutoFit/>
          </a:bodyPr>
          <a:lstStyle/>
          <a:p>
            <a:pPr algn="ctr" fontAlgn="base">
              <a:spcBef>
                <a:spcPct val="0"/>
              </a:spcBef>
              <a:spcAft>
                <a:spcPct val="0"/>
              </a:spcAft>
            </a:pPr>
            <a:r>
              <a:rPr lang="en-US" altLang="zh-CN" sz="1200" b="1" dirty="0">
                <a:solidFill>
                  <a:srgbClr val="000000"/>
                </a:solidFill>
              </a:rPr>
              <a:t>85</a:t>
            </a:r>
            <a:r>
              <a:rPr lang="zh-CN" altLang="en-US" sz="1200" b="1" dirty="0">
                <a:solidFill>
                  <a:srgbClr val="000000"/>
                </a:solidFill>
              </a:rPr>
              <a:t>个</a:t>
            </a:r>
          </a:p>
        </p:txBody>
      </p:sp>
      <p:sp>
        <p:nvSpPr>
          <p:cNvPr id="143" name="文本框 91">
            <a:extLst>
              <a:ext uri="{FF2B5EF4-FFF2-40B4-BE49-F238E27FC236}">
                <a16:creationId xmlns:a16="http://schemas.microsoft.com/office/drawing/2014/main" id="{811DDE47-BE59-4A16-976A-E4185BC6A599}"/>
              </a:ext>
            </a:extLst>
          </p:cNvPr>
          <p:cNvSpPr txBox="1"/>
          <p:nvPr/>
        </p:nvSpPr>
        <p:spPr bwMode="gray">
          <a:xfrm>
            <a:off x="3001430" y="1913946"/>
            <a:ext cx="882769" cy="276999"/>
          </a:xfrm>
          <a:prstGeom prst="rect">
            <a:avLst/>
          </a:prstGeom>
          <a:noFill/>
        </p:spPr>
        <p:txBody>
          <a:bodyPr wrap="square" rtlCol="0">
            <a:spAutoFit/>
          </a:bodyPr>
          <a:lstStyle/>
          <a:p>
            <a:pPr algn="ctr" fontAlgn="base">
              <a:spcBef>
                <a:spcPct val="0"/>
              </a:spcBef>
              <a:spcAft>
                <a:spcPct val="0"/>
              </a:spcAft>
            </a:pPr>
            <a:r>
              <a:rPr lang="en-US" altLang="zh-CN" sz="1200" b="1">
                <a:solidFill>
                  <a:srgbClr val="000000"/>
                </a:solidFill>
              </a:rPr>
              <a:t>Hub(RR</a:t>
            </a:r>
            <a:r>
              <a:rPr lang="en-US" altLang="zh-CN" sz="1200" b="1" dirty="0">
                <a:solidFill>
                  <a:srgbClr val="000000"/>
                </a:solidFill>
              </a:rPr>
              <a:t>)</a:t>
            </a:r>
            <a:endParaRPr lang="zh-CN" altLang="en-US" sz="1200" b="1" dirty="0">
              <a:solidFill>
                <a:srgbClr val="000000"/>
              </a:solidFill>
            </a:endParaRPr>
          </a:p>
        </p:txBody>
      </p:sp>
      <p:sp>
        <p:nvSpPr>
          <p:cNvPr id="144" name="文本框 92">
            <a:extLst>
              <a:ext uri="{FF2B5EF4-FFF2-40B4-BE49-F238E27FC236}">
                <a16:creationId xmlns:a16="http://schemas.microsoft.com/office/drawing/2014/main" id="{5656E45D-1F86-4872-8106-4269E613FF72}"/>
              </a:ext>
            </a:extLst>
          </p:cNvPr>
          <p:cNvSpPr txBox="1"/>
          <p:nvPr/>
        </p:nvSpPr>
        <p:spPr bwMode="gray">
          <a:xfrm>
            <a:off x="5372258" y="5045957"/>
            <a:ext cx="731383" cy="276999"/>
          </a:xfrm>
          <a:prstGeom prst="rect">
            <a:avLst/>
          </a:prstGeom>
          <a:noFill/>
        </p:spPr>
        <p:txBody>
          <a:bodyPr wrap="square" rtlCol="0">
            <a:spAutoFit/>
          </a:bodyPr>
          <a:lstStyle/>
          <a:p>
            <a:pPr algn="ctr" fontAlgn="base">
              <a:spcBef>
                <a:spcPct val="0"/>
              </a:spcBef>
              <a:spcAft>
                <a:spcPct val="0"/>
              </a:spcAft>
            </a:pPr>
            <a:r>
              <a:rPr lang="en-US" altLang="zh-CN" sz="1200" b="1" dirty="0">
                <a:solidFill>
                  <a:srgbClr val="000000"/>
                </a:solidFill>
              </a:rPr>
              <a:t>Spoke</a:t>
            </a:r>
            <a:endParaRPr lang="zh-CN" altLang="en-US" sz="1200" b="1" dirty="0">
              <a:solidFill>
                <a:srgbClr val="000000"/>
              </a:solidFill>
            </a:endParaRPr>
          </a:p>
        </p:txBody>
      </p:sp>
      <p:sp>
        <p:nvSpPr>
          <p:cNvPr id="145" name="Freeform 159">
            <a:extLst>
              <a:ext uri="{FF2B5EF4-FFF2-40B4-BE49-F238E27FC236}">
                <a16:creationId xmlns:a16="http://schemas.microsoft.com/office/drawing/2014/main" id="{F1C5B575-69C2-4B86-94C6-C5997D65C0E3}"/>
              </a:ext>
            </a:extLst>
          </p:cNvPr>
          <p:cNvSpPr/>
          <p:nvPr/>
        </p:nvSpPr>
        <p:spPr bwMode="gray">
          <a:xfrm flipH="1">
            <a:off x="1056691" y="3209311"/>
            <a:ext cx="1288497" cy="6971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MPLS</a:t>
            </a:r>
          </a:p>
        </p:txBody>
      </p:sp>
      <p:sp>
        <p:nvSpPr>
          <p:cNvPr id="146" name="Freeform 159">
            <a:extLst>
              <a:ext uri="{FF2B5EF4-FFF2-40B4-BE49-F238E27FC236}">
                <a16:creationId xmlns:a16="http://schemas.microsoft.com/office/drawing/2014/main" id="{93B22058-D390-42EC-A66A-FBDA7AC34E86}"/>
              </a:ext>
            </a:extLst>
          </p:cNvPr>
          <p:cNvSpPr/>
          <p:nvPr/>
        </p:nvSpPr>
        <p:spPr bwMode="gray">
          <a:xfrm flipH="1">
            <a:off x="2547560" y="3208156"/>
            <a:ext cx="1288497" cy="6971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Internet</a:t>
            </a:r>
          </a:p>
        </p:txBody>
      </p:sp>
      <p:sp>
        <p:nvSpPr>
          <p:cNvPr id="147" name="Freeform 159">
            <a:extLst>
              <a:ext uri="{FF2B5EF4-FFF2-40B4-BE49-F238E27FC236}">
                <a16:creationId xmlns:a16="http://schemas.microsoft.com/office/drawing/2014/main" id="{CD38E9B8-E233-4434-ABEC-A02BEC65B056}"/>
              </a:ext>
            </a:extLst>
          </p:cNvPr>
          <p:cNvSpPr/>
          <p:nvPr/>
        </p:nvSpPr>
        <p:spPr bwMode="gray">
          <a:xfrm flipH="1">
            <a:off x="4020852" y="3205198"/>
            <a:ext cx="1288497" cy="6971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LTE</a:t>
            </a:r>
          </a:p>
          <a:p>
            <a:pPr algn="ctr"/>
            <a:r>
              <a:rPr lang="zh-CN" altLang="en-US" sz="1400" dirty="0">
                <a:solidFill>
                  <a:schemeClr val="tx1"/>
                </a:solidFill>
              </a:rPr>
              <a:t>（备份路径）</a:t>
            </a:r>
            <a:endParaRPr lang="en-US" sz="1400" dirty="0">
              <a:solidFill>
                <a:schemeClr val="tx1"/>
              </a:solidFill>
            </a:endParaRPr>
          </a:p>
        </p:txBody>
      </p:sp>
      <p:sp>
        <p:nvSpPr>
          <p:cNvPr id="50"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1"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763648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C0397-603E-4BC1-ABEE-BB2DBF99FA68}"/>
              </a:ext>
            </a:extLst>
          </p:cNvPr>
          <p:cNvSpPr>
            <a:spLocks noGrp="1"/>
          </p:cNvSpPr>
          <p:nvPr>
            <p:ph type="title"/>
          </p:nvPr>
        </p:nvSpPr>
        <p:spPr bwMode="gray"/>
        <p:txBody>
          <a:bodyPr/>
          <a:lstStyle/>
          <a:p>
            <a:r>
              <a:rPr lang="zh-CN" altLang="en-US" dirty="0"/>
              <a:t>网络超规设计</a:t>
            </a:r>
            <a:endParaRPr lang="en-US" dirty="0"/>
          </a:p>
        </p:txBody>
      </p:sp>
      <p:sp>
        <p:nvSpPr>
          <p:cNvPr id="3" name="Text Placeholder 2">
            <a:extLst>
              <a:ext uri="{FF2B5EF4-FFF2-40B4-BE49-F238E27FC236}">
                <a16:creationId xmlns:a16="http://schemas.microsoft.com/office/drawing/2014/main" id="{6EF5AB1F-DA63-4A3B-BD47-CED199B76E6E}"/>
              </a:ext>
            </a:extLst>
          </p:cNvPr>
          <p:cNvSpPr>
            <a:spLocks noGrp="1"/>
          </p:cNvSpPr>
          <p:nvPr>
            <p:ph type="body" sz="quarter" idx="10"/>
          </p:nvPr>
        </p:nvSpPr>
        <p:spPr bwMode="gray"/>
        <p:txBody>
          <a:bodyPr/>
          <a:lstStyle/>
          <a:p>
            <a:r>
              <a:rPr lang="zh-CN" altLang="en-US" sz="1800" dirty="0"/>
              <a:t>当网络存在大量分支节点时，无论使用扁平化拓扑或者分层拓扑都</a:t>
            </a:r>
            <a:r>
              <a:rPr lang="zh-CN" altLang="en-US" sz="1800"/>
              <a:t>容易超出</a:t>
            </a:r>
            <a:r>
              <a:rPr lang="en-US" altLang="zh-CN" sz="1800"/>
              <a:t>Hub</a:t>
            </a:r>
            <a:r>
              <a:rPr lang="zh-CN" altLang="en-US" sz="1800"/>
              <a:t>站点</a:t>
            </a:r>
            <a:r>
              <a:rPr lang="zh-CN" altLang="en-US" sz="1800" dirty="0"/>
              <a:t>设备支持的规格，面对此类情况有两种解决方案：</a:t>
            </a:r>
            <a:endParaRPr lang="en-US" sz="1800" dirty="0"/>
          </a:p>
        </p:txBody>
      </p:sp>
      <p:sp>
        <p:nvSpPr>
          <p:cNvPr id="4" name="圆角矩形 75">
            <a:extLst>
              <a:ext uri="{FF2B5EF4-FFF2-40B4-BE49-F238E27FC236}">
                <a16:creationId xmlns:a16="http://schemas.microsoft.com/office/drawing/2014/main" id="{E56B31D2-E684-4CF0-9A1A-0A76E8C3F541}"/>
              </a:ext>
            </a:extLst>
          </p:cNvPr>
          <p:cNvSpPr/>
          <p:nvPr/>
        </p:nvSpPr>
        <p:spPr bwMode="gray">
          <a:xfrm>
            <a:off x="896283" y="2310220"/>
            <a:ext cx="5087883" cy="3840472"/>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r>
              <a:rPr lang="en-US" altLang="zh-CN" sz="1400" dirty="0"/>
              <a:t>Hub</a:t>
            </a:r>
            <a:r>
              <a:rPr lang="zh-CN" altLang="en-US" sz="1400" dirty="0"/>
              <a:t>站点超规时，可部署多个</a:t>
            </a:r>
            <a:r>
              <a:rPr lang="en-US" altLang="zh-CN" sz="1400" dirty="0"/>
              <a:t>Hub</a:t>
            </a:r>
            <a:r>
              <a:rPr lang="zh-CN" altLang="en-US" sz="1400" dirty="0"/>
              <a:t>站点，租户内划分多个区域，分区域组网。</a:t>
            </a:r>
            <a:endParaRPr lang="en-US" altLang="zh-CN" sz="1400" dirty="0"/>
          </a:p>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baseline="0" noProof="0" dirty="0">
              <a:ln>
                <a:noFill/>
              </a:ln>
              <a:solidFill>
                <a:prstClr val="black"/>
              </a:solidFill>
              <a:effectLst/>
              <a:uLnTx/>
              <a:uFillTx/>
              <a:cs typeface="Huawei Sans" panose="020C0503030203020204" pitchFamily="34" charset="0"/>
            </a:endParaRPr>
          </a:p>
        </p:txBody>
      </p:sp>
      <p:sp>
        <p:nvSpPr>
          <p:cNvPr id="7" name="圆角矩形 75">
            <a:extLst>
              <a:ext uri="{FF2B5EF4-FFF2-40B4-BE49-F238E27FC236}">
                <a16:creationId xmlns:a16="http://schemas.microsoft.com/office/drawing/2014/main" id="{9520749C-9957-4C04-A032-82DAF156C382}"/>
              </a:ext>
            </a:extLst>
          </p:cNvPr>
          <p:cNvSpPr/>
          <p:nvPr/>
        </p:nvSpPr>
        <p:spPr bwMode="gray">
          <a:xfrm>
            <a:off x="896283" y="1898271"/>
            <a:ext cx="5087883" cy="359539"/>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分区域组网</a:t>
            </a:r>
          </a:p>
        </p:txBody>
      </p:sp>
      <p:sp>
        <p:nvSpPr>
          <p:cNvPr id="8" name="圆角矩形 75">
            <a:extLst>
              <a:ext uri="{FF2B5EF4-FFF2-40B4-BE49-F238E27FC236}">
                <a16:creationId xmlns:a16="http://schemas.microsoft.com/office/drawing/2014/main" id="{1DE6A6B3-8944-4118-B861-9A5819E59138}"/>
              </a:ext>
            </a:extLst>
          </p:cNvPr>
          <p:cNvSpPr/>
          <p:nvPr/>
        </p:nvSpPr>
        <p:spPr bwMode="gray">
          <a:xfrm>
            <a:off x="6195513" y="1898271"/>
            <a:ext cx="5126907" cy="359539"/>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分租户组网</a:t>
            </a:r>
          </a:p>
        </p:txBody>
      </p:sp>
      <p:sp>
        <p:nvSpPr>
          <p:cNvPr id="9" name="圆角矩形 75">
            <a:extLst>
              <a:ext uri="{FF2B5EF4-FFF2-40B4-BE49-F238E27FC236}">
                <a16:creationId xmlns:a16="http://schemas.microsoft.com/office/drawing/2014/main" id="{72256F57-3D37-46E1-9420-F19485DBD424}"/>
              </a:ext>
            </a:extLst>
          </p:cNvPr>
          <p:cNvSpPr/>
          <p:nvPr/>
        </p:nvSpPr>
        <p:spPr bwMode="gray">
          <a:xfrm>
            <a:off x="6195513" y="2310218"/>
            <a:ext cx="5126907" cy="3840474"/>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r>
              <a:rPr kumimoji="0" lang="en-US" altLang="zh-CN" sz="1400" b="0" i="0" u="none" strike="noStrike" kern="0" cap="none" spc="0" normalizeH="0" baseline="0" noProof="0" dirty="0">
                <a:ln>
                  <a:noFill/>
                </a:ln>
                <a:solidFill>
                  <a:prstClr val="black"/>
                </a:solidFill>
                <a:effectLst/>
                <a:uLnTx/>
                <a:uFillTx/>
                <a:cs typeface="Huawei Sans" panose="020C0503030203020204" pitchFamily="34" charset="0"/>
              </a:rPr>
              <a:t>Hub</a:t>
            </a:r>
            <a:r>
              <a:rPr kumimoji="0" lang="zh-CN" altLang="en-US" sz="1400" b="0" i="0" u="none" strike="noStrike" kern="0" cap="none" spc="0" normalizeH="0" baseline="0" noProof="0" dirty="0">
                <a:ln>
                  <a:noFill/>
                </a:ln>
                <a:solidFill>
                  <a:prstClr val="black"/>
                </a:solidFill>
                <a:effectLst/>
                <a:uLnTx/>
                <a:uFillTx/>
                <a:cs typeface="Huawei Sans" panose="020C0503030203020204" pitchFamily="34" charset="0"/>
              </a:rPr>
              <a:t>站点超规且存在分权分域管理需求时，可分租户组网，由</a:t>
            </a:r>
            <a:r>
              <a:rPr kumimoji="0" lang="en-US" altLang="zh-CN" sz="1400" b="0" i="0" u="none" strike="noStrike" kern="0" cap="none" spc="0" normalizeH="0" baseline="0" noProof="0" dirty="0">
                <a:ln>
                  <a:noFill/>
                </a:ln>
                <a:solidFill>
                  <a:prstClr val="black"/>
                </a:solidFill>
                <a:effectLst/>
                <a:uLnTx/>
                <a:uFillTx/>
                <a:cs typeface="Huawei Sans" panose="020C0503030203020204" pitchFamily="34" charset="0"/>
              </a:rPr>
              <a:t>MSP</a:t>
            </a:r>
            <a:r>
              <a:rPr kumimoji="0" lang="zh-CN" altLang="en-US" sz="1400" b="0" i="0" u="none" strike="noStrike" kern="0" cap="none" spc="0" normalizeH="0" baseline="0" noProof="0" dirty="0">
                <a:ln>
                  <a:noFill/>
                </a:ln>
                <a:solidFill>
                  <a:prstClr val="black"/>
                </a:solidFill>
                <a:effectLst/>
                <a:uLnTx/>
                <a:uFillTx/>
                <a:cs typeface="Huawei Sans" panose="020C0503030203020204" pitchFamily="34" charset="0"/>
              </a:rPr>
              <a:t>管理员统筹管理。</a:t>
            </a:r>
            <a:endParaRPr kumimoji="0" lang="en-US" altLang="zh-CN" sz="1400" b="0" i="0" u="none" strike="noStrike" kern="0" cap="none" spc="0" normalizeH="0" baseline="0" noProof="0" dirty="0">
              <a:ln>
                <a:noFill/>
              </a:ln>
              <a:solidFill>
                <a:prstClr val="black"/>
              </a:solidFill>
              <a:effectLst/>
              <a:uLnTx/>
              <a:uFillTx/>
              <a:cs typeface="Huawei Sans" panose="020C0503030203020204" pitchFamily="34" charset="0"/>
            </a:endParaRPr>
          </a:p>
        </p:txBody>
      </p:sp>
      <p:sp>
        <p:nvSpPr>
          <p:cNvPr id="103" name="Freeform 159">
            <a:extLst>
              <a:ext uri="{FF2B5EF4-FFF2-40B4-BE49-F238E27FC236}">
                <a16:creationId xmlns:a16="http://schemas.microsoft.com/office/drawing/2014/main" id="{DBFBF2F6-55D6-4E1A-9D90-F9F9E7D73B06}"/>
              </a:ext>
            </a:extLst>
          </p:cNvPr>
          <p:cNvSpPr/>
          <p:nvPr/>
        </p:nvSpPr>
        <p:spPr bwMode="gray">
          <a:xfrm flipH="1">
            <a:off x="1570650" y="2876133"/>
            <a:ext cx="1429629" cy="7642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04" name="Picture 12" descr="E:\2016.01\1.12 扁平化图标\蓝色\AR-蓝色最新-40.png">
            <a:extLst>
              <a:ext uri="{FF2B5EF4-FFF2-40B4-BE49-F238E27FC236}">
                <a16:creationId xmlns:a16="http://schemas.microsoft.com/office/drawing/2014/main" id="{2A389786-1F9D-4B18-9CD5-4F8E1DC3A701}"/>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1898387" y="3247571"/>
            <a:ext cx="306789" cy="251009"/>
          </a:xfrm>
          <a:prstGeom prst="rect">
            <a:avLst/>
          </a:prstGeom>
          <a:noFill/>
        </p:spPr>
      </p:pic>
      <p:pic>
        <p:nvPicPr>
          <p:cNvPr id="105" name="Picture 12" descr="E:\2016.01\1.12 扁平化图标\蓝色\AR-蓝色最新-40.png">
            <a:extLst>
              <a:ext uri="{FF2B5EF4-FFF2-40B4-BE49-F238E27FC236}">
                <a16:creationId xmlns:a16="http://schemas.microsoft.com/office/drawing/2014/main" id="{FAB51437-009C-43AA-95AD-73764DE7A977}"/>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2359029" y="3246803"/>
            <a:ext cx="306789" cy="251009"/>
          </a:xfrm>
          <a:prstGeom prst="rect">
            <a:avLst/>
          </a:prstGeom>
          <a:noFill/>
        </p:spPr>
      </p:pic>
      <p:sp>
        <p:nvSpPr>
          <p:cNvPr id="106" name="TextBox 105">
            <a:extLst>
              <a:ext uri="{FF2B5EF4-FFF2-40B4-BE49-F238E27FC236}">
                <a16:creationId xmlns:a16="http://schemas.microsoft.com/office/drawing/2014/main" id="{05ECD79D-790C-40FF-A9E2-B705B8A94C1D}"/>
              </a:ext>
            </a:extLst>
          </p:cNvPr>
          <p:cNvSpPr txBox="1"/>
          <p:nvPr/>
        </p:nvSpPr>
        <p:spPr bwMode="gray">
          <a:xfrm>
            <a:off x="1613223" y="2816380"/>
            <a:ext cx="1335640" cy="492443"/>
          </a:xfrm>
          <a:prstGeom prst="rect">
            <a:avLst/>
          </a:prstGeom>
          <a:noFill/>
        </p:spPr>
        <p:txBody>
          <a:bodyPr wrap="square" rtlCol="0">
            <a:spAutoFit/>
          </a:bodyPr>
          <a:lstStyle/>
          <a:p>
            <a:pPr algn="ctr"/>
            <a:r>
              <a:rPr lang="zh-CN" altLang="en-US" sz="1400" dirty="0"/>
              <a:t>总部</a:t>
            </a:r>
            <a:endParaRPr lang="en-US" altLang="zh-CN" sz="1400" dirty="0"/>
          </a:p>
          <a:p>
            <a:pPr algn="ctr"/>
            <a:r>
              <a:rPr lang="en-US" altLang="zh-CN" sz="1200" dirty="0"/>
              <a:t>Hub</a:t>
            </a:r>
            <a:endParaRPr lang="zh-CN" altLang="en-US" sz="1400" dirty="0"/>
          </a:p>
        </p:txBody>
      </p:sp>
      <p:pic>
        <p:nvPicPr>
          <p:cNvPr id="107" name="Picture 12" descr="E:\2016.01\1.12 扁平化图标\蓝色\AR-蓝色最新-40.png">
            <a:extLst>
              <a:ext uri="{FF2B5EF4-FFF2-40B4-BE49-F238E27FC236}">
                <a16:creationId xmlns:a16="http://schemas.microsoft.com/office/drawing/2014/main" id="{E454E4E8-848E-4E56-BBB7-6BA50D85FBDB}"/>
              </a:ext>
            </a:extLst>
          </p:cNvPr>
          <p:cNvPicPr>
            <a:picLocks noChangeAspect="1" noChangeArrowheads="1"/>
          </p:cNvPicPr>
          <p:nvPr/>
        </p:nvPicPr>
        <p:blipFill>
          <a:blip r:embed="rId3" cstate="print"/>
          <a:srcRect/>
          <a:stretch>
            <a:fillRect/>
          </a:stretch>
        </p:blipFill>
        <p:spPr bwMode="gray">
          <a:xfrm>
            <a:off x="1277299" y="3177593"/>
            <a:ext cx="474524" cy="388247"/>
          </a:xfrm>
          <a:prstGeom prst="rect">
            <a:avLst/>
          </a:prstGeom>
          <a:noFill/>
        </p:spPr>
      </p:pic>
      <p:pic>
        <p:nvPicPr>
          <p:cNvPr id="108" name="Picture 12" descr="E:\2016.01\1.12 扁平化图标\蓝色\AR-蓝色最新-40.png">
            <a:extLst>
              <a:ext uri="{FF2B5EF4-FFF2-40B4-BE49-F238E27FC236}">
                <a16:creationId xmlns:a16="http://schemas.microsoft.com/office/drawing/2014/main" id="{2D364345-1374-41E9-97E4-BDCD491518A4}"/>
              </a:ext>
            </a:extLst>
          </p:cNvPr>
          <p:cNvPicPr>
            <a:picLocks noChangeAspect="1" noChangeArrowheads="1"/>
          </p:cNvPicPr>
          <p:nvPr/>
        </p:nvPicPr>
        <p:blipFill>
          <a:blip r:embed="rId3" cstate="print"/>
          <a:srcRect/>
          <a:stretch>
            <a:fillRect/>
          </a:stretch>
        </p:blipFill>
        <p:spPr bwMode="gray">
          <a:xfrm>
            <a:off x="2833786" y="3179275"/>
            <a:ext cx="474524" cy="388247"/>
          </a:xfrm>
          <a:prstGeom prst="rect">
            <a:avLst/>
          </a:prstGeom>
          <a:noFill/>
        </p:spPr>
      </p:pic>
      <p:cxnSp>
        <p:nvCxnSpPr>
          <p:cNvPr id="109" name="Straight Connector 108">
            <a:extLst>
              <a:ext uri="{FF2B5EF4-FFF2-40B4-BE49-F238E27FC236}">
                <a16:creationId xmlns:a16="http://schemas.microsoft.com/office/drawing/2014/main" id="{A64EF984-7080-4DBA-B30F-961A7A1F302C}"/>
              </a:ext>
            </a:extLst>
          </p:cNvPr>
          <p:cNvCxnSpPr>
            <a:cxnSpLocks/>
            <a:stCxn id="107" idx="3"/>
            <a:endCxn id="104" idx="1"/>
          </p:cNvCxnSpPr>
          <p:nvPr/>
        </p:nvCxnSpPr>
        <p:spPr bwMode="gray">
          <a:xfrm>
            <a:off x="1751823" y="3371717"/>
            <a:ext cx="146564" cy="13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DE11D01-FD6D-4D67-AC1E-7D82DFBB06B1}"/>
              </a:ext>
            </a:extLst>
          </p:cNvPr>
          <p:cNvCxnSpPr>
            <a:cxnSpLocks/>
            <a:stCxn id="105" idx="3"/>
            <a:endCxn id="108" idx="1"/>
          </p:cNvCxnSpPr>
          <p:nvPr/>
        </p:nvCxnSpPr>
        <p:spPr bwMode="gray">
          <a:xfrm>
            <a:off x="2665818" y="3372308"/>
            <a:ext cx="167968" cy="109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15DAE8D2-52A4-4CD7-B9DD-07CF8E72EB51}"/>
              </a:ext>
            </a:extLst>
          </p:cNvPr>
          <p:cNvSpPr txBox="1"/>
          <p:nvPr/>
        </p:nvSpPr>
        <p:spPr bwMode="gray">
          <a:xfrm>
            <a:off x="1281384" y="2947610"/>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112" name="TextBox 111">
            <a:extLst>
              <a:ext uri="{FF2B5EF4-FFF2-40B4-BE49-F238E27FC236}">
                <a16:creationId xmlns:a16="http://schemas.microsoft.com/office/drawing/2014/main" id="{64E20F63-F4C9-4073-8767-F2D2F7EC28CA}"/>
              </a:ext>
            </a:extLst>
          </p:cNvPr>
          <p:cNvSpPr txBox="1"/>
          <p:nvPr/>
        </p:nvSpPr>
        <p:spPr bwMode="gray">
          <a:xfrm>
            <a:off x="2862559" y="2956551"/>
            <a:ext cx="452368" cy="276999"/>
          </a:xfrm>
          <a:prstGeom prst="rect">
            <a:avLst/>
          </a:prstGeom>
          <a:noFill/>
        </p:spPr>
        <p:txBody>
          <a:bodyPr wrap="none" rtlCol="0">
            <a:spAutoFit/>
          </a:bodyPr>
          <a:lstStyle/>
          <a:p>
            <a:r>
              <a:rPr lang="en-US" altLang="zh-CN" sz="1200" dirty="0"/>
              <a:t>CPE</a:t>
            </a:r>
            <a:endParaRPr lang="zh-CN" altLang="en-US" sz="1200" dirty="0"/>
          </a:p>
        </p:txBody>
      </p:sp>
      <p:cxnSp>
        <p:nvCxnSpPr>
          <p:cNvPr id="113" name="Straight Connector 112">
            <a:extLst>
              <a:ext uri="{FF2B5EF4-FFF2-40B4-BE49-F238E27FC236}">
                <a16:creationId xmlns:a16="http://schemas.microsoft.com/office/drawing/2014/main" id="{75D3F081-1474-47D1-AC5D-D899B0B0490A}"/>
              </a:ext>
            </a:extLst>
          </p:cNvPr>
          <p:cNvCxnSpPr>
            <a:cxnSpLocks/>
            <a:stCxn id="105" idx="1"/>
            <a:endCxn id="104" idx="3"/>
          </p:cNvCxnSpPr>
          <p:nvPr/>
        </p:nvCxnSpPr>
        <p:spPr bwMode="gray">
          <a:xfrm flipH="1">
            <a:off x="2205176" y="3372308"/>
            <a:ext cx="153853" cy="76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5" name="Freeform 159">
            <a:extLst>
              <a:ext uri="{FF2B5EF4-FFF2-40B4-BE49-F238E27FC236}">
                <a16:creationId xmlns:a16="http://schemas.microsoft.com/office/drawing/2014/main" id="{34F141CF-6114-44FC-90D5-4E9213662CCA}"/>
              </a:ext>
            </a:extLst>
          </p:cNvPr>
          <p:cNvSpPr/>
          <p:nvPr/>
        </p:nvSpPr>
        <p:spPr bwMode="gray">
          <a:xfrm flipH="1">
            <a:off x="1707037" y="4911804"/>
            <a:ext cx="1008226" cy="5389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16" name="Picture 12" descr="E:\2016.01\1.12 扁平化图标\蓝色\AR-蓝色最新-40.png">
            <a:extLst>
              <a:ext uri="{FF2B5EF4-FFF2-40B4-BE49-F238E27FC236}">
                <a16:creationId xmlns:a16="http://schemas.microsoft.com/office/drawing/2014/main" id="{44E31EA1-7094-434F-AF4F-8E99676E3CB4}"/>
              </a:ext>
            </a:extLst>
          </p:cNvPr>
          <p:cNvPicPr>
            <a:picLocks noChangeAspect="1" noChangeArrowheads="1"/>
          </p:cNvPicPr>
          <p:nvPr/>
        </p:nvPicPr>
        <p:blipFill>
          <a:blip r:embed="rId3" cstate="print"/>
          <a:srcRect/>
          <a:stretch>
            <a:fillRect/>
          </a:stretch>
        </p:blipFill>
        <p:spPr bwMode="gray">
          <a:xfrm>
            <a:off x="2053328" y="4767016"/>
            <a:ext cx="474524" cy="388247"/>
          </a:xfrm>
          <a:prstGeom prst="rect">
            <a:avLst/>
          </a:prstGeom>
          <a:noFill/>
        </p:spPr>
      </p:pic>
      <p:sp>
        <p:nvSpPr>
          <p:cNvPr id="117" name="TextBox 116">
            <a:extLst>
              <a:ext uri="{FF2B5EF4-FFF2-40B4-BE49-F238E27FC236}">
                <a16:creationId xmlns:a16="http://schemas.microsoft.com/office/drawing/2014/main" id="{021FD9C6-836C-4AE6-AB06-D250C893F4BE}"/>
              </a:ext>
            </a:extLst>
          </p:cNvPr>
          <p:cNvSpPr txBox="1"/>
          <p:nvPr/>
        </p:nvSpPr>
        <p:spPr bwMode="gray">
          <a:xfrm>
            <a:off x="2033761" y="5104229"/>
            <a:ext cx="492443" cy="276999"/>
          </a:xfrm>
          <a:prstGeom prst="rect">
            <a:avLst/>
          </a:prstGeom>
          <a:noFill/>
        </p:spPr>
        <p:txBody>
          <a:bodyPr wrap="none" rtlCol="0">
            <a:spAutoFit/>
          </a:bodyPr>
          <a:lstStyle/>
          <a:p>
            <a:r>
              <a:rPr lang="zh-CN" altLang="en-US" sz="1200" dirty="0"/>
              <a:t>分支</a:t>
            </a:r>
          </a:p>
        </p:txBody>
      </p:sp>
      <p:sp>
        <p:nvSpPr>
          <p:cNvPr id="118" name="TextBox 117">
            <a:extLst>
              <a:ext uri="{FF2B5EF4-FFF2-40B4-BE49-F238E27FC236}">
                <a16:creationId xmlns:a16="http://schemas.microsoft.com/office/drawing/2014/main" id="{98588727-841A-4181-87DC-87AA503D6353}"/>
              </a:ext>
            </a:extLst>
          </p:cNvPr>
          <p:cNvSpPr txBox="1"/>
          <p:nvPr/>
        </p:nvSpPr>
        <p:spPr bwMode="gray">
          <a:xfrm>
            <a:off x="1545093" y="4818782"/>
            <a:ext cx="575799" cy="276999"/>
          </a:xfrm>
          <a:prstGeom prst="rect">
            <a:avLst/>
          </a:prstGeom>
          <a:noFill/>
        </p:spPr>
        <p:txBody>
          <a:bodyPr wrap="none" rtlCol="0">
            <a:spAutoFit/>
          </a:bodyPr>
          <a:lstStyle/>
          <a:p>
            <a:r>
              <a:rPr lang="en-US" altLang="zh-CN" sz="1200" dirty="0"/>
              <a:t>EDGE</a:t>
            </a:r>
            <a:endParaRPr lang="zh-CN" altLang="en-US" sz="1200" dirty="0"/>
          </a:p>
        </p:txBody>
      </p:sp>
      <p:cxnSp>
        <p:nvCxnSpPr>
          <p:cNvPr id="119" name="Straight Connector 118">
            <a:extLst>
              <a:ext uri="{FF2B5EF4-FFF2-40B4-BE49-F238E27FC236}">
                <a16:creationId xmlns:a16="http://schemas.microsoft.com/office/drawing/2014/main" id="{19315922-D8F8-4AE9-8B8D-DD2642448E71}"/>
              </a:ext>
            </a:extLst>
          </p:cNvPr>
          <p:cNvCxnSpPr>
            <a:cxnSpLocks/>
            <a:stCxn id="116" idx="0"/>
          </p:cNvCxnSpPr>
          <p:nvPr/>
        </p:nvCxnSpPr>
        <p:spPr bwMode="gray">
          <a:xfrm flipV="1">
            <a:off x="2290590" y="3623192"/>
            <a:ext cx="0" cy="114382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4" name="Freeform 159">
            <a:extLst>
              <a:ext uri="{FF2B5EF4-FFF2-40B4-BE49-F238E27FC236}">
                <a16:creationId xmlns:a16="http://schemas.microsoft.com/office/drawing/2014/main" id="{2E0D4CBC-0F68-4E6E-8765-4A7087720251}"/>
              </a:ext>
            </a:extLst>
          </p:cNvPr>
          <p:cNvSpPr/>
          <p:nvPr/>
        </p:nvSpPr>
        <p:spPr bwMode="gray">
          <a:xfrm flipH="1">
            <a:off x="1733752" y="3819092"/>
            <a:ext cx="1095168" cy="58542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MPLS</a:t>
            </a:r>
          </a:p>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sp>
        <p:nvSpPr>
          <p:cNvPr id="123" name="Freeform 159">
            <a:extLst>
              <a:ext uri="{FF2B5EF4-FFF2-40B4-BE49-F238E27FC236}">
                <a16:creationId xmlns:a16="http://schemas.microsoft.com/office/drawing/2014/main" id="{BC2A3CD7-B0EC-4546-B03A-311067B4A0BE}"/>
              </a:ext>
            </a:extLst>
          </p:cNvPr>
          <p:cNvSpPr/>
          <p:nvPr/>
        </p:nvSpPr>
        <p:spPr bwMode="gray">
          <a:xfrm flipH="1">
            <a:off x="3838732" y="2888684"/>
            <a:ext cx="1429629" cy="7642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24" name="Picture 12" descr="E:\2016.01\1.12 扁平化图标\蓝色\AR-蓝色最新-40.png">
            <a:extLst>
              <a:ext uri="{FF2B5EF4-FFF2-40B4-BE49-F238E27FC236}">
                <a16:creationId xmlns:a16="http://schemas.microsoft.com/office/drawing/2014/main" id="{B6CD3F6F-DEAE-440F-9E26-ACD2BAF309F5}"/>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4166469" y="3260122"/>
            <a:ext cx="306789" cy="251009"/>
          </a:xfrm>
          <a:prstGeom prst="rect">
            <a:avLst/>
          </a:prstGeom>
          <a:noFill/>
        </p:spPr>
      </p:pic>
      <p:pic>
        <p:nvPicPr>
          <p:cNvPr id="125" name="Picture 12" descr="E:\2016.01\1.12 扁平化图标\蓝色\AR-蓝色最新-40.png">
            <a:extLst>
              <a:ext uri="{FF2B5EF4-FFF2-40B4-BE49-F238E27FC236}">
                <a16:creationId xmlns:a16="http://schemas.microsoft.com/office/drawing/2014/main" id="{AFC3236F-6B3B-4956-BF24-1AC2B7ED26F6}"/>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4627111" y="3259354"/>
            <a:ext cx="306789" cy="251009"/>
          </a:xfrm>
          <a:prstGeom prst="rect">
            <a:avLst/>
          </a:prstGeom>
          <a:noFill/>
        </p:spPr>
      </p:pic>
      <p:sp>
        <p:nvSpPr>
          <p:cNvPr id="126" name="TextBox 125">
            <a:extLst>
              <a:ext uri="{FF2B5EF4-FFF2-40B4-BE49-F238E27FC236}">
                <a16:creationId xmlns:a16="http://schemas.microsoft.com/office/drawing/2014/main" id="{9AF6C713-20E7-41EC-AAC0-7C3A3A3F95B8}"/>
              </a:ext>
            </a:extLst>
          </p:cNvPr>
          <p:cNvSpPr txBox="1"/>
          <p:nvPr/>
        </p:nvSpPr>
        <p:spPr bwMode="gray">
          <a:xfrm>
            <a:off x="3892238" y="2840391"/>
            <a:ext cx="1335640" cy="492443"/>
          </a:xfrm>
          <a:prstGeom prst="rect">
            <a:avLst/>
          </a:prstGeom>
          <a:noFill/>
        </p:spPr>
        <p:txBody>
          <a:bodyPr wrap="square" rtlCol="0">
            <a:spAutoFit/>
          </a:bodyPr>
          <a:lstStyle/>
          <a:p>
            <a:pPr algn="ctr"/>
            <a:r>
              <a:rPr lang="zh-CN" altLang="en-US" sz="1400" dirty="0"/>
              <a:t>总部</a:t>
            </a:r>
            <a:endParaRPr lang="en-US" altLang="zh-CN" sz="1400" dirty="0"/>
          </a:p>
          <a:p>
            <a:pPr algn="ctr"/>
            <a:r>
              <a:rPr lang="en-US" altLang="zh-CN" sz="1200" dirty="0"/>
              <a:t>Hub</a:t>
            </a:r>
            <a:endParaRPr lang="zh-CN" altLang="en-US" sz="1400" dirty="0"/>
          </a:p>
        </p:txBody>
      </p:sp>
      <p:pic>
        <p:nvPicPr>
          <p:cNvPr id="127" name="Picture 12" descr="E:\2016.01\1.12 扁平化图标\蓝色\AR-蓝色最新-40.png">
            <a:extLst>
              <a:ext uri="{FF2B5EF4-FFF2-40B4-BE49-F238E27FC236}">
                <a16:creationId xmlns:a16="http://schemas.microsoft.com/office/drawing/2014/main" id="{548F234D-A99D-44A5-BCA6-D3B123EEB887}"/>
              </a:ext>
            </a:extLst>
          </p:cNvPr>
          <p:cNvPicPr>
            <a:picLocks noChangeAspect="1" noChangeArrowheads="1"/>
          </p:cNvPicPr>
          <p:nvPr/>
        </p:nvPicPr>
        <p:blipFill>
          <a:blip r:embed="rId3" cstate="print"/>
          <a:srcRect/>
          <a:stretch>
            <a:fillRect/>
          </a:stretch>
        </p:blipFill>
        <p:spPr bwMode="gray">
          <a:xfrm>
            <a:off x="3545381" y="3190144"/>
            <a:ext cx="474524" cy="388247"/>
          </a:xfrm>
          <a:prstGeom prst="rect">
            <a:avLst/>
          </a:prstGeom>
          <a:noFill/>
        </p:spPr>
      </p:pic>
      <p:pic>
        <p:nvPicPr>
          <p:cNvPr id="128" name="Picture 12" descr="E:\2016.01\1.12 扁平化图标\蓝色\AR-蓝色最新-40.png">
            <a:extLst>
              <a:ext uri="{FF2B5EF4-FFF2-40B4-BE49-F238E27FC236}">
                <a16:creationId xmlns:a16="http://schemas.microsoft.com/office/drawing/2014/main" id="{28E53F17-4870-40D6-AEAF-2E8E07388429}"/>
              </a:ext>
            </a:extLst>
          </p:cNvPr>
          <p:cNvPicPr>
            <a:picLocks noChangeAspect="1" noChangeArrowheads="1"/>
          </p:cNvPicPr>
          <p:nvPr/>
        </p:nvPicPr>
        <p:blipFill>
          <a:blip r:embed="rId3" cstate="print"/>
          <a:srcRect/>
          <a:stretch>
            <a:fillRect/>
          </a:stretch>
        </p:blipFill>
        <p:spPr bwMode="gray">
          <a:xfrm>
            <a:off x="5101868" y="3191826"/>
            <a:ext cx="474524" cy="388247"/>
          </a:xfrm>
          <a:prstGeom prst="rect">
            <a:avLst/>
          </a:prstGeom>
          <a:noFill/>
        </p:spPr>
      </p:pic>
      <p:cxnSp>
        <p:nvCxnSpPr>
          <p:cNvPr id="129" name="Straight Connector 128">
            <a:extLst>
              <a:ext uri="{FF2B5EF4-FFF2-40B4-BE49-F238E27FC236}">
                <a16:creationId xmlns:a16="http://schemas.microsoft.com/office/drawing/2014/main" id="{A9BFEC36-B44B-4780-8CEF-004D5CE574B4}"/>
              </a:ext>
            </a:extLst>
          </p:cNvPr>
          <p:cNvCxnSpPr>
            <a:cxnSpLocks/>
            <a:stCxn id="127" idx="3"/>
            <a:endCxn id="124" idx="1"/>
          </p:cNvCxnSpPr>
          <p:nvPr/>
        </p:nvCxnSpPr>
        <p:spPr bwMode="gray">
          <a:xfrm>
            <a:off x="4019905" y="3384268"/>
            <a:ext cx="146564" cy="13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FF8C162-CEE9-4165-9CCE-C82E737C93E2}"/>
              </a:ext>
            </a:extLst>
          </p:cNvPr>
          <p:cNvCxnSpPr>
            <a:cxnSpLocks/>
            <a:stCxn id="125" idx="3"/>
            <a:endCxn id="128" idx="1"/>
          </p:cNvCxnSpPr>
          <p:nvPr/>
        </p:nvCxnSpPr>
        <p:spPr bwMode="gray">
          <a:xfrm>
            <a:off x="4933900" y="3384859"/>
            <a:ext cx="167968" cy="109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3FD8629B-0BA1-4412-96C2-E26ED1E24A0E}"/>
              </a:ext>
            </a:extLst>
          </p:cNvPr>
          <p:cNvSpPr txBox="1"/>
          <p:nvPr/>
        </p:nvSpPr>
        <p:spPr bwMode="gray">
          <a:xfrm>
            <a:off x="3549466" y="2960161"/>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132" name="TextBox 131">
            <a:extLst>
              <a:ext uri="{FF2B5EF4-FFF2-40B4-BE49-F238E27FC236}">
                <a16:creationId xmlns:a16="http://schemas.microsoft.com/office/drawing/2014/main" id="{3B86BC45-6A1E-421D-A81D-27B9AB8691F2}"/>
              </a:ext>
            </a:extLst>
          </p:cNvPr>
          <p:cNvSpPr txBox="1"/>
          <p:nvPr/>
        </p:nvSpPr>
        <p:spPr bwMode="gray">
          <a:xfrm>
            <a:off x="5130641" y="2969102"/>
            <a:ext cx="452368" cy="276999"/>
          </a:xfrm>
          <a:prstGeom prst="rect">
            <a:avLst/>
          </a:prstGeom>
          <a:noFill/>
        </p:spPr>
        <p:txBody>
          <a:bodyPr wrap="none" rtlCol="0">
            <a:spAutoFit/>
          </a:bodyPr>
          <a:lstStyle/>
          <a:p>
            <a:r>
              <a:rPr lang="en-US" altLang="zh-CN" sz="1200" dirty="0"/>
              <a:t>CPE</a:t>
            </a:r>
            <a:endParaRPr lang="zh-CN" altLang="en-US" sz="1200" dirty="0"/>
          </a:p>
        </p:txBody>
      </p:sp>
      <p:cxnSp>
        <p:nvCxnSpPr>
          <p:cNvPr id="133" name="Straight Connector 132">
            <a:extLst>
              <a:ext uri="{FF2B5EF4-FFF2-40B4-BE49-F238E27FC236}">
                <a16:creationId xmlns:a16="http://schemas.microsoft.com/office/drawing/2014/main" id="{5C4679C2-9AAF-4645-9534-D10C77986205}"/>
              </a:ext>
            </a:extLst>
          </p:cNvPr>
          <p:cNvCxnSpPr>
            <a:cxnSpLocks/>
            <a:stCxn id="125" idx="1"/>
            <a:endCxn id="124" idx="3"/>
          </p:cNvCxnSpPr>
          <p:nvPr/>
        </p:nvCxnSpPr>
        <p:spPr bwMode="gray">
          <a:xfrm flipH="1">
            <a:off x="4473258" y="3384859"/>
            <a:ext cx="153853" cy="76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4" name="Freeform 159">
            <a:extLst>
              <a:ext uri="{FF2B5EF4-FFF2-40B4-BE49-F238E27FC236}">
                <a16:creationId xmlns:a16="http://schemas.microsoft.com/office/drawing/2014/main" id="{D17D42C5-65FC-4E0C-81B5-C2CFE5C134F2}"/>
              </a:ext>
            </a:extLst>
          </p:cNvPr>
          <p:cNvSpPr/>
          <p:nvPr/>
        </p:nvSpPr>
        <p:spPr bwMode="gray">
          <a:xfrm flipH="1">
            <a:off x="3952170" y="4896766"/>
            <a:ext cx="1095168" cy="58542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35" name="Picture 12" descr="E:\2016.01\1.12 扁平化图标\蓝色\AR-蓝色最新-40.png">
            <a:extLst>
              <a:ext uri="{FF2B5EF4-FFF2-40B4-BE49-F238E27FC236}">
                <a16:creationId xmlns:a16="http://schemas.microsoft.com/office/drawing/2014/main" id="{F4345C50-6D6C-4209-AC74-C3CAEABDB432}"/>
              </a:ext>
            </a:extLst>
          </p:cNvPr>
          <p:cNvPicPr>
            <a:picLocks noChangeAspect="1" noChangeArrowheads="1"/>
          </p:cNvPicPr>
          <p:nvPr/>
        </p:nvPicPr>
        <p:blipFill>
          <a:blip r:embed="rId3" cstate="print"/>
          <a:srcRect/>
          <a:stretch>
            <a:fillRect/>
          </a:stretch>
        </p:blipFill>
        <p:spPr bwMode="gray">
          <a:xfrm>
            <a:off x="4321410" y="4779567"/>
            <a:ext cx="474524" cy="388247"/>
          </a:xfrm>
          <a:prstGeom prst="rect">
            <a:avLst/>
          </a:prstGeom>
          <a:noFill/>
        </p:spPr>
      </p:pic>
      <p:sp>
        <p:nvSpPr>
          <p:cNvPr id="136" name="TextBox 135">
            <a:extLst>
              <a:ext uri="{FF2B5EF4-FFF2-40B4-BE49-F238E27FC236}">
                <a16:creationId xmlns:a16="http://schemas.microsoft.com/office/drawing/2014/main" id="{0EFE0D3F-6891-446A-AAC8-EACDFB6F098B}"/>
              </a:ext>
            </a:extLst>
          </p:cNvPr>
          <p:cNvSpPr txBox="1"/>
          <p:nvPr/>
        </p:nvSpPr>
        <p:spPr bwMode="gray">
          <a:xfrm>
            <a:off x="4311368" y="5116780"/>
            <a:ext cx="492443" cy="276999"/>
          </a:xfrm>
          <a:prstGeom prst="rect">
            <a:avLst/>
          </a:prstGeom>
          <a:noFill/>
        </p:spPr>
        <p:txBody>
          <a:bodyPr wrap="none" rtlCol="0">
            <a:spAutoFit/>
          </a:bodyPr>
          <a:lstStyle/>
          <a:p>
            <a:r>
              <a:rPr lang="zh-CN" altLang="en-US" sz="1200" dirty="0"/>
              <a:t>分支</a:t>
            </a:r>
          </a:p>
        </p:txBody>
      </p:sp>
      <p:sp>
        <p:nvSpPr>
          <p:cNvPr id="137" name="TextBox 136">
            <a:extLst>
              <a:ext uri="{FF2B5EF4-FFF2-40B4-BE49-F238E27FC236}">
                <a16:creationId xmlns:a16="http://schemas.microsoft.com/office/drawing/2014/main" id="{0F61AACF-64AD-4A17-946C-7AAE915B5232}"/>
              </a:ext>
            </a:extLst>
          </p:cNvPr>
          <p:cNvSpPr txBox="1"/>
          <p:nvPr/>
        </p:nvSpPr>
        <p:spPr bwMode="gray">
          <a:xfrm>
            <a:off x="3796249" y="4831333"/>
            <a:ext cx="575799" cy="276999"/>
          </a:xfrm>
          <a:prstGeom prst="rect">
            <a:avLst/>
          </a:prstGeom>
          <a:noFill/>
        </p:spPr>
        <p:txBody>
          <a:bodyPr wrap="none" rtlCol="0">
            <a:spAutoFit/>
          </a:bodyPr>
          <a:lstStyle/>
          <a:p>
            <a:r>
              <a:rPr lang="en-US" altLang="zh-CN" sz="1200" dirty="0"/>
              <a:t>EDGE</a:t>
            </a:r>
            <a:endParaRPr lang="zh-CN" altLang="en-US" sz="1200" dirty="0"/>
          </a:p>
        </p:txBody>
      </p:sp>
      <p:cxnSp>
        <p:nvCxnSpPr>
          <p:cNvPr id="138" name="Straight Connector 137">
            <a:extLst>
              <a:ext uri="{FF2B5EF4-FFF2-40B4-BE49-F238E27FC236}">
                <a16:creationId xmlns:a16="http://schemas.microsoft.com/office/drawing/2014/main" id="{C8737DCB-967E-43C4-AD36-85710A0B3815}"/>
              </a:ext>
            </a:extLst>
          </p:cNvPr>
          <p:cNvCxnSpPr>
            <a:cxnSpLocks/>
            <a:stCxn id="135" idx="0"/>
          </p:cNvCxnSpPr>
          <p:nvPr/>
        </p:nvCxnSpPr>
        <p:spPr bwMode="gray">
          <a:xfrm flipV="1">
            <a:off x="4558672" y="3635743"/>
            <a:ext cx="0" cy="114382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9" name="Freeform 159">
            <a:extLst>
              <a:ext uri="{FF2B5EF4-FFF2-40B4-BE49-F238E27FC236}">
                <a16:creationId xmlns:a16="http://schemas.microsoft.com/office/drawing/2014/main" id="{BC66CE55-84A0-4EEE-8894-71D11DB30C5C}"/>
              </a:ext>
            </a:extLst>
          </p:cNvPr>
          <p:cNvSpPr/>
          <p:nvPr/>
        </p:nvSpPr>
        <p:spPr bwMode="gray">
          <a:xfrm flipH="1">
            <a:off x="4001834" y="3831643"/>
            <a:ext cx="1095168" cy="58542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MPLS</a:t>
            </a:r>
          </a:p>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sp>
        <p:nvSpPr>
          <p:cNvPr id="140" name="Rectangle: Rounded Corners 139">
            <a:extLst>
              <a:ext uri="{FF2B5EF4-FFF2-40B4-BE49-F238E27FC236}">
                <a16:creationId xmlns:a16="http://schemas.microsoft.com/office/drawing/2014/main" id="{1C39C72D-3779-4725-9D4F-EDC56353265D}"/>
              </a:ext>
            </a:extLst>
          </p:cNvPr>
          <p:cNvSpPr/>
          <p:nvPr/>
        </p:nvSpPr>
        <p:spPr bwMode="gray">
          <a:xfrm>
            <a:off x="1168219" y="2724602"/>
            <a:ext cx="2213279" cy="2895147"/>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Rectangle: Rounded Corners 140">
            <a:extLst>
              <a:ext uri="{FF2B5EF4-FFF2-40B4-BE49-F238E27FC236}">
                <a16:creationId xmlns:a16="http://schemas.microsoft.com/office/drawing/2014/main" id="{6D297684-F2E7-4906-B325-851EC271BF87}"/>
              </a:ext>
            </a:extLst>
          </p:cNvPr>
          <p:cNvSpPr/>
          <p:nvPr/>
        </p:nvSpPr>
        <p:spPr bwMode="gray">
          <a:xfrm>
            <a:off x="3493365" y="2715077"/>
            <a:ext cx="2213279" cy="2895147"/>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TextBox 141">
            <a:extLst>
              <a:ext uri="{FF2B5EF4-FFF2-40B4-BE49-F238E27FC236}">
                <a16:creationId xmlns:a16="http://schemas.microsoft.com/office/drawing/2014/main" id="{3CD37A49-7238-4A22-BB65-3D8B34039C39}"/>
              </a:ext>
            </a:extLst>
          </p:cNvPr>
          <p:cNvSpPr txBox="1"/>
          <p:nvPr/>
        </p:nvSpPr>
        <p:spPr bwMode="gray">
          <a:xfrm>
            <a:off x="1885841" y="2402537"/>
            <a:ext cx="751991" cy="307777"/>
          </a:xfrm>
          <a:prstGeom prst="rect">
            <a:avLst/>
          </a:prstGeom>
          <a:noFill/>
        </p:spPr>
        <p:txBody>
          <a:bodyPr wrap="square" rtlCol="0">
            <a:spAutoFit/>
          </a:bodyPr>
          <a:lstStyle/>
          <a:p>
            <a:pPr algn="ctr"/>
            <a:r>
              <a:rPr lang="en-US" altLang="zh-CN" sz="1400" dirty="0"/>
              <a:t>Area1</a:t>
            </a:r>
            <a:endParaRPr lang="zh-CN" altLang="en-US" sz="1400" dirty="0"/>
          </a:p>
        </p:txBody>
      </p:sp>
      <p:sp>
        <p:nvSpPr>
          <p:cNvPr id="143" name="TextBox 142">
            <a:extLst>
              <a:ext uri="{FF2B5EF4-FFF2-40B4-BE49-F238E27FC236}">
                <a16:creationId xmlns:a16="http://schemas.microsoft.com/office/drawing/2014/main" id="{3E0811DF-600E-4646-ACB9-1875F46995CB}"/>
              </a:ext>
            </a:extLst>
          </p:cNvPr>
          <p:cNvSpPr txBox="1"/>
          <p:nvPr/>
        </p:nvSpPr>
        <p:spPr bwMode="gray">
          <a:xfrm>
            <a:off x="4251115" y="2402537"/>
            <a:ext cx="751991" cy="307777"/>
          </a:xfrm>
          <a:prstGeom prst="rect">
            <a:avLst/>
          </a:prstGeom>
          <a:noFill/>
        </p:spPr>
        <p:txBody>
          <a:bodyPr wrap="square" rtlCol="0">
            <a:spAutoFit/>
          </a:bodyPr>
          <a:lstStyle/>
          <a:p>
            <a:pPr algn="ctr"/>
            <a:r>
              <a:rPr lang="en-US" altLang="zh-CN" sz="1400" dirty="0"/>
              <a:t>Area2</a:t>
            </a:r>
            <a:endParaRPr lang="zh-CN" altLang="en-US" sz="1400" dirty="0"/>
          </a:p>
        </p:txBody>
      </p:sp>
      <p:sp>
        <p:nvSpPr>
          <p:cNvPr id="144" name="Freeform 159">
            <a:extLst>
              <a:ext uri="{FF2B5EF4-FFF2-40B4-BE49-F238E27FC236}">
                <a16:creationId xmlns:a16="http://schemas.microsoft.com/office/drawing/2014/main" id="{6B16BE9D-E66F-4D9E-8AAF-B8FD0402DE27}"/>
              </a:ext>
            </a:extLst>
          </p:cNvPr>
          <p:cNvSpPr/>
          <p:nvPr/>
        </p:nvSpPr>
        <p:spPr bwMode="gray">
          <a:xfrm flipH="1">
            <a:off x="6916762" y="3073526"/>
            <a:ext cx="1429629" cy="7642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5" name="Picture 12" descr="E:\2016.01\1.12 扁平化图标\蓝色\AR-蓝色最新-40.png">
            <a:extLst>
              <a:ext uri="{FF2B5EF4-FFF2-40B4-BE49-F238E27FC236}">
                <a16:creationId xmlns:a16="http://schemas.microsoft.com/office/drawing/2014/main" id="{0D7B5AFB-EE42-4E4D-BEB8-93A4F3D55C63}"/>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7244499" y="3444964"/>
            <a:ext cx="306789" cy="251009"/>
          </a:xfrm>
          <a:prstGeom prst="rect">
            <a:avLst/>
          </a:prstGeom>
          <a:noFill/>
        </p:spPr>
      </p:pic>
      <p:pic>
        <p:nvPicPr>
          <p:cNvPr id="146" name="Picture 12" descr="E:\2016.01\1.12 扁平化图标\蓝色\AR-蓝色最新-40.png">
            <a:extLst>
              <a:ext uri="{FF2B5EF4-FFF2-40B4-BE49-F238E27FC236}">
                <a16:creationId xmlns:a16="http://schemas.microsoft.com/office/drawing/2014/main" id="{EBCA10EF-3151-4D8E-B3D2-431FE3B3AEEB}"/>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7705141" y="3444196"/>
            <a:ext cx="306789" cy="251009"/>
          </a:xfrm>
          <a:prstGeom prst="rect">
            <a:avLst/>
          </a:prstGeom>
          <a:noFill/>
        </p:spPr>
      </p:pic>
      <p:sp>
        <p:nvSpPr>
          <p:cNvPr id="147" name="TextBox 146">
            <a:extLst>
              <a:ext uri="{FF2B5EF4-FFF2-40B4-BE49-F238E27FC236}">
                <a16:creationId xmlns:a16="http://schemas.microsoft.com/office/drawing/2014/main" id="{98E69C9B-B020-499E-AB6F-93E0A08B3359}"/>
              </a:ext>
            </a:extLst>
          </p:cNvPr>
          <p:cNvSpPr txBox="1"/>
          <p:nvPr/>
        </p:nvSpPr>
        <p:spPr bwMode="gray">
          <a:xfrm>
            <a:off x="6959628" y="3023020"/>
            <a:ext cx="1335640" cy="492443"/>
          </a:xfrm>
          <a:prstGeom prst="rect">
            <a:avLst/>
          </a:prstGeom>
          <a:noFill/>
        </p:spPr>
        <p:txBody>
          <a:bodyPr wrap="square" rtlCol="0">
            <a:spAutoFit/>
          </a:bodyPr>
          <a:lstStyle/>
          <a:p>
            <a:pPr algn="ctr"/>
            <a:r>
              <a:rPr lang="zh-CN" altLang="en-US" sz="1400" dirty="0"/>
              <a:t>总部</a:t>
            </a:r>
            <a:endParaRPr lang="en-US" altLang="zh-CN" sz="1400" dirty="0"/>
          </a:p>
          <a:p>
            <a:pPr algn="ctr"/>
            <a:r>
              <a:rPr lang="en-US" altLang="zh-CN" sz="1200" dirty="0"/>
              <a:t>Hub</a:t>
            </a:r>
            <a:endParaRPr lang="zh-CN" altLang="en-US" sz="1400" dirty="0"/>
          </a:p>
        </p:txBody>
      </p:sp>
      <p:pic>
        <p:nvPicPr>
          <p:cNvPr id="148" name="Picture 12" descr="E:\2016.01\1.12 扁平化图标\蓝色\AR-蓝色最新-40.png">
            <a:extLst>
              <a:ext uri="{FF2B5EF4-FFF2-40B4-BE49-F238E27FC236}">
                <a16:creationId xmlns:a16="http://schemas.microsoft.com/office/drawing/2014/main" id="{CF00C9D8-304A-4A03-8B7B-A76C3569C0A9}"/>
              </a:ext>
            </a:extLst>
          </p:cNvPr>
          <p:cNvPicPr>
            <a:picLocks noChangeAspect="1" noChangeArrowheads="1"/>
          </p:cNvPicPr>
          <p:nvPr/>
        </p:nvPicPr>
        <p:blipFill>
          <a:blip r:embed="rId3" cstate="print"/>
          <a:srcRect/>
          <a:stretch>
            <a:fillRect/>
          </a:stretch>
        </p:blipFill>
        <p:spPr bwMode="gray">
          <a:xfrm>
            <a:off x="6623411" y="3374986"/>
            <a:ext cx="474524" cy="388247"/>
          </a:xfrm>
          <a:prstGeom prst="rect">
            <a:avLst/>
          </a:prstGeom>
          <a:noFill/>
        </p:spPr>
      </p:pic>
      <p:pic>
        <p:nvPicPr>
          <p:cNvPr id="149" name="Picture 12" descr="E:\2016.01\1.12 扁平化图标\蓝色\AR-蓝色最新-40.png">
            <a:extLst>
              <a:ext uri="{FF2B5EF4-FFF2-40B4-BE49-F238E27FC236}">
                <a16:creationId xmlns:a16="http://schemas.microsoft.com/office/drawing/2014/main" id="{F6066291-39DA-48B4-B63D-D14B91D76826}"/>
              </a:ext>
            </a:extLst>
          </p:cNvPr>
          <p:cNvPicPr>
            <a:picLocks noChangeAspect="1" noChangeArrowheads="1"/>
          </p:cNvPicPr>
          <p:nvPr/>
        </p:nvPicPr>
        <p:blipFill>
          <a:blip r:embed="rId3" cstate="print"/>
          <a:srcRect/>
          <a:stretch>
            <a:fillRect/>
          </a:stretch>
        </p:blipFill>
        <p:spPr bwMode="gray">
          <a:xfrm>
            <a:off x="8179898" y="3376668"/>
            <a:ext cx="474524" cy="388247"/>
          </a:xfrm>
          <a:prstGeom prst="rect">
            <a:avLst/>
          </a:prstGeom>
          <a:noFill/>
        </p:spPr>
      </p:pic>
      <p:cxnSp>
        <p:nvCxnSpPr>
          <p:cNvPr id="150" name="Straight Connector 149">
            <a:extLst>
              <a:ext uri="{FF2B5EF4-FFF2-40B4-BE49-F238E27FC236}">
                <a16:creationId xmlns:a16="http://schemas.microsoft.com/office/drawing/2014/main" id="{FC7C56E4-4E4A-4631-9634-4E4290DEC392}"/>
              </a:ext>
            </a:extLst>
          </p:cNvPr>
          <p:cNvCxnSpPr>
            <a:cxnSpLocks/>
            <a:stCxn id="148" idx="3"/>
            <a:endCxn id="145" idx="1"/>
          </p:cNvCxnSpPr>
          <p:nvPr/>
        </p:nvCxnSpPr>
        <p:spPr bwMode="gray">
          <a:xfrm>
            <a:off x="7097935" y="3569110"/>
            <a:ext cx="146564" cy="13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9796D190-651E-4ABC-ABA4-143AA3406D97}"/>
              </a:ext>
            </a:extLst>
          </p:cNvPr>
          <p:cNvCxnSpPr>
            <a:cxnSpLocks/>
            <a:stCxn id="146" idx="3"/>
            <a:endCxn id="149" idx="1"/>
          </p:cNvCxnSpPr>
          <p:nvPr/>
        </p:nvCxnSpPr>
        <p:spPr bwMode="gray">
          <a:xfrm>
            <a:off x="8011930" y="3569701"/>
            <a:ext cx="167968" cy="109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54EEC6D6-6F8E-4ABF-97E0-0CB596F19852}"/>
              </a:ext>
            </a:extLst>
          </p:cNvPr>
          <p:cNvSpPr txBox="1"/>
          <p:nvPr/>
        </p:nvSpPr>
        <p:spPr bwMode="gray">
          <a:xfrm>
            <a:off x="6627496" y="3145003"/>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153" name="TextBox 152">
            <a:extLst>
              <a:ext uri="{FF2B5EF4-FFF2-40B4-BE49-F238E27FC236}">
                <a16:creationId xmlns:a16="http://schemas.microsoft.com/office/drawing/2014/main" id="{299CFEAA-6D8F-43E9-90AA-CAEC9F04C6E2}"/>
              </a:ext>
            </a:extLst>
          </p:cNvPr>
          <p:cNvSpPr txBox="1"/>
          <p:nvPr/>
        </p:nvSpPr>
        <p:spPr bwMode="gray">
          <a:xfrm>
            <a:off x="8208671" y="3153944"/>
            <a:ext cx="452368" cy="276999"/>
          </a:xfrm>
          <a:prstGeom prst="rect">
            <a:avLst/>
          </a:prstGeom>
          <a:noFill/>
        </p:spPr>
        <p:txBody>
          <a:bodyPr wrap="none" rtlCol="0">
            <a:spAutoFit/>
          </a:bodyPr>
          <a:lstStyle/>
          <a:p>
            <a:r>
              <a:rPr lang="en-US" altLang="zh-CN" sz="1200" dirty="0"/>
              <a:t>CPE</a:t>
            </a:r>
            <a:endParaRPr lang="zh-CN" altLang="en-US" sz="1200" dirty="0"/>
          </a:p>
        </p:txBody>
      </p:sp>
      <p:cxnSp>
        <p:nvCxnSpPr>
          <p:cNvPr id="154" name="Straight Connector 153">
            <a:extLst>
              <a:ext uri="{FF2B5EF4-FFF2-40B4-BE49-F238E27FC236}">
                <a16:creationId xmlns:a16="http://schemas.microsoft.com/office/drawing/2014/main" id="{E1C53E2E-0A42-4224-A468-6A3A2C11F5C7}"/>
              </a:ext>
            </a:extLst>
          </p:cNvPr>
          <p:cNvCxnSpPr>
            <a:cxnSpLocks/>
            <a:stCxn id="146" idx="1"/>
            <a:endCxn id="145" idx="3"/>
          </p:cNvCxnSpPr>
          <p:nvPr/>
        </p:nvCxnSpPr>
        <p:spPr bwMode="gray">
          <a:xfrm flipH="1">
            <a:off x="7551288" y="3569701"/>
            <a:ext cx="153853" cy="76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5" name="Freeform 159">
            <a:extLst>
              <a:ext uri="{FF2B5EF4-FFF2-40B4-BE49-F238E27FC236}">
                <a16:creationId xmlns:a16="http://schemas.microsoft.com/office/drawing/2014/main" id="{CABD82F0-7AF6-495F-A854-1EA94B08BEE3}"/>
              </a:ext>
            </a:extLst>
          </p:cNvPr>
          <p:cNvSpPr/>
          <p:nvPr/>
        </p:nvSpPr>
        <p:spPr bwMode="gray">
          <a:xfrm flipH="1">
            <a:off x="7053149" y="4975847"/>
            <a:ext cx="1008226" cy="5389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56" name="Picture 12" descr="E:\2016.01\1.12 扁平化图标\蓝色\AR-蓝色最新-40.png">
            <a:extLst>
              <a:ext uri="{FF2B5EF4-FFF2-40B4-BE49-F238E27FC236}">
                <a16:creationId xmlns:a16="http://schemas.microsoft.com/office/drawing/2014/main" id="{A9C5B524-F17B-4856-8FBE-F1BCAF593FE1}"/>
              </a:ext>
            </a:extLst>
          </p:cNvPr>
          <p:cNvPicPr>
            <a:picLocks noChangeAspect="1" noChangeArrowheads="1"/>
          </p:cNvPicPr>
          <p:nvPr/>
        </p:nvPicPr>
        <p:blipFill>
          <a:blip r:embed="rId3" cstate="print"/>
          <a:srcRect/>
          <a:stretch>
            <a:fillRect/>
          </a:stretch>
        </p:blipFill>
        <p:spPr bwMode="gray">
          <a:xfrm>
            <a:off x="7399440" y="4831059"/>
            <a:ext cx="474524" cy="388247"/>
          </a:xfrm>
          <a:prstGeom prst="rect">
            <a:avLst/>
          </a:prstGeom>
          <a:noFill/>
        </p:spPr>
      </p:pic>
      <p:sp>
        <p:nvSpPr>
          <p:cNvPr id="157" name="TextBox 156">
            <a:extLst>
              <a:ext uri="{FF2B5EF4-FFF2-40B4-BE49-F238E27FC236}">
                <a16:creationId xmlns:a16="http://schemas.microsoft.com/office/drawing/2014/main" id="{597E4013-87F0-470C-B637-865FC471312B}"/>
              </a:ext>
            </a:extLst>
          </p:cNvPr>
          <p:cNvSpPr txBox="1"/>
          <p:nvPr/>
        </p:nvSpPr>
        <p:spPr bwMode="gray">
          <a:xfrm>
            <a:off x="7389398" y="5168272"/>
            <a:ext cx="492443" cy="276999"/>
          </a:xfrm>
          <a:prstGeom prst="rect">
            <a:avLst/>
          </a:prstGeom>
          <a:noFill/>
        </p:spPr>
        <p:txBody>
          <a:bodyPr wrap="none" rtlCol="0">
            <a:spAutoFit/>
          </a:bodyPr>
          <a:lstStyle/>
          <a:p>
            <a:r>
              <a:rPr lang="zh-CN" altLang="en-US" sz="1200" dirty="0"/>
              <a:t>分支</a:t>
            </a:r>
          </a:p>
        </p:txBody>
      </p:sp>
      <p:sp>
        <p:nvSpPr>
          <p:cNvPr id="158" name="TextBox 157">
            <a:extLst>
              <a:ext uri="{FF2B5EF4-FFF2-40B4-BE49-F238E27FC236}">
                <a16:creationId xmlns:a16="http://schemas.microsoft.com/office/drawing/2014/main" id="{F11BCB3A-C2F2-47AA-B020-65BB0BD43F2E}"/>
              </a:ext>
            </a:extLst>
          </p:cNvPr>
          <p:cNvSpPr txBox="1"/>
          <p:nvPr/>
        </p:nvSpPr>
        <p:spPr bwMode="gray">
          <a:xfrm>
            <a:off x="6887288" y="4882825"/>
            <a:ext cx="575799" cy="276999"/>
          </a:xfrm>
          <a:prstGeom prst="rect">
            <a:avLst/>
          </a:prstGeom>
          <a:noFill/>
        </p:spPr>
        <p:txBody>
          <a:bodyPr wrap="none" rtlCol="0">
            <a:spAutoFit/>
          </a:bodyPr>
          <a:lstStyle/>
          <a:p>
            <a:r>
              <a:rPr lang="en-US" altLang="zh-CN" sz="1200" dirty="0"/>
              <a:t>EDGE</a:t>
            </a:r>
            <a:endParaRPr lang="zh-CN" altLang="en-US" sz="1200" dirty="0"/>
          </a:p>
        </p:txBody>
      </p:sp>
      <p:cxnSp>
        <p:nvCxnSpPr>
          <p:cNvPr id="159" name="Straight Connector 158">
            <a:extLst>
              <a:ext uri="{FF2B5EF4-FFF2-40B4-BE49-F238E27FC236}">
                <a16:creationId xmlns:a16="http://schemas.microsoft.com/office/drawing/2014/main" id="{A98E98EC-888A-40E4-8CAA-DC95074878A6}"/>
              </a:ext>
            </a:extLst>
          </p:cNvPr>
          <p:cNvCxnSpPr>
            <a:cxnSpLocks/>
            <a:stCxn id="156" idx="0"/>
          </p:cNvCxnSpPr>
          <p:nvPr/>
        </p:nvCxnSpPr>
        <p:spPr bwMode="gray">
          <a:xfrm flipV="1">
            <a:off x="7636702" y="3830111"/>
            <a:ext cx="0" cy="100094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0" name="Freeform 159">
            <a:extLst>
              <a:ext uri="{FF2B5EF4-FFF2-40B4-BE49-F238E27FC236}">
                <a16:creationId xmlns:a16="http://schemas.microsoft.com/office/drawing/2014/main" id="{39C5D58A-205A-45B3-AF0D-BBC1AAFE6EBB}"/>
              </a:ext>
            </a:extLst>
          </p:cNvPr>
          <p:cNvSpPr/>
          <p:nvPr/>
        </p:nvSpPr>
        <p:spPr bwMode="gray">
          <a:xfrm flipH="1">
            <a:off x="7079864" y="4016485"/>
            <a:ext cx="1095168" cy="58542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MPLS</a:t>
            </a:r>
          </a:p>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sp>
        <p:nvSpPr>
          <p:cNvPr id="161" name="Freeform 159">
            <a:extLst>
              <a:ext uri="{FF2B5EF4-FFF2-40B4-BE49-F238E27FC236}">
                <a16:creationId xmlns:a16="http://schemas.microsoft.com/office/drawing/2014/main" id="{F63FD5E8-72ED-43E9-9A8C-043DA74AC599}"/>
              </a:ext>
            </a:extLst>
          </p:cNvPr>
          <p:cNvSpPr/>
          <p:nvPr/>
        </p:nvSpPr>
        <p:spPr bwMode="gray">
          <a:xfrm flipH="1">
            <a:off x="9184844" y="3086077"/>
            <a:ext cx="1429629" cy="7642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2" name="Picture 12" descr="E:\2016.01\1.12 扁平化图标\蓝色\AR-蓝色最新-40.png">
            <a:extLst>
              <a:ext uri="{FF2B5EF4-FFF2-40B4-BE49-F238E27FC236}">
                <a16:creationId xmlns:a16="http://schemas.microsoft.com/office/drawing/2014/main" id="{EF24AACF-2FD0-4F2A-82BA-39D582C9A361}"/>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9512581" y="3457515"/>
            <a:ext cx="306789" cy="251009"/>
          </a:xfrm>
          <a:prstGeom prst="rect">
            <a:avLst/>
          </a:prstGeom>
          <a:noFill/>
        </p:spPr>
      </p:pic>
      <p:pic>
        <p:nvPicPr>
          <p:cNvPr id="163" name="Picture 12" descr="E:\2016.01\1.12 扁平化图标\蓝色\AR-蓝色最新-40.png">
            <a:extLst>
              <a:ext uri="{FF2B5EF4-FFF2-40B4-BE49-F238E27FC236}">
                <a16:creationId xmlns:a16="http://schemas.microsoft.com/office/drawing/2014/main" id="{D3B49810-D763-4C52-8C6E-799A51724D80}"/>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9973223" y="3456747"/>
            <a:ext cx="306789" cy="251009"/>
          </a:xfrm>
          <a:prstGeom prst="rect">
            <a:avLst/>
          </a:prstGeom>
          <a:noFill/>
        </p:spPr>
      </p:pic>
      <p:sp>
        <p:nvSpPr>
          <p:cNvPr id="164" name="TextBox 163">
            <a:extLst>
              <a:ext uri="{FF2B5EF4-FFF2-40B4-BE49-F238E27FC236}">
                <a16:creationId xmlns:a16="http://schemas.microsoft.com/office/drawing/2014/main" id="{6E94A34F-2BB8-4F61-BAAE-2D7B27536606}"/>
              </a:ext>
            </a:extLst>
          </p:cNvPr>
          <p:cNvSpPr txBox="1"/>
          <p:nvPr/>
        </p:nvSpPr>
        <p:spPr bwMode="gray">
          <a:xfrm>
            <a:off x="9249738" y="3036920"/>
            <a:ext cx="1335640" cy="492443"/>
          </a:xfrm>
          <a:prstGeom prst="rect">
            <a:avLst/>
          </a:prstGeom>
          <a:noFill/>
        </p:spPr>
        <p:txBody>
          <a:bodyPr wrap="square" rtlCol="0">
            <a:spAutoFit/>
          </a:bodyPr>
          <a:lstStyle/>
          <a:p>
            <a:pPr algn="ctr"/>
            <a:r>
              <a:rPr lang="zh-CN" altLang="en-US" sz="1400" dirty="0"/>
              <a:t>总部</a:t>
            </a:r>
            <a:endParaRPr lang="en-US" altLang="zh-CN" sz="1400" dirty="0"/>
          </a:p>
          <a:p>
            <a:pPr algn="ctr"/>
            <a:r>
              <a:rPr lang="en-US" altLang="zh-CN" sz="1200" dirty="0"/>
              <a:t>Hub</a:t>
            </a:r>
            <a:endParaRPr lang="zh-CN" altLang="en-US" sz="1400" dirty="0"/>
          </a:p>
        </p:txBody>
      </p:sp>
      <p:pic>
        <p:nvPicPr>
          <p:cNvPr id="165" name="Picture 12" descr="E:\2016.01\1.12 扁平化图标\蓝色\AR-蓝色最新-40.png">
            <a:extLst>
              <a:ext uri="{FF2B5EF4-FFF2-40B4-BE49-F238E27FC236}">
                <a16:creationId xmlns:a16="http://schemas.microsoft.com/office/drawing/2014/main" id="{E47324EB-1925-4F00-BE9D-CFCA47B0AA84}"/>
              </a:ext>
            </a:extLst>
          </p:cNvPr>
          <p:cNvPicPr>
            <a:picLocks noChangeAspect="1" noChangeArrowheads="1"/>
          </p:cNvPicPr>
          <p:nvPr/>
        </p:nvPicPr>
        <p:blipFill>
          <a:blip r:embed="rId3" cstate="print"/>
          <a:srcRect/>
          <a:stretch>
            <a:fillRect/>
          </a:stretch>
        </p:blipFill>
        <p:spPr bwMode="gray">
          <a:xfrm>
            <a:off x="8891493" y="3387537"/>
            <a:ext cx="474524" cy="388247"/>
          </a:xfrm>
          <a:prstGeom prst="rect">
            <a:avLst/>
          </a:prstGeom>
          <a:noFill/>
        </p:spPr>
      </p:pic>
      <p:pic>
        <p:nvPicPr>
          <p:cNvPr id="166" name="Picture 12" descr="E:\2016.01\1.12 扁平化图标\蓝色\AR-蓝色最新-40.png">
            <a:extLst>
              <a:ext uri="{FF2B5EF4-FFF2-40B4-BE49-F238E27FC236}">
                <a16:creationId xmlns:a16="http://schemas.microsoft.com/office/drawing/2014/main" id="{80636656-388D-4116-A763-7F18AC86456A}"/>
              </a:ext>
            </a:extLst>
          </p:cNvPr>
          <p:cNvPicPr>
            <a:picLocks noChangeAspect="1" noChangeArrowheads="1"/>
          </p:cNvPicPr>
          <p:nvPr/>
        </p:nvPicPr>
        <p:blipFill>
          <a:blip r:embed="rId3" cstate="print"/>
          <a:srcRect/>
          <a:stretch>
            <a:fillRect/>
          </a:stretch>
        </p:blipFill>
        <p:spPr bwMode="gray">
          <a:xfrm>
            <a:off x="10447980" y="3389219"/>
            <a:ext cx="474524" cy="388247"/>
          </a:xfrm>
          <a:prstGeom prst="rect">
            <a:avLst/>
          </a:prstGeom>
          <a:noFill/>
        </p:spPr>
      </p:pic>
      <p:cxnSp>
        <p:nvCxnSpPr>
          <p:cNvPr id="167" name="Straight Connector 166">
            <a:extLst>
              <a:ext uri="{FF2B5EF4-FFF2-40B4-BE49-F238E27FC236}">
                <a16:creationId xmlns:a16="http://schemas.microsoft.com/office/drawing/2014/main" id="{C30BCDE6-9C2E-40A9-BEDE-0633036FBE45}"/>
              </a:ext>
            </a:extLst>
          </p:cNvPr>
          <p:cNvCxnSpPr>
            <a:cxnSpLocks/>
            <a:stCxn id="165" idx="3"/>
            <a:endCxn id="162" idx="1"/>
          </p:cNvCxnSpPr>
          <p:nvPr/>
        </p:nvCxnSpPr>
        <p:spPr bwMode="gray">
          <a:xfrm>
            <a:off x="9366017" y="3581661"/>
            <a:ext cx="146564" cy="13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5F759FE0-7555-4BB2-9EDA-74BC2E6F4359}"/>
              </a:ext>
            </a:extLst>
          </p:cNvPr>
          <p:cNvCxnSpPr>
            <a:cxnSpLocks/>
            <a:stCxn id="163" idx="3"/>
            <a:endCxn id="166" idx="1"/>
          </p:cNvCxnSpPr>
          <p:nvPr/>
        </p:nvCxnSpPr>
        <p:spPr bwMode="gray">
          <a:xfrm>
            <a:off x="10280012" y="3582252"/>
            <a:ext cx="167968" cy="109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70E799A4-E022-4CBF-B9B7-6B8217D1E3D6}"/>
              </a:ext>
            </a:extLst>
          </p:cNvPr>
          <p:cNvSpPr txBox="1"/>
          <p:nvPr/>
        </p:nvSpPr>
        <p:spPr bwMode="gray">
          <a:xfrm>
            <a:off x="8895578" y="3157554"/>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170" name="TextBox 169">
            <a:extLst>
              <a:ext uri="{FF2B5EF4-FFF2-40B4-BE49-F238E27FC236}">
                <a16:creationId xmlns:a16="http://schemas.microsoft.com/office/drawing/2014/main" id="{4A0CFA95-6169-4D0B-ADB6-96098654C64A}"/>
              </a:ext>
            </a:extLst>
          </p:cNvPr>
          <p:cNvSpPr txBox="1"/>
          <p:nvPr/>
        </p:nvSpPr>
        <p:spPr bwMode="gray">
          <a:xfrm>
            <a:off x="10476753" y="3166495"/>
            <a:ext cx="452368" cy="276999"/>
          </a:xfrm>
          <a:prstGeom prst="rect">
            <a:avLst/>
          </a:prstGeom>
          <a:noFill/>
        </p:spPr>
        <p:txBody>
          <a:bodyPr wrap="none" rtlCol="0">
            <a:spAutoFit/>
          </a:bodyPr>
          <a:lstStyle/>
          <a:p>
            <a:r>
              <a:rPr lang="en-US" altLang="zh-CN" sz="1200" dirty="0"/>
              <a:t>CPE</a:t>
            </a:r>
            <a:endParaRPr lang="zh-CN" altLang="en-US" sz="1200" dirty="0"/>
          </a:p>
        </p:txBody>
      </p:sp>
      <p:cxnSp>
        <p:nvCxnSpPr>
          <p:cNvPr id="171" name="Straight Connector 170">
            <a:extLst>
              <a:ext uri="{FF2B5EF4-FFF2-40B4-BE49-F238E27FC236}">
                <a16:creationId xmlns:a16="http://schemas.microsoft.com/office/drawing/2014/main" id="{B1F7D352-A280-4B68-8C03-24C7631474E0}"/>
              </a:ext>
            </a:extLst>
          </p:cNvPr>
          <p:cNvCxnSpPr>
            <a:cxnSpLocks/>
            <a:stCxn id="163" idx="1"/>
            <a:endCxn id="162" idx="3"/>
          </p:cNvCxnSpPr>
          <p:nvPr/>
        </p:nvCxnSpPr>
        <p:spPr bwMode="gray">
          <a:xfrm flipH="1">
            <a:off x="9819370" y="3582252"/>
            <a:ext cx="153853" cy="76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72" name="Freeform 159">
            <a:extLst>
              <a:ext uri="{FF2B5EF4-FFF2-40B4-BE49-F238E27FC236}">
                <a16:creationId xmlns:a16="http://schemas.microsoft.com/office/drawing/2014/main" id="{C97F2A82-1A2F-480B-9B40-E1168F76C3B8}"/>
              </a:ext>
            </a:extLst>
          </p:cNvPr>
          <p:cNvSpPr/>
          <p:nvPr/>
        </p:nvSpPr>
        <p:spPr bwMode="gray">
          <a:xfrm flipH="1">
            <a:off x="9298282" y="4929372"/>
            <a:ext cx="1095168" cy="58542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73" name="Picture 12" descr="E:\2016.01\1.12 扁平化图标\蓝色\AR-蓝色最新-40.png">
            <a:extLst>
              <a:ext uri="{FF2B5EF4-FFF2-40B4-BE49-F238E27FC236}">
                <a16:creationId xmlns:a16="http://schemas.microsoft.com/office/drawing/2014/main" id="{26E3C758-6519-4B75-BF7F-AFEE9D7CEBEE}"/>
              </a:ext>
            </a:extLst>
          </p:cNvPr>
          <p:cNvPicPr>
            <a:picLocks noChangeAspect="1" noChangeArrowheads="1"/>
          </p:cNvPicPr>
          <p:nvPr/>
        </p:nvPicPr>
        <p:blipFill>
          <a:blip r:embed="rId3" cstate="print"/>
          <a:srcRect/>
          <a:stretch>
            <a:fillRect/>
          </a:stretch>
        </p:blipFill>
        <p:spPr bwMode="gray">
          <a:xfrm>
            <a:off x="9667522" y="4812173"/>
            <a:ext cx="474524" cy="388247"/>
          </a:xfrm>
          <a:prstGeom prst="rect">
            <a:avLst/>
          </a:prstGeom>
          <a:noFill/>
        </p:spPr>
      </p:pic>
      <p:sp>
        <p:nvSpPr>
          <p:cNvPr id="174" name="TextBox 173">
            <a:extLst>
              <a:ext uri="{FF2B5EF4-FFF2-40B4-BE49-F238E27FC236}">
                <a16:creationId xmlns:a16="http://schemas.microsoft.com/office/drawing/2014/main" id="{53996B8E-4A82-464F-933B-D54AA7E7FBE9}"/>
              </a:ext>
            </a:extLst>
          </p:cNvPr>
          <p:cNvSpPr txBox="1"/>
          <p:nvPr/>
        </p:nvSpPr>
        <p:spPr bwMode="gray">
          <a:xfrm>
            <a:off x="9657480" y="5149386"/>
            <a:ext cx="492443" cy="276999"/>
          </a:xfrm>
          <a:prstGeom prst="rect">
            <a:avLst/>
          </a:prstGeom>
          <a:noFill/>
        </p:spPr>
        <p:txBody>
          <a:bodyPr wrap="none" rtlCol="0">
            <a:spAutoFit/>
          </a:bodyPr>
          <a:lstStyle/>
          <a:p>
            <a:r>
              <a:rPr lang="zh-CN" altLang="en-US" sz="1200" dirty="0"/>
              <a:t>分支</a:t>
            </a:r>
          </a:p>
        </p:txBody>
      </p:sp>
      <p:sp>
        <p:nvSpPr>
          <p:cNvPr id="175" name="TextBox 174">
            <a:extLst>
              <a:ext uri="{FF2B5EF4-FFF2-40B4-BE49-F238E27FC236}">
                <a16:creationId xmlns:a16="http://schemas.microsoft.com/office/drawing/2014/main" id="{3D886782-E864-4B0F-951D-6FF7D2619222}"/>
              </a:ext>
            </a:extLst>
          </p:cNvPr>
          <p:cNvSpPr txBox="1"/>
          <p:nvPr/>
        </p:nvSpPr>
        <p:spPr bwMode="gray">
          <a:xfrm>
            <a:off x="9160309" y="4863939"/>
            <a:ext cx="575799" cy="276999"/>
          </a:xfrm>
          <a:prstGeom prst="rect">
            <a:avLst/>
          </a:prstGeom>
          <a:noFill/>
        </p:spPr>
        <p:txBody>
          <a:bodyPr wrap="none" rtlCol="0">
            <a:spAutoFit/>
          </a:bodyPr>
          <a:lstStyle/>
          <a:p>
            <a:r>
              <a:rPr lang="en-US" altLang="zh-CN" sz="1200" dirty="0"/>
              <a:t>EDGE</a:t>
            </a:r>
            <a:endParaRPr lang="zh-CN" altLang="en-US" sz="1200" dirty="0"/>
          </a:p>
        </p:txBody>
      </p:sp>
      <p:cxnSp>
        <p:nvCxnSpPr>
          <p:cNvPr id="176" name="Straight Connector 175">
            <a:extLst>
              <a:ext uri="{FF2B5EF4-FFF2-40B4-BE49-F238E27FC236}">
                <a16:creationId xmlns:a16="http://schemas.microsoft.com/office/drawing/2014/main" id="{F9B1CB9A-85BF-4AD1-A9A7-3881BD087B22}"/>
              </a:ext>
            </a:extLst>
          </p:cNvPr>
          <p:cNvCxnSpPr>
            <a:cxnSpLocks/>
            <a:stCxn id="173" idx="0"/>
          </p:cNvCxnSpPr>
          <p:nvPr/>
        </p:nvCxnSpPr>
        <p:spPr bwMode="gray">
          <a:xfrm flipV="1">
            <a:off x="9904784" y="3847265"/>
            <a:ext cx="0" cy="96490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77" name="Freeform 159">
            <a:extLst>
              <a:ext uri="{FF2B5EF4-FFF2-40B4-BE49-F238E27FC236}">
                <a16:creationId xmlns:a16="http://schemas.microsoft.com/office/drawing/2014/main" id="{077687B4-7563-4BDF-BA75-FD7DCE48024A}"/>
              </a:ext>
            </a:extLst>
          </p:cNvPr>
          <p:cNvSpPr/>
          <p:nvPr/>
        </p:nvSpPr>
        <p:spPr bwMode="gray">
          <a:xfrm flipH="1">
            <a:off x="9347946" y="4029036"/>
            <a:ext cx="1095168" cy="58542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MPLS</a:t>
            </a:r>
          </a:p>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sp>
        <p:nvSpPr>
          <p:cNvPr id="178" name="Rectangle: Rounded Corners 177">
            <a:extLst>
              <a:ext uri="{FF2B5EF4-FFF2-40B4-BE49-F238E27FC236}">
                <a16:creationId xmlns:a16="http://schemas.microsoft.com/office/drawing/2014/main" id="{7E3FE985-E218-4FC9-8AB8-F2EE10C0E57F}"/>
              </a:ext>
            </a:extLst>
          </p:cNvPr>
          <p:cNvSpPr/>
          <p:nvPr/>
        </p:nvSpPr>
        <p:spPr bwMode="gray">
          <a:xfrm>
            <a:off x="6514331" y="2921996"/>
            <a:ext cx="2213279" cy="2688228"/>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9" name="Rectangle: Rounded Corners 178">
            <a:extLst>
              <a:ext uri="{FF2B5EF4-FFF2-40B4-BE49-F238E27FC236}">
                <a16:creationId xmlns:a16="http://schemas.microsoft.com/office/drawing/2014/main" id="{8E24F7D6-1638-4281-9996-A45A8B0D047F}"/>
              </a:ext>
            </a:extLst>
          </p:cNvPr>
          <p:cNvSpPr/>
          <p:nvPr/>
        </p:nvSpPr>
        <p:spPr bwMode="gray">
          <a:xfrm>
            <a:off x="8839477" y="2912471"/>
            <a:ext cx="2213279" cy="2688228"/>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0" name="TextBox 179">
            <a:extLst>
              <a:ext uri="{FF2B5EF4-FFF2-40B4-BE49-F238E27FC236}">
                <a16:creationId xmlns:a16="http://schemas.microsoft.com/office/drawing/2014/main" id="{D99CEF4A-BC74-437D-A583-5F052E17B4E8}"/>
              </a:ext>
            </a:extLst>
          </p:cNvPr>
          <p:cNvSpPr txBox="1"/>
          <p:nvPr/>
        </p:nvSpPr>
        <p:spPr bwMode="gray">
          <a:xfrm>
            <a:off x="7231953" y="2599930"/>
            <a:ext cx="751991" cy="307777"/>
          </a:xfrm>
          <a:prstGeom prst="rect">
            <a:avLst/>
          </a:prstGeom>
          <a:noFill/>
        </p:spPr>
        <p:txBody>
          <a:bodyPr wrap="square" rtlCol="0">
            <a:spAutoFit/>
          </a:bodyPr>
          <a:lstStyle/>
          <a:p>
            <a:pPr algn="ctr"/>
            <a:r>
              <a:rPr lang="zh-CN" altLang="en-US" sz="1400" dirty="0"/>
              <a:t>租户</a:t>
            </a:r>
            <a:r>
              <a:rPr lang="en-US" altLang="zh-CN" sz="1400" dirty="0"/>
              <a:t>1</a:t>
            </a:r>
            <a:endParaRPr lang="zh-CN" altLang="en-US" sz="1400" dirty="0"/>
          </a:p>
        </p:txBody>
      </p:sp>
      <p:sp>
        <p:nvSpPr>
          <p:cNvPr id="181" name="TextBox 180">
            <a:extLst>
              <a:ext uri="{FF2B5EF4-FFF2-40B4-BE49-F238E27FC236}">
                <a16:creationId xmlns:a16="http://schemas.microsoft.com/office/drawing/2014/main" id="{B49651A8-B378-424E-A7AB-7341530A8ADD}"/>
              </a:ext>
            </a:extLst>
          </p:cNvPr>
          <p:cNvSpPr txBox="1"/>
          <p:nvPr/>
        </p:nvSpPr>
        <p:spPr bwMode="gray">
          <a:xfrm>
            <a:off x="9597227" y="2599930"/>
            <a:ext cx="751991" cy="307777"/>
          </a:xfrm>
          <a:prstGeom prst="rect">
            <a:avLst/>
          </a:prstGeom>
          <a:noFill/>
        </p:spPr>
        <p:txBody>
          <a:bodyPr wrap="square" rtlCol="0">
            <a:spAutoFit/>
          </a:bodyPr>
          <a:lstStyle/>
          <a:p>
            <a:pPr algn="ctr"/>
            <a:r>
              <a:rPr lang="zh-CN" altLang="en-US" sz="1400" dirty="0"/>
              <a:t>租户</a:t>
            </a:r>
            <a:r>
              <a:rPr lang="en-US" altLang="zh-CN" sz="1400" dirty="0"/>
              <a:t>2</a:t>
            </a:r>
            <a:endParaRPr lang="zh-CN" altLang="en-US" sz="1400" dirty="0"/>
          </a:p>
        </p:txBody>
      </p:sp>
      <p:sp>
        <p:nvSpPr>
          <p:cNvPr id="184" name="TextBox 79">
            <a:extLst>
              <a:ext uri="{FF2B5EF4-FFF2-40B4-BE49-F238E27FC236}">
                <a16:creationId xmlns:a16="http://schemas.microsoft.com/office/drawing/2014/main" id="{6B064D48-09BD-47C4-AF1F-D98AACDCD4FB}"/>
              </a:ext>
            </a:extLst>
          </p:cNvPr>
          <p:cNvSpPr txBox="1"/>
          <p:nvPr/>
        </p:nvSpPr>
        <p:spPr bwMode="gray">
          <a:xfrm>
            <a:off x="8909788" y="2317352"/>
            <a:ext cx="1122973" cy="307777"/>
          </a:xfrm>
          <a:prstGeom prst="rect">
            <a:avLst/>
          </a:prstGeom>
          <a:noFill/>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rPr>
              <a:t>MSP</a:t>
            </a: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管理员</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pic>
        <p:nvPicPr>
          <p:cNvPr id="185" name="图片 67" descr="交换机.png">
            <a:extLst>
              <a:ext uri="{FF2B5EF4-FFF2-40B4-BE49-F238E27FC236}">
                <a16:creationId xmlns:a16="http://schemas.microsoft.com/office/drawing/2014/main" id="{645C0D99-B76D-4103-A35C-CDC3A398B2D5}"/>
              </a:ext>
            </a:extLst>
          </p:cNvPr>
          <p:cNvPicPr>
            <a:picLocks noChangeAspect="1"/>
          </p:cNvPicPr>
          <p:nvPr/>
        </p:nvPicPr>
        <p:blipFill>
          <a:blip r:embed="rId4" cstate="print"/>
          <a:stretch>
            <a:fillRect/>
          </a:stretch>
        </p:blipFill>
        <p:spPr bwMode="gray">
          <a:xfrm>
            <a:off x="8528446" y="2392933"/>
            <a:ext cx="398327" cy="325903"/>
          </a:xfrm>
          <a:prstGeom prst="rect">
            <a:avLst/>
          </a:prstGeom>
        </p:spPr>
      </p:pic>
      <p:cxnSp>
        <p:nvCxnSpPr>
          <p:cNvPr id="186" name="Straight Connector 185">
            <a:extLst>
              <a:ext uri="{FF2B5EF4-FFF2-40B4-BE49-F238E27FC236}">
                <a16:creationId xmlns:a16="http://schemas.microsoft.com/office/drawing/2014/main" id="{2D5522A7-5C38-4363-AFF8-B72C3D35F9FC}"/>
              </a:ext>
            </a:extLst>
          </p:cNvPr>
          <p:cNvCxnSpPr>
            <a:cxnSpLocks/>
            <a:stCxn id="180" idx="3"/>
            <a:endCxn id="185" idx="1"/>
          </p:cNvCxnSpPr>
          <p:nvPr/>
        </p:nvCxnSpPr>
        <p:spPr bwMode="gray">
          <a:xfrm flipV="1">
            <a:off x="7983944" y="2555885"/>
            <a:ext cx="544502" cy="197934"/>
          </a:xfrm>
          <a:prstGeom prst="line">
            <a:avLst/>
          </a:prstGeom>
          <a:ln w="19050">
            <a:solidFill>
              <a:schemeClr val="bg1">
                <a:lumMod val="50000"/>
              </a:schemeClr>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2B8748C7-D3BC-41EF-8296-16839E45A7B9}"/>
              </a:ext>
            </a:extLst>
          </p:cNvPr>
          <p:cNvCxnSpPr>
            <a:cxnSpLocks/>
            <a:stCxn id="181" idx="1"/>
            <a:endCxn id="185" idx="3"/>
          </p:cNvCxnSpPr>
          <p:nvPr/>
        </p:nvCxnSpPr>
        <p:spPr bwMode="gray">
          <a:xfrm flipH="1" flipV="1">
            <a:off x="8926773" y="2555885"/>
            <a:ext cx="670454" cy="197934"/>
          </a:xfrm>
          <a:prstGeom prst="line">
            <a:avLst/>
          </a:prstGeom>
          <a:ln w="19050">
            <a:solidFill>
              <a:schemeClr val="bg1">
                <a:lumMod val="50000"/>
              </a:schemeClr>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193" name="Picture 12" descr="E:\2016.01\1.12 扁平化图标\蓝色\AR-蓝色最新-40.png">
            <a:extLst>
              <a:ext uri="{FF2B5EF4-FFF2-40B4-BE49-F238E27FC236}">
                <a16:creationId xmlns:a16="http://schemas.microsoft.com/office/drawing/2014/main" id="{BE987FDE-0BD2-4C7B-BE7F-EC474E6D72C0}"/>
              </a:ext>
            </a:extLst>
          </p:cNvPr>
          <p:cNvPicPr>
            <a:picLocks noChangeAspect="1" noChangeArrowheads="1"/>
          </p:cNvPicPr>
          <p:nvPr/>
        </p:nvPicPr>
        <p:blipFill>
          <a:blip r:embed="rId3" cstate="print"/>
          <a:srcRect/>
          <a:stretch>
            <a:fillRect/>
          </a:stretch>
        </p:blipFill>
        <p:spPr bwMode="gray">
          <a:xfrm>
            <a:off x="1291010" y="3894281"/>
            <a:ext cx="371662" cy="304087"/>
          </a:xfrm>
          <a:prstGeom prst="rect">
            <a:avLst/>
          </a:prstGeom>
          <a:noFill/>
        </p:spPr>
      </p:pic>
      <p:sp>
        <p:nvSpPr>
          <p:cNvPr id="194" name="TextBox 193">
            <a:extLst>
              <a:ext uri="{FF2B5EF4-FFF2-40B4-BE49-F238E27FC236}">
                <a16:creationId xmlns:a16="http://schemas.microsoft.com/office/drawing/2014/main" id="{BEC3AD40-B9A2-4837-A987-CAEA860EDCEA}"/>
              </a:ext>
            </a:extLst>
          </p:cNvPr>
          <p:cNvSpPr txBox="1"/>
          <p:nvPr/>
        </p:nvSpPr>
        <p:spPr bwMode="gray">
          <a:xfrm>
            <a:off x="1301119" y="3653377"/>
            <a:ext cx="373820" cy="276999"/>
          </a:xfrm>
          <a:prstGeom prst="rect">
            <a:avLst/>
          </a:prstGeom>
          <a:noFill/>
        </p:spPr>
        <p:txBody>
          <a:bodyPr wrap="none" rtlCol="0">
            <a:spAutoFit/>
          </a:bodyPr>
          <a:lstStyle/>
          <a:p>
            <a:r>
              <a:rPr lang="en-US" altLang="zh-CN" sz="1200" dirty="0"/>
              <a:t>RR</a:t>
            </a:r>
            <a:endParaRPr lang="zh-CN" altLang="en-US" sz="1200" dirty="0"/>
          </a:p>
        </p:txBody>
      </p:sp>
      <p:pic>
        <p:nvPicPr>
          <p:cNvPr id="195" name="Picture 12" descr="E:\2016.01\1.12 扁平化图标\蓝色\AR-蓝色最新-40.png">
            <a:extLst>
              <a:ext uri="{FF2B5EF4-FFF2-40B4-BE49-F238E27FC236}">
                <a16:creationId xmlns:a16="http://schemas.microsoft.com/office/drawing/2014/main" id="{41904E79-3F12-481A-A640-3CC3F0365177}"/>
              </a:ext>
            </a:extLst>
          </p:cNvPr>
          <p:cNvPicPr>
            <a:picLocks noChangeAspect="1" noChangeArrowheads="1"/>
          </p:cNvPicPr>
          <p:nvPr/>
        </p:nvPicPr>
        <p:blipFill>
          <a:blip r:embed="rId3" cstate="print"/>
          <a:srcRect/>
          <a:stretch>
            <a:fillRect/>
          </a:stretch>
        </p:blipFill>
        <p:spPr bwMode="gray">
          <a:xfrm>
            <a:off x="2919871" y="3886216"/>
            <a:ext cx="371662" cy="304087"/>
          </a:xfrm>
          <a:prstGeom prst="rect">
            <a:avLst/>
          </a:prstGeom>
          <a:noFill/>
        </p:spPr>
      </p:pic>
      <p:sp>
        <p:nvSpPr>
          <p:cNvPr id="196" name="TextBox 195">
            <a:extLst>
              <a:ext uri="{FF2B5EF4-FFF2-40B4-BE49-F238E27FC236}">
                <a16:creationId xmlns:a16="http://schemas.microsoft.com/office/drawing/2014/main" id="{7F941A3C-A4A6-4ADA-A0EC-921000EC8E76}"/>
              </a:ext>
            </a:extLst>
          </p:cNvPr>
          <p:cNvSpPr txBox="1"/>
          <p:nvPr/>
        </p:nvSpPr>
        <p:spPr bwMode="gray">
          <a:xfrm>
            <a:off x="2929980" y="3645312"/>
            <a:ext cx="373820" cy="276999"/>
          </a:xfrm>
          <a:prstGeom prst="rect">
            <a:avLst/>
          </a:prstGeom>
          <a:noFill/>
        </p:spPr>
        <p:txBody>
          <a:bodyPr wrap="none" rtlCol="0">
            <a:spAutoFit/>
          </a:bodyPr>
          <a:lstStyle/>
          <a:p>
            <a:r>
              <a:rPr lang="en-US" altLang="zh-CN" sz="1200" dirty="0"/>
              <a:t>RR</a:t>
            </a:r>
            <a:endParaRPr lang="zh-CN" altLang="en-US" sz="1200" dirty="0"/>
          </a:p>
        </p:txBody>
      </p:sp>
      <p:pic>
        <p:nvPicPr>
          <p:cNvPr id="197" name="Picture 12" descr="E:\2016.01\1.12 扁平化图标\蓝色\AR-蓝色最新-40.png">
            <a:extLst>
              <a:ext uri="{FF2B5EF4-FFF2-40B4-BE49-F238E27FC236}">
                <a16:creationId xmlns:a16="http://schemas.microsoft.com/office/drawing/2014/main" id="{B3D79048-2C2F-4927-A240-9C12B1E0CDF5}"/>
              </a:ext>
            </a:extLst>
          </p:cNvPr>
          <p:cNvPicPr>
            <a:picLocks noChangeAspect="1" noChangeArrowheads="1"/>
          </p:cNvPicPr>
          <p:nvPr/>
        </p:nvPicPr>
        <p:blipFill>
          <a:blip r:embed="rId3" cstate="print"/>
          <a:srcRect/>
          <a:stretch>
            <a:fillRect/>
          </a:stretch>
        </p:blipFill>
        <p:spPr bwMode="gray">
          <a:xfrm>
            <a:off x="3566955" y="3885057"/>
            <a:ext cx="371662" cy="304087"/>
          </a:xfrm>
          <a:prstGeom prst="rect">
            <a:avLst/>
          </a:prstGeom>
          <a:noFill/>
        </p:spPr>
      </p:pic>
      <p:sp>
        <p:nvSpPr>
          <p:cNvPr id="198" name="TextBox 197">
            <a:extLst>
              <a:ext uri="{FF2B5EF4-FFF2-40B4-BE49-F238E27FC236}">
                <a16:creationId xmlns:a16="http://schemas.microsoft.com/office/drawing/2014/main" id="{E9482A90-3598-4328-A2FB-38D8EC752CFC}"/>
              </a:ext>
            </a:extLst>
          </p:cNvPr>
          <p:cNvSpPr txBox="1"/>
          <p:nvPr/>
        </p:nvSpPr>
        <p:spPr bwMode="gray">
          <a:xfrm>
            <a:off x="3577064" y="3644153"/>
            <a:ext cx="373820" cy="276999"/>
          </a:xfrm>
          <a:prstGeom prst="rect">
            <a:avLst/>
          </a:prstGeom>
          <a:noFill/>
        </p:spPr>
        <p:txBody>
          <a:bodyPr wrap="none" rtlCol="0">
            <a:spAutoFit/>
          </a:bodyPr>
          <a:lstStyle/>
          <a:p>
            <a:r>
              <a:rPr lang="en-US" altLang="zh-CN" sz="1200" dirty="0"/>
              <a:t>RR</a:t>
            </a:r>
            <a:endParaRPr lang="zh-CN" altLang="en-US" sz="1200" dirty="0"/>
          </a:p>
        </p:txBody>
      </p:sp>
      <p:pic>
        <p:nvPicPr>
          <p:cNvPr id="199" name="Picture 12" descr="E:\2016.01\1.12 扁平化图标\蓝色\AR-蓝色最新-40.png">
            <a:extLst>
              <a:ext uri="{FF2B5EF4-FFF2-40B4-BE49-F238E27FC236}">
                <a16:creationId xmlns:a16="http://schemas.microsoft.com/office/drawing/2014/main" id="{1EC6812D-143E-42E2-BAD3-D8B37CCFC4CE}"/>
              </a:ext>
            </a:extLst>
          </p:cNvPr>
          <p:cNvPicPr>
            <a:picLocks noChangeAspect="1" noChangeArrowheads="1"/>
          </p:cNvPicPr>
          <p:nvPr/>
        </p:nvPicPr>
        <p:blipFill>
          <a:blip r:embed="rId3" cstate="print"/>
          <a:srcRect/>
          <a:stretch>
            <a:fillRect/>
          </a:stretch>
        </p:blipFill>
        <p:spPr bwMode="gray">
          <a:xfrm>
            <a:off x="5195816" y="3876992"/>
            <a:ext cx="371662" cy="304087"/>
          </a:xfrm>
          <a:prstGeom prst="rect">
            <a:avLst/>
          </a:prstGeom>
          <a:noFill/>
        </p:spPr>
      </p:pic>
      <p:sp>
        <p:nvSpPr>
          <p:cNvPr id="200" name="TextBox 199">
            <a:extLst>
              <a:ext uri="{FF2B5EF4-FFF2-40B4-BE49-F238E27FC236}">
                <a16:creationId xmlns:a16="http://schemas.microsoft.com/office/drawing/2014/main" id="{264258A3-19BC-4590-8256-D38DF4572621}"/>
              </a:ext>
            </a:extLst>
          </p:cNvPr>
          <p:cNvSpPr txBox="1"/>
          <p:nvPr/>
        </p:nvSpPr>
        <p:spPr bwMode="gray">
          <a:xfrm>
            <a:off x="5205925" y="3636088"/>
            <a:ext cx="373820" cy="276999"/>
          </a:xfrm>
          <a:prstGeom prst="rect">
            <a:avLst/>
          </a:prstGeom>
          <a:noFill/>
        </p:spPr>
        <p:txBody>
          <a:bodyPr wrap="none" rtlCol="0">
            <a:spAutoFit/>
          </a:bodyPr>
          <a:lstStyle/>
          <a:p>
            <a:r>
              <a:rPr lang="en-US" altLang="zh-CN" sz="1200" dirty="0"/>
              <a:t>RR</a:t>
            </a:r>
            <a:endParaRPr lang="zh-CN" altLang="en-US" sz="1200" dirty="0"/>
          </a:p>
        </p:txBody>
      </p:sp>
      <p:pic>
        <p:nvPicPr>
          <p:cNvPr id="201" name="Picture 12" descr="E:\2016.01\1.12 扁平化图标\蓝色\AR-蓝色最新-40.png">
            <a:extLst>
              <a:ext uri="{FF2B5EF4-FFF2-40B4-BE49-F238E27FC236}">
                <a16:creationId xmlns:a16="http://schemas.microsoft.com/office/drawing/2014/main" id="{67F70361-4A3E-4D03-B210-70B43B160AF2}"/>
              </a:ext>
            </a:extLst>
          </p:cNvPr>
          <p:cNvPicPr>
            <a:picLocks noChangeAspect="1" noChangeArrowheads="1"/>
          </p:cNvPicPr>
          <p:nvPr/>
        </p:nvPicPr>
        <p:blipFill>
          <a:blip r:embed="rId3" cstate="print"/>
          <a:srcRect/>
          <a:stretch>
            <a:fillRect/>
          </a:stretch>
        </p:blipFill>
        <p:spPr bwMode="gray">
          <a:xfrm>
            <a:off x="6622520" y="4009733"/>
            <a:ext cx="371662" cy="304087"/>
          </a:xfrm>
          <a:prstGeom prst="rect">
            <a:avLst/>
          </a:prstGeom>
          <a:noFill/>
        </p:spPr>
      </p:pic>
      <p:sp>
        <p:nvSpPr>
          <p:cNvPr id="202" name="TextBox 201">
            <a:extLst>
              <a:ext uri="{FF2B5EF4-FFF2-40B4-BE49-F238E27FC236}">
                <a16:creationId xmlns:a16="http://schemas.microsoft.com/office/drawing/2014/main" id="{023F7000-E239-49A3-8028-C30E00597B06}"/>
              </a:ext>
            </a:extLst>
          </p:cNvPr>
          <p:cNvSpPr txBox="1"/>
          <p:nvPr/>
        </p:nvSpPr>
        <p:spPr bwMode="gray">
          <a:xfrm>
            <a:off x="6632629" y="3768829"/>
            <a:ext cx="373820" cy="276999"/>
          </a:xfrm>
          <a:prstGeom prst="rect">
            <a:avLst/>
          </a:prstGeom>
          <a:noFill/>
        </p:spPr>
        <p:txBody>
          <a:bodyPr wrap="none" rtlCol="0">
            <a:spAutoFit/>
          </a:bodyPr>
          <a:lstStyle/>
          <a:p>
            <a:r>
              <a:rPr lang="en-US" altLang="zh-CN" sz="1200" dirty="0"/>
              <a:t>RR</a:t>
            </a:r>
            <a:endParaRPr lang="zh-CN" altLang="en-US" sz="1200" dirty="0"/>
          </a:p>
        </p:txBody>
      </p:sp>
      <p:pic>
        <p:nvPicPr>
          <p:cNvPr id="203" name="Picture 12" descr="E:\2016.01\1.12 扁平化图标\蓝色\AR-蓝色最新-40.png">
            <a:extLst>
              <a:ext uri="{FF2B5EF4-FFF2-40B4-BE49-F238E27FC236}">
                <a16:creationId xmlns:a16="http://schemas.microsoft.com/office/drawing/2014/main" id="{1C064D59-F20E-4C9B-922B-F1992F5951B3}"/>
              </a:ext>
            </a:extLst>
          </p:cNvPr>
          <p:cNvPicPr>
            <a:picLocks noChangeAspect="1" noChangeArrowheads="1"/>
          </p:cNvPicPr>
          <p:nvPr/>
        </p:nvPicPr>
        <p:blipFill>
          <a:blip r:embed="rId3" cstate="print"/>
          <a:srcRect/>
          <a:stretch>
            <a:fillRect/>
          </a:stretch>
        </p:blipFill>
        <p:spPr bwMode="gray">
          <a:xfrm>
            <a:off x="8251381" y="4001668"/>
            <a:ext cx="371662" cy="304087"/>
          </a:xfrm>
          <a:prstGeom prst="rect">
            <a:avLst/>
          </a:prstGeom>
          <a:noFill/>
        </p:spPr>
      </p:pic>
      <p:sp>
        <p:nvSpPr>
          <p:cNvPr id="204" name="TextBox 203">
            <a:extLst>
              <a:ext uri="{FF2B5EF4-FFF2-40B4-BE49-F238E27FC236}">
                <a16:creationId xmlns:a16="http://schemas.microsoft.com/office/drawing/2014/main" id="{9A021916-8E5F-4136-9BCF-173ED8397EEC}"/>
              </a:ext>
            </a:extLst>
          </p:cNvPr>
          <p:cNvSpPr txBox="1"/>
          <p:nvPr/>
        </p:nvSpPr>
        <p:spPr bwMode="gray">
          <a:xfrm>
            <a:off x="8261490" y="3760764"/>
            <a:ext cx="373820" cy="276999"/>
          </a:xfrm>
          <a:prstGeom prst="rect">
            <a:avLst/>
          </a:prstGeom>
          <a:noFill/>
        </p:spPr>
        <p:txBody>
          <a:bodyPr wrap="none" rtlCol="0">
            <a:spAutoFit/>
          </a:bodyPr>
          <a:lstStyle/>
          <a:p>
            <a:r>
              <a:rPr lang="en-US" altLang="zh-CN" sz="1200" dirty="0"/>
              <a:t>RR</a:t>
            </a:r>
            <a:endParaRPr lang="zh-CN" altLang="en-US" sz="1200" dirty="0"/>
          </a:p>
        </p:txBody>
      </p:sp>
      <p:pic>
        <p:nvPicPr>
          <p:cNvPr id="205" name="Picture 12" descr="E:\2016.01\1.12 扁平化图标\蓝色\AR-蓝色最新-40.png">
            <a:extLst>
              <a:ext uri="{FF2B5EF4-FFF2-40B4-BE49-F238E27FC236}">
                <a16:creationId xmlns:a16="http://schemas.microsoft.com/office/drawing/2014/main" id="{8D113705-A837-48BD-A4FD-971E805DA917}"/>
              </a:ext>
            </a:extLst>
          </p:cNvPr>
          <p:cNvPicPr>
            <a:picLocks noChangeAspect="1" noChangeArrowheads="1"/>
          </p:cNvPicPr>
          <p:nvPr/>
        </p:nvPicPr>
        <p:blipFill>
          <a:blip r:embed="rId3" cstate="print"/>
          <a:srcRect/>
          <a:stretch>
            <a:fillRect/>
          </a:stretch>
        </p:blipFill>
        <p:spPr bwMode="gray">
          <a:xfrm>
            <a:off x="8888423" y="4046324"/>
            <a:ext cx="371662" cy="304087"/>
          </a:xfrm>
          <a:prstGeom prst="rect">
            <a:avLst/>
          </a:prstGeom>
          <a:noFill/>
        </p:spPr>
      </p:pic>
      <p:sp>
        <p:nvSpPr>
          <p:cNvPr id="206" name="TextBox 205">
            <a:extLst>
              <a:ext uri="{FF2B5EF4-FFF2-40B4-BE49-F238E27FC236}">
                <a16:creationId xmlns:a16="http://schemas.microsoft.com/office/drawing/2014/main" id="{D712AB3C-0322-4CF6-8E40-4CB4CB67FB2E}"/>
              </a:ext>
            </a:extLst>
          </p:cNvPr>
          <p:cNvSpPr txBox="1"/>
          <p:nvPr/>
        </p:nvSpPr>
        <p:spPr bwMode="gray">
          <a:xfrm>
            <a:off x="8898532" y="3805420"/>
            <a:ext cx="373820" cy="276999"/>
          </a:xfrm>
          <a:prstGeom prst="rect">
            <a:avLst/>
          </a:prstGeom>
          <a:noFill/>
        </p:spPr>
        <p:txBody>
          <a:bodyPr wrap="none" rtlCol="0">
            <a:spAutoFit/>
          </a:bodyPr>
          <a:lstStyle/>
          <a:p>
            <a:r>
              <a:rPr lang="en-US" altLang="zh-CN" sz="1200" dirty="0"/>
              <a:t>RR</a:t>
            </a:r>
            <a:endParaRPr lang="zh-CN" altLang="en-US" sz="1200" dirty="0"/>
          </a:p>
        </p:txBody>
      </p:sp>
      <p:pic>
        <p:nvPicPr>
          <p:cNvPr id="207" name="Picture 12" descr="E:\2016.01\1.12 扁平化图标\蓝色\AR-蓝色最新-40.png">
            <a:extLst>
              <a:ext uri="{FF2B5EF4-FFF2-40B4-BE49-F238E27FC236}">
                <a16:creationId xmlns:a16="http://schemas.microsoft.com/office/drawing/2014/main" id="{1D4FD2C1-DD89-4FBF-BB04-1E2C27AF2C94}"/>
              </a:ext>
            </a:extLst>
          </p:cNvPr>
          <p:cNvPicPr>
            <a:picLocks noChangeAspect="1" noChangeArrowheads="1"/>
          </p:cNvPicPr>
          <p:nvPr/>
        </p:nvPicPr>
        <p:blipFill>
          <a:blip r:embed="rId3" cstate="print"/>
          <a:srcRect/>
          <a:stretch>
            <a:fillRect/>
          </a:stretch>
        </p:blipFill>
        <p:spPr bwMode="gray">
          <a:xfrm>
            <a:off x="10517284" y="4038259"/>
            <a:ext cx="371662" cy="304087"/>
          </a:xfrm>
          <a:prstGeom prst="rect">
            <a:avLst/>
          </a:prstGeom>
          <a:noFill/>
        </p:spPr>
      </p:pic>
      <p:sp>
        <p:nvSpPr>
          <p:cNvPr id="208" name="TextBox 207">
            <a:extLst>
              <a:ext uri="{FF2B5EF4-FFF2-40B4-BE49-F238E27FC236}">
                <a16:creationId xmlns:a16="http://schemas.microsoft.com/office/drawing/2014/main" id="{97B986B0-8B50-4694-808E-261D9FEB3856}"/>
              </a:ext>
            </a:extLst>
          </p:cNvPr>
          <p:cNvSpPr txBox="1"/>
          <p:nvPr/>
        </p:nvSpPr>
        <p:spPr bwMode="gray">
          <a:xfrm>
            <a:off x="10527393" y="3797355"/>
            <a:ext cx="373820" cy="276999"/>
          </a:xfrm>
          <a:prstGeom prst="rect">
            <a:avLst/>
          </a:prstGeom>
          <a:noFill/>
        </p:spPr>
        <p:txBody>
          <a:bodyPr wrap="none" rtlCol="0">
            <a:spAutoFit/>
          </a:bodyPr>
          <a:lstStyle/>
          <a:p>
            <a:r>
              <a:rPr lang="en-US" altLang="zh-CN" sz="1200" dirty="0"/>
              <a:t>RR</a:t>
            </a:r>
            <a:endParaRPr lang="zh-CN" altLang="en-US" sz="1200" dirty="0"/>
          </a:p>
        </p:txBody>
      </p:sp>
      <p:sp>
        <p:nvSpPr>
          <p:cNvPr id="120" name="五边形 2">
            <a:extLst>
              <a:ext uri="{FF2B5EF4-FFF2-40B4-BE49-F238E27FC236}">
                <a16:creationId xmlns:a16="http://schemas.microsoft.com/office/drawing/2014/main" id="{F67C9B26-43E4-46F6-9127-005A9E9C4A69}"/>
              </a:ext>
            </a:extLst>
          </p:cNvPr>
          <p:cNvSpPr/>
          <p:nvPr/>
        </p:nvSpPr>
        <p:spPr bwMode="gray">
          <a:xfrm>
            <a:off x="6278392" y="129866"/>
            <a:ext cx="1093418"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121" name="燕尾形 3">
            <a:extLst>
              <a:ext uri="{FF2B5EF4-FFF2-40B4-BE49-F238E27FC236}">
                <a16:creationId xmlns:a16="http://schemas.microsoft.com/office/drawing/2014/main" id="{D5605CD5-6CA0-41BB-AED7-2774E6579B4B}"/>
              </a:ext>
            </a:extLst>
          </p:cNvPr>
          <p:cNvSpPr/>
          <p:nvPr/>
        </p:nvSpPr>
        <p:spPr bwMode="gray">
          <a:xfrm>
            <a:off x="9300843" y="129866"/>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穿越设计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燕尾形 3">
            <a:extLst>
              <a:ext uri="{FF2B5EF4-FFF2-40B4-BE49-F238E27FC236}">
                <a16:creationId xmlns:a16="http://schemas.microsoft.com/office/drawing/2014/main" id="{1842884F-8AD7-412F-ACE1-36E9BF39A86F}"/>
              </a:ext>
            </a:extLst>
          </p:cNvPr>
          <p:cNvSpPr/>
          <p:nvPr/>
        </p:nvSpPr>
        <p:spPr bwMode="gray">
          <a:xfrm>
            <a:off x="8344980" y="129866"/>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2" name="燕尾形 3">
            <a:extLst>
              <a:ext uri="{FF2B5EF4-FFF2-40B4-BE49-F238E27FC236}">
                <a16:creationId xmlns:a16="http://schemas.microsoft.com/office/drawing/2014/main" id="{3B3CC8E9-A878-439C-BD51-4B00D611C6AC}"/>
              </a:ext>
            </a:extLst>
          </p:cNvPr>
          <p:cNvSpPr/>
          <p:nvPr/>
        </p:nvSpPr>
        <p:spPr bwMode="gray">
          <a:xfrm>
            <a:off x="10528149" y="129866"/>
            <a:ext cx="122093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网络超规设计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3" name="燕尾形 3">
            <a:extLst>
              <a:ext uri="{FF2B5EF4-FFF2-40B4-BE49-F238E27FC236}">
                <a16:creationId xmlns:a16="http://schemas.microsoft.com/office/drawing/2014/main" id="{C135BB1D-01E4-475E-8AB5-05649C307E20}"/>
              </a:ext>
            </a:extLst>
          </p:cNvPr>
          <p:cNvSpPr/>
          <p:nvPr/>
        </p:nvSpPr>
        <p:spPr bwMode="gray">
          <a:xfrm>
            <a:off x="7285376" y="129866"/>
            <a:ext cx="1142258"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945636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dirty="0">
                <a:solidFill>
                  <a:schemeClr val="bg1">
                    <a:lumMod val="50000"/>
                  </a:schemeClr>
                </a:solidFill>
              </a:rPr>
              <a:t>企业广域互联网络趋势与挑战</a:t>
            </a:r>
            <a:endParaRPr lang="en-US" altLang="zh-CN" sz="1800" dirty="0">
              <a:solidFill>
                <a:schemeClr val="bg1">
                  <a:lumMod val="50000"/>
                </a:schemeClr>
              </a:solidFill>
            </a:endParaRPr>
          </a:p>
          <a:p>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解决方案概述</a:t>
            </a:r>
            <a:endParaRPr lang="en-US" altLang="zh-CN" sz="1800" dirty="0">
              <a:solidFill>
                <a:schemeClr val="bg1">
                  <a:lumMod val="50000"/>
                </a:schemeClr>
              </a:solidFill>
            </a:endParaRPr>
          </a:p>
          <a:p>
            <a:pPr>
              <a:buFont typeface="+mj-lt"/>
              <a:buAutoNum type="arabicPeriod" startAt="3"/>
            </a:pPr>
            <a:r>
              <a:rPr lang="zh-CN" altLang="en-US" sz="1800" b="1" dirty="0"/>
              <a:t>华为</a:t>
            </a:r>
            <a:r>
              <a:rPr lang="en-US" altLang="zh-CN" sz="1800" b="1" dirty="0"/>
              <a:t>SD-WAN</a:t>
            </a:r>
            <a:r>
              <a:rPr lang="zh-CN" altLang="en-US" sz="1800" b="1" dirty="0"/>
              <a:t>组网设计</a:t>
            </a:r>
            <a:endParaRPr lang="en-US" altLang="zh-CN" sz="1800" b="1" dirty="0"/>
          </a:p>
          <a:p>
            <a:pPr lvl="1"/>
            <a:r>
              <a:rPr lang="en-US" altLang="zh-CN" sz="1600" dirty="0">
                <a:solidFill>
                  <a:schemeClr val="bg1">
                    <a:lumMod val="50000"/>
                  </a:schemeClr>
                </a:solidFill>
              </a:rPr>
              <a:t>SD-WAN</a:t>
            </a:r>
            <a:r>
              <a:rPr lang="zh-CN" altLang="en-US" sz="1600" dirty="0">
                <a:solidFill>
                  <a:schemeClr val="bg1">
                    <a:lumMod val="50000"/>
                  </a:schemeClr>
                </a:solidFill>
              </a:rPr>
              <a:t>组网设计概览</a:t>
            </a:r>
            <a:endParaRPr lang="en-US" altLang="zh-CN" sz="1600" dirty="0">
              <a:solidFill>
                <a:schemeClr val="bg1">
                  <a:lumMod val="50000"/>
                </a:schemeClr>
              </a:solidFill>
            </a:endParaRPr>
          </a:p>
          <a:p>
            <a:pPr lvl="1"/>
            <a:r>
              <a:rPr lang="en-US" altLang="zh-CN" sz="1600" dirty="0">
                <a:solidFill>
                  <a:schemeClr val="bg1">
                    <a:lumMod val="50000"/>
                  </a:schemeClr>
                </a:solidFill>
              </a:rPr>
              <a:t>SD-WAN</a:t>
            </a:r>
            <a:r>
              <a:rPr lang="zh-CN" altLang="en-US" sz="1600" dirty="0">
                <a:solidFill>
                  <a:schemeClr val="bg1">
                    <a:lumMod val="50000"/>
                  </a:schemeClr>
                </a:solidFill>
              </a:rPr>
              <a:t>站点设计</a:t>
            </a:r>
            <a:endParaRPr lang="en-US" altLang="zh-CN" sz="1600" dirty="0">
              <a:solidFill>
                <a:schemeClr val="bg1">
                  <a:lumMod val="50000"/>
                </a:schemeClr>
              </a:solidFill>
            </a:endParaRPr>
          </a:p>
          <a:p>
            <a:pPr lvl="1"/>
            <a:r>
              <a:rPr lang="en-US" altLang="zh-CN" sz="1600" dirty="0">
                <a:solidFill>
                  <a:schemeClr val="bg1">
                    <a:lumMod val="50000"/>
                  </a:schemeClr>
                </a:solidFill>
              </a:rPr>
              <a:t>SD-WAN</a:t>
            </a:r>
            <a:r>
              <a:rPr lang="zh-CN" altLang="en-US" sz="1600" dirty="0">
                <a:solidFill>
                  <a:schemeClr val="bg1">
                    <a:lumMod val="50000"/>
                  </a:schemeClr>
                </a:solidFill>
              </a:rPr>
              <a:t>隧道设计</a:t>
            </a:r>
            <a:endParaRPr lang="en-US" altLang="zh-CN" sz="1600" dirty="0">
              <a:solidFill>
                <a:schemeClr val="bg1">
                  <a:lumMod val="50000"/>
                </a:schemeClr>
              </a:solidFill>
            </a:endParaRPr>
          </a:p>
          <a:p>
            <a:pPr lvl="1">
              <a:buSzPct val="60000"/>
              <a:buFont typeface="Wingdings" panose="05000000000000000000" pitchFamily="2" charset="2"/>
              <a:buChar char="n"/>
            </a:pPr>
            <a:r>
              <a:rPr lang="en-US" altLang="zh-CN" sz="1600" dirty="0"/>
              <a:t>SD-WAN VPN</a:t>
            </a:r>
            <a:r>
              <a:rPr lang="zh-CN" altLang="en-US" sz="1600" dirty="0"/>
              <a:t>设计</a:t>
            </a:r>
            <a:endParaRPr lang="en-US" altLang="zh-CN" sz="1600" dirty="0"/>
          </a:p>
          <a:p>
            <a:pPr>
              <a:buFont typeface="+mj-lt"/>
              <a:buAutoNum type="arabicPeriod" startAt="3"/>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业务设计</a:t>
            </a:r>
            <a:endParaRPr lang="en-US" altLang="zh-CN" sz="1800" dirty="0">
              <a:solidFill>
                <a:schemeClr val="bg1">
                  <a:lumMod val="50000"/>
                </a:schemeClr>
              </a:solidFill>
            </a:endParaRPr>
          </a:p>
          <a:p>
            <a:pPr>
              <a:buFont typeface="+mj-lt"/>
              <a:buAutoNum type="arabicPeriod" startAt="3"/>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可靠性与安全设计</a:t>
            </a:r>
          </a:p>
        </p:txBody>
      </p:sp>
    </p:spTree>
    <p:extLst>
      <p:ext uri="{BB962C8B-B14F-4D97-AF65-F5344CB8AC3E}">
        <p14:creationId xmlns:p14="http://schemas.microsoft.com/office/powerpoint/2010/main" val="11499307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32A32D-DD3E-40B2-8DF4-1B711544535B}"/>
              </a:ext>
            </a:extLst>
          </p:cNvPr>
          <p:cNvSpPr>
            <a:spLocks noGrp="1"/>
          </p:cNvSpPr>
          <p:nvPr>
            <p:ph type="title"/>
          </p:nvPr>
        </p:nvSpPr>
        <p:spPr bwMode="gray"/>
        <p:txBody>
          <a:bodyPr/>
          <a:lstStyle/>
          <a:p>
            <a:r>
              <a:rPr lang="en-US" dirty="0"/>
              <a:t>VPN</a:t>
            </a:r>
            <a:r>
              <a:rPr lang="zh-CN" altLang="en-US" dirty="0"/>
              <a:t>设计全景图</a:t>
            </a:r>
            <a:endParaRPr lang="en-US" dirty="0"/>
          </a:p>
        </p:txBody>
      </p:sp>
      <p:sp>
        <p:nvSpPr>
          <p:cNvPr id="164" name="Text Placeholder 163">
            <a:extLst>
              <a:ext uri="{FF2B5EF4-FFF2-40B4-BE49-F238E27FC236}">
                <a16:creationId xmlns:a16="http://schemas.microsoft.com/office/drawing/2014/main" id="{8C527F74-1DF0-4D25-9B9E-857A9CC4A091}"/>
              </a:ext>
            </a:extLst>
          </p:cNvPr>
          <p:cNvSpPr>
            <a:spLocks noGrp="1"/>
          </p:cNvSpPr>
          <p:nvPr>
            <p:ph type="body" sz="quarter" idx="10"/>
          </p:nvPr>
        </p:nvSpPr>
        <p:spPr bwMode="gray"/>
        <p:txBody>
          <a:bodyPr/>
          <a:lstStyle/>
          <a:p>
            <a:r>
              <a:rPr lang="en-US" altLang="zh-CN" sz="1800" dirty="0"/>
              <a:t>SD-WAN</a:t>
            </a:r>
            <a:r>
              <a:rPr lang="zh-CN" altLang="en-US" sz="1800" dirty="0"/>
              <a:t>通过</a:t>
            </a:r>
            <a:r>
              <a:rPr lang="en-US" altLang="zh-CN" sz="1800" dirty="0"/>
              <a:t>VPN</a:t>
            </a:r>
            <a:r>
              <a:rPr lang="zh-CN" altLang="en-US" sz="1800" dirty="0"/>
              <a:t>隔离功能实现单租户多部门间的业务隔离，即租户的每个部门的网络分别是一个独立的业务</a:t>
            </a:r>
            <a:r>
              <a:rPr lang="en-US" altLang="zh-CN" sz="1800" dirty="0"/>
              <a:t>VPN</a:t>
            </a:r>
            <a:r>
              <a:rPr lang="zh-CN" altLang="en-US" sz="1800" dirty="0"/>
              <a:t>。</a:t>
            </a:r>
            <a:endParaRPr lang="en-US" altLang="zh-CN" sz="1800" dirty="0"/>
          </a:p>
          <a:p>
            <a:r>
              <a:rPr lang="en-US" sz="1800" dirty="0"/>
              <a:t>VPN</a:t>
            </a:r>
            <a:r>
              <a:rPr lang="zh-CN" altLang="en-US" sz="1800" dirty="0"/>
              <a:t>设计一般可以分为：</a:t>
            </a:r>
            <a:endParaRPr lang="en-US" altLang="zh-CN" sz="1800" dirty="0"/>
          </a:p>
          <a:p>
            <a:pPr lvl="1"/>
            <a:r>
              <a:rPr lang="en-US" altLang="zh-CN" sz="1600" dirty="0"/>
              <a:t>VPN</a:t>
            </a:r>
            <a:r>
              <a:rPr lang="zh-CN" altLang="en-US" sz="1600" dirty="0"/>
              <a:t>设计</a:t>
            </a:r>
            <a:endParaRPr lang="en-US" altLang="zh-CN" sz="1600" dirty="0"/>
          </a:p>
          <a:p>
            <a:pPr lvl="1"/>
            <a:r>
              <a:rPr lang="zh-CN" altLang="en-US" sz="1600" dirty="0"/>
              <a:t>拓扑设计</a:t>
            </a:r>
            <a:endParaRPr lang="en-US" altLang="zh-CN" sz="1600" dirty="0"/>
          </a:p>
          <a:p>
            <a:pPr lvl="1"/>
            <a:r>
              <a:rPr lang="en-US" altLang="zh-CN" sz="1600" dirty="0"/>
              <a:t>VPN</a:t>
            </a:r>
            <a:r>
              <a:rPr lang="zh-CN" altLang="en-US" sz="1600" dirty="0"/>
              <a:t>路由设计</a:t>
            </a:r>
            <a:endParaRPr lang="en-US" altLang="zh-CN" sz="1600" dirty="0"/>
          </a:p>
        </p:txBody>
      </p:sp>
      <p:grpSp>
        <p:nvGrpSpPr>
          <p:cNvPr id="322" name="Group 321">
            <a:extLst>
              <a:ext uri="{FF2B5EF4-FFF2-40B4-BE49-F238E27FC236}">
                <a16:creationId xmlns:a16="http://schemas.microsoft.com/office/drawing/2014/main" id="{23901A98-489E-4560-B723-FBE642201279}"/>
              </a:ext>
            </a:extLst>
          </p:cNvPr>
          <p:cNvGrpSpPr/>
          <p:nvPr/>
        </p:nvGrpSpPr>
        <p:grpSpPr bwMode="gray">
          <a:xfrm>
            <a:off x="3452794" y="2031387"/>
            <a:ext cx="8135503" cy="3603144"/>
            <a:chOff x="1852989" y="2015346"/>
            <a:chExt cx="8135503" cy="3603144"/>
          </a:xfrm>
        </p:grpSpPr>
        <p:sp>
          <p:nvSpPr>
            <p:cNvPr id="34" name="Parallelogram 33">
              <a:extLst>
                <a:ext uri="{FF2B5EF4-FFF2-40B4-BE49-F238E27FC236}">
                  <a16:creationId xmlns:a16="http://schemas.microsoft.com/office/drawing/2014/main" id="{CB2A9EA1-5916-41B6-A9B2-60F1866A682B}"/>
                </a:ext>
              </a:extLst>
            </p:cNvPr>
            <p:cNvSpPr/>
            <p:nvPr/>
          </p:nvSpPr>
          <p:spPr bwMode="gray">
            <a:xfrm>
              <a:off x="1852989" y="4689982"/>
              <a:ext cx="1946090" cy="773495"/>
            </a:xfrm>
            <a:prstGeom prst="parallelogram">
              <a:avLst>
                <a:gd name="adj" fmla="val 7612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uawei Sans" panose="020C0503030203020204" pitchFamily="34" charset="0"/>
                <a:ea typeface="方正兰亭黑简体" panose="02000000000000000000" pitchFamily="2" charset="-122"/>
              </a:endParaRPr>
            </a:p>
          </p:txBody>
        </p:sp>
        <p:sp>
          <p:nvSpPr>
            <p:cNvPr id="268" name="Parallelogram 267">
              <a:extLst>
                <a:ext uri="{FF2B5EF4-FFF2-40B4-BE49-F238E27FC236}">
                  <a16:creationId xmlns:a16="http://schemas.microsoft.com/office/drawing/2014/main" id="{B92CE102-D518-4C6A-AB2B-AA58BA28D9D5}"/>
                </a:ext>
              </a:extLst>
            </p:cNvPr>
            <p:cNvSpPr/>
            <p:nvPr/>
          </p:nvSpPr>
          <p:spPr bwMode="gray">
            <a:xfrm>
              <a:off x="2640760" y="3673615"/>
              <a:ext cx="1946090" cy="773495"/>
            </a:xfrm>
            <a:prstGeom prst="parallelogram">
              <a:avLst>
                <a:gd name="adj" fmla="val 7612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uawei Sans" panose="020C0503030203020204" pitchFamily="34" charset="0"/>
                <a:ea typeface="方正兰亭黑简体" panose="02000000000000000000" pitchFamily="2" charset="-122"/>
              </a:endParaRPr>
            </a:p>
          </p:txBody>
        </p:sp>
        <p:sp>
          <p:nvSpPr>
            <p:cNvPr id="269" name="Parallelogram 268">
              <a:extLst>
                <a:ext uri="{FF2B5EF4-FFF2-40B4-BE49-F238E27FC236}">
                  <a16:creationId xmlns:a16="http://schemas.microsoft.com/office/drawing/2014/main" id="{F9D24F27-DCCC-4BC9-9539-AD0F1C87325E}"/>
                </a:ext>
              </a:extLst>
            </p:cNvPr>
            <p:cNvSpPr/>
            <p:nvPr/>
          </p:nvSpPr>
          <p:spPr bwMode="gray">
            <a:xfrm flipH="1">
              <a:off x="8042402" y="4227657"/>
              <a:ext cx="1946090" cy="773495"/>
            </a:xfrm>
            <a:prstGeom prst="parallelogram">
              <a:avLst>
                <a:gd name="adj" fmla="val 7612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uawei Sans" panose="020C0503030203020204" pitchFamily="34" charset="0"/>
                <a:ea typeface="方正兰亭黑简体" panose="02000000000000000000" pitchFamily="2" charset="-122"/>
              </a:endParaRPr>
            </a:p>
          </p:txBody>
        </p:sp>
        <p:sp>
          <p:nvSpPr>
            <p:cNvPr id="222" name="梯形 41">
              <a:extLst>
                <a:ext uri="{FF2B5EF4-FFF2-40B4-BE49-F238E27FC236}">
                  <a16:creationId xmlns:a16="http://schemas.microsoft.com/office/drawing/2014/main" id="{C3E6F6A3-FFD1-4928-AF21-A189FD20859D}"/>
                </a:ext>
              </a:extLst>
            </p:cNvPr>
            <p:cNvSpPr/>
            <p:nvPr/>
          </p:nvSpPr>
          <p:spPr bwMode="gray">
            <a:xfrm>
              <a:off x="3217922" y="3390726"/>
              <a:ext cx="5756155"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4" name="图片 31">
              <a:extLst>
                <a:ext uri="{FF2B5EF4-FFF2-40B4-BE49-F238E27FC236}">
                  <a16:creationId xmlns:a16="http://schemas.microsoft.com/office/drawing/2014/main" id="{107242EA-DDBD-4568-BED8-EFC15967D017}"/>
                </a:ext>
              </a:extLst>
            </p:cNvPr>
            <p:cNvPicPr>
              <a:picLocks noChangeAspect="1"/>
            </p:cNvPicPr>
            <p:nvPr/>
          </p:nvPicPr>
          <p:blipFill>
            <a:blip r:embed="rId3"/>
            <a:stretch>
              <a:fillRect/>
            </a:stretch>
          </p:blipFill>
          <p:spPr bwMode="gray">
            <a:xfrm>
              <a:off x="4123560" y="3917049"/>
              <a:ext cx="466668" cy="389308"/>
            </a:xfrm>
            <a:prstGeom prst="rect">
              <a:avLst/>
            </a:prstGeom>
          </p:spPr>
        </p:pic>
        <p:pic>
          <p:nvPicPr>
            <p:cNvPr id="227" name="图片 31">
              <a:extLst>
                <a:ext uri="{FF2B5EF4-FFF2-40B4-BE49-F238E27FC236}">
                  <a16:creationId xmlns:a16="http://schemas.microsoft.com/office/drawing/2014/main" id="{49639AB8-D186-4E40-903B-69943BC233EB}"/>
                </a:ext>
              </a:extLst>
            </p:cNvPr>
            <p:cNvPicPr>
              <a:picLocks noChangeAspect="1"/>
            </p:cNvPicPr>
            <p:nvPr/>
          </p:nvPicPr>
          <p:blipFill>
            <a:blip r:embed="rId3"/>
            <a:stretch>
              <a:fillRect/>
            </a:stretch>
          </p:blipFill>
          <p:spPr bwMode="gray">
            <a:xfrm>
              <a:off x="3361898" y="4909204"/>
              <a:ext cx="466668" cy="389308"/>
            </a:xfrm>
            <a:prstGeom prst="rect">
              <a:avLst/>
            </a:prstGeom>
          </p:spPr>
        </p:pic>
        <p:cxnSp>
          <p:nvCxnSpPr>
            <p:cNvPr id="236" name="直接连接符 133">
              <a:extLst>
                <a:ext uri="{FF2B5EF4-FFF2-40B4-BE49-F238E27FC236}">
                  <a16:creationId xmlns:a16="http://schemas.microsoft.com/office/drawing/2014/main" id="{FB5C050B-13E6-4CB5-A124-A52BE5588F65}"/>
                </a:ext>
              </a:extLst>
            </p:cNvPr>
            <p:cNvCxnSpPr>
              <a:cxnSpLocks/>
              <a:stCxn id="227" idx="3"/>
              <a:endCxn id="230" idx="1"/>
            </p:cNvCxnSpPr>
            <p:nvPr/>
          </p:nvCxnSpPr>
          <p:spPr bwMode="gray">
            <a:xfrm flipV="1">
              <a:off x="3828566" y="4591087"/>
              <a:ext cx="4210414" cy="512771"/>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237" name="直接连接符 133">
              <a:extLst>
                <a:ext uri="{FF2B5EF4-FFF2-40B4-BE49-F238E27FC236}">
                  <a16:creationId xmlns:a16="http://schemas.microsoft.com/office/drawing/2014/main" id="{8C19DF4B-B751-4B6F-8936-8360A32A85DD}"/>
                </a:ext>
              </a:extLst>
            </p:cNvPr>
            <p:cNvCxnSpPr>
              <a:stCxn id="224" idx="3"/>
              <a:endCxn id="230" idx="1"/>
            </p:cNvCxnSpPr>
            <p:nvPr/>
          </p:nvCxnSpPr>
          <p:spPr bwMode="gray">
            <a:xfrm>
              <a:off x="4590228" y="4111703"/>
              <a:ext cx="3448752" cy="479384"/>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sp>
          <p:nvSpPr>
            <p:cNvPr id="239" name="TextBox 238">
              <a:extLst>
                <a:ext uri="{FF2B5EF4-FFF2-40B4-BE49-F238E27FC236}">
                  <a16:creationId xmlns:a16="http://schemas.microsoft.com/office/drawing/2014/main" id="{AE07BB8D-F210-4FC9-AF73-F2C506491AD1}"/>
                </a:ext>
              </a:extLst>
            </p:cNvPr>
            <p:cNvSpPr txBox="1"/>
            <p:nvPr/>
          </p:nvSpPr>
          <p:spPr bwMode="gray">
            <a:xfrm>
              <a:off x="7792649" y="5095270"/>
              <a:ext cx="902811" cy="523220"/>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Overlay</a:t>
              </a:r>
            </a:p>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虚拟网络</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1" name="文本框 18">
              <a:extLst>
                <a:ext uri="{FF2B5EF4-FFF2-40B4-BE49-F238E27FC236}">
                  <a16:creationId xmlns:a16="http://schemas.microsoft.com/office/drawing/2014/main" id="{5A16A4BC-B632-40F1-9F66-3E908D8E8CE7}"/>
                </a:ext>
              </a:extLst>
            </p:cNvPr>
            <p:cNvSpPr txBox="1"/>
            <p:nvPr/>
          </p:nvSpPr>
          <p:spPr bwMode="gray">
            <a:xfrm>
              <a:off x="3311595" y="4681762"/>
              <a:ext cx="584757"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CPE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2" name="文本框 18">
              <a:extLst>
                <a:ext uri="{FF2B5EF4-FFF2-40B4-BE49-F238E27FC236}">
                  <a16:creationId xmlns:a16="http://schemas.microsoft.com/office/drawing/2014/main" id="{062260A9-176C-4E5D-91C2-52D8C0CD9F46}"/>
                </a:ext>
              </a:extLst>
            </p:cNvPr>
            <p:cNvSpPr txBox="1"/>
            <p:nvPr/>
          </p:nvSpPr>
          <p:spPr bwMode="gray">
            <a:xfrm>
              <a:off x="4061257" y="3707967"/>
              <a:ext cx="584757"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CPE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4" name="文本框 18">
              <a:extLst>
                <a:ext uri="{FF2B5EF4-FFF2-40B4-BE49-F238E27FC236}">
                  <a16:creationId xmlns:a16="http://schemas.microsoft.com/office/drawing/2014/main" id="{CEA78192-53A3-4E7B-A2CB-08433DD0B494}"/>
                </a:ext>
              </a:extLst>
            </p:cNvPr>
            <p:cNvSpPr txBox="1"/>
            <p:nvPr/>
          </p:nvSpPr>
          <p:spPr bwMode="gray">
            <a:xfrm>
              <a:off x="8017947" y="4191125"/>
              <a:ext cx="690408"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CPE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48" name="直接箭头连接符 84">
              <a:extLst>
                <a:ext uri="{FF2B5EF4-FFF2-40B4-BE49-F238E27FC236}">
                  <a16:creationId xmlns:a16="http://schemas.microsoft.com/office/drawing/2014/main" id="{FCD3FF07-AE8D-4826-B27F-0647BBA37247}"/>
                </a:ext>
              </a:extLst>
            </p:cNvPr>
            <p:cNvCxnSpPr>
              <a:cxnSpLocks/>
            </p:cNvCxnSpPr>
            <p:nvPr/>
          </p:nvCxnSpPr>
          <p:spPr bwMode="gray">
            <a:xfrm flipH="1">
              <a:off x="4656373" y="3867105"/>
              <a:ext cx="1735378" cy="186720"/>
            </a:xfrm>
            <a:prstGeom prst="straightConnector1">
              <a:avLst/>
            </a:prstGeom>
            <a:ln w="19050" cap="flat" cmpd="sng" algn="ctr">
              <a:solidFill>
                <a:srgbClr val="E28189"/>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49" name="直接箭头连接符 84">
              <a:extLst>
                <a:ext uri="{FF2B5EF4-FFF2-40B4-BE49-F238E27FC236}">
                  <a16:creationId xmlns:a16="http://schemas.microsoft.com/office/drawing/2014/main" id="{B8F78B2D-451E-47FD-8CA7-D4C88F26C2F6}"/>
                </a:ext>
              </a:extLst>
            </p:cNvPr>
            <p:cNvCxnSpPr>
              <a:cxnSpLocks/>
            </p:cNvCxnSpPr>
            <p:nvPr/>
          </p:nvCxnSpPr>
          <p:spPr bwMode="gray">
            <a:xfrm>
              <a:off x="6985832" y="3947364"/>
              <a:ext cx="1005262" cy="456179"/>
            </a:xfrm>
            <a:prstGeom prst="straightConnector1">
              <a:avLst/>
            </a:prstGeom>
            <a:ln w="19050" cap="flat" cmpd="sng" algn="ctr">
              <a:solidFill>
                <a:srgbClr val="E28189"/>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52" name="Can 41">
              <a:extLst>
                <a:ext uri="{FF2B5EF4-FFF2-40B4-BE49-F238E27FC236}">
                  <a16:creationId xmlns:a16="http://schemas.microsoft.com/office/drawing/2014/main" id="{4BC406D6-7611-4B8D-BB24-A25F69C16EA5}"/>
                </a:ext>
              </a:extLst>
            </p:cNvPr>
            <p:cNvSpPr/>
            <p:nvPr/>
          </p:nvSpPr>
          <p:spPr bwMode="gray">
            <a:xfrm rot="4982864">
              <a:off x="5806628" y="2813699"/>
              <a:ext cx="166846" cy="3836639"/>
            </a:xfrm>
            <a:prstGeom prst="can">
              <a:avLst>
                <a:gd name="adj" fmla="val 55435"/>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3" name="TextBox 252">
              <a:extLst>
                <a:ext uri="{FF2B5EF4-FFF2-40B4-BE49-F238E27FC236}">
                  <a16:creationId xmlns:a16="http://schemas.microsoft.com/office/drawing/2014/main" id="{21E94C08-C7E3-489C-BAF2-508165A350C6}"/>
                </a:ext>
              </a:extLst>
            </p:cNvPr>
            <p:cNvSpPr txBox="1"/>
            <p:nvPr/>
          </p:nvSpPr>
          <p:spPr bwMode="gray">
            <a:xfrm rot="21210080">
              <a:off x="5200051" y="4583386"/>
              <a:ext cx="1754119" cy="276999"/>
            </a:xfrm>
            <a:prstGeom prst="rect">
              <a:avLst/>
            </a:prstGeom>
            <a:noFill/>
          </p:spPr>
          <p:txBody>
            <a:bodyPr wrap="square" rtlCol="0">
              <a:spAutoFit/>
            </a:bodyPr>
            <a:lstStyle/>
            <a:p>
              <a:r>
                <a:rPr lang="en-US" sz="1200" dirty="0">
                  <a:latin typeface="Huawei Sans" panose="020C0503030203020204" pitchFamily="34" charset="0"/>
                  <a:ea typeface="方正兰亭黑简体" panose="02000000000000000000" pitchFamily="2" charset="-122"/>
                  <a:sym typeface="Huawei Sans" panose="020C0503030203020204" pitchFamily="34" charset="0"/>
                </a:rPr>
                <a:t>IP O</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verlay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4" name="Can 41">
              <a:extLst>
                <a:ext uri="{FF2B5EF4-FFF2-40B4-BE49-F238E27FC236}">
                  <a16:creationId xmlns:a16="http://schemas.microsoft.com/office/drawing/2014/main" id="{F5169B60-EEDE-45F7-AD8B-6F96C03A38CD}"/>
                </a:ext>
              </a:extLst>
            </p:cNvPr>
            <p:cNvSpPr/>
            <p:nvPr/>
          </p:nvSpPr>
          <p:spPr bwMode="gray">
            <a:xfrm rot="4958633">
              <a:off x="5846302" y="3081041"/>
              <a:ext cx="166846" cy="3833597"/>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6" name="直接箭头连接符 84">
              <a:extLst>
                <a:ext uri="{FF2B5EF4-FFF2-40B4-BE49-F238E27FC236}">
                  <a16:creationId xmlns:a16="http://schemas.microsoft.com/office/drawing/2014/main" id="{04F505E3-A354-4783-B567-F04FB5DE4B8E}"/>
                </a:ext>
              </a:extLst>
            </p:cNvPr>
            <p:cNvCxnSpPr>
              <a:cxnSpLocks/>
            </p:cNvCxnSpPr>
            <p:nvPr/>
          </p:nvCxnSpPr>
          <p:spPr bwMode="gray">
            <a:xfrm flipH="1">
              <a:off x="3873446" y="4077331"/>
              <a:ext cx="2575095" cy="777273"/>
            </a:xfrm>
            <a:prstGeom prst="straightConnector1">
              <a:avLst/>
            </a:prstGeom>
            <a:ln w="19050" cap="flat" cmpd="sng" algn="ctr">
              <a:solidFill>
                <a:srgbClr val="E28189"/>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58" name="TextBox 257">
              <a:extLst>
                <a:ext uri="{FF2B5EF4-FFF2-40B4-BE49-F238E27FC236}">
                  <a16:creationId xmlns:a16="http://schemas.microsoft.com/office/drawing/2014/main" id="{37B4AF06-380B-437D-BB18-2C3C8EFBF5EE}"/>
                </a:ext>
              </a:extLst>
            </p:cNvPr>
            <p:cNvSpPr txBox="1"/>
            <p:nvPr/>
          </p:nvSpPr>
          <p:spPr bwMode="gray">
            <a:xfrm rot="21185849">
              <a:off x="5265938" y="4845085"/>
              <a:ext cx="1773898" cy="276999"/>
            </a:xfrm>
            <a:prstGeom prst="rect">
              <a:avLst/>
            </a:prstGeom>
            <a:noFill/>
          </p:spPr>
          <p:txBody>
            <a:bodyPr wrap="square" rtlCol="0">
              <a:spAutoFit/>
            </a:bodyPr>
            <a:lstStyle/>
            <a:p>
              <a:r>
                <a:rPr lang="en-US" sz="1200" dirty="0">
                  <a:latin typeface="Huawei Sans" panose="020C0503030203020204" pitchFamily="34" charset="0"/>
                  <a:ea typeface="方正兰亭黑简体" panose="02000000000000000000" pitchFamily="2" charset="-122"/>
                  <a:sym typeface="Huawei Sans" panose="020C0503030203020204" pitchFamily="34" charset="0"/>
                </a:rPr>
                <a:t>IP O</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verlay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2" name="图片 25">
              <a:extLst>
                <a:ext uri="{FF2B5EF4-FFF2-40B4-BE49-F238E27FC236}">
                  <a16:creationId xmlns:a16="http://schemas.microsoft.com/office/drawing/2014/main" id="{52DC1957-BC57-463F-A9FB-2C50EED1B339}"/>
                </a:ext>
              </a:extLst>
            </p:cNvPr>
            <p:cNvPicPr>
              <a:picLocks noChangeAspect="1"/>
            </p:cNvPicPr>
            <p:nvPr/>
          </p:nvPicPr>
          <p:blipFill>
            <a:blip r:embed="rId3"/>
            <a:stretch>
              <a:fillRect/>
            </a:stretch>
          </p:blipFill>
          <p:spPr bwMode="gray">
            <a:xfrm>
              <a:off x="6477858" y="3725014"/>
              <a:ext cx="466668" cy="389308"/>
            </a:xfrm>
            <a:prstGeom prst="rect">
              <a:avLst/>
            </a:prstGeom>
          </p:spPr>
        </p:pic>
        <p:sp>
          <p:nvSpPr>
            <p:cNvPr id="263" name="Rectangular Callout 75">
              <a:extLst>
                <a:ext uri="{FF2B5EF4-FFF2-40B4-BE49-F238E27FC236}">
                  <a16:creationId xmlns:a16="http://schemas.microsoft.com/office/drawing/2014/main" id="{6E5BC509-58D7-4785-AC60-E0FF8CCC3847}"/>
                </a:ext>
              </a:extLst>
            </p:cNvPr>
            <p:cNvSpPr/>
            <p:nvPr/>
          </p:nvSpPr>
          <p:spPr bwMode="gray">
            <a:xfrm>
              <a:off x="7750659" y="3605278"/>
              <a:ext cx="913166" cy="439620"/>
            </a:xfrm>
            <a:prstGeom prst="wedgeRectCallout">
              <a:avLst>
                <a:gd name="adj1" fmla="val -69842"/>
                <a:gd name="adj2" fmla="val 3797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266" name="文本框 18">
              <a:extLst>
                <a:ext uri="{FF2B5EF4-FFF2-40B4-BE49-F238E27FC236}">
                  <a16:creationId xmlns:a16="http://schemas.microsoft.com/office/drawing/2014/main" id="{F0D0A9B1-7827-4C72-A107-90E3B9CEDF65}"/>
                </a:ext>
              </a:extLst>
            </p:cNvPr>
            <p:cNvSpPr txBox="1"/>
            <p:nvPr/>
          </p:nvSpPr>
          <p:spPr bwMode="gray">
            <a:xfrm>
              <a:off x="6465978" y="3532537"/>
              <a:ext cx="388549"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0" name="图片 140" descr="通用交换机.png">
              <a:extLst>
                <a:ext uri="{FF2B5EF4-FFF2-40B4-BE49-F238E27FC236}">
                  <a16:creationId xmlns:a16="http://schemas.microsoft.com/office/drawing/2014/main" id="{6C9225CA-2A48-4ACE-8984-0C2A656E562A}"/>
                </a:ext>
              </a:extLst>
            </p:cNvPr>
            <p:cNvPicPr>
              <a:picLocks noChangeAspect="1"/>
            </p:cNvPicPr>
            <p:nvPr/>
          </p:nvPicPr>
          <p:blipFill>
            <a:blip r:embed="rId4" cstate="print">
              <a:grayscl/>
            </a:blip>
            <a:stretch>
              <a:fillRect/>
            </a:stretch>
          </p:blipFill>
          <p:spPr bwMode="gray">
            <a:xfrm>
              <a:off x="2463579" y="4926737"/>
              <a:ext cx="432961" cy="354242"/>
            </a:xfrm>
            <a:prstGeom prst="rect">
              <a:avLst/>
            </a:prstGeom>
          </p:spPr>
        </p:pic>
        <p:pic>
          <p:nvPicPr>
            <p:cNvPr id="271" name="图片 140" descr="通用交换机.png">
              <a:extLst>
                <a:ext uri="{FF2B5EF4-FFF2-40B4-BE49-F238E27FC236}">
                  <a16:creationId xmlns:a16="http://schemas.microsoft.com/office/drawing/2014/main" id="{767E2CDA-F7F7-46D8-ACF3-E5DB140CE3E8}"/>
                </a:ext>
              </a:extLst>
            </p:cNvPr>
            <p:cNvPicPr>
              <a:picLocks noChangeAspect="1"/>
            </p:cNvPicPr>
            <p:nvPr/>
          </p:nvPicPr>
          <p:blipFill>
            <a:blip r:embed="rId4" cstate="print">
              <a:grayscl/>
            </a:blip>
            <a:stretch>
              <a:fillRect/>
            </a:stretch>
          </p:blipFill>
          <p:spPr bwMode="gray">
            <a:xfrm>
              <a:off x="3244765" y="3937190"/>
              <a:ext cx="432961" cy="354242"/>
            </a:xfrm>
            <a:prstGeom prst="rect">
              <a:avLst/>
            </a:prstGeom>
          </p:spPr>
        </p:pic>
        <p:pic>
          <p:nvPicPr>
            <p:cNvPr id="272" name="图片 140" descr="通用交换机.png">
              <a:extLst>
                <a:ext uri="{FF2B5EF4-FFF2-40B4-BE49-F238E27FC236}">
                  <a16:creationId xmlns:a16="http://schemas.microsoft.com/office/drawing/2014/main" id="{FB75B3D1-052D-49B6-879B-4CED121579E8}"/>
                </a:ext>
              </a:extLst>
            </p:cNvPr>
            <p:cNvPicPr>
              <a:picLocks noChangeAspect="1"/>
            </p:cNvPicPr>
            <p:nvPr/>
          </p:nvPicPr>
          <p:blipFill>
            <a:blip r:embed="rId4" cstate="print">
              <a:grayscl/>
            </a:blip>
            <a:stretch>
              <a:fillRect/>
            </a:stretch>
          </p:blipFill>
          <p:spPr bwMode="gray">
            <a:xfrm>
              <a:off x="9041582" y="4415948"/>
              <a:ext cx="432961" cy="354242"/>
            </a:xfrm>
            <a:prstGeom prst="rect">
              <a:avLst/>
            </a:prstGeom>
          </p:spPr>
        </p:pic>
        <p:cxnSp>
          <p:nvCxnSpPr>
            <p:cNvPr id="273" name="直接连接符 133">
              <a:extLst>
                <a:ext uri="{FF2B5EF4-FFF2-40B4-BE49-F238E27FC236}">
                  <a16:creationId xmlns:a16="http://schemas.microsoft.com/office/drawing/2014/main" id="{4AC98C69-1019-4236-98FF-DA1D359165E1}"/>
                </a:ext>
              </a:extLst>
            </p:cNvPr>
            <p:cNvCxnSpPr>
              <a:cxnSpLocks/>
              <a:stCxn id="270" idx="3"/>
              <a:endCxn id="227" idx="1"/>
            </p:cNvCxnSpPr>
            <p:nvPr/>
          </p:nvCxnSpPr>
          <p:spPr bwMode="gray">
            <a:xfrm>
              <a:off x="2896540" y="5103858"/>
              <a:ext cx="465358" cy="0"/>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74" name="直接连接符 133">
              <a:extLst>
                <a:ext uri="{FF2B5EF4-FFF2-40B4-BE49-F238E27FC236}">
                  <a16:creationId xmlns:a16="http://schemas.microsoft.com/office/drawing/2014/main" id="{4814D0CE-308D-488C-935C-4F5C70045165}"/>
                </a:ext>
              </a:extLst>
            </p:cNvPr>
            <p:cNvCxnSpPr>
              <a:cxnSpLocks/>
              <a:stCxn id="271" idx="3"/>
              <a:endCxn id="224" idx="1"/>
            </p:cNvCxnSpPr>
            <p:nvPr/>
          </p:nvCxnSpPr>
          <p:spPr bwMode="gray">
            <a:xfrm flipV="1">
              <a:off x="3677726" y="4111703"/>
              <a:ext cx="445834" cy="2608"/>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75" name="直接连接符 133">
              <a:extLst>
                <a:ext uri="{FF2B5EF4-FFF2-40B4-BE49-F238E27FC236}">
                  <a16:creationId xmlns:a16="http://schemas.microsoft.com/office/drawing/2014/main" id="{A47740D1-98A5-4C90-B3BB-296E5C0AAB3B}"/>
                </a:ext>
              </a:extLst>
            </p:cNvPr>
            <p:cNvCxnSpPr>
              <a:cxnSpLocks/>
              <a:endCxn id="272" idx="1"/>
            </p:cNvCxnSpPr>
            <p:nvPr/>
          </p:nvCxnSpPr>
          <p:spPr bwMode="gray">
            <a:xfrm>
              <a:off x="8324124" y="4593069"/>
              <a:ext cx="717458" cy="0"/>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sp>
          <p:nvSpPr>
            <p:cNvPr id="276" name="文本框 18">
              <a:extLst>
                <a:ext uri="{FF2B5EF4-FFF2-40B4-BE49-F238E27FC236}">
                  <a16:creationId xmlns:a16="http://schemas.microsoft.com/office/drawing/2014/main" id="{4D759CFE-58CE-40F2-8759-2E14024EA950}"/>
                </a:ext>
              </a:extLst>
            </p:cNvPr>
            <p:cNvSpPr txBox="1"/>
            <p:nvPr/>
          </p:nvSpPr>
          <p:spPr bwMode="gray">
            <a:xfrm>
              <a:off x="2243771" y="4675100"/>
              <a:ext cx="822912"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Core SW</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7" name="文本框 18">
              <a:extLst>
                <a:ext uri="{FF2B5EF4-FFF2-40B4-BE49-F238E27FC236}">
                  <a16:creationId xmlns:a16="http://schemas.microsoft.com/office/drawing/2014/main" id="{85EC10B6-696F-4CD5-90D7-DBD0759C6B9B}"/>
                </a:ext>
              </a:extLst>
            </p:cNvPr>
            <p:cNvSpPr txBox="1"/>
            <p:nvPr/>
          </p:nvSpPr>
          <p:spPr bwMode="gray">
            <a:xfrm>
              <a:off x="3058768" y="3703920"/>
              <a:ext cx="824452"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Core SW</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8" name="文本框 18">
              <a:extLst>
                <a:ext uri="{FF2B5EF4-FFF2-40B4-BE49-F238E27FC236}">
                  <a16:creationId xmlns:a16="http://schemas.microsoft.com/office/drawing/2014/main" id="{1F28D105-4054-4CC2-B98F-A5A743A68661}"/>
                </a:ext>
              </a:extLst>
            </p:cNvPr>
            <p:cNvSpPr txBox="1"/>
            <p:nvPr/>
          </p:nvSpPr>
          <p:spPr bwMode="gray">
            <a:xfrm>
              <a:off x="8749661" y="4199097"/>
              <a:ext cx="879940"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Core SW</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9" name="TextBox 278">
              <a:extLst>
                <a:ext uri="{FF2B5EF4-FFF2-40B4-BE49-F238E27FC236}">
                  <a16:creationId xmlns:a16="http://schemas.microsoft.com/office/drawing/2014/main" id="{848B2E4D-F979-40CF-BA61-FE8314C9C27A}"/>
                </a:ext>
              </a:extLst>
            </p:cNvPr>
            <p:cNvSpPr txBox="1"/>
            <p:nvPr/>
          </p:nvSpPr>
          <p:spPr bwMode="gray">
            <a:xfrm rot="1515485">
              <a:off x="7082943" y="3945417"/>
              <a:ext cx="910827" cy="276999"/>
            </a:xfrm>
            <a:prstGeom prst="rect">
              <a:avLst/>
            </a:prstGeom>
            <a:noFill/>
          </p:spPr>
          <p:txBody>
            <a:bodyPr wrap="none" rtlCol="0">
              <a:spAutoFit/>
            </a:bodyPr>
            <a:lstStyle/>
            <a:p>
              <a:r>
                <a:rPr lang="en-US" altLang="zh-CN" sz="1200" dirty="0"/>
                <a:t>BGP EVPN</a:t>
              </a:r>
              <a:endParaRPr lang="zh-CN" altLang="en-US" sz="1200" dirty="0"/>
            </a:p>
          </p:txBody>
        </p:sp>
        <p:sp>
          <p:nvSpPr>
            <p:cNvPr id="285" name="TextBox 284">
              <a:extLst>
                <a:ext uri="{FF2B5EF4-FFF2-40B4-BE49-F238E27FC236}">
                  <a16:creationId xmlns:a16="http://schemas.microsoft.com/office/drawing/2014/main" id="{09693B8C-B9F8-4BD5-93F8-E8DA570F31E9}"/>
                </a:ext>
              </a:extLst>
            </p:cNvPr>
            <p:cNvSpPr txBox="1"/>
            <p:nvPr/>
          </p:nvSpPr>
          <p:spPr bwMode="gray">
            <a:xfrm>
              <a:off x="1940117" y="5183282"/>
              <a:ext cx="543739"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分支</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6" name="TextBox 285">
              <a:extLst>
                <a:ext uri="{FF2B5EF4-FFF2-40B4-BE49-F238E27FC236}">
                  <a16:creationId xmlns:a16="http://schemas.microsoft.com/office/drawing/2014/main" id="{3B290605-85FB-4B6B-9836-7664F8309E39}"/>
                </a:ext>
              </a:extLst>
            </p:cNvPr>
            <p:cNvSpPr txBox="1"/>
            <p:nvPr/>
          </p:nvSpPr>
          <p:spPr bwMode="gray">
            <a:xfrm>
              <a:off x="2770188" y="4163993"/>
              <a:ext cx="543739"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分支</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7" name="TextBox 286">
              <a:extLst>
                <a:ext uri="{FF2B5EF4-FFF2-40B4-BE49-F238E27FC236}">
                  <a16:creationId xmlns:a16="http://schemas.microsoft.com/office/drawing/2014/main" id="{98AFFC25-F923-4687-A99A-A4732A8AA2B1}"/>
                </a:ext>
              </a:extLst>
            </p:cNvPr>
            <p:cNvSpPr txBox="1"/>
            <p:nvPr/>
          </p:nvSpPr>
          <p:spPr bwMode="gray">
            <a:xfrm>
              <a:off x="9351387" y="4727139"/>
              <a:ext cx="543739"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总部</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8" name="梯形 41">
              <a:extLst>
                <a:ext uri="{FF2B5EF4-FFF2-40B4-BE49-F238E27FC236}">
                  <a16:creationId xmlns:a16="http://schemas.microsoft.com/office/drawing/2014/main" id="{092EDFAE-3032-4245-857F-0E4B3A3ABCAA}"/>
                </a:ext>
              </a:extLst>
            </p:cNvPr>
            <p:cNvSpPr/>
            <p:nvPr/>
          </p:nvSpPr>
          <p:spPr bwMode="gray">
            <a:xfrm>
              <a:off x="2939976" y="2304237"/>
              <a:ext cx="3098767" cy="1182813"/>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2" name="图片 31">
              <a:extLst>
                <a:ext uri="{FF2B5EF4-FFF2-40B4-BE49-F238E27FC236}">
                  <a16:creationId xmlns:a16="http://schemas.microsoft.com/office/drawing/2014/main" id="{27B08861-F078-4E6F-8241-CAF645980FF0}"/>
                </a:ext>
              </a:extLst>
            </p:cNvPr>
            <p:cNvPicPr>
              <a:picLocks noChangeAspect="1"/>
            </p:cNvPicPr>
            <p:nvPr/>
          </p:nvPicPr>
          <p:blipFill>
            <a:blip r:embed="rId3"/>
            <a:stretch>
              <a:fillRect/>
            </a:stretch>
          </p:blipFill>
          <p:spPr bwMode="gray">
            <a:xfrm>
              <a:off x="3936947" y="2456409"/>
              <a:ext cx="373226" cy="311356"/>
            </a:xfrm>
            <a:prstGeom prst="rect">
              <a:avLst/>
            </a:prstGeom>
          </p:spPr>
        </p:pic>
        <p:pic>
          <p:nvPicPr>
            <p:cNvPr id="293" name="图片 31">
              <a:extLst>
                <a:ext uri="{FF2B5EF4-FFF2-40B4-BE49-F238E27FC236}">
                  <a16:creationId xmlns:a16="http://schemas.microsoft.com/office/drawing/2014/main" id="{C0494EFD-9B60-48B3-8D6F-09DF61513B61}"/>
                </a:ext>
              </a:extLst>
            </p:cNvPr>
            <p:cNvPicPr>
              <a:picLocks noChangeAspect="1"/>
            </p:cNvPicPr>
            <p:nvPr/>
          </p:nvPicPr>
          <p:blipFill>
            <a:blip r:embed="rId3"/>
            <a:stretch>
              <a:fillRect/>
            </a:stretch>
          </p:blipFill>
          <p:spPr bwMode="gray">
            <a:xfrm>
              <a:off x="3413834" y="3079370"/>
              <a:ext cx="373226" cy="311356"/>
            </a:xfrm>
            <a:prstGeom prst="rect">
              <a:avLst/>
            </a:prstGeom>
          </p:spPr>
        </p:pic>
        <p:pic>
          <p:nvPicPr>
            <p:cNvPr id="294" name="图片 25">
              <a:extLst>
                <a:ext uri="{FF2B5EF4-FFF2-40B4-BE49-F238E27FC236}">
                  <a16:creationId xmlns:a16="http://schemas.microsoft.com/office/drawing/2014/main" id="{71C730DE-AA25-4EAA-B7BC-8234C0452CCE}"/>
                </a:ext>
              </a:extLst>
            </p:cNvPr>
            <p:cNvPicPr>
              <a:picLocks noChangeAspect="1"/>
            </p:cNvPicPr>
            <p:nvPr/>
          </p:nvPicPr>
          <p:blipFill>
            <a:blip r:embed="rId3"/>
            <a:stretch>
              <a:fillRect/>
            </a:stretch>
          </p:blipFill>
          <p:spPr bwMode="gray">
            <a:xfrm>
              <a:off x="4974380" y="2873453"/>
              <a:ext cx="373226" cy="311356"/>
            </a:xfrm>
            <a:prstGeom prst="rect">
              <a:avLst/>
            </a:prstGeom>
          </p:spPr>
        </p:pic>
        <p:sp>
          <p:nvSpPr>
            <p:cNvPr id="299" name="Freeform: Shape 298">
              <a:extLst>
                <a:ext uri="{FF2B5EF4-FFF2-40B4-BE49-F238E27FC236}">
                  <a16:creationId xmlns:a16="http://schemas.microsoft.com/office/drawing/2014/main" id="{19052BC6-83CF-409F-8D69-91E1754E0F18}"/>
                </a:ext>
              </a:extLst>
            </p:cNvPr>
            <p:cNvSpPr/>
            <p:nvPr/>
          </p:nvSpPr>
          <p:spPr bwMode="gray">
            <a:xfrm>
              <a:off x="4123560" y="2754826"/>
              <a:ext cx="825843" cy="225835"/>
            </a:xfrm>
            <a:custGeom>
              <a:avLst/>
              <a:gdLst>
                <a:gd name="connsiteX0" fmla="*/ 0 w 704850"/>
                <a:gd name="connsiteY0" fmla="*/ 0 h 191192"/>
                <a:gd name="connsiteX1" fmla="*/ 285750 w 704850"/>
                <a:gd name="connsiteY1" fmla="*/ 161925 h 191192"/>
                <a:gd name="connsiteX2" fmla="*/ 704850 w 704850"/>
                <a:gd name="connsiteY2" fmla="*/ 190500 h 191192"/>
              </a:gdLst>
              <a:ahLst/>
              <a:cxnLst>
                <a:cxn ang="0">
                  <a:pos x="connsiteX0" y="connsiteY0"/>
                </a:cxn>
                <a:cxn ang="0">
                  <a:pos x="connsiteX1" y="connsiteY1"/>
                </a:cxn>
                <a:cxn ang="0">
                  <a:pos x="connsiteX2" y="connsiteY2"/>
                </a:cxn>
              </a:cxnLst>
              <a:rect l="l" t="t" r="r" b="b"/>
              <a:pathLst>
                <a:path w="704850" h="191192">
                  <a:moveTo>
                    <a:pt x="0" y="0"/>
                  </a:moveTo>
                  <a:cubicBezTo>
                    <a:pt x="84137" y="65087"/>
                    <a:pt x="168275" y="130175"/>
                    <a:pt x="285750" y="161925"/>
                  </a:cubicBezTo>
                  <a:cubicBezTo>
                    <a:pt x="403225" y="193675"/>
                    <a:pt x="554037" y="192087"/>
                    <a:pt x="704850" y="190500"/>
                  </a:cubicBezTo>
                </a:path>
              </a:pathLst>
            </a:custGeom>
            <a:noFill/>
            <a:ln w="38100">
              <a:solidFill>
                <a:srgbClr val="E28189"/>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Freeform: Shape 299">
              <a:extLst>
                <a:ext uri="{FF2B5EF4-FFF2-40B4-BE49-F238E27FC236}">
                  <a16:creationId xmlns:a16="http://schemas.microsoft.com/office/drawing/2014/main" id="{0DDB8F17-DFD2-4D60-B69C-C906A69E4D90}"/>
                </a:ext>
              </a:extLst>
            </p:cNvPr>
            <p:cNvSpPr/>
            <p:nvPr/>
          </p:nvSpPr>
          <p:spPr bwMode="gray">
            <a:xfrm>
              <a:off x="3799080" y="3057525"/>
              <a:ext cx="1154224" cy="168236"/>
            </a:xfrm>
            <a:custGeom>
              <a:avLst/>
              <a:gdLst>
                <a:gd name="connsiteX0" fmla="*/ 0 w 1114425"/>
                <a:gd name="connsiteY0" fmla="*/ 190500 h 190500"/>
                <a:gd name="connsiteX1" fmla="*/ 495300 w 1114425"/>
                <a:gd name="connsiteY1" fmla="*/ 85725 h 190500"/>
                <a:gd name="connsiteX2" fmla="*/ 1114425 w 1114425"/>
                <a:gd name="connsiteY2" fmla="*/ 0 h 190500"/>
              </a:gdLst>
              <a:ahLst/>
              <a:cxnLst>
                <a:cxn ang="0">
                  <a:pos x="connsiteX0" y="connsiteY0"/>
                </a:cxn>
                <a:cxn ang="0">
                  <a:pos x="connsiteX1" y="connsiteY1"/>
                </a:cxn>
                <a:cxn ang="0">
                  <a:pos x="connsiteX2" y="connsiteY2"/>
                </a:cxn>
              </a:cxnLst>
              <a:rect l="l" t="t" r="r" b="b"/>
              <a:pathLst>
                <a:path w="1114425" h="190500">
                  <a:moveTo>
                    <a:pt x="0" y="190500"/>
                  </a:moveTo>
                  <a:cubicBezTo>
                    <a:pt x="154781" y="153987"/>
                    <a:pt x="309563" y="117475"/>
                    <a:pt x="495300" y="85725"/>
                  </a:cubicBezTo>
                  <a:cubicBezTo>
                    <a:pt x="681037" y="53975"/>
                    <a:pt x="897731" y="26987"/>
                    <a:pt x="1114425" y="0"/>
                  </a:cubicBezTo>
                </a:path>
              </a:pathLst>
            </a:custGeom>
            <a:noFill/>
            <a:ln w="38100">
              <a:solidFill>
                <a:srgbClr val="E28189"/>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 name="梯形 41">
              <a:extLst>
                <a:ext uri="{FF2B5EF4-FFF2-40B4-BE49-F238E27FC236}">
                  <a16:creationId xmlns:a16="http://schemas.microsoft.com/office/drawing/2014/main" id="{C8AE1189-3554-4C68-B4CA-0FD2E06997F0}"/>
                </a:ext>
              </a:extLst>
            </p:cNvPr>
            <p:cNvSpPr/>
            <p:nvPr/>
          </p:nvSpPr>
          <p:spPr bwMode="gray">
            <a:xfrm>
              <a:off x="6150349" y="2304237"/>
              <a:ext cx="3098767" cy="1182813"/>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8" name="图片 31">
              <a:extLst>
                <a:ext uri="{FF2B5EF4-FFF2-40B4-BE49-F238E27FC236}">
                  <a16:creationId xmlns:a16="http://schemas.microsoft.com/office/drawing/2014/main" id="{7422899D-0EA9-4C7F-975B-D37E515837E9}"/>
                </a:ext>
              </a:extLst>
            </p:cNvPr>
            <p:cNvPicPr>
              <a:picLocks noChangeAspect="1"/>
            </p:cNvPicPr>
            <p:nvPr/>
          </p:nvPicPr>
          <p:blipFill>
            <a:blip r:embed="rId3"/>
            <a:stretch>
              <a:fillRect/>
            </a:stretch>
          </p:blipFill>
          <p:spPr bwMode="gray">
            <a:xfrm>
              <a:off x="7147320" y="2456409"/>
              <a:ext cx="373226" cy="311356"/>
            </a:xfrm>
            <a:prstGeom prst="rect">
              <a:avLst/>
            </a:prstGeom>
          </p:spPr>
        </p:pic>
        <p:pic>
          <p:nvPicPr>
            <p:cNvPr id="309" name="图片 31">
              <a:extLst>
                <a:ext uri="{FF2B5EF4-FFF2-40B4-BE49-F238E27FC236}">
                  <a16:creationId xmlns:a16="http://schemas.microsoft.com/office/drawing/2014/main" id="{C62B0149-18AF-40A5-B6D6-BDB355F6DB76}"/>
                </a:ext>
              </a:extLst>
            </p:cNvPr>
            <p:cNvPicPr>
              <a:picLocks noChangeAspect="1"/>
            </p:cNvPicPr>
            <p:nvPr/>
          </p:nvPicPr>
          <p:blipFill>
            <a:blip r:embed="rId3"/>
            <a:stretch>
              <a:fillRect/>
            </a:stretch>
          </p:blipFill>
          <p:spPr bwMode="gray">
            <a:xfrm>
              <a:off x="6624207" y="3079370"/>
              <a:ext cx="373226" cy="311356"/>
            </a:xfrm>
            <a:prstGeom prst="rect">
              <a:avLst/>
            </a:prstGeom>
          </p:spPr>
        </p:pic>
        <p:pic>
          <p:nvPicPr>
            <p:cNvPr id="310" name="图片 25">
              <a:extLst>
                <a:ext uri="{FF2B5EF4-FFF2-40B4-BE49-F238E27FC236}">
                  <a16:creationId xmlns:a16="http://schemas.microsoft.com/office/drawing/2014/main" id="{AEECB5CD-0D88-445C-A0ED-68B9E0452317}"/>
                </a:ext>
              </a:extLst>
            </p:cNvPr>
            <p:cNvPicPr>
              <a:picLocks noChangeAspect="1"/>
            </p:cNvPicPr>
            <p:nvPr/>
          </p:nvPicPr>
          <p:blipFill>
            <a:blip r:embed="rId3"/>
            <a:stretch>
              <a:fillRect/>
            </a:stretch>
          </p:blipFill>
          <p:spPr bwMode="gray">
            <a:xfrm>
              <a:off x="8184753" y="2873453"/>
              <a:ext cx="373226" cy="311356"/>
            </a:xfrm>
            <a:prstGeom prst="rect">
              <a:avLst/>
            </a:prstGeom>
          </p:spPr>
        </p:pic>
        <p:sp>
          <p:nvSpPr>
            <p:cNvPr id="311" name="Freeform: Shape 310">
              <a:extLst>
                <a:ext uri="{FF2B5EF4-FFF2-40B4-BE49-F238E27FC236}">
                  <a16:creationId xmlns:a16="http://schemas.microsoft.com/office/drawing/2014/main" id="{32FBD687-5236-4464-AD61-C05896049D3E}"/>
                </a:ext>
              </a:extLst>
            </p:cNvPr>
            <p:cNvSpPr/>
            <p:nvPr/>
          </p:nvSpPr>
          <p:spPr bwMode="gray">
            <a:xfrm>
              <a:off x="7333933" y="2754826"/>
              <a:ext cx="825843" cy="225835"/>
            </a:xfrm>
            <a:custGeom>
              <a:avLst/>
              <a:gdLst>
                <a:gd name="connsiteX0" fmla="*/ 0 w 704850"/>
                <a:gd name="connsiteY0" fmla="*/ 0 h 191192"/>
                <a:gd name="connsiteX1" fmla="*/ 285750 w 704850"/>
                <a:gd name="connsiteY1" fmla="*/ 161925 h 191192"/>
                <a:gd name="connsiteX2" fmla="*/ 704850 w 704850"/>
                <a:gd name="connsiteY2" fmla="*/ 190500 h 191192"/>
              </a:gdLst>
              <a:ahLst/>
              <a:cxnLst>
                <a:cxn ang="0">
                  <a:pos x="connsiteX0" y="connsiteY0"/>
                </a:cxn>
                <a:cxn ang="0">
                  <a:pos x="connsiteX1" y="connsiteY1"/>
                </a:cxn>
                <a:cxn ang="0">
                  <a:pos x="connsiteX2" y="connsiteY2"/>
                </a:cxn>
              </a:cxnLst>
              <a:rect l="l" t="t" r="r" b="b"/>
              <a:pathLst>
                <a:path w="704850" h="191192">
                  <a:moveTo>
                    <a:pt x="0" y="0"/>
                  </a:moveTo>
                  <a:cubicBezTo>
                    <a:pt x="84137" y="65087"/>
                    <a:pt x="168275" y="130175"/>
                    <a:pt x="285750" y="161925"/>
                  </a:cubicBezTo>
                  <a:cubicBezTo>
                    <a:pt x="403225" y="193675"/>
                    <a:pt x="554037" y="192087"/>
                    <a:pt x="704850" y="190500"/>
                  </a:cubicBezTo>
                </a:path>
              </a:pathLst>
            </a:custGeom>
            <a:noFill/>
            <a:ln w="38100">
              <a:solidFill>
                <a:srgbClr val="E28189"/>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2" name="Freeform: Shape 311">
              <a:extLst>
                <a:ext uri="{FF2B5EF4-FFF2-40B4-BE49-F238E27FC236}">
                  <a16:creationId xmlns:a16="http://schemas.microsoft.com/office/drawing/2014/main" id="{9BB4FACF-87C8-4B07-9A75-83FDD715BACE}"/>
                </a:ext>
              </a:extLst>
            </p:cNvPr>
            <p:cNvSpPr/>
            <p:nvPr/>
          </p:nvSpPr>
          <p:spPr bwMode="gray">
            <a:xfrm>
              <a:off x="7009453" y="3057525"/>
              <a:ext cx="1154224" cy="168236"/>
            </a:xfrm>
            <a:custGeom>
              <a:avLst/>
              <a:gdLst>
                <a:gd name="connsiteX0" fmla="*/ 0 w 1114425"/>
                <a:gd name="connsiteY0" fmla="*/ 190500 h 190500"/>
                <a:gd name="connsiteX1" fmla="*/ 495300 w 1114425"/>
                <a:gd name="connsiteY1" fmla="*/ 85725 h 190500"/>
                <a:gd name="connsiteX2" fmla="*/ 1114425 w 1114425"/>
                <a:gd name="connsiteY2" fmla="*/ 0 h 190500"/>
              </a:gdLst>
              <a:ahLst/>
              <a:cxnLst>
                <a:cxn ang="0">
                  <a:pos x="connsiteX0" y="connsiteY0"/>
                </a:cxn>
                <a:cxn ang="0">
                  <a:pos x="connsiteX1" y="connsiteY1"/>
                </a:cxn>
                <a:cxn ang="0">
                  <a:pos x="connsiteX2" y="connsiteY2"/>
                </a:cxn>
              </a:cxnLst>
              <a:rect l="l" t="t" r="r" b="b"/>
              <a:pathLst>
                <a:path w="1114425" h="190500">
                  <a:moveTo>
                    <a:pt x="0" y="190500"/>
                  </a:moveTo>
                  <a:cubicBezTo>
                    <a:pt x="154781" y="153987"/>
                    <a:pt x="309563" y="117475"/>
                    <a:pt x="495300" y="85725"/>
                  </a:cubicBezTo>
                  <a:cubicBezTo>
                    <a:pt x="681037" y="53975"/>
                    <a:pt x="897731" y="26987"/>
                    <a:pt x="1114425" y="0"/>
                  </a:cubicBezTo>
                </a:path>
              </a:pathLst>
            </a:custGeom>
            <a:noFill/>
            <a:ln w="38100">
              <a:solidFill>
                <a:srgbClr val="E28189"/>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3" name="Freeform: Shape 312">
              <a:extLst>
                <a:ext uri="{FF2B5EF4-FFF2-40B4-BE49-F238E27FC236}">
                  <a16:creationId xmlns:a16="http://schemas.microsoft.com/office/drawing/2014/main" id="{EDDABB26-8987-42FB-B22F-FF5600F0A306}"/>
                </a:ext>
              </a:extLst>
            </p:cNvPr>
            <p:cNvSpPr/>
            <p:nvPr/>
          </p:nvSpPr>
          <p:spPr bwMode="gray">
            <a:xfrm>
              <a:off x="7029450" y="2771775"/>
              <a:ext cx="237269" cy="371475"/>
            </a:xfrm>
            <a:custGeom>
              <a:avLst/>
              <a:gdLst>
                <a:gd name="connsiteX0" fmla="*/ 209550 w 237269"/>
                <a:gd name="connsiteY0" fmla="*/ 0 h 371475"/>
                <a:gd name="connsiteX1" fmla="*/ 219075 w 237269"/>
                <a:gd name="connsiteY1" fmla="*/ 209550 h 371475"/>
                <a:gd name="connsiteX2" fmla="*/ 0 w 237269"/>
                <a:gd name="connsiteY2" fmla="*/ 371475 h 371475"/>
              </a:gdLst>
              <a:ahLst/>
              <a:cxnLst>
                <a:cxn ang="0">
                  <a:pos x="connsiteX0" y="connsiteY0"/>
                </a:cxn>
                <a:cxn ang="0">
                  <a:pos x="connsiteX1" y="connsiteY1"/>
                </a:cxn>
                <a:cxn ang="0">
                  <a:pos x="connsiteX2" y="connsiteY2"/>
                </a:cxn>
              </a:cxnLst>
              <a:rect l="l" t="t" r="r" b="b"/>
              <a:pathLst>
                <a:path w="237269" h="371475">
                  <a:moveTo>
                    <a:pt x="209550" y="0"/>
                  </a:moveTo>
                  <a:cubicBezTo>
                    <a:pt x="231775" y="73819"/>
                    <a:pt x="254000" y="147638"/>
                    <a:pt x="219075" y="209550"/>
                  </a:cubicBezTo>
                  <a:cubicBezTo>
                    <a:pt x="184150" y="271463"/>
                    <a:pt x="92075" y="321469"/>
                    <a:pt x="0" y="371475"/>
                  </a:cubicBezTo>
                </a:path>
              </a:pathLst>
            </a:custGeom>
            <a:noFill/>
            <a:ln w="38100">
              <a:solidFill>
                <a:srgbClr val="E28189"/>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4" name="TextBox 313">
              <a:extLst>
                <a:ext uri="{FF2B5EF4-FFF2-40B4-BE49-F238E27FC236}">
                  <a16:creationId xmlns:a16="http://schemas.microsoft.com/office/drawing/2014/main" id="{CC23E844-4C7B-4FCD-AB13-EA50A04F1B2F}"/>
                </a:ext>
              </a:extLst>
            </p:cNvPr>
            <p:cNvSpPr txBox="1"/>
            <p:nvPr/>
          </p:nvSpPr>
          <p:spPr bwMode="gray">
            <a:xfrm>
              <a:off x="4569021" y="2280735"/>
              <a:ext cx="660758"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VPN1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5" name="TextBox 314">
              <a:extLst>
                <a:ext uri="{FF2B5EF4-FFF2-40B4-BE49-F238E27FC236}">
                  <a16:creationId xmlns:a16="http://schemas.microsoft.com/office/drawing/2014/main" id="{600168B1-7573-4E9E-8A51-25FF0F7F4404}"/>
                </a:ext>
              </a:extLst>
            </p:cNvPr>
            <p:cNvSpPr txBox="1"/>
            <p:nvPr/>
          </p:nvSpPr>
          <p:spPr bwMode="gray">
            <a:xfrm>
              <a:off x="7792649" y="2290493"/>
              <a:ext cx="660758"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VPN2</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6" name="Rectangular Callout 75">
              <a:extLst>
                <a:ext uri="{FF2B5EF4-FFF2-40B4-BE49-F238E27FC236}">
                  <a16:creationId xmlns:a16="http://schemas.microsoft.com/office/drawing/2014/main" id="{B5EE42E7-08D9-432B-938A-33D522D7182A}"/>
                </a:ext>
              </a:extLst>
            </p:cNvPr>
            <p:cNvSpPr/>
            <p:nvPr/>
          </p:nvSpPr>
          <p:spPr bwMode="gray">
            <a:xfrm>
              <a:off x="8570875" y="2015346"/>
              <a:ext cx="913166" cy="439620"/>
            </a:xfrm>
            <a:prstGeom prst="wedgeRectCallout">
              <a:avLst>
                <a:gd name="adj1" fmla="val -69842"/>
                <a:gd name="adj2" fmla="val 3797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317" name="Rectangular Callout 75">
              <a:extLst>
                <a:ext uri="{FF2B5EF4-FFF2-40B4-BE49-F238E27FC236}">
                  <a16:creationId xmlns:a16="http://schemas.microsoft.com/office/drawing/2014/main" id="{F9A292AB-7546-4602-A584-BF4D0AB1B641}"/>
                </a:ext>
              </a:extLst>
            </p:cNvPr>
            <p:cNvSpPr/>
            <p:nvPr/>
          </p:nvSpPr>
          <p:spPr bwMode="gray">
            <a:xfrm>
              <a:off x="2989436" y="2667066"/>
              <a:ext cx="913166" cy="338863"/>
            </a:xfrm>
            <a:prstGeom prst="wedgeRectCallout">
              <a:avLst>
                <a:gd name="adj1" fmla="val 80361"/>
                <a:gd name="adj2" fmla="val 1285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拓扑设计</a:t>
              </a:r>
            </a:p>
          </p:txBody>
        </p:sp>
        <p:pic>
          <p:nvPicPr>
            <p:cNvPr id="230" name="图片 25">
              <a:extLst>
                <a:ext uri="{FF2B5EF4-FFF2-40B4-BE49-F238E27FC236}">
                  <a16:creationId xmlns:a16="http://schemas.microsoft.com/office/drawing/2014/main" id="{323109E5-9AAE-4D3C-8EC0-AA96F186C9E2}"/>
                </a:ext>
              </a:extLst>
            </p:cNvPr>
            <p:cNvPicPr>
              <a:picLocks noChangeAspect="1"/>
            </p:cNvPicPr>
            <p:nvPr/>
          </p:nvPicPr>
          <p:blipFill>
            <a:blip r:embed="rId3"/>
            <a:stretch>
              <a:fillRect/>
            </a:stretch>
          </p:blipFill>
          <p:spPr bwMode="gray">
            <a:xfrm>
              <a:off x="8038980" y="4396433"/>
              <a:ext cx="466668" cy="389308"/>
            </a:xfrm>
            <a:prstGeom prst="rect">
              <a:avLst/>
            </a:prstGeom>
          </p:spPr>
        </p:pic>
      </p:grpSp>
    </p:spTree>
    <p:extLst>
      <p:ext uri="{BB962C8B-B14F-4D97-AF65-F5344CB8AC3E}">
        <p14:creationId xmlns:p14="http://schemas.microsoft.com/office/powerpoint/2010/main" val="28224047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a:t>SD-WAN VPN</a:t>
            </a:r>
            <a:r>
              <a:rPr lang="zh-CN" altLang="en-US" dirty="0"/>
              <a:t>介绍</a:t>
            </a:r>
          </a:p>
        </p:txBody>
      </p:sp>
      <p:sp>
        <p:nvSpPr>
          <p:cNvPr id="2" name="Text Placeholder 1">
            <a:extLst>
              <a:ext uri="{FF2B5EF4-FFF2-40B4-BE49-F238E27FC236}">
                <a16:creationId xmlns:a16="http://schemas.microsoft.com/office/drawing/2014/main" id="{168EA77A-E0AE-4FE2-BBDB-0410BE4F7829}"/>
              </a:ext>
            </a:extLst>
          </p:cNvPr>
          <p:cNvSpPr>
            <a:spLocks noGrp="1"/>
          </p:cNvSpPr>
          <p:nvPr>
            <p:ph type="body" sz="quarter" idx="10"/>
          </p:nvPr>
        </p:nvSpPr>
        <p:spPr bwMode="gray">
          <a:xfrm>
            <a:off x="6096000" y="1047750"/>
            <a:ext cx="5653087" cy="4879805"/>
          </a:xfrm>
        </p:spPr>
        <p:txBody>
          <a:bodyPr/>
          <a:lstStyle/>
          <a:p>
            <a:r>
              <a:rPr lang="en-US" altLang="zh-CN" sz="1800" dirty="0"/>
              <a:t>VPN</a:t>
            </a:r>
            <a:r>
              <a:rPr lang="zh-CN" altLang="en-US" sz="1800" dirty="0"/>
              <a:t>是</a:t>
            </a:r>
            <a:r>
              <a:rPr lang="en-US" altLang="zh-CN" sz="1800" dirty="0"/>
              <a:t>SD-WAN</a:t>
            </a:r>
            <a:r>
              <a:rPr lang="zh-CN" altLang="en-US" sz="1800" dirty="0"/>
              <a:t>上虚拟隔离网络的简称，每个</a:t>
            </a:r>
            <a:r>
              <a:rPr lang="en-US" altLang="zh-CN" sz="1800" dirty="0"/>
              <a:t>VPN</a:t>
            </a:r>
            <a:r>
              <a:rPr lang="zh-CN" altLang="en-US" sz="1800" dirty="0"/>
              <a:t>是一个独立的</a:t>
            </a:r>
            <a:r>
              <a:rPr lang="en-US" altLang="zh-CN" sz="1800" dirty="0"/>
              <a:t>IP</a:t>
            </a:r>
            <a:r>
              <a:rPr lang="zh-CN" altLang="en-US" sz="1800" dirty="0"/>
              <a:t>三层私有网络。多个不同的</a:t>
            </a:r>
            <a:r>
              <a:rPr lang="en-US" altLang="zh-CN" sz="1800" dirty="0"/>
              <a:t>VPN</a:t>
            </a:r>
            <a:r>
              <a:rPr lang="zh-CN" altLang="en-US" sz="1800" dirty="0"/>
              <a:t>端到端从连接站点的</a:t>
            </a:r>
            <a:r>
              <a:rPr lang="en-US" altLang="zh-CN" sz="1800" dirty="0"/>
              <a:t>Tunnel</a:t>
            </a:r>
            <a:r>
              <a:rPr lang="zh-CN" altLang="en-US" sz="1800" dirty="0"/>
              <a:t>到站点的</a:t>
            </a:r>
            <a:r>
              <a:rPr lang="en-US" altLang="zh-CN" sz="1800" dirty="0"/>
              <a:t>CPE</a:t>
            </a:r>
            <a:r>
              <a:rPr lang="zh-CN" altLang="en-US" sz="1800" dirty="0"/>
              <a:t>设备，都实现了彼此的逻辑隔离，互相无法直接访问。</a:t>
            </a:r>
            <a:endParaRPr lang="en-US" altLang="zh-CN" sz="1800" dirty="0"/>
          </a:p>
          <a:p>
            <a:pPr lvl="1"/>
            <a:r>
              <a:rPr lang="zh-CN" altLang="en-US" sz="1600" dirty="0"/>
              <a:t>每个</a:t>
            </a:r>
            <a:r>
              <a:rPr lang="en-US" altLang="zh-CN" sz="1600" dirty="0"/>
              <a:t>VPN</a:t>
            </a:r>
            <a:r>
              <a:rPr lang="zh-CN" altLang="en-US" sz="1600" dirty="0"/>
              <a:t>可以拥有独立的拓扑，支持</a:t>
            </a:r>
            <a:r>
              <a:rPr lang="en-US" altLang="zh-CN" sz="1600" dirty="0"/>
              <a:t>Full-mesh</a:t>
            </a:r>
            <a:r>
              <a:rPr lang="zh-CN" altLang="en-US" sz="1600" dirty="0"/>
              <a:t>， </a:t>
            </a:r>
            <a:r>
              <a:rPr lang="en-US" altLang="zh-CN" sz="1600" dirty="0"/>
              <a:t>Hub-Spoke</a:t>
            </a:r>
            <a:r>
              <a:rPr lang="zh-CN" altLang="en-US" sz="1600" dirty="0"/>
              <a:t>，</a:t>
            </a:r>
            <a:r>
              <a:rPr lang="en-US" altLang="zh-CN" sz="1600" dirty="0"/>
              <a:t>Partial-mesh</a:t>
            </a:r>
            <a:r>
              <a:rPr lang="zh-CN" altLang="en-US" sz="1600" dirty="0"/>
              <a:t>，分层组网。</a:t>
            </a:r>
            <a:endParaRPr lang="en-US" altLang="zh-CN" sz="1600" dirty="0"/>
          </a:p>
          <a:p>
            <a:pPr lvl="1"/>
            <a:r>
              <a:rPr lang="zh-CN" altLang="en-US" sz="1600" dirty="0"/>
              <a:t>每个</a:t>
            </a:r>
            <a:r>
              <a:rPr lang="en-US" altLang="zh-CN" sz="1600" dirty="0"/>
              <a:t>VPN</a:t>
            </a:r>
            <a:r>
              <a:rPr lang="zh-CN" altLang="en-US" sz="1600" dirty="0"/>
              <a:t>可以独立进行业务策略的配置，如选路策略、 </a:t>
            </a:r>
            <a:r>
              <a:rPr lang="en-US" altLang="zh-CN" sz="1600" dirty="0"/>
              <a:t>QoS</a:t>
            </a:r>
            <a:r>
              <a:rPr lang="zh-CN" altLang="en-US" sz="1600" dirty="0"/>
              <a:t>策略等。</a:t>
            </a:r>
            <a:endParaRPr lang="en-US" sz="1600" dirty="0"/>
          </a:p>
        </p:txBody>
      </p:sp>
      <p:sp>
        <p:nvSpPr>
          <p:cNvPr id="43" name="梯形 52">
            <a:extLst>
              <a:ext uri="{FF2B5EF4-FFF2-40B4-BE49-F238E27FC236}">
                <a16:creationId xmlns:a16="http://schemas.microsoft.com/office/drawing/2014/main" id="{E43EB1C4-8FF9-45E5-93F9-4F95F2FBB7F3}"/>
              </a:ext>
            </a:extLst>
          </p:cNvPr>
          <p:cNvSpPr/>
          <p:nvPr/>
        </p:nvSpPr>
        <p:spPr bwMode="gray">
          <a:xfrm>
            <a:off x="475857" y="3174205"/>
            <a:ext cx="5556717" cy="2280771"/>
          </a:xfrm>
          <a:prstGeom prst="trapezoid">
            <a:avLst>
              <a:gd name="adj" fmla="val 229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梯形 54">
            <a:extLst>
              <a:ext uri="{FF2B5EF4-FFF2-40B4-BE49-F238E27FC236}">
                <a16:creationId xmlns:a16="http://schemas.microsoft.com/office/drawing/2014/main" id="{EBF7129A-6ABF-401A-B96F-4C9A6E1BB660}"/>
              </a:ext>
            </a:extLst>
          </p:cNvPr>
          <p:cNvSpPr/>
          <p:nvPr/>
        </p:nvSpPr>
        <p:spPr bwMode="gray">
          <a:xfrm>
            <a:off x="475857" y="1710885"/>
            <a:ext cx="5556717" cy="1919860"/>
          </a:xfrm>
          <a:prstGeom prst="trapezoid">
            <a:avLst>
              <a:gd name="adj" fmla="val 229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梯形 70">
            <a:extLst>
              <a:ext uri="{FF2B5EF4-FFF2-40B4-BE49-F238E27FC236}">
                <a16:creationId xmlns:a16="http://schemas.microsoft.com/office/drawing/2014/main" id="{99D662F5-168B-4622-A0F9-1CC81892EE76}"/>
              </a:ext>
            </a:extLst>
          </p:cNvPr>
          <p:cNvSpPr/>
          <p:nvPr/>
        </p:nvSpPr>
        <p:spPr bwMode="gray">
          <a:xfrm>
            <a:off x="3449818" y="1931360"/>
            <a:ext cx="2284753" cy="1407424"/>
          </a:xfrm>
          <a:prstGeom prst="trapezoid">
            <a:avLst>
              <a:gd name="adj" fmla="val 22668"/>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梯形 68">
            <a:extLst>
              <a:ext uri="{FF2B5EF4-FFF2-40B4-BE49-F238E27FC236}">
                <a16:creationId xmlns:a16="http://schemas.microsoft.com/office/drawing/2014/main" id="{66118A6C-89D3-42A9-8C1D-61D3DA852541}"/>
              </a:ext>
            </a:extLst>
          </p:cNvPr>
          <p:cNvSpPr/>
          <p:nvPr/>
        </p:nvSpPr>
        <p:spPr bwMode="gray">
          <a:xfrm>
            <a:off x="1021669" y="1931360"/>
            <a:ext cx="2336109" cy="1407424"/>
          </a:xfrm>
          <a:prstGeom prst="trapezoid">
            <a:avLst>
              <a:gd name="adj" fmla="val 22668"/>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67">
            <a:extLst>
              <a:ext uri="{FF2B5EF4-FFF2-40B4-BE49-F238E27FC236}">
                <a16:creationId xmlns:a16="http://schemas.microsoft.com/office/drawing/2014/main" id="{0B1AA396-5727-4343-8BB3-8E8A526F7DC3}"/>
              </a:ext>
            </a:extLst>
          </p:cNvPr>
          <p:cNvSpPr/>
          <p:nvPr/>
        </p:nvSpPr>
        <p:spPr bwMode="gray">
          <a:xfrm>
            <a:off x="569661" y="3366337"/>
            <a:ext cx="2120684" cy="257896"/>
          </a:xfrm>
          <a:prstGeom prst="rect">
            <a:avLst/>
          </a:prstGeom>
        </p:spPr>
        <p:txBody>
          <a:bodyPr wrap="square">
            <a:noAutofit/>
          </a:bodyPr>
          <a:lstStyle/>
          <a:p>
            <a:pPr fontAlgn="ctr"/>
            <a:r>
              <a:rPr lang="zh-CN" altLang="en-US" sz="14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虚拟网络（</a:t>
            </a:r>
            <a:r>
              <a:rPr lang="en-US" altLang="zh-CN" sz="14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Overlay</a:t>
            </a:r>
            <a:r>
              <a:rPr lang="zh-CN" altLang="en-US" sz="14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网络）</a:t>
            </a:r>
            <a:endParaRPr lang="en-US" altLang="zh-CN" sz="14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矩形 53">
            <a:extLst>
              <a:ext uri="{FF2B5EF4-FFF2-40B4-BE49-F238E27FC236}">
                <a16:creationId xmlns:a16="http://schemas.microsoft.com/office/drawing/2014/main" id="{058798E4-FA01-425E-8EBE-7D63512207FD}"/>
              </a:ext>
            </a:extLst>
          </p:cNvPr>
          <p:cNvSpPr/>
          <p:nvPr/>
        </p:nvSpPr>
        <p:spPr bwMode="gray">
          <a:xfrm>
            <a:off x="569661" y="5162568"/>
            <a:ext cx="2509381" cy="257896"/>
          </a:xfrm>
          <a:prstGeom prst="rect">
            <a:avLst/>
          </a:prstGeom>
        </p:spPr>
        <p:txBody>
          <a:bodyPr wrap="square">
            <a:noAutofit/>
          </a:bodyPr>
          <a:lstStyle/>
          <a:p>
            <a:pPr fontAlgn="ctr"/>
            <a:r>
              <a:rPr lang="zh-CN" altLang="en-US" sz="14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物理网络（</a:t>
            </a:r>
            <a:r>
              <a:rPr lang="en-US" altLang="zh-CN" sz="14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Underlay</a:t>
            </a:r>
            <a:r>
              <a:rPr lang="zh-CN" altLang="en-US" sz="14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网络）</a:t>
            </a:r>
          </a:p>
        </p:txBody>
      </p:sp>
      <p:pic>
        <p:nvPicPr>
          <p:cNvPr id="52" name="图片 10">
            <a:extLst>
              <a:ext uri="{FF2B5EF4-FFF2-40B4-BE49-F238E27FC236}">
                <a16:creationId xmlns:a16="http://schemas.microsoft.com/office/drawing/2014/main" id="{F57FA49D-97B0-481B-91DC-4D3B0DB112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925195" y="3754690"/>
            <a:ext cx="414951" cy="340259"/>
          </a:xfrm>
          <a:prstGeom prst="rect">
            <a:avLst/>
          </a:prstGeom>
          <a:gradFill flip="none" rotWithShape="1">
            <a:gsLst>
              <a:gs pos="0">
                <a:schemeClr val="bg1"/>
              </a:gs>
              <a:gs pos="100000">
                <a:srgbClr val="94DAE2">
                  <a:alpha val="26000"/>
                </a:srgbClr>
              </a:gs>
            </a:gsLst>
            <a:lin ang="5400000" scaled="1"/>
            <a:tileRect/>
          </a:gradFill>
          <a:ln>
            <a:noFill/>
          </a:ln>
        </p:spPr>
      </p:pic>
      <p:cxnSp>
        <p:nvCxnSpPr>
          <p:cNvPr id="55" name="直接连接符 14">
            <a:extLst>
              <a:ext uri="{FF2B5EF4-FFF2-40B4-BE49-F238E27FC236}">
                <a16:creationId xmlns:a16="http://schemas.microsoft.com/office/drawing/2014/main" id="{0A471AC4-7AFB-4317-8AC6-5B66DA0C801E}"/>
              </a:ext>
            </a:extLst>
          </p:cNvPr>
          <p:cNvCxnSpPr>
            <a:cxnSpLocks/>
            <a:stCxn id="98" idx="21"/>
            <a:endCxn id="61" idx="3"/>
          </p:cNvCxnSpPr>
          <p:nvPr/>
        </p:nvCxnSpPr>
        <p:spPr bwMode="gray">
          <a:xfrm flipH="1">
            <a:off x="2340146" y="4033763"/>
            <a:ext cx="555820" cy="85780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15">
            <a:extLst>
              <a:ext uri="{FF2B5EF4-FFF2-40B4-BE49-F238E27FC236}">
                <a16:creationId xmlns:a16="http://schemas.microsoft.com/office/drawing/2014/main" id="{33EBF7ED-EE06-4CC5-8E26-D4140BC1AFE7}"/>
              </a:ext>
            </a:extLst>
          </p:cNvPr>
          <p:cNvCxnSpPr>
            <a:cxnSpLocks/>
            <a:stCxn id="52" idx="3"/>
            <a:endCxn id="99" idx="21"/>
          </p:cNvCxnSpPr>
          <p:nvPr/>
        </p:nvCxnSpPr>
        <p:spPr bwMode="gray">
          <a:xfrm>
            <a:off x="2340146" y="3924820"/>
            <a:ext cx="588838" cy="90010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16">
            <a:extLst>
              <a:ext uri="{FF2B5EF4-FFF2-40B4-BE49-F238E27FC236}">
                <a16:creationId xmlns:a16="http://schemas.microsoft.com/office/drawing/2014/main" id="{373AFA01-54BE-4EF0-8445-762F68F75A14}"/>
              </a:ext>
            </a:extLst>
          </p:cNvPr>
          <p:cNvCxnSpPr>
            <a:cxnSpLocks/>
            <a:stCxn id="61" idx="3"/>
            <a:endCxn id="99" idx="21"/>
          </p:cNvCxnSpPr>
          <p:nvPr/>
        </p:nvCxnSpPr>
        <p:spPr bwMode="gray">
          <a:xfrm flipV="1">
            <a:off x="2340146" y="4824922"/>
            <a:ext cx="588838" cy="6664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17">
            <a:extLst>
              <a:ext uri="{FF2B5EF4-FFF2-40B4-BE49-F238E27FC236}">
                <a16:creationId xmlns:a16="http://schemas.microsoft.com/office/drawing/2014/main" id="{C7D1C323-BA07-4178-B15D-C61DE01E58CC}"/>
              </a:ext>
            </a:extLst>
          </p:cNvPr>
          <p:cNvCxnSpPr>
            <a:cxnSpLocks/>
            <a:stCxn id="52" idx="3"/>
            <a:endCxn id="98" idx="21"/>
          </p:cNvCxnSpPr>
          <p:nvPr/>
        </p:nvCxnSpPr>
        <p:spPr bwMode="gray">
          <a:xfrm>
            <a:off x="2340146" y="3924820"/>
            <a:ext cx="555820" cy="10894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1" name="图片 31">
            <a:extLst>
              <a:ext uri="{FF2B5EF4-FFF2-40B4-BE49-F238E27FC236}">
                <a16:creationId xmlns:a16="http://schemas.microsoft.com/office/drawing/2014/main" id="{96320499-E273-4D3E-9ECB-ACFF7F6468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925195" y="4721438"/>
            <a:ext cx="414951" cy="340259"/>
          </a:xfrm>
          <a:prstGeom prst="rect">
            <a:avLst/>
          </a:prstGeom>
          <a:gradFill flip="none" rotWithShape="1">
            <a:gsLst>
              <a:gs pos="0">
                <a:schemeClr val="bg1"/>
              </a:gs>
              <a:gs pos="100000">
                <a:srgbClr val="94DAE2">
                  <a:alpha val="26000"/>
                </a:srgbClr>
              </a:gs>
            </a:gsLst>
            <a:lin ang="5400000" scaled="1"/>
            <a:tileRect/>
          </a:gradFill>
          <a:ln>
            <a:noFill/>
          </a:ln>
        </p:spPr>
      </p:pic>
      <p:cxnSp>
        <p:nvCxnSpPr>
          <p:cNvPr id="64" name="直接连接符 33">
            <a:extLst>
              <a:ext uri="{FF2B5EF4-FFF2-40B4-BE49-F238E27FC236}">
                <a16:creationId xmlns:a16="http://schemas.microsoft.com/office/drawing/2014/main" id="{419D7AE4-B368-4D59-848C-73D471AF7659}"/>
              </a:ext>
            </a:extLst>
          </p:cNvPr>
          <p:cNvCxnSpPr>
            <a:cxnSpLocks/>
            <a:stCxn id="99" idx="8"/>
            <a:endCxn id="69" idx="1"/>
          </p:cNvCxnSpPr>
          <p:nvPr/>
        </p:nvCxnSpPr>
        <p:spPr bwMode="gray">
          <a:xfrm flipV="1">
            <a:off x="3789484" y="3924820"/>
            <a:ext cx="607677" cy="89191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34">
            <a:extLst>
              <a:ext uri="{FF2B5EF4-FFF2-40B4-BE49-F238E27FC236}">
                <a16:creationId xmlns:a16="http://schemas.microsoft.com/office/drawing/2014/main" id="{1E0B351C-270B-4858-A1B0-F79558B6F9B1}"/>
              </a:ext>
            </a:extLst>
          </p:cNvPr>
          <p:cNvCxnSpPr>
            <a:cxnSpLocks/>
            <a:stCxn id="72" idx="1"/>
            <a:endCxn id="98" idx="8"/>
          </p:cNvCxnSpPr>
          <p:nvPr/>
        </p:nvCxnSpPr>
        <p:spPr bwMode="gray">
          <a:xfrm flipH="1" flipV="1">
            <a:off x="3756466" y="4025576"/>
            <a:ext cx="640695" cy="86599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35">
            <a:extLst>
              <a:ext uri="{FF2B5EF4-FFF2-40B4-BE49-F238E27FC236}">
                <a16:creationId xmlns:a16="http://schemas.microsoft.com/office/drawing/2014/main" id="{61F564B0-FCFB-424E-BBCD-E12BEF0F06B6}"/>
              </a:ext>
            </a:extLst>
          </p:cNvPr>
          <p:cNvCxnSpPr>
            <a:cxnSpLocks/>
            <a:stCxn id="69" idx="1"/>
            <a:endCxn id="98" idx="8"/>
          </p:cNvCxnSpPr>
          <p:nvPr/>
        </p:nvCxnSpPr>
        <p:spPr bwMode="gray">
          <a:xfrm flipH="1">
            <a:off x="3756466" y="3924820"/>
            <a:ext cx="640695" cy="1007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36">
            <a:extLst>
              <a:ext uri="{FF2B5EF4-FFF2-40B4-BE49-F238E27FC236}">
                <a16:creationId xmlns:a16="http://schemas.microsoft.com/office/drawing/2014/main" id="{555931B9-57BB-48C9-9CFE-728203C4CDA1}"/>
              </a:ext>
            </a:extLst>
          </p:cNvPr>
          <p:cNvCxnSpPr>
            <a:cxnSpLocks/>
            <a:stCxn id="72" idx="1"/>
            <a:endCxn id="99" idx="8"/>
          </p:cNvCxnSpPr>
          <p:nvPr/>
        </p:nvCxnSpPr>
        <p:spPr bwMode="gray">
          <a:xfrm flipH="1" flipV="1">
            <a:off x="3789484" y="4816735"/>
            <a:ext cx="607677" cy="7483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9" name="图片 37">
            <a:extLst>
              <a:ext uri="{FF2B5EF4-FFF2-40B4-BE49-F238E27FC236}">
                <a16:creationId xmlns:a16="http://schemas.microsoft.com/office/drawing/2014/main" id="{47A11B65-CEFF-450A-824A-03590F684E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97161" y="3754690"/>
            <a:ext cx="414951" cy="340259"/>
          </a:xfrm>
          <a:prstGeom prst="rect">
            <a:avLst/>
          </a:prstGeom>
          <a:gradFill flip="none" rotWithShape="1">
            <a:gsLst>
              <a:gs pos="0">
                <a:schemeClr val="bg1"/>
              </a:gs>
              <a:gs pos="100000">
                <a:srgbClr val="94DAE2">
                  <a:alpha val="26000"/>
                </a:srgbClr>
              </a:gs>
            </a:gsLst>
            <a:lin ang="5400000" scaled="1"/>
            <a:tileRect/>
          </a:gradFill>
          <a:ln>
            <a:noFill/>
          </a:ln>
        </p:spPr>
      </p:pic>
      <p:pic>
        <p:nvPicPr>
          <p:cNvPr id="72" name="图片 38">
            <a:extLst>
              <a:ext uri="{FF2B5EF4-FFF2-40B4-BE49-F238E27FC236}">
                <a16:creationId xmlns:a16="http://schemas.microsoft.com/office/drawing/2014/main" id="{AB9B462B-76A4-44C2-8EEF-68482AE050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97161" y="4721438"/>
            <a:ext cx="414951" cy="340259"/>
          </a:xfrm>
          <a:prstGeom prst="rect">
            <a:avLst/>
          </a:prstGeom>
          <a:gradFill flip="none" rotWithShape="1">
            <a:gsLst>
              <a:gs pos="0">
                <a:schemeClr val="bg1"/>
              </a:gs>
              <a:gs pos="100000">
                <a:srgbClr val="94DAE2">
                  <a:alpha val="26000"/>
                </a:srgbClr>
              </a:gs>
            </a:gsLst>
            <a:lin ang="5400000" scaled="1"/>
            <a:tileRect/>
          </a:gradFill>
          <a:ln>
            <a:noFill/>
          </a:ln>
        </p:spPr>
      </p:pic>
      <p:pic>
        <p:nvPicPr>
          <p:cNvPr id="75" name="图片 63">
            <a:extLst>
              <a:ext uri="{FF2B5EF4-FFF2-40B4-BE49-F238E27FC236}">
                <a16:creationId xmlns:a16="http://schemas.microsoft.com/office/drawing/2014/main" id="{56F7A4A8-B383-47F9-909F-EB48336C41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346942" y="2312130"/>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76" name="图片 64">
            <a:extLst>
              <a:ext uri="{FF2B5EF4-FFF2-40B4-BE49-F238E27FC236}">
                <a16:creationId xmlns:a16="http://schemas.microsoft.com/office/drawing/2014/main" id="{CEB10B0A-0450-4B81-82B0-5BB9C89B28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346942" y="3022569"/>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77" name="图片 65">
            <a:extLst>
              <a:ext uri="{FF2B5EF4-FFF2-40B4-BE49-F238E27FC236}">
                <a16:creationId xmlns:a16="http://schemas.microsoft.com/office/drawing/2014/main" id="{21FE8DA1-5AED-494F-AF7B-355E43DEA3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726217" y="2312130"/>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78" name="图片 66">
            <a:extLst>
              <a:ext uri="{FF2B5EF4-FFF2-40B4-BE49-F238E27FC236}">
                <a16:creationId xmlns:a16="http://schemas.microsoft.com/office/drawing/2014/main" id="{F05447DA-7403-4AA0-A326-A489566C17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726217" y="3022569"/>
            <a:ext cx="273867" cy="224571"/>
          </a:xfrm>
          <a:prstGeom prst="rect">
            <a:avLst/>
          </a:prstGeom>
          <a:gradFill flip="none" rotWithShape="1">
            <a:gsLst>
              <a:gs pos="0">
                <a:schemeClr val="bg1"/>
              </a:gs>
              <a:gs pos="100000">
                <a:srgbClr val="94DAE2">
                  <a:alpha val="26000"/>
                </a:srgbClr>
              </a:gs>
            </a:gsLst>
            <a:lin ang="5400000" scaled="1"/>
            <a:tileRect/>
          </a:gradFill>
          <a:ln>
            <a:noFill/>
          </a:ln>
        </p:spPr>
      </p:pic>
      <p:cxnSp>
        <p:nvCxnSpPr>
          <p:cNvPr id="79" name="直接连接符 69">
            <a:extLst>
              <a:ext uri="{FF2B5EF4-FFF2-40B4-BE49-F238E27FC236}">
                <a16:creationId xmlns:a16="http://schemas.microsoft.com/office/drawing/2014/main" id="{66559365-0F62-4D71-BD6A-A7208C081DBB}"/>
              </a:ext>
            </a:extLst>
          </p:cNvPr>
          <p:cNvCxnSpPr>
            <a:cxnSpLocks/>
            <a:stCxn id="75" idx="3"/>
            <a:endCxn id="77" idx="1"/>
          </p:cNvCxnSpPr>
          <p:nvPr/>
        </p:nvCxnSpPr>
        <p:spPr bwMode="gray">
          <a:xfrm>
            <a:off x="1620810" y="2424415"/>
            <a:ext cx="1105408" cy="0"/>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cxnSp>
        <p:nvCxnSpPr>
          <p:cNvPr id="80" name="直接连接符 72">
            <a:extLst>
              <a:ext uri="{FF2B5EF4-FFF2-40B4-BE49-F238E27FC236}">
                <a16:creationId xmlns:a16="http://schemas.microsoft.com/office/drawing/2014/main" id="{B646DA1C-FA72-4BEF-AF43-BE01D1612E42}"/>
              </a:ext>
            </a:extLst>
          </p:cNvPr>
          <p:cNvCxnSpPr>
            <a:cxnSpLocks/>
            <a:stCxn id="75" idx="3"/>
            <a:endCxn id="78" idx="1"/>
          </p:cNvCxnSpPr>
          <p:nvPr/>
        </p:nvCxnSpPr>
        <p:spPr bwMode="gray">
          <a:xfrm>
            <a:off x="1620810" y="2424415"/>
            <a:ext cx="1105408" cy="710439"/>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cxnSp>
        <p:nvCxnSpPr>
          <p:cNvPr id="81" name="直接连接符 75">
            <a:extLst>
              <a:ext uri="{FF2B5EF4-FFF2-40B4-BE49-F238E27FC236}">
                <a16:creationId xmlns:a16="http://schemas.microsoft.com/office/drawing/2014/main" id="{E08EB850-1B46-4843-B97D-16EBDAE00A37}"/>
              </a:ext>
            </a:extLst>
          </p:cNvPr>
          <p:cNvCxnSpPr>
            <a:cxnSpLocks/>
            <a:stCxn id="76" idx="3"/>
            <a:endCxn id="77" idx="1"/>
          </p:cNvCxnSpPr>
          <p:nvPr/>
        </p:nvCxnSpPr>
        <p:spPr bwMode="gray">
          <a:xfrm flipV="1">
            <a:off x="1620810" y="2424415"/>
            <a:ext cx="1105408" cy="710439"/>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cxnSp>
        <p:nvCxnSpPr>
          <p:cNvPr id="82" name="直接连接符 78">
            <a:extLst>
              <a:ext uri="{FF2B5EF4-FFF2-40B4-BE49-F238E27FC236}">
                <a16:creationId xmlns:a16="http://schemas.microsoft.com/office/drawing/2014/main" id="{BB4CAE53-9B66-4A3C-99A4-A4995E26D670}"/>
              </a:ext>
            </a:extLst>
          </p:cNvPr>
          <p:cNvCxnSpPr>
            <a:cxnSpLocks/>
            <a:stCxn id="76" idx="3"/>
            <a:endCxn id="78" idx="1"/>
          </p:cNvCxnSpPr>
          <p:nvPr/>
        </p:nvCxnSpPr>
        <p:spPr bwMode="gray">
          <a:xfrm>
            <a:off x="1620810" y="3134855"/>
            <a:ext cx="1105408" cy="0"/>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sp>
        <p:nvSpPr>
          <p:cNvPr id="83" name="任意多边形 85">
            <a:extLst>
              <a:ext uri="{FF2B5EF4-FFF2-40B4-BE49-F238E27FC236}">
                <a16:creationId xmlns:a16="http://schemas.microsoft.com/office/drawing/2014/main" id="{2BA502A9-BE4A-4BFC-BB7E-7674DCEE4A41}"/>
              </a:ext>
            </a:extLst>
          </p:cNvPr>
          <p:cNvSpPr/>
          <p:nvPr/>
        </p:nvSpPr>
        <p:spPr bwMode="gray">
          <a:xfrm flipV="1">
            <a:off x="1697825" y="2539541"/>
            <a:ext cx="179573" cy="512599"/>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610722 w 926312"/>
              <a:gd name="connsiteY0" fmla="*/ 0 h 667428"/>
              <a:gd name="connsiteX1" fmla="*/ 926312 w 926312"/>
              <a:gd name="connsiteY1" fmla="*/ 667428 h 667428"/>
              <a:gd name="connsiteX0" fmla="*/ 0 w 315590"/>
              <a:gd name="connsiteY0" fmla="*/ 0 h 667428"/>
              <a:gd name="connsiteX1" fmla="*/ 315590 w 315590"/>
              <a:gd name="connsiteY1" fmla="*/ 667428 h 667428"/>
              <a:gd name="connsiteX0" fmla="*/ 206472 w 295963"/>
              <a:gd name="connsiteY0" fmla="*/ 0 h 631086"/>
              <a:gd name="connsiteX1" fmla="*/ 219629 w 295963"/>
              <a:gd name="connsiteY1" fmla="*/ 631086 h 631086"/>
              <a:gd name="connsiteX0" fmla="*/ 0 w 237291"/>
              <a:gd name="connsiteY0" fmla="*/ 0 h 631086"/>
              <a:gd name="connsiteX1" fmla="*/ 13157 w 237291"/>
              <a:gd name="connsiteY1" fmla="*/ 631086 h 631086"/>
              <a:gd name="connsiteX0" fmla="*/ 0 w 236114"/>
              <a:gd name="connsiteY0" fmla="*/ 0 h 599936"/>
              <a:gd name="connsiteX1" fmla="*/ 10357 w 236114"/>
              <a:gd name="connsiteY1" fmla="*/ 599936 h 599936"/>
              <a:gd name="connsiteX0" fmla="*/ 0 w 224372"/>
              <a:gd name="connsiteY0" fmla="*/ 0 h 599936"/>
              <a:gd name="connsiteX1" fmla="*/ 10357 w 224372"/>
              <a:gd name="connsiteY1" fmla="*/ 599936 h 599936"/>
              <a:gd name="connsiteX0" fmla="*/ 0 w 187373"/>
              <a:gd name="connsiteY0" fmla="*/ 0 h 599936"/>
              <a:gd name="connsiteX1" fmla="*/ 10357 w 187373"/>
              <a:gd name="connsiteY1" fmla="*/ 599936 h 599936"/>
            </a:gdLst>
            <a:ahLst/>
            <a:cxnLst>
              <a:cxn ang="0">
                <a:pos x="connsiteX0" y="connsiteY0"/>
              </a:cxn>
              <a:cxn ang="0">
                <a:pos x="connsiteX1" y="connsiteY1"/>
              </a:cxn>
            </a:cxnLst>
            <a:rect l="l" t="t" r="r" b="b"/>
            <a:pathLst>
              <a:path w="187373" h="599936">
                <a:moveTo>
                  <a:pt x="0" y="0"/>
                </a:moveTo>
                <a:cubicBezTo>
                  <a:pt x="294009" y="286999"/>
                  <a:pt x="198509" y="385366"/>
                  <a:pt x="10357" y="599936"/>
                </a:cubicBezTo>
              </a:path>
            </a:pathLst>
          </a:cu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 name="任意多边形 86">
            <a:extLst>
              <a:ext uri="{FF2B5EF4-FFF2-40B4-BE49-F238E27FC236}">
                <a16:creationId xmlns:a16="http://schemas.microsoft.com/office/drawing/2014/main" id="{A16AFCCA-BC76-4338-B48E-897BC1993BCB}"/>
              </a:ext>
            </a:extLst>
          </p:cNvPr>
          <p:cNvSpPr/>
          <p:nvPr/>
        </p:nvSpPr>
        <p:spPr bwMode="gray">
          <a:xfrm rot="10800000" flipV="1">
            <a:off x="2510772" y="2539541"/>
            <a:ext cx="179573" cy="512599"/>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610722 w 926312"/>
              <a:gd name="connsiteY0" fmla="*/ 0 h 667428"/>
              <a:gd name="connsiteX1" fmla="*/ 926312 w 926312"/>
              <a:gd name="connsiteY1" fmla="*/ 667428 h 667428"/>
              <a:gd name="connsiteX0" fmla="*/ 0 w 315590"/>
              <a:gd name="connsiteY0" fmla="*/ 0 h 667428"/>
              <a:gd name="connsiteX1" fmla="*/ 315590 w 315590"/>
              <a:gd name="connsiteY1" fmla="*/ 667428 h 667428"/>
              <a:gd name="connsiteX0" fmla="*/ 206472 w 295963"/>
              <a:gd name="connsiteY0" fmla="*/ 0 h 631086"/>
              <a:gd name="connsiteX1" fmla="*/ 219629 w 295963"/>
              <a:gd name="connsiteY1" fmla="*/ 631086 h 631086"/>
              <a:gd name="connsiteX0" fmla="*/ 0 w 237291"/>
              <a:gd name="connsiteY0" fmla="*/ 0 h 631086"/>
              <a:gd name="connsiteX1" fmla="*/ 13157 w 237291"/>
              <a:gd name="connsiteY1" fmla="*/ 631086 h 631086"/>
              <a:gd name="connsiteX0" fmla="*/ 0 w 236114"/>
              <a:gd name="connsiteY0" fmla="*/ 0 h 599936"/>
              <a:gd name="connsiteX1" fmla="*/ 10357 w 236114"/>
              <a:gd name="connsiteY1" fmla="*/ 599936 h 599936"/>
              <a:gd name="connsiteX0" fmla="*/ 0 w 224372"/>
              <a:gd name="connsiteY0" fmla="*/ 0 h 599936"/>
              <a:gd name="connsiteX1" fmla="*/ 10357 w 224372"/>
              <a:gd name="connsiteY1" fmla="*/ 599936 h 599936"/>
              <a:gd name="connsiteX0" fmla="*/ 0 w 187373"/>
              <a:gd name="connsiteY0" fmla="*/ 0 h 599936"/>
              <a:gd name="connsiteX1" fmla="*/ 10357 w 187373"/>
              <a:gd name="connsiteY1" fmla="*/ 599936 h 599936"/>
            </a:gdLst>
            <a:ahLst/>
            <a:cxnLst>
              <a:cxn ang="0">
                <a:pos x="connsiteX0" y="connsiteY0"/>
              </a:cxn>
              <a:cxn ang="0">
                <a:pos x="connsiteX1" y="connsiteY1"/>
              </a:cxn>
            </a:cxnLst>
            <a:rect l="l" t="t" r="r" b="b"/>
            <a:pathLst>
              <a:path w="187373" h="599936">
                <a:moveTo>
                  <a:pt x="0" y="0"/>
                </a:moveTo>
                <a:cubicBezTo>
                  <a:pt x="294009" y="286999"/>
                  <a:pt x="198509" y="385366"/>
                  <a:pt x="10357" y="599936"/>
                </a:cubicBezTo>
              </a:path>
            </a:pathLst>
          </a:cu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 name="文本框 87">
            <a:extLst>
              <a:ext uri="{FF2B5EF4-FFF2-40B4-BE49-F238E27FC236}">
                <a16:creationId xmlns:a16="http://schemas.microsoft.com/office/drawing/2014/main" id="{AFA03E18-1CAD-4B6D-8BF6-E925DD60EBF1}"/>
              </a:ext>
            </a:extLst>
          </p:cNvPr>
          <p:cNvSpPr txBox="1"/>
          <p:nvPr/>
        </p:nvSpPr>
        <p:spPr bwMode="gray">
          <a:xfrm>
            <a:off x="1785578" y="2007652"/>
            <a:ext cx="851193" cy="307777"/>
          </a:xfrm>
          <a:prstGeom prst="rect">
            <a:avLst/>
          </a:prstGeom>
          <a:noFill/>
        </p:spPr>
        <p:txBody>
          <a:bodyPr wrap="square" rtlCol="0" anchor="ctr" anchorCtr="0">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VPN1</a:t>
            </a:r>
            <a:endPar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 name="文本框 105">
            <a:extLst>
              <a:ext uri="{FF2B5EF4-FFF2-40B4-BE49-F238E27FC236}">
                <a16:creationId xmlns:a16="http://schemas.microsoft.com/office/drawing/2014/main" id="{A8967132-B540-4AA1-A817-1AC7CBB95809}"/>
              </a:ext>
            </a:extLst>
          </p:cNvPr>
          <p:cNvSpPr txBox="1"/>
          <p:nvPr/>
        </p:nvSpPr>
        <p:spPr bwMode="gray">
          <a:xfrm>
            <a:off x="1116990" y="3807242"/>
            <a:ext cx="814608" cy="260155"/>
          </a:xfrm>
          <a:prstGeom prst="rect">
            <a:avLst/>
          </a:prstGeom>
          <a:noFill/>
        </p:spPr>
        <p:txBody>
          <a:bodyPr wrap="square" rtlCol="0" anchor="ctr" anchorCtr="0">
            <a:spAutoFit/>
          </a:bodyPr>
          <a:lstStyle/>
          <a:p>
            <a:pPr algn="ctr"/>
            <a:r>
              <a:rPr lang="zh-CN" altLang="en-US" sz="1400" b="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总部</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endParaRPr lang="zh-CN" altLang="en-US" sz="1400" b="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 name="文本框 106">
            <a:extLst>
              <a:ext uri="{FF2B5EF4-FFF2-40B4-BE49-F238E27FC236}">
                <a16:creationId xmlns:a16="http://schemas.microsoft.com/office/drawing/2014/main" id="{F2C37818-99CD-47DA-A569-0C6FF35FD85C}"/>
              </a:ext>
            </a:extLst>
          </p:cNvPr>
          <p:cNvSpPr txBox="1"/>
          <p:nvPr/>
        </p:nvSpPr>
        <p:spPr bwMode="gray">
          <a:xfrm>
            <a:off x="1116990" y="4749414"/>
            <a:ext cx="814608" cy="260155"/>
          </a:xfrm>
          <a:prstGeom prst="rect">
            <a:avLst/>
          </a:prstGeom>
          <a:noFill/>
        </p:spPr>
        <p:txBody>
          <a:bodyPr wrap="square" rtlCol="0" anchor="ctr" anchorCtr="0">
            <a:spAutoFit/>
          </a:bodyPr>
          <a:lstStyle/>
          <a:p>
            <a:pPr algn="ctr"/>
            <a:r>
              <a:rPr lang="zh-CN" altLang="en-US"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 name="文本框 107">
            <a:extLst>
              <a:ext uri="{FF2B5EF4-FFF2-40B4-BE49-F238E27FC236}">
                <a16:creationId xmlns:a16="http://schemas.microsoft.com/office/drawing/2014/main" id="{42E039FD-B68C-495C-AC67-89B14D165689}"/>
              </a:ext>
            </a:extLst>
          </p:cNvPr>
          <p:cNvSpPr txBox="1"/>
          <p:nvPr/>
        </p:nvSpPr>
        <p:spPr bwMode="gray">
          <a:xfrm>
            <a:off x="4777049" y="3807242"/>
            <a:ext cx="814608" cy="260155"/>
          </a:xfrm>
          <a:prstGeom prst="rect">
            <a:avLst/>
          </a:prstGeom>
          <a:noFill/>
        </p:spPr>
        <p:txBody>
          <a:bodyPr wrap="square" rtlCol="0" anchor="ctr" anchorCtr="0">
            <a:spAutoFit/>
          </a:bodyPr>
          <a:lstStyle/>
          <a:p>
            <a:pPr algn="ctr"/>
            <a:r>
              <a:rPr lang="zh-CN" altLang="en-US"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9" name="文本框 108">
            <a:extLst>
              <a:ext uri="{FF2B5EF4-FFF2-40B4-BE49-F238E27FC236}">
                <a16:creationId xmlns:a16="http://schemas.microsoft.com/office/drawing/2014/main" id="{CC83F4F1-D15F-48D3-BC01-B45F8A32F5B0}"/>
              </a:ext>
            </a:extLst>
          </p:cNvPr>
          <p:cNvSpPr txBox="1"/>
          <p:nvPr/>
        </p:nvSpPr>
        <p:spPr bwMode="gray">
          <a:xfrm>
            <a:off x="4777050" y="4749414"/>
            <a:ext cx="814608" cy="260155"/>
          </a:xfrm>
          <a:prstGeom prst="rect">
            <a:avLst/>
          </a:prstGeom>
          <a:noFill/>
        </p:spPr>
        <p:txBody>
          <a:bodyPr wrap="square" rtlCol="0" anchor="ctr" anchorCtr="0">
            <a:spAutoFit/>
          </a:bodyPr>
          <a:lstStyle/>
          <a:p>
            <a:pPr algn="ctr"/>
            <a:r>
              <a:rPr lang="zh-CN" altLang="en-US" sz="1400" b="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endParaRPr lang="zh-CN" altLang="en-US" sz="1400" b="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90" name="图片 95">
            <a:extLst>
              <a:ext uri="{FF2B5EF4-FFF2-40B4-BE49-F238E27FC236}">
                <a16:creationId xmlns:a16="http://schemas.microsoft.com/office/drawing/2014/main" id="{7919EE45-100E-463A-9F36-112970ABCD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717246" y="2307485"/>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91" name="图片 97">
            <a:extLst>
              <a:ext uri="{FF2B5EF4-FFF2-40B4-BE49-F238E27FC236}">
                <a16:creationId xmlns:a16="http://schemas.microsoft.com/office/drawing/2014/main" id="{4F459144-B8B7-41E5-8726-5FBB70FA6D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717246" y="3017924"/>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92" name="图片 99">
            <a:extLst>
              <a:ext uri="{FF2B5EF4-FFF2-40B4-BE49-F238E27FC236}">
                <a16:creationId xmlns:a16="http://schemas.microsoft.com/office/drawing/2014/main" id="{824CB2FB-EF17-48D6-93BE-DDB12777B2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096521" y="2307485"/>
            <a:ext cx="273867" cy="224571"/>
          </a:xfrm>
          <a:prstGeom prst="rect">
            <a:avLst/>
          </a:prstGeom>
          <a:gradFill flip="none" rotWithShape="1">
            <a:gsLst>
              <a:gs pos="0">
                <a:schemeClr val="bg1"/>
              </a:gs>
              <a:gs pos="100000">
                <a:srgbClr val="94DAE2">
                  <a:alpha val="26000"/>
                </a:srgbClr>
              </a:gs>
            </a:gsLst>
            <a:lin ang="5400000" scaled="1"/>
            <a:tileRect/>
          </a:gradFill>
          <a:ln>
            <a:noFill/>
          </a:ln>
        </p:spPr>
      </p:pic>
      <p:pic>
        <p:nvPicPr>
          <p:cNvPr id="93" name="图片 100">
            <a:extLst>
              <a:ext uri="{FF2B5EF4-FFF2-40B4-BE49-F238E27FC236}">
                <a16:creationId xmlns:a16="http://schemas.microsoft.com/office/drawing/2014/main" id="{E4AEEC54-4638-4553-80F6-21C66230D3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096521" y="3017924"/>
            <a:ext cx="273867" cy="224571"/>
          </a:xfrm>
          <a:prstGeom prst="rect">
            <a:avLst/>
          </a:prstGeom>
          <a:gradFill flip="none" rotWithShape="1">
            <a:gsLst>
              <a:gs pos="0">
                <a:schemeClr val="bg1"/>
              </a:gs>
              <a:gs pos="100000">
                <a:srgbClr val="94DAE2">
                  <a:alpha val="26000"/>
                </a:srgbClr>
              </a:gs>
            </a:gsLst>
            <a:lin ang="5400000" scaled="1"/>
            <a:tileRect/>
          </a:gradFill>
          <a:ln>
            <a:noFill/>
          </a:ln>
        </p:spPr>
      </p:pic>
      <p:cxnSp>
        <p:nvCxnSpPr>
          <p:cNvPr id="94" name="直接连接符 101">
            <a:extLst>
              <a:ext uri="{FF2B5EF4-FFF2-40B4-BE49-F238E27FC236}">
                <a16:creationId xmlns:a16="http://schemas.microsoft.com/office/drawing/2014/main" id="{3CBE9542-C356-4554-A934-7D4E38135D24}"/>
              </a:ext>
            </a:extLst>
          </p:cNvPr>
          <p:cNvCxnSpPr>
            <a:cxnSpLocks/>
            <a:stCxn id="90" idx="3"/>
            <a:endCxn id="92" idx="1"/>
          </p:cNvCxnSpPr>
          <p:nvPr/>
        </p:nvCxnSpPr>
        <p:spPr bwMode="gray">
          <a:xfrm>
            <a:off x="3991114" y="2419771"/>
            <a:ext cx="1105408" cy="0"/>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cxnSp>
        <p:nvCxnSpPr>
          <p:cNvPr id="95" name="直接连接符 102">
            <a:extLst>
              <a:ext uri="{FF2B5EF4-FFF2-40B4-BE49-F238E27FC236}">
                <a16:creationId xmlns:a16="http://schemas.microsoft.com/office/drawing/2014/main" id="{C45C9B12-73B4-437B-91C0-F4007B3916D6}"/>
              </a:ext>
            </a:extLst>
          </p:cNvPr>
          <p:cNvCxnSpPr>
            <a:cxnSpLocks/>
            <a:stCxn id="90" idx="3"/>
            <a:endCxn id="93" idx="1"/>
          </p:cNvCxnSpPr>
          <p:nvPr/>
        </p:nvCxnSpPr>
        <p:spPr bwMode="gray">
          <a:xfrm>
            <a:off x="3991114" y="2419771"/>
            <a:ext cx="1105408" cy="710439"/>
          </a:xfrm>
          <a:prstGeom prst="line">
            <a:avLst/>
          </a:pr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sp>
        <p:nvSpPr>
          <p:cNvPr id="96" name="任意多边形 103">
            <a:extLst>
              <a:ext uri="{FF2B5EF4-FFF2-40B4-BE49-F238E27FC236}">
                <a16:creationId xmlns:a16="http://schemas.microsoft.com/office/drawing/2014/main" id="{9EB11F1C-A8EE-400E-84A9-9A8226181718}"/>
              </a:ext>
            </a:extLst>
          </p:cNvPr>
          <p:cNvSpPr/>
          <p:nvPr/>
        </p:nvSpPr>
        <p:spPr bwMode="gray">
          <a:xfrm flipV="1">
            <a:off x="4068129" y="2534896"/>
            <a:ext cx="179573" cy="512599"/>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610722 w 926312"/>
              <a:gd name="connsiteY0" fmla="*/ 0 h 667428"/>
              <a:gd name="connsiteX1" fmla="*/ 926312 w 926312"/>
              <a:gd name="connsiteY1" fmla="*/ 667428 h 667428"/>
              <a:gd name="connsiteX0" fmla="*/ 0 w 315590"/>
              <a:gd name="connsiteY0" fmla="*/ 0 h 667428"/>
              <a:gd name="connsiteX1" fmla="*/ 315590 w 315590"/>
              <a:gd name="connsiteY1" fmla="*/ 667428 h 667428"/>
              <a:gd name="connsiteX0" fmla="*/ 206472 w 295963"/>
              <a:gd name="connsiteY0" fmla="*/ 0 h 631086"/>
              <a:gd name="connsiteX1" fmla="*/ 219629 w 295963"/>
              <a:gd name="connsiteY1" fmla="*/ 631086 h 631086"/>
              <a:gd name="connsiteX0" fmla="*/ 0 w 237291"/>
              <a:gd name="connsiteY0" fmla="*/ 0 h 631086"/>
              <a:gd name="connsiteX1" fmla="*/ 13157 w 237291"/>
              <a:gd name="connsiteY1" fmla="*/ 631086 h 631086"/>
              <a:gd name="connsiteX0" fmla="*/ 0 w 236114"/>
              <a:gd name="connsiteY0" fmla="*/ 0 h 599936"/>
              <a:gd name="connsiteX1" fmla="*/ 10357 w 236114"/>
              <a:gd name="connsiteY1" fmla="*/ 599936 h 599936"/>
              <a:gd name="connsiteX0" fmla="*/ 0 w 224372"/>
              <a:gd name="connsiteY0" fmla="*/ 0 h 599936"/>
              <a:gd name="connsiteX1" fmla="*/ 10357 w 224372"/>
              <a:gd name="connsiteY1" fmla="*/ 599936 h 599936"/>
              <a:gd name="connsiteX0" fmla="*/ 0 w 187373"/>
              <a:gd name="connsiteY0" fmla="*/ 0 h 599936"/>
              <a:gd name="connsiteX1" fmla="*/ 10357 w 187373"/>
              <a:gd name="connsiteY1" fmla="*/ 599936 h 599936"/>
            </a:gdLst>
            <a:ahLst/>
            <a:cxnLst>
              <a:cxn ang="0">
                <a:pos x="connsiteX0" y="connsiteY0"/>
              </a:cxn>
              <a:cxn ang="0">
                <a:pos x="connsiteX1" y="connsiteY1"/>
              </a:cxn>
            </a:cxnLst>
            <a:rect l="l" t="t" r="r" b="b"/>
            <a:pathLst>
              <a:path w="187373" h="599936">
                <a:moveTo>
                  <a:pt x="0" y="0"/>
                </a:moveTo>
                <a:cubicBezTo>
                  <a:pt x="294009" y="286999"/>
                  <a:pt x="198509" y="385366"/>
                  <a:pt x="10357" y="599936"/>
                </a:cubicBezTo>
              </a:path>
            </a:pathLst>
          </a:custGeom>
          <a:noFill/>
          <a:ln w="38100">
            <a:solidFill>
              <a:srgbClr val="EC7061">
                <a:alpha val="50000"/>
              </a:srgbClr>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7" name="文本框 104">
            <a:extLst>
              <a:ext uri="{FF2B5EF4-FFF2-40B4-BE49-F238E27FC236}">
                <a16:creationId xmlns:a16="http://schemas.microsoft.com/office/drawing/2014/main" id="{487D8C48-1913-442C-B0F4-A362E2D12D12}"/>
              </a:ext>
            </a:extLst>
          </p:cNvPr>
          <p:cNvSpPr txBox="1"/>
          <p:nvPr/>
        </p:nvSpPr>
        <p:spPr bwMode="gray">
          <a:xfrm>
            <a:off x="4155882" y="2003007"/>
            <a:ext cx="851193" cy="307777"/>
          </a:xfrm>
          <a:prstGeom prst="rect">
            <a:avLst/>
          </a:prstGeom>
          <a:noFill/>
        </p:spPr>
        <p:txBody>
          <a:bodyPr wrap="square" rtlCol="0" anchor="ctr" anchorCtr="0">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VPN2</a:t>
            </a:r>
            <a:endPar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8" name="Freeform 159">
            <a:extLst>
              <a:ext uri="{FF2B5EF4-FFF2-40B4-BE49-F238E27FC236}">
                <a16:creationId xmlns:a16="http://schemas.microsoft.com/office/drawing/2014/main" id="{33E7AD98-E3EB-4210-BDE6-A5AF180DE70F}"/>
              </a:ext>
            </a:extLst>
          </p:cNvPr>
          <p:cNvSpPr/>
          <p:nvPr/>
        </p:nvSpPr>
        <p:spPr bwMode="gray">
          <a:xfrm flipH="1">
            <a:off x="2895966" y="3718404"/>
            <a:ext cx="860500" cy="44980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99" name="Freeform 159">
            <a:extLst>
              <a:ext uri="{FF2B5EF4-FFF2-40B4-BE49-F238E27FC236}">
                <a16:creationId xmlns:a16="http://schemas.microsoft.com/office/drawing/2014/main" id="{746BDC9C-C2E0-4630-88C6-15DD28066E73}"/>
              </a:ext>
            </a:extLst>
          </p:cNvPr>
          <p:cNvSpPr/>
          <p:nvPr/>
        </p:nvSpPr>
        <p:spPr bwMode="gray">
          <a:xfrm flipH="1">
            <a:off x="2928984" y="4509563"/>
            <a:ext cx="860500" cy="44980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sp>
        <p:nvSpPr>
          <p:cNvPr id="53" name="五边形 2">
            <a:extLst>
              <a:ext uri="{FF2B5EF4-FFF2-40B4-BE49-F238E27FC236}">
                <a16:creationId xmlns:a16="http://schemas.microsoft.com/office/drawing/2014/main" id="{2EA9661A-503D-4CEC-9BC1-BCBCD5884128}"/>
              </a:ext>
            </a:extLst>
          </p:cNvPr>
          <p:cNvSpPr/>
          <p:nvPr/>
        </p:nvSpPr>
        <p:spPr bwMode="gray">
          <a:xfrm>
            <a:off x="8649811" y="120048"/>
            <a:ext cx="91226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54" name="燕尾形 3">
            <a:extLst>
              <a:ext uri="{FF2B5EF4-FFF2-40B4-BE49-F238E27FC236}">
                <a16:creationId xmlns:a16="http://schemas.microsoft.com/office/drawing/2014/main" id="{3BCBBB1C-AB3F-4936-A520-18BB616BCEFB}"/>
              </a:ext>
            </a:extLst>
          </p:cNvPr>
          <p:cNvSpPr/>
          <p:nvPr/>
        </p:nvSpPr>
        <p:spPr bwMode="gray">
          <a:xfrm>
            <a:off x="10437493" y="120048"/>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3">
            <a:extLst>
              <a:ext uri="{FF2B5EF4-FFF2-40B4-BE49-F238E27FC236}">
                <a16:creationId xmlns:a16="http://schemas.microsoft.com/office/drawing/2014/main" id="{9AE9F0F1-2BD6-4C30-9BFC-93EE91621455}"/>
              </a:ext>
            </a:extLst>
          </p:cNvPr>
          <p:cNvSpPr/>
          <p:nvPr/>
        </p:nvSpPr>
        <p:spPr bwMode="gray">
          <a:xfrm>
            <a:off x="9481630" y="120048"/>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拓扑设计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762042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dirty="0"/>
              <a:t>VPN</a:t>
            </a:r>
            <a:r>
              <a:rPr lang="zh-CN" altLang="en-US" dirty="0"/>
              <a:t>规划设计</a:t>
            </a:r>
          </a:p>
        </p:txBody>
      </p:sp>
      <p:sp>
        <p:nvSpPr>
          <p:cNvPr id="2" name="Text Placeholder 1">
            <a:extLst>
              <a:ext uri="{FF2B5EF4-FFF2-40B4-BE49-F238E27FC236}">
                <a16:creationId xmlns:a16="http://schemas.microsoft.com/office/drawing/2014/main" id="{168EA77A-E0AE-4FE2-BBDB-0410BE4F7829}"/>
              </a:ext>
            </a:extLst>
          </p:cNvPr>
          <p:cNvSpPr>
            <a:spLocks noGrp="1"/>
          </p:cNvSpPr>
          <p:nvPr>
            <p:ph type="body" sz="quarter" idx="10"/>
          </p:nvPr>
        </p:nvSpPr>
        <p:spPr bwMode="gray">
          <a:xfrm>
            <a:off x="6096000" y="1052513"/>
            <a:ext cx="5653088" cy="4875042"/>
          </a:xfrm>
        </p:spPr>
        <p:txBody>
          <a:bodyPr/>
          <a:lstStyle/>
          <a:p>
            <a:r>
              <a:rPr lang="en-US" altLang="zh-CN" sz="1800" dirty="0"/>
              <a:t>VPN</a:t>
            </a:r>
            <a:r>
              <a:rPr lang="zh-CN" altLang="en-US" sz="1800" dirty="0"/>
              <a:t>规划建议：</a:t>
            </a:r>
            <a:endParaRPr lang="en-US" altLang="zh-CN" sz="1800" dirty="0"/>
          </a:p>
          <a:p>
            <a:pPr lvl="1"/>
            <a:r>
              <a:rPr lang="zh-CN" altLang="en-US" sz="1600" dirty="0"/>
              <a:t>根据用户的业务隔离诉求，规划需要划分的部门数量，例如：研发部，财经部，市场部等。</a:t>
            </a:r>
          </a:p>
          <a:p>
            <a:pPr lvl="1"/>
            <a:r>
              <a:rPr lang="zh-CN" altLang="en-US" sz="1600" dirty="0"/>
              <a:t>规划不同部门所需的</a:t>
            </a:r>
            <a:r>
              <a:rPr lang="en-US" altLang="zh-CN" sz="1600" dirty="0"/>
              <a:t>LAN</a:t>
            </a:r>
            <a:r>
              <a:rPr lang="zh-CN" altLang="en-US" sz="1600" dirty="0"/>
              <a:t>侧物理接口、</a:t>
            </a:r>
            <a:r>
              <a:rPr lang="en-US" altLang="zh-CN" sz="1600" dirty="0"/>
              <a:t>VLAN</a:t>
            </a:r>
            <a:r>
              <a:rPr lang="zh-CN" altLang="en-US" sz="1600" dirty="0"/>
              <a:t>。可以一个部门拥有独立的</a:t>
            </a:r>
            <a:r>
              <a:rPr lang="en-US" altLang="zh-CN" sz="1600" dirty="0"/>
              <a:t>LAN</a:t>
            </a:r>
            <a:r>
              <a:rPr lang="zh-CN" altLang="en-US" sz="1600" dirty="0"/>
              <a:t>侧物理接口，也可以所有部门共用一个物理接口，通过</a:t>
            </a:r>
            <a:r>
              <a:rPr lang="en-US" altLang="zh-CN" sz="1600" dirty="0"/>
              <a:t>VLAN</a:t>
            </a:r>
            <a:r>
              <a:rPr lang="zh-CN" altLang="en-US" sz="1600" dirty="0"/>
              <a:t>隔离。</a:t>
            </a:r>
            <a:endParaRPr lang="en-US" altLang="zh-CN" sz="1600" dirty="0"/>
          </a:p>
          <a:p>
            <a:pPr lvl="1"/>
            <a:r>
              <a:rPr lang="zh-CN" altLang="en-US" sz="1600" dirty="0"/>
              <a:t>规划不同部门初始的相关策略配置，包括：选路策略、访问</a:t>
            </a:r>
            <a:r>
              <a:rPr lang="en-US" altLang="zh-CN" sz="1600" dirty="0"/>
              <a:t>Internet</a:t>
            </a:r>
            <a:r>
              <a:rPr lang="zh-CN" altLang="en-US" sz="1600" dirty="0"/>
              <a:t>策略、</a:t>
            </a:r>
            <a:r>
              <a:rPr lang="en-US" altLang="zh-CN" sz="1600" dirty="0"/>
              <a:t>QoS</a:t>
            </a:r>
            <a:r>
              <a:rPr lang="zh-CN" altLang="en-US" sz="1600" dirty="0"/>
              <a:t>策略、与传统网络互访策略以及</a:t>
            </a:r>
            <a:r>
              <a:rPr lang="en-US" altLang="zh-CN" sz="1600" dirty="0"/>
              <a:t>URL/IPS/FW</a:t>
            </a:r>
            <a:r>
              <a:rPr lang="zh-CN" altLang="en-US" sz="1600" dirty="0"/>
              <a:t>策略等等。</a:t>
            </a:r>
            <a:endParaRPr lang="en-US" sz="1600" dirty="0"/>
          </a:p>
        </p:txBody>
      </p:sp>
      <p:grpSp>
        <p:nvGrpSpPr>
          <p:cNvPr id="13" name="Group 12">
            <a:extLst>
              <a:ext uri="{FF2B5EF4-FFF2-40B4-BE49-F238E27FC236}">
                <a16:creationId xmlns:a16="http://schemas.microsoft.com/office/drawing/2014/main" id="{227CFA3F-CB67-441A-AF19-01879A7DC599}"/>
              </a:ext>
            </a:extLst>
          </p:cNvPr>
          <p:cNvGrpSpPr/>
          <p:nvPr/>
        </p:nvGrpSpPr>
        <p:grpSpPr bwMode="gray">
          <a:xfrm>
            <a:off x="578715" y="1591698"/>
            <a:ext cx="5469848" cy="3950257"/>
            <a:chOff x="578715" y="1591698"/>
            <a:chExt cx="5469848" cy="3950257"/>
          </a:xfrm>
        </p:grpSpPr>
        <p:sp>
          <p:nvSpPr>
            <p:cNvPr id="115" name="Rectangle: Rounded Corners 114">
              <a:extLst>
                <a:ext uri="{FF2B5EF4-FFF2-40B4-BE49-F238E27FC236}">
                  <a16:creationId xmlns:a16="http://schemas.microsoft.com/office/drawing/2014/main" id="{1E2EF24C-93BB-47BA-8C10-6BAAB2355F1D}"/>
                </a:ext>
              </a:extLst>
            </p:cNvPr>
            <p:cNvSpPr/>
            <p:nvPr/>
          </p:nvSpPr>
          <p:spPr bwMode="gray">
            <a:xfrm>
              <a:off x="835532" y="2204770"/>
              <a:ext cx="4793743" cy="2864516"/>
            </a:xfrm>
            <a:prstGeom prst="roundRect">
              <a:avLst>
                <a:gd name="adj" fmla="val 1660"/>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400" dirty="0">
                <a:solidFill>
                  <a:schemeClr val="tx1"/>
                </a:solidFill>
              </a:endParaRPr>
            </a:p>
          </p:txBody>
        </p:sp>
        <p:sp>
          <p:nvSpPr>
            <p:cNvPr id="113" name="Cylinder 112">
              <a:extLst>
                <a:ext uri="{FF2B5EF4-FFF2-40B4-BE49-F238E27FC236}">
                  <a16:creationId xmlns:a16="http://schemas.microsoft.com/office/drawing/2014/main" id="{175131CC-BE81-4881-BDF9-12E25E6F96C3}"/>
                </a:ext>
              </a:extLst>
            </p:cNvPr>
            <p:cNvSpPr/>
            <p:nvPr/>
          </p:nvSpPr>
          <p:spPr bwMode="gray">
            <a:xfrm>
              <a:off x="1798492" y="1959881"/>
              <a:ext cx="2723387" cy="489778"/>
            </a:xfrm>
            <a:prstGeom prst="can">
              <a:avLst/>
            </a:prstGeom>
            <a:solidFill>
              <a:srgbClr val="94DAE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Rounded Corners 55">
              <a:extLst>
                <a:ext uri="{FF2B5EF4-FFF2-40B4-BE49-F238E27FC236}">
                  <a16:creationId xmlns:a16="http://schemas.microsoft.com/office/drawing/2014/main" id="{B81389DF-9DC0-439D-859B-F90D8EA5C004}"/>
                </a:ext>
              </a:extLst>
            </p:cNvPr>
            <p:cNvSpPr/>
            <p:nvPr/>
          </p:nvSpPr>
          <p:spPr bwMode="gray">
            <a:xfrm>
              <a:off x="1131811" y="2870062"/>
              <a:ext cx="1857375" cy="1814161"/>
            </a:xfrm>
            <a:prstGeom prst="roundRect">
              <a:avLst>
                <a:gd name="adj" fmla="val 4012"/>
              </a:avLst>
            </a:prstGeom>
            <a:no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4000" dirty="0">
                  <a:solidFill>
                    <a:sysClr val="windowText" lastClr="000000"/>
                  </a:solidFill>
                </a:rPr>
                <a:t>…</a:t>
              </a:r>
            </a:p>
          </p:txBody>
        </p:sp>
        <p:sp>
          <p:nvSpPr>
            <p:cNvPr id="59" name="Rectangle: Rounded Corners 58">
              <a:extLst>
                <a:ext uri="{FF2B5EF4-FFF2-40B4-BE49-F238E27FC236}">
                  <a16:creationId xmlns:a16="http://schemas.microsoft.com/office/drawing/2014/main" id="{7DE578B2-5322-428A-AFE0-CE617E8A5D04}"/>
                </a:ext>
              </a:extLst>
            </p:cNvPr>
            <p:cNvSpPr/>
            <p:nvPr/>
          </p:nvSpPr>
          <p:spPr bwMode="gray">
            <a:xfrm>
              <a:off x="1216760" y="2610133"/>
              <a:ext cx="640351" cy="259930"/>
            </a:xfrm>
            <a:prstGeom prst="roundRect">
              <a:avLst>
                <a:gd name="adj" fmla="val 4012"/>
              </a:avLst>
            </a:prstGeom>
            <a:solidFill>
              <a:srgbClr val="56C4D2"/>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VPN1</a:t>
              </a:r>
            </a:p>
          </p:txBody>
        </p:sp>
        <p:sp>
          <p:nvSpPr>
            <p:cNvPr id="63" name="Rectangle: Rounded Corners 62">
              <a:extLst>
                <a:ext uri="{FF2B5EF4-FFF2-40B4-BE49-F238E27FC236}">
                  <a16:creationId xmlns:a16="http://schemas.microsoft.com/office/drawing/2014/main" id="{42B8661D-7C4A-4E8E-A872-4F20876E0B13}"/>
                </a:ext>
              </a:extLst>
            </p:cNvPr>
            <p:cNvSpPr/>
            <p:nvPr/>
          </p:nvSpPr>
          <p:spPr bwMode="gray">
            <a:xfrm>
              <a:off x="1488866" y="3013487"/>
              <a:ext cx="1114519" cy="347311"/>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选路策略</a:t>
              </a:r>
              <a:endParaRPr lang="en-US" sz="1400" dirty="0">
                <a:solidFill>
                  <a:schemeClr val="tx1"/>
                </a:solidFill>
              </a:endParaRPr>
            </a:p>
          </p:txBody>
        </p:sp>
        <p:sp>
          <p:nvSpPr>
            <p:cNvPr id="66" name="Rectangle: Rounded Corners 65">
              <a:extLst>
                <a:ext uri="{FF2B5EF4-FFF2-40B4-BE49-F238E27FC236}">
                  <a16:creationId xmlns:a16="http://schemas.microsoft.com/office/drawing/2014/main" id="{1E722CF4-B56C-4E49-B9D7-CE6E19917AE6}"/>
                </a:ext>
              </a:extLst>
            </p:cNvPr>
            <p:cNvSpPr/>
            <p:nvPr/>
          </p:nvSpPr>
          <p:spPr bwMode="gray">
            <a:xfrm>
              <a:off x="1488866" y="3456597"/>
              <a:ext cx="1114519" cy="347311"/>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QoS</a:t>
              </a:r>
              <a:r>
                <a:rPr lang="zh-CN" altLang="en-US" sz="1400" dirty="0">
                  <a:solidFill>
                    <a:schemeClr val="tx1"/>
                  </a:solidFill>
                </a:rPr>
                <a:t>策略</a:t>
              </a:r>
              <a:endParaRPr lang="en-US" sz="1400" dirty="0">
                <a:solidFill>
                  <a:schemeClr val="tx1"/>
                </a:solidFill>
              </a:endParaRPr>
            </a:p>
          </p:txBody>
        </p:sp>
        <p:sp>
          <p:nvSpPr>
            <p:cNvPr id="70" name="Rectangle: Rounded Corners 69">
              <a:extLst>
                <a:ext uri="{FF2B5EF4-FFF2-40B4-BE49-F238E27FC236}">
                  <a16:creationId xmlns:a16="http://schemas.microsoft.com/office/drawing/2014/main" id="{CEB68028-A8CF-4F0B-AB37-705462636CA4}"/>
                </a:ext>
              </a:extLst>
            </p:cNvPr>
            <p:cNvSpPr/>
            <p:nvPr/>
          </p:nvSpPr>
          <p:spPr bwMode="gray">
            <a:xfrm>
              <a:off x="1493667" y="3901122"/>
              <a:ext cx="1114519" cy="347311"/>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安全策略</a:t>
              </a:r>
              <a:endParaRPr lang="en-US" sz="1400" dirty="0">
                <a:solidFill>
                  <a:schemeClr val="tx1"/>
                </a:solidFill>
              </a:endParaRPr>
            </a:p>
          </p:txBody>
        </p:sp>
        <p:sp>
          <p:nvSpPr>
            <p:cNvPr id="71" name="Rectangle: Rounded Corners 70">
              <a:extLst>
                <a:ext uri="{FF2B5EF4-FFF2-40B4-BE49-F238E27FC236}">
                  <a16:creationId xmlns:a16="http://schemas.microsoft.com/office/drawing/2014/main" id="{47166DE1-5D62-44D7-8837-B89276FA2827}"/>
                </a:ext>
              </a:extLst>
            </p:cNvPr>
            <p:cNvSpPr/>
            <p:nvPr/>
          </p:nvSpPr>
          <p:spPr bwMode="gray">
            <a:xfrm>
              <a:off x="3436861" y="2870062"/>
              <a:ext cx="1857375" cy="1814161"/>
            </a:xfrm>
            <a:prstGeom prst="roundRect">
              <a:avLst>
                <a:gd name="adj" fmla="val 4012"/>
              </a:avLst>
            </a:prstGeom>
            <a:no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4000" dirty="0">
                  <a:solidFill>
                    <a:sysClr val="windowText" lastClr="000000"/>
                  </a:solidFill>
                </a:rPr>
                <a:t>…</a:t>
              </a:r>
            </a:p>
          </p:txBody>
        </p:sp>
        <p:sp>
          <p:nvSpPr>
            <p:cNvPr id="98" name="Rectangle: Rounded Corners 97">
              <a:extLst>
                <a:ext uri="{FF2B5EF4-FFF2-40B4-BE49-F238E27FC236}">
                  <a16:creationId xmlns:a16="http://schemas.microsoft.com/office/drawing/2014/main" id="{5BE49FE2-6E3D-4FA9-809A-1963425FCD9F}"/>
                </a:ext>
              </a:extLst>
            </p:cNvPr>
            <p:cNvSpPr/>
            <p:nvPr/>
          </p:nvSpPr>
          <p:spPr bwMode="gray">
            <a:xfrm>
              <a:off x="3506611" y="2597691"/>
              <a:ext cx="640351" cy="259930"/>
            </a:xfrm>
            <a:prstGeom prst="roundRect">
              <a:avLst>
                <a:gd name="adj" fmla="val 4012"/>
              </a:avLst>
            </a:prstGeom>
            <a:solidFill>
              <a:srgbClr val="56C4D2"/>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VPN2</a:t>
              </a:r>
            </a:p>
          </p:txBody>
        </p:sp>
        <p:sp>
          <p:nvSpPr>
            <p:cNvPr id="99" name="Rectangle: Rounded Corners 98">
              <a:extLst>
                <a:ext uri="{FF2B5EF4-FFF2-40B4-BE49-F238E27FC236}">
                  <a16:creationId xmlns:a16="http://schemas.microsoft.com/office/drawing/2014/main" id="{43F9CE7B-DABF-4CF6-BDD7-A157B8ABC2EC}"/>
                </a:ext>
              </a:extLst>
            </p:cNvPr>
            <p:cNvSpPr/>
            <p:nvPr/>
          </p:nvSpPr>
          <p:spPr bwMode="gray">
            <a:xfrm>
              <a:off x="3803441" y="3013487"/>
              <a:ext cx="1114519" cy="347311"/>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选路策略</a:t>
              </a:r>
              <a:endParaRPr lang="en-US" sz="1400" dirty="0">
                <a:solidFill>
                  <a:schemeClr val="tx1"/>
                </a:solidFill>
              </a:endParaRPr>
            </a:p>
          </p:txBody>
        </p:sp>
        <p:sp>
          <p:nvSpPr>
            <p:cNvPr id="100" name="Rectangle: Rounded Corners 99">
              <a:extLst>
                <a:ext uri="{FF2B5EF4-FFF2-40B4-BE49-F238E27FC236}">
                  <a16:creationId xmlns:a16="http://schemas.microsoft.com/office/drawing/2014/main" id="{CE53B45F-06C2-4038-BCDE-3F473BD284F1}"/>
                </a:ext>
              </a:extLst>
            </p:cNvPr>
            <p:cNvSpPr/>
            <p:nvPr/>
          </p:nvSpPr>
          <p:spPr bwMode="gray">
            <a:xfrm>
              <a:off x="3803441" y="3456597"/>
              <a:ext cx="1114519" cy="347311"/>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QoS</a:t>
              </a:r>
              <a:r>
                <a:rPr lang="zh-CN" altLang="en-US" sz="1400" dirty="0">
                  <a:solidFill>
                    <a:schemeClr val="tx1"/>
                  </a:solidFill>
                </a:rPr>
                <a:t>策略</a:t>
              </a:r>
              <a:endParaRPr lang="en-US" sz="1400" dirty="0">
                <a:solidFill>
                  <a:schemeClr val="tx1"/>
                </a:solidFill>
              </a:endParaRPr>
            </a:p>
          </p:txBody>
        </p:sp>
        <p:sp>
          <p:nvSpPr>
            <p:cNvPr id="101" name="Rectangle: Rounded Corners 100">
              <a:extLst>
                <a:ext uri="{FF2B5EF4-FFF2-40B4-BE49-F238E27FC236}">
                  <a16:creationId xmlns:a16="http://schemas.microsoft.com/office/drawing/2014/main" id="{FBDD7C3F-D91E-4FBC-929D-2600C0476D7D}"/>
                </a:ext>
              </a:extLst>
            </p:cNvPr>
            <p:cNvSpPr/>
            <p:nvPr/>
          </p:nvSpPr>
          <p:spPr bwMode="gray">
            <a:xfrm>
              <a:off x="3808242" y="3901122"/>
              <a:ext cx="1114519" cy="347311"/>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安全策略</a:t>
              </a:r>
              <a:endParaRPr lang="en-US" sz="1400" dirty="0">
                <a:solidFill>
                  <a:schemeClr val="tx1"/>
                </a:solidFill>
              </a:endParaRPr>
            </a:p>
          </p:txBody>
        </p:sp>
        <p:sp>
          <p:nvSpPr>
            <p:cNvPr id="102" name="Rectangle: Rounded Corners 101">
              <a:extLst>
                <a:ext uri="{FF2B5EF4-FFF2-40B4-BE49-F238E27FC236}">
                  <a16:creationId xmlns:a16="http://schemas.microsoft.com/office/drawing/2014/main" id="{574AA9A4-FE90-4CD0-8C8B-3DCD3AEE0ABE}"/>
                </a:ext>
              </a:extLst>
            </p:cNvPr>
            <p:cNvSpPr/>
            <p:nvPr/>
          </p:nvSpPr>
          <p:spPr bwMode="gray">
            <a:xfrm>
              <a:off x="2172119" y="2610133"/>
              <a:ext cx="737021" cy="259930"/>
            </a:xfrm>
            <a:prstGeom prst="roundRect">
              <a:avLst>
                <a:gd name="adj" fmla="val 4012"/>
              </a:avLst>
            </a:prstGeom>
            <a:solidFill>
              <a:srgbClr val="AFD89C"/>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研发部</a:t>
              </a:r>
              <a:endParaRPr lang="en-US" sz="1200" dirty="0"/>
            </a:p>
          </p:txBody>
        </p:sp>
        <p:sp>
          <p:nvSpPr>
            <p:cNvPr id="103" name="Rectangle: Rounded Corners 102">
              <a:extLst>
                <a:ext uri="{FF2B5EF4-FFF2-40B4-BE49-F238E27FC236}">
                  <a16:creationId xmlns:a16="http://schemas.microsoft.com/office/drawing/2014/main" id="{25597ECB-0E49-42D5-8D1F-7B6A6E34F961}"/>
                </a:ext>
              </a:extLst>
            </p:cNvPr>
            <p:cNvSpPr/>
            <p:nvPr/>
          </p:nvSpPr>
          <p:spPr bwMode="gray">
            <a:xfrm>
              <a:off x="4509254" y="2610131"/>
              <a:ext cx="737021" cy="259930"/>
            </a:xfrm>
            <a:prstGeom prst="roundRect">
              <a:avLst>
                <a:gd name="adj" fmla="val 4012"/>
              </a:avLst>
            </a:prstGeom>
            <a:solidFill>
              <a:srgbClr val="AFD89C"/>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财务部</a:t>
              </a:r>
              <a:endParaRPr lang="en-US" sz="1200" dirty="0"/>
            </a:p>
          </p:txBody>
        </p:sp>
        <p:sp>
          <p:nvSpPr>
            <p:cNvPr id="6" name="Cylinder 5">
              <a:extLst>
                <a:ext uri="{FF2B5EF4-FFF2-40B4-BE49-F238E27FC236}">
                  <a16:creationId xmlns:a16="http://schemas.microsoft.com/office/drawing/2014/main" id="{B30666C8-51F3-4AAA-9414-24947FAAB3D7}"/>
                </a:ext>
              </a:extLst>
            </p:cNvPr>
            <p:cNvSpPr/>
            <p:nvPr/>
          </p:nvSpPr>
          <p:spPr bwMode="gray">
            <a:xfrm>
              <a:off x="2627330" y="4854933"/>
              <a:ext cx="361856" cy="489778"/>
            </a:xfrm>
            <a:prstGeom prst="can">
              <a:avLst/>
            </a:prstGeom>
            <a:solidFill>
              <a:srgbClr val="94DAE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Cylinder 103">
              <a:extLst>
                <a:ext uri="{FF2B5EF4-FFF2-40B4-BE49-F238E27FC236}">
                  <a16:creationId xmlns:a16="http://schemas.microsoft.com/office/drawing/2014/main" id="{1443FCA2-F4E2-4EA5-8EA5-A0682D36DD01}"/>
                </a:ext>
              </a:extLst>
            </p:cNvPr>
            <p:cNvSpPr/>
            <p:nvPr/>
          </p:nvSpPr>
          <p:spPr bwMode="gray">
            <a:xfrm>
              <a:off x="3439795" y="4854932"/>
              <a:ext cx="361856" cy="489778"/>
            </a:xfrm>
            <a:prstGeom prst="can">
              <a:avLst/>
            </a:prstGeom>
            <a:solidFill>
              <a:srgbClr val="94DAE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Cylinder 104">
              <a:extLst>
                <a:ext uri="{FF2B5EF4-FFF2-40B4-BE49-F238E27FC236}">
                  <a16:creationId xmlns:a16="http://schemas.microsoft.com/office/drawing/2014/main" id="{EA972583-FD36-435B-AE82-DE6D0C29D592}"/>
                </a:ext>
              </a:extLst>
            </p:cNvPr>
            <p:cNvSpPr/>
            <p:nvPr/>
          </p:nvSpPr>
          <p:spPr bwMode="gray">
            <a:xfrm>
              <a:off x="4483058" y="4806276"/>
              <a:ext cx="550472" cy="614634"/>
            </a:xfrm>
            <a:prstGeom prst="can">
              <a:avLst/>
            </a:prstGeom>
            <a:solidFill>
              <a:srgbClr val="DDDDDD">
                <a:alpha val="20000"/>
              </a:srgbClr>
            </a:solidFill>
            <a:ln>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Cylinder 105">
              <a:extLst>
                <a:ext uri="{FF2B5EF4-FFF2-40B4-BE49-F238E27FC236}">
                  <a16:creationId xmlns:a16="http://schemas.microsoft.com/office/drawing/2014/main" id="{873DD6A4-4C0B-40EE-85DD-22EE1232A912}"/>
                </a:ext>
              </a:extLst>
            </p:cNvPr>
            <p:cNvSpPr/>
            <p:nvPr/>
          </p:nvSpPr>
          <p:spPr bwMode="gray">
            <a:xfrm>
              <a:off x="1386168" y="4806276"/>
              <a:ext cx="550472" cy="614634"/>
            </a:xfrm>
            <a:prstGeom prst="can">
              <a:avLst/>
            </a:prstGeom>
            <a:solidFill>
              <a:srgbClr val="DDDDDD">
                <a:alpha val="20000"/>
              </a:srgbClr>
            </a:solidFill>
            <a:ln>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A72EB99C-4590-4680-BAC8-8B1EE402BFE9}"/>
                </a:ext>
              </a:extLst>
            </p:cNvPr>
            <p:cNvSpPr/>
            <p:nvPr/>
          </p:nvSpPr>
          <p:spPr bwMode="gray">
            <a:xfrm>
              <a:off x="2070216" y="2217213"/>
              <a:ext cx="738042" cy="3312299"/>
            </a:xfrm>
            <a:custGeom>
              <a:avLst/>
              <a:gdLst>
                <a:gd name="connsiteX0" fmla="*/ 685800 w 738042"/>
                <a:gd name="connsiteY0" fmla="*/ 3171825 h 3171825"/>
                <a:gd name="connsiteX1" fmla="*/ 685800 w 738042"/>
                <a:gd name="connsiteY1" fmla="*/ 2000250 h 3171825"/>
                <a:gd name="connsiteX2" fmla="*/ 142875 w 738042"/>
                <a:gd name="connsiteY2" fmla="*/ 1562100 h 3171825"/>
                <a:gd name="connsiteX3" fmla="*/ 0 w 738042"/>
                <a:gd name="connsiteY3" fmla="*/ 0 h 3171825"/>
              </a:gdLst>
              <a:ahLst/>
              <a:cxnLst>
                <a:cxn ang="0">
                  <a:pos x="connsiteX0" y="connsiteY0"/>
                </a:cxn>
                <a:cxn ang="0">
                  <a:pos x="connsiteX1" y="connsiteY1"/>
                </a:cxn>
                <a:cxn ang="0">
                  <a:pos x="connsiteX2" y="connsiteY2"/>
                </a:cxn>
                <a:cxn ang="0">
                  <a:pos x="connsiteX3" y="connsiteY3"/>
                </a:cxn>
              </a:cxnLst>
              <a:rect l="l" t="t" r="r" b="b"/>
              <a:pathLst>
                <a:path w="738042" h="3171825">
                  <a:moveTo>
                    <a:pt x="685800" y="3171825"/>
                  </a:moveTo>
                  <a:cubicBezTo>
                    <a:pt x="731043" y="2720181"/>
                    <a:pt x="776287" y="2268537"/>
                    <a:pt x="685800" y="2000250"/>
                  </a:cubicBezTo>
                  <a:cubicBezTo>
                    <a:pt x="595313" y="1731963"/>
                    <a:pt x="257175" y="1895475"/>
                    <a:pt x="142875" y="1562100"/>
                  </a:cubicBezTo>
                  <a:cubicBezTo>
                    <a:pt x="28575" y="1228725"/>
                    <a:pt x="14287" y="614362"/>
                    <a:pt x="0"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Freeform: Shape 106">
              <a:extLst>
                <a:ext uri="{FF2B5EF4-FFF2-40B4-BE49-F238E27FC236}">
                  <a16:creationId xmlns:a16="http://schemas.microsoft.com/office/drawing/2014/main" id="{6E66AE24-EAE1-400E-A822-A1804EC92FE0}"/>
                </a:ext>
              </a:extLst>
            </p:cNvPr>
            <p:cNvSpPr/>
            <p:nvPr/>
          </p:nvSpPr>
          <p:spPr bwMode="gray">
            <a:xfrm flipH="1">
              <a:off x="3584678" y="2217214"/>
              <a:ext cx="738042" cy="3312298"/>
            </a:xfrm>
            <a:custGeom>
              <a:avLst/>
              <a:gdLst>
                <a:gd name="connsiteX0" fmla="*/ 685800 w 738042"/>
                <a:gd name="connsiteY0" fmla="*/ 3171825 h 3171825"/>
                <a:gd name="connsiteX1" fmla="*/ 685800 w 738042"/>
                <a:gd name="connsiteY1" fmla="*/ 2000250 h 3171825"/>
                <a:gd name="connsiteX2" fmla="*/ 142875 w 738042"/>
                <a:gd name="connsiteY2" fmla="*/ 1562100 h 3171825"/>
                <a:gd name="connsiteX3" fmla="*/ 0 w 738042"/>
                <a:gd name="connsiteY3" fmla="*/ 0 h 3171825"/>
              </a:gdLst>
              <a:ahLst/>
              <a:cxnLst>
                <a:cxn ang="0">
                  <a:pos x="connsiteX0" y="connsiteY0"/>
                </a:cxn>
                <a:cxn ang="0">
                  <a:pos x="connsiteX1" y="connsiteY1"/>
                </a:cxn>
                <a:cxn ang="0">
                  <a:pos x="connsiteX2" y="connsiteY2"/>
                </a:cxn>
                <a:cxn ang="0">
                  <a:pos x="connsiteX3" y="connsiteY3"/>
                </a:cxn>
              </a:cxnLst>
              <a:rect l="l" t="t" r="r" b="b"/>
              <a:pathLst>
                <a:path w="738042" h="3171825">
                  <a:moveTo>
                    <a:pt x="685800" y="3171825"/>
                  </a:moveTo>
                  <a:cubicBezTo>
                    <a:pt x="731043" y="2720181"/>
                    <a:pt x="776287" y="2268537"/>
                    <a:pt x="685800" y="2000250"/>
                  </a:cubicBezTo>
                  <a:cubicBezTo>
                    <a:pt x="595313" y="1731963"/>
                    <a:pt x="257175" y="1895475"/>
                    <a:pt x="142875" y="1562100"/>
                  </a:cubicBezTo>
                  <a:cubicBezTo>
                    <a:pt x="28575" y="1228725"/>
                    <a:pt x="14287" y="614362"/>
                    <a:pt x="0"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EAA21377-EB51-43D9-9427-28C2FE910B31}"/>
                </a:ext>
              </a:extLst>
            </p:cNvPr>
            <p:cNvSpPr/>
            <p:nvPr/>
          </p:nvSpPr>
          <p:spPr bwMode="gray">
            <a:xfrm>
              <a:off x="1648365" y="2204770"/>
              <a:ext cx="288441" cy="3324742"/>
            </a:xfrm>
            <a:custGeom>
              <a:avLst/>
              <a:gdLst>
                <a:gd name="connsiteX0" fmla="*/ 12216 w 288441"/>
                <a:gd name="connsiteY0" fmla="*/ 3152775 h 3152775"/>
                <a:gd name="connsiteX1" fmla="*/ 21741 w 288441"/>
                <a:gd name="connsiteY1" fmla="*/ 2085975 h 3152775"/>
                <a:gd name="connsiteX2" fmla="*/ 212241 w 288441"/>
                <a:gd name="connsiteY2" fmla="*/ 1704975 h 3152775"/>
                <a:gd name="connsiteX3" fmla="*/ 288441 w 288441"/>
                <a:gd name="connsiteY3" fmla="*/ 0 h 3152775"/>
              </a:gdLst>
              <a:ahLst/>
              <a:cxnLst>
                <a:cxn ang="0">
                  <a:pos x="connsiteX0" y="connsiteY0"/>
                </a:cxn>
                <a:cxn ang="0">
                  <a:pos x="connsiteX1" y="connsiteY1"/>
                </a:cxn>
                <a:cxn ang="0">
                  <a:pos x="connsiteX2" y="connsiteY2"/>
                </a:cxn>
                <a:cxn ang="0">
                  <a:pos x="connsiteX3" y="connsiteY3"/>
                </a:cxn>
              </a:cxnLst>
              <a:rect l="l" t="t" r="r" b="b"/>
              <a:pathLst>
                <a:path w="288441" h="3152775">
                  <a:moveTo>
                    <a:pt x="12216" y="3152775"/>
                  </a:moveTo>
                  <a:cubicBezTo>
                    <a:pt x="309" y="2740025"/>
                    <a:pt x="-11597" y="2327275"/>
                    <a:pt x="21741" y="2085975"/>
                  </a:cubicBezTo>
                  <a:cubicBezTo>
                    <a:pt x="55079" y="1844675"/>
                    <a:pt x="167791" y="2052637"/>
                    <a:pt x="212241" y="1704975"/>
                  </a:cubicBezTo>
                  <a:cubicBezTo>
                    <a:pt x="256691" y="1357313"/>
                    <a:pt x="272566" y="678656"/>
                    <a:pt x="288441"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Freeform: Shape 107">
              <a:extLst>
                <a:ext uri="{FF2B5EF4-FFF2-40B4-BE49-F238E27FC236}">
                  <a16:creationId xmlns:a16="http://schemas.microsoft.com/office/drawing/2014/main" id="{CE81D65E-67BE-445F-942C-CF30FD19E2D8}"/>
                </a:ext>
              </a:extLst>
            </p:cNvPr>
            <p:cNvSpPr/>
            <p:nvPr/>
          </p:nvSpPr>
          <p:spPr bwMode="gray">
            <a:xfrm flipH="1">
              <a:off x="4411971" y="2217214"/>
              <a:ext cx="288441" cy="3312297"/>
            </a:xfrm>
            <a:custGeom>
              <a:avLst/>
              <a:gdLst>
                <a:gd name="connsiteX0" fmla="*/ 12216 w 288441"/>
                <a:gd name="connsiteY0" fmla="*/ 3152775 h 3152775"/>
                <a:gd name="connsiteX1" fmla="*/ 21741 w 288441"/>
                <a:gd name="connsiteY1" fmla="*/ 2085975 h 3152775"/>
                <a:gd name="connsiteX2" fmla="*/ 212241 w 288441"/>
                <a:gd name="connsiteY2" fmla="*/ 1704975 h 3152775"/>
                <a:gd name="connsiteX3" fmla="*/ 288441 w 288441"/>
                <a:gd name="connsiteY3" fmla="*/ 0 h 3152775"/>
              </a:gdLst>
              <a:ahLst/>
              <a:cxnLst>
                <a:cxn ang="0">
                  <a:pos x="connsiteX0" y="connsiteY0"/>
                </a:cxn>
                <a:cxn ang="0">
                  <a:pos x="connsiteX1" y="connsiteY1"/>
                </a:cxn>
                <a:cxn ang="0">
                  <a:pos x="connsiteX2" y="connsiteY2"/>
                </a:cxn>
                <a:cxn ang="0">
                  <a:pos x="connsiteX3" y="connsiteY3"/>
                </a:cxn>
              </a:cxnLst>
              <a:rect l="l" t="t" r="r" b="b"/>
              <a:pathLst>
                <a:path w="288441" h="3152775">
                  <a:moveTo>
                    <a:pt x="12216" y="3152775"/>
                  </a:moveTo>
                  <a:cubicBezTo>
                    <a:pt x="309" y="2740025"/>
                    <a:pt x="-11597" y="2327275"/>
                    <a:pt x="21741" y="2085975"/>
                  </a:cubicBezTo>
                  <a:cubicBezTo>
                    <a:pt x="55079" y="1844675"/>
                    <a:pt x="167791" y="2052637"/>
                    <a:pt x="212241" y="1704975"/>
                  </a:cubicBezTo>
                  <a:cubicBezTo>
                    <a:pt x="256691" y="1357313"/>
                    <a:pt x="272566" y="678656"/>
                    <a:pt x="288441"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ular Callout 75">
              <a:extLst>
                <a:ext uri="{FF2B5EF4-FFF2-40B4-BE49-F238E27FC236}">
                  <a16:creationId xmlns:a16="http://schemas.microsoft.com/office/drawing/2014/main" id="{463DDF40-718A-4686-BD3E-0A8B74EC9D55}"/>
                </a:ext>
              </a:extLst>
            </p:cNvPr>
            <p:cNvSpPr/>
            <p:nvPr/>
          </p:nvSpPr>
          <p:spPr bwMode="gray">
            <a:xfrm>
              <a:off x="5099140" y="5043530"/>
              <a:ext cx="949423" cy="485981"/>
            </a:xfrm>
            <a:prstGeom prst="wedgeRectCallout">
              <a:avLst>
                <a:gd name="adj1" fmla="val -66785"/>
                <a:gd name="adj2" fmla="val -2928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rPr>
                <a:t>LAN</a:t>
              </a:r>
              <a:r>
                <a:rPr lang="zh-CN" altLang="en-US" sz="1400" dirty="0">
                  <a:solidFill>
                    <a:schemeClr val="tx1"/>
                  </a:solidFill>
                  <a:latin typeface="Huawei Sans" panose="020C0503030203020204" pitchFamily="34" charset="0"/>
                  <a:ea typeface="方正兰亭黑简体" panose="02000000000000000000" pitchFamily="2" charset="-122"/>
                </a:rPr>
                <a:t>侧物理接口</a:t>
              </a:r>
            </a:p>
          </p:txBody>
        </p:sp>
        <p:sp>
          <p:nvSpPr>
            <p:cNvPr id="111" name="Cylinder 110">
              <a:extLst>
                <a:ext uri="{FF2B5EF4-FFF2-40B4-BE49-F238E27FC236}">
                  <a16:creationId xmlns:a16="http://schemas.microsoft.com/office/drawing/2014/main" id="{315DCF44-F53E-45A8-A073-15FCCD1750F8}"/>
                </a:ext>
              </a:extLst>
            </p:cNvPr>
            <p:cNvSpPr/>
            <p:nvPr/>
          </p:nvSpPr>
          <p:spPr bwMode="gray">
            <a:xfrm>
              <a:off x="1432163" y="1844508"/>
              <a:ext cx="3404907" cy="681469"/>
            </a:xfrm>
            <a:prstGeom prst="can">
              <a:avLst/>
            </a:prstGeom>
            <a:solidFill>
              <a:srgbClr val="DDDDDD">
                <a:alpha val="20000"/>
              </a:srgbClr>
            </a:solidFill>
            <a:ln>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ular Callout 75">
              <a:extLst>
                <a:ext uri="{FF2B5EF4-FFF2-40B4-BE49-F238E27FC236}">
                  <a16:creationId xmlns:a16="http://schemas.microsoft.com/office/drawing/2014/main" id="{6C4980F0-D763-4C9A-9336-174CC854D977}"/>
                </a:ext>
              </a:extLst>
            </p:cNvPr>
            <p:cNvSpPr/>
            <p:nvPr/>
          </p:nvSpPr>
          <p:spPr bwMode="gray">
            <a:xfrm>
              <a:off x="4922761" y="1995398"/>
              <a:ext cx="812766" cy="485981"/>
            </a:xfrm>
            <a:prstGeom prst="wedgeRectCallout">
              <a:avLst>
                <a:gd name="adj1" fmla="val -66785"/>
                <a:gd name="adj2" fmla="val -2928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rPr>
                <a:t>WAN</a:t>
              </a:r>
              <a:r>
                <a:rPr lang="zh-CN" altLang="en-US" sz="1400" dirty="0">
                  <a:solidFill>
                    <a:schemeClr val="tx1"/>
                  </a:solidFill>
                  <a:latin typeface="Huawei Sans" panose="020C0503030203020204" pitchFamily="34" charset="0"/>
                  <a:ea typeface="方正兰亭黑简体" panose="02000000000000000000" pitchFamily="2" charset="-122"/>
                </a:rPr>
                <a:t>侧物理口</a:t>
              </a:r>
            </a:p>
          </p:txBody>
        </p:sp>
        <p:sp>
          <p:nvSpPr>
            <p:cNvPr id="5" name="Cylinder 4">
              <a:extLst>
                <a:ext uri="{FF2B5EF4-FFF2-40B4-BE49-F238E27FC236}">
                  <a16:creationId xmlns:a16="http://schemas.microsoft.com/office/drawing/2014/main" id="{940D3AA5-2654-4C41-A134-30D192B521CA}"/>
                </a:ext>
              </a:extLst>
            </p:cNvPr>
            <p:cNvSpPr/>
            <p:nvPr/>
          </p:nvSpPr>
          <p:spPr bwMode="gray">
            <a:xfrm>
              <a:off x="2388012" y="4757621"/>
              <a:ext cx="1638300" cy="686131"/>
            </a:xfrm>
            <a:prstGeom prst="can">
              <a:avLst/>
            </a:prstGeom>
            <a:solidFill>
              <a:srgbClr val="DDDDDD">
                <a:alpha val="20000"/>
              </a:srgbClr>
            </a:solidFill>
            <a:ln>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ular Callout 75">
              <a:extLst>
                <a:ext uri="{FF2B5EF4-FFF2-40B4-BE49-F238E27FC236}">
                  <a16:creationId xmlns:a16="http://schemas.microsoft.com/office/drawing/2014/main" id="{72FBD697-5FF1-4B2A-B316-FB097F1EF26C}"/>
                </a:ext>
              </a:extLst>
            </p:cNvPr>
            <p:cNvSpPr/>
            <p:nvPr/>
          </p:nvSpPr>
          <p:spPr bwMode="gray">
            <a:xfrm>
              <a:off x="1076540" y="1591698"/>
              <a:ext cx="920790" cy="349535"/>
            </a:xfrm>
            <a:prstGeom prst="wedgeRectCallout">
              <a:avLst>
                <a:gd name="adj1" fmla="val 38823"/>
                <a:gd name="adj2" fmla="val 9366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数据隧道</a:t>
              </a:r>
            </a:p>
          </p:txBody>
        </p:sp>
        <p:sp>
          <p:nvSpPr>
            <p:cNvPr id="116" name="Rectangle: Rounded Corners 115">
              <a:extLst>
                <a:ext uri="{FF2B5EF4-FFF2-40B4-BE49-F238E27FC236}">
                  <a16:creationId xmlns:a16="http://schemas.microsoft.com/office/drawing/2014/main" id="{36BBFA49-AB15-4DCC-87C8-3AB5756446C5}"/>
                </a:ext>
              </a:extLst>
            </p:cNvPr>
            <p:cNvSpPr/>
            <p:nvPr/>
          </p:nvSpPr>
          <p:spPr bwMode="gray">
            <a:xfrm rot="16200000">
              <a:off x="388504" y="2480167"/>
              <a:ext cx="640351" cy="259930"/>
            </a:xfrm>
            <a:prstGeom prst="roundRect">
              <a:avLst>
                <a:gd name="adj" fmla="val 4012"/>
              </a:avLst>
            </a:prstGeom>
            <a:solidFill>
              <a:srgbClr val="56C4D2"/>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CPE</a:t>
              </a:r>
            </a:p>
          </p:txBody>
        </p:sp>
        <p:sp>
          <p:nvSpPr>
            <p:cNvPr id="110" name="Rectangular Callout 75">
              <a:extLst>
                <a:ext uri="{FF2B5EF4-FFF2-40B4-BE49-F238E27FC236}">
                  <a16:creationId xmlns:a16="http://schemas.microsoft.com/office/drawing/2014/main" id="{09860D5E-4A92-4825-99F3-0997B4A341DA}"/>
                </a:ext>
              </a:extLst>
            </p:cNvPr>
            <p:cNvSpPr/>
            <p:nvPr/>
          </p:nvSpPr>
          <p:spPr bwMode="gray">
            <a:xfrm>
              <a:off x="1677520" y="5094744"/>
              <a:ext cx="859795" cy="447211"/>
            </a:xfrm>
            <a:prstGeom prst="wedgeRectCallout">
              <a:avLst>
                <a:gd name="adj1" fmla="val 69477"/>
                <a:gd name="adj2" fmla="val -3141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rPr>
                <a:t>VLANIF</a:t>
              </a:r>
              <a:r>
                <a:rPr lang="zh-CN" altLang="en-US" sz="1400" dirty="0">
                  <a:solidFill>
                    <a:schemeClr val="tx1"/>
                  </a:solidFill>
                  <a:latin typeface="Huawei Sans" panose="020C0503030203020204" pitchFamily="34" charset="0"/>
                  <a:ea typeface="方正兰亭黑简体" panose="02000000000000000000" pitchFamily="2" charset="-122"/>
                </a:rPr>
                <a:t>接口</a:t>
              </a:r>
            </a:p>
          </p:txBody>
        </p:sp>
      </p:grpSp>
      <p:sp>
        <p:nvSpPr>
          <p:cNvPr id="37" name="五边形 2">
            <a:extLst>
              <a:ext uri="{FF2B5EF4-FFF2-40B4-BE49-F238E27FC236}">
                <a16:creationId xmlns:a16="http://schemas.microsoft.com/office/drawing/2014/main" id="{2EA9661A-503D-4CEC-9BC1-BCBCD5884128}"/>
              </a:ext>
            </a:extLst>
          </p:cNvPr>
          <p:cNvSpPr/>
          <p:nvPr/>
        </p:nvSpPr>
        <p:spPr bwMode="gray">
          <a:xfrm>
            <a:off x="8649811" y="120048"/>
            <a:ext cx="91226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38" name="燕尾形 3">
            <a:extLst>
              <a:ext uri="{FF2B5EF4-FFF2-40B4-BE49-F238E27FC236}">
                <a16:creationId xmlns:a16="http://schemas.microsoft.com/office/drawing/2014/main" id="{3BCBBB1C-AB3F-4936-A520-18BB616BCEFB}"/>
              </a:ext>
            </a:extLst>
          </p:cNvPr>
          <p:cNvSpPr/>
          <p:nvPr/>
        </p:nvSpPr>
        <p:spPr bwMode="gray">
          <a:xfrm>
            <a:off x="10437493" y="120048"/>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
            <a:extLst>
              <a:ext uri="{FF2B5EF4-FFF2-40B4-BE49-F238E27FC236}">
                <a16:creationId xmlns:a16="http://schemas.microsoft.com/office/drawing/2014/main" id="{9AE9F0F1-2BD6-4C30-9BFC-93EE91621455}"/>
              </a:ext>
            </a:extLst>
          </p:cNvPr>
          <p:cNvSpPr/>
          <p:nvPr/>
        </p:nvSpPr>
        <p:spPr bwMode="gray">
          <a:xfrm>
            <a:off x="9481630" y="120048"/>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拓扑设计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875877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圆角矩形 75"/>
          <p:cNvSpPr/>
          <p:nvPr/>
        </p:nvSpPr>
        <p:spPr bwMode="gray">
          <a:xfrm>
            <a:off x="6150265" y="3699741"/>
            <a:ext cx="4841146"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分层组网拓扑</a:t>
            </a:r>
          </a:p>
        </p:txBody>
      </p:sp>
      <p:sp>
        <p:nvSpPr>
          <p:cNvPr id="228" name="圆角矩形 75"/>
          <p:cNvSpPr/>
          <p:nvPr/>
        </p:nvSpPr>
        <p:spPr bwMode="gray">
          <a:xfrm>
            <a:off x="1087994" y="3701532"/>
            <a:ext cx="4728392"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Partial-mesh</a:t>
            </a:r>
            <a:r>
              <a:rPr lang="zh-CN" altLang="en-US" sz="1600" dirty="0">
                <a:solidFill>
                  <a:srgbClr val="30B5C5"/>
                </a:solidFill>
                <a:latin typeface="Huawei Sans" panose="020C0503030203020204" pitchFamily="34" charset="0"/>
                <a:ea typeface="方正兰亭黑简体" panose="02000000000000000000" pitchFamily="2" charset="-122"/>
              </a:rPr>
              <a:t>组网拓扑</a:t>
            </a:r>
            <a:endParaRPr lang="en-US" altLang="zh-CN" sz="1600" dirty="0">
              <a:solidFill>
                <a:srgbClr val="30B5C5"/>
              </a:solidFill>
              <a:latin typeface="Huawei Sans" panose="020C0503030203020204" pitchFamily="34" charset="0"/>
              <a:ea typeface="方正兰亭黑简体" panose="02000000000000000000" pitchFamily="2" charset="-122"/>
            </a:endParaRPr>
          </a:p>
        </p:txBody>
      </p:sp>
      <p:sp>
        <p:nvSpPr>
          <p:cNvPr id="229" name="圆角矩形 75"/>
          <p:cNvSpPr/>
          <p:nvPr/>
        </p:nvSpPr>
        <p:spPr bwMode="gray">
          <a:xfrm>
            <a:off x="6150265" y="4141310"/>
            <a:ext cx="4841146" cy="199711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30" name="圆角矩形 75"/>
          <p:cNvSpPr/>
          <p:nvPr/>
        </p:nvSpPr>
        <p:spPr bwMode="gray">
          <a:xfrm>
            <a:off x="1087994" y="4141310"/>
            <a:ext cx="4728392" cy="199712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 name="标题 2"/>
          <p:cNvSpPr>
            <a:spLocks noGrp="1"/>
          </p:cNvSpPr>
          <p:nvPr>
            <p:ph type="title"/>
          </p:nvPr>
        </p:nvSpPr>
        <p:spPr bwMode="gray"/>
        <p:txBody>
          <a:bodyPr/>
          <a:lstStyle/>
          <a:p>
            <a:r>
              <a:rPr lang="en-US" altLang="zh-CN" dirty="0"/>
              <a:t>Overlay</a:t>
            </a:r>
            <a:r>
              <a:rPr lang="zh-CN" altLang="en-US" dirty="0"/>
              <a:t>拓扑设计</a:t>
            </a:r>
          </a:p>
        </p:txBody>
      </p:sp>
      <p:sp>
        <p:nvSpPr>
          <p:cNvPr id="115" name="云形 114"/>
          <p:cNvSpPr/>
          <p:nvPr/>
        </p:nvSpPr>
        <p:spPr bwMode="gray">
          <a:xfrm>
            <a:off x="8895660" y="5006344"/>
            <a:ext cx="1236900" cy="991195"/>
          </a:xfrm>
          <a:prstGeom prst="cloud">
            <a:avLst/>
          </a:prstGeom>
          <a:solidFill>
            <a:schemeClr val="bg2">
              <a:lumMod val="40000"/>
              <a:lumOff val="60000"/>
            </a:schemeClr>
          </a:solidFill>
          <a:ln w="25400" cap="flat" cmpd="sng" algn="ctr">
            <a:noFill/>
            <a:prstDash val="solid"/>
          </a:ln>
          <a:effectLst/>
        </p:spPr>
        <p:txBody>
          <a:bodyPr rtlCol="0" anchor="ctr"/>
          <a:lstStyle/>
          <a:p>
            <a:pPr algn="ctr" defTabSz="1219170">
              <a:defRPr/>
            </a:pPr>
            <a:endParaRPr lang="zh-CN" altLang="en-US" sz="1400" kern="0" dirty="0">
              <a:solidFill>
                <a:srgbClr val="99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6" name="云形 115"/>
          <p:cNvSpPr/>
          <p:nvPr/>
        </p:nvSpPr>
        <p:spPr bwMode="gray">
          <a:xfrm>
            <a:off x="6853406" y="5178786"/>
            <a:ext cx="1236900" cy="811093"/>
          </a:xfrm>
          <a:prstGeom prst="cloud">
            <a:avLst/>
          </a:prstGeom>
          <a:solidFill>
            <a:schemeClr val="bg2">
              <a:lumMod val="40000"/>
              <a:lumOff val="60000"/>
            </a:schemeClr>
          </a:solidFill>
          <a:ln w="25400" cap="flat" cmpd="sng" algn="ctr">
            <a:noFill/>
            <a:prstDash val="solid"/>
          </a:ln>
          <a:effectLst/>
        </p:spPr>
        <p:txBody>
          <a:bodyPr rtlCol="0" anchor="ctr"/>
          <a:lstStyle/>
          <a:p>
            <a:pPr algn="ctr" defTabSz="1219170">
              <a:defRPr/>
            </a:pPr>
            <a:endParaRPr lang="zh-CN" altLang="en-US" sz="1400" kern="0" dirty="0">
              <a:solidFill>
                <a:srgbClr val="99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7" name="云形 116"/>
          <p:cNvSpPr/>
          <p:nvPr/>
        </p:nvSpPr>
        <p:spPr bwMode="gray">
          <a:xfrm>
            <a:off x="2277157" y="1988977"/>
            <a:ext cx="2239133" cy="1407103"/>
          </a:xfrm>
          <a:prstGeom prst="cloud">
            <a:avLst/>
          </a:prstGeom>
          <a:solidFill>
            <a:schemeClr val="bg2">
              <a:lumMod val="40000"/>
              <a:lumOff val="60000"/>
            </a:schemeClr>
          </a:solidFill>
          <a:ln w="25400" cap="flat" cmpd="sng" algn="ctr">
            <a:noFill/>
            <a:prstDash val="solid"/>
          </a:ln>
          <a:effectLst/>
        </p:spPr>
        <p:txBody>
          <a:bodyPr rtlCol="0" anchor="ctr"/>
          <a:lstStyle/>
          <a:p>
            <a:pPr algn="ctr" defTabSz="1219170">
              <a:defRPr/>
            </a:pPr>
            <a:endParaRPr lang="zh-CN" altLang="en-US" sz="1400" kern="0" dirty="0">
              <a:solidFill>
                <a:srgbClr val="99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19" name="图片 118"/>
          <p:cNvPicPr>
            <a:picLocks noChangeAspect="1"/>
          </p:cNvPicPr>
          <p:nvPr/>
        </p:nvPicPr>
        <p:blipFill>
          <a:blip r:embed="rId3" cstate="print"/>
          <a:stretch>
            <a:fillRect/>
          </a:stretch>
        </p:blipFill>
        <p:spPr bwMode="gray">
          <a:xfrm>
            <a:off x="3282852" y="1673593"/>
            <a:ext cx="268073" cy="441940"/>
          </a:xfrm>
          <a:prstGeom prst="rect">
            <a:avLst/>
          </a:prstGeom>
        </p:spPr>
      </p:pic>
      <p:pic>
        <p:nvPicPr>
          <p:cNvPr id="123" name="Picture 12" descr="E:\2016.01\1.12 扁平化图标\蓝色\AR-蓝色最新-40.png"/>
          <p:cNvPicPr>
            <a:picLocks noChangeAspect="1" noChangeArrowheads="1"/>
          </p:cNvPicPr>
          <p:nvPr/>
        </p:nvPicPr>
        <p:blipFill>
          <a:blip r:embed="rId4" cstate="print"/>
          <a:srcRect/>
          <a:stretch>
            <a:fillRect/>
          </a:stretch>
        </p:blipFill>
        <p:spPr bwMode="gray">
          <a:xfrm>
            <a:off x="3027751" y="1935503"/>
            <a:ext cx="334997" cy="253112"/>
          </a:xfrm>
          <a:prstGeom prst="rect">
            <a:avLst/>
          </a:prstGeom>
          <a:noFill/>
        </p:spPr>
      </p:pic>
      <p:pic>
        <p:nvPicPr>
          <p:cNvPr id="124" name="图片 123"/>
          <p:cNvPicPr>
            <a:picLocks noChangeAspect="1"/>
          </p:cNvPicPr>
          <p:nvPr/>
        </p:nvPicPr>
        <p:blipFill>
          <a:blip r:embed="rId5" cstate="print"/>
          <a:stretch>
            <a:fillRect/>
          </a:stretch>
        </p:blipFill>
        <p:spPr bwMode="gray">
          <a:xfrm>
            <a:off x="2326355" y="2462910"/>
            <a:ext cx="216261" cy="292293"/>
          </a:xfrm>
          <a:prstGeom prst="rect">
            <a:avLst/>
          </a:prstGeom>
        </p:spPr>
      </p:pic>
      <p:pic>
        <p:nvPicPr>
          <p:cNvPr id="125" name="Picture 12" descr="E:\2016.01\1.12 扁平化图标\蓝色\AR-蓝色最新-40.png"/>
          <p:cNvPicPr>
            <a:picLocks noChangeAspect="1" noChangeArrowheads="1"/>
          </p:cNvPicPr>
          <p:nvPr/>
        </p:nvPicPr>
        <p:blipFill>
          <a:blip r:embed="rId4" cstate="print"/>
          <a:srcRect/>
          <a:stretch>
            <a:fillRect/>
          </a:stretch>
        </p:blipFill>
        <p:spPr bwMode="gray">
          <a:xfrm>
            <a:off x="2042034" y="2619927"/>
            <a:ext cx="334997" cy="253112"/>
          </a:xfrm>
          <a:prstGeom prst="rect">
            <a:avLst/>
          </a:prstGeom>
          <a:noFill/>
        </p:spPr>
      </p:pic>
      <p:pic>
        <p:nvPicPr>
          <p:cNvPr id="126" name="图片 125"/>
          <p:cNvPicPr>
            <a:picLocks noChangeAspect="1"/>
          </p:cNvPicPr>
          <p:nvPr/>
        </p:nvPicPr>
        <p:blipFill>
          <a:blip r:embed="rId5" cstate="print"/>
          <a:stretch>
            <a:fillRect/>
          </a:stretch>
        </p:blipFill>
        <p:spPr bwMode="gray">
          <a:xfrm>
            <a:off x="4338803" y="2832822"/>
            <a:ext cx="216261" cy="292293"/>
          </a:xfrm>
          <a:prstGeom prst="rect">
            <a:avLst/>
          </a:prstGeom>
        </p:spPr>
      </p:pic>
      <p:pic>
        <p:nvPicPr>
          <p:cNvPr id="127" name="Picture 12" descr="E:\2016.01\1.12 扁平化图标\蓝色\AR-蓝色最新-40.png"/>
          <p:cNvPicPr>
            <a:picLocks noChangeAspect="1" noChangeArrowheads="1"/>
          </p:cNvPicPr>
          <p:nvPr/>
        </p:nvPicPr>
        <p:blipFill>
          <a:blip r:embed="rId4" cstate="print"/>
          <a:srcRect/>
          <a:stretch>
            <a:fillRect/>
          </a:stretch>
        </p:blipFill>
        <p:spPr bwMode="gray">
          <a:xfrm>
            <a:off x="4054481" y="2989839"/>
            <a:ext cx="334997" cy="253112"/>
          </a:xfrm>
          <a:prstGeom prst="rect">
            <a:avLst/>
          </a:prstGeom>
          <a:noFill/>
        </p:spPr>
      </p:pic>
      <p:pic>
        <p:nvPicPr>
          <p:cNvPr id="128" name="图片 127"/>
          <p:cNvPicPr>
            <a:picLocks noChangeAspect="1"/>
          </p:cNvPicPr>
          <p:nvPr/>
        </p:nvPicPr>
        <p:blipFill>
          <a:blip r:embed="rId5" cstate="print"/>
          <a:stretch>
            <a:fillRect/>
          </a:stretch>
        </p:blipFill>
        <p:spPr bwMode="gray">
          <a:xfrm>
            <a:off x="2864851" y="3069679"/>
            <a:ext cx="216261" cy="292293"/>
          </a:xfrm>
          <a:prstGeom prst="rect">
            <a:avLst/>
          </a:prstGeom>
        </p:spPr>
      </p:pic>
      <p:pic>
        <p:nvPicPr>
          <p:cNvPr id="129" name="Picture 12" descr="E:\2016.01\1.12 扁平化图标\蓝色\AR-蓝色最新-40.png"/>
          <p:cNvPicPr>
            <a:picLocks noChangeAspect="1" noChangeArrowheads="1"/>
          </p:cNvPicPr>
          <p:nvPr/>
        </p:nvPicPr>
        <p:blipFill>
          <a:blip r:embed="rId4" cstate="print"/>
          <a:srcRect/>
          <a:stretch>
            <a:fillRect/>
          </a:stretch>
        </p:blipFill>
        <p:spPr bwMode="gray">
          <a:xfrm>
            <a:off x="2580530" y="3226696"/>
            <a:ext cx="334997" cy="253112"/>
          </a:xfrm>
          <a:prstGeom prst="rect">
            <a:avLst/>
          </a:prstGeom>
          <a:noFill/>
        </p:spPr>
      </p:pic>
      <p:pic>
        <p:nvPicPr>
          <p:cNvPr id="130" name="图片 129"/>
          <p:cNvPicPr>
            <a:picLocks noChangeAspect="1"/>
          </p:cNvPicPr>
          <p:nvPr/>
        </p:nvPicPr>
        <p:blipFill>
          <a:blip r:embed="rId5" cstate="print"/>
          <a:stretch>
            <a:fillRect/>
          </a:stretch>
        </p:blipFill>
        <p:spPr bwMode="gray">
          <a:xfrm>
            <a:off x="4557029" y="2075645"/>
            <a:ext cx="216261" cy="292293"/>
          </a:xfrm>
          <a:prstGeom prst="rect">
            <a:avLst/>
          </a:prstGeom>
        </p:spPr>
      </p:pic>
      <p:pic>
        <p:nvPicPr>
          <p:cNvPr id="131" name="Picture 12" descr="E:\2016.01\1.12 扁平化图标\蓝色\AR-蓝色最新-40.png"/>
          <p:cNvPicPr>
            <a:picLocks noChangeAspect="1" noChangeArrowheads="1"/>
          </p:cNvPicPr>
          <p:nvPr/>
        </p:nvPicPr>
        <p:blipFill>
          <a:blip r:embed="rId4" cstate="print"/>
          <a:srcRect/>
          <a:stretch>
            <a:fillRect/>
          </a:stretch>
        </p:blipFill>
        <p:spPr bwMode="gray">
          <a:xfrm>
            <a:off x="4272706" y="2232662"/>
            <a:ext cx="334997" cy="253112"/>
          </a:xfrm>
          <a:prstGeom prst="rect">
            <a:avLst/>
          </a:prstGeom>
          <a:noFill/>
        </p:spPr>
      </p:pic>
      <p:sp>
        <p:nvSpPr>
          <p:cNvPr id="132" name="任意多边形 131"/>
          <p:cNvSpPr/>
          <p:nvPr/>
        </p:nvSpPr>
        <p:spPr bwMode="gray">
          <a:xfrm>
            <a:off x="2769254" y="2178146"/>
            <a:ext cx="454832" cy="1038579"/>
          </a:xfrm>
          <a:custGeom>
            <a:avLst/>
            <a:gdLst>
              <a:gd name="connsiteX0" fmla="*/ 338667 w 341124"/>
              <a:gd name="connsiteY0" fmla="*/ 0 h 778934"/>
              <a:gd name="connsiteX1" fmla="*/ 291254 w 341124"/>
              <a:gd name="connsiteY1" fmla="*/ 494454 h 778934"/>
              <a:gd name="connsiteX2" fmla="*/ 0 w 341124"/>
              <a:gd name="connsiteY2" fmla="*/ 778934 h 778934"/>
            </a:gdLst>
            <a:ahLst/>
            <a:cxnLst>
              <a:cxn ang="0">
                <a:pos x="connsiteX0" y="connsiteY0"/>
              </a:cxn>
              <a:cxn ang="0">
                <a:pos x="connsiteX1" y="connsiteY1"/>
              </a:cxn>
              <a:cxn ang="0">
                <a:pos x="connsiteX2" y="connsiteY2"/>
              </a:cxn>
            </a:cxnLst>
            <a:rect l="l" t="t" r="r" b="b"/>
            <a:pathLst>
              <a:path w="341124" h="778934">
                <a:moveTo>
                  <a:pt x="338667" y="0"/>
                </a:moveTo>
                <a:cubicBezTo>
                  <a:pt x="343182" y="182316"/>
                  <a:pt x="347698" y="364632"/>
                  <a:pt x="291254" y="494454"/>
                </a:cubicBezTo>
                <a:cubicBezTo>
                  <a:pt x="234810" y="624276"/>
                  <a:pt x="117405" y="701605"/>
                  <a:pt x="0" y="778934"/>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33" name="任意多边形 132"/>
          <p:cNvSpPr/>
          <p:nvPr/>
        </p:nvSpPr>
        <p:spPr bwMode="gray">
          <a:xfrm>
            <a:off x="3211780" y="2169116"/>
            <a:ext cx="984391" cy="803769"/>
          </a:xfrm>
          <a:custGeom>
            <a:avLst/>
            <a:gdLst>
              <a:gd name="connsiteX0" fmla="*/ 0 w 738293"/>
              <a:gd name="connsiteY0" fmla="*/ 0 h 602827"/>
              <a:gd name="connsiteX1" fmla="*/ 257386 w 738293"/>
              <a:gd name="connsiteY1" fmla="*/ 399627 h 602827"/>
              <a:gd name="connsiteX2" fmla="*/ 738293 w 738293"/>
              <a:gd name="connsiteY2" fmla="*/ 602827 h 602827"/>
            </a:gdLst>
            <a:ahLst/>
            <a:cxnLst>
              <a:cxn ang="0">
                <a:pos x="connsiteX0" y="connsiteY0"/>
              </a:cxn>
              <a:cxn ang="0">
                <a:pos x="connsiteX1" y="connsiteY1"/>
              </a:cxn>
              <a:cxn ang="0">
                <a:pos x="connsiteX2" y="connsiteY2"/>
              </a:cxn>
            </a:cxnLst>
            <a:rect l="l" t="t" r="r" b="b"/>
            <a:pathLst>
              <a:path w="738293" h="602827">
                <a:moveTo>
                  <a:pt x="0" y="0"/>
                </a:moveTo>
                <a:cubicBezTo>
                  <a:pt x="67168" y="149578"/>
                  <a:pt x="134337" y="299156"/>
                  <a:pt x="257386" y="399627"/>
                </a:cubicBezTo>
                <a:cubicBezTo>
                  <a:pt x="380435" y="500098"/>
                  <a:pt x="559364" y="551462"/>
                  <a:pt x="738293" y="602827"/>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34" name="任意多边形 133"/>
          <p:cNvSpPr/>
          <p:nvPr/>
        </p:nvSpPr>
        <p:spPr bwMode="gray">
          <a:xfrm>
            <a:off x="3211779" y="2187179"/>
            <a:ext cx="1056640" cy="198001"/>
          </a:xfrm>
          <a:custGeom>
            <a:avLst/>
            <a:gdLst>
              <a:gd name="connsiteX0" fmla="*/ 0 w 792480"/>
              <a:gd name="connsiteY0" fmla="*/ 0 h 148501"/>
              <a:gd name="connsiteX1" fmla="*/ 447040 w 792480"/>
              <a:gd name="connsiteY1" fmla="*/ 135466 h 148501"/>
              <a:gd name="connsiteX2" fmla="*/ 792480 w 792480"/>
              <a:gd name="connsiteY2" fmla="*/ 135466 h 148501"/>
            </a:gdLst>
            <a:ahLst/>
            <a:cxnLst>
              <a:cxn ang="0">
                <a:pos x="connsiteX0" y="connsiteY0"/>
              </a:cxn>
              <a:cxn ang="0">
                <a:pos x="connsiteX1" y="connsiteY1"/>
              </a:cxn>
              <a:cxn ang="0">
                <a:pos x="connsiteX2" y="connsiteY2"/>
              </a:cxn>
            </a:cxnLst>
            <a:rect l="l" t="t" r="r" b="b"/>
            <a:pathLst>
              <a:path w="792480" h="148501">
                <a:moveTo>
                  <a:pt x="0" y="0"/>
                </a:moveTo>
                <a:cubicBezTo>
                  <a:pt x="157480" y="56444"/>
                  <a:pt x="314960" y="112888"/>
                  <a:pt x="447040" y="135466"/>
                </a:cubicBezTo>
                <a:cubicBezTo>
                  <a:pt x="579120" y="158044"/>
                  <a:pt x="685800" y="146755"/>
                  <a:pt x="792480" y="135466"/>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35" name="任意多边形 134"/>
          <p:cNvSpPr/>
          <p:nvPr/>
        </p:nvSpPr>
        <p:spPr bwMode="gray">
          <a:xfrm>
            <a:off x="2389948" y="2178146"/>
            <a:ext cx="830863" cy="596053"/>
          </a:xfrm>
          <a:custGeom>
            <a:avLst/>
            <a:gdLst>
              <a:gd name="connsiteX0" fmla="*/ 623147 w 623147"/>
              <a:gd name="connsiteY0" fmla="*/ 0 h 447040"/>
              <a:gd name="connsiteX1" fmla="*/ 338667 w 623147"/>
              <a:gd name="connsiteY1" fmla="*/ 304800 h 447040"/>
              <a:gd name="connsiteX2" fmla="*/ 0 w 623147"/>
              <a:gd name="connsiteY2" fmla="*/ 447040 h 447040"/>
            </a:gdLst>
            <a:ahLst/>
            <a:cxnLst>
              <a:cxn ang="0">
                <a:pos x="connsiteX0" y="connsiteY0"/>
              </a:cxn>
              <a:cxn ang="0">
                <a:pos x="connsiteX1" y="connsiteY1"/>
              </a:cxn>
              <a:cxn ang="0">
                <a:pos x="connsiteX2" y="connsiteY2"/>
              </a:cxn>
            </a:cxnLst>
            <a:rect l="l" t="t" r="r" b="b"/>
            <a:pathLst>
              <a:path w="623147" h="447040">
                <a:moveTo>
                  <a:pt x="623147" y="0"/>
                </a:moveTo>
                <a:cubicBezTo>
                  <a:pt x="532836" y="115146"/>
                  <a:pt x="442525" y="230293"/>
                  <a:pt x="338667" y="304800"/>
                </a:cubicBezTo>
                <a:cubicBezTo>
                  <a:pt x="234809" y="379307"/>
                  <a:pt x="117404" y="413173"/>
                  <a:pt x="0" y="447040"/>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36" name="云形 135"/>
          <p:cNvSpPr/>
          <p:nvPr/>
        </p:nvSpPr>
        <p:spPr bwMode="gray">
          <a:xfrm>
            <a:off x="7504171" y="1916337"/>
            <a:ext cx="2239133" cy="1407103"/>
          </a:xfrm>
          <a:prstGeom prst="cloud">
            <a:avLst/>
          </a:prstGeom>
          <a:solidFill>
            <a:schemeClr val="bg2">
              <a:lumMod val="40000"/>
              <a:lumOff val="60000"/>
            </a:schemeClr>
          </a:solidFill>
          <a:ln w="25400" cap="flat" cmpd="sng" algn="ctr">
            <a:noFill/>
            <a:prstDash val="solid"/>
          </a:ln>
          <a:effectLst/>
        </p:spPr>
        <p:txBody>
          <a:bodyPr rtlCol="0" anchor="ctr"/>
          <a:lstStyle/>
          <a:p>
            <a:pPr algn="ctr" defTabSz="1219170">
              <a:defRPr/>
            </a:pPr>
            <a:endParaRPr lang="zh-CN" altLang="en-US" sz="1400" kern="0" dirty="0">
              <a:solidFill>
                <a:srgbClr val="99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37" name="图片 136"/>
          <p:cNvPicPr>
            <a:picLocks noChangeAspect="1"/>
          </p:cNvPicPr>
          <p:nvPr/>
        </p:nvPicPr>
        <p:blipFill>
          <a:blip r:embed="rId3" cstate="print"/>
          <a:stretch>
            <a:fillRect/>
          </a:stretch>
        </p:blipFill>
        <p:spPr bwMode="gray">
          <a:xfrm>
            <a:off x="8509867" y="1600953"/>
            <a:ext cx="268073" cy="441940"/>
          </a:xfrm>
          <a:prstGeom prst="rect">
            <a:avLst/>
          </a:prstGeom>
        </p:spPr>
      </p:pic>
      <p:pic>
        <p:nvPicPr>
          <p:cNvPr id="138" name="Picture 12" descr="E:\2016.01\1.12 扁平化图标\蓝色\AR-蓝色最新-40.png"/>
          <p:cNvPicPr>
            <a:picLocks noChangeAspect="1" noChangeArrowheads="1"/>
          </p:cNvPicPr>
          <p:nvPr/>
        </p:nvPicPr>
        <p:blipFill>
          <a:blip r:embed="rId4" cstate="print"/>
          <a:srcRect/>
          <a:stretch>
            <a:fillRect/>
          </a:stretch>
        </p:blipFill>
        <p:spPr bwMode="gray">
          <a:xfrm>
            <a:off x="8254766" y="1862863"/>
            <a:ext cx="334997" cy="253112"/>
          </a:xfrm>
          <a:prstGeom prst="rect">
            <a:avLst/>
          </a:prstGeom>
          <a:noFill/>
        </p:spPr>
      </p:pic>
      <p:pic>
        <p:nvPicPr>
          <p:cNvPr id="139" name="图片 138"/>
          <p:cNvPicPr>
            <a:picLocks noChangeAspect="1"/>
          </p:cNvPicPr>
          <p:nvPr/>
        </p:nvPicPr>
        <p:blipFill>
          <a:blip r:embed="rId5" cstate="print"/>
          <a:stretch>
            <a:fillRect/>
          </a:stretch>
        </p:blipFill>
        <p:spPr bwMode="gray">
          <a:xfrm>
            <a:off x="7553370" y="2390270"/>
            <a:ext cx="216261" cy="292293"/>
          </a:xfrm>
          <a:prstGeom prst="rect">
            <a:avLst/>
          </a:prstGeom>
        </p:spPr>
      </p:pic>
      <p:pic>
        <p:nvPicPr>
          <p:cNvPr id="140" name="Picture 12" descr="E:\2016.01\1.12 扁平化图标\蓝色\AR-蓝色最新-40.png"/>
          <p:cNvPicPr>
            <a:picLocks noChangeAspect="1" noChangeArrowheads="1"/>
          </p:cNvPicPr>
          <p:nvPr/>
        </p:nvPicPr>
        <p:blipFill>
          <a:blip r:embed="rId4" cstate="print"/>
          <a:srcRect/>
          <a:stretch>
            <a:fillRect/>
          </a:stretch>
        </p:blipFill>
        <p:spPr bwMode="gray">
          <a:xfrm>
            <a:off x="7269049" y="2547287"/>
            <a:ext cx="334997" cy="253112"/>
          </a:xfrm>
          <a:prstGeom prst="rect">
            <a:avLst/>
          </a:prstGeom>
          <a:noFill/>
        </p:spPr>
      </p:pic>
      <p:pic>
        <p:nvPicPr>
          <p:cNvPr id="141" name="图片 140"/>
          <p:cNvPicPr>
            <a:picLocks noChangeAspect="1"/>
          </p:cNvPicPr>
          <p:nvPr/>
        </p:nvPicPr>
        <p:blipFill>
          <a:blip r:embed="rId5" cstate="print"/>
          <a:stretch>
            <a:fillRect/>
          </a:stretch>
        </p:blipFill>
        <p:spPr bwMode="gray">
          <a:xfrm>
            <a:off x="9565818" y="2760182"/>
            <a:ext cx="216261" cy="292293"/>
          </a:xfrm>
          <a:prstGeom prst="rect">
            <a:avLst/>
          </a:prstGeom>
        </p:spPr>
      </p:pic>
      <p:pic>
        <p:nvPicPr>
          <p:cNvPr id="142" name="Picture 12" descr="E:\2016.01\1.12 扁平化图标\蓝色\AR-蓝色最新-40.png"/>
          <p:cNvPicPr>
            <a:picLocks noChangeAspect="1" noChangeArrowheads="1"/>
          </p:cNvPicPr>
          <p:nvPr/>
        </p:nvPicPr>
        <p:blipFill>
          <a:blip r:embed="rId4" cstate="print"/>
          <a:srcRect/>
          <a:stretch>
            <a:fillRect/>
          </a:stretch>
        </p:blipFill>
        <p:spPr bwMode="gray">
          <a:xfrm>
            <a:off x="9281495" y="2917199"/>
            <a:ext cx="334997" cy="253112"/>
          </a:xfrm>
          <a:prstGeom prst="rect">
            <a:avLst/>
          </a:prstGeom>
          <a:noFill/>
        </p:spPr>
      </p:pic>
      <p:pic>
        <p:nvPicPr>
          <p:cNvPr id="143" name="图片 142"/>
          <p:cNvPicPr>
            <a:picLocks noChangeAspect="1"/>
          </p:cNvPicPr>
          <p:nvPr/>
        </p:nvPicPr>
        <p:blipFill>
          <a:blip r:embed="rId5" cstate="print"/>
          <a:stretch>
            <a:fillRect/>
          </a:stretch>
        </p:blipFill>
        <p:spPr bwMode="gray">
          <a:xfrm>
            <a:off x="8091866" y="2997040"/>
            <a:ext cx="216261" cy="292293"/>
          </a:xfrm>
          <a:prstGeom prst="rect">
            <a:avLst/>
          </a:prstGeom>
        </p:spPr>
      </p:pic>
      <p:pic>
        <p:nvPicPr>
          <p:cNvPr id="144" name="Picture 12" descr="E:\2016.01\1.12 扁平化图标\蓝色\AR-蓝色最新-40.png"/>
          <p:cNvPicPr>
            <a:picLocks noChangeAspect="1" noChangeArrowheads="1"/>
          </p:cNvPicPr>
          <p:nvPr/>
        </p:nvPicPr>
        <p:blipFill>
          <a:blip r:embed="rId4" cstate="print"/>
          <a:srcRect/>
          <a:stretch>
            <a:fillRect/>
          </a:stretch>
        </p:blipFill>
        <p:spPr bwMode="gray">
          <a:xfrm>
            <a:off x="7807545" y="3154057"/>
            <a:ext cx="334997" cy="253112"/>
          </a:xfrm>
          <a:prstGeom prst="rect">
            <a:avLst/>
          </a:prstGeom>
          <a:noFill/>
        </p:spPr>
      </p:pic>
      <p:pic>
        <p:nvPicPr>
          <p:cNvPr id="145" name="图片 144"/>
          <p:cNvPicPr>
            <a:picLocks noChangeAspect="1"/>
          </p:cNvPicPr>
          <p:nvPr/>
        </p:nvPicPr>
        <p:blipFill>
          <a:blip r:embed="rId5" cstate="print"/>
          <a:stretch>
            <a:fillRect/>
          </a:stretch>
        </p:blipFill>
        <p:spPr bwMode="gray">
          <a:xfrm>
            <a:off x="9784043" y="2003005"/>
            <a:ext cx="216261" cy="292293"/>
          </a:xfrm>
          <a:prstGeom prst="rect">
            <a:avLst/>
          </a:prstGeom>
        </p:spPr>
      </p:pic>
      <p:pic>
        <p:nvPicPr>
          <p:cNvPr id="146" name="Picture 12" descr="E:\2016.01\1.12 扁平化图标\蓝色\AR-蓝色最新-40.png"/>
          <p:cNvPicPr>
            <a:picLocks noChangeAspect="1" noChangeArrowheads="1"/>
          </p:cNvPicPr>
          <p:nvPr/>
        </p:nvPicPr>
        <p:blipFill>
          <a:blip r:embed="rId4" cstate="print"/>
          <a:srcRect/>
          <a:stretch>
            <a:fillRect/>
          </a:stretch>
        </p:blipFill>
        <p:spPr bwMode="gray">
          <a:xfrm>
            <a:off x="9499721" y="2160022"/>
            <a:ext cx="334997" cy="253112"/>
          </a:xfrm>
          <a:prstGeom prst="rect">
            <a:avLst/>
          </a:prstGeom>
          <a:noFill/>
        </p:spPr>
      </p:pic>
      <p:sp>
        <p:nvSpPr>
          <p:cNvPr id="147" name="任意多边形 146"/>
          <p:cNvSpPr/>
          <p:nvPr/>
        </p:nvSpPr>
        <p:spPr bwMode="gray">
          <a:xfrm>
            <a:off x="7996268" y="2105506"/>
            <a:ext cx="454832" cy="1038579"/>
          </a:xfrm>
          <a:custGeom>
            <a:avLst/>
            <a:gdLst>
              <a:gd name="connsiteX0" fmla="*/ 338667 w 341124"/>
              <a:gd name="connsiteY0" fmla="*/ 0 h 778934"/>
              <a:gd name="connsiteX1" fmla="*/ 291254 w 341124"/>
              <a:gd name="connsiteY1" fmla="*/ 494454 h 778934"/>
              <a:gd name="connsiteX2" fmla="*/ 0 w 341124"/>
              <a:gd name="connsiteY2" fmla="*/ 778934 h 778934"/>
            </a:gdLst>
            <a:ahLst/>
            <a:cxnLst>
              <a:cxn ang="0">
                <a:pos x="connsiteX0" y="connsiteY0"/>
              </a:cxn>
              <a:cxn ang="0">
                <a:pos x="connsiteX1" y="connsiteY1"/>
              </a:cxn>
              <a:cxn ang="0">
                <a:pos x="connsiteX2" y="connsiteY2"/>
              </a:cxn>
            </a:cxnLst>
            <a:rect l="l" t="t" r="r" b="b"/>
            <a:pathLst>
              <a:path w="341124" h="778934">
                <a:moveTo>
                  <a:pt x="338667" y="0"/>
                </a:moveTo>
                <a:cubicBezTo>
                  <a:pt x="343182" y="182316"/>
                  <a:pt x="347698" y="364632"/>
                  <a:pt x="291254" y="494454"/>
                </a:cubicBezTo>
                <a:cubicBezTo>
                  <a:pt x="234810" y="624276"/>
                  <a:pt x="117405" y="701605"/>
                  <a:pt x="0" y="778934"/>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48" name="任意多边形 147"/>
          <p:cNvSpPr/>
          <p:nvPr/>
        </p:nvSpPr>
        <p:spPr bwMode="gray">
          <a:xfrm>
            <a:off x="8438794" y="2096476"/>
            <a:ext cx="984391" cy="803769"/>
          </a:xfrm>
          <a:custGeom>
            <a:avLst/>
            <a:gdLst>
              <a:gd name="connsiteX0" fmla="*/ 0 w 738293"/>
              <a:gd name="connsiteY0" fmla="*/ 0 h 602827"/>
              <a:gd name="connsiteX1" fmla="*/ 257386 w 738293"/>
              <a:gd name="connsiteY1" fmla="*/ 399627 h 602827"/>
              <a:gd name="connsiteX2" fmla="*/ 738293 w 738293"/>
              <a:gd name="connsiteY2" fmla="*/ 602827 h 602827"/>
            </a:gdLst>
            <a:ahLst/>
            <a:cxnLst>
              <a:cxn ang="0">
                <a:pos x="connsiteX0" y="connsiteY0"/>
              </a:cxn>
              <a:cxn ang="0">
                <a:pos x="connsiteX1" y="connsiteY1"/>
              </a:cxn>
              <a:cxn ang="0">
                <a:pos x="connsiteX2" y="connsiteY2"/>
              </a:cxn>
            </a:cxnLst>
            <a:rect l="l" t="t" r="r" b="b"/>
            <a:pathLst>
              <a:path w="738293" h="602827">
                <a:moveTo>
                  <a:pt x="0" y="0"/>
                </a:moveTo>
                <a:cubicBezTo>
                  <a:pt x="67168" y="149578"/>
                  <a:pt x="134337" y="299156"/>
                  <a:pt x="257386" y="399627"/>
                </a:cubicBezTo>
                <a:cubicBezTo>
                  <a:pt x="380435" y="500098"/>
                  <a:pt x="559364" y="551462"/>
                  <a:pt x="738293" y="602827"/>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49" name="任意多边形 148"/>
          <p:cNvSpPr/>
          <p:nvPr/>
        </p:nvSpPr>
        <p:spPr bwMode="gray">
          <a:xfrm>
            <a:off x="8438794" y="2114539"/>
            <a:ext cx="1056640" cy="198001"/>
          </a:xfrm>
          <a:custGeom>
            <a:avLst/>
            <a:gdLst>
              <a:gd name="connsiteX0" fmla="*/ 0 w 792480"/>
              <a:gd name="connsiteY0" fmla="*/ 0 h 148501"/>
              <a:gd name="connsiteX1" fmla="*/ 447040 w 792480"/>
              <a:gd name="connsiteY1" fmla="*/ 135466 h 148501"/>
              <a:gd name="connsiteX2" fmla="*/ 792480 w 792480"/>
              <a:gd name="connsiteY2" fmla="*/ 135466 h 148501"/>
            </a:gdLst>
            <a:ahLst/>
            <a:cxnLst>
              <a:cxn ang="0">
                <a:pos x="connsiteX0" y="connsiteY0"/>
              </a:cxn>
              <a:cxn ang="0">
                <a:pos x="connsiteX1" y="connsiteY1"/>
              </a:cxn>
              <a:cxn ang="0">
                <a:pos x="connsiteX2" y="connsiteY2"/>
              </a:cxn>
            </a:cxnLst>
            <a:rect l="l" t="t" r="r" b="b"/>
            <a:pathLst>
              <a:path w="792480" h="148501">
                <a:moveTo>
                  <a:pt x="0" y="0"/>
                </a:moveTo>
                <a:cubicBezTo>
                  <a:pt x="157480" y="56444"/>
                  <a:pt x="314960" y="112888"/>
                  <a:pt x="447040" y="135466"/>
                </a:cubicBezTo>
                <a:cubicBezTo>
                  <a:pt x="579120" y="158044"/>
                  <a:pt x="685800" y="146755"/>
                  <a:pt x="792480" y="135466"/>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50" name="任意多边形 149"/>
          <p:cNvSpPr/>
          <p:nvPr/>
        </p:nvSpPr>
        <p:spPr bwMode="gray">
          <a:xfrm>
            <a:off x="7616962" y="2105506"/>
            <a:ext cx="830863" cy="596053"/>
          </a:xfrm>
          <a:custGeom>
            <a:avLst/>
            <a:gdLst>
              <a:gd name="connsiteX0" fmla="*/ 623147 w 623147"/>
              <a:gd name="connsiteY0" fmla="*/ 0 h 447040"/>
              <a:gd name="connsiteX1" fmla="*/ 338667 w 623147"/>
              <a:gd name="connsiteY1" fmla="*/ 304800 h 447040"/>
              <a:gd name="connsiteX2" fmla="*/ 0 w 623147"/>
              <a:gd name="connsiteY2" fmla="*/ 447040 h 447040"/>
            </a:gdLst>
            <a:ahLst/>
            <a:cxnLst>
              <a:cxn ang="0">
                <a:pos x="connsiteX0" y="connsiteY0"/>
              </a:cxn>
              <a:cxn ang="0">
                <a:pos x="connsiteX1" y="connsiteY1"/>
              </a:cxn>
              <a:cxn ang="0">
                <a:pos x="connsiteX2" y="connsiteY2"/>
              </a:cxn>
            </a:cxnLst>
            <a:rect l="l" t="t" r="r" b="b"/>
            <a:pathLst>
              <a:path w="623147" h="447040">
                <a:moveTo>
                  <a:pt x="623147" y="0"/>
                </a:moveTo>
                <a:cubicBezTo>
                  <a:pt x="532836" y="115146"/>
                  <a:pt x="442525" y="230293"/>
                  <a:pt x="338667" y="304800"/>
                </a:cubicBezTo>
                <a:cubicBezTo>
                  <a:pt x="234809" y="379307"/>
                  <a:pt x="117404" y="413173"/>
                  <a:pt x="0" y="447040"/>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51" name="任意多边形 150"/>
          <p:cNvSpPr/>
          <p:nvPr/>
        </p:nvSpPr>
        <p:spPr bwMode="gray">
          <a:xfrm>
            <a:off x="7606383" y="2313222"/>
            <a:ext cx="1896533" cy="379307"/>
          </a:xfrm>
          <a:custGeom>
            <a:avLst/>
            <a:gdLst>
              <a:gd name="connsiteX0" fmla="*/ 0 w 1422400"/>
              <a:gd name="connsiteY0" fmla="*/ 284480 h 284480"/>
              <a:gd name="connsiteX1" fmla="*/ 751840 w 1422400"/>
              <a:gd name="connsiteY1" fmla="*/ 203200 h 284480"/>
              <a:gd name="connsiteX2" fmla="*/ 1422400 w 1422400"/>
              <a:gd name="connsiteY2" fmla="*/ 0 h 284480"/>
            </a:gdLst>
            <a:ahLst/>
            <a:cxnLst>
              <a:cxn ang="0">
                <a:pos x="connsiteX0" y="connsiteY0"/>
              </a:cxn>
              <a:cxn ang="0">
                <a:pos x="connsiteX1" y="connsiteY1"/>
              </a:cxn>
              <a:cxn ang="0">
                <a:pos x="connsiteX2" y="connsiteY2"/>
              </a:cxn>
            </a:cxnLst>
            <a:rect l="l" t="t" r="r" b="b"/>
            <a:pathLst>
              <a:path w="1422400" h="284480">
                <a:moveTo>
                  <a:pt x="0" y="284480"/>
                </a:moveTo>
                <a:cubicBezTo>
                  <a:pt x="257386" y="267546"/>
                  <a:pt x="514773" y="250613"/>
                  <a:pt x="751840" y="203200"/>
                </a:cubicBezTo>
                <a:cubicBezTo>
                  <a:pt x="988907" y="155787"/>
                  <a:pt x="1205653" y="77893"/>
                  <a:pt x="1422400" y="0"/>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52" name="任意多边形 151"/>
          <p:cNvSpPr/>
          <p:nvPr/>
        </p:nvSpPr>
        <p:spPr bwMode="gray">
          <a:xfrm>
            <a:off x="7606384" y="2674467"/>
            <a:ext cx="1806223" cy="234809"/>
          </a:xfrm>
          <a:custGeom>
            <a:avLst/>
            <a:gdLst>
              <a:gd name="connsiteX0" fmla="*/ 0 w 1354667"/>
              <a:gd name="connsiteY0" fmla="*/ 0 h 176107"/>
              <a:gd name="connsiteX1" fmla="*/ 866987 w 1354667"/>
              <a:gd name="connsiteY1" fmla="*/ 94827 h 176107"/>
              <a:gd name="connsiteX2" fmla="*/ 1354667 w 1354667"/>
              <a:gd name="connsiteY2" fmla="*/ 176107 h 176107"/>
            </a:gdLst>
            <a:ahLst/>
            <a:cxnLst>
              <a:cxn ang="0">
                <a:pos x="connsiteX0" y="connsiteY0"/>
              </a:cxn>
              <a:cxn ang="0">
                <a:pos x="connsiteX1" y="connsiteY1"/>
              </a:cxn>
              <a:cxn ang="0">
                <a:pos x="connsiteX2" y="connsiteY2"/>
              </a:cxn>
            </a:cxnLst>
            <a:rect l="l" t="t" r="r" b="b"/>
            <a:pathLst>
              <a:path w="1354667" h="176107">
                <a:moveTo>
                  <a:pt x="0" y="0"/>
                </a:moveTo>
                <a:lnTo>
                  <a:pt x="866987" y="94827"/>
                </a:lnTo>
                <a:cubicBezTo>
                  <a:pt x="1092765" y="124178"/>
                  <a:pt x="1223716" y="150142"/>
                  <a:pt x="1354667" y="176107"/>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53" name="任意多边形 152"/>
          <p:cNvSpPr/>
          <p:nvPr/>
        </p:nvSpPr>
        <p:spPr bwMode="gray">
          <a:xfrm>
            <a:off x="7642509" y="2683498"/>
            <a:ext cx="362940" cy="451555"/>
          </a:xfrm>
          <a:custGeom>
            <a:avLst/>
            <a:gdLst>
              <a:gd name="connsiteX0" fmla="*/ 0 w 272205"/>
              <a:gd name="connsiteY0" fmla="*/ 0 h 338666"/>
              <a:gd name="connsiteX1" fmla="*/ 243840 w 272205"/>
              <a:gd name="connsiteY1" fmla="*/ 149013 h 338666"/>
              <a:gd name="connsiteX2" fmla="*/ 257386 w 272205"/>
              <a:gd name="connsiteY2" fmla="*/ 338666 h 338666"/>
            </a:gdLst>
            <a:ahLst/>
            <a:cxnLst>
              <a:cxn ang="0">
                <a:pos x="connsiteX0" y="connsiteY0"/>
              </a:cxn>
              <a:cxn ang="0">
                <a:pos x="connsiteX1" y="connsiteY1"/>
              </a:cxn>
              <a:cxn ang="0">
                <a:pos x="connsiteX2" y="connsiteY2"/>
              </a:cxn>
            </a:cxnLst>
            <a:rect l="l" t="t" r="r" b="b"/>
            <a:pathLst>
              <a:path w="272205" h="338666">
                <a:moveTo>
                  <a:pt x="0" y="0"/>
                </a:moveTo>
                <a:cubicBezTo>
                  <a:pt x="100471" y="46284"/>
                  <a:pt x="200942" y="92569"/>
                  <a:pt x="243840" y="149013"/>
                </a:cubicBezTo>
                <a:cubicBezTo>
                  <a:pt x="286738" y="205457"/>
                  <a:pt x="272062" y="272061"/>
                  <a:pt x="257386" y="338666"/>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54" name="任意多边形 153"/>
          <p:cNvSpPr/>
          <p:nvPr/>
        </p:nvSpPr>
        <p:spPr bwMode="gray">
          <a:xfrm>
            <a:off x="8003753" y="2313223"/>
            <a:ext cx="1490133" cy="803769"/>
          </a:xfrm>
          <a:custGeom>
            <a:avLst/>
            <a:gdLst>
              <a:gd name="connsiteX0" fmla="*/ 0 w 1117600"/>
              <a:gd name="connsiteY0" fmla="*/ 602827 h 602827"/>
              <a:gd name="connsiteX1" fmla="*/ 596053 w 1117600"/>
              <a:gd name="connsiteY1" fmla="*/ 291253 h 602827"/>
              <a:gd name="connsiteX2" fmla="*/ 1117600 w 1117600"/>
              <a:gd name="connsiteY2" fmla="*/ 0 h 602827"/>
            </a:gdLst>
            <a:ahLst/>
            <a:cxnLst>
              <a:cxn ang="0">
                <a:pos x="connsiteX0" y="connsiteY0"/>
              </a:cxn>
              <a:cxn ang="0">
                <a:pos x="connsiteX1" y="connsiteY1"/>
              </a:cxn>
              <a:cxn ang="0">
                <a:pos x="connsiteX2" y="connsiteY2"/>
              </a:cxn>
            </a:cxnLst>
            <a:rect l="l" t="t" r="r" b="b"/>
            <a:pathLst>
              <a:path w="1117600" h="602827">
                <a:moveTo>
                  <a:pt x="0" y="602827"/>
                </a:moveTo>
                <a:lnTo>
                  <a:pt x="596053" y="291253"/>
                </a:lnTo>
                <a:cubicBezTo>
                  <a:pt x="782320" y="190782"/>
                  <a:pt x="949960" y="95391"/>
                  <a:pt x="1117600" y="0"/>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55" name="任意多边形 154"/>
          <p:cNvSpPr/>
          <p:nvPr/>
        </p:nvSpPr>
        <p:spPr bwMode="gray">
          <a:xfrm>
            <a:off x="8030846" y="2881273"/>
            <a:ext cx="1354667" cy="244749"/>
          </a:xfrm>
          <a:custGeom>
            <a:avLst/>
            <a:gdLst>
              <a:gd name="connsiteX0" fmla="*/ 0 w 1016000"/>
              <a:gd name="connsiteY0" fmla="*/ 183562 h 183562"/>
              <a:gd name="connsiteX1" fmla="*/ 541867 w 1016000"/>
              <a:gd name="connsiteY1" fmla="*/ 14229 h 183562"/>
              <a:gd name="connsiteX2" fmla="*/ 1016000 w 1016000"/>
              <a:gd name="connsiteY2" fmla="*/ 21002 h 183562"/>
            </a:gdLst>
            <a:ahLst/>
            <a:cxnLst>
              <a:cxn ang="0">
                <a:pos x="connsiteX0" y="connsiteY0"/>
              </a:cxn>
              <a:cxn ang="0">
                <a:pos x="connsiteX1" y="connsiteY1"/>
              </a:cxn>
              <a:cxn ang="0">
                <a:pos x="connsiteX2" y="connsiteY2"/>
              </a:cxn>
            </a:cxnLst>
            <a:rect l="l" t="t" r="r" b="b"/>
            <a:pathLst>
              <a:path w="1016000" h="183562">
                <a:moveTo>
                  <a:pt x="0" y="183562"/>
                </a:moveTo>
                <a:cubicBezTo>
                  <a:pt x="186267" y="112442"/>
                  <a:pt x="372534" y="41322"/>
                  <a:pt x="541867" y="14229"/>
                </a:cubicBezTo>
                <a:cubicBezTo>
                  <a:pt x="711200" y="-12864"/>
                  <a:pt x="863600" y="4069"/>
                  <a:pt x="1016000" y="21002"/>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56" name="任意多边形 155"/>
          <p:cNvSpPr/>
          <p:nvPr/>
        </p:nvSpPr>
        <p:spPr bwMode="gray">
          <a:xfrm>
            <a:off x="9312044" y="2322253"/>
            <a:ext cx="172812" cy="577992"/>
          </a:xfrm>
          <a:custGeom>
            <a:avLst/>
            <a:gdLst>
              <a:gd name="connsiteX0" fmla="*/ 82195 w 129609"/>
              <a:gd name="connsiteY0" fmla="*/ 433494 h 433494"/>
              <a:gd name="connsiteX1" fmla="*/ 915 w 129609"/>
              <a:gd name="connsiteY1" fmla="*/ 230294 h 433494"/>
              <a:gd name="connsiteX2" fmla="*/ 129609 w 129609"/>
              <a:gd name="connsiteY2" fmla="*/ 0 h 433494"/>
            </a:gdLst>
            <a:ahLst/>
            <a:cxnLst>
              <a:cxn ang="0">
                <a:pos x="connsiteX0" y="connsiteY0"/>
              </a:cxn>
              <a:cxn ang="0">
                <a:pos x="connsiteX1" y="connsiteY1"/>
              </a:cxn>
              <a:cxn ang="0">
                <a:pos x="connsiteX2" y="connsiteY2"/>
              </a:cxn>
            </a:cxnLst>
            <a:rect l="l" t="t" r="r" b="b"/>
            <a:pathLst>
              <a:path w="129609" h="433494">
                <a:moveTo>
                  <a:pt x="82195" y="433494"/>
                </a:moveTo>
                <a:cubicBezTo>
                  <a:pt x="37604" y="368018"/>
                  <a:pt x="-6987" y="302543"/>
                  <a:pt x="915" y="230294"/>
                </a:cubicBezTo>
                <a:cubicBezTo>
                  <a:pt x="8817" y="158045"/>
                  <a:pt x="69213" y="79022"/>
                  <a:pt x="129609" y="0"/>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57" name="云形 156"/>
          <p:cNvSpPr/>
          <p:nvPr/>
        </p:nvSpPr>
        <p:spPr bwMode="gray">
          <a:xfrm>
            <a:off x="2390263" y="4579143"/>
            <a:ext cx="2239133" cy="1407103"/>
          </a:xfrm>
          <a:prstGeom prst="cloud">
            <a:avLst/>
          </a:prstGeom>
          <a:solidFill>
            <a:schemeClr val="bg2">
              <a:lumMod val="40000"/>
              <a:lumOff val="60000"/>
            </a:schemeClr>
          </a:solidFill>
          <a:ln w="25400" cap="flat" cmpd="sng" algn="ctr">
            <a:noFill/>
            <a:prstDash val="solid"/>
          </a:ln>
          <a:effectLst/>
        </p:spPr>
        <p:txBody>
          <a:bodyPr rtlCol="0" anchor="ctr"/>
          <a:lstStyle/>
          <a:p>
            <a:pPr algn="ctr" defTabSz="1219170">
              <a:defRPr/>
            </a:pPr>
            <a:endParaRPr lang="zh-CN" altLang="en-US" sz="1400" kern="0" dirty="0">
              <a:solidFill>
                <a:srgbClr val="99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58" name="图片 157"/>
          <p:cNvPicPr>
            <a:picLocks noChangeAspect="1"/>
          </p:cNvPicPr>
          <p:nvPr/>
        </p:nvPicPr>
        <p:blipFill>
          <a:blip r:embed="rId3" cstate="print"/>
          <a:stretch>
            <a:fillRect/>
          </a:stretch>
        </p:blipFill>
        <p:spPr bwMode="gray">
          <a:xfrm>
            <a:off x="3395959" y="4263759"/>
            <a:ext cx="268073" cy="441940"/>
          </a:xfrm>
          <a:prstGeom prst="rect">
            <a:avLst/>
          </a:prstGeom>
        </p:spPr>
      </p:pic>
      <p:pic>
        <p:nvPicPr>
          <p:cNvPr id="159" name="Picture 12" descr="E:\2016.01\1.12 扁平化图标\蓝色\AR-蓝色最新-40.png"/>
          <p:cNvPicPr>
            <a:picLocks noChangeAspect="1" noChangeArrowheads="1"/>
          </p:cNvPicPr>
          <p:nvPr/>
        </p:nvPicPr>
        <p:blipFill>
          <a:blip r:embed="rId4" cstate="print"/>
          <a:srcRect/>
          <a:stretch>
            <a:fillRect/>
          </a:stretch>
        </p:blipFill>
        <p:spPr bwMode="gray">
          <a:xfrm>
            <a:off x="3140858" y="4525669"/>
            <a:ext cx="334997" cy="253112"/>
          </a:xfrm>
          <a:prstGeom prst="rect">
            <a:avLst/>
          </a:prstGeom>
          <a:noFill/>
        </p:spPr>
      </p:pic>
      <p:pic>
        <p:nvPicPr>
          <p:cNvPr id="160" name="图片 159"/>
          <p:cNvPicPr>
            <a:picLocks noChangeAspect="1"/>
          </p:cNvPicPr>
          <p:nvPr/>
        </p:nvPicPr>
        <p:blipFill>
          <a:blip r:embed="rId5" cstate="print"/>
          <a:stretch>
            <a:fillRect/>
          </a:stretch>
        </p:blipFill>
        <p:spPr bwMode="gray">
          <a:xfrm>
            <a:off x="2439462" y="5053076"/>
            <a:ext cx="216261" cy="292293"/>
          </a:xfrm>
          <a:prstGeom prst="rect">
            <a:avLst/>
          </a:prstGeom>
        </p:spPr>
      </p:pic>
      <p:pic>
        <p:nvPicPr>
          <p:cNvPr id="161" name="Picture 12" descr="E:\2016.01\1.12 扁平化图标\蓝色\AR-蓝色最新-40.png"/>
          <p:cNvPicPr>
            <a:picLocks noChangeAspect="1" noChangeArrowheads="1"/>
          </p:cNvPicPr>
          <p:nvPr/>
        </p:nvPicPr>
        <p:blipFill>
          <a:blip r:embed="rId4" cstate="print"/>
          <a:srcRect/>
          <a:stretch>
            <a:fillRect/>
          </a:stretch>
        </p:blipFill>
        <p:spPr bwMode="gray">
          <a:xfrm>
            <a:off x="2155141" y="5210093"/>
            <a:ext cx="334997" cy="253112"/>
          </a:xfrm>
          <a:prstGeom prst="rect">
            <a:avLst/>
          </a:prstGeom>
          <a:noFill/>
        </p:spPr>
      </p:pic>
      <p:pic>
        <p:nvPicPr>
          <p:cNvPr id="162" name="图片 161"/>
          <p:cNvPicPr>
            <a:picLocks noChangeAspect="1"/>
          </p:cNvPicPr>
          <p:nvPr/>
        </p:nvPicPr>
        <p:blipFill>
          <a:blip r:embed="rId5" cstate="print"/>
          <a:stretch>
            <a:fillRect/>
          </a:stretch>
        </p:blipFill>
        <p:spPr bwMode="gray">
          <a:xfrm>
            <a:off x="4451910" y="5422988"/>
            <a:ext cx="216261" cy="292293"/>
          </a:xfrm>
          <a:prstGeom prst="rect">
            <a:avLst/>
          </a:prstGeom>
        </p:spPr>
      </p:pic>
      <p:pic>
        <p:nvPicPr>
          <p:cNvPr id="163" name="Picture 12" descr="E:\2016.01\1.12 扁平化图标\蓝色\AR-蓝色最新-40.png"/>
          <p:cNvPicPr>
            <a:picLocks noChangeAspect="1" noChangeArrowheads="1"/>
          </p:cNvPicPr>
          <p:nvPr/>
        </p:nvPicPr>
        <p:blipFill>
          <a:blip r:embed="rId4" cstate="print"/>
          <a:srcRect/>
          <a:stretch>
            <a:fillRect/>
          </a:stretch>
        </p:blipFill>
        <p:spPr bwMode="gray">
          <a:xfrm>
            <a:off x="4167587" y="5580005"/>
            <a:ext cx="334997" cy="253112"/>
          </a:xfrm>
          <a:prstGeom prst="rect">
            <a:avLst/>
          </a:prstGeom>
          <a:noFill/>
        </p:spPr>
      </p:pic>
      <p:pic>
        <p:nvPicPr>
          <p:cNvPr id="164" name="图片 163"/>
          <p:cNvPicPr>
            <a:picLocks noChangeAspect="1"/>
          </p:cNvPicPr>
          <p:nvPr/>
        </p:nvPicPr>
        <p:blipFill>
          <a:blip r:embed="rId5" cstate="print"/>
          <a:stretch>
            <a:fillRect/>
          </a:stretch>
        </p:blipFill>
        <p:spPr bwMode="gray">
          <a:xfrm>
            <a:off x="2977958" y="5659845"/>
            <a:ext cx="216261" cy="292293"/>
          </a:xfrm>
          <a:prstGeom prst="rect">
            <a:avLst/>
          </a:prstGeom>
        </p:spPr>
      </p:pic>
      <p:pic>
        <p:nvPicPr>
          <p:cNvPr id="165" name="Picture 12" descr="E:\2016.01\1.12 扁平化图标\蓝色\AR-蓝色最新-40.png"/>
          <p:cNvPicPr>
            <a:picLocks noChangeAspect="1" noChangeArrowheads="1"/>
          </p:cNvPicPr>
          <p:nvPr/>
        </p:nvPicPr>
        <p:blipFill>
          <a:blip r:embed="rId4" cstate="print"/>
          <a:srcRect/>
          <a:stretch>
            <a:fillRect/>
          </a:stretch>
        </p:blipFill>
        <p:spPr bwMode="gray">
          <a:xfrm>
            <a:off x="2693637" y="5816862"/>
            <a:ext cx="334997" cy="253112"/>
          </a:xfrm>
          <a:prstGeom prst="rect">
            <a:avLst/>
          </a:prstGeom>
          <a:noFill/>
        </p:spPr>
      </p:pic>
      <p:pic>
        <p:nvPicPr>
          <p:cNvPr id="166" name="图片 165"/>
          <p:cNvPicPr>
            <a:picLocks noChangeAspect="1"/>
          </p:cNvPicPr>
          <p:nvPr/>
        </p:nvPicPr>
        <p:blipFill>
          <a:blip r:embed="rId5" cstate="print"/>
          <a:stretch>
            <a:fillRect/>
          </a:stretch>
        </p:blipFill>
        <p:spPr bwMode="gray">
          <a:xfrm>
            <a:off x="4670135" y="4665811"/>
            <a:ext cx="216261" cy="292293"/>
          </a:xfrm>
          <a:prstGeom prst="rect">
            <a:avLst/>
          </a:prstGeom>
        </p:spPr>
      </p:pic>
      <p:pic>
        <p:nvPicPr>
          <p:cNvPr id="167" name="Picture 12" descr="E:\2016.01\1.12 扁平化图标\蓝色\AR-蓝色最新-40.png"/>
          <p:cNvPicPr>
            <a:picLocks noChangeAspect="1" noChangeArrowheads="1"/>
          </p:cNvPicPr>
          <p:nvPr/>
        </p:nvPicPr>
        <p:blipFill>
          <a:blip r:embed="rId4" cstate="print"/>
          <a:srcRect/>
          <a:stretch>
            <a:fillRect/>
          </a:stretch>
        </p:blipFill>
        <p:spPr bwMode="gray">
          <a:xfrm>
            <a:off x="4385813" y="4822828"/>
            <a:ext cx="334997" cy="253112"/>
          </a:xfrm>
          <a:prstGeom prst="rect">
            <a:avLst/>
          </a:prstGeom>
          <a:noFill/>
        </p:spPr>
      </p:pic>
      <p:sp>
        <p:nvSpPr>
          <p:cNvPr id="168" name="任意多边形 167"/>
          <p:cNvSpPr/>
          <p:nvPr/>
        </p:nvSpPr>
        <p:spPr bwMode="gray">
          <a:xfrm>
            <a:off x="3324886" y="4759282"/>
            <a:ext cx="984391" cy="803769"/>
          </a:xfrm>
          <a:custGeom>
            <a:avLst/>
            <a:gdLst>
              <a:gd name="connsiteX0" fmla="*/ 0 w 738293"/>
              <a:gd name="connsiteY0" fmla="*/ 0 h 602827"/>
              <a:gd name="connsiteX1" fmla="*/ 257386 w 738293"/>
              <a:gd name="connsiteY1" fmla="*/ 399627 h 602827"/>
              <a:gd name="connsiteX2" fmla="*/ 738293 w 738293"/>
              <a:gd name="connsiteY2" fmla="*/ 602827 h 602827"/>
            </a:gdLst>
            <a:ahLst/>
            <a:cxnLst>
              <a:cxn ang="0">
                <a:pos x="connsiteX0" y="connsiteY0"/>
              </a:cxn>
              <a:cxn ang="0">
                <a:pos x="connsiteX1" y="connsiteY1"/>
              </a:cxn>
              <a:cxn ang="0">
                <a:pos x="connsiteX2" y="connsiteY2"/>
              </a:cxn>
            </a:cxnLst>
            <a:rect l="l" t="t" r="r" b="b"/>
            <a:pathLst>
              <a:path w="738293" h="602827">
                <a:moveTo>
                  <a:pt x="0" y="0"/>
                </a:moveTo>
                <a:cubicBezTo>
                  <a:pt x="67168" y="149578"/>
                  <a:pt x="134337" y="299156"/>
                  <a:pt x="257386" y="399627"/>
                </a:cubicBezTo>
                <a:cubicBezTo>
                  <a:pt x="380435" y="500098"/>
                  <a:pt x="559364" y="551462"/>
                  <a:pt x="738293" y="602827"/>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69" name="任意多边形 168"/>
          <p:cNvSpPr/>
          <p:nvPr/>
        </p:nvSpPr>
        <p:spPr bwMode="gray">
          <a:xfrm>
            <a:off x="3324886" y="4777345"/>
            <a:ext cx="1056640" cy="198001"/>
          </a:xfrm>
          <a:custGeom>
            <a:avLst/>
            <a:gdLst>
              <a:gd name="connsiteX0" fmla="*/ 0 w 792480"/>
              <a:gd name="connsiteY0" fmla="*/ 0 h 148501"/>
              <a:gd name="connsiteX1" fmla="*/ 447040 w 792480"/>
              <a:gd name="connsiteY1" fmla="*/ 135466 h 148501"/>
              <a:gd name="connsiteX2" fmla="*/ 792480 w 792480"/>
              <a:gd name="connsiteY2" fmla="*/ 135466 h 148501"/>
            </a:gdLst>
            <a:ahLst/>
            <a:cxnLst>
              <a:cxn ang="0">
                <a:pos x="connsiteX0" y="connsiteY0"/>
              </a:cxn>
              <a:cxn ang="0">
                <a:pos x="connsiteX1" y="connsiteY1"/>
              </a:cxn>
              <a:cxn ang="0">
                <a:pos x="connsiteX2" y="connsiteY2"/>
              </a:cxn>
            </a:cxnLst>
            <a:rect l="l" t="t" r="r" b="b"/>
            <a:pathLst>
              <a:path w="792480" h="148501">
                <a:moveTo>
                  <a:pt x="0" y="0"/>
                </a:moveTo>
                <a:cubicBezTo>
                  <a:pt x="157480" y="56444"/>
                  <a:pt x="314960" y="112888"/>
                  <a:pt x="447040" y="135466"/>
                </a:cubicBezTo>
                <a:cubicBezTo>
                  <a:pt x="579120" y="158044"/>
                  <a:pt x="685800" y="146755"/>
                  <a:pt x="792480" y="135466"/>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70" name="任意多边形 169"/>
          <p:cNvSpPr/>
          <p:nvPr/>
        </p:nvSpPr>
        <p:spPr bwMode="gray">
          <a:xfrm>
            <a:off x="2503054" y="4768312"/>
            <a:ext cx="830863" cy="596053"/>
          </a:xfrm>
          <a:custGeom>
            <a:avLst/>
            <a:gdLst>
              <a:gd name="connsiteX0" fmla="*/ 623147 w 623147"/>
              <a:gd name="connsiteY0" fmla="*/ 0 h 447040"/>
              <a:gd name="connsiteX1" fmla="*/ 338667 w 623147"/>
              <a:gd name="connsiteY1" fmla="*/ 304800 h 447040"/>
              <a:gd name="connsiteX2" fmla="*/ 0 w 623147"/>
              <a:gd name="connsiteY2" fmla="*/ 447040 h 447040"/>
            </a:gdLst>
            <a:ahLst/>
            <a:cxnLst>
              <a:cxn ang="0">
                <a:pos x="connsiteX0" y="connsiteY0"/>
              </a:cxn>
              <a:cxn ang="0">
                <a:pos x="connsiteX1" y="connsiteY1"/>
              </a:cxn>
              <a:cxn ang="0">
                <a:pos x="connsiteX2" y="connsiteY2"/>
              </a:cxn>
            </a:cxnLst>
            <a:rect l="l" t="t" r="r" b="b"/>
            <a:pathLst>
              <a:path w="623147" h="447040">
                <a:moveTo>
                  <a:pt x="623147" y="0"/>
                </a:moveTo>
                <a:cubicBezTo>
                  <a:pt x="532836" y="115146"/>
                  <a:pt x="442525" y="230293"/>
                  <a:pt x="338667" y="304800"/>
                </a:cubicBezTo>
                <a:cubicBezTo>
                  <a:pt x="234809" y="379307"/>
                  <a:pt x="117404" y="413173"/>
                  <a:pt x="0" y="447040"/>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71" name="任意多边形 170"/>
          <p:cNvSpPr/>
          <p:nvPr/>
        </p:nvSpPr>
        <p:spPr bwMode="gray">
          <a:xfrm>
            <a:off x="2492475" y="4976028"/>
            <a:ext cx="1896533" cy="379307"/>
          </a:xfrm>
          <a:custGeom>
            <a:avLst/>
            <a:gdLst>
              <a:gd name="connsiteX0" fmla="*/ 0 w 1422400"/>
              <a:gd name="connsiteY0" fmla="*/ 284480 h 284480"/>
              <a:gd name="connsiteX1" fmla="*/ 751840 w 1422400"/>
              <a:gd name="connsiteY1" fmla="*/ 203200 h 284480"/>
              <a:gd name="connsiteX2" fmla="*/ 1422400 w 1422400"/>
              <a:gd name="connsiteY2" fmla="*/ 0 h 284480"/>
            </a:gdLst>
            <a:ahLst/>
            <a:cxnLst>
              <a:cxn ang="0">
                <a:pos x="connsiteX0" y="connsiteY0"/>
              </a:cxn>
              <a:cxn ang="0">
                <a:pos x="connsiteX1" y="connsiteY1"/>
              </a:cxn>
              <a:cxn ang="0">
                <a:pos x="connsiteX2" y="connsiteY2"/>
              </a:cxn>
            </a:cxnLst>
            <a:rect l="l" t="t" r="r" b="b"/>
            <a:pathLst>
              <a:path w="1422400" h="284480">
                <a:moveTo>
                  <a:pt x="0" y="284480"/>
                </a:moveTo>
                <a:cubicBezTo>
                  <a:pt x="257386" y="267546"/>
                  <a:pt x="514773" y="250613"/>
                  <a:pt x="751840" y="203200"/>
                </a:cubicBezTo>
                <a:cubicBezTo>
                  <a:pt x="988907" y="155787"/>
                  <a:pt x="1205653" y="77893"/>
                  <a:pt x="1422400" y="0"/>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72" name="任意多边形 171"/>
          <p:cNvSpPr/>
          <p:nvPr/>
        </p:nvSpPr>
        <p:spPr bwMode="gray">
          <a:xfrm>
            <a:off x="2492476" y="5337273"/>
            <a:ext cx="1806223" cy="234809"/>
          </a:xfrm>
          <a:custGeom>
            <a:avLst/>
            <a:gdLst>
              <a:gd name="connsiteX0" fmla="*/ 0 w 1354667"/>
              <a:gd name="connsiteY0" fmla="*/ 0 h 176107"/>
              <a:gd name="connsiteX1" fmla="*/ 866987 w 1354667"/>
              <a:gd name="connsiteY1" fmla="*/ 94827 h 176107"/>
              <a:gd name="connsiteX2" fmla="*/ 1354667 w 1354667"/>
              <a:gd name="connsiteY2" fmla="*/ 176107 h 176107"/>
            </a:gdLst>
            <a:ahLst/>
            <a:cxnLst>
              <a:cxn ang="0">
                <a:pos x="connsiteX0" y="connsiteY0"/>
              </a:cxn>
              <a:cxn ang="0">
                <a:pos x="connsiteX1" y="connsiteY1"/>
              </a:cxn>
              <a:cxn ang="0">
                <a:pos x="connsiteX2" y="connsiteY2"/>
              </a:cxn>
            </a:cxnLst>
            <a:rect l="l" t="t" r="r" b="b"/>
            <a:pathLst>
              <a:path w="1354667" h="176107">
                <a:moveTo>
                  <a:pt x="0" y="0"/>
                </a:moveTo>
                <a:lnTo>
                  <a:pt x="866987" y="94827"/>
                </a:lnTo>
                <a:cubicBezTo>
                  <a:pt x="1092765" y="124178"/>
                  <a:pt x="1223716" y="150142"/>
                  <a:pt x="1354667" y="176107"/>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73" name="任意多边形 172"/>
          <p:cNvSpPr/>
          <p:nvPr/>
        </p:nvSpPr>
        <p:spPr bwMode="gray">
          <a:xfrm>
            <a:off x="2528601" y="5346304"/>
            <a:ext cx="362940" cy="451555"/>
          </a:xfrm>
          <a:custGeom>
            <a:avLst/>
            <a:gdLst>
              <a:gd name="connsiteX0" fmla="*/ 0 w 272205"/>
              <a:gd name="connsiteY0" fmla="*/ 0 h 338666"/>
              <a:gd name="connsiteX1" fmla="*/ 243840 w 272205"/>
              <a:gd name="connsiteY1" fmla="*/ 149013 h 338666"/>
              <a:gd name="connsiteX2" fmla="*/ 257386 w 272205"/>
              <a:gd name="connsiteY2" fmla="*/ 338666 h 338666"/>
            </a:gdLst>
            <a:ahLst/>
            <a:cxnLst>
              <a:cxn ang="0">
                <a:pos x="connsiteX0" y="connsiteY0"/>
              </a:cxn>
              <a:cxn ang="0">
                <a:pos x="connsiteX1" y="connsiteY1"/>
              </a:cxn>
              <a:cxn ang="0">
                <a:pos x="connsiteX2" y="connsiteY2"/>
              </a:cxn>
            </a:cxnLst>
            <a:rect l="l" t="t" r="r" b="b"/>
            <a:pathLst>
              <a:path w="272205" h="338666">
                <a:moveTo>
                  <a:pt x="0" y="0"/>
                </a:moveTo>
                <a:cubicBezTo>
                  <a:pt x="100471" y="46284"/>
                  <a:pt x="200942" y="92569"/>
                  <a:pt x="243840" y="149013"/>
                </a:cubicBezTo>
                <a:cubicBezTo>
                  <a:pt x="286738" y="205457"/>
                  <a:pt x="272062" y="272061"/>
                  <a:pt x="257386" y="338666"/>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74" name="任意多边形 173"/>
          <p:cNvSpPr/>
          <p:nvPr/>
        </p:nvSpPr>
        <p:spPr bwMode="gray">
          <a:xfrm>
            <a:off x="4198136" y="4985058"/>
            <a:ext cx="172812" cy="577992"/>
          </a:xfrm>
          <a:custGeom>
            <a:avLst/>
            <a:gdLst>
              <a:gd name="connsiteX0" fmla="*/ 82195 w 129609"/>
              <a:gd name="connsiteY0" fmla="*/ 433494 h 433494"/>
              <a:gd name="connsiteX1" fmla="*/ 915 w 129609"/>
              <a:gd name="connsiteY1" fmla="*/ 230294 h 433494"/>
              <a:gd name="connsiteX2" fmla="*/ 129609 w 129609"/>
              <a:gd name="connsiteY2" fmla="*/ 0 h 433494"/>
            </a:gdLst>
            <a:ahLst/>
            <a:cxnLst>
              <a:cxn ang="0">
                <a:pos x="connsiteX0" y="connsiteY0"/>
              </a:cxn>
              <a:cxn ang="0">
                <a:pos x="connsiteX1" y="connsiteY1"/>
              </a:cxn>
              <a:cxn ang="0">
                <a:pos x="connsiteX2" y="connsiteY2"/>
              </a:cxn>
            </a:cxnLst>
            <a:rect l="l" t="t" r="r" b="b"/>
            <a:pathLst>
              <a:path w="129609" h="433494">
                <a:moveTo>
                  <a:pt x="82195" y="433494"/>
                </a:moveTo>
                <a:cubicBezTo>
                  <a:pt x="37604" y="368018"/>
                  <a:pt x="-6987" y="302543"/>
                  <a:pt x="915" y="230294"/>
                </a:cubicBezTo>
                <a:cubicBezTo>
                  <a:pt x="8817" y="158045"/>
                  <a:pt x="69213" y="79022"/>
                  <a:pt x="129609" y="0"/>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75" name="云形 174"/>
          <p:cNvSpPr/>
          <p:nvPr/>
        </p:nvSpPr>
        <p:spPr bwMode="gray">
          <a:xfrm>
            <a:off x="7507402" y="4612559"/>
            <a:ext cx="1970951" cy="747415"/>
          </a:xfrm>
          <a:prstGeom prst="cloud">
            <a:avLst/>
          </a:prstGeom>
          <a:solidFill>
            <a:schemeClr val="accent1">
              <a:lumMod val="40000"/>
              <a:lumOff val="60000"/>
              <a:alpha val="80000"/>
            </a:schemeClr>
          </a:solidFill>
          <a:ln w="25400" cap="flat" cmpd="sng" algn="ctr">
            <a:noFill/>
            <a:prstDash val="solid"/>
          </a:ln>
          <a:effectLst/>
        </p:spPr>
        <p:txBody>
          <a:bodyPr rtlCol="0" anchor="ctr"/>
          <a:lstStyle/>
          <a:p>
            <a:pPr algn="ctr" defTabSz="1219170">
              <a:defRPr/>
            </a:pPr>
            <a:endParaRPr lang="zh-CN" altLang="en-US" sz="1400" kern="0" dirty="0">
              <a:solidFill>
                <a:srgbClr val="99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76" name="图片 175"/>
          <p:cNvPicPr>
            <a:picLocks noChangeAspect="1"/>
          </p:cNvPicPr>
          <p:nvPr/>
        </p:nvPicPr>
        <p:blipFill>
          <a:blip r:embed="rId3" cstate="print"/>
          <a:stretch>
            <a:fillRect/>
          </a:stretch>
        </p:blipFill>
        <p:spPr bwMode="gray">
          <a:xfrm>
            <a:off x="8423925" y="4267393"/>
            <a:ext cx="268073" cy="441940"/>
          </a:xfrm>
          <a:prstGeom prst="rect">
            <a:avLst/>
          </a:prstGeom>
        </p:spPr>
      </p:pic>
      <p:pic>
        <p:nvPicPr>
          <p:cNvPr id="177" name="Picture 12" descr="E:\2016.01\1.12 扁平化图标\蓝色\AR-蓝色最新-40.png"/>
          <p:cNvPicPr>
            <a:picLocks noChangeAspect="1" noChangeArrowheads="1"/>
          </p:cNvPicPr>
          <p:nvPr/>
        </p:nvPicPr>
        <p:blipFill>
          <a:blip r:embed="rId4" cstate="print"/>
          <a:srcRect/>
          <a:stretch>
            <a:fillRect/>
          </a:stretch>
        </p:blipFill>
        <p:spPr bwMode="gray">
          <a:xfrm>
            <a:off x="8168824" y="4529303"/>
            <a:ext cx="334997" cy="253112"/>
          </a:xfrm>
          <a:prstGeom prst="rect">
            <a:avLst/>
          </a:prstGeom>
          <a:noFill/>
        </p:spPr>
      </p:pic>
      <p:pic>
        <p:nvPicPr>
          <p:cNvPr id="178" name="图片 177"/>
          <p:cNvPicPr>
            <a:picLocks noChangeAspect="1"/>
          </p:cNvPicPr>
          <p:nvPr/>
        </p:nvPicPr>
        <p:blipFill>
          <a:blip r:embed="rId5" cstate="print"/>
          <a:stretch>
            <a:fillRect/>
          </a:stretch>
        </p:blipFill>
        <p:spPr bwMode="gray">
          <a:xfrm>
            <a:off x="10168319" y="5379906"/>
            <a:ext cx="216261" cy="292293"/>
          </a:xfrm>
          <a:prstGeom prst="rect">
            <a:avLst/>
          </a:prstGeom>
        </p:spPr>
      </p:pic>
      <p:pic>
        <p:nvPicPr>
          <p:cNvPr id="179" name="Picture 12" descr="E:\2016.01\1.12 扁平化图标\蓝色\AR-蓝色最新-40.png"/>
          <p:cNvPicPr>
            <a:picLocks noChangeAspect="1" noChangeArrowheads="1"/>
          </p:cNvPicPr>
          <p:nvPr/>
        </p:nvPicPr>
        <p:blipFill>
          <a:blip r:embed="rId4" cstate="print"/>
          <a:srcRect/>
          <a:stretch>
            <a:fillRect/>
          </a:stretch>
        </p:blipFill>
        <p:spPr bwMode="gray">
          <a:xfrm>
            <a:off x="9883996" y="5536923"/>
            <a:ext cx="334997" cy="253112"/>
          </a:xfrm>
          <a:prstGeom prst="rect">
            <a:avLst/>
          </a:prstGeom>
          <a:noFill/>
        </p:spPr>
      </p:pic>
      <p:pic>
        <p:nvPicPr>
          <p:cNvPr id="180" name="图片 179"/>
          <p:cNvPicPr>
            <a:picLocks noChangeAspect="1"/>
          </p:cNvPicPr>
          <p:nvPr/>
        </p:nvPicPr>
        <p:blipFill>
          <a:blip r:embed="rId5" cstate="print"/>
          <a:stretch>
            <a:fillRect/>
          </a:stretch>
        </p:blipFill>
        <p:spPr bwMode="gray">
          <a:xfrm>
            <a:off x="9514111" y="4735380"/>
            <a:ext cx="216261" cy="292293"/>
          </a:xfrm>
          <a:prstGeom prst="rect">
            <a:avLst/>
          </a:prstGeom>
        </p:spPr>
      </p:pic>
      <p:pic>
        <p:nvPicPr>
          <p:cNvPr id="181" name="Picture 12" descr="E:\2016.01\1.12 扁平化图标\蓝色\AR-蓝色最新-40.png"/>
          <p:cNvPicPr>
            <a:picLocks noChangeAspect="1" noChangeArrowheads="1"/>
          </p:cNvPicPr>
          <p:nvPr/>
        </p:nvPicPr>
        <p:blipFill>
          <a:blip r:embed="rId4" cstate="print"/>
          <a:srcRect/>
          <a:stretch>
            <a:fillRect/>
          </a:stretch>
        </p:blipFill>
        <p:spPr bwMode="gray">
          <a:xfrm>
            <a:off x="9229788" y="4892397"/>
            <a:ext cx="334997" cy="253112"/>
          </a:xfrm>
          <a:prstGeom prst="rect">
            <a:avLst/>
          </a:prstGeom>
          <a:noFill/>
        </p:spPr>
      </p:pic>
      <p:sp>
        <p:nvSpPr>
          <p:cNvPr id="182" name="任意多边形 181"/>
          <p:cNvSpPr/>
          <p:nvPr/>
        </p:nvSpPr>
        <p:spPr bwMode="gray">
          <a:xfrm>
            <a:off x="8352853" y="4780977"/>
            <a:ext cx="883097" cy="246696"/>
          </a:xfrm>
          <a:custGeom>
            <a:avLst/>
            <a:gdLst>
              <a:gd name="connsiteX0" fmla="*/ 0 w 792480"/>
              <a:gd name="connsiteY0" fmla="*/ 0 h 148501"/>
              <a:gd name="connsiteX1" fmla="*/ 447040 w 792480"/>
              <a:gd name="connsiteY1" fmla="*/ 135466 h 148501"/>
              <a:gd name="connsiteX2" fmla="*/ 792480 w 792480"/>
              <a:gd name="connsiteY2" fmla="*/ 135466 h 148501"/>
            </a:gdLst>
            <a:ahLst/>
            <a:cxnLst>
              <a:cxn ang="0">
                <a:pos x="connsiteX0" y="connsiteY0"/>
              </a:cxn>
              <a:cxn ang="0">
                <a:pos x="connsiteX1" y="connsiteY1"/>
              </a:cxn>
              <a:cxn ang="0">
                <a:pos x="connsiteX2" y="connsiteY2"/>
              </a:cxn>
            </a:cxnLst>
            <a:rect l="l" t="t" r="r" b="b"/>
            <a:pathLst>
              <a:path w="792480" h="148501">
                <a:moveTo>
                  <a:pt x="0" y="0"/>
                </a:moveTo>
                <a:cubicBezTo>
                  <a:pt x="157480" y="56444"/>
                  <a:pt x="314960" y="112888"/>
                  <a:pt x="447040" y="135466"/>
                </a:cubicBezTo>
                <a:cubicBezTo>
                  <a:pt x="579120" y="158044"/>
                  <a:pt x="685800" y="146755"/>
                  <a:pt x="792480" y="135466"/>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pic>
        <p:nvPicPr>
          <p:cNvPr id="183" name="图片 182"/>
          <p:cNvPicPr>
            <a:picLocks noChangeAspect="1"/>
          </p:cNvPicPr>
          <p:nvPr/>
        </p:nvPicPr>
        <p:blipFill>
          <a:blip r:embed="rId5" cstate="print"/>
          <a:stretch>
            <a:fillRect/>
          </a:stretch>
        </p:blipFill>
        <p:spPr bwMode="gray">
          <a:xfrm>
            <a:off x="7593688" y="4869191"/>
            <a:ext cx="216261" cy="292293"/>
          </a:xfrm>
          <a:prstGeom prst="rect">
            <a:avLst/>
          </a:prstGeom>
        </p:spPr>
      </p:pic>
      <p:pic>
        <p:nvPicPr>
          <p:cNvPr id="184" name="Picture 12" descr="E:\2016.01\1.12 扁平化图标\蓝色\AR-蓝色最新-40.png"/>
          <p:cNvPicPr>
            <a:picLocks noChangeAspect="1" noChangeArrowheads="1"/>
          </p:cNvPicPr>
          <p:nvPr/>
        </p:nvPicPr>
        <p:blipFill>
          <a:blip r:embed="rId4" cstate="print"/>
          <a:srcRect/>
          <a:stretch>
            <a:fillRect/>
          </a:stretch>
        </p:blipFill>
        <p:spPr bwMode="gray">
          <a:xfrm>
            <a:off x="7309367" y="5026208"/>
            <a:ext cx="334997" cy="253112"/>
          </a:xfrm>
          <a:prstGeom prst="rect">
            <a:avLst/>
          </a:prstGeom>
          <a:noFill/>
        </p:spPr>
      </p:pic>
      <p:sp>
        <p:nvSpPr>
          <p:cNvPr id="185" name="任意多边形 184"/>
          <p:cNvSpPr/>
          <p:nvPr/>
        </p:nvSpPr>
        <p:spPr bwMode="gray">
          <a:xfrm>
            <a:off x="7644364" y="4771946"/>
            <a:ext cx="717519" cy="426364"/>
          </a:xfrm>
          <a:custGeom>
            <a:avLst/>
            <a:gdLst>
              <a:gd name="connsiteX0" fmla="*/ 623147 w 623147"/>
              <a:gd name="connsiteY0" fmla="*/ 0 h 447040"/>
              <a:gd name="connsiteX1" fmla="*/ 338667 w 623147"/>
              <a:gd name="connsiteY1" fmla="*/ 304800 h 447040"/>
              <a:gd name="connsiteX2" fmla="*/ 0 w 623147"/>
              <a:gd name="connsiteY2" fmla="*/ 447040 h 447040"/>
            </a:gdLst>
            <a:ahLst/>
            <a:cxnLst>
              <a:cxn ang="0">
                <a:pos x="connsiteX0" y="connsiteY0"/>
              </a:cxn>
              <a:cxn ang="0">
                <a:pos x="connsiteX1" y="connsiteY1"/>
              </a:cxn>
              <a:cxn ang="0">
                <a:pos x="connsiteX2" y="connsiteY2"/>
              </a:cxn>
            </a:cxnLst>
            <a:rect l="l" t="t" r="r" b="b"/>
            <a:pathLst>
              <a:path w="623147" h="447040">
                <a:moveTo>
                  <a:pt x="623147" y="0"/>
                </a:moveTo>
                <a:cubicBezTo>
                  <a:pt x="532836" y="115146"/>
                  <a:pt x="442525" y="230293"/>
                  <a:pt x="338667" y="304800"/>
                </a:cubicBezTo>
                <a:cubicBezTo>
                  <a:pt x="234809" y="379307"/>
                  <a:pt x="117404" y="413173"/>
                  <a:pt x="0" y="447040"/>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pic>
        <p:nvPicPr>
          <p:cNvPr id="186" name="图片 185"/>
          <p:cNvPicPr>
            <a:picLocks noChangeAspect="1"/>
          </p:cNvPicPr>
          <p:nvPr/>
        </p:nvPicPr>
        <p:blipFill>
          <a:blip r:embed="rId5" cstate="print"/>
          <a:stretch>
            <a:fillRect/>
          </a:stretch>
        </p:blipFill>
        <p:spPr bwMode="gray">
          <a:xfrm>
            <a:off x="7041864" y="5515182"/>
            <a:ext cx="216261" cy="292293"/>
          </a:xfrm>
          <a:prstGeom prst="rect">
            <a:avLst/>
          </a:prstGeom>
        </p:spPr>
      </p:pic>
      <p:pic>
        <p:nvPicPr>
          <p:cNvPr id="187" name="Picture 12" descr="E:\2016.01\1.12 扁平化图标\蓝色\AR-蓝色最新-40.png"/>
          <p:cNvPicPr>
            <a:picLocks noChangeAspect="1" noChangeArrowheads="1"/>
          </p:cNvPicPr>
          <p:nvPr/>
        </p:nvPicPr>
        <p:blipFill>
          <a:blip r:embed="rId4" cstate="print"/>
          <a:srcRect/>
          <a:stretch>
            <a:fillRect/>
          </a:stretch>
        </p:blipFill>
        <p:spPr bwMode="gray">
          <a:xfrm>
            <a:off x="6757543" y="5672199"/>
            <a:ext cx="334997" cy="253112"/>
          </a:xfrm>
          <a:prstGeom prst="rect">
            <a:avLst/>
          </a:prstGeom>
          <a:noFill/>
        </p:spPr>
      </p:pic>
      <p:pic>
        <p:nvPicPr>
          <p:cNvPr id="188" name="图片 187"/>
          <p:cNvPicPr>
            <a:picLocks noChangeAspect="1"/>
          </p:cNvPicPr>
          <p:nvPr/>
        </p:nvPicPr>
        <p:blipFill>
          <a:blip r:embed="rId5" cstate="print"/>
          <a:stretch>
            <a:fillRect/>
          </a:stretch>
        </p:blipFill>
        <p:spPr bwMode="gray">
          <a:xfrm>
            <a:off x="7894228" y="5579750"/>
            <a:ext cx="216261" cy="292293"/>
          </a:xfrm>
          <a:prstGeom prst="rect">
            <a:avLst/>
          </a:prstGeom>
        </p:spPr>
      </p:pic>
      <p:pic>
        <p:nvPicPr>
          <p:cNvPr id="189" name="Picture 12" descr="E:\2016.01\1.12 扁平化图标\蓝色\AR-蓝色最新-40.png"/>
          <p:cNvPicPr>
            <a:picLocks noChangeAspect="1" noChangeArrowheads="1"/>
          </p:cNvPicPr>
          <p:nvPr/>
        </p:nvPicPr>
        <p:blipFill>
          <a:blip r:embed="rId4" cstate="print"/>
          <a:srcRect/>
          <a:stretch>
            <a:fillRect/>
          </a:stretch>
        </p:blipFill>
        <p:spPr bwMode="gray">
          <a:xfrm>
            <a:off x="7609907" y="5736767"/>
            <a:ext cx="334997" cy="253112"/>
          </a:xfrm>
          <a:prstGeom prst="rect">
            <a:avLst/>
          </a:prstGeom>
          <a:noFill/>
        </p:spPr>
      </p:pic>
      <p:sp>
        <p:nvSpPr>
          <p:cNvPr id="190" name="任意多边形 189"/>
          <p:cNvSpPr/>
          <p:nvPr/>
        </p:nvSpPr>
        <p:spPr bwMode="gray">
          <a:xfrm>
            <a:off x="6989246" y="5272587"/>
            <a:ext cx="523915" cy="399612"/>
          </a:xfrm>
          <a:custGeom>
            <a:avLst/>
            <a:gdLst>
              <a:gd name="connsiteX0" fmla="*/ 623147 w 623147"/>
              <a:gd name="connsiteY0" fmla="*/ 0 h 447040"/>
              <a:gd name="connsiteX1" fmla="*/ 338667 w 623147"/>
              <a:gd name="connsiteY1" fmla="*/ 304800 h 447040"/>
              <a:gd name="connsiteX2" fmla="*/ 0 w 623147"/>
              <a:gd name="connsiteY2" fmla="*/ 447040 h 447040"/>
            </a:gdLst>
            <a:ahLst/>
            <a:cxnLst>
              <a:cxn ang="0">
                <a:pos x="connsiteX0" y="connsiteY0"/>
              </a:cxn>
              <a:cxn ang="0">
                <a:pos x="connsiteX1" y="connsiteY1"/>
              </a:cxn>
              <a:cxn ang="0">
                <a:pos x="connsiteX2" y="connsiteY2"/>
              </a:cxn>
            </a:cxnLst>
            <a:rect l="l" t="t" r="r" b="b"/>
            <a:pathLst>
              <a:path w="623147" h="447040">
                <a:moveTo>
                  <a:pt x="623147" y="0"/>
                </a:moveTo>
                <a:cubicBezTo>
                  <a:pt x="532836" y="115146"/>
                  <a:pt x="442525" y="230293"/>
                  <a:pt x="338667" y="304800"/>
                </a:cubicBezTo>
                <a:cubicBezTo>
                  <a:pt x="234809" y="379307"/>
                  <a:pt x="117404" y="413173"/>
                  <a:pt x="0" y="447040"/>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91" name="任意多边形 190"/>
          <p:cNvSpPr/>
          <p:nvPr/>
        </p:nvSpPr>
        <p:spPr bwMode="gray">
          <a:xfrm>
            <a:off x="7498645" y="5252781"/>
            <a:ext cx="311305" cy="493916"/>
          </a:xfrm>
          <a:custGeom>
            <a:avLst/>
            <a:gdLst>
              <a:gd name="connsiteX0" fmla="*/ 0 w 738293"/>
              <a:gd name="connsiteY0" fmla="*/ 0 h 602827"/>
              <a:gd name="connsiteX1" fmla="*/ 257386 w 738293"/>
              <a:gd name="connsiteY1" fmla="*/ 399627 h 602827"/>
              <a:gd name="connsiteX2" fmla="*/ 738293 w 738293"/>
              <a:gd name="connsiteY2" fmla="*/ 602827 h 602827"/>
            </a:gdLst>
            <a:ahLst/>
            <a:cxnLst>
              <a:cxn ang="0">
                <a:pos x="connsiteX0" y="connsiteY0"/>
              </a:cxn>
              <a:cxn ang="0">
                <a:pos x="connsiteX1" y="connsiteY1"/>
              </a:cxn>
              <a:cxn ang="0">
                <a:pos x="connsiteX2" y="connsiteY2"/>
              </a:cxn>
            </a:cxnLst>
            <a:rect l="l" t="t" r="r" b="b"/>
            <a:pathLst>
              <a:path w="738293" h="602827">
                <a:moveTo>
                  <a:pt x="0" y="0"/>
                </a:moveTo>
                <a:cubicBezTo>
                  <a:pt x="67168" y="149578"/>
                  <a:pt x="134337" y="299156"/>
                  <a:pt x="257386" y="399627"/>
                </a:cubicBezTo>
                <a:cubicBezTo>
                  <a:pt x="380435" y="500098"/>
                  <a:pt x="559364" y="551462"/>
                  <a:pt x="738293" y="602827"/>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pic>
        <p:nvPicPr>
          <p:cNvPr id="192" name="图片 191"/>
          <p:cNvPicPr>
            <a:picLocks noChangeAspect="1"/>
          </p:cNvPicPr>
          <p:nvPr/>
        </p:nvPicPr>
        <p:blipFill>
          <a:blip r:embed="rId5" cstate="print"/>
          <a:stretch>
            <a:fillRect/>
          </a:stretch>
        </p:blipFill>
        <p:spPr bwMode="gray">
          <a:xfrm>
            <a:off x="9159799" y="5566552"/>
            <a:ext cx="216261" cy="292293"/>
          </a:xfrm>
          <a:prstGeom prst="rect">
            <a:avLst/>
          </a:prstGeom>
        </p:spPr>
      </p:pic>
      <p:pic>
        <p:nvPicPr>
          <p:cNvPr id="193" name="Picture 12" descr="E:\2016.01\1.12 扁平化图标\蓝色\AR-蓝色最新-40.png"/>
          <p:cNvPicPr>
            <a:picLocks noChangeAspect="1" noChangeArrowheads="1"/>
          </p:cNvPicPr>
          <p:nvPr/>
        </p:nvPicPr>
        <p:blipFill>
          <a:blip r:embed="rId4" cstate="print"/>
          <a:srcRect/>
          <a:stretch>
            <a:fillRect/>
          </a:stretch>
        </p:blipFill>
        <p:spPr bwMode="gray">
          <a:xfrm>
            <a:off x="8875476" y="5723569"/>
            <a:ext cx="334997" cy="253112"/>
          </a:xfrm>
          <a:prstGeom prst="rect">
            <a:avLst/>
          </a:prstGeom>
          <a:noFill/>
        </p:spPr>
      </p:pic>
      <p:sp>
        <p:nvSpPr>
          <p:cNvPr id="194" name="任意多边形 193"/>
          <p:cNvSpPr/>
          <p:nvPr/>
        </p:nvSpPr>
        <p:spPr bwMode="gray">
          <a:xfrm>
            <a:off x="9391801" y="5121543"/>
            <a:ext cx="639157" cy="415381"/>
          </a:xfrm>
          <a:custGeom>
            <a:avLst/>
            <a:gdLst>
              <a:gd name="connsiteX0" fmla="*/ 0 w 738293"/>
              <a:gd name="connsiteY0" fmla="*/ 0 h 602827"/>
              <a:gd name="connsiteX1" fmla="*/ 257386 w 738293"/>
              <a:gd name="connsiteY1" fmla="*/ 399627 h 602827"/>
              <a:gd name="connsiteX2" fmla="*/ 738293 w 738293"/>
              <a:gd name="connsiteY2" fmla="*/ 602827 h 602827"/>
            </a:gdLst>
            <a:ahLst/>
            <a:cxnLst>
              <a:cxn ang="0">
                <a:pos x="connsiteX0" y="connsiteY0"/>
              </a:cxn>
              <a:cxn ang="0">
                <a:pos x="connsiteX1" y="connsiteY1"/>
              </a:cxn>
              <a:cxn ang="0">
                <a:pos x="connsiteX2" y="connsiteY2"/>
              </a:cxn>
            </a:cxnLst>
            <a:rect l="l" t="t" r="r" b="b"/>
            <a:pathLst>
              <a:path w="738293" h="602827">
                <a:moveTo>
                  <a:pt x="0" y="0"/>
                </a:moveTo>
                <a:cubicBezTo>
                  <a:pt x="67168" y="149578"/>
                  <a:pt x="134337" y="299156"/>
                  <a:pt x="257386" y="399627"/>
                </a:cubicBezTo>
                <a:cubicBezTo>
                  <a:pt x="380435" y="500098"/>
                  <a:pt x="559364" y="551462"/>
                  <a:pt x="738293" y="602827"/>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95" name="任意多边形 194"/>
          <p:cNvSpPr/>
          <p:nvPr/>
        </p:nvSpPr>
        <p:spPr bwMode="gray">
          <a:xfrm>
            <a:off x="9078641" y="5150451"/>
            <a:ext cx="333427" cy="568464"/>
          </a:xfrm>
          <a:custGeom>
            <a:avLst/>
            <a:gdLst>
              <a:gd name="connsiteX0" fmla="*/ 338667 w 341124"/>
              <a:gd name="connsiteY0" fmla="*/ 0 h 778934"/>
              <a:gd name="connsiteX1" fmla="*/ 291254 w 341124"/>
              <a:gd name="connsiteY1" fmla="*/ 494454 h 778934"/>
              <a:gd name="connsiteX2" fmla="*/ 0 w 341124"/>
              <a:gd name="connsiteY2" fmla="*/ 778934 h 778934"/>
            </a:gdLst>
            <a:ahLst/>
            <a:cxnLst>
              <a:cxn ang="0">
                <a:pos x="connsiteX0" y="connsiteY0"/>
              </a:cxn>
              <a:cxn ang="0">
                <a:pos x="connsiteX1" y="connsiteY1"/>
              </a:cxn>
              <a:cxn ang="0">
                <a:pos x="connsiteX2" y="connsiteY2"/>
              </a:cxn>
            </a:cxnLst>
            <a:rect l="l" t="t" r="r" b="b"/>
            <a:pathLst>
              <a:path w="341124" h="778934">
                <a:moveTo>
                  <a:pt x="338667" y="0"/>
                </a:moveTo>
                <a:cubicBezTo>
                  <a:pt x="343182" y="182316"/>
                  <a:pt x="347698" y="364632"/>
                  <a:pt x="291254" y="494454"/>
                </a:cubicBezTo>
                <a:cubicBezTo>
                  <a:pt x="234810" y="624276"/>
                  <a:pt x="117405" y="701605"/>
                  <a:pt x="0" y="778934"/>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196" name="任意多边形 195"/>
          <p:cNvSpPr/>
          <p:nvPr/>
        </p:nvSpPr>
        <p:spPr bwMode="gray">
          <a:xfrm>
            <a:off x="7629831" y="5005351"/>
            <a:ext cx="1599957" cy="211165"/>
          </a:xfrm>
          <a:custGeom>
            <a:avLst/>
            <a:gdLst>
              <a:gd name="connsiteX0" fmla="*/ 0 w 1016000"/>
              <a:gd name="connsiteY0" fmla="*/ 183562 h 183562"/>
              <a:gd name="connsiteX1" fmla="*/ 541867 w 1016000"/>
              <a:gd name="connsiteY1" fmla="*/ 14229 h 183562"/>
              <a:gd name="connsiteX2" fmla="*/ 1016000 w 1016000"/>
              <a:gd name="connsiteY2" fmla="*/ 21002 h 183562"/>
            </a:gdLst>
            <a:ahLst/>
            <a:cxnLst>
              <a:cxn ang="0">
                <a:pos x="connsiteX0" y="connsiteY0"/>
              </a:cxn>
              <a:cxn ang="0">
                <a:pos x="connsiteX1" y="connsiteY1"/>
              </a:cxn>
              <a:cxn ang="0">
                <a:pos x="connsiteX2" y="connsiteY2"/>
              </a:cxn>
            </a:cxnLst>
            <a:rect l="l" t="t" r="r" b="b"/>
            <a:pathLst>
              <a:path w="1016000" h="183562">
                <a:moveTo>
                  <a:pt x="0" y="183562"/>
                </a:moveTo>
                <a:cubicBezTo>
                  <a:pt x="186267" y="112442"/>
                  <a:pt x="372534" y="41322"/>
                  <a:pt x="541867" y="14229"/>
                </a:cubicBezTo>
                <a:cubicBezTo>
                  <a:pt x="711200" y="-12864"/>
                  <a:pt x="863600" y="4069"/>
                  <a:pt x="1016000" y="21002"/>
                </a:cubicBezTo>
              </a:path>
            </a:pathLst>
          </a:custGeom>
          <a:noFill/>
          <a:ln w="19050" cap="flat" cmpd="sng" algn="ctr">
            <a:solidFill>
              <a:schemeClr val="bg2">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latin typeface="Huawei Sans" panose="020C0503030203020204" pitchFamily="34" charset="0"/>
              <a:ea typeface="方正兰亭黑简体" panose="02000000000000000000" pitchFamily="2" charset="-122"/>
            </a:endParaRPr>
          </a:p>
        </p:txBody>
      </p:sp>
      <p:sp>
        <p:nvSpPr>
          <p:cNvPr id="203" name="文本框 202"/>
          <p:cNvSpPr txBox="1"/>
          <p:nvPr/>
        </p:nvSpPr>
        <p:spPr bwMode="gray">
          <a:xfrm>
            <a:off x="1804672" y="2342774"/>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Site1</a:t>
            </a:r>
            <a:endParaRPr lang="zh-CN" altLang="en-US" sz="1200" dirty="0">
              <a:latin typeface="Huawei Sans" panose="020C0503030203020204" pitchFamily="34" charset="0"/>
              <a:ea typeface="方正兰亭黑简体" panose="02000000000000000000" pitchFamily="2" charset="-122"/>
            </a:endParaRPr>
          </a:p>
        </p:txBody>
      </p:sp>
      <p:sp>
        <p:nvSpPr>
          <p:cNvPr id="204" name="文本框 203"/>
          <p:cNvSpPr txBox="1"/>
          <p:nvPr/>
        </p:nvSpPr>
        <p:spPr bwMode="gray">
          <a:xfrm>
            <a:off x="2297815" y="2935176"/>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Site2</a:t>
            </a:r>
            <a:endParaRPr lang="zh-CN" altLang="en-US" sz="1200" dirty="0">
              <a:latin typeface="Huawei Sans" panose="020C0503030203020204" pitchFamily="34" charset="0"/>
              <a:ea typeface="方正兰亭黑简体" panose="02000000000000000000" pitchFamily="2" charset="-122"/>
            </a:endParaRPr>
          </a:p>
        </p:txBody>
      </p:sp>
      <p:sp>
        <p:nvSpPr>
          <p:cNvPr id="205" name="文本框 204"/>
          <p:cNvSpPr txBox="1"/>
          <p:nvPr/>
        </p:nvSpPr>
        <p:spPr bwMode="gray">
          <a:xfrm>
            <a:off x="3883008" y="2637509"/>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Site3</a:t>
            </a:r>
            <a:endParaRPr lang="zh-CN" altLang="en-US" sz="1200" dirty="0">
              <a:latin typeface="Huawei Sans" panose="020C0503030203020204" pitchFamily="34" charset="0"/>
              <a:ea typeface="方正兰亭黑简体" panose="02000000000000000000" pitchFamily="2" charset="-122"/>
            </a:endParaRPr>
          </a:p>
        </p:txBody>
      </p:sp>
      <p:sp>
        <p:nvSpPr>
          <p:cNvPr id="206" name="文本框 205"/>
          <p:cNvSpPr txBox="1"/>
          <p:nvPr/>
        </p:nvSpPr>
        <p:spPr bwMode="gray">
          <a:xfrm>
            <a:off x="4049696" y="1907126"/>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Site4</a:t>
            </a:r>
            <a:endParaRPr lang="zh-CN" altLang="en-US" sz="1200" dirty="0">
              <a:latin typeface="Huawei Sans" panose="020C0503030203020204" pitchFamily="34" charset="0"/>
              <a:ea typeface="方正兰亭黑简体" panose="02000000000000000000" pitchFamily="2" charset="-122"/>
            </a:endParaRPr>
          </a:p>
        </p:txBody>
      </p:sp>
      <p:sp>
        <p:nvSpPr>
          <p:cNvPr id="207" name="文本框 206"/>
          <p:cNvSpPr txBox="1"/>
          <p:nvPr/>
        </p:nvSpPr>
        <p:spPr bwMode="gray">
          <a:xfrm>
            <a:off x="2583192" y="1636404"/>
            <a:ext cx="68800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HQ/DC</a:t>
            </a:r>
            <a:endParaRPr lang="zh-CN" altLang="en-US" sz="1200" dirty="0">
              <a:latin typeface="Huawei Sans" panose="020C0503030203020204" pitchFamily="34" charset="0"/>
              <a:ea typeface="方正兰亭黑简体" panose="02000000000000000000" pitchFamily="2" charset="-122"/>
            </a:endParaRPr>
          </a:p>
        </p:txBody>
      </p:sp>
      <p:sp>
        <p:nvSpPr>
          <p:cNvPr id="208" name="文本框 207"/>
          <p:cNvSpPr txBox="1"/>
          <p:nvPr/>
        </p:nvSpPr>
        <p:spPr bwMode="gray">
          <a:xfrm>
            <a:off x="6977476" y="2284765"/>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Site1</a:t>
            </a:r>
            <a:endParaRPr lang="zh-CN" altLang="en-US" sz="1200" dirty="0">
              <a:latin typeface="Huawei Sans" panose="020C0503030203020204" pitchFamily="34" charset="0"/>
              <a:ea typeface="方正兰亭黑简体" panose="02000000000000000000" pitchFamily="2" charset="-122"/>
            </a:endParaRPr>
          </a:p>
        </p:txBody>
      </p:sp>
      <p:sp>
        <p:nvSpPr>
          <p:cNvPr id="209" name="文本框 208"/>
          <p:cNvSpPr txBox="1"/>
          <p:nvPr/>
        </p:nvSpPr>
        <p:spPr bwMode="gray">
          <a:xfrm>
            <a:off x="7470619" y="2877167"/>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Site2</a:t>
            </a:r>
            <a:endParaRPr lang="zh-CN" altLang="en-US" sz="1200" dirty="0">
              <a:latin typeface="Huawei Sans" panose="020C0503030203020204" pitchFamily="34" charset="0"/>
              <a:ea typeface="方正兰亭黑简体" panose="02000000000000000000" pitchFamily="2" charset="-122"/>
            </a:endParaRPr>
          </a:p>
        </p:txBody>
      </p:sp>
      <p:sp>
        <p:nvSpPr>
          <p:cNvPr id="210" name="文本框 209"/>
          <p:cNvSpPr txBox="1"/>
          <p:nvPr/>
        </p:nvSpPr>
        <p:spPr bwMode="gray">
          <a:xfrm>
            <a:off x="9326440" y="2492624"/>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Site3</a:t>
            </a:r>
            <a:endParaRPr lang="zh-CN" altLang="en-US" sz="1200" dirty="0">
              <a:latin typeface="Huawei Sans" panose="020C0503030203020204" pitchFamily="34" charset="0"/>
              <a:ea typeface="方正兰亭黑简体" panose="02000000000000000000" pitchFamily="2" charset="-122"/>
            </a:endParaRPr>
          </a:p>
        </p:txBody>
      </p:sp>
      <p:sp>
        <p:nvSpPr>
          <p:cNvPr id="211" name="文本框 210"/>
          <p:cNvSpPr txBox="1"/>
          <p:nvPr/>
        </p:nvSpPr>
        <p:spPr bwMode="gray">
          <a:xfrm>
            <a:off x="9222500" y="1849117"/>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Site4</a:t>
            </a:r>
            <a:endParaRPr lang="zh-CN" altLang="en-US" sz="1200" dirty="0">
              <a:latin typeface="Huawei Sans" panose="020C0503030203020204" pitchFamily="34" charset="0"/>
              <a:ea typeface="方正兰亭黑简体" panose="02000000000000000000" pitchFamily="2" charset="-122"/>
            </a:endParaRPr>
          </a:p>
        </p:txBody>
      </p:sp>
      <p:sp>
        <p:nvSpPr>
          <p:cNvPr id="212" name="文本框 211"/>
          <p:cNvSpPr txBox="1"/>
          <p:nvPr/>
        </p:nvSpPr>
        <p:spPr bwMode="gray">
          <a:xfrm>
            <a:off x="7755996" y="1578395"/>
            <a:ext cx="68800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HQ/DC</a:t>
            </a:r>
            <a:endParaRPr lang="zh-CN" altLang="en-US" sz="1200" dirty="0">
              <a:latin typeface="Huawei Sans" panose="020C0503030203020204" pitchFamily="34" charset="0"/>
              <a:ea typeface="方正兰亭黑简体" panose="02000000000000000000" pitchFamily="2" charset="-122"/>
            </a:endParaRPr>
          </a:p>
        </p:txBody>
      </p:sp>
      <p:sp>
        <p:nvSpPr>
          <p:cNvPr id="213" name="文本框 212"/>
          <p:cNvSpPr txBox="1"/>
          <p:nvPr/>
        </p:nvSpPr>
        <p:spPr bwMode="gray">
          <a:xfrm>
            <a:off x="1898151" y="4953759"/>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Site1</a:t>
            </a:r>
            <a:endParaRPr lang="zh-CN" altLang="en-US" sz="1200" dirty="0">
              <a:latin typeface="Huawei Sans" panose="020C0503030203020204" pitchFamily="34" charset="0"/>
              <a:ea typeface="方正兰亭黑简体" panose="02000000000000000000" pitchFamily="2" charset="-122"/>
            </a:endParaRPr>
          </a:p>
        </p:txBody>
      </p:sp>
      <p:sp>
        <p:nvSpPr>
          <p:cNvPr id="214" name="文本框 213"/>
          <p:cNvSpPr txBox="1"/>
          <p:nvPr/>
        </p:nvSpPr>
        <p:spPr bwMode="gray">
          <a:xfrm>
            <a:off x="2269427" y="5564607"/>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Site2</a:t>
            </a:r>
            <a:endParaRPr lang="zh-CN" altLang="en-US" sz="1200" dirty="0">
              <a:latin typeface="Huawei Sans" panose="020C0503030203020204" pitchFamily="34" charset="0"/>
              <a:ea typeface="方正兰亭黑简体" panose="02000000000000000000" pitchFamily="2" charset="-122"/>
            </a:endParaRPr>
          </a:p>
        </p:txBody>
      </p:sp>
      <p:sp>
        <p:nvSpPr>
          <p:cNvPr id="215" name="文本框 214"/>
          <p:cNvSpPr txBox="1"/>
          <p:nvPr/>
        </p:nvSpPr>
        <p:spPr bwMode="gray">
          <a:xfrm>
            <a:off x="4178171" y="5169336"/>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Site3</a:t>
            </a:r>
            <a:endParaRPr lang="zh-CN" altLang="en-US" sz="1200" dirty="0">
              <a:latin typeface="Huawei Sans" panose="020C0503030203020204" pitchFamily="34" charset="0"/>
              <a:ea typeface="方正兰亭黑简体" panose="02000000000000000000" pitchFamily="2" charset="-122"/>
            </a:endParaRPr>
          </a:p>
        </p:txBody>
      </p:sp>
      <p:sp>
        <p:nvSpPr>
          <p:cNvPr id="216" name="文本框 215"/>
          <p:cNvSpPr txBox="1"/>
          <p:nvPr/>
        </p:nvSpPr>
        <p:spPr bwMode="gray">
          <a:xfrm>
            <a:off x="4143175" y="4518111"/>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Site4</a:t>
            </a:r>
            <a:endParaRPr lang="zh-CN" altLang="en-US" sz="1200" dirty="0">
              <a:latin typeface="Huawei Sans" panose="020C0503030203020204" pitchFamily="34" charset="0"/>
              <a:ea typeface="方正兰亭黑简体" panose="02000000000000000000" pitchFamily="2" charset="-122"/>
            </a:endParaRPr>
          </a:p>
        </p:txBody>
      </p:sp>
      <p:sp>
        <p:nvSpPr>
          <p:cNvPr id="217" name="文本框 216"/>
          <p:cNvSpPr txBox="1"/>
          <p:nvPr/>
        </p:nvSpPr>
        <p:spPr bwMode="gray">
          <a:xfrm>
            <a:off x="2676670" y="4247388"/>
            <a:ext cx="68800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HQ/DC</a:t>
            </a:r>
            <a:endParaRPr lang="zh-CN" altLang="en-US" sz="1200" dirty="0">
              <a:latin typeface="Huawei Sans" panose="020C0503030203020204" pitchFamily="34" charset="0"/>
              <a:ea typeface="方正兰亭黑简体" panose="02000000000000000000" pitchFamily="2" charset="-122"/>
            </a:endParaRPr>
          </a:p>
        </p:txBody>
      </p:sp>
      <p:sp>
        <p:nvSpPr>
          <p:cNvPr id="218" name="文本框 217"/>
          <p:cNvSpPr txBox="1"/>
          <p:nvPr/>
        </p:nvSpPr>
        <p:spPr bwMode="gray">
          <a:xfrm>
            <a:off x="6613208" y="5403401"/>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Site1</a:t>
            </a:r>
            <a:endParaRPr lang="zh-CN" altLang="en-US" sz="1200" dirty="0">
              <a:latin typeface="Huawei Sans" panose="020C0503030203020204" pitchFamily="34" charset="0"/>
              <a:ea typeface="方正兰亭黑简体" panose="02000000000000000000" pitchFamily="2" charset="-122"/>
            </a:endParaRPr>
          </a:p>
        </p:txBody>
      </p:sp>
      <p:sp>
        <p:nvSpPr>
          <p:cNvPr id="219" name="文本框 218"/>
          <p:cNvSpPr txBox="1"/>
          <p:nvPr/>
        </p:nvSpPr>
        <p:spPr bwMode="gray">
          <a:xfrm>
            <a:off x="7708558" y="5342987"/>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Site2</a:t>
            </a:r>
            <a:endParaRPr lang="zh-CN" altLang="en-US" sz="1200" dirty="0">
              <a:latin typeface="Huawei Sans" panose="020C0503030203020204" pitchFamily="34" charset="0"/>
              <a:ea typeface="方正兰亭黑简体" panose="02000000000000000000" pitchFamily="2" charset="-122"/>
            </a:endParaRPr>
          </a:p>
        </p:txBody>
      </p:sp>
      <p:sp>
        <p:nvSpPr>
          <p:cNvPr id="220" name="文本框 219"/>
          <p:cNvSpPr txBox="1"/>
          <p:nvPr/>
        </p:nvSpPr>
        <p:spPr bwMode="gray">
          <a:xfrm>
            <a:off x="8720636" y="5448769"/>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Site3</a:t>
            </a:r>
            <a:endParaRPr lang="zh-CN" altLang="en-US" sz="1200" dirty="0">
              <a:latin typeface="Huawei Sans" panose="020C0503030203020204" pitchFamily="34" charset="0"/>
              <a:ea typeface="方正兰亭黑简体" panose="02000000000000000000" pitchFamily="2" charset="-122"/>
            </a:endParaRPr>
          </a:p>
        </p:txBody>
      </p:sp>
      <p:sp>
        <p:nvSpPr>
          <p:cNvPr id="221" name="文本框 220"/>
          <p:cNvSpPr txBox="1"/>
          <p:nvPr/>
        </p:nvSpPr>
        <p:spPr bwMode="gray">
          <a:xfrm>
            <a:off x="9756817" y="5170321"/>
            <a:ext cx="5293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Site4</a:t>
            </a:r>
            <a:endParaRPr lang="zh-CN" altLang="en-US" sz="1200" dirty="0">
              <a:latin typeface="Huawei Sans" panose="020C0503030203020204" pitchFamily="34" charset="0"/>
              <a:ea typeface="方正兰亭黑简体" panose="02000000000000000000" pitchFamily="2" charset="-122"/>
            </a:endParaRPr>
          </a:p>
        </p:txBody>
      </p:sp>
      <p:sp>
        <p:nvSpPr>
          <p:cNvPr id="222" name="文本框 221"/>
          <p:cNvSpPr txBox="1"/>
          <p:nvPr/>
        </p:nvSpPr>
        <p:spPr bwMode="gray">
          <a:xfrm>
            <a:off x="7744284" y="4174341"/>
            <a:ext cx="68800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HQ/DC</a:t>
            </a:r>
            <a:endParaRPr lang="zh-CN" altLang="en-US" sz="1200" dirty="0">
              <a:latin typeface="Huawei Sans" panose="020C0503030203020204" pitchFamily="34" charset="0"/>
              <a:ea typeface="方正兰亭黑简体" panose="02000000000000000000" pitchFamily="2" charset="-122"/>
            </a:endParaRPr>
          </a:p>
        </p:txBody>
      </p:sp>
      <p:sp>
        <p:nvSpPr>
          <p:cNvPr id="223" name="文本框 222"/>
          <p:cNvSpPr txBox="1"/>
          <p:nvPr/>
        </p:nvSpPr>
        <p:spPr bwMode="gray">
          <a:xfrm>
            <a:off x="7109402" y="4662613"/>
            <a:ext cx="785793" cy="276999"/>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rPr>
              <a:t>Border 1</a:t>
            </a:r>
            <a:endParaRPr lang="zh-CN" altLang="en-US" sz="1200" dirty="0">
              <a:latin typeface="Huawei Sans" panose="020C0503030203020204" pitchFamily="34" charset="0"/>
              <a:ea typeface="方正兰亭黑简体" panose="02000000000000000000" pitchFamily="2" charset="-122"/>
            </a:endParaRPr>
          </a:p>
        </p:txBody>
      </p:sp>
      <p:sp>
        <p:nvSpPr>
          <p:cNvPr id="224" name="文本框 223"/>
          <p:cNvSpPr txBox="1"/>
          <p:nvPr/>
        </p:nvSpPr>
        <p:spPr bwMode="gray">
          <a:xfrm>
            <a:off x="9028408" y="4503473"/>
            <a:ext cx="785793" cy="276999"/>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rPr>
              <a:t>Border 2</a:t>
            </a:r>
            <a:endParaRPr lang="zh-CN" altLang="en-US" sz="1200" dirty="0">
              <a:latin typeface="Huawei Sans" panose="020C0503030203020204" pitchFamily="34" charset="0"/>
              <a:ea typeface="方正兰亭黑简体" panose="02000000000000000000" pitchFamily="2" charset="-122"/>
            </a:endParaRPr>
          </a:p>
        </p:txBody>
      </p:sp>
      <p:sp>
        <p:nvSpPr>
          <p:cNvPr id="113" name="圆角矩形 75"/>
          <p:cNvSpPr/>
          <p:nvPr/>
        </p:nvSpPr>
        <p:spPr bwMode="gray">
          <a:xfrm>
            <a:off x="6150265" y="1081556"/>
            <a:ext cx="4841146"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a:solidFill>
                  <a:srgbClr val="30B5C5"/>
                </a:solidFill>
                <a:latin typeface="Huawei Sans" panose="020C0503030203020204" pitchFamily="34" charset="0"/>
                <a:ea typeface="方正兰亭黑简体" panose="02000000000000000000" pitchFamily="2" charset="-122"/>
              </a:rPr>
              <a:t>Full-mesh</a:t>
            </a:r>
            <a:r>
              <a:rPr lang="zh-CN" altLang="en-US" sz="1600">
                <a:solidFill>
                  <a:srgbClr val="30B5C5"/>
                </a:solidFill>
                <a:latin typeface="Huawei Sans" panose="020C0503030203020204" pitchFamily="34" charset="0"/>
                <a:ea typeface="方正兰亭黑简体" panose="02000000000000000000" pitchFamily="2" charset="-122"/>
              </a:rPr>
              <a:t>组</a:t>
            </a:r>
            <a:r>
              <a:rPr lang="zh-CN" altLang="en-US" sz="1600" dirty="0">
                <a:solidFill>
                  <a:srgbClr val="30B5C5"/>
                </a:solidFill>
                <a:latin typeface="Huawei Sans" panose="020C0503030203020204" pitchFamily="34" charset="0"/>
                <a:ea typeface="方正兰亭黑简体" panose="02000000000000000000" pitchFamily="2" charset="-122"/>
              </a:rPr>
              <a:t>网拓扑</a:t>
            </a:r>
            <a:endParaRPr lang="en-US" altLang="zh-CN" sz="1600" dirty="0">
              <a:solidFill>
                <a:srgbClr val="30B5C5"/>
              </a:solidFill>
              <a:latin typeface="Huawei Sans" panose="020C0503030203020204" pitchFamily="34" charset="0"/>
              <a:ea typeface="方正兰亭黑简体" panose="02000000000000000000" pitchFamily="2" charset="-122"/>
            </a:endParaRPr>
          </a:p>
        </p:txBody>
      </p:sp>
      <p:sp>
        <p:nvSpPr>
          <p:cNvPr id="114" name="圆角矩形 75"/>
          <p:cNvSpPr/>
          <p:nvPr/>
        </p:nvSpPr>
        <p:spPr bwMode="gray">
          <a:xfrm>
            <a:off x="1087994" y="1083347"/>
            <a:ext cx="4728391"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a:solidFill>
                  <a:srgbClr val="30B5C5"/>
                </a:solidFill>
                <a:latin typeface="Huawei Sans" panose="020C0503030203020204" pitchFamily="34" charset="0"/>
                <a:ea typeface="方正兰亭黑简体" panose="02000000000000000000" pitchFamily="2" charset="-122"/>
              </a:rPr>
              <a:t>Hub-Spoke</a:t>
            </a:r>
            <a:r>
              <a:rPr lang="zh-CN" altLang="en-US" sz="1600">
                <a:solidFill>
                  <a:srgbClr val="30B5C5"/>
                </a:solidFill>
                <a:latin typeface="Huawei Sans" panose="020C0503030203020204" pitchFamily="34" charset="0"/>
                <a:ea typeface="方正兰亭黑简体" panose="02000000000000000000" pitchFamily="2" charset="-122"/>
              </a:rPr>
              <a:t>组</a:t>
            </a:r>
            <a:r>
              <a:rPr lang="zh-CN" altLang="en-US" sz="1600" dirty="0">
                <a:solidFill>
                  <a:srgbClr val="30B5C5"/>
                </a:solidFill>
                <a:latin typeface="Huawei Sans" panose="020C0503030203020204" pitchFamily="34" charset="0"/>
                <a:ea typeface="方正兰亭黑简体" panose="02000000000000000000" pitchFamily="2" charset="-122"/>
              </a:rPr>
              <a:t>网拓扑</a:t>
            </a:r>
            <a:endParaRPr lang="en-US" altLang="zh-CN" sz="1600" dirty="0">
              <a:solidFill>
                <a:srgbClr val="30B5C5"/>
              </a:solidFill>
              <a:latin typeface="Huawei Sans" panose="020C0503030203020204" pitchFamily="34" charset="0"/>
              <a:ea typeface="方正兰亭黑简体" panose="02000000000000000000" pitchFamily="2" charset="-122"/>
            </a:endParaRPr>
          </a:p>
        </p:txBody>
      </p:sp>
      <p:sp>
        <p:nvSpPr>
          <p:cNvPr id="225" name="圆角矩形 75"/>
          <p:cNvSpPr/>
          <p:nvPr/>
        </p:nvSpPr>
        <p:spPr bwMode="gray">
          <a:xfrm>
            <a:off x="6150265" y="1523125"/>
            <a:ext cx="4841146" cy="205587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26" name="圆角矩形 75"/>
          <p:cNvSpPr/>
          <p:nvPr/>
        </p:nvSpPr>
        <p:spPr bwMode="gray">
          <a:xfrm>
            <a:off x="1087994" y="1523125"/>
            <a:ext cx="4728391" cy="205587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8" name="五边形 2">
            <a:extLst>
              <a:ext uri="{FF2B5EF4-FFF2-40B4-BE49-F238E27FC236}">
                <a16:creationId xmlns:a16="http://schemas.microsoft.com/office/drawing/2014/main" id="{2EA9661A-503D-4CEC-9BC1-BCBCD5884128}"/>
              </a:ext>
            </a:extLst>
          </p:cNvPr>
          <p:cNvSpPr/>
          <p:nvPr/>
        </p:nvSpPr>
        <p:spPr bwMode="gray">
          <a:xfrm>
            <a:off x="8649811" y="120048"/>
            <a:ext cx="91226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120" name="燕尾形 3">
            <a:extLst>
              <a:ext uri="{FF2B5EF4-FFF2-40B4-BE49-F238E27FC236}">
                <a16:creationId xmlns:a16="http://schemas.microsoft.com/office/drawing/2014/main" id="{3BCBBB1C-AB3F-4936-A520-18BB616BCEFB}"/>
              </a:ext>
            </a:extLst>
          </p:cNvPr>
          <p:cNvSpPr/>
          <p:nvPr/>
        </p:nvSpPr>
        <p:spPr bwMode="gray">
          <a:xfrm>
            <a:off x="10437493" y="120048"/>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燕尾形 3">
            <a:extLst>
              <a:ext uri="{FF2B5EF4-FFF2-40B4-BE49-F238E27FC236}">
                <a16:creationId xmlns:a16="http://schemas.microsoft.com/office/drawing/2014/main" id="{9AE9F0F1-2BD6-4C30-9BFC-93EE91621455}"/>
              </a:ext>
            </a:extLst>
          </p:cNvPr>
          <p:cNvSpPr/>
          <p:nvPr/>
        </p:nvSpPr>
        <p:spPr bwMode="gray">
          <a:xfrm>
            <a:off x="9481630" y="120048"/>
            <a:ext cx="10363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拓扑设计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033751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reeform 159">
            <a:extLst>
              <a:ext uri="{FF2B5EF4-FFF2-40B4-BE49-F238E27FC236}">
                <a16:creationId xmlns:a16="http://schemas.microsoft.com/office/drawing/2014/main" id="{F6FF080E-B77D-46D3-B4D6-100139137A48}"/>
              </a:ext>
            </a:extLst>
          </p:cNvPr>
          <p:cNvSpPr/>
          <p:nvPr/>
        </p:nvSpPr>
        <p:spPr bwMode="gray">
          <a:xfrm flipH="1">
            <a:off x="2427758" y="1839721"/>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HQ/DC</a:t>
            </a:r>
          </a:p>
        </p:txBody>
      </p:sp>
      <p:sp>
        <p:nvSpPr>
          <p:cNvPr id="38" name="Freeform 159">
            <a:extLst>
              <a:ext uri="{FF2B5EF4-FFF2-40B4-BE49-F238E27FC236}">
                <a16:creationId xmlns:a16="http://schemas.microsoft.com/office/drawing/2014/main" id="{C863891E-454A-49E8-BC35-C661162E8A25}"/>
              </a:ext>
            </a:extLst>
          </p:cNvPr>
          <p:cNvSpPr/>
          <p:nvPr/>
        </p:nvSpPr>
        <p:spPr bwMode="gray">
          <a:xfrm flipH="1">
            <a:off x="2014533" y="3180507"/>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39" name="Freeform 159">
            <a:extLst>
              <a:ext uri="{FF2B5EF4-FFF2-40B4-BE49-F238E27FC236}">
                <a16:creationId xmlns:a16="http://schemas.microsoft.com/office/drawing/2014/main" id="{DFC4E3C6-7652-407E-BBEB-19BFB2B7E187}"/>
              </a:ext>
            </a:extLst>
          </p:cNvPr>
          <p:cNvSpPr/>
          <p:nvPr/>
        </p:nvSpPr>
        <p:spPr bwMode="gray">
          <a:xfrm flipH="1">
            <a:off x="3053255" y="316876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40" name="Freeform 159">
            <a:extLst>
              <a:ext uri="{FF2B5EF4-FFF2-40B4-BE49-F238E27FC236}">
                <a16:creationId xmlns:a16="http://schemas.microsoft.com/office/drawing/2014/main" id="{DCD0DA91-D491-4333-AEA1-3151CAC88ECB}"/>
              </a:ext>
            </a:extLst>
          </p:cNvPr>
          <p:cNvSpPr/>
          <p:nvPr/>
        </p:nvSpPr>
        <p:spPr bwMode="gray">
          <a:xfrm flipH="1">
            <a:off x="1737009" y="4658629"/>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41" name="Freeform 159">
            <a:extLst>
              <a:ext uri="{FF2B5EF4-FFF2-40B4-BE49-F238E27FC236}">
                <a16:creationId xmlns:a16="http://schemas.microsoft.com/office/drawing/2014/main" id="{490F1FF9-79CF-45D4-A51C-995E1618EC8F}"/>
              </a:ext>
            </a:extLst>
          </p:cNvPr>
          <p:cNvSpPr/>
          <p:nvPr/>
        </p:nvSpPr>
        <p:spPr bwMode="gray">
          <a:xfrm flipH="1">
            <a:off x="3310097" y="4658629"/>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3" name="标题 2"/>
          <p:cNvSpPr>
            <a:spLocks noGrp="1"/>
          </p:cNvSpPr>
          <p:nvPr>
            <p:ph type="title"/>
          </p:nvPr>
        </p:nvSpPr>
        <p:spPr bwMode="gray"/>
        <p:txBody>
          <a:bodyPr/>
          <a:lstStyle/>
          <a:p>
            <a:r>
              <a:rPr lang="en-US" altLang="zh-CN"/>
              <a:t>Hub-Spoke</a:t>
            </a:r>
            <a:r>
              <a:rPr lang="zh-CN" altLang="en-US"/>
              <a:t>应用</a:t>
            </a:r>
            <a:r>
              <a:rPr lang="zh-CN" altLang="en-US" dirty="0"/>
              <a:t>场景</a:t>
            </a:r>
          </a:p>
        </p:txBody>
      </p:sp>
      <p:cxnSp>
        <p:nvCxnSpPr>
          <p:cNvPr id="5" name="直接连接符 4"/>
          <p:cNvCxnSpPr/>
          <p:nvPr/>
        </p:nvCxnSpPr>
        <p:spPr bwMode="gray">
          <a:xfrm>
            <a:off x="2156091" y="4623601"/>
            <a:ext cx="140764"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图片 9"/>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774942" y="4431312"/>
            <a:ext cx="466668" cy="385001"/>
          </a:xfrm>
          <a:prstGeom prst="rect">
            <a:avLst/>
          </a:prstGeom>
        </p:spPr>
      </p:pic>
      <p:sp>
        <p:nvSpPr>
          <p:cNvPr id="11" name="文本框 10"/>
          <p:cNvSpPr txBox="1"/>
          <p:nvPr/>
        </p:nvSpPr>
        <p:spPr bwMode="gray">
          <a:xfrm>
            <a:off x="858352" y="4438935"/>
            <a:ext cx="853675" cy="338554"/>
          </a:xfrm>
          <a:prstGeom prst="rect">
            <a:avLst/>
          </a:prstGeom>
          <a:noFill/>
        </p:spPr>
        <p:txBody>
          <a:bodyPr wrap="square" rtlCol="0">
            <a:spAutoFit/>
          </a:bodyPr>
          <a:lstStyle/>
          <a:p>
            <a:pPr algn="ctr"/>
            <a:r>
              <a:rPr lang="en-US" altLang="zh-CN" sz="1600" dirty="0">
                <a:solidFill>
                  <a:srgbClr val="000000"/>
                </a:solidFill>
              </a:rPr>
              <a:t>Spoke</a:t>
            </a:r>
            <a:endParaRPr lang="zh-CN" altLang="en-US" sz="1600" dirty="0">
              <a:solidFill>
                <a:srgbClr val="000000"/>
              </a:solidFill>
            </a:endParaRPr>
          </a:p>
        </p:txBody>
      </p:sp>
      <p:cxnSp>
        <p:nvCxnSpPr>
          <p:cNvPr id="13" name="直接连接符 12"/>
          <p:cNvCxnSpPr>
            <a:cxnSpLocks/>
            <a:stCxn id="28" idx="0"/>
          </p:cNvCxnSpPr>
          <p:nvPr/>
        </p:nvCxnSpPr>
        <p:spPr bwMode="gray">
          <a:xfrm flipV="1">
            <a:off x="2491541" y="3667185"/>
            <a:ext cx="961307" cy="761973"/>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a:cxnSpLocks/>
            <a:stCxn id="26" idx="2"/>
          </p:cNvCxnSpPr>
          <p:nvPr/>
        </p:nvCxnSpPr>
        <p:spPr bwMode="gray">
          <a:xfrm>
            <a:off x="3144212" y="2650965"/>
            <a:ext cx="308636" cy="520815"/>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p:cNvCxnSpPr>
            <a:cxnSpLocks/>
            <a:stCxn id="10" idx="0"/>
          </p:cNvCxnSpPr>
          <p:nvPr/>
        </p:nvCxnSpPr>
        <p:spPr bwMode="gray">
          <a:xfrm flipV="1">
            <a:off x="2008277" y="3711267"/>
            <a:ext cx="390937" cy="71789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8" name="图片 17"/>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601399" y="4431312"/>
            <a:ext cx="466668" cy="385001"/>
          </a:xfrm>
          <a:prstGeom prst="rect">
            <a:avLst/>
          </a:prstGeom>
        </p:spPr>
      </p:pic>
      <p:cxnSp>
        <p:nvCxnSpPr>
          <p:cNvPr id="19" name="直接连接符 18"/>
          <p:cNvCxnSpPr>
            <a:cxnSpLocks/>
            <a:stCxn id="18" idx="0"/>
          </p:cNvCxnSpPr>
          <p:nvPr/>
        </p:nvCxnSpPr>
        <p:spPr bwMode="gray">
          <a:xfrm flipH="1" flipV="1">
            <a:off x="2399213" y="3711267"/>
            <a:ext cx="1435520" cy="71789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a:cxnSpLocks/>
            <a:stCxn id="18" idx="0"/>
          </p:cNvCxnSpPr>
          <p:nvPr/>
        </p:nvCxnSpPr>
        <p:spPr bwMode="gray">
          <a:xfrm flipH="1" flipV="1">
            <a:off x="3452848" y="3667185"/>
            <a:ext cx="381885" cy="761973"/>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p:cNvCxnSpPr/>
          <p:nvPr/>
        </p:nvCxnSpPr>
        <p:spPr bwMode="gray">
          <a:xfrm>
            <a:off x="2766436" y="2445149"/>
            <a:ext cx="189199"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3" name="图片 22"/>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404596" y="2264706"/>
            <a:ext cx="466668" cy="385001"/>
          </a:xfrm>
          <a:prstGeom prst="rect">
            <a:avLst/>
          </a:prstGeom>
        </p:spPr>
      </p:pic>
      <p:sp>
        <p:nvSpPr>
          <p:cNvPr id="24" name="文本框 23"/>
          <p:cNvSpPr txBox="1"/>
          <p:nvPr/>
        </p:nvSpPr>
        <p:spPr bwMode="gray">
          <a:xfrm>
            <a:off x="1585620" y="2271644"/>
            <a:ext cx="867292" cy="338554"/>
          </a:xfrm>
          <a:prstGeom prst="rect">
            <a:avLst/>
          </a:prstGeom>
          <a:noFill/>
        </p:spPr>
        <p:txBody>
          <a:bodyPr wrap="square" rtlCol="0">
            <a:spAutoFit/>
          </a:bodyPr>
          <a:lstStyle/>
          <a:p>
            <a:pPr algn="ctr"/>
            <a:r>
              <a:rPr lang="en-US" altLang="zh-CN" sz="1600">
                <a:solidFill>
                  <a:srgbClr val="000000"/>
                </a:solidFill>
              </a:rPr>
              <a:t>Hub</a:t>
            </a:r>
            <a:endParaRPr lang="zh-CN" altLang="en-US" sz="1600" dirty="0">
              <a:solidFill>
                <a:srgbClr val="000000"/>
              </a:solidFill>
            </a:endParaRPr>
          </a:p>
        </p:txBody>
      </p:sp>
      <p:pic>
        <p:nvPicPr>
          <p:cNvPr id="26" name="图片 25"/>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910878" y="2263810"/>
            <a:ext cx="466668" cy="385001"/>
          </a:xfrm>
          <a:prstGeom prst="rect">
            <a:avLst/>
          </a:prstGeom>
        </p:spPr>
      </p:pic>
      <p:cxnSp>
        <p:nvCxnSpPr>
          <p:cNvPr id="27" name="直接连接符 26"/>
          <p:cNvCxnSpPr>
            <a:cxnSpLocks/>
            <a:stCxn id="23" idx="2"/>
          </p:cNvCxnSpPr>
          <p:nvPr/>
        </p:nvCxnSpPr>
        <p:spPr bwMode="gray">
          <a:xfrm flipH="1">
            <a:off x="2399213" y="2651862"/>
            <a:ext cx="238717" cy="48136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8" name="图片 27"/>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258207" y="4431312"/>
            <a:ext cx="466668" cy="385001"/>
          </a:xfrm>
          <a:prstGeom prst="rect">
            <a:avLst/>
          </a:prstGeom>
        </p:spPr>
      </p:pic>
      <p:sp>
        <p:nvSpPr>
          <p:cNvPr id="29" name="任意多边形 28"/>
          <p:cNvSpPr/>
          <p:nvPr/>
        </p:nvSpPr>
        <p:spPr bwMode="gray">
          <a:xfrm>
            <a:off x="1926563" y="2635907"/>
            <a:ext cx="672353" cy="1775012"/>
          </a:xfrm>
          <a:custGeom>
            <a:avLst/>
            <a:gdLst>
              <a:gd name="connsiteX0" fmla="*/ 504265 w 504265"/>
              <a:gd name="connsiteY0" fmla="*/ 0 h 1331259"/>
              <a:gd name="connsiteX1" fmla="*/ 235324 w 504265"/>
              <a:gd name="connsiteY1" fmla="*/ 692524 h 1331259"/>
              <a:gd name="connsiteX2" fmla="*/ 0 w 504265"/>
              <a:gd name="connsiteY2" fmla="*/ 1331259 h 1331259"/>
            </a:gdLst>
            <a:ahLst/>
            <a:cxnLst>
              <a:cxn ang="0">
                <a:pos x="connsiteX0" y="connsiteY0"/>
              </a:cxn>
              <a:cxn ang="0">
                <a:pos x="connsiteX1" y="connsiteY1"/>
              </a:cxn>
              <a:cxn ang="0">
                <a:pos x="connsiteX2" y="connsiteY2"/>
              </a:cxn>
            </a:cxnLst>
            <a:rect l="l" t="t" r="r" b="b"/>
            <a:pathLst>
              <a:path w="504265" h="1331259">
                <a:moveTo>
                  <a:pt x="504265" y="0"/>
                </a:moveTo>
                <a:cubicBezTo>
                  <a:pt x="411816" y="235324"/>
                  <a:pt x="319368" y="470648"/>
                  <a:pt x="235324" y="692524"/>
                </a:cubicBezTo>
                <a:cubicBezTo>
                  <a:pt x="151280" y="914401"/>
                  <a:pt x="75640" y="1122830"/>
                  <a:pt x="0" y="1331259"/>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30" name="任意多边形 29"/>
          <p:cNvSpPr/>
          <p:nvPr/>
        </p:nvSpPr>
        <p:spPr bwMode="gray">
          <a:xfrm>
            <a:off x="2485593" y="2653836"/>
            <a:ext cx="910905" cy="1766047"/>
          </a:xfrm>
          <a:custGeom>
            <a:avLst/>
            <a:gdLst>
              <a:gd name="connsiteX0" fmla="*/ 477370 w 683179"/>
              <a:gd name="connsiteY0" fmla="*/ 0 h 1324535"/>
              <a:gd name="connsiteX1" fmla="*/ 658906 w 683179"/>
              <a:gd name="connsiteY1" fmla="*/ 632012 h 1324535"/>
              <a:gd name="connsiteX2" fmla="*/ 0 w 683179"/>
              <a:gd name="connsiteY2" fmla="*/ 1324535 h 1324535"/>
            </a:gdLst>
            <a:ahLst/>
            <a:cxnLst>
              <a:cxn ang="0">
                <a:pos x="connsiteX0" y="connsiteY0"/>
              </a:cxn>
              <a:cxn ang="0">
                <a:pos x="connsiteX1" y="connsiteY1"/>
              </a:cxn>
              <a:cxn ang="0">
                <a:pos x="connsiteX2" y="connsiteY2"/>
              </a:cxn>
            </a:cxnLst>
            <a:rect l="l" t="t" r="r" b="b"/>
            <a:pathLst>
              <a:path w="683179" h="1324535">
                <a:moveTo>
                  <a:pt x="477370" y="0"/>
                </a:moveTo>
                <a:cubicBezTo>
                  <a:pt x="607919" y="205628"/>
                  <a:pt x="738468" y="411256"/>
                  <a:pt x="658906" y="632012"/>
                </a:cubicBezTo>
                <a:cubicBezTo>
                  <a:pt x="579344" y="852768"/>
                  <a:pt x="289672" y="1088651"/>
                  <a:pt x="0" y="1324535"/>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31" name="任意多边形 30"/>
          <p:cNvSpPr/>
          <p:nvPr/>
        </p:nvSpPr>
        <p:spPr bwMode="gray">
          <a:xfrm>
            <a:off x="3216847" y="2653836"/>
            <a:ext cx="717177" cy="1775012"/>
          </a:xfrm>
          <a:custGeom>
            <a:avLst/>
            <a:gdLst>
              <a:gd name="connsiteX0" fmla="*/ 0 w 537883"/>
              <a:gd name="connsiteY0" fmla="*/ 0 h 1331259"/>
              <a:gd name="connsiteX1" fmla="*/ 356347 w 537883"/>
              <a:gd name="connsiteY1" fmla="*/ 645459 h 1331259"/>
              <a:gd name="connsiteX2" fmla="*/ 537883 w 537883"/>
              <a:gd name="connsiteY2" fmla="*/ 1331259 h 1331259"/>
            </a:gdLst>
            <a:ahLst/>
            <a:cxnLst>
              <a:cxn ang="0">
                <a:pos x="connsiteX0" y="connsiteY0"/>
              </a:cxn>
              <a:cxn ang="0">
                <a:pos x="connsiteX1" y="connsiteY1"/>
              </a:cxn>
              <a:cxn ang="0">
                <a:pos x="connsiteX2" y="connsiteY2"/>
              </a:cxn>
            </a:cxnLst>
            <a:rect l="l" t="t" r="r" b="b"/>
            <a:pathLst>
              <a:path w="537883" h="1331259">
                <a:moveTo>
                  <a:pt x="0" y="0"/>
                </a:moveTo>
                <a:cubicBezTo>
                  <a:pt x="133350" y="211791"/>
                  <a:pt x="266700" y="423583"/>
                  <a:pt x="356347" y="645459"/>
                </a:cubicBezTo>
                <a:cubicBezTo>
                  <a:pt x="445994" y="867335"/>
                  <a:pt x="491938" y="1099297"/>
                  <a:pt x="537883" y="1331259"/>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32" name="任意多边形 31"/>
          <p:cNvSpPr/>
          <p:nvPr/>
        </p:nvSpPr>
        <p:spPr bwMode="gray">
          <a:xfrm>
            <a:off x="2501937" y="2653836"/>
            <a:ext cx="1283536" cy="1766047"/>
          </a:xfrm>
          <a:custGeom>
            <a:avLst/>
            <a:gdLst>
              <a:gd name="connsiteX0" fmla="*/ 128934 w 962652"/>
              <a:gd name="connsiteY0" fmla="*/ 0 h 1324535"/>
              <a:gd name="connsiteX1" fmla="*/ 68423 w 962652"/>
              <a:gd name="connsiteY1" fmla="*/ 679077 h 1324535"/>
              <a:gd name="connsiteX2" fmla="*/ 962652 w 962652"/>
              <a:gd name="connsiteY2" fmla="*/ 1324535 h 1324535"/>
            </a:gdLst>
            <a:ahLst/>
            <a:cxnLst>
              <a:cxn ang="0">
                <a:pos x="connsiteX0" y="connsiteY0"/>
              </a:cxn>
              <a:cxn ang="0">
                <a:pos x="connsiteX1" y="connsiteY1"/>
              </a:cxn>
              <a:cxn ang="0">
                <a:pos x="connsiteX2" y="connsiteY2"/>
              </a:cxn>
            </a:cxnLst>
            <a:rect l="l" t="t" r="r" b="b"/>
            <a:pathLst>
              <a:path w="962652" h="1324535">
                <a:moveTo>
                  <a:pt x="128934" y="0"/>
                </a:moveTo>
                <a:cubicBezTo>
                  <a:pt x="29202" y="229160"/>
                  <a:pt x="-70530" y="458321"/>
                  <a:pt x="68423" y="679077"/>
                </a:cubicBezTo>
                <a:cubicBezTo>
                  <a:pt x="207376" y="899833"/>
                  <a:pt x="585014" y="1112184"/>
                  <a:pt x="962652" y="1324535"/>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33" name="矩形 32"/>
          <p:cNvSpPr/>
          <p:nvPr/>
        </p:nvSpPr>
        <p:spPr bwMode="gray">
          <a:xfrm>
            <a:off x="4357805" y="1041765"/>
            <a:ext cx="7391282" cy="4713085"/>
          </a:xfrm>
          <a:prstGeom prst="rect">
            <a:avLst/>
          </a:prstGeom>
        </p:spPr>
        <p:txBody>
          <a:bodyPr wrap="square">
            <a:spAutoFit/>
          </a:bodyPr>
          <a:lstStyle/>
          <a:p>
            <a:pPr marL="302279" indent="-302279" algn="just" defTabSz="914034" fontAlgn="ctr">
              <a:lnSpc>
                <a:spcPct val="130000"/>
              </a:lnSpc>
              <a:spcBef>
                <a:spcPts val="792"/>
              </a:spcBef>
              <a:spcAft>
                <a:spcPts val="600"/>
              </a:spcAft>
              <a:buSzPct val="50000"/>
              <a:buFont typeface="Wingdings" panose="05000000000000000000" pitchFamily="2" charset="2"/>
              <a:buChar char="l"/>
            </a:pPr>
            <a:r>
              <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rPr>
              <a:t>方案简介</a:t>
            </a:r>
            <a:endPar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endParaRPr>
          </a:p>
          <a:p>
            <a:pPr marL="654938" lvl="1" indent="-251899" defTabSz="914034" fontAlgn="ctr">
              <a:lnSpc>
                <a:spcPct val="130000"/>
              </a:lnSpc>
              <a:spcBef>
                <a:spcPts val="720"/>
              </a:spcBef>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rPr>
              <a:t>一般由企业总部和数据中心作为</a:t>
            </a:r>
            <a:r>
              <a:rPr lang="en-US" altLang="zh-CN" sz="1400" dirty="0">
                <a:latin typeface="Huawei Sans" panose="020C0503030203020204" pitchFamily="34" charset="0"/>
                <a:ea typeface="方正兰亭黑简体" panose="02000000000000000000" pitchFamily="2" charset="-122"/>
              </a:rPr>
              <a:t>Hub</a:t>
            </a:r>
            <a:r>
              <a:rPr lang="zh-CN" altLang="en-US" sz="1400" dirty="0">
                <a:latin typeface="Huawei Sans" panose="020C0503030203020204" pitchFamily="34" charset="0"/>
                <a:ea typeface="方正兰亭黑简体" panose="02000000000000000000" pitchFamily="2" charset="-122"/>
              </a:rPr>
              <a:t>站点，企业各分支作为</a:t>
            </a:r>
            <a:r>
              <a:rPr lang="en-US" altLang="zh-CN" sz="1400" dirty="0">
                <a:latin typeface="Huawei Sans" panose="020C0503030203020204" pitchFamily="34" charset="0"/>
                <a:ea typeface="方正兰亭黑简体" panose="02000000000000000000" pitchFamily="2" charset="-122"/>
              </a:rPr>
              <a:t>Spoke</a:t>
            </a:r>
            <a:r>
              <a:rPr lang="zh-CN" altLang="en-US" sz="1400" dirty="0">
                <a:latin typeface="Huawei Sans" panose="020C0503030203020204" pitchFamily="34" charset="0"/>
                <a:ea typeface="方正兰亭黑简体" panose="02000000000000000000" pitchFamily="2" charset="-122"/>
              </a:rPr>
              <a:t>站点，通过</a:t>
            </a:r>
            <a:r>
              <a:rPr lang="en-US" altLang="zh-CN" sz="1400" dirty="0">
                <a:latin typeface="Huawei Sans" panose="020C0503030203020204" pitchFamily="34" charset="0"/>
                <a:ea typeface="方正兰亭黑简体" panose="02000000000000000000" pitchFamily="2" charset="-122"/>
              </a:rPr>
              <a:t>WAN</a:t>
            </a:r>
            <a:r>
              <a:rPr lang="zh-CN" altLang="en-US" sz="1400" dirty="0">
                <a:latin typeface="Huawei Sans" panose="020C0503030203020204" pitchFamily="34" charset="0"/>
                <a:ea typeface="方正兰亭黑简体" panose="02000000000000000000" pitchFamily="2" charset="-122"/>
              </a:rPr>
              <a:t>集中访问部署在总部或者数据中心站点的服务器应用。</a:t>
            </a:r>
            <a:endParaRPr lang="en-US" altLang="zh-CN" sz="1400" dirty="0">
              <a:latin typeface="Huawei Sans" panose="020C0503030203020204" pitchFamily="34" charset="0"/>
              <a:ea typeface="方正兰亭黑简体" panose="02000000000000000000" pitchFamily="2" charset="-122"/>
            </a:endParaRPr>
          </a:p>
          <a:p>
            <a:pPr marL="654938" lvl="1" indent="-251899" defTabSz="914034" fontAlgn="ctr">
              <a:lnSpc>
                <a:spcPct val="130000"/>
              </a:lnSpc>
              <a:spcBef>
                <a:spcPts val="720"/>
              </a:spcBef>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rPr>
              <a:t>同时，企业的分支之间如果需要互通，也经过</a:t>
            </a:r>
            <a:r>
              <a:rPr lang="en-US" altLang="zh-CN" sz="1400" dirty="0">
                <a:latin typeface="Huawei Sans" panose="020C0503030203020204" pitchFamily="34" charset="0"/>
                <a:ea typeface="方正兰亭黑简体" panose="02000000000000000000" pitchFamily="2" charset="-122"/>
              </a:rPr>
              <a:t>Hub</a:t>
            </a:r>
            <a:r>
              <a:rPr lang="zh-CN" altLang="en-US" sz="1400" dirty="0">
                <a:latin typeface="Huawei Sans" panose="020C0503030203020204" pitchFamily="34" charset="0"/>
                <a:ea typeface="方正兰亭黑简体" panose="02000000000000000000" pitchFamily="2" charset="-122"/>
              </a:rPr>
              <a:t>站点中转，所有的分支站点外部访问流量都要首先发送到</a:t>
            </a:r>
            <a:r>
              <a:rPr lang="en-US" altLang="zh-CN" sz="1400" dirty="0">
                <a:latin typeface="Huawei Sans" panose="020C0503030203020204" pitchFamily="34" charset="0"/>
                <a:ea typeface="方正兰亭黑简体" panose="02000000000000000000" pitchFamily="2" charset="-122"/>
              </a:rPr>
              <a:t>Hub</a:t>
            </a:r>
            <a:r>
              <a:rPr lang="zh-CN" altLang="en-US" sz="1400" dirty="0">
                <a:latin typeface="Huawei Sans" panose="020C0503030203020204" pitchFamily="34" charset="0"/>
                <a:ea typeface="方正兰亭黑简体" panose="02000000000000000000" pitchFamily="2" charset="-122"/>
              </a:rPr>
              <a:t>站点。</a:t>
            </a:r>
            <a:endParaRPr lang="en-US" altLang="zh-CN" sz="1400" dirty="0">
              <a:latin typeface="Huawei Sans" panose="020C0503030203020204" pitchFamily="34" charset="0"/>
              <a:ea typeface="方正兰亭黑简体" panose="02000000000000000000" pitchFamily="2" charset="-122"/>
            </a:endParaRPr>
          </a:p>
          <a:p>
            <a:pPr marL="302279" indent="-302279" algn="just" defTabSz="914034" fontAlgn="ctr">
              <a:lnSpc>
                <a:spcPct val="130000"/>
              </a:lnSpc>
              <a:spcBef>
                <a:spcPts val="792"/>
              </a:spcBef>
              <a:spcAft>
                <a:spcPts val="600"/>
              </a:spcAft>
              <a:buSzPct val="50000"/>
              <a:buFont typeface="Wingdings" panose="05000000000000000000" pitchFamily="2" charset="2"/>
              <a:buChar char="l"/>
            </a:pPr>
            <a:r>
              <a:rPr lang="zh-CN" altLang="en-US" sz="1600" b="1">
                <a:latin typeface="Huawei Sans" panose="020C0503030203020204" pitchFamily="34" charset="0"/>
                <a:ea typeface="方正兰亭黑简体" panose="02000000000000000000" pitchFamily="2" charset="-122"/>
                <a:cs typeface="Huawei Sans" panose="020C0503030203020204" pitchFamily="34" charset="0"/>
              </a:rPr>
              <a:t>适用</a:t>
            </a:r>
            <a:r>
              <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rPr>
              <a:t>场景</a:t>
            </a:r>
            <a:endPar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endParaRPr>
          </a:p>
          <a:p>
            <a:pPr marL="654938" lvl="1" indent="-251899" defTabSz="914034" fontAlgn="ctr">
              <a:lnSpc>
                <a:spcPct val="130000"/>
              </a:lnSpc>
              <a:spcBef>
                <a:spcPts val="720"/>
              </a:spcBef>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rPr>
              <a:t>一般适用于以分支站点到</a:t>
            </a:r>
            <a:r>
              <a:rPr lang="en-US" altLang="zh-CN" sz="1400" dirty="0">
                <a:latin typeface="Huawei Sans" panose="020C0503030203020204" pitchFamily="34" charset="0"/>
                <a:ea typeface="方正兰亭黑简体" panose="02000000000000000000" pitchFamily="2" charset="-122"/>
              </a:rPr>
              <a:t>Hub</a:t>
            </a:r>
            <a:r>
              <a:rPr lang="zh-CN" altLang="en-US" sz="1400" dirty="0">
                <a:latin typeface="Huawei Sans" panose="020C0503030203020204" pitchFamily="34" charset="0"/>
                <a:ea typeface="方正兰亭黑简体" panose="02000000000000000000" pitchFamily="2" charset="-122"/>
              </a:rPr>
              <a:t>站点为主要互访业务的企业中。</a:t>
            </a:r>
            <a:endParaRPr lang="en-US" altLang="zh-CN" sz="1400" dirty="0">
              <a:latin typeface="Huawei Sans" panose="020C0503030203020204" pitchFamily="34" charset="0"/>
              <a:ea typeface="方正兰亭黑简体" panose="02000000000000000000" pitchFamily="2" charset="-122"/>
            </a:endParaRPr>
          </a:p>
          <a:p>
            <a:pPr marL="654938" lvl="1" indent="-251899" defTabSz="914034" fontAlgn="ctr">
              <a:lnSpc>
                <a:spcPct val="130000"/>
              </a:lnSpc>
              <a:spcBef>
                <a:spcPts val="720"/>
              </a:spcBef>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rPr>
              <a:t>企业的应用集中存放在总部站点和数据中心站点服务器中，主要的业务流量是分支站点访问</a:t>
            </a:r>
            <a:r>
              <a:rPr lang="en-US" altLang="zh-CN" sz="1400" dirty="0">
                <a:latin typeface="Huawei Sans" panose="020C0503030203020204" pitchFamily="34" charset="0"/>
                <a:ea typeface="方正兰亭黑简体" panose="02000000000000000000" pitchFamily="2" charset="-122"/>
              </a:rPr>
              <a:t>Hub</a:t>
            </a:r>
            <a:r>
              <a:rPr lang="zh-CN" altLang="en-US" sz="1400" dirty="0">
                <a:latin typeface="Huawei Sans" panose="020C0503030203020204" pitchFamily="34" charset="0"/>
                <a:ea typeface="方正兰亭黑简体" panose="02000000000000000000" pitchFamily="2" charset="-122"/>
              </a:rPr>
              <a:t>站点的流量。</a:t>
            </a:r>
            <a:endParaRPr lang="en-US" altLang="zh-CN" sz="1400" dirty="0">
              <a:latin typeface="Huawei Sans" panose="020C0503030203020204" pitchFamily="34" charset="0"/>
              <a:ea typeface="方正兰亭黑简体" panose="02000000000000000000" pitchFamily="2" charset="-122"/>
            </a:endParaRPr>
          </a:p>
          <a:p>
            <a:pPr marL="654938" lvl="1" indent="-251899" defTabSz="914034" fontAlgn="ctr">
              <a:lnSpc>
                <a:spcPct val="130000"/>
              </a:lnSpc>
              <a:spcBef>
                <a:spcPts val="720"/>
              </a:spcBef>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rPr>
              <a:t>分支站点之间互访的流量较少。</a:t>
            </a:r>
            <a:endParaRPr lang="en-US" altLang="zh-CN" sz="1400" dirty="0">
              <a:latin typeface="Huawei Sans" panose="020C0503030203020204" pitchFamily="34" charset="0"/>
              <a:ea typeface="方正兰亭黑简体" panose="02000000000000000000" pitchFamily="2" charset="-122"/>
            </a:endParaRPr>
          </a:p>
          <a:p>
            <a:pPr marL="654938" lvl="1" indent="-251899" defTabSz="914034" fontAlgn="ctr">
              <a:lnSpc>
                <a:spcPct val="130000"/>
              </a:lnSpc>
              <a:spcBef>
                <a:spcPts val="720"/>
              </a:spcBef>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rPr>
              <a:t>如连锁企业，每个连锁分支主要是访问总部</a:t>
            </a:r>
            <a:r>
              <a:rPr lang="en-US" altLang="zh-CN" sz="1400" dirty="0">
                <a:latin typeface="Huawei Sans" panose="020C0503030203020204" pitchFamily="34" charset="0"/>
                <a:ea typeface="方正兰亭黑简体" panose="02000000000000000000" pitchFamily="2" charset="-122"/>
              </a:rPr>
              <a:t>/</a:t>
            </a:r>
            <a:r>
              <a:rPr lang="zh-CN" altLang="en-US" sz="1400" dirty="0">
                <a:latin typeface="Huawei Sans" panose="020C0503030203020204" pitchFamily="34" charset="0"/>
                <a:ea typeface="方正兰亭黑简体" panose="02000000000000000000" pitchFamily="2" charset="-122"/>
              </a:rPr>
              <a:t>数据中心的流量，而连锁门店之间几乎不存在协同工作互访的流量。</a:t>
            </a:r>
            <a:endParaRPr lang="en-US" altLang="zh-CN" sz="1400" dirty="0">
              <a:latin typeface="Huawei Sans" panose="020C0503030203020204" pitchFamily="34" charset="0"/>
              <a:ea typeface="方正兰亭黑简体" panose="02000000000000000000" pitchFamily="2" charset="-122"/>
            </a:endParaRPr>
          </a:p>
        </p:txBody>
      </p:sp>
      <p:sp>
        <p:nvSpPr>
          <p:cNvPr id="34" name="五边形 2">
            <a:extLst>
              <a:ext uri="{FF2B5EF4-FFF2-40B4-BE49-F238E27FC236}">
                <a16:creationId xmlns:a16="http://schemas.microsoft.com/office/drawing/2014/main" id="{2EA9661A-503D-4CEC-9BC1-BCBCD5884128}"/>
              </a:ext>
            </a:extLst>
          </p:cNvPr>
          <p:cNvSpPr/>
          <p:nvPr/>
        </p:nvSpPr>
        <p:spPr bwMode="gray">
          <a:xfrm>
            <a:off x="8649811" y="120048"/>
            <a:ext cx="91226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35" name="燕尾形 3">
            <a:extLst>
              <a:ext uri="{FF2B5EF4-FFF2-40B4-BE49-F238E27FC236}">
                <a16:creationId xmlns:a16="http://schemas.microsoft.com/office/drawing/2014/main" id="{3BCBBB1C-AB3F-4936-A520-18BB616BCEFB}"/>
              </a:ext>
            </a:extLst>
          </p:cNvPr>
          <p:cNvSpPr/>
          <p:nvPr/>
        </p:nvSpPr>
        <p:spPr bwMode="gray">
          <a:xfrm>
            <a:off x="10437493" y="120048"/>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
            <a:extLst>
              <a:ext uri="{FF2B5EF4-FFF2-40B4-BE49-F238E27FC236}">
                <a16:creationId xmlns:a16="http://schemas.microsoft.com/office/drawing/2014/main" id="{9AE9F0F1-2BD6-4C30-9BFC-93EE91621455}"/>
              </a:ext>
            </a:extLst>
          </p:cNvPr>
          <p:cNvSpPr/>
          <p:nvPr/>
        </p:nvSpPr>
        <p:spPr bwMode="gray">
          <a:xfrm>
            <a:off x="9481630" y="120048"/>
            <a:ext cx="10363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拓扑设计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524648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159">
            <a:extLst>
              <a:ext uri="{FF2B5EF4-FFF2-40B4-BE49-F238E27FC236}">
                <a16:creationId xmlns:a16="http://schemas.microsoft.com/office/drawing/2014/main" id="{452770B2-467F-43C6-8C71-1BD553E09485}"/>
              </a:ext>
            </a:extLst>
          </p:cNvPr>
          <p:cNvSpPr/>
          <p:nvPr/>
        </p:nvSpPr>
        <p:spPr bwMode="gray">
          <a:xfrm flipH="1">
            <a:off x="2648977" y="1839721"/>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HQ/DC</a:t>
            </a:r>
          </a:p>
        </p:txBody>
      </p:sp>
      <p:sp>
        <p:nvSpPr>
          <p:cNvPr id="40" name="Freeform 159">
            <a:extLst>
              <a:ext uri="{FF2B5EF4-FFF2-40B4-BE49-F238E27FC236}">
                <a16:creationId xmlns:a16="http://schemas.microsoft.com/office/drawing/2014/main" id="{88BB4CDD-BAE0-4AA0-952F-4E885CDDEA36}"/>
              </a:ext>
            </a:extLst>
          </p:cNvPr>
          <p:cNvSpPr/>
          <p:nvPr/>
        </p:nvSpPr>
        <p:spPr bwMode="gray">
          <a:xfrm flipH="1">
            <a:off x="2235752" y="3180507"/>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41" name="Freeform 159">
            <a:extLst>
              <a:ext uri="{FF2B5EF4-FFF2-40B4-BE49-F238E27FC236}">
                <a16:creationId xmlns:a16="http://schemas.microsoft.com/office/drawing/2014/main" id="{EB74923F-5A01-4A84-9ABB-9794B5A67EA5}"/>
              </a:ext>
            </a:extLst>
          </p:cNvPr>
          <p:cNvSpPr/>
          <p:nvPr/>
        </p:nvSpPr>
        <p:spPr bwMode="gray">
          <a:xfrm flipH="1">
            <a:off x="3274474" y="316876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42" name="Freeform 159">
            <a:extLst>
              <a:ext uri="{FF2B5EF4-FFF2-40B4-BE49-F238E27FC236}">
                <a16:creationId xmlns:a16="http://schemas.microsoft.com/office/drawing/2014/main" id="{E07FE644-EF8D-4F53-B004-5F2D6627C080}"/>
              </a:ext>
            </a:extLst>
          </p:cNvPr>
          <p:cNvSpPr/>
          <p:nvPr/>
        </p:nvSpPr>
        <p:spPr bwMode="gray">
          <a:xfrm flipH="1">
            <a:off x="1958228" y="464910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43" name="Freeform 159">
            <a:extLst>
              <a:ext uri="{FF2B5EF4-FFF2-40B4-BE49-F238E27FC236}">
                <a16:creationId xmlns:a16="http://schemas.microsoft.com/office/drawing/2014/main" id="{4B8DF336-D6B1-4FC0-B1B6-0B8212E0DAC5}"/>
              </a:ext>
            </a:extLst>
          </p:cNvPr>
          <p:cNvSpPr/>
          <p:nvPr/>
        </p:nvSpPr>
        <p:spPr bwMode="gray">
          <a:xfrm flipH="1">
            <a:off x="3531316" y="464910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3" name="标题 2"/>
          <p:cNvSpPr>
            <a:spLocks noGrp="1"/>
          </p:cNvSpPr>
          <p:nvPr>
            <p:ph type="title"/>
          </p:nvPr>
        </p:nvSpPr>
        <p:spPr bwMode="gray"/>
        <p:txBody>
          <a:bodyPr/>
          <a:lstStyle/>
          <a:p>
            <a:r>
              <a:rPr lang="en-US" altLang="zh-CN"/>
              <a:t>Full-mesh</a:t>
            </a:r>
            <a:r>
              <a:rPr lang="zh-CN" altLang="en-US"/>
              <a:t>应用</a:t>
            </a:r>
            <a:r>
              <a:rPr lang="zh-CN" altLang="en-US" dirty="0"/>
              <a:t>场景</a:t>
            </a:r>
          </a:p>
        </p:txBody>
      </p:sp>
      <p:cxnSp>
        <p:nvCxnSpPr>
          <p:cNvPr id="5" name="直接连接符 4"/>
          <p:cNvCxnSpPr/>
          <p:nvPr/>
        </p:nvCxnSpPr>
        <p:spPr bwMode="gray">
          <a:xfrm>
            <a:off x="2400472" y="4617955"/>
            <a:ext cx="140764"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图片 9"/>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019323" y="4425666"/>
            <a:ext cx="466668" cy="385001"/>
          </a:xfrm>
          <a:prstGeom prst="rect">
            <a:avLst/>
          </a:prstGeom>
        </p:spPr>
      </p:pic>
      <p:sp>
        <p:nvSpPr>
          <p:cNvPr id="11" name="文本框 10"/>
          <p:cNvSpPr txBox="1"/>
          <p:nvPr/>
        </p:nvSpPr>
        <p:spPr bwMode="gray">
          <a:xfrm>
            <a:off x="1311616" y="4413927"/>
            <a:ext cx="853675" cy="338554"/>
          </a:xfrm>
          <a:prstGeom prst="rect">
            <a:avLst/>
          </a:prstGeom>
          <a:noFill/>
        </p:spPr>
        <p:txBody>
          <a:bodyPr wrap="square" rtlCol="0">
            <a:spAutoFit/>
          </a:bodyPr>
          <a:lstStyle/>
          <a:p>
            <a:pPr algn="ctr"/>
            <a:r>
              <a:rPr lang="en-US" altLang="zh-CN" sz="1600" dirty="0">
                <a:solidFill>
                  <a:srgbClr val="000000"/>
                </a:solidFill>
              </a:rPr>
              <a:t>Edge</a:t>
            </a:r>
            <a:endParaRPr lang="zh-CN" altLang="en-US" sz="1600" dirty="0">
              <a:solidFill>
                <a:srgbClr val="000000"/>
              </a:solidFill>
            </a:endParaRPr>
          </a:p>
        </p:txBody>
      </p:sp>
      <p:cxnSp>
        <p:nvCxnSpPr>
          <p:cNvPr id="13" name="直接连接符 12"/>
          <p:cNvCxnSpPr>
            <a:cxnSpLocks/>
            <a:stCxn id="28" idx="0"/>
          </p:cNvCxnSpPr>
          <p:nvPr/>
        </p:nvCxnSpPr>
        <p:spPr bwMode="gray">
          <a:xfrm flipV="1">
            <a:off x="2735922" y="3661539"/>
            <a:ext cx="961307" cy="761973"/>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a:cxnSpLocks/>
            <a:stCxn id="26" idx="2"/>
          </p:cNvCxnSpPr>
          <p:nvPr/>
        </p:nvCxnSpPr>
        <p:spPr bwMode="gray">
          <a:xfrm>
            <a:off x="3388593" y="2645319"/>
            <a:ext cx="308636" cy="520815"/>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p:cNvCxnSpPr>
            <a:cxnSpLocks/>
            <a:stCxn id="10" idx="0"/>
          </p:cNvCxnSpPr>
          <p:nvPr/>
        </p:nvCxnSpPr>
        <p:spPr bwMode="gray">
          <a:xfrm flipV="1">
            <a:off x="2252658" y="3705621"/>
            <a:ext cx="390937" cy="71789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8" name="图片 17"/>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845780" y="4425666"/>
            <a:ext cx="466668" cy="385001"/>
          </a:xfrm>
          <a:prstGeom prst="rect">
            <a:avLst/>
          </a:prstGeom>
        </p:spPr>
      </p:pic>
      <p:cxnSp>
        <p:nvCxnSpPr>
          <p:cNvPr id="19" name="直接连接符 18"/>
          <p:cNvCxnSpPr>
            <a:cxnSpLocks/>
            <a:stCxn id="18" idx="0"/>
          </p:cNvCxnSpPr>
          <p:nvPr/>
        </p:nvCxnSpPr>
        <p:spPr bwMode="gray">
          <a:xfrm flipH="1" flipV="1">
            <a:off x="2643594" y="3705621"/>
            <a:ext cx="1435520" cy="71789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a:cxnSpLocks/>
            <a:stCxn id="18" idx="0"/>
          </p:cNvCxnSpPr>
          <p:nvPr/>
        </p:nvCxnSpPr>
        <p:spPr bwMode="gray">
          <a:xfrm flipH="1" flipV="1">
            <a:off x="3697229" y="3661539"/>
            <a:ext cx="381885" cy="761973"/>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p:cNvCxnSpPr/>
          <p:nvPr/>
        </p:nvCxnSpPr>
        <p:spPr bwMode="gray">
          <a:xfrm>
            <a:off x="3010817" y="2439503"/>
            <a:ext cx="189199"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3" name="图片 22"/>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648977" y="2259060"/>
            <a:ext cx="466668" cy="385001"/>
          </a:xfrm>
          <a:prstGeom prst="rect">
            <a:avLst/>
          </a:prstGeom>
        </p:spPr>
      </p:pic>
      <p:sp>
        <p:nvSpPr>
          <p:cNvPr id="24" name="文本框 23"/>
          <p:cNvSpPr txBox="1"/>
          <p:nvPr/>
        </p:nvSpPr>
        <p:spPr bwMode="gray">
          <a:xfrm>
            <a:off x="1830001" y="2265998"/>
            <a:ext cx="867292" cy="338554"/>
          </a:xfrm>
          <a:prstGeom prst="rect">
            <a:avLst/>
          </a:prstGeom>
          <a:noFill/>
        </p:spPr>
        <p:txBody>
          <a:bodyPr wrap="square" rtlCol="0">
            <a:spAutoFit/>
          </a:bodyPr>
          <a:lstStyle/>
          <a:p>
            <a:pPr algn="ctr"/>
            <a:r>
              <a:rPr lang="en-US" altLang="zh-CN" sz="1600" dirty="0">
                <a:solidFill>
                  <a:srgbClr val="000000"/>
                </a:solidFill>
              </a:rPr>
              <a:t>Edge</a:t>
            </a:r>
            <a:endParaRPr lang="zh-CN" altLang="en-US" sz="1600" dirty="0">
              <a:solidFill>
                <a:srgbClr val="000000"/>
              </a:solidFill>
            </a:endParaRPr>
          </a:p>
        </p:txBody>
      </p:sp>
      <p:pic>
        <p:nvPicPr>
          <p:cNvPr id="26" name="图片 25"/>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155259" y="2258164"/>
            <a:ext cx="466668" cy="385001"/>
          </a:xfrm>
          <a:prstGeom prst="rect">
            <a:avLst/>
          </a:prstGeom>
        </p:spPr>
      </p:pic>
      <p:cxnSp>
        <p:nvCxnSpPr>
          <p:cNvPr id="27" name="直接连接符 26"/>
          <p:cNvCxnSpPr>
            <a:cxnSpLocks/>
            <a:stCxn id="23" idx="2"/>
          </p:cNvCxnSpPr>
          <p:nvPr/>
        </p:nvCxnSpPr>
        <p:spPr bwMode="gray">
          <a:xfrm flipH="1">
            <a:off x="2643594" y="2646216"/>
            <a:ext cx="238717" cy="48136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8" name="图片 27"/>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502588" y="4425666"/>
            <a:ext cx="466668" cy="385001"/>
          </a:xfrm>
          <a:prstGeom prst="rect">
            <a:avLst/>
          </a:prstGeom>
        </p:spPr>
      </p:pic>
      <p:sp>
        <p:nvSpPr>
          <p:cNvPr id="29" name="任意多边形 28"/>
          <p:cNvSpPr/>
          <p:nvPr/>
        </p:nvSpPr>
        <p:spPr bwMode="gray">
          <a:xfrm>
            <a:off x="2141316" y="2649013"/>
            <a:ext cx="672353" cy="1775012"/>
          </a:xfrm>
          <a:custGeom>
            <a:avLst/>
            <a:gdLst>
              <a:gd name="connsiteX0" fmla="*/ 504265 w 504265"/>
              <a:gd name="connsiteY0" fmla="*/ 0 h 1331259"/>
              <a:gd name="connsiteX1" fmla="*/ 235324 w 504265"/>
              <a:gd name="connsiteY1" fmla="*/ 692524 h 1331259"/>
              <a:gd name="connsiteX2" fmla="*/ 0 w 504265"/>
              <a:gd name="connsiteY2" fmla="*/ 1331259 h 1331259"/>
            </a:gdLst>
            <a:ahLst/>
            <a:cxnLst>
              <a:cxn ang="0">
                <a:pos x="connsiteX0" y="connsiteY0"/>
              </a:cxn>
              <a:cxn ang="0">
                <a:pos x="connsiteX1" y="connsiteY1"/>
              </a:cxn>
              <a:cxn ang="0">
                <a:pos x="connsiteX2" y="connsiteY2"/>
              </a:cxn>
            </a:cxnLst>
            <a:rect l="l" t="t" r="r" b="b"/>
            <a:pathLst>
              <a:path w="504265" h="1331259">
                <a:moveTo>
                  <a:pt x="504265" y="0"/>
                </a:moveTo>
                <a:cubicBezTo>
                  <a:pt x="411816" y="235324"/>
                  <a:pt x="319368" y="470648"/>
                  <a:pt x="235324" y="692524"/>
                </a:cubicBezTo>
                <a:cubicBezTo>
                  <a:pt x="151280" y="914401"/>
                  <a:pt x="75640" y="1122830"/>
                  <a:pt x="0" y="1331259"/>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dirty="0">
              <a:latin typeface="Huawei Sans" panose="020C0503030203020204" pitchFamily="34" charset="0"/>
              <a:ea typeface="宋体" charset="-122"/>
            </a:endParaRPr>
          </a:p>
        </p:txBody>
      </p:sp>
      <p:sp>
        <p:nvSpPr>
          <p:cNvPr id="30" name="任意多边形 29"/>
          <p:cNvSpPr/>
          <p:nvPr/>
        </p:nvSpPr>
        <p:spPr bwMode="gray">
          <a:xfrm>
            <a:off x="2697293" y="2648190"/>
            <a:ext cx="827122" cy="1766047"/>
          </a:xfrm>
          <a:custGeom>
            <a:avLst/>
            <a:gdLst>
              <a:gd name="connsiteX0" fmla="*/ 477370 w 683179"/>
              <a:gd name="connsiteY0" fmla="*/ 0 h 1324535"/>
              <a:gd name="connsiteX1" fmla="*/ 658906 w 683179"/>
              <a:gd name="connsiteY1" fmla="*/ 632012 h 1324535"/>
              <a:gd name="connsiteX2" fmla="*/ 0 w 683179"/>
              <a:gd name="connsiteY2" fmla="*/ 1324535 h 1324535"/>
            </a:gdLst>
            <a:ahLst/>
            <a:cxnLst>
              <a:cxn ang="0">
                <a:pos x="connsiteX0" y="connsiteY0"/>
              </a:cxn>
              <a:cxn ang="0">
                <a:pos x="connsiteX1" y="connsiteY1"/>
              </a:cxn>
              <a:cxn ang="0">
                <a:pos x="connsiteX2" y="connsiteY2"/>
              </a:cxn>
            </a:cxnLst>
            <a:rect l="l" t="t" r="r" b="b"/>
            <a:pathLst>
              <a:path w="683179" h="1324535">
                <a:moveTo>
                  <a:pt x="477370" y="0"/>
                </a:moveTo>
                <a:cubicBezTo>
                  <a:pt x="607919" y="205628"/>
                  <a:pt x="738468" y="411256"/>
                  <a:pt x="658906" y="632012"/>
                </a:cubicBezTo>
                <a:cubicBezTo>
                  <a:pt x="579344" y="852768"/>
                  <a:pt x="289672" y="1088651"/>
                  <a:pt x="0" y="1324535"/>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dirty="0">
              <a:latin typeface="Huawei Sans" panose="020C0503030203020204" pitchFamily="34" charset="0"/>
              <a:ea typeface="宋体" charset="-122"/>
            </a:endParaRPr>
          </a:p>
        </p:txBody>
      </p:sp>
      <p:sp>
        <p:nvSpPr>
          <p:cNvPr id="31" name="任意多边形 30"/>
          <p:cNvSpPr/>
          <p:nvPr/>
        </p:nvSpPr>
        <p:spPr bwMode="gray">
          <a:xfrm>
            <a:off x="3433645" y="2638915"/>
            <a:ext cx="717177" cy="1775012"/>
          </a:xfrm>
          <a:custGeom>
            <a:avLst/>
            <a:gdLst>
              <a:gd name="connsiteX0" fmla="*/ 0 w 537883"/>
              <a:gd name="connsiteY0" fmla="*/ 0 h 1331259"/>
              <a:gd name="connsiteX1" fmla="*/ 356347 w 537883"/>
              <a:gd name="connsiteY1" fmla="*/ 645459 h 1331259"/>
              <a:gd name="connsiteX2" fmla="*/ 537883 w 537883"/>
              <a:gd name="connsiteY2" fmla="*/ 1331259 h 1331259"/>
            </a:gdLst>
            <a:ahLst/>
            <a:cxnLst>
              <a:cxn ang="0">
                <a:pos x="connsiteX0" y="connsiteY0"/>
              </a:cxn>
              <a:cxn ang="0">
                <a:pos x="connsiteX1" y="connsiteY1"/>
              </a:cxn>
              <a:cxn ang="0">
                <a:pos x="connsiteX2" y="connsiteY2"/>
              </a:cxn>
            </a:cxnLst>
            <a:rect l="l" t="t" r="r" b="b"/>
            <a:pathLst>
              <a:path w="537883" h="1331259">
                <a:moveTo>
                  <a:pt x="0" y="0"/>
                </a:moveTo>
                <a:cubicBezTo>
                  <a:pt x="133350" y="211791"/>
                  <a:pt x="266700" y="423583"/>
                  <a:pt x="356347" y="645459"/>
                </a:cubicBezTo>
                <a:cubicBezTo>
                  <a:pt x="445994" y="867335"/>
                  <a:pt x="491938" y="1099297"/>
                  <a:pt x="537883" y="1331259"/>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dirty="0">
              <a:latin typeface="Huawei Sans" panose="020C0503030203020204" pitchFamily="34" charset="0"/>
              <a:ea typeface="宋体" charset="-122"/>
            </a:endParaRPr>
          </a:p>
        </p:txBody>
      </p:sp>
      <p:sp>
        <p:nvSpPr>
          <p:cNvPr id="32" name="任意多边形 31"/>
          <p:cNvSpPr/>
          <p:nvPr/>
        </p:nvSpPr>
        <p:spPr bwMode="gray">
          <a:xfrm>
            <a:off x="2746318" y="2648190"/>
            <a:ext cx="1283536" cy="1766047"/>
          </a:xfrm>
          <a:custGeom>
            <a:avLst/>
            <a:gdLst>
              <a:gd name="connsiteX0" fmla="*/ 128934 w 962652"/>
              <a:gd name="connsiteY0" fmla="*/ 0 h 1324535"/>
              <a:gd name="connsiteX1" fmla="*/ 68423 w 962652"/>
              <a:gd name="connsiteY1" fmla="*/ 679077 h 1324535"/>
              <a:gd name="connsiteX2" fmla="*/ 962652 w 962652"/>
              <a:gd name="connsiteY2" fmla="*/ 1324535 h 1324535"/>
            </a:gdLst>
            <a:ahLst/>
            <a:cxnLst>
              <a:cxn ang="0">
                <a:pos x="connsiteX0" y="connsiteY0"/>
              </a:cxn>
              <a:cxn ang="0">
                <a:pos x="connsiteX1" y="connsiteY1"/>
              </a:cxn>
              <a:cxn ang="0">
                <a:pos x="connsiteX2" y="connsiteY2"/>
              </a:cxn>
            </a:cxnLst>
            <a:rect l="l" t="t" r="r" b="b"/>
            <a:pathLst>
              <a:path w="962652" h="1324535">
                <a:moveTo>
                  <a:pt x="128934" y="0"/>
                </a:moveTo>
                <a:cubicBezTo>
                  <a:pt x="29202" y="229160"/>
                  <a:pt x="-70530" y="458321"/>
                  <a:pt x="68423" y="679077"/>
                </a:cubicBezTo>
                <a:cubicBezTo>
                  <a:pt x="207376" y="899833"/>
                  <a:pt x="585014" y="1112184"/>
                  <a:pt x="962652" y="1324535"/>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dirty="0">
              <a:latin typeface="Huawei Sans" panose="020C0503030203020204" pitchFamily="34" charset="0"/>
              <a:ea typeface="宋体" charset="-122"/>
            </a:endParaRPr>
          </a:p>
        </p:txBody>
      </p:sp>
      <p:sp>
        <p:nvSpPr>
          <p:cNvPr id="33" name="任意多边形 32"/>
          <p:cNvSpPr/>
          <p:nvPr/>
        </p:nvSpPr>
        <p:spPr bwMode="gray">
          <a:xfrm>
            <a:off x="2272773" y="3561292"/>
            <a:ext cx="1640541" cy="852945"/>
          </a:xfrm>
          <a:custGeom>
            <a:avLst/>
            <a:gdLst>
              <a:gd name="connsiteX0" fmla="*/ 0 w 1230406"/>
              <a:gd name="connsiteY0" fmla="*/ 639709 h 639709"/>
              <a:gd name="connsiteX1" fmla="*/ 268941 w 1230406"/>
              <a:gd name="connsiteY1" fmla="*/ 21145 h 639709"/>
              <a:gd name="connsiteX2" fmla="*/ 490817 w 1230406"/>
              <a:gd name="connsiteY2" fmla="*/ 189233 h 639709"/>
              <a:gd name="connsiteX3" fmla="*/ 1230406 w 1230406"/>
              <a:gd name="connsiteY3" fmla="*/ 632986 h 639709"/>
            </a:gdLst>
            <a:ahLst/>
            <a:cxnLst>
              <a:cxn ang="0">
                <a:pos x="connsiteX0" y="connsiteY0"/>
              </a:cxn>
              <a:cxn ang="0">
                <a:pos x="connsiteX1" y="connsiteY1"/>
              </a:cxn>
              <a:cxn ang="0">
                <a:pos x="connsiteX2" y="connsiteY2"/>
              </a:cxn>
              <a:cxn ang="0">
                <a:pos x="connsiteX3" y="connsiteY3"/>
              </a:cxn>
            </a:cxnLst>
            <a:rect l="l" t="t" r="r" b="b"/>
            <a:pathLst>
              <a:path w="1230406" h="639709">
                <a:moveTo>
                  <a:pt x="0" y="639709"/>
                </a:moveTo>
                <a:cubicBezTo>
                  <a:pt x="93569" y="367966"/>
                  <a:pt x="187138" y="96224"/>
                  <a:pt x="268941" y="21145"/>
                </a:cubicBezTo>
                <a:cubicBezTo>
                  <a:pt x="350744" y="-53934"/>
                  <a:pt x="330573" y="87259"/>
                  <a:pt x="490817" y="189233"/>
                </a:cubicBezTo>
                <a:cubicBezTo>
                  <a:pt x="651061" y="291206"/>
                  <a:pt x="940733" y="462096"/>
                  <a:pt x="1230406" y="632986"/>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dirty="0">
              <a:latin typeface="Huawei Sans" panose="020C0503030203020204" pitchFamily="34" charset="0"/>
              <a:ea typeface="宋体" charset="-122"/>
            </a:endParaRPr>
          </a:p>
        </p:txBody>
      </p:sp>
      <p:sp>
        <p:nvSpPr>
          <p:cNvPr id="34" name="任意多边形 33"/>
          <p:cNvSpPr/>
          <p:nvPr/>
        </p:nvSpPr>
        <p:spPr bwMode="gray">
          <a:xfrm>
            <a:off x="2813669" y="3561153"/>
            <a:ext cx="1225150" cy="862048"/>
          </a:xfrm>
          <a:custGeom>
            <a:avLst/>
            <a:gdLst>
              <a:gd name="connsiteX0" fmla="*/ 0 w 948018"/>
              <a:gd name="connsiteY0" fmla="*/ 646536 h 646536"/>
              <a:gd name="connsiteX1" fmla="*/ 679077 w 948018"/>
              <a:gd name="connsiteY1" fmla="*/ 34695 h 646536"/>
              <a:gd name="connsiteX2" fmla="*/ 779930 w 948018"/>
              <a:gd name="connsiteY2" fmla="*/ 135548 h 646536"/>
              <a:gd name="connsiteX3" fmla="*/ 948018 w 948018"/>
              <a:gd name="connsiteY3" fmla="*/ 633089 h 646536"/>
            </a:gdLst>
            <a:ahLst/>
            <a:cxnLst>
              <a:cxn ang="0">
                <a:pos x="connsiteX0" y="connsiteY0"/>
              </a:cxn>
              <a:cxn ang="0">
                <a:pos x="connsiteX1" y="connsiteY1"/>
              </a:cxn>
              <a:cxn ang="0">
                <a:pos x="connsiteX2" y="connsiteY2"/>
              </a:cxn>
              <a:cxn ang="0">
                <a:pos x="connsiteX3" y="connsiteY3"/>
              </a:cxn>
            </a:cxnLst>
            <a:rect l="l" t="t" r="r" b="b"/>
            <a:pathLst>
              <a:path w="948018" h="646536">
                <a:moveTo>
                  <a:pt x="0" y="646536"/>
                </a:moveTo>
                <a:cubicBezTo>
                  <a:pt x="274544" y="383198"/>
                  <a:pt x="549089" y="119860"/>
                  <a:pt x="679077" y="34695"/>
                </a:cubicBezTo>
                <a:cubicBezTo>
                  <a:pt x="809065" y="-50470"/>
                  <a:pt x="735107" y="35816"/>
                  <a:pt x="779930" y="135548"/>
                </a:cubicBezTo>
                <a:cubicBezTo>
                  <a:pt x="824754" y="235280"/>
                  <a:pt x="886386" y="434184"/>
                  <a:pt x="948018" y="633089"/>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dirty="0">
              <a:latin typeface="Huawei Sans" panose="020C0503030203020204" pitchFamily="34" charset="0"/>
              <a:ea typeface="宋体" charset="-122"/>
            </a:endParaRPr>
          </a:p>
        </p:txBody>
      </p:sp>
      <p:sp>
        <p:nvSpPr>
          <p:cNvPr id="35" name="矩形 34"/>
          <p:cNvSpPr/>
          <p:nvPr/>
        </p:nvSpPr>
        <p:spPr bwMode="gray">
          <a:xfrm>
            <a:off x="4808674" y="1480826"/>
            <a:ext cx="6459216" cy="4217565"/>
          </a:xfrm>
          <a:prstGeom prst="rect">
            <a:avLst/>
          </a:prstGeom>
        </p:spPr>
        <p:txBody>
          <a:bodyPr wrap="square">
            <a:spAutoFit/>
          </a:bodyPr>
          <a:lstStyle/>
          <a:p>
            <a:pPr marL="176213" indent="-176213" algn="just">
              <a:lnSpc>
                <a:spcPts val="2400"/>
              </a:lnSpc>
              <a:spcAft>
                <a:spcPts val="600"/>
              </a:spcAft>
              <a:buFont typeface="Arial" panose="020B0604020202020204" pitchFamily="34" charset="0"/>
              <a:buChar char="•"/>
            </a:pPr>
            <a:r>
              <a:rPr lang="zh-CN" altLang="en-US" sz="1600" b="1" dirty="0">
                <a:latin typeface="+mj-lt"/>
              </a:rPr>
              <a:t>方案简介</a:t>
            </a:r>
            <a:endParaRPr lang="en-US" altLang="zh-CN" sz="1600" b="1" dirty="0">
              <a:latin typeface="+mj-lt"/>
            </a:endParaRP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Full-mesh</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拓扑中，企业的分支站点之间如果存在业务互访关系，则数据直接交互，不需要经过中间节点。</a:t>
            </a:r>
          </a:p>
          <a:p>
            <a:pPr marL="176213" indent="-176213" algn="just">
              <a:lnSpc>
                <a:spcPts val="2400"/>
              </a:lnSpc>
              <a:spcAft>
                <a:spcPts val="600"/>
              </a:spcAft>
              <a:buFont typeface="Arial" panose="020B0604020202020204" pitchFamily="34" charset="0"/>
              <a:buChar char="•"/>
            </a:pPr>
            <a:r>
              <a:rPr lang="zh-CN" altLang="en-US" sz="1600" b="1" dirty="0">
                <a:latin typeface="+mj-lt"/>
              </a:rPr>
              <a:t>适用场景</a:t>
            </a:r>
            <a:endParaRPr lang="en-US" altLang="zh-CN" sz="1600" b="1" dirty="0">
              <a:latin typeface="+mj-lt"/>
            </a:endParaRP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主要适用于站点规模不多的小企业，或者在分支之间需要进行协同工作的大企业中部署。</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协同类业务，如</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VoIP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和视频会议等高价值的应用，对于网络丢包、时延和抖动等网络性能具有很高的要求，因此这类业务更适用于分支站点之间直接进行互访。</a:t>
            </a: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Full-mesh</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拓扑组网简单，业务互访效率高。但是组网扩展性一般，适用于</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10</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个到</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100</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个分支站点的网络规模。</a:t>
            </a:r>
          </a:p>
        </p:txBody>
      </p:sp>
      <p:sp>
        <p:nvSpPr>
          <p:cNvPr id="36" name="五边形 2">
            <a:extLst>
              <a:ext uri="{FF2B5EF4-FFF2-40B4-BE49-F238E27FC236}">
                <a16:creationId xmlns:a16="http://schemas.microsoft.com/office/drawing/2014/main" id="{2EA9661A-503D-4CEC-9BC1-BCBCD5884128}"/>
              </a:ext>
            </a:extLst>
          </p:cNvPr>
          <p:cNvSpPr/>
          <p:nvPr/>
        </p:nvSpPr>
        <p:spPr bwMode="gray">
          <a:xfrm>
            <a:off x="8649811" y="120048"/>
            <a:ext cx="91226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37" name="燕尾形 3">
            <a:extLst>
              <a:ext uri="{FF2B5EF4-FFF2-40B4-BE49-F238E27FC236}">
                <a16:creationId xmlns:a16="http://schemas.microsoft.com/office/drawing/2014/main" id="{3BCBBB1C-AB3F-4936-A520-18BB616BCEFB}"/>
              </a:ext>
            </a:extLst>
          </p:cNvPr>
          <p:cNvSpPr/>
          <p:nvPr/>
        </p:nvSpPr>
        <p:spPr bwMode="gray">
          <a:xfrm>
            <a:off x="10437493" y="120048"/>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
            <a:extLst>
              <a:ext uri="{FF2B5EF4-FFF2-40B4-BE49-F238E27FC236}">
                <a16:creationId xmlns:a16="http://schemas.microsoft.com/office/drawing/2014/main" id="{9AE9F0F1-2BD6-4C30-9BFC-93EE91621455}"/>
              </a:ext>
            </a:extLst>
          </p:cNvPr>
          <p:cNvSpPr/>
          <p:nvPr/>
        </p:nvSpPr>
        <p:spPr bwMode="gray">
          <a:xfrm>
            <a:off x="9481630" y="120048"/>
            <a:ext cx="10363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拓扑设计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57988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reeform 159">
            <a:extLst>
              <a:ext uri="{FF2B5EF4-FFF2-40B4-BE49-F238E27FC236}">
                <a16:creationId xmlns:a16="http://schemas.microsoft.com/office/drawing/2014/main" id="{286CA716-A922-4A0F-9772-2A6CA9FB1932}"/>
              </a:ext>
            </a:extLst>
          </p:cNvPr>
          <p:cNvSpPr/>
          <p:nvPr/>
        </p:nvSpPr>
        <p:spPr bwMode="gray">
          <a:xfrm flipH="1">
            <a:off x="2488649" y="1839721"/>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HQ/DC</a:t>
            </a:r>
          </a:p>
        </p:txBody>
      </p:sp>
      <p:sp>
        <p:nvSpPr>
          <p:cNvPr id="38" name="Freeform 159">
            <a:extLst>
              <a:ext uri="{FF2B5EF4-FFF2-40B4-BE49-F238E27FC236}">
                <a16:creationId xmlns:a16="http://schemas.microsoft.com/office/drawing/2014/main" id="{40C72D26-576C-428D-B46A-A91F9C6253BF}"/>
              </a:ext>
            </a:extLst>
          </p:cNvPr>
          <p:cNvSpPr/>
          <p:nvPr/>
        </p:nvSpPr>
        <p:spPr bwMode="gray">
          <a:xfrm flipH="1">
            <a:off x="2075424" y="3180507"/>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39" name="Freeform 159">
            <a:extLst>
              <a:ext uri="{FF2B5EF4-FFF2-40B4-BE49-F238E27FC236}">
                <a16:creationId xmlns:a16="http://schemas.microsoft.com/office/drawing/2014/main" id="{CE21354D-84F1-4C58-B4FA-43449D768692}"/>
              </a:ext>
            </a:extLst>
          </p:cNvPr>
          <p:cNvSpPr/>
          <p:nvPr/>
        </p:nvSpPr>
        <p:spPr bwMode="gray">
          <a:xfrm flipH="1">
            <a:off x="3114146" y="316876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40" name="Freeform 159">
            <a:extLst>
              <a:ext uri="{FF2B5EF4-FFF2-40B4-BE49-F238E27FC236}">
                <a16:creationId xmlns:a16="http://schemas.microsoft.com/office/drawing/2014/main" id="{498DC3F7-6E55-43A7-B9BD-E14A7DCA809E}"/>
              </a:ext>
            </a:extLst>
          </p:cNvPr>
          <p:cNvSpPr/>
          <p:nvPr/>
        </p:nvSpPr>
        <p:spPr bwMode="gray">
          <a:xfrm flipH="1">
            <a:off x="1177508" y="467297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41" name="Freeform 159">
            <a:extLst>
              <a:ext uri="{FF2B5EF4-FFF2-40B4-BE49-F238E27FC236}">
                <a16:creationId xmlns:a16="http://schemas.microsoft.com/office/drawing/2014/main" id="{39D18E96-1BBD-4C5F-BACE-C0DB8F7B3DEC}"/>
              </a:ext>
            </a:extLst>
          </p:cNvPr>
          <p:cNvSpPr/>
          <p:nvPr/>
        </p:nvSpPr>
        <p:spPr bwMode="gray">
          <a:xfrm flipH="1">
            <a:off x="2783009" y="4677715"/>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48" name="Freeform 159">
            <a:extLst>
              <a:ext uri="{FF2B5EF4-FFF2-40B4-BE49-F238E27FC236}">
                <a16:creationId xmlns:a16="http://schemas.microsoft.com/office/drawing/2014/main" id="{584598B9-F6A5-4868-A5B4-1E5D685EBD02}"/>
              </a:ext>
            </a:extLst>
          </p:cNvPr>
          <p:cNvSpPr/>
          <p:nvPr/>
        </p:nvSpPr>
        <p:spPr bwMode="gray">
          <a:xfrm flipH="1">
            <a:off x="4161211" y="4669720"/>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3" name="标题 2"/>
          <p:cNvSpPr>
            <a:spLocks noGrp="1"/>
          </p:cNvSpPr>
          <p:nvPr>
            <p:ph type="title"/>
          </p:nvPr>
        </p:nvSpPr>
        <p:spPr bwMode="gray"/>
        <p:txBody>
          <a:bodyPr/>
          <a:lstStyle/>
          <a:p>
            <a:r>
              <a:rPr lang="en-US" altLang="zh-CN"/>
              <a:t>Partial-mesh</a:t>
            </a:r>
            <a:r>
              <a:rPr lang="zh-CN" altLang="en-US"/>
              <a:t>应用</a:t>
            </a:r>
            <a:r>
              <a:rPr lang="zh-CN" altLang="en-US" dirty="0"/>
              <a:t>场景</a:t>
            </a: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449847" y="4471198"/>
            <a:ext cx="466668" cy="385001"/>
          </a:xfrm>
          <a:prstGeom prst="rect">
            <a:avLst/>
          </a:prstGeom>
        </p:spPr>
      </p:pic>
      <p:sp>
        <p:nvSpPr>
          <p:cNvPr id="10" name="文本框 9"/>
          <p:cNvSpPr txBox="1"/>
          <p:nvPr/>
        </p:nvSpPr>
        <p:spPr bwMode="gray">
          <a:xfrm>
            <a:off x="636881" y="4469045"/>
            <a:ext cx="853675" cy="338554"/>
          </a:xfrm>
          <a:prstGeom prst="rect">
            <a:avLst/>
          </a:prstGeom>
          <a:noFill/>
        </p:spPr>
        <p:txBody>
          <a:bodyPr wrap="square" rtlCol="0">
            <a:spAutoFit/>
          </a:bodyPr>
          <a:lstStyle/>
          <a:p>
            <a:pPr algn="ctr"/>
            <a:r>
              <a:rPr lang="en-US" altLang="zh-CN" sz="1600" dirty="0">
                <a:solidFill>
                  <a:srgbClr val="000000"/>
                </a:solidFill>
              </a:rPr>
              <a:t>Edge</a:t>
            </a:r>
            <a:endParaRPr lang="zh-CN" altLang="en-US" sz="1600" dirty="0">
              <a:solidFill>
                <a:srgbClr val="000000"/>
              </a:solidFill>
            </a:endParaRPr>
          </a:p>
        </p:txBody>
      </p:sp>
      <p:cxnSp>
        <p:nvCxnSpPr>
          <p:cNvPr id="12" name="直接连接符 11"/>
          <p:cNvCxnSpPr>
            <a:cxnSpLocks/>
            <a:stCxn id="23" idx="2"/>
          </p:cNvCxnSpPr>
          <p:nvPr/>
        </p:nvCxnSpPr>
        <p:spPr bwMode="gray">
          <a:xfrm>
            <a:off x="3258385" y="2690851"/>
            <a:ext cx="308636" cy="520815"/>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a:cxnSpLocks/>
            <a:stCxn id="9" idx="0"/>
          </p:cNvCxnSpPr>
          <p:nvPr/>
        </p:nvCxnSpPr>
        <p:spPr bwMode="gray">
          <a:xfrm flipV="1">
            <a:off x="1683182" y="3751153"/>
            <a:ext cx="830204" cy="71789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6" name="图片 15"/>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043217" y="4471198"/>
            <a:ext cx="466668" cy="385001"/>
          </a:xfrm>
          <a:prstGeom prst="rect">
            <a:avLst/>
          </a:prstGeom>
        </p:spPr>
      </p:pic>
      <p:cxnSp>
        <p:nvCxnSpPr>
          <p:cNvPr id="17" name="直接连接符 16"/>
          <p:cNvCxnSpPr>
            <a:cxnSpLocks/>
            <a:stCxn id="16" idx="0"/>
          </p:cNvCxnSpPr>
          <p:nvPr/>
        </p:nvCxnSpPr>
        <p:spPr bwMode="gray">
          <a:xfrm flipH="1" flipV="1">
            <a:off x="2513386" y="3751153"/>
            <a:ext cx="763165" cy="71789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p:cNvCxnSpPr/>
          <p:nvPr/>
        </p:nvCxnSpPr>
        <p:spPr bwMode="gray">
          <a:xfrm>
            <a:off x="2880609" y="2485035"/>
            <a:ext cx="189199"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 name="图片 19"/>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518769" y="2304592"/>
            <a:ext cx="466668" cy="385001"/>
          </a:xfrm>
          <a:prstGeom prst="rect">
            <a:avLst/>
          </a:prstGeom>
        </p:spPr>
      </p:pic>
      <p:sp>
        <p:nvSpPr>
          <p:cNvPr id="21" name="文本框 20"/>
          <p:cNvSpPr txBox="1"/>
          <p:nvPr/>
        </p:nvSpPr>
        <p:spPr bwMode="gray">
          <a:xfrm>
            <a:off x="1449848" y="2177258"/>
            <a:ext cx="1047033" cy="584775"/>
          </a:xfrm>
          <a:prstGeom prst="rect">
            <a:avLst/>
          </a:prstGeom>
          <a:noFill/>
        </p:spPr>
        <p:txBody>
          <a:bodyPr wrap="square" rtlCol="0">
            <a:spAutoFit/>
          </a:bodyPr>
          <a:lstStyle/>
          <a:p>
            <a:pPr algn="ctr"/>
            <a:r>
              <a:rPr lang="en-US" altLang="zh-CN" sz="1600">
                <a:solidFill>
                  <a:srgbClr val="000000"/>
                </a:solidFill>
              </a:rPr>
              <a:t>Edge</a:t>
            </a:r>
            <a:r>
              <a:rPr lang="zh-CN" altLang="en-US" sz="1600">
                <a:solidFill>
                  <a:srgbClr val="000000"/>
                </a:solidFill>
              </a:rPr>
              <a:t> </a:t>
            </a:r>
            <a:r>
              <a:rPr lang="en-US" altLang="zh-CN" sz="1600">
                <a:solidFill>
                  <a:srgbClr val="000000"/>
                </a:solidFill>
              </a:rPr>
              <a:t>(</a:t>
            </a:r>
            <a:r>
              <a:rPr lang="en-US" altLang="zh-CN" sz="1600" dirty="0">
                <a:solidFill>
                  <a:srgbClr val="000000"/>
                </a:solidFill>
              </a:rPr>
              <a:t>Redirect)</a:t>
            </a:r>
            <a:endParaRPr lang="zh-CN" altLang="en-US" sz="1600" dirty="0">
              <a:solidFill>
                <a:srgbClr val="000000"/>
              </a:solidFill>
            </a:endParaRPr>
          </a:p>
        </p:txBody>
      </p:sp>
      <p:pic>
        <p:nvPicPr>
          <p:cNvPr id="23" name="图片 22"/>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025050" y="2303696"/>
            <a:ext cx="466668" cy="385001"/>
          </a:xfrm>
          <a:prstGeom prst="rect">
            <a:avLst/>
          </a:prstGeom>
        </p:spPr>
      </p:pic>
      <p:cxnSp>
        <p:nvCxnSpPr>
          <p:cNvPr id="24" name="直接连接符 23"/>
          <p:cNvCxnSpPr>
            <a:cxnSpLocks/>
            <a:stCxn id="20" idx="2"/>
          </p:cNvCxnSpPr>
          <p:nvPr/>
        </p:nvCxnSpPr>
        <p:spPr bwMode="gray">
          <a:xfrm flipH="1">
            <a:off x="2513386" y="2691748"/>
            <a:ext cx="238717" cy="48136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7" name="图片 26"/>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4424842" y="4471198"/>
            <a:ext cx="466668" cy="385001"/>
          </a:xfrm>
          <a:prstGeom prst="rect">
            <a:avLst/>
          </a:prstGeom>
        </p:spPr>
      </p:pic>
      <p:cxnSp>
        <p:nvCxnSpPr>
          <p:cNvPr id="28" name="直接连接符 27"/>
          <p:cNvCxnSpPr>
            <a:cxnSpLocks/>
            <a:stCxn id="27" idx="0"/>
          </p:cNvCxnSpPr>
          <p:nvPr/>
        </p:nvCxnSpPr>
        <p:spPr bwMode="gray">
          <a:xfrm flipH="1" flipV="1">
            <a:off x="3567021" y="3707071"/>
            <a:ext cx="1091156" cy="761973"/>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任意多边形 28"/>
          <p:cNvSpPr/>
          <p:nvPr/>
        </p:nvSpPr>
        <p:spPr bwMode="gray">
          <a:xfrm>
            <a:off x="1587431" y="2675791"/>
            <a:ext cx="1039905" cy="1801907"/>
          </a:xfrm>
          <a:custGeom>
            <a:avLst/>
            <a:gdLst>
              <a:gd name="connsiteX0" fmla="*/ 779929 w 779929"/>
              <a:gd name="connsiteY0" fmla="*/ 0 h 1351430"/>
              <a:gd name="connsiteX1" fmla="*/ 504265 w 779929"/>
              <a:gd name="connsiteY1" fmla="*/ 726142 h 1351430"/>
              <a:gd name="connsiteX2" fmla="*/ 0 w 779929"/>
              <a:gd name="connsiteY2" fmla="*/ 1351430 h 1351430"/>
            </a:gdLst>
            <a:ahLst/>
            <a:cxnLst>
              <a:cxn ang="0">
                <a:pos x="connsiteX0" y="connsiteY0"/>
              </a:cxn>
              <a:cxn ang="0">
                <a:pos x="connsiteX1" y="connsiteY1"/>
              </a:cxn>
              <a:cxn ang="0">
                <a:pos x="connsiteX2" y="connsiteY2"/>
              </a:cxn>
            </a:cxnLst>
            <a:rect l="l" t="t" r="r" b="b"/>
            <a:pathLst>
              <a:path w="779929" h="1351430">
                <a:moveTo>
                  <a:pt x="779929" y="0"/>
                </a:moveTo>
                <a:cubicBezTo>
                  <a:pt x="707091" y="250452"/>
                  <a:pt x="634253" y="500904"/>
                  <a:pt x="504265" y="726142"/>
                </a:cubicBezTo>
                <a:cubicBezTo>
                  <a:pt x="374277" y="951380"/>
                  <a:pt x="187138" y="1151405"/>
                  <a:pt x="0" y="1351430"/>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dirty="0">
              <a:latin typeface="Huawei Sans" panose="020C0503030203020204" pitchFamily="34" charset="0"/>
              <a:ea typeface="宋体" charset="-122"/>
            </a:endParaRPr>
          </a:p>
        </p:txBody>
      </p:sp>
      <p:sp>
        <p:nvSpPr>
          <p:cNvPr id="30" name="任意多边形 29"/>
          <p:cNvSpPr/>
          <p:nvPr/>
        </p:nvSpPr>
        <p:spPr bwMode="gray">
          <a:xfrm>
            <a:off x="2642144" y="2675940"/>
            <a:ext cx="716221" cy="1810871"/>
          </a:xfrm>
          <a:custGeom>
            <a:avLst/>
            <a:gdLst>
              <a:gd name="connsiteX0" fmla="*/ 120307 w 537166"/>
              <a:gd name="connsiteY0" fmla="*/ 0 h 1358153"/>
              <a:gd name="connsiteX1" fmla="*/ 26178 w 537166"/>
              <a:gd name="connsiteY1" fmla="*/ 726141 h 1358153"/>
              <a:gd name="connsiteX2" fmla="*/ 537166 w 537166"/>
              <a:gd name="connsiteY2" fmla="*/ 1358153 h 1358153"/>
            </a:gdLst>
            <a:ahLst/>
            <a:cxnLst>
              <a:cxn ang="0">
                <a:pos x="connsiteX0" y="connsiteY0"/>
              </a:cxn>
              <a:cxn ang="0">
                <a:pos x="connsiteX1" y="connsiteY1"/>
              </a:cxn>
              <a:cxn ang="0">
                <a:pos x="connsiteX2" y="connsiteY2"/>
              </a:cxn>
            </a:cxnLst>
            <a:rect l="l" t="t" r="r" b="b"/>
            <a:pathLst>
              <a:path w="537166" h="1358153">
                <a:moveTo>
                  <a:pt x="120307" y="0"/>
                </a:moveTo>
                <a:cubicBezTo>
                  <a:pt x="38504" y="249891"/>
                  <a:pt x="-43298" y="499782"/>
                  <a:pt x="26178" y="726141"/>
                </a:cubicBezTo>
                <a:cubicBezTo>
                  <a:pt x="95654" y="952500"/>
                  <a:pt x="316410" y="1155326"/>
                  <a:pt x="537166" y="1358153"/>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dirty="0">
              <a:latin typeface="Huawei Sans" panose="020C0503030203020204" pitchFamily="34" charset="0"/>
              <a:ea typeface="宋体" charset="-122"/>
            </a:endParaRPr>
          </a:p>
        </p:txBody>
      </p:sp>
      <p:sp>
        <p:nvSpPr>
          <p:cNvPr id="31" name="任意多边形 30"/>
          <p:cNvSpPr/>
          <p:nvPr/>
        </p:nvSpPr>
        <p:spPr bwMode="gray">
          <a:xfrm>
            <a:off x="1730190" y="3686332"/>
            <a:ext cx="1515036" cy="791365"/>
          </a:xfrm>
          <a:custGeom>
            <a:avLst/>
            <a:gdLst>
              <a:gd name="connsiteX0" fmla="*/ 0 w 1136277"/>
              <a:gd name="connsiteY0" fmla="*/ 573354 h 593524"/>
              <a:gd name="connsiteX1" fmla="*/ 517712 w 1136277"/>
              <a:gd name="connsiteY1" fmla="*/ 22024 h 593524"/>
              <a:gd name="connsiteX2" fmla="*/ 685800 w 1136277"/>
              <a:gd name="connsiteY2" fmla="*/ 156495 h 593524"/>
              <a:gd name="connsiteX3" fmla="*/ 1136277 w 1136277"/>
              <a:gd name="connsiteY3" fmla="*/ 593524 h 593524"/>
            </a:gdLst>
            <a:ahLst/>
            <a:cxnLst>
              <a:cxn ang="0">
                <a:pos x="connsiteX0" y="connsiteY0"/>
              </a:cxn>
              <a:cxn ang="0">
                <a:pos x="connsiteX1" y="connsiteY1"/>
              </a:cxn>
              <a:cxn ang="0">
                <a:pos x="connsiteX2" y="connsiteY2"/>
              </a:cxn>
              <a:cxn ang="0">
                <a:pos x="connsiteX3" y="connsiteY3"/>
              </a:cxn>
            </a:cxnLst>
            <a:rect l="l" t="t" r="r" b="b"/>
            <a:pathLst>
              <a:path w="1136277" h="593524">
                <a:moveTo>
                  <a:pt x="0" y="573354"/>
                </a:moveTo>
                <a:cubicBezTo>
                  <a:pt x="201706" y="332427"/>
                  <a:pt x="403412" y="91500"/>
                  <a:pt x="517712" y="22024"/>
                </a:cubicBezTo>
                <a:cubicBezTo>
                  <a:pt x="632012" y="-47453"/>
                  <a:pt x="582706" y="61245"/>
                  <a:pt x="685800" y="156495"/>
                </a:cubicBezTo>
                <a:cubicBezTo>
                  <a:pt x="788894" y="251745"/>
                  <a:pt x="962585" y="422634"/>
                  <a:pt x="1136277" y="593524"/>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dirty="0">
              <a:latin typeface="Huawei Sans" panose="020C0503030203020204" pitchFamily="34" charset="0"/>
              <a:ea typeface="宋体" charset="-122"/>
            </a:endParaRPr>
          </a:p>
        </p:txBody>
      </p:sp>
      <p:sp>
        <p:nvSpPr>
          <p:cNvPr id="32" name="任意多边形 31"/>
          <p:cNvSpPr/>
          <p:nvPr/>
        </p:nvSpPr>
        <p:spPr bwMode="gray">
          <a:xfrm>
            <a:off x="3254189" y="2666827"/>
            <a:ext cx="1398495" cy="1810871"/>
          </a:xfrm>
          <a:custGeom>
            <a:avLst/>
            <a:gdLst>
              <a:gd name="connsiteX0" fmla="*/ 0 w 1048871"/>
              <a:gd name="connsiteY0" fmla="*/ 0 h 1358153"/>
              <a:gd name="connsiteX1" fmla="*/ 302559 w 1048871"/>
              <a:gd name="connsiteY1" fmla="*/ 732865 h 1358153"/>
              <a:gd name="connsiteX2" fmla="*/ 1048871 w 1048871"/>
              <a:gd name="connsiteY2" fmla="*/ 1358153 h 1358153"/>
            </a:gdLst>
            <a:ahLst/>
            <a:cxnLst>
              <a:cxn ang="0">
                <a:pos x="connsiteX0" y="connsiteY0"/>
              </a:cxn>
              <a:cxn ang="0">
                <a:pos x="connsiteX1" y="connsiteY1"/>
              </a:cxn>
              <a:cxn ang="0">
                <a:pos x="connsiteX2" y="connsiteY2"/>
              </a:cxn>
            </a:cxnLst>
            <a:rect l="l" t="t" r="r" b="b"/>
            <a:pathLst>
              <a:path w="1048871" h="1358153">
                <a:moveTo>
                  <a:pt x="0" y="0"/>
                </a:moveTo>
                <a:cubicBezTo>
                  <a:pt x="63873" y="253253"/>
                  <a:pt x="127747" y="506506"/>
                  <a:pt x="302559" y="732865"/>
                </a:cubicBezTo>
                <a:cubicBezTo>
                  <a:pt x="477371" y="959224"/>
                  <a:pt x="763121" y="1158688"/>
                  <a:pt x="1048871" y="1358153"/>
                </a:cubicBezTo>
              </a:path>
            </a:pathLst>
          </a:custGeom>
          <a:noFill/>
          <a:ln w="57150" cap="flat" cmpd="sng" algn="ctr">
            <a:solidFill>
              <a:srgbClr val="E2818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dirty="0">
              <a:latin typeface="Huawei Sans" panose="020C0503030203020204" pitchFamily="34" charset="0"/>
              <a:ea typeface="宋体" charset="-122"/>
            </a:endParaRPr>
          </a:p>
        </p:txBody>
      </p:sp>
      <p:sp>
        <p:nvSpPr>
          <p:cNvPr id="33" name="矩形 32"/>
          <p:cNvSpPr/>
          <p:nvPr/>
        </p:nvSpPr>
        <p:spPr bwMode="gray">
          <a:xfrm>
            <a:off x="5154770" y="1480826"/>
            <a:ext cx="6113120" cy="3736407"/>
          </a:xfrm>
          <a:prstGeom prst="rect">
            <a:avLst/>
          </a:prstGeom>
        </p:spPr>
        <p:txBody>
          <a:bodyPr wrap="square">
            <a:spAutoFit/>
          </a:bodyPr>
          <a:lstStyle/>
          <a:p>
            <a:pPr marL="176213" indent="-176213" algn="just">
              <a:lnSpc>
                <a:spcPts val="2400"/>
              </a:lnSpc>
              <a:spcAft>
                <a:spcPts val="600"/>
              </a:spcAft>
              <a:buFont typeface="Arial" panose="020B0604020202020204" pitchFamily="34" charset="0"/>
              <a:buChar char="•"/>
            </a:pPr>
            <a:r>
              <a:rPr lang="zh-CN" altLang="en-US" sz="1600" b="1" dirty="0">
                <a:latin typeface="+mj-lt"/>
              </a:rPr>
              <a:t>方案简介</a:t>
            </a:r>
            <a:endParaRPr lang="en-US" altLang="zh-CN" sz="1600" b="1" dirty="0">
              <a:latin typeface="+mj-lt"/>
            </a:endParaRP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Partial-mesh</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可以看做是一个特殊的</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Full-mesh</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组网，当站点之间存在直接互联的</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Underlay</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组网时，流量直接互访；否则，两个站点会经过一个共同连接的中转站点（</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Redirect</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）进行互访。</a:t>
            </a:r>
          </a:p>
          <a:p>
            <a:pPr marL="176213" indent="-176213" algn="just">
              <a:lnSpc>
                <a:spcPts val="2400"/>
              </a:lnSpc>
              <a:spcAft>
                <a:spcPts val="600"/>
              </a:spcAft>
              <a:buFont typeface="Arial" panose="020B0604020202020204" pitchFamily="34" charset="0"/>
              <a:buChar char="•"/>
            </a:pPr>
            <a:r>
              <a:rPr lang="zh-CN" altLang="en-US" sz="1600" b="1" dirty="0">
                <a:latin typeface="+mj-lt"/>
              </a:rPr>
              <a:t>适用场景</a:t>
            </a:r>
            <a:endParaRPr lang="en-US" altLang="zh-CN" sz="1600" b="1" dirty="0">
              <a:latin typeface="+mj-lt"/>
            </a:endParaRP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需要直接互访的站点之间的</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Underlay</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网络无法直接互联，此时通过</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Redirect</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站点进行互访。</a:t>
            </a: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Full-mesh</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组网场景下，需要直接互访的站点之间的</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Underlay</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网络可以直接互联。出于可靠性的考虑部署</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Redirect</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站点，当</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Underlay</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网络发生故障，站点无法直接互访时，通过</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Redirect</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站点进行中转。</a:t>
            </a:r>
          </a:p>
        </p:txBody>
      </p:sp>
      <p:sp>
        <p:nvSpPr>
          <p:cNvPr id="34" name="五边形 2">
            <a:extLst>
              <a:ext uri="{FF2B5EF4-FFF2-40B4-BE49-F238E27FC236}">
                <a16:creationId xmlns:a16="http://schemas.microsoft.com/office/drawing/2014/main" id="{2EA9661A-503D-4CEC-9BC1-BCBCD5884128}"/>
              </a:ext>
            </a:extLst>
          </p:cNvPr>
          <p:cNvSpPr/>
          <p:nvPr/>
        </p:nvSpPr>
        <p:spPr bwMode="gray">
          <a:xfrm>
            <a:off x="8649811" y="120048"/>
            <a:ext cx="91226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35" name="燕尾形 3">
            <a:extLst>
              <a:ext uri="{FF2B5EF4-FFF2-40B4-BE49-F238E27FC236}">
                <a16:creationId xmlns:a16="http://schemas.microsoft.com/office/drawing/2014/main" id="{3BCBBB1C-AB3F-4936-A520-18BB616BCEFB}"/>
              </a:ext>
            </a:extLst>
          </p:cNvPr>
          <p:cNvSpPr/>
          <p:nvPr/>
        </p:nvSpPr>
        <p:spPr bwMode="gray">
          <a:xfrm>
            <a:off x="10437493" y="120048"/>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
            <a:extLst>
              <a:ext uri="{FF2B5EF4-FFF2-40B4-BE49-F238E27FC236}">
                <a16:creationId xmlns:a16="http://schemas.microsoft.com/office/drawing/2014/main" id="{9AE9F0F1-2BD6-4C30-9BFC-93EE91621455}"/>
              </a:ext>
            </a:extLst>
          </p:cNvPr>
          <p:cNvSpPr/>
          <p:nvPr/>
        </p:nvSpPr>
        <p:spPr bwMode="gray">
          <a:xfrm>
            <a:off x="9481630" y="120048"/>
            <a:ext cx="10363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拓扑设计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496530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t>分层组网应用场景</a:t>
            </a:r>
          </a:p>
        </p:txBody>
      </p:sp>
      <p:sp>
        <p:nvSpPr>
          <p:cNvPr id="7" name="矩形 6"/>
          <p:cNvSpPr/>
          <p:nvPr/>
        </p:nvSpPr>
        <p:spPr bwMode="gray">
          <a:xfrm>
            <a:off x="5530356" y="1052513"/>
            <a:ext cx="5889066" cy="5072158"/>
          </a:xfrm>
          <a:prstGeom prst="rect">
            <a:avLst/>
          </a:prstGeom>
        </p:spPr>
        <p:txBody>
          <a:bodyPr wrap="square">
            <a:spAutoFit/>
          </a:bodyPr>
          <a:lstStyle/>
          <a:p>
            <a:pPr marL="176213" indent="-176213" algn="just">
              <a:lnSpc>
                <a:spcPts val="2400"/>
              </a:lnSpc>
              <a:spcAft>
                <a:spcPts val="600"/>
              </a:spcAft>
              <a:buFont typeface="Arial" panose="020B0604020202020204" pitchFamily="34" charset="0"/>
              <a:buChar char="•"/>
            </a:pPr>
            <a:r>
              <a:rPr lang="zh-CN" altLang="en-US" sz="1600" b="1" dirty="0">
                <a:latin typeface="+mj-lt"/>
              </a:rPr>
              <a:t>方案简介</a:t>
            </a:r>
            <a:endParaRPr lang="en-US" altLang="zh-CN" sz="1600" b="1" dirty="0">
              <a:latin typeface="+mj-lt"/>
            </a:endParaRP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分层网络模型可以看作单层网络模型的叠加。</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WAN</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被划分成多个区域，多个区域又通过集中的骨干区域进行互联，从而实现海量站点之间跨区域的互访。</a:t>
            </a: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以某跨国企业为例，可以根据企业管理结构，划分为中国、欧洲、美洲等区域。每个区域是一个单层网络模型，可以是</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Hub-Spoke</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拓扑或者</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Full-mesh</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拓扑，同时各个区域选择一个或多个站点来作为区域边界站点。各个区域边界站点就构成了区域之间互联的骨干区域，即第一级区域网络。区域边界站点同时连接二级区域网络，也连接着一级骨干网络。</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pPr marL="176173" indent="-176213" algn="just">
              <a:lnSpc>
                <a:spcPts val="2400"/>
              </a:lnSpc>
              <a:spcAft>
                <a:spcPts val="600"/>
              </a:spcAft>
              <a:buFont typeface="Arial" panose="020B0604020202020204" pitchFamily="34" charset="0"/>
              <a:buChar char="•"/>
            </a:pPr>
            <a:r>
              <a:rPr lang="zh-CN" altLang="en-US" sz="1600" b="1" dirty="0"/>
              <a:t>适用场景</a:t>
            </a:r>
            <a:endParaRPr lang="en-US" altLang="zh-CN" sz="1600" dirty="0">
              <a:latin typeface="+mj-lt"/>
            </a:endParaRP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分层网络模型适应于网络站点规模庞大或者站点分散分布在多个国家或地区的大型跨国企业。网络结构清晰，网络可扩展性好。</a:t>
            </a:r>
          </a:p>
        </p:txBody>
      </p:sp>
      <p:pic>
        <p:nvPicPr>
          <p:cNvPr id="12" name="图片 9">
            <a:extLst>
              <a:ext uri="{FF2B5EF4-FFF2-40B4-BE49-F238E27FC236}">
                <a16:creationId xmlns:a16="http://schemas.microsoft.com/office/drawing/2014/main" id="{DA8F0200-C041-486D-AF98-310F1F4B18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17416" y="1385401"/>
            <a:ext cx="490909" cy="402545"/>
          </a:xfrm>
          <a:prstGeom prst="rect">
            <a:avLst/>
          </a:prstGeom>
        </p:spPr>
      </p:pic>
      <p:sp>
        <p:nvSpPr>
          <p:cNvPr id="13" name="Freeform 159">
            <a:extLst>
              <a:ext uri="{FF2B5EF4-FFF2-40B4-BE49-F238E27FC236}">
                <a16:creationId xmlns:a16="http://schemas.microsoft.com/office/drawing/2014/main" id="{9179D377-76BB-4AED-A3BA-DECBF3B62211}"/>
              </a:ext>
            </a:extLst>
          </p:cNvPr>
          <p:cNvSpPr/>
          <p:nvPr/>
        </p:nvSpPr>
        <p:spPr bwMode="gray">
          <a:xfrm flipH="1">
            <a:off x="1896498" y="2068894"/>
            <a:ext cx="1020918" cy="5336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14" name="Freeform 159">
            <a:extLst>
              <a:ext uri="{FF2B5EF4-FFF2-40B4-BE49-F238E27FC236}">
                <a16:creationId xmlns:a16="http://schemas.microsoft.com/office/drawing/2014/main" id="{84EF5062-6D50-43D8-BDB5-28BF1E56DD97}"/>
              </a:ext>
            </a:extLst>
          </p:cNvPr>
          <p:cNvSpPr/>
          <p:nvPr/>
        </p:nvSpPr>
        <p:spPr bwMode="gray">
          <a:xfrm flipH="1">
            <a:off x="3408325" y="2068894"/>
            <a:ext cx="1020918" cy="5336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pic>
        <p:nvPicPr>
          <p:cNvPr id="15" name="图片 9">
            <a:extLst>
              <a:ext uri="{FF2B5EF4-FFF2-40B4-BE49-F238E27FC236}">
                <a16:creationId xmlns:a16="http://schemas.microsoft.com/office/drawing/2014/main" id="{3793E7EE-A146-4BD1-9D5F-55AD7EBE16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161502" y="3008950"/>
            <a:ext cx="490909" cy="402545"/>
          </a:xfrm>
          <a:prstGeom prst="rect">
            <a:avLst/>
          </a:prstGeom>
        </p:spPr>
      </p:pic>
      <p:pic>
        <p:nvPicPr>
          <p:cNvPr id="16" name="图片 9">
            <a:extLst>
              <a:ext uri="{FF2B5EF4-FFF2-40B4-BE49-F238E27FC236}">
                <a16:creationId xmlns:a16="http://schemas.microsoft.com/office/drawing/2014/main" id="{E67CC55E-5FB3-4FCE-A23E-3FEC8EDE0F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673329" y="3008950"/>
            <a:ext cx="490909" cy="402545"/>
          </a:xfrm>
          <a:prstGeom prst="rect">
            <a:avLst/>
          </a:prstGeom>
        </p:spPr>
      </p:pic>
      <p:sp>
        <p:nvSpPr>
          <p:cNvPr id="17" name="Freeform 159">
            <a:extLst>
              <a:ext uri="{FF2B5EF4-FFF2-40B4-BE49-F238E27FC236}">
                <a16:creationId xmlns:a16="http://schemas.microsoft.com/office/drawing/2014/main" id="{7C80A9AF-675E-4CAB-B170-049ECE03D1EC}"/>
              </a:ext>
            </a:extLst>
          </p:cNvPr>
          <p:cNvSpPr/>
          <p:nvPr/>
        </p:nvSpPr>
        <p:spPr bwMode="gray">
          <a:xfrm flipH="1">
            <a:off x="949484" y="4085409"/>
            <a:ext cx="1020918" cy="5336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18" name="Freeform 159">
            <a:extLst>
              <a:ext uri="{FF2B5EF4-FFF2-40B4-BE49-F238E27FC236}">
                <a16:creationId xmlns:a16="http://schemas.microsoft.com/office/drawing/2014/main" id="{828FD173-B33D-4060-8977-5034CCADB6FB}"/>
              </a:ext>
            </a:extLst>
          </p:cNvPr>
          <p:cNvSpPr/>
          <p:nvPr/>
        </p:nvSpPr>
        <p:spPr bwMode="gray">
          <a:xfrm flipH="1">
            <a:off x="2141953" y="4085409"/>
            <a:ext cx="1020918" cy="5336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sp>
        <p:nvSpPr>
          <p:cNvPr id="19" name="Freeform 159">
            <a:extLst>
              <a:ext uri="{FF2B5EF4-FFF2-40B4-BE49-F238E27FC236}">
                <a16:creationId xmlns:a16="http://schemas.microsoft.com/office/drawing/2014/main" id="{00BE991A-FCEE-42F4-A143-DEF3ECEF3BCC}"/>
              </a:ext>
            </a:extLst>
          </p:cNvPr>
          <p:cNvSpPr/>
          <p:nvPr/>
        </p:nvSpPr>
        <p:spPr bwMode="gray">
          <a:xfrm flipH="1">
            <a:off x="3331526" y="4085409"/>
            <a:ext cx="1020918" cy="5336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20" name="Freeform 159">
            <a:extLst>
              <a:ext uri="{FF2B5EF4-FFF2-40B4-BE49-F238E27FC236}">
                <a16:creationId xmlns:a16="http://schemas.microsoft.com/office/drawing/2014/main" id="{E8318ECB-EE10-420E-A588-12E1B31BA50F}"/>
              </a:ext>
            </a:extLst>
          </p:cNvPr>
          <p:cNvSpPr/>
          <p:nvPr/>
        </p:nvSpPr>
        <p:spPr bwMode="gray">
          <a:xfrm flipH="1">
            <a:off x="4523995" y="4085409"/>
            <a:ext cx="1020918" cy="5336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pic>
        <p:nvPicPr>
          <p:cNvPr id="21" name="图片 9">
            <a:extLst>
              <a:ext uri="{FF2B5EF4-FFF2-40B4-BE49-F238E27FC236}">
                <a16:creationId xmlns:a16="http://schemas.microsoft.com/office/drawing/2014/main" id="{411BF578-3DE6-416F-9236-B9F0B8796F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214488" y="5405786"/>
            <a:ext cx="490909" cy="402545"/>
          </a:xfrm>
          <a:prstGeom prst="rect">
            <a:avLst/>
          </a:prstGeom>
        </p:spPr>
      </p:pic>
      <p:pic>
        <p:nvPicPr>
          <p:cNvPr id="22" name="图片 9">
            <a:extLst>
              <a:ext uri="{FF2B5EF4-FFF2-40B4-BE49-F238E27FC236}">
                <a16:creationId xmlns:a16="http://schemas.microsoft.com/office/drawing/2014/main" id="{4C0ECAAC-1694-47D2-8D28-6E88121DC0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406956" y="5405785"/>
            <a:ext cx="490909" cy="402545"/>
          </a:xfrm>
          <a:prstGeom prst="rect">
            <a:avLst/>
          </a:prstGeom>
        </p:spPr>
      </p:pic>
      <p:pic>
        <p:nvPicPr>
          <p:cNvPr id="23" name="图片 9">
            <a:extLst>
              <a:ext uri="{FF2B5EF4-FFF2-40B4-BE49-F238E27FC236}">
                <a16:creationId xmlns:a16="http://schemas.microsoft.com/office/drawing/2014/main" id="{C73EA0D2-6F9F-46F3-ADC0-7EC067E148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621828" y="5405787"/>
            <a:ext cx="490909" cy="402545"/>
          </a:xfrm>
          <a:prstGeom prst="rect">
            <a:avLst/>
          </a:prstGeom>
        </p:spPr>
      </p:pic>
      <p:pic>
        <p:nvPicPr>
          <p:cNvPr id="24" name="图片 9">
            <a:extLst>
              <a:ext uri="{FF2B5EF4-FFF2-40B4-BE49-F238E27FC236}">
                <a16:creationId xmlns:a16="http://schemas.microsoft.com/office/drawing/2014/main" id="{64CD3775-11E0-4E34-9663-C303B6C549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814296" y="5405786"/>
            <a:ext cx="490909" cy="402545"/>
          </a:xfrm>
          <a:prstGeom prst="rect">
            <a:avLst/>
          </a:prstGeom>
        </p:spPr>
      </p:pic>
      <p:cxnSp>
        <p:nvCxnSpPr>
          <p:cNvPr id="25" name="直接连接符 11">
            <a:extLst>
              <a:ext uri="{FF2B5EF4-FFF2-40B4-BE49-F238E27FC236}">
                <a16:creationId xmlns:a16="http://schemas.microsoft.com/office/drawing/2014/main" id="{416F5398-6D49-4018-8664-160A925B158C}"/>
              </a:ext>
            </a:extLst>
          </p:cNvPr>
          <p:cNvCxnSpPr>
            <a:stCxn id="12" idx="2"/>
            <a:endCxn id="13" idx="2"/>
          </p:cNvCxnSpPr>
          <p:nvPr/>
        </p:nvCxnSpPr>
        <p:spPr bwMode="gray">
          <a:xfrm flipH="1">
            <a:off x="2489005" y="1787946"/>
            <a:ext cx="673866" cy="37213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11">
            <a:extLst>
              <a:ext uri="{FF2B5EF4-FFF2-40B4-BE49-F238E27FC236}">
                <a16:creationId xmlns:a16="http://schemas.microsoft.com/office/drawing/2014/main" id="{CBD99D0C-8453-4B6E-87D9-FD0AA5D23C5F}"/>
              </a:ext>
            </a:extLst>
          </p:cNvPr>
          <p:cNvCxnSpPr>
            <a:stCxn id="12" idx="2"/>
            <a:endCxn id="14" idx="0"/>
          </p:cNvCxnSpPr>
          <p:nvPr/>
        </p:nvCxnSpPr>
        <p:spPr bwMode="gray">
          <a:xfrm>
            <a:off x="3162871" y="1787946"/>
            <a:ext cx="645753" cy="28094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11">
            <a:extLst>
              <a:ext uri="{FF2B5EF4-FFF2-40B4-BE49-F238E27FC236}">
                <a16:creationId xmlns:a16="http://schemas.microsoft.com/office/drawing/2014/main" id="{DFE16169-BFC9-455D-9593-1CADFBC40DA2}"/>
              </a:ext>
            </a:extLst>
          </p:cNvPr>
          <p:cNvCxnSpPr>
            <a:endCxn id="15" idx="0"/>
          </p:cNvCxnSpPr>
          <p:nvPr/>
        </p:nvCxnSpPr>
        <p:spPr bwMode="gray">
          <a:xfrm flipH="1">
            <a:off x="2406957" y="2602557"/>
            <a:ext cx="1511827" cy="40639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11">
            <a:extLst>
              <a:ext uri="{FF2B5EF4-FFF2-40B4-BE49-F238E27FC236}">
                <a16:creationId xmlns:a16="http://schemas.microsoft.com/office/drawing/2014/main" id="{59A27D2E-5CC2-48A2-9CF2-C1E5E9D2DE07}"/>
              </a:ext>
            </a:extLst>
          </p:cNvPr>
          <p:cNvCxnSpPr>
            <a:stCxn id="16" idx="0"/>
          </p:cNvCxnSpPr>
          <p:nvPr/>
        </p:nvCxnSpPr>
        <p:spPr bwMode="gray">
          <a:xfrm flipH="1" flipV="1">
            <a:off x="2406957" y="2602557"/>
            <a:ext cx="1511827" cy="40639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11">
            <a:extLst>
              <a:ext uri="{FF2B5EF4-FFF2-40B4-BE49-F238E27FC236}">
                <a16:creationId xmlns:a16="http://schemas.microsoft.com/office/drawing/2014/main" id="{D82EB101-2BBC-421D-A723-C4E7CFDBA8CF}"/>
              </a:ext>
            </a:extLst>
          </p:cNvPr>
          <p:cNvCxnSpPr>
            <a:stCxn id="15" idx="0"/>
          </p:cNvCxnSpPr>
          <p:nvPr/>
        </p:nvCxnSpPr>
        <p:spPr bwMode="gray">
          <a:xfrm flipV="1">
            <a:off x="2406957" y="2602557"/>
            <a:ext cx="0" cy="40639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11">
            <a:extLst>
              <a:ext uri="{FF2B5EF4-FFF2-40B4-BE49-F238E27FC236}">
                <a16:creationId xmlns:a16="http://schemas.microsoft.com/office/drawing/2014/main" id="{D8E7B979-34E5-40AA-9757-77B785C5C900}"/>
              </a:ext>
            </a:extLst>
          </p:cNvPr>
          <p:cNvCxnSpPr>
            <a:stCxn id="16" idx="0"/>
          </p:cNvCxnSpPr>
          <p:nvPr/>
        </p:nvCxnSpPr>
        <p:spPr bwMode="gray">
          <a:xfrm flipV="1">
            <a:off x="3918784" y="2602557"/>
            <a:ext cx="0" cy="40639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11">
            <a:extLst>
              <a:ext uri="{FF2B5EF4-FFF2-40B4-BE49-F238E27FC236}">
                <a16:creationId xmlns:a16="http://schemas.microsoft.com/office/drawing/2014/main" id="{696E567A-D215-407B-8D4E-8AB3BDBD31BD}"/>
              </a:ext>
            </a:extLst>
          </p:cNvPr>
          <p:cNvCxnSpPr>
            <a:stCxn id="15" idx="2"/>
            <a:endCxn id="17" idx="1"/>
          </p:cNvCxnSpPr>
          <p:nvPr/>
        </p:nvCxnSpPr>
        <p:spPr bwMode="gray">
          <a:xfrm flipH="1">
            <a:off x="1528492" y="3411495"/>
            <a:ext cx="878465" cy="748592"/>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11">
            <a:extLst>
              <a:ext uri="{FF2B5EF4-FFF2-40B4-BE49-F238E27FC236}">
                <a16:creationId xmlns:a16="http://schemas.microsoft.com/office/drawing/2014/main" id="{C3F57FFE-8D46-4488-A4AD-33AFAD778EE3}"/>
              </a:ext>
            </a:extLst>
          </p:cNvPr>
          <p:cNvCxnSpPr>
            <a:stCxn id="15" idx="2"/>
            <a:endCxn id="18" idx="4"/>
          </p:cNvCxnSpPr>
          <p:nvPr/>
        </p:nvCxnSpPr>
        <p:spPr bwMode="gray">
          <a:xfrm>
            <a:off x="2406957" y="3411495"/>
            <a:ext cx="445464" cy="72721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11">
            <a:extLst>
              <a:ext uri="{FF2B5EF4-FFF2-40B4-BE49-F238E27FC236}">
                <a16:creationId xmlns:a16="http://schemas.microsoft.com/office/drawing/2014/main" id="{BC320419-F8A6-481F-B1D3-3BD987743B27}"/>
              </a:ext>
            </a:extLst>
          </p:cNvPr>
          <p:cNvCxnSpPr>
            <a:stCxn id="16" idx="2"/>
            <a:endCxn id="19" idx="0"/>
          </p:cNvCxnSpPr>
          <p:nvPr/>
        </p:nvCxnSpPr>
        <p:spPr bwMode="gray">
          <a:xfrm flipH="1">
            <a:off x="3731825" y="3411495"/>
            <a:ext cx="186959" cy="67391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11">
            <a:extLst>
              <a:ext uri="{FF2B5EF4-FFF2-40B4-BE49-F238E27FC236}">
                <a16:creationId xmlns:a16="http://schemas.microsoft.com/office/drawing/2014/main" id="{3059FC34-DCC7-4924-84BE-9E22E2E6611E}"/>
              </a:ext>
            </a:extLst>
          </p:cNvPr>
          <p:cNvCxnSpPr>
            <a:stCxn id="16" idx="2"/>
            <a:endCxn id="20" idx="0"/>
          </p:cNvCxnSpPr>
          <p:nvPr/>
        </p:nvCxnSpPr>
        <p:spPr bwMode="gray">
          <a:xfrm>
            <a:off x="3918784" y="3411495"/>
            <a:ext cx="1005510" cy="67391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11">
            <a:extLst>
              <a:ext uri="{FF2B5EF4-FFF2-40B4-BE49-F238E27FC236}">
                <a16:creationId xmlns:a16="http://schemas.microsoft.com/office/drawing/2014/main" id="{71D404ED-DE08-4B9A-988D-4B1D4155D266}"/>
              </a:ext>
            </a:extLst>
          </p:cNvPr>
          <p:cNvCxnSpPr>
            <a:stCxn id="23" idx="0"/>
          </p:cNvCxnSpPr>
          <p:nvPr/>
        </p:nvCxnSpPr>
        <p:spPr bwMode="gray">
          <a:xfrm flipV="1">
            <a:off x="3867283" y="4619072"/>
            <a:ext cx="1209411" cy="786715"/>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连接符 11">
            <a:extLst>
              <a:ext uri="{FF2B5EF4-FFF2-40B4-BE49-F238E27FC236}">
                <a16:creationId xmlns:a16="http://schemas.microsoft.com/office/drawing/2014/main" id="{0076CF5B-BDEE-4B87-BEE7-E1F09FFB9C27}"/>
              </a:ext>
            </a:extLst>
          </p:cNvPr>
          <p:cNvCxnSpPr>
            <a:endCxn id="24" idx="0"/>
          </p:cNvCxnSpPr>
          <p:nvPr/>
        </p:nvCxnSpPr>
        <p:spPr bwMode="gray">
          <a:xfrm flipH="1">
            <a:off x="5059751" y="4619072"/>
            <a:ext cx="16943" cy="78671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11">
            <a:extLst>
              <a:ext uri="{FF2B5EF4-FFF2-40B4-BE49-F238E27FC236}">
                <a16:creationId xmlns:a16="http://schemas.microsoft.com/office/drawing/2014/main" id="{90900AC1-38CF-4937-A4FB-41F77D35B2CE}"/>
              </a:ext>
            </a:extLst>
          </p:cNvPr>
          <p:cNvCxnSpPr>
            <a:endCxn id="23" idx="0"/>
          </p:cNvCxnSpPr>
          <p:nvPr/>
        </p:nvCxnSpPr>
        <p:spPr bwMode="gray">
          <a:xfrm>
            <a:off x="3867283" y="4619072"/>
            <a:ext cx="0" cy="786715"/>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11">
            <a:extLst>
              <a:ext uri="{FF2B5EF4-FFF2-40B4-BE49-F238E27FC236}">
                <a16:creationId xmlns:a16="http://schemas.microsoft.com/office/drawing/2014/main" id="{F5D298AA-6B95-484C-806B-900D2A551BC2}"/>
              </a:ext>
            </a:extLst>
          </p:cNvPr>
          <p:cNvCxnSpPr>
            <a:endCxn id="22" idx="0"/>
          </p:cNvCxnSpPr>
          <p:nvPr/>
        </p:nvCxnSpPr>
        <p:spPr bwMode="gray">
          <a:xfrm>
            <a:off x="2652411" y="4619072"/>
            <a:ext cx="0" cy="78671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11">
            <a:extLst>
              <a:ext uri="{FF2B5EF4-FFF2-40B4-BE49-F238E27FC236}">
                <a16:creationId xmlns:a16="http://schemas.microsoft.com/office/drawing/2014/main" id="{92B687EF-D4FA-401D-9993-6BE1054CF4F7}"/>
              </a:ext>
            </a:extLst>
          </p:cNvPr>
          <p:cNvCxnSpPr>
            <a:endCxn id="21" idx="0"/>
          </p:cNvCxnSpPr>
          <p:nvPr/>
        </p:nvCxnSpPr>
        <p:spPr bwMode="gray">
          <a:xfrm>
            <a:off x="1459943" y="4619072"/>
            <a:ext cx="0" cy="78671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文本框 20">
            <a:extLst>
              <a:ext uri="{FF2B5EF4-FFF2-40B4-BE49-F238E27FC236}">
                <a16:creationId xmlns:a16="http://schemas.microsoft.com/office/drawing/2014/main" id="{6BFB437D-861F-4E03-BC51-796C6D3CBFE4}"/>
              </a:ext>
            </a:extLst>
          </p:cNvPr>
          <p:cNvSpPr txBox="1"/>
          <p:nvPr/>
        </p:nvSpPr>
        <p:spPr bwMode="gray">
          <a:xfrm>
            <a:off x="834679" y="2168709"/>
            <a:ext cx="1047033" cy="338554"/>
          </a:xfrm>
          <a:prstGeom prst="rect">
            <a:avLst/>
          </a:prstGeom>
          <a:noFill/>
        </p:spPr>
        <p:txBody>
          <a:bodyPr wrap="square" rtlCol="0">
            <a:spAutoFit/>
          </a:bodyPr>
          <a:lstStyle/>
          <a:p>
            <a:pPr algn="ctr"/>
            <a:r>
              <a:rPr lang="zh-CN" altLang="en-US" sz="1600" dirty="0">
                <a:solidFill>
                  <a:srgbClr val="000000"/>
                </a:solidFill>
              </a:rPr>
              <a:t>一级网络</a:t>
            </a:r>
          </a:p>
        </p:txBody>
      </p:sp>
      <p:sp>
        <p:nvSpPr>
          <p:cNvPr id="71" name="文本框 20">
            <a:extLst>
              <a:ext uri="{FF2B5EF4-FFF2-40B4-BE49-F238E27FC236}">
                <a16:creationId xmlns:a16="http://schemas.microsoft.com/office/drawing/2014/main" id="{57DBFB3C-C22E-4E2D-B553-D49D642D64B8}"/>
              </a:ext>
            </a:extLst>
          </p:cNvPr>
          <p:cNvSpPr txBox="1"/>
          <p:nvPr/>
        </p:nvSpPr>
        <p:spPr bwMode="gray">
          <a:xfrm>
            <a:off x="658364" y="3682864"/>
            <a:ext cx="1047033" cy="338554"/>
          </a:xfrm>
          <a:prstGeom prst="rect">
            <a:avLst/>
          </a:prstGeom>
          <a:noFill/>
        </p:spPr>
        <p:txBody>
          <a:bodyPr wrap="square" rtlCol="0">
            <a:spAutoFit/>
          </a:bodyPr>
          <a:lstStyle/>
          <a:p>
            <a:pPr algn="ctr"/>
            <a:r>
              <a:rPr lang="zh-CN" altLang="en-US" sz="1600" dirty="0">
                <a:solidFill>
                  <a:srgbClr val="000000"/>
                </a:solidFill>
              </a:rPr>
              <a:t>二级网络</a:t>
            </a:r>
          </a:p>
        </p:txBody>
      </p:sp>
      <p:sp>
        <p:nvSpPr>
          <p:cNvPr id="2" name="Freeform: Shape 1">
            <a:extLst>
              <a:ext uri="{FF2B5EF4-FFF2-40B4-BE49-F238E27FC236}">
                <a16:creationId xmlns:a16="http://schemas.microsoft.com/office/drawing/2014/main" id="{576C3B95-1D8D-4C33-B259-91EDCA9BF019}"/>
              </a:ext>
            </a:extLst>
          </p:cNvPr>
          <p:cNvSpPr/>
          <p:nvPr/>
        </p:nvSpPr>
        <p:spPr bwMode="gray">
          <a:xfrm>
            <a:off x="1272195" y="3438525"/>
            <a:ext cx="947130" cy="1895475"/>
          </a:xfrm>
          <a:custGeom>
            <a:avLst/>
            <a:gdLst>
              <a:gd name="connsiteX0" fmla="*/ 89880 w 947130"/>
              <a:gd name="connsiteY0" fmla="*/ 1895475 h 1895475"/>
              <a:gd name="connsiteX1" fmla="*/ 80355 w 947130"/>
              <a:gd name="connsiteY1" fmla="*/ 914400 h 1895475"/>
              <a:gd name="connsiteX2" fmla="*/ 947130 w 947130"/>
              <a:gd name="connsiteY2" fmla="*/ 0 h 1895475"/>
            </a:gdLst>
            <a:ahLst/>
            <a:cxnLst>
              <a:cxn ang="0">
                <a:pos x="connsiteX0" y="connsiteY0"/>
              </a:cxn>
              <a:cxn ang="0">
                <a:pos x="connsiteX1" y="connsiteY1"/>
              </a:cxn>
              <a:cxn ang="0">
                <a:pos x="connsiteX2" y="connsiteY2"/>
              </a:cxn>
            </a:cxnLst>
            <a:rect l="l" t="t" r="r" b="b"/>
            <a:pathLst>
              <a:path w="947130" h="1895475">
                <a:moveTo>
                  <a:pt x="89880" y="1895475"/>
                </a:moveTo>
                <a:cubicBezTo>
                  <a:pt x="13680" y="1562893"/>
                  <a:pt x="-62520" y="1230312"/>
                  <a:pt x="80355" y="914400"/>
                </a:cubicBezTo>
                <a:cubicBezTo>
                  <a:pt x="223230" y="598487"/>
                  <a:pt x="585180" y="299243"/>
                  <a:pt x="947130" y="0"/>
                </a:cubicBezTo>
              </a:path>
            </a:pathLst>
          </a:custGeom>
          <a:noFill/>
          <a:ln w="5715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91D7FB2A-799B-4DEE-A167-A9BD9DD0DCBD}"/>
              </a:ext>
            </a:extLst>
          </p:cNvPr>
          <p:cNvSpPr/>
          <p:nvPr/>
        </p:nvSpPr>
        <p:spPr bwMode="gray">
          <a:xfrm>
            <a:off x="2409825" y="3467100"/>
            <a:ext cx="383370" cy="1885950"/>
          </a:xfrm>
          <a:custGeom>
            <a:avLst/>
            <a:gdLst>
              <a:gd name="connsiteX0" fmla="*/ 342900 w 383370"/>
              <a:gd name="connsiteY0" fmla="*/ 1885950 h 1885950"/>
              <a:gd name="connsiteX1" fmla="*/ 352425 w 383370"/>
              <a:gd name="connsiteY1" fmla="*/ 942975 h 1885950"/>
              <a:gd name="connsiteX2" fmla="*/ 0 w 383370"/>
              <a:gd name="connsiteY2" fmla="*/ 0 h 1885950"/>
            </a:gdLst>
            <a:ahLst/>
            <a:cxnLst>
              <a:cxn ang="0">
                <a:pos x="connsiteX0" y="connsiteY0"/>
              </a:cxn>
              <a:cxn ang="0">
                <a:pos x="connsiteX1" y="connsiteY1"/>
              </a:cxn>
              <a:cxn ang="0">
                <a:pos x="connsiteX2" y="connsiteY2"/>
              </a:cxn>
            </a:cxnLst>
            <a:rect l="l" t="t" r="r" b="b"/>
            <a:pathLst>
              <a:path w="383370" h="1885950">
                <a:moveTo>
                  <a:pt x="342900" y="1885950"/>
                </a:moveTo>
                <a:cubicBezTo>
                  <a:pt x="376237" y="1571625"/>
                  <a:pt x="409575" y="1257300"/>
                  <a:pt x="352425" y="942975"/>
                </a:cubicBezTo>
                <a:cubicBezTo>
                  <a:pt x="295275" y="628650"/>
                  <a:pt x="147637" y="314325"/>
                  <a:pt x="0" y="0"/>
                </a:cubicBezTo>
              </a:path>
            </a:pathLst>
          </a:custGeom>
          <a:noFill/>
          <a:ln w="5715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Shape 4">
            <a:extLst>
              <a:ext uri="{FF2B5EF4-FFF2-40B4-BE49-F238E27FC236}">
                <a16:creationId xmlns:a16="http://schemas.microsoft.com/office/drawing/2014/main" id="{0D21CFCB-A792-408C-A326-50C481F611FA}"/>
              </a:ext>
            </a:extLst>
          </p:cNvPr>
          <p:cNvSpPr/>
          <p:nvPr/>
        </p:nvSpPr>
        <p:spPr bwMode="gray">
          <a:xfrm>
            <a:off x="3742387" y="3429000"/>
            <a:ext cx="86663" cy="1943100"/>
          </a:xfrm>
          <a:custGeom>
            <a:avLst/>
            <a:gdLst>
              <a:gd name="connsiteX0" fmla="*/ 48563 w 86663"/>
              <a:gd name="connsiteY0" fmla="*/ 1943100 h 1943100"/>
              <a:gd name="connsiteX1" fmla="*/ 938 w 86663"/>
              <a:gd name="connsiteY1" fmla="*/ 962025 h 1943100"/>
              <a:gd name="connsiteX2" fmla="*/ 86663 w 86663"/>
              <a:gd name="connsiteY2" fmla="*/ 0 h 1943100"/>
            </a:gdLst>
            <a:ahLst/>
            <a:cxnLst>
              <a:cxn ang="0">
                <a:pos x="connsiteX0" y="connsiteY0"/>
              </a:cxn>
              <a:cxn ang="0">
                <a:pos x="connsiteX1" y="connsiteY1"/>
              </a:cxn>
              <a:cxn ang="0">
                <a:pos x="connsiteX2" y="connsiteY2"/>
              </a:cxn>
            </a:cxnLst>
            <a:rect l="l" t="t" r="r" b="b"/>
            <a:pathLst>
              <a:path w="86663" h="1943100">
                <a:moveTo>
                  <a:pt x="48563" y="1943100"/>
                </a:moveTo>
                <a:cubicBezTo>
                  <a:pt x="21575" y="1614487"/>
                  <a:pt x="-5412" y="1285875"/>
                  <a:pt x="938" y="962025"/>
                </a:cubicBezTo>
                <a:cubicBezTo>
                  <a:pt x="7288" y="638175"/>
                  <a:pt x="46975" y="319087"/>
                  <a:pt x="86663" y="0"/>
                </a:cubicBezTo>
              </a:path>
            </a:pathLst>
          </a:custGeom>
          <a:noFill/>
          <a:ln w="5715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5">
            <a:extLst>
              <a:ext uri="{FF2B5EF4-FFF2-40B4-BE49-F238E27FC236}">
                <a16:creationId xmlns:a16="http://schemas.microsoft.com/office/drawing/2014/main" id="{4D0C98D4-9920-40CB-BD1F-BB5A8E3FE814}"/>
              </a:ext>
            </a:extLst>
          </p:cNvPr>
          <p:cNvSpPr/>
          <p:nvPr/>
        </p:nvSpPr>
        <p:spPr bwMode="gray">
          <a:xfrm>
            <a:off x="3933825" y="3457575"/>
            <a:ext cx="933466" cy="1866900"/>
          </a:xfrm>
          <a:custGeom>
            <a:avLst/>
            <a:gdLst>
              <a:gd name="connsiteX0" fmla="*/ 0 w 933466"/>
              <a:gd name="connsiteY0" fmla="*/ 1866900 h 1866900"/>
              <a:gd name="connsiteX1" fmla="*/ 933450 w 933466"/>
              <a:gd name="connsiteY1" fmla="*/ 1038225 h 1866900"/>
              <a:gd name="connsiteX2" fmla="*/ 19050 w 933466"/>
              <a:gd name="connsiteY2" fmla="*/ 0 h 1866900"/>
            </a:gdLst>
            <a:ahLst/>
            <a:cxnLst>
              <a:cxn ang="0">
                <a:pos x="connsiteX0" y="connsiteY0"/>
              </a:cxn>
              <a:cxn ang="0">
                <a:pos x="connsiteX1" y="connsiteY1"/>
              </a:cxn>
              <a:cxn ang="0">
                <a:pos x="connsiteX2" y="connsiteY2"/>
              </a:cxn>
            </a:cxnLst>
            <a:rect l="l" t="t" r="r" b="b"/>
            <a:pathLst>
              <a:path w="933466" h="1866900">
                <a:moveTo>
                  <a:pt x="0" y="1866900"/>
                </a:moveTo>
                <a:cubicBezTo>
                  <a:pt x="465137" y="1608137"/>
                  <a:pt x="930275" y="1349375"/>
                  <a:pt x="933450" y="1038225"/>
                </a:cubicBezTo>
                <a:cubicBezTo>
                  <a:pt x="936625" y="727075"/>
                  <a:pt x="477837" y="363537"/>
                  <a:pt x="19050" y="0"/>
                </a:cubicBezTo>
              </a:path>
            </a:pathLst>
          </a:custGeom>
          <a:noFill/>
          <a:ln w="5715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BAEB3961-4D19-483D-B7A3-414D0C2CCE88}"/>
              </a:ext>
            </a:extLst>
          </p:cNvPr>
          <p:cNvSpPr/>
          <p:nvPr/>
        </p:nvSpPr>
        <p:spPr bwMode="gray">
          <a:xfrm>
            <a:off x="4038600" y="3400425"/>
            <a:ext cx="1251679" cy="1981200"/>
          </a:xfrm>
          <a:custGeom>
            <a:avLst/>
            <a:gdLst>
              <a:gd name="connsiteX0" fmla="*/ 1114425 w 1251679"/>
              <a:gd name="connsiteY0" fmla="*/ 1981200 h 1981200"/>
              <a:gd name="connsiteX1" fmla="*/ 1152525 w 1251679"/>
              <a:gd name="connsiteY1" fmla="*/ 1000125 h 1981200"/>
              <a:gd name="connsiteX2" fmla="*/ 0 w 1251679"/>
              <a:gd name="connsiteY2" fmla="*/ 0 h 1981200"/>
            </a:gdLst>
            <a:ahLst/>
            <a:cxnLst>
              <a:cxn ang="0">
                <a:pos x="connsiteX0" y="connsiteY0"/>
              </a:cxn>
              <a:cxn ang="0">
                <a:pos x="connsiteX1" y="connsiteY1"/>
              </a:cxn>
              <a:cxn ang="0">
                <a:pos x="connsiteX2" y="connsiteY2"/>
              </a:cxn>
            </a:cxnLst>
            <a:rect l="l" t="t" r="r" b="b"/>
            <a:pathLst>
              <a:path w="1251679" h="1981200">
                <a:moveTo>
                  <a:pt x="1114425" y="1981200"/>
                </a:moveTo>
                <a:cubicBezTo>
                  <a:pt x="1226343" y="1655762"/>
                  <a:pt x="1338262" y="1330325"/>
                  <a:pt x="1152525" y="1000125"/>
                </a:cubicBezTo>
                <a:cubicBezTo>
                  <a:pt x="966788" y="669925"/>
                  <a:pt x="483394" y="334962"/>
                  <a:pt x="0" y="0"/>
                </a:cubicBezTo>
              </a:path>
            </a:pathLst>
          </a:custGeom>
          <a:noFill/>
          <a:ln w="5715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D0750111-29AA-4372-93B9-B90EF9052FFE}"/>
              </a:ext>
            </a:extLst>
          </p:cNvPr>
          <p:cNvSpPr/>
          <p:nvPr/>
        </p:nvSpPr>
        <p:spPr bwMode="gray">
          <a:xfrm>
            <a:off x="2284641" y="1790700"/>
            <a:ext cx="696684" cy="1190625"/>
          </a:xfrm>
          <a:custGeom>
            <a:avLst/>
            <a:gdLst>
              <a:gd name="connsiteX0" fmla="*/ 29934 w 696684"/>
              <a:gd name="connsiteY0" fmla="*/ 1190625 h 1190625"/>
              <a:gd name="connsiteX1" fmla="*/ 77559 w 696684"/>
              <a:gd name="connsiteY1" fmla="*/ 504825 h 1190625"/>
              <a:gd name="connsiteX2" fmla="*/ 696684 w 696684"/>
              <a:gd name="connsiteY2" fmla="*/ 0 h 1190625"/>
            </a:gdLst>
            <a:ahLst/>
            <a:cxnLst>
              <a:cxn ang="0">
                <a:pos x="connsiteX0" y="connsiteY0"/>
              </a:cxn>
              <a:cxn ang="0">
                <a:pos x="connsiteX1" y="connsiteY1"/>
              </a:cxn>
              <a:cxn ang="0">
                <a:pos x="connsiteX2" y="connsiteY2"/>
              </a:cxn>
            </a:cxnLst>
            <a:rect l="l" t="t" r="r" b="b"/>
            <a:pathLst>
              <a:path w="696684" h="1190625">
                <a:moveTo>
                  <a:pt x="29934" y="1190625"/>
                </a:moveTo>
                <a:cubicBezTo>
                  <a:pt x="-1816" y="946943"/>
                  <a:pt x="-33566" y="703262"/>
                  <a:pt x="77559" y="504825"/>
                </a:cubicBezTo>
                <a:cubicBezTo>
                  <a:pt x="188684" y="306387"/>
                  <a:pt x="442684" y="153193"/>
                  <a:pt x="696684" y="0"/>
                </a:cubicBezTo>
              </a:path>
            </a:pathLst>
          </a:custGeom>
          <a:noFill/>
          <a:ln w="5715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DDCEDD99-B313-44DB-91A9-7AD74158AEF6}"/>
              </a:ext>
            </a:extLst>
          </p:cNvPr>
          <p:cNvSpPr/>
          <p:nvPr/>
        </p:nvSpPr>
        <p:spPr bwMode="gray">
          <a:xfrm>
            <a:off x="3305175" y="1781175"/>
            <a:ext cx="720138" cy="1133475"/>
          </a:xfrm>
          <a:custGeom>
            <a:avLst/>
            <a:gdLst>
              <a:gd name="connsiteX0" fmla="*/ 676275 w 720138"/>
              <a:gd name="connsiteY0" fmla="*/ 1133475 h 1133475"/>
              <a:gd name="connsiteX1" fmla="*/ 647700 w 720138"/>
              <a:gd name="connsiteY1" fmla="*/ 504825 h 1133475"/>
              <a:gd name="connsiteX2" fmla="*/ 0 w 720138"/>
              <a:gd name="connsiteY2" fmla="*/ 0 h 1133475"/>
            </a:gdLst>
            <a:ahLst/>
            <a:cxnLst>
              <a:cxn ang="0">
                <a:pos x="connsiteX0" y="connsiteY0"/>
              </a:cxn>
              <a:cxn ang="0">
                <a:pos x="connsiteX1" y="connsiteY1"/>
              </a:cxn>
              <a:cxn ang="0">
                <a:pos x="connsiteX2" y="connsiteY2"/>
              </a:cxn>
            </a:cxnLst>
            <a:rect l="l" t="t" r="r" b="b"/>
            <a:pathLst>
              <a:path w="720138" h="1133475">
                <a:moveTo>
                  <a:pt x="676275" y="1133475"/>
                </a:moveTo>
                <a:cubicBezTo>
                  <a:pt x="718343" y="913606"/>
                  <a:pt x="760412" y="693737"/>
                  <a:pt x="647700" y="504825"/>
                </a:cubicBezTo>
                <a:cubicBezTo>
                  <a:pt x="534988" y="315913"/>
                  <a:pt x="267494" y="157956"/>
                  <a:pt x="0" y="0"/>
                </a:cubicBezTo>
              </a:path>
            </a:pathLst>
          </a:custGeom>
          <a:noFill/>
          <a:ln w="5715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B8A8ED87-823A-4396-9F6F-2E039D28ECE0}"/>
              </a:ext>
            </a:extLst>
          </p:cNvPr>
          <p:cNvSpPr/>
          <p:nvPr/>
        </p:nvSpPr>
        <p:spPr bwMode="gray">
          <a:xfrm>
            <a:off x="2505075" y="1828800"/>
            <a:ext cx="1200060" cy="1095375"/>
          </a:xfrm>
          <a:custGeom>
            <a:avLst/>
            <a:gdLst>
              <a:gd name="connsiteX0" fmla="*/ 0 w 1200060"/>
              <a:gd name="connsiteY0" fmla="*/ 1095375 h 1095375"/>
              <a:gd name="connsiteX1" fmla="*/ 1171575 w 1200060"/>
              <a:gd name="connsiteY1" fmla="*/ 638175 h 1095375"/>
              <a:gd name="connsiteX2" fmla="*/ 723900 w 1200060"/>
              <a:gd name="connsiteY2" fmla="*/ 0 h 1095375"/>
            </a:gdLst>
            <a:ahLst/>
            <a:cxnLst>
              <a:cxn ang="0">
                <a:pos x="connsiteX0" y="connsiteY0"/>
              </a:cxn>
              <a:cxn ang="0">
                <a:pos x="connsiteX1" y="connsiteY1"/>
              </a:cxn>
              <a:cxn ang="0">
                <a:pos x="connsiteX2" y="connsiteY2"/>
              </a:cxn>
            </a:cxnLst>
            <a:rect l="l" t="t" r="r" b="b"/>
            <a:pathLst>
              <a:path w="1200060" h="1095375">
                <a:moveTo>
                  <a:pt x="0" y="1095375"/>
                </a:moveTo>
                <a:cubicBezTo>
                  <a:pt x="525462" y="958056"/>
                  <a:pt x="1050925" y="820738"/>
                  <a:pt x="1171575" y="638175"/>
                </a:cubicBezTo>
                <a:cubicBezTo>
                  <a:pt x="1292225" y="455612"/>
                  <a:pt x="1008062" y="227806"/>
                  <a:pt x="723900" y="0"/>
                </a:cubicBezTo>
              </a:path>
            </a:pathLst>
          </a:custGeom>
          <a:noFill/>
          <a:ln w="5715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FD8AFC8B-B804-4D4B-BCB0-3B85C02E07F9}"/>
              </a:ext>
            </a:extLst>
          </p:cNvPr>
          <p:cNvSpPr/>
          <p:nvPr/>
        </p:nvSpPr>
        <p:spPr bwMode="gray">
          <a:xfrm>
            <a:off x="2633867" y="1809750"/>
            <a:ext cx="1166608" cy="1114425"/>
          </a:xfrm>
          <a:custGeom>
            <a:avLst/>
            <a:gdLst>
              <a:gd name="connsiteX0" fmla="*/ 1166608 w 1166608"/>
              <a:gd name="connsiteY0" fmla="*/ 1114425 h 1114425"/>
              <a:gd name="connsiteX1" fmla="*/ 33133 w 1166608"/>
              <a:gd name="connsiteY1" fmla="*/ 695325 h 1114425"/>
              <a:gd name="connsiteX2" fmla="*/ 414133 w 1166608"/>
              <a:gd name="connsiteY2" fmla="*/ 0 h 1114425"/>
            </a:gdLst>
            <a:ahLst/>
            <a:cxnLst>
              <a:cxn ang="0">
                <a:pos x="connsiteX0" y="connsiteY0"/>
              </a:cxn>
              <a:cxn ang="0">
                <a:pos x="connsiteX1" y="connsiteY1"/>
              </a:cxn>
              <a:cxn ang="0">
                <a:pos x="connsiteX2" y="connsiteY2"/>
              </a:cxn>
            </a:cxnLst>
            <a:rect l="l" t="t" r="r" b="b"/>
            <a:pathLst>
              <a:path w="1166608" h="1114425">
                <a:moveTo>
                  <a:pt x="1166608" y="1114425"/>
                </a:moveTo>
                <a:cubicBezTo>
                  <a:pt x="662576" y="997743"/>
                  <a:pt x="158545" y="881062"/>
                  <a:pt x="33133" y="695325"/>
                </a:cubicBezTo>
                <a:cubicBezTo>
                  <a:pt x="-92280" y="509587"/>
                  <a:pt x="160926" y="254793"/>
                  <a:pt x="414133" y="0"/>
                </a:cubicBezTo>
              </a:path>
            </a:pathLst>
          </a:custGeom>
          <a:noFill/>
          <a:ln w="5715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文本框 10">
            <a:extLst>
              <a:ext uri="{FF2B5EF4-FFF2-40B4-BE49-F238E27FC236}">
                <a16:creationId xmlns:a16="http://schemas.microsoft.com/office/drawing/2014/main" id="{7344B840-7E59-46C8-AC22-F681FAE72C4F}"/>
              </a:ext>
            </a:extLst>
          </p:cNvPr>
          <p:cNvSpPr txBox="1"/>
          <p:nvPr/>
        </p:nvSpPr>
        <p:spPr bwMode="gray">
          <a:xfrm>
            <a:off x="522646" y="5400565"/>
            <a:ext cx="853675" cy="338554"/>
          </a:xfrm>
          <a:prstGeom prst="rect">
            <a:avLst/>
          </a:prstGeom>
          <a:noFill/>
        </p:spPr>
        <p:txBody>
          <a:bodyPr wrap="square" rtlCol="0">
            <a:spAutoFit/>
          </a:bodyPr>
          <a:lstStyle/>
          <a:p>
            <a:pPr algn="ctr"/>
            <a:r>
              <a:rPr lang="en-US" altLang="zh-CN" sz="1600" dirty="0">
                <a:solidFill>
                  <a:srgbClr val="000000"/>
                </a:solidFill>
              </a:rPr>
              <a:t>Edge</a:t>
            </a:r>
            <a:endParaRPr lang="zh-CN" altLang="en-US" sz="1600" dirty="0">
              <a:solidFill>
                <a:srgbClr val="000000"/>
              </a:solidFill>
            </a:endParaRPr>
          </a:p>
        </p:txBody>
      </p:sp>
      <p:sp>
        <p:nvSpPr>
          <p:cNvPr id="57" name="TextBox 56">
            <a:extLst>
              <a:ext uri="{FF2B5EF4-FFF2-40B4-BE49-F238E27FC236}">
                <a16:creationId xmlns:a16="http://schemas.microsoft.com/office/drawing/2014/main" id="{458D3C59-6CE1-49A6-8A77-C0FC42C5799A}"/>
              </a:ext>
            </a:extLst>
          </p:cNvPr>
          <p:cNvSpPr txBox="1"/>
          <p:nvPr/>
        </p:nvSpPr>
        <p:spPr bwMode="gray">
          <a:xfrm>
            <a:off x="1491241" y="3051974"/>
            <a:ext cx="728084" cy="307777"/>
          </a:xfrm>
          <a:prstGeom prst="rect">
            <a:avLst/>
          </a:prstGeom>
          <a:noFill/>
        </p:spPr>
        <p:txBody>
          <a:bodyPr wrap="none" rtlCol="0">
            <a:spAutoFit/>
          </a:bodyPr>
          <a:lstStyle/>
          <a:p>
            <a:r>
              <a:rPr lang="en-US" altLang="zh-CN" sz="1400" dirty="0"/>
              <a:t>Border</a:t>
            </a:r>
            <a:endParaRPr lang="zh-CN" altLang="en-US" sz="1400" dirty="0"/>
          </a:p>
        </p:txBody>
      </p:sp>
      <p:sp>
        <p:nvSpPr>
          <p:cNvPr id="58" name="文本框 10">
            <a:extLst>
              <a:ext uri="{FF2B5EF4-FFF2-40B4-BE49-F238E27FC236}">
                <a16:creationId xmlns:a16="http://schemas.microsoft.com/office/drawing/2014/main" id="{58A69CCD-F5CE-4889-B1AE-AD870FB6CE46}"/>
              </a:ext>
            </a:extLst>
          </p:cNvPr>
          <p:cNvSpPr txBox="1"/>
          <p:nvPr/>
        </p:nvSpPr>
        <p:spPr bwMode="gray">
          <a:xfrm>
            <a:off x="2207029" y="1390829"/>
            <a:ext cx="853675" cy="338554"/>
          </a:xfrm>
          <a:prstGeom prst="rect">
            <a:avLst/>
          </a:prstGeom>
          <a:noFill/>
        </p:spPr>
        <p:txBody>
          <a:bodyPr wrap="square" rtlCol="0">
            <a:spAutoFit/>
          </a:bodyPr>
          <a:lstStyle/>
          <a:p>
            <a:pPr algn="ctr"/>
            <a:r>
              <a:rPr lang="en-US" altLang="zh-CN" sz="1600" dirty="0">
                <a:solidFill>
                  <a:srgbClr val="000000"/>
                </a:solidFill>
              </a:rPr>
              <a:t>Edge</a:t>
            </a:r>
            <a:endParaRPr lang="zh-CN" altLang="en-US" sz="1600" dirty="0">
              <a:solidFill>
                <a:srgbClr val="000000"/>
              </a:solidFill>
            </a:endParaRPr>
          </a:p>
        </p:txBody>
      </p:sp>
      <p:sp>
        <p:nvSpPr>
          <p:cNvPr id="49" name="五边形 2">
            <a:extLst>
              <a:ext uri="{FF2B5EF4-FFF2-40B4-BE49-F238E27FC236}">
                <a16:creationId xmlns:a16="http://schemas.microsoft.com/office/drawing/2014/main" id="{2EA9661A-503D-4CEC-9BC1-BCBCD5884128}"/>
              </a:ext>
            </a:extLst>
          </p:cNvPr>
          <p:cNvSpPr/>
          <p:nvPr/>
        </p:nvSpPr>
        <p:spPr bwMode="gray">
          <a:xfrm>
            <a:off x="8649811" y="120048"/>
            <a:ext cx="91226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51" name="燕尾形 3">
            <a:extLst>
              <a:ext uri="{FF2B5EF4-FFF2-40B4-BE49-F238E27FC236}">
                <a16:creationId xmlns:a16="http://schemas.microsoft.com/office/drawing/2014/main" id="{3BCBBB1C-AB3F-4936-A520-18BB616BCEFB}"/>
              </a:ext>
            </a:extLst>
          </p:cNvPr>
          <p:cNvSpPr/>
          <p:nvPr/>
        </p:nvSpPr>
        <p:spPr bwMode="gray">
          <a:xfrm>
            <a:off x="10437493" y="120048"/>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3">
            <a:extLst>
              <a:ext uri="{FF2B5EF4-FFF2-40B4-BE49-F238E27FC236}">
                <a16:creationId xmlns:a16="http://schemas.microsoft.com/office/drawing/2014/main" id="{9AE9F0F1-2BD6-4C30-9BFC-93EE91621455}"/>
              </a:ext>
            </a:extLst>
          </p:cNvPr>
          <p:cNvSpPr/>
          <p:nvPr/>
        </p:nvSpPr>
        <p:spPr bwMode="gray">
          <a:xfrm>
            <a:off x="9481630" y="120048"/>
            <a:ext cx="10363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拓扑设计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307163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dirty="0"/>
              <a:t>VPN</a:t>
            </a:r>
            <a:r>
              <a:rPr lang="zh-CN" altLang="en-US" dirty="0"/>
              <a:t>路由设计</a:t>
            </a:r>
          </a:p>
        </p:txBody>
      </p:sp>
      <p:sp>
        <p:nvSpPr>
          <p:cNvPr id="2" name="Text Placeholder 1">
            <a:extLst>
              <a:ext uri="{FF2B5EF4-FFF2-40B4-BE49-F238E27FC236}">
                <a16:creationId xmlns:a16="http://schemas.microsoft.com/office/drawing/2014/main" id="{168EA77A-E0AE-4FE2-BBDB-0410BE4F7829}"/>
              </a:ext>
            </a:extLst>
          </p:cNvPr>
          <p:cNvSpPr>
            <a:spLocks noGrp="1"/>
          </p:cNvSpPr>
          <p:nvPr>
            <p:ph type="body" sz="quarter" idx="10"/>
          </p:nvPr>
        </p:nvSpPr>
        <p:spPr bwMode="gray">
          <a:xfrm>
            <a:off x="6096000" y="1047750"/>
            <a:ext cx="5653088" cy="4879805"/>
          </a:xfrm>
        </p:spPr>
        <p:txBody>
          <a:bodyPr/>
          <a:lstStyle/>
          <a:p>
            <a:r>
              <a:rPr lang="zh-CN" altLang="en-US" sz="1800" dirty="0"/>
              <a:t>本端</a:t>
            </a:r>
            <a:r>
              <a:rPr lang="en-US" altLang="zh-CN" sz="1800" dirty="0"/>
              <a:t>CPE</a:t>
            </a:r>
            <a:r>
              <a:rPr lang="zh-CN" altLang="en-US" sz="1800" dirty="0"/>
              <a:t>的</a:t>
            </a:r>
            <a:r>
              <a:rPr lang="en-US" altLang="zh-CN" sz="1800" dirty="0"/>
              <a:t>VPN</a:t>
            </a:r>
            <a:r>
              <a:rPr lang="zh-CN" altLang="en-US" sz="1800" dirty="0"/>
              <a:t>路由通过</a:t>
            </a:r>
            <a:r>
              <a:rPr lang="en-US" altLang="zh-CN" sz="1800" dirty="0"/>
              <a:t>LAN</a:t>
            </a:r>
            <a:r>
              <a:rPr lang="zh-CN" altLang="en-US" sz="1800" dirty="0"/>
              <a:t>侧路由协议收集后通过</a:t>
            </a:r>
            <a:r>
              <a:rPr lang="en-US" altLang="zh-CN" sz="1800" dirty="0"/>
              <a:t>WAN</a:t>
            </a:r>
            <a:r>
              <a:rPr lang="zh-CN" altLang="en-US" sz="1800" dirty="0"/>
              <a:t>的</a:t>
            </a:r>
            <a:r>
              <a:rPr lang="en-US" altLang="zh-CN" sz="1800" dirty="0"/>
              <a:t>BGP EVPN</a:t>
            </a:r>
            <a:r>
              <a:rPr lang="zh-CN" altLang="en-US" sz="1800" dirty="0"/>
              <a:t>协议发送至对端</a:t>
            </a:r>
            <a:r>
              <a:rPr lang="en-US" altLang="zh-CN" sz="1800" dirty="0"/>
              <a:t>CPE</a:t>
            </a:r>
            <a:r>
              <a:rPr lang="zh-CN" altLang="en-US" sz="1800" dirty="0"/>
              <a:t>：</a:t>
            </a:r>
            <a:endParaRPr lang="en-US" altLang="zh-CN" sz="1800" dirty="0"/>
          </a:p>
          <a:p>
            <a:pPr lvl="1"/>
            <a:r>
              <a:rPr lang="en-US" altLang="zh-CN" sz="1400" dirty="0"/>
              <a:t>LAN</a:t>
            </a:r>
            <a:r>
              <a:rPr lang="zh-CN" altLang="en-US" sz="1400" dirty="0"/>
              <a:t>侧路由：</a:t>
            </a:r>
            <a:r>
              <a:rPr lang="en-US" altLang="zh-CN" sz="1400" dirty="0"/>
              <a:t>CPE</a:t>
            </a:r>
            <a:r>
              <a:rPr lang="zh-CN" altLang="en-US" sz="1400" dirty="0"/>
              <a:t>的</a:t>
            </a:r>
            <a:r>
              <a:rPr lang="en-US" altLang="zh-CN" sz="1400" dirty="0"/>
              <a:t>LAN</a:t>
            </a:r>
            <a:r>
              <a:rPr lang="zh-CN" altLang="en-US" sz="1400" dirty="0"/>
              <a:t>侧接口，支持部署传统的静态路由、 </a:t>
            </a:r>
            <a:r>
              <a:rPr lang="en-US" altLang="zh-CN" sz="1400" dirty="0"/>
              <a:t>OSPF</a:t>
            </a:r>
            <a:r>
              <a:rPr lang="zh-CN" altLang="en-US" sz="1400" dirty="0"/>
              <a:t>或者</a:t>
            </a:r>
            <a:r>
              <a:rPr lang="en-US" altLang="zh-CN" sz="1400" dirty="0"/>
              <a:t>BGP</a:t>
            </a:r>
            <a:r>
              <a:rPr lang="zh-CN" altLang="en-US" sz="1400" dirty="0"/>
              <a:t>路由协议。具体采用哪一种，是由</a:t>
            </a:r>
            <a:r>
              <a:rPr lang="en-US" altLang="zh-CN" sz="1400" dirty="0"/>
              <a:t>LAN</a:t>
            </a:r>
            <a:r>
              <a:rPr lang="zh-CN" altLang="en-US" sz="1400" dirty="0"/>
              <a:t>侧对接的网络设备的路由部署方式决定的，两边保持一致即可。</a:t>
            </a:r>
            <a:endParaRPr lang="en-US" altLang="zh-CN" sz="1400" dirty="0"/>
          </a:p>
          <a:p>
            <a:pPr lvl="1"/>
            <a:r>
              <a:rPr lang="en-US" altLang="zh-CN" sz="1400" dirty="0"/>
              <a:t>WAN</a:t>
            </a:r>
            <a:r>
              <a:rPr lang="zh-CN" altLang="en-US" sz="1400" dirty="0"/>
              <a:t>侧</a:t>
            </a:r>
            <a:r>
              <a:rPr lang="en-US" altLang="zh-CN" sz="1400" dirty="0"/>
              <a:t>Overlay</a:t>
            </a:r>
            <a:r>
              <a:rPr lang="zh-CN" altLang="en-US" sz="1400" dirty="0"/>
              <a:t>路由：一般部署</a:t>
            </a:r>
            <a:r>
              <a:rPr lang="en-US" altLang="zh-CN" sz="1400" dirty="0"/>
              <a:t>BGP EVPN</a:t>
            </a:r>
            <a:r>
              <a:rPr lang="zh-CN" altLang="en-US" sz="1400" dirty="0"/>
              <a:t>，和</a:t>
            </a:r>
            <a:r>
              <a:rPr lang="en-US" altLang="zh-CN" sz="1400" dirty="0"/>
              <a:t>RR</a:t>
            </a:r>
            <a:r>
              <a:rPr lang="zh-CN" altLang="en-US" sz="1400" dirty="0"/>
              <a:t>建立</a:t>
            </a:r>
            <a:r>
              <a:rPr lang="en-US" altLang="zh-CN" sz="1400" dirty="0"/>
              <a:t>BGP</a:t>
            </a:r>
            <a:r>
              <a:rPr lang="zh-CN" altLang="en-US" sz="1400" dirty="0"/>
              <a:t>邻居，实现</a:t>
            </a:r>
            <a:r>
              <a:rPr lang="en-US" altLang="zh-CN" sz="1400" dirty="0"/>
              <a:t>Overlay</a:t>
            </a:r>
            <a:r>
              <a:rPr lang="zh-CN" altLang="en-US" sz="1400" dirty="0"/>
              <a:t>网络域路由的传播。该配置由系统自动编排。</a:t>
            </a:r>
            <a:endParaRPr lang="en-US" altLang="zh-CN" sz="1400" dirty="0"/>
          </a:p>
          <a:p>
            <a:pPr lvl="1"/>
            <a:r>
              <a:rPr lang="en-US" sz="1400" dirty="0"/>
              <a:t>LAN</a:t>
            </a:r>
            <a:r>
              <a:rPr lang="zh-CN" altLang="en-US" sz="1400" dirty="0"/>
              <a:t>侧路由和</a:t>
            </a:r>
            <a:r>
              <a:rPr lang="en-US" altLang="zh-CN" sz="1400" dirty="0"/>
              <a:t>WAN</a:t>
            </a:r>
            <a:r>
              <a:rPr lang="zh-CN" altLang="en-US" sz="1400" dirty="0"/>
              <a:t>侧路由可通过路由策略控制过滤路由。</a:t>
            </a:r>
            <a:endParaRPr lang="en-US" sz="1400" dirty="0"/>
          </a:p>
        </p:txBody>
      </p:sp>
      <p:pic>
        <p:nvPicPr>
          <p:cNvPr id="8" name="图片 9">
            <a:extLst>
              <a:ext uri="{FF2B5EF4-FFF2-40B4-BE49-F238E27FC236}">
                <a16:creationId xmlns:a16="http://schemas.microsoft.com/office/drawing/2014/main" id="{DE2C27B2-5323-4DA2-ACBC-4A166E1951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836861" y="4723297"/>
            <a:ext cx="490909" cy="402545"/>
          </a:xfrm>
          <a:prstGeom prst="rect">
            <a:avLst/>
          </a:prstGeom>
        </p:spPr>
      </p:pic>
      <p:pic>
        <p:nvPicPr>
          <p:cNvPr id="11" name="图片 9">
            <a:extLst>
              <a:ext uri="{FF2B5EF4-FFF2-40B4-BE49-F238E27FC236}">
                <a16:creationId xmlns:a16="http://schemas.microsoft.com/office/drawing/2014/main" id="{51FB9441-0274-4CAA-88DD-E64120B3D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346264" y="2300030"/>
            <a:ext cx="490909" cy="402545"/>
          </a:xfrm>
          <a:prstGeom prst="rect">
            <a:avLst/>
          </a:prstGeom>
        </p:spPr>
      </p:pic>
      <p:pic>
        <p:nvPicPr>
          <p:cNvPr id="12" name="图片 9">
            <a:extLst>
              <a:ext uri="{FF2B5EF4-FFF2-40B4-BE49-F238E27FC236}">
                <a16:creationId xmlns:a16="http://schemas.microsoft.com/office/drawing/2014/main" id="{04C84F43-B917-41F7-9D0F-160EB89406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836861" y="2146141"/>
            <a:ext cx="490909" cy="402545"/>
          </a:xfrm>
          <a:prstGeom prst="rect">
            <a:avLst/>
          </a:prstGeom>
        </p:spPr>
      </p:pic>
      <p:sp>
        <p:nvSpPr>
          <p:cNvPr id="13" name="Freeform 159">
            <a:extLst>
              <a:ext uri="{FF2B5EF4-FFF2-40B4-BE49-F238E27FC236}">
                <a16:creationId xmlns:a16="http://schemas.microsoft.com/office/drawing/2014/main" id="{20BE1EDF-7A46-4E5A-8885-CCFD2FF9FB69}"/>
              </a:ext>
            </a:extLst>
          </p:cNvPr>
          <p:cNvSpPr/>
          <p:nvPr/>
        </p:nvSpPr>
        <p:spPr bwMode="gray">
          <a:xfrm flipH="1">
            <a:off x="1950970" y="3246683"/>
            <a:ext cx="1014541" cy="5303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14" name="Freeform 159">
            <a:extLst>
              <a:ext uri="{FF2B5EF4-FFF2-40B4-BE49-F238E27FC236}">
                <a16:creationId xmlns:a16="http://schemas.microsoft.com/office/drawing/2014/main" id="{AFB703D4-BB5C-4225-BA10-5523957C643F}"/>
              </a:ext>
            </a:extLst>
          </p:cNvPr>
          <p:cNvSpPr/>
          <p:nvPr/>
        </p:nvSpPr>
        <p:spPr bwMode="gray">
          <a:xfrm flipH="1">
            <a:off x="3220455" y="3246683"/>
            <a:ext cx="1014541" cy="5303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cxnSp>
        <p:nvCxnSpPr>
          <p:cNvPr id="18" name="直接连接符 11">
            <a:extLst>
              <a:ext uri="{FF2B5EF4-FFF2-40B4-BE49-F238E27FC236}">
                <a16:creationId xmlns:a16="http://schemas.microsoft.com/office/drawing/2014/main" id="{8EF62C8D-A51C-4901-9F97-13C492FFF099}"/>
              </a:ext>
            </a:extLst>
          </p:cNvPr>
          <p:cNvCxnSpPr>
            <a:stCxn id="8" idx="0"/>
          </p:cNvCxnSpPr>
          <p:nvPr/>
        </p:nvCxnSpPr>
        <p:spPr bwMode="gray">
          <a:xfrm flipH="1" flipV="1">
            <a:off x="2458240" y="3777013"/>
            <a:ext cx="624076" cy="94628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11">
            <a:extLst>
              <a:ext uri="{FF2B5EF4-FFF2-40B4-BE49-F238E27FC236}">
                <a16:creationId xmlns:a16="http://schemas.microsoft.com/office/drawing/2014/main" id="{7B08DC33-56D9-4518-A531-8BCF00C52939}"/>
              </a:ext>
            </a:extLst>
          </p:cNvPr>
          <p:cNvCxnSpPr>
            <a:endCxn id="8" idx="0"/>
          </p:cNvCxnSpPr>
          <p:nvPr/>
        </p:nvCxnSpPr>
        <p:spPr bwMode="gray">
          <a:xfrm flipH="1">
            <a:off x="3082316" y="3777013"/>
            <a:ext cx="674469" cy="94628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11">
            <a:extLst>
              <a:ext uri="{FF2B5EF4-FFF2-40B4-BE49-F238E27FC236}">
                <a16:creationId xmlns:a16="http://schemas.microsoft.com/office/drawing/2014/main" id="{28A3FE2C-EEF4-4D06-9F0A-4F38B6EA1DE0}"/>
              </a:ext>
            </a:extLst>
          </p:cNvPr>
          <p:cNvCxnSpPr>
            <a:stCxn id="14" idx="2"/>
            <a:endCxn id="12" idx="2"/>
          </p:cNvCxnSpPr>
          <p:nvPr/>
        </p:nvCxnSpPr>
        <p:spPr bwMode="gray">
          <a:xfrm flipH="1" flipV="1">
            <a:off x="3082316" y="2548686"/>
            <a:ext cx="726945" cy="78861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11">
            <a:extLst>
              <a:ext uri="{FF2B5EF4-FFF2-40B4-BE49-F238E27FC236}">
                <a16:creationId xmlns:a16="http://schemas.microsoft.com/office/drawing/2014/main" id="{7FB91F23-3B7D-43DE-B29B-E778E4D47BB8}"/>
              </a:ext>
            </a:extLst>
          </p:cNvPr>
          <p:cNvCxnSpPr>
            <a:stCxn id="14" idx="2"/>
            <a:endCxn id="11" idx="2"/>
          </p:cNvCxnSpPr>
          <p:nvPr/>
        </p:nvCxnSpPr>
        <p:spPr bwMode="gray">
          <a:xfrm flipH="1" flipV="1">
            <a:off x="1591719" y="2702575"/>
            <a:ext cx="2217542" cy="634722"/>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11">
            <a:extLst>
              <a:ext uri="{FF2B5EF4-FFF2-40B4-BE49-F238E27FC236}">
                <a16:creationId xmlns:a16="http://schemas.microsoft.com/office/drawing/2014/main" id="{718E88D1-3431-4489-ADC0-80708F2DCB39}"/>
              </a:ext>
            </a:extLst>
          </p:cNvPr>
          <p:cNvCxnSpPr>
            <a:stCxn id="13" idx="1"/>
            <a:endCxn id="12" idx="2"/>
          </p:cNvCxnSpPr>
          <p:nvPr/>
        </p:nvCxnSpPr>
        <p:spPr bwMode="gray">
          <a:xfrm flipV="1">
            <a:off x="2526362" y="2548686"/>
            <a:ext cx="555954" cy="772209"/>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11">
            <a:extLst>
              <a:ext uri="{FF2B5EF4-FFF2-40B4-BE49-F238E27FC236}">
                <a16:creationId xmlns:a16="http://schemas.microsoft.com/office/drawing/2014/main" id="{2F16311D-036D-4774-B335-FEB1C12F0213}"/>
              </a:ext>
            </a:extLst>
          </p:cNvPr>
          <p:cNvCxnSpPr>
            <a:stCxn id="13" idx="1"/>
            <a:endCxn id="11" idx="2"/>
          </p:cNvCxnSpPr>
          <p:nvPr/>
        </p:nvCxnSpPr>
        <p:spPr bwMode="gray">
          <a:xfrm flipH="1" flipV="1">
            <a:off x="1591719" y="2702575"/>
            <a:ext cx="934643" cy="61832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11">
            <a:extLst>
              <a:ext uri="{FF2B5EF4-FFF2-40B4-BE49-F238E27FC236}">
                <a16:creationId xmlns:a16="http://schemas.microsoft.com/office/drawing/2014/main" id="{1C962875-E84B-4828-AE66-85C36BC55364}"/>
              </a:ext>
            </a:extLst>
          </p:cNvPr>
          <p:cNvCxnSpPr>
            <a:cxnSpLocks/>
            <a:stCxn id="67" idx="1"/>
            <a:endCxn id="8" idx="3"/>
          </p:cNvCxnSpPr>
          <p:nvPr/>
        </p:nvCxnSpPr>
        <p:spPr bwMode="gray">
          <a:xfrm flipH="1">
            <a:off x="3327770" y="4917172"/>
            <a:ext cx="1002974" cy="739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文本框 21">
            <a:extLst>
              <a:ext uri="{FF2B5EF4-FFF2-40B4-BE49-F238E27FC236}">
                <a16:creationId xmlns:a16="http://schemas.microsoft.com/office/drawing/2014/main" id="{ACD32FAF-FD7A-4090-A9D3-1F9F097ABDF2}"/>
              </a:ext>
            </a:extLst>
          </p:cNvPr>
          <p:cNvSpPr txBox="1"/>
          <p:nvPr/>
        </p:nvSpPr>
        <p:spPr bwMode="gray">
          <a:xfrm>
            <a:off x="2394910" y="4787518"/>
            <a:ext cx="505268" cy="307777"/>
          </a:xfrm>
          <a:prstGeom prst="rect">
            <a:avLst/>
          </a:prstGeom>
          <a:noFill/>
        </p:spPr>
        <p:txBody>
          <a:bodyPr wrap="none" rtlCol="0">
            <a:spAutoFit/>
          </a:bodyPr>
          <a:lstStyle/>
          <a:p>
            <a:pPr algn="r"/>
            <a:r>
              <a:rPr lang="en-US" altLang="zh-CN" sz="1400" b="1" dirty="0"/>
              <a:t>CPE</a:t>
            </a:r>
            <a:endParaRPr lang="zh-CN" altLang="en-US" sz="1400" b="1" dirty="0"/>
          </a:p>
        </p:txBody>
      </p:sp>
      <p:sp>
        <p:nvSpPr>
          <p:cNvPr id="60" name="文本框 21">
            <a:extLst>
              <a:ext uri="{FF2B5EF4-FFF2-40B4-BE49-F238E27FC236}">
                <a16:creationId xmlns:a16="http://schemas.microsoft.com/office/drawing/2014/main" id="{CB6DD328-A9E0-4D3A-8AAF-03C831082F77}"/>
              </a:ext>
            </a:extLst>
          </p:cNvPr>
          <p:cNvSpPr txBox="1"/>
          <p:nvPr/>
        </p:nvSpPr>
        <p:spPr bwMode="gray">
          <a:xfrm>
            <a:off x="2836861" y="1884512"/>
            <a:ext cx="505268" cy="307777"/>
          </a:xfrm>
          <a:prstGeom prst="rect">
            <a:avLst/>
          </a:prstGeom>
          <a:noFill/>
        </p:spPr>
        <p:txBody>
          <a:bodyPr wrap="none" rtlCol="0">
            <a:spAutoFit/>
          </a:bodyPr>
          <a:lstStyle/>
          <a:p>
            <a:pPr algn="r"/>
            <a:r>
              <a:rPr lang="en-US" altLang="zh-CN" sz="1400" b="1" dirty="0"/>
              <a:t>CPE</a:t>
            </a:r>
            <a:endParaRPr lang="zh-CN" altLang="en-US" sz="1400" b="1" dirty="0"/>
          </a:p>
        </p:txBody>
      </p:sp>
      <p:pic>
        <p:nvPicPr>
          <p:cNvPr id="67" name="图片 140" descr="通用交换机.png">
            <a:extLst>
              <a:ext uri="{FF2B5EF4-FFF2-40B4-BE49-F238E27FC236}">
                <a16:creationId xmlns:a16="http://schemas.microsoft.com/office/drawing/2014/main" id="{641FA555-0557-46D9-94D7-3CEF0F01A0E9}"/>
              </a:ext>
            </a:extLst>
          </p:cNvPr>
          <p:cNvPicPr>
            <a:picLocks noChangeAspect="1"/>
          </p:cNvPicPr>
          <p:nvPr/>
        </p:nvPicPr>
        <p:blipFill>
          <a:blip r:embed="rId4" cstate="print">
            <a:grayscl/>
          </a:blip>
          <a:stretch>
            <a:fillRect/>
          </a:stretch>
        </p:blipFill>
        <p:spPr bwMode="gray">
          <a:xfrm>
            <a:off x="4330744" y="4723297"/>
            <a:ext cx="473914" cy="387749"/>
          </a:xfrm>
          <a:prstGeom prst="rect">
            <a:avLst/>
          </a:prstGeom>
        </p:spPr>
      </p:pic>
      <p:sp>
        <p:nvSpPr>
          <p:cNvPr id="83" name="文本框 21">
            <a:extLst>
              <a:ext uri="{FF2B5EF4-FFF2-40B4-BE49-F238E27FC236}">
                <a16:creationId xmlns:a16="http://schemas.microsoft.com/office/drawing/2014/main" id="{49E95285-E2DA-4D15-8FA4-EFC4943584C4}"/>
              </a:ext>
            </a:extLst>
          </p:cNvPr>
          <p:cNvSpPr txBox="1"/>
          <p:nvPr/>
        </p:nvSpPr>
        <p:spPr bwMode="gray">
          <a:xfrm>
            <a:off x="1382367" y="2039636"/>
            <a:ext cx="418704" cy="307777"/>
          </a:xfrm>
          <a:prstGeom prst="rect">
            <a:avLst/>
          </a:prstGeom>
          <a:noFill/>
        </p:spPr>
        <p:txBody>
          <a:bodyPr wrap="none" rtlCol="0">
            <a:spAutoFit/>
          </a:bodyPr>
          <a:lstStyle/>
          <a:p>
            <a:pPr algn="r"/>
            <a:r>
              <a:rPr lang="en-US" altLang="zh-CN" sz="1400" b="1" dirty="0"/>
              <a:t>RR</a:t>
            </a:r>
            <a:endParaRPr lang="zh-CN" altLang="en-US" sz="1400" b="1" dirty="0"/>
          </a:p>
        </p:txBody>
      </p:sp>
      <p:pic>
        <p:nvPicPr>
          <p:cNvPr id="84" name="图片 140" descr="通用交换机.png">
            <a:extLst>
              <a:ext uri="{FF2B5EF4-FFF2-40B4-BE49-F238E27FC236}">
                <a16:creationId xmlns:a16="http://schemas.microsoft.com/office/drawing/2014/main" id="{9D9A01AD-19BA-4E5D-A66B-05B9E6C17C11}"/>
              </a:ext>
            </a:extLst>
          </p:cNvPr>
          <p:cNvPicPr>
            <a:picLocks noChangeAspect="1"/>
          </p:cNvPicPr>
          <p:nvPr/>
        </p:nvPicPr>
        <p:blipFill>
          <a:blip r:embed="rId4" cstate="print">
            <a:grayscl/>
          </a:blip>
          <a:stretch>
            <a:fillRect/>
          </a:stretch>
        </p:blipFill>
        <p:spPr bwMode="gray">
          <a:xfrm>
            <a:off x="4382155" y="2160937"/>
            <a:ext cx="473914" cy="387749"/>
          </a:xfrm>
          <a:prstGeom prst="rect">
            <a:avLst/>
          </a:prstGeom>
        </p:spPr>
      </p:pic>
      <p:cxnSp>
        <p:nvCxnSpPr>
          <p:cNvPr id="85" name="直接连接符 11">
            <a:extLst>
              <a:ext uri="{FF2B5EF4-FFF2-40B4-BE49-F238E27FC236}">
                <a16:creationId xmlns:a16="http://schemas.microsoft.com/office/drawing/2014/main" id="{DF7AB064-16FB-46A9-8941-22C57CD314EF}"/>
              </a:ext>
            </a:extLst>
          </p:cNvPr>
          <p:cNvCxnSpPr>
            <a:cxnSpLocks/>
            <a:stCxn id="84" idx="1"/>
            <a:endCxn id="12" idx="3"/>
          </p:cNvCxnSpPr>
          <p:nvPr/>
        </p:nvCxnSpPr>
        <p:spPr bwMode="gray">
          <a:xfrm flipH="1" flipV="1">
            <a:off x="3327770" y="2347414"/>
            <a:ext cx="1054385" cy="739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Rectangle: Rounded Corners 87">
            <a:extLst>
              <a:ext uri="{FF2B5EF4-FFF2-40B4-BE49-F238E27FC236}">
                <a16:creationId xmlns:a16="http://schemas.microsoft.com/office/drawing/2014/main" id="{6C3ED06F-12E0-4C4C-8B97-BD75FE0CF410}"/>
              </a:ext>
            </a:extLst>
          </p:cNvPr>
          <p:cNvSpPr/>
          <p:nvPr/>
        </p:nvSpPr>
        <p:spPr bwMode="gray">
          <a:xfrm>
            <a:off x="2394909" y="1646243"/>
            <a:ext cx="2705693" cy="1127298"/>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400" dirty="0">
              <a:solidFill>
                <a:schemeClr val="tx1"/>
              </a:solidFill>
            </a:endParaRPr>
          </a:p>
        </p:txBody>
      </p:sp>
      <p:sp>
        <p:nvSpPr>
          <p:cNvPr id="89" name="Rectangle: Rounded Corners 88">
            <a:extLst>
              <a:ext uri="{FF2B5EF4-FFF2-40B4-BE49-F238E27FC236}">
                <a16:creationId xmlns:a16="http://schemas.microsoft.com/office/drawing/2014/main" id="{C8AB4C6D-B596-44A3-8544-748EA1583ED5}"/>
              </a:ext>
            </a:extLst>
          </p:cNvPr>
          <p:cNvSpPr/>
          <p:nvPr/>
        </p:nvSpPr>
        <p:spPr bwMode="gray">
          <a:xfrm>
            <a:off x="2403938" y="4526371"/>
            <a:ext cx="2705693" cy="1127298"/>
          </a:xfrm>
          <a:prstGeom prst="roundRect">
            <a:avLst>
              <a:gd name="adj" fmla="val 4012"/>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400" dirty="0">
              <a:solidFill>
                <a:schemeClr val="tx1"/>
              </a:solidFill>
            </a:endParaRPr>
          </a:p>
        </p:txBody>
      </p:sp>
      <p:sp>
        <p:nvSpPr>
          <p:cNvPr id="90" name="Rectangle: Rounded Corners 89">
            <a:extLst>
              <a:ext uri="{FF2B5EF4-FFF2-40B4-BE49-F238E27FC236}">
                <a16:creationId xmlns:a16="http://schemas.microsoft.com/office/drawing/2014/main" id="{728C9094-7736-4B73-9533-7F434B165D21}"/>
              </a:ext>
            </a:extLst>
          </p:cNvPr>
          <p:cNvSpPr/>
          <p:nvPr/>
        </p:nvSpPr>
        <p:spPr bwMode="gray">
          <a:xfrm>
            <a:off x="4423728" y="2773541"/>
            <a:ext cx="640351" cy="259930"/>
          </a:xfrm>
          <a:prstGeom prst="roundRect">
            <a:avLst>
              <a:gd name="adj" fmla="val 4012"/>
            </a:avLst>
          </a:prstGeom>
          <a:solidFill>
            <a:srgbClr val="56C4D2"/>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总部</a:t>
            </a:r>
            <a:endParaRPr lang="en-US" sz="1200" dirty="0"/>
          </a:p>
        </p:txBody>
      </p:sp>
      <p:sp>
        <p:nvSpPr>
          <p:cNvPr id="91" name="Rectangle: Rounded Corners 90">
            <a:extLst>
              <a:ext uri="{FF2B5EF4-FFF2-40B4-BE49-F238E27FC236}">
                <a16:creationId xmlns:a16="http://schemas.microsoft.com/office/drawing/2014/main" id="{D96DA842-5151-4D41-A5B3-55A812061959}"/>
              </a:ext>
            </a:extLst>
          </p:cNvPr>
          <p:cNvSpPr/>
          <p:nvPr/>
        </p:nvSpPr>
        <p:spPr bwMode="gray">
          <a:xfrm>
            <a:off x="4420553" y="4264900"/>
            <a:ext cx="640351" cy="259930"/>
          </a:xfrm>
          <a:prstGeom prst="roundRect">
            <a:avLst>
              <a:gd name="adj" fmla="val 4012"/>
            </a:avLst>
          </a:prstGeom>
          <a:solidFill>
            <a:srgbClr val="56C4D2"/>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分支</a:t>
            </a:r>
            <a:endParaRPr lang="en-US" sz="1200" dirty="0"/>
          </a:p>
        </p:txBody>
      </p:sp>
      <p:cxnSp>
        <p:nvCxnSpPr>
          <p:cNvPr id="93" name="Straight Arrow Connector 92">
            <a:extLst>
              <a:ext uri="{FF2B5EF4-FFF2-40B4-BE49-F238E27FC236}">
                <a16:creationId xmlns:a16="http://schemas.microsoft.com/office/drawing/2014/main" id="{306CF80C-BB32-4A56-A89E-1EBB2174E73A}"/>
              </a:ext>
            </a:extLst>
          </p:cNvPr>
          <p:cNvCxnSpPr>
            <a:cxnSpLocks/>
          </p:cNvCxnSpPr>
          <p:nvPr/>
        </p:nvCxnSpPr>
        <p:spPr bwMode="gray">
          <a:xfrm>
            <a:off x="1591718" y="2773541"/>
            <a:ext cx="1245143" cy="1983430"/>
          </a:xfrm>
          <a:prstGeom prst="straightConnector1">
            <a:avLst/>
          </a:prstGeom>
          <a:ln w="28575">
            <a:solidFill>
              <a:srgbClr val="E28189"/>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93CDAE5-BD26-4AC4-9C8A-4EBDEA5FE4F5}"/>
              </a:ext>
            </a:extLst>
          </p:cNvPr>
          <p:cNvCxnSpPr>
            <a:cxnSpLocks/>
          </p:cNvCxnSpPr>
          <p:nvPr/>
        </p:nvCxnSpPr>
        <p:spPr bwMode="gray">
          <a:xfrm flipV="1">
            <a:off x="1897424" y="2347413"/>
            <a:ext cx="890016" cy="137053"/>
          </a:xfrm>
          <a:prstGeom prst="straightConnector1">
            <a:avLst/>
          </a:prstGeom>
          <a:ln w="28575">
            <a:solidFill>
              <a:srgbClr val="E28189"/>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68">
            <a:extLst>
              <a:ext uri="{FF2B5EF4-FFF2-40B4-BE49-F238E27FC236}">
                <a16:creationId xmlns:a16="http://schemas.microsoft.com/office/drawing/2014/main" id="{1B32C2FE-E769-4A74-95C6-B0BED46E01AA}"/>
              </a:ext>
            </a:extLst>
          </p:cNvPr>
          <p:cNvSpPr txBox="1"/>
          <p:nvPr/>
        </p:nvSpPr>
        <p:spPr bwMode="gray">
          <a:xfrm>
            <a:off x="3274483" y="5088952"/>
            <a:ext cx="1360728" cy="50611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7728" tIns="67728" rIns="67728" bIns="67728" numCol="1" spcCol="50797" rtlCol="0" anchor="ctr">
            <a:spAutoFit/>
          </a:bodyPr>
          <a:lstStyle/>
          <a:p>
            <a:pP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BGP</a:t>
            </a:r>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a:t>
            </a:r>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OSPF</a:t>
            </a:r>
            <a:endParaRPr lang="en-US" altLang="zh-CN"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a:p>
            <a:pPr defTabSz="609515" eaLnBrk="0" latinLnBrk="1" hangingPunct="0"/>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直连，静态路由</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p:txBody>
      </p:sp>
      <p:sp>
        <p:nvSpPr>
          <p:cNvPr id="102" name="テキスト ボックス 68">
            <a:extLst>
              <a:ext uri="{FF2B5EF4-FFF2-40B4-BE49-F238E27FC236}">
                <a16:creationId xmlns:a16="http://schemas.microsoft.com/office/drawing/2014/main" id="{B2EBE725-6D20-4549-9FA6-6318DCAB2097}"/>
              </a:ext>
            </a:extLst>
          </p:cNvPr>
          <p:cNvSpPr txBox="1"/>
          <p:nvPr/>
        </p:nvSpPr>
        <p:spPr bwMode="gray">
          <a:xfrm>
            <a:off x="3264815" y="1670229"/>
            <a:ext cx="1360728" cy="50611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7728" tIns="67728" rIns="67728" bIns="67728" numCol="1" spcCol="50797" rtlCol="0" anchor="ctr">
            <a:spAutoFit/>
          </a:bodyPr>
          <a:lstStyle/>
          <a:p>
            <a:pP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BGP</a:t>
            </a:r>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a:t>
            </a:r>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OSPF</a:t>
            </a:r>
            <a:endParaRPr lang="en-US" altLang="zh-CN"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a:p>
            <a:pPr defTabSz="609515" eaLnBrk="0" latinLnBrk="1" hangingPunct="0"/>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直连，静态路由</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p:txBody>
      </p:sp>
      <p:cxnSp>
        <p:nvCxnSpPr>
          <p:cNvPr id="103" name="Straight Arrow Connector 102">
            <a:extLst>
              <a:ext uri="{FF2B5EF4-FFF2-40B4-BE49-F238E27FC236}">
                <a16:creationId xmlns:a16="http://schemas.microsoft.com/office/drawing/2014/main" id="{B5DA09C0-3D77-4681-B833-0CFCA9625DC7}"/>
              </a:ext>
            </a:extLst>
          </p:cNvPr>
          <p:cNvCxnSpPr>
            <a:cxnSpLocks/>
          </p:cNvCxnSpPr>
          <p:nvPr/>
        </p:nvCxnSpPr>
        <p:spPr bwMode="gray">
          <a:xfrm>
            <a:off x="3419550" y="2219000"/>
            <a:ext cx="858449" cy="0"/>
          </a:xfrm>
          <a:prstGeom prst="straightConnector1">
            <a:avLst/>
          </a:prstGeom>
          <a:ln w="28575">
            <a:solidFill>
              <a:srgbClr val="E28189"/>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53822CEE-3AA8-4B31-9932-E459C4522DC4}"/>
              </a:ext>
            </a:extLst>
          </p:cNvPr>
          <p:cNvCxnSpPr>
            <a:cxnSpLocks/>
          </p:cNvCxnSpPr>
          <p:nvPr/>
        </p:nvCxnSpPr>
        <p:spPr bwMode="gray">
          <a:xfrm>
            <a:off x="3386611" y="5037569"/>
            <a:ext cx="885291" cy="0"/>
          </a:xfrm>
          <a:prstGeom prst="straightConnector1">
            <a:avLst/>
          </a:prstGeom>
          <a:ln w="28575">
            <a:solidFill>
              <a:srgbClr val="E28189"/>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9" name="テキスト ボックス 68">
            <a:extLst>
              <a:ext uri="{FF2B5EF4-FFF2-40B4-BE49-F238E27FC236}">
                <a16:creationId xmlns:a16="http://schemas.microsoft.com/office/drawing/2014/main" id="{A2BC35EB-57D0-445D-98DC-FD55B66CC5EB}"/>
              </a:ext>
            </a:extLst>
          </p:cNvPr>
          <p:cNvSpPr txBox="1"/>
          <p:nvPr/>
        </p:nvSpPr>
        <p:spPr bwMode="gray">
          <a:xfrm rot="3467714">
            <a:off x="1718583" y="3918124"/>
            <a:ext cx="934643" cy="3214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7728" tIns="67728" rIns="67728" bIns="67728" numCol="1" spcCol="50797" rtlCol="0" anchor="ctr">
            <a:spAutoFit/>
          </a:bodyPr>
          <a:lstStyle/>
          <a:p>
            <a:pPr algn="ct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BGP</a:t>
            </a:r>
            <a:r>
              <a:rPr lang="en-US" altLang="zh-CN"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 EVPN</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p:txBody>
      </p:sp>
      <p:sp>
        <p:nvSpPr>
          <p:cNvPr id="110" name="テキスト ボックス 68">
            <a:extLst>
              <a:ext uri="{FF2B5EF4-FFF2-40B4-BE49-F238E27FC236}">
                <a16:creationId xmlns:a16="http://schemas.microsoft.com/office/drawing/2014/main" id="{F36F59DE-CF2A-4C92-97D4-973D8FE06DE3}"/>
              </a:ext>
            </a:extLst>
          </p:cNvPr>
          <p:cNvSpPr txBox="1"/>
          <p:nvPr/>
        </p:nvSpPr>
        <p:spPr bwMode="gray">
          <a:xfrm rot="21061913">
            <a:off x="1842347" y="2129464"/>
            <a:ext cx="934643" cy="3214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7728" tIns="67728" rIns="67728" bIns="67728" numCol="1" spcCol="50797" rtlCol="0" anchor="ctr">
            <a:spAutoFit/>
          </a:bodyPr>
          <a:lstStyle/>
          <a:p>
            <a:pPr algn="ctr" defTabSz="609515" eaLnBrk="0" latinLnBrk="1" hangingPunct="0"/>
            <a:r>
              <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BGP</a:t>
            </a:r>
            <a:r>
              <a:rPr lang="en-US" altLang="zh-CN"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rPr>
              <a:t> EVPN</a:t>
            </a:r>
            <a:endParaRPr lang="en-US" altLang="ja-JP"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sym typeface="Lucida Grande"/>
            </a:endParaRPr>
          </a:p>
        </p:txBody>
      </p:sp>
      <p:sp>
        <p:nvSpPr>
          <p:cNvPr id="37" name="五边形 2">
            <a:extLst>
              <a:ext uri="{FF2B5EF4-FFF2-40B4-BE49-F238E27FC236}">
                <a16:creationId xmlns:a16="http://schemas.microsoft.com/office/drawing/2014/main" id="{2EA9661A-503D-4CEC-9BC1-BCBCD5884128}"/>
              </a:ext>
            </a:extLst>
          </p:cNvPr>
          <p:cNvSpPr/>
          <p:nvPr/>
        </p:nvSpPr>
        <p:spPr bwMode="gray">
          <a:xfrm>
            <a:off x="8649811" y="120048"/>
            <a:ext cx="91226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38" name="燕尾形 3">
            <a:extLst>
              <a:ext uri="{FF2B5EF4-FFF2-40B4-BE49-F238E27FC236}">
                <a16:creationId xmlns:a16="http://schemas.microsoft.com/office/drawing/2014/main" id="{3BCBBB1C-AB3F-4936-A520-18BB616BCEFB}"/>
              </a:ext>
            </a:extLst>
          </p:cNvPr>
          <p:cNvSpPr/>
          <p:nvPr/>
        </p:nvSpPr>
        <p:spPr bwMode="gray">
          <a:xfrm>
            <a:off x="10437493" y="120048"/>
            <a:ext cx="13077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
            <a:extLst>
              <a:ext uri="{FF2B5EF4-FFF2-40B4-BE49-F238E27FC236}">
                <a16:creationId xmlns:a16="http://schemas.microsoft.com/office/drawing/2014/main" id="{9AE9F0F1-2BD6-4C30-9BFC-93EE91621455}"/>
              </a:ext>
            </a:extLst>
          </p:cNvPr>
          <p:cNvSpPr/>
          <p:nvPr/>
        </p:nvSpPr>
        <p:spPr bwMode="gray">
          <a:xfrm>
            <a:off x="9481630" y="120048"/>
            <a:ext cx="10363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拓扑设计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98436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bwMode="gray"/>
        <p:txBody>
          <a:bodyPr/>
          <a:lstStyle/>
          <a:p>
            <a:r>
              <a:rPr lang="en-US" sz="2400" dirty="0"/>
              <a:t>SD-WAN</a:t>
            </a:r>
            <a:r>
              <a:rPr lang="zh-CN" altLang="en-US" sz="2400" dirty="0"/>
              <a:t>组网设计分为</a:t>
            </a:r>
            <a:r>
              <a:rPr lang="zh-CN" altLang="en-US" sz="2400"/>
              <a:t>站点设计、隧道</a:t>
            </a:r>
            <a:r>
              <a:rPr lang="zh-CN" altLang="en-US" sz="2400" dirty="0"/>
              <a:t>设计与</a:t>
            </a:r>
            <a:r>
              <a:rPr lang="en-US" altLang="zh-CN" sz="2400" dirty="0"/>
              <a:t>VPN</a:t>
            </a:r>
            <a:r>
              <a:rPr lang="zh-CN" altLang="en-US" sz="2400" dirty="0"/>
              <a:t>设计：</a:t>
            </a:r>
            <a:endParaRPr lang="en-US" altLang="zh-CN" sz="2400" dirty="0"/>
          </a:p>
          <a:p>
            <a:pPr lvl="1"/>
            <a:r>
              <a:rPr lang="zh-CN" altLang="en-US" sz="2000" dirty="0"/>
              <a:t>站点设计：主要包括</a:t>
            </a:r>
            <a:r>
              <a:rPr lang="en-US" altLang="zh-CN" sz="2000" dirty="0"/>
              <a:t>WAN/LAN</a:t>
            </a:r>
            <a:r>
              <a:rPr lang="zh-CN" altLang="en-US" sz="2000" dirty="0"/>
              <a:t>网络设计与双</a:t>
            </a:r>
            <a:r>
              <a:rPr lang="en-US" altLang="zh-CN" sz="2000" dirty="0"/>
              <a:t>CPE</a:t>
            </a:r>
            <a:r>
              <a:rPr lang="zh-CN" altLang="en-US" sz="2000" dirty="0"/>
              <a:t>设计。</a:t>
            </a:r>
            <a:endParaRPr lang="en-US" altLang="zh-CN" sz="2000" dirty="0"/>
          </a:p>
          <a:p>
            <a:pPr lvl="1"/>
            <a:r>
              <a:rPr lang="zh-CN" altLang="en-US" sz="2000" dirty="0"/>
              <a:t>隧道设计：主要包括数据</a:t>
            </a:r>
            <a:r>
              <a:rPr lang="zh-CN" altLang="en-US" sz="2000"/>
              <a:t>隧道设计、</a:t>
            </a:r>
            <a:r>
              <a:rPr lang="en-US" altLang="zh-CN" sz="2000"/>
              <a:t>RR</a:t>
            </a:r>
            <a:r>
              <a:rPr lang="zh-CN" altLang="en-US" sz="2000"/>
              <a:t>设计、</a:t>
            </a:r>
            <a:r>
              <a:rPr lang="en-US" altLang="zh-CN" sz="2000"/>
              <a:t>NAT</a:t>
            </a:r>
            <a:r>
              <a:rPr lang="zh-CN" altLang="en-US" sz="2000" dirty="0"/>
              <a:t>设计与网络超规设计。</a:t>
            </a:r>
            <a:endParaRPr lang="en-US" altLang="zh-CN" sz="2000" dirty="0"/>
          </a:p>
          <a:p>
            <a:pPr lvl="1"/>
            <a:r>
              <a:rPr lang="en-US" sz="2000" dirty="0"/>
              <a:t>VPN</a:t>
            </a:r>
            <a:r>
              <a:rPr lang="zh-CN" altLang="en-US" sz="2000" dirty="0"/>
              <a:t>设计：主要包括</a:t>
            </a:r>
            <a:r>
              <a:rPr lang="en-US" altLang="zh-CN" sz="2000"/>
              <a:t>VPN</a:t>
            </a:r>
            <a:r>
              <a:rPr lang="zh-CN" altLang="en-US" sz="2000"/>
              <a:t>设计、拓扑</a:t>
            </a:r>
            <a:r>
              <a:rPr lang="zh-CN" altLang="en-US" sz="2000" dirty="0"/>
              <a:t>设计与</a:t>
            </a:r>
            <a:r>
              <a:rPr lang="en-US" altLang="zh-CN" sz="2000" dirty="0"/>
              <a:t>VPN</a:t>
            </a:r>
            <a:r>
              <a:rPr lang="zh-CN" altLang="en-US" sz="2000" dirty="0"/>
              <a:t>路由设计。</a:t>
            </a:r>
            <a:endParaRPr lang="en-US" altLang="zh-CN" sz="2000" dirty="0"/>
          </a:p>
          <a:p>
            <a:endParaRPr lang="en-US" sz="1800" dirty="0"/>
          </a:p>
        </p:txBody>
      </p:sp>
    </p:spTree>
    <p:extLst>
      <p:ext uri="{BB962C8B-B14F-4D97-AF65-F5344CB8AC3E}">
        <p14:creationId xmlns:p14="http://schemas.microsoft.com/office/powerpoint/2010/main" val="26948155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2000" dirty="0">
                <a:solidFill>
                  <a:schemeClr val="bg1">
                    <a:lumMod val="50000"/>
                  </a:schemeClr>
                </a:solidFill>
              </a:rPr>
              <a:t>企业广域互联网络趋势与挑战</a:t>
            </a:r>
            <a:endParaRPr lang="en-US" altLang="zh-CN" sz="20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解决方案概述</a:t>
            </a:r>
            <a:endParaRPr lang="en-US" altLang="zh-CN" sz="2000" dirty="0">
              <a:solidFill>
                <a:schemeClr val="bg1">
                  <a:lumMod val="50000"/>
                </a:schemeClr>
              </a:solidFill>
            </a:endParaRPr>
          </a:p>
          <a:p>
            <a:pPr>
              <a:buFont typeface="+mj-lt"/>
              <a:buAutoNum type="arabicPeriod" startAt="3"/>
            </a:pPr>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组网设计</a:t>
            </a:r>
            <a:endParaRPr lang="en-US" altLang="zh-CN" sz="2000" dirty="0">
              <a:solidFill>
                <a:schemeClr val="bg1">
                  <a:lumMod val="50000"/>
                </a:schemeClr>
              </a:solidFill>
            </a:endParaRPr>
          </a:p>
          <a:p>
            <a:pPr>
              <a:buAutoNum type="arabicPeriod" startAt="3"/>
            </a:pPr>
            <a:r>
              <a:rPr lang="zh-CN" altLang="en-US" sz="2000" b="1" dirty="0"/>
              <a:t>华为</a:t>
            </a:r>
            <a:r>
              <a:rPr lang="en-US" altLang="zh-CN" sz="2000" b="1" dirty="0"/>
              <a:t>SD-WAN</a:t>
            </a:r>
            <a:r>
              <a:rPr lang="zh-CN" altLang="en-US" sz="2000" b="1" dirty="0"/>
              <a:t>业务设计</a:t>
            </a:r>
            <a:endParaRPr lang="en-US" altLang="zh-CN" sz="2000" b="1" dirty="0"/>
          </a:p>
          <a:p>
            <a:pPr lvl="1">
              <a:buSzPct val="60000"/>
              <a:buFont typeface="Wingdings" panose="05000000000000000000" pitchFamily="2" charset="2"/>
              <a:buChar char="n"/>
            </a:pPr>
            <a:r>
              <a:rPr lang="en-US" altLang="zh-CN" sz="1800" dirty="0"/>
              <a:t>SD-WAN</a:t>
            </a:r>
            <a:r>
              <a:rPr lang="zh-CN" altLang="en-US" sz="1800" dirty="0"/>
              <a:t>业务设计概览</a:t>
            </a:r>
            <a:endParaRPr lang="en-US" altLang="zh-CN" sz="1800" dirty="0"/>
          </a:p>
          <a:p>
            <a:pPr lvl="1"/>
            <a:r>
              <a:rPr lang="en-US" altLang="zh-CN" sz="1800" dirty="0">
                <a:solidFill>
                  <a:schemeClr val="bg1">
                    <a:lumMod val="50000"/>
                  </a:schemeClr>
                </a:solidFill>
              </a:rPr>
              <a:t>SD-WAN</a:t>
            </a:r>
            <a:r>
              <a:rPr lang="zh-CN" altLang="en-US" sz="1800" dirty="0">
                <a:solidFill>
                  <a:schemeClr val="bg1">
                    <a:lumMod val="50000"/>
                  </a:schemeClr>
                </a:solidFill>
              </a:rPr>
              <a:t>应用业务设计</a:t>
            </a:r>
            <a:endParaRPr lang="en-US" altLang="zh-CN" sz="1800" dirty="0">
              <a:solidFill>
                <a:schemeClr val="bg1">
                  <a:lumMod val="50000"/>
                </a:schemeClr>
              </a:solidFill>
            </a:endParaRPr>
          </a:p>
          <a:p>
            <a:pPr lvl="1"/>
            <a:r>
              <a:rPr lang="en-US" altLang="zh-CN" sz="1800" dirty="0">
                <a:solidFill>
                  <a:schemeClr val="bg1">
                    <a:lumMod val="50000"/>
                  </a:schemeClr>
                </a:solidFill>
              </a:rPr>
              <a:t>SD-WAN</a:t>
            </a:r>
            <a:r>
              <a:rPr lang="zh-CN" altLang="en-US" sz="1800" dirty="0">
                <a:solidFill>
                  <a:schemeClr val="bg1">
                    <a:lumMod val="50000"/>
                  </a:schemeClr>
                </a:solidFill>
              </a:rPr>
              <a:t>网络业务设计</a:t>
            </a:r>
            <a:endParaRPr lang="en-US" altLang="zh-CN" sz="1800" dirty="0">
              <a:solidFill>
                <a:schemeClr val="bg1">
                  <a:lumMod val="50000"/>
                </a:schemeClr>
              </a:solidFill>
            </a:endParaRPr>
          </a:p>
          <a:p>
            <a:pPr>
              <a:buFont typeface="+mj-lt"/>
              <a:buAutoNum type="arabicPeriod" startAt="5"/>
            </a:pPr>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可靠性与安全设计</a:t>
            </a:r>
          </a:p>
        </p:txBody>
      </p:sp>
    </p:spTree>
    <p:extLst>
      <p:ext uri="{BB962C8B-B14F-4D97-AF65-F5344CB8AC3E}">
        <p14:creationId xmlns:p14="http://schemas.microsoft.com/office/powerpoint/2010/main" val="22386946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微软雅黑" panose="020B0503020204020204" pitchFamily="34" charset="-122"/>
              </a:rPr>
              <a:t>华为</a:t>
            </a:r>
            <a:r>
              <a:rPr lang="en-US" altLang="zh-CN" dirty="0">
                <a:sym typeface="微软雅黑" panose="020B0503020204020204" pitchFamily="34" charset="-122"/>
              </a:rPr>
              <a:t>SD-WAN</a:t>
            </a:r>
            <a:r>
              <a:rPr lang="zh-CN" altLang="en-US" dirty="0">
                <a:sym typeface="微软雅黑" panose="020B0503020204020204" pitchFamily="34" charset="-122"/>
              </a:rPr>
              <a:t>业务设计概览</a:t>
            </a:r>
            <a:endParaRPr lang="zh-CN" altLang="en-US" dirty="0"/>
          </a:p>
        </p:txBody>
      </p:sp>
      <p:sp>
        <p:nvSpPr>
          <p:cNvPr id="17" name="Text Placeholder 16">
            <a:extLst>
              <a:ext uri="{FF2B5EF4-FFF2-40B4-BE49-F238E27FC236}">
                <a16:creationId xmlns:a16="http://schemas.microsoft.com/office/drawing/2014/main" id="{5923389E-A7CA-463D-AF6A-943F12583C56}"/>
              </a:ext>
            </a:extLst>
          </p:cNvPr>
          <p:cNvSpPr>
            <a:spLocks noGrp="1"/>
          </p:cNvSpPr>
          <p:nvPr>
            <p:ph type="body" sz="quarter" idx="10"/>
          </p:nvPr>
        </p:nvSpPr>
        <p:spPr bwMode="gray"/>
        <p:txBody>
          <a:bodyPr/>
          <a:lstStyle/>
          <a:p>
            <a:r>
              <a:rPr lang="en-US" altLang="zh-CN" sz="1800" dirty="0"/>
              <a:t>SD-WAN</a:t>
            </a:r>
            <a:r>
              <a:rPr lang="zh-CN" altLang="en-US" sz="1800" dirty="0"/>
              <a:t>业务设计主要包括应用业务设计与网络业务设计：</a:t>
            </a:r>
            <a:endParaRPr lang="en-US" altLang="zh-CN" sz="1800" dirty="0"/>
          </a:p>
        </p:txBody>
      </p:sp>
      <p:grpSp>
        <p:nvGrpSpPr>
          <p:cNvPr id="5" name="Group 4">
            <a:extLst>
              <a:ext uri="{FF2B5EF4-FFF2-40B4-BE49-F238E27FC236}">
                <a16:creationId xmlns:a16="http://schemas.microsoft.com/office/drawing/2014/main" id="{9E92AF6E-D526-4408-BA94-720F2434B16D}"/>
              </a:ext>
            </a:extLst>
          </p:cNvPr>
          <p:cNvGrpSpPr/>
          <p:nvPr/>
        </p:nvGrpSpPr>
        <p:grpSpPr bwMode="gray">
          <a:xfrm>
            <a:off x="913893" y="2149634"/>
            <a:ext cx="10033716" cy="3471113"/>
            <a:chOff x="1085492" y="2800318"/>
            <a:chExt cx="10033716" cy="3471113"/>
          </a:xfrm>
        </p:grpSpPr>
        <p:sp>
          <p:nvSpPr>
            <p:cNvPr id="217" name="梯形 41">
              <a:extLst>
                <a:ext uri="{FF2B5EF4-FFF2-40B4-BE49-F238E27FC236}">
                  <a16:creationId xmlns:a16="http://schemas.microsoft.com/office/drawing/2014/main" id="{9CA39EBE-68B8-40E3-85DF-48971C7A97F2}"/>
                </a:ext>
              </a:extLst>
            </p:cNvPr>
            <p:cNvSpPr/>
            <p:nvPr/>
          </p:nvSpPr>
          <p:spPr bwMode="gray">
            <a:xfrm>
              <a:off x="1580762" y="3409959"/>
              <a:ext cx="9538446" cy="2749022"/>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8" name="Freeform 159">
              <a:extLst>
                <a:ext uri="{FF2B5EF4-FFF2-40B4-BE49-F238E27FC236}">
                  <a16:creationId xmlns:a16="http://schemas.microsoft.com/office/drawing/2014/main" id="{2BE31BA5-52BC-4123-B876-AC458E943DBB}"/>
                </a:ext>
              </a:extLst>
            </p:cNvPr>
            <p:cNvSpPr/>
            <p:nvPr/>
          </p:nvSpPr>
          <p:spPr bwMode="gray">
            <a:xfrm flipH="1">
              <a:off x="3815062" y="3838659"/>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219" name="图片 31">
              <a:extLst>
                <a:ext uri="{FF2B5EF4-FFF2-40B4-BE49-F238E27FC236}">
                  <a16:creationId xmlns:a16="http://schemas.microsoft.com/office/drawing/2014/main" id="{26672EB5-266A-434A-8839-911E38A0F2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4564888" y="3964056"/>
              <a:ext cx="466668" cy="385001"/>
            </a:xfrm>
            <a:prstGeom prst="rect">
              <a:avLst/>
            </a:prstGeom>
          </p:spPr>
        </p:pic>
        <p:pic>
          <p:nvPicPr>
            <p:cNvPr id="220" name="图片 51" descr="交换机.png">
              <a:extLst>
                <a:ext uri="{FF2B5EF4-FFF2-40B4-BE49-F238E27FC236}">
                  <a16:creationId xmlns:a16="http://schemas.microsoft.com/office/drawing/2014/main" id="{55D8D2B4-B37F-434F-9770-9EC2869413A0}"/>
                </a:ext>
              </a:extLst>
            </p:cNvPr>
            <p:cNvPicPr>
              <a:picLocks noChangeAspect="1"/>
            </p:cNvPicPr>
            <p:nvPr/>
          </p:nvPicPr>
          <p:blipFill>
            <a:blip r:embed="rId4" cstate="print"/>
            <a:stretch>
              <a:fillRect/>
            </a:stretch>
          </p:blipFill>
          <p:spPr bwMode="gray">
            <a:xfrm>
              <a:off x="4059949" y="3620589"/>
              <a:ext cx="417163" cy="341314"/>
            </a:xfrm>
            <a:prstGeom prst="rect">
              <a:avLst/>
            </a:prstGeom>
          </p:spPr>
        </p:pic>
        <p:sp>
          <p:nvSpPr>
            <p:cNvPr id="221" name="Freeform 159">
              <a:extLst>
                <a:ext uri="{FF2B5EF4-FFF2-40B4-BE49-F238E27FC236}">
                  <a16:creationId xmlns:a16="http://schemas.microsoft.com/office/drawing/2014/main" id="{C5B1CA5F-2138-4462-963D-454A836A8D08}"/>
                </a:ext>
              </a:extLst>
            </p:cNvPr>
            <p:cNvSpPr/>
            <p:nvPr/>
          </p:nvSpPr>
          <p:spPr bwMode="gray">
            <a:xfrm flipH="1">
              <a:off x="3068145" y="4698670"/>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分支站点</a:t>
              </a:r>
            </a:p>
          </p:txBody>
        </p:sp>
        <p:pic>
          <p:nvPicPr>
            <p:cNvPr id="222" name="图片 31">
              <a:extLst>
                <a:ext uri="{FF2B5EF4-FFF2-40B4-BE49-F238E27FC236}">
                  <a16:creationId xmlns:a16="http://schemas.microsoft.com/office/drawing/2014/main" id="{76BB75C7-1FEC-44AD-8771-84D511C76FF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817971" y="4824067"/>
              <a:ext cx="466668" cy="385001"/>
            </a:xfrm>
            <a:prstGeom prst="rect">
              <a:avLst/>
            </a:prstGeom>
          </p:spPr>
        </p:pic>
        <p:pic>
          <p:nvPicPr>
            <p:cNvPr id="223" name="图片 51" descr="交换机.png">
              <a:extLst>
                <a:ext uri="{FF2B5EF4-FFF2-40B4-BE49-F238E27FC236}">
                  <a16:creationId xmlns:a16="http://schemas.microsoft.com/office/drawing/2014/main" id="{C434DDA8-B663-412B-B1DE-36921CBC109A}"/>
                </a:ext>
              </a:extLst>
            </p:cNvPr>
            <p:cNvPicPr>
              <a:picLocks noChangeAspect="1"/>
            </p:cNvPicPr>
            <p:nvPr/>
          </p:nvPicPr>
          <p:blipFill>
            <a:blip r:embed="rId4" cstate="print"/>
            <a:stretch>
              <a:fillRect/>
            </a:stretch>
          </p:blipFill>
          <p:spPr bwMode="gray">
            <a:xfrm>
              <a:off x="3313032" y="4480600"/>
              <a:ext cx="417163" cy="341314"/>
            </a:xfrm>
            <a:prstGeom prst="rect">
              <a:avLst/>
            </a:prstGeom>
          </p:spPr>
        </p:pic>
        <p:sp>
          <p:nvSpPr>
            <p:cNvPr id="224" name="Freeform 159">
              <a:extLst>
                <a:ext uri="{FF2B5EF4-FFF2-40B4-BE49-F238E27FC236}">
                  <a16:creationId xmlns:a16="http://schemas.microsoft.com/office/drawing/2014/main" id="{C9A9E9D8-038B-4DB5-8E58-BCD2DF9FAB5B}"/>
                </a:ext>
              </a:extLst>
            </p:cNvPr>
            <p:cNvSpPr/>
            <p:nvPr/>
          </p:nvSpPr>
          <p:spPr bwMode="gray">
            <a:xfrm flipH="1">
              <a:off x="8389113" y="4719998"/>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主数据中心</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5" name="图片 25">
              <a:extLst>
                <a:ext uri="{FF2B5EF4-FFF2-40B4-BE49-F238E27FC236}">
                  <a16:creationId xmlns:a16="http://schemas.microsoft.com/office/drawing/2014/main" id="{B519AEBD-35C5-4976-99BA-A992C26F273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073061" y="4842237"/>
              <a:ext cx="466668" cy="385001"/>
            </a:xfrm>
            <a:prstGeom prst="rect">
              <a:avLst/>
            </a:prstGeom>
          </p:spPr>
        </p:pic>
        <p:pic>
          <p:nvPicPr>
            <p:cNvPr id="226" name="图片 14" descr="交换机.png">
              <a:extLst>
                <a:ext uri="{FF2B5EF4-FFF2-40B4-BE49-F238E27FC236}">
                  <a16:creationId xmlns:a16="http://schemas.microsoft.com/office/drawing/2014/main" id="{5CE3DB13-0763-4EFB-A391-F09D42D955D8}"/>
                </a:ext>
              </a:extLst>
            </p:cNvPr>
            <p:cNvPicPr>
              <a:picLocks noChangeAspect="1"/>
            </p:cNvPicPr>
            <p:nvPr/>
          </p:nvPicPr>
          <p:blipFill>
            <a:blip r:embed="rId5" cstate="print"/>
            <a:stretch>
              <a:fillRect/>
            </a:stretch>
          </p:blipFill>
          <p:spPr bwMode="gray">
            <a:xfrm>
              <a:off x="8698910" y="4564768"/>
              <a:ext cx="420077" cy="343698"/>
            </a:xfrm>
            <a:prstGeom prst="rect">
              <a:avLst/>
            </a:prstGeom>
          </p:spPr>
        </p:pic>
        <p:sp>
          <p:nvSpPr>
            <p:cNvPr id="227" name="Freeform 159">
              <a:extLst>
                <a:ext uri="{FF2B5EF4-FFF2-40B4-BE49-F238E27FC236}">
                  <a16:creationId xmlns:a16="http://schemas.microsoft.com/office/drawing/2014/main" id="{34D9DB41-E1C9-402A-A236-F1366D69ED6C}"/>
                </a:ext>
              </a:extLst>
            </p:cNvPr>
            <p:cNvSpPr/>
            <p:nvPr/>
          </p:nvSpPr>
          <p:spPr bwMode="gray">
            <a:xfrm flipH="1">
              <a:off x="7762157" y="3804922"/>
              <a:ext cx="946333" cy="4946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备数据中心</a:t>
              </a:r>
            </a:p>
          </p:txBody>
        </p:sp>
        <p:pic>
          <p:nvPicPr>
            <p:cNvPr id="228" name="图片 31">
              <a:extLst>
                <a:ext uri="{FF2B5EF4-FFF2-40B4-BE49-F238E27FC236}">
                  <a16:creationId xmlns:a16="http://schemas.microsoft.com/office/drawing/2014/main" id="{9F488EFF-9224-444B-88E5-0AFEF55669A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7413947" y="3961336"/>
              <a:ext cx="466668" cy="385001"/>
            </a:xfrm>
            <a:prstGeom prst="rect">
              <a:avLst/>
            </a:prstGeom>
          </p:spPr>
        </p:pic>
        <p:cxnSp>
          <p:nvCxnSpPr>
            <p:cNvPr id="229" name="直接连接符 133">
              <a:extLst>
                <a:ext uri="{FF2B5EF4-FFF2-40B4-BE49-F238E27FC236}">
                  <a16:creationId xmlns:a16="http://schemas.microsoft.com/office/drawing/2014/main" id="{AC54ED7B-6C01-43EF-94EF-66A91AB9DF2A}"/>
                </a:ext>
              </a:extLst>
            </p:cNvPr>
            <p:cNvCxnSpPr>
              <a:cxnSpLocks/>
              <a:stCxn id="222" idx="3"/>
              <a:endCxn id="225" idx="1"/>
            </p:cNvCxnSpPr>
            <p:nvPr/>
          </p:nvCxnSpPr>
          <p:spPr bwMode="gray">
            <a:xfrm>
              <a:off x="4284639" y="5016568"/>
              <a:ext cx="3788422" cy="18170"/>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230" name="直接连接符 133">
              <a:extLst>
                <a:ext uri="{FF2B5EF4-FFF2-40B4-BE49-F238E27FC236}">
                  <a16:creationId xmlns:a16="http://schemas.microsoft.com/office/drawing/2014/main" id="{6A3E154C-A647-49FC-89B2-3C2B8675A04C}"/>
                </a:ext>
              </a:extLst>
            </p:cNvPr>
            <p:cNvCxnSpPr>
              <a:stCxn id="219" idx="3"/>
              <a:endCxn id="225" idx="1"/>
            </p:cNvCxnSpPr>
            <p:nvPr/>
          </p:nvCxnSpPr>
          <p:spPr bwMode="gray">
            <a:xfrm>
              <a:off x="5031556" y="4156557"/>
              <a:ext cx="3041505" cy="878181"/>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231" name="直接连接符 133">
              <a:extLst>
                <a:ext uri="{FF2B5EF4-FFF2-40B4-BE49-F238E27FC236}">
                  <a16:creationId xmlns:a16="http://schemas.microsoft.com/office/drawing/2014/main" id="{784E543C-FC54-48A0-BF52-19D5B1EDFCA8}"/>
                </a:ext>
              </a:extLst>
            </p:cNvPr>
            <p:cNvCxnSpPr>
              <a:cxnSpLocks/>
              <a:stCxn id="228" idx="1"/>
              <a:endCxn id="219" idx="3"/>
            </p:cNvCxnSpPr>
            <p:nvPr/>
          </p:nvCxnSpPr>
          <p:spPr bwMode="gray">
            <a:xfrm flipH="1">
              <a:off x="5031556" y="4153837"/>
              <a:ext cx="2382391" cy="2720"/>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sp>
          <p:nvSpPr>
            <p:cNvPr id="232" name="TextBox 231">
              <a:extLst>
                <a:ext uri="{FF2B5EF4-FFF2-40B4-BE49-F238E27FC236}">
                  <a16:creationId xmlns:a16="http://schemas.microsoft.com/office/drawing/2014/main" id="{1DA4500F-DCBE-426D-BD12-DD3CEE061E4A}"/>
                </a:ext>
              </a:extLst>
            </p:cNvPr>
            <p:cNvSpPr txBox="1"/>
            <p:nvPr/>
          </p:nvSpPr>
          <p:spPr bwMode="gray">
            <a:xfrm>
              <a:off x="9708732" y="5485027"/>
              <a:ext cx="1011815" cy="584775"/>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Overlay</a:t>
              </a:r>
            </a:p>
            <a:p>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虚拟网络</a:t>
              </a:r>
            </a:p>
          </p:txBody>
        </p:sp>
        <p:sp>
          <p:nvSpPr>
            <p:cNvPr id="234" name="文本框 18">
              <a:extLst>
                <a:ext uri="{FF2B5EF4-FFF2-40B4-BE49-F238E27FC236}">
                  <a16:creationId xmlns:a16="http://schemas.microsoft.com/office/drawing/2014/main" id="{2737A01D-5D7B-4BD6-9D2F-3CA45BF63BAA}"/>
                </a:ext>
              </a:extLst>
            </p:cNvPr>
            <p:cNvSpPr txBox="1"/>
            <p:nvPr/>
          </p:nvSpPr>
          <p:spPr bwMode="gray">
            <a:xfrm>
              <a:off x="3775682" y="4601140"/>
              <a:ext cx="623536"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5" name="文本框 18">
              <a:extLst>
                <a:ext uri="{FF2B5EF4-FFF2-40B4-BE49-F238E27FC236}">
                  <a16:creationId xmlns:a16="http://schemas.microsoft.com/office/drawing/2014/main" id="{FA5FC1DA-FA62-445B-B937-AB4B567E8407}"/>
                </a:ext>
              </a:extLst>
            </p:cNvPr>
            <p:cNvSpPr txBox="1"/>
            <p:nvPr/>
          </p:nvSpPr>
          <p:spPr bwMode="gray">
            <a:xfrm>
              <a:off x="4485755" y="3741105"/>
              <a:ext cx="626626"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6" name="文本框 18">
              <a:extLst>
                <a:ext uri="{FF2B5EF4-FFF2-40B4-BE49-F238E27FC236}">
                  <a16:creationId xmlns:a16="http://schemas.microsoft.com/office/drawing/2014/main" id="{1AB21FDF-ADE0-47DD-AC9D-3B7A0DA83DBD}"/>
                </a:ext>
              </a:extLst>
            </p:cNvPr>
            <p:cNvSpPr txBox="1"/>
            <p:nvPr/>
          </p:nvSpPr>
          <p:spPr bwMode="gray">
            <a:xfrm>
              <a:off x="7192543" y="3737775"/>
              <a:ext cx="851003"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EDGE/RR</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7" name="文本框 18">
              <a:extLst>
                <a:ext uri="{FF2B5EF4-FFF2-40B4-BE49-F238E27FC236}">
                  <a16:creationId xmlns:a16="http://schemas.microsoft.com/office/drawing/2014/main" id="{8D47DA68-3FE5-4B8D-819E-16F5E69B4226}"/>
                </a:ext>
              </a:extLst>
            </p:cNvPr>
            <p:cNvSpPr txBox="1"/>
            <p:nvPr/>
          </p:nvSpPr>
          <p:spPr bwMode="gray">
            <a:xfrm>
              <a:off x="7845203" y="4598117"/>
              <a:ext cx="866076"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EDGE/RR</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8" name="图片 14" descr="交换机.png">
              <a:extLst>
                <a:ext uri="{FF2B5EF4-FFF2-40B4-BE49-F238E27FC236}">
                  <a16:creationId xmlns:a16="http://schemas.microsoft.com/office/drawing/2014/main" id="{51309F8C-E2D5-4DCC-8237-76792A039F8D}"/>
                </a:ext>
              </a:extLst>
            </p:cNvPr>
            <p:cNvPicPr>
              <a:picLocks noChangeAspect="1"/>
            </p:cNvPicPr>
            <p:nvPr/>
          </p:nvPicPr>
          <p:blipFill>
            <a:blip r:embed="rId5" cstate="print"/>
            <a:stretch>
              <a:fillRect/>
            </a:stretch>
          </p:blipFill>
          <p:spPr bwMode="gray">
            <a:xfrm>
              <a:off x="8043568" y="3567428"/>
              <a:ext cx="420077" cy="343698"/>
            </a:xfrm>
            <a:prstGeom prst="rect">
              <a:avLst/>
            </a:prstGeom>
          </p:spPr>
        </p:pic>
        <p:cxnSp>
          <p:nvCxnSpPr>
            <p:cNvPr id="239" name="直接连接符 133">
              <a:extLst>
                <a:ext uri="{FF2B5EF4-FFF2-40B4-BE49-F238E27FC236}">
                  <a16:creationId xmlns:a16="http://schemas.microsoft.com/office/drawing/2014/main" id="{AC5E342A-FC72-4204-8E4F-241B7D230350}"/>
                </a:ext>
              </a:extLst>
            </p:cNvPr>
            <p:cNvCxnSpPr>
              <a:cxnSpLocks/>
              <a:stCxn id="222" idx="3"/>
              <a:endCxn id="228" idx="1"/>
            </p:cNvCxnSpPr>
            <p:nvPr/>
          </p:nvCxnSpPr>
          <p:spPr bwMode="gray">
            <a:xfrm flipV="1">
              <a:off x="4284639" y="4153837"/>
              <a:ext cx="3129308" cy="862731"/>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sp>
          <p:nvSpPr>
            <p:cNvPr id="287" name="圆角矩形 75">
              <a:extLst>
                <a:ext uri="{FF2B5EF4-FFF2-40B4-BE49-F238E27FC236}">
                  <a16:creationId xmlns:a16="http://schemas.microsoft.com/office/drawing/2014/main" id="{97029F2D-A073-447B-A6D4-5A3D3CF505B5}"/>
                </a:ext>
              </a:extLst>
            </p:cNvPr>
            <p:cNvSpPr/>
            <p:nvPr/>
          </p:nvSpPr>
          <p:spPr bwMode="gray">
            <a:xfrm>
              <a:off x="1085492" y="2914007"/>
              <a:ext cx="1708604"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应用业务设计</a:t>
              </a:r>
            </a:p>
          </p:txBody>
        </p:sp>
        <p:cxnSp>
          <p:nvCxnSpPr>
            <p:cNvPr id="290" name="直接连接符 133">
              <a:extLst>
                <a:ext uri="{FF2B5EF4-FFF2-40B4-BE49-F238E27FC236}">
                  <a16:creationId xmlns:a16="http://schemas.microsoft.com/office/drawing/2014/main" id="{CF7DD835-B545-4379-B82F-6DFEF2EFD23D}"/>
                </a:ext>
              </a:extLst>
            </p:cNvPr>
            <p:cNvCxnSpPr>
              <a:cxnSpLocks/>
              <a:stCxn id="222" idx="0"/>
            </p:cNvCxnSpPr>
            <p:nvPr/>
          </p:nvCxnSpPr>
          <p:spPr bwMode="gray">
            <a:xfrm flipV="1">
              <a:off x="4051305" y="2800318"/>
              <a:ext cx="0" cy="2021596"/>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291" name="直接连接符 133">
              <a:extLst>
                <a:ext uri="{FF2B5EF4-FFF2-40B4-BE49-F238E27FC236}">
                  <a16:creationId xmlns:a16="http://schemas.microsoft.com/office/drawing/2014/main" id="{F7DC1E4A-85A7-40BD-BC0E-314E5E97CD4B}"/>
                </a:ext>
              </a:extLst>
            </p:cNvPr>
            <p:cNvCxnSpPr>
              <a:cxnSpLocks/>
              <a:stCxn id="225" idx="0"/>
            </p:cNvCxnSpPr>
            <p:nvPr/>
          </p:nvCxnSpPr>
          <p:spPr bwMode="gray">
            <a:xfrm flipV="1">
              <a:off x="8306395" y="2800318"/>
              <a:ext cx="0" cy="2039766"/>
            </a:xfrm>
            <a:prstGeom prst="line">
              <a:avLst/>
            </a:prstGeom>
            <a:ln w="12700">
              <a:prstDash val="dash"/>
            </a:ln>
          </p:spPr>
          <p:style>
            <a:lnRef idx="3">
              <a:schemeClr val="dk1"/>
            </a:lnRef>
            <a:fillRef idx="0">
              <a:schemeClr val="dk1"/>
            </a:fillRef>
            <a:effectRef idx="2">
              <a:schemeClr val="dk1"/>
            </a:effectRef>
            <a:fontRef idx="minor">
              <a:schemeClr val="tx1"/>
            </a:fontRef>
          </p:style>
        </p:cxnSp>
        <p:sp>
          <p:nvSpPr>
            <p:cNvPr id="294" name="Rectangle: Rounded Corners 293">
              <a:extLst>
                <a:ext uri="{FF2B5EF4-FFF2-40B4-BE49-F238E27FC236}">
                  <a16:creationId xmlns:a16="http://schemas.microsoft.com/office/drawing/2014/main" id="{C529A855-6DC4-4C7A-9C68-BEC19E8E5459}"/>
                </a:ext>
              </a:extLst>
            </p:cNvPr>
            <p:cNvSpPr/>
            <p:nvPr/>
          </p:nvSpPr>
          <p:spPr bwMode="gray">
            <a:xfrm rot="21583743">
              <a:off x="2982557" y="2802444"/>
              <a:ext cx="899637" cy="285036"/>
            </a:xfrm>
            <a:prstGeom prst="roundRect">
              <a:avLst>
                <a:gd name="adj" fmla="val 5419"/>
              </a:avLst>
            </a:prstGeom>
            <a:solidFill>
              <a:srgbClr val="56C4D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zh-CN" altLang="en-US" sz="1200">
                  <a:solidFill>
                    <a:schemeClr val="tx1"/>
                  </a:solidFill>
                </a:rPr>
                <a:t>业务 </a:t>
              </a:r>
              <a:r>
                <a:rPr lang="en-US" altLang="zh-CN" sz="1200">
                  <a:solidFill>
                    <a:schemeClr val="tx1"/>
                  </a:solidFill>
                </a:rPr>
                <a:t>1</a:t>
              </a:r>
              <a:endParaRPr lang="en-US" sz="1200" dirty="0">
                <a:solidFill>
                  <a:schemeClr val="tx1"/>
                </a:solidFill>
              </a:endParaRPr>
            </a:p>
          </p:txBody>
        </p:sp>
        <p:sp>
          <p:nvSpPr>
            <p:cNvPr id="295" name="Rectangle: Rounded Corners 294">
              <a:extLst>
                <a:ext uri="{FF2B5EF4-FFF2-40B4-BE49-F238E27FC236}">
                  <a16:creationId xmlns:a16="http://schemas.microsoft.com/office/drawing/2014/main" id="{B4C959BB-9625-404F-AB9D-09935AE4702F}"/>
                </a:ext>
              </a:extLst>
            </p:cNvPr>
            <p:cNvSpPr/>
            <p:nvPr/>
          </p:nvSpPr>
          <p:spPr bwMode="gray">
            <a:xfrm rot="21583743">
              <a:off x="2982556" y="3209570"/>
              <a:ext cx="899637" cy="285036"/>
            </a:xfrm>
            <a:prstGeom prst="roundRect">
              <a:avLst>
                <a:gd name="adj" fmla="val 5419"/>
              </a:avLst>
            </a:prstGeom>
            <a:solidFill>
              <a:srgbClr val="E28189"/>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zh-CN" altLang="en-US" sz="1200">
                  <a:solidFill>
                    <a:schemeClr val="tx1"/>
                  </a:solidFill>
                </a:rPr>
                <a:t>业务 </a:t>
              </a:r>
              <a:r>
                <a:rPr lang="en-US" altLang="zh-CN" sz="1200">
                  <a:solidFill>
                    <a:schemeClr val="tx1"/>
                  </a:solidFill>
                </a:rPr>
                <a:t>2</a:t>
              </a:r>
              <a:endParaRPr lang="en-US" sz="1200" dirty="0">
                <a:solidFill>
                  <a:schemeClr val="tx1"/>
                </a:solidFill>
              </a:endParaRPr>
            </a:p>
          </p:txBody>
        </p:sp>
        <p:sp>
          <p:nvSpPr>
            <p:cNvPr id="296" name="Rectangle: Rounded Corners 295">
              <a:extLst>
                <a:ext uri="{FF2B5EF4-FFF2-40B4-BE49-F238E27FC236}">
                  <a16:creationId xmlns:a16="http://schemas.microsoft.com/office/drawing/2014/main" id="{6644F923-2323-4819-BFE8-45593F08594F}"/>
                </a:ext>
              </a:extLst>
            </p:cNvPr>
            <p:cNvSpPr/>
            <p:nvPr/>
          </p:nvSpPr>
          <p:spPr bwMode="gray">
            <a:xfrm rot="21583743">
              <a:off x="8462745" y="2811496"/>
              <a:ext cx="899637" cy="285036"/>
            </a:xfrm>
            <a:prstGeom prst="roundRect">
              <a:avLst>
                <a:gd name="adj" fmla="val 5419"/>
              </a:avLst>
            </a:prstGeom>
            <a:solidFill>
              <a:srgbClr val="56C4D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zh-CN" altLang="en-US" sz="1200">
                  <a:solidFill>
                    <a:schemeClr val="tx1"/>
                  </a:solidFill>
                </a:rPr>
                <a:t>业务 </a:t>
              </a:r>
              <a:r>
                <a:rPr lang="en-US" altLang="zh-CN" sz="1200">
                  <a:solidFill>
                    <a:schemeClr val="tx1"/>
                  </a:solidFill>
                </a:rPr>
                <a:t>1</a:t>
              </a:r>
              <a:endParaRPr lang="en-US" sz="1200" dirty="0">
                <a:solidFill>
                  <a:schemeClr val="tx1"/>
                </a:solidFill>
              </a:endParaRPr>
            </a:p>
          </p:txBody>
        </p:sp>
        <p:sp>
          <p:nvSpPr>
            <p:cNvPr id="297" name="Rectangle: Rounded Corners 296">
              <a:extLst>
                <a:ext uri="{FF2B5EF4-FFF2-40B4-BE49-F238E27FC236}">
                  <a16:creationId xmlns:a16="http://schemas.microsoft.com/office/drawing/2014/main" id="{02E0D351-985B-4FED-9FED-0423446F9456}"/>
                </a:ext>
              </a:extLst>
            </p:cNvPr>
            <p:cNvSpPr/>
            <p:nvPr/>
          </p:nvSpPr>
          <p:spPr bwMode="gray">
            <a:xfrm rot="21583743">
              <a:off x="8462744" y="3218622"/>
              <a:ext cx="899637" cy="285036"/>
            </a:xfrm>
            <a:prstGeom prst="roundRect">
              <a:avLst>
                <a:gd name="adj" fmla="val 5419"/>
              </a:avLst>
            </a:prstGeom>
            <a:solidFill>
              <a:srgbClr val="E28189"/>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zh-CN" altLang="en-US" sz="1200">
                  <a:solidFill>
                    <a:schemeClr val="tx1"/>
                  </a:solidFill>
                </a:rPr>
                <a:t>业务 </a:t>
              </a:r>
              <a:r>
                <a:rPr lang="en-US" altLang="zh-CN" sz="1200">
                  <a:solidFill>
                    <a:schemeClr val="tx1"/>
                  </a:solidFill>
                </a:rPr>
                <a:t>2</a:t>
              </a:r>
              <a:endParaRPr lang="en-US" sz="1200" dirty="0">
                <a:solidFill>
                  <a:schemeClr val="tx1"/>
                </a:solidFill>
              </a:endParaRPr>
            </a:p>
          </p:txBody>
        </p:sp>
        <p:sp>
          <p:nvSpPr>
            <p:cNvPr id="299" name="Can 225">
              <a:extLst>
                <a:ext uri="{FF2B5EF4-FFF2-40B4-BE49-F238E27FC236}">
                  <a16:creationId xmlns:a16="http://schemas.microsoft.com/office/drawing/2014/main" id="{EE34907A-A4D1-4604-A47C-FD840C172A1C}"/>
                </a:ext>
              </a:extLst>
            </p:cNvPr>
            <p:cNvSpPr/>
            <p:nvPr/>
          </p:nvSpPr>
          <p:spPr bwMode="gray">
            <a:xfrm rot="5400000">
              <a:off x="6072271" y="3151909"/>
              <a:ext cx="193925" cy="3807652"/>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1" name="Can 225">
              <a:extLst>
                <a:ext uri="{FF2B5EF4-FFF2-40B4-BE49-F238E27FC236}">
                  <a16:creationId xmlns:a16="http://schemas.microsoft.com/office/drawing/2014/main" id="{7FA14654-C38B-4406-B9C9-CC9A3DDD385A}"/>
                </a:ext>
              </a:extLst>
            </p:cNvPr>
            <p:cNvSpPr/>
            <p:nvPr/>
          </p:nvSpPr>
          <p:spPr bwMode="gray">
            <a:xfrm rot="6352182">
              <a:off x="6415306" y="3010401"/>
              <a:ext cx="193925" cy="3150052"/>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2" name="Can 225">
              <a:extLst>
                <a:ext uri="{FF2B5EF4-FFF2-40B4-BE49-F238E27FC236}">
                  <a16:creationId xmlns:a16="http://schemas.microsoft.com/office/drawing/2014/main" id="{26864791-F71D-491C-A580-AD506815465A}"/>
                </a:ext>
              </a:extLst>
            </p:cNvPr>
            <p:cNvSpPr/>
            <p:nvPr/>
          </p:nvSpPr>
          <p:spPr bwMode="gray">
            <a:xfrm rot="5400000">
              <a:off x="6117882" y="2939142"/>
              <a:ext cx="193925" cy="2429120"/>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9" name="Group 8">
              <a:extLst>
                <a:ext uri="{FF2B5EF4-FFF2-40B4-BE49-F238E27FC236}">
                  <a16:creationId xmlns:a16="http://schemas.microsoft.com/office/drawing/2014/main" id="{C60A5F89-CBDC-4DAE-85BB-FD911100DCEF}"/>
                </a:ext>
              </a:extLst>
            </p:cNvPr>
            <p:cNvGrpSpPr/>
            <p:nvPr/>
          </p:nvGrpSpPr>
          <p:grpSpPr bwMode="gray">
            <a:xfrm rot="20672476">
              <a:off x="4188362" y="4475538"/>
              <a:ext cx="3319613" cy="276999"/>
              <a:chOff x="4871816" y="4190927"/>
              <a:chExt cx="3319613" cy="276999"/>
            </a:xfrm>
          </p:grpSpPr>
          <p:sp>
            <p:nvSpPr>
              <p:cNvPr id="292" name="Can 225">
                <a:extLst>
                  <a:ext uri="{FF2B5EF4-FFF2-40B4-BE49-F238E27FC236}">
                    <a16:creationId xmlns:a16="http://schemas.microsoft.com/office/drawing/2014/main" id="{45F924F0-B122-4B6A-8050-99BA58958306}"/>
                  </a:ext>
                </a:extLst>
              </p:cNvPr>
              <p:cNvSpPr/>
              <p:nvPr/>
            </p:nvSpPr>
            <p:spPr bwMode="gray">
              <a:xfrm rot="5400000">
                <a:off x="6434660" y="2674421"/>
                <a:ext cx="193925" cy="3319613"/>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3" name="文本框 60">
                <a:extLst>
                  <a:ext uri="{FF2B5EF4-FFF2-40B4-BE49-F238E27FC236}">
                    <a16:creationId xmlns:a16="http://schemas.microsoft.com/office/drawing/2014/main" id="{71D83756-D6AA-49BC-BE7B-7E0B067D1A9B}"/>
                  </a:ext>
                </a:extLst>
              </p:cNvPr>
              <p:cNvSpPr txBox="1"/>
              <p:nvPr/>
            </p:nvSpPr>
            <p:spPr bwMode="gray">
              <a:xfrm>
                <a:off x="5400579" y="4190927"/>
                <a:ext cx="249240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a:t>
                </a:r>
                <a:r>
                  <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或</a:t>
                </a:r>
                <a:r>
                  <a:rPr lang="en-US" altLang="zh-CN"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 over IPsec</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303" name="TextBox 153">
              <a:extLst>
                <a:ext uri="{FF2B5EF4-FFF2-40B4-BE49-F238E27FC236}">
                  <a16:creationId xmlns:a16="http://schemas.microsoft.com/office/drawing/2014/main" id="{804860F0-8125-4F76-B997-17BF17E49059}"/>
                </a:ext>
              </a:extLst>
            </p:cNvPr>
            <p:cNvSpPr txBox="1"/>
            <p:nvPr/>
          </p:nvSpPr>
          <p:spPr bwMode="gray">
            <a:xfrm>
              <a:off x="4101687" y="3217897"/>
              <a:ext cx="4187290" cy="276999"/>
            </a:xfrm>
            <a:prstGeom prst="rect">
              <a:avLst/>
            </a:prstGeom>
            <a:solidFill>
              <a:srgbClr val="E28189"/>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en-US"/>
              </a:defPPr>
              <a:lvl1pPr algn="ctr">
                <a:defRPr sz="12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dirty="0">
                  <a:sym typeface="微软雅黑" panose="020B0503020204020204" pitchFamily="34" charset="-122"/>
                </a:rPr>
                <a:t>业务</a:t>
              </a:r>
              <a:r>
                <a:rPr lang="en-US" altLang="zh-CN" dirty="0">
                  <a:sym typeface="微软雅黑" panose="020B0503020204020204" pitchFamily="34" charset="-122"/>
                </a:rPr>
                <a:t>2-SLA</a:t>
              </a:r>
              <a:r>
                <a:rPr lang="zh-CN" altLang="en-US" dirty="0">
                  <a:sym typeface="微软雅黑" panose="020B0503020204020204" pitchFamily="34" charset="-122"/>
                </a:rPr>
                <a:t>：时延</a:t>
              </a:r>
              <a:r>
                <a:rPr lang="en-US" altLang="zh-CN" dirty="0">
                  <a:sym typeface="微软雅黑" panose="020B0503020204020204" pitchFamily="34" charset="-122"/>
                </a:rPr>
                <a:t>150 </a:t>
              </a:r>
              <a:r>
                <a:rPr lang="en-US" altLang="zh-CN" dirty="0" err="1">
                  <a:sym typeface="微软雅黑" panose="020B0503020204020204" pitchFamily="34" charset="-122"/>
                </a:rPr>
                <a:t>ms</a:t>
              </a:r>
              <a:r>
                <a:rPr lang="zh-CN" altLang="en-US" dirty="0">
                  <a:sym typeface="微软雅黑" panose="020B0503020204020204" pitchFamily="34" charset="-122"/>
                </a:rPr>
                <a:t>，抖动</a:t>
              </a:r>
              <a:r>
                <a:rPr lang="en-US" altLang="zh-CN" dirty="0">
                  <a:sym typeface="微软雅黑" panose="020B0503020204020204" pitchFamily="34" charset="-122"/>
                </a:rPr>
                <a:t>10%</a:t>
              </a:r>
              <a:r>
                <a:rPr lang="zh-CN" altLang="en-US" dirty="0">
                  <a:sym typeface="微软雅黑" panose="020B0503020204020204" pitchFamily="34" charset="-122"/>
                </a:rPr>
                <a:t>，丢包</a:t>
              </a:r>
              <a:r>
                <a:rPr lang="en-US" altLang="zh-CN" dirty="0">
                  <a:sym typeface="微软雅黑" panose="020B0503020204020204" pitchFamily="34" charset="-122"/>
                </a:rPr>
                <a:t>10%</a:t>
              </a:r>
              <a:r>
                <a:rPr lang="zh-CN" altLang="en-US" dirty="0">
                  <a:sym typeface="微软雅黑" panose="020B0503020204020204" pitchFamily="34" charset="-122"/>
                </a:rPr>
                <a:t>，优先</a:t>
              </a:r>
              <a:r>
                <a:rPr lang="en-US" altLang="zh-CN" dirty="0">
                  <a:sym typeface="微软雅黑" panose="020B0503020204020204" pitchFamily="34" charset="-122"/>
                </a:rPr>
                <a:t>TN2</a:t>
              </a:r>
              <a:endParaRPr lang="zh-CN" altLang="en-US" dirty="0">
                <a:sym typeface="微软雅黑" panose="020B0503020204020204" pitchFamily="34" charset="-122"/>
              </a:endParaRPr>
            </a:p>
          </p:txBody>
        </p:sp>
        <p:sp>
          <p:nvSpPr>
            <p:cNvPr id="304" name="TextBox 153">
              <a:extLst>
                <a:ext uri="{FF2B5EF4-FFF2-40B4-BE49-F238E27FC236}">
                  <a16:creationId xmlns:a16="http://schemas.microsoft.com/office/drawing/2014/main" id="{4E59D990-76C6-4F3C-93B8-66A3C361AFDF}"/>
                </a:ext>
              </a:extLst>
            </p:cNvPr>
            <p:cNvSpPr txBox="1"/>
            <p:nvPr/>
          </p:nvSpPr>
          <p:spPr bwMode="gray">
            <a:xfrm>
              <a:off x="4098779" y="2820687"/>
              <a:ext cx="4190198" cy="276999"/>
            </a:xfrm>
            <a:prstGeom prst="rect">
              <a:avLst/>
            </a:prstGeom>
            <a:solidFill>
              <a:srgbClr val="56C4D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en-US"/>
              </a:defPPr>
              <a:lvl1pPr algn="ctr">
                <a:defRPr sz="12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dirty="0">
                  <a:sym typeface="微软雅黑" panose="020B0503020204020204" pitchFamily="34" charset="-122"/>
                </a:rPr>
                <a:t>业务</a:t>
              </a:r>
              <a:r>
                <a:rPr lang="en-US" altLang="zh-CN" dirty="0">
                  <a:sym typeface="微软雅黑" panose="020B0503020204020204" pitchFamily="34" charset="-122"/>
                </a:rPr>
                <a:t>1-SLA</a:t>
              </a:r>
              <a:r>
                <a:rPr lang="zh-CN" altLang="en-US" dirty="0">
                  <a:sym typeface="微软雅黑" panose="020B0503020204020204" pitchFamily="34" charset="-122"/>
                </a:rPr>
                <a:t>：时延</a:t>
              </a:r>
              <a:r>
                <a:rPr lang="en-US" altLang="zh-CN" dirty="0">
                  <a:sym typeface="微软雅黑" panose="020B0503020204020204" pitchFamily="34" charset="-122"/>
                </a:rPr>
                <a:t>50 </a:t>
              </a:r>
              <a:r>
                <a:rPr lang="en-US" altLang="zh-CN" dirty="0" err="1">
                  <a:sym typeface="微软雅黑" panose="020B0503020204020204" pitchFamily="34" charset="-122"/>
                </a:rPr>
                <a:t>ms</a:t>
              </a:r>
              <a:r>
                <a:rPr lang="zh-CN" altLang="en-US" dirty="0">
                  <a:sym typeface="微软雅黑" panose="020B0503020204020204" pitchFamily="34" charset="-122"/>
                </a:rPr>
                <a:t>，抖动</a:t>
              </a:r>
              <a:r>
                <a:rPr lang="en-US" altLang="zh-CN" dirty="0">
                  <a:sym typeface="微软雅黑" panose="020B0503020204020204" pitchFamily="34" charset="-122"/>
                </a:rPr>
                <a:t>5%</a:t>
              </a:r>
              <a:r>
                <a:rPr lang="zh-CN" altLang="en-US" dirty="0">
                  <a:sym typeface="微软雅黑" panose="020B0503020204020204" pitchFamily="34" charset="-122"/>
                </a:rPr>
                <a:t>，丢包</a:t>
              </a:r>
              <a:r>
                <a:rPr lang="en-US" altLang="zh-CN" dirty="0">
                  <a:sym typeface="微软雅黑" panose="020B0503020204020204" pitchFamily="34" charset="-122"/>
                </a:rPr>
                <a:t>5%</a:t>
              </a:r>
              <a:r>
                <a:rPr lang="zh-CN" altLang="en-US" dirty="0">
                  <a:sym typeface="微软雅黑" panose="020B0503020204020204" pitchFamily="34" charset="-122"/>
                </a:rPr>
                <a:t>，优先</a:t>
              </a:r>
              <a:r>
                <a:rPr lang="en-US" altLang="zh-CN" dirty="0">
                  <a:sym typeface="微软雅黑" panose="020B0503020204020204" pitchFamily="34" charset="-122"/>
                </a:rPr>
                <a:t>TN1</a:t>
              </a:r>
              <a:endParaRPr lang="zh-CN" altLang="en-US" dirty="0">
                <a:sym typeface="微软雅黑" panose="020B0503020204020204" pitchFamily="34" charset="-122"/>
              </a:endParaRPr>
            </a:p>
          </p:txBody>
        </p:sp>
        <p:sp>
          <p:nvSpPr>
            <p:cNvPr id="71" name="Freeform 159">
              <a:extLst>
                <a:ext uri="{FF2B5EF4-FFF2-40B4-BE49-F238E27FC236}">
                  <a16:creationId xmlns:a16="http://schemas.microsoft.com/office/drawing/2014/main" id="{D91A4B5A-3DF8-466C-95B8-31E45263336A}"/>
                </a:ext>
              </a:extLst>
            </p:cNvPr>
            <p:cNvSpPr/>
            <p:nvPr/>
          </p:nvSpPr>
          <p:spPr bwMode="gray">
            <a:xfrm flipH="1">
              <a:off x="5660602" y="5253040"/>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2" name="直接连接符 133">
              <a:extLst>
                <a:ext uri="{FF2B5EF4-FFF2-40B4-BE49-F238E27FC236}">
                  <a16:creationId xmlns:a16="http://schemas.microsoft.com/office/drawing/2014/main" id="{A69D1CDE-8F84-4D4A-B108-8F2BAE7547E0}"/>
                </a:ext>
              </a:extLst>
            </p:cNvPr>
            <p:cNvCxnSpPr>
              <a:cxnSpLocks/>
              <a:stCxn id="222" idx="2"/>
              <a:endCxn id="71" idx="21"/>
            </p:cNvCxnSpPr>
            <p:nvPr/>
          </p:nvCxnSpPr>
          <p:spPr bwMode="gray">
            <a:xfrm>
              <a:off x="4051305" y="5211222"/>
              <a:ext cx="1609297" cy="453854"/>
            </a:xfrm>
            <a:prstGeom prst="line">
              <a:avLst/>
            </a:prstGeom>
            <a:ln w="19050">
              <a:solidFill>
                <a:srgbClr val="00B0F0"/>
              </a:solidFill>
              <a:prstDash val="solid"/>
            </a:ln>
          </p:spPr>
          <p:style>
            <a:lnRef idx="3">
              <a:schemeClr val="dk1"/>
            </a:lnRef>
            <a:fillRef idx="0">
              <a:schemeClr val="dk1"/>
            </a:fillRef>
            <a:effectRef idx="2">
              <a:schemeClr val="dk1"/>
            </a:effectRef>
            <a:fontRef idx="minor">
              <a:schemeClr val="tx1"/>
            </a:fontRef>
          </p:style>
        </p:cxnSp>
        <p:cxnSp>
          <p:nvCxnSpPr>
            <p:cNvPr id="76" name="直接连接符 133">
              <a:extLst>
                <a:ext uri="{FF2B5EF4-FFF2-40B4-BE49-F238E27FC236}">
                  <a16:creationId xmlns:a16="http://schemas.microsoft.com/office/drawing/2014/main" id="{6E4C9012-300C-48B2-ABB0-929436CD74B1}"/>
                </a:ext>
              </a:extLst>
            </p:cNvPr>
            <p:cNvCxnSpPr>
              <a:cxnSpLocks/>
              <a:stCxn id="225" idx="2"/>
              <a:endCxn id="71" idx="8"/>
            </p:cNvCxnSpPr>
            <p:nvPr/>
          </p:nvCxnSpPr>
          <p:spPr bwMode="gray">
            <a:xfrm flipH="1">
              <a:off x="6784899" y="5229392"/>
              <a:ext cx="1521496" cy="424988"/>
            </a:xfrm>
            <a:prstGeom prst="line">
              <a:avLst/>
            </a:prstGeom>
            <a:ln w="19050">
              <a:solidFill>
                <a:srgbClr val="00B0F0"/>
              </a:solidFill>
              <a:prstDash val="solid"/>
            </a:ln>
          </p:spPr>
          <p:style>
            <a:lnRef idx="3">
              <a:schemeClr val="dk1"/>
            </a:lnRef>
            <a:fillRef idx="0">
              <a:schemeClr val="dk1"/>
            </a:fillRef>
            <a:effectRef idx="2">
              <a:schemeClr val="dk1"/>
            </a:effectRef>
            <a:fontRef idx="minor">
              <a:schemeClr val="tx1"/>
            </a:fontRef>
          </p:style>
        </p:cxnSp>
        <p:sp>
          <p:nvSpPr>
            <p:cNvPr id="69" name="圆角矩形 75">
              <a:extLst>
                <a:ext uri="{FF2B5EF4-FFF2-40B4-BE49-F238E27FC236}">
                  <a16:creationId xmlns:a16="http://schemas.microsoft.com/office/drawing/2014/main" id="{4FB2CC19-290A-44AD-A990-9183EDB26EEE}"/>
                </a:ext>
              </a:extLst>
            </p:cNvPr>
            <p:cNvSpPr/>
            <p:nvPr/>
          </p:nvSpPr>
          <p:spPr bwMode="gray">
            <a:xfrm>
              <a:off x="6248384" y="5846443"/>
              <a:ext cx="1684609" cy="424988"/>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网络业务设计</a:t>
              </a:r>
            </a:p>
          </p:txBody>
        </p:sp>
        <p:sp>
          <p:nvSpPr>
            <p:cNvPr id="47" name="Freeform 159">
              <a:extLst>
                <a:ext uri="{FF2B5EF4-FFF2-40B4-BE49-F238E27FC236}">
                  <a16:creationId xmlns:a16="http://schemas.microsoft.com/office/drawing/2014/main" id="{E34902AE-ED57-475C-9F4C-D8EC971D600F}"/>
                </a:ext>
              </a:extLst>
            </p:cNvPr>
            <p:cNvSpPr/>
            <p:nvPr/>
          </p:nvSpPr>
          <p:spPr bwMode="gray">
            <a:xfrm flipH="1">
              <a:off x="8511668" y="5545181"/>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传统网络</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8" name="图片 25">
              <a:extLst>
                <a:ext uri="{FF2B5EF4-FFF2-40B4-BE49-F238E27FC236}">
                  <a16:creationId xmlns:a16="http://schemas.microsoft.com/office/drawing/2014/main" id="{4D1B6634-8743-4B27-8651-12DEC3C5C5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235323" y="5742815"/>
              <a:ext cx="466668" cy="385001"/>
            </a:xfrm>
            <a:prstGeom prst="rect">
              <a:avLst/>
            </a:prstGeom>
          </p:spPr>
        </p:pic>
        <p:cxnSp>
          <p:nvCxnSpPr>
            <p:cNvPr id="49" name="直接连接符 133">
              <a:extLst>
                <a:ext uri="{FF2B5EF4-FFF2-40B4-BE49-F238E27FC236}">
                  <a16:creationId xmlns:a16="http://schemas.microsoft.com/office/drawing/2014/main" id="{CD31C373-CC8B-4B4C-9BC1-E3515F912A33}"/>
                </a:ext>
              </a:extLst>
            </p:cNvPr>
            <p:cNvCxnSpPr>
              <a:cxnSpLocks/>
              <a:stCxn id="225" idx="2"/>
              <a:endCxn id="48" idx="0"/>
            </p:cNvCxnSpPr>
            <p:nvPr/>
          </p:nvCxnSpPr>
          <p:spPr bwMode="gray">
            <a:xfrm>
              <a:off x="8306395" y="5229392"/>
              <a:ext cx="162262" cy="511270"/>
            </a:xfrm>
            <a:prstGeom prst="line">
              <a:avLst/>
            </a:prstGeom>
            <a:ln w="19050">
              <a:solidFill>
                <a:srgbClr val="00B0F0"/>
              </a:solidFill>
              <a:prstDash val="solid"/>
            </a:ln>
          </p:spPr>
          <p:style>
            <a:lnRef idx="3">
              <a:schemeClr val="dk1"/>
            </a:lnRef>
            <a:fillRef idx="0">
              <a:schemeClr val="dk1"/>
            </a:fillRef>
            <a:effectRef idx="2">
              <a:schemeClr val="dk1"/>
            </a:effectRef>
            <a:fontRef idx="minor">
              <a:schemeClr val="tx1"/>
            </a:fontRef>
          </p:style>
        </p:cxnSp>
        <p:sp>
          <p:nvSpPr>
            <p:cNvPr id="52" name="文本框 18">
              <a:extLst>
                <a:ext uri="{FF2B5EF4-FFF2-40B4-BE49-F238E27FC236}">
                  <a16:creationId xmlns:a16="http://schemas.microsoft.com/office/drawing/2014/main" id="{C5A73246-CFED-45B2-8C16-7B4DEAB3B3B1}"/>
                </a:ext>
              </a:extLst>
            </p:cNvPr>
            <p:cNvSpPr txBox="1"/>
            <p:nvPr/>
          </p:nvSpPr>
          <p:spPr bwMode="gray">
            <a:xfrm>
              <a:off x="7846443" y="5788207"/>
              <a:ext cx="459952" cy="276999"/>
            </a:xfrm>
            <a:prstGeom prst="rect">
              <a:avLst/>
            </a:prstGeom>
            <a:noFill/>
          </p:spPr>
          <p:txBody>
            <a:bodyPr wrap="square" rtlCol="0">
              <a:spAutoFit/>
            </a:bodyPr>
            <a:lstStyle/>
            <a:p>
              <a:pPr algn="ctr"/>
              <a:r>
                <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GW</a:t>
              </a:r>
              <a:endParaRPr lang="zh-CN" altLang="en-US" sz="1200" b="1"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5718139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DA22D1-2C48-4679-829A-16DA9A803EC9}"/>
              </a:ext>
            </a:extLst>
          </p:cNvPr>
          <p:cNvSpPr>
            <a:spLocks noGrp="1"/>
          </p:cNvSpPr>
          <p:nvPr>
            <p:ph type="title"/>
          </p:nvPr>
        </p:nvSpPr>
        <p:spPr bwMode="gray"/>
        <p:txBody>
          <a:bodyPr/>
          <a:lstStyle/>
          <a:p>
            <a:r>
              <a:rPr lang="zh-CN" altLang="en-US" dirty="0"/>
              <a:t>华为</a:t>
            </a:r>
            <a:r>
              <a:rPr lang="en-US" altLang="zh-CN" dirty="0"/>
              <a:t>SD-WAN</a:t>
            </a:r>
            <a:r>
              <a:rPr lang="zh-CN" altLang="en-US" dirty="0"/>
              <a:t>业务设计思路</a:t>
            </a:r>
            <a:endParaRPr lang="en-US" dirty="0"/>
          </a:p>
        </p:txBody>
      </p:sp>
      <p:sp>
        <p:nvSpPr>
          <p:cNvPr id="58" name="圆角矩形 3">
            <a:extLst>
              <a:ext uri="{FF2B5EF4-FFF2-40B4-BE49-F238E27FC236}">
                <a16:creationId xmlns:a16="http://schemas.microsoft.com/office/drawing/2014/main" id="{4ED66F89-6ED3-42CA-980E-8D218B3D94B8}"/>
              </a:ext>
            </a:extLst>
          </p:cNvPr>
          <p:cNvSpPr/>
          <p:nvPr/>
        </p:nvSpPr>
        <p:spPr bwMode="gray">
          <a:xfrm>
            <a:off x="3053200" y="1480714"/>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应用</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业务设计</a:t>
            </a:r>
          </a:p>
        </p:txBody>
      </p:sp>
      <p:sp>
        <p:nvSpPr>
          <p:cNvPr id="59" name="圆角矩形 4">
            <a:extLst>
              <a:ext uri="{FF2B5EF4-FFF2-40B4-BE49-F238E27FC236}">
                <a16:creationId xmlns:a16="http://schemas.microsoft.com/office/drawing/2014/main" id="{AF71656F-1AA7-49E6-BB16-79D96BCB86CA}"/>
              </a:ext>
            </a:extLst>
          </p:cNvPr>
          <p:cNvSpPr/>
          <p:nvPr/>
        </p:nvSpPr>
        <p:spPr bwMode="gray">
          <a:xfrm>
            <a:off x="3053200" y="1971541"/>
            <a:ext cx="2789367" cy="2400434"/>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5">
            <a:extLst>
              <a:ext uri="{FF2B5EF4-FFF2-40B4-BE49-F238E27FC236}">
                <a16:creationId xmlns:a16="http://schemas.microsoft.com/office/drawing/2014/main" id="{B84320CC-7B6E-448A-9D03-231BDDB0B47C}"/>
              </a:ext>
            </a:extLst>
          </p:cNvPr>
          <p:cNvSpPr/>
          <p:nvPr/>
        </p:nvSpPr>
        <p:spPr bwMode="gray">
          <a:xfrm>
            <a:off x="3264818" y="2115948"/>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智能选路设计</a:t>
            </a:r>
          </a:p>
        </p:txBody>
      </p:sp>
      <p:sp>
        <p:nvSpPr>
          <p:cNvPr id="62" name="圆角矩形 9">
            <a:extLst>
              <a:ext uri="{FF2B5EF4-FFF2-40B4-BE49-F238E27FC236}">
                <a16:creationId xmlns:a16="http://schemas.microsoft.com/office/drawing/2014/main" id="{974218D8-2D58-43CE-B082-AA48CD716142}"/>
              </a:ext>
            </a:extLst>
          </p:cNvPr>
          <p:cNvSpPr/>
          <p:nvPr/>
        </p:nvSpPr>
        <p:spPr bwMode="gray">
          <a:xfrm>
            <a:off x="6384315" y="1480714"/>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a:t>
            </a:r>
            <a:r>
              <a:rPr lang="zh-CN" altLang="en-US"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网络</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业务设计</a:t>
            </a:r>
          </a:p>
        </p:txBody>
      </p:sp>
      <p:sp>
        <p:nvSpPr>
          <p:cNvPr id="63" name="圆角矩形 10">
            <a:extLst>
              <a:ext uri="{FF2B5EF4-FFF2-40B4-BE49-F238E27FC236}">
                <a16:creationId xmlns:a16="http://schemas.microsoft.com/office/drawing/2014/main" id="{1AD1AE9F-7C1F-4740-B480-FB10EBBF7249}"/>
              </a:ext>
            </a:extLst>
          </p:cNvPr>
          <p:cNvSpPr/>
          <p:nvPr/>
        </p:nvSpPr>
        <p:spPr bwMode="gray">
          <a:xfrm>
            <a:off x="6384315" y="1971542"/>
            <a:ext cx="2789367" cy="2400433"/>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圆角矩形 6">
            <a:extLst>
              <a:ext uri="{FF2B5EF4-FFF2-40B4-BE49-F238E27FC236}">
                <a16:creationId xmlns:a16="http://schemas.microsoft.com/office/drawing/2014/main" id="{0FD11917-2261-4FB8-AE36-2CEC60EDCAC4}"/>
              </a:ext>
            </a:extLst>
          </p:cNvPr>
          <p:cNvSpPr/>
          <p:nvPr/>
        </p:nvSpPr>
        <p:spPr bwMode="gray">
          <a:xfrm>
            <a:off x="3264818" y="3245621"/>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丢包优化设计</a:t>
            </a:r>
          </a:p>
        </p:txBody>
      </p:sp>
      <p:sp>
        <p:nvSpPr>
          <p:cNvPr id="16" name="圆角矩形 11">
            <a:extLst>
              <a:ext uri="{FF2B5EF4-FFF2-40B4-BE49-F238E27FC236}">
                <a16:creationId xmlns:a16="http://schemas.microsoft.com/office/drawing/2014/main" id="{E601D290-EB47-429A-A8A8-F3126767711D}"/>
              </a:ext>
            </a:extLst>
          </p:cNvPr>
          <p:cNvSpPr/>
          <p:nvPr/>
        </p:nvSpPr>
        <p:spPr bwMode="gray">
          <a:xfrm>
            <a:off x="6595933" y="2115164"/>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17" name="圆角矩形 6">
            <a:extLst>
              <a:ext uri="{FF2B5EF4-FFF2-40B4-BE49-F238E27FC236}">
                <a16:creationId xmlns:a16="http://schemas.microsoft.com/office/drawing/2014/main" id="{10FA005B-CC94-4F42-A90A-C7DB7AD8AF07}"/>
              </a:ext>
            </a:extLst>
          </p:cNvPr>
          <p:cNvSpPr/>
          <p:nvPr/>
        </p:nvSpPr>
        <p:spPr bwMode="gray">
          <a:xfrm>
            <a:off x="3264818" y="2680784"/>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23" name="圆角矩形 11">
            <a:extLst>
              <a:ext uri="{FF2B5EF4-FFF2-40B4-BE49-F238E27FC236}">
                <a16:creationId xmlns:a16="http://schemas.microsoft.com/office/drawing/2014/main" id="{DE76D90E-9595-48CB-B561-0F547FE2F7A1}"/>
              </a:ext>
            </a:extLst>
          </p:cNvPr>
          <p:cNvSpPr/>
          <p:nvPr/>
        </p:nvSpPr>
        <p:spPr bwMode="gray">
          <a:xfrm>
            <a:off x="6595933" y="2664514"/>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40238127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2000" dirty="0">
                <a:solidFill>
                  <a:schemeClr val="bg1">
                    <a:lumMod val="50000"/>
                  </a:schemeClr>
                </a:solidFill>
              </a:rPr>
              <a:t>企业广域互联网络趋势与挑战</a:t>
            </a:r>
            <a:endParaRPr lang="en-US" altLang="zh-CN" sz="20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解决方案概述</a:t>
            </a:r>
            <a:endParaRPr lang="en-US" altLang="zh-CN" sz="2000" dirty="0">
              <a:solidFill>
                <a:schemeClr val="bg1">
                  <a:lumMod val="50000"/>
                </a:schemeClr>
              </a:solidFill>
            </a:endParaRPr>
          </a:p>
          <a:p>
            <a:pPr>
              <a:buFont typeface="+mj-lt"/>
              <a:buAutoNum type="arabicPeriod" startAt="3"/>
            </a:pPr>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组网设计</a:t>
            </a:r>
            <a:endParaRPr lang="en-US" altLang="zh-CN" sz="2000" dirty="0">
              <a:solidFill>
                <a:schemeClr val="bg1">
                  <a:lumMod val="50000"/>
                </a:schemeClr>
              </a:solidFill>
            </a:endParaRPr>
          </a:p>
          <a:p>
            <a:pPr>
              <a:buAutoNum type="arabicPeriod" startAt="3"/>
            </a:pPr>
            <a:r>
              <a:rPr lang="zh-CN" altLang="en-US" sz="2000" b="1" dirty="0"/>
              <a:t>华为</a:t>
            </a:r>
            <a:r>
              <a:rPr lang="en-US" altLang="zh-CN" sz="2000" b="1" dirty="0"/>
              <a:t>SD-WAN</a:t>
            </a:r>
            <a:r>
              <a:rPr lang="zh-CN" altLang="en-US" sz="2000" b="1" dirty="0"/>
              <a:t>业务设计</a:t>
            </a:r>
            <a:endParaRPr lang="en-US" altLang="zh-CN" sz="2000" b="1" dirty="0"/>
          </a:p>
          <a:p>
            <a:pPr lvl="1"/>
            <a:r>
              <a:rPr lang="en-US" altLang="zh-CN" sz="1800" dirty="0">
                <a:solidFill>
                  <a:schemeClr val="bg1">
                    <a:lumMod val="50000"/>
                  </a:schemeClr>
                </a:solidFill>
              </a:rPr>
              <a:t>SD-WAN</a:t>
            </a:r>
            <a:r>
              <a:rPr lang="zh-CN" altLang="en-US" sz="1800" dirty="0">
                <a:solidFill>
                  <a:schemeClr val="bg1">
                    <a:lumMod val="50000"/>
                  </a:schemeClr>
                </a:solidFill>
              </a:rPr>
              <a:t>业务设计概览</a:t>
            </a:r>
            <a:endParaRPr lang="en-US" altLang="zh-CN" sz="1800" dirty="0">
              <a:solidFill>
                <a:schemeClr val="bg1">
                  <a:lumMod val="50000"/>
                </a:schemeClr>
              </a:solidFill>
            </a:endParaRPr>
          </a:p>
          <a:p>
            <a:pPr lvl="1">
              <a:buSzPct val="60000"/>
              <a:buFont typeface="Wingdings" panose="05000000000000000000" pitchFamily="2" charset="2"/>
              <a:buChar char="n"/>
            </a:pPr>
            <a:r>
              <a:rPr lang="en-US" altLang="zh-CN" sz="1800" dirty="0"/>
              <a:t>SD-WAN</a:t>
            </a:r>
            <a:r>
              <a:rPr lang="zh-CN" altLang="en-US" sz="1800" dirty="0"/>
              <a:t>应用业务设计</a:t>
            </a:r>
            <a:endParaRPr lang="en-US" altLang="zh-CN" sz="1800" dirty="0"/>
          </a:p>
          <a:p>
            <a:pPr lvl="1"/>
            <a:r>
              <a:rPr lang="en-US" altLang="zh-CN" sz="1800" dirty="0">
                <a:solidFill>
                  <a:schemeClr val="bg1">
                    <a:lumMod val="50000"/>
                  </a:schemeClr>
                </a:solidFill>
              </a:rPr>
              <a:t>SD-WAN</a:t>
            </a:r>
            <a:r>
              <a:rPr lang="zh-CN" altLang="en-US" sz="1800" dirty="0">
                <a:solidFill>
                  <a:schemeClr val="bg1">
                    <a:lumMod val="50000"/>
                  </a:schemeClr>
                </a:solidFill>
              </a:rPr>
              <a:t>网络业务设计</a:t>
            </a:r>
            <a:endParaRPr lang="en-US" altLang="zh-CN" sz="1800" dirty="0">
              <a:solidFill>
                <a:schemeClr val="bg1">
                  <a:lumMod val="50000"/>
                </a:schemeClr>
              </a:solidFill>
            </a:endParaRPr>
          </a:p>
          <a:p>
            <a:pPr>
              <a:buFont typeface="+mj-lt"/>
              <a:buAutoNum type="arabicPeriod" startAt="5"/>
            </a:pPr>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可靠性与安全设计</a:t>
            </a:r>
          </a:p>
        </p:txBody>
      </p:sp>
    </p:spTree>
    <p:extLst>
      <p:ext uri="{BB962C8B-B14F-4D97-AF65-F5344CB8AC3E}">
        <p14:creationId xmlns:p14="http://schemas.microsoft.com/office/powerpoint/2010/main" val="24474900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5C4A9-0963-4EAB-837F-DF07110B0FB8}"/>
              </a:ext>
            </a:extLst>
          </p:cNvPr>
          <p:cNvSpPr>
            <a:spLocks noGrp="1"/>
          </p:cNvSpPr>
          <p:nvPr>
            <p:ph type="title"/>
          </p:nvPr>
        </p:nvSpPr>
        <p:spPr bwMode="gray"/>
        <p:txBody>
          <a:bodyPr/>
          <a:lstStyle/>
          <a:p>
            <a:r>
              <a:rPr lang="zh-CN" altLang="en-US" dirty="0"/>
              <a:t>应用业务设计全景图</a:t>
            </a:r>
            <a:endParaRPr lang="en-US" dirty="0"/>
          </a:p>
        </p:txBody>
      </p:sp>
      <p:sp>
        <p:nvSpPr>
          <p:cNvPr id="6" name="Text Placeholder 5">
            <a:extLst>
              <a:ext uri="{FF2B5EF4-FFF2-40B4-BE49-F238E27FC236}">
                <a16:creationId xmlns:a16="http://schemas.microsoft.com/office/drawing/2014/main" id="{927F85B1-79B1-42C6-A8E6-222C02421285}"/>
              </a:ext>
            </a:extLst>
          </p:cNvPr>
          <p:cNvSpPr>
            <a:spLocks noGrp="1"/>
          </p:cNvSpPr>
          <p:nvPr>
            <p:ph type="body" sz="quarter" idx="10"/>
          </p:nvPr>
        </p:nvSpPr>
        <p:spPr bwMode="gray"/>
        <p:txBody>
          <a:bodyPr/>
          <a:lstStyle/>
          <a:p>
            <a:r>
              <a:rPr lang="zh-CN" altLang="en-US" sz="1800" dirty="0"/>
              <a:t>企业应用种类繁多，常见的有生产类、协同类、娱乐类等各类应用。不同企业应用对带宽和链路质量要求各不相同。</a:t>
            </a:r>
            <a:endParaRPr lang="en-US" altLang="zh-CN" sz="1800" dirty="0"/>
          </a:p>
          <a:p>
            <a:r>
              <a:rPr lang="zh-CN" altLang="en-US" sz="1800" dirty="0"/>
              <a:t>应用业务设计一般可分为：</a:t>
            </a:r>
            <a:endParaRPr lang="en-US" altLang="zh-CN" sz="1800" dirty="0"/>
          </a:p>
          <a:p>
            <a:pPr lvl="1"/>
            <a:r>
              <a:rPr lang="zh-CN" altLang="en-US" sz="1600" dirty="0"/>
              <a:t>智能选路设计</a:t>
            </a:r>
            <a:endParaRPr lang="en-US" altLang="zh-CN" sz="1600" dirty="0"/>
          </a:p>
          <a:p>
            <a:pPr lvl="1"/>
            <a:r>
              <a:rPr lang="en-US" sz="1600" dirty="0"/>
              <a:t>Q</a:t>
            </a:r>
            <a:r>
              <a:rPr lang="en-US" altLang="zh-CN" sz="1600" dirty="0"/>
              <a:t>oS</a:t>
            </a:r>
            <a:r>
              <a:rPr lang="zh-CN" altLang="en-US" sz="1600" dirty="0"/>
              <a:t>设计</a:t>
            </a:r>
            <a:endParaRPr lang="en-US" altLang="zh-CN" sz="1600" dirty="0"/>
          </a:p>
          <a:p>
            <a:pPr lvl="1"/>
            <a:r>
              <a:rPr lang="zh-CN" altLang="en-US" sz="1600" dirty="0"/>
              <a:t>丢包优化设计</a:t>
            </a:r>
            <a:endParaRPr lang="en-US" sz="1600" dirty="0"/>
          </a:p>
        </p:txBody>
      </p:sp>
      <p:grpSp>
        <p:nvGrpSpPr>
          <p:cNvPr id="80" name="Group 79">
            <a:extLst>
              <a:ext uri="{FF2B5EF4-FFF2-40B4-BE49-F238E27FC236}">
                <a16:creationId xmlns:a16="http://schemas.microsoft.com/office/drawing/2014/main" id="{3495D75E-909F-422A-9932-6DF2E307B46B}"/>
              </a:ext>
            </a:extLst>
          </p:cNvPr>
          <p:cNvGrpSpPr/>
          <p:nvPr/>
        </p:nvGrpSpPr>
        <p:grpSpPr bwMode="gray">
          <a:xfrm>
            <a:off x="455613" y="3224380"/>
            <a:ext cx="11179858" cy="2940751"/>
            <a:chOff x="455613" y="3111366"/>
            <a:chExt cx="11179858" cy="2940751"/>
          </a:xfrm>
        </p:grpSpPr>
        <p:sp>
          <p:nvSpPr>
            <p:cNvPr id="22" name="Freeform 159">
              <a:extLst>
                <a:ext uri="{FF2B5EF4-FFF2-40B4-BE49-F238E27FC236}">
                  <a16:creationId xmlns:a16="http://schemas.microsoft.com/office/drawing/2014/main" id="{1310F8B2-621F-42D3-9323-AC5B1FB9CA99}"/>
                </a:ext>
              </a:extLst>
            </p:cNvPr>
            <p:cNvSpPr/>
            <p:nvPr/>
          </p:nvSpPr>
          <p:spPr bwMode="gray">
            <a:xfrm flipH="1">
              <a:off x="8316987" y="3611011"/>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MPLS</a:t>
              </a:r>
            </a:p>
          </p:txBody>
        </p:sp>
        <p:cxnSp>
          <p:nvCxnSpPr>
            <p:cNvPr id="23" name="Straight Connector 22">
              <a:extLst>
                <a:ext uri="{FF2B5EF4-FFF2-40B4-BE49-F238E27FC236}">
                  <a16:creationId xmlns:a16="http://schemas.microsoft.com/office/drawing/2014/main" id="{775D1B10-1F8A-42AA-BA6A-62FAD460BD54}"/>
                </a:ext>
              </a:extLst>
            </p:cNvPr>
            <p:cNvCxnSpPr>
              <a:cxnSpLocks/>
              <a:stCxn id="30" idx="0"/>
              <a:endCxn id="22" idx="21"/>
            </p:cNvCxnSpPr>
            <p:nvPr/>
          </p:nvCxnSpPr>
          <p:spPr bwMode="gray">
            <a:xfrm flipV="1">
              <a:off x="6959458" y="3944321"/>
              <a:ext cx="1357529" cy="280094"/>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5A46541-814D-4BFA-A75E-38CDA7392D51}"/>
                </a:ext>
              </a:extLst>
            </p:cNvPr>
            <p:cNvCxnSpPr>
              <a:cxnSpLocks/>
              <a:stCxn id="32" idx="0"/>
              <a:endCxn id="22" idx="8"/>
            </p:cNvCxnSpPr>
            <p:nvPr/>
          </p:nvCxnSpPr>
          <p:spPr bwMode="gray">
            <a:xfrm flipH="1" flipV="1">
              <a:off x="9226469" y="3935668"/>
              <a:ext cx="1454887" cy="438787"/>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25" name="Freeform 159">
              <a:extLst>
                <a:ext uri="{FF2B5EF4-FFF2-40B4-BE49-F238E27FC236}">
                  <a16:creationId xmlns:a16="http://schemas.microsoft.com/office/drawing/2014/main" id="{ED185A39-AE2D-47CD-8608-CA6B2ED91196}"/>
                </a:ext>
              </a:extLst>
            </p:cNvPr>
            <p:cNvSpPr/>
            <p:nvPr/>
          </p:nvSpPr>
          <p:spPr bwMode="gray">
            <a:xfrm flipH="1">
              <a:off x="8316987" y="4683771"/>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cxnSp>
          <p:nvCxnSpPr>
            <p:cNvPr id="26" name="Straight Connector 25">
              <a:extLst>
                <a:ext uri="{FF2B5EF4-FFF2-40B4-BE49-F238E27FC236}">
                  <a16:creationId xmlns:a16="http://schemas.microsoft.com/office/drawing/2014/main" id="{E764EFF5-6A16-4221-A320-C8216B742DA1}"/>
                </a:ext>
              </a:extLst>
            </p:cNvPr>
            <p:cNvCxnSpPr>
              <a:cxnSpLocks/>
              <a:stCxn id="30" idx="2"/>
              <a:endCxn id="25" idx="21"/>
            </p:cNvCxnSpPr>
            <p:nvPr/>
          </p:nvCxnSpPr>
          <p:spPr bwMode="gray">
            <a:xfrm>
              <a:off x="6959458" y="4584455"/>
              <a:ext cx="1357529" cy="43262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42ACF53-3C48-41D0-B016-A09F1A12ED0E}"/>
                </a:ext>
              </a:extLst>
            </p:cNvPr>
            <p:cNvCxnSpPr>
              <a:cxnSpLocks/>
              <a:stCxn id="25" idx="8"/>
              <a:endCxn id="32" idx="2"/>
            </p:cNvCxnSpPr>
            <p:nvPr/>
          </p:nvCxnSpPr>
          <p:spPr bwMode="gray">
            <a:xfrm flipV="1">
              <a:off x="9226469" y="4734495"/>
              <a:ext cx="1454887" cy="273933"/>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pic>
          <p:nvPicPr>
            <p:cNvPr id="30" name="Picture 12" descr="E:\2016.01\1.12 扁平化图标\蓝色\AR-蓝色最新-40.png">
              <a:extLst>
                <a:ext uri="{FF2B5EF4-FFF2-40B4-BE49-F238E27FC236}">
                  <a16:creationId xmlns:a16="http://schemas.microsoft.com/office/drawing/2014/main" id="{D96BAA5B-807C-446A-8C6A-01615AB58261}"/>
                </a:ext>
              </a:extLst>
            </p:cNvPr>
            <p:cNvPicPr>
              <a:picLocks noChangeAspect="1" noChangeArrowheads="1"/>
            </p:cNvPicPr>
            <p:nvPr/>
          </p:nvPicPr>
          <p:blipFill>
            <a:blip r:embed="rId3" cstate="print"/>
            <a:srcRect/>
            <a:stretch>
              <a:fillRect/>
            </a:stretch>
          </p:blipFill>
          <p:spPr bwMode="gray">
            <a:xfrm>
              <a:off x="6739433" y="4224415"/>
              <a:ext cx="440049" cy="360040"/>
            </a:xfrm>
            <a:prstGeom prst="rect">
              <a:avLst/>
            </a:prstGeom>
            <a:noFill/>
          </p:spPr>
        </p:pic>
        <p:sp>
          <p:nvSpPr>
            <p:cNvPr id="31" name="Freeform 159">
              <a:extLst>
                <a:ext uri="{FF2B5EF4-FFF2-40B4-BE49-F238E27FC236}">
                  <a16:creationId xmlns:a16="http://schemas.microsoft.com/office/drawing/2014/main" id="{F8757CB4-0D01-4065-9FFC-FC0DEE8363E1}"/>
                </a:ext>
              </a:extLst>
            </p:cNvPr>
            <p:cNvSpPr/>
            <p:nvPr/>
          </p:nvSpPr>
          <p:spPr bwMode="gray">
            <a:xfrm flipH="1">
              <a:off x="10685871" y="425908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endParaRPr lang="en-US" sz="1400" dirty="0">
                <a:solidFill>
                  <a:schemeClr val="tx1"/>
                </a:solidFill>
              </a:endParaRPr>
            </a:p>
          </p:txBody>
        </p:sp>
        <p:pic>
          <p:nvPicPr>
            <p:cNvPr id="32" name="Picture 12" descr="E:\2016.01\1.12 扁平化图标\蓝色\AR-蓝色最新-40.png">
              <a:extLst>
                <a:ext uri="{FF2B5EF4-FFF2-40B4-BE49-F238E27FC236}">
                  <a16:creationId xmlns:a16="http://schemas.microsoft.com/office/drawing/2014/main" id="{BD839B1F-8887-448A-BB52-E24594C49C75}"/>
                </a:ext>
              </a:extLst>
            </p:cNvPr>
            <p:cNvPicPr>
              <a:picLocks noChangeAspect="1" noChangeArrowheads="1"/>
            </p:cNvPicPr>
            <p:nvPr/>
          </p:nvPicPr>
          <p:blipFill>
            <a:blip r:embed="rId3" cstate="print"/>
            <a:srcRect/>
            <a:stretch>
              <a:fillRect/>
            </a:stretch>
          </p:blipFill>
          <p:spPr bwMode="gray">
            <a:xfrm>
              <a:off x="10461331" y="4374455"/>
              <a:ext cx="440049" cy="360040"/>
            </a:xfrm>
            <a:prstGeom prst="rect">
              <a:avLst/>
            </a:prstGeom>
            <a:noFill/>
          </p:spPr>
        </p:pic>
        <p:sp>
          <p:nvSpPr>
            <p:cNvPr id="36" name="Trapezoid 53">
              <a:extLst>
                <a:ext uri="{FF2B5EF4-FFF2-40B4-BE49-F238E27FC236}">
                  <a16:creationId xmlns:a16="http://schemas.microsoft.com/office/drawing/2014/main" id="{E7637561-EFD2-437F-87C1-53644D4BC2DB}"/>
                </a:ext>
              </a:extLst>
            </p:cNvPr>
            <p:cNvSpPr/>
            <p:nvPr/>
          </p:nvSpPr>
          <p:spPr bwMode="gray">
            <a:xfrm rot="5400000">
              <a:off x="4772727" y="3554970"/>
              <a:ext cx="677646" cy="861736"/>
            </a:xfrm>
            <a:custGeom>
              <a:avLst/>
              <a:gdLst>
                <a:gd name="connsiteX0" fmla="*/ 0 w 648072"/>
                <a:gd name="connsiteY0" fmla="*/ 438787 h 438787"/>
                <a:gd name="connsiteX1" fmla="*/ 271622 w 648072"/>
                <a:gd name="connsiteY1" fmla="*/ 0 h 438787"/>
                <a:gd name="connsiteX2" fmla="*/ 376450 w 648072"/>
                <a:gd name="connsiteY2" fmla="*/ 0 h 438787"/>
                <a:gd name="connsiteX3" fmla="*/ 648072 w 648072"/>
                <a:gd name="connsiteY3" fmla="*/ 438787 h 438787"/>
                <a:gd name="connsiteX4" fmla="*/ 0 w 648072"/>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289300 w 376450"/>
                <a:gd name="connsiteY3" fmla="*/ 435612 h 438787"/>
                <a:gd name="connsiteX4" fmla="*/ 0 w 376450"/>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298079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319245 w 376450"/>
                <a:gd name="connsiteY1" fmla="*/ 0 h 438787"/>
                <a:gd name="connsiteX2" fmla="*/ 376450 w 376450"/>
                <a:gd name="connsiteY2" fmla="*/ 0 h 438787"/>
                <a:gd name="connsiteX3" fmla="*/ 196783 w 376450"/>
                <a:gd name="connsiteY3" fmla="*/ 436825 h 438787"/>
                <a:gd name="connsiteX4" fmla="*/ 0 w 376450"/>
                <a:gd name="connsiteY4" fmla="*/ 438787 h 438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450" h="438787">
                  <a:moveTo>
                    <a:pt x="0" y="438787"/>
                  </a:moveTo>
                  <a:lnTo>
                    <a:pt x="319245" y="0"/>
                  </a:lnTo>
                  <a:lnTo>
                    <a:pt x="376450" y="0"/>
                  </a:lnTo>
                  <a:lnTo>
                    <a:pt x="196783" y="436825"/>
                  </a:lnTo>
                  <a:lnTo>
                    <a:pt x="0" y="438787"/>
                  </a:lnTo>
                  <a:close/>
                </a:path>
              </a:pathLst>
            </a:cu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453C7A3D-7F51-4430-A911-9A905C0FB50C}"/>
                </a:ext>
              </a:extLst>
            </p:cNvPr>
            <p:cNvSpPr/>
            <p:nvPr/>
          </p:nvSpPr>
          <p:spPr bwMode="gray">
            <a:xfrm>
              <a:off x="3255845" y="3657060"/>
              <a:ext cx="1383404"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rPr>
                <a:t>TCP, UDP, GRE…</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38" name="Trapezoid 53">
              <a:extLst>
                <a:ext uri="{FF2B5EF4-FFF2-40B4-BE49-F238E27FC236}">
                  <a16:creationId xmlns:a16="http://schemas.microsoft.com/office/drawing/2014/main" id="{9FFBBB62-A2BD-443A-AA0F-418FC6D686EF}"/>
                </a:ext>
              </a:extLst>
            </p:cNvPr>
            <p:cNvSpPr/>
            <p:nvPr/>
          </p:nvSpPr>
          <p:spPr bwMode="gray">
            <a:xfrm rot="16200000" flipV="1">
              <a:off x="4773000" y="4404744"/>
              <a:ext cx="677646" cy="861736"/>
            </a:xfrm>
            <a:custGeom>
              <a:avLst/>
              <a:gdLst>
                <a:gd name="connsiteX0" fmla="*/ 0 w 648072"/>
                <a:gd name="connsiteY0" fmla="*/ 438787 h 438787"/>
                <a:gd name="connsiteX1" fmla="*/ 271622 w 648072"/>
                <a:gd name="connsiteY1" fmla="*/ 0 h 438787"/>
                <a:gd name="connsiteX2" fmla="*/ 376450 w 648072"/>
                <a:gd name="connsiteY2" fmla="*/ 0 h 438787"/>
                <a:gd name="connsiteX3" fmla="*/ 648072 w 648072"/>
                <a:gd name="connsiteY3" fmla="*/ 438787 h 438787"/>
                <a:gd name="connsiteX4" fmla="*/ 0 w 648072"/>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289300 w 376450"/>
                <a:gd name="connsiteY3" fmla="*/ 435612 h 438787"/>
                <a:gd name="connsiteX4" fmla="*/ 0 w 376450"/>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316599 w 376450"/>
                <a:gd name="connsiteY1" fmla="*/ 0 h 438787"/>
                <a:gd name="connsiteX2" fmla="*/ 376450 w 376450"/>
                <a:gd name="connsiteY2" fmla="*/ 0 h 438787"/>
                <a:gd name="connsiteX3" fmla="*/ 196783 w 376450"/>
                <a:gd name="connsiteY3" fmla="*/ 436825 h 438787"/>
                <a:gd name="connsiteX4" fmla="*/ 0 w 376450"/>
                <a:gd name="connsiteY4" fmla="*/ 438787 h 438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450" h="438787">
                  <a:moveTo>
                    <a:pt x="0" y="438787"/>
                  </a:moveTo>
                  <a:lnTo>
                    <a:pt x="316599" y="0"/>
                  </a:lnTo>
                  <a:lnTo>
                    <a:pt x="376450" y="0"/>
                  </a:lnTo>
                  <a:lnTo>
                    <a:pt x="196783" y="436825"/>
                  </a:lnTo>
                  <a:lnTo>
                    <a:pt x="0" y="438787"/>
                  </a:lnTo>
                  <a:close/>
                </a:path>
              </a:pathLst>
            </a:cu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BF2403C2-79B3-481C-9B85-80033B3FA64C}"/>
                </a:ext>
              </a:extLst>
            </p:cNvPr>
            <p:cNvSpPr/>
            <p:nvPr/>
          </p:nvSpPr>
          <p:spPr bwMode="gray">
            <a:xfrm>
              <a:off x="1728256" y="4822019"/>
              <a:ext cx="2914316"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sz="1200">
                  <a:solidFill>
                    <a:schemeClr val="tx1"/>
                  </a:solidFill>
                  <a:latin typeface="Huawei Sans" panose="020C0503030203020204" pitchFamily="34" charset="0"/>
                  <a:ea typeface="方正兰亭黑简体" panose="02000000000000000000" pitchFamily="2" charset="-122"/>
                </a:rPr>
                <a:t>Source IP, Source Port, Destination IP</a:t>
              </a:r>
              <a:r>
                <a:rPr lang="en-US" sz="1200" dirty="0">
                  <a:solidFill>
                    <a:schemeClr val="tx1"/>
                  </a:solidFill>
                  <a:latin typeface="Huawei Sans" panose="020C0503030203020204" pitchFamily="34" charset="0"/>
                  <a:ea typeface="方正兰亭黑简体" panose="02000000000000000000" pitchFamily="2" charset="-122"/>
                </a:rPr>
                <a:t>…</a:t>
              </a:r>
            </a:p>
          </p:txBody>
        </p:sp>
        <p:sp>
          <p:nvSpPr>
            <p:cNvPr id="40" name="Trapezoid 39">
              <a:extLst>
                <a:ext uri="{FF2B5EF4-FFF2-40B4-BE49-F238E27FC236}">
                  <a16:creationId xmlns:a16="http://schemas.microsoft.com/office/drawing/2014/main" id="{12F6020A-A9AD-4E34-8677-1D93E0FB4995}"/>
                </a:ext>
              </a:extLst>
            </p:cNvPr>
            <p:cNvSpPr/>
            <p:nvPr/>
          </p:nvSpPr>
          <p:spPr bwMode="gray">
            <a:xfrm rot="5400000">
              <a:off x="4940611" y="3985125"/>
              <a:ext cx="352417" cy="829182"/>
            </a:xfrm>
            <a:prstGeom prst="trapezoid">
              <a:avLst>
                <a:gd name="adj" fmla="val 34538"/>
              </a:avLst>
            </a:pr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34C78585-686E-40C6-9A80-65AA05A0D7CE}"/>
                </a:ext>
              </a:extLst>
            </p:cNvPr>
            <p:cNvSpPr/>
            <p:nvPr/>
          </p:nvSpPr>
          <p:spPr bwMode="gray">
            <a:xfrm>
              <a:off x="2880383" y="4223507"/>
              <a:ext cx="1758865"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a:solidFill>
                    <a:schemeClr val="tx1"/>
                  </a:solidFill>
                  <a:latin typeface="Huawei Sans" panose="020C0503030203020204" pitchFamily="34" charset="0"/>
                  <a:ea typeface="方正兰亭黑简体" panose="02000000000000000000" pitchFamily="2" charset="-122"/>
                </a:rPr>
                <a:t>DSCP, VPN, TCP-flag</a:t>
              </a:r>
              <a:r>
                <a:rPr lang="en-US" altLang="zh-CN" sz="1200" dirty="0">
                  <a:solidFill>
                    <a:schemeClr val="tx1"/>
                  </a:solidFill>
                  <a:latin typeface="Huawei Sans" panose="020C0503030203020204" pitchFamily="34" charset="0"/>
                  <a:ea typeface="方正兰亭黑简体" panose="02000000000000000000" pitchFamily="2" charset="-122"/>
                </a:rPr>
                <a:t>…</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42" name="TextBox 41">
              <a:extLst>
                <a:ext uri="{FF2B5EF4-FFF2-40B4-BE49-F238E27FC236}">
                  <a16:creationId xmlns:a16="http://schemas.microsoft.com/office/drawing/2014/main" id="{5CB17D69-2375-4FB8-8B67-D297B5C298AB}"/>
                </a:ext>
              </a:extLst>
            </p:cNvPr>
            <p:cNvSpPr txBox="1"/>
            <p:nvPr/>
          </p:nvSpPr>
          <p:spPr bwMode="gray">
            <a:xfrm>
              <a:off x="2012712" y="3694828"/>
              <a:ext cx="1261884"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根据协议类型</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3" name="TextBox 42">
              <a:extLst>
                <a:ext uri="{FF2B5EF4-FFF2-40B4-BE49-F238E27FC236}">
                  <a16:creationId xmlns:a16="http://schemas.microsoft.com/office/drawing/2014/main" id="{A6760C0F-0C23-47F5-8181-FC83078473FC}"/>
                </a:ext>
              </a:extLst>
            </p:cNvPr>
            <p:cNvSpPr txBox="1"/>
            <p:nvPr/>
          </p:nvSpPr>
          <p:spPr bwMode="gray">
            <a:xfrm>
              <a:off x="1597646" y="4242643"/>
              <a:ext cx="1261884"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根据报文应用</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4" name="TextBox 43">
              <a:extLst>
                <a:ext uri="{FF2B5EF4-FFF2-40B4-BE49-F238E27FC236}">
                  <a16:creationId xmlns:a16="http://schemas.microsoft.com/office/drawing/2014/main" id="{84521C9A-EAC1-4E42-9600-4275C7500540}"/>
                </a:ext>
              </a:extLst>
            </p:cNvPr>
            <p:cNvSpPr txBox="1"/>
            <p:nvPr/>
          </p:nvSpPr>
          <p:spPr bwMode="gray">
            <a:xfrm>
              <a:off x="455613" y="4844338"/>
              <a:ext cx="1261884"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根据报文信息</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6" name="Freeform: Shape 45">
              <a:extLst>
                <a:ext uri="{FF2B5EF4-FFF2-40B4-BE49-F238E27FC236}">
                  <a16:creationId xmlns:a16="http://schemas.microsoft.com/office/drawing/2014/main" id="{4E786293-6C56-4EBD-9F4D-42FD43CA4380}"/>
                </a:ext>
              </a:extLst>
            </p:cNvPr>
            <p:cNvSpPr/>
            <p:nvPr/>
          </p:nvSpPr>
          <p:spPr bwMode="gray">
            <a:xfrm>
              <a:off x="4639248" y="4569144"/>
              <a:ext cx="6953693" cy="517219"/>
            </a:xfrm>
            <a:custGeom>
              <a:avLst/>
              <a:gdLst>
                <a:gd name="connsiteX0" fmla="*/ 0 w 6953693"/>
                <a:gd name="connsiteY0" fmla="*/ 624722 h 624722"/>
                <a:gd name="connsiteX1" fmla="*/ 1063256 w 6953693"/>
                <a:gd name="connsiteY1" fmla="*/ 71829 h 624722"/>
                <a:gd name="connsiteX2" fmla="*/ 2243470 w 6953693"/>
                <a:gd name="connsiteY2" fmla="*/ 61196 h 624722"/>
                <a:gd name="connsiteX3" fmla="*/ 3987209 w 6953693"/>
                <a:gd name="connsiteY3" fmla="*/ 571559 h 624722"/>
                <a:gd name="connsiteX4" fmla="*/ 6060558 w 6953693"/>
                <a:gd name="connsiteY4" fmla="*/ 188787 h 624722"/>
                <a:gd name="connsiteX5" fmla="*/ 6953693 w 6953693"/>
                <a:gd name="connsiteY5" fmla="*/ 114359 h 624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53693" h="624722">
                  <a:moveTo>
                    <a:pt x="0" y="624722"/>
                  </a:moveTo>
                  <a:cubicBezTo>
                    <a:pt x="344672" y="395236"/>
                    <a:pt x="689344" y="165750"/>
                    <a:pt x="1063256" y="71829"/>
                  </a:cubicBezTo>
                  <a:cubicBezTo>
                    <a:pt x="1437168" y="-22092"/>
                    <a:pt x="1756145" y="-22092"/>
                    <a:pt x="2243470" y="61196"/>
                  </a:cubicBezTo>
                  <a:cubicBezTo>
                    <a:pt x="2730795" y="144484"/>
                    <a:pt x="3351028" y="550294"/>
                    <a:pt x="3987209" y="571559"/>
                  </a:cubicBezTo>
                  <a:cubicBezTo>
                    <a:pt x="4623390" y="592824"/>
                    <a:pt x="5566144" y="264987"/>
                    <a:pt x="6060558" y="188787"/>
                  </a:cubicBezTo>
                  <a:cubicBezTo>
                    <a:pt x="6554972" y="112587"/>
                    <a:pt x="6754332" y="113473"/>
                    <a:pt x="6953693" y="114359"/>
                  </a:cubicBezTo>
                </a:path>
              </a:pathLst>
            </a:custGeom>
            <a:noFill/>
            <a:ln w="28575">
              <a:solidFill>
                <a:srgbClr val="8BC9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E1EDF082-DCD3-44D7-A15D-3FFD01B9728E}"/>
                </a:ext>
              </a:extLst>
            </p:cNvPr>
            <p:cNvSpPr/>
            <p:nvPr/>
          </p:nvSpPr>
          <p:spPr bwMode="gray">
            <a:xfrm>
              <a:off x="4696010" y="4371334"/>
              <a:ext cx="1541721" cy="75915"/>
            </a:xfrm>
            <a:custGeom>
              <a:avLst/>
              <a:gdLst>
                <a:gd name="connsiteX0" fmla="*/ 0 w 1541721"/>
                <a:gd name="connsiteY0" fmla="*/ 42531 h 75915"/>
                <a:gd name="connsiteX1" fmla="*/ 765544 w 1541721"/>
                <a:gd name="connsiteY1" fmla="*/ 74428 h 75915"/>
                <a:gd name="connsiteX2" fmla="*/ 1541721 w 1541721"/>
                <a:gd name="connsiteY2" fmla="*/ 0 h 75915"/>
              </a:gdLst>
              <a:ahLst/>
              <a:cxnLst>
                <a:cxn ang="0">
                  <a:pos x="connsiteX0" y="connsiteY0"/>
                </a:cxn>
                <a:cxn ang="0">
                  <a:pos x="connsiteX1" y="connsiteY1"/>
                </a:cxn>
                <a:cxn ang="0">
                  <a:pos x="connsiteX2" y="connsiteY2"/>
                </a:cxn>
              </a:cxnLst>
              <a:rect l="l" t="t" r="r" b="b"/>
              <a:pathLst>
                <a:path w="1541721" h="75915">
                  <a:moveTo>
                    <a:pt x="0" y="42531"/>
                  </a:moveTo>
                  <a:cubicBezTo>
                    <a:pt x="254295" y="62023"/>
                    <a:pt x="508591" y="81516"/>
                    <a:pt x="765544" y="74428"/>
                  </a:cubicBezTo>
                  <a:cubicBezTo>
                    <a:pt x="1022497" y="67340"/>
                    <a:pt x="1378689" y="12405"/>
                    <a:pt x="1541721" y="0"/>
                  </a:cubicBezTo>
                </a:path>
              </a:pathLst>
            </a:custGeom>
            <a:noFill/>
            <a:ln w="28575">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ular Callout 26">
              <a:extLst>
                <a:ext uri="{FF2B5EF4-FFF2-40B4-BE49-F238E27FC236}">
                  <a16:creationId xmlns:a16="http://schemas.microsoft.com/office/drawing/2014/main" id="{5E244BFD-B699-4B83-8139-45BB3502767D}"/>
                </a:ext>
              </a:extLst>
            </p:cNvPr>
            <p:cNvSpPr/>
            <p:nvPr/>
          </p:nvSpPr>
          <p:spPr bwMode="gray">
            <a:xfrm>
              <a:off x="3597201" y="3111366"/>
              <a:ext cx="888043" cy="352418"/>
            </a:xfrm>
            <a:prstGeom prst="wedgeRectCallout">
              <a:avLst>
                <a:gd name="adj1" fmla="val -13266"/>
                <a:gd name="adj2" fmla="val 9575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应用识别</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Rectangular Callout 26">
              <a:extLst>
                <a:ext uri="{FF2B5EF4-FFF2-40B4-BE49-F238E27FC236}">
                  <a16:creationId xmlns:a16="http://schemas.microsoft.com/office/drawing/2014/main" id="{E9A85614-1211-4DC1-A077-6E217369B287}"/>
                </a:ext>
              </a:extLst>
            </p:cNvPr>
            <p:cNvSpPr/>
            <p:nvPr/>
          </p:nvSpPr>
          <p:spPr bwMode="gray">
            <a:xfrm>
              <a:off x="5954093" y="3580528"/>
              <a:ext cx="861736" cy="411541"/>
            </a:xfrm>
            <a:prstGeom prst="wedgeRectCallout">
              <a:avLst>
                <a:gd name="adj1" fmla="val -13266"/>
                <a:gd name="adj2" fmla="val 9575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智能选路设计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Rectangular Callout 26">
              <a:extLst>
                <a:ext uri="{FF2B5EF4-FFF2-40B4-BE49-F238E27FC236}">
                  <a16:creationId xmlns:a16="http://schemas.microsoft.com/office/drawing/2014/main" id="{0AD4F353-3E3F-42FF-81A3-1DD59FA47B0C}"/>
                </a:ext>
              </a:extLst>
            </p:cNvPr>
            <p:cNvSpPr/>
            <p:nvPr/>
          </p:nvSpPr>
          <p:spPr bwMode="gray">
            <a:xfrm>
              <a:off x="7384311" y="4262209"/>
              <a:ext cx="888043" cy="352418"/>
            </a:xfrm>
            <a:prstGeom prst="wedgeRectCallout">
              <a:avLst>
                <a:gd name="adj1" fmla="val -69627"/>
                <a:gd name="adj2" fmla="val -5719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QoS</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Rectangular Callout 26">
              <a:extLst>
                <a:ext uri="{FF2B5EF4-FFF2-40B4-BE49-F238E27FC236}">
                  <a16:creationId xmlns:a16="http://schemas.microsoft.com/office/drawing/2014/main" id="{189194B0-F44A-4974-9053-D1D877F0E1D2}"/>
                </a:ext>
              </a:extLst>
            </p:cNvPr>
            <p:cNvSpPr/>
            <p:nvPr/>
          </p:nvSpPr>
          <p:spPr bwMode="gray">
            <a:xfrm>
              <a:off x="9573288" y="5219101"/>
              <a:ext cx="888043" cy="452520"/>
            </a:xfrm>
            <a:prstGeom prst="wedgeRectCallout">
              <a:avLst>
                <a:gd name="adj1" fmla="val -71794"/>
                <a:gd name="adj2" fmla="val 1703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丢包优化设计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Freeform: Shape 44">
              <a:extLst>
                <a:ext uri="{FF2B5EF4-FFF2-40B4-BE49-F238E27FC236}">
                  <a16:creationId xmlns:a16="http://schemas.microsoft.com/office/drawing/2014/main" id="{F78A3073-29BF-44AA-88FB-723F1697EEB3}"/>
                </a:ext>
              </a:extLst>
            </p:cNvPr>
            <p:cNvSpPr/>
            <p:nvPr/>
          </p:nvSpPr>
          <p:spPr bwMode="gray">
            <a:xfrm>
              <a:off x="4639248" y="3694828"/>
              <a:ext cx="6996223" cy="831556"/>
            </a:xfrm>
            <a:custGeom>
              <a:avLst/>
              <a:gdLst>
                <a:gd name="connsiteX0" fmla="*/ 0 w 6996223"/>
                <a:gd name="connsiteY0" fmla="*/ 0 h 831556"/>
                <a:gd name="connsiteX1" fmla="*/ 1233377 w 6996223"/>
                <a:gd name="connsiteY1" fmla="*/ 606056 h 831556"/>
                <a:gd name="connsiteX2" fmla="*/ 2147777 w 6996223"/>
                <a:gd name="connsiteY2" fmla="*/ 606056 h 831556"/>
                <a:gd name="connsiteX3" fmla="*/ 4125433 w 6996223"/>
                <a:gd name="connsiteY3" fmla="*/ 127591 h 831556"/>
                <a:gd name="connsiteX4" fmla="*/ 6177516 w 6996223"/>
                <a:gd name="connsiteY4" fmla="*/ 723014 h 831556"/>
                <a:gd name="connsiteX5" fmla="*/ 6996223 w 6996223"/>
                <a:gd name="connsiteY5" fmla="*/ 829340 h 83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6223" h="831556">
                  <a:moveTo>
                    <a:pt x="0" y="0"/>
                  </a:moveTo>
                  <a:cubicBezTo>
                    <a:pt x="437707" y="252523"/>
                    <a:pt x="875414" y="505047"/>
                    <a:pt x="1233377" y="606056"/>
                  </a:cubicBezTo>
                  <a:cubicBezTo>
                    <a:pt x="1591340" y="707065"/>
                    <a:pt x="1665768" y="685800"/>
                    <a:pt x="2147777" y="606056"/>
                  </a:cubicBezTo>
                  <a:cubicBezTo>
                    <a:pt x="2629786" y="526312"/>
                    <a:pt x="3453810" y="108098"/>
                    <a:pt x="4125433" y="127591"/>
                  </a:cubicBezTo>
                  <a:cubicBezTo>
                    <a:pt x="4797056" y="147084"/>
                    <a:pt x="5699051" y="606056"/>
                    <a:pt x="6177516" y="723014"/>
                  </a:cubicBezTo>
                  <a:cubicBezTo>
                    <a:pt x="6655981" y="839972"/>
                    <a:pt x="6826102" y="834656"/>
                    <a:pt x="6996223" y="829340"/>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72991672-256E-4F8E-9CC7-C01D00D270B4}"/>
                </a:ext>
              </a:extLst>
            </p:cNvPr>
            <p:cNvSpPr/>
            <p:nvPr/>
          </p:nvSpPr>
          <p:spPr bwMode="gray">
            <a:xfrm>
              <a:off x="7978022" y="5214572"/>
              <a:ext cx="1425660"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TextBox 70">
              <a:extLst>
                <a:ext uri="{FF2B5EF4-FFF2-40B4-BE49-F238E27FC236}">
                  <a16:creationId xmlns:a16="http://schemas.microsoft.com/office/drawing/2014/main" id="{4D1AF64D-371C-4912-A58C-42B9BD0A31FC}"/>
                </a:ext>
              </a:extLst>
            </p:cNvPr>
            <p:cNvSpPr txBox="1"/>
            <p:nvPr/>
          </p:nvSpPr>
          <p:spPr bwMode="gray">
            <a:xfrm>
              <a:off x="9043661" y="5267113"/>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72" name="TextBox 71">
              <a:extLst>
                <a:ext uri="{FF2B5EF4-FFF2-40B4-BE49-F238E27FC236}">
                  <a16:creationId xmlns:a16="http://schemas.microsoft.com/office/drawing/2014/main" id="{0FE5E3E5-72C0-4415-B835-23F994F905EB}"/>
                </a:ext>
              </a:extLst>
            </p:cNvPr>
            <p:cNvSpPr txBox="1"/>
            <p:nvPr/>
          </p:nvSpPr>
          <p:spPr bwMode="gray">
            <a:xfrm>
              <a:off x="8713514" y="5498119"/>
              <a:ext cx="273050" cy="276999"/>
            </a:xfrm>
            <a:prstGeom prst="rect">
              <a:avLst/>
            </a:prstGeom>
            <a:solidFill>
              <a:srgbClr val="E28189"/>
            </a:solidFill>
            <a:ln>
              <a:solidFill>
                <a:srgbClr val="E28189"/>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73" name="TextBox 72">
              <a:extLst>
                <a:ext uri="{FF2B5EF4-FFF2-40B4-BE49-F238E27FC236}">
                  <a16:creationId xmlns:a16="http://schemas.microsoft.com/office/drawing/2014/main" id="{3C82783B-0680-4E38-AA09-74492D4C7431}"/>
                </a:ext>
              </a:extLst>
            </p:cNvPr>
            <p:cNvSpPr txBox="1"/>
            <p:nvPr/>
          </p:nvSpPr>
          <p:spPr bwMode="gray">
            <a:xfrm>
              <a:off x="8383367" y="5272943"/>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74" name="TextBox 73">
              <a:extLst>
                <a:ext uri="{FF2B5EF4-FFF2-40B4-BE49-F238E27FC236}">
                  <a16:creationId xmlns:a16="http://schemas.microsoft.com/office/drawing/2014/main" id="{1C50DDB4-CF7C-4F64-A641-E3734346856F}"/>
                </a:ext>
              </a:extLst>
            </p:cNvPr>
            <p:cNvSpPr txBox="1"/>
            <p:nvPr/>
          </p:nvSpPr>
          <p:spPr bwMode="gray">
            <a:xfrm>
              <a:off x="8053220" y="5272943"/>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cxnSp>
          <p:nvCxnSpPr>
            <p:cNvPr id="77" name="Straight Arrow Connector 76">
              <a:extLst>
                <a:ext uri="{FF2B5EF4-FFF2-40B4-BE49-F238E27FC236}">
                  <a16:creationId xmlns:a16="http://schemas.microsoft.com/office/drawing/2014/main" id="{6F1F9282-3543-428D-9FE8-C3612D80E43A}"/>
                </a:ext>
              </a:extLst>
            </p:cNvPr>
            <p:cNvCxnSpPr>
              <a:cxnSpLocks/>
              <a:stCxn id="72" idx="2"/>
            </p:cNvCxnSpPr>
            <p:nvPr/>
          </p:nvCxnSpPr>
          <p:spPr bwMode="gray">
            <a:xfrm>
              <a:off x="8850039" y="5775118"/>
              <a:ext cx="0" cy="276999"/>
            </a:xfrm>
            <a:prstGeom prst="straightConnector1">
              <a:avLst/>
            </a:prstGeom>
            <a:ln w="190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68" name="Oval 41">
              <a:extLst>
                <a:ext uri="{FF2B5EF4-FFF2-40B4-BE49-F238E27FC236}">
                  <a16:creationId xmlns:a16="http://schemas.microsoft.com/office/drawing/2014/main" id="{5145E2D4-26FA-4B00-887B-0570CF02EEDD}"/>
                </a:ext>
              </a:extLst>
            </p:cNvPr>
            <p:cNvSpPr>
              <a:spLocks noChangeAspect="1"/>
            </p:cNvSpPr>
            <p:nvPr/>
          </p:nvSpPr>
          <p:spPr bwMode="gray">
            <a:xfrm>
              <a:off x="6932659" y="415182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35" name="Rectangle 34">
              <a:extLst>
                <a:ext uri="{FF2B5EF4-FFF2-40B4-BE49-F238E27FC236}">
                  <a16:creationId xmlns:a16="http://schemas.microsoft.com/office/drawing/2014/main" id="{D8AA1756-B2F2-4EF5-AC86-79D730F345A6}"/>
                </a:ext>
              </a:extLst>
            </p:cNvPr>
            <p:cNvSpPr/>
            <p:nvPr/>
          </p:nvSpPr>
          <p:spPr bwMode="gray">
            <a:xfrm>
              <a:off x="5609589" y="4242643"/>
              <a:ext cx="1074669"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rPr>
                <a:t>SPR</a:t>
              </a:r>
              <a:r>
                <a:rPr lang="zh-CN" altLang="en-US" sz="1200" dirty="0">
                  <a:solidFill>
                    <a:schemeClr val="tx1"/>
                  </a:solidFill>
                  <a:latin typeface="Huawei Sans" panose="020C0503030203020204" pitchFamily="34" charset="0"/>
                  <a:ea typeface="方正兰亭黑简体" panose="02000000000000000000" pitchFamily="2" charset="-122"/>
                </a:rPr>
                <a:t>功能模块</a:t>
              </a:r>
              <a:endParaRPr lang="en-US" sz="1200" dirty="0">
                <a:solidFill>
                  <a:schemeClr val="tx1"/>
                </a:solidFill>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21928059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D7C62-382A-4700-8C7A-5708106A2AD2}"/>
              </a:ext>
            </a:extLst>
          </p:cNvPr>
          <p:cNvSpPr>
            <a:spLocks noGrp="1"/>
          </p:cNvSpPr>
          <p:nvPr>
            <p:ph type="title"/>
          </p:nvPr>
        </p:nvSpPr>
        <p:spPr bwMode="gray"/>
        <p:txBody>
          <a:bodyPr/>
          <a:lstStyle/>
          <a:p>
            <a:r>
              <a:rPr lang="zh-CN" altLang="en-US" dirty="0"/>
              <a:t>应用识别简介</a:t>
            </a:r>
            <a:endParaRPr lang="en-US" dirty="0"/>
          </a:p>
        </p:txBody>
      </p:sp>
      <p:sp>
        <p:nvSpPr>
          <p:cNvPr id="3" name="Text Placeholder 2">
            <a:extLst>
              <a:ext uri="{FF2B5EF4-FFF2-40B4-BE49-F238E27FC236}">
                <a16:creationId xmlns:a16="http://schemas.microsoft.com/office/drawing/2014/main" id="{B82CD7A0-787A-4F46-91A8-3F87660AE86A}"/>
              </a:ext>
            </a:extLst>
          </p:cNvPr>
          <p:cNvSpPr>
            <a:spLocks noGrp="1"/>
          </p:cNvSpPr>
          <p:nvPr>
            <p:ph type="body" sz="quarter" idx="10"/>
          </p:nvPr>
        </p:nvSpPr>
        <p:spPr bwMode="gray"/>
        <p:txBody>
          <a:bodyPr/>
          <a:lstStyle/>
          <a:p>
            <a:r>
              <a:rPr lang="zh-CN" altLang="en-US" sz="1800" dirty="0"/>
              <a:t>传统路由交换设备没有办法识别应用层的信息，以应用为维度管理网络存在较大难度。</a:t>
            </a:r>
            <a:r>
              <a:rPr lang="en-US" altLang="zh-CN" sz="1800" dirty="0"/>
              <a:t>SAC</a:t>
            </a:r>
            <a:r>
              <a:rPr lang="zh-CN" altLang="en-US" sz="1800" dirty="0"/>
              <a:t>（</a:t>
            </a:r>
            <a:r>
              <a:rPr lang="en-US" altLang="zh-CN" sz="1800" dirty="0"/>
              <a:t>Smart Application Control</a:t>
            </a:r>
            <a:r>
              <a:rPr lang="zh-CN" altLang="en-US" sz="1800" dirty="0"/>
              <a:t>，智能应用控制）技术能够帮助路由交换设备识别分类应用。</a:t>
            </a:r>
            <a:endParaRPr lang="en-US" altLang="zh-CN" sz="1800" dirty="0"/>
          </a:p>
          <a:p>
            <a:r>
              <a:rPr lang="en-US" altLang="zh-CN" sz="1800" dirty="0"/>
              <a:t>SAC</a:t>
            </a:r>
            <a:r>
              <a:rPr lang="zh-CN" altLang="en-US" sz="1800" dirty="0"/>
              <a:t>应用识别会先判断是否已被识别，发现应用未识别则依次查看</a:t>
            </a:r>
            <a:r>
              <a:rPr lang="en-US" altLang="zh-CN" sz="1800" dirty="0"/>
              <a:t>FPI</a:t>
            </a:r>
            <a:r>
              <a:rPr lang="zh-CN" altLang="en-US" sz="1800" dirty="0"/>
              <a:t>特征库和</a:t>
            </a:r>
            <a:r>
              <a:rPr lang="en-US" altLang="zh-CN" sz="1800" dirty="0"/>
              <a:t>SA</a:t>
            </a:r>
            <a:r>
              <a:rPr lang="zh-CN" altLang="en-US" sz="1800" dirty="0"/>
              <a:t>特征库。</a:t>
            </a:r>
          </a:p>
          <a:p>
            <a:endParaRPr lang="en-US" altLang="zh-CN" sz="1800" dirty="0"/>
          </a:p>
        </p:txBody>
      </p:sp>
      <p:grpSp>
        <p:nvGrpSpPr>
          <p:cNvPr id="4" name="Group 3">
            <a:extLst>
              <a:ext uri="{FF2B5EF4-FFF2-40B4-BE49-F238E27FC236}">
                <a16:creationId xmlns:a16="http://schemas.microsoft.com/office/drawing/2014/main" id="{610A6B6C-C676-4EB4-8755-D93E452D1FA3}"/>
              </a:ext>
            </a:extLst>
          </p:cNvPr>
          <p:cNvGrpSpPr/>
          <p:nvPr/>
        </p:nvGrpSpPr>
        <p:grpSpPr bwMode="gray">
          <a:xfrm>
            <a:off x="1734879" y="2403394"/>
            <a:ext cx="8722242" cy="3675913"/>
            <a:chOff x="2063552" y="2096852"/>
            <a:chExt cx="8722242" cy="3675913"/>
          </a:xfrm>
        </p:grpSpPr>
        <p:sp>
          <p:nvSpPr>
            <p:cNvPr id="5" name="Rectangle 4">
              <a:extLst>
                <a:ext uri="{FF2B5EF4-FFF2-40B4-BE49-F238E27FC236}">
                  <a16:creationId xmlns:a16="http://schemas.microsoft.com/office/drawing/2014/main" id="{9B93047F-3C05-45A7-B68F-5DEBBEF589F9}"/>
                </a:ext>
              </a:extLst>
            </p:cNvPr>
            <p:cNvSpPr/>
            <p:nvPr/>
          </p:nvSpPr>
          <p:spPr bwMode="gray">
            <a:xfrm>
              <a:off x="4043808" y="2096852"/>
              <a:ext cx="5976628" cy="3675913"/>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b="1" dirty="0">
                  <a:solidFill>
                    <a:schemeClr val="tx1"/>
                  </a:solidFill>
                </a:rPr>
                <a:t>网络设备</a:t>
              </a:r>
              <a:endParaRPr lang="en-US" sz="1600" b="1" dirty="0">
                <a:solidFill>
                  <a:schemeClr val="tx1"/>
                </a:solidFill>
              </a:endParaRPr>
            </a:p>
          </p:txBody>
        </p:sp>
        <p:sp>
          <p:nvSpPr>
            <p:cNvPr id="6" name="TextBox 120">
              <a:extLst>
                <a:ext uri="{FF2B5EF4-FFF2-40B4-BE49-F238E27FC236}">
                  <a16:creationId xmlns:a16="http://schemas.microsoft.com/office/drawing/2014/main" id="{096C87B4-4F9F-401A-BAC2-1DE6DFE39960}"/>
                </a:ext>
              </a:extLst>
            </p:cNvPr>
            <p:cNvSpPr txBox="1"/>
            <p:nvPr/>
          </p:nvSpPr>
          <p:spPr bwMode="gray">
            <a:xfrm>
              <a:off x="3635790" y="2582001"/>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TextBox 120">
              <a:extLst>
                <a:ext uri="{FF2B5EF4-FFF2-40B4-BE49-F238E27FC236}">
                  <a16:creationId xmlns:a16="http://schemas.microsoft.com/office/drawing/2014/main" id="{EF59959E-5415-45A5-A9A3-D4C4B3D4A923}"/>
                </a:ext>
              </a:extLst>
            </p:cNvPr>
            <p:cNvSpPr txBox="1"/>
            <p:nvPr/>
          </p:nvSpPr>
          <p:spPr bwMode="gray">
            <a:xfrm>
              <a:off x="3411182" y="2582263"/>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Box 120">
              <a:extLst>
                <a:ext uri="{FF2B5EF4-FFF2-40B4-BE49-F238E27FC236}">
                  <a16:creationId xmlns:a16="http://schemas.microsoft.com/office/drawing/2014/main" id="{6B61A9A0-3B6B-4ADF-B249-132AF83EBBEF}"/>
                </a:ext>
              </a:extLst>
            </p:cNvPr>
            <p:cNvSpPr txBox="1"/>
            <p:nvPr/>
          </p:nvSpPr>
          <p:spPr bwMode="gray">
            <a:xfrm>
              <a:off x="3186577" y="2581870"/>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120">
              <a:extLst>
                <a:ext uri="{FF2B5EF4-FFF2-40B4-BE49-F238E27FC236}">
                  <a16:creationId xmlns:a16="http://schemas.microsoft.com/office/drawing/2014/main" id="{2D46BD50-8A90-42B1-B912-7AC0CA12FBC4}"/>
                </a:ext>
              </a:extLst>
            </p:cNvPr>
            <p:cNvSpPr txBox="1"/>
            <p:nvPr/>
          </p:nvSpPr>
          <p:spPr bwMode="gray">
            <a:xfrm>
              <a:off x="2961972" y="2582132"/>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120">
              <a:extLst>
                <a:ext uri="{FF2B5EF4-FFF2-40B4-BE49-F238E27FC236}">
                  <a16:creationId xmlns:a16="http://schemas.microsoft.com/office/drawing/2014/main" id="{20020838-4009-40F2-9902-547395BD58D2}"/>
                </a:ext>
              </a:extLst>
            </p:cNvPr>
            <p:cNvSpPr txBox="1"/>
            <p:nvPr/>
          </p:nvSpPr>
          <p:spPr bwMode="gray">
            <a:xfrm>
              <a:off x="2737367" y="2581870"/>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20">
              <a:extLst>
                <a:ext uri="{FF2B5EF4-FFF2-40B4-BE49-F238E27FC236}">
                  <a16:creationId xmlns:a16="http://schemas.microsoft.com/office/drawing/2014/main" id="{F25D4192-18A7-4806-9C34-CE980EAD7D8F}"/>
                </a:ext>
              </a:extLst>
            </p:cNvPr>
            <p:cNvSpPr txBox="1"/>
            <p:nvPr/>
          </p:nvSpPr>
          <p:spPr bwMode="gray">
            <a:xfrm>
              <a:off x="2512762" y="2582132"/>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120">
              <a:extLst>
                <a:ext uri="{FF2B5EF4-FFF2-40B4-BE49-F238E27FC236}">
                  <a16:creationId xmlns:a16="http://schemas.microsoft.com/office/drawing/2014/main" id="{0415CA4A-2499-49AB-912B-745D64B31891}"/>
                </a:ext>
              </a:extLst>
            </p:cNvPr>
            <p:cNvSpPr txBox="1"/>
            <p:nvPr/>
          </p:nvSpPr>
          <p:spPr bwMode="gray">
            <a:xfrm>
              <a:off x="2288157" y="2581870"/>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120">
              <a:extLst>
                <a:ext uri="{FF2B5EF4-FFF2-40B4-BE49-F238E27FC236}">
                  <a16:creationId xmlns:a16="http://schemas.microsoft.com/office/drawing/2014/main" id="{9839F9CA-CF88-4686-9FE8-0F4B778675E9}"/>
                </a:ext>
              </a:extLst>
            </p:cNvPr>
            <p:cNvSpPr txBox="1"/>
            <p:nvPr/>
          </p:nvSpPr>
          <p:spPr bwMode="gray">
            <a:xfrm>
              <a:off x="2063552" y="2582132"/>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Rectangle 13">
              <a:extLst>
                <a:ext uri="{FF2B5EF4-FFF2-40B4-BE49-F238E27FC236}">
                  <a16:creationId xmlns:a16="http://schemas.microsoft.com/office/drawing/2014/main" id="{1469B1E9-B9EA-4D22-AC35-0001F2C86E6E}"/>
                </a:ext>
              </a:extLst>
            </p:cNvPr>
            <p:cNvSpPr/>
            <p:nvPr/>
          </p:nvSpPr>
          <p:spPr bwMode="gray">
            <a:xfrm>
              <a:off x="5457427" y="3860770"/>
              <a:ext cx="1243773"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FPI</a:t>
              </a:r>
              <a:r>
                <a:rPr lang="zh-CN" altLang="en-US" sz="1400" dirty="0">
                  <a:solidFill>
                    <a:schemeClr val="tx1"/>
                  </a:solidFill>
                  <a:latin typeface="Huawei Sans" panose="020C0503030203020204" pitchFamily="34" charset="0"/>
                  <a:ea typeface="方正兰亭黑简体" panose="02000000000000000000" pitchFamily="2" charset="-122"/>
                </a:rPr>
                <a:t>特征库</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5" name="Arrow: Right 14">
              <a:extLst>
                <a:ext uri="{FF2B5EF4-FFF2-40B4-BE49-F238E27FC236}">
                  <a16:creationId xmlns:a16="http://schemas.microsoft.com/office/drawing/2014/main" id="{C46723F6-E070-4024-B3F5-2D9BA8CF1B45}"/>
                </a:ext>
              </a:extLst>
            </p:cNvPr>
            <p:cNvSpPr/>
            <p:nvPr/>
          </p:nvSpPr>
          <p:spPr bwMode="gray">
            <a:xfrm>
              <a:off x="3893525" y="2451260"/>
              <a:ext cx="151193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Arrow: Right 15">
              <a:extLst>
                <a:ext uri="{FF2B5EF4-FFF2-40B4-BE49-F238E27FC236}">
                  <a16:creationId xmlns:a16="http://schemas.microsoft.com/office/drawing/2014/main" id="{D1BC84C1-0AD2-4C4C-BBA3-910C840D2C65}"/>
                </a:ext>
              </a:extLst>
            </p:cNvPr>
            <p:cNvSpPr/>
            <p:nvPr/>
          </p:nvSpPr>
          <p:spPr bwMode="gray">
            <a:xfrm rot="5400000">
              <a:off x="5785310" y="3170611"/>
              <a:ext cx="58800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FA250F4D-6F69-4054-B263-7224F7CD6270}"/>
                </a:ext>
              </a:extLst>
            </p:cNvPr>
            <p:cNvSpPr txBox="1"/>
            <p:nvPr/>
          </p:nvSpPr>
          <p:spPr bwMode="gray">
            <a:xfrm>
              <a:off x="2585347" y="2277986"/>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业务流量</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8" name="TextBox 17">
              <a:extLst>
                <a:ext uri="{FF2B5EF4-FFF2-40B4-BE49-F238E27FC236}">
                  <a16:creationId xmlns:a16="http://schemas.microsoft.com/office/drawing/2014/main" id="{F0F655BE-E990-40D0-876F-5070924355E7}"/>
                </a:ext>
              </a:extLst>
            </p:cNvPr>
            <p:cNvSpPr txBox="1"/>
            <p:nvPr/>
          </p:nvSpPr>
          <p:spPr bwMode="gray">
            <a:xfrm>
              <a:off x="4879582" y="3319656"/>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特征匹配</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 name="Rectangle 18">
              <a:extLst>
                <a:ext uri="{FF2B5EF4-FFF2-40B4-BE49-F238E27FC236}">
                  <a16:creationId xmlns:a16="http://schemas.microsoft.com/office/drawing/2014/main" id="{ED08DEF8-25B7-4722-B491-51E3625815BC}"/>
                </a:ext>
              </a:extLst>
            </p:cNvPr>
            <p:cNvSpPr/>
            <p:nvPr/>
          </p:nvSpPr>
          <p:spPr bwMode="gray">
            <a:xfrm>
              <a:off x="5457425" y="5012875"/>
              <a:ext cx="1243773"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SA</a:t>
              </a:r>
              <a:r>
                <a:rPr lang="zh-CN" altLang="en-US" sz="1400" dirty="0">
                  <a:solidFill>
                    <a:schemeClr val="tx1"/>
                  </a:solidFill>
                  <a:latin typeface="Huawei Sans" panose="020C0503030203020204" pitchFamily="34" charset="0"/>
                  <a:ea typeface="方正兰亭黑简体" panose="02000000000000000000" pitchFamily="2" charset="-122"/>
                </a:rPr>
                <a:t>特征库</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20" name="Arrow: Right 19">
              <a:extLst>
                <a:ext uri="{FF2B5EF4-FFF2-40B4-BE49-F238E27FC236}">
                  <a16:creationId xmlns:a16="http://schemas.microsoft.com/office/drawing/2014/main" id="{E5D3E158-1BD5-402D-9219-1A1528781AAE}"/>
                </a:ext>
              </a:extLst>
            </p:cNvPr>
            <p:cNvSpPr/>
            <p:nvPr/>
          </p:nvSpPr>
          <p:spPr bwMode="gray">
            <a:xfrm rot="5400000">
              <a:off x="5794208" y="4417441"/>
              <a:ext cx="58800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120">
              <a:extLst>
                <a:ext uri="{FF2B5EF4-FFF2-40B4-BE49-F238E27FC236}">
                  <a16:creationId xmlns:a16="http://schemas.microsoft.com/office/drawing/2014/main" id="{7703BD68-F033-48DC-9465-9F81935FFCFA}"/>
                </a:ext>
              </a:extLst>
            </p:cNvPr>
            <p:cNvSpPr txBox="1"/>
            <p:nvPr/>
          </p:nvSpPr>
          <p:spPr bwMode="gray">
            <a:xfrm>
              <a:off x="7986824" y="2581608"/>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120">
              <a:extLst>
                <a:ext uri="{FF2B5EF4-FFF2-40B4-BE49-F238E27FC236}">
                  <a16:creationId xmlns:a16="http://schemas.microsoft.com/office/drawing/2014/main" id="{FBD674D4-13A3-4251-82BA-C0A9A2C341BC}"/>
                </a:ext>
              </a:extLst>
            </p:cNvPr>
            <p:cNvSpPr txBox="1"/>
            <p:nvPr/>
          </p:nvSpPr>
          <p:spPr bwMode="gray">
            <a:xfrm>
              <a:off x="7762216" y="2581870"/>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Arrow: Right 22">
              <a:extLst>
                <a:ext uri="{FF2B5EF4-FFF2-40B4-BE49-F238E27FC236}">
                  <a16:creationId xmlns:a16="http://schemas.microsoft.com/office/drawing/2014/main" id="{1BE1EBD8-9024-4187-B09A-DAEF1665193D}"/>
                </a:ext>
              </a:extLst>
            </p:cNvPr>
            <p:cNvSpPr/>
            <p:nvPr/>
          </p:nvSpPr>
          <p:spPr bwMode="gray">
            <a:xfrm>
              <a:off x="6819667" y="2451260"/>
              <a:ext cx="797562" cy="528719"/>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EBFE5C8A-15A0-443C-A536-9F241875991F}"/>
                </a:ext>
              </a:extLst>
            </p:cNvPr>
            <p:cNvSpPr txBox="1"/>
            <p:nvPr/>
          </p:nvSpPr>
          <p:spPr bwMode="gray">
            <a:xfrm>
              <a:off x="4873064" y="4566772"/>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特征匹配</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5" name="Rectangle 24">
              <a:extLst>
                <a:ext uri="{FF2B5EF4-FFF2-40B4-BE49-F238E27FC236}">
                  <a16:creationId xmlns:a16="http://schemas.microsoft.com/office/drawing/2014/main" id="{B755E37E-4D45-4EA9-9EE9-3EA143E89308}"/>
                </a:ext>
              </a:extLst>
            </p:cNvPr>
            <p:cNvSpPr/>
            <p:nvPr/>
          </p:nvSpPr>
          <p:spPr bwMode="gray">
            <a:xfrm>
              <a:off x="5474113" y="2493709"/>
              <a:ext cx="1276900"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应用识别记录</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26" name="Arrow: Right 25">
              <a:extLst>
                <a:ext uri="{FF2B5EF4-FFF2-40B4-BE49-F238E27FC236}">
                  <a16:creationId xmlns:a16="http://schemas.microsoft.com/office/drawing/2014/main" id="{E1F9C8FD-C24E-4848-97F1-20BDE5AC812C}"/>
                </a:ext>
              </a:extLst>
            </p:cNvPr>
            <p:cNvSpPr/>
            <p:nvPr/>
          </p:nvSpPr>
          <p:spPr bwMode="gray">
            <a:xfrm>
              <a:off x="6819667" y="3802095"/>
              <a:ext cx="797562" cy="528719"/>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Arrow: Right 26">
              <a:extLst>
                <a:ext uri="{FF2B5EF4-FFF2-40B4-BE49-F238E27FC236}">
                  <a16:creationId xmlns:a16="http://schemas.microsoft.com/office/drawing/2014/main" id="{E6BCE0D6-C887-4B6A-96D6-591D9BC2CEB0}"/>
                </a:ext>
              </a:extLst>
            </p:cNvPr>
            <p:cNvSpPr/>
            <p:nvPr/>
          </p:nvSpPr>
          <p:spPr bwMode="gray">
            <a:xfrm>
              <a:off x="6818657" y="4970983"/>
              <a:ext cx="797562" cy="528719"/>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120">
              <a:extLst>
                <a:ext uri="{FF2B5EF4-FFF2-40B4-BE49-F238E27FC236}">
                  <a16:creationId xmlns:a16="http://schemas.microsoft.com/office/drawing/2014/main" id="{ED2F9CF5-D45E-413D-B693-8F6D52A8B4ED}"/>
                </a:ext>
              </a:extLst>
            </p:cNvPr>
            <p:cNvSpPr txBox="1"/>
            <p:nvPr/>
          </p:nvSpPr>
          <p:spPr bwMode="gray">
            <a:xfrm>
              <a:off x="7988187" y="3753091"/>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120">
              <a:extLst>
                <a:ext uri="{FF2B5EF4-FFF2-40B4-BE49-F238E27FC236}">
                  <a16:creationId xmlns:a16="http://schemas.microsoft.com/office/drawing/2014/main" id="{A9C4A6C3-90AD-47C8-8337-22CD1D342455}"/>
                </a:ext>
              </a:extLst>
            </p:cNvPr>
            <p:cNvSpPr txBox="1"/>
            <p:nvPr/>
          </p:nvSpPr>
          <p:spPr bwMode="gray">
            <a:xfrm>
              <a:off x="7763582" y="3753353"/>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0">
              <a:extLst>
                <a:ext uri="{FF2B5EF4-FFF2-40B4-BE49-F238E27FC236}">
                  <a16:creationId xmlns:a16="http://schemas.microsoft.com/office/drawing/2014/main" id="{4DD2C70E-2D60-40B8-93F4-A40B0066FBB6}"/>
                </a:ext>
              </a:extLst>
            </p:cNvPr>
            <p:cNvSpPr txBox="1"/>
            <p:nvPr/>
          </p:nvSpPr>
          <p:spPr bwMode="gray">
            <a:xfrm>
              <a:off x="7985541" y="4113076"/>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0">
              <a:extLst>
                <a:ext uri="{FF2B5EF4-FFF2-40B4-BE49-F238E27FC236}">
                  <a16:creationId xmlns:a16="http://schemas.microsoft.com/office/drawing/2014/main" id="{4D196921-C791-4923-8364-112EFE5A3D9C}"/>
                </a:ext>
              </a:extLst>
            </p:cNvPr>
            <p:cNvSpPr txBox="1"/>
            <p:nvPr/>
          </p:nvSpPr>
          <p:spPr bwMode="gray">
            <a:xfrm>
              <a:off x="7760936" y="4113338"/>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0">
              <a:extLst>
                <a:ext uri="{FF2B5EF4-FFF2-40B4-BE49-F238E27FC236}">
                  <a16:creationId xmlns:a16="http://schemas.microsoft.com/office/drawing/2014/main" id="{79748E0C-4CFC-46B8-A4CD-0D47D782C73C}"/>
                </a:ext>
              </a:extLst>
            </p:cNvPr>
            <p:cNvSpPr txBox="1"/>
            <p:nvPr/>
          </p:nvSpPr>
          <p:spPr bwMode="gray">
            <a:xfrm>
              <a:off x="7991742" y="5085184"/>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0">
              <a:extLst>
                <a:ext uri="{FF2B5EF4-FFF2-40B4-BE49-F238E27FC236}">
                  <a16:creationId xmlns:a16="http://schemas.microsoft.com/office/drawing/2014/main" id="{065F5982-B0CE-4492-960D-60C995CED4C4}"/>
                </a:ext>
              </a:extLst>
            </p:cNvPr>
            <p:cNvSpPr txBox="1"/>
            <p:nvPr/>
          </p:nvSpPr>
          <p:spPr bwMode="gray">
            <a:xfrm>
              <a:off x="7767137" y="5085446"/>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Left Brace 33">
              <a:extLst>
                <a:ext uri="{FF2B5EF4-FFF2-40B4-BE49-F238E27FC236}">
                  <a16:creationId xmlns:a16="http://schemas.microsoft.com/office/drawing/2014/main" id="{2497F08D-6ABB-4E8B-B0FE-4679B34821C9}"/>
                </a:ext>
              </a:extLst>
            </p:cNvPr>
            <p:cNvSpPr/>
            <p:nvPr/>
          </p:nvSpPr>
          <p:spPr bwMode="gray">
            <a:xfrm>
              <a:off x="4539710" y="3376892"/>
              <a:ext cx="352322" cy="2247620"/>
            </a:xfrm>
            <a:prstGeom prst="leftBrace">
              <a:avLst/>
            </a:prstGeom>
            <a:ln>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TextBox 34">
              <a:extLst>
                <a:ext uri="{FF2B5EF4-FFF2-40B4-BE49-F238E27FC236}">
                  <a16:creationId xmlns:a16="http://schemas.microsoft.com/office/drawing/2014/main" id="{D4C912AF-DA50-4634-B4BF-79DF0733E810}"/>
                </a:ext>
              </a:extLst>
            </p:cNvPr>
            <p:cNvSpPr txBox="1"/>
            <p:nvPr/>
          </p:nvSpPr>
          <p:spPr bwMode="gray">
            <a:xfrm rot="16200000">
              <a:off x="3890889" y="4346813"/>
              <a:ext cx="865943" cy="307777"/>
            </a:xfrm>
            <a:prstGeom prst="rect">
              <a:avLst/>
            </a:prstGeom>
            <a:noFill/>
            <a:ln>
              <a:noFill/>
            </a:ln>
          </p:spPr>
          <p:txBody>
            <a:bodyPr wrap="none" rtlCol="0">
              <a:spAutoFit/>
            </a:bodyPr>
            <a:lstStyle/>
            <a:p>
              <a:pPr fontAlgn="auto"/>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SAC</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检测</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6" name="Rectangular Callout 72">
              <a:extLst>
                <a:ext uri="{FF2B5EF4-FFF2-40B4-BE49-F238E27FC236}">
                  <a16:creationId xmlns:a16="http://schemas.microsoft.com/office/drawing/2014/main" id="{8D16BB6D-1355-48BC-BA75-BAFFF30195EF}"/>
                </a:ext>
              </a:extLst>
            </p:cNvPr>
            <p:cNvSpPr/>
            <p:nvPr/>
          </p:nvSpPr>
          <p:spPr bwMode="gray">
            <a:xfrm>
              <a:off x="6811315" y="3074135"/>
              <a:ext cx="1149902" cy="417326"/>
            </a:xfrm>
            <a:prstGeom prst="wedgeRectCallout">
              <a:avLst>
                <a:gd name="adj1" fmla="val -20799"/>
                <a:gd name="adj2" fmla="val -104126"/>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已识别应用，直接三层转发</a:t>
              </a:r>
            </a:p>
          </p:txBody>
        </p:sp>
        <p:sp>
          <p:nvSpPr>
            <p:cNvPr id="37" name="TextBox 36">
              <a:extLst>
                <a:ext uri="{FF2B5EF4-FFF2-40B4-BE49-F238E27FC236}">
                  <a16:creationId xmlns:a16="http://schemas.microsoft.com/office/drawing/2014/main" id="{14BC8A20-7E16-4D82-A55D-B77F793F89CF}"/>
                </a:ext>
              </a:extLst>
            </p:cNvPr>
            <p:cNvSpPr txBox="1"/>
            <p:nvPr/>
          </p:nvSpPr>
          <p:spPr bwMode="gray">
            <a:xfrm>
              <a:off x="8147105" y="3764148"/>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语音</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8" name="TextBox 37">
              <a:extLst>
                <a:ext uri="{FF2B5EF4-FFF2-40B4-BE49-F238E27FC236}">
                  <a16:creationId xmlns:a16="http://schemas.microsoft.com/office/drawing/2014/main" id="{7B8CD53F-23B4-4A9A-B3F7-ED9A48E915CE}"/>
                </a:ext>
              </a:extLst>
            </p:cNvPr>
            <p:cNvSpPr txBox="1"/>
            <p:nvPr/>
          </p:nvSpPr>
          <p:spPr bwMode="gray">
            <a:xfrm>
              <a:off x="8141495" y="5065122"/>
              <a:ext cx="554960"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视频</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9" name="TextBox 38">
              <a:extLst>
                <a:ext uri="{FF2B5EF4-FFF2-40B4-BE49-F238E27FC236}">
                  <a16:creationId xmlns:a16="http://schemas.microsoft.com/office/drawing/2014/main" id="{47A244E5-283C-439F-8F26-CAC863F81D8E}"/>
                </a:ext>
              </a:extLst>
            </p:cNvPr>
            <p:cNvSpPr txBox="1"/>
            <p:nvPr/>
          </p:nvSpPr>
          <p:spPr bwMode="gray">
            <a:xfrm>
              <a:off x="8147105" y="4103044"/>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网页</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0" name="TextBox 39">
              <a:extLst>
                <a:ext uri="{FF2B5EF4-FFF2-40B4-BE49-F238E27FC236}">
                  <a16:creationId xmlns:a16="http://schemas.microsoft.com/office/drawing/2014/main" id="{A53CA456-E35F-415E-90FE-CD05088E1C59}"/>
                </a:ext>
              </a:extLst>
            </p:cNvPr>
            <p:cNvSpPr txBox="1"/>
            <p:nvPr/>
          </p:nvSpPr>
          <p:spPr bwMode="gray">
            <a:xfrm>
              <a:off x="8128239" y="2589450"/>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下载</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1" name="Rectangle 40">
              <a:extLst>
                <a:ext uri="{FF2B5EF4-FFF2-40B4-BE49-F238E27FC236}">
                  <a16:creationId xmlns:a16="http://schemas.microsoft.com/office/drawing/2014/main" id="{D9319EC8-5DF2-4852-BC1C-191123DE5B3F}"/>
                </a:ext>
              </a:extLst>
            </p:cNvPr>
            <p:cNvSpPr/>
            <p:nvPr/>
          </p:nvSpPr>
          <p:spPr bwMode="gray">
            <a:xfrm rot="16200000">
              <a:off x="7577985" y="3809522"/>
              <a:ext cx="3005992"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转发表</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42" name="Arrow: Right 41">
              <a:extLst>
                <a:ext uri="{FF2B5EF4-FFF2-40B4-BE49-F238E27FC236}">
                  <a16:creationId xmlns:a16="http://schemas.microsoft.com/office/drawing/2014/main" id="{6F1DE0EA-AA2E-4CCD-8E16-CC5486A85F79}"/>
                </a:ext>
              </a:extLst>
            </p:cNvPr>
            <p:cNvSpPr/>
            <p:nvPr/>
          </p:nvSpPr>
          <p:spPr bwMode="gray">
            <a:xfrm>
              <a:off x="9448625" y="3806130"/>
              <a:ext cx="1337169"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7700737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6D9FBF0-2619-4FFF-82A7-608580FC8AF1}"/>
              </a:ext>
            </a:extLst>
          </p:cNvPr>
          <p:cNvSpPr>
            <a:spLocks noGrp="1"/>
          </p:cNvSpPr>
          <p:nvPr>
            <p:ph type="body" sz="quarter" idx="10"/>
          </p:nvPr>
        </p:nvSpPr>
        <p:spPr bwMode="gray">
          <a:xfrm>
            <a:off x="455612" y="1047751"/>
            <a:ext cx="11293475" cy="1827828"/>
          </a:xfrm>
        </p:spPr>
        <p:txBody>
          <a:bodyPr/>
          <a:lstStyle/>
          <a:p>
            <a:r>
              <a:rPr lang="zh-CN" altLang="en-US" sz="1800" dirty="0"/>
              <a:t>不同应用对链路质量的要求不同，比如语音和视频业务对时延、丢包率的容忍率较低，容忍率一般要求时延在</a:t>
            </a:r>
            <a:r>
              <a:rPr lang="en-US" altLang="zh-CN" sz="1800" dirty="0"/>
              <a:t>150 </a:t>
            </a:r>
            <a:r>
              <a:rPr lang="en-US" altLang="zh-CN" sz="1800" dirty="0" err="1"/>
              <a:t>ms</a:t>
            </a:r>
            <a:r>
              <a:rPr lang="zh-CN" altLang="en-US" sz="1800" dirty="0"/>
              <a:t>以内，丢包率低于</a:t>
            </a:r>
            <a:r>
              <a:rPr lang="en-US" altLang="zh-CN" sz="1800" dirty="0"/>
              <a:t>1%</a:t>
            </a:r>
            <a:r>
              <a:rPr lang="zh-CN" altLang="en-US" sz="1800" dirty="0"/>
              <a:t>。</a:t>
            </a:r>
            <a:endParaRPr lang="en-US" altLang="zh-CN" sz="1800" dirty="0"/>
          </a:p>
          <a:p>
            <a:r>
              <a:rPr lang="zh-CN" altLang="en-US" sz="1800" dirty="0"/>
              <a:t>可将语音和视频业务主选链路配置为质量较好的</a:t>
            </a:r>
            <a:r>
              <a:rPr lang="en-US" altLang="zh-CN" sz="1800" dirty="0"/>
              <a:t>MPLS</a:t>
            </a:r>
            <a:r>
              <a:rPr lang="zh-CN" altLang="en-US" sz="1800" dirty="0"/>
              <a:t>链路，备选链路为</a:t>
            </a:r>
            <a:r>
              <a:rPr lang="en-US" altLang="zh-CN" sz="1800" dirty="0"/>
              <a:t>Internet</a:t>
            </a:r>
            <a:r>
              <a:rPr lang="zh-CN" altLang="en-US" sz="1800" dirty="0"/>
              <a:t>链路，并配置业务的</a:t>
            </a:r>
            <a:r>
              <a:rPr lang="en-US" altLang="zh-CN" sz="1800" dirty="0"/>
              <a:t>SLA</a:t>
            </a:r>
            <a:r>
              <a:rPr lang="zh-CN" altLang="en-US" sz="1800" dirty="0"/>
              <a:t>要求，按照链路</a:t>
            </a:r>
            <a:r>
              <a:rPr lang="en-US" altLang="zh-CN" sz="1800" dirty="0"/>
              <a:t>SLA</a:t>
            </a:r>
            <a:r>
              <a:rPr lang="zh-CN" altLang="en-US" sz="1800" dirty="0"/>
              <a:t>进行选路。</a:t>
            </a:r>
            <a:endParaRPr lang="en-US" sz="1800" dirty="0"/>
          </a:p>
        </p:txBody>
      </p:sp>
      <p:sp>
        <p:nvSpPr>
          <p:cNvPr id="32" name="Freeform 159">
            <a:extLst>
              <a:ext uri="{FF2B5EF4-FFF2-40B4-BE49-F238E27FC236}">
                <a16:creationId xmlns:a16="http://schemas.microsoft.com/office/drawing/2014/main" id="{380EBF5D-2D57-4404-ABE3-25AE0606C8B1}"/>
              </a:ext>
            </a:extLst>
          </p:cNvPr>
          <p:cNvSpPr/>
          <p:nvPr/>
        </p:nvSpPr>
        <p:spPr bwMode="gray">
          <a:xfrm flipH="1">
            <a:off x="4410595" y="4116429"/>
            <a:ext cx="1164090" cy="6085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p>
        </p:txBody>
      </p:sp>
      <p:sp>
        <p:nvSpPr>
          <p:cNvPr id="30" name="Freeform 159">
            <a:extLst>
              <a:ext uri="{FF2B5EF4-FFF2-40B4-BE49-F238E27FC236}">
                <a16:creationId xmlns:a16="http://schemas.microsoft.com/office/drawing/2014/main" id="{FB31C7A0-CCAF-40B0-866F-E4F7DC10298D}"/>
              </a:ext>
            </a:extLst>
          </p:cNvPr>
          <p:cNvSpPr/>
          <p:nvPr/>
        </p:nvSpPr>
        <p:spPr bwMode="gray">
          <a:xfrm flipH="1">
            <a:off x="827619" y="4117728"/>
            <a:ext cx="1164090" cy="6085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p>
        </p:txBody>
      </p:sp>
      <p:sp>
        <p:nvSpPr>
          <p:cNvPr id="5" name="Title 4">
            <a:extLst>
              <a:ext uri="{FF2B5EF4-FFF2-40B4-BE49-F238E27FC236}">
                <a16:creationId xmlns:a16="http://schemas.microsoft.com/office/drawing/2014/main" id="{82D88936-F833-41B2-95B7-A6E97BE01CE6}"/>
              </a:ext>
            </a:extLst>
          </p:cNvPr>
          <p:cNvSpPr>
            <a:spLocks noGrp="1"/>
          </p:cNvSpPr>
          <p:nvPr>
            <p:ph type="title"/>
          </p:nvPr>
        </p:nvSpPr>
        <p:spPr bwMode="gray"/>
        <p:txBody>
          <a:bodyPr/>
          <a:lstStyle/>
          <a:p>
            <a:r>
              <a:rPr lang="zh-CN" altLang="en-US" dirty="0"/>
              <a:t>智能选路设计：链路质量选路</a:t>
            </a:r>
            <a:endParaRPr lang="en-US" dirty="0"/>
          </a:p>
        </p:txBody>
      </p:sp>
      <p:sp>
        <p:nvSpPr>
          <p:cNvPr id="7" name="五边形 2">
            <a:extLst>
              <a:ext uri="{FF2B5EF4-FFF2-40B4-BE49-F238E27FC236}">
                <a16:creationId xmlns:a16="http://schemas.microsoft.com/office/drawing/2014/main" id="{BA1160F2-DA67-4A89-82AB-4C9265594D00}"/>
              </a:ext>
            </a:extLst>
          </p:cNvPr>
          <p:cNvSpPr/>
          <p:nvPr/>
        </p:nvSpPr>
        <p:spPr bwMode="gray">
          <a:xfrm>
            <a:off x="8618681" y="125370"/>
            <a:ext cx="105057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智能选路设计</a:t>
            </a:r>
          </a:p>
        </p:txBody>
      </p:sp>
      <p:sp>
        <p:nvSpPr>
          <p:cNvPr id="8" name="燕尾形 3">
            <a:extLst>
              <a:ext uri="{FF2B5EF4-FFF2-40B4-BE49-F238E27FC236}">
                <a16:creationId xmlns:a16="http://schemas.microsoft.com/office/drawing/2014/main" id="{D4B35244-A493-4AA6-82F0-BE59BE0A2E89}"/>
              </a:ext>
            </a:extLst>
          </p:cNvPr>
          <p:cNvSpPr/>
          <p:nvPr/>
        </p:nvSpPr>
        <p:spPr bwMode="gray">
          <a:xfrm>
            <a:off x="9599715" y="125370"/>
            <a:ext cx="105057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3">
            <a:extLst>
              <a:ext uri="{FF2B5EF4-FFF2-40B4-BE49-F238E27FC236}">
                <a16:creationId xmlns:a16="http://schemas.microsoft.com/office/drawing/2014/main" id="{06740AFA-DB08-4E35-814B-DCE8068119FD}"/>
              </a:ext>
            </a:extLst>
          </p:cNvPr>
          <p:cNvSpPr/>
          <p:nvPr/>
        </p:nvSpPr>
        <p:spPr bwMode="gray">
          <a:xfrm>
            <a:off x="10580748" y="125370"/>
            <a:ext cx="116244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丢包优化设计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8">
            <a:extLst>
              <a:ext uri="{FF2B5EF4-FFF2-40B4-BE49-F238E27FC236}">
                <a16:creationId xmlns:a16="http://schemas.microsoft.com/office/drawing/2014/main" id="{4F967F07-36ED-4F2C-9CE4-B992BA3C2C8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27189" y="4125706"/>
            <a:ext cx="540000" cy="442800"/>
          </a:xfrm>
          <a:prstGeom prst="rect">
            <a:avLst/>
          </a:prstGeom>
        </p:spPr>
      </p:pic>
      <p:pic>
        <p:nvPicPr>
          <p:cNvPr id="17" name="图片 9">
            <a:extLst>
              <a:ext uri="{FF2B5EF4-FFF2-40B4-BE49-F238E27FC236}">
                <a16:creationId xmlns:a16="http://schemas.microsoft.com/office/drawing/2014/main" id="{FA1260D4-EB1E-4F11-B3E7-9B29C6D2970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195534" y="4125706"/>
            <a:ext cx="540000" cy="442800"/>
          </a:xfrm>
          <a:prstGeom prst="rect">
            <a:avLst/>
          </a:prstGeom>
        </p:spPr>
      </p:pic>
      <p:sp>
        <p:nvSpPr>
          <p:cNvPr id="20" name="文本框 33">
            <a:extLst>
              <a:ext uri="{FF2B5EF4-FFF2-40B4-BE49-F238E27FC236}">
                <a16:creationId xmlns:a16="http://schemas.microsoft.com/office/drawing/2014/main" id="{BEFEEEE3-D6CC-48D9-9B97-FB24842DB9D0}"/>
              </a:ext>
            </a:extLst>
          </p:cNvPr>
          <p:cNvSpPr txBox="1"/>
          <p:nvPr/>
        </p:nvSpPr>
        <p:spPr bwMode="gray">
          <a:xfrm>
            <a:off x="1109809" y="4009946"/>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5</a:t>
            </a:r>
            <a:endParaRPr lang="zh-CN" altLang="en-US" sz="1200" dirty="0"/>
          </a:p>
        </p:txBody>
      </p:sp>
      <p:sp>
        <p:nvSpPr>
          <p:cNvPr id="21" name="文本框 34">
            <a:extLst>
              <a:ext uri="{FF2B5EF4-FFF2-40B4-BE49-F238E27FC236}">
                <a16:creationId xmlns:a16="http://schemas.microsoft.com/office/drawing/2014/main" id="{0218C197-F3E8-4E6F-8147-3E9DC4E4F659}"/>
              </a:ext>
            </a:extLst>
          </p:cNvPr>
          <p:cNvSpPr txBox="1"/>
          <p:nvPr/>
        </p:nvSpPr>
        <p:spPr bwMode="gray">
          <a:xfrm>
            <a:off x="1417513" y="4009946"/>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4</a:t>
            </a:r>
            <a:endParaRPr lang="zh-CN" altLang="en-US" sz="1200" dirty="0"/>
          </a:p>
        </p:txBody>
      </p:sp>
      <p:grpSp>
        <p:nvGrpSpPr>
          <p:cNvPr id="4" name="Group 3">
            <a:extLst>
              <a:ext uri="{FF2B5EF4-FFF2-40B4-BE49-F238E27FC236}">
                <a16:creationId xmlns:a16="http://schemas.microsoft.com/office/drawing/2014/main" id="{162FD08D-0838-4FE8-9836-1BD5D6661538}"/>
              </a:ext>
            </a:extLst>
          </p:cNvPr>
          <p:cNvGrpSpPr/>
          <p:nvPr/>
        </p:nvGrpSpPr>
        <p:grpSpPr bwMode="gray">
          <a:xfrm>
            <a:off x="2777740" y="3402733"/>
            <a:ext cx="874988" cy="277000"/>
            <a:chOff x="2574670" y="2777917"/>
            <a:chExt cx="874988" cy="277000"/>
          </a:xfrm>
        </p:grpSpPr>
        <p:sp>
          <p:nvSpPr>
            <p:cNvPr id="22" name="文本框 36">
              <a:extLst>
                <a:ext uri="{FF2B5EF4-FFF2-40B4-BE49-F238E27FC236}">
                  <a16:creationId xmlns:a16="http://schemas.microsoft.com/office/drawing/2014/main" id="{52DA48E4-6E6A-40FA-AFD5-1201A5A11B55}"/>
                </a:ext>
              </a:extLst>
            </p:cNvPr>
            <p:cNvSpPr txBox="1"/>
            <p:nvPr/>
          </p:nvSpPr>
          <p:spPr bwMode="gray">
            <a:xfrm>
              <a:off x="2574670" y="2777917"/>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3</a:t>
              </a:r>
              <a:endParaRPr lang="zh-CN" altLang="en-US" sz="1200" dirty="0"/>
            </a:p>
          </p:txBody>
        </p:sp>
        <p:sp>
          <p:nvSpPr>
            <p:cNvPr id="23" name="文本框 37">
              <a:extLst>
                <a:ext uri="{FF2B5EF4-FFF2-40B4-BE49-F238E27FC236}">
                  <a16:creationId xmlns:a16="http://schemas.microsoft.com/office/drawing/2014/main" id="{AF1EBC03-4969-4EFE-9CFC-DD9CF688FD68}"/>
                </a:ext>
              </a:extLst>
            </p:cNvPr>
            <p:cNvSpPr txBox="1"/>
            <p:nvPr/>
          </p:nvSpPr>
          <p:spPr bwMode="gray">
            <a:xfrm>
              <a:off x="2882375" y="2777918"/>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2</a:t>
              </a:r>
              <a:endParaRPr lang="zh-CN" altLang="en-US" sz="1200" dirty="0"/>
            </a:p>
          </p:txBody>
        </p:sp>
        <p:sp>
          <p:nvSpPr>
            <p:cNvPr id="24" name="文本框 38">
              <a:extLst>
                <a:ext uri="{FF2B5EF4-FFF2-40B4-BE49-F238E27FC236}">
                  <a16:creationId xmlns:a16="http://schemas.microsoft.com/office/drawing/2014/main" id="{3D5BDC94-7FAE-432A-9CE0-62DCE30267C5}"/>
                </a:ext>
              </a:extLst>
            </p:cNvPr>
            <p:cNvSpPr txBox="1"/>
            <p:nvPr/>
          </p:nvSpPr>
          <p:spPr bwMode="gray">
            <a:xfrm>
              <a:off x="3190079" y="2777918"/>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1</a:t>
              </a:r>
              <a:endParaRPr lang="zh-CN" altLang="en-US" sz="1200" dirty="0"/>
            </a:p>
          </p:txBody>
        </p:sp>
      </p:grpSp>
      <p:sp>
        <p:nvSpPr>
          <p:cNvPr id="26" name="文本框 40">
            <a:extLst>
              <a:ext uri="{FF2B5EF4-FFF2-40B4-BE49-F238E27FC236}">
                <a16:creationId xmlns:a16="http://schemas.microsoft.com/office/drawing/2014/main" id="{37242FE5-61FE-4812-BE23-59F707CE630A}"/>
              </a:ext>
            </a:extLst>
          </p:cNvPr>
          <p:cNvSpPr txBox="1"/>
          <p:nvPr/>
        </p:nvSpPr>
        <p:spPr bwMode="gray">
          <a:xfrm>
            <a:off x="1356288" y="4493481"/>
            <a:ext cx="643659" cy="307777"/>
          </a:xfrm>
          <a:prstGeom prst="rect">
            <a:avLst/>
          </a:prstGeom>
          <a:noFill/>
        </p:spPr>
        <p:txBody>
          <a:bodyPr wrap="square" rtlCol="0">
            <a:spAutoFit/>
          </a:bodyPr>
          <a:lstStyle/>
          <a:p>
            <a:pPr algn="ctr"/>
            <a:r>
              <a:rPr lang="en-US" altLang="zh-CN" sz="1400" dirty="0"/>
              <a:t>EDGE</a:t>
            </a:r>
            <a:endParaRPr lang="zh-CN" altLang="en-US" sz="1400" dirty="0"/>
          </a:p>
        </p:txBody>
      </p:sp>
      <p:sp>
        <p:nvSpPr>
          <p:cNvPr id="27" name="文本框 42">
            <a:extLst>
              <a:ext uri="{FF2B5EF4-FFF2-40B4-BE49-F238E27FC236}">
                <a16:creationId xmlns:a16="http://schemas.microsoft.com/office/drawing/2014/main" id="{E5BE2CF2-5D18-4646-BF55-B50BBB0458A2}"/>
              </a:ext>
            </a:extLst>
          </p:cNvPr>
          <p:cNvSpPr txBox="1"/>
          <p:nvPr/>
        </p:nvSpPr>
        <p:spPr bwMode="gray">
          <a:xfrm>
            <a:off x="4417786" y="4493882"/>
            <a:ext cx="647114" cy="307777"/>
          </a:xfrm>
          <a:prstGeom prst="rect">
            <a:avLst/>
          </a:prstGeom>
          <a:noFill/>
        </p:spPr>
        <p:txBody>
          <a:bodyPr wrap="square" rtlCol="0">
            <a:spAutoFit/>
          </a:bodyPr>
          <a:lstStyle/>
          <a:p>
            <a:pPr algn="ctr"/>
            <a:r>
              <a:rPr lang="en-US" altLang="zh-CN" sz="1400" dirty="0"/>
              <a:t>EDGE</a:t>
            </a:r>
            <a:endParaRPr lang="zh-CN" altLang="en-US" sz="1400" dirty="0"/>
          </a:p>
        </p:txBody>
      </p:sp>
      <p:cxnSp>
        <p:nvCxnSpPr>
          <p:cNvPr id="33" name="直接箭头连接符 28">
            <a:extLst>
              <a:ext uri="{FF2B5EF4-FFF2-40B4-BE49-F238E27FC236}">
                <a16:creationId xmlns:a16="http://schemas.microsoft.com/office/drawing/2014/main" id="{9652F0A3-65B4-48C0-B395-AB8A682D37E6}"/>
              </a:ext>
            </a:extLst>
          </p:cNvPr>
          <p:cNvCxnSpPr>
            <a:cxnSpLocks/>
            <a:stCxn id="24" idx="3"/>
          </p:cNvCxnSpPr>
          <p:nvPr/>
        </p:nvCxnSpPr>
        <p:spPr bwMode="gray">
          <a:xfrm flipV="1">
            <a:off x="3652728" y="3541232"/>
            <a:ext cx="314941" cy="2"/>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EE6403D1-A812-4457-9D17-294FB3D1320E}"/>
              </a:ext>
            </a:extLst>
          </p:cNvPr>
          <p:cNvGrpSpPr/>
          <p:nvPr/>
        </p:nvGrpSpPr>
        <p:grpSpPr bwMode="gray">
          <a:xfrm>
            <a:off x="8880782" y="5062345"/>
            <a:ext cx="567283" cy="276999"/>
            <a:chOff x="6949690" y="4009946"/>
            <a:chExt cx="567283" cy="276999"/>
          </a:xfrm>
        </p:grpSpPr>
        <p:sp>
          <p:nvSpPr>
            <p:cNvPr id="45" name="文本框 33">
              <a:extLst>
                <a:ext uri="{FF2B5EF4-FFF2-40B4-BE49-F238E27FC236}">
                  <a16:creationId xmlns:a16="http://schemas.microsoft.com/office/drawing/2014/main" id="{4179328F-E7AD-4849-B4C6-4B72DB7DB075}"/>
                </a:ext>
              </a:extLst>
            </p:cNvPr>
            <p:cNvSpPr txBox="1"/>
            <p:nvPr/>
          </p:nvSpPr>
          <p:spPr bwMode="gray">
            <a:xfrm>
              <a:off x="6949690" y="4009946"/>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5</a:t>
              </a:r>
              <a:endParaRPr lang="zh-CN" altLang="en-US" sz="1200" dirty="0"/>
            </a:p>
          </p:txBody>
        </p:sp>
        <p:sp>
          <p:nvSpPr>
            <p:cNvPr id="46" name="文本框 34">
              <a:extLst>
                <a:ext uri="{FF2B5EF4-FFF2-40B4-BE49-F238E27FC236}">
                  <a16:creationId xmlns:a16="http://schemas.microsoft.com/office/drawing/2014/main" id="{D623D84A-6A8E-4C14-919F-EEDF19CD8DD9}"/>
                </a:ext>
              </a:extLst>
            </p:cNvPr>
            <p:cNvSpPr txBox="1"/>
            <p:nvPr/>
          </p:nvSpPr>
          <p:spPr bwMode="gray">
            <a:xfrm>
              <a:off x="7257394" y="4009946"/>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4</a:t>
              </a:r>
              <a:endParaRPr lang="zh-CN" altLang="en-US" sz="1200" dirty="0"/>
            </a:p>
          </p:txBody>
        </p:sp>
      </p:grpSp>
      <p:cxnSp>
        <p:nvCxnSpPr>
          <p:cNvPr id="55" name="直接箭头连接符 28">
            <a:extLst>
              <a:ext uri="{FF2B5EF4-FFF2-40B4-BE49-F238E27FC236}">
                <a16:creationId xmlns:a16="http://schemas.microsoft.com/office/drawing/2014/main" id="{F82FFE65-66C2-42BD-92F9-17A8D5A1AA80}"/>
              </a:ext>
            </a:extLst>
          </p:cNvPr>
          <p:cNvCxnSpPr>
            <a:cxnSpLocks/>
            <a:stCxn id="46" idx="3"/>
          </p:cNvCxnSpPr>
          <p:nvPr/>
        </p:nvCxnSpPr>
        <p:spPr bwMode="gray">
          <a:xfrm flipV="1">
            <a:off x="9448065" y="5200844"/>
            <a:ext cx="334087" cy="1"/>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Speech Bubble: Rectangle 55">
            <a:extLst>
              <a:ext uri="{FF2B5EF4-FFF2-40B4-BE49-F238E27FC236}">
                <a16:creationId xmlns:a16="http://schemas.microsoft.com/office/drawing/2014/main" id="{8707E3A1-8E68-4891-A41A-0C02D090667C}"/>
              </a:ext>
            </a:extLst>
          </p:cNvPr>
          <p:cNvSpPr/>
          <p:nvPr/>
        </p:nvSpPr>
        <p:spPr bwMode="gray">
          <a:xfrm>
            <a:off x="8584697" y="4217450"/>
            <a:ext cx="927629" cy="267498"/>
          </a:xfrm>
          <a:prstGeom prst="wedgeRectCallout">
            <a:avLst>
              <a:gd name="adj1" fmla="val -68066"/>
              <a:gd name="adj2" fmla="val -2295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动态切换</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57" name="Arrow: Right 56">
            <a:extLst>
              <a:ext uri="{FF2B5EF4-FFF2-40B4-BE49-F238E27FC236}">
                <a16:creationId xmlns:a16="http://schemas.microsoft.com/office/drawing/2014/main" id="{15264A30-8164-4F5C-A689-DC7E5DC21FED}"/>
              </a:ext>
            </a:extLst>
          </p:cNvPr>
          <p:cNvSpPr/>
          <p:nvPr/>
        </p:nvSpPr>
        <p:spPr bwMode="gray">
          <a:xfrm>
            <a:off x="5692581" y="3914717"/>
            <a:ext cx="979992" cy="817295"/>
          </a:xfrm>
          <a:prstGeom prst="rightArrow">
            <a:avLst>
              <a:gd name="adj1" fmla="val 63985"/>
              <a:gd name="adj2" fmla="val 50000"/>
            </a:avLst>
          </a:prstGeom>
          <a:solidFill>
            <a:srgbClr val="94DAE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链路质量下降</a:t>
            </a:r>
            <a:endParaRPr lang="en-US" sz="1400" dirty="0">
              <a:solidFill>
                <a:schemeClr val="tx1"/>
              </a:solidFill>
            </a:endParaRPr>
          </a:p>
        </p:txBody>
      </p:sp>
      <p:cxnSp>
        <p:nvCxnSpPr>
          <p:cNvPr id="63" name="Connector: Elbow 62">
            <a:extLst>
              <a:ext uri="{FF2B5EF4-FFF2-40B4-BE49-F238E27FC236}">
                <a16:creationId xmlns:a16="http://schemas.microsoft.com/office/drawing/2014/main" id="{A39BBBF5-AC41-42C0-9D66-301F31E25220}"/>
              </a:ext>
            </a:extLst>
          </p:cNvPr>
          <p:cNvCxnSpPr>
            <a:cxnSpLocks/>
            <a:stCxn id="16" idx="0"/>
            <a:endCxn id="17" idx="0"/>
          </p:cNvCxnSpPr>
          <p:nvPr/>
        </p:nvCxnSpPr>
        <p:spPr bwMode="gray">
          <a:xfrm rot="5400000" flipH="1" flipV="1">
            <a:off x="3231361" y="2891534"/>
            <a:ext cx="12700" cy="2468345"/>
          </a:xfrm>
          <a:prstGeom prst="bentConnector3">
            <a:avLst>
              <a:gd name="adj1" fmla="val 2925000"/>
            </a:avLst>
          </a:prstGeom>
          <a:ln w="28575">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4F6357C-4E13-43AE-B26F-449E5038A3FC}"/>
              </a:ext>
            </a:extLst>
          </p:cNvPr>
          <p:cNvCxnSpPr>
            <a:cxnSpLocks/>
            <a:stCxn id="16" idx="2"/>
            <a:endCxn id="17" idx="2"/>
          </p:cNvCxnSpPr>
          <p:nvPr/>
        </p:nvCxnSpPr>
        <p:spPr bwMode="gray">
          <a:xfrm rot="16200000" flipH="1">
            <a:off x="3231361" y="3334333"/>
            <a:ext cx="12700" cy="2468345"/>
          </a:xfrm>
          <a:prstGeom prst="bentConnector3">
            <a:avLst>
              <a:gd name="adj1" fmla="val 2925016"/>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BE1E03C7-AD49-4360-B81D-906C71B04368}"/>
              </a:ext>
            </a:extLst>
          </p:cNvPr>
          <p:cNvSpPr txBox="1"/>
          <p:nvPr/>
        </p:nvSpPr>
        <p:spPr bwMode="gray">
          <a:xfrm>
            <a:off x="2763768" y="3762632"/>
            <a:ext cx="954107" cy="276999"/>
          </a:xfrm>
          <a:prstGeom prst="rect">
            <a:avLst/>
          </a:prstGeom>
          <a:noFill/>
        </p:spPr>
        <p:txBody>
          <a:bodyPr wrap="none" rtlCol="0">
            <a:spAutoFit/>
          </a:bodyPr>
          <a:lstStyle/>
          <a:p>
            <a:r>
              <a:rPr lang="zh-CN" altLang="en-US" sz="1200" dirty="0"/>
              <a:t>高质量链路</a:t>
            </a:r>
            <a:endParaRPr lang="en-US" sz="1200" dirty="0"/>
          </a:p>
        </p:txBody>
      </p:sp>
      <p:sp>
        <p:nvSpPr>
          <p:cNvPr id="71" name="TextBox 70">
            <a:extLst>
              <a:ext uri="{FF2B5EF4-FFF2-40B4-BE49-F238E27FC236}">
                <a16:creationId xmlns:a16="http://schemas.microsoft.com/office/drawing/2014/main" id="{24E5F014-DAAA-4B84-B592-3E3585D9619D}"/>
              </a:ext>
            </a:extLst>
          </p:cNvPr>
          <p:cNvSpPr txBox="1"/>
          <p:nvPr/>
        </p:nvSpPr>
        <p:spPr bwMode="gray">
          <a:xfrm>
            <a:off x="2771905" y="4680235"/>
            <a:ext cx="954107" cy="276999"/>
          </a:xfrm>
          <a:prstGeom prst="rect">
            <a:avLst/>
          </a:prstGeom>
          <a:noFill/>
        </p:spPr>
        <p:txBody>
          <a:bodyPr wrap="none" rtlCol="0">
            <a:spAutoFit/>
          </a:bodyPr>
          <a:lstStyle/>
          <a:p>
            <a:r>
              <a:rPr lang="zh-CN" altLang="en-US" sz="1200" dirty="0"/>
              <a:t>低质量链路</a:t>
            </a:r>
            <a:endParaRPr lang="en-US" sz="1200" dirty="0"/>
          </a:p>
        </p:txBody>
      </p:sp>
      <p:sp>
        <p:nvSpPr>
          <p:cNvPr id="73" name="Freeform 159">
            <a:extLst>
              <a:ext uri="{FF2B5EF4-FFF2-40B4-BE49-F238E27FC236}">
                <a16:creationId xmlns:a16="http://schemas.microsoft.com/office/drawing/2014/main" id="{1A2B7B2D-E255-44AF-BF6E-17985C4F5D5E}"/>
              </a:ext>
            </a:extLst>
          </p:cNvPr>
          <p:cNvSpPr/>
          <p:nvPr/>
        </p:nvSpPr>
        <p:spPr bwMode="gray">
          <a:xfrm flipH="1">
            <a:off x="10363017" y="4107240"/>
            <a:ext cx="1164090" cy="6085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p>
        </p:txBody>
      </p:sp>
      <p:sp>
        <p:nvSpPr>
          <p:cNvPr id="74" name="Freeform 159">
            <a:extLst>
              <a:ext uri="{FF2B5EF4-FFF2-40B4-BE49-F238E27FC236}">
                <a16:creationId xmlns:a16="http://schemas.microsoft.com/office/drawing/2014/main" id="{9991B070-9D8B-44B1-8C29-093B563CBBAB}"/>
              </a:ext>
            </a:extLst>
          </p:cNvPr>
          <p:cNvSpPr/>
          <p:nvPr/>
        </p:nvSpPr>
        <p:spPr bwMode="gray">
          <a:xfrm flipH="1">
            <a:off x="6780041" y="4108539"/>
            <a:ext cx="1164090" cy="6085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p>
        </p:txBody>
      </p:sp>
      <p:pic>
        <p:nvPicPr>
          <p:cNvPr id="75" name="图片 8">
            <a:extLst>
              <a:ext uri="{FF2B5EF4-FFF2-40B4-BE49-F238E27FC236}">
                <a16:creationId xmlns:a16="http://schemas.microsoft.com/office/drawing/2014/main" id="{F6FA9DE5-07B4-4FA6-858E-9804E25F6B29}"/>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679611" y="4116517"/>
            <a:ext cx="540000" cy="442800"/>
          </a:xfrm>
          <a:prstGeom prst="rect">
            <a:avLst/>
          </a:prstGeom>
        </p:spPr>
      </p:pic>
      <p:pic>
        <p:nvPicPr>
          <p:cNvPr id="76" name="图片 9">
            <a:extLst>
              <a:ext uri="{FF2B5EF4-FFF2-40B4-BE49-F238E27FC236}">
                <a16:creationId xmlns:a16="http://schemas.microsoft.com/office/drawing/2014/main" id="{26E35D3B-CBD8-462A-A897-4B62F36AFC5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147956" y="4116517"/>
            <a:ext cx="540000" cy="442800"/>
          </a:xfrm>
          <a:prstGeom prst="rect">
            <a:avLst/>
          </a:prstGeom>
        </p:spPr>
      </p:pic>
      <p:sp>
        <p:nvSpPr>
          <p:cNvPr id="83" name="文本框 40">
            <a:extLst>
              <a:ext uri="{FF2B5EF4-FFF2-40B4-BE49-F238E27FC236}">
                <a16:creationId xmlns:a16="http://schemas.microsoft.com/office/drawing/2014/main" id="{F8DFC5BD-919D-4206-A434-6F18D7C53DF1}"/>
              </a:ext>
            </a:extLst>
          </p:cNvPr>
          <p:cNvSpPr txBox="1"/>
          <p:nvPr/>
        </p:nvSpPr>
        <p:spPr bwMode="gray">
          <a:xfrm>
            <a:off x="7316847" y="4484292"/>
            <a:ext cx="635522" cy="307777"/>
          </a:xfrm>
          <a:prstGeom prst="rect">
            <a:avLst/>
          </a:prstGeom>
          <a:noFill/>
        </p:spPr>
        <p:txBody>
          <a:bodyPr wrap="square" rtlCol="0">
            <a:spAutoFit/>
          </a:bodyPr>
          <a:lstStyle/>
          <a:p>
            <a:pPr algn="ctr"/>
            <a:r>
              <a:rPr lang="en-US" altLang="zh-CN" sz="1400" dirty="0"/>
              <a:t>EDGE</a:t>
            </a:r>
            <a:endParaRPr lang="zh-CN" altLang="en-US" sz="1400" dirty="0"/>
          </a:p>
        </p:txBody>
      </p:sp>
      <p:sp>
        <p:nvSpPr>
          <p:cNvPr id="84" name="文本框 42">
            <a:extLst>
              <a:ext uri="{FF2B5EF4-FFF2-40B4-BE49-F238E27FC236}">
                <a16:creationId xmlns:a16="http://schemas.microsoft.com/office/drawing/2014/main" id="{61467D9B-B861-4A44-9003-7D0289B633E3}"/>
              </a:ext>
            </a:extLst>
          </p:cNvPr>
          <p:cNvSpPr txBox="1"/>
          <p:nvPr/>
        </p:nvSpPr>
        <p:spPr bwMode="gray">
          <a:xfrm>
            <a:off x="10359426" y="4493882"/>
            <a:ext cx="637408" cy="307777"/>
          </a:xfrm>
          <a:prstGeom prst="rect">
            <a:avLst/>
          </a:prstGeom>
          <a:noFill/>
        </p:spPr>
        <p:txBody>
          <a:bodyPr wrap="square" rtlCol="0">
            <a:spAutoFit/>
          </a:bodyPr>
          <a:lstStyle/>
          <a:p>
            <a:pPr algn="ctr"/>
            <a:r>
              <a:rPr lang="en-US" altLang="zh-CN" sz="1400" dirty="0"/>
              <a:t>EDGE</a:t>
            </a:r>
            <a:endParaRPr lang="zh-CN" altLang="en-US" sz="1400" dirty="0"/>
          </a:p>
        </p:txBody>
      </p:sp>
      <p:cxnSp>
        <p:nvCxnSpPr>
          <p:cNvPr id="86" name="Connector: Elbow 85">
            <a:extLst>
              <a:ext uri="{FF2B5EF4-FFF2-40B4-BE49-F238E27FC236}">
                <a16:creationId xmlns:a16="http://schemas.microsoft.com/office/drawing/2014/main" id="{D94EA2DC-BBBF-4559-BE9E-492D398975E4}"/>
              </a:ext>
            </a:extLst>
          </p:cNvPr>
          <p:cNvCxnSpPr>
            <a:cxnSpLocks/>
            <a:stCxn id="75" idx="0"/>
            <a:endCxn id="76" idx="0"/>
          </p:cNvCxnSpPr>
          <p:nvPr/>
        </p:nvCxnSpPr>
        <p:spPr bwMode="gray">
          <a:xfrm rot="5400000" flipH="1" flipV="1">
            <a:off x="9183783" y="2882345"/>
            <a:ext cx="12700" cy="2468345"/>
          </a:xfrm>
          <a:prstGeom prst="bentConnector3">
            <a:avLst>
              <a:gd name="adj1" fmla="val 2925000"/>
            </a:avLst>
          </a:prstGeom>
          <a:ln w="28575">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CC2F99EB-60D3-49DD-AB7B-9AB8D5B55FA2}"/>
              </a:ext>
            </a:extLst>
          </p:cNvPr>
          <p:cNvCxnSpPr>
            <a:cxnSpLocks/>
            <a:stCxn id="75" idx="2"/>
            <a:endCxn id="76" idx="2"/>
          </p:cNvCxnSpPr>
          <p:nvPr/>
        </p:nvCxnSpPr>
        <p:spPr bwMode="gray">
          <a:xfrm rot="16200000" flipH="1">
            <a:off x="9183783" y="3325144"/>
            <a:ext cx="12700" cy="2468345"/>
          </a:xfrm>
          <a:prstGeom prst="bentConnector3">
            <a:avLst>
              <a:gd name="adj1" fmla="val 2925016"/>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BA65006D-FD90-4AA7-BAA3-09182DD6F75D}"/>
              </a:ext>
            </a:extLst>
          </p:cNvPr>
          <p:cNvSpPr txBox="1"/>
          <p:nvPr/>
        </p:nvSpPr>
        <p:spPr bwMode="gray">
          <a:xfrm>
            <a:off x="8716190" y="3753443"/>
            <a:ext cx="954107" cy="276999"/>
          </a:xfrm>
          <a:prstGeom prst="rect">
            <a:avLst/>
          </a:prstGeom>
          <a:noFill/>
        </p:spPr>
        <p:txBody>
          <a:bodyPr wrap="none" rtlCol="0">
            <a:spAutoFit/>
          </a:bodyPr>
          <a:lstStyle/>
          <a:p>
            <a:r>
              <a:rPr lang="zh-CN" altLang="en-US" sz="1200" dirty="0"/>
              <a:t>高质量链路</a:t>
            </a:r>
            <a:endParaRPr lang="en-US" sz="1200" dirty="0"/>
          </a:p>
        </p:txBody>
      </p:sp>
      <p:sp>
        <p:nvSpPr>
          <p:cNvPr id="89" name="TextBox 88">
            <a:extLst>
              <a:ext uri="{FF2B5EF4-FFF2-40B4-BE49-F238E27FC236}">
                <a16:creationId xmlns:a16="http://schemas.microsoft.com/office/drawing/2014/main" id="{77D75591-8DED-402F-A89C-CEB4ED43ECED}"/>
              </a:ext>
            </a:extLst>
          </p:cNvPr>
          <p:cNvSpPr txBox="1"/>
          <p:nvPr/>
        </p:nvSpPr>
        <p:spPr bwMode="gray">
          <a:xfrm>
            <a:off x="8724327" y="4671046"/>
            <a:ext cx="954107" cy="276999"/>
          </a:xfrm>
          <a:prstGeom prst="rect">
            <a:avLst/>
          </a:prstGeom>
          <a:noFill/>
        </p:spPr>
        <p:txBody>
          <a:bodyPr wrap="none" rtlCol="0">
            <a:spAutoFit/>
          </a:bodyPr>
          <a:lstStyle/>
          <a:p>
            <a:r>
              <a:rPr lang="zh-CN" altLang="en-US" sz="1200" dirty="0"/>
              <a:t>低质量链路</a:t>
            </a:r>
            <a:endParaRPr lang="en-US" sz="1200" dirty="0"/>
          </a:p>
        </p:txBody>
      </p:sp>
      <p:cxnSp>
        <p:nvCxnSpPr>
          <p:cNvPr id="91" name="Straight Arrow Connector 90">
            <a:extLst>
              <a:ext uri="{FF2B5EF4-FFF2-40B4-BE49-F238E27FC236}">
                <a16:creationId xmlns:a16="http://schemas.microsoft.com/office/drawing/2014/main" id="{993E579D-0F32-43A1-88D0-712B55A303F3}"/>
              </a:ext>
            </a:extLst>
          </p:cNvPr>
          <p:cNvCxnSpPr/>
          <p:nvPr/>
        </p:nvCxnSpPr>
        <p:spPr bwMode="gray">
          <a:xfrm>
            <a:off x="8353425" y="3891942"/>
            <a:ext cx="0" cy="900127"/>
          </a:xfrm>
          <a:prstGeom prst="straightConnector1">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EB8E7B1B-CE54-486B-925B-C38296C361AD}"/>
              </a:ext>
            </a:extLst>
          </p:cNvPr>
          <p:cNvGrpSpPr/>
          <p:nvPr/>
        </p:nvGrpSpPr>
        <p:grpSpPr bwMode="gray">
          <a:xfrm>
            <a:off x="10737255" y="3911590"/>
            <a:ext cx="874988" cy="277000"/>
            <a:chOff x="2574670" y="2777917"/>
            <a:chExt cx="874988" cy="277000"/>
          </a:xfrm>
        </p:grpSpPr>
        <p:sp>
          <p:nvSpPr>
            <p:cNvPr id="48" name="文本框 36">
              <a:extLst>
                <a:ext uri="{FF2B5EF4-FFF2-40B4-BE49-F238E27FC236}">
                  <a16:creationId xmlns:a16="http://schemas.microsoft.com/office/drawing/2014/main" id="{46BD3EB6-D5F6-4AF5-9E88-E197B1D52D85}"/>
                </a:ext>
              </a:extLst>
            </p:cNvPr>
            <p:cNvSpPr txBox="1"/>
            <p:nvPr/>
          </p:nvSpPr>
          <p:spPr bwMode="gray">
            <a:xfrm>
              <a:off x="2574670" y="2777917"/>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3</a:t>
              </a:r>
              <a:endParaRPr lang="zh-CN" altLang="en-US" sz="1200" dirty="0"/>
            </a:p>
          </p:txBody>
        </p:sp>
        <p:sp>
          <p:nvSpPr>
            <p:cNvPr id="49" name="文本框 37">
              <a:extLst>
                <a:ext uri="{FF2B5EF4-FFF2-40B4-BE49-F238E27FC236}">
                  <a16:creationId xmlns:a16="http://schemas.microsoft.com/office/drawing/2014/main" id="{F7785C64-B2EB-4F77-9554-88AFE250B89B}"/>
                </a:ext>
              </a:extLst>
            </p:cNvPr>
            <p:cNvSpPr txBox="1"/>
            <p:nvPr/>
          </p:nvSpPr>
          <p:spPr bwMode="gray">
            <a:xfrm>
              <a:off x="2882375" y="2777918"/>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2</a:t>
              </a:r>
              <a:endParaRPr lang="zh-CN" altLang="en-US" sz="1200" dirty="0"/>
            </a:p>
          </p:txBody>
        </p:sp>
        <p:sp>
          <p:nvSpPr>
            <p:cNvPr id="50" name="文本框 38">
              <a:extLst>
                <a:ext uri="{FF2B5EF4-FFF2-40B4-BE49-F238E27FC236}">
                  <a16:creationId xmlns:a16="http://schemas.microsoft.com/office/drawing/2014/main" id="{B00357FD-C046-41F5-B26D-69E39461341A}"/>
                </a:ext>
              </a:extLst>
            </p:cNvPr>
            <p:cNvSpPr txBox="1"/>
            <p:nvPr/>
          </p:nvSpPr>
          <p:spPr bwMode="gray">
            <a:xfrm>
              <a:off x="3190079" y="2777918"/>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1</a:t>
              </a:r>
              <a:endParaRPr lang="zh-CN" altLang="en-US" sz="1200" dirty="0"/>
            </a:p>
          </p:txBody>
        </p:sp>
      </p:grpSp>
      <p:sp>
        <p:nvSpPr>
          <p:cNvPr id="92" name="Speech Bubble: Rectangle 91">
            <a:extLst>
              <a:ext uri="{FF2B5EF4-FFF2-40B4-BE49-F238E27FC236}">
                <a16:creationId xmlns:a16="http://schemas.microsoft.com/office/drawing/2014/main" id="{52DBEDF4-6634-43D8-893F-F4394203E461}"/>
              </a:ext>
            </a:extLst>
          </p:cNvPr>
          <p:cNvSpPr/>
          <p:nvPr/>
        </p:nvSpPr>
        <p:spPr bwMode="gray">
          <a:xfrm>
            <a:off x="8073875" y="3273734"/>
            <a:ext cx="1300904" cy="267498"/>
          </a:xfrm>
          <a:prstGeom prst="wedgeRectCallout">
            <a:avLst>
              <a:gd name="adj1" fmla="val 26401"/>
              <a:gd name="adj2" fmla="val 10523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链路质量下降</a:t>
            </a:r>
          </a:p>
        </p:txBody>
      </p:sp>
    </p:spTree>
    <p:extLst>
      <p:ext uri="{BB962C8B-B14F-4D97-AF65-F5344CB8AC3E}">
        <p14:creationId xmlns:p14="http://schemas.microsoft.com/office/powerpoint/2010/main" val="15755675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6D9FBF0-2619-4FFF-82A7-608580FC8AF1}"/>
              </a:ext>
            </a:extLst>
          </p:cNvPr>
          <p:cNvSpPr>
            <a:spLocks noGrp="1"/>
          </p:cNvSpPr>
          <p:nvPr>
            <p:ph type="body" sz="quarter" idx="10"/>
          </p:nvPr>
        </p:nvSpPr>
        <p:spPr bwMode="gray">
          <a:xfrm>
            <a:off x="455612" y="1047750"/>
            <a:ext cx="11293475" cy="2139487"/>
          </a:xfrm>
        </p:spPr>
        <p:txBody>
          <a:bodyPr/>
          <a:lstStyle/>
          <a:p>
            <a:r>
              <a:rPr lang="zh-CN" altLang="en-US" sz="1800" dirty="0"/>
              <a:t>在企业有多条链路时，希望能够充分利用链路带宽，基于链路带宽进行负载分担选路。此时可配置负载均衡方式的选路调度方式。</a:t>
            </a:r>
            <a:endParaRPr lang="en-US" altLang="zh-CN" sz="1800" dirty="0"/>
          </a:p>
          <a:p>
            <a:r>
              <a:rPr lang="zh-CN" altLang="en-US" sz="1800" dirty="0"/>
              <a:t>比如可将语音业务的主选链路设置为这两条</a:t>
            </a:r>
            <a:r>
              <a:rPr lang="en-US" altLang="zh-CN" sz="1800" dirty="0"/>
              <a:t>MPLS</a:t>
            </a:r>
            <a:r>
              <a:rPr lang="zh-CN" altLang="en-US" sz="1800" dirty="0"/>
              <a:t>链路。在两条链路质量均满足语音业务</a:t>
            </a:r>
            <a:r>
              <a:rPr lang="en-US" altLang="zh-CN" sz="1800" dirty="0"/>
              <a:t>SLA</a:t>
            </a:r>
            <a:r>
              <a:rPr lang="zh-CN" altLang="en-US" sz="1800" dirty="0"/>
              <a:t>的前提下，语音业务可以负载分担的方式跑在两条</a:t>
            </a:r>
            <a:r>
              <a:rPr lang="en-US" altLang="zh-CN" sz="1800" dirty="0"/>
              <a:t>MPLS</a:t>
            </a:r>
            <a:r>
              <a:rPr lang="zh-CN" altLang="en-US" sz="1800" dirty="0"/>
              <a:t>链路上，通过实时的带宽利用率监控，确保带宽利用率达到</a:t>
            </a:r>
            <a:r>
              <a:rPr lang="en-US" altLang="zh-CN" sz="1800" dirty="0"/>
              <a:t>85%</a:t>
            </a:r>
            <a:r>
              <a:rPr lang="zh-CN" altLang="en-US" sz="1800" dirty="0"/>
              <a:t>以上，充分利用线路带宽。</a:t>
            </a:r>
            <a:endParaRPr lang="en-US" sz="1800" dirty="0"/>
          </a:p>
        </p:txBody>
      </p:sp>
      <p:sp>
        <p:nvSpPr>
          <p:cNvPr id="5" name="Title 4">
            <a:extLst>
              <a:ext uri="{FF2B5EF4-FFF2-40B4-BE49-F238E27FC236}">
                <a16:creationId xmlns:a16="http://schemas.microsoft.com/office/drawing/2014/main" id="{82D88936-F833-41B2-95B7-A6E97BE01CE6}"/>
              </a:ext>
            </a:extLst>
          </p:cNvPr>
          <p:cNvSpPr>
            <a:spLocks noGrp="1"/>
          </p:cNvSpPr>
          <p:nvPr>
            <p:ph type="title"/>
          </p:nvPr>
        </p:nvSpPr>
        <p:spPr bwMode="gray"/>
        <p:txBody>
          <a:bodyPr/>
          <a:lstStyle/>
          <a:p>
            <a:r>
              <a:rPr lang="zh-CN" altLang="en-US" dirty="0"/>
              <a:t>智能选路设计：负载分担选路</a:t>
            </a:r>
            <a:endParaRPr lang="en-US" dirty="0"/>
          </a:p>
        </p:txBody>
      </p:sp>
      <p:grpSp>
        <p:nvGrpSpPr>
          <p:cNvPr id="10" name="Group 9">
            <a:extLst>
              <a:ext uri="{FF2B5EF4-FFF2-40B4-BE49-F238E27FC236}">
                <a16:creationId xmlns:a16="http://schemas.microsoft.com/office/drawing/2014/main" id="{CE84863B-85F0-4001-87CC-31F6868243A0}"/>
              </a:ext>
            </a:extLst>
          </p:cNvPr>
          <p:cNvGrpSpPr/>
          <p:nvPr/>
        </p:nvGrpSpPr>
        <p:grpSpPr bwMode="gray">
          <a:xfrm>
            <a:off x="5374423" y="3539376"/>
            <a:ext cx="1503060" cy="277794"/>
            <a:chOff x="5547148" y="3393009"/>
            <a:chExt cx="1503060" cy="277794"/>
          </a:xfrm>
        </p:grpSpPr>
        <p:sp>
          <p:nvSpPr>
            <p:cNvPr id="21" name="文本框 34">
              <a:extLst>
                <a:ext uri="{FF2B5EF4-FFF2-40B4-BE49-F238E27FC236}">
                  <a16:creationId xmlns:a16="http://schemas.microsoft.com/office/drawing/2014/main" id="{0218C197-F3E8-4E6F-8147-3E9DC4E4F659}"/>
                </a:ext>
              </a:extLst>
            </p:cNvPr>
            <p:cNvSpPr txBox="1"/>
            <p:nvPr/>
          </p:nvSpPr>
          <p:spPr bwMode="gray">
            <a:xfrm>
              <a:off x="5547148" y="3393009"/>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4</a:t>
              </a:r>
              <a:endParaRPr lang="zh-CN" altLang="en-US" sz="1200" dirty="0"/>
            </a:p>
          </p:txBody>
        </p:sp>
        <p:sp>
          <p:nvSpPr>
            <p:cNvPr id="22" name="文本框 36">
              <a:extLst>
                <a:ext uri="{FF2B5EF4-FFF2-40B4-BE49-F238E27FC236}">
                  <a16:creationId xmlns:a16="http://schemas.microsoft.com/office/drawing/2014/main" id="{52DA48E4-6E6A-40FA-AFD5-1201A5A11B55}"/>
                </a:ext>
              </a:extLst>
            </p:cNvPr>
            <p:cNvSpPr txBox="1"/>
            <p:nvPr/>
          </p:nvSpPr>
          <p:spPr bwMode="gray">
            <a:xfrm>
              <a:off x="5856661" y="3393274"/>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3</a:t>
              </a:r>
              <a:endParaRPr lang="zh-CN" altLang="en-US" sz="1200" dirty="0"/>
            </a:p>
          </p:txBody>
        </p:sp>
        <p:sp>
          <p:nvSpPr>
            <p:cNvPr id="23" name="文本框 37">
              <a:extLst>
                <a:ext uri="{FF2B5EF4-FFF2-40B4-BE49-F238E27FC236}">
                  <a16:creationId xmlns:a16="http://schemas.microsoft.com/office/drawing/2014/main" id="{AF1EBC03-4969-4EFE-9CFC-DD9CF688FD68}"/>
                </a:ext>
              </a:extLst>
            </p:cNvPr>
            <p:cNvSpPr txBox="1"/>
            <p:nvPr/>
          </p:nvSpPr>
          <p:spPr bwMode="gray">
            <a:xfrm>
              <a:off x="6166174" y="3393539"/>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2</a:t>
              </a:r>
              <a:endParaRPr lang="zh-CN" altLang="en-US" sz="1200" dirty="0"/>
            </a:p>
          </p:txBody>
        </p:sp>
        <p:sp>
          <p:nvSpPr>
            <p:cNvPr id="24" name="文本框 38">
              <a:extLst>
                <a:ext uri="{FF2B5EF4-FFF2-40B4-BE49-F238E27FC236}">
                  <a16:creationId xmlns:a16="http://schemas.microsoft.com/office/drawing/2014/main" id="{3D5BDC94-7FAE-432A-9CE0-62DCE30267C5}"/>
                </a:ext>
              </a:extLst>
            </p:cNvPr>
            <p:cNvSpPr txBox="1"/>
            <p:nvPr/>
          </p:nvSpPr>
          <p:spPr bwMode="gray">
            <a:xfrm>
              <a:off x="6475688" y="3393804"/>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1</a:t>
              </a:r>
              <a:endParaRPr lang="zh-CN" altLang="en-US" sz="1200" dirty="0"/>
            </a:p>
          </p:txBody>
        </p:sp>
        <p:cxnSp>
          <p:nvCxnSpPr>
            <p:cNvPr id="33" name="直接箭头连接符 28">
              <a:extLst>
                <a:ext uri="{FF2B5EF4-FFF2-40B4-BE49-F238E27FC236}">
                  <a16:creationId xmlns:a16="http://schemas.microsoft.com/office/drawing/2014/main" id="{9652F0A3-65B4-48C0-B395-AB8A682D37E6}"/>
                </a:ext>
              </a:extLst>
            </p:cNvPr>
            <p:cNvCxnSpPr>
              <a:cxnSpLocks/>
              <a:stCxn id="24" idx="3"/>
            </p:cNvCxnSpPr>
            <p:nvPr/>
          </p:nvCxnSpPr>
          <p:spPr bwMode="gray">
            <a:xfrm flipV="1">
              <a:off x="6735267" y="3532302"/>
              <a:ext cx="314941" cy="2"/>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068BC64F-DACD-4BCE-B228-3CCFAAE4FDAA}"/>
              </a:ext>
            </a:extLst>
          </p:cNvPr>
          <p:cNvGrpSpPr/>
          <p:nvPr/>
        </p:nvGrpSpPr>
        <p:grpSpPr bwMode="gray">
          <a:xfrm>
            <a:off x="5371708" y="3186972"/>
            <a:ext cx="1503060" cy="277794"/>
            <a:chOff x="5547148" y="3393009"/>
            <a:chExt cx="1503060" cy="277794"/>
          </a:xfrm>
        </p:grpSpPr>
        <p:sp>
          <p:nvSpPr>
            <p:cNvPr id="62" name="文本框 34">
              <a:extLst>
                <a:ext uri="{FF2B5EF4-FFF2-40B4-BE49-F238E27FC236}">
                  <a16:creationId xmlns:a16="http://schemas.microsoft.com/office/drawing/2014/main" id="{AB94A03D-8F5D-45AA-8EA7-75CDEEC52DC1}"/>
                </a:ext>
              </a:extLst>
            </p:cNvPr>
            <p:cNvSpPr txBox="1"/>
            <p:nvPr/>
          </p:nvSpPr>
          <p:spPr bwMode="gray">
            <a:xfrm>
              <a:off x="5547148" y="3393009"/>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4</a:t>
              </a:r>
              <a:endParaRPr lang="zh-CN" altLang="en-US" sz="1200" dirty="0"/>
            </a:p>
          </p:txBody>
        </p:sp>
        <p:sp>
          <p:nvSpPr>
            <p:cNvPr id="63" name="文本框 36">
              <a:extLst>
                <a:ext uri="{FF2B5EF4-FFF2-40B4-BE49-F238E27FC236}">
                  <a16:creationId xmlns:a16="http://schemas.microsoft.com/office/drawing/2014/main" id="{B22B2F98-2A1D-439C-A68C-AAA2E82A2944}"/>
                </a:ext>
              </a:extLst>
            </p:cNvPr>
            <p:cNvSpPr txBox="1"/>
            <p:nvPr/>
          </p:nvSpPr>
          <p:spPr bwMode="gray">
            <a:xfrm>
              <a:off x="5856661" y="3393274"/>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3</a:t>
              </a:r>
              <a:endParaRPr lang="zh-CN" altLang="en-US" sz="1200" dirty="0"/>
            </a:p>
          </p:txBody>
        </p:sp>
        <p:sp>
          <p:nvSpPr>
            <p:cNvPr id="64" name="文本框 37">
              <a:extLst>
                <a:ext uri="{FF2B5EF4-FFF2-40B4-BE49-F238E27FC236}">
                  <a16:creationId xmlns:a16="http://schemas.microsoft.com/office/drawing/2014/main" id="{D3C3C9C3-47CC-4A89-BD05-74F8F178DE94}"/>
                </a:ext>
              </a:extLst>
            </p:cNvPr>
            <p:cNvSpPr txBox="1"/>
            <p:nvPr/>
          </p:nvSpPr>
          <p:spPr bwMode="gray">
            <a:xfrm>
              <a:off x="6166174" y="3393539"/>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2</a:t>
              </a:r>
              <a:endParaRPr lang="zh-CN" altLang="en-US" sz="1200" dirty="0"/>
            </a:p>
          </p:txBody>
        </p:sp>
        <p:sp>
          <p:nvSpPr>
            <p:cNvPr id="65" name="文本框 38">
              <a:extLst>
                <a:ext uri="{FF2B5EF4-FFF2-40B4-BE49-F238E27FC236}">
                  <a16:creationId xmlns:a16="http://schemas.microsoft.com/office/drawing/2014/main" id="{ABB3C167-E8D4-421D-B01C-BA073449655C}"/>
                </a:ext>
              </a:extLst>
            </p:cNvPr>
            <p:cNvSpPr txBox="1"/>
            <p:nvPr/>
          </p:nvSpPr>
          <p:spPr bwMode="gray">
            <a:xfrm>
              <a:off x="6475688" y="3393804"/>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1</a:t>
              </a:r>
              <a:endParaRPr lang="zh-CN" altLang="en-US" sz="1200" dirty="0"/>
            </a:p>
          </p:txBody>
        </p:sp>
        <p:cxnSp>
          <p:nvCxnSpPr>
            <p:cNvPr id="66" name="直接箭头连接符 28">
              <a:extLst>
                <a:ext uri="{FF2B5EF4-FFF2-40B4-BE49-F238E27FC236}">
                  <a16:creationId xmlns:a16="http://schemas.microsoft.com/office/drawing/2014/main" id="{063EA1FD-F479-4CF5-B920-8A918CD0091D}"/>
                </a:ext>
              </a:extLst>
            </p:cNvPr>
            <p:cNvCxnSpPr>
              <a:cxnSpLocks/>
              <a:stCxn id="65" idx="3"/>
            </p:cNvCxnSpPr>
            <p:nvPr/>
          </p:nvCxnSpPr>
          <p:spPr bwMode="gray">
            <a:xfrm flipV="1">
              <a:off x="6735267" y="3532302"/>
              <a:ext cx="314941" cy="2"/>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032B009F-6D6F-4238-9357-1DA83C640843}"/>
              </a:ext>
            </a:extLst>
          </p:cNvPr>
          <p:cNvGrpSpPr/>
          <p:nvPr/>
        </p:nvGrpSpPr>
        <p:grpSpPr bwMode="gray">
          <a:xfrm>
            <a:off x="5363815" y="5184191"/>
            <a:ext cx="1503060" cy="277794"/>
            <a:chOff x="5547148" y="3393009"/>
            <a:chExt cx="1503060" cy="277794"/>
          </a:xfrm>
        </p:grpSpPr>
        <p:sp>
          <p:nvSpPr>
            <p:cNvPr id="68" name="文本框 34">
              <a:extLst>
                <a:ext uri="{FF2B5EF4-FFF2-40B4-BE49-F238E27FC236}">
                  <a16:creationId xmlns:a16="http://schemas.microsoft.com/office/drawing/2014/main" id="{9B9FEE3D-B841-4E35-B7CE-31C9B3A38640}"/>
                </a:ext>
              </a:extLst>
            </p:cNvPr>
            <p:cNvSpPr txBox="1"/>
            <p:nvPr/>
          </p:nvSpPr>
          <p:spPr bwMode="gray">
            <a:xfrm>
              <a:off x="5547148" y="3393009"/>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4</a:t>
              </a:r>
              <a:endParaRPr lang="zh-CN" altLang="en-US" sz="1200" dirty="0"/>
            </a:p>
          </p:txBody>
        </p:sp>
        <p:sp>
          <p:nvSpPr>
            <p:cNvPr id="69" name="文本框 36">
              <a:extLst>
                <a:ext uri="{FF2B5EF4-FFF2-40B4-BE49-F238E27FC236}">
                  <a16:creationId xmlns:a16="http://schemas.microsoft.com/office/drawing/2014/main" id="{2F1CC51A-812D-471F-ADF7-81B96461A0F6}"/>
                </a:ext>
              </a:extLst>
            </p:cNvPr>
            <p:cNvSpPr txBox="1"/>
            <p:nvPr/>
          </p:nvSpPr>
          <p:spPr bwMode="gray">
            <a:xfrm>
              <a:off x="5856661" y="3393274"/>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3</a:t>
              </a:r>
              <a:endParaRPr lang="zh-CN" altLang="en-US" sz="1200" dirty="0"/>
            </a:p>
          </p:txBody>
        </p:sp>
        <p:sp>
          <p:nvSpPr>
            <p:cNvPr id="70" name="文本框 37">
              <a:extLst>
                <a:ext uri="{FF2B5EF4-FFF2-40B4-BE49-F238E27FC236}">
                  <a16:creationId xmlns:a16="http://schemas.microsoft.com/office/drawing/2014/main" id="{EB9EA98D-4D6D-4C63-A18C-1495856C21D0}"/>
                </a:ext>
              </a:extLst>
            </p:cNvPr>
            <p:cNvSpPr txBox="1"/>
            <p:nvPr/>
          </p:nvSpPr>
          <p:spPr bwMode="gray">
            <a:xfrm>
              <a:off x="6166174" y="3393539"/>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2</a:t>
              </a:r>
              <a:endParaRPr lang="zh-CN" altLang="en-US" sz="1200" dirty="0"/>
            </a:p>
          </p:txBody>
        </p:sp>
        <p:sp>
          <p:nvSpPr>
            <p:cNvPr id="71" name="文本框 38">
              <a:extLst>
                <a:ext uri="{FF2B5EF4-FFF2-40B4-BE49-F238E27FC236}">
                  <a16:creationId xmlns:a16="http://schemas.microsoft.com/office/drawing/2014/main" id="{53A94320-6007-4C7E-A63E-D8A2CF2608ED}"/>
                </a:ext>
              </a:extLst>
            </p:cNvPr>
            <p:cNvSpPr txBox="1"/>
            <p:nvPr/>
          </p:nvSpPr>
          <p:spPr bwMode="gray">
            <a:xfrm>
              <a:off x="6475688" y="3393804"/>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1</a:t>
              </a:r>
              <a:endParaRPr lang="zh-CN" altLang="en-US" sz="1200" dirty="0"/>
            </a:p>
          </p:txBody>
        </p:sp>
        <p:cxnSp>
          <p:nvCxnSpPr>
            <p:cNvPr id="72" name="直接箭头连接符 28">
              <a:extLst>
                <a:ext uri="{FF2B5EF4-FFF2-40B4-BE49-F238E27FC236}">
                  <a16:creationId xmlns:a16="http://schemas.microsoft.com/office/drawing/2014/main" id="{A0407C00-64FA-4187-AB0B-F59CC894ADD2}"/>
                </a:ext>
              </a:extLst>
            </p:cNvPr>
            <p:cNvCxnSpPr>
              <a:cxnSpLocks/>
              <a:stCxn id="71" idx="3"/>
            </p:cNvCxnSpPr>
            <p:nvPr/>
          </p:nvCxnSpPr>
          <p:spPr bwMode="gray">
            <a:xfrm flipV="1">
              <a:off x="6735267" y="3532302"/>
              <a:ext cx="314941" cy="2"/>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9" name="Freeform 159">
            <a:extLst>
              <a:ext uri="{FF2B5EF4-FFF2-40B4-BE49-F238E27FC236}">
                <a16:creationId xmlns:a16="http://schemas.microsoft.com/office/drawing/2014/main" id="{36979477-13E2-4230-80F6-4DF9D1C4DE7B}"/>
              </a:ext>
            </a:extLst>
          </p:cNvPr>
          <p:cNvSpPr/>
          <p:nvPr/>
        </p:nvSpPr>
        <p:spPr bwMode="gray">
          <a:xfrm flipH="1">
            <a:off x="7268884" y="4274518"/>
            <a:ext cx="1164090" cy="6085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p>
        </p:txBody>
      </p:sp>
      <p:sp>
        <p:nvSpPr>
          <p:cNvPr id="80" name="Freeform 159">
            <a:extLst>
              <a:ext uri="{FF2B5EF4-FFF2-40B4-BE49-F238E27FC236}">
                <a16:creationId xmlns:a16="http://schemas.microsoft.com/office/drawing/2014/main" id="{C89FA45C-254A-4B0E-A620-B0D0E7E9B830}"/>
              </a:ext>
            </a:extLst>
          </p:cNvPr>
          <p:cNvSpPr/>
          <p:nvPr/>
        </p:nvSpPr>
        <p:spPr bwMode="gray">
          <a:xfrm flipH="1">
            <a:off x="3685908" y="4275817"/>
            <a:ext cx="1164090" cy="6085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p>
        </p:txBody>
      </p:sp>
      <p:pic>
        <p:nvPicPr>
          <p:cNvPr id="81" name="图片 8">
            <a:extLst>
              <a:ext uri="{FF2B5EF4-FFF2-40B4-BE49-F238E27FC236}">
                <a16:creationId xmlns:a16="http://schemas.microsoft.com/office/drawing/2014/main" id="{6D81C1CC-1E4D-4675-B21E-395475B7D5B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585478" y="4283795"/>
            <a:ext cx="540000" cy="442800"/>
          </a:xfrm>
          <a:prstGeom prst="rect">
            <a:avLst/>
          </a:prstGeom>
        </p:spPr>
      </p:pic>
      <p:pic>
        <p:nvPicPr>
          <p:cNvPr id="82" name="图片 9">
            <a:extLst>
              <a:ext uri="{FF2B5EF4-FFF2-40B4-BE49-F238E27FC236}">
                <a16:creationId xmlns:a16="http://schemas.microsoft.com/office/drawing/2014/main" id="{709CF2D5-8EB0-460C-A0FF-E101F82C210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053823" y="4283795"/>
            <a:ext cx="540000" cy="442800"/>
          </a:xfrm>
          <a:prstGeom prst="rect">
            <a:avLst/>
          </a:prstGeom>
        </p:spPr>
      </p:pic>
      <p:sp>
        <p:nvSpPr>
          <p:cNvPr id="89" name="文本框 40">
            <a:extLst>
              <a:ext uri="{FF2B5EF4-FFF2-40B4-BE49-F238E27FC236}">
                <a16:creationId xmlns:a16="http://schemas.microsoft.com/office/drawing/2014/main" id="{FA06391C-65D1-4EA0-9BBD-50C2DCF357F6}"/>
              </a:ext>
            </a:extLst>
          </p:cNvPr>
          <p:cNvSpPr txBox="1"/>
          <p:nvPr/>
        </p:nvSpPr>
        <p:spPr bwMode="gray">
          <a:xfrm>
            <a:off x="4180835" y="4651570"/>
            <a:ext cx="677401" cy="307777"/>
          </a:xfrm>
          <a:prstGeom prst="rect">
            <a:avLst/>
          </a:prstGeom>
          <a:noFill/>
        </p:spPr>
        <p:txBody>
          <a:bodyPr wrap="square" rtlCol="0">
            <a:spAutoFit/>
          </a:bodyPr>
          <a:lstStyle/>
          <a:p>
            <a:pPr algn="ctr"/>
            <a:r>
              <a:rPr lang="en-US" altLang="zh-CN" sz="1400" dirty="0"/>
              <a:t>EDGE</a:t>
            </a:r>
            <a:endParaRPr lang="zh-CN" altLang="en-US" sz="1400" dirty="0"/>
          </a:p>
        </p:txBody>
      </p:sp>
      <p:sp>
        <p:nvSpPr>
          <p:cNvPr id="90" name="文本框 42">
            <a:extLst>
              <a:ext uri="{FF2B5EF4-FFF2-40B4-BE49-F238E27FC236}">
                <a16:creationId xmlns:a16="http://schemas.microsoft.com/office/drawing/2014/main" id="{3BA66530-9E9B-44B5-93D2-2674A7420873}"/>
              </a:ext>
            </a:extLst>
          </p:cNvPr>
          <p:cNvSpPr txBox="1"/>
          <p:nvPr/>
        </p:nvSpPr>
        <p:spPr bwMode="gray">
          <a:xfrm>
            <a:off x="7265293" y="4645781"/>
            <a:ext cx="663224" cy="307777"/>
          </a:xfrm>
          <a:prstGeom prst="rect">
            <a:avLst/>
          </a:prstGeom>
          <a:noFill/>
        </p:spPr>
        <p:txBody>
          <a:bodyPr wrap="square" rtlCol="0">
            <a:spAutoFit/>
          </a:bodyPr>
          <a:lstStyle/>
          <a:p>
            <a:pPr algn="ctr"/>
            <a:r>
              <a:rPr lang="en-US" altLang="zh-CN" sz="1400" dirty="0"/>
              <a:t>EDGE</a:t>
            </a:r>
            <a:endParaRPr lang="zh-CN" altLang="en-US" sz="1400" dirty="0"/>
          </a:p>
        </p:txBody>
      </p:sp>
      <p:cxnSp>
        <p:nvCxnSpPr>
          <p:cNvPr id="92" name="Connector: Elbow 91">
            <a:extLst>
              <a:ext uri="{FF2B5EF4-FFF2-40B4-BE49-F238E27FC236}">
                <a16:creationId xmlns:a16="http://schemas.microsoft.com/office/drawing/2014/main" id="{575021C8-FB74-4915-8BA7-7A6E24EB285F}"/>
              </a:ext>
            </a:extLst>
          </p:cNvPr>
          <p:cNvCxnSpPr>
            <a:cxnSpLocks/>
            <a:stCxn id="81" idx="0"/>
            <a:endCxn id="82" idx="0"/>
          </p:cNvCxnSpPr>
          <p:nvPr/>
        </p:nvCxnSpPr>
        <p:spPr bwMode="gray">
          <a:xfrm rot="5400000" flipH="1" flipV="1">
            <a:off x="6089650" y="3049623"/>
            <a:ext cx="12700" cy="2468345"/>
          </a:xfrm>
          <a:prstGeom prst="bentConnector3">
            <a:avLst>
              <a:gd name="adj1" fmla="val 2925000"/>
            </a:avLst>
          </a:prstGeom>
          <a:ln w="762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D1C76CE5-4EF3-44AB-B187-68E974BAC524}"/>
              </a:ext>
            </a:extLst>
          </p:cNvPr>
          <p:cNvCxnSpPr>
            <a:cxnSpLocks/>
            <a:stCxn id="81" idx="2"/>
            <a:endCxn id="82" idx="2"/>
          </p:cNvCxnSpPr>
          <p:nvPr/>
        </p:nvCxnSpPr>
        <p:spPr bwMode="gray">
          <a:xfrm rot="16200000" flipH="1">
            <a:off x="6089650" y="3492422"/>
            <a:ext cx="12700" cy="2468345"/>
          </a:xfrm>
          <a:prstGeom prst="bentConnector3">
            <a:avLst>
              <a:gd name="adj1" fmla="val 2925016"/>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3A50F7A4-5089-4315-AE93-2E6B00006327}"/>
              </a:ext>
            </a:extLst>
          </p:cNvPr>
          <p:cNvSpPr txBox="1"/>
          <p:nvPr/>
        </p:nvSpPr>
        <p:spPr bwMode="gray">
          <a:xfrm>
            <a:off x="5622057" y="3920721"/>
            <a:ext cx="954107" cy="276999"/>
          </a:xfrm>
          <a:prstGeom prst="rect">
            <a:avLst/>
          </a:prstGeom>
          <a:noFill/>
        </p:spPr>
        <p:txBody>
          <a:bodyPr wrap="none" rtlCol="0">
            <a:spAutoFit/>
          </a:bodyPr>
          <a:lstStyle/>
          <a:p>
            <a:r>
              <a:rPr lang="zh-CN" altLang="en-US" sz="1200" dirty="0"/>
              <a:t>大带宽链路</a:t>
            </a:r>
            <a:endParaRPr lang="en-US" sz="1200" dirty="0"/>
          </a:p>
        </p:txBody>
      </p:sp>
      <p:sp>
        <p:nvSpPr>
          <p:cNvPr id="95" name="TextBox 94">
            <a:extLst>
              <a:ext uri="{FF2B5EF4-FFF2-40B4-BE49-F238E27FC236}">
                <a16:creationId xmlns:a16="http://schemas.microsoft.com/office/drawing/2014/main" id="{EC14A54A-9757-4667-96CD-2D0DD4283C8A}"/>
              </a:ext>
            </a:extLst>
          </p:cNvPr>
          <p:cNvSpPr txBox="1"/>
          <p:nvPr/>
        </p:nvSpPr>
        <p:spPr bwMode="gray">
          <a:xfrm>
            <a:off x="5630194" y="4838324"/>
            <a:ext cx="954107" cy="276999"/>
          </a:xfrm>
          <a:prstGeom prst="rect">
            <a:avLst/>
          </a:prstGeom>
          <a:noFill/>
        </p:spPr>
        <p:txBody>
          <a:bodyPr wrap="none" rtlCol="0">
            <a:spAutoFit/>
          </a:bodyPr>
          <a:lstStyle/>
          <a:p>
            <a:r>
              <a:rPr lang="zh-CN" altLang="en-US" sz="1200" dirty="0"/>
              <a:t>小带宽链路</a:t>
            </a:r>
            <a:endParaRPr lang="en-US" sz="1200" dirty="0"/>
          </a:p>
        </p:txBody>
      </p:sp>
      <p:sp>
        <p:nvSpPr>
          <p:cNvPr id="38" name="五边形 2">
            <a:extLst>
              <a:ext uri="{FF2B5EF4-FFF2-40B4-BE49-F238E27FC236}">
                <a16:creationId xmlns:a16="http://schemas.microsoft.com/office/drawing/2014/main" id="{BA1160F2-DA67-4A89-82AB-4C9265594D00}"/>
              </a:ext>
            </a:extLst>
          </p:cNvPr>
          <p:cNvSpPr/>
          <p:nvPr/>
        </p:nvSpPr>
        <p:spPr bwMode="gray">
          <a:xfrm>
            <a:off x="8618681" y="125370"/>
            <a:ext cx="105057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智能选路设计</a:t>
            </a:r>
          </a:p>
        </p:txBody>
      </p:sp>
      <p:sp>
        <p:nvSpPr>
          <p:cNvPr id="39" name="燕尾形 3">
            <a:extLst>
              <a:ext uri="{FF2B5EF4-FFF2-40B4-BE49-F238E27FC236}">
                <a16:creationId xmlns:a16="http://schemas.microsoft.com/office/drawing/2014/main" id="{D4B35244-A493-4AA6-82F0-BE59BE0A2E89}"/>
              </a:ext>
            </a:extLst>
          </p:cNvPr>
          <p:cNvSpPr/>
          <p:nvPr/>
        </p:nvSpPr>
        <p:spPr bwMode="gray">
          <a:xfrm>
            <a:off x="9599715" y="125370"/>
            <a:ext cx="105057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
            <a:extLst>
              <a:ext uri="{FF2B5EF4-FFF2-40B4-BE49-F238E27FC236}">
                <a16:creationId xmlns:a16="http://schemas.microsoft.com/office/drawing/2014/main" id="{06740AFA-DB08-4E35-814B-DCE8068119FD}"/>
              </a:ext>
            </a:extLst>
          </p:cNvPr>
          <p:cNvSpPr/>
          <p:nvPr/>
        </p:nvSpPr>
        <p:spPr bwMode="gray">
          <a:xfrm>
            <a:off x="10580748" y="125370"/>
            <a:ext cx="116244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丢包优化设计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944714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6D9FBF0-2619-4FFF-82A7-608580FC8AF1}"/>
              </a:ext>
            </a:extLst>
          </p:cNvPr>
          <p:cNvSpPr>
            <a:spLocks noGrp="1"/>
          </p:cNvSpPr>
          <p:nvPr>
            <p:ph type="body" sz="quarter" idx="10"/>
          </p:nvPr>
        </p:nvSpPr>
        <p:spPr bwMode="gray">
          <a:xfrm>
            <a:off x="455612" y="1047751"/>
            <a:ext cx="11293475" cy="1475354"/>
          </a:xfrm>
        </p:spPr>
        <p:txBody>
          <a:bodyPr/>
          <a:lstStyle/>
          <a:p>
            <a:r>
              <a:rPr lang="zh-CN" altLang="en-US" sz="1800" dirty="0"/>
              <a:t>如果在同一条链路上有多种业务报文，为了在链路拥塞时优先保证高优先级应用的使用，在发生拥塞时低优先级应用避让高优先级应用，此时可使用优先级选路。</a:t>
            </a:r>
            <a:endParaRPr lang="en-US" altLang="zh-CN" sz="1800" dirty="0"/>
          </a:p>
          <a:p>
            <a:r>
              <a:rPr lang="zh-CN" altLang="en-US" sz="1800" dirty="0"/>
              <a:t>比如语音和视频以及文件传输都在</a:t>
            </a:r>
            <a:r>
              <a:rPr lang="en-US" altLang="zh-CN" sz="1800" dirty="0"/>
              <a:t>MPLS</a:t>
            </a:r>
            <a:r>
              <a:rPr lang="zh-CN" altLang="en-US" sz="1800" dirty="0"/>
              <a:t>上，在链路带宽不够时优先保证语音和视频业务不受影响。</a:t>
            </a:r>
            <a:endParaRPr lang="en-US" sz="1800" dirty="0"/>
          </a:p>
        </p:txBody>
      </p:sp>
      <p:sp>
        <p:nvSpPr>
          <p:cNvPr id="5" name="Title 4">
            <a:extLst>
              <a:ext uri="{FF2B5EF4-FFF2-40B4-BE49-F238E27FC236}">
                <a16:creationId xmlns:a16="http://schemas.microsoft.com/office/drawing/2014/main" id="{82D88936-F833-41B2-95B7-A6E97BE01CE6}"/>
              </a:ext>
            </a:extLst>
          </p:cNvPr>
          <p:cNvSpPr>
            <a:spLocks noGrp="1"/>
          </p:cNvSpPr>
          <p:nvPr>
            <p:ph type="title"/>
          </p:nvPr>
        </p:nvSpPr>
        <p:spPr bwMode="gray"/>
        <p:txBody>
          <a:bodyPr/>
          <a:lstStyle/>
          <a:p>
            <a:r>
              <a:rPr lang="zh-CN" altLang="en-US" dirty="0"/>
              <a:t>智能选路设计：应用优先级选路</a:t>
            </a:r>
            <a:endParaRPr lang="en-US" dirty="0"/>
          </a:p>
        </p:txBody>
      </p:sp>
      <p:sp>
        <p:nvSpPr>
          <p:cNvPr id="82" name="Arrow: Right 81">
            <a:extLst>
              <a:ext uri="{FF2B5EF4-FFF2-40B4-BE49-F238E27FC236}">
                <a16:creationId xmlns:a16="http://schemas.microsoft.com/office/drawing/2014/main" id="{56100E77-E4C7-48C9-9D78-EF833EC8C413}"/>
              </a:ext>
            </a:extLst>
          </p:cNvPr>
          <p:cNvSpPr/>
          <p:nvPr/>
        </p:nvSpPr>
        <p:spPr bwMode="gray">
          <a:xfrm>
            <a:off x="5701577" y="3952505"/>
            <a:ext cx="854101" cy="817295"/>
          </a:xfrm>
          <a:prstGeom prst="rightArrow">
            <a:avLst>
              <a:gd name="adj1" fmla="val 61654"/>
              <a:gd name="adj2" fmla="val 50000"/>
            </a:avLst>
          </a:prstGeom>
          <a:solidFill>
            <a:srgbClr val="94DAE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网络拥塞</a:t>
            </a:r>
            <a:endParaRPr lang="en-US" sz="1400" dirty="0">
              <a:solidFill>
                <a:schemeClr val="tx1"/>
              </a:solidFill>
            </a:endParaRPr>
          </a:p>
        </p:txBody>
      </p:sp>
      <p:grpSp>
        <p:nvGrpSpPr>
          <p:cNvPr id="98" name="Group 97">
            <a:extLst>
              <a:ext uri="{FF2B5EF4-FFF2-40B4-BE49-F238E27FC236}">
                <a16:creationId xmlns:a16="http://schemas.microsoft.com/office/drawing/2014/main" id="{9E707FF6-B1D4-400E-A240-E45482DFD451}"/>
              </a:ext>
            </a:extLst>
          </p:cNvPr>
          <p:cNvGrpSpPr/>
          <p:nvPr/>
        </p:nvGrpSpPr>
        <p:grpSpPr bwMode="gray">
          <a:xfrm>
            <a:off x="8844156" y="5051565"/>
            <a:ext cx="567283" cy="276999"/>
            <a:chOff x="1109809" y="4009946"/>
            <a:chExt cx="567283" cy="276999"/>
          </a:xfrm>
        </p:grpSpPr>
        <p:sp>
          <p:nvSpPr>
            <p:cNvPr id="99" name="文本框 33">
              <a:extLst>
                <a:ext uri="{FF2B5EF4-FFF2-40B4-BE49-F238E27FC236}">
                  <a16:creationId xmlns:a16="http://schemas.microsoft.com/office/drawing/2014/main" id="{314F23D9-20ED-4793-B172-540979C5FA1B}"/>
                </a:ext>
              </a:extLst>
            </p:cNvPr>
            <p:cNvSpPr txBox="1"/>
            <p:nvPr/>
          </p:nvSpPr>
          <p:spPr bwMode="gray">
            <a:xfrm>
              <a:off x="1109809" y="4009946"/>
              <a:ext cx="259579" cy="276999"/>
            </a:xfrm>
            <a:prstGeom prst="rect">
              <a:avLst/>
            </a:prstGeom>
            <a:solidFill>
              <a:schemeClr val="bg1"/>
            </a:solidFill>
            <a:ln>
              <a:solidFill>
                <a:schemeClr val="tx1"/>
              </a:solidFill>
            </a:ln>
          </p:spPr>
          <p:txBody>
            <a:bodyPr wrap="square" rtlCol="0">
              <a:spAutoFit/>
            </a:bodyPr>
            <a:lstStyle/>
            <a:p>
              <a:r>
                <a:rPr lang="en-US" altLang="zh-CN" sz="1200" dirty="0"/>
                <a:t>5</a:t>
              </a:r>
              <a:endParaRPr lang="zh-CN" altLang="en-US" sz="1200" dirty="0"/>
            </a:p>
          </p:txBody>
        </p:sp>
        <p:sp>
          <p:nvSpPr>
            <p:cNvPr id="100" name="文本框 34">
              <a:extLst>
                <a:ext uri="{FF2B5EF4-FFF2-40B4-BE49-F238E27FC236}">
                  <a16:creationId xmlns:a16="http://schemas.microsoft.com/office/drawing/2014/main" id="{FCF129C1-58E7-44B6-AABA-8F062B12297A}"/>
                </a:ext>
              </a:extLst>
            </p:cNvPr>
            <p:cNvSpPr txBox="1"/>
            <p:nvPr/>
          </p:nvSpPr>
          <p:spPr bwMode="gray">
            <a:xfrm>
              <a:off x="1417513" y="4009946"/>
              <a:ext cx="259579" cy="276999"/>
            </a:xfrm>
            <a:prstGeom prst="rect">
              <a:avLst/>
            </a:prstGeom>
            <a:solidFill>
              <a:schemeClr val="bg1"/>
            </a:solidFill>
            <a:ln>
              <a:solidFill>
                <a:schemeClr val="tx1"/>
              </a:solidFill>
            </a:ln>
          </p:spPr>
          <p:txBody>
            <a:bodyPr wrap="square" rtlCol="0">
              <a:spAutoFit/>
            </a:bodyPr>
            <a:lstStyle/>
            <a:p>
              <a:r>
                <a:rPr lang="en-US" altLang="zh-CN" sz="1200" dirty="0"/>
                <a:t>4</a:t>
              </a:r>
              <a:endParaRPr lang="zh-CN" altLang="en-US" sz="1200" dirty="0"/>
            </a:p>
          </p:txBody>
        </p:sp>
      </p:grpSp>
      <p:grpSp>
        <p:nvGrpSpPr>
          <p:cNvPr id="101" name="Group 100">
            <a:extLst>
              <a:ext uri="{FF2B5EF4-FFF2-40B4-BE49-F238E27FC236}">
                <a16:creationId xmlns:a16="http://schemas.microsoft.com/office/drawing/2014/main" id="{69A8B6C4-D66F-4CBF-9040-1DF72F2292C7}"/>
              </a:ext>
            </a:extLst>
          </p:cNvPr>
          <p:cNvGrpSpPr/>
          <p:nvPr/>
        </p:nvGrpSpPr>
        <p:grpSpPr bwMode="gray">
          <a:xfrm>
            <a:off x="8832879" y="3401509"/>
            <a:ext cx="567283" cy="276999"/>
            <a:chOff x="1109809" y="4009946"/>
            <a:chExt cx="567283" cy="276999"/>
          </a:xfrm>
        </p:grpSpPr>
        <p:sp>
          <p:nvSpPr>
            <p:cNvPr id="102" name="文本框 33">
              <a:extLst>
                <a:ext uri="{FF2B5EF4-FFF2-40B4-BE49-F238E27FC236}">
                  <a16:creationId xmlns:a16="http://schemas.microsoft.com/office/drawing/2014/main" id="{210D47E7-EC72-4E6F-8414-59748708DEA9}"/>
                </a:ext>
              </a:extLst>
            </p:cNvPr>
            <p:cNvSpPr txBox="1"/>
            <p:nvPr/>
          </p:nvSpPr>
          <p:spPr bwMode="gray">
            <a:xfrm>
              <a:off x="1109809" y="4009946"/>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5</a:t>
              </a:r>
              <a:endParaRPr lang="zh-CN" altLang="en-US" sz="1200" dirty="0"/>
            </a:p>
          </p:txBody>
        </p:sp>
        <p:sp>
          <p:nvSpPr>
            <p:cNvPr id="103" name="文本框 34">
              <a:extLst>
                <a:ext uri="{FF2B5EF4-FFF2-40B4-BE49-F238E27FC236}">
                  <a16:creationId xmlns:a16="http://schemas.microsoft.com/office/drawing/2014/main" id="{6CB3BBC6-3465-4B67-9DE6-6BBCEF36F637}"/>
                </a:ext>
              </a:extLst>
            </p:cNvPr>
            <p:cNvSpPr txBox="1"/>
            <p:nvPr/>
          </p:nvSpPr>
          <p:spPr bwMode="gray">
            <a:xfrm>
              <a:off x="1417513" y="4009946"/>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4</a:t>
              </a:r>
              <a:endParaRPr lang="zh-CN" altLang="en-US" sz="1200" dirty="0"/>
            </a:p>
          </p:txBody>
        </p:sp>
      </p:grpSp>
      <p:cxnSp>
        <p:nvCxnSpPr>
          <p:cNvPr id="104" name="直接箭头连接符 28">
            <a:extLst>
              <a:ext uri="{FF2B5EF4-FFF2-40B4-BE49-F238E27FC236}">
                <a16:creationId xmlns:a16="http://schemas.microsoft.com/office/drawing/2014/main" id="{B98CDF7F-7E4C-4080-A406-F7326E215103}"/>
              </a:ext>
            </a:extLst>
          </p:cNvPr>
          <p:cNvCxnSpPr>
            <a:cxnSpLocks/>
            <a:stCxn id="103" idx="3"/>
          </p:cNvCxnSpPr>
          <p:nvPr/>
        </p:nvCxnSpPr>
        <p:spPr bwMode="gray">
          <a:xfrm>
            <a:off x="9400162" y="3540009"/>
            <a:ext cx="329546" cy="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28">
            <a:extLst>
              <a:ext uri="{FF2B5EF4-FFF2-40B4-BE49-F238E27FC236}">
                <a16:creationId xmlns:a16="http://schemas.microsoft.com/office/drawing/2014/main" id="{9587B79B-E828-4DD4-9931-0CF15EDD36A9}"/>
              </a:ext>
            </a:extLst>
          </p:cNvPr>
          <p:cNvCxnSpPr>
            <a:cxnSpLocks/>
            <a:stCxn id="100" idx="3"/>
          </p:cNvCxnSpPr>
          <p:nvPr/>
        </p:nvCxnSpPr>
        <p:spPr bwMode="gray">
          <a:xfrm flipV="1">
            <a:off x="9411439" y="5190064"/>
            <a:ext cx="329546" cy="1"/>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7" name="Freeform 159">
            <a:extLst>
              <a:ext uri="{FF2B5EF4-FFF2-40B4-BE49-F238E27FC236}">
                <a16:creationId xmlns:a16="http://schemas.microsoft.com/office/drawing/2014/main" id="{B041C778-6B0E-4CAC-8875-EBB96473A87A}"/>
              </a:ext>
            </a:extLst>
          </p:cNvPr>
          <p:cNvSpPr/>
          <p:nvPr/>
        </p:nvSpPr>
        <p:spPr bwMode="gray">
          <a:xfrm flipH="1">
            <a:off x="4410595" y="4116429"/>
            <a:ext cx="1164090" cy="6085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p>
        </p:txBody>
      </p:sp>
      <p:sp>
        <p:nvSpPr>
          <p:cNvPr id="108" name="Freeform 159">
            <a:extLst>
              <a:ext uri="{FF2B5EF4-FFF2-40B4-BE49-F238E27FC236}">
                <a16:creationId xmlns:a16="http://schemas.microsoft.com/office/drawing/2014/main" id="{63751039-D5B3-4C76-850C-9AAB9C9E401E}"/>
              </a:ext>
            </a:extLst>
          </p:cNvPr>
          <p:cNvSpPr/>
          <p:nvPr/>
        </p:nvSpPr>
        <p:spPr bwMode="gray">
          <a:xfrm flipH="1">
            <a:off x="827619" y="4117728"/>
            <a:ext cx="1164090" cy="6085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p>
        </p:txBody>
      </p:sp>
      <p:pic>
        <p:nvPicPr>
          <p:cNvPr id="109" name="图片 8">
            <a:extLst>
              <a:ext uri="{FF2B5EF4-FFF2-40B4-BE49-F238E27FC236}">
                <a16:creationId xmlns:a16="http://schemas.microsoft.com/office/drawing/2014/main" id="{86220E4E-16C0-439C-837F-0E1E57A2997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27189" y="4125706"/>
            <a:ext cx="540000" cy="442800"/>
          </a:xfrm>
          <a:prstGeom prst="rect">
            <a:avLst/>
          </a:prstGeom>
        </p:spPr>
      </p:pic>
      <p:pic>
        <p:nvPicPr>
          <p:cNvPr id="110" name="图片 9">
            <a:extLst>
              <a:ext uri="{FF2B5EF4-FFF2-40B4-BE49-F238E27FC236}">
                <a16:creationId xmlns:a16="http://schemas.microsoft.com/office/drawing/2014/main" id="{988F08F2-66F1-4386-A1F1-FB3B920C9C1F}"/>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195534" y="4125706"/>
            <a:ext cx="540000" cy="442800"/>
          </a:xfrm>
          <a:prstGeom prst="rect">
            <a:avLst/>
          </a:prstGeom>
        </p:spPr>
      </p:pic>
      <p:sp>
        <p:nvSpPr>
          <p:cNvPr id="117" name="文本框 40">
            <a:extLst>
              <a:ext uri="{FF2B5EF4-FFF2-40B4-BE49-F238E27FC236}">
                <a16:creationId xmlns:a16="http://schemas.microsoft.com/office/drawing/2014/main" id="{1AAA9608-FFF4-4B5A-84C6-427B24657FF9}"/>
              </a:ext>
            </a:extLst>
          </p:cNvPr>
          <p:cNvSpPr txBox="1"/>
          <p:nvPr/>
        </p:nvSpPr>
        <p:spPr bwMode="gray">
          <a:xfrm>
            <a:off x="1393354" y="4493481"/>
            <a:ext cx="672372" cy="307777"/>
          </a:xfrm>
          <a:prstGeom prst="rect">
            <a:avLst/>
          </a:prstGeom>
          <a:noFill/>
        </p:spPr>
        <p:txBody>
          <a:bodyPr wrap="square" rtlCol="0">
            <a:spAutoFit/>
          </a:bodyPr>
          <a:lstStyle/>
          <a:p>
            <a:pPr algn="ctr"/>
            <a:r>
              <a:rPr lang="en-US" altLang="zh-CN" sz="1400" dirty="0"/>
              <a:t>EDGE</a:t>
            </a:r>
            <a:endParaRPr lang="zh-CN" altLang="en-US" sz="1400" dirty="0"/>
          </a:p>
        </p:txBody>
      </p:sp>
      <p:sp>
        <p:nvSpPr>
          <p:cNvPr id="118" name="文本框 42">
            <a:extLst>
              <a:ext uri="{FF2B5EF4-FFF2-40B4-BE49-F238E27FC236}">
                <a16:creationId xmlns:a16="http://schemas.microsoft.com/office/drawing/2014/main" id="{B8F6D230-DD1A-44EC-8ACD-F1F5803A60FD}"/>
              </a:ext>
            </a:extLst>
          </p:cNvPr>
          <p:cNvSpPr txBox="1"/>
          <p:nvPr/>
        </p:nvSpPr>
        <p:spPr bwMode="gray">
          <a:xfrm>
            <a:off x="4407003" y="4495237"/>
            <a:ext cx="643811" cy="307777"/>
          </a:xfrm>
          <a:prstGeom prst="rect">
            <a:avLst/>
          </a:prstGeom>
          <a:noFill/>
        </p:spPr>
        <p:txBody>
          <a:bodyPr wrap="square" rtlCol="0">
            <a:spAutoFit/>
          </a:bodyPr>
          <a:lstStyle/>
          <a:p>
            <a:pPr algn="ctr"/>
            <a:r>
              <a:rPr lang="en-US" altLang="zh-CN" sz="1400" dirty="0"/>
              <a:t>EDGE</a:t>
            </a:r>
            <a:endParaRPr lang="zh-CN" altLang="en-US" sz="1400" dirty="0"/>
          </a:p>
        </p:txBody>
      </p:sp>
      <p:cxnSp>
        <p:nvCxnSpPr>
          <p:cNvPr id="120" name="Connector: Elbow 119">
            <a:extLst>
              <a:ext uri="{FF2B5EF4-FFF2-40B4-BE49-F238E27FC236}">
                <a16:creationId xmlns:a16="http://schemas.microsoft.com/office/drawing/2014/main" id="{C8363D3B-9125-49E6-8EAD-D417CCB84B83}"/>
              </a:ext>
            </a:extLst>
          </p:cNvPr>
          <p:cNvCxnSpPr>
            <a:cxnSpLocks/>
            <a:stCxn id="109" idx="0"/>
            <a:endCxn id="110" idx="0"/>
          </p:cNvCxnSpPr>
          <p:nvPr/>
        </p:nvCxnSpPr>
        <p:spPr bwMode="gray">
          <a:xfrm rot="5400000" flipH="1" flipV="1">
            <a:off x="3231361" y="2891534"/>
            <a:ext cx="12700" cy="2468345"/>
          </a:xfrm>
          <a:prstGeom prst="bentConnector3">
            <a:avLst>
              <a:gd name="adj1" fmla="val 2925000"/>
            </a:avLst>
          </a:prstGeom>
          <a:ln w="28575">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21" name="Connector: Elbow 120">
            <a:extLst>
              <a:ext uri="{FF2B5EF4-FFF2-40B4-BE49-F238E27FC236}">
                <a16:creationId xmlns:a16="http://schemas.microsoft.com/office/drawing/2014/main" id="{16EA6AD0-2D1F-4251-801E-80315CB89FE6}"/>
              </a:ext>
            </a:extLst>
          </p:cNvPr>
          <p:cNvCxnSpPr>
            <a:cxnSpLocks/>
            <a:stCxn id="109" idx="2"/>
            <a:endCxn id="110" idx="2"/>
          </p:cNvCxnSpPr>
          <p:nvPr/>
        </p:nvCxnSpPr>
        <p:spPr bwMode="gray">
          <a:xfrm rot="16200000" flipH="1">
            <a:off x="3231361" y="3334333"/>
            <a:ext cx="12700" cy="2468345"/>
          </a:xfrm>
          <a:prstGeom prst="bentConnector3">
            <a:avLst>
              <a:gd name="adj1" fmla="val 2925016"/>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8B8F913D-38A7-4288-9844-A6E9DF79CDEE}"/>
              </a:ext>
            </a:extLst>
          </p:cNvPr>
          <p:cNvSpPr txBox="1"/>
          <p:nvPr/>
        </p:nvSpPr>
        <p:spPr bwMode="gray">
          <a:xfrm>
            <a:off x="2763768" y="3762632"/>
            <a:ext cx="954107" cy="276999"/>
          </a:xfrm>
          <a:prstGeom prst="rect">
            <a:avLst/>
          </a:prstGeom>
          <a:noFill/>
        </p:spPr>
        <p:txBody>
          <a:bodyPr wrap="none" rtlCol="0">
            <a:spAutoFit/>
          </a:bodyPr>
          <a:lstStyle/>
          <a:p>
            <a:r>
              <a:rPr lang="zh-CN" altLang="en-US" sz="1200" dirty="0"/>
              <a:t>高质量链路</a:t>
            </a:r>
            <a:endParaRPr lang="en-US" sz="1200" dirty="0"/>
          </a:p>
        </p:txBody>
      </p:sp>
      <p:sp>
        <p:nvSpPr>
          <p:cNvPr id="123" name="TextBox 122">
            <a:extLst>
              <a:ext uri="{FF2B5EF4-FFF2-40B4-BE49-F238E27FC236}">
                <a16:creationId xmlns:a16="http://schemas.microsoft.com/office/drawing/2014/main" id="{7E3DC74E-B320-4235-9E06-0217651B4180}"/>
              </a:ext>
            </a:extLst>
          </p:cNvPr>
          <p:cNvSpPr txBox="1"/>
          <p:nvPr/>
        </p:nvSpPr>
        <p:spPr bwMode="gray">
          <a:xfrm>
            <a:off x="2771905" y="4680235"/>
            <a:ext cx="954107" cy="276999"/>
          </a:xfrm>
          <a:prstGeom prst="rect">
            <a:avLst/>
          </a:prstGeom>
          <a:noFill/>
        </p:spPr>
        <p:txBody>
          <a:bodyPr wrap="none" rtlCol="0">
            <a:spAutoFit/>
          </a:bodyPr>
          <a:lstStyle/>
          <a:p>
            <a:r>
              <a:rPr lang="zh-CN" altLang="en-US" sz="1200" dirty="0"/>
              <a:t>低质量链路</a:t>
            </a:r>
            <a:endParaRPr lang="en-US" sz="1200" dirty="0"/>
          </a:p>
        </p:txBody>
      </p:sp>
      <p:grpSp>
        <p:nvGrpSpPr>
          <p:cNvPr id="4" name="Group 3">
            <a:extLst>
              <a:ext uri="{FF2B5EF4-FFF2-40B4-BE49-F238E27FC236}">
                <a16:creationId xmlns:a16="http://schemas.microsoft.com/office/drawing/2014/main" id="{4B981A28-2EED-480A-85D1-9D942F984C7D}"/>
              </a:ext>
            </a:extLst>
          </p:cNvPr>
          <p:cNvGrpSpPr/>
          <p:nvPr/>
        </p:nvGrpSpPr>
        <p:grpSpPr bwMode="gray">
          <a:xfrm>
            <a:off x="974531" y="3493656"/>
            <a:ext cx="567283" cy="276999"/>
            <a:chOff x="1109809" y="4009946"/>
            <a:chExt cx="567283" cy="276999"/>
          </a:xfrm>
        </p:grpSpPr>
        <p:sp>
          <p:nvSpPr>
            <p:cNvPr id="39" name="文本框 33">
              <a:extLst>
                <a:ext uri="{FF2B5EF4-FFF2-40B4-BE49-F238E27FC236}">
                  <a16:creationId xmlns:a16="http://schemas.microsoft.com/office/drawing/2014/main" id="{BE8C5294-A6CE-4D55-877C-FEF395DC66D5}"/>
                </a:ext>
              </a:extLst>
            </p:cNvPr>
            <p:cNvSpPr txBox="1"/>
            <p:nvPr/>
          </p:nvSpPr>
          <p:spPr bwMode="gray">
            <a:xfrm>
              <a:off x="1109809" y="4009946"/>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5</a:t>
              </a:r>
              <a:endParaRPr lang="zh-CN" altLang="en-US" sz="1200" dirty="0"/>
            </a:p>
          </p:txBody>
        </p:sp>
        <p:sp>
          <p:nvSpPr>
            <p:cNvPr id="41" name="文本框 34">
              <a:extLst>
                <a:ext uri="{FF2B5EF4-FFF2-40B4-BE49-F238E27FC236}">
                  <a16:creationId xmlns:a16="http://schemas.microsoft.com/office/drawing/2014/main" id="{53A3C98E-BB97-42DF-9980-EC6A011A47DD}"/>
                </a:ext>
              </a:extLst>
            </p:cNvPr>
            <p:cNvSpPr txBox="1"/>
            <p:nvPr/>
          </p:nvSpPr>
          <p:spPr bwMode="gray">
            <a:xfrm>
              <a:off x="1417513" y="4009946"/>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4</a:t>
              </a:r>
              <a:endParaRPr lang="zh-CN" altLang="en-US" sz="1200" dirty="0"/>
            </a:p>
          </p:txBody>
        </p:sp>
      </p:grpSp>
      <p:grpSp>
        <p:nvGrpSpPr>
          <p:cNvPr id="84" name="Group 83">
            <a:extLst>
              <a:ext uri="{FF2B5EF4-FFF2-40B4-BE49-F238E27FC236}">
                <a16:creationId xmlns:a16="http://schemas.microsoft.com/office/drawing/2014/main" id="{960D76AB-5D66-407C-9ACE-3A614CDD8267}"/>
              </a:ext>
            </a:extLst>
          </p:cNvPr>
          <p:cNvGrpSpPr/>
          <p:nvPr/>
        </p:nvGrpSpPr>
        <p:grpSpPr bwMode="gray">
          <a:xfrm>
            <a:off x="974531" y="3842357"/>
            <a:ext cx="567283" cy="276999"/>
            <a:chOff x="1109809" y="4009946"/>
            <a:chExt cx="567283" cy="276999"/>
          </a:xfrm>
        </p:grpSpPr>
        <p:sp>
          <p:nvSpPr>
            <p:cNvPr id="85" name="文本框 33">
              <a:extLst>
                <a:ext uri="{FF2B5EF4-FFF2-40B4-BE49-F238E27FC236}">
                  <a16:creationId xmlns:a16="http://schemas.microsoft.com/office/drawing/2014/main" id="{BD2A05A9-8771-4F49-9DEA-C401BD1DCAEF}"/>
                </a:ext>
              </a:extLst>
            </p:cNvPr>
            <p:cNvSpPr txBox="1"/>
            <p:nvPr/>
          </p:nvSpPr>
          <p:spPr bwMode="gray">
            <a:xfrm>
              <a:off x="1109809" y="4009946"/>
              <a:ext cx="259579" cy="276999"/>
            </a:xfrm>
            <a:prstGeom prst="rect">
              <a:avLst/>
            </a:prstGeom>
            <a:solidFill>
              <a:schemeClr val="bg1"/>
            </a:solidFill>
            <a:ln>
              <a:solidFill>
                <a:schemeClr val="tx1"/>
              </a:solidFill>
            </a:ln>
          </p:spPr>
          <p:txBody>
            <a:bodyPr wrap="square" rtlCol="0">
              <a:spAutoFit/>
            </a:bodyPr>
            <a:lstStyle/>
            <a:p>
              <a:r>
                <a:rPr lang="en-US" altLang="zh-CN" sz="1200" dirty="0"/>
                <a:t>5</a:t>
              </a:r>
              <a:endParaRPr lang="zh-CN" altLang="en-US" sz="1200" dirty="0"/>
            </a:p>
          </p:txBody>
        </p:sp>
        <p:sp>
          <p:nvSpPr>
            <p:cNvPr id="86" name="文本框 34">
              <a:extLst>
                <a:ext uri="{FF2B5EF4-FFF2-40B4-BE49-F238E27FC236}">
                  <a16:creationId xmlns:a16="http://schemas.microsoft.com/office/drawing/2014/main" id="{7258AF63-5699-41DB-AB72-1CE96BC8DBC8}"/>
                </a:ext>
              </a:extLst>
            </p:cNvPr>
            <p:cNvSpPr txBox="1"/>
            <p:nvPr/>
          </p:nvSpPr>
          <p:spPr bwMode="gray">
            <a:xfrm>
              <a:off x="1417513" y="4009946"/>
              <a:ext cx="259579" cy="276999"/>
            </a:xfrm>
            <a:prstGeom prst="rect">
              <a:avLst/>
            </a:prstGeom>
            <a:solidFill>
              <a:schemeClr val="bg1"/>
            </a:solidFill>
            <a:ln>
              <a:solidFill>
                <a:schemeClr val="tx1"/>
              </a:solidFill>
            </a:ln>
          </p:spPr>
          <p:txBody>
            <a:bodyPr wrap="square" rtlCol="0">
              <a:spAutoFit/>
            </a:bodyPr>
            <a:lstStyle/>
            <a:p>
              <a:r>
                <a:rPr lang="en-US" altLang="zh-CN" sz="1200" dirty="0"/>
                <a:t>4</a:t>
              </a:r>
              <a:endParaRPr lang="zh-CN" altLang="en-US" sz="1200" dirty="0"/>
            </a:p>
          </p:txBody>
        </p:sp>
      </p:grpSp>
      <p:sp>
        <p:nvSpPr>
          <p:cNvPr id="11" name="TextBox 10">
            <a:extLst>
              <a:ext uri="{FF2B5EF4-FFF2-40B4-BE49-F238E27FC236}">
                <a16:creationId xmlns:a16="http://schemas.microsoft.com/office/drawing/2014/main" id="{42B2DD66-6D9D-4AF8-A564-7B242BBAEA46}"/>
              </a:ext>
            </a:extLst>
          </p:cNvPr>
          <p:cNvSpPr txBox="1"/>
          <p:nvPr/>
        </p:nvSpPr>
        <p:spPr bwMode="gray">
          <a:xfrm>
            <a:off x="680112" y="3246013"/>
            <a:ext cx="1107996" cy="276999"/>
          </a:xfrm>
          <a:prstGeom prst="rect">
            <a:avLst/>
          </a:prstGeom>
          <a:noFill/>
        </p:spPr>
        <p:txBody>
          <a:bodyPr wrap="none" rtlCol="0">
            <a:spAutoFit/>
          </a:bodyPr>
          <a:lstStyle/>
          <a:p>
            <a:r>
              <a:rPr lang="zh-CN" altLang="en-US" sz="1200" dirty="0"/>
              <a:t>高优先级应用</a:t>
            </a:r>
            <a:endParaRPr lang="en-US" sz="1200" dirty="0"/>
          </a:p>
        </p:txBody>
      </p:sp>
      <p:sp>
        <p:nvSpPr>
          <p:cNvPr id="93" name="TextBox 92">
            <a:extLst>
              <a:ext uri="{FF2B5EF4-FFF2-40B4-BE49-F238E27FC236}">
                <a16:creationId xmlns:a16="http://schemas.microsoft.com/office/drawing/2014/main" id="{D472F9F3-3B94-4274-A7F9-5572F183D5C8}"/>
              </a:ext>
            </a:extLst>
          </p:cNvPr>
          <p:cNvSpPr txBox="1"/>
          <p:nvPr/>
        </p:nvSpPr>
        <p:spPr bwMode="gray">
          <a:xfrm>
            <a:off x="677319" y="4095781"/>
            <a:ext cx="1107996" cy="276999"/>
          </a:xfrm>
          <a:prstGeom prst="rect">
            <a:avLst/>
          </a:prstGeom>
          <a:noFill/>
        </p:spPr>
        <p:txBody>
          <a:bodyPr wrap="none" rtlCol="0">
            <a:spAutoFit/>
          </a:bodyPr>
          <a:lstStyle/>
          <a:p>
            <a:r>
              <a:rPr lang="zh-CN" altLang="en-US" sz="1200" dirty="0"/>
              <a:t>低优先级应用</a:t>
            </a:r>
            <a:endParaRPr lang="en-US" sz="1200" dirty="0"/>
          </a:p>
        </p:txBody>
      </p:sp>
      <p:grpSp>
        <p:nvGrpSpPr>
          <p:cNvPr id="124" name="Group 123">
            <a:extLst>
              <a:ext uri="{FF2B5EF4-FFF2-40B4-BE49-F238E27FC236}">
                <a16:creationId xmlns:a16="http://schemas.microsoft.com/office/drawing/2014/main" id="{23228441-AF9A-4F81-861C-71C483A9D4C0}"/>
              </a:ext>
            </a:extLst>
          </p:cNvPr>
          <p:cNvGrpSpPr/>
          <p:nvPr/>
        </p:nvGrpSpPr>
        <p:grpSpPr bwMode="gray">
          <a:xfrm>
            <a:off x="2781255" y="2959553"/>
            <a:ext cx="1189929" cy="277000"/>
            <a:chOff x="2777740" y="3544258"/>
            <a:chExt cx="1189929" cy="277000"/>
          </a:xfrm>
        </p:grpSpPr>
        <p:grpSp>
          <p:nvGrpSpPr>
            <p:cNvPr id="125" name="Group 124">
              <a:extLst>
                <a:ext uri="{FF2B5EF4-FFF2-40B4-BE49-F238E27FC236}">
                  <a16:creationId xmlns:a16="http://schemas.microsoft.com/office/drawing/2014/main" id="{0270100E-1121-4525-9C87-9479568082F3}"/>
                </a:ext>
              </a:extLst>
            </p:cNvPr>
            <p:cNvGrpSpPr/>
            <p:nvPr/>
          </p:nvGrpSpPr>
          <p:grpSpPr bwMode="gray">
            <a:xfrm>
              <a:off x="2777740" y="3544258"/>
              <a:ext cx="874988" cy="277000"/>
              <a:chOff x="2574670" y="2777917"/>
              <a:chExt cx="874988" cy="277000"/>
            </a:xfrm>
          </p:grpSpPr>
          <p:sp>
            <p:nvSpPr>
              <p:cNvPr id="127" name="文本框 36">
                <a:extLst>
                  <a:ext uri="{FF2B5EF4-FFF2-40B4-BE49-F238E27FC236}">
                    <a16:creationId xmlns:a16="http://schemas.microsoft.com/office/drawing/2014/main" id="{CC917736-2B8C-473C-B677-70EB2A520D06}"/>
                  </a:ext>
                </a:extLst>
              </p:cNvPr>
              <p:cNvSpPr txBox="1"/>
              <p:nvPr/>
            </p:nvSpPr>
            <p:spPr bwMode="gray">
              <a:xfrm>
                <a:off x="2574670" y="2777917"/>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3</a:t>
                </a:r>
                <a:endParaRPr lang="zh-CN" altLang="en-US" sz="1200" dirty="0"/>
              </a:p>
            </p:txBody>
          </p:sp>
          <p:sp>
            <p:nvSpPr>
              <p:cNvPr id="128" name="文本框 37">
                <a:extLst>
                  <a:ext uri="{FF2B5EF4-FFF2-40B4-BE49-F238E27FC236}">
                    <a16:creationId xmlns:a16="http://schemas.microsoft.com/office/drawing/2014/main" id="{76B39571-F1E4-4034-8796-F4F326CFC212}"/>
                  </a:ext>
                </a:extLst>
              </p:cNvPr>
              <p:cNvSpPr txBox="1"/>
              <p:nvPr/>
            </p:nvSpPr>
            <p:spPr bwMode="gray">
              <a:xfrm>
                <a:off x="2882375" y="2777918"/>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2</a:t>
                </a:r>
                <a:endParaRPr lang="zh-CN" altLang="en-US" sz="1200" dirty="0"/>
              </a:p>
            </p:txBody>
          </p:sp>
          <p:sp>
            <p:nvSpPr>
              <p:cNvPr id="129" name="文本框 38">
                <a:extLst>
                  <a:ext uri="{FF2B5EF4-FFF2-40B4-BE49-F238E27FC236}">
                    <a16:creationId xmlns:a16="http://schemas.microsoft.com/office/drawing/2014/main" id="{C39D7737-759B-46E7-9413-35543F32E868}"/>
                  </a:ext>
                </a:extLst>
              </p:cNvPr>
              <p:cNvSpPr txBox="1"/>
              <p:nvPr/>
            </p:nvSpPr>
            <p:spPr bwMode="gray">
              <a:xfrm>
                <a:off x="3190079" y="2777918"/>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1</a:t>
                </a:r>
                <a:endParaRPr lang="zh-CN" altLang="en-US" sz="1200" dirty="0"/>
              </a:p>
            </p:txBody>
          </p:sp>
        </p:grpSp>
        <p:cxnSp>
          <p:nvCxnSpPr>
            <p:cNvPr id="126" name="直接箭头连接符 28">
              <a:extLst>
                <a:ext uri="{FF2B5EF4-FFF2-40B4-BE49-F238E27FC236}">
                  <a16:creationId xmlns:a16="http://schemas.microsoft.com/office/drawing/2014/main" id="{CBB07A96-F106-4D09-93CC-DC273431737F}"/>
                </a:ext>
              </a:extLst>
            </p:cNvPr>
            <p:cNvCxnSpPr>
              <a:cxnSpLocks/>
              <a:stCxn id="129" idx="3"/>
            </p:cNvCxnSpPr>
            <p:nvPr/>
          </p:nvCxnSpPr>
          <p:spPr bwMode="gray">
            <a:xfrm flipV="1">
              <a:off x="3652728" y="3682757"/>
              <a:ext cx="314941" cy="2"/>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a16="http://schemas.microsoft.com/office/drawing/2014/main" id="{EFD0B120-3D3A-49E6-8E14-178A2D4CE6B0}"/>
              </a:ext>
            </a:extLst>
          </p:cNvPr>
          <p:cNvGrpSpPr/>
          <p:nvPr/>
        </p:nvGrpSpPr>
        <p:grpSpPr bwMode="gray">
          <a:xfrm>
            <a:off x="2781255" y="3371332"/>
            <a:ext cx="1189929" cy="277000"/>
            <a:chOff x="2777740" y="3544258"/>
            <a:chExt cx="1189929" cy="277000"/>
          </a:xfrm>
        </p:grpSpPr>
        <p:grpSp>
          <p:nvGrpSpPr>
            <p:cNvPr id="131" name="Group 130">
              <a:extLst>
                <a:ext uri="{FF2B5EF4-FFF2-40B4-BE49-F238E27FC236}">
                  <a16:creationId xmlns:a16="http://schemas.microsoft.com/office/drawing/2014/main" id="{F3B393DE-0C3A-42E9-93BA-F43F6CB0497C}"/>
                </a:ext>
              </a:extLst>
            </p:cNvPr>
            <p:cNvGrpSpPr/>
            <p:nvPr/>
          </p:nvGrpSpPr>
          <p:grpSpPr bwMode="gray">
            <a:xfrm>
              <a:off x="2777740" y="3544258"/>
              <a:ext cx="874988" cy="277000"/>
              <a:chOff x="2574670" y="2777917"/>
              <a:chExt cx="874988" cy="277000"/>
            </a:xfrm>
          </p:grpSpPr>
          <p:sp>
            <p:nvSpPr>
              <p:cNvPr id="133" name="文本框 36">
                <a:extLst>
                  <a:ext uri="{FF2B5EF4-FFF2-40B4-BE49-F238E27FC236}">
                    <a16:creationId xmlns:a16="http://schemas.microsoft.com/office/drawing/2014/main" id="{384D93F2-2B86-40A3-A665-5A0C98A61731}"/>
                  </a:ext>
                </a:extLst>
              </p:cNvPr>
              <p:cNvSpPr txBox="1"/>
              <p:nvPr/>
            </p:nvSpPr>
            <p:spPr bwMode="gray">
              <a:xfrm>
                <a:off x="2574670" y="2777917"/>
                <a:ext cx="259579" cy="276999"/>
              </a:xfrm>
              <a:prstGeom prst="rect">
                <a:avLst/>
              </a:prstGeom>
              <a:solidFill>
                <a:schemeClr val="bg1"/>
              </a:solidFill>
              <a:ln>
                <a:solidFill>
                  <a:schemeClr val="tx1"/>
                </a:solidFill>
              </a:ln>
            </p:spPr>
            <p:txBody>
              <a:bodyPr wrap="square" rtlCol="0">
                <a:spAutoFit/>
              </a:bodyPr>
              <a:lstStyle/>
              <a:p>
                <a:r>
                  <a:rPr lang="en-US" altLang="zh-CN" sz="1200" dirty="0"/>
                  <a:t>3</a:t>
                </a:r>
                <a:endParaRPr lang="zh-CN" altLang="en-US" sz="1200" dirty="0"/>
              </a:p>
            </p:txBody>
          </p:sp>
          <p:sp>
            <p:nvSpPr>
              <p:cNvPr id="134" name="文本框 37">
                <a:extLst>
                  <a:ext uri="{FF2B5EF4-FFF2-40B4-BE49-F238E27FC236}">
                    <a16:creationId xmlns:a16="http://schemas.microsoft.com/office/drawing/2014/main" id="{B04FDB0D-2FC7-4012-A10D-FA107FFF995A}"/>
                  </a:ext>
                </a:extLst>
              </p:cNvPr>
              <p:cNvSpPr txBox="1"/>
              <p:nvPr/>
            </p:nvSpPr>
            <p:spPr bwMode="gray">
              <a:xfrm>
                <a:off x="2882375" y="2777918"/>
                <a:ext cx="259579" cy="276999"/>
              </a:xfrm>
              <a:prstGeom prst="rect">
                <a:avLst/>
              </a:prstGeom>
              <a:solidFill>
                <a:schemeClr val="bg1"/>
              </a:solidFill>
              <a:ln>
                <a:solidFill>
                  <a:schemeClr val="tx1"/>
                </a:solidFill>
              </a:ln>
            </p:spPr>
            <p:txBody>
              <a:bodyPr wrap="square" rtlCol="0">
                <a:spAutoFit/>
              </a:bodyPr>
              <a:lstStyle/>
              <a:p>
                <a:r>
                  <a:rPr lang="en-US" altLang="zh-CN" sz="1200" dirty="0"/>
                  <a:t>2</a:t>
                </a:r>
                <a:endParaRPr lang="zh-CN" altLang="en-US" sz="1200" dirty="0"/>
              </a:p>
            </p:txBody>
          </p:sp>
          <p:sp>
            <p:nvSpPr>
              <p:cNvPr id="135" name="文本框 38">
                <a:extLst>
                  <a:ext uri="{FF2B5EF4-FFF2-40B4-BE49-F238E27FC236}">
                    <a16:creationId xmlns:a16="http://schemas.microsoft.com/office/drawing/2014/main" id="{357E8C52-CA3B-4650-AF2C-AF3194697D28}"/>
                  </a:ext>
                </a:extLst>
              </p:cNvPr>
              <p:cNvSpPr txBox="1"/>
              <p:nvPr/>
            </p:nvSpPr>
            <p:spPr bwMode="gray">
              <a:xfrm>
                <a:off x="3190079" y="2777918"/>
                <a:ext cx="259579" cy="276999"/>
              </a:xfrm>
              <a:prstGeom prst="rect">
                <a:avLst/>
              </a:prstGeom>
              <a:solidFill>
                <a:schemeClr val="bg1"/>
              </a:solidFill>
              <a:ln>
                <a:solidFill>
                  <a:schemeClr val="tx1"/>
                </a:solidFill>
              </a:ln>
            </p:spPr>
            <p:txBody>
              <a:bodyPr wrap="square" rtlCol="0">
                <a:spAutoFit/>
              </a:bodyPr>
              <a:lstStyle/>
              <a:p>
                <a:r>
                  <a:rPr lang="en-US" altLang="zh-CN" sz="1200" dirty="0"/>
                  <a:t>1</a:t>
                </a:r>
                <a:endParaRPr lang="zh-CN" altLang="en-US" sz="1200" dirty="0"/>
              </a:p>
            </p:txBody>
          </p:sp>
        </p:grpSp>
        <p:cxnSp>
          <p:nvCxnSpPr>
            <p:cNvPr id="132" name="直接箭头连接符 28">
              <a:extLst>
                <a:ext uri="{FF2B5EF4-FFF2-40B4-BE49-F238E27FC236}">
                  <a16:creationId xmlns:a16="http://schemas.microsoft.com/office/drawing/2014/main" id="{AD99669C-69D3-4897-B9BA-8B14B02EE506}"/>
                </a:ext>
              </a:extLst>
            </p:cNvPr>
            <p:cNvCxnSpPr>
              <a:cxnSpLocks/>
              <a:stCxn id="135" idx="3"/>
            </p:cNvCxnSpPr>
            <p:nvPr/>
          </p:nvCxnSpPr>
          <p:spPr bwMode="gray">
            <a:xfrm flipV="1">
              <a:off x="3652728" y="3682757"/>
              <a:ext cx="314941" cy="2"/>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36" name="Freeform 159">
            <a:extLst>
              <a:ext uri="{FF2B5EF4-FFF2-40B4-BE49-F238E27FC236}">
                <a16:creationId xmlns:a16="http://schemas.microsoft.com/office/drawing/2014/main" id="{415CF141-1746-4880-AA8E-0592A4AEB5C1}"/>
              </a:ext>
            </a:extLst>
          </p:cNvPr>
          <p:cNvSpPr/>
          <p:nvPr/>
        </p:nvSpPr>
        <p:spPr bwMode="gray">
          <a:xfrm flipH="1">
            <a:off x="10326732" y="4137684"/>
            <a:ext cx="1164090" cy="6085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p>
        </p:txBody>
      </p:sp>
      <p:sp>
        <p:nvSpPr>
          <p:cNvPr id="137" name="Freeform 159">
            <a:extLst>
              <a:ext uri="{FF2B5EF4-FFF2-40B4-BE49-F238E27FC236}">
                <a16:creationId xmlns:a16="http://schemas.microsoft.com/office/drawing/2014/main" id="{421A3C69-F552-46F9-8DFB-ACF84A2766CE}"/>
              </a:ext>
            </a:extLst>
          </p:cNvPr>
          <p:cNvSpPr/>
          <p:nvPr/>
        </p:nvSpPr>
        <p:spPr bwMode="gray">
          <a:xfrm flipH="1">
            <a:off x="6743756" y="4138983"/>
            <a:ext cx="1164090" cy="6085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p>
        </p:txBody>
      </p:sp>
      <p:pic>
        <p:nvPicPr>
          <p:cNvPr id="138" name="图片 8">
            <a:extLst>
              <a:ext uri="{FF2B5EF4-FFF2-40B4-BE49-F238E27FC236}">
                <a16:creationId xmlns:a16="http://schemas.microsoft.com/office/drawing/2014/main" id="{039600A3-D87D-41FC-9237-3F0C449F29F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643326" y="4146961"/>
            <a:ext cx="540000" cy="442800"/>
          </a:xfrm>
          <a:prstGeom prst="rect">
            <a:avLst/>
          </a:prstGeom>
        </p:spPr>
      </p:pic>
      <p:pic>
        <p:nvPicPr>
          <p:cNvPr id="139" name="图片 9">
            <a:extLst>
              <a:ext uri="{FF2B5EF4-FFF2-40B4-BE49-F238E27FC236}">
                <a16:creationId xmlns:a16="http://schemas.microsoft.com/office/drawing/2014/main" id="{357A48FF-C068-4BB8-83B6-9ECAD7A8976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111671" y="4146961"/>
            <a:ext cx="540000" cy="442800"/>
          </a:xfrm>
          <a:prstGeom prst="rect">
            <a:avLst/>
          </a:prstGeom>
        </p:spPr>
      </p:pic>
      <p:sp>
        <p:nvSpPr>
          <p:cNvPr id="140" name="文本框 40">
            <a:extLst>
              <a:ext uri="{FF2B5EF4-FFF2-40B4-BE49-F238E27FC236}">
                <a16:creationId xmlns:a16="http://schemas.microsoft.com/office/drawing/2014/main" id="{8E5D3181-188C-4D8D-A147-7B12732B881B}"/>
              </a:ext>
            </a:extLst>
          </p:cNvPr>
          <p:cNvSpPr txBox="1"/>
          <p:nvPr/>
        </p:nvSpPr>
        <p:spPr bwMode="gray">
          <a:xfrm>
            <a:off x="7280089" y="4514736"/>
            <a:ext cx="635995" cy="307777"/>
          </a:xfrm>
          <a:prstGeom prst="rect">
            <a:avLst/>
          </a:prstGeom>
          <a:noFill/>
        </p:spPr>
        <p:txBody>
          <a:bodyPr wrap="square" rtlCol="0">
            <a:spAutoFit/>
          </a:bodyPr>
          <a:lstStyle/>
          <a:p>
            <a:pPr algn="ctr"/>
            <a:r>
              <a:rPr lang="en-US" altLang="zh-CN" sz="1400" dirty="0"/>
              <a:t>EDGE</a:t>
            </a:r>
            <a:endParaRPr lang="zh-CN" altLang="en-US" sz="1400" dirty="0"/>
          </a:p>
        </p:txBody>
      </p:sp>
      <p:sp>
        <p:nvSpPr>
          <p:cNvPr id="141" name="文本框 42">
            <a:extLst>
              <a:ext uri="{FF2B5EF4-FFF2-40B4-BE49-F238E27FC236}">
                <a16:creationId xmlns:a16="http://schemas.microsoft.com/office/drawing/2014/main" id="{7A3EECB3-440D-4F4C-B751-FE0BADAED21F}"/>
              </a:ext>
            </a:extLst>
          </p:cNvPr>
          <p:cNvSpPr txBox="1"/>
          <p:nvPr/>
        </p:nvSpPr>
        <p:spPr bwMode="gray">
          <a:xfrm>
            <a:off x="10323141" y="4514736"/>
            <a:ext cx="671588" cy="307777"/>
          </a:xfrm>
          <a:prstGeom prst="rect">
            <a:avLst/>
          </a:prstGeom>
          <a:noFill/>
        </p:spPr>
        <p:txBody>
          <a:bodyPr wrap="square" rtlCol="0">
            <a:spAutoFit/>
          </a:bodyPr>
          <a:lstStyle/>
          <a:p>
            <a:pPr algn="ctr"/>
            <a:r>
              <a:rPr lang="en-US" altLang="zh-CN" sz="1400" dirty="0"/>
              <a:t>EDGE</a:t>
            </a:r>
            <a:endParaRPr lang="zh-CN" altLang="en-US" sz="1400" dirty="0"/>
          </a:p>
        </p:txBody>
      </p:sp>
      <p:cxnSp>
        <p:nvCxnSpPr>
          <p:cNvPr id="142" name="Connector: Elbow 141">
            <a:extLst>
              <a:ext uri="{FF2B5EF4-FFF2-40B4-BE49-F238E27FC236}">
                <a16:creationId xmlns:a16="http://schemas.microsoft.com/office/drawing/2014/main" id="{494F9E23-0900-4FE6-9A9A-6E08D3CA2B87}"/>
              </a:ext>
            </a:extLst>
          </p:cNvPr>
          <p:cNvCxnSpPr>
            <a:cxnSpLocks/>
            <a:stCxn id="138" idx="0"/>
            <a:endCxn id="139" idx="0"/>
          </p:cNvCxnSpPr>
          <p:nvPr/>
        </p:nvCxnSpPr>
        <p:spPr bwMode="gray">
          <a:xfrm rot="5400000" flipH="1" flipV="1">
            <a:off x="9147498" y="2912789"/>
            <a:ext cx="12700" cy="2468345"/>
          </a:xfrm>
          <a:prstGeom prst="bentConnector3">
            <a:avLst>
              <a:gd name="adj1" fmla="val 2925000"/>
            </a:avLst>
          </a:prstGeom>
          <a:ln w="28575">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43" name="Connector: Elbow 142">
            <a:extLst>
              <a:ext uri="{FF2B5EF4-FFF2-40B4-BE49-F238E27FC236}">
                <a16:creationId xmlns:a16="http://schemas.microsoft.com/office/drawing/2014/main" id="{BEC2929D-3635-414D-8D3C-D134D2142FB3}"/>
              </a:ext>
            </a:extLst>
          </p:cNvPr>
          <p:cNvCxnSpPr>
            <a:cxnSpLocks/>
            <a:stCxn id="138" idx="2"/>
            <a:endCxn id="139" idx="2"/>
          </p:cNvCxnSpPr>
          <p:nvPr/>
        </p:nvCxnSpPr>
        <p:spPr bwMode="gray">
          <a:xfrm rot="16200000" flipH="1">
            <a:off x="9147498" y="3355588"/>
            <a:ext cx="12700" cy="2468345"/>
          </a:xfrm>
          <a:prstGeom prst="bentConnector3">
            <a:avLst>
              <a:gd name="adj1" fmla="val 2925016"/>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D7F897A8-8CCE-4736-B000-D1BE08130CEB}"/>
              </a:ext>
            </a:extLst>
          </p:cNvPr>
          <p:cNvSpPr txBox="1"/>
          <p:nvPr/>
        </p:nvSpPr>
        <p:spPr bwMode="gray">
          <a:xfrm>
            <a:off x="8679905" y="3783887"/>
            <a:ext cx="954107" cy="276999"/>
          </a:xfrm>
          <a:prstGeom prst="rect">
            <a:avLst/>
          </a:prstGeom>
          <a:noFill/>
        </p:spPr>
        <p:txBody>
          <a:bodyPr wrap="none" rtlCol="0">
            <a:spAutoFit/>
          </a:bodyPr>
          <a:lstStyle/>
          <a:p>
            <a:r>
              <a:rPr lang="zh-CN" altLang="en-US" sz="1200" dirty="0"/>
              <a:t>高质量链路</a:t>
            </a:r>
            <a:endParaRPr lang="en-US" sz="1200" dirty="0"/>
          </a:p>
        </p:txBody>
      </p:sp>
      <p:sp>
        <p:nvSpPr>
          <p:cNvPr id="145" name="TextBox 144">
            <a:extLst>
              <a:ext uri="{FF2B5EF4-FFF2-40B4-BE49-F238E27FC236}">
                <a16:creationId xmlns:a16="http://schemas.microsoft.com/office/drawing/2014/main" id="{8B48C8B8-373D-4D2C-BD9C-FDD40CF9BCC1}"/>
              </a:ext>
            </a:extLst>
          </p:cNvPr>
          <p:cNvSpPr txBox="1"/>
          <p:nvPr/>
        </p:nvSpPr>
        <p:spPr bwMode="gray">
          <a:xfrm>
            <a:off x="8688042" y="4701490"/>
            <a:ext cx="954107" cy="276999"/>
          </a:xfrm>
          <a:prstGeom prst="rect">
            <a:avLst/>
          </a:prstGeom>
          <a:noFill/>
        </p:spPr>
        <p:txBody>
          <a:bodyPr wrap="none" rtlCol="0">
            <a:spAutoFit/>
          </a:bodyPr>
          <a:lstStyle/>
          <a:p>
            <a:r>
              <a:rPr lang="zh-CN" altLang="en-US" sz="1200" dirty="0"/>
              <a:t>低质量链路</a:t>
            </a:r>
            <a:endParaRPr lang="en-US" sz="1200" dirty="0"/>
          </a:p>
        </p:txBody>
      </p:sp>
      <p:grpSp>
        <p:nvGrpSpPr>
          <p:cNvPr id="146" name="Group 145">
            <a:extLst>
              <a:ext uri="{FF2B5EF4-FFF2-40B4-BE49-F238E27FC236}">
                <a16:creationId xmlns:a16="http://schemas.microsoft.com/office/drawing/2014/main" id="{FEBF48DD-2420-4530-94F9-4CCB1ED4055D}"/>
              </a:ext>
            </a:extLst>
          </p:cNvPr>
          <p:cNvGrpSpPr/>
          <p:nvPr/>
        </p:nvGrpSpPr>
        <p:grpSpPr bwMode="gray">
          <a:xfrm>
            <a:off x="6890668" y="3514911"/>
            <a:ext cx="567283" cy="276999"/>
            <a:chOff x="1109809" y="4009946"/>
            <a:chExt cx="567283" cy="276999"/>
          </a:xfrm>
        </p:grpSpPr>
        <p:sp>
          <p:nvSpPr>
            <p:cNvPr id="147" name="文本框 33">
              <a:extLst>
                <a:ext uri="{FF2B5EF4-FFF2-40B4-BE49-F238E27FC236}">
                  <a16:creationId xmlns:a16="http://schemas.microsoft.com/office/drawing/2014/main" id="{32D0E06A-C7C3-40EE-8F0E-1D6663E55E6C}"/>
                </a:ext>
              </a:extLst>
            </p:cNvPr>
            <p:cNvSpPr txBox="1"/>
            <p:nvPr/>
          </p:nvSpPr>
          <p:spPr bwMode="gray">
            <a:xfrm>
              <a:off x="1109809" y="4009946"/>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5</a:t>
              </a:r>
              <a:endParaRPr lang="zh-CN" altLang="en-US" sz="1200" dirty="0"/>
            </a:p>
          </p:txBody>
        </p:sp>
        <p:sp>
          <p:nvSpPr>
            <p:cNvPr id="148" name="文本框 34">
              <a:extLst>
                <a:ext uri="{FF2B5EF4-FFF2-40B4-BE49-F238E27FC236}">
                  <a16:creationId xmlns:a16="http://schemas.microsoft.com/office/drawing/2014/main" id="{4F838F33-C377-464E-8E0E-00E9F505C406}"/>
                </a:ext>
              </a:extLst>
            </p:cNvPr>
            <p:cNvSpPr txBox="1"/>
            <p:nvPr/>
          </p:nvSpPr>
          <p:spPr bwMode="gray">
            <a:xfrm>
              <a:off x="1417513" y="4009946"/>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4</a:t>
              </a:r>
              <a:endParaRPr lang="zh-CN" altLang="en-US" sz="1200" dirty="0"/>
            </a:p>
          </p:txBody>
        </p:sp>
      </p:grpSp>
      <p:grpSp>
        <p:nvGrpSpPr>
          <p:cNvPr id="149" name="Group 148">
            <a:extLst>
              <a:ext uri="{FF2B5EF4-FFF2-40B4-BE49-F238E27FC236}">
                <a16:creationId xmlns:a16="http://schemas.microsoft.com/office/drawing/2014/main" id="{8D06BBDE-6E36-4586-AE8A-7E398E352F34}"/>
              </a:ext>
            </a:extLst>
          </p:cNvPr>
          <p:cNvGrpSpPr/>
          <p:nvPr/>
        </p:nvGrpSpPr>
        <p:grpSpPr bwMode="gray">
          <a:xfrm>
            <a:off x="6890668" y="3863612"/>
            <a:ext cx="567283" cy="276999"/>
            <a:chOff x="1109809" y="4009946"/>
            <a:chExt cx="567283" cy="276999"/>
          </a:xfrm>
        </p:grpSpPr>
        <p:sp>
          <p:nvSpPr>
            <p:cNvPr id="150" name="文本框 33">
              <a:extLst>
                <a:ext uri="{FF2B5EF4-FFF2-40B4-BE49-F238E27FC236}">
                  <a16:creationId xmlns:a16="http://schemas.microsoft.com/office/drawing/2014/main" id="{1299715E-7E96-4E54-A789-A731A9EE1698}"/>
                </a:ext>
              </a:extLst>
            </p:cNvPr>
            <p:cNvSpPr txBox="1"/>
            <p:nvPr/>
          </p:nvSpPr>
          <p:spPr bwMode="gray">
            <a:xfrm>
              <a:off x="1109809" y="4009946"/>
              <a:ext cx="259579" cy="276999"/>
            </a:xfrm>
            <a:prstGeom prst="rect">
              <a:avLst/>
            </a:prstGeom>
            <a:solidFill>
              <a:schemeClr val="bg1"/>
            </a:solidFill>
            <a:ln>
              <a:solidFill>
                <a:schemeClr val="tx1"/>
              </a:solidFill>
            </a:ln>
          </p:spPr>
          <p:txBody>
            <a:bodyPr wrap="square" rtlCol="0">
              <a:spAutoFit/>
            </a:bodyPr>
            <a:lstStyle/>
            <a:p>
              <a:r>
                <a:rPr lang="en-US" altLang="zh-CN" sz="1200" dirty="0"/>
                <a:t>5</a:t>
              </a:r>
              <a:endParaRPr lang="zh-CN" altLang="en-US" sz="1200" dirty="0"/>
            </a:p>
          </p:txBody>
        </p:sp>
        <p:sp>
          <p:nvSpPr>
            <p:cNvPr id="151" name="文本框 34">
              <a:extLst>
                <a:ext uri="{FF2B5EF4-FFF2-40B4-BE49-F238E27FC236}">
                  <a16:creationId xmlns:a16="http://schemas.microsoft.com/office/drawing/2014/main" id="{5A7BFA7D-4CFA-4098-BF16-8850F5DC9358}"/>
                </a:ext>
              </a:extLst>
            </p:cNvPr>
            <p:cNvSpPr txBox="1"/>
            <p:nvPr/>
          </p:nvSpPr>
          <p:spPr bwMode="gray">
            <a:xfrm>
              <a:off x="1417513" y="4009946"/>
              <a:ext cx="259579" cy="276999"/>
            </a:xfrm>
            <a:prstGeom prst="rect">
              <a:avLst/>
            </a:prstGeom>
            <a:solidFill>
              <a:schemeClr val="bg1"/>
            </a:solidFill>
            <a:ln>
              <a:solidFill>
                <a:schemeClr val="tx1"/>
              </a:solidFill>
            </a:ln>
          </p:spPr>
          <p:txBody>
            <a:bodyPr wrap="square" rtlCol="0">
              <a:spAutoFit/>
            </a:bodyPr>
            <a:lstStyle/>
            <a:p>
              <a:r>
                <a:rPr lang="en-US" altLang="zh-CN" sz="1200" dirty="0"/>
                <a:t>4</a:t>
              </a:r>
              <a:endParaRPr lang="zh-CN" altLang="en-US" sz="1200" dirty="0"/>
            </a:p>
          </p:txBody>
        </p:sp>
      </p:grpSp>
      <p:sp>
        <p:nvSpPr>
          <p:cNvPr id="152" name="TextBox 151">
            <a:extLst>
              <a:ext uri="{FF2B5EF4-FFF2-40B4-BE49-F238E27FC236}">
                <a16:creationId xmlns:a16="http://schemas.microsoft.com/office/drawing/2014/main" id="{7F6F0B35-CC86-4067-9ECE-AC93465C4806}"/>
              </a:ext>
            </a:extLst>
          </p:cNvPr>
          <p:cNvSpPr txBox="1"/>
          <p:nvPr/>
        </p:nvSpPr>
        <p:spPr bwMode="gray">
          <a:xfrm>
            <a:off x="6596249" y="3267268"/>
            <a:ext cx="1107996" cy="276999"/>
          </a:xfrm>
          <a:prstGeom prst="rect">
            <a:avLst/>
          </a:prstGeom>
          <a:noFill/>
        </p:spPr>
        <p:txBody>
          <a:bodyPr wrap="none" rtlCol="0">
            <a:spAutoFit/>
          </a:bodyPr>
          <a:lstStyle/>
          <a:p>
            <a:r>
              <a:rPr lang="zh-CN" altLang="en-US" sz="1200" dirty="0"/>
              <a:t>高优先级应用</a:t>
            </a:r>
            <a:endParaRPr lang="en-US" sz="1200" dirty="0"/>
          </a:p>
        </p:txBody>
      </p:sp>
      <p:sp>
        <p:nvSpPr>
          <p:cNvPr id="153" name="TextBox 152">
            <a:extLst>
              <a:ext uri="{FF2B5EF4-FFF2-40B4-BE49-F238E27FC236}">
                <a16:creationId xmlns:a16="http://schemas.microsoft.com/office/drawing/2014/main" id="{1F87CB73-9DB4-4AD0-BDC5-38511F23B4C4}"/>
              </a:ext>
            </a:extLst>
          </p:cNvPr>
          <p:cNvSpPr txBox="1"/>
          <p:nvPr/>
        </p:nvSpPr>
        <p:spPr bwMode="gray">
          <a:xfrm>
            <a:off x="6593456" y="4117036"/>
            <a:ext cx="1107996" cy="276999"/>
          </a:xfrm>
          <a:prstGeom prst="rect">
            <a:avLst/>
          </a:prstGeom>
          <a:noFill/>
        </p:spPr>
        <p:txBody>
          <a:bodyPr wrap="none" rtlCol="0">
            <a:spAutoFit/>
          </a:bodyPr>
          <a:lstStyle/>
          <a:p>
            <a:r>
              <a:rPr lang="zh-CN" altLang="en-US" sz="1200" dirty="0"/>
              <a:t>低优先级应用</a:t>
            </a:r>
            <a:endParaRPr lang="en-US" sz="1200" dirty="0"/>
          </a:p>
        </p:txBody>
      </p:sp>
      <p:grpSp>
        <p:nvGrpSpPr>
          <p:cNvPr id="155" name="Group 154">
            <a:extLst>
              <a:ext uri="{FF2B5EF4-FFF2-40B4-BE49-F238E27FC236}">
                <a16:creationId xmlns:a16="http://schemas.microsoft.com/office/drawing/2014/main" id="{7120619C-5692-42B0-A7D4-FF539AE1F117}"/>
              </a:ext>
            </a:extLst>
          </p:cNvPr>
          <p:cNvGrpSpPr/>
          <p:nvPr/>
        </p:nvGrpSpPr>
        <p:grpSpPr bwMode="gray">
          <a:xfrm>
            <a:off x="10687024" y="3554714"/>
            <a:ext cx="874988" cy="277000"/>
            <a:chOff x="2574670" y="2777917"/>
            <a:chExt cx="874988" cy="277000"/>
          </a:xfrm>
        </p:grpSpPr>
        <p:sp>
          <p:nvSpPr>
            <p:cNvPr id="157" name="文本框 36">
              <a:extLst>
                <a:ext uri="{FF2B5EF4-FFF2-40B4-BE49-F238E27FC236}">
                  <a16:creationId xmlns:a16="http://schemas.microsoft.com/office/drawing/2014/main" id="{0218A851-7C01-44B0-B134-D1AECCF8CFE1}"/>
                </a:ext>
              </a:extLst>
            </p:cNvPr>
            <p:cNvSpPr txBox="1"/>
            <p:nvPr/>
          </p:nvSpPr>
          <p:spPr bwMode="gray">
            <a:xfrm>
              <a:off x="2574670" y="2777917"/>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3</a:t>
              </a:r>
              <a:endParaRPr lang="zh-CN" altLang="en-US" sz="1200" dirty="0"/>
            </a:p>
          </p:txBody>
        </p:sp>
        <p:sp>
          <p:nvSpPr>
            <p:cNvPr id="158" name="文本框 37">
              <a:extLst>
                <a:ext uri="{FF2B5EF4-FFF2-40B4-BE49-F238E27FC236}">
                  <a16:creationId xmlns:a16="http://schemas.microsoft.com/office/drawing/2014/main" id="{CF071C08-CF07-4C6A-9E49-F0B4AE0F79E7}"/>
                </a:ext>
              </a:extLst>
            </p:cNvPr>
            <p:cNvSpPr txBox="1"/>
            <p:nvPr/>
          </p:nvSpPr>
          <p:spPr bwMode="gray">
            <a:xfrm>
              <a:off x="2882375" y="2777918"/>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2</a:t>
              </a:r>
              <a:endParaRPr lang="zh-CN" altLang="en-US" sz="1200" dirty="0"/>
            </a:p>
          </p:txBody>
        </p:sp>
        <p:sp>
          <p:nvSpPr>
            <p:cNvPr id="159" name="文本框 38">
              <a:extLst>
                <a:ext uri="{FF2B5EF4-FFF2-40B4-BE49-F238E27FC236}">
                  <a16:creationId xmlns:a16="http://schemas.microsoft.com/office/drawing/2014/main" id="{FB9B882D-1E5E-4395-BB15-AF9D17AB7A16}"/>
                </a:ext>
              </a:extLst>
            </p:cNvPr>
            <p:cNvSpPr txBox="1"/>
            <p:nvPr/>
          </p:nvSpPr>
          <p:spPr bwMode="gray">
            <a:xfrm>
              <a:off x="3190079" y="2777918"/>
              <a:ext cx="259579" cy="276999"/>
            </a:xfrm>
            <a:prstGeom prst="rect">
              <a:avLst/>
            </a:prstGeom>
            <a:solidFill>
              <a:schemeClr val="bg1">
                <a:lumMod val="85000"/>
              </a:schemeClr>
            </a:solidFill>
            <a:ln>
              <a:solidFill>
                <a:schemeClr val="tx1"/>
              </a:solidFill>
            </a:ln>
          </p:spPr>
          <p:txBody>
            <a:bodyPr wrap="square" rtlCol="0">
              <a:spAutoFit/>
            </a:bodyPr>
            <a:lstStyle/>
            <a:p>
              <a:r>
                <a:rPr lang="en-US" altLang="zh-CN" sz="1200" dirty="0"/>
                <a:t>1</a:t>
              </a:r>
              <a:endParaRPr lang="zh-CN" altLang="en-US" sz="1200" dirty="0"/>
            </a:p>
          </p:txBody>
        </p:sp>
      </p:grpSp>
      <p:grpSp>
        <p:nvGrpSpPr>
          <p:cNvPr id="161" name="Group 160">
            <a:extLst>
              <a:ext uri="{FF2B5EF4-FFF2-40B4-BE49-F238E27FC236}">
                <a16:creationId xmlns:a16="http://schemas.microsoft.com/office/drawing/2014/main" id="{6E2AB199-E012-433E-ABEC-356711DC894E}"/>
              </a:ext>
            </a:extLst>
          </p:cNvPr>
          <p:cNvGrpSpPr/>
          <p:nvPr/>
        </p:nvGrpSpPr>
        <p:grpSpPr bwMode="gray">
          <a:xfrm>
            <a:off x="10687024" y="3966493"/>
            <a:ext cx="874988" cy="277000"/>
            <a:chOff x="2574670" y="2777917"/>
            <a:chExt cx="874988" cy="277000"/>
          </a:xfrm>
        </p:grpSpPr>
        <p:sp>
          <p:nvSpPr>
            <p:cNvPr id="163" name="文本框 36">
              <a:extLst>
                <a:ext uri="{FF2B5EF4-FFF2-40B4-BE49-F238E27FC236}">
                  <a16:creationId xmlns:a16="http://schemas.microsoft.com/office/drawing/2014/main" id="{D636B2A6-BD88-49A5-9965-99F72943E1C0}"/>
                </a:ext>
              </a:extLst>
            </p:cNvPr>
            <p:cNvSpPr txBox="1"/>
            <p:nvPr/>
          </p:nvSpPr>
          <p:spPr bwMode="gray">
            <a:xfrm>
              <a:off x="2574670" y="2777917"/>
              <a:ext cx="259579" cy="276999"/>
            </a:xfrm>
            <a:prstGeom prst="rect">
              <a:avLst/>
            </a:prstGeom>
            <a:solidFill>
              <a:schemeClr val="bg1"/>
            </a:solidFill>
            <a:ln>
              <a:solidFill>
                <a:schemeClr val="tx1"/>
              </a:solidFill>
            </a:ln>
          </p:spPr>
          <p:txBody>
            <a:bodyPr wrap="square" rtlCol="0">
              <a:spAutoFit/>
            </a:bodyPr>
            <a:lstStyle/>
            <a:p>
              <a:r>
                <a:rPr lang="en-US" altLang="zh-CN" sz="1200" dirty="0"/>
                <a:t>3</a:t>
              </a:r>
              <a:endParaRPr lang="zh-CN" altLang="en-US" sz="1200" dirty="0"/>
            </a:p>
          </p:txBody>
        </p:sp>
        <p:sp>
          <p:nvSpPr>
            <p:cNvPr id="164" name="文本框 37">
              <a:extLst>
                <a:ext uri="{FF2B5EF4-FFF2-40B4-BE49-F238E27FC236}">
                  <a16:creationId xmlns:a16="http://schemas.microsoft.com/office/drawing/2014/main" id="{72C18A06-FF07-4AD0-B8C8-5DDFF35E3AB3}"/>
                </a:ext>
              </a:extLst>
            </p:cNvPr>
            <p:cNvSpPr txBox="1"/>
            <p:nvPr/>
          </p:nvSpPr>
          <p:spPr bwMode="gray">
            <a:xfrm>
              <a:off x="2882375" y="2777918"/>
              <a:ext cx="259579" cy="276999"/>
            </a:xfrm>
            <a:prstGeom prst="rect">
              <a:avLst/>
            </a:prstGeom>
            <a:solidFill>
              <a:schemeClr val="bg1"/>
            </a:solidFill>
            <a:ln>
              <a:solidFill>
                <a:schemeClr val="tx1"/>
              </a:solidFill>
            </a:ln>
          </p:spPr>
          <p:txBody>
            <a:bodyPr wrap="square" rtlCol="0">
              <a:spAutoFit/>
            </a:bodyPr>
            <a:lstStyle/>
            <a:p>
              <a:r>
                <a:rPr lang="en-US" altLang="zh-CN" sz="1200" dirty="0"/>
                <a:t>2</a:t>
              </a:r>
              <a:endParaRPr lang="zh-CN" altLang="en-US" sz="1200" dirty="0"/>
            </a:p>
          </p:txBody>
        </p:sp>
        <p:sp>
          <p:nvSpPr>
            <p:cNvPr id="165" name="文本框 38">
              <a:extLst>
                <a:ext uri="{FF2B5EF4-FFF2-40B4-BE49-F238E27FC236}">
                  <a16:creationId xmlns:a16="http://schemas.microsoft.com/office/drawing/2014/main" id="{2EE2351E-AE88-4D1D-9240-256BA0EE465E}"/>
                </a:ext>
              </a:extLst>
            </p:cNvPr>
            <p:cNvSpPr txBox="1"/>
            <p:nvPr/>
          </p:nvSpPr>
          <p:spPr bwMode="gray">
            <a:xfrm>
              <a:off x="3190079" y="2777918"/>
              <a:ext cx="259579" cy="276999"/>
            </a:xfrm>
            <a:prstGeom prst="rect">
              <a:avLst/>
            </a:prstGeom>
            <a:solidFill>
              <a:schemeClr val="bg1"/>
            </a:solidFill>
            <a:ln>
              <a:solidFill>
                <a:schemeClr val="tx1"/>
              </a:solidFill>
            </a:ln>
          </p:spPr>
          <p:txBody>
            <a:bodyPr wrap="square" rtlCol="0">
              <a:spAutoFit/>
            </a:bodyPr>
            <a:lstStyle/>
            <a:p>
              <a:r>
                <a:rPr lang="en-US" altLang="zh-CN" sz="1200" dirty="0"/>
                <a:t>1</a:t>
              </a:r>
              <a:endParaRPr lang="zh-CN" altLang="en-US" sz="1200" dirty="0"/>
            </a:p>
          </p:txBody>
        </p:sp>
      </p:grpSp>
      <p:cxnSp>
        <p:nvCxnSpPr>
          <p:cNvPr id="166" name="Straight Arrow Connector 165">
            <a:extLst>
              <a:ext uri="{FF2B5EF4-FFF2-40B4-BE49-F238E27FC236}">
                <a16:creationId xmlns:a16="http://schemas.microsoft.com/office/drawing/2014/main" id="{2F664D21-9908-4822-AAB4-1882E468E50C}"/>
              </a:ext>
            </a:extLst>
          </p:cNvPr>
          <p:cNvCxnSpPr/>
          <p:nvPr/>
        </p:nvCxnSpPr>
        <p:spPr bwMode="gray">
          <a:xfrm>
            <a:off x="8267700" y="3891942"/>
            <a:ext cx="0" cy="900127"/>
          </a:xfrm>
          <a:prstGeom prst="straightConnector1">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168" name="Speech Bubble: Rectangle 167">
            <a:extLst>
              <a:ext uri="{FF2B5EF4-FFF2-40B4-BE49-F238E27FC236}">
                <a16:creationId xmlns:a16="http://schemas.microsoft.com/office/drawing/2014/main" id="{3A1BCFAF-D263-45DE-AC82-7873D91356D4}"/>
              </a:ext>
            </a:extLst>
          </p:cNvPr>
          <p:cNvSpPr/>
          <p:nvPr/>
        </p:nvSpPr>
        <p:spPr bwMode="gray">
          <a:xfrm>
            <a:off x="8540752" y="4081534"/>
            <a:ext cx="1146394" cy="476157"/>
          </a:xfrm>
          <a:prstGeom prst="wedgeRectCallout">
            <a:avLst>
              <a:gd name="adj1" fmla="val -68066"/>
              <a:gd name="adj2" fmla="val -2295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低优先级应用流量切换</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77" name="五边形 2">
            <a:extLst>
              <a:ext uri="{FF2B5EF4-FFF2-40B4-BE49-F238E27FC236}">
                <a16:creationId xmlns:a16="http://schemas.microsoft.com/office/drawing/2014/main" id="{BA1160F2-DA67-4A89-82AB-4C9265594D00}"/>
              </a:ext>
            </a:extLst>
          </p:cNvPr>
          <p:cNvSpPr/>
          <p:nvPr/>
        </p:nvSpPr>
        <p:spPr bwMode="gray">
          <a:xfrm>
            <a:off x="8618681" y="125370"/>
            <a:ext cx="105057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智能选路设计</a:t>
            </a:r>
          </a:p>
        </p:txBody>
      </p:sp>
      <p:sp>
        <p:nvSpPr>
          <p:cNvPr id="78" name="燕尾形 3">
            <a:extLst>
              <a:ext uri="{FF2B5EF4-FFF2-40B4-BE49-F238E27FC236}">
                <a16:creationId xmlns:a16="http://schemas.microsoft.com/office/drawing/2014/main" id="{D4B35244-A493-4AA6-82F0-BE59BE0A2E89}"/>
              </a:ext>
            </a:extLst>
          </p:cNvPr>
          <p:cNvSpPr/>
          <p:nvPr/>
        </p:nvSpPr>
        <p:spPr bwMode="gray">
          <a:xfrm>
            <a:off x="9599715" y="125370"/>
            <a:ext cx="105057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燕尾形 3">
            <a:extLst>
              <a:ext uri="{FF2B5EF4-FFF2-40B4-BE49-F238E27FC236}">
                <a16:creationId xmlns:a16="http://schemas.microsoft.com/office/drawing/2014/main" id="{06740AFA-DB08-4E35-814B-DCE8068119FD}"/>
              </a:ext>
            </a:extLst>
          </p:cNvPr>
          <p:cNvSpPr/>
          <p:nvPr/>
        </p:nvSpPr>
        <p:spPr bwMode="gray">
          <a:xfrm>
            <a:off x="10580748" y="125370"/>
            <a:ext cx="116244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丢包优化设计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116685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en-US" dirty="0"/>
              <a:t>Q</a:t>
            </a:r>
            <a:r>
              <a:rPr lang="en-US" altLang="zh-CN" dirty="0"/>
              <a:t>oS</a:t>
            </a:r>
            <a:r>
              <a:rPr lang="zh-CN" altLang="en-US" dirty="0"/>
              <a:t>设计：</a:t>
            </a:r>
            <a:r>
              <a:rPr lang="en-US" altLang="zh-CN" dirty="0" err="1"/>
              <a:t>HQoS</a:t>
            </a:r>
            <a:endParaRPr lang="zh-CN" altLang="en-US" dirty="0">
              <a:sym typeface="Huawei Sans" panose="020C0503030203020204" pitchFamily="34" charset="0"/>
            </a:endParaRPr>
          </a:p>
        </p:txBody>
      </p:sp>
      <p:sp>
        <p:nvSpPr>
          <p:cNvPr id="10" name="矩形 9"/>
          <p:cNvSpPr/>
          <p:nvPr/>
        </p:nvSpPr>
        <p:spPr bwMode="gray">
          <a:xfrm>
            <a:off x="6096000" y="1045957"/>
            <a:ext cx="5364163" cy="5020862"/>
          </a:xfrm>
          <a:prstGeom prst="rect">
            <a:avLst/>
          </a:prstGeom>
        </p:spPr>
        <p:txBody>
          <a:bodyPr wrap="square">
            <a:spAutoFit/>
          </a:bodyPr>
          <a:lstStyle/>
          <a:p>
            <a:pPr marL="302279" indent="-302279" algn="just" defTabSz="914034" fontAlgn="ctr">
              <a:lnSpc>
                <a:spcPct val="140000"/>
              </a:lnSpc>
              <a:spcBef>
                <a:spcPts val="792"/>
              </a:spcBef>
              <a:spcAft>
                <a:spcPts val="800"/>
              </a:spcAft>
              <a:buSzPct val="50000"/>
              <a:buFont typeface="Wingdings" panose="05000000000000000000" pitchFamily="2" charset="2"/>
              <a:buChar char="l"/>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部门内多应用</a:t>
            </a:r>
          </a:p>
          <a:p>
            <a:pPr marL="654938" lvl="1" indent="-251899" defTabSz="914034" fontAlgn="ctr">
              <a:lnSpc>
                <a:spcPct val="140000"/>
              </a:lnSpc>
              <a:spcBef>
                <a:spcPts val="720"/>
              </a:spcBef>
              <a:spcAft>
                <a:spcPts val="8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企业应用对链路的要求各不相同，重要程度也不同。当出口链路带宽有限时，应该优先保证重要应用的体验。</a:t>
            </a:r>
          </a:p>
          <a:p>
            <a:pPr marL="302279" indent="-302279" algn="just" defTabSz="914034" fontAlgn="ctr">
              <a:lnSpc>
                <a:spcPct val="140000"/>
              </a:lnSpc>
              <a:spcBef>
                <a:spcPts val="792"/>
              </a:spcBef>
              <a:spcAft>
                <a:spcPts val="800"/>
              </a:spcAft>
              <a:buSzPct val="50000"/>
              <a:buFont typeface="Wingdings" panose="05000000000000000000" pitchFamily="2" charset="2"/>
              <a:buChar char="l"/>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企业多部门</a:t>
            </a:r>
          </a:p>
          <a:p>
            <a:pPr marL="654938" lvl="1" indent="-251899" defTabSz="914034" fontAlgn="ctr">
              <a:lnSpc>
                <a:spcPct val="140000"/>
              </a:lnSpc>
              <a:spcBef>
                <a:spcPts val="720"/>
              </a:spcBef>
              <a:spcAft>
                <a:spcPts val="8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企业通常都有多个部门，各个部门重要性各不相同。既要隔离各部门的流量，又要对各部门提供不同的带宽。</a:t>
            </a:r>
          </a:p>
          <a:p>
            <a:pPr marL="302279" indent="-302279" algn="just" defTabSz="914034" fontAlgn="ctr">
              <a:lnSpc>
                <a:spcPct val="140000"/>
              </a:lnSpc>
              <a:spcBef>
                <a:spcPts val="792"/>
              </a:spcBef>
              <a:spcAft>
                <a:spcPts val="800"/>
              </a:spcAft>
              <a:buSzPct val="50000"/>
              <a:buFont typeface="Wingdings" panose="05000000000000000000" pitchFamily="2" charset="2"/>
              <a:buChar char="l"/>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解决方案：</a:t>
            </a:r>
          </a:p>
          <a:p>
            <a:pPr marL="654938" lvl="1" indent="-251899" defTabSz="914034" fontAlgn="ctr">
              <a:lnSpc>
                <a:spcPct val="140000"/>
              </a:lnSpc>
              <a:spcBef>
                <a:spcPts val="720"/>
              </a:spcBef>
              <a:spcAft>
                <a:spcPts val="8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支持对每个</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虚拟网络基于应用设定不同的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HQoS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策略，包括</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Queue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调度、</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CAR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Shaping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等。</a:t>
            </a:r>
          </a:p>
          <a:p>
            <a:pPr marL="654938" lvl="1" indent="-251899" defTabSz="914034" fontAlgn="ctr">
              <a:lnSpc>
                <a:spcPct val="140000"/>
              </a:lnSpc>
              <a:spcBef>
                <a:spcPts val="720"/>
              </a:spcBef>
              <a:spcAft>
                <a:spcPts val="8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支持为每个</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指定最小保证带宽比例，避免在网络拥塞情况下，某些</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网络流量过大，抢占其他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的流量，导致被抢占的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网络业务无法正常开展。</a:t>
            </a:r>
          </a:p>
        </p:txBody>
      </p:sp>
      <p:grpSp>
        <p:nvGrpSpPr>
          <p:cNvPr id="3" name="Group 2">
            <a:extLst>
              <a:ext uri="{FF2B5EF4-FFF2-40B4-BE49-F238E27FC236}">
                <a16:creationId xmlns:a16="http://schemas.microsoft.com/office/drawing/2014/main" id="{87BB0215-0449-4312-876D-5796A36EEBF9}"/>
              </a:ext>
            </a:extLst>
          </p:cNvPr>
          <p:cNvGrpSpPr/>
          <p:nvPr/>
        </p:nvGrpSpPr>
        <p:grpSpPr>
          <a:xfrm>
            <a:off x="731837" y="1245807"/>
            <a:ext cx="5265091" cy="4854295"/>
            <a:chOff x="731837" y="1360108"/>
            <a:chExt cx="5265091" cy="4854295"/>
          </a:xfrm>
        </p:grpSpPr>
        <p:sp>
          <p:nvSpPr>
            <p:cNvPr id="6" name="圆柱形 5"/>
            <p:cNvSpPr/>
            <p:nvPr/>
          </p:nvSpPr>
          <p:spPr bwMode="gray">
            <a:xfrm rot="16200000">
              <a:off x="2638608" y="2013364"/>
              <a:ext cx="1713683" cy="1501254"/>
            </a:xfrm>
            <a:prstGeom prst="can">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altLang="zh-CN" sz="1400" dirty="0">
                  <a:solidFill>
                    <a:schemeClr val="tx1"/>
                  </a:solidFill>
                </a:rPr>
                <a:t>VPN1</a:t>
              </a:r>
            </a:p>
            <a:p>
              <a:pPr algn="ctr"/>
              <a:r>
                <a:rPr lang="en-US" altLang="zh-CN" sz="1400" dirty="0">
                  <a:solidFill>
                    <a:schemeClr val="tx1"/>
                  </a:solidFill>
                </a:rPr>
                <a:t>40%</a:t>
              </a:r>
              <a:endParaRPr lang="zh-CN" altLang="en-US" sz="1400" dirty="0">
                <a:solidFill>
                  <a:schemeClr val="tx1"/>
                </a:solidFill>
              </a:endParaRPr>
            </a:p>
          </p:txBody>
        </p:sp>
        <p:sp>
          <p:nvSpPr>
            <p:cNvPr id="13" name="矩形 12"/>
            <p:cNvSpPr/>
            <p:nvPr/>
          </p:nvSpPr>
          <p:spPr bwMode="gray">
            <a:xfrm>
              <a:off x="1164385" y="5896303"/>
              <a:ext cx="747320" cy="318100"/>
            </a:xfrm>
            <a:prstGeom prst="rect">
              <a:avLst/>
            </a:prstGeom>
          </p:spPr>
          <p:txBody>
            <a:bodyPr wrap="none">
              <a:spAutoFit/>
            </a:bodyPr>
            <a:lstStyle/>
            <a:p>
              <a:r>
                <a:rPr lang="zh-CN" altLang="en-US" sz="1467"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子策略</a:t>
              </a:r>
            </a:p>
          </p:txBody>
        </p:sp>
        <p:sp>
          <p:nvSpPr>
            <p:cNvPr id="14" name="矩形 13"/>
            <p:cNvSpPr/>
            <p:nvPr/>
          </p:nvSpPr>
          <p:spPr bwMode="gray">
            <a:xfrm>
              <a:off x="2858121" y="5896303"/>
              <a:ext cx="747320" cy="318100"/>
            </a:xfrm>
            <a:prstGeom prst="rect">
              <a:avLst/>
            </a:prstGeom>
          </p:spPr>
          <p:txBody>
            <a:bodyPr wrap="none">
              <a:spAutoFit/>
            </a:bodyPr>
            <a:lstStyle/>
            <a:p>
              <a:r>
                <a:rPr lang="zh-CN" altLang="en-US" sz="1467"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父策略</a:t>
              </a:r>
            </a:p>
          </p:txBody>
        </p:sp>
        <p:sp>
          <p:nvSpPr>
            <p:cNvPr id="15" name="矩形 14"/>
            <p:cNvSpPr/>
            <p:nvPr/>
          </p:nvSpPr>
          <p:spPr bwMode="gray">
            <a:xfrm>
              <a:off x="4192554" y="5896303"/>
              <a:ext cx="1685077" cy="318100"/>
            </a:xfrm>
            <a:prstGeom prst="rect">
              <a:avLst/>
            </a:prstGeom>
          </p:spPr>
          <p:txBody>
            <a:bodyPr wrap="none">
              <a:spAutoFit/>
            </a:bodyPr>
            <a:lstStyle/>
            <a:p>
              <a:r>
                <a:rPr lang="zh-CN" altLang="en-US" sz="1467"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父策略绑定到接口</a:t>
              </a:r>
            </a:p>
          </p:txBody>
        </p:sp>
        <p:sp>
          <p:nvSpPr>
            <p:cNvPr id="16" name="左大括号 15"/>
            <p:cNvSpPr/>
            <p:nvPr/>
          </p:nvSpPr>
          <p:spPr bwMode="gray">
            <a:xfrm rot="16200000">
              <a:off x="1447073" y="4889916"/>
              <a:ext cx="287269" cy="1563931"/>
            </a:xfrm>
            <a:prstGeom prst="lef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a:buClr>
                  <a:srgbClr val="CC9900"/>
                </a:buClr>
                <a:buFont typeface="Wingdings" pitchFamily="2" charset="2"/>
                <a:buChar char="n"/>
              </a:pPr>
              <a:endParaRPr lang="zh-CN" altLang="en-US" sz="24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左大括号 16"/>
            <p:cNvSpPr/>
            <p:nvPr/>
          </p:nvSpPr>
          <p:spPr bwMode="gray">
            <a:xfrm rot="16200000">
              <a:off x="3127759" y="4786515"/>
              <a:ext cx="287269" cy="1770732"/>
            </a:xfrm>
            <a:prstGeom prst="lef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a:buClr>
                  <a:srgbClr val="CC9900"/>
                </a:buClr>
                <a:buFont typeface="Wingdings" pitchFamily="2" charset="2"/>
                <a:buChar char="n"/>
              </a:pPr>
              <a:endParaRPr lang="zh-CN" altLang="en-US" sz="24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椭圆 1"/>
            <p:cNvSpPr/>
            <p:nvPr/>
          </p:nvSpPr>
          <p:spPr bwMode="gray">
            <a:xfrm>
              <a:off x="1278303" y="1907152"/>
              <a:ext cx="600501" cy="18124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柱形 4"/>
            <p:cNvSpPr/>
            <p:nvPr/>
          </p:nvSpPr>
          <p:spPr bwMode="gray">
            <a:xfrm rot="16200000">
              <a:off x="2062365" y="1978837"/>
              <a:ext cx="957383" cy="1032089"/>
            </a:xfrm>
            <a:prstGeom prst="can">
              <a:avLst>
                <a:gd name="adj" fmla="val 1704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altLang="zh-CN" sz="1200" dirty="0">
                  <a:solidFill>
                    <a:schemeClr val="tx1"/>
                  </a:solidFill>
                </a:rPr>
                <a:t>Overlay</a:t>
              </a:r>
            </a:p>
            <a:p>
              <a:pPr algn="ctr"/>
              <a:r>
                <a:rPr lang="en-US" altLang="zh-CN" sz="1200" dirty="0">
                  <a:solidFill>
                    <a:schemeClr val="tx1"/>
                  </a:solidFill>
                </a:rPr>
                <a:t>60%</a:t>
              </a:r>
              <a:endParaRPr lang="zh-CN" altLang="en-US" sz="1200" dirty="0">
                <a:solidFill>
                  <a:schemeClr val="tx1"/>
                </a:solidFill>
              </a:endParaRPr>
            </a:p>
          </p:txBody>
        </p:sp>
        <p:sp>
          <p:nvSpPr>
            <p:cNvPr id="12" name="圆柱形 11"/>
            <p:cNvSpPr/>
            <p:nvPr/>
          </p:nvSpPr>
          <p:spPr bwMode="gray">
            <a:xfrm rot="16200000">
              <a:off x="2234963" y="2855416"/>
              <a:ext cx="515403" cy="920179"/>
            </a:xfrm>
            <a:prstGeom prst="ca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tx1"/>
                  </a:solidFill>
                </a:rPr>
                <a:t>本地出局</a:t>
              </a:r>
              <a:endParaRPr lang="en-US" altLang="zh-CN" sz="1200" dirty="0">
                <a:solidFill>
                  <a:schemeClr val="tx1"/>
                </a:solidFill>
              </a:endParaRPr>
            </a:p>
            <a:p>
              <a:pPr algn="ctr"/>
              <a:r>
                <a:rPr lang="en-US" altLang="zh-CN" sz="1200" dirty="0">
                  <a:solidFill>
                    <a:schemeClr val="tx1"/>
                  </a:solidFill>
                </a:rPr>
                <a:t>40%</a:t>
              </a:r>
              <a:endParaRPr lang="zh-CN" altLang="en-US" sz="1200" dirty="0">
                <a:solidFill>
                  <a:schemeClr val="tx1"/>
                </a:solidFill>
              </a:endParaRPr>
            </a:p>
          </p:txBody>
        </p:sp>
        <p:sp>
          <p:nvSpPr>
            <p:cNvPr id="18" name="圆柱形 17"/>
            <p:cNvSpPr/>
            <p:nvPr/>
          </p:nvSpPr>
          <p:spPr bwMode="gray">
            <a:xfrm rot="16200000">
              <a:off x="3316636" y="2836589"/>
              <a:ext cx="3580502" cy="1721620"/>
            </a:xfrm>
            <a:prstGeom prst="can">
              <a:avLst/>
            </a:prstGeom>
            <a:solidFill>
              <a:srgbClr val="56C4D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altLang="zh-CN" sz="1400" dirty="0">
                  <a:solidFill>
                    <a:schemeClr val="tx1"/>
                  </a:solidFill>
                </a:rPr>
                <a:t>WAN</a:t>
              </a:r>
              <a:r>
                <a:rPr lang="zh-CN" altLang="en-US" sz="1400" dirty="0">
                  <a:solidFill>
                    <a:schemeClr val="tx1"/>
                  </a:solidFill>
                </a:rPr>
                <a:t>接口</a:t>
              </a:r>
              <a:endParaRPr lang="en-US" altLang="zh-CN" sz="1400" dirty="0">
                <a:solidFill>
                  <a:schemeClr val="tx1"/>
                </a:solidFill>
              </a:endParaRPr>
            </a:p>
            <a:p>
              <a:pPr algn="ctr"/>
              <a:r>
                <a:rPr lang="en-US" altLang="zh-CN" sz="1400" dirty="0">
                  <a:solidFill>
                    <a:schemeClr val="tx1"/>
                  </a:solidFill>
                </a:rPr>
                <a:t>100 Mbit/s</a:t>
              </a:r>
              <a:endParaRPr lang="zh-CN" altLang="en-US" sz="1400" dirty="0">
                <a:solidFill>
                  <a:schemeClr val="tx1"/>
                </a:solidFill>
              </a:endParaRPr>
            </a:p>
          </p:txBody>
        </p:sp>
        <p:sp>
          <p:nvSpPr>
            <p:cNvPr id="19" name="圆柱形 18"/>
            <p:cNvSpPr/>
            <p:nvPr/>
          </p:nvSpPr>
          <p:spPr bwMode="gray">
            <a:xfrm rot="16200000">
              <a:off x="2638608" y="3850287"/>
              <a:ext cx="1713683" cy="1501254"/>
            </a:xfrm>
            <a:prstGeom prst="can">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altLang="zh-CN" sz="1400" dirty="0">
                  <a:solidFill>
                    <a:schemeClr val="tx1"/>
                  </a:solidFill>
                </a:rPr>
                <a:t>VPN2</a:t>
              </a:r>
            </a:p>
            <a:p>
              <a:pPr algn="ctr"/>
              <a:r>
                <a:rPr lang="en-US" altLang="zh-CN" sz="1400" dirty="0">
                  <a:solidFill>
                    <a:schemeClr val="tx1"/>
                  </a:solidFill>
                </a:rPr>
                <a:t>60%</a:t>
              </a:r>
              <a:endParaRPr lang="zh-CN" altLang="en-US" sz="1400" dirty="0">
                <a:solidFill>
                  <a:schemeClr val="tx1"/>
                </a:solidFill>
              </a:endParaRPr>
            </a:p>
          </p:txBody>
        </p:sp>
        <p:sp>
          <p:nvSpPr>
            <p:cNvPr id="20" name="椭圆 19"/>
            <p:cNvSpPr/>
            <p:nvPr/>
          </p:nvSpPr>
          <p:spPr bwMode="gray">
            <a:xfrm>
              <a:off x="1278303" y="3744075"/>
              <a:ext cx="600501" cy="181242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柱形 22"/>
            <p:cNvSpPr/>
            <p:nvPr/>
          </p:nvSpPr>
          <p:spPr bwMode="gray">
            <a:xfrm rot="16200000">
              <a:off x="2062365" y="3798028"/>
              <a:ext cx="957383" cy="1032089"/>
            </a:xfrm>
            <a:prstGeom prst="can">
              <a:avLst>
                <a:gd name="adj" fmla="val 1704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altLang="zh-CN" sz="1200" dirty="0">
                  <a:solidFill>
                    <a:schemeClr val="tx1"/>
                  </a:solidFill>
                </a:rPr>
                <a:t>Overlay</a:t>
              </a:r>
            </a:p>
            <a:p>
              <a:pPr algn="ctr"/>
              <a:r>
                <a:rPr lang="en-US" altLang="zh-CN" sz="1200" dirty="0">
                  <a:solidFill>
                    <a:schemeClr val="tx1"/>
                  </a:solidFill>
                </a:rPr>
                <a:t>70%</a:t>
              </a:r>
              <a:endParaRPr lang="zh-CN" altLang="en-US" sz="1200" dirty="0">
                <a:solidFill>
                  <a:schemeClr val="tx1"/>
                </a:solidFill>
              </a:endParaRPr>
            </a:p>
          </p:txBody>
        </p:sp>
        <p:sp>
          <p:nvSpPr>
            <p:cNvPr id="24" name="圆柱形 23"/>
            <p:cNvSpPr/>
            <p:nvPr/>
          </p:nvSpPr>
          <p:spPr bwMode="gray">
            <a:xfrm rot="16200000">
              <a:off x="2234962" y="4655558"/>
              <a:ext cx="515403" cy="920177"/>
            </a:xfrm>
            <a:prstGeom prst="ca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tx1"/>
                  </a:solidFill>
                </a:rPr>
                <a:t>本地出局</a:t>
              </a:r>
              <a:endParaRPr lang="en-US" altLang="zh-CN" sz="1200" dirty="0">
                <a:solidFill>
                  <a:schemeClr val="tx1"/>
                </a:solidFill>
              </a:endParaRPr>
            </a:p>
            <a:p>
              <a:pPr algn="ctr"/>
              <a:r>
                <a:rPr lang="en-US" altLang="zh-CN" sz="1200" dirty="0">
                  <a:solidFill>
                    <a:schemeClr val="tx1"/>
                  </a:solidFill>
                </a:rPr>
                <a:t>30%</a:t>
              </a:r>
              <a:endParaRPr lang="zh-CN" altLang="en-US" sz="1200" dirty="0">
                <a:solidFill>
                  <a:schemeClr val="tx1"/>
                </a:solidFill>
              </a:endParaRPr>
            </a:p>
          </p:txBody>
        </p:sp>
        <p:cxnSp>
          <p:nvCxnSpPr>
            <p:cNvPr id="8" name="直接箭头连接符 7"/>
            <p:cNvCxnSpPr>
              <a:cxnSpLocks/>
            </p:cNvCxnSpPr>
            <p:nvPr/>
          </p:nvCxnSpPr>
          <p:spPr bwMode="gray">
            <a:xfrm>
              <a:off x="739401" y="2336560"/>
              <a:ext cx="1293174" cy="0"/>
            </a:xfrm>
            <a:prstGeom prst="straightConnector1">
              <a:avLst/>
            </a:prstGeom>
            <a:ln w="28575">
              <a:solidFill>
                <a:srgbClr val="C40054"/>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cxnSpLocks/>
            </p:cNvCxnSpPr>
            <p:nvPr/>
          </p:nvCxnSpPr>
          <p:spPr bwMode="gray">
            <a:xfrm>
              <a:off x="731837" y="2789533"/>
              <a:ext cx="1293175" cy="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cxnSpLocks/>
            </p:cNvCxnSpPr>
            <p:nvPr/>
          </p:nvCxnSpPr>
          <p:spPr bwMode="gray">
            <a:xfrm>
              <a:off x="739401" y="3310917"/>
              <a:ext cx="128561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cxnSpLocks/>
            </p:cNvCxnSpPr>
            <p:nvPr/>
          </p:nvCxnSpPr>
          <p:spPr bwMode="gray">
            <a:xfrm>
              <a:off x="739401" y="4167080"/>
              <a:ext cx="1293174" cy="0"/>
            </a:xfrm>
            <a:prstGeom prst="straightConnector1">
              <a:avLst/>
            </a:prstGeom>
            <a:ln w="28575">
              <a:solidFill>
                <a:srgbClr val="C4005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cxnSpLocks/>
            </p:cNvCxnSpPr>
            <p:nvPr/>
          </p:nvCxnSpPr>
          <p:spPr bwMode="gray">
            <a:xfrm>
              <a:off x="731837" y="4620053"/>
              <a:ext cx="1293175" cy="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cxnSpLocks/>
            </p:cNvCxnSpPr>
            <p:nvPr/>
          </p:nvCxnSpPr>
          <p:spPr bwMode="gray">
            <a:xfrm>
              <a:off x="739401" y="5141437"/>
              <a:ext cx="128561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bwMode="gray">
            <a:xfrm>
              <a:off x="783321" y="2052913"/>
              <a:ext cx="1018995" cy="338554"/>
            </a:xfrm>
            <a:prstGeom prst="rect">
              <a:avLst/>
            </a:prstGeom>
            <a:noFill/>
          </p:spPr>
          <p:txBody>
            <a:bodyPr wrap="square" rtlCol="0">
              <a:spAutoFit/>
            </a:bodyPr>
            <a:lstStyle/>
            <a:p>
              <a:r>
                <a:rPr lang="en-US" altLang="zh-CN" sz="1600" dirty="0"/>
                <a:t>VoIP</a:t>
              </a:r>
              <a:endParaRPr lang="zh-CN" altLang="en-US" sz="1600" dirty="0"/>
            </a:p>
          </p:txBody>
        </p:sp>
        <p:sp>
          <p:nvSpPr>
            <p:cNvPr id="30" name="文本框 29"/>
            <p:cNvSpPr txBox="1"/>
            <p:nvPr/>
          </p:nvSpPr>
          <p:spPr bwMode="gray">
            <a:xfrm>
              <a:off x="783321" y="2511127"/>
              <a:ext cx="1018995" cy="338554"/>
            </a:xfrm>
            <a:prstGeom prst="rect">
              <a:avLst/>
            </a:prstGeom>
            <a:noFill/>
          </p:spPr>
          <p:txBody>
            <a:bodyPr wrap="square" rtlCol="0">
              <a:spAutoFit/>
            </a:bodyPr>
            <a:lstStyle/>
            <a:p>
              <a:r>
                <a:rPr lang="zh-CN" altLang="en-US" sz="1600" dirty="0"/>
                <a:t>邮件</a:t>
              </a:r>
            </a:p>
          </p:txBody>
        </p:sp>
        <p:sp>
          <p:nvSpPr>
            <p:cNvPr id="31" name="文本框 30"/>
            <p:cNvSpPr txBox="1"/>
            <p:nvPr/>
          </p:nvSpPr>
          <p:spPr bwMode="gray">
            <a:xfrm>
              <a:off x="783321" y="3049040"/>
              <a:ext cx="1018995" cy="338554"/>
            </a:xfrm>
            <a:prstGeom prst="rect">
              <a:avLst/>
            </a:prstGeom>
            <a:noFill/>
          </p:spPr>
          <p:txBody>
            <a:bodyPr wrap="square" rtlCol="0">
              <a:spAutoFit/>
            </a:bodyPr>
            <a:lstStyle/>
            <a:p>
              <a:r>
                <a:rPr lang="en-US" altLang="zh-CN" sz="1600" dirty="0"/>
                <a:t>SaaS</a:t>
              </a:r>
              <a:endParaRPr lang="zh-CN" altLang="en-US" sz="1600" dirty="0"/>
            </a:p>
          </p:txBody>
        </p:sp>
        <p:sp>
          <p:nvSpPr>
            <p:cNvPr id="32" name="文本框 31"/>
            <p:cNvSpPr txBox="1"/>
            <p:nvPr/>
          </p:nvSpPr>
          <p:spPr bwMode="gray">
            <a:xfrm>
              <a:off x="783321" y="3885636"/>
              <a:ext cx="1018995" cy="338554"/>
            </a:xfrm>
            <a:prstGeom prst="rect">
              <a:avLst/>
            </a:prstGeom>
            <a:noFill/>
          </p:spPr>
          <p:txBody>
            <a:bodyPr wrap="square" rtlCol="0">
              <a:spAutoFit/>
            </a:bodyPr>
            <a:lstStyle/>
            <a:p>
              <a:r>
                <a:rPr lang="en-US" altLang="zh-CN" sz="1600" dirty="0"/>
                <a:t>VoIP</a:t>
              </a:r>
              <a:endParaRPr lang="zh-CN" altLang="en-US" sz="1600" dirty="0"/>
            </a:p>
          </p:txBody>
        </p:sp>
        <p:sp>
          <p:nvSpPr>
            <p:cNvPr id="33" name="文本框 32"/>
            <p:cNvSpPr txBox="1"/>
            <p:nvPr/>
          </p:nvSpPr>
          <p:spPr bwMode="gray">
            <a:xfrm>
              <a:off x="783321" y="4334325"/>
              <a:ext cx="1018995" cy="338554"/>
            </a:xfrm>
            <a:prstGeom prst="rect">
              <a:avLst/>
            </a:prstGeom>
            <a:noFill/>
          </p:spPr>
          <p:txBody>
            <a:bodyPr wrap="square" rtlCol="0">
              <a:spAutoFit/>
            </a:bodyPr>
            <a:lstStyle/>
            <a:p>
              <a:r>
                <a:rPr lang="zh-CN" altLang="en-US" sz="1600" dirty="0"/>
                <a:t>邮件</a:t>
              </a:r>
            </a:p>
          </p:txBody>
        </p:sp>
        <p:sp>
          <p:nvSpPr>
            <p:cNvPr id="34" name="文本框 33"/>
            <p:cNvSpPr txBox="1"/>
            <p:nvPr/>
          </p:nvSpPr>
          <p:spPr bwMode="gray">
            <a:xfrm>
              <a:off x="783321" y="4872238"/>
              <a:ext cx="1018995" cy="338554"/>
            </a:xfrm>
            <a:prstGeom prst="rect">
              <a:avLst/>
            </a:prstGeom>
            <a:noFill/>
          </p:spPr>
          <p:txBody>
            <a:bodyPr wrap="square" rtlCol="0">
              <a:spAutoFit/>
            </a:bodyPr>
            <a:lstStyle/>
            <a:p>
              <a:r>
                <a:rPr lang="en-US" altLang="zh-CN" sz="1600" dirty="0"/>
                <a:t>SaaS</a:t>
              </a:r>
              <a:endParaRPr lang="zh-CN" altLang="en-US" sz="1600" dirty="0"/>
            </a:p>
          </p:txBody>
        </p:sp>
        <p:sp>
          <p:nvSpPr>
            <p:cNvPr id="38" name="左大括号 37"/>
            <p:cNvSpPr/>
            <p:nvPr/>
          </p:nvSpPr>
          <p:spPr bwMode="gray">
            <a:xfrm rot="5400000" flipV="1">
              <a:off x="1447073" y="1041960"/>
              <a:ext cx="287269" cy="1563931"/>
            </a:xfrm>
            <a:prstGeom prst="lef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a:buClr>
                  <a:srgbClr val="CC9900"/>
                </a:buClr>
                <a:buFont typeface="Wingdings" pitchFamily="2" charset="2"/>
                <a:buChar char="n"/>
              </a:pPr>
              <a:endParaRPr lang="zh-CN" altLang="en-US" sz="24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左大括号 38"/>
            <p:cNvSpPr/>
            <p:nvPr/>
          </p:nvSpPr>
          <p:spPr bwMode="gray">
            <a:xfrm rot="5400000" flipV="1">
              <a:off x="3127759" y="938559"/>
              <a:ext cx="287269" cy="1770732"/>
            </a:xfrm>
            <a:prstGeom prst="lef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a:buClr>
                  <a:srgbClr val="CC9900"/>
                </a:buClr>
                <a:buFont typeface="Wingdings" pitchFamily="2" charset="2"/>
                <a:buChar char="n"/>
              </a:pPr>
              <a:endParaRPr lang="zh-CN" altLang="en-US" sz="24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左大括号 39"/>
            <p:cNvSpPr/>
            <p:nvPr/>
          </p:nvSpPr>
          <p:spPr bwMode="gray">
            <a:xfrm rot="5400000" flipV="1">
              <a:off x="4965240" y="938560"/>
              <a:ext cx="287269" cy="1770732"/>
            </a:xfrm>
            <a:prstGeom prst="lef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a:buClr>
                  <a:srgbClr val="CC9900"/>
                </a:buClr>
                <a:buFont typeface="Wingdings" pitchFamily="2" charset="2"/>
                <a:buChar char="n"/>
              </a:pPr>
              <a:endParaRPr lang="zh-CN" altLang="en-US" sz="24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848475" y="1360108"/>
              <a:ext cx="1441420" cy="307777"/>
            </a:xfrm>
            <a:prstGeom prst="rect">
              <a:avLst/>
            </a:prstGeom>
          </p:spPr>
          <p:txBody>
            <a:bodyPr wrap="none">
              <a:spAutoFit/>
            </a:bodyPr>
            <a:lstStyle/>
            <a:p>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业务层服务质量</a:t>
              </a:r>
            </a:p>
          </p:txBody>
        </p:sp>
        <p:sp>
          <p:nvSpPr>
            <p:cNvPr id="42" name="矩形 41"/>
            <p:cNvSpPr/>
            <p:nvPr/>
          </p:nvSpPr>
          <p:spPr bwMode="gray">
            <a:xfrm>
              <a:off x="2236243" y="1370431"/>
              <a:ext cx="2249334" cy="307777"/>
            </a:xfrm>
            <a:prstGeom prst="rect">
              <a:avLst/>
            </a:prstGeom>
          </p:spPr>
          <p:txBody>
            <a:bodyPr wrap="none">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本地出局流量测量</a:t>
              </a:r>
            </a:p>
          </p:txBody>
        </p:sp>
        <p:sp>
          <p:nvSpPr>
            <p:cNvPr id="43" name="矩形 42"/>
            <p:cNvSpPr/>
            <p:nvPr/>
          </p:nvSpPr>
          <p:spPr bwMode="gray">
            <a:xfrm>
              <a:off x="4486590" y="1360108"/>
              <a:ext cx="1261884" cy="307777"/>
            </a:xfrm>
            <a:prstGeom prst="rect">
              <a:avLst/>
            </a:prstGeom>
          </p:spPr>
          <p:txBody>
            <a:bodyPr wrap="none">
              <a:spAutoFit/>
            </a:bodyPr>
            <a:lstStyle/>
            <a:p>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接口流量限制</a:t>
              </a:r>
            </a:p>
          </p:txBody>
        </p:sp>
        <p:sp>
          <p:nvSpPr>
            <p:cNvPr id="36" name="左大括号 35"/>
            <p:cNvSpPr/>
            <p:nvPr/>
          </p:nvSpPr>
          <p:spPr bwMode="gray">
            <a:xfrm rot="16200000">
              <a:off x="4967927" y="4786516"/>
              <a:ext cx="287269" cy="1770732"/>
            </a:xfrm>
            <a:prstGeom prst="lef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a:buClr>
                  <a:srgbClr val="CC9900"/>
                </a:buClr>
                <a:buFont typeface="Wingdings" pitchFamily="2" charset="2"/>
                <a:buChar char="n"/>
              </a:pPr>
              <a:endParaRPr lang="zh-CN" altLang="en-US" sz="24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4" name="五边形 2">
            <a:extLst>
              <a:ext uri="{FF2B5EF4-FFF2-40B4-BE49-F238E27FC236}">
                <a16:creationId xmlns:a16="http://schemas.microsoft.com/office/drawing/2014/main" id="{BA1160F2-DA67-4A89-82AB-4C9265594D00}"/>
              </a:ext>
            </a:extLst>
          </p:cNvPr>
          <p:cNvSpPr/>
          <p:nvPr/>
        </p:nvSpPr>
        <p:spPr bwMode="gray">
          <a:xfrm>
            <a:off x="8618681" y="125370"/>
            <a:ext cx="105057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智能选路设计</a:t>
            </a:r>
          </a:p>
        </p:txBody>
      </p:sp>
      <p:sp>
        <p:nvSpPr>
          <p:cNvPr id="45" name="燕尾形 3">
            <a:extLst>
              <a:ext uri="{FF2B5EF4-FFF2-40B4-BE49-F238E27FC236}">
                <a16:creationId xmlns:a16="http://schemas.microsoft.com/office/drawing/2014/main" id="{D4B35244-A493-4AA6-82F0-BE59BE0A2E89}"/>
              </a:ext>
            </a:extLst>
          </p:cNvPr>
          <p:cNvSpPr/>
          <p:nvPr/>
        </p:nvSpPr>
        <p:spPr bwMode="gray">
          <a:xfrm>
            <a:off x="9599715" y="125370"/>
            <a:ext cx="1050576"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3">
            <a:extLst>
              <a:ext uri="{FF2B5EF4-FFF2-40B4-BE49-F238E27FC236}">
                <a16:creationId xmlns:a16="http://schemas.microsoft.com/office/drawing/2014/main" id="{06740AFA-DB08-4E35-814B-DCE8068119FD}"/>
              </a:ext>
            </a:extLst>
          </p:cNvPr>
          <p:cNvSpPr/>
          <p:nvPr/>
        </p:nvSpPr>
        <p:spPr bwMode="gray">
          <a:xfrm>
            <a:off x="10580748" y="125370"/>
            <a:ext cx="116244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丢包优化设计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952070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F2EDC3-733B-4A65-9A3E-EB3D3995F76B}"/>
              </a:ext>
            </a:extLst>
          </p:cNvPr>
          <p:cNvSpPr>
            <a:spLocks noGrp="1"/>
          </p:cNvSpPr>
          <p:nvPr>
            <p:ph type="title"/>
          </p:nvPr>
        </p:nvSpPr>
        <p:spPr bwMode="gray"/>
        <p:txBody>
          <a:bodyPr/>
          <a:lstStyle/>
          <a:p>
            <a:r>
              <a:rPr lang="zh-CN" altLang="en-US" dirty="0"/>
              <a:t>丢包优化设计</a:t>
            </a:r>
            <a:endParaRPr lang="en-US" dirty="0"/>
          </a:p>
        </p:txBody>
      </p:sp>
      <p:sp>
        <p:nvSpPr>
          <p:cNvPr id="11" name="Text Placeholder 10">
            <a:extLst>
              <a:ext uri="{FF2B5EF4-FFF2-40B4-BE49-F238E27FC236}">
                <a16:creationId xmlns:a16="http://schemas.microsoft.com/office/drawing/2014/main" id="{45BD077F-8C92-4CE8-83D0-8D1B204FF005}"/>
              </a:ext>
            </a:extLst>
          </p:cNvPr>
          <p:cNvSpPr>
            <a:spLocks noGrp="1"/>
          </p:cNvSpPr>
          <p:nvPr>
            <p:ph type="body" sz="quarter" idx="10"/>
          </p:nvPr>
        </p:nvSpPr>
        <p:spPr bwMode="gray"/>
        <p:txBody>
          <a:bodyPr/>
          <a:lstStyle/>
          <a:p>
            <a:r>
              <a:rPr lang="en-US" altLang="zh-CN" sz="1600" dirty="0"/>
              <a:t>FEC</a:t>
            </a:r>
            <a:r>
              <a:rPr lang="zh-CN" altLang="en-US" sz="1600" dirty="0"/>
              <a:t>（</a:t>
            </a:r>
            <a:r>
              <a:rPr lang="en-US" altLang="zh-CN" sz="1600" dirty="0"/>
              <a:t>Forward Error Correction</a:t>
            </a:r>
            <a:r>
              <a:rPr lang="zh-CN" altLang="en-US" sz="1600" dirty="0"/>
              <a:t>，前向纠错）优化技术可以对报文丢包进行优化。</a:t>
            </a:r>
            <a:r>
              <a:rPr lang="en-US" altLang="zh-CN" sz="1600" dirty="0"/>
              <a:t>FEC</a:t>
            </a:r>
            <a:r>
              <a:rPr lang="zh-CN" altLang="en-US" sz="1600" dirty="0"/>
              <a:t>技术可以在发送数据时增加携带校验信息的冗余包，并在接收端进行校验。如果网络中出现了丢包或者报文损伤，则通过冗余包还原报文。</a:t>
            </a:r>
            <a:endParaRPr lang="en-US" altLang="zh-CN" sz="1600" dirty="0"/>
          </a:p>
          <a:p>
            <a:r>
              <a:rPr lang="en-US" altLang="zh-CN" sz="1600" dirty="0"/>
              <a:t>FEC</a:t>
            </a:r>
            <a:r>
              <a:rPr lang="zh-CN" altLang="en-US" sz="1600" dirty="0"/>
              <a:t>一般有两种模式：</a:t>
            </a:r>
            <a:endParaRPr lang="en-US" altLang="zh-CN" sz="1600" dirty="0"/>
          </a:p>
          <a:p>
            <a:pPr lvl="1"/>
            <a:r>
              <a:rPr lang="en-US" altLang="zh-CN" sz="1400" dirty="0"/>
              <a:t>A-FEC</a:t>
            </a:r>
            <a:r>
              <a:rPr lang="zh-CN" altLang="en-US" sz="1400" dirty="0"/>
              <a:t>（自动调整冗余率模式）：</a:t>
            </a:r>
            <a:r>
              <a:rPr lang="en-US" altLang="zh-CN" sz="1400" dirty="0"/>
              <a:t>CPE</a:t>
            </a:r>
            <a:r>
              <a:rPr lang="zh-CN" altLang="en-US" sz="1400" dirty="0"/>
              <a:t>自动检测网络丢包率，根据丢包率实时调整冗余包的数量。该方式可以在丢包少的时候减少冗余包，节约带宽；在丢包率变高时增加冗余包，提升抗丢包能力。但是丢包率突然升高很多时， </a:t>
            </a:r>
            <a:r>
              <a:rPr lang="en-US" altLang="zh-CN" sz="1400" dirty="0"/>
              <a:t>CPE</a:t>
            </a:r>
            <a:r>
              <a:rPr lang="zh-CN" altLang="en-US" sz="1400" dirty="0"/>
              <a:t>感知到该事件再调整冗余包数量需要一定时间，会出现短暂丢包。</a:t>
            </a:r>
            <a:endParaRPr lang="en-US" altLang="zh-CN" sz="1600" dirty="0"/>
          </a:p>
          <a:p>
            <a:pPr lvl="1"/>
            <a:r>
              <a:rPr lang="en-US" altLang="zh-CN" sz="1400" dirty="0"/>
              <a:t>D-FEC</a:t>
            </a:r>
            <a:r>
              <a:rPr lang="zh-CN" altLang="en-US" sz="1400" dirty="0"/>
              <a:t>（固定冗余率模式）：根据配置的网络丢包率计算冗余包的数量。该方式可以在配置的最大丢包率范围内还原丢包，虽然冗余度比</a:t>
            </a:r>
            <a:r>
              <a:rPr lang="en-US" altLang="zh-CN" sz="1400" dirty="0"/>
              <a:t>A-FEC</a:t>
            </a:r>
            <a:r>
              <a:rPr lang="zh-CN" altLang="en-US" sz="1400" dirty="0"/>
              <a:t>要多，但是丢包率突然变化时不会丢包。</a:t>
            </a:r>
            <a:endParaRPr lang="en-US" altLang="zh-CN" sz="1400" dirty="0"/>
          </a:p>
          <a:p>
            <a:r>
              <a:rPr lang="en-US" altLang="zh-CN" sz="1600" dirty="0"/>
              <a:t>FEC</a:t>
            </a:r>
            <a:r>
              <a:rPr lang="zh-CN" altLang="en-US" sz="1600" dirty="0"/>
              <a:t>部署后，网络运行一段时间便可从控制器上查看优化前后的效果，帮助判断</a:t>
            </a:r>
            <a:r>
              <a:rPr lang="en-US" altLang="zh-CN" sz="1600" dirty="0"/>
              <a:t>FEC</a:t>
            </a:r>
            <a:r>
              <a:rPr lang="zh-CN" altLang="en-US" sz="1600" dirty="0"/>
              <a:t>的设计是否合理。</a:t>
            </a:r>
            <a:endParaRPr lang="en-US" altLang="zh-CN" sz="1400" dirty="0"/>
          </a:p>
        </p:txBody>
      </p:sp>
      <p:sp>
        <p:nvSpPr>
          <p:cNvPr id="12" name="五边形 2">
            <a:extLst>
              <a:ext uri="{FF2B5EF4-FFF2-40B4-BE49-F238E27FC236}">
                <a16:creationId xmlns:a16="http://schemas.microsoft.com/office/drawing/2014/main" id="{BA1160F2-DA67-4A89-82AB-4C9265594D00}"/>
              </a:ext>
            </a:extLst>
          </p:cNvPr>
          <p:cNvSpPr/>
          <p:nvPr/>
        </p:nvSpPr>
        <p:spPr bwMode="gray">
          <a:xfrm>
            <a:off x="8618681" y="125370"/>
            <a:ext cx="105057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智能选路设计</a:t>
            </a:r>
          </a:p>
        </p:txBody>
      </p:sp>
      <p:sp>
        <p:nvSpPr>
          <p:cNvPr id="13" name="燕尾形 3">
            <a:extLst>
              <a:ext uri="{FF2B5EF4-FFF2-40B4-BE49-F238E27FC236}">
                <a16:creationId xmlns:a16="http://schemas.microsoft.com/office/drawing/2014/main" id="{D4B35244-A493-4AA6-82F0-BE59BE0A2E89}"/>
              </a:ext>
            </a:extLst>
          </p:cNvPr>
          <p:cNvSpPr/>
          <p:nvPr/>
        </p:nvSpPr>
        <p:spPr bwMode="gray">
          <a:xfrm>
            <a:off x="9599715" y="125370"/>
            <a:ext cx="105057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3">
            <a:extLst>
              <a:ext uri="{FF2B5EF4-FFF2-40B4-BE49-F238E27FC236}">
                <a16:creationId xmlns:a16="http://schemas.microsoft.com/office/drawing/2014/main" id="{06740AFA-DB08-4E35-814B-DCE8068119FD}"/>
              </a:ext>
            </a:extLst>
          </p:cNvPr>
          <p:cNvSpPr/>
          <p:nvPr/>
        </p:nvSpPr>
        <p:spPr bwMode="gray">
          <a:xfrm>
            <a:off x="10580748" y="125370"/>
            <a:ext cx="1162441"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丢包优化设计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068481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2000" dirty="0">
                <a:solidFill>
                  <a:schemeClr val="bg1">
                    <a:lumMod val="50000"/>
                  </a:schemeClr>
                </a:solidFill>
              </a:rPr>
              <a:t>企业广域互联网络趋势与挑战</a:t>
            </a:r>
            <a:endParaRPr lang="en-US" altLang="zh-CN" sz="2000" dirty="0">
              <a:solidFill>
                <a:schemeClr val="bg1">
                  <a:lumMod val="50000"/>
                </a:schemeClr>
              </a:solidFill>
            </a:endParaRPr>
          </a:p>
          <a:p>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解决方案概述</a:t>
            </a:r>
            <a:endParaRPr lang="en-US" altLang="zh-CN" sz="2000" dirty="0">
              <a:solidFill>
                <a:schemeClr val="bg1">
                  <a:lumMod val="50000"/>
                </a:schemeClr>
              </a:solidFill>
            </a:endParaRPr>
          </a:p>
          <a:p>
            <a:pPr>
              <a:buFont typeface="+mj-lt"/>
              <a:buAutoNum type="arabicPeriod" startAt="3"/>
            </a:pPr>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组网设计</a:t>
            </a:r>
            <a:endParaRPr lang="en-US" altLang="zh-CN" sz="2000" dirty="0">
              <a:solidFill>
                <a:schemeClr val="bg1">
                  <a:lumMod val="50000"/>
                </a:schemeClr>
              </a:solidFill>
            </a:endParaRPr>
          </a:p>
          <a:p>
            <a:pPr>
              <a:buAutoNum type="arabicPeriod" startAt="3"/>
            </a:pPr>
            <a:r>
              <a:rPr lang="zh-CN" altLang="en-US" sz="2000" b="1" dirty="0"/>
              <a:t>华为</a:t>
            </a:r>
            <a:r>
              <a:rPr lang="en-US" altLang="zh-CN" sz="2000" b="1" dirty="0"/>
              <a:t>SD-WAN</a:t>
            </a:r>
            <a:r>
              <a:rPr lang="zh-CN" altLang="en-US" sz="2000" b="1" dirty="0"/>
              <a:t>业务设计</a:t>
            </a:r>
            <a:endParaRPr lang="en-US" altLang="zh-CN" sz="2000" b="1" dirty="0"/>
          </a:p>
          <a:p>
            <a:pPr lvl="1"/>
            <a:r>
              <a:rPr lang="en-US" altLang="zh-CN" sz="1800" dirty="0">
                <a:solidFill>
                  <a:schemeClr val="bg1">
                    <a:lumMod val="50000"/>
                  </a:schemeClr>
                </a:solidFill>
              </a:rPr>
              <a:t>SD-WAN</a:t>
            </a:r>
            <a:r>
              <a:rPr lang="zh-CN" altLang="en-US" sz="1800" dirty="0">
                <a:solidFill>
                  <a:schemeClr val="bg1">
                    <a:lumMod val="50000"/>
                  </a:schemeClr>
                </a:solidFill>
              </a:rPr>
              <a:t>业务设计概览</a:t>
            </a:r>
            <a:endParaRPr lang="en-US" altLang="zh-CN" sz="1800" dirty="0">
              <a:solidFill>
                <a:schemeClr val="bg1">
                  <a:lumMod val="50000"/>
                </a:schemeClr>
              </a:solidFill>
            </a:endParaRPr>
          </a:p>
          <a:p>
            <a:pPr lvl="1"/>
            <a:r>
              <a:rPr lang="en-US" altLang="zh-CN" sz="1800" dirty="0">
                <a:solidFill>
                  <a:schemeClr val="bg1">
                    <a:lumMod val="50000"/>
                  </a:schemeClr>
                </a:solidFill>
              </a:rPr>
              <a:t>SD-WAN</a:t>
            </a:r>
            <a:r>
              <a:rPr lang="zh-CN" altLang="en-US" sz="1800" dirty="0">
                <a:solidFill>
                  <a:schemeClr val="bg1">
                    <a:lumMod val="50000"/>
                  </a:schemeClr>
                </a:solidFill>
              </a:rPr>
              <a:t>应用业务设计</a:t>
            </a:r>
            <a:endParaRPr lang="en-US" altLang="zh-CN" sz="1800" dirty="0">
              <a:solidFill>
                <a:schemeClr val="bg1">
                  <a:lumMod val="50000"/>
                </a:schemeClr>
              </a:solidFill>
            </a:endParaRPr>
          </a:p>
          <a:p>
            <a:pPr lvl="1">
              <a:buSzPct val="60000"/>
              <a:buFont typeface="Wingdings" panose="05000000000000000000" pitchFamily="2" charset="2"/>
              <a:buChar char="n"/>
            </a:pPr>
            <a:r>
              <a:rPr lang="en-US" altLang="zh-CN" sz="1800" dirty="0"/>
              <a:t>SD-WAN</a:t>
            </a:r>
            <a:r>
              <a:rPr lang="zh-CN" altLang="en-US" sz="1800" dirty="0"/>
              <a:t>网络业务设计</a:t>
            </a:r>
            <a:endParaRPr lang="en-US" altLang="zh-CN" sz="1800" dirty="0"/>
          </a:p>
          <a:p>
            <a:pPr>
              <a:buFont typeface="+mj-lt"/>
              <a:buAutoNum type="arabicPeriod" startAt="5"/>
            </a:pPr>
            <a:r>
              <a:rPr lang="zh-CN" altLang="en-US" sz="2000" dirty="0">
                <a:solidFill>
                  <a:schemeClr val="bg1">
                    <a:lumMod val="50000"/>
                  </a:schemeClr>
                </a:solidFill>
              </a:rPr>
              <a:t>华为</a:t>
            </a:r>
            <a:r>
              <a:rPr lang="en-US" altLang="zh-CN" sz="2000" dirty="0">
                <a:solidFill>
                  <a:schemeClr val="bg1">
                    <a:lumMod val="50000"/>
                  </a:schemeClr>
                </a:solidFill>
              </a:rPr>
              <a:t>SD-WAN</a:t>
            </a:r>
            <a:r>
              <a:rPr lang="zh-CN" altLang="en-US" sz="2000" dirty="0">
                <a:solidFill>
                  <a:schemeClr val="bg1">
                    <a:lumMod val="50000"/>
                  </a:schemeClr>
                </a:solidFill>
              </a:rPr>
              <a:t>可靠性与安全设计</a:t>
            </a:r>
          </a:p>
        </p:txBody>
      </p:sp>
    </p:spTree>
    <p:extLst>
      <p:ext uri="{BB962C8B-B14F-4D97-AF65-F5344CB8AC3E}">
        <p14:creationId xmlns:p14="http://schemas.microsoft.com/office/powerpoint/2010/main" val="23508567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439B0F-140D-4331-94EC-CAC552235724}"/>
              </a:ext>
            </a:extLst>
          </p:cNvPr>
          <p:cNvSpPr>
            <a:spLocks noGrp="1"/>
          </p:cNvSpPr>
          <p:nvPr>
            <p:ph type="title"/>
          </p:nvPr>
        </p:nvSpPr>
        <p:spPr bwMode="gray"/>
        <p:txBody>
          <a:bodyPr/>
          <a:lstStyle/>
          <a:p>
            <a:r>
              <a:rPr lang="zh-CN" altLang="en-US" dirty="0"/>
              <a:t>网络业务设计全景图</a:t>
            </a:r>
            <a:endParaRPr lang="en-US" dirty="0"/>
          </a:p>
        </p:txBody>
      </p:sp>
      <p:sp>
        <p:nvSpPr>
          <p:cNvPr id="4" name="Text Placeholder 3">
            <a:extLst>
              <a:ext uri="{FF2B5EF4-FFF2-40B4-BE49-F238E27FC236}">
                <a16:creationId xmlns:a16="http://schemas.microsoft.com/office/drawing/2014/main" id="{F9DCFCB2-ADDC-4527-8A10-80CB5C01F04F}"/>
              </a:ext>
            </a:extLst>
          </p:cNvPr>
          <p:cNvSpPr>
            <a:spLocks noGrp="1"/>
          </p:cNvSpPr>
          <p:nvPr>
            <p:ph type="body" sz="quarter" idx="10"/>
          </p:nvPr>
        </p:nvSpPr>
        <p:spPr bwMode="gray"/>
        <p:txBody>
          <a:bodyPr/>
          <a:lstStyle/>
          <a:p>
            <a:r>
              <a:rPr lang="en-US" altLang="zh-CN" sz="2000" dirty="0"/>
              <a:t>SD-WAN</a:t>
            </a:r>
            <a:r>
              <a:rPr lang="zh-CN" altLang="en-US" sz="2000" dirty="0"/>
              <a:t>站点除了与系统内的网络互通外，还需要与互联网或传统站点互通，因此需要部署特定网络业务。</a:t>
            </a:r>
            <a:endParaRPr lang="en-US" altLang="zh-CN" sz="2000" dirty="0"/>
          </a:p>
          <a:p>
            <a:r>
              <a:rPr lang="zh-CN" altLang="en-US" sz="2000" dirty="0"/>
              <a:t>网络业务设计一般可分为：</a:t>
            </a:r>
            <a:endParaRPr lang="en-US" altLang="zh-CN" sz="2000" dirty="0"/>
          </a:p>
          <a:p>
            <a:pPr lvl="1"/>
            <a:r>
              <a:rPr lang="zh-CN" altLang="en-US" sz="1800" dirty="0"/>
              <a:t>访问互联网设计</a:t>
            </a:r>
          </a:p>
          <a:p>
            <a:pPr lvl="1"/>
            <a:r>
              <a:rPr lang="zh-CN" altLang="en-US" sz="1800" dirty="0"/>
              <a:t>传统站点互访设计</a:t>
            </a:r>
          </a:p>
        </p:txBody>
      </p:sp>
      <p:sp>
        <p:nvSpPr>
          <p:cNvPr id="5" name="Freeform 159">
            <a:extLst>
              <a:ext uri="{FF2B5EF4-FFF2-40B4-BE49-F238E27FC236}">
                <a16:creationId xmlns:a16="http://schemas.microsoft.com/office/drawing/2014/main" id="{FC2DB93C-A31D-4EC6-BD8A-29724E09F2AD}"/>
              </a:ext>
            </a:extLst>
          </p:cNvPr>
          <p:cNvSpPr/>
          <p:nvPr/>
        </p:nvSpPr>
        <p:spPr bwMode="gray">
          <a:xfrm flipH="1">
            <a:off x="7824150" y="5088453"/>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分支</a:t>
            </a:r>
            <a:endParaRPr lang="en-US" sz="1600" dirty="0">
              <a:solidFill>
                <a:schemeClr val="tx1"/>
              </a:solidFill>
            </a:endParaRPr>
          </a:p>
        </p:txBody>
      </p:sp>
      <p:sp>
        <p:nvSpPr>
          <p:cNvPr id="6" name="Freeform 159">
            <a:extLst>
              <a:ext uri="{FF2B5EF4-FFF2-40B4-BE49-F238E27FC236}">
                <a16:creationId xmlns:a16="http://schemas.microsoft.com/office/drawing/2014/main" id="{6699DC7E-9B40-4FAE-A46F-99338F7D2B64}"/>
              </a:ext>
            </a:extLst>
          </p:cNvPr>
          <p:cNvSpPr/>
          <p:nvPr/>
        </p:nvSpPr>
        <p:spPr bwMode="gray">
          <a:xfrm flipH="1">
            <a:off x="5803396" y="5088453"/>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分支</a:t>
            </a:r>
            <a:endParaRPr lang="en-US" sz="1600" dirty="0">
              <a:solidFill>
                <a:schemeClr val="tx1"/>
              </a:solidFill>
            </a:endParaRPr>
          </a:p>
        </p:txBody>
      </p:sp>
      <p:sp>
        <p:nvSpPr>
          <p:cNvPr id="7" name="Freeform 159">
            <a:extLst>
              <a:ext uri="{FF2B5EF4-FFF2-40B4-BE49-F238E27FC236}">
                <a16:creationId xmlns:a16="http://schemas.microsoft.com/office/drawing/2014/main" id="{564477E0-1DCA-4819-A22A-5EA9A2078802}"/>
              </a:ext>
            </a:extLst>
          </p:cNvPr>
          <p:cNvSpPr/>
          <p:nvPr/>
        </p:nvSpPr>
        <p:spPr bwMode="gray">
          <a:xfrm flipH="1">
            <a:off x="6401827" y="3180947"/>
            <a:ext cx="1910257" cy="103358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Internet</a:t>
            </a:r>
            <a:endParaRPr lang="en-US" dirty="0">
              <a:solidFill>
                <a:schemeClr val="tx1"/>
              </a:solidFill>
            </a:endParaRPr>
          </a:p>
        </p:txBody>
      </p:sp>
      <p:pic>
        <p:nvPicPr>
          <p:cNvPr id="8" name="图片 16">
            <a:extLst>
              <a:ext uri="{FF2B5EF4-FFF2-40B4-BE49-F238E27FC236}">
                <a16:creationId xmlns:a16="http://schemas.microsoft.com/office/drawing/2014/main" id="{B6D9C898-384F-44D3-9612-FD4DF8CF63F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149535" y="4843221"/>
            <a:ext cx="458866" cy="378564"/>
          </a:xfrm>
          <a:prstGeom prst="rect">
            <a:avLst/>
          </a:prstGeom>
        </p:spPr>
      </p:pic>
      <p:pic>
        <p:nvPicPr>
          <p:cNvPr id="9" name="图片 17">
            <a:extLst>
              <a:ext uri="{FF2B5EF4-FFF2-40B4-BE49-F238E27FC236}">
                <a16:creationId xmlns:a16="http://schemas.microsoft.com/office/drawing/2014/main" id="{BD2F7905-2FFF-4378-8028-97A0548EBCC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174043" y="4843221"/>
            <a:ext cx="458866" cy="378564"/>
          </a:xfrm>
          <a:prstGeom prst="rect">
            <a:avLst/>
          </a:prstGeom>
        </p:spPr>
      </p:pic>
      <p:sp>
        <p:nvSpPr>
          <p:cNvPr id="10" name="文本框 24">
            <a:extLst>
              <a:ext uri="{FF2B5EF4-FFF2-40B4-BE49-F238E27FC236}">
                <a16:creationId xmlns:a16="http://schemas.microsoft.com/office/drawing/2014/main" id="{BB4CA557-9D1A-4C92-A1B9-EA561158A171}"/>
              </a:ext>
            </a:extLst>
          </p:cNvPr>
          <p:cNvSpPr txBox="1"/>
          <p:nvPr/>
        </p:nvSpPr>
        <p:spPr bwMode="gray">
          <a:xfrm>
            <a:off x="5536427" y="4878518"/>
            <a:ext cx="682164"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11" name="文本框 25">
            <a:extLst>
              <a:ext uri="{FF2B5EF4-FFF2-40B4-BE49-F238E27FC236}">
                <a16:creationId xmlns:a16="http://schemas.microsoft.com/office/drawing/2014/main" id="{FB176C01-C16F-4FE8-B688-00FF10EBA188}"/>
              </a:ext>
            </a:extLst>
          </p:cNvPr>
          <p:cNvSpPr txBox="1"/>
          <p:nvPr/>
        </p:nvSpPr>
        <p:spPr bwMode="gray">
          <a:xfrm>
            <a:off x="8607141" y="4885501"/>
            <a:ext cx="699786"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12" name="Freeform 159">
            <a:extLst>
              <a:ext uri="{FF2B5EF4-FFF2-40B4-BE49-F238E27FC236}">
                <a16:creationId xmlns:a16="http://schemas.microsoft.com/office/drawing/2014/main" id="{B3E1335D-4A4C-4A47-A93B-0FCE3941E8BD}"/>
              </a:ext>
            </a:extLst>
          </p:cNvPr>
          <p:cNvSpPr/>
          <p:nvPr/>
        </p:nvSpPr>
        <p:spPr bwMode="gray">
          <a:xfrm flipH="1">
            <a:off x="6768208" y="1729222"/>
            <a:ext cx="1434023" cy="77590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总部</a:t>
            </a:r>
            <a:endParaRPr lang="en-US" sz="1600" dirty="0">
              <a:solidFill>
                <a:schemeClr val="tx1"/>
              </a:solidFill>
            </a:endParaRPr>
          </a:p>
        </p:txBody>
      </p:sp>
      <p:cxnSp>
        <p:nvCxnSpPr>
          <p:cNvPr id="13" name="直接连接符 106">
            <a:extLst>
              <a:ext uri="{FF2B5EF4-FFF2-40B4-BE49-F238E27FC236}">
                <a16:creationId xmlns:a16="http://schemas.microsoft.com/office/drawing/2014/main" id="{992039C2-7F3C-4C08-86B8-10FB97237246}"/>
              </a:ext>
            </a:extLst>
          </p:cNvPr>
          <p:cNvCxnSpPr>
            <a:cxnSpLocks/>
            <a:stCxn id="7" idx="20"/>
            <a:endCxn id="8" idx="0"/>
          </p:cNvCxnSpPr>
          <p:nvPr/>
        </p:nvCxnSpPr>
        <p:spPr bwMode="gray">
          <a:xfrm flipH="1">
            <a:off x="6378968" y="4208253"/>
            <a:ext cx="259088" cy="63285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06">
            <a:extLst>
              <a:ext uri="{FF2B5EF4-FFF2-40B4-BE49-F238E27FC236}">
                <a16:creationId xmlns:a16="http://schemas.microsoft.com/office/drawing/2014/main" id="{5FE5E431-5E68-420E-9B6E-5F2083BEC7DB}"/>
              </a:ext>
            </a:extLst>
          </p:cNvPr>
          <p:cNvCxnSpPr>
            <a:cxnSpLocks/>
            <a:stCxn id="9" idx="0"/>
            <a:endCxn id="7" idx="9"/>
          </p:cNvCxnSpPr>
          <p:nvPr/>
        </p:nvCxnSpPr>
        <p:spPr bwMode="gray">
          <a:xfrm flipH="1" flipV="1">
            <a:off x="8030307" y="4212837"/>
            <a:ext cx="373169" cy="62826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06">
            <a:extLst>
              <a:ext uri="{FF2B5EF4-FFF2-40B4-BE49-F238E27FC236}">
                <a16:creationId xmlns:a16="http://schemas.microsoft.com/office/drawing/2014/main" id="{B013FDF3-F856-43D5-BC96-76DC61FE3347}"/>
              </a:ext>
            </a:extLst>
          </p:cNvPr>
          <p:cNvCxnSpPr>
            <a:cxnSpLocks/>
            <a:stCxn id="16" idx="2"/>
            <a:endCxn id="7" idx="1"/>
          </p:cNvCxnSpPr>
          <p:nvPr/>
        </p:nvCxnSpPr>
        <p:spPr bwMode="gray">
          <a:xfrm>
            <a:off x="7485218" y="2644417"/>
            <a:ext cx="1" cy="6811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6" name="图片 16">
            <a:extLst>
              <a:ext uri="{FF2B5EF4-FFF2-40B4-BE49-F238E27FC236}">
                <a16:creationId xmlns:a16="http://schemas.microsoft.com/office/drawing/2014/main" id="{52A9B41B-F973-478A-B0CF-F170B14CCAA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7255785" y="2263735"/>
            <a:ext cx="458866" cy="378564"/>
          </a:xfrm>
          <a:prstGeom prst="rect">
            <a:avLst/>
          </a:prstGeom>
        </p:spPr>
      </p:pic>
      <p:sp>
        <p:nvSpPr>
          <p:cNvPr id="17" name="文本框 25">
            <a:extLst>
              <a:ext uri="{FF2B5EF4-FFF2-40B4-BE49-F238E27FC236}">
                <a16:creationId xmlns:a16="http://schemas.microsoft.com/office/drawing/2014/main" id="{D2C7D5BD-80C6-4ECD-A244-1B7CC945E2C8}"/>
              </a:ext>
            </a:extLst>
          </p:cNvPr>
          <p:cNvSpPr txBox="1"/>
          <p:nvPr/>
        </p:nvSpPr>
        <p:spPr bwMode="gray">
          <a:xfrm>
            <a:off x="6697572" y="2285936"/>
            <a:ext cx="673876"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18" name="Freeform 159">
            <a:extLst>
              <a:ext uri="{FF2B5EF4-FFF2-40B4-BE49-F238E27FC236}">
                <a16:creationId xmlns:a16="http://schemas.microsoft.com/office/drawing/2014/main" id="{B5FE4F55-93D6-4FD8-A2EE-BFA4A5E73037}"/>
              </a:ext>
            </a:extLst>
          </p:cNvPr>
          <p:cNvSpPr/>
          <p:nvPr/>
        </p:nvSpPr>
        <p:spPr bwMode="gray">
          <a:xfrm flipH="1">
            <a:off x="4617153" y="2164546"/>
            <a:ext cx="1258922" cy="6811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互联网资源</a:t>
            </a:r>
            <a:endParaRPr lang="en-US" sz="1600" dirty="0">
              <a:solidFill>
                <a:schemeClr val="tx1"/>
              </a:solidFill>
            </a:endParaRPr>
          </a:p>
        </p:txBody>
      </p:sp>
      <p:pic>
        <p:nvPicPr>
          <p:cNvPr id="19" name="图片 16">
            <a:extLst>
              <a:ext uri="{FF2B5EF4-FFF2-40B4-BE49-F238E27FC236}">
                <a16:creationId xmlns:a16="http://schemas.microsoft.com/office/drawing/2014/main" id="{943EFFD3-9F31-4448-9CC7-E900108399F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5603418" y="2616010"/>
            <a:ext cx="458866" cy="378564"/>
          </a:xfrm>
          <a:prstGeom prst="rect">
            <a:avLst/>
          </a:prstGeom>
        </p:spPr>
      </p:pic>
      <p:pic>
        <p:nvPicPr>
          <p:cNvPr id="20" name="图片 34">
            <a:extLst>
              <a:ext uri="{FF2B5EF4-FFF2-40B4-BE49-F238E27FC236}">
                <a16:creationId xmlns:a16="http://schemas.microsoft.com/office/drawing/2014/main" id="{B3DB934C-30C9-4796-811C-9BCF0E7BA4E5}"/>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59350" y="1998367"/>
            <a:ext cx="458866" cy="376270"/>
          </a:xfrm>
          <a:prstGeom prst="rect">
            <a:avLst/>
          </a:prstGeom>
        </p:spPr>
      </p:pic>
      <p:cxnSp>
        <p:nvCxnSpPr>
          <p:cNvPr id="21" name="直接连接符 106">
            <a:extLst>
              <a:ext uri="{FF2B5EF4-FFF2-40B4-BE49-F238E27FC236}">
                <a16:creationId xmlns:a16="http://schemas.microsoft.com/office/drawing/2014/main" id="{3AB15D38-2D23-43A7-8851-D3521C0BBB53}"/>
              </a:ext>
            </a:extLst>
          </p:cNvPr>
          <p:cNvCxnSpPr>
            <a:cxnSpLocks/>
            <a:stCxn id="19" idx="2"/>
            <a:endCxn id="7" idx="24"/>
          </p:cNvCxnSpPr>
          <p:nvPr/>
        </p:nvCxnSpPr>
        <p:spPr bwMode="gray">
          <a:xfrm>
            <a:off x="5832851" y="2996692"/>
            <a:ext cx="854696" cy="57854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Freeform: Shape 21">
            <a:extLst>
              <a:ext uri="{FF2B5EF4-FFF2-40B4-BE49-F238E27FC236}">
                <a16:creationId xmlns:a16="http://schemas.microsoft.com/office/drawing/2014/main" id="{911F5B18-570A-46C0-BD1C-EAAC6F7A93B9}"/>
              </a:ext>
            </a:extLst>
          </p:cNvPr>
          <p:cNvSpPr/>
          <p:nvPr/>
        </p:nvSpPr>
        <p:spPr bwMode="blackGray">
          <a:xfrm>
            <a:off x="5400461" y="2686865"/>
            <a:ext cx="1432112" cy="2714625"/>
          </a:xfrm>
          <a:custGeom>
            <a:avLst/>
            <a:gdLst>
              <a:gd name="connsiteX0" fmla="*/ 733425 w 1432112"/>
              <a:gd name="connsiteY0" fmla="*/ 2714625 h 2714625"/>
              <a:gd name="connsiteX1" fmla="*/ 1409700 w 1432112"/>
              <a:gd name="connsiteY1" fmla="*/ 1400175 h 2714625"/>
              <a:gd name="connsiteX2" fmla="*/ 0 w 1432112"/>
              <a:gd name="connsiteY2" fmla="*/ 0 h 2714625"/>
            </a:gdLst>
            <a:ahLst/>
            <a:cxnLst>
              <a:cxn ang="0">
                <a:pos x="connsiteX0" y="connsiteY0"/>
              </a:cxn>
              <a:cxn ang="0">
                <a:pos x="connsiteX1" y="connsiteY1"/>
              </a:cxn>
              <a:cxn ang="0">
                <a:pos x="connsiteX2" y="connsiteY2"/>
              </a:cxn>
            </a:cxnLst>
            <a:rect l="l" t="t" r="r" b="b"/>
            <a:pathLst>
              <a:path w="1432112" h="2714625">
                <a:moveTo>
                  <a:pt x="733425" y="2714625"/>
                </a:moveTo>
                <a:cubicBezTo>
                  <a:pt x="1132681" y="2283618"/>
                  <a:pt x="1531938" y="1852612"/>
                  <a:pt x="1409700" y="1400175"/>
                </a:cubicBezTo>
                <a:cubicBezTo>
                  <a:pt x="1287463" y="947737"/>
                  <a:pt x="643731" y="473868"/>
                  <a:pt x="0"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7BAEAA2-75DC-4F13-BB3E-887094B21DBB}"/>
              </a:ext>
            </a:extLst>
          </p:cNvPr>
          <p:cNvSpPr/>
          <p:nvPr/>
        </p:nvSpPr>
        <p:spPr bwMode="gray">
          <a:xfrm>
            <a:off x="5447312" y="2081968"/>
            <a:ext cx="3163583" cy="3148072"/>
          </a:xfrm>
          <a:custGeom>
            <a:avLst/>
            <a:gdLst>
              <a:gd name="connsiteX0" fmla="*/ 3171825 w 3171825"/>
              <a:gd name="connsiteY0" fmla="*/ 3148072 h 3148072"/>
              <a:gd name="connsiteX1" fmla="*/ 2476500 w 3171825"/>
              <a:gd name="connsiteY1" fmla="*/ 1919347 h 3148072"/>
              <a:gd name="connsiteX2" fmla="*/ 2038350 w 3171825"/>
              <a:gd name="connsiteY2" fmla="*/ 4822 h 3148072"/>
              <a:gd name="connsiteX3" fmla="*/ 1638300 w 3171825"/>
              <a:gd name="connsiteY3" fmla="*/ 1347847 h 3148072"/>
              <a:gd name="connsiteX4" fmla="*/ 0 w 3171825"/>
              <a:gd name="connsiteY4" fmla="*/ 557272 h 3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1825" h="3148072">
                <a:moveTo>
                  <a:pt x="3171825" y="3148072"/>
                </a:moveTo>
                <a:cubicBezTo>
                  <a:pt x="2918618" y="2795647"/>
                  <a:pt x="2665412" y="2443222"/>
                  <a:pt x="2476500" y="1919347"/>
                </a:cubicBezTo>
                <a:cubicBezTo>
                  <a:pt x="2287588" y="1395472"/>
                  <a:pt x="2178050" y="100072"/>
                  <a:pt x="2038350" y="4822"/>
                </a:cubicBezTo>
                <a:cubicBezTo>
                  <a:pt x="1898650" y="-90428"/>
                  <a:pt x="1978025" y="1255772"/>
                  <a:pt x="1638300" y="1347847"/>
                </a:cubicBezTo>
                <a:cubicBezTo>
                  <a:pt x="1298575" y="1439922"/>
                  <a:pt x="649287" y="998597"/>
                  <a:pt x="0" y="557272"/>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ular Callout 75">
            <a:extLst>
              <a:ext uri="{FF2B5EF4-FFF2-40B4-BE49-F238E27FC236}">
                <a16:creationId xmlns:a16="http://schemas.microsoft.com/office/drawing/2014/main" id="{0582B0DC-CDD9-43B4-86C5-09E11B6534DF}"/>
              </a:ext>
            </a:extLst>
          </p:cNvPr>
          <p:cNvSpPr/>
          <p:nvPr/>
        </p:nvSpPr>
        <p:spPr bwMode="gray">
          <a:xfrm>
            <a:off x="5097419" y="3522970"/>
            <a:ext cx="973454" cy="538128"/>
          </a:xfrm>
          <a:prstGeom prst="wedgeRectCallout">
            <a:avLst>
              <a:gd name="adj1" fmla="val 43388"/>
              <a:gd name="adj2" fmla="val -12568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访问互联网设计</a:t>
            </a:r>
          </a:p>
        </p:txBody>
      </p:sp>
      <p:cxnSp>
        <p:nvCxnSpPr>
          <p:cNvPr id="27" name="直接连接符 106">
            <a:extLst>
              <a:ext uri="{FF2B5EF4-FFF2-40B4-BE49-F238E27FC236}">
                <a16:creationId xmlns:a16="http://schemas.microsoft.com/office/drawing/2014/main" id="{AE9F0D1B-E763-403C-8E83-AD2425B9FCFF}"/>
              </a:ext>
            </a:extLst>
          </p:cNvPr>
          <p:cNvCxnSpPr>
            <a:cxnSpLocks/>
            <a:stCxn id="16" idx="3"/>
            <a:endCxn id="26" idx="1"/>
          </p:cNvCxnSpPr>
          <p:nvPr/>
        </p:nvCxnSpPr>
        <p:spPr bwMode="gray">
          <a:xfrm flipV="1">
            <a:off x="7714651" y="2448976"/>
            <a:ext cx="1163213" cy="404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Freeform 159">
            <a:extLst>
              <a:ext uri="{FF2B5EF4-FFF2-40B4-BE49-F238E27FC236}">
                <a16:creationId xmlns:a16="http://schemas.microsoft.com/office/drawing/2014/main" id="{0B6D5358-60A8-49D5-8B55-B19732F49F9E}"/>
              </a:ext>
            </a:extLst>
          </p:cNvPr>
          <p:cNvSpPr/>
          <p:nvPr/>
        </p:nvSpPr>
        <p:spPr bwMode="gray">
          <a:xfrm flipH="1">
            <a:off x="9183891" y="2015156"/>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传统站点</a:t>
            </a:r>
            <a:endParaRPr lang="en-US" sz="1600" dirty="0">
              <a:solidFill>
                <a:schemeClr val="tx1"/>
              </a:solidFill>
            </a:endParaRPr>
          </a:p>
        </p:txBody>
      </p:sp>
      <p:pic>
        <p:nvPicPr>
          <p:cNvPr id="26" name="图片 17">
            <a:extLst>
              <a:ext uri="{FF2B5EF4-FFF2-40B4-BE49-F238E27FC236}">
                <a16:creationId xmlns:a16="http://schemas.microsoft.com/office/drawing/2014/main" id="{D76C6A51-194D-4683-9C0F-AC94DE14D43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877864" y="2259694"/>
            <a:ext cx="458866" cy="378564"/>
          </a:xfrm>
          <a:prstGeom prst="rect">
            <a:avLst/>
          </a:prstGeom>
        </p:spPr>
      </p:pic>
      <p:sp>
        <p:nvSpPr>
          <p:cNvPr id="32" name="文本框 25">
            <a:extLst>
              <a:ext uri="{FF2B5EF4-FFF2-40B4-BE49-F238E27FC236}">
                <a16:creationId xmlns:a16="http://schemas.microsoft.com/office/drawing/2014/main" id="{2A05A8CA-CE97-46EC-B76C-5CF28D1BBD59}"/>
              </a:ext>
            </a:extLst>
          </p:cNvPr>
          <p:cNvSpPr txBox="1"/>
          <p:nvPr/>
        </p:nvSpPr>
        <p:spPr bwMode="gray">
          <a:xfrm>
            <a:off x="8846796" y="1996462"/>
            <a:ext cx="572996" cy="307777"/>
          </a:xfrm>
          <a:prstGeom prst="rect">
            <a:avLst/>
          </a:prstGeom>
          <a:noFill/>
        </p:spPr>
        <p:txBody>
          <a:bodyPr wrap="square" rtlCol="0">
            <a:spAutoFit/>
          </a:bodyPr>
          <a:lstStyle/>
          <a:p>
            <a:pPr fontAlgn="ctr"/>
            <a:r>
              <a:rPr lang="en-US" sz="1400" dirty="0">
                <a:solidFill>
                  <a:srgbClr val="000000"/>
                </a:solidFill>
              </a:rPr>
              <a:t>GW</a:t>
            </a:r>
            <a:endParaRPr lang="en-US" altLang="zh-CN" sz="1400" dirty="0">
              <a:solidFill>
                <a:srgbClr val="000000"/>
              </a:solidFill>
            </a:endParaRPr>
          </a:p>
        </p:txBody>
      </p:sp>
      <p:sp>
        <p:nvSpPr>
          <p:cNvPr id="33" name="Rectangular Callout 75">
            <a:extLst>
              <a:ext uri="{FF2B5EF4-FFF2-40B4-BE49-F238E27FC236}">
                <a16:creationId xmlns:a16="http://schemas.microsoft.com/office/drawing/2014/main" id="{4A0F0CE2-64B4-42D4-8B8C-22D09FED5237}"/>
              </a:ext>
            </a:extLst>
          </p:cNvPr>
          <p:cNvSpPr/>
          <p:nvPr/>
        </p:nvSpPr>
        <p:spPr bwMode="gray">
          <a:xfrm>
            <a:off x="8367116" y="2787453"/>
            <a:ext cx="973454" cy="538128"/>
          </a:xfrm>
          <a:prstGeom prst="wedgeRectCallout">
            <a:avLst>
              <a:gd name="adj1" fmla="val -24837"/>
              <a:gd name="adj2" fmla="val -10422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传统站点互访设计</a:t>
            </a:r>
          </a:p>
        </p:txBody>
      </p:sp>
    </p:spTree>
    <p:extLst>
      <p:ext uri="{BB962C8B-B14F-4D97-AF65-F5344CB8AC3E}">
        <p14:creationId xmlns:p14="http://schemas.microsoft.com/office/powerpoint/2010/main" val="6178099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访问互联网方案介绍</a:t>
            </a:r>
          </a:p>
        </p:txBody>
      </p:sp>
      <p:sp>
        <p:nvSpPr>
          <p:cNvPr id="54" name="Text Placeholder 53">
            <a:extLst>
              <a:ext uri="{FF2B5EF4-FFF2-40B4-BE49-F238E27FC236}">
                <a16:creationId xmlns:a16="http://schemas.microsoft.com/office/drawing/2014/main" id="{CE970E0A-1B31-47D4-9E6D-EE7CA779403C}"/>
              </a:ext>
            </a:extLst>
          </p:cNvPr>
          <p:cNvSpPr>
            <a:spLocks noGrp="1"/>
          </p:cNvSpPr>
          <p:nvPr>
            <p:ph type="body" sz="quarter" idx="10"/>
          </p:nvPr>
        </p:nvSpPr>
        <p:spPr bwMode="gray">
          <a:xfrm>
            <a:off x="5688430" y="1047750"/>
            <a:ext cx="6060657" cy="4879805"/>
          </a:xfrm>
        </p:spPr>
        <p:txBody>
          <a:bodyPr/>
          <a:lstStyle/>
          <a:p>
            <a:r>
              <a:rPr lang="en-US" sz="2000" dirty="0"/>
              <a:t>SD-WAN</a:t>
            </a:r>
            <a:r>
              <a:rPr lang="zh-CN" altLang="en-US" sz="2000" dirty="0"/>
              <a:t>解决方案互联网访问主要包含以下场景：</a:t>
            </a:r>
          </a:p>
          <a:p>
            <a:pPr lvl="1"/>
            <a:r>
              <a:rPr lang="zh-CN" altLang="en-US" sz="1800" dirty="0"/>
              <a:t>本地上网：站点的上网流量从本地</a:t>
            </a:r>
            <a:r>
              <a:rPr lang="en-US" altLang="zh-CN" sz="1800" dirty="0"/>
              <a:t>EDGE</a:t>
            </a:r>
            <a:r>
              <a:rPr lang="zh-CN" altLang="en-US" sz="1800" dirty="0"/>
              <a:t>直接出局上网。</a:t>
            </a:r>
          </a:p>
          <a:p>
            <a:pPr lvl="1"/>
            <a:r>
              <a:rPr lang="zh-CN" altLang="en-US" sz="1800" dirty="0"/>
              <a:t>集中上网：所有站点的上网流量都绕行至集中上网的站点后出局上网。</a:t>
            </a:r>
          </a:p>
          <a:p>
            <a:pPr lvl="1"/>
            <a:r>
              <a:rPr lang="zh-CN" altLang="en-US" sz="1800" dirty="0"/>
              <a:t>混合上网：混合上网有两种方式</a:t>
            </a:r>
            <a:endParaRPr lang="en-US" altLang="zh-CN" sz="1800" dirty="0"/>
          </a:p>
          <a:p>
            <a:pPr lvl="2"/>
            <a:r>
              <a:rPr lang="zh-CN" altLang="en-US" sz="1600" dirty="0"/>
              <a:t>默认本地上网</a:t>
            </a:r>
            <a:r>
              <a:rPr lang="en-US" altLang="zh-CN" sz="1600" dirty="0"/>
              <a:t>+</a:t>
            </a:r>
            <a:r>
              <a:rPr lang="zh-CN" altLang="en-US" sz="1600" dirty="0"/>
              <a:t>备选集中上网：默认所有上网流量从本地出局。当本地上网接口故障，上网流量绕行到集中网关出局。</a:t>
            </a:r>
          </a:p>
          <a:p>
            <a:pPr lvl="2"/>
            <a:r>
              <a:rPr lang="zh-CN" altLang="en-US" sz="1600" dirty="0"/>
              <a:t>默认集中上网</a:t>
            </a:r>
            <a:r>
              <a:rPr lang="en-US" altLang="zh-CN" sz="1600" dirty="0"/>
              <a:t>+</a:t>
            </a:r>
            <a:r>
              <a:rPr lang="zh-CN" altLang="en-US" sz="1600" dirty="0"/>
              <a:t>指定流量本地上网：默认上网流量通过集中上网站点出局，部分指定业务流量通过本地</a:t>
            </a:r>
            <a:r>
              <a:rPr lang="en-US" altLang="zh-CN" sz="1600" dirty="0"/>
              <a:t>WAN</a:t>
            </a:r>
            <a:r>
              <a:rPr lang="zh-CN" altLang="en-US" sz="1600" dirty="0"/>
              <a:t>侧链路直接上网。</a:t>
            </a:r>
          </a:p>
        </p:txBody>
      </p:sp>
      <p:sp>
        <p:nvSpPr>
          <p:cNvPr id="56" name="Freeform 159">
            <a:extLst>
              <a:ext uri="{FF2B5EF4-FFF2-40B4-BE49-F238E27FC236}">
                <a16:creationId xmlns:a16="http://schemas.microsoft.com/office/drawing/2014/main" id="{7261B174-2C46-49B8-BC82-524FEA962F8E}"/>
              </a:ext>
            </a:extLst>
          </p:cNvPr>
          <p:cNvSpPr/>
          <p:nvPr/>
        </p:nvSpPr>
        <p:spPr bwMode="gray">
          <a:xfrm flipH="1">
            <a:off x="4328689" y="4849513"/>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分支</a:t>
            </a:r>
            <a:endParaRPr lang="en-US" sz="1600" dirty="0">
              <a:solidFill>
                <a:schemeClr val="tx1"/>
              </a:solidFill>
            </a:endParaRPr>
          </a:p>
        </p:txBody>
      </p:sp>
      <p:sp>
        <p:nvSpPr>
          <p:cNvPr id="57" name="Freeform 159">
            <a:extLst>
              <a:ext uri="{FF2B5EF4-FFF2-40B4-BE49-F238E27FC236}">
                <a16:creationId xmlns:a16="http://schemas.microsoft.com/office/drawing/2014/main" id="{4B44909C-335B-4E75-8CA6-31B14547DEE1}"/>
              </a:ext>
            </a:extLst>
          </p:cNvPr>
          <p:cNvSpPr/>
          <p:nvPr/>
        </p:nvSpPr>
        <p:spPr bwMode="gray">
          <a:xfrm flipH="1">
            <a:off x="2307935" y="4849513"/>
            <a:ext cx="1136638" cy="615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分支</a:t>
            </a:r>
            <a:endParaRPr lang="en-US" sz="1600" dirty="0">
              <a:solidFill>
                <a:schemeClr val="tx1"/>
              </a:solidFill>
            </a:endParaRPr>
          </a:p>
        </p:txBody>
      </p:sp>
      <p:sp>
        <p:nvSpPr>
          <p:cNvPr id="58" name="Freeform 159">
            <a:extLst>
              <a:ext uri="{FF2B5EF4-FFF2-40B4-BE49-F238E27FC236}">
                <a16:creationId xmlns:a16="http://schemas.microsoft.com/office/drawing/2014/main" id="{FE896B44-F728-422C-AEEB-C735EAE09485}"/>
              </a:ext>
            </a:extLst>
          </p:cNvPr>
          <p:cNvSpPr/>
          <p:nvPr/>
        </p:nvSpPr>
        <p:spPr bwMode="gray">
          <a:xfrm flipH="1">
            <a:off x="2906366" y="2942007"/>
            <a:ext cx="1910257" cy="103358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Internet</a:t>
            </a:r>
            <a:endParaRPr lang="en-US" dirty="0">
              <a:solidFill>
                <a:schemeClr val="tx1"/>
              </a:solidFill>
            </a:endParaRPr>
          </a:p>
        </p:txBody>
      </p:sp>
      <p:pic>
        <p:nvPicPr>
          <p:cNvPr id="59" name="图片 16">
            <a:extLst>
              <a:ext uri="{FF2B5EF4-FFF2-40B4-BE49-F238E27FC236}">
                <a16:creationId xmlns:a16="http://schemas.microsoft.com/office/drawing/2014/main" id="{5B5D72D0-10E6-4A27-B71B-6A72F1518B6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654074" y="4604281"/>
            <a:ext cx="458866" cy="378564"/>
          </a:xfrm>
          <a:prstGeom prst="rect">
            <a:avLst/>
          </a:prstGeom>
        </p:spPr>
      </p:pic>
      <p:pic>
        <p:nvPicPr>
          <p:cNvPr id="60" name="图片 17">
            <a:extLst>
              <a:ext uri="{FF2B5EF4-FFF2-40B4-BE49-F238E27FC236}">
                <a16:creationId xmlns:a16="http://schemas.microsoft.com/office/drawing/2014/main" id="{3EFED83D-31E2-4424-A123-E0FEE0FD7CD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4678582" y="4604281"/>
            <a:ext cx="458866" cy="378564"/>
          </a:xfrm>
          <a:prstGeom prst="rect">
            <a:avLst/>
          </a:prstGeom>
        </p:spPr>
      </p:pic>
      <p:sp>
        <p:nvSpPr>
          <p:cNvPr id="63" name="文本框 24">
            <a:extLst>
              <a:ext uri="{FF2B5EF4-FFF2-40B4-BE49-F238E27FC236}">
                <a16:creationId xmlns:a16="http://schemas.microsoft.com/office/drawing/2014/main" id="{00949229-E222-43C3-8276-453C047EE089}"/>
              </a:ext>
            </a:extLst>
          </p:cNvPr>
          <p:cNvSpPr txBox="1"/>
          <p:nvPr/>
        </p:nvSpPr>
        <p:spPr bwMode="gray">
          <a:xfrm>
            <a:off x="2073645" y="4639578"/>
            <a:ext cx="649485"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64" name="文本框 25">
            <a:extLst>
              <a:ext uri="{FF2B5EF4-FFF2-40B4-BE49-F238E27FC236}">
                <a16:creationId xmlns:a16="http://schemas.microsoft.com/office/drawing/2014/main" id="{A5A35F7F-2C7C-41A4-814D-AA000A77C1D1}"/>
              </a:ext>
            </a:extLst>
          </p:cNvPr>
          <p:cNvSpPr txBox="1"/>
          <p:nvPr/>
        </p:nvSpPr>
        <p:spPr bwMode="gray">
          <a:xfrm>
            <a:off x="5115434" y="4646561"/>
            <a:ext cx="699786"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67" name="Freeform 159">
            <a:extLst>
              <a:ext uri="{FF2B5EF4-FFF2-40B4-BE49-F238E27FC236}">
                <a16:creationId xmlns:a16="http://schemas.microsoft.com/office/drawing/2014/main" id="{E8893B13-9830-4553-8050-E7E4BDA278CD}"/>
              </a:ext>
            </a:extLst>
          </p:cNvPr>
          <p:cNvSpPr/>
          <p:nvPr/>
        </p:nvSpPr>
        <p:spPr bwMode="gray">
          <a:xfrm flipH="1">
            <a:off x="3272747" y="1490282"/>
            <a:ext cx="1434023" cy="77590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总部</a:t>
            </a:r>
            <a:endParaRPr lang="en-US" sz="1600" dirty="0">
              <a:solidFill>
                <a:schemeClr val="tx1"/>
              </a:solidFill>
            </a:endParaRPr>
          </a:p>
        </p:txBody>
      </p:sp>
      <p:cxnSp>
        <p:nvCxnSpPr>
          <p:cNvPr id="69" name="直接连接符 106">
            <a:extLst>
              <a:ext uri="{FF2B5EF4-FFF2-40B4-BE49-F238E27FC236}">
                <a16:creationId xmlns:a16="http://schemas.microsoft.com/office/drawing/2014/main" id="{354B65DE-3CA4-4106-A2BB-3B1E8B333945}"/>
              </a:ext>
            </a:extLst>
          </p:cNvPr>
          <p:cNvCxnSpPr>
            <a:cxnSpLocks/>
            <a:stCxn id="58" idx="20"/>
            <a:endCxn id="59" idx="0"/>
          </p:cNvCxnSpPr>
          <p:nvPr/>
        </p:nvCxnSpPr>
        <p:spPr bwMode="gray">
          <a:xfrm flipH="1">
            <a:off x="2883507" y="3969313"/>
            <a:ext cx="259088" cy="632850"/>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106">
            <a:extLst>
              <a:ext uri="{FF2B5EF4-FFF2-40B4-BE49-F238E27FC236}">
                <a16:creationId xmlns:a16="http://schemas.microsoft.com/office/drawing/2014/main" id="{07C99FD2-B723-468A-B4F8-10535AECC701}"/>
              </a:ext>
            </a:extLst>
          </p:cNvPr>
          <p:cNvCxnSpPr>
            <a:cxnSpLocks/>
            <a:stCxn id="60" idx="0"/>
            <a:endCxn id="58" idx="9"/>
          </p:cNvCxnSpPr>
          <p:nvPr/>
        </p:nvCxnSpPr>
        <p:spPr bwMode="gray">
          <a:xfrm flipH="1" flipV="1">
            <a:off x="4534846" y="3973897"/>
            <a:ext cx="373169" cy="62826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106">
            <a:extLst>
              <a:ext uri="{FF2B5EF4-FFF2-40B4-BE49-F238E27FC236}">
                <a16:creationId xmlns:a16="http://schemas.microsoft.com/office/drawing/2014/main" id="{42C6DD50-4B7F-471B-B94B-4C18DF877D2A}"/>
              </a:ext>
            </a:extLst>
          </p:cNvPr>
          <p:cNvCxnSpPr>
            <a:cxnSpLocks/>
            <a:stCxn id="76" idx="2"/>
            <a:endCxn id="58" idx="1"/>
          </p:cNvCxnSpPr>
          <p:nvPr/>
        </p:nvCxnSpPr>
        <p:spPr bwMode="gray">
          <a:xfrm>
            <a:off x="3989757" y="2405477"/>
            <a:ext cx="1" cy="68116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76" name="图片 16">
            <a:extLst>
              <a:ext uri="{FF2B5EF4-FFF2-40B4-BE49-F238E27FC236}">
                <a16:creationId xmlns:a16="http://schemas.microsoft.com/office/drawing/2014/main" id="{384E3796-F470-41C0-8E08-8D1C747D0D8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760324" y="2024795"/>
            <a:ext cx="458866" cy="378564"/>
          </a:xfrm>
          <a:prstGeom prst="rect">
            <a:avLst/>
          </a:prstGeom>
        </p:spPr>
      </p:pic>
      <p:sp>
        <p:nvSpPr>
          <p:cNvPr id="78" name="文本框 25">
            <a:extLst>
              <a:ext uri="{FF2B5EF4-FFF2-40B4-BE49-F238E27FC236}">
                <a16:creationId xmlns:a16="http://schemas.microsoft.com/office/drawing/2014/main" id="{A773012F-A028-4439-927D-9F7894828096}"/>
              </a:ext>
            </a:extLst>
          </p:cNvPr>
          <p:cNvSpPr txBox="1"/>
          <p:nvPr/>
        </p:nvSpPr>
        <p:spPr bwMode="gray">
          <a:xfrm>
            <a:off x="4133770" y="2007656"/>
            <a:ext cx="660587" cy="307777"/>
          </a:xfrm>
          <a:prstGeom prst="rect">
            <a:avLst/>
          </a:prstGeom>
          <a:noFill/>
        </p:spPr>
        <p:txBody>
          <a:bodyPr wrap="square" rtlCol="0">
            <a:spAutoFit/>
          </a:bodyPr>
          <a:lstStyle/>
          <a:p>
            <a:pPr fontAlgn="ctr"/>
            <a:r>
              <a:rPr lang="en-US" sz="1400" dirty="0">
                <a:solidFill>
                  <a:srgbClr val="000000"/>
                </a:solidFill>
              </a:rPr>
              <a:t>EDGE</a:t>
            </a:r>
            <a:endParaRPr lang="en-US" altLang="zh-CN" sz="1400" dirty="0">
              <a:solidFill>
                <a:srgbClr val="000000"/>
              </a:solidFill>
            </a:endParaRPr>
          </a:p>
        </p:txBody>
      </p:sp>
      <p:sp>
        <p:nvSpPr>
          <p:cNvPr id="80" name="Freeform 159">
            <a:extLst>
              <a:ext uri="{FF2B5EF4-FFF2-40B4-BE49-F238E27FC236}">
                <a16:creationId xmlns:a16="http://schemas.microsoft.com/office/drawing/2014/main" id="{EE99BD4A-03F9-4CDB-AFF7-6E3705FB3F0F}"/>
              </a:ext>
            </a:extLst>
          </p:cNvPr>
          <p:cNvSpPr/>
          <p:nvPr/>
        </p:nvSpPr>
        <p:spPr bwMode="gray">
          <a:xfrm flipH="1">
            <a:off x="1121692" y="1925606"/>
            <a:ext cx="1258922" cy="6811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互联网资源</a:t>
            </a:r>
            <a:endParaRPr lang="en-US" sz="1600" dirty="0">
              <a:solidFill>
                <a:schemeClr val="tx1"/>
              </a:solidFill>
            </a:endParaRPr>
          </a:p>
        </p:txBody>
      </p:sp>
      <p:pic>
        <p:nvPicPr>
          <p:cNvPr id="79" name="图片 16">
            <a:extLst>
              <a:ext uri="{FF2B5EF4-FFF2-40B4-BE49-F238E27FC236}">
                <a16:creationId xmlns:a16="http://schemas.microsoft.com/office/drawing/2014/main" id="{FB246D14-BDE6-4340-9BF2-3DD2E23A276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2073645" y="2417488"/>
            <a:ext cx="458866" cy="378564"/>
          </a:xfrm>
          <a:prstGeom prst="rect">
            <a:avLst/>
          </a:prstGeom>
        </p:spPr>
      </p:pic>
      <p:pic>
        <p:nvPicPr>
          <p:cNvPr id="81" name="图片 34">
            <a:extLst>
              <a:ext uri="{FF2B5EF4-FFF2-40B4-BE49-F238E27FC236}">
                <a16:creationId xmlns:a16="http://schemas.microsoft.com/office/drawing/2014/main" id="{3D724E13-3F88-4C02-ADEB-30DCD33B19FB}"/>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363889" y="1759427"/>
            <a:ext cx="458866" cy="376270"/>
          </a:xfrm>
          <a:prstGeom prst="rect">
            <a:avLst/>
          </a:prstGeom>
        </p:spPr>
      </p:pic>
      <p:cxnSp>
        <p:nvCxnSpPr>
          <p:cNvPr id="82" name="直接连接符 106">
            <a:extLst>
              <a:ext uri="{FF2B5EF4-FFF2-40B4-BE49-F238E27FC236}">
                <a16:creationId xmlns:a16="http://schemas.microsoft.com/office/drawing/2014/main" id="{7B1D7BBB-C366-4B2F-B445-0CAA5DD98E79}"/>
              </a:ext>
            </a:extLst>
          </p:cNvPr>
          <p:cNvCxnSpPr>
            <a:cxnSpLocks/>
            <a:stCxn id="79" idx="2"/>
            <a:endCxn id="58" idx="24"/>
          </p:cNvCxnSpPr>
          <p:nvPr/>
        </p:nvCxnSpPr>
        <p:spPr bwMode="gray">
          <a:xfrm>
            <a:off x="2303078" y="2798170"/>
            <a:ext cx="889008" cy="53812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Freeform: Shape 84">
            <a:extLst>
              <a:ext uri="{FF2B5EF4-FFF2-40B4-BE49-F238E27FC236}">
                <a16:creationId xmlns:a16="http://schemas.microsoft.com/office/drawing/2014/main" id="{C8F9305B-AB9A-4107-B72C-0C4787E5DC8A}"/>
              </a:ext>
            </a:extLst>
          </p:cNvPr>
          <p:cNvSpPr/>
          <p:nvPr/>
        </p:nvSpPr>
        <p:spPr bwMode="blackGray">
          <a:xfrm>
            <a:off x="1905000" y="2447925"/>
            <a:ext cx="1432112" cy="2714625"/>
          </a:xfrm>
          <a:custGeom>
            <a:avLst/>
            <a:gdLst>
              <a:gd name="connsiteX0" fmla="*/ 733425 w 1432112"/>
              <a:gd name="connsiteY0" fmla="*/ 2714625 h 2714625"/>
              <a:gd name="connsiteX1" fmla="*/ 1409700 w 1432112"/>
              <a:gd name="connsiteY1" fmla="*/ 1400175 h 2714625"/>
              <a:gd name="connsiteX2" fmla="*/ 0 w 1432112"/>
              <a:gd name="connsiteY2" fmla="*/ 0 h 2714625"/>
            </a:gdLst>
            <a:ahLst/>
            <a:cxnLst>
              <a:cxn ang="0">
                <a:pos x="connsiteX0" y="connsiteY0"/>
              </a:cxn>
              <a:cxn ang="0">
                <a:pos x="connsiteX1" y="connsiteY1"/>
              </a:cxn>
              <a:cxn ang="0">
                <a:pos x="connsiteX2" y="connsiteY2"/>
              </a:cxn>
            </a:cxnLst>
            <a:rect l="l" t="t" r="r" b="b"/>
            <a:pathLst>
              <a:path w="1432112" h="2714625">
                <a:moveTo>
                  <a:pt x="733425" y="2714625"/>
                </a:moveTo>
                <a:cubicBezTo>
                  <a:pt x="1132681" y="2283618"/>
                  <a:pt x="1531938" y="1852612"/>
                  <a:pt x="1409700" y="1400175"/>
                </a:cubicBezTo>
                <a:cubicBezTo>
                  <a:pt x="1287463" y="947737"/>
                  <a:pt x="643731" y="473868"/>
                  <a:pt x="0"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Shape 88">
            <a:extLst>
              <a:ext uri="{FF2B5EF4-FFF2-40B4-BE49-F238E27FC236}">
                <a16:creationId xmlns:a16="http://schemas.microsoft.com/office/drawing/2014/main" id="{8DC5A25C-DA1A-44E9-9500-815D6B6590A9}"/>
              </a:ext>
            </a:extLst>
          </p:cNvPr>
          <p:cNvSpPr/>
          <p:nvPr/>
        </p:nvSpPr>
        <p:spPr bwMode="gray">
          <a:xfrm>
            <a:off x="1951851" y="1843028"/>
            <a:ext cx="3163583" cy="3148072"/>
          </a:xfrm>
          <a:custGeom>
            <a:avLst/>
            <a:gdLst>
              <a:gd name="connsiteX0" fmla="*/ 3171825 w 3171825"/>
              <a:gd name="connsiteY0" fmla="*/ 3148072 h 3148072"/>
              <a:gd name="connsiteX1" fmla="*/ 2476500 w 3171825"/>
              <a:gd name="connsiteY1" fmla="*/ 1919347 h 3148072"/>
              <a:gd name="connsiteX2" fmla="*/ 2038350 w 3171825"/>
              <a:gd name="connsiteY2" fmla="*/ 4822 h 3148072"/>
              <a:gd name="connsiteX3" fmla="*/ 1638300 w 3171825"/>
              <a:gd name="connsiteY3" fmla="*/ 1347847 h 3148072"/>
              <a:gd name="connsiteX4" fmla="*/ 0 w 3171825"/>
              <a:gd name="connsiteY4" fmla="*/ 557272 h 3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1825" h="3148072">
                <a:moveTo>
                  <a:pt x="3171825" y="3148072"/>
                </a:moveTo>
                <a:cubicBezTo>
                  <a:pt x="2918618" y="2795647"/>
                  <a:pt x="2665412" y="2443222"/>
                  <a:pt x="2476500" y="1919347"/>
                </a:cubicBezTo>
                <a:cubicBezTo>
                  <a:pt x="2287588" y="1395472"/>
                  <a:pt x="2178050" y="100072"/>
                  <a:pt x="2038350" y="4822"/>
                </a:cubicBezTo>
                <a:cubicBezTo>
                  <a:pt x="1898650" y="-90428"/>
                  <a:pt x="1978025" y="1255772"/>
                  <a:pt x="1638300" y="1347847"/>
                </a:cubicBezTo>
                <a:cubicBezTo>
                  <a:pt x="1298575" y="1439922"/>
                  <a:pt x="649287" y="998597"/>
                  <a:pt x="0" y="557272"/>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ular Callout 75">
            <a:extLst>
              <a:ext uri="{FF2B5EF4-FFF2-40B4-BE49-F238E27FC236}">
                <a16:creationId xmlns:a16="http://schemas.microsoft.com/office/drawing/2014/main" id="{BC930519-74B9-4264-BE74-030C5A19D16E}"/>
              </a:ext>
            </a:extLst>
          </p:cNvPr>
          <p:cNvSpPr/>
          <p:nvPr/>
        </p:nvSpPr>
        <p:spPr bwMode="gray">
          <a:xfrm>
            <a:off x="1778135" y="3274632"/>
            <a:ext cx="920790" cy="349535"/>
          </a:xfrm>
          <a:prstGeom prst="wedgeRectCallout">
            <a:avLst>
              <a:gd name="adj1" fmla="val 38823"/>
              <a:gd name="adj2" fmla="val -11071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本地上网</a:t>
            </a:r>
          </a:p>
        </p:txBody>
      </p:sp>
      <p:sp>
        <p:nvSpPr>
          <p:cNvPr id="95" name="Rectangular Callout 75">
            <a:extLst>
              <a:ext uri="{FF2B5EF4-FFF2-40B4-BE49-F238E27FC236}">
                <a16:creationId xmlns:a16="http://schemas.microsoft.com/office/drawing/2014/main" id="{3923E231-620F-477D-B13A-E16FDE3012B8}"/>
              </a:ext>
            </a:extLst>
          </p:cNvPr>
          <p:cNvSpPr/>
          <p:nvPr/>
        </p:nvSpPr>
        <p:spPr bwMode="gray">
          <a:xfrm>
            <a:off x="4413372" y="2577627"/>
            <a:ext cx="920790" cy="349535"/>
          </a:xfrm>
          <a:prstGeom prst="wedgeRectCallout">
            <a:avLst>
              <a:gd name="adj1" fmla="val -66690"/>
              <a:gd name="adj2" fmla="val 373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集中上网</a:t>
            </a:r>
          </a:p>
        </p:txBody>
      </p:sp>
      <p:sp>
        <p:nvSpPr>
          <p:cNvPr id="25"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26"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9544809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reeform 159">
            <a:extLst>
              <a:ext uri="{FF2B5EF4-FFF2-40B4-BE49-F238E27FC236}">
                <a16:creationId xmlns:a16="http://schemas.microsoft.com/office/drawing/2014/main" id="{99AAA1CE-C61B-4DB9-8A8F-53FBAC65EEE8}"/>
              </a:ext>
            </a:extLst>
          </p:cNvPr>
          <p:cNvSpPr/>
          <p:nvPr/>
        </p:nvSpPr>
        <p:spPr bwMode="gray">
          <a:xfrm flipH="1">
            <a:off x="3301163" y="260844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Internet</a:t>
            </a:r>
            <a:endParaRPr lang="en-US" dirty="0">
              <a:solidFill>
                <a:schemeClr val="tx1"/>
              </a:solidFill>
            </a:endParaRPr>
          </a:p>
        </p:txBody>
      </p:sp>
      <p:sp>
        <p:nvSpPr>
          <p:cNvPr id="33" name="Freeform 159">
            <a:extLst>
              <a:ext uri="{FF2B5EF4-FFF2-40B4-BE49-F238E27FC236}">
                <a16:creationId xmlns:a16="http://schemas.microsoft.com/office/drawing/2014/main" id="{3BB60690-B12D-4C34-A070-67B30EB6327B}"/>
              </a:ext>
            </a:extLst>
          </p:cNvPr>
          <p:cNvSpPr/>
          <p:nvPr/>
        </p:nvSpPr>
        <p:spPr bwMode="gray">
          <a:xfrm flipH="1">
            <a:off x="1443416" y="260844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MPLS</a:t>
            </a:r>
            <a:endParaRPr lang="en-US" dirty="0">
              <a:solidFill>
                <a:schemeClr val="tx1"/>
              </a:solidFill>
            </a:endParaRPr>
          </a:p>
        </p:txBody>
      </p:sp>
      <p:cxnSp>
        <p:nvCxnSpPr>
          <p:cNvPr id="62" name="直接连接符 61"/>
          <p:cNvCxnSpPr/>
          <p:nvPr/>
        </p:nvCxnSpPr>
        <p:spPr bwMode="gray">
          <a:xfrm flipV="1">
            <a:off x="3878164" y="1904214"/>
            <a:ext cx="0" cy="68949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normAutofit/>
          </a:bodyPr>
          <a:lstStyle/>
          <a:p>
            <a:r>
              <a:rPr lang="zh-CN" altLang="en-US" dirty="0"/>
              <a:t>本地上网设计</a:t>
            </a:r>
          </a:p>
        </p:txBody>
      </p:sp>
      <p:sp>
        <p:nvSpPr>
          <p:cNvPr id="25" name="圆角矩形 24"/>
          <p:cNvSpPr/>
          <p:nvPr/>
        </p:nvSpPr>
        <p:spPr bwMode="gray">
          <a:xfrm>
            <a:off x="5355462" y="2250822"/>
            <a:ext cx="6317248"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方案描述</a:t>
            </a:r>
          </a:p>
        </p:txBody>
      </p:sp>
      <p:sp>
        <p:nvSpPr>
          <p:cNvPr id="26" name="圆角矩形 25"/>
          <p:cNvSpPr/>
          <p:nvPr/>
        </p:nvSpPr>
        <p:spPr bwMode="gray">
          <a:xfrm>
            <a:off x="5355462" y="2658094"/>
            <a:ext cx="6317248" cy="3401062"/>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r>
              <a:rPr lang="zh-CN" altLang="en-US" sz="1400" dirty="0">
                <a:solidFill>
                  <a:schemeClr val="tx1"/>
                </a:solidFill>
              </a:rPr>
              <a:t>站点的上网流量从本地站点的</a:t>
            </a:r>
            <a:r>
              <a:rPr lang="en-US" altLang="zh-CN" sz="1400" dirty="0">
                <a:solidFill>
                  <a:schemeClr val="tx1"/>
                </a:solidFill>
              </a:rPr>
              <a:t>Internet</a:t>
            </a:r>
            <a:r>
              <a:rPr lang="zh-CN" altLang="en-US" sz="1400" dirty="0">
                <a:solidFill>
                  <a:schemeClr val="tx1"/>
                </a:solidFill>
              </a:rPr>
              <a:t>链路接口直接出局上网。</a:t>
            </a: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可以基于不同的部门不同的站点配置本地上网策略。</a:t>
            </a: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本地上网基于流量分类可以分两种方式：</a:t>
            </a:r>
            <a:r>
              <a:rPr lang="en-US" altLang="zh-CN" sz="1400" dirty="0">
                <a:solidFill>
                  <a:schemeClr val="tx1"/>
                </a:solidFill>
              </a:rPr>
              <a:t>1. </a:t>
            </a:r>
            <a:r>
              <a:rPr lang="zh-CN" altLang="en-US" sz="1400" dirty="0">
                <a:solidFill>
                  <a:schemeClr val="tx1"/>
                </a:solidFill>
              </a:rPr>
              <a:t>全部流量都从本地上网；</a:t>
            </a:r>
            <a:r>
              <a:rPr lang="en-US" altLang="zh-CN" sz="1400" dirty="0">
                <a:solidFill>
                  <a:schemeClr val="tx1"/>
                </a:solidFill>
              </a:rPr>
              <a:t>2. </a:t>
            </a:r>
            <a:r>
              <a:rPr lang="zh-CN" altLang="en-US" sz="1400" dirty="0">
                <a:solidFill>
                  <a:schemeClr val="tx1"/>
                </a:solidFill>
              </a:rPr>
              <a:t>指定应用流量从本地上网。</a:t>
            </a:r>
          </a:p>
          <a:p>
            <a:pPr marL="285750" indent="-200025">
              <a:lnSpc>
                <a:spcPts val="2600"/>
              </a:lnSpc>
              <a:spcAft>
                <a:spcPts val="600"/>
              </a:spcAft>
              <a:buFont typeface="Arial" panose="020B0604020202020204" pitchFamily="34" charset="0"/>
              <a:buChar char="•"/>
            </a:pPr>
            <a:r>
              <a:rPr lang="zh-CN" altLang="en-US" sz="1400" dirty="0">
                <a:solidFill>
                  <a:schemeClr val="tx1"/>
                </a:solidFill>
              </a:rPr>
              <a:t>本地上网需要选择上网出接口，最多支持同时选择三个访问</a:t>
            </a:r>
            <a:r>
              <a:rPr lang="en-US" altLang="zh-CN" sz="1400" dirty="0">
                <a:solidFill>
                  <a:schemeClr val="tx1"/>
                </a:solidFill>
              </a:rPr>
              <a:t>Internet</a:t>
            </a:r>
            <a:r>
              <a:rPr lang="zh-CN" altLang="en-US" sz="1400" dirty="0">
                <a:solidFill>
                  <a:schemeClr val="tx1"/>
                </a:solidFill>
              </a:rPr>
              <a:t>出接口。如果同时选择多个访问</a:t>
            </a:r>
            <a:r>
              <a:rPr lang="en-US" altLang="zh-CN" sz="1400" dirty="0">
                <a:solidFill>
                  <a:schemeClr val="tx1"/>
                </a:solidFill>
              </a:rPr>
              <a:t>Internet</a:t>
            </a:r>
            <a:r>
              <a:rPr lang="zh-CN" altLang="en-US" sz="1400" dirty="0">
                <a:solidFill>
                  <a:schemeClr val="tx1"/>
                </a:solidFill>
              </a:rPr>
              <a:t>出接口，根据选择接口的优先级实现访问</a:t>
            </a:r>
            <a:r>
              <a:rPr lang="en-US" altLang="zh-CN" sz="1400" dirty="0">
                <a:solidFill>
                  <a:schemeClr val="tx1"/>
                </a:solidFill>
              </a:rPr>
              <a:t>Internet</a:t>
            </a:r>
            <a:r>
              <a:rPr lang="zh-CN" altLang="en-US" sz="1400" dirty="0">
                <a:solidFill>
                  <a:schemeClr val="tx1"/>
                </a:solidFill>
              </a:rPr>
              <a:t>链路的备份。</a:t>
            </a:r>
          </a:p>
          <a:p>
            <a:pPr marL="285750" indent="-200025">
              <a:lnSpc>
                <a:spcPts val="2600"/>
              </a:lnSpc>
              <a:spcAft>
                <a:spcPts val="600"/>
              </a:spcAft>
              <a:buFont typeface="Arial" panose="020B0604020202020204" pitchFamily="34" charset="0"/>
              <a:buChar char="•"/>
            </a:pPr>
            <a:r>
              <a:rPr lang="zh-CN" altLang="en-US" sz="1400" dirty="0">
                <a:solidFill>
                  <a:schemeClr val="tx1"/>
                </a:solidFill>
              </a:rPr>
              <a:t>本地上网提供</a:t>
            </a:r>
            <a:r>
              <a:rPr lang="en-US" altLang="zh-CN" sz="1400" dirty="0">
                <a:solidFill>
                  <a:schemeClr val="tx1"/>
                </a:solidFill>
              </a:rPr>
              <a:t>NAT</a:t>
            </a:r>
            <a:r>
              <a:rPr lang="zh-CN" altLang="en-US" sz="1400" dirty="0">
                <a:solidFill>
                  <a:schemeClr val="tx1"/>
                </a:solidFill>
              </a:rPr>
              <a:t>配置功能，可以基于出接口选择是否开启</a:t>
            </a:r>
            <a:r>
              <a:rPr lang="en-US" altLang="zh-CN" sz="1400" dirty="0">
                <a:solidFill>
                  <a:schemeClr val="tx1"/>
                </a:solidFill>
              </a:rPr>
              <a:t>NAT</a:t>
            </a:r>
            <a:r>
              <a:rPr lang="zh-CN" altLang="en-US" sz="1400" dirty="0">
                <a:solidFill>
                  <a:schemeClr val="tx1"/>
                </a:solidFill>
              </a:rPr>
              <a:t>功能。当前提供的是</a:t>
            </a:r>
            <a:r>
              <a:rPr lang="en-US" altLang="zh-CN" sz="1400" dirty="0">
                <a:solidFill>
                  <a:schemeClr val="tx1"/>
                </a:solidFill>
              </a:rPr>
              <a:t>Easy-IP</a:t>
            </a:r>
            <a:r>
              <a:rPr lang="zh-CN" altLang="en-US" sz="1400" dirty="0">
                <a:solidFill>
                  <a:schemeClr val="tx1"/>
                </a:solidFill>
              </a:rPr>
              <a:t>方式的</a:t>
            </a:r>
            <a:r>
              <a:rPr lang="en-US" altLang="zh-CN" sz="1400" dirty="0">
                <a:solidFill>
                  <a:schemeClr val="tx1"/>
                </a:solidFill>
              </a:rPr>
              <a:t>NAT</a:t>
            </a:r>
            <a:r>
              <a:rPr lang="zh-CN" altLang="en-US" sz="1400" dirty="0">
                <a:solidFill>
                  <a:schemeClr val="tx1"/>
                </a:solidFill>
              </a:rPr>
              <a:t>，即使用出接口的</a:t>
            </a:r>
            <a:r>
              <a:rPr lang="en-US" altLang="zh-CN" sz="1400" dirty="0">
                <a:solidFill>
                  <a:schemeClr val="tx1"/>
                </a:solidFill>
              </a:rPr>
              <a:t>IP</a:t>
            </a:r>
            <a:r>
              <a:rPr lang="zh-CN" altLang="en-US" sz="1400" dirty="0">
                <a:solidFill>
                  <a:schemeClr val="tx1"/>
                </a:solidFill>
              </a:rPr>
              <a:t>地址作为</a:t>
            </a:r>
            <a:r>
              <a:rPr lang="en-US" altLang="zh-CN" sz="1400" dirty="0">
                <a:solidFill>
                  <a:schemeClr val="tx1"/>
                </a:solidFill>
              </a:rPr>
              <a:t>NAT</a:t>
            </a:r>
            <a:r>
              <a:rPr lang="zh-CN" altLang="en-US" sz="1400" dirty="0">
                <a:solidFill>
                  <a:schemeClr val="tx1"/>
                </a:solidFill>
              </a:rPr>
              <a:t>后的公网地址。</a:t>
            </a:r>
          </a:p>
        </p:txBody>
      </p:sp>
      <p:pic>
        <p:nvPicPr>
          <p:cNvPr id="35" name="图片 3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08164" y="1483352"/>
            <a:ext cx="540000" cy="442800"/>
          </a:xfrm>
          <a:prstGeom prst="rect">
            <a:avLst/>
          </a:prstGeom>
        </p:spPr>
      </p:pic>
      <p:pic>
        <p:nvPicPr>
          <p:cNvPr id="43" name="图片 4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802050" y="4186265"/>
            <a:ext cx="490909" cy="402545"/>
          </a:xfrm>
          <a:prstGeom prst="rect">
            <a:avLst/>
          </a:prstGeom>
        </p:spPr>
      </p:pic>
      <p:sp>
        <p:nvSpPr>
          <p:cNvPr id="44" name="文本框 43"/>
          <p:cNvSpPr txBox="1"/>
          <p:nvPr/>
        </p:nvSpPr>
        <p:spPr bwMode="gray">
          <a:xfrm>
            <a:off x="4236131" y="4233648"/>
            <a:ext cx="753732" cy="307777"/>
          </a:xfrm>
          <a:prstGeom prst="rect">
            <a:avLst/>
          </a:prstGeom>
          <a:noFill/>
        </p:spPr>
        <p:txBody>
          <a:bodyPr wrap="none" rtlCol="0">
            <a:spAutoFit/>
          </a:bodyPr>
          <a:lstStyle/>
          <a:p>
            <a:r>
              <a:rPr lang="en-US" altLang="zh-CN" sz="1400" dirty="0"/>
              <a:t>EDGE2</a:t>
            </a:r>
            <a:endParaRPr lang="zh-CN" altLang="en-US" sz="1400" dirty="0"/>
          </a:p>
        </p:txBody>
      </p:sp>
      <p:pic>
        <p:nvPicPr>
          <p:cNvPr id="47" name="图片 46" descr="PC.png"/>
          <p:cNvPicPr>
            <a:picLocks noChangeAspect="1"/>
          </p:cNvPicPr>
          <p:nvPr/>
        </p:nvPicPr>
        <p:blipFill>
          <a:blip r:embed="rId5" cstate="print"/>
          <a:stretch>
            <a:fillRect/>
          </a:stretch>
        </p:blipFill>
        <p:spPr bwMode="gray">
          <a:xfrm>
            <a:off x="3824751" y="5001429"/>
            <a:ext cx="445506" cy="342149"/>
          </a:xfrm>
          <a:prstGeom prst="rect">
            <a:avLst/>
          </a:prstGeom>
        </p:spPr>
      </p:pic>
      <p:sp>
        <p:nvSpPr>
          <p:cNvPr id="49" name="圆角矩形 48"/>
          <p:cNvSpPr/>
          <p:nvPr/>
        </p:nvSpPr>
        <p:spPr bwMode="gray">
          <a:xfrm>
            <a:off x="3199051" y="4007189"/>
            <a:ext cx="1696907" cy="176252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endParaRPr>
          </a:p>
        </p:txBody>
      </p:sp>
      <p:pic>
        <p:nvPicPr>
          <p:cNvPr id="50" name="图片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680183" y="4186265"/>
            <a:ext cx="490909" cy="402545"/>
          </a:xfrm>
          <a:prstGeom prst="rect">
            <a:avLst/>
          </a:prstGeom>
        </p:spPr>
      </p:pic>
      <p:sp>
        <p:nvSpPr>
          <p:cNvPr id="51" name="文本框 50"/>
          <p:cNvSpPr txBox="1"/>
          <p:nvPr/>
        </p:nvSpPr>
        <p:spPr bwMode="gray">
          <a:xfrm>
            <a:off x="2112387" y="4233648"/>
            <a:ext cx="753732" cy="307777"/>
          </a:xfrm>
          <a:prstGeom prst="rect">
            <a:avLst/>
          </a:prstGeom>
          <a:noFill/>
        </p:spPr>
        <p:txBody>
          <a:bodyPr wrap="none" rtlCol="0">
            <a:spAutoFit/>
          </a:bodyPr>
          <a:lstStyle/>
          <a:p>
            <a:r>
              <a:rPr lang="en-US" altLang="zh-CN" sz="1400" dirty="0"/>
              <a:t>EDGE1</a:t>
            </a:r>
            <a:endParaRPr lang="zh-CN" altLang="en-US" sz="1400" dirty="0"/>
          </a:p>
        </p:txBody>
      </p:sp>
      <p:pic>
        <p:nvPicPr>
          <p:cNvPr id="52" name="图片 51" descr="PC.png"/>
          <p:cNvPicPr>
            <a:picLocks noChangeAspect="1"/>
          </p:cNvPicPr>
          <p:nvPr/>
        </p:nvPicPr>
        <p:blipFill>
          <a:blip r:embed="rId5" cstate="print"/>
          <a:stretch>
            <a:fillRect/>
          </a:stretch>
        </p:blipFill>
        <p:spPr bwMode="gray">
          <a:xfrm>
            <a:off x="1702884" y="5001429"/>
            <a:ext cx="445506" cy="342149"/>
          </a:xfrm>
          <a:prstGeom prst="rect">
            <a:avLst/>
          </a:prstGeom>
        </p:spPr>
      </p:pic>
      <p:sp>
        <p:nvSpPr>
          <p:cNvPr id="53" name="圆角矩形 52"/>
          <p:cNvSpPr/>
          <p:nvPr/>
        </p:nvSpPr>
        <p:spPr bwMode="gray">
          <a:xfrm>
            <a:off x="1077184" y="4007189"/>
            <a:ext cx="1696907" cy="176252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endParaRPr>
          </a:p>
        </p:txBody>
      </p:sp>
      <p:sp>
        <p:nvSpPr>
          <p:cNvPr id="54" name="文本框 53"/>
          <p:cNvSpPr txBox="1"/>
          <p:nvPr/>
        </p:nvSpPr>
        <p:spPr bwMode="gray">
          <a:xfrm>
            <a:off x="4317604" y="5448420"/>
            <a:ext cx="543739" cy="307777"/>
          </a:xfrm>
          <a:prstGeom prst="rect">
            <a:avLst/>
          </a:prstGeom>
          <a:noFill/>
        </p:spPr>
        <p:txBody>
          <a:bodyPr wrap="none" rtlCol="0">
            <a:spAutoFit/>
          </a:bodyPr>
          <a:lstStyle/>
          <a:p>
            <a:pPr algn="r"/>
            <a:r>
              <a:rPr lang="zh-CN" altLang="en-US" sz="1400" b="1"/>
              <a:t>分支</a:t>
            </a:r>
          </a:p>
        </p:txBody>
      </p:sp>
      <p:sp>
        <p:nvSpPr>
          <p:cNvPr id="55" name="文本框 54"/>
          <p:cNvSpPr txBox="1"/>
          <p:nvPr/>
        </p:nvSpPr>
        <p:spPr bwMode="gray">
          <a:xfrm>
            <a:off x="2195737" y="5448420"/>
            <a:ext cx="543739" cy="307777"/>
          </a:xfrm>
          <a:prstGeom prst="rect">
            <a:avLst/>
          </a:prstGeom>
          <a:noFill/>
        </p:spPr>
        <p:txBody>
          <a:bodyPr wrap="none" rtlCol="0">
            <a:spAutoFit/>
          </a:bodyPr>
          <a:lstStyle/>
          <a:p>
            <a:pPr algn="r"/>
            <a:r>
              <a:rPr lang="zh-CN" altLang="en-US" sz="1400" b="1"/>
              <a:t>分支</a:t>
            </a:r>
          </a:p>
        </p:txBody>
      </p:sp>
      <p:sp>
        <p:nvSpPr>
          <p:cNvPr id="63" name="任意多边形 62"/>
          <p:cNvSpPr/>
          <p:nvPr/>
        </p:nvSpPr>
        <p:spPr bwMode="gray">
          <a:xfrm flipH="1">
            <a:off x="4176411" y="2001680"/>
            <a:ext cx="6506" cy="2878121"/>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983405"/>
              <a:gd name="connsiteY0" fmla="*/ 3592290 h 3592290"/>
              <a:gd name="connsiteX1" fmla="*/ 983405 w 983405"/>
              <a:gd name="connsiteY1" fmla="*/ 0 h 3592290"/>
              <a:gd name="connsiteX0" fmla="*/ 0 w 549537"/>
              <a:gd name="connsiteY0" fmla="*/ 3744520 h 3744520"/>
              <a:gd name="connsiteX1" fmla="*/ 549537 w 549537"/>
              <a:gd name="connsiteY1" fmla="*/ 0 h 3744520"/>
              <a:gd name="connsiteX0" fmla="*/ 0 w 5674"/>
              <a:gd name="connsiteY0" fmla="*/ 3657531 h 3657531"/>
              <a:gd name="connsiteX1" fmla="*/ 5674 w 5674"/>
              <a:gd name="connsiteY1" fmla="*/ 0 h 3657531"/>
              <a:gd name="connsiteX0" fmla="*/ 44012 w 44170"/>
              <a:gd name="connsiteY0" fmla="*/ 10000 h 10000"/>
              <a:gd name="connsiteX1" fmla="*/ 159 w 44170"/>
              <a:gd name="connsiteY1" fmla="*/ 0 h 10000"/>
              <a:gd name="connsiteX0" fmla="*/ 11952 w 12361"/>
              <a:gd name="connsiteY0" fmla="*/ 10119 h 10119"/>
              <a:gd name="connsiteX1" fmla="*/ 410 w 12361"/>
              <a:gd name="connsiteY1" fmla="*/ 0 h 10119"/>
              <a:gd name="connsiteX0" fmla="*/ 1 w 31539"/>
              <a:gd name="connsiteY0" fmla="*/ 10119 h 10119"/>
              <a:gd name="connsiteX1" fmla="*/ 31540 w 31539"/>
              <a:gd name="connsiteY1" fmla="*/ 0 h 10119"/>
              <a:gd name="connsiteX0" fmla="*/ 7756 w 8276"/>
              <a:gd name="connsiteY0" fmla="*/ 10106 h 10106"/>
              <a:gd name="connsiteX1" fmla="*/ 521 w 8276"/>
              <a:gd name="connsiteY1" fmla="*/ 0 h 10106"/>
            </a:gdLst>
            <a:ahLst/>
            <a:cxnLst>
              <a:cxn ang="0">
                <a:pos x="connsiteX0" y="connsiteY0"/>
              </a:cxn>
              <a:cxn ang="0">
                <a:pos x="connsiteX1" y="connsiteY1"/>
              </a:cxn>
            </a:cxnLst>
            <a:rect l="l" t="t" r="r" b="b"/>
            <a:pathLst>
              <a:path w="8276" h="10106">
                <a:moveTo>
                  <a:pt x="7756" y="10106"/>
                </a:moveTo>
                <a:cubicBezTo>
                  <a:pt x="11089" y="6773"/>
                  <a:pt x="-2812" y="3333"/>
                  <a:pt x="521" y="0"/>
                </a:cubicBezTo>
              </a:path>
            </a:pathLst>
          </a:custGeom>
          <a:noFill/>
          <a:ln w="57150">
            <a:solidFill>
              <a:srgbClr val="92D05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6" name="Picture 2" descr="G:\做的项目\公共\扁平图标切换\更新2015_01_21\oss扁平图标库2015_01_21更新-04.png"/>
          <p:cNvPicPr>
            <a:picLocks noChangeAspect="1" noChangeArrowheads="1"/>
          </p:cNvPicPr>
          <p:nvPr/>
        </p:nvPicPr>
        <p:blipFill>
          <a:blip r:embed="rId6" cstate="print"/>
          <a:srcRect/>
          <a:stretch>
            <a:fillRect/>
          </a:stretch>
        </p:blipFill>
        <p:spPr bwMode="gray">
          <a:xfrm>
            <a:off x="2348029" y="2803970"/>
            <a:ext cx="498899" cy="408192"/>
          </a:xfrm>
          <a:prstGeom prst="rect">
            <a:avLst/>
          </a:prstGeom>
          <a:noFill/>
          <a:ln>
            <a:noFill/>
          </a:ln>
        </p:spPr>
      </p:pic>
      <p:sp>
        <p:nvSpPr>
          <p:cNvPr id="67" name="文本框 66"/>
          <p:cNvSpPr txBox="1"/>
          <p:nvPr/>
        </p:nvSpPr>
        <p:spPr bwMode="gray">
          <a:xfrm>
            <a:off x="2331409" y="2567709"/>
            <a:ext cx="505267" cy="276999"/>
          </a:xfrm>
          <a:prstGeom prst="rect">
            <a:avLst/>
          </a:prstGeom>
          <a:noFill/>
        </p:spPr>
        <p:txBody>
          <a:bodyPr wrap="none" rtlCol="0">
            <a:spAutoFit/>
          </a:bodyPr>
          <a:lstStyle/>
          <a:p>
            <a:r>
              <a:rPr lang="en-US" altLang="zh-CN" sz="1200" b="1" dirty="0">
                <a:solidFill>
                  <a:srgbClr val="C7000B"/>
                </a:solidFill>
              </a:rPr>
              <a:t>IGW</a:t>
            </a:r>
            <a:endParaRPr lang="zh-CN" altLang="en-US" sz="1200" b="1" dirty="0">
              <a:solidFill>
                <a:srgbClr val="C7000B"/>
              </a:solidFill>
            </a:endParaRPr>
          </a:p>
        </p:txBody>
      </p:sp>
      <p:grpSp>
        <p:nvGrpSpPr>
          <p:cNvPr id="68" name="组合 67"/>
          <p:cNvGrpSpPr/>
          <p:nvPr/>
        </p:nvGrpSpPr>
        <p:grpSpPr bwMode="gray">
          <a:xfrm>
            <a:off x="1925644" y="3208867"/>
            <a:ext cx="2167423" cy="984442"/>
            <a:chOff x="10334608" y="2021997"/>
            <a:chExt cx="877560" cy="443671"/>
          </a:xfrm>
        </p:grpSpPr>
        <p:cxnSp>
          <p:nvCxnSpPr>
            <p:cNvPr id="69" name="直接连接符 68"/>
            <p:cNvCxnSpPr/>
            <p:nvPr/>
          </p:nvCxnSpPr>
          <p:spPr bwMode="gray">
            <a:xfrm rot="5400000" flipV="1">
              <a:off x="10597466" y="1841013"/>
              <a:ext cx="433716" cy="79568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bwMode="gray">
            <a:xfrm rot="5400000" flipH="1">
              <a:off x="10957505" y="2201052"/>
              <a:ext cx="433718" cy="7560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bwMode="gray">
            <a:xfrm rot="5400000" flipH="1" flipV="1">
              <a:off x="10150577" y="2206028"/>
              <a:ext cx="443671" cy="756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73" name="圆角矩形 72"/>
          <p:cNvSpPr/>
          <p:nvPr/>
        </p:nvSpPr>
        <p:spPr bwMode="gray">
          <a:xfrm>
            <a:off x="5355462" y="1093031"/>
            <a:ext cx="6317248"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适用场景</a:t>
            </a:r>
          </a:p>
        </p:txBody>
      </p:sp>
      <p:sp>
        <p:nvSpPr>
          <p:cNvPr id="74" name="圆角矩形 73"/>
          <p:cNvSpPr/>
          <p:nvPr/>
        </p:nvSpPr>
        <p:spPr bwMode="gray">
          <a:xfrm>
            <a:off x="5355462" y="1490778"/>
            <a:ext cx="6317248" cy="73283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r>
              <a:rPr lang="zh-CN" altLang="en-US" sz="1400" dirty="0">
                <a:solidFill>
                  <a:schemeClr val="tx1"/>
                </a:solidFill>
              </a:rPr>
              <a:t>一般适用于规模较小企业，或者对上网流量不需要集中安全管控的场景，且站点</a:t>
            </a:r>
            <a:r>
              <a:rPr lang="en-US" altLang="zh-CN" sz="1400" dirty="0">
                <a:solidFill>
                  <a:schemeClr val="tx1"/>
                </a:solidFill>
              </a:rPr>
              <a:t>WAN</a:t>
            </a:r>
            <a:r>
              <a:rPr lang="zh-CN" altLang="en-US" sz="1400" dirty="0">
                <a:solidFill>
                  <a:schemeClr val="tx1"/>
                </a:solidFill>
              </a:rPr>
              <a:t>侧</a:t>
            </a:r>
            <a:r>
              <a:rPr lang="zh-CN" altLang="en-US" sz="1400">
                <a:solidFill>
                  <a:schemeClr val="tx1"/>
                </a:solidFill>
              </a:rPr>
              <a:t>有接入</a:t>
            </a:r>
            <a:r>
              <a:rPr lang="en-US" altLang="zh-CN" sz="1400">
                <a:solidFill>
                  <a:schemeClr val="tx1"/>
                </a:solidFill>
              </a:rPr>
              <a:t>Internet</a:t>
            </a:r>
            <a:r>
              <a:rPr lang="zh-CN" altLang="en-US" sz="1400" dirty="0">
                <a:solidFill>
                  <a:schemeClr val="tx1"/>
                </a:solidFill>
              </a:rPr>
              <a:t>的链路。</a:t>
            </a:r>
          </a:p>
        </p:txBody>
      </p:sp>
      <p:sp>
        <p:nvSpPr>
          <p:cNvPr id="64" name="任意多边形 63"/>
          <p:cNvSpPr/>
          <p:nvPr/>
        </p:nvSpPr>
        <p:spPr bwMode="blackGray">
          <a:xfrm flipH="1">
            <a:off x="1972147" y="2035642"/>
            <a:ext cx="1766690" cy="2945695"/>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983405"/>
              <a:gd name="connsiteY0" fmla="*/ 3592290 h 3592290"/>
              <a:gd name="connsiteX1" fmla="*/ 983405 w 983405"/>
              <a:gd name="connsiteY1" fmla="*/ 0 h 3592290"/>
              <a:gd name="connsiteX0" fmla="*/ 0 w 549537"/>
              <a:gd name="connsiteY0" fmla="*/ 3744520 h 3744520"/>
              <a:gd name="connsiteX1" fmla="*/ 549537 w 549537"/>
              <a:gd name="connsiteY1" fmla="*/ 0 h 3744520"/>
              <a:gd name="connsiteX0" fmla="*/ 0 w 5674"/>
              <a:gd name="connsiteY0" fmla="*/ 3657531 h 3657531"/>
              <a:gd name="connsiteX1" fmla="*/ 5674 w 5674"/>
              <a:gd name="connsiteY1" fmla="*/ 0 h 3657531"/>
              <a:gd name="connsiteX0" fmla="*/ 44012 w 44170"/>
              <a:gd name="connsiteY0" fmla="*/ 10000 h 10000"/>
              <a:gd name="connsiteX1" fmla="*/ 159 w 44170"/>
              <a:gd name="connsiteY1" fmla="*/ 0 h 10000"/>
              <a:gd name="connsiteX0" fmla="*/ 11952 w 12361"/>
              <a:gd name="connsiteY0" fmla="*/ 10119 h 10119"/>
              <a:gd name="connsiteX1" fmla="*/ 410 w 12361"/>
              <a:gd name="connsiteY1" fmla="*/ 0 h 10119"/>
              <a:gd name="connsiteX0" fmla="*/ 1 w 31539"/>
              <a:gd name="connsiteY0" fmla="*/ 10119 h 10119"/>
              <a:gd name="connsiteX1" fmla="*/ 31540 w 31539"/>
              <a:gd name="connsiteY1" fmla="*/ 0 h 10119"/>
              <a:gd name="connsiteX0" fmla="*/ 7756 w 8276"/>
              <a:gd name="connsiteY0" fmla="*/ 10106 h 10106"/>
              <a:gd name="connsiteX1" fmla="*/ 521 w 8276"/>
              <a:gd name="connsiteY1" fmla="*/ 0 h 10106"/>
              <a:gd name="connsiteX0" fmla="*/ 3535437 w 3535440"/>
              <a:gd name="connsiteY0" fmla="*/ 9882 h 9882"/>
              <a:gd name="connsiteX1" fmla="*/ 3 w 3535440"/>
              <a:gd name="connsiteY1" fmla="*/ 0 h 9882"/>
              <a:gd name="connsiteX0" fmla="*/ 10000 w 10000"/>
              <a:gd name="connsiteY0" fmla="*/ 10000 h 10000"/>
              <a:gd name="connsiteX1" fmla="*/ 0 w 10000"/>
              <a:gd name="connsiteY1" fmla="*/ 0 h 10000"/>
              <a:gd name="connsiteX0" fmla="*/ 8049 w 8049"/>
              <a:gd name="connsiteY0" fmla="*/ 10357 h 10357"/>
              <a:gd name="connsiteX1" fmla="*/ 0 w 8049"/>
              <a:gd name="connsiteY1" fmla="*/ 0 h 10357"/>
              <a:gd name="connsiteX0" fmla="*/ 10000 w 10000"/>
              <a:gd name="connsiteY0" fmla="*/ 10000 h 10000"/>
              <a:gd name="connsiteX1" fmla="*/ 0 w 10000"/>
              <a:gd name="connsiteY1" fmla="*/ 0 h 10000"/>
              <a:gd name="connsiteX0" fmla="*/ 10000 w 10000"/>
              <a:gd name="connsiteY0" fmla="*/ 10000 h 10000"/>
              <a:gd name="connsiteX1" fmla="*/ 5332 w 10000"/>
              <a:gd name="connsiteY1" fmla="*/ 4040 h 10000"/>
              <a:gd name="connsiteX2" fmla="*/ 0 w 10000"/>
              <a:gd name="connsiteY2" fmla="*/ 0 h 10000"/>
              <a:gd name="connsiteX0" fmla="*/ 10000 w 10000"/>
              <a:gd name="connsiteY0" fmla="*/ 10000 h 10000"/>
              <a:gd name="connsiteX1" fmla="*/ 5332 w 10000"/>
              <a:gd name="connsiteY1" fmla="*/ 4040 h 10000"/>
              <a:gd name="connsiteX2" fmla="*/ 0 w 10000"/>
              <a:gd name="connsiteY2" fmla="*/ 0 h 10000"/>
              <a:gd name="connsiteX0" fmla="*/ 10000 w 10000"/>
              <a:gd name="connsiteY0" fmla="*/ 10000 h 10000"/>
              <a:gd name="connsiteX1" fmla="*/ 5332 w 10000"/>
              <a:gd name="connsiteY1" fmla="*/ 4040 h 10000"/>
              <a:gd name="connsiteX2" fmla="*/ 0 w 10000"/>
              <a:gd name="connsiteY2" fmla="*/ 0 h 10000"/>
              <a:gd name="connsiteX0" fmla="*/ 10000 w 10000"/>
              <a:gd name="connsiteY0" fmla="*/ 10000 h 10000"/>
              <a:gd name="connsiteX1" fmla="*/ 6704 w 10000"/>
              <a:gd name="connsiteY1" fmla="*/ 2747 h 10000"/>
              <a:gd name="connsiteX2" fmla="*/ 0 w 10000"/>
              <a:gd name="connsiteY2" fmla="*/ 0 h 10000"/>
              <a:gd name="connsiteX0" fmla="*/ 10000 w 10000"/>
              <a:gd name="connsiteY0" fmla="*/ 10000 h 10000"/>
              <a:gd name="connsiteX1" fmla="*/ 6704 w 10000"/>
              <a:gd name="connsiteY1" fmla="*/ 2747 h 10000"/>
              <a:gd name="connsiteX2" fmla="*/ 0 w 10000"/>
              <a:gd name="connsiteY2" fmla="*/ 0 h 10000"/>
              <a:gd name="connsiteX0" fmla="*/ 9634 w 9634"/>
              <a:gd name="connsiteY0" fmla="*/ 10000 h 10000"/>
              <a:gd name="connsiteX1" fmla="*/ 6704 w 9634"/>
              <a:gd name="connsiteY1" fmla="*/ 2747 h 10000"/>
              <a:gd name="connsiteX2" fmla="*/ 0 w 9634"/>
              <a:gd name="connsiteY2" fmla="*/ 0 h 10000"/>
              <a:gd name="connsiteX0" fmla="*/ 10000 w 10000"/>
              <a:gd name="connsiteY0" fmla="*/ 10000 h 10000"/>
              <a:gd name="connsiteX1" fmla="*/ 6959 w 10000"/>
              <a:gd name="connsiteY1" fmla="*/ 2747 h 10000"/>
              <a:gd name="connsiteX2" fmla="*/ 0 w 10000"/>
              <a:gd name="connsiteY2" fmla="*/ 0 h 10000"/>
              <a:gd name="connsiteX0" fmla="*/ 10000 w 10000"/>
              <a:gd name="connsiteY0" fmla="*/ 10000 h 10000"/>
              <a:gd name="connsiteX1" fmla="*/ 6912 w 10000"/>
              <a:gd name="connsiteY1" fmla="*/ 3236 h 10000"/>
              <a:gd name="connsiteX2" fmla="*/ 0 w 10000"/>
              <a:gd name="connsiteY2" fmla="*/ 0 h 10000"/>
              <a:gd name="connsiteX0" fmla="*/ 10000 w 10000"/>
              <a:gd name="connsiteY0" fmla="*/ 10000 h 10000"/>
              <a:gd name="connsiteX1" fmla="*/ 7102 w 10000"/>
              <a:gd name="connsiteY1" fmla="*/ 3437 h 10000"/>
              <a:gd name="connsiteX2" fmla="*/ 0 w 10000"/>
              <a:gd name="connsiteY2" fmla="*/ 0 h 10000"/>
              <a:gd name="connsiteX0" fmla="*/ 10000 w 10000"/>
              <a:gd name="connsiteY0" fmla="*/ 10000 h 10000"/>
              <a:gd name="connsiteX1" fmla="*/ 7102 w 10000"/>
              <a:gd name="connsiteY1" fmla="*/ 3437 h 10000"/>
              <a:gd name="connsiteX2" fmla="*/ 0 w 10000"/>
              <a:gd name="connsiteY2" fmla="*/ 0 h 10000"/>
              <a:gd name="connsiteX0" fmla="*/ 9905 w 9905"/>
              <a:gd name="connsiteY0" fmla="*/ 10000 h 10000"/>
              <a:gd name="connsiteX1" fmla="*/ 7007 w 9905"/>
              <a:gd name="connsiteY1" fmla="*/ 3437 h 10000"/>
              <a:gd name="connsiteX2" fmla="*/ 0 w 9905"/>
              <a:gd name="connsiteY2" fmla="*/ 0 h 10000"/>
              <a:gd name="connsiteX0" fmla="*/ 10000 w 10000"/>
              <a:gd name="connsiteY0" fmla="*/ 10000 h 10000"/>
              <a:gd name="connsiteX1" fmla="*/ 7074 w 10000"/>
              <a:gd name="connsiteY1" fmla="*/ 3437 h 10000"/>
              <a:gd name="connsiteX2" fmla="*/ 0 w 10000"/>
              <a:gd name="connsiteY2" fmla="*/ 0 h 10000"/>
            </a:gdLst>
            <a:ahLst/>
            <a:cxnLst>
              <a:cxn ang="0">
                <a:pos x="connsiteX0" y="connsiteY0"/>
              </a:cxn>
              <a:cxn ang="0">
                <a:pos x="connsiteX1" y="connsiteY1"/>
              </a:cxn>
              <a:cxn ang="0">
                <a:pos x="connsiteX2" y="connsiteY2"/>
              </a:cxn>
            </a:cxnLst>
            <a:rect l="l" t="t" r="r" b="b"/>
            <a:pathLst>
              <a:path w="10000" h="10000">
                <a:moveTo>
                  <a:pt x="10000" y="10000"/>
                </a:moveTo>
                <a:cubicBezTo>
                  <a:pt x="9848" y="8475"/>
                  <a:pt x="9124" y="5075"/>
                  <a:pt x="7074" y="3437"/>
                </a:cubicBezTo>
                <a:cubicBezTo>
                  <a:pt x="5024" y="1799"/>
                  <a:pt x="2334" y="7792"/>
                  <a:pt x="0" y="0"/>
                </a:cubicBezTo>
              </a:path>
            </a:pathLst>
          </a:custGeom>
          <a:noFill/>
          <a:ln w="57150">
            <a:solidFill>
              <a:srgbClr val="FF99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32"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31575685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159">
            <a:extLst>
              <a:ext uri="{FF2B5EF4-FFF2-40B4-BE49-F238E27FC236}">
                <a16:creationId xmlns:a16="http://schemas.microsoft.com/office/drawing/2014/main" id="{DA2E2408-9066-4D5F-ACEB-D662D6738F31}"/>
              </a:ext>
            </a:extLst>
          </p:cNvPr>
          <p:cNvSpPr/>
          <p:nvPr/>
        </p:nvSpPr>
        <p:spPr bwMode="gray">
          <a:xfrm flipH="1">
            <a:off x="3301163" y="260844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Internet</a:t>
            </a:r>
            <a:endParaRPr lang="en-US" dirty="0">
              <a:solidFill>
                <a:schemeClr val="tx1"/>
              </a:solidFill>
            </a:endParaRPr>
          </a:p>
        </p:txBody>
      </p:sp>
      <p:sp>
        <p:nvSpPr>
          <p:cNvPr id="47" name="Freeform 159">
            <a:extLst>
              <a:ext uri="{FF2B5EF4-FFF2-40B4-BE49-F238E27FC236}">
                <a16:creationId xmlns:a16="http://schemas.microsoft.com/office/drawing/2014/main" id="{7D849EBE-A214-4847-BA0C-B0511EEDDC85}"/>
              </a:ext>
            </a:extLst>
          </p:cNvPr>
          <p:cNvSpPr/>
          <p:nvPr/>
        </p:nvSpPr>
        <p:spPr bwMode="gray">
          <a:xfrm flipH="1">
            <a:off x="1443416" y="260844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MPLS</a:t>
            </a:r>
            <a:endParaRPr lang="en-US" dirty="0">
              <a:solidFill>
                <a:schemeClr val="tx1"/>
              </a:solidFill>
            </a:endParaRPr>
          </a:p>
        </p:txBody>
      </p:sp>
      <p:sp>
        <p:nvSpPr>
          <p:cNvPr id="2" name="标题 1"/>
          <p:cNvSpPr>
            <a:spLocks noGrp="1"/>
          </p:cNvSpPr>
          <p:nvPr>
            <p:ph type="title"/>
          </p:nvPr>
        </p:nvSpPr>
        <p:spPr bwMode="gray"/>
        <p:txBody>
          <a:bodyPr>
            <a:normAutofit/>
          </a:bodyPr>
          <a:lstStyle/>
          <a:p>
            <a:r>
              <a:rPr lang="zh-CN" altLang="en-US" dirty="0"/>
              <a:t>集中上网设计</a:t>
            </a:r>
          </a:p>
        </p:txBody>
      </p:sp>
      <p:cxnSp>
        <p:nvCxnSpPr>
          <p:cNvPr id="27" name="直接连接符 26"/>
          <p:cNvCxnSpPr/>
          <p:nvPr/>
        </p:nvCxnSpPr>
        <p:spPr bwMode="gray">
          <a:xfrm flipV="1">
            <a:off x="3878164" y="1904214"/>
            <a:ext cx="0" cy="68949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08164" y="1483352"/>
            <a:ext cx="540000" cy="442800"/>
          </a:xfrm>
          <a:prstGeom prst="rect">
            <a:avLst/>
          </a:prstGeom>
        </p:spPr>
      </p:pic>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802050" y="4186265"/>
            <a:ext cx="490909" cy="402545"/>
          </a:xfrm>
          <a:prstGeom prst="rect">
            <a:avLst/>
          </a:prstGeom>
        </p:spPr>
      </p:pic>
      <p:sp>
        <p:nvSpPr>
          <p:cNvPr id="31" name="文本框 30"/>
          <p:cNvSpPr txBox="1"/>
          <p:nvPr/>
        </p:nvSpPr>
        <p:spPr bwMode="gray">
          <a:xfrm>
            <a:off x="4238256" y="4233648"/>
            <a:ext cx="753732" cy="307777"/>
          </a:xfrm>
          <a:prstGeom prst="rect">
            <a:avLst/>
          </a:prstGeom>
          <a:noFill/>
        </p:spPr>
        <p:txBody>
          <a:bodyPr wrap="none" rtlCol="0">
            <a:spAutoFit/>
          </a:bodyPr>
          <a:lstStyle/>
          <a:p>
            <a:r>
              <a:rPr lang="en-US" altLang="zh-CN" sz="1400" dirty="0"/>
              <a:t>EDGE2</a:t>
            </a:r>
            <a:endParaRPr lang="zh-CN" altLang="en-US" sz="1400" dirty="0"/>
          </a:p>
        </p:txBody>
      </p:sp>
      <p:pic>
        <p:nvPicPr>
          <p:cNvPr id="32" name="图片 31" descr="PC.png"/>
          <p:cNvPicPr>
            <a:picLocks noChangeAspect="1"/>
          </p:cNvPicPr>
          <p:nvPr/>
        </p:nvPicPr>
        <p:blipFill>
          <a:blip r:embed="rId5" cstate="print"/>
          <a:stretch>
            <a:fillRect/>
          </a:stretch>
        </p:blipFill>
        <p:spPr bwMode="gray">
          <a:xfrm>
            <a:off x="3824751" y="5001429"/>
            <a:ext cx="445506" cy="342149"/>
          </a:xfrm>
          <a:prstGeom prst="rect">
            <a:avLst/>
          </a:prstGeom>
        </p:spPr>
      </p:pic>
      <p:sp>
        <p:nvSpPr>
          <p:cNvPr id="33" name="圆角矩形 32"/>
          <p:cNvSpPr/>
          <p:nvPr/>
        </p:nvSpPr>
        <p:spPr bwMode="gray">
          <a:xfrm>
            <a:off x="3199051" y="4007189"/>
            <a:ext cx="1696907" cy="176252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endParaRPr>
          </a:p>
        </p:txBody>
      </p:sp>
      <p:pic>
        <p:nvPicPr>
          <p:cNvPr id="34" name="图片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680183" y="4186265"/>
            <a:ext cx="490909" cy="402545"/>
          </a:xfrm>
          <a:prstGeom prst="rect">
            <a:avLst/>
          </a:prstGeom>
        </p:spPr>
      </p:pic>
      <p:sp>
        <p:nvSpPr>
          <p:cNvPr id="35" name="文本框 34"/>
          <p:cNvSpPr txBox="1"/>
          <p:nvPr/>
        </p:nvSpPr>
        <p:spPr bwMode="gray">
          <a:xfrm>
            <a:off x="2111583" y="4233648"/>
            <a:ext cx="753732" cy="307777"/>
          </a:xfrm>
          <a:prstGeom prst="rect">
            <a:avLst/>
          </a:prstGeom>
          <a:noFill/>
        </p:spPr>
        <p:txBody>
          <a:bodyPr wrap="none" rtlCol="0">
            <a:spAutoFit/>
          </a:bodyPr>
          <a:lstStyle/>
          <a:p>
            <a:r>
              <a:rPr lang="en-US" altLang="zh-CN" sz="1400" dirty="0"/>
              <a:t>EDGE1</a:t>
            </a:r>
            <a:endParaRPr lang="zh-CN" altLang="en-US" sz="1400" dirty="0"/>
          </a:p>
        </p:txBody>
      </p:sp>
      <p:pic>
        <p:nvPicPr>
          <p:cNvPr id="36" name="图片 35" descr="PC.png"/>
          <p:cNvPicPr>
            <a:picLocks noChangeAspect="1"/>
          </p:cNvPicPr>
          <p:nvPr/>
        </p:nvPicPr>
        <p:blipFill>
          <a:blip r:embed="rId5" cstate="print"/>
          <a:stretch>
            <a:fillRect/>
          </a:stretch>
        </p:blipFill>
        <p:spPr bwMode="gray">
          <a:xfrm>
            <a:off x="1702884" y="5001429"/>
            <a:ext cx="445506" cy="342149"/>
          </a:xfrm>
          <a:prstGeom prst="rect">
            <a:avLst/>
          </a:prstGeom>
        </p:spPr>
      </p:pic>
      <p:sp>
        <p:nvSpPr>
          <p:cNvPr id="37" name="圆角矩形 36"/>
          <p:cNvSpPr/>
          <p:nvPr/>
        </p:nvSpPr>
        <p:spPr bwMode="gray">
          <a:xfrm>
            <a:off x="1077184" y="4007189"/>
            <a:ext cx="1816461" cy="176252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200">
              <a:solidFill>
                <a:schemeClr val="tx1">
                  <a:lumMod val="75000"/>
                  <a:lumOff val="25000"/>
                </a:schemeClr>
              </a:solidFill>
            </a:endParaRPr>
          </a:p>
        </p:txBody>
      </p:sp>
      <p:sp>
        <p:nvSpPr>
          <p:cNvPr id="38" name="文本框 37"/>
          <p:cNvSpPr txBox="1"/>
          <p:nvPr/>
        </p:nvSpPr>
        <p:spPr bwMode="gray">
          <a:xfrm>
            <a:off x="4317604" y="5448420"/>
            <a:ext cx="543740" cy="307777"/>
          </a:xfrm>
          <a:prstGeom prst="rect">
            <a:avLst/>
          </a:prstGeom>
          <a:noFill/>
        </p:spPr>
        <p:txBody>
          <a:bodyPr wrap="none" rtlCol="0">
            <a:spAutoFit/>
          </a:bodyPr>
          <a:lstStyle/>
          <a:p>
            <a:pPr algn="r"/>
            <a:r>
              <a:rPr lang="zh-CN" altLang="en-US" sz="1400" dirty="0"/>
              <a:t>分支</a:t>
            </a:r>
          </a:p>
        </p:txBody>
      </p:sp>
      <p:sp>
        <p:nvSpPr>
          <p:cNvPr id="39" name="文本框 38"/>
          <p:cNvSpPr txBox="1"/>
          <p:nvPr/>
        </p:nvSpPr>
        <p:spPr bwMode="gray">
          <a:xfrm>
            <a:off x="1011292" y="5448388"/>
            <a:ext cx="1980029" cy="307777"/>
          </a:xfrm>
          <a:prstGeom prst="rect">
            <a:avLst/>
          </a:prstGeom>
          <a:noFill/>
        </p:spPr>
        <p:txBody>
          <a:bodyPr wrap="none" rtlCol="0">
            <a:spAutoFit/>
          </a:bodyPr>
          <a:lstStyle/>
          <a:p>
            <a:pPr algn="r"/>
            <a:r>
              <a:rPr lang="zh-CN" altLang="en-US" sz="1400" dirty="0"/>
              <a:t>总部（集中上网网关）</a:t>
            </a:r>
          </a:p>
        </p:txBody>
      </p:sp>
      <p:sp>
        <p:nvSpPr>
          <p:cNvPr id="46" name="任意多边形 45"/>
          <p:cNvSpPr/>
          <p:nvPr/>
        </p:nvSpPr>
        <p:spPr bwMode="blackGray">
          <a:xfrm flipH="1">
            <a:off x="1972147" y="2035642"/>
            <a:ext cx="1766690" cy="2945695"/>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983405"/>
              <a:gd name="connsiteY0" fmla="*/ 3592290 h 3592290"/>
              <a:gd name="connsiteX1" fmla="*/ 983405 w 983405"/>
              <a:gd name="connsiteY1" fmla="*/ 0 h 3592290"/>
              <a:gd name="connsiteX0" fmla="*/ 0 w 549537"/>
              <a:gd name="connsiteY0" fmla="*/ 3744520 h 3744520"/>
              <a:gd name="connsiteX1" fmla="*/ 549537 w 549537"/>
              <a:gd name="connsiteY1" fmla="*/ 0 h 3744520"/>
              <a:gd name="connsiteX0" fmla="*/ 0 w 5674"/>
              <a:gd name="connsiteY0" fmla="*/ 3657531 h 3657531"/>
              <a:gd name="connsiteX1" fmla="*/ 5674 w 5674"/>
              <a:gd name="connsiteY1" fmla="*/ 0 h 3657531"/>
              <a:gd name="connsiteX0" fmla="*/ 44012 w 44170"/>
              <a:gd name="connsiteY0" fmla="*/ 10000 h 10000"/>
              <a:gd name="connsiteX1" fmla="*/ 159 w 44170"/>
              <a:gd name="connsiteY1" fmla="*/ 0 h 10000"/>
              <a:gd name="connsiteX0" fmla="*/ 11952 w 12361"/>
              <a:gd name="connsiteY0" fmla="*/ 10119 h 10119"/>
              <a:gd name="connsiteX1" fmla="*/ 410 w 12361"/>
              <a:gd name="connsiteY1" fmla="*/ 0 h 10119"/>
              <a:gd name="connsiteX0" fmla="*/ 1 w 31539"/>
              <a:gd name="connsiteY0" fmla="*/ 10119 h 10119"/>
              <a:gd name="connsiteX1" fmla="*/ 31540 w 31539"/>
              <a:gd name="connsiteY1" fmla="*/ 0 h 10119"/>
              <a:gd name="connsiteX0" fmla="*/ 7756 w 8276"/>
              <a:gd name="connsiteY0" fmla="*/ 10106 h 10106"/>
              <a:gd name="connsiteX1" fmla="*/ 521 w 8276"/>
              <a:gd name="connsiteY1" fmla="*/ 0 h 10106"/>
              <a:gd name="connsiteX0" fmla="*/ 3535437 w 3535440"/>
              <a:gd name="connsiteY0" fmla="*/ 9882 h 9882"/>
              <a:gd name="connsiteX1" fmla="*/ 3 w 3535440"/>
              <a:gd name="connsiteY1" fmla="*/ 0 h 9882"/>
              <a:gd name="connsiteX0" fmla="*/ 10000 w 10000"/>
              <a:gd name="connsiteY0" fmla="*/ 10000 h 10000"/>
              <a:gd name="connsiteX1" fmla="*/ 0 w 10000"/>
              <a:gd name="connsiteY1" fmla="*/ 0 h 10000"/>
              <a:gd name="connsiteX0" fmla="*/ 8049 w 8049"/>
              <a:gd name="connsiteY0" fmla="*/ 10357 h 10357"/>
              <a:gd name="connsiteX1" fmla="*/ 0 w 8049"/>
              <a:gd name="connsiteY1" fmla="*/ 0 h 10357"/>
              <a:gd name="connsiteX0" fmla="*/ 10000 w 10000"/>
              <a:gd name="connsiteY0" fmla="*/ 10000 h 10000"/>
              <a:gd name="connsiteX1" fmla="*/ 0 w 10000"/>
              <a:gd name="connsiteY1" fmla="*/ 0 h 10000"/>
              <a:gd name="connsiteX0" fmla="*/ 10000 w 10000"/>
              <a:gd name="connsiteY0" fmla="*/ 10000 h 10000"/>
              <a:gd name="connsiteX1" fmla="*/ 5332 w 10000"/>
              <a:gd name="connsiteY1" fmla="*/ 4040 h 10000"/>
              <a:gd name="connsiteX2" fmla="*/ 0 w 10000"/>
              <a:gd name="connsiteY2" fmla="*/ 0 h 10000"/>
              <a:gd name="connsiteX0" fmla="*/ 10000 w 10000"/>
              <a:gd name="connsiteY0" fmla="*/ 10000 h 10000"/>
              <a:gd name="connsiteX1" fmla="*/ 5332 w 10000"/>
              <a:gd name="connsiteY1" fmla="*/ 4040 h 10000"/>
              <a:gd name="connsiteX2" fmla="*/ 0 w 10000"/>
              <a:gd name="connsiteY2" fmla="*/ 0 h 10000"/>
              <a:gd name="connsiteX0" fmla="*/ 10000 w 10000"/>
              <a:gd name="connsiteY0" fmla="*/ 10000 h 10000"/>
              <a:gd name="connsiteX1" fmla="*/ 5332 w 10000"/>
              <a:gd name="connsiteY1" fmla="*/ 4040 h 10000"/>
              <a:gd name="connsiteX2" fmla="*/ 0 w 10000"/>
              <a:gd name="connsiteY2" fmla="*/ 0 h 10000"/>
              <a:gd name="connsiteX0" fmla="*/ 10000 w 10000"/>
              <a:gd name="connsiteY0" fmla="*/ 10000 h 10000"/>
              <a:gd name="connsiteX1" fmla="*/ 6704 w 10000"/>
              <a:gd name="connsiteY1" fmla="*/ 2747 h 10000"/>
              <a:gd name="connsiteX2" fmla="*/ 0 w 10000"/>
              <a:gd name="connsiteY2" fmla="*/ 0 h 10000"/>
              <a:gd name="connsiteX0" fmla="*/ 10000 w 10000"/>
              <a:gd name="connsiteY0" fmla="*/ 10000 h 10000"/>
              <a:gd name="connsiteX1" fmla="*/ 6704 w 10000"/>
              <a:gd name="connsiteY1" fmla="*/ 2747 h 10000"/>
              <a:gd name="connsiteX2" fmla="*/ 0 w 10000"/>
              <a:gd name="connsiteY2" fmla="*/ 0 h 10000"/>
              <a:gd name="connsiteX0" fmla="*/ 9634 w 9634"/>
              <a:gd name="connsiteY0" fmla="*/ 10000 h 10000"/>
              <a:gd name="connsiteX1" fmla="*/ 6704 w 9634"/>
              <a:gd name="connsiteY1" fmla="*/ 2747 h 10000"/>
              <a:gd name="connsiteX2" fmla="*/ 0 w 9634"/>
              <a:gd name="connsiteY2" fmla="*/ 0 h 10000"/>
              <a:gd name="connsiteX0" fmla="*/ 10000 w 10000"/>
              <a:gd name="connsiteY0" fmla="*/ 10000 h 10000"/>
              <a:gd name="connsiteX1" fmla="*/ 6959 w 10000"/>
              <a:gd name="connsiteY1" fmla="*/ 2747 h 10000"/>
              <a:gd name="connsiteX2" fmla="*/ 0 w 10000"/>
              <a:gd name="connsiteY2" fmla="*/ 0 h 10000"/>
              <a:gd name="connsiteX0" fmla="*/ 10000 w 10000"/>
              <a:gd name="connsiteY0" fmla="*/ 10000 h 10000"/>
              <a:gd name="connsiteX1" fmla="*/ 6912 w 10000"/>
              <a:gd name="connsiteY1" fmla="*/ 3236 h 10000"/>
              <a:gd name="connsiteX2" fmla="*/ 0 w 10000"/>
              <a:gd name="connsiteY2" fmla="*/ 0 h 10000"/>
              <a:gd name="connsiteX0" fmla="*/ 10000 w 10000"/>
              <a:gd name="connsiteY0" fmla="*/ 10000 h 10000"/>
              <a:gd name="connsiteX1" fmla="*/ 7102 w 10000"/>
              <a:gd name="connsiteY1" fmla="*/ 3437 h 10000"/>
              <a:gd name="connsiteX2" fmla="*/ 0 w 10000"/>
              <a:gd name="connsiteY2" fmla="*/ 0 h 10000"/>
              <a:gd name="connsiteX0" fmla="*/ 10000 w 10000"/>
              <a:gd name="connsiteY0" fmla="*/ 10000 h 10000"/>
              <a:gd name="connsiteX1" fmla="*/ 7102 w 10000"/>
              <a:gd name="connsiteY1" fmla="*/ 3437 h 10000"/>
              <a:gd name="connsiteX2" fmla="*/ 0 w 10000"/>
              <a:gd name="connsiteY2" fmla="*/ 0 h 10000"/>
              <a:gd name="connsiteX0" fmla="*/ 9905 w 9905"/>
              <a:gd name="connsiteY0" fmla="*/ 10000 h 10000"/>
              <a:gd name="connsiteX1" fmla="*/ 7007 w 9905"/>
              <a:gd name="connsiteY1" fmla="*/ 3437 h 10000"/>
              <a:gd name="connsiteX2" fmla="*/ 0 w 9905"/>
              <a:gd name="connsiteY2" fmla="*/ 0 h 10000"/>
              <a:gd name="connsiteX0" fmla="*/ 10000 w 10000"/>
              <a:gd name="connsiteY0" fmla="*/ 10000 h 10000"/>
              <a:gd name="connsiteX1" fmla="*/ 7074 w 10000"/>
              <a:gd name="connsiteY1" fmla="*/ 3437 h 10000"/>
              <a:gd name="connsiteX2" fmla="*/ 0 w 10000"/>
              <a:gd name="connsiteY2" fmla="*/ 0 h 10000"/>
              <a:gd name="connsiteX0" fmla="*/ 10000 w 10000"/>
              <a:gd name="connsiteY0" fmla="*/ 10000 h 10000"/>
              <a:gd name="connsiteX1" fmla="*/ 0 w 10000"/>
              <a:gd name="connsiteY1" fmla="*/ 0 h 10000"/>
              <a:gd name="connsiteX0" fmla="*/ 10000 w 10000"/>
              <a:gd name="connsiteY0" fmla="*/ 10000 h 10000"/>
              <a:gd name="connsiteX1" fmla="*/ 0 w 10000"/>
              <a:gd name="connsiteY1" fmla="*/ 0 h 10000"/>
              <a:gd name="connsiteX0" fmla="*/ 10000 w 10000"/>
              <a:gd name="connsiteY0" fmla="*/ 10000 h 10000"/>
              <a:gd name="connsiteX1" fmla="*/ 0 w 10000"/>
              <a:gd name="connsiteY1" fmla="*/ 0 h 10000"/>
              <a:gd name="connsiteX0" fmla="*/ 10000 w 10000"/>
              <a:gd name="connsiteY0" fmla="*/ 10000 h 10000"/>
              <a:gd name="connsiteX1" fmla="*/ 0 w 10000"/>
              <a:gd name="connsiteY1" fmla="*/ 0 h 10000"/>
              <a:gd name="connsiteX0" fmla="*/ 10000 w 10000"/>
              <a:gd name="connsiteY0" fmla="*/ 10000 h 10000"/>
              <a:gd name="connsiteX1" fmla="*/ 0 w 10000"/>
              <a:gd name="connsiteY1" fmla="*/ 0 h 10000"/>
              <a:gd name="connsiteX0" fmla="*/ 10000 w 10000"/>
              <a:gd name="connsiteY0" fmla="*/ 10000 h 10000"/>
              <a:gd name="connsiteX1" fmla="*/ 0 w 10000"/>
              <a:gd name="connsiteY1" fmla="*/ 0 h 10000"/>
              <a:gd name="connsiteX0" fmla="*/ 10000 w 10000"/>
              <a:gd name="connsiteY0" fmla="*/ 10000 h 10000"/>
              <a:gd name="connsiteX1" fmla="*/ 0 w 10000"/>
              <a:gd name="connsiteY1" fmla="*/ 0 h 10000"/>
              <a:gd name="connsiteX0" fmla="*/ 10000 w 10000"/>
              <a:gd name="connsiteY0" fmla="*/ 10000 h 10000"/>
              <a:gd name="connsiteX1" fmla="*/ 0 w 10000"/>
              <a:gd name="connsiteY1" fmla="*/ 0 h 10000"/>
              <a:gd name="connsiteX0" fmla="*/ 10000 w 10000"/>
              <a:gd name="connsiteY0" fmla="*/ 10000 h 10000"/>
              <a:gd name="connsiteX1" fmla="*/ 0 w 10000"/>
              <a:gd name="connsiteY1" fmla="*/ 0 h 10000"/>
              <a:gd name="connsiteX0" fmla="*/ 10000 w 10000"/>
              <a:gd name="connsiteY0" fmla="*/ 10000 h 10000"/>
              <a:gd name="connsiteX1" fmla="*/ 0 w 10000"/>
              <a:gd name="connsiteY1" fmla="*/ 0 h 10000"/>
            </a:gdLst>
            <a:ahLst/>
            <a:cxnLst>
              <a:cxn ang="0">
                <a:pos x="connsiteX0" y="connsiteY0"/>
              </a:cxn>
              <a:cxn ang="0">
                <a:pos x="connsiteX1" y="connsiteY1"/>
              </a:cxn>
            </a:cxnLst>
            <a:rect l="l" t="t" r="r" b="b"/>
            <a:pathLst>
              <a:path w="10000" h="10000">
                <a:moveTo>
                  <a:pt x="10000" y="10000"/>
                </a:moveTo>
                <a:cubicBezTo>
                  <a:pt x="8680" y="2097"/>
                  <a:pt x="1416" y="7874"/>
                  <a:pt x="0" y="0"/>
                </a:cubicBezTo>
              </a:path>
            </a:pathLst>
          </a:custGeom>
          <a:noFill/>
          <a:ln w="57150">
            <a:solidFill>
              <a:srgbClr val="FF99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48"/>
          <p:cNvGrpSpPr/>
          <p:nvPr/>
        </p:nvGrpSpPr>
        <p:grpSpPr bwMode="gray">
          <a:xfrm>
            <a:off x="1925636" y="3208867"/>
            <a:ext cx="2167425" cy="984442"/>
            <a:chOff x="10334607" y="2021997"/>
            <a:chExt cx="877561" cy="443671"/>
          </a:xfrm>
        </p:grpSpPr>
        <p:cxnSp>
          <p:nvCxnSpPr>
            <p:cNvPr id="50" name="直接连接符 49"/>
            <p:cNvCxnSpPr/>
            <p:nvPr/>
          </p:nvCxnSpPr>
          <p:spPr bwMode="gray">
            <a:xfrm rot="5400000" flipV="1">
              <a:off x="10597466" y="1841013"/>
              <a:ext cx="433716" cy="79568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gray">
            <a:xfrm rot="5400000" flipH="1" flipV="1">
              <a:off x="10518724" y="1837880"/>
              <a:ext cx="433719" cy="80195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rot="5400000" flipH="1">
              <a:off x="10957505" y="2201052"/>
              <a:ext cx="433718" cy="7560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rot="5400000" flipH="1" flipV="1">
              <a:off x="10150577" y="2206028"/>
              <a:ext cx="443671" cy="756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 name="任意多边形 3"/>
          <p:cNvSpPr/>
          <p:nvPr/>
        </p:nvSpPr>
        <p:spPr bwMode="gray">
          <a:xfrm>
            <a:off x="1682433" y="2023533"/>
            <a:ext cx="2361810" cy="3014134"/>
          </a:xfrm>
          <a:custGeom>
            <a:avLst/>
            <a:gdLst>
              <a:gd name="connsiteX0" fmla="*/ 2518779 w 3001379"/>
              <a:gd name="connsiteY0" fmla="*/ 2785534 h 2785534"/>
              <a:gd name="connsiteX1" fmla="*/ 766179 w 3001379"/>
              <a:gd name="connsiteY1" fmla="*/ 787400 h 2785534"/>
              <a:gd name="connsiteX2" fmla="*/ 114246 w 3001379"/>
              <a:gd name="connsiteY2" fmla="*/ 2311400 h 2785534"/>
              <a:gd name="connsiteX3" fmla="*/ 3001379 w 3001379"/>
              <a:gd name="connsiteY3" fmla="*/ 0 h 2785534"/>
              <a:gd name="connsiteX0" fmla="*/ 2487381 w 2487381"/>
              <a:gd name="connsiteY0" fmla="*/ 3014134 h 3014134"/>
              <a:gd name="connsiteX1" fmla="*/ 734781 w 2487381"/>
              <a:gd name="connsiteY1" fmla="*/ 1016000 h 3014134"/>
              <a:gd name="connsiteX2" fmla="*/ 82848 w 2487381"/>
              <a:gd name="connsiteY2" fmla="*/ 2540000 h 3014134"/>
              <a:gd name="connsiteX3" fmla="*/ 2487381 w 2487381"/>
              <a:gd name="connsiteY3" fmla="*/ 0 h 3014134"/>
              <a:gd name="connsiteX0" fmla="*/ 2487381 w 2505841"/>
              <a:gd name="connsiteY0" fmla="*/ 3014134 h 3014134"/>
              <a:gd name="connsiteX1" fmla="*/ 734781 w 2505841"/>
              <a:gd name="connsiteY1" fmla="*/ 1016000 h 3014134"/>
              <a:gd name="connsiteX2" fmla="*/ 82848 w 2505841"/>
              <a:gd name="connsiteY2" fmla="*/ 2540000 h 3014134"/>
              <a:gd name="connsiteX3" fmla="*/ 2487381 w 2505841"/>
              <a:gd name="connsiteY3" fmla="*/ 0 h 3014134"/>
              <a:gd name="connsiteX0" fmla="*/ 2459148 w 2477079"/>
              <a:gd name="connsiteY0" fmla="*/ 3014134 h 3014134"/>
              <a:gd name="connsiteX1" fmla="*/ 706548 w 2477079"/>
              <a:gd name="connsiteY1" fmla="*/ 1016000 h 3014134"/>
              <a:gd name="connsiteX2" fmla="*/ 54615 w 2477079"/>
              <a:gd name="connsiteY2" fmla="*/ 2540000 h 3014134"/>
              <a:gd name="connsiteX3" fmla="*/ 2459148 w 2477079"/>
              <a:gd name="connsiteY3" fmla="*/ 0 h 3014134"/>
              <a:gd name="connsiteX0" fmla="*/ 2281700 w 2301074"/>
              <a:gd name="connsiteY0" fmla="*/ 3014134 h 3014134"/>
              <a:gd name="connsiteX1" fmla="*/ 529100 w 2301074"/>
              <a:gd name="connsiteY1" fmla="*/ 1016000 h 3014134"/>
              <a:gd name="connsiteX2" fmla="*/ 71900 w 2301074"/>
              <a:gd name="connsiteY2" fmla="*/ 2345267 h 3014134"/>
              <a:gd name="connsiteX3" fmla="*/ 2281700 w 2301074"/>
              <a:gd name="connsiteY3" fmla="*/ 0 h 3014134"/>
              <a:gd name="connsiteX0" fmla="*/ 2411473 w 2433572"/>
              <a:gd name="connsiteY0" fmla="*/ 3014134 h 3014134"/>
              <a:gd name="connsiteX1" fmla="*/ 658873 w 2433572"/>
              <a:gd name="connsiteY1" fmla="*/ 1016000 h 3014134"/>
              <a:gd name="connsiteX2" fmla="*/ 201673 w 2433572"/>
              <a:gd name="connsiteY2" fmla="*/ 2345267 h 3014134"/>
              <a:gd name="connsiteX3" fmla="*/ 2411473 w 2433572"/>
              <a:gd name="connsiteY3" fmla="*/ 0 h 3014134"/>
              <a:gd name="connsiteX0" fmla="*/ 2294448 w 2314311"/>
              <a:gd name="connsiteY0" fmla="*/ 3014134 h 3014134"/>
              <a:gd name="connsiteX1" fmla="*/ 634981 w 2314311"/>
              <a:gd name="connsiteY1" fmla="*/ 1100667 h 3014134"/>
              <a:gd name="connsiteX2" fmla="*/ 84648 w 2314311"/>
              <a:gd name="connsiteY2" fmla="*/ 2345267 h 3014134"/>
              <a:gd name="connsiteX3" fmla="*/ 2294448 w 2314311"/>
              <a:gd name="connsiteY3" fmla="*/ 0 h 3014134"/>
              <a:gd name="connsiteX0" fmla="*/ 2368635 w 2388498"/>
              <a:gd name="connsiteY0" fmla="*/ 3014134 h 3014134"/>
              <a:gd name="connsiteX1" fmla="*/ 709168 w 2388498"/>
              <a:gd name="connsiteY1" fmla="*/ 1100667 h 3014134"/>
              <a:gd name="connsiteX2" fmla="*/ 158835 w 2388498"/>
              <a:gd name="connsiteY2" fmla="*/ 2345267 h 3014134"/>
              <a:gd name="connsiteX3" fmla="*/ 2368635 w 2388498"/>
              <a:gd name="connsiteY3" fmla="*/ 0 h 3014134"/>
              <a:gd name="connsiteX0" fmla="*/ 2303357 w 2323220"/>
              <a:gd name="connsiteY0" fmla="*/ 3014134 h 3014134"/>
              <a:gd name="connsiteX1" fmla="*/ 643890 w 2323220"/>
              <a:gd name="connsiteY1" fmla="*/ 1100667 h 3014134"/>
              <a:gd name="connsiteX2" fmla="*/ 93557 w 2323220"/>
              <a:gd name="connsiteY2" fmla="*/ 2345267 h 3014134"/>
              <a:gd name="connsiteX3" fmla="*/ 2303357 w 2323220"/>
              <a:gd name="connsiteY3" fmla="*/ 0 h 3014134"/>
              <a:gd name="connsiteX0" fmla="*/ 2331543 w 2351571"/>
              <a:gd name="connsiteY0" fmla="*/ 3014134 h 3014134"/>
              <a:gd name="connsiteX1" fmla="*/ 553543 w 2351571"/>
              <a:gd name="connsiteY1" fmla="*/ 1041400 h 3014134"/>
              <a:gd name="connsiteX2" fmla="*/ 121743 w 2351571"/>
              <a:gd name="connsiteY2" fmla="*/ 2345267 h 3014134"/>
              <a:gd name="connsiteX3" fmla="*/ 2331543 w 2351571"/>
              <a:gd name="connsiteY3" fmla="*/ 0 h 3014134"/>
              <a:gd name="connsiteX0" fmla="*/ 2372368 w 2392396"/>
              <a:gd name="connsiteY0" fmla="*/ 3014134 h 3014134"/>
              <a:gd name="connsiteX1" fmla="*/ 594368 w 2392396"/>
              <a:gd name="connsiteY1" fmla="*/ 1041400 h 3014134"/>
              <a:gd name="connsiteX2" fmla="*/ 162568 w 2392396"/>
              <a:gd name="connsiteY2" fmla="*/ 2345267 h 3014134"/>
              <a:gd name="connsiteX3" fmla="*/ 2372368 w 2392396"/>
              <a:gd name="connsiteY3" fmla="*/ 0 h 3014134"/>
              <a:gd name="connsiteX0" fmla="*/ 2316216 w 2335231"/>
              <a:gd name="connsiteY0" fmla="*/ 3014134 h 3014134"/>
              <a:gd name="connsiteX1" fmla="*/ 538216 w 2335231"/>
              <a:gd name="connsiteY1" fmla="*/ 1041400 h 3014134"/>
              <a:gd name="connsiteX2" fmla="*/ 106416 w 2335231"/>
              <a:gd name="connsiteY2" fmla="*/ 2345267 h 3014134"/>
              <a:gd name="connsiteX3" fmla="*/ 2316216 w 2335231"/>
              <a:gd name="connsiteY3" fmla="*/ 0 h 3014134"/>
              <a:gd name="connsiteX0" fmla="*/ 2372368 w 2392396"/>
              <a:gd name="connsiteY0" fmla="*/ 3014134 h 3014134"/>
              <a:gd name="connsiteX1" fmla="*/ 594368 w 2392396"/>
              <a:gd name="connsiteY1" fmla="*/ 1041400 h 3014134"/>
              <a:gd name="connsiteX2" fmla="*/ 162568 w 2392396"/>
              <a:gd name="connsiteY2" fmla="*/ 2345267 h 3014134"/>
              <a:gd name="connsiteX3" fmla="*/ 2372368 w 2392396"/>
              <a:gd name="connsiteY3" fmla="*/ 0 h 3014134"/>
              <a:gd name="connsiteX0" fmla="*/ 2254901 w 2275602"/>
              <a:gd name="connsiteY0" fmla="*/ 3014134 h 3014134"/>
              <a:gd name="connsiteX1" fmla="*/ 476901 w 2275602"/>
              <a:gd name="connsiteY1" fmla="*/ 1041400 h 3014134"/>
              <a:gd name="connsiteX2" fmla="*/ 121301 w 2275602"/>
              <a:gd name="connsiteY2" fmla="*/ 2294467 h 3014134"/>
              <a:gd name="connsiteX3" fmla="*/ 2254901 w 2275602"/>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76607 w 2297308"/>
              <a:gd name="connsiteY0" fmla="*/ 3014134 h 3014134"/>
              <a:gd name="connsiteX1" fmla="*/ 498607 w 2297308"/>
              <a:gd name="connsiteY1" fmla="*/ 1041400 h 3014134"/>
              <a:gd name="connsiteX2" fmla="*/ 143007 w 2297308"/>
              <a:gd name="connsiteY2" fmla="*/ 2294467 h 3014134"/>
              <a:gd name="connsiteX3" fmla="*/ 2276607 w 2297308"/>
              <a:gd name="connsiteY3" fmla="*/ 0 h 3014134"/>
              <a:gd name="connsiteX0" fmla="*/ 2266005 w 2286706"/>
              <a:gd name="connsiteY0" fmla="*/ 3014134 h 3014134"/>
              <a:gd name="connsiteX1" fmla="*/ 488005 w 2286706"/>
              <a:gd name="connsiteY1" fmla="*/ 1041400 h 3014134"/>
              <a:gd name="connsiteX2" fmla="*/ 132405 w 2286706"/>
              <a:gd name="connsiteY2" fmla="*/ 2294467 h 3014134"/>
              <a:gd name="connsiteX3" fmla="*/ 2266005 w 2286706"/>
              <a:gd name="connsiteY3" fmla="*/ 0 h 3014134"/>
              <a:gd name="connsiteX0" fmla="*/ 2286230 w 2306931"/>
              <a:gd name="connsiteY0" fmla="*/ 3014134 h 3014134"/>
              <a:gd name="connsiteX1" fmla="*/ 508230 w 2306931"/>
              <a:gd name="connsiteY1" fmla="*/ 1041400 h 3014134"/>
              <a:gd name="connsiteX2" fmla="*/ 152630 w 2306931"/>
              <a:gd name="connsiteY2" fmla="*/ 2294467 h 3014134"/>
              <a:gd name="connsiteX3" fmla="*/ 2286230 w 2306931"/>
              <a:gd name="connsiteY3" fmla="*/ 0 h 3014134"/>
              <a:gd name="connsiteX0" fmla="*/ 2300907 w 2321608"/>
              <a:gd name="connsiteY0" fmla="*/ 3014134 h 3014134"/>
              <a:gd name="connsiteX1" fmla="*/ 522907 w 2321608"/>
              <a:gd name="connsiteY1" fmla="*/ 1041400 h 3014134"/>
              <a:gd name="connsiteX2" fmla="*/ 167307 w 2321608"/>
              <a:gd name="connsiteY2" fmla="*/ 2294467 h 3014134"/>
              <a:gd name="connsiteX3" fmla="*/ 2300907 w 2321608"/>
              <a:gd name="connsiteY3" fmla="*/ 0 h 3014134"/>
              <a:gd name="connsiteX0" fmla="*/ 2315833 w 2336841"/>
              <a:gd name="connsiteY0" fmla="*/ 3014134 h 3014134"/>
              <a:gd name="connsiteX1" fmla="*/ 537833 w 2336841"/>
              <a:gd name="connsiteY1" fmla="*/ 1041400 h 3014134"/>
              <a:gd name="connsiteX2" fmla="*/ 182233 w 2336841"/>
              <a:gd name="connsiteY2" fmla="*/ 2294467 h 3014134"/>
              <a:gd name="connsiteX3" fmla="*/ 2315833 w 2336841"/>
              <a:gd name="connsiteY3" fmla="*/ 0 h 3014134"/>
              <a:gd name="connsiteX0" fmla="*/ 2330775 w 2352100"/>
              <a:gd name="connsiteY0" fmla="*/ 3014134 h 3014134"/>
              <a:gd name="connsiteX1" fmla="*/ 552775 w 2352100"/>
              <a:gd name="connsiteY1" fmla="*/ 1041400 h 3014134"/>
              <a:gd name="connsiteX2" fmla="*/ 197175 w 2352100"/>
              <a:gd name="connsiteY2" fmla="*/ 2294467 h 3014134"/>
              <a:gd name="connsiteX3" fmla="*/ 2330775 w 2352100"/>
              <a:gd name="connsiteY3" fmla="*/ 0 h 3014134"/>
              <a:gd name="connsiteX0" fmla="*/ 2356955 w 2378857"/>
              <a:gd name="connsiteY0" fmla="*/ 3014134 h 3014134"/>
              <a:gd name="connsiteX1" fmla="*/ 578955 w 2378857"/>
              <a:gd name="connsiteY1" fmla="*/ 1041400 h 3014134"/>
              <a:gd name="connsiteX2" fmla="*/ 223355 w 2378857"/>
              <a:gd name="connsiteY2" fmla="*/ 2294467 h 3014134"/>
              <a:gd name="connsiteX3" fmla="*/ 2356955 w 2378857"/>
              <a:gd name="connsiteY3" fmla="*/ 0 h 3014134"/>
              <a:gd name="connsiteX0" fmla="*/ 2390659 w 2413349"/>
              <a:gd name="connsiteY0" fmla="*/ 3014134 h 3014134"/>
              <a:gd name="connsiteX1" fmla="*/ 612659 w 2413349"/>
              <a:gd name="connsiteY1" fmla="*/ 1041400 h 3014134"/>
              <a:gd name="connsiteX2" fmla="*/ 257059 w 2413349"/>
              <a:gd name="connsiteY2" fmla="*/ 2294467 h 3014134"/>
              <a:gd name="connsiteX3" fmla="*/ 2390659 w 2413349"/>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71930 w 2386437"/>
              <a:gd name="connsiteY0" fmla="*/ 3014134 h 3014134"/>
              <a:gd name="connsiteX1" fmla="*/ 593930 w 2386437"/>
              <a:gd name="connsiteY1" fmla="*/ 1041400 h 3014134"/>
              <a:gd name="connsiteX2" fmla="*/ 238330 w 2386437"/>
              <a:gd name="connsiteY2" fmla="*/ 2294467 h 3014134"/>
              <a:gd name="connsiteX3" fmla="*/ 2371930 w 2386437"/>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75675 w 2390182"/>
              <a:gd name="connsiteY0" fmla="*/ 3014134 h 3014134"/>
              <a:gd name="connsiteX1" fmla="*/ 597675 w 2390182"/>
              <a:gd name="connsiteY1" fmla="*/ 1041400 h 3014134"/>
              <a:gd name="connsiteX2" fmla="*/ 242075 w 2390182"/>
              <a:gd name="connsiteY2" fmla="*/ 2294467 h 3014134"/>
              <a:gd name="connsiteX3" fmla="*/ 2375675 w 2390182"/>
              <a:gd name="connsiteY3" fmla="*/ 0 h 3014134"/>
              <a:gd name="connsiteX0" fmla="*/ 2360699 w 2375206"/>
              <a:gd name="connsiteY0" fmla="*/ 3014134 h 3014134"/>
              <a:gd name="connsiteX1" fmla="*/ 582699 w 2375206"/>
              <a:gd name="connsiteY1" fmla="*/ 1041400 h 3014134"/>
              <a:gd name="connsiteX2" fmla="*/ 227099 w 2375206"/>
              <a:gd name="connsiteY2" fmla="*/ 2294467 h 3014134"/>
              <a:gd name="connsiteX3" fmla="*/ 2360699 w 2375206"/>
              <a:gd name="connsiteY3" fmla="*/ 0 h 3014134"/>
              <a:gd name="connsiteX0" fmla="*/ 2330776 w 2345283"/>
              <a:gd name="connsiteY0" fmla="*/ 3014134 h 3014134"/>
              <a:gd name="connsiteX1" fmla="*/ 552776 w 2345283"/>
              <a:gd name="connsiteY1" fmla="*/ 1041400 h 3014134"/>
              <a:gd name="connsiteX2" fmla="*/ 197176 w 2345283"/>
              <a:gd name="connsiteY2" fmla="*/ 2294467 h 3014134"/>
              <a:gd name="connsiteX3" fmla="*/ 2330776 w 2345283"/>
              <a:gd name="connsiteY3" fmla="*/ 0 h 3014134"/>
              <a:gd name="connsiteX0" fmla="*/ 2277666 w 2290414"/>
              <a:gd name="connsiteY0" fmla="*/ 3014134 h 3014134"/>
              <a:gd name="connsiteX1" fmla="*/ 499666 w 2290414"/>
              <a:gd name="connsiteY1" fmla="*/ 1041400 h 3014134"/>
              <a:gd name="connsiteX2" fmla="*/ 152533 w 2290414"/>
              <a:gd name="connsiteY2" fmla="*/ 2226733 h 3014134"/>
              <a:gd name="connsiteX3" fmla="*/ 2277666 w 2290414"/>
              <a:gd name="connsiteY3" fmla="*/ 0 h 3014134"/>
              <a:gd name="connsiteX0" fmla="*/ 2311256 w 2324004"/>
              <a:gd name="connsiteY0" fmla="*/ 3014134 h 3014134"/>
              <a:gd name="connsiteX1" fmla="*/ 533256 w 2324004"/>
              <a:gd name="connsiteY1" fmla="*/ 1041400 h 3014134"/>
              <a:gd name="connsiteX2" fmla="*/ 186123 w 2324004"/>
              <a:gd name="connsiteY2" fmla="*/ 2226733 h 3014134"/>
              <a:gd name="connsiteX3" fmla="*/ 2311256 w 2324004"/>
              <a:gd name="connsiteY3" fmla="*/ 0 h 3014134"/>
              <a:gd name="connsiteX0" fmla="*/ 2339730 w 2353544"/>
              <a:gd name="connsiteY0" fmla="*/ 3014134 h 3014134"/>
              <a:gd name="connsiteX1" fmla="*/ 561730 w 2353544"/>
              <a:gd name="connsiteY1" fmla="*/ 1041400 h 3014134"/>
              <a:gd name="connsiteX2" fmla="*/ 214597 w 2353544"/>
              <a:gd name="connsiteY2" fmla="*/ 2226733 h 3014134"/>
              <a:gd name="connsiteX3" fmla="*/ 2339730 w 2353544"/>
              <a:gd name="connsiteY3" fmla="*/ 0 h 3014134"/>
              <a:gd name="connsiteX0" fmla="*/ 2347702 w 2361810"/>
              <a:gd name="connsiteY0" fmla="*/ 3014134 h 3014134"/>
              <a:gd name="connsiteX1" fmla="*/ 569702 w 2361810"/>
              <a:gd name="connsiteY1" fmla="*/ 1041400 h 3014134"/>
              <a:gd name="connsiteX2" fmla="*/ 222569 w 2361810"/>
              <a:gd name="connsiteY2" fmla="*/ 2226733 h 3014134"/>
              <a:gd name="connsiteX3" fmla="*/ 2347702 w 2361810"/>
              <a:gd name="connsiteY3" fmla="*/ 0 h 3014134"/>
            </a:gdLst>
            <a:ahLst/>
            <a:cxnLst>
              <a:cxn ang="0">
                <a:pos x="connsiteX0" y="connsiteY0"/>
              </a:cxn>
              <a:cxn ang="0">
                <a:pos x="connsiteX1" y="connsiteY1"/>
              </a:cxn>
              <a:cxn ang="0">
                <a:pos x="connsiteX2" y="connsiteY2"/>
              </a:cxn>
              <a:cxn ang="0">
                <a:pos x="connsiteX3" y="connsiteY3"/>
              </a:cxn>
            </a:cxnLst>
            <a:rect l="l" t="t" r="r" b="b"/>
            <a:pathLst>
              <a:path w="2361810" h="3014134">
                <a:moveTo>
                  <a:pt x="2347702" y="3014134"/>
                </a:moveTo>
                <a:cubicBezTo>
                  <a:pt x="2518446" y="1732844"/>
                  <a:pt x="1093224" y="935567"/>
                  <a:pt x="569702" y="1041400"/>
                </a:cubicBezTo>
                <a:cubicBezTo>
                  <a:pt x="46180" y="1147233"/>
                  <a:pt x="-217698" y="2247900"/>
                  <a:pt x="222569" y="2226733"/>
                </a:cubicBezTo>
                <a:cubicBezTo>
                  <a:pt x="662836" y="2205566"/>
                  <a:pt x="2301135" y="1733549"/>
                  <a:pt x="2347702" y="0"/>
                </a:cubicBezTo>
              </a:path>
            </a:pathLst>
          </a:custGeom>
          <a:noFill/>
          <a:ln w="57150">
            <a:solidFill>
              <a:srgbClr val="92D05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bwMode="gray">
          <a:xfrm>
            <a:off x="5411512" y="2614364"/>
            <a:ext cx="6063706"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方案描述</a:t>
            </a:r>
          </a:p>
        </p:txBody>
      </p:sp>
      <p:sp>
        <p:nvSpPr>
          <p:cNvPr id="55" name="圆角矩形 54"/>
          <p:cNvSpPr/>
          <p:nvPr/>
        </p:nvSpPr>
        <p:spPr bwMode="gray">
          <a:xfrm>
            <a:off x="5411512" y="3031160"/>
            <a:ext cx="6063706" cy="3045790"/>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r>
              <a:rPr lang="zh-CN" altLang="en-US" sz="1400" dirty="0">
                <a:solidFill>
                  <a:schemeClr val="tx1"/>
                </a:solidFill>
              </a:rPr>
              <a:t>租户的所有</a:t>
            </a:r>
            <a:r>
              <a:rPr lang="zh-CN" altLang="en-US" sz="1400">
                <a:solidFill>
                  <a:schemeClr val="tx1"/>
                </a:solidFill>
              </a:rPr>
              <a:t>站点都通过</a:t>
            </a:r>
            <a:r>
              <a:rPr lang="zh-CN" altLang="en-US" sz="1400" dirty="0">
                <a:solidFill>
                  <a:schemeClr val="tx1"/>
                </a:solidFill>
              </a:rPr>
              <a:t>一个集中上网站点出局上网；</a:t>
            </a:r>
          </a:p>
          <a:p>
            <a:pPr marL="285750" indent="-200025">
              <a:lnSpc>
                <a:spcPts val="2600"/>
              </a:lnSpc>
              <a:spcAft>
                <a:spcPts val="600"/>
              </a:spcAft>
              <a:buFont typeface="Arial" panose="020B0604020202020204" pitchFamily="34" charset="0"/>
              <a:buChar char="•"/>
            </a:pPr>
            <a:r>
              <a:rPr lang="zh-CN" altLang="en-US" sz="1400" dirty="0">
                <a:solidFill>
                  <a:schemeClr val="tx1"/>
                </a:solidFill>
              </a:rPr>
              <a:t>对于集中网关站点存在两种上网方式（二选一）：</a:t>
            </a: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集中上网站点的</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LAN</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侧有</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Internet</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出口，所有的上网流量都通过集中上网站点的</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LAN</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侧出局上网。需要在</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LAN</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侧配置默认路由或者是配置动态路由协议从</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LAN</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侧学习到</a:t>
            </a:r>
            <a:r>
              <a:rPr lang="zh-CN" altLang="en-US" sz="14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默认路由。</a:t>
            </a:r>
            <a:endParaRPr lang="en-US" altLang="zh-CN" sz="14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4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集中</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上网站点通过</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WAN</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侧接口上网，所有的上网流量都通过集中上网站点的</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WAN</a:t>
            </a:r>
            <a:r>
              <a:rPr lang="zh-CN" altLang="en-US" sz="14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侧链路出局</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上网（注：对于作为集中网关的站点需要同时开启本地上网</a:t>
            </a:r>
            <a:r>
              <a:rPr lang="zh-CN" altLang="en-US" sz="14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功能）。</a:t>
            </a:r>
            <a:endPar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 name="圆角矩形 55"/>
          <p:cNvSpPr/>
          <p:nvPr/>
        </p:nvSpPr>
        <p:spPr bwMode="gray">
          <a:xfrm>
            <a:off x="5411512" y="1016817"/>
            <a:ext cx="6063706"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适用场景</a:t>
            </a:r>
          </a:p>
        </p:txBody>
      </p:sp>
      <p:sp>
        <p:nvSpPr>
          <p:cNvPr id="57" name="圆角矩形 56"/>
          <p:cNvSpPr/>
          <p:nvPr/>
        </p:nvSpPr>
        <p:spPr bwMode="gray">
          <a:xfrm>
            <a:off x="5411512" y="1424089"/>
            <a:ext cx="6063706" cy="1090053"/>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r>
              <a:rPr lang="zh-CN" altLang="en-US" sz="1400" dirty="0">
                <a:solidFill>
                  <a:schemeClr val="tx1"/>
                </a:solidFill>
              </a:rPr>
              <a:t>一般适用于站点没有访问</a:t>
            </a:r>
            <a:r>
              <a:rPr lang="en-US" altLang="zh-CN" sz="1400" dirty="0">
                <a:solidFill>
                  <a:schemeClr val="tx1"/>
                </a:solidFill>
              </a:rPr>
              <a:t>Internet</a:t>
            </a:r>
            <a:r>
              <a:rPr lang="zh-CN" altLang="en-US" sz="1400" dirty="0">
                <a:solidFill>
                  <a:schemeClr val="tx1"/>
                </a:solidFill>
              </a:rPr>
              <a:t>的链路，或者需对上网流量进行集中安全管控</a:t>
            </a:r>
            <a:r>
              <a:rPr lang="zh-CN" altLang="en-US" sz="1400">
                <a:solidFill>
                  <a:schemeClr val="tx1"/>
                </a:solidFill>
              </a:rPr>
              <a:t>的场景。配置</a:t>
            </a:r>
            <a:r>
              <a:rPr lang="zh-CN" altLang="en-US" sz="1400" dirty="0">
                <a:solidFill>
                  <a:schemeClr val="tx1"/>
                </a:solidFill>
              </a:rPr>
              <a:t>集中上网网关，其他站点的流量通过</a:t>
            </a:r>
            <a:r>
              <a:rPr lang="en-US" altLang="zh-CN" sz="1400" dirty="0">
                <a:solidFill>
                  <a:schemeClr val="tx1"/>
                </a:solidFill>
              </a:rPr>
              <a:t>Overlay</a:t>
            </a:r>
            <a:r>
              <a:rPr lang="zh-CN" altLang="en-US" sz="1400" dirty="0">
                <a:solidFill>
                  <a:schemeClr val="tx1"/>
                </a:solidFill>
              </a:rPr>
              <a:t>网络转发到集中上网网关实现访问</a:t>
            </a:r>
            <a:r>
              <a:rPr lang="en-US" altLang="zh-CN" sz="1400" dirty="0">
                <a:solidFill>
                  <a:schemeClr val="tx1"/>
                </a:solidFill>
              </a:rPr>
              <a:t>Internet</a:t>
            </a:r>
            <a:r>
              <a:rPr lang="zh-CN" altLang="en-US" sz="1400" dirty="0">
                <a:solidFill>
                  <a:schemeClr val="tx1"/>
                </a:solidFill>
              </a:rPr>
              <a:t>。</a:t>
            </a:r>
          </a:p>
        </p:txBody>
      </p:sp>
      <p:sp>
        <p:nvSpPr>
          <p:cNvPr id="41"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42"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37074749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reeform 159">
            <a:extLst>
              <a:ext uri="{FF2B5EF4-FFF2-40B4-BE49-F238E27FC236}">
                <a16:creationId xmlns:a16="http://schemas.microsoft.com/office/drawing/2014/main" id="{6414F111-F391-408F-8F0E-89F87E882FAF}"/>
              </a:ext>
            </a:extLst>
          </p:cNvPr>
          <p:cNvSpPr/>
          <p:nvPr/>
        </p:nvSpPr>
        <p:spPr bwMode="gray">
          <a:xfrm flipH="1">
            <a:off x="3301163" y="260844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Internet</a:t>
            </a:r>
            <a:endParaRPr lang="en-US" dirty="0">
              <a:solidFill>
                <a:schemeClr val="tx1"/>
              </a:solidFill>
            </a:endParaRPr>
          </a:p>
        </p:txBody>
      </p:sp>
      <p:sp>
        <p:nvSpPr>
          <p:cNvPr id="47" name="Freeform 159">
            <a:extLst>
              <a:ext uri="{FF2B5EF4-FFF2-40B4-BE49-F238E27FC236}">
                <a16:creationId xmlns:a16="http://schemas.microsoft.com/office/drawing/2014/main" id="{060E8BC2-EF01-4716-B321-179AEB5051F5}"/>
              </a:ext>
            </a:extLst>
          </p:cNvPr>
          <p:cNvSpPr/>
          <p:nvPr/>
        </p:nvSpPr>
        <p:spPr bwMode="gray">
          <a:xfrm flipH="1">
            <a:off x="1443416" y="260844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MPLS</a:t>
            </a:r>
            <a:endParaRPr lang="en-US" dirty="0">
              <a:solidFill>
                <a:schemeClr val="tx1"/>
              </a:solidFill>
            </a:endParaRPr>
          </a:p>
        </p:txBody>
      </p:sp>
      <p:sp>
        <p:nvSpPr>
          <p:cNvPr id="2" name="标题 1"/>
          <p:cNvSpPr>
            <a:spLocks noGrp="1"/>
          </p:cNvSpPr>
          <p:nvPr>
            <p:ph type="title"/>
          </p:nvPr>
        </p:nvSpPr>
        <p:spPr bwMode="gray"/>
        <p:txBody>
          <a:bodyPr>
            <a:normAutofit/>
          </a:bodyPr>
          <a:lstStyle/>
          <a:p>
            <a:r>
              <a:rPr lang="zh-CN" altLang="en-US" dirty="0"/>
              <a:t>混合上网设计：默认本地上网</a:t>
            </a:r>
            <a:r>
              <a:rPr lang="en-US" altLang="zh-CN" dirty="0"/>
              <a:t>+</a:t>
            </a:r>
            <a:r>
              <a:rPr lang="zh-CN" altLang="en-US" dirty="0"/>
              <a:t>备选集中上网</a:t>
            </a:r>
          </a:p>
        </p:txBody>
      </p:sp>
      <p:cxnSp>
        <p:nvCxnSpPr>
          <p:cNvPr id="27" name="直接连接符 26"/>
          <p:cNvCxnSpPr/>
          <p:nvPr/>
        </p:nvCxnSpPr>
        <p:spPr bwMode="gray">
          <a:xfrm flipV="1">
            <a:off x="3878164" y="1904214"/>
            <a:ext cx="0" cy="68949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08164" y="1483352"/>
            <a:ext cx="540000" cy="442800"/>
          </a:xfrm>
          <a:prstGeom prst="rect">
            <a:avLst/>
          </a:prstGeom>
        </p:spPr>
      </p:pic>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802050" y="4186265"/>
            <a:ext cx="490909" cy="402545"/>
          </a:xfrm>
          <a:prstGeom prst="rect">
            <a:avLst/>
          </a:prstGeom>
        </p:spPr>
      </p:pic>
      <p:sp>
        <p:nvSpPr>
          <p:cNvPr id="31" name="文本框 30"/>
          <p:cNvSpPr txBox="1"/>
          <p:nvPr/>
        </p:nvSpPr>
        <p:spPr bwMode="gray">
          <a:xfrm>
            <a:off x="4225574" y="4233648"/>
            <a:ext cx="753732" cy="307777"/>
          </a:xfrm>
          <a:prstGeom prst="rect">
            <a:avLst/>
          </a:prstGeom>
          <a:noFill/>
        </p:spPr>
        <p:txBody>
          <a:bodyPr wrap="none" rtlCol="0">
            <a:spAutoFit/>
          </a:bodyPr>
          <a:lstStyle/>
          <a:p>
            <a:r>
              <a:rPr lang="en-US" altLang="zh-CN" sz="1400" dirty="0"/>
              <a:t>EDGE2</a:t>
            </a:r>
            <a:endParaRPr lang="zh-CN" altLang="en-US" sz="1400" dirty="0"/>
          </a:p>
        </p:txBody>
      </p:sp>
      <p:pic>
        <p:nvPicPr>
          <p:cNvPr id="32" name="图片 31" descr="PC.png"/>
          <p:cNvPicPr>
            <a:picLocks noChangeAspect="1"/>
          </p:cNvPicPr>
          <p:nvPr/>
        </p:nvPicPr>
        <p:blipFill>
          <a:blip r:embed="rId5" cstate="print"/>
          <a:stretch>
            <a:fillRect/>
          </a:stretch>
        </p:blipFill>
        <p:spPr bwMode="gray">
          <a:xfrm>
            <a:off x="3824751" y="5001429"/>
            <a:ext cx="445506" cy="342149"/>
          </a:xfrm>
          <a:prstGeom prst="rect">
            <a:avLst/>
          </a:prstGeom>
        </p:spPr>
      </p:pic>
      <p:sp>
        <p:nvSpPr>
          <p:cNvPr id="33" name="圆角矩形 32"/>
          <p:cNvSpPr/>
          <p:nvPr/>
        </p:nvSpPr>
        <p:spPr bwMode="gray">
          <a:xfrm>
            <a:off x="3199051" y="4007189"/>
            <a:ext cx="1696907" cy="176252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endParaRPr>
          </a:p>
        </p:txBody>
      </p:sp>
      <p:pic>
        <p:nvPicPr>
          <p:cNvPr id="34" name="图片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680183" y="4186265"/>
            <a:ext cx="490909" cy="402545"/>
          </a:xfrm>
          <a:prstGeom prst="rect">
            <a:avLst/>
          </a:prstGeom>
        </p:spPr>
      </p:pic>
      <p:sp>
        <p:nvSpPr>
          <p:cNvPr id="35" name="文本框 34"/>
          <p:cNvSpPr txBox="1"/>
          <p:nvPr/>
        </p:nvSpPr>
        <p:spPr bwMode="gray">
          <a:xfrm>
            <a:off x="2112381" y="4233648"/>
            <a:ext cx="753732" cy="307777"/>
          </a:xfrm>
          <a:prstGeom prst="rect">
            <a:avLst/>
          </a:prstGeom>
          <a:noFill/>
        </p:spPr>
        <p:txBody>
          <a:bodyPr wrap="none" rtlCol="0">
            <a:spAutoFit/>
          </a:bodyPr>
          <a:lstStyle/>
          <a:p>
            <a:r>
              <a:rPr lang="en-US" altLang="zh-CN" sz="1400" dirty="0"/>
              <a:t>EDGE1</a:t>
            </a:r>
            <a:endParaRPr lang="zh-CN" altLang="en-US" sz="1400" dirty="0"/>
          </a:p>
        </p:txBody>
      </p:sp>
      <p:pic>
        <p:nvPicPr>
          <p:cNvPr id="36" name="图片 35" descr="PC.png"/>
          <p:cNvPicPr>
            <a:picLocks noChangeAspect="1"/>
          </p:cNvPicPr>
          <p:nvPr/>
        </p:nvPicPr>
        <p:blipFill>
          <a:blip r:embed="rId5" cstate="print"/>
          <a:stretch>
            <a:fillRect/>
          </a:stretch>
        </p:blipFill>
        <p:spPr bwMode="gray">
          <a:xfrm>
            <a:off x="1702884" y="5001429"/>
            <a:ext cx="445506" cy="342149"/>
          </a:xfrm>
          <a:prstGeom prst="rect">
            <a:avLst/>
          </a:prstGeom>
        </p:spPr>
      </p:pic>
      <p:sp>
        <p:nvSpPr>
          <p:cNvPr id="37" name="圆角矩形 36"/>
          <p:cNvSpPr/>
          <p:nvPr/>
        </p:nvSpPr>
        <p:spPr bwMode="gray">
          <a:xfrm>
            <a:off x="1077184" y="4007189"/>
            <a:ext cx="1696907" cy="176252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endParaRPr>
          </a:p>
        </p:txBody>
      </p:sp>
      <p:sp>
        <p:nvSpPr>
          <p:cNvPr id="38" name="文本框 37"/>
          <p:cNvSpPr txBox="1"/>
          <p:nvPr/>
        </p:nvSpPr>
        <p:spPr bwMode="gray">
          <a:xfrm>
            <a:off x="4317604" y="5448420"/>
            <a:ext cx="543739" cy="307777"/>
          </a:xfrm>
          <a:prstGeom prst="rect">
            <a:avLst/>
          </a:prstGeom>
          <a:noFill/>
        </p:spPr>
        <p:txBody>
          <a:bodyPr wrap="none" rtlCol="0">
            <a:spAutoFit/>
          </a:bodyPr>
          <a:lstStyle/>
          <a:p>
            <a:pPr algn="r"/>
            <a:r>
              <a:rPr lang="zh-CN" altLang="en-US" sz="1400"/>
              <a:t>分支</a:t>
            </a:r>
          </a:p>
        </p:txBody>
      </p:sp>
      <p:sp>
        <p:nvSpPr>
          <p:cNvPr id="39" name="文本框 38"/>
          <p:cNvSpPr txBox="1"/>
          <p:nvPr/>
        </p:nvSpPr>
        <p:spPr bwMode="gray">
          <a:xfrm>
            <a:off x="2195737" y="5448420"/>
            <a:ext cx="543739" cy="307777"/>
          </a:xfrm>
          <a:prstGeom prst="rect">
            <a:avLst/>
          </a:prstGeom>
          <a:noFill/>
        </p:spPr>
        <p:txBody>
          <a:bodyPr wrap="none" rtlCol="0">
            <a:spAutoFit/>
          </a:bodyPr>
          <a:lstStyle/>
          <a:p>
            <a:pPr algn="r"/>
            <a:r>
              <a:rPr lang="zh-CN" altLang="en-US" sz="1400" dirty="0"/>
              <a:t>总部</a:t>
            </a:r>
          </a:p>
        </p:txBody>
      </p:sp>
      <p:grpSp>
        <p:nvGrpSpPr>
          <p:cNvPr id="49" name="组合 48"/>
          <p:cNvGrpSpPr/>
          <p:nvPr/>
        </p:nvGrpSpPr>
        <p:grpSpPr bwMode="gray">
          <a:xfrm>
            <a:off x="1925636" y="3208867"/>
            <a:ext cx="2167425" cy="984442"/>
            <a:chOff x="10334607" y="2021997"/>
            <a:chExt cx="877561" cy="443671"/>
          </a:xfrm>
        </p:grpSpPr>
        <p:cxnSp>
          <p:nvCxnSpPr>
            <p:cNvPr id="50" name="直接连接符 49"/>
            <p:cNvCxnSpPr/>
            <p:nvPr/>
          </p:nvCxnSpPr>
          <p:spPr bwMode="gray">
            <a:xfrm rot="5400000" flipV="1">
              <a:off x="10597466" y="1841013"/>
              <a:ext cx="433716" cy="79568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gray">
            <a:xfrm rot="5400000" flipH="1" flipV="1">
              <a:off x="10518724" y="1837880"/>
              <a:ext cx="433719" cy="80195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rot="5400000" flipH="1">
              <a:off x="10957505" y="2201052"/>
              <a:ext cx="433718" cy="7560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rot="5400000" flipH="1" flipV="1">
              <a:off x="10150577" y="2206028"/>
              <a:ext cx="443671" cy="756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 name="任意多边形 3"/>
          <p:cNvSpPr/>
          <p:nvPr/>
        </p:nvSpPr>
        <p:spPr bwMode="gray">
          <a:xfrm>
            <a:off x="1682433" y="2023533"/>
            <a:ext cx="2361810" cy="3014134"/>
          </a:xfrm>
          <a:custGeom>
            <a:avLst/>
            <a:gdLst>
              <a:gd name="connsiteX0" fmla="*/ 2518779 w 3001379"/>
              <a:gd name="connsiteY0" fmla="*/ 2785534 h 2785534"/>
              <a:gd name="connsiteX1" fmla="*/ 766179 w 3001379"/>
              <a:gd name="connsiteY1" fmla="*/ 787400 h 2785534"/>
              <a:gd name="connsiteX2" fmla="*/ 114246 w 3001379"/>
              <a:gd name="connsiteY2" fmla="*/ 2311400 h 2785534"/>
              <a:gd name="connsiteX3" fmla="*/ 3001379 w 3001379"/>
              <a:gd name="connsiteY3" fmla="*/ 0 h 2785534"/>
              <a:gd name="connsiteX0" fmla="*/ 2487381 w 2487381"/>
              <a:gd name="connsiteY0" fmla="*/ 3014134 h 3014134"/>
              <a:gd name="connsiteX1" fmla="*/ 734781 w 2487381"/>
              <a:gd name="connsiteY1" fmla="*/ 1016000 h 3014134"/>
              <a:gd name="connsiteX2" fmla="*/ 82848 w 2487381"/>
              <a:gd name="connsiteY2" fmla="*/ 2540000 h 3014134"/>
              <a:gd name="connsiteX3" fmla="*/ 2487381 w 2487381"/>
              <a:gd name="connsiteY3" fmla="*/ 0 h 3014134"/>
              <a:gd name="connsiteX0" fmla="*/ 2487381 w 2505841"/>
              <a:gd name="connsiteY0" fmla="*/ 3014134 h 3014134"/>
              <a:gd name="connsiteX1" fmla="*/ 734781 w 2505841"/>
              <a:gd name="connsiteY1" fmla="*/ 1016000 h 3014134"/>
              <a:gd name="connsiteX2" fmla="*/ 82848 w 2505841"/>
              <a:gd name="connsiteY2" fmla="*/ 2540000 h 3014134"/>
              <a:gd name="connsiteX3" fmla="*/ 2487381 w 2505841"/>
              <a:gd name="connsiteY3" fmla="*/ 0 h 3014134"/>
              <a:gd name="connsiteX0" fmla="*/ 2459148 w 2477079"/>
              <a:gd name="connsiteY0" fmla="*/ 3014134 h 3014134"/>
              <a:gd name="connsiteX1" fmla="*/ 706548 w 2477079"/>
              <a:gd name="connsiteY1" fmla="*/ 1016000 h 3014134"/>
              <a:gd name="connsiteX2" fmla="*/ 54615 w 2477079"/>
              <a:gd name="connsiteY2" fmla="*/ 2540000 h 3014134"/>
              <a:gd name="connsiteX3" fmla="*/ 2459148 w 2477079"/>
              <a:gd name="connsiteY3" fmla="*/ 0 h 3014134"/>
              <a:gd name="connsiteX0" fmla="*/ 2281700 w 2301074"/>
              <a:gd name="connsiteY0" fmla="*/ 3014134 h 3014134"/>
              <a:gd name="connsiteX1" fmla="*/ 529100 w 2301074"/>
              <a:gd name="connsiteY1" fmla="*/ 1016000 h 3014134"/>
              <a:gd name="connsiteX2" fmla="*/ 71900 w 2301074"/>
              <a:gd name="connsiteY2" fmla="*/ 2345267 h 3014134"/>
              <a:gd name="connsiteX3" fmla="*/ 2281700 w 2301074"/>
              <a:gd name="connsiteY3" fmla="*/ 0 h 3014134"/>
              <a:gd name="connsiteX0" fmla="*/ 2411473 w 2433572"/>
              <a:gd name="connsiteY0" fmla="*/ 3014134 h 3014134"/>
              <a:gd name="connsiteX1" fmla="*/ 658873 w 2433572"/>
              <a:gd name="connsiteY1" fmla="*/ 1016000 h 3014134"/>
              <a:gd name="connsiteX2" fmla="*/ 201673 w 2433572"/>
              <a:gd name="connsiteY2" fmla="*/ 2345267 h 3014134"/>
              <a:gd name="connsiteX3" fmla="*/ 2411473 w 2433572"/>
              <a:gd name="connsiteY3" fmla="*/ 0 h 3014134"/>
              <a:gd name="connsiteX0" fmla="*/ 2294448 w 2314311"/>
              <a:gd name="connsiteY0" fmla="*/ 3014134 h 3014134"/>
              <a:gd name="connsiteX1" fmla="*/ 634981 w 2314311"/>
              <a:gd name="connsiteY1" fmla="*/ 1100667 h 3014134"/>
              <a:gd name="connsiteX2" fmla="*/ 84648 w 2314311"/>
              <a:gd name="connsiteY2" fmla="*/ 2345267 h 3014134"/>
              <a:gd name="connsiteX3" fmla="*/ 2294448 w 2314311"/>
              <a:gd name="connsiteY3" fmla="*/ 0 h 3014134"/>
              <a:gd name="connsiteX0" fmla="*/ 2368635 w 2388498"/>
              <a:gd name="connsiteY0" fmla="*/ 3014134 h 3014134"/>
              <a:gd name="connsiteX1" fmla="*/ 709168 w 2388498"/>
              <a:gd name="connsiteY1" fmla="*/ 1100667 h 3014134"/>
              <a:gd name="connsiteX2" fmla="*/ 158835 w 2388498"/>
              <a:gd name="connsiteY2" fmla="*/ 2345267 h 3014134"/>
              <a:gd name="connsiteX3" fmla="*/ 2368635 w 2388498"/>
              <a:gd name="connsiteY3" fmla="*/ 0 h 3014134"/>
              <a:gd name="connsiteX0" fmla="*/ 2303357 w 2323220"/>
              <a:gd name="connsiteY0" fmla="*/ 3014134 h 3014134"/>
              <a:gd name="connsiteX1" fmla="*/ 643890 w 2323220"/>
              <a:gd name="connsiteY1" fmla="*/ 1100667 h 3014134"/>
              <a:gd name="connsiteX2" fmla="*/ 93557 w 2323220"/>
              <a:gd name="connsiteY2" fmla="*/ 2345267 h 3014134"/>
              <a:gd name="connsiteX3" fmla="*/ 2303357 w 2323220"/>
              <a:gd name="connsiteY3" fmla="*/ 0 h 3014134"/>
              <a:gd name="connsiteX0" fmla="*/ 2331543 w 2351571"/>
              <a:gd name="connsiteY0" fmla="*/ 3014134 h 3014134"/>
              <a:gd name="connsiteX1" fmla="*/ 553543 w 2351571"/>
              <a:gd name="connsiteY1" fmla="*/ 1041400 h 3014134"/>
              <a:gd name="connsiteX2" fmla="*/ 121743 w 2351571"/>
              <a:gd name="connsiteY2" fmla="*/ 2345267 h 3014134"/>
              <a:gd name="connsiteX3" fmla="*/ 2331543 w 2351571"/>
              <a:gd name="connsiteY3" fmla="*/ 0 h 3014134"/>
              <a:gd name="connsiteX0" fmla="*/ 2372368 w 2392396"/>
              <a:gd name="connsiteY0" fmla="*/ 3014134 h 3014134"/>
              <a:gd name="connsiteX1" fmla="*/ 594368 w 2392396"/>
              <a:gd name="connsiteY1" fmla="*/ 1041400 h 3014134"/>
              <a:gd name="connsiteX2" fmla="*/ 162568 w 2392396"/>
              <a:gd name="connsiteY2" fmla="*/ 2345267 h 3014134"/>
              <a:gd name="connsiteX3" fmla="*/ 2372368 w 2392396"/>
              <a:gd name="connsiteY3" fmla="*/ 0 h 3014134"/>
              <a:gd name="connsiteX0" fmla="*/ 2316216 w 2335231"/>
              <a:gd name="connsiteY0" fmla="*/ 3014134 h 3014134"/>
              <a:gd name="connsiteX1" fmla="*/ 538216 w 2335231"/>
              <a:gd name="connsiteY1" fmla="*/ 1041400 h 3014134"/>
              <a:gd name="connsiteX2" fmla="*/ 106416 w 2335231"/>
              <a:gd name="connsiteY2" fmla="*/ 2345267 h 3014134"/>
              <a:gd name="connsiteX3" fmla="*/ 2316216 w 2335231"/>
              <a:gd name="connsiteY3" fmla="*/ 0 h 3014134"/>
              <a:gd name="connsiteX0" fmla="*/ 2372368 w 2392396"/>
              <a:gd name="connsiteY0" fmla="*/ 3014134 h 3014134"/>
              <a:gd name="connsiteX1" fmla="*/ 594368 w 2392396"/>
              <a:gd name="connsiteY1" fmla="*/ 1041400 h 3014134"/>
              <a:gd name="connsiteX2" fmla="*/ 162568 w 2392396"/>
              <a:gd name="connsiteY2" fmla="*/ 2345267 h 3014134"/>
              <a:gd name="connsiteX3" fmla="*/ 2372368 w 2392396"/>
              <a:gd name="connsiteY3" fmla="*/ 0 h 3014134"/>
              <a:gd name="connsiteX0" fmla="*/ 2254901 w 2275602"/>
              <a:gd name="connsiteY0" fmla="*/ 3014134 h 3014134"/>
              <a:gd name="connsiteX1" fmla="*/ 476901 w 2275602"/>
              <a:gd name="connsiteY1" fmla="*/ 1041400 h 3014134"/>
              <a:gd name="connsiteX2" fmla="*/ 121301 w 2275602"/>
              <a:gd name="connsiteY2" fmla="*/ 2294467 h 3014134"/>
              <a:gd name="connsiteX3" fmla="*/ 2254901 w 2275602"/>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76607 w 2297308"/>
              <a:gd name="connsiteY0" fmla="*/ 3014134 h 3014134"/>
              <a:gd name="connsiteX1" fmla="*/ 498607 w 2297308"/>
              <a:gd name="connsiteY1" fmla="*/ 1041400 h 3014134"/>
              <a:gd name="connsiteX2" fmla="*/ 143007 w 2297308"/>
              <a:gd name="connsiteY2" fmla="*/ 2294467 h 3014134"/>
              <a:gd name="connsiteX3" fmla="*/ 2276607 w 2297308"/>
              <a:gd name="connsiteY3" fmla="*/ 0 h 3014134"/>
              <a:gd name="connsiteX0" fmla="*/ 2266005 w 2286706"/>
              <a:gd name="connsiteY0" fmla="*/ 3014134 h 3014134"/>
              <a:gd name="connsiteX1" fmla="*/ 488005 w 2286706"/>
              <a:gd name="connsiteY1" fmla="*/ 1041400 h 3014134"/>
              <a:gd name="connsiteX2" fmla="*/ 132405 w 2286706"/>
              <a:gd name="connsiteY2" fmla="*/ 2294467 h 3014134"/>
              <a:gd name="connsiteX3" fmla="*/ 2266005 w 2286706"/>
              <a:gd name="connsiteY3" fmla="*/ 0 h 3014134"/>
              <a:gd name="connsiteX0" fmla="*/ 2286230 w 2306931"/>
              <a:gd name="connsiteY0" fmla="*/ 3014134 h 3014134"/>
              <a:gd name="connsiteX1" fmla="*/ 508230 w 2306931"/>
              <a:gd name="connsiteY1" fmla="*/ 1041400 h 3014134"/>
              <a:gd name="connsiteX2" fmla="*/ 152630 w 2306931"/>
              <a:gd name="connsiteY2" fmla="*/ 2294467 h 3014134"/>
              <a:gd name="connsiteX3" fmla="*/ 2286230 w 2306931"/>
              <a:gd name="connsiteY3" fmla="*/ 0 h 3014134"/>
              <a:gd name="connsiteX0" fmla="*/ 2300907 w 2321608"/>
              <a:gd name="connsiteY0" fmla="*/ 3014134 h 3014134"/>
              <a:gd name="connsiteX1" fmla="*/ 522907 w 2321608"/>
              <a:gd name="connsiteY1" fmla="*/ 1041400 h 3014134"/>
              <a:gd name="connsiteX2" fmla="*/ 167307 w 2321608"/>
              <a:gd name="connsiteY2" fmla="*/ 2294467 h 3014134"/>
              <a:gd name="connsiteX3" fmla="*/ 2300907 w 2321608"/>
              <a:gd name="connsiteY3" fmla="*/ 0 h 3014134"/>
              <a:gd name="connsiteX0" fmla="*/ 2315833 w 2336841"/>
              <a:gd name="connsiteY0" fmla="*/ 3014134 h 3014134"/>
              <a:gd name="connsiteX1" fmla="*/ 537833 w 2336841"/>
              <a:gd name="connsiteY1" fmla="*/ 1041400 h 3014134"/>
              <a:gd name="connsiteX2" fmla="*/ 182233 w 2336841"/>
              <a:gd name="connsiteY2" fmla="*/ 2294467 h 3014134"/>
              <a:gd name="connsiteX3" fmla="*/ 2315833 w 2336841"/>
              <a:gd name="connsiteY3" fmla="*/ 0 h 3014134"/>
              <a:gd name="connsiteX0" fmla="*/ 2330775 w 2352100"/>
              <a:gd name="connsiteY0" fmla="*/ 3014134 h 3014134"/>
              <a:gd name="connsiteX1" fmla="*/ 552775 w 2352100"/>
              <a:gd name="connsiteY1" fmla="*/ 1041400 h 3014134"/>
              <a:gd name="connsiteX2" fmla="*/ 197175 w 2352100"/>
              <a:gd name="connsiteY2" fmla="*/ 2294467 h 3014134"/>
              <a:gd name="connsiteX3" fmla="*/ 2330775 w 2352100"/>
              <a:gd name="connsiteY3" fmla="*/ 0 h 3014134"/>
              <a:gd name="connsiteX0" fmla="*/ 2356955 w 2378857"/>
              <a:gd name="connsiteY0" fmla="*/ 3014134 h 3014134"/>
              <a:gd name="connsiteX1" fmla="*/ 578955 w 2378857"/>
              <a:gd name="connsiteY1" fmla="*/ 1041400 h 3014134"/>
              <a:gd name="connsiteX2" fmla="*/ 223355 w 2378857"/>
              <a:gd name="connsiteY2" fmla="*/ 2294467 h 3014134"/>
              <a:gd name="connsiteX3" fmla="*/ 2356955 w 2378857"/>
              <a:gd name="connsiteY3" fmla="*/ 0 h 3014134"/>
              <a:gd name="connsiteX0" fmla="*/ 2390659 w 2413349"/>
              <a:gd name="connsiteY0" fmla="*/ 3014134 h 3014134"/>
              <a:gd name="connsiteX1" fmla="*/ 612659 w 2413349"/>
              <a:gd name="connsiteY1" fmla="*/ 1041400 h 3014134"/>
              <a:gd name="connsiteX2" fmla="*/ 257059 w 2413349"/>
              <a:gd name="connsiteY2" fmla="*/ 2294467 h 3014134"/>
              <a:gd name="connsiteX3" fmla="*/ 2390659 w 2413349"/>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71930 w 2386437"/>
              <a:gd name="connsiteY0" fmla="*/ 3014134 h 3014134"/>
              <a:gd name="connsiteX1" fmla="*/ 593930 w 2386437"/>
              <a:gd name="connsiteY1" fmla="*/ 1041400 h 3014134"/>
              <a:gd name="connsiteX2" fmla="*/ 238330 w 2386437"/>
              <a:gd name="connsiteY2" fmla="*/ 2294467 h 3014134"/>
              <a:gd name="connsiteX3" fmla="*/ 2371930 w 2386437"/>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75675 w 2390182"/>
              <a:gd name="connsiteY0" fmla="*/ 3014134 h 3014134"/>
              <a:gd name="connsiteX1" fmla="*/ 597675 w 2390182"/>
              <a:gd name="connsiteY1" fmla="*/ 1041400 h 3014134"/>
              <a:gd name="connsiteX2" fmla="*/ 242075 w 2390182"/>
              <a:gd name="connsiteY2" fmla="*/ 2294467 h 3014134"/>
              <a:gd name="connsiteX3" fmla="*/ 2375675 w 2390182"/>
              <a:gd name="connsiteY3" fmla="*/ 0 h 3014134"/>
              <a:gd name="connsiteX0" fmla="*/ 2360699 w 2375206"/>
              <a:gd name="connsiteY0" fmla="*/ 3014134 h 3014134"/>
              <a:gd name="connsiteX1" fmla="*/ 582699 w 2375206"/>
              <a:gd name="connsiteY1" fmla="*/ 1041400 h 3014134"/>
              <a:gd name="connsiteX2" fmla="*/ 227099 w 2375206"/>
              <a:gd name="connsiteY2" fmla="*/ 2294467 h 3014134"/>
              <a:gd name="connsiteX3" fmla="*/ 2360699 w 2375206"/>
              <a:gd name="connsiteY3" fmla="*/ 0 h 3014134"/>
              <a:gd name="connsiteX0" fmla="*/ 2330776 w 2345283"/>
              <a:gd name="connsiteY0" fmla="*/ 3014134 h 3014134"/>
              <a:gd name="connsiteX1" fmla="*/ 552776 w 2345283"/>
              <a:gd name="connsiteY1" fmla="*/ 1041400 h 3014134"/>
              <a:gd name="connsiteX2" fmla="*/ 197176 w 2345283"/>
              <a:gd name="connsiteY2" fmla="*/ 2294467 h 3014134"/>
              <a:gd name="connsiteX3" fmla="*/ 2330776 w 2345283"/>
              <a:gd name="connsiteY3" fmla="*/ 0 h 3014134"/>
              <a:gd name="connsiteX0" fmla="*/ 2277666 w 2290414"/>
              <a:gd name="connsiteY0" fmla="*/ 3014134 h 3014134"/>
              <a:gd name="connsiteX1" fmla="*/ 499666 w 2290414"/>
              <a:gd name="connsiteY1" fmla="*/ 1041400 h 3014134"/>
              <a:gd name="connsiteX2" fmla="*/ 152533 w 2290414"/>
              <a:gd name="connsiteY2" fmla="*/ 2226733 h 3014134"/>
              <a:gd name="connsiteX3" fmla="*/ 2277666 w 2290414"/>
              <a:gd name="connsiteY3" fmla="*/ 0 h 3014134"/>
              <a:gd name="connsiteX0" fmla="*/ 2311256 w 2324004"/>
              <a:gd name="connsiteY0" fmla="*/ 3014134 h 3014134"/>
              <a:gd name="connsiteX1" fmla="*/ 533256 w 2324004"/>
              <a:gd name="connsiteY1" fmla="*/ 1041400 h 3014134"/>
              <a:gd name="connsiteX2" fmla="*/ 186123 w 2324004"/>
              <a:gd name="connsiteY2" fmla="*/ 2226733 h 3014134"/>
              <a:gd name="connsiteX3" fmla="*/ 2311256 w 2324004"/>
              <a:gd name="connsiteY3" fmla="*/ 0 h 3014134"/>
              <a:gd name="connsiteX0" fmla="*/ 2339730 w 2353544"/>
              <a:gd name="connsiteY0" fmla="*/ 3014134 h 3014134"/>
              <a:gd name="connsiteX1" fmla="*/ 561730 w 2353544"/>
              <a:gd name="connsiteY1" fmla="*/ 1041400 h 3014134"/>
              <a:gd name="connsiteX2" fmla="*/ 214597 w 2353544"/>
              <a:gd name="connsiteY2" fmla="*/ 2226733 h 3014134"/>
              <a:gd name="connsiteX3" fmla="*/ 2339730 w 2353544"/>
              <a:gd name="connsiteY3" fmla="*/ 0 h 3014134"/>
              <a:gd name="connsiteX0" fmla="*/ 2347702 w 2361810"/>
              <a:gd name="connsiteY0" fmla="*/ 3014134 h 3014134"/>
              <a:gd name="connsiteX1" fmla="*/ 569702 w 2361810"/>
              <a:gd name="connsiteY1" fmla="*/ 1041400 h 3014134"/>
              <a:gd name="connsiteX2" fmla="*/ 222569 w 2361810"/>
              <a:gd name="connsiteY2" fmla="*/ 2226733 h 3014134"/>
              <a:gd name="connsiteX3" fmla="*/ 2347702 w 2361810"/>
              <a:gd name="connsiteY3" fmla="*/ 0 h 3014134"/>
            </a:gdLst>
            <a:ahLst/>
            <a:cxnLst>
              <a:cxn ang="0">
                <a:pos x="connsiteX0" y="connsiteY0"/>
              </a:cxn>
              <a:cxn ang="0">
                <a:pos x="connsiteX1" y="connsiteY1"/>
              </a:cxn>
              <a:cxn ang="0">
                <a:pos x="connsiteX2" y="connsiteY2"/>
              </a:cxn>
              <a:cxn ang="0">
                <a:pos x="connsiteX3" y="connsiteY3"/>
              </a:cxn>
            </a:cxnLst>
            <a:rect l="l" t="t" r="r" b="b"/>
            <a:pathLst>
              <a:path w="2361810" h="3014134">
                <a:moveTo>
                  <a:pt x="2347702" y="3014134"/>
                </a:moveTo>
                <a:cubicBezTo>
                  <a:pt x="2518446" y="1732844"/>
                  <a:pt x="1093224" y="935567"/>
                  <a:pt x="569702" y="1041400"/>
                </a:cubicBezTo>
                <a:cubicBezTo>
                  <a:pt x="46180" y="1147233"/>
                  <a:pt x="-217698" y="2247900"/>
                  <a:pt x="222569" y="2226733"/>
                </a:cubicBezTo>
                <a:cubicBezTo>
                  <a:pt x="662836" y="2205566"/>
                  <a:pt x="2301135" y="1733549"/>
                  <a:pt x="2347702" y="0"/>
                </a:cubicBezTo>
              </a:path>
            </a:pathLst>
          </a:custGeom>
          <a:noFill/>
          <a:ln w="57150">
            <a:solidFill>
              <a:srgbClr val="92D050"/>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bwMode="gray">
          <a:xfrm>
            <a:off x="5411512" y="3039846"/>
            <a:ext cx="5824395"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方案描述</a:t>
            </a:r>
          </a:p>
        </p:txBody>
      </p:sp>
      <p:sp>
        <p:nvSpPr>
          <p:cNvPr id="55" name="圆角矩形 54"/>
          <p:cNvSpPr/>
          <p:nvPr/>
        </p:nvSpPr>
        <p:spPr bwMode="gray">
          <a:xfrm>
            <a:off x="5411512" y="3456643"/>
            <a:ext cx="5824395" cy="2255922"/>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r>
              <a:rPr lang="zh-CN" altLang="en-US" sz="1400" dirty="0">
                <a:solidFill>
                  <a:schemeClr val="tx1"/>
                </a:solidFill>
              </a:rPr>
              <a:t>在</a:t>
            </a:r>
            <a:r>
              <a:rPr lang="en-US" altLang="zh-CN" sz="1400" dirty="0">
                <a:solidFill>
                  <a:schemeClr val="tx1"/>
                </a:solidFill>
              </a:rPr>
              <a:t>SD-WAN</a:t>
            </a:r>
            <a:r>
              <a:rPr lang="zh-CN" altLang="en-US" sz="1400" dirty="0">
                <a:solidFill>
                  <a:schemeClr val="tx1"/>
                </a:solidFill>
              </a:rPr>
              <a:t>网络中同时配置本地上网和集中</a:t>
            </a:r>
            <a:r>
              <a:rPr lang="zh-CN" altLang="en-US" sz="1400">
                <a:solidFill>
                  <a:schemeClr val="tx1"/>
                </a:solidFill>
              </a:rPr>
              <a:t>上网功能。</a:t>
            </a: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站点的本地上网配置为全部流量从</a:t>
            </a:r>
            <a:r>
              <a:rPr lang="zh-CN" altLang="en-US" sz="1400">
                <a:solidFill>
                  <a:schemeClr val="tx1"/>
                </a:solidFill>
              </a:rPr>
              <a:t>本地上网。</a:t>
            </a: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站点存在本地上网和集中上网两条上网路径的情况下，本地上网的默认路由优先级</a:t>
            </a:r>
            <a:r>
              <a:rPr lang="zh-CN" altLang="en-US" sz="1400">
                <a:solidFill>
                  <a:schemeClr val="tx1"/>
                </a:solidFill>
              </a:rPr>
              <a:t>更高。</a:t>
            </a: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默认所有上网流量从本地出局，当本地上网接口故障时，上网流量绕行到集中</a:t>
            </a:r>
            <a:r>
              <a:rPr lang="zh-CN" altLang="en-US" sz="1400">
                <a:solidFill>
                  <a:schemeClr val="tx1"/>
                </a:solidFill>
              </a:rPr>
              <a:t>网关出局。</a:t>
            </a:r>
            <a:endParaRPr lang="zh-CN" altLang="en-US" sz="1400" dirty="0">
              <a:solidFill>
                <a:schemeClr val="tx1"/>
              </a:solidFill>
            </a:endParaRPr>
          </a:p>
        </p:txBody>
      </p:sp>
      <p:sp>
        <p:nvSpPr>
          <p:cNvPr id="56" name="圆角矩形 55"/>
          <p:cNvSpPr/>
          <p:nvPr/>
        </p:nvSpPr>
        <p:spPr bwMode="gray">
          <a:xfrm>
            <a:off x="5411512" y="1318474"/>
            <a:ext cx="5824395"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适用场景</a:t>
            </a:r>
          </a:p>
        </p:txBody>
      </p:sp>
      <p:sp>
        <p:nvSpPr>
          <p:cNvPr id="57" name="圆角矩形 56"/>
          <p:cNvSpPr/>
          <p:nvPr/>
        </p:nvSpPr>
        <p:spPr bwMode="gray">
          <a:xfrm>
            <a:off x="5411512" y="1744796"/>
            <a:ext cx="5824395" cy="1090053"/>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r>
              <a:rPr lang="zh-CN" altLang="en-US" sz="1400" dirty="0">
                <a:solidFill>
                  <a:schemeClr val="tx1"/>
                </a:solidFill>
              </a:rPr>
              <a:t>一般适用于规模较小企业，或者对上网流量不需要集中安全管控</a:t>
            </a:r>
            <a:r>
              <a:rPr lang="zh-CN" altLang="en-US" sz="1400">
                <a:solidFill>
                  <a:schemeClr val="tx1"/>
                </a:solidFill>
              </a:rPr>
              <a:t>的场景。而且</a:t>
            </a:r>
            <a:r>
              <a:rPr lang="zh-CN" altLang="en-US" sz="1400" dirty="0">
                <a:solidFill>
                  <a:schemeClr val="tx1"/>
                </a:solidFill>
              </a:rPr>
              <a:t>站点</a:t>
            </a:r>
            <a:r>
              <a:rPr lang="en-US" altLang="zh-CN" sz="1400" dirty="0">
                <a:solidFill>
                  <a:schemeClr val="tx1"/>
                </a:solidFill>
              </a:rPr>
              <a:t>WAN</a:t>
            </a:r>
            <a:r>
              <a:rPr lang="zh-CN" altLang="en-US" sz="1400" dirty="0">
                <a:solidFill>
                  <a:schemeClr val="tx1"/>
                </a:solidFill>
              </a:rPr>
              <a:t>侧有接入</a:t>
            </a:r>
            <a:r>
              <a:rPr lang="en-US" altLang="zh-CN" sz="1400" dirty="0">
                <a:solidFill>
                  <a:schemeClr val="tx1"/>
                </a:solidFill>
              </a:rPr>
              <a:t>Internet</a:t>
            </a:r>
            <a:r>
              <a:rPr lang="zh-CN" altLang="en-US" sz="1400" dirty="0">
                <a:solidFill>
                  <a:schemeClr val="tx1"/>
                </a:solidFill>
              </a:rPr>
              <a:t>的链路，对上网可靠性有较高的要求。</a:t>
            </a:r>
          </a:p>
        </p:txBody>
      </p:sp>
      <p:sp>
        <p:nvSpPr>
          <p:cNvPr id="41" name="任意多边形 40"/>
          <p:cNvSpPr/>
          <p:nvPr/>
        </p:nvSpPr>
        <p:spPr bwMode="gray">
          <a:xfrm flipH="1">
            <a:off x="4176411" y="2001680"/>
            <a:ext cx="6506" cy="2878121"/>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983405"/>
              <a:gd name="connsiteY0" fmla="*/ 3592290 h 3592290"/>
              <a:gd name="connsiteX1" fmla="*/ 983405 w 983405"/>
              <a:gd name="connsiteY1" fmla="*/ 0 h 3592290"/>
              <a:gd name="connsiteX0" fmla="*/ 0 w 549537"/>
              <a:gd name="connsiteY0" fmla="*/ 3744520 h 3744520"/>
              <a:gd name="connsiteX1" fmla="*/ 549537 w 549537"/>
              <a:gd name="connsiteY1" fmla="*/ 0 h 3744520"/>
              <a:gd name="connsiteX0" fmla="*/ 0 w 5674"/>
              <a:gd name="connsiteY0" fmla="*/ 3657531 h 3657531"/>
              <a:gd name="connsiteX1" fmla="*/ 5674 w 5674"/>
              <a:gd name="connsiteY1" fmla="*/ 0 h 3657531"/>
              <a:gd name="connsiteX0" fmla="*/ 44012 w 44170"/>
              <a:gd name="connsiteY0" fmla="*/ 10000 h 10000"/>
              <a:gd name="connsiteX1" fmla="*/ 159 w 44170"/>
              <a:gd name="connsiteY1" fmla="*/ 0 h 10000"/>
              <a:gd name="connsiteX0" fmla="*/ 11952 w 12361"/>
              <a:gd name="connsiteY0" fmla="*/ 10119 h 10119"/>
              <a:gd name="connsiteX1" fmla="*/ 410 w 12361"/>
              <a:gd name="connsiteY1" fmla="*/ 0 h 10119"/>
              <a:gd name="connsiteX0" fmla="*/ 1 w 31539"/>
              <a:gd name="connsiteY0" fmla="*/ 10119 h 10119"/>
              <a:gd name="connsiteX1" fmla="*/ 31540 w 31539"/>
              <a:gd name="connsiteY1" fmla="*/ 0 h 10119"/>
              <a:gd name="connsiteX0" fmla="*/ 7756 w 8276"/>
              <a:gd name="connsiteY0" fmla="*/ 10106 h 10106"/>
              <a:gd name="connsiteX1" fmla="*/ 521 w 8276"/>
              <a:gd name="connsiteY1" fmla="*/ 0 h 10106"/>
            </a:gdLst>
            <a:ahLst/>
            <a:cxnLst>
              <a:cxn ang="0">
                <a:pos x="connsiteX0" y="connsiteY0"/>
              </a:cxn>
              <a:cxn ang="0">
                <a:pos x="connsiteX1" y="connsiteY1"/>
              </a:cxn>
            </a:cxnLst>
            <a:rect l="l" t="t" r="r" b="b"/>
            <a:pathLst>
              <a:path w="8276" h="10106">
                <a:moveTo>
                  <a:pt x="7756" y="10106"/>
                </a:moveTo>
                <a:cubicBezTo>
                  <a:pt x="11089" y="6773"/>
                  <a:pt x="-2812" y="3333"/>
                  <a:pt x="521" y="0"/>
                </a:cubicBezTo>
              </a:path>
            </a:pathLst>
          </a:custGeom>
          <a:noFill/>
          <a:ln w="57150">
            <a:solidFill>
              <a:srgbClr val="92D05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43"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37491228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Freeform 159">
            <a:extLst>
              <a:ext uri="{FF2B5EF4-FFF2-40B4-BE49-F238E27FC236}">
                <a16:creationId xmlns:a16="http://schemas.microsoft.com/office/drawing/2014/main" id="{8C78DB60-5676-432A-B740-F2B07BE2F588}"/>
              </a:ext>
            </a:extLst>
          </p:cNvPr>
          <p:cNvSpPr/>
          <p:nvPr/>
        </p:nvSpPr>
        <p:spPr bwMode="gray">
          <a:xfrm flipH="1">
            <a:off x="3301163" y="260844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Internet</a:t>
            </a:r>
            <a:endParaRPr lang="en-US" dirty="0">
              <a:solidFill>
                <a:schemeClr val="tx1"/>
              </a:solidFill>
            </a:endParaRPr>
          </a:p>
        </p:txBody>
      </p:sp>
      <p:sp>
        <p:nvSpPr>
          <p:cNvPr id="58" name="Freeform 159">
            <a:extLst>
              <a:ext uri="{FF2B5EF4-FFF2-40B4-BE49-F238E27FC236}">
                <a16:creationId xmlns:a16="http://schemas.microsoft.com/office/drawing/2014/main" id="{4DE9BE60-E961-46EA-AF8C-BFB33E288366}"/>
              </a:ext>
            </a:extLst>
          </p:cNvPr>
          <p:cNvSpPr/>
          <p:nvPr/>
        </p:nvSpPr>
        <p:spPr bwMode="gray">
          <a:xfrm flipH="1">
            <a:off x="1443416" y="260844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solidFill>
                  <a:schemeClr val="tx1"/>
                </a:solidFill>
              </a:rPr>
              <a:t>MPLS</a:t>
            </a:r>
            <a:endParaRPr lang="en-US" dirty="0">
              <a:solidFill>
                <a:schemeClr val="tx1"/>
              </a:solidFill>
            </a:endParaRPr>
          </a:p>
        </p:txBody>
      </p:sp>
      <p:sp>
        <p:nvSpPr>
          <p:cNvPr id="2" name="标题 1"/>
          <p:cNvSpPr>
            <a:spLocks noGrp="1"/>
          </p:cNvSpPr>
          <p:nvPr>
            <p:ph type="title"/>
          </p:nvPr>
        </p:nvSpPr>
        <p:spPr bwMode="gray"/>
        <p:txBody>
          <a:bodyPr>
            <a:normAutofit/>
          </a:bodyPr>
          <a:lstStyle/>
          <a:p>
            <a:r>
              <a:rPr lang="zh-CN" altLang="en-US" dirty="0"/>
              <a:t>混合上网设计：默认集中上网</a:t>
            </a:r>
            <a:r>
              <a:rPr lang="en-US" altLang="zh-CN" dirty="0"/>
              <a:t>+</a:t>
            </a:r>
            <a:r>
              <a:rPr lang="zh-CN" altLang="en-US" dirty="0"/>
              <a:t>指定应用本地上网</a:t>
            </a:r>
          </a:p>
        </p:txBody>
      </p:sp>
      <p:cxnSp>
        <p:nvCxnSpPr>
          <p:cNvPr id="27" name="直接连接符 26"/>
          <p:cNvCxnSpPr/>
          <p:nvPr/>
        </p:nvCxnSpPr>
        <p:spPr bwMode="gray">
          <a:xfrm flipV="1">
            <a:off x="3878164" y="1904214"/>
            <a:ext cx="0" cy="68949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08164" y="1483352"/>
            <a:ext cx="540000" cy="442800"/>
          </a:xfrm>
          <a:prstGeom prst="rect">
            <a:avLst/>
          </a:prstGeom>
        </p:spPr>
      </p:pic>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802050" y="4186265"/>
            <a:ext cx="490909" cy="402545"/>
          </a:xfrm>
          <a:prstGeom prst="rect">
            <a:avLst/>
          </a:prstGeom>
        </p:spPr>
      </p:pic>
      <p:sp>
        <p:nvSpPr>
          <p:cNvPr id="31" name="文本框 30"/>
          <p:cNvSpPr txBox="1"/>
          <p:nvPr/>
        </p:nvSpPr>
        <p:spPr bwMode="gray">
          <a:xfrm>
            <a:off x="4218802" y="4233648"/>
            <a:ext cx="753732" cy="307777"/>
          </a:xfrm>
          <a:prstGeom prst="rect">
            <a:avLst/>
          </a:prstGeom>
          <a:noFill/>
        </p:spPr>
        <p:txBody>
          <a:bodyPr wrap="none" rtlCol="0">
            <a:spAutoFit/>
          </a:bodyPr>
          <a:lstStyle/>
          <a:p>
            <a:r>
              <a:rPr lang="en-US" altLang="zh-CN" sz="1400" dirty="0"/>
              <a:t>EDGE2</a:t>
            </a:r>
            <a:endParaRPr lang="zh-CN" altLang="en-US" sz="1400" dirty="0"/>
          </a:p>
        </p:txBody>
      </p:sp>
      <p:pic>
        <p:nvPicPr>
          <p:cNvPr id="32" name="图片 31" descr="PC.png"/>
          <p:cNvPicPr>
            <a:picLocks noChangeAspect="1"/>
          </p:cNvPicPr>
          <p:nvPr/>
        </p:nvPicPr>
        <p:blipFill>
          <a:blip r:embed="rId5" cstate="print"/>
          <a:stretch>
            <a:fillRect/>
          </a:stretch>
        </p:blipFill>
        <p:spPr bwMode="gray">
          <a:xfrm>
            <a:off x="3824751" y="5001429"/>
            <a:ext cx="445506" cy="342149"/>
          </a:xfrm>
          <a:prstGeom prst="rect">
            <a:avLst/>
          </a:prstGeom>
        </p:spPr>
      </p:pic>
      <p:sp>
        <p:nvSpPr>
          <p:cNvPr id="33" name="圆角矩形 32"/>
          <p:cNvSpPr/>
          <p:nvPr/>
        </p:nvSpPr>
        <p:spPr bwMode="gray">
          <a:xfrm>
            <a:off x="3199051" y="4007189"/>
            <a:ext cx="1696907" cy="176252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endParaRPr>
          </a:p>
        </p:txBody>
      </p:sp>
      <p:pic>
        <p:nvPicPr>
          <p:cNvPr id="34" name="图片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680183" y="4186265"/>
            <a:ext cx="490909" cy="402545"/>
          </a:xfrm>
          <a:prstGeom prst="rect">
            <a:avLst/>
          </a:prstGeom>
        </p:spPr>
      </p:pic>
      <p:sp>
        <p:nvSpPr>
          <p:cNvPr id="35" name="文本框 34"/>
          <p:cNvSpPr txBox="1"/>
          <p:nvPr/>
        </p:nvSpPr>
        <p:spPr bwMode="gray">
          <a:xfrm>
            <a:off x="2117571" y="4233648"/>
            <a:ext cx="753732" cy="307777"/>
          </a:xfrm>
          <a:prstGeom prst="rect">
            <a:avLst/>
          </a:prstGeom>
          <a:noFill/>
        </p:spPr>
        <p:txBody>
          <a:bodyPr wrap="none" rtlCol="0">
            <a:spAutoFit/>
          </a:bodyPr>
          <a:lstStyle/>
          <a:p>
            <a:r>
              <a:rPr lang="en-US" altLang="zh-CN" sz="1400" dirty="0"/>
              <a:t>EDGE1</a:t>
            </a:r>
            <a:endParaRPr lang="zh-CN" altLang="en-US" sz="1400" dirty="0"/>
          </a:p>
        </p:txBody>
      </p:sp>
      <p:pic>
        <p:nvPicPr>
          <p:cNvPr id="36" name="图片 35" descr="PC.png"/>
          <p:cNvPicPr>
            <a:picLocks noChangeAspect="1"/>
          </p:cNvPicPr>
          <p:nvPr/>
        </p:nvPicPr>
        <p:blipFill>
          <a:blip r:embed="rId5" cstate="print"/>
          <a:stretch>
            <a:fillRect/>
          </a:stretch>
        </p:blipFill>
        <p:spPr bwMode="gray">
          <a:xfrm>
            <a:off x="1702884" y="5001429"/>
            <a:ext cx="445506" cy="342149"/>
          </a:xfrm>
          <a:prstGeom prst="rect">
            <a:avLst/>
          </a:prstGeom>
        </p:spPr>
      </p:pic>
      <p:sp>
        <p:nvSpPr>
          <p:cNvPr id="37" name="圆角矩形 36"/>
          <p:cNvSpPr/>
          <p:nvPr/>
        </p:nvSpPr>
        <p:spPr bwMode="gray">
          <a:xfrm>
            <a:off x="1077184" y="4007189"/>
            <a:ext cx="1696907" cy="176252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endParaRPr>
          </a:p>
        </p:txBody>
      </p:sp>
      <p:sp>
        <p:nvSpPr>
          <p:cNvPr id="38" name="文本框 37"/>
          <p:cNvSpPr txBox="1"/>
          <p:nvPr/>
        </p:nvSpPr>
        <p:spPr bwMode="gray">
          <a:xfrm>
            <a:off x="4317604" y="5448420"/>
            <a:ext cx="543739" cy="307777"/>
          </a:xfrm>
          <a:prstGeom prst="rect">
            <a:avLst/>
          </a:prstGeom>
          <a:noFill/>
        </p:spPr>
        <p:txBody>
          <a:bodyPr wrap="none" rtlCol="0">
            <a:spAutoFit/>
          </a:bodyPr>
          <a:lstStyle/>
          <a:p>
            <a:pPr algn="r"/>
            <a:r>
              <a:rPr lang="zh-CN" altLang="en-US" sz="1400"/>
              <a:t>分支</a:t>
            </a:r>
          </a:p>
        </p:txBody>
      </p:sp>
      <p:sp>
        <p:nvSpPr>
          <p:cNvPr id="39" name="文本框 38"/>
          <p:cNvSpPr txBox="1"/>
          <p:nvPr/>
        </p:nvSpPr>
        <p:spPr bwMode="gray">
          <a:xfrm>
            <a:off x="2195737" y="5448420"/>
            <a:ext cx="543739" cy="307777"/>
          </a:xfrm>
          <a:prstGeom prst="rect">
            <a:avLst/>
          </a:prstGeom>
          <a:noFill/>
        </p:spPr>
        <p:txBody>
          <a:bodyPr wrap="none" rtlCol="0">
            <a:spAutoFit/>
          </a:bodyPr>
          <a:lstStyle/>
          <a:p>
            <a:pPr algn="r"/>
            <a:r>
              <a:rPr lang="zh-CN" altLang="en-US" sz="1400" dirty="0"/>
              <a:t>总部</a:t>
            </a:r>
          </a:p>
        </p:txBody>
      </p:sp>
      <p:grpSp>
        <p:nvGrpSpPr>
          <p:cNvPr id="49" name="组合 48"/>
          <p:cNvGrpSpPr/>
          <p:nvPr/>
        </p:nvGrpSpPr>
        <p:grpSpPr bwMode="gray">
          <a:xfrm>
            <a:off x="1925636" y="3208867"/>
            <a:ext cx="2167425" cy="984442"/>
            <a:chOff x="10334607" y="2021997"/>
            <a:chExt cx="877561" cy="443671"/>
          </a:xfrm>
        </p:grpSpPr>
        <p:cxnSp>
          <p:nvCxnSpPr>
            <p:cNvPr id="50" name="直接连接符 49"/>
            <p:cNvCxnSpPr/>
            <p:nvPr/>
          </p:nvCxnSpPr>
          <p:spPr bwMode="gray">
            <a:xfrm rot="5400000" flipV="1">
              <a:off x="10597466" y="1841013"/>
              <a:ext cx="433716" cy="79568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gray">
            <a:xfrm rot="5400000" flipH="1" flipV="1">
              <a:off x="10518724" y="1837880"/>
              <a:ext cx="433719" cy="80195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rot="5400000" flipH="1">
              <a:off x="10957505" y="2201052"/>
              <a:ext cx="433718" cy="7560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rot="5400000" flipH="1" flipV="1">
              <a:off x="10150577" y="2206028"/>
              <a:ext cx="443671" cy="756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 name="任意多边形 3"/>
          <p:cNvSpPr/>
          <p:nvPr/>
        </p:nvSpPr>
        <p:spPr bwMode="gray">
          <a:xfrm rot="21313276">
            <a:off x="1765435" y="2060919"/>
            <a:ext cx="2097618" cy="3014134"/>
          </a:xfrm>
          <a:custGeom>
            <a:avLst/>
            <a:gdLst>
              <a:gd name="connsiteX0" fmla="*/ 2518779 w 3001379"/>
              <a:gd name="connsiteY0" fmla="*/ 2785534 h 2785534"/>
              <a:gd name="connsiteX1" fmla="*/ 766179 w 3001379"/>
              <a:gd name="connsiteY1" fmla="*/ 787400 h 2785534"/>
              <a:gd name="connsiteX2" fmla="*/ 114246 w 3001379"/>
              <a:gd name="connsiteY2" fmla="*/ 2311400 h 2785534"/>
              <a:gd name="connsiteX3" fmla="*/ 3001379 w 3001379"/>
              <a:gd name="connsiteY3" fmla="*/ 0 h 2785534"/>
              <a:gd name="connsiteX0" fmla="*/ 2487381 w 2487381"/>
              <a:gd name="connsiteY0" fmla="*/ 3014134 h 3014134"/>
              <a:gd name="connsiteX1" fmla="*/ 734781 w 2487381"/>
              <a:gd name="connsiteY1" fmla="*/ 1016000 h 3014134"/>
              <a:gd name="connsiteX2" fmla="*/ 82848 w 2487381"/>
              <a:gd name="connsiteY2" fmla="*/ 2540000 h 3014134"/>
              <a:gd name="connsiteX3" fmla="*/ 2487381 w 2487381"/>
              <a:gd name="connsiteY3" fmla="*/ 0 h 3014134"/>
              <a:gd name="connsiteX0" fmla="*/ 2487381 w 2505841"/>
              <a:gd name="connsiteY0" fmla="*/ 3014134 h 3014134"/>
              <a:gd name="connsiteX1" fmla="*/ 734781 w 2505841"/>
              <a:gd name="connsiteY1" fmla="*/ 1016000 h 3014134"/>
              <a:gd name="connsiteX2" fmla="*/ 82848 w 2505841"/>
              <a:gd name="connsiteY2" fmla="*/ 2540000 h 3014134"/>
              <a:gd name="connsiteX3" fmla="*/ 2487381 w 2505841"/>
              <a:gd name="connsiteY3" fmla="*/ 0 h 3014134"/>
              <a:gd name="connsiteX0" fmla="*/ 2459148 w 2477079"/>
              <a:gd name="connsiteY0" fmla="*/ 3014134 h 3014134"/>
              <a:gd name="connsiteX1" fmla="*/ 706548 w 2477079"/>
              <a:gd name="connsiteY1" fmla="*/ 1016000 h 3014134"/>
              <a:gd name="connsiteX2" fmla="*/ 54615 w 2477079"/>
              <a:gd name="connsiteY2" fmla="*/ 2540000 h 3014134"/>
              <a:gd name="connsiteX3" fmla="*/ 2459148 w 2477079"/>
              <a:gd name="connsiteY3" fmla="*/ 0 h 3014134"/>
              <a:gd name="connsiteX0" fmla="*/ 2281700 w 2301074"/>
              <a:gd name="connsiteY0" fmla="*/ 3014134 h 3014134"/>
              <a:gd name="connsiteX1" fmla="*/ 529100 w 2301074"/>
              <a:gd name="connsiteY1" fmla="*/ 1016000 h 3014134"/>
              <a:gd name="connsiteX2" fmla="*/ 71900 w 2301074"/>
              <a:gd name="connsiteY2" fmla="*/ 2345267 h 3014134"/>
              <a:gd name="connsiteX3" fmla="*/ 2281700 w 2301074"/>
              <a:gd name="connsiteY3" fmla="*/ 0 h 3014134"/>
              <a:gd name="connsiteX0" fmla="*/ 2411473 w 2433572"/>
              <a:gd name="connsiteY0" fmla="*/ 3014134 h 3014134"/>
              <a:gd name="connsiteX1" fmla="*/ 658873 w 2433572"/>
              <a:gd name="connsiteY1" fmla="*/ 1016000 h 3014134"/>
              <a:gd name="connsiteX2" fmla="*/ 201673 w 2433572"/>
              <a:gd name="connsiteY2" fmla="*/ 2345267 h 3014134"/>
              <a:gd name="connsiteX3" fmla="*/ 2411473 w 2433572"/>
              <a:gd name="connsiteY3" fmla="*/ 0 h 3014134"/>
              <a:gd name="connsiteX0" fmla="*/ 2294448 w 2314311"/>
              <a:gd name="connsiteY0" fmla="*/ 3014134 h 3014134"/>
              <a:gd name="connsiteX1" fmla="*/ 634981 w 2314311"/>
              <a:gd name="connsiteY1" fmla="*/ 1100667 h 3014134"/>
              <a:gd name="connsiteX2" fmla="*/ 84648 w 2314311"/>
              <a:gd name="connsiteY2" fmla="*/ 2345267 h 3014134"/>
              <a:gd name="connsiteX3" fmla="*/ 2294448 w 2314311"/>
              <a:gd name="connsiteY3" fmla="*/ 0 h 3014134"/>
              <a:gd name="connsiteX0" fmla="*/ 2368635 w 2388498"/>
              <a:gd name="connsiteY0" fmla="*/ 3014134 h 3014134"/>
              <a:gd name="connsiteX1" fmla="*/ 709168 w 2388498"/>
              <a:gd name="connsiteY1" fmla="*/ 1100667 h 3014134"/>
              <a:gd name="connsiteX2" fmla="*/ 158835 w 2388498"/>
              <a:gd name="connsiteY2" fmla="*/ 2345267 h 3014134"/>
              <a:gd name="connsiteX3" fmla="*/ 2368635 w 2388498"/>
              <a:gd name="connsiteY3" fmla="*/ 0 h 3014134"/>
              <a:gd name="connsiteX0" fmla="*/ 2303357 w 2323220"/>
              <a:gd name="connsiteY0" fmla="*/ 3014134 h 3014134"/>
              <a:gd name="connsiteX1" fmla="*/ 643890 w 2323220"/>
              <a:gd name="connsiteY1" fmla="*/ 1100667 h 3014134"/>
              <a:gd name="connsiteX2" fmla="*/ 93557 w 2323220"/>
              <a:gd name="connsiteY2" fmla="*/ 2345267 h 3014134"/>
              <a:gd name="connsiteX3" fmla="*/ 2303357 w 2323220"/>
              <a:gd name="connsiteY3" fmla="*/ 0 h 3014134"/>
              <a:gd name="connsiteX0" fmla="*/ 2331543 w 2351571"/>
              <a:gd name="connsiteY0" fmla="*/ 3014134 h 3014134"/>
              <a:gd name="connsiteX1" fmla="*/ 553543 w 2351571"/>
              <a:gd name="connsiteY1" fmla="*/ 1041400 h 3014134"/>
              <a:gd name="connsiteX2" fmla="*/ 121743 w 2351571"/>
              <a:gd name="connsiteY2" fmla="*/ 2345267 h 3014134"/>
              <a:gd name="connsiteX3" fmla="*/ 2331543 w 2351571"/>
              <a:gd name="connsiteY3" fmla="*/ 0 h 3014134"/>
              <a:gd name="connsiteX0" fmla="*/ 2372368 w 2392396"/>
              <a:gd name="connsiteY0" fmla="*/ 3014134 h 3014134"/>
              <a:gd name="connsiteX1" fmla="*/ 594368 w 2392396"/>
              <a:gd name="connsiteY1" fmla="*/ 1041400 h 3014134"/>
              <a:gd name="connsiteX2" fmla="*/ 162568 w 2392396"/>
              <a:gd name="connsiteY2" fmla="*/ 2345267 h 3014134"/>
              <a:gd name="connsiteX3" fmla="*/ 2372368 w 2392396"/>
              <a:gd name="connsiteY3" fmla="*/ 0 h 3014134"/>
              <a:gd name="connsiteX0" fmla="*/ 2316216 w 2335231"/>
              <a:gd name="connsiteY0" fmla="*/ 3014134 h 3014134"/>
              <a:gd name="connsiteX1" fmla="*/ 538216 w 2335231"/>
              <a:gd name="connsiteY1" fmla="*/ 1041400 h 3014134"/>
              <a:gd name="connsiteX2" fmla="*/ 106416 w 2335231"/>
              <a:gd name="connsiteY2" fmla="*/ 2345267 h 3014134"/>
              <a:gd name="connsiteX3" fmla="*/ 2316216 w 2335231"/>
              <a:gd name="connsiteY3" fmla="*/ 0 h 3014134"/>
              <a:gd name="connsiteX0" fmla="*/ 2372368 w 2392396"/>
              <a:gd name="connsiteY0" fmla="*/ 3014134 h 3014134"/>
              <a:gd name="connsiteX1" fmla="*/ 594368 w 2392396"/>
              <a:gd name="connsiteY1" fmla="*/ 1041400 h 3014134"/>
              <a:gd name="connsiteX2" fmla="*/ 162568 w 2392396"/>
              <a:gd name="connsiteY2" fmla="*/ 2345267 h 3014134"/>
              <a:gd name="connsiteX3" fmla="*/ 2372368 w 2392396"/>
              <a:gd name="connsiteY3" fmla="*/ 0 h 3014134"/>
              <a:gd name="connsiteX0" fmla="*/ 2254901 w 2275602"/>
              <a:gd name="connsiteY0" fmla="*/ 3014134 h 3014134"/>
              <a:gd name="connsiteX1" fmla="*/ 476901 w 2275602"/>
              <a:gd name="connsiteY1" fmla="*/ 1041400 h 3014134"/>
              <a:gd name="connsiteX2" fmla="*/ 121301 w 2275602"/>
              <a:gd name="connsiteY2" fmla="*/ 2294467 h 3014134"/>
              <a:gd name="connsiteX3" fmla="*/ 2254901 w 2275602"/>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84247 w 2304948"/>
              <a:gd name="connsiteY0" fmla="*/ 3014134 h 3014134"/>
              <a:gd name="connsiteX1" fmla="*/ 506247 w 2304948"/>
              <a:gd name="connsiteY1" fmla="*/ 1041400 h 3014134"/>
              <a:gd name="connsiteX2" fmla="*/ 150647 w 2304948"/>
              <a:gd name="connsiteY2" fmla="*/ 2294467 h 3014134"/>
              <a:gd name="connsiteX3" fmla="*/ 2284247 w 2304948"/>
              <a:gd name="connsiteY3" fmla="*/ 0 h 3014134"/>
              <a:gd name="connsiteX0" fmla="*/ 2276607 w 2297308"/>
              <a:gd name="connsiteY0" fmla="*/ 3014134 h 3014134"/>
              <a:gd name="connsiteX1" fmla="*/ 498607 w 2297308"/>
              <a:gd name="connsiteY1" fmla="*/ 1041400 h 3014134"/>
              <a:gd name="connsiteX2" fmla="*/ 143007 w 2297308"/>
              <a:gd name="connsiteY2" fmla="*/ 2294467 h 3014134"/>
              <a:gd name="connsiteX3" fmla="*/ 2276607 w 2297308"/>
              <a:gd name="connsiteY3" fmla="*/ 0 h 3014134"/>
              <a:gd name="connsiteX0" fmla="*/ 2266005 w 2286706"/>
              <a:gd name="connsiteY0" fmla="*/ 3014134 h 3014134"/>
              <a:gd name="connsiteX1" fmla="*/ 488005 w 2286706"/>
              <a:gd name="connsiteY1" fmla="*/ 1041400 h 3014134"/>
              <a:gd name="connsiteX2" fmla="*/ 132405 w 2286706"/>
              <a:gd name="connsiteY2" fmla="*/ 2294467 h 3014134"/>
              <a:gd name="connsiteX3" fmla="*/ 2266005 w 2286706"/>
              <a:gd name="connsiteY3" fmla="*/ 0 h 3014134"/>
              <a:gd name="connsiteX0" fmla="*/ 2286230 w 2306931"/>
              <a:gd name="connsiteY0" fmla="*/ 3014134 h 3014134"/>
              <a:gd name="connsiteX1" fmla="*/ 508230 w 2306931"/>
              <a:gd name="connsiteY1" fmla="*/ 1041400 h 3014134"/>
              <a:gd name="connsiteX2" fmla="*/ 152630 w 2306931"/>
              <a:gd name="connsiteY2" fmla="*/ 2294467 h 3014134"/>
              <a:gd name="connsiteX3" fmla="*/ 2286230 w 2306931"/>
              <a:gd name="connsiteY3" fmla="*/ 0 h 3014134"/>
              <a:gd name="connsiteX0" fmla="*/ 2300907 w 2321608"/>
              <a:gd name="connsiteY0" fmla="*/ 3014134 h 3014134"/>
              <a:gd name="connsiteX1" fmla="*/ 522907 w 2321608"/>
              <a:gd name="connsiteY1" fmla="*/ 1041400 h 3014134"/>
              <a:gd name="connsiteX2" fmla="*/ 167307 w 2321608"/>
              <a:gd name="connsiteY2" fmla="*/ 2294467 h 3014134"/>
              <a:gd name="connsiteX3" fmla="*/ 2300907 w 2321608"/>
              <a:gd name="connsiteY3" fmla="*/ 0 h 3014134"/>
              <a:gd name="connsiteX0" fmla="*/ 2315833 w 2336841"/>
              <a:gd name="connsiteY0" fmla="*/ 3014134 h 3014134"/>
              <a:gd name="connsiteX1" fmla="*/ 537833 w 2336841"/>
              <a:gd name="connsiteY1" fmla="*/ 1041400 h 3014134"/>
              <a:gd name="connsiteX2" fmla="*/ 182233 w 2336841"/>
              <a:gd name="connsiteY2" fmla="*/ 2294467 h 3014134"/>
              <a:gd name="connsiteX3" fmla="*/ 2315833 w 2336841"/>
              <a:gd name="connsiteY3" fmla="*/ 0 h 3014134"/>
              <a:gd name="connsiteX0" fmla="*/ 2330775 w 2352100"/>
              <a:gd name="connsiteY0" fmla="*/ 3014134 h 3014134"/>
              <a:gd name="connsiteX1" fmla="*/ 552775 w 2352100"/>
              <a:gd name="connsiteY1" fmla="*/ 1041400 h 3014134"/>
              <a:gd name="connsiteX2" fmla="*/ 197175 w 2352100"/>
              <a:gd name="connsiteY2" fmla="*/ 2294467 h 3014134"/>
              <a:gd name="connsiteX3" fmla="*/ 2330775 w 2352100"/>
              <a:gd name="connsiteY3" fmla="*/ 0 h 3014134"/>
              <a:gd name="connsiteX0" fmla="*/ 2356955 w 2378857"/>
              <a:gd name="connsiteY0" fmla="*/ 3014134 h 3014134"/>
              <a:gd name="connsiteX1" fmla="*/ 578955 w 2378857"/>
              <a:gd name="connsiteY1" fmla="*/ 1041400 h 3014134"/>
              <a:gd name="connsiteX2" fmla="*/ 223355 w 2378857"/>
              <a:gd name="connsiteY2" fmla="*/ 2294467 h 3014134"/>
              <a:gd name="connsiteX3" fmla="*/ 2356955 w 2378857"/>
              <a:gd name="connsiteY3" fmla="*/ 0 h 3014134"/>
              <a:gd name="connsiteX0" fmla="*/ 2390659 w 2413349"/>
              <a:gd name="connsiteY0" fmla="*/ 3014134 h 3014134"/>
              <a:gd name="connsiteX1" fmla="*/ 612659 w 2413349"/>
              <a:gd name="connsiteY1" fmla="*/ 1041400 h 3014134"/>
              <a:gd name="connsiteX2" fmla="*/ 257059 w 2413349"/>
              <a:gd name="connsiteY2" fmla="*/ 2294467 h 3014134"/>
              <a:gd name="connsiteX3" fmla="*/ 2390659 w 2413349"/>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71930 w 2386437"/>
              <a:gd name="connsiteY0" fmla="*/ 3014134 h 3014134"/>
              <a:gd name="connsiteX1" fmla="*/ 593930 w 2386437"/>
              <a:gd name="connsiteY1" fmla="*/ 1041400 h 3014134"/>
              <a:gd name="connsiteX2" fmla="*/ 238330 w 2386437"/>
              <a:gd name="connsiteY2" fmla="*/ 2294467 h 3014134"/>
              <a:gd name="connsiteX3" fmla="*/ 2371930 w 2386437"/>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90659 w 2405166"/>
              <a:gd name="connsiteY0" fmla="*/ 3014134 h 3014134"/>
              <a:gd name="connsiteX1" fmla="*/ 612659 w 2405166"/>
              <a:gd name="connsiteY1" fmla="*/ 1041400 h 3014134"/>
              <a:gd name="connsiteX2" fmla="*/ 257059 w 2405166"/>
              <a:gd name="connsiteY2" fmla="*/ 2294467 h 3014134"/>
              <a:gd name="connsiteX3" fmla="*/ 2390659 w 2405166"/>
              <a:gd name="connsiteY3" fmla="*/ 0 h 3014134"/>
              <a:gd name="connsiteX0" fmla="*/ 2375675 w 2390182"/>
              <a:gd name="connsiteY0" fmla="*/ 3014134 h 3014134"/>
              <a:gd name="connsiteX1" fmla="*/ 597675 w 2390182"/>
              <a:gd name="connsiteY1" fmla="*/ 1041400 h 3014134"/>
              <a:gd name="connsiteX2" fmla="*/ 242075 w 2390182"/>
              <a:gd name="connsiteY2" fmla="*/ 2294467 h 3014134"/>
              <a:gd name="connsiteX3" fmla="*/ 2375675 w 2390182"/>
              <a:gd name="connsiteY3" fmla="*/ 0 h 3014134"/>
              <a:gd name="connsiteX0" fmla="*/ 2360699 w 2375206"/>
              <a:gd name="connsiteY0" fmla="*/ 3014134 h 3014134"/>
              <a:gd name="connsiteX1" fmla="*/ 582699 w 2375206"/>
              <a:gd name="connsiteY1" fmla="*/ 1041400 h 3014134"/>
              <a:gd name="connsiteX2" fmla="*/ 227099 w 2375206"/>
              <a:gd name="connsiteY2" fmla="*/ 2294467 h 3014134"/>
              <a:gd name="connsiteX3" fmla="*/ 2360699 w 2375206"/>
              <a:gd name="connsiteY3" fmla="*/ 0 h 3014134"/>
              <a:gd name="connsiteX0" fmla="*/ 2330776 w 2345283"/>
              <a:gd name="connsiteY0" fmla="*/ 3014134 h 3014134"/>
              <a:gd name="connsiteX1" fmla="*/ 552776 w 2345283"/>
              <a:gd name="connsiteY1" fmla="*/ 1041400 h 3014134"/>
              <a:gd name="connsiteX2" fmla="*/ 197176 w 2345283"/>
              <a:gd name="connsiteY2" fmla="*/ 2294467 h 3014134"/>
              <a:gd name="connsiteX3" fmla="*/ 2330776 w 2345283"/>
              <a:gd name="connsiteY3" fmla="*/ 0 h 3014134"/>
              <a:gd name="connsiteX0" fmla="*/ 2277666 w 2290414"/>
              <a:gd name="connsiteY0" fmla="*/ 3014134 h 3014134"/>
              <a:gd name="connsiteX1" fmla="*/ 499666 w 2290414"/>
              <a:gd name="connsiteY1" fmla="*/ 1041400 h 3014134"/>
              <a:gd name="connsiteX2" fmla="*/ 152533 w 2290414"/>
              <a:gd name="connsiteY2" fmla="*/ 2226733 h 3014134"/>
              <a:gd name="connsiteX3" fmla="*/ 2277666 w 2290414"/>
              <a:gd name="connsiteY3" fmla="*/ 0 h 3014134"/>
              <a:gd name="connsiteX0" fmla="*/ 2311256 w 2324004"/>
              <a:gd name="connsiteY0" fmla="*/ 3014134 h 3014134"/>
              <a:gd name="connsiteX1" fmla="*/ 533256 w 2324004"/>
              <a:gd name="connsiteY1" fmla="*/ 1041400 h 3014134"/>
              <a:gd name="connsiteX2" fmla="*/ 186123 w 2324004"/>
              <a:gd name="connsiteY2" fmla="*/ 2226733 h 3014134"/>
              <a:gd name="connsiteX3" fmla="*/ 2311256 w 2324004"/>
              <a:gd name="connsiteY3" fmla="*/ 0 h 3014134"/>
              <a:gd name="connsiteX0" fmla="*/ 2339730 w 2353544"/>
              <a:gd name="connsiteY0" fmla="*/ 3014134 h 3014134"/>
              <a:gd name="connsiteX1" fmla="*/ 561730 w 2353544"/>
              <a:gd name="connsiteY1" fmla="*/ 1041400 h 3014134"/>
              <a:gd name="connsiteX2" fmla="*/ 214597 w 2353544"/>
              <a:gd name="connsiteY2" fmla="*/ 2226733 h 3014134"/>
              <a:gd name="connsiteX3" fmla="*/ 2339730 w 2353544"/>
              <a:gd name="connsiteY3" fmla="*/ 0 h 3014134"/>
              <a:gd name="connsiteX0" fmla="*/ 2347702 w 2361810"/>
              <a:gd name="connsiteY0" fmla="*/ 3014134 h 3014134"/>
              <a:gd name="connsiteX1" fmla="*/ 569702 w 2361810"/>
              <a:gd name="connsiteY1" fmla="*/ 1041400 h 3014134"/>
              <a:gd name="connsiteX2" fmla="*/ 222569 w 2361810"/>
              <a:gd name="connsiteY2" fmla="*/ 2226733 h 3014134"/>
              <a:gd name="connsiteX3" fmla="*/ 2347702 w 2361810"/>
              <a:gd name="connsiteY3" fmla="*/ 0 h 3014134"/>
            </a:gdLst>
            <a:ahLst/>
            <a:cxnLst>
              <a:cxn ang="0">
                <a:pos x="connsiteX0" y="connsiteY0"/>
              </a:cxn>
              <a:cxn ang="0">
                <a:pos x="connsiteX1" y="connsiteY1"/>
              </a:cxn>
              <a:cxn ang="0">
                <a:pos x="connsiteX2" y="connsiteY2"/>
              </a:cxn>
              <a:cxn ang="0">
                <a:pos x="connsiteX3" y="connsiteY3"/>
              </a:cxn>
            </a:cxnLst>
            <a:rect l="l" t="t" r="r" b="b"/>
            <a:pathLst>
              <a:path w="2361810" h="3014134">
                <a:moveTo>
                  <a:pt x="2347702" y="3014134"/>
                </a:moveTo>
                <a:cubicBezTo>
                  <a:pt x="2518446" y="1732844"/>
                  <a:pt x="1093224" y="935567"/>
                  <a:pt x="569702" y="1041400"/>
                </a:cubicBezTo>
                <a:cubicBezTo>
                  <a:pt x="46180" y="1147233"/>
                  <a:pt x="-217698" y="2247900"/>
                  <a:pt x="222569" y="2226733"/>
                </a:cubicBezTo>
                <a:cubicBezTo>
                  <a:pt x="662836" y="2205566"/>
                  <a:pt x="2301135" y="1733549"/>
                  <a:pt x="2347702" y="0"/>
                </a:cubicBezTo>
              </a:path>
            </a:pathLst>
          </a:custGeom>
          <a:noFill/>
          <a:ln w="57150">
            <a:solidFill>
              <a:srgbClr val="92D050"/>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bwMode="gray">
          <a:xfrm>
            <a:off x="5411512" y="2709908"/>
            <a:ext cx="5824395"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方案描述</a:t>
            </a:r>
          </a:p>
        </p:txBody>
      </p:sp>
      <p:sp>
        <p:nvSpPr>
          <p:cNvPr id="55" name="圆角矩形 54"/>
          <p:cNvSpPr/>
          <p:nvPr/>
        </p:nvSpPr>
        <p:spPr bwMode="gray">
          <a:xfrm>
            <a:off x="5411512" y="3126704"/>
            <a:ext cx="5824395" cy="2102521"/>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r>
              <a:rPr lang="zh-CN" altLang="en-US" sz="1400" dirty="0">
                <a:solidFill>
                  <a:schemeClr val="tx1"/>
                </a:solidFill>
              </a:rPr>
              <a:t>在</a:t>
            </a:r>
            <a:r>
              <a:rPr lang="en-US" altLang="zh-CN" sz="1400" dirty="0">
                <a:solidFill>
                  <a:schemeClr val="tx1"/>
                </a:solidFill>
              </a:rPr>
              <a:t>SD-WAN</a:t>
            </a:r>
            <a:r>
              <a:rPr lang="zh-CN" altLang="en-US" sz="1400" dirty="0">
                <a:solidFill>
                  <a:schemeClr val="tx1"/>
                </a:solidFill>
              </a:rPr>
              <a:t>网络中同时配置本地上网和集中</a:t>
            </a:r>
            <a:r>
              <a:rPr lang="zh-CN" altLang="en-US" sz="1400">
                <a:solidFill>
                  <a:schemeClr val="tx1"/>
                </a:solidFill>
              </a:rPr>
              <a:t>上网功能。</a:t>
            </a: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集中上网站点处配置本地上网，采用全部流量都从本地上网</a:t>
            </a:r>
            <a:r>
              <a:rPr lang="zh-CN" altLang="en-US" sz="1400">
                <a:solidFill>
                  <a:schemeClr val="tx1"/>
                </a:solidFill>
              </a:rPr>
              <a:t>的方式。</a:t>
            </a: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其他站点开启本地上网功能，配置为指定应用流量从</a:t>
            </a:r>
            <a:r>
              <a:rPr lang="zh-CN" altLang="en-US" sz="1400">
                <a:solidFill>
                  <a:schemeClr val="tx1"/>
                </a:solidFill>
              </a:rPr>
              <a:t>本地上网。</a:t>
            </a: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默认上网流量通过集中上网站点出局，特定的业务体验敏感的业务流量通过本地</a:t>
            </a:r>
            <a:r>
              <a:rPr lang="en-US" altLang="zh-CN" sz="1400" dirty="0">
                <a:solidFill>
                  <a:schemeClr val="tx1"/>
                </a:solidFill>
              </a:rPr>
              <a:t>WAN</a:t>
            </a:r>
            <a:r>
              <a:rPr lang="zh-CN" altLang="en-US" sz="1400" dirty="0">
                <a:solidFill>
                  <a:schemeClr val="tx1"/>
                </a:solidFill>
              </a:rPr>
              <a:t>侧链路</a:t>
            </a:r>
            <a:r>
              <a:rPr lang="zh-CN" altLang="en-US" sz="1400">
                <a:solidFill>
                  <a:schemeClr val="tx1"/>
                </a:solidFill>
              </a:rPr>
              <a:t>直接上网。</a:t>
            </a:r>
            <a:endParaRPr lang="zh-CN" altLang="en-US" sz="1400" dirty="0">
              <a:solidFill>
                <a:schemeClr val="tx1"/>
              </a:solidFill>
            </a:endParaRPr>
          </a:p>
        </p:txBody>
      </p:sp>
      <p:sp>
        <p:nvSpPr>
          <p:cNvPr id="56" name="圆角矩形 55"/>
          <p:cNvSpPr/>
          <p:nvPr/>
        </p:nvSpPr>
        <p:spPr bwMode="gray">
          <a:xfrm>
            <a:off x="5411512" y="1280767"/>
            <a:ext cx="5824395"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适用场景</a:t>
            </a:r>
          </a:p>
        </p:txBody>
      </p:sp>
      <p:sp>
        <p:nvSpPr>
          <p:cNvPr id="57" name="圆角矩形 56"/>
          <p:cNvSpPr/>
          <p:nvPr/>
        </p:nvSpPr>
        <p:spPr bwMode="gray">
          <a:xfrm>
            <a:off x="5411512" y="1697564"/>
            <a:ext cx="5824395" cy="818803"/>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r>
              <a:rPr lang="zh-CN" altLang="en-US" sz="1400" dirty="0">
                <a:solidFill>
                  <a:schemeClr val="tx1"/>
                </a:solidFill>
              </a:rPr>
              <a:t>一般适用于站点有访问</a:t>
            </a:r>
            <a:r>
              <a:rPr lang="en-US" altLang="zh-CN" sz="1400" dirty="0">
                <a:solidFill>
                  <a:schemeClr val="tx1"/>
                </a:solidFill>
              </a:rPr>
              <a:t>Internet</a:t>
            </a:r>
            <a:r>
              <a:rPr lang="zh-CN" altLang="en-US" sz="1400" dirty="0">
                <a:solidFill>
                  <a:schemeClr val="tx1"/>
                </a:solidFill>
              </a:rPr>
              <a:t>的链路，且需对大部分上网流量进行集中安全管控，部分应用出于</a:t>
            </a:r>
            <a:r>
              <a:rPr lang="en-US" altLang="zh-CN" sz="1400" dirty="0">
                <a:solidFill>
                  <a:schemeClr val="tx1"/>
                </a:solidFill>
              </a:rPr>
              <a:t>SLA</a:t>
            </a:r>
            <a:r>
              <a:rPr lang="zh-CN" altLang="en-US" sz="1400" dirty="0">
                <a:solidFill>
                  <a:schemeClr val="tx1"/>
                </a:solidFill>
              </a:rPr>
              <a:t>质量要求可本地出局的场景。</a:t>
            </a:r>
          </a:p>
        </p:txBody>
      </p:sp>
      <p:sp>
        <p:nvSpPr>
          <p:cNvPr id="3" name="任意多边形 2"/>
          <p:cNvSpPr/>
          <p:nvPr/>
        </p:nvSpPr>
        <p:spPr bwMode="blackGray">
          <a:xfrm rot="21208244">
            <a:off x="3990627" y="1963684"/>
            <a:ext cx="265573" cy="3011647"/>
          </a:xfrm>
          <a:custGeom>
            <a:avLst/>
            <a:gdLst>
              <a:gd name="connsiteX0" fmla="*/ 1623 w 265573"/>
              <a:gd name="connsiteY0" fmla="*/ 2912883 h 2912883"/>
              <a:gd name="connsiteX1" fmla="*/ 39330 w 265573"/>
              <a:gd name="connsiteY1" fmla="*/ 857839 h 2912883"/>
              <a:gd name="connsiteX2" fmla="*/ 265573 w 265573"/>
              <a:gd name="connsiteY2" fmla="*/ 0 h 2912883"/>
            </a:gdLst>
            <a:ahLst/>
            <a:cxnLst>
              <a:cxn ang="0">
                <a:pos x="connsiteX0" y="connsiteY0"/>
              </a:cxn>
              <a:cxn ang="0">
                <a:pos x="connsiteX1" y="connsiteY1"/>
              </a:cxn>
              <a:cxn ang="0">
                <a:pos x="connsiteX2" y="connsiteY2"/>
              </a:cxn>
            </a:cxnLst>
            <a:rect l="l" t="t" r="r" b="b"/>
            <a:pathLst>
              <a:path w="265573" h="2912883">
                <a:moveTo>
                  <a:pt x="1623" y="2912883"/>
                </a:moveTo>
                <a:cubicBezTo>
                  <a:pt x="-1520" y="2128101"/>
                  <a:pt x="-4662" y="1343319"/>
                  <a:pt x="39330" y="857839"/>
                </a:cubicBezTo>
                <a:cubicBezTo>
                  <a:pt x="83322" y="372358"/>
                  <a:pt x="174447" y="186179"/>
                  <a:pt x="265573" y="0"/>
                </a:cubicBezTo>
              </a:path>
            </a:pathLst>
          </a:custGeom>
          <a:noFill/>
          <a:ln w="57150">
            <a:solidFill>
              <a:srgbClr val="FFC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43"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41993264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159">
            <a:extLst>
              <a:ext uri="{FF2B5EF4-FFF2-40B4-BE49-F238E27FC236}">
                <a16:creationId xmlns:a16="http://schemas.microsoft.com/office/drawing/2014/main" id="{4DB5E16C-3096-466F-BCA2-9712B696E4C5}"/>
              </a:ext>
            </a:extLst>
          </p:cNvPr>
          <p:cNvSpPr/>
          <p:nvPr/>
        </p:nvSpPr>
        <p:spPr bwMode="gray">
          <a:xfrm flipH="1">
            <a:off x="1295441" y="2525934"/>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Internet 1</a:t>
            </a:r>
            <a:endParaRPr lang="en-US" dirty="0">
              <a:solidFill>
                <a:schemeClr val="tx1"/>
              </a:solidFill>
            </a:endParaRPr>
          </a:p>
        </p:txBody>
      </p:sp>
      <p:sp>
        <p:nvSpPr>
          <p:cNvPr id="31" name="Freeform 159">
            <a:extLst>
              <a:ext uri="{FF2B5EF4-FFF2-40B4-BE49-F238E27FC236}">
                <a16:creationId xmlns:a16="http://schemas.microsoft.com/office/drawing/2014/main" id="{F38A43AF-517B-4174-A0EA-EE5A8C64EFE8}"/>
              </a:ext>
            </a:extLst>
          </p:cNvPr>
          <p:cNvSpPr/>
          <p:nvPr/>
        </p:nvSpPr>
        <p:spPr bwMode="gray">
          <a:xfrm flipH="1">
            <a:off x="2505492" y="2537645"/>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Internet 2</a:t>
            </a:r>
            <a:endParaRPr lang="en-US" dirty="0">
              <a:solidFill>
                <a:schemeClr val="tx1"/>
              </a:solidFill>
            </a:endParaRPr>
          </a:p>
        </p:txBody>
      </p:sp>
      <p:sp>
        <p:nvSpPr>
          <p:cNvPr id="32" name="Freeform 159">
            <a:extLst>
              <a:ext uri="{FF2B5EF4-FFF2-40B4-BE49-F238E27FC236}">
                <a16:creationId xmlns:a16="http://schemas.microsoft.com/office/drawing/2014/main" id="{F9003B29-6ECE-4E40-9824-CA776888C6C8}"/>
              </a:ext>
            </a:extLst>
          </p:cNvPr>
          <p:cNvSpPr/>
          <p:nvPr/>
        </p:nvSpPr>
        <p:spPr bwMode="gray">
          <a:xfrm flipH="1">
            <a:off x="3780292" y="2537645"/>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Internet 3</a:t>
            </a:r>
            <a:endParaRPr lang="en-US" dirty="0">
              <a:solidFill>
                <a:schemeClr val="tx1"/>
              </a:solidFill>
            </a:endParaRPr>
          </a:p>
        </p:txBody>
      </p:sp>
      <p:sp>
        <p:nvSpPr>
          <p:cNvPr id="2" name="标题 1"/>
          <p:cNvSpPr>
            <a:spLocks noGrp="1"/>
          </p:cNvSpPr>
          <p:nvPr>
            <p:ph type="title"/>
          </p:nvPr>
        </p:nvSpPr>
        <p:spPr bwMode="gray"/>
        <p:txBody>
          <a:bodyPr/>
          <a:lstStyle/>
          <a:p>
            <a:r>
              <a:rPr lang="zh-CN" altLang="en-US" dirty="0"/>
              <a:t>互联网访问链路可靠性</a:t>
            </a:r>
          </a:p>
        </p:txBody>
      </p:sp>
      <p:sp>
        <p:nvSpPr>
          <p:cNvPr id="80" name="矩形 79"/>
          <p:cNvSpPr/>
          <p:nvPr/>
        </p:nvSpPr>
        <p:spPr bwMode="gray">
          <a:xfrm>
            <a:off x="5674051" y="1081680"/>
            <a:ext cx="6038524" cy="3875933"/>
          </a:xfrm>
          <a:prstGeom prst="rect">
            <a:avLst/>
          </a:prstGeom>
        </p:spPr>
        <p:txBody>
          <a:bodyPr wrap="square">
            <a:spAutoFit/>
          </a:bodyPr>
          <a:lstStyle/>
          <a:p>
            <a:pPr marL="176213" indent="-176213" algn="just">
              <a:lnSpc>
                <a:spcPts val="2400"/>
              </a:lnSpc>
              <a:spcAft>
                <a:spcPts val="600"/>
              </a:spcAft>
              <a:buFont typeface="Arial" panose="020B0604020202020204" pitchFamily="34" charset="0"/>
              <a:buChar char="•"/>
            </a:pPr>
            <a:r>
              <a:rPr lang="zh-CN" altLang="en-US" b="1" dirty="0">
                <a:solidFill>
                  <a:srgbClr val="333333"/>
                </a:solidFill>
                <a:latin typeface="+mj-lt"/>
              </a:rPr>
              <a:t>备份链路方案设计：</a:t>
            </a:r>
            <a:endParaRPr lang="en-US" altLang="zh-CN" b="1" dirty="0">
              <a:solidFill>
                <a:srgbClr val="333333"/>
              </a:solidFill>
              <a:latin typeface="+mj-lt"/>
            </a:endParaRP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访问互联网以站点为单位进行设置，每个站点最多可以设置三个</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WAN Link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作为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Site to Internet</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的接入链路。</a:t>
            </a: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每个</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WAN Link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在作为访问互联网链路时都有一个</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Link Priority</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的优先级。目前优先级不可相同，即同一时刻只有一个</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WAN Link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会作为访问互联网的激活链路。</a:t>
            </a: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当优先级高的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WAN Link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发生故障，访问互联网的流量会自动切换至次高优先级的链路上。</a:t>
            </a:r>
          </a:p>
          <a:p>
            <a:pPr marL="759519" lvl="1" indent="-302279" algn="just" defTabSz="914034" fontAlgn="ctr">
              <a:lnSpc>
                <a:spcPct val="140000"/>
              </a:lnSpc>
              <a:spcBef>
                <a:spcPts val="792"/>
              </a:spcBef>
              <a:spcAft>
                <a:spcPts val="600"/>
              </a:spcAft>
              <a:buSzPct val="50000"/>
              <a:buFont typeface="Wingdings" panose="05000000000000000000" pitchFamily="2" charset="2"/>
              <a:buChar cha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备份链路与混合上网方式可以同时使能。</a:t>
            </a:r>
          </a:p>
        </p:txBody>
      </p:sp>
      <p:cxnSp>
        <p:nvCxnSpPr>
          <p:cNvPr id="77" name="直接连接符 76"/>
          <p:cNvCxnSpPr>
            <a:cxnSpLocks/>
            <a:stCxn id="31" idx="1"/>
          </p:cNvCxnSpPr>
          <p:nvPr/>
        </p:nvCxnSpPr>
        <p:spPr bwMode="gray">
          <a:xfrm flipH="1" flipV="1">
            <a:off x="3076884" y="1904214"/>
            <a:ext cx="61418" cy="71791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8" name="图片 7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806884" y="1483352"/>
            <a:ext cx="540000" cy="442800"/>
          </a:xfrm>
          <a:prstGeom prst="rect">
            <a:avLst/>
          </a:prstGeom>
        </p:spPr>
      </p:pic>
      <p:pic>
        <p:nvPicPr>
          <p:cNvPr id="83" name="图片 8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000770" y="4186265"/>
            <a:ext cx="490909" cy="402545"/>
          </a:xfrm>
          <a:prstGeom prst="rect">
            <a:avLst/>
          </a:prstGeom>
        </p:spPr>
      </p:pic>
      <p:sp>
        <p:nvSpPr>
          <p:cNvPr id="84" name="文本框 83"/>
          <p:cNvSpPr txBox="1"/>
          <p:nvPr/>
        </p:nvSpPr>
        <p:spPr bwMode="gray">
          <a:xfrm>
            <a:off x="3445463" y="4233648"/>
            <a:ext cx="649537" cy="307777"/>
          </a:xfrm>
          <a:prstGeom prst="rect">
            <a:avLst/>
          </a:prstGeom>
          <a:noFill/>
        </p:spPr>
        <p:txBody>
          <a:bodyPr wrap="none" rtlCol="0">
            <a:spAutoFit/>
          </a:bodyPr>
          <a:lstStyle/>
          <a:p>
            <a:r>
              <a:rPr lang="en-US" altLang="zh-CN" sz="1400" dirty="0"/>
              <a:t>EDGE</a:t>
            </a:r>
            <a:endParaRPr lang="zh-CN" altLang="en-US" sz="1400" dirty="0"/>
          </a:p>
        </p:txBody>
      </p:sp>
      <p:pic>
        <p:nvPicPr>
          <p:cNvPr id="87" name="图片 86" descr="PC.png"/>
          <p:cNvPicPr>
            <a:picLocks noChangeAspect="1"/>
          </p:cNvPicPr>
          <p:nvPr/>
        </p:nvPicPr>
        <p:blipFill>
          <a:blip r:embed="rId5" cstate="print"/>
          <a:stretch>
            <a:fillRect/>
          </a:stretch>
        </p:blipFill>
        <p:spPr bwMode="gray">
          <a:xfrm>
            <a:off x="3023471" y="5001429"/>
            <a:ext cx="445506" cy="342149"/>
          </a:xfrm>
          <a:prstGeom prst="rect">
            <a:avLst/>
          </a:prstGeom>
        </p:spPr>
      </p:pic>
      <p:sp>
        <p:nvSpPr>
          <p:cNvPr id="88" name="圆角矩形 87"/>
          <p:cNvSpPr/>
          <p:nvPr/>
        </p:nvSpPr>
        <p:spPr bwMode="gray">
          <a:xfrm>
            <a:off x="2397771" y="4007189"/>
            <a:ext cx="1696907" cy="176252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endParaRPr>
          </a:p>
        </p:txBody>
      </p:sp>
      <p:sp>
        <p:nvSpPr>
          <p:cNvPr id="89" name="文本框 88"/>
          <p:cNvSpPr txBox="1"/>
          <p:nvPr/>
        </p:nvSpPr>
        <p:spPr bwMode="gray">
          <a:xfrm>
            <a:off x="3516324" y="5448420"/>
            <a:ext cx="543739" cy="307777"/>
          </a:xfrm>
          <a:prstGeom prst="rect">
            <a:avLst/>
          </a:prstGeom>
          <a:noFill/>
        </p:spPr>
        <p:txBody>
          <a:bodyPr wrap="none" rtlCol="0">
            <a:spAutoFit/>
          </a:bodyPr>
          <a:lstStyle/>
          <a:p>
            <a:pPr algn="r"/>
            <a:r>
              <a:rPr lang="zh-CN" altLang="en-US" sz="1400"/>
              <a:t>分支</a:t>
            </a:r>
          </a:p>
        </p:txBody>
      </p:sp>
      <p:cxnSp>
        <p:nvCxnSpPr>
          <p:cNvPr id="117" name="直接连接符 116"/>
          <p:cNvCxnSpPr>
            <a:cxnSpLocks/>
            <a:stCxn id="83" idx="0"/>
          </p:cNvCxnSpPr>
          <p:nvPr/>
        </p:nvCxnSpPr>
        <p:spPr bwMode="gray">
          <a:xfrm flipH="1" flipV="1">
            <a:off x="3107360" y="3129650"/>
            <a:ext cx="138865" cy="105661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cxnSpLocks/>
            <a:stCxn id="83" idx="0"/>
          </p:cNvCxnSpPr>
          <p:nvPr/>
        </p:nvCxnSpPr>
        <p:spPr bwMode="gray">
          <a:xfrm flipH="1" flipV="1">
            <a:off x="1851309" y="3103904"/>
            <a:ext cx="1394916" cy="108236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cxnSpLocks/>
            <a:stCxn id="83" idx="0"/>
          </p:cNvCxnSpPr>
          <p:nvPr/>
        </p:nvCxnSpPr>
        <p:spPr bwMode="gray">
          <a:xfrm flipV="1">
            <a:off x="3246225" y="3141361"/>
            <a:ext cx="1085315" cy="104490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a:cxnSpLocks/>
            <a:stCxn id="29" idx="1"/>
            <a:endCxn id="78" idx="2"/>
          </p:cNvCxnSpPr>
          <p:nvPr/>
        </p:nvCxnSpPr>
        <p:spPr bwMode="gray">
          <a:xfrm flipV="1">
            <a:off x="1928251" y="1926152"/>
            <a:ext cx="1148633" cy="68426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cxnSpLocks/>
            <a:stCxn id="32" idx="0"/>
            <a:endCxn id="78" idx="2"/>
          </p:cNvCxnSpPr>
          <p:nvPr/>
        </p:nvCxnSpPr>
        <p:spPr bwMode="gray">
          <a:xfrm flipH="1" flipV="1">
            <a:off x="3076884" y="1926152"/>
            <a:ext cx="1140903" cy="61149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任意多边形 16"/>
          <p:cNvSpPr/>
          <p:nvPr/>
        </p:nvSpPr>
        <p:spPr bwMode="gray">
          <a:xfrm>
            <a:off x="3067379" y="1941683"/>
            <a:ext cx="235670" cy="3083449"/>
          </a:xfrm>
          <a:custGeom>
            <a:avLst/>
            <a:gdLst>
              <a:gd name="connsiteX0" fmla="*/ 235670 w 235670"/>
              <a:gd name="connsiteY0" fmla="*/ 3007151 h 3083449"/>
              <a:gd name="connsiteX1" fmla="*/ 197963 w 235670"/>
              <a:gd name="connsiteY1" fmla="*/ 2931736 h 3083449"/>
              <a:gd name="connsiteX2" fmla="*/ 56561 w 235670"/>
              <a:gd name="connsiteY2" fmla="*/ 1640264 h 3083449"/>
              <a:gd name="connsiteX3" fmla="*/ 0 w 235670"/>
              <a:gd name="connsiteY3" fmla="*/ 0 h 3083449"/>
            </a:gdLst>
            <a:ahLst/>
            <a:cxnLst>
              <a:cxn ang="0">
                <a:pos x="connsiteX0" y="connsiteY0"/>
              </a:cxn>
              <a:cxn ang="0">
                <a:pos x="connsiteX1" y="connsiteY1"/>
              </a:cxn>
              <a:cxn ang="0">
                <a:pos x="connsiteX2" y="connsiteY2"/>
              </a:cxn>
              <a:cxn ang="0">
                <a:pos x="connsiteX3" y="connsiteY3"/>
              </a:cxn>
            </a:cxnLst>
            <a:rect l="l" t="t" r="r" b="b"/>
            <a:pathLst>
              <a:path w="235670" h="3083449">
                <a:moveTo>
                  <a:pt x="235670" y="3007151"/>
                </a:moveTo>
                <a:cubicBezTo>
                  <a:pt x="231742" y="3083351"/>
                  <a:pt x="227815" y="3159551"/>
                  <a:pt x="197963" y="2931736"/>
                </a:cubicBezTo>
                <a:cubicBezTo>
                  <a:pt x="168111" y="2703921"/>
                  <a:pt x="89555" y="2128887"/>
                  <a:pt x="56561" y="1640264"/>
                </a:cubicBezTo>
                <a:cubicBezTo>
                  <a:pt x="23567" y="1151641"/>
                  <a:pt x="0" y="0"/>
                  <a:pt x="0" y="0"/>
                </a:cubicBezTo>
              </a:path>
            </a:pathLst>
          </a:custGeom>
          <a:noFill/>
          <a:ln w="57150">
            <a:solidFill>
              <a:schemeClr val="bg1">
                <a:lumMod val="5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8"/>
          <p:cNvSpPr/>
          <p:nvPr/>
        </p:nvSpPr>
        <p:spPr bwMode="gray">
          <a:xfrm>
            <a:off x="3242819" y="1989056"/>
            <a:ext cx="944650" cy="3016168"/>
          </a:xfrm>
          <a:custGeom>
            <a:avLst/>
            <a:gdLst>
              <a:gd name="connsiteX0" fmla="*/ 160256 w 944650"/>
              <a:gd name="connsiteY0" fmla="*/ 2988297 h 3016168"/>
              <a:gd name="connsiteX1" fmla="*/ 150829 w 944650"/>
              <a:gd name="connsiteY1" fmla="*/ 2912882 h 3016168"/>
              <a:gd name="connsiteX2" fmla="*/ 245097 w 944650"/>
              <a:gd name="connsiteY2" fmla="*/ 2149311 h 3016168"/>
              <a:gd name="connsiteX3" fmla="*/ 942680 w 944650"/>
              <a:gd name="connsiteY3" fmla="*/ 1027521 h 3016168"/>
              <a:gd name="connsiteX4" fmla="*/ 0 w 944650"/>
              <a:gd name="connsiteY4" fmla="*/ 0 h 3016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650" h="3016168">
                <a:moveTo>
                  <a:pt x="160256" y="2988297"/>
                </a:moveTo>
                <a:cubicBezTo>
                  <a:pt x="148472" y="3020505"/>
                  <a:pt x="136689" y="3052713"/>
                  <a:pt x="150829" y="2912882"/>
                </a:cubicBezTo>
                <a:cubicBezTo>
                  <a:pt x="164969" y="2773051"/>
                  <a:pt x="113122" y="2463538"/>
                  <a:pt x="245097" y="2149311"/>
                </a:cubicBezTo>
                <a:cubicBezTo>
                  <a:pt x="377072" y="1835084"/>
                  <a:pt x="983529" y="1385739"/>
                  <a:pt x="942680" y="1027521"/>
                </a:cubicBezTo>
                <a:cubicBezTo>
                  <a:pt x="901831" y="669303"/>
                  <a:pt x="450915" y="334651"/>
                  <a:pt x="0" y="0"/>
                </a:cubicBezTo>
              </a:path>
            </a:pathLst>
          </a:custGeom>
          <a:noFill/>
          <a:ln w="57150">
            <a:solidFill>
              <a:schemeClr val="bg1">
                <a:lumMod val="5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9"/>
          <p:cNvSpPr/>
          <p:nvPr/>
        </p:nvSpPr>
        <p:spPr bwMode="gray">
          <a:xfrm>
            <a:off x="1998465" y="1998482"/>
            <a:ext cx="1150086" cy="3024679"/>
          </a:xfrm>
          <a:custGeom>
            <a:avLst/>
            <a:gdLst>
              <a:gd name="connsiteX0" fmla="*/ 1150086 w 1150086"/>
              <a:gd name="connsiteY0" fmla="*/ 2978871 h 3024679"/>
              <a:gd name="connsiteX1" fmla="*/ 1112379 w 1150086"/>
              <a:gd name="connsiteY1" fmla="*/ 2912883 h 3024679"/>
              <a:gd name="connsiteX2" fmla="*/ 933269 w 1150086"/>
              <a:gd name="connsiteY2" fmla="*/ 2007910 h 3024679"/>
              <a:gd name="connsiteX3" fmla="*/ 16 w 1150086"/>
              <a:gd name="connsiteY3" fmla="*/ 1008669 h 3024679"/>
              <a:gd name="connsiteX4" fmla="*/ 914416 w 1150086"/>
              <a:gd name="connsiteY4" fmla="*/ 0 h 3024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086" h="3024679">
                <a:moveTo>
                  <a:pt x="1150086" y="2978871"/>
                </a:moveTo>
                <a:cubicBezTo>
                  <a:pt x="1149300" y="3026790"/>
                  <a:pt x="1148515" y="3074710"/>
                  <a:pt x="1112379" y="2912883"/>
                </a:cubicBezTo>
                <a:cubicBezTo>
                  <a:pt x="1076243" y="2751056"/>
                  <a:pt x="1118663" y="2325279"/>
                  <a:pt x="933269" y="2007910"/>
                </a:cubicBezTo>
                <a:cubicBezTo>
                  <a:pt x="747875" y="1690541"/>
                  <a:pt x="3158" y="1343321"/>
                  <a:pt x="16" y="1008669"/>
                </a:cubicBezTo>
                <a:cubicBezTo>
                  <a:pt x="-3126" y="674017"/>
                  <a:pt x="455645" y="337008"/>
                  <a:pt x="914416" y="0"/>
                </a:cubicBezTo>
              </a:path>
            </a:pathLst>
          </a:custGeom>
          <a:noFill/>
          <a:ln w="57150">
            <a:solidFill>
              <a:srgbClr val="92D05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bwMode="gray">
          <a:xfrm>
            <a:off x="1193157" y="3367305"/>
            <a:ext cx="1090363" cy="307777"/>
          </a:xfrm>
          <a:prstGeom prst="rect">
            <a:avLst/>
          </a:prstGeom>
          <a:noFill/>
        </p:spPr>
        <p:txBody>
          <a:bodyPr wrap="none" rtlCol="0">
            <a:spAutoFit/>
          </a:bodyPr>
          <a:lstStyle/>
          <a:p>
            <a:r>
              <a:rPr lang="en-US" altLang="zh-CN" sz="1400"/>
              <a:t>Priority = 1</a:t>
            </a:r>
            <a:endParaRPr lang="zh-CN" altLang="en-US" sz="1400" dirty="0"/>
          </a:p>
        </p:txBody>
      </p:sp>
      <p:sp>
        <p:nvSpPr>
          <p:cNvPr id="139" name="文本框 138"/>
          <p:cNvSpPr txBox="1"/>
          <p:nvPr/>
        </p:nvSpPr>
        <p:spPr bwMode="gray">
          <a:xfrm>
            <a:off x="2585022" y="3367306"/>
            <a:ext cx="1090363" cy="307777"/>
          </a:xfrm>
          <a:prstGeom prst="rect">
            <a:avLst/>
          </a:prstGeom>
          <a:noFill/>
        </p:spPr>
        <p:txBody>
          <a:bodyPr wrap="none" rtlCol="0">
            <a:spAutoFit/>
          </a:bodyPr>
          <a:lstStyle/>
          <a:p>
            <a:r>
              <a:rPr lang="en-US" altLang="zh-CN" sz="1400"/>
              <a:t>Priority = 2</a:t>
            </a:r>
            <a:endParaRPr lang="zh-CN" altLang="en-US" sz="1400" dirty="0"/>
          </a:p>
        </p:txBody>
      </p:sp>
      <p:sp>
        <p:nvSpPr>
          <p:cNvPr id="140" name="文本框 139"/>
          <p:cNvSpPr txBox="1"/>
          <p:nvPr/>
        </p:nvSpPr>
        <p:spPr bwMode="gray">
          <a:xfrm>
            <a:off x="4081024" y="3376084"/>
            <a:ext cx="1090363" cy="307777"/>
          </a:xfrm>
          <a:prstGeom prst="rect">
            <a:avLst/>
          </a:prstGeom>
          <a:noFill/>
        </p:spPr>
        <p:txBody>
          <a:bodyPr wrap="none" rtlCol="0">
            <a:spAutoFit/>
          </a:bodyPr>
          <a:lstStyle/>
          <a:p>
            <a:r>
              <a:rPr lang="en-US" altLang="zh-CN" sz="1400"/>
              <a:t>Priority = 3</a:t>
            </a:r>
            <a:endParaRPr lang="zh-CN" altLang="en-US" sz="1400" dirty="0"/>
          </a:p>
        </p:txBody>
      </p:sp>
      <p:sp>
        <p:nvSpPr>
          <p:cNvPr id="27"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28"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6929193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0942A-CFAC-48F2-AF78-3791AFA21005}"/>
              </a:ext>
            </a:extLst>
          </p:cNvPr>
          <p:cNvSpPr>
            <a:spLocks noGrp="1"/>
          </p:cNvSpPr>
          <p:nvPr>
            <p:ph type="title"/>
          </p:nvPr>
        </p:nvSpPr>
        <p:spPr bwMode="gray"/>
        <p:txBody>
          <a:bodyPr/>
          <a:lstStyle/>
          <a:p>
            <a:r>
              <a:rPr lang="zh-CN" altLang="en-US" dirty="0"/>
              <a:t>传统站点互访方案介绍</a:t>
            </a:r>
            <a:endParaRPr lang="en-US" dirty="0"/>
          </a:p>
        </p:txBody>
      </p:sp>
      <p:sp>
        <p:nvSpPr>
          <p:cNvPr id="3" name="Text Placeholder 2">
            <a:extLst>
              <a:ext uri="{FF2B5EF4-FFF2-40B4-BE49-F238E27FC236}">
                <a16:creationId xmlns:a16="http://schemas.microsoft.com/office/drawing/2014/main" id="{ABABB204-8CBA-4083-8F5E-3B872B006983}"/>
              </a:ext>
            </a:extLst>
          </p:cNvPr>
          <p:cNvSpPr>
            <a:spLocks noGrp="1"/>
          </p:cNvSpPr>
          <p:nvPr>
            <p:ph type="body" sz="quarter" idx="10"/>
          </p:nvPr>
        </p:nvSpPr>
        <p:spPr bwMode="gray"/>
        <p:txBody>
          <a:bodyPr/>
          <a:lstStyle/>
          <a:p>
            <a:r>
              <a:rPr lang="zh-CN" altLang="en-US" sz="1800" dirty="0"/>
              <a:t>某些企业在部署</a:t>
            </a:r>
            <a:r>
              <a:rPr lang="en-US" altLang="zh-CN" sz="1800" dirty="0"/>
              <a:t>SD-WAN</a:t>
            </a:r>
            <a:r>
              <a:rPr lang="zh-CN" altLang="en-US" sz="1800" dirty="0"/>
              <a:t>方案之前，就可能已经存在了通过传统</a:t>
            </a:r>
            <a:r>
              <a:rPr lang="en-US" altLang="zh-CN" sz="1800" dirty="0"/>
              <a:t>WAN</a:t>
            </a:r>
            <a:r>
              <a:rPr lang="zh-CN" altLang="en-US" sz="1800" dirty="0"/>
              <a:t>专线（如</a:t>
            </a:r>
            <a:r>
              <a:rPr lang="en-US" altLang="zh-CN" sz="1800" dirty="0"/>
              <a:t>MPLS</a:t>
            </a:r>
            <a:r>
              <a:rPr lang="zh-CN" altLang="en-US" sz="1800" dirty="0"/>
              <a:t>）进行互联的传统站点。因此企业部署</a:t>
            </a:r>
            <a:r>
              <a:rPr lang="en-US" altLang="zh-CN" sz="1800" dirty="0"/>
              <a:t>SD-WAN</a:t>
            </a:r>
            <a:r>
              <a:rPr lang="zh-CN" altLang="en-US" sz="1800" dirty="0"/>
              <a:t>方案后就同时存在</a:t>
            </a:r>
            <a:r>
              <a:rPr lang="en-US" altLang="zh-CN" sz="1800" dirty="0"/>
              <a:t>SD-WAN</a:t>
            </a:r>
            <a:r>
              <a:rPr lang="zh-CN" altLang="en-US" sz="1800" dirty="0"/>
              <a:t>与非</a:t>
            </a:r>
            <a:r>
              <a:rPr lang="en-US" altLang="zh-CN" sz="1800" dirty="0"/>
              <a:t>SD-WAN</a:t>
            </a:r>
            <a:r>
              <a:rPr lang="zh-CN" altLang="en-US" sz="1800" dirty="0"/>
              <a:t>站点，为了让这两类站点互访需要部署与传统站点互访的方案。</a:t>
            </a:r>
            <a:endParaRPr lang="en-US" altLang="zh-CN" sz="1800" dirty="0"/>
          </a:p>
          <a:p>
            <a:r>
              <a:rPr lang="en-US" altLang="zh-CN" sz="1800" dirty="0"/>
              <a:t>SD-WAN</a:t>
            </a:r>
            <a:r>
              <a:rPr lang="zh-CN" altLang="en-US" sz="1800" dirty="0"/>
              <a:t>站点与传统站点互访方案一般有如下两种场景：</a:t>
            </a:r>
            <a:endParaRPr lang="en-US" altLang="zh-CN" sz="1800" dirty="0"/>
          </a:p>
          <a:p>
            <a:pPr lvl="1"/>
            <a:r>
              <a:rPr lang="zh-CN" altLang="en-US" sz="1600" dirty="0"/>
              <a:t>通过企业站点互访：企业站点通过自身的站点与传统网络互联，该场景一般有两种互访方案。</a:t>
            </a:r>
            <a:endParaRPr lang="en-US" altLang="zh-CN" sz="1600" dirty="0"/>
          </a:p>
          <a:p>
            <a:pPr lvl="2"/>
            <a:r>
              <a:rPr lang="zh-CN" altLang="en-US" sz="1400" dirty="0"/>
              <a:t>基于专用线路互访</a:t>
            </a:r>
            <a:endParaRPr lang="en-US" altLang="zh-CN" sz="1400" dirty="0"/>
          </a:p>
          <a:p>
            <a:pPr lvl="2"/>
            <a:r>
              <a:rPr lang="zh-CN" altLang="en-US" sz="1400" dirty="0"/>
              <a:t>基于本地互访</a:t>
            </a:r>
            <a:endParaRPr lang="en-US" altLang="zh-CN" sz="1400" dirty="0"/>
          </a:p>
          <a:p>
            <a:pPr lvl="1"/>
            <a:r>
              <a:rPr lang="zh-CN" altLang="en-US" sz="1600" dirty="0"/>
              <a:t>通过</a:t>
            </a:r>
            <a:r>
              <a:rPr lang="en-US" altLang="zh-CN" sz="1600" dirty="0"/>
              <a:t>IWG</a:t>
            </a:r>
            <a:r>
              <a:rPr lang="zh-CN" altLang="en-US" sz="1600" dirty="0"/>
              <a:t>互访：运营商为了同时为多个企业提供传统站点互访服务会采用此类场景，该场景一般有三种互访方案。</a:t>
            </a:r>
            <a:endParaRPr lang="en-US" altLang="zh-CN" sz="1600" dirty="0"/>
          </a:p>
          <a:p>
            <a:pPr lvl="2"/>
            <a:r>
              <a:rPr lang="zh-CN" altLang="en-US" sz="1400" dirty="0"/>
              <a:t>基于</a:t>
            </a:r>
            <a:r>
              <a:rPr lang="en-US" altLang="zh-CN" sz="1400" dirty="0"/>
              <a:t>Option B</a:t>
            </a:r>
            <a:r>
              <a:rPr lang="zh-CN" altLang="en-US" sz="1400" dirty="0"/>
              <a:t>跨域方案互访</a:t>
            </a:r>
            <a:endParaRPr lang="en-US" altLang="zh-CN" sz="1400" dirty="0"/>
          </a:p>
          <a:p>
            <a:pPr lvl="2"/>
            <a:r>
              <a:rPr lang="zh-CN" altLang="en-US" sz="1400" dirty="0"/>
              <a:t>基于</a:t>
            </a:r>
            <a:r>
              <a:rPr lang="en-US" altLang="zh-CN" sz="1400" dirty="0"/>
              <a:t>L3 VXLAN</a:t>
            </a:r>
            <a:r>
              <a:rPr lang="zh-CN" altLang="en-US" sz="1400" dirty="0"/>
              <a:t>的</a:t>
            </a:r>
            <a:r>
              <a:rPr lang="en-US" altLang="zh-CN" sz="1400" dirty="0"/>
              <a:t>Option A</a:t>
            </a:r>
            <a:r>
              <a:rPr lang="zh-CN" altLang="en-US" sz="1400" dirty="0"/>
              <a:t>跨域互访</a:t>
            </a:r>
            <a:endParaRPr lang="en-US" altLang="zh-CN" sz="1400" dirty="0"/>
          </a:p>
          <a:p>
            <a:pPr lvl="2"/>
            <a:r>
              <a:rPr lang="zh-CN" altLang="en-US" sz="1400" dirty="0"/>
              <a:t>基于</a:t>
            </a:r>
            <a:r>
              <a:rPr lang="en-US" altLang="zh-CN" sz="1400" dirty="0"/>
              <a:t>L3 VLAN</a:t>
            </a:r>
            <a:r>
              <a:rPr lang="zh-CN" altLang="en-US" sz="1400" dirty="0"/>
              <a:t>的</a:t>
            </a:r>
            <a:r>
              <a:rPr lang="en-US" altLang="zh-CN" sz="1400" dirty="0"/>
              <a:t>Option A</a:t>
            </a:r>
            <a:r>
              <a:rPr lang="zh-CN" altLang="en-US" sz="1400" dirty="0"/>
              <a:t>跨域互访</a:t>
            </a:r>
            <a:endParaRPr lang="en-US" sz="1400" dirty="0"/>
          </a:p>
        </p:txBody>
      </p:sp>
      <p:sp>
        <p:nvSpPr>
          <p:cNvPr id="6"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7"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14406444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574A18-A757-4310-ACD5-79C9C9B8C0C6}"/>
              </a:ext>
            </a:extLst>
          </p:cNvPr>
          <p:cNvSpPr>
            <a:spLocks noGrp="1"/>
          </p:cNvSpPr>
          <p:nvPr>
            <p:ph type="body" sz="quarter" idx="10"/>
          </p:nvPr>
        </p:nvSpPr>
        <p:spPr bwMode="gray"/>
        <p:txBody>
          <a:bodyPr/>
          <a:lstStyle/>
          <a:p>
            <a:r>
              <a:rPr lang="zh-CN" altLang="en-US" sz="1800" dirty="0"/>
              <a:t>当</a:t>
            </a:r>
            <a:r>
              <a:rPr lang="en-US" altLang="zh-CN" sz="1800" dirty="0"/>
              <a:t>SD-WAN</a:t>
            </a:r>
            <a:r>
              <a:rPr lang="zh-CN" altLang="en-US" sz="1800" dirty="0"/>
              <a:t>站点连接的</a:t>
            </a:r>
            <a:r>
              <a:rPr lang="en-US" altLang="zh-CN" sz="1800" dirty="0"/>
              <a:t>Underlay</a:t>
            </a:r>
            <a:r>
              <a:rPr lang="zh-CN" altLang="en-US" sz="1800" dirty="0"/>
              <a:t>网络和传统</a:t>
            </a:r>
            <a:r>
              <a:rPr lang="en-US" altLang="zh-CN" sz="1800" dirty="0"/>
              <a:t>MPLS</a:t>
            </a:r>
            <a:r>
              <a:rPr lang="zh-CN" altLang="en-US" sz="1800" dirty="0"/>
              <a:t>网络不是可互通的网络时，可以选择一个</a:t>
            </a:r>
            <a:r>
              <a:rPr lang="en-US" altLang="zh-CN" sz="1800" dirty="0"/>
              <a:t>SD-WAN</a:t>
            </a:r>
            <a:r>
              <a:rPr lang="zh-CN" altLang="en-US" sz="1800" dirty="0"/>
              <a:t>站点和一个传统站点，逻辑上看作一个</a:t>
            </a:r>
            <a:r>
              <a:rPr lang="en-US" altLang="zh-CN" sz="1800" dirty="0"/>
              <a:t>Gateway</a:t>
            </a:r>
            <a:r>
              <a:rPr lang="zh-CN" altLang="en-US" sz="1800" dirty="0"/>
              <a:t>站点。</a:t>
            </a:r>
            <a:endParaRPr lang="en-US" sz="1800" dirty="0"/>
          </a:p>
        </p:txBody>
      </p:sp>
      <p:sp>
        <p:nvSpPr>
          <p:cNvPr id="5" name="圆角矩形 54">
            <a:extLst>
              <a:ext uri="{FF2B5EF4-FFF2-40B4-BE49-F238E27FC236}">
                <a16:creationId xmlns:a16="http://schemas.microsoft.com/office/drawing/2014/main" id="{C34924F5-6095-4848-95B3-DFC9EAED4995}"/>
              </a:ext>
            </a:extLst>
          </p:cNvPr>
          <p:cNvSpPr/>
          <p:nvPr/>
        </p:nvSpPr>
        <p:spPr bwMode="gray">
          <a:xfrm>
            <a:off x="666257" y="2355884"/>
            <a:ext cx="10884059" cy="3647871"/>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当一个企业有多个</a:t>
            </a:r>
            <a:r>
              <a:rPr lang="en-US" altLang="zh-CN" sz="1400" dirty="0">
                <a:solidFill>
                  <a:schemeClr val="tx1"/>
                </a:solidFill>
              </a:rPr>
              <a:t>VPN</a:t>
            </a:r>
            <a:r>
              <a:rPr lang="zh-CN" altLang="en-US" sz="1400" dirty="0">
                <a:solidFill>
                  <a:schemeClr val="tx1"/>
                </a:solidFill>
              </a:rPr>
              <a:t>并且同一个</a:t>
            </a:r>
            <a:r>
              <a:rPr lang="en-US" altLang="zh-CN" sz="1400" dirty="0">
                <a:solidFill>
                  <a:schemeClr val="tx1"/>
                </a:solidFill>
              </a:rPr>
              <a:t>VPN</a:t>
            </a:r>
            <a:r>
              <a:rPr lang="zh-CN" altLang="en-US" sz="1400" dirty="0">
                <a:solidFill>
                  <a:schemeClr val="tx1"/>
                </a:solidFill>
              </a:rPr>
              <a:t>的用户分布在</a:t>
            </a:r>
            <a:r>
              <a:rPr lang="en-US" altLang="zh-CN" sz="1400" dirty="0">
                <a:solidFill>
                  <a:schemeClr val="tx1"/>
                </a:solidFill>
              </a:rPr>
              <a:t>SD-WAN</a:t>
            </a:r>
            <a:r>
              <a:rPr lang="zh-CN" altLang="en-US" sz="1400" dirty="0">
                <a:solidFill>
                  <a:schemeClr val="tx1"/>
                </a:solidFill>
              </a:rPr>
              <a:t>和非</a:t>
            </a:r>
            <a:r>
              <a:rPr lang="en-US" altLang="zh-CN" sz="1400" dirty="0">
                <a:solidFill>
                  <a:schemeClr val="tx1"/>
                </a:solidFill>
              </a:rPr>
              <a:t>SD-WAN</a:t>
            </a:r>
            <a:r>
              <a:rPr lang="zh-CN" altLang="en-US" sz="1400" dirty="0">
                <a:solidFill>
                  <a:schemeClr val="tx1"/>
                </a:solidFill>
              </a:rPr>
              <a:t>两个网络中时，可以在</a:t>
            </a:r>
            <a:r>
              <a:rPr lang="en-US" altLang="zh-CN" sz="1400" dirty="0">
                <a:solidFill>
                  <a:schemeClr val="tx1"/>
                </a:solidFill>
              </a:rPr>
              <a:t>Gateway</a:t>
            </a:r>
            <a:r>
              <a:rPr lang="zh-CN" altLang="en-US" sz="1400" dirty="0">
                <a:solidFill>
                  <a:schemeClr val="tx1"/>
                </a:solidFill>
              </a:rPr>
              <a:t>站点的互通链路上创建多个逻辑链路，分别加入不同</a:t>
            </a:r>
            <a:r>
              <a:rPr lang="en-US" altLang="zh-CN" sz="1400" dirty="0">
                <a:solidFill>
                  <a:schemeClr val="tx1"/>
                </a:solidFill>
              </a:rPr>
              <a:t>VPN</a:t>
            </a:r>
            <a:r>
              <a:rPr lang="zh-CN" altLang="en-US" sz="1400" dirty="0">
                <a:solidFill>
                  <a:schemeClr val="tx1"/>
                </a:solidFill>
              </a:rPr>
              <a:t>对应的</a:t>
            </a:r>
            <a:r>
              <a:rPr lang="en-US" altLang="zh-CN" sz="1400" dirty="0">
                <a:solidFill>
                  <a:schemeClr val="tx1"/>
                </a:solidFill>
              </a:rPr>
              <a:t>VRF</a:t>
            </a:r>
            <a:r>
              <a:rPr lang="zh-CN" altLang="en-US" sz="1400" dirty="0">
                <a:solidFill>
                  <a:schemeClr val="tx1"/>
                </a:solidFill>
              </a:rPr>
              <a:t>，实现多</a:t>
            </a:r>
            <a:r>
              <a:rPr lang="en-US" altLang="zh-CN" sz="1400" dirty="0">
                <a:solidFill>
                  <a:schemeClr val="tx1"/>
                </a:solidFill>
              </a:rPr>
              <a:t>VPN</a:t>
            </a:r>
            <a:r>
              <a:rPr lang="zh-CN" altLang="en-US" sz="1400" dirty="0">
                <a:solidFill>
                  <a:schemeClr val="tx1"/>
                </a:solidFill>
              </a:rPr>
              <a:t>背靠背互通。</a:t>
            </a:r>
          </a:p>
        </p:txBody>
      </p:sp>
      <p:sp>
        <p:nvSpPr>
          <p:cNvPr id="40" name="Rectangle: Rounded Corners 39">
            <a:extLst>
              <a:ext uri="{FF2B5EF4-FFF2-40B4-BE49-F238E27FC236}">
                <a16:creationId xmlns:a16="http://schemas.microsoft.com/office/drawing/2014/main" id="{A3E1EAA8-4307-4ABB-AD9B-D2C43114D351}"/>
              </a:ext>
            </a:extLst>
          </p:cNvPr>
          <p:cNvSpPr/>
          <p:nvPr/>
        </p:nvSpPr>
        <p:spPr bwMode="gray">
          <a:xfrm>
            <a:off x="4849967" y="2755241"/>
            <a:ext cx="2368024" cy="603716"/>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itle 1">
            <a:extLst>
              <a:ext uri="{FF2B5EF4-FFF2-40B4-BE49-F238E27FC236}">
                <a16:creationId xmlns:a16="http://schemas.microsoft.com/office/drawing/2014/main" id="{5B756E6E-52F5-4E52-A7E0-BCD77B3181E9}"/>
              </a:ext>
            </a:extLst>
          </p:cNvPr>
          <p:cNvSpPr>
            <a:spLocks noGrp="1"/>
          </p:cNvSpPr>
          <p:nvPr>
            <p:ph type="title"/>
          </p:nvPr>
        </p:nvSpPr>
        <p:spPr bwMode="gray"/>
        <p:txBody>
          <a:bodyPr/>
          <a:lstStyle/>
          <a:p>
            <a:r>
              <a:rPr lang="zh-CN" altLang="en-US" dirty="0"/>
              <a:t>通过企业站点互访：基于专线线路互访</a:t>
            </a:r>
            <a:endParaRPr lang="en-US" dirty="0"/>
          </a:p>
        </p:txBody>
      </p:sp>
      <p:sp>
        <p:nvSpPr>
          <p:cNvPr id="4" name="圆角矩形 53">
            <a:extLst>
              <a:ext uri="{FF2B5EF4-FFF2-40B4-BE49-F238E27FC236}">
                <a16:creationId xmlns:a16="http://schemas.microsoft.com/office/drawing/2014/main" id="{8488A8C9-F27C-4312-BA05-372395C8CC8C}"/>
              </a:ext>
            </a:extLst>
          </p:cNvPr>
          <p:cNvSpPr/>
          <p:nvPr/>
        </p:nvSpPr>
        <p:spPr bwMode="gray">
          <a:xfrm>
            <a:off x="666257" y="1939088"/>
            <a:ext cx="10884059" cy="360023"/>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基于专线线路互访设计</a:t>
            </a:r>
          </a:p>
        </p:txBody>
      </p:sp>
      <p:sp>
        <p:nvSpPr>
          <p:cNvPr id="6" name="Rectangle: Rounded Corners 5">
            <a:extLst>
              <a:ext uri="{FF2B5EF4-FFF2-40B4-BE49-F238E27FC236}">
                <a16:creationId xmlns:a16="http://schemas.microsoft.com/office/drawing/2014/main" id="{DBFB3DBF-0C39-4F04-A6C4-DE93C396B603}"/>
              </a:ext>
            </a:extLst>
          </p:cNvPr>
          <p:cNvSpPr/>
          <p:nvPr/>
        </p:nvSpPr>
        <p:spPr bwMode="gray">
          <a:xfrm>
            <a:off x="966088" y="2406771"/>
            <a:ext cx="4934198" cy="2898654"/>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Rectangle: Rounded Corners 6">
            <a:extLst>
              <a:ext uri="{FF2B5EF4-FFF2-40B4-BE49-F238E27FC236}">
                <a16:creationId xmlns:a16="http://schemas.microsoft.com/office/drawing/2014/main" id="{3A88EE5C-A444-495E-896C-0A9140334EA7}"/>
              </a:ext>
            </a:extLst>
          </p:cNvPr>
          <p:cNvSpPr/>
          <p:nvPr/>
        </p:nvSpPr>
        <p:spPr bwMode="gray">
          <a:xfrm>
            <a:off x="6291716" y="2406770"/>
            <a:ext cx="4934198" cy="2898654"/>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Picture 12" descr="E:\2016.01\1.12 扁平化图标\蓝色\AR-蓝色最新-40.png">
            <a:extLst>
              <a:ext uri="{FF2B5EF4-FFF2-40B4-BE49-F238E27FC236}">
                <a16:creationId xmlns:a16="http://schemas.microsoft.com/office/drawing/2014/main" id="{8D34CB60-B969-40A3-8468-F3FEDED42ED6}"/>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5001032" y="2892368"/>
            <a:ext cx="402674" cy="329461"/>
          </a:xfrm>
          <a:prstGeom prst="rect">
            <a:avLst/>
          </a:prstGeom>
          <a:noFill/>
        </p:spPr>
      </p:pic>
      <p:pic>
        <p:nvPicPr>
          <p:cNvPr id="9" name="Picture 12" descr="E:\2016.01\1.12 扁平化图标\蓝色\AR-蓝色最新-40.png">
            <a:extLst>
              <a:ext uri="{FF2B5EF4-FFF2-40B4-BE49-F238E27FC236}">
                <a16:creationId xmlns:a16="http://schemas.microsoft.com/office/drawing/2014/main" id="{3C9A1B97-2607-4EC4-BC18-763F247A84EC}"/>
              </a:ext>
            </a:extLst>
          </p:cNvPr>
          <p:cNvPicPr>
            <a:picLocks noChangeAspect="1" noChangeArrowheads="1"/>
          </p:cNvPicPr>
          <p:nvPr/>
        </p:nvPicPr>
        <p:blipFill>
          <a:blip r:embed="rId3" cstate="print"/>
          <a:srcRect/>
          <a:stretch>
            <a:fillRect/>
          </a:stretch>
        </p:blipFill>
        <p:spPr bwMode="gray">
          <a:xfrm>
            <a:off x="6702306" y="2892368"/>
            <a:ext cx="402674" cy="329461"/>
          </a:xfrm>
          <a:prstGeom prst="rect">
            <a:avLst/>
          </a:prstGeom>
          <a:noFill/>
        </p:spPr>
      </p:pic>
      <p:sp>
        <p:nvSpPr>
          <p:cNvPr id="14" name="Freeform 159">
            <a:extLst>
              <a:ext uri="{FF2B5EF4-FFF2-40B4-BE49-F238E27FC236}">
                <a16:creationId xmlns:a16="http://schemas.microsoft.com/office/drawing/2014/main" id="{4D7D6E41-2E7D-42B1-95BB-62D42CA23B58}"/>
              </a:ext>
            </a:extLst>
          </p:cNvPr>
          <p:cNvSpPr/>
          <p:nvPr/>
        </p:nvSpPr>
        <p:spPr bwMode="gray">
          <a:xfrm flipH="1">
            <a:off x="2652603" y="3106244"/>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1</a:t>
            </a:r>
            <a:endParaRPr lang="en-US" dirty="0">
              <a:solidFill>
                <a:schemeClr val="tx1"/>
              </a:solidFill>
            </a:endParaRPr>
          </a:p>
        </p:txBody>
      </p:sp>
      <p:sp>
        <p:nvSpPr>
          <p:cNvPr id="15" name="Freeform 159">
            <a:extLst>
              <a:ext uri="{FF2B5EF4-FFF2-40B4-BE49-F238E27FC236}">
                <a16:creationId xmlns:a16="http://schemas.microsoft.com/office/drawing/2014/main" id="{8FBCA90C-7BE1-4AF1-8845-12A6AE78A8DE}"/>
              </a:ext>
            </a:extLst>
          </p:cNvPr>
          <p:cNvSpPr/>
          <p:nvPr/>
        </p:nvSpPr>
        <p:spPr bwMode="gray">
          <a:xfrm flipH="1">
            <a:off x="8423614" y="3106244"/>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2</a:t>
            </a:r>
            <a:endParaRPr lang="en-US" dirty="0">
              <a:solidFill>
                <a:schemeClr val="tx1"/>
              </a:solidFill>
            </a:endParaRPr>
          </a:p>
        </p:txBody>
      </p:sp>
      <p:cxnSp>
        <p:nvCxnSpPr>
          <p:cNvPr id="16" name="直接连接符 121">
            <a:extLst>
              <a:ext uri="{FF2B5EF4-FFF2-40B4-BE49-F238E27FC236}">
                <a16:creationId xmlns:a16="http://schemas.microsoft.com/office/drawing/2014/main" id="{2B035C10-BBE0-4B4D-91A1-25A087D74747}"/>
              </a:ext>
            </a:extLst>
          </p:cNvPr>
          <p:cNvCxnSpPr>
            <a:cxnSpLocks/>
            <a:stCxn id="14" idx="7"/>
            <a:endCxn id="8" idx="1"/>
          </p:cNvCxnSpPr>
          <p:nvPr/>
        </p:nvCxnSpPr>
        <p:spPr bwMode="gray">
          <a:xfrm flipV="1">
            <a:off x="3656416" y="3057099"/>
            <a:ext cx="1344616" cy="28502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21">
            <a:extLst>
              <a:ext uri="{FF2B5EF4-FFF2-40B4-BE49-F238E27FC236}">
                <a16:creationId xmlns:a16="http://schemas.microsoft.com/office/drawing/2014/main" id="{50C5C81D-501F-460A-8402-C8A72459D2A0}"/>
              </a:ext>
            </a:extLst>
          </p:cNvPr>
          <p:cNvCxnSpPr>
            <a:cxnSpLocks/>
            <a:stCxn id="10" idx="0"/>
            <a:endCxn id="14" idx="15"/>
          </p:cNvCxnSpPr>
          <p:nvPr/>
        </p:nvCxnSpPr>
        <p:spPr bwMode="gray">
          <a:xfrm flipV="1">
            <a:off x="2177638" y="3709960"/>
            <a:ext cx="647776" cy="72878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121">
            <a:extLst>
              <a:ext uri="{FF2B5EF4-FFF2-40B4-BE49-F238E27FC236}">
                <a16:creationId xmlns:a16="http://schemas.microsoft.com/office/drawing/2014/main" id="{1E7941A4-39B1-4EA2-B380-5274FD278189}"/>
              </a:ext>
            </a:extLst>
          </p:cNvPr>
          <p:cNvCxnSpPr>
            <a:cxnSpLocks/>
            <a:stCxn id="11" idx="0"/>
            <a:endCxn id="14" idx="14"/>
          </p:cNvCxnSpPr>
          <p:nvPr/>
        </p:nvCxnSpPr>
        <p:spPr bwMode="gray">
          <a:xfrm flipH="1" flipV="1">
            <a:off x="3585050" y="3709960"/>
            <a:ext cx="545855" cy="72878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21">
            <a:extLst>
              <a:ext uri="{FF2B5EF4-FFF2-40B4-BE49-F238E27FC236}">
                <a16:creationId xmlns:a16="http://schemas.microsoft.com/office/drawing/2014/main" id="{F8FCDCD5-2A3F-45B0-A5C8-303F0DBB86DD}"/>
              </a:ext>
            </a:extLst>
          </p:cNvPr>
          <p:cNvCxnSpPr>
            <a:cxnSpLocks/>
            <a:stCxn id="15" idx="24"/>
            <a:endCxn id="9" idx="3"/>
          </p:cNvCxnSpPr>
          <p:nvPr/>
        </p:nvCxnSpPr>
        <p:spPr bwMode="gray">
          <a:xfrm flipH="1" flipV="1">
            <a:off x="7104980" y="3057099"/>
            <a:ext cx="1485524" cy="2794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121">
            <a:extLst>
              <a:ext uri="{FF2B5EF4-FFF2-40B4-BE49-F238E27FC236}">
                <a16:creationId xmlns:a16="http://schemas.microsoft.com/office/drawing/2014/main" id="{5F346CC6-E440-4C46-AEF0-DF4CBC05C1E8}"/>
              </a:ext>
            </a:extLst>
          </p:cNvPr>
          <p:cNvCxnSpPr>
            <a:cxnSpLocks/>
            <a:stCxn id="15" idx="15"/>
            <a:endCxn id="12" idx="0"/>
          </p:cNvCxnSpPr>
          <p:nvPr/>
        </p:nvCxnSpPr>
        <p:spPr bwMode="gray">
          <a:xfrm flipH="1">
            <a:off x="7964723" y="3709960"/>
            <a:ext cx="631702" cy="72878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121">
            <a:extLst>
              <a:ext uri="{FF2B5EF4-FFF2-40B4-BE49-F238E27FC236}">
                <a16:creationId xmlns:a16="http://schemas.microsoft.com/office/drawing/2014/main" id="{1F0D5CA5-153B-4BCE-BAA8-6F2AE80B4736}"/>
              </a:ext>
            </a:extLst>
          </p:cNvPr>
          <p:cNvCxnSpPr>
            <a:cxnSpLocks/>
            <a:stCxn id="15" idx="9"/>
            <a:endCxn id="13" idx="0"/>
          </p:cNvCxnSpPr>
          <p:nvPr/>
        </p:nvCxnSpPr>
        <p:spPr bwMode="gray">
          <a:xfrm>
            <a:off x="9374811" y="3708972"/>
            <a:ext cx="543179" cy="72977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121">
            <a:extLst>
              <a:ext uri="{FF2B5EF4-FFF2-40B4-BE49-F238E27FC236}">
                <a16:creationId xmlns:a16="http://schemas.microsoft.com/office/drawing/2014/main" id="{A63D4000-5FD2-4239-8A9E-6B86C174CE0E}"/>
              </a:ext>
            </a:extLst>
          </p:cNvPr>
          <p:cNvCxnSpPr>
            <a:cxnSpLocks/>
          </p:cNvCxnSpPr>
          <p:nvPr/>
        </p:nvCxnSpPr>
        <p:spPr bwMode="gray">
          <a:xfrm flipV="1">
            <a:off x="5403706" y="2970931"/>
            <a:ext cx="129860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121">
            <a:extLst>
              <a:ext uri="{FF2B5EF4-FFF2-40B4-BE49-F238E27FC236}">
                <a16:creationId xmlns:a16="http://schemas.microsoft.com/office/drawing/2014/main" id="{51119849-DD95-4DD3-BFE8-71684D29573F}"/>
              </a:ext>
            </a:extLst>
          </p:cNvPr>
          <p:cNvCxnSpPr>
            <a:cxnSpLocks/>
          </p:cNvCxnSpPr>
          <p:nvPr/>
        </p:nvCxnSpPr>
        <p:spPr bwMode="gray">
          <a:xfrm flipV="1">
            <a:off x="5400830" y="3137687"/>
            <a:ext cx="129860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90F2CA69-F46D-4B80-B098-819B85437912}"/>
              </a:ext>
            </a:extLst>
          </p:cNvPr>
          <p:cNvSpPr txBox="1"/>
          <p:nvPr/>
        </p:nvSpPr>
        <p:spPr bwMode="gray">
          <a:xfrm>
            <a:off x="966088" y="2483769"/>
            <a:ext cx="902811" cy="307777"/>
          </a:xfrm>
          <a:prstGeom prst="rect">
            <a:avLst/>
          </a:prstGeom>
          <a:noFill/>
        </p:spPr>
        <p:txBody>
          <a:bodyPr wrap="none" rtlCol="0">
            <a:spAutoFit/>
          </a:bodyPr>
          <a:lstStyle/>
          <a:p>
            <a:r>
              <a:rPr lang="zh-CN" altLang="en-US" sz="1400" dirty="0"/>
              <a:t>传统网络</a:t>
            </a:r>
          </a:p>
        </p:txBody>
      </p:sp>
      <p:sp>
        <p:nvSpPr>
          <p:cNvPr id="39" name="TextBox 38">
            <a:extLst>
              <a:ext uri="{FF2B5EF4-FFF2-40B4-BE49-F238E27FC236}">
                <a16:creationId xmlns:a16="http://schemas.microsoft.com/office/drawing/2014/main" id="{D0BC3439-7680-4CE6-ACD0-880277E55B8C}"/>
              </a:ext>
            </a:extLst>
          </p:cNvPr>
          <p:cNvSpPr txBox="1"/>
          <p:nvPr/>
        </p:nvSpPr>
        <p:spPr bwMode="gray">
          <a:xfrm>
            <a:off x="9956015" y="2483770"/>
            <a:ext cx="1269899" cy="307777"/>
          </a:xfrm>
          <a:prstGeom prst="rect">
            <a:avLst/>
          </a:prstGeom>
          <a:noFill/>
        </p:spPr>
        <p:txBody>
          <a:bodyPr wrap="none" rtlCol="0">
            <a:spAutoFit/>
          </a:bodyPr>
          <a:lstStyle/>
          <a:p>
            <a:r>
              <a:rPr lang="en-US" altLang="zh-CN" sz="1400" dirty="0"/>
              <a:t>SD-WAN</a:t>
            </a:r>
            <a:r>
              <a:rPr lang="zh-CN" altLang="en-US" sz="1400" dirty="0"/>
              <a:t>网络</a:t>
            </a:r>
          </a:p>
        </p:txBody>
      </p:sp>
      <p:sp>
        <p:nvSpPr>
          <p:cNvPr id="41" name="Rectangle: Rounded Corners 40">
            <a:extLst>
              <a:ext uri="{FF2B5EF4-FFF2-40B4-BE49-F238E27FC236}">
                <a16:creationId xmlns:a16="http://schemas.microsoft.com/office/drawing/2014/main" id="{B64CB120-61A6-4F7C-B311-378ED4950583}"/>
              </a:ext>
            </a:extLst>
          </p:cNvPr>
          <p:cNvSpPr/>
          <p:nvPr/>
        </p:nvSpPr>
        <p:spPr bwMode="gray">
          <a:xfrm>
            <a:off x="5559214" y="2493973"/>
            <a:ext cx="1115783" cy="260466"/>
          </a:xfrm>
          <a:prstGeom prst="roundRect">
            <a:avLst>
              <a:gd name="adj" fmla="val 4012"/>
            </a:avLst>
          </a:prstGeom>
          <a:solidFill>
            <a:schemeClr val="bg1">
              <a:lumMod val="65000"/>
            </a:schemeClr>
          </a:solidFill>
          <a:ln w="190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Gateway</a:t>
            </a:r>
            <a:r>
              <a:rPr lang="zh-CN" altLang="en-US" sz="1200" dirty="0"/>
              <a:t>站点</a:t>
            </a:r>
            <a:endParaRPr lang="en-US" sz="1200" dirty="0"/>
          </a:p>
        </p:txBody>
      </p:sp>
      <p:sp>
        <p:nvSpPr>
          <p:cNvPr id="42" name="Oval 41">
            <a:extLst>
              <a:ext uri="{FF2B5EF4-FFF2-40B4-BE49-F238E27FC236}">
                <a16:creationId xmlns:a16="http://schemas.microsoft.com/office/drawing/2014/main" id="{C593925F-7BD8-4458-B960-7E64FD8D2E93}"/>
              </a:ext>
            </a:extLst>
          </p:cNvPr>
          <p:cNvSpPr>
            <a:spLocks noChangeAspect="1"/>
          </p:cNvSpPr>
          <p:nvPr/>
        </p:nvSpPr>
        <p:spPr bwMode="gray">
          <a:xfrm>
            <a:off x="5332347" y="2907454"/>
            <a:ext cx="123078" cy="123078"/>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43" name="Oval 42">
            <a:extLst>
              <a:ext uri="{FF2B5EF4-FFF2-40B4-BE49-F238E27FC236}">
                <a16:creationId xmlns:a16="http://schemas.microsoft.com/office/drawing/2014/main" id="{EE3F4966-5CA0-4065-8708-84881A055ED9}"/>
              </a:ext>
            </a:extLst>
          </p:cNvPr>
          <p:cNvSpPr>
            <a:spLocks noChangeAspect="1"/>
          </p:cNvSpPr>
          <p:nvPr/>
        </p:nvSpPr>
        <p:spPr bwMode="gray">
          <a:xfrm>
            <a:off x="6640597" y="2907454"/>
            <a:ext cx="123078" cy="123078"/>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44" name="Oval 43">
            <a:extLst>
              <a:ext uri="{FF2B5EF4-FFF2-40B4-BE49-F238E27FC236}">
                <a16:creationId xmlns:a16="http://schemas.microsoft.com/office/drawing/2014/main" id="{18F7E84F-579A-4754-8600-722BA5C5689F}"/>
              </a:ext>
            </a:extLst>
          </p:cNvPr>
          <p:cNvSpPr>
            <a:spLocks noChangeAspect="1"/>
          </p:cNvSpPr>
          <p:nvPr/>
        </p:nvSpPr>
        <p:spPr bwMode="gray">
          <a:xfrm>
            <a:off x="5329793" y="3076821"/>
            <a:ext cx="123078" cy="123078"/>
          </a:xfrm>
          <a:prstGeom prst="ellipse">
            <a:avLst/>
          </a:prstGeom>
          <a:pattFill prst="smGrid">
            <a:fgClr>
              <a:srgbClr val="C7000B"/>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45" name="Oval 44">
            <a:extLst>
              <a:ext uri="{FF2B5EF4-FFF2-40B4-BE49-F238E27FC236}">
                <a16:creationId xmlns:a16="http://schemas.microsoft.com/office/drawing/2014/main" id="{778698E0-FE4A-4FEB-8110-D605764444BA}"/>
              </a:ext>
            </a:extLst>
          </p:cNvPr>
          <p:cNvSpPr>
            <a:spLocks noChangeAspect="1"/>
          </p:cNvSpPr>
          <p:nvPr/>
        </p:nvSpPr>
        <p:spPr bwMode="gray">
          <a:xfrm>
            <a:off x="6638043" y="3076821"/>
            <a:ext cx="123078" cy="123078"/>
          </a:xfrm>
          <a:prstGeom prst="ellipse">
            <a:avLst/>
          </a:prstGeom>
          <a:pattFill prst="smGrid">
            <a:fgClr>
              <a:srgbClr val="C7000B"/>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46" name="Freeform: Shape 45">
            <a:extLst>
              <a:ext uri="{FF2B5EF4-FFF2-40B4-BE49-F238E27FC236}">
                <a16:creationId xmlns:a16="http://schemas.microsoft.com/office/drawing/2014/main" id="{768CBE6A-E579-40EC-8571-4C0456DB1FAA}"/>
              </a:ext>
            </a:extLst>
          </p:cNvPr>
          <p:cNvSpPr/>
          <p:nvPr/>
        </p:nvSpPr>
        <p:spPr bwMode="blackGray">
          <a:xfrm>
            <a:off x="2040556" y="2928674"/>
            <a:ext cx="7960092" cy="1479496"/>
          </a:xfrm>
          <a:custGeom>
            <a:avLst/>
            <a:gdLst>
              <a:gd name="connsiteX0" fmla="*/ 0 w 7960092"/>
              <a:gd name="connsiteY0" fmla="*/ 1511995 h 1540871"/>
              <a:gd name="connsiteX1" fmla="*/ 933650 w 7960092"/>
              <a:gd name="connsiteY1" fmla="*/ 424340 h 1540871"/>
              <a:gd name="connsiteX2" fmla="*/ 3108960 w 7960092"/>
              <a:gd name="connsiteY2" fmla="*/ 39330 h 1540871"/>
              <a:gd name="connsiteX3" fmla="*/ 5322770 w 7960092"/>
              <a:gd name="connsiteY3" fmla="*/ 68206 h 1540871"/>
              <a:gd name="connsiteX4" fmla="*/ 7141945 w 7960092"/>
              <a:gd name="connsiteY4" fmla="*/ 530218 h 1540871"/>
              <a:gd name="connsiteX5" fmla="*/ 7960092 w 7960092"/>
              <a:gd name="connsiteY5" fmla="*/ 1540871 h 154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60092" h="1540871">
                <a:moveTo>
                  <a:pt x="0" y="1511995"/>
                </a:moveTo>
                <a:cubicBezTo>
                  <a:pt x="207745" y="1090889"/>
                  <a:pt x="415490" y="669784"/>
                  <a:pt x="933650" y="424340"/>
                </a:cubicBezTo>
                <a:cubicBezTo>
                  <a:pt x="1451810" y="178896"/>
                  <a:pt x="2377440" y="98686"/>
                  <a:pt x="3108960" y="39330"/>
                </a:cubicBezTo>
                <a:cubicBezTo>
                  <a:pt x="3840480" y="-20026"/>
                  <a:pt x="4650606" y="-13609"/>
                  <a:pt x="5322770" y="68206"/>
                </a:cubicBezTo>
                <a:cubicBezTo>
                  <a:pt x="5994934" y="150021"/>
                  <a:pt x="6702391" y="284774"/>
                  <a:pt x="7141945" y="530218"/>
                </a:cubicBezTo>
                <a:cubicBezTo>
                  <a:pt x="7581499" y="775662"/>
                  <a:pt x="7770795" y="1158266"/>
                  <a:pt x="7960092" y="1540871"/>
                </a:cubicBezTo>
              </a:path>
            </a:pathLst>
          </a:custGeom>
          <a:noFill/>
          <a:ln w="28575">
            <a:solidFill>
              <a:srgbClr val="E28189"/>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A11D3002-3691-41FF-B5FB-FD7ACC85FC2B}"/>
              </a:ext>
            </a:extLst>
          </p:cNvPr>
          <p:cNvSpPr/>
          <p:nvPr/>
        </p:nvSpPr>
        <p:spPr bwMode="gray">
          <a:xfrm>
            <a:off x="3735649" y="3158908"/>
            <a:ext cx="4706010" cy="1239637"/>
          </a:xfrm>
          <a:custGeom>
            <a:avLst/>
            <a:gdLst>
              <a:gd name="connsiteX0" fmla="*/ 441715 w 4706010"/>
              <a:gd name="connsiteY0" fmla="*/ 1273591 h 1273591"/>
              <a:gd name="connsiteX1" fmla="*/ 27829 w 4706010"/>
              <a:gd name="connsiteY1" fmla="*/ 551696 h 1273591"/>
              <a:gd name="connsiteX2" fmla="*/ 1134734 w 4706010"/>
              <a:gd name="connsiteY2" fmla="*/ 60808 h 1273591"/>
              <a:gd name="connsiteX3" fmla="*/ 3329294 w 4706010"/>
              <a:gd name="connsiteY3" fmla="*/ 31932 h 1273591"/>
              <a:gd name="connsiteX4" fmla="*/ 4667206 w 4706010"/>
              <a:gd name="connsiteY4" fmla="*/ 282189 h 1273591"/>
              <a:gd name="connsiteX5" fmla="*/ 4214818 w 4706010"/>
              <a:gd name="connsiteY5" fmla="*/ 1254340 h 127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06010" h="1273591">
                <a:moveTo>
                  <a:pt x="441715" y="1273591"/>
                </a:moveTo>
                <a:cubicBezTo>
                  <a:pt x="177020" y="1013708"/>
                  <a:pt x="-87674" y="753826"/>
                  <a:pt x="27829" y="551696"/>
                </a:cubicBezTo>
                <a:cubicBezTo>
                  <a:pt x="143332" y="349566"/>
                  <a:pt x="584490" y="147435"/>
                  <a:pt x="1134734" y="60808"/>
                </a:cubicBezTo>
                <a:cubicBezTo>
                  <a:pt x="1684978" y="-25819"/>
                  <a:pt x="2740549" y="-4965"/>
                  <a:pt x="3329294" y="31932"/>
                </a:cubicBezTo>
                <a:cubicBezTo>
                  <a:pt x="3918039" y="68829"/>
                  <a:pt x="4519619" y="78454"/>
                  <a:pt x="4667206" y="282189"/>
                </a:cubicBezTo>
                <a:cubicBezTo>
                  <a:pt x="4814793" y="485924"/>
                  <a:pt x="4514805" y="870132"/>
                  <a:pt x="4214818" y="1254340"/>
                </a:cubicBezTo>
              </a:path>
            </a:pathLst>
          </a:custGeom>
          <a:noFill/>
          <a:ln w="28575">
            <a:solidFill>
              <a:srgbClr val="56C4D2"/>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ular Callout 26">
            <a:extLst>
              <a:ext uri="{FF2B5EF4-FFF2-40B4-BE49-F238E27FC236}">
                <a16:creationId xmlns:a16="http://schemas.microsoft.com/office/drawing/2014/main" id="{B78424E3-5719-4DF2-BA27-7FCF2F5C2830}"/>
              </a:ext>
            </a:extLst>
          </p:cNvPr>
          <p:cNvSpPr/>
          <p:nvPr/>
        </p:nvSpPr>
        <p:spPr bwMode="gray">
          <a:xfrm>
            <a:off x="4848681" y="2476621"/>
            <a:ext cx="604190" cy="260467"/>
          </a:xfrm>
          <a:prstGeom prst="wedgeRectCallout">
            <a:avLst>
              <a:gd name="adj1" fmla="val 37967"/>
              <a:gd name="adj2" fmla="val 10283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VPN1</a:t>
            </a:r>
          </a:p>
        </p:txBody>
      </p:sp>
      <p:sp>
        <p:nvSpPr>
          <p:cNvPr id="51" name="Rectangular Callout 26">
            <a:extLst>
              <a:ext uri="{FF2B5EF4-FFF2-40B4-BE49-F238E27FC236}">
                <a16:creationId xmlns:a16="http://schemas.microsoft.com/office/drawing/2014/main" id="{7F4F26A9-3011-4166-8AC0-6D8EA8C4C107}"/>
              </a:ext>
            </a:extLst>
          </p:cNvPr>
          <p:cNvSpPr/>
          <p:nvPr/>
        </p:nvSpPr>
        <p:spPr bwMode="gray">
          <a:xfrm>
            <a:off x="4848681" y="3390215"/>
            <a:ext cx="604190" cy="260467"/>
          </a:xfrm>
          <a:prstGeom prst="wedgeRectCallout">
            <a:avLst>
              <a:gd name="adj1" fmla="val 37967"/>
              <a:gd name="adj2" fmla="val -9829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VPN2</a:t>
            </a:r>
          </a:p>
        </p:txBody>
      </p:sp>
      <p:sp>
        <p:nvSpPr>
          <p:cNvPr id="53" name="Freeform 159">
            <a:extLst>
              <a:ext uri="{FF2B5EF4-FFF2-40B4-BE49-F238E27FC236}">
                <a16:creationId xmlns:a16="http://schemas.microsoft.com/office/drawing/2014/main" id="{3B6C84C4-C729-4C77-8025-D08A68DEB3C4}"/>
              </a:ext>
            </a:extLst>
          </p:cNvPr>
          <p:cNvSpPr/>
          <p:nvPr/>
        </p:nvSpPr>
        <p:spPr bwMode="gray">
          <a:xfrm flipH="1">
            <a:off x="1619746" y="4670170"/>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传统站点</a:t>
            </a:r>
            <a:endParaRPr lang="en-US" sz="1600" dirty="0">
              <a:solidFill>
                <a:schemeClr val="tx1"/>
              </a:solidFill>
            </a:endParaRPr>
          </a:p>
        </p:txBody>
      </p:sp>
      <p:sp>
        <p:nvSpPr>
          <p:cNvPr id="54" name="Freeform 159">
            <a:extLst>
              <a:ext uri="{FF2B5EF4-FFF2-40B4-BE49-F238E27FC236}">
                <a16:creationId xmlns:a16="http://schemas.microsoft.com/office/drawing/2014/main" id="{31D8D7FD-B21D-4CC1-9F15-87376B5D3426}"/>
              </a:ext>
            </a:extLst>
          </p:cNvPr>
          <p:cNvSpPr/>
          <p:nvPr/>
        </p:nvSpPr>
        <p:spPr bwMode="gray">
          <a:xfrm flipH="1">
            <a:off x="3546246" y="4670170"/>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传统站点</a:t>
            </a:r>
            <a:endParaRPr lang="en-US" sz="1600" dirty="0">
              <a:solidFill>
                <a:schemeClr val="tx1"/>
              </a:solidFill>
            </a:endParaRPr>
          </a:p>
        </p:txBody>
      </p:sp>
      <p:sp>
        <p:nvSpPr>
          <p:cNvPr id="55" name="Freeform 159">
            <a:extLst>
              <a:ext uri="{FF2B5EF4-FFF2-40B4-BE49-F238E27FC236}">
                <a16:creationId xmlns:a16="http://schemas.microsoft.com/office/drawing/2014/main" id="{8CCE82B7-9918-4C94-9786-7899D69AA7CD}"/>
              </a:ext>
            </a:extLst>
          </p:cNvPr>
          <p:cNvSpPr/>
          <p:nvPr/>
        </p:nvSpPr>
        <p:spPr bwMode="gray">
          <a:xfrm flipH="1">
            <a:off x="7450879" y="4698069"/>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SD-WAN</a:t>
            </a:r>
            <a:r>
              <a:rPr lang="zh-CN" altLang="en-US" sz="1400" dirty="0">
                <a:solidFill>
                  <a:schemeClr val="tx1"/>
                </a:solidFill>
              </a:rPr>
              <a:t>站点</a:t>
            </a:r>
            <a:endParaRPr lang="en-US" sz="1600" dirty="0">
              <a:solidFill>
                <a:schemeClr val="tx1"/>
              </a:solidFill>
            </a:endParaRPr>
          </a:p>
        </p:txBody>
      </p:sp>
      <p:sp>
        <p:nvSpPr>
          <p:cNvPr id="56" name="Freeform 159">
            <a:extLst>
              <a:ext uri="{FF2B5EF4-FFF2-40B4-BE49-F238E27FC236}">
                <a16:creationId xmlns:a16="http://schemas.microsoft.com/office/drawing/2014/main" id="{6C64D288-1114-4883-BDAB-3AEF47AB7226}"/>
              </a:ext>
            </a:extLst>
          </p:cNvPr>
          <p:cNvSpPr/>
          <p:nvPr/>
        </p:nvSpPr>
        <p:spPr bwMode="gray">
          <a:xfrm flipH="1">
            <a:off x="9439586" y="4698069"/>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SD-WAN</a:t>
            </a:r>
            <a:r>
              <a:rPr lang="zh-CN" altLang="en-US" sz="1400" dirty="0">
                <a:solidFill>
                  <a:schemeClr val="tx1"/>
                </a:solidFill>
              </a:rPr>
              <a:t>站点</a:t>
            </a:r>
            <a:endParaRPr lang="en-US" sz="1600" dirty="0">
              <a:solidFill>
                <a:schemeClr val="tx1"/>
              </a:solidFill>
            </a:endParaRPr>
          </a:p>
        </p:txBody>
      </p:sp>
      <p:pic>
        <p:nvPicPr>
          <p:cNvPr id="11" name="Picture 12" descr="E:\2016.01\1.12 扁平化图标\蓝色\AR-蓝色最新-40.png">
            <a:extLst>
              <a:ext uri="{FF2B5EF4-FFF2-40B4-BE49-F238E27FC236}">
                <a16:creationId xmlns:a16="http://schemas.microsoft.com/office/drawing/2014/main" id="{838A6385-4179-4D51-8190-179587F7468A}"/>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3929568" y="4438747"/>
            <a:ext cx="402674" cy="329461"/>
          </a:xfrm>
          <a:prstGeom prst="rect">
            <a:avLst/>
          </a:prstGeom>
          <a:noFill/>
        </p:spPr>
      </p:pic>
      <p:pic>
        <p:nvPicPr>
          <p:cNvPr id="12" name="Picture 12" descr="E:\2016.01\1.12 扁平化图标\蓝色\AR-蓝色最新-40.png">
            <a:extLst>
              <a:ext uri="{FF2B5EF4-FFF2-40B4-BE49-F238E27FC236}">
                <a16:creationId xmlns:a16="http://schemas.microsoft.com/office/drawing/2014/main" id="{1D01957A-2BAC-493D-8FD7-27B267311DD6}"/>
              </a:ext>
            </a:extLst>
          </p:cNvPr>
          <p:cNvPicPr>
            <a:picLocks noChangeAspect="1" noChangeArrowheads="1"/>
          </p:cNvPicPr>
          <p:nvPr/>
        </p:nvPicPr>
        <p:blipFill>
          <a:blip r:embed="rId3" cstate="print"/>
          <a:srcRect/>
          <a:stretch>
            <a:fillRect/>
          </a:stretch>
        </p:blipFill>
        <p:spPr bwMode="gray">
          <a:xfrm>
            <a:off x="7763386" y="4438748"/>
            <a:ext cx="402674" cy="329461"/>
          </a:xfrm>
          <a:prstGeom prst="rect">
            <a:avLst/>
          </a:prstGeom>
          <a:noFill/>
        </p:spPr>
      </p:pic>
      <p:pic>
        <p:nvPicPr>
          <p:cNvPr id="13" name="Picture 12" descr="E:\2016.01\1.12 扁平化图标\蓝色\AR-蓝色最新-40.png">
            <a:extLst>
              <a:ext uri="{FF2B5EF4-FFF2-40B4-BE49-F238E27FC236}">
                <a16:creationId xmlns:a16="http://schemas.microsoft.com/office/drawing/2014/main" id="{8A7B90A5-3B79-4E2D-B5C3-DCE546B733C0}"/>
              </a:ext>
            </a:extLst>
          </p:cNvPr>
          <p:cNvPicPr>
            <a:picLocks noChangeAspect="1" noChangeArrowheads="1"/>
          </p:cNvPicPr>
          <p:nvPr/>
        </p:nvPicPr>
        <p:blipFill>
          <a:blip r:embed="rId3" cstate="print"/>
          <a:srcRect/>
          <a:stretch>
            <a:fillRect/>
          </a:stretch>
        </p:blipFill>
        <p:spPr bwMode="gray">
          <a:xfrm>
            <a:off x="9716653" y="4438747"/>
            <a:ext cx="402674" cy="329461"/>
          </a:xfrm>
          <a:prstGeom prst="rect">
            <a:avLst/>
          </a:prstGeom>
          <a:noFill/>
        </p:spPr>
      </p:pic>
      <p:pic>
        <p:nvPicPr>
          <p:cNvPr id="10" name="Picture 12" descr="E:\2016.01\1.12 扁平化图标\蓝色\AR-蓝色最新-40.png">
            <a:extLst>
              <a:ext uri="{FF2B5EF4-FFF2-40B4-BE49-F238E27FC236}">
                <a16:creationId xmlns:a16="http://schemas.microsoft.com/office/drawing/2014/main" id="{13133E99-9ADD-4988-9574-160C696B8829}"/>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1976301" y="4438748"/>
            <a:ext cx="402674" cy="329461"/>
          </a:xfrm>
          <a:prstGeom prst="rect">
            <a:avLst/>
          </a:prstGeom>
          <a:noFill/>
        </p:spPr>
      </p:pic>
      <p:sp>
        <p:nvSpPr>
          <p:cNvPr id="57" name="Rectangular Callout 26">
            <a:extLst>
              <a:ext uri="{FF2B5EF4-FFF2-40B4-BE49-F238E27FC236}">
                <a16:creationId xmlns:a16="http://schemas.microsoft.com/office/drawing/2014/main" id="{6D9299F9-DA1B-4BFE-8BAA-06F6C5D84F0F}"/>
              </a:ext>
            </a:extLst>
          </p:cNvPr>
          <p:cNvSpPr/>
          <p:nvPr/>
        </p:nvSpPr>
        <p:spPr bwMode="gray">
          <a:xfrm>
            <a:off x="5911772" y="3399906"/>
            <a:ext cx="1248290" cy="424779"/>
          </a:xfrm>
          <a:prstGeom prst="wedgeRectCallout">
            <a:avLst>
              <a:gd name="adj1" fmla="val -34552"/>
              <a:gd name="adj2" fmla="val -12452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OSPF/BGP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传递路由</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文本框 83">
            <a:extLst>
              <a:ext uri="{FF2B5EF4-FFF2-40B4-BE49-F238E27FC236}">
                <a16:creationId xmlns:a16="http://schemas.microsoft.com/office/drawing/2014/main" id="{DA7AD3AE-1E76-44EC-BD1B-7AD28D06692D}"/>
              </a:ext>
            </a:extLst>
          </p:cNvPr>
          <p:cNvSpPr txBox="1"/>
          <p:nvPr/>
        </p:nvSpPr>
        <p:spPr bwMode="gray">
          <a:xfrm>
            <a:off x="6674997" y="4490257"/>
            <a:ext cx="1115783" cy="276999"/>
          </a:xfrm>
          <a:prstGeom prst="rect">
            <a:avLst/>
          </a:prstGeom>
          <a:noFill/>
        </p:spPr>
        <p:txBody>
          <a:bodyPr wrap="square" rtlCol="0">
            <a:spAutoFit/>
          </a:bodyPr>
          <a:lstStyle/>
          <a:p>
            <a:pPr algn="ctr"/>
            <a:r>
              <a:rPr lang="en-US" altLang="zh-CN" sz="1200"/>
              <a:t>SD-WAN CPE</a:t>
            </a:r>
            <a:endParaRPr lang="zh-CN" altLang="en-US" sz="1200" dirty="0"/>
          </a:p>
        </p:txBody>
      </p:sp>
      <p:sp>
        <p:nvSpPr>
          <p:cNvPr id="60" name="文本框 83">
            <a:extLst>
              <a:ext uri="{FF2B5EF4-FFF2-40B4-BE49-F238E27FC236}">
                <a16:creationId xmlns:a16="http://schemas.microsoft.com/office/drawing/2014/main" id="{D77F95AF-18EC-4CA9-BA4A-0039E2D0382A}"/>
              </a:ext>
            </a:extLst>
          </p:cNvPr>
          <p:cNvSpPr txBox="1"/>
          <p:nvPr/>
        </p:nvSpPr>
        <p:spPr bwMode="gray">
          <a:xfrm>
            <a:off x="4281146" y="4467022"/>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sp>
        <p:nvSpPr>
          <p:cNvPr id="61" name="文本框 83">
            <a:extLst>
              <a:ext uri="{FF2B5EF4-FFF2-40B4-BE49-F238E27FC236}">
                <a16:creationId xmlns:a16="http://schemas.microsoft.com/office/drawing/2014/main" id="{28040668-C87B-487D-B5DF-CE7CDE22C0F5}"/>
              </a:ext>
            </a:extLst>
          </p:cNvPr>
          <p:cNvSpPr txBox="1"/>
          <p:nvPr/>
        </p:nvSpPr>
        <p:spPr bwMode="gray">
          <a:xfrm>
            <a:off x="4178440" y="2705144"/>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sp>
        <p:nvSpPr>
          <p:cNvPr id="62" name="文本框 83">
            <a:extLst>
              <a:ext uri="{FF2B5EF4-FFF2-40B4-BE49-F238E27FC236}">
                <a16:creationId xmlns:a16="http://schemas.microsoft.com/office/drawing/2014/main" id="{83B99537-052F-40A8-B17E-370D9532130D}"/>
              </a:ext>
            </a:extLst>
          </p:cNvPr>
          <p:cNvSpPr txBox="1"/>
          <p:nvPr/>
        </p:nvSpPr>
        <p:spPr bwMode="gray">
          <a:xfrm>
            <a:off x="7160062" y="2702366"/>
            <a:ext cx="1115783" cy="276999"/>
          </a:xfrm>
          <a:prstGeom prst="rect">
            <a:avLst/>
          </a:prstGeom>
          <a:noFill/>
        </p:spPr>
        <p:txBody>
          <a:bodyPr wrap="square" rtlCol="0">
            <a:spAutoFit/>
          </a:bodyPr>
          <a:lstStyle/>
          <a:p>
            <a:pPr algn="ctr"/>
            <a:r>
              <a:rPr lang="en-US" altLang="zh-CN" sz="1200"/>
              <a:t>SD-WAN CPE</a:t>
            </a:r>
            <a:endParaRPr lang="zh-CN" altLang="en-US" sz="1200" dirty="0"/>
          </a:p>
        </p:txBody>
      </p:sp>
      <p:sp>
        <p:nvSpPr>
          <p:cNvPr id="52"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58"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34247873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574A18-A757-4310-ACD5-79C9C9B8C0C6}"/>
              </a:ext>
            </a:extLst>
          </p:cNvPr>
          <p:cNvSpPr>
            <a:spLocks noGrp="1"/>
          </p:cNvSpPr>
          <p:nvPr>
            <p:ph type="body" sz="quarter" idx="10"/>
          </p:nvPr>
        </p:nvSpPr>
        <p:spPr bwMode="gray"/>
        <p:txBody>
          <a:bodyPr/>
          <a:lstStyle/>
          <a:p>
            <a:r>
              <a:rPr lang="zh-CN" altLang="en-US" sz="1800" dirty="0"/>
              <a:t>当</a:t>
            </a:r>
            <a:r>
              <a:rPr lang="en-US" altLang="zh-CN" sz="1800" dirty="0"/>
              <a:t>SD-WAN</a:t>
            </a:r>
            <a:r>
              <a:rPr lang="zh-CN" altLang="en-US" sz="1800" dirty="0"/>
              <a:t>站点连接的</a:t>
            </a:r>
            <a:r>
              <a:rPr lang="en-US" altLang="zh-CN" sz="1800" dirty="0"/>
              <a:t>Underlay</a:t>
            </a:r>
            <a:r>
              <a:rPr lang="zh-CN" altLang="en-US" sz="1800" dirty="0"/>
              <a:t>网络和传统</a:t>
            </a:r>
            <a:r>
              <a:rPr lang="en-US" altLang="zh-CN" sz="1800" dirty="0"/>
              <a:t>MPLS</a:t>
            </a:r>
            <a:r>
              <a:rPr lang="zh-CN" altLang="en-US" sz="1800" dirty="0"/>
              <a:t>网络是同一张网络或可互通的网络时，通过</a:t>
            </a:r>
            <a:r>
              <a:rPr lang="en-US" altLang="zh-CN" sz="1800" dirty="0"/>
              <a:t>SD-WAN</a:t>
            </a:r>
            <a:r>
              <a:rPr lang="zh-CN" altLang="en-US" sz="1800" dirty="0"/>
              <a:t>提供</a:t>
            </a:r>
            <a:r>
              <a:rPr lang="zh-CN" altLang="en-US" sz="1800"/>
              <a:t>的</a:t>
            </a:r>
            <a:r>
              <a:rPr lang="en-US" altLang="zh-CN" sz="1800"/>
              <a:t>Local Breakout</a:t>
            </a:r>
            <a:r>
              <a:rPr lang="zh-CN" altLang="en-US" sz="1800" dirty="0"/>
              <a:t>技术，使</a:t>
            </a:r>
            <a:r>
              <a:rPr lang="en-US" altLang="zh-CN" sz="1800" dirty="0"/>
              <a:t>SD-WAN</a:t>
            </a:r>
            <a:r>
              <a:rPr lang="zh-CN" altLang="en-US" sz="1800" dirty="0"/>
              <a:t>站点用户流量先</a:t>
            </a:r>
            <a:r>
              <a:rPr lang="zh-CN" altLang="en-US" sz="1800"/>
              <a:t>流向</a:t>
            </a:r>
            <a:r>
              <a:rPr lang="en-US" altLang="zh-CN" sz="1800"/>
              <a:t>Underlay MPLS</a:t>
            </a:r>
            <a:r>
              <a:rPr lang="zh-CN" altLang="en-US" sz="1800" dirty="0"/>
              <a:t>网络上，再和传统非</a:t>
            </a:r>
            <a:r>
              <a:rPr lang="en-US" altLang="zh-CN" sz="1800" dirty="0"/>
              <a:t>SD-WAN</a:t>
            </a:r>
            <a:r>
              <a:rPr lang="zh-CN" altLang="en-US" sz="1800" dirty="0"/>
              <a:t>站点用户在</a:t>
            </a:r>
            <a:r>
              <a:rPr lang="en-US" altLang="zh-CN" sz="1800" dirty="0"/>
              <a:t>Underlay</a:t>
            </a:r>
            <a:r>
              <a:rPr lang="zh-CN" altLang="en-US" sz="1800" dirty="0"/>
              <a:t>网络上实现直接的互联互访。</a:t>
            </a:r>
            <a:endParaRPr lang="en-US" sz="1800" dirty="0"/>
          </a:p>
        </p:txBody>
      </p:sp>
      <p:sp>
        <p:nvSpPr>
          <p:cNvPr id="5" name="圆角矩形 54">
            <a:extLst>
              <a:ext uri="{FF2B5EF4-FFF2-40B4-BE49-F238E27FC236}">
                <a16:creationId xmlns:a16="http://schemas.microsoft.com/office/drawing/2014/main" id="{C34924F5-6095-4848-95B3-DFC9EAED4995}"/>
              </a:ext>
            </a:extLst>
          </p:cNvPr>
          <p:cNvSpPr/>
          <p:nvPr/>
        </p:nvSpPr>
        <p:spPr bwMode="gray">
          <a:xfrm>
            <a:off x="1137840" y="2721184"/>
            <a:ext cx="9916319" cy="333488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基于本地互访方案只支持一</a:t>
            </a:r>
            <a:r>
              <a:rPr lang="zh-CN" altLang="en-US" sz="1400">
                <a:solidFill>
                  <a:schemeClr val="tx1"/>
                </a:solidFill>
              </a:rPr>
              <a:t>个</a:t>
            </a:r>
            <a:r>
              <a:rPr lang="en-US" altLang="zh-CN" sz="1400">
                <a:solidFill>
                  <a:schemeClr val="tx1"/>
                </a:solidFill>
              </a:rPr>
              <a:t>SD-WAN VPN</a:t>
            </a:r>
            <a:r>
              <a:rPr lang="zh-CN" altLang="en-US" sz="1400" dirty="0">
                <a:solidFill>
                  <a:schemeClr val="tx1"/>
                </a:solidFill>
              </a:rPr>
              <a:t>的用户流量</a:t>
            </a:r>
            <a:r>
              <a:rPr lang="zh-CN" altLang="en-US" sz="1400">
                <a:solidFill>
                  <a:schemeClr val="tx1"/>
                </a:solidFill>
              </a:rPr>
              <a:t>通过</a:t>
            </a:r>
            <a:r>
              <a:rPr lang="en-US" altLang="zh-CN" sz="1400">
                <a:solidFill>
                  <a:schemeClr val="tx1"/>
                </a:solidFill>
              </a:rPr>
              <a:t>Local Breakout</a:t>
            </a:r>
            <a:r>
              <a:rPr lang="zh-CN" altLang="en-US" sz="1400" dirty="0">
                <a:solidFill>
                  <a:schemeClr val="tx1"/>
                </a:solidFill>
              </a:rPr>
              <a:t>和</a:t>
            </a:r>
            <a:r>
              <a:rPr lang="en-US" altLang="zh-CN" sz="1400" dirty="0">
                <a:solidFill>
                  <a:schemeClr val="tx1"/>
                </a:solidFill>
              </a:rPr>
              <a:t>Underlay</a:t>
            </a:r>
            <a:r>
              <a:rPr lang="zh-CN" altLang="en-US" sz="1400" dirty="0">
                <a:solidFill>
                  <a:schemeClr val="tx1"/>
                </a:solidFill>
              </a:rPr>
              <a:t>对应的传统站点的</a:t>
            </a:r>
            <a:r>
              <a:rPr lang="en-US" altLang="zh-CN" sz="1400" dirty="0">
                <a:solidFill>
                  <a:schemeClr val="tx1"/>
                </a:solidFill>
              </a:rPr>
              <a:t>VPN</a:t>
            </a:r>
            <a:r>
              <a:rPr lang="zh-CN" altLang="en-US" sz="1400" dirty="0">
                <a:solidFill>
                  <a:schemeClr val="tx1"/>
                </a:solidFill>
              </a:rPr>
              <a:t>用户互通。</a:t>
            </a:r>
          </a:p>
        </p:txBody>
      </p:sp>
      <p:sp>
        <p:nvSpPr>
          <p:cNvPr id="2" name="Title 1">
            <a:extLst>
              <a:ext uri="{FF2B5EF4-FFF2-40B4-BE49-F238E27FC236}">
                <a16:creationId xmlns:a16="http://schemas.microsoft.com/office/drawing/2014/main" id="{5B756E6E-52F5-4E52-A7E0-BCD77B3181E9}"/>
              </a:ext>
            </a:extLst>
          </p:cNvPr>
          <p:cNvSpPr>
            <a:spLocks noGrp="1"/>
          </p:cNvSpPr>
          <p:nvPr>
            <p:ph type="title"/>
          </p:nvPr>
        </p:nvSpPr>
        <p:spPr bwMode="gray"/>
        <p:txBody>
          <a:bodyPr/>
          <a:lstStyle/>
          <a:p>
            <a:r>
              <a:rPr lang="zh-CN" altLang="en-US" dirty="0"/>
              <a:t>通过企业站点互访：基于本地互访</a:t>
            </a:r>
            <a:endParaRPr lang="en-US" dirty="0"/>
          </a:p>
        </p:txBody>
      </p:sp>
      <p:sp>
        <p:nvSpPr>
          <p:cNvPr id="4" name="圆角矩形 53">
            <a:extLst>
              <a:ext uri="{FF2B5EF4-FFF2-40B4-BE49-F238E27FC236}">
                <a16:creationId xmlns:a16="http://schemas.microsoft.com/office/drawing/2014/main" id="{8488A8C9-F27C-4312-BA05-372395C8CC8C}"/>
              </a:ext>
            </a:extLst>
          </p:cNvPr>
          <p:cNvSpPr/>
          <p:nvPr/>
        </p:nvSpPr>
        <p:spPr bwMode="gray">
          <a:xfrm>
            <a:off x="1137840" y="2304388"/>
            <a:ext cx="9916319" cy="360023"/>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基于本地互访设计</a:t>
            </a:r>
          </a:p>
        </p:txBody>
      </p:sp>
      <p:sp>
        <p:nvSpPr>
          <p:cNvPr id="48" name="Rectangle: Rounded Corners 47">
            <a:extLst>
              <a:ext uri="{FF2B5EF4-FFF2-40B4-BE49-F238E27FC236}">
                <a16:creationId xmlns:a16="http://schemas.microsoft.com/office/drawing/2014/main" id="{9D6D13E4-E0F4-4E39-A224-DCE898C10B1B}"/>
              </a:ext>
            </a:extLst>
          </p:cNvPr>
          <p:cNvSpPr/>
          <p:nvPr/>
        </p:nvSpPr>
        <p:spPr bwMode="gray">
          <a:xfrm>
            <a:off x="2586390" y="2796399"/>
            <a:ext cx="3327441" cy="2819546"/>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Rectangle: Rounded Corners 48">
            <a:extLst>
              <a:ext uri="{FF2B5EF4-FFF2-40B4-BE49-F238E27FC236}">
                <a16:creationId xmlns:a16="http://schemas.microsoft.com/office/drawing/2014/main" id="{FA51747D-FEBD-4B73-A495-D78F8671729A}"/>
              </a:ext>
            </a:extLst>
          </p:cNvPr>
          <p:cNvSpPr/>
          <p:nvPr/>
        </p:nvSpPr>
        <p:spPr bwMode="gray">
          <a:xfrm>
            <a:off x="6347989" y="2796399"/>
            <a:ext cx="3327442" cy="2819546"/>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Freeform 159">
            <a:extLst>
              <a:ext uri="{FF2B5EF4-FFF2-40B4-BE49-F238E27FC236}">
                <a16:creationId xmlns:a16="http://schemas.microsoft.com/office/drawing/2014/main" id="{39E7CD4A-0138-4142-BC93-2187247B14BC}"/>
              </a:ext>
            </a:extLst>
          </p:cNvPr>
          <p:cNvSpPr/>
          <p:nvPr/>
        </p:nvSpPr>
        <p:spPr bwMode="gray">
          <a:xfrm flipH="1">
            <a:off x="5573019" y="3997631"/>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1</a:t>
            </a:r>
            <a:endParaRPr lang="en-US" dirty="0">
              <a:solidFill>
                <a:schemeClr val="tx1"/>
              </a:solidFill>
            </a:endParaRPr>
          </a:p>
        </p:txBody>
      </p:sp>
      <p:cxnSp>
        <p:nvCxnSpPr>
          <p:cNvPr id="61" name="直接连接符 121">
            <a:extLst>
              <a:ext uri="{FF2B5EF4-FFF2-40B4-BE49-F238E27FC236}">
                <a16:creationId xmlns:a16="http://schemas.microsoft.com/office/drawing/2014/main" id="{DEB8261A-2A92-4844-8854-4D8B651F485B}"/>
              </a:ext>
            </a:extLst>
          </p:cNvPr>
          <p:cNvCxnSpPr>
            <a:cxnSpLocks/>
            <a:stCxn id="54" idx="3"/>
            <a:endCxn id="58" idx="24"/>
          </p:cNvCxnSpPr>
          <p:nvPr/>
        </p:nvCxnSpPr>
        <p:spPr bwMode="gray">
          <a:xfrm>
            <a:off x="4141549" y="3628632"/>
            <a:ext cx="1598360" cy="59930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121">
            <a:extLst>
              <a:ext uri="{FF2B5EF4-FFF2-40B4-BE49-F238E27FC236}">
                <a16:creationId xmlns:a16="http://schemas.microsoft.com/office/drawing/2014/main" id="{01D31ECE-253E-47AF-8AAB-E98087539B24}"/>
              </a:ext>
            </a:extLst>
          </p:cNvPr>
          <p:cNvCxnSpPr>
            <a:cxnSpLocks/>
            <a:stCxn id="55" idx="3"/>
            <a:endCxn id="58" idx="15"/>
          </p:cNvCxnSpPr>
          <p:nvPr/>
        </p:nvCxnSpPr>
        <p:spPr bwMode="gray">
          <a:xfrm flipV="1">
            <a:off x="4148129" y="4601347"/>
            <a:ext cx="1597701" cy="56967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121">
            <a:extLst>
              <a:ext uri="{FF2B5EF4-FFF2-40B4-BE49-F238E27FC236}">
                <a16:creationId xmlns:a16="http://schemas.microsoft.com/office/drawing/2014/main" id="{191D6FAF-2C45-4749-BF9D-1D746AA502B2}"/>
              </a:ext>
            </a:extLst>
          </p:cNvPr>
          <p:cNvCxnSpPr>
            <a:cxnSpLocks/>
            <a:stCxn id="58" idx="7"/>
            <a:endCxn id="53" idx="1"/>
          </p:cNvCxnSpPr>
          <p:nvPr/>
        </p:nvCxnSpPr>
        <p:spPr bwMode="gray">
          <a:xfrm flipV="1">
            <a:off x="6576832" y="3622131"/>
            <a:ext cx="1454977" cy="61137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121">
            <a:extLst>
              <a:ext uri="{FF2B5EF4-FFF2-40B4-BE49-F238E27FC236}">
                <a16:creationId xmlns:a16="http://schemas.microsoft.com/office/drawing/2014/main" id="{200C6F14-7ECF-41ED-819A-EAC0F057708D}"/>
              </a:ext>
            </a:extLst>
          </p:cNvPr>
          <p:cNvCxnSpPr>
            <a:cxnSpLocks/>
            <a:stCxn id="58" idx="9"/>
            <a:endCxn id="56" idx="1"/>
          </p:cNvCxnSpPr>
          <p:nvPr/>
        </p:nvCxnSpPr>
        <p:spPr bwMode="gray">
          <a:xfrm>
            <a:off x="6524216" y="4600359"/>
            <a:ext cx="1507593" cy="56759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A9936D69-7B22-4DDB-881E-D9051C63F572}"/>
              </a:ext>
            </a:extLst>
          </p:cNvPr>
          <p:cNvSpPr txBox="1"/>
          <p:nvPr/>
        </p:nvSpPr>
        <p:spPr bwMode="gray">
          <a:xfrm>
            <a:off x="2586390" y="2807406"/>
            <a:ext cx="902811" cy="307777"/>
          </a:xfrm>
          <a:prstGeom prst="rect">
            <a:avLst/>
          </a:prstGeom>
          <a:noFill/>
        </p:spPr>
        <p:txBody>
          <a:bodyPr wrap="none" rtlCol="0">
            <a:spAutoFit/>
          </a:bodyPr>
          <a:lstStyle/>
          <a:p>
            <a:r>
              <a:rPr lang="zh-CN" altLang="en-US" sz="1400" dirty="0"/>
              <a:t>传统网络</a:t>
            </a:r>
          </a:p>
        </p:txBody>
      </p:sp>
      <p:sp>
        <p:nvSpPr>
          <p:cNvPr id="69" name="TextBox 68">
            <a:extLst>
              <a:ext uri="{FF2B5EF4-FFF2-40B4-BE49-F238E27FC236}">
                <a16:creationId xmlns:a16="http://schemas.microsoft.com/office/drawing/2014/main" id="{BE9DBA19-4BD0-4190-B89B-3BC82C4722C9}"/>
              </a:ext>
            </a:extLst>
          </p:cNvPr>
          <p:cNvSpPr txBox="1"/>
          <p:nvPr/>
        </p:nvSpPr>
        <p:spPr bwMode="gray">
          <a:xfrm>
            <a:off x="8424122" y="2807406"/>
            <a:ext cx="1269899" cy="307777"/>
          </a:xfrm>
          <a:prstGeom prst="rect">
            <a:avLst/>
          </a:prstGeom>
          <a:noFill/>
        </p:spPr>
        <p:txBody>
          <a:bodyPr wrap="none" rtlCol="0">
            <a:spAutoFit/>
          </a:bodyPr>
          <a:lstStyle/>
          <a:p>
            <a:r>
              <a:rPr lang="en-US" altLang="zh-CN" sz="1400" dirty="0"/>
              <a:t>SD-WAN</a:t>
            </a:r>
            <a:r>
              <a:rPr lang="zh-CN" altLang="en-US" sz="1400" dirty="0"/>
              <a:t>网络</a:t>
            </a:r>
          </a:p>
        </p:txBody>
      </p:sp>
      <p:sp>
        <p:nvSpPr>
          <p:cNvPr id="88" name="Freeform 159">
            <a:extLst>
              <a:ext uri="{FF2B5EF4-FFF2-40B4-BE49-F238E27FC236}">
                <a16:creationId xmlns:a16="http://schemas.microsoft.com/office/drawing/2014/main" id="{C7D6AEDD-B580-4C2F-BB8D-656069F85097}"/>
              </a:ext>
            </a:extLst>
          </p:cNvPr>
          <p:cNvSpPr/>
          <p:nvPr/>
        </p:nvSpPr>
        <p:spPr bwMode="gray">
          <a:xfrm flipH="1">
            <a:off x="2826352" y="3264765"/>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传统站点</a:t>
            </a:r>
            <a:endParaRPr lang="en-US" sz="1600" dirty="0">
              <a:solidFill>
                <a:schemeClr val="tx1"/>
              </a:solidFill>
            </a:endParaRPr>
          </a:p>
        </p:txBody>
      </p:sp>
      <p:sp>
        <p:nvSpPr>
          <p:cNvPr id="89" name="Freeform 159">
            <a:extLst>
              <a:ext uri="{FF2B5EF4-FFF2-40B4-BE49-F238E27FC236}">
                <a16:creationId xmlns:a16="http://schemas.microsoft.com/office/drawing/2014/main" id="{603FEE61-B06C-403D-BC02-885D64A450BF}"/>
              </a:ext>
            </a:extLst>
          </p:cNvPr>
          <p:cNvSpPr/>
          <p:nvPr/>
        </p:nvSpPr>
        <p:spPr bwMode="gray">
          <a:xfrm flipH="1">
            <a:off x="2826352" y="4799786"/>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传统站点</a:t>
            </a:r>
            <a:endParaRPr lang="en-US" sz="1600" dirty="0">
              <a:solidFill>
                <a:schemeClr val="tx1"/>
              </a:solidFill>
            </a:endParaRPr>
          </a:p>
        </p:txBody>
      </p:sp>
      <p:pic>
        <p:nvPicPr>
          <p:cNvPr id="54" name="Picture 12" descr="E:\2016.01\1.12 扁平化图标\蓝色\AR-蓝色最新-40.png">
            <a:extLst>
              <a:ext uri="{FF2B5EF4-FFF2-40B4-BE49-F238E27FC236}">
                <a16:creationId xmlns:a16="http://schemas.microsoft.com/office/drawing/2014/main" id="{3F7FDC90-77CF-42BF-A44C-7485177F7CE7}"/>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3738875" y="3463901"/>
            <a:ext cx="402674" cy="329461"/>
          </a:xfrm>
          <a:prstGeom prst="rect">
            <a:avLst/>
          </a:prstGeom>
          <a:noFill/>
        </p:spPr>
      </p:pic>
      <p:pic>
        <p:nvPicPr>
          <p:cNvPr id="55" name="Picture 12" descr="E:\2016.01\1.12 扁平化图标\蓝色\AR-蓝色最新-40.png">
            <a:extLst>
              <a:ext uri="{FF2B5EF4-FFF2-40B4-BE49-F238E27FC236}">
                <a16:creationId xmlns:a16="http://schemas.microsoft.com/office/drawing/2014/main" id="{F7DF68BC-BAEF-4DDD-A8B1-849368BEB881}"/>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3745455" y="5006287"/>
            <a:ext cx="402674" cy="329461"/>
          </a:xfrm>
          <a:prstGeom prst="rect">
            <a:avLst/>
          </a:prstGeom>
          <a:noFill/>
        </p:spPr>
      </p:pic>
      <p:sp>
        <p:nvSpPr>
          <p:cNvPr id="95" name="Freeform 159">
            <a:extLst>
              <a:ext uri="{FF2B5EF4-FFF2-40B4-BE49-F238E27FC236}">
                <a16:creationId xmlns:a16="http://schemas.microsoft.com/office/drawing/2014/main" id="{B3D21100-61C5-49EA-8E88-30D35164F2B5}"/>
              </a:ext>
            </a:extLst>
          </p:cNvPr>
          <p:cNvSpPr/>
          <p:nvPr/>
        </p:nvSpPr>
        <p:spPr bwMode="gray">
          <a:xfrm flipH="1">
            <a:off x="8331676" y="3264765"/>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SD-WAN</a:t>
            </a:r>
            <a:r>
              <a:rPr lang="zh-CN" altLang="en-US" sz="1400" dirty="0">
                <a:solidFill>
                  <a:schemeClr val="tx1"/>
                </a:solidFill>
              </a:rPr>
              <a:t>站点</a:t>
            </a:r>
            <a:endParaRPr lang="en-US" sz="1600" dirty="0">
              <a:solidFill>
                <a:schemeClr val="tx1"/>
              </a:solidFill>
            </a:endParaRPr>
          </a:p>
        </p:txBody>
      </p:sp>
      <p:sp>
        <p:nvSpPr>
          <p:cNvPr id="96" name="Freeform 159">
            <a:extLst>
              <a:ext uri="{FF2B5EF4-FFF2-40B4-BE49-F238E27FC236}">
                <a16:creationId xmlns:a16="http://schemas.microsoft.com/office/drawing/2014/main" id="{E13C8D37-C2C8-4124-9C96-EA989EBCA532}"/>
              </a:ext>
            </a:extLst>
          </p:cNvPr>
          <p:cNvSpPr/>
          <p:nvPr/>
        </p:nvSpPr>
        <p:spPr bwMode="gray">
          <a:xfrm flipH="1">
            <a:off x="8347427" y="4799786"/>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SD-WAN</a:t>
            </a:r>
            <a:r>
              <a:rPr lang="zh-CN" altLang="en-US" sz="1400" dirty="0">
                <a:solidFill>
                  <a:schemeClr val="tx1"/>
                </a:solidFill>
              </a:rPr>
              <a:t>站点</a:t>
            </a:r>
            <a:endParaRPr lang="en-US" sz="1600" dirty="0">
              <a:solidFill>
                <a:schemeClr val="tx1"/>
              </a:solidFill>
            </a:endParaRPr>
          </a:p>
        </p:txBody>
      </p:sp>
      <p:pic>
        <p:nvPicPr>
          <p:cNvPr id="53" name="Picture 12" descr="E:\2016.01\1.12 扁平化图标\蓝色\AR-蓝色最新-40.png">
            <a:extLst>
              <a:ext uri="{FF2B5EF4-FFF2-40B4-BE49-F238E27FC236}">
                <a16:creationId xmlns:a16="http://schemas.microsoft.com/office/drawing/2014/main" id="{DD72F436-F49A-43FE-A857-01EDCB9B21A2}"/>
              </a:ext>
            </a:extLst>
          </p:cNvPr>
          <p:cNvPicPr>
            <a:picLocks noChangeAspect="1" noChangeArrowheads="1"/>
          </p:cNvPicPr>
          <p:nvPr/>
        </p:nvPicPr>
        <p:blipFill>
          <a:blip r:embed="rId3" cstate="print"/>
          <a:srcRect/>
          <a:stretch>
            <a:fillRect/>
          </a:stretch>
        </p:blipFill>
        <p:spPr bwMode="gray">
          <a:xfrm>
            <a:off x="8031809" y="3457400"/>
            <a:ext cx="402674" cy="329461"/>
          </a:xfrm>
          <a:prstGeom prst="rect">
            <a:avLst/>
          </a:prstGeom>
          <a:noFill/>
        </p:spPr>
      </p:pic>
      <p:pic>
        <p:nvPicPr>
          <p:cNvPr id="56" name="Picture 12" descr="E:\2016.01\1.12 扁平化图标\蓝色\AR-蓝色最新-40.png">
            <a:extLst>
              <a:ext uri="{FF2B5EF4-FFF2-40B4-BE49-F238E27FC236}">
                <a16:creationId xmlns:a16="http://schemas.microsoft.com/office/drawing/2014/main" id="{4DD7D426-D796-4354-9B74-31D0F3D2A61F}"/>
              </a:ext>
            </a:extLst>
          </p:cNvPr>
          <p:cNvPicPr>
            <a:picLocks noChangeAspect="1" noChangeArrowheads="1"/>
          </p:cNvPicPr>
          <p:nvPr/>
        </p:nvPicPr>
        <p:blipFill>
          <a:blip r:embed="rId3" cstate="print"/>
          <a:srcRect/>
          <a:stretch>
            <a:fillRect/>
          </a:stretch>
        </p:blipFill>
        <p:spPr bwMode="gray">
          <a:xfrm>
            <a:off x="8031809" y="5003225"/>
            <a:ext cx="402674" cy="329461"/>
          </a:xfrm>
          <a:prstGeom prst="rect">
            <a:avLst/>
          </a:prstGeom>
          <a:noFill/>
        </p:spPr>
      </p:pic>
      <p:sp>
        <p:nvSpPr>
          <p:cNvPr id="97" name="流程图: 对照 91">
            <a:extLst>
              <a:ext uri="{FF2B5EF4-FFF2-40B4-BE49-F238E27FC236}">
                <a16:creationId xmlns:a16="http://schemas.microsoft.com/office/drawing/2014/main" id="{DF8EDC1E-8EDB-4A4D-96D9-41E96F3047C0}"/>
              </a:ext>
            </a:extLst>
          </p:cNvPr>
          <p:cNvSpPr/>
          <p:nvPr/>
        </p:nvSpPr>
        <p:spPr bwMode="gray">
          <a:xfrm>
            <a:off x="8169128" y="4713985"/>
            <a:ext cx="141588" cy="295445"/>
          </a:xfrm>
          <a:prstGeom prst="flowChartCollate">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ctr">
              <a:buClr>
                <a:srgbClr val="CC9900"/>
              </a:buClr>
              <a:buFont typeface="Wingdings" pitchFamily="2" charset="2"/>
              <a:buChar char="n"/>
            </a:pPr>
            <a:endParaRPr lang="en-US" altLang="zh-CN" sz="2000" dirty="0">
              <a:solidFill>
                <a:srgbClr val="000000"/>
              </a:solidFill>
              <a:ea typeface="宋体" charset="-122"/>
            </a:endParaRPr>
          </a:p>
        </p:txBody>
      </p:sp>
      <p:sp>
        <p:nvSpPr>
          <p:cNvPr id="98" name="Freeform: Shape 97">
            <a:extLst>
              <a:ext uri="{FF2B5EF4-FFF2-40B4-BE49-F238E27FC236}">
                <a16:creationId xmlns:a16="http://schemas.microsoft.com/office/drawing/2014/main" id="{059FB561-27EB-47F9-9DB9-03FD980BF530}"/>
              </a:ext>
            </a:extLst>
          </p:cNvPr>
          <p:cNvSpPr/>
          <p:nvPr/>
        </p:nvSpPr>
        <p:spPr bwMode="gray">
          <a:xfrm rot="21418357">
            <a:off x="4141473" y="4494488"/>
            <a:ext cx="4010463" cy="532862"/>
          </a:xfrm>
          <a:custGeom>
            <a:avLst/>
            <a:gdLst>
              <a:gd name="connsiteX0" fmla="*/ 0 w 5343525"/>
              <a:gd name="connsiteY0" fmla="*/ 610707 h 744057"/>
              <a:gd name="connsiteX1" fmla="*/ 2714625 w 5343525"/>
              <a:gd name="connsiteY1" fmla="*/ 1107 h 744057"/>
              <a:gd name="connsiteX2" fmla="*/ 5343525 w 5343525"/>
              <a:gd name="connsiteY2" fmla="*/ 744057 h 744057"/>
            </a:gdLst>
            <a:ahLst/>
            <a:cxnLst>
              <a:cxn ang="0">
                <a:pos x="connsiteX0" y="connsiteY0"/>
              </a:cxn>
              <a:cxn ang="0">
                <a:pos x="connsiteX1" y="connsiteY1"/>
              </a:cxn>
              <a:cxn ang="0">
                <a:pos x="connsiteX2" y="connsiteY2"/>
              </a:cxn>
            </a:cxnLst>
            <a:rect l="l" t="t" r="r" b="b"/>
            <a:pathLst>
              <a:path w="5343525" h="744057">
                <a:moveTo>
                  <a:pt x="0" y="610707"/>
                </a:moveTo>
                <a:cubicBezTo>
                  <a:pt x="912019" y="294794"/>
                  <a:pt x="1824038" y="-21118"/>
                  <a:pt x="2714625" y="1107"/>
                </a:cubicBezTo>
                <a:cubicBezTo>
                  <a:pt x="3605212" y="23332"/>
                  <a:pt x="4474368" y="383694"/>
                  <a:pt x="5343525" y="744057"/>
                </a:cubicBezTo>
              </a:path>
            </a:pathLst>
          </a:custGeom>
          <a:noFill/>
          <a:ln w="28575">
            <a:solidFill>
              <a:srgbClr val="56C4D2"/>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Shape 98">
            <a:extLst>
              <a:ext uri="{FF2B5EF4-FFF2-40B4-BE49-F238E27FC236}">
                <a16:creationId xmlns:a16="http://schemas.microsoft.com/office/drawing/2014/main" id="{04E1F75A-0773-4A72-8F23-E683A7A85E06}"/>
              </a:ext>
            </a:extLst>
          </p:cNvPr>
          <p:cNvSpPr/>
          <p:nvPr/>
        </p:nvSpPr>
        <p:spPr bwMode="gray">
          <a:xfrm>
            <a:off x="8331676" y="4636664"/>
            <a:ext cx="540120" cy="473804"/>
          </a:xfrm>
          <a:custGeom>
            <a:avLst/>
            <a:gdLst>
              <a:gd name="connsiteX0" fmla="*/ 0 w 476250"/>
              <a:gd name="connsiteY0" fmla="*/ 235679 h 473804"/>
              <a:gd name="connsiteX1" fmla="*/ 257175 w 476250"/>
              <a:gd name="connsiteY1" fmla="*/ 7079 h 473804"/>
              <a:gd name="connsiteX2" fmla="*/ 476250 w 476250"/>
              <a:gd name="connsiteY2" fmla="*/ 473804 h 473804"/>
            </a:gdLst>
            <a:ahLst/>
            <a:cxnLst>
              <a:cxn ang="0">
                <a:pos x="connsiteX0" y="connsiteY0"/>
              </a:cxn>
              <a:cxn ang="0">
                <a:pos x="connsiteX1" y="connsiteY1"/>
              </a:cxn>
              <a:cxn ang="0">
                <a:pos x="connsiteX2" y="connsiteY2"/>
              </a:cxn>
            </a:cxnLst>
            <a:rect l="l" t="t" r="r" b="b"/>
            <a:pathLst>
              <a:path w="476250" h="473804">
                <a:moveTo>
                  <a:pt x="0" y="235679"/>
                </a:moveTo>
                <a:cubicBezTo>
                  <a:pt x="88900" y="101535"/>
                  <a:pt x="177800" y="-32608"/>
                  <a:pt x="257175" y="7079"/>
                </a:cubicBezTo>
                <a:cubicBezTo>
                  <a:pt x="336550" y="46766"/>
                  <a:pt x="406400" y="260285"/>
                  <a:pt x="476250" y="473804"/>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08397E1E-63D1-454D-A7E1-98C20D25EAAA}"/>
              </a:ext>
            </a:extLst>
          </p:cNvPr>
          <p:cNvSpPr txBox="1"/>
          <p:nvPr/>
        </p:nvSpPr>
        <p:spPr bwMode="gray">
          <a:xfrm>
            <a:off x="7571786" y="4358279"/>
            <a:ext cx="1446230" cy="307777"/>
          </a:xfrm>
          <a:prstGeom prst="rect">
            <a:avLst/>
          </a:prstGeom>
          <a:noFill/>
        </p:spPr>
        <p:txBody>
          <a:bodyPr wrap="none" rtlCol="0">
            <a:spAutoFit/>
          </a:bodyPr>
          <a:lstStyle/>
          <a:p>
            <a:r>
              <a:rPr lang="en-US" altLang="zh-CN" sz="1400" dirty="0">
                <a:solidFill>
                  <a:srgbClr val="C7000B"/>
                </a:solidFill>
              </a:rPr>
              <a:t>Local Breakout</a:t>
            </a:r>
            <a:endParaRPr lang="zh-CN" altLang="en-US" sz="1400" dirty="0">
              <a:solidFill>
                <a:srgbClr val="C7000B"/>
              </a:solidFill>
            </a:endParaRPr>
          </a:p>
        </p:txBody>
      </p:sp>
      <p:sp>
        <p:nvSpPr>
          <p:cNvPr id="105" name="文本框 83">
            <a:extLst>
              <a:ext uri="{FF2B5EF4-FFF2-40B4-BE49-F238E27FC236}">
                <a16:creationId xmlns:a16="http://schemas.microsoft.com/office/drawing/2014/main" id="{F0D8786C-8FEA-4674-829A-3E13E02001DA}"/>
              </a:ext>
            </a:extLst>
          </p:cNvPr>
          <p:cNvSpPr txBox="1"/>
          <p:nvPr/>
        </p:nvSpPr>
        <p:spPr bwMode="gray">
          <a:xfrm>
            <a:off x="3694267" y="3203434"/>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sp>
        <p:nvSpPr>
          <p:cNvPr id="106" name="文本框 83">
            <a:extLst>
              <a:ext uri="{FF2B5EF4-FFF2-40B4-BE49-F238E27FC236}">
                <a16:creationId xmlns:a16="http://schemas.microsoft.com/office/drawing/2014/main" id="{D072BD5B-FA69-4DA9-8CCF-A4DCA456CB23}"/>
              </a:ext>
            </a:extLst>
          </p:cNvPr>
          <p:cNvSpPr txBox="1"/>
          <p:nvPr/>
        </p:nvSpPr>
        <p:spPr bwMode="gray">
          <a:xfrm>
            <a:off x="7215893" y="3212269"/>
            <a:ext cx="1115783" cy="461665"/>
          </a:xfrm>
          <a:prstGeom prst="rect">
            <a:avLst/>
          </a:prstGeom>
          <a:noFill/>
        </p:spPr>
        <p:txBody>
          <a:bodyPr wrap="square" rtlCol="0">
            <a:spAutoFit/>
          </a:bodyPr>
          <a:lstStyle/>
          <a:p>
            <a:pPr algn="ctr"/>
            <a:r>
              <a:rPr lang="en-US" altLang="zh-CN" sz="1200" dirty="0"/>
              <a:t>SD-WAN EDGE</a:t>
            </a:r>
            <a:endParaRPr lang="zh-CN" altLang="en-US" sz="1200" dirty="0"/>
          </a:p>
        </p:txBody>
      </p:sp>
      <p:sp>
        <p:nvSpPr>
          <p:cNvPr id="31"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32"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312211920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574A18-A757-4310-ACD5-79C9C9B8C0C6}"/>
              </a:ext>
            </a:extLst>
          </p:cNvPr>
          <p:cNvSpPr>
            <a:spLocks noGrp="1"/>
          </p:cNvSpPr>
          <p:nvPr>
            <p:ph type="body" sz="quarter" idx="10"/>
          </p:nvPr>
        </p:nvSpPr>
        <p:spPr bwMode="gray"/>
        <p:txBody>
          <a:bodyPr/>
          <a:lstStyle/>
          <a:p>
            <a:r>
              <a:rPr lang="zh-CN" altLang="en-US" sz="1800" dirty="0"/>
              <a:t>一套</a:t>
            </a:r>
            <a:r>
              <a:rPr lang="en-US" altLang="zh-CN" sz="1800" dirty="0"/>
              <a:t>IWG</a:t>
            </a:r>
            <a:r>
              <a:rPr lang="zh-CN" altLang="en-US" sz="1800" dirty="0"/>
              <a:t>（</a:t>
            </a:r>
            <a:r>
              <a:rPr lang="en-US" altLang="zh-CN" sz="1800" dirty="0"/>
              <a:t>Interworking Gateway</a:t>
            </a:r>
            <a:r>
              <a:rPr lang="zh-CN" altLang="en-US" sz="1800" dirty="0"/>
              <a:t>）系统能同时为多个企业租户提供</a:t>
            </a:r>
            <a:r>
              <a:rPr lang="en-US" altLang="zh-CN" sz="1800" dirty="0"/>
              <a:t>SD-WAN</a:t>
            </a:r>
            <a:r>
              <a:rPr lang="zh-CN" altLang="en-US" sz="1800" dirty="0"/>
              <a:t>站点和已有的传统</a:t>
            </a:r>
            <a:r>
              <a:rPr lang="en-US" altLang="zh-CN" sz="1800" dirty="0"/>
              <a:t>MPLS VPN</a:t>
            </a:r>
            <a:r>
              <a:rPr lang="zh-CN" altLang="en-US" sz="1800" dirty="0"/>
              <a:t>网络的站点连通服务，是运营商最经济实惠的选择。无论有多少用户，只需要配置一个</a:t>
            </a:r>
            <a:r>
              <a:rPr lang="en-US" altLang="zh-CN" sz="1800" dirty="0"/>
              <a:t>MP-BGP</a:t>
            </a:r>
            <a:r>
              <a:rPr lang="zh-CN" altLang="en-US" sz="1800" dirty="0"/>
              <a:t>邻居和对端</a:t>
            </a:r>
            <a:r>
              <a:rPr lang="en-US" altLang="zh-CN" sz="1800" dirty="0"/>
              <a:t>ASBR-PE</a:t>
            </a:r>
            <a:r>
              <a:rPr lang="zh-CN" altLang="en-US" sz="1800" dirty="0"/>
              <a:t>对接。</a:t>
            </a:r>
            <a:endParaRPr lang="en-US" sz="1800" dirty="0"/>
          </a:p>
        </p:txBody>
      </p:sp>
      <p:sp>
        <p:nvSpPr>
          <p:cNvPr id="5" name="圆角矩形 54">
            <a:extLst>
              <a:ext uri="{FF2B5EF4-FFF2-40B4-BE49-F238E27FC236}">
                <a16:creationId xmlns:a16="http://schemas.microsoft.com/office/drawing/2014/main" id="{C34924F5-6095-4848-95B3-DFC9EAED4995}"/>
              </a:ext>
            </a:extLst>
          </p:cNvPr>
          <p:cNvSpPr/>
          <p:nvPr/>
        </p:nvSpPr>
        <p:spPr bwMode="gray">
          <a:xfrm>
            <a:off x="664170" y="2761600"/>
            <a:ext cx="10863660" cy="3378212"/>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p:txBody>
      </p:sp>
      <p:sp>
        <p:nvSpPr>
          <p:cNvPr id="2" name="Title 1">
            <a:extLst>
              <a:ext uri="{FF2B5EF4-FFF2-40B4-BE49-F238E27FC236}">
                <a16:creationId xmlns:a16="http://schemas.microsoft.com/office/drawing/2014/main" id="{5B756E6E-52F5-4E52-A7E0-BCD77B3181E9}"/>
              </a:ext>
            </a:extLst>
          </p:cNvPr>
          <p:cNvSpPr>
            <a:spLocks noGrp="1"/>
          </p:cNvSpPr>
          <p:nvPr>
            <p:ph type="title"/>
          </p:nvPr>
        </p:nvSpPr>
        <p:spPr bwMode="gray"/>
        <p:txBody>
          <a:bodyPr>
            <a:normAutofit/>
          </a:bodyPr>
          <a:lstStyle/>
          <a:p>
            <a:r>
              <a:rPr lang="en-US" altLang="zh-CN" dirty="0"/>
              <a:t>IWG</a:t>
            </a:r>
            <a:r>
              <a:rPr lang="zh-CN" altLang="en-US" dirty="0"/>
              <a:t>介绍</a:t>
            </a:r>
            <a:endParaRPr lang="en-US" dirty="0"/>
          </a:p>
        </p:txBody>
      </p:sp>
      <p:sp>
        <p:nvSpPr>
          <p:cNvPr id="4" name="圆角矩形 53">
            <a:extLst>
              <a:ext uri="{FF2B5EF4-FFF2-40B4-BE49-F238E27FC236}">
                <a16:creationId xmlns:a16="http://schemas.microsoft.com/office/drawing/2014/main" id="{8488A8C9-F27C-4312-BA05-372395C8CC8C}"/>
              </a:ext>
            </a:extLst>
          </p:cNvPr>
          <p:cNvSpPr/>
          <p:nvPr/>
        </p:nvSpPr>
        <p:spPr bwMode="gray">
          <a:xfrm>
            <a:off x="664170" y="2344803"/>
            <a:ext cx="10863660" cy="360023"/>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多租户访问传统站点方案设计</a:t>
            </a:r>
          </a:p>
        </p:txBody>
      </p:sp>
      <p:sp>
        <p:nvSpPr>
          <p:cNvPr id="28" name="Rectangle: Rounded Corners 27">
            <a:extLst>
              <a:ext uri="{FF2B5EF4-FFF2-40B4-BE49-F238E27FC236}">
                <a16:creationId xmlns:a16="http://schemas.microsoft.com/office/drawing/2014/main" id="{E2B1407D-EFFC-4342-9EFF-62AC614267FD}"/>
              </a:ext>
            </a:extLst>
          </p:cNvPr>
          <p:cNvSpPr/>
          <p:nvPr/>
        </p:nvSpPr>
        <p:spPr bwMode="gray">
          <a:xfrm>
            <a:off x="940093" y="3012679"/>
            <a:ext cx="4934198" cy="2898653"/>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Rectangle: Rounded Corners 28">
            <a:extLst>
              <a:ext uri="{FF2B5EF4-FFF2-40B4-BE49-F238E27FC236}">
                <a16:creationId xmlns:a16="http://schemas.microsoft.com/office/drawing/2014/main" id="{AEE920B0-F606-45E0-9A65-FB282F914522}"/>
              </a:ext>
            </a:extLst>
          </p:cNvPr>
          <p:cNvSpPr/>
          <p:nvPr/>
        </p:nvSpPr>
        <p:spPr bwMode="gray">
          <a:xfrm>
            <a:off x="6265721" y="3012678"/>
            <a:ext cx="4934198" cy="2898653"/>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Picture 12" descr="E:\2016.01\1.12 扁平化图标\蓝色\AR-蓝色最新-40.png">
            <a:extLst>
              <a:ext uri="{FF2B5EF4-FFF2-40B4-BE49-F238E27FC236}">
                <a16:creationId xmlns:a16="http://schemas.microsoft.com/office/drawing/2014/main" id="{2D5E02AF-F692-4185-9393-AAD6BCE6B142}"/>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4975037" y="3374451"/>
            <a:ext cx="402674" cy="329461"/>
          </a:xfrm>
          <a:prstGeom prst="rect">
            <a:avLst/>
          </a:prstGeom>
          <a:noFill/>
        </p:spPr>
      </p:pic>
      <p:pic>
        <p:nvPicPr>
          <p:cNvPr id="31" name="Picture 12" descr="E:\2016.01\1.12 扁平化图标\蓝色\AR-蓝色最新-40.png">
            <a:extLst>
              <a:ext uri="{FF2B5EF4-FFF2-40B4-BE49-F238E27FC236}">
                <a16:creationId xmlns:a16="http://schemas.microsoft.com/office/drawing/2014/main" id="{BFF94ED8-6CAB-4259-AC74-92C1CC170A4D}"/>
              </a:ext>
            </a:extLst>
          </p:cNvPr>
          <p:cNvPicPr>
            <a:picLocks noChangeAspect="1" noChangeArrowheads="1"/>
          </p:cNvPicPr>
          <p:nvPr/>
        </p:nvPicPr>
        <p:blipFill>
          <a:blip r:embed="rId3" cstate="print"/>
          <a:srcRect/>
          <a:stretch>
            <a:fillRect/>
          </a:stretch>
        </p:blipFill>
        <p:spPr bwMode="gray">
          <a:xfrm>
            <a:off x="6676311" y="3374451"/>
            <a:ext cx="402674" cy="329461"/>
          </a:xfrm>
          <a:prstGeom prst="rect">
            <a:avLst/>
          </a:prstGeom>
          <a:noFill/>
        </p:spPr>
      </p:pic>
      <p:sp>
        <p:nvSpPr>
          <p:cNvPr id="32" name="Freeform 159">
            <a:extLst>
              <a:ext uri="{FF2B5EF4-FFF2-40B4-BE49-F238E27FC236}">
                <a16:creationId xmlns:a16="http://schemas.microsoft.com/office/drawing/2014/main" id="{751C3A0B-467F-4F2D-964E-98BD975E3985}"/>
              </a:ext>
            </a:extLst>
          </p:cNvPr>
          <p:cNvSpPr/>
          <p:nvPr/>
        </p:nvSpPr>
        <p:spPr bwMode="gray">
          <a:xfrm flipH="1">
            <a:off x="2626608" y="3588327"/>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1</a:t>
            </a:r>
            <a:endParaRPr lang="en-US" dirty="0">
              <a:solidFill>
                <a:schemeClr val="tx1"/>
              </a:solidFill>
            </a:endParaRPr>
          </a:p>
        </p:txBody>
      </p:sp>
      <p:sp>
        <p:nvSpPr>
          <p:cNvPr id="33" name="Freeform 159">
            <a:extLst>
              <a:ext uri="{FF2B5EF4-FFF2-40B4-BE49-F238E27FC236}">
                <a16:creationId xmlns:a16="http://schemas.microsoft.com/office/drawing/2014/main" id="{233B16C2-159A-4EAF-A0D3-6B2AEC40FE36}"/>
              </a:ext>
            </a:extLst>
          </p:cNvPr>
          <p:cNvSpPr/>
          <p:nvPr/>
        </p:nvSpPr>
        <p:spPr bwMode="gray">
          <a:xfrm flipH="1">
            <a:off x="8397619" y="3588327"/>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2</a:t>
            </a:r>
            <a:endParaRPr lang="en-US" dirty="0">
              <a:solidFill>
                <a:schemeClr val="tx1"/>
              </a:solidFill>
            </a:endParaRPr>
          </a:p>
        </p:txBody>
      </p:sp>
      <p:cxnSp>
        <p:nvCxnSpPr>
          <p:cNvPr id="34" name="直接连接符 121">
            <a:extLst>
              <a:ext uri="{FF2B5EF4-FFF2-40B4-BE49-F238E27FC236}">
                <a16:creationId xmlns:a16="http://schemas.microsoft.com/office/drawing/2014/main" id="{C61EC2DE-6E15-4D24-9268-DE9B75DACE83}"/>
              </a:ext>
            </a:extLst>
          </p:cNvPr>
          <p:cNvCxnSpPr>
            <a:cxnSpLocks/>
            <a:stCxn id="32" idx="7"/>
            <a:endCxn id="30" idx="1"/>
          </p:cNvCxnSpPr>
          <p:nvPr/>
        </p:nvCxnSpPr>
        <p:spPr bwMode="gray">
          <a:xfrm flipV="1">
            <a:off x="3630421" y="3539182"/>
            <a:ext cx="1344616" cy="28502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121">
            <a:extLst>
              <a:ext uri="{FF2B5EF4-FFF2-40B4-BE49-F238E27FC236}">
                <a16:creationId xmlns:a16="http://schemas.microsoft.com/office/drawing/2014/main" id="{E845436F-5810-4025-98C3-0880FFF68954}"/>
              </a:ext>
            </a:extLst>
          </p:cNvPr>
          <p:cNvCxnSpPr>
            <a:cxnSpLocks/>
            <a:stCxn id="73" idx="0"/>
            <a:endCxn id="79" idx="1"/>
          </p:cNvCxnSpPr>
          <p:nvPr/>
        </p:nvCxnSpPr>
        <p:spPr bwMode="gray">
          <a:xfrm flipV="1">
            <a:off x="2151643" y="4207946"/>
            <a:ext cx="801768" cy="71288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121">
            <a:extLst>
              <a:ext uri="{FF2B5EF4-FFF2-40B4-BE49-F238E27FC236}">
                <a16:creationId xmlns:a16="http://schemas.microsoft.com/office/drawing/2014/main" id="{36E507FF-022A-4A82-9949-F572E5CC6BF8}"/>
              </a:ext>
            </a:extLst>
          </p:cNvPr>
          <p:cNvCxnSpPr>
            <a:cxnSpLocks/>
            <a:stCxn id="70" idx="0"/>
            <a:endCxn id="79" idx="3"/>
          </p:cNvCxnSpPr>
          <p:nvPr/>
        </p:nvCxnSpPr>
        <p:spPr bwMode="gray">
          <a:xfrm flipH="1" flipV="1">
            <a:off x="3356085" y="4207946"/>
            <a:ext cx="748825" cy="71288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121">
            <a:extLst>
              <a:ext uri="{FF2B5EF4-FFF2-40B4-BE49-F238E27FC236}">
                <a16:creationId xmlns:a16="http://schemas.microsoft.com/office/drawing/2014/main" id="{83D59EC2-E13D-4547-B7AD-F80900981AF9}"/>
              </a:ext>
            </a:extLst>
          </p:cNvPr>
          <p:cNvCxnSpPr>
            <a:cxnSpLocks/>
            <a:stCxn id="33" idx="24"/>
            <a:endCxn id="31" idx="3"/>
          </p:cNvCxnSpPr>
          <p:nvPr/>
        </p:nvCxnSpPr>
        <p:spPr bwMode="gray">
          <a:xfrm flipH="1" flipV="1">
            <a:off x="7078985" y="3539182"/>
            <a:ext cx="1485524" cy="2794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121">
            <a:extLst>
              <a:ext uri="{FF2B5EF4-FFF2-40B4-BE49-F238E27FC236}">
                <a16:creationId xmlns:a16="http://schemas.microsoft.com/office/drawing/2014/main" id="{473BA0A5-88DC-49C5-91F3-BAD9B9EA4E0F}"/>
              </a:ext>
            </a:extLst>
          </p:cNvPr>
          <p:cNvCxnSpPr>
            <a:cxnSpLocks/>
            <a:stCxn id="33" idx="15"/>
            <a:endCxn id="71" idx="0"/>
          </p:cNvCxnSpPr>
          <p:nvPr/>
        </p:nvCxnSpPr>
        <p:spPr bwMode="gray">
          <a:xfrm flipH="1">
            <a:off x="7938728" y="4192043"/>
            <a:ext cx="631702" cy="72878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121">
            <a:extLst>
              <a:ext uri="{FF2B5EF4-FFF2-40B4-BE49-F238E27FC236}">
                <a16:creationId xmlns:a16="http://schemas.microsoft.com/office/drawing/2014/main" id="{DDB8AF8D-757B-4FB7-9976-A5521A1E9A7E}"/>
              </a:ext>
            </a:extLst>
          </p:cNvPr>
          <p:cNvCxnSpPr>
            <a:cxnSpLocks/>
            <a:stCxn id="33" idx="9"/>
            <a:endCxn id="72" idx="0"/>
          </p:cNvCxnSpPr>
          <p:nvPr/>
        </p:nvCxnSpPr>
        <p:spPr bwMode="gray">
          <a:xfrm>
            <a:off x="9348816" y="4191055"/>
            <a:ext cx="543179" cy="72977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121">
            <a:extLst>
              <a:ext uri="{FF2B5EF4-FFF2-40B4-BE49-F238E27FC236}">
                <a16:creationId xmlns:a16="http://schemas.microsoft.com/office/drawing/2014/main" id="{12BA2241-BBCC-4124-B54C-64EFBF387077}"/>
              </a:ext>
            </a:extLst>
          </p:cNvPr>
          <p:cNvCxnSpPr>
            <a:cxnSpLocks/>
          </p:cNvCxnSpPr>
          <p:nvPr/>
        </p:nvCxnSpPr>
        <p:spPr bwMode="gray">
          <a:xfrm>
            <a:off x="5377711" y="3472507"/>
            <a:ext cx="12986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923B572-53E2-4D49-BD5D-4EF4C6AD31D1}"/>
              </a:ext>
            </a:extLst>
          </p:cNvPr>
          <p:cNvSpPr txBox="1"/>
          <p:nvPr/>
        </p:nvSpPr>
        <p:spPr bwMode="gray">
          <a:xfrm>
            <a:off x="940093" y="3089677"/>
            <a:ext cx="902811" cy="307777"/>
          </a:xfrm>
          <a:prstGeom prst="rect">
            <a:avLst/>
          </a:prstGeom>
          <a:noFill/>
        </p:spPr>
        <p:txBody>
          <a:bodyPr wrap="none" rtlCol="0">
            <a:spAutoFit/>
          </a:bodyPr>
          <a:lstStyle/>
          <a:p>
            <a:r>
              <a:rPr lang="zh-CN" altLang="en-US" sz="1400" dirty="0"/>
              <a:t>传统网络</a:t>
            </a:r>
          </a:p>
        </p:txBody>
      </p:sp>
      <p:sp>
        <p:nvSpPr>
          <p:cNvPr id="43" name="TextBox 42">
            <a:extLst>
              <a:ext uri="{FF2B5EF4-FFF2-40B4-BE49-F238E27FC236}">
                <a16:creationId xmlns:a16="http://schemas.microsoft.com/office/drawing/2014/main" id="{354A6FA2-CA8F-49E7-AA4D-0D998AF78710}"/>
              </a:ext>
            </a:extLst>
          </p:cNvPr>
          <p:cNvSpPr txBox="1"/>
          <p:nvPr/>
        </p:nvSpPr>
        <p:spPr bwMode="gray">
          <a:xfrm>
            <a:off x="9930020" y="3089678"/>
            <a:ext cx="1269899" cy="307777"/>
          </a:xfrm>
          <a:prstGeom prst="rect">
            <a:avLst/>
          </a:prstGeom>
          <a:noFill/>
        </p:spPr>
        <p:txBody>
          <a:bodyPr wrap="none" rtlCol="0">
            <a:spAutoFit/>
          </a:bodyPr>
          <a:lstStyle/>
          <a:p>
            <a:r>
              <a:rPr lang="en-US" altLang="zh-CN" sz="1400" dirty="0"/>
              <a:t>SD-WAN</a:t>
            </a:r>
            <a:r>
              <a:rPr lang="zh-CN" altLang="en-US" sz="1400" dirty="0"/>
              <a:t>网络</a:t>
            </a:r>
          </a:p>
        </p:txBody>
      </p:sp>
      <p:sp>
        <p:nvSpPr>
          <p:cNvPr id="60" name="Freeform 159">
            <a:extLst>
              <a:ext uri="{FF2B5EF4-FFF2-40B4-BE49-F238E27FC236}">
                <a16:creationId xmlns:a16="http://schemas.microsoft.com/office/drawing/2014/main" id="{EC0977F8-DADE-4457-82FA-3567E08025D3}"/>
              </a:ext>
            </a:extLst>
          </p:cNvPr>
          <p:cNvSpPr/>
          <p:nvPr/>
        </p:nvSpPr>
        <p:spPr bwMode="gray">
          <a:xfrm flipH="1">
            <a:off x="1593751" y="5152253"/>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A</a:t>
            </a:r>
            <a:endParaRPr lang="en-US" sz="1600" dirty="0">
              <a:solidFill>
                <a:schemeClr val="tx1"/>
              </a:solidFill>
            </a:endParaRPr>
          </a:p>
        </p:txBody>
      </p:sp>
      <p:sp>
        <p:nvSpPr>
          <p:cNvPr id="65" name="Freeform 159">
            <a:extLst>
              <a:ext uri="{FF2B5EF4-FFF2-40B4-BE49-F238E27FC236}">
                <a16:creationId xmlns:a16="http://schemas.microsoft.com/office/drawing/2014/main" id="{FDEA5C39-9BC4-4F1D-AA6E-51D22A5E52C3}"/>
              </a:ext>
            </a:extLst>
          </p:cNvPr>
          <p:cNvSpPr/>
          <p:nvPr/>
        </p:nvSpPr>
        <p:spPr bwMode="gray">
          <a:xfrm flipH="1">
            <a:off x="3520251" y="5152253"/>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B</a:t>
            </a:r>
            <a:endParaRPr lang="en-US" sz="1600" dirty="0">
              <a:solidFill>
                <a:schemeClr val="tx1"/>
              </a:solidFill>
            </a:endParaRPr>
          </a:p>
        </p:txBody>
      </p:sp>
      <p:sp>
        <p:nvSpPr>
          <p:cNvPr id="66" name="Freeform 159">
            <a:extLst>
              <a:ext uri="{FF2B5EF4-FFF2-40B4-BE49-F238E27FC236}">
                <a16:creationId xmlns:a16="http://schemas.microsoft.com/office/drawing/2014/main" id="{07ABEA85-5D0A-4FF9-A0E8-BE0EB3489A08}"/>
              </a:ext>
            </a:extLst>
          </p:cNvPr>
          <p:cNvSpPr/>
          <p:nvPr/>
        </p:nvSpPr>
        <p:spPr bwMode="gray">
          <a:xfrm flipH="1">
            <a:off x="7424884" y="5180152"/>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A</a:t>
            </a:r>
            <a:endParaRPr lang="en-US" sz="1600" dirty="0">
              <a:solidFill>
                <a:schemeClr val="tx1"/>
              </a:solidFill>
            </a:endParaRPr>
          </a:p>
        </p:txBody>
      </p:sp>
      <p:sp>
        <p:nvSpPr>
          <p:cNvPr id="67" name="Freeform 159">
            <a:extLst>
              <a:ext uri="{FF2B5EF4-FFF2-40B4-BE49-F238E27FC236}">
                <a16:creationId xmlns:a16="http://schemas.microsoft.com/office/drawing/2014/main" id="{EA4B09AC-A733-4C23-A6C3-D0F4B6689398}"/>
              </a:ext>
            </a:extLst>
          </p:cNvPr>
          <p:cNvSpPr/>
          <p:nvPr/>
        </p:nvSpPr>
        <p:spPr bwMode="gray">
          <a:xfrm flipH="1">
            <a:off x="9413591" y="5180152"/>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B</a:t>
            </a:r>
            <a:endParaRPr lang="en-US" sz="1600" dirty="0">
              <a:solidFill>
                <a:schemeClr val="tx1"/>
              </a:solidFill>
            </a:endParaRPr>
          </a:p>
        </p:txBody>
      </p:sp>
      <p:pic>
        <p:nvPicPr>
          <p:cNvPr id="70" name="Picture 12" descr="E:\2016.01\1.12 扁平化图标\蓝色\AR-蓝色最新-40.png">
            <a:extLst>
              <a:ext uri="{FF2B5EF4-FFF2-40B4-BE49-F238E27FC236}">
                <a16:creationId xmlns:a16="http://schemas.microsoft.com/office/drawing/2014/main" id="{1AF6BDD8-16CA-4F63-8CA2-58815BFCF405}"/>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3903573" y="4920830"/>
            <a:ext cx="402674" cy="329461"/>
          </a:xfrm>
          <a:prstGeom prst="rect">
            <a:avLst/>
          </a:prstGeom>
          <a:noFill/>
        </p:spPr>
      </p:pic>
      <p:pic>
        <p:nvPicPr>
          <p:cNvPr id="71" name="Picture 12" descr="E:\2016.01\1.12 扁平化图标\蓝色\AR-蓝色最新-40.png">
            <a:extLst>
              <a:ext uri="{FF2B5EF4-FFF2-40B4-BE49-F238E27FC236}">
                <a16:creationId xmlns:a16="http://schemas.microsoft.com/office/drawing/2014/main" id="{C99A73E3-7D61-4598-A700-4A56244D5800}"/>
              </a:ext>
            </a:extLst>
          </p:cNvPr>
          <p:cNvPicPr>
            <a:picLocks noChangeAspect="1" noChangeArrowheads="1"/>
          </p:cNvPicPr>
          <p:nvPr/>
        </p:nvPicPr>
        <p:blipFill>
          <a:blip r:embed="rId3" cstate="print"/>
          <a:srcRect/>
          <a:stretch>
            <a:fillRect/>
          </a:stretch>
        </p:blipFill>
        <p:spPr bwMode="gray">
          <a:xfrm>
            <a:off x="7737391" y="4920831"/>
            <a:ext cx="402674" cy="329461"/>
          </a:xfrm>
          <a:prstGeom prst="rect">
            <a:avLst/>
          </a:prstGeom>
          <a:noFill/>
        </p:spPr>
      </p:pic>
      <p:pic>
        <p:nvPicPr>
          <p:cNvPr id="72" name="Picture 71" descr="E:\2016.01\1.12 扁平化图标\蓝色\AR-蓝色最新-40.png">
            <a:extLst>
              <a:ext uri="{FF2B5EF4-FFF2-40B4-BE49-F238E27FC236}">
                <a16:creationId xmlns:a16="http://schemas.microsoft.com/office/drawing/2014/main" id="{D31BAFFD-0CD9-42F9-901F-766D7AA1B629}"/>
              </a:ext>
            </a:extLst>
          </p:cNvPr>
          <p:cNvPicPr>
            <a:picLocks noChangeAspect="1" noChangeArrowheads="1"/>
          </p:cNvPicPr>
          <p:nvPr/>
        </p:nvPicPr>
        <p:blipFill>
          <a:blip r:embed="rId3" cstate="print"/>
          <a:srcRect/>
          <a:stretch>
            <a:fillRect/>
          </a:stretch>
        </p:blipFill>
        <p:spPr bwMode="gray">
          <a:xfrm>
            <a:off x="9690658" y="4920830"/>
            <a:ext cx="402674" cy="329461"/>
          </a:xfrm>
          <a:prstGeom prst="rect">
            <a:avLst/>
          </a:prstGeom>
          <a:noFill/>
        </p:spPr>
      </p:pic>
      <p:pic>
        <p:nvPicPr>
          <p:cNvPr id="73" name="Picture 12" descr="E:\2016.01\1.12 扁平化图标\蓝色\AR-蓝色最新-40.png">
            <a:extLst>
              <a:ext uri="{FF2B5EF4-FFF2-40B4-BE49-F238E27FC236}">
                <a16:creationId xmlns:a16="http://schemas.microsoft.com/office/drawing/2014/main" id="{546D0F43-14F4-4B8A-BF88-115388B4BBE5}"/>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1950306" y="4920831"/>
            <a:ext cx="402674" cy="329461"/>
          </a:xfrm>
          <a:prstGeom prst="rect">
            <a:avLst/>
          </a:prstGeom>
          <a:noFill/>
        </p:spPr>
      </p:pic>
      <p:sp>
        <p:nvSpPr>
          <p:cNvPr id="75" name="文本框 83">
            <a:extLst>
              <a:ext uri="{FF2B5EF4-FFF2-40B4-BE49-F238E27FC236}">
                <a16:creationId xmlns:a16="http://schemas.microsoft.com/office/drawing/2014/main" id="{AF2F06EB-D6F9-4D70-832A-979FBB1560A1}"/>
              </a:ext>
            </a:extLst>
          </p:cNvPr>
          <p:cNvSpPr txBox="1"/>
          <p:nvPr/>
        </p:nvSpPr>
        <p:spPr bwMode="gray">
          <a:xfrm>
            <a:off x="7006268" y="3282598"/>
            <a:ext cx="540922" cy="276999"/>
          </a:xfrm>
          <a:prstGeom prst="rect">
            <a:avLst/>
          </a:prstGeom>
          <a:noFill/>
        </p:spPr>
        <p:txBody>
          <a:bodyPr wrap="square" rtlCol="0">
            <a:spAutoFit/>
          </a:bodyPr>
          <a:lstStyle/>
          <a:p>
            <a:pPr algn="ctr"/>
            <a:r>
              <a:rPr lang="en-US" altLang="zh-CN" sz="1200" b="1" dirty="0">
                <a:solidFill>
                  <a:srgbClr val="C7000B"/>
                </a:solidFill>
              </a:rPr>
              <a:t>IWG</a:t>
            </a:r>
            <a:endParaRPr lang="zh-CN" altLang="en-US" sz="1200" b="1" dirty="0">
              <a:solidFill>
                <a:srgbClr val="C7000B"/>
              </a:solidFill>
            </a:endParaRPr>
          </a:p>
        </p:txBody>
      </p:sp>
      <p:sp>
        <p:nvSpPr>
          <p:cNvPr id="76" name="文本框 83">
            <a:extLst>
              <a:ext uri="{FF2B5EF4-FFF2-40B4-BE49-F238E27FC236}">
                <a16:creationId xmlns:a16="http://schemas.microsoft.com/office/drawing/2014/main" id="{FD263399-2F3E-4DAF-8EC6-D4F793D3BB49}"/>
              </a:ext>
            </a:extLst>
          </p:cNvPr>
          <p:cNvSpPr txBox="1"/>
          <p:nvPr/>
        </p:nvSpPr>
        <p:spPr bwMode="gray">
          <a:xfrm>
            <a:off x="4268083" y="4947060"/>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sp>
        <p:nvSpPr>
          <p:cNvPr id="77" name="文本框 83">
            <a:extLst>
              <a:ext uri="{FF2B5EF4-FFF2-40B4-BE49-F238E27FC236}">
                <a16:creationId xmlns:a16="http://schemas.microsoft.com/office/drawing/2014/main" id="{AD4F6FE8-9D2C-4802-85FB-F27C680A011F}"/>
              </a:ext>
            </a:extLst>
          </p:cNvPr>
          <p:cNvSpPr txBox="1"/>
          <p:nvPr/>
        </p:nvSpPr>
        <p:spPr bwMode="gray">
          <a:xfrm>
            <a:off x="6851588" y="4854726"/>
            <a:ext cx="1115783" cy="461665"/>
          </a:xfrm>
          <a:prstGeom prst="rect">
            <a:avLst/>
          </a:prstGeom>
          <a:noFill/>
        </p:spPr>
        <p:txBody>
          <a:bodyPr wrap="square" rtlCol="0">
            <a:spAutoFit/>
          </a:bodyPr>
          <a:lstStyle/>
          <a:p>
            <a:pPr algn="ctr"/>
            <a:r>
              <a:rPr lang="en-US" altLang="zh-CN" sz="1200" dirty="0"/>
              <a:t>SD-WAN EDGE</a:t>
            </a:r>
            <a:endParaRPr lang="zh-CN" altLang="en-US" sz="1200" dirty="0"/>
          </a:p>
        </p:txBody>
      </p:sp>
      <p:sp>
        <p:nvSpPr>
          <p:cNvPr id="78" name="文本框 83">
            <a:extLst>
              <a:ext uri="{FF2B5EF4-FFF2-40B4-BE49-F238E27FC236}">
                <a16:creationId xmlns:a16="http://schemas.microsoft.com/office/drawing/2014/main" id="{CFA9F896-5294-4D54-BE8F-4F36A21063AE}"/>
              </a:ext>
            </a:extLst>
          </p:cNvPr>
          <p:cNvSpPr txBox="1"/>
          <p:nvPr/>
        </p:nvSpPr>
        <p:spPr bwMode="gray">
          <a:xfrm>
            <a:off x="2257381" y="4917542"/>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pic>
        <p:nvPicPr>
          <p:cNvPr id="79" name="Picture 12" descr="E:\2016.01\1.12 扁平化图标\蓝色\AR-蓝色最新-40.png">
            <a:extLst>
              <a:ext uri="{FF2B5EF4-FFF2-40B4-BE49-F238E27FC236}">
                <a16:creationId xmlns:a16="http://schemas.microsoft.com/office/drawing/2014/main" id="{931930A6-BA85-42D3-9036-80ECDD6E4462}"/>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2953411" y="4043215"/>
            <a:ext cx="402674" cy="329461"/>
          </a:xfrm>
          <a:prstGeom prst="rect">
            <a:avLst/>
          </a:prstGeom>
          <a:noFill/>
        </p:spPr>
      </p:pic>
      <p:sp>
        <p:nvSpPr>
          <p:cNvPr id="40" name="文本框 83">
            <a:extLst>
              <a:ext uri="{FF2B5EF4-FFF2-40B4-BE49-F238E27FC236}">
                <a16:creationId xmlns:a16="http://schemas.microsoft.com/office/drawing/2014/main" id="{85AFB634-977D-42CB-BD46-FF3CAF761B66}"/>
              </a:ext>
            </a:extLst>
          </p:cNvPr>
          <p:cNvSpPr txBox="1"/>
          <p:nvPr/>
        </p:nvSpPr>
        <p:spPr bwMode="gray">
          <a:xfrm>
            <a:off x="4219716" y="3288255"/>
            <a:ext cx="869861" cy="276999"/>
          </a:xfrm>
          <a:prstGeom prst="rect">
            <a:avLst/>
          </a:prstGeom>
          <a:noFill/>
        </p:spPr>
        <p:txBody>
          <a:bodyPr wrap="square" rtlCol="0">
            <a:spAutoFit/>
          </a:bodyPr>
          <a:lstStyle/>
          <a:p>
            <a:pPr algn="ctr"/>
            <a:r>
              <a:rPr lang="en-US" altLang="zh-CN" sz="1200" dirty="0"/>
              <a:t>ASBR-PE</a:t>
            </a:r>
            <a:endParaRPr lang="zh-CN" altLang="en-US" sz="1200" dirty="0"/>
          </a:p>
        </p:txBody>
      </p:sp>
      <p:sp>
        <p:nvSpPr>
          <p:cNvPr id="44" name="文本框 83">
            <a:extLst>
              <a:ext uri="{FF2B5EF4-FFF2-40B4-BE49-F238E27FC236}">
                <a16:creationId xmlns:a16="http://schemas.microsoft.com/office/drawing/2014/main" id="{0699FF6A-EF77-41D1-90D7-C98CEB33D0AF}"/>
              </a:ext>
            </a:extLst>
          </p:cNvPr>
          <p:cNvSpPr txBox="1"/>
          <p:nvPr/>
        </p:nvSpPr>
        <p:spPr bwMode="gray">
          <a:xfrm>
            <a:off x="2939930" y="4368109"/>
            <a:ext cx="402674" cy="276999"/>
          </a:xfrm>
          <a:prstGeom prst="rect">
            <a:avLst/>
          </a:prstGeom>
          <a:noFill/>
        </p:spPr>
        <p:txBody>
          <a:bodyPr wrap="square" rtlCol="0">
            <a:spAutoFit/>
          </a:bodyPr>
          <a:lstStyle/>
          <a:p>
            <a:pPr algn="ctr"/>
            <a:r>
              <a:rPr lang="en-US" altLang="zh-CN" sz="1200" dirty="0"/>
              <a:t>PE</a:t>
            </a:r>
            <a:endParaRPr lang="zh-CN" altLang="en-US" sz="1200" dirty="0"/>
          </a:p>
        </p:txBody>
      </p:sp>
      <p:sp>
        <p:nvSpPr>
          <p:cNvPr id="45" name="Freeform: Shape 44">
            <a:extLst>
              <a:ext uri="{FF2B5EF4-FFF2-40B4-BE49-F238E27FC236}">
                <a16:creationId xmlns:a16="http://schemas.microsoft.com/office/drawing/2014/main" id="{1F0B067A-412C-4D9F-9C80-F0655F9CBABE}"/>
              </a:ext>
            </a:extLst>
          </p:cNvPr>
          <p:cNvSpPr/>
          <p:nvPr/>
        </p:nvSpPr>
        <p:spPr bwMode="gray">
          <a:xfrm rot="20490686">
            <a:off x="3370583" y="3888759"/>
            <a:ext cx="1629673" cy="148414"/>
          </a:xfrm>
          <a:custGeom>
            <a:avLst/>
            <a:gdLst>
              <a:gd name="connsiteX0" fmla="*/ 0 w 1143000"/>
              <a:gd name="connsiteY0" fmla="*/ 0 h 171472"/>
              <a:gd name="connsiteX1" fmla="*/ 514350 w 1143000"/>
              <a:gd name="connsiteY1" fmla="*/ 171450 h 171472"/>
              <a:gd name="connsiteX2" fmla="*/ 1143000 w 1143000"/>
              <a:gd name="connsiteY2" fmla="*/ 9525 h 171472"/>
            </a:gdLst>
            <a:ahLst/>
            <a:cxnLst>
              <a:cxn ang="0">
                <a:pos x="connsiteX0" y="connsiteY0"/>
              </a:cxn>
              <a:cxn ang="0">
                <a:pos x="connsiteX1" y="connsiteY1"/>
              </a:cxn>
              <a:cxn ang="0">
                <a:pos x="connsiteX2" y="connsiteY2"/>
              </a:cxn>
            </a:cxnLst>
            <a:rect l="l" t="t" r="r" b="b"/>
            <a:pathLst>
              <a:path w="1143000" h="171472">
                <a:moveTo>
                  <a:pt x="0" y="0"/>
                </a:moveTo>
                <a:cubicBezTo>
                  <a:pt x="161925" y="84931"/>
                  <a:pt x="323850" y="169863"/>
                  <a:pt x="514350" y="171450"/>
                </a:cubicBezTo>
                <a:cubicBezTo>
                  <a:pt x="704850" y="173037"/>
                  <a:pt x="923925" y="91281"/>
                  <a:pt x="1143000" y="9525"/>
                </a:cubicBezTo>
              </a:path>
            </a:pathLst>
          </a:custGeom>
          <a:noFill/>
          <a:ln w="28575">
            <a:solidFill>
              <a:srgbClr val="E28189"/>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65898FCA-ABF5-412D-AAF2-18EC83BB9776}"/>
              </a:ext>
            </a:extLst>
          </p:cNvPr>
          <p:cNvSpPr txBox="1"/>
          <p:nvPr/>
        </p:nvSpPr>
        <p:spPr bwMode="gray">
          <a:xfrm rot="20279691">
            <a:off x="3950913" y="3952153"/>
            <a:ext cx="766557" cy="276999"/>
          </a:xfrm>
          <a:prstGeom prst="rect">
            <a:avLst/>
          </a:prstGeom>
          <a:noFill/>
        </p:spPr>
        <p:txBody>
          <a:bodyPr wrap="none" rtlCol="0">
            <a:spAutoFit/>
          </a:bodyPr>
          <a:lstStyle/>
          <a:p>
            <a:r>
              <a:rPr lang="en-US" altLang="zh-CN" sz="1200" dirty="0"/>
              <a:t>MP-BGP</a:t>
            </a:r>
            <a:endParaRPr lang="zh-CN" altLang="en-US" sz="1200" dirty="0"/>
          </a:p>
        </p:txBody>
      </p:sp>
      <p:sp>
        <p:nvSpPr>
          <p:cNvPr id="48" name="TextBox 47">
            <a:extLst>
              <a:ext uri="{FF2B5EF4-FFF2-40B4-BE49-F238E27FC236}">
                <a16:creationId xmlns:a16="http://schemas.microsoft.com/office/drawing/2014/main" id="{AF28CFC3-DE72-429D-80B7-21D17E253B28}"/>
              </a:ext>
            </a:extLst>
          </p:cNvPr>
          <p:cNvSpPr txBox="1"/>
          <p:nvPr/>
        </p:nvSpPr>
        <p:spPr bwMode="gray">
          <a:xfrm rot="19122783">
            <a:off x="2277145" y="4306627"/>
            <a:ext cx="545342" cy="276999"/>
          </a:xfrm>
          <a:prstGeom prst="rect">
            <a:avLst/>
          </a:prstGeom>
          <a:noFill/>
        </p:spPr>
        <p:txBody>
          <a:bodyPr wrap="none" rtlCol="0">
            <a:spAutoFit/>
          </a:bodyPr>
          <a:lstStyle/>
          <a:p>
            <a:r>
              <a:rPr lang="en-US" altLang="zh-CN" sz="1200" dirty="0"/>
              <a:t>VRF1</a:t>
            </a:r>
            <a:endParaRPr lang="zh-CN" altLang="en-US" sz="1200" dirty="0"/>
          </a:p>
        </p:txBody>
      </p:sp>
      <p:sp>
        <p:nvSpPr>
          <p:cNvPr id="49" name="TextBox 48">
            <a:extLst>
              <a:ext uri="{FF2B5EF4-FFF2-40B4-BE49-F238E27FC236}">
                <a16:creationId xmlns:a16="http://schemas.microsoft.com/office/drawing/2014/main" id="{97AAC4AE-F007-4FE8-B033-19F5CCFC1190}"/>
              </a:ext>
            </a:extLst>
          </p:cNvPr>
          <p:cNvSpPr txBox="1"/>
          <p:nvPr/>
        </p:nvSpPr>
        <p:spPr bwMode="gray">
          <a:xfrm rot="2589562">
            <a:off x="3529694" y="4348108"/>
            <a:ext cx="545342" cy="276999"/>
          </a:xfrm>
          <a:prstGeom prst="rect">
            <a:avLst/>
          </a:prstGeom>
          <a:noFill/>
        </p:spPr>
        <p:txBody>
          <a:bodyPr wrap="none" rtlCol="0">
            <a:spAutoFit/>
          </a:bodyPr>
          <a:lstStyle/>
          <a:p>
            <a:r>
              <a:rPr lang="en-US" altLang="zh-CN" sz="1200" dirty="0"/>
              <a:t>VRF2</a:t>
            </a:r>
            <a:endParaRPr lang="zh-CN" altLang="en-US" sz="1200" dirty="0"/>
          </a:p>
        </p:txBody>
      </p:sp>
      <p:cxnSp>
        <p:nvCxnSpPr>
          <p:cNvPr id="46" name="直接连接符 121">
            <a:extLst>
              <a:ext uri="{FF2B5EF4-FFF2-40B4-BE49-F238E27FC236}">
                <a16:creationId xmlns:a16="http://schemas.microsoft.com/office/drawing/2014/main" id="{FFE4920C-0544-4012-B4D1-BEAD45B0BBDD}"/>
              </a:ext>
            </a:extLst>
          </p:cNvPr>
          <p:cNvCxnSpPr>
            <a:cxnSpLocks/>
          </p:cNvCxnSpPr>
          <p:nvPr/>
        </p:nvCxnSpPr>
        <p:spPr bwMode="gray">
          <a:xfrm>
            <a:off x="5377711" y="3624907"/>
            <a:ext cx="12986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BF1E7F9C-32EB-42DC-AB1E-E08E72F7B7C1}"/>
              </a:ext>
            </a:extLst>
          </p:cNvPr>
          <p:cNvSpPr>
            <a:spLocks noChangeAspect="1"/>
          </p:cNvSpPr>
          <p:nvPr/>
        </p:nvSpPr>
        <p:spPr bwMode="gray">
          <a:xfrm>
            <a:off x="5306352" y="3399062"/>
            <a:ext cx="123078" cy="123078"/>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6" name="Oval 55">
            <a:extLst>
              <a:ext uri="{FF2B5EF4-FFF2-40B4-BE49-F238E27FC236}">
                <a16:creationId xmlns:a16="http://schemas.microsoft.com/office/drawing/2014/main" id="{75C7A781-9167-4812-9257-9A7D1520D4B0}"/>
              </a:ext>
            </a:extLst>
          </p:cNvPr>
          <p:cNvSpPr>
            <a:spLocks noChangeAspect="1"/>
          </p:cNvSpPr>
          <p:nvPr/>
        </p:nvSpPr>
        <p:spPr bwMode="gray">
          <a:xfrm>
            <a:off x="6614602" y="3399062"/>
            <a:ext cx="123078" cy="123078"/>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7" name="Oval 56">
            <a:extLst>
              <a:ext uri="{FF2B5EF4-FFF2-40B4-BE49-F238E27FC236}">
                <a16:creationId xmlns:a16="http://schemas.microsoft.com/office/drawing/2014/main" id="{EB35CEE9-875E-4928-AE1A-11A9ADAFDECD}"/>
              </a:ext>
            </a:extLst>
          </p:cNvPr>
          <p:cNvSpPr>
            <a:spLocks noChangeAspect="1"/>
          </p:cNvSpPr>
          <p:nvPr/>
        </p:nvSpPr>
        <p:spPr bwMode="gray">
          <a:xfrm>
            <a:off x="5303798" y="3568429"/>
            <a:ext cx="123078" cy="123078"/>
          </a:xfrm>
          <a:prstGeom prst="ellipse">
            <a:avLst/>
          </a:prstGeom>
          <a:pattFill prst="smGrid">
            <a:fgClr>
              <a:srgbClr val="C7000B"/>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8" name="Oval 57">
            <a:extLst>
              <a:ext uri="{FF2B5EF4-FFF2-40B4-BE49-F238E27FC236}">
                <a16:creationId xmlns:a16="http://schemas.microsoft.com/office/drawing/2014/main" id="{8F482354-7546-4DDE-AFD4-0AE58417C02C}"/>
              </a:ext>
            </a:extLst>
          </p:cNvPr>
          <p:cNvSpPr>
            <a:spLocks noChangeAspect="1"/>
          </p:cNvSpPr>
          <p:nvPr/>
        </p:nvSpPr>
        <p:spPr bwMode="gray">
          <a:xfrm>
            <a:off x="6612048" y="3568429"/>
            <a:ext cx="123078" cy="123078"/>
          </a:xfrm>
          <a:prstGeom prst="ellipse">
            <a:avLst/>
          </a:prstGeom>
          <a:pattFill prst="smGrid">
            <a:fgClr>
              <a:srgbClr val="C7000B"/>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9" name="Rectangular Callout 26">
            <a:extLst>
              <a:ext uri="{FF2B5EF4-FFF2-40B4-BE49-F238E27FC236}">
                <a16:creationId xmlns:a16="http://schemas.microsoft.com/office/drawing/2014/main" id="{8828A65D-9871-4101-AC90-3EEAFA7EF9CA}"/>
              </a:ext>
            </a:extLst>
          </p:cNvPr>
          <p:cNvSpPr/>
          <p:nvPr/>
        </p:nvSpPr>
        <p:spPr bwMode="gray">
          <a:xfrm>
            <a:off x="4746587" y="3021631"/>
            <a:ext cx="1160726" cy="260467"/>
          </a:xfrm>
          <a:prstGeom prst="wedgeRectCallout">
            <a:avLst>
              <a:gd name="adj1" fmla="val 7077"/>
              <a:gd name="adj2" fmla="val 7724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租户</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VPN1</a:t>
            </a:r>
          </a:p>
        </p:txBody>
      </p:sp>
      <p:sp>
        <p:nvSpPr>
          <p:cNvPr id="61" name="Rectangular Callout 26">
            <a:extLst>
              <a:ext uri="{FF2B5EF4-FFF2-40B4-BE49-F238E27FC236}">
                <a16:creationId xmlns:a16="http://schemas.microsoft.com/office/drawing/2014/main" id="{CFC1D643-F983-4C96-B80F-A7B3DBA442C7}"/>
              </a:ext>
            </a:extLst>
          </p:cNvPr>
          <p:cNvSpPr/>
          <p:nvPr/>
        </p:nvSpPr>
        <p:spPr bwMode="gray">
          <a:xfrm>
            <a:off x="4741995" y="3825976"/>
            <a:ext cx="1165318" cy="260467"/>
          </a:xfrm>
          <a:prstGeom prst="wedgeRectCallout">
            <a:avLst>
              <a:gd name="adj1" fmla="val 5018"/>
              <a:gd name="adj2" fmla="val -8818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租户</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VPN2</a:t>
            </a:r>
          </a:p>
        </p:txBody>
      </p:sp>
      <p:sp>
        <p:nvSpPr>
          <p:cNvPr id="62" name="Rectangular Callout 26">
            <a:extLst>
              <a:ext uri="{FF2B5EF4-FFF2-40B4-BE49-F238E27FC236}">
                <a16:creationId xmlns:a16="http://schemas.microsoft.com/office/drawing/2014/main" id="{4A47CA19-44BB-42C4-A4A7-67BC10B0AFDE}"/>
              </a:ext>
            </a:extLst>
          </p:cNvPr>
          <p:cNvSpPr/>
          <p:nvPr/>
        </p:nvSpPr>
        <p:spPr bwMode="gray">
          <a:xfrm>
            <a:off x="6130382" y="3818633"/>
            <a:ext cx="1115783" cy="277000"/>
          </a:xfrm>
          <a:prstGeom prst="wedgeRectCallout">
            <a:avLst>
              <a:gd name="adj1" fmla="val -30869"/>
              <a:gd name="adj2" fmla="val -10597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建立</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邻居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51"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331153758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574A18-A757-4310-ACD5-79C9C9B8C0C6}"/>
              </a:ext>
            </a:extLst>
          </p:cNvPr>
          <p:cNvSpPr>
            <a:spLocks noGrp="1"/>
          </p:cNvSpPr>
          <p:nvPr>
            <p:ph type="body" sz="quarter" idx="10"/>
          </p:nvPr>
        </p:nvSpPr>
        <p:spPr bwMode="gray"/>
        <p:txBody>
          <a:bodyPr/>
          <a:lstStyle/>
          <a:p>
            <a:r>
              <a:rPr lang="zh-CN" altLang="en-US" sz="1800"/>
              <a:t>参考</a:t>
            </a:r>
            <a:r>
              <a:rPr lang="en-US" altLang="zh-CN" sz="1800"/>
              <a:t>MPLS VPN</a:t>
            </a:r>
            <a:r>
              <a:rPr lang="zh-CN" altLang="en-US" sz="1800" dirty="0"/>
              <a:t>中</a:t>
            </a:r>
            <a:r>
              <a:rPr lang="zh-CN" altLang="en-US" sz="1800"/>
              <a:t>的</a:t>
            </a:r>
            <a:r>
              <a:rPr lang="en-US" altLang="zh-CN" sz="1800"/>
              <a:t>Option B</a:t>
            </a:r>
            <a:r>
              <a:rPr lang="zh-CN" altLang="en-US" sz="1800" dirty="0"/>
              <a:t>跨域方案，</a:t>
            </a:r>
            <a:r>
              <a:rPr lang="en-US" altLang="zh-CN" sz="1800" dirty="0"/>
              <a:t>SD-WAN</a:t>
            </a:r>
            <a:r>
              <a:rPr lang="zh-CN" altLang="en-US" sz="1800"/>
              <a:t>中</a:t>
            </a:r>
            <a:r>
              <a:rPr lang="en-US" altLang="zh-CN" sz="1800"/>
              <a:t>Option B</a:t>
            </a:r>
            <a:r>
              <a:rPr lang="zh-CN" altLang="en-US" sz="1800" dirty="0"/>
              <a:t>跨域方案是</a:t>
            </a:r>
            <a:r>
              <a:rPr lang="en-US" altLang="zh-CN" sz="1800" dirty="0"/>
              <a:t>IWG</a:t>
            </a:r>
            <a:r>
              <a:rPr lang="zh-CN" altLang="en-US" sz="1800" dirty="0"/>
              <a:t>设备与传统网络中的</a:t>
            </a:r>
            <a:r>
              <a:rPr lang="en-US" altLang="zh-CN" sz="1800" dirty="0"/>
              <a:t>ASBR-PE</a:t>
            </a:r>
            <a:r>
              <a:rPr lang="zh-CN" altLang="en-US" sz="1800" dirty="0"/>
              <a:t>之间，通过</a:t>
            </a:r>
            <a:r>
              <a:rPr lang="en-US" altLang="zh-CN" sz="1800" dirty="0"/>
              <a:t>MP-EBGP</a:t>
            </a:r>
            <a:r>
              <a:rPr lang="zh-CN" altLang="en-US" sz="1800" dirty="0"/>
              <a:t>交换它们从各自</a:t>
            </a:r>
            <a:r>
              <a:rPr lang="en-US" altLang="zh-CN" sz="1800" dirty="0"/>
              <a:t>AS</a:t>
            </a:r>
            <a:r>
              <a:rPr lang="zh-CN" altLang="en-US" sz="1800" dirty="0"/>
              <a:t>的</a:t>
            </a:r>
            <a:r>
              <a:rPr lang="en-US" altLang="zh-CN" sz="1800" dirty="0"/>
              <a:t>PE</a:t>
            </a:r>
            <a:r>
              <a:rPr lang="zh-CN" altLang="en-US" sz="1800" dirty="0"/>
              <a:t>设备接收的标签</a:t>
            </a:r>
            <a:r>
              <a:rPr lang="en-US" altLang="zh-CN" sz="1800" dirty="0"/>
              <a:t>VPN-IPv4</a:t>
            </a:r>
            <a:r>
              <a:rPr lang="zh-CN" altLang="en-US" sz="1800" dirty="0"/>
              <a:t>路由。</a:t>
            </a:r>
            <a:endParaRPr lang="en-US" sz="1800" dirty="0"/>
          </a:p>
        </p:txBody>
      </p:sp>
      <p:sp>
        <p:nvSpPr>
          <p:cNvPr id="5" name="圆角矩形 54">
            <a:extLst>
              <a:ext uri="{FF2B5EF4-FFF2-40B4-BE49-F238E27FC236}">
                <a16:creationId xmlns:a16="http://schemas.microsoft.com/office/drawing/2014/main" id="{C34924F5-6095-4848-95B3-DFC9EAED4995}"/>
              </a:ext>
            </a:extLst>
          </p:cNvPr>
          <p:cNvSpPr/>
          <p:nvPr/>
        </p:nvSpPr>
        <p:spPr bwMode="gray">
          <a:xfrm>
            <a:off x="690165" y="2350820"/>
            <a:ext cx="10863660" cy="3648209"/>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在</a:t>
            </a:r>
            <a:r>
              <a:rPr lang="en-US" altLang="zh-CN" sz="1400" dirty="0">
                <a:solidFill>
                  <a:schemeClr val="tx1"/>
                </a:solidFill>
              </a:rPr>
              <a:t>IWG</a:t>
            </a:r>
            <a:r>
              <a:rPr lang="zh-CN" altLang="en-US" sz="1400" dirty="0">
                <a:solidFill>
                  <a:schemeClr val="tx1"/>
                </a:solidFill>
              </a:rPr>
              <a:t>和</a:t>
            </a:r>
            <a:r>
              <a:rPr lang="en-US" altLang="zh-CN" sz="1400" dirty="0">
                <a:solidFill>
                  <a:schemeClr val="tx1"/>
                </a:solidFill>
              </a:rPr>
              <a:t>ASBR-PE</a:t>
            </a:r>
            <a:r>
              <a:rPr lang="zh-CN" altLang="en-US" sz="1400" dirty="0">
                <a:solidFill>
                  <a:schemeClr val="tx1"/>
                </a:solidFill>
              </a:rPr>
              <a:t>上配置一对公共的接口，使能</a:t>
            </a:r>
            <a:r>
              <a:rPr lang="en-US" altLang="zh-CN" sz="1400" dirty="0">
                <a:solidFill>
                  <a:schemeClr val="tx1"/>
                </a:solidFill>
              </a:rPr>
              <a:t>MPLS</a:t>
            </a:r>
            <a:r>
              <a:rPr lang="zh-CN" altLang="en-US" sz="1400" dirty="0">
                <a:solidFill>
                  <a:schemeClr val="tx1"/>
                </a:solidFill>
              </a:rPr>
              <a:t>配置，运行</a:t>
            </a:r>
            <a:r>
              <a:rPr lang="en-US" altLang="zh-CN" sz="1400" dirty="0">
                <a:solidFill>
                  <a:schemeClr val="tx1"/>
                </a:solidFill>
              </a:rPr>
              <a:t>MP-</a:t>
            </a:r>
            <a:r>
              <a:rPr lang="en-US" altLang="zh-CN" sz="1400">
                <a:solidFill>
                  <a:schemeClr val="tx1"/>
                </a:solidFill>
              </a:rPr>
              <a:t>EBGP</a:t>
            </a:r>
            <a:r>
              <a:rPr lang="zh-CN" altLang="en-US" sz="1400" dirty="0">
                <a:solidFill>
                  <a:schemeClr val="tx1"/>
                </a:solidFill>
              </a:rPr>
              <a:t>交换标签</a:t>
            </a:r>
            <a:r>
              <a:rPr lang="en-US" altLang="zh-CN" sz="1400" dirty="0">
                <a:solidFill>
                  <a:schemeClr val="tx1"/>
                </a:solidFill>
              </a:rPr>
              <a:t>VPN-IPv4</a:t>
            </a:r>
            <a:r>
              <a:rPr lang="zh-CN" altLang="en-US" sz="1400" dirty="0">
                <a:solidFill>
                  <a:schemeClr val="tx1"/>
                </a:solidFill>
              </a:rPr>
              <a:t>路由，域间的标签由</a:t>
            </a:r>
            <a:r>
              <a:rPr lang="en-US" altLang="zh-CN" sz="1400">
                <a:solidFill>
                  <a:schemeClr val="tx1"/>
                </a:solidFill>
              </a:rPr>
              <a:t>BGP</a:t>
            </a:r>
            <a:r>
              <a:rPr lang="zh-CN" altLang="en-US" sz="1400">
                <a:solidFill>
                  <a:schemeClr val="tx1"/>
                </a:solidFill>
              </a:rPr>
              <a:t>携带。因此</a:t>
            </a:r>
            <a:r>
              <a:rPr lang="en-US" altLang="zh-CN" sz="1400" dirty="0">
                <a:solidFill>
                  <a:schemeClr val="tx1"/>
                </a:solidFill>
              </a:rPr>
              <a:t>IWG</a:t>
            </a:r>
            <a:r>
              <a:rPr lang="zh-CN" altLang="en-US" sz="1400" dirty="0">
                <a:solidFill>
                  <a:schemeClr val="tx1"/>
                </a:solidFill>
              </a:rPr>
              <a:t>和</a:t>
            </a:r>
            <a:r>
              <a:rPr lang="en-US" altLang="zh-CN" sz="1400" dirty="0">
                <a:solidFill>
                  <a:schemeClr val="tx1"/>
                </a:solidFill>
              </a:rPr>
              <a:t>ASBR-PE</a:t>
            </a:r>
            <a:r>
              <a:rPr lang="zh-CN" altLang="en-US" sz="1400" dirty="0">
                <a:solidFill>
                  <a:schemeClr val="tx1"/>
                </a:solidFill>
              </a:rPr>
              <a:t>之间不需要运行</a:t>
            </a:r>
            <a:r>
              <a:rPr lang="en-US" altLang="zh-CN" sz="1400" dirty="0">
                <a:solidFill>
                  <a:schemeClr val="tx1"/>
                </a:solidFill>
              </a:rPr>
              <a:t>LDP</a:t>
            </a:r>
            <a:r>
              <a:rPr lang="zh-CN" altLang="en-US" sz="1400" dirty="0">
                <a:solidFill>
                  <a:schemeClr val="tx1"/>
                </a:solidFill>
              </a:rPr>
              <a:t>协议。</a:t>
            </a:r>
          </a:p>
        </p:txBody>
      </p:sp>
      <p:sp>
        <p:nvSpPr>
          <p:cNvPr id="2" name="Title 1">
            <a:extLst>
              <a:ext uri="{FF2B5EF4-FFF2-40B4-BE49-F238E27FC236}">
                <a16:creationId xmlns:a16="http://schemas.microsoft.com/office/drawing/2014/main" id="{5B756E6E-52F5-4E52-A7E0-BCD77B3181E9}"/>
              </a:ext>
            </a:extLst>
          </p:cNvPr>
          <p:cNvSpPr>
            <a:spLocks noGrp="1"/>
          </p:cNvSpPr>
          <p:nvPr>
            <p:ph type="title"/>
          </p:nvPr>
        </p:nvSpPr>
        <p:spPr bwMode="gray"/>
        <p:txBody>
          <a:bodyPr>
            <a:normAutofit/>
          </a:bodyPr>
          <a:lstStyle/>
          <a:p>
            <a:r>
              <a:rPr lang="zh-CN" altLang="en-US" dirty="0"/>
              <a:t>通过</a:t>
            </a:r>
            <a:r>
              <a:rPr lang="en-US" altLang="zh-CN" dirty="0"/>
              <a:t>IWG</a:t>
            </a:r>
            <a:r>
              <a:rPr lang="zh-CN" altLang="en-US" dirty="0"/>
              <a:t>互访：基于</a:t>
            </a:r>
            <a:r>
              <a:rPr lang="en-US" altLang="zh-CN" dirty="0"/>
              <a:t>Option B</a:t>
            </a:r>
            <a:r>
              <a:rPr lang="zh-CN" altLang="en-US" dirty="0"/>
              <a:t>跨域方案互访</a:t>
            </a:r>
            <a:endParaRPr lang="en-US" dirty="0"/>
          </a:p>
        </p:txBody>
      </p:sp>
      <p:sp>
        <p:nvSpPr>
          <p:cNvPr id="4" name="圆角矩形 53">
            <a:extLst>
              <a:ext uri="{FF2B5EF4-FFF2-40B4-BE49-F238E27FC236}">
                <a16:creationId xmlns:a16="http://schemas.microsoft.com/office/drawing/2014/main" id="{8488A8C9-F27C-4312-BA05-372395C8CC8C}"/>
              </a:ext>
            </a:extLst>
          </p:cNvPr>
          <p:cNvSpPr/>
          <p:nvPr/>
        </p:nvSpPr>
        <p:spPr bwMode="gray">
          <a:xfrm>
            <a:off x="690165" y="1934024"/>
            <a:ext cx="10863660" cy="360023"/>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基于</a:t>
            </a:r>
            <a:r>
              <a:rPr lang="en-US" altLang="zh-CN" sz="1600">
                <a:solidFill>
                  <a:srgbClr val="30B5C5"/>
                </a:solidFill>
                <a:latin typeface="Huawei Sans" panose="020C0503030203020204" pitchFamily="34" charset="0"/>
                <a:ea typeface="方正兰亭黑简体" panose="02000000000000000000" pitchFamily="2" charset="-122"/>
              </a:rPr>
              <a:t>Option B</a:t>
            </a:r>
            <a:r>
              <a:rPr lang="zh-CN" altLang="en-US" sz="1600" dirty="0">
                <a:solidFill>
                  <a:srgbClr val="30B5C5"/>
                </a:solidFill>
                <a:latin typeface="Huawei Sans" panose="020C0503030203020204" pitchFamily="34" charset="0"/>
                <a:ea typeface="方正兰亭黑简体" panose="02000000000000000000" pitchFamily="2" charset="-122"/>
              </a:rPr>
              <a:t>跨域互访方案设计</a:t>
            </a:r>
          </a:p>
        </p:txBody>
      </p:sp>
      <p:sp>
        <p:nvSpPr>
          <p:cNvPr id="28" name="Rectangle: Rounded Corners 27">
            <a:extLst>
              <a:ext uri="{FF2B5EF4-FFF2-40B4-BE49-F238E27FC236}">
                <a16:creationId xmlns:a16="http://schemas.microsoft.com/office/drawing/2014/main" id="{E2B1407D-EFFC-4342-9EFF-62AC614267FD}"/>
              </a:ext>
            </a:extLst>
          </p:cNvPr>
          <p:cNvSpPr/>
          <p:nvPr/>
        </p:nvSpPr>
        <p:spPr bwMode="gray">
          <a:xfrm>
            <a:off x="966088" y="2411400"/>
            <a:ext cx="4934198" cy="2898653"/>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Rectangle: Rounded Corners 28">
            <a:extLst>
              <a:ext uri="{FF2B5EF4-FFF2-40B4-BE49-F238E27FC236}">
                <a16:creationId xmlns:a16="http://schemas.microsoft.com/office/drawing/2014/main" id="{AEE920B0-F606-45E0-9A65-FB282F914522}"/>
              </a:ext>
            </a:extLst>
          </p:cNvPr>
          <p:cNvSpPr/>
          <p:nvPr/>
        </p:nvSpPr>
        <p:spPr bwMode="gray">
          <a:xfrm>
            <a:off x="6291716" y="2411399"/>
            <a:ext cx="4934198" cy="2898653"/>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Picture 12" descr="E:\2016.01\1.12 扁平化图标\蓝色\AR-蓝色最新-40.png">
            <a:extLst>
              <a:ext uri="{FF2B5EF4-FFF2-40B4-BE49-F238E27FC236}">
                <a16:creationId xmlns:a16="http://schemas.microsoft.com/office/drawing/2014/main" id="{2D5E02AF-F692-4185-9393-AAD6BCE6B142}"/>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5001032" y="2773172"/>
            <a:ext cx="402674" cy="329461"/>
          </a:xfrm>
          <a:prstGeom prst="rect">
            <a:avLst/>
          </a:prstGeom>
          <a:noFill/>
        </p:spPr>
      </p:pic>
      <p:pic>
        <p:nvPicPr>
          <p:cNvPr id="31" name="Picture 12" descr="E:\2016.01\1.12 扁平化图标\蓝色\AR-蓝色最新-40.png">
            <a:extLst>
              <a:ext uri="{FF2B5EF4-FFF2-40B4-BE49-F238E27FC236}">
                <a16:creationId xmlns:a16="http://schemas.microsoft.com/office/drawing/2014/main" id="{BFF94ED8-6CAB-4259-AC74-92C1CC170A4D}"/>
              </a:ext>
            </a:extLst>
          </p:cNvPr>
          <p:cNvPicPr>
            <a:picLocks noChangeAspect="1" noChangeArrowheads="1"/>
          </p:cNvPicPr>
          <p:nvPr/>
        </p:nvPicPr>
        <p:blipFill>
          <a:blip r:embed="rId3" cstate="print"/>
          <a:srcRect/>
          <a:stretch>
            <a:fillRect/>
          </a:stretch>
        </p:blipFill>
        <p:spPr bwMode="gray">
          <a:xfrm>
            <a:off x="6702306" y="2773172"/>
            <a:ext cx="402674" cy="329461"/>
          </a:xfrm>
          <a:prstGeom prst="rect">
            <a:avLst/>
          </a:prstGeom>
          <a:noFill/>
        </p:spPr>
      </p:pic>
      <p:sp>
        <p:nvSpPr>
          <p:cNvPr id="32" name="Freeform 159">
            <a:extLst>
              <a:ext uri="{FF2B5EF4-FFF2-40B4-BE49-F238E27FC236}">
                <a16:creationId xmlns:a16="http://schemas.microsoft.com/office/drawing/2014/main" id="{751C3A0B-467F-4F2D-964E-98BD975E3985}"/>
              </a:ext>
            </a:extLst>
          </p:cNvPr>
          <p:cNvSpPr/>
          <p:nvPr/>
        </p:nvSpPr>
        <p:spPr bwMode="gray">
          <a:xfrm flipH="1">
            <a:off x="2652603" y="2987048"/>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1</a:t>
            </a:r>
            <a:endParaRPr lang="en-US" dirty="0">
              <a:solidFill>
                <a:schemeClr val="tx1"/>
              </a:solidFill>
            </a:endParaRPr>
          </a:p>
        </p:txBody>
      </p:sp>
      <p:sp>
        <p:nvSpPr>
          <p:cNvPr id="33" name="Freeform 159">
            <a:extLst>
              <a:ext uri="{FF2B5EF4-FFF2-40B4-BE49-F238E27FC236}">
                <a16:creationId xmlns:a16="http://schemas.microsoft.com/office/drawing/2014/main" id="{233B16C2-159A-4EAF-A0D3-6B2AEC40FE36}"/>
              </a:ext>
            </a:extLst>
          </p:cNvPr>
          <p:cNvSpPr/>
          <p:nvPr/>
        </p:nvSpPr>
        <p:spPr bwMode="gray">
          <a:xfrm flipH="1">
            <a:off x="8423614" y="2987048"/>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2</a:t>
            </a:r>
            <a:endParaRPr lang="en-US" dirty="0">
              <a:solidFill>
                <a:schemeClr val="tx1"/>
              </a:solidFill>
            </a:endParaRPr>
          </a:p>
        </p:txBody>
      </p:sp>
      <p:cxnSp>
        <p:nvCxnSpPr>
          <p:cNvPr id="34" name="直接连接符 121">
            <a:extLst>
              <a:ext uri="{FF2B5EF4-FFF2-40B4-BE49-F238E27FC236}">
                <a16:creationId xmlns:a16="http://schemas.microsoft.com/office/drawing/2014/main" id="{C61EC2DE-6E15-4D24-9268-DE9B75DACE83}"/>
              </a:ext>
            </a:extLst>
          </p:cNvPr>
          <p:cNvCxnSpPr>
            <a:cxnSpLocks/>
            <a:stCxn id="32" idx="7"/>
            <a:endCxn id="30" idx="1"/>
          </p:cNvCxnSpPr>
          <p:nvPr/>
        </p:nvCxnSpPr>
        <p:spPr bwMode="gray">
          <a:xfrm flipV="1">
            <a:off x="3656416" y="2937903"/>
            <a:ext cx="1344616" cy="28502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121">
            <a:extLst>
              <a:ext uri="{FF2B5EF4-FFF2-40B4-BE49-F238E27FC236}">
                <a16:creationId xmlns:a16="http://schemas.microsoft.com/office/drawing/2014/main" id="{E845436F-5810-4025-98C3-0880FFF68954}"/>
              </a:ext>
            </a:extLst>
          </p:cNvPr>
          <p:cNvCxnSpPr>
            <a:cxnSpLocks/>
            <a:stCxn id="73" idx="0"/>
            <a:endCxn id="79" idx="1"/>
          </p:cNvCxnSpPr>
          <p:nvPr/>
        </p:nvCxnSpPr>
        <p:spPr bwMode="gray">
          <a:xfrm flipV="1">
            <a:off x="2177638" y="3606667"/>
            <a:ext cx="801768" cy="71288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121">
            <a:extLst>
              <a:ext uri="{FF2B5EF4-FFF2-40B4-BE49-F238E27FC236}">
                <a16:creationId xmlns:a16="http://schemas.microsoft.com/office/drawing/2014/main" id="{36E507FF-022A-4A82-9949-F572E5CC6BF8}"/>
              </a:ext>
            </a:extLst>
          </p:cNvPr>
          <p:cNvCxnSpPr>
            <a:cxnSpLocks/>
            <a:stCxn id="70" idx="0"/>
            <a:endCxn id="79" idx="3"/>
          </p:cNvCxnSpPr>
          <p:nvPr/>
        </p:nvCxnSpPr>
        <p:spPr bwMode="gray">
          <a:xfrm flipH="1" flipV="1">
            <a:off x="3382080" y="3606667"/>
            <a:ext cx="748825" cy="71288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121">
            <a:extLst>
              <a:ext uri="{FF2B5EF4-FFF2-40B4-BE49-F238E27FC236}">
                <a16:creationId xmlns:a16="http://schemas.microsoft.com/office/drawing/2014/main" id="{83D59EC2-E13D-4547-B7AD-F80900981AF9}"/>
              </a:ext>
            </a:extLst>
          </p:cNvPr>
          <p:cNvCxnSpPr>
            <a:cxnSpLocks/>
            <a:stCxn id="33" idx="24"/>
            <a:endCxn id="31" idx="3"/>
          </p:cNvCxnSpPr>
          <p:nvPr/>
        </p:nvCxnSpPr>
        <p:spPr bwMode="gray">
          <a:xfrm flipH="1" flipV="1">
            <a:off x="7104980" y="2937903"/>
            <a:ext cx="1485524" cy="2794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121">
            <a:extLst>
              <a:ext uri="{FF2B5EF4-FFF2-40B4-BE49-F238E27FC236}">
                <a16:creationId xmlns:a16="http://schemas.microsoft.com/office/drawing/2014/main" id="{473BA0A5-88DC-49C5-91F3-BAD9B9EA4E0F}"/>
              </a:ext>
            </a:extLst>
          </p:cNvPr>
          <p:cNvCxnSpPr>
            <a:cxnSpLocks/>
            <a:stCxn id="33" idx="15"/>
            <a:endCxn id="71" idx="0"/>
          </p:cNvCxnSpPr>
          <p:nvPr/>
        </p:nvCxnSpPr>
        <p:spPr bwMode="gray">
          <a:xfrm flipH="1">
            <a:off x="7964723" y="3590764"/>
            <a:ext cx="631702" cy="72878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121">
            <a:extLst>
              <a:ext uri="{FF2B5EF4-FFF2-40B4-BE49-F238E27FC236}">
                <a16:creationId xmlns:a16="http://schemas.microsoft.com/office/drawing/2014/main" id="{DDB8AF8D-757B-4FB7-9976-A5521A1E9A7E}"/>
              </a:ext>
            </a:extLst>
          </p:cNvPr>
          <p:cNvCxnSpPr>
            <a:cxnSpLocks/>
            <a:stCxn id="33" idx="9"/>
            <a:endCxn id="72" idx="0"/>
          </p:cNvCxnSpPr>
          <p:nvPr/>
        </p:nvCxnSpPr>
        <p:spPr bwMode="gray">
          <a:xfrm>
            <a:off x="9374811" y="3589776"/>
            <a:ext cx="543179" cy="72977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121">
            <a:extLst>
              <a:ext uri="{FF2B5EF4-FFF2-40B4-BE49-F238E27FC236}">
                <a16:creationId xmlns:a16="http://schemas.microsoft.com/office/drawing/2014/main" id="{12BA2241-BBCC-4124-B54C-64EFBF387077}"/>
              </a:ext>
            </a:extLst>
          </p:cNvPr>
          <p:cNvCxnSpPr>
            <a:cxnSpLocks/>
            <a:stCxn id="30" idx="3"/>
            <a:endCxn id="31" idx="1"/>
          </p:cNvCxnSpPr>
          <p:nvPr/>
        </p:nvCxnSpPr>
        <p:spPr bwMode="gray">
          <a:xfrm>
            <a:off x="5403706" y="2937903"/>
            <a:ext cx="12986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923B572-53E2-4D49-BD5D-4EF4C6AD31D1}"/>
              </a:ext>
            </a:extLst>
          </p:cNvPr>
          <p:cNvSpPr txBox="1"/>
          <p:nvPr/>
        </p:nvSpPr>
        <p:spPr bwMode="gray">
          <a:xfrm>
            <a:off x="966088" y="2488398"/>
            <a:ext cx="902811" cy="307777"/>
          </a:xfrm>
          <a:prstGeom prst="rect">
            <a:avLst/>
          </a:prstGeom>
          <a:noFill/>
        </p:spPr>
        <p:txBody>
          <a:bodyPr wrap="none" rtlCol="0">
            <a:spAutoFit/>
          </a:bodyPr>
          <a:lstStyle/>
          <a:p>
            <a:r>
              <a:rPr lang="zh-CN" altLang="en-US" sz="1400" dirty="0"/>
              <a:t>传统网络</a:t>
            </a:r>
          </a:p>
        </p:txBody>
      </p:sp>
      <p:sp>
        <p:nvSpPr>
          <p:cNvPr id="43" name="TextBox 42">
            <a:extLst>
              <a:ext uri="{FF2B5EF4-FFF2-40B4-BE49-F238E27FC236}">
                <a16:creationId xmlns:a16="http://schemas.microsoft.com/office/drawing/2014/main" id="{354A6FA2-CA8F-49E7-AA4D-0D998AF78710}"/>
              </a:ext>
            </a:extLst>
          </p:cNvPr>
          <p:cNvSpPr txBox="1"/>
          <p:nvPr/>
        </p:nvSpPr>
        <p:spPr bwMode="gray">
          <a:xfrm>
            <a:off x="9956015" y="2488399"/>
            <a:ext cx="1269899" cy="307777"/>
          </a:xfrm>
          <a:prstGeom prst="rect">
            <a:avLst/>
          </a:prstGeom>
          <a:noFill/>
        </p:spPr>
        <p:txBody>
          <a:bodyPr wrap="none" rtlCol="0">
            <a:spAutoFit/>
          </a:bodyPr>
          <a:lstStyle/>
          <a:p>
            <a:r>
              <a:rPr lang="en-US" altLang="zh-CN" sz="1400" dirty="0"/>
              <a:t>SD-WAN</a:t>
            </a:r>
            <a:r>
              <a:rPr lang="zh-CN" altLang="en-US" sz="1400" dirty="0"/>
              <a:t>网络</a:t>
            </a:r>
          </a:p>
        </p:txBody>
      </p:sp>
      <p:sp>
        <p:nvSpPr>
          <p:cNvPr id="60" name="Freeform 159">
            <a:extLst>
              <a:ext uri="{FF2B5EF4-FFF2-40B4-BE49-F238E27FC236}">
                <a16:creationId xmlns:a16="http://schemas.microsoft.com/office/drawing/2014/main" id="{EC0977F8-DADE-4457-82FA-3567E08025D3}"/>
              </a:ext>
            </a:extLst>
          </p:cNvPr>
          <p:cNvSpPr/>
          <p:nvPr/>
        </p:nvSpPr>
        <p:spPr bwMode="gray">
          <a:xfrm flipH="1">
            <a:off x="1619746" y="4550974"/>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A</a:t>
            </a:r>
            <a:endParaRPr lang="en-US" sz="1600" dirty="0">
              <a:solidFill>
                <a:schemeClr val="tx1"/>
              </a:solidFill>
            </a:endParaRPr>
          </a:p>
        </p:txBody>
      </p:sp>
      <p:sp>
        <p:nvSpPr>
          <p:cNvPr id="65" name="Freeform 159">
            <a:extLst>
              <a:ext uri="{FF2B5EF4-FFF2-40B4-BE49-F238E27FC236}">
                <a16:creationId xmlns:a16="http://schemas.microsoft.com/office/drawing/2014/main" id="{FDEA5C39-9BC4-4F1D-AA6E-51D22A5E52C3}"/>
              </a:ext>
            </a:extLst>
          </p:cNvPr>
          <p:cNvSpPr/>
          <p:nvPr/>
        </p:nvSpPr>
        <p:spPr bwMode="gray">
          <a:xfrm flipH="1">
            <a:off x="3546246" y="4550974"/>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B</a:t>
            </a:r>
            <a:endParaRPr lang="en-US" sz="1600" dirty="0">
              <a:solidFill>
                <a:schemeClr val="tx1"/>
              </a:solidFill>
            </a:endParaRPr>
          </a:p>
        </p:txBody>
      </p:sp>
      <p:sp>
        <p:nvSpPr>
          <p:cNvPr id="66" name="Freeform 159">
            <a:extLst>
              <a:ext uri="{FF2B5EF4-FFF2-40B4-BE49-F238E27FC236}">
                <a16:creationId xmlns:a16="http://schemas.microsoft.com/office/drawing/2014/main" id="{07ABEA85-5D0A-4FF9-A0E8-BE0EB3489A08}"/>
              </a:ext>
            </a:extLst>
          </p:cNvPr>
          <p:cNvSpPr/>
          <p:nvPr/>
        </p:nvSpPr>
        <p:spPr bwMode="gray">
          <a:xfrm flipH="1">
            <a:off x="7450879" y="4578873"/>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A</a:t>
            </a:r>
            <a:endParaRPr lang="en-US" sz="1600" dirty="0">
              <a:solidFill>
                <a:schemeClr val="tx1"/>
              </a:solidFill>
            </a:endParaRPr>
          </a:p>
        </p:txBody>
      </p:sp>
      <p:sp>
        <p:nvSpPr>
          <p:cNvPr id="67" name="Freeform 159">
            <a:extLst>
              <a:ext uri="{FF2B5EF4-FFF2-40B4-BE49-F238E27FC236}">
                <a16:creationId xmlns:a16="http://schemas.microsoft.com/office/drawing/2014/main" id="{EA4B09AC-A733-4C23-A6C3-D0F4B6689398}"/>
              </a:ext>
            </a:extLst>
          </p:cNvPr>
          <p:cNvSpPr/>
          <p:nvPr/>
        </p:nvSpPr>
        <p:spPr bwMode="gray">
          <a:xfrm flipH="1">
            <a:off x="9439586" y="4578873"/>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B</a:t>
            </a:r>
            <a:endParaRPr lang="en-US" sz="1600" dirty="0">
              <a:solidFill>
                <a:schemeClr val="tx1"/>
              </a:solidFill>
            </a:endParaRPr>
          </a:p>
        </p:txBody>
      </p:sp>
      <p:pic>
        <p:nvPicPr>
          <p:cNvPr id="70" name="Picture 12" descr="E:\2016.01\1.12 扁平化图标\蓝色\AR-蓝色最新-40.png">
            <a:extLst>
              <a:ext uri="{FF2B5EF4-FFF2-40B4-BE49-F238E27FC236}">
                <a16:creationId xmlns:a16="http://schemas.microsoft.com/office/drawing/2014/main" id="{1AF6BDD8-16CA-4F63-8CA2-58815BFCF405}"/>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3929568" y="4319551"/>
            <a:ext cx="402674" cy="329461"/>
          </a:xfrm>
          <a:prstGeom prst="rect">
            <a:avLst/>
          </a:prstGeom>
          <a:noFill/>
        </p:spPr>
      </p:pic>
      <p:pic>
        <p:nvPicPr>
          <p:cNvPr id="71" name="Picture 12" descr="E:\2016.01\1.12 扁平化图标\蓝色\AR-蓝色最新-40.png">
            <a:extLst>
              <a:ext uri="{FF2B5EF4-FFF2-40B4-BE49-F238E27FC236}">
                <a16:creationId xmlns:a16="http://schemas.microsoft.com/office/drawing/2014/main" id="{C99A73E3-7D61-4598-A700-4A56244D5800}"/>
              </a:ext>
            </a:extLst>
          </p:cNvPr>
          <p:cNvPicPr>
            <a:picLocks noChangeAspect="1" noChangeArrowheads="1"/>
          </p:cNvPicPr>
          <p:nvPr/>
        </p:nvPicPr>
        <p:blipFill>
          <a:blip r:embed="rId3" cstate="print"/>
          <a:srcRect/>
          <a:stretch>
            <a:fillRect/>
          </a:stretch>
        </p:blipFill>
        <p:spPr bwMode="gray">
          <a:xfrm>
            <a:off x="7763386" y="4319552"/>
            <a:ext cx="402674" cy="329461"/>
          </a:xfrm>
          <a:prstGeom prst="rect">
            <a:avLst/>
          </a:prstGeom>
          <a:noFill/>
        </p:spPr>
      </p:pic>
      <p:pic>
        <p:nvPicPr>
          <p:cNvPr id="72" name="Picture 71" descr="E:\2016.01\1.12 扁平化图标\蓝色\AR-蓝色最新-40.png">
            <a:extLst>
              <a:ext uri="{FF2B5EF4-FFF2-40B4-BE49-F238E27FC236}">
                <a16:creationId xmlns:a16="http://schemas.microsoft.com/office/drawing/2014/main" id="{D31BAFFD-0CD9-42F9-901F-766D7AA1B629}"/>
              </a:ext>
            </a:extLst>
          </p:cNvPr>
          <p:cNvPicPr>
            <a:picLocks noChangeAspect="1" noChangeArrowheads="1"/>
          </p:cNvPicPr>
          <p:nvPr/>
        </p:nvPicPr>
        <p:blipFill>
          <a:blip r:embed="rId3" cstate="print"/>
          <a:srcRect/>
          <a:stretch>
            <a:fillRect/>
          </a:stretch>
        </p:blipFill>
        <p:spPr bwMode="gray">
          <a:xfrm>
            <a:off x="9716653" y="4319551"/>
            <a:ext cx="402674" cy="329461"/>
          </a:xfrm>
          <a:prstGeom prst="rect">
            <a:avLst/>
          </a:prstGeom>
          <a:noFill/>
        </p:spPr>
      </p:pic>
      <p:pic>
        <p:nvPicPr>
          <p:cNvPr id="73" name="Picture 12" descr="E:\2016.01\1.12 扁平化图标\蓝色\AR-蓝色最新-40.png">
            <a:extLst>
              <a:ext uri="{FF2B5EF4-FFF2-40B4-BE49-F238E27FC236}">
                <a16:creationId xmlns:a16="http://schemas.microsoft.com/office/drawing/2014/main" id="{546D0F43-14F4-4B8A-BF88-115388B4BBE5}"/>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1976301" y="4319552"/>
            <a:ext cx="402674" cy="329461"/>
          </a:xfrm>
          <a:prstGeom prst="rect">
            <a:avLst/>
          </a:prstGeom>
          <a:noFill/>
        </p:spPr>
      </p:pic>
      <p:sp>
        <p:nvSpPr>
          <p:cNvPr id="75" name="文本框 83">
            <a:extLst>
              <a:ext uri="{FF2B5EF4-FFF2-40B4-BE49-F238E27FC236}">
                <a16:creationId xmlns:a16="http://schemas.microsoft.com/office/drawing/2014/main" id="{AF2F06EB-D6F9-4D70-832A-979FBB1560A1}"/>
              </a:ext>
            </a:extLst>
          </p:cNvPr>
          <p:cNvSpPr txBox="1"/>
          <p:nvPr/>
        </p:nvSpPr>
        <p:spPr bwMode="gray">
          <a:xfrm>
            <a:off x="6633182" y="2514976"/>
            <a:ext cx="540922" cy="276999"/>
          </a:xfrm>
          <a:prstGeom prst="rect">
            <a:avLst/>
          </a:prstGeom>
          <a:noFill/>
        </p:spPr>
        <p:txBody>
          <a:bodyPr wrap="square" rtlCol="0">
            <a:spAutoFit/>
          </a:bodyPr>
          <a:lstStyle/>
          <a:p>
            <a:pPr algn="ctr"/>
            <a:r>
              <a:rPr lang="en-US" altLang="zh-CN" sz="1200" b="1" dirty="0">
                <a:solidFill>
                  <a:srgbClr val="C7000B"/>
                </a:solidFill>
              </a:rPr>
              <a:t>IWG</a:t>
            </a:r>
            <a:endParaRPr lang="zh-CN" altLang="en-US" sz="1200" b="1" dirty="0">
              <a:solidFill>
                <a:srgbClr val="C7000B"/>
              </a:solidFill>
            </a:endParaRPr>
          </a:p>
        </p:txBody>
      </p:sp>
      <p:sp>
        <p:nvSpPr>
          <p:cNvPr id="76" name="文本框 83">
            <a:extLst>
              <a:ext uri="{FF2B5EF4-FFF2-40B4-BE49-F238E27FC236}">
                <a16:creationId xmlns:a16="http://schemas.microsoft.com/office/drawing/2014/main" id="{FD263399-2F3E-4DAF-8EC6-D4F793D3BB49}"/>
              </a:ext>
            </a:extLst>
          </p:cNvPr>
          <p:cNvSpPr txBox="1"/>
          <p:nvPr/>
        </p:nvSpPr>
        <p:spPr bwMode="gray">
          <a:xfrm>
            <a:off x="4294078" y="4345781"/>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sp>
        <p:nvSpPr>
          <p:cNvPr id="77" name="文本框 83">
            <a:extLst>
              <a:ext uri="{FF2B5EF4-FFF2-40B4-BE49-F238E27FC236}">
                <a16:creationId xmlns:a16="http://schemas.microsoft.com/office/drawing/2014/main" id="{AD4F6FE8-9D2C-4802-85FB-F27C680A011F}"/>
              </a:ext>
            </a:extLst>
          </p:cNvPr>
          <p:cNvSpPr txBox="1"/>
          <p:nvPr/>
        </p:nvSpPr>
        <p:spPr bwMode="gray">
          <a:xfrm>
            <a:off x="6852378" y="4253447"/>
            <a:ext cx="1115783" cy="461665"/>
          </a:xfrm>
          <a:prstGeom prst="rect">
            <a:avLst/>
          </a:prstGeom>
          <a:noFill/>
        </p:spPr>
        <p:txBody>
          <a:bodyPr wrap="square" rtlCol="0">
            <a:spAutoFit/>
          </a:bodyPr>
          <a:lstStyle/>
          <a:p>
            <a:pPr algn="ctr"/>
            <a:r>
              <a:rPr lang="en-US" altLang="zh-CN" sz="1200" dirty="0"/>
              <a:t>SD-WAN EDGE</a:t>
            </a:r>
            <a:endParaRPr lang="zh-CN" altLang="en-US" sz="1200" dirty="0"/>
          </a:p>
        </p:txBody>
      </p:sp>
      <p:sp>
        <p:nvSpPr>
          <p:cNvPr id="78" name="文本框 83">
            <a:extLst>
              <a:ext uri="{FF2B5EF4-FFF2-40B4-BE49-F238E27FC236}">
                <a16:creationId xmlns:a16="http://schemas.microsoft.com/office/drawing/2014/main" id="{CFA9F896-5294-4D54-BE8F-4F36A21063AE}"/>
              </a:ext>
            </a:extLst>
          </p:cNvPr>
          <p:cNvSpPr txBox="1"/>
          <p:nvPr/>
        </p:nvSpPr>
        <p:spPr bwMode="gray">
          <a:xfrm>
            <a:off x="2283376" y="4316263"/>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pic>
        <p:nvPicPr>
          <p:cNvPr id="79" name="Picture 12" descr="E:\2016.01\1.12 扁平化图标\蓝色\AR-蓝色最新-40.png">
            <a:extLst>
              <a:ext uri="{FF2B5EF4-FFF2-40B4-BE49-F238E27FC236}">
                <a16:creationId xmlns:a16="http://schemas.microsoft.com/office/drawing/2014/main" id="{931930A6-BA85-42D3-9036-80ECDD6E4462}"/>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2979406" y="3441936"/>
            <a:ext cx="402674" cy="329461"/>
          </a:xfrm>
          <a:prstGeom prst="rect">
            <a:avLst/>
          </a:prstGeom>
          <a:noFill/>
        </p:spPr>
      </p:pic>
      <p:sp>
        <p:nvSpPr>
          <p:cNvPr id="40" name="文本框 83">
            <a:extLst>
              <a:ext uri="{FF2B5EF4-FFF2-40B4-BE49-F238E27FC236}">
                <a16:creationId xmlns:a16="http://schemas.microsoft.com/office/drawing/2014/main" id="{85AFB634-977D-42CB-BD46-FF3CAF761B66}"/>
              </a:ext>
            </a:extLst>
          </p:cNvPr>
          <p:cNvSpPr txBox="1"/>
          <p:nvPr/>
        </p:nvSpPr>
        <p:spPr bwMode="gray">
          <a:xfrm>
            <a:off x="4767438" y="2535522"/>
            <a:ext cx="869861" cy="276999"/>
          </a:xfrm>
          <a:prstGeom prst="rect">
            <a:avLst/>
          </a:prstGeom>
          <a:noFill/>
        </p:spPr>
        <p:txBody>
          <a:bodyPr wrap="square" rtlCol="0">
            <a:spAutoFit/>
          </a:bodyPr>
          <a:lstStyle/>
          <a:p>
            <a:pPr algn="ctr"/>
            <a:r>
              <a:rPr lang="en-US" altLang="zh-CN" sz="1200" dirty="0"/>
              <a:t>ASBR-PE</a:t>
            </a:r>
            <a:endParaRPr lang="zh-CN" altLang="en-US" sz="1200" dirty="0"/>
          </a:p>
        </p:txBody>
      </p:sp>
      <p:sp>
        <p:nvSpPr>
          <p:cNvPr id="44" name="文本框 83">
            <a:extLst>
              <a:ext uri="{FF2B5EF4-FFF2-40B4-BE49-F238E27FC236}">
                <a16:creationId xmlns:a16="http://schemas.microsoft.com/office/drawing/2014/main" id="{0699FF6A-EF77-41D1-90D7-C98CEB33D0AF}"/>
              </a:ext>
            </a:extLst>
          </p:cNvPr>
          <p:cNvSpPr txBox="1"/>
          <p:nvPr/>
        </p:nvSpPr>
        <p:spPr bwMode="gray">
          <a:xfrm>
            <a:off x="2965925" y="3766830"/>
            <a:ext cx="402674" cy="276999"/>
          </a:xfrm>
          <a:prstGeom prst="rect">
            <a:avLst/>
          </a:prstGeom>
          <a:noFill/>
        </p:spPr>
        <p:txBody>
          <a:bodyPr wrap="square" rtlCol="0">
            <a:spAutoFit/>
          </a:bodyPr>
          <a:lstStyle/>
          <a:p>
            <a:pPr algn="ctr"/>
            <a:r>
              <a:rPr lang="en-US" altLang="zh-CN" sz="1200" dirty="0"/>
              <a:t>PE</a:t>
            </a:r>
            <a:endParaRPr lang="zh-CN" altLang="en-US" sz="1200" dirty="0"/>
          </a:p>
        </p:txBody>
      </p:sp>
      <p:sp>
        <p:nvSpPr>
          <p:cNvPr id="6" name="Freeform: Shape 5">
            <a:extLst>
              <a:ext uri="{FF2B5EF4-FFF2-40B4-BE49-F238E27FC236}">
                <a16:creationId xmlns:a16="http://schemas.microsoft.com/office/drawing/2014/main" id="{1228A943-EC8C-4452-9976-3CCE2A24FE23}"/>
              </a:ext>
            </a:extLst>
          </p:cNvPr>
          <p:cNvSpPr/>
          <p:nvPr/>
        </p:nvSpPr>
        <p:spPr bwMode="gray">
          <a:xfrm>
            <a:off x="5457824" y="3081204"/>
            <a:ext cx="1216025" cy="171472"/>
          </a:xfrm>
          <a:custGeom>
            <a:avLst/>
            <a:gdLst>
              <a:gd name="connsiteX0" fmla="*/ 0 w 1143000"/>
              <a:gd name="connsiteY0" fmla="*/ 0 h 171472"/>
              <a:gd name="connsiteX1" fmla="*/ 514350 w 1143000"/>
              <a:gd name="connsiteY1" fmla="*/ 171450 h 171472"/>
              <a:gd name="connsiteX2" fmla="*/ 1143000 w 1143000"/>
              <a:gd name="connsiteY2" fmla="*/ 9525 h 171472"/>
            </a:gdLst>
            <a:ahLst/>
            <a:cxnLst>
              <a:cxn ang="0">
                <a:pos x="connsiteX0" y="connsiteY0"/>
              </a:cxn>
              <a:cxn ang="0">
                <a:pos x="connsiteX1" y="connsiteY1"/>
              </a:cxn>
              <a:cxn ang="0">
                <a:pos x="connsiteX2" y="connsiteY2"/>
              </a:cxn>
            </a:cxnLst>
            <a:rect l="l" t="t" r="r" b="b"/>
            <a:pathLst>
              <a:path w="1143000" h="171472">
                <a:moveTo>
                  <a:pt x="0" y="0"/>
                </a:moveTo>
                <a:cubicBezTo>
                  <a:pt x="161925" y="84931"/>
                  <a:pt x="323850" y="169863"/>
                  <a:pt x="514350" y="171450"/>
                </a:cubicBezTo>
                <a:cubicBezTo>
                  <a:pt x="704850" y="173037"/>
                  <a:pt x="923925" y="91281"/>
                  <a:pt x="1143000" y="9525"/>
                </a:cubicBezTo>
              </a:path>
            </a:pathLst>
          </a:custGeom>
          <a:noFill/>
          <a:ln w="28575">
            <a:solidFill>
              <a:srgbClr val="E28189"/>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1F0B067A-412C-4D9F-9C80-F0655F9CBABE}"/>
              </a:ext>
            </a:extLst>
          </p:cNvPr>
          <p:cNvSpPr/>
          <p:nvPr/>
        </p:nvSpPr>
        <p:spPr bwMode="gray">
          <a:xfrm rot="20490686">
            <a:off x="3396578" y="3287480"/>
            <a:ext cx="1629673" cy="148414"/>
          </a:xfrm>
          <a:custGeom>
            <a:avLst/>
            <a:gdLst>
              <a:gd name="connsiteX0" fmla="*/ 0 w 1143000"/>
              <a:gd name="connsiteY0" fmla="*/ 0 h 171472"/>
              <a:gd name="connsiteX1" fmla="*/ 514350 w 1143000"/>
              <a:gd name="connsiteY1" fmla="*/ 171450 h 171472"/>
              <a:gd name="connsiteX2" fmla="*/ 1143000 w 1143000"/>
              <a:gd name="connsiteY2" fmla="*/ 9525 h 171472"/>
            </a:gdLst>
            <a:ahLst/>
            <a:cxnLst>
              <a:cxn ang="0">
                <a:pos x="connsiteX0" y="connsiteY0"/>
              </a:cxn>
              <a:cxn ang="0">
                <a:pos x="connsiteX1" y="connsiteY1"/>
              </a:cxn>
              <a:cxn ang="0">
                <a:pos x="connsiteX2" y="connsiteY2"/>
              </a:cxn>
            </a:cxnLst>
            <a:rect l="l" t="t" r="r" b="b"/>
            <a:pathLst>
              <a:path w="1143000" h="171472">
                <a:moveTo>
                  <a:pt x="0" y="0"/>
                </a:moveTo>
                <a:cubicBezTo>
                  <a:pt x="161925" y="84931"/>
                  <a:pt x="323850" y="169863"/>
                  <a:pt x="514350" y="171450"/>
                </a:cubicBezTo>
                <a:cubicBezTo>
                  <a:pt x="704850" y="173037"/>
                  <a:pt x="923925" y="91281"/>
                  <a:pt x="1143000" y="9525"/>
                </a:cubicBezTo>
              </a:path>
            </a:pathLst>
          </a:custGeom>
          <a:noFill/>
          <a:ln w="28575">
            <a:solidFill>
              <a:srgbClr val="E28189"/>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B15B4F91-F95C-43EA-8135-C296DD6543E0}"/>
              </a:ext>
            </a:extLst>
          </p:cNvPr>
          <p:cNvSpPr txBox="1"/>
          <p:nvPr/>
        </p:nvSpPr>
        <p:spPr bwMode="gray">
          <a:xfrm>
            <a:off x="5669727" y="3257476"/>
            <a:ext cx="766557" cy="276999"/>
          </a:xfrm>
          <a:prstGeom prst="rect">
            <a:avLst/>
          </a:prstGeom>
          <a:noFill/>
        </p:spPr>
        <p:txBody>
          <a:bodyPr wrap="none" rtlCol="0">
            <a:spAutoFit/>
          </a:bodyPr>
          <a:lstStyle/>
          <a:p>
            <a:r>
              <a:rPr lang="en-US" altLang="zh-CN" sz="1200" dirty="0"/>
              <a:t>MP-BGP</a:t>
            </a:r>
            <a:endParaRPr lang="zh-CN" altLang="en-US" sz="1200" dirty="0"/>
          </a:p>
        </p:txBody>
      </p:sp>
      <p:sp>
        <p:nvSpPr>
          <p:cNvPr id="47" name="TextBox 46">
            <a:extLst>
              <a:ext uri="{FF2B5EF4-FFF2-40B4-BE49-F238E27FC236}">
                <a16:creationId xmlns:a16="http://schemas.microsoft.com/office/drawing/2014/main" id="{65898FCA-ABF5-412D-AAF2-18EC83BB9776}"/>
              </a:ext>
            </a:extLst>
          </p:cNvPr>
          <p:cNvSpPr txBox="1"/>
          <p:nvPr/>
        </p:nvSpPr>
        <p:spPr bwMode="gray">
          <a:xfrm rot="20279691">
            <a:off x="3976908" y="3350874"/>
            <a:ext cx="766557" cy="276999"/>
          </a:xfrm>
          <a:prstGeom prst="rect">
            <a:avLst/>
          </a:prstGeom>
          <a:noFill/>
        </p:spPr>
        <p:txBody>
          <a:bodyPr wrap="none" rtlCol="0">
            <a:spAutoFit/>
          </a:bodyPr>
          <a:lstStyle/>
          <a:p>
            <a:r>
              <a:rPr lang="en-US" altLang="zh-CN" sz="1200" dirty="0"/>
              <a:t>MP-BGP</a:t>
            </a:r>
            <a:endParaRPr lang="zh-CN" altLang="en-US" sz="1200" dirty="0"/>
          </a:p>
        </p:txBody>
      </p:sp>
      <p:sp>
        <p:nvSpPr>
          <p:cNvPr id="48" name="TextBox 47">
            <a:extLst>
              <a:ext uri="{FF2B5EF4-FFF2-40B4-BE49-F238E27FC236}">
                <a16:creationId xmlns:a16="http://schemas.microsoft.com/office/drawing/2014/main" id="{AF28CFC3-DE72-429D-80B7-21D17E253B28}"/>
              </a:ext>
            </a:extLst>
          </p:cNvPr>
          <p:cNvSpPr txBox="1"/>
          <p:nvPr/>
        </p:nvSpPr>
        <p:spPr bwMode="gray">
          <a:xfrm rot="19122783">
            <a:off x="2303140" y="3705348"/>
            <a:ext cx="545342" cy="276999"/>
          </a:xfrm>
          <a:prstGeom prst="rect">
            <a:avLst/>
          </a:prstGeom>
          <a:noFill/>
        </p:spPr>
        <p:txBody>
          <a:bodyPr wrap="none" rtlCol="0">
            <a:spAutoFit/>
          </a:bodyPr>
          <a:lstStyle/>
          <a:p>
            <a:r>
              <a:rPr lang="en-US" altLang="zh-CN" sz="1200" dirty="0"/>
              <a:t>VRF1</a:t>
            </a:r>
            <a:endParaRPr lang="zh-CN" altLang="en-US" sz="1200" dirty="0"/>
          </a:p>
        </p:txBody>
      </p:sp>
      <p:sp>
        <p:nvSpPr>
          <p:cNvPr id="49" name="TextBox 48">
            <a:extLst>
              <a:ext uri="{FF2B5EF4-FFF2-40B4-BE49-F238E27FC236}">
                <a16:creationId xmlns:a16="http://schemas.microsoft.com/office/drawing/2014/main" id="{97AAC4AE-F007-4FE8-B033-19F5CCFC1190}"/>
              </a:ext>
            </a:extLst>
          </p:cNvPr>
          <p:cNvSpPr txBox="1"/>
          <p:nvPr/>
        </p:nvSpPr>
        <p:spPr bwMode="gray">
          <a:xfrm rot="2589562">
            <a:off x="3555689" y="3746829"/>
            <a:ext cx="545342" cy="276999"/>
          </a:xfrm>
          <a:prstGeom prst="rect">
            <a:avLst/>
          </a:prstGeom>
          <a:noFill/>
        </p:spPr>
        <p:txBody>
          <a:bodyPr wrap="none" rtlCol="0">
            <a:spAutoFit/>
          </a:bodyPr>
          <a:lstStyle/>
          <a:p>
            <a:r>
              <a:rPr lang="en-US" altLang="zh-CN" sz="1200" dirty="0"/>
              <a:t>VRF2</a:t>
            </a:r>
            <a:endParaRPr lang="zh-CN" altLang="en-US" sz="1200" dirty="0"/>
          </a:p>
        </p:txBody>
      </p:sp>
      <p:sp>
        <p:nvSpPr>
          <p:cNvPr id="50" name="TextBox 49">
            <a:extLst>
              <a:ext uri="{FF2B5EF4-FFF2-40B4-BE49-F238E27FC236}">
                <a16:creationId xmlns:a16="http://schemas.microsoft.com/office/drawing/2014/main" id="{137042CB-4805-470B-9362-B3E54CF3C7DF}"/>
              </a:ext>
            </a:extLst>
          </p:cNvPr>
          <p:cNvSpPr txBox="1"/>
          <p:nvPr/>
        </p:nvSpPr>
        <p:spPr bwMode="gray">
          <a:xfrm>
            <a:off x="7101447" y="2505140"/>
            <a:ext cx="545342" cy="461665"/>
          </a:xfrm>
          <a:prstGeom prst="rect">
            <a:avLst/>
          </a:prstGeom>
          <a:noFill/>
        </p:spPr>
        <p:txBody>
          <a:bodyPr wrap="none" rtlCol="0">
            <a:spAutoFit/>
          </a:bodyPr>
          <a:lstStyle/>
          <a:p>
            <a:r>
              <a:rPr lang="en-US" altLang="zh-CN" sz="1200" dirty="0"/>
              <a:t>VRF1</a:t>
            </a:r>
          </a:p>
          <a:p>
            <a:r>
              <a:rPr lang="en-US" altLang="zh-CN" sz="1200" dirty="0"/>
              <a:t>VRF2</a:t>
            </a:r>
            <a:endParaRPr lang="zh-CN" altLang="en-US" sz="1200" dirty="0"/>
          </a:p>
        </p:txBody>
      </p:sp>
      <p:sp>
        <p:nvSpPr>
          <p:cNvPr id="53"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54"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33375498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574A18-A757-4310-ACD5-79C9C9B8C0C6}"/>
              </a:ext>
            </a:extLst>
          </p:cNvPr>
          <p:cNvSpPr>
            <a:spLocks noGrp="1"/>
          </p:cNvSpPr>
          <p:nvPr>
            <p:ph type="body" sz="quarter" idx="10"/>
          </p:nvPr>
        </p:nvSpPr>
        <p:spPr bwMode="gray"/>
        <p:txBody>
          <a:bodyPr/>
          <a:lstStyle/>
          <a:p>
            <a:r>
              <a:rPr lang="zh-CN" altLang="en-US" sz="1800" dirty="0"/>
              <a:t>参考</a:t>
            </a:r>
            <a:r>
              <a:rPr lang="en-US" altLang="zh-CN" sz="1800" dirty="0"/>
              <a:t>MPLS VPN</a:t>
            </a:r>
            <a:r>
              <a:rPr lang="zh-CN" altLang="en-US" sz="1800" dirty="0"/>
              <a:t>中的</a:t>
            </a:r>
            <a:r>
              <a:rPr lang="en-US" altLang="zh-CN" sz="1800" dirty="0"/>
              <a:t>Option A</a:t>
            </a:r>
            <a:r>
              <a:rPr lang="zh-CN" altLang="en-US" sz="1800" dirty="0"/>
              <a:t>跨域方案，</a:t>
            </a:r>
            <a:r>
              <a:rPr lang="en-US" altLang="zh-CN" sz="1800" dirty="0"/>
              <a:t>SD-WAN</a:t>
            </a:r>
            <a:r>
              <a:rPr lang="zh-CN" altLang="en-US" sz="1800" dirty="0"/>
              <a:t>中</a:t>
            </a:r>
            <a:r>
              <a:rPr lang="en-US" altLang="zh-CN" sz="1800" dirty="0"/>
              <a:t>Option A</a:t>
            </a:r>
            <a:r>
              <a:rPr lang="zh-CN" altLang="en-US" sz="1800" dirty="0"/>
              <a:t>跨域方案是</a:t>
            </a:r>
            <a:r>
              <a:rPr lang="en-US" altLang="zh-CN" sz="1800" dirty="0"/>
              <a:t>IWG</a:t>
            </a:r>
            <a:r>
              <a:rPr lang="zh-CN" altLang="en-US" sz="1800" dirty="0"/>
              <a:t>设备与</a:t>
            </a:r>
            <a:r>
              <a:rPr lang="en-US" altLang="zh-CN" sz="1800" dirty="0"/>
              <a:t>ASBR-PE</a:t>
            </a:r>
            <a:r>
              <a:rPr lang="zh-CN" altLang="en-US" sz="1800" dirty="0"/>
              <a:t>设备之间通过</a:t>
            </a:r>
            <a:r>
              <a:rPr lang="en-US" altLang="zh-CN" sz="1800" dirty="0"/>
              <a:t>L3 VXLAN</a:t>
            </a:r>
            <a:r>
              <a:rPr lang="zh-CN" altLang="en-US" sz="1800" dirty="0"/>
              <a:t>隧道对接，在</a:t>
            </a:r>
            <a:r>
              <a:rPr lang="en-US" altLang="zh-CN" sz="1800" dirty="0"/>
              <a:t>VXLAN</a:t>
            </a:r>
            <a:r>
              <a:rPr lang="zh-CN" altLang="en-US" sz="1800" dirty="0"/>
              <a:t>隧道两端建立</a:t>
            </a:r>
            <a:r>
              <a:rPr lang="en-US" altLang="zh-CN" sz="1800" dirty="0"/>
              <a:t>eBGP</a:t>
            </a:r>
            <a:r>
              <a:rPr lang="zh-CN" altLang="en-US" sz="1800" dirty="0"/>
              <a:t>或</a:t>
            </a:r>
            <a:r>
              <a:rPr lang="en-US" altLang="zh-CN" sz="1800" dirty="0"/>
              <a:t>iBGP</a:t>
            </a:r>
            <a:r>
              <a:rPr lang="zh-CN" altLang="en-US" sz="1800" dirty="0"/>
              <a:t>，互相学习</a:t>
            </a:r>
            <a:r>
              <a:rPr lang="en-US" altLang="zh-CN" sz="1800" dirty="0"/>
              <a:t>SD-WAN</a:t>
            </a:r>
            <a:r>
              <a:rPr lang="zh-CN" altLang="en-US" sz="1800" dirty="0"/>
              <a:t>站点和传统站点的路由。</a:t>
            </a:r>
            <a:endParaRPr lang="en-US" sz="1800" dirty="0"/>
          </a:p>
        </p:txBody>
      </p:sp>
      <p:sp>
        <p:nvSpPr>
          <p:cNvPr id="5" name="圆角矩形 54">
            <a:extLst>
              <a:ext uri="{FF2B5EF4-FFF2-40B4-BE49-F238E27FC236}">
                <a16:creationId xmlns:a16="http://schemas.microsoft.com/office/drawing/2014/main" id="{C34924F5-6095-4848-95B3-DFC9EAED4995}"/>
              </a:ext>
            </a:extLst>
          </p:cNvPr>
          <p:cNvSpPr/>
          <p:nvPr/>
        </p:nvSpPr>
        <p:spPr bwMode="gray">
          <a:xfrm>
            <a:off x="690165" y="2368239"/>
            <a:ext cx="10863660" cy="3511684"/>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p:txBody>
      </p:sp>
      <p:sp>
        <p:nvSpPr>
          <p:cNvPr id="2" name="Title 1">
            <a:extLst>
              <a:ext uri="{FF2B5EF4-FFF2-40B4-BE49-F238E27FC236}">
                <a16:creationId xmlns:a16="http://schemas.microsoft.com/office/drawing/2014/main" id="{5B756E6E-52F5-4E52-A7E0-BCD77B3181E9}"/>
              </a:ext>
            </a:extLst>
          </p:cNvPr>
          <p:cNvSpPr>
            <a:spLocks noGrp="1"/>
          </p:cNvSpPr>
          <p:nvPr>
            <p:ph type="title"/>
          </p:nvPr>
        </p:nvSpPr>
        <p:spPr bwMode="gray"/>
        <p:txBody>
          <a:bodyPr>
            <a:normAutofit/>
          </a:bodyPr>
          <a:lstStyle/>
          <a:p>
            <a:r>
              <a:rPr lang="zh-CN" altLang="en-US" dirty="0"/>
              <a:t>通过</a:t>
            </a:r>
            <a:r>
              <a:rPr lang="en-US" altLang="zh-CN" dirty="0"/>
              <a:t>IWG</a:t>
            </a:r>
            <a:r>
              <a:rPr lang="zh-CN" altLang="en-US" dirty="0"/>
              <a:t>互访：基于</a:t>
            </a:r>
            <a:r>
              <a:rPr lang="en-US" altLang="zh-CN" dirty="0"/>
              <a:t>L3 VXLAN</a:t>
            </a:r>
            <a:r>
              <a:rPr lang="zh-CN" altLang="en-US" dirty="0"/>
              <a:t>的</a:t>
            </a:r>
            <a:r>
              <a:rPr lang="en-US" altLang="zh-CN" dirty="0"/>
              <a:t>Option A</a:t>
            </a:r>
            <a:r>
              <a:rPr lang="zh-CN" altLang="en-US" dirty="0"/>
              <a:t>跨域互访</a:t>
            </a:r>
            <a:endParaRPr lang="en-US" dirty="0"/>
          </a:p>
        </p:txBody>
      </p:sp>
      <p:sp>
        <p:nvSpPr>
          <p:cNvPr id="4" name="圆角矩形 53">
            <a:extLst>
              <a:ext uri="{FF2B5EF4-FFF2-40B4-BE49-F238E27FC236}">
                <a16:creationId xmlns:a16="http://schemas.microsoft.com/office/drawing/2014/main" id="{8488A8C9-F27C-4312-BA05-372395C8CC8C}"/>
              </a:ext>
            </a:extLst>
          </p:cNvPr>
          <p:cNvSpPr/>
          <p:nvPr/>
        </p:nvSpPr>
        <p:spPr bwMode="gray">
          <a:xfrm>
            <a:off x="690165" y="1951442"/>
            <a:ext cx="10863660" cy="360023"/>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基于</a:t>
            </a:r>
            <a:r>
              <a:rPr lang="en-US" altLang="zh-CN" sz="1600">
                <a:solidFill>
                  <a:srgbClr val="30B5C5"/>
                </a:solidFill>
                <a:latin typeface="Huawei Sans" panose="020C0503030203020204" pitchFamily="34" charset="0"/>
                <a:ea typeface="方正兰亭黑简体" panose="02000000000000000000" pitchFamily="2" charset="-122"/>
              </a:rPr>
              <a:t>L3 VXLAN</a:t>
            </a:r>
            <a:r>
              <a:rPr lang="zh-CN" altLang="en-US" sz="1600">
                <a:solidFill>
                  <a:srgbClr val="30B5C5"/>
                </a:solidFill>
                <a:latin typeface="Huawei Sans" panose="020C0503030203020204" pitchFamily="34" charset="0"/>
                <a:ea typeface="方正兰亭黑简体" panose="02000000000000000000" pitchFamily="2" charset="-122"/>
              </a:rPr>
              <a:t>的</a:t>
            </a:r>
            <a:r>
              <a:rPr lang="en-US" altLang="zh-CN" sz="1600">
                <a:solidFill>
                  <a:srgbClr val="30B5C5"/>
                </a:solidFill>
                <a:latin typeface="Huawei Sans" panose="020C0503030203020204" pitchFamily="34" charset="0"/>
                <a:ea typeface="方正兰亭黑简体" panose="02000000000000000000" pitchFamily="2" charset="-122"/>
              </a:rPr>
              <a:t>Option A</a:t>
            </a:r>
            <a:r>
              <a:rPr lang="zh-CN" altLang="en-US" sz="1600" dirty="0">
                <a:solidFill>
                  <a:srgbClr val="30B5C5"/>
                </a:solidFill>
                <a:latin typeface="Huawei Sans" panose="020C0503030203020204" pitchFamily="34" charset="0"/>
                <a:ea typeface="方正兰亭黑简体" panose="02000000000000000000" pitchFamily="2" charset="-122"/>
              </a:rPr>
              <a:t>跨域互访方案设计</a:t>
            </a:r>
          </a:p>
        </p:txBody>
      </p:sp>
      <p:sp>
        <p:nvSpPr>
          <p:cNvPr id="28" name="Rectangle: Rounded Corners 27">
            <a:extLst>
              <a:ext uri="{FF2B5EF4-FFF2-40B4-BE49-F238E27FC236}">
                <a16:creationId xmlns:a16="http://schemas.microsoft.com/office/drawing/2014/main" id="{E2B1407D-EFFC-4342-9EFF-62AC614267FD}"/>
              </a:ext>
            </a:extLst>
          </p:cNvPr>
          <p:cNvSpPr/>
          <p:nvPr/>
        </p:nvSpPr>
        <p:spPr bwMode="gray">
          <a:xfrm>
            <a:off x="966088" y="2619318"/>
            <a:ext cx="4934198" cy="2898653"/>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Rectangle: Rounded Corners 28">
            <a:extLst>
              <a:ext uri="{FF2B5EF4-FFF2-40B4-BE49-F238E27FC236}">
                <a16:creationId xmlns:a16="http://schemas.microsoft.com/office/drawing/2014/main" id="{AEE920B0-F606-45E0-9A65-FB282F914522}"/>
              </a:ext>
            </a:extLst>
          </p:cNvPr>
          <p:cNvSpPr/>
          <p:nvPr/>
        </p:nvSpPr>
        <p:spPr bwMode="gray">
          <a:xfrm>
            <a:off x="6291716" y="2619317"/>
            <a:ext cx="4934198" cy="2898653"/>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Picture 12" descr="E:\2016.01\1.12 扁平化图标\蓝色\AR-蓝色最新-40.png">
            <a:extLst>
              <a:ext uri="{FF2B5EF4-FFF2-40B4-BE49-F238E27FC236}">
                <a16:creationId xmlns:a16="http://schemas.microsoft.com/office/drawing/2014/main" id="{2D5E02AF-F692-4185-9393-AAD6BCE6B142}"/>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5001032" y="2981090"/>
            <a:ext cx="402674" cy="329461"/>
          </a:xfrm>
          <a:prstGeom prst="rect">
            <a:avLst/>
          </a:prstGeom>
          <a:noFill/>
        </p:spPr>
      </p:pic>
      <p:pic>
        <p:nvPicPr>
          <p:cNvPr id="31" name="Picture 12" descr="E:\2016.01\1.12 扁平化图标\蓝色\AR-蓝色最新-40.png">
            <a:extLst>
              <a:ext uri="{FF2B5EF4-FFF2-40B4-BE49-F238E27FC236}">
                <a16:creationId xmlns:a16="http://schemas.microsoft.com/office/drawing/2014/main" id="{BFF94ED8-6CAB-4259-AC74-92C1CC170A4D}"/>
              </a:ext>
            </a:extLst>
          </p:cNvPr>
          <p:cNvPicPr>
            <a:picLocks noChangeAspect="1" noChangeArrowheads="1"/>
          </p:cNvPicPr>
          <p:nvPr/>
        </p:nvPicPr>
        <p:blipFill>
          <a:blip r:embed="rId3" cstate="print"/>
          <a:srcRect/>
          <a:stretch>
            <a:fillRect/>
          </a:stretch>
        </p:blipFill>
        <p:spPr bwMode="gray">
          <a:xfrm>
            <a:off x="6702306" y="2981090"/>
            <a:ext cx="402674" cy="329461"/>
          </a:xfrm>
          <a:prstGeom prst="rect">
            <a:avLst/>
          </a:prstGeom>
          <a:noFill/>
        </p:spPr>
      </p:pic>
      <p:sp>
        <p:nvSpPr>
          <p:cNvPr id="32" name="Freeform 159">
            <a:extLst>
              <a:ext uri="{FF2B5EF4-FFF2-40B4-BE49-F238E27FC236}">
                <a16:creationId xmlns:a16="http://schemas.microsoft.com/office/drawing/2014/main" id="{751C3A0B-467F-4F2D-964E-98BD975E3985}"/>
              </a:ext>
            </a:extLst>
          </p:cNvPr>
          <p:cNvSpPr/>
          <p:nvPr/>
        </p:nvSpPr>
        <p:spPr bwMode="gray">
          <a:xfrm flipH="1">
            <a:off x="2652603" y="319496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1</a:t>
            </a:r>
            <a:endParaRPr lang="en-US" dirty="0">
              <a:solidFill>
                <a:schemeClr val="tx1"/>
              </a:solidFill>
            </a:endParaRPr>
          </a:p>
        </p:txBody>
      </p:sp>
      <p:sp>
        <p:nvSpPr>
          <p:cNvPr id="33" name="Freeform 159">
            <a:extLst>
              <a:ext uri="{FF2B5EF4-FFF2-40B4-BE49-F238E27FC236}">
                <a16:creationId xmlns:a16="http://schemas.microsoft.com/office/drawing/2014/main" id="{233B16C2-159A-4EAF-A0D3-6B2AEC40FE36}"/>
              </a:ext>
            </a:extLst>
          </p:cNvPr>
          <p:cNvSpPr/>
          <p:nvPr/>
        </p:nvSpPr>
        <p:spPr bwMode="gray">
          <a:xfrm flipH="1">
            <a:off x="8423614" y="319496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2</a:t>
            </a:r>
            <a:endParaRPr lang="en-US" dirty="0">
              <a:solidFill>
                <a:schemeClr val="tx1"/>
              </a:solidFill>
            </a:endParaRPr>
          </a:p>
        </p:txBody>
      </p:sp>
      <p:cxnSp>
        <p:nvCxnSpPr>
          <p:cNvPr id="34" name="直接连接符 121">
            <a:extLst>
              <a:ext uri="{FF2B5EF4-FFF2-40B4-BE49-F238E27FC236}">
                <a16:creationId xmlns:a16="http://schemas.microsoft.com/office/drawing/2014/main" id="{C61EC2DE-6E15-4D24-9268-DE9B75DACE83}"/>
              </a:ext>
            </a:extLst>
          </p:cNvPr>
          <p:cNvCxnSpPr>
            <a:cxnSpLocks/>
            <a:stCxn id="32" idx="7"/>
            <a:endCxn id="30" idx="1"/>
          </p:cNvCxnSpPr>
          <p:nvPr/>
        </p:nvCxnSpPr>
        <p:spPr bwMode="gray">
          <a:xfrm flipV="1">
            <a:off x="3656416" y="3145821"/>
            <a:ext cx="1344616" cy="28502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121">
            <a:extLst>
              <a:ext uri="{FF2B5EF4-FFF2-40B4-BE49-F238E27FC236}">
                <a16:creationId xmlns:a16="http://schemas.microsoft.com/office/drawing/2014/main" id="{E845436F-5810-4025-98C3-0880FFF68954}"/>
              </a:ext>
            </a:extLst>
          </p:cNvPr>
          <p:cNvCxnSpPr>
            <a:cxnSpLocks/>
            <a:stCxn id="73" idx="0"/>
            <a:endCxn id="79" idx="1"/>
          </p:cNvCxnSpPr>
          <p:nvPr/>
        </p:nvCxnSpPr>
        <p:spPr bwMode="gray">
          <a:xfrm flipV="1">
            <a:off x="2177638" y="3814585"/>
            <a:ext cx="801768" cy="71288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121">
            <a:extLst>
              <a:ext uri="{FF2B5EF4-FFF2-40B4-BE49-F238E27FC236}">
                <a16:creationId xmlns:a16="http://schemas.microsoft.com/office/drawing/2014/main" id="{36E507FF-022A-4A82-9949-F572E5CC6BF8}"/>
              </a:ext>
            </a:extLst>
          </p:cNvPr>
          <p:cNvCxnSpPr>
            <a:cxnSpLocks/>
            <a:stCxn id="70" idx="0"/>
            <a:endCxn id="79" idx="3"/>
          </p:cNvCxnSpPr>
          <p:nvPr/>
        </p:nvCxnSpPr>
        <p:spPr bwMode="gray">
          <a:xfrm flipH="1" flipV="1">
            <a:off x="3382080" y="3814585"/>
            <a:ext cx="748825" cy="71288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121">
            <a:extLst>
              <a:ext uri="{FF2B5EF4-FFF2-40B4-BE49-F238E27FC236}">
                <a16:creationId xmlns:a16="http://schemas.microsoft.com/office/drawing/2014/main" id="{83D59EC2-E13D-4547-B7AD-F80900981AF9}"/>
              </a:ext>
            </a:extLst>
          </p:cNvPr>
          <p:cNvCxnSpPr>
            <a:cxnSpLocks/>
            <a:stCxn id="33" idx="24"/>
            <a:endCxn id="31" idx="3"/>
          </p:cNvCxnSpPr>
          <p:nvPr/>
        </p:nvCxnSpPr>
        <p:spPr bwMode="gray">
          <a:xfrm flipH="1" flipV="1">
            <a:off x="7104980" y="3145821"/>
            <a:ext cx="1485524" cy="2794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121">
            <a:extLst>
              <a:ext uri="{FF2B5EF4-FFF2-40B4-BE49-F238E27FC236}">
                <a16:creationId xmlns:a16="http://schemas.microsoft.com/office/drawing/2014/main" id="{473BA0A5-88DC-49C5-91F3-BAD9B9EA4E0F}"/>
              </a:ext>
            </a:extLst>
          </p:cNvPr>
          <p:cNvCxnSpPr>
            <a:cxnSpLocks/>
            <a:stCxn id="33" idx="15"/>
            <a:endCxn id="71" idx="0"/>
          </p:cNvCxnSpPr>
          <p:nvPr/>
        </p:nvCxnSpPr>
        <p:spPr bwMode="gray">
          <a:xfrm flipH="1">
            <a:off x="7964723" y="3798682"/>
            <a:ext cx="631702" cy="72878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121">
            <a:extLst>
              <a:ext uri="{FF2B5EF4-FFF2-40B4-BE49-F238E27FC236}">
                <a16:creationId xmlns:a16="http://schemas.microsoft.com/office/drawing/2014/main" id="{DDB8AF8D-757B-4FB7-9976-A5521A1E9A7E}"/>
              </a:ext>
            </a:extLst>
          </p:cNvPr>
          <p:cNvCxnSpPr>
            <a:cxnSpLocks/>
            <a:stCxn id="33" idx="9"/>
            <a:endCxn id="72" idx="0"/>
          </p:cNvCxnSpPr>
          <p:nvPr/>
        </p:nvCxnSpPr>
        <p:spPr bwMode="gray">
          <a:xfrm>
            <a:off x="9374811" y="3797694"/>
            <a:ext cx="543179" cy="72977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121">
            <a:extLst>
              <a:ext uri="{FF2B5EF4-FFF2-40B4-BE49-F238E27FC236}">
                <a16:creationId xmlns:a16="http://schemas.microsoft.com/office/drawing/2014/main" id="{12BA2241-BBCC-4124-B54C-64EFBF387077}"/>
              </a:ext>
            </a:extLst>
          </p:cNvPr>
          <p:cNvCxnSpPr>
            <a:cxnSpLocks/>
            <a:stCxn id="30" idx="3"/>
            <a:endCxn id="31" idx="1"/>
          </p:cNvCxnSpPr>
          <p:nvPr/>
        </p:nvCxnSpPr>
        <p:spPr bwMode="gray">
          <a:xfrm>
            <a:off x="5403706" y="3145821"/>
            <a:ext cx="12986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923B572-53E2-4D49-BD5D-4EF4C6AD31D1}"/>
              </a:ext>
            </a:extLst>
          </p:cNvPr>
          <p:cNvSpPr txBox="1"/>
          <p:nvPr/>
        </p:nvSpPr>
        <p:spPr bwMode="gray">
          <a:xfrm>
            <a:off x="966088" y="2696316"/>
            <a:ext cx="902811" cy="307777"/>
          </a:xfrm>
          <a:prstGeom prst="rect">
            <a:avLst/>
          </a:prstGeom>
          <a:noFill/>
        </p:spPr>
        <p:txBody>
          <a:bodyPr wrap="none" rtlCol="0">
            <a:spAutoFit/>
          </a:bodyPr>
          <a:lstStyle/>
          <a:p>
            <a:r>
              <a:rPr lang="zh-CN" altLang="en-US" sz="1400" dirty="0"/>
              <a:t>传统网络</a:t>
            </a:r>
          </a:p>
        </p:txBody>
      </p:sp>
      <p:sp>
        <p:nvSpPr>
          <p:cNvPr id="43" name="TextBox 42">
            <a:extLst>
              <a:ext uri="{FF2B5EF4-FFF2-40B4-BE49-F238E27FC236}">
                <a16:creationId xmlns:a16="http://schemas.microsoft.com/office/drawing/2014/main" id="{354A6FA2-CA8F-49E7-AA4D-0D998AF78710}"/>
              </a:ext>
            </a:extLst>
          </p:cNvPr>
          <p:cNvSpPr txBox="1"/>
          <p:nvPr/>
        </p:nvSpPr>
        <p:spPr bwMode="gray">
          <a:xfrm>
            <a:off x="9956015" y="2696317"/>
            <a:ext cx="1269899" cy="307777"/>
          </a:xfrm>
          <a:prstGeom prst="rect">
            <a:avLst/>
          </a:prstGeom>
          <a:noFill/>
        </p:spPr>
        <p:txBody>
          <a:bodyPr wrap="none" rtlCol="0">
            <a:spAutoFit/>
          </a:bodyPr>
          <a:lstStyle/>
          <a:p>
            <a:r>
              <a:rPr lang="en-US" altLang="zh-CN" sz="1400" dirty="0"/>
              <a:t>SD-WAN</a:t>
            </a:r>
            <a:r>
              <a:rPr lang="zh-CN" altLang="en-US" sz="1400" dirty="0"/>
              <a:t>网络</a:t>
            </a:r>
          </a:p>
        </p:txBody>
      </p:sp>
      <p:sp>
        <p:nvSpPr>
          <p:cNvPr id="60" name="Freeform 159">
            <a:extLst>
              <a:ext uri="{FF2B5EF4-FFF2-40B4-BE49-F238E27FC236}">
                <a16:creationId xmlns:a16="http://schemas.microsoft.com/office/drawing/2014/main" id="{EC0977F8-DADE-4457-82FA-3567E08025D3}"/>
              </a:ext>
            </a:extLst>
          </p:cNvPr>
          <p:cNvSpPr/>
          <p:nvPr/>
        </p:nvSpPr>
        <p:spPr bwMode="gray">
          <a:xfrm flipH="1">
            <a:off x="1619746" y="4758892"/>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A</a:t>
            </a:r>
            <a:endParaRPr lang="en-US" sz="1600" dirty="0">
              <a:solidFill>
                <a:schemeClr val="tx1"/>
              </a:solidFill>
            </a:endParaRPr>
          </a:p>
        </p:txBody>
      </p:sp>
      <p:sp>
        <p:nvSpPr>
          <p:cNvPr id="65" name="Freeform 159">
            <a:extLst>
              <a:ext uri="{FF2B5EF4-FFF2-40B4-BE49-F238E27FC236}">
                <a16:creationId xmlns:a16="http://schemas.microsoft.com/office/drawing/2014/main" id="{FDEA5C39-9BC4-4F1D-AA6E-51D22A5E52C3}"/>
              </a:ext>
            </a:extLst>
          </p:cNvPr>
          <p:cNvSpPr/>
          <p:nvPr/>
        </p:nvSpPr>
        <p:spPr bwMode="gray">
          <a:xfrm flipH="1">
            <a:off x="3546246" y="4758892"/>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B</a:t>
            </a:r>
            <a:endParaRPr lang="en-US" sz="1600" dirty="0">
              <a:solidFill>
                <a:schemeClr val="tx1"/>
              </a:solidFill>
            </a:endParaRPr>
          </a:p>
        </p:txBody>
      </p:sp>
      <p:sp>
        <p:nvSpPr>
          <p:cNvPr id="66" name="Freeform 159">
            <a:extLst>
              <a:ext uri="{FF2B5EF4-FFF2-40B4-BE49-F238E27FC236}">
                <a16:creationId xmlns:a16="http://schemas.microsoft.com/office/drawing/2014/main" id="{07ABEA85-5D0A-4FF9-A0E8-BE0EB3489A08}"/>
              </a:ext>
            </a:extLst>
          </p:cNvPr>
          <p:cNvSpPr/>
          <p:nvPr/>
        </p:nvSpPr>
        <p:spPr bwMode="gray">
          <a:xfrm flipH="1">
            <a:off x="7450879" y="4786791"/>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A</a:t>
            </a:r>
            <a:endParaRPr lang="en-US" sz="1600" dirty="0">
              <a:solidFill>
                <a:schemeClr val="tx1"/>
              </a:solidFill>
            </a:endParaRPr>
          </a:p>
        </p:txBody>
      </p:sp>
      <p:sp>
        <p:nvSpPr>
          <p:cNvPr id="67" name="Freeform 159">
            <a:extLst>
              <a:ext uri="{FF2B5EF4-FFF2-40B4-BE49-F238E27FC236}">
                <a16:creationId xmlns:a16="http://schemas.microsoft.com/office/drawing/2014/main" id="{EA4B09AC-A733-4C23-A6C3-D0F4B6689398}"/>
              </a:ext>
            </a:extLst>
          </p:cNvPr>
          <p:cNvSpPr/>
          <p:nvPr/>
        </p:nvSpPr>
        <p:spPr bwMode="gray">
          <a:xfrm flipH="1">
            <a:off x="9439586" y="4786791"/>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B</a:t>
            </a:r>
            <a:endParaRPr lang="en-US" sz="1600" dirty="0">
              <a:solidFill>
                <a:schemeClr val="tx1"/>
              </a:solidFill>
            </a:endParaRPr>
          </a:p>
        </p:txBody>
      </p:sp>
      <p:pic>
        <p:nvPicPr>
          <p:cNvPr id="70" name="Picture 12" descr="E:\2016.01\1.12 扁平化图标\蓝色\AR-蓝色最新-40.png">
            <a:extLst>
              <a:ext uri="{FF2B5EF4-FFF2-40B4-BE49-F238E27FC236}">
                <a16:creationId xmlns:a16="http://schemas.microsoft.com/office/drawing/2014/main" id="{1AF6BDD8-16CA-4F63-8CA2-58815BFCF405}"/>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3929568" y="4527469"/>
            <a:ext cx="402674" cy="329461"/>
          </a:xfrm>
          <a:prstGeom prst="rect">
            <a:avLst/>
          </a:prstGeom>
          <a:noFill/>
        </p:spPr>
      </p:pic>
      <p:pic>
        <p:nvPicPr>
          <p:cNvPr id="71" name="Picture 12" descr="E:\2016.01\1.12 扁平化图标\蓝色\AR-蓝色最新-40.png">
            <a:extLst>
              <a:ext uri="{FF2B5EF4-FFF2-40B4-BE49-F238E27FC236}">
                <a16:creationId xmlns:a16="http://schemas.microsoft.com/office/drawing/2014/main" id="{C99A73E3-7D61-4598-A700-4A56244D5800}"/>
              </a:ext>
            </a:extLst>
          </p:cNvPr>
          <p:cNvPicPr>
            <a:picLocks noChangeAspect="1" noChangeArrowheads="1"/>
          </p:cNvPicPr>
          <p:nvPr/>
        </p:nvPicPr>
        <p:blipFill>
          <a:blip r:embed="rId3" cstate="print"/>
          <a:srcRect/>
          <a:stretch>
            <a:fillRect/>
          </a:stretch>
        </p:blipFill>
        <p:spPr bwMode="gray">
          <a:xfrm>
            <a:off x="7763386" y="4527470"/>
            <a:ext cx="402674" cy="329461"/>
          </a:xfrm>
          <a:prstGeom prst="rect">
            <a:avLst/>
          </a:prstGeom>
          <a:noFill/>
        </p:spPr>
      </p:pic>
      <p:pic>
        <p:nvPicPr>
          <p:cNvPr id="72" name="Picture 71" descr="E:\2016.01\1.12 扁平化图标\蓝色\AR-蓝色最新-40.png">
            <a:extLst>
              <a:ext uri="{FF2B5EF4-FFF2-40B4-BE49-F238E27FC236}">
                <a16:creationId xmlns:a16="http://schemas.microsoft.com/office/drawing/2014/main" id="{D31BAFFD-0CD9-42F9-901F-766D7AA1B629}"/>
              </a:ext>
            </a:extLst>
          </p:cNvPr>
          <p:cNvPicPr>
            <a:picLocks noChangeAspect="1" noChangeArrowheads="1"/>
          </p:cNvPicPr>
          <p:nvPr/>
        </p:nvPicPr>
        <p:blipFill>
          <a:blip r:embed="rId3" cstate="print"/>
          <a:srcRect/>
          <a:stretch>
            <a:fillRect/>
          </a:stretch>
        </p:blipFill>
        <p:spPr bwMode="gray">
          <a:xfrm>
            <a:off x="9716653" y="4527469"/>
            <a:ext cx="402674" cy="329461"/>
          </a:xfrm>
          <a:prstGeom prst="rect">
            <a:avLst/>
          </a:prstGeom>
          <a:noFill/>
        </p:spPr>
      </p:pic>
      <p:pic>
        <p:nvPicPr>
          <p:cNvPr id="73" name="Picture 12" descr="E:\2016.01\1.12 扁平化图标\蓝色\AR-蓝色最新-40.png">
            <a:extLst>
              <a:ext uri="{FF2B5EF4-FFF2-40B4-BE49-F238E27FC236}">
                <a16:creationId xmlns:a16="http://schemas.microsoft.com/office/drawing/2014/main" id="{546D0F43-14F4-4B8A-BF88-115388B4BBE5}"/>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1976301" y="4527470"/>
            <a:ext cx="402674" cy="329461"/>
          </a:xfrm>
          <a:prstGeom prst="rect">
            <a:avLst/>
          </a:prstGeom>
          <a:noFill/>
        </p:spPr>
      </p:pic>
      <p:sp>
        <p:nvSpPr>
          <p:cNvPr id="75" name="文本框 83">
            <a:extLst>
              <a:ext uri="{FF2B5EF4-FFF2-40B4-BE49-F238E27FC236}">
                <a16:creationId xmlns:a16="http://schemas.microsoft.com/office/drawing/2014/main" id="{AF2F06EB-D6F9-4D70-832A-979FBB1560A1}"/>
              </a:ext>
            </a:extLst>
          </p:cNvPr>
          <p:cNvSpPr txBox="1"/>
          <p:nvPr/>
        </p:nvSpPr>
        <p:spPr bwMode="gray">
          <a:xfrm>
            <a:off x="6633182" y="2722894"/>
            <a:ext cx="540922" cy="276999"/>
          </a:xfrm>
          <a:prstGeom prst="rect">
            <a:avLst/>
          </a:prstGeom>
          <a:noFill/>
        </p:spPr>
        <p:txBody>
          <a:bodyPr wrap="square" rtlCol="0">
            <a:spAutoFit/>
          </a:bodyPr>
          <a:lstStyle/>
          <a:p>
            <a:pPr algn="ctr"/>
            <a:r>
              <a:rPr lang="en-US" altLang="zh-CN" sz="1200" b="1" dirty="0">
                <a:solidFill>
                  <a:srgbClr val="C7000B"/>
                </a:solidFill>
              </a:rPr>
              <a:t>IWG</a:t>
            </a:r>
            <a:endParaRPr lang="zh-CN" altLang="en-US" sz="1200" b="1" dirty="0">
              <a:solidFill>
                <a:srgbClr val="C7000B"/>
              </a:solidFill>
            </a:endParaRPr>
          </a:p>
        </p:txBody>
      </p:sp>
      <p:sp>
        <p:nvSpPr>
          <p:cNvPr id="76" name="文本框 83">
            <a:extLst>
              <a:ext uri="{FF2B5EF4-FFF2-40B4-BE49-F238E27FC236}">
                <a16:creationId xmlns:a16="http://schemas.microsoft.com/office/drawing/2014/main" id="{FD263399-2F3E-4DAF-8EC6-D4F793D3BB49}"/>
              </a:ext>
            </a:extLst>
          </p:cNvPr>
          <p:cNvSpPr txBox="1"/>
          <p:nvPr/>
        </p:nvSpPr>
        <p:spPr bwMode="gray">
          <a:xfrm>
            <a:off x="4294078" y="4553699"/>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sp>
        <p:nvSpPr>
          <p:cNvPr id="77" name="文本框 83">
            <a:extLst>
              <a:ext uri="{FF2B5EF4-FFF2-40B4-BE49-F238E27FC236}">
                <a16:creationId xmlns:a16="http://schemas.microsoft.com/office/drawing/2014/main" id="{AD4F6FE8-9D2C-4802-85FB-F27C680A011F}"/>
              </a:ext>
            </a:extLst>
          </p:cNvPr>
          <p:cNvSpPr txBox="1"/>
          <p:nvPr/>
        </p:nvSpPr>
        <p:spPr bwMode="gray">
          <a:xfrm>
            <a:off x="6697273" y="4555344"/>
            <a:ext cx="1115783" cy="276999"/>
          </a:xfrm>
          <a:prstGeom prst="rect">
            <a:avLst/>
          </a:prstGeom>
          <a:noFill/>
        </p:spPr>
        <p:txBody>
          <a:bodyPr wrap="square" rtlCol="0">
            <a:spAutoFit/>
          </a:bodyPr>
          <a:lstStyle/>
          <a:p>
            <a:pPr algn="ctr"/>
            <a:r>
              <a:rPr lang="en-US" altLang="zh-CN" sz="1200"/>
              <a:t>SD-WAN CPE</a:t>
            </a:r>
            <a:endParaRPr lang="zh-CN" altLang="en-US" sz="1200" dirty="0"/>
          </a:p>
        </p:txBody>
      </p:sp>
      <p:sp>
        <p:nvSpPr>
          <p:cNvPr id="78" name="文本框 83">
            <a:extLst>
              <a:ext uri="{FF2B5EF4-FFF2-40B4-BE49-F238E27FC236}">
                <a16:creationId xmlns:a16="http://schemas.microsoft.com/office/drawing/2014/main" id="{CFA9F896-5294-4D54-BE8F-4F36A21063AE}"/>
              </a:ext>
            </a:extLst>
          </p:cNvPr>
          <p:cNvSpPr txBox="1"/>
          <p:nvPr/>
        </p:nvSpPr>
        <p:spPr bwMode="gray">
          <a:xfrm>
            <a:off x="2283376" y="4524181"/>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pic>
        <p:nvPicPr>
          <p:cNvPr id="79" name="Picture 12" descr="E:\2016.01\1.12 扁平化图标\蓝色\AR-蓝色最新-40.png">
            <a:extLst>
              <a:ext uri="{FF2B5EF4-FFF2-40B4-BE49-F238E27FC236}">
                <a16:creationId xmlns:a16="http://schemas.microsoft.com/office/drawing/2014/main" id="{931930A6-BA85-42D3-9036-80ECDD6E4462}"/>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2979406" y="3649854"/>
            <a:ext cx="402674" cy="329461"/>
          </a:xfrm>
          <a:prstGeom prst="rect">
            <a:avLst/>
          </a:prstGeom>
          <a:noFill/>
        </p:spPr>
      </p:pic>
      <p:sp>
        <p:nvSpPr>
          <p:cNvPr id="40" name="文本框 83">
            <a:extLst>
              <a:ext uri="{FF2B5EF4-FFF2-40B4-BE49-F238E27FC236}">
                <a16:creationId xmlns:a16="http://schemas.microsoft.com/office/drawing/2014/main" id="{85AFB634-977D-42CB-BD46-FF3CAF761B66}"/>
              </a:ext>
            </a:extLst>
          </p:cNvPr>
          <p:cNvSpPr txBox="1"/>
          <p:nvPr/>
        </p:nvSpPr>
        <p:spPr bwMode="gray">
          <a:xfrm>
            <a:off x="4767438" y="2743440"/>
            <a:ext cx="869861" cy="276999"/>
          </a:xfrm>
          <a:prstGeom prst="rect">
            <a:avLst/>
          </a:prstGeom>
          <a:noFill/>
        </p:spPr>
        <p:txBody>
          <a:bodyPr wrap="square" rtlCol="0">
            <a:spAutoFit/>
          </a:bodyPr>
          <a:lstStyle/>
          <a:p>
            <a:pPr algn="ctr"/>
            <a:r>
              <a:rPr lang="en-US" altLang="zh-CN" sz="1200" dirty="0"/>
              <a:t>ASBR-PE</a:t>
            </a:r>
            <a:endParaRPr lang="zh-CN" altLang="en-US" sz="1200" dirty="0"/>
          </a:p>
        </p:txBody>
      </p:sp>
      <p:sp>
        <p:nvSpPr>
          <p:cNvPr id="44" name="文本框 83">
            <a:extLst>
              <a:ext uri="{FF2B5EF4-FFF2-40B4-BE49-F238E27FC236}">
                <a16:creationId xmlns:a16="http://schemas.microsoft.com/office/drawing/2014/main" id="{0699FF6A-EF77-41D1-90D7-C98CEB33D0AF}"/>
              </a:ext>
            </a:extLst>
          </p:cNvPr>
          <p:cNvSpPr txBox="1"/>
          <p:nvPr/>
        </p:nvSpPr>
        <p:spPr bwMode="gray">
          <a:xfrm>
            <a:off x="2965925" y="3974748"/>
            <a:ext cx="402674" cy="276999"/>
          </a:xfrm>
          <a:prstGeom prst="rect">
            <a:avLst/>
          </a:prstGeom>
          <a:noFill/>
        </p:spPr>
        <p:txBody>
          <a:bodyPr wrap="square" rtlCol="0">
            <a:spAutoFit/>
          </a:bodyPr>
          <a:lstStyle/>
          <a:p>
            <a:pPr algn="ctr"/>
            <a:r>
              <a:rPr lang="en-US" altLang="zh-CN" sz="1200" dirty="0"/>
              <a:t>PE</a:t>
            </a:r>
            <a:endParaRPr lang="zh-CN" altLang="en-US" sz="1200" dirty="0"/>
          </a:p>
        </p:txBody>
      </p:sp>
      <p:sp>
        <p:nvSpPr>
          <p:cNvPr id="45" name="Freeform: Shape 44">
            <a:extLst>
              <a:ext uri="{FF2B5EF4-FFF2-40B4-BE49-F238E27FC236}">
                <a16:creationId xmlns:a16="http://schemas.microsoft.com/office/drawing/2014/main" id="{1F0B067A-412C-4D9F-9C80-F0655F9CBABE}"/>
              </a:ext>
            </a:extLst>
          </p:cNvPr>
          <p:cNvSpPr/>
          <p:nvPr/>
        </p:nvSpPr>
        <p:spPr bwMode="gray">
          <a:xfrm rot="20490686">
            <a:off x="3396578" y="3495398"/>
            <a:ext cx="1629673" cy="148414"/>
          </a:xfrm>
          <a:custGeom>
            <a:avLst/>
            <a:gdLst>
              <a:gd name="connsiteX0" fmla="*/ 0 w 1143000"/>
              <a:gd name="connsiteY0" fmla="*/ 0 h 171472"/>
              <a:gd name="connsiteX1" fmla="*/ 514350 w 1143000"/>
              <a:gd name="connsiteY1" fmla="*/ 171450 h 171472"/>
              <a:gd name="connsiteX2" fmla="*/ 1143000 w 1143000"/>
              <a:gd name="connsiteY2" fmla="*/ 9525 h 171472"/>
            </a:gdLst>
            <a:ahLst/>
            <a:cxnLst>
              <a:cxn ang="0">
                <a:pos x="connsiteX0" y="connsiteY0"/>
              </a:cxn>
              <a:cxn ang="0">
                <a:pos x="connsiteX1" y="connsiteY1"/>
              </a:cxn>
              <a:cxn ang="0">
                <a:pos x="connsiteX2" y="connsiteY2"/>
              </a:cxn>
            </a:cxnLst>
            <a:rect l="l" t="t" r="r" b="b"/>
            <a:pathLst>
              <a:path w="1143000" h="171472">
                <a:moveTo>
                  <a:pt x="0" y="0"/>
                </a:moveTo>
                <a:cubicBezTo>
                  <a:pt x="161925" y="84931"/>
                  <a:pt x="323850" y="169863"/>
                  <a:pt x="514350" y="171450"/>
                </a:cubicBezTo>
                <a:cubicBezTo>
                  <a:pt x="704850" y="173037"/>
                  <a:pt x="923925" y="91281"/>
                  <a:pt x="1143000" y="9525"/>
                </a:cubicBezTo>
              </a:path>
            </a:pathLst>
          </a:custGeom>
          <a:noFill/>
          <a:ln w="28575">
            <a:solidFill>
              <a:srgbClr val="E28189"/>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65898FCA-ABF5-412D-AAF2-18EC83BB9776}"/>
              </a:ext>
            </a:extLst>
          </p:cNvPr>
          <p:cNvSpPr txBox="1"/>
          <p:nvPr/>
        </p:nvSpPr>
        <p:spPr bwMode="gray">
          <a:xfrm rot="20279691">
            <a:off x="3976908" y="3558792"/>
            <a:ext cx="766557" cy="276999"/>
          </a:xfrm>
          <a:prstGeom prst="rect">
            <a:avLst/>
          </a:prstGeom>
          <a:noFill/>
        </p:spPr>
        <p:txBody>
          <a:bodyPr wrap="none" rtlCol="0">
            <a:spAutoFit/>
          </a:bodyPr>
          <a:lstStyle/>
          <a:p>
            <a:r>
              <a:rPr lang="en-US" altLang="zh-CN" sz="1200" dirty="0"/>
              <a:t>MP-BGP</a:t>
            </a:r>
            <a:endParaRPr lang="zh-CN" altLang="en-US" sz="1200" dirty="0"/>
          </a:p>
        </p:txBody>
      </p:sp>
      <p:sp>
        <p:nvSpPr>
          <p:cNvPr id="48" name="TextBox 47">
            <a:extLst>
              <a:ext uri="{FF2B5EF4-FFF2-40B4-BE49-F238E27FC236}">
                <a16:creationId xmlns:a16="http://schemas.microsoft.com/office/drawing/2014/main" id="{AF28CFC3-DE72-429D-80B7-21D17E253B28}"/>
              </a:ext>
            </a:extLst>
          </p:cNvPr>
          <p:cNvSpPr txBox="1"/>
          <p:nvPr/>
        </p:nvSpPr>
        <p:spPr bwMode="gray">
          <a:xfrm rot="19122783">
            <a:off x="2303140" y="3913266"/>
            <a:ext cx="545342" cy="276999"/>
          </a:xfrm>
          <a:prstGeom prst="rect">
            <a:avLst/>
          </a:prstGeom>
          <a:noFill/>
        </p:spPr>
        <p:txBody>
          <a:bodyPr wrap="none" rtlCol="0">
            <a:spAutoFit/>
          </a:bodyPr>
          <a:lstStyle/>
          <a:p>
            <a:r>
              <a:rPr lang="en-US" altLang="zh-CN" sz="1200" dirty="0"/>
              <a:t>VRF1</a:t>
            </a:r>
            <a:endParaRPr lang="zh-CN" altLang="en-US" sz="1200" dirty="0"/>
          </a:p>
        </p:txBody>
      </p:sp>
      <p:sp>
        <p:nvSpPr>
          <p:cNvPr id="49" name="TextBox 48">
            <a:extLst>
              <a:ext uri="{FF2B5EF4-FFF2-40B4-BE49-F238E27FC236}">
                <a16:creationId xmlns:a16="http://schemas.microsoft.com/office/drawing/2014/main" id="{97AAC4AE-F007-4FE8-B033-19F5CCFC1190}"/>
              </a:ext>
            </a:extLst>
          </p:cNvPr>
          <p:cNvSpPr txBox="1"/>
          <p:nvPr/>
        </p:nvSpPr>
        <p:spPr bwMode="gray">
          <a:xfrm rot="2589562">
            <a:off x="3555689" y="3954747"/>
            <a:ext cx="545342" cy="276999"/>
          </a:xfrm>
          <a:prstGeom prst="rect">
            <a:avLst/>
          </a:prstGeom>
          <a:noFill/>
        </p:spPr>
        <p:txBody>
          <a:bodyPr wrap="none" rtlCol="0">
            <a:spAutoFit/>
          </a:bodyPr>
          <a:lstStyle/>
          <a:p>
            <a:r>
              <a:rPr lang="en-US" altLang="zh-CN" sz="1200" dirty="0"/>
              <a:t>VRF2</a:t>
            </a:r>
            <a:endParaRPr lang="zh-CN" altLang="en-US" sz="1200" dirty="0"/>
          </a:p>
        </p:txBody>
      </p:sp>
      <p:sp>
        <p:nvSpPr>
          <p:cNvPr id="50" name="TextBox 49">
            <a:extLst>
              <a:ext uri="{FF2B5EF4-FFF2-40B4-BE49-F238E27FC236}">
                <a16:creationId xmlns:a16="http://schemas.microsoft.com/office/drawing/2014/main" id="{137042CB-4805-470B-9362-B3E54CF3C7DF}"/>
              </a:ext>
            </a:extLst>
          </p:cNvPr>
          <p:cNvSpPr txBox="1"/>
          <p:nvPr/>
        </p:nvSpPr>
        <p:spPr bwMode="gray">
          <a:xfrm>
            <a:off x="7101447" y="2713058"/>
            <a:ext cx="545342" cy="461665"/>
          </a:xfrm>
          <a:prstGeom prst="rect">
            <a:avLst/>
          </a:prstGeom>
          <a:noFill/>
        </p:spPr>
        <p:txBody>
          <a:bodyPr wrap="none" rtlCol="0">
            <a:spAutoFit/>
          </a:bodyPr>
          <a:lstStyle/>
          <a:p>
            <a:r>
              <a:rPr lang="en-US" altLang="zh-CN" sz="1200" dirty="0"/>
              <a:t>VRF1</a:t>
            </a:r>
          </a:p>
          <a:p>
            <a:r>
              <a:rPr lang="en-US" altLang="zh-CN" sz="1200" dirty="0"/>
              <a:t>VRF2</a:t>
            </a:r>
            <a:endParaRPr lang="zh-CN" altLang="en-US" sz="1200" dirty="0"/>
          </a:p>
        </p:txBody>
      </p:sp>
      <p:sp>
        <p:nvSpPr>
          <p:cNvPr id="51" name="Can 225">
            <a:extLst>
              <a:ext uri="{FF2B5EF4-FFF2-40B4-BE49-F238E27FC236}">
                <a16:creationId xmlns:a16="http://schemas.microsoft.com/office/drawing/2014/main" id="{6E89074E-13FC-40A8-B544-50DC47569EE2}"/>
              </a:ext>
            </a:extLst>
          </p:cNvPr>
          <p:cNvSpPr/>
          <p:nvPr/>
        </p:nvSpPr>
        <p:spPr bwMode="gray">
          <a:xfrm rot="5400000">
            <a:off x="5931110" y="2543924"/>
            <a:ext cx="266666" cy="1200035"/>
          </a:xfrm>
          <a:prstGeom prst="can">
            <a:avLst>
              <a:gd name="adj" fmla="val 48679"/>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8" name="Straight Arrow Connector 7">
            <a:extLst>
              <a:ext uri="{FF2B5EF4-FFF2-40B4-BE49-F238E27FC236}">
                <a16:creationId xmlns:a16="http://schemas.microsoft.com/office/drawing/2014/main" id="{7DE82DAA-05ED-4484-8D5A-F7B90EA66223}"/>
              </a:ext>
            </a:extLst>
          </p:cNvPr>
          <p:cNvCxnSpPr>
            <a:cxnSpLocks/>
          </p:cNvCxnSpPr>
          <p:nvPr/>
        </p:nvCxnSpPr>
        <p:spPr bwMode="gray">
          <a:xfrm>
            <a:off x="5435308" y="3073799"/>
            <a:ext cx="1252439" cy="0"/>
          </a:xfrm>
          <a:prstGeom prst="straightConnector1">
            <a:avLst/>
          </a:prstGeom>
          <a:ln w="19050">
            <a:solidFill>
              <a:srgbClr val="E28189"/>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0510267-C15E-4899-9427-13A8577FC7A2}"/>
              </a:ext>
            </a:extLst>
          </p:cNvPr>
          <p:cNvCxnSpPr>
            <a:cxnSpLocks/>
          </p:cNvCxnSpPr>
          <p:nvPr/>
        </p:nvCxnSpPr>
        <p:spPr bwMode="gray">
          <a:xfrm>
            <a:off x="5435308" y="3226199"/>
            <a:ext cx="1252439" cy="0"/>
          </a:xfrm>
          <a:prstGeom prst="straightConnector1">
            <a:avLst/>
          </a:prstGeom>
          <a:ln w="19050">
            <a:solidFill>
              <a:srgbClr val="E28189"/>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Rectangular Callout 26">
            <a:extLst>
              <a:ext uri="{FF2B5EF4-FFF2-40B4-BE49-F238E27FC236}">
                <a16:creationId xmlns:a16="http://schemas.microsoft.com/office/drawing/2014/main" id="{EA90A56C-DD0B-497E-9796-E5B3910A7947}"/>
              </a:ext>
            </a:extLst>
          </p:cNvPr>
          <p:cNvSpPr/>
          <p:nvPr/>
        </p:nvSpPr>
        <p:spPr bwMode="gray">
          <a:xfrm>
            <a:off x="6318500" y="3448744"/>
            <a:ext cx="1115783" cy="277000"/>
          </a:xfrm>
          <a:prstGeom prst="wedgeRectCallout">
            <a:avLst>
              <a:gd name="adj1" fmla="val -34552"/>
              <a:gd name="adj2" fmla="val -12452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建立</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邻居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4" name="Rectangular Callout 26">
            <a:extLst>
              <a:ext uri="{FF2B5EF4-FFF2-40B4-BE49-F238E27FC236}">
                <a16:creationId xmlns:a16="http://schemas.microsoft.com/office/drawing/2014/main" id="{3D4E5E44-E0BA-4EC9-A441-E67A7376802F}"/>
              </a:ext>
            </a:extLst>
          </p:cNvPr>
          <p:cNvSpPr/>
          <p:nvPr/>
        </p:nvSpPr>
        <p:spPr bwMode="gray">
          <a:xfrm>
            <a:off x="4929459" y="3472103"/>
            <a:ext cx="1115783" cy="277000"/>
          </a:xfrm>
          <a:prstGeom prst="wedgeRectCallout">
            <a:avLst>
              <a:gd name="adj1" fmla="val 23070"/>
              <a:gd name="adj2" fmla="val -10905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VXLAN</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7"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58"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174462506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574A18-A757-4310-ACD5-79C9C9B8C0C6}"/>
              </a:ext>
            </a:extLst>
          </p:cNvPr>
          <p:cNvSpPr>
            <a:spLocks noGrp="1"/>
          </p:cNvSpPr>
          <p:nvPr>
            <p:ph type="body" sz="quarter" idx="10"/>
          </p:nvPr>
        </p:nvSpPr>
        <p:spPr bwMode="gray"/>
        <p:txBody>
          <a:bodyPr/>
          <a:lstStyle/>
          <a:p>
            <a:r>
              <a:rPr lang="zh-CN" altLang="en-US" sz="1800"/>
              <a:t>在</a:t>
            </a:r>
            <a:r>
              <a:rPr lang="en-US" altLang="zh-CN" sz="1800"/>
              <a:t>SD-WAN</a:t>
            </a:r>
            <a:r>
              <a:rPr lang="zh-CN" altLang="en-US" sz="1800"/>
              <a:t>的</a:t>
            </a:r>
            <a:r>
              <a:rPr lang="en-US" altLang="zh-CN" sz="1800" dirty="0"/>
              <a:t>IWG</a:t>
            </a:r>
            <a:r>
              <a:rPr lang="zh-CN" altLang="en-US" sz="1800" dirty="0"/>
              <a:t>和传统</a:t>
            </a:r>
            <a:r>
              <a:rPr lang="en-US" altLang="zh-CN" sz="1800" dirty="0"/>
              <a:t>MPLS</a:t>
            </a:r>
            <a:r>
              <a:rPr lang="zh-CN" altLang="en-US" sz="1800" dirty="0"/>
              <a:t>的</a:t>
            </a:r>
            <a:r>
              <a:rPr lang="en-US" altLang="zh-CN" sz="1800" dirty="0"/>
              <a:t>PE</a:t>
            </a:r>
            <a:r>
              <a:rPr lang="zh-CN" altLang="en-US" sz="1800" dirty="0"/>
              <a:t>之间，为每个用户</a:t>
            </a:r>
            <a:r>
              <a:rPr lang="en-US" altLang="zh-CN" sz="1800" dirty="0"/>
              <a:t>VPN</a:t>
            </a:r>
            <a:r>
              <a:rPr lang="zh-CN" altLang="en-US" sz="1800" dirty="0"/>
              <a:t>配置一对特定的接口（可以是</a:t>
            </a:r>
            <a:r>
              <a:rPr lang="en-US" altLang="zh-CN" sz="1800" dirty="0"/>
              <a:t>VLANIF</a:t>
            </a:r>
            <a:r>
              <a:rPr lang="zh-CN" altLang="en-US" sz="1800" dirty="0"/>
              <a:t>或以太子接口）并加入相应</a:t>
            </a:r>
            <a:r>
              <a:rPr lang="zh-CN" altLang="en-US" sz="1800"/>
              <a:t>的</a:t>
            </a:r>
            <a:r>
              <a:rPr lang="en-US" altLang="zh-CN" sz="1800"/>
              <a:t>VRF</a:t>
            </a:r>
            <a:r>
              <a:rPr lang="zh-CN" altLang="en-US" sz="1800"/>
              <a:t>。同时</a:t>
            </a:r>
            <a:r>
              <a:rPr lang="zh-CN" altLang="en-US" sz="1800" dirty="0"/>
              <a:t>配置基于</a:t>
            </a:r>
            <a:r>
              <a:rPr lang="en-US" altLang="zh-CN" sz="1800" dirty="0"/>
              <a:t>VPN</a:t>
            </a:r>
            <a:r>
              <a:rPr lang="zh-CN" altLang="en-US" sz="1800" dirty="0"/>
              <a:t>实例的</a:t>
            </a:r>
            <a:r>
              <a:rPr lang="en-US" altLang="zh-CN" sz="1800"/>
              <a:t>EBGP</a:t>
            </a:r>
            <a:r>
              <a:rPr lang="zh-CN" altLang="en-US" sz="1800" dirty="0"/>
              <a:t>协议，交换两边</a:t>
            </a:r>
            <a:r>
              <a:rPr lang="en-US" altLang="zh-CN" sz="1800" dirty="0"/>
              <a:t>SD-WAN</a:t>
            </a:r>
            <a:r>
              <a:rPr lang="zh-CN" altLang="en-US" sz="1800" dirty="0"/>
              <a:t>域和</a:t>
            </a:r>
            <a:r>
              <a:rPr lang="en-US" altLang="zh-CN" sz="1800" dirty="0"/>
              <a:t>MPLS</a:t>
            </a:r>
            <a:r>
              <a:rPr lang="zh-CN" altLang="en-US" sz="1800" dirty="0"/>
              <a:t>域的路由。</a:t>
            </a:r>
            <a:endParaRPr lang="en-US" sz="1800" dirty="0"/>
          </a:p>
        </p:txBody>
      </p:sp>
      <p:sp>
        <p:nvSpPr>
          <p:cNvPr id="5" name="圆角矩形 54">
            <a:extLst>
              <a:ext uri="{FF2B5EF4-FFF2-40B4-BE49-F238E27FC236}">
                <a16:creationId xmlns:a16="http://schemas.microsoft.com/office/drawing/2014/main" id="{C34924F5-6095-4848-95B3-DFC9EAED4995}"/>
              </a:ext>
            </a:extLst>
          </p:cNvPr>
          <p:cNvSpPr/>
          <p:nvPr/>
        </p:nvSpPr>
        <p:spPr bwMode="gray">
          <a:xfrm>
            <a:off x="690165" y="2411779"/>
            <a:ext cx="10863660" cy="3511684"/>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a:p>
            <a:pPr marL="285750" indent="-200025">
              <a:lnSpc>
                <a:spcPts val="2600"/>
              </a:lnSpc>
              <a:spcAft>
                <a:spcPts val="600"/>
              </a:spcAft>
              <a:buFont typeface="Arial" panose="020B0604020202020204" pitchFamily="34" charset="0"/>
              <a:buChar char="•"/>
            </a:pPr>
            <a:endParaRPr lang="en-US" altLang="zh-CN" sz="1400" dirty="0">
              <a:solidFill>
                <a:schemeClr val="tx1"/>
              </a:solidFill>
            </a:endParaRPr>
          </a:p>
        </p:txBody>
      </p:sp>
      <p:sp>
        <p:nvSpPr>
          <p:cNvPr id="2" name="Title 1">
            <a:extLst>
              <a:ext uri="{FF2B5EF4-FFF2-40B4-BE49-F238E27FC236}">
                <a16:creationId xmlns:a16="http://schemas.microsoft.com/office/drawing/2014/main" id="{5B756E6E-52F5-4E52-A7E0-BCD77B3181E9}"/>
              </a:ext>
            </a:extLst>
          </p:cNvPr>
          <p:cNvSpPr>
            <a:spLocks noGrp="1"/>
          </p:cNvSpPr>
          <p:nvPr>
            <p:ph type="title"/>
          </p:nvPr>
        </p:nvSpPr>
        <p:spPr bwMode="gray"/>
        <p:txBody>
          <a:bodyPr>
            <a:normAutofit/>
          </a:bodyPr>
          <a:lstStyle/>
          <a:p>
            <a:r>
              <a:rPr lang="zh-CN" altLang="en-US" dirty="0"/>
              <a:t>通过</a:t>
            </a:r>
            <a:r>
              <a:rPr lang="en-US" altLang="zh-CN" dirty="0"/>
              <a:t>IWG</a:t>
            </a:r>
            <a:r>
              <a:rPr lang="zh-CN" altLang="en-US" dirty="0"/>
              <a:t>互访：基于</a:t>
            </a:r>
            <a:r>
              <a:rPr lang="en-US" altLang="zh-CN" dirty="0"/>
              <a:t>L3 VLAN</a:t>
            </a:r>
            <a:r>
              <a:rPr lang="zh-CN" altLang="en-US" dirty="0"/>
              <a:t>的</a:t>
            </a:r>
            <a:r>
              <a:rPr lang="en-US" altLang="zh-CN" dirty="0"/>
              <a:t>Option A</a:t>
            </a:r>
            <a:r>
              <a:rPr lang="zh-CN" altLang="en-US" dirty="0"/>
              <a:t>跨域互访</a:t>
            </a:r>
            <a:endParaRPr lang="en-US" dirty="0"/>
          </a:p>
        </p:txBody>
      </p:sp>
      <p:sp>
        <p:nvSpPr>
          <p:cNvPr id="4" name="圆角矩形 53">
            <a:extLst>
              <a:ext uri="{FF2B5EF4-FFF2-40B4-BE49-F238E27FC236}">
                <a16:creationId xmlns:a16="http://schemas.microsoft.com/office/drawing/2014/main" id="{8488A8C9-F27C-4312-BA05-372395C8CC8C}"/>
              </a:ext>
            </a:extLst>
          </p:cNvPr>
          <p:cNvSpPr/>
          <p:nvPr/>
        </p:nvSpPr>
        <p:spPr bwMode="gray">
          <a:xfrm>
            <a:off x="690165" y="1994982"/>
            <a:ext cx="10863660" cy="360023"/>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rPr>
              <a:t>基于</a:t>
            </a:r>
            <a:r>
              <a:rPr lang="en-US" altLang="zh-CN" sz="1600">
                <a:solidFill>
                  <a:srgbClr val="30B5C5"/>
                </a:solidFill>
                <a:latin typeface="Huawei Sans" panose="020C0503030203020204" pitchFamily="34" charset="0"/>
                <a:ea typeface="方正兰亭黑简体" panose="02000000000000000000" pitchFamily="2" charset="-122"/>
              </a:rPr>
              <a:t>L3 VLAN</a:t>
            </a:r>
            <a:r>
              <a:rPr lang="zh-CN" altLang="en-US" sz="1600">
                <a:solidFill>
                  <a:srgbClr val="30B5C5"/>
                </a:solidFill>
                <a:latin typeface="Huawei Sans" panose="020C0503030203020204" pitchFamily="34" charset="0"/>
                <a:ea typeface="方正兰亭黑简体" panose="02000000000000000000" pitchFamily="2" charset="-122"/>
              </a:rPr>
              <a:t>的</a:t>
            </a:r>
            <a:r>
              <a:rPr lang="en-US" altLang="zh-CN" sz="1600">
                <a:solidFill>
                  <a:srgbClr val="30B5C5"/>
                </a:solidFill>
                <a:latin typeface="Huawei Sans" panose="020C0503030203020204" pitchFamily="34" charset="0"/>
                <a:ea typeface="方正兰亭黑简体" panose="02000000000000000000" pitchFamily="2" charset="-122"/>
              </a:rPr>
              <a:t>Option A</a:t>
            </a:r>
            <a:r>
              <a:rPr lang="zh-CN" altLang="en-US" sz="1600" dirty="0">
                <a:solidFill>
                  <a:srgbClr val="30B5C5"/>
                </a:solidFill>
                <a:latin typeface="Huawei Sans" panose="020C0503030203020204" pitchFamily="34" charset="0"/>
                <a:ea typeface="方正兰亭黑简体" panose="02000000000000000000" pitchFamily="2" charset="-122"/>
              </a:rPr>
              <a:t>跨域互访方案设计</a:t>
            </a:r>
          </a:p>
        </p:txBody>
      </p:sp>
      <p:sp>
        <p:nvSpPr>
          <p:cNvPr id="28" name="Rectangle: Rounded Corners 27">
            <a:extLst>
              <a:ext uri="{FF2B5EF4-FFF2-40B4-BE49-F238E27FC236}">
                <a16:creationId xmlns:a16="http://schemas.microsoft.com/office/drawing/2014/main" id="{E2B1407D-EFFC-4342-9EFF-62AC614267FD}"/>
              </a:ext>
            </a:extLst>
          </p:cNvPr>
          <p:cNvSpPr/>
          <p:nvPr/>
        </p:nvSpPr>
        <p:spPr bwMode="gray">
          <a:xfrm>
            <a:off x="966088" y="2662858"/>
            <a:ext cx="4934198" cy="2898653"/>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Rectangle: Rounded Corners 28">
            <a:extLst>
              <a:ext uri="{FF2B5EF4-FFF2-40B4-BE49-F238E27FC236}">
                <a16:creationId xmlns:a16="http://schemas.microsoft.com/office/drawing/2014/main" id="{AEE920B0-F606-45E0-9A65-FB282F914522}"/>
              </a:ext>
            </a:extLst>
          </p:cNvPr>
          <p:cNvSpPr/>
          <p:nvPr/>
        </p:nvSpPr>
        <p:spPr bwMode="gray">
          <a:xfrm>
            <a:off x="6291716" y="2662857"/>
            <a:ext cx="4934198" cy="2898653"/>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Picture 12" descr="E:\2016.01\1.12 扁平化图标\蓝色\AR-蓝色最新-40.png">
            <a:extLst>
              <a:ext uri="{FF2B5EF4-FFF2-40B4-BE49-F238E27FC236}">
                <a16:creationId xmlns:a16="http://schemas.microsoft.com/office/drawing/2014/main" id="{2D5E02AF-F692-4185-9393-AAD6BCE6B142}"/>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5001032" y="3024630"/>
            <a:ext cx="402674" cy="329461"/>
          </a:xfrm>
          <a:prstGeom prst="rect">
            <a:avLst/>
          </a:prstGeom>
          <a:noFill/>
        </p:spPr>
      </p:pic>
      <p:pic>
        <p:nvPicPr>
          <p:cNvPr id="31" name="Picture 12" descr="E:\2016.01\1.12 扁平化图标\蓝色\AR-蓝色最新-40.png">
            <a:extLst>
              <a:ext uri="{FF2B5EF4-FFF2-40B4-BE49-F238E27FC236}">
                <a16:creationId xmlns:a16="http://schemas.microsoft.com/office/drawing/2014/main" id="{BFF94ED8-6CAB-4259-AC74-92C1CC170A4D}"/>
              </a:ext>
            </a:extLst>
          </p:cNvPr>
          <p:cNvPicPr>
            <a:picLocks noChangeAspect="1" noChangeArrowheads="1"/>
          </p:cNvPicPr>
          <p:nvPr/>
        </p:nvPicPr>
        <p:blipFill>
          <a:blip r:embed="rId3" cstate="print"/>
          <a:srcRect/>
          <a:stretch>
            <a:fillRect/>
          </a:stretch>
        </p:blipFill>
        <p:spPr bwMode="gray">
          <a:xfrm>
            <a:off x="6702306" y="3024630"/>
            <a:ext cx="402674" cy="329461"/>
          </a:xfrm>
          <a:prstGeom prst="rect">
            <a:avLst/>
          </a:prstGeom>
          <a:noFill/>
        </p:spPr>
      </p:pic>
      <p:sp>
        <p:nvSpPr>
          <p:cNvPr id="32" name="Freeform 159">
            <a:extLst>
              <a:ext uri="{FF2B5EF4-FFF2-40B4-BE49-F238E27FC236}">
                <a16:creationId xmlns:a16="http://schemas.microsoft.com/office/drawing/2014/main" id="{751C3A0B-467F-4F2D-964E-98BD975E3985}"/>
              </a:ext>
            </a:extLst>
          </p:cNvPr>
          <p:cNvSpPr/>
          <p:nvPr/>
        </p:nvSpPr>
        <p:spPr bwMode="gray">
          <a:xfrm flipH="1">
            <a:off x="2652603" y="323850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1</a:t>
            </a:r>
            <a:endParaRPr lang="en-US" dirty="0">
              <a:solidFill>
                <a:schemeClr val="tx1"/>
              </a:solidFill>
            </a:endParaRPr>
          </a:p>
        </p:txBody>
      </p:sp>
      <p:sp>
        <p:nvSpPr>
          <p:cNvPr id="33" name="Freeform 159">
            <a:extLst>
              <a:ext uri="{FF2B5EF4-FFF2-40B4-BE49-F238E27FC236}">
                <a16:creationId xmlns:a16="http://schemas.microsoft.com/office/drawing/2014/main" id="{233B16C2-159A-4EAF-A0D3-6B2AEC40FE36}"/>
              </a:ext>
            </a:extLst>
          </p:cNvPr>
          <p:cNvSpPr/>
          <p:nvPr/>
        </p:nvSpPr>
        <p:spPr bwMode="gray">
          <a:xfrm flipH="1">
            <a:off x="8423614" y="3238506"/>
            <a:ext cx="1115783" cy="6037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solidFill>
                  <a:schemeClr val="tx1"/>
                </a:solidFill>
              </a:rPr>
              <a:t>MPLS 2</a:t>
            </a:r>
            <a:endParaRPr lang="en-US" dirty="0">
              <a:solidFill>
                <a:schemeClr val="tx1"/>
              </a:solidFill>
            </a:endParaRPr>
          </a:p>
        </p:txBody>
      </p:sp>
      <p:cxnSp>
        <p:nvCxnSpPr>
          <p:cNvPr id="34" name="直接连接符 121">
            <a:extLst>
              <a:ext uri="{FF2B5EF4-FFF2-40B4-BE49-F238E27FC236}">
                <a16:creationId xmlns:a16="http://schemas.microsoft.com/office/drawing/2014/main" id="{C61EC2DE-6E15-4D24-9268-DE9B75DACE83}"/>
              </a:ext>
            </a:extLst>
          </p:cNvPr>
          <p:cNvCxnSpPr>
            <a:cxnSpLocks/>
            <a:stCxn id="32" idx="7"/>
            <a:endCxn id="30" idx="1"/>
          </p:cNvCxnSpPr>
          <p:nvPr/>
        </p:nvCxnSpPr>
        <p:spPr bwMode="gray">
          <a:xfrm flipV="1">
            <a:off x="3656416" y="3189361"/>
            <a:ext cx="1344616" cy="28502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121">
            <a:extLst>
              <a:ext uri="{FF2B5EF4-FFF2-40B4-BE49-F238E27FC236}">
                <a16:creationId xmlns:a16="http://schemas.microsoft.com/office/drawing/2014/main" id="{E845436F-5810-4025-98C3-0880FFF68954}"/>
              </a:ext>
            </a:extLst>
          </p:cNvPr>
          <p:cNvCxnSpPr>
            <a:cxnSpLocks/>
            <a:stCxn id="73" idx="0"/>
            <a:endCxn id="79" idx="1"/>
          </p:cNvCxnSpPr>
          <p:nvPr/>
        </p:nvCxnSpPr>
        <p:spPr bwMode="gray">
          <a:xfrm flipV="1">
            <a:off x="2177638" y="3858125"/>
            <a:ext cx="801768" cy="71288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121">
            <a:extLst>
              <a:ext uri="{FF2B5EF4-FFF2-40B4-BE49-F238E27FC236}">
                <a16:creationId xmlns:a16="http://schemas.microsoft.com/office/drawing/2014/main" id="{36E507FF-022A-4A82-9949-F572E5CC6BF8}"/>
              </a:ext>
            </a:extLst>
          </p:cNvPr>
          <p:cNvCxnSpPr>
            <a:cxnSpLocks/>
            <a:stCxn id="70" idx="0"/>
            <a:endCxn id="79" idx="3"/>
          </p:cNvCxnSpPr>
          <p:nvPr/>
        </p:nvCxnSpPr>
        <p:spPr bwMode="gray">
          <a:xfrm flipH="1" flipV="1">
            <a:off x="3382080" y="3858125"/>
            <a:ext cx="748825" cy="71288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121">
            <a:extLst>
              <a:ext uri="{FF2B5EF4-FFF2-40B4-BE49-F238E27FC236}">
                <a16:creationId xmlns:a16="http://schemas.microsoft.com/office/drawing/2014/main" id="{83D59EC2-E13D-4547-B7AD-F80900981AF9}"/>
              </a:ext>
            </a:extLst>
          </p:cNvPr>
          <p:cNvCxnSpPr>
            <a:cxnSpLocks/>
            <a:stCxn id="33" idx="24"/>
            <a:endCxn id="31" idx="3"/>
          </p:cNvCxnSpPr>
          <p:nvPr/>
        </p:nvCxnSpPr>
        <p:spPr bwMode="gray">
          <a:xfrm flipH="1" flipV="1">
            <a:off x="7104980" y="3189361"/>
            <a:ext cx="1485524" cy="2794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121">
            <a:extLst>
              <a:ext uri="{FF2B5EF4-FFF2-40B4-BE49-F238E27FC236}">
                <a16:creationId xmlns:a16="http://schemas.microsoft.com/office/drawing/2014/main" id="{473BA0A5-88DC-49C5-91F3-BAD9B9EA4E0F}"/>
              </a:ext>
            </a:extLst>
          </p:cNvPr>
          <p:cNvCxnSpPr>
            <a:cxnSpLocks/>
            <a:stCxn id="33" idx="15"/>
            <a:endCxn id="71" idx="0"/>
          </p:cNvCxnSpPr>
          <p:nvPr/>
        </p:nvCxnSpPr>
        <p:spPr bwMode="gray">
          <a:xfrm flipH="1">
            <a:off x="7964723" y="3842222"/>
            <a:ext cx="631702" cy="72878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121">
            <a:extLst>
              <a:ext uri="{FF2B5EF4-FFF2-40B4-BE49-F238E27FC236}">
                <a16:creationId xmlns:a16="http://schemas.microsoft.com/office/drawing/2014/main" id="{DDB8AF8D-757B-4FB7-9976-A5521A1E9A7E}"/>
              </a:ext>
            </a:extLst>
          </p:cNvPr>
          <p:cNvCxnSpPr>
            <a:cxnSpLocks/>
            <a:stCxn id="33" idx="9"/>
            <a:endCxn id="72" idx="0"/>
          </p:cNvCxnSpPr>
          <p:nvPr/>
        </p:nvCxnSpPr>
        <p:spPr bwMode="gray">
          <a:xfrm>
            <a:off x="9374811" y="3841234"/>
            <a:ext cx="543179" cy="72977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121">
            <a:extLst>
              <a:ext uri="{FF2B5EF4-FFF2-40B4-BE49-F238E27FC236}">
                <a16:creationId xmlns:a16="http://schemas.microsoft.com/office/drawing/2014/main" id="{12BA2241-BBCC-4124-B54C-64EFBF387077}"/>
              </a:ext>
            </a:extLst>
          </p:cNvPr>
          <p:cNvCxnSpPr>
            <a:cxnSpLocks/>
          </p:cNvCxnSpPr>
          <p:nvPr/>
        </p:nvCxnSpPr>
        <p:spPr bwMode="gray">
          <a:xfrm>
            <a:off x="5403706" y="3122686"/>
            <a:ext cx="12986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923B572-53E2-4D49-BD5D-4EF4C6AD31D1}"/>
              </a:ext>
            </a:extLst>
          </p:cNvPr>
          <p:cNvSpPr txBox="1"/>
          <p:nvPr/>
        </p:nvSpPr>
        <p:spPr bwMode="gray">
          <a:xfrm>
            <a:off x="966088" y="2739856"/>
            <a:ext cx="902811" cy="307777"/>
          </a:xfrm>
          <a:prstGeom prst="rect">
            <a:avLst/>
          </a:prstGeom>
          <a:noFill/>
        </p:spPr>
        <p:txBody>
          <a:bodyPr wrap="none" rtlCol="0">
            <a:spAutoFit/>
          </a:bodyPr>
          <a:lstStyle/>
          <a:p>
            <a:r>
              <a:rPr lang="zh-CN" altLang="en-US" sz="1400" dirty="0"/>
              <a:t>传统网络</a:t>
            </a:r>
          </a:p>
        </p:txBody>
      </p:sp>
      <p:sp>
        <p:nvSpPr>
          <p:cNvPr id="43" name="TextBox 42">
            <a:extLst>
              <a:ext uri="{FF2B5EF4-FFF2-40B4-BE49-F238E27FC236}">
                <a16:creationId xmlns:a16="http://schemas.microsoft.com/office/drawing/2014/main" id="{354A6FA2-CA8F-49E7-AA4D-0D998AF78710}"/>
              </a:ext>
            </a:extLst>
          </p:cNvPr>
          <p:cNvSpPr txBox="1"/>
          <p:nvPr/>
        </p:nvSpPr>
        <p:spPr bwMode="gray">
          <a:xfrm>
            <a:off x="9956015" y="2739857"/>
            <a:ext cx="1269899" cy="307777"/>
          </a:xfrm>
          <a:prstGeom prst="rect">
            <a:avLst/>
          </a:prstGeom>
          <a:noFill/>
        </p:spPr>
        <p:txBody>
          <a:bodyPr wrap="none" rtlCol="0">
            <a:spAutoFit/>
          </a:bodyPr>
          <a:lstStyle/>
          <a:p>
            <a:r>
              <a:rPr lang="en-US" altLang="zh-CN" sz="1400" dirty="0"/>
              <a:t>SD-WAN</a:t>
            </a:r>
            <a:r>
              <a:rPr lang="zh-CN" altLang="en-US" sz="1400" dirty="0"/>
              <a:t>网络</a:t>
            </a:r>
          </a:p>
        </p:txBody>
      </p:sp>
      <p:sp>
        <p:nvSpPr>
          <p:cNvPr id="60" name="Freeform 159">
            <a:extLst>
              <a:ext uri="{FF2B5EF4-FFF2-40B4-BE49-F238E27FC236}">
                <a16:creationId xmlns:a16="http://schemas.microsoft.com/office/drawing/2014/main" id="{EC0977F8-DADE-4457-82FA-3567E08025D3}"/>
              </a:ext>
            </a:extLst>
          </p:cNvPr>
          <p:cNvSpPr/>
          <p:nvPr/>
        </p:nvSpPr>
        <p:spPr bwMode="gray">
          <a:xfrm flipH="1">
            <a:off x="1619746" y="4802432"/>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A</a:t>
            </a:r>
            <a:endParaRPr lang="en-US" sz="1600" dirty="0">
              <a:solidFill>
                <a:schemeClr val="tx1"/>
              </a:solidFill>
            </a:endParaRPr>
          </a:p>
        </p:txBody>
      </p:sp>
      <p:sp>
        <p:nvSpPr>
          <p:cNvPr id="65" name="Freeform 159">
            <a:extLst>
              <a:ext uri="{FF2B5EF4-FFF2-40B4-BE49-F238E27FC236}">
                <a16:creationId xmlns:a16="http://schemas.microsoft.com/office/drawing/2014/main" id="{FDEA5C39-9BC4-4F1D-AA6E-51D22A5E52C3}"/>
              </a:ext>
            </a:extLst>
          </p:cNvPr>
          <p:cNvSpPr/>
          <p:nvPr/>
        </p:nvSpPr>
        <p:spPr bwMode="gray">
          <a:xfrm flipH="1">
            <a:off x="3546246" y="4802432"/>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B</a:t>
            </a:r>
            <a:endParaRPr lang="en-US" sz="1600" dirty="0">
              <a:solidFill>
                <a:schemeClr val="tx1"/>
              </a:solidFill>
            </a:endParaRPr>
          </a:p>
        </p:txBody>
      </p:sp>
      <p:sp>
        <p:nvSpPr>
          <p:cNvPr id="66" name="Freeform 159">
            <a:extLst>
              <a:ext uri="{FF2B5EF4-FFF2-40B4-BE49-F238E27FC236}">
                <a16:creationId xmlns:a16="http://schemas.microsoft.com/office/drawing/2014/main" id="{07ABEA85-5D0A-4FF9-A0E8-BE0EB3489A08}"/>
              </a:ext>
            </a:extLst>
          </p:cNvPr>
          <p:cNvSpPr/>
          <p:nvPr/>
        </p:nvSpPr>
        <p:spPr bwMode="gray">
          <a:xfrm flipH="1">
            <a:off x="7450879" y="4830331"/>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A</a:t>
            </a:r>
            <a:endParaRPr lang="en-US" sz="1600" dirty="0">
              <a:solidFill>
                <a:schemeClr val="tx1"/>
              </a:solidFill>
            </a:endParaRPr>
          </a:p>
        </p:txBody>
      </p:sp>
      <p:sp>
        <p:nvSpPr>
          <p:cNvPr id="67" name="Freeform 159">
            <a:extLst>
              <a:ext uri="{FF2B5EF4-FFF2-40B4-BE49-F238E27FC236}">
                <a16:creationId xmlns:a16="http://schemas.microsoft.com/office/drawing/2014/main" id="{EA4B09AC-A733-4C23-A6C3-D0F4B6689398}"/>
              </a:ext>
            </a:extLst>
          </p:cNvPr>
          <p:cNvSpPr/>
          <p:nvPr/>
        </p:nvSpPr>
        <p:spPr bwMode="gray">
          <a:xfrm flipH="1">
            <a:off x="9439586" y="4830331"/>
            <a:ext cx="1032857" cy="558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a:t>
            </a:r>
            <a:r>
              <a:rPr lang="en-US" altLang="zh-CN" sz="1400" dirty="0">
                <a:solidFill>
                  <a:schemeClr val="tx1"/>
                </a:solidFill>
              </a:rPr>
              <a:t>B</a:t>
            </a:r>
            <a:endParaRPr lang="en-US" sz="1600" dirty="0">
              <a:solidFill>
                <a:schemeClr val="tx1"/>
              </a:solidFill>
            </a:endParaRPr>
          </a:p>
        </p:txBody>
      </p:sp>
      <p:pic>
        <p:nvPicPr>
          <p:cNvPr id="70" name="Picture 12" descr="E:\2016.01\1.12 扁平化图标\蓝色\AR-蓝色最新-40.png">
            <a:extLst>
              <a:ext uri="{FF2B5EF4-FFF2-40B4-BE49-F238E27FC236}">
                <a16:creationId xmlns:a16="http://schemas.microsoft.com/office/drawing/2014/main" id="{1AF6BDD8-16CA-4F63-8CA2-58815BFCF405}"/>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3929568" y="4571009"/>
            <a:ext cx="402674" cy="329461"/>
          </a:xfrm>
          <a:prstGeom prst="rect">
            <a:avLst/>
          </a:prstGeom>
          <a:noFill/>
        </p:spPr>
      </p:pic>
      <p:pic>
        <p:nvPicPr>
          <p:cNvPr id="71" name="Picture 12" descr="E:\2016.01\1.12 扁平化图标\蓝色\AR-蓝色最新-40.png">
            <a:extLst>
              <a:ext uri="{FF2B5EF4-FFF2-40B4-BE49-F238E27FC236}">
                <a16:creationId xmlns:a16="http://schemas.microsoft.com/office/drawing/2014/main" id="{C99A73E3-7D61-4598-A700-4A56244D5800}"/>
              </a:ext>
            </a:extLst>
          </p:cNvPr>
          <p:cNvPicPr>
            <a:picLocks noChangeAspect="1" noChangeArrowheads="1"/>
          </p:cNvPicPr>
          <p:nvPr/>
        </p:nvPicPr>
        <p:blipFill>
          <a:blip r:embed="rId3" cstate="print"/>
          <a:srcRect/>
          <a:stretch>
            <a:fillRect/>
          </a:stretch>
        </p:blipFill>
        <p:spPr bwMode="gray">
          <a:xfrm>
            <a:off x="7763386" y="4571010"/>
            <a:ext cx="402674" cy="329461"/>
          </a:xfrm>
          <a:prstGeom prst="rect">
            <a:avLst/>
          </a:prstGeom>
          <a:noFill/>
        </p:spPr>
      </p:pic>
      <p:pic>
        <p:nvPicPr>
          <p:cNvPr id="72" name="Picture 71" descr="E:\2016.01\1.12 扁平化图标\蓝色\AR-蓝色最新-40.png">
            <a:extLst>
              <a:ext uri="{FF2B5EF4-FFF2-40B4-BE49-F238E27FC236}">
                <a16:creationId xmlns:a16="http://schemas.microsoft.com/office/drawing/2014/main" id="{D31BAFFD-0CD9-42F9-901F-766D7AA1B629}"/>
              </a:ext>
            </a:extLst>
          </p:cNvPr>
          <p:cNvPicPr>
            <a:picLocks noChangeAspect="1" noChangeArrowheads="1"/>
          </p:cNvPicPr>
          <p:nvPr/>
        </p:nvPicPr>
        <p:blipFill>
          <a:blip r:embed="rId3" cstate="print"/>
          <a:srcRect/>
          <a:stretch>
            <a:fillRect/>
          </a:stretch>
        </p:blipFill>
        <p:spPr bwMode="gray">
          <a:xfrm>
            <a:off x="9716653" y="4571009"/>
            <a:ext cx="402674" cy="329461"/>
          </a:xfrm>
          <a:prstGeom prst="rect">
            <a:avLst/>
          </a:prstGeom>
          <a:noFill/>
        </p:spPr>
      </p:pic>
      <p:pic>
        <p:nvPicPr>
          <p:cNvPr id="73" name="Picture 12" descr="E:\2016.01\1.12 扁平化图标\蓝色\AR-蓝色最新-40.png">
            <a:extLst>
              <a:ext uri="{FF2B5EF4-FFF2-40B4-BE49-F238E27FC236}">
                <a16:creationId xmlns:a16="http://schemas.microsoft.com/office/drawing/2014/main" id="{546D0F43-14F4-4B8A-BF88-115388B4BBE5}"/>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1976301" y="4571010"/>
            <a:ext cx="402674" cy="329461"/>
          </a:xfrm>
          <a:prstGeom prst="rect">
            <a:avLst/>
          </a:prstGeom>
          <a:noFill/>
        </p:spPr>
      </p:pic>
      <p:sp>
        <p:nvSpPr>
          <p:cNvPr id="75" name="文本框 83">
            <a:extLst>
              <a:ext uri="{FF2B5EF4-FFF2-40B4-BE49-F238E27FC236}">
                <a16:creationId xmlns:a16="http://schemas.microsoft.com/office/drawing/2014/main" id="{AF2F06EB-D6F9-4D70-832A-979FBB1560A1}"/>
              </a:ext>
            </a:extLst>
          </p:cNvPr>
          <p:cNvSpPr txBox="1"/>
          <p:nvPr/>
        </p:nvSpPr>
        <p:spPr bwMode="gray">
          <a:xfrm>
            <a:off x="7032263" y="2932777"/>
            <a:ext cx="540922" cy="276999"/>
          </a:xfrm>
          <a:prstGeom prst="rect">
            <a:avLst/>
          </a:prstGeom>
          <a:noFill/>
        </p:spPr>
        <p:txBody>
          <a:bodyPr wrap="square" rtlCol="0">
            <a:spAutoFit/>
          </a:bodyPr>
          <a:lstStyle/>
          <a:p>
            <a:pPr algn="ctr"/>
            <a:r>
              <a:rPr lang="en-US" altLang="zh-CN" sz="1200" b="1" dirty="0">
                <a:solidFill>
                  <a:srgbClr val="C7000B"/>
                </a:solidFill>
              </a:rPr>
              <a:t>IWG</a:t>
            </a:r>
            <a:endParaRPr lang="zh-CN" altLang="en-US" sz="1200" b="1" dirty="0">
              <a:solidFill>
                <a:srgbClr val="C7000B"/>
              </a:solidFill>
            </a:endParaRPr>
          </a:p>
        </p:txBody>
      </p:sp>
      <p:sp>
        <p:nvSpPr>
          <p:cNvPr id="76" name="文本框 83">
            <a:extLst>
              <a:ext uri="{FF2B5EF4-FFF2-40B4-BE49-F238E27FC236}">
                <a16:creationId xmlns:a16="http://schemas.microsoft.com/office/drawing/2014/main" id="{FD263399-2F3E-4DAF-8EC6-D4F793D3BB49}"/>
              </a:ext>
            </a:extLst>
          </p:cNvPr>
          <p:cNvSpPr txBox="1"/>
          <p:nvPr/>
        </p:nvSpPr>
        <p:spPr bwMode="gray">
          <a:xfrm>
            <a:off x="4294078" y="4597239"/>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sp>
        <p:nvSpPr>
          <p:cNvPr id="77" name="文本框 83">
            <a:extLst>
              <a:ext uri="{FF2B5EF4-FFF2-40B4-BE49-F238E27FC236}">
                <a16:creationId xmlns:a16="http://schemas.microsoft.com/office/drawing/2014/main" id="{AD4F6FE8-9D2C-4802-85FB-F27C680A011F}"/>
              </a:ext>
            </a:extLst>
          </p:cNvPr>
          <p:cNvSpPr txBox="1"/>
          <p:nvPr/>
        </p:nvSpPr>
        <p:spPr bwMode="gray">
          <a:xfrm>
            <a:off x="6844495" y="4504905"/>
            <a:ext cx="1115783" cy="461665"/>
          </a:xfrm>
          <a:prstGeom prst="rect">
            <a:avLst/>
          </a:prstGeom>
          <a:noFill/>
        </p:spPr>
        <p:txBody>
          <a:bodyPr wrap="square" rtlCol="0">
            <a:spAutoFit/>
          </a:bodyPr>
          <a:lstStyle/>
          <a:p>
            <a:pPr algn="ctr"/>
            <a:r>
              <a:rPr lang="en-US" altLang="zh-CN" sz="1200" dirty="0"/>
              <a:t>SD-WAN EDGE</a:t>
            </a:r>
            <a:endParaRPr lang="zh-CN" altLang="en-US" sz="1200" dirty="0"/>
          </a:p>
        </p:txBody>
      </p:sp>
      <p:sp>
        <p:nvSpPr>
          <p:cNvPr id="78" name="文本框 83">
            <a:extLst>
              <a:ext uri="{FF2B5EF4-FFF2-40B4-BE49-F238E27FC236}">
                <a16:creationId xmlns:a16="http://schemas.microsoft.com/office/drawing/2014/main" id="{CFA9F896-5294-4D54-BE8F-4F36A21063AE}"/>
              </a:ext>
            </a:extLst>
          </p:cNvPr>
          <p:cNvSpPr txBox="1"/>
          <p:nvPr/>
        </p:nvSpPr>
        <p:spPr bwMode="gray">
          <a:xfrm>
            <a:off x="2283376" y="4567721"/>
            <a:ext cx="775882" cy="276999"/>
          </a:xfrm>
          <a:prstGeom prst="rect">
            <a:avLst/>
          </a:prstGeom>
          <a:noFill/>
        </p:spPr>
        <p:txBody>
          <a:bodyPr wrap="square" rtlCol="0">
            <a:spAutoFit/>
          </a:bodyPr>
          <a:lstStyle/>
          <a:p>
            <a:pPr algn="ctr"/>
            <a:r>
              <a:rPr lang="zh-CN" altLang="en-US" sz="1200" dirty="0"/>
              <a:t>传统</a:t>
            </a:r>
            <a:r>
              <a:rPr lang="en-US" altLang="zh-CN" sz="1200" dirty="0"/>
              <a:t>CPE</a:t>
            </a:r>
            <a:endParaRPr lang="zh-CN" altLang="en-US" sz="1200" dirty="0"/>
          </a:p>
        </p:txBody>
      </p:sp>
      <p:pic>
        <p:nvPicPr>
          <p:cNvPr id="79" name="Picture 12" descr="E:\2016.01\1.12 扁平化图标\蓝色\AR-蓝色最新-40.png">
            <a:extLst>
              <a:ext uri="{FF2B5EF4-FFF2-40B4-BE49-F238E27FC236}">
                <a16:creationId xmlns:a16="http://schemas.microsoft.com/office/drawing/2014/main" id="{931930A6-BA85-42D3-9036-80ECDD6E4462}"/>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2979406" y="3693394"/>
            <a:ext cx="402674" cy="329461"/>
          </a:xfrm>
          <a:prstGeom prst="rect">
            <a:avLst/>
          </a:prstGeom>
          <a:noFill/>
        </p:spPr>
      </p:pic>
      <p:sp>
        <p:nvSpPr>
          <p:cNvPr id="40" name="文本框 83">
            <a:extLst>
              <a:ext uri="{FF2B5EF4-FFF2-40B4-BE49-F238E27FC236}">
                <a16:creationId xmlns:a16="http://schemas.microsoft.com/office/drawing/2014/main" id="{85AFB634-977D-42CB-BD46-FF3CAF761B66}"/>
              </a:ext>
            </a:extLst>
          </p:cNvPr>
          <p:cNvSpPr txBox="1"/>
          <p:nvPr/>
        </p:nvSpPr>
        <p:spPr bwMode="gray">
          <a:xfrm>
            <a:off x="4245711" y="2938434"/>
            <a:ext cx="869861" cy="276999"/>
          </a:xfrm>
          <a:prstGeom prst="rect">
            <a:avLst/>
          </a:prstGeom>
          <a:noFill/>
        </p:spPr>
        <p:txBody>
          <a:bodyPr wrap="square" rtlCol="0">
            <a:spAutoFit/>
          </a:bodyPr>
          <a:lstStyle/>
          <a:p>
            <a:pPr algn="ctr"/>
            <a:r>
              <a:rPr lang="en-US" altLang="zh-CN" sz="1200" dirty="0"/>
              <a:t>ASBR-PE</a:t>
            </a:r>
            <a:endParaRPr lang="zh-CN" altLang="en-US" sz="1200" dirty="0"/>
          </a:p>
        </p:txBody>
      </p:sp>
      <p:sp>
        <p:nvSpPr>
          <p:cNvPr id="44" name="文本框 83">
            <a:extLst>
              <a:ext uri="{FF2B5EF4-FFF2-40B4-BE49-F238E27FC236}">
                <a16:creationId xmlns:a16="http://schemas.microsoft.com/office/drawing/2014/main" id="{0699FF6A-EF77-41D1-90D7-C98CEB33D0AF}"/>
              </a:ext>
            </a:extLst>
          </p:cNvPr>
          <p:cNvSpPr txBox="1"/>
          <p:nvPr/>
        </p:nvSpPr>
        <p:spPr bwMode="gray">
          <a:xfrm>
            <a:off x="2965925" y="4018288"/>
            <a:ext cx="402674" cy="276999"/>
          </a:xfrm>
          <a:prstGeom prst="rect">
            <a:avLst/>
          </a:prstGeom>
          <a:noFill/>
        </p:spPr>
        <p:txBody>
          <a:bodyPr wrap="square" rtlCol="0">
            <a:spAutoFit/>
          </a:bodyPr>
          <a:lstStyle/>
          <a:p>
            <a:pPr algn="ctr"/>
            <a:r>
              <a:rPr lang="en-US" altLang="zh-CN" sz="1200" dirty="0"/>
              <a:t>PE</a:t>
            </a:r>
            <a:endParaRPr lang="zh-CN" altLang="en-US" sz="1200" dirty="0"/>
          </a:p>
        </p:txBody>
      </p:sp>
      <p:sp>
        <p:nvSpPr>
          <p:cNvPr id="45" name="Freeform: Shape 44">
            <a:extLst>
              <a:ext uri="{FF2B5EF4-FFF2-40B4-BE49-F238E27FC236}">
                <a16:creationId xmlns:a16="http://schemas.microsoft.com/office/drawing/2014/main" id="{1F0B067A-412C-4D9F-9C80-F0655F9CBABE}"/>
              </a:ext>
            </a:extLst>
          </p:cNvPr>
          <p:cNvSpPr/>
          <p:nvPr/>
        </p:nvSpPr>
        <p:spPr bwMode="gray">
          <a:xfrm rot="20490686">
            <a:off x="3396578" y="3538938"/>
            <a:ext cx="1629673" cy="148414"/>
          </a:xfrm>
          <a:custGeom>
            <a:avLst/>
            <a:gdLst>
              <a:gd name="connsiteX0" fmla="*/ 0 w 1143000"/>
              <a:gd name="connsiteY0" fmla="*/ 0 h 171472"/>
              <a:gd name="connsiteX1" fmla="*/ 514350 w 1143000"/>
              <a:gd name="connsiteY1" fmla="*/ 171450 h 171472"/>
              <a:gd name="connsiteX2" fmla="*/ 1143000 w 1143000"/>
              <a:gd name="connsiteY2" fmla="*/ 9525 h 171472"/>
            </a:gdLst>
            <a:ahLst/>
            <a:cxnLst>
              <a:cxn ang="0">
                <a:pos x="connsiteX0" y="connsiteY0"/>
              </a:cxn>
              <a:cxn ang="0">
                <a:pos x="connsiteX1" y="connsiteY1"/>
              </a:cxn>
              <a:cxn ang="0">
                <a:pos x="connsiteX2" y="connsiteY2"/>
              </a:cxn>
            </a:cxnLst>
            <a:rect l="l" t="t" r="r" b="b"/>
            <a:pathLst>
              <a:path w="1143000" h="171472">
                <a:moveTo>
                  <a:pt x="0" y="0"/>
                </a:moveTo>
                <a:cubicBezTo>
                  <a:pt x="161925" y="84931"/>
                  <a:pt x="323850" y="169863"/>
                  <a:pt x="514350" y="171450"/>
                </a:cubicBezTo>
                <a:cubicBezTo>
                  <a:pt x="704850" y="173037"/>
                  <a:pt x="923925" y="91281"/>
                  <a:pt x="1143000" y="9525"/>
                </a:cubicBezTo>
              </a:path>
            </a:pathLst>
          </a:custGeom>
          <a:noFill/>
          <a:ln w="28575">
            <a:solidFill>
              <a:srgbClr val="E28189"/>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65898FCA-ABF5-412D-AAF2-18EC83BB9776}"/>
              </a:ext>
            </a:extLst>
          </p:cNvPr>
          <p:cNvSpPr txBox="1"/>
          <p:nvPr/>
        </p:nvSpPr>
        <p:spPr bwMode="gray">
          <a:xfrm rot="20279691">
            <a:off x="3976908" y="3602332"/>
            <a:ext cx="766557" cy="276999"/>
          </a:xfrm>
          <a:prstGeom prst="rect">
            <a:avLst/>
          </a:prstGeom>
          <a:noFill/>
        </p:spPr>
        <p:txBody>
          <a:bodyPr wrap="none" rtlCol="0">
            <a:spAutoFit/>
          </a:bodyPr>
          <a:lstStyle/>
          <a:p>
            <a:r>
              <a:rPr lang="en-US" altLang="zh-CN" sz="1200" dirty="0"/>
              <a:t>MP-BGP</a:t>
            </a:r>
            <a:endParaRPr lang="zh-CN" altLang="en-US" sz="1200" dirty="0"/>
          </a:p>
        </p:txBody>
      </p:sp>
      <p:sp>
        <p:nvSpPr>
          <p:cNvPr id="48" name="TextBox 47">
            <a:extLst>
              <a:ext uri="{FF2B5EF4-FFF2-40B4-BE49-F238E27FC236}">
                <a16:creationId xmlns:a16="http://schemas.microsoft.com/office/drawing/2014/main" id="{AF28CFC3-DE72-429D-80B7-21D17E253B28}"/>
              </a:ext>
            </a:extLst>
          </p:cNvPr>
          <p:cNvSpPr txBox="1"/>
          <p:nvPr/>
        </p:nvSpPr>
        <p:spPr bwMode="gray">
          <a:xfrm rot="19122783">
            <a:off x="2303140" y="3956806"/>
            <a:ext cx="545342" cy="276999"/>
          </a:xfrm>
          <a:prstGeom prst="rect">
            <a:avLst/>
          </a:prstGeom>
          <a:noFill/>
        </p:spPr>
        <p:txBody>
          <a:bodyPr wrap="none" rtlCol="0">
            <a:spAutoFit/>
          </a:bodyPr>
          <a:lstStyle/>
          <a:p>
            <a:r>
              <a:rPr lang="en-US" altLang="zh-CN" sz="1200" dirty="0"/>
              <a:t>VRF1</a:t>
            </a:r>
            <a:endParaRPr lang="zh-CN" altLang="en-US" sz="1200" dirty="0"/>
          </a:p>
        </p:txBody>
      </p:sp>
      <p:sp>
        <p:nvSpPr>
          <p:cNvPr id="49" name="TextBox 48">
            <a:extLst>
              <a:ext uri="{FF2B5EF4-FFF2-40B4-BE49-F238E27FC236}">
                <a16:creationId xmlns:a16="http://schemas.microsoft.com/office/drawing/2014/main" id="{97AAC4AE-F007-4FE8-B033-19F5CCFC1190}"/>
              </a:ext>
            </a:extLst>
          </p:cNvPr>
          <p:cNvSpPr txBox="1"/>
          <p:nvPr/>
        </p:nvSpPr>
        <p:spPr bwMode="gray">
          <a:xfrm rot="2589562">
            <a:off x="3555689" y="3998287"/>
            <a:ext cx="545342" cy="276999"/>
          </a:xfrm>
          <a:prstGeom prst="rect">
            <a:avLst/>
          </a:prstGeom>
          <a:noFill/>
        </p:spPr>
        <p:txBody>
          <a:bodyPr wrap="none" rtlCol="0">
            <a:spAutoFit/>
          </a:bodyPr>
          <a:lstStyle/>
          <a:p>
            <a:r>
              <a:rPr lang="en-US" altLang="zh-CN" sz="1200" dirty="0"/>
              <a:t>VRF2</a:t>
            </a:r>
            <a:endParaRPr lang="zh-CN" altLang="en-US" sz="1200" dirty="0"/>
          </a:p>
        </p:txBody>
      </p:sp>
      <p:cxnSp>
        <p:nvCxnSpPr>
          <p:cNvPr id="46" name="直接连接符 121">
            <a:extLst>
              <a:ext uri="{FF2B5EF4-FFF2-40B4-BE49-F238E27FC236}">
                <a16:creationId xmlns:a16="http://schemas.microsoft.com/office/drawing/2014/main" id="{FFE4920C-0544-4012-B4D1-BEAD45B0BBDD}"/>
              </a:ext>
            </a:extLst>
          </p:cNvPr>
          <p:cNvCxnSpPr>
            <a:cxnSpLocks/>
          </p:cNvCxnSpPr>
          <p:nvPr/>
        </p:nvCxnSpPr>
        <p:spPr bwMode="gray">
          <a:xfrm>
            <a:off x="5403706" y="3275086"/>
            <a:ext cx="12986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BF1E7F9C-32EB-42DC-AB1E-E08E72F7B7C1}"/>
              </a:ext>
            </a:extLst>
          </p:cNvPr>
          <p:cNvSpPr>
            <a:spLocks noChangeAspect="1"/>
          </p:cNvSpPr>
          <p:nvPr/>
        </p:nvSpPr>
        <p:spPr bwMode="gray">
          <a:xfrm>
            <a:off x="5332347" y="3049241"/>
            <a:ext cx="123078" cy="123078"/>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6" name="Oval 55">
            <a:extLst>
              <a:ext uri="{FF2B5EF4-FFF2-40B4-BE49-F238E27FC236}">
                <a16:creationId xmlns:a16="http://schemas.microsoft.com/office/drawing/2014/main" id="{75C7A781-9167-4812-9257-9A7D1520D4B0}"/>
              </a:ext>
            </a:extLst>
          </p:cNvPr>
          <p:cNvSpPr>
            <a:spLocks noChangeAspect="1"/>
          </p:cNvSpPr>
          <p:nvPr/>
        </p:nvSpPr>
        <p:spPr bwMode="gray">
          <a:xfrm>
            <a:off x="6640597" y="3049241"/>
            <a:ext cx="123078" cy="123078"/>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7" name="Oval 56">
            <a:extLst>
              <a:ext uri="{FF2B5EF4-FFF2-40B4-BE49-F238E27FC236}">
                <a16:creationId xmlns:a16="http://schemas.microsoft.com/office/drawing/2014/main" id="{EB35CEE9-875E-4928-AE1A-11A9ADAFDECD}"/>
              </a:ext>
            </a:extLst>
          </p:cNvPr>
          <p:cNvSpPr>
            <a:spLocks noChangeAspect="1"/>
          </p:cNvSpPr>
          <p:nvPr/>
        </p:nvSpPr>
        <p:spPr bwMode="gray">
          <a:xfrm>
            <a:off x="5329793" y="3218608"/>
            <a:ext cx="123078" cy="123078"/>
          </a:xfrm>
          <a:prstGeom prst="ellipse">
            <a:avLst/>
          </a:prstGeom>
          <a:pattFill prst="smGrid">
            <a:fgClr>
              <a:srgbClr val="C7000B"/>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8" name="Oval 57">
            <a:extLst>
              <a:ext uri="{FF2B5EF4-FFF2-40B4-BE49-F238E27FC236}">
                <a16:creationId xmlns:a16="http://schemas.microsoft.com/office/drawing/2014/main" id="{8F482354-7546-4DDE-AFD4-0AE58417C02C}"/>
              </a:ext>
            </a:extLst>
          </p:cNvPr>
          <p:cNvSpPr>
            <a:spLocks noChangeAspect="1"/>
          </p:cNvSpPr>
          <p:nvPr/>
        </p:nvSpPr>
        <p:spPr bwMode="gray">
          <a:xfrm>
            <a:off x="6638043" y="3218608"/>
            <a:ext cx="123078" cy="123078"/>
          </a:xfrm>
          <a:prstGeom prst="ellipse">
            <a:avLst/>
          </a:prstGeom>
          <a:pattFill prst="smGrid">
            <a:fgClr>
              <a:srgbClr val="C7000B"/>
            </a:fgClr>
            <a:bgClr>
              <a:schemeClr val="bg1"/>
            </a:bgClr>
          </a:patt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9" name="Rectangular Callout 26">
            <a:extLst>
              <a:ext uri="{FF2B5EF4-FFF2-40B4-BE49-F238E27FC236}">
                <a16:creationId xmlns:a16="http://schemas.microsoft.com/office/drawing/2014/main" id="{8828A65D-9871-4101-AC90-3EEAFA7EF9CA}"/>
              </a:ext>
            </a:extLst>
          </p:cNvPr>
          <p:cNvSpPr/>
          <p:nvPr/>
        </p:nvSpPr>
        <p:spPr bwMode="gray">
          <a:xfrm>
            <a:off x="5214698" y="2692359"/>
            <a:ext cx="604190" cy="260467"/>
          </a:xfrm>
          <a:prstGeom prst="wedgeRectCallout">
            <a:avLst>
              <a:gd name="adj1" fmla="val -20363"/>
              <a:gd name="adj2" fmla="val 7724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VPN1</a:t>
            </a:r>
          </a:p>
        </p:txBody>
      </p:sp>
      <p:sp>
        <p:nvSpPr>
          <p:cNvPr id="61" name="Rectangular Callout 26">
            <a:extLst>
              <a:ext uri="{FF2B5EF4-FFF2-40B4-BE49-F238E27FC236}">
                <a16:creationId xmlns:a16="http://schemas.microsoft.com/office/drawing/2014/main" id="{CFC1D643-F983-4C96-B80F-A7B3DBA442C7}"/>
              </a:ext>
            </a:extLst>
          </p:cNvPr>
          <p:cNvSpPr/>
          <p:nvPr/>
        </p:nvSpPr>
        <p:spPr bwMode="gray">
          <a:xfrm>
            <a:off x="5210106" y="3424393"/>
            <a:ext cx="604190" cy="260467"/>
          </a:xfrm>
          <a:prstGeom prst="wedgeRectCallout">
            <a:avLst>
              <a:gd name="adj1" fmla="val -18787"/>
              <a:gd name="adj2" fmla="val -7635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VPN2</a:t>
            </a:r>
          </a:p>
        </p:txBody>
      </p:sp>
      <p:sp>
        <p:nvSpPr>
          <p:cNvPr id="62" name="Rectangular Callout 26">
            <a:extLst>
              <a:ext uri="{FF2B5EF4-FFF2-40B4-BE49-F238E27FC236}">
                <a16:creationId xmlns:a16="http://schemas.microsoft.com/office/drawing/2014/main" id="{4A47CA19-44BB-42C4-A4A7-67BC10B0AFDE}"/>
              </a:ext>
            </a:extLst>
          </p:cNvPr>
          <p:cNvSpPr/>
          <p:nvPr/>
        </p:nvSpPr>
        <p:spPr bwMode="gray">
          <a:xfrm>
            <a:off x="6205056" y="3510691"/>
            <a:ext cx="1115783" cy="277000"/>
          </a:xfrm>
          <a:prstGeom prst="wedgeRectCallout">
            <a:avLst>
              <a:gd name="adj1" fmla="val -34552"/>
              <a:gd name="adj2" fmla="val -12452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建立</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邻居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五边形 2">
            <a:extLst>
              <a:ext uri="{FF2B5EF4-FFF2-40B4-BE49-F238E27FC236}">
                <a16:creationId xmlns:a16="http://schemas.microsoft.com/office/drawing/2014/main" id="{D0373CE1-7839-44CE-B1C6-85A472EF7999}"/>
              </a:ext>
            </a:extLst>
          </p:cNvPr>
          <p:cNvSpPr/>
          <p:nvPr/>
        </p:nvSpPr>
        <p:spPr bwMode="gray">
          <a:xfrm>
            <a:off x="9149400" y="120048"/>
            <a:ext cx="1201099"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访问互联网设计</a:t>
            </a:r>
          </a:p>
        </p:txBody>
      </p:sp>
      <p:sp>
        <p:nvSpPr>
          <p:cNvPr id="51" name="燕尾形 3">
            <a:extLst>
              <a:ext uri="{FF2B5EF4-FFF2-40B4-BE49-F238E27FC236}">
                <a16:creationId xmlns:a16="http://schemas.microsoft.com/office/drawing/2014/main" id="{A4AE7CA3-3435-44FA-9DD0-098AD6FE61DD}"/>
              </a:ext>
            </a:extLst>
          </p:cNvPr>
          <p:cNvSpPr/>
          <p:nvPr/>
        </p:nvSpPr>
        <p:spPr bwMode="gray">
          <a:xfrm>
            <a:off x="10268273" y="120048"/>
            <a:ext cx="148081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传统站点互访设计</a:t>
            </a:r>
          </a:p>
        </p:txBody>
      </p:sp>
    </p:spTree>
    <p:extLst>
      <p:ext uri="{BB962C8B-B14F-4D97-AF65-F5344CB8AC3E}">
        <p14:creationId xmlns:p14="http://schemas.microsoft.com/office/powerpoint/2010/main" val="70961581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bwMode="gray"/>
        <p:txBody>
          <a:bodyPr/>
          <a:lstStyle/>
          <a:p>
            <a:r>
              <a:rPr lang="en-US" sz="2400" dirty="0"/>
              <a:t>SD-WAN</a:t>
            </a:r>
            <a:r>
              <a:rPr lang="zh-CN" altLang="en-US" sz="2400" dirty="0"/>
              <a:t>业务设计分为应用业务设计、网络业务设计：</a:t>
            </a:r>
            <a:endParaRPr lang="en-US" altLang="zh-CN" sz="2400" dirty="0"/>
          </a:p>
          <a:p>
            <a:pPr lvl="1"/>
            <a:r>
              <a:rPr lang="zh-CN" altLang="en-US" sz="2000" dirty="0"/>
              <a:t>应用业务设计：主要包括智能选路设计、</a:t>
            </a:r>
            <a:r>
              <a:rPr lang="en-US" altLang="zh-CN" sz="2000" dirty="0"/>
              <a:t>QoS</a:t>
            </a:r>
            <a:r>
              <a:rPr lang="zh-CN" altLang="en-US" sz="2000" dirty="0"/>
              <a:t>设计、丢包优化设计。</a:t>
            </a:r>
            <a:endParaRPr lang="en-US" altLang="zh-CN" sz="2000" dirty="0"/>
          </a:p>
          <a:p>
            <a:pPr lvl="1"/>
            <a:r>
              <a:rPr lang="zh-CN" altLang="en-US" sz="2000" dirty="0"/>
              <a:t>网络业务设计：主要包括访问互联网设计、传统站点互访设计。</a:t>
            </a:r>
            <a:endParaRPr lang="en-US" altLang="zh-CN" sz="2000" dirty="0"/>
          </a:p>
        </p:txBody>
      </p:sp>
    </p:spTree>
    <p:extLst>
      <p:ext uri="{BB962C8B-B14F-4D97-AF65-F5344CB8AC3E}">
        <p14:creationId xmlns:p14="http://schemas.microsoft.com/office/powerpoint/2010/main" val="16585996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dirty="0">
                <a:solidFill>
                  <a:schemeClr val="bg1">
                    <a:lumMod val="50000"/>
                  </a:schemeClr>
                </a:solidFill>
              </a:rPr>
              <a:t>企业广域互联网络趋势与挑战</a:t>
            </a:r>
          </a:p>
          <a:p>
            <a:pPr>
              <a:buFont typeface="+mj-lt"/>
              <a:buAutoNum type="arabicPeriod"/>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解决方案概述</a:t>
            </a:r>
            <a:endParaRPr lang="en-US" altLang="zh-CN" sz="1800" dirty="0">
              <a:solidFill>
                <a:schemeClr val="bg1">
                  <a:lumMod val="50000"/>
                </a:schemeClr>
              </a:solidFill>
            </a:endParaRPr>
          </a:p>
          <a:p>
            <a:pPr>
              <a:buFont typeface="+mj-lt"/>
              <a:buAutoNum type="arabicPeriod" startAt="3"/>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组网设计</a:t>
            </a:r>
            <a:endParaRPr lang="en-US" altLang="zh-CN" sz="1800" dirty="0">
              <a:solidFill>
                <a:schemeClr val="bg1">
                  <a:lumMod val="50000"/>
                </a:schemeClr>
              </a:solidFill>
            </a:endParaRPr>
          </a:p>
          <a:p>
            <a:pPr>
              <a:buFont typeface="+mj-lt"/>
              <a:buAutoNum type="arabicPeriod" startAt="3"/>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业务设计</a:t>
            </a:r>
          </a:p>
          <a:p>
            <a:pPr>
              <a:buFont typeface="+mj-lt"/>
              <a:buAutoNum type="arabicPeriod" startAt="3"/>
            </a:pPr>
            <a:r>
              <a:rPr lang="zh-CN" altLang="en-US" sz="1800" b="1" dirty="0"/>
              <a:t>华为</a:t>
            </a:r>
            <a:r>
              <a:rPr lang="en-US" altLang="zh-CN" sz="1800" b="1" dirty="0"/>
              <a:t>SD-WAN</a:t>
            </a:r>
            <a:r>
              <a:rPr lang="zh-CN" altLang="en-US" sz="1800" b="1" dirty="0"/>
              <a:t>可靠性与安全设计</a:t>
            </a:r>
            <a:endParaRPr lang="en-US" altLang="zh-CN" sz="1800" b="1" dirty="0"/>
          </a:p>
          <a:p>
            <a:pPr lvl="1">
              <a:buSzPct val="60000"/>
              <a:buFont typeface="Wingdings" panose="05000000000000000000" pitchFamily="2" charset="2"/>
              <a:buChar char="n"/>
            </a:pPr>
            <a:r>
              <a:rPr lang="en-US" altLang="zh-CN" sz="1600" dirty="0"/>
              <a:t>SD-WAN</a:t>
            </a:r>
            <a:r>
              <a:rPr lang="zh-CN" altLang="en-US" sz="1600" dirty="0"/>
              <a:t>可靠性设计概览</a:t>
            </a:r>
            <a:endParaRPr lang="en-US" altLang="zh-CN" sz="1600" dirty="0"/>
          </a:p>
          <a:p>
            <a:pPr lvl="1"/>
            <a:r>
              <a:rPr lang="en-US" altLang="zh-CN" sz="1600" dirty="0">
                <a:solidFill>
                  <a:schemeClr val="bg1">
                    <a:lumMod val="50000"/>
                  </a:schemeClr>
                </a:solidFill>
              </a:rPr>
              <a:t>SD-WAN</a:t>
            </a:r>
            <a:r>
              <a:rPr lang="zh-CN" altLang="en-US" sz="1600" dirty="0">
                <a:solidFill>
                  <a:schemeClr val="bg1">
                    <a:lumMod val="50000"/>
                  </a:schemeClr>
                </a:solidFill>
              </a:rPr>
              <a:t>站点可靠性设计</a:t>
            </a:r>
            <a:endParaRPr lang="en-US" altLang="zh-CN" sz="1600" dirty="0">
              <a:solidFill>
                <a:schemeClr val="bg1">
                  <a:lumMod val="50000"/>
                </a:schemeClr>
              </a:solidFill>
            </a:endParaRPr>
          </a:p>
          <a:p>
            <a:pPr lvl="1"/>
            <a:r>
              <a:rPr lang="en-US" altLang="zh-CN" sz="1600" dirty="0">
                <a:solidFill>
                  <a:schemeClr val="bg1">
                    <a:lumMod val="50000"/>
                  </a:schemeClr>
                </a:solidFill>
              </a:rPr>
              <a:t>SD-WAN</a:t>
            </a:r>
            <a:r>
              <a:rPr lang="zh-CN" altLang="en-US" sz="1600" dirty="0">
                <a:solidFill>
                  <a:schemeClr val="bg1">
                    <a:lumMod val="50000"/>
                  </a:schemeClr>
                </a:solidFill>
              </a:rPr>
              <a:t>控制器可靠性设计</a:t>
            </a:r>
            <a:endParaRPr lang="en-US" altLang="zh-CN" sz="1600" dirty="0">
              <a:solidFill>
                <a:schemeClr val="bg1">
                  <a:lumMod val="50000"/>
                </a:schemeClr>
              </a:solidFill>
            </a:endParaRPr>
          </a:p>
          <a:p>
            <a:pPr lvl="1"/>
            <a:r>
              <a:rPr lang="en-US" altLang="zh-CN" sz="1600" dirty="0">
                <a:solidFill>
                  <a:schemeClr val="bg1">
                    <a:lumMod val="50000"/>
                  </a:schemeClr>
                </a:solidFill>
              </a:rPr>
              <a:t>SD-WAN</a:t>
            </a:r>
            <a:r>
              <a:rPr lang="zh-CN" altLang="en-US" sz="1600" dirty="0">
                <a:solidFill>
                  <a:schemeClr val="bg1">
                    <a:lumMod val="50000"/>
                  </a:schemeClr>
                </a:solidFill>
              </a:rPr>
              <a:t>安全设计</a:t>
            </a:r>
            <a:endParaRPr lang="en-US" altLang="zh-CN" sz="1600" dirty="0">
              <a:solidFill>
                <a:schemeClr val="bg1">
                  <a:lumMod val="50000"/>
                </a:schemeClr>
              </a:solidFill>
            </a:endParaRPr>
          </a:p>
        </p:txBody>
      </p:sp>
    </p:spTree>
    <p:extLst>
      <p:ext uri="{BB962C8B-B14F-4D97-AF65-F5344CB8AC3E}">
        <p14:creationId xmlns:p14="http://schemas.microsoft.com/office/powerpoint/2010/main" val="22464375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32A32D-DD3E-40B2-8DF4-1B711544535B}"/>
              </a:ext>
            </a:extLst>
          </p:cNvPr>
          <p:cNvSpPr>
            <a:spLocks noGrp="1"/>
          </p:cNvSpPr>
          <p:nvPr>
            <p:ph type="title"/>
          </p:nvPr>
        </p:nvSpPr>
        <p:spPr bwMode="gray"/>
        <p:txBody>
          <a:bodyPr/>
          <a:lstStyle/>
          <a:p>
            <a:r>
              <a:rPr lang="zh-CN" altLang="en-US" sz="3200" dirty="0">
                <a:latin typeface="Microsoft YaHei" panose="020B0503020204020204" pitchFamily="34" charset="-122"/>
                <a:ea typeface="Microsoft YaHei" panose="020B0503020204020204" pitchFamily="34" charset="-122"/>
                <a:sym typeface="微软雅黑" panose="020B0503020204020204" pitchFamily="34" charset="-122"/>
              </a:rPr>
              <a:t>华为</a:t>
            </a:r>
            <a:r>
              <a:rPr lang="en-US" altLang="zh-CN" sz="3200" dirty="0">
                <a:latin typeface="Microsoft YaHei" panose="020B0503020204020204" pitchFamily="34" charset="-122"/>
                <a:ea typeface="Microsoft YaHei" panose="020B0503020204020204" pitchFamily="34" charset="-122"/>
                <a:sym typeface="微软雅黑" panose="020B0503020204020204" pitchFamily="34" charset="-122"/>
              </a:rPr>
              <a:t>SD-WAN</a:t>
            </a:r>
            <a:r>
              <a:rPr lang="zh-CN" altLang="en-US" dirty="0"/>
              <a:t>可靠性设计概述</a:t>
            </a:r>
            <a:endParaRPr lang="en-US" dirty="0"/>
          </a:p>
        </p:txBody>
      </p:sp>
      <p:sp>
        <p:nvSpPr>
          <p:cNvPr id="164" name="Text Placeholder 163">
            <a:extLst>
              <a:ext uri="{FF2B5EF4-FFF2-40B4-BE49-F238E27FC236}">
                <a16:creationId xmlns:a16="http://schemas.microsoft.com/office/drawing/2014/main" id="{8C527F74-1DF0-4D25-9B9E-857A9CC4A091}"/>
              </a:ext>
            </a:extLst>
          </p:cNvPr>
          <p:cNvSpPr>
            <a:spLocks noGrp="1"/>
          </p:cNvSpPr>
          <p:nvPr>
            <p:ph type="body" sz="quarter" idx="10"/>
          </p:nvPr>
        </p:nvSpPr>
        <p:spPr bwMode="gray"/>
        <p:txBody>
          <a:bodyPr/>
          <a:lstStyle/>
          <a:p>
            <a:r>
              <a:rPr lang="en-US" altLang="zh-CN" sz="2000" dirty="0"/>
              <a:t>SD-WAN</a:t>
            </a:r>
            <a:r>
              <a:rPr lang="zh-CN" altLang="en-US" sz="2000" dirty="0"/>
              <a:t>可靠性与安全设计主要包括站点可靠性设计，控制器可靠性设计与安全设计。</a:t>
            </a:r>
          </a:p>
        </p:txBody>
      </p:sp>
      <p:sp>
        <p:nvSpPr>
          <p:cNvPr id="70" name="Freeform 159">
            <a:extLst>
              <a:ext uri="{FF2B5EF4-FFF2-40B4-BE49-F238E27FC236}">
                <a16:creationId xmlns:a16="http://schemas.microsoft.com/office/drawing/2014/main" id="{584B8C3E-CC02-4FB2-9A86-44159C9A76E9}"/>
              </a:ext>
            </a:extLst>
          </p:cNvPr>
          <p:cNvSpPr/>
          <p:nvPr/>
        </p:nvSpPr>
        <p:spPr bwMode="gray">
          <a:xfrm flipH="1">
            <a:off x="7056255" y="5106376"/>
            <a:ext cx="1208491"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1" name="Freeform 159">
            <a:extLst>
              <a:ext uri="{FF2B5EF4-FFF2-40B4-BE49-F238E27FC236}">
                <a16:creationId xmlns:a16="http://schemas.microsoft.com/office/drawing/2014/main" id="{B21EE0A0-86AD-4896-BF8D-7E888E5DFCEE}"/>
              </a:ext>
            </a:extLst>
          </p:cNvPr>
          <p:cNvSpPr/>
          <p:nvPr/>
        </p:nvSpPr>
        <p:spPr bwMode="gray">
          <a:xfrm flipH="1">
            <a:off x="5088206" y="5106377"/>
            <a:ext cx="1208491"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2" name="Picture 12" descr="E:\2016.01\1.12 扁平化图标\蓝色\AR-蓝色最新-40.png">
            <a:extLst>
              <a:ext uri="{FF2B5EF4-FFF2-40B4-BE49-F238E27FC236}">
                <a16:creationId xmlns:a16="http://schemas.microsoft.com/office/drawing/2014/main" id="{9079EB10-1B96-4263-B932-A466262116DE}"/>
              </a:ext>
            </a:extLst>
          </p:cNvPr>
          <p:cNvPicPr>
            <a:picLocks noChangeAspect="1" noChangeArrowheads="1"/>
          </p:cNvPicPr>
          <p:nvPr/>
        </p:nvPicPr>
        <p:blipFill>
          <a:blip r:embed="rId3" cstate="print"/>
          <a:srcRect/>
          <a:stretch>
            <a:fillRect/>
          </a:stretch>
        </p:blipFill>
        <p:spPr bwMode="gray">
          <a:xfrm>
            <a:off x="5483942" y="4989179"/>
            <a:ext cx="474524" cy="388247"/>
          </a:xfrm>
          <a:prstGeom prst="rect">
            <a:avLst/>
          </a:prstGeom>
          <a:noFill/>
        </p:spPr>
      </p:pic>
      <p:cxnSp>
        <p:nvCxnSpPr>
          <p:cNvPr id="73" name="Straight Connector 72">
            <a:extLst>
              <a:ext uri="{FF2B5EF4-FFF2-40B4-BE49-F238E27FC236}">
                <a16:creationId xmlns:a16="http://schemas.microsoft.com/office/drawing/2014/main" id="{696BD2C7-A36E-4D90-B659-33D3B2FBC09F}"/>
              </a:ext>
            </a:extLst>
          </p:cNvPr>
          <p:cNvCxnSpPr>
            <a:cxnSpLocks/>
            <a:endCxn id="72" idx="0"/>
          </p:cNvCxnSpPr>
          <p:nvPr/>
        </p:nvCxnSpPr>
        <p:spPr bwMode="gray">
          <a:xfrm>
            <a:off x="5721204" y="4110512"/>
            <a:ext cx="0" cy="87866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F499881-67A3-4273-981B-F43665DC2CF3}"/>
              </a:ext>
            </a:extLst>
          </p:cNvPr>
          <p:cNvCxnSpPr>
            <a:cxnSpLocks/>
            <a:endCxn id="72" idx="0"/>
          </p:cNvCxnSpPr>
          <p:nvPr/>
        </p:nvCxnSpPr>
        <p:spPr bwMode="gray">
          <a:xfrm flipH="1">
            <a:off x="5721204" y="4347181"/>
            <a:ext cx="2110952" cy="64199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BFF53F8-F856-4937-8DEB-54AD1997B9C0}"/>
              </a:ext>
            </a:extLst>
          </p:cNvPr>
          <p:cNvSpPr txBox="1"/>
          <p:nvPr/>
        </p:nvSpPr>
        <p:spPr bwMode="gray">
          <a:xfrm>
            <a:off x="5465938" y="5339066"/>
            <a:ext cx="543739" cy="307777"/>
          </a:xfrm>
          <a:prstGeom prst="rect">
            <a:avLst/>
          </a:prstGeom>
          <a:noFill/>
        </p:spPr>
        <p:txBody>
          <a:bodyPr wrap="none" rtlCol="0">
            <a:spAutoFit/>
          </a:bodyPr>
          <a:lstStyle/>
          <a:p>
            <a:r>
              <a:rPr lang="zh-CN" altLang="en-US" sz="1400" dirty="0"/>
              <a:t>分支</a:t>
            </a:r>
          </a:p>
        </p:txBody>
      </p:sp>
      <p:sp>
        <p:nvSpPr>
          <p:cNvPr id="76" name="Freeform 159">
            <a:extLst>
              <a:ext uri="{FF2B5EF4-FFF2-40B4-BE49-F238E27FC236}">
                <a16:creationId xmlns:a16="http://schemas.microsoft.com/office/drawing/2014/main" id="{5E7C239F-A4EF-412B-A728-26FEF573FC5A}"/>
              </a:ext>
            </a:extLst>
          </p:cNvPr>
          <p:cNvSpPr/>
          <p:nvPr/>
        </p:nvSpPr>
        <p:spPr bwMode="gray">
          <a:xfrm flipH="1">
            <a:off x="5187877" y="3701178"/>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77" name="Freeform 159">
            <a:extLst>
              <a:ext uri="{FF2B5EF4-FFF2-40B4-BE49-F238E27FC236}">
                <a16:creationId xmlns:a16="http://schemas.microsoft.com/office/drawing/2014/main" id="{E5E6AAD6-344E-4164-AED6-7C17BA9E4B08}"/>
              </a:ext>
            </a:extLst>
          </p:cNvPr>
          <p:cNvSpPr/>
          <p:nvPr/>
        </p:nvSpPr>
        <p:spPr bwMode="gray">
          <a:xfrm flipH="1">
            <a:off x="7180961" y="3668906"/>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sp>
        <p:nvSpPr>
          <p:cNvPr id="78" name="Freeform 159">
            <a:extLst>
              <a:ext uri="{FF2B5EF4-FFF2-40B4-BE49-F238E27FC236}">
                <a16:creationId xmlns:a16="http://schemas.microsoft.com/office/drawing/2014/main" id="{A66CF680-DC35-4049-9AAE-ACA5CB08A9E6}"/>
              </a:ext>
            </a:extLst>
          </p:cNvPr>
          <p:cNvSpPr/>
          <p:nvPr/>
        </p:nvSpPr>
        <p:spPr bwMode="gray">
          <a:xfrm flipH="1">
            <a:off x="5917825" y="2108874"/>
            <a:ext cx="1429629" cy="7642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79" name="Straight Connector 78">
            <a:extLst>
              <a:ext uri="{FF2B5EF4-FFF2-40B4-BE49-F238E27FC236}">
                <a16:creationId xmlns:a16="http://schemas.microsoft.com/office/drawing/2014/main" id="{7CD4B7D3-2BC1-49EC-9697-681DFA0AA015}"/>
              </a:ext>
            </a:extLst>
          </p:cNvPr>
          <p:cNvCxnSpPr>
            <a:cxnSpLocks/>
            <a:stCxn id="82" idx="2"/>
            <a:endCxn id="77" idx="0"/>
          </p:cNvCxnSpPr>
          <p:nvPr/>
        </p:nvCxnSpPr>
        <p:spPr bwMode="gray">
          <a:xfrm>
            <a:off x="6859599" y="2730553"/>
            <a:ext cx="789501" cy="93835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6C89FFB-C414-4CC5-BE4A-BE66D6A7EE68}"/>
              </a:ext>
            </a:extLst>
          </p:cNvPr>
          <p:cNvCxnSpPr>
            <a:cxnSpLocks/>
            <a:stCxn id="81" idx="2"/>
            <a:endCxn id="76" idx="0"/>
          </p:cNvCxnSpPr>
          <p:nvPr/>
        </p:nvCxnSpPr>
        <p:spPr bwMode="gray">
          <a:xfrm flipH="1">
            <a:off x="5656016" y="2731321"/>
            <a:ext cx="742941" cy="969857"/>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81" name="Picture 12" descr="E:\2016.01\1.12 扁平化图标\蓝色\AR-蓝色最新-40.png">
            <a:extLst>
              <a:ext uri="{FF2B5EF4-FFF2-40B4-BE49-F238E27FC236}">
                <a16:creationId xmlns:a16="http://schemas.microsoft.com/office/drawing/2014/main" id="{823CBD70-C5D7-42E6-B614-3F49B6C916D6}"/>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6245562" y="2480312"/>
            <a:ext cx="306789" cy="251009"/>
          </a:xfrm>
          <a:prstGeom prst="rect">
            <a:avLst/>
          </a:prstGeom>
          <a:noFill/>
        </p:spPr>
      </p:pic>
      <p:pic>
        <p:nvPicPr>
          <p:cNvPr id="82" name="Picture 12" descr="E:\2016.01\1.12 扁平化图标\蓝色\AR-蓝色最新-40.png">
            <a:extLst>
              <a:ext uri="{FF2B5EF4-FFF2-40B4-BE49-F238E27FC236}">
                <a16:creationId xmlns:a16="http://schemas.microsoft.com/office/drawing/2014/main" id="{80AADB6B-4D9A-47AC-B2EF-127D77A3D10D}"/>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6706204" y="2479544"/>
            <a:ext cx="306789" cy="251009"/>
          </a:xfrm>
          <a:prstGeom prst="rect">
            <a:avLst/>
          </a:prstGeom>
          <a:noFill/>
        </p:spPr>
      </p:pic>
      <p:sp>
        <p:nvSpPr>
          <p:cNvPr id="83" name="TextBox 82">
            <a:extLst>
              <a:ext uri="{FF2B5EF4-FFF2-40B4-BE49-F238E27FC236}">
                <a16:creationId xmlns:a16="http://schemas.microsoft.com/office/drawing/2014/main" id="{7E57E4EB-222A-4384-B1D8-65F6D2D2F8F7}"/>
              </a:ext>
            </a:extLst>
          </p:cNvPr>
          <p:cNvSpPr txBox="1"/>
          <p:nvPr/>
        </p:nvSpPr>
        <p:spPr bwMode="gray">
          <a:xfrm>
            <a:off x="6220869" y="2215540"/>
            <a:ext cx="836286" cy="307777"/>
          </a:xfrm>
          <a:prstGeom prst="rect">
            <a:avLst/>
          </a:prstGeom>
          <a:noFill/>
        </p:spPr>
        <p:txBody>
          <a:bodyPr wrap="square" rtlCol="0">
            <a:spAutoFit/>
          </a:bodyPr>
          <a:lstStyle/>
          <a:p>
            <a:pPr algn="ctr"/>
            <a:r>
              <a:rPr lang="en-US" altLang="zh-CN" sz="1400"/>
              <a:t>Hub</a:t>
            </a:r>
            <a:endParaRPr lang="zh-CN" altLang="en-US" sz="1600" dirty="0"/>
          </a:p>
        </p:txBody>
      </p:sp>
      <p:pic>
        <p:nvPicPr>
          <p:cNvPr id="84" name="Picture 12" descr="E:\2016.01\1.12 扁平化图标\蓝色\AR-蓝色最新-40.png">
            <a:extLst>
              <a:ext uri="{FF2B5EF4-FFF2-40B4-BE49-F238E27FC236}">
                <a16:creationId xmlns:a16="http://schemas.microsoft.com/office/drawing/2014/main" id="{1A7E10E4-C835-44D4-9106-68B19327D831}"/>
              </a:ext>
            </a:extLst>
          </p:cNvPr>
          <p:cNvPicPr>
            <a:picLocks noChangeAspect="1" noChangeArrowheads="1"/>
          </p:cNvPicPr>
          <p:nvPr/>
        </p:nvPicPr>
        <p:blipFill>
          <a:blip r:embed="rId3" cstate="print"/>
          <a:srcRect/>
          <a:stretch>
            <a:fillRect/>
          </a:stretch>
        </p:blipFill>
        <p:spPr bwMode="gray">
          <a:xfrm>
            <a:off x="7144699" y="5000791"/>
            <a:ext cx="474524" cy="388247"/>
          </a:xfrm>
          <a:prstGeom prst="rect">
            <a:avLst/>
          </a:prstGeom>
          <a:noFill/>
        </p:spPr>
      </p:pic>
      <p:pic>
        <p:nvPicPr>
          <p:cNvPr id="85" name="Picture 12" descr="E:\2016.01\1.12 扁平化图标\蓝色\AR-蓝色最新-40.png">
            <a:extLst>
              <a:ext uri="{FF2B5EF4-FFF2-40B4-BE49-F238E27FC236}">
                <a16:creationId xmlns:a16="http://schemas.microsoft.com/office/drawing/2014/main" id="{52CB6EC6-BFCF-4834-BB20-491F1FB3302E}"/>
              </a:ext>
            </a:extLst>
          </p:cNvPr>
          <p:cNvPicPr>
            <a:picLocks noChangeAspect="1" noChangeArrowheads="1"/>
          </p:cNvPicPr>
          <p:nvPr/>
        </p:nvPicPr>
        <p:blipFill>
          <a:blip r:embed="rId3" cstate="print"/>
          <a:srcRect/>
          <a:stretch>
            <a:fillRect/>
          </a:stretch>
        </p:blipFill>
        <p:spPr bwMode="gray">
          <a:xfrm>
            <a:off x="7832156" y="5001853"/>
            <a:ext cx="474524" cy="388247"/>
          </a:xfrm>
          <a:prstGeom prst="rect">
            <a:avLst/>
          </a:prstGeom>
          <a:noFill/>
        </p:spPr>
      </p:pic>
      <p:sp>
        <p:nvSpPr>
          <p:cNvPr id="86" name="TextBox 85">
            <a:extLst>
              <a:ext uri="{FF2B5EF4-FFF2-40B4-BE49-F238E27FC236}">
                <a16:creationId xmlns:a16="http://schemas.microsoft.com/office/drawing/2014/main" id="{F22DEB48-3539-43BF-A514-EEE569804466}"/>
              </a:ext>
            </a:extLst>
          </p:cNvPr>
          <p:cNvSpPr txBox="1"/>
          <p:nvPr/>
        </p:nvSpPr>
        <p:spPr bwMode="gray">
          <a:xfrm>
            <a:off x="7453820" y="5355061"/>
            <a:ext cx="543739" cy="307777"/>
          </a:xfrm>
          <a:prstGeom prst="rect">
            <a:avLst/>
          </a:prstGeom>
          <a:noFill/>
        </p:spPr>
        <p:txBody>
          <a:bodyPr wrap="none" rtlCol="0">
            <a:spAutoFit/>
          </a:bodyPr>
          <a:lstStyle/>
          <a:p>
            <a:r>
              <a:rPr lang="zh-CN" altLang="en-US" sz="1400" dirty="0"/>
              <a:t>分支</a:t>
            </a:r>
          </a:p>
        </p:txBody>
      </p:sp>
      <p:cxnSp>
        <p:nvCxnSpPr>
          <p:cNvPr id="87" name="Straight Connector 86">
            <a:extLst>
              <a:ext uri="{FF2B5EF4-FFF2-40B4-BE49-F238E27FC236}">
                <a16:creationId xmlns:a16="http://schemas.microsoft.com/office/drawing/2014/main" id="{97027FA7-4205-401C-AD2F-7E93BA278B84}"/>
              </a:ext>
            </a:extLst>
          </p:cNvPr>
          <p:cNvCxnSpPr>
            <a:cxnSpLocks/>
            <a:endCxn id="84" idx="0"/>
          </p:cNvCxnSpPr>
          <p:nvPr/>
        </p:nvCxnSpPr>
        <p:spPr bwMode="gray">
          <a:xfrm>
            <a:off x="5721204" y="4362092"/>
            <a:ext cx="1660757" cy="63869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03D48CF-AFAB-48D6-B9EC-DD3BB3BDC324}"/>
              </a:ext>
            </a:extLst>
          </p:cNvPr>
          <p:cNvCxnSpPr>
            <a:cxnSpLocks/>
            <a:endCxn id="85" idx="0"/>
          </p:cNvCxnSpPr>
          <p:nvPr/>
        </p:nvCxnSpPr>
        <p:spPr bwMode="gray">
          <a:xfrm>
            <a:off x="7832156" y="4347181"/>
            <a:ext cx="237262" cy="65467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B466DC7-5D14-4BED-990A-F04C96F9DEB0}"/>
              </a:ext>
            </a:extLst>
          </p:cNvPr>
          <p:cNvCxnSpPr>
            <a:cxnSpLocks/>
            <a:stCxn id="85" idx="1"/>
            <a:endCxn id="84" idx="3"/>
          </p:cNvCxnSpPr>
          <p:nvPr/>
        </p:nvCxnSpPr>
        <p:spPr bwMode="gray">
          <a:xfrm flipH="1" flipV="1">
            <a:off x="7619223" y="5194915"/>
            <a:ext cx="212933" cy="1062"/>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90" name="Picture 12" descr="E:\2016.01\1.12 扁平化图标\蓝色\AR-蓝色最新-40.png">
            <a:extLst>
              <a:ext uri="{FF2B5EF4-FFF2-40B4-BE49-F238E27FC236}">
                <a16:creationId xmlns:a16="http://schemas.microsoft.com/office/drawing/2014/main" id="{791C1C78-5AFD-4723-9ECA-8CB978536524}"/>
              </a:ext>
            </a:extLst>
          </p:cNvPr>
          <p:cNvPicPr>
            <a:picLocks noChangeAspect="1" noChangeArrowheads="1"/>
          </p:cNvPicPr>
          <p:nvPr/>
        </p:nvPicPr>
        <p:blipFill>
          <a:blip r:embed="rId3" cstate="print"/>
          <a:srcRect/>
          <a:stretch>
            <a:fillRect/>
          </a:stretch>
        </p:blipFill>
        <p:spPr bwMode="gray">
          <a:xfrm>
            <a:off x="4419512" y="3143609"/>
            <a:ext cx="474524" cy="388247"/>
          </a:xfrm>
          <a:prstGeom prst="rect">
            <a:avLst/>
          </a:prstGeom>
          <a:noFill/>
        </p:spPr>
      </p:pic>
      <p:pic>
        <p:nvPicPr>
          <p:cNvPr id="91" name="Picture 12" descr="E:\2016.01\1.12 扁平化图标\蓝色\AR-蓝色最新-40.png">
            <a:extLst>
              <a:ext uri="{FF2B5EF4-FFF2-40B4-BE49-F238E27FC236}">
                <a16:creationId xmlns:a16="http://schemas.microsoft.com/office/drawing/2014/main" id="{66A4D4BC-A813-4258-B821-7C3FCC61D2AA}"/>
              </a:ext>
            </a:extLst>
          </p:cNvPr>
          <p:cNvPicPr>
            <a:picLocks noChangeAspect="1" noChangeArrowheads="1"/>
          </p:cNvPicPr>
          <p:nvPr/>
        </p:nvPicPr>
        <p:blipFill>
          <a:blip r:embed="rId3" cstate="print"/>
          <a:srcRect/>
          <a:stretch>
            <a:fillRect/>
          </a:stretch>
        </p:blipFill>
        <p:spPr bwMode="gray">
          <a:xfrm>
            <a:off x="8459194" y="3100577"/>
            <a:ext cx="474524" cy="388247"/>
          </a:xfrm>
          <a:prstGeom prst="rect">
            <a:avLst/>
          </a:prstGeom>
          <a:noFill/>
        </p:spPr>
      </p:pic>
      <p:cxnSp>
        <p:nvCxnSpPr>
          <p:cNvPr id="92" name="Straight Connector 91">
            <a:extLst>
              <a:ext uri="{FF2B5EF4-FFF2-40B4-BE49-F238E27FC236}">
                <a16:creationId xmlns:a16="http://schemas.microsoft.com/office/drawing/2014/main" id="{7657C53E-5A1F-4586-B047-24EBA9892C47}"/>
              </a:ext>
            </a:extLst>
          </p:cNvPr>
          <p:cNvCxnSpPr>
            <a:cxnSpLocks/>
            <a:stCxn id="76" idx="21"/>
            <a:endCxn id="90" idx="2"/>
          </p:cNvCxnSpPr>
          <p:nvPr/>
        </p:nvCxnSpPr>
        <p:spPr bwMode="gray">
          <a:xfrm flipH="1" flipV="1">
            <a:off x="4656774" y="3531856"/>
            <a:ext cx="531103" cy="6222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96C6F2E-4AA2-43B8-B462-2D3F87A7CDB3}"/>
              </a:ext>
            </a:extLst>
          </p:cNvPr>
          <p:cNvCxnSpPr>
            <a:cxnSpLocks/>
            <a:stCxn id="77" idx="21"/>
            <a:endCxn id="90" idx="3"/>
          </p:cNvCxnSpPr>
          <p:nvPr/>
        </p:nvCxnSpPr>
        <p:spPr bwMode="gray">
          <a:xfrm flipH="1" flipV="1">
            <a:off x="4894036" y="3337733"/>
            <a:ext cx="2286925" cy="78408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7D14FB1C-D2E5-4CE3-B0B9-5C9215589B82}"/>
              </a:ext>
            </a:extLst>
          </p:cNvPr>
          <p:cNvCxnSpPr>
            <a:cxnSpLocks/>
            <a:stCxn id="91" idx="2"/>
            <a:endCxn id="77" idx="8"/>
          </p:cNvCxnSpPr>
          <p:nvPr/>
        </p:nvCxnSpPr>
        <p:spPr bwMode="gray">
          <a:xfrm flipH="1">
            <a:off x="8374898" y="3488824"/>
            <a:ext cx="321558" cy="62123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58B3EDD0-3068-41A3-8B70-11F19B284189}"/>
              </a:ext>
            </a:extLst>
          </p:cNvPr>
          <p:cNvSpPr txBox="1"/>
          <p:nvPr/>
        </p:nvSpPr>
        <p:spPr bwMode="gray">
          <a:xfrm>
            <a:off x="4427875" y="2898883"/>
            <a:ext cx="460382" cy="276999"/>
          </a:xfrm>
          <a:prstGeom prst="rect">
            <a:avLst/>
          </a:prstGeom>
          <a:noFill/>
        </p:spPr>
        <p:txBody>
          <a:bodyPr wrap="none" rtlCol="0">
            <a:spAutoFit/>
          </a:bodyPr>
          <a:lstStyle/>
          <a:p>
            <a:r>
              <a:rPr lang="en-US" altLang="zh-CN" sz="1200" dirty="0"/>
              <a:t>RR1</a:t>
            </a:r>
            <a:endParaRPr lang="zh-CN" altLang="en-US" sz="1200" dirty="0"/>
          </a:p>
        </p:txBody>
      </p:sp>
      <p:sp>
        <p:nvSpPr>
          <p:cNvPr id="96" name="TextBox 95">
            <a:extLst>
              <a:ext uri="{FF2B5EF4-FFF2-40B4-BE49-F238E27FC236}">
                <a16:creationId xmlns:a16="http://schemas.microsoft.com/office/drawing/2014/main" id="{6F2AF931-27CB-4DAE-94FE-864ACCB514D9}"/>
              </a:ext>
            </a:extLst>
          </p:cNvPr>
          <p:cNvSpPr txBox="1"/>
          <p:nvPr/>
        </p:nvSpPr>
        <p:spPr bwMode="gray">
          <a:xfrm>
            <a:off x="8484094" y="2895702"/>
            <a:ext cx="460382" cy="276999"/>
          </a:xfrm>
          <a:prstGeom prst="rect">
            <a:avLst/>
          </a:prstGeom>
          <a:noFill/>
        </p:spPr>
        <p:txBody>
          <a:bodyPr wrap="none" rtlCol="0">
            <a:spAutoFit/>
          </a:bodyPr>
          <a:lstStyle/>
          <a:p>
            <a:r>
              <a:rPr lang="en-US" altLang="zh-CN" sz="1200" dirty="0"/>
              <a:t>RR2</a:t>
            </a:r>
            <a:endParaRPr lang="zh-CN" altLang="en-US" sz="1200" dirty="0"/>
          </a:p>
        </p:txBody>
      </p:sp>
      <p:pic>
        <p:nvPicPr>
          <p:cNvPr id="97" name="Picture 12" descr="E:\2016.01\1.12 扁平化图标\蓝色\AR-蓝色最新-40.png">
            <a:extLst>
              <a:ext uri="{FF2B5EF4-FFF2-40B4-BE49-F238E27FC236}">
                <a16:creationId xmlns:a16="http://schemas.microsoft.com/office/drawing/2014/main" id="{B93DBB41-0FBC-423B-9D09-6BAE458BEE9B}"/>
              </a:ext>
            </a:extLst>
          </p:cNvPr>
          <p:cNvPicPr>
            <a:picLocks noChangeAspect="1" noChangeArrowheads="1"/>
          </p:cNvPicPr>
          <p:nvPr/>
        </p:nvPicPr>
        <p:blipFill>
          <a:blip r:embed="rId3" cstate="print"/>
          <a:srcRect/>
          <a:stretch>
            <a:fillRect/>
          </a:stretch>
        </p:blipFill>
        <p:spPr bwMode="gray">
          <a:xfrm>
            <a:off x="5624474" y="2410334"/>
            <a:ext cx="474524" cy="388247"/>
          </a:xfrm>
          <a:prstGeom prst="rect">
            <a:avLst/>
          </a:prstGeom>
          <a:noFill/>
        </p:spPr>
      </p:pic>
      <p:pic>
        <p:nvPicPr>
          <p:cNvPr id="98" name="Picture 12" descr="E:\2016.01\1.12 扁平化图标\蓝色\AR-蓝色最新-40.png">
            <a:extLst>
              <a:ext uri="{FF2B5EF4-FFF2-40B4-BE49-F238E27FC236}">
                <a16:creationId xmlns:a16="http://schemas.microsoft.com/office/drawing/2014/main" id="{EC13DEF1-D967-40A5-BBAE-143FB774ED51}"/>
              </a:ext>
            </a:extLst>
          </p:cNvPr>
          <p:cNvPicPr>
            <a:picLocks noChangeAspect="1" noChangeArrowheads="1"/>
          </p:cNvPicPr>
          <p:nvPr/>
        </p:nvPicPr>
        <p:blipFill>
          <a:blip r:embed="rId3" cstate="print"/>
          <a:srcRect/>
          <a:stretch>
            <a:fillRect/>
          </a:stretch>
        </p:blipFill>
        <p:spPr bwMode="gray">
          <a:xfrm>
            <a:off x="7180961" y="2412016"/>
            <a:ext cx="474524" cy="388247"/>
          </a:xfrm>
          <a:prstGeom prst="rect">
            <a:avLst/>
          </a:prstGeom>
          <a:noFill/>
        </p:spPr>
      </p:pic>
      <p:cxnSp>
        <p:nvCxnSpPr>
          <p:cNvPr id="99" name="Straight Connector 98">
            <a:extLst>
              <a:ext uri="{FF2B5EF4-FFF2-40B4-BE49-F238E27FC236}">
                <a16:creationId xmlns:a16="http://schemas.microsoft.com/office/drawing/2014/main" id="{837B66FD-26AB-4BA4-9E24-7C4B64222C6B}"/>
              </a:ext>
            </a:extLst>
          </p:cNvPr>
          <p:cNvCxnSpPr>
            <a:cxnSpLocks/>
            <a:stCxn id="97" idx="3"/>
            <a:endCxn id="81" idx="1"/>
          </p:cNvCxnSpPr>
          <p:nvPr/>
        </p:nvCxnSpPr>
        <p:spPr bwMode="gray">
          <a:xfrm>
            <a:off x="6098998" y="2604458"/>
            <a:ext cx="146564" cy="13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3F76246-5CF5-470D-81EE-C780E5E127D6}"/>
              </a:ext>
            </a:extLst>
          </p:cNvPr>
          <p:cNvCxnSpPr>
            <a:cxnSpLocks/>
            <a:stCxn id="82" idx="3"/>
            <a:endCxn id="98" idx="1"/>
          </p:cNvCxnSpPr>
          <p:nvPr/>
        </p:nvCxnSpPr>
        <p:spPr bwMode="gray">
          <a:xfrm>
            <a:off x="7012993" y="2605049"/>
            <a:ext cx="167968" cy="109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74D1EA01-37D3-43C1-A487-41BEB50A1BDE}"/>
              </a:ext>
            </a:extLst>
          </p:cNvPr>
          <p:cNvSpPr txBox="1"/>
          <p:nvPr/>
        </p:nvSpPr>
        <p:spPr bwMode="gray">
          <a:xfrm>
            <a:off x="5051352" y="5040945"/>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102" name="TextBox 101">
            <a:extLst>
              <a:ext uri="{FF2B5EF4-FFF2-40B4-BE49-F238E27FC236}">
                <a16:creationId xmlns:a16="http://schemas.microsoft.com/office/drawing/2014/main" id="{BB3A27E4-4765-4AF4-A118-9F234D297B4F}"/>
              </a:ext>
            </a:extLst>
          </p:cNvPr>
          <p:cNvSpPr txBox="1"/>
          <p:nvPr/>
        </p:nvSpPr>
        <p:spPr bwMode="gray">
          <a:xfrm>
            <a:off x="6727431" y="5050622"/>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103" name="TextBox 102">
            <a:extLst>
              <a:ext uri="{FF2B5EF4-FFF2-40B4-BE49-F238E27FC236}">
                <a16:creationId xmlns:a16="http://schemas.microsoft.com/office/drawing/2014/main" id="{D8FDAD40-0DF7-42F3-A864-0AC8F1232424}"/>
              </a:ext>
            </a:extLst>
          </p:cNvPr>
          <p:cNvSpPr txBox="1"/>
          <p:nvPr/>
        </p:nvSpPr>
        <p:spPr bwMode="gray">
          <a:xfrm>
            <a:off x="8251159" y="5050622"/>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104" name="TextBox 103">
            <a:extLst>
              <a:ext uri="{FF2B5EF4-FFF2-40B4-BE49-F238E27FC236}">
                <a16:creationId xmlns:a16="http://schemas.microsoft.com/office/drawing/2014/main" id="{8F8D1F3A-BB07-4C72-9321-002D41BE31E6}"/>
              </a:ext>
            </a:extLst>
          </p:cNvPr>
          <p:cNvSpPr txBox="1"/>
          <p:nvPr/>
        </p:nvSpPr>
        <p:spPr bwMode="gray">
          <a:xfrm>
            <a:off x="5471447" y="2163077"/>
            <a:ext cx="700833" cy="276999"/>
          </a:xfrm>
          <a:prstGeom prst="rect">
            <a:avLst/>
          </a:prstGeom>
          <a:noFill/>
        </p:spPr>
        <p:txBody>
          <a:bodyPr wrap="none" rtlCol="0">
            <a:spAutoFit/>
          </a:bodyPr>
          <a:lstStyle/>
          <a:p>
            <a:r>
              <a:rPr lang="en-US" altLang="zh-CN" sz="1200" dirty="0"/>
              <a:t>CPE/RR</a:t>
            </a:r>
            <a:endParaRPr lang="zh-CN" altLang="en-US" sz="1200" dirty="0"/>
          </a:p>
        </p:txBody>
      </p:sp>
      <p:sp>
        <p:nvSpPr>
          <p:cNvPr id="105" name="TextBox 104">
            <a:extLst>
              <a:ext uri="{FF2B5EF4-FFF2-40B4-BE49-F238E27FC236}">
                <a16:creationId xmlns:a16="http://schemas.microsoft.com/office/drawing/2014/main" id="{F66ADEF1-F6F6-4BB2-BEE8-934F8FC0F526}"/>
              </a:ext>
            </a:extLst>
          </p:cNvPr>
          <p:cNvSpPr txBox="1"/>
          <p:nvPr/>
        </p:nvSpPr>
        <p:spPr bwMode="gray">
          <a:xfrm>
            <a:off x="7077096" y="2180351"/>
            <a:ext cx="700833" cy="276999"/>
          </a:xfrm>
          <a:prstGeom prst="rect">
            <a:avLst/>
          </a:prstGeom>
          <a:noFill/>
        </p:spPr>
        <p:txBody>
          <a:bodyPr wrap="none" rtlCol="0">
            <a:spAutoFit/>
          </a:bodyPr>
          <a:lstStyle/>
          <a:p>
            <a:r>
              <a:rPr lang="en-US" altLang="zh-CN" sz="1200" dirty="0"/>
              <a:t>CPE/RR</a:t>
            </a:r>
            <a:endParaRPr lang="zh-CN" altLang="en-US" sz="1200" dirty="0"/>
          </a:p>
        </p:txBody>
      </p:sp>
      <p:cxnSp>
        <p:nvCxnSpPr>
          <p:cNvPr id="106" name="Straight Connector 105">
            <a:extLst>
              <a:ext uri="{FF2B5EF4-FFF2-40B4-BE49-F238E27FC236}">
                <a16:creationId xmlns:a16="http://schemas.microsoft.com/office/drawing/2014/main" id="{8C83C753-077C-44FB-B4BF-1C6DCE84EEB3}"/>
              </a:ext>
            </a:extLst>
          </p:cNvPr>
          <p:cNvCxnSpPr>
            <a:cxnSpLocks/>
            <a:stCxn id="82" idx="1"/>
            <a:endCxn id="81" idx="3"/>
          </p:cNvCxnSpPr>
          <p:nvPr/>
        </p:nvCxnSpPr>
        <p:spPr bwMode="gray">
          <a:xfrm flipH="1">
            <a:off x="6552351" y="2605049"/>
            <a:ext cx="153853" cy="76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9" name="Rectangular Callout 26">
            <a:extLst>
              <a:ext uri="{FF2B5EF4-FFF2-40B4-BE49-F238E27FC236}">
                <a16:creationId xmlns:a16="http://schemas.microsoft.com/office/drawing/2014/main" id="{6864FDCD-B8C6-487D-BD87-AE96E1D8E6A7}"/>
              </a:ext>
            </a:extLst>
          </p:cNvPr>
          <p:cNvSpPr/>
          <p:nvPr/>
        </p:nvSpPr>
        <p:spPr bwMode="gray">
          <a:xfrm>
            <a:off x="8960272" y="2730554"/>
            <a:ext cx="988249" cy="400484"/>
          </a:xfrm>
          <a:prstGeom prst="wedgeRectCallout">
            <a:avLst>
              <a:gd name="adj1" fmla="val -41587"/>
              <a:gd name="adj2" fmla="val 7594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站点可靠性设计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10" name="图片 14" descr="交换机.png">
            <a:extLst>
              <a:ext uri="{FF2B5EF4-FFF2-40B4-BE49-F238E27FC236}">
                <a16:creationId xmlns:a16="http://schemas.microsoft.com/office/drawing/2014/main" id="{E29FB87C-5190-46FC-BE63-72979510A3CB}"/>
              </a:ext>
            </a:extLst>
          </p:cNvPr>
          <p:cNvPicPr>
            <a:picLocks noChangeAspect="1"/>
          </p:cNvPicPr>
          <p:nvPr/>
        </p:nvPicPr>
        <p:blipFill>
          <a:blip r:embed="rId4" cstate="print"/>
          <a:stretch>
            <a:fillRect/>
          </a:stretch>
        </p:blipFill>
        <p:spPr bwMode="gray">
          <a:xfrm>
            <a:off x="4566446" y="2205566"/>
            <a:ext cx="474526" cy="388247"/>
          </a:xfrm>
          <a:prstGeom prst="rect">
            <a:avLst/>
          </a:prstGeom>
        </p:spPr>
      </p:pic>
      <p:cxnSp>
        <p:nvCxnSpPr>
          <p:cNvPr id="111" name="Straight Connector 110">
            <a:extLst>
              <a:ext uri="{FF2B5EF4-FFF2-40B4-BE49-F238E27FC236}">
                <a16:creationId xmlns:a16="http://schemas.microsoft.com/office/drawing/2014/main" id="{F249BBDC-1EA6-4CD5-9B3F-4E1CE9040A92}"/>
              </a:ext>
            </a:extLst>
          </p:cNvPr>
          <p:cNvCxnSpPr>
            <a:cxnSpLocks/>
            <a:stCxn id="110" idx="2"/>
            <a:endCxn id="76" idx="0"/>
          </p:cNvCxnSpPr>
          <p:nvPr/>
        </p:nvCxnSpPr>
        <p:spPr bwMode="gray">
          <a:xfrm>
            <a:off x="4803709" y="2593813"/>
            <a:ext cx="852307" cy="110736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2" name="Rectangular Callout 26">
            <a:extLst>
              <a:ext uri="{FF2B5EF4-FFF2-40B4-BE49-F238E27FC236}">
                <a16:creationId xmlns:a16="http://schemas.microsoft.com/office/drawing/2014/main" id="{574741E5-D623-4918-9B97-55674F13F94E}"/>
              </a:ext>
            </a:extLst>
          </p:cNvPr>
          <p:cNvSpPr/>
          <p:nvPr/>
        </p:nvSpPr>
        <p:spPr bwMode="gray">
          <a:xfrm>
            <a:off x="3380726" y="2388407"/>
            <a:ext cx="1025039" cy="485982"/>
          </a:xfrm>
          <a:prstGeom prst="wedgeRectCallout">
            <a:avLst>
              <a:gd name="adj1" fmla="val 61082"/>
              <a:gd name="adj2" fmla="val -2857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控制器可靠性设计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13" name="图片 21">
            <a:extLst>
              <a:ext uri="{FF2B5EF4-FFF2-40B4-BE49-F238E27FC236}">
                <a16:creationId xmlns:a16="http://schemas.microsoft.com/office/drawing/2014/main" id="{2437AB42-A871-4BBE-B22E-6CC0AFA5D36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7576866" y="4147814"/>
            <a:ext cx="467490" cy="382800"/>
          </a:xfrm>
          <a:prstGeom prst="rect">
            <a:avLst/>
          </a:prstGeom>
        </p:spPr>
      </p:pic>
      <p:sp>
        <p:nvSpPr>
          <p:cNvPr id="114" name="TextBox 113">
            <a:extLst>
              <a:ext uri="{FF2B5EF4-FFF2-40B4-BE49-F238E27FC236}">
                <a16:creationId xmlns:a16="http://schemas.microsoft.com/office/drawing/2014/main" id="{C906B6DF-120B-43B1-B8D0-62F856B3AFF1}"/>
              </a:ext>
            </a:extLst>
          </p:cNvPr>
          <p:cNvSpPr txBox="1"/>
          <p:nvPr/>
        </p:nvSpPr>
        <p:spPr bwMode="gray">
          <a:xfrm>
            <a:off x="8010034" y="4289490"/>
            <a:ext cx="797013" cy="276999"/>
          </a:xfrm>
          <a:prstGeom prst="rect">
            <a:avLst/>
          </a:prstGeom>
          <a:noFill/>
        </p:spPr>
        <p:txBody>
          <a:bodyPr wrap="none" rtlCol="0">
            <a:spAutoFit/>
          </a:bodyPr>
          <a:lstStyle/>
          <a:p>
            <a:r>
              <a:rPr lang="en-US" altLang="zh-CN" sz="1200" dirty="0"/>
              <a:t>NAT</a:t>
            </a:r>
            <a:r>
              <a:rPr lang="zh-CN" altLang="en-US" sz="1200" dirty="0"/>
              <a:t>设备</a:t>
            </a:r>
          </a:p>
        </p:txBody>
      </p:sp>
      <p:cxnSp>
        <p:nvCxnSpPr>
          <p:cNvPr id="116" name="Straight Connector 115">
            <a:extLst>
              <a:ext uri="{FF2B5EF4-FFF2-40B4-BE49-F238E27FC236}">
                <a16:creationId xmlns:a16="http://schemas.microsoft.com/office/drawing/2014/main" id="{C010B479-E2C2-4235-B374-6D16CB5EAABC}"/>
              </a:ext>
            </a:extLst>
          </p:cNvPr>
          <p:cNvCxnSpPr>
            <a:cxnSpLocks/>
            <a:stCxn id="91" idx="1"/>
            <a:endCxn id="76" idx="8"/>
          </p:cNvCxnSpPr>
          <p:nvPr/>
        </p:nvCxnSpPr>
        <p:spPr bwMode="gray">
          <a:xfrm flipH="1">
            <a:off x="6381814" y="3294701"/>
            <a:ext cx="2077380" cy="84762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6D4B5E6A-A027-4D05-9510-682B480A3565}"/>
              </a:ext>
            </a:extLst>
          </p:cNvPr>
          <p:cNvSpPr txBox="1"/>
          <p:nvPr/>
        </p:nvSpPr>
        <p:spPr bwMode="gray">
          <a:xfrm>
            <a:off x="4268072" y="1924222"/>
            <a:ext cx="1056700" cy="276999"/>
          </a:xfrm>
          <a:prstGeom prst="rect">
            <a:avLst/>
          </a:prstGeom>
          <a:noFill/>
        </p:spPr>
        <p:txBody>
          <a:bodyPr wrap="none" rtlCol="0">
            <a:spAutoFit/>
          </a:bodyPr>
          <a:lstStyle/>
          <a:p>
            <a:r>
              <a:rPr lang="en-US" altLang="zh-CN" sz="1200" dirty="0" err="1"/>
              <a:t>iMaster</a:t>
            </a:r>
            <a:r>
              <a:rPr lang="en-US" altLang="zh-CN" sz="1200" dirty="0"/>
              <a:t> NCE</a:t>
            </a:r>
            <a:endParaRPr lang="zh-CN" altLang="en-US" sz="1200" dirty="0"/>
          </a:p>
        </p:txBody>
      </p:sp>
      <p:sp>
        <p:nvSpPr>
          <p:cNvPr id="56" name="Rectangular Callout 26">
            <a:extLst>
              <a:ext uri="{FF2B5EF4-FFF2-40B4-BE49-F238E27FC236}">
                <a16:creationId xmlns:a16="http://schemas.microsoft.com/office/drawing/2014/main" id="{D2BF3506-173C-42C5-B234-F48EA8AC5CC6}"/>
              </a:ext>
            </a:extLst>
          </p:cNvPr>
          <p:cNvSpPr/>
          <p:nvPr/>
        </p:nvSpPr>
        <p:spPr bwMode="gray">
          <a:xfrm>
            <a:off x="7254349" y="1709313"/>
            <a:ext cx="988249" cy="412440"/>
          </a:xfrm>
          <a:prstGeom prst="wedgeRectCallout">
            <a:avLst>
              <a:gd name="adj1" fmla="val -41587"/>
              <a:gd name="adj2" fmla="val 7594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站点可靠性设计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3" name="Straight Connector 52">
            <a:extLst>
              <a:ext uri="{FF2B5EF4-FFF2-40B4-BE49-F238E27FC236}">
                <a16:creationId xmlns:a16="http://schemas.microsoft.com/office/drawing/2014/main" id="{0C53851E-5A0B-4D1C-959B-4CA337B482A4}"/>
              </a:ext>
            </a:extLst>
          </p:cNvPr>
          <p:cNvCxnSpPr>
            <a:cxnSpLocks/>
            <a:stCxn id="76" idx="21"/>
            <a:endCxn id="52" idx="3"/>
          </p:cNvCxnSpPr>
          <p:nvPr/>
        </p:nvCxnSpPr>
        <p:spPr bwMode="gray">
          <a:xfrm flipH="1">
            <a:off x="4659483" y="4154088"/>
            <a:ext cx="528394" cy="17906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7" name="Freeform 159">
            <a:extLst>
              <a:ext uri="{FF2B5EF4-FFF2-40B4-BE49-F238E27FC236}">
                <a16:creationId xmlns:a16="http://schemas.microsoft.com/office/drawing/2014/main" id="{A0ADAE46-6C74-4BD6-8684-BE1C90CE4C77}"/>
              </a:ext>
            </a:extLst>
          </p:cNvPr>
          <p:cNvSpPr/>
          <p:nvPr/>
        </p:nvSpPr>
        <p:spPr bwMode="gray">
          <a:xfrm flipH="1">
            <a:off x="3234821" y="4004317"/>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pic>
        <p:nvPicPr>
          <p:cNvPr id="52" name="Picture 12" descr="E:\2016.01\1.12 扁平化图标\蓝色\AR-蓝色最新-40.png">
            <a:extLst>
              <a:ext uri="{FF2B5EF4-FFF2-40B4-BE49-F238E27FC236}">
                <a16:creationId xmlns:a16="http://schemas.microsoft.com/office/drawing/2014/main" id="{7900DCAD-1FA2-4866-83A8-AB36B2EC5A88}"/>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4184959" y="4139032"/>
            <a:ext cx="474524" cy="388247"/>
          </a:xfrm>
          <a:prstGeom prst="rect">
            <a:avLst/>
          </a:prstGeom>
          <a:noFill/>
        </p:spPr>
      </p:pic>
      <p:cxnSp>
        <p:nvCxnSpPr>
          <p:cNvPr id="60" name="Straight Connector 59">
            <a:extLst>
              <a:ext uri="{FF2B5EF4-FFF2-40B4-BE49-F238E27FC236}">
                <a16:creationId xmlns:a16="http://schemas.microsoft.com/office/drawing/2014/main" id="{D12043B8-2F37-4C41-A8FA-04BA795BC655}"/>
              </a:ext>
            </a:extLst>
          </p:cNvPr>
          <p:cNvCxnSpPr>
            <a:cxnSpLocks/>
            <a:stCxn id="57" idx="21"/>
            <a:endCxn id="58" idx="0"/>
          </p:cNvCxnSpPr>
          <p:nvPr/>
        </p:nvCxnSpPr>
        <p:spPr bwMode="gray">
          <a:xfrm flipH="1">
            <a:off x="2624940" y="4457227"/>
            <a:ext cx="609881" cy="34364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4" name="Freeform 159">
            <a:extLst>
              <a:ext uri="{FF2B5EF4-FFF2-40B4-BE49-F238E27FC236}">
                <a16:creationId xmlns:a16="http://schemas.microsoft.com/office/drawing/2014/main" id="{59B9E1C4-157B-4678-BC95-6B59BD22C3E5}"/>
              </a:ext>
            </a:extLst>
          </p:cNvPr>
          <p:cNvSpPr/>
          <p:nvPr/>
        </p:nvSpPr>
        <p:spPr bwMode="gray">
          <a:xfrm flipH="1">
            <a:off x="2026330" y="5001853"/>
            <a:ext cx="1208491"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传统站点</a:t>
            </a:r>
            <a:endParaRPr lang="en-US" sz="1400" dirty="0">
              <a:solidFill>
                <a:schemeClr val="tx1"/>
              </a:solidFill>
            </a:endParaRPr>
          </a:p>
        </p:txBody>
      </p:sp>
      <p:pic>
        <p:nvPicPr>
          <p:cNvPr id="58" name="Picture 12" descr="E:\2016.01\1.12 扁平化图标\蓝色\AR-蓝色最新-40.png">
            <a:extLst>
              <a:ext uri="{FF2B5EF4-FFF2-40B4-BE49-F238E27FC236}">
                <a16:creationId xmlns:a16="http://schemas.microsoft.com/office/drawing/2014/main" id="{7077BBA6-E1FE-481D-AC70-08EA54F6408C}"/>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2387678" y="4800873"/>
            <a:ext cx="474524" cy="388247"/>
          </a:xfrm>
          <a:prstGeom prst="rect">
            <a:avLst/>
          </a:prstGeom>
          <a:noFill/>
        </p:spPr>
      </p:pic>
      <p:sp>
        <p:nvSpPr>
          <p:cNvPr id="65" name="TextBox 64">
            <a:extLst>
              <a:ext uri="{FF2B5EF4-FFF2-40B4-BE49-F238E27FC236}">
                <a16:creationId xmlns:a16="http://schemas.microsoft.com/office/drawing/2014/main" id="{D2DD1CE2-A3FF-4BC9-BC8E-BDE9F5302FD7}"/>
              </a:ext>
            </a:extLst>
          </p:cNvPr>
          <p:cNvSpPr txBox="1"/>
          <p:nvPr/>
        </p:nvSpPr>
        <p:spPr bwMode="gray">
          <a:xfrm>
            <a:off x="4192465" y="3889297"/>
            <a:ext cx="486030" cy="276999"/>
          </a:xfrm>
          <a:prstGeom prst="rect">
            <a:avLst/>
          </a:prstGeom>
          <a:noFill/>
        </p:spPr>
        <p:txBody>
          <a:bodyPr wrap="none" rtlCol="0">
            <a:spAutoFit/>
          </a:bodyPr>
          <a:lstStyle/>
          <a:p>
            <a:r>
              <a:rPr lang="en-US" altLang="zh-CN" sz="1200" dirty="0"/>
              <a:t>IWG</a:t>
            </a:r>
            <a:endParaRPr lang="zh-CN" altLang="en-US" sz="1200" dirty="0"/>
          </a:p>
        </p:txBody>
      </p:sp>
      <p:sp>
        <p:nvSpPr>
          <p:cNvPr id="66" name="Rectangular Callout 26">
            <a:extLst>
              <a:ext uri="{FF2B5EF4-FFF2-40B4-BE49-F238E27FC236}">
                <a16:creationId xmlns:a16="http://schemas.microsoft.com/office/drawing/2014/main" id="{B3A10DB9-9E5E-455A-968E-C5AD578B6479}"/>
              </a:ext>
            </a:extLst>
          </p:cNvPr>
          <p:cNvSpPr/>
          <p:nvPr/>
        </p:nvSpPr>
        <p:spPr bwMode="gray">
          <a:xfrm>
            <a:off x="3630557" y="4679265"/>
            <a:ext cx="988249" cy="400484"/>
          </a:xfrm>
          <a:prstGeom prst="wedgeRectCallout">
            <a:avLst>
              <a:gd name="adj1" fmla="val 18712"/>
              <a:gd name="adj2" fmla="val -8055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站点可靠性设计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Rectangular Callout 26">
            <a:extLst>
              <a:ext uri="{FF2B5EF4-FFF2-40B4-BE49-F238E27FC236}">
                <a16:creationId xmlns:a16="http://schemas.microsoft.com/office/drawing/2014/main" id="{1190601C-8DDD-46BB-9763-CF18C66D7475}"/>
              </a:ext>
            </a:extLst>
          </p:cNvPr>
          <p:cNvSpPr/>
          <p:nvPr/>
        </p:nvSpPr>
        <p:spPr bwMode="gray">
          <a:xfrm>
            <a:off x="8374899" y="4592988"/>
            <a:ext cx="898194" cy="400484"/>
          </a:xfrm>
          <a:prstGeom prst="wedgeRectCallout">
            <a:avLst>
              <a:gd name="adj1" fmla="val -65535"/>
              <a:gd name="adj2" fmla="val 3564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安全设计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1" name="antivirus_139783">
            <a:extLst>
              <a:ext uri="{FF2B5EF4-FFF2-40B4-BE49-F238E27FC236}">
                <a16:creationId xmlns:a16="http://schemas.microsoft.com/office/drawing/2014/main" id="{87D79E76-A243-4C5A-9101-F63B28D26801}"/>
              </a:ext>
            </a:extLst>
          </p:cNvPr>
          <p:cNvSpPr>
            <a:spLocks noChangeAspect="1"/>
          </p:cNvSpPr>
          <p:nvPr/>
        </p:nvSpPr>
        <p:spPr bwMode="gray">
          <a:xfrm>
            <a:off x="7961396" y="4816480"/>
            <a:ext cx="236467" cy="307778"/>
          </a:xfrm>
          <a:custGeom>
            <a:avLst/>
            <a:gdLst>
              <a:gd name="connsiteX0" fmla="*/ 227062 w 466280"/>
              <a:gd name="connsiteY0" fmla="*/ 80509 h 606895"/>
              <a:gd name="connsiteX1" fmla="*/ 238458 w 466280"/>
              <a:gd name="connsiteY1" fmla="*/ 80509 h 606895"/>
              <a:gd name="connsiteX2" fmla="*/ 396487 w 466280"/>
              <a:gd name="connsiteY2" fmla="*/ 138155 h 606895"/>
              <a:gd name="connsiteX3" fmla="*/ 405604 w 466280"/>
              <a:gd name="connsiteY3" fmla="*/ 148016 h 606895"/>
              <a:gd name="connsiteX4" fmla="*/ 405604 w 466280"/>
              <a:gd name="connsiteY4" fmla="*/ 283790 h 606895"/>
              <a:gd name="connsiteX5" fmla="*/ 301518 w 466280"/>
              <a:gd name="connsiteY5" fmla="*/ 504517 h 606895"/>
              <a:gd name="connsiteX6" fmla="*/ 236939 w 466280"/>
              <a:gd name="connsiteY6" fmla="*/ 541684 h 606895"/>
              <a:gd name="connsiteX7" fmla="*/ 233140 w 466280"/>
              <a:gd name="connsiteY7" fmla="*/ 542442 h 606895"/>
              <a:gd name="connsiteX8" fmla="*/ 229341 w 466280"/>
              <a:gd name="connsiteY8" fmla="*/ 541684 h 606895"/>
              <a:gd name="connsiteX9" fmla="*/ 164762 w 466280"/>
              <a:gd name="connsiteY9" fmla="*/ 504517 h 606895"/>
              <a:gd name="connsiteX10" fmla="*/ 60676 w 466280"/>
              <a:gd name="connsiteY10" fmla="*/ 283790 h 606895"/>
              <a:gd name="connsiteX11" fmla="*/ 60676 w 466280"/>
              <a:gd name="connsiteY11" fmla="*/ 148016 h 606895"/>
              <a:gd name="connsiteX12" fmla="*/ 69793 w 466280"/>
              <a:gd name="connsiteY12" fmla="*/ 138155 h 606895"/>
              <a:gd name="connsiteX13" fmla="*/ 227062 w 466280"/>
              <a:gd name="connsiteY13" fmla="*/ 80509 h 606895"/>
              <a:gd name="connsiteX14" fmla="*/ 233140 w 466280"/>
              <a:gd name="connsiteY14" fmla="*/ 24457 h 606895"/>
              <a:gd name="connsiteX15" fmla="*/ 20504 w 466280"/>
              <a:gd name="connsiteY15" fmla="*/ 101054 h 606895"/>
              <a:gd name="connsiteX16" fmla="*/ 20504 w 466280"/>
              <a:gd name="connsiteY16" fmla="*/ 283824 h 606895"/>
              <a:gd name="connsiteX17" fmla="*/ 139732 w 466280"/>
              <a:gd name="connsiteY17" fmla="*/ 536365 h 606895"/>
              <a:gd name="connsiteX18" fmla="*/ 233140 w 466280"/>
              <a:gd name="connsiteY18" fmla="*/ 585660 h 606895"/>
              <a:gd name="connsiteX19" fmla="*/ 326548 w 466280"/>
              <a:gd name="connsiteY19" fmla="*/ 536365 h 606895"/>
              <a:gd name="connsiteX20" fmla="*/ 445776 w 466280"/>
              <a:gd name="connsiteY20" fmla="*/ 283824 h 606895"/>
              <a:gd name="connsiteX21" fmla="*/ 445776 w 466280"/>
              <a:gd name="connsiteY21" fmla="*/ 101054 h 606895"/>
              <a:gd name="connsiteX22" fmla="*/ 233140 w 466280"/>
              <a:gd name="connsiteY22" fmla="*/ 24457 h 606895"/>
              <a:gd name="connsiteX23" fmla="*/ 225546 w 466280"/>
              <a:gd name="connsiteY23" fmla="*/ 3981 h 606895"/>
              <a:gd name="connsiteX24" fmla="*/ 240734 w 466280"/>
              <a:gd name="connsiteY24" fmla="*/ 3981 h 606895"/>
              <a:gd name="connsiteX25" fmla="*/ 455648 w 466280"/>
              <a:gd name="connsiteY25" fmla="*/ 80577 h 606895"/>
              <a:gd name="connsiteX26" fmla="*/ 466280 w 466280"/>
              <a:gd name="connsiteY26" fmla="*/ 91195 h 606895"/>
              <a:gd name="connsiteX27" fmla="*/ 466280 w 466280"/>
              <a:gd name="connsiteY27" fmla="*/ 283824 h 606895"/>
              <a:gd name="connsiteX28" fmla="*/ 338698 w 466280"/>
              <a:gd name="connsiteY28" fmla="*/ 552292 h 606895"/>
              <a:gd name="connsiteX29" fmla="*/ 236178 w 466280"/>
              <a:gd name="connsiteY29" fmla="*/ 606137 h 606895"/>
              <a:gd name="connsiteX30" fmla="*/ 233140 w 466280"/>
              <a:gd name="connsiteY30" fmla="*/ 606895 h 606895"/>
              <a:gd name="connsiteX31" fmla="*/ 230102 w 466280"/>
              <a:gd name="connsiteY31" fmla="*/ 606137 h 606895"/>
              <a:gd name="connsiteX32" fmla="*/ 126822 w 466280"/>
              <a:gd name="connsiteY32" fmla="*/ 552292 h 606895"/>
              <a:gd name="connsiteX33" fmla="*/ 0 w 466280"/>
              <a:gd name="connsiteY33" fmla="*/ 283824 h 606895"/>
              <a:gd name="connsiteX34" fmla="*/ 0 w 466280"/>
              <a:gd name="connsiteY34" fmla="*/ 91195 h 606895"/>
              <a:gd name="connsiteX35" fmla="*/ 10632 w 466280"/>
              <a:gd name="connsiteY35" fmla="*/ 80577 h 606895"/>
              <a:gd name="connsiteX36" fmla="*/ 225546 w 466280"/>
              <a:gd name="connsiteY36" fmla="*/ 3981 h 60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6280" h="606895">
                <a:moveTo>
                  <a:pt x="227062" y="80509"/>
                </a:moveTo>
                <a:cubicBezTo>
                  <a:pt x="230861" y="78233"/>
                  <a:pt x="235419" y="78233"/>
                  <a:pt x="238458" y="80509"/>
                </a:cubicBezTo>
                <a:cubicBezTo>
                  <a:pt x="269608" y="101747"/>
                  <a:pt x="321271" y="128295"/>
                  <a:pt x="396487" y="138155"/>
                </a:cubicBezTo>
                <a:cubicBezTo>
                  <a:pt x="401805" y="138155"/>
                  <a:pt x="405604" y="142707"/>
                  <a:pt x="405604" y="148016"/>
                </a:cubicBezTo>
                <a:lnTo>
                  <a:pt x="405604" y="283790"/>
                </a:lnTo>
                <a:cubicBezTo>
                  <a:pt x="405604" y="371018"/>
                  <a:pt x="366097" y="453696"/>
                  <a:pt x="301518" y="504517"/>
                </a:cubicBezTo>
                <a:cubicBezTo>
                  <a:pt x="281004" y="520445"/>
                  <a:pt x="258972" y="533340"/>
                  <a:pt x="236939" y="541684"/>
                </a:cubicBezTo>
                <a:cubicBezTo>
                  <a:pt x="235419" y="542442"/>
                  <a:pt x="234660" y="542442"/>
                  <a:pt x="233140" y="542442"/>
                </a:cubicBezTo>
                <a:cubicBezTo>
                  <a:pt x="231620" y="542442"/>
                  <a:pt x="230861" y="542442"/>
                  <a:pt x="229341" y="541684"/>
                </a:cubicBezTo>
                <a:cubicBezTo>
                  <a:pt x="207308" y="533340"/>
                  <a:pt x="185276" y="520445"/>
                  <a:pt x="164762" y="504517"/>
                </a:cubicBezTo>
                <a:cubicBezTo>
                  <a:pt x="99423" y="453696"/>
                  <a:pt x="60676" y="371018"/>
                  <a:pt x="60676" y="283790"/>
                </a:cubicBezTo>
                <a:lnTo>
                  <a:pt x="60676" y="148016"/>
                </a:lnTo>
                <a:cubicBezTo>
                  <a:pt x="60676" y="142707"/>
                  <a:pt x="64475" y="138155"/>
                  <a:pt x="69793" y="138155"/>
                </a:cubicBezTo>
                <a:cubicBezTo>
                  <a:pt x="145009" y="128295"/>
                  <a:pt x="196672" y="101747"/>
                  <a:pt x="227062" y="80509"/>
                </a:cubicBezTo>
                <a:close/>
                <a:moveTo>
                  <a:pt x="233140" y="24457"/>
                </a:moveTo>
                <a:cubicBezTo>
                  <a:pt x="211117" y="45692"/>
                  <a:pt x="144289" y="98020"/>
                  <a:pt x="20504" y="101054"/>
                </a:cubicBezTo>
                <a:lnTo>
                  <a:pt x="20504" y="283824"/>
                </a:lnTo>
                <a:cubicBezTo>
                  <a:pt x="20504" y="383172"/>
                  <a:pt x="65310" y="477970"/>
                  <a:pt x="139732" y="536365"/>
                </a:cubicBezTo>
                <a:cubicBezTo>
                  <a:pt x="168590" y="559117"/>
                  <a:pt x="200485" y="575801"/>
                  <a:pt x="233140" y="585660"/>
                </a:cubicBezTo>
                <a:cubicBezTo>
                  <a:pt x="265795" y="575801"/>
                  <a:pt x="296931" y="559117"/>
                  <a:pt x="326548" y="536365"/>
                </a:cubicBezTo>
                <a:cubicBezTo>
                  <a:pt x="400970" y="477970"/>
                  <a:pt x="445776" y="383172"/>
                  <a:pt x="445776" y="283824"/>
                </a:cubicBezTo>
                <a:lnTo>
                  <a:pt x="445776" y="101054"/>
                </a:lnTo>
                <a:cubicBezTo>
                  <a:pt x="321991" y="98020"/>
                  <a:pt x="254404" y="45692"/>
                  <a:pt x="233140" y="24457"/>
                </a:cubicBezTo>
                <a:close/>
                <a:moveTo>
                  <a:pt x="225546" y="3981"/>
                </a:moveTo>
                <a:cubicBezTo>
                  <a:pt x="229343" y="-1328"/>
                  <a:pt x="236937" y="-1328"/>
                  <a:pt x="240734" y="3981"/>
                </a:cubicBezTo>
                <a:cubicBezTo>
                  <a:pt x="241494" y="4739"/>
                  <a:pt x="307563" y="80577"/>
                  <a:pt x="455648" y="80577"/>
                </a:cubicBezTo>
                <a:cubicBezTo>
                  <a:pt x="461724" y="80577"/>
                  <a:pt x="466280" y="85128"/>
                  <a:pt x="466280" y="91195"/>
                </a:cubicBezTo>
                <a:lnTo>
                  <a:pt x="466280" y="283824"/>
                </a:lnTo>
                <a:cubicBezTo>
                  <a:pt x="466280" y="389239"/>
                  <a:pt x="418437" y="490104"/>
                  <a:pt x="338698" y="552292"/>
                </a:cubicBezTo>
                <a:cubicBezTo>
                  <a:pt x="306803" y="577318"/>
                  <a:pt x="271870" y="595519"/>
                  <a:pt x="236178" y="606137"/>
                </a:cubicBezTo>
                <a:cubicBezTo>
                  <a:pt x="234659" y="606895"/>
                  <a:pt x="233899" y="606895"/>
                  <a:pt x="233140" y="606895"/>
                </a:cubicBezTo>
                <a:cubicBezTo>
                  <a:pt x="232381" y="606895"/>
                  <a:pt x="230862" y="606895"/>
                  <a:pt x="230102" y="606137"/>
                </a:cubicBezTo>
                <a:cubicBezTo>
                  <a:pt x="193650" y="595519"/>
                  <a:pt x="159477" y="577318"/>
                  <a:pt x="126822" y="552292"/>
                </a:cubicBezTo>
                <a:cubicBezTo>
                  <a:pt x="47843" y="490104"/>
                  <a:pt x="0" y="389239"/>
                  <a:pt x="0" y="283824"/>
                </a:cubicBezTo>
                <a:lnTo>
                  <a:pt x="0" y="91195"/>
                </a:lnTo>
                <a:cubicBezTo>
                  <a:pt x="0" y="85128"/>
                  <a:pt x="4556" y="80577"/>
                  <a:pt x="10632" y="80577"/>
                </a:cubicBezTo>
                <a:cubicBezTo>
                  <a:pt x="158717" y="80577"/>
                  <a:pt x="224786" y="4739"/>
                  <a:pt x="225546" y="3981"/>
                </a:cubicBez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4950315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32A32D-DD3E-40B2-8DF4-1B711544535B}"/>
              </a:ext>
            </a:extLst>
          </p:cNvPr>
          <p:cNvSpPr>
            <a:spLocks noGrp="1"/>
          </p:cNvSpPr>
          <p:nvPr>
            <p:ph type="title"/>
          </p:nvPr>
        </p:nvSpPr>
        <p:spPr bwMode="gray"/>
        <p:txBody>
          <a:bodyPr/>
          <a:lstStyle/>
          <a:p>
            <a:r>
              <a:rPr lang="zh-CN" altLang="en-US" sz="3200" dirty="0">
                <a:latin typeface="Microsoft YaHei" panose="020B0503020204020204" pitchFamily="34" charset="-122"/>
                <a:ea typeface="Microsoft YaHei" panose="020B0503020204020204" pitchFamily="34" charset="-122"/>
                <a:sym typeface="微软雅黑" panose="020B0503020204020204" pitchFamily="34" charset="-122"/>
              </a:rPr>
              <a:t>华为</a:t>
            </a:r>
            <a:r>
              <a:rPr lang="en-US" altLang="zh-CN" sz="3200" dirty="0">
                <a:latin typeface="Microsoft YaHei" panose="020B0503020204020204" pitchFamily="34" charset="-122"/>
                <a:ea typeface="Microsoft YaHei" panose="020B0503020204020204" pitchFamily="34" charset="-122"/>
                <a:sym typeface="微软雅黑" panose="020B0503020204020204" pitchFamily="34" charset="-122"/>
              </a:rPr>
              <a:t>SD-WAN</a:t>
            </a:r>
            <a:r>
              <a:rPr lang="zh-CN" altLang="en-US" dirty="0"/>
              <a:t>可靠性设计思路</a:t>
            </a:r>
            <a:endParaRPr lang="en-US" dirty="0"/>
          </a:p>
        </p:txBody>
      </p:sp>
      <p:sp>
        <p:nvSpPr>
          <p:cNvPr id="54" name="圆角矩形 3">
            <a:extLst>
              <a:ext uri="{FF2B5EF4-FFF2-40B4-BE49-F238E27FC236}">
                <a16:creationId xmlns:a16="http://schemas.microsoft.com/office/drawing/2014/main" id="{DEAD9CEE-D1D6-4DA8-95DD-F7EC03301FA9}"/>
              </a:ext>
            </a:extLst>
          </p:cNvPr>
          <p:cNvSpPr/>
          <p:nvPr/>
        </p:nvSpPr>
        <p:spPr bwMode="gray">
          <a:xfrm>
            <a:off x="1657747"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可靠性设计</a:t>
            </a:r>
          </a:p>
        </p:txBody>
      </p:sp>
      <p:sp>
        <p:nvSpPr>
          <p:cNvPr id="55" name="圆角矩形 4">
            <a:extLst>
              <a:ext uri="{FF2B5EF4-FFF2-40B4-BE49-F238E27FC236}">
                <a16:creationId xmlns:a16="http://schemas.microsoft.com/office/drawing/2014/main" id="{6D7F9A07-B0A6-42D5-9A44-CDE248F9F23F}"/>
              </a:ext>
            </a:extLst>
          </p:cNvPr>
          <p:cNvSpPr/>
          <p:nvPr/>
        </p:nvSpPr>
        <p:spPr bwMode="gray">
          <a:xfrm>
            <a:off x="1657747" y="2205517"/>
            <a:ext cx="2789367" cy="2137884"/>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圆角矩形 9">
            <a:extLst>
              <a:ext uri="{FF2B5EF4-FFF2-40B4-BE49-F238E27FC236}">
                <a16:creationId xmlns:a16="http://schemas.microsoft.com/office/drawing/2014/main" id="{A7899219-7ED3-49C4-863D-58FEDD37D4CB}"/>
              </a:ext>
            </a:extLst>
          </p:cNvPr>
          <p:cNvSpPr/>
          <p:nvPr/>
        </p:nvSpPr>
        <p:spPr bwMode="gray">
          <a:xfrm>
            <a:off x="4701316"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a:t>
            </a:r>
            <a:r>
              <a:rPr lang="zh-CN" altLang="en-US"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控制器</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可靠性设计</a:t>
            </a:r>
          </a:p>
        </p:txBody>
      </p:sp>
      <p:sp>
        <p:nvSpPr>
          <p:cNvPr id="60" name="圆角矩形 10">
            <a:extLst>
              <a:ext uri="{FF2B5EF4-FFF2-40B4-BE49-F238E27FC236}">
                <a16:creationId xmlns:a16="http://schemas.microsoft.com/office/drawing/2014/main" id="{115E57CB-5B8A-4EF1-9370-F4127B83CC4E}"/>
              </a:ext>
            </a:extLst>
          </p:cNvPr>
          <p:cNvSpPr/>
          <p:nvPr/>
        </p:nvSpPr>
        <p:spPr bwMode="gray">
          <a:xfrm>
            <a:off x="4701316" y="2205517"/>
            <a:ext cx="2789367" cy="2137883"/>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圆角矩形 6">
            <a:extLst>
              <a:ext uri="{FF2B5EF4-FFF2-40B4-BE49-F238E27FC236}">
                <a16:creationId xmlns:a16="http://schemas.microsoft.com/office/drawing/2014/main" id="{F889FB25-1A64-4A9B-AF27-BF8B1217A87C}"/>
              </a:ext>
            </a:extLst>
          </p:cNvPr>
          <p:cNvSpPr/>
          <p:nvPr/>
        </p:nvSpPr>
        <p:spPr bwMode="gray">
          <a:xfrm>
            <a:off x="4919285" y="236021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控制器部署可靠性设计</a:t>
            </a:r>
          </a:p>
        </p:txBody>
      </p:sp>
      <p:sp>
        <p:nvSpPr>
          <p:cNvPr id="66" name="圆角矩形 11">
            <a:extLst>
              <a:ext uri="{FF2B5EF4-FFF2-40B4-BE49-F238E27FC236}">
                <a16:creationId xmlns:a16="http://schemas.microsoft.com/office/drawing/2014/main" id="{575506A2-51D7-43F4-A567-E0201D70ECE9}"/>
              </a:ext>
            </a:extLst>
          </p:cNvPr>
          <p:cNvSpPr/>
          <p:nvPr/>
        </p:nvSpPr>
        <p:spPr bwMode="gray">
          <a:xfrm>
            <a:off x="4919285" y="2849178"/>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控制器组网可靠性设计</a:t>
            </a:r>
          </a:p>
        </p:txBody>
      </p:sp>
      <p:sp>
        <p:nvSpPr>
          <p:cNvPr id="67" name="圆角矩形 6">
            <a:extLst>
              <a:ext uri="{FF2B5EF4-FFF2-40B4-BE49-F238E27FC236}">
                <a16:creationId xmlns:a16="http://schemas.microsoft.com/office/drawing/2014/main" id="{36CADD81-F1B6-4089-A809-4F65FF923E38}"/>
              </a:ext>
            </a:extLst>
          </p:cNvPr>
          <p:cNvSpPr/>
          <p:nvPr/>
        </p:nvSpPr>
        <p:spPr bwMode="gray">
          <a:xfrm>
            <a:off x="1855358" y="236021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Hub</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可靠性设计</a:t>
            </a:r>
          </a:p>
        </p:txBody>
      </p:sp>
      <p:sp>
        <p:nvSpPr>
          <p:cNvPr id="117" name="圆角矩形 6">
            <a:extLst>
              <a:ext uri="{FF2B5EF4-FFF2-40B4-BE49-F238E27FC236}">
                <a16:creationId xmlns:a16="http://schemas.microsoft.com/office/drawing/2014/main" id="{17726A2F-0B04-4BF8-A371-F1E7E66618A1}"/>
              </a:ext>
            </a:extLst>
          </p:cNvPr>
          <p:cNvSpPr/>
          <p:nvPr/>
        </p:nvSpPr>
        <p:spPr bwMode="gray">
          <a:xfrm>
            <a:off x="1855358" y="2848546"/>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站点可靠性设计</a:t>
            </a:r>
          </a:p>
        </p:txBody>
      </p:sp>
      <p:sp>
        <p:nvSpPr>
          <p:cNvPr id="119" name="圆角矩形 6">
            <a:extLst>
              <a:ext uri="{FF2B5EF4-FFF2-40B4-BE49-F238E27FC236}">
                <a16:creationId xmlns:a16="http://schemas.microsoft.com/office/drawing/2014/main" id="{1DF45903-610C-4CFD-B651-48ED271F549A}"/>
              </a:ext>
            </a:extLst>
          </p:cNvPr>
          <p:cNvSpPr/>
          <p:nvPr/>
        </p:nvSpPr>
        <p:spPr bwMode="gray">
          <a:xfrm>
            <a:off x="1855358" y="3336879"/>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IWG</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站点可靠性设计</a:t>
            </a:r>
          </a:p>
        </p:txBody>
      </p:sp>
      <p:sp>
        <p:nvSpPr>
          <p:cNvPr id="12" name="圆角矩形 9">
            <a:extLst>
              <a:ext uri="{FF2B5EF4-FFF2-40B4-BE49-F238E27FC236}">
                <a16:creationId xmlns:a16="http://schemas.microsoft.com/office/drawing/2014/main" id="{25B7DDE5-9F82-4F09-9223-AD2555960AB0}"/>
              </a:ext>
            </a:extLst>
          </p:cNvPr>
          <p:cNvSpPr/>
          <p:nvPr/>
        </p:nvSpPr>
        <p:spPr bwMode="gray">
          <a:xfrm>
            <a:off x="7708652" y="1714691"/>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3.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安全设计</a:t>
            </a:r>
          </a:p>
        </p:txBody>
      </p:sp>
      <p:sp>
        <p:nvSpPr>
          <p:cNvPr id="13" name="圆角矩形 10">
            <a:extLst>
              <a:ext uri="{FF2B5EF4-FFF2-40B4-BE49-F238E27FC236}">
                <a16:creationId xmlns:a16="http://schemas.microsoft.com/office/drawing/2014/main" id="{B6C50FBB-D580-4CAB-A0CE-9F444A65BFE9}"/>
              </a:ext>
            </a:extLst>
          </p:cNvPr>
          <p:cNvSpPr/>
          <p:nvPr/>
        </p:nvSpPr>
        <p:spPr bwMode="gray">
          <a:xfrm>
            <a:off x="7708652" y="2205518"/>
            <a:ext cx="2789367" cy="2137883"/>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圆角矩形 6">
            <a:extLst>
              <a:ext uri="{FF2B5EF4-FFF2-40B4-BE49-F238E27FC236}">
                <a16:creationId xmlns:a16="http://schemas.microsoft.com/office/drawing/2014/main" id="{4CF190BB-6CCE-4DEA-B400-3361668FE3A4}"/>
              </a:ext>
            </a:extLst>
          </p:cNvPr>
          <p:cNvSpPr/>
          <p:nvPr/>
        </p:nvSpPr>
        <p:spPr bwMode="gray">
          <a:xfrm>
            <a:off x="7926621" y="2360214"/>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系统安全设计</a:t>
            </a:r>
          </a:p>
        </p:txBody>
      </p:sp>
      <p:sp>
        <p:nvSpPr>
          <p:cNvPr id="15" name="圆角矩形 11">
            <a:extLst>
              <a:ext uri="{FF2B5EF4-FFF2-40B4-BE49-F238E27FC236}">
                <a16:creationId xmlns:a16="http://schemas.microsoft.com/office/drawing/2014/main" id="{42010BC2-B18B-4283-92A8-7A499920EA61}"/>
              </a:ext>
            </a:extLst>
          </p:cNvPr>
          <p:cNvSpPr/>
          <p:nvPr/>
        </p:nvSpPr>
        <p:spPr bwMode="gray">
          <a:xfrm>
            <a:off x="7926621" y="2849179"/>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业务安全设计</a:t>
            </a:r>
          </a:p>
        </p:txBody>
      </p:sp>
    </p:spTree>
    <p:extLst>
      <p:ext uri="{BB962C8B-B14F-4D97-AF65-F5344CB8AC3E}">
        <p14:creationId xmlns:p14="http://schemas.microsoft.com/office/powerpoint/2010/main" val="354507404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dirty="0">
                <a:solidFill>
                  <a:schemeClr val="bg1">
                    <a:lumMod val="50000"/>
                  </a:schemeClr>
                </a:solidFill>
              </a:rPr>
              <a:t>企业广域互联网络趋势与挑战</a:t>
            </a:r>
          </a:p>
          <a:p>
            <a:pPr>
              <a:buFont typeface="+mj-lt"/>
              <a:buAutoNum type="arabicPeriod"/>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解决方案概述</a:t>
            </a:r>
            <a:endParaRPr lang="en-US" altLang="zh-CN" sz="1800" dirty="0">
              <a:solidFill>
                <a:schemeClr val="bg1">
                  <a:lumMod val="50000"/>
                </a:schemeClr>
              </a:solidFill>
            </a:endParaRPr>
          </a:p>
          <a:p>
            <a:pPr>
              <a:buFont typeface="+mj-lt"/>
              <a:buAutoNum type="arabicPeriod"/>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组网设计</a:t>
            </a:r>
            <a:endParaRPr lang="en-US" altLang="zh-CN" sz="1800" dirty="0">
              <a:solidFill>
                <a:schemeClr val="bg1">
                  <a:lumMod val="50000"/>
                </a:schemeClr>
              </a:solidFill>
            </a:endParaRPr>
          </a:p>
          <a:p>
            <a:pPr>
              <a:buFont typeface="+mj-lt"/>
              <a:buAutoNum type="arabicPeriod"/>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业务设计</a:t>
            </a:r>
          </a:p>
          <a:p>
            <a:pPr>
              <a:buFont typeface="+mj-lt"/>
              <a:buAutoNum type="arabicPeriod"/>
            </a:pPr>
            <a:r>
              <a:rPr lang="zh-CN" altLang="en-US" sz="1800" b="1" dirty="0"/>
              <a:t>华为</a:t>
            </a:r>
            <a:r>
              <a:rPr lang="en-US" altLang="zh-CN" sz="1800" b="1" dirty="0"/>
              <a:t>SD-WAN</a:t>
            </a:r>
            <a:r>
              <a:rPr lang="zh-CN" altLang="en-US" sz="1800" b="1" dirty="0"/>
              <a:t>可靠性与安全设计</a:t>
            </a:r>
            <a:endParaRPr lang="en-US" altLang="zh-CN" sz="1800" b="1" dirty="0"/>
          </a:p>
          <a:p>
            <a:pPr lvl="1"/>
            <a:r>
              <a:rPr lang="en-US" altLang="zh-CN" sz="1600" dirty="0">
                <a:solidFill>
                  <a:schemeClr val="bg1">
                    <a:lumMod val="50000"/>
                  </a:schemeClr>
                </a:solidFill>
              </a:rPr>
              <a:t>SD-WAN</a:t>
            </a:r>
            <a:r>
              <a:rPr lang="zh-CN" altLang="en-US" sz="1600" dirty="0">
                <a:solidFill>
                  <a:schemeClr val="bg1">
                    <a:lumMod val="50000"/>
                  </a:schemeClr>
                </a:solidFill>
              </a:rPr>
              <a:t>可靠性设计概览</a:t>
            </a:r>
            <a:endParaRPr lang="en-US" altLang="zh-CN" sz="1600" dirty="0">
              <a:solidFill>
                <a:schemeClr val="bg1">
                  <a:lumMod val="50000"/>
                </a:schemeClr>
              </a:solidFill>
            </a:endParaRPr>
          </a:p>
          <a:p>
            <a:pPr lvl="1">
              <a:buSzPct val="60000"/>
              <a:buFont typeface="Wingdings" panose="05000000000000000000" pitchFamily="2" charset="2"/>
              <a:buChar char="n"/>
            </a:pPr>
            <a:r>
              <a:rPr lang="en-US" altLang="zh-CN" sz="1600" dirty="0"/>
              <a:t>SD-WAN</a:t>
            </a:r>
            <a:r>
              <a:rPr lang="zh-CN" altLang="en-US" sz="1600" dirty="0"/>
              <a:t>站点可靠性设计</a:t>
            </a:r>
            <a:endParaRPr lang="en-US" altLang="zh-CN" sz="1600" dirty="0"/>
          </a:p>
          <a:p>
            <a:pPr lvl="1"/>
            <a:r>
              <a:rPr lang="en-US" altLang="zh-CN" sz="1600" dirty="0">
                <a:solidFill>
                  <a:schemeClr val="bg1">
                    <a:lumMod val="50000"/>
                  </a:schemeClr>
                </a:solidFill>
              </a:rPr>
              <a:t>SD-WAN</a:t>
            </a:r>
            <a:r>
              <a:rPr lang="zh-CN" altLang="en-US" sz="1600" dirty="0">
                <a:solidFill>
                  <a:schemeClr val="bg1">
                    <a:lumMod val="50000"/>
                  </a:schemeClr>
                </a:solidFill>
              </a:rPr>
              <a:t>控制器可靠性设计</a:t>
            </a:r>
            <a:endParaRPr lang="en-US" altLang="zh-CN" sz="1600" dirty="0">
              <a:solidFill>
                <a:schemeClr val="bg1">
                  <a:lumMod val="50000"/>
                </a:schemeClr>
              </a:solidFill>
            </a:endParaRPr>
          </a:p>
          <a:p>
            <a:pPr lvl="1"/>
            <a:r>
              <a:rPr lang="en-US" altLang="zh-CN" sz="1600" dirty="0">
                <a:solidFill>
                  <a:schemeClr val="bg1">
                    <a:lumMod val="50000"/>
                  </a:schemeClr>
                </a:solidFill>
              </a:rPr>
              <a:t>SD-WAN</a:t>
            </a:r>
            <a:r>
              <a:rPr lang="zh-CN" altLang="en-US" sz="1600" dirty="0">
                <a:solidFill>
                  <a:schemeClr val="bg1">
                    <a:lumMod val="50000"/>
                  </a:schemeClr>
                </a:solidFill>
              </a:rPr>
              <a:t>安全设计</a:t>
            </a:r>
            <a:endParaRPr lang="en-US" altLang="zh-CN" sz="1600" dirty="0">
              <a:solidFill>
                <a:schemeClr val="bg1">
                  <a:lumMod val="50000"/>
                </a:schemeClr>
              </a:solidFill>
            </a:endParaRPr>
          </a:p>
        </p:txBody>
      </p:sp>
    </p:spTree>
    <p:extLst>
      <p:ext uri="{BB962C8B-B14F-4D97-AF65-F5344CB8AC3E}">
        <p14:creationId xmlns:p14="http://schemas.microsoft.com/office/powerpoint/2010/main" val="343982591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9DCFCB2-ADDC-4527-8A10-80CB5C01F04F}"/>
              </a:ext>
            </a:extLst>
          </p:cNvPr>
          <p:cNvSpPr>
            <a:spLocks noGrp="1"/>
          </p:cNvSpPr>
          <p:nvPr>
            <p:ph type="body" sz="quarter" idx="10"/>
          </p:nvPr>
        </p:nvSpPr>
        <p:spPr bwMode="gray"/>
        <p:txBody>
          <a:bodyPr/>
          <a:lstStyle/>
          <a:p>
            <a:r>
              <a:rPr lang="en-US" altLang="zh-CN" sz="1800" dirty="0"/>
              <a:t>SD-WAN</a:t>
            </a:r>
            <a:r>
              <a:rPr lang="zh-CN" altLang="en-US" sz="1800" dirty="0"/>
              <a:t>站点一般可分为</a:t>
            </a:r>
            <a:r>
              <a:rPr lang="en-US" altLang="zh-CN" sz="1800" dirty="0"/>
              <a:t>Edge</a:t>
            </a:r>
            <a:r>
              <a:rPr lang="zh-CN" altLang="en-US" sz="1800" dirty="0"/>
              <a:t>站点、</a:t>
            </a:r>
            <a:r>
              <a:rPr lang="en-US" altLang="zh-CN" sz="1800" dirty="0"/>
              <a:t>Hub</a:t>
            </a:r>
            <a:r>
              <a:rPr lang="zh-CN" altLang="en-US" sz="1800" dirty="0"/>
              <a:t>站点、</a:t>
            </a:r>
            <a:r>
              <a:rPr lang="en-US" altLang="zh-CN" sz="1800" dirty="0"/>
              <a:t>RR</a:t>
            </a:r>
            <a:r>
              <a:rPr lang="zh-CN" altLang="en-US" sz="1800" dirty="0"/>
              <a:t>站点以及与传统网络互联的</a:t>
            </a:r>
            <a:r>
              <a:rPr lang="en-US" altLang="zh-CN" sz="1800" dirty="0"/>
              <a:t>GW</a:t>
            </a:r>
            <a:r>
              <a:rPr lang="zh-CN" altLang="en-US" sz="1800" dirty="0"/>
              <a:t>站点。其中</a:t>
            </a:r>
            <a:r>
              <a:rPr lang="en-US" altLang="zh-CN" sz="1800" dirty="0"/>
              <a:t>Hub</a:t>
            </a:r>
            <a:r>
              <a:rPr lang="zh-CN" altLang="en-US" sz="1800" dirty="0"/>
              <a:t>站点，</a:t>
            </a:r>
            <a:r>
              <a:rPr lang="en-US" altLang="zh-CN" sz="1800" dirty="0"/>
              <a:t>RR</a:t>
            </a:r>
            <a:r>
              <a:rPr lang="zh-CN" altLang="en-US" sz="1800" dirty="0"/>
              <a:t>站点与</a:t>
            </a:r>
            <a:r>
              <a:rPr lang="en-US" altLang="zh-CN" sz="1800" dirty="0"/>
              <a:t>GW</a:t>
            </a:r>
            <a:r>
              <a:rPr lang="zh-CN" altLang="en-US" sz="1800" dirty="0"/>
              <a:t>站点在</a:t>
            </a:r>
            <a:r>
              <a:rPr lang="en-US" altLang="zh-CN" sz="1800" dirty="0"/>
              <a:t>SD-WAN</a:t>
            </a:r>
            <a:r>
              <a:rPr lang="zh-CN" altLang="en-US" sz="1800" dirty="0"/>
              <a:t>解决方案中属于关键站点，因此此类站点的可靠性会极大影响</a:t>
            </a:r>
            <a:r>
              <a:rPr lang="en-US" altLang="zh-CN" sz="1800" dirty="0"/>
              <a:t>SD-WAN</a:t>
            </a:r>
            <a:r>
              <a:rPr lang="zh-CN" altLang="en-US" sz="1800" dirty="0"/>
              <a:t>网络的可靠性。</a:t>
            </a:r>
            <a:endParaRPr lang="en-US" altLang="zh-CN" sz="1800" dirty="0"/>
          </a:p>
          <a:p>
            <a:r>
              <a:rPr lang="zh-CN" altLang="en-US" sz="1800" dirty="0"/>
              <a:t>站点可靠性设计一般可分为：</a:t>
            </a:r>
            <a:endParaRPr lang="en-US" altLang="zh-CN" sz="1800" dirty="0"/>
          </a:p>
          <a:p>
            <a:pPr lvl="1"/>
            <a:r>
              <a:rPr lang="en-US" altLang="zh-CN" sz="1600" dirty="0"/>
              <a:t>Hub</a:t>
            </a:r>
            <a:r>
              <a:rPr lang="zh-CN" altLang="en-US" sz="1600" dirty="0"/>
              <a:t>站点可靠性设计</a:t>
            </a:r>
          </a:p>
          <a:p>
            <a:pPr lvl="1"/>
            <a:r>
              <a:rPr lang="en-US" altLang="zh-CN" sz="1600" dirty="0"/>
              <a:t>RR</a:t>
            </a:r>
            <a:r>
              <a:rPr lang="zh-CN" altLang="en-US" sz="1600" dirty="0"/>
              <a:t>站点可靠性设计</a:t>
            </a:r>
          </a:p>
          <a:p>
            <a:pPr lvl="1"/>
            <a:r>
              <a:rPr lang="en-US" altLang="zh-CN" sz="1600" dirty="0"/>
              <a:t>IWG</a:t>
            </a:r>
            <a:r>
              <a:rPr lang="zh-CN" altLang="en-US" sz="1600" dirty="0"/>
              <a:t>站点可靠性设计</a:t>
            </a:r>
          </a:p>
        </p:txBody>
      </p:sp>
      <p:sp>
        <p:nvSpPr>
          <p:cNvPr id="96" name="Rectangle: Rounded Corners 95">
            <a:extLst>
              <a:ext uri="{FF2B5EF4-FFF2-40B4-BE49-F238E27FC236}">
                <a16:creationId xmlns:a16="http://schemas.microsoft.com/office/drawing/2014/main" id="{38B88A9D-4B06-49C3-A402-5031A683CE0E}"/>
              </a:ext>
            </a:extLst>
          </p:cNvPr>
          <p:cNvSpPr/>
          <p:nvPr/>
        </p:nvSpPr>
        <p:spPr bwMode="gray">
          <a:xfrm>
            <a:off x="9593544" y="3328978"/>
            <a:ext cx="1380213" cy="512247"/>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Rectangle: Rounded Corners 86">
            <a:extLst>
              <a:ext uri="{FF2B5EF4-FFF2-40B4-BE49-F238E27FC236}">
                <a16:creationId xmlns:a16="http://schemas.microsoft.com/office/drawing/2014/main" id="{EC8A0EF7-BB3B-4B6C-A4FA-EA7A156AD9E5}"/>
              </a:ext>
            </a:extLst>
          </p:cNvPr>
          <p:cNvSpPr/>
          <p:nvPr/>
        </p:nvSpPr>
        <p:spPr bwMode="gray">
          <a:xfrm>
            <a:off x="4927354" y="3328978"/>
            <a:ext cx="1380213" cy="512247"/>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Title 2">
            <a:extLst>
              <a:ext uri="{FF2B5EF4-FFF2-40B4-BE49-F238E27FC236}">
                <a16:creationId xmlns:a16="http://schemas.microsoft.com/office/drawing/2014/main" id="{06439B0F-140D-4331-94EC-CAC552235724}"/>
              </a:ext>
            </a:extLst>
          </p:cNvPr>
          <p:cNvSpPr>
            <a:spLocks noGrp="1"/>
          </p:cNvSpPr>
          <p:nvPr>
            <p:ph type="title"/>
          </p:nvPr>
        </p:nvSpPr>
        <p:spPr bwMode="gray"/>
        <p:txBody>
          <a:bodyPr/>
          <a:lstStyle/>
          <a:p>
            <a:r>
              <a:rPr lang="zh-CN" altLang="en-US" dirty="0"/>
              <a:t>站点可靠性设计全景图</a:t>
            </a:r>
            <a:endParaRPr lang="en-US" dirty="0"/>
          </a:p>
        </p:txBody>
      </p:sp>
      <p:sp>
        <p:nvSpPr>
          <p:cNvPr id="6" name="Freeform 159">
            <a:extLst>
              <a:ext uri="{FF2B5EF4-FFF2-40B4-BE49-F238E27FC236}">
                <a16:creationId xmlns:a16="http://schemas.microsoft.com/office/drawing/2014/main" id="{AFD778A3-F9BE-4559-858A-8793B79748F9}"/>
              </a:ext>
            </a:extLst>
          </p:cNvPr>
          <p:cNvSpPr/>
          <p:nvPr/>
        </p:nvSpPr>
        <p:spPr bwMode="gray">
          <a:xfrm flipH="1">
            <a:off x="8280045" y="5319725"/>
            <a:ext cx="1208491"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159">
            <a:extLst>
              <a:ext uri="{FF2B5EF4-FFF2-40B4-BE49-F238E27FC236}">
                <a16:creationId xmlns:a16="http://schemas.microsoft.com/office/drawing/2014/main" id="{B0B573C1-7388-4C32-9EC9-3CCAAB4C8814}"/>
              </a:ext>
            </a:extLst>
          </p:cNvPr>
          <p:cNvSpPr/>
          <p:nvPr/>
        </p:nvSpPr>
        <p:spPr bwMode="gray">
          <a:xfrm flipH="1">
            <a:off x="6311996" y="5319726"/>
            <a:ext cx="1208491"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Picture 12" descr="E:\2016.01\1.12 扁平化图标\蓝色\AR-蓝色最新-40.png">
            <a:extLst>
              <a:ext uri="{FF2B5EF4-FFF2-40B4-BE49-F238E27FC236}">
                <a16:creationId xmlns:a16="http://schemas.microsoft.com/office/drawing/2014/main" id="{F5D05993-CC43-423A-AB7D-F9537F567592}"/>
              </a:ext>
            </a:extLst>
          </p:cNvPr>
          <p:cNvPicPr>
            <a:picLocks noChangeAspect="1" noChangeArrowheads="1"/>
          </p:cNvPicPr>
          <p:nvPr/>
        </p:nvPicPr>
        <p:blipFill>
          <a:blip r:embed="rId3" cstate="print"/>
          <a:srcRect/>
          <a:stretch>
            <a:fillRect/>
          </a:stretch>
        </p:blipFill>
        <p:spPr bwMode="gray">
          <a:xfrm>
            <a:off x="6707732" y="5202528"/>
            <a:ext cx="474524" cy="388247"/>
          </a:xfrm>
          <a:prstGeom prst="rect">
            <a:avLst/>
          </a:prstGeom>
          <a:noFill/>
        </p:spPr>
      </p:pic>
      <p:cxnSp>
        <p:nvCxnSpPr>
          <p:cNvPr id="9" name="Straight Connector 8">
            <a:extLst>
              <a:ext uri="{FF2B5EF4-FFF2-40B4-BE49-F238E27FC236}">
                <a16:creationId xmlns:a16="http://schemas.microsoft.com/office/drawing/2014/main" id="{25A774F4-F3BA-4486-8FFA-37E11DA3C43D}"/>
              </a:ext>
            </a:extLst>
          </p:cNvPr>
          <p:cNvCxnSpPr>
            <a:cxnSpLocks/>
            <a:endCxn id="8" idx="0"/>
          </p:cNvCxnSpPr>
          <p:nvPr/>
        </p:nvCxnSpPr>
        <p:spPr bwMode="gray">
          <a:xfrm>
            <a:off x="6944994" y="4323861"/>
            <a:ext cx="0" cy="87866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856D531-D19B-4FFF-AF69-EB328B3C9B5E}"/>
              </a:ext>
            </a:extLst>
          </p:cNvPr>
          <p:cNvCxnSpPr>
            <a:cxnSpLocks/>
            <a:endCxn id="8" idx="0"/>
          </p:cNvCxnSpPr>
          <p:nvPr/>
        </p:nvCxnSpPr>
        <p:spPr bwMode="gray">
          <a:xfrm flipH="1">
            <a:off x="6944994" y="4338994"/>
            <a:ext cx="2056725" cy="86353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B87D5E3-C09D-4C69-86EA-6274AF9B08B1}"/>
              </a:ext>
            </a:extLst>
          </p:cNvPr>
          <p:cNvSpPr txBox="1"/>
          <p:nvPr/>
        </p:nvSpPr>
        <p:spPr bwMode="gray">
          <a:xfrm>
            <a:off x="6689728" y="5552415"/>
            <a:ext cx="543739" cy="307777"/>
          </a:xfrm>
          <a:prstGeom prst="rect">
            <a:avLst/>
          </a:prstGeom>
          <a:noFill/>
        </p:spPr>
        <p:txBody>
          <a:bodyPr wrap="none" rtlCol="0">
            <a:spAutoFit/>
          </a:bodyPr>
          <a:lstStyle/>
          <a:p>
            <a:r>
              <a:rPr lang="zh-CN" altLang="en-US" sz="1400" dirty="0"/>
              <a:t>分支</a:t>
            </a:r>
          </a:p>
        </p:txBody>
      </p:sp>
      <p:sp>
        <p:nvSpPr>
          <p:cNvPr id="12" name="Freeform 159">
            <a:extLst>
              <a:ext uri="{FF2B5EF4-FFF2-40B4-BE49-F238E27FC236}">
                <a16:creationId xmlns:a16="http://schemas.microsoft.com/office/drawing/2014/main" id="{6202802B-C845-4744-A6BB-078168A518DE}"/>
              </a:ext>
            </a:extLst>
          </p:cNvPr>
          <p:cNvSpPr/>
          <p:nvPr/>
        </p:nvSpPr>
        <p:spPr bwMode="gray">
          <a:xfrm flipH="1">
            <a:off x="6411667" y="3677859"/>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sp>
        <p:nvSpPr>
          <p:cNvPr id="13" name="Freeform 159">
            <a:extLst>
              <a:ext uri="{FF2B5EF4-FFF2-40B4-BE49-F238E27FC236}">
                <a16:creationId xmlns:a16="http://schemas.microsoft.com/office/drawing/2014/main" id="{A69256CC-CAC6-49CF-9169-61F8F47E3D73}"/>
              </a:ext>
            </a:extLst>
          </p:cNvPr>
          <p:cNvSpPr/>
          <p:nvPr/>
        </p:nvSpPr>
        <p:spPr bwMode="gray">
          <a:xfrm flipH="1">
            <a:off x="8404751" y="3677858"/>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sp>
        <p:nvSpPr>
          <p:cNvPr id="14" name="Freeform 159">
            <a:extLst>
              <a:ext uri="{FF2B5EF4-FFF2-40B4-BE49-F238E27FC236}">
                <a16:creationId xmlns:a16="http://schemas.microsoft.com/office/drawing/2014/main" id="{211F3C10-4211-4904-953E-38ECCBB2BAEB}"/>
              </a:ext>
            </a:extLst>
          </p:cNvPr>
          <p:cNvSpPr/>
          <p:nvPr/>
        </p:nvSpPr>
        <p:spPr bwMode="gray">
          <a:xfrm flipH="1">
            <a:off x="5992917" y="2291419"/>
            <a:ext cx="1429629" cy="7642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5" name="Straight Connector 14">
            <a:extLst>
              <a:ext uri="{FF2B5EF4-FFF2-40B4-BE49-F238E27FC236}">
                <a16:creationId xmlns:a16="http://schemas.microsoft.com/office/drawing/2014/main" id="{5FDE44D0-57AC-4319-B3C9-1D54A586C61B}"/>
              </a:ext>
            </a:extLst>
          </p:cNvPr>
          <p:cNvCxnSpPr>
            <a:cxnSpLocks/>
            <a:stCxn id="18" idx="2"/>
            <a:endCxn id="13" idx="0"/>
          </p:cNvCxnSpPr>
          <p:nvPr/>
        </p:nvCxnSpPr>
        <p:spPr bwMode="gray">
          <a:xfrm>
            <a:off x="6934691" y="2913098"/>
            <a:ext cx="1938199" cy="76476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7EE4211-C299-449C-8B26-2E6AA5298BA0}"/>
              </a:ext>
            </a:extLst>
          </p:cNvPr>
          <p:cNvCxnSpPr>
            <a:cxnSpLocks/>
            <a:stCxn id="17" idx="2"/>
            <a:endCxn id="12" idx="0"/>
          </p:cNvCxnSpPr>
          <p:nvPr/>
        </p:nvCxnSpPr>
        <p:spPr bwMode="gray">
          <a:xfrm>
            <a:off x="6474049" y="2913866"/>
            <a:ext cx="405757" cy="763993"/>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7" name="Picture 12" descr="E:\2016.01\1.12 扁平化图标\蓝色\AR-蓝色最新-40.png">
            <a:extLst>
              <a:ext uri="{FF2B5EF4-FFF2-40B4-BE49-F238E27FC236}">
                <a16:creationId xmlns:a16="http://schemas.microsoft.com/office/drawing/2014/main" id="{126350F2-3EBB-4DC7-A073-8CD3CC6FA4A0}"/>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6320654" y="2662857"/>
            <a:ext cx="306789" cy="251009"/>
          </a:xfrm>
          <a:prstGeom prst="rect">
            <a:avLst/>
          </a:prstGeom>
          <a:noFill/>
        </p:spPr>
      </p:pic>
      <p:pic>
        <p:nvPicPr>
          <p:cNvPr id="18" name="Picture 12" descr="E:\2016.01\1.12 扁平化图标\蓝色\AR-蓝色最新-40.png">
            <a:extLst>
              <a:ext uri="{FF2B5EF4-FFF2-40B4-BE49-F238E27FC236}">
                <a16:creationId xmlns:a16="http://schemas.microsoft.com/office/drawing/2014/main" id="{6E22F82E-8C85-4AA1-8791-F26A53F9E322}"/>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6781296" y="2662089"/>
            <a:ext cx="306789" cy="251009"/>
          </a:xfrm>
          <a:prstGeom prst="rect">
            <a:avLst/>
          </a:prstGeom>
          <a:noFill/>
        </p:spPr>
      </p:pic>
      <p:sp>
        <p:nvSpPr>
          <p:cNvPr id="19" name="TextBox 18">
            <a:extLst>
              <a:ext uri="{FF2B5EF4-FFF2-40B4-BE49-F238E27FC236}">
                <a16:creationId xmlns:a16="http://schemas.microsoft.com/office/drawing/2014/main" id="{6E26D620-F3B4-4FA2-B27B-747474C66AA1}"/>
              </a:ext>
            </a:extLst>
          </p:cNvPr>
          <p:cNvSpPr txBox="1"/>
          <p:nvPr/>
        </p:nvSpPr>
        <p:spPr bwMode="gray">
          <a:xfrm>
            <a:off x="6295961" y="2398085"/>
            <a:ext cx="836286" cy="307777"/>
          </a:xfrm>
          <a:prstGeom prst="rect">
            <a:avLst/>
          </a:prstGeom>
          <a:noFill/>
        </p:spPr>
        <p:txBody>
          <a:bodyPr wrap="square" rtlCol="0">
            <a:spAutoFit/>
          </a:bodyPr>
          <a:lstStyle/>
          <a:p>
            <a:pPr algn="ctr"/>
            <a:r>
              <a:rPr lang="en-US" altLang="zh-CN" sz="1400"/>
              <a:t>Hub1</a:t>
            </a:r>
            <a:endParaRPr lang="zh-CN" altLang="en-US" sz="1600" dirty="0"/>
          </a:p>
        </p:txBody>
      </p:sp>
      <p:pic>
        <p:nvPicPr>
          <p:cNvPr id="20" name="Picture 12" descr="E:\2016.01\1.12 扁平化图标\蓝色\AR-蓝色最新-40.png">
            <a:extLst>
              <a:ext uri="{FF2B5EF4-FFF2-40B4-BE49-F238E27FC236}">
                <a16:creationId xmlns:a16="http://schemas.microsoft.com/office/drawing/2014/main" id="{898C04AC-5C14-4040-B5CB-E0EE9909DD6B}"/>
              </a:ext>
            </a:extLst>
          </p:cNvPr>
          <p:cNvPicPr>
            <a:picLocks noChangeAspect="1" noChangeArrowheads="1"/>
          </p:cNvPicPr>
          <p:nvPr/>
        </p:nvPicPr>
        <p:blipFill>
          <a:blip r:embed="rId3" cstate="print"/>
          <a:srcRect/>
          <a:stretch>
            <a:fillRect/>
          </a:stretch>
        </p:blipFill>
        <p:spPr bwMode="gray">
          <a:xfrm>
            <a:off x="8368489" y="5214140"/>
            <a:ext cx="474524" cy="388247"/>
          </a:xfrm>
          <a:prstGeom prst="rect">
            <a:avLst/>
          </a:prstGeom>
          <a:noFill/>
        </p:spPr>
      </p:pic>
      <p:pic>
        <p:nvPicPr>
          <p:cNvPr id="21" name="Picture 12" descr="E:\2016.01\1.12 扁平化图标\蓝色\AR-蓝色最新-40.png">
            <a:extLst>
              <a:ext uri="{FF2B5EF4-FFF2-40B4-BE49-F238E27FC236}">
                <a16:creationId xmlns:a16="http://schemas.microsoft.com/office/drawing/2014/main" id="{C4CF9A0B-DE4D-4BFB-BCDC-231879FEEEEC}"/>
              </a:ext>
            </a:extLst>
          </p:cNvPr>
          <p:cNvPicPr>
            <a:picLocks noChangeAspect="1" noChangeArrowheads="1"/>
          </p:cNvPicPr>
          <p:nvPr/>
        </p:nvPicPr>
        <p:blipFill>
          <a:blip r:embed="rId3" cstate="print"/>
          <a:srcRect/>
          <a:stretch>
            <a:fillRect/>
          </a:stretch>
        </p:blipFill>
        <p:spPr bwMode="gray">
          <a:xfrm>
            <a:off x="9055946" y="5215202"/>
            <a:ext cx="474524" cy="388247"/>
          </a:xfrm>
          <a:prstGeom prst="rect">
            <a:avLst/>
          </a:prstGeom>
          <a:noFill/>
        </p:spPr>
      </p:pic>
      <p:sp>
        <p:nvSpPr>
          <p:cNvPr id="22" name="TextBox 21">
            <a:extLst>
              <a:ext uri="{FF2B5EF4-FFF2-40B4-BE49-F238E27FC236}">
                <a16:creationId xmlns:a16="http://schemas.microsoft.com/office/drawing/2014/main" id="{6CF8184F-FD2E-4278-8B76-461F208711E9}"/>
              </a:ext>
            </a:extLst>
          </p:cNvPr>
          <p:cNvSpPr txBox="1"/>
          <p:nvPr/>
        </p:nvSpPr>
        <p:spPr bwMode="gray">
          <a:xfrm>
            <a:off x="8677610" y="5568410"/>
            <a:ext cx="543739" cy="307777"/>
          </a:xfrm>
          <a:prstGeom prst="rect">
            <a:avLst/>
          </a:prstGeom>
          <a:noFill/>
        </p:spPr>
        <p:txBody>
          <a:bodyPr wrap="none" rtlCol="0">
            <a:spAutoFit/>
          </a:bodyPr>
          <a:lstStyle/>
          <a:p>
            <a:r>
              <a:rPr lang="zh-CN" altLang="en-US" sz="1400" dirty="0"/>
              <a:t>分支</a:t>
            </a:r>
          </a:p>
        </p:txBody>
      </p:sp>
      <p:cxnSp>
        <p:nvCxnSpPr>
          <p:cNvPr id="23" name="Straight Connector 22">
            <a:extLst>
              <a:ext uri="{FF2B5EF4-FFF2-40B4-BE49-F238E27FC236}">
                <a16:creationId xmlns:a16="http://schemas.microsoft.com/office/drawing/2014/main" id="{F1EBCB82-1B21-4D50-8A21-F5EB64E098DA}"/>
              </a:ext>
            </a:extLst>
          </p:cNvPr>
          <p:cNvCxnSpPr>
            <a:cxnSpLocks/>
            <a:endCxn id="20" idx="0"/>
          </p:cNvCxnSpPr>
          <p:nvPr/>
        </p:nvCxnSpPr>
        <p:spPr bwMode="gray">
          <a:xfrm>
            <a:off x="7000464" y="4338995"/>
            <a:ext cx="1605287" cy="87514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44451D1-3F14-46C0-A76F-1EC98479664B}"/>
              </a:ext>
            </a:extLst>
          </p:cNvPr>
          <p:cNvCxnSpPr>
            <a:cxnSpLocks/>
            <a:endCxn id="21" idx="0"/>
          </p:cNvCxnSpPr>
          <p:nvPr/>
        </p:nvCxnSpPr>
        <p:spPr bwMode="gray">
          <a:xfrm>
            <a:off x="9067083" y="4324710"/>
            <a:ext cx="226125" cy="89049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4C5D002-C340-42F0-9D32-9373DD22FAAA}"/>
              </a:ext>
            </a:extLst>
          </p:cNvPr>
          <p:cNvCxnSpPr>
            <a:cxnSpLocks/>
            <a:stCxn id="21" idx="1"/>
            <a:endCxn id="20" idx="3"/>
          </p:cNvCxnSpPr>
          <p:nvPr/>
        </p:nvCxnSpPr>
        <p:spPr bwMode="gray">
          <a:xfrm flipH="1" flipV="1">
            <a:off x="8843013" y="5408264"/>
            <a:ext cx="212933" cy="1062"/>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26" name="Picture 12" descr="E:\2016.01\1.12 扁平化图标\蓝色\AR-蓝色最新-40.png">
            <a:extLst>
              <a:ext uri="{FF2B5EF4-FFF2-40B4-BE49-F238E27FC236}">
                <a16:creationId xmlns:a16="http://schemas.microsoft.com/office/drawing/2014/main" id="{51A26561-A7FA-4ED4-8594-7CFC52315EB3}"/>
              </a:ext>
            </a:extLst>
          </p:cNvPr>
          <p:cNvPicPr>
            <a:picLocks noChangeAspect="1" noChangeArrowheads="1"/>
          </p:cNvPicPr>
          <p:nvPr/>
        </p:nvPicPr>
        <p:blipFill>
          <a:blip r:embed="rId3" cstate="print"/>
          <a:srcRect/>
          <a:stretch>
            <a:fillRect/>
          </a:stretch>
        </p:blipFill>
        <p:spPr bwMode="gray">
          <a:xfrm>
            <a:off x="5066304" y="3399990"/>
            <a:ext cx="474524" cy="388247"/>
          </a:xfrm>
          <a:prstGeom prst="rect">
            <a:avLst/>
          </a:prstGeom>
          <a:noFill/>
        </p:spPr>
      </p:pic>
      <p:pic>
        <p:nvPicPr>
          <p:cNvPr id="27" name="Picture 12" descr="E:\2016.01\1.12 扁平化图标\蓝色\AR-蓝色最新-40.png">
            <a:extLst>
              <a:ext uri="{FF2B5EF4-FFF2-40B4-BE49-F238E27FC236}">
                <a16:creationId xmlns:a16="http://schemas.microsoft.com/office/drawing/2014/main" id="{23EE8CC6-ECD3-4B5B-BCA9-D89803744C8E}"/>
              </a:ext>
            </a:extLst>
          </p:cNvPr>
          <p:cNvPicPr>
            <a:picLocks noChangeAspect="1" noChangeArrowheads="1"/>
          </p:cNvPicPr>
          <p:nvPr/>
        </p:nvPicPr>
        <p:blipFill>
          <a:blip r:embed="rId3" cstate="print"/>
          <a:srcRect/>
          <a:stretch>
            <a:fillRect/>
          </a:stretch>
        </p:blipFill>
        <p:spPr bwMode="gray">
          <a:xfrm>
            <a:off x="9682984" y="3399990"/>
            <a:ext cx="474524" cy="388247"/>
          </a:xfrm>
          <a:prstGeom prst="rect">
            <a:avLst/>
          </a:prstGeom>
          <a:noFill/>
        </p:spPr>
      </p:pic>
      <p:cxnSp>
        <p:nvCxnSpPr>
          <p:cNvPr id="28" name="Straight Connector 27">
            <a:extLst>
              <a:ext uri="{FF2B5EF4-FFF2-40B4-BE49-F238E27FC236}">
                <a16:creationId xmlns:a16="http://schemas.microsoft.com/office/drawing/2014/main" id="{5D089C6E-D80C-46DE-AFC6-03648E5697F9}"/>
              </a:ext>
            </a:extLst>
          </p:cNvPr>
          <p:cNvCxnSpPr>
            <a:cxnSpLocks/>
            <a:stCxn id="12" idx="21"/>
            <a:endCxn id="26" idx="2"/>
          </p:cNvCxnSpPr>
          <p:nvPr/>
        </p:nvCxnSpPr>
        <p:spPr bwMode="gray">
          <a:xfrm flipH="1" flipV="1">
            <a:off x="5303566" y="3788237"/>
            <a:ext cx="1108101" cy="3425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0A4F1B7-AA5B-4C6B-9ABC-A1F9A6F67A70}"/>
              </a:ext>
            </a:extLst>
          </p:cNvPr>
          <p:cNvCxnSpPr>
            <a:cxnSpLocks/>
            <a:stCxn id="13" idx="21"/>
            <a:endCxn id="82" idx="2"/>
          </p:cNvCxnSpPr>
          <p:nvPr/>
        </p:nvCxnSpPr>
        <p:spPr bwMode="gray">
          <a:xfrm flipH="1" flipV="1">
            <a:off x="5919970" y="3786091"/>
            <a:ext cx="2484781" cy="3446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8F58BF8-BDE1-4E57-A445-96E4BD45049A}"/>
              </a:ext>
            </a:extLst>
          </p:cNvPr>
          <p:cNvCxnSpPr>
            <a:cxnSpLocks/>
            <a:stCxn id="88" idx="2"/>
            <a:endCxn id="13" idx="8"/>
          </p:cNvCxnSpPr>
          <p:nvPr/>
        </p:nvCxnSpPr>
        <p:spPr bwMode="gray">
          <a:xfrm flipH="1">
            <a:off x="9598688" y="3788237"/>
            <a:ext cx="1057010" cy="33077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13801BC-EB00-454F-93A9-E07BF6EDEC07}"/>
              </a:ext>
            </a:extLst>
          </p:cNvPr>
          <p:cNvSpPr txBox="1"/>
          <p:nvPr/>
        </p:nvSpPr>
        <p:spPr bwMode="gray">
          <a:xfrm>
            <a:off x="5227688" y="3085339"/>
            <a:ext cx="768159" cy="276999"/>
          </a:xfrm>
          <a:prstGeom prst="rect">
            <a:avLst/>
          </a:prstGeom>
          <a:noFill/>
        </p:spPr>
        <p:txBody>
          <a:bodyPr wrap="none" rtlCol="0">
            <a:spAutoFit/>
          </a:bodyPr>
          <a:lstStyle/>
          <a:p>
            <a:r>
              <a:rPr lang="en-US" altLang="zh-CN" sz="1200" dirty="0"/>
              <a:t>RR</a:t>
            </a:r>
            <a:r>
              <a:rPr lang="zh-CN" altLang="en-US" sz="1200" dirty="0"/>
              <a:t>站点</a:t>
            </a:r>
            <a:r>
              <a:rPr lang="en-US" altLang="zh-CN" sz="1200" dirty="0"/>
              <a:t>1</a:t>
            </a:r>
            <a:endParaRPr lang="zh-CN" altLang="en-US" sz="1200" dirty="0"/>
          </a:p>
        </p:txBody>
      </p:sp>
      <p:sp>
        <p:nvSpPr>
          <p:cNvPr id="32" name="TextBox 31">
            <a:extLst>
              <a:ext uri="{FF2B5EF4-FFF2-40B4-BE49-F238E27FC236}">
                <a16:creationId xmlns:a16="http://schemas.microsoft.com/office/drawing/2014/main" id="{BA06A28B-EA42-4913-AA60-489AEC8C9158}"/>
              </a:ext>
            </a:extLst>
          </p:cNvPr>
          <p:cNvSpPr txBox="1"/>
          <p:nvPr/>
        </p:nvSpPr>
        <p:spPr bwMode="gray">
          <a:xfrm>
            <a:off x="9903149" y="3091424"/>
            <a:ext cx="768159" cy="276999"/>
          </a:xfrm>
          <a:prstGeom prst="rect">
            <a:avLst/>
          </a:prstGeom>
          <a:noFill/>
        </p:spPr>
        <p:txBody>
          <a:bodyPr wrap="none" rtlCol="0">
            <a:spAutoFit/>
          </a:bodyPr>
          <a:lstStyle/>
          <a:p>
            <a:r>
              <a:rPr lang="en-US" altLang="zh-CN" sz="1200" dirty="0"/>
              <a:t>RR</a:t>
            </a:r>
            <a:r>
              <a:rPr lang="zh-CN" altLang="en-US" sz="1200" dirty="0"/>
              <a:t>站点</a:t>
            </a:r>
            <a:r>
              <a:rPr lang="en-US" altLang="zh-CN" sz="1200" dirty="0"/>
              <a:t>2</a:t>
            </a:r>
            <a:endParaRPr lang="zh-CN" altLang="en-US" sz="1200" dirty="0"/>
          </a:p>
        </p:txBody>
      </p:sp>
      <p:pic>
        <p:nvPicPr>
          <p:cNvPr id="33" name="Picture 12" descr="E:\2016.01\1.12 扁平化图标\蓝色\AR-蓝色最新-40.png">
            <a:extLst>
              <a:ext uri="{FF2B5EF4-FFF2-40B4-BE49-F238E27FC236}">
                <a16:creationId xmlns:a16="http://schemas.microsoft.com/office/drawing/2014/main" id="{FD29640B-D2C8-4299-86B0-32023D1A7249}"/>
              </a:ext>
            </a:extLst>
          </p:cNvPr>
          <p:cNvPicPr>
            <a:picLocks noChangeAspect="1" noChangeArrowheads="1"/>
          </p:cNvPicPr>
          <p:nvPr/>
        </p:nvPicPr>
        <p:blipFill>
          <a:blip r:embed="rId3" cstate="print"/>
          <a:srcRect/>
          <a:stretch>
            <a:fillRect/>
          </a:stretch>
        </p:blipFill>
        <p:spPr bwMode="gray">
          <a:xfrm>
            <a:off x="5699566" y="2592879"/>
            <a:ext cx="474524" cy="388247"/>
          </a:xfrm>
          <a:prstGeom prst="rect">
            <a:avLst/>
          </a:prstGeom>
          <a:noFill/>
        </p:spPr>
      </p:pic>
      <p:pic>
        <p:nvPicPr>
          <p:cNvPr id="34" name="Picture 12" descr="E:\2016.01\1.12 扁平化图标\蓝色\AR-蓝色最新-40.png">
            <a:extLst>
              <a:ext uri="{FF2B5EF4-FFF2-40B4-BE49-F238E27FC236}">
                <a16:creationId xmlns:a16="http://schemas.microsoft.com/office/drawing/2014/main" id="{E133FB46-B4F1-45D4-8EA6-CE69629F0EEE}"/>
              </a:ext>
            </a:extLst>
          </p:cNvPr>
          <p:cNvPicPr>
            <a:picLocks noChangeAspect="1" noChangeArrowheads="1"/>
          </p:cNvPicPr>
          <p:nvPr/>
        </p:nvPicPr>
        <p:blipFill>
          <a:blip r:embed="rId3" cstate="print"/>
          <a:srcRect/>
          <a:stretch>
            <a:fillRect/>
          </a:stretch>
        </p:blipFill>
        <p:spPr bwMode="gray">
          <a:xfrm>
            <a:off x="7256053" y="2594561"/>
            <a:ext cx="474524" cy="388247"/>
          </a:xfrm>
          <a:prstGeom prst="rect">
            <a:avLst/>
          </a:prstGeom>
          <a:noFill/>
        </p:spPr>
      </p:pic>
      <p:cxnSp>
        <p:nvCxnSpPr>
          <p:cNvPr id="35" name="Straight Connector 34">
            <a:extLst>
              <a:ext uri="{FF2B5EF4-FFF2-40B4-BE49-F238E27FC236}">
                <a16:creationId xmlns:a16="http://schemas.microsoft.com/office/drawing/2014/main" id="{F2A49EF8-AF37-49D0-8AFA-83E3EA650CD9}"/>
              </a:ext>
            </a:extLst>
          </p:cNvPr>
          <p:cNvCxnSpPr>
            <a:cxnSpLocks/>
            <a:stCxn id="33" idx="3"/>
            <a:endCxn id="17" idx="1"/>
          </p:cNvCxnSpPr>
          <p:nvPr/>
        </p:nvCxnSpPr>
        <p:spPr bwMode="gray">
          <a:xfrm>
            <a:off x="6174090" y="2787003"/>
            <a:ext cx="146564" cy="13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18AE291-BA1A-4143-B8DD-9FC4155FF15F}"/>
              </a:ext>
            </a:extLst>
          </p:cNvPr>
          <p:cNvCxnSpPr>
            <a:cxnSpLocks/>
            <a:stCxn id="18" idx="3"/>
            <a:endCxn id="34" idx="1"/>
          </p:cNvCxnSpPr>
          <p:nvPr/>
        </p:nvCxnSpPr>
        <p:spPr bwMode="gray">
          <a:xfrm>
            <a:off x="7088085" y="2787594"/>
            <a:ext cx="167968" cy="109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6B13482-AF3D-4605-BB44-81D3ACD5CB3C}"/>
              </a:ext>
            </a:extLst>
          </p:cNvPr>
          <p:cNvSpPr txBox="1"/>
          <p:nvPr/>
        </p:nvSpPr>
        <p:spPr bwMode="gray">
          <a:xfrm>
            <a:off x="6275142" y="5254294"/>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38" name="TextBox 37">
            <a:extLst>
              <a:ext uri="{FF2B5EF4-FFF2-40B4-BE49-F238E27FC236}">
                <a16:creationId xmlns:a16="http://schemas.microsoft.com/office/drawing/2014/main" id="{6CA804B3-DA63-4900-BA20-3583D01DB34F}"/>
              </a:ext>
            </a:extLst>
          </p:cNvPr>
          <p:cNvSpPr txBox="1"/>
          <p:nvPr/>
        </p:nvSpPr>
        <p:spPr bwMode="gray">
          <a:xfrm>
            <a:off x="7951221" y="5263971"/>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39" name="TextBox 38">
            <a:extLst>
              <a:ext uri="{FF2B5EF4-FFF2-40B4-BE49-F238E27FC236}">
                <a16:creationId xmlns:a16="http://schemas.microsoft.com/office/drawing/2014/main" id="{B13589E9-15DA-4E9B-82CE-309DC6769EC6}"/>
              </a:ext>
            </a:extLst>
          </p:cNvPr>
          <p:cNvSpPr txBox="1"/>
          <p:nvPr/>
        </p:nvSpPr>
        <p:spPr bwMode="gray">
          <a:xfrm>
            <a:off x="9474949" y="5263971"/>
            <a:ext cx="452368" cy="276999"/>
          </a:xfrm>
          <a:prstGeom prst="rect">
            <a:avLst/>
          </a:prstGeom>
          <a:noFill/>
        </p:spPr>
        <p:txBody>
          <a:bodyPr wrap="none" rtlCol="0">
            <a:spAutoFit/>
          </a:bodyPr>
          <a:lstStyle/>
          <a:p>
            <a:r>
              <a:rPr lang="en-US" altLang="zh-CN" sz="1200" dirty="0"/>
              <a:t>CPE</a:t>
            </a:r>
            <a:endParaRPr lang="zh-CN" altLang="en-US" sz="1200" dirty="0"/>
          </a:p>
        </p:txBody>
      </p:sp>
      <p:sp>
        <p:nvSpPr>
          <p:cNvPr id="40" name="TextBox 39">
            <a:extLst>
              <a:ext uri="{FF2B5EF4-FFF2-40B4-BE49-F238E27FC236}">
                <a16:creationId xmlns:a16="http://schemas.microsoft.com/office/drawing/2014/main" id="{63570BF4-2F4F-48EF-989A-34723C76780B}"/>
              </a:ext>
            </a:extLst>
          </p:cNvPr>
          <p:cNvSpPr txBox="1"/>
          <p:nvPr/>
        </p:nvSpPr>
        <p:spPr bwMode="gray">
          <a:xfrm>
            <a:off x="5546539" y="2345622"/>
            <a:ext cx="700833" cy="276999"/>
          </a:xfrm>
          <a:prstGeom prst="rect">
            <a:avLst/>
          </a:prstGeom>
          <a:noFill/>
        </p:spPr>
        <p:txBody>
          <a:bodyPr wrap="none" rtlCol="0">
            <a:spAutoFit/>
          </a:bodyPr>
          <a:lstStyle/>
          <a:p>
            <a:r>
              <a:rPr lang="en-US" altLang="zh-CN" sz="1200" dirty="0"/>
              <a:t>CPE/RR</a:t>
            </a:r>
            <a:endParaRPr lang="zh-CN" altLang="en-US" sz="1200" dirty="0"/>
          </a:p>
        </p:txBody>
      </p:sp>
      <p:sp>
        <p:nvSpPr>
          <p:cNvPr id="41" name="TextBox 40">
            <a:extLst>
              <a:ext uri="{FF2B5EF4-FFF2-40B4-BE49-F238E27FC236}">
                <a16:creationId xmlns:a16="http://schemas.microsoft.com/office/drawing/2014/main" id="{C02CEED4-E255-42EF-AFB9-39EB4E2FE499}"/>
              </a:ext>
            </a:extLst>
          </p:cNvPr>
          <p:cNvSpPr txBox="1"/>
          <p:nvPr/>
        </p:nvSpPr>
        <p:spPr bwMode="gray">
          <a:xfrm>
            <a:off x="7152188" y="2362896"/>
            <a:ext cx="700833" cy="276999"/>
          </a:xfrm>
          <a:prstGeom prst="rect">
            <a:avLst/>
          </a:prstGeom>
          <a:noFill/>
        </p:spPr>
        <p:txBody>
          <a:bodyPr wrap="none" rtlCol="0">
            <a:spAutoFit/>
          </a:bodyPr>
          <a:lstStyle/>
          <a:p>
            <a:r>
              <a:rPr lang="en-US" altLang="zh-CN" sz="1200" dirty="0"/>
              <a:t>CPE/RR</a:t>
            </a:r>
            <a:endParaRPr lang="zh-CN" altLang="en-US" sz="1200" dirty="0"/>
          </a:p>
        </p:txBody>
      </p:sp>
      <p:cxnSp>
        <p:nvCxnSpPr>
          <p:cNvPr id="42" name="Straight Connector 41">
            <a:extLst>
              <a:ext uri="{FF2B5EF4-FFF2-40B4-BE49-F238E27FC236}">
                <a16:creationId xmlns:a16="http://schemas.microsoft.com/office/drawing/2014/main" id="{18A9B8F5-3D11-4633-990F-7B8115F0DFCA}"/>
              </a:ext>
            </a:extLst>
          </p:cNvPr>
          <p:cNvCxnSpPr>
            <a:cxnSpLocks/>
            <a:stCxn id="18" idx="1"/>
            <a:endCxn id="17" idx="3"/>
          </p:cNvCxnSpPr>
          <p:nvPr/>
        </p:nvCxnSpPr>
        <p:spPr bwMode="gray">
          <a:xfrm flipH="1">
            <a:off x="6627443" y="2787594"/>
            <a:ext cx="153853" cy="768"/>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47" name="图片 21">
            <a:extLst>
              <a:ext uri="{FF2B5EF4-FFF2-40B4-BE49-F238E27FC236}">
                <a16:creationId xmlns:a16="http://schemas.microsoft.com/office/drawing/2014/main" id="{CEE6F437-C202-48B6-A514-D5A2FD3B3B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800656" y="4156766"/>
            <a:ext cx="467490" cy="382800"/>
          </a:xfrm>
          <a:prstGeom prst="rect">
            <a:avLst/>
          </a:prstGeom>
        </p:spPr>
      </p:pic>
      <p:sp>
        <p:nvSpPr>
          <p:cNvPr id="48" name="TextBox 47">
            <a:extLst>
              <a:ext uri="{FF2B5EF4-FFF2-40B4-BE49-F238E27FC236}">
                <a16:creationId xmlns:a16="http://schemas.microsoft.com/office/drawing/2014/main" id="{1A2A5277-5A46-48B4-A7E2-A0C32BE161BD}"/>
              </a:ext>
            </a:extLst>
          </p:cNvPr>
          <p:cNvSpPr txBox="1"/>
          <p:nvPr/>
        </p:nvSpPr>
        <p:spPr bwMode="gray">
          <a:xfrm>
            <a:off x="9233824" y="4298442"/>
            <a:ext cx="797013" cy="276999"/>
          </a:xfrm>
          <a:prstGeom prst="rect">
            <a:avLst/>
          </a:prstGeom>
          <a:noFill/>
        </p:spPr>
        <p:txBody>
          <a:bodyPr wrap="none" rtlCol="0">
            <a:spAutoFit/>
          </a:bodyPr>
          <a:lstStyle/>
          <a:p>
            <a:r>
              <a:rPr lang="en-US" altLang="zh-CN" sz="1200" dirty="0"/>
              <a:t>NAT</a:t>
            </a:r>
            <a:r>
              <a:rPr lang="zh-CN" altLang="en-US" sz="1200" dirty="0"/>
              <a:t>设备</a:t>
            </a:r>
          </a:p>
        </p:txBody>
      </p:sp>
      <p:cxnSp>
        <p:nvCxnSpPr>
          <p:cNvPr id="50" name="Straight Connector 49">
            <a:extLst>
              <a:ext uri="{FF2B5EF4-FFF2-40B4-BE49-F238E27FC236}">
                <a16:creationId xmlns:a16="http://schemas.microsoft.com/office/drawing/2014/main" id="{9AAC2F4F-20A5-4BAD-ADE8-B2C8689D2812}"/>
              </a:ext>
            </a:extLst>
          </p:cNvPr>
          <p:cNvCxnSpPr>
            <a:cxnSpLocks/>
            <a:stCxn id="27" idx="2"/>
            <a:endCxn id="12" idx="8"/>
          </p:cNvCxnSpPr>
          <p:nvPr/>
        </p:nvCxnSpPr>
        <p:spPr bwMode="gray">
          <a:xfrm flipH="1">
            <a:off x="7605604" y="3788237"/>
            <a:ext cx="2314642" cy="33077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BAEC82F-CEA4-4D24-AFF1-7E507D144212}"/>
              </a:ext>
            </a:extLst>
          </p:cNvPr>
          <p:cNvCxnSpPr>
            <a:cxnSpLocks/>
            <a:stCxn id="12" idx="21"/>
            <a:endCxn id="55" idx="3"/>
          </p:cNvCxnSpPr>
          <p:nvPr/>
        </p:nvCxnSpPr>
        <p:spPr bwMode="gray">
          <a:xfrm flipH="1">
            <a:off x="6141723" y="4130769"/>
            <a:ext cx="269944" cy="21577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4" name="Freeform 159">
            <a:extLst>
              <a:ext uri="{FF2B5EF4-FFF2-40B4-BE49-F238E27FC236}">
                <a16:creationId xmlns:a16="http://schemas.microsoft.com/office/drawing/2014/main" id="{B08C5B0C-3301-4596-A686-572F3117708F}"/>
              </a:ext>
            </a:extLst>
          </p:cNvPr>
          <p:cNvSpPr/>
          <p:nvPr/>
        </p:nvSpPr>
        <p:spPr bwMode="gray">
          <a:xfrm flipH="1">
            <a:off x="4792100" y="4217666"/>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MPLS</a:t>
            </a:r>
            <a:endParaRPr lang="en-US" sz="1400" dirty="0">
              <a:solidFill>
                <a:schemeClr val="tx1"/>
              </a:solidFill>
            </a:endParaRPr>
          </a:p>
        </p:txBody>
      </p:sp>
      <p:pic>
        <p:nvPicPr>
          <p:cNvPr id="55" name="Picture 12" descr="E:\2016.01\1.12 扁平化图标\蓝色\AR-蓝色最新-40.png">
            <a:extLst>
              <a:ext uri="{FF2B5EF4-FFF2-40B4-BE49-F238E27FC236}">
                <a16:creationId xmlns:a16="http://schemas.microsoft.com/office/drawing/2014/main" id="{B28A1956-C01E-4240-95B2-8C07A2DC4BDE}"/>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5667199" y="4152415"/>
            <a:ext cx="474524" cy="388247"/>
          </a:xfrm>
          <a:prstGeom prst="rect">
            <a:avLst/>
          </a:prstGeom>
          <a:noFill/>
          <a:ln>
            <a:noFill/>
          </a:ln>
        </p:spPr>
      </p:pic>
      <p:cxnSp>
        <p:nvCxnSpPr>
          <p:cNvPr id="56" name="Straight Connector 55">
            <a:extLst>
              <a:ext uri="{FF2B5EF4-FFF2-40B4-BE49-F238E27FC236}">
                <a16:creationId xmlns:a16="http://schemas.microsoft.com/office/drawing/2014/main" id="{8CB81DB6-3428-4A74-B968-70CA5E16B899}"/>
              </a:ext>
            </a:extLst>
          </p:cNvPr>
          <p:cNvCxnSpPr>
            <a:cxnSpLocks/>
            <a:stCxn id="54" idx="21"/>
            <a:endCxn id="58" idx="0"/>
          </p:cNvCxnSpPr>
          <p:nvPr/>
        </p:nvCxnSpPr>
        <p:spPr bwMode="gray">
          <a:xfrm flipH="1">
            <a:off x="4182219" y="4670576"/>
            <a:ext cx="609881" cy="34364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7" name="Freeform 159">
            <a:extLst>
              <a:ext uri="{FF2B5EF4-FFF2-40B4-BE49-F238E27FC236}">
                <a16:creationId xmlns:a16="http://schemas.microsoft.com/office/drawing/2014/main" id="{3FC7CACA-FF5D-4D80-997B-ECCACACB4C4B}"/>
              </a:ext>
            </a:extLst>
          </p:cNvPr>
          <p:cNvSpPr/>
          <p:nvPr/>
        </p:nvSpPr>
        <p:spPr bwMode="gray">
          <a:xfrm flipH="1">
            <a:off x="3583609" y="5215202"/>
            <a:ext cx="1208491"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传统站点</a:t>
            </a:r>
            <a:endParaRPr lang="en-US" sz="1400" dirty="0">
              <a:solidFill>
                <a:schemeClr val="tx1"/>
              </a:solidFill>
            </a:endParaRPr>
          </a:p>
        </p:txBody>
      </p:sp>
      <p:pic>
        <p:nvPicPr>
          <p:cNvPr id="58" name="Picture 12" descr="E:\2016.01\1.12 扁平化图标\蓝色\AR-蓝色最新-40.png">
            <a:extLst>
              <a:ext uri="{FF2B5EF4-FFF2-40B4-BE49-F238E27FC236}">
                <a16:creationId xmlns:a16="http://schemas.microsoft.com/office/drawing/2014/main" id="{429AA907-8E76-4715-BD85-44F028504F13}"/>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3944957" y="5014222"/>
            <a:ext cx="474524" cy="388247"/>
          </a:xfrm>
          <a:prstGeom prst="rect">
            <a:avLst/>
          </a:prstGeom>
          <a:noFill/>
          <a:ln>
            <a:noFill/>
          </a:ln>
        </p:spPr>
      </p:pic>
      <p:sp>
        <p:nvSpPr>
          <p:cNvPr id="59" name="TextBox 58">
            <a:extLst>
              <a:ext uri="{FF2B5EF4-FFF2-40B4-BE49-F238E27FC236}">
                <a16:creationId xmlns:a16="http://schemas.microsoft.com/office/drawing/2014/main" id="{B470EA71-65E3-48A3-A810-8F535D1D2A71}"/>
              </a:ext>
            </a:extLst>
          </p:cNvPr>
          <p:cNvSpPr txBox="1"/>
          <p:nvPr/>
        </p:nvSpPr>
        <p:spPr bwMode="gray">
          <a:xfrm>
            <a:off x="5310999" y="3911621"/>
            <a:ext cx="639919" cy="276999"/>
          </a:xfrm>
          <a:prstGeom prst="rect">
            <a:avLst/>
          </a:prstGeom>
          <a:noFill/>
        </p:spPr>
        <p:txBody>
          <a:bodyPr wrap="none" rtlCol="0">
            <a:spAutoFit/>
          </a:bodyPr>
          <a:lstStyle/>
          <a:p>
            <a:r>
              <a:rPr lang="zh-CN" altLang="en-US" sz="1200" dirty="0"/>
              <a:t>主</a:t>
            </a:r>
            <a:r>
              <a:rPr lang="en-US" altLang="zh-CN" sz="1200" dirty="0"/>
              <a:t>IWG</a:t>
            </a:r>
            <a:endParaRPr lang="zh-CN" altLang="en-US" sz="1200" dirty="0"/>
          </a:p>
        </p:txBody>
      </p:sp>
      <p:sp>
        <p:nvSpPr>
          <p:cNvPr id="62" name="Freeform 159">
            <a:extLst>
              <a:ext uri="{FF2B5EF4-FFF2-40B4-BE49-F238E27FC236}">
                <a16:creationId xmlns:a16="http://schemas.microsoft.com/office/drawing/2014/main" id="{96C741CE-914E-430D-9E68-E8691621B978}"/>
              </a:ext>
            </a:extLst>
          </p:cNvPr>
          <p:cNvSpPr/>
          <p:nvPr/>
        </p:nvSpPr>
        <p:spPr bwMode="gray">
          <a:xfrm flipH="1">
            <a:off x="8427125" y="2291419"/>
            <a:ext cx="1429629" cy="7642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3" name="Picture 12" descr="E:\2016.01\1.12 扁平化图标\蓝色\AR-蓝色最新-40.png">
            <a:extLst>
              <a:ext uri="{FF2B5EF4-FFF2-40B4-BE49-F238E27FC236}">
                <a16:creationId xmlns:a16="http://schemas.microsoft.com/office/drawing/2014/main" id="{31AADB4E-14F5-4ABE-9E49-3BEB5320FAA5}"/>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8754862" y="2662857"/>
            <a:ext cx="306789" cy="251009"/>
          </a:xfrm>
          <a:prstGeom prst="rect">
            <a:avLst/>
          </a:prstGeom>
          <a:noFill/>
        </p:spPr>
      </p:pic>
      <p:pic>
        <p:nvPicPr>
          <p:cNvPr id="64" name="Picture 12" descr="E:\2016.01\1.12 扁平化图标\蓝色\AR-蓝色最新-40.png">
            <a:extLst>
              <a:ext uri="{FF2B5EF4-FFF2-40B4-BE49-F238E27FC236}">
                <a16:creationId xmlns:a16="http://schemas.microsoft.com/office/drawing/2014/main" id="{EE042319-C71E-468C-92CB-2ACBAE67D810}"/>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9215504" y="2662089"/>
            <a:ext cx="306789" cy="251009"/>
          </a:xfrm>
          <a:prstGeom prst="rect">
            <a:avLst/>
          </a:prstGeom>
          <a:noFill/>
        </p:spPr>
      </p:pic>
      <p:sp>
        <p:nvSpPr>
          <p:cNvPr id="65" name="TextBox 64">
            <a:extLst>
              <a:ext uri="{FF2B5EF4-FFF2-40B4-BE49-F238E27FC236}">
                <a16:creationId xmlns:a16="http://schemas.microsoft.com/office/drawing/2014/main" id="{0DDFFD0E-5A54-4C84-867F-E18A73BE1083}"/>
              </a:ext>
            </a:extLst>
          </p:cNvPr>
          <p:cNvSpPr txBox="1"/>
          <p:nvPr/>
        </p:nvSpPr>
        <p:spPr bwMode="gray">
          <a:xfrm>
            <a:off x="8730169" y="2398085"/>
            <a:ext cx="836286" cy="307777"/>
          </a:xfrm>
          <a:prstGeom prst="rect">
            <a:avLst/>
          </a:prstGeom>
          <a:noFill/>
        </p:spPr>
        <p:txBody>
          <a:bodyPr wrap="square" rtlCol="0">
            <a:spAutoFit/>
          </a:bodyPr>
          <a:lstStyle/>
          <a:p>
            <a:pPr algn="ctr"/>
            <a:r>
              <a:rPr lang="en-US" altLang="zh-CN" sz="1400"/>
              <a:t>Hub2</a:t>
            </a:r>
            <a:endParaRPr lang="zh-CN" altLang="en-US" sz="1600" dirty="0"/>
          </a:p>
        </p:txBody>
      </p:sp>
      <p:pic>
        <p:nvPicPr>
          <p:cNvPr id="66" name="Picture 12" descr="E:\2016.01\1.12 扁平化图标\蓝色\AR-蓝色最新-40.png">
            <a:extLst>
              <a:ext uri="{FF2B5EF4-FFF2-40B4-BE49-F238E27FC236}">
                <a16:creationId xmlns:a16="http://schemas.microsoft.com/office/drawing/2014/main" id="{BA145A70-6F8A-4BB9-AD37-E81D6774F04D}"/>
              </a:ext>
            </a:extLst>
          </p:cNvPr>
          <p:cNvPicPr>
            <a:picLocks noChangeAspect="1" noChangeArrowheads="1"/>
          </p:cNvPicPr>
          <p:nvPr/>
        </p:nvPicPr>
        <p:blipFill>
          <a:blip r:embed="rId3" cstate="print"/>
          <a:srcRect/>
          <a:stretch>
            <a:fillRect/>
          </a:stretch>
        </p:blipFill>
        <p:spPr bwMode="gray">
          <a:xfrm>
            <a:off x="8133774" y="2592879"/>
            <a:ext cx="474524" cy="388247"/>
          </a:xfrm>
          <a:prstGeom prst="rect">
            <a:avLst/>
          </a:prstGeom>
          <a:noFill/>
        </p:spPr>
      </p:pic>
      <p:pic>
        <p:nvPicPr>
          <p:cNvPr id="67" name="Picture 12" descr="E:\2016.01\1.12 扁平化图标\蓝色\AR-蓝色最新-40.png">
            <a:extLst>
              <a:ext uri="{FF2B5EF4-FFF2-40B4-BE49-F238E27FC236}">
                <a16:creationId xmlns:a16="http://schemas.microsoft.com/office/drawing/2014/main" id="{EEA2A4DE-5991-4335-8D8E-A0DCCA0A0DE4}"/>
              </a:ext>
            </a:extLst>
          </p:cNvPr>
          <p:cNvPicPr>
            <a:picLocks noChangeAspect="1" noChangeArrowheads="1"/>
          </p:cNvPicPr>
          <p:nvPr/>
        </p:nvPicPr>
        <p:blipFill>
          <a:blip r:embed="rId3" cstate="print"/>
          <a:srcRect/>
          <a:stretch>
            <a:fillRect/>
          </a:stretch>
        </p:blipFill>
        <p:spPr bwMode="gray">
          <a:xfrm>
            <a:off x="9690261" y="2594561"/>
            <a:ext cx="474524" cy="388247"/>
          </a:xfrm>
          <a:prstGeom prst="rect">
            <a:avLst/>
          </a:prstGeom>
          <a:noFill/>
        </p:spPr>
      </p:pic>
      <p:cxnSp>
        <p:nvCxnSpPr>
          <p:cNvPr id="68" name="Straight Connector 67">
            <a:extLst>
              <a:ext uri="{FF2B5EF4-FFF2-40B4-BE49-F238E27FC236}">
                <a16:creationId xmlns:a16="http://schemas.microsoft.com/office/drawing/2014/main" id="{6BEBDEFE-EBDB-4E29-91B8-8E548846F31B}"/>
              </a:ext>
            </a:extLst>
          </p:cNvPr>
          <p:cNvCxnSpPr>
            <a:cxnSpLocks/>
            <a:stCxn id="66" idx="3"/>
            <a:endCxn id="63" idx="1"/>
          </p:cNvCxnSpPr>
          <p:nvPr/>
        </p:nvCxnSpPr>
        <p:spPr bwMode="gray">
          <a:xfrm>
            <a:off x="8608298" y="2787003"/>
            <a:ext cx="146564" cy="13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750D428-CEFA-4E5A-8E98-40F4AE5D53A3}"/>
              </a:ext>
            </a:extLst>
          </p:cNvPr>
          <p:cNvCxnSpPr>
            <a:cxnSpLocks/>
            <a:stCxn id="64" idx="3"/>
            <a:endCxn id="67" idx="1"/>
          </p:cNvCxnSpPr>
          <p:nvPr/>
        </p:nvCxnSpPr>
        <p:spPr bwMode="gray">
          <a:xfrm>
            <a:off x="9522293" y="2787594"/>
            <a:ext cx="167968" cy="109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06B1174E-EBA9-4643-8974-8CFB937F4CDE}"/>
              </a:ext>
            </a:extLst>
          </p:cNvPr>
          <p:cNvSpPr txBox="1"/>
          <p:nvPr/>
        </p:nvSpPr>
        <p:spPr bwMode="gray">
          <a:xfrm>
            <a:off x="7980747" y="2345622"/>
            <a:ext cx="700833" cy="276999"/>
          </a:xfrm>
          <a:prstGeom prst="rect">
            <a:avLst/>
          </a:prstGeom>
          <a:noFill/>
        </p:spPr>
        <p:txBody>
          <a:bodyPr wrap="none" rtlCol="0">
            <a:spAutoFit/>
          </a:bodyPr>
          <a:lstStyle/>
          <a:p>
            <a:r>
              <a:rPr lang="en-US" altLang="zh-CN" sz="1200" dirty="0"/>
              <a:t>CPE/RR</a:t>
            </a:r>
            <a:endParaRPr lang="zh-CN" altLang="en-US" sz="1200" dirty="0"/>
          </a:p>
        </p:txBody>
      </p:sp>
      <p:sp>
        <p:nvSpPr>
          <p:cNvPr id="71" name="TextBox 70">
            <a:extLst>
              <a:ext uri="{FF2B5EF4-FFF2-40B4-BE49-F238E27FC236}">
                <a16:creationId xmlns:a16="http://schemas.microsoft.com/office/drawing/2014/main" id="{115DB1BE-E5FB-468E-93DB-C292AD417DD2}"/>
              </a:ext>
            </a:extLst>
          </p:cNvPr>
          <p:cNvSpPr txBox="1"/>
          <p:nvPr/>
        </p:nvSpPr>
        <p:spPr bwMode="gray">
          <a:xfrm>
            <a:off x="9586396" y="2362896"/>
            <a:ext cx="700833" cy="276999"/>
          </a:xfrm>
          <a:prstGeom prst="rect">
            <a:avLst/>
          </a:prstGeom>
          <a:noFill/>
        </p:spPr>
        <p:txBody>
          <a:bodyPr wrap="none" rtlCol="0">
            <a:spAutoFit/>
          </a:bodyPr>
          <a:lstStyle/>
          <a:p>
            <a:r>
              <a:rPr lang="en-US" altLang="zh-CN" sz="1200" dirty="0"/>
              <a:t>CPE/RR</a:t>
            </a:r>
            <a:endParaRPr lang="zh-CN" altLang="en-US" sz="1200" dirty="0"/>
          </a:p>
        </p:txBody>
      </p:sp>
      <p:cxnSp>
        <p:nvCxnSpPr>
          <p:cNvPr id="72" name="Straight Connector 71">
            <a:extLst>
              <a:ext uri="{FF2B5EF4-FFF2-40B4-BE49-F238E27FC236}">
                <a16:creationId xmlns:a16="http://schemas.microsoft.com/office/drawing/2014/main" id="{B9DDA7D0-81BF-4184-A71E-4E659CC0AC99}"/>
              </a:ext>
            </a:extLst>
          </p:cNvPr>
          <p:cNvCxnSpPr>
            <a:cxnSpLocks/>
            <a:stCxn id="64" idx="1"/>
            <a:endCxn id="63" idx="3"/>
          </p:cNvCxnSpPr>
          <p:nvPr/>
        </p:nvCxnSpPr>
        <p:spPr bwMode="gray">
          <a:xfrm flipH="1">
            <a:off x="9061651" y="2787594"/>
            <a:ext cx="153853" cy="7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6277855-A4BF-41D0-8D9D-DB4943497653}"/>
              </a:ext>
            </a:extLst>
          </p:cNvPr>
          <p:cNvCxnSpPr>
            <a:cxnSpLocks/>
            <a:stCxn id="64" idx="2"/>
            <a:endCxn id="13" idx="0"/>
          </p:cNvCxnSpPr>
          <p:nvPr/>
        </p:nvCxnSpPr>
        <p:spPr bwMode="gray">
          <a:xfrm flipH="1">
            <a:off x="8872890" y="2913098"/>
            <a:ext cx="496009" cy="76476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C61F441-5371-4EB8-9866-732C432CDFB1}"/>
              </a:ext>
            </a:extLst>
          </p:cNvPr>
          <p:cNvCxnSpPr>
            <a:cxnSpLocks/>
            <a:stCxn id="63" idx="2"/>
            <a:endCxn id="12" idx="0"/>
          </p:cNvCxnSpPr>
          <p:nvPr/>
        </p:nvCxnSpPr>
        <p:spPr bwMode="gray">
          <a:xfrm flipH="1">
            <a:off x="6879806" y="2913866"/>
            <a:ext cx="2028451" cy="763993"/>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82" name="Picture 12" descr="E:\2016.01\1.12 扁平化图标\蓝色\AR-蓝色最新-40.png">
            <a:extLst>
              <a:ext uri="{FF2B5EF4-FFF2-40B4-BE49-F238E27FC236}">
                <a16:creationId xmlns:a16="http://schemas.microsoft.com/office/drawing/2014/main" id="{F2F6DAAF-A1A3-485C-97A5-CB2F963F2E16}"/>
              </a:ext>
            </a:extLst>
          </p:cNvPr>
          <p:cNvPicPr>
            <a:picLocks noChangeAspect="1" noChangeArrowheads="1"/>
          </p:cNvPicPr>
          <p:nvPr/>
        </p:nvPicPr>
        <p:blipFill>
          <a:blip r:embed="rId3" cstate="print"/>
          <a:srcRect/>
          <a:stretch>
            <a:fillRect/>
          </a:stretch>
        </p:blipFill>
        <p:spPr bwMode="gray">
          <a:xfrm>
            <a:off x="5682708" y="3397844"/>
            <a:ext cx="474524" cy="388247"/>
          </a:xfrm>
          <a:prstGeom prst="rect">
            <a:avLst/>
          </a:prstGeom>
          <a:noFill/>
        </p:spPr>
      </p:pic>
      <p:cxnSp>
        <p:nvCxnSpPr>
          <p:cNvPr id="84" name="Straight Connector 83">
            <a:extLst>
              <a:ext uri="{FF2B5EF4-FFF2-40B4-BE49-F238E27FC236}">
                <a16:creationId xmlns:a16="http://schemas.microsoft.com/office/drawing/2014/main" id="{9B8FCB80-7A44-4FC3-B486-D00363C943C3}"/>
              </a:ext>
            </a:extLst>
          </p:cNvPr>
          <p:cNvCxnSpPr>
            <a:cxnSpLocks/>
            <a:stCxn id="82" idx="1"/>
            <a:endCxn id="26" idx="3"/>
          </p:cNvCxnSpPr>
          <p:nvPr/>
        </p:nvCxnSpPr>
        <p:spPr bwMode="gray">
          <a:xfrm flipH="1">
            <a:off x="5540828" y="3591968"/>
            <a:ext cx="141880" cy="2146"/>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88" name="Picture 12" descr="E:\2016.01\1.12 扁平化图标\蓝色\AR-蓝色最新-40.png">
            <a:extLst>
              <a:ext uri="{FF2B5EF4-FFF2-40B4-BE49-F238E27FC236}">
                <a16:creationId xmlns:a16="http://schemas.microsoft.com/office/drawing/2014/main" id="{FC57A566-30B1-410E-85E1-B7A8FEC94D5D}"/>
              </a:ext>
            </a:extLst>
          </p:cNvPr>
          <p:cNvPicPr>
            <a:picLocks noChangeAspect="1" noChangeArrowheads="1"/>
          </p:cNvPicPr>
          <p:nvPr/>
        </p:nvPicPr>
        <p:blipFill>
          <a:blip r:embed="rId3" cstate="print"/>
          <a:srcRect/>
          <a:stretch>
            <a:fillRect/>
          </a:stretch>
        </p:blipFill>
        <p:spPr bwMode="gray">
          <a:xfrm>
            <a:off x="10418436" y="3399990"/>
            <a:ext cx="474524" cy="388247"/>
          </a:xfrm>
          <a:prstGeom prst="rect">
            <a:avLst/>
          </a:prstGeom>
          <a:noFill/>
        </p:spPr>
      </p:pic>
      <p:cxnSp>
        <p:nvCxnSpPr>
          <p:cNvPr id="91" name="Straight Connector 90">
            <a:extLst>
              <a:ext uri="{FF2B5EF4-FFF2-40B4-BE49-F238E27FC236}">
                <a16:creationId xmlns:a16="http://schemas.microsoft.com/office/drawing/2014/main" id="{C94B6AE0-3684-46A0-B717-5E632DE8F3E8}"/>
              </a:ext>
            </a:extLst>
          </p:cNvPr>
          <p:cNvCxnSpPr>
            <a:cxnSpLocks/>
            <a:stCxn id="88" idx="1"/>
            <a:endCxn id="27" idx="3"/>
          </p:cNvCxnSpPr>
          <p:nvPr/>
        </p:nvCxnSpPr>
        <p:spPr bwMode="gray">
          <a:xfrm flipH="1">
            <a:off x="10157508" y="3594114"/>
            <a:ext cx="260928"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98" name="Picture 12" descr="E:\2016.01\1.12 扁平化图标\蓝色\AR-蓝色最新-40.png">
            <a:extLst>
              <a:ext uri="{FF2B5EF4-FFF2-40B4-BE49-F238E27FC236}">
                <a16:creationId xmlns:a16="http://schemas.microsoft.com/office/drawing/2014/main" id="{AC14A669-3AB1-4FA4-820D-D96167CA0A40}"/>
              </a:ext>
            </a:extLst>
          </p:cNvPr>
          <p:cNvPicPr>
            <a:picLocks noChangeAspect="1" noChangeArrowheads="1"/>
          </p:cNvPicPr>
          <p:nvPr/>
        </p:nvPicPr>
        <p:blipFill>
          <a:blip r:embed="rId3" cstate="print">
            <a:duotone>
              <a:schemeClr val="accent4">
                <a:shade val="45000"/>
                <a:satMod val="135000"/>
              </a:schemeClr>
              <a:prstClr val="white"/>
            </a:duotone>
          </a:blip>
          <a:srcRect/>
          <a:stretch>
            <a:fillRect/>
          </a:stretch>
        </p:blipFill>
        <p:spPr bwMode="gray">
          <a:xfrm>
            <a:off x="5670049" y="4677083"/>
            <a:ext cx="474524" cy="388247"/>
          </a:xfrm>
          <a:prstGeom prst="rect">
            <a:avLst/>
          </a:prstGeom>
          <a:noFill/>
          <a:ln>
            <a:noFill/>
          </a:ln>
        </p:spPr>
      </p:pic>
      <p:sp>
        <p:nvSpPr>
          <p:cNvPr id="99" name="TextBox 98">
            <a:extLst>
              <a:ext uri="{FF2B5EF4-FFF2-40B4-BE49-F238E27FC236}">
                <a16:creationId xmlns:a16="http://schemas.microsoft.com/office/drawing/2014/main" id="{76ECC8B0-5518-4C39-A816-08C151EB8D4D}"/>
              </a:ext>
            </a:extLst>
          </p:cNvPr>
          <p:cNvSpPr txBox="1"/>
          <p:nvPr/>
        </p:nvSpPr>
        <p:spPr bwMode="gray">
          <a:xfrm>
            <a:off x="5310999" y="5055713"/>
            <a:ext cx="639919" cy="276999"/>
          </a:xfrm>
          <a:prstGeom prst="rect">
            <a:avLst/>
          </a:prstGeom>
          <a:noFill/>
        </p:spPr>
        <p:txBody>
          <a:bodyPr wrap="none" rtlCol="0">
            <a:spAutoFit/>
          </a:bodyPr>
          <a:lstStyle/>
          <a:p>
            <a:r>
              <a:rPr lang="zh-CN" altLang="en-US" sz="1200" dirty="0"/>
              <a:t>备</a:t>
            </a:r>
            <a:r>
              <a:rPr lang="en-US" altLang="zh-CN" sz="1200" dirty="0"/>
              <a:t>IWG</a:t>
            </a:r>
            <a:endParaRPr lang="zh-CN" altLang="en-US" sz="1200" dirty="0"/>
          </a:p>
        </p:txBody>
      </p:sp>
      <p:cxnSp>
        <p:nvCxnSpPr>
          <p:cNvPr id="100" name="Straight Connector 99">
            <a:extLst>
              <a:ext uri="{FF2B5EF4-FFF2-40B4-BE49-F238E27FC236}">
                <a16:creationId xmlns:a16="http://schemas.microsoft.com/office/drawing/2014/main" id="{F99D347F-85E6-425E-8531-CA25634F6EF2}"/>
              </a:ext>
            </a:extLst>
          </p:cNvPr>
          <p:cNvCxnSpPr>
            <a:cxnSpLocks/>
            <a:endCxn id="98" idx="3"/>
          </p:cNvCxnSpPr>
          <p:nvPr/>
        </p:nvCxnSpPr>
        <p:spPr bwMode="gray">
          <a:xfrm flipH="1">
            <a:off x="6144573" y="4323861"/>
            <a:ext cx="790118" cy="54734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4" name="Rectangular Callout 26">
            <a:extLst>
              <a:ext uri="{FF2B5EF4-FFF2-40B4-BE49-F238E27FC236}">
                <a16:creationId xmlns:a16="http://schemas.microsoft.com/office/drawing/2014/main" id="{39E0A525-0EB3-40EF-B314-09B75F3922E0}"/>
              </a:ext>
            </a:extLst>
          </p:cNvPr>
          <p:cNvSpPr/>
          <p:nvPr/>
        </p:nvSpPr>
        <p:spPr bwMode="gray">
          <a:xfrm>
            <a:off x="10365544" y="2102631"/>
            <a:ext cx="1025039" cy="485982"/>
          </a:xfrm>
          <a:prstGeom prst="wedgeRectCallout">
            <a:avLst>
              <a:gd name="adj1" fmla="val -69940"/>
              <a:gd name="adj2" fmla="val 5962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Hub</a:t>
            </a:r>
            <a:r>
              <a:rPr lang="zh-CN" altLang="en-US" sz="120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站点</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可靠性设计</a:t>
            </a:r>
          </a:p>
        </p:txBody>
      </p:sp>
      <p:sp>
        <p:nvSpPr>
          <p:cNvPr id="105" name="Rectangular Callout 26">
            <a:extLst>
              <a:ext uri="{FF2B5EF4-FFF2-40B4-BE49-F238E27FC236}">
                <a16:creationId xmlns:a16="http://schemas.microsoft.com/office/drawing/2014/main" id="{9129F36E-36D6-4F3F-A800-37D2B682BB84}"/>
              </a:ext>
            </a:extLst>
          </p:cNvPr>
          <p:cNvSpPr/>
          <p:nvPr/>
        </p:nvSpPr>
        <p:spPr bwMode="gray">
          <a:xfrm>
            <a:off x="10498976" y="4070141"/>
            <a:ext cx="1025039" cy="485982"/>
          </a:xfrm>
          <a:prstGeom prst="wedgeRectCallout">
            <a:avLst>
              <a:gd name="adj1" fmla="val -29983"/>
              <a:gd name="adj2" fmla="val -8932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RR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站点可靠性设计</a:t>
            </a:r>
          </a:p>
        </p:txBody>
      </p:sp>
      <p:sp>
        <p:nvSpPr>
          <p:cNvPr id="106" name="Rectangular Callout 26">
            <a:extLst>
              <a:ext uri="{FF2B5EF4-FFF2-40B4-BE49-F238E27FC236}">
                <a16:creationId xmlns:a16="http://schemas.microsoft.com/office/drawing/2014/main" id="{5880937B-B388-4FCE-9DEE-802A0EEC6646}"/>
              </a:ext>
            </a:extLst>
          </p:cNvPr>
          <p:cNvSpPr/>
          <p:nvPr/>
        </p:nvSpPr>
        <p:spPr bwMode="gray">
          <a:xfrm>
            <a:off x="5032540" y="5441574"/>
            <a:ext cx="1025039" cy="485982"/>
          </a:xfrm>
          <a:prstGeom prst="wedgeRectCallout">
            <a:avLst>
              <a:gd name="adj1" fmla="val 47143"/>
              <a:gd name="adj2" fmla="val -11872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IWG</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站点可靠性设计</a:t>
            </a:r>
          </a:p>
        </p:txBody>
      </p:sp>
    </p:spTree>
    <p:extLst>
      <p:ext uri="{BB962C8B-B14F-4D97-AF65-F5344CB8AC3E}">
        <p14:creationId xmlns:p14="http://schemas.microsoft.com/office/powerpoint/2010/main" val="256008792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Freeform 159">
            <a:extLst>
              <a:ext uri="{FF2B5EF4-FFF2-40B4-BE49-F238E27FC236}">
                <a16:creationId xmlns:a16="http://schemas.microsoft.com/office/drawing/2014/main" id="{7B06FCA9-CC6D-488C-B8B0-1BD186DC7C5E}"/>
              </a:ext>
            </a:extLst>
          </p:cNvPr>
          <p:cNvSpPr/>
          <p:nvPr/>
        </p:nvSpPr>
        <p:spPr bwMode="gray">
          <a:xfrm flipH="1">
            <a:off x="7222500" y="2252500"/>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DC</a:t>
            </a:r>
          </a:p>
        </p:txBody>
      </p:sp>
      <p:sp>
        <p:nvSpPr>
          <p:cNvPr id="147" name="Freeform 159">
            <a:extLst>
              <a:ext uri="{FF2B5EF4-FFF2-40B4-BE49-F238E27FC236}">
                <a16:creationId xmlns:a16="http://schemas.microsoft.com/office/drawing/2014/main" id="{81C5FEDF-A48B-4133-9975-C3B1CEB29FD2}"/>
              </a:ext>
            </a:extLst>
          </p:cNvPr>
          <p:cNvSpPr/>
          <p:nvPr/>
        </p:nvSpPr>
        <p:spPr bwMode="gray">
          <a:xfrm flipH="1">
            <a:off x="9171868" y="2252500"/>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DC</a:t>
            </a:r>
          </a:p>
        </p:txBody>
      </p:sp>
      <p:sp>
        <p:nvSpPr>
          <p:cNvPr id="134" name="Freeform 159">
            <a:extLst>
              <a:ext uri="{FF2B5EF4-FFF2-40B4-BE49-F238E27FC236}">
                <a16:creationId xmlns:a16="http://schemas.microsoft.com/office/drawing/2014/main" id="{7A49FE53-D7FB-448F-A572-F5D6700256CE}"/>
              </a:ext>
            </a:extLst>
          </p:cNvPr>
          <p:cNvSpPr/>
          <p:nvPr/>
        </p:nvSpPr>
        <p:spPr bwMode="gray">
          <a:xfrm flipH="1">
            <a:off x="1919272" y="238300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DC</a:t>
            </a:r>
          </a:p>
        </p:txBody>
      </p:sp>
      <p:sp>
        <p:nvSpPr>
          <p:cNvPr id="135" name="Freeform 159">
            <a:extLst>
              <a:ext uri="{FF2B5EF4-FFF2-40B4-BE49-F238E27FC236}">
                <a16:creationId xmlns:a16="http://schemas.microsoft.com/office/drawing/2014/main" id="{8FFC6958-CA07-4A36-9636-F920892B305A}"/>
              </a:ext>
            </a:extLst>
          </p:cNvPr>
          <p:cNvSpPr/>
          <p:nvPr/>
        </p:nvSpPr>
        <p:spPr bwMode="gray">
          <a:xfrm flipH="1">
            <a:off x="3868640" y="238300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DC</a:t>
            </a:r>
          </a:p>
        </p:txBody>
      </p:sp>
      <p:pic>
        <p:nvPicPr>
          <p:cNvPr id="120" name="图片 14" descr="交换机.png">
            <a:extLst>
              <a:ext uri="{FF2B5EF4-FFF2-40B4-BE49-F238E27FC236}">
                <a16:creationId xmlns:a16="http://schemas.microsoft.com/office/drawing/2014/main" id="{92827137-E5D9-46B3-BE22-040CCEC818A9}"/>
              </a:ext>
            </a:extLst>
          </p:cNvPr>
          <p:cNvPicPr>
            <a:picLocks noChangeAspect="1"/>
          </p:cNvPicPr>
          <p:nvPr/>
        </p:nvPicPr>
        <p:blipFill>
          <a:blip r:embed="rId3" cstate="print"/>
          <a:stretch>
            <a:fillRect/>
          </a:stretch>
        </p:blipFill>
        <p:spPr bwMode="gray">
          <a:xfrm>
            <a:off x="2153803" y="2146725"/>
            <a:ext cx="420077" cy="343698"/>
          </a:xfrm>
          <a:prstGeom prst="rect">
            <a:avLst/>
          </a:prstGeom>
        </p:spPr>
      </p:pic>
      <p:pic>
        <p:nvPicPr>
          <p:cNvPr id="121" name="图片 14" descr="交换机.png">
            <a:extLst>
              <a:ext uri="{FF2B5EF4-FFF2-40B4-BE49-F238E27FC236}">
                <a16:creationId xmlns:a16="http://schemas.microsoft.com/office/drawing/2014/main" id="{25B51D04-DAEA-49D0-A559-020D86F7718D}"/>
              </a:ext>
            </a:extLst>
          </p:cNvPr>
          <p:cNvPicPr>
            <a:picLocks noChangeAspect="1"/>
          </p:cNvPicPr>
          <p:nvPr/>
        </p:nvPicPr>
        <p:blipFill>
          <a:blip r:embed="rId3" cstate="print"/>
          <a:stretch>
            <a:fillRect/>
          </a:stretch>
        </p:blipFill>
        <p:spPr bwMode="gray">
          <a:xfrm>
            <a:off x="4145947" y="2136420"/>
            <a:ext cx="420077" cy="343698"/>
          </a:xfrm>
          <a:prstGeom prst="rect">
            <a:avLst/>
          </a:prstGeom>
        </p:spPr>
      </p:pic>
      <p:pic>
        <p:nvPicPr>
          <p:cNvPr id="122" name="图片 14" descr="交换机.png">
            <a:extLst>
              <a:ext uri="{FF2B5EF4-FFF2-40B4-BE49-F238E27FC236}">
                <a16:creationId xmlns:a16="http://schemas.microsoft.com/office/drawing/2014/main" id="{528CDEB1-537C-499F-AD9B-12E27242A27C}"/>
              </a:ext>
            </a:extLst>
          </p:cNvPr>
          <p:cNvPicPr>
            <a:picLocks noChangeAspect="1"/>
          </p:cNvPicPr>
          <p:nvPr/>
        </p:nvPicPr>
        <p:blipFill>
          <a:blip r:embed="rId3" cstate="print"/>
          <a:stretch>
            <a:fillRect/>
          </a:stretch>
        </p:blipFill>
        <p:spPr bwMode="gray">
          <a:xfrm>
            <a:off x="7536731" y="2042040"/>
            <a:ext cx="420077" cy="343698"/>
          </a:xfrm>
          <a:prstGeom prst="rect">
            <a:avLst/>
          </a:prstGeom>
        </p:spPr>
      </p:pic>
      <p:pic>
        <p:nvPicPr>
          <p:cNvPr id="136" name="图片 14" descr="交换机.png">
            <a:extLst>
              <a:ext uri="{FF2B5EF4-FFF2-40B4-BE49-F238E27FC236}">
                <a16:creationId xmlns:a16="http://schemas.microsoft.com/office/drawing/2014/main" id="{04E280EA-AC8E-4E3B-82E3-97071E293FD1}"/>
              </a:ext>
            </a:extLst>
          </p:cNvPr>
          <p:cNvPicPr>
            <a:picLocks noChangeAspect="1"/>
          </p:cNvPicPr>
          <p:nvPr/>
        </p:nvPicPr>
        <p:blipFill>
          <a:blip r:embed="rId3" cstate="print"/>
          <a:stretch>
            <a:fillRect/>
          </a:stretch>
        </p:blipFill>
        <p:spPr bwMode="gray">
          <a:xfrm>
            <a:off x="9494997" y="2033284"/>
            <a:ext cx="420077" cy="343698"/>
          </a:xfrm>
          <a:prstGeom prst="rect">
            <a:avLst/>
          </a:prstGeom>
        </p:spPr>
      </p:pic>
      <p:sp>
        <p:nvSpPr>
          <p:cNvPr id="142" name="Freeform 159">
            <a:extLst>
              <a:ext uri="{FF2B5EF4-FFF2-40B4-BE49-F238E27FC236}">
                <a16:creationId xmlns:a16="http://schemas.microsoft.com/office/drawing/2014/main" id="{8254F229-D3E3-4968-843C-FF6D892434F7}"/>
              </a:ext>
            </a:extLst>
          </p:cNvPr>
          <p:cNvSpPr/>
          <p:nvPr/>
        </p:nvSpPr>
        <p:spPr bwMode="gray">
          <a:xfrm flipH="1">
            <a:off x="7622021" y="3608912"/>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143" name="Freeform 159">
            <a:extLst>
              <a:ext uri="{FF2B5EF4-FFF2-40B4-BE49-F238E27FC236}">
                <a16:creationId xmlns:a16="http://schemas.microsoft.com/office/drawing/2014/main" id="{543CAB35-1C32-485C-BA3D-B4DF8AA2FDBB}"/>
              </a:ext>
            </a:extLst>
          </p:cNvPr>
          <p:cNvSpPr/>
          <p:nvPr/>
        </p:nvSpPr>
        <p:spPr bwMode="gray">
          <a:xfrm flipH="1">
            <a:off x="8660743" y="3597169"/>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144" name="Freeform 159">
            <a:extLst>
              <a:ext uri="{FF2B5EF4-FFF2-40B4-BE49-F238E27FC236}">
                <a16:creationId xmlns:a16="http://schemas.microsoft.com/office/drawing/2014/main" id="{FA2BE659-571B-4ABE-8033-1B574F215ACA}"/>
              </a:ext>
            </a:extLst>
          </p:cNvPr>
          <p:cNvSpPr/>
          <p:nvPr/>
        </p:nvSpPr>
        <p:spPr bwMode="gray">
          <a:xfrm flipH="1">
            <a:off x="7435618" y="5092363"/>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145" name="Freeform 159">
            <a:extLst>
              <a:ext uri="{FF2B5EF4-FFF2-40B4-BE49-F238E27FC236}">
                <a16:creationId xmlns:a16="http://schemas.microsoft.com/office/drawing/2014/main" id="{52715345-A518-4F9F-9F77-7B86BE5523BE}"/>
              </a:ext>
            </a:extLst>
          </p:cNvPr>
          <p:cNvSpPr/>
          <p:nvPr/>
        </p:nvSpPr>
        <p:spPr bwMode="gray">
          <a:xfrm flipH="1">
            <a:off x="9021034" y="5094480"/>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130" name="Freeform 159">
            <a:extLst>
              <a:ext uri="{FF2B5EF4-FFF2-40B4-BE49-F238E27FC236}">
                <a16:creationId xmlns:a16="http://schemas.microsoft.com/office/drawing/2014/main" id="{5785E0A9-1D1C-4E43-9E43-933C86217D9A}"/>
              </a:ext>
            </a:extLst>
          </p:cNvPr>
          <p:cNvSpPr/>
          <p:nvPr/>
        </p:nvSpPr>
        <p:spPr bwMode="gray">
          <a:xfrm flipH="1">
            <a:off x="2318793" y="3739420"/>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131" name="Freeform 159">
            <a:extLst>
              <a:ext uri="{FF2B5EF4-FFF2-40B4-BE49-F238E27FC236}">
                <a16:creationId xmlns:a16="http://schemas.microsoft.com/office/drawing/2014/main" id="{0D7C49A3-086C-43E5-B319-6DA30E790416}"/>
              </a:ext>
            </a:extLst>
          </p:cNvPr>
          <p:cNvSpPr/>
          <p:nvPr/>
        </p:nvSpPr>
        <p:spPr bwMode="gray">
          <a:xfrm flipH="1">
            <a:off x="3357515" y="3727677"/>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132" name="Freeform 159">
            <a:extLst>
              <a:ext uri="{FF2B5EF4-FFF2-40B4-BE49-F238E27FC236}">
                <a16:creationId xmlns:a16="http://schemas.microsoft.com/office/drawing/2014/main" id="{74A49C4C-638D-456B-A761-71E60D878C89}"/>
              </a:ext>
            </a:extLst>
          </p:cNvPr>
          <p:cNvSpPr/>
          <p:nvPr/>
        </p:nvSpPr>
        <p:spPr bwMode="gray">
          <a:xfrm flipH="1">
            <a:off x="2132390" y="5213906"/>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133" name="Freeform 159">
            <a:extLst>
              <a:ext uri="{FF2B5EF4-FFF2-40B4-BE49-F238E27FC236}">
                <a16:creationId xmlns:a16="http://schemas.microsoft.com/office/drawing/2014/main" id="{F36F2600-9B26-4246-BF77-A678DFC585BB}"/>
              </a:ext>
            </a:extLst>
          </p:cNvPr>
          <p:cNvSpPr/>
          <p:nvPr/>
        </p:nvSpPr>
        <p:spPr bwMode="gray">
          <a:xfrm flipH="1">
            <a:off x="3717806" y="5233953"/>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3" name="标题 2"/>
          <p:cNvSpPr>
            <a:spLocks noGrp="1"/>
          </p:cNvSpPr>
          <p:nvPr>
            <p:ph type="title"/>
          </p:nvPr>
        </p:nvSpPr>
        <p:spPr bwMode="gray"/>
        <p:txBody>
          <a:bodyPr/>
          <a:lstStyle/>
          <a:p>
            <a:r>
              <a:rPr lang="en-US" altLang="zh-CN"/>
              <a:t>Hub</a:t>
            </a:r>
            <a:r>
              <a:rPr lang="zh-CN" altLang="en-US"/>
              <a:t>站点</a:t>
            </a:r>
            <a:r>
              <a:rPr lang="zh-CN" altLang="en-US" dirty="0"/>
              <a:t>可靠性设计</a:t>
            </a:r>
          </a:p>
        </p:txBody>
      </p:sp>
      <p:cxnSp>
        <p:nvCxnSpPr>
          <p:cNvPr id="9" name="直接连接符 8"/>
          <p:cNvCxnSpPr/>
          <p:nvPr/>
        </p:nvCxnSpPr>
        <p:spPr bwMode="gray">
          <a:xfrm>
            <a:off x="2562653" y="5172443"/>
            <a:ext cx="140764"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 name="图片 12"/>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181504" y="4980154"/>
            <a:ext cx="466668" cy="385001"/>
          </a:xfrm>
          <a:prstGeom prst="rect">
            <a:avLst/>
          </a:prstGeom>
        </p:spPr>
      </p:pic>
      <p:sp>
        <p:nvSpPr>
          <p:cNvPr id="14" name="文本框 13"/>
          <p:cNvSpPr txBox="1"/>
          <p:nvPr/>
        </p:nvSpPr>
        <p:spPr bwMode="gray">
          <a:xfrm>
            <a:off x="1264914" y="4987777"/>
            <a:ext cx="853675" cy="338554"/>
          </a:xfrm>
          <a:prstGeom prst="rect">
            <a:avLst/>
          </a:prstGeom>
          <a:noFill/>
        </p:spPr>
        <p:txBody>
          <a:bodyPr wrap="square" rtlCol="0">
            <a:spAutoFit/>
          </a:bodyPr>
          <a:lstStyle/>
          <a:p>
            <a:pPr algn="ctr"/>
            <a:r>
              <a:rPr lang="en-US" altLang="zh-CN" sz="1600" dirty="0">
                <a:solidFill>
                  <a:srgbClr val="000000"/>
                </a:solidFill>
              </a:rPr>
              <a:t>Spoke</a:t>
            </a:r>
            <a:endParaRPr lang="zh-CN" altLang="en-US" sz="1600" dirty="0">
              <a:solidFill>
                <a:srgbClr val="000000"/>
              </a:solidFill>
            </a:endParaRPr>
          </a:p>
        </p:txBody>
      </p:sp>
      <p:cxnSp>
        <p:nvCxnSpPr>
          <p:cNvPr id="16" name="直接连接符 15"/>
          <p:cNvCxnSpPr>
            <a:cxnSpLocks/>
            <a:stCxn id="31" idx="0"/>
          </p:cNvCxnSpPr>
          <p:nvPr/>
        </p:nvCxnSpPr>
        <p:spPr bwMode="gray">
          <a:xfrm flipV="1">
            <a:off x="2898103" y="4216027"/>
            <a:ext cx="961307" cy="761973"/>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a:cxnSpLocks/>
            <a:stCxn id="29" idx="2"/>
            <a:endCxn id="131" idx="1"/>
          </p:cNvCxnSpPr>
          <p:nvPr/>
        </p:nvCxnSpPr>
        <p:spPr bwMode="gray">
          <a:xfrm>
            <a:off x="2637735" y="3166344"/>
            <a:ext cx="1258994" cy="63087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p:cNvCxnSpPr>
            <a:cxnSpLocks/>
            <a:stCxn id="13" idx="0"/>
          </p:cNvCxnSpPr>
          <p:nvPr/>
        </p:nvCxnSpPr>
        <p:spPr bwMode="gray">
          <a:xfrm flipV="1">
            <a:off x="2414839" y="4260110"/>
            <a:ext cx="390937" cy="71789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1" name="图片 20"/>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4007961" y="4980154"/>
            <a:ext cx="466668" cy="385001"/>
          </a:xfrm>
          <a:prstGeom prst="rect">
            <a:avLst/>
          </a:prstGeom>
        </p:spPr>
      </p:pic>
      <p:cxnSp>
        <p:nvCxnSpPr>
          <p:cNvPr id="22" name="直接连接符 21"/>
          <p:cNvCxnSpPr>
            <a:cxnSpLocks/>
            <a:stCxn id="21" idx="0"/>
          </p:cNvCxnSpPr>
          <p:nvPr/>
        </p:nvCxnSpPr>
        <p:spPr bwMode="gray">
          <a:xfrm flipH="1" flipV="1">
            <a:off x="2805775" y="4260110"/>
            <a:ext cx="1435520" cy="71789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p:cNvCxnSpPr>
            <a:cxnSpLocks/>
            <a:stCxn id="21" idx="0"/>
          </p:cNvCxnSpPr>
          <p:nvPr/>
        </p:nvCxnSpPr>
        <p:spPr bwMode="gray">
          <a:xfrm flipH="1" flipV="1">
            <a:off x="3859410" y="4216027"/>
            <a:ext cx="381885" cy="761973"/>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p:cNvCxnSpPr/>
          <p:nvPr/>
        </p:nvCxnSpPr>
        <p:spPr bwMode="gray">
          <a:xfrm>
            <a:off x="2259960" y="2960527"/>
            <a:ext cx="189199"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6" name="图片 25"/>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1898120" y="2780085"/>
            <a:ext cx="466668" cy="385001"/>
          </a:xfrm>
          <a:prstGeom prst="rect">
            <a:avLst/>
          </a:prstGeom>
        </p:spPr>
      </p:pic>
      <p:sp>
        <p:nvSpPr>
          <p:cNvPr id="27" name="文本框 26"/>
          <p:cNvSpPr txBox="1"/>
          <p:nvPr/>
        </p:nvSpPr>
        <p:spPr bwMode="gray">
          <a:xfrm>
            <a:off x="1184835" y="2810624"/>
            <a:ext cx="867292" cy="338554"/>
          </a:xfrm>
          <a:prstGeom prst="rect">
            <a:avLst/>
          </a:prstGeom>
          <a:noFill/>
        </p:spPr>
        <p:txBody>
          <a:bodyPr wrap="square" rtlCol="0">
            <a:spAutoFit/>
          </a:bodyPr>
          <a:lstStyle/>
          <a:p>
            <a:pPr algn="ctr"/>
            <a:r>
              <a:rPr lang="en-US" altLang="zh-CN" sz="1600">
                <a:solidFill>
                  <a:srgbClr val="000000"/>
                </a:solidFill>
              </a:rPr>
              <a:t>Hub1</a:t>
            </a:r>
            <a:endParaRPr lang="zh-CN" altLang="en-US" sz="1600" dirty="0">
              <a:solidFill>
                <a:srgbClr val="000000"/>
              </a:solidFill>
            </a:endParaRPr>
          </a:p>
        </p:txBody>
      </p:sp>
      <p:pic>
        <p:nvPicPr>
          <p:cNvPr id="29" name="图片 28"/>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404401" y="2779189"/>
            <a:ext cx="466668" cy="385001"/>
          </a:xfrm>
          <a:prstGeom prst="rect">
            <a:avLst/>
          </a:prstGeom>
        </p:spPr>
      </p:pic>
      <p:cxnSp>
        <p:nvCxnSpPr>
          <p:cNvPr id="30" name="直接连接符 29"/>
          <p:cNvCxnSpPr>
            <a:cxnSpLocks/>
            <a:stCxn id="26" idx="2"/>
            <a:endCxn id="130" idx="1"/>
          </p:cNvCxnSpPr>
          <p:nvPr/>
        </p:nvCxnSpPr>
        <p:spPr bwMode="gray">
          <a:xfrm>
            <a:off x="2131454" y="3167240"/>
            <a:ext cx="726553" cy="641726"/>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1" name="图片 30"/>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664769" y="4980154"/>
            <a:ext cx="466668" cy="385001"/>
          </a:xfrm>
          <a:prstGeom prst="rect">
            <a:avLst/>
          </a:prstGeom>
        </p:spPr>
      </p:pic>
      <p:cxnSp>
        <p:nvCxnSpPr>
          <p:cNvPr id="32" name="直接连接符 31"/>
          <p:cNvCxnSpPr/>
          <p:nvPr/>
        </p:nvCxnSpPr>
        <p:spPr bwMode="gray">
          <a:xfrm>
            <a:off x="4135270" y="2942466"/>
            <a:ext cx="189199"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4" name="图片 33"/>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3773430" y="2762023"/>
            <a:ext cx="466668" cy="385001"/>
          </a:xfrm>
          <a:prstGeom prst="rect">
            <a:avLst/>
          </a:prstGeom>
        </p:spPr>
      </p:pic>
      <p:sp>
        <p:nvSpPr>
          <p:cNvPr id="35" name="文本框 34"/>
          <p:cNvSpPr txBox="1"/>
          <p:nvPr/>
        </p:nvSpPr>
        <p:spPr bwMode="gray">
          <a:xfrm>
            <a:off x="4568069" y="2804086"/>
            <a:ext cx="867292" cy="338554"/>
          </a:xfrm>
          <a:prstGeom prst="rect">
            <a:avLst/>
          </a:prstGeom>
          <a:noFill/>
        </p:spPr>
        <p:txBody>
          <a:bodyPr wrap="square" rtlCol="0">
            <a:spAutoFit/>
          </a:bodyPr>
          <a:lstStyle/>
          <a:p>
            <a:pPr algn="ctr"/>
            <a:r>
              <a:rPr lang="en-US" altLang="zh-CN" sz="1600">
                <a:solidFill>
                  <a:srgbClr val="000000"/>
                </a:solidFill>
              </a:rPr>
              <a:t>Hub2</a:t>
            </a:r>
            <a:endParaRPr lang="zh-CN" altLang="en-US" sz="1600" dirty="0">
              <a:solidFill>
                <a:srgbClr val="000000"/>
              </a:solidFill>
            </a:endParaRPr>
          </a:p>
        </p:txBody>
      </p:sp>
      <p:pic>
        <p:nvPicPr>
          <p:cNvPr id="37" name="图片 36"/>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4279712" y="2761127"/>
            <a:ext cx="466668" cy="385001"/>
          </a:xfrm>
          <a:prstGeom prst="rect">
            <a:avLst/>
          </a:prstGeom>
        </p:spPr>
      </p:pic>
      <p:cxnSp>
        <p:nvCxnSpPr>
          <p:cNvPr id="38" name="直接连接符 37"/>
          <p:cNvCxnSpPr>
            <a:cxnSpLocks/>
            <a:stCxn id="37" idx="2"/>
            <a:endCxn id="131" idx="1"/>
          </p:cNvCxnSpPr>
          <p:nvPr/>
        </p:nvCxnSpPr>
        <p:spPr bwMode="gray">
          <a:xfrm flipH="1">
            <a:off x="3896729" y="3148282"/>
            <a:ext cx="616317" cy="64894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连接符 38"/>
          <p:cNvCxnSpPr>
            <a:cxnSpLocks/>
            <a:stCxn id="34" idx="2"/>
            <a:endCxn id="130" idx="3"/>
          </p:cNvCxnSpPr>
          <p:nvPr/>
        </p:nvCxnSpPr>
        <p:spPr bwMode="gray">
          <a:xfrm flipH="1">
            <a:off x="2880032" y="3149178"/>
            <a:ext cx="1126732" cy="668005"/>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39"/>
          <p:cNvCxnSpPr>
            <a:cxnSpLocks/>
          </p:cNvCxnSpPr>
          <p:nvPr/>
        </p:nvCxnSpPr>
        <p:spPr bwMode="gray">
          <a:xfrm flipV="1">
            <a:off x="2862695" y="2609945"/>
            <a:ext cx="952592" cy="18061"/>
          </a:xfrm>
          <a:prstGeom prst="line">
            <a:avLst/>
          </a:prstGeom>
          <a:noFill/>
          <a:ln w="1587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文本框 40"/>
          <p:cNvSpPr txBox="1"/>
          <p:nvPr/>
        </p:nvSpPr>
        <p:spPr bwMode="gray">
          <a:xfrm>
            <a:off x="2902908" y="2319656"/>
            <a:ext cx="867292" cy="307777"/>
          </a:xfrm>
          <a:prstGeom prst="rect">
            <a:avLst/>
          </a:prstGeom>
          <a:noFill/>
        </p:spPr>
        <p:txBody>
          <a:bodyPr wrap="square" rtlCol="0">
            <a:spAutoFit/>
          </a:bodyPr>
          <a:lstStyle/>
          <a:p>
            <a:pPr algn="ctr"/>
            <a:r>
              <a:rPr lang="en-US" altLang="zh-CN" sz="1400" dirty="0">
                <a:solidFill>
                  <a:srgbClr val="000000"/>
                </a:solidFill>
              </a:rPr>
              <a:t>DCI</a:t>
            </a:r>
            <a:endParaRPr lang="zh-CN" altLang="en-US" sz="1400" dirty="0">
              <a:solidFill>
                <a:srgbClr val="000000"/>
              </a:solidFill>
            </a:endParaRPr>
          </a:p>
        </p:txBody>
      </p:sp>
      <p:sp>
        <p:nvSpPr>
          <p:cNvPr id="42" name="矩形 41"/>
          <p:cNvSpPr/>
          <p:nvPr/>
        </p:nvSpPr>
        <p:spPr bwMode="gray">
          <a:xfrm>
            <a:off x="2696306" y="5737439"/>
            <a:ext cx="800219" cy="276999"/>
          </a:xfrm>
          <a:prstGeom prst="rect">
            <a:avLst/>
          </a:prstGeom>
        </p:spPr>
        <p:txBody>
          <a:bodyPr wrap="none">
            <a:spAutoFit/>
          </a:bodyPr>
          <a:lstStyle/>
          <a:p>
            <a:pPr algn="ctr"/>
            <a:r>
              <a:rPr lang="zh-CN" altLang="en-US" sz="1200" dirty="0"/>
              <a:t>生产业务</a:t>
            </a:r>
            <a:endParaRPr lang="en-US" altLang="zh-CN" sz="1200" dirty="0"/>
          </a:p>
        </p:txBody>
      </p:sp>
      <p:sp>
        <p:nvSpPr>
          <p:cNvPr id="43" name="文本框 42"/>
          <p:cNvSpPr txBox="1"/>
          <p:nvPr/>
        </p:nvSpPr>
        <p:spPr bwMode="gray">
          <a:xfrm>
            <a:off x="2004291" y="1746250"/>
            <a:ext cx="800219" cy="276999"/>
          </a:xfrm>
          <a:prstGeom prst="rect">
            <a:avLst/>
          </a:prstGeom>
          <a:noFill/>
        </p:spPr>
        <p:txBody>
          <a:bodyPr wrap="none" rtlCol="0">
            <a:spAutoFit/>
          </a:bodyPr>
          <a:lstStyle/>
          <a:p>
            <a:pPr algn="ctr"/>
            <a:r>
              <a:rPr lang="zh-CN" altLang="en-US" sz="1200" dirty="0"/>
              <a:t>办公业务</a:t>
            </a:r>
            <a:endParaRPr lang="en-US" altLang="zh-CN" sz="1200" dirty="0"/>
          </a:p>
        </p:txBody>
      </p:sp>
      <p:sp>
        <p:nvSpPr>
          <p:cNvPr id="44" name="文本框 43"/>
          <p:cNvSpPr txBox="1"/>
          <p:nvPr/>
        </p:nvSpPr>
        <p:spPr bwMode="gray">
          <a:xfrm>
            <a:off x="3940335" y="1746250"/>
            <a:ext cx="800219" cy="276999"/>
          </a:xfrm>
          <a:prstGeom prst="rect">
            <a:avLst/>
          </a:prstGeom>
          <a:noFill/>
        </p:spPr>
        <p:txBody>
          <a:bodyPr wrap="none" rtlCol="0">
            <a:spAutoFit/>
          </a:bodyPr>
          <a:lstStyle/>
          <a:p>
            <a:pPr algn="ctr"/>
            <a:r>
              <a:rPr lang="zh-CN" altLang="en-US" sz="1200" dirty="0"/>
              <a:t>生产业务</a:t>
            </a:r>
            <a:endParaRPr lang="en-US" altLang="zh-CN" sz="1200" dirty="0"/>
          </a:p>
        </p:txBody>
      </p:sp>
      <p:sp>
        <p:nvSpPr>
          <p:cNvPr id="45" name="矩形 44"/>
          <p:cNvSpPr/>
          <p:nvPr/>
        </p:nvSpPr>
        <p:spPr bwMode="gray">
          <a:xfrm>
            <a:off x="1669596" y="5737439"/>
            <a:ext cx="800219" cy="276999"/>
          </a:xfrm>
          <a:prstGeom prst="rect">
            <a:avLst/>
          </a:prstGeom>
        </p:spPr>
        <p:txBody>
          <a:bodyPr wrap="none">
            <a:spAutoFit/>
          </a:bodyPr>
          <a:lstStyle/>
          <a:p>
            <a:pPr algn="ctr"/>
            <a:r>
              <a:rPr lang="zh-CN" altLang="en-US" sz="1200" dirty="0"/>
              <a:t>办公业务</a:t>
            </a:r>
            <a:endParaRPr lang="en-US" altLang="zh-CN" sz="1200" dirty="0"/>
          </a:p>
        </p:txBody>
      </p:sp>
      <p:cxnSp>
        <p:nvCxnSpPr>
          <p:cNvPr id="48" name="直接连接符 47"/>
          <p:cNvCxnSpPr/>
          <p:nvPr/>
        </p:nvCxnSpPr>
        <p:spPr bwMode="gray">
          <a:xfrm>
            <a:off x="7910185" y="5038625"/>
            <a:ext cx="140764"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1" name="图片 50"/>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7529036" y="4846336"/>
            <a:ext cx="466668" cy="385001"/>
          </a:xfrm>
          <a:prstGeom prst="rect">
            <a:avLst/>
          </a:prstGeom>
        </p:spPr>
      </p:pic>
      <p:sp>
        <p:nvSpPr>
          <p:cNvPr id="52" name="文本框 51"/>
          <p:cNvSpPr txBox="1"/>
          <p:nvPr/>
        </p:nvSpPr>
        <p:spPr bwMode="gray">
          <a:xfrm>
            <a:off x="6612446" y="4853959"/>
            <a:ext cx="853675" cy="338554"/>
          </a:xfrm>
          <a:prstGeom prst="rect">
            <a:avLst/>
          </a:prstGeom>
          <a:noFill/>
        </p:spPr>
        <p:txBody>
          <a:bodyPr wrap="square" rtlCol="0">
            <a:spAutoFit/>
          </a:bodyPr>
          <a:lstStyle/>
          <a:p>
            <a:pPr algn="ctr"/>
            <a:r>
              <a:rPr lang="en-US" altLang="zh-CN" sz="1600" dirty="0">
                <a:solidFill>
                  <a:srgbClr val="000000"/>
                </a:solidFill>
              </a:rPr>
              <a:t>Spoke</a:t>
            </a:r>
            <a:endParaRPr lang="zh-CN" altLang="en-US" sz="1600" dirty="0">
              <a:solidFill>
                <a:srgbClr val="000000"/>
              </a:solidFill>
            </a:endParaRPr>
          </a:p>
        </p:txBody>
      </p:sp>
      <p:cxnSp>
        <p:nvCxnSpPr>
          <p:cNvPr id="54" name="直接连接符 53"/>
          <p:cNvCxnSpPr>
            <a:cxnSpLocks/>
            <a:stCxn id="68" idx="0"/>
          </p:cNvCxnSpPr>
          <p:nvPr/>
        </p:nvCxnSpPr>
        <p:spPr bwMode="gray">
          <a:xfrm flipV="1">
            <a:off x="8245635" y="4082210"/>
            <a:ext cx="961307" cy="761973"/>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p:cNvCxnSpPr>
            <a:cxnSpLocks/>
            <a:stCxn id="66" idx="2"/>
            <a:endCxn id="143" idx="1"/>
          </p:cNvCxnSpPr>
          <p:nvPr/>
        </p:nvCxnSpPr>
        <p:spPr bwMode="gray">
          <a:xfrm>
            <a:off x="7985267" y="3032526"/>
            <a:ext cx="1214690" cy="634189"/>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连接符 55"/>
          <p:cNvCxnSpPr>
            <a:cxnSpLocks/>
            <a:stCxn id="51" idx="0"/>
          </p:cNvCxnSpPr>
          <p:nvPr/>
        </p:nvCxnSpPr>
        <p:spPr bwMode="gray">
          <a:xfrm flipV="1">
            <a:off x="7762371" y="4126292"/>
            <a:ext cx="390937" cy="71789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8" name="图片 57"/>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9355493" y="4846336"/>
            <a:ext cx="466668" cy="385001"/>
          </a:xfrm>
          <a:prstGeom prst="rect">
            <a:avLst/>
          </a:prstGeom>
        </p:spPr>
      </p:pic>
      <p:cxnSp>
        <p:nvCxnSpPr>
          <p:cNvPr id="59" name="直接连接符 58"/>
          <p:cNvCxnSpPr>
            <a:cxnSpLocks/>
            <a:stCxn id="58" idx="0"/>
          </p:cNvCxnSpPr>
          <p:nvPr/>
        </p:nvCxnSpPr>
        <p:spPr bwMode="gray">
          <a:xfrm flipH="1" flipV="1">
            <a:off x="8153307" y="4126292"/>
            <a:ext cx="1435520" cy="717891"/>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59"/>
          <p:cNvCxnSpPr>
            <a:cxnSpLocks/>
            <a:stCxn id="58" idx="0"/>
          </p:cNvCxnSpPr>
          <p:nvPr/>
        </p:nvCxnSpPr>
        <p:spPr bwMode="gray">
          <a:xfrm flipH="1" flipV="1">
            <a:off x="9206942" y="4082210"/>
            <a:ext cx="381885" cy="761973"/>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60"/>
          <p:cNvCxnSpPr/>
          <p:nvPr/>
        </p:nvCxnSpPr>
        <p:spPr bwMode="gray">
          <a:xfrm>
            <a:off x="7607492" y="2826709"/>
            <a:ext cx="189199"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3" name="图片 62"/>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7245652" y="2646267"/>
            <a:ext cx="466668" cy="385001"/>
          </a:xfrm>
          <a:prstGeom prst="rect">
            <a:avLst/>
          </a:prstGeom>
        </p:spPr>
      </p:pic>
      <p:sp>
        <p:nvSpPr>
          <p:cNvPr id="64" name="文本框 63"/>
          <p:cNvSpPr txBox="1"/>
          <p:nvPr/>
        </p:nvSpPr>
        <p:spPr bwMode="gray">
          <a:xfrm>
            <a:off x="6426676" y="2653205"/>
            <a:ext cx="867292" cy="338554"/>
          </a:xfrm>
          <a:prstGeom prst="rect">
            <a:avLst/>
          </a:prstGeom>
          <a:noFill/>
        </p:spPr>
        <p:txBody>
          <a:bodyPr wrap="square" rtlCol="0">
            <a:spAutoFit/>
          </a:bodyPr>
          <a:lstStyle/>
          <a:p>
            <a:pPr algn="ctr"/>
            <a:r>
              <a:rPr lang="en-US" altLang="zh-CN" sz="1600">
                <a:solidFill>
                  <a:srgbClr val="000000"/>
                </a:solidFill>
              </a:rPr>
              <a:t>Hub1</a:t>
            </a:r>
            <a:endParaRPr lang="zh-CN" altLang="en-US" sz="1600" dirty="0">
              <a:solidFill>
                <a:srgbClr val="000000"/>
              </a:solidFill>
            </a:endParaRPr>
          </a:p>
        </p:txBody>
      </p:sp>
      <p:pic>
        <p:nvPicPr>
          <p:cNvPr id="66" name="图片 65"/>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7751933" y="2645371"/>
            <a:ext cx="466668" cy="385001"/>
          </a:xfrm>
          <a:prstGeom prst="rect">
            <a:avLst/>
          </a:prstGeom>
        </p:spPr>
      </p:pic>
      <p:cxnSp>
        <p:nvCxnSpPr>
          <p:cNvPr id="67" name="直接连接符 66"/>
          <p:cNvCxnSpPr>
            <a:cxnSpLocks/>
            <a:stCxn id="63" idx="2"/>
            <a:endCxn id="142" idx="1"/>
          </p:cNvCxnSpPr>
          <p:nvPr/>
        </p:nvCxnSpPr>
        <p:spPr bwMode="gray">
          <a:xfrm>
            <a:off x="7478986" y="3033422"/>
            <a:ext cx="682249" cy="645036"/>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8" name="图片 67"/>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8012301" y="4846336"/>
            <a:ext cx="466668" cy="385001"/>
          </a:xfrm>
          <a:prstGeom prst="rect">
            <a:avLst/>
          </a:prstGeom>
        </p:spPr>
      </p:pic>
      <p:cxnSp>
        <p:nvCxnSpPr>
          <p:cNvPr id="69" name="直接连接符 68"/>
          <p:cNvCxnSpPr/>
          <p:nvPr/>
        </p:nvCxnSpPr>
        <p:spPr bwMode="gray">
          <a:xfrm>
            <a:off x="9482803" y="2808648"/>
            <a:ext cx="189199" cy="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71" name="图片 70"/>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9120963" y="2628206"/>
            <a:ext cx="466668" cy="385001"/>
          </a:xfrm>
          <a:prstGeom prst="rect">
            <a:avLst/>
          </a:prstGeom>
        </p:spPr>
      </p:pic>
      <p:sp>
        <p:nvSpPr>
          <p:cNvPr id="72" name="文本框 71"/>
          <p:cNvSpPr txBox="1"/>
          <p:nvPr/>
        </p:nvSpPr>
        <p:spPr bwMode="gray">
          <a:xfrm>
            <a:off x="10013732" y="2628277"/>
            <a:ext cx="867292" cy="338554"/>
          </a:xfrm>
          <a:prstGeom prst="rect">
            <a:avLst/>
          </a:prstGeom>
          <a:noFill/>
        </p:spPr>
        <p:txBody>
          <a:bodyPr wrap="square" rtlCol="0">
            <a:spAutoFit/>
          </a:bodyPr>
          <a:lstStyle/>
          <a:p>
            <a:pPr algn="ctr"/>
            <a:r>
              <a:rPr lang="en-US" altLang="zh-CN" sz="1600">
                <a:solidFill>
                  <a:srgbClr val="000000"/>
                </a:solidFill>
              </a:rPr>
              <a:t>Hub2</a:t>
            </a:r>
            <a:endParaRPr lang="zh-CN" altLang="en-US" sz="1600" dirty="0">
              <a:solidFill>
                <a:srgbClr val="000000"/>
              </a:solidFill>
            </a:endParaRPr>
          </a:p>
        </p:txBody>
      </p:sp>
      <p:pic>
        <p:nvPicPr>
          <p:cNvPr id="74" name="图片 73"/>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9627244" y="2627310"/>
            <a:ext cx="466668" cy="385001"/>
          </a:xfrm>
          <a:prstGeom prst="rect">
            <a:avLst/>
          </a:prstGeom>
        </p:spPr>
      </p:pic>
      <p:cxnSp>
        <p:nvCxnSpPr>
          <p:cNvPr id="75" name="直接连接符 74"/>
          <p:cNvCxnSpPr>
            <a:cxnSpLocks/>
            <a:stCxn id="74" idx="2"/>
            <a:endCxn id="143" idx="1"/>
          </p:cNvCxnSpPr>
          <p:nvPr/>
        </p:nvCxnSpPr>
        <p:spPr bwMode="gray">
          <a:xfrm flipH="1">
            <a:off x="9199957" y="3014465"/>
            <a:ext cx="660621" cy="652250"/>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75"/>
          <p:cNvCxnSpPr>
            <a:cxnSpLocks/>
            <a:stCxn id="71" idx="2"/>
            <a:endCxn id="142" idx="3"/>
          </p:cNvCxnSpPr>
          <p:nvPr/>
        </p:nvCxnSpPr>
        <p:spPr bwMode="gray">
          <a:xfrm flipH="1">
            <a:off x="8183260" y="3015361"/>
            <a:ext cx="1171037" cy="671314"/>
          </a:xfrm>
          <a:prstGeom prst="line">
            <a:avLst/>
          </a:prstGeom>
          <a:noFill/>
          <a:ln w="952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76"/>
          <p:cNvCxnSpPr>
            <a:cxnSpLocks/>
          </p:cNvCxnSpPr>
          <p:nvPr/>
        </p:nvCxnSpPr>
        <p:spPr bwMode="gray">
          <a:xfrm flipV="1">
            <a:off x="8210227" y="2476127"/>
            <a:ext cx="952592" cy="18061"/>
          </a:xfrm>
          <a:prstGeom prst="line">
            <a:avLst/>
          </a:prstGeom>
          <a:noFill/>
          <a:ln w="15875"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文本框 77"/>
          <p:cNvSpPr txBox="1"/>
          <p:nvPr/>
        </p:nvSpPr>
        <p:spPr bwMode="gray">
          <a:xfrm>
            <a:off x="8250440" y="2185838"/>
            <a:ext cx="867292" cy="307777"/>
          </a:xfrm>
          <a:prstGeom prst="rect">
            <a:avLst/>
          </a:prstGeom>
          <a:noFill/>
        </p:spPr>
        <p:txBody>
          <a:bodyPr wrap="square" rtlCol="0">
            <a:spAutoFit/>
          </a:bodyPr>
          <a:lstStyle/>
          <a:p>
            <a:pPr algn="ctr"/>
            <a:r>
              <a:rPr lang="en-US" altLang="zh-CN" sz="1400" dirty="0">
                <a:solidFill>
                  <a:srgbClr val="000000"/>
                </a:solidFill>
              </a:rPr>
              <a:t>DCI</a:t>
            </a:r>
            <a:endParaRPr lang="zh-CN" altLang="en-US" sz="1400" dirty="0">
              <a:solidFill>
                <a:srgbClr val="000000"/>
              </a:solidFill>
            </a:endParaRPr>
          </a:p>
        </p:txBody>
      </p:sp>
      <p:sp>
        <p:nvSpPr>
          <p:cNvPr id="79" name="矩形 78"/>
          <p:cNvSpPr/>
          <p:nvPr/>
        </p:nvSpPr>
        <p:spPr bwMode="gray">
          <a:xfrm>
            <a:off x="6238390" y="1781770"/>
            <a:ext cx="2459696" cy="4119097"/>
          </a:xfrm>
          <a:prstGeom prst="rect">
            <a:avLst/>
          </a:prstGeom>
          <a:noFill/>
          <a:ln w="9525" cap="flat" cmpd="sng" algn="ctr">
            <a:solidFill>
              <a:schemeClr val="tx1">
                <a:lumMod val="50000"/>
                <a:lumOff val="50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80" name="矩形 79"/>
          <p:cNvSpPr/>
          <p:nvPr/>
        </p:nvSpPr>
        <p:spPr bwMode="gray">
          <a:xfrm>
            <a:off x="8855690" y="1781770"/>
            <a:ext cx="2459696" cy="4119097"/>
          </a:xfrm>
          <a:prstGeom prst="rect">
            <a:avLst/>
          </a:prstGeom>
          <a:noFill/>
          <a:ln w="9525" cap="flat" cmpd="sng" algn="ctr">
            <a:solidFill>
              <a:schemeClr val="tx1">
                <a:lumMod val="50000"/>
                <a:lumOff val="50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81" name="文本框 80"/>
          <p:cNvSpPr txBox="1"/>
          <p:nvPr/>
        </p:nvSpPr>
        <p:spPr bwMode="gray">
          <a:xfrm>
            <a:off x="6247437" y="1865944"/>
            <a:ext cx="867292" cy="338554"/>
          </a:xfrm>
          <a:prstGeom prst="rect">
            <a:avLst/>
          </a:prstGeom>
          <a:noFill/>
        </p:spPr>
        <p:txBody>
          <a:bodyPr wrap="square" rtlCol="0">
            <a:spAutoFit/>
          </a:bodyPr>
          <a:lstStyle/>
          <a:p>
            <a:pPr algn="ctr"/>
            <a:r>
              <a:rPr lang="zh-CN" altLang="en-US" sz="1600" dirty="0">
                <a:solidFill>
                  <a:srgbClr val="000000"/>
                </a:solidFill>
              </a:rPr>
              <a:t>华北区</a:t>
            </a:r>
          </a:p>
        </p:txBody>
      </p:sp>
      <p:sp>
        <p:nvSpPr>
          <p:cNvPr id="82" name="文本框 81"/>
          <p:cNvSpPr txBox="1"/>
          <p:nvPr/>
        </p:nvSpPr>
        <p:spPr bwMode="gray">
          <a:xfrm>
            <a:off x="10447377" y="1866579"/>
            <a:ext cx="867292" cy="338554"/>
          </a:xfrm>
          <a:prstGeom prst="rect">
            <a:avLst/>
          </a:prstGeom>
          <a:noFill/>
        </p:spPr>
        <p:txBody>
          <a:bodyPr wrap="square" rtlCol="0">
            <a:spAutoFit/>
          </a:bodyPr>
          <a:lstStyle/>
          <a:p>
            <a:pPr algn="ctr"/>
            <a:r>
              <a:rPr lang="zh-CN" altLang="en-US" sz="1600" dirty="0">
                <a:solidFill>
                  <a:srgbClr val="000000"/>
                </a:solidFill>
              </a:rPr>
              <a:t>华南区</a:t>
            </a:r>
          </a:p>
        </p:txBody>
      </p:sp>
      <p:sp>
        <p:nvSpPr>
          <p:cNvPr id="83" name="文本框 82"/>
          <p:cNvSpPr txBox="1"/>
          <p:nvPr/>
        </p:nvSpPr>
        <p:spPr bwMode="gray">
          <a:xfrm>
            <a:off x="9850869" y="4844326"/>
            <a:ext cx="853675" cy="338554"/>
          </a:xfrm>
          <a:prstGeom prst="rect">
            <a:avLst/>
          </a:prstGeom>
          <a:noFill/>
        </p:spPr>
        <p:txBody>
          <a:bodyPr wrap="square" rtlCol="0">
            <a:spAutoFit/>
          </a:bodyPr>
          <a:lstStyle/>
          <a:p>
            <a:pPr algn="ctr"/>
            <a:r>
              <a:rPr lang="en-US" altLang="zh-CN" sz="1600" dirty="0">
                <a:solidFill>
                  <a:srgbClr val="000000"/>
                </a:solidFill>
              </a:rPr>
              <a:t>Spoke</a:t>
            </a:r>
            <a:endParaRPr lang="zh-CN" altLang="en-US" sz="1600" dirty="0">
              <a:solidFill>
                <a:srgbClr val="000000"/>
              </a:solidFill>
            </a:endParaRPr>
          </a:p>
        </p:txBody>
      </p:sp>
      <p:sp>
        <p:nvSpPr>
          <p:cNvPr id="86" name="任意多边形 85"/>
          <p:cNvSpPr/>
          <p:nvPr/>
        </p:nvSpPr>
        <p:spPr bwMode="gray">
          <a:xfrm>
            <a:off x="2246606" y="2400468"/>
            <a:ext cx="1878597" cy="3191436"/>
          </a:xfrm>
          <a:custGeom>
            <a:avLst/>
            <a:gdLst>
              <a:gd name="connsiteX0" fmla="*/ 0 w 1408948"/>
              <a:gd name="connsiteY0" fmla="*/ 2393577 h 2393577"/>
              <a:gd name="connsiteX1" fmla="*/ 658906 w 1408948"/>
              <a:gd name="connsiteY1" fmla="*/ 1021977 h 2393577"/>
              <a:gd name="connsiteX2" fmla="*/ 1344706 w 1408948"/>
              <a:gd name="connsiteY2" fmla="*/ 490818 h 2393577"/>
              <a:gd name="connsiteX3" fmla="*/ 1270747 w 1408948"/>
              <a:gd name="connsiteY3" fmla="*/ 221877 h 2393577"/>
              <a:gd name="connsiteX4" fmla="*/ 383241 w 1408948"/>
              <a:gd name="connsiteY4" fmla="*/ 215153 h 2393577"/>
              <a:gd name="connsiteX5" fmla="*/ 215153 w 1408948"/>
              <a:gd name="connsiteY5" fmla="*/ 0 h 239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948" h="2393577">
                <a:moveTo>
                  <a:pt x="0" y="2393577"/>
                </a:moveTo>
                <a:cubicBezTo>
                  <a:pt x="217394" y="1866340"/>
                  <a:pt x="434788" y="1339103"/>
                  <a:pt x="658906" y="1021977"/>
                </a:cubicBezTo>
                <a:cubicBezTo>
                  <a:pt x="883024" y="704851"/>
                  <a:pt x="1242733" y="624168"/>
                  <a:pt x="1344706" y="490818"/>
                </a:cubicBezTo>
                <a:cubicBezTo>
                  <a:pt x="1446679" y="357468"/>
                  <a:pt x="1430991" y="267821"/>
                  <a:pt x="1270747" y="221877"/>
                </a:cubicBezTo>
                <a:cubicBezTo>
                  <a:pt x="1110503" y="175933"/>
                  <a:pt x="559173" y="252132"/>
                  <a:pt x="383241" y="215153"/>
                </a:cubicBezTo>
                <a:cubicBezTo>
                  <a:pt x="207309" y="178173"/>
                  <a:pt x="211231" y="89086"/>
                  <a:pt x="215153" y="0"/>
                </a:cubicBezTo>
              </a:path>
            </a:pathLst>
          </a:custGeom>
          <a:noFill/>
          <a:ln w="25400" cap="flat" cmpd="sng" algn="ctr">
            <a:solidFill>
              <a:schemeClr val="tx1">
                <a:lumMod val="50000"/>
                <a:lumOff val="50000"/>
              </a:schemeClr>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87" name="任意多边形 86"/>
          <p:cNvSpPr/>
          <p:nvPr/>
        </p:nvSpPr>
        <p:spPr bwMode="gray">
          <a:xfrm>
            <a:off x="7486405" y="2345467"/>
            <a:ext cx="612995" cy="2510119"/>
          </a:xfrm>
          <a:custGeom>
            <a:avLst/>
            <a:gdLst>
              <a:gd name="connsiteX0" fmla="*/ 168272 w 459746"/>
              <a:gd name="connsiteY0" fmla="*/ 1882589 h 1882589"/>
              <a:gd name="connsiteX1" fmla="*/ 457384 w 459746"/>
              <a:gd name="connsiteY1" fmla="*/ 1149724 h 1882589"/>
              <a:gd name="connsiteX2" fmla="*/ 27078 w 459746"/>
              <a:gd name="connsiteY2" fmla="*/ 484095 h 1882589"/>
              <a:gd name="connsiteX3" fmla="*/ 80866 w 459746"/>
              <a:gd name="connsiteY3" fmla="*/ 0 h 1882589"/>
            </a:gdLst>
            <a:ahLst/>
            <a:cxnLst>
              <a:cxn ang="0">
                <a:pos x="connsiteX0" y="connsiteY0"/>
              </a:cxn>
              <a:cxn ang="0">
                <a:pos x="connsiteX1" y="connsiteY1"/>
              </a:cxn>
              <a:cxn ang="0">
                <a:pos x="connsiteX2" y="connsiteY2"/>
              </a:cxn>
              <a:cxn ang="0">
                <a:pos x="connsiteX3" y="connsiteY3"/>
              </a:cxn>
            </a:cxnLst>
            <a:rect l="l" t="t" r="r" b="b"/>
            <a:pathLst>
              <a:path w="459746" h="1882589">
                <a:moveTo>
                  <a:pt x="168272" y="1882589"/>
                </a:moveTo>
                <a:cubicBezTo>
                  <a:pt x="324594" y="1632697"/>
                  <a:pt x="480916" y="1382806"/>
                  <a:pt x="457384" y="1149724"/>
                </a:cubicBezTo>
                <a:cubicBezTo>
                  <a:pt x="433852" y="916642"/>
                  <a:pt x="89831" y="675716"/>
                  <a:pt x="27078" y="484095"/>
                </a:cubicBezTo>
                <a:cubicBezTo>
                  <a:pt x="-35675" y="292474"/>
                  <a:pt x="22595" y="146237"/>
                  <a:pt x="80866" y="0"/>
                </a:cubicBez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88" name="任意多边形 87"/>
          <p:cNvSpPr/>
          <p:nvPr/>
        </p:nvSpPr>
        <p:spPr bwMode="blackGray">
          <a:xfrm>
            <a:off x="8291437" y="2390291"/>
            <a:ext cx="1649567" cy="3119717"/>
          </a:xfrm>
          <a:custGeom>
            <a:avLst/>
            <a:gdLst>
              <a:gd name="connsiteX0" fmla="*/ 915928 w 1237175"/>
              <a:gd name="connsiteY0" fmla="*/ 2339788 h 2339788"/>
              <a:gd name="connsiteX1" fmla="*/ 841969 w 1237175"/>
              <a:gd name="connsiteY1" fmla="*/ 1795182 h 2339788"/>
              <a:gd name="connsiteX2" fmla="*/ 1528 w 1237175"/>
              <a:gd name="connsiteY2" fmla="*/ 1122830 h 2339788"/>
              <a:gd name="connsiteX3" fmla="*/ 1077292 w 1237175"/>
              <a:gd name="connsiteY3" fmla="*/ 194982 h 2339788"/>
              <a:gd name="connsiteX4" fmla="*/ 1211763 w 1237175"/>
              <a:gd name="connsiteY4" fmla="*/ 0 h 2339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175" h="2339788">
                <a:moveTo>
                  <a:pt x="915928" y="2339788"/>
                </a:moveTo>
                <a:cubicBezTo>
                  <a:pt x="955148" y="2168898"/>
                  <a:pt x="994369" y="1998008"/>
                  <a:pt x="841969" y="1795182"/>
                </a:cubicBezTo>
                <a:cubicBezTo>
                  <a:pt x="689569" y="1592356"/>
                  <a:pt x="-37692" y="1389530"/>
                  <a:pt x="1528" y="1122830"/>
                </a:cubicBezTo>
                <a:cubicBezTo>
                  <a:pt x="40748" y="856130"/>
                  <a:pt x="875586" y="382120"/>
                  <a:pt x="1077292" y="194982"/>
                </a:cubicBezTo>
                <a:cubicBezTo>
                  <a:pt x="1278998" y="7844"/>
                  <a:pt x="1245380" y="3922"/>
                  <a:pt x="1211763" y="0"/>
                </a:cubicBezTo>
              </a:path>
            </a:pathLst>
          </a:custGeom>
          <a:noFill/>
          <a:ln w="25400" cap="flat" cmpd="sng" algn="ctr">
            <a:solidFill>
              <a:srgbClr val="E2818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89" name="任意多边形 88"/>
          <p:cNvSpPr/>
          <p:nvPr/>
        </p:nvSpPr>
        <p:spPr bwMode="blackGray">
          <a:xfrm>
            <a:off x="7660385" y="2318574"/>
            <a:ext cx="1936728" cy="3182471"/>
          </a:xfrm>
          <a:custGeom>
            <a:avLst/>
            <a:gdLst>
              <a:gd name="connsiteX0" fmla="*/ 1321981 w 1452546"/>
              <a:gd name="connsiteY0" fmla="*/ 2386853 h 2386853"/>
              <a:gd name="connsiteX1" fmla="*/ 1328705 w 1452546"/>
              <a:gd name="connsiteY1" fmla="*/ 1956547 h 2386853"/>
              <a:gd name="connsiteX2" fmla="*/ 400858 w 1452546"/>
              <a:gd name="connsiteY2" fmla="*/ 1311088 h 2386853"/>
              <a:gd name="connsiteX3" fmla="*/ 37787 w 1452546"/>
              <a:gd name="connsiteY3" fmla="*/ 221876 h 2386853"/>
              <a:gd name="connsiteX4" fmla="*/ 1254746 w 1452546"/>
              <a:gd name="connsiteY4" fmla="*/ 141194 h 2386853"/>
              <a:gd name="connsiteX5" fmla="*/ 1436281 w 1452546"/>
              <a:gd name="connsiteY5" fmla="*/ 0 h 238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2546" h="2386853">
                <a:moveTo>
                  <a:pt x="1321981" y="2386853"/>
                </a:moveTo>
                <a:cubicBezTo>
                  <a:pt x="1402103" y="2261347"/>
                  <a:pt x="1482225" y="2135841"/>
                  <a:pt x="1328705" y="1956547"/>
                </a:cubicBezTo>
                <a:cubicBezTo>
                  <a:pt x="1175185" y="1777253"/>
                  <a:pt x="616011" y="1600200"/>
                  <a:pt x="400858" y="1311088"/>
                </a:cubicBezTo>
                <a:cubicBezTo>
                  <a:pt x="185705" y="1021976"/>
                  <a:pt x="-104528" y="416858"/>
                  <a:pt x="37787" y="221876"/>
                </a:cubicBezTo>
                <a:cubicBezTo>
                  <a:pt x="180102" y="26894"/>
                  <a:pt x="1021664" y="178173"/>
                  <a:pt x="1254746" y="141194"/>
                </a:cubicBezTo>
                <a:cubicBezTo>
                  <a:pt x="1487828" y="104215"/>
                  <a:pt x="1462054" y="52107"/>
                  <a:pt x="1436281" y="0"/>
                </a:cubicBezTo>
              </a:path>
            </a:pathLst>
          </a:custGeom>
          <a:noFill/>
          <a:ln w="25400" cap="flat" cmpd="sng" algn="ctr">
            <a:solidFill>
              <a:srgbClr val="E28189"/>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102" name="任意多边形 101"/>
          <p:cNvSpPr/>
          <p:nvPr/>
        </p:nvSpPr>
        <p:spPr bwMode="gray">
          <a:xfrm>
            <a:off x="2118376" y="2324786"/>
            <a:ext cx="532080" cy="3164541"/>
          </a:xfrm>
          <a:custGeom>
            <a:avLst/>
            <a:gdLst>
              <a:gd name="connsiteX0" fmla="*/ 69344 w 399060"/>
              <a:gd name="connsiteY0" fmla="*/ 2373406 h 2373406"/>
              <a:gd name="connsiteX1" fmla="*/ 398797 w 399060"/>
              <a:gd name="connsiteY1" fmla="*/ 1465729 h 2373406"/>
              <a:gd name="connsiteX2" fmla="*/ 22279 w 399060"/>
              <a:gd name="connsiteY2" fmla="*/ 584947 h 2373406"/>
              <a:gd name="connsiteX3" fmla="*/ 76068 w 399060"/>
              <a:gd name="connsiteY3" fmla="*/ 0 h 2373406"/>
            </a:gdLst>
            <a:ahLst/>
            <a:cxnLst>
              <a:cxn ang="0">
                <a:pos x="connsiteX0" y="connsiteY0"/>
              </a:cxn>
              <a:cxn ang="0">
                <a:pos x="connsiteX1" y="connsiteY1"/>
              </a:cxn>
              <a:cxn ang="0">
                <a:pos x="connsiteX2" y="connsiteY2"/>
              </a:cxn>
              <a:cxn ang="0">
                <a:pos x="connsiteX3" y="connsiteY3"/>
              </a:cxn>
            </a:cxnLst>
            <a:rect l="l" t="t" r="r" b="b"/>
            <a:pathLst>
              <a:path w="399060" h="2373406">
                <a:moveTo>
                  <a:pt x="69344" y="2373406"/>
                </a:moveTo>
                <a:cubicBezTo>
                  <a:pt x="237992" y="2068605"/>
                  <a:pt x="406641" y="1763805"/>
                  <a:pt x="398797" y="1465729"/>
                </a:cubicBezTo>
                <a:cubicBezTo>
                  <a:pt x="390953" y="1167653"/>
                  <a:pt x="76067" y="829235"/>
                  <a:pt x="22279" y="584947"/>
                </a:cubicBezTo>
                <a:cubicBezTo>
                  <a:pt x="-31509" y="340659"/>
                  <a:pt x="22279" y="170329"/>
                  <a:pt x="76068" y="0"/>
                </a:cubicBezTo>
              </a:path>
            </a:pathLst>
          </a:custGeom>
          <a:noFill/>
          <a:ln w="25400" cap="flat" cmpd="sng" algn="ctr">
            <a:solidFill>
              <a:schemeClr val="tx1">
                <a:lumMod val="50000"/>
                <a:lumOff val="50000"/>
              </a:schemeClr>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103" name="任意多边形 102"/>
          <p:cNvSpPr/>
          <p:nvPr/>
        </p:nvSpPr>
        <p:spPr bwMode="blackGray">
          <a:xfrm>
            <a:off x="2640842" y="2324786"/>
            <a:ext cx="1838064" cy="3164541"/>
          </a:xfrm>
          <a:custGeom>
            <a:avLst/>
            <a:gdLst>
              <a:gd name="connsiteX0" fmla="*/ 282613 w 1378548"/>
              <a:gd name="connsiteY0" fmla="*/ 2373406 h 2373406"/>
              <a:gd name="connsiteX1" fmla="*/ 225 w 1378548"/>
              <a:gd name="connsiteY1" fmla="*/ 2030506 h 2373406"/>
              <a:gd name="connsiteX2" fmla="*/ 322954 w 1378548"/>
              <a:gd name="connsiteY2" fmla="*/ 1324535 h 2373406"/>
              <a:gd name="connsiteX3" fmla="*/ 1116330 w 1378548"/>
              <a:gd name="connsiteY3" fmla="*/ 598394 h 2373406"/>
              <a:gd name="connsiteX4" fmla="*/ 1378548 w 1378548"/>
              <a:gd name="connsiteY4" fmla="*/ 0 h 2373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8548" h="2373406">
                <a:moveTo>
                  <a:pt x="282613" y="2373406"/>
                </a:moveTo>
                <a:cubicBezTo>
                  <a:pt x="138057" y="2289362"/>
                  <a:pt x="-6499" y="2205318"/>
                  <a:pt x="225" y="2030506"/>
                </a:cubicBezTo>
                <a:cubicBezTo>
                  <a:pt x="6948" y="1855694"/>
                  <a:pt x="136936" y="1563220"/>
                  <a:pt x="322954" y="1324535"/>
                </a:cubicBezTo>
                <a:cubicBezTo>
                  <a:pt x="508972" y="1085850"/>
                  <a:pt x="940398" y="819150"/>
                  <a:pt x="1116330" y="598394"/>
                </a:cubicBezTo>
                <a:cubicBezTo>
                  <a:pt x="1292262" y="377638"/>
                  <a:pt x="1335405" y="188819"/>
                  <a:pt x="1378548" y="0"/>
                </a:cubicBezTo>
              </a:path>
            </a:pathLst>
          </a:custGeom>
          <a:noFill/>
          <a:ln w="25400" cap="flat" cmpd="sng" algn="ctr">
            <a:solidFill>
              <a:srgbClr val="E2818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104" name="任意多边形 103"/>
          <p:cNvSpPr/>
          <p:nvPr/>
        </p:nvSpPr>
        <p:spPr bwMode="blackGray">
          <a:xfrm>
            <a:off x="2264528" y="2333751"/>
            <a:ext cx="1882767" cy="3163153"/>
          </a:xfrm>
          <a:custGeom>
            <a:avLst/>
            <a:gdLst>
              <a:gd name="connsiteX0" fmla="*/ 477443 w 1412075"/>
              <a:gd name="connsiteY0" fmla="*/ 2366683 h 2372365"/>
              <a:gd name="connsiteX1" fmla="*/ 195055 w 1412075"/>
              <a:gd name="connsiteY1" fmla="*/ 2171700 h 2372365"/>
              <a:gd name="connsiteX2" fmla="*/ 336249 w 1412075"/>
              <a:gd name="connsiteY2" fmla="*/ 1048871 h 2372365"/>
              <a:gd name="connsiteX3" fmla="*/ 72 w 1412075"/>
              <a:gd name="connsiteY3" fmla="*/ 564777 h 2372365"/>
              <a:gd name="connsiteX4" fmla="*/ 316078 w 1412075"/>
              <a:gd name="connsiteY4" fmla="*/ 302559 h 2372365"/>
              <a:gd name="connsiteX5" fmla="*/ 1230478 w 1412075"/>
              <a:gd name="connsiteY5" fmla="*/ 309283 h 2372365"/>
              <a:gd name="connsiteX6" fmla="*/ 1412014 w 1412075"/>
              <a:gd name="connsiteY6" fmla="*/ 0 h 2372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2075" h="2372365">
                <a:moveTo>
                  <a:pt x="477443" y="2366683"/>
                </a:moveTo>
                <a:cubicBezTo>
                  <a:pt x="348015" y="2379009"/>
                  <a:pt x="218587" y="2391335"/>
                  <a:pt x="195055" y="2171700"/>
                </a:cubicBezTo>
                <a:cubicBezTo>
                  <a:pt x="171523" y="1952065"/>
                  <a:pt x="368746" y="1316691"/>
                  <a:pt x="336249" y="1048871"/>
                </a:cubicBezTo>
                <a:cubicBezTo>
                  <a:pt x="303752" y="781051"/>
                  <a:pt x="3434" y="689162"/>
                  <a:pt x="72" y="564777"/>
                </a:cubicBezTo>
                <a:cubicBezTo>
                  <a:pt x="-3290" y="440392"/>
                  <a:pt x="111010" y="345141"/>
                  <a:pt x="316078" y="302559"/>
                </a:cubicBezTo>
                <a:cubicBezTo>
                  <a:pt x="521146" y="259977"/>
                  <a:pt x="1047822" y="359709"/>
                  <a:pt x="1230478" y="309283"/>
                </a:cubicBezTo>
                <a:cubicBezTo>
                  <a:pt x="1413134" y="258857"/>
                  <a:pt x="1412574" y="129428"/>
                  <a:pt x="1412014" y="0"/>
                </a:cubicBezTo>
              </a:path>
            </a:pathLst>
          </a:custGeom>
          <a:noFill/>
          <a:ln w="25400" cap="flat" cmpd="sng" algn="ctr">
            <a:solidFill>
              <a:srgbClr val="E28189"/>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105" name="任意多边形 104"/>
          <p:cNvSpPr/>
          <p:nvPr/>
        </p:nvSpPr>
        <p:spPr bwMode="gray">
          <a:xfrm>
            <a:off x="7543958" y="2203630"/>
            <a:ext cx="532080" cy="3164541"/>
          </a:xfrm>
          <a:custGeom>
            <a:avLst/>
            <a:gdLst>
              <a:gd name="connsiteX0" fmla="*/ 69344 w 399060"/>
              <a:gd name="connsiteY0" fmla="*/ 2373406 h 2373406"/>
              <a:gd name="connsiteX1" fmla="*/ 398797 w 399060"/>
              <a:gd name="connsiteY1" fmla="*/ 1465729 h 2373406"/>
              <a:gd name="connsiteX2" fmla="*/ 22279 w 399060"/>
              <a:gd name="connsiteY2" fmla="*/ 584947 h 2373406"/>
              <a:gd name="connsiteX3" fmla="*/ 76068 w 399060"/>
              <a:gd name="connsiteY3" fmla="*/ 0 h 2373406"/>
            </a:gdLst>
            <a:ahLst/>
            <a:cxnLst>
              <a:cxn ang="0">
                <a:pos x="connsiteX0" y="connsiteY0"/>
              </a:cxn>
              <a:cxn ang="0">
                <a:pos x="connsiteX1" y="connsiteY1"/>
              </a:cxn>
              <a:cxn ang="0">
                <a:pos x="connsiteX2" y="connsiteY2"/>
              </a:cxn>
              <a:cxn ang="0">
                <a:pos x="connsiteX3" y="connsiteY3"/>
              </a:cxn>
            </a:cxnLst>
            <a:rect l="l" t="t" r="r" b="b"/>
            <a:pathLst>
              <a:path w="399060" h="2373406">
                <a:moveTo>
                  <a:pt x="69344" y="2373406"/>
                </a:moveTo>
                <a:cubicBezTo>
                  <a:pt x="237992" y="2068605"/>
                  <a:pt x="406641" y="1763805"/>
                  <a:pt x="398797" y="1465729"/>
                </a:cubicBezTo>
                <a:cubicBezTo>
                  <a:pt x="390953" y="1167653"/>
                  <a:pt x="76067" y="829235"/>
                  <a:pt x="22279" y="584947"/>
                </a:cubicBezTo>
                <a:cubicBezTo>
                  <a:pt x="-31509" y="340659"/>
                  <a:pt x="22279" y="170329"/>
                  <a:pt x="76068" y="0"/>
                </a:cubicBezTo>
              </a:path>
            </a:pathLst>
          </a:custGeom>
          <a:noFill/>
          <a:ln w="25400" cap="flat" cmpd="sng" algn="ctr">
            <a:solidFill>
              <a:schemeClr val="tx1">
                <a:lumMod val="50000"/>
                <a:lumOff val="50000"/>
              </a:schemeClr>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106" name="任意多边形 105"/>
          <p:cNvSpPr/>
          <p:nvPr/>
        </p:nvSpPr>
        <p:spPr bwMode="gray">
          <a:xfrm>
            <a:off x="7672188" y="2279311"/>
            <a:ext cx="1878597" cy="3191436"/>
          </a:xfrm>
          <a:custGeom>
            <a:avLst/>
            <a:gdLst>
              <a:gd name="connsiteX0" fmla="*/ 0 w 1408948"/>
              <a:gd name="connsiteY0" fmla="*/ 2393577 h 2393577"/>
              <a:gd name="connsiteX1" fmla="*/ 658906 w 1408948"/>
              <a:gd name="connsiteY1" fmla="*/ 1021977 h 2393577"/>
              <a:gd name="connsiteX2" fmla="*/ 1344706 w 1408948"/>
              <a:gd name="connsiteY2" fmla="*/ 490818 h 2393577"/>
              <a:gd name="connsiteX3" fmla="*/ 1270747 w 1408948"/>
              <a:gd name="connsiteY3" fmla="*/ 221877 h 2393577"/>
              <a:gd name="connsiteX4" fmla="*/ 383241 w 1408948"/>
              <a:gd name="connsiteY4" fmla="*/ 215153 h 2393577"/>
              <a:gd name="connsiteX5" fmla="*/ 215153 w 1408948"/>
              <a:gd name="connsiteY5" fmla="*/ 0 h 239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948" h="2393577">
                <a:moveTo>
                  <a:pt x="0" y="2393577"/>
                </a:moveTo>
                <a:cubicBezTo>
                  <a:pt x="217394" y="1866340"/>
                  <a:pt x="434788" y="1339103"/>
                  <a:pt x="658906" y="1021977"/>
                </a:cubicBezTo>
                <a:cubicBezTo>
                  <a:pt x="883024" y="704851"/>
                  <a:pt x="1242733" y="624168"/>
                  <a:pt x="1344706" y="490818"/>
                </a:cubicBezTo>
                <a:cubicBezTo>
                  <a:pt x="1446679" y="357468"/>
                  <a:pt x="1430991" y="267821"/>
                  <a:pt x="1270747" y="221877"/>
                </a:cubicBezTo>
                <a:cubicBezTo>
                  <a:pt x="1110503" y="175933"/>
                  <a:pt x="559173" y="252132"/>
                  <a:pt x="383241" y="215153"/>
                </a:cubicBezTo>
                <a:cubicBezTo>
                  <a:pt x="207309" y="178173"/>
                  <a:pt x="211231" y="89086"/>
                  <a:pt x="215153" y="0"/>
                </a:cubicBezTo>
              </a:path>
            </a:pathLst>
          </a:custGeom>
          <a:noFill/>
          <a:ln w="25400" cap="flat" cmpd="sng" algn="ctr">
            <a:solidFill>
              <a:schemeClr val="tx1">
                <a:lumMod val="50000"/>
                <a:lumOff val="50000"/>
              </a:schemeClr>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1219170" fontAlgn="base">
              <a:spcBef>
                <a:spcPct val="0"/>
              </a:spcBef>
              <a:spcAft>
                <a:spcPct val="0"/>
              </a:spcAft>
              <a:buClr>
                <a:srgbClr val="CC9900"/>
              </a:buClr>
              <a:buFont typeface="Wingdings" pitchFamily="2" charset="2"/>
              <a:buChar char="n"/>
            </a:pPr>
            <a:endParaRPr lang="zh-CN" altLang="en-US" sz="2400"/>
          </a:p>
        </p:txBody>
      </p:sp>
      <p:sp>
        <p:nvSpPr>
          <p:cNvPr id="113" name="圆角矩形 75"/>
          <p:cNvSpPr/>
          <p:nvPr/>
        </p:nvSpPr>
        <p:spPr bwMode="gray">
          <a:xfrm>
            <a:off x="6134472" y="1195454"/>
            <a:ext cx="5325691"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基于</a:t>
            </a:r>
            <a:r>
              <a:rPr lang="en-US" altLang="zh-CN" sz="1600" dirty="0">
                <a:solidFill>
                  <a:srgbClr val="30B5C5"/>
                </a:solidFill>
                <a:latin typeface="Huawei Sans" panose="020C0503030203020204" pitchFamily="34" charset="0"/>
                <a:ea typeface="方正兰亭黑简体" panose="02000000000000000000" pitchFamily="2" charset="-122"/>
              </a:rPr>
              <a:t>Spoke</a:t>
            </a:r>
            <a:r>
              <a:rPr lang="zh-CN" altLang="en-US" sz="1600" dirty="0">
                <a:solidFill>
                  <a:srgbClr val="30B5C5"/>
                </a:solidFill>
                <a:latin typeface="Huawei Sans" panose="020C0503030203020204" pitchFamily="34" charset="0"/>
                <a:ea typeface="方正兰亭黑简体" panose="02000000000000000000" pitchFamily="2" charset="-122"/>
              </a:rPr>
              <a:t>站点的</a:t>
            </a:r>
            <a:r>
              <a:rPr lang="zh-CN" altLang="en-US" sz="1600">
                <a:solidFill>
                  <a:srgbClr val="30B5C5"/>
                </a:solidFill>
                <a:latin typeface="Huawei Sans" panose="020C0503030203020204" pitchFamily="34" charset="0"/>
                <a:ea typeface="方正兰亭黑简体" panose="02000000000000000000" pitchFamily="2" charset="-122"/>
              </a:rPr>
              <a:t>多活</a:t>
            </a:r>
            <a:r>
              <a:rPr lang="en-US" altLang="zh-CN" sz="1600">
                <a:solidFill>
                  <a:srgbClr val="30B5C5"/>
                </a:solidFill>
                <a:latin typeface="Huawei Sans" panose="020C0503030203020204" pitchFamily="34" charset="0"/>
                <a:ea typeface="方正兰亭黑简体" panose="02000000000000000000" pitchFamily="2" charset="-122"/>
              </a:rPr>
              <a:t>Hub</a:t>
            </a:r>
            <a:r>
              <a:rPr lang="zh-CN" altLang="en-US" sz="1600">
                <a:solidFill>
                  <a:srgbClr val="30B5C5"/>
                </a:solidFill>
                <a:latin typeface="Huawei Sans" panose="020C0503030203020204" pitchFamily="34" charset="0"/>
                <a:ea typeface="方正兰亭黑简体" panose="02000000000000000000" pitchFamily="2" charset="-122"/>
              </a:rPr>
              <a:t>组</a:t>
            </a:r>
            <a:r>
              <a:rPr lang="zh-CN" altLang="en-US" sz="1600" dirty="0">
                <a:solidFill>
                  <a:srgbClr val="30B5C5"/>
                </a:solidFill>
                <a:latin typeface="Huawei Sans" panose="020C0503030203020204" pitchFamily="34" charset="0"/>
                <a:ea typeface="方正兰亭黑简体" panose="02000000000000000000" pitchFamily="2" charset="-122"/>
              </a:rPr>
              <a:t>网</a:t>
            </a:r>
          </a:p>
        </p:txBody>
      </p:sp>
      <p:sp>
        <p:nvSpPr>
          <p:cNvPr id="114" name="圆角矩形 75"/>
          <p:cNvSpPr/>
          <p:nvPr/>
        </p:nvSpPr>
        <p:spPr bwMode="gray">
          <a:xfrm>
            <a:off x="674225" y="1197245"/>
            <a:ext cx="538330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基于业务网段的</a:t>
            </a:r>
            <a:r>
              <a:rPr lang="zh-CN" altLang="en-US" sz="1600">
                <a:solidFill>
                  <a:srgbClr val="30B5C5"/>
                </a:solidFill>
                <a:latin typeface="Huawei Sans" panose="020C0503030203020204" pitchFamily="34" charset="0"/>
                <a:ea typeface="方正兰亭黑简体" panose="02000000000000000000" pitchFamily="2" charset="-122"/>
              </a:rPr>
              <a:t>多活</a:t>
            </a:r>
            <a:r>
              <a:rPr lang="en-US" altLang="zh-CN" sz="1600">
                <a:solidFill>
                  <a:srgbClr val="30B5C5"/>
                </a:solidFill>
                <a:latin typeface="Huawei Sans" panose="020C0503030203020204" pitchFamily="34" charset="0"/>
                <a:ea typeface="方正兰亭黑简体" panose="02000000000000000000" pitchFamily="2" charset="-122"/>
              </a:rPr>
              <a:t>Hub</a:t>
            </a:r>
            <a:r>
              <a:rPr lang="zh-CN" altLang="en-US" sz="1600">
                <a:solidFill>
                  <a:srgbClr val="30B5C5"/>
                </a:solidFill>
                <a:latin typeface="Huawei Sans" panose="020C0503030203020204" pitchFamily="34" charset="0"/>
                <a:ea typeface="方正兰亭黑简体" panose="02000000000000000000" pitchFamily="2" charset="-122"/>
              </a:rPr>
              <a:t>组</a:t>
            </a:r>
            <a:r>
              <a:rPr lang="zh-CN" altLang="en-US" sz="1600" dirty="0">
                <a:solidFill>
                  <a:srgbClr val="30B5C5"/>
                </a:solidFill>
                <a:latin typeface="Huawei Sans" panose="020C0503030203020204" pitchFamily="34" charset="0"/>
                <a:ea typeface="方正兰亭黑简体" panose="02000000000000000000" pitchFamily="2" charset="-122"/>
              </a:rPr>
              <a:t>网</a:t>
            </a:r>
          </a:p>
        </p:txBody>
      </p:sp>
      <p:sp>
        <p:nvSpPr>
          <p:cNvPr id="115" name="圆角矩形 75"/>
          <p:cNvSpPr/>
          <p:nvPr/>
        </p:nvSpPr>
        <p:spPr bwMode="gray">
          <a:xfrm>
            <a:off x="6134472" y="1637022"/>
            <a:ext cx="5325691" cy="448020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6" name="圆角矩形 75"/>
          <p:cNvSpPr/>
          <p:nvPr/>
        </p:nvSpPr>
        <p:spPr bwMode="gray">
          <a:xfrm>
            <a:off x="674225" y="1637022"/>
            <a:ext cx="5383304" cy="448020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 name="矩形 1"/>
          <p:cNvSpPr/>
          <p:nvPr/>
        </p:nvSpPr>
        <p:spPr bwMode="gray">
          <a:xfrm>
            <a:off x="958683" y="3787376"/>
            <a:ext cx="1265752" cy="523220"/>
          </a:xfrm>
          <a:prstGeom prst="rect">
            <a:avLst/>
          </a:prstGeom>
          <a:solidFill>
            <a:srgbClr val="FFFFCC"/>
          </a:solidFill>
          <a:ln>
            <a:noFill/>
          </a:ln>
        </p:spPr>
        <p:txBody>
          <a:bodyPr wrap="square">
            <a:spAutoFit/>
          </a:bodyPr>
          <a:lstStyle/>
          <a:p>
            <a:pPr algn="ctr"/>
            <a:r>
              <a:rPr lang="zh-CN" altLang="en-US" sz="1400" dirty="0"/>
              <a:t>办公</a:t>
            </a:r>
            <a:r>
              <a:rPr lang="zh-CN" altLang="en-US" sz="1400"/>
              <a:t>业务以</a:t>
            </a:r>
            <a:r>
              <a:rPr lang="en-US" altLang="zh-CN" sz="1400"/>
              <a:t>Hub1</a:t>
            </a:r>
            <a:r>
              <a:rPr lang="zh-CN" altLang="en-US" sz="1400" dirty="0"/>
              <a:t>为主</a:t>
            </a:r>
          </a:p>
        </p:txBody>
      </p:sp>
      <p:sp>
        <p:nvSpPr>
          <p:cNvPr id="117" name="矩形 116"/>
          <p:cNvSpPr/>
          <p:nvPr/>
        </p:nvSpPr>
        <p:spPr bwMode="gray">
          <a:xfrm>
            <a:off x="4476455" y="3729826"/>
            <a:ext cx="1265752" cy="523220"/>
          </a:xfrm>
          <a:prstGeom prst="rect">
            <a:avLst/>
          </a:prstGeom>
          <a:solidFill>
            <a:srgbClr val="FFFFCC"/>
          </a:solidFill>
          <a:ln>
            <a:noFill/>
          </a:ln>
        </p:spPr>
        <p:txBody>
          <a:bodyPr wrap="square">
            <a:spAutoFit/>
          </a:bodyPr>
          <a:lstStyle/>
          <a:p>
            <a:pPr algn="ctr"/>
            <a:r>
              <a:rPr lang="zh-CN" altLang="en-US" sz="1400" dirty="0"/>
              <a:t>生产</a:t>
            </a:r>
            <a:r>
              <a:rPr lang="zh-CN" altLang="en-US" sz="1400"/>
              <a:t>业务以</a:t>
            </a:r>
            <a:r>
              <a:rPr lang="en-US" altLang="zh-CN" sz="1400"/>
              <a:t>Hub2</a:t>
            </a:r>
            <a:r>
              <a:rPr lang="zh-CN" altLang="en-US" sz="1400" dirty="0"/>
              <a:t>为主</a:t>
            </a:r>
          </a:p>
        </p:txBody>
      </p:sp>
      <p:sp>
        <p:nvSpPr>
          <p:cNvPr id="118" name="矩形 117"/>
          <p:cNvSpPr/>
          <p:nvPr/>
        </p:nvSpPr>
        <p:spPr bwMode="gray">
          <a:xfrm>
            <a:off x="6363184" y="3787376"/>
            <a:ext cx="1265752" cy="523220"/>
          </a:xfrm>
          <a:prstGeom prst="rect">
            <a:avLst/>
          </a:prstGeom>
          <a:solidFill>
            <a:srgbClr val="FFFFCC"/>
          </a:solidFill>
          <a:ln>
            <a:noFill/>
          </a:ln>
        </p:spPr>
        <p:txBody>
          <a:bodyPr wrap="square">
            <a:spAutoFit/>
          </a:bodyPr>
          <a:lstStyle/>
          <a:p>
            <a:pPr algn="ctr"/>
            <a:r>
              <a:rPr lang="zh-CN" altLang="en-US" sz="1400" dirty="0"/>
              <a:t>华北</a:t>
            </a:r>
            <a:r>
              <a:rPr lang="zh-CN" altLang="en-US" sz="1400"/>
              <a:t>分支以</a:t>
            </a:r>
            <a:r>
              <a:rPr lang="en-US" altLang="zh-CN" sz="1400"/>
              <a:t>Hub1</a:t>
            </a:r>
            <a:r>
              <a:rPr lang="zh-CN" altLang="en-US" sz="1400" dirty="0"/>
              <a:t>为主</a:t>
            </a:r>
          </a:p>
        </p:txBody>
      </p:sp>
      <p:sp>
        <p:nvSpPr>
          <p:cNvPr id="119" name="矩形 118"/>
          <p:cNvSpPr/>
          <p:nvPr/>
        </p:nvSpPr>
        <p:spPr bwMode="gray">
          <a:xfrm>
            <a:off x="9941004" y="3787376"/>
            <a:ext cx="1265752" cy="523220"/>
          </a:xfrm>
          <a:prstGeom prst="rect">
            <a:avLst/>
          </a:prstGeom>
          <a:solidFill>
            <a:srgbClr val="FFFFCC"/>
          </a:solidFill>
          <a:ln>
            <a:noFill/>
          </a:ln>
        </p:spPr>
        <p:txBody>
          <a:bodyPr wrap="square">
            <a:spAutoFit/>
          </a:bodyPr>
          <a:lstStyle/>
          <a:p>
            <a:pPr algn="ctr"/>
            <a:r>
              <a:rPr lang="zh-CN" altLang="en-US" sz="1400" dirty="0"/>
              <a:t>华南</a:t>
            </a:r>
            <a:r>
              <a:rPr lang="zh-CN" altLang="en-US" sz="1400"/>
              <a:t>分支以</a:t>
            </a:r>
            <a:r>
              <a:rPr lang="en-US" altLang="zh-CN" sz="1400"/>
              <a:t>Hub2</a:t>
            </a:r>
            <a:r>
              <a:rPr lang="zh-CN" altLang="en-US" sz="1400" dirty="0"/>
              <a:t>为主</a:t>
            </a:r>
          </a:p>
        </p:txBody>
      </p:sp>
      <p:cxnSp>
        <p:nvCxnSpPr>
          <p:cNvPr id="84" name="Straight Arrow Connector 83">
            <a:extLst>
              <a:ext uri="{FF2B5EF4-FFF2-40B4-BE49-F238E27FC236}">
                <a16:creationId xmlns:a16="http://schemas.microsoft.com/office/drawing/2014/main" id="{724B89D4-B596-499A-A454-A2C9547D4481}"/>
              </a:ext>
            </a:extLst>
          </p:cNvPr>
          <p:cNvCxnSpPr/>
          <p:nvPr/>
        </p:nvCxnSpPr>
        <p:spPr bwMode="gray">
          <a:xfrm>
            <a:off x="4750133" y="5051318"/>
            <a:ext cx="475013" cy="0"/>
          </a:xfrm>
          <a:prstGeom prst="straightConnector1">
            <a:avLst/>
          </a:prstGeom>
          <a:noFill/>
          <a:ln w="25400" cap="flat" cmpd="sng" algn="ctr">
            <a:solidFill>
              <a:schemeClr val="tx1">
                <a:lumMod val="50000"/>
                <a:lumOff val="50000"/>
              </a:schemeClr>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Straight Arrow Connector 122">
            <a:extLst>
              <a:ext uri="{FF2B5EF4-FFF2-40B4-BE49-F238E27FC236}">
                <a16:creationId xmlns:a16="http://schemas.microsoft.com/office/drawing/2014/main" id="{8CA1E905-6480-4EBF-A750-01EDC75E3863}"/>
              </a:ext>
            </a:extLst>
          </p:cNvPr>
          <p:cNvCxnSpPr/>
          <p:nvPr/>
        </p:nvCxnSpPr>
        <p:spPr bwMode="gray">
          <a:xfrm>
            <a:off x="4750133" y="5500602"/>
            <a:ext cx="475013" cy="0"/>
          </a:xfrm>
          <a:prstGeom prst="straightConnector1">
            <a:avLst/>
          </a:prstGeom>
          <a:noFill/>
          <a:ln w="25400" cap="flat" cmpd="sng" algn="ctr">
            <a:solidFill>
              <a:schemeClr val="tx1">
                <a:lumMod val="50000"/>
                <a:lumOff val="50000"/>
              </a:schemeClr>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 name="文本框 34">
            <a:extLst>
              <a:ext uri="{FF2B5EF4-FFF2-40B4-BE49-F238E27FC236}">
                <a16:creationId xmlns:a16="http://schemas.microsoft.com/office/drawing/2014/main" id="{95FDA119-D9F7-4724-933A-FF2E556C7EE5}"/>
              </a:ext>
            </a:extLst>
          </p:cNvPr>
          <p:cNvSpPr txBox="1"/>
          <p:nvPr/>
        </p:nvSpPr>
        <p:spPr bwMode="gray">
          <a:xfrm>
            <a:off x="5099813" y="4955209"/>
            <a:ext cx="867292" cy="338554"/>
          </a:xfrm>
          <a:prstGeom prst="rect">
            <a:avLst/>
          </a:prstGeom>
          <a:noFill/>
        </p:spPr>
        <p:txBody>
          <a:bodyPr wrap="square" rtlCol="0">
            <a:spAutoFit/>
          </a:bodyPr>
          <a:lstStyle/>
          <a:p>
            <a:pPr algn="ctr"/>
            <a:r>
              <a:rPr lang="zh-CN" altLang="en-US" sz="1600" dirty="0">
                <a:solidFill>
                  <a:srgbClr val="000000"/>
                </a:solidFill>
              </a:rPr>
              <a:t>主路径</a:t>
            </a:r>
          </a:p>
        </p:txBody>
      </p:sp>
      <p:sp>
        <p:nvSpPr>
          <p:cNvPr id="125" name="文本框 34">
            <a:extLst>
              <a:ext uri="{FF2B5EF4-FFF2-40B4-BE49-F238E27FC236}">
                <a16:creationId xmlns:a16="http://schemas.microsoft.com/office/drawing/2014/main" id="{175D8085-39FB-4631-83D8-284298A6F275}"/>
              </a:ext>
            </a:extLst>
          </p:cNvPr>
          <p:cNvSpPr txBox="1"/>
          <p:nvPr/>
        </p:nvSpPr>
        <p:spPr bwMode="gray">
          <a:xfrm>
            <a:off x="5098907" y="5397210"/>
            <a:ext cx="867292" cy="338554"/>
          </a:xfrm>
          <a:prstGeom prst="rect">
            <a:avLst/>
          </a:prstGeom>
          <a:noFill/>
        </p:spPr>
        <p:txBody>
          <a:bodyPr wrap="square" rtlCol="0">
            <a:spAutoFit/>
          </a:bodyPr>
          <a:lstStyle/>
          <a:p>
            <a:pPr algn="ctr"/>
            <a:r>
              <a:rPr lang="zh-CN" altLang="en-US" sz="1600" dirty="0">
                <a:solidFill>
                  <a:srgbClr val="000000"/>
                </a:solidFill>
              </a:rPr>
              <a:t>备路径</a:t>
            </a:r>
          </a:p>
        </p:txBody>
      </p:sp>
      <p:sp>
        <p:nvSpPr>
          <p:cNvPr id="148" name="五边形 2">
            <a:extLst>
              <a:ext uri="{FF2B5EF4-FFF2-40B4-BE49-F238E27FC236}">
                <a16:creationId xmlns:a16="http://schemas.microsoft.com/office/drawing/2014/main" id="{6189DFC1-9A9B-4A45-A1F8-5BD312DE3DF5}"/>
              </a:ext>
            </a:extLst>
          </p:cNvPr>
          <p:cNvSpPr/>
          <p:nvPr/>
        </p:nvSpPr>
        <p:spPr bwMode="gray">
          <a:xfrm>
            <a:off x="7117818" y="121953"/>
            <a:ext cx="1566373"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Hub</a:t>
            </a: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可靠性设计</a:t>
            </a:r>
          </a:p>
        </p:txBody>
      </p:sp>
      <p:sp>
        <p:nvSpPr>
          <p:cNvPr id="149" name="燕尾形 3">
            <a:extLst>
              <a:ext uri="{FF2B5EF4-FFF2-40B4-BE49-F238E27FC236}">
                <a16:creationId xmlns:a16="http://schemas.microsoft.com/office/drawing/2014/main" id="{704FB2C0-51A9-45F5-89FA-96CF25422FBD}"/>
              </a:ext>
            </a:extLst>
          </p:cNvPr>
          <p:cNvSpPr/>
          <p:nvPr/>
        </p:nvSpPr>
        <p:spPr bwMode="gray">
          <a:xfrm>
            <a:off x="10145511" y="121953"/>
            <a:ext cx="160357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IWG</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燕尾形 3">
            <a:extLst>
              <a:ext uri="{FF2B5EF4-FFF2-40B4-BE49-F238E27FC236}">
                <a16:creationId xmlns:a16="http://schemas.microsoft.com/office/drawing/2014/main" id="{1A804F15-8578-45A9-9F12-887F4ACF9BA4}"/>
              </a:ext>
            </a:extLst>
          </p:cNvPr>
          <p:cNvSpPr/>
          <p:nvPr/>
        </p:nvSpPr>
        <p:spPr bwMode="gray">
          <a:xfrm>
            <a:off x="8603744" y="121953"/>
            <a:ext cx="162452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站点可靠性设计</a:t>
            </a:r>
          </a:p>
        </p:txBody>
      </p:sp>
      <p:cxnSp>
        <p:nvCxnSpPr>
          <p:cNvPr id="107" name="Straight Arrow Connector 106">
            <a:extLst>
              <a:ext uri="{FF2B5EF4-FFF2-40B4-BE49-F238E27FC236}">
                <a16:creationId xmlns:a16="http://schemas.microsoft.com/office/drawing/2014/main" id="{78158B5A-19F6-4DB2-A475-E2041C3B646A}"/>
              </a:ext>
            </a:extLst>
          </p:cNvPr>
          <p:cNvCxnSpPr/>
          <p:nvPr/>
        </p:nvCxnSpPr>
        <p:spPr bwMode="blackGray">
          <a:xfrm>
            <a:off x="4750133" y="5203718"/>
            <a:ext cx="475013" cy="0"/>
          </a:xfrm>
          <a:prstGeom prst="straightConnector1">
            <a:avLst/>
          </a:prstGeom>
          <a:noFill/>
          <a:ln w="25400" cap="flat" cmpd="sng" algn="ctr">
            <a:solidFill>
              <a:srgbClr val="E2818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Straight Arrow Connector 107">
            <a:extLst>
              <a:ext uri="{FF2B5EF4-FFF2-40B4-BE49-F238E27FC236}">
                <a16:creationId xmlns:a16="http://schemas.microsoft.com/office/drawing/2014/main" id="{70D62D8D-0D32-4B21-A834-8FB9C39BC1AB}"/>
              </a:ext>
            </a:extLst>
          </p:cNvPr>
          <p:cNvCxnSpPr/>
          <p:nvPr/>
        </p:nvCxnSpPr>
        <p:spPr bwMode="blackGray">
          <a:xfrm>
            <a:off x="4746668" y="5621829"/>
            <a:ext cx="475013" cy="0"/>
          </a:xfrm>
          <a:prstGeom prst="straightConnector1">
            <a:avLst/>
          </a:prstGeom>
          <a:noFill/>
          <a:ln w="25400" cap="flat" cmpd="sng" algn="ctr">
            <a:solidFill>
              <a:srgbClr val="E28189"/>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Straight Arrow Connector 108">
            <a:extLst>
              <a:ext uri="{FF2B5EF4-FFF2-40B4-BE49-F238E27FC236}">
                <a16:creationId xmlns:a16="http://schemas.microsoft.com/office/drawing/2014/main" id="{57FB282E-5206-4A77-8BE1-6C98B6C0BB59}"/>
              </a:ext>
            </a:extLst>
          </p:cNvPr>
          <p:cNvCxnSpPr/>
          <p:nvPr/>
        </p:nvCxnSpPr>
        <p:spPr bwMode="gray">
          <a:xfrm>
            <a:off x="10128028" y="5218679"/>
            <a:ext cx="475013" cy="0"/>
          </a:xfrm>
          <a:prstGeom prst="straightConnector1">
            <a:avLst/>
          </a:prstGeom>
          <a:noFill/>
          <a:ln w="25400" cap="flat" cmpd="sng" algn="ctr">
            <a:solidFill>
              <a:schemeClr val="tx1">
                <a:lumMod val="50000"/>
                <a:lumOff val="50000"/>
              </a:schemeClr>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Straight Arrow Connector 109">
            <a:extLst>
              <a:ext uri="{FF2B5EF4-FFF2-40B4-BE49-F238E27FC236}">
                <a16:creationId xmlns:a16="http://schemas.microsoft.com/office/drawing/2014/main" id="{B7A3D340-7A40-43F7-AB71-E67B6F9F404C}"/>
              </a:ext>
            </a:extLst>
          </p:cNvPr>
          <p:cNvCxnSpPr/>
          <p:nvPr/>
        </p:nvCxnSpPr>
        <p:spPr bwMode="gray">
          <a:xfrm>
            <a:off x="10128028" y="5667963"/>
            <a:ext cx="475013" cy="0"/>
          </a:xfrm>
          <a:prstGeom prst="straightConnector1">
            <a:avLst/>
          </a:prstGeom>
          <a:noFill/>
          <a:ln w="25400" cap="flat" cmpd="sng" algn="ctr">
            <a:solidFill>
              <a:schemeClr val="tx1">
                <a:lumMod val="50000"/>
                <a:lumOff val="50000"/>
              </a:schemeClr>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文本框 34">
            <a:extLst>
              <a:ext uri="{FF2B5EF4-FFF2-40B4-BE49-F238E27FC236}">
                <a16:creationId xmlns:a16="http://schemas.microsoft.com/office/drawing/2014/main" id="{3C840BBA-3012-4F8A-9486-ACAD68A97041}"/>
              </a:ext>
            </a:extLst>
          </p:cNvPr>
          <p:cNvSpPr txBox="1"/>
          <p:nvPr/>
        </p:nvSpPr>
        <p:spPr bwMode="gray">
          <a:xfrm>
            <a:off x="10477708" y="5122570"/>
            <a:ext cx="867292" cy="338554"/>
          </a:xfrm>
          <a:prstGeom prst="rect">
            <a:avLst/>
          </a:prstGeom>
          <a:noFill/>
        </p:spPr>
        <p:txBody>
          <a:bodyPr wrap="square" rtlCol="0">
            <a:spAutoFit/>
          </a:bodyPr>
          <a:lstStyle/>
          <a:p>
            <a:pPr algn="ctr"/>
            <a:r>
              <a:rPr lang="zh-CN" altLang="en-US" sz="1600" dirty="0">
                <a:solidFill>
                  <a:srgbClr val="000000"/>
                </a:solidFill>
              </a:rPr>
              <a:t>主路径</a:t>
            </a:r>
          </a:p>
        </p:txBody>
      </p:sp>
      <p:sp>
        <p:nvSpPr>
          <p:cNvPr id="112" name="文本框 34">
            <a:extLst>
              <a:ext uri="{FF2B5EF4-FFF2-40B4-BE49-F238E27FC236}">
                <a16:creationId xmlns:a16="http://schemas.microsoft.com/office/drawing/2014/main" id="{03D960DE-5E71-4BB9-9BE6-30E02722E091}"/>
              </a:ext>
            </a:extLst>
          </p:cNvPr>
          <p:cNvSpPr txBox="1"/>
          <p:nvPr/>
        </p:nvSpPr>
        <p:spPr bwMode="gray">
          <a:xfrm>
            <a:off x="10476802" y="5564571"/>
            <a:ext cx="867292" cy="338554"/>
          </a:xfrm>
          <a:prstGeom prst="rect">
            <a:avLst/>
          </a:prstGeom>
          <a:noFill/>
        </p:spPr>
        <p:txBody>
          <a:bodyPr wrap="square" rtlCol="0">
            <a:spAutoFit/>
          </a:bodyPr>
          <a:lstStyle/>
          <a:p>
            <a:pPr algn="ctr"/>
            <a:r>
              <a:rPr lang="zh-CN" altLang="en-US" sz="1600" dirty="0">
                <a:solidFill>
                  <a:srgbClr val="000000"/>
                </a:solidFill>
              </a:rPr>
              <a:t>备路径</a:t>
            </a:r>
          </a:p>
        </p:txBody>
      </p:sp>
      <p:cxnSp>
        <p:nvCxnSpPr>
          <p:cNvPr id="137" name="Straight Arrow Connector 136">
            <a:extLst>
              <a:ext uri="{FF2B5EF4-FFF2-40B4-BE49-F238E27FC236}">
                <a16:creationId xmlns:a16="http://schemas.microsoft.com/office/drawing/2014/main" id="{A2DD8686-34D3-4A4B-93C0-B8B2FB12AC56}"/>
              </a:ext>
            </a:extLst>
          </p:cNvPr>
          <p:cNvCxnSpPr/>
          <p:nvPr/>
        </p:nvCxnSpPr>
        <p:spPr bwMode="blackGray">
          <a:xfrm>
            <a:off x="10128028" y="5371079"/>
            <a:ext cx="475013" cy="0"/>
          </a:xfrm>
          <a:prstGeom prst="straightConnector1">
            <a:avLst/>
          </a:prstGeom>
          <a:noFill/>
          <a:ln w="25400" cap="flat" cmpd="sng" algn="ctr">
            <a:solidFill>
              <a:srgbClr val="E2818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Straight Arrow Connector 137">
            <a:extLst>
              <a:ext uri="{FF2B5EF4-FFF2-40B4-BE49-F238E27FC236}">
                <a16:creationId xmlns:a16="http://schemas.microsoft.com/office/drawing/2014/main" id="{65D6BD78-E71D-47A3-BD00-94AE49245775}"/>
              </a:ext>
            </a:extLst>
          </p:cNvPr>
          <p:cNvCxnSpPr/>
          <p:nvPr/>
        </p:nvCxnSpPr>
        <p:spPr bwMode="blackGray">
          <a:xfrm>
            <a:off x="10124563" y="5789190"/>
            <a:ext cx="475013" cy="0"/>
          </a:xfrm>
          <a:prstGeom prst="straightConnector1">
            <a:avLst/>
          </a:prstGeom>
          <a:noFill/>
          <a:ln w="25400" cap="flat" cmpd="sng" algn="ctr">
            <a:solidFill>
              <a:srgbClr val="E28189"/>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26" name="图片 35" descr="PC.png"/>
          <p:cNvPicPr>
            <a:picLocks noChangeAspect="1"/>
          </p:cNvPicPr>
          <p:nvPr/>
        </p:nvPicPr>
        <p:blipFill>
          <a:blip r:embed="rId5" cstate="print"/>
          <a:stretch>
            <a:fillRect/>
          </a:stretch>
        </p:blipFill>
        <p:spPr bwMode="gray">
          <a:xfrm>
            <a:off x="1973544" y="5483856"/>
            <a:ext cx="326844" cy="251016"/>
          </a:xfrm>
          <a:prstGeom prst="rect">
            <a:avLst/>
          </a:prstGeom>
        </p:spPr>
      </p:pic>
      <p:pic>
        <p:nvPicPr>
          <p:cNvPr id="127" name="图片 35" descr="PC.png"/>
          <p:cNvPicPr>
            <a:picLocks noChangeAspect="1"/>
          </p:cNvPicPr>
          <p:nvPr/>
        </p:nvPicPr>
        <p:blipFill>
          <a:blip r:embed="rId5" cstate="print"/>
          <a:stretch>
            <a:fillRect/>
          </a:stretch>
        </p:blipFill>
        <p:spPr bwMode="gray">
          <a:xfrm>
            <a:off x="2817928" y="5492002"/>
            <a:ext cx="326844" cy="251016"/>
          </a:xfrm>
          <a:prstGeom prst="rect">
            <a:avLst/>
          </a:prstGeom>
        </p:spPr>
      </p:pic>
      <p:pic>
        <p:nvPicPr>
          <p:cNvPr id="128" name="图片 35" descr="PC.png"/>
          <p:cNvPicPr>
            <a:picLocks noChangeAspect="1"/>
          </p:cNvPicPr>
          <p:nvPr/>
        </p:nvPicPr>
        <p:blipFill>
          <a:blip r:embed="rId5" cstate="print"/>
          <a:stretch>
            <a:fillRect/>
          </a:stretch>
        </p:blipFill>
        <p:spPr bwMode="gray">
          <a:xfrm>
            <a:off x="7444070" y="5488130"/>
            <a:ext cx="326844" cy="251016"/>
          </a:xfrm>
          <a:prstGeom prst="rect">
            <a:avLst/>
          </a:prstGeom>
        </p:spPr>
      </p:pic>
      <p:pic>
        <p:nvPicPr>
          <p:cNvPr id="129" name="图片 35" descr="PC.png"/>
          <p:cNvPicPr>
            <a:picLocks noChangeAspect="1"/>
          </p:cNvPicPr>
          <p:nvPr/>
        </p:nvPicPr>
        <p:blipFill>
          <a:blip r:embed="rId5" cstate="print"/>
          <a:stretch>
            <a:fillRect/>
          </a:stretch>
        </p:blipFill>
        <p:spPr bwMode="gray">
          <a:xfrm>
            <a:off x="9332985" y="5495253"/>
            <a:ext cx="326844" cy="251016"/>
          </a:xfrm>
          <a:prstGeom prst="rect">
            <a:avLst/>
          </a:prstGeom>
        </p:spPr>
      </p:pic>
    </p:spTree>
    <p:extLst>
      <p:ext uri="{BB962C8B-B14F-4D97-AF65-F5344CB8AC3E}">
        <p14:creationId xmlns:p14="http://schemas.microsoft.com/office/powerpoint/2010/main" val="18079931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Rounded Corners 65">
            <a:extLst>
              <a:ext uri="{FF2B5EF4-FFF2-40B4-BE49-F238E27FC236}">
                <a16:creationId xmlns:a16="http://schemas.microsoft.com/office/drawing/2014/main" id="{3F44B2BF-5C34-49AB-9664-1824AAF5D043}"/>
              </a:ext>
            </a:extLst>
          </p:cNvPr>
          <p:cNvSpPr/>
          <p:nvPr/>
        </p:nvSpPr>
        <p:spPr bwMode="gray">
          <a:xfrm>
            <a:off x="6551061" y="2594080"/>
            <a:ext cx="863205" cy="603716"/>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Rectangle: Rounded Corners 66">
            <a:extLst>
              <a:ext uri="{FF2B5EF4-FFF2-40B4-BE49-F238E27FC236}">
                <a16:creationId xmlns:a16="http://schemas.microsoft.com/office/drawing/2014/main" id="{5051B6F3-073D-47AE-B250-EFFA33A7E31D}"/>
              </a:ext>
            </a:extLst>
          </p:cNvPr>
          <p:cNvSpPr/>
          <p:nvPr/>
        </p:nvSpPr>
        <p:spPr bwMode="gray">
          <a:xfrm>
            <a:off x="6595063" y="2383409"/>
            <a:ext cx="771946" cy="200884"/>
          </a:xfrm>
          <a:prstGeom prst="roundRect">
            <a:avLst>
              <a:gd name="adj" fmla="val 4012"/>
            </a:avLst>
          </a:prstGeom>
          <a:solidFill>
            <a:schemeClr val="bg1">
              <a:lumMod val="65000"/>
            </a:schemeClr>
          </a:solidFill>
          <a:ln w="190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RR</a:t>
            </a:r>
            <a:r>
              <a:rPr lang="zh-CN" altLang="en-US" sz="1200" dirty="0"/>
              <a:t>站点</a:t>
            </a:r>
            <a:endParaRPr lang="en-US" sz="1200" dirty="0"/>
          </a:p>
        </p:txBody>
      </p:sp>
      <p:sp>
        <p:nvSpPr>
          <p:cNvPr id="2" name="Title 1">
            <a:extLst>
              <a:ext uri="{FF2B5EF4-FFF2-40B4-BE49-F238E27FC236}">
                <a16:creationId xmlns:a16="http://schemas.microsoft.com/office/drawing/2014/main" id="{7F96DD29-8B2C-4CD6-8A6E-B6E958545163}"/>
              </a:ext>
            </a:extLst>
          </p:cNvPr>
          <p:cNvSpPr>
            <a:spLocks noGrp="1"/>
          </p:cNvSpPr>
          <p:nvPr>
            <p:ph type="title"/>
          </p:nvPr>
        </p:nvSpPr>
        <p:spPr bwMode="gray"/>
        <p:txBody>
          <a:bodyPr/>
          <a:lstStyle/>
          <a:p>
            <a:r>
              <a:rPr lang="en-US" dirty="0"/>
              <a:t>RR</a:t>
            </a:r>
            <a:r>
              <a:rPr lang="zh-CN" altLang="en-US" dirty="0"/>
              <a:t>站点可靠性设计：</a:t>
            </a:r>
            <a:r>
              <a:rPr lang="en-US" altLang="zh-CN" dirty="0"/>
              <a:t>RR</a:t>
            </a:r>
            <a:r>
              <a:rPr lang="zh-CN" altLang="en-US" dirty="0"/>
              <a:t>设备冗余</a:t>
            </a:r>
            <a:endParaRPr lang="en-US" dirty="0"/>
          </a:p>
        </p:txBody>
      </p:sp>
      <p:sp>
        <p:nvSpPr>
          <p:cNvPr id="3" name="Text Placeholder 2">
            <a:extLst>
              <a:ext uri="{FF2B5EF4-FFF2-40B4-BE49-F238E27FC236}">
                <a16:creationId xmlns:a16="http://schemas.microsoft.com/office/drawing/2014/main" id="{BAC8A782-37FB-4F18-8009-4FA629DFAB73}"/>
              </a:ext>
            </a:extLst>
          </p:cNvPr>
          <p:cNvSpPr>
            <a:spLocks noGrp="1"/>
          </p:cNvSpPr>
          <p:nvPr>
            <p:ph type="body" sz="quarter" idx="10"/>
          </p:nvPr>
        </p:nvSpPr>
        <p:spPr bwMode="gray"/>
        <p:txBody>
          <a:bodyPr/>
          <a:lstStyle/>
          <a:p>
            <a:r>
              <a:rPr lang="zh-CN" altLang="en-US" sz="1800" dirty="0"/>
              <a:t>一个</a:t>
            </a:r>
            <a:r>
              <a:rPr lang="en-US" altLang="zh-CN" sz="1800" dirty="0"/>
              <a:t>CPE</a:t>
            </a:r>
            <a:r>
              <a:rPr lang="zh-CN" altLang="en-US" sz="1800" dirty="0"/>
              <a:t>设备最多支持连接到两个</a:t>
            </a:r>
            <a:r>
              <a:rPr lang="en-US" altLang="zh-CN" sz="1800" dirty="0"/>
              <a:t>RR</a:t>
            </a:r>
            <a:r>
              <a:rPr lang="zh-CN" altLang="en-US" sz="1800" dirty="0"/>
              <a:t>站点（</a:t>
            </a:r>
            <a:r>
              <a:rPr lang="en-US" altLang="zh-CN" sz="1800" dirty="0"/>
              <a:t>4</a:t>
            </a:r>
            <a:r>
              <a:rPr lang="zh-CN" altLang="en-US" sz="1800" dirty="0"/>
              <a:t>台</a:t>
            </a:r>
            <a:r>
              <a:rPr lang="en-US" altLang="zh-CN" sz="1800" dirty="0"/>
              <a:t>RR</a:t>
            </a:r>
            <a:r>
              <a:rPr lang="zh-CN" altLang="en-US" sz="1800"/>
              <a:t>设备）。下</a:t>
            </a:r>
            <a:r>
              <a:rPr lang="zh-CN" altLang="en-US" sz="1800" dirty="0"/>
              <a:t>图提供三种场景的</a:t>
            </a:r>
            <a:r>
              <a:rPr lang="en-US" altLang="zh-CN" sz="1800" dirty="0"/>
              <a:t>RR</a:t>
            </a:r>
            <a:r>
              <a:rPr lang="zh-CN" altLang="en-US" sz="1800" dirty="0"/>
              <a:t>部署方式，三种部署方式的可靠性逐步增强。</a:t>
            </a:r>
            <a:endParaRPr lang="en-US" sz="1800" dirty="0"/>
          </a:p>
        </p:txBody>
      </p:sp>
      <p:sp>
        <p:nvSpPr>
          <p:cNvPr id="6" name="Freeform 159">
            <a:extLst>
              <a:ext uri="{FF2B5EF4-FFF2-40B4-BE49-F238E27FC236}">
                <a16:creationId xmlns:a16="http://schemas.microsoft.com/office/drawing/2014/main" id="{E9FC46ED-8122-4543-BAAF-B7A95CC851FF}"/>
              </a:ext>
            </a:extLst>
          </p:cNvPr>
          <p:cNvSpPr/>
          <p:nvPr/>
        </p:nvSpPr>
        <p:spPr bwMode="gray">
          <a:xfrm flipH="1">
            <a:off x="1213970" y="385032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7" name="Freeform 159">
            <a:extLst>
              <a:ext uri="{FF2B5EF4-FFF2-40B4-BE49-F238E27FC236}">
                <a16:creationId xmlns:a16="http://schemas.microsoft.com/office/drawing/2014/main" id="{16D82DC9-B6D6-4B82-A017-EAD601389001}"/>
              </a:ext>
            </a:extLst>
          </p:cNvPr>
          <p:cNvSpPr/>
          <p:nvPr/>
        </p:nvSpPr>
        <p:spPr bwMode="gray">
          <a:xfrm flipH="1">
            <a:off x="2401984" y="385032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9" name="圆角矩形 75">
            <a:extLst>
              <a:ext uri="{FF2B5EF4-FFF2-40B4-BE49-F238E27FC236}">
                <a16:creationId xmlns:a16="http://schemas.microsoft.com/office/drawing/2014/main" id="{4CF7B142-82CD-46FA-BA94-05E6BFE55B66}"/>
              </a:ext>
            </a:extLst>
          </p:cNvPr>
          <p:cNvSpPr/>
          <p:nvPr/>
        </p:nvSpPr>
        <p:spPr bwMode="gray">
          <a:xfrm>
            <a:off x="539607" y="1855277"/>
            <a:ext cx="355487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单站点双设备</a:t>
            </a:r>
          </a:p>
        </p:txBody>
      </p:sp>
      <p:sp>
        <p:nvSpPr>
          <p:cNvPr id="10" name="圆角矩形 75">
            <a:extLst>
              <a:ext uri="{FF2B5EF4-FFF2-40B4-BE49-F238E27FC236}">
                <a16:creationId xmlns:a16="http://schemas.microsoft.com/office/drawing/2014/main" id="{9944EF2B-FDE3-48D3-9E15-E5BCA18F4E48}"/>
              </a:ext>
            </a:extLst>
          </p:cNvPr>
          <p:cNvSpPr/>
          <p:nvPr/>
        </p:nvSpPr>
        <p:spPr bwMode="gray">
          <a:xfrm>
            <a:off x="539607" y="2295054"/>
            <a:ext cx="3554875" cy="335407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 name="圆角矩形 75">
            <a:extLst>
              <a:ext uri="{FF2B5EF4-FFF2-40B4-BE49-F238E27FC236}">
                <a16:creationId xmlns:a16="http://schemas.microsoft.com/office/drawing/2014/main" id="{A656A0CE-144C-4F06-92B0-0A807FA8E3B7}"/>
              </a:ext>
            </a:extLst>
          </p:cNvPr>
          <p:cNvSpPr/>
          <p:nvPr/>
        </p:nvSpPr>
        <p:spPr bwMode="gray">
          <a:xfrm>
            <a:off x="4313095" y="1855277"/>
            <a:ext cx="355487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双站点单设备</a:t>
            </a:r>
          </a:p>
        </p:txBody>
      </p:sp>
      <p:sp>
        <p:nvSpPr>
          <p:cNvPr id="12" name="圆角矩形 75">
            <a:extLst>
              <a:ext uri="{FF2B5EF4-FFF2-40B4-BE49-F238E27FC236}">
                <a16:creationId xmlns:a16="http://schemas.microsoft.com/office/drawing/2014/main" id="{045F3F24-52BB-435C-B7F5-FAAE1EE095D9}"/>
              </a:ext>
            </a:extLst>
          </p:cNvPr>
          <p:cNvSpPr/>
          <p:nvPr/>
        </p:nvSpPr>
        <p:spPr bwMode="gray">
          <a:xfrm>
            <a:off x="4313095" y="2295054"/>
            <a:ext cx="3554875" cy="335407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 name="圆角矩形 75">
            <a:extLst>
              <a:ext uri="{FF2B5EF4-FFF2-40B4-BE49-F238E27FC236}">
                <a16:creationId xmlns:a16="http://schemas.microsoft.com/office/drawing/2014/main" id="{E8C0BFC7-D032-443B-A486-40F444774148}"/>
              </a:ext>
            </a:extLst>
          </p:cNvPr>
          <p:cNvSpPr/>
          <p:nvPr/>
        </p:nvSpPr>
        <p:spPr bwMode="gray">
          <a:xfrm>
            <a:off x="8067594" y="1857004"/>
            <a:ext cx="355487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双站点双设备</a:t>
            </a:r>
          </a:p>
        </p:txBody>
      </p:sp>
      <p:sp>
        <p:nvSpPr>
          <p:cNvPr id="14" name="圆角矩形 75">
            <a:extLst>
              <a:ext uri="{FF2B5EF4-FFF2-40B4-BE49-F238E27FC236}">
                <a16:creationId xmlns:a16="http://schemas.microsoft.com/office/drawing/2014/main" id="{8B218DC8-1C3F-451E-B963-5A324DEBA5B4}"/>
              </a:ext>
            </a:extLst>
          </p:cNvPr>
          <p:cNvSpPr/>
          <p:nvPr/>
        </p:nvSpPr>
        <p:spPr bwMode="gray">
          <a:xfrm>
            <a:off x="8067594" y="2296781"/>
            <a:ext cx="3554875" cy="335407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8" name="Freeform 159">
            <a:extLst>
              <a:ext uri="{FF2B5EF4-FFF2-40B4-BE49-F238E27FC236}">
                <a16:creationId xmlns:a16="http://schemas.microsoft.com/office/drawing/2014/main" id="{510B19A4-6C1C-44B0-8CB6-52ADC96B57CF}"/>
              </a:ext>
            </a:extLst>
          </p:cNvPr>
          <p:cNvSpPr/>
          <p:nvPr/>
        </p:nvSpPr>
        <p:spPr bwMode="gray">
          <a:xfrm flipH="1">
            <a:off x="813474" y="504734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16" name="Picture 12" descr="E:\2016.01\1.12 扁平化图标\蓝色\AR-蓝色最新-40.png">
            <a:extLst>
              <a:ext uri="{FF2B5EF4-FFF2-40B4-BE49-F238E27FC236}">
                <a16:creationId xmlns:a16="http://schemas.microsoft.com/office/drawing/2014/main" id="{7A222592-D5F5-4120-BF0F-59819D9FDAF8}"/>
              </a:ext>
            </a:extLst>
          </p:cNvPr>
          <p:cNvPicPr>
            <a:picLocks noChangeAspect="1" noChangeArrowheads="1"/>
          </p:cNvPicPr>
          <p:nvPr/>
        </p:nvPicPr>
        <p:blipFill>
          <a:blip r:embed="rId3" cstate="print"/>
          <a:srcRect/>
          <a:stretch>
            <a:fillRect/>
          </a:stretch>
        </p:blipFill>
        <p:spPr bwMode="gray">
          <a:xfrm>
            <a:off x="1076867" y="4785653"/>
            <a:ext cx="474524" cy="388247"/>
          </a:xfrm>
          <a:prstGeom prst="rect">
            <a:avLst/>
          </a:prstGeom>
          <a:noFill/>
        </p:spPr>
      </p:pic>
      <p:sp>
        <p:nvSpPr>
          <p:cNvPr id="19" name="Freeform 159">
            <a:extLst>
              <a:ext uri="{FF2B5EF4-FFF2-40B4-BE49-F238E27FC236}">
                <a16:creationId xmlns:a16="http://schemas.microsoft.com/office/drawing/2014/main" id="{BE500093-0FC3-4F59-8529-091AB432A9DC}"/>
              </a:ext>
            </a:extLst>
          </p:cNvPr>
          <p:cNvSpPr/>
          <p:nvPr/>
        </p:nvSpPr>
        <p:spPr bwMode="gray">
          <a:xfrm flipH="1">
            <a:off x="2728753" y="504734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20" name="Picture 12" descr="E:\2016.01\1.12 扁平化图标\蓝色\AR-蓝色最新-40.png">
            <a:extLst>
              <a:ext uri="{FF2B5EF4-FFF2-40B4-BE49-F238E27FC236}">
                <a16:creationId xmlns:a16="http://schemas.microsoft.com/office/drawing/2014/main" id="{696C32D6-C01D-449A-9330-78D54CC167FD}"/>
              </a:ext>
            </a:extLst>
          </p:cNvPr>
          <p:cNvPicPr>
            <a:picLocks noChangeAspect="1" noChangeArrowheads="1"/>
          </p:cNvPicPr>
          <p:nvPr/>
        </p:nvPicPr>
        <p:blipFill>
          <a:blip r:embed="rId3" cstate="print"/>
          <a:srcRect/>
          <a:stretch>
            <a:fillRect/>
          </a:stretch>
        </p:blipFill>
        <p:spPr bwMode="gray">
          <a:xfrm>
            <a:off x="2992146" y="4785653"/>
            <a:ext cx="474524" cy="388247"/>
          </a:xfrm>
          <a:prstGeom prst="rect">
            <a:avLst/>
          </a:prstGeom>
          <a:noFill/>
        </p:spPr>
      </p:pic>
      <p:sp>
        <p:nvSpPr>
          <p:cNvPr id="21" name="Rectangle: Rounded Corners 20">
            <a:extLst>
              <a:ext uri="{FF2B5EF4-FFF2-40B4-BE49-F238E27FC236}">
                <a16:creationId xmlns:a16="http://schemas.microsoft.com/office/drawing/2014/main" id="{603B031B-8730-4BD3-A882-44AD811CD392}"/>
              </a:ext>
            </a:extLst>
          </p:cNvPr>
          <p:cNvSpPr/>
          <p:nvPr/>
        </p:nvSpPr>
        <p:spPr bwMode="gray">
          <a:xfrm>
            <a:off x="1507389" y="2579719"/>
            <a:ext cx="1638300" cy="603716"/>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Rectangle: Rounded Corners 21">
            <a:extLst>
              <a:ext uri="{FF2B5EF4-FFF2-40B4-BE49-F238E27FC236}">
                <a16:creationId xmlns:a16="http://schemas.microsoft.com/office/drawing/2014/main" id="{83B76828-38F7-46D4-87CE-F6750B6337F6}"/>
              </a:ext>
            </a:extLst>
          </p:cNvPr>
          <p:cNvSpPr/>
          <p:nvPr/>
        </p:nvSpPr>
        <p:spPr bwMode="gray">
          <a:xfrm>
            <a:off x="1564595" y="2369048"/>
            <a:ext cx="771946" cy="200884"/>
          </a:xfrm>
          <a:prstGeom prst="roundRect">
            <a:avLst>
              <a:gd name="adj" fmla="val 4012"/>
            </a:avLst>
          </a:prstGeom>
          <a:solidFill>
            <a:schemeClr val="bg1">
              <a:lumMod val="65000"/>
            </a:schemeClr>
          </a:solidFill>
          <a:ln w="190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RR</a:t>
            </a:r>
            <a:r>
              <a:rPr lang="zh-CN" altLang="en-US" sz="1200" dirty="0"/>
              <a:t>站点</a:t>
            </a:r>
            <a:endParaRPr lang="en-US" sz="1200" dirty="0"/>
          </a:p>
        </p:txBody>
      </p:sp>
      <p:pic>
        <p:nvPicPr>
          <p:cNvPr id="8" name="Picture 12" descr="E:\2016.01\1.12 扁平化图标\蓝色\AR-蓝色最新-40.png">
            <a:extLst>
              <a:ext uri="{FF2B5EF4-FFF2-40B4-BE49-F238E27FC236}">
                <a16:creationId xmlns:a16="http://schemas.microsoft.com/office/drawing/2014/main" id="{538605D8-7A2A-42FA-BFC3-D529F4AF795F}"/>
              </a:ext>
            </a:extLst>
          </p:cNvPr>
          <p:cNvPicPr>
            <a:picLocks noChangeAspect="1" noChangeArrowheads="1"/>
          </p:cNvPicPr>
          <p:nvPr/>
        </p:nvPicPr>
        <p:blipFill>
          <a:blip r:embed="rId3" cstate="print"/>
          <a:srcRect/>
          <a:stretch>
            <a:fillRect/>
          </a:stretch>
        </p:blipFill>
        <p:spPr bwMode="gray">
          <a:xfrm>
            <a:off x="1685884" y="2682560"/>
            <a:ext cx="474524" cy="388247"/>
          </a:xfrm>
          <a:prstGeom prst="rect">
            <a:avLst/>
          </a:prstGeom>
          <a:noFill/>
        </p:spPr>
      </p:pic>
      <p:pic>
        <p:nvPicPr>
          <p:cNvPr id="15" name="Picture 12" descr="E:\2016.01\1.12 扁平化图标\蓝色\AR-蓝色最新-40.png">
            <a:extLst>
              <a:ext uri="{FF2B5EF4-FFF2-40B4-BE49-F238E27FC236}">
                <a16:creationId xmlns:a16="http://schemas.microsoft.com/office/drawing/2014/main" id="{A6E3BA04-D079-44CE-8FB7-1AB2CB0BA0FD}"/>
              </a:ext>
            </a:extLst>
          </p:cNvPr>
          <p:cNvPicPr>
            <a:picLocks noChangeAspect="1" noChangeArrowheads="1"/>
          </p:cNvPicPr>
          <p:nvPr/>
        </p:nvPicPr>
        <p:blipFill>
          <a:blip r:embed="rId3" cstate="print"/>
          <a:srcRect/>
          <a:stretch>
            <a:fillRect/>
          </a:stretch>
        </p:blipFill>
        <p:spPr bwMode="gray">
          <a:xfrm>
            <a:off x="2497212" y="2686016"/>
            <a:ext cx="474524" cy="388247"/>
          </a:xfrm>
          <a:prstGeom prst="rect">
            <a:avLst/>
          </a:prstGeom>
          <a:noFill/>
        </p:spPr>
      </p:pic>
      <p:cxnSp>
        <p:nvCxnSpPr>
          <p:cNvPr id="23" name="直接连接符 37">
            <a:extLst>
              <a:ext uri="{FF2B5EF4-FFF2-40B4-BE49-F238E27FC236}">
                <a16:creationId xmlns:a16="http://schemas.microsoft.com/office/drawing/2014/main" id="{8EA6BD65-2971-4EC1-A4CC-22527449AEEE}"/>
              </a:ext>
            </a:extLst>
          </p:cNvPr>
          <p:cNvCxnSpPr>
            <a:cxnSpLocks/>
            <a:stCxn id="8" idx="2"/>
            <a:endCxn id="6" idx="1"/>
          </p:cNvCxnSpPr>
          <p:nvPr/>
        </p:nvCxnSpPr>
        <p:spPr bwMode="gray">
          <a:xfrm flipH="1">
            <a:off x="1753184" y="3070807"/>
            <a:ext cx="169962" cy="84906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37">
            <a:extLst>
              <a:ext uri="{FF2B5EF4-FFF2-40B4-BE49-F238E27FC236}">
                <a16:creationId xmlns:a16="http://schemas.microsoft.com/office/drawing/2014/main" id="{C63D0274-14E5-4B6C-8B1F-4F82D309D7CE}"/>
              </a:ext>
            </a:extLst>
          </p:cNvPr>
          <p:cNvCxnSpPr>
            <a:cxnSpLocks/>
            <a:endCxn id="16" idx="0"/>
          </p:cNvCxnSpPr>
          <p:nvPr/>
        </p:nvCxnSpPr>
        <p:spPr bwMode="gray">
          <a:xfrm flipH="1">
            <a:off x="1314129" y="4347310"/>
            <a:ext cx="371755"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37">
            <a:extLst>
              <a:ext uri="{FF2B5EF4-FFF2-40B4-BE49-F238E27FC236}">
                <a16:creationId xmlns:a16="http://schemas.microsoft.com/office/drawing/2014/main" id="{F3F122A5-3D1B-4ECF-AB1F-9A3AB1AA8E75}"/>
              </a:ext>
            </a:extLst>
          </p:cNvPr>
          <p:cNvCxnSpPr>
            <a:cxnSpLocks/>
            <a:stCxn id="20" idx="0"/>
          </p:cNvCxnSpPr>
          <p:nvPr/>
        </p:nvCxnSpPr>
        <p:spPr bwMode="gray">
          <a:xfrm flipH="1" flipV="1">
            <a:off x="2895600" y="4347310"/>
            <a:ext cx="333808"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7">
            <a:extLst>
              <a:ext uri="{FF2B5EF4-FFF2-40B4-BE49-F238E27FC236}">
                <a16:creationId xmlns:a16="http://schemas.microsoft.com/office/drawing/2014/main" id="{7E2F24E0-4075-4434-A04D-5671EB51D18C}"/>
              </a:ext>
            </a:extLst>
          </p:cNvPr>
          <p:cNvCxnSpPr>
            <a:cxnSpLocks/>
            <a:stCxn id="20" idx="0"/>
          </p:cNvCxnSpPr>
          <p:nvPr/>
        </p:nvCxnSpPr>
        <p:spPr bwMode="gray">
          <a:xfrm flipH="1" flipV="1">
            <a:off x="1685884" y="4347310"/>
            <a:ext cx="1543524"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7">
            <a:extLst>
              <a:ext uri="{FF2B5EF4-FFF2-40B4-BE49-F238E27FC236}">
                <a16:creationId xmlns:a16="http://schemas.microsoft.com/office/drawing/2014/main" id="{C3140C80-8456-4906-8E96-9A703994A144}"/>
              </a:ext>
            </a:extLst>
          </p:cNvPr>
          <p:cNvCxnSpPr>
            <a:cxnSpLocks/>
            <a:endCxn id="16" idx="0"/>
          </p:cNvCxnSpPr>
          <p:nvPr/>
        </p:nvCxnSpPr>
        <p:spPr bwMode="gray">
          <a:xfrm flipH="1">
            <a:off x="1314129" y="4347310"/>
            <a:ext cx="1581471"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8615F118-1107-484B-B41A-E221007DE944}"/>
              </a:ext>
            </a:extLst>
          </p:cNvPr>
          <p:cNvCxnSpPr>
            <a:cxnSpLocks/>
            <a:stCxn id="15" idx="2"/>
            <a:endCxn id="7" idx="2"/>
          </p:cNvCxnSpPr>
          <p:nvPr/>
        </p:nvCxnSpPr>
        <p:spPr bwMode="gray">
          <a:xfrm>
            <a:off x="2734474" y="3074263"/>
            <a:ext cx="219295" cy="86097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37">
            <a:extLst>
              <a:ext uri="{FF2B5EF4-FFF2-40B4-BE49-F238E27FC236}">
                <a16:creationId xmlns:a16="http://schemas.microsoft.com/office/drawing/2014/main" id="{963B0574-F757-4973-8401-403B46D5BE59}"/>
              </a:ext>
            </a:extLst>
          </p:cNvPr>
          <p:cNvCxnSpPr>
            <a:cxnSpLocks/>
            <a:stCxn id="15" idx="2"/>
            <a:endCxn id="6" idx="3"/>
          </p:cNvCxnSpPr>
          <p:nvPr/>
        </p:nvCxnSpPr>
        <p:spPr bwMode="gray">
          <a:xfrm flipH="1">
            <a:off x="1775209" y="3074263"/>
            <a:ext cx="959265" cy="853824"/>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37">
            <a:extLst>
              <a:ext uri="{FF2B5EF4-FFF2-40B4-BE49-F238E27FC236}">
                <a16:creationId xmlns:a16="http://schemas.microsoft.com/office/drawing/2014/main" id="{D45F8EA9-7A49-42AA-83C2-CDCB867E8234}"/>
              </a:ext>
            </a:extLst>
          </p:cNvPr>
          <p:cNvCxnSpPr>
            <a:cxnSpLocks/>
            <a:stCxn id="8" idx="2"/>
            <a:endCxn id="7" idx="1"/>
          </p:cNvCxnSpPr>
          <p:nvPr/>
        </p:nvCxnSpPr>
        <p:spPr bwMode="gray">
          <a:xfrm>
            <a:off x="1923146" y="3070807"/>
            <a:ext cx="1018052" cy="84906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Freeform 159">
            <a:extLst>
              <a:ext uri="{FF2B5EF4-FFF2-40B4-BE49-F238E27FC236}">
                <a16:creationId xmlns:a16="http://schemas.microsoft.com/office/drawing/2014/main" id="{E1490EB4-56D8-4C47-9BC7-5D4A40972689}"/>
              </a:ext>
            </a:extLst>
          </p:cNvPr>
          <p:cNvSpPr/>
          <p:nvPr/>
        </p:nvSpPr>
        <p:spPr bwMode="gray">
          <a:xfrm flipH="1">
            <a:off x="5014485" y="3859156"/>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49" name="Freeform 159">
            <a:extLst>
              <a:ext uri="{FF2B5EF4-FFF2-40B4-BE49-F238E27FC236}">
                <a16:creationId xmlns:a16="http://schemas.microsoft.com/office/drawing/2014/main" id="{A76A91E0-EF19-4486-B745-3441478179E3}"/>
              </a:ext>
            </a:extLst>
          </p:cNvPr>
          <p:cNvSpPr/>
          <p:nvPr/>
        </p:nvSpPr>
        <p:spPr bwMode="gray">
          <a:xfrm flipH="1">
            <a:off x="6202499" y="3859156"/>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50" name="Freeform 159">
            <a:extLst>
              <a:ext uri="{FF2B5EF4-FFF2-40B4-BE49-F238E27FC236}">
                <a16:creationId xmlns:a16="http://schemas.microsoft.com/office/drawing/2014/main" id="{922147A5-1453-4304-8E89-A674BD4556AD}"/>
              </a:ext>
            </a:extLst>
          </p:cNvPr>
          <p:cNvSpPr/>
          <p:nvPr/>
        </p:nvSpPr>
        <p:spPr bwMode="gray">
          <a:xfrm flipH="1">
            <a:off x="4613989" y="5056180"/>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51" name="Picture 12" descr="E:\2016.01\1.12 扁平化图标\蓝色\AR-蓝色最新-40.png">
            <a:extLst>
              <a:ext uri="{FF2B5EF4-FFF2-40B4-BE49-F238E27FC236}">
                <a16:creationId xmlns:a16="http://schemas.microsoft.com/office/drawing/2014/main" id="{8469473C-8D08-43CF-80D4-FE06EED2DFE4}"/>
              </a:ext>
            </a:extLst>
          </p:cNvPr>
          <p:cNvPicPr>
            <a:picLocks noChangeAspect="1" noChangeArrowheads="1"/>
          </p:cNvPicPr>
          <p:nvPr/>
        </p:nvPicPr>
        <p:blipFill>
          <a:blip r:embed="rId3" cstate="print"/>
          <a:srcRect/>
          <a:stretch>
            <a:fillRect/>
          </a:stretch>
        </p:blipFill>
        <p:spPr bwMode="gray">
          <a:xfrm>
            <a:off x="4877382" y="4794485"/>
            <a:ext cx="474524" cy="388247"/>
          </a:xfrm>
          <a:prstGeom prst="rect">
            <a:avLst/>
          </a:prstGeom>
          <a:noFill/>
        </p:spPr>
      </p:pic>
      <p:sp>
        <p:nvSpPr>
          <p:cNvPr id="52" name="Freeform 159">
            <a:extLst>
              <a:ext uri="{FF2B5EF4-FFF2-40B4-BE49-F238E27FC236}">
                <a16:creationId xmlns:a16="http://schemas.microsoft.com/office/drawing/2014/main" id="{931791F2-6D01-4FB6-A7FE-069534B13763}"/>
              </a:ext>
            </a:extLst>
          </p:cNvPr>
          <p:cNvSpPr/>
          <p:nvPr/>
        </p:nvSpPr>
        <p:spPr bwMode="gray">
          <a:xfrm flipH="1">
            <a:off x="6529268" y="5056180"/>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53" name="Picture 12" descr="E:\2016.01\1.12 扁平化图标\蓝色\AR-蓝色最新-40.png">
            <a:extLst>
              <a:ext uri="{FF2B5EF4-FFF2-40B4-BE49-F238E27FC236}">
                <a16:creationId xmlns:a16="http://schemas.microsoft.com/office/drawing/2014/main" id="{1DE9E5D0-D98A-4C72-AF76-8EC3F932C480}"/>
              </a:ext>
            </a:extLst>
          </p:cNvPr>
          <p:cNvPicPr>
            <a:picLocks noChangeAspect="1" noChangeArrowheads="1"/>
          </p:cNvPicPr>
          <p:nvPr/>
        </p:nvPicPr>
        <p:blipFill>
          <a:blip r:embed="rId3" cstate="print"/>
          <a:srcRect/>
          <a:stretch>
            <a:fillRect/>
          </a:stretch>
        </p:blipFill>
        <p:spPr bwMode="gray">
          <a:xfrm>
            <a:off x="6792661" y="4794485"/>
            <a:ext cx="474524" cy="388247"/>
          </a:xfrm>
          <a:prstGeom prst="rect">
            <a:avLst/>
          </a:prstGeom>
          <a:noFill/>
        </p:spPr>
      </p:pic>
      <p:sp>
        <p:nvSpPr>
          <p:cNvPr id="54" name="Rectangle: Rounded Corners 53">
            <a:extLst>
              <a:ext uri="{FF2B5EF4-FFF2-40B4-BE49-F238E27FC236}">
                <a16:creationId xmlns:a16="http://schemas.microsoft.com/office/drawing/2014/main" id="{0C817601-C4D8-40B3-8733-AC418582C5A4}"/>
              </a:ext>
            </a:extLst>
          </p:cNvPr>
          <p:cNvSpPr/>
          <p:nvPr/>
        </p:nvSpPr>
        <p:spPr bwMode="gray">
          <a:xfrm>
            <a:off x="4707829" y="2588551"/>
            <a:ext cx="863205" cy="603716"/>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Rectangle: Rounded Corners 54">
            <a:extLst>
              <a:ext uri="{FF2B5EF4-FFF2-40B4-BE49-F238E27FC236}">
                <a16:creationId xmlns:a16="http://schemas.microsoft.com/office/drawing/2014/main" id="{2C385026-0F0D-423E-B37B-8F19F995BC1F}"/>
              </a:ext>
            </a:extLst>
          </p:cNvPr>
          <p:cNvSpPr/>
          <p:nvPr/>
        </p:nvSpPr>
        <p:spPr bwMode="gray">
          <a:xfrm>
            <a:off x="4751831" y="2377880"/>
            <a:ext cx="771946" cy="200884"/>
          </a:xfrm>
          <a:prstGeom prst="roundRect">
            <a:avLst>
              <a:gd name="adj" fmla="val 4012"/>
            </a:avLst>
          </a:prstGeom>
          <a:solidFill>
            <a:schemeClr val="bg1">
              <a:lumMod val="65000"/>
            </a:schemeClr>
          </a:solidFill>
          <a:ln w="190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RR</a:t>
            </a:r>
            <a:r>
              <a:rPr lang="zh-CN" altLang="en-US" sz="1200" dirty="0"/>
              <a:t>站点</a:t>
            </a:r>
            <a:endParaRPr lang="en-US" sz="1200" dirty="0"/>
          </a:p>
        </p:txBody>
      </p:sp>
      <p:pic>
        <p:nvPicPr>
          <p:cNvPr id="56" name="Picture 12" descr="E:\2016.01\1.12 扁平化图标\蓝色\AR-蓝色最新-40.png">
            <a:extLst>
              <a:ext uri="{FF2B5EF4-FFF2-40B4-BE49-F238E27FC236}">
                <a16:creationId xmlns:a16="http://schemas.microsoft.com/office/drawing/2014/main" id="{9832D37C-13CF-4895-8788-61BE92D931B9}"/>
              </a:ext>
            </a:extLst>
          </p:cNvPr>
          <p:cNvPicPr>
            <a:picLocks noChangeAspect="1" noChangeArrowheads="1"/>
          </p:cNvPicPr>
          <p:nvPr/>
        </p:nvPicPr>
        <p:blipFill>
          <a:blip r:embed="rId3" cstate="print"/>
          <a:srcRect/>
          <a:stretch>
            <a:fillRect/>
          </a:stretch>
        </p:blipFill>
        <p:spPr bwMode="gray">
          <a:xfrm>
            <a:off x="4886324" y="2691392"/>
            <a:ext cx="474524" cy="388247"/>
          </a:xfrm>
          <a:prstGeom prst="rect">
            <a:avLst/>
          </a:prstGeom>
          <a:noFill/>
        </p:spPr>
      </p:pic>
      <p:pic>
        <p:nvPicPr>
          <p:cNvPr id="57" name="Picture 12" descr="E:\2016.01\1.12 扁平化图标\蓝色\AR-蓝色最新-40.png">
            <a:extLst>
              <a:ext uri="{FF2B5EF4-FFF2-40B4-BE49-F238E27FC236}">
                <a16:creationId xmlns:a16="http://schemas.microsoft.com/office/drawing/2014/main" id="{98F9D48C-2B23-4CB6-9F15-4D824162AFA3}"/>
              </a:ext>
            </a:extLst>
          </p:cNvPr>
          <p:cNvPicPr>
            <a:picLocks noChangeAspect="1" noChangeArrowheads="1"/>
          </p:cNvPicPr>
          <p:nvPr/>
        </p:nvPicPr>
        <p:blipFill>
          <a:blip r:embed="rId3" cstate="print"/>
          <a:srcRect/>
          <a:stretch>
            <a:fillRect/>
          </a:stretch>
        </p:blipFill>
        <p:spPr bwMode="gray">
          <a:xfrm>
            <a:off x="6745402" y="2694848"/>
            <a:ext cx="474524" cy="388247"/>
          </a:xfrm>
          <a:prstGeom prst="rect">
            <a:avLst/>
          </a:prstGeom>
          <a:noFill/>
        </p:spPr>
      </p:pic>
      <p:cxnSp>
        <p:nvCxnSpPr>
          <p:cNvPr id="58" name="直接连接符 37">
            <a:extLst>
              <a:ext uri="{FF2B5EF4-FFF2-40B4-BE49-F238E27FC236}">
                <a16:creationId xmlns:a16="http://schemas.microsoft.com/office/drawing/2014/main" id="{52283C8F-074B-4B2B-B49C-FF1B4FD6F2D3}"/>
              </a:ext>
            </a:extLst>
          </p:cNvPr>
          <p:cNvCxnSpPr>
            <a:cxnSpLocks/>
            <a:stCxn id="56" idx="2"/>
            <a:endCxn id="48" idx="1"/>
          </p:cNvCxnSpPr>
          <p:nvPr/>
        </p:nvCxnSpPr>
        <p:spPr bwMode="gray">
          <a:xfrm>
            <a:off x="5123586" y="3079639"/>
            <a:ext cx="430113" cy="84906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37">
            <a:extLst>
              <a:ext uri="{FF2B5EF4-FFF2-40B4-BE49-F238E27FC236}">
                <a16:creationId xmlns:a16="http://schemas.microsoft.com/office/drawing/2014/main" id="{6F007647-C9FB-4C1A-B0EF-D4E50B611238}"/>
              </a:ext>
            </a:extLst>
          </p:cNvPr>
          <p:cNvCxnSpPr>
            <a:cxnSpLocks/>
            <a:endCxn id="51" idx="0"/>
          </p:cNvCxnSpPr>
          <p:nvPr/>
        </p:nvCxnSpPr>
        <p:spPr bwMode="gray">
          <a:xfrm flipH="1">
            <a:off x="5114644" y="4356142"/>
            <a:ext cx="371755"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37">
            <a:extLst>
              <a:ext uri="{FF2B5EF4-FFF2-40B4-BE49-F238E27FC236}">
                <a16:creationId xmlns:a16="http://schemas.microsoft.com/office/drawing/2014/main" id="{A7B57609-6A89-4ABB-8B61-FD28FDC1EFFB}"/>
              </a:ext>
            </a:extLst>
          </p:cNvPr>
          <p:cNvCxnSpPr>
            <a:cxnSpLocks/>
            <a:stCxn id="53" idx="0"/>
          </p:cNvCxnSpPr>
          <p:nvPr/>
        </p:nvCxnSpPr>
        <p:spPr bwMode="gray">
          <a:xfrm flipH="1" flipV="1">
            <a:off x="6696115" y="4356142"/>
            <a:ext cx="333808"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37">
            <a:extLst>
              <a:ext uri="{FF2B5EF4-FFF2-40B4-BE49-F238E27FC236}">
                <a16:creationId xmlns:a16="http://schemas.microsoft.com/office/drawing/2014/main" id="{864E9143-63DB-447D-A2B8-1C70A7788D7F}"/>
              </a:ext>
            </a:extLst>
          </p:cNvPr>
          <p:cNvCxnSpPr>
            <a:cxnSpLocks/>
            <a:stCxn id="53" idx="0"/>
          </p:cNvCxnSpPr>
          <p:nvPr/>
        </p:nvCxnSpPr>
        <p:spPr bwMode="gray">
          <a:xfrm flipH="1" flipV="1">
            <a:off x="5486399" y="4356142"/>
            <a:ext cx="1543524"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37">
            <a:extLst>
              <a:ext uri="{FF2B5EF4-FFF2-40B4-BE49-F238E27FC236}">
                <a16:creationId xmlns:a16="http://schemas.microsoft.com/office/drawing/2014/main" id="{AB0EC6F5-B4E9-4DDD-9B8B-CDDAFF6501A4}"/>
              </a:ext>
            </a:extLst>
          </p:cNvPr>
          <p:cNvCxnSpPr>
            <a:cxnSpLocks/>
            <a:endCxn id="51" idx="0"/>
          </p:cNvCxnSpPr>
          <p:nvPr/>
        </p:nvCxnSpPr>
        <p:spPr bwMode="gray">
          <a:xfrm flipH="1">
            <a:off x="5114644" y="4356142"/>
            <a:ext cx="1581471"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37">
            <a:extLst>
              <a:ext uri="{FF2B5EF4-FFF2-40B4-BE49-F238E27FC236}">
                <a16:creationId xmlns:a16="http://schemas.microsoft.com/office/drawing/2014/main" id="{DA98AA9D-F323-427C-B5AA-2B3F383B604F}"/>
              </a:ext>
            </a:extLst>
          </p:cNvPr>
          <p:cNvCxnSpPr>
            <a:cxnSpLocks/>
            <a:stCxn id="57" idx="2"/>
            <a:endCxn id="49" idx="2"/>
          </p:cNvCxnSpPr>
          <p:nvPr/>
        </p:nvCxnSpPr>
        <p:spPr bwMode="gray">
          <a:xfrm flipH="1">
            <a:off x="6754284" y="3083095"/>
            <a:ext cx="228380" cy="86097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37">
            <a:extLst>
              <a:ext uri="{FF2B5EF4-FFF2-40B4-BE49-F238E27FC236}">
                <a16:creationId xmlns:a16="http://schemas.microsoft.com/office/drawing/2014/main" id="{02B80C19-0E5B-404B-AFA0-D7F11CF064BD}"/>
              </a:ext>
            </a:extLst>
          </p:cNvPr>
          <p:cNvCxnSpPr>
            <a:cxnSpLocks/>
            <a:stCxn id="57" idx="2"/>
            <a:endCxn id="48" idx="3"/>
          </p:cNvCxnSpPr>
          <p:nvPr/>
        </p:nvCxnSpPr>
        <p:spPr bwMode="gray">
          <a:xfrm flipH="1">
            <a:off x="5575724" y="3083095"/>
            <a:ext cx="1406940" cy="853824"/>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接连接符 37">
            <a:extLst>
              <a:ext uri="{FF2B5EF4-FFF2-40B4-BE49-F238E27FC236}">
                <a16:creationId xmlns:a16="http://schemas.microsoft.com/office/drawing/2014/main" id="{A5C81B4C-366D-427F-9830-CE00C8C81305}"/>
              </a:ext>
            </a:extLst>
          </p:cNvPr>
          <p:cNvCxnSpPr>
            <a:cxnSpLocks/>
            <a:stCxn id="56" idx="2"/>
            <a:endCxn id="49" idx="1"/>
          </p:cNvCxnSpPr>
          <p:nvPr/>
        </p:nvCxnSpPr>
        <p:spPr bwMode="gray">
          <a:xfrm>
            <a:off x="5123586" y="3079639"/>
            <a:ext cx="1618127" cy="84906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Freeform 159">
            <a:extLst>
              <a:ext uri="{FF2B5EF4-FFF2-40B4-BE49-F238E27FC236}">
                <a16:creationId xmlns:a16="http://schemas.microsoft.com/office/drawing/2014/main" id="{59BFA21D-D039-4CEC-89EE-AFBD88FD66CC}"/>
              </a:ext>
            </a:extLst>
          </p:cNvPr>
          <p:cNvSpPr/>
          <p:nvPr/>
        </p:nvSpPr>
        <p:spPr bwMode="gray">
          <a:xfrm flipH="1">
            <a:off x="8893006" y="3859156"/>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69" name="Freeform 159">
            <a:extLst>
              <a:ext uri="{FF2B5EF4-FFF2-40B4-BE49-F238E27FC236}">
                <a16:creationId xmlns:a16="http://schemas.microsoft.com/office/drawing/2014/main" id="{B65AD793-C792-47C1-A75D-8FC9F62A7BCE}"/>
              </a:ext>
            </a:extLst>
          </p:cNvPr>
          <p:cNvSpPr/>
          <p:nvPr/>
        </p:nvSpPr>
        <p:spPr bwMode="gray">
          <a:xfrm flipH="1">
            <a:off x="10081020" y="3859156"/>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70" name="Freeform 159">
            <a:extLst>
              <a:ext uri="{FF2B5EF4-FFF2-40B4-BE49-F238E27FC236}">
                <a16:creationId xmlns:a16="http://schemas.microsoft.com/office/drawing/2014/main" id="{53EDDA23-7BB1-42DA-AF72-6C5454DA48A6}"/>
              </a:ext>
            </a:extLst>
          </p:cNvPr>
          <p:cNvSpPr/>
          <p:nvPr/>
        </p:nvSpPr>
        <p:spPr bwMode="gray">
          <a:xfrm flipH="1">
            <a:off x="8492510" y="5056180"/>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71" name="Picture 12" descr="E:\2016.01\1.12 扁平化图标\蓝色\AR-蓝色最新-40.png">
            <a:extLst>
              <a:ext uri="{FF2B5EF4-FFF2-40B4-BE49-F238E27FC236}">
                <a16:creationId xmlns:a16="http://schemas.microsoft.com/office/drawing/2014/main" id="{26A7626D-0607-45DF-8E27-2FD44CA865E1}"/>
              </a:ext>
            </a:extLst>
          </p:cNvPr>
          <p:cNvPicPr>
            <a:picLocks noChangeAspect="1" noChangeArrowheads="1"/>
          </p:cNvPicPr>
          <p:nvPr/>
        </p:nvPicPr>
        <p:blipFill>
          <a:blip r:embed="rId3" cstate="print"/>
          <a:srcRect/>
          <a:stretch>
            <a:fillRect/>
          </a:stretch>
        </p:blipFill>
        <p:spPr bwMode="gray">
          <a:xfrm>
            <a:off x="8755903" y="4794485"/>
            <a:ext cx="474524" cy="388247"/>
          </a:xfrm>
          <a:prstGeom prst="rect">
            <a:avLst/>
          </a:prstGeom>
          <a:noFill/>
        </p:spPr>
      </p:pic>
      <p:sp>
        <p:nvSpPr>
          <p:cNvPr id="72" name="Freeform 159">
            <a:extLst>
              <a:ext uri="{FF2B5EF4-FFF2-40B4-BE49-F238E27FC236}">
                <a16:creationId xmlns:a16="http://schemas.microsoft.com/office/drawing/2014/main" id="{FC6DC6BD-2A76-4B8F-A402-D85EB1AD6A16}"/>
              </a:ext>
            </a:extLst>
          </p:cNvPr>
          <p:cNvSpPr/>
          <p:nvPr/>
        </p:nvSpPr>
        <p:spPr bwMode="gray">
          <a:xfrm flipH="1">
            <a:off x="10407789" y="5056180"/>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73" name="Picture 12" descr="E:\2016.01\1.12 扁平化图标\蓝色\AR-蓝色最新-40.png">
            <a:extLst>
              <a:ext uri="{FF2B5EF4-FFF2-40B4-BE49-F238E27FC236}">
                <a16:creationId xmlns:a16="http://schemas.microsoft.com/office/drawing/2014/main" id="{3B0BE807-BB4D-4DC5-80F9-1BB7B5786947}"/>
              </a:ext>
            </a:extLst>
          </p:cNvPr>
          <p:cNvPicPr>
            <a:picLocks noChangeAspect="1" noChangeArrowheads="1"/>
          </p:cNvPicPr>
          <p:nvPr/>
        </p:nvPicPr>
        <p:blipFill>
          <a:blip r:embed="rId3" cstate="print"/>
          <a:srcRect/>
          <a:stretch>
            <a:fillRect/>
          </a:stretch>
        </p:blipFill>
        <p:spPr bwMode="gray">
          <a:xfrm>
            <a:off x="10671182" y="4794485"/>
            <a:ext cx="474524" cy="388247"/>
          </a:xfrm>
          <a:prstGeom prst="rect">
            <a:avLst/>
          </a:prstGeom>
          <a:noFill/>
        </p:spPr>
      </p:pic>
      <p:sp>
        <p:nvSpPr>
          <p:cNvPr id="74" name="Rectangle: Rounded Corners 73">
            <a:extLst>
              <a:ext uri="{FF2B5EF4-FFF2-40B4-BE49-F238E27FC236}">
                <a16:creationId xmlns:a16="http://schemas.microsoft.com/office/drawing/2014/main" id="{0DF3E29C-4508-4424-AFCD-8A4797FD24D8}"/>
              </a:ext>
            </a:extLst>
          </p:cNvPr>
          <p:cNvSpPr/>
          <p:nvPr/>
        </p:nvSpPr>
        <p:spPr bwMode="gray">
          <a:xfrm>
            <a:off x="8129150" y="2588551"/>
            <a:ext cx="1638300" cy="603716"/>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Rectangle: Rounded Corners 74">
            <a:extLst>
              <a:ext uri="{FF2B5EF4-FFF2-40B4-BE49-F238E27FC236}">
                <a16:creationId xmlns:a16="http://schemas.microsoft.com/office/drawing/2014/main" id="{A2DDF2AF-7C93-4A9C-BC77-468D52D7F645}"/>
              </a:ext>
            </a:extLst>
          </p:cNvPr>
          <p:cNvSpPr/>
          <p:nvPr/>
        </p:nvSpPr>
        <p:spPr bwMode="gray">
          <a:xfrm>
            <a:off x="8186356" y="2377880"/>
            <a:ext cx="771946" cy="200884"/>
          </a:xfrm>
          <a:prstGeom prst="roundRect">
            <a:avLst>
              <a:gd name="adj" fmla="val 4012"/>
            </a:avLst>
          </a:prstGeom>
          <a:solidFill>
            <a:schemeClr val="bg1">
              <a:lumMod val="65000"/>
            </a:schemeClr>
          </a:solidFill>
          <a:ln w="190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RR</a:t>
            </a:r>
            <a:r>
              <a:rPr lang="zh-CN" altLang="en-US" sz="1200" dirty="0"/>
              <a:t>站点</a:t>
            </a:r>
            <a:endParaRPr lang="en-US" sz="1200" dirty="0"/>
          </a:p>
        </p:txBody>
      </p:sp>
      <p:pic>
        <p:nvPicPr>
          <p:cNvPr id="76" name="Picture 12" descr="E:\2016.01\1.12 扁平化图标\蓝色\AR-蓝色最新-40.png">
            <a:extLst>
              <a:ext uri="{FF2B5EF4-FFF2-40B4-BE49-F238E27FC236}">
                <a16:creationId xmlns:a16="http://schemas.microsoft.com/office/drawing/2014/main" id="{B6323399-FAAA-4B11-BC26-C86F1A3B076D}"/>
              </a:ext>
            </a:extLst>
          </p:cNvPr>
          <p:cNvPicPr>
            <a:picLocks noChangeAspect="1" noChangeArrowheads="1"/>
          </p:cNvPicPr>
          <p:nvPr/>
        </p:nvPicPr>
        <p:blipFill>
          <a:blip r:embed="rId3" cstate="print"/>
          <a:srcRect/>
          <a:stretch>
            <a:fillRect/>
          </a:stretch>
        </p:blipFill>
        <p:spPr bwMode="gray">
          <a:xfrm>
            <a:off x="8307645" y="2691392"/>
            <a:ext cx="474524" cy="388247"/>
          </a:xfrm>
          <a:prstGeom prst="rect">
            <a:avLst/>
          </a:prstGeom>
          <a:noFill/>
        </p:spPr>
      </p:pic>
      <p:pic>
        <p:nvPicPr>
          <p:cNvPr id="77" name="Picture 12" descr="E:\2016.01\1.12 扁平化图标\蓝色\AR-蓝色最新-40.png">
            <a:extLst>
              <a:ext uri="{FF2B5EF4-FFF2-40B4-BE49-F238E27FC236}">
                <a16:creationId xmlns:a16="http://schemas.microsoft.com/office/drawing/2014/main" id="{1507234B-0D6A-4939-B863-942066567769}"/>
              </a:ext>
            </a:extLst>
          </p:cNvPr>
          <p:cNvPicPr>
            <a:picLocks noChangeAspect="1" noChangeArrowheads="1"/>
          </p:cNvPicPr>
          <p:nvPr/>
        </p:nvPicPr>
        <p:blipFill>
          <a:blip r:embed="rId3" cstate="print"/>
          <a:srcRect/>
          <a:stretch>
            <a:fillRect/>
          </a:stretch>
        </p:blipFill>
        <p:spPr bwMode="gray">
          <a:xfrm>
            <a:off x="9118973" y="2694848"/>
            <a:ext cx="474524" cy="388247"/>
          </a:xfrm>
          <a:prstGeom prst="rect">
            <a:avLst/>
          </a:prstGeom>
          <a:noFill/>
        </p:spPr>
      </p:pic>
      <p:cxnSp>
        <p:nvCxnSpPr>
          <p:cNvPr id="78" name="直接连接符 37">
            <a:extLst>
              <a:ext uri="{FF2B5EF4-FFF2-40B4-BE49-F238E27FC236}">
                <a16:creationId xmlns:a16="http://schemas.microsoft.com/office/drawing/2014/main" id="{967EAB7A-8766-4C28-AF76-B8CDA7599B36}"/>
              </a:ext>
            </a:extLst>
          </p:cNvPr>
          <p:cNvCxnSpPr>
            <a:cxnSpLocks/>
            <a:stCxn id="76" idx="2"/>
            <a:endCxn id="68" idx="1"/>
          </p:cNvCxnSpPr>
          <p:nvPr/>
        </p:nvCxnSpPr>
        <p:spPr bwMode="gray">
          <a:xfrm>
            <a:off x="8544907" y="3079639"/>
            <a:ext cx="887313" cy="84906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接连接符 37">
            <a:extLst>
              <a:ext uri="{FF2B5EF4-FFF2-40B4-BE49-F238E27FC236}">
                <a16:creationId xmlns:a16="http://schemas.microsoft.com/office/drawing/2014/main" id="{531847ED-BBC9-4006-B1EE-64086043B1AF}"/>
              </a:ext>
            </a:extLst>
          </p:cNvPr>
          <p:cNvCxnSpPr>
            <a:cxnSpLocks/>
            <a:endCxn id="71" idx="0"/>
          </p:cNvCxnSpPr>
          <p:nvPr/>
        </p:nvCxnSpPr>
        <p:spPr bwMode="gray">
          <a:xfrm flipH="1">
            <a:off x="8993165" y="4356142"/>
            <a:ext cx="371755"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直接连接符 37">
            <a:extLst>
              <a:ext uri="{FF2B5EF4-FFF2-40B4-BE49-F238E27FC236}">
                <a16:creationId xmlns:a16="http://schemas.microsoft.com/office/drawing/2014/main" id="{A348BD87-6241-466A-8A66-5481F9F2C3B7}"/>
              </a:ext>
            </a:extLst>
          </p:cNvPr>
          <p:cNvCxnSpPr>
            <a:cxnSpLocks/>
            <a:stCxn id="73" idx="0"/>
          </p:cNvCxnSpPr>
          <p:nvPr/>
        </p:nvCxnSpPr>
        <p:spPr bwMode="gray">
          <a:xfrm flipH="1" flipV="1">
            <a:off x="10574636" y="4356142"/>
            <a:ext cx="333808"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连接符 37">
            <a:extLst>
              <a:ext uri="{FF2B5EF4-FFF2-40B4-BE49-F238E27FC236}">
                <a16:creationId xmlns:a16="http://schemas.microsoft.com/office/drawing/2014/main" id="{8C0BF24D-D5B8-4E33-BAE8-73851490308F}"/>
              </a:ext>
            </a:extLst>
          </p:cNvPr>
          <p:cNvCxnSpPr>
            <a:cxnSpLocks/>
            <a:stCxn id="73" idx="0"/>
          </p:cNvCxnSpPr>
          <p:nvPr/>
        </p:nvCxnSpPr>
        <p:spPr bwMode="gray">
          <a:xfrm flipH="1" flipV="1">
            <a:off x="9364920" y="4356142"/>
            <a:ext cx="1543524"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连接符 37">
            <a:extLst>
              <a:ext uri="{FF2B5EF4-FFF2-40B4-BE49-F238E27FC236}">
                <a16:creationId xmlns:a16="http://schemas.microsoft.com/office/drawing/2014/main" id="{94A0FF16-16D2-4A4A-BF2C-8B2D6C1A67B5}"/>
              </a:ext>
            </a:extLst>
          </p:cNvPr>
          <p:cNvCxnSpPr>
            <a:cxnSpLocks/>
            <a:endCxn id="71" idx="0"/>
          </p:cNvCxnSpPr>
          <p:nvPr/>
        </p:nvCxnSpPr>
        <p:spPr bwMode="gray">
          <a:xfrm flipH="1">
            <a:off x="8993165" y="4356142"/>
            <a:ext cx="1581471"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接连接符 37">
            <a:extLst>
              <a:ext uri="{FF2B5EF4-FFF2-40B4-BE49-F238E27FC236}">
                <a16:creationId xmlns:a16="http://schemas.microsoft.com/office/drawing/2014/main" id="{AAA10682-25BB-4483-BBC0-181B404C43D6}"/>
              </a:ext>
            </a:extLst>
          </p:cNvPr>
          <p:cNvCxnSpPr>
            <a:cxnSpLocks/>
            <a:stCxn id="77" idx="2"/>
            <a:endCxn id="69" idx="2"/>
          </p:cNvCxnSpPr>
          <p:nvPr/>
        </p:nvCxnSpPr>
        <p:spPr bwMode="gray">
          <a:xfrm>
            <a:off x="9356235" y="3083095"/>
            <a:ext cx="1276570" cy="86097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Rectangle: Rounded Corners 85">
            <a:extLst>
              <a:ext uri="{FF2B5EF4-FFF2-40B4-BE49-F238E27FC236}">
                <a16:creationId xmlns:a16="http://schemas.microsoft.com/office/drawing/2014/main" id="{5F9F7BE1-2366-427D-915A-A5D53F904578}"/>
              </a:ext>
            </a:extLst>
          </p:cNvPr>
          <p:cNvSpPr/>
          <p:nvPr/>
        </p:nvSpPr>
        <p:spPr bwMode="gray">
          <a:xfrm>
            <a:off x="9893787" y="2588551"/>
            <a:ext cx="1638300" cy="603716"/>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Rectangle: Rounded Corners 86">
            <a:extLst>
              <a:ext uri="{FF2B5EF4-FFF2-40B4-BE49-F238E27FC236}">
                <a16:creationId xmlns:a16="http://schemas.microsoft.com/office/drawing/2014/main" id="{F5458F49-9A59-4F01-AC29-A19BEE873429}"/>
              </a:ext>
            </a:extLst>
          </p:cNvPr>
          <p:cNvSpPr/>
          <p:nvPr/>
        </p:nvSpPr>
        <p:spPr bwMode="gray">
          <a:xfrm>
            <a:off x="9950993" y="2377880"/>
            <a:ext cx="771946" cy="200884"/>
          </a:xfrm>
          <a:prstGeom prst="roundRect">
            <a:avLst>
              <a:gd name="adj" fmla="val 4012"/>
            </a:avLst>
          </a:prstGeom>
          <a:solidFill>
            <a:schemeClr val="bg1">
              <a:lumMod val="65000"/>
            </a:schemeClr>
          </a:solidFill>
          <a:ln w="190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RR</a:t>
            </a:r>
            <a:r>
              <a:rPr lang="zh-CN" altLang="en-US" sz="1200" dirty="0"/>
              <a:t>站点</a:t>
            </a:r>
            <a:endParaRPr lang="en-US" sz="1200" dirty="0"/>
          </a:p>
        </p:txBody>
      </p:sp>
      <p:pic>
        <p:nvPicPr>
          <p:cNvPr id="88" name="Picture 12" descr="E:\2016.01\1.12 扁平化图标\蓝色\AR-蓝色最新-40.png">
            <a:extLst>
              <a:ext uri="{FF2B5EF4-FFF2-40B4-BE49-F238E27FC236}">
                <a16:creationId xmlns:a16="http://schemas.microsoft.com/office/drawing/2014/main" id="{0F8D8F8B-DE20-442B-80EA-44E9A5433A20}"/>
              </a:ext>
            </a:extLst>
          </p:cNvPr>
          <p:cNvPicPr>
            <a:picLocks noChangeAspect="1" noChangeArrowheads="1"/>
          </p:cNvPicPr>
          <p:nvPr/>
        </p:nvPicPr>
        <p:blipFill>
          <a:blip r:embed="rId3" cstate="print"/>
          <a:srcRect/>
          <a:stretch>
            <a:fillRect/>
          </a:stretch>
        </p:blipFill>
        <p:spPr bwMode="gray">
          <a:xfrm>
            <a:off x="10072282" y="2691392"/>
            <a:ext cx="474524" cy="388247"/>
          </a:xfrm>
          <a:prstGeom prst="rect">
            <a:avLst/>
          </a:prstGeom>
          <a:noFill/>
        </p:spPr>
      </p:pic>
      <p:pic>
        <p:nvPicPr>
          <p:cNvPr id="89" name="Picture 12" descr="E:\2016.01\1.12 扁平化图标\蓝色\AR-蓝色最新-40.png">
            <a:extLst>
              <a:ext uri="{FF2B5EF4-FFF2-40B4-BE49-F238E27FC236}">
                <a16:creationId xmlns:a16="http://schemas.microsoft.com/office/drawing/2014/main" id="{2DBDCCE9-3649-4024-AEAA-866698DCE578}"/>
              </a:ext>
            </a:extLst>
          </p:cNvPr>
          <p:cNvPicPr>
            <a:picLocks noChangeAspect="1" noChangeArrowheads="1"/>
          </p:cNvPicPr>
          <p:nvPr/>
        </p:nvPicPr>
        <p:blipFill>
          <a:blip r:embed="rId3" cstate="print"/>
          <a:srcRect/>
          <a:stretch>
            <a:fillRect/>
          </a:stretch>
        </p:blipFill>
        <p:spPr bwMode="gray">
          <a:xfrm>
            <a:off x="10883610" y="2694848"/>
            <a:ext cx="474524" cy="388247"/>
          </a:xfrm>
          <a:prstGeom prst="rect">
            <a:avLst/>
          </a:prstGeom>
          <a:noFill/>
        </p:spPr>
      </p:pic>
      <p:cxnSp>
        <p:nvCxnSpPr>
          <p:cNvPr id="90" name="直接连接符 37">
            <a:extLst>
              <a:ext uri="{FF2B5EF4-FFF2-40B4-BE49-F238E27FC236}">
                <a16:creationId xmlns:a16="http://schemas.microsoft.com/office/drawing/2014/main" id="{E6AA33C9-33B9-45E3-92D5-999B4A2371F5}"/>
              </a:ext>
            </a:extLst>
          </p:cNvPr>
          <p:cNvCxnSpPr>
            <a:cxnSpLocks/>
            <a:stCxn id="8" idx="3"/>
            <a:endCxn id="15" idx="1"/>
          </p:cNvCxnSpPr>
          <p:nvPr/>
        </p:nvCxnSpPr>
        <p:spPr bwMode="gray">
          <a:xfrm>
            <a:off x="2160408" y="2876684"/>
            <a:ext cx="336804" cy="3456"/>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37">
            <a:extLst>
              <a:ext uri="{FF2B5EF4-FFF2-40B4-BE49-F238E27FC236}">
                <a16:creationId xmlns:a16="http://schemas.microsoft.com/office/drawing/2014/main" id="{D51E6C30-0053-4EEE-B3DC-8C24FCF01ABB}"/>
              </a:ext>
            </a:extLst>
          </p:cNvPr>
          <p:cNvCxnSpPr>
            <a:cxnSpLocks/>
            <a:stCxn id="76" idx="3"/>
            <a:endCxn id="77" idx="1"/>
          </p:cNvCxnSpPr>
          <p:nvPr/>
        </p:nvCxnSpPr>
        <p:spPr bwMode="gray">
          <a:xfrm>
            <a:off x="8782169" y="2885516"/>
            <a:ext cx="336804" cy="3456"/>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37">
            <a:extLst>
              <a:ext uri="{FF2B5EF4-FFF2-40B4-BE49-F238E27FC236}">
                <a16:creationId xmlns:a16="http://schemas.microsoft.com/office/drawing/2014/main" id="{F007C4A5-A1F6-4480-BD4B-F2DF5FE84F3A}"/>
              </a:ext>
            </a:extLst>
          </p:cNvPr>
          <p:cNvCxnSpPr>
            <a:cxnSpLocks/>
            <a:stCxn id="88" idx="3"/>
            <a:endCxn id="89" idx="1"/>
          </p:cNvCxnSpPr>
          <p:nvPr/>
        </p:nvCxnSpPr>
        <p:spPr bwMode="gray">
          <a:xfrm>
            <a:off x="10546806" y="2885516"/>
            <a:ext cx="336804" cy="3456"/>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连接符 37">
            <a:extLst>
              <a:ext uri="{FF2B5EF4-FFF2-40B4-BE49-F238E27FC236}">
                <a16:creationId xmlns:a16="http://schemas.microsoft.com/office/drawing/2014/main" id="{7D2CFE11-AF34-4869-BF1A-2F379F10FD79}"/>
              </a:ext>
            </a:extLst>
          </p:cNvPr>
          <p:cNvCxnSpPr>
            <a:cxnSpLocks/>
            <a:stCxn id="88" idx="2"/>
            <a:endCxn id="68" idx="2"/>
          </p:cNvCxnSpPr>
          <p:nvPr/>
        </p:nvCxnSpPr>
        <p:spPr bwMode="gray">
          <a:xfrm flipH="1">
            <a:off x="9444791" y="3079639"/>
            <a:ext cx="864753" cy="86443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直接连接符 37">
            <a:extLst>
              <a:ext uri="{FF2B5EF4-FFF2-40B4-BE49-F238E27FC236}">
                <a16:creationId xmlns:a16="http://schemas.microsoft.com/office/drawing/2014/main" id="{B77220CE-B550-40B5-983D-9A889CA8FA9D}"/>
              </a:ext>
            </a:extLst>
          </p:cNvPr>
          <p:cNvCxnSpPr>
            <a:cxnSpLocks/>
            <a:stCxn id="89" idx="2"/>
            <a:endCxn id="69" idx="2"/>
          </p:cNvCxnSpPr>
          <p:nvPr/>
        </p:nvCxnSpPr>
        <p:spPr bwMode="gray">
          <a:xfrm flipH="1">
            <a:off x="10632805" y="3083095"/>
            <a:ext cx="488067" cy="86097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Arrow: Right 104">
            <a:extLst>
              <a:ext uri="{FF2B5EF4-FFF2-40B4-BE49-F238E27FC236}">
                <a16:creationId xmlns:a16="http://schemas.microsoft.com/office/drawing/2014/main" id="{5F0D42E6-35C4-44ED-87C8-F406D9D3A15D}"/>
              </a:ext>
            </a:extLst>
          </p:cNvPr>
          <p:cNvSpPr/>
          <p:nvPr/>
        </p:nvSpPr>
        <p:spPr bwMode="gray">
          <a:xfrm>
            <a:off x="1030063" y="5696757"/>
            <a:ext cx="10144571" cy="461318"/>
          </a:xfrm>
          <a:prstGeom prst="rightArrow">
            <a:avLst>
              <a:gd name="adj1" fmla="val 57807"/>
              <a:gd name="adj2" fmla="val 50000"/>
            </a:avLst>
          </a:prstGeom>
          <a:solidFill>
            <a:srgbClr val="FDE397"/>
          </a:solidFill>
          <a:ln>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可靠性逐步增强</a:t>
            </a:r>
            <a:endParaRPr lang="en-US" sz="1600" dirty="0">
              <a:solidFill>
                <a:schemeClr val="tx1"/>
              </a:solidFill>
            </a:endParaRPr>
          </a:p>
        </p:txBody>
      </p:sp>
      <p:sp>
        <p:nvSpPr>
          <p:cNvPr id="106" name="文本框 26">
            <a:extLst>
              <a:ext uri="{FF2B5EF4-FFF2-40B4-BE49-F238E27FC236}">
                <a16:creationId xmlns:a16="http://schemas.microsoft.com/office/drawing/2014/main" id="{6B7B7195-A48B-4F96-BABA-B366728DB59F}"/>
              </a:ext>
            </a:extLst>
          </p:cNvPr>
          <p:cNvSpPr txBox="1"/>
          <p:nvPr/>
        </p:nvSpPr>
        <p:spPr bwMode="gray">
          <a:xfrm>
            <a:off x="549546" y="4825578"/>
            <a:ext cx="603959"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07" name="文本框 26">
            <a:extLst>
              <a:ext uri="{FF2B5EF4-FFF2-40B4-BE49-F238E27FC236}">
                <a16:creationId xmlns:a16="http://schemas.microsoft.com/office/drawing/2014/main" id="{6F8C4D89-24E0-479E-8AC3-186B1FCEF5D2}"/>
              </a:ext>
            </a:extLst>
          </p:cNvPr>
          <p:cNvSpPr txBox="1"/>
          <p:nvPr/>
        </p:nvSpPr>
        <p:spPr bwMode="gray">
          <a:xfrm>
            <a:off x="2452535" y="4844296"/>
            <a:ext cx="616357"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10" name="文本框 26">
            <a:extLst>
              <a:ext uri="{FF2B5EF4-FFF2-40B4-BE49-F238E27FC236}">
                <a16:creationId xmlns:a16="http://schemas.microsoft.com/office/drawing/2014/main" id="{8B85D99B-2104-4EBD-A5A7-CB8C76729116}"/>
              </a:ext>
            </a:extLst>
          </p:cNvPr>
          <p:cNvSpPr txBox="1"/>
          <p:nvPr/>
        </p:nvSpPr>
        <p:spPr bwMode="gray">
          <a:xfrm>
            <a:off x="4350061" y="4851337"/>
            <a:ext cx="593982"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11" name="文本框 26">
            <a:extLst>
              <a:ext uri="{FF2B5EF4-FFF2-40B4-BE49-F238E27FC236}">
                <a16:creationId xmlns:a16="http://schemas.microsoft.com/office/drawing/2014/main" id="{4176027F-E414-471E-A41F-F6B166D3D71B}"/>
              </a:ext>
            </a:extLst>
          </p:cNvPr>
          <p:cNvSpPr txBox="1"/>
          <p:nvPr/>
        </p:nvSpPr>
        <p:spPr bwMode="gray">
          <a:xfrm>
            <a:off x="6265340" y="4870055"/>
            <a:ext cx="594090"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14" name="文本框 26">
            <a:extLst>
              <a:ext uri="{FF2B5EF4-FFF2-40B4-BE49-F238E27FC236}">
                <a16:creationId xmlns:a16="http://schemas.microsoft.com/office/drawing/2014/main" id="{2F753974-B9E7-4348-8C9A-0AF5E896CC2F}"/>
              </a:ext>
            </a:extLst>
          </p:cNvPr>
          <p:cNvSpPr txBox="1"/>
          <p:nvPr/>
        </p:nvSpPr>
        <p:spPr bwMode="gray">
          <a:xfrm>
            <a:off x="8228582" y="4874682"/>
            <a:ext cx="578970"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15" name="文本框 26">
            <a:extLst>
              <a:ext uri="{FF2B5EF4-FFF2-40B4-BE49-F238E27FC236}">
                <a16:creationId xmlns:a16="http://schemas.microsoft.com/office/drawing/2014/main" id="{38CC09A7-4BB1-42CA-A613-40D88970EF88}"/>
              </a:ext>
            </a:extLst>
          </p:cNvPr>
          <p:cNvSpPr txBox="1"/>
          <p:nvPr/>
        </p:nvSpPr>
        <p:spPr bwMode="gray">
          <a:xfrm>
            <a:off x="10145511" y="4893400"/>
            <a:ext cx="577428"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92" name="五边形 2">
            <a:extLst>
              <a:ext uri="{FF2B5EF4-FFF2-40B4-BE49-F238E27FC236}">
                <a16:creationId xmlns:a16="http://schemas.microsoft.com/office/drawing/2014/main" id="{6189DFC1-9A9B-4A45-A1F8-5BD312DE3DF5}"/>
              </a:ext>
            </a:extLst>
          </p:cNvPr>
          <p:cNvSpPr/>
          <p:nvPr/>
        </p:nvSpPr>
        <p:spPr bwMode="gray">
          <a:xfrm>
            <a:off x="7117818" y="121953"/>
            <a:ext cx="1566373"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Hub</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站点可靠性设计</a:t>
            </a:r>
          </a:p>
        </p:txBody>
      </p:sp>
      <p:sp>
        <p:nvSpPr>
          <p:cNvPr id="94" name="燕尾形 3">
            <a:extLst>
              <a:ext uri="{FF2B5EF4-FFF2-40B4-BE49-F238E27FC236}">
                <a16:creationId xmlns:a16="http://schemas.microsoft.com/office/drawing/2014/main" id="{704FB2C0-51A9-45F5-89FA-96CF25422FBD}"/>
              </a:ext>
            </a:extLst>
          </p:cNvPr>
          <p:cNvSpPr/>
          <p:nvPr/>
        </p:nvSpPr>
        <p:spPr bwMode="gray">
          <a:xfrm>
            <a:off x="10145511" y="121953"/>
            <a:ext cx="160357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IWG</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燕尾形 3">
            <a:extLst>
              <a:ext uri="{FF2B5EF4-FFF2-40B4-BE49-F238E27FC236}">
                <a16:creationId xmlns:a16="http://schemas.microsoft.com/office/drawing/2014/main" id="{1A804F15-8578-45A9-9F12-887F4ACF9BA4}"/>
              </a:ext>
            </a:extLst>
          </p:cNvPr>
          <p:cNvSpPr/>
          <p:nvPr/>
        </p:nvSpPr>
        <p:spPr bwMode="gray">
          <a:xfrm>
            <a:off x="8603744" y="121953"/>
            <a:ext cx="162452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站点可靠性设计</a:t>
            </a:r>
          </a:p>
        </p:txBody>
      </p:sp>
    </p:spTree>
    <p:extLst>
      <p:ext uri="{BB962C8B-B14F-4D97-AF65-F5344CB8AC3E}">
        <p14:creationId xmlns:p14="http://schemas.microsoft.com/office/powerpoint/2010/main" val="584704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AC8A782-37FB-4F18-8009-4FA629DFAB73}"/>
              </a:ext>
            </a:extLst>
          </p:cNvPr>
          <p:cNvSpPr>
            <a:spLocks noGrp="1"/>
          </p:cNvSpPr>
          <p:nvPr>
            <p:ph type="body" sz="quarter" idx="10"/>
          </p:nvPr>
        </p:nvSpPr>
        <p:spPr bwMode="gray"/>
        <p:txBody>
          <a:bodyPr/>
          <a:lstStyle/>
          <a:p>
            <a:r>
              <a:rPr lang="en-US" altLang="zh-CN" sz="1800" dirty="0"/>
              <a:t>Edge</a:t>
            </a:r>
            <a:r>
              <a:rPr lang="zh-CN" altLang="en-US" sz="1800" dirty="0"/>
              <a:t>站点应双上行到</a:t>
            </a:r>
            <a:r>
              <a:rPr lang="en-US" altLang="zh-CN" sz="1800" dirty="0"/>
              <a:t>RR</a:t>
            </a:r>
            <a:r>
              <a:rPr lang="zh-CN" altLang="en-US" sz="1800" dirty="0"/>
              <a:t>站点。</a:t>
            </a:r>
            <a:endParaRPr lang="en-US" sz="1800" dirty="0"/>
          </a:p>
        </p:txBody>
      </p:sp>
      <p:sp>
        <p:nvSpPr>
          <p:cNvPr id="10" name="圆角矩形 75">
            <a:extLst>
              <a:ext uri="{FF2B5EF4-FFF2-40B4-BE49-F238E27FC236}">
                <a16:creationId xmlns:a16="http://schemas.microsoft.com/office/drawing/2014/main" id="{9944EF2B-FDE3-48D3-9E15-E5BCA18F4E48}"/>
              </a:ext>
            </a:extLst>
          </p:cNvPr>
          <p:cNvSpPr/>
          <p:nvPr/>
        </p:nvSpPr>
        <p:spPr bwMode="gray">
          <a:xfrm>
            <a:off x="539607" y="2009303"/>
            <a:ext cx="3554875" cy="411527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marL="285750" indent="-200025" fontAlgn="ctr">
              <a:lnSpc>
                <a:spcPts val="2600"/>
              </a:lnSpc>
              <a:spcAft>
                <a:spcPts val="600"/>
              </a:spcAft>
              <a:buFont typeface="Arial" panose="020B0604020202020204" pitchFamily="34" charset="0"/>
              <a:buChar char="•"/>
            </a:pPr>
            <a:r>
              <a:rPr lang="zh-CN" altLang="en-US" sz="1400" dirty="0">
                <a:solidFill>
                  <a:schemeClr val="tx1"/>
                </a:solidFill>
              </a:rPr>
              <a:t>可靠性低：单台</a:t>
            </a:r>
            <a:r>
              <a:rPr lang="en-US" altLang="zh-CN" sz="1400" dirty="0">
                <a:solidFill>
                  <a:schemeClr val="tx1"/>
                </a:solidFill>
              </a:rPr>
              <a:t>RR</a:t>
            </a:r>
            <a:r>
              <a:rPr lang="zh-CN" altLang="en-US" sz="1400" dirty="0">
                <a:solidFill>
                  <a:schemeClr val="tx1"/>
                </a:solidFill>
              </a:rPr>
              <a:t>故障，部分分支站点无法连接到</a:t>
            </a:r>
            <a:r>
              <a:rPr lang="en-US" altLang="zh-CN" sz="1400" dirty="0">
                <a:solidFill>
                  <a:schemeClr val="tx1"/>
                </a:solidFill>
              </a:rPr>
              <a:t>RR</a:t>
            </a:r>
            <a:r>
              <a:rPr lang="zh-CN" altLang="en-US" sz="1400" dirty="0">
                <a:solidFill>
                  <a:schemeClr val="tx1"/>
                </a:solidFill>
              </a:rPr>
              <a:t>，造成业务中断。</a:t>
            </a:r>
            <a:endParaRPr lang="en-US" altLang="zh-CN" sz="1400" dirty="0">
              <a:solidFill>
                <a:schemeClr val="tx1"/>
              </a:solidFill>
            </a:endParaRPr>
          </a:p>
        </p:txBody>
      </p:sp>
      <p:sp>
        <p:nvSpPr>
          <p:cNvPr id="12" name="圆角矩形 75">
            <a:extLst>
              <a:ext uri="{FF2B5EF4-FFF2-40B4-BE49-F238E27FC236}">
                <a16:creationId xmlns:a16="http://schemas.microsoft.com/office/drawing/2014/main" id="{045F3F24-52BB-435C-B7F5-FAAE1EE095D9}"/>
              </a:ext>
            </a:extLst>
          </p:cNvPr>
          <p:cNvSpPr/>
          <p:nvPr/>
        </p:nvSpPr>
        <p:spPr bwMode="gray">
          <a:xfrm>
            <a:off x="4313095" y="2009303"/>
            <a:ext cx="3554875" cy="411527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marL="285750" indent="-200025" fontAlgn="ctr">
              <a:lnSpc>
                <a:spcPts val="2600"/>
              </a:lnSpc>
              <a:spcAft>
                <a:spcPts val="600"/>
              </a:spcAft>
              <a:buFont typeface="Arial" panose="020B0604020202020204" pitchFamily="34" charset="0"/>
              <a:buChar char="•"/>
            </a:pPr>
            <a:r>
              <a:rPr lang="en-US" altLang="zh-CN" sz="1400" dirty="0">
                <a:solidFill>
                  <a:schemeClr val="tx1"/>
                </a:solidFill>
              </a:rPr>
              <a:t>RR</a:t>
            </a:r>
            <a:r>
              <a:rPr lang="zh-CN" altLang="en-US" sz="1400" dirty="0">
                <a:solidFill>
                  <a:schemeClr val="tx1"/>
                </a:solidFill>
              </a:rPr>
              <a:t>设备侧部署多链路，实现</a:t>
            </a:r>
            <a:r>
              <a:rPr lang="en-US" altLang="zh-CN" sz="1400" dirty="0">
                <a:solidFill>
                  <a:schemeClr val="tx1"/>
                </a:solidFill>
              </a:rPr>
              <a:t>CPE</a:t>
            </a:r>
            <a:r>
              <a:rPr lang="zh-CN" altLang="en-US" sz="1400" dirty="0">
                <a:solidFill>
                  <a:schemeClr val="tx1"/>
                </a:solidFill>
              </a:rPr>
              <a:t>与</a:t>
            </a:r>
            <a:r>
              <a:rPr lang="en-US" altLang="zh-CN" sz="1400" dirty="0">
                <a:solidFill>
                  <a:schemeClr val="tx1"/>
                </a:solidFill>
              </a:rPr>
              <a:t>RR</a:t>
            </a:r>
            <a:r>
              <a:rPr lang="zh-CN" altLang="en-US" sz="1400" dirty="0">
                <a:solidFill>
                  <a:schemeClr val="tx1"/>
                </a:solidFill>
              </a:rPr>
              <a:t>连接的可靠性。</a:t>
            </a:r>
            <a:endParaRPr lang="en-US" altLang="zh-CN" sz="1400" dirty="0">
              <a:solidFill>
                <a:schemeClr val="tx1"/>
              </a:solidFill>
            </a:endParaRPr>
          </a:p>
        </p:txBody>
      </p:sp>
      <p:sp>
        <p:nvSpPr>
          <p:cNvPr id="14" name="圆角矩形 75">
            <a:extLst>
              <a:ext uri="{FF2B5EF4-FFF2-40B4-BE49-F238E27FC236}">
                <a16:creationId xmlns:a16="http://schemas.microsoft.com/office/drawing/2014/main" id="{8B218DC8-1C3F-451E-B963-5A324DEBA5B4}"/>
              </a:ext>
            </a:extLst>
          </p:cNvPr>
          <p:cNvSpPr/>
          <p:nvPr/>
        </p:nvSpPr>
        <p:spPr bwMode="gray">
          <a:xfrm>
            <a:off x="8067594" y="2011030"/>
            <a:ext cx="3554875" cy="411527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fontAlgn="ctr"/>
            <a:endParaRPr lang="en-US" altLang="zh-CN" sz="1600" dirty="0">
              <a:solidFill>
                <a:schemeClr val="tx1"/>
              </a:solidFill>
            </a:endParaRPr>
          </a:p>
          <a:p>
            <a:pPr marL="285750" indent="-200025" fontAlgn="ctr">
              <a:lnSpc>
                <a:spcPts val="2600"/>
              </a:lnSpc>
              <a:spcAft>
                <a:spcPts val="600"/>
              </a:spcAft>
              <a:buFont typeface="Arial" panose="020B0604020202020204" pitchFamily="34" charset="0"/>
              <a:buChar char="•"/>
            </a:pPr>
            <a:r>
              <a:rPr lang="zh-CN" altLang="en-US" sz="1400" dirty="0">
                <a:solidFill>
                  <a:schemeClr val="tx1"/>
                </a:solidFill>
              </a:rPr>
              <a:t>分支站点侧部署多链路，实现</a:t>
            </a:r>
            <a:r>
              <a:rPr lang="en-US" altLang="zh-CN" sz="1400" dirty="0">
                <a:solidFill>
                  <a:schemeClr val="tx1"/>
                </a:solidFill>
              </a:rPr>
              <a:t>CPE</a:t>
            </a:r>
            <a:r>
              <a:rPr lang="zh-CN" altLang="en-US" sz="1400" dirty="0">
                <a:solidFill>
                  <a:schemeClr val="tx1"/>
                </a:solidFill>
              </a:rPr>
              <a:t>与</a:t>
            </a:r>
            <a:r>
              <a:rPr lang="en-US" altLang="zh-CN" sz="1400" dirty="0">
                <a:solidFill>
                  <a:schemeClr val="tx1"/>
                </a:solidFill>
              </a:rPr>
              <a:t>RR</a:t>
            </a:r>
            <a:r>
              <a:rPr lang="zh-CN" altLang="en-US" sz="1400" dirty="0">
                <a:solidFill>
                  <a:schemeClr val="tx1"/>
                </a:solidFill>
              </a:rPr>
              <a:t>连接的可靠性。</a:t>
            </a:r>
            <a:endParaRPr lang="en-US" altLang="zh-CN" sz="1400" dirty="0">
              <a:solidFill>
                <a:schemeClr val="tx1"/>
              </a:solidFill>
            </a:endParaRPr>
          </a:p>
        </p:txBody>
      </p:sp>
      <p:sp>
        <p:nvSpPr>
          <p:cNvPr id="2" name="Title 1">
            <a:extLst>
              <a:ext uri="{FF2B5EF4-FFF2-40B4-BE49-F238E27FC236}">
                <a16:creationId xmlns:a16="http://schemas.microsoft.com/office/drawing/2014/main" id="{7F96DD29-8B2C-4CD6-8A6E-B6E958545163}"/>
              </a:ext>
            </a:extLst>
          </p:cNvPr>
          <p:cNvSpPr>
            <a:spLocks noGrp="1"/>
          </p:cNvSpPr>
          <p:nvPr>
            <p:ph type="title"/>
          </p:nvPr>
        </p:nvSpPr>
        <p:spPr bwMode="gray"/>
        <p:txBody>
          <a:bodyPr/>
          <a:lstStyle/>
          <a:p>
            <a:r>
              <a:rPr lang="en-US" dirty="0"/>
              <a:t>RR</a:t>
            </a:r>
            <a:r>
              <a:rPr lang="zh-CN" altLang="en-US" dirty="0"/>
              <a:t>站点可靠性设计：</a:t>
            </a:r>
            <a:r>
              <a:rPr lang="en-US" altLang="zh-CN" dirty="0"/>
              <a:t>RR</a:t>
            </a:r>
            <a:r>
              <a:rPr lang="zh-CN" altLang="en-US" dirty="0"/>
              <a:t>链路冗余</a:t>
            </a:r>
            <a:endParaRPr lang="en-US" dirty="0"/>
          </a:p>
        </p:txBody>
      </p:sp>
      <p:sp>
        <p:nvSpPr>
          <p:cNvPr id="6" name="Freeform 159">
            <a:extLst>
              <a:ext uri="{FF2B5EF4-FFF2-40B4-BE49-F238E27FC236}">
                <a16:creationId xmlns:a16="http://schemas.microsoft.com/office/drawing/2014/main" id="{E9FC46ED-8122-4543-BAAF-B7A95CC851FF}"/>
              </a:ext>
            </a:extLst>
          </p:cNvPr>
          <p:cNvSpPr/>
          <p:nvPr/>
        </p:nvSpPr>
        <p:spPr bwMode="gray">
          <a:xfrm flipH="1">
            <a:off x="1213970" y="356457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7" name="Freeform 159">
            <a:extLst>
              <a:ext uri="{FF2B5EF4-FFF2-40B4-BE49-F238E27FC236}">
                <a16:creationId xmlns:a16="http://schemas.microsoft.com/office/drawing/2014/main" id="{16D82DC9-B6D6-4B82-A017-EAD601389001}"/>
              </a:ext>
            </a:extLst>
          </p:cNvPr>
          <p:cNvSpPr/>
          <p:nvPr/>
        </p:nvSpPr>
        <p:spPr bwMode="gray">
          <a:xfrm flipH="1">
            <a:off x="2401984" y="356457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9" name="圆角矩形 75">
            <a:extLst>
              <a:ext uri="{FF2B5EF4-FFF2-40B4-BE49-F238E27FC236}">
                <a16:creationId xmlns:a16="http://schemas.microsoft.com/office/drawing/2014/main" id="{4CF7B142-82CD-46FA-BA94-05E6BFE55B66}"/>
              </a:ext>
            </a:extLst>
          </p:cNvPr>
          <p:cNvSpPr/>
          <p:nvPr/>
        </p:nvSpPr>
        <p:spPr bwMode="gray">
          <a:xfrm>
            <a:off x="539607" y="1569527"/>
            <a:ext cx="355487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单链路</a:t>
            </a:r>
          </a:p>
        </p:txBody>
      </p:sp>
      <p:sp>
        <p:nvSpPr>
          <p:cNvPr id="11" name="圆角矩形 75">
            <a:extLst>
              <a:ext uri="{FF2B5EF4-FFF2-40B4-BE49-F238E27FC236}">
                <a16:creationId xmlns:a16="http://schemas.microsoft.com/office/drawing/2014/main" id="{A656A0CE-144C-4F06-92B0-0A807FA8E3B7}"/>
              </a:ext>
            </a:extLst>
          </p:cNvPr>
          <p:cNvSpPr/>
          <p:nvPr/>
        </p:nvSpPr>
        <p:spPr bwMode="gray">
          <a:xfrm>
            <a:off x="4313095" y="1569527"/>
            <a:ext cx="355487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多链路（拓扑一）</a:t>
            </a:r>
          </a:p>
        </p:txBody>
      </p:sp>
      <p:sp>
        <p:nvSpPr>
          <p:cNvPr id="13" name="圆角矩形 75">
            <a:extLst>
              <a:ext uri="{FF2B5EF4-FFF2-40B4-BE49-F238E27FC236}">
                <a16:creationId xmlns:a16="http://schemas.microsoft.com/office/drawing/2014/main" id="{E8C0BFC7-D032-443B-A486-40F444774148}"/>
              </a:ext>
            </a:extLst>
          </p:cNvPr>
          <p:cNvSpPr/>
          <p:nvPr/>
        </p:nvSpPr>
        <p:spPr bwMode="gray">
          <a:xfrm>
            <a:off x="8067594" y="1571254"/>
            <a:ext cx="355487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多链路（拓扑二）</a:t>
            </a:r>
          </a:p>
        </p:txBody>
      </p:sp>
      <p:sp>
        <p:nvSpPr>
          <p:cNvPr id="18" name="Freeform 159">
            <a:extLst>
              <a:ext uri="{FF2B5EF4-FFF2-40B4-BE49-F238E27FC236}">
                <a16:creationId xmlns:a16="http://schemas.microsoft.com/office/drawing/2014/main" id="{510B19A4-6C1C-44B0-8CB6-52ADC96B57CF}"/>
              </a:ext>
            </a:extLst>
          </p:cNvPr>
          <p:cNvSpPr/>
          <p:nvPr/>
        </p:nvSpPr>
        <p:spPr bwMode="gray">
          <a:xfrm flipH="1">
            <a:off x="813474" y="476159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16" name="Picture 12" descr="E:\2016.01\1.12 扁平化图标\蓝色\AR-蓝色最新-40.png">
            <a:extLst>
              <a:ext uri="{FF2B5EF4-FFF2-40B4-BE49-F238E27FC236}">
                <a16:creationId xmlns:a16="http://schemas.microsoft.com/office/drawing/2014/main" id="{7A222592-D5F5-4120-BF0F-59819D9FDAF8}"/>
              </a:ext>
            </a:extLst>
          </p:cNvPr>
          <p:cNvPicPr>
            <a:picLocks noChangeAspect="1" noChangeArrowheads="1"/>
          </p:cNvPicPr>
          <p:nvPr/>
        </p:nvPicPr>
        <p:blipFill>
          <a:blip r:embed="rId3" cstate="print"/>
          <a:srcRect/>
          <a:stretch>
            <a:fillRect/>
          </a:stretch>
        </p:blipFill>
        <p:spPr bwMode="gray">
          <a:xfrm>
            <a:off x="1076867" y="4499903"/>
            <a:ext cx="474524" cy="388247"/>
          </a:xfrm>
          <a:prstGeom prst="rect">
            <a:avLst/>
          </a:prstGeom>
          <a:noFill/>
        </p:spPr>
      </p:pic>
      <p:sp>
        <p:nvSpPr>
          <p:cNvPr id="19" name="Freeform 159">
            <a:extLst>
              <a:ext uri="{FF2B5EF4-FFF2-40B4-BE49-F238E27FC236}">
                <a16:creationId xmlns:a16="http://schemas.microsoft.com/office/drawing/2014/main" id="{BE500093-0FC3-4F59-8529-091AB432A9DC}"/>
              </a:ext>
            </a:extLst>
          </p:cNvPr>
          <p:cNvSpPr/>
          <p:nvPr/>
        </p:nvSpPr>
        <p:spPr bwMode="gray">
          <a:xfrm flipH="1">
            <a:off x="2728753" y="476159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20" name="Picture 12" descr="E:\2016.01\1.12 扁平化图标\蓝色\AR-蓝色最新-40.png">
            <a:extLst>
              <a:ext uri="{FF2B5EF4-FFF2-40B4-BE49-F238E27FC236}">
                <a16:creationId xmlns:a16="http://schemas.microsoft.com/office/drawing/2014/main" id="{696C32D6-C01D-449A-9330-78D54CC167FD}"/>
              </a:ext>
            </a:extLst>
          </p:cNvPr>
          <p:cNvPicPr>
            <a:picLocks noChangeAspect="1" noChangeArrowheads="1"/>
          </p:cNvPicPr>
          <p:nvPr/>
        </p:nvPicPr>
        <p:blipFill>
          <a:blip r:embed="rId3" cstate="print"/>
          <a:srcRect/>
          <a:stretch>
            <a:fillRect/>
          </a:stretch>
        </p:blipFill>
        <p:spPr bwMode="gray">
          <a:xfrm>
            <a:off x="2992146" y="4499903"/>
            <a:ext cx="474524" cy="388247"/>
          </a:xfrm>
          <a:prstGeom prst="rect">
            <a:avLst/>
          </a:prstGeom>
          <a:noFill/>
        </p:spPr>
      </p:pic>
      <p:sp>
        <p:nvSpPr>
          <p:cNvPr id="21" name="Rectangle: Rounded Corners 20">
            <a:extLst>
              <a:ext uri="{FF2B5EF4-FFF2-40B4-BE49-F238E27FC236}">
                <a16:creationId xmlns:a16="http://schemas.microsoft.com/office/drawing/2014/main" id="{603B031B-8730-4BD3-A882-44AD811CD392}"/>
              </a:ext>
            </a:extLst>
          </p:cNvPr>
          <p:cNvSpPr/>
          <p:nvPr/>
        </p:nvSpPr>
        <p:spPr bwMode="gray">
          <a:xfrm>
            <a:off x="1507389" y="2293969"/>
            <a:ext cx="1638300" cy="603716"/>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Rectangle: Rounded Corners 21">
            <a:extLst>
              <a:ext uri="{FF2B5EF4-FFF2-40B4-BE49-F238E27FC236}">
                <a16:creationId xmlns:a16="http://schemas.microsoft.com/office/drawing/2014/main" id="{83B76828-38F7-46D4-87CE-F6750B6337F6}"/>
              </a:ext>
            </a:extLst>
          </p:cNvPr>
          <p:cNvSpPr/>
          <p:nvPr/>
        </p:nvSpPr>
        <p:spPr bwMode="gray">
          <a:xfrm>
            <a:off x="1564595" y="2083298"/>
            <a:ext cx="771946" cy="200884"/>
          </a:xfrm>
          <a:prstGeom prst="roundRect">
            <a:avLst>
              <a:gd name="adj" fmla="val 4012"/>
            </a:avLst>
          </a:prstGeom>
          <a:solidFill>
            <a:schemeClr val="bg1">
              <a:lumMod val="65000"/>
            </a:schemeClr>
          </a:solidFill>
          <a:ln w="190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RR</a:t>
            </a:r>
            <a:r>
              <a:rPr lang="zh-CN" altLang="en-US" sz="1200" dirty="0"/>
              <a:t>站点</a:t>
            </a:r>
            <a:endParaRPr lang="en-US" sz="1200" dirty="0"/>
          </a:p>
        </p:txBody>
      </p:sp>
      <p:pic>
        <p:nvPicPr>
          <p:cNvPr id="8" name="Picture 12" descr="E:\2016.01\1.12 扁平化图标\蓝色\AR-蓝色最新-40.png">
            <a:extLst>
              <a:ext uri="{FF2B5EF4-FFF2-40B4-BE49-F238E27FC236}">
                <a16:creationId xmlns:a16="http://schemas.microsoft.com/office/drawing/2014/main" id="{538605D8-7A2A-42FA-BFC3-D529F4AF795F}"/>
              </a:ext>
            </a:extLst>
          </p:cNvPr>
          <p:cNvPicPr>
            <a:picLocks noChangeAspect="1" noChangeArrowheads="1"/>
          </p:cNvPicPr>
          <p:nvPr/>
        </p:nvPicPr>
        <p:blipFill>
          <a:blip r:embed="rId3" cstate="print"/>
          <a:srcRect/>
          <a:stretch>
            <a:fillRect/>
          </a:stretch>
        </p:blipFill>
        <p:spPr bwMode="gray">
          <a:xfrm>
            <a:off x="1685884" y="2396810"/>
            <a:ext cx="474524" cy="388247"/>
          </a:xfrm>
          <a:prstGeom prst="rect">
            <a:avLst/>
          </a:prstGeom>
          <a:noFill/>
        </p:spPr>
      </p:pic>
      <p:pic>
        <p:nvPicPr>
          <p:cNvPr id="15" name="Picture 12" descr="E:\2016.01\1.12 扁平化图标\蓝色\AR-蓝色最新-40.png">
            <a:extLst>
              <a:ext uri="{FF2B5EF4-FFF2-40B4-BE49-F238E27FC236}">
                <a16:creationId xmlns:a16="http://schemas.microsoft.com/office/drawing/2014/main" id="{A6E3BA04-D079-44CE-8FB7-1AB2CB0BA0FD}"/>
              </a:ext>
            </a:extLst>
          </p:cNvPr>
          <p:cNvPicPr>
            <a:picLocks noChangeAspect="1" noChangeArrowheads="1"/>
          </p:cNvPicPr>
          <p:nvPr/>
        </p:nvPicPr>
        <p:blipFill>
          <a:blip r:embed="rId3" cstate="print"/>
          <a:srcRect/>
          <a:stretch>
            <a:fillRect/>
          </a:stretch>
        </p:blipFill>
        <p:spPr bwMode="gray">
          <a:xfrm>
            <a:off x="2497212" y="2400266"/>
            <a:ext cx="474524" cy="388247"/>
          </a:xfrm>
          <a:prstGeom prst="rect">
            <a:avLst/>
          </a:prstGeom>
          <a:noFill/>
        </p:spPr>
      </p:pic>
      <p:cxnSp>
        <p:nvCxnSpPr>
          <p:cNvPr id="23" name="直接连接符 37">
            <a:extLst>
              <a:ext uri="{FF2B5EF4-FFF2-40B4-BE49-F238E27FC236}">
                <a16:creationId xmlns:a16="http://schemas.microsoft.com/office/drawing/2014/main" id="{8EA6BD65-2971-4EC1-A4CC-22527449AEEE}"/>
              </a:ext>
            </a:extLst>
          </p:cNvPr>
          <p:cNvCxnSpPr>
            <a:cxnSpLocks/>
            <a:stCxn id="8" idx="2"/>
            <a:endCxn id="6" idx="1"/>
          </p:cNvCxnSpPr>
          <p:nvPr/>
        </p:nvCxnSpPr>
        <p:spPr bwMode="gray">
          <a:xfrm flipH="1">
            <a:off x="1753184" y="2785057"/>
            <a:ext cx="169962" cy="84906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37">
            <a:extLst>
              <a:ext uri="{FF2B5EF4-FFF2-40B4-BE49-F238E27FC236}">
                <a16:creationId xmlns:a16="http://schemas.microsoft.com/office/drawing/2014/main" id="{C63D0274-14E5-4B6C-8B1F-4F82D309D7CE}"/>
              </a:ext>
            </a:extLst>
          </p:cNvPr>
          <p:cNvCxnSpPr>
            <a:cxnSpLocks/>
            <a:endCxn id="16" idx="0"/>
          </p:cNvCxnSpPr>
          <p:nvPr/>
        </p:nvCxnSpPr>
        <p:spPr bwMode="gray">
          <a:xfrm flipH="1">
            <a:off x="1314129" y="4061560"/>
            <a:ext cx="371755"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37">
            <a:extLst>
              <a:ext uri="{FF2B5EF4-FFF2-40B4-BE49-F238E27FC236}">
                <a16:creationId xmlns:a16="http://schemas.microsoft.com/office/drawing/2014/main" id="{F3F122A5-3D1B-4ECF-AB1F-9A3AB1AA8E75}"/>
              </a:ext>
            </a:extLst>
          </p:cNvPr>
          <p:cNvCxnSpPr>
            <a:cxnSpLocks/>
            <a:stCxn id="20" idx="0"/>
          </p:cNvCxnSpPr>
          <p:nvPr/>
        </p:nvCxnSpPr>
        <p:spPr bwMode="gray">
          <a:xfrm flipH="1" flipV="1">
            <a:off x="2895600" y="4061560"/>
            <a:ext cx="333808"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8615F118-1107-484B-B41A-E221007DE944}"/>
              </a:ext>
            </a:extLst>
          </p:cNvPr>
          <p:cNvCxnSpPr>
            <a:cxnSpLocks/>
            <a:stCxn id="15" idx="2"/>
            <a:endCxn id="7" idx="2"/>
          </p:cNvCxnSpPr>
          <p:nvPr/>
        </p:nvCxnSpPr>
        <p:spPr bwMode="gray">
          <a:xfrm>
            <a:off x="2734474" y="2788513"/>
            <a:ext cx="219295" cy="86097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连接符 37">
            <a:extLst>
              <a:ext uri="{FF2B5EF4-FFF2-40B4-BE49-F238E27FC236}">
                <a16:creationId xmlns:a16="http://schemas.microsoft.com/office/drawing/2014/main" id="{E6AA33C9-33B9-45E3-92D5-999B4A2371F5}"/>
              </a:ext>
            </a:extLst>
          </p:cNvPr>
          <p:cNvCxnSpPr>
            <a:cxnSpLocks/>
            <a:stCxn id="8" idx="3"/>
            <a:endCxn id="15" idx="1"/>
          </p:cNvCxnSpPr>
          <p:nvPr/>
        </p:nvCxnSpPr>
        <p:spPr bwMode="gray">
          <a:xfrm>
            <a:off x="2160408" y="2590934"/>
            <a:ext cx="336804" cy="3456"/>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Freeform 159">
            <a:extLst>
              <a:ext uri="{FF2B5EF4-FFF2-40B4-BE49-F238E27FC236}">
                <a16:creationId xmlns:a16="http://schemas.microsoft.com/office/drawing/2014/main" id="{48A210E8-9657-4245-9923-46E97F183D09}"/>
              </a:ext>
            </a:extLst>
          </p:cNvPr>
          <p:cNvSpPr/>
          <p:nvPr/>
        </p:nvSpPr>
        <p:spPr bwMode="gray">
          <a:xfrm flipH="1">
            <a:off x="4980035" y="356457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85" name="Freeform 159">
            <a:extLst>
              <a:ext uri="{FF2B5EF4-FFF2-40B4-BE49-F238E27FC236}">
                <a16:creationId xmlns:a16="http://schemas.microsoft.com/office/drawing/2014/main" id="{EA4AA57B-D206-4DC0-B708-EEC1484BAF35}"/>
              </a:ext>
            </a:extLst>
          </p:cNvPr>
          <p:cNvSpPr/>
          <p:nvPr/>
        </p:nvSpPr>
        <p:spPr bwMode="gray">
          <a:xfrm flipH="1">
            <a:off x="6168049" y="356457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91" name="Freeform 159">
            <a:extLst>
              <a:ext uri="{FF2B5EF4-FFF2-40B4-BE49-F238E27FC236}">
                <a16:creationId xmlns:a16="http://schemas.microsoft.com/office/drawing/2014/main" id="{F9825477-E20D-4E09-B4A3-0DCE0E535608}"/>
              </a:ext>
            </a:extLst>
          </p:cNvPr>
          <p:cNvSpPr/>
          <p:nvPr/>
        </p:nvSpPr>
        <p:spPr bwMode="gray">
          <a:xfrm flipH="1">
            <a:off x="4579539" y="476159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92" name="Picture 12" descr="E:\2016.01\1.12 扁平化图标\蓝色\AR-蓝色最新-40.png">
            <a:extLst>
              <a:ext uri="{FF2B5EF4-FFF2-40B4-BE49-F238E27FC236}">
                <a16:creationId xmlns:a16="http://schemas.microsoft.com/office/drawing/2014/main" id="{49A95DFD-7596-4E42-B416-808B36DEF740}"/>
              </a:ext>
            </a:extLst>
          </p:cNvPr>
          <p:cNvPicPr>
            <a:picLocks noChangeAspect="1" noChangeArrowheads="1"/>
          </p:cNvPicPr>
          <p:nvPr/>
        </p:nvPicPr>
        <p:blipFill>
          <a:blip r:embed="rId3" cstate="print"/>
          <a:srcRect/>
          <a:stretch>
            <a:fillRect/>
          </a:stretch>
        </p:blipFill>
        <p:spPr bwMode="gray">
          <a:xfrm>
            <a:off x="4842932" y="4499903"/>
            <a:ext cx="474524" cy="388247"/>
          </a:xfrm>
          <a:prstGeom prst="rect">
            <a:avLst/>
          </a:prstGeom>
          <a:noFill/>
        </p:spPr>
      </p:pic>
      <p:sp>
        <p:nvSpPr>
          <p:cNvPr id="94" name="Freeform 159">
            <a:extLst>
              <a:ext uri="{FF2B5EF4-FFF2-40B4-BE49-F238E27FC236}">
                <a16:creationId xmlns:a16="http://schemas.microsoft.com/office/drawing/2014/main" id="{389ED7EA-67E1-46B4-BF63-1F1C14D5BD31}"/>
              </a:ext>
            </a:extLst>
          </p:cNvPr>
          <p:cNvSpPr/>
          <p:nvPr/>
        </p:nvSpPr>
        <p:spPr bwMode="gray">
          <a:xfrm flipH="1">
            <a:off x="6494818" y="476159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95" name="Picture 12" descr="E:\2016.01\1.12 扁平化图标\蓝色\AR-蓝色最新-40.png">
            <a:extLst>
              <a:ext uri="{FF2B5EF4-FFF2-40B4-BE49-F238E27FC236}">
                <a16:creationId xmlns:a16="http://schemas.microsoft.com/office/drawing/2014/main" id="{0CBDE9AE-5A06-4C60-87E8-EB4BC900DB47}"/>
              </a:ext>
            </a:extLst>
          </p:cNvPr>
          <p:cNvPicPr>
            <a:picLocks noChangeAspect="1" noChangeArrowheads="1"/>
          </p:cNvPicPr>
          <p:nvPr/>
        </p:nvPicPr>
        <p:blipFill>
          <a:blip r:embed="rId3" cstate="print"/>
          <a:srcRect/>
          <a:stretch>
            <a:fillRect/>
          </a:stretch>
        </p:blipFill>
        <p:spPr bwMode="gray">
          <a:xfrm>
            <a:off x="6758211" y="4499903"/>
            <a:ext cx="474524" cy="388247"/>
          </a:xfrm>
          <a:prstGeom prst="rect">
            <a:avLst/>
          </a:prstGeom>
          <a:noFill/>
        </p:spPr>
      </p:pic>
      <p:sp>
        <p:nvSpPr>
          <p:cNvPr id="97" name="Rectangle: Rounded Corners 96">
            <a:extLst>
              <a:ext uri="{FF2B5EF4-FFF2-40B4-BE49-F238E27FC236}">
                <a16:creationId xmlns:a16="http://schemas.microsoft.com/office/drawing/2014/main" id="{6E88DE54-D07E-4340-BDFD-DB34A53409DC}"/>
              </a:ext>
            </a:extLst>
          </p:cNvPr>
          <p:cNvSpPr/>
          <p:nvPr/>
        </p:nvSpPr>
        <p:spPr bwMode="gray">
          <a:xfrm>
            <a:off x="5273454" y="2293969"/>
            <a:ext cx="1638300" cy="603716"/>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Rectangle: Rounded Corners 97">
            <a:extLst>
              <a:ext uri="{FF2B5EF4-FFF2-40B4-BE49-F238E27FC236}">
                <a16:creationId xmlns:a16="http://schemas.microsoft.com/office/drawing/2014/main" id="{8260FCB6-2784-46BC-A2ED-C32FEFBEAE19}"/>
              </a:ext>
            </a:extLst>
          </p:cNvPr>
          <p:cNvSpPr/>
          <p:nvPr/>
        </p:nvSpPr>
        <p:spPr bwMode="gray">
          <a:xfrm>
            <a:off x="5330660" y="2083298"/>
            <a:ext cx="771946" cy="200884"/>
          </a:xfrm>
          <a:prstGeom prst="roundRect">
            <a:avLst>
              <a:gd name="adj" fmla="val 4012"/>
            </a:avLst>
          </a:prstGeom>
          <a:solidFill>
            <a:schemeClr val="bg1">
              <a:lumMod val="65000"/>
            </a:schemeClr>
          </a:solidFill>
          <a:ln w="190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RR</a:t>
            </a:r>
            <a:r>
              <a:rPr lang="zh-CN" altLang="en-US" sz="1200" dirty="0"/>
              <a:t>站点</a:t>
            </a:r>
            <a:endParaRPr lang="en-US" sz="1200" dirty="0"/>
          </a:p>
        </p:txBody>
      </p:sp>
      <p:pic>
        <p:nvPicPr>
          <p:cNvPr id="100" name="Picture 12" descr="E:\2016.01\1.12 扁平化图标\蓝色\AR-蓝色最新-40.png">
            <a:extLst>
              <a:ext uri="{FF2B5EF4-FFF2-40B4-BE49-F238E27FC236}">
                <a16:creationId xmlns:a16="http://schemas.microsoft.com/office/drawing/2014/main" id="{6D0AB8D4-9BDC-4A31-AD0B-6BEA3ABC2C5A}"/>
              </a:ext>
            </a:extLst>
          </p:cNvPr>
          <p:cNvPicPr>
            <a:picLocks noChangeAspect="1" noChangeArrowheads="1"/>
          </p:cNvPicPr>
          <p:nvPr/>
        </p:nvPicPr>
        <p:blipFill>
          <a:blip r:embed="rId3" cstate="print"/>
          <a:srcRect/>
          <a:stretch>
            <a:fillRect/>
          </a:stretch>
        </p:blipFill>
        <p:spPr bwMode="gray">
          <a:xfrm>
            <a:off x="5451949" y="2396810"/>
            <a:ext cx="474524" cy="388247"/>
          </a:xfrm>
          <a:prstGeom prst="rect">
            <a:avLst/>
          </a:prstGeom>
          <a:noFill/>
        </p:spPr>
      </p:pic>
      <p:pic>
        <p:nvPicPr>
          <p:cNvPr id="101" name="Picture 12" descr="E:\2016.01\1.12 扁平化图标\蓝色\AR-蓝色最新-40.png">
            <a:extLst>
              <a:ext uri="{FF2B5EF4-FFF2-40B4-BE49-F238E27FC236}">
                <a16:creationId xmlns:a16="http://schemas.microsoft.com/office/drawing/2014/main" id="{49BF54D7-05E1-4809-A62B-20B3821311AF}"/>
              </a:ext>
            </a:extLst>
          </p:cNvPr>
          <p:cNvPicPr>
            <a:picLocks noChangeAspect="1" noChangeArrowheads="1"/>
          </p:cNvPicPr>
          <p:nvPr/>
        </p:nvPicPr>
        <p:blipFill>
          <a:blip r:embed="rId3" cstate="print"/>
          <a:srcRect/>
          <a:stretch>
            <a:fillRect/>
          </a:stretch>
        </p:blipFill>
        <p:spPr bwMode="gray">
          <a:xfrm>
            <a:off x="6263277" y="2400266"/>
            <a:ext cx="474524" cy="388247"/>
          </a:xfrm>
          <a:prstGeom prst="rect">
            <a:avLst/>
          </a:prstGeom>
          <a:noFill/>
        </p:spPr>
      </p:pic>
      <p:cxnSp>
        <p:nvCxnSpPr>
          <p:cNvPr id="103" name="直接连接符 37">
            <a:extLst>
              <a:ext uri="{FF2B5EF4-FFF2-40B4-BE49-F238E27FC236}">
                <a16:creationId xmlns:a16="http://schemas.microsoft.com/office/drawing/2014/main" id="{D62B1B67-12DD-4AFB-9CDA-F69E3094F216}"/>
              </a:ext>
            </a:extLst>
          </p:cNvPr>
          <p:cNvCxnSpPr>
            <a:cxnSpLocks/>
            <a:stCxn id="100" idx="2"/>
            <a:endCxn id="84" idx="1"/>
          </p:cNvCxnSpPr>
          <p:nvPr/>
        </p:nvCxnSpPr>
        <p:spPr bwMode="gray">
          <a:xfrm flipH="1">
            <a:off x="5519249" y="2785057"/>
            <a:ext cx="169962" cy="84906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直接连接符 37">
            <a:extLst>
              <a:ext uri="{FF2B5EF4-FFF2-40B4-BE49-F238E27FC236}">
                <a16:creationId xmlns:a16="http://schemas.microsoft.com/office/drawing/2014/main" id="{413C8048-3A1E-465E-8961-B697D5040C77}"/>
              </a:ext>
            </a:extLst>
          </p:cNvPr>
          <p:cNvCxnSpPr>
            <a:cxnSpLocks/>
            <a:endCxn id="92" idx="0"/>
          </p:cNvCxnSpPr>
          <p:nvPr/>
        </p:nvCxnSpPr>
        <p:spPr bwMode="gray">
          <a:xfrm flipH="1">
            <a:off x="5080194" y="4061560"/>
            <a:ext cx="371755"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连接符 37">
            <a:extLst>
              <a:ext uri="{FF2B5EF4-FFF2-40B4-BE49-F238E27FC236}">
                <a16:creationId xmlns:a16="http://schemas.microsoft.com/office/drawing/2014/main" id="{8D16449A-4285-47B0-A34B-2B436CD0103A}"/>
              </a:ext>
            </a:extLst>
          </p:cNvPr>
          <p:cNvCxnSpPr>
            <a:cxnSpLocks/>
            <a:stCxn id="95" idx="0"/>
          </p:cNvCxnSpPr>
          <p:nvPr/>
        </p:nvCxnSpPr>
        <p:spPr bwMode="gray">
          <a:xfrm flipH="1" flipV="1">
            <a:off x="6661665" y="4061560"/>
            <a:ext cx="333808"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直接连接符 37">
            <a:extLst>
              <a:ext uri="{FF2B5EF4-FFF2-40B4-BE49-F238E27FC236}">
                <a16:creationId xmlns:a16="http://schemas.microsoft.com/office/drawing/2014/main" id="{7CCD2CAE-1225-48B1-8BED-3F28BD3D3CE5}"/>
              </a:ext>
            </a:extLst>
          </p:cNvPr>
          <p:cNvCxnSpPr>
            <a:cxnSpLocks/>
            <a:stCxn id="101" idx="2"/>
            <a:endCxn id="85" idx="2"/>
          </p:cNvCxnSpPr>
          <p:nvPr/>
        </p:nvCxnSpPr>
        <p:spPr bwMode="gray">
          <a:xfrm>
            <a:off x="6500539" y="2788513"/>
            <a:ext cx="219295" cy="86097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连接符 37">
            <a:extLst>
              <a:ext uri="{FF2B5EF4-FFF2-40B4-BE49-F238E27FC236}">
                <a16:creationId xmlns:a16="http://schemas.microsoft.com/office/drawing/2014/main" id="{EC00E18C-AE0E-4931-96D5-76A1005497B2}"/>
              </a:ext>
            </a:extLst>
          </p:cNvPr>
          <p:cNvCxnSpPr>
            <a:cxnSpLocks/>
            <a:stCxn id="100" idx="3"/>
            <a:endCxn id="101" idx="1"/>
          </p:cNvCxnSpPr>
          <p:nvPr/>
        </p:nvCxnSpPr>
        <p:spPr bwMode="gray">
          <a:xfrm>
            <a:off x="5926473" y="2590934"/>
            <a:ext cx="336804" cy="3456"/>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直接连接符 37">
            <a:extLst>
              <a:ext uri="{FF2B5EF4-FFF2-40B4-BE49-F238E27FC236}">
                <a16:creationId xmlns:a16="http://schemas.microsoft.com/office/drawing/2014/main" id="{A9D5F706-8A3B-446C-9553-C763CE86AE33}"/>
              </a:ext>
            </a:extLst>
          </p:cNvPr>
          <p:cNvCxnSpPr>
            <a:cxnSpLocks/>
            <a:stCxn id="85" idx="3"/>
            <a:endCxn id="100" idx="2"/>
          </p:cNvCxnSpPr>
          <p:nvPr/>
        </p:nvCxnSpPr>
        <p:spPr bwMode="gray">
          <a:xfrm flipH="1" flipV="1">
            <a:off x="5689211" y="2785057"/>
            <a:ext cx="1040077" cy="857280"/>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37">
            <a:extLst>
              <a:ext uri="{FF2B5EF4-FFF2-40B4-BE49-F238E27FC236}">
                <a16:creationId xmlns:a16="http://schemas.microsoft.com/office/drawing/2014/main" id="{364A0CF0-F2C4-4937-9235-65561DE48329}"/>
              </a:ext>
            </a:extLst>
          </p:cNvPr>
          <p:cNvCxnSpPr>
            <a:cxnSpLocks/>
            <a:stCxn id="84" idx="3"/>
            <a:endCxn id="101" idx="2"/>
          </p:cNvCxnSpPr>
          <p:nvPr/>
        </p:nvCxnSpPr>
        <p:spPr bwMode="gray">
          <a:xfrm flipV="1">
            <a:off x="5541274" y="2788513"/>
            <a:ext cx="959265" cy="853824"/>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Freeform 159">
            <a:extLst>
              <a:ext uri="{FF2B5EF4-FFF2-40B4-BE49-F238E27FC236}">
                <a16:creationId xmlns:a16="http://schemas.microsoft.com/office/drawing/2014/main" id="{99576A9E-938E-459D-9AAB-D2AFECEE3AEE}"/>
              </a:ext>
            </a:extLst>
          </p:cNvPr>
          <p:cNvSpPr/>
          <p:nvPr/>
        </p:nvSpPr>
        <p:spPr bwMode="gray">
          <a:xfrm flipH="1">
            <a:off x="8790017" y="356457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112" name="Freeform 159">
            <a:extLst>
              <a:ext uri="{FF2B5EF4-FFF2-40B4-BE49-F238E27FC236}">
                <a16:creationId xmlns:a16="http://schemas.microsoft.com/office/drawing/2014/main" id="{51111D05-CA71-402A-91AD-EA68C6F65DE9}"/>
              </a:ext>
            </a:extLst>
          </p:cNvPr>
          <p:cNvSpPr/>
          <p:nvPr/>
        </p:nvSpPr>
        <p:spPr bwMode="gray">
          <a:xfrm flipH="1">
            <a:off x="9978031" y="3564574"/>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113" name="Freeform 159">
            <a:extLst>
              <a:ext uri="{FF2B5EF4-FFF2-40B4-BE49-F238E27FC236}">
                <a16:creationId xmlns:a16="http://schemas.microsoft.com/office/drawing/2014/main" id="{5539E0AD-34E9-41AA-BA1B-16EA7DF3BDE1}"/>
              </a:ext>
            </a:extLst>
          </p:cNvPr>
          <p:cNvSpPr/>
          <p:nvPr/>
        </p:nvSpPr>
        <p:spPr bwMode="gray">
          <a:xfrm flipH="1">
            <a:off x="8389521" y="476159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114" name="Picture 12" descr="E:\2016.01\1.12 扁平化图标\蓝色\AR-蓝色最新-40.png">
            <a:extLst>
              <a:ext uri="{FF2B5EF4-FFF2-40B4-BE49-F238E27FC236}">
                <a16:creationId xmlns:a16="http://schemas.microsoft.com/office/drawing/2014/main" id="{12C5D1BF-D3F2-4C5C-9B7E-25F2D84BF3CF}"/>
              </a:ext>
            </a:extLst>
          </p:cNvPr>
          <p:cNvPicPr>
            <a:picLocks noChangeAspect="1" noChangeArrowheads="1"/>
          </p:cNvPicPr>
          <p:nvPr/>
        </p:nvPicPr>
        <p:blipFill>
          <a:blip r:embed="rId3" cstate="print"/>
          <a:srcRect/>
          <a:stretch>
            <a:fillRect/>
          </a:stretch>
        </p:blipFill>
        <p:spPr bwMode="gray">
          <a:xfrm>
            <a:off x="8652914" y="4499903"/>
            <a:ext cx="474524" cy="388247"/>
          </a:xfrm>
          <a:prstGeom prst="rect">
            <a:avLst/>
          </a:prstGeom>
          <a:noFill/>
        </p:spPr>
      </p:pic>
      <p:sp>
        <p:nvSpPr>
          <p:cNvPr id="115" name="Freeform 159">
            <a:extLst>
              <a:ext uri="{FF2B5EF4-FFF2-40B4-BE49-F238E27FC236}">
                <a16:creationId xmlns:a16="http://schemas.microsoft.com/office/drawing/2014/main" id="{C99B2395-446E-4590-A052-57E3D47D79A0}"/>
              </a:ext>
            </a:extLst>
          </p:cNvPr>
          <p:cNvSpPr/>
          <p:nvPr/>
        </p:nvSpPr>
        <p:spPr bwMode="gray">
          <a:xfrm flipH="1">
            <a:off x="10304800" y="4761598"/>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pic>
        <p:nvPicPr>
          <p:cNvPr id="116" name="Picture 12" descr="E:\2016.01\1.12 扁平化图标\蓝色\AR-蓝色最新-40.png">
            <a:extLst>
              <a:ext uri="{FF2B5EF4-FFF2-40B4-BE49-F238E27FC236}">
                <a16:creationId xmlns:a16="http://schemas.microsoft.com/office/drawing/2014/main" id="{84BBD7BA-ABE8-4A8D-82F7-9FA15CA100B8}"/>
              </a:ext>
            </a:extLst>
          </p:cNvPr>
          <p:cNvPicPr>
            <a:picLocks noChangeAspect="1" noChangeArrowheads="1"/>
          </p:cNvPicPr>
          <p:nvPr/>
        </p:nvPicPr>
        <p:blipFill>
          <a:blip r:embed="rId3" cstate="print"/>
          <a:srcRect/>
          <a:stretch>
            <a:fillRect/>
          </a:stretch>
        </p:blipFill>
        <p:spPr bwMode="gray">
          <a:xfrm>
            <a:off x="10568193" y="4499903"/>
            <a:ext cx="474524" cy="388247"/>
          </a:xfrm>
          <a:prstGeom prst="rect">
            <a:avLst/>
          </a:prstGeom>
          <a:noFill/>
        </p:spPr>
      </p:pic>
      <p:sp>
        <p:nvSpPr>
          <p:cNvPr id="117" name="Rectangle: Rounded Corners 116">
            <a:extLst>
              <a:ext uri="{FF2B5EF4-FFF2-40B4-BE49-F238E27FC236}">
                <a16:creationId xmlns:a16="http://schemas.microsoft.com/office/drawing/2014/main" id="{DD0E0104-9DE7-4C71-9183-0996D9190319}"/>
              </a:ext>
            </a:extLst>
          </p:cNvPr>
          <p:cNvSpPr/>
          <p:nvPr/>
        </p:nvSpPr>
        <p:spPr bwMode="gray">
          <a:xfrm>
            <a:off x="9083436" y="2293969"/>
            <a:ext cx="1638300" cy="603716"/>
          </a:xfrm>
          <a:prstGeom prst="roundRect">
            <a:avLst>
              <a:gd name="adj" fmla="val 3326"/>
            </a:avLst>
          </a:prstGeom>
          <a:solidFill>
            <a:schemeClr val="bg1">
              <a:lumMod val="85000"/>
            </a:schemeClr>
          </a:solidFill>
          <a:ln w="12700" cap="flat" cmpd="sng">
            <a:solidFill>
              <a:schemeClr val="bg1">
                <a:lumMod val="65000"/>
              </a:schemeClr>
            </a:solidFill>
            <a:prstDash val="solid"/>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Rectangle: Rounded Corners 117">
            <a:extLst>
              <a:ext uri="{FF2B5EF4-FFF2-40B4-BE49-F238E27FC236}">
                <a16:creationId xmlns:a16="http://schemas.microsoft.com/office/drawing/2014/main" id="{C238281C-CA56-4837-8F1B-45C58C2909A2}"/>
              </a:ext>
            </a:extLst>
          </p:cNvPr>
          <p:cNvSpPr/>
          <p:nvPr/>
        </p:nvSpPr>
        <p:spPr bwMode="gray">
          <a:xfrm>
            <a:off x="9140642" y="2083298"/>
            <a:ext cx="771946" cy="200884"/>
          </a:xfrm>
          <a:prstGeom prst="roundRect">
            <a:avLst>
              <a:gd name="adj" fmla="val 4012"/>
            </a:avLst>
          </a:prstGeom>
          <a:solidFill>
            <a:schemeClr val="bg1">
              <a:lumMod val="65000"/>
            </a:schemeClr>
          </a:solidFill>
          <a:ln w="1905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RR</a:t>
            </a:r>
            <a:r>
              <a:rPr lang="zh-CN" altLang="en-US" sz="1200" dirty="0"/>
              <a:t>站点</a:t>
            </a:r>
            <a:endParaRPr lang="en-US" sz="1200" dirty="0"/>
          </a:p>
        </p:txBody>
      </p:sp>
      <p:pic>
        <p:nvPicPr>
          <p:cNvPr id="119" name="Picture 12" descr="E:\2016.01\1.12 扁平化图标\蓝色\AR-蓝色最新-40.png">
            <a:extLst>
              <a:ext uri="{FF2B5EF4-FFF2-40B4-BE49-F238E27FC236}">
                <a16:creationId xmlns:a16="http://schemas.microsoft.com/office/drawing/2014/main" id="{07E1ABD8-44FB-4E41-A70F-B14DDA5D90D8}"/>
              </a:ext>
            </a:extLst>
          </p:cNvPr>
          <p:cNvPicPr>
            <a:picLocks noChangeAspect="1" noChangeArrowheads="1"/>
          </p:cNvPicPr>
          <p:nvPr/>
        </p:nvPicPr>
        <p:blipFill>
          <a:blip r:embed="rId3" cstate="print"/>
          <a:srcRect/>
          <a:stretch>
            <a:fillRect/>
          </a:stretch>
        </p:blipFill>
        <p:spPr bwMode="gray">
          <a:xfrm>
            <a:off x="9261931" y="2396810"/>
            <a:ext cx="474524" cy="388247"/>
          </a:xfrm>
          <a:prstGeom prst="rect">
            <a:avLst/>
          </a:prstGeom>
          <a:noFill/>
        </p:spPr>
      </p:pic>
      <p:pic>
        <p:nvPicPr>
          <p:cNvPr id="120" name="Picture 12" descr="E:\2016.01\1.12 扁平化图标\蓝色\AR-蓝色最新-40.png">
            <a:extLst>
              <a:ext uri="{FF2B5EF4-FFF2-40B4-BE49-F238E27FC236}">
                <a16:creationId xmlns:a16="http://schemas.microsoft.com/office/drawing/2014/main" id="{BA050A4C-42E9-4C5C-91FB-A4F4CE4DFCEC}"/>
              </a:ext>
            </a:extLst>
          </p:cNvPr>
          <p:cNvPicPr>
            <a:picLocks noChangeAspect="1" noChangeArrowheads="1"/>
          </p:cNvPicPr>
          <p:nvPr/>
        </p:nvPicPr>
        <p:blipFill>
          <a:blip r:embed="rId3" cstate="print"/>
          <a:srcRect/>
          <a:stretch>
            <a:fillRect/>
          </a:stretch>
        </p:blipFill>
        <p:spPr bwMode="gray">
          <a:xfrm>
            <a:off x="10073259" y="2400266"/>
            <a:ext cx="474524" cy="388247"/>
          </a:xfrm>
          <a:prstGeom prst="rect">
            <a:avLst/>
          </a:prstGeom>
          <a:noFill/>
        </p:spPr>
      </p:pic>
      <p:cxnSp>
        <p:nvCxnSpPr>
          <p:cNvPr id="121" name="直接连接符 37">
            <a:extLst>
              <a:ext uri="{FF2B5EF4-FFF2-40B4-BE49-F238E27FC236}">
                <a16:creationId xmlns:a16="http://schemas.microsoft.com/office/drawing/2014/main" id="{693A60D6-D61D-481A-A520-0FE7D1073B3C}"/>
              </a:ext>
            </a:extLst>
          </p:cNvPr>
          <p:cNvCxnSpPr>
            <a:cxnSpLocks/>
            <a:stCxn id="119" idx="2"/>
            <a:endCxn id="111" idx="1"/>
          </p:cNvCxnSpPr>
          <p:nvPr/>
        </p:nvCxnSpPr>
        <p:spPr bwMode="gray">
          <a:xfrm flipH="1">
            <a:off x="9329231" y="2785057"/>
            <a:ext cx="169962" cy="84906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直接连接符 37">
            <a:extLst>
              <a:ext uri="{FF2B5EF4-FFF2-40B4-BE49-F238E27FC236}">
                <a16:creationId xmlns:a16="http://schemas.microsoft.com/office/drawing/2014/main" id="{42C1A836-35A8-4C6C-9D36-088A87C1259F}"/>
              </a:ext>
            </a:extLst>
          </p:cNvPr>
          <p:cNvCxnSpPr>
            <a:cxnSpLocks/>
            <a:endCxn id="114" idx="0"/>
          </p:cNvCxnSpPr>
          <p:nvPr/>
        </p:nvCxnSpPr>
        <p:spPr bwMode="gray">
          <a:xfrm flipH="1">
            <a:off x="8890176" y="4061560"/>
            <a:ext cx="371755"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直接连接符 37">
            <a:extLst>
              <a:ext uri="{FF2B5EF4-FFF2-40B4-BE49-F238E27FC236}">
                <a16:creationId xmlns:a16="http://schemas.microsoft.com/office/drawing/2014/main" id="{95C65F3E-2505-4073-AD48-AEC72C8C1848}"/>
              </a:ext>
            </a:extLst>
          </p:cNvPr>
          <p:cNvCxnSpPr>
            <a:cxnSpLocks/>
            <a:stCxn id="116" idx="0"/>
          </p:cNvCxnSpPr>
          <p:nvPr/>
        </p:nvCxnSpPr>
        <p:spPr bwMode="gray">
          <a:xfrm flipH="1" flipV="1">
            <a:off x="10471647" y="4061560"/>
            <a:ext cx="333808"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直接连接符 37">
            <a:extLst>
              <a:ext uri="{FF2B5EF4-FFF2-40B4-BE49-F238E27FC236}">
                <a16:creationId xmlns:a16="http://schemas.microsoft.com/office/drawing/2014/main" id="{3FC27823-8E2C-420A-83EE-BE5447C31CF7}"/>
              </a:ext>
            </a:extLst>
          </p:cNvPr>
          <p:cNvCxnSpPr>
            <a:cxnSpLocks/>
            <a:stCxn id="120" idx="2"/>
            <a:endCxn id="112" idx="2"/>
          </p:cNvCxnSpPr>
          <p:nvPr/>
        </p:nvCxnSpPr>
        <p:spPr bwMode="gray">
          <a:xfrm>
            <a:off x="10310521" y="2788513"/>
            <a:ext cx="219295" cy="86097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直接连接符 37">
            <a:extLst>
              <a:ext uri="{FF2B5EF4-FFF2-40B4-BE49-F238E27FC236}">
                <a16:creationId xmlns:a16="http://schemas.microsoft.com/office/drawing/2014/main" id="{EFC9BC17-7964-4423-A68B-47261E770AF4}"/>
              </a:ext>
            </a:extLst>
          </p:cNvPr>
          <p:cNvCxnSpPr>
            <a:cxnSpLocks/>
            <a:stCxn id="119" idx="3"/>
            <a:endCxn id="120" idx="1"/>
          </p:cNvCxnSpPr>
          <p:nvPr/>
        </p:nvCxnSpPr>
        <p:spPr bwMode="gray">
          <a:xfrm>
            <a:off x="9736455" y="2590934"/>
            <a:ext cx="336804" cy="3456"/>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直接连接符 37">
            <a:extLst>
              <a:ext uri="{FF2B5EF4-FFF2-40B4-BE49-F238E27FC236}">
                <a16:creationId xmlns:a16="http://schemas.microsoft.com/office/drawing/2014/main" id="{091CA416-739B-4400-893F-88ECD3284051}"/>
              </a:ext>
            </a:extLst>
          </p:cNvPr>
          <p:cNvCxnSpPr>
            <a:cxnSpLocks/>
            <a:stCxn id="114" idx="0"/>
          </p:cNvCxnSpPr>
          <p:nvPr/>
        </p:nvCxnSpPr>
        <p:spPr bwMode="gray">
          <a:xfrm flipV="1">
            <a:off x="8890176" y="4061560"/>
            <a:ext cx="1572017" cy="438343"/>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直接连接符 37">
            <a:extLst>
              <a:ext uri="{FF2B5EF4-FFF2-40B4-BE49-F238E27FC236}">
                <a16:creationId xmlns:a16="http://schemas.microsoft.com/office/drawing/2014/main" id="{69E6366F-86D1-4C2F-B8EB-7FD35CB6499D}"/>
              </a:ext>
            </a:extLst>
          </p:cNvPr>
          <p:cNvCxnSpPr>
            <a:cxnSpLocks/>
            <a:endCxn id="116" idx="0"/>
          </p:cNvCxnSpPr>
          <p:nvPr/>
        </p:nvCxnSpPr>
        <p:spPr bwMode="gray">
          <a:xfrm>
            <a:off x="9261931" y="4058996"/>
            <a:ext cx="1543524" cy="44090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文本框 26">
            <a:extLst>
              <a:ext uri="{FF2B5EF4-FFF2-40B4-BE49-F238E27FC236}">
                <a16:creationId xmlns:a16="http://schemas.microsoft.com/office/drawing/2014/main" id="{2FB490AD-0C58-4570-87ED-7557404E15AA}"/>
              </a:ext>
            </a:extLst>
          </p:cNvPr>
          <p:cNvSpPr txBox="1"/>
          <p:nvPr/>
        </p:nvSpPr>
        <p:spPr bwMode="gray">
          <a:xfrm>
            <a:off x="539607" y="4560122"/>
            <a:ext cx="603892"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31" name="文本框 26">
            <a:extLst>
              <a:ext uri="{FF2B5EF4-FFF2-40B4-BE49-F238E27FC236}">
                <a16:creationId xmlns:a16="http://schemas.microsoft.com/office/drawing/2014/main" id="{3CBA43FE-9A32-4422-BCD7-7946A8187C2F}"/>
              </a:ext>
            </a:extLst>
          </p:cNvPr>
          <p:cNvSpPr txBox="1"/>
          <p:nvPr/>
        </p:nvSpPr>
        <p:spPr bwMode="gray">
          <a:xfrm>
            <a:off x="2412394" y="4578840"/>
            <a:ext cx="646492"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32" name="文本框 26">
            <a:extLst>
              <a:ext uri="{FF2B5EF4-FFF2-40B4-BE49-F238E27FC236}">
                <a16:creationId xmlns:a16="http://schemas.microsoft.com/office/drawing/2014/main" id="{198ABDBD-44AA-4FFF-9E20-678F53404C20}"/>
              </a:ext>
            </a:extLst>
          </p:cNvPr>
          <p:cNvSpPr txBox="1"/>
          <p:nvPr/>
        </p:nvSpPr>
        <p:spPr bwMode="gray">
          <a:xfrm>
            <a:off x="4313095" y="4541404"/>
            <a:ext cx="603074"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33" name="文本框 26">
            <a:extLst>
              <a:ext uri="{FF2B5EF4-FFF2-40B4-BE49-F238E27FC236}">
                <a16:creationId xmlns:a16="http://schemas.microsoft.com/office/drawing/2014/main" id="{7BD4DFFD-0CD8-4F34-9FEB-A3704CD7635F}"/>
              </a:ext>
            </a:extLst>
          </p:cNvPr>
          <p:cNvSpPr txBox="1"/>
          <p:nvPr/>
        </p:nvSpPr>
        <p:spPr bwMode="gray">
          <a:xfrm>
            <a:off x="6222431" y="4560122"/>
            <a:ext cx="609125"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34" name="文本框 26">
            <a:extLst>
              <a:ext uri="{FF2B5EF4-FFF2-40B4-BE49-F238E27FC236}">
                <a16:creationId xmlns:a16="http://schemas.microsoft.com/office/drawing/2014/main" id="{A8242C45-6390-463C-BFB7-B7A33B311365}"/>
              </a:ext>
            </a:extLst>
          </p:cNvPr>
          <p:cNvSpPr txBox="1"/>
          <p:nvPr/>
        </p:nvSpPr>
        <p:spPr bwMode="gray">
          <a:xfrm>
            <a:off x="8086583" y="4555304"/>
            <a:ext cx="610192"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35" name="文本框 26">
            <a:extLst>
              <a:ext uri="{FF2B5EF4-FFF2-40B4-BE49-F238E27FC236}">
                <a16:creationId xmlns:a16="http://schemas.microsoft.com/office/drawing/2014/main" id="{EF31A3F4-8B1E-4321-8548-2ECB7FA98F34}"/>
              </a:ext>
            </a:extLst>
          </p:cNvPr>
          <p:cNvSpPr txBox="1"/>
          <p:nvPr/>
        </p:nvSpPr>
        <p:spPr bwMode="gray">
          <a:xfrm>
            <a:off x="10003037" y="4574022"/>
            <a:ext cx="609125"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70" name="五边形 2">
            <a:extLst>
              <a:ext uri="{FF2B5EF4-FFF2-40B4-BE49-F238E27FC236}">
                <a16:creationId xmlns:a16="http://schemas.microsoft.com/office/drawing/2014/main" id="{6189DFC1-9A9B-4A45-A1F8-5BD312DE3DF5}"/>
              </a:ext>
            </a:extLst>
          </p:cNvPr>
          <p:cNvSpPr/>
          <p:nvPr/>
        </p:nvSpPr>
        <p:spPr bwMode="gray">
          <a:xfrm>
            <a:off x="7117818" y="121953"/>
            <a:ext cx="1566373"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Hub</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站点可靠性设计</a:t>
            </a:r>
          </a:p>
        </p:txBody>
      </p:sp>
      <p:sp>
        <p:nvSpPr>
          <p:cNvPr id="71" name="燕尾形 3">
            <a:extLst>
              <a:ext uri="{FF2B5EF4-FFF2-40B4-BE49-F238E27FC236}">
                <a16:creationId xmlns:a16="http://schemas.microsoft.com/office/drawing/2014/main" id="{704FB2C0-51A9-45F5-89FA-96CF25422FBD}"/>
              </a:ext>
            </a:extLst>
          </p:cNvPr>
          <p:cNvSpPr/>
          <p:nvPr/>
        </p:nvSpPr>
        <p:spPr bwMode="gray">
          <a:xfrm>
            <a:off x="10145511" y="121953"/>
            <a:ext cx="160357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IWG</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燕尾形 3">
            <a:extLst>
              <a:ext uri="{FF2B5EF4-FFF2-40B4-BE49-F238E27FC236}">
                <a16:creationId xmlns:a16="http://schemas.microsoft.com/office/drawing/2014/main" id="{1A804F15-8578-45A9-9F12-887F4ACF9BA4}"/>
              </a:ext>
            </a:extLst>
          </p:cNvPr>
          <p:cNvSpPr/>
          <p:nvPr/>
        </p:nvSpPr>
        <p:spPr bwMode="gray">
          <a:xfrm>
            <a:off x="8603744" y="121953"/>
            <a:ext cx="162452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站点可靠性设计</a:t>
            </a:r>
          </a:p>
        </p:txBody>
      </p:sp>
    </p:spTree>
    <p:extLst>
      <p:ext uri="{BB962C8B-B14F-4D97-AF65-F5344CB8AC3E}">
        <p14:creationId xmlns:p14="http://schemas.microsoft.com/office/powerpoint/2010/main" val="32829094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Freeform 159">
            <a:extLst>
              <a:ext uri="{FF2B5EF4-FFF2-40B4-BE49-F238E27FC236}">
                <a16:creationId xmlns:a16="http://schemas.microsoft.com/office/drawing/2014/main" id="{7F989916-98FA-46E5-AA15-9FE4235A768F}"/>
              </a:ext>
            </a:extLst>
          </p:cNvPr>
          <p:cNvSpPr/>
          <p:nvPr/>
        </p:nvSpPr>
        <p:spPr bwMode="gray">
          <a:xfrm flipH="1">
            <a:off x="1367678" y="2808211"/>
            <a:ext cx="953866" cy="49861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133" name="Freeform 159">
            <a:extLst>
              <a:ext uri="{FF2B5EF4-FFF2-40B4-BE49-F238E27FC236}">
                <a16:creationId xmlns:a16="http://schemas.microsoft.com/office/drawing/2014/main" id="{80AA7641-B795-4222-BF34-6961A959E0EF}"/>
              </a:ext>
            </a:extLst>
          </p:cNvPr>
          <p:cNvSpPr/>
          <p:nvPr/>
        </p:nvSpPr>
        <p:spPr bwMode="gray">
          <a:xfrm flipH="1">
            <a:off x="1367678" y="5227740"/>
            <a:ext cx="953866" cy="49861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134" name="Freeform 159">
            <a:extLst>
              <a:ext uri="{FF2B5EF4-FFF2-40B4-BE49-F238E27FC236}">
                <a16:creationId xmlns:a16="http://schemas.microsoft.com/office/drawing/2014/main" id="{6F25EEE1-6A6C-4D21-9159-034EC49F544F}"/>
              </a:ext>
            </a:extLst>
          </p:cNvPr>
          <p:cNvSpPr/>
          <p:nvPr/>
        </p:nvSpPr>
        <p:spPr bwMode="gray">
          <a:xfrm flipH="1">
            <a:off x="10148651" y="4145585"/>
            <a:ext cx="953866" cy="49861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rPr>
              <a:t>分支</a:t>
            </a:r>
            <a:endParaRPr lang="en-US" altLang="zh-CN" sz="1400" kern="0" dirty="0">
              <a:solidFill>
                <a:srgbClr val="000000"/>
              </a:solidFill>
              <a:latin typeface="Huawei Sans" panose="020C0503030203020204" pitchFamily="34" charset="0"/>
              <a:ea typeface="方正兰亭黑简体" panose="02000000000000000000" pitchFamily="2" charset="-122"/>
            </a:endParaRPr>
          </a:p>
        </p:txBody>
      </p:sp>
      <p:sp>
        <p:nvSpPr>
          <p:cNvPr id="3" name="Text Placeholder 2">
            <a:extLst>
              <a:ext uri="{FF2B5EF4-FFF2-40B4-BE49-F238E27FC236}">
                <a16:creationId xmlns:a16="http://schemas.microsoft.com/office/drawing/2014/main" id="{BAC8A782-37FB-4F18-8009-4FA629DFAB73}"/>
              </a:ext>
            </a:extLst>
          </p:cNvPr>
          <p:cNvSpPr>
            <a:spLocks noGrp="1"/>
          </p:cNvSpPr>
          <p:nvPr>
            <p:ph type="body" sz="quarter" idx="10"/>
          </p:nvPr>
        </p:nvSpPr>
        <p:spPr bwMode="gray"/>
        <p:txBody>
          <a:bodyPr/>
          <a:lstStyle/>
          <a:p>
            <a:r>
              <a:rPr lang="zh-CN" altLang="en-US" sz="1800" dirty="0"/>
              <a:t>分支站点指定连接主</a:t>
            </a:r>
            <a:r>
              <a:rPr lang="en-US" altLang="zh-CN" sz="1800" dirty="0"/>
              <a:t>/</a:t>
            </a:r>
            <a:r>
              <a:rPr lang="zh-CN" altLang="en-US" sz="1800" dirty="0"/>
              <a:t>备</a:t>
            </a:r>
            <a:r>
              <a:rPr lang="en-US" altLang="zh-CN" sz="1800" dirty="0"/>
              <a:t>IWG</a:t>
            </a:r>
            <a:r>
              <a:rPr lang="zh-CN" altLang="en-US" sz="1800" dirty="0"/>
              <a:t>，分别建立</a:t>
            </a:r>
            <a:r>
              <a:rPr lang="en-US" altLang="zh-CN" sz="1800" dirty="0"/>
              <a:t>IWG Active</a:t>
            </a:r>
            <a:r>
              <a:rPr lang="zh-CN" altLang="en-US" sz="1800" dirty="0"/>
              <a:t>隧道，自动编排</a:t>
            </a:r>
            <a:r>
              <a:rPr lang="en-US" altLang="zh-CN" sz="1800" dirty="0"/>
              <a:t>BGP</a:t>
            </a:r>
            <a:r>
              <a:rPr lang="zh-CN" altLang="en-US" sz="1800" dirty="0"/>
              <a:t>路由策略，控制分支发布来自传统网络的</a:t>
            </a:r>
            <a:r>
              <a:rPr lang="en-US" altLang="zh-CN" sz="1800" dirty="0"/>
              <a:t>BGP</a:t>
            </a:r>
            <a:r>
              <a:rPr lang="zh-CN" altLang="en-US" sz="1800" dirty="0"/>
              <a:t>路由优先级。</a:t>
            </a:r>
            <a:endParaRPr lang="en-US" altLang="zh-CN" sz="1800" dirty="0"/>
          </a:p>
          <a:p>
            <a:r>
              <a:rPr lang="zh-CN" altLang="en-US" sz="1800" dirty="0"/>
              <a:t>主</a:t>
            </a:r>
            <a:r>
              <a:rPr lang="en-US" altLang="zh-CN" sz="1800" dirty="0"/>
              <a:t>IWG</a:t>
            </a:r>
            <a:r>
              <a:rPr lang="zh-CN" altLang="en-US" sz="1800" dirty="0"/>
              <a:t>的优先级高于备</a:t>
            </a:r>
            <a:r>
              <a:rPr lang="en-US" altLang="zh-CN" sz="1800" dirty="0"/>
              <a:t>IWG</a:t>
            </a:r>
            <a:r>
              <a:rPr lang="zh-CN" altLang="en-US" sz="1800" dirty="0"/>
              <a:t>。</a:t>
            </a:r>
            <a:endParaRPr lang="en-US" sz="1800" dirty="0"/>
          </a:p>
        </p:txBody>
      </p:sp>
      <p:sp>
        <p:nvSpPr>
          <p:cNvPr id="2" name="Title 1">
            <a:extLst>
              <a:ext uri="{FF2B5EF4-FFF2-40B4-BE49-F238E27FC236}">
                <a16:creationId xmlns:a16="http://schemas.microsoft.com/office/drawing/2014/main" id="{7F96DD29-8B2C-4CD6-8A6E-B6E958545163}"/>
              </a:ext>
            </a:extLst>
          </p:cNvPr>
          <p:cNvSpPr>
            <a:spLocks noGrp="1"/>
          </p:cNvSpPr>
          <p:nvPr>
            <p:ph type="title"/>
          </p:nvPr>
        </p:nvSpPr>
        <p:spPr bwMode="gray"/>
        <p:txBody>
          <a:bodyPr/>
          <a:lstStyle/>
          <a:p>
            <a:r>
              <a:rPr lang="en-US" dirty="0"/>
              <a:t>IWG</a:t>
            </a:r>
            <a:r>
              <a:rPr lang="zh-CN" altLang="en-US" dirty="0"/>
              <a:t>可靠性设计</a:t>
            </a:r>
            <a:endParaRPr lang="en-US" dirty="0"/>
          </a:p>
        </p:txBody>
      </p:sp>
      <p:pic>
        <p:nvPicPr>
          <p:cNvPr id="61" name="Picture 12" descr="E:\2016.01\1.12 扁平化图标\蓝色\AR-蓝色最新-40.png">
            <a:extLst>
              <a:ext uri="{FF2B5EF4-FFF2-40B4-BE49-F238E27FC236}">
                <a16:creationId xmlns:a16="http://schemas.microsoft.com/office/drawing/2014/main" id="{44E23C96-7EC3-4131-A1A7-E9BBA5430F48}"/>
              </a:ext>
            </a:extLst>
          </p:cNvPr>
          <p:cNvPicPr>
            <a:picLocks noChangeAspect="1" noChangeArrowheads="1"/>
          </p:cNvPicPr>
          <p:nvPr/>
        </p:nvPicPr>
        <p:blipFill>
          <a:blip r:embed="rId3" cstate="print"/>
          <a:srcRect/>
          <a:stretch>
            <a:fillRect/>
          </a:stretch>
        </p:blipFill>
        <p:spPr bwMode="gray">
          <a:xfrm>
            <a:off x="2248442" y="2899707"/>
            <a:ext cx="474524" cy="388247"/>
          </a:xfrm>
          <a:prstGeom prst="rect">
            <a:avLst/>
          </a:prstGeom>
          <a:noFill/>
        </p:spPr>
      </p:pic>
      <p:pic>
        <p:nvPicPr>
          <p:cNvPr id="62" name="Picture 12" descr="E:\2016.01\1.12 扁平化图标\蓝色\AR-蓝色最新-40.png">
            <a:extLst>
              <a:ext uri="{FF2B5EF4-FFF2-40B4-BE49-F238E27FC236}">
                <a16:creationId xmlns:a16="http://schemas.microsoft.com/office/drawing/2014/main" id="{D083FE48-ED9C-471C-B4B3-C9088410DB5F}"/>
              </a:ext>
            </a:extLst>
          </p:cNvPr>
          <p:cNvPicPr>
            <a:picLocks noChangeAspect="1" noChangeArrowheads="1"/>
          </p:cNvPicPr>
          <p:nvPr/>
        </p:nvPicPr>
        <p:blipFill>
          <a:blip r:embed="rId3" cstate="print"/>
          <a:srcRect/>
          <a:stretch>
            <a:fillRect/>
          </a:stretch>
        </p:blipFill>
        <p:spPr bwMode="gray">
          <a:xfrm>
            <a:off x="2248442" y="5328582"/>
            <a:ext cx="474524" cy="388247"/>
          </a:xfrm>
          <a:prstGeom prst="rect">
            <a:avLst/>
          </a:prstGeom>
          <a:noFill/>
        </p:spPr>
      </p:pic>
      <p:pic>
        <p:nvPicPr>
          <p:cNvPr id="63" name="Picture 12" descr="E:\2016.01\1.12 扁平化图标\蓝色\AR-蓝色最新-40.png">
            <a:extLst>
              <a:ext uri="{FF2B5EF4-FFF2-40B4-BE49-F238E27FC236}">
                <a16:creationId xmlns:a16="http://schemas.microsoft.com/office/drawing/2014/main" id="{C02B7D70-8836-4FD4-96E6-DD6B64DBD8E0}"/>
              </a:ext>
            </a:extLst>
          </p:cNvPr>
          <p:cNvPicPr>
            <a:picLocks noChangeAspect="1" noChangeArrowheads="1"/>
          </p:cNvPicPr>
          <p:nvPr/>
        </p:nvPicPr>
        <p:blipFill>
          <a:blip r:embed="rId3" cstate="print"/>
          <a:srcRect/>
          <a:stretch>
            <a:fillRect/>
          </a:stretch>
        </p:blipFill>
        <p:spPr bwMode="gray">
          <a:xfrm>
            <a:off x="4955268" y="3440354"/>
            <a:ext cx="474524" cy="388247"/>
          </a:xfrm>
          <a:prstGeom prst="rect">
            <a:avLst/>
          </a:prstGeom>
          <a:noFill/>
        </p:spPr>
      </p:pic>
      <p:pic>
        <p:nvPicPr>
          <p:cNvPr id="64" name="Picture 12" descr="E:\2016.01\1.12 扁平化图标\蓝色\AR-蓝色最新-40.png">
            <a:extLst>
              <a:ext uri="{FF2B5EF4-FFF2-40B4-BE49-F238E27FC236}">
                <a16:creationId xmlns:a16="http://schemas.microsoft.com/office/drawing/2014/main" id="{1BFF8211-CB68-48E4-A234-7D2FDD8DEC49}"/>
              </a:ext>
            </a:extLst>
          </p:cNvPr>
          <p:cNvPicPr>
            <a:picLocks noChangeAspect="1" noChangeArrowheads="1"/>
          </p:cNvPicPr>
          <p:nvPr/>
        </p:nvPicPr>
        <p:blipFill>
          <a:blip r:embed="rId3" cstate="print"/>
          <a:srcRect/>
          <a:stretch>
            <a:fillRect/>
          </a:stretch>
        </p:blipFill>
        <p:spPr bwMode="gray">
          <a:xfrm>
            <a:off x="4955268" y="4940335"/>
            <a:ext cx="474524" cy="388247"/>
          </a:xfrm>
          <a:prstGeom prst="rect">
            <a:avLst/>
          </a:prstGeom>
          <a:noFill/>
        </p:spPr>
      </p:pic>
      <p:pic>
        <p:nvPicPr>
          <p:cNvPr id="65" name="Picture 12" descr="E:\2016.01\1.12 扁平化图标\蓝色\AR-蓝色最新-40.png">
            <a:extLst>
              <a:ext uri="{FF2B5EF4-FFF2-40B4-BE49-F238E27FC236}">
                <a16:creationId xmlns:a16="http://schemas.microsoft.com/office/drawing/2014/main" id="{7091E08B-43C9-44DE-94F0-55B977924538}"/>
              </a:ext>
            </a:extLst>
          </p:cNvPr>
          <p:cNvPicPr>
            <a:picLocks noChangeAspect="1" noChangeArrowheads="1"/>
          </p:cNvPicPr>
          <p:nvPr/>
        </p:nvPicPr>
        <p:blipFill>
          <a:blip r:embed="rId3" cstate="print"/>
          <a:srcRect/>
          <a:stretch>
            <a:fillRect/>
          </a:stretch>
        </p:blipFill>
        <p:spPr bwMode="gray">
          <a:xfrm>
            <a:off x="6260193" y="3440353"/>
            <a:ext cx="474524" cy="388247"/>
          </a:xfrm>
          <a:prstGeom prst="rect">
            <a:avLst/>
          </a:prstGeom>
          <a:noFill/>
        </p:spPr>
      </p:pic>
      <p:pic>
        <p:nvPicPr>
          <p:cNvPr id="66" name="Picture 12" descr="E:\2016.01\1.12 扁平化图标\蓝色\AR-蓝色最新-40.png">
            <a:extLst>
              <a:ext uri="{FF2B5EF4-FFF2-40B4-BE49-F238E27FC236}">
                <a16:creationId xmlns:a16="http://schemas.microsoft.com/office/drawing/2014/main" id="{B7BC89B7-715E-49B8-9CFF-58F0D46E646B}"/>
              </a:ext>
            </a:extLst>
          </p:cNvPr>
          <p:cNvPicPr>
            <a:picLocks noChangeAspect="1" noChangeArrowheads="1"/>
          </p:cNvPicPr>
          <p:nvPr/>
        </p:nvPicPr>
        <p:blipFill>
          <a:blip r:embed="rId3" cstate="print"/>
          <a:srcRect/>
          <a:stretch>
            <a:fillRect/>
          </a:stretch>
        </p:blipFill>
        <p:spPr bwMode="gray">
          <a:xfrm>
            <a:off x="6260193" y="4940334"/>
            <a:ext cx="474524" cy="388247"/>
          </a:xfrm>
          <a:prstGeom prst="rect">
            <a:avLst/>
          </a:prstGeom>
          <a:noFill/>
        </p:spPr>
      </p:pic>
      <p:pic>
        <p:nvPicPr>
          <p:cNvPr id="67" name="Picture 12" descr="E:\2016.01\1.12 扁平化图标\蓝色\AR-蓝色最新-40.png">
            <a:extLst>
              <a:ext uri="{FF2B5EF4-FFF2-40B4-BE49-F238E27FC236}">
                <a16:creationId xmlns:a16="http://schemas.microsoft.com/office/drawing/2014/main" id="{B99AF664-9086-435F-A223-07AE33D443AB}"/>
              </a:ext>
            </a:extLst>
          </p:cNvPr>
          <p:cNvPicPr>
            <a:picLocks noChangeAspect="1" noChangeArrowheads="1"/>
          </p:cNvPicPr>
          <p:nvPr/>
        </p:nvPicPr>
        <p:blipFill>
          <a:blip r:embed="rId3" cstate="print"/>
          <a:srcRect/>
          <a:stretch>
            <a:fillRect/>
          </a:stretch>
        </p:blipFill>
        <p:spPr bwMode="gray">
          <a:xfrm>
            <a:off x="8849267" y="4227068"/>
            <a:ext cx="474524" cy="388247"/>
          </a:xfrm>
          <a:prstGeom prst="rect">
            <a:avLst/>
          </a:prstGeom>
          <a:noFill/>
        </p:spPr>
      </p:pic>
      <p:pic>
        <p:nvPicPr>
          <p:cNvPr id="68" name="Picture 12" descr="E:\2016.01\1.12 扁平化图标\蓝色\AR-蓝色最新-40.png">
            <a:extLst>
              <a:ext uri="{FF2B5EF4-FFF2-40B4-BE49-F238E27FC236}">
                <a16:creationId xmlns:a16="http://schemas.microsoft.com/office/drawing/2014/main" id="{AB065F4E-10BA-49B7-87E3-81818327F0B5}"/>
              </a:ext>
            </a:extLst>
          </p:cNvPr>
          <p:cNvPicPr>
            <a:picLocks noChangeAspect="1" noChangeArrowheads="1"/>
          </p:cNvPicPr>
          <p:nvPr/>
        </p:nvPicPr>
        <p:blipFill>
          <a:blip r:embed="rId3" cstate="print"/>
          <a:srcRect/>
          <a:stretch>
            <a:fillRect/>
          </a:stretch>
        </p:blipFill>
        <p:spPr bwMode="gray">
          <a:xfrm>
            <a:off x="9850897" y="4227068"/>
            <a:ext cx="474524" cy="388247"/>
          </a:xfrm>
          <a:prstGeom prst="rect">
            <a:avLst/>
          </a:prstGeom>
          <a:noFill/>
        </p:spPr>
      </p:pic>
      <p:sp>
        <p:nvSpPr>
          <p:cNvPr id="69" name="Freeform 159">
            <a:extLst>
              <a:ext uri="{FF2B5EF4-FFF2-40B4-BE49-F238E27FC236}">
                <a16:creationId xmlns:a16="http://schemas.microsoft.com/office/drawing/2014/main" id="{D3DC748E-F55E-4330-A5D1-D8D25B0C9FD2}"/>
              </a:ext>
            </a:extLst>
          </p:cNvPr>
          <p:cNvSpPr/>
          <p:nvPr/>
        </p:nvSpPr>
        <p:spPr bwMode="gray">
          <a:xfrm flipH="1">
            <a:off x="3273052" y="3297363"/>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sp>
        <p:nvSpPr>
          <p:cNvPr id="70" name="Freeform 159">
            <a:extLst>
              <a:ext uri="{FF2B5EF4-FFF2-40B4-BE49-F238E27FC236}">
                <a16:creationId xmlns:a16="http://schemas.microsoft.com/office/drawing/2014/main" id="{DF333450-5581-4655-B017-5CB3F559F674}"/>
              </a:ext>
            </a:extLst>
          </p:cNvPr>
          <p:cNvSpPr/>
          <p:nvPr/>
        </p:nvSpPr>
        <p:spPr bwMode="gray">
          <a:xfrm flipH="1">
            <a:off x="3273052" y="4793496"/>
            <a:ext cx="950752" cy="4969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Internet</a:t>
            </a:r>
          </a:p>
        </p:txBody>
      </p:sp>
      <p:sp>
        <p:nvSpPr>
          <p:cNvPr id="71" name="Freeform 159">
            <a:extLst>
              <a:ext uri="{FF2B5EF4-FFF2-40B4-BE49-F238E27FC236}">
                <a16:creationId xmlns:a16="http://schemas.microsoft.com/office/drawing/2014/main" id="{0E9EE870-04EC-433A-85B0-0032824FD8A6}"/>
              </a:ext>
            </a:extLst>
          </p:cNvPr>
          <p:cNvSpPr/>
          <p:nvPr/>
        </p:nvSpPr>
        <p:spPr bwMode="gray">
          <a:xfrm flipH="1">
            <a:off x="7062651" y="3930259"/>
            <a:ext cx="1369825" cy="71604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rPr>
              <a:t>MPLS</a:t>
            </a:r>
          </a:p>
        </p:txBody>
      </p:sp>
      <p:cxnSp>
        <p:nvCxnSpPr>
          <p:cNvPr id="72" name="直接连接符 37">
            <a:extLst>
              <a:ext uri="{FF2B5EF4-FFF2-40B4-BE49-F238E27FC236}">
                <a16:creationId xmlns:a16="http://schemas.microsoft.com/office/drawing/2014/main" id="{121114A6-2EEA-4AE4-A472-4F24FBD11A71}"/>
              </a:ext>
            </a:extLst>
          </p:cNvPr>
          <p:cNvCxnSpPr>
            <a:cxnSpLocks/>
            <a:stCxn id="61" idx="3"/>
            <a:endCxn id="69" idx="21"/>
          </p:cNvCxnSpPr>
          <p:nvPr/>
        </p:nvCxnSpPr>
        <p:spPr bwMode="gray">
          <a:xfrm>
            <a:off x="2722966" y="3093831"/>
            <a:ext cx="550086" cy="55196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37">
            <a:extLst>
              <a:ext uri="{FF2B5EF4-FFF2-40B4-BE49-F238E27FC236}">
                <a16:creationId xmlns:a16="http://schemas.microsoft.com/office/drawing/2014/main" id="{F2E2A77B-FDF1-4D50-AC21-A9A67CCA6A06}"/>
              </a:ext>
            </a:extLst>
          </p:cNvPr>
          <p:cNvCxnSpPr>
            <a:cxnSpLocks/>
            <a:stCxn id="62" idx="3"/>
            <a:endCxn id="70" idx="21"/>
          </p:cNvCxnSpPr>
          <p:nvPr/>
        </p:nvCxnSpPr>
        <p:spPr bwMode="gray">
          <a:xfrm flipV="1">
            <a:off x="2722966" y="5141931"/>
            <a:ext cx="550086" cy="380775"/>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连接符 37">
            <a:extLst>
              <a:ext uri="{FF2B5EF4-FFF2-40B4-BE49-F238E27FC236}">
                <a16:creationId xmlns:a16="http://schemas.microsoft.com/office/drawing/2014/main" id="{35CEBBC1-5F60-4E7B-A347-60CAD357AED4}"/>
              </a:ext>
            </a:extLst>
          </p:cNvPr>
          <p:cNvCxnSpPr>
            <a:cxnSpLocks/>
            <a:stCxn id="63" idx="1"/>
            <a:endCxn id="69" idx="8"/>
          </p:cNvCxnSpPr>
          <p:nvPr/>
        </p:nvCxnSpPr>
        <p:spPr bwMode="gray">
          <a:xfrm flipH="1">
            <a:off x="4223804" y="3634478"/>
            <a:ext cx="731464" cy="2274"/>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直接连接符 37">
            <a:extLst>
              <a:ext uri="{FF2B5EF4-FFF2-40B4-BE49-F238E27FC236}">
                <a16:creationId xmlns:a16="http://schemas.microsoft.com/office/drawing/2014/main" id="{1ABEED8B-2DDD-46A2-819D-E4300363A2C4}"/>
              </a:ext>
            </a:extLst>
          </p:cNvPr>
          <p:cNvCxnSpPr>
            <a:cxnSpLocks/>
            <a:stCxn id="64" idx="1"/>
            <a:endCxn id="70" idx="8"/>
          </p:cNvCxnSpPr>
          <p:nvPr/>
        </p:nvCxnSpPr>
        <p:spPr bwMode="gray">
          <a:xfrm flipH="1" flipV="1">
            <a:off x="4223804" y="5132885"/>
            <a:ext cx="731464" cy="1574"/>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连接符 37">
            <a:extLst>
              <a:ext uri="{FF2B5EF4-FFF2-40B4-BE49-F238E27FC236}">
                <a16:creationId xmlns:a16="http://schemas.microsoft.com/office/drawing/2014/main" id="{B26E799A-2ECF-435A-93B1-4EFDE9EFE6A4}"/>
              </a:ext>
            </a:extLst>
          </p:cNvPr>
          <p:cNvCxnSpPr>
            <a:cxnSpLocks/>
            <a:stCxn id="61" idx="3"/>
            <a:endCxn id="70" idx="21"/>
          </p:cNvCxnSpPr>
          <p:nvPr/>
        </p:nvCxnSpPr>
        <p:spPr bwMode="gray">
          <a:xfrm>
            <a:off x="2722966" y="3093831"/>
            <a:ext cx="550086" cy="2048100"/>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37">
            <a:extLst>
              <a:ext uri="{FF2B5EF4-FFF2-40B4-BE49-F238E27FC236}">
                <a16:creationId xmlns:a16="http://schemas.microsoft.com/office/drawing/2014/main" id="{DE3B2949-C9CB-46E8-BD84-DE587864117C}"/>
              </a:ext>
            </a:extLst>
          </p:cNvPr>
          <p:cNvCxnSpPr>
            <a:cxnSpLocks/>
            <a:stCxn id="62" idx="3"/>
            <a:endCxn id="69" idx="21"/>
          </p:cNvCxnSpPr>
          <p:nvPr/>
        </p:nvCxnSpPr>
        <p:spPr bwMode="gray">
          <a:xfrm flipV="1">
            <a:off x="2722966" y="3645798"/>
            <a:ext cx="550086" cy="1876908"/>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37">
            <a:extLst>
              <a:ext uri="{FF2B5EF4-FFF2-40B4-BE49-F238E27FC236}">
                <a16:creationId xmlns:a16="http://schemas.microsoft.com/office/drawing/2014/main" id="{9782A742-1580-4B27-A92A-6DF562E282F9}"/>
              </a:ext>
            </a:extLst>
          </p:cNvPr>
          <p:cNvCxnSpPr>
            <a:cxnSpLocks/>
            <a:stCxn id="65" idx="1"/>
            <a:endCxn id="63" idx="3"/>
          </p:cNvCxnSpPr>
          <p:nvPr/>
        </p:nvCxnSpPr>
        <p:spPr bwMode="gray">
          <a:xfrm flipH="1">
            <a:off x="5429792" y="3634477"/>
            <a:ext cx="830401" cy="1"/>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连接符 37">
            <a:extLst>
              <a:ext uri="{FF2B5EF4-FFF2-40B4-BE49-F238E27FC236}">
                <a16:creationId xmlns:a16="http://schemas.microsoft.com/office/drawing/2014/main" id="{ED268B11-4422-4A34-A345-A6CCAAEF3E38}"/>
              </a:ext>
            </a:extLst>
          </p:cNvPr>
          <p:cNvCxnSpPr>
            <a:cxnSpLocks/>
            <a:stCxn id="66" idx="1"/>
            <a:endCxn id="64" idx="3"/>
          </p:cNvCxnSpPr>
          <p:nvPr/>
        </p:nvCxnSpPr>
        <p:spPr bwMode="gray">
          <a:xfrm flipH="1">
            <a:off x="5429792" y="5134458"/>
            <a:ext cx="830401" cy="1"/>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直接连接符 37">
            <a:extLst>
              <a:ext uri="{FF2B5EF4-FFF2-40B4-BE49-F238E27FC236}">
                <a16:creationId xmlns:a16="http://schemas.microsoft.com/office/drawing/2014/main" id="{2DB8B6B6-062B-4DBB-96F7-5DF8956F72BC}"/>
              </a:ext>
            </a:extLst>
          </p:cNvPr>
          <p:cNvCxnSpPr>
            <a:cxnSpLocks/>
            <a:stCxn id="64" idx="1"/>
            <a:endCxn id="69" idx="8"/>
          </p:cNvCxnSpPr>
          <p:nvPr/>
        </p:nvCxnSpPr>
        <p:spPr bwMode="gray">
          <a:xfrm flipH="1" flipV="1">
            <a:off x="4223804" y="3636752"/>
            <a:ext cx="731464" cy="149770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直接连接符 37">
            <a:extLst>
              <a:ext uri="{FF2B5EF4-FFF2-40B4-BE49-F238E27FC236}">
                <a16:creationId xmlns:a16="http://schemas.microsoft.com/office/drawing/2014/main" id="{665A34FB-7915-4FFE-AD39-8FFF0ED51803}"/>
              </a:ext>
            </a:extLst>
          </p:cNvPr>
          <p:cNvCxnSpPr>
            <a:cxnSpLocks/>
            <a:stCxn id="70" idx="8"/>
            <a:endCxn id="63" idx="1"/>
          </p:cNvCxnSpPr>
          <p:nvPr/>
        </p:nvCxnSpPr>
        <p:spPr bwMode="gray">
          <a:xfrm flipV="1">
            <a:off x="4223804" y="3634478"/>
            <a:ext cx="731464" cy="149840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直接连接符 37">
            <a:extLst>
              <a:ext uri="{FF2B5EF4-FFF2-40B4-BE49-F238E27FC236}">
                <a16:creationId xmlns:a16="http://schemas.microsoft.com/office/drawing/2014/main" id="{0025C34C-9D9A-48A5-ACED-DE33C3650E8A}"/>
              </a:ext>
            </a:extLst>
          </p:cNvPr>
          <p:cNvCxnSpPr>
            <a:cxnSpLocks/>
            <a:stCxn id="65" idx="3"/>
            <a:endCxn id="71" idx="24"/>
          </p:cNvCxnSpPr>
          <p:nvPr/>
        </p:nvCxnSpPr>
        <p:spPr bwMode="gray">
          <a:xfrm>
            <a:off x="6734717" y="3634477"/>
            <a:ext cx="532821" cy="568940"/>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直接连接符 37">
            <a:extLst>
              <a:ext uri="{FF2B5EF4-FFF2-40B4-BE49-F238E27FC236}">
                <a16:creationId xmlns:a16="http://schemas.microsoft.com/office/drawing/2014/main" id="{EC68C945-64DB-41F6-ABD4-3E4513F4A65E}"/>
              </a:ext>
            </a:extLst>
          </p:cNvPr>
          <p:cNvCxnSpPr>
            <a:cxnSpLocks/>
            <a:stCxn id="66" idx="3"/>
            <a:endCxn id="71" idx="18"/>
          </p:cNvCxnSpPr>
          <p:nvPr/>
        </p:nvCxnSpPr>
        <p:spPr bwMode="gray">
          <a:xfrm flipV="1">
            <a:off x="6734717" y="4646307"/>
            <a:ext cx="526635" cy="488151"/>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直接连接符 37">
            <a:extLst>
              <a:ext uri="{FF2B5EF4-FFF2-40B4-BE49-F238E27FC236}">
                <a16:creationId xmlns:a16="http://schemas.microsoft.com/office/drawing/2014/main" id="{CA90E62E-E1C9-41D9-8358-FC5C82BE7369}"/>
              </a:ext>
            </a:extLst>
          </p:cNvPr>
          <p:cNvCxnSpPr>
            <a:cxnSpLocks/>
            <a:stCxn id="67" idx="1"/>
            <a:endCxn id="71" idx="8"/>
          </p:cNvCxnSpPr>
          <p:nvPr/>
        </p:nvCxnSpPr>
        <p:spPr bwMode="gray">
          <a:xfrm flipH="1" flipV="1">
            <a:off x="8432476" y="4419245"/>
            <a:ext cx="416791" cy="1947"/>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直接连接符 37">
            <a:extLst>
              <a:ext uri="{FF2B5EF4-FFF2-40B4-BE49-F238E27FC236}">
                <a16:creationId xmlns:a16="http://schemas.microsoft.com/office/drawing/2014/main" id="{40D4E143-81A0-46B7-A9A7-059EDEAD0044}"/>
              </a:ext>
            </a:extLst>
          </p:cNvPr>
          <p:cNvCxnSpPr>
            <a:cxnSpLocks/>
            <a:stCxn id="68" idx="1"/>
            <a:endCxn id="67" idx="3"/>
          </p:cNvCxnSpPr>
          <p:nvPr/>
        </p:nvCxnSpPr>
        <p:spPr bwMode="gray">
          <a:xfrm flipH="1">
            <a:off x="9323791" y="4421192"/>
            <a:ext cx="527106" cy="0"/>
          </a:xfrm>
          <a:prstGeom prst="line">
            <a:avLst/>
          </a:prstGeom>
          <a:noFill/>
          <a:ln w="19050" cap="flat" cmpd="sng" algn="ctr">
            <a:solidFill>
              <a:schemeClr val="bg2">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 name="文本框 26">
            <a:extLst>
              <a:ext uri="{FF2B5EF4-FFF2-40B4-BE49-F238E27FC236}">
                <a16:creationId xmlns:a16="http://schemas.microsoft.com/office/drawing/2014/main" id="{64D819BD-AC5E-407B-A876-94CCF0D4014F}"/>
              </a:ext>
            </a:extLst>
          </p:cNvPr>
          <p:cNvSpPr txBox="1"/>
          <p:nvPr/>
        </p:nvSpPr>
        <p:spPr bwMode="gray">
          <a:xfrm>
            <a:off x="2195818" y="5083893"/>
            <a:ext cx="582908" cy="276999"/>
          </a:xfrm>
          <a:prstGeom prst="rect">
            <a:avLst/>
          </a:prstGeom>
          <a:noFill/>
        </p:spPr>
        <p:txBody>
          <a:bodyPr wrap="square" rtlCol="0">
            <a:spAutoFit/>
          </a:bodyPr>
          <a:lstStyle/>
          <a:p>
            <a:pPr algn="ctr"/>
            <a:r>
              <a:rPr lang="en-US" altLang="zh-CN" sz="1200">
                <a:solidFill>
                  <a:srgbClr val="000000"/>
                </a:solidFill>
              </a:rPr>
              <a:t>EDGE</a:t>
            </a:r>
            <a:endParaRPr lang="zh-CN" altLang="en-US" sz="1200" dirty="0">
              <a:solidFill>
                <a:srgbClr val="000000"/>
              </a:solidFill>
            </a:endParaRPr>
          </a:p>
        </p:txBody>
      </p:sp>
      <p:sp>
        <p:nvSpPr>
          <p:cNvPr id="136" name="文本框 26">
            <a:extLst>
              <a:ext uri="{FF2B5EF4-FFF2-40B4-BE49-F238E27FC236}">
                <a16:creationId xmlns:a16="http://schemas.microsoft.com/office/drawing/2014/main" id="{042A45B8-5491-42D0-8016-1773668D91D2}"/>
              </a:ext>
            </a:extLst>
          </p:cNvPr>
          <p:cNvSpPr txBox="1"/>
          <p:nvPr/>
        </p:nvSpPr>
        <p:spPr bwMode="gray">
          <a:xfrm>
            <a:off x="2195229" y="2644378"/>
            <a:ext cx="576824" cy="276999"/>
          </a:xfrm>
          <a:prstGeom prst="rect">
            <a:avLst/>
          </a:prstGeom>
          <a:noFill/>
        </p:spPr>
        <p:txBody>
          <a:bodyPr wrap="square" rtlCol="0">
            <a:spAutoFit/>
          </a:bodyPr>
          <a:lstStyle/>
          <a:p>
            <a:pPr algn="ctr"/>
            <a:r>
              <a:rPr lang="en-US" altLang="zh-CN" sz="1200" dirty="0">
                <a:solidFill>
                  <a:srgbClr val="000000"/>
                </a:solidFill>
              </a:rPr>
              <a:t>EDGE</a:t>
            </a:r>
            <a:endParaRPr lang="zh-CN" altLang="en-US" sz="1200" dirty="0">
              <a:solidFill>
                <a:srgbClr val="000000"/>
              </a:solidFill>
            </a:endParaRPr>
          </a:p>
        </p:txBody>
      </p:sp>
      <p:sp>
        <p:nvSpPr>
          <p:cNvPr id="137" name="文本框 26">
            <a:extLst>
              <a:ext uri="{FF2B5EF4-FFF2-40B4-BE49-F238E27FC236}">
                <a16:creationId xmlns:a16="http://schemas.microsoft.com/office/drawing/2014/main" id="{9C12160A-0BA7-421D-A303-6803F71ACD81}"/>
              </a:ext>
            </a:extLst>
          </p:cNvPr>
          <p:cNvSpPr txBox="1"/>
          <p:nvPr/>
        </p:nvSpPr>
        <p:spPr bwMode="gray">
          <a:xfrm>
            <a:off x="4849920" y="3158863"/>
            <a:ext cx="685220" cy="276999"/>
          </a:xfrm>
          <a:prstGeom prst="rect">
            <a:avLst/>
          </a:prstGeom>
          <a:noFill/>
        </p:spPr>
        <p:txBody>
          <a:bodyPr wrap="square" rtlCol="0">
            <a:spAutoFit/>
          </a:bodyPr>
          <a:lstStyle/>
          <a:p>
            <a:pPr algn="ctr"/>
            <a:r>
              <a:rPr lang="zh-CN" altLang="en-US" sz="1200" dirty="0">
                <a:solidFill>
                  <a:srgbClr val="000000"/>
                </a:solidFill>
              </a:rPr>
              <a:t>主</a:t>
            </a:r>
            <a:r>
              <a:rPr lang="en-US" altLang="zh-CN" sz="1200" dirty="0">
                <a:solidFill>
                  <a:srgbClr val="000000"/>
                </a:solidFill>
              </a:rPr>
              <a:t>IWG</a:t>
            </a:r>
            <a:endParaRPr lang="zh-CN" altLang="en-US" sz="1200" dirty="0">
              <a:solidFill>
                <a:srgbClr val="000000"/>
              </a:solidFill>
            </a:endParaRPr>
          </a:p>
        </p:txBody>
      </p:sp>
      <p:sp>
        <p:nvSpPr>
          <p:cNvPr id="138" name="文本框 26">
            <a:extLst>
              <a:ext uri="{FF2B5EF4-FFF2-40B4-BE49-F238E27FC236}">
                <a16:creationId xmlns:a16="http://schemas.microsoft.com/office/drawing/2014/main" id="{E4808211-8FE3-402C-82D4-C895355055F6}"/>
              </a:ext>
            </a:extLst>
          </p:cNvPr>
          <p:cNvSpPr txBox="1"/>
          <p:nvPr/>
        </p:nvSpPr>
        <p:spPr bwMode="gray">
          <a:xfrm>
            <a:off x="4831946" y="4697840"/>
            <a:ext cx="685220" cy="276999"/>
          </a:xfrm>
          <a:prstGeom prst="rect">
            <a:avLst/>
          </a:prstGeom>
          <a:noFill/>
        </p:spPr>
        <p:txBody>
          <a:bodyPr wrap="square" rtlCol="0">
            <a:spAutoFit/>
          </a:bodyPr>
          <a:lstStyle/>
          <a:p>
            <a:pPr algn="ctr"/>
            <a:r>
              <a:rPr lang="zh-CN" altLang="en-US" sz="1200" dirty="0">
                <a:solidFill>
                  <a:srgbClr val="000000"/>
                </a:solidFill>
              </a:rPr>
              <a:t>备</a:t>
            </a:r>
            <a:r>
              <a:rPr lang="en-US" altLang="zh-CN" sz="1200" dirty="0">
                <a:solidFill>
                  <a:srgbClr val="000000"/>
                </a:solidFill>
              </a:rPr>
              <a:t>IWG</a:t>
            </a:r>
            <a:endParaRPr lang="zh-CN" altLang="en-US" sz="1200" dirty="0">
              <a:solidFill>
                <a:srgbClr val="000000"/>
              </a:solidFill>
            </a:endParaRPr>
          </a:p>
        </p:txBody>
      </p:sp>
      <p:sp>
        <p:nvSpPr>
          <p:cNvPr id="139" name="文本框 26">
            <a:extLst>
              <a:ext uri="{FF2B5EF4-FFF2-40B4-BE49-F238E27FC236}">
                <a16:creationId xmlns:a16="http://schemas.microsoft.com/office/drawing/2014/main" id="{B4B5CA27-DCA1-4BBD-BF28-5C74084A1E67}"/>
              </a:ext>
            </a:extLst>
          </p:cNvPr>
          <p:cNvSpPr txBox="1"/>
          <p:nvPr/>
        </p:nvSpPr>
        <p:spPr bwMode="gray">
          <a:xfrm>
            <a:off x="6118646" y="3181375"/>
            <a:ext cx="782385" cy="276999"/>
          </a:xfrm>
          <a:prstGeom prst="rect">
            <a:avLst/>
          </a:prstGeom>
          <a:noFill/>
        </p:spPr>
        <p:txBody>
          <a:bodyPr wrap="square" rtlCol="0">
            <a:spAutoFit/>
          </a:bodyPr>
          <a:lstStyle/>
          <a:p>
            <a:pPr algn="ctr"/>
            <a:r>
              <a:rPr lang="en-US" altLang="zh-CN" sz="1200" dirty="0">
                <a:solidFill>
                  <a:srgbClr val="000000"/>
                </a:solidFill>
              </a:rPr>
              <a:t>ASBR-PE</a:t>
            </a:r>
            <a:endParaRPr lang="zh-CN" altLang="en-US" sz="1200" dirty="0">
              <a:solidFill>
                <a:srgbClr val="000000"/>
              </a:solidFill>
            </a:endParaRPr>
          </a:p>
        </p:txBody>
      </p:sp>
      <p:sp>
        <p:nvSpPr>
          <p:cNvPr id="140" name="文本框 26">
            <a:extLst>
              <a:ext uri="{FF2B5EF4-FFF2-40B4-BE49-F238E27FC236}">
                <a16:creationId xmlns:a16="http://schemas.microsoft.com/office/drawing/2014/main" id="{5AE5B741-70AF-47DC-BB3A-57795C7A724B}"/>
              </a:ext>
            </a:extLst>
          </p:cNvPr>
          <p:cNvSpPr txBox="1"/>
          <p:nvPr/>
        </p:nvSpPr>
        <p:spPr bwMode="gray">
          <a:xfrm>
            <a:off x="6118646" y="4690067"/>
            <a:ext cx="782385" cy="276999"/>
          </a:xfrm>
          <a:prstGeom prst="rect">
            <a:avLst/>
          </a:prstGeom>
          <a:noFill/>
        </p:spPr>
        <p:txBody>
          <a:bodyPr wrap="square" rtlCol="0">
            <a:spAutoFit/>
          </a:bodyPr>
          <a:lstStyle/>
          <a:p>
            <a:pPr algn="ctr"/>
            <a:r>
              <a:rPr lang="en-US" altLang="zh-CN" sz="1200" dirty="0">
                <a:solidFill>
                  <a:srgbClr val="000000"/>
                </a:solidFill>
              </a:rPr>
              <a:t>ASBR-PE</a:t>
            </a:r>
            <a:endParaRPr lang="zh-CN" altLang="en-US" sz="1200" dirty="0">
              <a:solidFill>
                <a:srgbClr val="000000"/>
              </a:solidFill>
            </a:endParaRPr>
          </a:p>
        </p:txBody>
      </p:sp>
      <p:sp>
        <p:nvSpPr>
          <p:cNvPr id="141" name="文本框 26">
            <a:extLst>
              <a:ext uri="{FF2B5EF4-FFF2-40B4-BE49-F238E27FC236}">
                <a16:creationId xmlns:a16="http://schemas.microsoft.com/office/drawing/2014/main" id="{C2587B8C-5606-4EC0-976E-5AD70D50CE5E}"/>
              </a:ext>
            </a:extLst>
          </p:cNvPr>
          <p:cNvSpPr txBox="1"/>
          <p:nvPr/>
        </p:nvSpPr>
        <p:spPr bwMode="gray">
          <a:xfrm>
            <a:off x="8743919" y="3974268"/>
            <a:ext cx="685220" cy="276999"/>
          </a:xfrm>
          <a:prstGeom prst="rect">
            <a:avLst/>
          </a:prstGeom>
          <a:noFill/>
        </p:spPr>
        <p:txBody>
          <a:bodyPr wrap="square" rtlCol="0">
            <a:spAutoFit/>
          </a:bodyPr>
          <a:lstStyle/>
          <a:p>
            <a:pPr algn="ctr"/>
            <a:r>
              <a:rPr lang="en-US" altLang="zh-CN" sz="1200" dirty="0">
                <a:solidFill>
                  <a:srgbClr val="000000"/>
                </a:solidFill>
              </a:rPr>
              <a:t>PE</a:t>
            </a:r>
            <a:endParaRPr lang="zh-CN" altLang="en-US" sz="1200" dirty="0">
              <a:solidFill>
                <a:srgbClr val="000000"/>
              </a:solidFill>
            </a:endParaRPr>
          </a:p>
        </p:txBody>
      </p:sp>
      <p:sp>
        <p:nvSpPr>
          <p:cNvPr id="142" name="文本框 26">
            <a:extLst>
              <a:ext uri="{FF2B5EF4-FFF2-40B4-BE49-F238E27FC236}">
                <a16:creationId xmlns:a16="http://schemas.microsoft.com/office/drawing/2014/main" id="{8D7A71DF-4A68-4471-8346-EAA921728649}"/>
              </a:ext>
            </a:extLst>
          </p:cNvPr>
          <p:cNvSpPr txBox="1"/>
          <p:nvPr/>
        </p:nvSpPr>
        <p:spPr bwMode="gray">
          <a:xfrm>
            <a:off x="9821361" y="3969933"/>
            <a:ext cx="474524" cy="276999"/>
          </a:xfrm>
          <a:prstGeom prst="rect">
            <a:avLst/>
          </a:prstGeom>
          <a:noFill/>
        </p:spPr>
        <p:txBody>
          <a:bodyPr wrap="square" rtlCol="0">
            <a:spAutoFit/>
          </a:bodyPr>
          <a:lstStyle/>
          <a:p>
            <a:pPr algn="ctr"/>
            <a:r>
              <a:rPr lang="en-US" altLang="zh-CN" sz="1200" dirty="0">
                <a:solidFill>
                  <a:srgbClr val="000000"/>
                </a:solidFill>
              </a:rPr>
              <a:t>CE</a:t>
            </a:r>
            <a:endParaRPr lang="zh-CN" altLang="en-US" sz="1200" dirty="0">
              <a:solidFill>
                <a:srgbClr val="000000"/>
              </a:solidFill>
            </a:endParaRPr>
          </a:p>
        </p:txBody>
      </p:sp>
      <p:sp>
        <p:nvSpPr>
          <p:cNvPr id="143" name="Rectangle: Rounded Corners 142">
            <a:extLst>
              <a:ext uri="{FF2B5EF4-FFF2-40B4-BE49-F238E27FC236}">
                <a16:creationId xmlns:a16="http://schemas.microsoft.com/office/drawing/2014/main" id="{BE87498E-B759-4DCE-A6B5-6E503FF5BA80}"/>
              </a:ext>
            </a:extLst>
          </p:cNvPr>
          <p:cNvSpPr/>
          <p:nvPr/>
        </p:nvSpPr>
        <p:spPr bwMode="gray">
          <a:xfrm>
            <a:off x="959334" y="2514604"/>
            <a:ext cx="4798991" cy="3514725"/>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Rectangle: Rounded Corners 143">
            <a:extLst>
              <a:ext uri="{FF2B5EF4-FFF2-40B4-BE49-F238E27FC236}">
                <a16:creationId xmlns:a16="http://schemas.microsoft.com/office/drawing/2014/main" id="{9D1E8029-638F-429A-984A-60347D0FDABD}"/>
              </a:ext>
            </a:extLst>
          </p:cNvPr>
          <p:cNvSpPr/>
          <p:nvPr/>
        </p:nvSpPr>
        <p:spPr bwMode="gray">
          <a:xfrm>
            <a:off x="6056079" y="2495554"/>
            <a:ext cx="5176587" cy="3514725"/>
          </a:xfrm>
          <a:prstGeom prst="roundRect">
            <a:avLst>
              <a:gd name="adj" fmla="val 3326"/>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TextBox 144">
            <a:extLst>
              <a:ext uri="{FF2B5EF4-FFF2-40B4-BE49-F238E27FC236}">
                <a16:creationId xmlns:a16="http://schemas.microsoft.com/office/drawing/2014/main" id="{24205926-A153-4483-85C6-AEB4C24D5E5E}"/>
              </a:ext>
            </a:extLst>
          </p:cNvPr>
          <p:cNvSpPr txBox="1"/>
          <p:nvPr/>
        </p:nvSpPr>
        <p:spPr bwMode="gray">
          <a:xfrm>
            <a:off x="10293312" y="2500434"/>
            <a:ext cx="902811" cy="307777"/>
          </a:xfrm>
          <a:prstGeom prst="rect">
            <a:avLst/>
          </a:prstGeom>
          <a:noFill/>
        </p:spPr>
        <p:txBody>
          <a:bodyPr wrap="none" rtlCol="0">
            <a:spAutoFit/>
          </a:bodyPr>
          <a:lstStyle/>
          <a:p>
            <a:r>
              <a:rPr lang="zh-CN" altLang="en-US" sz="1400" dirty="0"/>
              <a:t>传统网络</a:t>
            </a:r>
          </a:p>
        </p:txBody>
      </p:sp>
      <p:sp>
        <p:nvSpPr>
          <p:cNvPr id="146" name="TextBox 145">
            <a:extLst>
              <a:ext uri="{FF2B5EF4-FFF2-40B4-BE49-F238E27FC236}">
                <a16:creationId xmlns:a16="http://schemas.microsoft.com/office/drawing/2014/main" id="{327EF82E-3DBB-42CF-92D9-27D868DCEE13}"/>
              </a:ext>
            </a:extLst>
          </p:cNvPr>
          <p:cNvSpPr txBox="1"/>
          <p:nvPr/>
        </p:nvSpPr>
        <p:spPr bwMode="gray">
          <a:xfrm>
            <a:off x="4488426" y="2503544"/>
            <a:ext cx="1269899" cy="307777"/>
          </a:xfrm>
          <a:prstGeom prst="rect">
            <a:avLst/>
          </a:prstGeom>
          <a:noFill/>
        </p:spPr>
        <p:txBody>
          <a:bodyPr wrap="none" rtlCol="0">
            <a:spAutoFit/>
          </a:bodyPr>
          <a:lstStyle/>
          <a:p>
            <a:r>
              <a:rPr lang="en-US" altLang="zh-CN" sz="1400" dirty="0"/>
              <a:t>SD-WAN</a:t>
            </a:r>
            <a:r>
              <a:rPr lang="zh-CN" altLang="en-US" sz="1400" dirty="0"/>
              <a:t>网络</a:t>
            </a:r>
          </a:p>
        </p:txBody>
      </p:sp>
      <p:sp>
        <p:nvSpPr>
          <p:cNvPr id="78" name="Freeform: Shape 77">
            <a:extLst>
              <a:ext uri="{FF2B5EF4-FFF2-40B4-BE49-F238E27FC236}">
                <a16:creationId xmlns:a16="http://schemas.microsoft.com/office/drawing/2014/main" id="{0D6B80E9-6FB3-4DAE-898E-071A1F8FECD2}"/>
              </a:ext>
            </a:extLst>
          </p:cNvPr>
          <p:cNvSpPr/>
          <p:nvPr/>
        </p:nvSpPr>
        <p:spPr bwMode="gray">
          <a:xfrm>
            <a:off x="2362200" y="3057529"/>
            <a:ext cx="8020050" cy="1276690"/>
          </a:xfrm>
          <a:custGeom>
            <a:avLst/>
            <a:gdLst>
              <a:gd name="connsiteX0" fmla="*/ 0 w 8020050"/>
              <a:gd name="connsiteY0" fmla="*/ 0 h 1276690"/>
              <a:gd name="connsiteX1" fmla="*/ 847725 w 8020050"/>
              <a:gd name="connsiteY1" fmla="*/ 542925 h 1276690"/>
              <a:gd name="connsiteX2" fmla="*/ 3133725 w 8020050"/>
              <a:gd name="connsiteY2" fmla="*/ 542925 h 1276690"/>
              <a:gd name="connsiteX3" fmla="*/ 4381500 w 8020050"/>
              <a:gd name="connsiteY3" fmla="*/ 457200 h 1276690"/>
              <a:gd name="connsiteX4" fmla="*/ 5591175 w 8020050"/>
              <a:gd name="connsiteY4" fmla="*/ 1143000 h 1276690"/>
              <a:gd name="connsiteX5" fmla="*/ 8020050 w 8020050"/>
              <a:gd name="connsiteY5" fmla="*/ 1276350 h 127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20050" h="1276690">
                <a:moveTo>
                  <a:pt x="0" y="0"/>
                </a:moveTo>
                <a:cubicBezTo>
                  <a:pt x="162719" y="226219"/>
                  <a:pt x="325438" y="452438"/>
                  <a:pt x="847725" y="542925"/>
                </a:cubicBezTo>
                <a:cubicBezTo>
                  <a:pt x="1370012" y="633412"/>
                  <a:pt x="2544763" y="557212"/>
                  <a:pt x="3133725" y="542925"/>
                </a:cubicBezTo>
                <a:cubicBezTo>
                  <a:pt x="3722687" y="528638"/>
                  <a:pt x="3971925" y="357188"/>
                  <a:pt x="4381500" y="457200"/>
                </a:cubicBezTo>
                <a:cubicBezTo>
                  <a:pt x="4791075" y="557212"/>
                  <a:pt x="4984750" y="1006475"/>
                  <a:pt x="5591175" y="1143000"/>
                </a:cubicBezTo>
                <a:cubicBezTo>
                  <a:pt x="6197600" y="1279525"/>
                  <a:pt x="7108825" y="1277937"/>
                  <a:pt x="8020050" y="127635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E6753260-068A-4AD9-9870-A5D60E4D79FC}"/>
              </a:ext>
            </a:extLst>
          </p:cNvPr>
          <p:cNvSpPr/>
          <p:nvPr/>
        </p:nvSpPr>
        <p:spPr bwMode="gray">
          <a:xfrm>
            <a:off x="2428875" y="3248029"/>
            <a:ext cx="7991475" cy="1778964"/>
          </a:xfrm>
          <a:custGeom>
            <a:avLst/>
            <a:gdLst>
              <a:gd name="connsiteX0" fmla="*/ 0 w 7991475"/>
              <a:gd name="connsiteY0" fmla="*/ 0 h 1778964"/>
              <a:gd name="connsiteX1" fmla="*/ 1038225 w 7991475"/>
              <a:gd name="connsiteY1" fmla="*/ 800100 h 1778964"/>
              <a:gd name="connsiteX2" fmla="*/ 1895475 w 7991475"/>
              <a:gd name="connsiteY2" fmla="*/ 952500 h 1778964"/>
              <a:gd name="connsiteX3" fmla="*/ 2619375 w 7991475"/>
              <a:gd name="connsiteY3" fmla="*/ 1695450 h 1778964"/>
              <a:gd name="connsiteX4" fmla="*/ 4314825 w 7991475"/>
              <a:gd name="connsiteY4" fmla="*/ 1714500 h 1778964"/>
              <a:gd name="connsiteX5" fmla="*/ 5534025 w 7991475"/>
              <a:gd name="connsiteY5" fmla="*/ 1276350 h 1778964"/>
              <a:gd name="connsiteX6" fmla="*/ 7991475 w 7991475"/>
              <a:gd name="connsiteY6" fmla="*/ 1219200 h 177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91475" h="1778964">
                <a:moveTo>
                  <a:pt x="0" y="0"/>
                </a:moveTo>
                <a:cubicBezTo>
                  <a:pt x="361156" y="320675"/>
                  <a:pt x="722313" y="641350"/>
                  <a:pt x="1038225" y="800100"/>
                </a:cubicBezTo>
                <a:cubicBezTo>
                  <a:pt x="1354137" y="958850"/>
                  <a:pt x="1631950" y="803275"/>
                  <a:pt x="1895475" y="952500"/>
                </a:cubicBezTo>
                <a:cubicBezTo>
                  <a:pt x="2159000" y="1101725"/>
                  <a:pt x="2216150" y="1568450"/>
                  <a:pt x="2619375" y="1695450"/>
                </a:cubicBezTo>
                <a:cubicBezTo>
                  <a:pt x="3022600" y="1822450"/>
                  <a:pt x="3829050" y="1784350"/>
                  <a:pt x="4314825" y="1714500"/>
                </a:cubicBezTo>
                <a:cubicBezTo>
                  <a:pt x="4800600" y="1644650"/>
                  <a:pt x="4921250" y="1358900"/>
                  <a:pt x="5534025" y="1276350"/>
                </a:cubicBezTo>
                <a:cubicBezTo>
                  <a:pt x="6146800" y="1193800"/>
                  <a:pt x="7069137" y="1206500"/>
                  <a:pt x="7991475" y="1219200"/>
                </a:cubicBezTo>
              </a:path>
            </a:pathLst>
          </a:cu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五边形 2">
            <a:extLst>
              <a:ext uri="{FF2B5EF4-FFF2-40B4-BE49-F238E27FC236}">
                <a16:creationId xmlns:a16="http://schemas.microsoft.com/office/drawing/2014/main" id="{6189DFC1-9A9B-4A45-A1F8-5BD312DE3DF5}"/>
              </a:ext>
            </a:extLst>
          </p:cNvPr>
          <p:cNvSpPr/>
          <p:nvPr/>
        </p:nvSpPr>
        <p:spPr bwMode="gray">
          <a:xfrm>
            <a:off x="7117818" y="121953"/>
            <a:ext cx="1566373"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Hub</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站点可靠性设计</a:t>
            </a:r>
          </a:p>
        </p:txBody>
      </p:sp>
      <p:sp>
        <p:nvSpPr>
          <p:cNvPr id="50" name="燕尾形 3">
            <a:extLst>
              <a:ext uri="{FF2B5EF4-FFF2-40B4-BE49-F238E27FC236}">
                <a16:creationId xmlns:a16="http://schemas.microsoft.com/office/drawing/2014/main" id="{704FB2C0-51A9-45F5-89FA-96CF25422FBD}"/>
              </a:ext>
            </a:extLst>
          </p:cNvPr>
          <p:cNvSpPr/>
          <p:nvPr/>
        </p:nvSpPr>
        <p:spPr bwMode="gray">
          <a:xfrm>
            <a:off x="10145511" y="121953"/>
            <a:ext cx="160357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IWG</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站点可靠性设计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3">
            <a:extLst>
              <a:ext uri="{FF2B5EF4-FFF2-40B4-BE49-F238E27FC236}">
                <a16:creationId xmlns:a16="http://schemas.microsoft.com/office/drawing/2014/main" id="{1A804F15-8578-45A9-9F12-887F4ACF9BA4}"/>
              </a:ext>
            </a:extLst>
          </p:cNvPr>
          <p:cNvSpPr/>
          <p:nvPr/>
        </p:nvSpPr>
        <p:spPr bwMode="gray">
          <a:xfrm>
            <a:off x="8603744" y="121953"/>
            <a:ext cx="162452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站点可靠性设计</a:t>
            </a:r>
          </a:p>
        </p:txBody>
      </p:sp>
    </p:spTree>
    <p:extLst>
      <p:ext uri="{BB962C8B-B14F-4D97-AF65-F5344CB8AC3E}">
        <p14:creationId xmlns:p14="http://schemas.microsoft.com/office/powerpoint/2010/main" val="126189969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dirty="0">
                <a:solidFill>
                  <a:schemeClr val="bg1">
                    <a:lumMod val="50000"/>
                  </a:schemeClr>
                </a:solidFill>
              </a:rPr>
              <a:t>企业广域互联网络趋势与挑战</a:t>
            </a:r>
          </a:p>
          <a:p>
            <a:pPr>
              <a:buFont typeface="+mj-lt"/>
              <a:buAutoNum type="arabicPeriod"/>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解决方案概述</a:t>
            </a:r>
            <a:endParaRPr lang="en-US" altLang="zh-CN" sz="1800" dirty="0">
              <a:solidFill>
                <a:schemeClr val="bg1">
                  <a:lumMod val="50000"/>
                </a:schemeClr>
              </a:solidFill>
            </a:endParaRPr>
          </a:p>
          <a:p>
            <a:pPr>
              <a:buFont typeface="+mj-lt"/>
              <a:buAutoNum type="arabicPeriod"/>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组网设计</a:t>
            </a:r>
            <a:endParaRPr lang="en-US" altLang="zh-CN" sz="1800" dirty="0">
              <a:solidFill>
                <a:schemeClr val="bg1">
                  <a:lumMod val="50000"/>
                </a:schemeClr>
              </a:solidFill>
            </a:endParaRPr>
          </a:p>
          <a:p>
            <a:pPr>
              <a:buFont typeface="+mj-lt"/>
              <a:buAutoNum type="arabicPeriod"/>
            </a:pPr>
            <a:r>
              <a:rPr lang="zh-CN" altLang="en-US" sz="1800" dirty="0">
                <a:solidFill>
                  <a:schemeClr val="bg1">
                    <a:lumMod val="50000"/>
                  </a:schemeClr>
                </a:solidFill>
              </a:rPr>
              <a:t>华为</a:t>
            </a:r>
            <a:r>
              <a:rPr lang="en-US" altLang="zh-CN" sz="1800" dirty="0">
                <a:solidFill>
                  <a:schemeClr val="bg1">
                    <a:lumMod val="50000"/>
                  </a:schemeClr>
                </a:solidFill>
              </a:rPr>
              <a:t>SD-WAN</a:t>
            </a:r>
            <a:r>
              <a:rPr lang="zh-CN" altLang="en-US" sz="1800" dirty="0">
                <a:solidFill>
                  <a:schemeClr val="bg1">
                    <a:lumMod val="50000"/>
                  </a:schemeClr>
                </a:solidFill>
              </a:rPr>
              <a:t>业务设计</a:t>
            </a:r>
          </a:p>
          <a:p>
            <a:pPr>
              <a:buFont typeface="+mj-lt"/>
              <a:buAutoNum type="arabicPeriod"/>
            </a:pPr>
            <a:r>
              <a:rPr lang="zh-CN" altLang="en-US" sz="1800" b="1" dirty="0"/>
              <a:t>华为</a:t>
            </a:r>
            <a:r>
              <a:rPr lang="en-US" altLang="zh-CN" sz="1800" b="1" dirty="0"/>
              <a:t>SD-WAN</a:t>
            </a:r>
            <a:r>
              <a:rPr lang="zh-CN" altLang="en-US" sz="1800" b="1" dirty="0"/>
              <a:t>可靠性与安全设计</a:t>
            </a:r>
            <a:endParaRPr lang="en-US" altLang="zh-CN" sz="1800" b="1" dirty="0"/>
          </a:p>
          <a:p>
            <a:pPr lvl="1"/>
            <a:r>
              <a:rPr lang="en-US" altLang="zh-CN" sz="1600" dirty="0">
                <a:solidFill>
                  <a:schemeClr val="bg1">
                    <a:lumMod val="50000"/>
                  </a:schemeClr>
                </a:solidFill>
              </a:rPr>
              <a:t>SD-WAN</a:t>
            </a:r>
            <a:r>
              <a:rPr lang="zh-CN" altLang="en-US" sz="1600" dirty="0">
                <a:solidFill>
                  <a:schemeClr val="bg1">
                    <a:lumMod val="50000"/>
                  </a:schemeClr>
                </a:solidFill>
              </a:rPr>
              <a:t>可靠性设计概览</a:t>
            </a:r>
            <a:endParaRPr lang="en-US" altLang="zh-CN" sz="1600" dirty="0">
              <a:solidFill>
                <a:schemeClr val="bg1">
                  <a:lumMod val="50000"/>
                </a:schemeClr>
              </a:solidFill>
            </a:endParaRPr>
          </a:p>
          <a:p>
            <a:pPr lvl="1"/>
            <a:r>
              <a:rPr lang="en-US" altLang="zh-CN" sz="1600" dirty="0">
                <a:solidFill>
                  <a:schemeClr val="bg1">
                    <a:lumMod val="50000"/>
                  </a:schemeClr>
                </a:solidFill>
              </a:rPr>
              <a:t>SD-WAN</a:t>
            </a:r>
            <a:r>
              <a:rPr lang="zh-CN" altLang="en-US" sz="1600" dirty="0">
                <a:solidFill>
                  <a:schemeClr val="bg1">
                    <a:lumMod val="50000"/>
                  </a:schemeClr>
                </a:solidFill>
              </a:rPr>
              <a:t>站点可靠性设计</a:t>
            </a:r>
            <a:endParaRPr lang="en-US" altLang="zh-CN" sz="1600" dirty="0">
              <a:solidFill>
                <a:schemeClr val="bg1">
                  <a:lumMod val="50000"/>
                </a:schemeClr>
              </a:solidFill>
            </a:endParaRPr>
          </a:p>
          <a:p>
            <a:pPr lvl="1">
              <a:buSzPct val="60000"/>
              <a:buFont typeface="Wingdings" panose="05000000000000000000" pitchFamily="2" charset="2"/>
              <a:buChar char="n"/>
            </a:pPr>
            <a:r>
              <a:rPr lang="en-US" altLang="zh-CN" sz="1600" dirty="0"/>
              <a:t>SD-WAN</a:t>
            </a:r>
            <a:r>
              <a:rPr lang="zh-CN" altLang="en-US" sz="1600" dirty="0"/>
              <a:t>控制器可靠性设计</a:t>
            </a:r>
            <a:endParaRPr lang="en-US" altLang="zh-CN" sz="1600" dirty="0"/>
          </a:p>
          <a:p>
            <a:pPr lvl="1"/>
            <a:r>
              <a:rPr lang="en-US" altLang="zh-CN" sz="1600" dirty="0">
                <a:solidFill>
                  <a:schemeClr val="bg1">
                    <a:lumMod val="50000"/>
                  </a:schemeClr>
                </a:solidFill>
              </a:rPr>
              <a:t>SD-WAN</a:t>
            </a:r>
            <a:r>
              <a:rPr lang="zh-CN" altLang="en-US" sz="1600" dirty="0">
                <a:solidFill>
                  <a:schemeClr val="bg1">
                    <a:lumMod val="50000"/>
                  </a:schemeClr>
                </a:solidFill>
              </a:rPr>
              <a:t>安全设计</a:t>
            </a:r>
            <a:endParaRPr lang="en-US" altLang="zh-CN" sz="1600" dirty="0">
              <a:solidFill>
                <a:schemeClr val="bg1">
                  <a:lumMod val="50000"/>
                </a:schemeClr>
              </a:solidFill>
            </a:endParaRPr>
          </a:p>
        </p:txBody>
      </p:sp>
    </p:spTree>
    <p:extLst>
      <p:ext uri="{BB962C8B-B14F-4D97-AF65-F5344CB8AC3E}">
        <p14:creationId xmlns:p14="http://schemas.microsoft.com/office/powerpoint/2010/main" val="297135666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9DCFCB2-ADDC-4527-8A10-80CB5C01F04F}"/>
              </a:ext>
            </a:extLst>
          </p:cNvPr>
          <p:cNvSpPr>
            <a:spLocks noGrp="1"/>
          </p:cNvSpPr>
          <p:nvPr>
            <p:ph type="body" sz="quarter" idx="10"/>
          </p:nvPr>
        </p:nvSpPr>
        <p:spPr bwMode="gray"/>
        <p:txBody>
          <a:bodyPr/>
          <a:lstStyle/>
          <a:p>
            <a:r>
              <a:rPr lang="zh-CN" altLang="en-US" sz="1800" dirty="0"/>
              <a:t>控制器是</a:t>
            </a:r>
            <a:r>
              <a:rPr lang="en-US" altLang="zh-CN" sz="1800" dirty="0"/>
              <a:t>SD-WAN</a:t>
            </a:r>
            <a:r>
              <a:rPr lang="zh-CN" altLang="en-US" sz="1800" dirty="0"/>
              <a:t>解决方案的核心部件，</a:t>
            </a:r>
            <a:r>
              <a:rPr lang="en-US" altLang="zh-CN" sz="1800" dirty="0"/>
              <a:t>SD-WAN</a:t>
            </a:r>
            <a:r>
              <a:rPr lang="zh-CN" altLang="en-US" sz="1800" dirty="0"/>
              <a:t>解决方案中所有的业务均有控制器编排，因此控制器的可靠性将直接影响网络业务。</a:t>
            </a:r>
            <a:endParaRPr lang="en-US" altLang="zh-CN" sz="1800" dirty="0"/>
          </a:p>
          <a:p>
            <a:r>
              <a:rPr lang="zh-CN" altLang="en-US" sz="1800" dirty="0"/>
              <a:t>控制器可靠性设计一般可分为：</a:t>
            </a:r>
            <a:endParaRPr lang="en-US" altLang="zh-CN" sz="1800" dirty="0"/>
          </a:p>
          <a:p>
            <a:pPr lvl="1"/>
            <a:r>
              <a:rPr lang="zh-CN" altLang="en-US" sz="1600" dirty="0"/>
              <a:t>控制器部署可靠性设计</a:t>
            </a:r>
            <a:endParaRPr lang="en-US" altLang="zh-CN" sz="1600" dirty="0"/>
          </a:p>
          <a:p>
            <a:pPr lvl="1"/>
            <a:r>
              <a:rPr lang="zh-CN" altLang="en-US" sz="1600" dirty="0"/>
              <a:t>控制器组网可靠性设计</a:t>
            </a:r>
          </a:p>
        </p:txBody>
      </p:sp>
      <p:sp>
        <p:nvSpPr>
          <p:cNvPr id="80" name="Freeform 159">
            <a:extLst>
              <a:ext uri="{FF2B5EF4-FFF2-40B4-BE49-F238E27FC236}">
                <a16:creationId xmlns:a16="http://schemas.microsoft.com/office/drawing/2014/main" id="{7DEF3649-AFAA-43DE-A3B1-5CFC3DAE1CD3}"/>
              </a:ext>
            </a:extLst>
          </p:cNvPr>
          <p:cNvSpPr/>
          <p:nvPr/>
        </p:nvSpPr>
        <p:spPr bwMode="gray">
          <a:xfrm flipH="1">
            <a:off x="6408477" y="3277248"/>
            <a:ext cx="1378940" cy="73711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主数据中心</a:t>
            </a:r>
            <a:endParaRPr lang="en-US" sz="1600" dirty="0">
              <a:solidFill>
                <a:schemeClr val="tx1"/>
              </a:solidFill>
            </a:endParaRPr>
          </a:p>
        </p:txBody>
      </p:sp>
      <p:sp>
        <p:nvSpPr>
          <p:cNvPr id="3" name="Title 2">
            <a:extLst>
              <a:ext uri="{FF2B5EF4-FFF2-40B4-BE49-F238E27FC236}">
                <a16:creationId xmlns:a16="http://schemas.microsoft.com/office/drawing/2014/main" id="{06439B0F-140D-4331-94EC-CAC552235724}"/>
              </a:ext>
            </a:extLst>
          </p:cNvPr>
          <p:cNvSpPr>
            <a:spLocks noGrp="1"/>
          </p:cNvSpPr>
          <p:nvPr>
            <p:ph type="title"/>
          </p:nvPr>
        </p:nvSpPr>
        <p:spPr bwMode="gray"/>
        <p:txBody>
          <a:bodyPr/>
          <a:lstStyle/>
          <a:p>
            <a:r>
              <a:rPr lang="zh-CN" altLang="en-US" dirty="0"/>
              <a:t>控制器可靠性设计全景图</a:t>
            </a:r>
            <a:endParaRPr lang="en-US" dirty="0"/>
          </a:p>
        </p:txBody>
      </p:sp>
      <p:sp>
        <p:nvSpPr>
          <p:cNvPr id="39" name="Freeform 159">
            <a:extLst>
              <a:ext uri="{FF2B5EF4-FFF2-40B4-BE49-F238E27FC236}">
                <a16:creationId xmlns:a16="http://schemas.microsoft.com/office/drawing/2014/main" id="{F781232F-D5CB-4A76-86D0-A24A4892FEED}"/>
              </a:ext>
            </a:extLst>
          </p:cNvPr>
          <p:cNvSpPr/>
          <p:nvPr/>
        </p:nvSpPr>
        <p:spPr bwMode="gray">
          <a:xfrm flipH="1">
            <a:off x="7540641" y="5303346"/>
            <a:ext cx="1193937" cy="6460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Internet</a:t>
            </a:r>
          </a:p>
          <a:p>
            <a:pPr algn="ctr"/>
            <a:r>
              <a:rPr lang="en-US" sz="1400" dirty="0">
                <a:solidFill>
                  <a:schemeClr val="tx1"/>
                </a:solidFill>
              </a:rPr>
              <a:t>/MPLS</a:t>
            </a:r>
          </a:p>
        </p:txBody>
      </p:sp>
      <p:cxnSp>
        <p:nvCxnSpPr>
          <p:cNvPr id="43" name="Straight Connector 42">
            <a:extLst>
              <a:ext uri="{FF2B5EF4-FFF2-40B4-BE49-F238E27FC236}">
                <a16:creationId xmlns:a16="http://schemas.microsoft.com/office/drawing/2014/main" id="{81B82BFA-B8C2-48EA-904E-45054AD1BFF5}"/>
              </a:ext>
            </a:extLst>
          </p:cNvPr>
          <p:cNvCxnSpPr>
            <a:cxnSpLocks/>
            <a:stCxn id="86" idx="2"/>
            <a:endCxn id="39" idx="3"/>
          </p:cNvCxnSpPr>
          <p:nvPr/>
        </p:nvCxnSpPr>
        <p:spPr bwMode="gray">
          <a:xfrm flipH="1">
            <a:off x="8245435" y="4279977"/>
            <a:ext cx="954901" cy="1124448"/>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72" name="图片 14" descr="交换机.png">
            <a:extLst>
              <a:ext uri="{FF2B5EF4-FFF2-40B4-BE49-F238E27FC236}">
                <a16:creationId xmlns:a16="http://schemas.microsoft.com/office/drawing/2014/main" id="{586D9996-DD3F-4D61-A2E0-E83E45A2EB66}"/>
              </a:ext>
            </a:extLst>
          </p:cNvPr>
          <p:cNvPicPr>
            <a:picLocks noChangeAspect="1"/>
          </p:cNvPicPr>
          <p:nvPr/>
        </p:nvPicPr>
        <p:blipFill>
          <a:blip r:embed="rId3" cstate="print"/>
          <a:stretch>
            <a:fillRect/>
          </a:stretch>
        </p:blipFill>
        <p:spPr bwMode="gray">
          <a:xfrm>
            <a:off x="6664768" y="3059245"/>
            <a:ext cx="474526" cy="388247"/>
          </a:xfrm>
          <a:prstGeom prst="rect">
            <a:avLst/>
          </a:prstGeom>
        </p:spPr>
      </p:pic>
      <p:cxnSp>
        <p:nvCxnSpPr>
          <p:cNvPr id="73" name="Straight Connector 72">
            <a:extLst>
              <a:ext uri="{FF2B5EF4-FFF2-40B4-BE49-F238E27FC236}">
                <a16:creationId xmlns:a16="http://schemas.microsoft.com/office/drawing/2014/main" id="{2AD2547E-6F2B-4983-9BAB-9E4C44DEBAAE}"/>
              </a:ext>
            </a:extLst>
          </p:cNvPr>
          <p:cNvCxnSpPr>
            <a:cxnSpLocks/>
            <a:stCxn id="82" idx="2"/>
            <a:endCxn id="39" idx="2"/>
          </p:cNvCxnSpPr>
          <p:nvPr/>
        </p:nvCxnSpPr>
        <p:spPr bwMode="gray">
          <a:xfrm>
            <a:off x="7139294" y="4279977"/>
            <a:ext cx="1094268" cy="113374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37497414-6CF9-492E-A777-767C4652EC37}"/>
              </a:ext>
            </a:extLst>
          </p:cNvPr>
          <p:cNvSpPr txBox="1"/>
          <p:nvPr/>
        </p:nvSpPr>
        <p:spPr bwMode="gray">
          <a:xfrm>
            <a:off x="5398136" y="3046415"/>
            <a:ext cx="1107996" cy="461665"/>
          </a:xfrm>
          <a:prstGeom prst="rect">
            <a:avLst/>
          </a:prstGeom>
          <a:noFill/>
        </p:spPr>
        <p:txBody>
          <a:bodyPr wrap="none" rtlCol="0">
            <a:spAutoFit/>
          </a:bodyPr>
          <a:lstStyle/>
          <a:p>
            <a:pPr algn="ctr"/>
            <a:r>
              <a:rPr lang="en-US" altLang="zh-CN" sz="1200" dirty="0" err="1"/>
              <a:t>iMaster</a:t>
            </a:r>
            <a:r>
              <a:rPr lang="en-US" altLang="zh-CN" sz="1200" dirty="0"/>
              <a:t> NCE</a:t>
            </a:r>
          </a:p>
          <a:p>
            <a:pPr algn="ctr"/>
            <a:r>
              <a:rPr lang="zh-CN" altLang="en-US" sz="1200" dirty="0"/>
              <a:t>主控制器集群</a:t>
            </a:r>
          </a:p>
        </p:txBody>
      </p:sp>
      <p:pic>
        <p:nvPicPr>
          <p:cNvPr id="82" name="Picture 12" descr="E:\2016.01\1.12 扁平化图标\蓝色\AR-蓝色最新-40.png">
            <a:extLst>
              <a:ext uri="{FF2B5EF4-FFF2-40B4-BE49-F238E27FC236}">
                <a16:creationId xmlns:a16="http://schemas.microsoft.com/office/drawing/2014/main" id="{583062C8-BE15-41D8-B6E7-F31FD70F16F4}"/>
              </a:ext>
            </a:extLst>
          </p:cNvPr>
          <p:cNvPicPr>
            <a:picLocks noChangeAspect="1" noChangeArrowheads="1"/>
          </p:cNvPicPr>
          <p:nvPr/>
        </p:nvPicPr>
        <p:blipFill>
          <a:blip r:embed="rId4" cstate="print"/>
          <a:srcRect/>
          <a:stretch>
            <a:fillRect/>
          </a:stretch>
        </p:blipFill>
        <p:spPr bwMode="gray">
          <a:xfrm>
            <a:off x="6902032" y="3891730"/>
            <a:ext cx="474524" cy="388247"/>
          </a:xfrm>
          <a:prstGeom prst="rect">
            <a:avLst/>
          </a:prstGeom>
          <a:noFill/>
        </p:spPr>
      </p:pic>
      <p:sp>
        <p:nvSpPr>
          <p:cNvPr id="85" name="Freeform 159">
            <a:extLst>
              <a:ext uri="{FF2B5EF4-FFF2-40B4-BE49-F238E27FC236}">
                <a16:creationId xmlns:a16="http://schemas.microsoft.com/office/drawing/2014/main" id="{2749CF34-F0FB-424C-AC3F-36116A2481D7}"/>
              </a:ext>
            </a:extLst>
          </p:cNvPr>
          <p:cNvSpPr/>
          <p:nvPr/>
        </p:nvSpPr>
        <p:spPr bwMode="gray">
          <a:xfrm flipH="1">
            <a:off x="8464310" y="3277248"/>
            <a:ext cx="1378940" cy="73711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备数据中心</a:t>
            </a:r>
            <a:endParaRPr lang="en-US" sz="1600" dirty="0">
              <a:solidFill>
                <a:schemeClr val="tx1"/>
              </a:solidFill>
            </a:endParaRPr>
          </a:p>
        </p:txBody>
      </p:sp>
      <p:pic>
        <p:nvPicPr>
          <p:cNvPr id="86" name="Picture 12" descr="E:\2016.01\1.12 扁平化图标\蓝色\AR-蓝色最新-40.png">
            <a:extLst>
              <a:ext uri="{FF2B5EF4-FFF2-40B4-BE49-F238E27FC236}">
                <a16:creationId xmlns:a16="http://schemas.microsoft.com/office/drawing/2014/main" id="{91899D93-558C-4CC1-983C-DC65F9532EA8}"/>
              </a:ext>
            </a:extLst>
          </p:cNvPr>
          <p:cNvPicPr>
            <a:picLocks noChangeAspect="1" noChangeArrowheads="1"/>
          </p:cNvPicPr>
          <p:nvPr/>
        </p:nvPicPr>
        <p:blipFill>
          <a:blip r:embed="rId4" cstate="print"/>
          <a:srcRect/>
          <a:stretch>
            <a:fillRect/>
          </a:stretch>
        </p:blipFill>
        <p:spPr bwMode="gray">
          <a:xfrm>
            <a:off x="8963074" y="3891730"/>
            <a:ext cx="474524" cy="388247"/>
          </a:xfrm>
          <a:prstGeom prst="rect">
            <a:avLst/>
          </a:prstGeom>
          <a:noFill/>
        </p:spPr>
      </p:pic>
      <p:pic>
        <p:nvPicPr>
          <p:cNvPr id="84" name="图片 14" descr="交换机.png">
            <a:extLst>
              <a:ext uri="{FF2B5EF4-FFF2-40B4-BE49-F238E27FC236}">
                <a16:creationId xmlns:a16="http://schemas.microsoft.com/office/drawing/2014/main" id="{7D4BDA98-7744-429A-B192-C637EF36B056}"/>
              </a:ext>
            </a:extLst>
          </p:cNvPr>
          <p:cNvPicPr>
            <a:picLocks noChangeAspect="1"/>
          </p:cNvPicPr>
          <p:nvPr/>
        </p:nvPicPr>
        <p:blipFill>
          <a:blip r:embed="rId3" cstate="print"/>
          <a:stretch>
            <a:fillRect/>
          </a:stretch>
        </p:blipFill>
        <p:spPr bwMode="gray">
          <a:xfrm>
            <a:off x="8988645" y="3059245"/>
            <a:ext cx="474526" cy="388247"/>
          </a:xfrm>
          <a:prstGeom prst="rect">
            <a:avLst/>
          </a:prstGeom>
        </p:spPr>
      </p:pic>
      <p:sp>
        <p:nvSpPr>
          <p:cNvPr id="88" name="TextBox 87">
            <a:extLst>
              <a:ext uri="{FF2B5EF4-FFF2-40B4-BE49-F238E27FC236}">
                <a16:creationId xmlns:a16="http://schemas.microsoft.com/office/drawing/2014/main" id="{A5F79F1E-0AE7-4706-A950-128C35C2F8CB}"/>
              </a:ext>
            </a:extLst>
          </p:cNvPr>
          <p:cNvSpPr txBox="1"/>
          <p:nvPr/>
        </p:nvSpPr>
        <p:spPr bwMode="gray">
          <a:xfrm>
            <a:off x="9630750" y="2993595"/>
            <a:ext cx="1107996" cy="461665"/>
          </a:xfrm>
          <a:prstGeom prst="rect">
            <a:avLst/>
          </a:prstGeom>
          <a:noFill/>
        </p:spPr>
        <p:txBody>
          <a:bodyPr wrap="none" rtlCol="0">
            <a:spAutoFit/>
          </a:bodyPr>
          <a:lstStyle/>
          <a:p>
            <a:pPr algn="ctr"/>
            <a:r>
              <a:rPr lang="en-US" altLang="zh-CN" sz="1200" dirty="0" err="1"/>
              <a:t>iMaster</a:t>
            </a:r>
            <a:r>
              <a:rPr lang="en-US" altLang="zh-CN" sz="1200" dirty="0"/>
              <a:t> NCE</a:t>
            </a:r>
          </a:p>
          <a:p>
            <a:pPr algn="ctr"/>
            <a:r>
              <a:rPr lang="zh-CN" altLang="en-US" sz="1200" dirty="0"/>
              <a:t>备控制器集群</a:t>
            </a:r>
          </a:p>
        </p:txBody>
      </p:sp>
      <p:sp>
        <p:nvSpPr>
          <p:cNvPr id="89" name="TextBox 88">
            <a:extLst>
              <a:ext uri="{FF2B5EF4-FFF2-40B4-BE49-F238E27FC236}">
                <a16:creationId xmlns:a16="http://schemas.microsoft.com/office/drawing/2014/main" id="{EB271D9F-59C6-47F7-AAAC-3E365AFA0404}"/>
              </a:ext>
            </a:extLst>
          </p:cNvPr>
          <p:cNvSpPr txBox="1"/>
          <p:nvPr/>
        </p:nvSpPr>
        <p:spPr bwMode="gray">
          <a:xfrm>
            <a:off x="6155809" y="4016101"/>
            <a:ext cx="800219" cy="276999"/>
          </a:xfrm>
          <a:prstGeom prst="rect">
            <a:avLst/>
          </a:prstGeom>
          <a:noFill/>
        </p:spPr>
        <p:txBody>
          <a:bodyPr wrap="none" rtlCol="0">
            <a:spAutoFit/>
          </a:bodyPr>
          <a:lstStyle/>
          <a:p>
            <a:r>
              <a:rPr lang="zh-CN" altLang="en-US" sz="1200" dirty="0"/>
              <a:t>出口设备</a:t>
            </a:r>
          </a:p>
        </p:txBody>
      </p:sp>
      <p:sp>
        <p:nvSpPr>
          <p:cNvPr id="90" name="TextBox 89">
            <a:extLst>
              <a:ext uri="{FF2B5EF4-FFF2-40B4-BE49-F238E27FC236}">
                <a16:creationId xmlns:a16="http://schemas.microsoft.com/office/drawing/2014/main" id="{4D00D771-89BC-49F2-B4AC-5B6EF9998126}"/>
              </a:ext>
            </a:extLst>
          </p:cNvPr>
          <p:cNvSpPr txBox="1"/>
          <p:nvPr/>
        </p:nvSpPr>
        <p:spPr bwMode="gray">
          <a:xfrm>
            <a:off x="9442398" y="4008672"/>
            <a:ext cx="800219" cy="276999"/>
          </a:xfrm>
          <a:prstGeom prst="rect">
            <a:avLst/>
          </a:prstGeom>
          <a:noFill/>
        </p:spPr>
        <p:txBody>
          <a:bodyPr wrap="none" rtlCol="0">
            <a:spAutoFit/>
          </a:bodyPr>
          <a:lstStyle/>
          <a:p>
            <a:r>
              <a:rPr lang="zh-CN" altLang="en-US" sz="1200" dirty="0"/>
              <a:t>出口设备</a:t>
            </a:r>
          </a:p>
        </p:txBody>
      </p:sp>
      <p:sp>
        <p:nvSpPr>
          <p:cNvPr id="91" name="圆角矩形 16">
            <a:extLst>
              <a:ext uri="{FF2B5EF4-FFF2-40B4-BE49-F238E27FC236}">
                <a16:creationId xmlns:a16="http://schemas.microsoft.com/office/drawing/2014/main" id="{B13C694C-122A-493A-971B-783A07E4E2A6}"/>
              </a:ext>
            </a:extLst>
          </p:cNvPr>
          <p:cNvSpPr/>
          <p:nvPr/>
        </p:nvSpPr>
        <p:spPr bwMode="gray">
          <a:xfrm>
            <a:off x="5968904" y="1878184"/>
            <a:ext cx="1866253" cy="639295"/>
          </a:xfrm>
          <a:prstGeom prst="roundRect">
            <a:avLst>
              <a:gd name="adj" fmla="val 4431"/>
            </a:avLst>
          </a:prstGeom>
          <a:ln w="19050">
            <a:solidFill>
              <a:srgbClr val="56C4D2"/>
            </a:solidFill>
            <a:prstDash val="dash"/>
          </a:ln>
        </p:spPr>
        <p:txBody>
          <a:bodyPr wrap="square" rtlCol="0" anchor="t">
            <a:noAutofit/>
          </a:bodyPr>
          <a:lstStyle/>
          <a:p>
            <a:pPr algn="ctr"/>
            <a:endParaRPr lang="zh-CN" altLang="en-US" sz="14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pic>
        <p:nvPicPr>
          <p:cNvPr id="92" name="图片 44">
            <a:extLst>
              <a:ext uri="{FF2B5EF4-FFF2-40B4-BE49-F238E27FC236}">
                <a16:creationId xmlns:a16="http://schemas.microsoft.com/office/drawing/2014/main" id="{EB30ED8F-8CE6-4933-B6CA-9A516EE1897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6148641" y="1997215"/>
            <a:ext cx="411677" cy="401232"/>
          </a:xfrm>
          <a:prstGeom prst="rect">
            <a:avLst/>
          </a:prstGeom>
        </p:spPr>
      </p:pic>
      <p:pic>
        <p:nvPicPr>
          <p:cNvPr id="93" name="图片 44">
            <a:extLst>
              <a:ext uri="{FF2B5EF4-FFF2-40B4-BE49-F238E27FC236}">
                <a16:creationId xmlns:a16="http://schemas.microsoft.com/office/drawing/2014/main" id="{79F68815-CD0D-4054-8DC5-45A038D9109B}"/>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6720423" y="1997215"/>
            <a:ext cx="411677" cy="401232"/>
          </a:xfrm>
          <a:prstGeom prst="rect">
            <a:avLst/>
          </a:prstGeom>
        </p:spPr>
      </p:pic>
      <p:pic>
        <p:nvPicPr>
          <p:cNvPr id="94" name="图片 44">
            <a:extLst>
              <a:ext uri="{FF2B5EF4-FFF2-40B4-BE49-F238E27FC236}">
                <a16:creationId xmlns:a16="http://schemas.microsoft.com/office/drawing/2014/main" id="{8521072D-8BB2-4EF7-93D8-265AE848CCE4}"/>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59601" y="1997215"/>
            <a:ext cx="411677" cy="401232"/>
          </a:xfrm>
          <a:prstGeom prst="rect">
            <a:avLst/>
          </a:prstGeom>
        </p:spPr>
      </p:pic>
      <p:sp>
        <p:nvSpPr>
          <p:cNvPr id="96" name="Trapezoid 95">
            <a:extLst>
              <a:ext uri="{FF2B5EF4-FFF2-40B4-BE49-F238E27FC236}">
                <a16:creationId xmlns:a16="http://schemas.microsoft.com/office/drawing/2014/main" id="{E0DA6A13-AECC-4754-B3C4-87249C1EA590}"/>
              </a:ext>
            </a:extLst>
          </p:cNvPr>
          <p:cNvSpPr/>
          <p:nvPr/>
        </p:nvSpPr>
        <p:spPr bwMode="gray">
          <a:xfrm flipV="1">
            <a:off x="5968904" y="2523967"/>
            <a:ext cx="1866253" cy="533541"/>
          </a:xfrm>
          <a:prstGeom prst="trapezoid">
            <a:avLst>
              <a:gd name="adj" fmla="val 132114"/>
            </a:avLst>
          </a:prstGeom>
          <a:gradFill>
            <a:gsLst>
              <a:gs pos="0">
                <a:srgbClr val="56C4D2">
                  <a:alpha val="50000"/>
                </a:srgb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ular Callout 26">
            <a:extLst>
              <a:ext uri="{FF2B5EF4-FFF2-40B4-BE49-F238E27FC236}">
                <a16:creationId xmlns:a16="http://schemas.microsoft.com/office/drawing/2014/main" id="{3D929443-F591-4D9F-8229-9AF7B925088E}"/>
              </a:ext>
            </a:extLst>
          </p:cNvPr>
          <p:cNvSpPr/>
          <p:nvPr/>
        </p:nvSpPr>
        <p:spPr bwMode="gray">
          <a:xfrm>
            <a:off x="7512677" y="2837138"/>
            <a:ext cx="1025039" cy="485982"/>
          </a:xfrm>
          <a:prstGeom prst="wedgeRectCallout">
            <a:avLst>
              <a:gd name="adj1" fmla="val -77374"/>
              <a:gd name="adj2" fmla="val 3414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控制器部署可靠性设计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8" name="Rectangular Callout 26">
            <a:extLst>
              <a:ext uri="{FF2B5EF4-FFF2-40B4-BE49-F238E27FC236}">
                <a16:creationId xmlns:a16="http://schemas.microsoft.com/office/drawing/2014/main" id="{5D79A687-ADBA-46F7-A927-4ED3C0B4F3F7}"/>
              </a:ext>
            </a:extLst>
          </p:cNvPr>
          <p:cNvSpPr/>
          <p:nvPr/>
        </p:nvSpPr>
        <p:spPr bwMode="gray">
          <a:xfrm>
            <a:off x="6408477" y="4763975"/>
            <a:ext cx="1025039" cy="485982"/>
          </a:xfrm>
          <a:prstGeom prst="wedgeRectCallout">
            <a:avLst>
              <a:gd name="adj1" fmla="val 75949"/>
              <a:gd name="adj2" fmla="val -2269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控制器组网可靠性设计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5908029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EC95D-F188-4C3B-9EC7-5B1A4A2C3D72}"/>
              </a:ext>
            </a:extLst>
          </p:cNvPr>
          <p:cNvSpPr>
            <a:spLocks noGrp="1"/>
          </p:cNvSpPr>
          <p:nvPr>
            <p:ph type="title"/>
          </p:nvPr>
        </p:nvSpPr>
        <p:spPr bwMode="gray"/>
        <p:txBody>
          <a:bodyPr/>
          <a:lstStyle/>
          <a:p>
            <a:r>
              <a:rPr lang="zh-CN" altLang="en-US" dirty="0"/>
              <a:t>控制器站内部署设计</a:t>
            </a:r>
            <a:endParaRPr lang="en-US" dirty="0"/>
          </a:p>
        </p:txBody>
      </p:sp>
      <p:sp>
        <p:nvSpPr>
          <p:cNvPr id="88" name="五边形 2">
            <a:extLst>
              <a:ext uri="{FF2B5EF4-FFF2-40B4-BE49-F238E27FC236}">
                <a16:creationId xmlns:a16="http://schemas.microsoft.com/office/drawing/2014/main" id="{FFA01418-D0D6-40EA-85D7-337C9E6F61C5}"/>
              </a:ext>
            </a:extLst>
          </p:cNvPr>
          <p:cNvSpPr/>
          <p:nvPr/>
        </p:nvSpPr>
        <p:spPr bwMode="gray">
          <a:xfrm>
            <a:off x="8370630" y="40227"/>
            <a:ext cx="1662685"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控制器部署可靠性设计</a:t>
            </a:r>
          </a:p>
        </p:txBody>
      </p:sp>
      <p:sp>
        <p:nvSpPr>
          <p:cNvPr id="90" name="燕尾形 3">
            <a:extLst>
              <a:ext uri="{FF2B5EF4-FFF2-40B4-BE49-F238E27FC236}">
                <a16:creationId xmlns:a16="http://schemas.microsoft.com/office/drawing/2014/main" id="{EF5813DE-4D49-456D-90F9-31A04A91EE8E}"/>
              </a:ext>
            </a:extLst>
          </p:cNvPr>
          <p:cNvSpPr/>
          <p:nvPr/>
        </p:nvSpPr>
        <p:spPr bwMode="gray">
          <a:xfrm>
            <a:off x="9962130" y="40227"/>
            <a:ext cx="17803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控制器组网可靠性设计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圆角矩形 36">
            <a:extLst>
              <a:ext uri="{FF2B5EF4-FFF2-40B4-BE49-F238E27FC236}">
                <a16:creationId xmlns:a16="http://schemas.microsoft.com/office/drawing/2014/main" id="{8658449C-18E2-4A80-B536-DB1056262BBB}"/>
              </a:ext>
            </a:extLst>
          </p:cNvPr>
          <p:cNvSpPr/>
          <p:nvPr/>
        </p:nvSpPr>
        <p:spPr bwMode="gray">
          <a:xfrm>
            <a:off x="1091883" y="3520144"/>
            <a:ext cx="2965718" cy="792615"/>
          </a:xfrm>
          <a:prstGeom prst="roundRect">
            <a:avLst>
              <a:gd name="adj" fmla="val 4381"/>
            </a:avLst>
          </a:prstGeom>
          <a:solidFill>
            <a:schemeClr val="bg1"/>
          </a:solidFill>
          <a:ln w="12700">
            <a:solidFill>
              <a:srgbClr val="30B5C5"/>
            </a:solidFill>
            <a:prstDash val="dash"/>
          </a:ln>
        </p:spPr>
        <p:txBody>
          <a:bodyPr wrap="square" rtlCol="0" anchor="t">
            <a:noAutofit/>
          </a:bodyPr>
          <a:lstStyle/>
          <a:p>
            <a:pPr algn="ctr"/>
            <a:endParaRPr lang="zh-CN" altLang="en-US" sz="14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85" name="圆角矩形 16">
            <a:extLst>
              <a:ext uri="{FF2B5EF4-FFF2-40B4-BE49-F238E27FC236}">
                <a16:creationId xmlns:a16="http://schemas.microsoft.com/office/drawing/2014/main" id="{8BBF5EF8-1E3E-4510-9AA8-73A61020D42B}"/>
              </a:ext>
            </a:extLst>
          </p:cNvPr>
          <p:cNvSpPr/>
          <p:nvPr/>
        </p:nvSpPr>
        <p:spPr bwMode="gray">
          <a:xfrm>
            <a:off x="1091883" y="2646179"/>
            <a:ext cx="2957907" cy="792615"/>
          </a:xfrm>
          <a:prstGeom prst="roundRect">
            <a:avLst>
              <a:gd name="adj" fmla="val 7493"/>
            </a:avLst>
          </a:prstGeom>
          <a:ln w="12700">
            <a:solidFill>
              <a:srgbClr val="30B5C5"/>
            </a:solidFill>
            <a:prstDash val="dash"/>
          </a:ln>
        </p:spPr>
        <p:txBody>
          <a:bodyPr wrap="square" rtlCol="0" anchor="t">
            <a:noAutofit/>
          </a:bodyPr>
          <a:lstStyle/>
          <a:p>
            <a:pPr algn="ctr"/>
            <a:endParaRPr lang="zh-CN" altLang="en-US" sz="14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87" name="圆角矩形 21">
            <a:extLst>
              <a:ext uri="{FF2B5EF4-FFF2-40B4-BE49-F238E27FC236}">
                <a16:creationId xmlns:a16="http://schemas.microsoft.com/office/drawing/2014/main" id="{8ABFB1C3-4BB1-43B5-AAD3-F14A1644FC83}"/>
              </a:ext>
            </a:extLst>
          </p:cNvPr>
          <p:cNvSpPr/>
          <p:nvPr/>
        </p:nvSpPr>
        <p:spPr bwMode="gray">
          <a:xfrm>
            <a:off x="1091883" y="4402446"/>
            <a:ext cx="2943844" cy="746540"/>
          </a:xfrm>
          <a:prstGeom prst="roundRect">
            <a:avLst>
              <a:gd name="adj" fmla="val 6271"/>
            </a:avLst>
          </a:prstGeom>
          <a:ln w="12700">
            <a:solidFill>
              <a:srgbClr val="30B5C5"/>
            </a:solidFill>
            <a:prstDash val="dash"/>
          </a:ln>
        </p:spPr>
        <p:txBody>
          <a:bodyPr wrap="square" rtlCol="0" anchor="t">
            <a:noAutofit/>
          </a:bodyPr>
          <a:lstStyle/>
          <a:p>
            <a:pPr algn="ct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圆角矩形 27">
            <a:extLst>
              <a:ext uri="{FF2B5EF4-FFF2-40B4-BE49-F238E27FC236}">
                <a16:creationId xmlns:a16="http://schemas.microsoft.com/office/drawing/2014/main" id="{29D5BB81-26FD-4CE5-BE6F-050A04F6A81B}"/>
              </a:ext>
            </a:extLst>
          </p:cNvPr>
          <p:cNvSpPr/>
          <p:nvPr/>
        </p:nvSpPr>
        <p:spPr bwMode="gray">
          <a:xfrm>
            <a:off x="1091883" y="5230497"/>
            <a:ext cx="2943845" cy="754139"/>
          </a:xfrm>
          <a:prstGeom prst="roundRect">
            <a:avLst>
              <a:gd name="adj" fmla="val 7120"/>
            </a:avLst>
          </a:prstGeom>
          <a:ln w="12700">
            <a:solidFill>
              <a:srgbClr val="30B5C5"/>
            </a:solidFill>
            <a:prstDash val="dash"/>
          </a:ln>
        </p:spPr>
        <p:txBody>
          <a:bodyPr wrap="square" rtlCol="0" anchor="ctr">
            <a:noAutofit/>
          </a:bodyPr>
          <a:lstStyle/>
          <a:p>
            <a:pPr algn="ct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矩形 42">
            <a:extLst>
              <a:ext uri="{FF2B5EF4-FFF2-40B4-BE49-F238E27FC236}">
                <a16:creationId xmlns:a16="http://schemas.microsoft.com/office/drawing/2014/main" id="{70784714-B9C4-43F3-9DA7-D7E39737ED6C}"/>
              </a:ext>
            </a:extLst>
          </p:cNvPr>
          <p:cNvSpPr/>
          <p:nvPr/>
        </p:nvSpPr>
        <p:spPr bwMode="gray">
          <a:xfrm>
            <a:off x="5791182" y="1065120"/>
            <a:ext cx="5668981" cy="2708426"/>
          </a:xfrm>
          <a:prstGeom prst="rect">
            <a:avLst/>
          </a:prstGeom>
          <a:ln>
            <a:noFill/>
          </a:ln>
        </p:spPr>
        <p:txBody>
          <a:bodyPr wrap="square" lIns="121912" tIns="60956" rIns="121912" bIns="60956">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marL="285664" indent="-285664">
              <a:lnSpc>
                <a:spcPct val="150000"/>
              </a:lnSpc>
              <a:buFont typeface="Arial" panose="020B0604020202020204" pitchFamily="34" charset="0"/>
              <a:buChar char="•"/>
            </a:pPr>
            <a:r>
              <a:rPr lang="zh-CN"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控制器采用</a:t>
            </a:r>
            <a:r>
              <a:rPr lang="zh-CN" altLang="zh-CN" sz="1600" b="1" dirty="0">
                <a:latin typeface="Huawei Sans" panose="020C0503030203020204" pitchFamily="34" charset="0"/>
                <a:ea typeface="方正兰亭黑简体" panose="02000000000000000000" pitchFamily="2" charset="-122"/>
                <a:cs typeface="+mj-cs"/>
                <a:sym typeface="Huawei Sans" panose="020C0503030203020204" pitchFamily="34" charset="0"/>
              </a:rPr>
              <a:t>分布式集群</a:t>
            </a:r>
            <a:r>
              <a:rPr lang="zh-CN" altLang="en-US" sz="1600" b="1" dirty="0">
                <a:latin typeface="Huawei Sans" panose="020C0503030203020204" pitchFamily="34" charset="0"/>
                <a:ea typeface="方正兰亭黑简体" panose="02000000000000000000" pitchFamily="2" charset="-122"/>
                <a:cs typeface="+mj-cs"/>
                <a:sym typeface="Huawei Sans" panose="020C0503030203020204" pitchFamily="34" charset="0"/>
              </a:rPr>
              <a:t>架构</a:t>
            </a:r>
            <a:r>
              <a:rPr lang="zh-CN"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部署</a:t>
            </a: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，提供</a:t>
            </a:r>
            <a:r>
              <a:rPr lang="zh-CN"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高可靠性</a:t>
            </a: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和负载</a:t>
            </a:r>
            <a:r>
              <a:rPr lang="zh-CN" altLang="en-US" sz="1600">
                <a:latin typeface="Huawei Sans" panose="020C0503030203020204" pitchFamily="34" charset="0"/>
                <a:ea typeface="方正兰亭黑简体" panose="02000000000000000000" pitchFamily="2" charset="-122"/>
                <a:cs typeface="+mj-cs"/>
                <a:sym typeface="Huawei Sans" panose="020C0503030203020204" pitchFamily="34" charset="0"/>
              </a:rPr>
              <a:t>均衡能力。当</a:t>
            </a: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集群中节点故障时，其他节点接管业务，对业务</a:t>
            </a:r>
            <a:r>
              <a:rPr lang="zh-CN" altLang="en-US" sz="1600">
                <a:latin typeface="Huawei Sans" panose="020C0503030203020204" pitchFamily="34" charset="0"/>
                <a:ea typeface="方正兰亭黑简体" panose="02000000000000000000" pitchFamily="2" charset="-122"/>
                <a:cs typeface="+mj-cs"/>
                <a:sym typeface="Huawei Sans" panose="020C0503030203020204" pitchFamily="34" charset="0"/>
              </a:rPr>
              <a:t>无影响。</a:t>
            </a:r>
            <a:endPar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endParaRPr>
          </a:p>
          <a:p>
            <a:pPr marL="285664" indent="-285664">
              <a:lnSpc>
                <a:spcPct val="150000"/>
              </a:lnSpc>
              <a:buFont typeface="Arial" panose="020B0604020202020204" pitchFamily="34" charset="0"/>
              <a:buChar char="•"/>
            </a:pPr>
            <a:r>
              <a:rPr lang="zh-CN" altLang="en-US" sz="1600" b="1" dirty="0">
                <a:latin typeface="Huawei Sans" panose="020C0503030203020204" pitchFamily="34" charset="0"/>
                <a:ea typeface="方正兰亭黑简体" panose="02000000000000000000" pitchFamily="2" charset="-122"/>
                <a:cs typeface="+mj-cs"/>
                <a:sym typeface="Huawei Sans" panose="020C0503030203020204" pitchFamily="34" charset="0"/>
              </a:rPr>
              <a:t>北向负载分担：</a:t>
            </a: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外部请求分担到所有的集群成员，而不是集中在一个</a:t>
            </a:r>
            <a:r>
              <a:rPr lang="zh-CN" altLang="en-US" sz="1600">
                <a:latin typeface="Huawei Sans" panose="020C0503030203020204" pitchFamily="34" charset="0"/>
                <a:ea typeface="方正兰亭黑简体" panose="02000000000000000000" pitchFamily="2" charset="-122"/>
                <a:cs typeface="+mj-cs"/>
                <a:sym typeface="Huawei Sans" panose="020C0503030203020204" pitchFamily="34" charset="0"/>
              </a:rPr>
              <a:t>节点处理。充分</a:t>
            </a: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利用集群能力，提升可靠性。</a:t>
            </a:r>
            <a:endPar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endParaRPr>
          </a:p>
          <a:p>
            <a:pPr marL="285664" indent="-285664">
              <a:lnSpc>
                <a:spcPct val="150000"/>
              </a:lnSpc>
              <a:buFont typeface="Arial" panose="020B0604020202020204" pitchFamily="34" charset="0"/>
              <a:buChar char="•"/>
            </a:pPr>
            <a:r>
              <a:rPr lang="zh-CN" altLang="en-US" sz="1600" b="1" dirty="0">
                <a:latin typeface="Huawei Sans" panose="020C0503030203020204" pitchFamily="34" charset="0"/>
                <a:ea typeface="方正兰亭黑简体" panose="02000000000000000000" pitchFamily="2" charset="-122"/>
                <a:cs typeface="+mj-cs"/>
                <a:sym typeface="Huawei Sans" panose="020C0503030203020204" pitchFamily="34" charset="0"/>
              </a:rPr>
              <a:t>南向负载分担：</a:t>
            </a: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基于各控制器节点负载情况，为网络设备动态分配控制器节点。</a:t>
            </a:r>
            <a:endPar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graphicFrame>
        <p:nvGraphicFramePr>
          <p:cNvPr id="93" name="表格 58">
            <a:extLst>
              <a:ext uri="{FF2B5EF4-FFF2-40B4-BE49-F238E27FC236}">
                <a16:creationId xmlns:a16="http://schemas.microsoft.com/office/drawing/2014/main" id="{67BB8A46-537E-475E-8336-DC0A15525DC8}"/>
              </a:ext>
            </a:extLst>
          </p:cNvPr>
          <p:cNvGraphicFramePr>
            <a:graphicFrameLocks noGrp="1"/>
          </p:cNvGraphicFramePr>
          <p:nvPr>
            <p:extLst>
              <p:ext uri="{D42A27DB-BD31-4B8C-83A1-F6EECF244321}">
                <p14:modId xmlns:p14="http://schemas.microsoft.com/office/powerpoint/2010/main" val="1667001734"/>
              </p:ext>
            </p:extLst>
          </p:nvPr>
        </p:nvGraphicFramePr>
        <p:xfrm>
          <a:off x="5908665" y="3771056"/>
          <a:ext cx="5543235" cy="2315487"/>
        </p:xfrm>
        <a:graphic>
          <a:graphicData uri="http://schemas.openxmlformats.org/drawingml/2006/table">
            <a:tbl>
              <a:tblPr/>
              <a:tblGrid>
                <a:gridCol w="1486984">
                  <a:extLst>
                    <a:ext uri="{9D8B030D-6E8A-4147-A177-3AD203B41FA5}">
                      <a16:colId xmlns:a16="http://schemas.microsoft.com/office/drawing/2014/main" val="20000"/>
                    </a:ext>
                  </a:extLst>
                </a:gridCol>
                <a:gridCol w="4056251">
                  <a:extLst>
                    <a:ext uri="{9D8B030D-6E8A-4147-A177-3AD203B41FA5}">
                      <a16:colId xmlns:a16="http://schemas.microsoft.com/office/drawing/2014/main" val="20001"/>
                    </a:ext>
                  </a:extLst>
                </a:gridCol>
              </a:tblGrid>
              <a:tr h="372661">
                <a:tc>
                  <a:txBody>
                    <a:bodyPr/>
                    <a:lstStyle/>
                    <a:p>
                      <a:pPr indent="0" algn="ctr">
                        <a:lnSpc>
                          <a:spcPct val="100000"/>
                        </a:lnSpc>
                        <a:spcBef>
                          <a:spcPts val="0"/>
                        </a:spcBef>
                        <a:spcAft>
                          <a:spcPts val="0"/>
                        </a:spcAft>
                      </a:pPr>
                      <a:r>
                        <a:rPr lang="zh-CN" altLang="en-US" sz="1400" b="1"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集群</a:t>
                      </a:r>
                      <a:endParaRPr lang="zh-CN" altLang="en-US" sz="1400" b="1"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indent="0" algn="ctr">
                        <a:lnSpc>
                          <a:spcPct val="100000"/>
                        </a:lnSpc>
                        <a:spcBef>
                          <a:spcPts val="0"/>
                        </a:spcBef>
                        <a:spcAft>
                          <a:spcPts val="0"/>
                        </a:spcAft>
                      </a:pPr>
                      <a:r>
                        <a:rPr lang="zh-CN" altLang="en-US" sz="1400" b="1"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功能描述</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88346">
                <a:tc>
                  <a:txBody>
                    <a:bodyPr/>
                    <a:lstStyle/>
                    <a:p>
                      <a:pPr indent="0" algn="l">
                        <a:lnSpc>
                          <a:spcPct val="100000"/>
                        </a:lnSpc>
                        <a:spcBef>
                          <a:spcPts val="0"/>
                        </a:spcBef>
                        <a:spcAft>
                          <a:spcPts val="0"/>
                        </a:spcAft>
                      </a:pP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业务处理集群</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2092"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提供业务处理能力，比如</a:t>
                      </a:r>
                      <a:r>
                        <a:rPr lang="en-US" altLang="zh-CN"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CPE</a:t>
                      </a: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管理、</a:t>
                      </a:r>
                      <a:r>
                        <a:rPr lang="en-US" altLang="zh-CN"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Overlay</a:t>
                      </a: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网络配置下发、流量策略配置。</a:t>
                      </a:r>
                      <a:endParaRPr 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834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数据处理集群</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2092"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主要提供</a:t>
                      </a:r>
                      <a:r>
                        <a:rPr lang="en-US" altLang="zh-CN"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CPE</a:t>
                      </a: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性能数据存储、数据聚合等功能。</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8346">
                <a:tc>
                  <a:txBody>
                    <a:bodyPr/>
                    <a:lstStyle/>
                    <a:p>
                      <a:pPr indent="0" algn="l">
                        <a:lnSpc>
                          <a:spcPct val="100000"/>
                        </a:lnSpc>
                        <a:spcBef>
                          <a:spcPts val="0"/>
                        </a:spcBef>
                        <a:spcAft>
                          <a:spcPts val="0"/>
                        </a:spcAft>
                      </a:pP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Nginx</a:t>
                      </a:r>
                      <a:r>
                        <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集群</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2092"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高性能的</a:t>
                      </a:r>
                      <a:r>
                        <a:rPr lang="en-US" altLang="zh-CN"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HTTP</a:t>
                      </a: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代理服务器，负责并发连接请求的转发，主要用于北向流量的</a:t>
                      </a:r>
                      <a:r>
                        <a:rPr lang="en-US" altLang="zh-CN"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L4~L7</a:t>
                      </a: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层负载分担。</a:t>
                      </a:r>
                      <a:endParaRPr 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88346">
                <a:tc>
                  <a:txBody>
                    <a:bodyPr/>
                    <a:lstStyle/>
                    <a:p>
                      <a:pPr indent="0" algn="l">
                        <a:lnSpc>
                          <a:spcPct val="100000"/>
                        </a:lnSpc>
                        <a:spcBef>
                          <a:spcPts val="0"/>
                        </a:spcBef>
                        <a:spcAft>
                          <a:spcPts val="0"/>
                        </a:spcAft>
                      </a:pPr>
                      <a:r>
                        <a:rPr lang="en-US" altLang="zh-CN"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LVS</a:t>
                      </a:r>
                      <a:endParaRPr lang="zh-CN" altLang="en-US" sz="1400" b="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2092" rtl="0" eaLnBrk="1" fontAlgn="auto" latinLnBrk="0" hangingPunct="1">
                        <a:lnSpc>
                          <a:spcPct val="100000"/>
                        </a:lnSpc>
                        <a:spcBef>
                          <a:spcPts val="0"/>
                        </a:spcBef>
                        <a:spcAft>
                          <a:spcPts val="0"/>
                        </a:spcAft>
                        <a:buClrTx/>
                        <a:buSzTx/>
                        <a:buFontTx/>
                        <a:buNone/>
                        <a:tabLst/>
                        <a:defRPr/>
                      </a:pPr>
                      <a:r>
                        <a:rPr lang="en-US" altLang="zh-CN"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Linux Virtual Server </a:t>
                      </a: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a:t>
                      </a:r>
                      <a:r>
                        <a:rPr lang="en-US" altLang="zh-CN"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Load Balance</a:t>
                      </a: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，负载均衡组件），主要用户南北向流量</a:t>
                      </a:r>
                      <a:r>
                        <a:rPr lang="en-US" altLang="zh-CN"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L1~L4</a:t>
                      </a:r>
                      <a:r>
                        <a:rPr lang="zh-CN" alt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rPr>
                        <a:t>层负载分担。</a:t>
                      </a:r>
                      <a:endParaRPr lang="en-US" sz="1400" kern="1200" dirty="0">
                        <a:solidFill>
                          <a:schemeClr val="tx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4" name="圆角矩形 75">
            <a:extLst>
              <a:ext uri="{FF2B5EF4-FFF2-40B4-BE49-F238E27FC236}">
                <a16:creationId xmlns:a16="http://schemas.microsoft.com/office/drawing/2014/main" id="{B6D08118-5810-49F6-8CD2-F5B1686B4AAC}"/>
              </a:ext>
            </a:extLst>
          </p:cNvPr>
          <p:cNvSpPr/>
          <p:nvPr/>
        </p:nvSpPr>
        <p:spPr bwMode="gray">
          <a:xfrm>
            <a:off x="731837" y="1114191"/>
            <a:ext cx="4808073"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控制器分布式集群部署</a:t>
            </a:r>
          </a:p>
        </p:txBody>
      </p:sp>
      <p:sp>
        <p:nvSpPr>
          <p:cNvPr id="95" name="圆角矩形 75">
            <a:extLst>
              <a:ext uri="{FF2B5EF4-FFF2-40B4-BE49-F238E27FC236}">
                <a16:creationId xmlns:a16="http://schemas.microsoft.com/office/drawing/2014/main" id="{C477BF92-FE9D-470A-8CD7-80912AE981D9}"/>
              </a:ext>
            </a:extLst>
          </p:cNvPr>
          <p:cNvSpPr/>
          <p:nvPr/>
        </p:nvSpPr>
        <p:spPr bwMode="gray">
          <a:xfrm>
            <a:off x="731837" y="1548478"/>
            <a:ext cx="4808073" cy="455271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95">
            <a:extLst>
              <a:ext uri="{FF2B5EF4-FFF2-40B4-BE49-F238E27FC236}">
                <a16:creationId xmlns:a16="http://schemas.microsoft.com/office/drawing/2014/main" id="{380F80F0-2B73-4921-BAD4-9D80AC88E490}"/>
              </a:ext>
            </a:extLst>
          </p:cNvPr>
          <p:cNvSpPr txBox="1"/>
          <p:nvPr/>
        </p:nvSpPr>
        <p:spPr bwMode="gray">
          <a:xfrm>
            <a:off x="4074088" y="4613313"/>
            <a:ext cx="1178528"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Nginx</a:t>
            </a: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集群</a:t>
            </a:r>
          </a:p>
        </p:txBody>
      </p:sp>
      <p:sp>
        <p:nvSpPr>
          <p:cNvPr id="97" name="TextBox 96">
            <a:extLst>
              <a:ext uri="{FF2B5EF4-FFF2-40B4-BE49-F238E27FC236}">
                <a16:creationId xmlns:a16="http://schemas.microsoft.com/office/drawing/2014/main" id="{816B2377-ED46-4F29-B789-016A715E5322}"/>
              </a:ext>
            </a:extLst>
          </p:cNvPr>
          <p:cNvSpPr txBox="1"/>
          <p:nvPr/>
        </p:nvSpPr>
        <p:spPr bwMode="gray">
          <a:xfrm>
            <a:off x="4049790" y="2868544"/>
            <a:ext cx="1425391" cy="338554"/>
          </a:xfrm>
          <a:prstGeom prst="rect">
            <a:avLst/>
          </a:prstGeom>
          <a:noFill/>
        </p:spPr>
        <p:txBody>
          <a:bodyPr wrap="none" rtlCol="0">
            <a:spAutoFit/>
          </a:bodyPr>
          <a:lstStyle/>
          <a:p>
            <a:pPr algn="ct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业务处理集群</a:t>
            </a:r>
          </a:p>
        </p:txBody>
      </p:sp>
      <p:sp>
        <p:nvSpPr>
          <p:cNvPr id="98" name="TextBox 97">
            <a:extLst>
              <a:ext uri="{FF2B5EF4-FFF2-40B4-BE49-F238E27FC236}">
                <a16:creationId xmlns:a16="http://schemas.microsoft.com/office/drawing/2014/main" id="{ED69732D-1649-43F4-A0CB-320B3AF3516A}"/>
              </a:ext>
            </a:extLst>
          </p:cNvPr>
          <p:cNvSpPr txBox="1"/>
          <p:nvPr/>
        </p:nvSpPr>
        <p:spPr bwMode="gray">
          <a:xfrm>
            <a:off x="4046244" y="3773546"/>
            <a:ext cx="1425391" cy="338554"/>
          </a:xfrm>
          <a:prstGeom prst="rect">
            <a:avLst/>
          </a:prstGeom>
          <a:noFill/>
        </p:spPr>
        <p:txBody>
          <a:bodyPr wrap="none" rtlCol="0">
            <a:spAutoFit/>
          </a:bodyPr>
          <a:lstStyle/>
          <a:p>
            <a:pPr algn="ct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数据处理集群</a:t>
            </a:r>
          </a:p>
        </p:txBody>
      </p:sp>
      <p:sp>
        <p:nvSpPr>
          <p:cNvPr id="99" name="TextBox 98">
            <a:extLst>
              <a:ext uri="{FF2B5EF4-FFF2-40B4-BE49-F238E27FC236}">
                <a16:creationId xmlns:a16="http://schemas.microsoft.com/office/drawing/2014/main" id="{4A2C7C27-2414-404D-9A73-975AC2D2DF26}"/>
              </a:ext>
            </a:extLst>
          </p:cNvPr>
          <p:cNvSpPr txBox="1"/>
          <p:nvPr/>
        </p:nvSpPr>
        <p:spPr bwMode="gray">
          <a:xfrm>
            <a:off x="4100657" y="5391120"/>
            <a:ext cx="548548" cy="338554"/>
          </a:xfrm>
          <a:prstGeom prst="rect">
            <a:avLst/>
          </a:prstGeom>
          <a:noFill/>
        </p:spPr>
        <p:txBody>
          <a:bodyPr wrap="none" rtlCol="0">
            <a:spAutoFit/>
          </a:bodyPr>
          <a:lstStyle/>
          <a:p>
            <a:pPr algn="ctr"/>
            <a:r>
              <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LVS</a:t>
            </a:r>
            <a:endPar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pic>
        <p:nvPicPr>
          <p:cNvPr id="100" name="图片 44">
            <a:extLst>
              <a:ext uri="{FF2B5EF4-FFF2-40B4-BE49-F238E27FC236}">
                <a16:creationId xmlns:a16="http://schemas.microsoft.com/office/drawing/2014/main" id="{C4E0364E-7B3F-4B0B-AAFE-05505D5F0C8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400554" y="1783255"/>
            <a:ext cx="618095" cy="602413"/>
          </a:xfrm>
          <a:prstGeom prst="rect">
            <a:avLst/>
          </a:prstGeom>
        </p:spPr>
      </p:pic>
      <p:pic>
        <p:nvPicPr>
          <p:cNvPr id="101" name="图片 47">
            <a:extLst>
              <a:ext uri="{FF2B5EF4-FFF2-40B4-BE49-F238E27FC236}">
                <a16:creationId xmlns:a16="http://schemas.microsoft.com/office/drawing/2014/main" id="{6F631339-BE71-43C1-8A8A-B875A82BE2D1}"/>
              </a:ext>
            </a:extLst>
          </p:cNvPr>
          <p:cNvPicPr>
            <a:picLocks/>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329465" y="1776108"/>
            <a:ext cx="618095" cy="602413"/>
          </a:xfrm>
          <a:prstGeom prst="rect">
            <a:avLst/>
          </a:prstGeom>
        </p:spPr>
      </p:pic>
      <p:pic>
        <p:nvPicPr>
          <p:cNvPr id="102" name="图片 48">
            <a:extLst>
              <a:ext uri="{FF2B5EF4-FFF2-40B4-BE49-F238E27FC236}">
                <a16:creationId xmlns:a16="http://schemas.microsoft.com/office/drawing/2014/main" id="{6B633F13-3DE5-46D3-9F68-612370C22E6C}"/>
              </a:ext>
            </a:extLst>
          </p:cNvPr>
          <p:cNvPicPr>
            <a:picLocks/>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266935" y="1786092"/>
            <a:ext cx="618095" cy="602413"/>
          </a:xfrm>
          <a:prstGeom prst="rect">
            <a:avLst/>
          </a:prstGeom>
        </p:spPr>
      </p:pic>
      <p:sp>
        <p:nvSpPr>
          <p:cNvPr id="103" name="TextBox 102">
            <a:extLst>
              <a:ext uri="{FF2B5EF4-FFF2-40B4-BE49-F238E27FC236}">
                <a16:creationId xmlns:a16="http://schemas.microsoft.com/office/drawing/2014/main" id="{D41342F2-303F-4F3A-B37D-922BD73FAA9E}"/>
              </a:ext>
            </a:extLst>
          </p:cNvPr>
          <p:cNvSpPr txBox="1"/>
          <p:nvPr/>
        </p:nvSpPr>
        <p:spPr bwMode="gray">
          <a:xfrm>
            <a:off x="4074088" y="1915184"/>
            <a:ext cx="1218602" cy="338554"/>
          </a:xfrm>
          <a:prstGeom prst="rect">
            <a:avLst/>
          </a:prstGeom>
          <a:noFill/>
        </p:spPr>
        <p:txBody>
          <a:bodyPr wrap="none" rtlCol="0">
            <a:spAutoFit/>
          </a:bodyPr>
          <a:lstStyle/>
          <a:p>
            <a:pPr algn="ct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物理服务器</a:t>
            </a:r>
          </a:p>
        </p:txBody>
      </p:sp>
      <p:pic>
        <p:nvPicPr>
          <p:cNvPr id="104" name="图片 60" descr="交换机.png">
            <a:extLst>
              <a:ext uri="{FF2B5EF4-FFF2-40B4-BE49-F238E27FC236}">
                <a16:creationId xmlns:a16="http://schemas.microsoft.com/office/drawing/2014/main" id="{79A93E91-D178-4C8B-9430-889AA7D1CFEF}"/>
              </a:ext>
            </a:extLst>
          </p:cNvPr>
          <p:cNvPicPr>
            <a:picLocks noChangeAspect="1"/>
          </p:cNvPicPr>
          <p:nvPr/>
        </p:nvPicPr>
        <p:blipFill>
          <a:blip r:embed="rId4" cstate="print"/>
          <a:stretch>
            <a:fillRect/>
          </a:stretch>
        </p:blipFill>
        <p:spPr bwMode="gray">
          <a:xfrm>
            <a:off x="1435773" y="2835794"/>
            <a:ext cx="540000" cy="441817"/>
          </a:xfrm>
          <a:prstGeom prst="rect">
            <a:avLst/>
          </a:prstGeom>
        </p:spPr>
      </p:pic>
      <p:pic>
        <p:nvPicPr>
          <p:cNvPr id="105" name="图片 60" descr="交换机.png">
            <a:extLst>
              <a:ext uri="{FF2B5EF4-FFF2-40B4-BE49-F238E27FC236}">
                <a16:creationId xmlns:a16="http://schemas.microsoft.com/office/drawing/2014/main" id="{9E316CB2-7E76-4CEF-8BD2-2FC817F5F550}"/>
              </a:ext>
            </a:extLst>
          </p:cNvPr>
          <p:cNvPicPr>
            <a:picLocks noChangeAspect="1"/>
          </p:cNvPicPr>
          <p:nvPr/>
        </p:nvPicPr>
        <p:blipFill>
          <a:blip r:embed="rId4" cstate="print"/>
          <a:stretch>
            <a:fillRect/>
          </a:stretch>
        </p:blipFill>
        <p:spPr bwMode="gray">
          <a:xfrm>
            <a:off x="1435773" y="3690789"/>
            <a:ext cx="540000" cy="441817"/>
          </a:xfrm>
          <a:prstGeom prst="rect">
            <a:avLst/>
          </a:prstGeom>
        </p:spPr>
      </p:pic>
      <p:pic>
        <p:nvPicPr>
          <p:cNvPr id="106" name="图片 60" descr="交换机.png">
            <a:extLst>
              <a:ext uri="{FF2B5EF4-FFF2-40B4-BE49-F238E27FC236}">
                <a16:creationId xmlns:a16="http://schemas.microsoft.com/office/drawing/2014/main" id="{42B434A5-AD8F-45FB-BE70-5C2C105EC5C4}"/>
              </a:ext>
            </a:extLst>
          </p:cNvPr>
          <p:cNvPicPr>
            <a:picLocks noChangeAspect="1"/>
          </p:cNvPicPr>
          <p:nvPr/>
        </p:nvPicPr>
        <p:blipFill>
          <a:blip r:embed="rId4" cstate="print"/>
          <a:stretch>
            <a:fillRect/>
          </a:stretch>
        </p:blipFill>
        <p:spPr bwMode="gray">
          <a:xfrm>
            <a:off x="1435773" y="4546019"/>
            <a:ext cx="540000" cy="441817"/>
          </a:xfrm>
          <a:prstGeom prst="rect">
            <a:avLst/>
          </a:prstGeom>
        </p:spPr>
      </p:pic>
      <p:pic>
        <p:nvPicPr>
          <p:cNvPr id="107" name="图片 60" descr="交换机.png">
            <a:extLst>
              <a:ext uri="{FF2B5EF4-FFF2-40B4-BE49-F238E27FC236}">
                <a16:creationId xmlns:a16="http://schemas.microsoft.com/office/drawing/2014/main" id="{DEA10030-FA3D-4CE9-84EC-806DE9854637}"/>
              </a:ext>
            </a:extLst>
          </p:cNvPr>
          <p:cNvPicPr>
            <a:picLocks noChangeAspect="1"/>
          </p:cNvPicPr>
          <p:nvPr/>
        </p:nvPicPr>
        <p:blipFill>
          <a:blip r:embed="rId4" cstate="print"/>
          <a:stretch>
            <a:fillRect/>
          </a:stretch>
        </p:blipFill>
        <p:spPr bwMode="gray">
          <a:xfrm>
            <a:off x="1435773" y="5403668"/>
            <a:ext cx="540000" cy="441817"/>
          </a:xfrm>
          <a:prstGeom prst="rect">
            <a:avLst/>
          </a:prstGeom>
        </p:spPr>
      </p:pic>
      <p:pic>
        <p:nvPicPr>
          <p:cNvPr id="108" name="图片 60" descr="交换机.png">
            <a:extLst>
              <a:ext uri="{FF2B5EF4-FFF2-40B4-BE49-F238E27FC236}">
                <a16:creationId xmlns:a16="http://schemas.microsoft.com/office/drawing/2014/main" id="{018ECEF6-1606-4762-8424-8338519ACFDA}"/>
              </a:ext>
            </a:extLst>
          </p:cNvPr>
          <p:cNvPicPr>
            <a:picLocks noChangeAspect="1"/>
          </p:cNvPicPr>
          <p:nvPr/>
        </p:nvPicPr>
        <p:blipFill>
          <a:blip r:embed="rId4" cstate="print">
            <a:duotone>
              <a:schemeClr val="accent2">
                <a:shade val="45000"/>
                <a:satMod val="135000"/>
              </a:schemeClr>
              <a:prstClr val="white"/>
            </a:duotone>
          </a:blip>
          <a:stretch>
            <a:fillRect/>
          </a:stretch>
        </p:blipFill>
        <p:spPr bwMode="gray">
          <a:xfrm>
            <a:off x="2341355" y="2851457"/>
            <a:ext cx="540000" cy="441817"/>
          </a:xfrm>
          <a:prstGeom prst="rect">
            <a:avLst/>
          </a:prstGeom>
        </p:spPr>
      </p:pic>
      <p:pic>
        <p:nvPicPr>
          <p:cNvPr id="109" name="图片 60" descr="交换机.png">
            <a:extLst>
              <a:ext uri="{FF2B5EF4-FFF2-40B4-BE49-F238E27FC236}">
                <a16:creationId xmlns:a16="http://schemas.microsoft.com/office/drawing/2014/main" id="{2C9692D8-9992-43CB-B00B-9D0A03AAC3C4}"/>
              </a:ext>
            </a:extLst>
          </p:cNvPr>
          <p:cNvPicPr>
            <a:picLocks noChangeAspect="1"/>
          </p:cNvPicPr>
          <p:nvPr/>
        </p:nvPicPr>
        <p:blipFill>
          <a:blip r:embed="rId4" cstate="print">
            <a:duotone>
              <a:schemeClr val="accent2">
                <a:shade val="45000"/>
                <a:satMod val="135000"/>
              </a:schemeClr>
              <a:prstClr val="white"/>
            </a:duotone>
          </a:blip>
          <a:stretch>
            <a:fillRect/>
          </a:stretch>
        </p:blipFill>
        <p:spPr bwMode="gray">
          <a:xfrm>
            <a:off x="2341355" y="3706452"/>
            <a:ext cx="540000" cy="441817"/>
          </a:xfrm>
          <a:prstGeom prst="rect">
            <a:avLst/>
          </a:prstGeom>
        </p:spPr>
      </p:pic>
      <p:pic>
        <p:nvPicPr>
          <p:cNvPr id="110" name="图片 60" descr="交换机.png">
            <a:extLst>
              <a:ext uri="{FF2B5EF4-FFF2-40B4-BE49-F238E27FC236}">
                <a16:creationId xmlns:a16="http://schemas.microsoft.com/office/drawing/2014/main" id="{25B1C18C-D089-45D6-AF0C-892BD567B033}"/>
              </a:ext>
            </a:extLst>
          </p:cNvPr>
          <p:cNvPicPr>
            <a:picLocks noChangeAspect="1"/>
          </p:cNvPicPr>
          <p:nvPr/>
        </p:nvPicPr>
        <p:blipFill>
          <a:blip r:embed="rId4" cstate="print">
            <a:duotone>
              <a:schemeClr val="accent2">
                <a:shade val="45000"/>
                <a:satMod val="135000"/>
              </a:schemeClr>
              <a:prstClr val="white"/>
            </a:duotone>
          </a:blip>
          <a:stretch>
            <a:fillRect/>
          </a:stretch>
        </p:blipFill>
        <p:spPr bwMode="gray">
          <a:xfrm>
            <a:off x="2341355" y="4561682"/>
            <a:ext cx="540000" cy="441817"/>
          </a:xfrm>
          <a:prstGeom prst="rect">
            <a:avLst/>
          </a:prstGeom>
        </p:spPr>
      </p:pic>
      <p:pic>
        <p:nvPicPr>
          <p:cNvPr id="111" name="图片 60" descr="交换机.png">
            <a:extLst>
              <a:ext uri="{FF2B5EF4-FFF2-40B4-BE49-F238E27FC236}">
                <a16:creationId xmlns:a16="http://schemas.microsoft.com/office/drawing/2014/main" id="{84ED8861-55E6-42D3-8FAB-629193FD167B}"/>
              </a:ext>
            </a:extLst>
          </p:cNvPr>
          <p:cNvPicPr>
            <a:picLocks noChangeAspect="1"/>
          </p:cNvPicPr>
          <p:nvPr/>
        </p:nvPicPr>
        <p:blipFill>
          <a:blip r:embed="rId4" cstate="print">
            <a:duotone>
              <a:schemeClr val="accent6">
                <a:shade val="45000"/>
                <a:satMod val="135000"/>
              </a:schemeClr>
              <a:prstClr val="white"/>
            </a:duotone>
          </a:blip>
          <a:stretch>
            <a:fillRect/>
          </a:stretch>
        </p:blipFill>
        <p:spPr bwMode="gray">
          <a:xfrm>
            <a:off x="3264614" y="2847100"/>
            <a:ext cx="540000" cy="441817"/>
          </a:xfrm>
          <a:prstGeom prst="rect">
            <a:avLst/>
          </a:prstGeom>
        </p:spPr>
      </p:pic>
      <p:pic>
        <p:nvPicPr>
          <p:cNvPr id="112" name="图片 60" descr="交换机.png">
            <a:extLst>
              <a:ext uri="{FF2B5EF4-FFF2-40B4-BE49-F238E27FC236}">
                <a16:creationId xmlns:a16="http://schemas.microsoft.com/office/drawing/2014/main" id="{1418FC57-F243-43D2-8B1F-1D4E665E1774}"/>
              </a:ext>
            </a:extLst>
          </p:cNvPr>
          <p:cNvPicPr>
            <a:picLocks noChangeAspect="1"/>
          </p:cNvPicPr>
          <p:nvPr/>
        </p:nvPicPr>
        <p:blipFill>
          <a:blip r:embed="rId4" cstate="print">
            <a:duotone>
              <a:schemeClr val="accent6">
                <a:shade val="45000"/>
                <a:satMod val="135000"/>
              </a:schemeClr>
              <a:prstClr val="white"/>
            </a:duotone>
          </a:blip>
          <a:stretch>
            <a:fillRect/>
          </a:stretch>
        </p:blipFill>
        <p:spPr bwMode="gray">
          <a:xfrm>
            <a:off x="3264614" y="3702095"/>
            <a:ext cx="540000" cy="441817"/>
          </a:xfrm>
          <a:prstGeom prst="rect">
            <a:avLst/>
          </a:prstGeom>
        </p:spPr>
      </p:pic>
      <p:pic>
        <p:nvPicPr>
          <p:cNvPr id="113" name="图片 60" descr="交换机.png">
            <a:extLst>
              <a:ext uri="{FF2B5EF4-FFF2-40B4-BE49-F238E27FC236}">
                <a16:creationId xmlns:a16="http://schemas.microsoft.com/office/drawing/2014/main" id="{5EDD64C1-3EA6-4F28-984A-EB4227EC8AE0}"/>
              </a:ext>
            </a:extLst>
          </p:cNvPr>
          <p:cNvPicPr>
            <a:picLocks noChangeAspect="1"/>
          </p:cNvPicPr>
          <p:nvPr/>
        </p:nvPicPr>
        <p:blipFill>
          <a:blip r:embed="rId4" cstate="print">
            <a:duotone>
              <a:schemeClr val="accent6">
                <a:shade val="45000"/>
                <a:satMod val="135000"/>
              </a:schemeClr>
              <a:prstClr val="white"/>
            </a:duotone>
          </a:blip>
          <a:stretch>
            <a:fillRect/>
          </a:stretch>
        </p:blipFill>
        <p:spPr bwMode="gray">
          <a:xfrm>
            <a:off x="3264614" y="5414974"/>
            <a:ext cx="540000" cy="441817"/>
          </a:xfrm>
          <a:prstGeom prst="rect">
            <a:avLst/>
          </a:prstGeom>
        </p:spPr>
      </p:pic>
      <p:sp>
        <p:nvSpPr>
          <p:cNvPr id="114" name="TextBox 113">
            <a:extLst>
              <a:ext uri="{FF2B5EF4-FFF2-40B4-BE49-F238E27FC236}">
                <a16:creationId xmlns:a16="http://schemas.microsoft.com/office/drawing/2014/main" id="{F8D7C424-C476-43C9-9EE3-53ACDB28A63F}"/>
              </a:ext>
            </a:extLst>
          </p:cNvPr>
          <p:cNvSpPr txBox="1"/>
          <p:nvPr/>
        </p:nvSpPr>
        <p:spPr bwMode="gray">
          <a:xfrm rot="16200000">
            <a:off x="-295416" y="4173097"/>
            <a:ext cx="2774601" cy="338554"/>
          </a:xfrm>
          <a:prstGeom prst="rect">
            <a:avLst/>
          </a:prstGeom>
          <a:solidFill>
            <a:schemeClr val="bg1">
              <a:lumMod val="85000"/>
            </a:schemeClr>
          </a:solidFill>
        </p:spPr>
        <p:txBody>
          <a:bodyPr wrap="square" rtlCol="0">
            <a:spAutoFit/>
          </a:bodyPr>
          <a:lstStyle/>
          <a:p>
            <a:pPr algn="ct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虚拟机</a:t>
            </a:r>
          </a:p>
        </p:txBody>
      </p:sp>
    </p:spTree>
    <p:extLst>
      <p:ext uri="{BB962C8B-B14F-4D97-AF65-F5344CB8AC3E}">
        <p14:creationId xmlns:p14="http://schemas.microsoft.com/office/powerpoint/2010/main" val="41955028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EC95D-F188-4C3B-9EC7-5B1A4A2C3D72}"/>
              </a:ext>
            </a:extLst>
          </p:cNvPr>
          <p:cNvSpPr>
            <a:spLocks noGrp="1"/>
          </p:cNvSpPr>
          <p:nvPr>
            <p:ph type="title"/>
          </p:nvPr>
        </p:nvSpPr>
        <p:spPr bwMode="gray"/>
        <p:txBody>
          <a:bodyPr/>
          <a:lstStyle/>
          <a:p>
            <a:r>
              <a:rPr lang="zh-CN" altLang="en-US" dirty="0"/>
              <a:t>控制器容灾部署设计</a:t>
            </a:r>
            <a:endParaRPr lang="en-US" dirty="0"/>
          </a:p>
        </p:txBody>
      </p:sp>
      <p:sp>
        <p:nvSpPr>
          <p:cNvPr id="3" name="Text Placeholder 2">
            <a:extLst>
              <a:ext uri="{FF2B5EF4-FFF2-40B4-BE49-F238E27FC236}">
                <a16:creationId xmlns:a16="http://schemas.microsoft.com/office/drawing/2014/main" id="{3A132D59-1288-4ABE-AC3D-7659E3204706}"/>
              </a:ext>
            </a:extLst>
          </p:cNvPr>
          <p:cNvSpPr>
            <a:spLocks noGrp="1"/>
          </p:cNvSpPr>
          <p:nvPr>
            <p:ph type="body" sz="quarter" idx="10"/>
          </p:nvPr>
        </p:nvSpPr>
        <p:spPr bwMode="gray"/>
        <p:txBody>
          <a:bodyPr/>
          <a:lstStyle/>
          <a:p>
            <a:r>
              <a:rPr lang="zh-CN" altLang="en-US" sz="1800" dirty="0"/>
              <a:t>异地容灾系统由两套</a:t>
            </a:r>
            <a:r>
              <a:rPr lang="en-US" altLang="zh-CN" sz="1800" dirty="0" err="1"/>
              <a:t>iMaster</a:t>
            </a:r>
            <a:r>
              <a:rPr lang="en-US" altLang="zh-CN" sz="1800" dirty="0"/>
              <a:t> NCE</a:t>
            </a:r>
            <a:r>
              <a:rPr lang="zh-CN" altLang="en-US" sz="1800" dirty="0"/>
              <a:t>组成，分别部署在两个异地站点上。</a:t>
            </a:r>
            <a:endParaRPr lang="en-US" altLang="zh-CN" sz="1800" dirty="0"/>
          </a:p>
        </p:txBody>
      </p:sp>
      <p:sp>
        <p:nvSpPr>
          <p:cNvPr id="88" name="五边形 2">
            <a:extLst>
              <a:ext uri="{FF2B5EF4-FFF2-40B4-BE49-F238E27FC236}">
                <a16:creationId xmlns:a16="http://schemas.microsoft.com/office/drawing/2014/main" id="{FFA01418-D0D6-40EA-85D7-337C9E6F61C5}"/>
              </a:ext>
            </a:extLst>
          </p:cNvPr>
          <p:cNvSpPr/>
          <p:nvPr/>
        </p:nvSpPr>
        <p:spPr bwMode="gray">
          <a:xfrm>
            <a:off x="8370630" y="40227"/>
            <a:ext cx="1662685"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控制器部署可靠性设计</a:t>
            </a:r>
          </a:p>
        </p:txBody>
      </p:sp>
      <p:sp>
        <p:nvSpPr>
          <p:cNvPr id="90" name="燕尾形 3">
            <a:extLst>
              <a:ext uri="{FF2B5EF4-FFF2-40B4-BE49-F238E27FC236}">
                <a16:creationId xmlns:a16="http://schemas.microsoft.com/office/drawing/2014/main" id="{EF5813DE-4D49-456D-90F9-31A04A91EE8E}"/>
              </a:ext>
            </a:extLst>
          </p:cNvPr>
          <p:cNvSpPr/>
          <p:nvPr/>
        </p:nvSpPr>
        <p:spPr bwMode="gray">
          <a:xfrm>
            <a:off x="9962130" y="40227"/>
            <a:ext cx="17803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控制器组网可靠性设计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圆角矩形 16">
            <a:extLst>
              <a:ext uri="{FF2B5EF4-FFF2-40B4-BE49-F238E27FC236}">
                <a16:creationId xmlns:a16="http://schemas.microsoft.com/office/drawing/2014/main" id="{0EF2FE69-3E9D-4D72-98A8-F60A3C93554C}"/>
              </a:ext>
            </a:extLst>
          </p:cNvPr>
          <p:cNvSpPr/>
          <p:nvPr/>
        </p:nvSpPr>
        <p:spPr bwMode="gray">
          <a:xfrm>
            <a:off x="726228" y="2518906"/>
            <a:ext cx="1866253" cy="2394864"/>
          </a:xfrm>
          <a:prstGeom prst="roundRect">
            <a:avLst>
              <a:gd name="adj" fmla="val 4941"/>
            </a:avLst>
          </a:prstGeom>
          <a:ln w="19050">
            <a:solidFill>
              <a:srgbClr val="56C4D2"/>
            </a:solidFill>
            <a:prstDash val="dash"/>
          </a:ln>
        </p:spPr>
        <p:txBody>
          <a:bodyPr wrap="square" rtlCol="0" anchor="t">
            <a:noAutofit/>
          </a:bodyPr>
          <a:lstStyle/>
          <a:p>
            <a:pPr algn="ctr"/>
            <a:endParaRPr lang="zh-CN" altLang="en-US" sz="14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pic>
        <p:nvPicPr>
          <p:cNvPr id="117" name="图片 60" descr="交换机.png">
            <a:extLst>
              <a:ext uri="{FF2B5EF4-FFF2-40B4-BE49-F238E27FC236}">
                <a16:creationId xmlns:a16="http://schemas.microsoft.com/office/drawing/2014/main" id="{8D8AC6A5-4AF6-47F8-96FA-C84F6A1A73B0}"/>
              </a:ext>
            </a:extLst>
          </p:cNvPr>
          <p:cNvPicPr>
            <a:picLocks noChangeAspect="1"/>
          </p:cNvPicPr>
          <p:nvPr/>
        </p:nvPicPr>
        <p:blipFill>
          <a:blip r:embed="rId3" cstate="print"/>
          <a:stretch>
            <a:fillRect/>
          </a:stretch>
        </p:blipFill>
        <p:spPr bwMode="gray">
          <a:xfrm>
            <a:off x="1385150" y="2751595"/>
            <a:ext cx="540000" cy="441817"/>
          </a:xfrm>
          <a:prstGeom prst="rect">
            <a:avLst/>
          </a:prstGeom>
        </p:spPr>
      </p:pic>
      <p:pic>
        <p:nvPicPr>
          <p:cNvPr id="118" name="图片 60" descr="交换机.png">
            <a:extLst>
              <a:ext uri="{FF2B5EF4-FFF2-40B4-BE49-F238E27FC236}">
                <a16:creationId xmlns:a16="http://schemas.microsoft.com/office/drawing/2014/main" id="{D84EA0CE-4CC8-4539-B1EF-DF289F8F0291}"/>
              </a:ext>
            </a:extLst>
          </p:cNvPr>
          <p:cNvPicPr>
            <a:picLocks noChangeAspect="1"/>
          </p:cNvPicPr>
          <p:nvPr/>
        </p:nvPicPr>
        <p:blipFill>
          <a:blip r:embed="rId3" cstate="print"/>
          <a:stretch>
            <a:fillRect/>
          </a:stretch>
        </p:blipFill>
        <p:spPr bwMode="gray">
          <a:xfrm>
            <a:off x="1385150" y="3513939"/>
            <a:ext cx="540000" cy="441817"/>
          </a:xfrm>
          <a:prstGeom prst="rect">
            <a:avLst/>
          </a:prstGeom>
        </p:spPr>
      </p:pic>
      <p:pic>
        <p:nvPicPr>
          <p:cNvPr id="119" name="图片 60" descr="交换机.png">
            <a:extLst>
              <a:ext uri="{FF2B5EF4-FFF2-40B4-BE49-F238E27FC236}">
                <a16:creationId xmlns:a16="http://schemas.microsoft.com/office/drawing/2014/main" id="{05EF05DE-3B91-4671-890C-D9B383EA87EC}"/>
              </a:ext>
            </a:extLst>
          </p:cNvPr>
          <p:cNvPicPr>
            <a:picLocks noChangeAspect="1"/>
          </p:cNvPicPr>
          <p:nvPr/>
        </p:nvPicPr>
        <p:blipFill>
          <a:blip r:embed="rId3" cstate="print"/>
          <a:stretch>
            <a:fillRect/>
          </a:stretch>
        </p:blipFill>
        <p:spPr bwMode="gray">
          <a:xfrm>
            <a:off x="1385150" y="4276283"/>
            <a:ext cx="540000" cy="441817"/>
          </a:xfrm>
          <a:prstGeom prst="rect">
            <a:avLst/>
          </a:prstGeom>
        </p:spPr>
      </p:pic>
      <p:sp>
        <p:nvSpPr>
          <p:cNvPr id="120" name="Rectangle: Rounded Corners 119">
            <a:extLst>
              <a:ext uri="{FF2B5EF4-FFF2-40B4-BE49-F238E27FC236}">
                <a16:creationId xmlns:a16="http://schemas.microsoft.com/office/drawing/2014/main" id="{A097F894-3464-4AD8-9209-E5A74C7E03A6}"/>
              </a:ext>
            </a:extLst>
          </p:cNvPr>
          <p:cNvSpPr/>
          <p:nvPr/>
        </p:nvSpPr>
        <p:spPr bwMode="gray">
          <a:xfrm>
            <a:off x="831309" y="2258976"/>
            <a:ext cx="732472" cy="259930"/>
          </a:xfrm>
          <a:prstGeom prst="roundRect">
            <a:avLst>
              <a:gd name="adj" fmla="val 4012"/>
            </a:avLst>
          </a:prstGeom>
          <a:solidFill>
            <a:srgbClr val="56C4D2"/>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主站点</a:t>
            </a:r>
            <a:endParaRPr lang="en-US" sz="1200" dirty="0"/>
          </a:p>
        </p:txBody>
      </p:sp>
      <p:sp>
        <p:nvSpPr>
          <p:cNvPr id="121" name="圆角矩形 16">
            <a:extLst>
              <a:ext uri="{FF2B5EF4-FFF2-40B4-BE49-F238E27FC236}">
                <a16:creationId xmlns:a16="http://schemas.microsoft.com/office/drawing/2014/main" id="{13FBE522-5FC3-4AFC-98BA-7CCE72845913}"/>
              </a:ext>
            </a:extLst>
          </p:cNvPr>
          <p:cNvSpPr/>
          <p:nvPr/>
        </p:nvSpPr>
        <p:spPr bwMode="gray">
          <a:xfrm>
            <a:off x="4460028" y="2518906"/>
            <a:ext cx="1866253" cy="2394864"/>
          </a:xfrm>
          <a:prstGeom prst="roundRect">
            <a:avLst>
              <a:gd name="adj" fmla="val 4431"/>
            </a:avLst>
          </a:prstGeom>
          <a:ln w="19050">
            <a:solidFill>
              <a:srgbClr val="56C4D2"/>
            </a:solidFill>
            <a:prstDash val="dash"/>
          </a:ln>
        </p:spPr>
        <p:txBody>
          <a:bodyPr wrap="square" rtlCol="0" anchor="t">
            <a:noAutofit/>
          </a:bodyPr>
          <a:lstStyle/>
          <a:p>
            <a:pPr algn="ctr"/>
            <a:endParaRPr lang="zh-CN" altLang="en-US" sz="14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pic>
        <p:nvPicPr>
          <p:cNvPr id="122" name="图片 60" descr="交换机.png">
            <a:extLst>
              <a:ext uri="{FF2B5EF4-FFF2-40B4-BE49-F238E27FC236}">
                <a16:creationId xmlns:a16="http://schemas.microsoft.com/office/drawing/2014/main" id="{94157FE5-0687-4C4B-9B15-4CE56C025516}"/>
              </a:ext>
            </a:extLst>
          </p:cNvPr>
          <p:cNvPicPr>
            <a:picLocks noChangeAspect="1"/>
          </p:cNvPicPr>
          <p:nvPr/>
        </p:nvPicPr>
        <p:blipFill>
          <a:blip r:embed="rId3" cstate="print"/>
          <a:stretch>
            <a:fillRect/>
          </a:stretch>
        </p:blipFill>
        <p:spPr bwMode="gray">
          <a:xfrm>
            <a:off x="5118950" y="2751595"/>
            <a:ext cx="540000" cy="441817"/>
          </a:xfrm>
          <a:prstGeom prst="rect">
            <a:avLst/>
          </a:prstGeom>
        </p:spPr>
      </p:pic>
      <p:pic>
        <p:nvPicPr>
          <p:cNvPr id="123" name="图片 60" descr="交换机.png">
            <a:extLst>
              <a:ext uri="{FF2B5EF4-FFF2-40B4-BE49-F238E27FC236}">
                <a16:creationId xmlns:a16="http://schemas.microsoft.com/office/drawing/2014/main" id="{E32E54B6-64B7-44B9-B13F-63636DC8AD6A}"/>
              </a:ext>
            </a:extLst>
          </p:cNvPr>
          <p:cNvPicPr>
            <a:picLocks noChangeAspect="1"/>
          </p:cNvPicPr>
          <p:nvPr/>
        </p:nvPicPr>
        <p:blipFill>
          <a:blip r:embed="rId3" cstate="print"/>
          <a:stretch>
            <a:fillRect/>
          </a:stretch>
        </p:blipFill>
        <p:spPr bwMode="gray">
          <a:xfrm>
            <a:off x="5118950" y="3513939"/>
            <a:ext cx="540000" cy="441817"/>
          </a:xfrm>
          <a:prstGeom prst="rect">
            <a:avLst/>
          </a:prstGeom>
        </p:spPr>
      </p:pic>
      <p:pic>
        <p:nvPicPr>
          <p:cNvPr id="124" name="图片 60" descr="交换机.png">
            <a:extLst>
              <a:ext uri="{FF2B5EF4-FFF2-40B4-BE49-F238E27FC236}">
                <a16:creationId xmlns:a16="http://schemas.microsoft.com/office/drawing/2014/main" id="{55EA989A-0E91-45BE-A2C5-88F02898E961}"/>
              </a:ext>
            </a:extLst>
          </p:cNvPr>
          <p:cNvPicPr>
            <a:picLocks noChangeAspect="1"/>
          </p:cNvPicPr>
          <p:nvPr/>
        </p:nvPicPr>
        <p:blipFill>
          <a:blip r:embed="rId3" cstate="print"/>
          <a:stretch>
            <a:fillRect/>
          </a:stretch>
        </p:blipFill>
        <p:spPr bwMode="gray">
          <a:xfrm>
            <a:off x="5118950" y="4276283"/>
            <a:ext cx="540000" cy="441817"/>
          </a:xfrm>
          <a:prstGeom prst="rect">
            <a:avLst/>
          </a:prstGeom>
        </p:spPr>
      </p:pic>
      <p:sp>
        <p:nvSpPr>
          <p:cNvPr id="125" name="Rectangle: Rounded Corners 124">
            <a:extLst>
              <a:ext uri="{FF2B5EF4-FFF2-40B4-BE49-F238E27FC236}">
                <a16:creationId xmlns:a16="http://schemas.microsoft.com/office/drawing/2014/main" id="{D74A7C76-5E5A-4AD0-88C3-48C858E5867A}"/>
              </a:ext>
            </a:extLst>
          </p:cNvPr>
          <p:cNvSpPr/>
          <p:nvPr/>
        </p:nvSpPr>
        <p:spPr bwMode="gray">
          <a:xfrm>
            <a:off x="4565109" y="2258976"/>
            <a:ext cx="732472" cy="259930"/>
          </a:xfrm>
          <a:prstGeom prst="roundRect">
            <a:avLst>
              <a:gd name="adj" fmla="val 4012"/>
            </a:avLst>
          </a:prstGeom>
          <a:solidFill>
            <a:srgbClr val="56C4D2"/>
          </a:solidFill>
          <a:ln w="1905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备站点</a:t>
            </a:r>
            <a:endParaRPr lang="en-US" sz="1200" dirty="0"/>
          </a:p>
        </p:txBody>
      </p:sp>
      <p:sp>
        <p:nvSpPr>
          <p:cNvPr id="126" name="圆角矩形 16">
            <a:extLst>
              <a:ext uri="{FF2B5EF4-FFF2-40B4-BE49-F238E27FC236}">
                <a16:creationId xmlns:a16="http://schemas.microsoft.com/office/drawing/2014/main" id="{7FAA3870-8403-4B9B-ABBC-5B18B47DFE6C}"/>
              </a:ext>
            </a:extLst>
          </p:cNvPr>
          <p:cNvSpPr/>
          <p:nvPr/>
        </p:nvSpPr>
        <p:spPr bwMode="gray">
          <a:xfrm>
            <a:off x="1130736" y="2671306"/>
            <a:ext cx="1056628" cy="2127476"/>
          </a:xfrm>
          <a:prstGeom prst="roundRect">
            <a:avLst>
              <a:gd name="adj" fmla="val 4941"/>
            </a:avLst>
          </a:prstGeom>
          <a:ln w="19050">
            <a:solidFill>
              <a:schemeClr val="bg1">
                <a:lumMod val="50000"/>
              </a:schemeClr>
            </a:solidFill>
            <a:prstDash val="dash"/>
          </a:ln>
        </p:spPr>
        <p:txBody>
          <a:bodyPr wrap="square" rtlCol="0" anchor="t">
            <a:noAutofit/>
          </a:bodyPr>
          <a:lstStyle/>
          <a:p>
            <a:pPr algn="ctr"/>
            <a:endParaRPr lang="zh-CN" altLang="en-US" sz="14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27" name="Rectangle: Rounded Corners 126">
            <a:extLst>
              <a:ext uri="{FF2B5EF4-FFF2-40B4-BE49-F238E27FC236}">
                <a16:creationId xmlns:a16="http://schemas.microsoft.com/office/drawing/2014/main" id="{C7C9E118-5606-47A8-ACFD-662BA162D632}"/>
              </a:ext>
            </a:extLst>
          </p:cNvPr>
          <p:cNvSpPr/>
          <p:nvPr/>
        </p:nvSpPr>
        <p:spPr bwMode="gray">
          <a:xfrm rot="16200000">
            <a:off x="495093" y="3135980"/>
            <a:ext cx="1028700" cy="259930"/>
          </a:xfrm>
          <a:prstGeom prst="roundRect">
            <a:avLst>
              <a:gd name="adj" fmla="val 9509"/>
            </a:avLst>
          </a:prstGeom>
          <a:solidFill>
            <a:schemeClr val="bg1">
              <a:lumMod val="50000"/>
            </a:scheme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控制器集群</a:t>
            </a:r>
            <a:endParaRPr lang="en-US" sz="1200" dirty="0"/>
          </a:p>
        </p:txBody>
      </p:sp>
      <p:sp>
        <p:nvSpPr>
          <p:cNvPr id="128" name="圆角矩形 16">
            <a:extLst>
              <a:ext uri="{FF2B5EF4-FFF2-40B4-BE49-F238E27FC236}">
                <a16:creationId xmlns:a16="http://schemas.microsoft.com/office/drawing/2014/main" id="{3FF60769-955E-4220-8677-2E5A6ABBD44E}"/>
              </a:ext>
            </a:extLst>
          </p:cNvPr>
          <p:cNvSpPr/>
          <p:nvPr/>
        </p:nvSpPr>
        <p:spPr bwMode="gray">
          <a:xfrm>
            <a:off x="4843685" y="2671306"/>
            <a:ext cx="1056628" cy="2127476"/>
          </a:xfrm>
          <a:prstGeom prst="roundRect">
            <a:avLst>
              <a:gd name="adj" fmla="val 4941"/>
            </a:avLst>
          </a:prstGeom>
          <a:ln w="19050">
            <a:solidFill>
              <a:schemeClr val="bg1">
                <a:lumMod val="50000"/>
              </a:schemeClr>
            </a:solidFill>
            <a:prstDash val="dash"/>
          </a:ln>
        </p:spPr>
        <p:txBody>
          <a:bodyPr wrap="square" rtlCol="0" anchor="t">
            <a:noAutofit/>
          </a:bodyPr>
          <a:lstStyle/>
          <a:p>
            <a:pPr algn="ctr"/>
            <a:endParaRPr lang="zh-CN" altLang="en-US" sz="14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129" name="Rectangle: Rounded Corners 128">
            <a:extLst>
              <a:ext uri="{FF2B5EF4-FFF2-40B4-BE49-F238E27FC236}">
                <a16:creationId xmlns:a16="http://schemas.microsoft.com/office/drawing/2014/main" id="{299D543E-6725-414C-B5F3-E07444EF56CD}"/>
              </a:ext>
            </a:extLst>
          </p:cNvPr>
          <p:cNvSpPr/>
          <p:nvPr/>
        </p:nvSpPr>
        <p:spPr bwMode="gray">
          <a:xfrm rot="16200000">
            <a:off x="4208042" y="3135980"/>
            <a:ext cx="1028700" cy="259930"/>
          </a:xfrm>
          <a:prstGeom prst="roundRect">
            <a:avLst>
              <a:gd name="adj" fmla="val 9509"/>
            </a:avLst>
          </a:prstGeom>
          <a:solidFill>
            <a:schemeClr val="bg1">
              <a:lumMod val="50000"/>
            </a:schemeClr>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控制器集群</a:t>
            </a:r>
            <a:endParaRPr lang="en-US" sz="1200" dirty="0"/>
          </a:p>
        </p:txBody>
      </p:sp>
      <p:cxnSp>
        <p:nvCxnSpPr>
          <p:cNvPr id="5" name="Straight Arrow Connector 4">
            <a:extLst>
              <a:ext uri="{FF2B5EF4-FFF2-40B4-BE49-F238E27FC236}">
                <a16:creationId xmlns:a16="http://schemas.microsoft.com/office/drawing/2014/main" id="{B1C96816-2975-4D4F-A23E-E697E2C26459}"/>
              </a:ext>
            </a:extLst>
          </p:cNvPr>
          <p:cNvCxnSpPr/>
          <p:nvPr/>
        </p:nvCxnSpPr>
        <p:spPr bwMode="gray">
          <a:xfrm>
            <a:off x="2620103" y="3103332"/>
            <a:ext cx="1792605" cy="0"/>
          </a:xfrm>
          <a:prstGeom prst="straightConnector1">
            <a:avLst/>
          </a:prstGeom>
          <a:ln w="19050">
            <a:solidFill>
              <a:srgbClr val="E2818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9CE9C7E-183A-4FBC-9E0E-D99C83340253}"/>
              </a:ext>
            </a:extLst>
          </p:cNvPr>
          <p:cNvSpPr txBox="1"/>
          <p:nvPr/>
        </p:nvSpPr>
        <p:spPr bwMode="gray">
          <a:xfrm>
            <a:off x="3046382" y="2773364"/>
            <a:ext cx="902811" cy="307777"/>
          </a:xfrm>
          <a:prstGeom prst="rect">
            <a:avLst/>
          </a:prstGeom>
          <a:noFill/>
        </p:spPr>
        <p:txBody>
          <a:bodyPr wrap="none" rtlCol="0">
            <a:spAutoFit/>
          </a:bodyPr>
          <a:lstStyle/>
          <a:p>
            <a:r>
              <a:rPr lang="zh-CN" altLang="en-US" sz="1400" dirty="0"/>
              <a:t>心跳链路</a:t>
            </a:r>
            <a:endParaRPr lang="en-US" sz="1400" dirty="0"/>
          </a:p>
        </p:txBody>
      </p:sp>
      <p:cxnSp>
        <p:nvCxnSpPr>
          <p:cNvPr id="130" name="Straight Arrow Connector 129">
            <a:extLst>
              <a:ext uri="{FF2B5EF4-FFF2-40B4-BE49-F238E27FC236}">
                <a16:creationId xmlns:a16="http://schemas.microsoft.com/office/drawing/2014/main" id="{301A16C5-70B6-47B3-9AD0-1B59DB718BF8}"/>
              </a:ext>
            </a:extLst>
          </p:cNvPr>
          <p:cNvCxnSpPr>
            <a:cxnSpLocks/>
          </p:cNvCxnSpPr>
          <p:nvPr/>
        </p:nvCxnSpPr>
        <p:spPr bwMode="gray">
          <a:xfrm>
            <a:off x="2277203" y="4276283"/>
            <a:ext cx="2460429" cy="0"/>
          </a:xfrm>
          <a:prstGeom prst="straightConnector1">
            <a:avLst/>
          </a:prstGeom>
          <a:ln w="19050">
            <a:solidFill>
              <a:srgbClr val="E28189"/>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7D25EDF1-5E9D-41F2-894F-EA30680DFA92}"/>
              </a:ext>
            </a:extLst>
          </p:cNvPr>
          <p:cNvSpPr txBox="1"/>
          <p:nvPr/>
        </p:nvSpPr>
        <p:spPr bwMode="gray">
          <a:xfrm>
            <a:off x="2895312" y="3955756"/>
            <a:ext cx="1261884" cy="307777"/>
          </a:xfrm>
          <a:prstGeom prst="rect">
            <a:avLst/>
          </a:prstGeom>
          <a:noFill/>
        </p:spPr>
        <p:txBody>
          <a:bodyPr wrap="none" rtlCol="0">
            <a:spAutoFit/>
          </a:bodyPr>
          <a:lstStyle/>
          <a:p>
            <a:r>
              <a:rPr lang="zh-CN" altLang="en-US" sz="1400" dirty="0"/>
              <a:t>数据复制链路</a:t>
            </a:r>
            <a:endParaRPr lang="en-US" sz="1400" dirty="0"/>
          </a:p>
        </p:txBody>
      </p:sp>
      <p:sp>
        <p:nvSpPr>
          <p:cNvPr id="133" name="圆角矩形 57">
            <a:extLst>
              <a:ext uri="{FF2B5EF4-FFF2-40B4-BE49-F238E27FC236}">
                <a16:creationId xmlns:a16="http://schemas.microsoft.com/office/drawing/2014/main" id="{7072E879-2B12-451B-96EC-BF9FE446723E}"/>
              </a:ext>
            </a:extLst>
          </p:cNvPr>
          <p:cNvSpPr/>
          <p:nvPr/>
        </p:nvSpPr>
        <p:spPr bwMode="gray">
          <a:xfrm>
            <a:off x="6485229" y="1644538"/>
            <a:ext cx="4980543" cy="4124325"/>
          </a:xfrm>
          <a:prstGeom prst="roundRect">
            <a:avLst>
              <a:gd name="adj" fmla="val 1483"/>
            </a:avLst>
          </a:prstGeom>
          <a:no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异地容灾支持两个集群间的容灾备份能力，主集群与容灾备集群的节点数必须保持一致。</a:t>
            </a:r>
          </a:p>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控制器主备集群同时运行，只有主集群可对外提供正常服务，备集群不对外提供服务。主集群运行中的数据会实时同步到备集群，从而确保数据的一致性。</a:t>
            </a:r>
          </a:p>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控制器北向、南向采用统一的域名方案，租户和设备通过统一的域名访问控制器主集群。主备倒换后，域名映射到新的主控制器集群。</a:t>
            </a:r>
          </a:p>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异地容灾主备倒换采用手动方案，切换时间可控制在</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10</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分钟内。对于控制器集群内部部件级故障，依旧依靠集群、容错等可靠性来进行保障。</a:t>
            </a:r>
          </a:p>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异地容灾网络要求：时延≤</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20 </a:t>
            </a:r>
            <a:r>
              <a:rPr lang="en-US" altLang="zh-CN" sz="1400" dirty="0" err="1">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ms</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；带宽≥</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125 MB</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223962902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18A2A50-EC71-4854-8257-EAACC1A30930}"/>
              </a:ext>
            </a:extLst>
          </p:cNvPr>
          <p:cNvSpPr>
            <a:spLocks noGrp="1"/>
          </p:cNvSpPr>
          <p:nvPr>
            <p:ph type="body" sz="quarter" idx="10"/>
          </p:nvPr>
        </p:nvSpPr>
        <p:spPr bwMode="gray"/>
        <p:txBody>
          <a:bodyPr/>
          <a:lstStyle/>
          <a:p>
            <a:r>
              <a:rPr lang="zh-CN" altLang="en-US" sz="1800" dirty="0"/>
              <a:t>为了保证</a:t>
            </a:r>
            <a:r>
              <a:rPr lang="en-US" altLang="zh-CN" sz="1800" dirty="0"/>
              <a:t>SD-WAN</a:t>
            </a:r>
            <a:r>
              <a:rPr lang="zh-CN" altLang="en-US" sz="1800" dirty="0"/>
              <a:t>管理通道的可靠性，一般需要部署双网关双链路用于保障</a:t>
            </a:r>
            <a:r>
              <a:rPr lang="en-US" altLang="zh-CN" sz="1800" dirty="0"/>
              <a:t>CPE/RR</a:t>
            </a:r>
            <a:r>
              <a:rPr lang="zh-CN" altLang="en-US" sz="1800" dirty="0"/>
              <a:t>能与控制器通信。</a:t>
            </a:r>
            <a:endParaRPr lang="en-US" sz="1800" dirty="0"/>
          </a:p>
        </p:txBody>
      </p:sp>
      <p:sp>
        <p:nvSpPr>
          <p:cNvPr id="2" name="Title 1">
            <a:extLst>
              <a:ext uri="{FF2B5EF4-FFF2-40B4-BE49-F238E27FC236}">
                <a16:creationId xmlns:a16="http://schemas.microsoft.com/office/drawing/2014/main" id="{AE3EC95D-F188-4C3B-9EC7-5B1A4A2C3D72}"/>
              </a:ext>
            </a:extLst>
          </p:cNvPr>
          <p:cNvSpPr>
            <a:spLocks noGrp="1"/>
          </p:cNvSpPr>
          <p:nvPr>
            <p:ph type="title"/>
          </p:nvPr>
        </p:nvSpPr>
        <p:spPr bwMode="gray"/>
        <p:txBody>
          <a:bodyPr/>
          <a:lstStyle/>
          <a:p>
            <a:r>
              <a:rPr lang="zh-CN" altLang="en-US" dirty="0"/>
              <a:t>单控制器组网可靠性设计</a:t>
            </a:r>
            <a:endParaRPr lang="en-US" dirty="0"/>
          </a:p>
        </p:txBody>
      </p:sp>
      <p:sp>
        <p:nvSpPr>
          <p:cNvPr id="88" name="五边形 2">
            <a:extLst>
              <a:ext uri="{FF2B5EF4-FFF2-40B4-BE49-F238E27FC236}">
                <a16:creationId xmlns:a16="http://schemas.microsoft.com/office/drawing/2014/main" id="{FFA01418-D0D6-40EA-85D7-337C9E6F61C5}"/>
              </a:ext>
            </a:extLst>
          </p:cNvPr>
          <p:cNvSpPr/>
          <p:nvPr/>
        </p:nvSpPr>
        <p:spPr bwMode="gray">
          <a:xfrm>
            <a:off x="8370630" y="40227"/>
            <a:ext cx="1662685"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控制器部署可靠性设计</a:t>
            </a:r>
          </a:p>
        </p:txBody>
      </p:sp>
      <p:sp>
        <p:nvSpPr>
          <p:cNvPr id="90" name="燕尾形 3">
            <a:extLst>
              <a:ext uri="{FF2B5EF4-FFF2-40B4-BE49-F238E27FC236}">
                <a16:creationId xmlns:a16="http://schemas.microsoft.com/office/drawing/2014/main" id="{EF5813DE-4D49-456D-90F9-31A04A91EE8E}"/>
              </a:ext>
            </a:extLst>
          </p:cNvPr>
          <p:cNvSpPr/>
          <p:nvPr/>
        </p:nvSpPr>
        <p:spPr bwMode="gray">
          <a:xfrm>
            <a:off x="9962130" y="40227"/>
            <a:ext cx="178035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控制器组网可靠性设计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75">
            <a:extLst>
              <a:ext uri="{FF2B5EF4-FFF2-40B4-BE49-F238E27FC236}">
                <a16:creationId xmlns:a16="http://schemas.microsoft.com/office/drawing/2014/main" id="{B8FC562C-51E2-46D8-A3B4-582E6521C86D}"/>
              </a:ext>
            </a:extLst>
          </p:cNvPr>
          <p:cNvSpPr/>
          <p:nvPr/>
        </p:nvSpPr>
        <p:spPr bwMode="gray">
          <a:xfrm>
            <a:off x="846306" y="1729005"/>
            <a:ext cx="5097294" cy="359539"/>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公网</a:t>
            </a:r>
            <a:r>
              <a:rPr lang="en-US" altLang="zh-CN" sz="1600" dirty="0">
                <a:solidFill>
                  <a:srgbClr val="30B5C5"/>
                </a:solidFill>
                <a:latin typeface="Huawei Sans" panose="020C0503030203020204" pitchFamily="34" charset="0"/>
                <a:ea typeface="方正兰亭黑简体" panose="02000000000000000000" pitchFamily="2" charset="-122"/>
              </a:rPr>
              <a:t>/</a:t>
            </a:r>
            <a:r>
              <a:rPr lang="zh-CN" altLang="en-US" sz="1600" dirty="0">
                <a:solidFill>
                  <a:srgbClr val="30B5C5"/>
                </a:solidFill>
                <a:latin typeface="Huawei Sans" panose="020C0503030203020204" pitchFamily="34" charset="0"/>
                <a:ea typeface="方正兰亭黑简体" panose="02000000000000000000" pitchFamily="2" charset="-122"/>
              </a:rPr>
              <a:t>专网混接组网</a:t>
            </a:r>
          </a:p>
        </p:txBody>
      </p:sp>
      <p:sp>
        <p:nvSpPr>
          <p:cNvPr id="70" name="圆角矩形 75">
            <a:extLst>
              <a:ext uri="{FF2B5EF4-FFF2-40B4-BE49-F238E27FC236}">
                <a16:creationId xmlns:a16="http://schemas.microsoft.com/office/drawing/2014/main" id="{383C3609-81D6-485A-87F7-CEE751356A1E}"/>
              </a:ext>
            </a:extLst>
          </p:cNvPr>
          <p:cNvSpPr/>
          <p:nvPr/>
        </p:nvSpPr>
        <p:spPr bwMode="gray">
          <a:xfrm>
            <a:off x="846306" y="2140953"/>
            <a:ext cx="5097294" cy="3900902"/>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r>
              <a:rPr lang="zh-CN" altLang="en-US" sz="1400" dirty="0"/>
              <a:t>控制器部署于</a:t>
            </a:r>
            <a:r>
              <a:rPr lang="en-US" altLang="zh-CN" sz="1400" dirty="0"/>
              <a:t>DC</a:t>
            </a:r>
            <a:r>
              <a:rPr lang="zh-CN" altLang="en-US" sz="1400" dirty="0"/>
              <a:t>内部。</a:t>
            </a:r>
            <a:endParaRPr lang="en-US" altLang="zh-CN" sz="1400" dirty="0"/>
          </a:p>
          <a:p>
            <a:pPr marL="228594" indent="-228594">
              <a:buFont typeface="Arial" panose="020B0604020202020204" pitchFamily="34" charset="0"/>
              <a:buChar char="•"/>
            </a:pPr>
            <a:r>
              <a:rPr lang="zh-CN" altLang="en-US" sz="1400" dirty="0"/>
              <a:t>控制器可配置多个不同的南向地址用于公网和专线。</a:t>
            </a:r>
            <a:endParaRPr lang="en-US" altLang="zh-CN" sz="1400" dirty="0"/>
          </a:p>
          <a:p>
            <a:pPr marL="228594" indent="-228594">
              <a:buFont typeface="Arial" panose="020B0604020202020204" pitchFamily="34" charset="0"/>
              <a:buChar char="•"/>
            </a:pPr>
            <a:r>
              <a:rPr lang="zh-CN" altLang="en-US" sz="1400" dirty="0"/>
              <a:t>专线网络需将控制器所在网段发送至专网。</a:t>
            </a:r>
            <a:endParaRPr lang="en-US" altLang="zh-CN" sz="1400" dirty="0"/>
          </a:p>
          <a:p>
            <a:pPr marL="228594" indent="-228594">
              <a:buFont typeface="Arial" panose="020B0604020202020204" pitchFamily="34" charset="0"/>
              <a:buChar char="•"/>
            </a:pPr>
            <a:r>
              <a:rPr lang="en-US" altLang="zh-CN" sz="1400" dirty="0"/>
              <a:t>EDGE</a:t>
            </a:r>
            <a:r>
              <a:rPr lang="zh-CN" altLang="en-US" sz="1400" dirty="0"/>
              <a:t>可以通过公网和专线注册到控制器。</a:t>
            </a:r>
            <a:endParaRPr lang="en-US" altLang="zh-CN" sz="1400" dirty="0"/>
          </a:p>
          <a:p>
            <a:pPr marL="228594" indent="-228594">
              <a:buFont typeface="Arial" panose="020B0604020202020204" pitchFamily="34" charset="0"/>
              <a:buChar char="•"/>
            </a:pPr>
            <a:r>
              <a:rPr lang="zh-CN" altLang="en-US" sz="1400" dirty="0"/>
              <a:t>总部公网出口设备需部署</a:t>
            </a:r>
            <a:r>
              <a:rPr lang="en-US" altLang="zh-CN" sz="1400" dirty="0"/>
              <a:t>1:1</a:t>
            </a:r>
            <a:r>
              <a:rPr lang="zh-CN" altLang="en-US" sz="1400" dirty="0"/>
              <a:t>静态</a:t>
            </a:r>
            <a:r>
              <a:rPr lang="en-US" altLang="zh-CN" sz="1400" dirty="0"/>
              <a:t>NAT</a:t>
            </a:r>
            <a:r>
              <a:rPr lang="zh-CN" altLang="en-US" sz="1400" dirty="0"/>
              <a:t>。</a:t>
            </a:r>
            <a:endParaRPr lang="en-US" altLang="zh-CN" sz="1400" dirty="0"/>
          </a:p>
        </p:txBody>
      </p:sp>
      <p:sp>
        <p:nvSpPr>
          <p:cNvPr id="85" name="Freeform 159">
            <a:extLst>
              <a:ext uri="{FF2B5EF4-FFF2-40B4-BE49-F238E27FC236}">
                <a16:creationId xmlns:a16="http://schemas.microsoft.com/office/drawing/2014/main" id="{3944D5ED-54FC-42EC-A2CF-5A9BB51FA4EC}"/>
              </a:ext>
            </a:extLst>
          </p:cNvPr>
          <p:cNvSpPr/>
          <p:nvPr/>
        </p:nvSpPr>
        <p:spPr bwMode="gray">
          <a:xfrm flipH="1">
            <a:off x="2529325" y="3388486"/>
            <a:ext cx="902810" cy="4884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专线</a:t>
            </a:r>
            <a:endParaRPr lang="en-US" sz="1400" dirty="0">
              <a:solidFill>
                <a:schemeClr val="tx1"/>
              </a:solidFill>
            </a:endParaRPr>
          </a:p>
        </p:txBody>
      </p:sp>
      <p:sp>
        <p:nvSpPr>
          <p:cNvPr id="87" name="Freeform 159">
            <a:extLst>
              <a:ext uri="{FF2B5EF4-FFF2-40B4-BE49-F238E27FC236}">
                <a16:creationId xmlns:a16="http://schemas.microsoft.com/office/drawing/2014/main" id="{E51F7975-B30C-4056-9AC7-88D6A86900E8}"/>
              </a:ext>
            </a:extLst>
          </p:cNvPr>
          <p:cNvSpPr/>
          <p:nvPr/>
        </p:nvSpPr>
        <p:spPr bwMode="gray">
          <a:xfrm flipH="1">
            <a:off x="2529325" y="2727557"/>
            <a:ext cx="902810" cy="4884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sp>
        <p:nvSpPr>
          <p:cNvPr id="91" name="TextBox 90">
            <a:extLst>
              <a:ext uri="{FF2B5EF4-FFF2-40B4-BE49-F238E27FC236}">
                <a16:creationId xmlns:a16="http://schemas.microsoft.com/office/drawing/2014/main" id="{4AF47C1A-5CCF-4E64-9FEA-8E874C1679D2}"/>
              </a:ext>
            </a:extLst>
          </p:cNvPr>
          <p:cNvSpPr txBox="1"/>
          <p:nvPr/>
        </p:nvSpPr>
        <p:spPr bwMode="gray">
          <a:xfrm>
            <a:off x="1499935" y="2877742"/>
            <a:ext cx="638316" cy="307777"/>
          </a:xfrm>
          <a:prstGeom prst="rect">
            <a:avLst/>
          </a:prstGeom>
          <a:noFill/>
        </p:spPr>
        <p:txBody>
          <a:bodyPr wrap="none" rtlCol="0">
            <a:spAutoFit/>
          </a:bodyPr>
          <a:lstStyle/>
          <a:p>
            <a:r>
              <a:rPr lang="en-US" altLang="zh-CN" sz="1400" dirty="0"/>
              <a:t>EDGE</a:t>
            </a:r>
            <a:endParaRPr lang="zh-CN" altLang="en-US" sz="1400" dirty="0"/>
          </a:p>
        </p:txBody>
      </p:sp>
      <p:sp>
        <p:nvSpPr>
          <p:cNvPr id="92" name="TextBox 91">
            <a:extLst>
              <a:ext uri="{FF2B5EF4-FFF2-40B4-BE49-F238E27FC236}">
                <a16:creationId xmlns:a16="http://schemas.microsoft.com/office/drawing/2014/main" id="{2F735579-AA46-4A86-A809-D9DE18A85254}"/>
              </a:ext>
            </a:extLst>
          </p:cNvPr>
          <p:cNvSpPr txBox="1"/>
          <p:nvPr/>
        </p:nvSpPr>
        <p:spPr bwMode="gray">
          <a:xfrm>
            <a:off x="3934817" y="4222840"/>
            <a:ext cx="638316" cy="307777"/>
          </a:xfrm>
          <a:prstGeom prst="rect">
            <a:avLst/>
          </a:prstGeom>
          <a:noFill/>
        </p:spPr>
        <p:txBody>
          <a:bodyPr wrap="none" rtlCol="0">
            <a:spAutoFit/>
          </a:bodyPr>
          <a:lstStyle/>
          <a:p>
            <a:r>
              <a:rPr lang="en-US" altLang="zh-CN" sz="1400" dirty="0"/>
              <a:t>EDGE</a:t>
            </a:r>
            <a:endParaRPr lang="zh-CN" altLang="en-US" sz="1400" dirty="0"/>
          </a:p>
        </p:txBody>
      </p:sp>
      <p:cxnSp>
        <p:nvCxnSpPr>
          <p:cNvPr id="93" name="Straight Connector 92">
            <a:extLst>
              <a:ext uri="{FF2B5EF4-FFF2-40B4-BE49-F238E27FC236}">
                <a16:creationId xmlns:a16="http://schemas.microsoft.com/office/drawing/2014/main" id="{336FBFCD-74D8-41FB-9135-AA3D5741BDC0}"/>
              </a:ext>
            </a:extLst>
          </p:cNvPr>
          <p:cNvCxnSpPr>
            <a:cxnSpLocks/>
            <a:stCxn id="97" idx="0"/>
            <a:endCxn id="87" idx="22"/>
          </p:cNvCxnSpPr>
          <p:nvPr/>
        </p:nvCxnSpPr>
        <p:spPr bwMode="gray">
          <a:xfrm flipV="1">
            <a:off x="1741129" y="2926988"/>
            <a:ext cx="899841" cy="209215"/>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94" name="Picture 12" descr="E:\2016.01\1.12 扁平化图标\蓝色\AR-蓝色最新-40.png">
            <a:extLst>
              <a:ext uri="{FF2B5EF4-FFF2-40B4-BE49-F238E27FC236}">
                <a16:creationId xmlns:a16="http://schemas.microsoft.com/office/drawing/2014/main" id="{DF262508-625F-47A0-A4D3-2B036FF98C6A}"/>
              </a:ext>
            </a:extLst>
          </p:cNvPr>
          <p:cNvPicPr>
            <a:picLocks noChangeAspect="1" noChangeArrowheads="1"/>
          </p:cNvPicPr>
          <p:nvPr/>
        </p:nvPicPr>
        <p:blipFill>
          <a:blip r:embed="rId3" cstate="print"/>
          <a:srcRect/>
          <a:stretch>
            <a:fillRect/>
          </a:stretch>
        </p:blipFill>
        <p:spPr bwMode="gray">
          <a:xfrm>
            <a:off x="3984354" y="3897924"/>
            <a:ext cx="402674" cy="329461"/>
          </a:xfrm>
          <a:prstGeom prst="rect">
            <a:avLst/>
          </a:prstGeom>
          <a:noFill/>
        </p:spPr>
      </p:pic>
      <p:pic>
        <p:nvPicPr>
          <p:cNvPr id="95" name="Picture 12" descr="E:\2016.01\1.12 扁平化图标\蓝色\AR-蓝色最新-40.png">
            <a:extLst>
              <a:ext uri="{FF2B5EF4-FFF2-40B4-BE49-F238E27FC236}">
                <a16:creationId xmlns:a16="http://schemas.microsoft.com/office/drawing/2014/main" id="{ECAA84DE-99B2-41C7-B0A9-1E6011883781}"/>
              </a:ext>
            </a:extLst>
          </p:cNvPr>
          <p:cNvPicPr>
            <a:picLocks noChangeAspect="1" noChangeArrowheads="1"/>
          </p:cNvPicPr>
          <p:nvPr/>
        </p:nvPicPr>
        <p:blipFill>
          <a:blip r:embed="rId3" cstate="print"/>
          <a:srcRect/>
          <a:stretch>
            <a:fillRect/>
          </a:stretch>
        </p:blipFill>
        <p:spPr bwMode="gray">
          <a:xfrm>
            <a:off x="3984456" y="2543410"/>
            <a:ext cx="402674" cy="329461"/>
          </a:xfrm>
          <a:prstGeom prst="rect">
            <a:avLst/>
          </a:prstGeom>
          <a:noFill/>
        </p:spPr>
      </p:pic>
      <p:sp>
        <p:nvSpPr>
          <p:cNvPr id="96" name="Freeform 159">
            <a:extLst>
              <a:ext uri="{FF2B5EF4-FFF2-40B4-BE49-F238E27FC236}">
                <a16:creationId xmlns:a16="http://schemas.microsoft.com/office/drawing/2014/main" id="{403CBF44-3AB6-4819-89DE-716F22B272D2}"/>
              </a:ext>
            </a:extLst>
          </p:cNvPr>
          <p:cNvSpPr/>
          <p:nvPr/>
        </p:nvSpPr>
        <p:spPr bwMode="gray">
          <a:xfrm flipH="1">
            <a:off x="897796" y="3017448"/>
            <a:ext cx="902810" cy="4884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endParaRPr lang="en-US" sz="1400" dirty="0">
              <a:solidFill>
                <a:schemeClr val="tx1"/>
              </a:solidFill>
            </a:endParaRPr>
          </a:p>
        </p:txBody>
      </p:sp>
      <p:pic>
        <p:nvPicPr>
          <p:cNvPr id="97" name="Picture 12" descr="E:\2016.01\1.12 扁平化图标\蓝色\AR-蓝色最新-40.png">
            <a:extLst>
              <a:ext uri="{FF2B5EF4-FFF2-40B4-BE49-F238E27FC236}">
                <a16:creationId xmlns:a16="http://schemas.microsoft.com/office/drawing/2014/main" id="{AE582B7D-8F93-4FC7-BAFA-A5AF30D48481}"/>
              </a:ext>
            </a:extLst>
          </p:cNvPr>
          <p:cNvPicPr>
            <a:picLocks noChangeAspect="1" noChangeArrowheads="1"/>
          </p:cNvPicPr>
          <p:nvPr/>
        </p:nvPicPr>
        <p:blipFill>
          <a:blip r:embed="rId3" cstate="print"/>
          <a:srcRect/>
          <a:stretch>
            <a:fillRect/>
          </a:stretch>
        </p:blipFill>
        <p:spPr bwMode="gray">
          <a:xfrm>
            <a:off x="1539792" y="3136203"/>
            <a:ext cx="402674" cy="329461"/>
          </a:xfrm>
          <a:prstGeom prst="rect">
            <a:avLst/>
          </a:prstGeom>
          <a:noFill/>
        </p:spPr>
      </p:pic>
      <p:sp>
        <p:nvSpPr>
          <p:cNvPr id="98" name="TextBox 97">
            <a:extLst>
              <a:ext uri="{FF2B5EF4-FFF2-40B4-BE49-F238E27FC236}">
                <a16:creationId xmlns:a16="http://schemas.microsoft.com/office/drawing/2014/main" id="{6D98B2C9-AEBB-408F-8687-05AE5986B65F}"/>
              </a:ext>
            </a:extLst>
          </p:cNvPr>
          <p:cNvSpPr txBox="1"/>
          <p:nvPr/>
        </p:nvSpPr>
        <p:spPr bwMode="gray">
          <a:xfrm>
            <a:off x="3934817" y="2275221"/>
            <a:ext cx="638316" cy="307777"/>
          </a:xfrm>
          <a:prstGeom prst="rect">
            <a:avLst/>
          </a:prstGeom>
          <a:noFill/>
        </p:spPr>
        <p:txBody>
          <a:bodyPr wrap="none" rtlCol="0">
            <a:spAutoFit/>
          </a:bodyPr>
          <a:lstStyle/>
          <a:p>
            <a:r>
              <a:rPr lang="en-US" altLang="zh-CN" sz="1400" dirty="0"/>
              <a:t>EDGE</a:t>
            </a:r>
            <a:endParaRPr lang="zh-CN" altLang="en-US" sz="1400" dirty="0"/>
          </a:p>
        </p:txBody>
      </p:sp>
      <p:cxnSp>
        <p:nvCxnSpPr>
          <p:cNvPr id="99" name="Straight Connector 98">
            <a:extLst>
              <a:ext uri="{FF2B5EF4-FFF2-40B4-BE49-F238E27FC236}">
                <a16:creationId xmlns:a16="http://schemas.microsoft.com/office/drawing/2014/main" id="{3C9EA67B-D459-4643-88FF-2E5362F87EFB}"/>
              </a:ext>
            </a:extLst>
          </p:cNvPr>
          <p:cNvCxnSpPr>
            <a:cxnSpLocks/>
            <a:stCxn id="97" idx="2"/>
            <a:endCxn id="85" idx="21"/>
          </p:cNvCxnSpPr>
          <p:nvPr/>
        </p:nvCxnSpPr>
        <p:spPr bwMode="gray">
          <a:xfrm>
            <a:off x="1741129" y="3465664"/>
            <a:ext cx="788196" cy="26529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02B74599-7F43-49E4-A829-58E12BAC201F}"/>
              </a:ext>
            </a:extLst>
          </p:cNvPr>
          <p:cNvCxnSpPr>
            <a:cxnSpLocks/>
            <a:stCxn id="87" idx="8"/>
            <a:endCxn id="107" idx="1"/>
          </p:cNvCxnSpPr>
          <p:nvPr/>
        </p:nvCxnSpPr>
        <p:spPr bwMode="gray">
          <a:xfrm>
            <a:off x="3432135" y="3061140"/>
            <a:ext cx="570505" cy="6120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2D25612-2DC3-4241-B878-6998CC3340AE}"/>
              </a:ext>
            </a:extLst>
          </p:cNvPr>
          <p:cNvCxnSpPr>
            <a:cxnSpLocks/>
            <a:stCxn id="85" idx="8"/>
            <a:endCxn id="108" idx="1"/>
          </p:cNvCxnSpPr>
          <p:nvPr/>
        </p:nvCxnSpPr>
        <p:spPr bwMode="gray">
          <a:xfrm flipV="1">
            <a:off x="3432135" y="3633772"/>
            <a:ext cx="566552" cy="8829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6EAD3358-819E-4321-985A-45A3ACBAF508}"/>
              </a:ext>
            </a:extLst>
          </p:cNvPr>
          <p:cNvCxnSpPr>
            <a:cxnSpLocks/>
            <a:stCxn id="95" idx="2"/>
            <a:endCxn id="107" idx="0"/>
          </p:cNvCxnSpPr>
          <p:nvPr/>
        </p:nvCxnSpPr>
        <p:spPr bwMode="gray">
          <a:xfrm>
            <a:off x="4185793" y="2872871"/>
            <a:ext cx="0" cy="996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BE9DBA7D-41D5-4E40-B85F-C9E0D366F7B6}"/>
              </a:ext>
            </a:extLst>
          </p:cNvPr>
          <p:cNvCxnSpPr>
            <a:cxnSpLocks/>
            <a:stCxn id="94" idx="0"/>
            <a:endCxn id="108" idx="2"/>
          </p:cNvCxnSpPr>
          <p:nvPr/>
        </p:nvCxnSpPr>
        <p:spPr bwMode="gray">
          <a:xfrm flipH="1" flipV="1">
            <a:off x="4181840" y="3783624"/>
            <a:ext cx="3851" cy="1143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4" name="Freeform 159">
            <a:extLst>
              <a:ext uri="{FF2B5EF4-FFF2-40B4-BE49-F238E27FC236}">
                <a16:creationId xmlns:a16="http://schemas.microsoft.com/office/drawing/2014/main" id="{6256B9A6-1ABF-4505-BF76-574ABB18FFCE}"/>
              </a:ext>
            </a:extLst>
          </p:cNvPr>
          <p:cNvSpPr/>
          <p:nvPr/>
        </p:nvSpPr>
        <p:spPr bwMode="gray">
          <a:xfrm flipH="1">
            <a:off x="4111271" y="2831247"/>
            <a:ext cx="1464459" cy="79237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总部</a:t>
            </a:r>
            <a:endParaRPr lang="en-US" altLang="zh-CN" sz="1400" dirty="0">
              <a:solidFill>
                <a:schemeClr val="tx1"/>
              </a:solidFill>
            </a:endParaRPr>
          </a:p>
          <a:p>
            <a:pPr algn="ctr"/>
            <a:r>
              <a:rPr lang="zh-CN" altLang="en-US" sz="1400" dirty="0">
                <a:solidFill>
                  <a:schemeClr val="tx1"/>
                </a:solidFill>
              </a:rPr>
              <a:t>数据中心</a:t>
            </a:r>
            <a:endParaRPr lang="en-US" sz="1400" dirty="0">
              <a:solidFill>
                <a:schemeClr val="tx1"/>
              </a:solidFill>
            </a:endParaRPr>
          </a:p>
        </p:txBody>
      </p:sp>
      <p:sp>
        <p:nvSpPr>
          <p:cNvPr id="105" name="圆角矩形 44">
            <a:extLst>
              <a:ext uri="{FF2B5EF4-FFF2-40B4-BE49-F238E27FC236}">
                <a16:creationId xmlns:a16="http://schemas.microsoft.com/office/drawing/2014/main" id="{7D79D95E-FA4F-43D7-92C9-4A465ACF8C7A}"/>
              </a:ext>
            </a:extLst>
          </p:cNvPr>
          <p:cNvSpPr/>
          <p:nvPr/>
        </p:nvSpPr>
        <p:spPr bwMode="gray">
          <a:xfrm>
            <a:off x="4412384" y="3483685"/>
            <a:ext cx="1468312" cy="323210"/>
          </a:xfrm>
          <a:prstGeom prst="roundRect">
            <a:avLst>
              <a:gd name="adj" fmla="val 6377"/>
            </a:avLst>
          </a:prstGeom>
          <a:solidFill>
            <a:schemeClr val="bg1"/>
          </a:solid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06" name="图片 81">
            <a:extLst>
              <a:ext uri="{FF2B5EF4-FFF2-40B4-BE49-F238E27FC236}">
                <a16:creationId xmlns:a16="http://schemas.microsoft.com/office/drawing/2014/main" id="{F7DE31DC-72DF-4171-8E4E-79956B52F9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422112" y="3506425"/>
            <a:ext cx="1439128" cy="265413"/>
          </a:xfrm>
          <a:prstGeom prst="rect">
            <a:avLst/>
          </a:prstGeom>
        </p:spPr>
      </p:pic>
      <p:pic>
        <p:nvPicPr>
          <p:cNvPr id="107" name="Picture 12" descr="E:\2016.01\1.12 扁平化图标\蓝色\AR-蓝色最新-40.png">
            <a:extLst>
              <a:ext uri="{FF2B5EF4-FFF2-40B4-BE49-F238E27FC236}">
                <a16:creationId xmlns:a16="http://schemas.microsoft.com/office/drawing/2014/main" id="{FE542D41-367C-4097-B2F4-F3C79CD6F479}"/>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4002640" y="2972492"/>
            <a:ext cx="366306" cy="299705"/>
          </a:xfrm>
          <a:prstGeom prst="rect">
            <a:avLst/>
          </a:prstGeom>
          <a:noFill/>
        </p:spPr>
      </p:pic>
      <p:pic>
        <p:nvPicPr>
          <p:cNvPr id="108" name="Picture 12" descr="E:\2016.01\1.12 扁平化图标\蓝色\AR-蓝色最新-40.png">
            <a:extLst>
              <a:ext uri="{FF2B5EF4-FFF2-40B4-BE49-F238E27FC236}">
                <a16:creationId xmlns:a16="http://schemas.microsoft.com/office/drawing/2014/main" id="{100E353B-7A93-4A1B-994A-AF89E43D0C67}"/>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3998687" y="3483919"/>
            <a:ext cx="366306" cy="299705"/>
          </a:xfrm>
          <a:prstGeom prst="rect">
            <a:avLst/>
          </a:prstGeom>
          <a:noFill/>
        </p:spPr>
      </p:pic>
      <p:cxnSp>
        <p:nvCxnSpPr>
          <p:cNvPr id="109" name="Straight Connector 108">
            <a:extLst>
              <a:ext uri="{FF2B5EF4-FFF2-40B4-BE49-F238E27FC236}">
                <a16:creationId xmlns:a16="http://schemas.microsoft.com/office/drawing/2014/main" id="{C212AFC3-9DE7-49EE-A5FD-A6CCA15D3119}"/>
              </a:ext>
            </a:extLst>
          </p:cNvPr>
          <p:cNvCxnSpPr>
            <a:cxnSpLocks/>
            <a:stCxn id="108" idx="0"/>
            <a:endCxn id="107" idx="2"/>
          </p:cNvCxnSpPr>
          <p:nvPr/>
        </p:nvCxnSpPr>
        <p:spPr bwMode="gray">
          <a:xfrm flipV="1">
            <a:off x="4181840" y="3272197"/>
            <a:ext cx="3953" cy="21172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1FB5DC56-C448-46D5-9606-407B3D158286}"/>
              </a:ext>
            </a:extLst>
          </p:cNvPr>
          <p:cNvSpPr txBox="1"/>
          <p:nvPr/>
        </p:nvSpPr>
        <p:spPr bwMode="gray">
          <a:xfrm>
            <a:off x="3727175" y="3030011"/>
            <a:ext cx="610745" cy="184666"/>
          </a:xfrm>
          <a:prstGeom prst="rect">
            <a:avLst/>
          </a:prstGeom>
          <a:solidFill>
            <a:srgbClr val="94DAE2"/>
          </a:solidFill>
          <a:ln>
            <a:solidFill>
              <a:srgbClr val="94DAE2"/>
            </a:solidFill>
          </a:ln>
        </p:spPr>
        <p:txBody>
          <a:bodyPr wrap="none" lIns="0" tIns="0" rIns="0" bIns="0" rtlCol="0">
            <a:spAutoFit/>
          </a:bodyPr>
          <a:lstStyle/>
          <a:p>
            <a:r>
              <a:rPr lang="en-US" sz="1200"/>
              <a:t>NAT GW</a:t>
            </a:r>
            <a:endParaRPr lang="en-US" sz="1200" dirty="0"/>
          </a:p>
        </p:txBody>
      </p:sp>
      <p:sp>
        <p:nvSpPr>
          <p:cNvPr id="111" name="Freeform: Shape 58">
            <a:extLst>
              <a:ext uri="{FF2B5EF4-FFF2-40B4-BE49-F238E27FC236}">
                <a16:creationId xmlns:a16="http://schemas.microsoft.com/office/drawing/2014/main" id="{7A4CD11A-B55E-4AD6-9AF4-68758AD38D6A}"/>
              </a:ext>
            </a:extLst>
          </p:cNvPr>
          <p:cNvSpPr/>
          <p:nvPr/>
        </p:nvSpPr>
        <p:spPr bwMode="blackGray">
          <a:xfrm>
            <a:off x="1852096" y="2850341"/>
            <a:ext cx="2957670" cy="529946"/>
          </a:xfrm>
          <a:custGeom>
            <a:avLst/>
            <a:gdLst>
              <a:gd name="connsiteX0" fmla="*/ 0 w 2772383"/>
              <a:gd name="connsiteY0" fmla="*/ 145941 h 437771"/>
              <a:gd name="connsiteX1" fmla="*/ 797668 w 2772383"/>
              <a:gd name="connsiteY1" fmla="*/ 26 h 437771"/>
              <a:gd name="connsiteX2" fmla="*/ 2286000 w 2772383"/>
              <a:gd name="connsiteY2" fmla="*/ 155668 h 437771"/>
              <a:gd name="connsiteX3" fmla="*/ 2772383 w 2772383"/>
              <a:gd name="connsiteY3" fmla="*/ 437771 h 437771"/>
            </a:gdLst>
            <a:ahLst/>
            <a:cxnLst>
              <a:cxn ang="0">
                <a:pos x="connsiteX0" y="connsiteY0"/>
              </a:cxn>
              <a:cxn ang="0">
                <a:pos x="connsiteX1" y="connsiteY1"/>
              </a:cxn>
              <a:cxn ang="0">
                <a:pos x="connsiteX2" y="connsiteY2"/>
              </a:cxn>
              <a:cxn ang="0">
                <a:pos x="connsiteX3" y="connsiteY3"/>
              </a:cxn>
            </a:cxnLst>
            <a:rect l="l" t="t" r="r" b="b"/>
            <a:pathLst>
              <a:path w="2772383" h="437771">
                <a:moveTo>
                  <a:pt x="0" y="145941"/>
                </a:moveTo>
                <a:cubicBezTo>
                  <a:pt x="208334" y="72173"/>
                  <a:pt x="416668" y="-1595"/>
                  <a:pt x="797668" y="26"/>
                </a:cubicBezTo>
                <a:cubicBezTo>
                  <a:pt x="1178668" y="1647"/>
                  <a:pt x="1956881" y="82711"/>
                  <a:pt x="2286000" y="155668"/>
                </a:cubicBezTo>
                <a:cubicBezTo>
                  <a:pt x="2615119" y="228625"/>
                  <a:pt x="2693751" y="333198"/>
                  <a:pt x="2772383" y="437771"/>
                </a:cubicBezTo>
              </a:path>
            </a:pathLst>
          </a:custGeom>
          <a:noFill/>
          <a:ln w="38100" cap="flat" cmpd="sng">
            <a:solidFill>
              <a:srgbClr val="E28189"/>
            </a:solidFill>
            <a:headEnd type="triangle" w="med" len="med"/>
            <a:tailEnd type="triangle" w="med" len="med"/>
          </a:ln>
        </p:spPr>
        <p:txBody>
          <a:bodyPr rtlCol="0" anchor="ctr"/>
          <a:lstStyle/>
          <a:p>
            <a:pPr algn="ctr"/>
            <a:endParaRPr lang="en-US" dirty="0"/>
          </a:p>
        </p:txBody>
      </p:sp>
      <p:sp>
        <p:nvSpPr>
          <p:cNvPr id="112" name="圆角矩形 75">
            <a:extLst>
              <a:ext uri="{FF2B5EF4-FFF2-40B4-BE49-F238E27FC236}">
                <a16:creationId xmlns:a16="http://schemas.microsoft.com/office/drawing/2014/main" id="{C4103FE1-628E-474A-9F84-7795C1649AEC}"/>
              </a:ext>
            </a:extLst>
          </p:cNvPr>
          <p:cNvSpPr/>
          <p:nvPr/>
        </p:nvSpPr>
        <p:spPr bwMode="gray">
          <a:xfrm>
            <a:off x="6238640" y="1726102"/>
            <a:ext cx="5097294" cy="359539"/>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单一类型网络接入组网</a:t>
            </a:r>
          </a:p>
        </p:txBody>
      </p:sp>
      <p:sp>
        <p:nvSpPr>
          <p:cNvPr id="113" name="圆角矩形 75">
            <a:extLst>
              <a:ext uri="{FF2B5EF4-FFF2-40B4-BE49-F238E27FC236}">
                <a16:creationId xmlns:a16="http://schemas.microsoft.com/office/drawing/2014/main" id="{85A1CD7A-FD11-43FF-8887-6FE03B424E13}"/>
              </a:ext>
            </a:extLst>
          </p:cNvPr>
          <p:cNvSpPr/>
          <p:nvPr/>
        </p:nvSpPr>
        <p:spPr bwMode="gray">
          <a:xfrm>
            <a:off x="6238640" y="2138050"/>
            <a:ext cx="5097294" cy="3900902"/>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r>
              <a:rPr lang="zh-CN" altLang="en-US" sz="1400" dirty="0"/>
              <a:t>控制器部署于</a:t>
            </a:r>
            <a:r>
              <a:rPr lang="en-US" altLang="zh-CN" sz="1400" dirty="0"/>
              <a:t>DC</a:t>
            </a:r>
            <a:r>
              <a:rPr lang="zh-CN" altLang="en-US" sz="1400" dirty="0"/>
              <a:t>内部。</a:t>
            </a:r>
            <a:endParaRPr lang="en-US" altLang="zh-CN" sz="1400" dirty="0"/>
          </a:p>
          <a:p>
            <a:pPr marL="228594" indent="-228594">
              <a:buFont typeface="Arial" panose="020B0604020202020204" pitchFamily="34" charset="0"/>
              <a:buChar char="•"/>
            </a:pPr>
            <a:r>
              <a:rPr lang="zh-CN" altLang="en-US" sz="1400" dirty="0"/>
              <a:t>专线网络需将控制器所在网段发送至专网。</a:t>
            </a:r>
            <a:endParaRPr lang="en-US" altLang="zh-CN" sz="1400" dirty="0"/>
          </a:p>
          <a:p>
            <a:pPr marL="228594" indent="-228594">
              <a:buFont typeface="Arial" panose="020B0604020202020204" pitchFamily="34" charset="0"/>
              <a:buChar char="•"/>
            </a:pPr>
            <a:r>
              <a:rPr lang="zh-CN" altLang="en-US" sz="1400" dirty="0"/>
              <a:t>公网网络需在公网出口设备上部署</a:t>
            </a:r>
            <a:r>
              <a:rPr lang="en-US" altLang="zh-CN" sz="1400" dirty="0"/>
              <a:t>1:1</a:t>
            </a:r>
            <a:r>
              <a:rPr lang="zh-CN" altLang="en-US" sz="1400" dirty="0"/>
              <a:t>静态</a:t>
            </a:r>
            <a:r>
              <a:rPr lang="en-US" altLang="zh-CN" sz="1400" dirty="0"/>
              <a:t>NAT</a:t>
            </a:r>
            <a:r>
              <a:rPr lang="zh-CN" altLang="en-US" sz="1400" dirty="0"/>
              <a:t>，静态</a:t>
            </a:r>
            <a:r>
              <a:rPr lang="en-US" altLang="zh-CN" sz="1400" dirty="0"/>
              <a:t>NAT</a:t>
            </a:r>
            <a:r>
              <a:rPr lang="zh-CN" altLang="en-US" sz="1400" dirty="0"/>
              <a:t>使用相同的公网地址。</a:t>
            </a:r>
            <a:endParaRPr lang="en-US" altLang="zh-CN" sz="1400" dirty="0"/>
          </a:p>
        </p:txBody>
      </p:sp>
      <p:sp>
        <p:nvSpPr>
          <p:cNvPr id="114" name="Freeform 159">
            <a:extLst>
              <a:ext uri="{FF2B5EF4-FFF2-40B4-BE49-F238E27FC236}">
                <a16:creationId xmlns:a16="http://schemas.microsoft.com/office/drawing/2014/main" id="{64041E0E-5C3F-4B20-9719-CC33C20BE4F0}"/>
              </a:ext>
            </a:extLst>
          </p:cNvPr>
          <p:cNvSpPr/>
          <p:nvPr/>
        </p:nvSpPr>
        <p:spPr bwMode="gray">
          <a:xfrm flipH="1">
            <a:off x="7921658" y="3385583"/>
            <a:ext cx="975591" cy="5278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专线</a:t>
            </a:r>
            <a:r>
              <a:rPr lang="en-US" altLang="zh-CN" sz="1400" dirty="0">
                <a:solidFill>
                  <a:schemeClr val="tx1"/>
                </a:solidFill>
              </a:rPr>
              <a:t>/</a:t>
            </a:r>
            <a:r>
              <a:rPr lang="zh-CN" altLang="en-US" sz="1400" dirty="0">
                <a:solidFill>
                  <a:schemeClr val="tx1"/>
                </a:solidFill>
              </a:rPr>
              <a:t>公网</a:t>
            </a:r>
            <a:endParaRPr lang="en-US" sz="1400" dirty="0">
              <a:solidFill>
                <a:schemeClr val="tx1"/>
              </a:solidFill>
            </a:endParaRPr>
          </a:p>
        </p:txBody>
      </p:sp>
      <p:sp>
        <p:nvSpPr>
          <p:cNvPr id="115" name="Freeform 159">
            <a:extLst>
              <a:ext uri="{FF2B5EF4-FFF2-40B4-BE49-F238E27FC236}">
                <a16:creationId xmlns:a16="http://schemas.microsoft.com/office/drawing/2014/main" id="{6FD844E4-5061-4EF0-86DB-F26142C3A706}"/>
              </a:ext>
            </a:extLst>
          </p:cNvPr>
          <p:cNvSpPr/>
          <p:nvPr/>
        </p:nvSpPr>
        <p:spPr bwMode="gray">
          <a:xfrm flipH="1">
            <a:off x="7921659" y="2683192"/>
            <a:ext cx="979442" cy="52994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专线</a:t>
            </a:r>
            <a:r>
              <a:rPr lang="en-US" altLang="zh-CN" sz="1400" dirty="0">
                <a:solidFill>
                  <a:schemeClr val="tx1"/>
                </a:solidFill>
              </a:rPr>
              <a:t>/</a:t>
            </a:r>
            <a:r>
              <a:rPr lang="zh-CN" altLang="en-US" sz="1400" dirty="0">
                <a:solidFill>
                  <a:schemeClr val="tx1"/>
                </a:solidFill>
              </a:rPr>
              <a:t>公网</a:t>
            </a:r>
            <a:endParaRPr lang="en-US" sz="1400" dirty="0">
              <a:solidFill>
                <a:schemeClr val="tx1"/>
              </a:solidFill>
            </a:endParaRPr>
          </a:p>
        </p:txBody>
      </p:sp>
      <p:sp>
        <p:nvSpPr>
          <p:cNvPr id="116" name="TextBox 115">
            <a:extLst>
              <a:ext uri="{FF2B5EF4-FFF2-40B4-BE49-F238E27FC236}">
                <a16:creationId xmlns:a16="http://schemas.microsoft.com/office/drawing/2014/main" id="{A277F50C-A024-47D4-AE94-ED71A130A3F8}"/>
              </a:ext>
            </a:extLst>
          </p:cNvPr>
          <p:cNvSpPr txBox="1"/>
          <p:nvPr/>
        </p:nvSpPr>
        <p:spPr bwMode="gray">
          <a:xfrm>
            <a:off x="6892269" y="2874839"/>
            <a:ext cx="638316" cy="307777"/>
          </a:xfrm>
          <a:prstGeom prst="rect">
            <a:avLst/>
          </a:prstGeom>
          <a:noFill/>
        </p:spPr>
        <p:txBody>
          <a:bodyPr wrap="none" rtlCol="0">
            <a:spAutoFit/>
          </a:bodyPr>
          <a:lstStyle/>
          <a:p>
            <a:r>
              <a:rPr lang="en-US" altLang="zh-CN" sz="1400" dirty="0"/>
              <a:t>EDGE</a:t>
            </a:r>
            <a:endParaRPr lang="zh-CN" altLang="en-US" sz="1400" dirty="0"/>
          </a:p>
        </p:txBody>
      </p:sp>
      <p:sp>
        <p:nvSpPr>
          <p:cNvPr id="117" name="TextBox 116">
            <a:extLst>
              <a:ext uri="{FF2B5EF4-FFF2-40B4-BE49-F238E27FC236}">
                <a16:creationId xmlns:a16="http://schemas.microsoft.com/office/drawing/2014/main" id="{A45E32C3-6B7B-4669-8FA8-BBDA7955C667}"/>
              </a:ext>
            </a:extLst>
          </p:cNvPr>
          <p:cNvSpPr txBox="1"/>
          <p:nvPr/>
        </p:nvSpPr>
        <p:spPr bwMode="gray">
          <a:xfrm>
            <a:off x="9314142" y="4219937"/>
            <a:ext cx="638316" cy="307777"/>
          </a:xfrm>
          <a:prstGeom prst="rect">
            <a:avLst/>
          </a:prstGeom>
          <a:noFill/>
        </p:spPr>
        <p:txBody>
          <a:bodyPr wrap="none" rtlCol="0">
            <a:spAutoFit/>
          </a:bodyPr>
          <a:lstStyle/>
          <a:p>
            <a:r>
              <a:rPr lang="en-US" altLang="zh-CN" sz="1400" dirty="0"/>
              <a:t>EDGE</a:t>
            </a:r>
            <a:endParaRPr lang="zh-CN" altLang="en-US" sz="1400" dirty="0"/>
          </a:p>
        </p:txBody>
      </p:sp>
      <p:cxnSp>
        <p:nvCxnSpPr>
          <p:cNvPr id="118" name="Straight Connector 117">
            <a:extLst>
              <a:ext uri="{FF2B5EF4-FFF2-40B4-BE49-F238E27FC236}">
                <a16:creationId xmlns:a16="http://schemas.microsoft.com/office/drawing/2014/main" id="{9AD7580B-B398-4F2F-979A-3A8C7C0A20A7}"/>
              </a:ext>
            </a:extLst>
          </p:cNvPr>
          <p:cNvCxnSpPr>
            <a:cxnSpLocks/>
            <a:stCxn id="122" idx="0"/>
            <a:endCxn id="115" idx="22"/>
          </p:cNvCxnSpPr>
          <p:nvPr/>
        </p:nvCxnSpPr>
        <p:spPr bwMode="gray">
          <a:xfrm flipV="1">
            <a:off x="7133463" y="2899550"/>
            <a:ext cx="909317" cy="23375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19" name="Picture 12" descr="E:\2016.01\1.12 扁平化图标\蓝色\AR-蓝色最新-40.png">
            <a:extLst>
              <a:ext uri="{FF2B5EF4-FFF2-40B4-BE49-F238E27FC236}">
                <a16:creationId xmlns:a16="http://schemas.microsoft.com/office/drawing/2014/main" id="{568E7273-5058-40AF-9CAC-B2BBC2B62584}"/>
              </a:ext>
            </a:extLst>
          </p:cNvPr>
          <p:cNvPicPr>
            <a:picLocks noChangeAspect="1" noChangeArrowheads="1"/>
          </p:cNvPicPr>
          <p:nvPr/>
        </p:nvPicPr>
        <p:blipFill>
          <a:blip r:embed="rId3" cstate="print"/>
          <a:srcRect/>
          <a:stretch>
            <a:fillRect/>
          </a:stretch>
        </p:blipFill>
        <p:spPr bwMode="gray">
          <a:xfrm>
            <a:off x="9376688" y="3895021"/>
            <a:ext cx="402674" cy="329461"/>
          </a:xfrm>
          <a:prstGeom prst="rect">
            <a:avLst/>
          </a:prstGeom>
          <a:noFill/>
        </p:spPr>
      </p:pic>
      <p:pic>
        <p:nvPicPr>
          <p:cNvPr id="120" name="Picture 12" descr="E:\2016.01\1.12 扁平化图标\蓝色\AR-蓝色最新-40.png">
            <a:extLst>
              <a:ext uri="{FF2B5EF4-FFF2-40B4-BE49-F238E27FC236}">
                <a16:creationId xmlns:a16="http://schemas.microsoft.com/office/drawing/2014/main" id="{D27BF36C-64D9-443A-93B7-784A1FCB9414}"/>
              </a:ext>
            </a:extLst>
          </p:cNvPr>
          <p:cNvPicPr>
            <a:picLocks noChangeAspect="1" noChangeArrowheads="1"/>
          </p:cNvPicPr>
          <p:nvPr/>
        </p:nvPicPr>
        <p:blipFill>
          <a:blip r:embed="rId3" cstate="print"/>
          <a:srcRect/>
          <a:stretch>
            <a:fillRect/>
          </a:stretch>
        </p:blipFill>
        <p:spPr bwMode="gray">
          <a:xfrm>
            <a:off x="9376790" y="2540507"/>
            <a:ext cx="402674" cy="329461"/>
          </a:xfrm>
          <a:prstGeom prst="rect">
            <a:avLst/>
          </a:prstGeom>
          <a:noFill/>
        </p:spPr>
      </p:pic>
      <p:sp>
        <p:nvSpPr>
          <p:cNvPr id="121" name="Freeform 159">
            <a:extLst>
              <a:ext uri="{FF2B5EF4-FFF2-40B4-BE49-F238E27FC236}">
                <a16:creationId xmlns:a16="http://schemas.microsoft.com/office/drawing/2014/main" id="{B7FD9CEB-8432-414C-AB2C-C7D42DD61903}"/>
              </a:ext>
            </a:extLst>
          </p:cNvPr>
          <p:cNvSpPr/>
          <p:nvPr/>
        </p:nvSpPr>
        <p:spPr bwMode="gray">
          <a:xfrm flipH="1">
            <a:off x="6290130" y="3014545"/>
            <a:ext cx="902810" cy="4884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endParaRPr lang="en-US" sz="1400" dirty="0">
              <a:solidFill>
                <a:schemeClr val="tx1"/>
              </a:solidFill>
            </a:endParaRPr>
          </a:p>
        </p:txBody>
      </p:sp>
      <p:pic>
        <p:nvPicPr>
          <p:cNvPr id="122" name="Picture 12" descr="E:\2016.01\1.12 扁平化图标\蓝色\AR-蓝色最新-40.png">
            <a:extLst>
              <a:ext uri="{FF2B5EF4-FFF2-40B4-BE49-F238E27FC236}">
                <a16:creationId xmlns:a16="http://schemas.microsoft.com/office/drawing/2014/main" id="{6E8DC421-4DD8-4D55-8085-BAEE805C3829}"/>
              </a:ext>
            </a:extLst>
          </p:cNvPr>
          <p:cNvPicPr>
            <a:picLocks noChangeAspect="1" noChangeArrowheads="1"/>
          </p:cNvPicPr>
          <p:nvPr/>
        </p:nvPicPr>
        <p:blipFill>
          <a:blip r:embed="rId3" cstate="print"/>
          <a:srcRect/>
          <a:stretch>
            <a:fillRect/>
          </a:stretch>
        </p:blipFill>
        <p:spPr bwMode="gray">
          <a:xfrm>
            <a:off x="6932126" y="3133300"/>
            <a:ext cx="402674" cy="329461"/>
          </a:xfrm>
          <a:prstGeom prst="rect">
            <a:avLst/>
          </a:prstGeom>
          <a:noFill/>
        </p:spPr>
      </p:pic>
      <p:sp>
        <p:nvSpPr>
          <p:cNvPr id="123" name="TextBox 122">
            <a:extLst>
              <a:ext uri="{FF2B5EF4-FFF2-40B4-BE49-F238E27FC236}">
                <a16:creationId xmlns:a16="http://schemas.microsoft.com/office/drawing/2014/main" id="{ED5B5841-68B2-4F40-B132-E6C66FED4197}"/>
              </a:ext>
            </a:extLst>
          </p:cNvPr>
          <p:cNvSpPr txBox="1"/>
          <p:nvPr/>
        </p:nvSpPr>
        <p:spPr bwMode="gray">
          <a:xfrm>
            <a:off x="9327151" y="2272318"/>
            <a:ext cx="638316" cy="307777"/>
          </a:xfrm>
          <a:prstGeom prst="rect">
            <a:avLst/>
          </a:prstGeom>
          <a:noFill/>
        </p:spPr>
        <p:txBody>
          <a:bodyPr wrap="none" rtlCol="0">
            <a:spAutoFit/>
          </a:bodyPr>
          <a:lstStyle/>
          <a:p>
            <a:r>
              <a:rPr lang="en-US" altLang="zh-CN" sz="1400" dirty="0"/>
              <a:t>EDGE</a:t>
            </a:r>
            <a:endParaRPr lang="zh-CN" altLang="en-US" sz="1400" dirty="0"/>
          </a:p>
        </p:txBody>
      </p:sp>
      <p:cxnSp>
        <p:nvCxnSpPr>
          <p:cNvPr id="124" name="Straight Connector 123">
            <a:extLst>
              <a:ext uri="{FF2B5EF4-FFF2-40B4-BE49-F238E27FC236}">
                <a16:creationId xmlns:a16="http://schemas.microsoft.com/office/drawing/2014/main" id="{FF801233-C5B2-464D-BCE7-6E695838799A}"/>
              </a:ext>
            </a:extLst>
          </p:cNvPr>
          <p:cNvCxnSpPr>
            <a:cxnSpLocks/>
            <a:stCxn id="122" idx="2"/>
            <a:endCxn id="114" idx="21"/>
          </p:cNvCxnSpPr>
          <p:nvPr/>
        </p:nvCxnSpPr>
        <p:spPr bwMode="gray">
          <a:xfrm>
            <a:off x="7133463" y="3462761"/>
            <a:ext cx="788195" cy="29290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CD497DB-F7EE-443F-8767-BCCE7D1A8F42}"/>
              </a:ext>
            </a:extLst>
          </p:cNvPr>
          <p:cNvCxnSpPr>
            <a:cxnSpLocks/>
            <a:stCxn id="115" idx="8"/>
            <a:endCxn id="132" idx="1"/>
          </p:cNvCxnSpPr>
          <p:nvPr/>
        </p:nvCxnSpPr>
        <p:spPr bwMode="gray">
          <a:xfrm>
            <a:off x="8901101" y="3045090"/>
            <a:ext cx="493873" cy="7435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B763899-C3F4-4601-A088-CF55418AFD83}"/>
              </a:ext>
            </a:extLst>
          </p:cNvPr>
          <p:cNvCxnSpPr>
            <a:cxnSpLocks/>
            <a:stCxn id="114" idx="8"/>
            <a:endCxn id="133" idx="1"/>
          </p:cNvCxnSpPr>
          <p:nvPr/>
        </p:nvCxnSpPr>
        <p:spPr bwMode="gray">
          <a:xfrm flipV="1">
            <a:off x="8897249" y="3630869"/>
            <a:ext cx="493772" cy="11518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E4ECAEA4-2DF7-4494-BC0D-02BF72E575A1}"/>
              </a:ext>
            </a:extLst>
          </p:cNvPr>
          <p:cNvCxnSpPr>
            <a:cxnSpLocks/>
            <a:stCxn id="120" idx="2"/>
            <a:endCxn id="132" idx="0"/>
          </p:cNvCxnSpPr>
          <p:nvPr/>
        </p:nvCxnSpPr>
        <p:spPr bwMode="gray">
          <a:xfrm>
            <a:off x="9578127" y="2869968"/>
            <a:ext cx="0" cy="996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AE74A633-B774-4AF5-BEF6-BF0DA0C1BEFF}"/>
              </a:ext>
            </a:extLst>
          </p:cNvPr>
          <p:cNvCxnSpPr>
            <a:cxnSpLocks/>
            <a:stCxn id="119" idx="0"/>
            <a:endCxn id="133" idx="2"/>
          </p:cNvCxnSpPr>
          <p:nvPr/>
        </p:nvCxnSpPr>
        <p:spPr bwMode="gray">
          <a:xfrm flipH="1" flipV="1">
            <a:off x="9574174" y="3780721"/>
            <a:ext cx="3851" cy="1143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9" name="Freeform 159">
            <a:extLst>
              <a:ext uri="{FF2B5EF4-FFF2-40B4-BE49-F238E27FC236}">
                <a16:creationId xmlns:a16="http://schemas.microsoft.com/office/drawing/2014/main" id="{EFB20E0A-A638-4127-86D3-1F6EEEB24707}"/>
              </a:ext>
            </a:extLst>
          </p:cNvPr>
          <p:cNvSpPr/>
          <p:nvPr/>
        </p:nvSpPr>
        <p:spPr bwMode="gray">
          <a:xfrm flipH="1">
            <a:off x="9503605" y="2828344"/>
            <a:ext cx="1464459" cy="79237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总部</a:t>
            </a:r>
            <a:endParaRPr lang="en-US" altLang="zh-CN" sz="1400" dirty="0">
              <a:solidFill>
                <a:schemeClr val="tx1"/>
              </a:solidFill>
            </a:endParaRPr>
          </a:p>
          <a:p>
            <a:pPr algn="ctr"/>
            <a:r>
              <a:rPr lang="zh-CN" altLang="en-US" sz="1400" dirty="0">
                <a:solidFill>
                  <a:schemeClr val="tx1"/>
                </a:solidFill>
              </a:rPr>
              <a:t>数据中心</a:t>
            </a:r>
            <a:endParaRPr lang="en-US" sz="1400" dirty="0">
              <a:solidFill>
                <a:schemeClr val="tx1"/>
              </a:solidFill>
            </a:endParaRPr>
          </a:p>
        </p:txBody>
      </p:sp>
      <p:sp>
        <p:nvSpPr>
          <p:cNvPr id="130" name="圆角矩形 44">
            <a:extLst>
              <a:ext uri="{FF2B5EF4-FFF2-40B4-BE49-F238E27FC236}">
                <a16:creationId xmlns:a16="http://schemas.microsoft.com/office/drawing/2014/main" id="{92B3029D-5A05-4094-80F0-8DAFB2EE5F5F}"/>
              </a:ext>
            </a:extLst>
          </p:cNvPr>
          <p:cNvSpPr/>
          <p:nvPr/>
        </p:nvSpPr>
        <p:spPr bwMode="gray">
          <a:xfrm>
            <a:off x="9804718" y="3480782"/>
            <a:ext cx="1468312" cy="323210"/>
          </a:xfrm>
          <a:prstGeom prst="roundRect">
            <a:avLst>
              <a:gd name="adj" fmla="val 6377"/>
            </a:avLst>
          </a:prstGeom>
          <a:solidFill>
            <a:schemeClr val="bg1"/>
          </a:solid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31" name="图片 81">
            <a:extLst>
              <a:ext uri="{FF2B5EF4-FFF2-40B4-BE49-F238E27FC236}">
                <a16:creationId xmlns:a16="http://schemas.microsoft.com/office/drawing/2014/main" id="{CDBDEC97-6E8A-421E-89DA-46523F9208F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814446" y="3503522"/>
            <a:ext cx="1439128" cy="265413"/>
          </a:xfrm>
          <a:prstGeom prst="rect">
            <a:avLst/>
          </a:prstGeom>
        </p:spPr>
      </p:pic>
      <p:pic>
        <p:nvPicPr>
          <p:cNvPr id="132" name="Picture 12" descr="E:\2016.01\1.12 扁平化图标\蓝色\AR-蓝色最新-40.png">
            <a:extLst>
              <a:ext uri="{FF2B5EF4-FFF2-40B4-BE49-F238E27FC236}">
                <a16:creationId xmlns:a16="http://schemas.microsoft.com/office/drawing/2014/main" id="{679D8013-FF6D-4588-93B4-9456C51BF355}"/>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9394974" y="2969589"/>
            <a:ext cx="366306" cy="299705"/>
          </a:xfrm>
          <a:prstGeom prst="rect">
            <a:avLst/>
          </a:prstGeom>
          <a:noFill/>
        </p:spPr>
      </p:pic>
      <p:pic>
        <p:nvPicPr>
          <p:cNvPr id="133" name="Picture 12" descr="E:\2016.01\1.12 扁平化图标\蓝色\AR-蓝色最新-40.png">
            <a:extLst>
              <a:ext uri="{FF2B5EF4-FFF2-40B4-BE49-F238E27FC236}">
                <a16:creationId xmlns:a16="http://schemas.microsoft.com/office/drawing/2014/main" id="{9DF0B6CA-0EDA-4C37-A9E0-36B9A3375C2C}"/>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9391021" y="3481016"/>
            <a:ext cx="366306" cy="299705"/>
          </a:xfrm>
          <a:prstGeom prst="rect">
            <a:avLst/>
          </a:prstGeom>
          <a:noFill/>
        </p:spPr>
      </p:pic>
      <p:cxnSp>
        <p:nvCxnSpPr>
          <p:cNvPr id="134" name="Straight Connector 133">
            <a:extLst>
              <a:ext uri="{FF2B5EF4-FFF2-40B4-BE49-F238E27FC236}">
                <a16:creationId xmlns:a16="http://schemas.microsoft.com/office/drawing/2014/main" id="{8A3BA573-F8B0-4EE2-AFB8-4CFA5985A151}"/>
              </a:ext>
            </a:extLst>
          </p:cNvPr>
          <p:cNvCxnSpPr>
            <a:cxnSpLocks/>
            <a:stCxn id="133" idx="0"/>
            <a:endCxn id="132" idx="2"/>
          </p:cNvCxnSpPr>
          <p:nvPr/>
        </p:nvCxnSpPr>
        <p:spPr bwMode="gray">
          <a:xfrm flipV="1">
            <a:off x="9574174" y="3269294"/>
            <a:ext cx="3953" cy="21172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5" name="Freeform: Shape 85">
            <a:extLst>
              <a:ext uri="{FF2B5EF4-FFF2-40B4-BE49-F238E27FC236}">
                <a16:creationId xmlns:a16="http://schemas.microsoft.com/office/drawing/2014/main" id="{6D730236-A572-47E2-83FA-DE73995A3F27}"/>
              </a:ext>
            </a:extLst>
          </p:cNvPr>
          <p:cNvSpPr/>
          <p:nvPr/>
        </p:nvSpPr>
        <p:spPr bwMode="blackGray">
          <a:xfrm>
            <a:off x="7244430" y="2847438"/>
            <a:ext cx="2957670" cy="529946"/>
          </a:xfrm>
          <a:custGeom>
            <a:avLst/>
            <a:gdLst>
              <a:gd name="connsiteX0" fmla="*/ 0 w 2772383"/>
              <a:gd name="connsiteY0" fmla="*/ 145941 h 437771"/>
              <a:gd name="connsiteX1" fmla="*/ 797668 w 2772383"/>
              <a:gd name="connsiteY1" fmla="*/ 26 h 437771"/>
              <a:gd name="connsiteX2" fmla="*/ 2286000 w 2772383"/>
              <a:gd name="connsiteY2" fmla="*/ 155668 h 437771"/>
              <a:gd name="connsiteX3" fmla="*/ 2772383 w 2772383"/>
              <a:gd name="connsiteY3" fmla="*/ 437771 h 437771"/>
            </a:gdLst>
            <a:ahLst/>
            <a:cxnLst>
              <a:cxn ang="0">
                <a:pos x="connsiteX0" y="connsiteY0"/>
              </a:cxn>
              <a:cxn ang="0">
                <a:pos x="connsiteX1" y="connsiteY1"/>
              </a:cxn>
              <a:cxn ang="0">
                <a:pos x="connsiteX2" y="connsiteY2"/>
              </a:cxn>
              <a:cxn ang="0">
                <a:pos x="connsiteX3" y="connsiteY3"/>
              </a:cxn>
            </a:cxnLst>
            <a:rect l="l" t="t" r="r" b="b"/>
            <a:pathLst>
              <a:path w="2772383" h="437771">
                <a:moveTo>
                  <a:pt x="0" y="145941"/>
                </a:moveTo>
                <a:cubicBezTo>
                  <a:pt x="208334" y="72173"/>
                  <a:pt x="416668" y="-1595"/>
                  <a:pt x="797668" y="26"/>
                </a:cubicBezTo>
                <a:cubicBezTo>
                  <a:pt x="1178668" y="1647"/>
                  <a:pt x="1956881" y="82711"/>
                  <a:pt x="2286000" y="155668"/>
                </a:cubicBezTo>
                <a:cubicBezTo>
                  <a:pt x="2615119" y="228625"/>
                  <a:pt x="2693751" y="333198"/>
                  <a:pt x="2772383" y="437771"/>
                </a:cubicBezTo>
              </a:path>
            </a:pathLst>
          </a:custGeom>
          <a:noFill/>
          <a:ln w="38100" cap="flat" cmpd="sng">
            <a:solidFill>
              <a:srgbClr val="E28189"/>
            </a:solidFill>
            <a:headEnd type="triangle" w="med" len="med"/>
            <a:tailEnd type="triangle" w="med" len="med"/>
          </a:ln>
        </p:spPr>
        <p:txBody>
          <a:bodyPr rtlCol="0" anchor="ctr"/>
          <a:lstStyle/>
          <a:p>
            <a:pPr algn="ctr"/>
            <a:endParaRPr lang="en-US" dirty="0"/>
          </a:p>
        </p:txBody>
      </p:sp>
      <p:sp>
        <p:nvSpPr>
          <p:cNvPr id="136" name="Freeform: Shape 88">
            <a:extLst>
              <a:ext uri="{FF2B5EF4-FFF2-40B4-BE49-F238E27FC236}">
                <a16:creationId xmlns:a16="http://schemas.microsoft.com/office/drawing/2014/main" id="{3F277909-BA3A-49B0-B11A-A4108ADA8A1C}"/>
              </a:ext>
            </a:extLst>
          </p:cNvPr>
          <p:cNvSpPr/>
          <p:nvPr/>
        </p:nvSpPr>
        <p:spPr bwMode="gray">
          <a:xfrm>
            <a:off x="7192940" y="3511076"/>
            <a:ext cx="2678855" cy="273048"/>
          </a:xfrm>
          <a:custGeom>
            <a:avLst/>
            <a:gdLst>
              <a:gd name="connsiteX0" fmla="*/ 0 w 2470826"/>
              <a:gd name="connsiteY0" fmla="*/ 0 h 273048"/>
              <a:gd name="connsiteX1" fmla="*/ 1079770 w 2470826"/>
              <a:gd name="connsiteY1" fmla="*/ 272375 h 273048"/>
              <a:gd name="connsiteX2" fmla="*/ 2159540 w 2470826"/>
              <a:gd name="connsiteY2" fmla="*/ 77821 h 273048"/>
              <a:gd name="connsiteX3" fmla="*/ 2470826 w 2470826"/>
              <a:gd name="connsiteY3" fmla="*/ 97277 h 273048"/>
            </a:gdLst>
            <a:ahLst/>
            <a:cxnLst>
              <a:cxn ang="0">
                <a:pos x="connsiteX0" y="connsiteY0"/>
              </a:cxn>
              <a:cxn ang="0">
                <a:pos x="connsiteX1" y="connsiteY1"/>
              </a:cxn>
              <a:cxn ang="0">
                <a:pos x="connsiteX2" y="connsiteY2"/>
              </a:cxn>
              <a:cxn ang="0">
                <a:pos x="connsiteX3" y="connsiteY3"/>
              </a:cxn>
            </a:cxnLst>
            <a:rect l="l" t="t" r="r" b="b"/>
            <a:pathLst>
              <a:path w="2470826" h="273048">
                <a:moveTo>
                  <a:pt x="0" y="0"/>
                </a:moveTo>
                <a:cubicBezTo>
                  <a:pt x="359923" y="129702"/>
                  <a:pt x="719847" y="259405"/>
                  <a:pt x="1079770" y="272375"/>
                </a:cubicBezTo>
                <a:cubicBezTo>
                  <a:pt x="1439693" y="285345"/>
                  <a:pt x="1927697" y="107004"/>
                  <a:pt x="2159540" y="77821"/>
                </a:cubicBezTo>
                <a:cubicBezTo>
                  <a:pt x="2391383" y="48638"/>
                  <a:pt x="2431104" y="72957"/>
                  <a:pt x="2470826" y="97277"/>
                </a:cubicBezTo>
              </a:path>
            </a:pathLst>
          </a:custGeom>
          <a:noFill/>
          <a:ln w="38100" cap="flat" cmpd="sng">
            <a:solidFill>
              <a:srgbClr val="AFD89C"/>
            </a:solidFill>
            <a:headEnd type="triangle" w="med" len="med"/>
            <a:tailEnd type="triangle" w="med" len="med"/>
          </a:ln>
        </p:spPr>
        <p:txBody>
          <a:bodyPr rtlCol="0" anchor="ctr"/>
          <a:lstStyle/>
          <a:p>
            <a:pPr algn="ctr"/>
            <a:endParaRPr lang="en-US"/>
          </a:p>
        </p:txBody>
      </p:sp>
      <p:sp>
        <p:nvSpPr>
          <p:cNvPr id="137" name="Freeform: Shape 88">
            <a:extLst>
              <a:ext uri="{FF2B5EF4-FFF2-40B4-BE49-F238E27FC236}">
                <a16:creationId xmlns:a16="http://schemas.microsoft.com/office/drawing/2014/main" id="{3F277909-BA3A-49B0-B11A-A4108ADA8A1C}"/>
              </a:ext>
            </a:extLst>
          </p:cNvPr>
          <p:cNvSpPr/>
          <p:nvPr/>
        </p:nvSpPr>
        <p:spPr bwMode="gray">
          <a:xfrm>
            <a:off x="1733529" y="3501962"/>
            <a:ext cx="2678855" cy="273048"/>
          </a:xfrm>
          <a:custGeom>
            <a:avLst/>
            <a:gdLst>
              <a:gd name="connsiteX0" fmla="*/ 0 w 2470826"/>
              <a:gd name="connsiteY0" fmla="*/ 0 h 273048"/>
              <a:gd name="connsiteX1" fmla="*/ 1079770 w 2470826"/>
              <a:gd name="connsiteY1" fmla="*/ 272375 h 273048"/>
              <a:gd name="connsiteX2" fmla="*/ 2159540 w 2470826"/>
              <a:gd name="connsiteY2" fmla="*/ 77821 h 273048"/>
              <a:gd name="connsiteX3" fmla="*/ 2470826 w 2470826"/>
              <a:gd name="connsiteY3" fmla="*/ 97277 h 273048"/>
            </a:gdLst>
            <a:ahLst/>
            <a:cxnLst>
              <a:cxn ang="0">
                <a:pos x="connsiteX0" y="connsiteY0"/>
              </a:cxn>
              <a:cxn ang="0">
                <a:pos x="connsiteX1" y="connsiteY1"/>
              </a:cxn>
              <a:cxn ang="0">
                <a:pos x="connsiteX2" y="connsiteY2"/>
              </a:cxn>
              <a:cxn ang="0">
                <a:pos x="connsiteX3" y="connsiteY3"/>
              </a:cxn>
            </a:cxnLst>
            <a:rect l="l" t="t" r="r" b="b"/>
            <a:pathLst>
              <a:path w="2470826" h="273048">
                <a:moveTo>
                  <a:pt x="0" y="0"/>
                </a:moveTo>
                <a:cubicBezTo>
                  <a:pt x="359923" y="129702"/>
                  <a:pt x="719847" y="259405"/>
                  <a:pt x="1079770" y="272375"/>
                </a:cubicBezTo>
                <a:cubicBezTo>
                  <a:pt x="1439693" y="285345"/>
                  <a:pt x="1927697" y="107004"/>
                  <a:pt x="2159540" y="77821"/>
                </a:cubicBezTo>
                <a:cubicBezTo>
                  <a:pt x="2391383" y="48638"/>
                  <a:pt x="2431104" y="72957"/>
                  <a:pt x="2470826" y="97277"/>
                </a:cubicBezTo>
              </a:path>
            </a:pathLst>
          </a:custGeom>
          <a:noFill/>
          <a:ln w="38100" cap="flat" cmpd="sng">
            <a:solidFill>
              <a:srgbClr val="AFD89C"/>
            </a:solidFill>
            <a:headEnd type="triangle" w="med" len="med"/>
            <a:tailEnd type="triangle" w="med" len="med"/>
          </a:ln>
        </p:spPr>
        <p:txBody>
          <a:bodyPr rtlCol="0" anchor="ctr"/>
          <a:lstStyle/>
          <a:p>
            <a:pPr algn="ctr"/>
            <a:endParaRPr lang="en-US"/>
          </a:p>
        </p:txBody>
      </p:sp>
    </p:spTree>
    <p:extLst>
      <p:ext uri="{BB962C8B-B14F-4D97-AF65-F5344CB8AC3E}">
        <p14:creationId xmlns:p14="http://schemas.microsoft.com/office/powerpoint/2010/main" val="68178086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18A2A50-EC71-4854-8257-EAACC1A30930}"/>
              </a:ext>
            </a:extLst>
          </p:cNvPr>
          <p:cNvSpPr>
            <a:spLocks noGrp="1"/>
          </p:cNvSpPr>
          <p:nvPr>
            <p:ph type="body" sz="quarter" idx="10"/>
          </p:nvPr>
        </p:nvSpPr>
        <p:spPr bwMode="gray"/>
        <p:txBody>
          <a:bodyPr/>
          <a:lstStyle/>
          <a:p>
            <a:r>
              <a:rPr lang="zh-CN" altLang="en-US" sz="1800" dirty="0"/>
              <a:t>主备控制器场景中，主要通过控制路由条目优先级的方式指导</a:t>
            </a:r>
            <a:r>
              <a:rPr lang="en-US" altLang="zh-CN" sz="1800" dirty="0"/>
              <a:t>CPE</a:t>
            </a:r>
            <a:r>
              <a:rPr lang="zh-CN" altLang="en-US" sz="1800" dirty="0"/>
              <a:t>与主备控制器通信。</a:t>
            </a:r>
            <a:endParaRPr lang="en-US" sz="1800" dirty="0"/>
          </a:p>
        </p:txBody>
      </p:sp>
      <p:sp>
        <p:nvSpPr>
          <p:cNvPr id="2" name="Title 1">
            <a:extLst>
              <a:ext uri="{FF2B5EF4-FFF2-40B4-BE49-F238E27FC236}">
                <a16:creationId xmlns:a16="http://schemas.microsoft.com/office/drawing/2014/main" id="{AE3EC95D-F188-4C3B-9EC7-5B1A4A2C3D72}"/>
              </a:ext>
            </a:extLst>
          </p:cNvPr>
          <p:cNvSpPr>
            <a:spLocks noGrp="1"/>
          </p:cNvSpPr>
          <p:nvPr>
            <p:ph type="title"/>
          </p:nvPr>
        </p:nvSpPr>
        <p:spPr bwMode="gray"/>
        <p:txBody>
          <a:bodyPr/>
          <a:lstStyle/>
          <a:p>
            <a:r>
              <a:rPr lang="zh-CN" altLang="en-US" dirty="0"/>
              <a:t>主备控制器组网可靠性设计</a:t>
            </a:r>
            <a:endParaRPr lang="en-US" dirty="0"/>
          </a:p>
        </p:txBody>
      </p:sp>
      <p:sp>
        <p:nvSpPr>
          <p:cNvPr id="54" name="五边形 2">
            <a:extLst>
              <a:ext uri="{FF2B5EF4-FFF2-40B4-BE49-F238E27FC236}">
                <a16:creationId xmlns:a16="http://schemas.microsoft.com/office/drawing/2014/main" id="{9BE464B6-4676-4DC9-9E18-2C67E3D17B26}"/>
              </a:ext>
            </a:extLst>
          </p:cNvPr>
          <p:cNvSpPr/>
          <p:nvPr/>
        </p:nvSpPr>
        <p:spPr bwMode="gray">
          <a:xfrm>
            <a:off x="8370630" y="40227"/>
            <a:ext cx="1662685"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控制器部署可靠性设计</a:t>
            </a:r>
          </a:p>
        </p:txBody>
      </p:sp>
      <p:sp>
        <p:nvSpPr>
          <p:cNvPr id="55" name="燕尾形 3">
            <a:extLst>
              <a:ext uri="{FF2B5EF4-FFF2-40B4-BE49-F238E27FC236}">
                <a16:creationId xmlns:a16="http://schemas.microsoft.com/office/drawing/2014/main" id="{9E1CC9F2-944F-4546-B9F6-2ECCB58F78B0}"/>
              </a:ext>
            </a:extLst>
          </p:cNvPr>
          <p:cNvSpPr/>
          <p:nvPr/>
        </p:nvSpPr>
        <p:spPr bwMode="gray">
          <a:xfrm>
            <a:off x="9962130" y="40227"/>
            <a:ext cx="178035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控制器组网可靠性设计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75">
            <a:extLst>
              <a:ext uri="{FF2B5EF4-FFF2-40B4-BE49-F238E27FC236}">
                <a16:creationId xmlns:a16="http://schemas.microsoft.com/office/drawing/2014/main" id="{B8FC562C-51E2-46D8-A3B4-582E6521C86D}"/>
              </a:ext>
            </a:extLst>
          </p:cNvPr>
          <p:cNvSpPr/>
          <p:nvPr/>
        </p:nvSpPr>
        <p:spPr bwMode="gray">
          <a:xfrm>
            <a:off x="846306" y="1595443"/>
            <a:ext cx="10447898" cy="359539"/>
          </a:xfrm>
          <a:prstGeom prst="roundRect">
            <a:avLst>
              <a:gd name="adj" fmla="val 13606"/>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单一类型网络接入组网</a:t>
            </a:r>
          </a:p>
        </p:txBody>
      </p:sp>
      <p:sp>
        <p:nvSpPr>
          <p:cNvPr id="43" name="圆角矩形 75">
            <a:extLst>
              <a:ext uri="{FF2B5EF4-FFF2-40B4-BE49-F238E27FC236}">
                <a16:creationId xmlns:a16="http://schemas.microsoft.com/office/drawing/2014/main" id="{383C3609-81D6-485A-87F7-CEE751356A1E}"/>
              </a:ext>
            </a:extLst>
          </p:cNvPr>
          <p:cNvSpPr/>
          <p:nvPr/>
        </p:nvSpPr>
        <p:spPr bwMode="gray">
          <a:xfrm>
            <a:off x="846306" y="2007391"/>
            <a:ext cx="10447898" cy="4059822"/>
          </a:xfrm>
          <a:prstGeom prst="roundRect">
            <a:avLst>
              <a:gd name="adj" fmla="val 2420"/>
            </a:avLst>
          </a:prstGeom>
          <a:noFill/>
          <a:ln w="9525" cap="flat" cmpd="sng" algn="ctr">
            <a:solidFill>
              <a:sysClr val="window" lastClr="FFFFFF">
                <a:lumMod val="75000"/>
              </a:sysClr>
            </a:solidFill>
            <a:prstDash val="solid"/>
            <a:miter lim="800000"/>
          </a:ln>
          <a:effectLst/>
        </p:spPr>
        <p:txBody>
          <a:bodyPr wrap="square" lIns="108000" tIns="108000" rIns="108000" bIns="108000" rtlCol="0" anchor="ctr" anchorCtr="0">
            <a:noAutofit/>
          </a:bodyPr>
          <a:lstStyle/>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endParaRPr lang="en-US" altLang="zh-CN" sz="1400" dirty="0"/>
          </a:p>
          <a:p>
            <a:pPr marL="228594" indent="-228594">
              <a:buFont typeface="Arial" panose="020B0604020202020204" pitchFamily="34" charset="0"/>
              <a:buChar char="•"/>
            </a:pPr>
            <a:r>
              <a:rPr lang="zh-CN" altLang="en-US" sz="1400" dirty="0"/>
              <a:t>主控制器部署于主数据中心，备控制器部署于备数据中心。主备控制器之间建立心跳隧道，同步数据，检查控制器状态。</a:t>
            </a:r>
            <a:endParaRPr lang="en-US" altLang="zh-CN" sz="1400" dirty="0"/>
          </a:p>
          <a:p>
            <a:pPr marL="228594" indent="-228594">
              <a:buFont typeface="Arial" panose="020B0604020202020204" pitchFamily="34" charset="0"/>
              <a:buChar char="•"/>
            </a:pPr>
            <a:r>
              <a:rPr lang="zh-CN" altLang="en-US" sz="1400" dirty="0"/>
              <a:t>主备控制器使用相同的北向</a:t>
            </a:r>
            <a:r>
              <a:rPr lang="en-US" altLang="zh-CN" sz="1400" dirty="0"/>
              <a:t>IP</a:t>
            </a:r>
            <a:r>
              <a:rPr lang="zh-CN" altLang="en-US" sz="1400" dirty="0"/>
              <a:t>，南向</a:t>
            </a:r>
            <a:r>
              <a:rPr lang="en-US" altLang="zh-CN" sz="1400" dirty="0"/>
              <a:t>IP</a:t>
            </a:r>
            <a:r>
              <a:rPr lang="zh-CN" altLang="en-US" sz="1400" dirty="0"/>
              <a:t>可设置为不同，在公网场景下需配置</a:t>
            </a:r>
            <a:r>
              <a:rPr lang="en-US" altLang="zh-CN" sz="1400" dirty="0"/>
              <a:t>NAT</a:t>
            </a:r>
            <a:r>
              <a:rPr lang="zh-CN" altLang="en-US" sz="1400" dirty="0"/>
              <a:t>。</a:t>
            </a:r>
            <a:endParaRPr lang="en-US" altLang="zh-CN" sz="1400" dirty="0"/>
          </a:p>
          <a:p>
            <a:pPr marL="228594" indent="-228594">
              <a:buFont typeface="Arial" panose="020B0604020202020204" pitchFamily="34" charset="0"/>
              <a:buChar char="•"/>
            </a:pPr>
            <a:r>
              <a:rPr lang="zh-CN" altLang="en-US" sz="1400" dirty="0"/>
              <a:t>在纯专线网络中，需要将控制器南向</a:t>
            </a:r>
            <a:r>
              <a:rPr lang="en-US" altLang="zh-CN" sz="1400" dirty="0"/>
              <a:t>/</a:t>
            </a:r>
            <a:r>
              <a:rPr lang="zh-CN" altLang="en-US" sz="1400" dirty="0"/>
              <a:t>北向</a:t>
            </a:r>
            <a:r>
              <a:rPr lang="en-US" altLang="zh-CN" sz="1400" dirty="0"/>
              <a:t>IP</a:t>
            </a:r>
            <a:r>
              <a:rPr lang="zh-CN" altLang="en-US" sz="1400" dirty="0"/>
              <a:t>通过</a:t>
            </a:r>
            <a:r>
              <a:rPr lang="en-US" altLang="zh-CN" sz="1400" dirty="0"/>
              <a:t>EBGP</a:t>
            </a:r>
            <a:r>
              <a:rPr lang="zh-CN" altLang="en-US" sz="1400" dirty="0"/>
              <a:t>邻居发布到专线网络中，并使用路由策略使得主控制器的路由被优选。</a:t>
            </a:r>
            <a:endParaRPr lang="en-US" altLang="zh-CN" sz="1400" dirty="0"/>
          </a:p>
          <a:p>
            <a:pPr marL="228594" indent="-228594">
              <a:buFont typeface="Arial" panose="020B0604020202020204" pitchFamily="34" charset="0"/>
              <a:buChar char="•"/>
            </a:pPr>
            <a:r>
              <a:rPr lang="zh-CN" altLang="en-US" sz="1400" dirty="0"/>
              <a:t>在纯公网网络中，对于南向</a:t>
            </a:r>
            <a:r>
              <a:rPr lang="en-US" altLang="zh-CN" sz="1400" dirty="0"/>
              <a:t>/</a:t>
            </a:r>
            <a:r>
              <a:rPr lang="zh-CN" altLang="en-US" sz="1400" dirty="0"/>
              <a:t>北向</a:t>
            </a:r>
            <a:r>
              <a:rPr lang="en-US" altLang="zh-CN" sz="1400" dirty="0"/>
              <a:t>IP</a:t>
            </a:r>
            <a:r>
              <a:rPr lang="zh-CN" altLang="en-US" sz="1400" dirty="0"/>
              <a:t>需要部署</a:t>
            </a:r>
            <a:r>
              <a:rPr lang="en-US" altLang="zh-CN" sz="1400" dirty="0"/>
              <a:t>1:1</a:t>
            </a:r>
            <a:r>
              <a:rPr lang="zh-CN" altLang="en-US" sz="1400" dirty="0"/>
              <a:t>静态</a:t>
            </a:r>
            <a:r>
              <a:rPr lang="en-US" altLang="zh-CN" sz="1400" dirty="0"/>
              <a:t>NAT</a:t>
            </a:r>
            <a:r>
              <a:rPr lang="zh-CN" altLang="en-US" sz="1400" dirty="0"/>
              <a:t>，两台出口网关的</a:t>
            </a:r>
            <a:r>
              <a:rPr lang="en-US" altLang="zh-CN" sz="1400" dirty="0"/>
              <a:t>NAT</a:t>
            </a:r>
            <a:r>
              <a:rPr lang="zh-CN" altLang="en-US" sz="1400" dirty="0"/>
              <a:t>配置需要一致。将</a:t>
            </a:r>
            <a:r>
              <a:rPr lang="en-US" altLang="zh-CN" sz="1400" dirty="0"/>
              <a:t>NAT</a:t>
            </a:r>
            <a:r>
              <a:rPr lang="zh-CN" altLang="en-US" sz="1400" dirty="0"/>
              <a:t>地址相关的路由通过</a:t>
            </a:r>
            <a:r>
              <a:rPr lang="en-US" altLang="zh-CN" sz="1400" dirty="0"/>
              <a:t>EBGP</a:t>
            </a:r>
            <a:r>
              <a:rPr lang="zh-CN" altLang="en-US" sz="1400" dirty="0"/>
              <a:t>发布到公网中，并使用路由策略使得主数据中心的</a:t>
            </a:r>
            <a:r>
              <a:rPr lang="en-US" altLang="zh-CN" sz="1400" dirty="0"/>
              <a:t>NAT</a:t>
            </a:r>
            <a:r>
              <a:rPr lang="zh-CN" altLang="en-US" sz="1400" dirty="0"/>
              <a:t>相关路由被优选。</a:t>
            </a:r>
            <a:endParaRPr lang="en-US" altLang="zh-CN" sz="1400" dirty="0"/>
          </a:p>
        </p:txBody>
      </p:sp>
      <p:sp>
        <p:nvSpPr>
          <p:cNvPr id="45" name="Freeform 159">
            <a:extLst>
              <a:ext uri="{FF2B5EF4-FFF2-40B4-BE49-F238E27FC236}">
                <a16:creationId xmlns:a16="http://schemas.microsoft.com/office/drawing/2014/main" id="{E51F7975-B30C-4056-9AC7-88D6A86900E8}"/>
              </a:ext>
            </a:extLst>
          </p:cNvPr>
          <p:cNvSpPr/>
          <p:nvPr/>
        </p:nvSpPr>
        <p:spPr bwMode="gray">
          <a:xfrm flipH="1">
            <a:off x="4409466" y="2862750"/>
            <a:ext cx="1217557" cy="6587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专线</a:t>
            </a:r>
            <a:r>
              <a:rPr lang="en-US" altLang="zh-CN" sz="1400" dirty="0">
                <a:solidFill>
                  <a:schemeClr val="tx1"/>
                </a:solidFill>
              </a:rPr>
              <a:t>/Internet</a:t>
            </a:r>
            <a:endParaRPr lang="en-US" sz="1400" dirty="0">
              <a:solidFill>
                <a:schemeClr val="tx1"/>
              </a:solidFill>
            </a:endParaRPr>
          </a:p>
        </p:txBody>
      </p:sp>
      <p:sp>
        <p:nvSpPr>
          <p:cNvPr id="48" name="TextBox 47">
            <a:extLst>
              <a:ext uri="{FF2B5EF4-FFF2-40B4-BE49-F238E27FC236}">
                <a16:creationId xmlns:a16="http://schemas.microsoft.com/office/drawing/2014/main" id="{4AF47C1A-5CCF-4E64-9FEA-8E874C1679D2}"/>
              </a:ext>
            </a:extLst>
          </p:cNvPr>
          <p:cNvSpPr txBox="1"/>
          <p:nvPr/>
        </p:nvSpPr>
        <p:spPr bwMode="gray">
          <a:xfrm>
            <a:off x="2544441" y="2899450"/>
            <a:ext cx="638316" cy="307777"/>
          </a:xfrm>
          <a:prstGeom prst="rect">
            <a:avLst/>
          </a:prstGeom>
          <a:noFill/>
        </p:spPr>
        <p:txBody>
          <a:bodyPr wrap="none" rtlCol="0">
            <a:spAutoFit/>
          </a:bodyPr>
          <a:lstStyle/>
          <a:p>
            <a:r>
              <a:rPr lang="en-US" altLang="zh-CN" sz="1400" dirty="0"/>
              <a:t>EDGE</a:t>
            </a:r>
            <a:endParaRPr lang="zh-CN" altLang="en-US" sz="1400" dirty="0"/>
          </a:p>
        </p:txBody>
      </p:sp>
      <p:cxnSp>
        <p:nvCxnSpPr>
          <p:cNvPr id="49" name="Straight Connector 48">
            <a:extLst>
              <a:ext uri="{FF2B5EF4-FFF2-40B4-BE49-F238E27FC236}">
                <a16:creationId xmlns:a16="http://schemas.microsoft.com/office/drawing/2014/main" id="{336FBFCD-74D8-41FB-9135-AA3D5741BDC0}"/>
              </a:ext>
            </a:extLst>
          </p:cNvPr>
          <p:cNvCxnSpPr>
            <a:cxnSpLocks/>
            <a:stCxn id="53" idx="3"/>
            <a:endCxn id="45" idx="21"/>
          </p:cNvCxnSpPr>
          <p:nvPr/>
        </p:nvCxnSpPr>
        <p:spPr bwMode="gray">
          <a:xfrm>
            <a:off x="2986972" y="3322642"/>
            <a:ext cx="1422494" cy="1978"/>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50" name="Picture 12" descr="E:\2016.01\1.12 扁平化图标\蓝色\AR-蓝色最新-40.png">
            <a:extLst>
              <a:ext uri="{FF2B5EF4-FFF2-40B4-BE49-F238E27FC236}">
                <a16:creationId xmlns:a16="http://schemas.microsoft.com/office/drawing/2014/main" id="{DF262508-625F-47A0-A4D3-2B036FF98C6A}"/>
              </a:ext>
            </a:extLst>
          </p:cNvPr>
          <p:cNvPicPr>
            <a:picLocks noChangeAspect="1" noChangeArrowheads="1"/>
          </p:cNvPicPr>
          <p:nvPr/>
        </p:nvPicPr>
        <p:blipFill>
          <a:blip r:embed="rId3" cstate="print"/>
          <a:srcRect/>
          <a:stretch>
            <a:fillRect/>
          </a:stretch>
        </p:blipFill>
        <p:spPr bwMode="gray">
          <a:xfrm>
            <a:off x="7071671" y="4192008"/>
            <a:ext cx="402674" cy="329461"/>
          </a:xfrm>
          <a:prstGeom prst="rect">
            <a:avLst/>
          </a:prstGeom>
          <a:noFill/>
        </p:spPr>
      </p:pic>
      <p:pic>
        <p:nvPicPr>
          <p:cNvPr id="51" name="Picture 12" descr="E:\2016.01\1.12 扁平化图标\蓝色\AR-蓝色最新-40.png">
            <a:extLst>
              <a:ext uri="{FF2B5EF4-FFF2-40B4-BE49-F238E27FC236}">
                <a16:creationId xmlns:a16="http://schemas.microsoft.com/office/drawing/2014/main" id="{ECAA84DE-99B2-41C7-B0A9-1E6011883781}"/>
              </a:ext>
            </a:extLst>
          </p:cNvPr>
          <p:cNvPicPr>
            <a:picLocks noChangeAspect="1" noChangeArrowheads="1"/>
          </p:cNvPicPr>
          <p:nvPr/>
        </p:nvPicPr>
        <p:blipFill>
          <a:blip r:embed="rId3" cstate="print"/>
          <a:srcRect/>
          <a:stretch>
            <a:fillRect/>
          </a:stretch>
        </p:blipFill>
        <p:spPr bwMode="gray">
          <a:xfrm>
            <a:off x="7071773" y="2312197"/>
            <a:ext cx="402674" cy="329461"/>
          </a:xfrm>
          <a:prstGeom prst="rect">
            <a:avLst/>
          </a:prstGeom>
          <a:noFill/>
        </p:spPr>
      </p:pic>
      <p:sp>
        <p:nvSpPr>
          <p:cNvPr id="52" name="Freeform 159">
            <a:extLst>
              <a:ext uri="{FF2B5EF4-FFF2-40B4-BE49-F238E27FC236}">
                <a16:creationId xmlns:a16="http://schemas.microsoft.com/office/drawing/2014/main" id="{403CBF44-3AB6-4819-89DE-716F22B272D2}"/>
              </a:ext>
            </a:extLst>
          </p:cNvPr>
          <p:cNvSpPr/>
          <p:nvPr/>
        </p:nvSpPr>
        <p:spPr bwMode="gray">
          <a:xfrm flipH="1">
            <a:off x="1942302" y="3039156"/>
            <a:ext cx="902810" cy="4884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endParaRPr lang="en-US" sz="1400" dirty="0">
              <a:solidFill>
                <a:schemeClr val="tx1"/>
              </a:solidFill>
            </a:endParaRPr>
          </a:p>
        </p:txBody>
      </p:sp>
      <p:pic>
        <p:nvPicPr>
          <p:cNvPr id="53" name="Picture 12" descr="E:\2016.01\1.12 扁平化图标\蓝色\AR-蓝色最新-40.png">
            <a:extLst>
              <a:ext uri="{FF2B5EF4-FFF2-40B4-BE49-F238E27FC236}">
                <a16:creationId xmlns:a16="http://schemas.microsoft.com/office/drawing/2014/main" id="{AE582B7D-8F93-4FC7-BAFA-A5AF30D48481}"/>
              </a:ext>
            </a:extLst>
          </p:cNvPr>
          <p:cNvPicPr>
            <a:picLocks noChangeAspect="1" noChangeArrowheads="1"/>
          </p:cNvPicPr>
          <p:nvPr/>
        </p:nvPicPr>
        <p:blipFill>
          <a:blip r:embed="rId3" cstate="print"/>
          <a:srcRect/>
          <a:stretch>
            <a:fillRect/>
          </a:stretch>
        </p:blipFill>
        <p:spPr bwMode="gray">
          <a:xfrm>
            <a:off x="2584298" y="3157911"/>
            <a:ext cx="402674" cy="329461"/>
          </a:xfrm>
          <a:prstGeom prst="rect">
            <a:avLst/>
          </a:prstGeom>
          <a:noFill/>
        </p:spPr>
      </p:pic>
      <p:sp>
        <p:nvSpPr>
          <p:cNvPr id="56" name="TextBox 55">
            <a:extLst>
              <a:ext uri="{FF2B5EF4-FFF2-40B4-BE49-F238E27FC236}">
                <a16:creationId xmlns:a16="http://schemas.microsoft.com/office/drawing/2014/main" id="{6D98B2C9-AEBB-408F-8687-05AE5986B65F}"/>
              </a:ext>
            </a:extLst>
          </p:cNvPr>
          <p:cNvSpPr txBox="1"/>
          <p:nvPr/>
        </p:nvSpPr>
        <p:spPr bwMode="gray">
          <a:xfrm>
            <a:off x="7022134" y="2063460"/>
            <a:ext cx="638316" cy="307777"/>
          </a:xfrm>
          <a:prstGeom prst="rect">
            <a:avLst/>
          </a:prstGeom>
          <a:noFill/>
        </p:spPr>
        <p:txBody>
          <a:bodyPr wrap="none" rtlCol="0">
            <a:spAutoFit/>
          </a:bodyPr>
          <a:lstStyle/>
          <a:p>
            <a:r>
              <a:rPr lang="en-US" altLang="zh-CN" sz="1400" dirty="0"/>
              <a:t>EDGE</a:t>
            </a:r>
            <a:endParaRPr lang="zh-CN" altLang="en-US" sz="1400" dirty="0"/>
          </a:p>
        </p:txBody>
      </p:sp>
      <p:cxnSp>
        <p:nvCxnSpPr>
          <p:cNvPr id="57" name="Straight Connector 56">
            <a:extLst>
              <a:ext uri="{FF2B5EF4-FFF2-40B4-BE49-F238E27FC236}">
                <a16:creationId xmlns:a16="http://schemas.microsoft.com/office/drawing/2014/main" id="{02B74599-7F43-49E4-A829-58E12BAC201F}"/>
              </a:ext>
            </a:extLst>
          </p:cNvPr>
          <p:cNvCxnSpPr>
            <a:cxnSpLocks/>
            <a:stCxn id="45" idx="5"/>
            <a:endCxn id="65" idx="1"/>
          </p:cNvCxnSpPr>
          <p:nvPr/>
        </p:nvCxnSpPr>
        <p:spPr bwMode="gray">
          <a:xfrm flipV="1">
            <a:off x="5482067" y="2891132"/>
            <a:ext cx="1607890" cy="2117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2D25612-2DC3-4241-B878-6998CC3340AE}"/>
              </a:ext>
            </a:extLst>
          </p:cNvPr>
          <p:cNvCxnSpPr>
            <a:cxnSpLocks/>
            <a:stCxn id="45" idx="9"/>
            <a:endCxn id="69" idx="1"/>
          </p:cNvCxnSpPr>
          <p:nvPr/>
        </p:nvCxnSpPr>
        <p:spPr bwMode="gray">
          <a:xfrm>
            <a:off x="5447424" y="3520455"/>
            <a:ext cx="1638580" cy="40740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EAD3358-819E-4321-985A-45A3ACBAF508}"/>
              </a:ext>
            </a:extLst>
          </p:cNvPr>
          <p:cNvCxnSpPr>
            <a:cxnSpLocks/>
            <a:stCxn id="51" idx="2"/>
            <a:endCxn id="65" idx="0"/>
          </p:cNvCxnSpPr>
          <p:nvPr/>
        </p:nvCxnSpPr>
        <p:spPr bwMode="gray">
          <a:xfrm>
            <a:off x="7273110" y="2641658"/>
            <a:ext cx="0" cy="996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E9DBA7D-41D5-4E40-B85F-C9E0D366F7B6}"/>
              </a:ext>
            </a:extLst>
          </p:cNvPr>
          <p:cNvCxnSpPr>
            <a:cxnSpLocks/>
            <a:stCxn id="50" idx="0"/>
            <a:endCxn id="69" idx="2"/>
          </p:cNvCxnSpPr>
          <p:nvPr/>
        </p:nvCxnSpPr>
        <p:spPr bwMode="gray">
          <a:xfrm flipH="1" flipV="1">
            <a:off x="7269157" y="4077708"/>
            <a:ext cx="3851" cy="1143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2" name="Freeform 159">
            <a:extLst>
              <a:ext uri="{FF2B5EF4-FFF2-40B4-BE49-F238E27FC236}">
                <a16:creationId xmlns:a16="http://schemas.microsoft.com/office/drawing/2014/main" id="{6256B9A6-1ABF-4505-BF76-574ABB18FFCE}"/>
              </a:ext>
            </a:extLst>
          </p:cNvPr>
          <p:cNvSpPr/>
          <p:nvPr/>
        </p:nvSpPr>
        <p:spPr bwMode="gray">
          <a:xfrm flipH="1">
            <a:off x="7351913" y="2540588"/>
            <a:ext cx="1009792" cy="5463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主</a:t>
            </a:r>
            <a:endParaRPr lang="en-US" altLang="zh-CN" sz="1400" dirty="0">
              <a:solidFill>
                <a:schemeClr val="tx1"/>
              </a:solidFill>
            </a:endParaRPr>
          </a:p>
          <a:p>
            <a:pPr algn="ctr"/>
            <a:r>
              <a:rPr lang="zh-CN" altLang="en-US" sz="1400" dirty="0">
                <a:solidFill>
                  <a:schemeClr val="tx1"/>
                </a:solidFill>
              </a:rPr>
              <a:t>数据中心</a:t>
            </a:r>
            <a:endParaRPr lang="en-US" sz="1400" dirty="0">
              <a:solidFill>
                <a:schemeClr val="tx1"/>
              </a:solidFill>
            </a:endParaRPr>
          </a:p>
        </p:txBody>
      </p:sp>
      <p:sp>
        <p:nvSpPr>
          <p:cNvPr id="63" name="圆角矩形 44">
            <a:extLst>
              <a:ext uri="{FF2B5EF4-FFF2-40B4-BE49-F238E27FC236}">
                <a16:creationId xmlns:a16="http://schemas.microsoft.com/office/drawing/2014/main" id="{7D79D95E-FA4F-43D7-92C9-4A465ACF8C7A}"/>
              </a:ext>
            </a:extLst>
          </p:cNvPr>
          <p:cNvSpPr/>
          <p:nvPr/>
        </p:nvSpPr>
        <p:spPr bwMode="gray">
          <a:xfrm>
            <a:off x="8050181" y="2423640"/>
            <a:ext cx="1468312" cy="323210"/>
          </a:xfrm>
          <a:prstGeom prst="roundRect">
            <a:avLst>
              <a:gd name="adj" fmla="val 6377"/>
            </a:avLst>
          </a:prstGeom>
          <a:solidFill>
            <a:schemeClr val="bg1"/>
          </a:solid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4" name="图片 81">
            <a:extLst>
              <a:ext uri="{FF2B5EF4-FFF2-40B4-BE49-F238E27FC236}">
                <a16:creationId xmlns:a16="http://schemas.microsoft.com/office/drawing/2014/main" id="{F7DE31DC-72DF-4171-8E4E-79956B52F9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059909" y="2446380"/>
            <a:ext cx="1439128" cy="265413"/>
          </a:xfrm>
          <a:prstGeom prst="rect">
            <a:avLst/>
          </a:prstGeom>
        </p:spPr>
      </p:pic>
      <p:pic>
        <p:nvPicPr>
          <p:cNvPr id="65" name="Picture 12" descr="E:\2016.01\1.12 扁平化图标\蓝色\AR-蓝色最新-40.png">
            <a:extLst>
              <a:ext uri="{FF2B5EF4-FFF2-40B4-BE49-F238E27FC236}">
                <a16:creationId xmlns:a16="http://schemas.microsoft.com/office/drawing/2014/main" id="{FE542D41-367C-4097-B2F4-F3C79CD6F479}"/>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7089957" y="2741279"/>
            <a:ext cx="366306" cy="299705"/>
          </a:xfrm>
          <a:prstGeom prst="rect">
            <a:avLst/>
          </a:prstGeom>
          <a:noFill/>
        </p:spPr>
      </p:pic>
      <p:sp>
        <p:nvSpPr>
          <p:cNvPr id="66" name="Freeform 159">
            <a:extLst>
              <a:ext uri="{FF2B5EF4-FFF2-40B4-BE49-F238E27FC236}">
                <a16:creationId xmlns:a16="http://schemas.microsoft.com/office/drawing/2014/main" id="{27E6BEF5-C002-41B4-BC85-28DABBD0DAF4}"/>
              </a:ext>
            </a:extLst>
          </p:cNvPr>
          <p:cNvSpPr/>
          <p:nvPr/>
        </p:nvSpPr>
        <p:spPr bwMode="gray">
          <a:xfrm flipH="1">
            <a:off x="7381044" y="3558591"/>
            <a:ext cx="1009792" cy="5463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备</a:t>
            </a:r>
            <a:endParaRPr lang="en-US" altLang="zh-CN" sz="1400" dirty="0">
              <a:solidFill>
                <a:schemeClr val="tx1"/>
              </a:solidFill>
            </a:endParaRPr>
          </a:p>
          <a:p>
            <a:pPr algn="ctr"/>
            <a:r>
              <a:rPr lang="zh-CN" altLang="en-US" sz="1400" dirty="0">
                <a:solidFill>
                  <a:schemeClr val="tx1"/>
                </a:solidFill>
              </a:rPr>
              <a:t>数据中心</a:t>
            </a:r>
            <a:endParaRPr lang="en-US" sz="1400" dirty="0">
              <a:solidFill>
                <a:schemeClr val="tx1"/>
              </a:solidFill>
            </a:endParaRPr>
          </a:p>
        </p:txBody>
      </p:sp>
      <p:sp>
        <p:nvSpPr>
          <p:cNvPr id="67" name="圆角矩形 44">
            <a:extLst>
              <a:ext uri="{FF2B5EF4-FFF2-40B4-BE49-F238E27FC236}">
                <a16:creationId xmlns:a16="http://schemas.microsoft.com/office/drawing/2014/main" id="{AF560A1C-A554-41E6-9A10-F7A2E1C6CB2E}"/>
              </a:ext>
            </a:extLst>
          </p:cNvPr>
          <p:cNvSpPr/>
          <p:nvPr/>
        </p:nvSpPr>
        <p:spPr bwMode="gray">
          <a:xfrm>
            <a:off x="8079312" y="3517843"/>
            <a:ext cx="1468312" cy="323210"/>
          </a:xfrm>
          <a:prstGeom prst="roundRect">
            <a:avLst>
              <a:gd name="adj" fmla="val 6377"/>
            </a:avLst>
          </a:prstGeom>
          <a:solidFill>
            <a:srgbClr val="FDE397"/>
          </a:solid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8" name="图片 81">
            <a:extLst>
              <a:ext uri="{FF2B5EF4-FFF2-40B4-BE49-F238E27FC236}">
                <a16:creationId xmlns:a16="http://schemas.microsoft.com/office/drawing/2014/main" id="{015D3E94-F3FE-46B7-8412-03DCE8996C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089040" y="3540583"/>
            <a:ext cx="1439128" cy="265413"/>
          </a:xfrm>
          <a:prstGeom prst="rect">
            <a:avLst/>
          </a:prstGeom>
        </p:spPr>
      </p:pic>
      <p:pic>
        <p:nvPicPr>
          <p:cNvPr id="69" name="Picture 12" descr="E:\2016.01\1.12 扁平化图标\蓝色\AR-蓝色最新-40.png">
            <a:extLst>
              <a:ext uri="{FF2B5EF4-FFF2-40B4-BE49-F238E27FC236}">
                <a16:creationId xmlns:a16="http://schemas.microsoft.com/office/drawing/2014/main" id="{100E353B-7A93-4A1B-994A-AF89E43D0C67}"/>
              </a:ext>
            </a:extLst>
          </p:cNvPr>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gray">
          <a:xfrm>
            <a:off x="7086004" y="3778003"/>
            <a:ext cx="366306" cy="299705"/>
          </a:xfrm>
          <a:prstGeom prst="rect">
            <a:avLst/>
          </a:prstGeom>
          <a:noFill/>
        </p:spPr>
      </p:pic>
      <p:sp>
        <p:nvSpPr>
          <p:cNvPr id="70" name="TextBox 69">
            <a:extLst>
              <a:ext uri="{FF2B5EF4-FFF2-40B4-BE49-F238E27FC236}">
                <a16:creationId xmlns:a16="http://schemas.microsoft.com/office/drawing/2014/main" id="{275A6E44-B8EC-46C5-A8D0-4188D5BB41D9}"/>
              </a:ext>
            </a:extLst>
          </p:cNvPr>
          <p:cNvSpPr txBox="1"/>
          <p:nvPr/>
        </p:nvSpPr>
        <p:spPr bwMode="gray">
          <a:xfrm>
            <a:off x="7029554" y="4510986"/>
            <a:ext cx="638316" cy="307777"/>
          </a:xfrm>
          <a:prstGeom prst="rect">
            <a:avLst/>
          </a:prstGeom>
          <a:noFill/>
        </p:spPr>
        <p:txBody>
          <a:bodyPr wrap="none" rtlCol="0">
            <a:spAutoFit/>
          </a:bodyPr>
          <a:lstStyle/>
          <a:p>
            <a:r>
              <a:rPr lang="en-US" altLang="zh-CN" sz="1400" dirty="0"/>
              <a:t>EDGE</a:t>
            </a:r>
            <a:endParaRPr lang="zh-CN" altLang="en-US" sz="1400" dirty="0"/>
          </a:p>
        </p:txBody>
      </p:sp>
      <p:sp>
        <p:nvSpPr>
          <p:cNvPr id="71" name="TextBox 70">
            <a:extLst>
              <a:ext uri="{FF2B5EF4-FFF2-40B4-BE49-F238E27FC236}">
                <a16:creationId xmlns:a16="http://schemas.microsoft.com/office/drawing/2014/main" id="{FDFB5729-3C98-4815-A648-49F4C8CEBBAB}"/>
              </a:ext>
            </a:extLst>
          </p:cNvPr>
          <p:cNvSpPr txBox="1"/>
          <p:nvPr/>
        </p:nvSpPr>
        <p:spPr bwMode="gray">
          <a:xfrm rot="21118213">
            <a:off x="5861179" y="2680094"/>
            <a:ext cx="620683" cy="307777"/>
          </a:xfrm>
          <a:prstGeom prst="rect">
            <a:avLst/>
          </a:prstGeom>
          <a:noFill/>
        </p:spPr>
        <p:txBody>
          <a:bodyPr wrap="none" rtlCol="0">
            <a:spAutoFit/>
          </a:bodyPr>
          <a:lstStyle/>
          <a:p>
            <a:r>
              <a:rPr lang="en-US" altLang="zh-CN" sz="1400"/>
              <a:t>EBGP</a:t>
            </a:r>
            <a:endParaRPr lang="zh-CN" altLang="en-US" sz="1400" dirty="0"/>
          </a:p>
        </p:txBody>
      </p:sp>
      <p:sp>
        <p:nvSpPr>
          <p:cNvPr id="72" name="TextBox 71">
            <a:extLst>
              <a:ext uri="{FF2B5EF4-FFF2-40B4-BE49-F238E27FC236}">
                <a16:creationId xmlns:a16="http://schemas.microsoft.com/office/drawing/2014/main" id="{06AB8D71-ADEC-4E21-B640-E5B8626F5230}"/>
              </a:ext>
            </a:extLst>
          </p:cNvPr>
          <p:cNvSpPr txBox="1"/>
          <p:nvPr/>
        </p:nvSpPr>
        <p:spPr bwMode="gray">
          <a:xfrm rot="834829">
            <a:off x="5838741" y="3727073"/>
            <a:ext cx="620683" cy="307777"/>
          </a:xfrm>
          <a:prstGeom prst="rect">
            <a:avLst/>
          </a:prstGeom>
          <a:noFill/>
        </p:spPr>
        <p:txBody>
          <a:bodyPr wrap="none" rtlCol="0">
            <a:spAutoFit/>
          </a:bodyPr>
          <a:lstStyle/>
          <a:p>
            <a:r>
              <a:rPr lang="en-US" altLang="zh-CN" sz="1400"/>
              <a:t>EBGP</a:t>
            </a:r>
            <a:endParaRPr lang="zh-CN" altLang="en-US" sz="1400" dirty="0"/>
          </a:p>
        </p:txBody>
      </p:sp>
      <p:sp>
        <p:nvSpPr>
          <p:cNvPr id="73" name="TextBox 72">
            <a:extLst>
              <a:ext uri="{FF2B5EF4-FFF2-40B4-BE49-F238E27FC236}">
                <a16:creationId xmlns:a16="http://schemas.microsoft.com/office/drawing/2014/main" id="{CC5E09A7-31AA-4ACC-83B1-C61666FFF623}"/>
              </a:ext>
            </a:extLst>
          </p:cNvPr>
          <p:cNvSpPr txBox="1"/>
          <p:nvPr/>
        </p:nvSpPr>
        <p:spPr bwMode="gray">
          <a:xfrm>
            <a:off x="6821704" y="3016843"/>
            <a:ext cx="902811" cy="307777"/>
          </a:xfrm>
          <a:prstGeom prst="rect">
            <a:avLst/>
          </a:prstGeom>
          <a:noFill/>
        </p:spPr>
        <p:txBody>
          <a:bodyPr wrap="none" rtlCol="0">
            <a:spAutoFit/>
          </a:bodyPr>
          <a:lstStyle/>
          <a:p>
            <a:r>
              <a:rPr lang="zh-CN" altLang="en-US" sz="1400" dirty="0"/>
              <a:t>高优先级</a:t>
            </a:r>
          </a:p>
        </p:txBody>
      </p:sp>
      <p:sp>
        <p:nvSpPr>
          <p:cNvPr id="74" name="TextBox 73">
            <a:extLst>
              <a:ext uri="{FF2B5EF4-FFF2-40B4-BE49-F238E27FC236}">
                <a16:creationId xmlns:a16="http://schemas.microsoft.com/office/drawing/2014/main" id="{0CF2E4E2-F2DE-4925-A68A-3A1FE0FC0031}"/>
              </a:ext>
            </a:extLst>
          </p:cNvPr>
          <p:cNvSpPr txBox="1"/>
          <p:nvPr/>
        </p:nvSpPr>
        <p:spPr bwMode="gray">
          <a:xfrm>
            <a:off x="6817751" y="3509814"/>
            <a:ext cx="902811" cy="307777"/>
          </a:xfrm>
          <a:prstGeom prst="rect">
            <a:avLst/>
          </a:prstGeom>
          <a:noFill/>
        </p:spPr>
        <p:txBody>
          <a:bodyPr wrap="none" rtlCol="0">
            <a:spAutoFit/>
          </a:bodyPr>
          <a:lstStyle/>
          <a:p>
            <a:r>
              <a:rPr lang="zh-CN" altLang="en-US" sz="1400" dirty="0"/>
              <a:t>低优先级</a:t>
            </a:r>
          </a:p>
        </p:txBody>
      </p:sp>
      <p:cxnSp>
        <p:nvCxnSpPr>
          <p:cNvPr id="75" name="Straight Arrow Connector 74">
            <a:extLst>
              <a:ext uri="{FF2B5EF4-FFF2-40B4-BE49-F238E27FC236}">
                <a16:creationId xmlns:a16="http://schemas.microsoft.com/office/drawing/2014/main" id="{ED01273A-77C7-42F3-B8DE-68292F5B199A}"/>
              </a:ext>
            </a:extLst>
          </p:cNvPr>
          <p:cNvCxnSpPr/>
          <p:nvPr/>
        </p:nvCxnSpPr>
        <p:spPr bwMode="gray">
          <a:xfrm>
            <a:off x="9029700" y="2730843"/>
            <a:ext cx="0" cy="790690"/>
          </a:xfrm>
          <a:prstGeom prst="straightConnector1">
            <a:avLst/>
          </a:prstGeom>
          <a:ln w="38100">
            <a:solidFill>
              <a:srgbClr val="56C4D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A8CD093F-10E4-4A10-9118-E53757D18F86}"/>
              </a:ext>
            </a:extLst>
          </p:cNvPr>
          <p:cNvSpPr txBox="1"/>
          <p:nvPr/>
        </p:nvSpPr>
        <p:spPr bwMode="gray">
          <a:xfrm>
            <a:off x="8412499" y="2868263"/>
            <a:ext cx="1510460" cy="523220"/>
          </a:xfrm>
          <a:prstGeom prst="rect">
            <a:avLst/>
          </a:prstGeom>
          <a:solidFill>
            <a:schemeClr val="bg1"/>
          </a:solidFill>
          <a:ln w="19050">
            <a:solidFill>
              <a:srgbClr val="56C4D2"/>
            </a:solidFill>
          </a:ln>
          <a:effectLst/>
        </p:spPr>
        <p:txBody>
          <a:bodyPr wrap="square" rtlCol="0">
            <a:spAutoFit/>
          </a:bodyPr>
          <a:lstStyle/>
          <a:p>
            <a:r>
              <a:rPr lang="zh-CN" altLang="en-US" sz="1400" dirty="0"/>
              <a:t>使用相同北向</a:t>
            </a:r>
            <a:r>
              <a:rPr lang="en-US" altLang="zh-CN" sz="1400" dirty="0"/>
              <a:t>IP</a:t>
            </a:r>
            <a:r>
              <a:rPr lang="zh-CN" altLang="en-US" sz="1400" dirty="0"/>
              <a:t>，南向</a:t>
            </a:r>
            <a:r>
              <a:rPr lang="en-US" altLang="zh-CN" sz="1400" dirty="0"/>
              <a:t>IP</a:t>
            </a:r>
            <a:r>
              <a:rPr lang="zh-CN" altLang="en-US" sz="1400" dirty="0"/>
              <a:t>可不同</a:t>
            </a:r>
          </a:p>
        </p:txBody>
      </p:sp>
      <p:sp>
        <p:nvSpPr>
          <p:cNvPr id="77" name="Freeform: Shape 32">
            <a:extLst>
              <a:ext uri="{FF2B5EF4-FFF2-40B4-BE49-F238E27FC236}">
                <a16:creationId xmlns:a16="http://schemas.microsoft.com/office/drawing/2014/main" id="{B930A6FF-C40F-49C2-9313-45F03BEDA07E}"/>
              </a:ext>
            </a:extLst>
          </p:cNvPr>
          <p:cNvSpPr/>
          <p:nvPr/>
        </p:nvSpPr>
        <p:spPr bwMode="gray">
          <a:xfrm>
            <a:off x="9632961" y="2651618"/>
            <a:ext cx="952500" cy="1038225"/>
          </a:xfrm>
          <a:custGeom>
            <a:avLst/>
            <a:gdLst>
              <a:gd name="connsiteX0" fmla="*/ 0 w 952500"/>
              <a:gd name="connsiteY0" fmla="*/ 0 h 1038225"/>
              <a:gd name="connsiteX1" fmla="*/ 952500 w 952500"/>
              <a:gd name="connsiteY1" fmla="*/ 514350 h 1038225"/>
              <a:gd name="connsiteX2" fmla="*/ 0 w 952500"/>
              <a:gd name="connsiteY2" fmla="*/ 1038225 h 1038225"/>
            </a:gdLst>
            <a:ahLst/>
            <a:cxnLst>
              <a:cxn ang="0">
                <a:pos x="connsiteX0" y="connsiteY0"/>
              </a:cxn>
              <a:cxn ang="0">
                <a:pos x="connsiteX1" y="connsiteY1"/>
              </a:cxn>
              <a:cxn ang="0">
                <a:pos x="connsiteX2" y="connsiteY2"/>
              </a:cxn>
            </a:cxnLst>
            <a:rect l="l" t="t" r="r" b="b"/>
            <a:pathLst>
              <a:path w="952500" h="1038225">
                <a:moveTo>
                  <a:pt x="0" y="0"/>
                </a:moveTo>
                <a:cubicBezTo>
                  <a:pt x="476250" y="170656"/>
                  <a:pt x="952500" y="341313"/>
                  <a:pt x="952500" y="514350"/>
                </a:cubicBezTo>
                <a:cubicBezTo>
                  <a:pt x="952500" y="687387"/>
                  <a:pt x="476250" y="862806"/>
                  <a:pt x="0" y="1038225"/>
                </a:cubicBezTo>
              </a:path>
            </a:pathLst>
          </a:custGeom>
          <a:noFill/>
          <a:ln w="57150" cap="flat" cmpd="sng">
            <a:solidFill>
              <a:srgbClr val="FDE397"/>
            </a:solidFill>
            <a:headEnd type="triangle" w="med" len="med"/>
            <a:tailEnd type="triangle" w="med" len="med"/>
          </a:ln>
        </p:spPr>
        <p:txBody>
          <a:bodyPr rtlCol="0" anchor="ctr"/>
          <a:lstStyle/>
          <a:p>
            <a:pPr algn="ctr"/>
            <a:endParaRPr lang="en-US"/>
          </a:p>
        </p:txBody>
      </p:sp>
      <p:sp>
        <p:nvSpPr>
          <p:cNvPr id="78" name="TextBox 77">
            <a:extLst>
              <a:ext uri="{FF2B5EF4-FFF2-40B4-BE49-F238E27FC236}">
                <a16:creationId xmlns:a16="http://schemas.microsoft.com/office/drawing/2014/main" id="{9DC4B8C3-0887-4562-80FE-41A3DE74A5F2}"/>
              </a:ext>
            </a:extLst>
          </p:cNvPr>
          <p:cNvSpPr txBox="1"/>
          <p:nvPr/>
        </p:nvSpPr>
        <p:spPr bwMode="gray">
          <a:xfrm rot="1481269">
            <a:off x="9936299" y="2587390"/>
            <a:ext cx="902811" cy="307777"/>
          </a:xfrm>
          <a:prstGeom prst="rect">
            <a:avLst/>
          </a:prstGeom>
          <a:solidFill>
            <a:schemeClr val="bg1"/>
          </a:solidFill>
          <a:ln w="19050">
            <a:noFill/>
          </a:ln>
          <a:effectLst/>
        </p:spPr>
        <p:txBody>
          <a:bodyPr wrap="none" rtlCol="0">
            <a:spAutoFit/>
          </a:bodyPr>
          <a:lstStyle/>
          <a:p>
            <a:r>
              <a:rPr lang="zh-CN" altLang="en-US" sz="1400" dirty="0"/>
              <a:t>心跳隧道</a:t>
            </a:r>
          </a:p>
        </p:txBody>
      </p:sp>
      <p:sp>
        <p:nvSpPr>
          <p:cNvPr id="79" name="Freeform: Shape 34">
            <a:extLst>
              <a:ext uri="{FF2B5EF4-FFF2-40B4-BE49-F238E27FC236}">
                <a16:creationId xmlns:a16="http://schemas.microsoft.com/office/drawing/2014/main" id="{9C587B85-7B46-41D6-A2DA-5AB36FAB490A}"/>
              </a:ext>
            </a:extLst>
          </p:cNvPr>
          <p:cNvSpPr/>
          <p:nvPr/>
        </p:nvSpPr>
        <p:spPr bwMode="blackGray">
          <a:xfrm>
            <a:off x="3087401" y="2673684"/>
            <a:ext cx="4991100" cy="526504"/>
          </a:xfrm>
          <a:custGeom>
            <a:avLst/>
            <a:gdLst>
              <a:gd name="connsiteX0" fmla="*/ 0 w 4991100"/>
              <a:gd name="connsiteY0" fmla="*/ 526504 h 526504"/>
              <a:gd name="connsiteX1" fmla="*/ 1638300 w 4991100"/>
              <a:gd name="connsiteY1" fmla="*/ 478879 h 526504"/>
              <a:gd name="connsiteX2" fmla="*/ 4105275 w 4991100"/>
              <a:gd name="connsiteY2" fmla="*/ 59779 h 526504"/>
              <a:gd name="connsiteX3" fmla="*/ 4991100 w 4991100"/>
              <a:gd name="connsiteY3" fmla="*/ 12154 h 526504"/>
            </a:gdLst>
            <a:ahLst/>
            <a:cxnLst>
              <a:cxn ang="0">
                <a:pos x="connsiteX0" y="connsiteY0"/>
              </a:cxn>
              <a:cxn ang="0">
                <a:pos x="connsiteX1" y="connsiteY1"/>
              </a:cxn>
              <a:cxn ang="0">
                <a:pos x="connsiteX2" y="connsiteY2"/>
              </a:cxn>
              <a:cxn ang="0">
                <a:pos x="connsiteX3" y="connsiteY3"/>
              </a:cxn>
            </a:cxnLst>
            <a:rect l="l" t="t" r="r" b="b"/>
            <a:pathLst>
              <a:path w="4991100" h="526504">
                <a:moveTo>
                  <a:pt x="0" y="526504"/>
                </a:moveTo>
                <a:lnTo>
                  <a:pt x="1638300" y="478879"/>
                </a:lnTo>
                <a:cubicBezTo>
                  <a:pt x="2322512" y="401092"/>
                  <a:pt x="3546475" y="137566"/>
                  <a:pt x="4105275" y="59779"/>
                </a:cubicBezTo>
                <a:cubicBezTo>
                  <a:pt x="4664075" y="-18008"/>
                  <a:pt x="4827587" y="-2927"/>
                  <a:pt x="4991100" y="12154"/>
                </a:cubicBezTo>
              </a:path>
            </a:pathLst>
          </a:custGeom>
          <a:noFill/>
          <a:ln w="38100" cap="flat" cmpd="sng">
            <a:solidFill>
              <a:srgbClr val="E28189"/>
            </a:solidFill>
            <a:headEnd type="triangle" w="med" len="med"/>
            <a:tailEnd type="triangle" w="med" len="med"/>
          </a:ln>
        </p:spPr>
        <p:txBody>
          <a:bodyPr rtlCol="0" anchor="ctr"/>
          <a:lstStyle/>
          <a:p>
            <a:pPr algn="ctr"/>
            <a:endParaRPr lang="en-US"/>
          </a:p>
        </p:txBody>
      </p:sp>
      <p:sp>
        <p:nvSpPr>
          <p:cNvPr id="80" name="Freeform: Shape 95">
            <a:extLst>
              <a:ext uri="{FF2B5EF4-FFF2-40B4-BE49-F238E27FC236}">
                <a16:creationId xmlns:a16="http://schemas.microsoft.com/office/drawing/2014/main" id="{8972D770-0B74-4C88-851C-05D302DBB3D3}"/>
              </a:ext>
            </a:extLst>
          </p:cNvPr>
          <p:cNvSpPr/>
          <p:nvPr/>
        </p:nvSpPr>
        <p:spPr bwMode="gray">
          <a:xfrm flipH="1">
            <a:off x="3078484" y="3396022"/>
            <a:ext cx="4991100" cy="498691"/>
          </a:xfrm>
          <a:custGeom>
            <a:avLst/>
            <a:gdLst>
              <a:gd name="connsiteX0" fmla="*/ 0 w 4991100"/>
              <a:gd name="connsiteY0" fmla="*/ 526504 h 526504"/>
              <a:gd name="connsiteX1" fmla="*/ 1638300 w 4991100"/>
              <a:gd name="connsiteY1" fmla="*/ 478879 h 526504"/>
              <a:gd name="connsiteX2" fmla="*/ 4105275 w 4991100"/>
              <a:gd name="connsiteY2" fmla="*/ 59779 h 526504"/>
              <a:gd name="connsiteX3" fmla="*/ 4991100 w 4991100"/>
              <a:gd name="connsiteY3" fmla="*/ 12154 h 526504"/>
            </a:gdLst>
            <a:ahLst/>
            <a:cxnLst>
              <a:cxn ang="0">
                <a:pos x="connsiteX0" y="connsiteY0"/>
              </a:cxn>
              <a:cxn ang="0">
                <a:pos x="connsiteX1" y="connsiteY1"/>
              </a:cxn>
              <a:cxn ang="0">
                <a:pos x="connsiteX2" y="connsiteY2"/>
              </a:cxn>
              <a:cxn ang="0">
                <a:pos x="connsiteX3" y="connsiteY3"/>
              </a:cxn>
            </a:cxnLst>
            <a:rect l="l" t="t" r="r" b="b"/>
            <a:pathLst>
              <a:path w="4991100" h="526504">
                <a:moveTo>
                  <a:pt x="0" y="526504"/>
                </a:moveTo>
                <a:lnTo>
                  <a:pt x="1638300" y="478879"/>
                </a:lnTo>
                <a:cubicBezTo>
                  <a:pt x="2322512" y="401092"/>
                  <a:pt x="3546475" y="137566"/>
                  <a:pt x="4105275" y="59779"/>
                </a:cubicBezTo>
                <a:cubicBezTo>
                  <a:pt x="4664075" y="-18008"/>
                  <a:pt x="4827587" y="-2927"/>
                  <a:pt x="4991100" y="12154"/>
                </a:cubicBezTo>
              </a:path>
            </a:pathLst>
          </a:custGeom>
          <a:noFill/>
          <a:ln w="38100" cap="flat" cmpd="sng">
            <a:solidFill>
              <a:srgbClr val="AFD89C"/>
            </a:solidFill>
            <a:headEnd type="triangle" w="med" len="med"/>
            <a:tailEnd type="triangle" w="med" len="med"/>
          </a:ln>
        </p:spPr>
        <p:txBody>
          <a:bodyPr rtlCol="0" anchor="ctr"/>
          <a:lstStyle/>
          <a:p>
            <a:pPr algn="ctr"/>
            <a:endParaRPr lang="en-US"/>
          </a:p>
        </p:txBody>
      </p:sp>
      <p:sp>
        <p:nvSpPr>
          <p:cNvPr id="81" name="TextBox 80">
            <a:extLst>
              <a:ext uri="{FF2B5EF4-FFF2-40B4-BE49-F238E27FC236}">
                <a16:creationId xmlns:a16="http://schemas.microsoft.com/office/drawing/2014/main" id="{29D67055-C368-4EAE-B31D-CF2CA34EF891}"/>
              </a:ext>
            </a:extLst>
          </p:cNvPr>
          <p:cNvSpPr txBox="1"/>
          <p:nvPr/>
        </p:nvSpPr>
        <p:spPr bwMode="gray">
          <a:xfrm>
            <a:off x="8380316" y="2177224"/>
            <a:ext cx="902811" cy="307777"/>
          </a:xfrm>
          <a:prstGeom prst="rect">
            <a:avLst/>
          </a:prstGeom>
          <a:noFill/>
        </p:spPr>
        <p:txBody>
          <a:bodyPr wrap="none" rtlCol="0">
            <a:spAutoFit/>
          </a:bodyPr>
          <a:lstStyle/>
          <a:p>
            <a:r>
              <a:rPr lang="zh-CN" altLang="en-US" sz="1400" dirty="0"/>
              <a:t>主控制器</a:t>
            </a:r>
          </a:p>
        </p:txBody>
      </p:sp>
      <p:sp>
        <p:nvSpPr>
          <p:cNvPr id="82" name="TextBox 81">
            <a:extLst>
              <a:ext uri="{FF2B5EF4-FFF2-40B4-BE49-F238E27FC236}">
                <a16:creationId xmlns:a16="http://schemas.microsoft.com/office/drawing/2014/main" id="{503A42BF-FA21-4772-8960-8CB4FD6F8076}"/>
              </a:ext>
            </a:extLst>
          </p:cNvPr>
          <p:cNvSpPr txBox="1"/>
          <p:nvPr/>
        </p:nvSpPr>
        <p:spPr bwMode="gray">
          <a:xfrm>
            <a:off x="8377766" y="3835298"/>
            <a:ext cx="902811" cy="307777"/>
          </a:xfrm>
          <a:prstGeom prst="rect">
            <a:avLst/>
          </a:prstGeom>
          <a:noFill/>
        </p:spPr>
        <p:txBody>
          <a:bodyPr wrap="none" rtlCol="0">
            <a:spAutoFit/>
          </a:bodyPr>
          <a:lstStyle/>
          <a:p>
            <a:r>
              <a:rPr lang="zh-CN" altLang="en-US" sz="1400" dirty="0"/>
              <a:t>备控制器</a:t>
            </a:r>
          </a:p>
        </p:txBody>
      </p:sp>
    </p:spTree>
    <p:extLst>
      <p:ext uri="{BB962C8B-B14F-4D97-AF65-F5344CB8AC3E}">
        <p14:creationId xmlns:p14="http://schemas.microsoft.com/office/powerpoint/2010/main" val="82899835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a:solidFill>
                  <a:schemeClr val="bg1">
                    <a:lumMod val="50000"/>
                  </a:schemeClr>
                </a:solidFill>
              </a:rPr>
              <a:t>企业广域互联网络趋势与挑战</a:t>
            </a:r>
          </a:p>
          <a:p>
            <a:pPr>
              <a:buFont typeface="+mj-lt"/>
              <a:buAutoNum type="arabicPeriod"/>
            </a:pPr>
            <a:r>
              <a:rPr lang="zh-CN" altLang="en-US" sz="1800">
                <a:solidFill>
                  <a:schemeClr val="bg1">
                    <a:lumMod val="50000"/>
                  </a:schemeClr>
                </a:solidFill>
              </a:rPr>
              <a:t>华为</a:t>
            </a:r>
            <a:r>
              <a:rPr lang="en-US" altLang="zh-CN" sz="1800">
                <a:solidFill>
                  <a:schemeClr val="bg1">
                    <a:lumMod val="50000"/>
                  </a:schemeClr>
                </a:solidFill>
              </a:rPr>
              <a:t>SD-WAN</a:t>
            </a:r>
            <a:r>
              <a:rPr lang="zh-CN" altLang="en-US" sz="1800">
                <a:solidFill>
                  <a:schemeClr val="bg1">
                    <a:lumMod val="50000"/>
                  </a:schemeClr>
                </a:solidFill>
              </a:rPr>
              <a:t>解决方案概述</a:t>
            </a:r>
            <a:endParaRPr lang="en-US" altLang="zh-CN" sz="1800">
              <a:solidFill>
                <a:schemeClr val="bg1">
                  <a:lumMod val="50000"/>
                </a:schemeClr>
              </a:solidFill>
            </a:endParaRPr>
          </a:p>
          <a:p>
            <a:pPr>
              <a:buFont typeface="+mj-lt"/>
              <a:buAutoNum type="arabicPeriod"/>
            </a:pPr>
            <a:r>
              <a:rPr lang="zh-CN" altLang="en-US" sz="1800">
                <a:solidFill>
                  <a:schemeClr val="bg1">
                    <a:lumMod val="50000"/>
                  </a:schemeClr>
                </a:solidFill>
              </a:rPr>
              <a:t>华为</a:t>
            </a:r>
            <a:r>
              <a:rPr lang="en-US" altLang="zh-CN" sz="1800">
                <a:solidFill>
                  <a:schemeClr val="bg1">
                    <a:lumMod val="50000"/>
                  </a:schemeClr>
                </a:solidFill>
              </a:rPr>
              <a:t>SD-WAN</a:t>
            </a:r>
            <a:r>
              <a:rPr lang="zh-CN" altLang="en-US" sz="1800">
                <a:solidFill>
                  <a:schemeClr val="bg1">
                    <a:lumMod val="50000"/>
                  </a:schemeClr>
                </a:solidFill>
              </a:rPr>
              <a:t>组网设计</a:t>
            </a:r>
            <a:endParaRPr lang="en-US" altLang="zh-CN" sz="1800">
              <a:solidFill>
                <a:schemeClr val="bg1">
                  <a:lumMod val="50000"/>
                </a:schemeClr>
              </a:solidFill>
            </a:endParaRPr>
          </a:p>
          <a:p>
            <a:pPr>
              <a:buFont typeface="+mj-lt"/>
              <a:buAutoNum type="arabicPeriod"/>
            </a:pPr>
            <a:r>
              <a:rPr lang="zh-CN" altLang="en-US" sz="1800">
                <a:solidFill>
                  <a:schemeClr val="bg1">
                    <a:lumMod val="50000"/>
                  </a:schemeClr>
                </a:solidFill>
              </a:rPr>
              <a:t>华为</a:t>
            </a:r>
            <a:r>
              <a:rPr lang="en-US" altLang="zh-CN" sz="1800">
                <a:solidFill>
                  <a:schemeClr val="bg1">
                    <a:lumMod val="50000"/>
                  </a:schemeClr>
                </a:solidFill>
              </a:rPr>
              <a:t>SD-WAN</a:t>
            </a:r>
            <a:r>
              <a:rPr lang="zh-CN" altLang="en-US" sz="1800">
                <a:solidFill>
                  <a:schemeClr val="bg1">
                    <a:lumMod val="50000"/>
                  </a:schemeClr>
                </a:solidFill>
              </a:rPr>
              <a:t>业务设计</a:t>
            </a:r>
          </a:p>
          <a:p>
            <a:pPr>
              <a:buFont typeface="+mj-lt"/>
              <a:buAutoNum type="arabicPeriod"/>
            </a:pPr>
            <a:r>
              <a:rPr lang="zh-CN" altLang="en-US" sz="1800" b="1"/>
              <a:t>华为</a:t>
            </a:r>
            <a:r>
              <a:rPr lang="en-US" altLang="zh-CN" sz="1800" b="1"/>
              <a:t>SD-WAN</a:t>
            </a:r>
            <a:r>
              <a:rPr lang="zh-CN" altLang="en-US" sz="1800" b="1"/>
              <a:t>可靠性与安全设计</a:t>
            </a:r>
            <a:endParaRPr lang="en-US" altLang="zh-CN" sz="1800" b="1"/>
          </a:p>
          <a:p>
            <a:pPr lvl="1"/>
            <a:r>
              <a:rPr lang="en-US" altLang="zh-CN" sz="1600">
                <a:solidFill>
                  <a:schemeClr val="bg1">
                    <a:lumMod val="50000"/>
                  </a:schemeClr>
                </a:solidFill>
              </a:rPr>
              <a:t>SD-WAN</a:t>
            </a:r>
            <a:r>
              <a:rPr lang="zh-CN" altLang="en-US" sz="1600">
                <a:solidFill>
                  <a:schemeClr val="bg1">
                    <a:lumMod val="50000"/>
                  </a:schemeClr>
                </a:solidFill>
              </a:rPr>
              <a:t>可靠性设计概览</a:t>
            </a:r>
            <a:endParaRPr lang="en-US" altLang="zh-CN" sz="1600">
              <a:solidFill>
                <a:schemeClr val="bg1">
                  <a:lumMod val="50000"/>
                </a:schemeClr>
              </a:solidFill>
            </a:endParaRPr>
          </a:p>
          <a:p>
            <a:pPr lvl="1"/>
            <a:r>
              <a:rPr lang="en-US" altLang="zh-CN" sz="1600">
                <a:solidFill>
                  <a:schemeClr val="bg1">
                    <a:lumMod val="50000"/>
                  </a:schemeClr>
                </a:solidFill>
              </a:rPr>
              <a:t>SD-WAN</a:t>
            </a:r>
            <a:r>
              <a:rPr lang="zh-CN" altLang="en-US" sz="1600">
                <a:solidFill>
                  <a:schemeClr val="bg1">
                    <a:lumMod val="50000"/>
                  </a:schemeClr>
                </a:solidFill>
              </a:rPr>
              <a:t>站点可靠性设计</a:t>
            </a:r>
            <a:endParaRPr lang="en-US" altLang="zh-CN" sz="1600">
              <a:solidFill>
                <a:schemeClr val="bg1">
                  <a:lumMod val="50000"/>
                </a:schemeClr>
              </a:solidFill>
            </a:endParaRPr>
          </a:p>
          <a:p>
            <a:pPr lvl="1"/>
            <a:r>
              <a:rPr lang="en-US" altLang="zh-CN" sz="1600">
                <a:solidFill>
                  <a:schemeClr val="bg1">
                    <a:lumMod val="50000"/>
                  </a:schemeClr>
                </a:solidFill>
              </a:rPr>
              <a:t>SD-WAN</a:t>
            </a:r>
            <a:r>
              <a:rPr lang="zh-CN" altLang="en-US" sz="1600">
                <a:solidFill>
                  <a:schemeClr val="bg1">
                    <a:lumMod val="50000"/>
                  </a:schemeClr>
                </a:solidFill>
              </a:rPr>
              <a:t>控制器可靠性设计</a:t>
            </a:r>
            <a:endParaRPr lang="en-US" altLang="zh-CN" sz="1600">
              <a:solidFill>
                <a:schemeClr val="bg1">
                  <a:lumMod val="50000"/>
                </a:schemeClr>
              </a:solidFill>
            </a:endParaRPr>
          </a:p>
          <a:p>
            <a:pPr lvl="1">
              <a:buSzPct val="60000"/>
              <a:buFont typeface="Wingdings" panose="05000000000000000000" pitchFamily="2" charset="2"/>
              <a:buChar char="n"/>
            </a:pPr>
            <a:r>
              <a:rPr lang="en-US" altLang="zh-CN" sz="1600"/>
              <a:t>SD-WAN</a:t>
            </a:r>
            <a:r>
              <a:rPr lang="zh-CN" altLang="en-US" sz="1600"/>
              <a:t>安全设计</a:t>
            </a:r>
            <a:endParaRPr lang="en-US" altLang="zh-CN" sz="1600" dirty="0"/>
          </a:p>
        </p:txBody>
      </p:sp>
    </p:spTree>
    <p:extLst>
      <p:ext uri="{BB962C8B-B14F-4D97-AF65-F5344CB8AC3E}">
        <p14:creationId xmlns:p14="http://schemas.microsoft.com/office/powerpoint/2010/main" val="6421698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AE6E62-4FF2-4EB6-8AD3-8284DDD64ADD}"/>
              </a:ext>
            </a:extLst>
          </p:cNvPr>
          <p:cNvSpPr>
            <a:spLocks noGrp="1"/>
          </p:cNvSpPr>
          <p:nvPr>
            <p:ph type="title"/>
          </p:nvPr>
        </p:nvSpPr>
        <p:spPr bwMode="gray"/>
        <p:txBody>
          <a:bodyPr/>
          <a:lstStyle/>
          <a:p>
            <a:r>
              <a:rPr lang="en-US" dirty="0"/>
              <a:t>SD-WAN</a:t>
            </a:r>
            <a:r>
              <a:rPr lang="zh-CN" altLang="en-US" dirty="0"/>
              <a:t>安全方案概览</a:t>
            </a:r>
            <a:endParaRPr lang="en-US" dirty="0"/>
          </a:p>
        </p:txBody>
      </p:sp>
      <p:sp>
        <p:nvSpPr>
          <p:cNvPr id="6" name="Text Placeholder 5">
            <a:extLst>
              <a:ext uri="{FF2B5EF4-FFF2-40B4-BE49-F238E27FC236}">
                <a16:creationId xmlns:a16="http://schemas.microsoft.com/office/drawing/2014/main" id="{81570840-E411-434E-86A7-162A407CBBFE}"/>
              </a:ext>
            </a:extLst>
          </p:cNvPr>
          <p:cNvSpPr>
            <a:spLocks noGrp="1"/>
          </p:cNvSpPr>
          <p:nvPr>
            <p:ph type="body" sz="quarter" idx="10"/>
          </p:nvPr>
        </p:nvSpPr>
        <p:spPr bwMode="gray">
          <a:xfrm>
            <a:off x="6084642" y="1449388"/>
            <a:ext cx="5664445" cy="4478167"/>
          </a:xfrm>
        </p:spPr>
        <p:txBody>
          <a:bodyPr/>
          <a:lstStyle/>
          <a:p>
            <a:r>
              <a:rPr lang="en-US" altLang="zh-CN" sz="1800" dirty="0"/>
              <a:t>SD-WAN</a:t>
            </a:r>
            <a:r>
              <a:rPr lang="zh-CN" altLang="en-US" sz="1800" dirty="0"/>
              <a:t>解决方案的安全从整体上分为两个层面：</a:t>
            </a:r>
          </a:p>
          <a:p>
            <a:pPr marL="745939" lvl="1" indent="-342900">
              <a:buSzPct val="100000"/>
              <a:buFont typeface="+mj-lt"/>
              <a:buAutoNum type="arabicPeriod"/>
            </a:pPr>
            <a:r>
              <a:rPr lang="zh-CN" altLang="en-US" sz="1600" dirty="0"/>
              <a:t>系统安全：满足</a:t>
            </a:r>
            <a:r>
              <a:rPr lang="en-US" altLang="zh-CN" sz="1600" dirty="0"/>
              <a:t>SD-WAN</a:t>
            </a:r>
            <a:r>
              <a:rPr lang="zh-CN" altLang="en-US" sz="1600" dirty="0"/>
              <a:t>解决方案本身的安全需求，保证系统能够安全可靠地运转。</a:t>
            </a:r>
          </a:p>
          <a:p>
            <a:pPr marL="745939" lvl="1" indent="-342900">
              <a:buSzPct val="100000"/>
              <a:buFont typeface="+mj-lt"/>
              <a:buAutoNum type="arabicPeriod"/>
            </a:pPr>
            <a:r>
              <a:rPr lang="zh-CN" altLang="en-US" sz="1600" dirty="0"/>
              <a:t>业务安全：满足</a:t>
            </a:r>
            <a:r>
              <a:rPr lang="en-US" altLang="zh-CN" sz="1600" dirty="0"/>
              <a:t>SD-WAN</a:t>
            </a:r>
            <a:r>
              <a:rPr lang="zh-CN" altLang="en-US" sz="1600" dirty="0"/>
              <a:t>解决方案所承载业务的安全需求，根据企业用户实际需求，灵活选择适合的安全防护措施，保证用户业务能够安全可靠地运行。</a:t>
            </a:r>
            <a:endParaRPr lang="en-US" altLang="zh-CN" sz="1600" dirty="0"/>
          </a:p>
        </p:txBody>
      </p:sp>
      <p:grpSp>
        <p:nvGrpSpPr>
          <p:cNvPr id="107" name="Group 106">
            <a:extLst>
              <a:ext uri="{FF2B5EF4-FFF2-40B4-BE49-F238E27FC236}">
                <a16:creationId xmlns:a16="http://schemas.microsoft.com/office/drawing/2014/main" id="{9C1ADFA5-D71C-4F71-B11C-735AACA63386}"/>
              </a:ext>
            </a:extLst>
          </p:cNvPr>
          <p:cNvGrpSpPr/>
          <p:nvPr/>
        </p:nvGrpSpPr>
        <p:grpSpPr bwMode="gray">
          <a:xfrm>
            <a:off x="582892" y="1451125"/>
            <a:ext cx="5795502" cy="4181037"/>
            <a:chOff x="5659949" y="1979293"/>
            <a:chExt cx="5795502" cy="4181037"/>
          </a:xfrm>
        </p:grpSpPr>
        <p:grpSp>
          <p:nvGrpSpPr>
            <p:cNvPr id="108" name="组合 102">
              <a:extLst>
                <a:ext uri="{FF2B5EF4-FFF2-40B4-BE49-F238E27FC236}">
                  <a16:creationId xmlns:a16="http://schemas.microsoft.com/office/drawing/2014/main" id="{0F194B67-EA43-4F17-8A27-CC5A5CA93D6D}"/>
                </a:ext>
              </a:extLst>
            </p:cNvPr>
            <p:cNvGrpSpPr/>
            <p:nvPr/>
          </p:nvGrpSpPr>
          <p:grpSpPr bwMode="gray">
            <a:xfrm flipH="1">
              <a:off x="8934985" y="4775730"/>
              <a:ext cx="1075899" cy="1114092"/>
              <a:chOff x="2049220" y="4543762"/>
              <a:chExt cx="1075899" cy="1114092"/>
            </a:xfrm>
          </p:grpSpPr>
          <p:grpSp>
            <p:nvGrpSpPr>
              <p:cNvPr id="149" name="Group 165">
                <a:extLst>
                  <a:ext uri="{FF2B5EF4-FFF2-40B4-BE49-F238E27FC236}">
                    <a16:creationId xmlns:a16="http://schemas.microsoft.com/office/drawing/2014/main" id="{620DDCF2-95CE-465B-B755-3141F8E7482B}"/>
                  </a:ext>
                </a:extLst>
              </p:cNvPr>
              <p:cNvGrpSpPr/>
              <p:nvPr/>
            </p:nvGrpSpPr>
            <p:grpSpPr bwMode="gray">
              <a:xfrm rot="5400000">
                <a:off x="1762964" y="4830018"/>
                <a:ext cx="1114092" cy="541579"/>
                <a:chOff x="-1233037" y="914446"/>
                <a:chExt cx="1573823" cy="778776"/>
              </a:xfrm>
            </p:grpSpPr>
            <p:cxnSp>
              <p:nvCxnSpPr>
                <p:cNvPr id="152" name="Straight Connector 166">
                  <a:extLst>
                    <a:ext uri="{FF2B5EF4-FFF2-40B4-BE49-F238E27FC236}">
                      <a16:creationId xmlns:a16="http://schemas.microsoft.com/office/drawing/2014/main" id="{23DEFAB0-7180-40E8-A362-12FA47F6FFAB}"/>
                    </a:ext>
                  </a:extLst>
                </p:cNvPr>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67">
                  <a:extLst>
                    <a:ext uri="{FF2B5EF4-FFF2-40B4-BE49-F238E27FC236}">
                      <a16:creationId xmlns:a16="http://schemas.microsoft.com/office/drawing/2014/main" id="{B7D88D58-CB21-4ED2-9706-BBEAA61C7355}"/>
                    </a:ext>
                  </a:extLst>
                </p:cNvPr>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150" name="Straight Connector 166">
                <a:extLst>
                  <a:ext uri="{FF2B5EF4-FFF2-40B4-BE49-F238E27FC236}">
                    <a16:creationId xmlns:a16="http://schemas.microsoft.com/office/drawing/2014/main" id="{DFFA2529-1965-4FBB-B319-7BD801BB7582}"/>
                  </a:ext>
                </a:extLst>
              </p:cNvPr>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66">
                <a:extLst>
                  <a:ext uri="{FF2B5EF4-FFF2-40B4-BE49-F238E27FC236}">
                    <a16:creationId xmlns:a16="http://schemas.microsoft.com/office/drawing/2014/main" id="{B1E7D0CA-C274-4BF3-BACB-CCB880EFF61F}"/>
                  </a:ext>
                </a:extLst>
              </p:cNvPr>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09" name="组合 4">
              <a:extLst>
                <a:ext uri="{FF2B5EF4-FFF2-40B4-BE49-F238E27FC236}">
                  <a16:creationId xmlns:a16="http://schemas.microsoft.com/office/drawing/2014/main" id="{F28DC1C2-3B1D-4CFA-A1F3-6939EC760BE1}"/>
                </a:ext>
              </a:extLst>
            </p:cNvPr>
            <p:cNvGrpSpPr/>
            <p:nvPr/>
          </p:nvGrpSpPr>
          <p:grpSpPr bwMode="gray">
            <a:xfrm>
              <a:off x="7230794" y="4775730"/>
              <a:ext cx="1075899" cy="1114092"/>
              <a:chOff x="2049220" y="4543762"/>
              <a:chExt cx="1075899" cy="1114092"/>
            </a:xfrm>
          </p:grpSpPr>
          <p:grpSp>
            <p:nvGrpSpPr>
              <p:cNvPr id="144" name="Group 165">
                <a:extLst>
                  <a:ext uri="{FF2B5EF4-FFF2-40B4-BE49-F238E27FC236}">
                    <a16:creationId xmlns:a16="http://schemas.microsoft.com/office/drawing/2014/main" id="{A55B837C-B125-4501-856C-FEA96D62683C}"/>
                  </a:ext>
                </a:extLst>
              </p:cNvPr>
              <p:cNvGrpSpPr/>
              <p:nvPr/>
            </p:nvGrpSpPr>
            <p:grpSpPr bwMode="gray">
              <a:xfrm rot="5400000">
                <a:off x="1762964" y="4830018"/>
                <a:ext cx="1114092" cy="541579"/>
                <a:chOff x="-1233037" y="914446"/>
                <a:chExt cx="1573823" cy="778776"/>
              </a:xfrm>
            </p:grpSpPr>
            <p:cxnSp>
              <p:nvCxnSpPr>
                <p:cNvPr id="147" name="Straight Connector 166">
                  <a:extLst>
                    <a:ext uri="{FF2B5EF4-FFF2-40B4-BE49-F238E27FC236}">
                      <a16:creationId xmlns:a16="http://schemas.microsoft.com/office/drawing/2014/main" id="{BFE08003-BAE8-4685-ADA1-F70A7D5A22B1}"/>
                    </a:ext>
                  </a:extLst>
                </p:cNvPr>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67">
                  <a:extLst>
                    <a:ext uri="{FF2B5EF4-FFF2-40B4-BE49-F238E27FC236}">
                      <a16:creationId xmlns:a16="http://schemas.microsoft.com/office/drawing/2014/main" id="{9BD7C51E-B484-4B04-92F2-B5E1A3FB3095}"/>
                    </a:ext>
                  </a:extLst>
                </p:cNvPr>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145" name="Straight Connector 166">
                <a:extLst>
                  <a:ext uri="{FF2B5EF4-FFF2-40B4-BE49-F238E27FC236}">
                    <a16:creationId xmlns:a16="http://schemas.microsoft.com/office/drawing/2014/main" id="{E1DD12F8-F034-46AF-BD52-08DBE2FD8E05}"/>
                  </a:ext>
                </a:extLst>
              </p:cNvPr>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66">
                <a:extLst>
                  <a:ext uri="{FF2B5EF4-FFF2-40B4-BE49-F238E27FC236}">
                    <a16:creationId xmlns:a16="http://schemas.microsoft.com/office/drawing/2014/main" id="{FFE4945B-71D5-4BCB-9759-F101530D0BEB}"/>
                  </a:ext>
                </a:extLst>
              </p:cNvPr>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110" name="直接箭头连接符 33">
              <a:extLst>
                <a:ext uri="{FF2B5EF4-FFF2-40B4-BE49-F238E27FC236}">
                  <a16:creationId xmlns:a16="http://schemas.microsoft.com/office/drawing/2014/main" id="{FB5C5246-4ECA-40A6-91F6-EBDAEA66892C}"/>
                </a:ext>
              </a:extLst>
            </p:cNvPr>
            <p:cNvCxnSpPr/>
            <p:nvPr/>
          </p:nvCxnSpPr>
          <p:spPr bwMode="gray">
            <a:xfrm>
              <a:off x="6964314" y="2579763"/>
              <a:ext cx="0" cy="234803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44">
              <a:extLst>
                <a:ext uri="{FF2B5EF4-FFF2-40B4-BE49-F238E27FC236}">
                  <a16:creationId xmlns:a16="http://schemas.microsoft.com/office/drawing/2014/main" id="{56AC1A56-6D73-4537-AF77-CD3D4038A1FF}"/>
                </a:ext>
              </a:extLst>
            </p:cNvPr>
            <p:cNvCxnSpPr>
              <a:cxnSpLocks/>
              <a:stCxn id="114" idx="2"/>
              <a:endCxn id="120" idx="0"/>
            </p:cNvCxnSpPr>
            <p:nvPr/>
          </p:nvCxnSpPr>
          <p:spPr bwMode="gray">
            <a:xfrm flipH="1">
              <a:off x="6985688" y="3643184"/>
              <a:ext cx="1651817" cy="1484511"/>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直接箭头连接符 45">
              <a:extLst>
                <a:ext uri="{FF2B5EF4-FFF2-40B4-BE49-F238E27FC236}">
                  <a16:creationId xmlns:a16="http://schemas.microsoft.com/office/drawing/2014/main" id="{1DD5210B-8C83-4003-99A5-C5575AB8B0D3}"/>
                </a:ext>
              </a:extLst>
            </p:cNvPr>
            <p:cNvCxnSpPr>
              <a:cxnSpLocks/>
              <a:stCxn id="114" idx="2"/>
              <a:endCxn id="121" idx="0"/>
            </p:cNvCxnSpPr>
            <p:nvPr/>
          </p:nvCxnSpPr>
          <p:spPr bwMode="gray">
            <a:xfrm>
              <a:off x="8637505" y="3643184"/>
              <a:ext cx="1645467" cy="1490861"/>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3" name="文本框 58">
              <a:extLst>
                <a:ext uri="{FF2B5EF4-FFF2-40B4-BE49-F238E27FC236}">
                  <a16:creationId xmlns:a16="http://schemas.microsoft.com/office/drawing/2014/main" id="{F627BBCC-B8FE-4EFB-9259-A39F191777E4}"/>
                </a:ext>
              </a:extLst>
            </p:cNvPr>
            <p:cNvSpPr txBox="1"/>
            <p:nvPr/>
          </p:nvSpPr>
          <p:spPr bwMode="gray">
            <a:xfrm>
              <a:off x="8015729" y="3298417"/>
              <a:ext cx="418704"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RR</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14" name="图片 59">
              <a:extLst>
                <a:ext uri="{FF2B5EF4-FFF2-40B4-BE49-F238E27FC236}">
                  <a16:creationId xmlns:a16="http://schemas.microsoft.com/office/drawing/2014/main" id="{03DD7F56-F5FA-4808-8A3C-EDDD23DEA5BF}"/>
                </a:ext>
              </a:extLst>
            </p:cNvPr>
            <p:cNvPicPr>
              <a:picLocks noChangeAspect="1"/>
            </p:cNvPicPr>
            <p:nvPr/>
          </p:nvPicPr>
          <p:blipFill>
            <a:blip r:embed="rId3"/>
            <a:stretch>
              <a:fillRect/>
            </a:stretch>
          </p:blipFill>
          <p:spPr bwMode="gray">
            <a:xfrm>
              <a:off x="8397721" y="3261429"/>
              <a:ext cx="479567" cy="381755"/>
            </a:xfrm>
            <a:prstGeom prst="rect">
              <a:avLst/>
            </a:prstGeom>
          </p:spPr>
        </p:pic>
        <p:sp>
          <p:nvSpPr>
            <p:cNvPr id="115" name="文本框 60">
              <a:extLst>
                <a:ext uri="{FF2B5EF4-FFF2-40B4-BE49-F238E27FC236}">
                  <a16:creationId xmlns:a16="http://schemas.microsoft.com/office/drawing/2014/main" id="{18AB3754-AB7C-43AC-B5F0-29EC7897FE36}"/>
                </a:ext>
              </a:extLst>
            </p:cNvPr>
            <p:cNvSpPr txBox="1"/>
            <p:nvPr/>
          </p:nvSpPr>
          <p:spPr bwMode="gray">
            <a:xfrm>
              <a:off x="6634642" y="5626824"/>
              <a:ext cx="60386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116" name="文本框 66">
              <a:extLst>
                <a:ext uri="{FF2B5EF4-FFF2-40B4-BE49-F238E27FC236}">
                  <a16:creationId xmlns:a16="http://schemas.microsoft.com/office/drawing/2014/main" id="{DB412E52-17C4-4824-A9F0-3398C891AF4E}"/>
                </a:ext>
              </a:extLst>
            </p:cNvPr>
            <p:cNvSpPr txBox="1"/>
            <p:nvPr/>
          </p:nvSpPr>
          <p:spPr bwMode="gray">
            <a:xfrm>
              <a:off x="10035470" y="5633174"/>
              <a:ext cx="589307"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pic>
          <p:nvPicPr>
            <p:cNvPr id="117" name="图片 81">
              <a:extLst>
                <a:ext uri="{FF2B5EF4-FFF2-40B4-BE49-F238E27FC236}">
                  <a16:creationId xmlns:a16="http://schemas.microsoft.com/office/drawing/2014/main" id="{26437928-D19C-4C96-A903-52B74D7C5E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721462" y="2100753"/>
              <a:ext cx="1792651" cy="330612"/>
            </a:xfrm>
            <a:prstGeom prst="rect">
              <a:avLst/>
            </a:prstGeom>
          </p:spPr>
        </p:pic>
        <p:sp>
          <p:nvSpPr>
            <p:cNvPr id="118" name="圆角矩形 82">
              <a:extLst>
                <a:ext uri="{FF2B5EF4-FFF2-40B4-BE49-F238E27FC236}">
                  <a16:creationId xmlns:a16="http://schemas.microsoft.com/office/drawing/2014/main" id="{D8540D05-AAC2-4592-BD09-ACDEABD08556}"/>
                </a:ext>
              </a:extLst>
            </p:cNvPr>
            <p:cNvSpPr/>
            <p:nvPr/>
          </p:nvSpPr>
          <p:spPr bwMode="gray">
            <a:xfrm>
              <a:off x="10271572" y="5037460"/>
              <a:ext cx="1183879"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分支站点</a:t>
              </a:r>
            </a:p>
          </p:txBody>
        </p:sp>
        <p:sp>
          <p:nvSpPr>
            <p:cNvPr id="119" name="圆角矩形 83">
              <a:extLst>
                <a:ext uri="{FF2B5EF4-FFF2-40B4-BE49-F238E27FC236}">
                  <a16:creationId xmlns:a16="http://schemas.microsoft.com/office/drawing/2014/main" id="{2B9BDBD5-A76C-435A-BEDE-83E18C811CE7}"/>
                </a:ext>
              </a:extLst>
            </p:cNvPr>
            <p:cNvSpPr/>
            <p:nvPr/>
          </p:nvSpPr>
          <p:spPr bwMode="gray">
            <a:xfrm>
              <a:off x="5659949" y="5031110"/>
              <a:ext cx="1291198"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总部</a:t>
              </a:r>
              <a:r>
                <a:rPr lang="en-US" altLang="zh-CN"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数据中心站点</a:t>
              </a:r>
            </a:p>
          </p:txBody>
        </p:sp>
        <p:pic>
          <p:nvPicPr>
            <p:cNvPr id="120" name="图片 88">
              <a:extLst>
                <a:ext uri="{FF2B5EF4-FFF2-40B4-BE49-F238E27FC236}">
                  <a16:creationId xmlns:a16="http://schemas.microsoft.com/office/drawing/2014/main" id="{7A2B79E1-871A-4C98-82F8-27F097895F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6740233" y="5127695"/>
              <a:ext cx="490909" cy="402545"/>
            </a:xfrm>
            <a:prstGeom prst="rect">
              <a:avLst/>
            </a:prstGeom>
          </p:spPr>
        </p:pic>
        <p:pic>
          <p:nvPicPr>
            <p:cNvPr id="121" name="图片 89">
              <a:extLst>
                <a:ext uri="{FF2B5EF4-FFF2-40B4-BE49-F238E27FC236}">
                  <a16:creationId xmlns:a16="http://schemas.microsoft.com/office/drawing/2014/main" id="{67BBB23D-64E4-4D0D-A257-84ADCD726A3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0037517" y="5134045"/>
              <a:ext cx="490909" cy="402545"/>
            </a:xfrm>
            <a:prstGeom prst="rect">
              <a:avLst/>
            </a:prstGeom>
          </p:spPr>
        </p:pic>
        <p:sp>
          <p:nvSpPr>
            <p:cNvPr id="122" name="Can 225">
              <a:extLst>
                <a:ext uri="{FF2B5EF4-FFF2-40B4-BE49-F238E27FC236}">
                  <a16:creationId xmlns:a16="http://schemas.microsoft.com/office/drawing/2014/main" id="{CD570F67-EC3A-45BC-BB9C-49847D9BF4B6}"/>
                </a:ext>
              </a:extLst>
            </p:cNvPr>
            <p:cNvSpPr/>
            <p:nvPr/>
          </p:nvSpPr>
          <p:spPr bwMode="gray">
            <a:xfrm rot="5400000">
              <a:off x="8529318" y="3937879"/>
              <a:ext cx="193925" cy="2776241"/>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23" name="直接箭头连接符 112">
              <a:extLst>
                <a:ext uri="{FF2B5EF4-FFF2-40B4-BE49-F238E27FC236}">
                  <a16:creationId xmlns:a16="http://schemas.microsoft.com/office/drawing/2014/main" id="{1EC671F7-7998-46B7-8590-37F65B42E427}"/>
                </a:ext>
              </a:extLst>
            </p:cNvPr>
            <p:cNvCxnSpPr/>
            <p:nvPr/>
          </p:nvCxnSpPr>
          <p:spPr bwMode="gray">
            <a:xfrm>
              <a:off x="10259478" y="2579763"/>
              <a:ext cx="0" cy="234803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33">
              <a:extLst>
                <a:ext uri="{FF2B5EF4-FFF2-40B4-BE49-F238E27FC236}">
                  <a16:creationId xmlns:a16="http://schemas.microsoft.com/office/drawing/2014/main" id="{733CCBDD-EB0C-4FC5-92F7-99394A5627BF}"/>
                </a:ext>
              </a:extLst>
            </p:cNvPr>
            <p:cNvCxnSpPr>
              <a:cxnSpLocks/>
              <a:endCxn id="114" idx="0"/>
            </p:cNvCxnSpPr>
            <p:nvPr/>
          </p:nvCxnSpPr>
          <p:spPr bwMode="gray">
            <a:xfrm>
              <a:off x="8637505" y="2573051"/>
              <a:ext cx="0" cy="688378"/>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5" name="Freeform 159">
              <a:extLst>
                <a:ext uri="{FF2B5EF4-FFF2-40B4-BE49-F238E27FC236}">
                  <a16:creationId xmlns:a16="http://schemas.microsoft.com/office/drawing/2014/main" id="{4293FA6A-32E3-464D-8634-641D3E65F876}"/>
                </a:ext>
              </a:extLst>
            </p:cNvPr>
            <p:cNvSpPr/>
            <p:nvPr/>
          </p:nvSpPr>
          <p:spPr bwMode="gray">
            <a:xfrm flipH="1">
              <a:off x="8048913" y="4385226"/>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126" name="Freeform 159">
              <a:extLst>
                <a:ext uri="{FF2B5EF4-FFF2-40B4-BE49-F238E27FC236}">
                  <a16:creationId xmlns:a16="http://schemas.microsoft.com/office/drawing/2014/main" id="{DFAA73C8-C200-45A5-810A-1CD828C6564A}"/>
                </a:ext>
              </a:extLst>
            </p:cNvPr>
            <p:cNvSpPr/>
            <p:nvPr/>
          </p:nvSpPr>
          <p:spPr bwMode="gray">
            <a:xfrm flipH="1">
              <a:off x="8049325" y="5543143"/>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127" name="圆角矩形 44">
              <a:extLst>
                <a:ext uri="{FF2B5EF4-FFF2-40B4-BE49-F238E27FC236}">
                  <a16:creationId xmlns:a16="http://schemas.microsoft.com/office/drawing/2014/main" id="{740FA0C1-555F-432E-B9BF-DBE412012F52}"/>
                </a:ext>
              </a:extLst>
            </p:cNvPr>
            <p:cNvSpPr/>
            <p:nvPr/>
          </p:nvSpPr>
          <p:spPr bwMode="gray">
            <a:xfrm>
              <a:off x="6931050" y="1979293"/>
              <a:ext cx="3403725" cy="572837"/>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8" name="文本框 60">
              <a:extLst>
                <a:ext uri="{FF2B5EF4-FFF2-40B4-BE49-F238E27FC236}">
                  <a16:creationId xmlns:a16="http://schemas.microsoft.com/office/drawing/2014/main" id="{93063C7B-6A78-474E-816D-DAC3136C035A}"/>
                </a:ext>
              </a:extLst>
            </p:cNvPr>
            <p:cNvSpPr txBox="1"/>
            <p:nvPr/>
          </p:nvSpPr>
          <p:spPr bwMode="gray">
            <a:xfrm rot="16200000">
              <a:off x="6114291" y="3231322"/>
              <a:ext cx="1168116" cy="461665"/>
            </a:xfrm>
            <a:prstGeom prst="rect">
              <a:avLst/>
            </a:prstGeom>
            <a:noFill/>
          </p:spPr>
          <p:txBody>
            <a:bodyPr wrap="square" rtlCol="0">
              <a:spAutoFit/>
            </a:bodyPr>
            <a:lstStyle/>
            <a:p>
              <a:pPr algn="ctr"/>
              <a:r>
                <a:rPr lang="en-US" altLang="zh-CN"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NETCONF</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9" name="文本框 60">
              <a:extLst>
                <a:ext uri="{FF2B5EF4-FFF2-40B4-BE49-F238E27FC236}">
                  <a16:creationId xmlns:a16="http://schemas.microsoft.com/office/drawing/2014/main" id="{8D63C5E7-8992-49CD-A5CD-5FE09AE94D10}"/>
                </a:ext>
              </a:extLst>
            </p:cNvPr>
            <p:cNvSpPr txBox="1"/>
            <p:nvPr/>
          </p:nvSpPr>
          <p:spPr bwMode="gray">
            <a:xfrm rot="19124516">
              <a:off x="7116438" y="3943781"/>
              <a:ext cx="1213463" cy="461665"/>
            </a:xfrm>
            <a:prstGeom prst="rect">
              <a:avLst/>
            </a:prstGeom>
            <a:noFill/>
          </p:spPr>
          <p:txBody>
            <a:bodyPr wrap="square" rtlCol="0">
              <a:spAutoFit/>
            </a:bodyPr>
            <a:lstStyle/>
            <a:p>
              <a:pPr algn="ctr"/>
              <a:r>
                <a:rPr lang="en-US" altLang="zh-CN"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BGP EVPN</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（控制通道）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0" name="文本框 60">
              <a:extLst>
                <a:ext uri="{FF2B5EF4-FFF2-40B4-BE49-F238E27FC236}">
                  <a16:creationId xmlns:a16="http://schemas.microsoft.com/office/drawing/2014/main" id="{CADB06A1-079E-4C52-828D-87BF8F51D5FD}"/>
                </a:ext>
              </a:extLst>
            </p:cNvPr>
            <p:cNvSpPr txBox="1"/>
            <p:nvPr/>
          </p:nvSpPr>
          <p:spPr bwMode="gray">
            <a:xfrm>
              <a:off x="7423618" y="5189258"/>
              <a:ext cx="249240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a:t>
              </a:r>
              <a:r>
                <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或</a:t>
              </a:r>
              <a:r>
                <a:rPr lang="en-US" altLang="zh-CN"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 over IPsec</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1" name="Rectangular Callout 26">
              <a:extLst>
                <a:ext uri="{FF2B5EF4-FFF2-40B4-BE49-F238E27FC236}">
                  <a16:creationId xmlns:a16="http://schemas.microsoft.com/office/drawing/2014/main" id="{C3AD39C9-18B2-4524-A97C-5F9E2E141127}"/>
                </a:ext>
              </a:extLst>
            </p:cNvPr>
            <p:cNvSpPr/>
            <p:nvPr/>
          </p:nvSpPr>
          <p:spPr bwMode="gray">
            <a:xfrm>
              <a:off x="5785534" y="3963022"/>
              <a:ext cx="1074669" cy="493203"/>
            </a:xfrm>
            <a:prstGeom prst="wedgeRectCallout">
              <a:avLst>
                <a:gd name="adj1" fmla="val 26659"/>
                <a:gd name="adj2" fmla="val -7860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 name="Rectangular Callout 26">
              <a:extLst>
                <a:ext uri="{FF2B5EF4-FFF2-40B4-BE49-F238E27FC236}">
                  <a16:creationId xmlns:a16="http://schemas.microsoft.com/office/drawing/2014/main" id="{288A8BB9-11B0-4D78-B003-99643063B47C}"/>
                </a:ext>
              </a:extLst>
            </p:cNvPr>
            <p:cNvSpPr/>
            <p:nvPr/>
          </p:nvSpPr>
          <p:spPr bwMode="gray">
            <a:xfrm>
              <a:off x="8256019" y="3820147"/>
              <a:ext cx="1074669" cy="493203"/>
            </a:xfrm>
            <a:prstGeom prst="wedgeRectCallout">
              <a:avLst>
                <a:gd name="adj1" fmla="val -64505"/>
                <a:gd name="adj2" fmla="val -2149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控制通道安全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 name="Rectangular Callout 26">
              <a:extLst>
                <a:ext uri="{FF2B5EF4-FFF2-40B4-BE49-F238E27FC236}">
                  <a16:creationId xmlns:a16="http://schemas.microsoft.com/office/drawing/2014/main" id="{141D509F-3953-45A8-96DD-DDEB9E2B9B74}"/>
                </a:ext>
              </a:extLst>
            </p:cNvPr>
            <p:cNvSpPr/>
            <p:nvPr/>
          </p:nvSpPr>
          <p:spPr bwMode="gray">
            <a:xfrm>
              <a:off x="8934986" y="2632116"/>
              <a:ext cx="1186532" cy="493203"/>
            </a:xfrm>
            <a:prstGeom prst="wedgeRectCallout">
              <a:avLst>
                <a:gd name="adj1" fmla="val 19569"/>
                <a:gd name="adj2" fmla="val -8550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控制器自身安全加固</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 name="Rectangular Callout 26">
              <a:extLst>
                <a:ext uri="{FF2B5EF4-FFF2-40B4-BE49-F238E27FC236}">
                  <a16:creationId xmlns:a16="http://schemas.microsoft.com/office/drawing/2014/main" id="{D5ED0642-E494-4DA6-8CE8-140B2CA945F1}"/>
                </a:ext>
              </a:extLst>
            </p:cNvPr>
            <p:cNvSpPr/>
            <p:nvPr/>
          </p:nvSpPr>
          <p:spPr bwMode="gray">
            <a:xfrm>
              <a:off x="8692279" y="5516919"/>
              <a:ext cx="1074669" cy="493203"/>
            </a:xfrm>
            <a:prstGeom prst="wedgeRectCallout">
              <a:avLst>
                <a:gd name="adj1" fmla="val 19569"/>
                <a:gd name="adj2" fmla="val -8550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5" name="antivirus_139783">
              <a:extLst>
                <a:ext uri="{FF2B5EF4-FFF2-40B4-BE49-F238E27FC236}">
                  <a16:creationId xmlns:a16="http://schemas.microsoft.com/office/drawing/2014/main" id="{E46C8F85-0429-49E5-8D0B-8D03ED0B6C89}"/>
                </a:ext>
              </a:extLst>
            </p:cNvPr>
            <p:cNvSpPr>
              <a:spLocks noChangeAspect="1"/>
            </p:cNvSpPr>
            <p:nvPr/>
          </p:nvSpPr>
          <p:spPr bwMode="gray">
            <a:xfrm>
              <a:off x="7048869" y="5239144"/>
              <a:ext cx="309277" cy="402545"/>
            </a:xfrm>
            <a:custGeom>
              <a:avLst/>
              <a:gdLst>
                <a:gd name="connsiteX0" fmla="*/ 227062 w 466280"/>
                <a:gd name="connsiteY0" fmla="*/ 80509 h 606895"/>
                <a:gd name="connsiteX1" fmla="*/ 238458 w 466280"/>
                <a:gd name="connsiteY1" fmla="*/ 80509 h 606895"/>
                <a:gd name="connsiteX2" fmla="*/ 396487 w 466280"/>
                <a:gd name="connsiteY2" fmla="*/ 138155 h 606895"/>
                <a:gd name="connsiteX3" fmla="*/ 405604 w 466280"/>
                <a:gd name="connsiteY3" fmla="*/ 148016 h 606895"/>
                <a:gd name="connsiteX4" fmla="*/ 405604 w 466280"/>
                <a:gd name="connsiteY4" fmla="*/ 283790 h 606895"/>
                <a:gd name="connsiteX5" fmla="*/ 301518 w 466280"/>
                <a:gd name="connsiteY5" fmla="*/ 504517 h 606895"/>
                <a:gd name="connsiteX6" fmla="*/ 236939 w 466280"/>
                <a:gd name="connsiteY6" fmla="*/ 541684 h 606895"/>
                <a:gd name="connsiteX7" fmla="*/ 233140 w 466280"/>
                <a:gd name="connsiteY7" fmla="*/ 542442 h 606895"/>
                <a:gd name="connsiteX8" fmla="*/ 229341 w 466280"/>
                <a:gd name="connsiteY8" fmla="*/ 541684 h 606895"/>
                <a:gd name="connsiteX9" fmla="*/ 164762 w 466280"/>
                <a:gd name="connsiteY9" fmla="*/ 504517 h 606895"/>
                <a:gd name="connsiteX10" fmla="*/ 60676 w 466280"/>
                <a:gd name="connsiteY10" fmla="*/ 283790 h 606895"/>
                <a:gd name="connsiteX11" fmla="*/ 60676 w 466280"/>
                <a:gd name="connsiteY11" fmla="*/ 148016 h 606895"/>
                <a:gd name="connsiteX12" fmla="*/ 69793 w 466280"/>
                <a:gd name="connsiteY12" fmla="*/ 138155 h 606895"/>
                <a:gd name="connsiteX13" fmla="*/ 227062 w 466280"/>
                <a:gd name="connsiteY13" fmla="*/ 80509 h 606895"/>
                <a:gd name="connsiteX14" fmla="*/ 233140 w 466280"/>
                <a:gd name="connsiteY14" fmla="*/ 24457 h 606895"/>
                <a:gd name="connsiteX15" fmla="*/ 20504 w 466280"/>
                <a:gd name="connsiteY15" fmla="*/ 101054 h 606895"/>
                <a:gd name="connsiteX16" fmla="*/ 20504 w 466280"/>
                <a:gd name="connsiteY16" fmla="*/ 283824 h 606895"/>
                <a:gd name="connsiteX17" fmla="*/ 139732 w 466280"/>
                <a:gd name="connsiteY17" fmla="*/ 536365 h 606895"/>
                <a:gd name="connsiteX18" fmla="*/ 233140 w 466280"/>
                <a:gd name="connsiteY18" fmla="*/ 585660 h 606895"/>
                <a:gd name="connsiteX19" fmla="*/ 326548 w 466280"/>
                <a:gd name="connsiteY19" fmla="*/ 536365 h 606895"/>
                <a:gd name="connsiteX20" fmla="*/ 445776 w 466280"/>
                <a:gd name="connsiteY20" fmla="*/ 283824 h 606895"/>
                <a:gd name="connsiteX21" fmla="*/ 445776 w 466280"/>
                <a:gd name="connsiteY21" fmla="*/ 101054 h 606895"/>
                <a:gd name="connsiteX22" fmla="*/ 233140 w 466280"/>
                <a:gd name="connsiteY22" fmla="*/ 24457 h 606895"/>
                <a:gd name="connsiteX23" fmla="*/ 225546 w 466280"/>
                <a:gd name="connsiteY23" fmla="*/ 3981 h 606895"/>
                <a:gd name="connsiteX24" fmla="*/ 240734 w 466280"/>
                <a:gd name="connsiteY24" fmla="*/ 3981 h 606895"/>
                <a:gd name="connsiteX25" fmla="*/ 455648 w 466280"/>
                <a:gd name="connsiteY25" fmla="*/ 80577 h 606895"/>
                <a:gd name="connsiteX26" fmla="*/ 466280 w 466280"/>
                <a:gd name="connsiteY26" fmla="*/ 91195 h 606895"/>
                <a:gd name="connsiteX27" fmla="*/ 466280 w 466280"/>
                <a:gd name="connsiteY27" fmla="*/ 283824 h 606895"/>
                <a:gd name="connsiteX28" fmla="*/ 338698 w 466280"/>
                <a:gd name="connsiteY28" fmla="*/ 552292 h 606895"/>
                <a:gd name="connsiteX29" fmla="*/ 236178 w 466280"/>
                <a:gd name="connsiteY29" fmla="*/ 606137 h 606895"/>
                <a:gd name="connsiteX30" fmla="*/ 233140 w 466280"/>
                <a:gd name="connsiteY30" fmla="*/ 606895 h 606895"/>
                <a:gd name="connsiteX31" fmla="*/ 230102 w 466280"/>
                <a:gd name="connsiteY31" fmla="*/ 606137 h 606895"/>
                <a:gd name="connsiteX32" fmla="*/ 126822 w 466280"/>
                <a:gd name="connsiteY32" fmla="*/ 552292 h 606895"/>
                <a:gd name="connsiteX33" fmla="*/ 0 w 466280"/>
                <a:gd name="connsiteY33" fmla="*/ 283824 h 606895"/>
                <a:gd name="connsiteX34" fmla="*/ 0 w 466280"/>
                <a:gd name="connsiteY34" fmla="*/ 91195 h 606895"/>
                <a:gd name="connsiteX35" fmla="*/ 10632 w 466280"/>
                <a:gd name="connsiteY35" fmla="*/ 80577 h 606895"/>
                <a:gd name="connsiteX36" fmla="*/ 225546 w 466280"/>
                <a:gd name="connsiteY36" fmla="*/ 3981 h 60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6280" h="606895">
                  <a:moveTo>
                    <a:pt x="227062" y="80509"/>
                  </a:moveTo>
                  <a:cubicBezTo>
                    <a:pt x="230861" y="78233"/>
                    <a:pt x="235419" y="78233"/>
                    <a:pt x="238458" y="80509"/>
                  </a:cubicBezTo>
                  <a:cubicBezTo>
                    <a:pt x="269608" y="101747"/>
                    <a:pt x="321271" y="128295"/>
                    <a:pt x="396487" y="138155"/>
                  </a:cubicBezTo>
                  <a:cubicBezTo>
                    <a:pt x="401805" y="138155"/>
                    <a:pt x="405604" y="142707"/>
                    <a:pt x="405604" y="148016"/>
                  </a:cubicBezTo>
                  <a:lnTo>
                    <a:pt x="405604" y="283790"/>
                  </a:lnTo>
                  <a:cubicBezTo>
                    <a:pt x="405604" y="371018"/>
                    <a:pt x="366097" y="453696"/>
                    <a:pt x="301518" y="504517"/>
                  </a:cubicBezTo>
                  <a:cubicBezTo>
                    <a:pt x="281004" y="520445"/>
                    <a:pt x="258972" y="533340"/>
                    <a:pt x="236939" y="541684"/>
                  </a:cubicBezTo>
                  <a:cubicBezTo>
                    <a:pt x="235419" y="542442"/>
                    <a:pt x="234660" y="542442"/>
                    <a:pt x="233140" y="542442"/>
                  </a:cubicBezTo>
                  <a:cubicBezTo>
                    <a:pt x="231620" y="542442"/>
                    <a:pt x="230861" y="542442"/>
                    <a:pt x="229341" y="541684"/>
                  </a:cubicBezTo>
                  <a:cubicBezTo>
                    <a:pt x="207308" y="533340"/>
                    <a:pt x="185276" y="520445"/>
                    <a:pt x="164762" y="504517"/>
                  </a:cubicBezTo>
                  <a:cubicBezTo>
                    <a:pt x="99423" y="453696"/>
                    <a:pt x="60676" y="371018"/>
                    <a:pt x="60676" y="283790"/>
                  </a:cubicBezTo>
                  <a:lnTo>
                    <a:pt x="60676" y="148016"/>
                  </a:lnTo>
                  <a:cubicBezTo>
                    <a:pt x="60676" y="142707"/>
                    <a:pt x="64475" y="138155"/>
                    <a:pt x="69793" y="138155"/>
                  </a:cubicBezTo>
                  <a:cubicBezTo>
                    <a:pt x="145009" y="128295"/>
                    <a:pt x="196672" y="101747"/>
                    <a:pt x="227062" y="80509"/>
                  </a:cubicBezTo>
                  <a:close/>
                  <a:moveTo>
                    <a:pt x="233140" y="24457"/>
                  </a:moveTo>
                  <a:cubicBezTo>
                    <a:pt x="211117" y="45692"/>
                    <a:pt x="144289" y="98020"/>
                    <a:pt x="20504" y="101054"/>
                  </a:cubicBezTo>
                  <a:lnTo>
                    <a:pt x="20504" y="283824"/>
                  </a:lnTo>
                  <a:cubicBezTo>
                    <a:pt x="20504" y="383172"/>
                    <a:pt x="65310" y="477970"/>
                    <a:pt x="139732" y="536365"/>
                  </a:cubicBezTo>
                  <a:cubicBezTo>
                    <a:pt x="168590" y="559117"/>
                    <a:pt x="200485" y="575801"/>
                    <a:pt x="233140" y="585660"/>
                  </a:cubicBezTo>
                  <a:cubicBezTo>
                    <a:pt x="265795" y="575801"/>
                    <a:pt x="296931" y="559117"/>
                    <a:pt x="326548" y="536365"/>
                  </a:cubicBezTo>
                  <a:cubicBezTo>
                    <a:pt x="400970" y="477970"/>
                    <a:pt x="445776" y="383172"/>
                    <a:pt x="445776" y="283824"/>
                  </a:cubicBezTo>
                  <a:lnTo>
                    <a:pt x="445776" y="101054"/>
                  </a:lnTo>
                  <a:cubicBezTo>
                    <a:pt x="321991" y="98020"/>
                    <a:pt x="254404" y="45692"/>
                    <a:pt x="233140" y="24457"/>
                  </a:cubicBezTo>
                  <a:close/>
                  <a:moveTo>
                    <a:pt x="225546" y="3981"/>
                  </a:moveTo>
                  <a:cubicBezTo>
                    <a:pt x="229343" y="-1328"/>
                    <a:pt x="236937" y="-1328"/>
                    <a:pt x="240734" y="3981"/>
                  </a:cubicBezTo>
                  <a:cubicBezTo>
                    <a:pt x="241494" y="4739"/>
                    <a:pt x="307563" y="80577"/>
                    <a:pt x="455648" y="80577"/>
                  </a:cubicBezTo>
                  <a:cubicBezTo>
                    <a:pt x="461724" y="80577"/>
                    <a:pt x="466280" y="85128"/>
                    <a:pt x="466280" y="91195"/>
                  </a:cubicBezTo>
                  <a:lnTo>
                    <a:pt x="466280" y="283824"/>
                  </a:lnTo>
                  <a:cubicBezTo>
                    <a:pt x="466280" y="389239"/>
                    <a:pt x="418437" y="490104"/>
                    <a:pt x="338698" y="552292"/>
                  </a:cubicBezTo>
                  <a:cubicBezTo>
                    <a:pt x="306803" y="577318"/>
                    <a:pt x="271870" y="595519"/>
                    <a:pt x="236178" y="606137"/>
                  </a:cubicBezTo>
                  <a:cubicBezTo>
                    <a:pt x="234659" y="606895"/>
                    <a:pt x="233899" y="606895"/>
                    <a:pt x="233140" y="606895"/>
                  </a:cubicBezTo>
                  <a:cubicBezTo>
                    <a:pt x="232381" y="606895"/>
                    <a:pt x="230862" y="606895"/>
                    <a:pt x="230102" y="606137"/>
                  </a:cubicBezTo>
                  <a:cubicBezTo>
                    <a:pt x="193650" y="595519"/>
                    <a:pt x="159477" y="577318"/>
                    <a:pt x="126822" y="552292"/>
                  </a:cubicBezTo>
                  <a:cubicBezTo>
                    <a:pt x="47843" y="490104"/>
                    <a:pt x="0" y="389239"/>
                    <a:pt x="0" y="283824"/>
                  </a:cubicBezTo>
                  <a:lnTo>
                    <a:pt x="0" y="91195"/>
                  </a:lnTo>
                  <a:cubicBezTo>
                    <a:pt x="0" y="85128"/>
                    <a:pt x="4556" y="80577"/>
                    <a:pt x="10632" y="80577"/>
                  </a:cubicBezTo>
                  <a:cubicBezTo>
                    <a:pt x="158717" y="80577"/>
                    <a:pt x="224786" y="4739"/>
                    <a:pt x="225546" y="3981"/>
                  </a:cubicBezTo>
                  <a:close/>
                </a:path>
              </a:pathLst>
            </a:custGeom>
            <a:solidFill>
              <a:srgbClr val="56C4D2"/>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Rectangular Callout 26">
              <a:extLst>
                <a:ext uri="{FF2B5EF4-FFF2-40B4-BE49-F238E27FC236}">
                  <a16:creationId xmlns:a16="http://schemas.microsoft.com/office/drawing/2014/main" id="{15262256-3C91-4C5A-999B-8ECEC0E5F991}"/>
                </a:ext>
              </a:extLst>
            </p:cNvPr>
            <p:cNvSpPr/>
            <p:nvPr/>
          </p:nvSpPr>
          <p:spPr bwMode="gray">
            <a:xfrm>
              <a:off x="7294700" y="5623135"/>
              <a:ext cx="1074669" cy="493203"/>
            </a:xfrm>
            <a:prstGeom prst="wedgeRectCallout">
              <a:avLst>
                <a:gd name="adj1" fmla="val -47284"/>
                <a:gd name="adj2" fmla="val -8108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业务流量安全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7" name="椭圆 15">
              <a:extLst>
                <a:ext uri="{FF2B5EF4-FFF2-40B4-BE49-F238E27FC236}">
                  <a16:creationId xmlns:a16="http://schemas.microsoft.com/office/drawing/2014/main" id="{54180821-08B5-4E45-9A2F-FDA8514BF5E4}"/>
                </a:ext>
              </a:extLst>
            </p:cNvPr>
            <p:cNvSpPr>
              <a:spLocks noChangeAspect="1"/>
            </p:cNvSpPr>
            <p:nvPr/>
          </p:nvSpPr>
          <p:spPr bwMode="gray">
            <a:xfrm>
              <a:off x="5669294" y="3848722"/>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椭圆 15">
              <a:extLst>
                <a:ext uri="{FF2B5EF4-FFF2-40B4-BE49-F238E27FC236}">
                  <a16:creationId xmlns:a16="http://schemas.microsoft.com/office/drawing/2014/main" id="{326B999A-1810-4C45-A949-985BBE33E0CB}"/>
                </a:ext>
              </a:extLst>
            </p:cNvPr>
            <p:cNvSpPr>
              <a:spLocks noChangeAspect="1"/>
            </p:cNvSpPr>
            <p:nvPr/>
          </p:nvSpPr>
          <p:spPr bwMode="gray">
            <a:xfrm>
              <a:off x="10003505" y="3009080"/>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椭圆 15">
              <a:extLst>
                <a:ext uri="{FF2B5EF4-FFF2-40B4-BE49-F238E27FC236}">
                  <a16:creationId xmlns:a16="http://schemas.microsoft.com/office/drawing/2014/main" id="{3A60D1D3-541D-4BBF-8C1D-3F6399971DDE}"/>
                </a:ext>
              </a:extLst>
            </p:cNvPr>
            <p:cNvSpPr>
              <a:spLocks noChangeAspect="1"/>
            </p:cNvSpPr>
            <p:nvPr/>
          </p:nvSpPr>
          <p:spPr bwMode="gray">
            <a:xfrm>
              <a:off x="9219663" y="3710456"/>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椭圆 15">
              <a:extLst>
                <a:ext uri="{FF2B5EF4-FFF2-40B4-BE49-F238E27FC236}">
                  <a16:creationId xmlns:a16="http://schemas.microsoft.com/office/drawing/2014/main" id="{919AF372-CDDD-4DAF-B012-2664A45E31DB}"/>
                </a:ext>
              </a:extLst>
            </p:cNvPr>
            <p:cNvSpPr>
              <a:spLocks noChangeAspect="1"/>
            </p:cNvSpPr>
            <p:nvPr/>
          </p:nvSpPr>
          <p:spPr bwMode="gray">
            <a:xfrm>
              <a:off x="9650708" y="5399560"/>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椭圆 15">
              <a:extLst>
                <a:ext uri="{FF2B5EF4-FFF2-40B4-BE49-F238E27FC236}">
                  <a16:creationId xmlns:a16="http://schemas.microsoft.com/office/drawing/2014/main" id="{600E273C-9405-4AC2-A972-BEE873916DAB}"/>
                </a:ext>
              </a:extLst>
            </p:cNvPr>
            <p:cNvSpPr>
              <a:spLocks noChangeAspect="1"/>
            </p:cNvSpPr>
            <p:nvPr/>
          </p:nvSpPr>
          <p:spPr bwMode="gray">
            <a:xfrm>
              <a:off x="8249095" y="5500464"/>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Rectangular Callout 26">
              <a:extLst>
                <a:ext uri="{FF2B5EF4-FFF2-40B4-BE49-F238E27FC236}">
                  <a16:creationId xmlns:a16="http://schemas.microsoft.com/office/drawing/2014/main" id="{6260945D-579F-4D47-BDA3-527B4B99236C}"/>
                </a:ext>
              </a:extLst>
            </p:cNvPr>
            <p:cNvSpPr/>
            <p:nvPr/>
          </p:nvSpPr>
          <p:spPr bwMode="gray">
            <a:xfrm>
              <a:off x="10363093" y="4337260"/>
              <a:ext cx="1074669" cy="493203"/>
            </a:xfrm>
            <a:prstGeom prst="wedgeRectCallout">
              <a:avLst>
                <a:gd name="adj1" fmla="val -40110"/>
                <a:gd name="adj2" fmla="val 10762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自身安全加固</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 name="椭圆 15">
              <a:extLst>
                <a:ext uri="{FF2B5EF4-FFF2-40B4-BE49-F238E27FC236}">
                  <a16:creationId xmlns:a16="http://schemas.microsoft.com/office/drawing/2014/main" id="{4B406D53-29C4-4FCE-B5F3-EEE4FE7293DC}"/>
                </a:ext>
              </a:extLst>
            </p:cNvPr>
            <p:cNvSpPr>
              <a:spLocks noChangeAspect="1"/>
            </p:cNvSpPr>
            <p:nvPr/>
          </p:nvSpPr>
          <p:spPr bwMode="gray">
            <a:xfrm>
              <a:off x="10246853" y="4223170"/>
              <a:ext cx="232480" cy="232480"/>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99523711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AE6E62-4FF2-4EB6-8AD3-8284DDD64ADD}"/>
              </a:ext>
            </a:extLst>
          </p:cNvPr>
          <p:cNvSpPr>
            <a:spLocks noGrp="1"/>
          </p:cNvSpPr>
          <p:nvPr>
            <p:ph type="title"/>
          </p:nvPr>
        </p:nvSpPr>
        <p:spPr/>
        <p:txBody>
          <a:bodyPr/>
          <a:lstStyle/>
          <a:p>
            <a:r>
              <a:rPr lang="zh-CN" altLang="en-US"/>
              <a:t>系统安全设计：组件间通信安全</a:t>
            </a:r>
            <a:endParaRPr lang="en-US" dirty="0"/>
          </a:p>
        </p:txBody>
      </p:sp>
      <p:sp>
        <p:nvSpPr>
          <p:cNvPr id="3" name="Text Placeholder 2">
            <a:extLst>
              <a:ext uri="{FF2B5EF4-FFF2-40B4-BE49-F238E27FC236}">
                <a16:creationId xmlns:a16="http://schemas.microsoft.com/office/drawing/2014/main" id="{21CF9AAF-3752-4B33-8CB6-92FCDCF4E2D6}"/>
              </a:ext>
            </a:extLst>
          </p:cNvPr>
          <p:cNvSpPr>
            <a:spLocks noGrp="1"/>
          </p:cNvSpPr>
          <p:nvPr>
            <p:ph type="body" sz="quarter" idx="10"/>
          </p:nvPr>
        </p:nvSpPr>
        <p:spPr/>
        <p:txBody>
          <a:bodyPr/>
          <a:lstStyle/>
          <a:p>
            <a:r>
              <a:rPr lang="en-US" altLang="zh-CN" sz="1800" dirty="0"/>
              <a:t>SD-WAN</a:t>
            </a:r>
            <a:r>
              <a:rPr lang="zh-CN" altLang="en-US" sz="1800" dirty="0"/>
              <a:t>解决方案各个组件之间的通信连接分为管理通道、控制通道和数据通道。</a:t>
            </a:r>
            <a:r>
              <a:rPr lang="en-US" altLang="zh-CN" sz="1800" dirty="0"/>
              <a:t>EDGE/RR</a:t>
            </a:r>
            <a:r>
              <a:rPr lang="zh-CN" altLang="en-US" sz="1800" dirty="0"/>
              <a:t>与</a:t>
            </a:r>
            <a:r>
              <a:rPr lang="en-US" altLang="zh-CN" sz="1800" dirty="0" err="1"/>
              <a:t>iMaster</a:t>
            </a:r>
            <a:r>
              <a:rPr lang="zh-CN" altLang="en-US" sz="1800" dirty="0"/>
              <a:t>之间的连接为管理通道，</a:t>
            </a:r>
            <a:r>
              <a:rPr lang="en-US" altLang="zh-CN" sz="1800" dirty="0"/>
              <a:t>EDGE</a:t>
            </a:r>
            <a:r>
              <a:rPr lang="zh-CN" altLang="en-US" sz="1800" dirty="0"/>
              <a:t>与</a:t>
            </a:r>
            <a:r>
              <a:rPr lang="en-US" altLang="zh-CN" sz="1800" dirty="0"/>
              <a:t>RR</a:t>
            </a:r>
            <a:r>
              <a:rPr lang="zh-CN" altLang="en-US" sz="1800" dirty="0"/>
              <a:t>之间的连接为控制通道，</a:t>
            </a:r>
            <a:r>
              <a:rPr lang="en-US" altLang="zh-CN" sz="1800" dirty="0"/>
              <a:t>EDGE</a:t>
            </a:r>
            <a:r>
              <a:rPr lang="zh-CN" altLang="en-US" sz="1800" dirty="0"/>
              <a:t>和</a:t>
            </a:r>
            <a:r>
              <a:rPr lang="en-US" altLang="zh-CN" sz="1800" dirty="0"/>
              <a:t>EDGE</a:t>
            </a:r>
            <a:r>
              <a:rPr lang="zh-CN" altLang="en-US" sz="1800" dirty="0"/>
              <a:t>之间的连接为数据通道。</a:t>
            </a:r>
            <a:endParaRPr lang="en-US" altLang="zh-CN" sz="1800" dirty="0"/>
          </a:p>
          <a:p>
            <a:r>
              <a:rPr lang="en-US" altLang="zh-CN" sz="1800" dirty="0"/>
              <a:t>SD-WAN</a:t>
            </a:r>
            <a:r>
              <a:rPr lang="zh-CN" altLang="en-US" sz="1800" dirty="0"/>
              <a:t>解决方案的组件之间使用安全通信协议建立管理通道、控制通道和数据通道，保证组件间通信的数据安全。</a:t>
            </a:r>
            <a:endParaRPr lang="en-US" altLang="zh-CN" sz="1800" dirty="0"/>
          </a:p>
          <a:p>
            <a:pPr lvl="1"/>
            <a:r>
              <a:rPr lang="zh-CN" altLang="en-US" sz="1600" dirty="0"/>
              <a:t>管理通道与控制通道的安全机制默认开启，无需配置。</a:t>
            </a:r>
            <a:endParaRPr lang="en-US" altLang="zh-CN" sz="1600" dirty="0"/>
          </a:p>
          <a:p>
            <a:pPr lvl="1"/>
            <a:r>
              <a:rPr lang="zh-CN" altLang="en-US" sz="1600" dirty="0"/>
              <a:t>数据通道的安全机制需要基于情况设计。</a:t>
            </a:r>
            <a:endParaRPr lang="en-US" altLang="zh-CN" sz="1600" dirty="0"/>
          </a:p>
        </p:txBody>
      </p:sp>
      <p:grpSp>
        <p:nvGrpSpPr>
          <p:cNvPr id="5" name="Group 4">
            <a:extLst>
              <a:ext uri="{FF2B5EF4-FFF2-40B4-BE49-F238E27FC236}">
                <a16:creationId xmlns:a16="http://schemas.microsoft.com/office/drawing/2014/main" id="{DB266A61-F33E-4CE4-A8FC-2B642BD542BB}"/>
              </a:ext>
            </a:extLst>
          </p:cNvPr>
          <p:cNvGrpSpPr/>
          <p:nvPr/>
        </p:nvGrpSpPr>
        <p:grpSpPr bwMode="gray">
          <a:xfrm>
            <a:off x="5123487" y="2379998"/>
            <a:ext cx="6188619" cy="3778262"/>
            <a:chOff x="2850461" y="2345385"/>
            <a:chExt cx="6188619" cy="3778262"/>
          </a:xfrm>
        </p:grpSpPr>
        <p:grpSp>
          <p:nvGrpSpPr>
            <p:cNvPr id="56" name="组合 102">
              <a:extLst>
                <a:ext uri="{FF2B5EF4-FFF2-40B4-BE49-F238E27FC236}">
                  <a16:creationId xmlns:a16="http://schemas.microsoft.com/office/drawing/2014/main" id="{33BD695C-2299-430D-8D41-1E426CCBBC07}"/>
                </a:ext>
              </a:extLst>
            </p:cNvPr>
            <p:cNvGrpSpPr/>
            <p:nvPr/>
          </p:nvGrpSpPr>
          <p:grpSpPr bwMode="gray">
            <a:xfrm flipH="1">
              <a:off x="6518614" y="4739047"/>
              <a:ext cx="1075899" cy="1114092"/>
              <a:chOff x="2049220" y="4543762"/>
              <a:chExt cx="1075899" cy="1114092"/>
            </a:xfrm>
          </p:grpSpPr>
          <p:grpSp>
            <p:nvGrpSpPr>
              <p:cNvPr id="94" name="Group 165">
                <a:extLst>
                  <a:ext uri="{FF2B5EF4-FFF2-40B4-BE49-F238E27FC236}">
                    <a16:creationId xmlns:a16="http://schemas.microsoft.com/office/drawing/2014/main" id="{84B4CEA3-EECA-4AF9-9101-DF052F4D354B}"/>
                  </a:ext>
                </a:extLst>
              </p:cNvPr>
              <p:cNvGrpSpPr/>
              <p:nvPr/>
            </p:nvGrpSpPr>
            <p:grpSpPr bwMode="gray">
              <a:xfrm rot="5400000">
                <a:off x="1762964" y="4830018"/>
                <a:ext cx="1114092" cy="541579"/>
                <a:chOff x="-1233037" y="914446"/>
                <a:chExt cx="1573823" cy="778776"/>
              </a:xfrm>
            </p:grpSpPr>
            <p:cxnSp>
              <p:nvCxnSpPr>
                <p:cNvPr id="97" name="Straight Connector 166">
                  <a:extLst>
                    <a:ext uri="{FF2B5EF4-FFF2-40B4-BE49-F238E27FC236}">
                      <a16:creationId xmlns:a16="http://schemas.microsoft.com/office/drawing/2014/main" id="{3710A335-A0E3-4619-95E8-760F30E74947}"/>
                    </a:ext>
                  </a:extLst>
                </p:cNvPr>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167">
                  <a:extLst>
                    <a:ext uri="{FF2B5EF4-FFF2-40B4-BE49-F238E27FC236}">
                      <a16:creationId xmlns:a16="http://schemas.microsoft.com/office/drawing/2014/main" id="{84CAF082-0F61-45CB-BD05-ABB927303100}"/>
                    </a:ext>
                  </a:extLst>
                </p:cNvPr>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95" name="Straight Connector 166">
                <a:extLst>
                  <a:ext uri="{FF2B5EF4-FFF2-40B4-BE49-F238E27FC236}">
                    <a16:creationId xmlns:a16="http://schemas.microsoft.com/office/drawing/2014/main" id="{D6826DDE-D4C1-40EC-8BE5-4604C98EBF5D}"/>
                  </a:ext>
                </a:extLst>
              </p:cNvPr>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166">
                <a:extLst>
                  <a:ext uri="{FF2B5EF4-FFF2-40B4-BE49-F238E27FC236}">
                    <a16:creationId xmlns:a16="http://schemas.microsoft.com/office/drawing/2014/main" id="{9ADB1C62-D642-4F59-8557-FDFE1108D93D}"/>
                  </a:ext>
                </a:extLst>
              </p:cNvPr>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7" name="组合 4">
              <a:extLst>
                <a:ext uri="{FF2B5EF4-FFF2-40B4-BE49-F238E27FC236}">
                  <a16:creationId xmlns:a16="http://schemas.microsoft.com/office/drawing/2014/main" id="{4E9031F9-6958-4B08-8CCF-0B6B8ED1AB69}"/>
                </a:ext>
              </a:extLst>
            </p:cNvPr>
            <p:cNvGrpSpPr/>
            <p:nvPr/>
          </p:nvGrpSpPr>
          <p:grpSpPr bwMode="gray">
            <a:xfrm>
              <a:off x="4814423" y="4739047"/>
              <a:ext cx="1075899" cy="1114092"/>
              <a:chOff x="2049220" y="4543762"/>
              <a:chExt cx="1075899" cy="1114092"/>
            </a:xfrm>
          </p:grpSpPr>
          <p:grpSp>
            <p:nvGrpSpPr>
              <p:cNvPr id="89" name="Group 165">
                <a:extLst>
                  <a:ext uri="{FF2B5EF4-FFF2-40B4-BE49-F238E27FC236}">
                    <a16:creationId xmlns:a16="http://schemas.microsoft.com/office/drawing/2014/main" id="{9E2E409A-5710-4710-8F81-861DF81DA6B1}"/>
                  </a:ext>
                </a:extLst>
              </p:cNvPr>
              <p:cNvGrpSpPr/>
              <p:nvPr/>
            </p:nvGrpSpPr>
            <p:grpSpPr bwMode="gray">
              <a:xfrm rot="5400000">
                <a:off x="1762964" y="4830018"/>
                <a:ext cx="1114092" cy="541579"/>
                <a:chOff x="-1233037" y="914446"/>
                <a:chExt cx="1573823" cy="778776"/>
              </a:xfrm>
            </p:grpSpPr>
            <p:cxnSp>
              <p:nvCxnSpPr>
                <p:cNvPr id="92" name="Straight Connector 166">
                  <a:extLst>
                    <a:ext uri="{FF2B5EF4-FFF2-40B4-BE49-F238E27FC236}">
                      <a16:creationId xmlns:a16="http://schemas.microsoft.com/office/drawing/2014/main" id="{BC71537E-E9BC-4077-A94F-FFB36078F018}"/>
                    </a:ext>
                  </a:extLst>
                </p:cNvPr>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167">
                  <a:extLst>
                    <a:ext uri="{FF2B5EF4-FFF2-40B4-BE49-F238E27FC236}">
                      <a16:creationId xmlns:a16="http://schemas.microsoft.com/office/drawing/2014/main" id="{BF71C872-1447-4896-8D03-CC03F087DFC2}"/>
                    </a:ext>
                  </a:extLst>
                </p:cNvPr>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90" name="Straight Connector 166">
                <a:extLst>
                  <a:ext uri="{FF2B5EF4-FFF2-40B4-BE49-F238E27FC236}">
                    <a16:creationId xmlns:a16="http://schemas.microsoft.com/office/drawing/2014/main" id="{FA375A21-6F6D-470E-86C2-EF41F73D544B}"/>
                  </a:ext>
                </a:extLst>
              </p:cNvPr>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166">
                <a:extLst>
                  <a:ext uri="{FF2B5EF4-FFF2-40B4-BE49-F238E27FC236}">
                    <a16:creationId xmlns:a16="http://schemas.microsoft.com/office/drawing/2014/main" id="{C0E1BE1D-A669-48CA-8873-2D2D912F6297}"/>
                  </a:ext>
                </a:extLst>
              </p:cNvPr>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58" name="直接箭头连接符 33">
              <a:extLst>
                <a:ext uri="{FF2B5EF4-FFF2-40B4-BE49-F238E27FC236}">
                  <a16:creationId xmlns:a16="http://schemas.microsoft.com/office/drawing/2014/main" id="{AD4F3FDA-871E-43C2-9EC7-1F02B66C0A3D}"/>
                </a:ext>
              </a:extLst>
            </p:cNvPr>
            <p:cNvCxnSpPr>
              <a:cxnSpLocks/>
            </p:cNvCxnSpPr>
            <p:nvPr/>
          </p:nvCxnSpPr>
          <p:spPr bwMode="gray">
            <a:xfrm>
              <a:off x="4547943" y="2918222"/>
              <a:ext cx="0" cy="1972888"/>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44">
              <a:extLst>
                <a:ext uri="{FF2B5EF4-FFF2-40B4-BE49-F238E27FC236}">
                  <a16:creationId xmlns:a16="http://schemas.microsoft.com/office/drawing/2014/main" id="{5BD2FA07-2D14-402F-9A54-5C5C65353BB4}"/>
                </a:ext>
              </a:extLst>
            </p:cNvPr>
            <p:cNvCxnSpPr>
              <a:cxnSpLocks/>
              <a:stCxn id="62" idx="2"/>
              <a:endCxn id="68" idx="0"/>
            </p:cNvCxnSpPr>
            <p:nvPr/>
          </p:nvCxnSpPr>
          <p:spPr bwMode="gray">
            <a:xfrm flipH="1">
              <a:off x="4569317" y="3606501"/>
              <a:ext cx="1651817" cy="1484511"/>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直接箭头连接符 45">
              <a:extLst>
                <a:ext uri="{FF2B5EF4-FFF2-40B4-BE49-F238E27FC236}">
                  <a16:creationId xmlns:a16="http://schemas.microsoft.com/office/drawing/2014/main" id="{0525ECB9-E04B-4B32-8FB3-2756031583AC}"/>
                </a:ext>
              </a:extLst>
            </p:cNvPr>
            <p:cNvCxnSpPr>
              <a:cxnSpLocks/>
              <a:stCxn id="62" idx="2"/>
              <a:endCxn id="69" idx="0"/>
            </p:cNvCxnSpPr>
            <p:nvPr/>
          </p:nvCxnSpPr>
          <p:spPr bwMode="gray">
            <a:xfrm>
              <a:off x="6221134" y="3606501"/>
              <a:ext cx="1645467" cy="1490861"/>
            </a:xfrm>
            <a:prstGeom prst="straightConnector1">
              <a:avLst/>
            </a:prstGeom>
            <a:ln w="19050">
              <a:solidFill>
                <a:srgbClr val="D33941"/>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文本框 58">
              <a:extLst>
                <a:ext uri="{FF2B5EF4-FFF2-40B4-BE49-F238E27FC236}">
                  <a16:creationId xmlns:a16="http://schemas.microsoft.com/office/drawing/2014/main" id="{0408A4E9-904E-482F-AE29-02164B50319E}"/>
                </a:ext>
              </a:extLst>
            </p:cNvPr>
            <p:cNvSpPr txBox="1"/>
            <p:nvPr/>
          </p:nvSpPr>
          <p:spPr bwMode="gray">
            <a:xfrm>
              <a:off x="5599358" y="3261734"/>
              <a:ext cx="418704"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RR</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2" name="图片 59">
              <a:extLst>
                <a:ext uri="{FF2B5EF4-FFF2-40B4-BE49-F238E27FC236}">
                  <a16:creationId xmlns:a16="http://schemas.microsoft.com/office/drawing/2014/main" id="{31739609-E7D3-4F35-9853-4004E6F0AFEC}"/>
                </a:ext>
              </a:extLst>
            </p:cNvPr>
            <p:cNvPicPr>
              <a:picLocks noChangeAspect="1"/>
            </p:cNvPicPr>
            <p:nvPr/>
          </p:nvPicPr>
          <p:blipFill>
            <a:blip r:embed="rId3"/>
            <a:stretch>
              <a:fillRect/>
            </a:stretch>
          </p:blipFill>
          <p:spPr bwMode="gray">
            <a:xfrm>
              <a:off x="5981350" y="3224746"/>
              <a:ext cx="479567" cy="381755"/>
            </a:xfrm>
            <a:prstGeom prst="rect">
              <a:avLst/>
            </a:prstGeom>
          </p:spPr>
        </p:pic>
        <p:sp>
          <p:nvSpPr>
            <p:cNvPr id="63" name="文本框 60">
              <a:extLst>
                <a:ext uri="{FF2B5EF4-FFF2-40B4-BE49-F238E27FC236}">
                  <a16:creationId xmlns:a16="http://schemas.microsoft.com/office/drawing/2014/main" id="{EE0C1A60-B0EB-4FA3-99A5-4439CE0EAFCC}"/>
                </a:ext>
              </a:extLst>
            </p:cNvPr>
            <p:cNvSpPr txBox="1"/>
            <p:nvPr/>
          </p:nvSpPr>
          <p:spPr bwMode="gray">
            <a:xfrm>
              <a:off x="4248197" y="5590141"/>
              <a:ext cx="573939"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64" name="文本框 66">
              <a:extLst>
                <a:ext uri="{FF2B5EF4-FFF2-40B4-BE49-F238E27FC236}">
                  <a16:creationId xmlns:a16="http://schemas.microsoft.com/office/drawing/2014/main" id="{B3C9EAB6-61DB-4016-8136-B17CC494DE74}"/>
                </a:ext>
              </a:extLst>
            </p:cNvPr>
            <p:cNvSpPr txBox="1"/>
            <p:nvPr/>
          </p:nvSpPr>
          <p:spPr bwMode="gray">
            <a:xfrm>
              <a:off x="7499653" y="5596491"/>
              <a:ext cx="591651"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pic>
          <p:nvPicPr>
            <p:cNvPr id="65" name="图片 81">
              <a:extLst>
                <a:ext uri="{FF2B5EF4-FFF2-40B4-BE49-F238E27FC236}">
                  <a16:creationId xmlns:a16="http://schemas.microsoft.com/office/drawing/2014/main" id="{AD6A9665-B0E9-49C6-B7DB-7B54DCE9DF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311441" y="2466845"/>
              <a:ext cx="1792651" cy="330612"/>
            </a:xfrm>
            <a:prstGeom prst="rect">
              <a:avLst/>
            </a:prstGeom>
          </p:spPr>
        </p:pic>
        <p:sp>
          <p:nvSpPr>
            <p:cNvPr id="66" name="圆角矩形 82">
              <a:extLst>
                <a:ext uri="{FF2B5EF4-FFF2-40B4-BE49-F238E27FC236}">
                  <a16:creationId xmlns:a16="http://schemas.microsoft.com/office/drawing/2014/main" id="{CEAF911B-240F-4160-B9CF-4DA6EA46C242}"/>
                </a:ext>
              </a:extLst>
            </p:cNvPr>
            <p:cNvSpPr/>
            <p:nvPr/>
          </p:nvSpPr>
          <p:spPr bwMode="gray">
            <a:xfrm>
              <a:off x="7855201" y="5000777"/>
              <a:ext cx="1183879"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分支站点</a:t>
              </a:r>
            </a:p>
          </p:txBody>
        </p:sp>
        <p:sp>
          <p:nvSpPr>
            <p:cNvPr id="67" name="圆角矩形 83">
              <a:extLst>
                <a:ext uri="{FF2B5EF4-FFF2-40B4-BE49-F238E27FC236}">
                  <a16:creationId xmlns:a16="http://schemas.microsoft.com/office/drawing/2014/main" id="{D44E0B41-0A2A-4B58-A69B-699B1F3FB57E}"/>
                </a:ext>
              </a:extLst>
            </p:cNvPr>
            <p:cNvSpPr/>
            <p:nvPr/>
          </p:nvSpPr>
          <p:spPr bwMode="gray">
            <a:xfrm>
              <a:off x="3243578" y="4994427"/>
              <a:ext cx="1291198"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总部</a:t>
              </a:r>
              <a:r>
                <a:rPr lang="en-US" altLang="zh-CN"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数据中心站点</a:t>
              </a:r>
            </a:p>
          </p:txBody>
        </p:sp>
        <p:pic>
          <p:nvPicPr>
            <p:cNvPr id="68" name="图片 88">
              <a:extLst>
                <a:ext uri="{FF2B5EF4-FFF2-40B4-BE49-F238E27FC236}">
                  <a16:creationId xmlns:a16="http://schemas.microsoft.com/office/drawing/2014/main" id="{00C393D0-D920-4EF7-954A-53D20C9A12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4323862" y="5091012"/>
              <a:ext cx="490909" cy="402545"/>
            </a:xfrm>
            <a:prstGeom prst="rect">
              <a:avLst/>
            </a:prstGeom>
          </p:spPr>
        </p:pic>
        <p:pic>
          <p:nvPicPr>
            <p:cNvPr id="69" name="图片 89">
              <a:extLst>
                <a:ext uri="{FF2B5EF4-FFF2-40B4-BE49-F238E27FC236}">
                  <a16:creationId xmlns:a16="http://schemas.microsoft.com/office/drawing/2014/main" id="{735AD1B9-5C5C-44F8-A490-2EDB02ADFC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7621146" y="5097362"/>
              <a:ext cx="490909" cy="402545"/>
            </a:xfrm>
            <a:prstGeom prst="rect">
              <a:avLst/>
            </a:prstGeom>
          </p:spPr>
        </p:pic>
        <p:sp>
          <p:nvSpPr>
            <p:cNvPr id="70" name="Can 225">
              <a:extLst>
                <a:ext uri="{FF2B5EF4-FFF2-40B4-BE49-F238E27FC236}">
                  <a16:creationId xmlns:a16="http://schemas.microsoft.com/office/drawing/2014/main" id="{07E3A939-6BED-4196-BB72-B8A39B0B8D99}"/>
                </a:ext>
              </a:extLst>
            </p:cNvPr>
            <p:cNvSpPr/>
            <p:nvPr/>
          </p:nvSpPr>
          <p:spPr bwMode="gray">
            <a:xfrm rot="5400000">
              <a:off x="6112947" y="3901196"/>
              <a:ext cx="193925" cy="2776241"/>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1" name="直接箭头连接符 112">
              <a:extLst>
                <a:ext uri="{FF2B5EF4-FFF2-40B4-BE49-F238E27FC236}">
                  <a16:creationId xmlns:a16="http://schemas.microsoft.com/office/drawing/2014/main" id="{0A5BC1E6-3DAF-46E7-9880-BAC35A3793C5}"/>
                </a:ext>
              </a:extLst>
            </p:cNvPr>
            <p:cNvCxnSpPr>
              <a:cxnSpLocks/>
            </p:cNvCxnSpPr>
            <p:nvPr/>
          </p:nvCxnSpPr>
          <p:spPr bwMode="gray">
            <a:xfrm>
              <a:off x="7843107" y="2918222"/>
              <a:ext cx="0" cy="1972888"/>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33">
              <a:extLst>
                <a:ext uri="{FF2B5EF4-FFF2-40B4-BE49-F238E27FC236}">
                  <a16:creationId xmlns:a16="http://schemas.microsoft.com/office/drawing/2014/main" id="{B5E9FCD3-2DBB-4A73-9F7B-FA92D96523D1}"/>
                </a:ext>
              </a:extLst>
            </p:cNvPr>
            <p:cNvCxnSpPr>
              <a:cxnSpLocks/>
              <a:stCxn id="75" idx="2"/>
              <a:endCxn id="62" idx="0"/>
            </p:cNvCxnSpPr>
            <p:nvPr/>
          </p:nvCxnSpPr>
          <p:spPr bwMode="gray">
            <a:xfrm flipH="1">
              <a:off x="6221134" y="2918222"/>
              <a:ext cx="1758" cy="306524"/>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3" name="Freeform 159">
              <a:extLst>
                <a:ext uri="{FF2B5EF4-FFF2-40B4-BE49-F238E27FC236}">
                  <a16:creationId xmlns:a16="http://schemas.microsoft.com/office/drawing/2014/main" id="{EEC816C6-493A-4AFC-8F6B-AF2972BC3E8D}"/>
                </a:ext>
              </a:extLst>
            </p:cNvPr>
            <p:cNvSpPr/>
            <p:nvPr/>
          </p:nvSpPr>
          <p:spPr bwMode="gray">
            <a:xfrm flipH="1">
              <a:off x="5632542" y="4348543"/>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74" name="Freeform 159">
              <a:extLst>
                <a:ext uri="{FF2B5EF4-FFF2-40B4-BE49-F238E27FC236}">
                  <a16:creationId xmlns:a16="http://schemas.microsoft.com/office/drawing/2014/main" id="{1757AB64-8ADF-484E-85EA-EE4228A5974B}"/>
                </a:ext>
              </a:extLst>
            </p:cNvPr>
            <p:cNvSpPr/>
            <p:nvPr/>
          </p:nvSpPr>
          <p:spPr bwMode="gray">
            <a:xfrm flipH="1">
              <a:off x="5632954" y="5506460"/>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75" name="圆角矩形 44">
              <a:extLst>
                <a:ext uri="{FF2B5EF4-FFF2-40B4-BE49-F238E27FC236}">
                  <a16:creationId xmlns:a16="http://schemas.microsoft.com/office/drawing/2014/main" id="{D6F090C7-25BA-4AB4-B80D-549DBFA66070}"/>
                </a:ext>
              </a:extLst>
            </p:cNvPr>
            <p:cNvSpPr/>
            <p:nvPr/>
          </p:nvSpPr>
          <p:spPr bwMode="gray">
            <a:xfrm>
              <a:off x="4521029" y="2345385"/>
              <a:ext cx="3403725" cy="572837"/>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 name="文本框 60">
              <a:extLst>
                <a:ext uri="{FF2B5EF4-FFF2-40B4-BE49-F238E27FC236}">
                  <a16:creationId xmlns:a16="http://schemas.microsoft.com/office/drawing/2014/main" id="{0BC8C5AA-B5CB-4B9F-91F4-270432D4BF90}"/>
                </a:ext>
              </a:extLst>
            </p:cNvPr>
            <p:cNvSpPr txBox="1"/>
            <p:nvPr/>
          </p:nvSpPr>
          <p:spPr bwMode="gray">
            <a:xfrm rot="16200000">
              <a:off x="3446403" y="3522964"/>
              <a:ext cx="1671151"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NETCONF Over SSH</a:t>
              </a: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文本框 60">
              <a:extLst>
                <a:ext uri="{FF2B5EF4-FFF2-40B4-BE49-F238E27FC236}">
                  <a16:creationId xmlns:a16="http://schemas.microsoft.com/office/drawing/2014/main" id="{B18A42BC-49A7-40C0-B09E-A40306EE1F91}"/>
                </a:ext>
              </a:extLst>
            </p:cNvPr>
            <p:cNvSpPr txBox="1"/>
            <p:nvPr/>
          </p:nvSpPr>
          <p:spPr bwMode="gray">
            <a:xfrm rot="19124516">
              <a:off x="4550634" y="3935930"/>
              <a:ext cx="1496305" cy="461665"/>
            </a:xfrm>
            <a:prstGeom prst="rect">
              <a:avLst/>
            </a:prstGeom>
            <a:noFill/>
          </p:spPr>
          <p:txBody>
            <a:bodyPr wrap="square" rtlCol="0">
              <a:spAutoFit/>
            </a:bodyPr>
            <a:lstStyle/>
            <a:p>
              <a:pPr algn="ctr"/>
              <a:r>
                <a:rPr lang="en-US" altLang="zh-CN"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BGP over IPsec</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（控制通道）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 name="文本框 60">
              <a:extLst>
                <a:ext uri="{FF2B5EF4-FFF2-40B4-BE49-F238E27FC236}">
                  <a16:creationId xmlns:a16="http://schemas.microsoft.com/office/drawing/2014/main" id="{E30CB891-67F7-4FAF-969C-11BA85C069D1}"/>
                </a:ext>
              </a:extLst>
            </p:cNvPr>
            <p:cNvSpPr txBox="1"/>
            <p:nvPr/>
          </p:nvSpPr>
          <p:spPr bwMode="gray">
            <a:xfrm>
              <a:off x="5007247" y="5152575"/>
              <a:ext cx="2492406"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a:t>
              </a:r>
              <a:r>
                <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或</a:t>
              </a:r>
              <a:r>
                <a:rPr lang="en-US" altLang="zh-CN"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 over IPsec</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 name="Rectangular Callout 26">
              <a:extLst>
                <a:ext uri="{FF2B5EF4-FFF2-40B4-BE49-F238E27FC236}">
                  <a16:creationId xmlns:a16="http://schemas.microsoft.com/office/drawing/2014/main" id="{44826BB1-37CF-4546-8FA9-18C22FD31AA7}"/>
                </a:ext>
              </a:extLst>
            </p:cNvPr>
            <p:cNvSpPr/>
            <p:nvPr/>
          </p:nvSpPr>
          <p:spPr bwMode="gray">
            <a:xfrm>
              <a:off x="5839648" y="3783464"/>
              <a:ext cx="1180701" cy="493203"/>
            </a:xfrm>
            <a:prstGeom prst="wedgeRectCallout">
              <a:avLst>
                <a:gd name="adj1" fmla="val -64505"/>
                <a:gd name="adj2" fmla="val -2149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保障控制通道安全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 name="Rectangular Callout 26">
              <a:extLst>
                <a:ext uri="{FF2B5EF4-FFF2-40B4-BE49-F238E27FC236}">
                  <a16:creationId xmlns:a16="http://schemas.microsoft.com/office/drawing/2014/main" id="{83F71E3D-B84C-49A7-9ECE-EFA1F8EC92D1}"/>
                </a:ext>
              </a:extLst>
            </p:cNvPr>
            <p:cNvSpPr/>
            <p:nvPr/>
          </p:nvSpPr>
          <p:spPr bwMode="gray">
            <a:xfrm>
              <a:off x="6231706" y="5514100"/>
              <a:ext cx="1118871" cy="493203"/>
            </a:xfrm>
            <a:prstGeom prst="wedgeRectCallout">
              <a:avLst>
                <a:gd name="adj1" fmla="val 19569"/>
                <a:gd name="adj2" fmla="val -8550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保障转发面安全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 name="Rectangular Callout 26">
              <a:extLst>
                <a:ext uri="{FF2B5EF4-FFF2-40B4-BE49-F238E27FC236}">
                  <a16:creationId xmlns:a16="http://schemas.microsoft.com/office/drawing/2014/main" id="{1F46A717-6120-4859-87F0-D0736100248F}"/>
                </a:ext>
              </a:extLst>
            </p:cNvPr>
            <p:cNvSpPr/>
            <p:nvPr/>
          </p:nvSpPr>
          <p:spPr bwMode="gray">
            <a:xfrm>
              <a:off x="2850461" y="3542216"/>
              <a:ext cx="1105373" cy="595714"/>
            </a:xfrm>
            <a:prstGeom prst="wedgeRectCallout">
              <a:avLst>
                <a:gd name="adj1" fmla="val 62112"/>
                <a:gd name="adj2" fmla="val -2583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SSH</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保障管理通道安全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47" name="五边形 2">
            <a:extLst>
              <a:ext uri="{FF2B5EF4-FFF2-40B4-BE49-F238E27FC236}">
                <a16:creationId xmlns:a16="http://schemas.microsoft.com/office/drawing/2014/main" id="{1A4DE332-9D16-4919-A994-BF24ADBFDBFD}"/>
              </a:ext>
            </a:extLst>
          </p:cNvPr>
          <p:cNvSpPr/>
          <p:nvPr/>
        </p:nvSpPr>
        <p:spPr bwMode="gray">
          <a:xfrm>
            <a:off x="9605614" y="70638"/>
            <a:ext cx="105057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系统安全设计</a:t>
            </a:r>
          </a:p>
        </p:txBody>
      </p:sp>
      <p:sp>
        <p:nvSpPr>
          <p:cNvPr id="48" name="燕尾形 3">
            <a:extLst>
              <a:ext uri="{FF2B5EF4-FFF2-40B4-BE49-F238E27FC236}">
                <a16:creationId xmlns:a16="http://schemas.microsoft.com/office/drawing/2014/main" id="{D2EE5589-DA9F-4602-A8E7-7DC65E112471}"/>
              </a:ext>
            </a:extLst>
          </p:cNvPr>
          <p:cNvSpPr/>
          <p:nvPr/>
        </p:nvSpPr>
        <p:spPr bwMode="gray">
          <a:xfrm>
            <a:off x="10586648" y="70638"/>
            <a:ext cx="116244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业务安全设计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1031146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864F6-0E92-46B8-8B3D-1F27C7566284}"/>
              </a:ext>
            </a:extLst>
          </p:cNvPr>
          <p:cNvSpPr>
            <a:spLocks noGrp="1"/>
          </p:cNvSpPr>
          <p:nvPr>
            <p:ph type="title"/>
          </p:nvPr>
        </p:nvSpPr>
        <p:spPr/>
        <p:txBody>
          <a:bodyPr/>
          <a:lstStyle/>
          <a:p>
            <a:r>
              <a:rPr lang="zh-CN" altLang="en-US"/>
              <a:t>系统安全设计：数据通道安全</a:t>
            </a:r>
            <a:endParaRPr lang="en-US" dirty="0"/>
          </a:p>
        </p:txBody>
      </p:sp>
      <p:sp>
        <p:nvSpPr>
          <p:cNvPr id="3" name="Text Placeholder 2">
            <a:extLst>
              <a:ext uri="{FF2B5EF4-FFF2-40B4-BE49-F238E27FC236}">
                <a16:creationId xmlns:a16="http://schemas.microsoft.com/office/drawing/2014/main" id="{D65531C1-DF1A-4E78-8327-B47D5A60CA26}"/>
              </a:ext>
            </a:extLst>
          </p:cNvPr>
          <p:cNvSpPr>
            <a:spLocks noGrp="1"/>
          </p:cNvSpPr>
          <p:nvPr>
            <p:ph type="body" sz="quarter" idx="10"/>
          </p:nvPr>
        </p:nvSpPr>
        <p:spPr/>
        <p:txBody>
          <a:bodyPr/>
          <a:lstStyle/>
          <a:p>
            <a:r>
              <a:rPr lang="zh-CN" altLang="en-US" sz="1800" dirty="0"/>
              <a:t>数据通道中的连接是</a:t>
            </a:r>
            <a:r>
              <a:rPr lang="en-US" altLang="zh-CN" sz="1800" dirty="0"/>
              <a:t>EDGE</a:t>
            </a:r>
            <a:r>
              <a:rPr lang="zh-CN" altLang="en-US" sz="1800" dirty="0"/>
              <a:t>之间建立的</a:t>
            </a:r>
            <a:r>
              <a:rPr lang="en-US" altLang="zh-CN" sz="1800" dirty="0"/>
              <a:t>Overlay</a:t>
            </a:r>
            <a:r>
              <a:rPr lang="zh-CN" altLang="en-US" sz="1800" dirty="0"/>
              <a:t>隧道，通过</a:t>
            </a:r>
            <a:r>
              <a:rPr lang="en-US" altLang="zh-CN" sz="1800" dirty="0"/>
              <a:t>IPsec</a:t>
            </a:r>
            <a:r>
              <a:rPr lang="zh-CN" altLang="en-US" sz="1800" dirty="0"/>
              <a:t>协议保证数据在传输过程中的机密性和完整性。</a:t>
            </a:r>
            <a:endParaRPr lang="en-US" altLang="zh-CN" sz="1800" dirty="0"/>
          </a:p>
          <a:p>
            <a:pPr lvl="1"/>
            <a:r>
              <a:rPr lang="zh-CN" altLang="en-US" sz="1600" dirty="0"/>
              <a:t>当基于</a:t>
            </a:r>
            <a:r>
              <a:rPr lang="en-US" altLang="zh-CN" sz="1600" dirty="0"/>
              <a:t>Internet</a:t>
            </a:r>
            <a:r>
              <a:rPr lang="zh-CN" altLang="en-US" sz="1600" dirty="0"/>
              <a:t>网络建立数据通道时必须部署</a:t>
            </a:r>
            <a:r>
              <a:rPr lang="en-US" altLang="zh-CN" sz="1600" dirty="0"/>
              <a:t>IPsec</a:t>
            </a:r>
            <a:r>
              <a:rPr lang="zh-CN" altLang="en-US" sz="1600" dirty="0"/>
              <a:t>。</a:t>
            </a:r>
            <a:endParaRPr lang="en-US" altLang="zh-CN" sz="1600" dirty="0"/>
          </a:p>
          <a:p>
            <a:pPr lvl="1"/>
            <a:r>
              <a:rPr lang="zh-CN" altLang="en-US" sz="1600" dirty="0"/>
              <a:t>当基于</a:t>
            </a:r>
            <a:r>
              <a:rPr lang="en-US" altLang="zh-CN" sz="1600" dirty="0"/>
              <a:t>MPLS</a:t>
            </a:r>
            <a:r>
              <a:rPr lang="zh-CN" altLang="en-US" sz="1600" dirty="0"/>
              <a:t>或专网建立数据通道时可根据实际情况部署</a:t>
            </a:r>
            <a:r>
              <a:rPr lang="en-US" altLang="zh-CN" sz="1600" dirty="0"/>
              <a:t>IPsec</a:t>
            </a:r>
            <a:r>
              <a:rPr lang="zh-CN" altLang="en-US" sz="1600" dirty="0"/>
              <a:t>。</a:t>
            </a:r>
            <a:endParaRPr lang="en-US" sz="1600" dirty="0"/>
          </a:p>
        </p:txBody>
      </p:sp>
      <p:sp>
        <p:nvSpPr>
          <p:cNvPr id="44" name="五边形 2">
            <a:extLst>
              <a:ext uri="{FF2B5EF4-FFF2-40B4-BE49-F238E27FC236}">
                <a16:creationId xmlns:a16="http://schemas.microsoft.com/office/drawing/2014/main" id="{A60B9401-E1B4-4DD1-8A6B-9F97C175BF8C}"/>
              </a:ext>
            </a:extLst>
          </p:cNvPr>
          <p:cNvSpPr/>
          <p:nvPr/>
        </p:nvSpPr>
        <p:spPr bwMode="gray">
          <a:xfrm>
            <a:off x="9605614" y="70638"/>
            <a:ext cx="105057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系统安全设计</a:t>
            </a:r>
          </a:p>
        </p:txBody>
      </p:sp>
      <p:sp>
        <p:nvSpPr>
          <p:cNvPr id="45" name="燕尾形 3">
            <a:extLst>
              <a:ext uri="{FF2B5EF4-FFF2-40B4-BE49-F238E27FC236}">
                <a16:creationId xmlns:a16="http://schemas.microsoft.com/office/drawing/2014/main" id="{2A6F9382-C364-4D57-90A2-506FDE168D09}"/>
              </a:ext>
            </a:extLst>
          </p:cNvPr>
          <p:cNvSpPr/>
          <p:nvPr/>
        </p:nvSpPr>
        <p:spPr bwMode="gray">
          <a:xfrm>
            <a:off x="10586648" y="70638"/>
            <a:ext cx="116244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业务安全设计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2" name="Group 51">
            <a:extLst>
              <a:ext uri="{FF2B5EF4-FFF2-40B4-BE49-F238E27FC236}">
                <a16:creationId xmlns:a16="http://schemas.microsoft.com/office/drawing/2014/main" id="{C9BF03DE-83DC-4D54-BA89-23054C373983}"/>
              </a:ext>
            </a:extLst>
          </p:cNvPr>
          <p:cNvGrpSpPr/>
          <p:nvPr/>
        </p:nvGrpSpPr>
        <p:grpSpPr bwMode="gray">
          <a:xfrm>
            <a:off x="3247210" y="3320111"/>
            <a:ext cx="5795502" cy="2210347"/>
            <a:chOff x="3247210" y="3320111"/>
            <a:chExt cx="5795502" cy="2210347"/>
          </a:xfrm>
        </p:grpSpPr>
        <p:grpSp>
          <p:nvGrpSpPr>
            <p:cNvPr id="5" name="组合 102">
              <a:extLst>
                <a:ext uri="{FF2B5EF4-FFF2-40B4-BE49-F238E27FC236}">
                  <a16:creationId xmlns:a16="http://schemas.microsoft.com/office/drawing/2014/main" id="{FCE5BEAC-47BC-4F4E-81EE-7CCDC612963B}"/>
                </a:ext>
              </a:extLst>
            </p:cNvPr>
            <p:cNvGrpSpPr/>
            <p:nvPr/>
          </p:nvGrpSpPr>
          <p:grpSpPr bwMode="gray">
            <a:xfrm flipH="1">
              <a:off x="6522246" y="3805435"/>
              <a:ext cx="1075899" cy="1114092"/>
              <a:chOff x="2049220" y="4543762"/>
              <a:chExt cx="1075899" cy="1114092"/>
            </a:xfrm>
          </p:grpSpPr>
          <p:grpSp>
            <p:nvGrpSpPr>
              <p:cNvPr id="39" name="Group 165">
                <a:extLst>
                  <a:ext uri="{FF2B5EF4-FFF2-40B4-BE49-F238E27FC236}">
                    <a16:creationId xmlns:a16="http://schemas.microsoft.com/office/drawing/2014/main" id="{7218BBBD-F6B3-4DC0-AEC5-89D792CB83E7}"/>
                  </a:ext>
                </a:extLst>
              </p:cNvPr>
              <p:cNvGrpSpPr/>
              <p:nvPr/>
            </p:nvGrpSpPr>
            <p:grpSpPr bwMode="gray">
              <a:xfrm rot="5400000">
                <a:off x="1762964" y="4830018"/>
                <a:ext cx="1114092" cy="541579"/>
                <a:chOff x="-1233037" y="914446"/>
                <a:chExt cx="1573823" cy="778776"/>
              </a:xfrm>
            </p:grpSpPr>
            <p:cxnSp>
              <p:nvCxnSpPr>
                <p:cNvPr id="42" name="Straight Connector 166">
                  <a:extLst>
                    <a:ext uri="{FF2B5EF4-FFF2-40B4-BE49-F238E27FC236}">
                      <a16:creationId xmlns:a16="http://schemas.microsoft.com/office/drawing/2014/main" id="{5FFB171C-12F1-4E14-80E6-EF8FDA9B6628}"/>
                    </a:ext>
                  </a:extLst>
                </p:cNvPr>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167">
                  <a:extLst>
                    <a:ext uri="{FF2B5EF4-FFF2-40B4-BE49-F238E27FC236}">
                      <a16:creationId xmlns:a16="http://schemas.microsoft.com/office/drawing/2014/main" id="{521F0923-8056-40F8-B553-237FCCC71107}"/>
                    </a:ext>
                  </a:extLst>
                </p:cNvPr>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40" name="Straight Connector 166">
                <a:extLst>
                  <a:ext uri="{FF2B5EF4-FFF2-40B4-BE49-F238E27FC236}">
                    <a16:creationId xmlns:a16="http://schemas.microsoft.com/office/drawing/2014/main" id="{5B7D235E-1D69-4172-9490-D6862F8B25EA}"/>
                  </a:ext>
                </a:extLst>
              </p:cNvPr>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166">
                <a:extLst>
                  <a:ext uri="{FF2B5EF4-FFF2-40B4-BE49-F238E27FC236}">
                    <a16:creationId xmlns:a16="http://schemas.microsoft.com/office/drawing/2014/main" id="{2C66C7D1-F59A-4CDD-8826-96AC3C8095EB}"/>
                  </a:ext>
                </a:extLst>
              </p:cNvPr>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6" name="组合 4">
              <a:extLst>
                <a:ext uri="{FF2B5EF4-FFF2-40B4-BE49-F238E27FC236}">
                  <a16:creationId xmlns:a16="http://schemas.microsoft.com/office/drawing/2014/main" id="{279F0D7E-84F5-4139-9804-2697FD0D4DC1}"/>
                </a:ext>
              </a:extLst>
            </p:cNvPr>
            <p:cNvGrpSpPr/>
            <p:nvPr/>
          </p:nvGrpSpPr>
          <p:grpSpPr bwMode="gray">
            <a:xfrm>
              <a:off x="4818055" y="3805435"/>
              <a:ext cx="1075899" cy="1114092"/>
              <a:chOff x="2049220" y="4543762"/>
              <a:chExt cx="1075899" cy="1114092"/>
            </a:xfrm>
          </p:grpSpPr>
          <p:grpSp>
            <p:nvGrpSpPr>
              <p:cNvPr id="34" name="Group 165">
                <a:extLst>
                  <a:ext uri="{FF2B5EF4-FFF2-40B4-BE49-F238E27FC236}">
                    <a16:creationId xmlns:a16="http://schemas.microsoft.com/office/drawing/2014/main" id="{C3203E22-4D22-4FDE-B670-1831C1EED991}"/>
                  </a:ext>
                </a:extLst>
              </p:cNvPr>
              <p:cNvGrpSpPr/>
              <p:nvPr/>
            </p:nvGrpSpPr>
            <p:grpSpPr bwMode="gray">
              <a:xfrm rot="5400000">
                <a:off x="1762964" y="4830018"/>
                <a:ext cx="1114092" cy="541579"/>
                <a:chOff x="-1233037" y="914446"/>
                <a:chExt cx="1573823" cy="778776"/>
              </a:xfrm>
            </p:grpSpPr>
            <p:cxnSp>
              <p:nvCxnSpPr>
                <p:cNvPr id="37" name="Straight Connector 166">
                  <a:extLst>
                    <a:ext uri="{FF2B5EF4-FFF2-40B4-BE49-F238E27FC236}">
                      <a16:creationId xmlns:a16="http://schemas.microsoft.com/office/drawing/2014/main" id="{AC3B6197-CEFF-49E6-9991-ACD9A9DC265C}"/>
                    </a:ext>
                  </a:extLst>
                </p:cNvPr>
                <p:cNvCxnSpPr/>
                <p:nvPr/>
              </p:nvCxnSpPr>
              <p:spPr bwMode="gray">
                <a:xfrm flipH="1" flipV="1">
                  <a:off x="-1233037" y="914446"/>
                  <a:ext cx="786912" cy="7787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167">
                  <a:extLst>
                    <a:ext uri="{FF2B5EF4-FFF2-40B4-BE49-F238E27FC236}">
                      <a16:creationId xmlns:a16="http://schemas.microsoft.com/office/drawing/2014/main" id="{67E18D49-550C-4320-B785-C2ABE1ACE563}"/>
                    </a:ext>
                  </a:extLst>
                </p:cNvPr>
                <p:cNvCxnSpPr/>
                <p:nvPr/>
              </p:nvCxnSpPr>
              <p:spPr bwMode="gray">
                <a:xfrm flipV="1">
                  <a:off x="-446125" y="914446"/>
                  <a:ext cx="786911" cy="778776"/>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35" name="Straight Connector 166">
                <a:extLst>
                  <a:ext uri="{FF2B5EF4-FFF2-40B4-BE49-F238E27FC236}">
                    <a16:creationId xmlns:a16="http://schemas.microsoft.com/office/drawing/2014/main" id="{14E9CDBA-EE64-4091-B977-F8BA4A7F4D1D}"/>
                  </a:ext>
                </a:extLst>
              </p:cNvPr>
              <p:cNvCxnSpPr/>
              <p:nvPr/>
            </p:nvCxnSpPr>
            <p:spPr bwMode="gray">
              <a:xfrm>
                <a:off x="2583537" y="4546133"/>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166">
                <a:extLst>
                  <a:ext uri="{FF2B5EF4-FFF2-40B4-BE49-F238E27FC236}">
                    <a16:creationId xmlns:a16="http://schemas.microsoft.com/office/drawing/2014/main" id="{C82884F7-31E8-4703-B504-B6C1438EB47F}"/>
                  </a:ext>
                </a:extLst>
              </p:cNvPr>
              <p:cNvCxnSpPr/>
              <p:nvPr/>
            </p:nvCxnSpPr>
            <p:spPr bwMode="gray">
              <a:xfrm>
                <a:off x="2583537" y="5657854"/>
                <a:ext cx="5415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2" name="文本框 60">
              <a:extLst>
                <a:ext uri="{FF2B5EF4-FFF2-40B4-BE49-F238E27FC236}">
                  <a16:creationId xmlns:a16="http://schemas.microsoft.com/office/drawing/2014/main" id="{900343FB-158D-4AFB-8DD4-5D5FD33BC834}"/>
                </a:ext>
              </a:extLst>
            </p:cNvPr>
            <p:cNvSpPr txBox="1"/>
            <p:nvPr/>
          </p:nvSpPr>
          <p:spPr bwMode="gray">
            <a:xfrm>
              <a:off x="4169599" y="4656529"/>
              <a:ext cx="656169"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13" name="文本框 66">
              <a:extLst>
                <a:ext uri="{FF2B5EF4-FFF2-40B4-BE49-F238E27FC236}">
                  <a16:creationId xmlns:a16="http://schemas.microsoft.com/office/drawing/2014/main" id="{A137419D-04C8-4B36-ABB1-B132525404C3}"/>
                </a:ext>
              </a:extLst>
            </p:cNvPr>
            <p:cNvSpPr txBox="1"/>
            <p:nvPr/>
          </p:nvSpPr>
          <p:spPr bwMode="gray">
            <a:xfrm>
              <a:off x="7622731" y="4662879"/>
              <a:ext cx="629985"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15" name="圆角矩形 82">
              <a:extLst>
                <a:ext uri="{FF2B5EF4-FFF2-40B4-BE49-F238E27FC236}">
                  <a16:creationId xmlns:a16="http://schemas.microsoft.com/office/drawing/2014/main" id="{02E667CC-FCFD-4A58-A031-95C27704F6A8}"/>
                </a:ext>
              </a:extLst>
            </p:cNvPr>
            <p:cNvSpPr/>
            <p:nvPr/>
          </p:nvSpPr>
          <p:spPr bwMode="gray">
            <a:xfrm>
              <a:off x="7858833" y="4067165"/>
              <a:ext cx="1183879"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分支站点</a:t>
              </a:r>
            </a:p>
          </p:txBody>
        </p:sp>
        <p:sp>
          <p:nvSpPr>
            <p:cNvPr id="16" name="圆角矩形 83">
              <a:extLst>
                <a:ext uri="{FF2B5EF4-FFF2-40B4-BE49-F238E27FC236}">
                  <a16:creationId xmlns:a16="http://schemas.microsoft.com/office/drawing/2014/main" id="{E10437C9-F9AA-43AF-9A9A-20EFC8221CEC}"/>
                </a:ext>
              </a:extLst>
            </p:cNvPr>
            <p:cNvSpPr/>
            <p:nvPr/>
          </p:nvSpPr>
          <p:spPr bwMode="gray">
            <a:xfrm>
              <a:off x="3247210" y="4060815"/>
              <a:ext cx="1291198"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总部</a:t>
              </a:r>
              <a:r>
                <a:rPr lang="en-US" altLang="zh-CN"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400" dirty="0">
                  <a:solidFill>
                    <a:schemeClr val="bg1">
                      <a:lumMod val="6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数据中心站点</a:t>
              </a:r>
            </a:p>
          </p:txBody>
        </p:sp>
        <p:pic>
          <p:nvPicPr>
            <p:cNvPr id="17" name="图片 88">
              <a:extLst>
                <a:ext uri="{FF2B5EF4-FFF2-40B4-BE49-F238E27FC236}">
                  <a16:creationId xmlns:a16="http://schemas.microsoft.com/office/drawing/2014/main" id="{7FE368DA-2E92-43E5-B3A7-8F492738A1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27494" y="4157400"/>
              <a:ext cx="490909" cy="402545"/>
            </a:xfrm>
            <a:prstGeom prst="rect">
              <a:avLst/>
            </a:prstGeom>
          </p:spPr>
        </p:pic>
        <p:pic>
          <p:nvPicPr>
            <p:cNvPr id="18" name="图片 89">
              <a:extLst>
                <a:ext uri="{FF2B5EF4-FFF2-40B4-BE49-F238E27FC236}">
                  <a16:creationId xmlns:a16="http://schemas.microsoft.com/office/drawing/2014/main" id="{21A1DB32-B84B-43C5-BF43-1B8CCFCBDB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624778" y="4163750"/>
              <a:ext cx="490909" cy="402545"/>
            </a:xfrm>
            <a:prstGeom prst="rect">
              <a:avLst/>
            </a:prstGeom>
          </p:spPr>
        </p:pic>
        <p:sp>
          <p:nvSpPr>
            <p:cNvPr id="22" name="Freeform 159">
              <a:extLst>
                <a:ext uri="{FF2B5EF4-FFF2-40B4-BE49-F238E27FC236}">
                  <a16:creationId xmlns:a16="http://schemas.microsoft.com/office/drawing/2014/main" id="{3CEC87F2-5998-479A-90A3-CB54359FA374}"/>
                </a:ext>
              </a:extLst>
            </p:cNvPr>
            <p:cNvSpPr/>
            <p:nvPr/>
          </p:nvSpPr>
          <p:spPr bwMode="gray">
            <a:xfrm flipH="1">
              <a:off x="5636174" y="3414931"/>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23" name="Freeform 159">
              <a:extLst>
                <a:ext uri="{FF2B5EF4-FFF2-40B4-BE49-F238E27FC236}">
                  <a16:creationId xmlns:a16="http://schemas.microsoft.com/office/drawing/2014/main" id="{491A877A-6870-466F-BD6D-F2ED07E840BC}"/>
                </a:ext>
              </a:extLst>
            </p:cNvPr>
            <p:cNvSpPr/>
            <p:nvPr/>
          </p:nvSpPr>
          <p:spPr bwMode="gray">
            <a:xfrm flipH="1">
              <a:off x="5636586" y="4572848"/>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46" name="Freeform: Shape 45">
              <a:extLst>
                <a:ext uri="{FF2B5EF4-FFF2-40B4-BE49-F238E27FC236}">
                  <a16:creationId xmlns:a16="http://schemas.microsoft.com/office/drawing/2014/main" id="{93FD6F66-B824-41F5-BB9E-3F94065EC7C7}"/>
                </a:ext>
              </a:extLst>
            </p:cNvPr>
            <p:cNvSpPr/>
            <p:nvPr/>
          </p:nvSpPr>
          <p:spPr bwMode="gray">
            <a:xfrm>
              <a:off x="4799067" y="3480782"/>
              <a:ext cx="2798656" cy="731718"/>
            </a:xfrm>
            <a:custGeom>
              <a:avLst/>
              <a:gdLst>
                <a:gd name="connsiteX0" fmla="*/ 0 w 2483318"/>
                <a:gd name="connsiteY0" fmla="*/ 673967 h 731718"/>
                <a:gd name="connsiteX1" fmla="*/ 1193533 w 2483318"/>
                <a:gd name="connsiteY1" fmla="*/ 198 h 731718"/>
                <a:gd name="connsiteX2" fmla="*/ 2483318 w 2483318"/>
                <a:gd name="connsiteY2" fmla="*/ 731718 h 731718"/>
              </a:gdLst>
              <a:ahLst/>
              <a:cxnLst>
                <a:cxn ang="0">
                  <a:pos x="connsiteX0" y="connsiteY0"/>
                </a:cxn>
                <a:cxn ang="0">
                  <a:pos x="connsiteX1" y="connsiteY1"/>
                </a:cxn>
                <a:cxn ang="0">
                  <a:pos x="connsiteX2" y="connsiteY2"/>
                </a:cxn>
              </a:cxnLst>
              <a:rect l="l" t="t" r="r" b="b"/>
              <a:pathLst>
                <a:path w="2483318" h="731718">
                  <a:moveTo>
                    <a:pt x="0" y="673967"/>
                  </a:moveTo>
                  <a:cubicBezTo>
                    <a:pt x="389823" y="332270"/>
                    <a:pt x="779647" y="-9427"/>
                    <a:pt x="1193533" y="198"/>
                  </a:cubicBezTo>
                  <a:cubicBezTo>
                    <a:pt x="1607419" y="9823"/>
                    <a:pt x="2045368" y="370770"/>
                    <a:pt x="2483318" y="731718"/>
                  </a:cubicBezTo>
                </a:path>
              </a:pathLst>
            </a:custGeom>
            <a:noFill/>
            <a:ln w="152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2CCF83A9-82E3-4613-B309-8ED5EB2B5419}"/>
                </a:ext>
              </a:extLst>
            </p:cNvPr>
            <p:cNvSpPr/>
            <p:nvPr/>
          </p:nvSpPr>
          <p:spPr bwMode="gray">
            <a:xfrm flipV="1">
              <a:off x="4825768" y="4485155"/>
              <a:ext cx="2798656" cy="731718"/>
            </a:xfrm>
            <a:custGeom>
              <a:avLst/>
              <a:gdLst>
                <a:gd name="connsiteX0" fmla="*/ 0 w 2483318"/>
                <a:gd name="connsiteY0" fmla="*/ 673967 h 731718"/>
                <a:gd name="connsiteX1" fmla="*/ 1193533 w 2483318"/>
                <a:gd name="connsiteY1" fmla="*/ 198 h 731718"/>
                <a:gd name="connsiteX2" fmla="*/ 2483318 w 2483318"/>
                <a:gd name="connsiteY2" fmla="*/ 731718 h 731718"/>
              </a:gdLst>
              <a:ahLst/>
              <a:cxnLst>
                <a:cxn ang="0">
                  <a:pos x="connsiteX0" y="connsiteY0"/>
                </a:cxn>
                <a:cxn ang="0">
                  <a:pos x="connsiteX1" y="connsiteY1"/>
                </a:cxn>
                <a:cxn ang="0">
                  <a:pos x="connsiteX2" y="connsiteY2"/>
                </a:cxn>
              </a:cxnLst>
              <a:rect l="l" t="t" r="r" b="b"/>
              <a:pathLst>
                <a:path w="2483318" h="731718">
                  <a:moveTo>
                    <a:pt x="0" y="673967"/>
                  </a:moveTo>
                  <a:cubicBezTo>
                    <a:pt x="389823" y="332270"/>
                    <a:pt x="779647" y="-9427"/>
                    <a:pt x="1193533" y="198"/>
                  </a:cubicBezTo>
                  <a:cubicBezTo>
                    <a:pt x="1607419" y="9823"/>
                    <a:pt x="2045368" y="370770"/>
                    <a:pt x="2483318" y="731718"/>
                  </a:cubicBezTo>
                </a:path>
              </a:pathLst>
            </a:custGeom>
            <a:noFill/>
            <a:ln w="152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reeform: Shape 47">
              <a:extLst>
                <a:ext uri="{FF2B5EF4-FFF2-40B4-BE49-F238E27FC236}">
                  <a16:creationId xmlns:a16="http://schemas.microsoft.com/office/drawing/2014/main" id="{9AC4A364-E965-4185-BD31-53A0EAA9BD3E}"/>
                </a:ext>
              </a:extLst>
            </p:cNvPr>
            <p:cNvSpPr/>
            <p:nvPr/>
          </p:nvSpPr>
          <p:spPr bwMode="gray">
            <a:xfrm flipV="1">
              <a:off x="5203389" y="4812159"/>
              <a:ext cx="1961137" cy="391295"/>
            </a:xfrm>
            <a:custGeom>
              <a:avLst/>
              <a:gdLst>
                <a:gd name="connsiteX0" fmla="*/ 0 w 2483318"/>
                <a:gd name="connsiteY0" fmla="*/ 673967 h 731718"/>
                <a:gd name="connsiteX1" fmla="*/ 1193533 w 2483318"/>
                <a:gd name="connsiteY1" fmla="*/ 198 h 731718"/>
                <a:gd name="connsiteX2" fmla="*/ 2483318 w 2483318"/>
                <a:gd name="connsiteY2" fmla="*/ 731718 h 731718"/>
              </a:gdLst>
              <a:ahLst/>
              <a:cxnLst>
                <a:cxn ang="0">
                  <a:pos x="connsiteX0" y="connsiteY0"/>
                </a:cxn>
                <a:cxn ang="0">
                  <a:pos x="connsiteX1" y="connsiteY1"/>
                </a:cxn>
                <a:cxn ang="0">
                  <a:pos x="connsiteX2" y="connsiteY2"/>
                </a:cxn>
              </a:cxnLst>
              <a:rect l="l" t="t" r="r" b="b"/>
              <a:pathLst>
                <a:path w="2483318" h="731718">
                  <a:moveTo>
                    <a:pt x="0" y="673967"/>
                  </a:moveTo>
                  <a:cubicBezTo>
                    <a:pt x="389823" y="332270"/>
                    <a:pt x="779647" y="-9427"/>
                    <a:pt x="1193533" y="198"/>
                  </a:cubicBezTo>
                  <a:cubicBezTo>
                    <a:pt x="1607419" y="9823"/>
                    <a:pt x="2045368" y="370770"/>
                    <a:pt x="2483318" y="731718"/>
                  </a:cubicBezTo>
                </a:path>
              </a:pathLst>
            </a:custGeom>
            <a:noFill/>
            <a:ln w="3810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ular Callout 26">
              <a:extLst>
                <a:ext uri="{FF2B5EF4-FFF2-40B4-BE49-F238E27FC236}">
                  <a16:creationId xmlns:a16="http://schemas.microsoft.com/office/drawing/2014/main" id="{D923D5A7-6CE4-4814-B813-1BAA34B7CC80}"/>
                </a:ext>
              </a:extLst>
            </p:cNvPr>
            <p:cNvSpPr/>
            <p:nvPr/>
          </p:nvSpPr>
          <p:spPr bwMode="gray">
            <a:xfrm>
              <a:off x="4502546" y="3320111"/>
              <a:ext cx="849826" cy="275450"/>
            </a:xfrm>
            <a:prstGeom prst="wedgeRectCallout">
              <a:avLst>
                <a:gd name="adj1" fmla="val 34092"/>
                <a:gd name="adj2" fmla="val 10210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GRE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Rectangular Callout 26">
              <a:extLst>
                <a:ext uri="{FF2B5EF4-FFF2-40B4-BE49-F238E27FC236}">
                  <a16:creationId xmlns:a16="http://schemas.microsoft.com/office/drawing/2014/main" id="{102D1BF9-9DFE-475B-A8EC-729E56846DF1}"/>
                </a:ext>
              </a:extLst>
            </p:cNvPr>
            <p:cNvSpPr/>
            <p:nvPr/>
          </p:nvSpPr>
          <p:spPr bwMode="gray">
            <a:xfrm>
              <a:off x="4169599" y="4918477"/>
              <a:ext cx="849826" cy="275450"/>
            </a:xfrm>
            <a:prstGeom prst="wedgeRectCallout">
              <a:avLst>
                <a:gd name="adj1" fmla="val 46421"/>
                <a:gd name="adj2" fmla="val -11920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GRE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Rectangular Callout 26">
              <a:extLst>
                <a:ext uri="{FF2B5EF4-FFF2-40B4-BE49-F238E27FC236}">
                  <a16:creationId xmlns:a16="http://schemas.microsoft.com/office/drawing/2014/main" id="{C0018EAD-ADEE-4995-83F2-38C58A32A741}"/>
                </a:ext>
              </a:extLst>
            </p:cNvPr>
            <p:cNvSpPr/>
            <p:nvPr/>
          </p:nvSpPr>
          <p:spPr bwMode="gray">
            <a:xfrm>
              <a:off x="6840412" y="5255008"/>
              <a:ext cx="849826" cy="275450"/>
            </a:xfrm>
            <a:prstGeom prst="wedgeRectCallout">
              <a:avLst>
                <a:gd name="adj1" fmla="val -39882"/>
                <a:gd name="adj2" fmla="val -13303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Tree>
    <p:extLst>
      <p:ext uri="{BB962C8B-B14F-4D97-AF65-F5344CB8AC3E}">
        <p14:creationId xmlns:p14="http://schemas.microsoft.com/office/powerpoint/2010/main" val="17280533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864F6-0E92-46B8-8B3D-1F27C7566284}"/>
              </a:ext>
            </a:extLst>
          </p:cNvPr>
          <p:cNvSpPr>
            <a:spLocks noGrp="1"/>
          </p:cNvSpPr>
          <p:nvPr>
            <p:ph type="title"/>
          </p:nvPr>
        </p:nvSpPr>
        <p:spPr/>
        <p:txBody>
          <a:bodyPr/>
          <a:lstStyle/>
          <a:p>
            <a:r>
              <a:rPr lang="zh-CN" altLang="en-US"/>
              <a:t>系统安全设计：管理员认证和授权</a:t>
            </a:r>
            <a:endParaRPr lang="en-US" dirty="0"/>
          </a:p>
        </p:txBody>
      </p:sp>
      <p:sp>
        <p:nvSpPr>
          <p:cNvPr id="3" name="Text Placeholder 2">
            <a:extLst>
              <a:ext uri="{FF2B5EF4-FFF2-40B4-BE49-F238E27FC236}">
                <a16:creationId xmlns:a16="http://schemas.microsoft.com/office/drawing/2014/main" id="{D65531C1-DF1A-4E78-8327-B47D5A60CA26}"/>
              </a:ext>
            </a:extLst>
          </p:cNvPr>
          <p:cNvSpPr>
            <a:spLocks noGrp="1"/>
          </p:cNvSpPr>
          <p:nvPr>
            <p:ph type="body" sz="quarter" idx="10"/>
          </p:nvPr>
        </p:nvSpPr>
        <p:spPr/>
        <p:txBody>
          <a:bodyPr/>
          <a:lstStyle/>
          <a:p>
            <a:r>
              <a:rPr lang="zh-CN" altLang="en-US" sz="1800" dirty="0"/>
              <a:t>系统对管理员进行认证时，支持本地认证和远程认证方式。通过严格的身份认证机制，确保合法的管理员才能登录。</a:t>
            </a:r>
            <a:endParaRPr lang="en-US" altLang="zh-CN" sz="1800" dirty="0"/>
          </a:p>
          <a:p>
            <a:r>
              <a:rPr lang="zh-CN" altLang="en-US" sz="1800" dirty="0"/>
              <a:t>租户管理员登录</a:t>
            </a:r>
            <a:r>
              <a:rPr lang="en-US" altLang="zh-CN" sz="1800" dirty="0" err="1"/>
              <a:t>iMaster</a:t>
            </a:r>
            <a:r>
              <a:rPr lang="en-US" altLang="zh-CN" sz="1800" dirty="0"/>
              <a:t> NCE-WAN/</a:t>
            </a:r>
            <a:r>
              <a:rPr lang="en-US" altLang="zh-CN" sz="1800" dirty="0" err="1"/>
              <a:t>iMaster</a:t>
            </a:r>
            <a:r>
              <a:rPr lang="en-US" altLang="zh-CN" sz="1800" dirty="0"/>
              <a:t> NCE-campus</a:t>
            </a:r>
            <a:r>
              <a:rPr lang="zh-CN" altLang="en-US" sz="1800" dirty="0"/>
              <a:t>时，支持双因子认证（账号</a:t>
            </a:r>
            <a:r>
              <a:rPr lang="en-US" altLang="zh-CN" sz="1800" dirty="0"/>
              <a:t>/</a:t>
            </a:r>
            <a:r>
              <a:rPr lang="zh-CN" altLang="en-US" sz="1800" dirty="0"/>
              <a:t>密码</a:t>
            </a:r>
            <a:r>
              <a:rPr lang="en-US" altLang="zh-CN" sz="1800" dirty="0"/>
              <a:t>+</a:t>
            </a:r>
            <a:r>
              <a:rPr lang="zh-CN" altLang="en-US" sz="1800" dirty="0"/>
              <a:t>短信认证码），可以采用两种方式对租户管理员进行认证。</a:t>
            </a:r>
            <a:endParaRPr lang="en-US" altLang="zh-CN" sz="1800" dirty="0"/>
          </a:p>
          <a:p>
            <a:pPr lvl="1"/>
            <a:r>
              <a:rPr lang="zh-CN" altLang="en-US" sz="1600" dirty="0"/>
              <a:t>本地认证：租户管理员登录</a:t>
            </a:r>
            <a:r>
              <a:rPr lang="en-US" altLang="zh-CN" sz="1600" dirty="0" err="1"/>
              <a:t>iMaster</a:t>
            </a:r>
            <a:r>
              <a:rPr lang="en-US" altLang="zh-CN" sz="1600" dirty="0"/>
              <a:t> NCE</a:t>
            </a:r>
            <a:r>
              <a:rPr lang="zh-CN" altLang="en-US" sz="1600" dirty="0"/>
              <a:t>时，</a:t>
            </a:r>
            <a:r>
              <a:rPr lang="en-US" altLang="zh-CN" sz="1600" dirty="0"/>
              <a:t> </a:t>
            </a:r>
            <a:r>
              <a:rPr lang="en-US" altLang="zh-CN" sz="1600" dirty="0" err="1"/>
              <a:t>iMaster</a:t>
            </a:r>
            <a:r>
              <a:rPr lang="en-US" altLang="zh-CN" sz="1600" dirty="0"/>
              <a:t> NCE</a:t>
            </a:r>
            <a:r>
              <a:rPr lang="zh-CN" altLang="en-US" sz="1600" dirty="0"/>
              <a:t>对租户管理员进行认证。</a:t>
            </a:r>
            <a:endParaRPr lang="en-US" altLang="zh-CN" sz="1600" dirty="0"/>
          </a:p>
          <a:p>
            <a:pPr lvl="1"/>
            <a:r>
              <a:rPr lang="en-US" sz="1600" dirty="0"/>
              <a:t>LDAP</a:t>
            </a:r>
            <a:r>
              <a:rPr lang="zh-CN" altLang="en-US" sz="1600" dirty="0"/>
              <a:t>服务器认证：</a:t>
            </a:r>
            <a:r>
              <a:rPr lang="en-US" altLang="zh-CN" sz="1600" dirty="0" err="1"/>
              <a:t>iMaster</a:t>
            </a:r>
            <a:r>
              <a:rPr lang="en-US" altLang="zh-CN" sz="1600" dirty="0"/>
              <a:t> NCE</a:t>
            </a:r>
            <a:r>
              <a:rPr lang="zh-CN" altLang="en-US" sz="1600" dirty="0"/>
              <a:t>对接</a:t>
            </a:r>
            <a:r>
              <a:rPr lang="en-US" altLang="zh-CN" sz="1600" dirty="0"/>
              <a:t>LDAP</a:t>
            </a:r>
            <a:r>
              <a:rPr lang="zh-CN" altLang="en-US" sz="1600" dirty="0"/>
              <a:t>服务器（通用的</a:t>
            </a:r>
            <a:r>
              <a:rPr lang="en-US" altLang="zh-CN" sz="1600" dirty="0"/>
              <a:t>LDAP</a:t>
            </a:r>
            <a:r>
              <a:rPr lang="zh-CN" altLang="en-US" sz="1600" dirty="0"/>
              <a:t>服务器、</a:t>
            </a:r>
            <a:r>
              <a:rPr lang="en-US" altLang="zh-CN" sz="1600" dirty="0"/>
              <a:t>Windows AD</a:t>
            </a:r>
            <a:r>
              <a:rPr lang="zh-CN" altLang="en-US" sz="1600" dirty="0"/>
              <a:t>服务器）。租户管理员登录</a:t>
            </a:r>
            <a:r>
              <a:rPr lang="en-US" altLang="zh-CN" sz="1600" dirty="0" err="1"/>
              <a:t>iMaster</a:t>
            </a:r>
            <a:r>
              <a:rPr lang="en-US" altLang="zh-CN" sz="1600" dirty="0"/>
              <a:t> NCE</a:t>
            </a:r>
            <a:r>
              <a:rPr lang="zh-CN" altLang="en-US" sz="1600" dirty="0"/>
              <a:t>时，</a:t>
            </a:r>
            <a:r>
              <a:rPr lang="en-US" altLang="zh-CN" sz="1600" dirty="0"/>
              <a:t>LDAP</a:t>
            </a:r>
            <a:r>
              <a:rPr lang="zh-CN" altLang="en-US" sz="1600" dirty="0"/>
              <a:t>服务器对租户管理员进行认证。</a:t>
            </a:r>
            <a:endParaRPr lang="en-US" altLang="zh-CN" sz="1600" dirty="0"/>
          </a:p>
          <a:p>
            <a:r>
              <a:rPr lang="zh-CN" altLang="en-US" sz="1800" dirty="0"/>
              <a:t>设备管理员通过命令行方式登录</a:t>
            </a:r>
            <a:r>
              <a:rPr lang="en-US" altLang="zh-CN" sz="1800" dirty="0"/>
              <a:t>EDGE</a:t>
            </a:r>
            <a:r>
              <a:rPr lang="zh-CN" altLang="en-US" sz="1800" dirty="0"/>
              <a:t>时，可以采用两种方式对设备管理员进行认证。</a:t>
            </a:r>
            <a:endParaRPr lang="en-US" altLang="zh-CN" sz="1800" dirty="0"/>
          </a:p>
          <a:p>
            <a:pPr lvl="1"/>
            <a:r>
              <a:rPr lang="zh-CN" altLang="en-US" sz="1600" dirty="0"/>
              <a:t>本地认证：租户管理员可以在</a:t>
            </a:r>
            <a:r>
              <a:rPr lang="en-US" altLang="zh-CN" sz="1600" dirty="0" err="1"/>
              <a:t>iMaster</a:t>
            </a:r>
            <a:r>
              <a:rPr lang="en-US" altLang="zh-CN" sz="1600" dirty="0"/>
              <a:t> NCE</a:t>
            </a:r>
            <a:r>
              <a:rPr lang="zh-CN" altLang="en-US" sz="1600" dirty="0"/>
              <a:t>上统一设置设备管理员的密码下发给</a:t>
            </a:r>
            <a:r>
              <a:rPr lang="en-US" altLang="zh-CN" sz="1600" dirty="0"/>
              <a:t>EDGE</a:t>
            </a:r>
            <a:r>
              <a:rPr lang="zh-CN" altLang="en-US" sz="1600" dirty="0"/>
              <a:t>。设备管理员登录</a:t>
            </a:r>
            <a:r>
              <a:rPr lang="en-US" altLang="zh-CN" sz="1600" dirty="0"/>
              <a:t>EDGE</a:t>
            </a:r>
            <a:r>
              <a:rPr lang="zh-CN" altLang="en-US" sz="1600" dirty="0"/>
              <a:t>时，由</a:t>
            </a:r>
            <a:r>
              <a:rPr lang="en-US" altLang="zh-CN" sz="1600" dirty="0"/>
              <a:t>EDGE</a:t>
            </a:r>
            <a:r>
              <a:rPr lang="zh-CN" altLang="en-US" sz="1600" dirty="0"/>
              <a:t>对设备管理员进行认证。</a:t>
            </a:r>
            <a:endParaRPr lang="en-US" altLang="zh-CN" sz="1600" dirty="0"/>
          </a:p>
          <a:p>
            <a:pPr lvl="1"/>
            <a:r>
              <a:rPr lang="en-US" sz="1600" dirty="0"/>
              <a:t>TACACS</a:t>
            </a:r>
            <a:r>
              <a:rPr lang="zh-CN" altLang="en-US" sz="1600" dirty="0"/>
              <a:t>认证：</a:t>
            </a:r>
            <a:r>
              <a:rPr lang="en-US" altLang="zh-CN" sz="1600" dirty="0"/>
              <a:t>EDGE</a:t>
            </a:r>
            <a:r>
              <a:rPr lang="zh-CN" altLang="en-US" sz="1600" dirty="0"/>
              <a:t>通过</a:t>
            </a:r>
            <a:r>
              <a:rPr lang="en-US" altLang="zh-CN" sz="1600" dirty="0"/>
              <a:t>Underlay</a:t>
            </a:r>
            <a:r>
              <a:rPr lang="zh-CN" altLang="en-US" sz="1600" dirty="0"/>
              <a:t>对接</a:t>
            </a:r>
            <a:r>
              <a:rPr lang="en-US" altLang="zh-CN" sz="1600" dirty="0"/>
              <a:t>TACACS</a:t>
            </a:r>
            <a:r>
              <a:rPr lang="zh-CN" altLang="en-US" sz="1600" dirty="0"/>
              <a:t>服务器。设备管理员登录</a:t>
            </a:r>
            <a:r>
              <a:rPr lang="en-US" altLang="zh-CN" sz="1600" dirty="0"/>
              <a:t>EDGE</a:t>
            </a:r>
            <a:r>
              <a:rPr lang="zh-CN" altLang="en-US" sz="1600" dirty="0"/>
              <a:t>时，</a:t>
            </a:r>
            <a:r>
              <a:rPr lang="en-US" altLang="zh-CN" sz="1600" dirty="0"/>
              <a:t>TACACS</a:t>
            </a:r>
            <a:r>
              <a:rPr lang="zh-CN" altLang="en-US" sz="1600" dirty="0"/>
              <a:t>服务器对设备管理员进行认证。</a:t>
            </a:r>
            <a:endParaRPr lang="en-US" sz="1600" dirty="0"/>
          </a:p>
        </p:txBody>
      </p:sp>
      <p:sp>
        <p:nvSpPr>
          <p:cNvPr id="6" name="五边形 2">
            <a:extLst>
              <a:ext uri="{FF2B5EF4-FFF2-40B4-BE49-F238E27FC236}">
                <a16:creationId xmlns:a16="http://schemas.microsoft.com/office/drawing/2014/main" id="{2AEBA1D2-61EE-468D-96BC-06E78DAE273F}"/>
              </a:ext>
            </a:extLst>
          </p:cNvPr>
          <p:cNvSpPr/>
          <p:nvPr/>
        </p:nvSpPr>
        <p:spPr bwMode="gray">
          <a:xfrm>
            <a:off x="9605614" y="70638"/>
            <a:ext cx="105057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系统安全设计</a:t>
            </a:r>
          </a:p>
        </p:txBody>
      </p:sp>
      <p:sp>
        <p:nvSpPr>
          <p:cNvPr id="7" name="燕尾形 3">
            <a:extLst>
              <a:ext uri="{FF2B5EF4-FFF2-40B4-BE49-F238E27FC236}">
                <a16:creationId xmlns:a16="http://schemas.microsoft.com/office/drawing/2014/main" id="{8A55323B-42F3-4E87-B875-376598BEC43B}"/>
              </a:ext>
            </a:extLst>
          </p:cNvPr>
          <p:cNvSpPr/>
          <p:nvPr/>
        </p:nvSpPr>
        <p:spPr bwMode="gray">
          <a:xfrm>
            <a:off x="10586648" y="70638"/>
            <a:ext cx="116244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业务安全设计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3084096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864F6-0E92-46B8-8B3D-1F27C7566284}"/>
              </a:ext>
            </a:extLst>
          </p:cNvPr>
          <p:cNvSpPr>
            <a:spLocks noGrp="1"/>
          </p:cNvSpPr>
          <p:nvPr>
            <p:ph type="title"/>
          </p:nvPr>
        </p:nvSpPr>
        <p:spPr bwMode="gray"/>
        <p:txBody>
          <a:bodyPr/>
          <a:lstStyle/>
          <a:p>
            <a:r>
              <a:rPr lang="zh-CN" altLang="en-US" dirty="0"/>
              <a:t>系统安全设计：</a:t>
            </a:r>
            <a:r>
              <a:rPr lang="en-US" altLang="zh-CN" dirty="0"/>
              <a:t>EDGE</a:t>
            </a:r>
            <a:r>
              <a:rPr lang="zh-CN" altLang="en-US" dirty="0"/>
              <a:t>安全</a:t>
            </a:r>
            <a:endParaRPr lang="en-US" dirty="0"/>
          </a:p>
        </p:txBody>
      </p:sp>
      <p:sp>
        <p:nvSpPr>
          <p:cNvPr id="3" name="Text Placeholder 2">
            <a:extLst>
              <a:ext uri="{FF2B5EF4-FFF2-40B4-BE49-F238E27FC236}">
                <a16:creationId xmlns:a16="http://schemas.microsoft.com/office/drawing/2014/main" id="{D65531C1-DF1A-4E78-8327-B47D5A60CA26}"/>
              </a:ext>
            </a:extLst>
          </p:cNvPr>
          <p:cNvSpPr>
            <a:spLocks noGrp="1"/>
          </p:cNvSpPr>
          <p:nvPr>
            <p:ph type="body" sz="quarter" idx="10"/>
          </p:nvPr>
        </p:nvSpPr>
        <p:spPr bwMode="gray"/>
        <p:txBody>
          <a:bodyPr/>
          <a:lstStyle/>
          <a:p>
            <a:r>
              <a:rPr lang="en-US" altLang="zh-CN" sz="1800" dirty="0"/>
              <a:t>EDGE</a:t>
            </a:r>
            <a:r>
              <a:rPr lang="zh-CN" altLang="en-US" sz="1800" dirty="0"/>
              <a:t>自身要具备安全的系统架构，并支持多种安全防护措施，保证</a:t>
            </a:r>
            <a:r>
              <a:rPr lang="en-US" altLang="zh-CN" sz="1800" dirty="0"/>
              <a:t>EDGE</a:t>
            </a:r>
            <a:r>
              <a:rPr lang="zh-CN" altLang="en-US" sz="1800" dirty="0"/>
              <a:t>能够抵御各种安全威胁。</a:t>
            </a:r>
            <a:endParaRPr lang="en-US" altLang="zh-CN" sz="1800" dirty="0"/>
          </a:p>
          <a:p>
            <a:r>
              <a:rPr lang="en-US" altLang="zh-CN" sz="1800" dirty="0"/>
              <a:t>EDGE</a:t>
            </a:r>
            <a:r>
              <a:rPr lang="zh-CN" altLang="en-US" sz="1800" dirty="0"/>
              <a:t>在控制平面、管理平面和转发平面应具备多种安全防御能力，包括但不限于：</a:t>
            </a:r>
            <a:endParaRPr lang="en-US" altLang="zh-CN" sz="1800" dirty="0"/>
          </a:p>
          <a:p>
            <a:pPr lvl="1"/>
            <a:r>
              <a:rPr lang="zh-CN" altLang="en-US" sz="1600" dirty="0"/>
              <a:t>物理安全：</a:t>
            </a:r>
            <a:r>
              <a:rPr lang="en-US" altLang="zh-CN" sz="1600" dirty="0"/>
              <a:t>EDGE</a:t>
            </a:r>
            <a:r>
              <a:rPr lang="zh-CN" altLang="en-US" sz="1600" dirty="0"/>
              <a:t>应提供关闭业务不使用的端口、串口和服务的能力，防止从这些端口和服务遭到攻击。</a:t>
            </a:r>
            <a:endParaRPr lang="en-US" altLang="zh-CN" sz="1600" dirty="0"/>
          </a:p>
          <a:p>
            <a:pPr lvl="1"/>
            <a:r>
              <a:rPr lang="zh-CN" altLang="en-US" sz="1600" dirty="0"/>
              <a:t>数据安全：</a:t>
            </a:r>
            <a:r>
              <a:rPr lang="en-US" altLang="zh-CN" sz="1600" dirty="0"/>
              <a:t>EDGE</a:t>
            </a:r>
            <a:r>
              <a:rPr lang="zh-CN" altLang="en-US" sz="1600" dirty="0"/>
              <a:t>应具备对业务数据、用户名、密码等敏感信息进行加密保存的能力，防止敏感信息泄密。同时，为了防止非法的数据访问，应对数据的访问权限进行控制。</a:t>
            </a:r>
            <a:endParaRPr lang="en-US" altLang="zh-CN" sz="1600" dirty="0"/>
          </a:p>
          <a:p>
            <a:pPr lvl="1"/>
            <a:r>
              <a:rPr lang="zh-CN" altLang="en-US" sz="1600" dirty="0"/>
              <a:t>认证鉴权：</a:t>
            </a:r>
            <a:r>
              <a:rPr lang="en-US" altLang="zh-CN" sz="1600" dirty="0"/>
              <a:t>EDGE</a:t>
            </a:r>
            <a:r>
              <a:rPr lang="zh-CN" altLang="en-US" sz="1600" dirty="0"/>
              <a:t>应提供系统权限控制和账号权限管理能力，对登录行为进行严格的身份认证和权限控制，支持账号</a:t>
            </a:r>
            <a:r>
              <a:rPr lang="en-US" altLang="zh-CN" sz="1600" dirty="0"/>
              <a:t>/</a:t>
            </a:r>
            <a:r>
              <a:rPr lang="zh-CN" altLang="en-US" sz="1600" dirty="0"/>
              <a:t>密码保护、密码复杂度检查以及密码防暴力破解等机制。</a:t>
            </a:r>
            <a:endParaRPr lang="en-US" altLang="zh-CN" sz="1600" dirty="0"/>
          </a:p>
          <a:p>
            <a:pPr lvl="1"/>
            <a:r>
              <a:rPr lang="zh-CN" altLang="en-US" sz="1600" dirty="0"/>
              <a:t>防攻击：</a:t>
            </a:r>
            <a:r>
              <a:rPr lang="en-US" altLang="zh-CN" sz="1600" dirty="0"/>
              <a:t>EDGE</a:t>
            </a:r>
            <a:r>
              <a:rPr lang="zh-CN" altLang="en-US" sz="1600" dirty="0"/>
              <a:t>应具备防范各类网络攻击的能力，如防范</a:t>
            </a:r>
            <a:r>
              <a:rPr lang="en-US" altLang="zh-CN" sz="1600" dirty="0"/>
              <a:t>IP</a:t>
            </a:r>
            <a:r>
              <a:rPr lang="zh-CN" altLang="en-US" sz="1600" dirty="0"/>
              <a:t>泛洪攻击、 </a:t>
            </a:r>
            <a:r>
              <a:rPr lang="en-US" altLang="zh-CN" sz="1600" dirty="0"/>
              <a:t>ICMP</a:t>
            </a:r>
            <a:r>
              <a:rPr lang="zh-CN" altLang="en-US" sz="1600" dirty="0"/>
              <a:t>泛洪攻击、畸形报文攻击、分片报文攻击等。</a:t>
            </a:r>
            <a:endParaRPr lang="en-US" altLang="zh-CN" sz="1600" dirty="0"/>
          </a:p>
          <a:p>
            <a:pPr lvl="1"/>
            <a:r>
              <a:rPr lang="zh-CN" altLang="en-US" sz="1600" dirty="0"/>
              <a:t>安全审计：</a:t>
            </a:r>
            <a:r>
              <a:rPr lang="en-US" altLang="zh-CN" sz="1600" dirty="0"/>
              <a:t>EDGE</a:t>
            </a:r>
            <a:r>
              <a:rPr lang="zh-CN" altLang="en-US" sz="1600" dirty="0"/>
              <a:t>应具备完备的日志记录系统，保证对系统的任何配置操作、系统运行过程中的各种异常状态都能够记录，便于事后审计。</a:t>
            </a:r>
            <a:endParaRPr lang="en-US" sz="1600" dirty="0"/>
          </a:p>
        </p:txBody>
      </p:sp>
      <p:sp>
        <p:nvSpPr>
          <p:cNvPr id="6" name="五边形 2">
            <a:extLst>
              <a:ext uri="{FF2B5EF4-FFF2-40B4-BE49-F238E27FC236}">
                <a16:creationId xmlns:a16="http://schemas.microsoft.com/office/drawing/2014/main" id="{2AEBA1D2-61EE-468D-96BC-06E78DAE273F}"/>
              </a:ext>
            </a:extLst>
          </p:cNvPr>
          <p:cNvSpPr/>
          <p:nvPr/>
        </p:nvSpPr>
        <p:spPr bwMode="gray">
          <a:xfrm>
            <a:off x="9605614" y="70638"/>
            <a:ext cx="105057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系统安全设计</a:t>
            </a:r>
          </a:p>
        </p:txBody>
      </p:sp>
      <p:sp>
        <p:nvSpPr>
          <p:cNvPr id="7" name="燕尾形 3">
            <a:extLst>
              <a:ext uri="{FF2B5EF4-FFF2-40B4-BE49-F238E27FC236}">
                <a16:creationId xmlns:a16="http://schemas.microsoft.com/office/drawing/2014/main" id="{8A55323B-42F3-4E87-B875-376598BEC43B}"/>
              </a:ext>
            </a:extLst>
          </p:cNvPr>
          <p:cNvSpPr/>
          <p:nvPr/>
        </p:nvSpPr>
        <p:spPr bwMode="gray">
          <a:xfrm>
            <a:off x="10586648" y="70638"/>
            <a:ext cx="116244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业务安全设计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1847376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Freeform 159">
            <a:extLst>
              <a:ext uri="{FF2B5EF4-FFF2-40B4-BE49-F238E27FC236}">
                <a16:creationId xmlns:a16="http://schemas.microsoft.com/office/drawing/2014/main" id="{01D05192-F4E1-4094-AF8A-EC166D471411}"/>
              </a:ext>
            </a:extLst>
          </p:cNvPr>
          <p:cNvSpPr/>
          <p:nvPr/>
        </p:nvSpPr>
        <p:spPr bwMode="gray">
          <a:xfrm flipH="1">
            <a:off x="6590803" y="2525601"/>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67" name="Freeform 159">
            <a:extLst>
              <a:ext uri="{FF2B5EF4-FFF2-40B4-BE49-F238E27FC236}">
                <a16:creationId xmlns:a16="http://schemas.microsoft.com/office/drawing/2014/main" id="{A2D28C74-33F8-4546-8979-D8DE955F2914}"/>
              </a:ext>
            </a:extLst>
          </p:cNvPr>
          <p:cNvSpPr/>
          <p:nvPr/>
        </p:nvSpPr>
        <p:spPr bwMode="gray">
          <a:xfrm flipH="1">
            <a:off x="8623977" y="2484044"/>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BEE9EE"/>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68" name="Freeform 159">
            <a:extLst>
              <a:ext uri="{FF2B5EF4-FFF2-40B4-BE49-F238E27FC236}">
                <a16:creationId xmlns:a16="http://schemas.microsoft.com/office/drawing/2014/main" id="{1D11B5EC-7F99-4CC7-98FC-16CFB8822EEF}"/>
              </a:ext>
            </a:extLst>
          </p:cNvPr>
          <p:cNvSpPr/>
          <p:nvPr/>
        </p:nvSpPr>
        <p:spPr bwMode="gray">
          <a:xfrm flipH="1">
            <a:off x="6685631" y="4527809"/>
            <a:ext cx="919503" cy="4806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159">
            <a:extLst>
              <a:ext uri="{FF2B5EF4-FFF2-40B4-BE49-F238E27FC236}">
                <a16:creationId xmlns:a16="http://schemas.microsoft.com/office/drawing/2014/main" id="{70702144-A1A1-41DA-B963-8ABB694B5271}"/>
              </a:ext>
            </a:extLst>
          </p:cNvPr>
          <p:cNvSpPr/>
          <p:nvPr/>
        </p:nvSpPr>
        <p:spPr bwMode="gray">
          <a:xfrm flipH="1">
            <a:off x="8728136" y="4531541"/>
            <a:ext cx="919503" cy="4806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圆角矩形 23">
            <a:extLst>
              <a:ext uri="{FF2B5EF4-FFF2-40B4-BE49-F238E27FC236}">
                <a16:creationId xmlns:a16="http://schemas.microsoft.com/office/drawing/2014/main" id="{27BBA45C-09AF-49BB-BBF4-71D0EA91AC64}"/>
              </a:ext>
            </a:extLst>
          </p:cNvPr>
          <p:cNvSpPr/>
          <p:nvPr/>
        </p:nvSpPr>
        <p:spPr bwMode="gray">
          <a:xfrm>
            <a:off x="770715" y="2364111"/>
            <a:ext cx="5242972" cy="3692714"/>
          </a:xfrm>
          <a:prstGeom prst="roundRect">
            <a:avLst>
              <a:gd name="adj" fmla="val 2222"/>
            </a:avLst>
          </a:prstGeom>
          <a:no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en-US" altLang="zh-CN" sz="1600" dirty="0">
              <a:solidFill>
                <a:schemeClr val="tx1"/>
              </a:solidFill>
            </a:endParaRPr>
          </a:p>
          <a:p>
            <a:pPr marL="85725">
              <a:lnSpc>
                <a:spcPts val="2400"/>
              </a:lnSpc>
              <a:spcAft>
                <a:spcPts val="600"/>
              </a:spcAft>
            </a:pPr>
            <a:endParaRPr lang="en-US" altLang="zh-CN" sz="1600" dirty="0">
              <a:solidFill>
                <a:schemeClr val="tx1"/>
              </a:solidFill>
            </a:endParaRPr>
          </a:p>
          <a:p>
            <a:pPr marL="85725">
              <a:lnSpc>
                <a:spcPts val="2400"/>
              </a:lnSpc>
              <a:spcAft>
                <a:spcPts val="600"/>
              </a:spcAft>
            </a:pPr>
            <a:endParaRPr lang="en-US" altLang="zh-CN" sz="1600" dirty="0">
              <a:solidFill>
                <a:schemeClr val="tx1"/>
              </a:solidFill>
            </a:endParaRPr>
          </a:p>
          <a:p>
            <a:pPr marL="85725">
              <a:lnSpc>
                <a:spcPts val="2400"/>
              </a:lnSpc>
              <a:spcAft>
                <a:spcPts val="600"/>
              </a:spcAft>
            </a:pPr>
            <a:endParaRPr lang="en-US" altLang="zh-CN" sz="1600" dirty="0">
              <a:solidFill>
                <a:schemeClr val="tx1"/>
              </a:solidFill>
            </a:endParaRPr>
          </a:p>
          <a:p>
            <a:pPr marL="85725">
              <a:lnSpc>
                <a:spcPts val="2400"/>
              </a:lnSpc>
              <a:spcAft>
                <a:spcPts val="600"/>
              </a:spcAft>
            </a:pPr>
            <a:endParaRPr lang="en-US" altLang="zh-CN" sz="1600" dirty="0">
              <a:solidFill>
                <a:schemeClr val="tx1"/>
              </a:solidFill>
            </a:endParaRPr>
          </a:p>
          <a:p>
            <a:pPr marL="85725">
              <a:lnSpc>
                <a:spcPts val="2400"/>
              </a:lnSpc>
              <a:spcAft>
                <a:spcPts val="600"/>
              </a:spcAft>
            </a:pPr>
            <a:endParaRPr lang="en-US" altLang="zh-CN" sz="1600" dirty="0">
              <a:solidFill>
                <a:schemeClr val="tx1"/>
              </a:solidFill>
            </a:endParaRPr>
          </a:p>
          <a:p>
            <a:pPr marL="85725">
              <a:lnSpc>
                <a:spcPts val="2400"/>
              </a:lnSpc>
              <a:spcAft>
                <a:spcPts val="600"/>
              </a:spcAft>
            </a:pPr>
            <a:endParaRPr lang="en-US" altLang="zh-CN" sz="16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所有分支站点的上网流量都绕行至总部站点后访问</a:t>
            </a:r>
            <a:r>
              <a:rPr lang="en-US" altLang="zh-CN" sz="1400" dirty="0">
                <a:solidFill>
                  <a:schemeClr val="tx1"/>
                </a:solidFill>
              </a:rPr>
              <a:t>Internet</a:t>
            </a:r>
            <a:r>
              <a:rPr lang="zh-CN" altLang="en-US" sz="1400" dirty="0">
                <a:solidFill>
                  <a:schemeClr val="tx1"/>
                </a:solidFill>
              </a:rPr>
              <a:t>。在总部站点的</a:t>
            </a:r>
            <a:r>
              <a:rPr lang="en-US" altLang="zh-CN" sz="1400" dirty="0">
                <a:solidFill>
                  <a:schemeClr val="tx1"/>
                </a:solidFill>
              </a:rPr>
              <a:t>EDGE</a:t>
            </a:r>
            <a:r>
              <a:rPr lang="zh-CN" altLang="en-US" sz="1400" dirty="0">
                <a:solidFill>
                  <a:schemeClr val="tx1"/>
                </a:solidFill>
              </a:rPr>
              <a:t>上启用防火墙功能，隔离内外部网络。</a:t>
            </a:r>
          </a:p>
        </p:txBody>
      </p:sp>
      <p:sp>
        <p:nvSpPr>
          <p:cNvPr id="2" name="Title 1">
            <a:extLst>
              <a:ext uri="{FF2B5EF4-FFF2-40B4-BE49-F238E27FC236}">
                <a16:creationId xmlns:a16="http://schemas.microsoft.com/office/drawing/2014/main" id="{E03864F6-0E92-46B8-8B3D-1F27C7566284}"/>
              </a:ext>
            </a:extLst>
          </p:cNvPr>
          <p:cNvSpPr>
            <a:spLocks noGrp="1"/>
          </p:cNvSpPr>
          <p:nvPr>
            <p:ph type="title"/>
          </p:nvPr>
        </p:nvSpPr>
        <p:spPr bwMode="gray"/>
        <p:txBody>
          <a:bodyPr/>
          <a:lstStyle/>
          <a:p>
            <a:r>
              <a:rPr lang="zh-CN" altLang="en-US" dirty="0"/>
              <a:t>业务安全设计：访问互联网安全</a:t>
            </a:r>
            <a:endParaRPr lang="en-US" dirty="0"/>
          </a:p>
        </p:txBody>
      </p:sp>
      <p:sp>
        <p:nvSpPr>
          <p:cNvPr id="3" name="Text Placeholder 2">
            <a:extLst>
              <a:ext uri="{FF2B5EF4-FFF2-40B4-BE49-F238E27FC236}">
                <a16:creationId xmlns:a16="http://schemas.microsoft.com/office/drawing/2014/main" id="{D65531C1-DF1A-4E78-8327-B47D5A60CA26}"/>
              </a:ext>
            </a:extLst>
          </p:cNvPr>
          <p:cNvSpPr>
            <a:spLocks noGrp="1"/>
          </p:cNvSpPr>
          <p:nvPr>
            <p:ph type="body" sz="quarter" idx="10"/>
          </p:nvPr>
        </p:nvSpPr>
        <p:spPr bwMode="gray"/>
        <p:txBody>
          <a:bodyPr/>
          <a:lstStyle/>
          <a:p>
            <a:r>
              <a:rPr lang="en-US" altLang="zh-CN" sz="1800" dirty="0"/>
              <a:t>SD-WAN</a:t>
            </a:r>
            <a:r>
              <a:rPr lang="zh-CN" altLang="en-US" sz="1800" dirty="0"/>
              <a:t>解决方案通过</a:t>
            </a:r>
            <a:r>
              <a:rPr lang="en-US" altLang="zh-CN" sz="1800" dirty="0"/>
              <a:t>EDGE</a:t>
            </a:r>
            <a:r>
              <a:rPr lang="zh-CN" altLang="en-US" sz="1800" dirty="0"/>
              <a:t>内置的安全能力来提供业务安全保证，包括</a:t>
            </a:r>
            <a:r>
              <a:rPr lang="en-US" altLang="zh-CN" sz="1800" dirty="0"/>
              <a:t>ACL</a:t>
            </a:r>
            <a:r>
              <a:rPr lang="zh-CN" altLang="en-US" sz="1800" dirty="0"/>
              <a:t>过滤、防火墙、</a:t>
            </a:r>
            <a:r>
              <a:rPr lang="en-US" altLang="zh-CN" sz="1800" dirty="0"/>
              <a:t>IPS</a:t>
            </a:r>
            <a:r>
              <a:rPr lang="zh-CN" altLang="en-US" sz="1800" dirty="0"/>
              <a:t>以及</a:t>
            </a:r>
            <a:r>
              <a:rPr lang="en-US" altLang="zh-CN" sz="1800" dirty="0"/>
              <a:t>URL</a:t>
            </a:r>
            <a:r>
              <a:rPr lang="zh-CN" altLang="en-US" sz="1800" dirty="0"/>
              <a:t>过滤，满足不同场景下的业务安全需求。</a:t>
            </a:r>
            <a:endParaRPr lang="en-US" altLang="zh-CN" sz="1800" dirty="0"/>
          </a:p>
        </p:txBody>
      </p:sp>
      <p:cxnSp>
        <p:nvCxnSpPr>
          <p:cNvPr id="6" name="直接连接符 46">
            <a:extLst>
              <a:ext uri="{FF2B5EF4-FFF2-40B4-BE49-F238E27FC236}">
                <a16:creationId xmlns:a16="http://schemas.microsoft.com/office/drawing/2014/main" id="{73755912-CB61-415F-9AA3-A508257627D3}"/>
              </a:ext>
            </a:extLst>
          </p:cNvPr>
          <p:cNvCxnSpPr>
            <a:endCxn id="14" idx="0"/>
          </p:cNvCxnSpPr>
          <p:nvPr/>
        </p:nvCxnSpPr>
        <p:spPr bwMode="gray">
          <a:xfrm>
            <a:off x="1743122" y="3150052"/>
            <a:ext cx="0" cy="105512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49">
            <a:extLst>
              <a:ext uri="{FF2B5EF4-FFF2-40B4-BE49-F238E27FC236}">
                <a16:creationId xmlns:a16="http://schemas.microsoft.com/office/drawing/2014/main" id="{B8733799-FE0D-426D-A23E-95407F5D3390}"/>
              </a:ext>
            </a:extLst>
          </p:cNvPr>
          <p:cNvCxnSpPr>
            <a:endCxn id="14" idx="0"/>
          </p:cNvCxnSpPr>
          <p:nvPr/>
        </p:nvCxnSpPr>
        <p:spPr bwMode="gray">
          <a:xfrm flipH="1">
            <a:off x="1743122" y="3150052"/>
            <a:ext cx="2015792" cy="105512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51">
            <a:extLst>
              <a:ext uri="{FF2B5EF4-FFF2-40B4-BE49-F238E27FC236}">
                <a16:creationId xmlns:a16="http://schemas.microsoft.com/office/drawing/2014/main" id="{8F1B4ECA-AB67-4B0C-A44E-48F05F9B4148}"/>
              </a:ext>
            </a:extLst>
          </p:cNvPr>
          <p:cNvCxnSpPr>
            <a:stCxn id="21" idx="0"/>
          </p:cNvCxnSpPr>
          <p:nvPr/>
        </p:nvCxnSpPr>
        <p:spPr bwMode="gray">
          <a:xfrm flipH="1" flipV="1">
            <a:off x="1760986" y="3165669"/>
            <a:ext cx="2003321" cy="103904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53">
            <a:extLst>
              <a:ext uri="{FF2B5EF4-FFF2-40B4-BE49-F238E27FC236}">
                <a16:creationId xmlns:a16="http://schemas.microsoft.com/office/drawing/2014/main" id="{81C6CEFF-0236-4545-AD49-E2B5169106DB}"/>
              </a:ext>
            </a:extLst>
          </p:cNvPr>
          <p:cNvCxnSpPr>
            <a:stCxn id="21" idx="0"/>
          </p:cNvCxnSpPr>
          <p:nvPr/>
        </p:nvCxnSpPr>
        <p:spPr bwMode="gray">
          <a:xfrm flipV="1">
            <a:off x="3764307" y="3135959"/>
            <a:ext cx="1255" cy="106875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圆角矩形 14">
            <a:extLst>
              <a:ext uri="{FF2B5EF4-FFF2-40B4-BE49-F238E27FC236}">
                <a16:creationId xmlns:a16="http://schemas.microsoft.com/office/drawing/2014/main" id="{BE50E424-447A-4AAA-A48E-46389832A6E4}"/>
              </a:ext>
            </a:extLst>
          </p:cNvPr>
          <p:cNvSpPr/>
          <p:nvPr/>
        </p:nvSpPr>
        <p:spPr bwMode="gray">
          <a:xfrm>
            <a:off x="6142182" y="1928145"/>
            <a:ext cx="5242970" cy="400674"/>
          </a:xfrm>
          <a:prstGeom prst="roundRect">
            <a:avLst>
              <a:gd name="adj" fmla="val 1462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本地上网场景</a:t>
            </a:r>
          </a:p>
        </p:txBody>
      </p:sp>
      <p:sp>
        <p:nvSpPr>
          <p:cNvPr id="16" name="圆角矩形 15">
            <a:extLst>
              <a:ext uri="{FF2B5EF4-FFF2-40B4-BE49-F238E27FC236}">
                <a16:creationId xmlns:a16="http://schemas.microsoft.com/office/drawing/2014/main" id="{92B5A8F5-1EE9-408C-9DEC-906BD9BFE92A}"/>
              </a:ext>
            </a:extLst>
          </p:cNvPr>
          <p:cNvSpPr/>
          <p:nvPr/>
        </p:nvSpPr>
        <p:spPr bwMode="gray">
          <a:xfrm>
            <a:off x="6142181" y="2364111"/>
            <a:ext cx="5242972" cy="3692714"/>
          </a:xfrm>
          <a:prstGeom prst="roundRect">
            <a:avLst>
              <a:gd name="adj" fmla="val 2222"/>
            </a:avLst>
          </a:prstGeom>
          <a:no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en-US" altLang="zh-CN" sz="1600" dirty="0">
              <a:solidFill>
                <a:schemeClr val="tx1">
                  <a:lumMod val="75000"/>
                  <a:lumOff val="25000"/>
                </a:schemeClr>
              </a:solidFill>
            </a:endParaRPr>
          </a:p>
          <a:p>
            <a:pPr marL="85725">
              <a:lnSpc>
                <a:spcPts val="2400"/>
              </a:lnSpc>
              <a:spcAft>
                <a:spcPts val="600"/>
              </a:spcAft>
            </a:pPr>
            <a:endParaRPr lang="en-US" altLang="zh-CN" sz="1600" dirty="0">
              <a:solidFill>
                <a:schemeClr val="tx1">
                  <a:lumMod val="75000"/>
                  <a:lumOff val="25000"/>
                </a:schemeClr>
              </a:solidFill>
            </a:endParaRPr>
          </a:p>
          <a:p>
            <a:pPr marL="85725">
              <a:lnSpc>
                <a:spcPts val="2400"/>
              </a:lnSpc>
              <a:spcAft>
                <a:spcPts val="600"/>
              </a:spcAft>
            </a:pPr>
            <a:endParaRPr lang="en-US" altLang="zh-CN" sz="1600" dirty="0">
              <a:solidFill>
                <a:schemeClr val="tx1">
                  <a:lumMod val="75000"/>
                  <a:lumOff val="25000"/>
                </a:schemeClr>
              </a:solidFill>
            </a:endParaRPr>
          </a:p>
          <a:p>
            <a:pPr marL="85725">
              <a:lnSpc>
                <a:spcPts val="2400"/>
              </a:lnSpc>
              <a:spcAft>
                <a:spcPts val="600"/>
              </a:spcAft>
            </a:pPr>
            <a:endParaRPr lang="en-US" altLang="zh-CN" sz="1600" dirty="0">
              <a:solidFill>
                <a:schemeClr val="tx1">
                  <a:lumMod val="75000"/>
                  <a:lumOff val="25000"/>
                </a:schemeClr>
              </a:solidFill>
            </a:endParaRPr>
          </a:p>
          <a:p>
            <a:pPr marL="85725">
              <a:lnSpc>
                <a:spcPts val="2400"/>
              </a:lnSpc>
              <a:spcAft>
                <a:spcPts val="600"/>
              </a:spcAft>
            </a:pPr>
            <a:endParaRPr lang="en-US" altLang="zh-CN" sz="1600" dirty="0">
              <a:solidFill>
                <a:schemeClr val="tx1">
                  <a:lumMod val="75000"/>
                  <a:lumOff val="25000"/>
                </a:schemeClr>
              </a:solidFill>
            </a:endParaRPr>
          </a:p>
          <a:p>
            <a:pPr marL="85725">
              <a:lnSpc>
                <a:spcPts val="2400"/>
              </a:lnSpc>
              <a:spcAft>
                <a:spcPts val="600"/>
              </a:spcAft>
            </a:pPr>
            <a:endParaRPr lang="en-US" altLang="zh-CN" sz="1600" dirty="0">
              <a:solidFill>
                <a:schemeClr val="tx1">
                  <a:lumMod val="75000"/>
                  <a:lumOff val="25000"/>
                </a:schemeClr>
              </a:solidFill>
            </a:endParaRPr>
          </a:p>
          <a:p>
            <a:pPr marL="85725">
              <a:lnSpc>
                <a:spcPts val="2400"/>
              </a:lnSpc>
              <a:spcAft>
                <a:spcPts val="600"/>
              </a:spcAft>
            </a:pPr>
            <a:endParaRPr lang="en-US" altLang="zh-CN" sz="1600" dirty="0">
              <a:solidFill>
                <a:schemeClr val="tx1">
                  <a:lumMod val="75000"/>
                  <a:lumOff val="25000"/>
                </a:schemeClr>
              </a:solidFill>
            </a:endParaRPr>
          </a:p>
          <a:p>
            <a:pPr marL="285750" indent="-200025">
              <a:lnSpc>
                <a:spcPts val="2600"/>
              </a:lnSpc>
              <a:spcAft>
                <a:spcPts val="600"/>
              </a:spcAft>
              <a:buFont typeface="Arial" panose="020B0604020202020204" pitchFamily="34" charset="0"/>
              <a:buChar char="•"/>
            </a:pPr>
            <a:r>
              <a:rPr lang="zh-CN" altLang="en-US" sz="1400" dirty="0">
                <a:solidFill>
                  <a:schemeClr val="tx1"/>
                </a:solidFill>
              </a:rPr>
              <a:t>分支站点和总部站点的上网流量从本地</a:t>
            </a:r>
            <a:r>
              <a:rPr lang="en-US" altLang="zh-CN" sz="1400" dirty="0">
                <a:solidFill>
                  <a:schemeClr val="tx1"/>
                </a:solidFill>
              </a:rPr>
              <a:t>EDGE</a:t>
            </a:r>
            <a:r>
              <a:rPr lang="zh-CN" altLang="en-US" sz="1400" dirty="0">
                <a:solidFill>
                  <a:schemeClr val="tx1"/>
                </a:solidFill>
              </a:rPr>
              <a:t>直接访问</a:t>
            </a:r>
            <a:r>
              <a:rPr lang="en-US" altLang="zh-CN" sz="1400" dirty="0">
                <a:solidFill>
                  <a:schemeClr val="tx1"/>
                </a:solidFill>
              </a:rPr>
              <a:t>Internet</a:t>
            </a:r>
            <a:r>
              <a:rPr lang="zh-CN" altLang="en-US" sz="1400" dirty="0">
                <a:solidFill>
                  <a:schemeClr val="tx1"/>
                </a:solidFill>
              </a:rPr>
              <a:t>。在分支站点和总部站点的</a:t>
            </a:r>
            <a:r>
              <a:rPr lang="en-US" altLang="zh-CN" sz="1400" dirty="0">
                <a:solidFill>
                  <a:schemeClr val="tx1"/>
                </a:solidFill>
              </a:rPr>
              <a:t>EDGE</a:t>
            </a:r>
            <a:r>
              <a:rPr lang="zh-CN" altLang="en-US" sz="1400" dirty="0">
                <a:solidFill>
                  <a:schemeClr val="tx1"/>
                </a:solidFill>
              </a:rPr>
              <a:t>上启用防火墙功能，隔离内外部网络。</a:t>
            </a:r>
          </a:p>
        </p:txBody>
      </p:sp>
      <p:sp>
        <p:nvSpPr>
          <p:cNvPr id="17" name="圆角矩形 22">
            <a:extLst>
              <a:ext uri="{FF2B5EF4-FFF2-40B4-BE49-F238E27FC236}">
                <a16:creationId xmlns:a16="http://schemas.microsoft.com/office/drawing/2014/main" id="{D7A400C3-BBC6-4A03-AC77-B215FC85110E}"/>
              </a:ext>
            </a:extLst>
          </p:cNvPr>
          <p:cNvSpPr/>
          <p:nvPr/>
        </p:nvSpPr>
        <p:spPr bwMode="gray">
          <a:xfrm>
            <a:off x="770716" y="1928145"/>
            <a:ext cx="5242970" cy="400674"/>
          </a:xfrm>
          <a:prstGeom prst="roundRect">
            <a:avLst>
              <a:gd name="adj" fmla="val 1462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集中上网场景</a:t>
            </a:r>
          </a:p>
        </p:txBody>
      </p:sp>
      <p:cxnSp>
        <p:nvCxnSpPr>
          <p:cNvPr id="22" name="直接连接符 58">
            <a:extLst>
              <a:ext uri="{FF2B5EF4-FFF2-40B4-BE49-F238E27FC236}">
                <a16:creationId xmlns:a16="http://schemas.microsoft.com/office/drawing/2014/main" id="{B0453C7C-36F5-411B-8CBE-2B1C419BA173}"/>
              </a:ext>
            </a:extLst>
          </p:cNvPr>
          <p:cNvCxnSpPr/>
          <p:nvPr/>
        </p:nvCxnSpPr>
        <p:spPr bwMode="gray">
          <a:xfrm flipH="1">
            <a:off x="7155725" y="3142788"/>
            <a:ext cx="9778" cy="129205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59">
            <a:extLst>
              <a:ext uri="{FF2B5EF4-FFF2-40B4-BE49-F238E27FC236}">
                <a16:creationId xmlns:a16="http://schemas.microsoft.com/office/drawing/2014/main" id="{F95A3B9A-4F14-45AE-BCBC-8E96CF4911A5}"/>
              </a:ext>
            </a:extLst>
          </p:cNvPr>
          <p:cNvCxnSpPr>
            <a:endCxn id="30" idx="0"/>
          </p:cNvCxnSpPr>
          <p:nvPr/>
        </p:nvCxnSpPr>
        <p:spPr bwMode="gray">
          <a:xfrm flipH="1">
            <a:off x="7155725" y="3101231"/>
            <a:ext cx="2021185" cy="110394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60">
            <a:extLst>
              <a:ext uri="{FF2B5EF4-FFF2-40B4-BE49-F238E27FC236}">
                <a16:creationId xmlns:a16="http://schemas.microsoft.com/office/drawing/2014/main" id="{248E7D8D-D311-4B57-9FB1-7E2D11A639CE}"/>
              </a:ext>
            </a:extLst>
          </p:cNvPr>
          <p:cNvCxnSpPr>
            <a:stCxn id="33" idx="0"/>
          </p:cNvCxnSpPr>
          <p:nvPr/>
        </p:nvCxnSpPr>
        <p:spPr bwMode="gray">
          <a:xfrm flipH="1" flipV="1">
            <a:off x="7174532" y="3142788"/>
            <a:ext cx="2002378" cy="106192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61">
            <a:extLst>
              <a:ext uri="{FF2B5EF4-FFF2-40B4-BE49-F238E27FC236}">
                <a16:creationId xmlns:a16="http://schemas.microsoft.com/office/drawing/2014/main" id="{A2445529-107F-498D-B644-54CA1023FE4F}"/>
              </a:ext>
            </a:extLst>
          </p:cNvPr>
          <p:cNvCxnSpPr>
            <a:stCxn id="33" idx="0"/>
          </p:cNvCxnSpPr>
          <p:nvPr/>
        </p:nvCxnSpPr>
        <p:spPr bwMode="gray">
          <a:xfrm flipV="1">
            <a:off x="9176910" y="3121104"/>
            <a:ext cx="9777" cy="1083612"/>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0" name="图片 66">
            <a:extLst>
              <a:ext uri="{FF2B5EF4-FFF2-40B4-BE49-F238E27FC236}">
                <a16:creationId xmlns:a16="http://schemas.microsoft.com/office/drawing/2014/main" id="{3DC6FB1C-E7F4-447D-9AFB-1A4768889BBC}"/>
              </a:ext>
            </a:extLst>
          </p:cNvPr>
          <p:cNvPicPr>
            <a:picLocks noChangeAspect="1"/>
          </p:cNvPicPr>
          <p:nvPr/>
        </p:nvPicPr>
        <p:blipFill>
          <a:blip r:embed="rId3"/>
          <a:stretch>
            <a:fillRect/>
          </a:stretch>
        </p:blipFill>
        <p:spPr bwMode="gray">
          <a:xfrm>
            <a:off x="6875169" y="4205179"/>
            <a:ext cx="561112" cy="461918"/>
          </a:xfrm>
          <a:prstGeom prst="rect">
            <a:avLst/>
          </a:prstGeom>
        </p:spPr>
      </p:pic>
      <p:pic>
        <p:nvPicPr>
          <p:cNvPr id="33" name="图片 69">
            <a:extLst>
              <a:ext uri="{FF2B5EF4-FFF2-40B4-BE49-F238E27FC236}">
                <a16:creationId xmlns:a16="http://schemas.microsoft.com/office/drawing/2014/main" id="{A8EE73DB-1B67-470E-8EEF-027A72CB70CC}"/>
              </a:ext>
            </a:extLst>
          </p:cNvPr>
          <p:cNvPicPr>
            <a:picLocks noChangeAspect="1"/>
          </p:cNvPicPr>
          <p:nvPr/>
        </p:nvPicPr>
        <p:blipFill>
          <a:blip r:embed="rId3"/>
          <a:stretch>
            <a:fillRect/>
          </a:stretch>
        </p:blipFill>
        <p:spPr bwMode="gray">
          <a:xfrm>
            <a:off x="8896354" y="4204716"/>
            <a:ext cx="561112" cy="461918"/>
          </a:xfrm>
          <a:prstGeom prst="rect">
            <a:avLst/>
          </a:prstGeom>
        </p:spPr>
      </p:pic>
      <p:cxnSp>
        <p:nvCxnSpPr>
          <p:cNvPr id="37" name="直接连接符 79">
            <a:extLst>
              <a:ext uri="{FF2B5EF4-FFF2-40B4-BE49-F238E27FC236}">
                <a16:creationId xmlns:a16="http://schemas.microsoft.com/office/drawing/2014/main" id="{01856347-E950-4672-B4A7-F509EF157EE0}"/>
              </a:ext>
            </a:extLst>
          </p:cNvPr>
          <p:cNvCxnSpPr/>
          <p:nvPr/>
        </p:nvCxnSpPr>
        <p:spPr bwMode="gray">
          <a:xfrm>
            <a:off x="4235398" y="3377291"/>
            <a:ext cx="481517" cy="0"/>
          </a:xfrm>
          <a:prstGeom prst="line">
            <a:avLst/>
          </a:prstGeom>
          <a:ln w="28575">
            <a:solidFill>
              <a:srgbClr val="E28189"/>
            </a:solidFill>
          </a:ln>
        </p:spPr>
        <p:style>
          <a:lnRef idx="1">
            <a:schemeClr val="accent1"/>
          </a:lnRef>
          <a:fillRef idx="0">
            <a:schemeClr val="accent1"/>
          </a:fillRef>
          <a:effectRef idx="0">
            <a:schemeClr val="accent1"/>
          </a:effectRef>
          <a:fontRef idx="minor">
            <a:schemeClr val="tx1"/>
          </a:fontRef>
        </p:style>
      </p:cxnSp>
      <p:cxnSp>
        <p:nvCxnSpPr>
          <p:cNvPr id="38" name="直接连接符 81">
            <a:extLst>
              <a:ext uri="{FF2B5EF4-FFF2-40B4-BE49-F238E27FC236}">
                <a16:creationId xmlns:a16="http://schemas.microsoft.com/office/drawing/2014/main" id="{4C956AF7-BDFA-437E-ADB7-A130E2C69953}"/>
              </a:ext>
            </a:extLst>
          </p:cNvPr>
          <p:cNvCxnSpPr/>
          <p:nvPr/>
        </p:nvCxnSpPr>
        <p:spPr bwMode="gray">
          <a:xfrm>
            <a:off x="4252331" y="3596864"/>
            <a:ext cx="481517" cy="0"/>
          </a:xfrm>
          <a:prstGeom prst="line">
            <a:avLst/>
          </a:prstGeom>
          <a:ln w="28575">
            <a:solidFill>
              <a:srgbClr val="E28189"/>
            </a:solidFill>
            <a:prstDash val="sysDash"/>
          </a:ln>
        </p:spPr>
        <p:style>
          <a:lnRef idx="1">
            <a:schemeClr val="accent1"/>
          </a:lnRef>
          <a:fillRef idx="0">
            <a:schemeClr val="accent1"/>
          </a:fillRef>
          <a:effectRef idx="0">
            <a:schemeClr val="accent1"/>
          </a:effectRef>
          <a:fontRef idx="minor">
            <a:schemeClr val="tx1"/>
          </a:fontRef>
        </p:style>
      </p:cxnSp>
      <p:sp>
        <p:nvSpPr>
          <p:cNvPr id="39" name="文本框 82">
            <a:extLst>
              <a:ext uri="{FF2B5EF4-FFF2-40B4-BE49-F238E27FC236}">
                <a16:creationId xmlns:a16="http://schemas.microsoft.com/office/drawing/2014/main" id="{37C0ABDB-9B9E-4CE2-BA35-38738AA45281}"/>
              </a:ext>
            </a:extLst>
          </p:cNvPr>
          <p:cNvSpPr txBox="1"/>
          <p:nvPr/>
        </p:nvSpPr>
        <p:spPr bwMode="gray">
          <a:xfrm>
            <a:off x="4722556" y="3234213"/>
            <a:ext cx="1090568" cy="276999"/>
          </a:xfrm>
          <a:prstGeom prst="rect">
            <a:avLst/>
          </a:prstGeom>
          <a:noFill/>
        </p:spPr>
        <p:txBody>
          <a:bodyPr wrap="square" rtlCol="0">
            <a:spAutoFit/>
          </a:bodyPr>
          <a:lstStyle/>
          <a:p>
            <a:pPr algn="ctr" defTabSz="914400" fontAlgn="base">
              <a:spcBef>
                <a:spcPct val="0"/>
              </a:spcBef>
              <a:spcAft>
                <a:spcPct val="0"/>
              </a:spcAft>
            </a:pPr>
            <a:r>
              <a:rPr lang="en-US" altLang="zh-CN" sz="1200" dirty="0">
                <a:solidFill>
                  <a:srgbClr val="000000"/>
                </a:solidFill>
              </a:rPr>
              <a:t>Overlay</a:t>
            </a:r>
            <a:r>
              <a:rPr lang="zh-CN" altLang="en-US" sz="1200" dirty="0">
                <a:solidFill>
                  <a:srgbClr val="000000"/>
                </a:solidFill>
              </a:rPr>
              <a:t>流量</a:t>
            </a:r>
            <a:endParaRPr lang="en-US" altLang="zh-CN" sz="1200" dirty="0">
              <a:solidFill>
                <a:srgbClr val="000000"/>
              </a:solidFill>
            </a:endParaRPr>
          </a:p>
        </p:txBody>
      </p:sp>
      <p:sp>
        <p:nvSpPr>
          <p:cNvPr id="40" name="文本框 83">
            <a:extLst>
              <a:ext uri="{FF2B5EF4-FFF2-40B4-BE49-F238E27FC236}">
                <a16:creationId xmlns:a16="http://schemas.microsoft.com/office/drawing/2014/main" id="{6B1F4BB5-457E-4C98-9B1D-FD5F858954C4}"/>
              </a:ext>
            </a:extLst>
          </p:cNvPr>
          <p:cNvSpPr txBox="1"/>
          <p:nvPr/>
        </p:nvSpPr>
        <p:spPr bwMode="gray">
          <a:xfrm>
            <a:off x="4720742" y="3464614"/>
            <a:ext cx="1211461" cy="276999"/>
          </a:xfrm>
          <a:prstGeom prst="rect">
            <a:avLst/>
          </a:prstGeom>
          <a:noFill/>
        </p:spPr>
        <p:txBody>
          <a:bodyPr wrap="square" rtlCol="0">
            <a:spAutoFit/>
          </a:bodyPr>
          <a:lstStyle/>
          <a:p>
            <a:pPr algn="ctr" defTabSz="914400" fontAlgn="base">
              <a:spcBef>
                <a:spcPct val="0"/>
              </a:spcBef>
              <a:spcAft>
                <a:spcPct val="0"/>
              </a:spcAft>
            </a:pPr>
            <a:r>
              <a:rPr lang="en-US" altLang="zh-CN" sz="1200" dirty="0">
                <a:solidFill>
                  <a:srgbClr val="000000"/>
                </a:solidFill>
              </a:rPr>
              <a:t>Underlay</a:t>
            </a:r>
            <a:r>
              <a:rPr lang="zh-CN" altLang="en-US" sz="1200" dirty="0">
                <a:solidFill>
                  <a:srgbClr val="000000"/>
                </a:solidFill>
              </a:rPr>
              <a:t>流量</a:t>
            </a:r>
          </a:p>
        </p:txBody>
      </p:sp>
      <p:sp>
        <p:nvSpPr>
          <p:cNvPr id="42" name="文本框 86">
            <a:extLst>
              <a:ext uri="{FF2B5EF4-FFF2-40B4-BE49-F238E27FC236}">
                <a16:creationId xmlns:a16="http://schemas.microsoft.com/office/drawing/2014/main" id="{949474EF-5382-489C-8366-F0360D81CC3A}"/>
              </a:ext>
            </a:extLst>
          </p:cNvPr>
          <p:cNvSpPr txBox="1"/>
          <p:nvPr/>
        </p:nvSpPr>
        <p:spPr bwMode="gray">
          <a:xfrm>
            <a:off x="868459" y="4226936"/>
            <a:ext cx="693518"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sp>
        <p:nvSpPr>
          <p:cNvPr id="43" name="文本框 87">
            <a:extLst>
              <a:ext uri="{FF2B5EF4-FFF2-40B4-BE49-F238E27FC236}">
                <a16:creationId xmlns:a16="http://schemas.microsoft.com/office/drawing/2014/main" id="{07234B6D-4C1F-4C51-B815-EEE041074F6D}"/>
              </a:ext>
            </a:extLst>
          </p:cNvPr>
          <p:cNvSpPr txBox="1"/>
          <p:nvPr/>
        </p:nvSpPr>
        <p:spPr bwMode="gray">
          <a:xfrm>
            <a:off x="2901374" y="4250987"/>
            <a:ext cx="693518"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sp>
        <p:nvSpPr>
          <p:cNvPr id="46" name="文本框 88">
            <a:extLst>
              <a:ext uri="{FF2B5EF4-FFF2-40B4-BE49-F238E27FC236}">
                <a16:creationId xmlns:a16="http://schemas.microsoft.com/office/drawing/2014/main" id="{DBF98291-B35D-4465-92C0-91CCBBD1CC11}"/>
              </a:ext>
            </a:extLst>
          </p:cNvPr>
          <p:cNvSpPr txBox="1"/>
          <p:nvPr/>
        </p:nvSpPr>
        <p:spPr bwMode="gray">
          <a:xfrm>
            <a:off x="6289327" y="4263039"/>
            <a:ext cx="693518"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sp>
        <p:nvSpPr>
          <p:cNvPr id="47" name="文本框 89">
            <a:extLst>
              <a:ext uri="{FF2B5EF4-FFF2-40B4-BE49-F238E27FC236}">
                <a16:creationId xmlns:a16="http://schemas.microsoft.com/office/drawing/2014/main" id="{7110DAAC-9D45-4706-9BE8-CA26C29DCFC0}"/>
              </a:ext>
            </a:extLst>
          </p:cNvPr>
          <p:cNvSpPr txBox="1"/>
          <p:nvPr/>
        </p:nvSpPr>
        <p:spPr bwMode="gray">
          <a:xfrm>
            <a:off x="9429262" y="4244877"/>
            <a:ext cx="693518"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cxnSp>
        <p:nvCxnSpPr>
          <p:cNvPr id="48" name="直接连接符 100">
            <a:extLst>
              <a:ext uri="{FF2B5EF4-FFF2-40B4-BE49-F238E27FC236}">
                <a16:creationId xmlns:a16="http://schemas.microsoft.com/office/drawing/2014/main" id="{D4FD99A5-8909-4CD4-8EF2-DA0BD530CFB9}"/>
              </a:ext>
            </a:extLst>
          </p:cNvPr>
          <p:cNvCxnSpPr/>
          <p:nvPr/>
        </p:nvCxnSpPr>
        <p:spPr bwMode="gray">
          <a:xfrm>
            <a:off x="9621202" y="3399762"/>
            <a:ext cx="481517" cy="0"/>
          </a:xfrm>
          <a:prstGeom prst="line">
            <a:avLst/>
          </a:prstGeom>
          <a:ln w="28575">
            <a:solidFill>
              <a:srgbClr val="E28189"/>
            </a:solidFill>
            <a:prstDash val="sysDash"/>
          </a:ln>
        </p:spPr>
        <p:style>
          <a:lnRef idx="1">
            <a:schemeClr val="accent1"/>
          </a:lnRef>
          <a:fillRef idx="0">
            <a:schemeClr val="accent1"/>
          </a:fillRef>
          <a:effectRef idx="0">
            <a:schemeClr val="accent1"/>
          </a:effectRef>
          <a:fontRef idx="minor">
            <a:schemeClr val="tx1"/>
          </a:fontRef>
        </p:style>
      </p:cxnSp>
      <p:sp>
        <p:nvSpPr>
          <p:cNvPr id="49" name="文本框 101">
            <a:extLst>
              <a:ext uri="{FF2B5EF4-FFF2-40B4-BE49-F238E27FC236}">
                <a16:creationId xmlns:a16="http://schemas.microsoft.com/office/drawing/2014/main" id="{E9EECC84-0CED-409B-90D6-DFE5D701CA9D}"/>
              </a:ext>
            </a:extLst>
          </p:cNvPr>
          <p:cNvSpPr txBox="1"/>
          <p:nvPr/>
        </p:nvSpPr>
        <p:spPr bwMode="gray">
          <a:xfrm>
            <a:off x="10089613" y="3267512"/>
            <a:ext cx="1211461" cy="276999"/>
          </a:xfrm>
          <a:prstGeom prst="rect">
            <a:avLst/>
          </a:prstGeom>
          <a:noFill/>
        </p:spPr>
        <p:txBody>
          <a:bodyPr wrap="square" rtlCol="0">
            <a:spAutoFit/>
          </a:bodyPr>
          <a:lstStyle/>
          <a:p>
            <a:pPr algn="ctr" defTabSz="914400" fontAlgn="base">
              <a:spcBef>
                <a:spcPct val="0"/>
              </a:spcBef>
              <a:spcAft>
                <a:spcPct val="0"/>
              </a:spcAft>
            </a:pPr>
            <a:r>
              <a:rPr lang="en-US" altLang="zh-CN" sz="1200" dirty="0">
                <a:solidFill>
                  <a:srgbClr val="000000"/>
                </a:solidFill>
              </a:rPr>
              <a:t>Underlay</a:t>
            </a:r>
            <a:r>
              <a:rPr lang="zh-CN" altLang="en-US" sz="1200" dirty="0">
                <a:solidFill>
                  <a:srgbClr val="000000"/>
                </a:solidFill>
              </a:rPr>
              <a:t>流量</a:t>
            </a:r>
          </a:p>
        </p:txBody>
      </p:sp>
      <p:pic>
        <p:nvPicPr>
          <p:cNvPr id="51" name="图片 78">
            <a:extLst>
              <a:ext uri="{FF2B5EF4-FFF2-40B4-BE49-F238E27FC236}">
                <a16:creationId xmlns:a16="http://schemas.microsoft.com/office/drawing/2014/main" id="{0F4DDDAD-B1CD-4C8A-96F1-EC83160310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137862" y="4080352"/>
            <a:ext cx="360510" cy="295200"/>
          </a:xfrm>
          <a:prstGeom prst="rect">
            <a:avLst/>
          </a:prstGeom>
        </p:spPr>
      </p:pic>
      <p:pic>
        <p:nvPicPr>
          <p:cNvPr id="52" name="图片 80">
            <a:extLst>
              <a:ext uri="{FF2B5EF4-FFF2-40B4-BE49-F238E27FC236}">
                <a16:creationId xmlns:a16="http://schemas.microsoft.com/office/drawing/2014/main" id="{1C3BE4D2-F34D-426B-8AB7-43A726A9D8F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176910" y="4097277"/>
            <a:ext cx="360510" cy="295200"/>
          </a:xfrm>
          <a:prstGeom prst="rect">
            <a:avLst/>
          </a:prstGeom>
        </p:spPr>
      </p:pic>
      <p:sp>
        <p:nvSpPr>
          <p:cNvPr id="55" name="任意多边形 93">
            <a:extLst>
              <a:ext uri="{FF2B5EF4-FFF2-40B4-BE49-F238E27FC236}">
                <a16:creationId xmlns:a16="http://schemas.microsoft.com/office/drawing/2014/main" id="{D9138BE6-6B38-49F1-ADE2-1CC0B3A717B6}"/>
              </a:ext>
            </a:extLst>
          </p:cNvPr>
          <p:cNvSpPr/>
          <p:nvPr/>
        </p:nvSpPr>
        <p:spPr bwMode="gray">
          <a:xfrm>
            <a:off x="9185939" y="3101231"/>
            <a:ext cx="114829" cy="1399116"/>
          </a:xfrm>
          <a:custGeom>
            <a:avLst/>
            <a:gdLst>
              <a:gd name="connsiteX0" fmla="*/ 0 w 198966"/>
              <a:gd name="connsiteY0" fmla="*/ 1075267 h 1164753"/>
              <a:gd name="connsiteX1" fmla="*/ 78316 w 198966"/>
              <a:gd name="connsiteY1" fmla="*/ 1102783 h 1164753"/>
              <a:gd name="connsiteX2" fmla="*/ 114300 w 198966"/>
              <a:gd name="connsiteY2" fmla="*/ 1075267 h 1164753"/>
              <a:gd name="connsiteX3" fmla="*/ 198966 w 198966"/>
              <a:gd name="connsiteY3" fmla="*/ 0 h 1164753"/>
              <a:gd name="connsiteX0" fmla="*/ 0 w 198966"/>
              <a:gd name="connsiteY0" fmla="*/ 1075267 h 1171538"/>
              <a:gd name="connsiteX1" fmla="*/ 61383 w 198966"/>
              <a:gd name="connsiteY1" fmla="*/ 1119716 h 1171538"/>
              <a:gd name="connsiteX2" fmla="*/ 114300 w 198966"/>
              <a:gd name="connsiteY2" fmla="*/ 1075267 h 1171538"/>
              <a:gd name="connsiteX3" fmla="*/ 198966 w 198966"/>
              <a:gd name="connsiteY3" fmla="*/ 0 h 1171538"/>
              <a:gd name="connsiteX0" fmla="*/ 0 w 198966"/>
              <a:gd name="connsiteY0" fmla="*/ 1075267 h 1177042"/>
              <a:gd name="connsiteX1" fmla="*/ 46567 w 198966"/>
              <a:gd name="connsiteY1" fmla="*/ 1132416 h 1177042"/>
              <a:gd name="connsiteX2" fmla="*/ 114300 w 198966"/>
              <a:gd name="connsiteY2" fmla="*/ 1075267 h 1177042"/>
              <a:gd name="connsiteX3" fmla="*/ 198966 w 198966"/>
              <a:gd name="connsiteY3" fmla="*/ 0 h 1177042"/>
              <a:gd name="connsiteX0" fmla="*/ 0 w 198966"/>
              <a:gd name="connsiteY0" fmla="*/ 1075267 h 1165971"/>
              <a:gd name="connsiteX1" fmla="*/ 46567 w 198966"/>
              <a:gd name="connsiteY1" fmla="*/ 1132416 h 1165971"/>
              <a:gd name="connsiteX2" fmla="*/ 133350 w 198966"/>
              <a:gd name="connsiteY2" fmla="*/ 1058334 h 1165971"/>
              <a:gd name="connsiteX3" fmla="*/ 198966 w 198966"/>
              <a:gd name="connsiteY3" fmla="*/ 0 h 1165971"/>
              <a:gd name="connsiteX0" fmla="*/ 0 w 198966"/>
              <a:gd name="connsiteY0" fmla="*/ 1075267 h 1149640"/>
              <a:gd name="connsiteX1" fmla="*/ 46567 w 198966"/>
              <a:gd name="connsiteY1" fmla="*/ 1132416 h 1149640"/>
              <a:gd name="connsiteX2" fmla="*/ 152400 w 198966"/>
              <a:gd name="connsiteY2" fmla="*/ 1030817 h 1149640"/>
              <a:gd name="connsiteX3" fmla="*/ 198966 w 198966"/>
              <a:gd name="connsiteY3" fmla="*/ 0 h 1149640"/>
              <a:gd name="connsiteX0" fmla="*/ 0 w 198966"/>
              <a:gd name="connsiteY0" fmla="*/ 1075267 h 1150868"/>
              <a:gd name="connsiteX1" fmla="*/ 80433 w 198966"/>
              <a:gd name="connsiteY1" fmla="*/ 1134533 h 1150868"/>
              <a:gd name="connsiteX2" fmla="*/ 152400 w 198966"/>
              <a:gd name="connsiteY2" fmla="*/ 1030817 h 1150868"/>
              <a:gd name="connsiteX3" fmla="*/ 198966 w 198966"/>
              <a:gd name="connsiteY3" fmla="*/ 0 h 1150868"/>
              <a:gd name="connsiteX0" fmla="*/ 0 w 198966"/>
              <a:gd name="connsiteY0" fmla="*/ 1075267 h 1155847"/>
              <a:gd name="connsiteX1" fmla="*/ 80433 w 198966"/>
              <a:gd name="connsiteY1" fmla="*/ 1134533 h 1155847"/>
              <a:gd name="connsiteX2" fmla="*/ 152400 w 198966"/>
              <a:gd name="connsiteY2" fmla="*/ 1030817 h 1155847"/>
              <a:gd name="connsiteX3" fmla="*/ 198966 w 198966"/>
              <a:gd name="connsiteY3" fmla="*/ 0 h 1155847"/>
              <a:gd name="connsiteX0" fmla="*/ 0 w 198966"/>
              <a:gd name="connsiteY0" fmla="*/ 1075267 h 1136677"/>
              <a:gd name="connsiteX1" fmla="*/ 80433 w 198966"/>
              <a:gd name="connsiteY1" fmla="*/ 1134533 h 1136677"/>
              <a:gd name="connsiteX2" fmla="*/ 160867 w 198966"/>
              <a:gd name="connsiteY2" fmla="*/ 990601 h 1136677"/>
              <a:gd name="connsiteX3" fmla="*/ 198966 w 198966"/>
              <a:gd name="connsiteY3" fmla="*/ 0 h 1136677"/>
              <a:gd name="connsiteX0" fmla="*/ 0 w 198966"/>
              <a:gd name="connsiteY0" fmla="*/ 1075267 h 1138732"/>
              <a:gd name="connsiteX1" fmla="*/ 103716 w 198966"/>
              <a:gd name="connsiteY1" fmla="*/ 1136650 h 1138732"/>
              <a:gd name="connsiteX2" fmla="*/ 160867 w 198966"/>
              <a:gd name="connsiteY2" fmla="*/ 990601 h 1138732"/>
              <a:gd name="connsiteX3" fmla="*/ 198966 w 198966"/>
              <a:gd name="connsiteY3" fmla="*/ 0 h 1138732"/>
              <a:gd name="connsiteX0" fmla="*/ 0 w 198966"/>
              <a:gd name="connsiteY0" fmla="*/ 1075267 h 1080072"/>
              <a:gd name="connsiteX1" fmla="*/ 65616 w 198966"/>
              <a:gd name="connsiteY1" fmla="*/ 1042988 h 1080072"/>
              <a:gd name="connsiteX2" fmla="*/ 160867 w 198966"/>
              <a:gd name="connsiteY2" fmla="*/ 990601 h 1080072"/>
              <a:gd name="connsiteX3" fmla="*/ 198966 w 198966"/>
              <a:gd name="connsiteY3" fmla="*/ 0 h 1080072"/>
              <a:gd name="connsiteX0" fmla="*/ 0 w 198966"/>
              <a:gd name="connsiteY0" fmla="*/ 1075267 h 1080356"/>
              <a:gd name="connsiteX1" fmla="*/ 65616 w 198966"/>
              <a:gd name="connsiteY1" fmla="*/ 1042988 h 1080356"/>
              <a:gd name="connsiteX2" fmla="*/ 129117 w 198966"/>
              <a:gd name="connsiteY2" fmla="*/ 890588 h 1080356"/>
              <a:gd name="connsiteX3" fmla="*/ 198966 w 198966"/>
              <a:gd name="connsiteY3" fmla="*/ 0 h 1080356"/>
              <a:gd name="connsiteX0" fmla="*/ 0 w 162454"/>
              <a:gd name="connsiteY0" fmla="*/ 1132417 h 1134348"/>
              <a:gd name="connsiteX1" fmla="*/ 29104 w 162454"/>
              <a:gd name="connsiteY1" fmla="*/ 1042988 h 1134348"/>
              <a:gd name="connsiteX2" fmla="*/ 92605 w 162454"/>
              <a:gd name="connsiteY2" fmla="*/ 890588 h 1134348"/>
              <a:gd name="connsiteX3" fmla="*/ 162454 w 162454"/>
              <a:gd name="connsiteY3" fmla="*/ 0 h 1134348"/>
              <a:gd name="connsiteX0" fmla="*/ 0 w 162454"/>
              <a:gd name="connsiteY0" fmla="*/ 1132417 h 1134627"/>
              <a:gd name="connsiteX1" fmla="*/ 70379 w 162454"/>
              <a:gd name="connsiteY1" fmla="*/ 1052513 h 1134627"/>
              <a:gd name="connsiteX2" fmla="*/ 92605 w 162454"/>
              <a:gd name="connsiteY2" fmla="*/ 890588 h 1134627"/>
              <a:gd name="connsiteX3" fmla="*/ 162454 w 162454"/>
              <a:gd name="connsiteY3" fmla="*/ 0 h 1134627"/>
              <a:gd name="connsiteX0" fmla="*/ 0 w 124354"/>
              <a:gd name="connsiteY0" fmla="*/ 1192742 h 1193988"/>
              <a:gd name="connsiteX1" fmla="*/ 32279 w 124354"/>
              <a:gd name="connsiteY1" fmla="*/ 1052513 h 1193988"/>
              <a:gd name="connsiteX2" fmla="*/ 54505 w 124354"/>
              <a:gd name="connsiteY2" fmla="*/ 890588 h 1193988"/>
              <a:gd name="connsiteX3" fmla="*/ 124354 w 124354"/>
              <a:gd name="connsiteY3" fmla="*/ 0 h 1193988"/>
              <a:gd name="connsiteX0" fmla="*/ 0 w 124354"/>
              <a:gd name="connsiteY0" fmla="*/ 1192742 h 1192742"/>
              <a:gd name="connsiteX1" fmla="*/ 32279 w 124354"/>
              <a:gd name="connsiteY1" fmla="*/ 1052513 h 1192742"/>
              <a:gd name="connsiteX2" fmla="*/ 54505 w 124354"/>
              <a:gd name="connsiteY2" fmla="*/ 890588 h 1192742"/>
              <a:gd name="connsiteX3" fmla="*/ 124354 w 124354"/>
              <a:gd name="connsiteY3" fmla="*/ 0 h 1192742"/>
              <a:gd name="connsiteX0" fmla="*/ 0 w 108479"/>
              <a:gd name="connsiteY0" fmla="*/ 1229254 h 1229254"/>
              <a:gd name="connsiteX1" fmla="*/ 16404 w 108479"/>
              <a:gd name="connsiteY1" fmla="*/ 1052513 h 1229254"/>
              <a:gd name="connsiteX2" fmla="*/ 38630 w 108479"/>
              <a:gd name="connsiteY2" fmla="*/ 890588 h 1229254"/>
              <a:gd name="connsiteX3" fmla="*/ 108479 w 108479"/>
              <a:gd name="connsiteY3" fmla="*/ 0 h 1229254"/>
              <a:gd name="connsiteX0" fmla="*/ 0 w 108479"/>
              <a:gd name="connsiteY0" fmla="*/ 1229254 h 1229254"/>
              <a:gd name="connsiteX1" fmla="*/ 25929 w 108479"/>
              <a:gd name="connsiteY1" fmla="*/ 1065213 h 1229254"/>
              <a:gd name="connsiteX2" fmla="*/ 38630 w 108479"/>
              <a:gd name="connsiteY2" fmla="*/ 890588 h 1229254"/>
              <a:gd name="connsiteX3" fmla="*/ 108479 w 108479"/>
              <a:gd name="connsiteY3" fmla="*/ 0 h 1229254"/>
              <a:gd name="connsiteX0" fmla="*/ 0 w 125941"/>
              <a:gd name="connsiteY0" fmla="*/ 1357841 h 1357841"/>
              <a:gd name="connsiteX1" fmla="*/ 43391 w 125941"/>
              <a:gd name="connsiteY1" fmla="*/ 1065213 h 1357841"/>
              <a:gd name="connsiteX2" fmla="*/ 56092 w 125941"/>
              <a:gd name="connsiteY2" fmla="*/ 890588 h 1357841"/>
              <a:gd name="connsiteX3" fmla="*/ 125941 w 125941"/>
              <a:gd name="connsiteY3" fmla="*/ 0 h 1357841"/>
              <a:gd name="connsiteX0" fmla="*/ 0 w 114829"/>
              <a:gd name="connsiteY0" fmla="*/ 1399116 h 1399116"/>
              <a:gd name="connsiteX1" fmla="*/ 32279 w 114829"/>
              <a:gd name="connsiteY1" fmla="*/ 1065213 h 1399116"/>
              <a:gd name="connsiteX2" fmla="*/ 44980 w 114829"/>
              <a:gd name="connsiteY2" fmla="*/ 890588 h 1399116"/>
              <a:gd name="connsiteX3" fmla="*/ 114829 w 114829"/>
              <a:gd name="connsiteY3" fmla="*/ 0 h 1399116"/>
            </a:gdLst>
            <a:ahLst/>
            <a:cxnLst>
              <a:cxn ang="0">
                <a:pos x="connsiteX0" y="connsiteY0"/>
              </a:cxn>
              <a:cxn ang="0">
                <a:pos x="connsiteX1" y="connsiteY1"/>
              </a:cxn>
              <a:cxn ang="0">
                <a:pos x="connsiteX2" y="connsiteY2"/>
              </a:cxn>
              <a:cxn ang="0">
                <a:pos x="connsiteX3" y="connsiteY3"/>
              </a:cxn>
            </a:cxnLst>
            <a:rect l="l" t="t" r="r" b="b"/>
            <a:pathLst>
              <a:path w="114829" h="1399116">
                <a:moveTo>
                  <a:pt x="0" y="1399116"/>
                </a:moveTo>
                <a:cubicBezTo>
                  <a:pt x="10583" y="1365249"/>
                  <a:pt x="24782" y="1149968"/>
                  <a:pt x="32279" y="1065213"/>
                </a:cubicBezTo>
                <a:cubicBezTo>
                  <a:pt x="39776" y="980458"/>
                  <a:pt x="31222" y="1068124"/>
                  <a:pt x="44980" y="890588"/>
                </a:cubicBezTo>
                <a:cubicBezTo>
                  <a:pt x="58738" y="713052"/>
                  <a:pt x="82550" y="445735"/>
                  <a:pt x="114829" y="0"/>
                </a:cubicBezTo>
              </a:path>
            </a:pathLst>
          </a:custGeom>
          <a:noFill/>
          <a:ln w="28575">
            <a:solidFill>
              <a:srgbClr val="E28189"/>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任意多边形 91">
            <a:extLst>
              <a:ext uri="{FF2B5EF4-FFF2-40B4-BE49-F238E27FC236}">
                <a16:creationId xmlns:a16="http://schemas.microsoft.com/office/drawing/2014/main" id="{C2AAFEC4-42F7-4954-8AA0-2D7E7FEAFE8A}"/>
              </a:ext>
            </a:extLst>
          </p:cNvPr>
          <p:cNvSpPr/>
          <p:nvPr/>
        </p:nvSpPr>
        <p:spPr bwMode="gray">
          <a:xfrm>
            <a:off x="7083898" y="3119575"/>
            <a:ext cx="1877620" cy="1375839"/>
          </a:xfrm>
          <a:custGeom>
            <a:avLst/>
            <a:gdLst>
              <a:gd name="connsiteX0" fmla="*/ 0 w 198966"/>
              <a:gd name="connsiteY0" fmla="*/ 1075267 h 1164753"/>
              <a:gd name="connsiteX1" fmla="*/ 78316 w 198966"/>
              <a:gd name="connsiteY1" fmla="*/ 1102783 h 1164753"/>
              <a:gd name="connsiteX2" fmla="*/ 114300 w 198966"/>
              <a:gd name="connsiteY2" fmla="*/ 1075267 h 1164753"/>
              <a:gd name="connsiteX3" fmla="*/ 198966 w 198966"/>
              <a:gd name="connsiteY3" fmla="*/ 0 h 1164753"/>
              <a:gd name="connsiteX0" fmla="*/ 0 w 198966"/>
              <a:gd name="connsiteY0" fmla="*/ 1075267 h 1171538"/>
              <a:gd name="connsiteX1" fmla="*/ 61383 w 198966"/>
              <a:gd name="connsiteY1" fmla="*/ 1119716 h 1171538"/>
              <a:gd name="connsiteX2" fmla="*/ 114300 w 198966"/>
              <a:gd name="connsiteY2" fmla="*/ 1075267 h 1171538"/>
              <a:gd name="connsiteX3" fmla="*/ 198966 w 198966"/>
              <a:gd name="connsiteY3" fmla="*/ 0 h 1171538"/>
              <a:gd name="connsiteX0" fmla="*/ 0 w 198966"/>
              <a:gd name="connsiteY0" fmla="*/ 1075267 h 1177042"/>
              <a:gd name="connsiteX1" fmla="*/ 46567 w 198966"/>
              <a:gd name="connsiteY1" fmla="*/ 1132416 h 1177042"/>
              <a:gd name="connsiteX2" fmla="*/ 114300 w 198966"/>
              <a:gd name="connsiteY2" fmla="*/ 1075267 h 1177042"/>
              <a:gd name="connsiteX3" fmla="*/ 198966 w 198966"/>
              <a:gd name="connsiteY3" fmla="*/ 0 h 1177042"/>
              <a:gd name="connsiteX0" fmla="*/ 0 w 198966"/>
              <a:gd name="connsiteY0" fmla="*/ 1075267 h 1165971"/>
              <a:gd name="connsiteX1" fmla="*/ 46567 w 198966"/>
              <a:gd name="connsiteY1" fmla="*/ 1132416 h 1165971"/>
              <a:gd name="connsiteX2" fmla="*/ 133350 w 198966"/>
              <a:gd name="connsiteY2" fmla="*/ 1058334 h 1165971"/>
              <a:gd name="connsiteX3" fmla="*/ 198966 w 198966"/>
              <a:gd name="connsiteY3" fmla="*/ 0 h 1165971"/>
              <a:gd name="connsiteX0" fmla="*/ 0 w 198966"/>
              <a:gd name="connsiteY0" fmla="*/ 1075267 h 1149640"/>
              <a:gd name="connsiteX1" fmla="*/ 46567 w 198966"/>
              <a:gd name="connsiteY1" fmla="*/ 1132416 h 1149640"/>
              <a:gd name="connsiteX2" fmla="*/ 152400 w 198966"/>
              <a:gd name="connsiteY2" fmla="*/ 1030817 h 1149640"/>
              <a:gd name="connsiteX3" fmla="*/ 198966 w 198966"/>
              <a:gd name="connsiteY3" fmla="*/ 0 h 1149640"/>
              <a:gd name="connsiteX0" fmla="*/ 0 w 198966"/>
              <a:gd name="connsiteY0" fmla="*/ 1075267 h 1150868"/>
              <a:gd name="connsiteX1" fmla="*/ 80433 w 198966"/>
              <a:gd name="connsiteY1" fmla="*/ 1134533 h 1150868"/>
              <a:gd name="connsiteX2" fmla="*/ 152400 w 198966"/>
              <a:gd name="connsiteY2" fmla="*/ 1030817 h 1150868"/>
              <a:gd name="connsiteX3" fmla="*/ 198966 w 198966"/>
              <a:gd name="connsiteY3" fmla="*/ 0 h 1150868"/>
              <a:gd name="connsiteX0" fmla="*/ 0 w 198966"/>
              <a:gd name="connsiteY0" fmla="*/ 1075267 h 1155847"/>
              <a:gd name="connsiteX1" fmla="*/ 80433 w 198966"/>
              <a:gd name="connsiteY1" fmla="*/ 1134533 h 1155847"/>
              <a:gd name="connsiteX2" fmla="*/ 152400 w 198966"/>
              <a:gd name="connsiteY2" fmla="*/ 1030817 h 1155847"/>
              <a:gd name="connsiteX3" fmla="*/ 198966 w 198966"/>
              <a:gd name="connsiteY3" fmla="*/ 0 h 1155847"/>
              <a:gd name="connsiteX0" fmla="*/ 0 w 198966"/>
              <a:gd name="connsiteY0" fmla="*/ 1075267 h 1136677"/>
              <a:gd name="connsiteX1" fmla="*/ 80433 w 198966"/>
              <a:gd name="connsiteY1" fmla="*/ 1134533 h 1136677"/>
              <a:gd name="connsiteX2" fmla="*/ 160867 w 198966"/>
              <a:gd name="connsiteY2" fmla="*/ 990601 h 1136677"/>
              <a:gd name="connsiteX3" fmla="*/ 198966 w 198966"/>
              <a:gd name="connsiteY3" fmla="*/ 0 h 1136677"/>
              <a:gd name="connsiteX0" fmla="*/ 0 w 198966"/>
              <a:gd name="connsiteY0" fmla="*/ 1075267 h 1138732"/>
              <a:gd name="connsiteX1" fmla="*/ 103716 w 198966"/>
              <a:gd name="connsiteY1" fmla="*/ 1136650 h 1138732"/>
              <a:gd name="connsiteX2" fmla="*/ 160867 w 198966"/>
              <a:gd name="connsiteY2" fmla="*/ 990601 h 1138732"/>
              <a:gd name="connsiteX3" fmla="*/ 198966 w 198966"/>
              <a:gd name="connsiteY3" fmla="*/ 0 h 1138732"/>
              <a:gd name="connsiteX0" fmla="*/ 0 w 218855"/>
              <a:gd name="connsiteY0" fmla="*/ 2575242 h 2575361"/>
              <a:gd name="connsiteX1" fmla="*/ 123605 w 218855"/>
              <a:gd name="connsiteY1" fmla="*/ 1136650 h 2575361"/>
              <a:gd name="connsiteX2" fmla="*/ 180756 w 218855"/>
              <a:gd name="connsiteY2" fmla="*/ 990601 h 2575361"/>
              <a:gd name="connsiteX3" fmla="*/ 218855 w 218855"/>
              <a:gd name="connsiteY3" fmla="*/ 0 h 2575361"/>
              <a:gd name="connsiteX0" fmla="*/ 0 w 218855"/>
              <a:gd name="connsiteY0" fmla="*/ 2575242 h 2575384"/>
              <a:gd name="connsiteX1" fmla="*/ 113661 w 218855"/>
              <a:gd name="connsiteY1" fmla="*/ 1330194 h 2575384"/>
              <a:gd name="connsiteX2" fmla="*/ 180756 w 218855"/>
              <a:gd name="connsiteY2" fmla="*/ 990601 h 2575384"/>
              <a:gd name="connsiteX3" fmla="*/ 218855 w 218855"/>
              <a:gd name="connsiteY3" fmla="*/ 0 h 2575384"/>
              <a:gd name="connsiteX0" fmla="*/ 0 w 218855"/>
              <a:gd name="connsiteY0" fmla="*/ 2575242 h 2575389"/>
              <a:gd name="connsiteX1" fmla="*/ 113661 w 218855"/>
              <a:gd name="connsiteY1" fmla="*/ 1330194 h 2575389"/>
              <a:gd name="connsiteX2" fmla="*/ 169569 w 218855"/>
              <a:gd name="connsiteY2" fmla="*/ 772863 h 2575389"/>
              <a:gd name="connsiteX3" fmla="*/ 218855 w 218855"/>
              <a:gd name="connsiteY3" fmla="*/ 0 h 2575389"/>
              <a:gd name="connsiteX0" fmla="*/ 0 w 232529"/>
              <a:gd name="connsiteY0" fmla="*/ 2599435 h 2599582"/>
              <a:gd name="connsiteX1" fmla="*/ 113661 w 232529"/>
              <a:gd name="connsiteY1" fmla="*/ 1354387 h 2599582"/>
              <a:gd name="connsiteX2" fmla="*/ 169569 w 232529"/>
              <a:gd name="connsiteY2" fmla="*/ 797056 h 2599582"/>
              <a:gd name="connsiteX3" fmla="*/ 232529 w 232529"/>
              <a:gd name="connsiteY3" fmla="*/ 0 h 2599582"/>
              <a:gd name="connsiteX0" fmla="*/ 0 w 232529"/>
              <a:gd name="connsiteY0" fmla="*/ 2599435 h 2599572"/>
              <a:gd name="connsiteX1" fmla="*/ 108689 w 232529"/>
              <a:gd name="connsiteY1" fmla="*/ 1281808 h 2599572"/>
              <a:gd name="connsiteX2" fmla="*/ 169569 w 232529"/>
              <a:gd name="connsiteY2" fmla="*/ 797056 h 2599572"/>
              <a:gd name="connsiteX3" fmla="*/ 232529 w 232529"/>
              <a:gd name="connsiteY3" fmla="*/ 0 h 2599572"/>
              <a:gd name="connsiteX0" fmla="*/ 0 w 232529"/>
              <a:gd name="connsiteY0" fmla="*/ 2599435 h 2599575"/>
              <a:gd name="connsiteX1" fmla="*/ 108689 w 232529"/>
              <a:gd name="connsiteY1" fmla="*/ 1281808 h 2599575"/>
              <a:gd name="connsiteX2" fmla="*/ 172055 w 232529"/>
              <a:gd name="connsiteY2" fmla="*/ 627704 h 2599575"/>
              <a:gd name="connsiteX3" fmla="*/ 232529 w 232529"/>
              <a:gd name="connsiteY3" fmla="*/ 0 h 2599575"/>
              <a:gd name="connsiteX0" fmla="*/ 0 w 232529"/>
              <a:gd name="connsiteY0" fmla="*/ 2599435 h 2599598"/>
              <a:gd name="connsiteX1" fmla="*/ 95016 w 232529"/>
              <a:gd name="connsiteY1" fmla="*/ 1426967 h 2599598"/>
              <a:gd name="connsiteX2" fmla="*/ 172055 w 232529"/>
              <a:gd name="connsiteY2" fmla="*/ 627704 h 2599598"/>
              <a:gd name="connsiteX3" fmla="*/ 232529 w 232529"/>
              <a:gd name="connsiteY3" fmla="*/ 0 h 2599598"/>
              <a:gd name="connsiteX0" fmla="*/ 0 w 232529"/>
              <a:gd name="connsiteY0" fmla="*/ 2696208 h 2696358"/>
              <a:gd name="connsiteX1" fmla="*/ 95016 w 232529"/>
              <a:gd name="connsiteY1" fmla="*/ 1426967 h 2696358"/>
              <a:gd name="connsiteX2" fmla="*/ 172055 w 232529"/>
              <a:gd name="connsiteY2" fmla="*/ 627704 h 2696358"/>
              <a:gd name="connsiteX3" fmla="*/ 232529 w 232529"/>
              <a:gd name="connsiteY3" fmla="*/ 0 h 2696358"/>
              <a:gd name="connsiteX0" fmla="*/ 0 w 232529"/>
              <a:gd name="connsiteY0" fmla="*/ 2696208 h 2696208"/>
              <a:gd name="connsiteX1" fmla="*/ 95016 w 232529"/>
              <a:gd name="connsiteY1" fmla="*/ 1426967 h 2696208"/>
              <a:gd name="connsiteX2" fmla="*/ 172055 w 232529"/>
              <a:gd name="connsiteY2" fmla="*/ 627704 h 2696208"/>
              <a:gd name="connsiteX3" fmla="*/ 232529 w 232529"/>
              <a:gd name="connsiteY3" fmla="*/ 0 h 2696208"/>
              <a:gd name="connsiteX0" fmla="*/ 0 w 237501"/>
              <a:gd name="connsiteY0" fmla="*/ 2696208 h 2696208"/>
              <a:gd name="connsiteX1" fmla="*/ 95016 w 237501"/>
              <a:gd name="connsiteY1" fmla="*/ 1426967 h 2696208"/>
              <a:gd name="connsiteX2" fmla="*/ 172055 w 237501"/>
              <a:gd name="connsiteY2" fmla="*/ 627704 h 2696208"/>
              <a:gd name="connsiteX3" fmla="*/ 237501 w 237501"/>
              <a:gd name="connsiteY3" fmla="*/ 0 h 2696208"/>
              <a:gd name="connsiteX0" fmla="*/ 0 w 237501"/>
              <a:gd name="connsiteY0" fmla="*/ 2696208 h 2696208"/>
              <a:gd name="connsiteX1" fmla="*/ 95016 w 237501"/>
              <a:gd name="connsiteY1" fmla="*/ 1426967 h 2696208"/>
              <a:gd name="connsiteX2" fmla="*/ 172055 w 237501"/>
              <a:gd name="connsiteY2" fmla="*/ 627704 h 2696208"/>
              <a:gd name="connsiteX3" fmla="*/ 237501 w 237501"/>
              <a:gd name="connsiteY3" fmla="*/ 0 h 2696208"/>
              <a:gd name="connsiteX0" fmla="*/ 0 w 236258"/>
              <a:gd name="connsiteY0" fmla="*/ 2817174 h 2817174"/>
              <a:gd name="connsiteX1" fmla="*/ 93773 w 236258"/>
              <a:gd name="connsiteY1" fmla="*/ 1426967 h 2817174"/>
              <a:gd name="connsiteX2" fmla="*/ 170812 w 236258"/>
              <a:gd name="connsiteY2" fmla="*/ 627704 h 2817174"/>
              <a:gd name="connsiteX3" fmla="*/ 236258 w 236258"/>
              <a:gd name="connsiteY3" fmla="*/ 0 h 2817174"/>
              <a:gd name="connsiteX0" fmla="*/ 0 w 236258"/>
              <a:gd name="connsiteY0" fmla="*/ 2817174 h 2817174"/>
              <a:gd name="connsiteX1" fmla="*/ 93773 w 236258"/>
              <a:gd name="connsiteY1" fmla="*/ 1426967 h 2817174"/>
              <a:gd name="connsiteX2" fmla="*/ 170812 w 236258"/>
              <a:gd name="connsiteY2" fmla="*/ 627704 h 2817174"/>
              <a:gd name="connsiteX3" fmla="*/ 236258 w 236258"/>
              <a:gd name="connsiteY3" fmla="*/ 0 h 2817174"/>
              <a:gd name="connsiteX0" fmla="*/ 0 w 242473"/>
              <a:gd name="connsiteY0" fmla="*/ 3422003 h 3422003"/>
              <a:gd name="connsiteX1" fmla="*/ 99988 w 242473"/>
              <a:gd name="connsiteY1" fmla="*/ 1426967 h 3422003"/>
              <a:gd name="connsiteX2" fmla="*/ 177027 w 242473"/>
              <a:gd name="connsiteY2" fmla="*/ 627704 h 3422003"/>
              <a:gd name="connsiteX3" fmla="*/ 242473 w 242473"/>
              <a:gd name="connsiteY3" fmla="*/ 0 h 3422003"/>
              <a:gd name="connsiteX0" fmla="*/ 71 w 242544"/>
              <a:gd name="connsiteY0" fmla="*/ 3422003 h 3422003"/>
              <a:gd name="connsiteX1" fmla="*/ 100059 w 242544"/>
              <a:gd name="connsiteY1" fmla="*/ 1426967 h 3422003"/>
              <a:gd name="connsiteX2" fmla="*/ 177098 w 242544"/>
              <a:gd name="connsiteY2" fmla="*/ 627704 h 3422003"/>
              <a:gd name="connsiteX3" fmla="*/ 242544 w 242544"/>
              <a:gd name="connsiteY3" fmla="*/ 0 h 3422003"/>
              <a:gd name="connsiteX0" fmla="*/ 72 w 242545"/>
              <a:gd name="connsiteY0" fmla="*/ 3422003 h 3422003"/>
              <a:gd name="connsiteX1" fmla="*/ 100060 w 242545"/>
              <a:gd name="connsiteY1" fmla="*/ 1426967 h 3422003"/>
              <a:gd name="connsiteX2" fmla="*/ 179585 w 242545"/>
              <a:gd name="connsiteY2" fmla="*/ 651897 h 3422003"/>
              <a:gd name="connsiteX3" fmla="*/ 242545 w 242545"/>
              <a:gd name="connsiteY3" fmla="*/ 0 h 3422003"/>
              <a:gd name="connsiteX0" fmla="*/ 72 w 242545"/>
              <a:gd name="connsiteY0" fmla="*/ 3422003 h 3422003"/>
              <a:gd name="connsiteX1" fmla="*/ 100060 w 242545"/>
              <a:gd name="connsiteY1" fmla="*/ 1426967 h 3422003"/>
              <a:gd name="connsiteX2" fmla="*/ 179585 w 242545"/>
              <a:gd name="connsiteY2" fmla="*/ 651897 h 3422003"/>
              <a:gd name="connsiteX3" fmla="*/ 242545 w 242545"/>
              <a:gd name="connsiteY3" fmla="*/ 0 h 3422003"/>
              <a:gd name="connsiteX0" fmla="*/ 72 w 245031"/>
              <a:gd name="connsiteY0" fmla="*/ 3494582 h 3494582"/>
              <a:gd name="connsiteX1" fmla="*/ 100060 w 245031"/>
              <a:gd name="connsiteY1" fmla="*/ 1499546 h 3494582"/>
              <a:gd name="connsiteX2" fmla="*/ 179585 w 245031"/>
              <a:gd name="connsiteY2" fmla="*/ 724476 h 3494582"/>
              <a:gd name="connsiteX3" fmla="*/ 245031 w 245031"/>
              <a:gd name="connsiteY3" fmla="*/ 0 h 3494582"/>
              <a:gd name="connsiteX0" fmla="*/ 72 w 245031"/>
              <a:gd name="connsiteY0" fmla="*/ 3494582 h 3494582"/>
              <a:gd name="connsiteX1" fmla="*/ 100060 w 245031"/>
              <a:gd name="connsiteY1" fmla="*/ 1499546 h 3494582"/>
              <a:gd name="connsiteX2" fmla="*/ 179585 w 245031"/>
              <a:gd name="connsiteY2" fmla="*/ 724477 h 3494582"/>
              <a:gd name="connsiteX3" fmla="*/ 245031 w 245031"/>
              <a:gd name="connsiteY3" fmla="*/ 0 h 3494582"/>
              <a:gd name="connsiteX0" fmla="*/ 72 w 245031"/>
              <a:gd name="connsiteY0" fmla="*/ 3494582 h 3494582"/>
              <a:gd name="connsiteX1" fmla="*/ 100060 w 245031"/>
              <a:gd name="connsiteY1" fmla="*/ 1499546 h 3494582"/>
              <a:gd name="connsiteX2" fmla="*/ 179585 w 245031"/>
              <a:gd name="connsiteY2" fmla="*/ 724477 h 3494582"/>
              <a:gd name="connsiteX3" fmla="*/ 245031 w 245031"/>
              <a:gd name="connsiteY3" fmla="*/ 0 h 3494582"/>
              <a:gd name="connsiteX0" fmla="*/ 72 w 245031"/>
              <a:gd name="connsiteY0" fmla="*/ 3494582 h 3494582"/>
              <a:gd name="connsiteX1" fmla="*/ 100060 w 245031"/>
              <a:gd name="connsiteY1" fmla="*/ 1499546 h 3494582"/>
              <a:gd name="connsiteX2" fmla="*/ 179585 w 245031"/>
              <a:gd name="connsiteY2" fmla="*/ 724477 h 3494582"/>
              <a:gd name="connsiteX3" fmla="*/ 245031 w 245031"/>
              <a:gd name="connsiteY3" fmla="*/ 0 h 3494582"/>
              <a:gd name="connsiteX0" fmla="*/ 72 w 245031"/>
              <a:gd name="connsiteY0" fmla="*/ 3494582 h 3494582"/>
              <a:gd name="connsiteX1" fmla="*/ 101165 w 245031"/>
              <a:gd name="connsiteY1" fmla="*/ 1488792 h 3494582"/>
              <a:gd name="connsiteX2" fmla="*/ 179585 w 245031"/>
              <a:gd name="connsiteY2" fmla="*/ 724477 h 3494582"/>
              <a:gd name="connsiteX3" fmla="*/ 245031 w 245031"/>
              <a:gd name="connsiteY3" fmla="*/ 0 h 3494582"/>
              <a:gd name="connsiteX0" fmla="*/ 77 w 245036"/>
              <a:gd name="connsiteY0" fmla="*/ 3494582 h 3494582"/>
              <a:gd name="connsiteX1" fmla="*/ 101170 w 245036"/>
              <a:gd name="connsiteY1" fmla="*/ 1488792 h 3494582"/>
              <a:gd name="connsiteX2" fmla="*/ 179590 w 245036"/>
              <a:gd name="connsiteY2" fmla="*/ 724477 h 3494582"/>
              <a:gd name="connsiteX3" fmla="*/ 245036 w 245036"/>
              <a:gd name="connsiteY3" fmla="*/ 0 h 3494582"/>
            </a:gdLst>
            <a:ahLst/>
            <a:cxnLst>
              <a:cxn ang="0">
                <a:pos x="connsiteX0" y="connsiteY0"/>
              </a:cxn>
              <a:cxn ang="0">
                <a:pos x="connsiteX1" y="connsiteY1"/>
              </a:cxn>
              <a:cxn ang="0">
                <a:pos x="connsiteX2" y="connsiteY2"/>
              </a:cxn>
              <a:cxn ang="0">
                <a:pos x="connsiteX3" y="connsiteY3"/>
              </a:cxn>
            </a:cxnLst>
            <a:rect l="l" t="t" r="r" b="b"/>
            <a:pathLst>
              <a:path w="245036" h="3494582">
                <a:moveTo>
                  <a:pt x="77" y="3494582"/>
                </a:moveTo>
                <a:cubicBezTo>
                  <a:pt x="-2608" y="2540614"/>
                  <a:pt x="65174" y="1885961"/>
                  <a:pt x="101170" y="1488792"/>
                </a:cubicBezTo>
                <a:cubicBezTo>
                  <a:pt x="137166" y="1091623"/>
                  <a:pt x="155612" y="972609"/>
                  <a:pt x="179590" y="724477"/>
                </a:cubicBezTo>
                <a:cubicBezTo>
                  <a:pt x="203568" y="476345"/>
                  <a:pt x="212757" y="348963"/>
                  <a:pt x="245036" y="0"/>
                </a:cubicBezTo>
              </a:path>
            </a:pathLst>
          </a:custGeom>
          <a:noFill/>
          <a:ln w="28575">
            <a:solidFill>
              <a:srgbClr val="E28189"/>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五边形 2">
            <a:extLst>
              <a:ext uri="{FF2B5EF4-FFF2-40B4-BE49-F238E27FC236}">
                <a16:creationId xmlns:a16="http://schemas.microsoft.com/office/drawing/2014/main" id="{990678DE-B22A-46F0-9F88-0CA5D939CDE0}"/>
              </a:ext>
            </a:extLst>
          </p:cNvPr>
          <p:cNvSpPr/>
          <p:nvPr/>
        </p:nvSpPr>
        <p:spPr bwMode="gray">
          <a:xfrm>
            <a:off x="9605614" y="70638"/>
            <a:ext cx="105057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系统安全设计</a:t>
            </a:r>
          </a:p>
        </p:txBody>
      </p:sp>
      <p:sp>
        <p:nvSpPr>
          <p:cNvPr id="58" name="燕尾形 3">
            <a:extLst>
              <a:ext uri="{FF2B5EF4-FFF2-40B4-BE49-F238E27FC236}">
                <a16:creationId xmlns:a16="http://schemas.microsoft.com/office/drawing/2014/main" id="{3EE62BEB-E7D8-4D3F-A140-96B1F2E8D984}"/>
              </a:ext>
            </a:extLst>
          </p:cNvPr>
          <p:cNvSpPr/>
          <p:nvPr/>
        </p:nvSpPr>
        <p:spPr bwMode="gray">
          <a:xfrm>
            <a:off x="10586648" y="70638"/>
            <a:ext cx="116244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业务安全设计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159">
            <a:extLst>
              <a:ext uri="{FF2B5EF4-FFF2-40B4-BE49-F238E27FC236}">
                <a16:creationId xmlns:a16="http://schemas.microsoft.com/office/drawing/2014/main" id="{D9030442-A936-41AE-8486-EC9AD84EDBF5}"/>
              </a:ext>
            </a:extLst>
          </p:cNvPr>
          <p:cNvSpPr/>
          <p:nvPr/>
        </p:nvSpPr>
        <p:spPr bwMode="gray">
          <a:xfrm flipH="1">
            <a:off x="1144953" y="2545474"/>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61" name="Freeform 159">
            <a:extLst>
              <a:ext uri="{FF2B5EF4-FFF2-40B4-BE49-F238E27FC236}">
                <a16:creationId xmlns:a16="http://schemas.microsoft.com/office/drawing/2014/main" id="{EE59F2E0-3F60-44BF-B004-394162AA11CA}"/>
              </a:ext>
            </a:extLst>
          </p:cNvPr>
          <p:cNvSpPr/>
          <p:nvPr/>
        </p:nvSpPr>
        <p:spPr bwMode="gray">
          <a:xfrm flipH="1">
            <a:off x="3178127" y="2503917"/>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BEE9EE"/>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62" name="Freeform 159">
            <a:extLst>
              <a:ext uri="{FF2B5EF4-FFF2-40B4-BE49-F238E27FC236}">
                <a16:creationId xmlns:a16="http://schemas.microsoft.com/office/drawing/2014/main" id="{F981729D-324C-4ACE-9874-5EF7282AADF4}"/>
              </a:ext>
            </a:extLst>
          </p:cNvPr>
          <p:cNvSpPr/>
          <p:nvPr/>
        </p:nvSpPr>
        <p:spPr bwMode="gray">
          <a:xfrm flipH="1">
            <a:off x="1239781" y="4547682"/>
            <a:ext cx="919503" cy="4806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159">
            <a:extLst>
              <a:ext uri="{FF2B5EF4-FFF2-40B4-BE49-F238E27FC236}">
                <a16:creationId xmlns:a16="http://schemas.microsoft.com/office/drawing/2014/main" id="{605AB35D-8013-4181-9720-ECA0A18BB7EC}"/>
              </a:ext>
            </a:extLst>
          </p:cNvPr>
          <p:cNvSpPr/>
          <p:nvPr/>
        </p:nvSpPr>
        <p:spPr bwMode="gray">
          <a:xfrm flipH="1">
            <a:off x="3282286" y="4551414"/>
            <a:ext cx="919503" cy="4806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7">
            <a:extLst>
              <a:ext uri="{FF2B5EF4-FFF2-40B4-BE49-F238E27FC236}">
                <a16:creationId xmlns:a16="http://schemas.microsoft.com/office/drawing/2014/main" id="{B299F4C9-615D-4984-B5A2-6581EF710A5E}"/>
              </a:ext>
            </a:extLst>
          </p:cNvPr>
          <p:cNvPicPr>
            <a:picLocks noChangeAspect="1"/>
          </p:cNvPicPr>
          <p:nvPr/>
        </p:nvPicPr>
        <p:blipFill>
          <a:blip r:embed="rId3"/>
          <a:stretch>
            <a:fillRect/>
          </a:stretch>
        </p:blipFill>
        <p:spPr bwMode="gray">
          <a:xfrm>
            <a:off x="1462566" y="4205179"/>
            <a:ext cx="561112" cy="461918"/>
          </a:xfrm>
          <a:prstGeom prst="rect">
            <a:avLst/>
          </a:prstGeom>
        </p:spPr>
      </p:pic>
      <p:pic>
        <p:nvPicPr>
          <p:cNvPr id="21" name="图片 44">
            <a:extLst>
              <a:ext uri="{FF2B5EF4-FFF2-40B4-BE49-F238E27FC236}">
                <a16:creationId xmlns:a16="http://schemas.microsoft.com/office/drawing/2014/main" id="{B76DD908-06DF-4D65-BE22-ADE9CB6B13D0}"/>
              </a:ext>
            </a:extLst>
          </p:cNvPr>
          <p:cNvPicPr>
            <a:picLocks noChangeAspect="1"/>
          </p:cNvPicPr>
          <p:nvPr/>
        </p:nvPicPr>
        <p:blipFill>
          <a:blip r:embed="rId3"/>
          <a:stretch>
            <a:fillRect/>
          </a:stretch>
        </p:blipFill>
        <p:spPr bwMode="gray">
          <a:xfrm>
            <a:off x="3483751" y="4204716"/>
            <a:ext cx="561112" cy="461918"/>
          </a:xfrm>
          <a:prstGeom prst="rect">
            <a:avLst/>
          </a:prstGeom>
        </p:spPr>
      </p:pic>
      <p:sp>
        <p:nvSpPr>
          <p:cNvPr id="34" name="任意多边形 72">
            <a:extLst>
              <a:ext uri="{FF2B5EF4-FFF2-40B4-BE49-F238E27FC236}">
                <a16:creationId xmlns:a16="http://schemas.microsoft.com/office/drawing/2014/main" id="{E3CF4820-E173-4359-B317-324306BAE0A4}"/>
              </a:ext>
            </a:extLst>
          </p:cNvPr>
          <p:cNvSpPr/>
          <p:nvPr/>
        </p:nvSpPr>
        <p:spPr bwMode="gray">
          <a:xfrm>
            <a:off x="1607849" y="2980838"/>
            <a:ext cx="2103120" cy="1829606"/>
          </a:xfrm>
          <a:custGeom>
            <a:avLst/>
            <a:gdLst>
              <a:gd name="connsiteX0" fmla="*/ 37099 w 2094499"/>
              <a:gd name="connsiteY0" fmla="*/ 1010050 h 1010050"/>
              <a:gd name="connsiteX1" fmla="*/ 8524 w 2094499"/>
              <a:gd name="connsiteY1" fmla="*/ 152800 h 1010050"/>
              <a:gd name="connsiteX2" fmla="*/ 170449 w 2094499"/>
              <a:gd name="connsiteY2" fmla="*/ 400 h 1010050"/>
              <a:gd name="connsiteX3" fmla="*/ 360949 w 2094499"/>
              <a:gd name="connsiteY3" fmla="*/ 105175 h 1010050"/>
              <a:gd name="connsiteX4" fmla="*/ 2094499 w 2094499"/>
              <a:gd name="connsiteY4" fmla="*/ 962425 h 1010050"/>
              <a:gd name="connsiteX0" fmla="*/ 13607 w 2116727"/>
              <a:gd name="connsiteY0" fmla="*/ 1475179 h 1475179"/>
              <a:gd name="connsiteX1" fmla="*/ 30752 w 2116727"/>
              <a:gd name="connsiteY1" fmla="*/ 165809 h 1475179"/>
              <a:gd name="connsiteX2" fmla="*/ 192677 w 2116727"/>
              <a:gd name="connsiteY2" fmla="*/ 13409 h 1475179"/>
              <a:gd name="connsiteX3" fmla="*/ 383177 w 2116727"/>
              <a:gd name="connsiteY3" fmla="*/ 118184 h 1475179"/>
              <a:gd name="connsiteX4" fmla="*/ 2116727 w 2116727"/>
              <a:gd name="connsiteY4" fmla="*/ 975434 h 1475179"/>
              <a:gd name="connsiteX0" fmla="*/ 10945 w 2114065"/>
              <a:gd name="connsiteY0" fmla="*/ 1472823 h 1472823"/>
              <a:gd name="connsiteX1" fmla="*/ 38250 w 2114065"/>
              <a:gd name="connsiteY1" fmla="*/ 168533 h 1472823"/>
              <a:gd name="connsiteX2" fmla="*/ 190015 w 2114065"/>
              <a:gd name="connsiteY2" fmla="*/ 11053 h 1472823"/>
              <a:gd name="connsiteX3" fmla="*/ 380515 w 2114065"/>
              <a:gd name="connsiteY3" fmla="*/ 115828 h 1472823"/>
              <a:gd name="connsiteX4" fmla="*/ 2114065 w 2114065"/>
              <a:gd name="connsiteY4" fmla="*/ 973078 h 1472823"/>
              <a:gd name="connsiteX0" fmla="*/ 10945 w 2114065"/>
              <a:gd name="connsiteY0" fmla="*/ 1472823 h 1472823"/>
              <a:gd name="connsiteX1" fmla="*/ 38250 w 2114065"/>
              <a:gd name="connsiteY1" fmla="*/ 168533 h 1472823"/>
              <a:gd name="connsiteX2" fmla="*/ 190015 w 2114065"/>
              <a:gd name="connsiteY2" fmla="*/ 11053 h 1472823"/>
              <a:gd name="connsiteX3" fmla="*/ 380515 w 2114065"/>
              <a:gd name="connsiteY3" fmla="*/ 115828 h 1472823"/>
              <a:gd name="connsiteX4" fmla="*/ 2114065 w 2114065"/>
              <a:gd name="connsiteY4" fmla="*/ 973078 h 1472823"/>
              <a:gd name="connsiteX0" fmla="*/ 54 w 2103174"/>
              <a:gd name="connsiteY0" fmla="*/ 1472823 h 1472823"/>
              <a:gd name="connsiteX1" fmla="*/ 27359 w 2103174"/>
              <a:gd name="connsiteY1" fmla="*/ 168533 h 1472823"/>
              <a:gd name="connsiteX2" fmla="*/ 179124 w 2103174"/>
              <a:gd name="connsiteY2" fmla="*/ 11053 h 1472823"/>
              <a:gd name="connsiteX3" fmla="*/ 369624 w 2103174"/>
              <a:gd name="connsiteY3" fmla="*/ 115828 h 1472823"/>
              <a:gd name="connsiteX4" fmla="*/ 2103174 w 2103174"/>
              <a:gd name="connsiteY4" fmla="*/ 973078 h 1472823"/>
              <a:gd name="connsiteX0" fmla="*/ 54 w 2103174"/>
              <a:gd name="connsiteY0" fmla="*/ 1474860 h 1474860"/>
              <a:gd name="connsiteX1" fmla="*/ 27359 w 2103174"/>
              <a:gd name="connsiteY1" fmla="*/ 170570 h 1474860"/>
              <a:gd name="connsiteX2" fmla="*/ 179124 w 2103174"/>
              <a:gd name="connsiteY2" fmla="*/ 13090 h 1474860"/>
              <a:gd name="connsiteX3" fmla="*/ 369624 w 2103174"/>
              <a:gd name="connsiteY3" fmla="*/ 117865 h 1474860"/>
              <a:gd name="connsiteX4" fmla="*/ 2103174 w 2103174"/>
              <a:gd name="connsiteY4" fmla="*/ 975115 h 1474860"/>
              <a:gd name="connsiteX0" fmla="*/ 54 w 2103174"/>
              <a:gd name="connsiteY0" fmla="*/ 1474860 h 1474860"/>
              <a:gd name="connsiteX1" fmla="*/ 27359 w 2103174"/>
              <a:gd name="connsiteY1" fmla="*/ 170570 h 1474860"/>
              <a:gd name="connsiteX2" fmla="*/ 179124 w 2103174"/>
              <a:gd name="connsiteY2" fmla="*/ 13090 h 1474860"/>
              <a:gd name="connsiteX3" fmla="*/ 369624 w 2103174"/>
              <a:gd name="connsiteY3" fmla="*/ 117865 h 1474860"/>
              <a:gd name="connsiteX4" fmla="*/ 2103174 w 2103174"/>
              <a:gd name="connsiteY4" fmla="*/ 975115 h 1474860"/>
              <a:gd name="connsiteX0" fmla="*/ 54 w 2103174"/>
              <a:gd name="connsiteY0" fmla="*/ 1490278 h 1490278"/>
              <a:gd name="connsiteX1" fmla="*/ 27359 w 2103174"/>
              <a:gd name="connsiteY1" fmla="*/ 185988 h 1490278"/>
              <a:gd name="connsiteX2" fmla="*/ 179124 w 2103174"/>
              <a:gd name="connsiteY2" fmla="*/ 28508 h 1490278"/>
              <a:gd name="connsiteX3" fmla="*/ 369624 w 2103174"/>
              <a:gd name="connsiteY3" fmla="*/ 133283 h 1490278"/>
              <a:gd name="connsiteX4" fmla="*/ 2103174 w 2103174"/>
              <a:gd name="connsiteY4" fmla="*/ 990533 h 1490278"/>
              <a:gd name="connsiteX0" fmla="*/ 54 w 2103174"/>
              <a:gd name="connsiteY0" fmla="*/ 1481482 h 1481482"/>
              <a:gd name="connsiteX1" fmla="*/ 27359 w 2103174"/>
              <a:gd name="connsiteY1" fmla="*/ 177192 h 1481482"/>
              <a:gd name="connsiteX2" fmla="*/ 179124 w 2103174"/>
              <a:gd name="connsiteY2" fmla="*/ 19712 h 1481482"/>
              <a:gd name="connsiteX3" fmla="*/ 369624 w 2103174"/>
              <a:gd name="connsiteY3" fmla="*/ 124487 h 1481482"/>
              <a:gd name="connsiteX4" fmla="*/ 2103174 w 2103174"/>
              <a:gd name="connsiteY4" fmla="*/ 981737 h 1481482"/>
              <a:gd name="connsiteX0" fmla="*/ 54 w 2103174"/>
              <a:gd name="connsiteY0" fmla="*/ 1496916 h 1496916"/>
              <a:gd name="connsiteX1" fmla="*/ 27359 w 2103174"/>
              <a:gd name="connsiteY1" fmla="*/ 192626 h 1496916"/>
              <a:gd name="connsiteX2" fmla="*/ 179124 w 2103174"/>
              <a:gd name="connsiteY2" fmla="*/ 35146 h 1496916"/>
              <a:gd name="connsiteX3" fmla="*/ 369624 w 2103174"/>
              <a:gd name="connsiteY3" fmla="*/ 139921 h 1496916"/>
              <a:gd name="connsiteX4" fmla="*/ 2103174 w 2103174"/>
              <a:gd name="connsiteY4" fmla="*/ 997171 h 1496916"/>
              <a:gd name="connsiteX0" fmla="*/ 54 w 2103174"/>
              <a:gd name="connsiteY0" fmla="*/ 1494701 h 1494701"/>
              <a:gd name="connsiteX1" fmla="*/ 27359 w 2103174"/>
              <a:gd name="connsiteY1" fmla="*/ 190411 h 1494701"/>
              <a:gd name="connsiteX2" fmla="*/ 179124 w 2103174"/>
              <a:gd name="connsiteY2" fmla="*/ 32931 h 1494701"/>
              <a:gd name="connsiteX3" fmla="*/ 369624 w 2103174"/>
              <a:gd name="connsiteY3" fmla="*/ 137706 h 1494701"/>
              <a:gd name="connsiteX4" fmla="*/ 2103174 w 2103174"/>
              <a:gd name="connsiteY4" fmla="*/ 994956 h 1494701"/>
              <a:gd name="connsiteX0" fmla="*/ 54 w 2103174"/>
              <a:gd name="connsiteY0" fmla="*/ 1474861 h 1474861"/>
              <a:gd name="connsiteX1" fmla="*/ 27359 w 2103174"/>
              <a:gd name="connsiteY1" fmla="*/ 170571 h 1474861"/>
              <a:gd name="connsiteX2" fmla="*/ 179124 w 2103174"/>
              <a:gd name="connsiteY2" fmla="*/ 13091 h 1474861"/>
              <a:gd name="connsiteX3" fmla="*/ 369624 w 2103174"/>
              <a:gd name="connsiteY3" fmla="*/ 117866 h 1474861"/>
              <a:gd name="connsiteX4" fmla="*/ 2103174 w 2103174"/>
              <a:gd name="connsiteY4" fmla="*/ 975116 h 1474861"/>
              <a:gd name="connsiteX0" fmla="*/ 54 w 2103174"/>
              <a:gd name="connsiteY0" fmla="*/ 1518717 h 1518717"/>
              <a:gd name="connsiteX1" fmla="*/ 27359 w 2103174"/>
              <a:gd name="connsiteY1" fmla="*/ 214427 h 1518717"/>
              <a:gd name="connsiteX2" fmla="*/ 179124 w 2103174"/>
              <a:gd name="connsiteY2" fmla="*/ 56947 h 1518717"/>
              <a:gd name="connsiteX3" fmla="*/ 537264 w 2103174"/>
              <a:gd name="connsiteY3" fmla="*/ 85522 h 1518717"/>
              <a:gd name="connsiteX4" fmla="*/ 2103174 w 2103174"/>
              <a:gd name="connsiteY4" fmla="*/ 1018972 h 1518717"/>
              <a:gd name="connsiteX0" fmla="*/ 0 w 2103120"/>
              <a:gd name="connsiteY0" fmla="*/ 1544305 h 1544305"/>
              <a:gd name="connsiteX1" fmla="*/ 27305 w 2103120"/>
              <a:gd name="connsiteY1" fmla="*/ 240015 h 1544305"/>
              <a:gd name="connsiteX2" fmla="*/ 163830 w 2103120"/>
              <a:gd name="connsiteY2" fmla="*/ 31735 h 1544305"/>
              <a:gd name="connsiteX3" fmla="*/ 537210 w 2103120"/>
              <a:gd name="connsiteY3" fmla="*/ 111110 h 1544305"/>
              <a:gd name="connsiteX4" fmla="*/ 2103120 w 2103120"/>
              <a:gd name="connsiteY4" fmla="*/ 1044560 h 1544305"/>
              <a:gd name="connsiteX0" fmla="*/ 0 w 2103120"/>
              <a:gd name="connsiteY0" fmla="*/ 1534824 h 1534824"/>
              <a:gd name="connsiteX1" fmla="*/ 27305 w 2103120"/>
              <a:gd name="connsiteY1" fmla="*/ 230534 h 1534824"/>
              <a:gd name="connsiteX2" fmla="*/ 163830 w 2103120"/>
              <a:gd name="connsiteY2" fmla="*/ 22254 h 1534824"/>
              <a:gd name="connsiteX3" fmla="*/ 537210 w 2103120"/>
              <a:gd name="connsiteY3" fmla="*/ 101629 h 1534824"/>
              <a:gd name="connsiteX4" fmla="*/ 2103120 w 2103120"/>
              <a:gd name="connsiteY4" fmla="*/ 1035079 h 1534824"/>
              <a:gd name="connsiteX0" fmla="*/ 0 w 2103120"/>
              <a:gd name="connsiteY0" fmla="*/ 1523818 h 1523818"/>
              <a:gd name="connsiteX1" fmla="*/ 27305 w 2103120"/>
              <a:gd name="connsiteY1" fmla="*/ 219528 h 1523818"/>
              <a:gd name="connsiteX2" fmla="*/ 163830 w 2103120"/>
              <a:gd name="connsiteY2" fmla="*/ 11248 h 1523818"/>
              <a:gd name="connsiteX3" fmla="*/ 511810 w 2103120"/>
              <a:gd name="connsiteY3" fmla="*/ 136343 h 1523818"/>
              <a:gd name="connsiteX4" fmla="*/ 2103120 w 2103120"/>
              <a:gd name="connsiteY4" fmla="*/ 1024073 h 1523818"/>
              <a:gd name="connsiteX0" fmla="*/ 0 w 2103120"/>
              <a:gd name="connsiteY0" fmla="*/ 1532847 h 1532847"/>
              <a:gd name="connsiteX1" fmla="*/ 27305 w 2103120"/>
              <a:gd name="connsiteY1" fmla="*/ 228557 h 1532847"/>
              <a:gd name="connsiteX2" fmla="*/ 163830 w 2103120"/>
              <a:gd name="connsiteY2" fmla="*/ 20277 h 1532847"/>
              <a:gd name="connsiteX3" fmla="*/ 511810 w 2103120"/>
              <a:gd name="connsiteY3" fmla="*/ 145372 h 1532847"/>
              <a:gd name="connsiteX4" fmla="*/ 2103120 w 2103120"/>
              <a:gd name="connsiteY4" fmla="*/ 1033102 h 1532847"/>
              <a:gd name="connsiteX0" fmla="*/ 0 w 2103120"/>
              <a:gd name="connsiteY0" fmla="*/ 1529311 h 1529311"/>
              <a:gd name="connsiteX1" fmla="*/ 27305 w 2103120"/>
              <a:gd name="connsiteY1" fmla="*/ 225021 h 1529311"/>
              <a:gd name="connsiteX2" fmla="*/ 163830 w 2103120"/>
              <a:gd name="connsiteY2" fmla="*/ 16741 h 1529311"/>
              <a:gd name="connsiteX3" fmla="*/ 511810 w 2103120"/>
              <a:gd name="connsiteY3" fmla="*/ 141836 h 1529311"/>
              <a:gd name="connsiteX4" fmla="*/ 2103120 w 2103120"/>
              <a:gd name="connsiteY4" fmla="*/ 1029566 h 1529311"/>
              <a:gd name="connsiteX0" fmla="*/ 0 w 2103120"/>
              <a:gd name="connsiteY0" fmla="*/ 1523818 h 1523818"/>
              <a:gd name="connsiteX1" fmla="*/ 27305 w 2103120"/>
              <a:gd name="connsiteY1" fmla="*/ 219528 h 1523818"/>
              <a:gd name="connsiteX2" fmla="*/ 163830 w 2103120"/>
              <a:gd name="connsiteY2" fmla="*/ 11248 h 1523818"/>
              <a:gd name="connsiteX3" fmla="*/ 511810 w 2103120"/>
              <a:gd name="connsiteY3" fmla="*/ 136343 h 1523818"/>
              <a:gd name="connsiteX4" fmla="*/ 2103120 w 2103120"/>
              <a:gd name="connsiteY4" fmla="*/ 1024073 h 1523818"/>
              <a:gd name="connsiteX0" fmla="*/ 0 w 2103120"/>
              <a:gd name="connsiteY0" fmla="*/ 1513950 h 1513950"/>
              <a:gd name="connsiteX1" fmla="*/ 27305 w 2103120"/>
              <a:gd name="connsiteY1" fmla="*/ 209660 h 1513950"/>
              <a:gd name="connsiteX2" fmla="*/ 163830 w 2103120"/>
              <a:gd name="connsiteY2" fmla="*/ 1380 h 1513950"/>
              <a:gd name="connsiteX3" fmla="*/ 496570 w 2103120"/>
              <a:gd name="connsiteY3" fmla="*/ 172195 h 1513950"/>
              <a:gd name="connsiteX4" fmla="*/ 2103120 w 2103120"/>
              <a:gd name="connsiteY4" fmla="*/ 1014205 h 1513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3120" h="1513950">
                <a:moveTo>
                  <a:pt x="0" y="1513950"/>
                </a:moveTo>
                <a:cubicBezTo>
                  <a:pt x="0" y="1169462"/>
                  <a:pt x="0" y="461755"/>
                  <a:pt x="27305" y="209660"/>
                </a:cubicBezTo>
                <a:cubicBezTo>
                  <a:pt x="54610" y="-42435"/>
                  <a:pt x="85619" y="7624"/>
                  <a:pt x="163830" y="1380"/>
                </a:cubicBezTo>
                <a:cubicBezTo>
                  <a:pt x="242041" y="-4864"/>
                  <a:pt x="173355" y="3391"/>
                  <a:pt x="496570" y="172195"/>
                </a:cubicBezTo>
                <a:cubicBezTo>
                  <a:pt x="819785" y="340999"/>
                  <a:pt x="1581150" y="703055"/>
                  <a:pt x="2103120" y="1014205"/>
                </a:cubicBezTo>
              </a:path>
            </a:pathLst>
          </a:custGeom>
          <a:noFill/>
          <a:ln w="28575">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73">
            <a:extLst>
              <a:ext uri="{FF2B5EF4-FFF2-40B4-BE49-F238E27FC236}">
                <a16:creationId xmlns:a16="http://schemas.microsoft.com/office/drawing/2014/main" id="{7955CFA5-2B08-478E-A196-DB3A084C1636}"/>
              </a:ext>
            </a:extLst>
          </p:cNvPr>
          <p:cNvSpPr/>
          <p:nvPr/>
        </p:nvSpPr>
        <p:spPr bwMode="gray">
          <a:xfrm>
            <a:off x="1739818" y="3066563"/>
            <a:ext cx="2061906" cy="1651697"/>
          </a:xfrm>
          <a:custGeom>
            <a:avLst/>
            <a:gdLst>
              <a:gd name="connsiteX0" fmla="*/ 0 w 2064013"/>
              <a:gd name="connsiteY0" fmla="*/ 1117959 h 1117959"/>
              <a:gd name="connsiteX1" fmla="*/ 1771650 w 2064013"/>
              <a:gd name="connsiteY1" fmla="*/ 79734 h 1117959"/>
              <a:gd name="connsiteX2" fmla="*/ 2038350 w 2064013"/>
              <a:gd name="connsiteY2" fmla="*/ 184509 h 1117959"/>
              <a:gd name="connsiteX3" fmla="*/ 2038350 w 2064013"/>
              <a:gd name="connsiteY3" fmla="*/ 1089384 h 1117959"/>
              <a:gd name="connsiteX0" fmla="*/ 0 w 2055544"/>
              <a:gd name="connsiteY0" fmla="*/ 1117959 h 1117959"/>
              <a:gd name="connsiteX1" fmla="*/ 1771650 w 2055544"/>
              <a:gd name="connsiteY1" fmla="*/ 79734 h 1117959"/>
              <a:gd name="connsiteX2" fmla="*/ 2022475 w 2055544"/>
              <a:gd name="connsiteY2" fmla="*/ 184509 h 1117959"/>
              <a:gd name="connsiteX3" fmla="*/ 2038350 w 2055544"/>
              <a:gd name="connsiteY3" fmla="*/ 1089384 h 1117959"/>
              <a:gd name="connsiteX0" fmla="*/ 0 w 2047143"/>
              <a:gd name="connsiteY0" fmla="*/ 1117959 h 1117959"/>
              <a:gd name="connsiteX1" fmla="*/ 1771650 w 2047143"/>
              <a:gd name="connsiteY1" fmla="*/ 79734 h 1117959"/>
              <a:gd name="connsiteX2" fmla="*/ 2022475 w 2047143"/>
              <a:gd name="connsiteY2" fmla="*/ 184509 h 1117959"/>
              <a:gd name="connsiteX3" fmla="*/ 2038350 w 2047143"/>
              <a:gd name="connsiteY3" fmla="*/ 1089384 h 1117959"/>
              <a:gd name="connsiteX0" fmla="*/ 0 w 2055544"/>
              <a:gd name="connsiteY0" fmla="*/ 1118750 h 1118750"/>
              <a:gd name="connsiteX1" fmla="*/ 1771650 w 2055544"/>
              <a:gd name="connsiteY1" fmla="*/ 80525 h 1118750"/>
              <a:gd name="connsiteX2" fmla="*/ 2022475 w 2055544"/>
              <a:gd name="connsiteY2" fmla="*/ 185300 h 1118750"/>
              <a:gd name="connsiteX3" fmla="*/ 2038350 w 2055544"/>
              <a:gd name="connsiteY3" fmla="*/ 1109225 h 1118750"/>
              <a:gd name="connsiteX0" fmla="*/ 0 w 2044536"/>
              <a:gd name="connsiteY0" fmla="*/ 1118750 h 1118750"/>
              <a:gd name="connsiteX1" fmla="*/ 1771650 w 2044536"/>
              <a:gd name="connsiteY1" fmla="*/ 80525 h 1118750"/>
              <a:gd name="connsiteX2" fmla="*/ 2022475 w 2044536"/>
              <a:gd name="connsiteY2" fmla="*/ 185300 h 1118750"/>
              <a:gd name="connsiteX3" fmla="*/ 2038350 w 2044536"/>
              <a:gd name="connsiteY3" fmla="*/ 1109225 h 1118750"/>
              <a:gd name="connsiteX0" fmla="*/ 0 w 2061232"/>
              <a:gd name="connsiteY0" fmla="*/ 1128724 h 1128724"/>
              <a:gd name="connsiteX1" fmla="*/ 1771650 w 2061232"/>
              <a:gd name="connsiteY1" fmla="*/ 90499 h 1128724"/>
              <a:gd name="connsiteX2" fmla="*/ 2044700 w 2061232"/>
              <a:gd name="connsiteY2" fmla="*/ 169874 h 1128724"/>
              <a:gd name="connsiteX3" fmla="*/ 2038350 w 2061232"/>
              <a:gd name="connsiteY3" fmla="*/ 1119199 h 1128724"/>
              <a:gd name="connsiteX0" fmla="*/ 0 w 2038350"/>
              <a:gd name="connsiteY0" fmla="*/ 1122362 h 1122362"/>
              <a:gd name="connsiteX1" fmla="*/ 1771650 w 2038350"/>
              <a:gd name="connsiteY1" fmla="*/ 84137 h 1122362"/>
              <a:gd name="connsiteX2" fmla="*/ 2009775 w 2038350"/>
              <a:gd name="connsiteY2" fmla="*/ 179387 h 1122362"/>
              <a:gd name="connsiteX3" fmla="*/ 2038350 w 2038350"/>
              <a:gd name="connsiteY3" fmla="*/ 1112837 h 1122362"/>
              <a:gd name="connsiteX0" fmla="*/ 0 w 2043380"/>
              <a:gd name="connsiteY0" fmla="*/ 1111603 h 1111603"/>
              <a:gd name="connsiteX1" fmla="*/ 1771650 w 2043380"/>
              <a:gd name="connsiteY1" fmla="*/ 73378 h 1111603"/>
              <a:gd name="connsiteX2" fmla="*/ 2009775 w 2043380"/>
              <a:gd name="connsiteY2" fmla="*/ 168628 h 1111603"/>
              <a:gd name="connsiteX3" fmla="*/ 2038350 w 2043380"/>
              <a:gd name="connsiteY3" fmla="*/ 1102078 h 1111603"/>
              <a:gd name="connsiteX0" fmla="*/ 0 w 2038350"/>
              <a:gd name="connsiteY0" fmla="*/ 1105608 h 1105608"/>
              <a:gd name="connsiteX1" fmla="*/ 1771650 w 2038350"/>
              <a:gd name="connsiteY1" fmla="*/ 67383 h 1105608"/>
              <a:gd name="connsiteX2" fmla="*/ 2009775 w 2038350"/>
              <a:gd name="connsiteY2" fmla="*/ 162633 h 1105608"/>
              <a:gd name="connsiteX3" fmla="*/ 2038350 w 2038350"/>
              <a:gd name="connsiteY3" fmla="*/ 1096083 h 1105608"/>
              <a:gd name="connsiteX0" fmla="*/ 0 w 2038350"/>
              <a:gd name="connsiteY0" fmla="*/ 1106879 h 1106879"/>
              <a:gd name="connsiteX1" fmla="*/ 1771650 w 2038350"/>
              <a:gd name="connsiteY1" fmla="*/ 68654 h 1106879"/>
              <a:gd name="connsiteX2" fmla="*/ 2009775 w 2038350"/>
              <a:gd name="connsiteY2" fmla="*/ 163904 h 1106879"/>
              <a:gd name="connsiteX3" fmla="*/ 2038350 w 2038350"/>
              <a:gd name="connsiteY3" fmla="*/ 1097354 h 1106879"/>
              <a:gd name="connsiteX0" fmla="*/ 0 w 2038350"/>
              <a:gd name="connsiteY0" fmla="*/ 1122361 h 1122361"/>
              <a:gd name="connsiteX1" fmla="*/ 1771650 w 2038350"/>
              <a:gd name="connsiteY1" fmla="*/ 84136 h 1122361"/>
              <a:gd name="connsiteX2" fmla="*/ 2009775 w 2038350"/>
              <a:gd name="connsiteY2" fmla="*/ 179386 h 1122361"/>
              <a:gd name="connsiteX3" fmla="*/ 2038350 w 2038350"/>
              <a:gd name="connsiteY3" fmla="*/ 1112836 h 1122361"/>
              <a:gd name="connsiteX0" fmla="*/ 0 w 2038350"/>
              <a:gd name="connsiteY0" fmla="*/ 1122361 h 1122361"/>
              <a:gd name="connsiteX1" fmla="*/ 1771650 w 2038350"/>
              <a:gd name="connsiteY1" fmla="*/ 84136 h 1122361"/>
              <a:gd name="connsiteX2" fmla="*/ 2009775 w 2038350"/>
              <a:gd name="connsiteY2" fmla="*/ 179386 h 1122361"/>
              <a:gd name="connsiteX3" fmla="*/ 2038350 w 2038350"/>
              <a:gd name="connsiteY3" fmla="*/ 1112836 h 1122361"/>
              <a:gd name="connsiteX0" fmla="*/ 0 w 2038350"/>
              <a:gd name="connsiteY0" fmla="*/ 1123599 h 1123599"/>
              <a:gd name="connsiteX1" fmla="*/ 1771650 w 2038350"/>
              <a:gd name="connsiteY1" fmla="*/ 85374 h 1123599"/>
              <a:gd name="connsiteX2" fmla="*/ 1990725 w 2038350"/>
              <a:gd name="connsiteY2" fmla="*/ 177449 h 1123599"/>
              <a:gd name="connsiteX3" fmla="*/ 2038350 w 2038350"/>
              <a:gd name="connsiteY3" fmla="*/ 1114074 h 1123599"/>
              <a:gd name="connsiteX0" fmla="*/ 0 w 2038350"/>
              <a:gd name="connsiteY0" fmla="*/ 1126126 h 1126126"/>
              <a:gd name="connsiteX1" fmla="*/ 1771650 w 2038350"/>
              <a:gd name="connsiteY1" fmla="*/ 87901 h 1126126"/>
              <a:gd name="connsiteX2" fmla="*/ 2012950 w 2038350"/>
              <a:gd name="connsiteY2" fmla="*/ 173626 h 1126126"/>
              <a:gd name="connsiteX3" fmla="*/ 2038350 w 2038350"/>
              <a:gd name="connsiteY3" fmla="*/ 1116601 h 1126126"/>
              <a:gd name="connsiteX0" fmla="*/ 0 w 2045165"/>
              <a:gd name="connsiteY0" fmla="*/ 1135532 h 1135532"/>
              <a:gd name="connsiteX1" fmla="*/ 1771650 w 2045165"/>
              <a:gd name="connsiteY1" fmla="*/ 97307 h 1135532"/>
              <a:gd name="connsiteX2" fmla="*/ 2028825 w 2045165"/>
              <a:gd name="connsiteY2" fmla="*/ 160807 h 1135532"/>
              <a:gd name="connsiteX3" fmla="*/ 2038350 w 2045165"/>
              <a:gd name="connsiteY3" fmla="*/ 1126007 h 1135532"/>
              <a:gd name="connsiteX0" fmla="*/ 0 w 2040107"/>
              <a:gd name="connsiteY0" fmla="*/ 1160433 h 1160433"/>
              <a:gd name="connsiteX1" fmla="*/ 1771650 w 2040107"/>
              <a:gd name="connsiteY1" fmla="*/ 122208 h 1160433"/>
              <a:gd name="connsiteX2" fmla="*/ 2022475 w 2040107"/>
              <a:gd name="connsiteY2" fmla="*/ 134908 h 1160433"/>
              <a:gd name="connsiteX3" fmla="*/ 2038350 w 2040107"/>
              <a:gd name="connsiteY3" fmla="*/ 1150908 h 1160433"/>
              <a:gd name="connsiteX0" fmla="*/ 0 w 2042610"/>
              <a:gd name="connsiteY0" fmla="*/ 1122362 h 1122362"/>
              <a:gd name="connsiteX1" fmla="*/ 1771650 w 2042610"/>
              <a:gd name="connsiteY1" fmla="*/ 84137 h 1122362"/>
              <a:gd name="connsiteX2" fmla="*/ 2025650 w 2042610"/>
              <a:gd name="connsiteY2" fmla="*/ 179387 h 1122362"/>
              <a:gd name="connsiteX3" fmla="*/ 2038350 w 2042610"/>
              <a:gd name="connsiteY3" fmla="*/ 1112837 h 1122362"/>
              <a:gd name="connsiteX0" fmla="*/ 0 w 2038350"/>
              <a:gd name="connsiteY0" fmla="*/ 1122362 h 1122362"/>
              <a:gd name="connsiteX1" fmla="*/ 1771650 w 2038350"/>
              <a:gd name="connsiteY1" fmla="*/ 84137 h 1122362"/>
              <a:gd name="connsiteX2" fmla="*/ 2025650 w 2038350"/>
              <a:gd name="connsiteY2" fmla="*/ 179387 h 1122362"/>
              <a:gd name="connsiteX3" fmla="*/ 2038350 w 2038350"/>
              <a:gd name="connsiteY3" fmla="*/ 1112837 h 1122362"/>
              <a:gd name="connsiteX0" fmla="*/ 0 w 2076450"/>
              <a:gd name="connsiteY0" fmla="*/ 1122453 h 1122453"/>
              <a:gd name="connsiteX1" fmla="*/ 1771650 w 2076450"/>
              <a:gd name="connsiteY1" fmla="*/ 84228 h 1122453"/>
              <a:gd name="connsiteX2" fmla="*/ 2025650 w 2076450"/>
              <a:gd name="connsiteY2" fmla="*/ 179478 h 1122453"/>
              <a:gd name="connsiteX3" fmla="*/ 2076450 w 2076450"/>
              <a:gd name="connsiteY3" fmla="*/ 1115045 h 1122453"/>
              <a:gd name="connsiteX0" fmla="*/ 0 w 2076450"/>
              <a:gd name="connsiteY0" fmla="*/ 1122453 h 1122453"/>
              <a:gd name="connsiteX1" fmla="*/ 1771650 w 2076450"/>
              <a:gd name="connsiteY1" fmla="*/ 84228 h 1122453"/>
              <a:gd name="connsiteX2" fmla="*/ 2025650 w 2076450"/>
              <a:gd name="connsiteY2" fmla="*/ 179478 h 1122453"/>
              <a:gd name="connsiteX3" fmla="*/ 2076450 w 2076450"/>
              <a:gd name="connsiteY3" fmla="*/ 1115045 h 1122453"/>
              <a:gd name="connsiteX0" fmla="*/ 0 w 2076450"/>
              <a:gd name="connsiteY0" fmla="*/ 1122453 h 1122453"/>
              <a:gd name="connsiteX1" fmla="*/ 1771650 w 2076450"/>
              <a:gd name="connsiteY1" fmla="*/ 84228 h 1122453"/>
              <a:gd name="connsiteX2" fmla="*/ 1996017 w 2076450"/>
              <a:gd name="connsiteY2" fmla="*/ 179478 h 1122453"/>
              <a:gd name="connsiteX3" fmla="*/ 2076450 w 2076450"/>
              <a:gd name="connsiteY3" fmla="*/ 1115045 h 1122453"/>
              <a:gd name="connsiteX0" fmla="*/ 0 w 2076450"/>
              <a:gd name="connsiteY0" fmla="*/ 1123277 h 1123277"/>
              <a:gd name="connsiteX1" fmla="*/ 1771650 w 2076450"/>
              <a:gd name="connsiteY1" fmla="*/ 85052 h 1123277"/>
              <a:gd name="connsiteX2" fmla="*/ 2008717 w 2076450"/>
              <a:gd name="connsiteY2" fmla="*/ 178185 h 1123277"/>
              <a:gd name="connsiteX3" fmla="*/ 2076450 w 2076450"/>
              <a:gd name="connsiteY3" fmla="*/ 1115869 h 1123277"/>
              <a:gd name="connsiteX0" fmla="*/ 0 w 2076450"/>
              <a:gd name="connsiteY0" fmla="*/ 1129679 h 1129679"/>
              <a:gd name="connsiteX1" fmla="*/ 1771650 w 2076450"/>
              <a:gd name="connsiteY1" fmla="*/ 91454 h 1129679"/>
              <a:gd name="connsiteX2" fmla="*/ 2008717 w 2076450"/>
              <a:gd name="connsiteY2" fmla="*/ 184587 h 1129679"/>
              <a:gd name="connsiteX3" fmla="*/ 2076450 w 2076450"/>
              <a:gd name="connsiteY3" fmla="*/ 1122271 h 1129679"/>
              <a:gd name="connsiteX0" fmla="*/ 0 w 2076450"/>
              <a:gd name="connsiteY0" fmla="*/ 1129679 h 1129679"/>
              <a:gd name="connsiteX1" fmla="*/ 1771650 w 2076450"/>
              <a:gd name="connsiteY1" fmla="*/ 91454 h 1129679"/>
              <a:gd name="connsiteX2" fmla="*/ 2008717 w 2076450"/>
              <a:gd name="connsiteY2" fmla="*/ 184587 h 1129679"/>
              <a:gd name="connsiteX3" fmla="*/ 2076450 w 2076450"/>
              <a:gd name="connsiteY3" fmla="*/ 1122271 h 1129679"/>
              <a:gd name="connsiteX0" fmla="*/ 0 w 2076450"/>
              <a:gd name="connsiteY0" fmla="*/ 1115515 h 1115515"/>
              <a:gd name="connsiteX1" fmla="*/ 1696799 w 2076450"/>
              <a:gd name="connsiteY1" fmla="*/ 88098 h 1115515"/>
              <a:gd name="connsiteX2" fmla="*/ 2008717 w 2076450"/>
              <a:gd name="connsiteY2" fmla="*/ 170423 h 1115515"/>
              <a:gd name="connsiteX3" fmla="*/ 2076450 w 2076450"/>
              <a:gd name="connsiteY3" fmla="*/ 1108107 h 1115515"/>
              <a:gd name="connsiteX0" fmla="*/ 0 w 2076450"/>
              <a:gd name="connsiteY0" fmla="*/ 1115515 h 1115515"/>
              <a:gd name="connsiteX1" fmla="*/ 1696799 w 2076450"/>
              <a:gd name="connsiteY1" fmla="*/ 88098 h 1115515"/>
              <a:gd name="connsiteX2" fmla="*/ 1987926 w 2076450"/>
              <a:gd name="connsiteY2" fmla="*/ 170423 h 1115515"/>
              <a:gd name="connsiteX3" fmla="*/ 2076450 w 2076450"/>
              <a:gd name="connsiteY3" fmla="*/ 1108107 h 1115515"/>
              <a:gd name="connsiteX0" fmla="*/ 0 w 2076450"/>
              <a:gd name="connsiteY0" fmla="*/ 1115515 h 1115515"/>
              <a:gd name="connsiteX1" fmla="*/ 1696799 w 2076450"/>
              <a:gd name="connsiteY1" fmla="*/ 88098 h 1115515"/>
              <a:gd name="connsiteX2" fmla="*/ 1987926 w 2076450"/>
              <a:gd name="connsiteY2" fmla="*/ 170423 h 1115515"/>
              <a:gd name="connsiteX3" fmla="*/ 2076450 w 2076450"/>
              <a:gd name="connsiteY3" fmla="*/ 1108107 h 1115515"/>
              <a:gd name="connsiteX0" fmla="*/ 0 w 2076450"/>
              <a:gd name="connsiteY0" fmla="*/ 1116114 h 1116114"/>
              <a:gd name="connsiteX1" fmla="*/ 1696799 w 2076450"/>
              <a:gd name="connsiteY1" fmla="*/ 88697 h 1116114"/>
              <a:gd name="connsiteX2" fmla="*/ 1987926 w 2076450"/>
              <a:gd name="connsiteY2" fmla="*/ 171022 h 1116114"/>
              <a:gd name="connsiteX3" fmla="*/ 2076450 w 2076450"/>
              <a:gd name="connsiteY3" fmla="*/ 1108706 h 1116114"/>
              <a:gd name="connsiteX0" fmla="*/ 0 w 2086430"/>
              <a:gd name="connsiteY0" fmla="*/ 1182887 h 1182887"/>
              <a:gd name="connsiteX1" fmla="*/ 1706779 w 2086430"/>
              <a:gd name="connsiteY1" fmla="*/ 93217 h 1182887"/>
              <a:gd name="connsiteX2" fmla="*/ 1997906 w 2086430"/>
              <a:gd name="connsiteY2" fmla="*/ 175542 h 1182887"/>
              <a:gd name="connsiteX3" fmla="*/ 2086430 w 2086430"/>
              <a:gd name="connsiteY3" fmla="*/ 1113226 h 1182887"/>
              <a:gd name="connsiteX0" fmla="*/ 0 w 2086430"/>
              <a:gd name="connsiteY0" fmla="*/ 1182887 h 1182887"/>
              <a:gd name="connsiteX1" fmla="*/ 1706779 w 2086430"/>
              <a:gd name="connsiteY1" fmla="*/ 93217 h 1182887"/>
              <a:gd name="connsiteX2" fmla="*/ 1997906 w 2086430"/>
              <a:gd name="connsiteY2" fmla="*/ 175542 h 1182887"/>
              <a:gd name="connsiteX3" fmla="*/ 2086430 w 2086430"/>
              <a:gd name="connsiteY3" fmla="*/ 1113226 h 1182887"/>
              <a:gd name="connsiteX0" fmla="*/ 0 w 2071460"/>
              <a:gd name="connsiteY0" fmla="*/ 1194017 h 1194016"/>
              <a:gd name="connsiteX1" fmla="*/ 1691809 w 2071460"/>
              <a:gd name="connsiteY1" fmla="*/ 93971 h 1194016"/>
              <a:gd name="connsiteX2" fmla="*/ 1982936 w 2071460"/>
              <a:gd name="connsiteY2" fmla="*/ 176296 h 1194016"/>
              <a:gd name="connsiteX3" fmla="*/ 2071460 w 2071460"/>
              <a:gd name="connsiteY3" fmla="*/ 1113980 h 1194016"/>
              <a:gd name="connsiteX0" fmla="*/ 0 w 2071460"/>
              <a:gd name="connsiteY0" fmla="*/ 1171897 h 1171897"/>
              <a:gd name="connsiteX1" fmla="*/ 1661869 w 2071460"/>
              <a:gd name="connsiteY1" fmla="*/ 102978 h 1171897"/>
              <a:gd name="connsiteX2" fmla="*/ 1982936 w 2071460"/>
              <a:gd name="connsiteY2" fmla="*/ 154176 h 1171897"/>
              <a:gd name="connsiteX3" fmla="*/ 2071460 w 2071460"/>
              <a:gd name="connsiteY3" fmla="*/ 1091860 h 1171897"/>
              <a:gd name="connsiteX0" fmla="*/ 0 w 2016569"/>
              <a:gd name="connsiteY0" fmla="*/ 1655477 h 1655477"/>
              <a:gd name="connsiteX1" fmla="*/ 1606978 w 2016569"/>
              <a:gd name="connsiteY1" fmla="*/ 135221 h 1655477"/>
              <a:gd name="connsiteX2" fmla="*/ 1928045 w 2016569"/>
              <a:gd name="connsiteY2" fmla="*/ 186419 h 1655477"/>
              <a:gd name="connsiteX3" fmla="*/ 2016569 w 2016569"/>
              <a:gd name="connsiteY3" fmla="*/ 1124103 h 1655477"/>
              <a:gd name="connsiteX0" fmla="*/ 8692 w 2025261"/>
              <a:gd name="connsiteY0" fmla="*/ 1655477 h 1655477"/>
              <a:gd name="connsiteX1" fmla="*/ 1615670 w 2025261"/>
              <a:gd name="connsiteY1" fmla="*/ 135221 h 1655477"/>
              <a:gd name="connsiteX2" fmla="*/ 1936737 w 2025261"/>
              <a:gd name="connsiteY2" fmla="*/ 186419 h 1655477"/>
              <a:gd name="connsiteX3" fmla="*/ 2025261 w 2025261"/>
              <a:gd name="connsiteY3" fmla="*/ 1124103 h 1655477"/>
              <a:gd name="connsiteX0" fmla="*/ 8837 w 2025406"/>
              <a:gd name="connsiteY0" fmla="*/ 1689279 h 1689279"/>
              <a:gd name="connsiteX1" fmla="*/ 1590865 w 2025406"/>
              <a:gd name="connsiteY1" fmla="*/ 122333 h 1689279"/>
              <a:gd name="connsiteX2" fmla="*/ 1936882 w 2025406"/>
              <a:gd name="connsiteY2" fmla="*/ 220221 h 1689279"/>
              <a:gd name="connsiteX3" fmla="*/ 2025406 w 2025406"/>
              <a:gd name="connsiteY3" fmla="*/ 1157905 h 1689279"/>
              <a:gd name="connsiteX0" fmla="*/ 8985 w 2025554"/>
              <a:gd name="connsiteY0" fmla="*/ 1648048 h 1648048"/>
              <a:gd name="connsiteX1" fmla="*/ 1591013 w 2025554"/>
              <a:gd name="connsiteY1" fmla="*/ 81102 h 1648048"/>
              <a:gd name="connsiteX2" fmla="*/ 1937030 w 2025554"/>
              <a:gd name="connsiteY2" fmla="*/ 178990 h 1648048"/>
              <a:gd name="connsiteX3" fmla="*/ 2025554 w 2025554"/>
              <a:gd name="connsiteY3" fmla="*/ 1116674 h 1648048"/>
              <a:gd name="connsiteX0" fmla="*/ 8838 w 2025407"/>
              <a:gd name="connsiteY0" fmla="*/ 1689279 h 1689279"/>
              <a:gd name="connsiteX1" fmla="*/ 1590866 w 2025407"/>
              <a:gd name="connsiteY1" fmla="*/ 122333 h 1689279"/>
              <a:gd name="connsiteX2" fmla="*/ 1936883 w 2025407"/>
              <a:gd name="connsiteY2" fmla="*/ 220221 h 1689279"/>
              <a:gd name="connsiteX3" fmla="*/ 2025407 w 2025407"/>
              <a:gd name="connsiteY3" fmla="*/ 1157905 h 1689279"/>
              <a:gd name="connsiteX0" fmla="*/ 8838 w 2025407"/>
              <a:gd name="connsiteY0" fmla="*/ 1688002 h 1688002"/>
              <a:gd name="connsiteX1" fmla="*/ 1590866 w 2025407"/>
              <a:gd name="connsiteY1" fmla="*/ 121056 h 1688002"/>
              <a:gd name="connsiteX2" fmla="*/ 1936883 w 2025407"/>
              <a:gd name="connsiteY2" fmla="*/ 218944 h 1688002"/>
              <a:gd name="connsiteX3" fmla="*/ 2025407 w 2025407"/>
              <a:gd name="connsiteY3" fmla="*/ 1156628 h 1688002"/>
              <a:gd name="connsiteX0" fmla="*/ 8838 w 2025407"/>
              <a:gd name="connsiteY0" fmla="*/ 1686741 h 1686741"/>
              <a:gd name="connsiteX1" fmla="*/ 1590866 w 2025407"/>
              <a:gd name="connsiteY1" fmla="*/ 119795 h 1686741"/>
              <a:gd name="connsiteX2" fmla="*/ 1936883 w 2025407"/>
              <a:gd name="connsiteY2" fmla="*/ 217683 h 1686741"/>
              <a:gd name="connsiteX3" fmla="*/ 2025407 w 2025407"/>
              <a:gd name="connsiteY3" fmla="*/ 1155367 h 1686741"/>
            </a:gdLst>
            <a:ahLst/>
            <a:cxnLst>
              <a:cxn ang="0">
                <a:pos x="connsiteX0" y="connsiteY0"/>
              </a:cxn>
              <a:cxn ang="0">
                <a:pos x="connsiteX1" y="connsiteY1"/>
              </a:cxn>
              <a:cxn ang="0">
                <a:pos x="connsiteX2" y="connsiteY2"/>
              </a:cxn>
              <a:cxn ang="0">
                <a:pos x="connsiteX3" y="connsiteY3"/>
              </a:cxn>
            </a:cxnLst>
            <a:rect l="l" t="t" r="r" b="b"/>
            <a:pathLst>
              <a:path w="2025407" h="1686741">
                <a:moveTo>
                  <a:pt x="8838" y="1686741"/>
                </a:moveTo>
                <a:cubicBezTo>
                  <a:pt x="-123513" y="762951"/>
                  <a:pt x="1269525" y="364638"/>
                  <a:pt x="1590866" y="119795"/>
                </a:cubicBezTo>
                <a:cubicBezTo>
                  <a:pt x="1912207" y="-125048"/>
                  <a:pt x="1924340" y="55464"/>
                  <a:pt x="1936883" y="217683"/>
                </a:cubicBezTo>
                <a:cubicBezTo>
                  <a:pt x="1949426" y="379902"/>
                  <a:pt x="1977782" y="787067"/>
                  <a:pt x="2025407" y="1155367"/>
                </a:cubicBezTo>
              </a:path>
            </a:pathLst>
          </a:custGeom>
          <a:noFill/>
          <a:ln w="28575">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0" name="图片 74">
            <a:extLst>
              <a:ext uri="{FF2B5EF4-FFF2-40B4-BE49-F238E27FC236}">
                <a16:creationId xmlns:a16="http://schemas.microsoft.com/office/drawing/2014/main" id="{FF20EF4B-651B-4845-8F3A-4809F7B624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786555" y="4090690"/>
            <a:ext cx="360510" cy="295200"/>
          </a:xfrm>
          <a:prstGeom prst="rect">
            <a:avLst/>
          </a:prstGeom>
        </p:spPr>
      </p:pic>
      <p:sp>
        <p:nvSpPr>
          <p:cNvPr id="54" name="任意多边形 75">
            <a:extLst>
              <a:ext uri="{FF2B5EF4-FFF2-40B4-BE49-F238E27FC236}">
                <a16:creationId xmlns:a16="http://schemas.microsoft.com/office/drawing/2014/main" id="{B74E66E0-1DFB-4FCB-8908-B3607F9690DA}"/>
              </a:ext>
            </a:extLst>
          </p:cNvPr>
          <p:cNvSpPr/>
          <p:nvPr/>
        </p:nvSpPr>
        <p:spPr bwMode="gray">
          <a:xfrm>
            <a:off x="3796170" y="3112255"/>
            <a:ext cx="198966" cy="1138732"/>
          </a:xfrm>
          <a:custGeom>
            <a:avLst/>
            <a:gdLst>
              <a:gd name="connsiteX0" fmla="*/ 0 w 198966"/>
              <a:gd name="connsiteY0" fmla="*/ 1075267 h 1164753"/>
              <a:gd name="connsiteX1" fmla="*/ 78316 w 198966"/>
              <a:gd name="connsiteY1" fmla="*/ 1102783 h 1164753"/>
              <a:gd name="connsiteX2" fmla="*/ 114300 w 198966"/>
              <a:gd name="connsiteY2" fmla="*/ 1075267 h 1164753"/>
              <a:gd name="connsiteX3" fmla="*/ 198966 w 198966"/>
              <a:gd name="connsiteY3" fmla="*/ 0 h 1164753"/>
              <a:gd name="connsiteX0" fmla="*/ 0 w 198966"/>
              <a:gd name="connsiteY0" fmla="*/ 1075267 h 1171538"/>
              <a:gd name="connsiteX1" fmla="*/ 61383 w 198966"/>
              <a:gd name="connsiteY1" fmla="*/ 1119716 h 1171538"/>
              <a:gd name="connsiteX2" fmla="*/ 114300 w 198966"/>
              <a:gd name="connsiteY2" fmla="*/ 1075267 h 1171538"/>
              <a:gd name="connsiteX3" fmla="*/ 198966 w 198966"/>
              <a:gd name="connsiteY3" fmla="*/ 0 h 1171538"/>
              <a:gd name="connsiteX0" fmla="*/ 0 w 198966"/>
              <a:gd name="connsiteY0" fmla="*/ 1075267 h 1177042"/>
              <a:gd name="connsiteX1" fmla="*/ 46567 w 198966"/>
              <a:gd name="connsiteY1" fmla="*/ 1132416 h 1177042"/>
              <a:gd name="connsiteX2" fmla="*/ 114300 w 198966"/>
              <a:gd name="connsiteY2" fmla="*/ 1075267 h 1177042"/>
              <a:gd name="connsiteX3" fmla="*/ 198966 w 198966"/>
              <a:gd name="connsiteY3" fmla="*/ 0 h 1177042"/>
              <a:gd name="connsiteX0" fmla="*/ 0 w 198966"/>
              <a:gd name="connsiteY0" fmla="*/ 1075267 h 1165971"/>
              <a:gd name="connsiteX1" fmla="*/ 46567 w 198966"/>
              <a:gd name="connsiteY1" fmla="*/ 1132416 h 1165971"/>
              <a:gd name="connsiteX2" fmla="*/ 133350 w 198966"/>
              <a:gd name="connsiteY2" fmla="*/ 1058334 h 1165971"/>
              <a:gd name="connsiteX3" fmla="*/ 198966 w 198966"/>
              <a:gd name="connsiteY3" fmla="*/ 0 h 1165971"/>
              <a:gd name="connsiteX0" fmla="*/ 0 w 198966"/>
              <a:gd name="connsiteY0" fmla="*/ 1075267 h 1149640"/>
              <a:gd name="connsiteX1" fmla="*/ 46567 w 198966"/>
              <a:gd name="connsiteY1" fmla="*/ 1132416 h 1149640"/>
              <a:gd name="connsiteX2" fmla="*/ 152400 w 198966"/>
              <a:gd name="connsiteY2" fmla="*/ 1030817 h 1149640"/>
              <a:gd name="connsiteX3" fmla="*/ 198966 w 198966"/>
              <a:gd name="connsiteY3" fmla="*/ 0 h 1149640"/>
              <a:gd name="connsiteX0" fmla="*/ 0 w 198966"/>
              <a:gd name="connsiteY0" fmla="*/ 1075267 h 1150868"/>
              <a:gd name="connsiteX1" fmla="*/ 80433 w 198966"/>
              <a:gd name="connsiteY1" fmla="*/ 1134533 h 1150868"/>
              <a:gd name="connsiteX2" fmla="*/ 152400 w 198966"/>
              <a:gd name="connsiteY2" fmla="*/ 1030817 h 1150868"/>
              <a:gd name="connsiteX3" fmla="*/ 198966 w 198966"/>
              <a:gd name="connsiteY3" fmla="*/ 0 h 1150868"/>
              <a:gd name="connsiteX0" fmla="*/ 0 w 198966"/>
              <a:gd name="connsiteY0" fmla="*/ 1075267 h 1155847"/>
              <a:gd name="connsiteX1" fmla="*/ 80433 w 198966"/>
              <a:gd name="connsiteY1" fmla="*/ 1134533 h 1155847"/>
              <a:gd name="connsiteX2" fmla="*/ 152400 w 198966"/>
              <a:gd name="connsiteY2" fmla="*/ 1030817 h 1155847"/>
              <a:gd name="connsiteX3" fmla="*/ 198966 w 198966"/>
              <a:gd name="connsiteY3" fmla="*/ 0 h 1155847"/>
              <a:gd name="connsiteX0" fmla="*/ 0 w 198966"/>
              <a:gd name="connsiteY0" fmla="*/ 1075267 h 1136677"/>
              <a:gd name="connsiteX1" fmla="*/ 80433 w 198966"/>
              <a:gd name="connsiteY1" fmla="*/ 1134533 h 1136677"/>
              <a:gd name="connsiteX2" fmla="*/ 160867 w 198966"/>
              <a:gd name="connsiteY2" fmla="*/ 990601 h 1136677"/>
              <a:gd name="connsiteX3" fmla="*/ 198966 w 198966"/>
              <a:gd name="connsiteY3" fmla="*/ 0 h 1136677"/>
              <a:gd name="connsiteX0" fmla="*/ 0 w 198966"/>
              <a:gd name="connsiteY0" fmla="*/ 1075267 h 1138732"/>
              <a:gd name="connsiteX1" fmla="*/ 103716 w 198966"/>
              <a:gd name="connsiteY1" fmla="*/ 1136650 h 1138732"/>
              <a:gd name="connsiteX2" fmla="*/ 160867 w 198966"/>
              <a:gd name="connsiteY2" fmla="*/ 990601 h 1138732"/>
              <a:gd name="connsiteX3" fmla="*/ 198966 w 198966"/>
              <a:gd name="connsiteY3" fmla="*/ 0 h 1138732"/>
            </a:gdLst>
            <a:ahLst/>
            <a:cxnLst>
              <a:cxn ang="0">
                <a:pos x="connsiteX0" y="connsiteY0"/>
              </a:cxn>
              <a:cxn ang="0">
                <a:pos x="connsiteX1" y="connsiteY1"/>
              </a:cxn>
              <a:cxn ang="0">
                <a:pos x="connsiteX2" y="connsiteY2"/>
              </a:cxn>
              <a:cxn ang="0">
                <a:pos x="connsiteX3" y="connsiteY3"/>
              </a:cxn>
            </a:cxnLst>
            <a:rect l="l" t="t" r="r" b="b"/>
            <a:pathLst>
              <a:path w="198966" h="1138732">
                <a:moveTo>
                  <a:pt x="0" y="1075267"/>
                </a:moveTo>
                <a:cubicBezTo>
                  <a:pt x="29633" y="1089025"/>
                  <a:pt x="76905" y="1150761"/>
                  <a:pt x="103716" y="1136650"/>
                </a:cubicBezTo>
                <a:cubicBezTo>
                  <a:pt x="130527" y="1122539"/>
                  <a:pt x="144992" y="1180043"/>
                  <a:pt x="160867" y="990601"/>
                </a:cubicBezTo>
                <a:cubicBezTo>
                  <a:pt x="176742" y="801159"/>
                  <a:pt x="166687" y="445735"/>
                  <a:pt x="198966" y="0"/>
                </a:cubicBezTo>
              </a:path>
            </a:pathLst>
          </a:custGeom>
          <a:noFill/>
          <a:ln w="28575">
            <a:solidFill>
              <a:srgbClr val="E28189"/>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76">
            <a:extLst>
              <a:ext uri="{FF2B5EF4-FFF2-40B4-BE49-F238E27FC236}">
                <a16:creationId xmlns:a16="http://schemas.microsoft.com/office/drawing/2014/main" id="{B90FC996-C56D-4BFD-891C-8DB537AF1DA5}"/>
              </a:ext>
            </a:extLst>
          </p:cNvPr>
          <p:cNvSpPr/>
          <p:nvPr/>
        </p:nvSpPr>
        <p:spPr bwMode="gray">
          <a:xfrm>
            <a:off x="3718404" y="3150052"/>
            <a:ext cx="198966" cy="1138732"/>
          </a:xfrm>
          <a:custGeom>
            <a:avLst/>
            <a:gdLst>
              <a:gd name="connsiteX0" fmla="*/ 0 w 198966"/>
              <a:gd name="connsiteY0" fmla="*/ 1075267 h 1164753"/>
              <a:gd name="connsiteX1" fmla="*/ 78316 w 198966"/>
              <a:gd name="connsiteY1" fmla="*/ 1102783 h 1164753"/>
              <a:gd name="connsiteX2" fmla="*/ 114300 w 198966"/>
              <a:gd name="connsiteY2" fmla="*/ 1075267 h 1164753"/>
              <a:gd name="connsiteX3" fmla="*/ 198966 w 198966"/>
              <a:gd name="connsiteY3" fmla="*/ 0 h 1164753"/>
              <a:gd name="connsiteX0" fmla="*/ 0 w 198966"/>
              <a:gd name="connsiteY0" fmla="*/ 1075267 h 1171538"/>
              <a:gd name="connsiteX1" fmla="*/ 61383 w 198966"/>
              <a:gd name="connsiteY1" fmla="*/ 1119716 h 1171538"/>
              <a:gd name="connsiteX2" fmla="*/ 114300 w 198966"/>
              <a:gd name="connsiteY2" fmla="*/ 1075267 h 1171538"/>
              <a:gd name="connsiteX3" fmla="*/ 198966 w 198966"/>
              <a:gd name="connsiteY3" fmla="*/ 0 h 1171538"/>
              <a:gd name="connsiteX0" fmla="*/ 0 w 198966"/>
              <a:gd name="connsiteY0" fmla="*/ 1075267 h 1177042"/>
              <a:gd name="connsiteX1" fmla="*/ 46567 w 198966"/>
              <a:gd name="connsiteY1" fmla="*/ 1132416 h 1177042"/>
              <a:gd name="connsiteX2" fmla="*/ 114300 w 198966"/>
              <a:gd name="connsiteY2" fmla="*/ 1075267 h 1177042"/>
              <a:gd name="connsiteX3" fmla="*/ 198966 w 198966"/>
              <a:gd name="connsiteY3" fmla="*/ 0 h 1177042"/>
              <a:gd name="connsiteX0" fmla="*/ 0 w 198966"/>
              <a:gd name="connsiteY0" fmla="*/ 1075267 h 1165971"/>
              <a:gd name="connsiteX1" fmla="*/ 46567 w 198966"/>
              <a:gd name="connsiteY1" fmla="*/ 1132416 h 1165971"/>
              <a:gd name="connsiteX2" fmla="*/ 133350 w 198966"/>
              <a:gd name="connsiteY2" fmla="*/ 1058334 h 1165971"/>
              <a:gd name="connsiteX3" fmla="*/ 198966 w 198966"/>
              <a:gd name="connsiteY3" fmla="*/ 0 h 1165971"/>
              <a:gd name="connsiteX0" fmla="*/ 0 w 198966"/>
              <a:gd name="connsiteY0" fmla="*/ 1075267 h 1149640"/>
              <a:gd name="connsiteX1" fmla="*/ 46567 w 198966"/>
              <a:gd name="connsiteY1" fmla="*/ 1132416 h 1149640"/>
              <a:gd name="connsiteX2" fmla="*/ 152400 w 198966"/>
              <a:gd name="connsiteY2" fmla="*/ 1030817 h 1149640"/>
              <a:gd name="connsiteX3" fmla="*/ 198966 w 198966"/>
              <a:gd name="connsiteY3" fmla="*/ 0 h 1149640"/>
              <a:gd name="connsiteX0" fmla="*/ 0 w 198966"/>
              <a:gd name="connsiteY0" fmla="*/ 1075267 h 1150868"/>
              <a:gd name="connsiteX1" fmla="*/ 80433 w 198966"/>
              <a:gd name="connsiteY1" fmla="*/ 1134533 h 1150868"/>
              <a:gd name="connsiteX2" fmla="*/ 152400 w 198966"/>
              <a:gd name="connsiteY2" fmla="*/ 1030817 h 1150868"/>
              <a:gd name="connsiteX3" fmla="*/ 198966 w 198966"/>
              <a:gd name="connsiteY3" fmla="*/ 0 h 1150868"/>
              <a:gd name="connsiteX0" fmla="*/ 0 w 198966"/>
              <a:gd name="connsiteY0" fmla="*/ 1075267 h 1155847"/>
              <a:gd name="connsiteX1" fmla="*/ 80433 w 198966"/>
              <a:gd name="connsiteY1" fmla="*/ 1134533 h 1155847"/>
              <a:gd name="connsiteX2" fmla="*/ 152400 w 198966"/>
              <a:gd name="connsiteY2" fmla="*/ 1030817 h 1155847"/>
              <a:gd name="connsiteX3" fmla="*/ 198966 w 198966"/>
              <a:gd name="connsiteY3" fmla="*/ 0 h 1155847"/>
              <a:gd name="connsiteX0" fmla="*/ 0 w 198966"/>
              <a:gd name="connsiteY0" fmla="*/ 1075267 h 1136677"/>
              <a:gd name="connsiteX1" fmla="*/ 80433 w 198966"/>
              <a:gd name="connsiteY1" fmla="*/ 1134533 h 1136677"/>
              <a:gd name="connsiteX2" fmla="*/ 160867 w 198966"/>
              <a:gd name="connsiteY2" fmla="*/ 990601 h 1136677"/>
              <a:gd name="connsiteX3" fmla="*/ 198966 w 198966"/>
              <a:gd name="connsiteY3" fmla="*/ 0 h 1136677"/>
              <a:gd name="connsiteX0" fmla="*/ 0 w 198966"/>
              <a:gd name="connsiteY0" fmla="*/ 1075267 h 1138732"/>
              <a:gd name="connsiteX1" fmla="*/ 103716 w 198966"/>
              <a:gd name="connsiteY1" fmla="*/ 1136650 h 1138732"/>
              <a:gd name="connsiteX2" fmla="*/ 160867 w 198966"/>
              <a:gd name="connsiteY2" fmla="*/ 990601 h 1138732"/>
              <a:gd name="connsiteX3" fmla="*/ 198966 w 198966"/>
              <a:gd name="connsiteY3" fmla="*/ 0 h 1138732"/>
            </a:gdLst>
            <a:ahLst/>
            <a:cxnLst>
              <a:cxn ang="0">
                <a:pos x="connsiteX0" y="connsiteY0"/>
              </a:cxn>
              <a:cxn ang="0">
                <a:pos x="connsiteX1" y="connsiteY1"/>
              </a:cxn>
              <a:cxn ang="0">
                <a:pos x="connsiteX2" y="connsiteY2"/>
              </a:cxn>
              <a:cxn ang="0">
                <a:pos x="connsiteX3" y="connsiteY3"/>
              </a:cxn>
            </a:cxnLst>
            <a:rect l="l" t="t" r="r" b="b"/>
            <a:pathLst>
              <a:path w="198966" h="1138732">
                <a:moveTo>
                  <a:pt x="0" y="1075267"/>
                </a:moveTo>
                <a:cubicBezTo>
                  <a:pt x="29633" y="1089025"/>
                  <a:pt x="76905" y="1150761"/>
                  <a:pt x="103716" y="1136650"/>
                </a:cubicBezTo>
                <a:cubicBezTo>
                  <a:pt x="130527" y="1122539"/>
                  <a:pt x="144992" y="1180043"/>
                  <a:pt x="160867" y="990601"/>
                </a:cubicBezTo>
                <a:cubicBezTo>
                  <a:pt x="176742" y="801159"/>
                  <a:pt x="166687" y="445735"/>
                  <a:pt x="198966" y="0"/>
                </a:cubicBezTo>
              </a:path>
            </a:pathLst>
          </a:custGeom>
          <a:noFill/>
          <a:ln w="28575">
            <a:solidFill>
              <a:srgbClr val="E28189"/>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4527549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65531C1-DF1A-4E78-8327-B47D5A60CA26}"/>
              </a:ext>
            </a:extLst>
          </p:cNvPr>
          <p:cNvSpPr>
            <a:spLocks noGrp="1"/>
          </p:cNvSpPr>
          <p:nvPr>
            <p:ph type="body" sz="quarter" idx="10"/>
          </p:nvPr>
        </p:nvSpPr>
        <p:spPr bwMode="gray"/>
        <p:txBody>
          <a:bodyPr/>
          <a:lstStyle/>
          <a:p>
            <a:r>
              <a:rPr lang="zh-CN" altLang="en-US" sz="1800" dirty="0"/>
              <a:t>集中上网场景下，集中上网站点采用</a:t>
            </a:r>
            <a:r>
              <a:rPr lang="en-US" altLang="zh-CN" sz="1800" dirty="0"/>
              <a:t>WAN</a:t>
            </a:r>
            <a:r>
              <a:rPr lang="zh-CN" altLang="en-US" sz="1800" dirty="0"/>
              <a:t>侧出接口接入</a:t>
            </a:r>
            <a:r>
              <a:rPr lang="en-US" altLang="zh-CN" sz="1800" dirty="0"/>
              <a:t>Internet</a:t>
            </a:r>
            <a:r>
              <a:rPr lang="zh-CN" altLang="en-US" sz="1800" dirty="0"/>
              <a:t>时，可以旁挂部署物理防火墙（</a:t>
            </a:r>
            <a:r>
              <a:rPr lang="en-US" altLang="zh-CN" sz="1800" dirty="0"/>
              <a:t>FW</a:t>
            </a:r>
            <a:r>
              <a:rPr lang="zh-CN" altLang="en-US" sz="1800" dirty="0"/>
              <a:t>）设备，提供基于</a:t>
            </a:r>
            <a:r>
              <a:rPr lang="en-US" altLang="zh-CN" sz="1800" dirty="0"/>
              <a:t>VAS</a:t>
            </a:r>
            <a:r>
              <a:rPr lang="zh-CN" altLang="en-US" sz="1800" dirty="0"/>
              <a:t>（</a:t>
            </a:r>
            <a:r>
              <a:rPr lang="en-US" altLang="zh-CN" sz="1800" dirty="0"/>
              <a:t>Value-Added Service</a:t>
            </a:r>
            <a:r>
              <a:rPr lang="zh-CN" altLang="en-US" sz="1800" dirty="0"/>
              <a:t>，增值业务）的高级安全防护功能。</a:t>
            </a:r>
            <a:endParaRPr lang="en-US" altLang="zh-CN" sz="1800" dirty="0"/>
          </a:p>
        </p:txBody>
      </p:sp>
      <p:sp>
        <p:nvSpPr>
          <p:cNvPr id="42" name="Freeform 159">
            <a:extLst>
              <a:ext uri="{FF2B5EF4-FFF2-40B4-BE49-F238E27FC236}">
                <a16:creationId xmlns:a16="http://schemas.microsoft.com/office/drawing/2014/main" id="{11B15029-62EE-46E9-9250-036303EE537F}"/>
              </a:ext>
            </a:extLst>
          </p:cNvPr>
          <p:cNvSpPr/>
          <p:nvPr/>
        </p:nvSpPr>
        <p:spPr bwMode="gray">
          <a:xfrm flipH="1">
            <a:off x="3262925" y="5234607"/>
            <a:ext cx="919503" cy="4806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159">
            <a:extLst>
              <a:ext uri="{FF2B5EF4-FFF2-40B4-BE49-F238E27FC236}">
                <a16:creationId xmlns:a16="http://schemas.microsoft.com/office/drawing/2014/main" id="{673A7334-05E8-4F13-8A44-C379B060BBD6}"/>
              </a:ext>
            </a:extLst>
          </p:cNvPr>
          <p:cNvSpPr/>
          <p:nvPr/>
        </p:nvSpPr>
        <p:spPr bwMode="gray">
          <a:xfrm flipH="1">
            <a:off x="1271137" y="5234607"/>
            <a:ext cx="919503" cy="4806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分支</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Freeform 159">
            <a:extLst>
              <a:ext uri="{FF2B5EF4-FFF2-40B4-BE49-F238E27FC236}">
                <a16:creationId xmlns:a16="http://schemas.microsoft.com/office/drawing/2014/main" id="{2A64B3B0-D998-4203-AE53-6D09F7739F4B}"/>
              </a:ext>
            </a:extLst>
          </p:cNvPr>
          <p:cNvSpPr/>
          <p:nvPr/>
        </p:nvSpPr>
        <p:spPr bwMode="gray">
          <a:xfrm flipH="1">
            <a:off x="2623443" y="2733975"/>
            <a:ext cx="1026599" cy="53663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总部</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itle 1">
            <a:extLst>
              <a:ext uri="{FF2B5EF4-FFF2-40B4-BE49-F238E27FC236}">
                <a16:creationId xmlns:a16="http://schemas.microsoft.com/office/drawing/2014/main" id="{E03864F6-0E92-46B8-8B3D-1F27C7566284}"/>
              </a:ext>
            </a:extLst>
          </p:cNvPr>
          <p:cNvSpPr>
            <a:spLocks noGrp="1"/>
          </p:cNvSpPr>
          <p:nvPr>
            <p:ph type="title"/>
          </p:nvPr>
        </p:nvSpPr>
        <p:spPr bwMode="gray"/>
        <p:txBody>
          <a:bodyPr/>
          <a:lstStyle/>
          <a:p>
            <a:r>
              <a:rPr lang="zh-CN" altLang="en-US" dirty="0"/>
              <a:t>业务安全设计：</a:t>
            </a:r>
            <a:r>
              <a:rPr lang="en-US" altLang="zh-CN" dirty="0"/>
              <a:t>VAS</a:t>
            </a:r>
            <a:r>
              <a:rPr lang="zh-CN" altLang="en-US" dirty="0"/>
              <a:t>高级安全</a:t>
            </a:r>
            <a:endParaRPr lang="en-US" dirty="0"/>
          </a:p>
        </p:txBody>
      </p:sp>
      <p:sp>
        <p:nvSpPr>
          <p:cNvPr id="57" name="圆角矩形 55">
            <a:extLst>
              <a:ext uri="{FF2B5EF4-FFF2-40B4-BE49-F238E27FC236}">
                <a16:creationId xmlns:a16="http://schemas.microsoft.com/office/drawing/2014/main" id="{A2D6F978-B940-4AF9-95BA-FA38EAE65062}"/>
              </a:ext>
            </a:extLst>
          </p:cNvPr>
          <p:cNvSpPr/>
          <p:nvPr/>
        </p:nvSpPr>
        <p:spPr bwMode="gray">
          <a:xfrm>
            <a:off x="739406" y="1886570"/>
            <a:ext cx="10517162" cy="434256"/>
          </a:xfrm>
          <a:prstGeom prst="roundRect">
            <a:avLst>
              <a:gd name="adj" fmla="val 1462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VAS</a:t>
            </a:r>
            <a:r>
              <a:rPr lang="zh-CN" altLang="en-US" sz="1600" dirty="0">
                <a:solidFill>
                  <a:srgbClr val="30B5C5"/>
                </a:solidFill>
                <a:latin typeface="Huawei Sans" panose="020C0503030203020204" pitchFamily="34" charset="0"/>
                <a:ea typeface="方正兰亭黑简体" panose="02000000000000000000" pitchFamily="2" charset="-122"/>
              </a:rPr>
              <a:t>高级安全</a:t>
            </a:r>
          </a:p>
        </p:txBody>
      </p:sp>
      <p:sp>
        <p:nvSpPr>
          <p:cNvPr id="58" name="圆角矩形 56">
            <a:extLst>
              <a:ext uri="{FF2B5EF4-FFF2-40B4-BE49-F238E27FC236}">
                <a16:creationId xmlns:a16="http://schemas.microsoft.com/office/drawing/2014/main" id="{2AAC52E9-DFD6-4632-B1CF-7C4D848EA632}"/>
              </a:ext>
            </a:extLst>
          </p:cNvPr>
          <p:cNvSpPr/>
          <p:nvPr/>
        </p:nvSpPr>
        <p:spPr bwMode="gray">
          <a:xfrm>
            <a:off x="739405" y="2368123"/>
            <a:ext cx="10517163" cy="3552258"/>
          </a:xfrm>
          <a:prstGeom prst="roundRect">
            <a:avLst>
              <a:gd name="adj" fmla="val 2222"/>
            </a:avLst>
          </a:prstGeom>
          <a:no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endParaRPr>
          </a:p>
        </p:txBody>
      </p:sp>
      <p:sp>
        <p:nvSpPr>
          <p:cNvPr id="59" name="圆角矩形 57">
            <a:extLst>
              <a:ext uri="{FF2B5EF4-FFF2-40B4-BE49-F238E27FC236}">
                <a16:creationId xmlns:a16="http://schemas.microsoft.com/office/drawing/2014/main" id="{1FA3D1D1-4667-4A52-991C-20086BC0658B}"/>
              </a:ext>
            </a:extLst>
          </p:cNvPr>
          <p:cNvSpPr/>
          <p:nvPr/>
        </p:nvSpPr>
        <p:spPr bwMode="gray">
          <a:xfrm>
            <a:off x="6253848" y="3010798"/>
            <a:ext cx="4733682" cy="2045485"/>
          </a:xfrm>
          <a:prstGeom prst="roundRect">
            <a:avLst>
              <a:gd name="adj" fmla="val 4091"/>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00025">
              <a:lnSpc>
                <a:spcPts val="2600"/>
              </a:lnSpc>
              <a:spcAft>
                <a:spcPts val="600"/>
              </a:spcAft>
              <a:buFont typeface="Arial" panose="020B0604020202020204" pitchFamily="34" charset="0"/>
              <a:buChar char="•"/>
            </a:pPr>
            <a:r>
              <a:rPr lang="zh-CN" altLang="en-US" sz="1600" dirty="0">
                <a:solidFill>
                  <a:schemeClr val="tx1"/>
                </a:solidFill>
              </a:rPr>
              <a:t>通过旁挂物理防火墙的方式，针对站点集中上网的流量，由物理防火墙提供高级安全防护功能。</a:t>
            </a:r>
            <a:endParaRPr lang="en-US" altLang="zh-CN" sz="1600" dirty="0">
              <a:solidFill>
                <a:schemeClr val="tx1"/>
              </a:solidFill>
            </a:endParaRPr>
          </a:p>
          <a:p>
            <a:pPr marL="285750" indent="-200025">
              <a:lnSpc>
                <a:spcPts val="2600"/>
              </a:lnSpc>
              <a:spcAft>
                <a:spcPts val="600"/>
              </a:spcAft>
              <a:buFont typeface="Arial" panose="020B0604020202020204" pitchFamily="34" charset="0"/>
              <a:buChar char="•"/>
            </a:pPr>
            <a:r>
              <a:rPr lang="zh-CN" altLang="en-US" sz="1600" dirty="0">
                <a:solidFill>
                  <a:schemeClr val="tx1"/>
                </a:solidFill>
              </a:rPr>
              <a:t>部署</a:t>
            </a:r>
            <a:r>
              <a:rPr lang="en-US" altLang="zh-CN" sz="1600" dirty="0">
                <a:solidFill>
                  <a:schemeClr val="tx1"/>
                </a:solidFill>
              </a:rPr>
              <a:t>VAS</a:t>
            </a:r>
            <a:r>
              <a:rPr lang="zh-CN" altLang="en-US" sz="1600" dirty="0">
                <a:solidFill>
                  <a:schemeClr val="tx1"/>
                </a:solidFill>
              </a:rPr>
              <a:t>功能后，站点集中上网流量将绕行至总部</a:t>
            </a:r>
            <a:r>
              <a:rPr lang="en-US" altLang="zh-CN" sz="1600" dirty="0">
                <a:solidFill>
                  <a:schemeClr val="tx1"/>
                </a:solidFill>
              </a:rPr>
              <a:t>EDGE LAN</a:t>
            </a:r>
            <a:r>
              <a:rPr lang="zh-CN" altLang="en-US" sz="1600" dirty="0">
                <a:solidFill>
                  <a:schemeClr val="tx1"/>
                </a:solidFill>
              </a:rPr>
              <a:t>侧的物理防火墙</a:t>
            </a:r>
            <a:r>
              <a:rPr lang="en-US" altLang="zh-CN" sz="1600" dirty="0">
                <a:solidFill>
                  <a:schemeClr val="tx1"/>
                </a:solidFill>
              </a:rPr>
              <a:t>FW</a:t>
            </a:r>
            <a:r>
              <a:rPr lang="zh-CN" altLang="en-US" sz="1600" dirty="0">
                <a:solidFill>
                  <a:schemeClr val="tx1"/>
                </a:solidFill>
              </a:rPr>
              <a:t>，经过防火墙处理后再通过</a:t>
            </a:r>
            <a:r>
              <a:rPr lang="en-US" altLang="zh-CN" sz="1600" dirty="0">
                <a:solidFill>
                  <a:schemeClr val="tx1"/>
                </a:solidFill>
              </a:rPr>
              <a:t>Underlay</a:t>
            </a:r>
            <a:r>
              <a:rPr lang="zh-CN" altLang="en-US" sz="1600" dirty="0">
                <a:solidFill>
                  <a:schemeClr val="tx1"/>
                </a:solidFill>
              </a:rPr>
              <a:t>网络访问</a:t>
            </a:r>
            <a:r>
              <a:rPr lang="en-US" altLang="zh-CN" sz="1600" dirty="0">
                <a:solidFill>
                  <a:schemeClr val="tx1"/>
                </a:solidFill>
              </a:rPr>
              <a:t>Internet</a:t>
            </a:r>
            <a:r>
              <a:rPr lang="zh-CN" altLang="en-US" sz="1600" dirty="0">
                <a:solidFill>
                  <a:schemeClr val="tx1"/>
                </a:solidFill>
              </a:rPr>
              <a:t>。</a:t>
            </a:r>
            <a:endParaRPr lang="en-US" altLang="zh-CN" sz="1600" dirty="0">
              <a:solidFill>
                <a:schemeClr val="tx1"/>
              </a:solidFill>
            </a:endParaRPr>
          </a:p>
        </p:txBody>
      </p:sp>
      <p:cxnSp>
        <p:nvCxnSpPr>
          <p:cNvPr id="61" name="直接连接符 83">
            <a:extLst>
              <a:ext uri="{FF2B5EF4-FFF2-40B4-BE49-F238E27FC236}">
                <a16:creationId xmlns:a16="http://schemas.microsoft.com/office/drawing/2014/main" id="{5F9AEB07-63C7-46CE-B0A9-D60DF7E717B7}"/>
              </a:ext>
            </a:extLst>
          </p:cNvPr>
          <p:cNvCxnSpPr>
            <a:stCxn id="83" idx="2"/>
            <a:endCxn id="38" idx="4"/>
          </p:cNvCxnSpPr>
          <p:nvPr/>
        </p:nvCxnSpPr>
        <p:spPr bwMode="gray">
          <a:xfrm flipH="1">
            <a:off x="1968613" y="3414435"/>
            <a:ext cx="695314" cy="34530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84">
            <a:extLst>
              <a:ext uri="{FF2B5EF4-FFF2-40B4-BE49-F238E27FC236}">
                <a16:creationId xmlns:a16="http://schemas.microsoft.com/office/drawing/2014/main" id="{1C33F53D-D0FE-404D-B295-DC7ECC8D68B1}"/>
              </a:ext>
            </a:extLst>
          </p:cNvPr>
          <p:cNvCxnSpPr>
            <a:stCxn id="39" idx="24"/>
            <a:endCxn id="83" idx="2"/>
          </p:cNvCxnSpPr>
          <p:nvPr/>
        </p:nvCxnSpPr>
        <p:spPr bwMode="gray">
          <a:xfrm flipH="1" flipV="1">
            <a:off x="2663927" y="3414435"/>
            <a:ext cx="662956" cy="51911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85">
            <a:extLst>
              <a:ext uri="{FF2B5EF4-FFF2-40B4-BE49-F238E27FC236}">
                <a16:creationId xmlns:a16="http://schemas.microsoft.com/office/drawing/2014/main" id="{D496D0F3-6E9A-44A2-8E69-C00EA6B261B2}"/>
              </a:ext>
            </a:extLst>
          </p:cNvPr>
          <p:cNvCxnSpPr>
            <a:endCxn id="71" idx="0"/>
          </p:cNvCxnSpPr>
          <p:nvPr/>
        </p:nvCxnSpPr>
        <p:spPr bwMode="gray">
          <a:xfrm>
            <a:off x="1748281" y="4241275"/>
            <a:ext cx="0" cy="64214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86">
            <a:extLst>
              <a:ext uri="{FF2B5EF4-FFF2-40B4-BE49-F238E27FC236}">
                <a16:creationId xmlns:a16="http://schemas.microsoft.com/office/drawing/2014/main" id="{4D56DF7A-4B99-4C3B-8818-1B4D8329B397}"/>
              </a:ext>
            </a:extLst>
          </p:cNvPr>
          <p:cNvCxnSpPr>
            <a:stCxn id="39" idx="19"/>
            <a:endCxn id="71" idx="0"/>
          </p:cNvCxnSpPr>
          <p:nvPr/>
        </p:nvCxnSpPr>
        <p:spPr bwMode="gray">
          <a:xfrm flipH="1">
            <a:off x="1748281" y="4314109"/>
            <a:ext cx="1573271" cy="56931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接连接符 87">
            <a:extLst>
              <a:ext uri="{FF2B5EF4-FFF2-40B4-BE49-F238E27FC236}">
                <a16:creationId xmlns:a16="http://schemas.microsoft.com/office/drawing/2014/main" id="{9DBF6A94-1C80-4B48-8E25-ADFD0F5CCF20}"/>
              </a:ext>
            </a:extLst>
          </p:cNvPr>
          <p:cNvCxnSpPr>
            <a:stCxn id="74" idx="0"/>
            <a:endCxn id="38" idx="12"/>
          </p:cNvCxnSpPr>
          <p:nvPr/>
        </p:nvCxnSpPr>
        <p:spPr bwMode="gray">
          <a:xfrm flipH="1" flipV="1">
            <a:off x="2133660" y="4315288"/>
            <a:ext cx="1635806" cy="56767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88">
            <a:extLst>
              <a:ext uri="{FF2B5EF4-FFF2-40B4-BE49-F238E27FC236}">
                <a16:creationId xmlns:a16="http://schemas.microsoft.com/office/drawing/2014/main" id="{6C6987FD-D615-4E7B-BE65-66E82C9DEE51}"/>
              </a:ext>
            </a:extLst>
          </p:cNvPr>
          <p:cNvCxnSpPr>
            <a:stCxn id="74" idx="0"/>
          </p:cNvCxnSpPr>
          <p:nvPr/>
        </p:nvCxnSpPr>
        <p:spPr bwMode="gray">
          <a:xfrm flipV="1">
            <a:off x="3769466" y="4315288"/>
            <a:ext cx="0" cy="56767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71" name="图片 93">
            <a:extLst>
              <a:ext uri="{FF2B5EF4-FFF2-40B4-BE49-F238E27FC236}">
                <a16:creationId xmlns:a16="http://schemas.microsoft.com/office/drawing/2014/main" id="{C121EAE1-AB35-4C64-8E5C-DB9BFC8DA14D}"/>
              </a:ext>
            </a:extLst>
          </p:cNvPr>
          <p:cNvPicPr>
            <a:picLocks noChangeAspect="1"/>
          </p:cNvPicPr>
          <p:nvPr/>
        </p:nvPicPr>
        <p:blipFill>
          <a:blip r:embed="rId3"/>
          <a:stretch>
            <a:fillRect/>
          </a:stretch>
        </p:blipFill>
        <p:spPr bwMode="gray">
          <a:xfrm>
            <a:off x="1467725" y="4883422"/>
            <a:ext cx="561112" cy="461918"/>
          </a:xfrm>
          <a:prstGeom prst="rect">
            <a:avLst/>
          </a:prstGeom>
        </p:spPr>
      </p:pic>
      <p:pic>
        <p:nvPicPr>
          <p:cNvPr id="74" name="图片 96">
            <a:extLst>
              <a:ext uri="{FF2B5EF4-FFF2-40B4-BE49-F238E27FC236}">
                <a16:creationId xmlns:a16="http://schemas.microsoft.com/office/drawing/2014/main" id="{E3BFCBD0-8BD2-4A5D-9E81-CBCB065E28BF}"/>
              </a:ext>
            </a:extLst>
          </p:cNvPr>
          <p:cNvPicPr>
            <a:picLocks noChangeAspect="1"/>
          </p:cNvPicPr>
          <p:nvPr/>
        </p:nvPicPr>
        <p:blipFill>
          <a:blip r:embed="rId3"/>
          <a:stretch>
            <a:fillRect/>
          </a:stretch>
        </p:blipFill>
        <p:spPr bwMode="gray">
          <a:xfrm>
            <a:off x="3488910" y="4882959"/>
            <a:ext cx="561112" cy="461918"/>
          </a:xfrm>
          <a:prstGeom prst="rect">
            <a:avLst/>
          </a:prstGeom>
        </p:spPr>
      </p:pic>
      <p:sp>
        <p:nvSpPr>
          <p:cNvPr id="75" name="文本框 97">
            <a:extLst>
              <a:ext uri="{FF2B5EF4-FFF2-40B4-BE49-F238E27FC236}">
                <a16:creationId xmlns:a16="http://schemas.microsoft.com/office/drawing/2014/main" id="{78AC2408-2310-4AB4-B7D0-3664C1DF49FA}"/>
              </a:ext>
            </a:extLst>
          </p:cNvPr>
          <p:cNvSpPr txBox="1"/>
          <p:nvPr/>
        </p:nvSpPr>
        <p:spPr bwMode="gray">
          <a:xfrm>
            <a:off x="873618" y="4905179"/>
            <a:ext cx="693518"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sp>
        <p:nvSpPr>
          <p:cNvPr id="76" name="文本框 98">
            <a:extLst>
              <a:ext uri="{FF2B5EF4-FFF2-40B4-BE49-F238E27FC236}">
                <a16:creationId xmlns:a16="http://schemas.microsoft.com/office/drawing/2014/main" id="{4A9AC630-D491-4368-BD70-8E218CE30550}"/>
              </a:ext>
            </a:extLst>
          </p:cNvPr>
          <p:cNvSpPr txBox="1"/>
          <p:nvPr/>
        </p:nvSpPr>
        <p:spPr bwMode="gray">
          <a:xfrm>
            <a:off x="4012101" y="4944989"/>
            <a:ext cx="693518"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sp>
        <p:nvSpPr>
          <p:cNvPr id="77" name="圆角矩形 99">
            <a:extLst>
              <a:ext uri="{FF2B5EF4-FFF2-40B4-BE49-F238E27FC236}">
                <a16:creationId xmlns:a16="http://schemas.microsoft.com/office/drawing/2014/main" id="{8A2D4C10-A6D5-452E-967B-B806553CD01B}"/>
              </a:ext>
            </a:extLst>
          </p:cNvPr>
          <p:cNvSpPr/>
          <p:nvPr/>
        </p:nvSpPr>
        <p:spPr bwMode="gray">
          <a:xfrm>
            <a:off x="4470789" y="3010798"/>
            <a:ext cx="1467365" cy="309555"/>
          </a:xfrm>
          <a:prstGeom prst="roundRect">
            <a:avLst>
              <a:gd name="adj" fmla="val 4091"/>
            </a:avLst>
          </a:prstGeom>
          <a:solidFill>
            <a:srgbClr val="FFFFCC"/>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rgbClr val="C7000B"/>
                </a:solidFill>
              </a:rPr>
              <a:t>旁挂物理防火墙</a:t>
            </a:r>
          </a:p>
        </p:txBody>
      </p:sp>
      <p:sp>
        <p:nvSpPr>
          <p:cNvPr id="79" name="文本框 101">
            <a:extLst>
              <a:ext uri="{FF2B5EF4-FFF2-40B4-BE49-F238E27FC236}">
                <a16:creationId xmlns:a16="http://schemas.microsoft.com/office/drawing/2014/main" id="{3CDB36A9-216C-4246-A4D2-920375369E53}"/>
              </a:ext>
            </a:extLst>
          </p:cNvPr>
          <p:cNvSpPr txBox="1"/>
          <p:nvPr/>
        </p:nvSpPr>
        <p:spPr bwMode="gray">
          <a:xfrm>
            <a:off x="1746752" y="3067602"/>
            <a:ext cx="693518" cy="307777"/>
          </a:xfrm>
          <a:prstGeom prst="rect">
            <a:avLst/>
          </a:prstGeom>
          <a:noFill/>
        </p:spPr>
        <p:txBody>
          <a:bodyPr wrap="square" rtlCol="0">
            <a:spAutoFit/>
          </a:bodyPr>
          <a:lstStyle/>
          <a:p>
            <a:pPr algn="ctr"/>
            <a:r>
              <a:rPr lang="en-US" altLang="zh-CN" sz="1400" dirty="0">
                <a:solidFill>
                  <a:srgbClr val="000000"/>
                </a:solidFill>
              </a:rPr>
              <a:t>EDGE</a:t>
            </a:r>
            <a:endParaRPr lang="zh-CN" altLang="en-US" sz="1400" dirty="0">
              <a:solidFill>
                <a:srgbClr val="000000"/>
              </a:solidFill>
            </a:endParaRPr>
          </a:p>
        </p:txBody>
      </p:sp>
      <p:sp>
        <p:nvSpPr>
          <p:cNvPr id="80" name="下箭头 102">
            <a:extLst>
              <a:ext uri="{FF2B5EF4-FFF2-40B4-BE49-F238E27FC236}">
                <a16:creationId xmlns:a16="http://schemas.microsoft.com/office/drawing/2014/main" id="{41E673E2-69E7-4D07-B291-499B71392CA4}"/>
              </a:ext>
            </a:extLst>
          </p:cNvPr>
          <p:cNvSpPr/>
          <p:nvPr/>
        </p:nvSpPr>
        <p:spPr bwMode="gray">
          <a:xfrm rot="5400000" flipV="1">
            <a:off x="3951016" y="2886983"/>
            <a:ext cx="306062" cy="560680"/>
          </a:xfrm>
          <a:prstGeom prst="downArrow">
            <a:avLst>
              <a:gd name="adj1" fmla="val 50000"/>
              <a:gd name="adj2" fmla="val 29537"/>
            </a:avLst>
          </a:pr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1" name="直接连接符 103">
            <a:extLst>
              <a:ext uri="{FF2B5EF4-FFF2-40B4-BE49-F238E27FC236}">
                <a16:creationId xmlns:a16="http://schemas.microsoft.com/office/drawing/2014/main" id="{CD77E730-2CE5-40FA-920F-61ADC07620FF}"/>
              </a:ext>
            </a:extLst>
          </p:cNvPr>
          <p:cNvCxnSpPr/>
          <p:nvPr/>
        </p:nvCxnSpPr>
        <p:spPr bwMode="gray">
          <a:xfrm flipV="1">
            <a:off x="2796427" y="3084939"/>
            <a:ext cx="692483" cy="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连接符 104">
            <a:extLst>
              <a:ext uri="{FF2B5EF4-FFF2-40B4-BE49-F238E27FC236}">
                <a16:creationId xmlns:a16="http://schemas.microsoft.com/office/drawing/2014/main" id="{A3D7512D-1777-411D-9660-6A7904520686}"/>
              </a:ext>
            </a:extLst>
          </p:cNvPr>
          <p:cNvCxnSpPr/>
          <p:nvPr/>
        </p:nvCxnSpPr>
        <p:spPr bwMode="gray">
          <a:xfrm flipV="1">
            <a:off x="2785747" y="3221608"/>
            <a:ext cx="692483" cy="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3" name="图片 105">
            <a:extLst>
              <a:ext uri="{FF2B5EF4-FFF2-40B4-BE49-F238E27FC236}">
                <a16:creationId xmlns:a16="http://schemas.microsoft.com/office/drawing/2014/main" id="{6AF927A7-2EED-4855-B98C-5A9503766D21}"/>
              </a:ext>
            </a:extLst>
          </p:cNvPr>
          <p:cNvPicPr>
            <a:picLocks noChangeAspect="1"/>
          </p:cNvPicPr>
          <p:nvPr/>
        </p:nvPicPr>
        <p:blipFill>
          <a:blip r:embed="rId3"/>
          <a:stretch>
            <a:fillRect/>
          </a:stretch>
        </p:blipFill>
        <p:spPr bwMode="gray">
          <a:xfrm>
            <a:off x="2383371" y="2952517"/>
            <a:ext cx="561112" cy="461918"/>
          </a:xfrm>
          <a:prstGeom prst="rect">
            <a:avLst/>
          </a:prstGeom>
        </p:spPr>
      </p:pic>
      <p:pic>
        <p:nvPicPr>
          <p:cNvPr id="84" name="图片 106">
            <a:extLst>
              <a:ext uri="{FF2B5EF4-FFF2-40B4-BE49-F238E27FC236}">
                <a16:creationId xmlns:a16="http://schemas.microsoft.com/office/drawing/2014/main" id="{BEE99CF9-FFE2-4994-88BA-9454E0C465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353833" y="2959269"/>
            <a:ext cx="508168" cy="416109"/>
          </a:xfrm>
          <a:prstGeom prst="rect">
            <a:avLst/>
          </a:prstGeom>
        </p:spPr>
      </p:pic>
      <p:sp>
        <p:nvSpPr>
          <p:cNvPr id="85" name="文本框 107">
            <a:extLst>
              <a:ext uri="{FF2B5EF4-FFF2-40B4-BE49-F238E27FC236}">
                <a16:creationId xmlns:a16="http://schemas.microsoft.com/office/drawing/2014/main" id="{DE235800-9F10-4516-8095-48CCED7A5473}"/>
              </a:ext>
            </a:extLst>
          </p:cNvPr>
          <p:cNvSpPr txBox="1"/>
          <p:nvPr/>
        </p:nvSpPr>
        <p:spPr bwMode="gray">
          <a:xfrm>
            <a:off x="3488910" y="2651737"/>
            <a:ext cx="693518" cy="307777"/>
          </a:xfrm>
          <a:prstGeom prst="rect">
            <a:avLst/>
          </a:prstGeom>
          <a:noFill/>
        </p:spPr>
        <p:txBody>
          <a:bodyPr wrap="square" rtlCol="0">
            <a:spAutoFit/>
          </a:bodyPr>
          <a:lstStyle/>
          <a:p>
            <a:pPr algn="ctr"/>
            <a:r>
              <a:rPr lang="en-US" altLang="zh-CN" sz="1400" dirty="0">
                <a:solidFill>
                  <a:srgbClr val="000000"/>
                </a:solidFill>
              </a:rPr>
              <a:t>FW</a:t>
            </a:r>
            <a:endParaRPr lang="zh-CN" altLang="en-US" sz="1400" dirty="0">
              <a:solidFill>
                <a:srgbClr val="000000"/>
              </a:solidFill>
            </a:endParaRPr>
          </a:p>
        </p:txBody>
      </p:sp>
      <p:sp>
        <p:nvSpPr>
          <p:cNvPr id="36" name="五边形 2">
            <a:extLst>
              <a:ext uri="{FF2B5EF4-FFF2-40B4-BE49-F238E27FC236}">
                <a16:creationId xmlns:a16="http://schemas.microsoft.com/office/drawing/2014/main" id="{EF0800F5-DD8A-4132-AA92-24EFAA780FDE}"/>
              </a:ext>
            </a:extLst>
          </p:cNvPr>
          <p:cNvSpPr/>
          <p:nvPr/>
        </p:nvSpPr>
        <p:spPr bwMode="gray">
          <a:xfrm>
            <a:off x="9605614" y="70638"/>
            <a:ext cx="105057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系统安全设计</a:t>
            </a:r>
          </a:p>
        </p:txBody>
      </p:sp>
      <p:sp>
        <p:nvSpPr>
          <p:cNvPr id="37" name="燕尾形 3">
            <a:extLst>
              <a:ext uri="{FF2B5EF4-FFF2-40B4-BE49-F238E27FC236}">
                <a16:creationId xmlns:a16="http://schemas.microsoft.com/office/drawing/2014/main" id="{D511165C-F564-4BFB-A5A2-D915C0B5A074}"/>
              </a:ext>
            </a:extLst>
          </p:cNvPr>
          <p:cNvSpPr/>
          <p:nvPr/>
        </p:nvSpPr>
        <p:spPr bwMode="gray">
          <a:xfrm>
            <a:off x="10586648" y="70638"/>
            <a:ext cx="116244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业务安全设计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159">
            <a:extLst>
              <a:ext uri="{FF2B5EF4-FFF2-40B4-BE49-F238E27FC236}">
                <a16:creationId xmlns:a16="http://schemas.microsoft.com/office/drawing/2014/main" id="{4AC249CC-16BA-41C9-B965-EBF0E07EBCAC}"/>
              </a:ext>
            </a:extLst>
          </p:cNvPr>
          <p:cNvSpPr/>
          <p:nvPr/>
        </p:nvSpPr>
        <p:spPr bwMode="gray">
          <a:xfrm flipH="1">
            <a:off x="1146951" y="3698101"/>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39" name="Freeform 159">
            <a:extLst>
              <a:ext uri="{FF2B5EF4-FFF2-40B4-BE49-F238E27FC236}">
                <a16:creationId xmlns:a16="http://schemas.microsoft.com/office/drawing/2014/main" id="{8E5B5FC0-376B-400E-AA67-1F4A4195C87F}"/>
              </a:ext>
            </a:extLst>
          </p:cNvPr>
          <p:cNvSpPr/>
          <p:nvPr/>
        </p:nvSpPr>
        <p:spPr bwMode="gray">
          <a:xfrm flipH="1">
            <a:off x="3150284" y="3698101"/>
            <a:ext cx="1180701" cy="61718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BEE9EE"/>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86" name="任意多边形 108">
            <a:extLst>
              <a:ext uri="{FF2B5EF4-FFF2-40B4-BE49-F238E27FC236}">
                <a16:creationId xmlns:a16="http://schemas.microsoft.com/office/drawing/2014/main" id="{D00013D4-2FDA-4136-A5A1-F1CA55BA1D16}"/>
              </a:ext>
            </a:extLst>
          </p:cNvPr>
          <p:cNvSpPr/>
          <p:nvPr/>
        </p:nvSpPr>
        <p:spPr bwMode="gray">
          <a:xfrm>
            <a:off x="1628587" y="3002315"/>
            <a:ext cx="1971770" cy="2429277"/>
          </a:xfrm>
          <a:custGeom>
            <a:avLst/>
            <a:gdLst>
              <a:gd name="connsiteX0" fmla="*/ 10998 w 1995550"/>
              <a:gd name="connsiteY0" fmla="*/ 2005799 h 2005799"/>
              <a:gd name="connsiteX1" fmla="*/ 10998 w 1995550"/>
              <a:gd name="connsiteY1" fmla="*/ 1364449 h 2005799"/>
              <a:gd name="connsiteX2" fmla="*/ 125298 w 1995550"/>
              <a:gd name="connsiteY2" fmla="*/ 989799 h 2005799"/>
              <a:gd name="connsiteX3" fmla="*/ 842848 w 1995550"/>
              <a:gd name="connsiteY3" fmla="*/ 113499 h 2005799"/>
              <a:gd name="connsiteX4" fmla="*/ 1782648 w 1995550"/>
              <a:gd name="connsiteY4" fmla="*/ 24599 h 2005799"/>
              <a:gd name="connsiteX5" fmla="*/ 1954098 w 1995550"/>
              <a:gd name="connsiteY5" fmla="*/ 240499 h 2005799"/>
              <a:gd name="connsiteX6" fmla="*/ 1192098 w 1995550"/>
              <a:gd name="connsiteY6" fmla="*/ 297649 h 2005799"/>
              <a:gd name="connsiteX7" fmla="*/ 1242898 w 1995550"/>
              <a:gd name="connsiteY7" fmla="*/ 526249 h 2005799"/>
              <a:gd name="connsiteX8" fmla="*/ 1827098 w 1995550"/>
              <a:gd name="connsiteY8" fmla="*/ 881849 h 2005799"/>
              <a:gd name="connsiteX0" fmla="*/ 10998 w 1995550"/>
              <a:gd name="connsiteY0" fmla="*/ 2005799 h 2005799"/>
              <a:gd name="connsiteX1" fmla="*/ 10998 w 1995550"/>
              <a:gd name="connsiteY1" fmla="*/ 1377149 h 2005799"/>
              <a:gd name="connsiteX2" fmla="*/ 125298 w 1995550"/>
              <a:gd name="connsiteY2" fmla="*/ 989799 h 2005799"/>
              <a:gd name="connsiteX3" fmla="*/ 842848 w 1995550"/>
              <a:gd name="connsiteY3" fmla="*/ 113499 h 2005799"/>
              <a:gd name="connsiteX4" fmla="*/ 1782648 w 1995550"/>
              <a:gd name="connsiteY4" fmla="*/ 24599 h 2005799"/>
              <a:gd name="connsiteX5" fmla="*/ 1954098 w 1995550"/>
              <a:gd name="connsiteY5" fmla="*/ 240499 h 2005799"/>
              <a:gd name="connsiteX6" fmla="*/ 1192098 w 1995550"/>
              <a:gd name="connsiteY6" fmla="*/ 297649 h 2005799"/>
              <a:gd name="connsiteX7" fmla="*/ 1242898 w 1995550"/>
              <a:gd name="connsiteY7" fmla="*/ 526249 h 2005799"/>
              <a:gd name="connsiteX8" fmla="*/ 1827098 w 1995550"/>
              <a:gd name="connsiteY8" fmla="*/ 881849 h 2005799"/>
              <a:gd name="connsiteX0" fmla="*/ 22047 w 2006599"/>
              <a:gd name="connsiteY0" fmla="*/ 2005799 h 2005799"/>
              <a:gd name="connsiteX1" fmla="*/ 22047 w 2006599"/>
              <a:gd name="connsiteY1" fmla="*/ 1377149 h 2005799"/>
              <a:gd name="connsiteX2" fmla="*/ 136347 w 2006599"/>
              <a:gd name="connsiteY2" fmla="*/ 989799 h 2005799"/>
              <a:gd name="connsiteX3" fmla="*/ 853897 w 2006599"/>
              <a:gd name="connsiteY3" fmla="*/ 113499 h 2005799"/>
              <a:gd name="connsiteX4" fmla="*/ 1793697 w 2006599"/>
              <a:gd name="connsiteY4" fmla="*/ 24599 h 2005799"/>
              <a:gd name="connsiteX5" fmla="*/ 1965147 w 2006599"/>
              <a:gd name="connsiteY5" fmla="*/ 240499 h 2005799"/>
              <a:gd name="connsiteX6" fmla="*/ 1203147 w 2006599"/>
              <a:gd name="connsiteY6" fmla="*/ 297649 h 2005799"/>
              <a:gd name="connsiteX7" fmla="*/ 1253947 w 2006599"/>
              <a:gd name="connsiteY7" fmla="*/ 526249 h 2005799"/>
              <a:gd name="connsiteX8" fmla="*/ 1838147 w 2006599"/>
              <a:gd name="connsiteY8" fmla="*/ 881849 h 2005799"/>
              <a:gd name="connsiteX0" fmla="*/ 6012 w 1990564"/>
              <a:gd name="connsiteY0" fmla="*/ 2005799 h 2005799"/>
              <a:gd name="connsiteX1" fmla="*/ 6012 w 1990564"/>
              <a:gd name="connsiteY1" fmla="*/ 1377149 h 2005799"/>
              <a:gd name="connsiteX2" fmla="*/ 120312 w 1990564"/>
              <a:gd name="connsiteY2" fmla="*/ 989799 h 2005799"/>
              <a:gd name="connsiteX3" fmla="*/ 837862 w 1990564"/>
              <a:gd name="connsiteY3" fmla="*/ 113499 h 2005799"/>
              <a:gd name="connsiteX4" fmla="*/ 1777662 w 1990564"/>
              <a:gd name="connsiteY4" fmla="*/ 24599 h 2005799"/>
              <a:gd name="connsiteX5" fmla="*/ 1949112 w 1990564"/>
              <a:gd name="connsiteY5" fmla="*/ 240499 h 2005799"/>
              <a:gd name="connsiteX6" fmla="*/ 1187112 w 1990564"/>
              <a:gd name="connsiteY6" fmla="*/ 297649 h 2005799"/>
              <a:gd name="connsiteX7" fmla="*/ 1237912 w 1990564"/>
              <a:gd name="connsiteY7" fmla="*/ 526249 h 2005799"/>
              <a:gd name="connsiteX8" fmla="*/ 1822112 w 1990564"/>
              <a:gd name="connsiteY8" fmla="*/ 881849 h 2005799"/>
              <a:gd name="connsiteX0" fmla="*/ 10552 w 1995104"/>
              <a:gd name="connsiteY0" fmla="*/ 2004425 h 2004425"/>
              <a:gd name="connsiteX1" fmla="*/ 10552 w 1995104"/>
              <a:gd name="connsiteY1" fmla="*/ 1375775 h 2004425"/>
              <a:gd name="connsiteX2" fmla="*/ 118502 w 1995104"/>
              <a:gd name="connsiteY2" fmla="*/ 963025 h 2004425"/>
              <a:gd name="connsiteX3" fmla="*/ 842402 w 1995104"/>
              <a:gd name="connsiteY3" fmla="*/ 112125 h 2004425"/>
              <a:gd name="connsiteX4" fmla="*/ 1782202 w 1995104"/>
              <a:gd name="connsiteY4" fmla="*/ 23225 h 2004425"/>
              <a:gd name="connsiteX5" fmla="*/ 1953652 w 1995104"/>
              <a:gd name="connsiteY5" fmla="*/ 239125 h 2004425"/>
              <a:gd name="connsiteX6" fmla="*/ 1191652 w 1995104"/>
              <a:gd name="connsiteY6" fmla="*/ 296275 h 2004425"/>
              <a:gd name="connsiteX7" fmla="*/ 1242452 w 1995104"/>
              <a:gd name="connsiteY7" fmla="*/ 524875 h 2004425"/>
              <a:gd name="connsiteX8" fmla="*/ 1826652 w 1995104"/>
              <a:gd name="connsiteY8" fmla="*/ 880475 h 2004425"/>
              <a:gd name="connsiteX0" fmla="*/ 10552 w 1995104"/>
              <a:gd name="connsiteY0" fmla="*/ 2004425 h 2004425"/>
              <a:gd name="connsiteX1" fmla="*/ 10552 w 1995104"/>
              <a:gd name="connsiteY1" fmla="*/ 1375775 h 2004425"/>
              <a:gd name="connsiteX2" fmla="*/ 118502 w 1995104"/>
              <a:gd name="connsiteY2" fmla="*/ 963025 h 2004425"/>
              <a:gd name="connsiteX3" fmla="*/ 842402 w 1995104"/>
              <a:gd name="connsiteY3" fmla="*/ 112125 h 2004425"/>
              <a:gd name="connsiteX4" fmla="*/ 1782202 w 1995104"/>
              <a:gd name="connsiteY4" fmla="*/ 23225 h 2004425"/>
              <a:gd name="connsiteX5" fmla="*/ 1953652 w 1995104"/>
              <a:gd name="connsiteY5" fmla="*/ 239125 h 2004425"/>
              <a:gd name="connsiteX6" fmla="*/ 1191652 w 1995104"/>
              <a:gd name="connsiteY6" fmla="*/ 296275 h 2004425"/>
              <a:gd name="connsiteX7" fmla="*/ 1242452 w 1995104"/>
              <a:gd name="connsiteY7" fmla="*/ 524875 h 2004425"/>
              <a:gd name="connsiteX8" fmla="*/ 1826652 w 1995104"/>
              <a:gd name="connsiteY8" fmla="*/ 880475 h 2004425"/>
              <a:gd name="connsiteX0" fmla="*/ 10552 w 1931707"/>
              <a:gd name="connsiteY0" fmla="*/ 2007081 h 2007081"/>
              <a:gd name="connsiteX1" fmla="*/ 10552 w 1931707"/>
              <a:gd name="connsiteY1" fmla="*/ 1378431 h 2007081"/>
              <a:gd name="connsiteX2" fmla="*/ 118502 w 1931707"/>
              <a:gd name="connsiteY2" fmla="*/ 965681 h 2007081"/>
              <a:gd name="connsiteX3" fmla="*/ 842402 w 1931707"/>
              <a:gd name="connsiteY3" fmla="*/ 114781 h 2007081"/>
              <a:gd name="connsiteX4" fmla="*/ 1782202 w 1931707"/>
              <a:gd name="connsiteY4" fmla="*/ 25881 h 2007081"/>
              <a:gd name="connsiteX5" fmla="*/ 1871102 w 1931707"/>
              <a:gd name="connsiteY5" fmla="*/ 279881 h 2007081"/>
              <a:gd name="connsiteX6" fmla="*/ 1191652 w 1931707"/>
              <a:gd name="connsiteY6" fmla="*/ 298931 h 2007081"/>
              <a:gd name="connsiteX7" fmla="*/ 1242452 w 1931707"/>
              <a:gd name="connsiteY7" fmla="*/ 527531 h 2007081"/>
              <a:gd name="connsiteX8" fmla="*/ 1826652 w 1931707"/>
              <a:gd name="connsiteY8" fmla="*/ 883131 h 2007081"/>
              <a:gd name="connsiteX0" fmla="*/ 10552 w 1931707"/>
              <a:gd name="connsiteY0" fmla="*/ 2007081 h 2007081"/>
              <a:gd name="connsiteX1" fmla="*/ 10552 w 1931707"/>
              <a:gd name="connsiteY1" fmla="*/ 1378431 h 2007081"/>
              <a:gd name="connsiteX2" fmla="*/ 118502 w 1931707"/>
              <a:gd name="connsiteY2" fmla="*/ 965681 h 2007081"/>
              <a:gd name="connsiteX3" fmla="*/ 842402 w 1931707"/>
              <a:gd name="connsiteY3" fmla="*/ 114781 h 2007081"/>
              <a:gd name="connsiteX4" fmla="*/ 1782202 w 1931707"/>
              <a:gd name="connsiteY4" fmla="*/ 25881 h 2007081"/>
              <a:gd name="connsiteX5" fmla="*/ 1871102 w 1931707"/>
              <a:gd name="connsiteY5" fmla="*/ 279881 h 2007081"/>
              <a:gd name="connsiteX6" fmla="*/ 1191652 w 1931707"/>
              <a:gd name="connsiteY6" fmla="*/ 298931 h 2007081"/>
              <a:gd name="connsiteX7" fmla="*/ 1242452 w 1931707"/>
              <a:gd name="connsiteY7" fmla="*/ 527531 h 2007081"/>
              <a:gd name="connsiteX8" fmla="*/ 1826652 w 1931707"/>
              <a:gd name="connsiteY8" fmla="*/ 883131 h 2007081"/>
              <a:gd name="connsiteX0" fmla="*/ 10552 w 1931707"/>
              <a:gd name="connsiteY0" fmla="*/ 2007081 h 2007081"/>
              <a:gd name="connsiteX1" fmla="*/ 10552 w 1931707"/>
              <a:gd name="connsiteY1" fmla="*/ 1378431 h 2007081"/>
              <a:gd name="connsiteX2" fmla="*/ 118502 w 1931707"/>
              <a:gd name="connsiteY2" fmla="*/ 965681 h 2007081"/>
              <a:gd name="connsiteX3" fmla="*/ 842402 w 1931707"/>
              <a:gd name="connsiteY3" fmla="*/ 114781 h 2007081"/>
              <a:gd name="connsiteX4" fmla="*/ 1782202 w 1931707"/>
              <a:gd name="connsiteY4" fmla="*/ 25881 h 2007081"/>
              <a:gd name="connsiteX5" fmla="*/ 1871102 w 1931707"/>
              <a:gd name="connsiteY5" fmla="*/ 279881 h 2007081"/>
              <a:gd name="connsiteX6" fmla="*/ 1191652 w 1931707"/>
              <a:gd name="connsiteY6" fmla="*/ 298931 h 2007081"/>
              <a:gd name="connsiteX7" fmla="*/ 1242452 w 1931707"/>
              <a:gd name="connsiteY7" fmla="*/ 527531 h 2007081"/>
              <a:gd name="connsiteX8" fmla="*/ 1826652 w 1931707"/>
              <a:gd name="connsiteY8" fmla="*/ 883131 h 2007081"/>
              <a:gd name="connsiteX0" fmla="*/ 10552 w 1931707"/>
              <a:gd name="connsiteY0" fmla="*/ 2007081 h 2007081"/>
              <a:gd name="connsiteX1" fmla="*/ 10552 w 1931707"/>
              <a:gd name="connsiteY1" fmla="*/ 1378431 h 2007081"/>
              <a:gd name="connsiteX2" fmla="*/ 118502 w 1931707"/>
              <a:gd name="connsiteY2" fmla="*/ 965681 h 2007081"/>
              <a:gd name="connsiteX3" fmla="*/ 842402 w 1931707"/>
              <a:gd name="connsiteY3" fmla="*/ 114781 h 2007081"/>
              <a:gd name="connsiteX4" fmla="*/ 1782202 w 1931707"/>
              <a:gd name="connsiteY4" fmla="*/ 25881 h 2007081"/>
              <a:gd name="connsiteX5" fmla="*/ 1871102 w 1931707"/>
              <a:gd name="connsiteY5" fmla="*/ 279881 h 2007081"/>
              <a:gd name="connsiteX6" fmla="*/ 1191652 w 1931707"/>
              <a:gd name="connsiteY6" fmla="*/ 298931 h 2007081"/>
              <a:gd name="connsiteX7" fmla="*/ 1242452 w 1931707"/>
              <a:gd name="connsiteY7" fmla="*/ 527531 h 2007081"/>
              <a:gd name="connsiteX8" fmla="*/ 1826652 w 1931707"/>
              <a:gd name="connsiteY8" fmla="*/ 883131 h 2007081"/>
              <a:gd name="connsiteX0" fmla="*/ 10552 w 1934450"/>
              <a:gd name="connsiteY0" fmla="*/ 2007081 h 2007081"/>
              <a:gd name="connsiteX1" fmla="*/ 10552 w 1934450"/>
              <a:gd name="connsiteY1" fmla="*/ 1378431 h 2007081"/>
              <a:gd name="connsiteX2" fmla="*/ 118502 w 1934450"/>
              <a:gd name="connsiteY2" fmla="*/ 965681 h 2007081"/>
              <a:gd name="connsiteX3" fmla="*/ 842402 w 1934450"/>
              <a:gd name="connsiteY3" fmla="*/ 114781 h 2007081"/>
              <a:gd name="connsiteX4" fmla="*/ 1782202 w 1934450"/>
              <a:gd name="connsiteY4" fmla="*/ 25881 h 2007081"/>
              <a:gd name="connsiteX5" fmla="*/ 1871102 w 1934450"/>
              <a:gd name="connsiteY5" fmla="*/ 279881 h 2007081"/>
              <a:gd name="connsiteX6" fmla="*/ 1153552 w 1934450"/>
              <a:gd name="connsiteY6" fmla="*/ 305281 h 2007081"/>
              <a:gd name="connsiteX7" fmla="*/ 1242452 w 1934450"/>
              <a:gd name="connsiteY7" fmla="*/ 527531 h 2007081"/>
              <a:gd name="connsiteX8" fmla="*/ 1826652 w 1934450"/>
              <a:gd name="connsiteY8" fmla="*/ 883131 h 2007081"/>
              <a:gd name="connsiteX0" fmla="*/ 10552 w 1939999"/>
              <a:gd name="connsiteY0" fmla="*/ 1991522 h 1991522"/>
              <a:gd name="connsiteX1" fmla="*/ 10552 w 1939999"/>
              <a:gd name="connsiteY1" fmla="*/ 1362872 h 1991522"/>
              <a:gd name="connsiteX2" fmla="*/ 118502 w 1939999"/>
              <a:gd name="connsiteY2" fmla="*/ 950122 h 1991522"/>
              <a:gd name="connsiteX3" fmla="*/ 842402 w 1939999"/>
              <a:gd name="connsiteY3" fmla="*/ 99222 h 1991522"/>
              <a:gd name="connsiteX4" fmla="*/ 1794902 w 1939999"/>
              <a:gd name="connsiteY4" fmla="*/ 35722 h 1991522"/>
              <a:gd name="connsiteX5" fmla="*/ 1871102 w 1939999"/>
              <a:gd name="connsiteY5" fmla="*/ 264322 h 1991522"/>
              <a:gd name="connsiteX6" fmla="*/ 1153552 w 1939999"/>
              <a:gd name="connsiteY6" fmla="*/ 289722 h 1991522"/>
              <a:gd name="connsiteX7" fmla="*/ 1242452 w 1939999"/>
              <a:gd name="connsiteY7" fmla="*/ 511972 h 1991522"/>
              <a:gd name="connsiteX8" fmla="*/ 1826652 w 1939999"/>
              <a:gd name="connsiteY8" fmla="*/ 867572 h 1991522"/>
              <a:gd name="connsiteX0" fmla="*/ 10552 w 1939999"/>
              <a:gd name="connsiteY0" fmla="*/ 1991522 h 1991522"/>
              <a:gd name="connsiteX1" fmla="*/ 10552 w 1939999"/>
              <a:gd name="connsiteY1" fmla="*/ 1362872 h 1991522"/>
              <a:gd name="connsiteX2" fmla="*/ 118502 w 1939999"/>
              <a:gd name="connsiteY2" fmla="*/ 950122 h 1991522"/>
              <a:gd name="connsiteX3" fmla="*/ 842402 w 1939999"/>
              <a:gd name="connsiteY3" fmla="*/ 99222 h 1991522"/>
              <a:gd name="connsiteX4" fmla="*/ 1794902 w 1939999"/>
              <a:gd name="connsiteY4" fmla="*/ 35722 h 1991522"/>
              <a:gd name="connsiteX5" fmla="*/ 1871102 w 1939999"/>
              <a:gd name="connsiteY5" fmla="*/ 264322 h 1991522"/>
              <a:gd name="connsiteX6" fmla="*/ 1153552 w 1939999"/>
              <a:gd name="connsiteY6" fmla="*/ 289722 h 1991522"/>
              <a:gd name="connsiteX7" fmla="*/ 1242452 w 1939999"/>
              <a:gd name="connsiteY7" fmla="*/ 511972 h 1991522"/>
              <a:gd name="connsiteX8" fmla="*/ 1826652 w 1939999"/>
              <a:gd name="connsiteY8" fmla="*/ 867572 h 1991522"/>
              <a:gd name="connsiteX0" fmla="*/ 10552 w 1939999"/>
              <a:gd name="connsiteY0" fmla="*/ 1982470 h 1982470"/>
              <a:gd name="connsiteX1" fmla="*/ 10552 w 1939999"/>
              <a:gd name="connsiteY1" fmla="*/ 1353820 h 1982470"/>
              <a:gd name="connsiteX2" fmla="*/ 118502 w 1939999"/>
              <a:gd name="connsiteY2" fmla="*/ 941070 h 1982470"/>
              <a:gd name="connsiteX3" fmla="*/ 842402 w 1939999"/>
              <a:gd name="connsiteY3" fmla="*/ 90170 h 1982470"/>
              <a:gd name="connsiteX4" fmla="*/ 1794902 w 1939999"/>
              <a:gd name="connsiteY4" fmla="*/ 26670 h 1982470"/>
              <a:gd name="connsiteX5" fmla="*/ 1871102 w 1939999"/>
              <a:gd name="connsiteY5" fmla="*/ 255270 h 1982470"/>
              <a:gd name="connsiteX6" fmla="*/ 1153552 w 1939999"/>
              <a:gd name="connsiteY6" fmla="*/ 280670 h 1982470"/>
              <a:gd name="connsiteX7" fmla="*/ 1242452 w 1939999"/>
              <a:gd name="connsiteY7" fmla="*/ 502920 h 1982470"/>
              <a:gd name="connsiteX8" fmla="*/ 1826652 w 1939999"/>
              <a:gd name="connsiteY8" fmla="*/ 858520 h 1982470"/>
              <a:gd name="connsiteX0" fmla="*/ 10552 w 1939999"/>
              <a:gd name="connsiteY0" fmla="*/ 1982470 h 1982470"/>
              <a:gd name="connsiteX1" fmla="*/ 10552 w 1939999"/>
              <a:gd name="connsiteY1" fmla="*/ 1353820 h 1982470"/>
              <a:gd name="connsiteX2" fmla="*/ 118502 w 1939999"/>
              <a:gd name="connsiteY2" fmla="*/ 941070 h 1982470"/>
              <a:gd name="connsiteX3" fmla="*/ 842402 w 1939999"/>
              <a:gd name="connsiteY3" fmla="*/ 90170 h 1982470"/>
              <a:gd name="connsiteX4" fmla="*/ 1794902 w 1939999"/>
              <a:gd name="connsiteY4" fmla="*/ 26670 h 1982470"/>
              <a:gd name="connsiteX5" fmla="*/ 1871102 w 1939999"/>
              <a:gd name="connsiteY5" fmla="*/ 255270 h 1982470"/>
              <a:gd name="connsiteX6" fmla="*/ 1153552 w 1939999"/>
              <a:gd name="connsiteY6" fmla="*/ 280670 h 1982470"/>
              <a:gd name="connsiteX7" fmla="*/ 1242452 w 1939999"/>
              <a:gd name="connsiteY7" fmla="*/ 515620 h 1982470"/>
              <a:gd name="connsiteX8" fmla="*/ 1826652 w 1939999"/>
              <a:gd name="connsiteY8" fmla="*/ 858520 h 1982470"/>
              <a:gd name="connsiteX0" fmla="*/ 10552 w 1937314"/>
              <a:gd name="connsiteY0" fmla="*/ 1982470 h 1982470"/>
              <a:gd name="connsiteX1" fmla="*/ 10552 w 1937314"/>
              <a:gd name="connsiteY1" fmla="*/ 1353820 h 1982470"/>
              <a:gd name="connsiteX2" fmla="*/ 118502 w 1937314"/>
              <a:gd name="connsiteY2" fmla="*/ 941070 h 1982470"/>
              <a:gd name="connsiteX3" fmla="*/ 842402 w 1937314"/>
              <a:gd name="connsiteY3" fmla="*/ 90170 h 1982470"/>
              <a:gd name="connsiteX4" fmla="*/ 1794902 w 1937314"/>
              <a:gd name="connsiteY4" fmla="*/ 26670 h 1982470"/>
              <a:gd name="connsiteX5" fmla="*/ 1871102 w 1937314"/>
              <a:gd name="connsiteY5" fmla="*/ 255270 h 1982470"/>
              <a:gd name="connsiteX6" fmla="*/ 1191652 w 1937314"/>
              <a:gd name="connsiteY6" fmla="*/ 274320 h 1982470"/>
              <a:gd name="connsiteX7" fmla="*/ 1242452 w 1937314"/>
              <a:gd name="connsiteY7" fmla="*/ 515620 h 1982470"/>
              <a:gd name="connsiteX8" fmla="*/ 1826652 w 1937314"/>
              <a:gd name="connsiteY8" fmla="*/ 858520 h 1982470"/>
              <a:gd name="connsiteX0" fmla="*/ 10552 w 1937314"/>
              <a:gd name="connsiteY0" fmla="*/ 1982470 h 1982470"/>
              <a:gd name="connsiteX1" fmla="*/ 10552 w 1937314"/>
              <a:gd name="connsiteY1" fmla="*/ 1353820 h 1982470"/>
              <a:gd name="connsiteX2" fmla="*/ 118502 w 1937314"/>
              <a:gd name="connsiteY2" fmla="*/ 941070 h 1982470"/>
              <a:gd name="connsiteX3" fmla="*/ 842402 w 1937314"/>
              <a:gd name="connsiteY3" fmla="*/ 90170 h 1982470"/>
              <a:gd name="connsiteX4" fmla="*/ 1794902 w 1937314"/>
              <a:gd name="connsiteY4" fmla="*/ 26670 h 1982470"/>
              <a:gd name="connsiteX5" fmla="*/ 1871102 w 1937314"/>
              <a:gd name="connsiteY5" fmla="*/ 255270 h 1982470"/>
              <a:gd name="connsiteX6" fmla="*/ 1191652 w 1937314"/>
              <a:gd name="connsiteY6" fmla="*/ 274320 h 1982470"/>
              <a:gd name="connsiteX7" fmla="*/ 1242452 w 1937314"/>
              <a:gd name="connsiteY7" fmla="*/ 515620 h 1982470"/>
              <a:gd name="connsiteX8" fmla="*/ 1826652 w 1937314"/>
              <a:gd name="connsiteY8" fmla="*/ 858520 h 1982470"/>
              <a:gd name="connsiteX0" fmla="*/ 5469 w 1944931"/>
              <a:gd name="connsiteY0" fmla="*/ 2420620 h 2420620"/>
              <a:gd name="connsiteX1" fmla="*/ 18169 w 1944931"/>
              <a:gd name="connsiteY1" fmla="*/ 1353820 h 2420620"/>
              <a:gd name="connsiteX2" fmla="*/ 126119 w 1944931"/>
              <a:gd name="connsiteY2" fmla="*/ 941070 h 2420620"/>
              <a:gd name="connsiteX3" fmla="*/ 850019 w 1944931"/>
              <a:gd name="connsiteY3" fmla="*/ 90170 h 2420620"/>
              <a:gd name="connsiteX4" fmla="*/ 1802519 w 1944931"/>
              <a:gd name="connsiteY4" fmla="*/ 26670 h 2420620"/>
              <a:gd name="connsiteX5" fmla="*/ 1878719 w 1944931"/>
              <a:gd name="connsiteY5" fmla="*/ 255270 h 2420620"/>
              <a:gd name="connsiteX6" fmla="*/ 1199269 w 1944931"/>
              <a:gd name="connsiteY6" fmla="*/ 274320 h 2420620"/>
              <a:gd name="connsiteX7" fmla="*/ 1250069 w 1944931"/>
              <a:gd name="connsiteY7" fmla="*/ 515620 h 2420620"/>
              <a:gd name="connsiteX8" fmla="*/ 1834269 w 1944931"/>
              <a:gd name="connsiteY8" fmla="*/ 858520 h 2420620"/>
              <a:gd name="connsiteX0" fmla="*/ 4261 w 1943723"/>
              <a:gd name="connsiteY0" fmla="*/ 2429277 h 2429277"/>
              <a:gd name="connsiteX1" fmla="*/ 16961 w 1943723"/>
              <a:gd name="connsiteY1" fmla="*/ 1362477 h 2429277"/>
              <a:gd name="connsiteX2" fmla="*/ 93161 w 1943723"/>
              <a:gd name="connsiteY2" fmla="*/ 943377 h 2429277"/>
              <a:gd name="connsiteX3" fmla="*/ 848811 w 1943723"/>
              <a:gd name="connsiteY3" fmla="*/ 98827 h 2429277"/>
              <a:gd name="connsiteX4" fmla="*/ 1801311 w 1943723"/>
              <a:gd name="connsiteY4" fmla="*/ 35327 h 2429277"/>
              <a:gd name="connsiteX5" fmla="*/ 1877511 w 1943723"/>
              <a:gd name="connsiteY5" fmla="*/ 263927 h 2429277"/>
              <a:gd name="connsiteX6" fmla="*/ 1198061 w 1943723"/>
              <a:gd name="connsiteY6" fmla="*/ 282977 h 2429277"/>
              <a:gd name="connsiteX7" fmla="*/ 1248861 w 1943723"/>
              <a:gd name="connsiteY7" fmla="*/ 524277 h 2429277"/>
              <a:gd name="connsiteX8" fmla="*/ 1833061 w 1943723"/>
              <a:gd name="connsiteY8" fmla="*/ 867177 h 2429277"/>
              <a:gd name="connsiteX0" fmla="*/ 4261 w 1943723"/>
              <a:gd name="connsiteY0" fmla="*/ 2429277 h 2429277"/>
              <a:gd name="connsiteX1" fmla="*/ 16961 w 1943723"/>
              <a:gd name="connsiteY1" fmla="*/ 1362477 h 2429277"/>
              <a:gd name="connsiteX2" fmla="*/ 93161 w 1943723"/>
              <a:gd name="connsiteY2" fmla="*/ 943377 h 2429277"/>
              <a:gd name="connsiteX3" fmla="*/ 848811 w 1943723"/>
              <a:gd name="connsiteY3" fmla="*/ 98827 h 2429277"/>
              <a:gd name="connsiteX4" fmla="*/ 1801311 w 1943723"/>
              <a:gd name="connsiteY4" fmla="*/ 35327 h 2429277"/>
              <a:gd name="connsiteX5" fmla="*/ 1877511 w 1943723"/>
              <a:gd name="connsiteY5" fmla="*/ 263927 h 2429277"/>
              <a:gd name="connsiteX6" fmla="*/ 1198061 w 1943723"/>
              <a:gd name="connsiteY6" fmla="*/ 282977 h 2429277"/>
              <a:gd name="connsiteX7" fmla="*/ 1248861 w 1943723"/>
              <a:gd name="connsiteY7" fmla="*/ 524277 h 2429277"/>
              <a:gd name="connsiteX8" fmla="*/ 1833061 w 1943723"/>
              <a:gd name="connsiteY8" fmla="*/ 867177 h 2429277"/>
              <a:gd name="connsiteX0" fmla="*/ 4261 w 1943723"/>
              <a:gd name="connsiteY0" fmla="*/ 2429277 h 2429277"/>
              <a:gd name="connsiteX1" fmla="*/ 16961 w 1943723"/>
              <a:gd name="connsiteY1" fmla="*/ 1362477 h 2429277"/>
              <a:gd name="connsiteX2" fmla="*/ 93161 w 1943723"/>
              <a:gd name="connsiteY2" fmla="*/ 943377 h 2429277"/>
              <a:gd name="connsiteX3" fmla="*/ 848811 w 1943723"/>
              <a:gd name="connsiteY3" fmla="*/ 98827 h 2429277"/>
              <a:gd name="connsiteX4" fmla="*/ 1801311 w 1943723"/>
              <a:gd name="connsiteY4" fmla="*/ 35327 h 2429277"/>
              <a:gd name="connsiteX5" fmla="*/ 1877511 w 1943723"/>
              <a:gd name="connsiteY5" fmla="*/ 263927 h 2429277"/>
              <a:gd name="connsiteX6" fmla="*/ 1198061 w 1943723"/>
              <a:gd name="connsiteY6" fmla="*/ 282977 h 2429277"/>
              <a:gd name="connsiteX7" fmla="*/ 1248861 w 1943723"/>
              <a:gd name="connsiteY7" fmla="*/ 524277 h 2429277"/>
              <a:gd name="connsiteX8" fmla="*/ 1833061 w 1943723"/>
              <a:gd name="connsiteY8" fmla="*/ 867177 h 2429277"/>
              <a:gd name="connsiteX0" fmla="*/ 18339 w 1957801"/>
              <a:gd name="connsiteY0" fmla="*/ 2429277 h 2429277"/>
              <a:gd name="connsiteX1" fmla="*/ 5639 w 1957801"/>
              <a:gd name="connsiteY1" fmla="*/ 1362477 h 2429277"/>
              <a:gd name="connsiteX2" fmla="*/ 107239 w 1957801"/>
              <a:gd name="connsiteY2" fmla="*/ 943377 h 2429277"/>
              <a:gd name="connsiteX3" fmla="*/ 862889 w 1957801"/>
              <a:gd name="connsiteY3" fmla="*/ 98827 h 2429277"/>
              <a:gd name="connsiteX4" fmla="*/ 1815389 w 1957801"/>
              <a:gd name="connsiteY4" fmla="*/ 35327 h 2429277"/>
              <a:gd name="connsiteX5" fmla="*/ 1891589 w 1957801"/>
              <a:gd name="connsiteY5" fmla="*/ 263927 h 2429277"/>
              <a:gd name="connsiteX6" fmla="*/ 1212139 w 1957801"/>
              <a:gd name="connsiteY6" fmla="*/ 282977 h 2429277"/>
              <a:gd name="connsiteX7" fmla="*/ 1262939 w 1957801"/>
              <a:gd name="connsiteY7" fmla="*/ 524277 h 2429277"/>
              <a:gd name="connsiteX8" fmla="*/ 1847139 w 1957801"/>
              <a:gd name="connsiteY8" fmla="*/ 867177 h 2429277"/>
              <a:gd name="connsiteX0" fmla="*/ 32308 w 1971770"/>
              <a:gd name="connsiteY0" fmla="*/ 2429277 h 2429277"/>
              <a:gd name="connsiteX1" fmla="*/ 19608 w 1971770"/>
              <a:gd name="connsiteY1" fmla="*/ 1362477 h 2429277"/>
              <a:gd name="connsiteX2" fmla="*/ 121208 w 1971770"/>
              <a:gd name="connsiteY2" fmla="*/ 943377 h 2429277"/>
              <a:gd name="connsiteX3" fmla="*/ 876858 w 1971770"/>
              <a:gd name="connsiteY3" fmla="*/ 98827 h 2429277"/>
              <a:gd name="connsiteX4" fmla="*/ 1829358 w 1971770"/>
              <a:gd name="connsiteY4" fmla="*/ 35327 h 2429277"/>
              <a:gd name="connsiteX5" fmla="*/ 1905558 w 1971770"/>
              <a:gd name="connsiteY5" fmla="*/ 263927 h 2429277"/>
              <a:gd name="connsiteX6" fmla="*/ 1226108 w 1971770"/>
              <a:gd name="connsiteY6" fmla="*/ 282977 h 2429277"/>
              <a:gd name="connsiteX7" fmla="*/ 1276908 w 1971770"/>
              <a:gd name="connsiteY7" fmla="*/ 524277 h 2429277"/>
              <a:gd name="connsiteX8" fmla="*/ 1861108 w 1971770"/>
              <a:gd name="connsiteY8" fmla="*/ 867177 h 2429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1770" h="2429277">
                <a:moveTo>
                  <a:pt x="32308" y="2429277"/>
                </a:moveTo>
                <a:cubicBezTo>
                  <a:pt x="22783" y="2193268"/>
                  <a:pt x="-26959" y="1603777"/>
                  <a:pt x="19608" y="1362477"/>
                </a:cubicBezTo>
                <a:cubicBezTo>
                  <a:pt x="66175" y="1121177"/>
                  <a:pt x="-21667" y="1153985"/>
                  <a:pt x="121208" y="943377"/>
                </a:cubicBezTo>
                <a:cubicBezTo>
                  <a:pt x="264083" y="732769"/>
                  <a:pt x="592166" y="250169"/>
                  <a:pt x="876858" y="98827"/>
                </a:cubicBezTo>
                <a:cubicBezTo>
                  <a:pt x="1161550" y="-52515"/>
                  <a:pt x="1657908" y="7810"/>
                  <a:pt x="1829358" y="35327"/>
                </a:cubicBezTo>
                <a:cubicBezTo>
                  <a:pt x="2000808" y="62844"/>
                  <a:pt x="2006100" y="222652"/>
                  <a:pt x="1905558" y="263927"/>
                </a:cubicBezTo>
                <a:cubicBezTo>
                  <a:pt x="1805016" y="305202"/>
                  <a:pt x="1330883" y="207835"/>
                  <a:pt x="1226108" y="282977"/>
                </a:cubicBezTo>
                <a:cubicBezTo>
                  <a:pt x="1121333" y="358119"/>
                  <a:pt x="1171075" y="426910"/>
                  <a:pt x="1276908" y="524277"/>
                </a:cubicBezTo>
                <a:cubicBezTo>
                  <a:pt x="1382741" y="621644"/>
                  <a:pt x="1621924" y="738060"/>
                  <a:pt x="1861108" y="867177"/>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3419573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864F6-0E92-46B8-8B3D-1F27C7566284}"/>
              </a:ext>
            </a:extLst>
          </p:cNvPr>
          <p:cNvSpPr>
            <a:spLocks noGrp="1"/>
          </p:cNvSpPr>
          <p:nvPr>
            <p:ph type="title"/>
          </p:nvPr>
        </p:nvSpPr>
        <p:spPr bwMode="gray"/>
        <p:txBody>
          <a:bodyPr/>
          <a:lstStyle/>
          <a:p>
            <a:r>
              <a:rPr lang="zh-CN" altLang="en-US" dirty="0"/>
              <a:t>业务安全设计：第三方云安全</a:t>
            </a:r>
            <a:endParaRPr lang="en-US" dirty="0"/>
          </a:p>
        </p:txBody>
      </p:sp>
      <p:sp>
        <p:nvSpPr>
          <p:cNvPr id="3" name="Text Placeholder 2">
            <a:extLst>
              <a:ext uri="{FF2B5EF4-FFF2-40B4-BE49-F238E27FC236}">
                <a16:creationId xmlns:a16="http://schemas.microsoft.com/office/drawing/2014/main" id="{D65531C1-DF1A-4E78-8327-B47D5A60CA26}"/>
              </a:ext>
            </a:extLst>
          </p:cNvPr>
          <p:cNvSpPr>
            <a:spLocks noGrp="1"/>
          </p:cNvSpPr>
          <p:nvPr>
            <p:ph type="body" sz="quarter" idx="10"/>
          </p:nvPr>
        </p:nvSpPr>
        <p:spPr bwMode="gray">
          <a:xfrm>
            <a:off x="455612" y="1047751"/>
            <a:ext cx="11293475" cy="1185136"/>
          </a:xfrm>
        </p:spPr>
        <p:txBody>
          <a:bodyPr/>
          <a:lstStyle/>
          <a:p>
            <a:r>
              <a:rPr lang="en-US" altLang="zh-CN" sz="1800" dirty="0"/>
              <a:t>SD-WAN</a:t>
            </a:r>
            <a:r>
              <a:rPr lang="zh-CN" altLang="en-US" sz="1800" dirty="0"/>
              <a:t>解决方案支持对接第三方云安全网关（</a:t>
            </a:r>
            <a:r>
              <a:rPr lang="en-US" altLang="zh-CN" sz="1800" dirty="0" err="1"/>
              <a:t>Zscaler</a:t>
            </a:r>
            <a:r>
              <a:rPr lang="zh-CN" altLang="en-US" sz="1800" dirty="0"/>
              <a:t>、</a:t>
            </a:r>
            <a:r>
              <a:rPr lang="en-US" altLang="zh-CN" sz="1800" dirty="0" err="1"/>
              <a:t>Forcepoint</a:t>
            </a:r>
            <a:r>
              <a:rPr lang="zh-CN" altLang="en-US" sz="1800" dirty="0"/>
              <a:t>），将企业访问公有云、</a:t>
            </a:r>
            <a:r>
              <a:rPr lang="en-US" altLang="zh-CN" sz="1800" dirty="0"/>
              <a:t>SaaS</a:t>
            </a:r>
            <a:r>
              <a:rPr lang="zh-CN" altLang="en-US" sz="1800" dirty="0"/>
              <a:t>的流量发送至第三方云安全网关。第三方云安全网关对这些流量进行安全检测，提供接入控制、威胁防御、数据保护等功能，实现安全防护。</a:t>
            </a:r>
            <a:endParaRPr lang="en-US" altLang="zh-CN" sz="1800" dirty="0"/>
          </a:p>
        </p:txBody>
      </p:sp>
      <p:sp>
        <p:nvSpPr>
          <p:cNvPr id="36" name="圆角矩形 42">
            <a:extLst>
              <a:ext uri="{FF2B5EF4-FFF2-40B4-BE49-F238E27FC236}">
                <a16:creationId xmlns:a16="http://schemas.microsoft.com/office/drawing/2014/main" id="{AF7F8CD9-B11D-4AAB-97CB-A079948B21F8}"/>
              </a:ext>
            </a:extLst>
          </p:cNvPr>
          <p:cNvSpPr/>
          <p:nvPr/>
        </p:nvSpPr>
        <p:spPr bwMode="gray">
          <a:xfrm>
            <a:off x="799949" y="2246953"/>
            <a:ext cx="10517162" cy="434256"/>
          </a:xfrm>
          <a:prstGeom prst="roundRect">
            <a:avLst>
              <a:gd name="adj" fmla="val 1462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应用场景</a:t>
            </a:r>
          </a:p>
        </p:txBody>
      </p:sp>
      <p:sp>
        <p:nvSpPr>
          <p:cNvPr id="99" name="圆角矩形 56">
            <a:extLst>
              <a:ext uri="{FF2B5EF4-FFF2-40B4-BE49-F238E27FC236}">
                <a16:creationId xmlns:a16="http://schemas.microsoft.com/office/drawing/2014/main" id="{CAACA45E-9835-468A-88CC-986B7F3BC9C0}"/>
              </a:ext>
            </a:extLst>
          </p:cNvPr>
          <p:cNvSpPr/>
          <p:nvPr/>
        </p:nvSpPr>
        <p:spPr bwMode="gray">
          <a:xfrm>
            <a:off x="799954" y="2757082"/>
            <a:ext cx="10517163" cy="3348062"/>
          </a:xfrm>
          <a:prstGeom prst="roundRect">
            <a:avLst>
              <a:gd name="adj" fmla="val 2222"/>
            </a:avLst>
          </a:prstGeom>
          <a:noFill/>
          <a:ln w="9525">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endParaRPr>
          </a:p>
        </p:txBody>
      </p:sp>
      <p:sp>
        <p:nvSpPr>
          <p:cNvPr id="101" name="圆角矩形 122">
            <a:extLst>
              <a:ext uri="{FF2B5EF4-FFF2-40B4-BE49-F238E27FC236}">
                <a16:creationId xmlns:a16="http://schemas.microsoft.com/office/drawing/2014/main" id="{AD688617-57DF-4C09-8EF9-C014F30477C3}"/>
              </a:ext>
            </a:extLst>
          </p:cNvPr>
          <p:cNvSpPr/>
          <p:nvPr/>
        </p:nvSpPr>
        <p:spPr bwMode="gray">
          <a:xfrm>
            <a:off x="6308890" y="2898248"/>
            <a:ext cx="4951551" cy="3118101"/>
          </a:xfrm>
          <a:prstGeom prst="roundRect">
            <a:avLst>
              <a:gd name="adj" fmla="val 4091"/>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00025">
              <a:lnSpc>
                <a:spcPts val="2600"/>
              </a:lnSpc>
              <a:spcAft>
                <a:spcPts val="600"/>
              </a:spcAft>
              <a:buFont typeface="Arial" panose="020B0604020202020204" pitchFamily="34" charset="0"/>
              <a:buChar char="•"/>
            </a:pPr>
            <a:r>
              <a:rPr lang="zh-CN" altLang="en-US" sz="1600" dirty="0">
                <a:solidFill>
                  <a:schemeClr val="tx1"/>
                </a:solidFill>
              </a:rPr>
              <a:t>为了提高网络可靠性，通常第三方云安全网关会提供两个接入点与</a:t>
            </a:r>
            <a:r>
              <a:rPr lang="en-US" altLang="zh-CN" sz="1600" dirty="0">
                <a:solidFill>
                  <a:schemeClr val="tx1"/>
                </a:solidFill>
              </a:rPr>
              <a:t>EDGE</a:t>
            </a:r>
            <a:r>
              <a:rPr lang="zh-CN" altLang="en-US" sz="1600" dirty="0">
                <a:solidFill>
                  <a:schemeClr val="tx1"/>
                </a:solidFill>
              </a:rPr>
              <a:t>建立隧道，</a:t>
            </a:r>
            <a:r>
              <a:rPr lang="en-US" altLang="zh-CN" sz="1600" dirty="0">
                <a:solidFill>
                  <a:schemeClr val="tx1"/>
                </a:solidFill>
              </a:rPr>
              <a:t>EDGE</a:t>
            </a:r>
            <a:r>
              <a:rPr lang="zh-CN" altLang="en-US" sz="1600" dirty="0">
                <a:solidFill>
                  <a:schemeClr val="tx1"/>
                </a:solidFill>
              </a:rPr>
              <a:t>使用</a:t>
            </a:r>
            <a:r>
              <a:rPr lang="en-US" altLang="zh-CN" sz="1600" dirty="0">
                <a:solidFill>
                  <a:schemeClr val="tx1"/>
                </a:solidFill>
              </a:rPr>
              <a:t>GRE</a:t>
            </a:r>
            <a:r>
              <a:rPr lang="zh-CN" altLang="en-US" sz="1600" dirty="0">
                <a:solidFill>
                  <a:schemeClr val="tx1"/>
                </a:solidFill>
              </a:rPr>
              <a:t>隧道与第三方云安全网关的接入点对接。</a:t>
            </a:r>
            <a:endParaRPr lang="en-US" altLang="zh-CN" sz="1600" dirty="0">
              <a:solidFill>
                <a:schemeClr val="tx1"/>
              </a:solidFill>
            </a:endParaRPr>
          </a:p>
          <a:p>
            <a:pPr marL="285750" indent="-285750">
              <a:lnSpc>
                <a:spcPct val="140000"/>
              </a:lnSpc>
              <a:buFont typeface="Arial" panose="020B0604020202020204" pitchFamily="34" charset="0"/>
              <a:buChar char="•"/>
            </a:pPr>
            <a:r>
              <a:rPr lang="zh-CN" altLang="en-US" sz="1600" dirty="0">
                <a:solidFill>
                  <a:schemeClr val="tx1"/>
                </a:solidFill>
              </a:rPr>
              <a:t>单网关场景</a:t>
            </a:r>
            <a:endParaRPr lang="en-US" altLang="zh-CN" sz="1600" dirty="0">
              <a:solidFill>
                <a:schemeClr val="tx1"/>
              </a:solidFill>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rPr>
              <a:t>一台</a:t>
            </a:r>
            <a:r>
              <a:rPr lang="en-US" altLang="zh-CN" sz="1400" dirty="0">
                <a:solidFill>
                  <a:schemeClr val="tx1"/>
                </a:solidFill>
                <a:latin typeface="Huawei Sans" panose="020C0503030203020204" pitchFamily="34" charset="0"/>
                <a:ea typeface="方正兰亭黑简体" panose="02000000000000000000" pitchFamily="2" charset="-122"/>
              </a:rPr>
              <a:t>EDGE</a:t>
            </a:r>
            <a:r>
              <a:rPr lang="zh-CN" altLang="en-US" sz="1400" dirty="0">
                <a:solidFill>
                  <a:schemeClr val="tx1"/>
                </a:solidFill>
                <a:latin typeface="Huawei Sans" panose="020C0503030203020204" pitchFamily="34" charset="0"/>
                <a:ea typeface="方正兰亭黑简体" panose="02000000000000000000" pitchFamily="2" charset="-122"/>
              </a:rPr>
              <a:t>与第三方云安全网关的两个接入点建立主备两条</a:t>
            </a:r>
            <a:r>
              <a:rPr lang="en-US" altLang="zh-CN" sz="1400" dirty="0">
                <a:solidFill>
                  <a:schemeClr val="tx1"/>
                </a:solidFill>
                <a:latin typeface="Huawei Sans" panose="020C0503030203020204" pitchFamily="34" charset="0"/>
                <a:ea typeface="方正兰亭黑简体" panose="02000000000000000000" pitchFamily="2" charset="-122"/>
              </a:rPr>
              <a:t>GRE</a:t>
            </a:r>
            <a:r>
              <a:rPr lang="zh-CN" altLang="en-US" sz="1400" dirty="0">
                <a:solidFill>
                  <a:schemeClr val="tx1"/>
                </a:solidFill>
                <a:latin typeface="Huawei Sans" panose="020C0503030203020204" pitchFamily="34" charset="0"/>
                <a:ea typeface="方正兰亭黑简体" panose="02000000000000000000" pitchFamily="2" charset="-122"/>
              </a:rPr>
              <a:t>隧道。</a:t>
            </a:r>
            <a:endParaRPr lang="en-US" altLang="zh-CN" sz="1400" dirty="0">
              <a:solidFill>
                <a:schemeClr val="tx1"/>
              </a:solidFill>
              <a:latin typeface="Huawei Sans" panose="020C0503030203020204" pitchFamily="34" charset="0"/>
              <a:ea typeface="方正兰亭黑简体" panose="02000000000000000000" pitchFamily="2" charset="-122"/>
            </a:endParaRPr>
          </a:p>
          <a:p>
            <a:pPr marL="285750" indent="-285750">
              <a:lnSpc>
                <a:spcPct val="140000"/>
              </a:lnSpc>
              <a:buFont typeface="Arial" panose="020B0604020202020204" pitchFamily="34" charset="0"/>
              <a:buChar char="•"/>
            </a:pPr>
            <a:r>
              <a:rPr lang="zh-CN" altLang="en-US" sz="1600" dirty="0">
                <a:solidFill>
                  <a:schemeClr val="tx1"/>
                </a:solidFill>
              </a:rPr>
              <a:t>双网关场景</a:t>
            </a:r>
            <a:endParaRPr lang="en-US" altLang="zh-CN" sz="1600" dirty="0">
              <a:solidFill>
                <a:schemeClr val="tx1"/>
              </a:solidFill>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rPr>
              <a:t>两台</a:t>
            </a:r>
            <a:r>
              <a:rPr lang="en-US" altLang="zh-CN" sz="1400" dirty="0">
                <a:solidFill>
                  <a:schemeClr val="tx1"/>
                </a:solidFill>
                <a:latin typeface="Huawei Sans" panose="020C0503030203020204" pitchFamily="34" charset="0"/>
                <a:ea typeface="方正兰亭黑简体" panose="02000000000000000000" pitchFamily="2" charset="-122"/>
              </a:rPr>
              <a:t>EDGE</a:t>
            </a:r>
            <a:r>
              <a:rPr lang="zh-CN" altLang="en-US" sz="1400" dirty="0">
                <a:solidFill>
                  <a:schemeClr val="tx1"/>
                </a:solidFill>
                <a:latin typeface="Huawei Sans" panose="020C0503030203020204" pitchFamily="34" charset="0"/>
                <a:ea typeface="方正兰亭黑简体" panose="02000000000000000000" pitchFamily="2" charset="-122"/>
              </a:rPr>
              <a:t>与第三方云安全网关的两个接入点建立主备四条</a:t>
            </a:r>
            <a:r>
              <a:rPr lang="en-US" altLang="zh-CN" sz="1400" dirty="0">
                <a:solidFill>
                  <a:schemeClr val="tx1"/>
                </a:solidFill>
                <a:latin typeface="Huawei Sans" panose="020C0503030203020204" pitchFamily="34" charset="0"/>
                <a:ea typeface="方正兰亭黑简体" panose="02000000000000000000" pitchFamily="2" charset="-122"/>
              </a:rPr>
              <a:t>GRE</a:t>
            </a:r>
            <a:r>
              <a:rPr lang="zh-CN" altLang="en-US" sz="1400" dirty="0">
                <a:solidFill>
                  <a:schemeClr val="tx1"/>
                </a:solidFill>
                <a:latin typeface="Huawei Sans" panose="020C0503030203020204" pitchFamily="34" charset="0"/>
                <a:ea typeface="方正兰亭黑简体" panose="02000000000000000000" pitchFamily="2" charset="-122"/>
              </a:rPr>
              <a:t>隧道。</a:t>
            </a:r>
            <a:endParaRPr lang="en-US" altLang="zh-CN" sz="1400" dirty="0">
              <a:solidFill>
                <a:schemeClr val="tx1"/>
              </a:solidFill>
              <a:latin typeface="Huawei Sans" panose="020C0503030203020204" pitchFamily="34" charset="0"/>
              <a:ea typeface="方正兰亭黑简体" panose="02000000000000000000" pitchFamily="2" charset="-122"/>
            </a:endParaRPr>
          </a:p>
        </p:txBody>
      </p:sp>
      <p:sp>
        <p:nvSpPr>
          <p:cNvPr id="35" name="五边形 2">
            <a:extLst>
              <a:ext uri="{FF2B5EF4-FFF2-40B4-BE49-F238E27FC236}">
                <a16:creationId xmlns:a16="http://schemas.microsoft.com/office/drawing/2014/main" id="{E0EFCD4A-19DB-43F9-87AD-3CE7607B5715}"/>
              </a:ext>
            </a:extLst>
          </p:cNvPr>
          <p:cNvSpPr/>
          <p:nvPr/>
        </p:nvSpPr>
        <p:spPr bwMode="gray">
          <a:xfrm>
            <a:off x="9605614" y="70638"/>
            <a:ext cx="105057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系统安全设计</a:t>
            </a:r>
          </a:p>
        </p:txBody>
      </p:sp>
      <p:sp>
        <p:nvSpPr>
          <p:cNvPr id="37" name="燕尾形 3">
            <a:extLst>
              <a:ext uri="{FF2B5EF4-FFF2-40B4-BE49-F238E27FC236}">
                <a16:creationId xmlns:a16="http://schemas.microsoft.com/office/drawing/2014/main" id="{E9A1C54D-E232-4E82-9B16-5DD193169609}"/>
              </a:ext>
            </a:extLst>
          </p:cNvPr>
          <p:cNvSpPr/>
          <p:nvPr/>
        </p:nvSpPr>
        <p:spPr bwMode="gray">
          <a:xfrm>
            <a:off x="10586648" y="70638"/>
            <a:ext cx="116244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业务安全设计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 name="Group 11"/>
          <p:cNvGrpSpPr/>
          <p:nvPr/>
        </p:nvGrpSpPr>
        <p:grpSpPr>
          <a:xfrm>
            <a:off x="825100" y="2824298"/>
            <a:ext cx="5454735" cy="3204754"/>
            <a:chOff x="825100" y="2824298"/>
            <a:chExt cx="5454735" cy="3204754"/>
          </a:xfrm>
        </p:grpSpPr>
        <p:sp>
          <p:nvSpPr>
            <p:cNvPr id="34" name="Freeform 159">
              <a:extLst>
                <a:ext uri="{FF2B5EF4-FFF2-40B4-BE49-F238E27FC236}">
                  <a16:creationId xmlns:a16="http://schemas.microsoft.com/office/drawing/2014/main" id="{8BC38981-E720-4B16-9ACD-F921559D8409}"/>
                </a:ext>
              </a:extLst>
            </p:cNvPr>
            <p:cNvSpPr/>
            <p:nvPr/>
          </p:nvSpPr>
          <p:spPr bwMode="gray">
            <a:xfrm flipH="1">
              <a:off x="4388767" y="2824298"/>
              <a:ext cx="1649234" cy="8621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SaaS</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云应用</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 name="图片 88">
              <a:extLst>
                <a:ext uri="{FF2B5EF4-FFF2-40B4-BE49-F238E27FC236}">
                  <a16:creationId xmlns:a16="http://schemas.microsoft.com/office/drawing/2014/main" id="{F6C1F692-B946-4D6E-854A-EC2941AFF6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481903" y="4794182"/>
              <a:ext cx="490909" cy="402545"/>
            </a:xfrm>
            <a:prstGeom prst="rect">
              <a:avLst/>
            </a:prstGeom>
          </p:spPr>
        </p:pic>
        <p:pic>
          <p:nvPicPr>
            <p:cNvPr id="43" name="图片 88">
              <a:extLst>
                <a:ext uri="{FF2B5EF4-FFF2-40B4-BE49-F238E27FC236}">
                  <a16:creationId xmlns:a16="http://schemas.microsoft.com/office/drawing/2014/main" id="{EA8834AA-CE09-4ABD-AC03-9F81A26F9F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869047" y="4749172"/>
              <a:ext cx="490909" cy="402545"/>
            </a:xfrm>
            <a:prstGeom prst="rect">
              <a:avLst/>
            </a:prstGeom>
          </p:spPr>
        </p:pic>
        <p:pic>
          <p:nvPicPr>
            <p:cNvPr id="44" name="图片 93">
              <a:extLst>
                <a:ext uri="{FF2B5EF4-FFF2-40B4-BE49-F238E27FC236}">
                  <a16:creationId xmlns:a16="http://schemas.microsoft.com/office/drawing/2014/main" id="{EB67A972-56B5-4E87-BE24-4DA16C2110C8}"/>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690013" y="3284569"/>
              <a:ext cx="493113" cy="401832"/>
            </a:xfrm>
            <a:prstGeom prst="rect">
              <a:avLst/>
            </a:prstGeom>
          </p:spPr>
        </p:pic>
        <p:sp>
          <p:nvSpPr>
            <p:cNvPr id="45" name="Freeform 159">
              <a:extLst>
                <a:ext uri="{FF2B5EF4-FFF2-40B4-BE49-F238E27FC236}">
                  <a16:creationId xmlns:a16="http://schemas.microsoft.com/office/drawing/2014/main" id="{ED6D5719-D8CF-4896-9500-04AACA2EA5F2}"/>
                </a:ext>
              </a:extLst>
            </p:cNvPr>
            <p:cNvSpPr/>
            <p:nvPr/>
          </p:nvSpPr>
          <p:spPr bwMode="gray">
            <a:xfrm flipH="1">
              <a:off x="2777228" y="3810973"/>
              <a:ext cx="1209628" cy="63230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7" name="图片 212">
              <a:extLst>
                <a:ext uri="{FF2B5EF4-FFF2-40B4-BE49-F238E27FC236}">
                  <a16:creationId xmlns:a16="http://schemas.microsoft.com/office/drawing/2014/main" id="{3BC203D7-58AF-4C2C-8A43-DE8FF5876BC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083216" y="3034949"/>
              <a:ext cx="493114" cy="439345"/>
            </a:xfrm>
            <a:prstGeom prst="rect">
              <a:avLst/>
            </a:prstGeom>
          </p:spPr>
        </p:pic>
        <p:cxnSp>
          <p:nvCxnSpPr>
            <p:cNvPr id="50" name="Straight Connector 49">
              <a:extLst>
                <a:ext uri="{FF2B5EF4-FFF2-40B4-BE49-F238E27FC236}">
                  <a16:creationId xmlns:a16="http://schemas.microsoft.com/office/drawing/2014/main" id="{ADE87A79-833C-4BC6-90B6-4671D3F4115E}"/>
                </a:ext>
              </a:extLst>
            </p:cNvPr>
            <p:cNvCxnSpPr>
              <a:cxnSpLocks/>
              <a:stCxn id="45" idx="24"/>
              <a:endCxn id="44" idx="2"/>
            </p:cNvCxnSpPr>
            <p:nvPr/>
          </p:nvCxnSpPr>
          <p:spPr bwMode="gray">
            <a:xfrm flipH="1" flipV="1">
              <a:off x="1936570" y="3686401"/>
              <a:ext cx="1021584" cy="36578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43CC7A0-0A83-4835-AFA6-E6D74BE1BFFA}"/>
                </a:ext>
              </a:extLst>
            </p:cNvPr>
            <p:cNvCxnSpPr>
              <a:cxnSpLocks/>
              <a:stCxn id="45" idx="20"/>
              <a:endCxn id="41" idx="3"/>
            </p:cNvCxnSpPr>
            <p:nvPr/>
          </p:nvCxnSpPr>
          <p:spPr bwMode="gray">
            <a:xfrm flipH="1">
              <a:off x="1972812" y="4439441"/>
              <a:ext cx="954003" cy="5560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B123F55-53FF-4875-BEA9-7E01C4109EE8}"/>
                </a:ext>
              </a:extLst>
            </p:cNvPr>
            <p:cNvCxnSpPr>
              <a:cxnSpLocks/>
              <a:stCxn id="45" idx="12"/>
              <a:endCxn id="43" idx="1"/>
            </p:cNvCxnSpPr>
            <p:nvPr/>
          </p:nvCxnSpPr>
          <p:spPr bwMode="gray">
            <a:xfrm>
              <a:off x="3788111" y="4443281"/>
              <a:ext cx="1080936" cy="50716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111FCE3-0F21-482D-9395-3AA4C0B6B96F}"/>
                </a:ext>
              </a:extLst>
            </p:cNvPr>
            <p:cNvCxnSpPr>
              <a:cxnSpLocks/>
              <a:stCxn id="45" idx="7"/>
              <a:endCxn id="47" idx="2"/>
            </p:cNvCxnSpPr>
            <p:nvPr/>
          </p:nvCxnSpPr>
          <p:spPr bwMode="gray">
            <a:xfrm flipV="1">
              <a:off x="3865469" y="3474294"/>
              <a:ext cx="464304" cy="58372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1" name="图片 81">
              <a:extLst>
                <a:ext uri="{FF2B5EF4-FFF2-40B4-BE49-F238E27FC236}">
                  <a16:creationId xmlns:a16="http://schemas.microsoft.com/office/drawing/2014/main" id="{0408867E-9446-4D2A-925A-9BF0D849EED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639992" y="5633726"/>
              <a:ext cx="1792651" cy="330612"/>
            </a:xfrm>
            <a:prstGeom prst="rect">
              <a:avLst/>
            </a:prstGeom>
          </p:spPr>
        </p:pic>
        <p:sp>
          <p:nvSpPr>
            <p:cNvPr id="62" name="圆角矩形 44">
              <a:extLst>
                <a:ext uri="{FF2B5EF4-FFF2-40B4-BE49-F238E27FC236}">
                  <a16:creationId xmlns:a16="http://schemas.microsoft.com/office/drawing/2014/main" id="{6CFDF8E4-5395-45CD-8615-92A61410B4CB}"/>
                </a:ext>
              </a:extLst>
            </p:cNvPr>
            <p:cNvSpPr/>
            <p:nvPr/>
          </p:nvSpPr>
          <p:spPr bwMode="gray">
            <a:xfrm>
              <a:off x="2597184" y="5569011"/>
              <a:ext cx="1915659" cy="460041"/>
            </a:xfrm>
            <a:prstGeom prst="roundRect">
              <a:avLst>
                <a:gd name="adj" fmla="val 6377"/>
              </a:avLst>
            </a:prstGeom>
            <a:noFill/>
            <a:ln w="19050">
              <a:solidFill>
                <a:srgbClr val="30B5C5"/>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Can 225">
              <a:extLst>
                <a:ext uri="{FF2B5EF4-FFF2-40B4-BE49-F238E27FC236}">
                  <a16:creationId xmlns:a16="http://schemas.microsoft.com/office/drawing/2014/main" id="{0120DC5F-0B76-4AC5-8E38-E024D7C358DD}"/>
                </a:ext>
              </a:extLst>
            </p:cNvPr>
            <p:cNvSpPr/>
            <p:nvPr/>
          </p:nvSpPr>
          <p:spPr bwMode="gray">
            <a:xfrm rot="5400000">
              <a:off x="3323967" y="3607335"/>
              <a:ext cx="193925" cy="2776241"/>
            </a:xfrm>
            <a:prstGeom prst="can">
              <a:avLst>
                <a:gd name="adj" fmla="val 87973"/>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文本框 60">
              <a:extLst>
                <a:ext uri="{FF2B5EF4-FFF2-40B4-BE49-F238E27FC236}">
                  <a16:creationId xmlns:a16="http://schemas.microsoft.com/office/drawing/2014/main" id="{89E00E59-ADE3-4EAC-906D-6407F9990BA0}"/>
                </a:ext>
              </a:extLst>
            </p:cNvPr>
            <p:cNvSpPr txBox="1"/>
            <p:nvPr/>
          </p:nvSpPr>
          <p:spPr bwMode="gray">
            <a:xfrm>
              <a:off x="2570657" y="4858714"/>
              <a:ext cx="1700544"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SD-WAN</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隧道</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Freeform: Shape 33">
              <a:extLst>
                <a:ext uri="{FF2B5EF4-FFF2-40B4-BE49-F238E27FC236}">
                  <a16:creationId xmlns:a16="http://schemas.microsoft.com/office/drawing/2014/main" id="{07EA577D-889F-45F1-B5A2-FEB56CC68BA0}"/>
                </a:ext>
              </a:extLst>
            </p:cNvPr>
            <p:cNvSpPr/>
            <p:nvPr/>
          </p:nvSpPr>
          <p:spPr bwMode="gray">
            <a:xfrm rot="21026454">
              <a:off x="1866643" y="3672303"/>
              <a:ext cx="844674" cy="1200868"/>
            </a:xfrm>
            <a:custGeom>
              <a:avLst/>
              <a:gdLst>
                <a:gd name="connsiteX0" fmla="*/ 0 w 862644"/>
                <a:gd name="connsiteY0" fmla="*/ 1665515 h 1665515"/>
                <a:gd name="connsiteX1" fmla="*/ 859971 w 862644"/>
                <a:gd name="connsiteY1" fmla="*/ 1077686 h 1665515"/>
                <a:gd name="connsiteX2" fmla="*/ 217714 w 862644"/>
                <a:gd name="connsiteY2" fmla="*/ 0 h 1665515"/>
              </a:gdLst>
              <a:ahLst/>
              <a:cxnLst>
                <a:cxn ang="0">
                  <a:pos x="connsiteX0" y="connsiteY0"/>
                </a:cxn>
                <a:cxn ang="0">
                  <a:pos x="connsiteX1" y="connsiteY1"/>
                </a:cxn>
                <a:cxn ang="0">
                  <a:pos x="connsiteX2" y="connsiteY2"/>
                </a:cxn>
              </a:cxnLst>
              <a:rect l="l" t="t" r="r" b="b"/>
              <a:pathLst>
                <a:path w="862644" h="1665515">
                  <a:moveTo>
                    <a:pt x="0" y="1665515"/>
                  </a:moveTo>
                  <a:cubicBezTo>
                    <a:pt x="411842" y="1510393"/>
                    <a:pt x="823685" y="1355272"/>
                    <a:pt x="859971" y="1077686"/>
                  </a:cubicBezTo>
                  <a:cubicBezTo>
                    <a:pt x="896257" y="800100"/>
                    <a:pt x="556985" y="400050"/>
                    <a:pt x="217714"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Can 225">
              <a:extLst>
                <a:ext uri="{FF2B5EF4-FFF2-40B4-BE49-F238E27FC236}">
                  <a16:creationId xmlns:a16="http://schemas.microsoft.com/office/drawing/2014/main" id="{98717954-E657-43F9-B364-648C75CBFAEB}"/>
                </a:ext>
              </a:extLst>
            </p:cNvPr>
            <p:cNvSpPr/>
            <p:nvPr/>
          </p:nvSpPr>
          <p:spPr bwMode="gray">
            <a:xfrm rot="9466130">
              <a:off x="4664281" y="3436327"/>
              <a:ext cx="193925" cy="1345067"/>
            </a:xfrm>
            <a:prstGeom prst="can">
              <a:avLst>
                <a:gd name="adj" fmla="val 4737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文本框 60">
              <a:extLst>
                <a:ext uri="{FF2B5EF4-FFF2-40B4-BE49-F238E27FC236}">
                  <a16:creationId xmlns:a16="http://schemas.microsoft.com/office/drawing/2014/main" id="{5E1A2A44-0E61-4DA3-BB48-156B890C761A}"/>
                </a:ext>
              </a:extLst>
            </p:cNvPr>
            <p:cNvSpPr txBox="1"/>
            <p:nvPr/>
          </p:nvSpPr>
          <p:spPr bwMode="gray">
            <a:xfrm rot="4066130">
              <a:off x="4109130" y="3937201"/>
              <a:ext cx="1277830"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GRE Over IPsec</a:t>
              </a:r>
            </a:p>
          </p:txBody>
        </p:sp>
        <p:cxnSp>
          <p:nvCxnSpPr>
            <p:cNvPr id="68" name="直接箭头连接符 33">
              <a:extLst>
                <a:ext uri="{FF2B5EF4-FFF2-40B4-BE49-F238E27FC236}">
                  <a16:creationId xmlns:a16="http://schemas.microsoft.com/office/drawing/2014/main" id="{C5C4EEAB-1D62-4D97-A0A3-38849461526F}"/>
                </a:ext>
              </a:extLst>
            </p:cNvPr>
            <p:cNvCxnSpPr>
              <a:cxnSpLocks/>
              <a:stCxn id="62" idx="0"/>
              <a:endCxn id="43" idx="2"/>
            </p:cNvCxnSpPr>
            <p:nvPr/>
          </p:nvCxnSpPr>
          <p:spPr bwMode="gray">
            <a:xfrm flipV="1">
              <a:off x="3555014" y="5151717"/>
              <a:ext cx="1559488" cy="417294"/>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9" name="文本框 60">
              <a:extLst>
                <a:ext uri="{FF2B5EF4-FFF2-40B4-BE49-F238E27FC236}">
                  <a16:creationId xmlns:a16="http://schemas.microsoft.com/office/drawing/2014/main" id="{9803BAD8-899E-4E4C-8C51-CA8FB9073010}"/>
                </a:ext>
              </a:extLst>
            </p:cNvPr>
            <p:cNvSpPr txBox="1"/>
            <p:nvPr/>
          </p:nvSpPr>
          <p:spPr bwMode="gray">
            <a:xfrm>
              <a:off x="1318296" y="5193480"/>
              <a:ext cx="645164"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70" name="文本框 60">
              <a:extLst>
                <a:ext uri="{FF2B5EF4-FFF2-40B4-BE49-F238E27FC236}">
                  <a16:creationId xmlns:a16="http://schemas.microsoft.com/office/drawing/2014/main" id="{8963A042-B4AE-4A9F-90DE-267075347F16}"/>
                </a:ext>
              </a:extLst>
            </p:cNvPr>
            <p:cNvSpPr txBox="1"/>
            <p:nvPr/>
          </p:nvSpPr>
          <p:spPr bwMode="gray">
            <a:xfrm>
              <a:off x="4876711" y="5193479"/>
              <a:ext cx="593962" cy="276999"/>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p>
          </p:txBody>
        </p:sp>
        <p:sp>
          <p:nvSpPr>
            <p:cNvPr id="71" name="文本框 60">
              <a:extLst>
                <a:ext uri="{FF2B5EF4-FFF2-40B4-BE49-F238E27FC236}">
                  <a16:creationId xmlns:a16="http://schemas.microsoft.com/office/drawing/2014/main" id="{29339899-EB4D-4494-AE3C-399473FF8EF1}"/>
                </a:ext>
              </a:extLst>
            </p:cNvPr>
            <p:cNvSpPr txBox="1"/>
            <p:nvPr/>
          </p:nvSpPr>
          <p:spPr bwMode="gray">
            <a:xfrm>
              <a:off x="825100" y="3220967"/>
              <a:ext cx="935398" cy="461665"/>
            </a:xfrm>
            <a:prstGeom prst="rect">
              <a:avLst/>
            </a:prstGeom>
            <a:noFill/>
          </p:spPr>
          <p:txBody>
            <a:bodyPr wrap="square" rtlCol="0">
              <a:sp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业务服务器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2" name="文本框 60">
              <a:extLst>
                <a:ext uri="{FF2B5EF4-FFF2-40B4-BE49-F238E27FC236}">
                  <a16:creationId xmlns:a16="http://schemas.microsoft.com/office/drawing/2014/main" id="{FDE186EE-F85B-4D96-8979-26548A92A6FA}"/>
                </a:ext>
              </a:extLst>
            </p:cNvPr>
            <p:cNvSpPr txBox="1"/>
            <p:nvPr/>
          </p:nvSpPr>
          <p:spPr bwMode="gray">
            <a:xfrm>
              <a:off x="3238833" y="3023788"/>
              <a:ext cx="935398" cy="461665"/>
            </a:xfrm>
            <a:prstGeom prst="rect">
              <a:avLst/>
            </a:prstGeom>
            <a:noFill/>
          </p:spPr>
          <p:txBody>
            <a:bodyPr wrap="square" rtlCol="0">
              <a:sp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第三方安全网关</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3" name="Rectangular Callout 26">
              <a:extLst>
                <a:ext uri="{FF2B5EF4-FFF2-40B4-BE49-F238E27FC236}">
                  <a16:creationId xmlns:a16="http://schemas.microsoft.com/office/drawing/2014/main" id="{6CEDCC48-17D9-4366-9423-EF4EE6ABE511}"/>
                </a:ext>
              </a:extLst>
            </p:cNvPr>
            <p:cNvSpPr/>
            <p:nvPr/>
          </p:nvSpPr>
          <p:spPr bwMode="gray">
            <a:xfrm>
              <a:off x="5069851" y="3839729"/>
              <a:ext cx="1209984" cy="592890"/>
            </a:xfrm>
            <a:prstGeom prst="wedgeRectCallout">
              <a:avLst>
                <a:gd name="adj1" fmla="val -60057"/>
                <a:gd name="adj2" fmla="val 1906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EDGE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与第三方安全网关建立</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4" name="直接箭头连接符 33">
              <a:extLst>
                <a:ext uri="{FF2B5EF4-FFF2-40B4-BE49-F238E27FC236}">
                  <a16:creationId xmlns:a16="http://schemas.microsoft.com/office/drawing/2014/main" id="{C5C4EEAB-1D62-4D97-A0A3-38849461526F}"/>
                </a:ext>
              </a:extLst>
            </p:cNvPr>
            <p:cNvCxnSpPr>
              <a:cxnSpLocks/>
              <a:stCxn id="62" idx="0"/>
              <a:endCxn id="41" idx="2"/>
            </p:cNvCxnSpPr>
            <p:nvPr/>
          </p:nvCxnSpPr>
          <p:spPr bwMode="gray">
            <a:xfrm flipH="1" flipV="1">
              <a:off x="1727358" y="5196727"/>
              <a:ext cx="1827656" cy="372284"/>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38" name="Freeform 37"/>
          <p:cNvSpPr/>
          <p:nvPr/>
        </p:nvSpPr>
        <p:spPr>
          <a:xfrm>
            <a:off x="2151752" y="3426063"/>
            <a:ext cx="2747848" cy="1389355"/>
          </a:xfrm>
          <a:custGeom>
            <a:avLst/>
            <a:gdLst>
              <a:gd name="connsiteX0" fmla="*/ 2743200 w 2743200"/>
              <a:gd name="connsiteY0" fmla="*/ 2062275 h 2062275"/>
              <a:gd name="connsiteX1" fmla="*/ 2223911 w 2743200"/>
              <a:gd name="connsiteY1" fmla="*/ 18986 h 2062275"/>
              <a:gd name="connsiteX2" fmla="*/ 1715911 w 2743200"/>
              <a:gd name="connsiteY2" fmla="*/ 1046275 h 2062275"/>
              <a:gd name="connsiteX3" fmla="*/ 869244 w 2743200"/>
              <a:gd name="connsiteY3" fmla="*/ 1114008 h 2062275"/>
              <a:gd name="connsiteX4" fmla="*/ 0 w 2743200"/>
              <a:gd name="connsiteY4" fmla="*/ 335075 h 2062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0" h="2062275">
                <a:moveTo>
                  <a:pt x="2743200" y="2062275"/>
                </a:moveTo>
                <a:cubicBezTo>
                  <a:pt x="2569163" y="1125297"/>
                  <a:pt x="2395126" y="188319"/>
                  <a:pt x="2223911" y="18986"/>
                </a:cubicBezTo>
                <a:cubicBezTo>
                  <a:pt x="2052696" y="-150347"/>
                  <a:pt x="1941689" y="863771"/>
                  <a:pt x="1715911" y="1046275"/>
                </a:cubicBezTo>
                <a:cubicBezTo>
                  <a:pt x="1490133" y="1228779"/>
                  <a:pt x="1155229" y="1232541"/>
                  <a:pt x="869244" y="1114008"/>
                </a:cubicBezTo>
                <a:cubicBezTo>
                  <a:pt x="583259" y="995475"/>
                  <a:pt x="291629" y="665275"/>
                  <a:pt x="0" y="335075"/>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6264473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bwMode="gray"/>
        <p:txBody>
          <a:bodyPr/>
          <a:lstStyle/>
          <a:p>
            <a:r>
              <a:rPr lang="en-US" sz="2000" dirty="0"/>
              <a:t>SD-WAN</a:t>
            </a:r>
            <a:r>
              <a:rPr lang="zh-CN" altLang="en-US" sz="2000" dirty="0"/>
              <a:t>可靠性与安全设计分为站点可靠性设计、控制器可靠性设计与安全设计。</a:t>
            </a:r>
            <a:endParaRPr lang="en-US" altLang="zh-CN" sz="2000" dirty="0"/>
          </a:p>
          <a:p>
            <a:pPr lvl="1"/>
            <a:r>
              <a:rPr lang="zh-CN" altLang="en-US" sz="1800" dirty="0"/>
              <a:t>站点可靠性设计：主要包括</a:t>
            </a:r>
            <a:r>
              <a:rPr lang="en-US" altLang="zh-CN" sz="1800" dirty="0"/>
              <a:t>Hub</a:t>
            </a:r>
            <a:r>
              <a:rPr lang="zh-CN" altLang="en-US" sz="1800" dirty="0"/>
              <a:t>站点可靠性设计、</a:t>
            </a:r>
            <a:r>
              <a:rPr lang="en-US" altLang="zh-CN" sz="1800" dirty="0"/>
              <a:t>RR</a:t>
            </a:r>
            <a:r>
              <a:rPr lang="zh-CN" altLang="en-US" sz="1800" dirty="0"/>
              <a:t>站点可靠性设计、</a:t>
            </a:r>
            <a:r>
              <a:rPr lang="en-US" altLang="zh-CN" sz="1800" dirty="0"/>
              <a:t>IWG</a:t>
            </a:r>
            <a:r>
              <a:rPr lang="zh-CN" altLang="en-US" sz="1800" dirty="0"/>
              <a:t>站点可靠性设计。</a:t>
            </a:r>
            <a:endParaRPr lang="en-US" altLang="zh-CN" sz="1800" dirty="0"/>
          </a:p>
          <a:p>
            <a:pPr lvl="1"/>
            <a:r>
              <a:rPr lang="zh-CN" altLang="en-US" sz="1800" dirty="0"/>
              <a:t>控制器可靠性设计：主要包括控制器部署可靠性设计、控制器网络可靠性设计。</a:t>
            </a:r>
            <a:endParaRPr lang="en-US" altLang="zh-CN" sz="1800" dirty="0"/>
          </a:p>
          <a:p>
            <a:pPr lvl="1"/>
            <a:r>
              <a:rPr lang="zh-CN" altLang="en-US" sz="1800" dirty="0"/>
              <a:t>安全设计：主要包括系统安全设计、业务安全设计。</a:t>
            </a:r>
            <a:endParaRPr lang="en-US" altLang="zh-CN" sz="1800" dirty="0"/>
          </a:p>
        </p:txBody>
      </p:sp>
    </p:spTree>
    <p:extLst>
      <p:ext uri="{BB962C8B-B14F-4D97-AF65-F5344CB8AC3E}">
        <p14:creationId xmlns:p14="http://schemas.microsoft.com/office/powerpoint/2010/main" val="383198713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a:t>
            </a:r>
            <a:r>
              <a:rPr lang="zh-CN" altLang="en-US" dirty="0"/>
              <a:t>多选题</a:t>
            </a:r>
            <a:r>
              <a:rPr lang="en-US" altLang="zh-CN" dirty="0"/>
              <a:t>)</a:t>
            </a:r>
            <a:r>
              <a:rPr lang="zh-CN" altLang="en-US" dirty="0"/>
              <a:t>华为</a:t>
            </a:r>
            <a:r>
              <a:rPr lang="en-US" altLang="zh-CN" dirty="0"/>
              <a:t>SD-WAN</a:t>
            </a:r>
            <a:r>
              <a:rPr lang="zh-CN" altLang="en-US" dirty="0"/>
              <a:t>解决方案支持的</a:t>
            </a:r>
            <a:r>
              <a:rPr lang="en-US" altLang="zh-CN" dirty="0"/>
              <a:t>Overlay</a:t>
            </a:r>
            <a:r>
              <a:rPr lang="zh-CN" altLang="en-US" dirty="0"/>
              <a:t>网络拓扑类型有哪些选项？</a:t>
            </a:r>
            <a:r>
              <a:rPr lang="en-US" altLang="zh-CN" dirty="0"/>
              <a:t>(     )</a:t>
            </a:r>
          </a:p>
          <a:p>
            <a:pPr lvl="1"/>
            <a:r>
              <a:rPr lang="en-US" altLang="zh-CN" dirty="0"/>
              <a:t>Hub-Spoke</a:t>
            </a:r>
          </a:p>
          <a:p>
            <a:pPr lvl="1"/>
            <a:r>
              <a:rPr lang="en-US" altLang="zh-CN" dirty="0"/>
              <a:t>Full-mesh</a:t>
            </a:r>
          </a:p>
          <a:p>
            <a:pPr lvl="1"/>
            <a:r>
              <a:rPr lang="en-US" altLang="zh-CN" dirty="0"/>
              <a:t>Partial-mesh</a:t>
            </a:r>
          </a:p>
          <a:p>
            <a:pPr lvl="1"/>
            <a:r>
              <a:rPr lang="zh-CN" altLang="en-US" dirty="0"/>
              <a:t>分层组网</a:t>
            </a:r>
            <a:endParaRPr lang="en-US" altLang="zh-CN" dirty="0"/>
          </a:p>
          <a:p>
            <a:r>
              <a:rPr lang="en-US" altLang="zh-CN" dirty="0"/>
              <a:t>(</a:t>
            </a:r>
            <a:r>
              <a:rPr lang="zh-CN" altLang="en-US" dirty="0"/>
              <a:t>判断题</a:t>
            </a:r>
            <a:r>
              <a:rPr lang="en-US" altLang="zh-CN" dirty="0"/>
              <a:t>)</a:t>
            </a:r>
            <a:r>
              <a:rPr lang="zh-CN" altLang="en-US" dirty="0"/>
              <a:t>智能选路功能可以基于链路质量动态调整数据转发链路。</a:t>
            </a:r>
            <a:r>
              <a:rPr lang="en-US" altLang="zh-CN" dirty="0"/>
              <a:t>(     )</a:t>
            </a:r>
          </a:p>
          <a:p>
            <a:pPr lvl="1"/>
            <a:r>
              <a:rPr lang="zh-CN" altLang="en-US" dirty="0"/>
              <a:t>正确</a:t>
            </a:r>
            <a:endParaRPr lang="en-US" altLang="zh-CN" dirty="0"/>
          </a:p>
          <a:p>
            <a:pPr lvl="1"/>
            <a:r>
              <a:rPr lang="zh-CN" altLang="en-US" dirty="0"/>
              <a:t>错误</a:t>
            </a:r>
            <a:endParaRPr lang="en-US" altLang="zh-CN" dirty="0"/>
          </a:p>
        </p:txBody>
      </p:sp>
    </p:spTree>
    <p:extLst>
      <p:ext uri="{BB962C8B-B14F-4D97-AF65-F5344CB8AC3E}">
        <p14:creationId xmlns:p14="http://schemas.microsoft.com/office/powerpoint/2010/main" val="220933025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sz="2000"/>
              <a:t>SD-WAN</a:t>
            </a:r>
            <a:r>
              <a:rPr lang="zh-CN" altLang="en-US" sz="2000"/>
              <a:t>解决方案解决了广域互联网面临的挑战。</a:t>
            </a:r>
            <a:endParaRPr lang="en-US" altLang="zh-CN" sz="2000"/>
          </a:p>
          <a:p>
            <a:r>
              <a:rPr lang="en-US" altLang="zh-CN" sz="2000"/>
              <a:t>SD-WAN</a:t>
            </a:r>
            <a:r>
              <a:rPr lang="zh-CN" altLang="en-US" sz="2000"/>
              <a:t>解决方案主要提供</a:t>
            </a:r>
            <a:r>
              <a:rPr lang="en-US" altLang="zh-CN" sz="2000"/>
              <a:t>ZTP</a:t>
            </a:r>
            <a:r>
              <a:rPr lang="zh-CN" altLang="en-US" sz="2000"/>
              <a:t>、灵活组网、智能选路、业务安全等功能。</a:t>
            </a:r>
            <a:endParaRPr lang="en-US" altLang="zh-CN" sz="2000"/>
          </a:p>
          <a:p>
            <a:r>
              <a:rPr lang="en-US" altLang="zh-CN" sz="2000"/>
              <a:t>SD-WAN</a:t>
            </a:r>
            <a:r>
              <a:rPr lang="zh-CN" altLang="en-US" sz="2000"/>
              <a:t>解决方案设计主要可分为：</a:t>
            </a:r>
            <a:endParaRPr lang="en-US" altLang="zh-CN" sz="2000"/>
          </a:p>
          <a:p>
            <a:pPr lvl="1"/>
            <a:r>
              <a:rPr lang="zh-CN" altLang="en-US" sz="1800"/>
              <a:t>华为</a:t>
            </a:r>
            <a:r>
              <a:rPr lang="en-US" altLang="zh-CN" sz="1800"/>
              <a:t>SD-WAN</a:t>
            </a:r>
            <a:r>
              <a:rPr lang="zh-CN" altLang="en-US" sz="1800"/>
              <a:t>组网设计：主要包括站点设计、隧道设计与</a:t>
            </a:r>
            <a:r>
              <a:rPr lang="en-US" altLang="zh-CN" sz="1800"/>
              <a:t>VPN</a:t>
            </a:r>
            <a:r>
              <a:rPr lang="zh-CN" altLang="en-US" sz="1800"/>
              <a:t>设计</a:t>
            </a:r>
            <a:endParaRPr lang="en-US" altLang="zh-CN" sz="1800"/>
          </a:p>
          <a:p>
            <a:pPr lvl="1"/>
            <a:r>
              <a:rPr lang="zh-CN" altLang="en-US" sz="1800"/>
              <a:t>华为</a:t>
            </a:r>
            <a:r>
              <a:rPr lang="en-US" altLang="zh-CN" sz="1800"/>
              <a:t>SD-WAN</a:t>
            </a:r>
            <a:r>
              <a:rPr lang="zh-CN" altLang="en-US" sz="1800"/>
              <a:t>业务设计：主要包括应用业务设计与网络业务设计</a:t>
            </a:r>
          </a:p>
          <a:p>
            <a:pPr lvl="1"/>
            <a:r>
              <a:rPr lang="zh-CN" altLang="en-US" sz="1800"/>
              <a:t>华为</a:t>
            </a:r>
            <a:r>
              <a:rPr lang="en-US" altLang="zh-CN" sz="1800"/>
              <a:t>SD-WAN</a:t>
            </a:r>
            <a:r>
              <a:rPr lang="zh-CN" altLang="en-US" sz="1800"/>
              <a:t>可靠性与安全设计：主要包括站点可靠性设计、控制器可靠性设计与安全设计</a:t>
            </a:r>
            <a:endParaRPr lang="zh-CN" altLang="en-US" sz="1800" dirty="0"/>
          </a:p>
        </p:txBody>
      </p:sp>
    </p:spTree>
    <p:extLst>
      <p:ext uri="{BB962C8B-B14F-4D97-AF65-F5344CB8AC3E}">
        <p14:creationId xmlns:p14="http://schemas.microsoft.com/office/powerpoint/2010/main" val="57917368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2489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393918;#163279;#164712;#138281;"/>
</p:tagLst>
</file>

<file path=ppt/tags/tag2.xml><?xml version="1.0" encoding="utf-8"?>
<p:tagLst xmlns:a="http://schemas.openxmlformats.org/drawingml/2006/main" xmlns:r="http://schemas.openxmlformats.org/officeDocument/2006/relationships" xmlns:p="http://schemas.openxmlformats.org/presentationml/2006/main">
  <p:tag name="MH" val="20151222191735"/>
  <p:tag name="MH_LIBRARY" val="GRAPHIC"/>
  <p:tag name="MH_TYPE" val="SubTitle"/>
  <p:tag name="MH_ORDER" val="1"/>
</p:tagLst>
</file>

<file path=ppt/tags/tag3.xml><?xml version="1.0" encoding="utf-8"?>
<p:tagLst xmlns:a="http://schemas.openxmlformats.org/drawingml/2006/main" xmlns:r="http://schemas.openxmlformats.org/officeDocument/2006/relationships" xmlns:p="http://schemas.openxmlformats.org/presentationml/2006/main">
  <p:tag name="ISLIDE.ICON" val="#44059;#34331;"/>
</p:tagLst>
</file>

<file path=ppt/tags/tag4.xml><?xml version="1.0" encoding="utf-8"?>
<p:tagLst xmlns:a="http://schemas.openxmlformats.org/drawingml/2006/main" xmlns:r="http://schemas.openxmlformats.org/officeDocument/2006/relationships" xmlns:p="http://schemas.openxmlformats.org/presentationml/2006/main">
  <p:tag name="ISLIDE.ICON" val="#369430;#34657;"/>
</p:tagLst>
</file>

<file path=ppt/tags/tag5.xml><?xml version="1.0" encoding="utf-8"?>
<p:tagLst xmlns:a="http://schemas.openxmlformats.org/drawingml/2006/main" xmlns:r="http://schemas.openxmlformats.org/officeDocument/2006/relationships" xmlns:p="http://schemas.openxmlformats.org/presentationml/2006/main">
  <p:tag name="ISLIDE.ICON" val="#149650;#14884;"/>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5960F2-6186-408B-A0DC-5CA5E58B604F}">
  <ds:schemaRefs>
    <ds:schemaRef ds:uri="http://schemas.microsoft.com/office/2006/metadata/properties"/>
    <ds:schemaRef ds:uri="http://schemas.microsoft.com/office/2006/documentManagement/types"/>
    <ds:schemaRef ds:uri="http://purl.org/dc/elements/1.1/"/>
    <ds:schemaRef ds:uri="http://www.w3.org/XML/1998/namespace"/>
    <ds:schemaRef ds:uri="http://schemas.openxmlformats.org/package/2006/metadata/core-properties"/>
    <ds:schemaRef ds:uri="http://purl.org/dc/dcmitype/"/>
    <ds:schemaRef ds:uri="http://schemas.microsoft.com/office/infopath/2007/PartnerControls"/>
    <ds:schemaRef ds:uri="475f1e55-3009-46d8-9566-5d569a2b3a98"/>
    <ds:schemaRef ds:uri="http://purl.org/dc/terms/"/>
  </ds:schemaRefs>
</ds:datastoreItem>
</file>

<file path=customXml/itemProps2.xml><?xml version="1.0" encoding="utf-8"?>
<ds:datastoreItem xmlns:ds="http://schemas.openxmlformats.org/officeDocument/2006/customXml" ds:itemID="{969A14D1-B681-4485-97B3-84E4632003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16780</TotalTime>
  <Words>19334</Words>
  <Application>Microsoft Office PowerPoint</Application>
  <PresentationFormat>宽屏</PresentationFormat>
  <Paragraphs>3462</Paragraphs>
  <Slides>136</Slides>
  <Notes>136</Notes>
  <HiddenSlides>2</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136</vt:i4>
      </vt:variant>
    </vt:vector>
  </HeadingPairs>
  <TitlesOfParts>
    <vt:vector size="146" baseType="lpstr">
      <vt:lpstr>Huawei Sans</vt:lpstr>
      <vt:lpstr>方正兰亭黑简体</vt:lpstr>
      <vt:lpstr>Microsoft YaHei</vt:lpstr>
      <vt:lpstr>Microsoft YaHei</vt:lpstr>
      <vt:lpstr>Arial</vt:lpstr>
      <vt:lpstr>Wingdings</vt:lpstr>
      <vt:lpstr>2_标题页模板</vt:lpstr>
      <vt:lpstr>3_功能页模板</vt:lpstr>
      <vt:lpstr>4_内容页模板</vt:lpstr>
      <vt:lpstr>5_感谢页模板</vt:lpstr>
      <vt:lpstr>PowerPoint 演示文稿</vt:lpstr>
      <vt:lpstr>SD-WAN解决方案与规划设计</vt:lpstr>
      <vt:lpstr>PowerPoint 演示文稿</vt:lpstr>
      <vt:lpstr>PowerPoint 演示文稿</vt:lpstr>
      <vt:lpstr>PowerPoint 演示文稿</vt:lpstr>
      <vt:lpstr>云计算对企业广域互联的挑战</vt:lpstr>
      <vt:lpstr>多业务对企业广域互联的挑战</vt:lpstr>
      <vt:lpstr>大量分支对企业广域互联的挑战</vt:lpstr>
      <vt:lpstr>SD-WAN诞生</vt:lpstr>
      <vt:lpstr>PowerPoint 演示文稿</vt:lpstr>
      <vt:lpstr>华为SD-WAN解决方案概览</vt:lpstr>
      <vt:lpstr>华为SD-WAN解决方案架构</vt:lpstr>
      <vt:lpstr>华为iMaster NCE-WAN控制器框架图</vt:lpstr>
      <vt:lpstr>网络层概述</vt:lpstr>
      <vt:lpstr>EDGE概述</vt:lpstr>
      <vt:lpstr>RR概述</vt:lpstr>
      <vt:lpstr>GW概述</vt:lpstr>
      <vt:lpstr>华为CPE设备 - NetEngine AR路由器</vt:lpstr>
      <vt:lpstr>PowerPoint 演示文稿</vt:lpstr>
      <vt:lpstr>华为SD-WAN主要功能</vt:lpstr>
      <vt:lpstr>零配置开局概述</vt:lpstr>
      <vt:lpstr>ZTP开局方式介绍</vt:lpstr>
      <vt:lpstr>华为SD-WAN灵活组网概述</vt:lpstr>
      <vt:lpstr>华为SD-WAN管理通道介绍</vt:lpstr>
      <vt:lpstr>华为SD-WAN控制通道介绍</vt:lpstr>
      <vt:lpstr>华为SD-WAN数据通道介绍</vt:lpstr>
      <vt:lpstr>华为SD-WAN应用体验概述</vt:lpstr>
      <vt:lpstr>华为SD-WAN应用识别与选路介绍</vt:lpstr>
      <vt:lpstr>华为SD-WAN QoS与广域优化介绍</vt:lpstr>
      <vt:lpstr>华为SD-WAN安全概述</vt:lpstr>
      <vt:lpstr>华为SD-WAN系统安全加固介绍</vt:lpstr>
      <vt:lpstr>华为SD-WAN业务安全介绍</vt:lpstr>
      <vt:lpstr>华为SD-WAN可视化运维概述</vt:lpstr>
      <vt:lpstr>PowerPoint 演示文稿</vt:lpstr>
      <vt:lpstr>企业自建SD-WAN场景</vt:lpstr>
      <vt:lpstr>MSP转售SD-WAN场景</vt:lpstr>
      <vt:lpstr>运营商转售SD-WAN场景</vt:lpstr>
      <vt:lpstr>PowerPoint 演示文稿</vt:lpstr>
      <vt:lpstr>PowerPoint 演示文稿</vt:lpstr>
      <vt:lpstr>华为SD-WAN组网设计概览</vt:lpstr>
      <vt:lpstr>华为SD-WAN组网设计思路</vt:lpstr>
      <vt:lpstr>PowerPoint 演示文稿</vt:lpstr>
      <vt:lpstr>站点设计全景图</vt:lpstr>
      <vt:lpstr>WAN侧网络组网模型</vt:lpstr>
      <vt:lpstr>WAN侧网络典型组网</vt:lpstr>
      <vt:lpstr>WAN侧Underlay路由设计</vt:lpstr>
      <vt:lpstr>LAN侧网络组网模型</vt:lpstr>
      <vt:lpstr>LAN侧二层网络对接典型场景</vt:lpstr>
      <vt:lpstr>LAN侧三层网络对接典型场景</vt:lpstr>
      <vt:lpstr>双CPE互联组网模型</vt:lpstr>
      <vt:lpstr>双CPE互联组网方案</vt:lpstr>
      <vt:lpstr>PowerPoint 演示文稿</vt:lpstr>
      <vt:lpstr>隧道设计全景图</vt:lpstr>
      <vt:lpstr>隧道基本概念</vt:lpstr>
      <vt:lpstr>TNP介绍</vt:lpstr>
      <vt:lpstr>隧道枚举介绍</vt:lpstr>
      <vt:lpstr>SD-WAN隧道建立流程</vt:lpstr>
      <vt:lpstr>隧道组网模型</vt:lpstr>
      <vt:lpstr>隧道组网可靠性</vt:lpstr>
      <vt:lpstr>RR部署方式</vt:lpstr>
      <vt:lpstr>PowerPoint 演示文稿</vt:lpstr>
      <vt:lpstr>RR部署原则</vt:lpstr>
      <vt:lpstr>RR组网典型场景 - 企业自建</vt:lpstr>
      <vt:lpstr>RR组网典型场景 - 运营商/MSP转售</vt:lpstr>
      <vt:lpstr>NAT穿越介绍</vt:lpstr>
      <vt:lpstr>NAT穿越场景 - EDGE与控制器连接 </vt:lpstr>
      <vt:lpstr>NAT穿越场景 - EDGE与RR连接 </vt:lpstr>
      <vt:lpstr>NAT穿越场景 - EDGE与EDGE连接 </vt:lpstr>
      <vt:lpstr>组网规格计算</vt:lpstr>
      <vt:lpstr>网络超规设计</vt:lpstr>
      <vt:lpstr>PowerPoint 演示文稿</vt:lpstr>
      <vt:lpstr>VPN设计全景图</vt:lpstr>
      <vt:lpstr>SD-WAN VPN介绍</vt:lpstr>
      <vt:lpstr>VPN规划设计</vt:lpstr>
      <vt:lpstr>Overlay拓扑设计</vt:lpstr>
      <vt:lpstr>Hub-Spoke应用场景</vt:lpstr>
      <vt:lpstr>Full-mesh应用场景</vt:lpstr>
      <vt:lpstr>Partial-mesh应用场景</vt:lpstr>
      <vt:lpstr>分层组网应用场景</vt:lpstr>
      <vt:lpstr>VPN路由设计</vt:lpstr>
      <vt:lpstr>PowerPoint 演示文稿</vt:lpstr>
      <vt:lpstr>PowerPoint 演示文稿</vt:lpstr>
      <vt:lpstr>华为SD-WAN业务设计概览</vt:lpstr>
      <vt:lpstr>华为SD-WAN业务设计思路</vt:lpstr>
      <vt:lpstr>PowerPoint 演示文稿</vt:lpstr>
      <vt:lpstr>应用业务设计全景图</vt:lpstr>
      <vt:lpstr>应用识别简介</vt:lpstr>
      <vt:lpstr>智能选路设计：链路质量选路</vt:lpstr>
      <vt:lpstr>智能选路设计：负载分担选路</vt:lpstr>
      <vt:lpstr>智能选路设计：应用优先级选路</vt:lpstr>
      <vt:lpstr>QoS设计：HQoS</vt:lpstr>
      <vt:lpstr>丢包优化设计</vt:lpstr>
      <vt:lpstr>PowerPoint 演示文稿</vt:lpstr>
      <vt:lpstr>网络业务设计全景图</vt:lpstr>
      <vt:lpstr>访问互联网方案介绍</vt:lpstr>
      <vt:lpstr>本地上网设计</vt:lpstr>
      <vt:lpstr>集中上网设计</vt:lpstr>
      <vt:lpstr>混合上网设计：默认本地上网+备选集中上网</vt:lpstr>
      <vt:lpstr>混合上网设计：默认集中上网+指定应用本地上网</vt:lpstr>
      <vt:lpstr>互联网访问链路可靠性</vt:lpstr>
      <vt:lpstr>传统站点互访方案介绍</vt:lpstr>
      <vt:lpstr>通过企业站点互访：基于专线线路互访</vt:lpstr>
      <vt:lpstr>通过企业站点互访：基于本地互访</vt:lpstr>
      <vt:lpstr>IWG介绍</vt:lpstr>
      <vt:lpstr>通过IWG互访：基于Option B跨域方案互访</vt:lpstr>
      <vt:lpstr>通过IWG互访：基于L3 VXLAN的Option A跨域互访</vt:lpstr>
      <vt:lpstr>通过IWG互访：基于L3 VLAN的Option A跨域互访</vt:lpstr>
      <vt:lpstr>PowerPoint 演示文稿</vt:lpstr>
      <vt:lpstr>PowerPoint 演示文稿</vt:lpstr>
      <vt:lpstr>华为SD-WAN可靠性设计概述</vt:lpstr>
      <vt:lpstr>华为SD-WAN可靠性设计思路</vt:lpstr>
      <vt:lpstr>PowerPoint 演示文稿</vt:lpstr>
      <vt:lpstr>站点可靠性设计全景图</vt:lpstr>
      <vt:lpstr>Hub站点可靠性设计</vt:lpstr>
      <vt:lpstr>RR站点可靠性设计：RR设备冗余</vt:lpstr>
      <vt:lpstr>RR站点可靠性设计：RR链路冗余</vt:lpstr>
      <vt:lpstr>IWG可靠性设计</vt:lpstr>
      <vt:lpstr>PowerPoint 演示文稿</vt:lpstr>
      <vt:lpstr>控制器可靠性设计全景图</vt:lpstr>
      <vt:lpstr>控制器站内部署设计</vt:lpstr>
      <vt:lpstr>控制器容灾部署设计</vt:lpstr>
      <vt:lpstr>单控制器组网可靠性设计</vt:lpstr>
      <vt:lpstr>主备控制器组网可靠性设计</vt:lpstr>
      <vt:lpstr>PowerPoint 演示文稿</vt:lpstr>
      <vt:lpstr>SD-WAN安全方案概览</vt:lpstr>
      <vt:lpstr>系统安全设计：组件间通信安全</vt:lpstr>
      <vt:lpstr>系统安全设计：数据通道安全</vt:lpstr>
      <vt:lpstr>系统安全设计：管理员认证和授权</vt:lpstr>
      <vt:lpstr>系统安全设计：EDGE安全</vt:lpstr>
      <vt:lpstr>业务安全设计：访问互联网安全</vt:lpstr>
      <vt:lpstr>业务安全设计：VAS高级安全</vt:lpstr>
      <vt:lpstr>业务安全设计：第三方云安全</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he junpeng</cp:lastModifiedBy>
  <cp:revision>827</cp:revision>
  <cp:lastPrinted>2020-07-31T09:33:18Z</cp:lastPrinted>
  <dcterms:created xsi:type="dcterms:W3CDTF">2018-11-29T10:16:29Z</dcterms:created>
  <dcterms:modified xsi:type="dcterms:W3CDTF">2023-08-25T05:58:31Z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(3)9ZVgQhF2ZBPvv5wWz14zd+9m3Hc4DLo6doWlo0VTxDG9CFZlJWMDK2RmsXt9badoKD5eEy0o
N2LlxcafLUCFn2fkqqGv3dar86Y0mcmHhF4M2Sq61heJF2c635FsdzhNBWt8ASCYLRo4sI1+
HuxcbLSRSCZh7YU8MoN5R7bKGgt62les1e/IK789tNw4y+b1oi6/CKLdnq+PmNJgLl3wjX4t
nureOU7ihmDpZTGucJ</vt:lpwstr>
  </property>
  <property fmtid="{D5CDD505-2E9C-101B-9397-08002B2CF9AE}" pid="3" name="_2015_ms_pID_7253431">
    <vt:lpwstr>U98tVUHK3G+IP60e4MpyLjh98UpQeJRdRt3zy5MCOAi+cPuMR7xzLG
m12G3jJhBon86BCIxmgk0D+VWxFYwXwVLPYqf36pdLvhaqxMGaQA6OknXP/xnFkJznSKb2eq
3Rez/oniMuG5XqQW1R+XyI9T/Hzx9k7njEXQMLm8E6A3nCasA/3HEE2lwmTyeb/ZXEzRkjs1
VqT/+ZTEyuvWr/FsiDY4VN14weqzFghPMIJP</vt:lpwstr>
  </property>
  <property fmtid="{D5CDD505-2E9C-101B-9397-08002B2CF9AE}" pid="4" name="_2015_ms_pID_7253432">
    <vt:lpwstr>42D1lU3QgHeHCL/aMR74Vi8=</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1633313247</vt:lpwstr>
  </property>
</Properties>
</file>