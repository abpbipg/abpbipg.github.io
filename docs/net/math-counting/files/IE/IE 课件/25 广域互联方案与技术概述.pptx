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72"/>
  </p:notesMasterIdLst>
  <p:handoutMasterIdLst>
    <p:handoutMasterId r:id="rId73"/>
  </p:handoutMasterIdLst>
  <p:sldIdLst>
    <p:sldId id="1571" r:id="rId8"/>
    <p:sldId id="1437" r:id="rId9"/>
    <p:sldId id="1438" r:id="rId10"/>
    <p:sldId id="1439" r:id="rId11"/>
    <p:sldId id="1528" r:id="rId12"/>
    <p:sldId id="1531" r:id="rId13"/>
    <p:sldId id="1533" r:id="rId14"/>
    <p:sldId id="1441" r:id="rId15"/>
    <p:sldId id="1538" r:id="rId16"/>
    <p:sldId id="1443" r:id="rId17"/>
    <p:sldId id="1537" r:id="rId18"/>
    <p:sldId id="1529" r:id="rId19"/>
    <p:sldId id="1479" r:id="rId20"/>
    <p:sldId id="1480" r:id="rId21"/>
    <p:sldId id="1518" r:id="rId22"/>
    <p:sldId id="1472" r:id="rId23"/>
    <p:sldId id="1543" r:id="rId24"/>
    <p:sldId id="1541" r:id="rId25"/>
    <p:sldId id="1542" r:id="rId26"/>
    <p:sldId id="1545" r:id="rId27"/>
    <p:sldId id="1546" r:id="rId28"/>
    <p:sldId id="1547" r:id="rId29"/>
    <p:sldId id="1490" r:id="rId30"/>
    <p:sldId id="1539" r:id="rId31"/>
    <p:sldId id="1544" r:id="rId32"/>
    <p:sldId id="1473" r:id="rId33"/>
    <p:sldId id="1474" r:id="rId34"/>
    <p:sldId id="1476" r:id="rId35"/>
    <p:sldId id="1478" r:id="rId36"/>
    <p:sldId id="1519" r:id="rId37"/>
    <p:sldId id="1481" r:id="rId38"/>
    <p:sldId id="1484" r:id="rId39"/>
    <p:sldId id="1485" r:id="rId40"/>
    <p:sldId id="1385" r:id="rId41"/>
    <p:sldId id="1486" r:id="rId42"/>
    <p:sldId id="1520" r:id="rId43"/>
    <p:sldId id="1488" r:id="rId44"/>
    <p:sldId id="1489" r:id="rId45"/>
    <p:sldId id="1521" r:id="rId46"/>
    <p:sldId id="1548" r:id="rId47"/>
    <p:sldId id="278" r:id="rId48"/>
    <p:sldId id="279" r:id="rId49"/>
    <p:sldId id="285" r:id="rId50"/>
    <p:sldId id="292" r:id="rId51"/>
    <p:sldId id="1561" r:id="rId52"/>
    <p:sldId id="1550" r:id="rId53"/>
    <p:sldId id="313" r:id="rId54"/>
    <p:sldId id="314" r:id="rId55"/>
    <p:sldId id="325" r:id="rId56"/>
    <p:sldId id="328" r:id="rId57"/>
    <p:sldId id="335" r:id="rId58"/>
    <p:sldId id="1551" r:id="rId59"/>
    <p:sldId id="1552" r:id="rId60"/>
    <p:sldId id="280" r:id="rId61"/>
    <p:sldId id="1570" r:id="rId62"/>
    <p:sldId id="372" r:id="rId63"/>
    <p:sldId id="377" r:id="rId64"/>
    <p:sldId id="1558" r:id="rId65"/>
    <p:sldId id="1557" r:id="rId66"/>
    <p:sldId id="1566" r:id="rId67"/>
    <p:sldId id="1567" r:id="rId68"/>
    <p:sldId id="1460" r:id="rId69"/>
    <p:sldId id="1462" r:id="rId70"/>
    <p:sldId id="1465" r:id="rId71"/>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59" clrIdx="0">
    <p:extLst>
      <p:ext uri="{19B8F6BF-5375-455C-9EA6-DF929625EA0E}">
        <p15:presenceInfo xmlns:p15="http://schemas.microsoft.com/office/powerpoint/2012/main" userId="S-1-5-21-147214757-305610072-1517763936-4736116" providerId="AD"/>
      </p:ext>
    </p:extLst>
  </p:cmAuthor>
  <p:cmAuthor id="2" name="Wu Monk" initials="WM" lastIdx="41" clrIdx="1">
    <p:extLst>
      <p:ext uri="{19B8F6BF-5375-455C-9EA6-DF929625EA0E}">
        <p15:presenceInfo xmlns:p15="http://schemas.microsoft.com/office/powerpoint/2012/main" userId="cd7b699acb0cb86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6C4D2"/>
    <a:srgbClr val="BEE9EE"/>
    <a:srgbClr val="FDD351"/>
    <a:srgbClr val="FDE397"/>
    <a:srgbClr val="F5AC3C"/>
    <a:srgbClr val="151515"/>
    <a:srgbClr val="C7000B"/>
    <a:srgbClr val="FFFFFF"/>
    <a:srgbClr val="81C15F"/>
    <a:srgbClr val="E281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397" autoAdjust="0"/>
    <p:restoredTop sz="95267" autoAdjust="0"/>
  </p:normalViewPr>
  <p:slideViewPr>
    <p:cSldViewPr snapToGrid="0" snapToObjects="1">
      <p:cViewPr varScale="1">
        <p:scale>
          <a:sx n="85" d="100"/>
          <a:sy n="85" d="100"/>
        </p:scale>
        <p:origin x="40"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1"/>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4/16/2023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6390BCC-85B4-4B49-B668-816270B2AC39}"/>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C4F45888-18E2-4071-B66A-5586938C6A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9037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5B0E0-DDC6-4A91-945C-68BFA0A0AA12}"/>
              </a:ext>
            </a:extLst>
          </p:cNvPr>
          <p:cNvSpPr>
            <a:spLocks noGrp="1" noRot="1" noChangeAspect="1"/>
          </p:cNvSpPr>
          <p:nvPr>
            <p:ph type="sldImg"/>
          </p:nvPr>
        </p:nvSpPr>
        <p:spPr>
          <a:xfrm>
            <a:off x="744538" y="717550"/>
            <a:ext cx="5556250" cy="3125788"/>
          </a:xfrm>
        </p:spPr>
      </p:sp>
      <p:sp>
        <p:nvSpPr>
          <p:cNvPr id="3" name="Notes Placeholder 2">
            <a:extLst>
              <a:ext uri="{FF2B5EF4-FFF2-40B4-BE49-F238E27FC236}">
                <a16:creationId xmlns:a16="http://schemas.microsoft.com/office/drawing/2014/main" id="{7F6A46F0-7C33-45D1-9207-230F5240217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7695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3A798DA-20EE-420A-B065-C50E7F0D3403}"/>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CCC4650-6EE6-4764-BB37-2C3F7C9910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2007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AA0F3F1-2863-4DE1-9EE2-07227DD1F9DF}"/>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9CC2A3F-A061-4FD8-AC2B-5E93F7A7C0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95824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313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局域网</a:t>
            </a:r>
            <a:endParaRPr lang="en-US" altLang="zh-CN" dirty="0"/>
          </a:p>
          <a:p>
            <a:pPr lvl="1"/>
            <a:r>
              <a:rPr lang="zh-CN" altLang="en-US" dirty="0"/>
              <a:t>局域网（</a:t>
            </a:r>
            <a:r>
              <a:rPr lang="en-US" altLang="zh-CN" dirty="0"/>
              <a:t>Local Area Network</a:t>
            </a:r>
            <a:r>
              <a:rPr lang="zh-CN" altLang="en-US" dirty="0"/>
              <a:t>，</a:t>
            </a:r>
            <a:r>
              <a:rPr lang="en-US" altLang="zh-CN" dirty="0"/>
              <a:t>LAN</a:t>
            </a:r>
            <a:r>
              <a:rPr lang="zh-CN" altLang="en-US" dirty="0"/>
              <a:t>）是在一个局部的地理范围内（如一个学校、工厂和机关内），一般是方圆几千米以内，将各种计算机，外部设备和数据库等互相联接起来组成的计算机通信网。</a:t>
            </a:r>
          </a:p>
          <a:p>
            <a:r>
              <a:rPr lang="zh-CN" altLang="en-US" dirty="0"/>
              <a:t>广域网</a:t>
            </a:r>
            <a:endParaRPr lang="en-US" altLang="zh-CN" dirty="0"/>
          </a:p>
          <a:p>
            <a:pPr lvl="1"/>
            <a:r>
              <a:rPr lang="zh-CN" altLang="en-US" dirty="0"/>
              <a:t>覆盖的范围比局域网（</a:t>
            </a:r>
            <a:r>
              <a:rPr lang="en-US" altLang="zh-CN" dirty="0"/>
              <a:t>LAN</a:t>
            </a:r>
            <a:r>
              <a:rPr lang="zh-CN" altLang="en-US" dirty="0"/>
              <a:t>）和城域网（</a:t>
            </a:r>
            <a:r>
              <a:rPr lang="en-US" altLang="zh-CN" dirty="0"/>
              <a:t>MAN</a:t>
            </a:r>
            <a:r>
              <a:rPr lang="zh-CN" altLang="en-US" dirty="0"/>
              <a:t>）都广。广域网的通信子网主要使用分组交换技术。广域网的通信子网可以利用公用分组交换网、卫星通信网和无线分组交换网，它将分布在不同地区的局域网或计算机系统互连起来，达到资源共享的目的。如因特网（</a:t>
            </a:r>
            <a:r>
              <a:rPr lang="en-US" altLang="zh-CN" dirty="0"/>
              <a:t>Internet</a:t>
            </a:r>
            <a:r>
              <a:rPr lang="zh-CN" altLang="en-US" dirty="0"/>
              <a:t>）是世界范围内最大的广域网。</a:t>
            </a:r>
          </a:p>
          <a:p>
            <a:r>
              <a:rPr lang="zh-CN" altLang="en-US" dirty="0"/>
              <a:t>二者联系：</a:t>
            </a:r>
          </a:p>
          <a:p>
            <a:pPr lvl="1"/>
            <a:r>
              <a:rPr lang="zh-CN" altLang="en-US" dirty="0"/>
              <a:t>局域网是在某一区域内的，而广域网要跨越较大的地域。例如，一家大型公司的总公司位于北京，而分公司遍布全国各地，如果该公司将所有的分公司都通过网络联接在一起，那么一个分公司就是一个局域网，而整个总公司网络就是一个广域网。</a:t>
            </a:r>
            <a:endParaRPr lang="en-US" altLang="zh-CN" dirty="0"/>
          </a:p>
          <a:p>
            <a:pPr lvl="1"/>
            <a:r>
              <a:rPr lang="zh-CN" altLang="en-US" dirty="0"/>
              <a:t>广域网的典型速率是从</a:t>
            </a:r>
            <a:r>
              <a:rPr lang="en-US" altLang="zh-CN" dirty="0"/>
              <a:t>56 Kbps</a:t>
            </a:r>
            <a:r>
              <a:rPr lang="zh-CN" altLang="en-US" dirty="0"/>
              <a:t>到</a:t>
            </a:r>
            <a:r>
              <a:rPr lang="en-US" altLang="zh-CN" dirty="0"/>
              <a:t>155 Mbps</a:t>
            </a:r>
            <a:r>
              <a:rPr lang="zh-CN" altLang="en-US" dirty="0"/>
              <a:t>，现在已有</a:t>
            </a:r>
            <a:r>
              <a:rPr lang="en-US" altLang="zh-CN" dirty="0"/>
              <a:t>622 Mbps</a:t>
            </a:r>
            <a:r>
              <a:rPr lang="zh-CN" altLang="en-US" dirty="0"/>
              <a:t>，</a:t>
            </a:r>
            <a:r>
              <a:rPr lang="en-US" altLang="zh-CN" dirty="0"/>
              <a:t>2.4 Gbps</a:t>
            </a:r>
            <a:r>
              <a:rPr lang="zh-CN" altLang="en-US" dirty="0"/>
              <a:t>甚至更高速率的广域网；传播延迟可以从几毫秒到几百毫秒（使用卫星信道时）。</a:t>
            </a:r>
          </a:p>
        </p:txBody>
      </p:sp>
      <p:sp>
        <p:nvSpPr>
          <p:cNvPr id="5" name="Slide Image Placeholder 4">
            <a:extLst>
              <a:ext uri="{FF2B5EF4-FFF2-40B4-BE49-F238E27FC236}">
                <a16:creationId xmlns:a16="http://schemas.microsoft.com/office/drawing/2014/main" id="{C926BF65-B796-4FA1-B5E3-DE87759A51B7}"/>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325714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367DCA7-D58D-4804-807C-E111A13E1B59}"/>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8C44844-F1BD-4E6C-914B-CF46E2E8186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79032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FCBBCA3-CDB6-46E7-8D70-A184520B87A2}"/>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B388955C-0EBD-425F-B847-3810BB153140}"/>
              </a:ext>
            </a:extLst>
          </p:cNvPr>
          <p:cNvSpPr>
            <a:spLocks noGrp="1"/>
          </p:cNvSpPr>
          <p:nvPr>
            <p:ph type="body" idx="1"/>
          </p:nvPr>
        </p:nvSpPr>
        <p:spPr/>
        <p:txBody>
          <a:bodyPr/>
          <a:lstStyle/>
          <a:p>
            <a:r>
              <a:rPr lang="en-US" altLang="zh-CN" dirty="0"/>
              <a:t>SLA</a:t>
            </a:r>
            <a:r>
              <a:rPr lang="zh-CN" altLang="en-US" dirty="0"/>
              <a:t>是关于网络服务供应商和客户间的一份合同，其中定义了服务类型、服务质量和客户付款等术语。</a:t>
            </a:r>
          </a:p>
          <a:p>
            <a:r>
              <a:rPr lang="zh-CN" altLang="en-US" dirty="0"/>
              <a:t>按照</a:t>
            </a:r>
            <a:r>
              <a:rPr lang="en-US" altLang="zh-CN" dirty="0"/>
              <a:t>SLA</a:t>
            </a:r>
            <a:r>
              <a:rPr lang="zh-CN" altLang="en-US" dirty="0"/>
              <a:t>要求，服务供应商采用多种技术和解决方案去监控和管理网络性能及流量，以满足</a:t>
            </a:r>
            <a:r>
              <a:rPr lang="en-US" altLang="zh-CN" dirty="0"/>
              <a:t>SLA</a:t>
            </a:r>
            <a:r>
              <a:rPr lang="zh-CN" altLang="en-US" dirty="0"/>
              <a:t>中的相关需求，并产生对应的客户结果报告。</a:t>
            </a:r>
            <a:endParaRPr lang="en-US" dirty="0"/>
          </a:p>
        </p:txBody>
      </p:sp>
    </p:spTree>
    <p:extLst>
      <p:ext uri="{BB962C8B-B14F-4D97-AF65-F5344CB8AC3E}">
        <p14:creationId xmlns:p14="http://schemas.microsoft.com/office/powerpoint/2010/main" val="3400971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E8E966D9-97BF-46B3-95B3-8795738EA7ED}"/>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CB46D43F-3E73-461E-864B-B777BC3DA9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4213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5AF69FC-815C-4AD3-9C27-BA7FA39077FB}"/>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91AB71F3-B4EC-4609-9C2D-98E0D40CA88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62890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58185AE-CA97-425A-8079-B07E58296750}"/>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3E490016-090E-4DE2-843B-B59BE95E857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34285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DE1216E-71FA-424E-8D3F-445C75765BA8}"/>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FB6E803-9B2C-4E8C-B66E-BE463CD6ED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320907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E64ECBAF-CDEF-406E-BEC7-6D59180BA380}"/>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77E6DD8A-0DDF-479D-AEC8-A2E10E2EFD4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5224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0DB3001A-DC25-464E-98BE-979A609D7840}"/>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FE69D97B-4C15-4655-8D74-86D6104237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18550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92059755-D506-418C-AE65-071D4002578C}"/>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E303BC6A-8B08-46E7-A679-52366150EE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22341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0C3CC-ADE4-4F86-91A7-91AF40DD87EC}"/>
              </a:ext>
            </a:extLst>
          </p:cNvPr>
          <p:cNvSpPr>
            <a:spLocks noGrp="1" noRot="1" noChangeAspect="1"/>
          </p:cNvSpPr>
          <p:nvPr>
            <p:ph type="sldImg"/>
          </p:nvPr>
        </p:nvSpPr>
        <p:spPr>
          <a:xfrm>
            <a:off x="744538" y="717550"/>
            <a:ext cx="5556250" cy="3125788"/>
          </a:xfrm>
        </p:spPr>
      </p:sp>
      <p:sp>
        <p:nvSpPr>
          <p:cNvPr id="3" name="Notes Placeholder 2">
            <a:extLst>
              <a:ext uri="{FF2B5EF4-FFF2-40B4-BE49-F238E27FC236}">
                <a16:creationId xmlns:a16="http://schemas.microsoft.com/office/drawing/2014/main" id="{ED02C200-9442-438A-A9F9-011799F417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93039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94F4F70C-0C08-495B-B627-BABB0A812932}"/>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8228BF82-DB43-40F0-9C10-26F8999AFB8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2034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AEF7AF4-2C9C-4084-9840-8EDCD9EBD9F4}"/>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E0D982F8-D09F-4977-A677-C215E3E4F14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13311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3640764-CB86-42F5-9344-7EE9EF0660B2}"/>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00A8D4C0-AF6D-4B0A-97A6-E915BCFDD4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430618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2124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SDH</a:t>
            </a:r>
            <a:r>
              <a:rPr lang="zh-CN" altLang="en-US" dirty="0"/>
              <a:t>（</a:t>
            </a:r>
            <a:r>
              <a:rPr lang="en-US" altLang="zh-CN" dirty="0"/>
              <a:t>Synchronous Digital Hierarchy</a:t>
            </a:r>
            <a:r>
              <a:rPr lang="zh-CN" altLang="en-US" dirty="0"/>
              <a:t>，同步数字体系），</a:t>
            </a:r>
            <a:r>
              <a:rPr lang="en-US" altLang="zh-CN" dirty="0"/>
              <a:t>SDH</a:t>
            </a:r>
            <a:r>
              <a:rPr lang="zh-CN" altLang="en-US" dirty="0"/>
              <a:t>是一种</a:t>
            </a:r>
            <a:r>
              <a:rPr lang="en-US" altLang="zh-CN" dirty="0"/>
              <a:t>TDM</a:t>
            </a:r>
            <a:r>
              <a:rPr lang="zh-CN" altLang="en-US" dirty="0"/>
              <a:t>（时分复用）系统，是传统的电路调度方式。</a:t>
            </a:r>
            <a:endParaRPr lang="en-US" altLang="zh-CN" dirty="0"/>
          </a:p>
          <a:p>
            <a:r>
              <a:rPr lang="en-US" altLang="zh-CN" dirty="0"/>
              <a:t>MSTP</a:t>
            </a:r>
            <a:r>
              <a:rPr lang="zh-CN" altLang="en-US" dirty="0"/>
              <a:t>（</a:t>
            </a:r>
            <a:r>
              <a:rPr lang="en-US" altLang="zh-CN" dirty="0"/>
              <a:t>Multi- Service Transport Platform</a:t>
            </a:r>
            <a:r>
              <a:rPr lang="zh-CN" altLang="en-US" dirty="0"/>
              <a:t>，多业务传送平台），同时实现</a:t>
            </a:r>
            <a:r>
              <a:rPr lang="en-US" altLang="zh-CN" dirty="0"/>
              <a:t>TDM</a:t>
            </a:r>
            <a:r>
              <a:rPr lang="zh-CN" altLang="en-US" dirty="0"/>
              <a:t>、</a:t>
            </a:r>
            <a:r>
              <a:rPr lang="en-US" altLang="zh-CN" dirty="0"/>
              <a:t>ATM</a:t>
            </a:r>
            <a:r>
              <a:rPr lang="zh-CN" altLang="en-US" dirty="0"/>
              <a:t>、以太网等业务的接入、处理和传送。</a:t>
            </a:r>
            <a:endParaRPr lang="en-US" altLang="zh-CN" dirty="0"/>
          </a:p>
          <a:p>
            <a:r>
              <a:rPr lang="en-US" altLang="zh-CN" dirty="0"/>
              <a:t>WDM</a:t>
            </a:r>
            <a:r>
              <a:rPr lang="zh-CN" altLang="en-US" dirty="0"/>
              <a:t>（</a:t>
            </a:r>
            <a:r>
              <a:rPr lang="en-US" altLang="zh-CN" dirty="0"/>
              <a:t>Wavelength Division Multiplexing</a:t>
            </a:r>
            <a:r>
              <a:rPr lang="zh-CN" altLang="en-US" dirty="0"/>
              <a:t>，波分复用），利用多个激光器在单条光纤上同时发送多束不同波长的激光，</a:t>
            </a:r>
            <a:r>
              <a:rPr lang="en-US" altLang="zh-CN" dirty="0"/>
              <a:t>WDM</a:t>
            </a:r>
            <a:r>
              <a:rPr lang="zh-CN" altLang="en-US" dirty="0"/>
              <a:t>设备的传输带宽很高，现网基本能达到</a:t>
            </a:r>
            <a:r>
              <a:rPr lang="en-US" altLang="zh-CN" dirty="0"/>
              <a:t>8T</a:t>
            </a:r>
            <a:r>
              <a:rPr lang="zh-CN" altLang="en-US" dirty="0"/>
              <a:t>的带宽。</a:t>
            </a:r>
          </a:p>
        </p:txBody>
      </p:sp>
      <p:sp>
        <p:nvSpPr>
          <p:cNvPr id="5" name="Slide Image Placeholder 4">
            <a:extLst>
              <a:ext uri="{FF2B5EF4-FFF2-40B4-BE49-F238E27FC236}">
                <a16:creationId xmlns:a16="http://schemas.microsoft.com/office/drawing/2014/main" id="{1401B922-ABB4-4FC1-860A-1DFADBCE5EBF}"/>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9880381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4DD2296-AE73-4A12-8FDD-747ADC953A10}"/>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53AD7E61-F51E-4361-B55E-B69F82812F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57875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471BD-87A4-4718-AB10-A70611A94270}"/>
              </a:ext>
            </a:extLst>
          </p:cNvPr>
          <p:cNvSpPr>
            <a:spLocks noGrp="1" noRot="1" noChangeAspect="1"/>
          </p:cNvSpPr>
          <p:nvPr>
            <p:ph type="sldImg"/>
          </p:nvPr>
        </p:nvSpPr>
        <p:spPr>
          <a:xfrm>
            <a:off x="744538" y="717550"/>
            <a:ext cx="5556250" cy="3125788"/>
          </a:xfrm>
        </p:spPr>
      </p:sp>
      <p:sp>
        <p:nvSpPr>
          <p:cNvPr id="3" name="Notes Placeholder 2">
            <a:extLst>
              <a:ext uri="{FF2B5EF4-FFF2-40B4-BE49-F238E27FC236}">
                <a16:creationId xmlns:a16="http://schemas.microsoft.com/office/drawing/2014/main" id="{046453A5-D4FC-4AD6-9620-AB3E60CA25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03697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跨域</a:t>
            </a:r>
            <a:r>
              <a:rPr lang="en-US" altLang="zh-CN" dirty="0"/>
              <a:t>MPLS L3VPN</a:t>
            </a:r>
            <a:r>
              <a:rPr lang="zh-CN" altLang="en-US" dirty="0"/>
              <a:t>方案有</a:t>
            </a:r>
            <a:r>
              <a:rPr lang="en-US" altLang="zh-CN" dirty="0"/>
              <a:t>3</a:t>
            </a:r>
            <a:r>
              <a:rPr lang="zh-CN" altLang="en-US" dirty="0"/>
              <a:t>类分别是</a:t>
            </a:r>
            <a:r>
              <a:rPr lang="en-US" altLang="zh-CN" dirty="0"/>
              <a:t>Option A</a:t>
            </a:r>
            <a:r>
              <a:rPr lang="zh-CN" altLang="en-US" dirty="0"/>
              <a:t>、</a:t>
            </a:r>
            <a:r>
              <a:rPr lang="en-US" altLang="zh-CN" dirty="0"/>
              <a:t>Option B</a:t>
            </a:r>
            <a:r>
              <a:rPr lang="zh-CN" altLang="en-US" dirty="0"/>
              <a:t>、</a:t>
            </a:r>
            <a:r>
              <a:rPr lang="en-US" altLang="zh-CN" dirty="0"/>
              <a:t>Option C</a:t>
            </a:r>
            <a:r>
              <a:rPr lang="zh-CN" altLang="en-US" dirty="0"/>
              <a:t>。</a:t>
            </a:r>
            <a:endParaRPr lang="en-US" altLang="zh-CN" dirty="0"/>
          </a:p>
          <a:p>
            <a:r>
              <a:rPr lang="en-US" altLang="zh-CN" dirty="0"/>
              <a:t>Option A</a:t>
            </a:r>
            <a:r>
              <a:rPr lang="zh-CN" altLang="en-US" dirty="0"/>
              <a:t>适合小型跨域</a:t>
            </a:r>
            <a:r>
              <a:rPr lang="en-US" altLang="zh-CN" dirty="0"/>
              <a:t>MPLS L3VPN</a:t>
            </a:r>
            <a:r>
              <a:rPr lang="zh-CN" altLang="en-US" dirty="0"/>
              <a:t>网络，</a:t>
            </a:r>
            <a:r>
              <a:rPr lang="en-US" altLang="zh-CN" dirty="0"/>
              <a:t>Option B</a:t>
            </a:r>
            <a:r>
              <a:rPr lang="zh-CN" altLang="en-US" dirty="0"/>
              <a:t>适合中大型跨域</a:t>
            </a:r>
            <a:r>
              <a:rPr lang="en-US" altLang="zh-CN" dirty="0"/>
              <a:t>MPLS L3VPN</a:t>
            </a:r>
            <a:r>
              <a:rPr lang="zh-CN" altLang="en-US" dirty="0"/>
              <a:t>网络，</a:t>
            </a:r>
            <a:r>
              <a:rPr lang="en-US" altLang="zh-CN" dirty="0"/>
              <a:t>Option C</a:t>
            </a:r>
            <a:r>
              <a:rPr lang="zh-CN" altLang="en-US" dirty="0"/>
              <a:t>适合大型或特大型跨域</a:t>
            </a:r>
            <a:r>
              <a:rPr lang="en-US" altLang="zh-CN" dirty="0"/>
              <a:t>MPLS L3VPN</a:t>
            </a:r>
            <a:r>
              <a:rPr lang="zh-CN" altLang="en-US" dirty="0"/>
              <a:t>网络。</a:t>
            </a:r>
          </a:p>
        </p:txBody>
      </p:sp>
      <p:sp>
        <p:nvSpPr>
          <p:cNvPr id="5" name="Slide Image Placeholder 4">
            <a:extLst>
              <a:ext uri="{FF2B5EF4-FFF2-40B4-BE49-F238E27FC236}">
                <a16:creationId xmlns:a16="http://schemas.microsoft.com/office/drawing/2014/main" id="{9F2C2113-CC88-47D9-9B59-D032236563FD}"/>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472991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0F2C9C35-29B0-4BB2-8B2B-1586EF3F9CB8}"/>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961C9640-F6C6-49C8-AECD-910200DE76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12748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027" name="Rectangle 3"/>
          <p:cNvSpPr>
            <a:spLocks noGrp="1" noChangeArrowheads="1"/>
          </p:cNvSpPr>
          <p:nvPr>
            <p:ph type="body" idx="1"/>
          </p:nvPr>
        </p:nvSpPr>
        <p:spPr/>
        <p:txBody>
          <a:bodyPr/>
          <a:lstStyle/>
          <a:p>
            <a:r>
              <a:rPr lang="zh-CN" altLang="en-US" dirty="0"/>
              <a:t>按业务用途划分：</a:t>
            </a:r>
          </a:p>
          <a:p>
            <a:pPr lvl="1"/>
            <a:r>
              <a:rPr lang="en-US" altLang="zh-CN" dirty="0"/>
              <a:t>Access VPN</a:t>
            </a:r>
            <a:r>
              <a:rPr lang="zh-CN" altLang="en-US" dirty="0"/>
              <a:t>（远程访问虚拟专网）：</a:t>
            </a:r>
            <a:r>
              <a:rPr lang="en-US" altLang="zh-CN" dirty="0"/>
              <a:t>Access VPN</a:t>
            </a:r>
            <a:r>
              <a:rPr lang="zh-CN" altLang="en-US" dirty="0"/>
              <a:t>向出差流动员工、远程办公人员和远程小办公室提供了通过公用网络与企业的</a:t>
            </a:r>
            <a:r>
              <a:rPr lang="en-US" altLang="zh-CN" dirty="0"/>
              <a:t>Intranet</a:t>
            </a:r>
            <a:r>
              <a:rPr lang="zh-CN" altLang="en-US" dirty="0"/>
              <a:t>和</a:t>
            </a:r>
            <a:r>
              <a:rPr lang="en-US" altLang="zh-CN" dirty="0"/>
              <a:t>Extranet</a:t>
            </a:r>
            <a:r>
              <a:rPr lang="zh-CN" altLang="en-US" dirty="0"/>
              <a:t>建立私有的网络连接。</a:t>
            </a:r>
            <a:r>
              <a:rPr lang="en-US" altLang="zh-CN" dirty="0"/>
              <a:t>Access VPN</a:t>
            </a:r>
            <a:r>
              <a:rPr lang="zh-CN" altLang="en-US" dirty="0"/>
              <a:t>的结构有两种类型，一种是用户发起（</a:t>
            </a:r>
            <a:r>
              <a:rPr lang="en-US" altLang="zh-CN" dirty="0"/>
              <a:t>Client-initiated</a:t>
            </a:r>
            <a:r>
              <a:rPr lang="zh-CN" altLang="en-US" dirty="0"/>
              <a:t>）的</a:t>
            </a:r>
            <a:r>
              <a:rPr lang="en-US" altLang="zh-CN" dirty="0"/>
              <a:t>VPN</a:t>
            </a:r>
            <a:r>
              <a:rPr lang="zh-CN" altLang="en-US" dirty="0"/>
              <a:t>连接，另一种是接入服务器发起（</a:t>
            </a:r>
            <a:r>
              <a:rPr lang="en-US" altLang="zh-CN" dirty="0"/>
              <a:t>NAS-initiated</a:t>
            </a:r>
            <a:r>
              <a:rPr lang="zh-CN" altLang="en-US" dirty="0"/>
              <a:t>）的</a:t>
            </a:r>
            <a:r>
              <a:rPr lang="en-US" altLang="zh-CN" dirty="0"/>
              <a:t>VPN</a:t>
            </a:r>
            <a:r>
              <a:rPr lang="zh-CN" altLang="en-US" dirty="0"/>
              <a:t>连接。</a:t>
            </a:r>
          </a:p>
          <a:p>
            <a:pPr lvl="1"/>
            <a:r>
              <a:rPr lang="en-US" altLang="zh-CN" dirty="0"/>
              <a:t>Intranet VPN</a:t>
            </a:r>
            <a:r>
              <a:rPr lang="zh-CN" altLang="en-US" dirty="0"/>
              <a:t>（企业内部虚拟专网）：</a:t>
            </a:r>
            <a:r>
              <a:rPr lang="en-US" altLang="zh-CN" dirty="0"/>
              <a:t>Intranet VPN</a:t>
            </a:r>
            <a:r>
              <a:rPr lang="zh-CN" altLang="en-US" dirty="0"/>
              <a:t>通过公用网络进行企业内部各个分布点互联，是传统的专线网或其它企业网的扩展或替代形式。</a:t>
            </a:r>
          </a:p>
          <a:p>
            <a:pPr lvl="1"/>
            <a:r>
              <a:rPr lang="en-US" altLang="zh-CN" dirty="0"/>
              <a:t>Extranet VPN</a:t>
            </a:r>
            <a:r>
              <a:rPr lang="zh-CN" altLang="en-US" dirty="0"/>
              <a:t>（扩展的企业内部虚拟专网）：</a:t>
            </a:r>
            <a:r>
              <a:rPr lang="en-US" altLang="zh-CN" dirty="0"/>
              <a:t>Extranet VPN</a:t>
            </a:r>
            <a:r>
              <a:rPr lang="zh-CN" altLang="en-US" dirty="0"/>
              <a:t>是指利用</a:t>
            </a:r>
            <a:r>
              <a:rPr lang="en-US" altLang="zh-CN" dirty="0"/>
              <a:t>VPN</a:t>
            </a:r>
            <a:r>
              <a:rPr lang="zh-CN" altLang="en-US" dirty="0"/>
              <a:t>将企业网延伸至供应商、合作伙伴与客户处，使不同企业间通过公网来构筑</a:t>
            </a:r>
            <a:r>
              <a:rPr lang="en-US" altLang="zh-CN" dirty="0"/>
              <a:t>VPN</a:t>
            </a:r>
            <a:r>
              <a:rPr lang="zh-CN" altLang="en-US" dirty="0"/>
              <a:t>。</a:t>
            </a:r>
          </a:p>
          <a:p>
            <a:r>
              <a:rPr lang="zh-CN" altLang="en-US" dirty="0"/>
              <a:t>根据在</a:t>
            </a:r>
            <a:r>
              <a:rPr lang="en-US" altLang="zh-CN" dirty="0"/>
              <a:t>OSI</a:t>
            </a:r>
            <a:r>
              <a:rPr lang="zh-CN" altLang="en-US" dirty="0"/>
              <a:t>模型中实现隧道的层次：</a:t>
            </a:r>
          </a:p>
          <a:p>
            <a:pPr lvl="1"/>
            <a:r>
              <a:rPr lang="zh-CN" altLang="en-US" dirty="0"/>
              <a:t>第二层隧道协议：是将整个</a:t>
            </a:r>
            <a:r>
              <a:rPr lang="en-US" altLang="zh-CN" dirty="0"/>
              <a:t>PPP</a:t>
            </a:r>
            <a:r>
              <a:rPr lang="zh-CN" altLang="en-US" dirty="0"/>
              <a:t>帧封装在内部隧道中。现有的第二层隧道协议有：</a:t>
            </a:r>
            <a:r>
              <a:rPr lang="en-US" altLang="zh-CN" dirty="0"/>
              <a:t>PPTP</a:t>
            </a:r>
            <a:r>
              <a:rPr lang="zh-CN" altLang="en-US" dirty="0"/>
              <a:t>（</a:t>
            </a:r>
            <a:r>
              <a:rPr lang="en-US" altLang="zh-CN" dirty="0"/>
              <a:t>Point-to-Point Tunneling Protocol</a:t>
            </a:r>
            <a:r>
              <a:rPr lang="zh-CN" altLang="en-US" dirty="0"/>
              <a:t>，点到点隧道协议），</a:t>
            </a:r>
            <a:r>
              <a:rPr lang="en-US" altLang="zh-CN" dirty="0"/>
              <a:t>L2F</a:t>
            </a:r>
            <a:r>
              <a:rPr lang="zh-CN" altLang="en-US" dirty="0"/>
              <a:t>（</a:t>
            </a:r>
            <a:r>
              <a:rPr lang="en-US" altLang="zh-CN" dirty="0"/>
              <a:t>Layer 2 Forwarding</a:t>
            </a:r>
            <a:r>
              <a:rPr lang="zh-CN" altLang="en-US" dirty="0"/>
              <a:t>，二层转发协议），</a:t>
            </a:r>
            <a:r>
              <a:rPr lang="en-US" altLang="zh-CN" dirty="0"/>
              <a:t>L2TP</a:t>
            </a:r>
            <a:r>
              <a:rPr lang="zh-CN" altLang="en-US" dirty="0"/>
              <a:t>（</a:t>
            </a:r>
            <a:r>
              <a:rPr lang="en-US" altLang="zh-CN" dirty="0"/>
              <a:t>Layer 2 Tunneling Protocol</a:t>
            </a:r>
            <a:r>
              <a:rPr lang="zh-CN" altLang="en-US" dirty="0"/>
              <a:t>，二层隧道协议）。</a:t>
            </a:r>
          </a:p>
          <a:p>
            <a:pPr lvl="1"/>
            <a:r>
              <a:rPr lang="zh-CN" altLang="en-US" dirty="0"/>
              <a:t>第三层隧道协议：隧道内只携带第三层报文。现有的第三层隧道协议主要有</a:t>
            </a:r>
            <a:r>
              <a:rPr lang="en-US" altLang="zh-CN" dirty="0"/>
              <a:t>GRE</a:t>
            </a:r>
            <a:r>
              <a:rPr lang="zh-CN" altLang="en-US" dirty="0"/>
              <a:t>（</a:t>
            </a:r>
            <a:r>
              <a:rPr lang="en-US" altLang="zh-CN" dirty="0"/>
              <a:t>Generic Routing Encapsulation</a:t>
            </a:r>
            <a:r>
              <a:rPr lang="zh-CN" altLang="en-US" dirty="0"/>
              <a:t>，通用路由封装协议），</a:t>
            </a:r>
            <a:r>
              <a:rPr lang="en-US" altLang="zh-CN" dirty="0"/>
              <a:t>IPsec</a:t>
            </a:r>
            <a:r>
              <a:rPr lang="zh-CN" altLang="en-US" dirty="0"/>
              <a:t>（</a:t>
            </a:r>
            <a:r>
              <a:rPr lang="en-US" altLang="zh-CN" dirty="0"/>
              <a:t>IP Security</a:t>
            </a:r>
            <a:r>
              <a:rPr lang="zh-CN" altLang="en-US" dirty="0"/>
              <a:t>）协议：</a:t>
            </a:r>
            <a:r>
              <a:rPr lang="en-US" altLang="zh-CN" dirty="0"/>
              <a:t>IPsec</a:t>
            </a:r>
            <a:r>
              <a:rPr lang="zh-CN" altLang="en-US" dirty="0"/>
              <a:t>协议不是一个单独的协议，包括</a:t>
            </a:r>
            <a:r>
              <a:rPr lang="en-US" altLang="zh-CN" dirty="0"/>
              <a:t>AH</a:t>
            </a:r>
            <a:r>
              <a:rPr lang="zh-CN" altLang="en-US" dirty="0"/>
              <a:t>（</a:t>
            </a:r>
            <a:r>
              <a:rPr lang="en-US" altLang="zh-CN" dirty="0"/>
              <a:t>Authentication Header</a:t>
            </a:r>
            <a:r>
              <a:rPr lang="zh-CN" altLang="en-US" dirty="0"/>
              <a:t>，头验证协议）和</a:t>
            </a:r>
            <a:r>
              <a:rPr lang="en-US" altLang="zh-CN" dirty="0"/>
              <a:t>ESP</a:t>
            </a:r>
            <a:r>
              <a:rPr lang="zh-CN" altLang="en-US" dirty="0"/>
              <a:t>（</a:t>
            </a:r>
            <a:r>
              <a:rPr lang="en-US" altLang="zh-CN" dirty="0"/>
              <a:t>Encapsulating Security Payload</a:t>
            </a:r>
            <a:r>
              <a:rPr lang="zh-CN" altLang="en-US" dirty="0"/>
              <a:t>，封装安全载荷协议）。 </a:t>
            </a:r>
          </a:p>
        </p:txBody>
      </p:sp>
      <p:sp>
        <p:nvSpPr>
          <p:cNvPr id="3" name="Slide Image Placeholder 2">
            <a:extLst>
              <a:ext uri="{FF2B5EF4-FFF2-40B4-BE49-F238E27FC236}">
                <a16:creationId xmlns:a16="http://schemas.microsoft.com/office/drawing/2014/main" id="{80B30E9D-BBA3-41B6-B3AE-579C55F95ECC}"/>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82818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VPDN</a:t>
            </a:r>
            <a:r>
              <a:rPr lang="zh-CN" altLang="en-US" dirty="0"/>
              <a:t>的具体实现是采用隧道技术，即将企业网的数据封装在隧道中进行传输。隧道技术的基本过程是在源局域网与公网的接口处将数据作为载荷封装在一种可以在公网上传输的数据格式中，在目的局域网与公网的接口处将数据解封装，取出载荷。被封装的数据包在互联网上传递时所经过的逻辑路径被称为“隧道”。要使数据顺利地被封装、传送及解封装，通信协议是保证的核心。</a:t>
            </a:r>
            <a:endParaRPr lang="en-US" altLang="zh-CN" dirty="0"/>
          </a:p>
          <a:p>
            <a:r>
              <a:rPr lang="en-US" altLang="zh-CN" dirty="0"/>
              <a:t>VPDN</a:t>
            </a:r>
            <a:r>
              <a:rPr lang="zh-CN" altLang="en-US" dirty="0"/>
              <a:t>有以下</a:t>
            </a:r>
            <a:r>
              <a:rPr lang="en-US" altLang="zh-CN" dirty="0"/>
              <a:t>3</a:t>
            </a:r>
            <a:r>
              <a:rPr lang="zh-CN" altLang="en-US" dirty="0"/>
              <a:t>种常用的隧道技术：</a:t>
            </a:r>
            <a:endParaRPr lang="en-US" altLang="zh-CN" dirty="0"/>
          </a:p>
          <a:p>
            <a:pPr lvl="1"/>
            <a:r>
              <a:rPr lang="zh-CN" altLang="en-US" dirty="0"/>
              <a:t>点到点隧道协议</a:t>
            </a:r>
            <a:r>
              <a:rPr lang="en-US" altLang="zh-CN" dirty="0"/>
              <a:t>PPTP</a:t>
            </a:r>
            <a:endParaRPr lang="zh-CN" altLang="en-US" dirty="0"/>
          </a:p>
          <a:p>
            <a:pPr lvl="1"/>
            <a:r>
              <a:rPr lang="zh-CN" altLang="en-US" dirty="0"/>
              <a:t>二层转发</a:t>
            </a:r>
            <a:r>
              <a:rPr lang="en-US" altLang="zh-CN" dirty="0"/>
              <a:t>L2F</a:t>
            </a:r>
          </a:p>
          <a:p>
            <a:pPr lvl="1"/>
            <a:r>
              <a:rPr lang="zh-CN" altLang="en-US" dirty="0"/>
              <a:t>二层隧道协议</a:t>
            </a:r>
            <a:r>
              <a:rPr lang="en-US" altLang="zh-CN" dirty="0"/>
              <a:t>L2TP</a:t>
            </a:r>
            <a:endParaRPr lang="zh-CN" altLang="en-US" dirty="0"/>
          </a:p>
        </p:txBody>
      </p:sp>
      <p:sp>
        <p:nvSpPr>
          <p:cNvPr id="5" name="Slide Image Placeholder 4">
            <a:extLst>
              <a:ext uri="{FF2B5EF4-FFF2-40B4-BE49-F238E27FC236}">
                <a16:creationId xmlns:a16="http://schemas.microsoft.com/office/drawing/2014/main" id="{C63E6878-281D-4FBF-95E1-C150F763BEDF}"/>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5457097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C6A9F2EC-933C-470F-A508-3DC5A606C6C3}"/>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79031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62446928-BE65-4C3C-BE69-1BBEF5964632}"/>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3843128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1F8B37F-03C3-45DB-987A-9A70A6F902B4}"/>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EC1698C0-1769-4AD5-89BE-9931E20CAD5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14176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Intranet VPN</a:t>
            </a:r>
            <a:r>
              <a:rPr lang="zh-CN" altLang="en-US" dirty="0"/>
              <a:t>主要用到了以下几种技术：</a:t>
            </a:r>
            <a:endParaRPr lang="en-US" altLang="zh-CN" dirty="0"/>
          </a:p>
          <a:p>
            <a:pPr lvl="1"/>
            <a:r>
              <a:rPr lang="en-US" altLang="zh-CN" dirty="0"/>
              <a:t>GRE</a:t>
            </a:r>
          </a:p>
          <a:p>
            <a:pPr lvl="1"/>
            <a:r>
              <a:rPr lang="en-US" altLang="zh-CN" dirty="0"/>
              <a:t>GRE Over IPsec</a:t>
            </a:r>
          </a:p>
          <a:p>
            <a:pPr lvl="1"/>
            <a:r>
              <a:rPr lang="en-US" altLang="zh-CN" dirty="0"/>
              <a:t>DSVPN</a:t>
            </a:r>
          </a:p>
          <a:p>
            <a:pPr lvl="1"/>
            <a:r>
              <a:rPr lang="en-US" altLang="zh-CN" dirty="0"/>
              <a:t>DSVPN IPsec</a:t>
            </a:r>
            <a:r>
              <a:rPr lang="zh-CN" altLang="en-US" dirty="0"/>
              <a:t>保护</a:t>
            </a:r>
          </a:p>
          <a:p>
            <a:endParaRPr lang="zh-CN" altLang="en-US" dirty="0"/>
          </a:p>
        </p:txBody>
      </p:sp>
      <p:sp>
        <p:nvSpPr>
          <p:cNvPr id="5" name="Slide Image Placeholder 4">
            <a:extLst>
              <a:ext uri="{FF2B5EF4-FFF2-40B4-BE49-F238E27FC236}">
                <a16:creationId xmlns:a16="http://schemas.microsoft.com/office/drawing/2014/main" id="{86F6935C-82CC-4E18-9676-2FFE87C0DBE7}"/>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850668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type="body" idx="1"/>
          </p:nvPr>
        </p:nvSpPr>
        <p:spPr/>
        <p:txBody>
          <a:bodyPr/>
          <a:lstStyle/>
          <a:p>
            <a:r>
              <a:rPr lang="en-US" altLang="zh-CN" dirty="0"/>
              <a:t>GRE</a:t>
            </a:r>
            <a:r>
              <a:rPr lang="zh-CN" altLang="en-US" dirty="0"/>
              <a:t>是</a:t>
            </a:r>
            <a:r>
              <a:rPr lang="en-US" altLang="zh-CN" dirty="0"/>
              <a:t>Tunnel</a:t>
            </a:r>
            <a:r>
              <a:rPr lang="zh-CN" altLang="en-US" dirty="0"/>
              <a:t>（隧道）技术的一种，属于第三层隧道协议。</a:t>
            </a:r>
            <a:r>
              <a:rPr lang="en-US" altLang="zh-CN" dirty="0"/>
              <a:t>GRE</a:t>
            </a:r>
            <a:r>
              <a:rPr lang="zh-CN" altLang="en-US" dirty="0"/>
              <a:t>隧道是一个虚拟的点到点的连接，为封装的数据报文提供了一条传输通路。</a:t>
            </a:r>
          </a:p>
          <a:p>
            <a:r>
              <a:rPr lang="en-US" altLang="zh-CN" dirty="0"/>
              <a:t>GRE</a:t>
            </a:r>
            <a:r>
              <a:rPr lang="zh-CN" altLang="en-US" dirty="0"/>
              <a:t>隧道的两端是</a:t>
            </a:r>
            <a:r>
              <a:rPr lang="en-US" altLang="zh-CN" dirty="0"/>
              <a:t>Tunnel</a:t>
            </a:r>
            <a:r>
              <a:rPr lang="zh-CN" altLang="en-US" dirty="0"/>
              <a:t>接口，分别对数据报文进行封装及解封装。负责发送封装后的报文的物理接口叫做隧道源接口，对端接收此报文的物理接口叫做隧道目的接口。</a:t>
            </a:r>
            <a:endParaRPr lang="en-US" altLang="zh-CN" dirty="0"/>
          </a:p>
          <a:p>
            <a:r>
              <a:rPr lang="zh-CN" altLang="en-US" dirty="0"/>
              <a:t>上图中报文的封装过程：</a:t>
            </a:r>
            <a:endParaRPr lang="en-US" altLang="zh-CN" dirty="0"/>
          </a:p>
          <a:p>
            <a:pPr lvl="1"/>
            <a:r>
              <a:rPr lang="en-US" altLang="zh-CN" dirty="0"/>
              <a:t>RTA</a:t>
            </a:r>
            <a:r>
              <a:rPr lang="zh-CN" altLang="en-US" dirty="0"/>
              <a:t>连接企业分部的接口收到</a:t>
            </a:r>
            <a:r>
              <a:rPr lang="en-US" altLang="zh-CN" dirty="0"/>
              <a:t>IP</a:t>
            </a:r>
            <a:r>
              <a:rPr lang="zh-CN" altLang="en-US" dirty="0"/>
              <a:t>数据报文后，首先交由</a:t>
            </a:r>
            <a:r>
              <a:rPr lang="en-US" altLang="zh-CN" dirty="0"/>
              <a:t>IP</a:t>
            </a:r>
            <a:r>
              <a:rPr lang="zh-CN" altLang="en-US" dirty="0"/>
              <a:t>协议处理。</a:t>
            </a:r>
          </a:p>
          <a:p>
            <a:pPr lvl="1"/>
            <a:r>
              <a:rPr lang="en-US" altLang="zh-CN" dirty="0"/>
              <a:t>IP</a:t>
            </a:r>
            <a:r>
              <a:rPr lang="zh-CN" altLang="en-US" dirty="0"/>
              <a:t>协议检查报文头中目的地址来确定如何转发此报文。若报文的目的地址要经过</a:t>
            </a:r>
            <a:r>
              <a:rPr lang="en-US" altLang="zh-CN" dirty="0"/>
              <a:t>GRE</a:t>
            </a:r>
            <a:r>
              <a:rPr lang="zh-CN" altLang="en-US" dirty="0"/>
              <a:t>隧道才能到达，则</a:t>
            </a:r>
            <a:r>
              <a:rPr lang="en-US" altLang="zh-CN" dirty="0"/>
              <a:t>IP</a:t>
            </a:r>
            <a:r>
              <a:rPr lang="zh-CN" altLang="en-US" dirty="0"/>
              <a:t>协议将此报文发给相应的</a:t>
            </a:r>
            <a:r>
              <a:rPr lang="en-US" altLang="zh-CN" dirty="0"/>
              <a:t>Tunnel</a:t>
            </a:r>
            <a:r>
              <a:rPr lang="zh-CN" altLang="en-US" dirty="0"/>
              <a:t>接口。 </a:t>
            </a:r>
          </a:p>
          <a:p>
            <a:pPr lvl="1"/>
            <a:r>
              <a:rPr lang="en-US" altLang="zh-CN" dirty="0"/>
              <a:t>Tunnel</a:t>
            </a:r>
            <a:r>
              <a:rPr lang="zh-CN" altLang="en-US" dirty="0"/>
              <a:t>接口收到此报文后为其封装</a:t>
            </a:r>
            <a:r>
              <a:rPr lang="en-US" altLang="zh-CN" dirty="0"/>
              <a:t>GRE</a:t>
            </a:r>
            <a:r>
              <a:rPr lang="zh-CN" altLang="en-US" dirty="0"/>
              <a:t>报文头，然后再交由</a:t>
            </a:r>
            <a:r>
              <a:rPr lang="en-US" altLang="zh-CN" dirty="0"/>
              <a:t>IP</a:t>
            </a:r>
            <a:r>
              <a:rPr lang="zh-CN" altLang="en-US" dirty="0"/>
              <a:t>协议处理。 </a:t>
            </a:r>
          </a:p>
          <a:p>
            <a:pPr lvl="1"/>
            <a:r>
              <a:rPr lang="en-US" altLang="zh-CN" dirty="0"/>
              <a:t>IP</a:t>
            </a:r>
            <a:r>
              <a:rPr lang="zh-CN" altLang="en-US" dirty="0"/>
              <a:t>协议再为</a:t>
            </a:r>
            <a:r>
              <a:rPr lang="en-US" altLang="zh-CN" dirty="0"/>
              <a:t>GRE</a:t>
            </a:r>
            <a:r>
              <a:rPr lang="zh-CN" altLang="en-US" dirty="0"/>
              <a:t>报文封装新的</a:t>
            </a:r>
            <a:r>
              <a:rPr lang="en-US" altLang="zh-CN" dirty="0"/>
              <a:t>IP</a:t>
            </a:r>
            <a:r>
              <a:rPr lang="zh-CN" altLang="en-US" dirty="0"/>
              <a:t>报文头（源地址为隧道源接口</a:t>
            </a:r>
            <a:r>
              <a:rPr lang="en-US" altLang="zh-CN" dirty="0"/>
              <a:t>IP</a:t>
            </a:r>
            <a:r>
              <a:rPr lang="zh-CN" altLang="en-US" dirty="0"/>
              <a:t>，目的地址为隧道目的接口</a:t>
            </a:r>
            <a:r>
              <a:rPr lang="en-US" altLang="zh-CN" dirty="0"/>
              <a:t>IP</a:t>
            </a:r>
            <a:r>
              <a:rPr lang="zh-CN" altLang="en-US" dirty="0"/>
              <a:t>），然后根据封装后的</a:t>
            </a:r>
            <a:r>
              <a:rPr lang="en-US" altLang="zh-CN" dirty="0"/>
              <a:t>IP</a:t>
            </a:r>
            <a:r>
              <a:rPr lang="zh-CN" altLang="en-US" dirty="0"/>
              <a:t>报文的目的地址及路由表对报文进行转发，从相应的连接</a:t>
            </a:r>
            <a:r>
              <a:rPr lang="en-US" altLang="zh-CN" dirty="0"/>
              <a:t>Internet</a:t>
            </a:r>
            <a:r>
              <a:rPr lang="zh-CN" altLang="en-US" dirty="0"/>
              <a:t>的物理接口（隧道源接口）发送出去。</a:t>
            </a:r>
            <a:endParaRPr lang="en-US" altLang="zh-CN" dirty="0"/>
          </a:p>
          <a:p>
            <a:r>
              <a:rPr lang="zh-CN" altLang="en-US" dirty="0"/>
              <a:t>解封装过程与封装过程相反，具体如下：</a:t>
            </a:r>
          </a:p>
          <a:p>
            <a:pPr lvl="1"/>
            <a:r>
              <a:rPr lang="en-US" altLang="zh-CN" dirty="0"/>
              <a:t>RTB</a:t>
            </a:r>
            <a:r>
              <a:rPr lang="zh-CN" altLang="en-US" dirty="0"/>
              <a:t>从连接</a:t>
            </a:r>
            <a:r>
              <a:rPr lang="en-US" altLang="zh-CN" dirty="0"/>
              <a:t>Internet</a:t>
            </a:r>
            <a:r>
              <a:rPr lang="zh-CN" altLang="en-US" dirty="0"/>
              <a:t>的物理接口收到</a:t>
            </a:r>
            <a:r>
              <a:rPr lang="en-US" altLang="zh-CN" dirty="0"/>
              <a:t>IP</a:t>
            </a:r>
            <a:r>
              <a:rPr lang="zh-CN" altLang="en-US" dirty="0"/>
              <a:t>报文后，检查其目的地址。如果目的地址是</a:t>
            </a:r>
            <a:r>
              <a:rPr lang="en-US" altLang="zh-CN" dirty="0"/>
              <a:t>RTB</a:t>
            </a:r>
            <a:r>
              <a:rPr lang="zh-CN" altLang="en-US" dirty="0"/>
              <a:t>，且</a:t>
            </a:r>
            <a:r>
              <a:rPr lang="en-US" altLang="zh-CN" dirty="0"/>
              <a:t>IP</a:t>
            </a:r>
            <a:r>
              <a:rPr lang="zh-CN" altLang="en-US" dirty="0"/>
              <a:t>报文头中的协议号为</a:t>
            </a:r>
            <a:r>
              <a:rPr lang="en-US" altLang="zh-CN" dirty="0"/>
              <a:t>47</a:t>
            </a:r>
            <a:r>
              <a:rPr lang="zh-CN" altLang="en-US" dirty="0"/>
              <a:t>（表示封装的报文为</a:t>
            </a:r>
            <a:r>
              <a:rPr lang="en-US" altLang="zh-CN" dirty="0"/>
              <a:t>GRE</a:t>
            </a:r>
            <a:r>
              <a:rPr lang="zh-CN" altLang="en-US" dirty="0"/>
              <a:t>报文），则</a:t>
            </a:r>
            <a:r>
              <a:rPr lang="en-US" altLang="zh-CN" dirty="0"/>
              <a:t>RTB</a:t>
            </a:r>
            <a:r>
              <a:rPr lang="zh-CN" altLang="en-US" dirty="0"/>
              <a:t>剥掉此报文的</a:t>
            </a:r>
            <a:r>
              <a:rPr lang="en-US" altLang="zh-CN" dirty="0"/>
              <a:t>IP</a:t>
            </a:r>
            <a:r>
              <a:rPr lang="zh-CN" altLang="en-US" dirty="0"/>
              <a:t>报文头，交给</a:t>
            </a:r>
            <a:r>
              <a:rPr lang="en-US" altLang="zh-CN" dirty="0"/>
              <a:t>GRE</a:t>
            </a:r>
            <a:r>
              <a:rPr lang="zh-CN" altLang="en-US" dirty="0"/>
              <a:t>协议处理。</a:t>
            </a:r>
          </a:p>
          <a:p>
            <a:pPr lvl="1"/>
            <a:r>
              <a:rPr lang="en-US" altLang="zh-CN" dirty="0"/>
              <a:t>GRE</a:t>
            </a:r>
            <a:r>
              <a:rPr lang="zh-CN" altLang="en-US" dirty="0"/>
              <a:t>协议进行校验和关键字识别后，剥掉</a:t>
            </a:r>
            <a:r>
              <a:rPr lang="en-US" altLang="zh-CN" dirty="0"/>
              <a:t>GRE</a:t>
            </a:r>
            <a:r>
              <a:rPr lang="zh-CN" altLang="en-US" dirty="0"/>
              <a:t>报文头，再交由</a:t>
            </a:r>
            <a:r>
              <a:rPr lang="en-US" altLang="zh-CN" dirty="0"/>
              <a:t>IP</a:t>
            </a:r>
            <a:r>
              <a:rPr lang="zh-CN" altLang="en-US" dirty="0"/>
              <a:t>协议处理。</a:t>
            </a:r>
          </a:p>
          <a:p>
            <a:pPr lvl="1"/>
            <a:r>
              <a:rPr lang="en-US" altLang="zh-CN" dirty="0"/>
              <a:t>IP</a:t>
            </a:r>
            <a:r>
              <a:rPr lang="zh-CN" altLang="en-US" dirty="0"/>
              <a:t>协议将此数据报文转发到企业总部。</a:t>
            </a:r>
          </a:p>
        </p:txBody>
      </p:sp>
      <p:sp>
        <p:nvSpPr>
          <p:cNvPr id="3" name="Slide Image Placeholder 2">
            <a:extLst>
              <a:ext uri="{FF2B5EF4-FFF2-40B4-BE49-F238E27FC236}">
                <a16:creationId xmlns:a16="http://schemas.microsoft.com/office/drawing/2014/main" id="{5B4CD2F4-84AE-4E94-87F6-E827CD147CFD}"/>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839193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GRE</a:t>
            </a:r>
            <a:r>
              <a:rPr lang="zh-CN" altLang="en-US" dirty="0"/>
              <a:t>可以封装组播数据并在</a:t>
            </a:r>
            <a:r>
              <a:rPr lang="en-US" altLang="zh-CN" dirty="0"/>
              <a:t>GRE</a:t>
            </a:r>
            <a:r>
              <a:rPr lang="zh-CN" altLang="en-US" dirty="0"/>
              <a:t>隧道中传输。而</a:t>
            </a:r>
            <a:r>
              <a:rPr lang="en-US" altLang="zh-CN" dirty="0"/>
              <a:t>IPsec</a:t>
            </a:r>
            <a:r>
              <a:rPr lang="zh-CN" altLang="en-US" dirty="0"/>
              <a:t>目前只能对单播数据进行加密保护，因此对于诸如路由协议、语音、视频等组播数据需要在</a:t>
            </a:r>
            <a:r>
              <a:rPr lang="en-US" altLang="zh-CN" dirty="0"/>
              <a:t>IPsec</a:t>
            </a:r>
            <a:r>
              <a:rPr lang="zh-CN" altLang="en-US" dirty="0"/>
              <a:t>隧道中传输的情况，可以通过建立</a:t>
            </a:r>
            <a:r>
              <a:rPr lang="en-US" altLang="zh-CN" dirty="0"/>
              <a:t>GRE</a:t>
            </a:r>
            <a:r>
              <a:rPr lang="zh-CN" altLang="en-US" dirty="0"/>
              <a:t>隧道，并对组播数据进行</a:t>
            </a:r>
            <a:r>
              <a:rPr lang="en-US" altLang="zh-CN" dirty="0"/>
              <a:t>GRE</a:t>
            </a:r>
            <a:r>
              <a:rPr lang="zh-CN" altLang="en-US" dirty="0"/>
              <a:t>封装，然后再对封装后的报文进行</a:t>
            </a:r>
            <a:r>
              <a:rPr lang="en-US" altLang="zh-CN" dirty="0"/>
              <a:t>IPsec</a:t>
            </a:r>
            <a:r>
              <a:rPr lang="zh-CN" altLang="en-US" dirty="0"/>
              <a:t>的加密处理，就实现了组播数据在</a:t>
            </a:r>
            <a:r>
              <a:rPr lang="en-US" altLang="zh-CN" dirty="0"/>
              <a:t>IPsec</a:t>
            </a:r>
            <a:r>
              <a:rPr lang="zh-CN" altLang="en-US" dirty="0"/>
              <a:t>隧道中的加密传输。</a:t>
            </a:r>
            <a:endParaRPr lang="en-US" altLang="zh-CN" dirty="0"/>
          </a:p>
          <a:p>
            <a:r>
              <a:rPr lang="en-US" altLang="zh-CN" dirty="0"/>
              <a:t>GRE Over IPsec</a:t>
            </a:r>
            <a:r>
              <a:rPr lang="zh-CN" altLang="en-US" dirty="0"/>
              <a:t>可以结合</a:t>
            </a:r>
            <a:r>
              <a:rPr lang="en-US" altLang="zh-CN" dirty="0"/>
              <a:t>GRE</a:t>
            </a:r>
            <a:r>
              <a:rPr lang="zh-CN" altLang="en-US" dirty="0"/>
              <a:t>和</a:t>
            </a:r>
            <a:r>
              <a:rPr lang="en-US" altLang="zh-CN" dirty="0"/>
              <a:t>IPsec</a:t>
            </a:r>
            <a:r>
              <a:rPr lang="zh-CN" altLang="en-US" dirty="0"/>
              <a:t>两种技术的优点，使网络既可以支持支持多种上层协议和组播报文，又可以支持报文加密、身份认证机制和数据完整性校验。</a:t>
            </a:r>
            <a:endParaRPr lang="en-US" altLang="zh-CN" dirty="0"/>
          </a:p>
          <a:p>
            <a:r>
              <a:rPr lang="zh-CN" altLang="en-US" dirty="0"/>
              <a:t>当网关之间采用</a:t>
            </a:r>
            <a:r>
              <a:rPr lang="en-US" altLang="zh-CN" dirty="0"/>
              <a:t>GRE</a:t>
            </a:r>
            <a:r>
              <a:rPr lang="zh-CN" altLang="en-US" dirty="0"/>
              <a:t> </a:t>
            </a:r>
            <a:r>
              <a:rPr lang="en-US" altLang="zh-CN" dirty="0"/>
              <a:t>over</a:t>
            </a:r>
            <a:r>
              <a:rPr lang="zh-CN" altLang="en-US" dirty="0"/>
              <a:t> </a:t>
            </a:r>
            <a:r>
              <a:rPr lang="en-US" altLang="zh-CN" dirty="0"/>
              <a:t>IPsec</a:t>
            </a:r>
            <a:r>
              <a:rPr lang="zh-CN" altLang="en-US" dirty="0"/>
              <a:t>连接时，先进行</a:t>
            </a:r>
            <a:r>
              <a:rPr lang="en-US" altLang="zh-CN" dirty="0"/>
              <a:t>GRE</a:t>
            </a:r>
            <a:r>
              <a:rPr lang="zh-CN" altLang="en-US" dirty="0"/>
              <a:t>封装，再进行</a:t>
            </a:r>
            <a:r>
              <a:rPr lang="en-US" altLang="zh-CN" dirty="0"/>
              <a:t>IPsec</a:t>
            </a:r>
            <a:r>
              <a:rPr lang="zh-CN" altLang="en-US" dirty="0"/>
              <a:t>封装。</a:t>
            </a:r>
            <a:endParaRPr lang="en-US" altLang="zh-CN" dirty="0"/>
          </a:p>
          <a:p>
            <a:r>
              <a:rPr lang="en-US" altLang="zh-CN" dirty="0"/>
              <a:t>GRE</a:t>
            </a:r>
            <a:r>
              <a:rPr lang="zh-CN" altLang="en-US" dirty="0"/>
              <a:t> </a:t>
            </a:r>
            <a:r>
              <a:rPr lang="en-US" altLang="zh-CN" dirty="0"/>
              <a:t>over</a:t>
            </a:r>
            <a:r>
              <a:rPr lang="zh-CN" altLang="en-US" dirty="0"/>
              <a:t> </a:t>
            </a:r>
            <a:r>
              <a:rPr lang="en-US" altLang="zh-CN" dirty="0"/>
              <a:t>IPsec</a:t>
            </a:r>
            <a:r>
              <a:rPr lang="zh-CN" altLang="en-US" dirty="0"/>
              <a:t>可以使用两种封装模式：</a:t>
            </a:r>
            <a:endParaRPr lang="en-US" altLang="zh-CN" dirty="0"/>
          </a:p>
          <a:p>
            <a:pPr lvl="1"/>
            <a:r>
              <a:rPr lang="zh-CN" altLang="en-US" dirty="0"/>
              <a:t>隧道模式</a:t>
            </a:r>
            <a:endParaRPr lang="en-US" altLang="zh-CN" dirty="0"/>
          </a:p>
          <a:p>
            <a:pPr lvl="1"/>
            <a:r>
              <a:rPr lang="zh-CN" altLang="en-US" dirty="0"/>
              <a:t>传输模式</a:t>
            </a:r>
          </a:p>
        </p:txBody>
      </p:sp>
      <p:sp>
        <p:nvSpPr>
          <p:cNvPr id="4" name="Slide Image Placeholder 3">
            <a:extLst>
              <a:ext uri="{FF2B5EF4-FFF2-40B4-BE49-F238E27FC236}">
                <a16:creationId xmlns:a16="http://schemas.microsoft.com/office/drawing/2014/main" id="{707B2A53-825E-45CE-975C-BC7A6F1EFE01}"/>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2389186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4D6F6-B154-4F0E-9533-5537E08188F6}"/>
              </a:ext>
            </a:extLst>
          </p:cNvPr>
          <p:cNvSpPr>
            <a:spLocks noGrp="1" noRot="1" noChangeAspect="1"/>
          </p:cNvSpPr>
          <p:nvPr>
            <p:ph type="sldImg"/>
          </p:nvPr>
        </p:nvSpPr>
        <p:spPr>
          <a:xfrm>
            <a:off x="744538" y="717550"/>
            <a:ext cx="5556250" cy="3125788"/>
          </a:xfrm>
        </p:spPr>
      </p:sp>
      <p:sp>
        <p:nvSpPr>
          <p:cNvPr id="3" name="Notes Placeholder 2">
            <a:extLst>
              <a:ext uri="{FF2B5EF4-FFF2-40B4-BE49-F238E27FC236}">
                <a16:creationId xmlns:a16="http://schemas.microsoft.com/office/drawing/2014/main" id="{E4A251FC-AB2A-47AE-BD20-1887D2E1D5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754828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DSVPN</a:t>
            </a:r>
            <a:r>
              <a:rPr lang="zh-CN" altLang="en-US" dirty="0"/>
              <a:t>主要解决</a:t>
            </a:r>
            <a:r>
              <a:rPr lang="en-US" altLang="zh-CN" dirty="0"/>
              <a:t>GRE Over IPsec</a:t>
            </a:r>
            <a:r>
              <a:rPr lang="zh-CN" altLang="en-US" dirty="0"/>
              <a:t>的缺陷：</a:t>
            </a:r>
            <a:endParaRPr lang="en-US" altLang="zh-CN" dirty="0"/>
          </a:p>
          <a:p>
            <a:pPr lvl="1"/>
            <a:r>
              <a:rPr lang="zh-CN" altLang="en-US" dirty="0"/>
              <a:t>所有流量必须穿越</a:t>
            </a:r>
            <a:r>
              <a:rPr lang="en-US" altLang="zh-CN" dirty="0"/>
              <a:t>Hub</a:t>
            </a:r>
            <a:r>
              <a:rPr lang="zh-CN" altLang="en-US" dirty="0"/>
              <a:t>。</a:t>
            </a:r>
            <a:endParaRPr lang="en-US" altLang="zh-CN" dirty="0"/>
          </a:p>
          <a:p>
            <a:pPr lvl="1"/>
            <a:r>
              <a:rPr lang="zh-CN" altLang="en-US" dirty="0"/>
              <a:t>新增站点后需要修改</a:t>
            </a:r>
            <a:r>
              <a:rPr lang="en-US" altLang="zh-CN" dirty="0"/>
              <a:t>Hub</a:t>
            </a:r>
            <a:r>
              <a:rPr lang="zh-CN" altLang="en-US" dirty="0"/>
              <a:t>配置。</a:t>
            </a:r>
            <a:endParaRPr lang="en-US" altLang="zh-CN" dirty="0"/>
          </a:p>
          <a:p>
            <a:pPr lvl="1"/>
            <a:r>
              <a:rPr lang="en-US" altLang="zh-CN" dirty="0"/>
              <a:t>Spoke</a:t>
            </a:r>
            <a:r>
              <a:rPr lang="zh-CN" altLang="en-US" dirty="0"/>
              <a:t>站点使用动态地址，部署点到点</a:t>
            </a:r>
            <a:r>
              <a:rPr lang="en-US" altLang="zh-CN" dirty="0"/>
              <a:t>GRE</a:t>
            </a:r>
            <a:r>
              <a:rPr lang="zh-CN" altLang="en-US" dirty="0"/>
              <a:t>时会有问题。</a:t>
            </a:r>
            <a:endParaRPr lang="en-US" altLang="zh-CN" dirty="0"/>
          </a:p>
          <a:p>
            <a:endParaRPr lang="zh-CN" altLang="en-US" dirty="0"/>
          </a:p>
        </p:txBody>
      </p:sp>
      <p:sp>
        <p:nvSpPr>
          <p:cNvPr id="5" name="Slide Image Placeholder 4">
            <a:extLst>
              <a:ext uri="{FF2B5EF4-FFF2-40B4-BE49-F238E27FC236}">
                <a16:creationId xmlns:a16="http://schemas.microsoft.com/office/drawing/2014/main" id="{AFAD4201-FD32-4508-B72C-8735189A5310}"/>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1974069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056A5036-1627-475E-8FAC-30D1C96F5E1F}"/>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1067E3E5-D50A-4A12-AB24-E9B6D67135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022648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zh-CN" altLang="en-US" dirty="0"/>
          </a:p>
        </p:txBody>
      </p:sp>
      <p:sp>
        <p:nvSpPr>
          <p:cNvPr id="5" name="Slide Image Placeholder 4">
            <a:extLst>
              <a:ext uri="{FF2B5EF4-FFF2-40B4-BE49-F238E27FC236}">
                <a16:creationId xmlns:a16="http://schemas.microsoft.com/office/drawing/2014/main" id="{217C135B-AA91-452C-AC53-EC9C23051A64}"/>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53992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SSL VPN</a:t>
            </a:r>
            <a:r>
              <a:rPr lang="zh-CN" altLang="en-US" dirty="0"/>
              <a:t>是以</a:t>
            </a:r>
            <a:r>
              <a:rPr lang="en-US" altLang="zh-CN" dirty="0"/>
              <a:t>SSL</a:t>
            </a:r>
            <a:r>
              <a:rPr lang="zh-CN" altLang="en-US" dirty="0"/>
              <a:t>协议为安全基础的</a:t>
            </a:r>
            <a:r>
              <a:rPr lang="en-US" altLang="zh-CN" dirty="0"/>
              <a:t>VPN</a:t>
            </a:r>
            <a:r>
              <a:rPr lang="zh-CN" altLang="en-US" dirty="0"/>
              <a:t>远程接入技术，移动办公人员（在</a:t>
            </a:r>
            <a:r>
              <a:rPr lang="en-US" altLang="zh-CN" dirty="0"/>
              <a:t>SSL VPN</a:t>
            </a:r>
            <a:r>
              <a:rPr lang="zh-CN" altLang="en-US" dirty="0"/>
              <a:t>中被称为远程用户）使用</a:t>
            </a:r>
            <a:r>
              <a:rPr lang="en-US" altLang="zh-CN" dirty="0"/>
              <a:t>SSL VPN</a:t>
            </a:r>
            <a:r>
              <a:rPr lang="zh-CN" altLang="en-US" dirty="0"/>
              <a:t>可以安全、方便地接入企业内网，访问企业内网资源，提高工作效率。</a:t>
            </a:r>
          </a:p>
          <a:p>
            <a:r>
              <a:rPr lang="zh-CN" altLang="en-US" dirty="0"/>
              <a:t>在</a:t>
            </a:r>
            <a:r>
              <a:rPr lang="en-US" altLang="zh-CN" dirty="0"/>
              <a:t>SSL VPN</a:t>
            </a:r>
            <a:r>
              <a:rPr lang="zh-CN" altLang="en-US" dirty="0"/>
              <a:t>出现之前，</a:t>
            </a:r>
            <a:r>
              <a:rPr lang="en-US" altLang="zh-CN" dirty="0"/>
              <a:t>IPsec</a:t>
            </a:r>
            <a:r>
              <a:rPr lang="zh-CN" altLang="en-US" dirty="0"/>
              <a:t>、</a:t>
            </a:r>
            <a:r>
              <a:rPr lang="en-US" altLang="zh-CN" dirty="0"/>
              <a:t>L2TP</a:t>
            </a:r>
            <a:r>
              <a:rPr lang="zh-CN" altLang="en-US" dirty="0"/>
              <a:t>等先期出现的</a:t>
            </a:r>
            <a:r>
              <a:rPr lang="en-US" altLang="zh-CN" dirty="0"/>
              <a:t>VPN</a:t>
            </a:r>
            <a:r>
              <a:rPr lang="zh-CN" altLang="en-US" dirty="0"/>
              <a:t>技术虽然可以支持远程接入这个应用场景，但这些</a:t>
            </a:r>
            <a:r>
              <a:rPr lang="en-US" altLang="zh-CN" dirty="0"/>
              <a:t>VPN</a:t>
            </a:r>
            <a:r>
              <a:rPr lang="zh-CN" altLang="en-US" dirty="0"/>
              <a:t>技术存在如下缺陷：</a:t>
            </a:r>
            <a:endParaRPr lang="en-US" altLang="zh-CN" dirty="0"/>
          </a:p>
          <a:p>
            <a:pPr lvl="1"/>
            <a:r>
              <a:rPr lang="zh-CN" altLang="en-US" dirty="0"/>
              <a:t>远程用户终端上需要安装指定的客户端软件，导致网络部署、维护比较麻烦。</a:t>
            </a:r>
          </a:p>
          <a:p>
            <a:pPr lvl="1"/>
            <a:r>
              <a:rPr lang="en-US" altLang="zh-CN" dirty="0"/>
              <a:t>IPsec/L2TP VPN</a:t>
            </a:r>
            <a:r>
              <a:rPr lang="zh-CN" altLang="en-US" dirty="0"/>
              <a:t>的配置繁琐。</a:t>
            </a:r>
          </a:p>
          <a:p>
            <a:pPr lvl="1"/>
            <a:r>
              <a:rPr lang="zh-CN" altLang="en-US" dirty="0"/>
              <a:t>网络管理人员无法对远程用户访问企业内网资源的权限做精细化控制。</a:t>
            </a:r>
          </a:p>
        </p:txBody>
      </p:sp>
      <p:sp>
        <p:nvSpPr>
          <p:cNvPr id="5" name="Slide Image Placeholder 4">
            <a:extLst>
              <a:ext uri="{FF2B5EF4-FFF2-40B4-BE49-F238E27FC236}">
                <a16:creationId xmlns:a16="http://schemas.microsoft.com/office/drawing/2014/main" id="{39836BB2-E481-48A8-9425-AE69DADD419B}"/>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8504581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568234F-2A99-456C-BE6C-BA1DDBB02967}"/>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84CB4A99-E3D0-4FAD-94EE-5B6E784048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214804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64740FA-EA23-4C19-A953-673A3C308C0A}"/>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A32348D-3E53-4444-A302-E1D85D4AD13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32181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89745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同一个数据路径上只建立一个</a:t>
            </a:r>
            <a:r>
              <a:rPr lang="en-US" altLang="zh-CN" dirty="0"/>
              <a:t>BFD</a:t>
            </a:r>
            <a:r>
              <a:rPr lang="zh-CN" altLang="en-US" dirty="0"/>
              <a:t>会话，如果不同的应用在同一个数据路径上需要使用不同的</a:t>
            </a:r>
            <a:r>
              <a:rPr lang="en-US" altLang="zh-CN" dirty="0"/>
              <a:t>BFD</a:t>
            </a:r>
            <a:r>
              <a:rPr lang="zh-CN" altLang="en-US" dirty="0"/>
              <a:t>协议参数，则应该考虑通过共享解决：选择能覆盖所有应用要求的参数来配置唯一的</a:t>
            </a:r>
            <a:r>
              <a:rPr lang="en-US" altLang="zh-CN" dirty="0"/>
              <a:t>BFD</a:t>
            </a:r>
            <a:r>
              <a:rPr lang="zh-CN" altLang="en-US" dirty="0"/>
              <a:t>会话，</a:t>
            </a:r>
            <a:r>
              <a:rPr lang="en-US" altLang="zh-CN" dirty="0"/>
              <a:t>BFD</a:t>
            </a:r>
            <a:r>
              <a:rPr lang="zh-CN" altLang="en-US" dirty="0"/>
              <a:t>会话的状态变更将上报给所有绑定的应用。</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9176243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NQA</a:t>
            </a:r>
            <a:r>
              <a:rPr lang="zh-CN" altLang="en-US" dirty="0"/>
              <a:t>监测网络上运行的多种协议的性能，使用户能够实时采集到各种网络运行指标，例如：</a:t>
            </a:r>
            <a:r>
              <a:rPr lang="en-US" altLang="zh-CN" dirty="0"/>
              <a:t>HTTP</a:t>
            </a:r>
            <a:r>
              <a:rPr lang="zh-CN" altLang="en-US" dirty="0"/>
              <a:t>的总时延、</a:t>
            </a:r>
            <a:r>
              <a:rPr lang="en-US" altLang="zh-CN" dirty="0"/>
              <a:t>TCP</a:t>
            </a:r>
            <a:r>
              <a:rPr lang="zh-CN" altLang="en-US" dirty="0"/>
              <a:t>连接时延、</a:t>
            </a:r>
            <a:r>
              <a:rPr lang="en-US" altLang="zh-CN" dirty="0"/>
              <a:t>DNS</a:t>
            </a:r>
            <a:r>
              <a:rPr lang="zh-CN" altLang="en-US" dirty="0"/>
              <a:t>解析时延、文件传输速率、</a:t>
            </a:r>
            <a:r>
              <a:rPr lang="en-US" altLang="zh-CN" dirty="0"/>
              <a:t>FTP</a:t>
            </a:r>
            <a:r>
              <a:rPr lang="zh-CN" altLang="en-US" dirty="0"/>
              <a:t>连接时延、</a:t>
            </a:r>
            <a:r>
              <a:rPr lang="en-US" altLang="zh-CN" dirty="0"/>
              <a:t>DNS</a:t>
            </a:r>
            <a:r>
              <a:rPr lang="zh-CN" altLang="en-US" dirty="0"/>
              <a:t>解析错误率等。</a:t>
            </a:r>
            <a:endParaRPr 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42108131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a:lnSpc>
                <a:spcPct val="120000"/>
              </a:lnSpc>
              <a:spcAft>
                <a:spcPts val="300"/>
              </a:spcAft>
            </a:pPr>
            <a:r>
              <a:rPr lang="en-US" altLang="zh-CN" dirty="0"/>
              <a:t>TLP</a:t>
            </a:r>
            <a:r>
              <a:rPr lang="zh-CN" altLang="en-US" dirty="0"/>
              <a:t>（</a:t>
            </a:r>
            <a:r>
              <a:rPr lang="en-US" altLang="zh-CN" dirty="0"/>
              <a:t>Target Logical Port</a:t>
            </a:r>
            <a:r>
              <a:rPr lang="zh-CN" altLang="en-US" dirty="0"/>
              <a:t>，目标逻辑端口）</a:t>
            </a:r>
            <a:endParaRPr lang="en-US" altLang="zh-CN" dirty="0"/>
          </a:p>
          <a:p>
            <a:pPr lvl="1">
              <a:lnSpc>
                <a:spcPct val="120000"/>
              </a:lnSpc>
              <a:spcAft>
                <a:spcPts val="300"/>
              </a:spcAft>
            </a:pPr>
            <a:r>
              <a:rPr lang="en-US" altLang="zh-CN" dirty="0"/>
              <a:t>TLP</a:t>
            </a:r>
            <a:r>
              <a:rPr lang="zh-CN" altLang="en-US" dirty="0"/>
              <a:t>是分布在网络边缘的观测点，对应网络中边缘节点的接口，负责完成如下动作：</a:t>
            </a:r>
          </a:p>
          <a:p>
            <a:pPr lvl="2">
              <a:lnSpc>
                <a:spcPct val="120000"/>
              </a:lnSpc>
              <a:spcAft>
                <a:spcPts val="300"/>
              </a:spcAft>
            </a:pPr>
            <a:r>
              <a:rPr lang="zh-CN" altLang="en-US" dirty="0"/>
              <a:t>执行统计动作（丢包统计、时延统计）。</a:t>
            </a:r>
          </a:p>
          <a:p>
            <a:pPr lvl="2">
              <a:lnSpc>
                <a:spcPct val="120000"/>
              </a:lnSpc>
              <a:spcAft>
                <a:spcPts val="300"/>
              </a:spcAft>
            </a:pPr>
            <a:r>
              <a:rPr lang="zh-CN" altLang="en-US" dirty="0"/>
              <a:t>产生统计数据（收发报文计数、收发流量统计、时间戳信息等）。</a:t>
            </a:r>
          </a:p>
          <a:p>
            <a:pPr lvl="1">
              <a:lnSpc>
                <a:spcPct val="120000"/>
              </a:lnSpc>
              <a:spcAft>
                <a:spcPts val="300"/>
              </a:spcAft>
            </a:pPr>
            <a:r>
              <a:rPr lang="zh-CN" altLang="en-US" dirty="0"/>
              <a:t>对于一条具体的目标流，如果一个</a:t>
            </a:r>
            <a:r>
              <a:rPr lang="en-US" altLang="zh-CN" dirty="0"/>
              <a:t>TLP</a:t>
            </a:r>
            <a:r>
              <a:rPr lang="zh-CN" altLang="en-US" dirty="0"/>
              <a:t>是其上游统计点，那么该</a:t>
            </a:r>
            <a:r>
              <a:rPr lang="en-US" altLang="zh-CN" dirty="0"/>
              <a:t>TLP</a:t>
            </a:r>
            <a:r>
              <a:rPr lang="zh-CN" altLang="en-US" dirty="0"/>
              <a:t>被称为</a:t>
            </a:r>
            <a:r>
              <a:rPr lang="en-US" altLang="zh-CN" dirty="0"/>
              <a:t>In-Point-TLP</a:t>
            </a:r>
            <a:r>
              <a:rPr lang="zh-CN" altLang="en-US" dirty="0"/>
              <a:t>；如果该</a:t>
            </a:r>
            <a:r>
              <a:rPr lang="en-US" altLang="zh-CN" dirty="0"/>
              <a:t>TLP</a:t>
            </a:r>
            <a:r>
              <a:rPr lang="zh-CN" altLang="en-US" dirty="0"/>
              <a:t>是目标流的下游统计点，那么该</a:t>
            </a:r>
            <a:r>
              <a:rPr lang="en-US" altLang="zh-CN" dirty="0"/>
              <a:t>TLP</a:t>
            </a:r>
            <a:r>
              <a:rPr lang="zh-CN" altLang="en-US" dirty="0"/>
              <a:t>被称为</a:t>
            </a:r>
            <a:r>
              <a:rPr lang="en-US" altLang="zh-CN" dirty="0"/>
              <a:t>Out-Point-TLP</a:t>
            </a:r>
            <a:r>
              <a:rPr lang="zh-CN" altLang="en-US" dirty="0"/>
              <a:t>。</a:t>
            </a:r>
          </a:p>
          <a:p>
            <a:pPr>
              <a:lnSpc>
                <a:spcPct val="120000"/>
              </a:lnSpc>
              <a:spcAft>
                <a:spcPts val="300"/>
              </a:spcAft>
            </a:pPr>
            <a:r>
              <a:rPr lang="en-US" altLang="zh-CN" dirty="0"/>
              <a:t>DCP</a:t>
            </a:r>
            <a:r>
              <a:rPr lang="zh-CN" altLang="en-US" dirty="0"/>
              <a:t>（</a:t>
            </a:r>
            <a:r>
              <a:rPr lang="en-US" dirty="0"/>
              <a:t>Data Collecting Point</a:t>
            </a:r>
            <a:r>
              <a:rPr lang="zh-CN" altLang="en-US" dirty="0"/>
              <a:t>，数据收集点）</a:t>
            </a:r>
            <a:endParaRPr lang="en-US" altLang="zh-CN" dirty="0"/>
          </a:p>
          <a:p>
            <a:pPr lvl="1">
              <a:lnSpc>
                <a:spcPct val="120000"/>
              </a:lnSpc>
              <a:spcAft>
                <a:spcPts val="300"/>
              </a:spcAft>
            </a:pPr>
            <a:r>
              <a:rPr lang="en-US" altLang="zh-CN" dirty="0"/>
              <a:t>DCP</a:t>
            </a:r>
            <a:r>
              <a:rPr lang="zh-CN" altLang="en-US" dirty="0"/>
              <a:t>是</a:t>
            </a:r>
            <a:r>
              <a:rPr lang="en-US" altLang="zh-CN" dirty="0"/>
              <a:t>IP FPM</a:t>
            </a:r>
            <a:r>
              <a:rPr lang="zh-CN" altLang="en-US" dirty="0"/>
              <a:t>统计系统的数据收集点，对应网络中的边缘节点，负责完成如下动作：</a:t>
            </a:r>
          </a:p>
          <a:p>
            <a:pPr lvl="2">
              <a:lnSpc>
                <a:spcPct val="120000"/>
              </a:lnSpc>
              <a:spcAft>
                <a:spcPts val="300"/>
              </a:spcAft>
            </a:pPr>
            <a:r>
              <a:rPr lang="zh-CN" altLang="en-US" dirty="0"/>
              <a:t>管理和控制</a:t>
            </a:r>
            <a:r>
              <a:rPr lang="en-US" altLang="zh-CN" dirty="0"/>
              <a:t>TLP</a:t>
            </a:r>
            <a:r>
              <a:rPr lang="zh-CN" altLang="en-US" dirty="0"/>
              <a:t>。</a:t>
            </a:r>
          </a:p>
          <a:p>
            <a:pPr lvl="2">
              <a:lnSpc>
                <a:spcPct val="120000"/>
              </a:lnSpc>
              <a:spcAft>
                <a:spcPts val="300"/>
              </a:spcAft>
            </a:pPr>
            <a:r>
              <a:rPr lang="zh-CN" altLang="en-US" dirty="0"/>
              <a:t>收集</a:t>
            </a:r>
            <a:r>
              <a:rPr lang="en-US" altLang="zh-CN" dirty="0"/>
              <a:t>TLP</a:t>
            </a:r>
            <a:r>
              <a:rPr lang="zh-CN" altLang="en-US" dirty="0"/>
              <a:t>产生的统计数据。</a:t>
            </a:r>
          </a:p>
          <a:p>
            <a:pPr lvl="2">
              <a:lnSpc>
                <a:spcPct val="120000"/>
              </a:lnSpc>
              <a:spcAft>
                <a:spcPts val="300"/>
              </a:spcAft>
            </a:pPr>
            <a:r>
              <a:rPr lang="zh-CN" altLang="en-US" dirty="0"/>
              <a:t>上报统计数据给</a:t>
            </a:r>
            <a:r>
              <a:rPr lang="en-US" altLang="zh-CN" dirty="0"/>
              <a:t>MCP</a:t>
            </a:r>
            <a:r>
              <a:rPr lang="zh-CN" altLang="en-US" dirty="0"/>
              <a:t>。</a:t>
            </a:r>
          </a:p>
          <a:p>
            <a:pPr lvl="0">
              <a:lnSpc>
                <a:spcPct val="120000"/>
              </a:lnSpc>
              <a:spcAft>
                <a:spcPts val="300"/>
              </a:spcAft>
            </a:pPr>
            <a:r>
              <a:rPr lang="en-US" altLang="zh-CN" dirty="0"/>
              <a:t>MCP</a:t>
            </a:r>
            <a:r>
              <a:rPr lang="zh-CN" altLang="en-US" dirty="0"/>
              <a:t>（</a:t>
            </a:r>
            <a:r>
              <a:rPr lang="en-US" dirty="0"/>
              <a:t>Measurement Control Point</a:t>
            </a:r>
            <a:r>
              <a:rPr lang="zh-CN" altLang="en-US" dirty="0"/>
              <a:t>，测量控制点）</a:t>
            </a:r>
            <a:endParaRPr lang="en-US" altLang="zh-CN" dirty="0"/>
          </a:p>
          <a:p>
            <a:pPr lvl="1">
              <a:lnSpc>
                <a:spcPct val="120000"/>
              </a:lnSpc>
              <a:spcAft>
                <a:spcPts val="300"/>
              </a:spcAft>
            </a:pPr>
            <a:r>
              <a:rPr lang="en-US" altLang="zh-CN" dirty="0"/>
              <a:t>MCP</a:t>
            </a:r>
            <a:r>
              <a:rPr lang="zh-CN" altLang="en-US" dirty="0"/>
              <a:t>是</a:t>
            </a:r>
            <a:r>
              <a:rPr lang="en-US" altLang="zh-CN" dirty="0"/>
              <a:t>IP FPM</a:t>
            </a:r>
            <a:r>
              <a:rPr lang="zh-CN" altLang="en-US" dirty="0"/>
              <a:t>统计系统的控制角色，对应网络中的中间节点，负责完成如下动作：</a:t>
            </a:r>
          </a:p>
          <a:p>
            <a:pPr lvl="2">
              <a:lnSpc>
                <a:spcPct val="120000"/>
              </a:lnSpc>
              <a:spcAft>
                <a:spcPts val="300"/>
              </a:spcAft>
            </a:pPr>
            <a:r>
              <a:rPr lang="zh-CN" altLang="en-US" dirty="0"/>
              <a:t>收集</a:t>
            </a:r>
            <a:r>
              <a:rPr lang="en-US" altLang="zh-CN" dirty="0"/>
              <a:t>DCP</a:t>
            </a:r>
            <a:r>
              <a:rPr lang="zh-CN" altLang="en-US" dirty="0"/>
              <a:t>上送的统计数据。</a:t>
            </a:r>
          </a:p>
          <a:p>
            <a:pPr lvl="2">
              <a:lnSpc>
                <a:spcPct val="120000"/>
              </a:lnSpc>
              <a:spcAft>
                <a:spcPts val="300"/>
              </a:spcAft>
            </a:pPr>
            <a:r>
              <a:rPr lang="zh-CN" altLang="en-US" dirty="0"/>
              <a:t>完成统计数据的汇总和计算。</a:t>
            </a:r>
          </a:p>
          <a:p>
            <a:pPr lvl="2">
              <a:lnSpc>
                <a:spcPct val="120000"/>
              </a:lnSpc>
              <a:spcAft>
                <a:spcPts val="300"/>
              </a:spcAft>
            </a:pPr>
            <a:r>
              <a:rPr lang="zh-CN" altLang="en-US" dirty="0"/>
              <a:t>向用户终端或者网管系统上报统计结果。</a:t>
            </a:r>
            <a:endParaRPr lang="en-US" dirty="0"/>
          </a:p>
        </p:txBody>
      </p:sp>
    </p:spTree>
    <p:extLst>
      <p:ext uri="{BB962C8B-B14F-4D97-AF65-F5344CB8AC3E}">
        <p14:creationId xmlns:p14="http://schemas.microsoft.com/office/powerpoint/2010/main" val="38203552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29589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548F91C6-4D5A-42B7-A2DA-3FC54B98930D}"/>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8AFD02AF-BC93-4D41-91A4-7B859297BC8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04461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76364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932867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926406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zh-CN" altLang="en-US" dirty="0"/>
              <a:t>一条流量的报文进入设备之后，设备首先根据报文中携带的五元组信息，判断该报文是否已经识别过应用。如果识别过，则不需要重复识别，直接将报文送入三层转发；如果没有识别过，则送入</a:t>
            </a:r>
            <a:r>
              <a:rPr lang="en-US" altLang="zh-CN" dirty="0"/>
              <a:t>SAC</a:t>
            </a:r>
            <a:r>
              <a:rPr lang="zh-CN" altLang="en-US" dirty="0"/>
              <a:t>进行应用识别。</a:t>
            </a:r>
            <a:r>
              <a:rPr lang="en-US" altLang="zh-CN" dirty="0"/>
              <a:t>SAC</a:t>
            </a:r>
            <a:r>
              <a:rPr lang="zh-CN" altLang="en-US" dirty="0"/>
              <a:t>识别结束后，报文根据</a:t>
            </a:r>
            <a:r>
              <a:rPr lang="en-US" altLang="zh-CN" dirty="0"/>
              <a:t>SAC</a:t>
            </a:r>
            <a:r>
              <a:rPr lang="zh-CN" altLang="en-US" dirty="0"/>
              <a:t>的识别结果进行业务处理，处理结束后送入三层转发。其中，</a:t>
            </a:r>
            <a:r>
              <a:rPr lang="en-US" altLang="zh-CN" dirty="0"/>
              <a:t>SAC</a:t>
            </a:r>
            <a:r>
              <a:rPr lang="zh-CN" altLang="en-US" dirty="0"/>
              <a:t>的识别流程为：先根据</a:t>
            </a:r>
            <a:r>
              <a:rPr lang="en-US" altLang="zh-CN" dirty="0"/>
              <a:t>FPI</a:t>
            </a:r>
            <a:r>
              <a:rPr lang="zh-CN" altLang="en-US" dirty="0"/>
              <a:t>中的</a:t>
            </a:r>
            <a:r>
              <a:rPr lang="en-US" altLang="zh-CN" dirty="0"/>
              <a:t>ACL</a:t>
            </a:r>
            <a:r>
              <a:rPr lang="zh-CN" altLang="en-US" dirty="0"/>
              <a:t>规则来识别应用；如果识别失败，再根据</a:t>
            </a:r>
            <a:r>
              <a:rPr lang="en-US" altLang="zh-CN" dirty="0"/>
              <a:t>FPI</a:t>
            </a:r>
            <a:r>
              <a:rPr lang="zh-CN" altLang="en-US" dirty="0"/>
              <a:t>中的</a:t>
            </a:r>
            <a:r>
              <a:rPr lang="en-US" altLang="zh-CN" dirty="0"/>
              <a:t>DNS</a:t>
            </a:r>
            <a:r>
              <a:rPr lang="zh-CN" altLang="en-US" dirty="0"/>
              <a:t>关联表来识别应用；如果识别失败，再根据</a:t>
            </a:r>
            <a:r>
              <a:rPr lang="en-US" altLang="zh-CN" dirty="0"/>
              <a:t>FPI</a:t>
            </a:r>
            <a:r>
              <a:rPr lang="zh-CN" altLang="en-US" dirty="0"/>
              <a:t>中的协议端口表来识别应用；如果三者都没有识别出应用，再送入</a:t>
            </a:r>
            <a:r>
              <a:rPr lang="en-US" altLang="zh-CN" dirty="0"/>
              <a:t>SA</a:t>
            </a:r>
            <a:r>
              <a:rPr lang="zh-CN" altLang="en-US" dirty="0"/>
              <a:t>继续识别。</a:t>
            </a:r>
            <a:endParaRPr lang="en-US" dirty="0"/>
          </a:p>
        </p:txBody>
      </p:sp>
      <p:sp>
        <p:nvSpPr>
          <p:cNvPr id="4" name="Slide Image Placeholder 3">
            <a:extLst>
              <a:ext uri="{FF2B5EF4-FFF2-40B4-BE49-F238E27FC236}">
                <a16:creationId xmlns:a16="http://schemas.microsoft.com/office/drawing/2014/main" id="{F0D953C1-BD55-4DD7-9F9F-D419416B87DE}"/>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12658204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952461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53780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974FE4B-90DB-4533-8FA2-214F76DA89DF}"/>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6EE8720-F092-4041-BEEF-C26397B62D6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461506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为了支持具有不同服务需求的语音、视频以及数据等业务，要求网络能够区分出不同的通信，进而提供相应的服务。</a:t>
            </a:r>
            <a:endParaRPr lang="en-US" altLang="zh-CN" dirty="0"/>
          </a:p>
          <a:p>
            <a:pPr lvl="1"/>
            <a:r>
              <a:rPr lang="zh-CN" altLang="en-US" dirty="0"/>
              <a:t>例如</a:t>
            </a:r>
            <a:r>
              <a:rPr lang="en-US" altLang="zh-CN" dirty="0"/>
              <a:t>VoIP</a:t>
            </a:r>
            <a:r>
              <a:rPr lang="zh-CN" altLang="en-US" dirty="0"/>
              <a:t>等实时业务就对报文的传输延迟提出了较高要求，如果报文传送延时太长，用户将不能接受（相对而言，</a:t>
            </a:r>
            <a:r>
              <a:rPr lang="en-US" altLang="zh-CN" dirty="0"/>
              <a:t>E-Mail</a:t>
            </a:r>
            <a:r>
              <a:rPr lang="zh-CN" altLang="en-US" dirty="0"/>
              <a:t>和</a:t>
            </a:r>
            <a:r>
              <a:rPr lang="en-US" altLang="zh-CN" dirty="0"/>
              <a:t>FTP</a:t>
            </a:r>
            <a:r>
              <a:rPr lang="zh-CN" altLang="en-US" dirty="0"/>
              <a:t>业务对时间延迟并不敏感）。</a:t>
            </a:r>
            <a:endParaRPr lang="en-US" altLang="zh-CN" dirty="0"/>
          </a:p>
          <a:p>
            <a:pPr lvl="1"/>
            <a:r>
              <a:rPr lang="zh-CN" altLang="en-US" dirty="0"/>
              <a:t>传统</a:t>
            </a:r>
            <a:r>
              <a:rPr lang="en-US" altLang="zh-CN" dirty="0"/>
              <a:t>IP</a:t>
            </a:r>
            <a:r>
              <a:rPr lang="zh-CN" altLang="en-US" dirty="0"/>
              <a:t>网络的尽力服务不可能识别和区分出网络中的各种通信类别，而具备通信类别的区分能力正是为不同的通信提供不同服务的前提，所以说传统网络的尽力服务模式已不能满足应用的需要。</a:t>
            </a:r>
            <a:endParaRPr lang="en-US" altLang="zh-CN" dirty="0"/>
          </a:p>
          <a:p>
            <a:r>
              <a:rPr lang="en-US" altLang="zh-CN" dirty="0" err="1"/>
              <a:t>QoS</a:t>
            </a:r>
            <a:r>
              <a:rPr lang="zh-CN" altLang="en-US" dirty="0"/>
              <a:t>旨在针对各种应用的不同需求，为其提供不同的服务质量。如：</a:t>
            </a:r>
          </a:p>
          <a:p>
            <a:pPr lvl="1"/>
            <a:r>
              <a:rPr lang="zh-CN" altLang="en-US" dirty="0"/>
              <a:t>可以限制骨干网上</a:t>
            </a:r>
            <a:r>
              <a:rPr lang="en-US" altLang="zh-CN" dirty="0"/>
              <a:t>FTP</a:t>
            </a:r>
            <a:r>
              <a:rPr lang="zh-CN" altLang="en-US" dirty="0"/>
              <a:t>使用的带宽，也可以给数据库访问以较高优先级。</a:t>
            </a:r>
          </a:p>
          <a:p>
            <a:pPr lvl="1"/>
            <a:r>
              <a:rPr lang="zh-CN" altLang="en-US" dirty="0"/>
              <a:t>对于</a:t>
            </a:r>
            <a:r>
              <a:rPr lang="en-US" altLang="zh-CN" dirty="0"/>
              <a:t>ISP</a:t>
            </a:r>
            <a:r>
              <a:rPr lang="zh-CN" altLang="en-US" dirty="0"/>
              <a:t>，其用户可能传送语音、视频或其他实时业务，</a:t>
            </a:r>
            <a:r>
              <a:rPr lang="en-US" altLang="zh-CN" dirty="0" err="1"/>
              <a:t>QoS</a:t>
            </a:r>
            <a:r>
              <a:rPr lang="zh-CN" altLang="en-US" dirty="0"/>
              <a:t>使</a:t>
            </a:r>
            <a:r>
              <a:rPr lang="en-US" altLang="zh-CN" dirty="0"/>
              <a:t>ISP</a:t>
            </a:r>
            <a:r>
              <a:rPr lang="zh-CN" altLang="en-US" dirty="0"/>
              <a:t>能区分这些不同的报文，并提供不同服务。</a:t>
            </a:r>
          </a:p>
          <a:p>
            <a:pPr lvl="1"/>
            <a:r>
              <a:rPr lang="zh-CN" altLang="en-US" dirty="0"/>
              <a:t>可以为时间敏感的多媒体业务提供带宽和低时延保证，而其他业务在使用网络时，也不会影响这些时间敏感的业务。</a:t>
            </a:r>
          </a:p>
        </p:txBody>
      </p:sp>
      <p:sp>
        <p:nvSpPr>
          <p:cNvPr id="9" name="幻灯片图像占位符 8"/>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732713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612138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6833218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VoIP</a:t>
            </a:r>
            <a:r>
              <a:rPr lang="zh-CN" altLang="en-US" dirty="0"/>
              <a:t>业务：</a:t>
            </a:r>
            <a:r>
              <a:rPr lang="en-US" altLang="zh-CN" dirty="0"/>
              <a:t>IP</a:t>
            </a:r>
            <a:r>
              <a:rPr lang="zh-CN" altLang="en-US" dirty="0"/>
              <a:t>语音电话业务</a:t>
            </a:r>
            <a:endParaRPr lang="en-US" altLang="zh-CN" dirty="0"/>
          </a:p>
          <a:p>
            <a:r>
              <a:rPr lang="en-US" altLang="zh-CN" dirty="0"/>
              <a:t>IPTV</a:t>
            </a:r>
            <a:r>
              <a:rPr lang="zh-CN" altLang="en-US" dirty="0"/>
              <a:t>：互联网电视业务</a:t>
            </a:r>
            <a:endParaRPr lang="en-US" altLang="zh-CN" dirty="0"/>
          </a:p>
          <a:p>
            <a:r>
              <a:rPr lang="en-US" altLang="zh-CN" dirty="0"/>
              <a:t>HSI</a:t>
            </a:r>
            <a:r>
              <a:rPr lang="zh-CN" altLang="en-US" dirty="0"/>
              <a:t>业务：个人上网业务</a:t>
            </a:r>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41317371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EE1AB39-3B1E-46CF-AD63-AE17CE16FBA6}"/>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79FEB95-A4DD-443E-8057-1D3BDC3DA1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749856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差错控制技术一般可以分为前向纠错与后向纠错两种：</a:t>
            </a:r>
            <a:endParaRPr lang="en-US" altLang="zh-CN" dirty="0"/>
          </a:p>
          <a:p>
            <a:pPr lvl="1"/>
            <a:r>
              <a:rPr lang="en-US" dirty="0"/>
              <a:t>ARQ</a:t>
            </a:r>
            <a:r>
              <a:rPr lang="zh-CN" altLang="en-US" dirty="0"/>
              <a:t>（</a:t>
            </a:r>
            <a:r>
              <a:rPr lang="en-US" altLang="zh-CN" dirty="0"/>
              <a:t>Automatic Repeat-</a:t>
            </a:r>
            <a:r>
              <a:rPr lang="en-US" altLang="zh-CN" dirty="0" err="1"/>
              <a:t>reQuest</a:t>
            </a:r>
            <a:r>
              <a:rPr lang="zh-CN" altLang="en-US" dirty="0"/>
              <a:t>，自动重传请求），是一种按需重传机制，发送方通过“发送</a:t>
            </a:r>
            <a:r>
              <a:rPr lang="en-US" altLang="zh-CN" dirty="0"/>
              <a:t>-</a:t>
            </a:r>
            <a:r>
              <a:rPr lang="zh-CN" altLang="en-US" dirty="0"/>
              <a:t>确认”机制感知接收方是否收到数据报文，如果没有收到接收方发的确认报文则会重传相应报文，这种纠错方式需要重复发送报文所以会引入额外时延。由于是通过发送方重新发送报文达到纠错的结果，所以也被称为后向纠错。</a:t>
            </a:r>
            <a:endParaRPr lang="en-US" altLang="zh-CN" dirty="0"/>
          </a:p>
          <a:p>
            <a:pPr lvl="1"/>
            <a:r>
              <a:rPr lang="en-US" dirty="0"/>
              <a:t>FEC</a:t>
            </a:r>
            <a:r>
              <a:rPr lang="zh-CN" altLang="en-US" dirty="0"/>
              <a:t>将冗余纠错包与数据包一起发往接收方，接收方如果发现差错，直接通过冗余纠错包还原丢失的数据包。由于该纠错行为是发生在接收方的，所以也被称为前向纠错。</a:t>
            </a:r>
            <a:endParaRPr lang="en-US" altLang="zh-CN" dirty="0"/>
          </a:p>
          <a:p>
            <a:pPr lvl="2"/>
            <a:r>
              <a:rPr lang="en-US" dirty="0"/>
              <a:t>FEC</a:t>
            </a:r>
            <a:r>
              <a:rPr lang="zh-CN" altLang="en-US" dirty="0"/>
              <a:t>冗余纠错包的纠错能力是有一定限制的，比如：</a:t>
            </a:r>
            <a:r>
              <a:rPr lang="en-US" altLang="zh-CN" dirty="0"/>
              <a:t>4</a:t>
            </a:r>
            <a:r>
              <a:rPr lang="zh-CN" altLang="en-US" dirty="0"/>
              <a:t>个报文中丢了</a:t>
            </a:r>
            <a:r>
              <a:rPr lang="en-US" altLang="zh-CN" dirty="0"/>
              <a:t>3</a:t>
            </a:r>
            <a:r>
              <a:rPr lang="zh-CN" altLang="en-US" dirty="0"/>
              <a:t>个报文，那么依靠剩下的</a:t>
            </a:r>
            <a:r>
              <a:rPr lang="en-US" altLang="zh-CN" dirty="0"/>
              <a:t>1</a:t>
            </a:r>
            <a:r>
              <a:rPr lang="zh-CN" altLang="en-US" dirty="0"/>
              <a:t>个报文，</a:t>
            </a:r>
            <a:r>
              <a:rPr lang="en-US" altLang="zh-CN" dirty="0"/>
              <a:t>FEC</a:t>
            </a:r>
            <a:r>
              <a:rPr lang="zh-CN" altLang="en-US" dirty="0"/>
              <a:t>是没有办法还原出其余三个报文的。</a:t>
            </a:r>
            <a:endParaRPr lang="en-US" dirty="0"/>
          </a:p>
        </p:txBody>
      </p:sp>
      <p:sp>
        <p:nvSpPr>
          <p:cNvPr id="5" name="Slide Image Placeholder 4">
            <a:extLst>
              <a:ext uri="{FF2B5EF4-FFF2-40B4-BE49-F238E27FC236}">
                <a16:creationId xmlns:a16="http://schemas.microsoft.com/office/drawing/2014/main" id="{54558AC8-9752-4344-80B8-160A69A8FC93}"/>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23826819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756887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4538" y="717550"/>
            <a:ext cx="5556250" cy="3125788"/>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453172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AC</a:t>
            </a:r>
          </a:p>
          <a:p>
            <a:pPr marL="228600" indent="-228600">
              <a:buFont typeface="+mj-lt"/>
              <a:buAutoNum type="arabicPeriod"/>
            </a:pPr>
            <a:r>
              <a:rPr lang="zh-CN" altLang="en-US" dirty="0"/>
              <a:t>对</a:t>
            </a:r>
          </a:p>
        </p:txBody>
      </p:sp>
      <p:sp>
        <p:nvSpPr>
          <p:cNvPr id="5" name="Slide Image Placeholder 4">
            <a:extLst>
              <a:ext uri="{FF2B5EF4-FFF2-40B4-BE49-F238E27FC236}">
                <a16:creationId xmlns:a16="http://schemas.microsoft.com/office/drawing/2014/main" id="{900590B1-AF2C-4E33-ABC1-D7A56C527936}"/>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9347780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CDE2B25-26DF-4019-A67D-9F92FC94E059}"/>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270DAFB0-D4EE-4B2F-9755-78C3BB912B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48059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B8E41D0-FB16-48B7-83FB-4CE226F52FB1}"/>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A4AC83F1-46B4-4EBD-BFB9-62536FE71DE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9884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guide id="7" orient="horz" pos="36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3" orient="horz" pos="3680">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guide id="9" orient="horz" pos="36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6.xml"/><Relationship Id="rId16"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20.emf"/><Relationship Id="rId12"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12.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5.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28.png"/><Relationship Id="rId11" Type="http://schemas.openxmlformats.org/officeDocument/2006/relationships/image" Target="../media/image24.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19.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6.png"/><Relationship Id="rId9"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22.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41.png"/><Relationship Id="rId4" Type="http://schemas.openxmlformats.org/officeDocument/2006/relationships/image" Target="../media/image4.png"/><Relationship Id="rId9" Type="http://schemas.openxmlformats.org/officeDocument/2006/relationships/image" Target="../media/image31.png"/></Relationships>
</file>

<file path=ppt/slides/_rels/slide3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4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7.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51.png"/><Relationship Id="rId5" Type="http://schemas.microsoft.com/office/2007/relationships/hdphoto" Target="../media/hdphoto1.wdp"/><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4.png"/><Relationship Id="rId2" Type="http://schemas.openxmlformats.org/officeDocument/2006/relationships/notesSlide" Target="../notesSlides/notesSlide55.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51.png"/><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56.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56.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1.xml"/><Relationship Id="rId1" Type="http://schemas.openxmlformats.org/officeDocument/2006/relationships/slideLayout" Target="../slideLayouts/slideLayout13.xml"/><Relationship Id="rId5" Type="http://schemas.openxmlformats.org/officeDocument/2006/relationships/image" Target="../media/image58.png"/><Relationship Id="rId4" Type="http://schemas.openxmlformats.org/officeDocument/2006/relationships/image" Target="../media/image5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F2C88F47-5933-4596-B955-05653B38AADB}"/>
              </a:ext>
            </a:extLst>
          </p:cNvPr>
          <p:cNvSpPr>
            <a:spLocks noGrp="1"/>
          </p:cNvSpPr>
          <p:nvPr>
            <p:ph type="body" sz="quarter" idx="17"/>
          </p:nvPr>
        </p:nvSpPr>
        <p:spPr bwMode="gray"/>
        <p:txBody>
          <a:bodyPr/>
          <a:lstStyle/>
          <a:p>
            <a:endParaRPr lang="en-US"/>
          </a:p>
        </p:txBody>
      </p:sp>
      <p:sp>
        <p:nvSpPr>
          <p:cNvPr id="25" name="Text Placeholder 24">
            <a:extLst>
              <a:ext uri="{FF2B5EF4-FFF2-40B4-BE49-F238E27FC236}">
                <a16:creationId xmlns:a16="http://schemas.microsoft.com/office/drawing/2014/main" id="{7B06EC5D-D783-4221-8EB6-01DB326247D4}"/>
              </a:ext>
            </a:extLst>
          </p:cNvPr>
          <p:cNvSpPr>
            <a:spLocks noGrp="1"/>
          </p:cNvSpPr>
          <p:nvPr>
            <p:ph type="body" sz="quarter" idx="18"/>
          </p:nvPr>
        </p:nvSpPr>
        <p:spPr bwMode="gray"/>
        <p:txBody>
          <a:bodyPr/>
          <a:lstStyle/>
          <a:p>
            <a:r>
              <a:rPr lang="en-US" altLang="zh-CN" dirty="0" err="1"/>
              <a:t>Datacom</a:t>
            </a:r>
            <a:endParaRPr lang="en-US" dirty="0"/>
          </a:p>
        </p:txBody>
      </p:sp>
      <p:sp>
        <p:nvSpPr>
          <p:cNvPr id="26" name="Text Placeholder 25">
            <a:extLst>
              <a:ext uri="{FF2B5EF4-FFF2-40B4-BE49-F238E27FC236}">
                <a16:creationId xmlns:a16="http://schemas.microsoft.com/office/drawing/2014/main" id="{756762E2-6BAC-4C4E-87B9-76FAB549EAE7}"/>
              </a:ext>
            </a:extLst>
          </p:cNvPr>
          <p:cNvSpPr>
            <a:spLocks noGrp="1"/>
          </p:cNvSpPr>
          <p:nvPr>
            <p:ph type="body" sz="quarter" idx="19"/>
          </p:nvPr>
        </p:nvSpPr>
        <p:spPr bwMode="gray"/>
        <p:txBody>
          <a:bodyPr/>
          <a:lstStyle/>
          <a:p>
            <a:r>
              <a:rPr lang="zh-CN" altLang="en-US" dirty="0"/>
              <a:t>通用</a:t>
            </a:r>
            <a:endParaRPr lang="en-US" dirty="0"/>
          </a:p>
        </p:txBody>
      </p:sp>
      <p:sp>
        <p:nvSpPr>
          <p:cNvPr id="27" name="Text Placeholder 26">
            <a:extLst>
              <a:ext uri="{FF2B5EF4-FFF2-40B4-BE49-F238E27FC236}">
                <a16:creationId xmlns:a16="http://schemas.microsoft.com/office/drawing/2014/main" id="{449001E1-15D0-4065-8401-08BC90DEF28A}"/>
              </a:ext>
            </a:extLst>
          </p:cNvPr>
          <p:cNvSpPr>
            <a:spLocks noGrp="1"/>
          </p:cNvSpPr>
          <p:nvPr>
            <p:ph type="body" sz="quarter" idx="20"/>
          </p:nvPr>
        </p:nvSpPr>
        <p:spPr bwMode="gray"/>
        <p:txBody>
          <a:bodyPr/>
          <a:lstStyle/>
          <a:p>
            <a:r>
              <a:rPr lang="en-US" altLang="zh-CN" dirty="0"/>
              <a:t>V1.0</a:t>
            </a:r>
            <a:endParaRPr lang="en-US" dirty="0"/>
          </a:p>
        </p:txBody>
      </p:sp>
      <p:sp>
        <p:nvSpPr>
          <p:cNvPr id="4" name="文本占位符 3"/>
          <p:cNvSpPr>
            <a:spLocks noGrp="1"/>
          </p:cNvSpPr>
          <p:nvPr>
            <p:ph type="body" sz="quarter" idx="13"/>
          </p:nvPr>
        </p:nvSpPr>
        <p:spPr bwMode="gray"/>
        <p:txBody>
          <a:bodyPr/>
          <a:lstStyle/>
          <a:p>
            <a:r>
              <a:rPr lang="zh-CN" altLang="en-US" dirty="0"/>
              <a:t>吴越</a:t>
            </a:r>
            <a:r>
              <a:rPr lang="en-US" altLang="zh-CN" dirty="0"/>
              <a:t>/WX291773</a:t>
            </a:r>
            <a:endParaRPr lang="zh-CN" altLang="en-US" dirty="0"/>
          </a:p>
        </p:txBody>
      </p:sp>
      <p:sp>
        <p:nvSpPr>
          <p:cNvPr id="5" name="文本占位符 4"/>
          <p:cNvSpPr>
            <a:spLocks noGrp="1"/>
          </p:cNvSpPr>
          <p:nvPr>
            <p:ph type="body" sz="quarter" idx="14"/>
          </p:nvPr>
        </p:nvSpPr>
        <p:spPr bwMode="gray"/>
        <p:txBody>
          <a:bodyPr/>
          <a:lstStyle/>
          <a:p>
            <a:r>
              <a:rPr lang="en-US" altLang="zh-CN" dirty="0"/>
              <a:t>2021.3.19</a:t>
            </a:r>
            <a:endParaRPr lang="zh-CN" altLang="en-US" dirty="0"/>
          </a:p>
        </p:txBody>
      </p:sp>
      <p:sp>
        <p:nvSpPr>
          <p:cNvPr id="2" name="Text Placeholder 1">
            <a:extLst>
              <a:ext uri="{FF2B5EF4-FFF2-40B4-BE49-F238E27FC236}">
                <a16:creationId xmlns:a16="http://schemas.microsoft.com/office/drawing/2014/main" id="{34B4909A-B291-44CA-A6B5-D4D547B7E3C0}"/>
              </a:ext>
            </a:extLst>
          </p:cNvPr>
          <p:cNvSpPr>
            <a:spLocks noGrp="1"/>
          </p:cNvSpPr>
          <p:nvPr>
            <p:ph type="body" sz="quarter" idx="15"/>
          </p:nvPr>
        </p:nvSpPr>
        <p:spPr bwMode="gray"/>
        <p:txBody>
          <a:bodyPr/>
          <a:lstStyle/>
          <a:p>
            <a:r>
              <a:rPr lang="zh-CN" altLang="en-US" dirty="0"/>
              <a:t>朱仕耿</a:t>
            </a:r>
            <a:r>
              <a:rPr lang="en-US" altLang="zh-CN" dirty="0"/>
              <a:t>/00261992</a:t>
            </a:r>
            <a:endParaRPr lang="en-US" dirty="0"/>
          </a:p>
        </p:txBody>
      </p:sp>
      <p:sp>
        <p:nvSpPr>
          <p:cNvPr id="3" name="Text Placeholder 2">
            <a:extLst>
              <a:ext uri="{FF2B5EF4-FFF2-40B4-BE49-F238E27FC236}">
                <a16:creationId xmlns:a16="http://schemas.microsoft.com/office/drawing/2014/main" id="{8A933400-E872-4E0D-987E-C69AA187A425}"/>
              </a:ext>
            </a:extLst>
          </p:cNvPr>
          <p:cNvSpPr>
            <a:spLocks noGrp="1"/>
          </p:cNvSpPr>
          <p:nvPr>
            <p:ph type="body" sz="quarter" idx="16"/>
          </p:nvPr>
        </p:nvSpPr>
        <p:spPr bwMode="gray"/>
        <p:txBody>
          <a:bodyPr/>
          <a:lstStyle/>
          <a:p>
            <a:r>
              <a:rPr lang="zh-CN" altLang="en-US" dirty="0"/>
              <a:t>新开发</a:t>
            </a:r>
            <a:endParaRPr lang="en-US" dirty="0"/>
          </a:p>
        </p:txBody>
      </p:sp>
      <p:sp>
        <p:nvSpPr>
          <p:cNvPr id="28" name="Text Placeholder 27">
            <a:extLst>
              <a:ext uri="{FF2B5EF4-FFF2-40B4-BE49-F238E27FC236}">
                <a16:creationId xmlns:a16="http://schemas.microsoft.com/office/drawing/2014/main" id="{6165DD10-94AF-472B-9A60-140518D6ED0B}"/>
              </a:ext>
            </a:extLst>
          </p:cNvPr>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29" name="Text Placeholder 28">
            <a:extLst>
              <a:ext uri="{FF2B5EF4-FFF2-40B4-BE49-F238E27FC236}">
                <a16:creationId xmlns:a16="http://schemas.microsoft.com/office/drawing/2014/main" id="{1BBF2FB1-7331-4174-ACEB-4A62F40599D5}"/>
              </a:ext>
            </a:extLst>
          </p:cNvPr>
          <p:cNvSpPr>
            <a:spLocks noGrp="1"/>
          </p:cNvSpPr>
          <p:nvPr>
            <p:ph type="body" sz="quarter" idx="22"/>
          </p:nvPr>
        </p:nvSpPr>
        <p:spPr bwMode="gray"/>
        <p:txBody>
          <a:bodyPr/>
          <a:lstStyle/>
          <a:p>
            <a:r>
              <a:rPr lang="en-US" dirty="0"/>
              <a:t>2021.9.16</a:t>
            </a:r>
          </a:p>
        </p:txBody>
      </p:sp>
      <p:sp>
        <p:nvSpPr>
          <p:cNvPr id="30" name="Text Placeholder 29">
            <a:extLst>
              <a:ext uri="{FF2B5EF4-FFF2-40B4-BE49-F238E27FC236}">
                <a16:creationId xmlns:a16="http://schemas.microsoft.com/office/drawing/2014/main" id="{49B9669C-E7EF-4D7E-ACF7-7C76D9E793A8}"/>
              </a:ext>
            </a:extLst>
          </p:cNvPr>
          <p:cNvSpPr>
            <a:spLocks noGrp="1"/>
          </p:cNvSpPr>
          <p:nvPr>
            <p:ph type="body" sz="quarter" idx="23"/>
          </p:nvPr>
        </p:nvSpPr>
        <p:spPr bwMode="gray"/>
        <p:txBody>
          <a:bodyPr/>
          <a:lstStyle/>
          <a:p>
            <a:r>
              <a:rPr lang="zh-CN" altLang="en-US" dirty="0"/>
              <a:t>卢玥玥</a:t>
            </a:r>
            <a:r>
              <a:rPr lang="en-US" altLang="zh-CN" dirty="0"/>
              <a:t>/WX445705</a:t>
            </a:r>
            <a:endParaRPr lang="en-US" dirty="0"/>
          </a:p>
        </p:txBody>
      </p:sp>
      <p:sp>
        <p:nvSpPr>
          <p:cNvPr id="31" name="Text Placeholder 30">
            <a:extLst>
              <a:ext uri="{FF2B5EF4-FFF2-40B4-BE49-F238E27FC236}">
                <a16:creationId xmlns:a16="http://schemas.microsoft.com/office/drawing/2014/main" id="{15EB1099-D14F-4736-BF3A-80DEFDF9C8D7}"/>
              </a:ext>
            </a:extLst>
          </p:cNvPr>
          <p:cNvSpPr>
            <a:spLocks noGrp="1"/>
          </p:cNvSpPr>
          <p:nvPr>
            <p:ph type="body" sz="quarter" idx="24"/>
          </p:nvPr>
        </p:nvSpPr>
        <p:spPr bwMode="gray"/>
        <p:txBody>
          <a:bodyPr/>
          <a:lstStyle/>
          <a:p>
            <a:r>
              <a:rPr lang="zh-CN" altLang="en-US" dirty="0"/>
              <a:t>优化</a:t>
            </a:r>
            <a:endParaRPr lang="en-US" dirty="0"/>
          </a:p>
        </p:txBody>
      </p:sp>
      <p:sp>
        <p:nvSpPr>
          <p:cNvPr id="32" name="Text Placeholder 31">
            <a:extLst>
              <a:ext uri="{FF2B5EF4-FFF2-40B4-BE49-F238E27FC236}">
                <a16:creationId xmlns:a16="http://schemas.microsoft.com/office/drawing/2014/main" id="{66B42C3D-8853-451A-B5DB-9ABC2C865BE2}"/>
              </a:ext>
            </a:extLst>
          </p:cNvPr>
          <p:cNvSpPr>
            <a:spLocks noGrp="1"/>
          </p:cNvSpPr>
          <p:nvPr>
            <p:ph type="body" sz="quarter" idx="25"/>
          </p:nvPr>
        </p:nvSpPr>
        <p:spPr bwMode="gray"/>
        <p:txBody>
          <a:bodyPr/>
          <a:lstStyle/>
          <a:p>
            <a:endParaRPr lang="en-US"/>
          </a:p>
        </p:txBody>
      </p:sp>
      <p:sp>
        <p:nvSpPr>
          <p:cNvPr id="33" name="Text Placeholder 32">
            <a:extLst>
              <a:ext uri="{FF2B5EF4-FFF2-40B4-BE49-F238E27FC236}">
                <a16:creationId xmlns:a16="http://schemas.microsoft.com/office/drawing/2014/main" id="{BE9C96D1-56F9-4974-808E-7ED996EEE985}"/>
              </a:ext>
            </a:extLst>
          </p:cNvPr>
          <p:cNvSpPr>
            <a:spLocks noGrp="1"/>
          </p:cNvSpPr>
          <p:nvPr>
            <p:ph type="body" sz="quarter" idx="26"/>
          </p:nvPr>
        </p:nvSpPr>
        <p:spPr bwMode="gray"/>
        <p:txBody>
          <a:bodyPr/>
          <a:lstStyle/>
          <a:p>
            <a:endParaRPr lang="en-US"/>
          </a:p>
        </p:txBody>
      </p:sp>
      <p:sp>
        <p:nvSpPr>
          <p:cNvPr id="34" name="Text Placeholder 33">
            <a:extLst>
              <a:ext uri="{FF2B5EF4-FFF2-40B4-BE49-F238E27FC236}">
                <a16:creationId xmlns:a16="http://schemas.microsoft.com/office/drawing/2014/main" id="{EF022463-3819-41A4-B24D-F8004AC42D5A}"/>
              </a:ext>
            </a:extLst>
          </p:cNvPr>
          <p:cNvSpPr>
            <a:spLocks noGrp="1"/>
          </p:cNvSpPr>
          <p:nvPr>
            <p:ph type="body" sz="quarter" idx="27"/>
          </p:nvPr>
        </p:nvSpPr>
        <p:spPr bwMode="gray"/>
        <p:txBody>
          <a:bodyPr/>
          <a:lstStyle/>
          <a:p>
            <a:endParaRPr lang="en-US"/>
          </a:p>
        </p:txBody>
      </p:sp>
      <p:sp>
        <p:nvSpPr>
          <p:cNvPr id="35" name="Text Placeholder 34">
            <a:extLst>
              <a:ext uri="{FF2B5EF4-FFF2-40B4-BE49-F238E27FC236}">
                <a16:creationId xmlns:a16="http://schemas.microsoft.com/office/drawing/2014/main" id="{A74FEA81-573E-4137-ADB5-F067292319D0}"/>
              </a:ext>
            </a:extLst>
          </p:cNvPr>
          <p:cNvSpPr>
            <a:spLocks noGrp="1"/>
          </p:cNvSpPr>
          <p:nvPr>
            <p:ph type="body" sz="quarter" idx="28"/>
          </p:nvPr>
        </p:nvSpPr>
        <p:spPr bwMode="gray"/>
        <p:txBody>
          <a:bodyPr/>
          <a:lstStyle/>
          <a:p>
            <a:endParaRPr lang="en-US"/>
          </a:p>
        </p:txBody>
      </p:sp>
      <p:sp>
        <p:nvSpPr>
          <p:cNvPr id="36" name="Text Placeholder 35">
            <a:extLst>
              <a:ext uri="{FF2B5EF4-FFF2-40B4-BE49-F238E27FC236}">
                <a16:creationId xmlns:a16="http://schemas.microsoft.com/office/drawing/2014/main" id="{BF0BD31C-B3AC-4D6E-AB26-084EBFCC83D0}"/>
              </a:ext>
            </a:extLst>
          </p:cNvPr>
          <p:cNvSpPr>
            <a:spLocks noGrp="1"/>
          </p:cNvSpPr>
          <p:nvPr>
            <p:ph type="body" sz="quarter" idx="29"/>
          </p:nvPr>
        </p:nvSpPr>
        <p:spPr bwMode="gray"/>
        <p:txBody>
          <a:bodyPr/>
          <a:lstStyle/>
          <a:p>
            <a:endParaRPr lang="en-US"/>
          </a:p>
        </p:txBody>
      </p:sp>
      <p:sp>
        <p:nvSpPr>
          <p:cNvPr id="37" name="Text Placeholder 36">
            <a:extLst>
              <a:ext uri="{FF2B5EF4-FFF2-40B4-BE49-F238E27FC236}">
                <a16:creationId xmlns:a16="http://schemas.microsoft.com/office/drawing/2014/main" id="{041DD49B-8FA9-4D89-92E3-3A0212A9FD6D}"/>
              </a:ext>
            </a:extLst>
          </p:cNvPr>
          <p:cNvSpPr>
            <a:spLocks noGrp="1"/>
          </p:cNvSpPr>
          <p:nvPr>
            <p:ph type="body" sz="quarter" idx="30"/>
          </p:nvPr>
        </p:nvSpPr>
        <p:spPr bwMode="gray"/>
        <p:txBody>
          <a:bodyPr/>
          <a:lstStyle/>
          <a:p>
            <a:endParaRPr lang="en-US"/>
          </a:p>
        </p:txBody>
      </p:sp>
      <p:sp>
        <p:nvSpPr>
          <p:cNvPr id="38" name="Text Placeholder 37">
            <a:extLst>
              <a:ext uri="{FF2B5EF4-FFF2-40B4-BE49-F238E27FC236}">
                <a16:creationId xmlns:a16="http://schemas.microsoft.com/office/drawing/2014/main" id="{D92098F8-E86F-472D-BE2F-9108A922FA4B}"/>
              </a:ext>
            </a:extLst>
          </p:cNvPr>
          <p:cNvSpPr>
            <a:spLocks noGrp="1"/>
          </p:cNvSpPr>
          <p:nvPr>
            <p:ph type="body" sz="quarter" idx="31"/>
          </p:nvPr>
        </p:nvSpPr>
        <p:spPr bwMode="gray"/>
        <p:txBody>
          <a:bodyPr/>
          <a:lstStyle/>
          <a:p>
            <a:endParaRPr lang="en-US"/>
          </a:p>
        </p:txBody>
      </p:sp>
      <p:sp>
        <p:nvSpPr>
          <p:cNvPr id="39" name="Text Placeholder 38">
            <a:extLst>
              <a:ext uri="{FF2B5EF4-FFF2-40B4-BE49-F238E27FC236}">
                <a16:creationId xmlns:a16="http://schemas.microsoft.com/office/drawing/2014/main" id="{CC7534E6-3AED-4335-98BD-66CC583CD1AD}"/>
              </a:ext>
            </a:extLst>
          </p:cNvPr>
          <p:cNvSpPr>
            <a:spLocks noGrp="1"/>
          </p:cNvSpPr>
          <p:nvPr>
            <p:ph type="body" sz="quarter" idx="32"/>
          </p:nvPr>
        </p:nvSpPr>
        <p:spPr bwMode="gray"/>
        <p:txBody>
          <a:bodyPr/>
          <a:lstStyle/>
          <a:p>
            <a:endParaRPr lang="en-US"/>
          </a:p>
        </p:txBody>
      </p:sp>
    </p:spTree>
    <p:extLst>
      <p:ext uri="{BB962C8B-B14F-4D97-AF65-F5344CB8AC3E}">
        <p14:creationId xmlns:p14="http://schemas.microsoft.com/office/powerpoint/2010/main" val="2665902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p>
        </p:txBody>
      </p:sp>
      <p:sp>
        <p:nvSpPr>
          <p:cNvPr id="14" name="标题 13"/>
          <p:cNvSpPr>
            <a:spLocks noGrp="1"/>
          </p:cNvSpPr>
          <p:nvPr>
            <p:ph type="ctrTitle"/>
          </p:nvPr>
        </p:nvSpPr>
        <p:spPr bwMode="gray"/>
        <p:txBody>
          <a:bodyPr/>
          <a:lstStyle/>
          <a:p>
            <a:r>
              <a:rPr lang="zh-CN" altLang="en-US" dirty="0"/>
              <a:t>广域互联方案与技术概述</a:t>
            </a:r>
          </a:p>
        </p:txBody>
      </p:sp>
    </p:spTree>
    <p:extLst>
      <p:ext uri="{BB962C8B-B14F-4D97-AF65-F5344CB8AC3E}">
        <p14:creationId xmlns:p14="http://schemas.microsoft.com/office/powerpoint/2010/main" val="2992108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dirty="0"/>
              <a:t>广域网有着悠久的历史，广域网上所使用的技术也经过了多次的更新。相比园区网，广域网所连接企业的需求更加多样，不同的企业在连接方式、可靠性要求、安全要求方面都会有很大不同。</a:t>
            </a:r>
            <a:endParaRPr lang="en-US" altLang="zh-CN" dirty="0"/>
          </a:p>
          <a:p>
            <a:r>
              <a:rPr lang="zh-CN" altLang="en-US" dirty="0"/>
              <a:t>为了满足不同企业在互联上的需求，产生了各种广域互联技术。</a:t>
            </a:r>
            <a:endParaRPr lang="en-US" altLang="zh-CN" dirty="0"/>
          </a:p>
          <a:p>
            <a:r>
              <a:rPr lang="zh-CN" altLang="en-US" dirty="0"/>
              <a:t>通过这节课，大家将能了解广域网互联的相关技术与应用场景。</a:t>
            </a:r>
          </a:p>
        </p:txBody>
      </p:sp>
    </p:spTree>
    <p:extLst>
      <p:ext uri="{BB962C8B-B14F-4D97-AF65-F5344CB8AC3E}">
        <p14:creationId xmlns:p14="http://schemas.microsoft.com/office/powerpoint/2010/main" val="548368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a:t>学完本课程后，您将能够：</a:t>
            </a:r>
            <a:endParaRPr lang="en-US" altLang="zh-CN"/>
          </a:p>
          <a:p>
            <a:pPr lvl="1"/>
            <a:r>
              <a:rPr lang="zh-CN" altLang="en-US"/>
              <a:t>描述广域互联网络的基本架构</a:t>
            </a:r>
            <a:endParaRPr lang="en-US" altLang="zh-CN"/>
          </a:p>
          <a:p>
            <a:pPr lvl="1"/>
            <a:r>
              <a:rPr lang="zh-CN" altLang="en-US"/>
              <a:t>描述广域互联组网技术及应用场景</a:t>
            </a:r>
            <a:endParaRPr lang="en-US" altLang="zh-CN"/>
          </a:p>
          <a:p>
            <a:pPr lvl="1"/>
            <a:r>
              <a:rPr lang="zh-CN" altLang="en-US"/>
              <a:t>描述广域互联可靠性技术及应用场景</a:t>
            </a:r>
            <a:endParaRPr lang="en-US" altLang="zh-CN"/>
          </a:p>
          <a:p>
            <a:pPr lvl="1"/>
            <a:r>
              <a:rPr lang="zh-CN" altLang="en-US"/>
              <a:t>描述广域互联优化技术及应用场景</a:t>
            </a:r>
            <a:endParaRPr lang="en-US" altLang="zh-CN"/>
          </a:p>
          <a:p>
            <a:pPr lvl="1"/>
            <a:r>
              <a:rPr lang="zh-CN" altLang="en-US"/>
              <a:t>描述广域互联安全技术及应用场景</a:t>
            </a:r>
            <a:endParaRPr lang="en-US" altLang="zh-CN" dirty="0"/>
          </a:p>
        </p:txBody>
      </p:sp>
    </p:spTree>
    <p:extLst>
      <p:ext uri="{BB962C8B-B14F-4D97-AF65-F5344CB8AC3E}">
        <p14:creationId xmlns:p14="http://schemas.microsoft.com/office/powerpoint/2010/main" val="234952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广域互联网络基本架构</a:t>
            </a:r>
            <a:endParaRPr lang="en-US" altLang="zh-CN" b="1" dirty="0"/>
          </a:p>
          <a:p>
            <a:r>
              <a:rPr lang="zh-CN" altLang="en-US" dirty="0">
                <a:solidFill>
                  <a:schemeClr val="bg1">
                    <a:lumMod val="50000"/>
                  </a:schemeClr>
                </a:solidFill>
              </a:rPr>
              <a:t>广域互联组网技术应用</a:t>
            </a:r>
            <a:endParaRPr lang="en-US" altLang="zh-CN" dirty="0">
              <a:solidFill>
                <a:schemeClr val="bg1">
                  <a:lumMod val="50000"/>
                </a:schemeClr>
              </a:solidFill>
            </a:endParaRPr>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dirty="0">
                <a:solidFill>
                  <a:schemeClr val="bg1">
                    <a:lumMod val="50000"/>
                  </a:schemeClr>
                </a:solidFill>
              </a:rPr>
              <a:t>广域互联优化技术应用</a:t>
            </a:r>
            <a:endParaRPr lang="en-US" altLang="zh-CN" dirty="0">
              <a:solidFill>
                <a:schemeClr val="bg1">
                  <a:lumMod val="50000"/>
                </a:schemeClr>
              </a:solidFill>
            </a:endParaRPr>
          </a:p>
        </p:txBody>
      </p:sp>
    </p:spTree>
    <p:extLst>
      <p:ext uri="{BB962C8B-B14F-4D97-AF65-F5344CB8AC3E}">
        <p14:creationId xmlns:p14="http://schemas.microsoft.com/office/powerpoint/2010/main" val="3370858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normAutofit fontScale="90000"/>
          </a:bodyPr>
          <a:lstStyle/>
          <a:p>
            <a:r>
              <a:rPr lang="zh-CN" altLang="en-US" sz="3600" dirty="0">
                <a:solidFill>
                  <a:schemeClr val="tx1"/>
                </a:solidFill>
                <a:latin typeface="+mn-ea"/>
              </a:rPr>
              <a:t>什么是广域网（覆盖范围）</a:t>
            </a:r>
            <a:endParaRPr lang="zh-CN" altLang="en-US" dirty="0">
              <a:solidFill>
                <a:schemeClr val="tx1"/>
              </a:solidFill>
              <a:latin typeface="+mn-ea"/>
            </a:endParaRPr>
          </a:p>
        </p:txBody>
      </p:sp>
      <p:sp>
        <p:nvSpPr>
          <p:cNvPr id="251" name="文本占位符 3"/>
          <p:cNvSpPr>
            <a:spLocks noGrp="1"/>
          </p:cNvSpPr>
          <p:nvPr>
            <p:ph type="body" sz="quarter" idx="10"/>
          </p:nvPr>
        </p:nvSpPr>
        <p:spPr bwMode="gray">
          <a:xfrm>
            <a:off x="455612" y="1047751"/>
            <a:ext cx="11293475" cy="1218510"/>
          </a:xfrm>
        </p:spPr>
        <p:txBody>
          <a:bodyPr/>
          <a:lstStyle/>
          <a:p>
            <a:r>
              <a:rPr lang="zh-CN" altLang="en-US" sz="1800" dirty="0"/>
              <a:t>广域网（</a:t>
            </a:r>
            <a:r>
              <a:rPr lang="en-US" altLang="zh-CN" sz="1800" dirty="0"/>
              <a:t>Wide Area Network</a:t>
            </a:r>
            <a:r>
              <a:rPr lang="zh-CN" altLang="en-US" sz="1800" dirty="0"/>
              <a:t>，</a:t>
            </a:r>
            <a:r>
              <a:rPr lang="en-US" altLang="zh-CN" sz="1800" dirty="0"/>
              <a:t>WAN</a:t>
            </a:r>
            <a:r>
              <a:rPr lang="zh-CN" altLang="en-US" sz="1800" dirty="0"/>
              <a:t>），提供不同地区、城市、国家之间的互联服务。广域网通常会跨越非常远的距离（几十公里到几千公里），为了满足广域网远距离传输的需求，经常使用光纤作为互联的媒介。</a:t>
            </a:r>
            <a:endParaRPr lang="en-US" altLang="zh-CN" sz="1800" dirty="0"/>
          </a:p>
        </p:txBody>
      </p:sp>
      <p:grpSp>
        <p:nvGrpSpPr>
          <p:cNvPr id="199" name="组合 198"/>
          <p:cNvGrpSpPr/>
          <p:nvPr/>
        </p:nvGrpSpPr>
        <p:grpSpPr bwMode="gray">
          <a:xfrm>
            <a:off x="3897983" y="3047338"/>
            <a:ext cx="4390674" cy="2282553"/>
            <a:chOff x="4389480" y="2636054"/>
            <a:chExt cx="4392389" cy="2283445"/>
          </a:xfrm>
        </p:grpSpPr>
        <p:sp>
          <p:nvSpPr>
            <p:cNvPr id="2" name="云形 1"/>
            <p:cNvSpPr/>
            <p:nvPr/>
          </p:nvSpPr>
          <p:spPr bwMode="gray">
            <a:xfrm rot="233957">
              <a:off x="4389480" y="2636054"/>
              <a:ext cx="4392389" cy="2283445"/>
            </a:xfrm>
            <a:prstGeom prst="cloud">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bwMode="gray">
            <a:xfrm>
              <a:off x="4738538" y="2843426"/>
              <a:ext cx="3747647" cy="1754249"/>
              <a:chOff x="7131150" y="1497022"/>
              <a:chExt cx="3724821" cy="1743566"/>
            </a:xfrm>
          </p:grpSpPr>
          <p:pic>
            <p:nvPicPr>
              <p:cNvPr id="34" name="图片 3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932043" y="1497022"/>
                <a:ext cx="540000" cy="442800"/>
              </a:xfrm>
              <a:prstGeom prst="rect">
                <a:avLst/>
              </a:prstGeom>
            </p:spPr>
          </p:pic>
          <p:pic>
            <p:nvPicPr>
              <p:cNvPr id="35" name="图片 3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932043" y="2797788"/>
                <a:ext cx="540000" cy="442800"/>
              </a:xfrm>
              <a:prstGeom prst="rect">
                <a:avLst/>
              </a:prstGeom>
            </p:spPr>
          </p:pic>
          <p:pic>
            <p:nvPicPr>
              <p:cNvPr id="42" name="图片 4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406564" y="1497022"/>
                <a:ext cx="540000" cy="442800"/>
              </a:xfrm>
              <a:prstGeom prst="rect">
                <a:avLst/>
              </a:prstGeom>
            </p:spPr>
          </p:pic>
          <p:pic>
            <p:nvPicPr>
              <p:cNvPr id="44" name="图片 4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406564" y="2797788"/>
                <a:ext cx="540000" cy="442800"/>
              </a:xfrm>
              <a:prstGeom prst="rect">
                <a:avLst/>
              </a:prstGeom>
            </p:spPr>
          </p:pic>
          <p:pic>
            <p:nvPicPr>
              <p:cNvPr id="46" name="图片 4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131150" y="2147404"/>
                <a:ext cx="540000" cy="442800"/>
              </a:xfrm>
              <a:prstGeom prst="rect">
                <a:avLst/>
              </a:prstGeom>
            </p:spPr>
          </p:pic>
          <p:pic>
            <p:nvPicPr>
              <p:cNvPr id="47" name="图片 4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315971" y="2166993"/>
                <a:ext cx="540000" cy="442800"/>
              </a:xfrm>
              <a:prstGeom prst="rect">
                <a:avLst/>
              </a:prstGeom>
            </p:spPr>
          </p:pic>
          <p:cxnSp>
            <p:nvCxnSpPr>
              <p:cNvPr id="5" name="直接连接符 4"/>
              <p:cNvCxnSpPr>
                <a:stCxn id="46" idx="0"/>
                <a:endCxn id="34" idx="1"/>
              </p:cNvCxnSpPr>
              <p:nvPr/>
            </p:nvCxnSpPr>
            <p:spPr bwMode="gray">
              <a:xfrm flipV="1">
                <a:off x="7401150" y="1718422"/>
                <a:ext cx="530893" cy="428981"/>
              </a:xfrm>
              <a:prstGeom prst="line">
                <a:avLst/>
              </a:prstGeom>
              <a:ln w="28575"/>
            </p:spPr>
            <p:style>
              <a:lnRef idx="3">
                <a:schemeClr val="dk1"/>
              </a:lnRef>
              <a:fillRef idx="0">
                <a:schemeClr val="dk1"/>
              </a:fillRef>
              <a:effectRef idx="2">
                <a:schemeClr val="dk1"/>
              </a:effectRef>
              <a:fontRef idx="minor">
                <a:schemeClr val="tx1"/>
              </a:fontRef>
            </p:style>
          </p:cxnSp>
          <p:cxnSp>
            <p:nvCxnSpPr>
              <p:cNvPr id="58" name="直接连接符 57"/>
              <p:cNvCxnSpPr>
                <a:stCxn id="34" idx="3"/>
                <a:endCxn id="42" idx="1"/>
              </p:cNvCxnSpPr>
              <p:nvPr/>
            </p:nvCxnSpPr>
            <p:spPr bwMode="gray">
              <a:xfrm>
                <a:off x="8472043" y="1718422"/>
                <a:ext cx="934521"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59" name="直接连接符 58"/>
              <p:cNvCxnSpPr>
                <a:stCxn id="35" idx="3"/>
                <a:endCxn id="44" idx="1"/>
              </p:cNvCxnSpPr>
              <p:nvPr/>
            </p:nvCxnSpPr>
            <p:spPr bwMode="gray">
              <a:xfrm>
                <a:off x="8472043" y="3019188"/>
                <a:ext cx="934521" cy="0"/>
              </a:xfrm>
              <a:prstGeom prst="line">
                <a:avLst/>
              </a:prstGeom>
              <a:ln w="28575"/>
            </p:spPr>
            <p:style>
              <a:lnRef idx="3">
                <a:schemeClr val="dk1"/>
              </a:lnRef>
              <a:fillRef idx="0">
                <a:schemeClr val="dk1"/>
              </a:fillRef>
              <a:effectRef idx="2">
                <a:schemeClr val="dk1"/>
              </a:effectRef>
              <a:fontRef idx="minor">
                <a:schemeClr val="tx1"/>
              </a:fontRef>
            </p:style>
          </p:cxnSp>
          <p:cxnSp>
            <p:nvCxnSpPr>
              <p:cNvPr id="60" name="直接连接符 59"/>
              <p:cNvCxnSpPr>
                <a:stCxn id="46" idx="2"/>
                <a:endCxn id="35" idx="1"/>
              </p:cNvCxnSpPr>
              <p:nvPr/>
            </p:nvCxnSpPr>
            <p:spPr bwMode="gray">
              <a:xfrm>
                <a:off x="7401150" y="2590203"/>
                <a:ext cx="530893" cy="428985"/>
              </a:xfrm>
              <a:prstGeom prst="line">
                <a:avLst/>
              </a:prstGeom>
              <a:ln w="28575"/>
            </p:spPr>
            <p:style>
              <a:lnRef idx="3">
                <a:schemeClr val="dk1"/>
              </a:lnRef>
              <a:fillRef idx="0">
                <a:schemeClr val="dk1"/>
              </a:fillRef>
              <a:effectRef idx="2">
                <a:schemeClr val="dk1"/>
              </a:effectRef>
              <a:fontRef idx="minor">
                <a:schemeClr val="tx1"/>
              </a:fontRef>
            </p:style>
          </p:cxnSp>
          <p:cxnSp>
            <p:nvCxnSpPr>
              <p:cNvPr id="64" name="直接连接符 63"/>
              <p:cNvCxnSpPr>
                <a:stCxn id="42" idx="3"/>
                <a:endCxn id="47" idx="0"/>
              </p:cNvCxnSpPr>
              <p:nvPr/>
            </p:nvCxnSpPr>
            <p:spPr bwMode="gray">
              <a:xfrm>
                <a:off x="9946564" y="1718422"/>
                <a:ext cx="639408" cy="448570"/>
              </a:xfrm>
              <a:prstGeom prst="line">
                <a:avLst/>
              </a:prstGeom>
              <a:ln w="28575"/>
            </p:spPr>
            <p:style>
              <a:lnRef idx="3">
                <a:schemeClr val="dk1"/>
              </a:lnRef>
              <a:fillRef idx="0">
                <a:schemeClr val="dk1"/>
              </a:fillRef>
              <a:effectRef idx="2">
                <a:schemeClr val="dk1"/>
              </a:effectRef>
              <a:fontRef idx="minor">
                <a:schemeClr val="tx1"/>
              </a:fontRef>
            </p:style>
          </p:cxnSp>
          <p:cxnSp>
            <p:nvCxnSpPr>
              <p:cNvPr id="67" name="直接连接符 66"/>
              <p:cNvCxnSpPr>
                <a:stCxn id="44" idx="3"/>
                <a:endCxn id="47" idx="2"/>
              </p:cNvCxnSpPr>
              <p:nvPr/>
            </p:nvCxnSpPr>
            <p:spPr bwMode="gray">
              <a:xfrm flipV="1">
                <a:off x="9946564" y="2609792"/>
                <a:ext cx="639408" cy="409396"/>
              </a:xfrm>
              <a:prstGeom prst="line">
                <a:avLst/>
              </a:prstGeom>
              <a:ln w="28575"/>
            </p:spPr>
            <p:style>
              <a:lnRef idx="3">
                <a:schemeClr val="dk1"/>
              </a:lnRef>
              <a:fillRef idx="0">
                <a:schemeClr val="dk1"/>
              </a:fillRef>
              <a:effectRef idx="2">
                <a:schemeClr val="dk1"/>
              </a:effectRef>
              <a:fontRef idx="minor">
                <a:schemeClr val="tx1"/>
              </a:fontRef>
            </p:style>
          </p:cxnSp>
          <p:cxnSp>
            <p:nvCxnSpPr>
              <p:cNvPr id="70" name="直接连接符 69"/>
              <p:cNvCxnSpPr>
                <a:stCxn id="34" idx="2"/>
                <a:endCxn id="35" idx="0"/>
              </p:cNvCxnSpPr>
              <p:nvPr/>
            </p:nvCxnSpPr>
            <p:spPr bwMode="gray">
              <a:xfrm>
                <a:off x="8202043" y="1939822"/>
                <a:ext cx="0" cy="857966"/>
              </a:xfrm>
              <a:prstGeom prst="line">
                <a:avLst/>
              </a:prstGeom>
              <a:ln w="28575"/>
            </p:spPr>
            <p:style>
              <a:lnRef idx="3">
                <a:schemeClr val="dk1"/>
              </a:lnRef>
              <a:fillRef idx="0">
                <a:schemeClr val="dk1"/>
              </a:fillRef>
              <a:effectRef idx="2">
                <a:schemeClr val="dk1"/>
              </a:effectRef>
              <a:fontRef idx="minor">
                <a:schemeClr val="tx1"/>
              </a:fontRef>
            </p:style>
          </p:cxnSp>
          <p:cxnSp>
            <p:nvCxnSpPr>
              <p:cNvPr id="71" name="直接连接符 70"/>
              <p:cNvCxnSpPr>
                <a:stCxn id="42" idx="2"/>
                <a:endCxn id="44" idx="0"/>
              </p:cNvCxnSpPr>
              <p:nvPr/>
            </p:nvCxnSpPr>
            <p:spPr bwMode="gray">
              <a:xfrm>
                <a:off x="9676564" y="1939822"/>
                <a:ext cx="0" cy="857966"/>
              </a:xfrm>
              <a:prstGeom prst="line">
                <a:avLst/>
              </a:prstGeom>
              <a:ln w="28575"/>
            </p:spPr>
            <p:style>
              <a:lnRef idx="3">
                <a:schemeClr val="dk1"/>
              </a:lnRef>
              <a:fillRef idx="0">
                <a:schemeClr val="dk1"/>
              </a:fillRef>
              <a:effectRef idx="2">
                <a:schemeClr val="dk1"/>
              </a:effectRef>
              <a:fontRef idx="minor">
                <a:schemeClr val="tx1"/>
              </a:fontRef>
            </p:style>
          </p:cxnSp>
        </p:grpSp>
      </p:grpSp>
      <p:grpSp>
        <p:nvGrpSpPr>
          <p:cNvPr id="195" name="组合 194"/>
          <p:cNvGrpSpPr/>
          <p:nvPr/>
        </p:nvGrpSpPr>
        <p:grpSpPr bwMode="gray">
          <a:xfrm>
            <a:off x="1211018" y="2493768"/>
            <a:ext cx="2448124" cy="1338753"/>
            <a:chOff x="1555644" y="1912445"/>
            <a:chExt cx="2449080" cy="1339276"/>
          </a:xfrm>
        </p:grpSpPr>
        <p:sp>
          <p:nvSpPr>
            <p:cNvPr id="112" name="云形 111"/>
            <p:cNvSpPr/>
            <p:nvPr/>
          </p:nvSpPr>
          <p:spPr bwMode="gray">
            <a:xfrm rot="233957">
              <a:off x="1555644" y="2047913"/>
              <a:ext cx="2315620" cy="1203808"/>
            </a:xfrm>
            <a:prstGeom prst="cloud">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3" name="组合 192"/>
            <p:cNvGrpSpPr/>
            <p:nvPr/>
          </p:nvGrpSpPr>
          <p:grpSpPr bwMode="gray">
            <a:xfrm>
              <a:off x="1901910" y="1912445"/>
              <a:ext cx="2102814" cy="1295793"/>
              <a:chOff x="1901910" y="1912445"/>
              <a:chExt cx="2102814" cy="1295793"/>
            </a:xfrm>
          </p:grpSpPr>
          <p:pic>
            <p:nvPicPr>
              <p:cNvPr id="87" name="图片 8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464724" y="2743055"/>
                <a:ext cx="540000" cy="442800"/>
              </a:xfrm>
              <a:prstGeom prst="rect">
                <a:avLst/>
              </a:prstGeom>
            </p:spPr>
          </p:pic>
          <p:pic>
            <p:nvPicPr>
              <p:cNvPr id="113" name="图片 112" descr="交换机.png"/>
              <p:cNvPicPr>
                <a:picLocks noChangeAspect="1"/>
              </p:cNvPicPr>
              <p:nvPr/>
            </p:nvPicPr>
            <p:blipFill>
              <a:blip r:embed="rId5" cstate="print"/>
              <a:stretch>
                <a:fillRect/>
              </a:stretch>
            </p:blipFill>
            <p:spPr bwMode="gray">
              <a:xfrm>
                <a:off x="1901910" y="2766421"/>
                <a:ext cx="540000" cy="441817"/>
              </a:xfrm>
              <a:prstGeom prst="rect">
                <a:avLst/>
              </a:prstGeom>
            </p:spPr>
          </p:pic>
          <p:pic>
            <p:nvPicPr>
              <p:cNvPr id="116" name="图片 115" descr="存储阵列-蓝.png"/>
              <p:cNvPicPr>
                <a:picLocks noChangeAspect="1"/>
              </p:cNvPicPr>
              <p:nvPr/>
            </p:nvPicPr>
            <p:blipFill>
              <a:blip r:embed="rId6" cstate="print"/>
              <a:stretch>
                <a:fillRect/>
              </a:stretch>
            </p:blipFill>
            <p:spPr bwMode="gray">
              <a:xfrm>
                <a:off x="2664357" y="1912445"/>
                <a:ext cx="540000" cy="441818"/>
              </a:xfrm>
              <a:prstGeom prst="rect">
                <a:avLst/>
              </a:prstGeom>
            </p:spPr>
          </p:pic>
          <p:cxnSp>
            <p:nvCxnSpPr>
              <p:cNvPr id="133" name="直接连接符 132"/>
              <p:cNvCxnSpPr>
                <a:stCxn id="113" idx="3"/>
                <a:endCxn id="87" idx="1"/>
              </p:cNvCxnSpPr>
              <p:nvPr/>
            </p:nvCxnSpPr>
            <p:spPr bwMode="gray">
              <a:xfrm flipV="1">
                <a:off x="2441910" y="2964455"/>
                <a:ext cx="1022814" cy="22875"/>
              </a:xfrm>
              <a:prstGeom prst="line">
                <a:avLst/>
              </a:prstGeom>
              <a:ln w="28575"/>
            </p:spPr>
            <p:style>
              <a:lnRef idx="3">
                <a:schemeClr val="dk1"/>
              </a:lnRef>
              <a:fillRef idx="0">
                <a:schemeClr val="dk1"/>
              </a:fillRef>
              <a:effectRef idx="2">
                <a:schemeClr val="dk1"/>
              </a:effectRef>
              <a:fontRef idx="minor">
                <a:schemeClr val="tx1"/>
              </a:fontRef>
            </p:style>
          </p:cxnSp>
          <p:cxnSp>
            <p:nvCxnSpPr>
              <p:cNvPr id="134" name="直接连接符 133"/>
              <p:cNvCxnSpPr>
                <a:stCxn id="116" idx="3"/>
                <a:endCxn id="87" idx="0"/>
              </p:cNvCxnSpPr>
              <p:nvPr/>
            </p:nvCxnSpPr>
            <p:spPr bwMode="gray">
              <a:xfrm>
                <a:off x="3204357" y="2133354"/>
                <a:ext cx="530367" cy="609701"/>
              </a:xfrm>
              <a:prstGeom prst="line">
                <a:avLst/>
              </a:prstGeom>
              <a:ln w="28575"/>
            </p:spPr>
            <p:style>
              <a:lnRef idx="3">
                <a:schemeClr val="dk1"/>
              </a:lnRef>
              <a:fillRef idx="0">
                <a:schemeClr val="dk1"/>
              </a:fillRef>
              <a:effectRef idx="2">
                <a:schemeClr val="dk1"/>
              </a:effectRef>
              <a:fontRef idx="minor">
                <a:schemeClr val="tx1"/>
              </a:fontRef>
            </p:style>
          </p:cxnSp>
          <p:sp>
            <p:nvSpPr>
              <p:cNvPr id="168" name="文本框 167"/>
              <p:cNvSpPr txBox="1"/>
              <p:nvPr/>
            </p:nvSpPr>
            <p:spPr bwMode="gray">
              <a:xfrm>
                <a:off x="2604007" y="2496106"/>
                <a:ext cx="444526" cy="307897"/>
              </a:xfrm>
              <a:prstGeom prst="rect">
                <a:avLst/>
              </a:prstGeom>
              <a:noFill/>
            </p:spPr>
            <p:txBody>
              <a:bodyPr wrap="none" rtlCol="0">
                <a:spAutoFit/>
              </a:bodyPr>
              <a:lstStyle/>
              <a:p>
                <a:r>
                  <a:rPr lang="en-US" altLang="zh-CN" sz="1400" dirty="0"/>
                  <a:t>DC</a:t>
                </a:r>
                <a:endParaRPr lang="zh-CN" altLang="en-US" sz="1400" dirty="0"/>
              </a:p>
            </p:txBody>
          </p:sp>
        </p:grpSp>
      </p:grpSp>
      <p:grpSp>
        <p:nvGrpSpPr>
          <p:cNvPr id="221" name="组合 220"/>
          <p:cNvGrpSpPr/>
          <p:nvPr/>
        </p:nvGrpSpPr>
        <p:grpSpPr bwMode="gray">
          <a:xfrm>
            <a:off x="8498923" y="2399608"/>
            <a:ext cx="2341653" cy="1450925"/>
            <a:chOff x="8642591" y="2831501"/>
            <a:chExt cx="2342568" cy="1451492"/>
          </a:xfrm>
        </p:grpSpPr>
        <p:grpSp>
          <p:nvGrpSpPr>
            <p:cNvPr id="197" name="组合 196"/>
            <p:cNvGrpSpPr/>
            <p:nvPr/>
          </p:nvGrpSpPr>
          <p:grpSpPr bwMode="gray">
            <a:xfrm>
              <a:off x="8642591" y="2831501"/>
              <a:ext cx="2315620" cy="1451492"/>
              <a:chOff x="8933344" y="1275020"/>
              <a:chExt cx="2315620" cy="1451492"/>
            </a:xfrm>
          </p:grpSpPr>
          <p:sp>
            <p:nvSpPr>
              <p:cNvPr id="126" name="云形 125"/>
              <p:cNvSpPr/>
              <p:nvPr/>
            </p:nvSpPr>
            <p:spPr bwMode="gray">
              <a:xfrm rot="233957">
                <a:off x="8933344" y="1275020"/>
                <a:ext cx="2315620" cy="1451492"/>
              </a:xfrm>
              <a:prstGeom prst="cloud">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1" name="组合 190"/>
              <p:cNvGrpSpPr/>
              <p:nvPr/>
            </p:nvGrpSpPr>
            <p:grpSpPr bwMode="gray">
              <a:xfrm>
                <a:off x="9216519" y="1314167"/>
                <a:ext cx="1763987" cy="1286194"/>
                <a:chOff x="9216519" y="1314167"/>
                <a:chExt cx="1763987" cy="1286194"/>
              </a:xfrm>
            </p:grpSpPr>
            <p:pic>
              <p:nvPicPr>
                <p:cNvPr id="125" name="图片 124" descr="汇聚交换机.png"/>
                <p:cNvPicPr>
                  <a:picLocks noChangeAspect="1"/>
                </p:cNvPicPr>
                <p:nvPr/>
              </p:nvPicPr>
              <p:blipFill>
                <a:blip r:embed="rId7" cstate="print"/>
                <a:stretch>
                  <a:fillRect/>
                </a:stretch>
              </p:blipFill>
              <p:spPr bwMode="gray">
                <a:xfrm>
                  <a:off x="9216519" y="2158543"/>
                  <a:ext cx="540000" cy="441818"/>
                </a:xfrm>
                <a:prstGeom prst="rect">
                  <a:avLst/>
                </a:prstGeom>
              </p:spPr>
            </p:pic>
            <p:pic>
              <p:nvPicPr>
                <p:cNvPr id="127" name="图片 126" descr="酒店-蓝.png"/>
                <p:cNvPicPr>
                  <a:picLocks noChangeAspect="1"/>
                </p:cNvPicPr>
                <p:nvPr/>
              </p:nvPicPr>
              <p:blipFill>
                <a:blip r:embed="rId8" cstate="print"/>
                <a:stretch>
                  <a:fillRect/>
                </a:stretch>
              </p:blipFill>
              <p:spPr bwMode="gray">
                <a:xfrm>
                  <a:off x="9314433" y="1314167"/>
                  <a:ext cx="674076" cy="551917"/>
                </a:xfrm>
                <a:prstGeom prst="rect">
                  <a:avLst/>
                </a:prstGeom>
              </p:spPr>
            </p:pic>
            <p:pic>
              <p:nvPicPr>
                <p:cNvPr id="129" name="图片 128"/>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10440506" y="1747567"/>
                  <a:ext cx="540000" cy="442800"/>
                </a:xfrm>
                <a:prstGeom prst="rect">
                  <a:avLst/>
                </a:prstGeom>
              </p:spPr>
            </p:pic>
            <p:cxnSp>
              <p:nvCxnSpPr>
                <p:cNvPr id="176" name="直接连接符 175"/>
                <p:cNvCxnSpPr>
                  <a:stCxn id="125" idx="3"/>
                  <a:endCxn id="129" idx="1"/>
                </p:cNvCxnSpPr>
                <p:nvPr/>
              </p:nvCxnSpPr>
              <p:spPr bwMode="gray">
                <a:xfrm flipV="1">
                  <a:off x="9756519" y="1968967"/>
                  <a:ext cx="683987" cy="410485"/>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200" name="文本框 199"/>
            <p:cNvSpPr txBox="1"/>
            <p:nvPr/>
          </p:nvSpPr>
          <p:spPr bwMode="gray">
            <a:xfrm>
              <a:off x="10232736" y="3816723"/>
              <a:ext cx="752423" cy="307897"/>
            </a:xfrm>
            <a:prstGeom prst="rect">
              <a:avLst/>
            </a:prstGeom>
            <a:noFill/>
          </p:spPr>
          <p:txBody>
            <a:bodyPr wrap="none" rtlCol="0">
              <a:spAutoFit/>
            </a:bodyPr>
            <a:lstStyle/>
            <a:p>
              <a:r>
                <a:rPr lang="en-US" altLang="zh-CN" sz="1400" dirty="0"/>
                <a:t>Branch</a:t>
              </a:r>
              <a:endParaRPr lang="zh-CN" altLang="en-US" sz="1400" dirty="0"/>
            </a:p>
          </p:txBody>
        </p:sp>
      </p:grpSp>
      <p:grpSp>
        <p:nvGrpSpPr>
          <p:cNvPr id="219" name="组合 218"/>
          <p:cNvGrpSpPr/>
          <p:nvPr/>
        </p:nvGrpSpPr>
        <p:grpSpPr bwMode="gray">
          <a:xfrm>
            <a:off x="1166913" y="4553739"/>
            <a:ext cx="2557096" cy="1233538"/>
            <a:chOff x="1307715" y="4986474"/>
            <a:chExt cx="2558095" cy="1234020"/>
          </a:xfrm>
        </p:grpSpPr>
        <p:grpSp>
          <p:nvGrpSpPr>
            <p:cNvPr id="196" name="组合 195"/>
            <p:cNvGrpSpPr/>
            <p:nvPr/>
          </p:nvGrpSpPr>
          <p:grpSpPr bwMode="gray">
            <a:xfrm>
              <a:off x="1307715" y="4986474"/>
              <a:ext cx="2558095" cy="1203808"/>
              <a:chOff x="1427096" y="4553681"/>
              <a:chExt cx="2558095" cy="1203808"/>
            </a:xfrm>
          </p:grpSpPr>
          <p:sp>
            <p:nvSpPr>
              <p:cNvPr id="109" name="云形 108"/>
              <p:cNvSpPr/>
              <p:nvPr/>
            </p:nvSpPr>
            <p:spPr bwMode="gray">
              <a:xfrm rot="233957">
                <a:off x="1555644" y="4553681"/>
                <a:ext cx="2315620" cy="1203808"/>
              </a:xfrm>
              <a:prstGeom prst="cloud">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4" name="组合 193"/>
              <p:cNvGrpSpPr/>
              <p:nvPr/>
            </p:nvGrpSpPr>
            <p:grpSpPr bwMode="gray">
              <a:xfrm>
                <a:off x="1427096" y="4586944"/>
                <a:ext cx="2558095" cy="1115205"/>
                <a:chOff x="1427096" y="4586944"/>
                <a:chExt cx="2558095" cy="1115205"/>
              </a:xfrm>
            </p:grpSpPr>
            <p:pic>
              <p:nvPicPr>
                <p:cNvPr id="80" name="图片 79"/>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3445191" y="4863243"/>
                  <a:ext cx="540000" cy="442800"/>
                </a:xfrm>
                <a:prstGeom prst="rect">
                  <a:avLst/>
                </a:prstGeom>
              </p:spPr>
            </p:pic>
            <p:pic>
              <p:nvPicPr>
                <p:cNvPr id="103" name="图片 102"/>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1427096" y="4951410"/>
                  <a:ext cx="540000" cy="442800"/>
                </a:xfrm>
                <a:prstGeom prst="rect">
                  <a:avLst/>
                </a:prstGeom>
              </p:spPr>
            </p:pic>
            <p:pic>
              <p:nvPicPr>
                <p:cNvPr id="105" name="图片 104"/>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2463753" y="4586944"/>
                  <a:ext cx="540000" cy="471502"/>
                </a:xfrm>
                <a:prstGeom prst="rect">
                  <a:avLst/>
                </a:prstGeom>
              </p:spPr>
            </p:pic>
            <p:pic>
              <p:nvPicPr>
                <p:cNvPr id="110" name="图片 109"/>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1647729" y="5142878"/>
                  <a:ext cx="540000" cy="442800"/>
                </a:xfrm>
                <a:prstGeom prst="rect">
                  <a:avLst/>
                </a:prstGeom>
              </p:spPr>
            </p:pic>
            <p:pic>
              <p:nvPicPr>
                <p:cNvPr id="111" name="图片 110"/>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1917729" y="5259349"/>
                  <a:ext cx="540000" cy="442800"/>
                </a:xfrm>
                <a:prstGeom prst="rect">
                  <a:avLst/>
                </a:prstGeom>
              </p:spPr>
            </p:pic>
            <p:cxnSp>
              <p:nvCxnSpPr>
                <p:cNvPr id="131" name="直接连接符 130"/>
                <p:cNvCxnSpPr>
                  <a:stCxn id="111" idx="3"/>
                  <a:endCxn id="80" idx="1"/>
                </p:cNvCxnSpPr>
                <p:nvPr/>
              </p:nvCxnSpPr>
              <p:spPr bwMode="gray">
                <a:xfrm flipV="1">
                  <a:off x="2457729" y="5084643"/>
                  <a:ext cx="987462" cy="396106"/>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201" name="矩形 200"/>
            <p:cNvSpPr/>
            <p:nvPr/>
          </p:nvSpPr>
          <p:spPr bwMode="gray">
            <a:xfrm>
              <a:off x="2413408" y="5912597"/>
              <a:ext cx="1268791" cy="307897"/>
            </a:xfrm>
            <a:prstGeom prst="rect">
              <a:avLst/>
            </a:prstGeom>
          </p:spPr>
          <p:txBody>
            <a:bodyPr wrap="none">
              <a:spAutoFit/>
            </a:bodyPr>
            <a:lstStyle/>
            <a:p>
              <a:r>
                <a:rPr lang="en-US" altLang="zh-CN" sz="1400" dirty="0"/>
                <a:t>Headquarters</a:t>
              </a:r>
              <a:endParaRPr lang="zh-CN" altLang="en-US" sz="1400" dirty="0"/>
            </a:p>
          </p:txBody>
        </p:sp>
      </p:grpSp>
      <p:grpSp>
        <p:nvGrpSpPr>
          <p:cNvPr id="220" name="组合 219"/>
          <p:cNvGrpSpPr/>
          <p:nvPr/>
        </p:nvGrpSpPr>
        <p:grpSpPr bwMode="gray">
          <a:xfrm>
            <a:off x="8648699" y="4117062"/>
            <a:ext cx="2483261" cy="1684632"/>
            <a:chOff x="8792424" y="4549624"/>
            <a:chExt cx="2484231" cy="1685290"/>
          </a:xfrm>
        </p:grpSpPr>
        <p:grpSp>
          <p:nvGrpSpPr>
            <p:cNvPr id="198" name="组合 197"/>
            <p:cNvGrpSpPr/>
            <p:nvPr/>
          </p:nvGrpSpPr>
          <p:grpSpPr bwMode="gray">
            <a:xfrm>
              <a:off x="8792424" y="4549624"/>
              <a:ext cx="2315620" cy="1539415"/>
              <a:chOff x="9144850" y="3941334"/>
              <a:chExt cx="2315620" cy="1539415"/>
            </a:xfrm>
          </p:grpSpPr>
          <p:sp>
            <p:nvSpPr>
              <p:cNvPr id="121" name="云形 120"/>
              <p:cNvSpPr/>
              <p:nvPr/>
            </p:nvSpPr>
            <p:spPr bwMode="gray">
              <a:xfrm rot="233957">
                <a:off x="9144850" y="3991667"/>
                <a:ext cx="2315620" cy="1451492"/>
              </a:xfrm>
              <a:prstGeom prst="cloud">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2" name="组合 191"/>
              <p:cNvGrpSpPr/>
              <p:nvPr/>
            </p:nvGrpSpPr>
            <p:grpSpPr bwMode="gray">
              <a:xfrm>
                <a:off x="9179103" y="3941334"/>
                <a:ext cx="2060068" cy="1539415"/>
                <a:chOff x="9179103" y="3941334"/>
                <a:chExt cx="2060068" cy="1539415"/>
              </a:xfrm>
            </p:grpSpPr>
            <p:pic>
              <p:nvPicPr>
                <p:cNvPr id="102" name="图片 101"/>
                <p:cNvPicPr>
                  <a:picLocks/>
                </p:cNvPicPr>
                <p:nvPr/>
              </p:nvPicPr>
              <p:blipFill>
                <a:blip r:embed="rId12" cstate="print">
                  <a:extLst>
                    <a:ext uri="{28A0092B-C50C-407E-A947-70E740481C1C}">
                      <a14:useLocalDpi xmlns:a14="http://schemas.microsoft.com/office/drawing/2010/main" val="0"/>
                    </a:ext>
                  </a:extLst>
                </a:blip>
                <a:stretch>
                  <a:fillRect/>
                </a:stretch>
              </p:blipFill>
              <p:spPr bwMode="gray">
                <a:xfrm>
                  <a:off x="10680726" y="4113835"/>
                  <a:ext cx="540000" cy="442800"/>
                </a:xfrm>
                <a:prstGeom prst="rect">
                  <a:avLst/>
                </a:prstGeom>
              </p:spPr>
            </p:pic>
            <p:pic>
              <p:nvPicPr>
                <p:cNvPr id="106" name="图片 105"/>
                <p:cNvPicPr>
                  <a:picLocks/>
                </p:cNvPicPr>
                <p:nvPr/>
              </p:nvPicPr>
              <p:blipFill>
                <a:blip r:embed="rId13" cstate="print">
                  <a:extLst>
                    <a:ext uri="{28A0092B-C50C-407E-A947-70E740481C1C}">
                      <a14:useLocalDpi xmlns:a14="http://schemas.microsoft.com/office/drawing/2010/main" val="0"/>
                    </a:ext>
                  </a:extLst>
                </a:blip>
                <a:stretch>
                  <a:fillRect/>
                </a:stretch>
              </p:blipFill>
              <p:spPr bwMode="gray">
                <a:xfrm>
                  <a:off x="9778633" y="3941334"/>
                  <a:ext cx="540000" cy="470114"/>
                </a:xfrm>
                <a:prstGeom prst="rect">
                  <a:avLst/>
                </a:prstGeom>
              </p:spPr>
            </p:pic>
            <p:pic>
              <p:nvPicPr>
                <p:cNvPr id="107" name="图片 106"/>
                <p:cNvPicPr>
                  <a:picLocks/>
                </p:cNvPicPr>
                <p:nvPr/>
              </p:nvPicPr>
              <p:blipFill>
                <a:blip r:embed="rId14" cstate="print">
                  <a:extLst>
                    <a:ext uri="{28A0092B-C50C-407E-A947-70E740481C1C}">
                      <a14:useLocalDpi xmlns:a14="http://schemas.microsoft.com/office/drawing/2010/main" val="0"/>
                    </a:ext>
                  </a:extLst>
                </a:blip>
                <a:stretch>
                  <a:fillRect/>
                </a:stretch>
              </p:blipFill>
              <p:spPr bwMode="gray">
                <a:xfrm>
                  <a:off x="9815523" y="5037949"/>
                  <a:ext cx="540000" cy="442800"/>
                </a:xfrm>
                <a:prstGeom prst="rect">
                  <a:avLst/>
                </a:prstGeom>
              </p:spPr>
            </p:pic>
            <p:pic>
              <p:nvPicPr>
                <p:cNvPr id="118" name="图片 117"/>
                <p:cNvPicPr>
                  <a:picLocks/>
                </p:cNvPicPr>
                <p:nvPr/>
              </p:nvPicPr>
              <p:blipFill>
                <a:blip r:embed="rId12" cstate="print">
                  <a:extLst>
                    <a:ext uri="{28A0092B-C50C-407E-A947-70E740481C1C}">
                      <a14:useLocalDpi xmlns:a14="http://schemas.microsoft.com/office/drawing/2010/main" val="0"/>
                    </a:ext>
                  </a:extLst>
                </a:blip>
                <a:stretch>
                  <a:fillRect/>
                </a:stretch>
              </p:blipFill>
              <p:spPr bwMode="gray">
                <a:xfrm>
                  <a:off x="10699171" y="4826981"/>
                  <a:ext cx="540000" cy="442800"/>
                </a:xfrm>
                <a:prstGeom prst="rect">
                  <a:avLst/>
                </a:prstGeom>
              </p:spPr>
            </p:pic>
            <p:pic>
              <p:nvPicPr>
                <p:cNvPr id="184" name="图片 183" descr="DSLAM-蓝.png"/>
                <p:cNvPicPr>
                  <a:picLocks noChangeAspect="1"/>
                </p:cNvPicPr>
                <p:nvPr/>
              </p:nvPicPr>
              <p:blipFill>
                <a:blip r:embed="rId15" cstate="print"/>
                <a:stretch>
                  <a:fillRect/>
                </a:stretch>
              </p:blipFill>
              <p:spPr bwMode="gray">
                <a:xfrm>
                  <a:off x="9179103" y="4512661"/>
                  <a:ext cx="514483" cy="406296"/>
                </a:xfrm>
                <a:prstGeom prst="rect">
                  <a:avLst/>
                </a:prstGeom>
              </p:spPr>
            </p:pic>
            <p:cxnSp>
              <p:nvCxnSpPr>
                <p:cNvPr id="185" name="直接连接符 184"/>
                <p:cNvCxnSpPr>
                  <a:stCxn id="184" idx="3"/>
                  <a:endCxn id="102" idx="1"/>
                </p:cNvCxnSpPr>
                <p:nvPr/>
              </p:nvCxnSpPr>
              <p:spPr bwMode="gray">
                <a:xfrm flipV="1">
                  <a:off x="9693586" y="4335235"/>
                  <a:ext cx="987140" cy="380574"/>
                </a:xfrm>
                <a:prstGeom prst="line">
                  <a:avLst/>
                </a:prstGeom>
                <a:ln w="28575"/>
              </p:spPr>
              <p:style>
                <a:lnRef idx="3">
                  <a:schemeClr val="dk1"/>
                </a:lnRef>
                <a:fillRef idx="0">
                  <a:schemeClr val="dk1"/>
                </a:fillRef>
                <a:effectRef idx="2">
                  <a:schemeClr val="dk1"/>
                </a:effectRef>
                <a:fontRef idx="minor">
                  <a:schemeClr val="tx1"/>
                </a:fontRef>
              </p:style>
            </p:cxnSp>
            <p:cxnSp>
              <p:nvCxnSpPr>
                <p:cNvPr id="188" name="直接连接符 187"/>
                <p:cNvCxnSpPr>
                  <a:stCxn id="184" idx="3"/>
                  <a:endCxn id="118" idx="1"/>
                </p:cNvCxnSpPr>
                <p:nvPr/>
              </p:nvCxnSpPr>
              <p:spPr bwMode="gray">
                <a:xfrm>
                  <a:off x="9693586" y="4715809"/>
                  <a:ext cx="1005585" cy="332572"/>
                </a:xfrm>
                <a:prstGeom prst="line">
                  <a:avLst/>
                </a:prstGeom>
                <a:ln w="28575"/>
              </p:spPr>
              <p:style>
                <a:lnRef idx="3">
                  <a:schemeClr val="dk1"/>
                </a:lnRef>
                <a:fillRef idx="0">
                  <a:schemeClr val="dk1"/>
                </a:fillRef>
                <a:effectRef idx="2">
                  <a:schemeClr val="dk1"/>
                </a:effectRef>
                <a:fontRef idx="minor">
                  <a:schemeClr val="tx1"/>
                </a:fontRef>
              </p:style>
            </p:cxnSp>
          </p:grpSp>
        </p:grpSp>
        <p:sp>
          <p:nvSpPr>
            <p:cNvPr id="202" name="矩形 201"/>
            <p:cNvSpPr/>
            <p:nvPr/>
          </p:nvSpPr>
          <p:spPr bwMode="gray">
            <a:xfrm>
              <a:off x="10230889" y="5927017"/>
              <a:ext cx="1045766" cy="307897"/>
            </a:xfrm>
            <a:prstGeom prst="rect">
              <a:avLst/>
            </a:prstGeom>
          </p:spPr>
          <p:txBody>
            <a:bodyPr wrap="square">
              <a:spAutoFit/>
            </a:bodyPr>
            <a:lstStyle/>
            <a:p>
              <a:r>
                <a:rPr lang="en-US" altLang="zh-CN" sz="1400" dirty="0"/>
                <a:t>Residents</a:t>
              </a:r>
              <a:endParaRPr lang="zh-CN" altLang="en-US" sz="1400" dirty="0"/>
            </a:p>
          </p:txBody>
        </p:sp>
      </p:grpSp>
      <p:sp>
        <p:nvSpPr>
          <p:cNvPr id="242" name="圆角矩形 241"/>
          <p:cNvSpPr/>
          <p:nvPr/>
        </p:nvSpPr>
        <p:spPr bwMode="gray">
          <a:xfrm>
            <a:off x="794388" y="2096314"/>
            <a:ext cx="10597863" cy="3845453"/>
          </a:xfrm>
          <a:prstGeom prst="roundRect">
            <a:avLst>
              <a:gd name="adj" fmla="val 460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244" name="直接连接符 243"/>
          <p:cNvCxnSpPr/>
          <p:nvPr/>
        </p:nvCxnSpPr>
        <p:spPr bwMode="gray">
          <a:xfrm>
            <a:off x="3825453" y="2106477"/>
            <a:ext cx="0" cy="3845453"/>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bwMode="gray">
          <a:xfrm>
            <a:off x="8338012" y="2113164"/>
            <a:ext cx="0" cy="3813194"/>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48" name="文本框 247"/>
          <p:cNvSpPr txBox="1"/>
          <p:nvPr/>
        </p:nvSpPr>
        <p:spPr bwMode="gray">
          <a:xfrm>
            <a:off x="1900294" y="2125050"/>
            <a:ext cx="628698" cy="369332"/>
          </a:xfrm>
          <a:prstGeom prst="rect">
            <a:avLst/>
          </a:prstGeom>
          <a:noFill/>
        </p:spPr>
        <p:txBody>
          <a:bodyPr wrap="none" rtlCol="0">
            <a:spAutoFit/>
          </a:bodyPr>
          <a:lstStyle/>
          <a:p>
            <a:r>
              <a:rPr lang="en-US" altLang="zh-CN" dirty="0">
                <a:solidFill>
                  <a:srgbClr val="56C4D2"/>
                </a:solidFill>
                <a:cs typeface="+mn-ea"/>
              </a:rPr>
              <a:t>LAN</a:t>
            </a:r>
            <a:endParaRPr lang="zh-CN" altLang="en-US" dirty="0">
              <a:solidFill>
                <a:srgbClr val="56C4D2"/>
              </a:solidFill>
              <a:cs typeface="+mn-ea"/>
            </a:endParaRPr>
          </a:p>
        </p:txBody>
      </p:sp>
      <p:sp>
        <p:nvSpPr>
          <p:cNvPr id="249" name="文本框 248"/>
          <p:cNvSpPr txBox="1"/>
          <p:nvPr/>
        </p:nvSpPr>
        <p:spPr bwMode="gray">
          <a:xfrm>
            <a:off x="5809352" y="2125050"/>
            <a:ext cx="736099" cy="369332"/>
          </a:xfrm>
          <a:prstGeom prst="rect">
            <a:avLst/>
          </a:prstGeom>
          <a:noFill/>
        </p:spPr>
        <p:txBody>
          <a:bodyPr wrap="none" rtlCol="0">
            <a:spAutoFit/>
          </a:bodyPr>
          <a:lstStyle/>
          <a:p>
            <a:r>
              <a:rPr lang="en-US" altLang="zh-CN" dirty="0">
                <a:solidFill>
                  <a:srgbClr val="56C4D2"/>
                </a:solidFill>
                <a:cs typeface="+mn-ea"/>
              </a:rPr>
              <a:t>WAN</a:t>
            </a:r>
            <a:endParaRPr lang="zh-CN" altLang="en-US" dirty="0">
              <a:solidFill>
                <a:srgbClr val="56C4D2"/>
              </a:solidFill>
              <a:cs typeface="+mn-ea"/>
            </a:endParaRPr>
          </a:p>
        </p:txBody>
      </p:sp>
      <p:sp>
        <p:nvSpPr>
          <p:cNvPr id="250" name="文本框 249"/>
          <p:cNvSpPr txBox="1"/>
          <p:nvPr/>
        </p:nvSpPr>
        <p:spPr bwMode="gray">
          <a:xfrm>
            <a:off x="9774222" y="2125050"/>
            <a:ext cx="628698" cy="369332"/>
          </a:xfrm>
          <a:prstGeom prst="rect">
            <a:avLst/>
          </a:prstGeom>
          <a:noFill/>
        </p:spPr>
        <p:txBody>
          <a:bodyPr wrap="none" rtlCol="0">
            <a:spAutoFit/>
          </a:bodyPr>
          <a:lstStyle/>
          <a:p>
            <a:r>
              <a:rPr lang="en-US" altLang="zh-CN" dirty="0">
                <a:solidFill>
                  <a:srgbClr val="56C4D2"/>
                </a:solidFill>
                <a:cs typeface="+mn-ea"/>
              </a:rPr>
              <a:t>LAN</a:t>
            </a:r>
            <a:endParaRPr lang="zh-CN" altLang="en-US" dirty="0">
              <a:solidFill>
                <a:srgbClr val="56C4D2"/>
              </a:solidFill>
              <a:cs typeface="+mn-ea"/>
            </a:endParaRPr>
          </a:p>
        </p:txBody>
      </p:sp>
      <p:sp>
        <p:nvSpPr>
          <p:cNvPr id="252" name="文本框 251"/>
          <p:cNvSpPr txBox="1"/>
          <p:nvPr/>
        </p:nvSpPr>
        <p:spPr bwMode="gray">
          <a:xfrm>
            <a:off x="5858330" y="3976924"/>
            <a:ext cx="474810" cy="307777"/>
          </a:xfrm>
          <a:prstGeom prst="rect">
            <a:avLst/>
          </a:prstGeom>
          <a:noFill/>
        </p:spPr>
        <p:txBody>
          <a:bodyPr wrap="none" rtlCol="0">
            <a:spAutoFit/>
          </a:bodyPr>
          <a:lstStyle/>
          <a:p>
            <a:r>
              <a:rPr lang="en-US" altLang="zh-CN" sz="1400" dirty="0"/>
              <a:t>ISP</a:t>
            </a:r>
            <a:endParaRPr lang="zh-CN" altLang="en-US" sz="1400" dirty="0"/>
          </a:p>
        </p:txBody>
      </p:sp>
      <p:pic>
        <p:nvPicPr>
          <p:cNvPr id="255" name="Picture 10" descr="E:\2016.01\1.12 扁平化图标\蓝色\AR-蓝色最新-38.png"/>
          <p:cNvPicPr>
            <a:picLocks noChangeAspect="1" noChangeArrowheads="1"/>
          </p:cNvPicPr>
          <p:nvPr/>
        </p:nvPicPr>
        <p:blipFill>
          <a:blip r:embed="rId16" cstate="print"/>
          <a:srcRect/>
          <a:stretch>
            <a:fillRect/>
          </a:stretch>
        </p:blipFill>
        <p:spPr bwMode="gray">
          <a:xfrm rot="19103343" flipV="1">
            <a:off x="3719200" y="3371182"/>
            <a:ext cx="474781" cy="866528"/>
          </a:xfrm>
          <a:prstGeom prst="rect">
            <a:avLst/>
          </a:prstGeom>
          <a:noFill/>
        </p:spPr>
      </p:pic>
      <p:pic>
        <p:nvPicPr>
          <p:cNvPr id="257" name="Picture 10" descr="E:\2016.01\1.12 扁平化图标\蓝色\AR-蓝色最新-38.png"/>
          <p:cNvPicPr>
            <a:picLocks noChangeAspect="1" noChangeArrowheads="1"/>
          </p:cNvPicPr>
          <p:nvPr/>
        </p:nvPicPr>
        <p:blipFill>
          <a:blip r:embed="rId16" cstate="print"/>
          <a:srcRect/>
          <a:stretch>
            <a:fillRect/>
          </a:stretch>
        </p:blipFill>
        <p:spPr bwMode="gray">
          <a:xfrm rot="19103343" flipV="1">
            <a:off x="8166417" y="4009704"/>
            <a:ext cx="352857" cy="1125074"/>
          </a:xfrm>
          <a:prstGeom prst="rect">
            <a:avLst/>
          </a:prstGeom>
          <a:noFill/>
        </p:spPr>
      </p:pic>
      <p:pic>
        <p:nvPicPr>
          <p:cNvPr id="258" name="Picture 10" descr="E:\2016.01\1.12 扁平化图标\蓝色\AR-蓝色最新-38.png"/>
          <p:cNvPicPr>
            <a:picLocks noChangeAspect="1" noChangeArrowheads="1"/>
          </p:cNvPicPr>
          <p:nvPr/>
        </p:nvPicPr>
        <p:blipFill>
          <a:blip r:embed="rId16" cstate="print"/>
          <a:srcRect/>
          <a:stretch>
            <a:fillRect/>
          </a:stretch>
        </p:blipFill>
        <p:spPr bwMode="gray">
          <a:xfrm rot="3532107" flipV="1">
            <a:off x="8157217" y="3255972"/>
            <a:ext cx="453376" cy="1149864"/>
          </a:xfrm>
          <a:prstGeom prst="rect">
            <a:avLst/>
          </a:prstGeom>
          <a:noFill/>
        </p:spPr>
      </p:pic>
      <p:pic>
        <p:nvPicPr>
          <p:cNvPr id="259" name="Picture 10" descr="E:\2016.01\1.12 扁平化图标\蓝色\AR-蓝色最新-38.png"/>
          <p:cNvPicPr>
            <a:picLocks noChangeAspect="1" noChangeArrowheads="1"/>
          </p:cNvPicPr>
          <p:nvPr/>
        </p:nvPicPr>
        <p:blipFill>
          <a:blip r:embed="rId16" cstate="print"/>
          <a:srcRect/>
          <a:stretch>
            <a:fillRect/>
          </a:stretch>
        </p:blipFill>
        <p:spPr bwMode="gray">
          <a:xfrm rot="1223653">
            <a:off x="3709585" y="3980514"/>
            <a:ext cx="628904" cy="1223031"/>
          </a:xfrm>
          <a:prstGeom prst="rect">
            <a:avLst/>
          </a:prstGeom>
          <a:noFill/>
        </p:spPr>
      </p:pic>
    </p:spTree>
    <p:extLst>
      <p:ext uri="{BB962C8B-B14F-4D97-AF65-F5344CB8AC3E}">
        <p14:creationId xmlns:p14="http://schemas.microsoft.com/office/powerpoint/2010/main" val="951133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广域网与企业广域互联</a:t>
            </a:r>
          </a:p>
        </p:txBody>
      </p:sp>
      <p:sp>
        <p:nvSpPr>
          <p:cNvPr id="3" name="Text Placeholder 2"/>
          <p:cNvSpPr>
            <a:spLocks noGrp="1"/>
          </p:cNvSpPr>
          <p:nvPr>
            <p:ph type="body" sz="quarter" idx="10"/>
          </p:nvPr>
        </p:nvSpPr>
        <p:spPr bwMode="gray">
          <a:xfrm>
            <a:off x="455612" y="1486761"/>
            <a:ext cx="4561951" cy="4045533"/>
          </a:xfrm>
        </p:spPr>
        <p:txBody>
          <a:bodyPr/>
          <a:lstStyle/>
          <a:p>
            <a:r>
              <a:rPr lang="zh-CN" altLang="en-US" sz="1800" dirty="0"/>
              <a:t>企业广域互联指的是不同地点的总部、数据中心、分部、办事处、移动办公等各级节点间互联互通的企业私有网络。</a:t>
            </a:r>
            <a:endParaRPr lang="en-US" altLang="zh-CN" sz="1800" dirty="0"/>
          </a:p>
          <a:p>
            <a:r>
              <a:rPr lang="zh-CN" altLang="en-US" sz="1800" dirty="0"/>
              <a:t>企业广域互联一般依赖于运营商搭建的广域网或企业自建广域网。</a:t>
            </a:r>
            <a:endParaRPr lang="en-US" altLang="zh-CN" sz="1800" dirty="0"/>
          </a:p>
        </p:txBody>
      </p:sp>
      <p:grpSp>
        <p:nvGrpSpPr>
          <p:cNvPr id="7" name="组合 6"/>
          <p:cNvGrpSpPr/>
          <p:nvPr/>
        </p:nvGrpSpPr>
        <p:grpSpPr bwMode="gray">
          <a:xfrm>
            <a:off x="5132722" y="1593873"/>
            <a:ext cx="6532856" cy="3817020"/>
            <a:chOff x="5207153" y="2301953"/>
            <a:chExt cx="6532856" cy="3817020"/>
          </a:xfrm>
        </p:grpSpPr>
        <p:sp>
          <p:nvSpPr>
            <p:cNvPr id="4" name="梯形 41"/>
            <p:cNvSpPr/>
            <p:nvPr/>
          </p:nvSpPr>
          <p:spPr bwMode="gray">
            <a:xfrm>
              <a:off x="5207153" y="3921823"/>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Huawei Sans" panose="020C0503030203020204" pitchFamily="34" charset="0"/>
              </a:endParaRPr>
            </a:p>
          </p:txBody>
        </p:sp>
        <p:pic>
          <p:nvPicPr>
            <p:cNvPr id="25" name="图片 31"/>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7240786" y="4729630"/>
              <a:ext cx="466668" cy="381818"/>
            </a:xfrm>
            <a:prstGeom prst="rect">
              <a:avLst/>
            </a:prstGeom>
          </p:spPr>
        </p:pic>
        <p:pic>
          <p:nvPicPr>
            <p:cNvPr id="26" name="图片 31"/>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6493869" y="5589641"/>
              <a:ext cx="466668" cy="381818"/>
            </a:xfrm>
            <a:prstGeom prst="rect">
              <a:avLst/>
            </a:prstGeom>
          </p:spPr>
        </p:pic>
        <p:pic>
          <p:nvPicPr>
            <p:cNvPr id="27" name="图片 25"/>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9487333" y="5122024"/>
              <a:ext cx="466668" cy="381818"/>
            </a:xfrm>
            <a:prstGeom prst="rect">
              <a:avLst/>
            </a:prstGeom>
          </p:spPr>
        </p:pic>
        <p:pic>
          <p:nvPicPr>
            <p:cNvPr id="28" name="图片 31"/>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p:blipFill>
          <p:spPr bwMode="gray">
            <a:xfrm>
              <a:off x="8629316" y="4274518"/>
              <a:ext cx="466668" cy="381818"/>
            </a:xfrm>
            <a:prstGeom prst="rect">
              <a:avLst/>
            </a:prstGeom>
          </p:spPr>
        </p:pic>
        <p:sp>
          <p:nvSpPr>
            <p:cNvPr id="34" name="Freeform 159"/>
            <p:cNvSpPr/>
            <p:nvPr/>
          </p:nvSpPr>
          <p:spPr bwMode="gray">
            <a:xfrm flipH="1">
              <a:off x="7481176" y="4937625"/>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lumMod val="50000"/>
                    </a:schemeClr>
                  </a:solidFill>
                </a:rPr>
                <a:t>运营商网络</a:t>
              </a:r>
              <a:r>
                <a:rPr lang="en-US" altLang="zh-CN" sz="1400" dirty="0">
                  <a:solidFill>
                    <a:schemeClr val="bg1">
                      <a:lumMod val="50000"/>
                    </a:schemeClr>
                  </a:solidFill>
                </a:rPr>
                <a:t>/</a:t>
              </a:r>
              <a:r>
                <a:rPr lang="zh-CN" altLang="en-US" sz="1400" dirty="0">
                  <a:solidFill>
                    <a:schemeClr val="bg1">
                      <a:lumMod val="50000"/>
                    </a:schemeClr>
                  </a:solidFill>
                </a:rPr>
                <a:t>自建网络</a:t>
              </a:r>
              <a:endParaRPr lang="en-US" sz="1400" dirty="0">
                <a:solidFill>
                  <a:schemeClr val="bg1">
                    <a:lumMod val="50000"/>
                  </a:schemeClr>
                </a:solidFill>
              </a:endParaRPr>
            </a:p>
          </p:txBody>
        </p:sp>
        <p:pic>
          <p:nvPicPr>
            <p:cNvPr id="29" name="图片 86"/>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7989461" y="4951447"/>
              <a:ext cx="391752" cy="321237"/>
            </a:xfrm>
            <a:prstGeom prst="rect">
              <a:avLst/>
            </a:prstGeom>
          </p:spPr>
        </p:pic>
        <p:pic>
          <p:nvPicPr>
            <p:cNvPr id="31" name="Picture 12" descr="E:\2016.01\1.12 扁平化图标\蓝色\AR-蓝色最新-40.png">
              <a:extLst>
                <a:ext uri="{FF2B5EF4-FFF2-40B4-BE49-F238E27FC236}">
                  <a16:creationId xmlns:a16="http://schemas.microsoft.com/office/drawing/2014/main" id="{3A92A8EE-6625-41D1-B9EE-F4280D7211F3}"/>
                </a:ext>
              </a:extLst>
            </p:cNvPr>
            <p:cNvPicPr>
              <a:picLocks noChangeAspect="1" noChangeArrowheads="1"/>
            </p:cNvPicPr>
            <p:nvPr/>
          </p:nvPicPr>
          <p:blipFill>
            <a:blip r:embed="rId5" cstate="print">
              <a:duotone>
                <a:schemeClr val="bg2">
                  <a:shade val="45000"/>
                  <a:satMod val="135000"/>
                </a:schemeClr>
                <a:prstClr val="white"/>
              </a:duotone>
            </a:blip>
            <a:srcRect/>
            <a:stretch>
              <a:fillRect/>
            </a:stretch>
          </p:blipFill>
          <p:spPr bwMode="gray">
            <a:xfrm>
              <a:off x="8209761" y="5560050"/>
              <a:ext cx="392039" cy="320760"/>
            </a:xfrm>
            <a:prstGeom prst="rect">
              <a:avLst/>
            </a:prstGeom>
            <a:noFill/>
          </p:spPr>
        </p:pic>
        <p:pic>
          <p:nvPicPr>
            <p:cNvPr id="32" name="图片 8" descr="DSLAM-蓝.png"/>
            <p:cNvPicPr>
              <a:picLocks noChangeAspect="1"/>
            </p:cNvPicPr>
            <p:nvPr/>
          </p:nvPicPr>
          <p:blipFill>
            <a:blip r:embed="rId6" cstate="print">
              <a:duotone>
                <a:schemeClr val="bg2">
                  <a:shade val="45000"/>
                  <a:satMod val="135000"/>
                </a:schemeClr>
                <a:prstClr val="white"/>
              </a:duotone>
            </a:blip>
            <a:stretch>
              <a:fillRect/>
            </a:stretch>
          </p:blipFill>
          <p:spPr bwMode="gray">
            <a:xfrm>
              <a:off x="7606522" y="5560050"/>
              <a:ext cx="392042" cy="320760"/>
            </a:xfrm>
            <a:prstGeom prst="rect">
              <a:avLst/>
            </a:prstGeom>
          </p:spPr>
        </p:pic>
        <p:pic>
          <p:nvPicPr>
            <p:cNvPr id="33" name="图片 1118"/>
            <p:cNvPicPr>
              <a:picLocks noChangeAspect="1"/>
            </p:cNvPicPr>
            <p:nvPr/>
          </p:nvPicPr>
          <p:blipFill>
            <a:blip r:embed="rId7">
              <a:grayscl/>
            </a:blip>
            <a:stretch>
              <a:fillRect/>
            </a:stretch>
          </p:blipFill>
          <p:spPr bwMode="gray">
            <a:xfrm>
              <a:off x="8834535" y="5539558"/>
              <a:ext cx="450745" cy="361743"/>
            </a:xfrm>
            <a:prstGeom prst="rect">
              <a:avLst/>
            </a:prstGeom>
          </p:spPr>
        </p:pic>
        <p:cxnSp>
          <p:nvCxnSpPr>
            <p:cNvPr id="35" name="直接连接符 133"/>
            <p:cNvCxnSpPr>
              <a:stCxn id="26" idx="3"/>
              <a:endCxn id="34" idx="21"/>
            </p:cNvCxnSpPr>
            <p:nvPr/>
          </p:nvCxnSpPr>
          <p:spPr bwMode="gray">
            <a:xfrm flipV="1">
              <a:off x="6960537" y="5639341"/>
              <a:ext cx="520639" cy="141209"/>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38" name="直接连接符 133"/>
            <p:cNvCxnSpPr>
              <a:stCxn id="25" idx="3"/>
              <a:endCxn id="34" idx="24"/>
            </p:cNvCxnSpPr>
            <p:nvPr/>
          </p:nvCxnSpPr>
          <p:spPr bwMode="gray">
            <a:xfrm>
              <a:off x="7707454" y="4920539"/>
              <a:ext cx="60111" cy="398904"/>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41" name="直接连接符 133"/>
            <p:cNvCxnSpPr>
              <a:stCxn id="28" idx="2"/>
              <a:endCxn id="34" idx="1"/>
            </p:cNvCxnSpPr>
            <p:nvPr/>
          </p:nvCxnSpPr>
          <p:spPr bwMode="gray">
            <a:xfrm flipH="1">
              <a:off x="8567103" y="4660081"/>
              <a:ext cx="295547" cy="417603"/>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30" name="图片 13" descr="开放网络-蓝.png"/>
            <p:cNvPicPr>
              <a:picLocks noChangeAspect="1"/>
            </p:cNvPicPr>
            <p:nvPr/>
          </p:nvPicPr>
          <p:blipFill>
            <a:blip r:embed="rId8" cstate="print">
              <a:duotone>
                <a:schemeClr val="bg2">
                  <a:shade val="45000"/>
                  <a:satMod val="135000"/>
                </a:schemeClr>
                <a:prstClr val="white"/>
              </a:duotone>
            </a:blip>
            <a:stretch>
              <a:fillRect/>
            </a:stretch>
          </p:blipFill>
          <p:spPr bwMode="gray">
            <a:xfrm>
              <a:off x="8594712" y="4947845"/>
              <a:ext cx="391752" cy="320760"/>
            </a:xfrm>
            <a:prstGeom prst="rect">
              <a:avLst/>
            </a:prstGeom>
          </p:spPr>
        </p:pic>
        <p:cxnSp>
          <p:nvCxnSpPr>
            <p:cNvPr id="44" name="直接连接符 133"/>
            <p:cNvCxnSpPr>
              <a:stCxn id="27" idx="1"/>
              <a:endCxn id="34" idx="7"/>
            </p:cNvCxnSpPr>
            <p:nvPr/>
          </p:nvCxnSpPr>
          <p:spPr bwMode="gray">
            <a:xfrm flipH="1">
              <a:off x="9203758" y="5312933"/>
              <a:ext cx="283575" cy="15748"/>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57" name="直接连接符 133"/>
            <p:cNvCxnSpPr>
              <a:stCxn id="26" idx="0"/>
            </p:cNvCxnSpPr>
            <p:nvPr/>
          </p:nvCxnSpPr>
          <p:spPr bwMode="gray">
            <a:xfrm flipV="1">
              <a:off x="6727203" y="4172245"/>
              <a:ext cx="0" cy="1413651"/>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60" name="直接连接符 133"/>
            <p:cNvCxnSpPr>
              <a:stCxn id="25" idx="0"/>
              <a:endCxn id="6" idx="2"/>
            </p:cNvCxnSpPr>
            <p:nvPr/>
          </p:nvCxnSpPr>
          <p:spPr bwMode="gray">
            <a:xfrm flipV="1">
              <a:off x="7474120" y="3487687"/>
              <a:ext cx="0" cy="1238198"/>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63" name="直接连接符 133"/>
            <p:cNvCxnSpPr>
              <a:stCxn id="28" idx="0"/>
              <a:endCxn id="23" idx="2"/>
            </p:cNvCxnSpPr>
            <p:nvPr/>
          </p:nvCxnSpPr>
          <p:spPr bwMode="gray">
            <a:xfrm flipV="1">
              <a:off x="8862650" y="3032575"/>
              <a:ext cx="0" cy="1238198"/>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66" name="直接连接符 133"/>
            <p:cNvCxnSpPr>
              <a:stCxn id="27" idx="0"/>
              <a:endCxn id="14" idx="2"/>
            </p:cNvCxnSpPr>
            <p:nvPr/>
          </p:nvCxnSpPr>
          <p:spPr bwMode="gray">
            <a:xfrm flipV="1">
              <a:off x="9720667" y="3880081"/>
              <a:ext cx="0" cy="1238198"/>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5" name="梯形 41"/>
            <p:cNvSpPr/>
            <p:nvPr/>
          </p:nvSpPr>
          <p:spPr bwMode="gray">
            <a:xfrm>
              <a:off x="5207153" y="2494090"/>
              <a:ext cx="6532856" cy="2197150"/>
            </a:xfrm>
            <a:prstGeom prst="trapezoid">
              <a:avLst>
                <a:gd name="adj" fmla="val 75739"/>
              </a:avLst>
            </a:prstGeom>
            <a:gradFill flip="none" rotWithShape="1">
              <a:gsLst>
                <a:gs pos="0">
                  <a:schemeClr val="bg1"/>
                </a:gs>
                <a:gs pos="100000">
                  <a:srgbClr val="94DAE2">
                    <a:alpha val="26000"/>
                  </a:srgbClr>
                </a:gs>
              </a:gsLst>
              <a:lin ang="5400000" scaled="1"/>
              <a:tileRect/>
            </a:gra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Huawei Sans" panose="020C0503030203020204" pitchFamily="34" charset="0"/>
              </a:endParaRPr>
            </a:p>
          </p:txBody>
        </p:sp>
        <p:sp>
          <p:nvSpPr>
            <p:cNvPr id="9" name="Freeform 159"/>
            <p:cNvSpPr/>
            <p:nvPr/>
          </p:nvSpPr>
          <p:spPr bwMode="gray">
            <a:xfrm flipH="1">
              <a:off x="6490960" y="297513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6"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240786" y="3102124"/>
              <a:ext cx="466668" cy="381818"/>
            </a:xfrm>
            <a:prstGeom prst="rect">
              <a:avLst/>
            </a:prstGeom>
          </p:spPr>
        </p:pic>
        <p:pic>
          <p:nvPicPr>
            <p:cNvPr id="8" name="图片 51" descr="交换机.png"/>
            <p:cNvPicPr>
              <a:picLocks noChangeAspect="1"/>
            </p:cNvPicPr>
            <p:nvPr/>
          </p:nvPicPr>
          <p:blipFill>
            <a:blip r:embed="rId9" cstate="print"/>
            <a:stretch>
              <a:fillRect/>
            </a:stretch>
          </p:blipFill>
          <p:spPr bwMode="gray">
            <a:xfrm>
              <a:off x="6735847" y="2757065"/>
              <a:ext cx="417163" cy="341314"/>
            </a:xfrm>
            <a:prstGeom prst="rect">
              <a:avLst/>
            </a:prstGeom>
          </p:spPr>
        </p:pic>
        <p:sp>
          <p:nvSpPr>
            <p:cNvPr id="10" name="Freeform 159"/>
            <p:cNvSpPr/>
            <p:nvPr/>
          </p:nvSpPr>
          <p:spPr bwMode="gray">
            <a:xfrm flipH="1">
              <a:off x="5744043" y="3835146"/>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11" name="图片 31"/>
            <p:cNvPicPr>
              <a:picLocks noChangeAspect="1"/>
            </p:cNvPicPr>
            <p:nvPr/>
          </p:nvPicPr>
          <p:blipFill>
            <a:blip r:embed="rId10">
              <a:extLst>
                <a:ext uri="{28A0092B-C50C-407E-A947-70E740481C1C}">
                  <a14:useLocalDpi xmlns:a14="http://schemas.microsoft.com/office/drawing/2010/main" val="0"/>
                </a:ext>
              </a:extLst>
            </a:blip>
            <a:srcRect/>
            <a:stretch/>
          </p:blipFill>
          <p:spPr bwMode="gray">
            <a:xfrm>
              <a:off x="6493869" y="3961657"/>
              <a:ext cx="466668" cy="382773"/>
            </a:xfrm>
            <a:prstGeom prst="rect">
              <a:avLst/>
            </a:prstGeom>
          </p:spPr>
        </p:pic>
        <p:pic>
          <p:nvPicPr>
            <p:cNvPr id="12" name="图片 51" descr="交换机.png"/>
            <p:cNvPicPr>
              <a:picLocks noChangeAspect="1"/>
            </p:cNvPicPr>
            <p:nvPr/>
          </p:nvPicPr>
          <p:blipFill>
            <a:blip r:embed="rId9" cstate="print"/>
            <a:stretch>
              <a:fillRect/>
            </a:stretch>
          </p:blipFill>
          <p:spPr bwMode="gray">
            <a:xfrm>
              <a:off x="5988930" y="3617076"/>
              <a:ext cx="417163" cy="341314"/>
            </a:xfrm>
            <a:prstGeom prst="rect">
              <a:avLst/>
            </a:prstGeom>
          </p:spPr>
        </p:pic>
        <p:sp>
          <p:nvSpPr>
            <p:cNvPr id="13" name="Freeform 159"/>
            <p:cNvSpPr/>
            <p:nvPr/>
          </p:nvSpPr>
          <p:spPr bwMode="gray">
            <a:xfrm flipH="1">
              <a:off x="9739912" y="3370687"/>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企业总部</a:t>
              </a:r>
              <a:endParaRPr lang="en-US" sz="1400" dirty="0">
                <a:solidFill>
                  <a:schemeClr val="tx1"/>
                </a:solidFill>
              </a:endParaRPr>
            </a:p>
          </p:txBody>
        </p:sp>
        <p:pic>
          <p:nvPicPr>
            <p:cNvPr id="14"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487333" y="3494518"/>
              <a:ext cx="466668" cy="381818"/>
            </a:xfrm>
            <a:prstGeom prst="rect">
              <a:avLst/>
            </a:prstGeom>
          </p:spPr>
        </p:pic>
        <p:pic>
          <p:nvPicPr>
            <p:cNvPr id="16" name="图片 67"/>
            <p:cNvPicPr>
              <a:picLocks/>
            </p:cNvPicPr>
            <p:nvPr/>
          </p:nvPicPr>
          <p:blipFill>
            <a:blip r:embed="rId11" cstate="print">
              <a:extLst>
                <a:ext uri="{28A0092B-C50C-407E-A947-70E740481C1C}">
                  <a14:useLocalDpi xmlns:a14="http://schemas.microsoft.com/office/drawing/2010/main" val="0"/>
                </a:ext>
              </a:extLst>
            </a:blip>
            <a:stretch>
              <a:fillRect/>
            </a:stretch>
          </p:blipFill>
          <p:spPr bwMode="gray">
            <a:xfrm>
              <a:off x="10655627" y="3655148"/>
              <a:ext cx="417163" cy="342074"/>
            </a:xfrm>
            <a:prstGeom prst="rect">
              <a:avLst/>
            </a:prstGeom>
          </p:spPr>
        </p:pic>
        <p:pic>
          <p:nvPicPr>
            <p:cNvPr id="17" name="图片 14" descr="交换机.png"/>
            <p:cNvPicPr>
              <a:picLocks noChangeAspect="1"/>
            </p:cNvPicPr>
            <p:nvPr/>
          </p:nvPicPr>
          <p:blipFill>
            <a:blip r:embed="rId12" cstate="print"/>
            <a:stretch>
              <a:fillRect/>
            </a:stretch>
          </p:blipFill>
          <p:spPr bwMode="gray">
            <a:xfrm>
              <a:off x="10377322" y="3190969"/>
              <a:ext cx="420077" cy="343698"/>
            </a:xfrm>
            <a:prstGeom prst="rect">
              <a:avLst/>
            </a:prstGeom>
          </p:spPr>
        </p:pic>
        <p:sp>
          <p:nvSpPr>
            <p:cNvPr id="22" name="Freeform 159"/>
            <p:cNvSpPr/>
            <p:nvPr/>
          </p:nvSpPr>
          <p:spPr bwMode="gray">
            <a:xfrm flipH="1">
              <a:off x="7879490" y="252002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23"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629316" y="2647012"/>
              <a:ext cx="466668" cy="381818"/>
            </a:xfrm>
            <a:prstGeom prst="rect">
              <a:avLst/>
            </a:prstGeom>
          </p:spPr>
        </p:pic>
        <p:pic>
          <p:nvPicPr>
            <p:cNvPr id="24" name="图片 51" descr="交换机.png"/>
            <p:cNvPicPr>
              <a:picLocks noChangeAspect="1"/>
            </p:cNvPicPr>
            <p:nvPr/>
          </p:nvPicPr>
          <p:blipFill>
            <a:blip r:embed="rId9" cstate="print"/>
            <a:stretch>
              <a:fillRect/>
            </a:stretch>
          </p:blipFill>
          <p:spPr bwMode="gray">
            <a:xfrm>
              <a:off x="8124377" y="2301953"/>
              <a:ext cx="417163" cy="341314"/>
            </a:xfrm>
            <a:prstGeom prst="rect">
              <a:avLst/>
            </a:prstGeom>
          </p:spPr>
        </p:pic>
        <p:cxnSp>
          <p:nvCxnSpPr>
            <p:cNvPr id="48" name="直接连接符 133"/>
            <p:cNvCxnSpPr>
              <a:stCxn id="11" idx="3"/>
              <a:endCxn id="14" idx="1"/>
            </p:cNvCxnSpPr>
            <p:nvPr/>
          </p:nvCxnSpPr>
          <p:spPr bwMode="gray">
            <a:xfrm flipV="1">
              <a:off x="6960537" y="3685427"/>
              <a:ext cx="2526796" cy="467617"/>
            </a:xfrm>
            <a:prstGeom prst="line">
              <a:avLst/>
            </a:prstGeom>
            <a:ln w="19050">
              <a:solidFill>
                <a:srgbClr val="E28189"/>
              </a:solidFill>
              <a:prstDash val="dash"/>
            </a:ln>
          </p:spPr>
          <p:style>
            <a:lnRef idx="3">
              <a:schemeClr val="dk1"/>
            </a:lnRef>
            <a:fillRef idx="0">
              <a:schemeClr val="dk1"/>
            </a:fillRef>
            <a:effectRef idx="2">
              <a:schemeClr val="dk1"/>
            </a:effectRef>
            <a:fontRef idx="minor">
              <a:schemeClr val="tx1"/>
            </a:fontRef>
          </p:style>
        </p:cxnSp>
        <p:cxnSp>
          <p:nvCxnSpPr>
            <p:cNvPr id="51" name="直接连接符 133"/>
            <p:cNvCxnSpPr>
              <a:stCxn id="6" idx="3"/>
              <a:endCxn id="14" idx="1"/>
            </p:cNvCxnSpPr>
            <p:nvPr/>
          </p:nvCxnSpPr>
          <p:spPr bwMode="gray">
            <a:xfrm>
              <a:off x="7707454" y="3293033"/>
              <a:ext cx="1779879" cy="392394"/>
            </a:xfrm>
            <a:prstGeom prst="line">
              <a:avLst/>
            </a:prstGeom>
            <a:ln w="19050">
              <a:solidFill>
                <a:srgbClr val="E28189"/>
              </a:solidFill>
              <a:prstDash val="dash"/>
            </a:ln>
          </p:spPr>
          <p:style>
            <a:lnRef idx="3">
              <a:schemeClr val="dk1"/>
            </a:lnRef>
            <a:fillRef idx="0">
              <a:schemeClr val="dk1"/>
            </a:fillRef>
            <a:effectRef idx="2">
              <a:schemeClr val="dk1"/>
            </a:effectRef>
            <a:fontRef idx="minor">
              <a:schemeClr val="tx1"/>
            </a:fontRef>
          </p:style>
        </p:cxnSp>
        <p:cxnSp>
          <p:nvCxnSpPr>
            <p:cNvPr id="54" name="直接连接符 133"/>
            <p:cNvCxnSpPr>
              <a:stCxn id="23" idx="2"/>
              <a:endCxn id="14" idx="1"/>
            </p:cNvCxnSpPr>
            <p:nvPr/>
          </p:nvCxnSpPr>
          <p:spPr bwMode="gray">
            <a:xfrm>
              <a:off x="8862650" y="3032575"/>
              <a:ext cx="624683" cy="652852"/>
            </a:xfrm>
            <a:prstGeom prst="line">
              <a:avLst/>
            </a:prstGeom>
            <a:ln w="19050">
              <a:solidFill>
                <a:srgbClr val="E28189"/>
              </a:solidFill>
              <a:prstDash val="dash"/>
            </a:ln>
          </p:spPr>
          <p:style>
            <a:lnRef idx="3">
              <a:schemeClr val="dk1"/>
            </a:lnRef>
            <a:fillRef idx="0">
              <a:schemeClr val="dk1"/>
            </a:fillRef>
            <a:effectRef idx="2">
              <a:schemeClr val="dk1"/>
            </a:effectRef>
            <a:fontRef idx="minor">
              <a:schemeClr val="tx1"/>
            </a:fontRef>
          </p:style>
        </p:cxnSp>
        <p:sp>
          <p:nvSpPr>
            <p:cNvPr id="69" name="TextBox 68"/>
            <p:cNvSpPr txBox="1"/>
            <p:nvPr/>
          </p:nvSpPr>
          <p:spPr bwMode="gray">
            <a:xfrm>
              <a:off x="10247713" y="4233602"/>
              <a:ext cx="1261884" cy="307777"/>
            </a:xfrm>
            <a:prstGeom prst="rect">
              <a:avLst/>
            </a:prstGeom>
            <a:noFill/>
          </p:spPr>
          <p:txBody>
            <a:bodyPr wrap="none" rtlCol="0">
              <a:spAutoFit/>
            </a:bodyPr>
            <a:lstStyle/>
            <a:p>
              <a:r>
                <a:rPr lang="zh-CN" altLang="en-US" sz="1400" b="1" dirty="0">
                  <a:latin typeface="+mn-ea"/>
                  <a:ea typeface="+mn-ea"/>
                </a:rPr>
                <a:t>企业广域互联</a:t>
              </a:r>
            </a:p>
          </p:txBody>
        </p:sp>
        <p:sp>
          <p:nvSpPr>
            <p:cNvPr id="70" name="TextBox 69"/>
            <p:cNvSpPr txBox="1"/>
            <p:nvPr/>
          </p:nvSpPr>
          <p:spPr bwMode="gray">
            <a:xfrm>
              <a:off x="10385369" y="5779392"/>
              <a:ext cx="723275" cy="307777"/>
            </a:xfrm>
            <a:prstGeom prst="rect">
              <a:avLst/>
            </a:prstGeom>
            <a:noFill/>
          </p:spPr>
          <p:txBody>
            <a:bodyPr wrap="none" rtlCol="0">
              <a:spAutoFit/>
            </a:bodyPr>
            <a:lstStyle/>
            <a:p>
              <a:r>
                <a:rPr lang="zh-CN" altLang="en-US" sz="1400" b="1" dirty="0">
                  <a:solidFill>
                    <a:schemeClr val="bg1">
                      <a:lumMod val="50000"/>
                    </a:schemeClr>
                  </a:solidFill>
                  <a:latin typeface="+mn-ea"/>
                  <a:ea typeface="+mn-ea"/>
                </a:rPr>
                <a:t>广域网</a:t>
              </a:r>
            </a:p>
          </p:txBody>
        </p:sp>
      </p:grpSp>
    </p:spTree>
    <p:extLst>
      <p:ext uri="{BB962C8B-B14F-4D97-AF65-F5344CB8AC3E}">
        <p14:creationId xmlns:p14="http://schemas.microsoft.com/office/powerpoint/2010/main" val="3540138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latin typeface="+mj-ea"/>
              </a:rPr>
              <a:t>企业广域互联主要组网方式</a:t>
            </a:r>
            <a:endParaRPr lang="zh-CN" altLang="en-US" dirty="0"/>
          </a:p>
        </p:txBody>
      </p:sp>
      <p:sp>
        <p:nvSpPr>
          <p:cNvPr id="5" name="Text Placeholder 4"/>
          <p:cNvSpPr>
            <a:spLocks noGrp="1"/>
          </p:cNvSpPr>
          <p:nvPr>
            <p:ph type="body" sz="quarter" idx="10"/>
          </p:nvPr>
        </p:nvSpPr>
        <p:spPr bwMode="gray">
          <a:xfrm>
            <a:off x="455612" y="1047750"/>
            <a:ext cx="5652409" cy="4879805"/>
          </a:xfrm>
        </p:spPr>
        <p:txBody>
          <a:bodyPr/>
          <a:lstStyle/>
          <a:p>
            <a:r>
              <a:rPr lang="zh-CN" altLang="en-US" sz="1800" dirty="0">
                <a:latin typeface="Huawei Sans" panose="020C0503030203020204" pitchFamily="34" charset="0"/>
                <a:ea typeface="方正兰亭黑简体" panose="02000000000000000000" pitchFamily="2" charset="-122"/>
              </a:rPr>
              <a:t>一般企业广域互联组网有以下几种方式：</a:t>
            </a:r>
            <a:endParaRPr lang="en-US" altLang="zh-CN" sz="1800" dirty="0">
              <a:latin typeface="Huawei Sans" panose="020C0503030203020204" pitchFamily="34" charset="0"/>
              <a:ea typeface="方正兰亭黑简体" panose="02000000000000000000" pitchFamily="2" charset="-122"/>
            </a:endParaRPr>
          </a:p>
          <a:p>
            <a:pPr marL="695559" lvl="1" indent="-342900"/>
            <a:r>
              <a:rPr lang="zh-CN" altLang="en-US" sz="1600" dirty="0">
                <a:latin typeface="Huawei Sans" panose="020C0503030203020204" pitchFamily="34" charset="0"/>
                <a:ea typeface="方正兰亭黑简体" panose="02000000000000000000" pitchFamily="2" charset="-122"/>
              </a:rPr>
              <a:t>通过运营商</a:t>
            </a:r>
            <a:r>
              <a:rPr lang="zh-CN" altLang="en-US" sz="1600" dirty="0">
                <a:solidFill>
                  <a:srgbClr val="FF0000"/>
                </a:solidFill>
                <a:latin typeface="Huawei Sans" panose="020C0503030203020204" pitchFamily="34" charset="0"/>
                <a:ea typeface="方正兰亭黑简体" panose="02000000000000000000" pitchFamily="2" charset="-122"/>
              </a:rPr>
              <a:t>传输专线</a:t>
            </a:r>
            <a:r>
              <a:rPr lang="zh-CN" altLang="en-US" sz="1600" dirty="0">
                <a:latin typeface="Huawei Sans" panose="020C0503030203020204" pitchFamily="34" charset="0"/>
                <a:ea typeface="方正兰亭黑简体" panose="02000000000000000000" pitchFamily="2" charset="-122"/>
              </a:rPr>
              <a:t>或 </a:t>
            </a:r>
            <a:r>
              <a:rPr lang="en-US" altLang="zh-CN" sz="1600" dirty="0">
                <a:solidFill>
                  <a:srgbClr val="FF0000"/>
                </a:solidFill>
                <a:latin typeface="Huawei Sans" panose="020C0503030203020204" pitchFamily="34" charset="0"/>
                <a:ea typeface="方正兰亭黑简体" panose="02000000000000000000" pitchFamily="2" charset="-122"/>
              </a:rPr>
              <a:t>MPLS </a:t>
            </a:r>
            <a:r>
              <a:rPr lang="zh-CN" altLang="en-US" sz="1600" dirty="0">
                <a:solidFill>
                  <a:srgbClr val="FF0000"/>
                </a:solidFill>
                <a:latin typeface="Huawei Sans" panose="020C0503030203020204" pitchFamily="34" charset="0"/>
                <a:ea typeface="方正兰亭黑简体" panose="02000000000000000000" pitchFamily="2" charset="-122"/>
              </a:rPr>
              <a:t>专线</a:t>
            </a:r>
            <a:r>
              <a:rPr lang="zh-CN" altLang="en-US" sz="1600" dirty="0">
                <a:latin typeface="Huawei Sans" panose="020C0503030203020204" pitchFamily="34" charset="0"/>
                <a:ea typeface="方正兰亭黑简体" panose="02000000000000000000" pitchFamily="2" charset="-122"/>
              </a:rPr>
              <a:t>把各区域网络连接在一起，该方式适用于对 </a:t>
            </a:r>
            <a:r>
              <a:rPr lang="en-US" altLang="zh-CN" sz="1600" dirty="0">
                <a:latin typeface="Huawei Sans" panose="020C0503030203020204" pitchFamily="34" charset="0"/>
                <a:ea typeface="方正兰亭黑简体" panose="02000000000000000000" pitchFamily="2" charset="-122"/>
              </a:rPr>
              <a:t>SLA</a:t>
            </a:r>
            <a:r>
              <a:rPr lang="zh-CN" altLang="en-US"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Service Level Agreement</a:t>
            </a:r>
            <a:r>
              <a:rPr lang="zh-CN" altLang="en-US" sz="1600" dirty="0">
                <a:latin typeface="Huawei Sans" panose="020C0503030203020204" pitchFamily="34" charset="0"/>
                <a:ea typeface="方正兰亭黑简体" panose="02000000000000000000" pitchFamily="2" charset="-122"/>
              </a:rPr>
              <a:t>）要求较高的企业，价格较贵。</a:t>
            </a:r>
            <a:endParaRPr lang="en-US" altLang="zh-CN" sz="1600" dirty="0">
              <a:latin typeface="Huawei Sans" panose="020C0503030203020204" pitchFamily="34" charset="0"/>
              <a:ea typeface="方正兰亭黑简体" panose="02000000000000000000" pitchFamily="2" charset="-122"/>
            </a:endParaRPr>
          </a:p>
          <a:p>
            <a:pPr marL="695559" lvl="1" indent="-342900"/>
            <a:r>
              <a:rPr lang="zh-CN" altLang="en-US" sz="1600" dirty="0">
                <a:latin typeface="Huawei Sans" panose="020C0503030203020204" pitchFamily="34" charset="0"/>
                <a:ea typeface="方正兰亭黑简体" panose="02000000000000000000" pitchFamily="2" charset="-122"/>
              </a:rPr>
              <a:t>通过运营商 </a:t>
            </a:r>
            <a:r>
              <a:rPr lang="en-US" altLang="zh-CN" sz="1600" dirty="0">
                <a:latin typeface="Huawei Sans" panose="020C0503030203020204" pitchFamily="34" charset="0"/>
                <a:ea typeface="方正兰亭黑简体" panose="02000000000000000000" pitchFamily="2" charset="-122"/>
              </a:rPr>
              <a:t>Internet +</a:t>
            </a:r>
            <a:r>
              <a:rPr lang="zh-CN" altLang="en-US" sz="1600" dirty="0">
                <a:latin typeface="Huawei Sans" panose="020C0503030203020204" pitchFamily="34" charset="0"/>
                <a:ea typeface="方正兰亭黑简体" panose="02000000000000000000" pitchFamily="2" charset="-122"/>
              </a:rPr>
              <a:t> </a:t>
            </a:r>
            <a:r>
              <a:rPr lang="en-US" altLang="zh-CN" sz="1600" dirty="0">
                <a:latin typeface="Huawei Sans" panose="020C0503030203020204" pitchFamily="34" charset="0"/>
                <a:ea typeface="方正兰亭黑简体" panose="02000000000000000000" pitchFamily="2" charset="-122"/>
              </a:rPr>
              <a:t>VPN </a:t>
            </a:r>
            <a:r>
              <a:rPr lang="zh-CN" altLang="en-US" sz="1600" dirty="0">
                <a:latin typeface="Huawei Sans" panose="020C0503030203020204" pitchFamily="34" charset="0"/>
                <a:ea typeface="方正兰亭黑简体" panose="02000000000000000000" pitchFamily="2" charset="-122"/>
              </a:rPr>
              <a:t>技术连接，该方式适用于对</a:t>
            </a:r>
            <a:r>
              <a:rPr lang="en-US" altLang="zh-CN" sz="1600" dirty="0">
                <a:latin typeface="Huawei Sans" panose="020C0503030203020204" pitchFamily="34" charset="0"/>
                <a:ea typeface="方正兰亭黑简体" panose="02000000000000000000" pitchFamily="2" charset="-122"/>
              </a:rPr>
              <a:t>SLA </a:t>
            </a:r>
            <a:r>
              <a:rPr lang="zh-CN" altLang="en-US" sz="1600" dirty="0">
                <a:latin typeface="Huawei Sans" panose="020C0503030203020204" pitchFamily="34" charset="0"/>
                <a:ea typeface="方正兰亭黑简体" panose="02000000000000000000" pitchFamily="2" charset="-122"/>
              </a:rPr>
              <a:t>要求不高的中小分支（</a:t>
            </a:r>
            <a:r>
              <a:rPr lang="en-US" altLang="zh-CN" sz="1600" dirty="0">
                <a:latin typeface="Huawei Sans" panose="020C0503030203020204" pitchFamily="34" charset="0"/>
                <a:ea typeface="方正兰亭黑简体" panose="02000000000000000000" pitchFamily="2" charset="-122"/>
              </a:rPr>
              <a:t>MPLS VPN</a:t>
            </a:r>
            <a:r>
              <a:rPr lang="zh-CN" altLang="en-US"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GRE</a:t>
            </a:r>
            <a:r>
              <a:rPr lang="zh-CN" altLang="en-US" sz="1600" dirty="0">
                <a:latin typeface="Huawei Sans" panose="020C0503030203020204" pitchFamily="34" charset="0"/>
                <a:ea typeface="方正兰亭黑简体" panose="02000000000000000000" pitchFamily="2" charset="-122"/>
              </a:rPr>
              <a:t>、</a:t>
            </a:r>
            <a:r>
              <a:rPr lang="en-US" altLang="zh-CN" sz="1600" dirty="0">
                <a:latin typeface="Huawei Sans" panose="020C0503030203020204" pitchFamily="34" charset="0"/>
                <a:ea typeface="方正兰亭黑简体" panose="02000000000000000000" pitchFamily="2" charset="-122"/>
              </a:rPr>
              <a:t>VXLAN </a:t>
            </a:r>
            <a:r>
              <a:rPr lang="zh-CN" altLang="en-US" sz="1600" dirty="0">
                <a:latin typeface="Huawei Sans" panose="020C0503030203020204" pitchFamily="34" charset="0"/>
                <a:ea typeface="方正兰亭黑简体" panose="02000000000000000000" pitchFamily="2" charset="-122"/>
              </a:rPr>
              <a:t>等）</a:t>
            </a:r>
            <a:endParaRPr lang="en-US" altLang="zh-CN" sz="1600" dirty="0">
              <a:latin typeface="Huawei Sans" panose="020C0503030203020204" pitchFamily="34" charset="0"/>
              <a:ea typeface="方正兰亭黑简体" panose="02000000000000000000" pitchFamily="2" charset="-122"/>
            </a:endParaRPr>
          </a:p>
          <a:p>
            <a:pPr marL="695559" lvl="1" indent="-342900"/>
            <a:r>
              <a:rPr lang="zh-CN" altLang="en-US" sz="1600" dirty="0">
                <a:latin typeface="Huawei Sans" panose="020C0503030203020204" pitchFamily="34" charset="0"/>
                <a:ea typeface="方正兰亭黑简体" panose="02000000000000000000" pitchFamily="2" charset="-122"/>
              </a:rPr>
              <a:t>通过运营商点对点专线实现跨城或者跨国的连接，该方式多用于数据中心、总部或重要网点的连接，价格较贵。</a:t>
            </a:r>
            <a:endParaRPr lang="en-US" altLang="zh-CN" sz="1600" dirty="0">
              <a:latin typeface="Huawei Sans" panose="020C0503030203020204" pitchFamily="34" charset="0"/>
              <a:ea typeface="方正兰亭黑简体" panose="02000000000000000000" pitchFamily="2" charset="-122"/>
            </a:endParaRPr>
          </a:p>
          <a:p>
            <a:pPr marL="695559" lvl="1" indent="-342900"/>
            <a:r>
              <a:rPr lang="zh-CN" altLang="en-US" sz="1600" dirty="0">
                <a:latin typeface="Huawei Sans" panose="020C0503030203020204" pitchFamily="34" charset="0"/>
                <a:ea typeface="方正兰亭黑简体" panose="02000000000000000000" pitchFamily="2" charset="-122"/>
              </a:rPr>
              <a:t>电力，交通等行业拥有自建专线的网络连接。</a:t>
            </a:r>
            <a:endParaRPr lang="en-US" altLang="zh-CN" sz="1600" dirty="0">
              <a:latin typeface="Huawei Sans" panose="020C0503030203020204" pitchFamily="34" charset="0"/>
              <a:ea typeface="方正兰亭黑简体" panose="02000000000000000000" pitchFamily="2" charset="-122"/>
            </a:endParaRPr>
          </a:p>
          <a:p>
            <a:r>
              <a:rPr lang="zh-CN" altLang="en-US" sz="1800" dirty="0">
                <a:latin typeface="Huawei Sans" panose="020C0503030203020204" pitchFamily="34" charset="0"/>
                <a:ea typeface="方正兰亭黑简体" panose="02000000000000000000" pitchFamily="2" charset="-122"/>
              </a:rPr>
              <a:t>企业广域互联网络往往是以上多种连接形式的结合。</a:t>
            </a:r>
            <a:endParaRPr lang="en-US" altLang="zh-CN" sz="1800" dirty="0">
              <a:latin typeface="Huawei Sans" panose="020C0503030203020204" pitchFamily="34" charset="0"/>
              <a:ea typeface="方正兰亭黑简体" panose="02000000000000000000" pitchFamily="2" charset="-122"/>
            </a:endParaRPr>
          </a:p>
          <a:p>
            <a:pPr marL="0" indent="0">
              <a:buNone/>
            </a:pPr>
            <a:endParaRPr lang="zh-CN" altLang="en-US" dirty="0">
              <a:latin typeface="Huawei Sans" panose="020C0503030203020204" pitchFamily="34" charset="0"/>
              <a:ea typeface="方正兰亭黑简体" panose="02000000000000000000" pitchFamily="2" charset="-122"/>
            </a:endParaRPr>
          </a:p>
        </p:txBody>
      </p:sp>
      <p:sp>
        <p:nvSpPr>
          <p:cNvPr id="24" name="圆角矩形 75"/>
          <p:cNvSpPr/>
          <p:nvPr/>
        </p:nvSpPr>
        <p:spPr bwMode="gray">
          <a:xfrm>
            <a:off x="6217293" y="1068994"/>
            <a:ext cx="545482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企业广域互联组网</a:t>
            </a:r>
          </a:p>
        </p:txBody>
      </p:sp>
      <p:sp>
        <p:nvSpPr>
          <p:cNvPr id="35" name="圆角矩形 75"/>
          <p:cNvSpPr/>
          <p:nvPr/>
        </p:nvSpPr>
        <p:spPr bwMode="gray">
          <a:xfrm>
            <a:off x="6217293" y="1503281"/>
            <a:ext cx="5454824" cy="463114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Group 2"/>
          <p:cNvGrpSpPr/>
          <p:nvPr/>
        </p:nvGrpSpPr>
        <p:grpSpPr bwMode="gray">
          <a:xfrm>
            <a:off x="6343782" y="1696486"/>
            <a:ext cx="5211667" cy="4195362"/>
            <a:chOff x="6343782" y="1943806"/>
            <a:chExt cx="5211667" cy="4195362"/>
          </a:xfrm>
        </p:grpSpPr>
        <p:grpSp>
          <p:nvGrpSpPr>
            <p:cNvPr id="101" name="Group 100"/>
            <p:cNvGrpSpPr/>
            <p:nvPr/>
          </p:nvGrpSpPr>
          <p:grpSpPr bwMode="gray">
            <a:xfrm>
              <a:off x="6343782" y="1943806"/>
              <a:ext cx="5211667" cy="4195362"/>
              <a:chOff x="6343782" y="1943806"/>
              <a:chExt cx="5211667" cy="4195362"/>
            </a:xfrm>
          </p:grpSpPr>
          <p:sp>
            <p:nvSpPr>
              <p:cNvPr id="45" name="Freeform 159"/>
              <p:cNvSpPr/>
              <p:nvPr/>
            </p:nvSpPr>
            <p:spPr bwMode="gray">
              <a:xfrm flipH="1">
                <a:off x="7461302" y="214456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43" name="Freeform 159"/>
              <p:cNvSpPr/>
              <p:nvPr/>
            </p:nvSpPr>
            <p:spPr bwMode="gray">
              <a:xfrm flipH="1">
                <a:off x="6761224" y="542125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26"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556783" y="2644004"/>
                <a:ext cx="466668" cy="381818"/>
              </a:xfrm>
              <a:prstGeom prst="rect">
                <a:avLst/>
              </a:prstGeom>
            </p:spPr>
          </p:pic>
          <p:sp>
            <p:nvSpPr>
              <p:cNvPr id="27" name="文本框 26"/>
              <p:cNvSpPr txBox="1"/>
              <p:nvPr/>
            </p:nvSpPr>
            <p:spPr bwMode="gray">
              <a:xfrm>
                <a:off x="7536295" y="2289974"/>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28"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045639" y="2640441"/>
                <a:ext cx="466668" cy="381818"/>
              </a:xfrm>
              <a:prstGeom prst="rect">
                <a:avLst/>
              </a:prstGeom>
            </p:spPr>
          </p:pic>
          <p:cxnSp>
            <p:nvCxnSpPr>
              <p:cNvPr id="29" name="直接连接符 28"/>
              <p:cNvCxnSpPr>
                <a:stCxn id="37" idx="1"/>
                <a:endCxn id="26" idx="2"/>
              </p:cNvCxnSpPr>
              <p:nvPr/>
            </p:nvCxnSpPr>
            <p:spPr bwMode="gray">
              <a:xfrm flipV="1">
                <a:off x="6858147" y="3029567"/>
                <a:ext cx="931970" cy="78714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29"/>
              <p:cNvCxnSpPr>
                <a:stCxn id="38" idx="1"/>
                <a:endCxn id="28" idx="2"/>
              </p:cNvCxnSpPr>
              <p:nvPr/>
            </p:nvCxnSpPr>
            <p:spPr bwMode="gray">
              <a:xfrm flipV="1">
                <a:off x="7927566" y="3026004"/>
                <a:ext cx="351407" cy="79070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2"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6996038" y="5183745"/>
                <a:ext cx="466668" cy="381818"/>
              </a:xfrm>
              <a:prstGeom prst="rect">
                <a:avLst/>
              </a:prstGeom>
            </p:spPr>
          </p:pic>
          <p:cxnSp>
            <p:nvCxnSpPr>
              <p:cNvPr id="34" name="直接连接符 33"/>
              <p:cNvCxnSpPr>
                <a:stCxn id="32" idx="0"/>
              </p:cNvCxnSpPr>
              <p:nvPr/>
            </p:nvCxnSpPr>
            <p:spPr bwMode="gray">
              <a:xfrm flipH="1" flipV="1">
                <a:off x="6814615" y="4224451"/>
                <a:ext cx="414757" cy="95554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Freeform 159"/>
              <p:cNvSpPr/>
              <p:nvPr/>
            </p:nvSpPr>
            <p:spPr bwMode="gray">
              <a:xfrm flipH="1">
                <a:off x="6343782" y="3750368"/>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传输专线</a:t>
                </a:r>
                <a:endParaRPr lang="en-US" sz="1400" dirty="0">
                  <a:solidFill>
                    <a:schemeClr val="tx1"/>
                  </a:solidFill>
                </a:endParaRPr>
              </a:p>
            </p:txBody>
          </p:sp>
          <p:sp>
            <p:nvSpPr>
              <p:cNvPr id="38" name="Freeform 159"/>
              <p:cNvSpPr/>
              <p:nvPr/>
            </p:nvSpPr>
            <p:spPr bwMode="gray">
              <a:xfrm flipH="1">
                <a:off x="7413201" y="3750368"/>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a:p>
                <a:pPr algn="ctr"/>
                <a:r>
                  <a:rPr lang="zh-CN" altLang="en-US" sz="1400" dirty="0">
                    <a:solidFill>
                      <a:schemeClr val="tx1"/>
                    </a:solidFill>
                  </a:rPr>
                  <a:t>专线</a:t>
                </a:r>
                <a:endParaRPr lang="en-US" sz="1400" dirty="0">
                  <a:solidFill>
                    <a:schemeClr val="tx1"/>
                  </a:solidFill>
                </a:endParaRPr>
              </a:p>
            </p:txBody>
          </p:sp>
          <p:sp>
            <p:nvSpPr>
              <p:cNvPr id="39" name="Freeform 159"/>
              <p:cNvSpPr/>
              <p:nvPr/>
            </p:nvSpPr>
            <p:spPr bwMode="gray">
              <a:xfrm flipH="1">
                <a:off x="8442747" y="374700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4G/5G</a:t>
                </a:r>
                <a:endParaRPr lang="en-US" sz="1400" dirty="0">
                  <a:solidFill>
                    <a:schemeClr val="tx1"/>
                  </a:solidFill>
                </a:endParaRPr>
              </a:p>
            </p:txBody>
          </p:sp>
          <p:sp>
            <p:nvSpPr>
              <p:cNvPr id="40" name="Freeform 159"/>
              <p:cNvSpPr/>
              <p:nvPr/>
            </p:nvSpPr>
            <p:spPr bwMode="gray">
              <a:xfrm flipH="1">
                <a:off x="9611708" y="374700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41" name="Freeform 159"/>
              <p:cNvSpPr/>
              <p:nvPr/>
            </p:nvSpPr>
            <p:spPr bwMode="gray">
              <a:xfrm flipH="1">
                <a:off x="10648511" y="375184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自建专线</a:t>
                </a:r>
                <a:endParaRPr lang="en-US" sz="1400" dirty="0">
                  <a:solidFill>
                    <a:schemeClr val="tx1"/>
                  </a:solidFill>
                </a:endParaRPr>
              </a:p>
            </p:txBody>
          </p:sp>
          <p:cxnSp>
            <p:nvCxnSpPr>
              <p:cNvPr id="42" name="直接连接符 33"/>
              <p:cNvCxnSpPr>
                <a:stCxn id="32" idx="0"/>
              </p:cNvCxnSpPr>
              <p:nvPr/>
            </p:nvCxnSpPr>
            <p:spPr bwMode="gray">
              <a:xfrm flipV="1">
                <a:off x="7229372" y="4224451"/>
                <a:ext cx="660718" cy="95554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4"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558748" y="1951187"/>
                <a:ext cx="417163" cy="342074"/>
              </a:xfrm>
              <a:prstGeom prst="rect">
                <a:avLst/>
              </a:prstGeom>
            </p:spPr>
          </p:pic>
          <p:pic>
            <p:nvPicPr>
              <p:cNvPr id="47" name="图片 51" descr="交换机.png"/>
              <p:cNvPicPr>
                <a:picLocks noChangeAspect="1"/>
              </p:cNvPicPr>
              <p:nvPr/>
            </p:nvPicPr>
            <p:blipFill>
              <a:blip r:embed="rId5" cstate="print"/>
              <a:stretch>
                <a:fillRect/>
              </a:stretch>
            </p:blipFill>
            <p:spPr bwMode="gray">
              <a:xfrm>
                <a:off x="6996038" y="5797854"/>
                <a:ext cx="417163" cy="341314"/>
              </a:xfrm>
              <a:prstGeom prst="rect">
                <a:avLst/>
              </a:prstGeom>
            </p:spPr>
          </p:pic>
          <p:pic>
            <p:nvPicPr>
              <p:cNvPr id="48" name="图片 14" descr="交换机.png"/>
              <p:cNvPicPr>
                <a:picLocks noChangeAspect="1"/>
              </p:cNvPicPr>
              <p:nvPr/>
            </p:nvPicPr>
            <p:blipFill>
              <a:blip r:embed="rId6" cstate="print"/>
              <a:stretch>
                <a:fillRect/>
              </a:stretch>
            </p:blipFill>
            <p:spPr bwMode="gray">
              <a:xfrm>
                <a:off x="8045639" y="1943806"/>
                <a:ext cx="420077" cy="343698"/>
              </a:xfrm>
              <a:prstGeom prst="rect">
                <a:avLst/>
              </a:prstGeom>
            </p:spPr>
          </p:pic>
          <p:sp>
            <p:nvSpPr>
              <p:cNvPr id="49" name="Freeform 159"/>
              <p:cNvSpPr/>
              <p:nvPr/>
            </p:nvSpPr>
            <p:spPr bwMode="gray">
              <a:xfrm flipH="1">
                <a:off x="8515188" y="541652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50"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750002" y="5179007"/>
                <a:ext cx="466668" cy="381818"/>
              </a:xfrm>
              <a:prstGeom prst="rect">
                <a:avLst/>
              </a:prstGeom>
            </p:spPr>
          </p:pic>
          <p:pic>
            <p:nvPicPr>
              <p:cNvPr id="52" name="图片 51" descr="交换机.png"/>
              <p:cNvPicPr>
                <a:picLocks noChangeAspect="1"/>
              </p:cNvPicPr>
              <p:nvPr/>
            </p:nvPicPr>
            <p:blipFill>
              <a:blip r:embed="rId5" cstate="print"/>
              <a:stretch>
                <a:fillRect/>
              </a:stretch>
            </p:blipFill>
            <p:spPr bwMode="gray">
              <a:xfrm>
                <a:off x="8750002" y="5793116"/>
                <a:ext cx="417163" cy="341314"/>
              </a:xfrm>
              <a:prstGeom prst="rect">
                <a:avLst/>
              </a:prstGeom>
            </p:spPr>
          </p:pic>
          <p:cxnSp>
            <p:nvCxnSpPr>
              <p:cNvPr id="56" name="直接连接符 33"/>
              <p:cNvCxnSpPr>
                <a:stCxn id="50" idx="0"/>
              </p:cNvCxnSpPr>
              <p:nvPr/>
            </p:nvCxnSpPr>
            <p:spPr bwMode="gray">
              <a:xfrm flipH="1" flipV="1">
                <a:off x="7875351" y="4226820"/>
                <a:ext cx="1107985" cy="94844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接连接符 33"/>
              <p:cNvCxnSpPr>
                <a:stCxn id="50" idx="0"/>
              </p:cNvCxnSpPr>
              <p:nvPr/>
            </p:nvCxnSpPr>
            <p:spPr bwMode="gray">
              <a:xfrm flipV="1">
                <a:off x="8983336" y="4226820"/>
                <a:ext cx="1046693" cy="948442"/>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33"/>
              <p:cNvCxnSpPr>
                <a:stCxn id="40" idx="0"/>
                <a:endCxn id="28" idx="2"/>
              </p:cNvCxnSpPr>
              <p:nvPr/>
            </p:nvCxnSpPr>
            <p:spPr bwMode="gray">
              <a:xfrm flipH="1" flipV="1">
                <a:off x="8278973" y="3026004"/>
                <a:ext cx="1688343" cy="72100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33"/>
              <p:cNvCxnSpPr>
                <a:stCxn id="40" idx="21"/>
                <a:endCxn id="39" idx="8"/>
              </p:cNvCxnSpPr>
              <p:nvPr/>
            </p:nvCxnSpPr>
            <p:spPr bwMode="gray">
              <a:xfrm flipH="1" flipV="1">
                <a:off x="9349685" y="4070754"/>
                <a:ext cx="262023" cy="8629"/>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Freeform 159"/>
              <p:cNvSpPr/>
              <p:nvPr/>
            </p:nvSpPr>
            <p:spPr bwMode="gray">
              <a:xfrm flipH="1">
                <a:off x="10121729" y="541652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72"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356543" y="5179007"/>
                <a:ext cx="466668" cy="381818"/>
              </a:xfrm>
              <a:prstGeom prst="rect">
                <a:avLst/>
              </a:prstGeom>
            </p:spPr>
          </p:pic>
          <p:pic>
            <p:nvPicPr>
              <p:cNvPr id="74" name="图片 51" descr="交换机.png"/>
              <p:cNvPicPr>
                <a:picLocks noChangeAspect="1"/>
              </p:cNvPicPr>
              <p:nvPr/>
            </p:nvPicPr>
            <p:blipFill>
              <a:blip r:embed="rId5" cstate="print"/>
              <a:stretch>
                <a:fillRect/>
              </a:stretch>
            </p:blipFill>
            <p:spPr bwMode="gray">
              <a:xfrm>
                <a:off x="10356543" y="5793116"/>
                <a:ext cx="417163" cy="341314"/>
              </a:xfrm>
              <a:prstGeom prst="rect">
                <a:avLst/>
              </a:prstGeom>
            </p:spPr>
          </p:pic>
          <p:cxnSp>
            <p:nvCxnSpPr>
              <p:cNvPr id="75" name="直接连接符 33"/>
              <p:cNvCxnSpPr>
                <a:stCxn id="72" idx="0"/>
              </p:cNvCxnSpPr>
              <p:nvPr/>
            </p:nvCxnSpPr>
            <p:spPr bwMode="gray">
              <a:xfrm flipH="1" flipV="1">
                <a:off x="10041434" y="4214747"/>
                <a:ext cx="548443" cy="96051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33"/>
              <p:cNvCxnSpPr>
                <a:stCxn id="72" idx="0"/>
              </p:cNvCxnSpPr>
              <p:nvPr/>
            </p:nvCxnSpPr>
            <p:spPr bwMode="gray">
              <a:xfrm flipV="1">
                <a:off x="10589877" y="4217168"/>
                <a:ext cx="494530" cy="95809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1" name="Freeform 159"/>
              <p:cNvSpPr/>
              <p:nvPr/>
            </p:nvSpPr>
            <p:spPr bwMode="gray">
              <a:xfrm flipH="1">
                <a:off x="9810247" y="214534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82"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905728" y="2644784"/>
                <a:ext cx="466668" cy="381818"/>
              </a:xfrm>
              <a:prstGeom prst="rect">
                <a:avLst/>
              </a:prstGeom>
            </p:spPr>
          </p:pic>
          <p:sp>
            <p:nvSpPr>
              <p:cNvPr id="83" name="文本框 26"/>
              <p:cNvSpPr txBox="1"/>
              <p:nvPr/>
            </p:nvSpPr>
            <p:spPr bwMode="gray">
              <a:xfrm>
                <a:off x="9885240" y="2290754"/>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84"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394584" y="2641221"/>
                <a:ext cx="466668" cy="381818"/>
              </a:xfrm>
              <a:prstGeom prst="rect">
                <a:avLst/>
              </a:prstGeom>
            </p:spPr>
          </p:pic>
          <p:pic>
            <p:nvPicPr>
              <p:cNvPr id="85"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907693" y="1951967"/>
                <a:ext cx="417163" cy="342074"/>
              </a:xfrm>
              <a:prstGeom prst="rect">
                <a:avLst/>
              </a:prstGeom>
            </p:spPr>
          </p:pic>
          <p:pic>
            <p:nvPicPr>
              <p:cNvPr id="86" name="图片 14" descr="交换机.png"/>
              <p:cNvPicPr>
                <a:picLocks noChangeAspect="1"/>
              </p:cNvPicPr>
              <p:nvPr/>
            </p:nvPicPr>
            <p:blipFill>
              <a:blip r:embed="rId6" cstate="print"/>
              <a:stretch>
                <a:fillRect/>
              </a:stretch>
            </p:blipFill>
            <p:spPr bwMode="gray">
              <a:xfrm>
                <a:off x="10394584" y="1944586"/>
                <a:ext cx="420077" cy="343698"/>
              </a:xfrm>
              <a:prstGeom prst="rect">
                <a:avLst/>
              </a:prstGeom>
            </p:spPr>
          </p:pic>
          <p:cxnSp>
            <p:nvCxnSpPr>
              <p:cNvPr id="94" name="直接连接符 33"/>
              <p:cNvCxnSpPr>
                <a:stCxn id="40" idx="3"/>
                <a:endCxn id="82" idx="2"/>
              </p:cNvCxnSpPr>
              <p:nvPr/>
            </p:nvCxnSpPr>
            <p:spPr bwMode="gray">
              <a:xfrm flipH="1" flipV="1">
                <a:off x="10139062" y="3030347"/>
                <a:ext cx="8021" cy="79083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33"/>
              <p:cNvCxnSpPr>
                <a:stCxn id="41" idx="1"/>
                <a:endCxn id="84" idx="2"/>
              </p:cNvCxnSpPr>
              <p:nvPr/>
            </p:nvCxnSpPr>
            <p:spPr bwMode="gray">
              <a:xfrm flipH="1" flipV="1">
                <a:off x="10627918" y="3026784"/>
                <a:ext cx="534958" cy="79140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59" name="图片 14" descr="数据中心-蓝.png"/>
            <p:cNvPicPr>
              <a:picLocks noChangeAspect="1"/>
            </p:cNvPicPr>
            <p:nvPr/>
          </p:nvPicPr>
          <p:blipFill>
            <a:blip r:embed="rId7" cstate="print">
              <a:duotone>
                <a:schemeClr val="accent3">
                  <a:shade val="45000"/>
                  <a:satMod val="135000"/>
                </a:schemeClr>
                <a:prstClr val="white"/>
              </a:duotone>
            </a:blip>
            <a:stretch>
              <a:fillRect/>
            </a:stretch>
          </p:blipFill>
          <p:spPr bwMode="gray">
            <a:xfrm rot="21026192">
              <a:off x="8902692" y="4257521"/>
              <a:ext cx="147793" cy="887040"/>
            </a:xfrm>
            <a:prstGeom prst="rect">
              <a:avLst/>
            </a:prstGeom>
            <a:ln>
              <a:noFill/>
            </a:ln>
          </p:spPr>
        </p:pic>
      </p:grpSp>
    </p:spTree>
    <p:extLst>
      <p:ext uri="{BB962C8B-B14F-4D97-AF65-F5344CB8AC3E}">
        <p14:creationId xmlns:p14="http://schemas.microsoft.com/office/powerpoint/2010/main" val="905902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企业广域互联组网技术</a:t>
            </a:r>
            <a:r>
              <a:rPr lang="en-US" altLang="zh-CN" dirty="0"/>
              <a:t> - </a:t>
            </a:r>
            <a:r>
              <a:rPr lang="zh-CN" altLang="en-US" dirty="0"/>
              <a:t>运营商专线</a:t>
            </a:r>
          </a:p>
        </p:txBody>
      </p:sp>
      <p:sp>
        <p:nvSpPr>
          <p:cNvPr id="3" name="Text Placeholder 2"/>
          <p:cNvSpPr>
            <a:spLocks noGrp="1"/>
          </p:cNvSpPr>
          <p:nvPr>
            <p:ph type="body" sz="quarter" idx="10"/>
          </p:nvPr>
        </p:nvSpPr>
        <p:spPr bwMode="gray">
          <a:xfrm>
            <a:off x="455613" y="1047750"/>
            <a:ext cx="5651312" cy="4879805"/>
          </a:xfrm>
        </p:spPr>
        <p:txBody>
          <a:bodyPr/>
          <a:lstStyle/>
          <a:p>
            <a:r>
              <a:rPr lang="zh-CN" altLang="en-US" sz="2000" dirty="0"/>
              <a:t>企业基于网络可靠性与网络安全性考虑，在构建企业广域网时会向运营商租用传输专线或</a:t>
            </a:r>
            <a:r>
              <a:rPr lang="en-US" altLang="zh-CN" sz="2000" dirty="0"/>
              <a:t>MPLS</a:t>
            </a:r>
            <a:r>
              <a:rPr lang="zh-CN" altLang="en-US" sz="2000" dirty="0"/>
              <a:t>专线：</a:t>
            </a:r>
            <a:endParaRPr lang="en-US" altLang="zh-CN" sz="2000" dirty="0"/>
          </a:p>
          <a:p>
            <a:pPr lvl="1"/>
            <a:r>
              <a:rPr lang="zh-CN" altLang="en-US" sz="1800" dirty="0"/>
              <a:t>向运营商租用传输专线价格昂贵，但是数据被承载在传输专用线路上，业务质量和业务安全都有保障。</a:t>
            </a:r>
            <a:endParaRPr lang="en-US" altLang="zh-CN" sz="1800" dirty="0"/>
          </a:p>
          <a:p>
            <a:pPr lvl="1"/>
            <a:r>
              <a:rPr lang="zh-CN" altLang="en-US" sz="1800" dirty="0"/>
              <a:t>向运营商租用</a:t>
            </a:r>
            <a:r>
              <a:rPr lang="en-US" altLang="zh-CN" sz="1800" dirty="0"/>
              <a:t>MPLS</a:t>
            </a:r>
            <a:r>
              <a:rPr lang="zh-CN" altLang="en-US" sz="1800" dirty="0"/>
              <a:t>专线线路在价格上比传输专线便宜，能够保障业务安全，但是业务可靠性没有传输专线好。</a:t>
            </a:r>
            <a:endParaRPr lang="en-US" altLang="zh-CN" sz="1800" dirty="0"/>
          </a:p>
          <a:p>
            <a:pPr lvl="1"/>
            <a:r>
              <a:rPr lang="zh-CN" altLang="en-US" sz="1800" dirty="0"/>
              <a:t>少部分企业（比如交通，电力）拥有部署光纤的能力，可以自建骨干网。</a:t>
            </a:r>
            <a:endParaRPr lang="en-US" altLang="zh-CN" sz="1800" dirty="0"/>
          </a:p>
        </p:txBody>
      </p:sp>
      <p:sp>
        <p:nvSpPr>
          <p:cNvPr id="4" name="圆角矩形 75"/>
          <p:cNvSpPr/>
          <p:nvPr/>
        </p:nvSpPr>
        <p:spPr bwMode="gray">
          <a:xfrm>
            <a:off x="6217293" y="1088313"/>
            <a:ext cx="545482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运营商专线技术</a:t>
            </a:r>
          </a:p>
        </p:txBody>
      </p:sp>
      <p:sp>
        <p:nvSpPr>
          <p:cNvPr id="5" name="圆角矩形 75"/>
          <p:cNvSpPr/>
          <p:nvPr/>
        </p:nvSpPr>
        <p:spPr bwMode="gray">
          <a:xfrm>
            <a:off x="6217293" y="1522600"/>
            <a:ext cx="5454824" cy="463114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Freeform 159"/>
          <p:cNvSpPr/>
          <p:nvPr/>
        </p:nvSpPr>
        <p:spPr bwMode="gray">
          <a:xfrm flipH="1">
            <a:off x="7165588" y="1990639"/>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8" name="Freeform 159"/>
          <p:cNvSpPr/>
          <p:nvPr/>
        </p:nvSpPr>
        <p:spPr bwMode="gray">
          <a:xfrm flipH="1">
            <a:off x="6909114" y="5138869"/>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9"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261069" y="2490080"/>
            <a:ext cx="466668" cy="381818"/>
          </a:xfrm>
          <a:prstGeom prst="rect">
            <a:avLst/>
          </a:prstGeom>
        </p:spPr>
      </p:pic>
      <p:sp>
        <p:nvSpPr>
          <p:cNvPr id="10" name="文本框 26"/>
          <p:cNvSpPr txBox="1"/>
          <p:nvPr/>
        </p:nvSpPr>
        <p:spPr bwMode="gray">
          <a:xfrm>
            <a:off x="7240581" y="2136050"/>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11"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749925" y="2486517"/>
            <a:ext cx="466668" cy="381818"/>
          </a:xfrm>
          <a:prstGeom prst="rect">
            <a:avLst/>
          </a:prstGeom>
        </p:spPr>
      </p:pic>
      <p:pic>
        <p:nvPicPr>
          <p:cNvPr id="12"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143928" y="4901355"/>
            <a:ext cx="466668" cy="381818"/>
          </a:xfrm>
          <a:prstGeom prst="rect">
            <a:avLst/>
          </a:prstGeom>
        </p:spPr>
      </p:pic>
      <p:pic>
        <p:nvPicPr>
          <p:cNvPr id="15"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263034" y="1797263"/>
            <a:ext cx="417163" cy="342074"/>
          </a:xfrm>
          <a:prstGeom prst="rect">
            <a:avLst/>
          </a:prstGeom>
        </p:spPr>
      </p:pic>
      <p:pic>
        <p:nvPicPr>
          <p:cNvPr id="16" name="图片 51" descr="交换机.png"/>
          <p:cNvPicPr>
            <a:picLocks noChangeAspect="1"/>
          </p:cNvPicPr>
          <p:nvPr/>
        </p:nvPicPr>
        <p:blipFill>
          <a:blip r:embed="rId5" cstate="print"/>
          <a:stretch>
            <a:fillRect/>
          </a:stretch>
        </p:blipFill>
        <p:spPr bwMode="gray">
          <a:xfrm>
            <a:off x="7143928" y="5515464"/>
            <a:ext cx="417163" cy="341314"/>
          </a:xfrm>
          <a:prstGeom prst="rect">
            <a:avLst/>
          </a:prstGeom>
        </p:spPr>
      </p:pic>
      <p:pic>
        <p:nvPicPr>
          <p:cNvPr id="17" name="图片 14" descr="交换机.png"/>
          <p:cNvPicPr>
            <a:picLocks noChangeAspect="1"/>
          </p:cNvPicPr>
          <p:nvPr/>
        </p:nvPicPr>
        <p:blipFill>
          <a:blip r:embed="rId6" cstate="print"/>
          <a:stretch>
            <a:fillRect/>
          </a:stretch>
        </p:blipFill>
        <p:spPr bwMode="gray">
          <a:xfrm>
            <a:off x="7749925" y="1789882"/>
            <a:ext cx="420077" cy="343698"/>
          </a:xfrm>
          <a:prstGeom prst="rect">
            <a:avLst/>
          </a:prstGeom>
        </p:spPr>
      </p:pic>
      <p:sp>
        <p:nvSpPr>
          <p:cNvPr id="18" name="Freeform 159"/>
          <p:cNvSpPr/>
          <p:nvPr/>
        </p:nvSpPr>
        <p:spPr bwMode="gray">
          <a:xfrm flipH="1">
            <a:off x="8850798" y="516855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19"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085612" y="4901355"/>
            <a:ext cx="466668" cy="381818"/>
          </a:xfrm>
          <a:prstGeom prst="rect">
            <a:avLst/>
          </a:prstGeom>
        </p:spPr>
      </p:pic>
      <p:pic>
        <p:nvPicPr>
          <p:cNvPr id="21" name="图片 51" descr="交换机.png"/>
          <p:cNvPicPr>
            <a:picLocks noChangeAspect="1"/>
          </p:cNvPicPr>
          <p:nvPr/>
        </p:nvPicPr>
        <p:blipFill>
          <a:blip r:embed="rId5" cstate="print"/>
          <a:stretch>
            <a:fillRect/>
          </a:stretch>
        </p:blipFill>
        <p:spPr bwMode="gray">
          <a:xfrm>
            <a:off x="9085612" y="5545152"/>
            <a:ext cx="417163" cy="341314"/>
          </a:xfrm>
          <a:prstGeom prst="rect">
            <a:avLst/>
          </a:prstGeom>
        </p:spPr>
      </p:pic>
      <p:cxnSp>
        <p:nvCxnSpPr>
          <p:cNvPr id="22" name="直接连接符 33"/>
          <p:cNvCxnSpPr>
            <a:stCxn id="19" idx="0"/>
          </p:cNvCxnSpPr>
          <p:nvPr/>
        </p:nvCxnSpPr>
        <p:spPr bwMode="gray">
          <a:xfrm flipH="1" flipV="1">
            <a:off x="9308766" y="4045132"/>
            <a:ext cx="0" cy="85247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Freeform 159"/>
          <p:cNvSpPr/>
          <p:nvPr/>
        </p:nvSpPr>
        <p:spPr bwMode="gray">
          <a:xfrm flipH="1">
            <a:off x="10075053" y="516855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24"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309867" y="4931043"/>
            <a:ext cx="466668" cy="381818"/>
          </a:xfrm>
          <a:prstGeom prst="rect">
            <a:avLst/>
          </a:prstGeom>
        </p:spPr>
      </p:pic>
      <p:pic>
        <p:nvPicPr>
          <p:cNvPr id="26" name="图片 51" descr="交换机.png"/>
          <p:cNvPicPr>
            <a:picLocks noChangeAspect="1"/>
          </p:cNvPicPr>
          <p:nvPr/>
        </p:nvPicPr>
        <p:blipFill>
          <a:blip r:embed="rId5" cstate="print"/>
          <a:stretch>
            <a:fillRect/>
          </a:stretch>
        </p:blipFill>
        <p:spPr bwMode="gray">
          <a:xfrm>
            <a:off x="10309867" y="5545152"/>
            <a:ext cx="417163" cy="341314"/>
          </a:xfrm>
          <a:prstGeom prst="rect">
            <a:avLst/>
          </a:prstGeom>
        </p:spPr>
      </p:pic>
      <p:sp>
        <p:nvSpPr>
          <p:cNvPr id="27" name="Freeform 159"/>
          <p:cNvSpPr/>
          <p:nvPr/>
        </p:nvSpPr>
        <p:spPr bwMode="gray">
          <a:xfrm flipH="1">
            <a:off x="9514533" y="1991419"/>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8"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610014" y="2490860"/>
            <a:ext cx="466668" cy="381818"/>
          </a:xfrm>
          <a:prstGeom prst="rect">
            <a:avLst/>
          </a:prstGeom>
        </p:spPr>
      </p:pic>
      <p:sp>
        <p:nvSpPr>
          <p:cNvPr id="29" name="文本框 26"/>
          <p:cNvSpPr txBox="1"/>
          <p:nvPr/>
        </p:nvSpPr>
        <p:spPr bwMode="gray">
          <a:xfrm>
            <a:off x="9589526" y="2136830"/>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30"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098870" y="2487297"/>
            <a:ext cx="466668" cy="381818"/>
          </a:xfrm>
          <a:prstGeom prst="rect">
            <a:avLst/>
          </a:prstGeom>
        </p:spPr>
      </p:pic>
      <p:pic>
        <p:nvPicPr>
          <p:cNvPr id="31"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611979" y="1798043"/>
            <a:ext cx="417163" cy="342074"/>
          </a:xfrm>
          <a:prstGeom prst="rect">
            <a:avLst/>
          </a:prstGeom>
        </p:spPr>
      </p:pic>
      <p:pic>
        <p:nvPicPr>
          <p:cNvPr id="32" name="图片 14" descr="交换机.png"/>
          <p:cNvPicPr>
            <a:picLocks noChangeAspect="1"/>
          </p:cNvPicPr>
          <p:nvPr/>
        </p:nvPicPr>
        <p:blipFill>
          <a:blip r:embed="rId6" cstate="print"/>
          <a:stretch>
            <a:fillRect/>
          </a:stretch>
        </p:blipFill>
        <p:spPr bwMode="gray">
          <a:xfrm>
            <a:off x="10098870" y="1790662"/>
            <a:ext cx="420077" cy="343698"/>
          </a:xfrm>
          <a:prstGeom prst="rect">
            <a:avLst/>
          </a:prstGeom>
        </p:spPr>
      </p:pic>
      <p:cxnSp>
        <p:nvCxnSpPr>
          <p:cNvPr id="34" name="直接连接符 33"/>
          <p:cNvCxnSpPr>
            <a:endCxn id="9" idx="2"/>
          </p:cNvCxnSpPr>
          <p:nvPr/>
        </p:nvCxnSpPr>
        <p:spPr bwMode="gray">
          <a:xfrm flipV="1">
            <a:off x="7494403" y="2875643"/>
            <a:ext cx="0" cy="61269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3"/>
          <p:cNvCxnSpPr>
            <a:endCxn id="11" idx="2"/>
          </p:cNvCxnSpPr>
          <p:nvPr/>
        </p:nvCxnSpPr>
        <p:spPr bwMode="gray">
          <a:xfrm flipV="1">
            <a:off x="7983259" y="2872080"/>
            <a:ext cx="0" cy="76096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连接符 33"/>
          <p:cNvCxnSpPr>
            <a:endCxn id="28" idx="2"/>
          </p:cNvCxnSpPr>
          <p:nvPr/>
        </p:nvCxnSpPr>
        <p:spPr bwMode="gray">
          <a:xfrm flipV="1">
            <a:off x="9843347" y="2876423"/>
            <a:ext cx="1" cy="59195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33"/>
          <p:cNvCxnSpPr>
            <a:endCxn id="30" idx="2"/>
          </p:cNvCxnSpPr>
          <p:nvPr/>
        </p:nvCxnSpPr>
        <p:spPr bwMode="gray">
          <a:xfrm flipH="1" flipV="1">
            <a:off x="10332204" y="2872860"/>
            <a:ext cx="1594" cy="771966"/>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3"/>
          <p:cNvCxnSpPr>
            <a:stCxn id="12" idx="0"/>
          </p:cNvCxnSpPr>
          <p:nvPr/>
        </p:nvCxnSpPr>
        <p:spPr bwMode="gray">
          <a:xfrm flipV="1">
            <a:off x="7377262" y="4031475"/>
            <a:ext cx="0" cy="86613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连接符 33"/>
          <p:cNvCxnSpPr/>
          <p:nvPr/>
        </p:nvCxnSpPr>
        <p:spPr bwMode="gray">
          <a:xfrm flipH="1" flipV="1">
            <a:off x="8332372" y="4041183"/>
            <a:ext cx="1" cy="119356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33"/>
          <p:cNvCxnSpPr>
            <a:stCxn id="24" idx="0"/>
          </p:cNvCxnSpPr>
          <p:nvPr/>
        </p:nvCxnSpPr>
        <p:spPr bwMode="gray">
          <a:xfrm flipV="1">
            <a:off x="10543201" y="3996285"/>
            <a:ext cx="0" cy="93101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Freeform 40"/>
          <p:cNvSpPr/>
          <p:nvPr/>
        </p:nvSpPr>
        <p:spPr bwMode="gray">
          <a:xfrm>
            <a:off x="7269620" y="2874173"/>
            <a:ext cx="124897" cy="2076391"/>
          </a:xfrm>
          <a:custGeom>
            <a:avLst/>
            <a:gdLst>
              <a:gd name="connsiteX0" fmla="*/ 119269 w 138789"/>
              <a:gd name="connsiteY0" fmla="*/ 0 h 1958008"/>
              <a:gd name="connsiteX1" fmla="*/ 129209 w 138789"/>
              <a:gd name="connsiteY1" fmla="*/ 954156 h 1958008"/>
              <a:gd name="connsiteX2" fmla="*/ 0 w 138789"/>
              <a:gd name="connsiteY2" fmla="*/ 1958008 h 1958008"/>
            </a:gdLst>
            <a:ahLst/>
            <a:cxnLst>
              <a:cxn ang="0">
                <a:pos x="connsiteX0" y="connsiteY0"/>
              </a:cxn>
              <a:cxn ang="0">
                <a:pos x="connsiteX1" y="connsiteY1"/>
              </a:cxn>
              <a:cxn ang="0">
                <a:pos x="connsiteX2" y="connsiteY2"/>
              </a:cxn>
            </a:cxnLst>
            <a:rect l="l" t="t" r="r" b="b"/>
            <a:pathLst>
              <a:path w="138789" h="1958008">
                <a:moveTo>
                  <a:pt x="119269" y="0"/>
                </a:moveTo>
                <a:cubicBezTo>
                  <a:pt x="134178" y="313910"/>
                  <a:pt x="149087" y="627821"/>
                  <a:pt x="129209" y="954156"/>
                </a:cubicBezTo>
                <a:cubicBezTo>
                  <a:pt x="109331" y="1280491"/>
                  <a:pt x="0" y="1958008"/>
                  <a:pt x="0" y="1958008"/>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41"/>
          <p:cNvSpPr/>
          <p:nvPr/>
        </p:nvSpPr>
        <p:spPr bwMode="gray">
          <a:xfrm>
            <a:off x="7854977" y="2833932"/>
            <a:ext cx="404103" cy="2365513"/>
          </a:xfrm>
          <a:custGeom>
            <a:avLst/>
            <a:gdLst>
              <a:gd name="connsiteX0" fmla="*/ 795 w 640412"/>
              <a:gd name="connsiteY0" fmla="*/ 0 h 2365513"/>
              <a:gd name="connsiteX1" fmla="*/ 90247 w 640412"/>
              <a:gd name="connsiteY1" fmla="*/ 884583 h 2365513"/>
              <a:gd name="connsiteX2" fmla="*/ 567325 w 640412"/>
              <a:gd name="connsiteY2" fmla="*/ 1540566 h 2365513"/>
              <a:gd name="connsiteX3" fmla="*/ 626960 w 640412"/>
              <a:gd name="connsiteY3" fmla="*/ 2365513 h 2365513"/>
            </a:gdLst>
            <a:ahLst/>
            <a:cxnLst>
              <a:cxn ang="0">
                <a:pos x="connsiteX0" y="connsiteY0"/>
              </a:cxn>
              <a:cxn ang="0">
                <a:pos x="connsiteX1" y="connsiteY1"/>
              </a:cxn>
              <a:cxn ang="0">
                <a:pos x="connsiteX2" y="connsiteY2"/>
              </a:cxn>
              <a:cxn ang="0">
                <a:pos x="connsiteX3" y="connsiteY3"/>
              </a:cxn>
            </a:cxnLst>
            <a:rect l="l" t="t" r="r" b="b"/>
            <a:pathLst>
              <a:path w="640412" h="2365513">
                <a:moveTo>
                  <a:pt x="795" y="0"/>
                </a:moveTo>
                <a:cubicBezTo>
                  <a:pt x="-1690" y="313911"/>
                  <a:pt x="-4175" y="627822"/>
                  <a:pt x="90247" y="884583"/>
                </a:cubicBezTo>
                <a:cubicBezTo>
                  <a:pt x="184669" y="1141344"/>
                  <a:pt x="477873" y="1293744"/>
                  <a:pt x="567325" y="1540566"/>
                </a:cubicBezTo>
                <a:cubicBezTo>
                  <a:pt x="656777" y="1787388"/>
                  <a:pt x="646838" y="2322444"/>
                  <a:pt x="626960" y="2365513"/>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Freeform 43"/>
          <p:cNvSpPr/>
          <p:nvPr/>
        </p:nvSpPr>
        <p:spPr bwMode="gray">
          <a:xfrm>
            <a:off x="9365681" y="2902740"/>
            <a:ext cx="576469" cy="1987826"/>
          </a:xfrm>
          <a:custGeom>
            <a:avLst/>
            <a:gdLst>
              <a:gd name="connsiteX0" fmla="*/ 576469 w 576469"/>
              <a:gd name="connsiteY0" fmla="*/ 0 h 1987826"/>
              <a:gd name="connsiteX1" fmla="*/ 506895 w 576469"/>
              <a:gd name="connsiteY1" fmla="*/ 874644 h 1987826"/>
              <a:gd name="connsiteX2" fmla="*/ 159026 w 576469"/>
              <a:gd name="connsiteY2" fmla="*/ 1202635 h 1987826"/>
              <a:gd name="connsiteX3" fmla="*/ 0 w 576469"/>
              <a:gd name="connsiteY3" fmla="*/ 1987826 h 1987826"/>
            </a:gdLst>
            <a:ahLst/>
            <a:cxnLst>
              <a:cxn ang="0">
                <a:pos x="connsiteX0" y="connsiteY0"/>
              </a:cxn>
              <a:cxn ang="0">
                <a:pos x="connsiteX1" y="connsiteY1"/>
              </a:cxn>
              <a:cxn ang="0">
                <a:pos x="connsiteX2" y="connsiteY2"/>
              </a:cxn>
              <a:cxn ang="0">
                <a:pos x="connsiteX3" y="connsiteY3"/>
              </a:cxn>
            </a:cxnLst>
            <a:rect l="l" t="t" r="r" b="b"/>
            <a:pathLst>
              <a:path w="576469" h="1987826">
                <a:moveTo>
                  <a:pt x="576469" y="0"/>
                </a:moveTo>
                <a:cubicBezTo>
                  <a:pt x="576469" y="337102"/>
                  <a:pt x="576469" y="674205"/>
                  <a:pt x="506895" y="874644"/>
                </a:cubicBezTo>
                <a:cubicBezTo>
                  <a:pt x="437321" y="1075083"/>
                  <a:pt x="243508" y="1017105"/>
                  <a:pt x="159026" y="1202635"/>
                </a:cubicBezTo>
                <a:cubicBezTo>
                  <a:pt x="74544" y="1388165"/>
                  <a:pt x="0" y="1987826"/>
                  <a:pt x="0" y="1987826"/>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Freeform 44"/>
          <p:cNvSpPr/>
          <p:nvPr/>
        </p:nvSpPr>
        <p:spPr bwMode="gray">
          <a:xfrm>
            <a:off x="10220446" y="2872923"/>
            <a:ext cx="447996" cy="1997765"/>
          </a:xfrm>
          <a:custGeom>
            <a:avLst/>
            <a:gdLst>
              <a:gd name="connsiteX0" fmla="*/ 0 w 447996"/>
              <a:gd name="connsiteY0" fmla="*/ 0 h 1997765"/>
              <a:gd name="connsiteX1" fmla="*/ 149087 w 447996"/>
              <a:gd name="connsiteY1" fmla="*/ 964096 h 1997765"/>
              <a:gd name="connsiteX2" fmla="*/ 427382 w 447996"/>
              <a:gd name="connsiteY2" fmla="*/ 1113183 h 1997765"/>
              <a:gd name="connsiteX3" fmla="*/ 427382 w 447996"/>
              <a:gd name="connsiteY3" fmla="*/ 1997765 h 1997765"/>
            </a:gdLst>
            <a:ahLst/>
            <a:cxnLst>
              <a:cxn ang="0">
                <a:pos x="connsiteX0" y="connsiteY0"/>
              </a:cxn>
              <a:cxn ang="0">
                <a:pos x="connsiteX1" y="connsiteY1"/>
              </a:cxn>
              <a:cxn ang="0">
                <a:pos x="connsiteX2" y="connsiteY2"/>
              </a:cxn>
              <a:cxn ang="0">
                <a:pos x="connsiteX3" y="connsiteY3"/>
              </a:cxn>
            </a:cxnLst>
            <a:rect l="l" t="t" r="r" b="b"/>
            <a:pathLst>
              <a:path w="447996" h="1997765">
                <a:moveTo>
                  <a:pt x="0" y="0"/>
                </a:moveTo>
                <a:cubicBezTo>
                  <a:pt x="38928" y="389283"/>
                  <a:pt x="77857" y="778566"/>
                  <a:pt x="149087" y="964096"/>
                </a:cubicBezTo>
                <a:cubicBezTo>
                  <a:pt x="220317" y="1149626"/>
                  <a:pt x="381000" y="940905"/>
                  <a:pt x="427382" y="1113183"/>
                </a:cubicBezTo>
                <a:cubicBezTo>
                  <a:pt x="473765" y="1285461"/>
                  <a:pt x="427382" y="1997765"/>
                  <a:pt x="427382" y="1997765"/>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59"/>
          <p:cNvSpPr/>
          <p:nvPr/>
        </p:nvSpPr>
        <p:spPr bwMode="gray">
          <a:xfrm flipH="1">
            <a:off x="6826396" y="3409816"/>
            <a:ext cx="1861758" cy="6503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800" dirty="0">
                <a:solidFill>
                  <a:schemeClr val="tx1"/>
                </a:solidFill>
              </a:rPr>
              <a:t>传输专线</a:t>
            </a:r>
            <a:endParaRPr lang="en-US" sz="1800" dirty="0">
              <a:solidFill>
                <a:schemeClr val="tx1"/>
              </a:solidFill>
            </a:endParaRPr>
          </a:p>
        </p:txBody>
      </p:sp>
      <p:sp>
        <p:nvSpPr>
          <p:cNvPr id="51" name="Freeform 159"/>
          <p:cNvSpPr/>
          <p:nvPr/>
        </p:nvSpPr>
        <p:spPr bwMode="gray">
          <a:xfrm flipH="1">
            <a:off x="7881184" y="5154677"/>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rgbClr val="000000"/>
                </a:solidFill>
                <a:latin typeface="Huawei Sans" panose="020C0503030203020204" pitchFamily="34" charset="0"/>
                <a:ea typeface="方正兰亭黑简体" panose="02000000000000000000" pitchFamily="2" charset="-122"/>
              </a:rPr>
              <a:t>分支站点</a:t>
            </a:r>
          </a:p>
        </p:txBody>
      </p:sp>
      <p:pic>
        <p:nvPicPr>
          <p:cNvPr id="52"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8115998" y="4887475"/>
            <a:ext cx="466668" cy="381818"/>
          </a:xfrm>
          <a:prstGeom prst="rect">
            <a:avLst/>
          </a:prstGeom>
        </p:spPr>
      </p:pic>
      <p:pic>
        <p:nvPicPr>
          <p:cNvPr id="54" name="图片 51" descr="交换机.png"/>
          <p:cNvPicPr>
            <a:picLocks noChangeAspect="1"/>
          </p:cNvPicPr>
          <p:nvPr/>
        </p:nvPicPr>
        <p:blipFill>
          <a:blip r:embed="rId5" cstate="print"/>
          <a:stretch>
            <a:fillRect/>
          </a:stretch>
        </p:blipFill>
        <p:spPr bwMode="gray">
          <a:xfrm>
            <a:off x="8115998" y="5531272"/>
            <a:ext cx="417163" cy="341314"/>
          </a:xfrm>
          <a:prstGeom prst="rect">
            <a:avLst/>
          </a:prstGeom>
        </p:spPr>
      </p:pic>
      <p:sp>
        <p:nvSpPr>
          <p:cNvPr id="46" name="Rounded Rectangle 45"/>
          <p:cNvSpPr/>
          <p:nvPr/>
        </p:nvSpPr>
        <p:spPr bwMode="gray">
          <a:xfrm>
            <a:off x="6716612" y="3881369"/>
            <a:ext cx="2071509"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zh-CN" altLang="en-US" sz="1400" dirty="0">
                <a:solidFill>
                  <a:srgbClr val="FF0000"/>
                </a:solidFill>
              </a:rPr>
              <a:t>裸纤</a:t>
            </a:r>
            <a:r>
              <a:rPr lang="en-US" altLang="zh-CN" sz="1400" dirty="0">
                <a:solidFill>
                  <a:schemeClr val="tx1"/>
                </a:solidFill>
              </a:rPr>
              <a:t>/SDH/MSTP/WDM</a:t>
            </a:r>
            <a:endParaRPr lang="zh-CN" altLang="en-US" sz="1400" dirty="0">
              <a:solidFill>
                <a:schemeClr val="tx1"/>
              </a:solidFill>
            </a:endParaRPr>
          </a:p>
        </p:txBody>
      </p:sp>
      <p:sp>
        <p:nvSpPr>
          <p:cNvPr id="55" name="Freeform 159"/>
          <p:cNvSpPr/>
          <p:nvPr/>
        </p:nvSpPr>
        <p:spPr bwMode="gray">
          <a:xfrm flipH="1">
            <a:off x="9209460" y="3401819"/>
            <a:ext cx="1861758" cy="6503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800" dirty="0">
                <a:solidFill>
                  <a:schemeClr val="tx1"/>
                </a:solidFill>
              </a:rPr>
              <a:t>MPLS</a:t>
            </a:r>
            <a:r>
              <a:rPr lang="zh-CN" altLang="en-US" sz="1800" dirty="0">
                <a:solidFill>
                  <a:schemeClr val="tx1"/>
                </a:solidFill>
              </a:rPr>
              <a:t>专线</a:t>
            </a:r>
            <a:endParaRPr lang="en-US" sz="1800" dirty="0">
              <a:solidFill>
                <a:schemeClr val="tx1"/>
              </a:solidFill>
            </a:endParaRPr>
          </a:p>
        </p:txBody>
      </p:sp>
      <p:sp>
        <p:nvSpPr>
          <p:cNvPr id="56" name="Rounded Rectangle 55"/>
          <p:cNvSpPr/>
          <p:nvPr/>
        </p:nvSpPr>
        <p:spPr bwMode="gray">
          <a:xfrm>
            <a:off x="8913813" y="3874853"/>
            <a:ext cx="2528060"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altLang="zh-CN" sz="1400" dirty="0">
                <a:solidFill>
                  <a:srgbClr val="FF0000"/>
                </a:solidFill>
              </a:rPr>
              <a:t>MPLS L2VPN/MPLS L3VPN</a:t>
            </a:r>
            <a:endParaRPr lang="zh-CN" altLang="en-US" sz="1400" dirty="0">
              <a:solidFill>
                <a:srgbClr val="FF0000"/>
              </a:solidFill>
            </a:endParaRPr>
          </a:p>
        </p:txBody>
      </p:sp>
    </p:spTree>
    <p:extLst>
      <p:ext uri="{BB962C8B-B14F-4D97-AF65-F5344CB8AC3E}">
        <p14:creationId xmlns:p14="http://schemas.microsoft.com/office/powerpoint/2010/main" val="2159894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a:t>企业广域互联组网技术</a:t>
            </a:r>
            <a:r>
              <a:rPr lang="en-US" altLang="zh-CN"/>
              <a:t> - Internet</a:t>
            </a:r>
            <a:r>
              <a:rPr lang="zh-CN" altLang="en-US"/>
              <a:t>与</a:t>
            </a:r>
            <a:r>
              <a:rPr lang="en-US" altLang="zh-CN"/>
              <a:t>VPN</a:t>
            </a:r>
            <a:endParaRPr lang="zh-CN" altLang="en-US" dirty="0"/>
          </a:p>
        </p:txBody>
      </p:sp>
      <p:sp>
        <p:nvSpPr>
          <p:cNvPr id="4" name="Text Placeholder 3"/>
          <p:cNvSpPr>
            <a:spLocks noGrp="1"/>
          </p:cNvSpPr>
          <p:nvPr>
            <p:ph type="body" sz="quarter" idx="10"/>
          </p:nvPr>
        </p:nvSpPr>
        <p:spPr bwMode="gray">
          <a:xfrm>
            <a:off x="455612" y="1047750"/>
            <a:ext cx="5642873" cy="4879805"/>
          </a:xfrm>
        </p:spPr>
        <p:txBody>
          <a:bodyPr/>
          <a:lstStyle/>
          <a:p>
            <a:r>
              <a:rPr lang="zh-CN" altLang="en-US" sz="1800" dirty="0"/>
              <a:t>随着</a:t>
            </a:r>
            <a:r>
              <a:rPr lang="en-US" altLang="zh-CN" sz="1800" dirty="0"/>
              <a:t>Internet</a:t>
            </a:r>
            <a:r>
              <a:rPr lang="zh-CN" altLang="en-US" sz="1800" dirty="0"/>
              <a:t>的发展，部分的企业业务可以使用</a:t>
            </a:r>
            <a:r>
              <a:rPr lang="en-US" altLang="zh-CN" sz="1800" dirty="0"/>
              <a:t>Internet</a:t>
            </a:r>
            <a:r>
              <a:rPr lang="zh-CN" altLang="en-US" sz="1800" dirty="0"/>
              <a:t>承载。</a:t>
            </a:r>
            <a:endParaRPr lang="en-US" altLang="zh-CN" sz="1800" dirty="0"/>
          </a:p>
          <a:p>
            <a:r>
              <a:rPr lang="zh-CN" altLang="en-US" sz="1800" dirty="0"/>
              <a:t>由于</a:t>
            </a:r>
            <a:r>
              <a:rPr lang="en-US" altLang="zh-CN" sz="1800" dirty="0"/>
              <a:t>Internet</a:t>
            </a:r>
            <a:r>
              <a:rPr lang="zh-CN" altLang="en-US" sz="1800" dirty="0"/>
              <a:t>有安全风险，因此需要使用</a:t>
            </a:r>
            <a:r>
              <a:rPr lang="en-US" altLang="zh-CN" sz="1800" dirty="0"/>
              <a:t>VPN</a:t>
            </a:r>
            <a:r>
              <a:rPr lang="zh-CN" altLang="en-US" sz="1800" dirty="0"/>
              <a:t>技术提供安全可靠的连接。</a:t>
            </a:r>
            <a:endParaRPr lang="en-US" altLang="zh-CN" sz="1800" dirty="0"/>
          </a:p>
          <a:p>
            <a:r>
              <a:rPr lang="zh-CN" altLang="en-US" sz="1800" dirty="0"/>
              <a:t>以</a:t>
            </a:r>
            <a:r>
              <a:rPr lang="en-US" altLang="zh-CN" sz="1800" dirty="0"/>
              <a:t>PPTP</a:t>
            </a:r>
            <a:r>
              <a:rPr lang="zh-CN" altLang="en-US" sz="1800" dirty="0"/>
              <a:t>，</a:t>
            </a:r>
            <a:r>
              <a:rPr lang="en-US" altLang="zh-CN" sz="1800" dirty="0"/>
              <a:t>L2TP</a:t>
            </a:r>
            <a:r>
              <a:rPr lang="zh-CN" altLang="en-US" sz="1800" dirty="0"/>
              <a:t>以及</a:t>
            </a:r>
            <a:r>
              <a:rPr lang="en-US" altLang="zh-CN" sz="1800" dirty="0" err="1"/>
              <a:t>PPPoE</a:t>
            </a:r>
            <a:r>
              <a:rPr lang="zh-CN" altLang="en-US" sz="1800" dirty="0"/>
              <a:t>为代表的</a:t>
            </a:r>
            <a:r>
              <a:rPr lang="en-US" altLang="zh-CN" sz="1800" dirty="0"/>
              <a:t>VPDN</a:t>
            </a:r>
            <a:r>
              <a:rPr lang="zh-CN" altLang="en-US" sz="1800" dirty="0"/>
              <a:t>技术提供终端用户或者分支拨号连接到运营商或者总部网络的能力。</a:t>
            </a:r>
            <a:endParaRPr lang="en-US" altLang="zh-CN" sz="1800" dirty="0"/>
          </a:p>
          <a:p>
            <a:r>
              <a:rPr lang="zh-CN" altLang="en-US" sz="1800" dirty="0"/>
              <a:t>以</a:t>
            </a:r>
            <a:r>
              <a:rPr lang="en-US" altLang="zh-CN" sz="1800" dirty="0" err="1"/>
              <a:t>Ipsec</a:t>
            </a:r>
            <a:r>
              <a:rPr lang="en-US" altLang="zh-CN" sz="1800" dirty="0"/>
              <a:t> VPN</a:t>
            </a:r>
            <a:r>
              <a:rPr lang="zh-CN" altLang="en-US" sz="1800" dirty="0"/>
              <a:t>为基础的网络更多地成为企业分支之间以及分支总部互连的选择。（</a:t>
            </a:r>
            <a:r>
              <a:rPr lang="en-US" altLang="zh-CN" sz="1800" dirty="0"/>
              <a:t>AH</a:t>
            </a:r>
            <a:r>
              <a:rPr lang="zh-CN" altLang="en-US" sz="1800" dirty="0"/>
              <a:t>、</a:t>
            </a:r>
            <a:r>
              <a:rPr lang="en-US" altLang="zh-CN" sz="1800" dirty="0"/>
              <a:t>ESP</a:t>
            </a:r>
            <a:r>
              <a:rPr lang="zh-CN" altLang="en-US" sz="1800" dirty="0"/>
              <a:t>）</a:t>
            </a:r>
            <a:endParaRPr lang="en-US" altLang="zh-CN" sz="1800" dirty="0"/>
          </a:p>
          <a:p>
            <a:r>
              <a:rPr lang="zh-CN" altLang="en-US" sz="1800" dirty="0"/>
              <a:t>为了解决</a:t>
            </a:r>
            <a:r>
              <a:rPr lang="en-US" altLang="zh-CN" sz="1800" dirty="0"/>
              <a:t>IPsec</a:t>
            </a:r>
            <a:r>
              <a:rPr lang="zh-CN" altLang="en-US" sz="1800" dirty="0"/>
              <a:t>在大规模组网配置复杂的问题，</a:t>
            </a:r>
            <a:r>
              <a:rPr lang="en-US" altLang="zh-CN" sz="1800" dirty="0"/>
              <a:t>DSVPN, A2A VPN</a:t>
            </a:r>
            <a:r>
              <a:rPr lang="zh-CN" altLang="en-US" sz="1800" dirty="0"/>
              <a:t>等技术也发展起来并被广泛使用。</a:t>
            </a:r>
            <a:endParaRPr lang="en-US" altLang="zh-CN" sz="1800" dirty="0"/>
          </a:p>
        </p:txBody>
      </p:sp>
      <p:sp>
        <p:nvSpPr>
          <p:cNvPr id="44" name="圆角矩形 75"/>
          <p:cNvSpPr/>
          <p:nvPr/>
        </p:nvSpPr>
        <p:spPr bwMode="gray">
          <a:xfrm>
            <a:off x="6183624" y="1088313"/>
            <a:ext cx="545482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rPr>
              <a:t>Internet</a:t>
            </a:r>
            <a:r>
              <a:rPr lang="zh-CN" altLang="en-US" sz="1600">
                <a:solidFill>
                  <a:srgbClr val="30B5C5"/>
                </a:solidFill>
                <a:latin typeface="Huawei Sans" panose="020C0503030203020204" pitchFamily="34" charset="0"/>
                <a:ea typeface="方正兰亭黑简体" panose="02000000000000000000" pitchFamily="2" charset="-122"/>
              </a:rPr>
              <a:t>与</a:t>
            </a:r>
            <a:r>
              <a:rPr lang="en-US" altLang="zh-CN" sz="1600">
                <a:solidFill>
                  <a:srgbClr val="30B5C5"/>
                </a:solidFill>
                <a:latin typeface="Huawei Sans" panose="020C0503030203020204" pitchFamily="34" charset="0"/>
                <a:ea typeface="方正兰亭黑简体" panose="02000000000000000000" pitchFamily="2" charset="-122"/>
              </a:rPr>
              <a:t>VPN</a:t>
            </a:r>
            <a:r>
              <a:rPr lang="zh-CN" altLang="en-US" sz="1600" dirty="0">
                <a:solidFill>
                  <a:srgbClr val="30B5C5"/>
                </a:solidFill>
                <a:latin typeface="Huawei Sans" panose="020C0503030203020204" pitchFamily="34" charset="0"/>
                <a:ea typeface="方正兰亭黑简体" panose="02000000000000000000" pitchFamily="2" charset="-122"/>
              </a:rPr>
              <a:t>技术</a:t>
            </a:r>
          </a:p>
        </p:txBody>
      </p:sp>
      <p:sp>
        <p:nvSpPr>
          <p:cNvPr id="45" name="圆角矩形 75"/>
          <p:cNvSpPr/>
          <p:nvPr/>
        </p:nvSpPr>
        <p:spPr bwMode="gray">
          <a:xfrm>
            <a:off x="6183624" y="1522600"/>
            <a:ext cx="5454824" cy="463114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5" name="Group 124"/>
          <p:cNvGrpSpPr/>
          <p:nvPr/>
        </p:nvGrpSpPr>
        <p:grpSpPr bwMode="gray">
          <a:xfrm>
            <a:off x="6804802" y="1789882"/>
            <a:ext cx="4212468" cy="4096584"/>
            <a:chOff x="6885147" y="2037846"/>
            <a:chExt cx="4212468" cy="4096584"/>
          </a:xfrm>
        </p:grpSpPr>
        <p:sp>
          <p:nvSpPr>
            <p:cNvPr id="47" name="Freeform 159"/>
            <p:cNvSpPr/>
            <p:nvPr/>
          </p:nvSpPr>
          <p:spPr bwMode="gray">
            <a:xfrm flipH="1">
              <a:off x="7212264" y="223860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48" name="Freeform 159"/>
            <p:cNvSpPr/>
            <p:nvPr/>
          </p:nvSpPr>
          <p:spPr bwMode="gray">
            <a:xfrm flipH="1">
              <a:off x="6955790" y="538683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49"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307745" y="2738044"/>
              <a:ext cx="466668" cy="381818"/>
            </a:xfrm>
            <a:prstGeom prst="rect">
              <a:avLst/>
            </a:prstGeom>
          </p:spPr>
        </p:pic>
        <p:sp>
          <p:nvSpPr>
            <p:cNvPr id="50" name="文本框 26"/>
            <p:cNvSpPr txBox="1"/>
            <p:nvPr/>
          </p:nvSpPr>
          <p:spPr bwMode="gray">
            <a:xfrm>
              <a:off x="7287257" y="2384014"/>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51"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796601" y="2734481"/>
              <a:ext cx="466668" cy="381818"/>
            </a:xfrm>
            <a:prstGeom prst="rect">
              <a:avLst/>
            </a:prstGeom>
          </p:spPr>
        </p:pic>
        <p:pic>
          <p:nvPicPr>
            <p:cNvPr id="54"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7190604" y="5149319"/>
              <a:ext cx="466668" cy="381818"/>
            </a:xfrm>
            <a:prstGeom prst="rect">
              <a:avLst/>
            </a:prstGeom>
          </p:spPr>
        </p:pic>
        <p:sp>
          <p:nvSpPr>
            <p:cNvPr id="55" name="文本框 32"/>
            <p:cNvSpPr txBox="1"/>
            <p:nvPr/>
          </p:nvSpPr>
          <p:spPr bwMode="gray">
            <a:xfrm>
              <a:off x="7030494" y="5534882"/>
              <a:ext cx="757530" cy="256545"/>
            </a:xfrm>
            <a:prstGeom prst="rect">
              <a:avLst/>
            </a:prstGeom>
            <a:noFill/>
          </p:spPr>
          <p:txBody>
            <a:bodyPr wrap="square" rtlCol="0">
              <a:spAutoFit/>
            </a:bodyPr>
            <a:lstStyle/>
            <a:p>
              <a:pPr algn="ctr" fontAlgn="base">
                <a:spcBef>
                  <a:spcPct val="0"/>
                </a:spcBef>
                <a:spcAft>
                  <a:spcPct val="0"/>
                </a:spcAft>
              </a:pPr>
              <a:r>
                <a:rPr lang="zh-CN" altLang="en-US" sz="1067" dirty="0">
                  <a:solidFill>
                    <a:srgbClr val="000000"/>
                  </a:solidFill>
                  <a:latin typeface="Huawei Sans" panose="020C0503030203020204" pitchFamily="34" charset="0"/>
                  <a:ea typeface="方正兰亭黑简体" panose="02000000000000000000" pitchFamily="2" charset="-122"/>
                </a:rPr>
                <a:t>分支站点</a:t>
              </a:r>
            </a:p>
          </p:txBody>
        </p:sp>
        <p:sp>
          <p:nvSpPr>
            <p:cNvPr id="60" name="Freeform 159"/>
            <p:cNvSpPr/>
            <p:nvPr/>
          </p:nvSpPr>
          <p:spPr bwMode="gray">
            <a:xfrm flipH="1">
              <a:off x="7168102" y="3642739"/>
              <a:ext cx="3646559" cy="6503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800" dirty="0">
                  <a:solidFill>
                    <a:schemeClr val="tx1"/>
                  </a:solidFill>
                </a:rPr>
                <a:t>Internet</a:t>
              </a:r>
              <a:endParaRPr lang="en-US" sz="1800" dirty="0">
                <a:solidFill>
                  <a:schemeClr val="tx1"/>
                </a:solidFill>
              </a:endParaRPr>
            </a:p>
          </p:txBody>
        </p:sp>
        <p:pic>
          <p:nvPicPr>
            <p:cNvPr id="63"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309710" y="2045227"/>
              <a:ext cx="417163" cy="342074"/>
            </a:xfrm>
            <a:prstGeom prst="rect">
              <a:avLst/>
            </a:prstGeom>
          </p:spPr>
        </p:pic>
        <p:pic>
          <p:nvPicPr>
            <p:cNvPr id="64" name="图片 51" descr="交换机.png"/>
            <p:cNvPicPr>
              <a:picLocks noChangeAspect="1"/>
            </p:cNvPicPr>
            <p:nvPr/>
          </p:nvPicPr>
          <p:blipFill>
            <a:blip r:embed="rId5" cstate="print"/>
            <a:stretch>
              <a:fillRect/>
            </a:stretch>
          </p:blipFill>
          <p:spPr bwMode="gray">
            <a:xfrm>
              <a:off x="7190604" y="5763428"/>
              <a:ext cx="417163" cy="341314"/>
            </a:xfrm>
            <a:prstGeom prst="rect">
              <a:avLst/>
            </a:prstGeom>
          </p:spPr>
        </p:pic>
        <p:pic>
          <p:nvPicPr>
            <p:cNvPr id="65" name="图片 14" descr="交换机.png"/>
            <p:cNvPicPr>
              <a:picLocks noChangeAspect="1"/>
            </p:cNvPicPr>
            <p:nvPr/>
          </p:nvPicPr>
          <p:blipFill>
            <a:blip r:embed="rId6" cstate="print"/>
            <a:stretch>
              <a:fillRect/>
            </a:stretch>
          </p:blipFill>
          <p:spPr bwMode="gray">
            <a:xfrm>
              <a:off x="7796601" y="2037846"/>
              <a:ext cx="420077" cy="343698"/>
            </a:xfrm>
            <a:prstGeom prst="rect">
              <a:avLst/>
            </a:prstGeom>
          </p:spPr>
        </p:pic>
        <p:sp>
          <p:nvSpPr>
            <p:cNvPr id="66" name="Freeform 159"/>
            <p:cNvSpPr/>
            <p:nvPr/>
          </p:nvSpPr>
          <p:spPr bwMode="gray">
            <a:xfrm flipH="1">
              <a:off x="8897474" y="541652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67"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132288" y="5149319"/>
              <a:ext cx="466668" cy="381818"/>
            </a:xfrm>
            <a:prstGeom prst="rect">
              <a:avLst/>
            </a:prstGeom>
          </p:spPr>
        </p:pic>
        <p:sp>
          <p:nvSpPr>
            <p:cNvPr id="68" name="文本框 32"/>
            <p:cNvSpPr txBox="1"/>
            <p:nvPr/>
          </p:nvSpPr>
          <p:spPr bwMode="gray">
            <a:xfrm>
              <a:off x="8972178" y="5564570"/>
              <a:ext cx="757530" cy="256545"/>
            </a:xfrm>
            <a:prstGeom prst="rect">
              <a:avLst/>
            </a:prstGeom>
            <a:noFill/>
          </p:spPr>
          <p:txBody>
            <a:bodyPr wrap="square" rtlCol="0">
              <a:spAutoFit/>
            </a:bodyPr>
            <a:lstStyle/>
            <a:p>
              <a:pPr algn="ctr" fontAlgn="base">
                <a:spcBef>
                  <a:spcPct val="0"/>
                </a:spcBef>
                <a:spcAft>
                  <a:spcPct val="0"/>
                </a:spcAft>
              </a:pPr>
              <a:r>
                <a:rPr lang="zh-CN" altLang="en-US" sz="1067" dirty="0">
                  <a:solidFill>
                    <a:srgbClr val="000000"/>
                  </a:solidFill>
                  <a:latin typeface="Huawei Sans" panose="020C0503030203020204" pitchFamily="34" charset="0"/>
                  <a:ea typeface="方正兰亭黑简体" panose="02000000000000000000" pitchFamily="2" charset="-122"/>
                </a:rPr>
                <a:t>分支站点</a:t>
              </a:r>
            </a:p>
          </p:txBody>
        </p:sp>
        <p:pic>
          <p:nvPicPr>
            <p:cNvPr id="69" name="图片 51" descr="交换机.png"/>
            <p:cNvPicPr>
              <a:picLocks noChangeAspect="1"/>
            </p:cNvPicPr>
            <p:nvPr/>
          </p:nvPicPr>
          <p:blipFill>
            <a:blip r:embed="rId5" cstate="print"/>
            <a:stretch>
              <a:fillRect/>
            </a:stretch>
          </p:blipFill>
          <p:spPr bwMode="gray">
            <a:xfrm>
              <a:off x="9132288" y="5793116"/>
              <a:ext cx="417163" cy="341314"/>
            </a:xfrm>
            <a:prstGeom prst="rect">
              <a:avLst/>
            </a:prstGeom>
          </p:spPr>
        </p:pic>
        <p:cxnSp>
          <p:nvCxnSpPr>
            <p:cNvPr id="71" name="直接连接符 33"/>
            <p:cNvCxnSpPr>
              <a:stCxn id="67" idx="0"/>
            </p:cNvCxnSpPr>
            <p:nvPr/>
          </p:nvCxnSpPr>
          <p:spPr bwMode="gray">
            <a:xfrm flipH="1" flipV="1">
              <a:off x="9355442" y="4293096"/>
              <a:ext cx="0" cy="85247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5" name="Freeform 159"/>
            <p:cNvSpPr/>
            <p:nvPr/>
          </p:nvSpPr>
          <p:spPr bwMode="gray">
            <a:xfrm flipH="1">
              <a:off x="10121729" y="5416521"/>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76" name="图片 31"/>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356543" y="5179007"/>
              <a:ext cx="466668" cy="381818"/>
            </a:xfrm>
            <a:prstGeom prst="rect">
              <a:avLst/>
            </a:prstGeom>
          </p:spPr>
        </p:pic>
        <p:sp>
          <p:nvSpPr>
            <p:cNvPr id="77" name="文本框 32"/>
            <p:cNvSpPr txBox="1"/>
            <p:nvPr/>
          </p:nvSpPr>
          <p:spPr bwMode="gray">
            <a:xfrm>
              <a:off x="10196433" y="5564570"/>
              <a:ext cx="757530" cy="256545"/>
            </a:xfrm>
            <a:prstGeom prst="rect">
              <a:avLst/>
            </a:prstGeom>
            <a:noFill/>
          </p:spPr>
          <p:txBody>
            <a:bodyPr wrap="square" rtlCol="0">
              <a:spAutoFit/>
            </a:bodyPr>
            <a:lstStyle/>
            <a:p>
              <a:pPr algn="ctr" fontAlgn="base">
                <a:spcBef>
                  <a:spcPct val="0"/>
                </a:spcBef>
                <a:spcAft>
                  <a:spcPct val="0"/>
                </a:spcAft>
              </a:pPr>
              <a:r>
                <a:rPr lang="zh-CN" altLang="en-US" sz="1067" dirty="0">
                  <a:solidFill>
                    <a:srgbClr val="000000"/>
                  </a:solidFill>
                  <a:latin typeface="Huawei Sans" panose="020C0503030203020204" pitchFamily="34" charset="0"/>
                  <a:ea typeface="方正兰亭黑简体" panose="02000000000000000000" pitchFamily="2" charset="-122"/>
                </a:rPr>
                <a:t>分支站点</a:t>
              </a:r>
            </a:p>
          </p:txBody>
        </p:sp>
        <p:pic>
          <p:nvPicPr>
            <p:cNvPr id="78" name="图片 51" descr="交换机.png"/>
            <p:cNvPicPr>
              <a:picLocks noChangeAspect="1"/>
            </p:cNvPicPr>
            <p:nvPr/>
          </p:nvPicPr>
          <p:blipFill>
            <a:blip r:embed="rId5" cstate="print"/>
            <a:stretch>
              <a:fillRect/>
            </a:stretch>
          </p:blipFill>
          <p:spPr bwMode="gray">
            <a:xfrm>
              <a:off x="10356543" y="5793116"/>
              <a:ext cx="417163" cy="341314"/>
            </a:xfrm>
            <a:prstGeom prst="rect">
              <a:avLst/>
            </a:prstGeom>
          </p:spPr>
        </p:pic>
        <p:sp>
          <p:nvSpPr>
            <p:cNvPr id="81" name="Freeform 159"/>
            <p:cNvSpPr/>
            <p:nvPr/>
          </p:nvSpPr>
          <p:spPr bwMode="gray">
            <a:xfrm flipH="1">
              <a:off x="9561209" y="2239383"/>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82" name="图片 25"/>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9656690" y="2738824"/>
              <a:ext cx="466668" cy="381818"/>
            </a:xfrm>
            <a:prstGeom prst="rect">
              <a:avLst/>
            </a:prstGeom>
          </p:spPr>
        </p:pic>
        <p:sp>
          <p:nvSpPr>
            <p:cNvPr id="83" name="文本框 26"/>
            <p:cNvSpPr txBox="1"/>
            <p:nvPr/>
          </p:nvSpPr>
          <p:spPr bwMode="gray">
            <a:xfrm>
              <a:off x="9636202" y="2384794"/>
              <a:ext cx="942605" cy="307777"/>
            </a:xfrm>
            <a:prstGeom prst="rect">
              <a:avLst/>
            </a:prstGeom>
            <a:noFill/>
          </p:spPr>
          <p:txBody>
            <a:bodyPr wrap="square" rtlCol="0">
              <a:spAutoFit/>
            </a:bodyPr>
            <a:lstStyle/>
            <a:p>
              <a:pPr algn="ctr" fontAlgn="base">
                <a:spcBef>
                  <a:spcPct val="0"/>
                </a:spcBef>
                <a:spcAft>
                  <a:spcPct val="0"/>
                </a:spcAft>
              </a:pPr>
              <a:r>
                <a:rPr lang="zh-CN" altLang="en-US" sz="1400" dirty="0">
                  <a:solidFill>
                    <a:srgbClr val="000000"/>
                  </a:solidFill>
                  <a:latin typeface="Huawei Sans" panose="020C0503030203020204" pitchFamily="34" charset="0"/>
                  <a:ea typeface="方正兰亭黑简体" panose="02000000000000000000" pitchFamily="2" charset="-122"/>
                </a:rPr>
                <a:t>企业总部</a:t>
              </a:r>
            </a:p>
          </p:txBody>
        </p:sp>
        <p:pic>
          <p:nvPicPr>
            <p:cNvPr id="84" name="图片 27"/>
            <p:cNvPicPr>
              <a:picLocks noChangeAspect="1"/>
            </p:cNvPicPr>
            <p:nvPr/>
          </p:nvPicPr>
          <p:blipFill>
            <a:blip r:embed="rId3">
              <a:extLst>
                <a:ext uri="{28A0092B-C50C-407E-A947-70E740481C1C}">
                  <a14:useLocalDpi xmlns:a14="http://schemas.microsoft.com/office/drawing/2010/main" val="0"/>
                </a:ext>
              </a:extLst>
            </a:blip>
            <a:srcRect/>
            <a:stretch/>
          </p:blipFill>
          <p:spPr bwMode="gray">
            <a:xfrm>
              <a:off x="10145546" y="2735261"/>
              <a:ext cx="466668" cy="381818"/>
            </a:xfrm>
            <a:prstGeom prst="rect">
              <a:avLst/>
            </a:prstGeom>
          </p:spPr>
        </p:pic>
        <p:pic>
          <p:nvPicPr>
            <p:cNvPr id="85" name="图片 6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658655" y="2046007"/>
              <a:ext cx="417163" cy="342074"/>
            </a:xfrm>
            <a:prstGeom prst="rect">
              <a:avLst/>
            </a:prstGeom>
          </p:spPr>
        </p:pic>
        <p:pic>
          <p:nvPicPr>
            <p:cNvPr id="86" name="图片 14" descr="交换机.png"/>
            <p:cNvPicPr>
              <a:picLocks noChangeAspect="1"/>
            </p:cNvPicPr>
            <p:nvPr/>
          </p:nvPicPr>
          <p:blipFill>
            <a:blip r:embed="rId6" cstate="print"/>
            <a:stretch>
              <a:fillRect/>
            </a:stretch>
          </p:blipFill>
          <p:spPr bwMode="gray">
            <a:xfrm>
              <a:off x="10145546" y="2038626"/>
              <a:ext cx="420077" cy="343698"/>
            </a:xfrm>
            <a:prstGeom prst="rect">
              <a:avLst/>
            </a:prstGeom>
          </p:spPr>
        </p:pic>
        <p:pic>
          <p:nvPicPr>
            <p:cNvPr id="89" name="图片 63" descr="笔记本电脑.png"/>
            <p:cNvPicPr>
              <a:picLocks noChangeAspect="1"/>
            </p:cNvPicPr>
            <p:nvPr/>
          </p:nvPicPr>
          <p:blipFill>
            <a:blip r:embed="rId7" cstate="print"/>
            <a:stretch>
              <a:fillRect/>
            </a:stretch>
          </p:blipFill>
          <p:spPr bwMode="gray">
            <a:xfrm>
              <a:off x="8109159" y="5482715"/>
              <a:ext cx="539779" cy="338400"/>
            </a:xfrm>
            <a:prstGeom prst="rect">
              <a:avLst/>
            </a:prstGeom>
          </p:spPr>
        </p:pic>
        <p:cxnSp>
          <p:nvCxnSpPr>
            <p:cNvPr id="90" name="直接连接符 33"/>
            <p:cNvCxnSpPr>
              <a:endCxn id="49" idx="2"/>
            </p:cNvCxnSpPr>
            <p:nvPr/>
          </p:nvCxnSpPr>
          <p:spPr bwMode="gray">
            <a:xfrm flipV="1">
              <a:off x="7541079" y="3123607"/>
              <a:ext cx="0" cy="77344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33"/>
            <p:cNvCxnSpPr>
              <a:endCxn id="51" idx="2"/>
            </p:cNvCxnSpPr>
            <p:nvPr/>
          </p:nvCxnSpPr>
          <p:spPr bwMode="gray">
            <a:xfrm flipV="1">
              <a:off x="8029935" y="3120044"/>
              <a:ext cx="0" cy="596294"/>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33"/>
            <p:cNvCxnSpPr>
              <a:endCxn id="82" idx="2"/>
            </p:cNvCxnSpPr>
            <p:nvPr/>
          </p:nvCxnSpPr>
          <p:spPr bwMode="gray">
            <a:xfrm flipV="1">
              <a:off x="9890023" y="3124387"/>
              <a:ext cx="1" cy="591951"/>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 name="直接连接符 33"/>
            <p:cNvCxnSpPr>
              <a:stCxn id="60" idx="5"/>
              <a:endCxn id="84" idx="2"/>
            </p:cNvCxnSpPr>
            <p:nvPr/>
          </p:nvCxnSpPr>
          <p:spPr bwMode="gray">
            <a:xfrm flipH="1" flipV="1">
              <a:off x="10378880" y="3120824"/>
              <a:ext cx="1639" cy="758947"/>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33"/>
            <p:cNvCxnSpPr>
              <a:stCxn id="54" idx="0"/>
            </p:cNvCxnSpPr>
            <p:nvPr/>
          </p:nvCxnSpPr>
          <p:spPr bwMode="gray">
            <a:xfrm flipV="1">
              <a:off x="7423938" y="4279439"/>
              <a:ext cx="0" cy="866135"/>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33"/>
            <p:cNvCxnSpPr>
              <a:stCxn id="89" idx="0"/>
            </p:cNvCxnSpPr>
            <p:nvPr/>
          </p:nvCxnSpPr>
          <p:spPr bwMode="gray">
            <a:xfrm flipH="1" flipV="1">
              <a:off x="8379048" y="4289147"/>
              <a:ext cx="1" cy="1193568"/>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33"/>
            <p:cNvCxnSpPr>
              <a:stCxn id="76" idx="0"/>
            </p:cNvCxnSpPr>
            <p:nvPr/>
          </p:nvCxnSpPr>
          <p:spPr bwMode="gray">
            <a:xfrm flipV="1">
              <a:off x="10589877" y="4244249"/>
              <a:ext cx="0" cy="931013"/>
            </a:xfrm>
            <a:prstGeom prst="line">
              <a:avLst/>
            </a:prstGeom>
            <a:noFill/>
            <a:ln w="19050" cap="flat" cmpd="sng" algn="ctr">
              <a:solidFill>
                <a:schemeClr val="bg1">
                  <a:lumMod val="5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9" name="Freeform 118"/>
            <p:cNvSpPr/>
            <p:nvPr/>
          </p:nvSpPr>
          <p:spPr bwMode="gray">
            <a:xfrm>
              <a:off x="7316296" y="3122137"/>
              <a:ext cx="124897" cy="2076391"/>
            </a:xfrm>
            <a:custGeom>
              <a:avLst/>
              <a:gdLst>
                <a:gd name="connsiteX0" fmla="*/ 119269 w 138789"/>
                <a:gd name="connsiteY0" fmla="*/ 0 h 1958008"/>
                <a:gd name="connsiteX1" fmla="*/ 129209 w 138789"/>
                <a:gd name="connsiteY1" fmla="*/ 954156 h 1958008"/>
                <a:gd name="connsiteX2" fmla="*/ 0 w 138789"/>
                <a:gd name="connsiteY2" fmla="*/ 1958008 h 1958008"/>
              </a:gdLst>
              <a:ahLst/>
              <a:cxnLst>
                <a:cxn ang="0">
                  <a:pos x="connsiteX0" y="connsiteY0"/>
                </a:cxn>
                <a:cxn ang="0">
                  <a:pos x="connsiteX1" y="connsiteY1"/>
                </a:cxn>
                <a:cxn ang="0">
                  <a:pos x="connsiteX2" y="connsiteY2"/>
                </a:cxn>
              </a:cxnLst>
              <a:rect l="l" t="t" r="r" b="b"/>
              <a:pathLst>
                <a:path w="138789" h="1958008">
                  <a:moveTo>
                    <a:pt x="119269" y="0"/>
                  </a:moveTo>
                  <a:cubicBezTo>
                    <a:pt x="134178" y="313910"/>
                    <a:pt x="149087" y="627821"/>
                    <a:pt x="129209" y="954156"/>
                  </a:cubicBezTo>
                  <a:cubicBezTo>
                    <a:pt x="109331" y="1280491"/>
                    <a:pt x="0" y="1958008"/>
                    <a:pt x="0" y="1958008"/>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Freeform 119"/>
            <p:cNvSpPr/>
            <p:nvPr/>
          </p:nvSpPr>
          <p:spPr bwMode="gray">
            <a:xfrm>
              <a:off x="7901653" y="3081896"/>
              <a:ext cx="404103" cy="2365513"/>
            </a:xfrm>
            <a:custGeom>
              <a:avLst/>
              <a:gdLst>
                <a:gd name="connsiteX0" fmla="*/ 795 w 640412"/>
                <a:gd name="connsiteY0" fmla="*/ 0 h 2365513"/>
                <a:gd name="connsiteX1" fmla="*/ 90247 w 640412"/>
                <a:gd name="connsiteY1" fmla="*/ 884583 h 2365513"/>
                <a:gd name="connsiteX2" fmla="*/ 567325 w 640412"/>
                <a:gd name="connsiteY2" fmla="*/ 1540566 h 2365513"/>
                <a:gd name="connsiteX3" fmla="*/ 626960 w 640412"/>
                <a:gd name="connsiteY3" fmla="*/ 2365513 h 2365513"/>
              </a:gdLst>
              <a:ahLst/>
              <a:cxnLst>
                <a:cxn ang="0">
                  <a:pos x="connsiteX0" y="connsiteY0"/>
                </a:cxn>
                <a:cxn ang="0">
                  <a:pos x="connsiteX1" y="connsiteY1"/>
                </a:cxn>
                <a:cxn ang="0">
                  <a:pos x="connsiteX2" y="connsiteY2"/>
                </a:cxn>
                <a:cxn ang="0">
                  <a:pos x="connsiteX3" y="connsiteY3"/>
                </a:cxn>
              </a:cxnLst>
              <a:rect l="l" t="t" r="r" b="b"/>
              <a:pathLst>
                <a:path w="640412" h="2365513">
                  <a:moveTo>
                    <a:pt x="795" y="0"/>
                  </a:moveTo>
                  <a:cubicBezTo>
                    <a:pt x="-1690" y="313911"/>
                    <a:pt x="-4175" y="627822"/>
                    <a:pt x="90247" y="884583"/>
                  </a:cubicBezTo>
                  <a:cubicBezTo>
                    <a:pt x="184669" y="1141344"/>
                    <a:pt x="477873" y="1293744"/>
                    <a:pt x="567325" y="1540566"/>
                  </a:cubicBezTo>
                  <a:cubicBezTo>
                    <a:pt x="656777" y="1787388"/>
                    <a:pt x="646838" y="2322444"/>
                    <a:pt x="626960" y="2365513"/>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Freeform 121"/>
            <p:cNvSpPr/>
            <p:nvPr/>
          </p:nvSpPr>
          <p:spPr bwMode="gray">
            <a:xfrm>
              <a:off x="8488017" y="3091070"/>
              <a:ext cx="1335246" cy="2345634"/>
            </a:xfrm>
            <a:custGeom>
              <a:avLst/>
              <a:gdLst>
                <a:gd name="connsiteX0" fmla="*/ 0 w 1335246"/>
                <a:gd name="connsiteY0" fmla="*/ 2345634 h 2345634"/>
                <a:gd name="connsiteX1" fmla="*/ 337931 w 1335246"/>
                <a:gd name="connsiteY1" fmla="*/ 1172817 h 2345634"/>
                <a:gd name="connsiteX2" fmla="*/ 1202635 w 1335246"/>
                <a:gd name="connsiteY2" fmla="*/ 884582 h 2345634"/>
                <a:gd name="connsiteX3" fmla="*/ 1331844 w 1335246"/>
                <a:gd name="connsiteY3" fmla="*/ 0 h 2345634"/>
              </a:gdLst>
              <a:ahLst/>
              <a:cxnLst>
                <a:cxn ang="0">
                  <a:pos x="connsiteX0" y="connsiteY0"/>
                </a:cxn>
                <a:cxn ang="0">
                  <a:pos x="connsiteX1" y="connsiteY1"/>
                </a:cxn>
                <a:cxn ang="0">
                  <a:pos x="connsiteX2" y="connsiteY2"/>
                </a:cxn>
                <a:cxn ang="0">
                  <a:pos x="connsiteX3" y="connsiteY3"/>
                </a:cxn>
              </a:cxnLst>
              <a:rect l="l" t="t" r="r" b="b"/>
              <a:pathLst>
                <a:path w="1335246" h="2345634">
                  <a:moveTo>
                    <a:pt x="0" y="2345634"/>
                  </a:moveTo>
                  <a:cubicBezTo>
                    <a:pt x="68746" y="1880980"/>
                    <a:pt x="137492" y="1416326"/>
                    <a:pt x="337931" y="1172817"/>
                  </a:cubicBezTo>
                  <a:cubicBezTo>
                    <a:pt x="538370" y="929308"/>
                    <a:pt x="1036983" y="1080051"/>
                    <a:pt x="1202635" y="884582"/>
                  </a:cubicBezTo>
                  <a:cubicBezTo>
                    <a:pt x="1368287" y="689112"/>
                    <a:pt x="1331844" y="0"/>
                    <a:pt x="1331844" y="0"/>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Freeform 122"/>
            <p:cNvSpPr/>
            <p:nvPr/>
          </p:nvSpPr>
          <p:spPr bwMode="gray">
            <a:xfrm>
              <a:off x="9412357" y="3150704"/>
              <a:ext cx="576469" cy="1987826"/>
            </a:xfrm>
            <a:custGeom>
              <a:avLst/>
              <a:gdLst>
                <a:gd name="connsiteX0" fmla="*/ 576469 w 576469"/>
                <a:gd name="connsiteY0" fmla="*/ 0 h 1987826"/>
                <a:gd name="connsiteX1" fmla="*/ 506895 w 576469"/>
                <a:gd name="connsiteY1" fmla="*/ 874644 h 1987826"/>
                <a:gd name="connsiteX2" fmla="*/ 159026 w 576469"/>
                <a:gd name="connsiteY2" fmla="*/ 1202635 h 1987826"/>
                <a:gd name="connsiteX3" fmla="*/ 0 w 576469"/>
                <a:gd name="connsiteY3" fmla="*/ 1987826 h 1987826"/>
              </a:gdLst>
              <a:ahLst/>
              <a:cxnLst>
                <a:cxn ang="0">
                  <a:pos x="connsiteX0" y="connsiteY0"/>
                </a:cxn>
                <a:cxn ang="0">
                  <a:pos x="connsiteX1" y="connsiteY1"/>
                </a:cxn>
                <a:cxn ang="0">
                  <a:pos x="connsiteX2" y="connsiteY2"/>
                </a:cxn>
                <a:cxn ang="0">
                  <a:pos x="connsiteX3" y="connsiteY3"/>
                </a:cxn>
              </a:cxnLst>
              <a:rect l="l" t="t" r="r" b="b"/>
              <a:pathLst>
                <a:path w="576469" h="1987826">
                  <a:moveTo>
                    <a:pt x="576469" y="0"/>
                  </a:moveTo>
                  <a:cubicBezTo>
                    <a:pt x="576469" y="337102"/>
                    <a:pt x="576469" y="674205"/>
                    <a:pt x="506895" y="874644"/>
                  </a:cubicBezTo>
                  <a:cubicBezTo>
                    <a:pt x="437321" y="1075083"/>
                    <a:pt x="243508" y="1017105"/>
                    <a:pt x="159026" y="1202635"/>
                  </a:cubicBezTo>
                  <a:cubicBezTo>
                    <a:pt x="74544" y="1388165"/>
                    <a:pt x="0" y="1987826"/>
                    <a:pt x="0" y="1987826"/>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Freeform 123"/>
            <p:cNvSpPr/>
            <p:nvPr/>
          </p:nvSpPr>
          <p:spPr bwMode="gray">
            <a:xfrm>
              <a:off x="10267122" y="3120887"/>
              <a:ext cx="447996" cy="1997765"/>
            </a:xfrm>
            <a:custGeom>
              <a:avLst/>
              <a:gdLst>
                <a:gd name="connsiteX0" fmla="*/ 0 w 447996"/>
                <a:gd name="connsiteY0" fmla="*/ 0 h 1997765"/>
                <a:gd name="connsiteX1" fmla="*/ 149087 w 447996"/>
                <a:gd name="connsiteY1" fmla="*/ 964096 h 1997765"/>
                <a:gd name="connsiteX2" fmla="*/ 427382 w 447996"/>
                <a:gd name="connsiteY2" fmla="*/ 1113183 h 1997765"/>
                <a:gd name="connsiteX3" fmla="*/ 427382 w 447996"/>
                <a:gd name="connsiteY3" fmla="*/ 1997765 h 1997765"/>
              </a:gdLst>
              <a:ahLst/>
              <a:cxnLst>
                <a:cxn ang="0">
                  <a:pos x="connsiteX0" y="connsiteY0"/>
                </a:cxn>
                <a:cxn ang="0">
                  <a:pos x="connsiteX1" y="connsiteY1"/>
                </a:cxn>
                <a:cxn ang="0">
                  <a:pos x="connsiteX2" y="connsiteY2"/>
                </a:cxn>
                <a:cxn ang="0">
                  <a:pos x="connsiteX3" y="connsiteY3"/>
                </a:cxn>
              </a:cxnLst>
              <a:rect l="l" t="t" r="r" b="b"/>
              <a:pathLst>
                <a:path w="447996" h="1997765">
                  <a:moveTo>
                    <a:pt x="0" y="0"/>
                  </a:moveTo>
                  <a:cubicBezTo>
                    <a:pt x="38928" y="389283"/>
                    <a:pt x="77857" y="778566"/>
                    <a:pt x="149087" y="964096"/>
                  </a:cubicBezTo>
                  <a:cubicBezTo>
                    <a:pt x="220317" y="1149626"/>
                    <a:pt x="381000" y="940905"/>
                    <a:pt x="427382" y="1113183"/>
                  </a:cubicBezTo>
                  <a:cubicBezTo>
                    <a:pt x="473765" y="1285461"/>
                    <a:pt x="427382" y="1997765"/>
                    <a:pt x="427382" y="1997765"/>
                  </a:cubicBezTo>
                </a:path>
              </a:pathLst>
            </a:custGeom>
            <a:noFill/>
            <a:ln w="28575">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ounded Rectangle 115"/>
            <p:cNvSpPr/>
            <p:nvPr/>
          </p:nvSpPr>
          <p:spPr bwMode="gray">
            <a:xfrm>
              <a:off x="6885147" y="4129333"/>
              <a:ext cx="4212468"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altLang="zh-CN" sz="1400" dirty="0">
                  <a:solidFill>
                    <a:schemeClr val="tx1"/>
                  </a:solidFill>
                </a:rPr>
                <a:t>PPTP/L2TP/SSL VPN/IPsec VPN/DSVPN/A2A VPN</a:t>
              </a:r>
              <a:endParaRPr lang="zh-CN" altLang="en-US" sz="1400" dirty="0">
                <a:solidFill>
                  <a:schemeClr val="tx1"/>
                </a:solidFill>
              </a:endParaRPr>
            </a:p>
          </p:txBody>
        </p:sp>
      </p:grpSp>
    </p:spTree>
    <p:extLst>
      <p:ext uri="{BB962C8B-B14F-4D97-AF65-F5344CB8AC3E}">
        <p14:creationId xmlns:p14="http://schemas.microsoft.com/office/powerpoint/2010/main" val="638267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企业广域互联组网常见应用场景</a:t>
            </a:r>
          </a:p>
        </p:txBody>
      </p:sp>
      <p:sp>
        <p:nvSpPr>
          <p:cNvPr id="3" name="Text Placeholder 2"/>
          <p:cNvSpPr>
            <a:spLocks noGrp="1"/>
          </p:cNvSpPr>
          <p:nvPr>
            <p:ph type="body" sz="quarter" idx="10"/>
          </p:nvPr>
        </p:nvSpPr>
        <p:spPr bwMode="gray"/>
        <p:txBody>
          <a:bodyPr/>
          <a:lstStyle/>
          <a:p>
            <a:r>
              <a:rPr lang="zh-CN" altLang="en-US" sz="1800" dirty="0"/>
              <a:t>企业广域互联需要基于企业需求部署，比如在金融行业为了可靠性和安全性，大多会租用传输专线或</a:t>
            </a:r>
            <a:r>
              <a:rPr lang="en-US" altLang="zh-CN" sz="1800" dirty="0"/>
              <a:t>MPLS</a:t>
            </a:r>
            <a:r>
              <a:rPr lang="zh-CN" altLang="en-US" sz="1800" dirty="0"/>
              <a:t>专线。在别的企业，考虑到网络成本一般会租用</a:t>
            </a:r>
            <a:r>
              <a:rPr lang="en-US" altLang="zh-CN" sz="1800" dirty="0"/>
              <a:t>MPLS</a:t>
            </a:r>
            <a:r>
              <a:rPr lang="zh-CN" altLang="en-US" sz="1800" dirty="0"/>
              <a:t>专线做主线路，</a:t>
            </a:r>
            <a:r>
              <a:rPr lang="en-US" altLang="zh-CN" sz="1800" dirty="0"/>
              <a:t>Internet + VPN</a:t>
            </a:r>
            <a:r>
              <a:rPr lang="zh-CN" altLang="en-US" sz="1800" dirty="0"/>
              <a:t>做备用线路的方式。</a:t>
            </a:r>
          </a:p>
        </p:txBody>
      </p:sp>
      <p:sp>
        <p:nvSpPr>
          <p:cNvPr id="4" name="圆角矩形 75"/>
          <p:cNvSpPr/>
          <p:nvPr/>
        </p:nvSpPr>
        <p:spPr bwMode="gray">
          <a:xfrm>
            <a:off x="560317" y="2378344"/>
            <a:ext cx="5376149" cy="366351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560317" y="1952880"/>
            <a:ext cx="539755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金融行业广域互联</a:t>
            </a:r>
          </a:p>
        </p:txBody>
      </p:sp>
      <p:sp>
        <p:nvSpPr>
          <p:cNvPr id="71" name="圆角矩形 75"/>
          <p:cNvSpPr/>
          <p:nvPr/>
        </p:nvSpPr>
        <p:spPr bwMode="gray">
          <a:xfrm>
            <a:off x="6247415" y="2378344"/>
            <a:ext cx="5376149" cy="366351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marL="105750" indent="-285750" defTabSz="1219272" fontAlgn="base">
              <a:lnSpc>
                <a:spcPct val="150000"/>
              </a:lnSpc>
              <a:buSzPct val="80000"/>
              <a:buFont typeface="Wingdings" panose="05000000000000000000" pitchFamily="2" charset="2"/>
              <a:buChar char="l"/>
              <a:defRPr sz="1800">
                <a:solidFill>
                  <a:srgbClr val="000000"/>
                </a:solidFill>
              </a:defRPr>
            </a:pPr>
            <a:endParaRPr lang="en-US" altLang="zh-CN" sz="1400" noProof="1">
              <a:latin typeface="Huawei Sans" panose="020C0503030203020204" pitchFamily="34" charset="0"/>
              <a:ea typeface="方正兰亭黑简体" panose="02000000000000000000" pitchFamily="2" charset="-122"/>
              <a:cs typeface="Arial" pitchFamily="34" charset="0"/>
              <a:sym typeface="Arial"/>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圆角矩形 75"/>
          <p:cNvSpPr/>
          <p:nvPr/>
        </p:nvSpPr>
        <p:spPr bwMode="gray">
          <a:xfrm>
            <a:off x="6247415" y="1952880"/>
            <a:ext cx="539755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某酒企广域互联</a:t>
            </a:r>
          </a:p>
        </p:txBody>
      </p:sp>
      <p:sp>
        <p:nvSpPr>
          <p:cNvPr id="78" name="Rectangle 77"/>
          <p:cNvSpPr/>
          <p:nvPr/>
        </p:nvSpPr>
        <p:spPr bwMode="gray">
          <a:xfrm>
            <a:off x="7745959" y="2695083"/>
            <a:ext cx="2491662" cy="454051"/>
          </a:xfrm>
          <a:prstGeom prst="rect">
            <a:avLst/>
          </a:prstGeom>
          <a:solidFill>
            <a:srgbClr val="8BC9A0"/>
          </a:solidFill>
          <a:ln w="9525" cap="flat" cmpd="sng" algn="ctr">
            <a:solidFill>
              <a:srgbClr val="8BC9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solidFill>
                  <a:schemeClr val="bg1"/>
                </a:solidFill>
                <a:latin typeface="Huawei Sans" panose="020C0503030203020204" pitchFamily="34" charset="0"/>
                <a:ea typeface="方正兰亭黑简体" panose="02000000000000000000" pitchFamily="2" charset="-122"/>
              </a:rPr>
              <a:t>企业总部</a:t>
            </a:r>
            <a:endParaRPr kumimoji="0" lang="zh-CN" altLang="en-US" sz="1400" b="1"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cxnSp>
        <p:nvCxnSpPr>
          <p:cNvPr id="89" name="Straight Connector 88"/>
          <p:cNvCxnSpPr>
            <a:endCxn id="104" idx="4"/>
          </p:cNvCxnSpPr>
          <p:nvPr/>
        </p:nvCxnSpPr>
        <p:spPr bwMode="gray">
          <a:xfrm>
            <a:off x="8354145" y="3149134"/>
            <a:ext cx="0" cy="7086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2" name="Straight Connector 91"/>
          <p:cNvCxnSpPr>
            <a:endCxn id="105" idx="0"/>
          </p:cNvCxnSpPr>
          <p:nvPr/>
        </p:nvCxnSpPr>
        <p:spPr bwMode="gray">
          <a:xfrm flipH="1">
            <a:off x="7742443" y="4427733"/>
            <a:ext cx="255284" cy="935094"/>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3" name="Straight Connector 92"/>
          <p:cNvCxnSpPr>
            <a:endCxn id="105" idx="0"/>
          </p:cNvCxnSpPr>
          <p:nvPr/>
        </p:nvCxnSpPr>
        <p:spPr bwMode="gray">
          <a:xfrm flipH="1">
            <a:off x="7742443" y="4427733"/>
            <a:ext cx="2205637" cy="935094"/>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4" name="Straight Connector 93"/>
          <p:cNvCxnSpPr>
            <a:endCxn id="114" idx="0"/>
          </p:cNvCxnSpPr>
          <p:nvPr/>
        </p:nvCxnSpPr>
        <p:spPr bwMode="gray">
          <a:xfrm>
            <a:off x="7997727" y="4443184"/>
            <a:ext cx="1101004" cy="91928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5" name="Straight Connector 94"/>
          <p:cNvCxnSpPr>
            <a:endCxn id="115" idx="0"/>
          </p:cNvCxnSpPr>
          <p:nvPr/>
        </p:nvCxnSpPr>
        <p:spPr bwMode="gray">
          <a:xfrm>
            <a:off x="9909459" y="4427733"/>
            <a:ext cx="545560" cy="93522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105" name="Rectangle 104"/>
          <p:cNvSpPr/>
          <p:nvPr/>
        </p:nvSpPr>
        <p:spPr bwMode="gray">
          <a:xfrm>
            <a:off x="7148377" y="5362827"/>
            <a:ext cx="1188132"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a:spcBef>
                <a:spcPct val="0"/>
              </a:spcBef>
              <a:spcAft>
                <a:spcPct val="0"/>
              </a:spcAft>
            </a:pPr>
            <a:r>
              <a:rPr lang="en-US" altLang="zh-CN" sz="1400" dirty="0">
                <a:solidFill>
                  <a:schemeClr val="bg1"/>
                </a:solidFill>
                <a:cs typeface="+mn-ea"/>
              </a:rPr>
              <a:t>A</a:t>
            </a:r>
            <a:r>
              <a:rPr lang="zh-CN" altLang="en-US" sz="1400" dirty="0">
                <a:solidFill>
                  <a:schemeClr val="bg1"/>
                </a:solidFill>
                <a:cs typeface="+mn-ea"/>
              </a:rPr>
              <a:t>地分支</a:t>
            </a:r>
          </a:p>
        </p:txBody>
      </p:sp>
      <p:cxnSp>
        <p:nvCxnSpPr>
          <p:cNvPr id="111" name="Straight Connector 110"/>
          <p:cNvCxnSpPr/>
          <p:nvPr/>
        </p:nvCxnSpPr>
        <p:spPr bwMode="gray">
          <a:xfrm>
            <a:off x="9614285" y="3156520"/>
            <a:ext cx="0" cy="63630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103" name="Freeform 159"/>
          <p:cNvSpPr/>
          <p:nvPr/>
        </p:nvSpPr>
        <p:spPr bwMode="gray">
          <a:xfrm flipH="1">
            <a:off x="9049948" y="3777376"/>
            <a:ext cx="1596096" cy="6503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dirty="0">
                <a:solidFill>
                  <a:schemeClr val="tx1"/>
                </a:solidFill>
              </a:rPr>
              <a:t>Internet</a:t>
            </a:r>
          </a:p>
          <a:p>
            <a:pPr algn="ctr"/>
            <a:r>
              <a:rPr lang="zh-CN" altLang="en-US" sz="1600" dirty="0">
                <a:solidFill>
                  <a:schemeClr val="tx1"/>
                </a:solidFill>
              </a:rPr>
              <a:t>（备用）</a:t>
            </a:r>
            <a:endParaRPr lang="en-US" sz="1600" dirty="0">
              <a:solidFill>
                <a:schemeClr val="tx1"/>
              </a:solidFill>
            </a:endParaRPr>
          </a:p>
        </p:txBody>
      </p:sp>
      <p:sp>
        <p:nvSpPr>
          <p:cNvPr id="104" name="Freeform 159"/>
          <p:cNvSpPr/>
          <p:nvPr/>
        </p:nvSpPr>
        <p:spPr bwMode="gray">
          <a:xfrm flipH="1">
            <a:off x="7180060" y="3792827"/>
            <a:ext cx="1710878" cy="65035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dirty="0">
                <a:solidFill>
                  <a:schemeClr val="tx1"/>
                </a:solidFill>
              </a:rPr>
              <a:t>  </a:t>
            </a:r>
            <a:r>
              <a:rPr lang="zh-CN" altLang="en-US" sz="1600" dirty="0">
                <a:solidFill>
                  <a:schemeClr val="tx1"/>
                </a:solidFill>
              </a:rPr>
              <a:t>（</a:t>
            </a:r>
            <a:r>
              <a:rPr lang="en-US" altLang="zh-CN" sz="1600" dirty="0">
                <a:solidFill>
                  <a:schemeClr val="tx1"/>
                </a:solidFill>
              </a:rPr>
              <a:t>MPLS</a:t>
            </a:r>
            <a:r>
              <a:rPr lang="zh-CN" altLang="en-US" sz="1600" dirty="0">
                <a:solidFill>
                  <a:schemeClr val="tx1"/>
                </a:solidFill>
              </a:rPr>
              <a:t>（主用）</a:t>
            </a:r>
            <a:endParaRPr lang="en-US" sz="1600" dirty="0">
              <a:solidFill>
                <a:schemeClr val="tx1"/>
              </a:solidFill>
            </a:endParaRPr>
          </a:p>
        </p:txBody>
      </p:sp>
      <p:sp>
        <p:nvSpPr>
          <p:cNvPr id="114" name="Rectangle 113"/>
          <p:cNvSpPr/>
          <p:nvPr/>
        </p:nvSpPr>
        <p:spPr bwMode="gray">
          <a:xfrm>
            <a:off x="8504665" y="5362467"/>
            <a:ext cx="1188132"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a:spcBef>
                <a:spcPct val="0"/>
              </a:spcBef>
              <a:spcAft>
                <a:spcPct val="0"/>
              </a:spcAft>
            </a:pPr>
            <a:r>
              <a:rPr lang="en-US" altLang="zh-CN" sz="1400" dirty="0">
                <a:solidFill>
                  <a:schemeClr val="bg1"/>
                </a:solidFill>
                <a:cs typeface="+mn-ea"/>
              </a:rPr>
              <a:t>B</a:t>
            </a:r>
            <a:r>
              <a:rPr lang="zh-CN" altLang="en-US" sz="1400" dirty="0">
                <a:solidFill>
                  <a:schemeClr val="bg1"/>
                </a:solidFill>
                <a:cs typeface="+mn-ea"/>
              </a:rPr>
              <a:t>地分支</a:t>
            </a:r>
          </a:p>
        </p:txBody>
      </p:sp>
      <p:sp>
        <p:nvSpPr>
          <p:cNvPr id="115" name="Rectangle 114"/>
          <p:cNvSpPr/>
          <p:nvPr/>
        </p:nvSpPr>
        <p:spPr bwMode="gray">
          <a:xfrm>
            <a:off x="9860953" y="5362961"/>
            <a:ext cx="1188132"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a:spcBef>
                <a:spcPct val="0"/>
              </a:spcBef>
              <a:spcAft>
                <a:spcPct val="0"/>
              </a:spcAft>
            </a:pPr>
            <a:r>
              <a:rPr lang="en-US" altLang="zh-CN" sz="1400" dirty="0">
                <a:solidFill>
                  <a:schemeClr val="bg1"/>
                </a:solidFill>
                <a:cs typeface="+mn-ea"/>
              </a:rPr>
              <a:t>C</a:t>
            </a:r>
            <a:r>
              <a:rPr lang="zh-CN" altLang="en-US" sz="1400" dirty="0">
                <a:solidFill>
                  <a:schemeClr val="bg1"/>
                </a:solidFill>
                <a:cs typeface="+mn-ea"/>
              </a:rPr>
              <a:t>地分支</a:t>
            </a:r>
          </a:p>
        </p:txBody>
      </p:sp>
      <p:cxnSp>
        <p:nvCxnSpPr>
          <p:cNvPr id="121" name="Straight Connector 120"/>
          <p:cNvCxnSpPr>
            <a:endCxn id="114" idx="0"/>
          </p:cNvCxnSpPr>
          <p:nvPr/>
        </p:nvCxnSpPr>
        <p:spPr bwMode="gray">
          <a:xfrm flipH="1">
            <a:off x="9098731" y="4442824"/>
            <a:ext cx="806656" cy="91964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26" name="Straight Connector 125"/>
          <p:cNvCxnSpPr>
            <a:endCxn id="115" idx="0"/>
          </p:cNvCxnSpPr>
          <p:nvPr/>
        </p:nvCxnSpPr>
        <p:spPr bwMode="gray">
          <a:xfrm>
            <a:off x="8001799" y="4457197"/>
            <a:ext cx="2453220" cy="905764"/>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102" name="Rounded Rectangle 101"/>
          <p:cNvSpPr/>
          <p:nvPr/>
        </p:nvSpPr>
        <p:spPr bwMode="gray">
          <a:xfrm>
            <a:off x="9146222" y="4359422"/>
            <a:ext cx="1477242"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ctr"/>
            <a:r>
              <a:rPr lang="en-US" altLang="zh-CN" sz="1400" dirty="0">
                <a:solidFill>
                  <a:schemeClr val="tx1"/>
                </a:solidFill>
              </a:rPr>
              <a:t>GRE Over IPsec</a:t>
            </a:r>
            <a:endParaRPr lang="zh-CN" altLang="en-US" sz="1400" dirty="0">
              <a:solidFill>
                <a:schemeClr val="tx1"/>
              </a:solidFill>
            </a:endParaRPr>
          </a:p>
        </p:txBody>
      </p:sp>
      <p:grpSp>
        <p:nvGrpSpPr>
          <p:cNvPr id="20" name="Group 19">
            <a:extLst>
              <a:ext uri="{FF2B5EF4-FFF2-40B4-BE49-F238E27FC236}">
                <a16:creationId xmlns:a16="http://schemas.microsoft.com/office/drawing/2014/main" id="{B9806ED7-0090-4EC1-A130-4BC061A15606}"/>
              </a:ext>
            </a:extLst>
          </p:cNvPr>
          <p:cNvGrpSpPr/>
          <p:nvPr/>
        </p:nvGrpSpPr>
        <p:grpSpPr bwMode="gray">
          <a:xfrm>
            <a:off x="1173866" y="2582928"/>
            <a:ext cx="3973449" cy="3276364"/>
            <a:chOff x="1173866" y="2582928"/>
            <a:chExt cx="3973449" cy="3276364"/>
          </a:xfrm>
        </p:grpSpPr>
        <p:sp>
          <p:nvSpPr>
            <p:cNvPr id="7" name="Rectangle 6"/>
            <p:cNvSpPr/>
            <p:nvPr/>
          </p:nvSpPr>
          <p:spPr bwMode="gray">
            <a:xfrm>
              <a:off x="2655653" y="2582928"/>
              <a:ext cx="2491662" cy="454051"/>
            </a:xfrm>
            <a:prstGeom prst="rect">
              <a:avLst/>
            </a:prstGeom>
            <a:solidFill>
              <a:srgbClr val="8BC9A0"/>
            </a:solidFill>
            <a:ln w="9525" cap="flat" cmpd="sng" algn="ctr">
              <a:solidFill>
                <a:srgbClr val="8BC9A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b="1" dirty="0">
                  <a:solidFill>
                    <a:schemeClr val="bg1"/>
                  </a:solidFill>
                  <a:latin typeface="Huawei Sans" panose="020C0503030203020204" pitchFamily="34" charset="0"/>
                  <a:ea typeface="方正兰亭黑简体" panose="02000000000000000000" pitchFamily="2" charset="-122"/>
                </a:rPr>
                <a:t>全国核心骨干高速干线</a:t>
              </a:r>
              <a:endParaRPr kumimoji="0" lang="zh-CN" altLang="en-US" sz="1400" b="1"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8" name="Rectangle 7"/>
            <p:cNvSpPr/>
            <p:nvPr/>
          </p:nvSpPr>
          <p:spPr bwMode="gray">
            <a:xfrm>
              <a:off x="2655652" y="3699052"/>
              <a:ext cx="2491662"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solidFill>
                    <a:schemeClr val="bg1"/>
                  </a:solidFill>
                  <a:cs typeface="+mn-ea"/>
                </a:rPr>
                <a:t>一级分行</a:t>
              </a:r>
            </a:p>
          </p:txBody>
        </p:sp>
        <p:sp>
          <p:nvSpPr>
            <p:cNvPr id="9" name="Rectangle 8"/>
            <p:cNvSpPr/>
            <p:nvPr/>
          </p:nvSpPr>
          <p:spPr bwMode="gray">
            <a:xfrm>
              <a:off x="2655652" y="4601104"/>
              <a:ext cx="1207731"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solidFill>
                    <a:schemeClr val="bg1"/>
                  </a:solidFill>
                  <a:cs typeface="+mn-ea"/>
                </a:rPr>
                <a:t>二级分行</a:t>
              </a:r>
            </a:p>
          </p:txBody>
        </p:sp>
        <p:sp>
          <p:nvSpPr>
            <p:cNvPr id="10" name="Rectangle 9"/>
            <p:cNvSpPr/>
            <p:nvPr/>
          </p:nvSpPr>
          <p:spPr bwMode="gray">
            <a:xfrm>
              <a:off x="2655652" y="5497342"/>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1" name="Rectangle 10"/>
            <p:cNvSpPr/>
            <p:nvPr/>
          </p:nvSpPr>
          <p:spPr bwMode="gray">
            <a:xfrm>
              <a:off x="3284302" y="5497342"/>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2" name="Rectangle 11"/>
            <p:cNvSpPr/>
            <p:nvPr/>
          </p:nvSpPr>
          <p:spPr bwMode="gray">
            <a:xfrm>
              <a:off x="3939583" y="4594755"/>
              <a:ext cx="1207731"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solidFill>
                    <a:schemeClr val="bg1"/>
                  </a:solidFill>
                  <a:cs typeface="+mn-ea"/>
                </a:rPr>
                <a:t>二级分行</a:t>
              </a:r>
            </a:p>
          </p:txBody>
        </p:sp>
        <p:sp>
          <p:nvSpPr>
            <p:cNvPr id="13" name="Rectangle 12"/>
            <p:cNvSpPr/>
            <p:nvPr/>
          </p:nvSpPr>
          <p:spPr bwMode="gray">
            <a:xfrm>
              <a:off x="3939583" y="5497342"/>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ATM</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4" name="Rectangle 13"/>
            <p:cNvSpPr/>
            <p:nvPr/>
          </p:nvSpPr>
          <p:spPr bwMode="gray">
            <a:xfrm>
              <a:off x="4568233" y="5497342"/>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4" name="Rectangle 23"/>
            <p:cNvSpPr/>
            <p:nvPr/>
          </p:nvSpPr>
          <p:spPr bwMode="gray">
            <a:xfrm>
              <a:off x="1174703" y="3473336"/>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分行业务网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5" name="Rectangle 24"/>
            <p:cNvSpPr/>
            <p:nvPr/>
          </p:nvSpPr>
          <p:spPr bwMode="gray">
            <a:xfrm>
              <a:off x="1174703" y="3970351"/>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分行局域网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6" name="Rectangle 25"/>
            <p:cNvSpPr/>
            <p:nvPr/>
          </p:nvSpPr>
          <p:spPr bwMode="gray">
            <a:xfrm>
              <a:off x="1173866" y="4604726"/>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dirty="0">
                  <a:latin typeface="Huawei Sans" panose="020C0503030203020204" pitchFamily="34" charset="0"/>
                  <a:ea typeface="方正兰亭黑简体" panose="02000000000000000000" pitchFamily="2" charset="-122"/>
                </a:rPr>
                <a:t>分行局域网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cxnSp>
          <p:nvCxnSpPr>
            <p:cNvPr id="29" name="Straight Connector 28"/>
            <p:cNvCxnSpPr>
              <a:stCxn id="7" idx="2"/>
              <a:endCxn id="8" idx="0"/>
            </p:cNvCxnSpPr>
            <p:nvPr/>
          </p:nvCxnSpPr>
          <p:spPr bwMode="gray">
            <a:xfrm flipH="1">
              <a:off x="3901483" y="3036979"/>
              <a:ext cx="1" cy="66207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1" name="Straight Connector 30"/>
            <p:cNvCxnSpPr>
              <a:endCxn id="9" idx="0"/>
            </p:cNvCxnSpPr>
            <p:nvPr/>
          </p:nvCxnSpPr>
          <p:spPr bwMode="gray">
            <a:xfrm>
              <a:off x="3259518" y="4061002"/>
              <a:ext cx="0" cy="54010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2" name="Straight Connector 31"/>
            <p:cNvCxnSpPr>
              <a:endCxn id="12" idx="0"/>
            </p:cNvCxnSpPr>
            <p:nvPr/>
          </p:nvCxnSpPr>
          <p:spPr bwMode="gray">
            <a:xfrm>
              <a:off x="4543449" y="4061002"/>
              <a:ext cx="0" cy="53375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5" name="Straight Connector 34"/>
            <p:cNvCxnSpPr>
              <a:endCxn id="10" idx="0"/>
            </p:cNvCxnSpPr>
            <p:nvPr/>
          </p:nvCxnSpPr>
          <p:spPr bwMode="gray">
            <a:xfrm>
              <a:off x="2945193" y="4956705"/>
              <a:ext cx="0" cy="54063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6" name="Straight Connector 35"/>
            <p:cNvCxnSpPr>
              <a:endCxn id="11" idx="0"/>
            </p:cNvCxnSpPr>
            <p:nvPr/>
          </p:nvCxnSpPr>
          <p:spPr bwMode="gray">
            <a:xfrm>
              <a:off x="3573843" y="4956705"/>
              <a:ext cx="0" cy="54063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7" name="Straight Connector 36"/>
            <p:cNvCxnSpPr>
              <a:endCxn id="13" idx="0"/>
            </p:cNvCxnSpPr>
            <p:nvPr/>
          </p:nvCxnSpPr>
          <p:spPr bwMode="gray">
            <a:xfrm>
              <a:off x="4229124" y="4956705"/>
              <a:ext cx="0" cy="54063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8" name="Straight Connector 37"/>
            <p:cNvCxnSpPr>
              <a:endCxn id="14" idx="0"/>
            </p:cNvCxnSpPr>
            <p:nvPr/>
          </p:nvCxnSpPr>
          <p:spPr bwMode="gray">
            <a:xfrm>
              <a:off x="4857774" y="4956705"/>
              <a:ext cx="0" cy="54063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3" name="Straight Connector 42"/>
            <p:cNvCxnSpPr>
              <a:stCxn id="8" idx="1"/>
              <a:endCxn id="24" idx="3"/>
            </p:cNvCxnSpPr>
            <p:nvPr/>
          </p:nvCxnSpPr>
          <p:spPr bwMode="gray">
            <a:xfrm flipH="1" flipV="1">
              <a:off x="2276345" y="3654311"/>
              <a:ext cx="379307" cy="22571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4" name="Straight Connector 43"/>
            <p:cNvCxnSpPr>
              <a:stCxn id="8" idx="1"/>
              <a:endCxn id="25" idx="3"/>
            </p:cNvCxnSpPr>
            <p:nvPr/>
          </p:nvCxnSpPr>
          <p:spPr bwMode="gray">
            <a:xfrm flipH="1">
              <a:off x="2276345" y="3880027"/>
              <a:ext cx="379307" cy="27129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5" name="Straight Connector 44"/>
            <p:cNvCxnSpPr>
              <a:stCxn id="9" idx="1"/>
              <a:endCxn id="26" idx="3"/>
            </p:cNvCxnSpPr>
            <p:nvPr/>
          </p:nvCxnSpPr>
          <p:spPr bwMode="gray">
            <a:xfrm flipH="1">
              <a:off x="2275508" y="4782079"/>
              <a:ext cx="380144" cy="362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67" name="Rounded Rectangle 66"/>
            <p:cNvSpPr/>
            <p:nvPr/>
          </p:nvSpPr>
          <p:spPr bwMode="gray">
            <a:xfrm>
              <a:off x="2865727" y="5042737"/>
              <a:ext cx="2071509"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SDH/MSTP/MPLS</a:t>
              </a:r>
              <a:endParaRPr lang="zh-CN" altLang="en-US" sz="1400" dirty="0">
                <a:solidFill>
                  <a:schemeClr val="tx1"/>
                </a:solidFill>
              </a:endParaRPr>
            </a:p>
          </p:txBody>
        </p:sp>
        <p:sp>
          <p:nvSpPr>
            <p:cNvPr id="68" name="Rounded Rectangle 67"/>
            <p:cNvSpPr/>
            <p:nvPr/>
          </p:nvSpPr>
          <p:spPr bwMode="gray">
            <a:xfrm>
              <a:off x="2865727" y="4155604"/>
              <a:ext cx="2071509"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SDH/MSTP/MPLS</a:t>
              </a:r>
              <a:endParaRPr lang="zh-CN" altLang="en-US" sz="1400" dirty="0">
                <a:solidFill>
                  <a:schemeClr val="tx1"/>
                </a:solidFill>
              </a:endParaRPr>
            </a:p>
          </p:txBody>
        </p:sp>
        <p:sp>
          <p:nvSpPr>
            <p:cNvPr id="69" name="Rounded Rectangle 68"/>
            <p:cNvSpPr/>
            <p:nvPr/>
          </p:nvSpPr>
          <p:spPr bwMode="gray">
            <a:xfrm>
              <a:off x="2865727" y="3149134"/>
              <a:ext cx="2071509" cy="363746"/>
            </a:xfrm>
            <a:prstGeom prst="roundRect">
              <a:avLst/>
            </a:prstGeom>
            <a:solidFill>
              <a:schemeClr val="bg1"/>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SDH/MSTP/MPLS</a:t>
              </a:r>
              <a:endParaRPr lang="zh-CN" altLang="en-US" sz="1400" dirty="0">
                <a:solidFill>
                  <a:schemeClr val="tx1"/>
                </a:solidFill>
              </a:endParaRPr>
            </a:p>
          </p:txBody>
        </p:sp>
        <p:sp>
          <p:nvSpPr>
            <p:cNvPr id="49" name="Rectangle 48">
              <a:extLst>
                <a:ext uri="{FF2B5EF4-FFF2-40B4-BE49-F238E27FC236}">
                  <a16:creationId xmlns:a16="http://schemas.microsoft.com/office/drawing/2014/main" id="{226AED75-7587-46CF-9A37-68AD03B27375}"/>
                </a:ext>
              </a:extLst>
            </p:cNvPr>
            <p:cNvSpPr/>
            <p:nvPr/>
          </p:nvSpPr>
          <p:spPr bwMode="gray">
            <a:xfrm>
              <a:off x="1221882" y="2628978"/>
              <a:ext cx="1029915"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defTabSz="914400" fontAlgn="t">
                <a:spcBef>
                  <a:spcPct val="0"/>
                </a:spcBef>
                <a:spcAft>
                  <a:spcPct val="0"/>
                </a:spcAft>
              </a:pPr>
              <a:r>
                <a:rPr lang="zh-CN" altLang="en-US" sz="1400" dirty="0">
                  <a:solidFill>
                    <a:schemeClr val="bg1"/>
                  </a:solidFill>
                  <a:cs typeface="+mn-ea"/>
                </a:rPr>
                <a:t>总行</a:t>
              </a:r>
            </a:p>
          </p:txBody>
        </p:sp>
        <p:cxnSp>
          <p:nvCxnSpPr>
            <p:cNvPr id="50" name="Straight Connector 49">
              <a:extLst>
                <a:ext uri="{FF2B5EF4-FFF2-40B4-BE49-F238E27FC236}">
                  <a16:creationId xmlns:a16="http://schemas.microsoft.com/office/drawing/2014/main" id="{7653C0ED-DD51-4348-AAB6-E108F295B082}"/>
                </a:ext>
              </a:extLst>
            </p:cNvPr>
            <p:cNvCxnSpPr>
              <a:cxnSpLocks/>
              <a:stCxn id="7" idx="1"/>
              <a:endCxn id="49" idx="3"/>
            </p:cNvCxnSpPr>
            <p:nvPr/>
          </p:nvCxnSpPr>
          <p:spPr bwMode="gray">
            <a:xfrm flipH="1" flipV="1">
              <a:off x="2251797" y="2809953"/>
              <a:ext cx="403856" cy="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grpSp>
    </p:spTree>
    <p:extLst>
      <p:ext uri="{BB962C8B-B14F-4D97-AF65-F5344CB8AC3E}">
        <p14:creationId xmlns:p14="http://schemas.microsoft.com/office/powerpoint/2010/main" val="553981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a:xfrm>
            <a:off x="1019175" y="1844675"/>
            <a:ext cx="10153650" cy="4356100"/>
          </a:xfrm>
        </p:spPr>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b="1" dirty="0"/>
              <a:t>广域互联组网技术应用</a:t>
            </a:r>
            <a:endParaRPr lang="en-US" altLang="zh-CN" b="1" dirty="0"/>
          </a:p>
          <a:p>
            <a:pPr lvl="1">
              <a:buSzPct val="60000"/>
              <a:buFont typeface="Wingdings" panose="05000000000000000000" pitchFamily="2" charset="2"/>
              <a:buChar char="n"/>
            </a:pPr>
            <a:r>
              <a:rPr lang="zh-CN" altLang="en-US" dirty="0"/>
              <a:t>广域互联组网方案</a:t>
            </a:r>
            <a:endParaRPr lang="en-US" altLang="zh-CN" dirty="0"/>
          </a:p>
          <a:p>
            <a:pPr lvl="1"/>
            <a:r>
              <a:rPr lang="zh-CN" altLang="en-US" dirty="0">
                <a:solidFill>
                  <a:schemeClr val="bg1">
                    <a:lumMod val="50000"/>
                  </a:schemeClr>
                </a:solidFill>
              </a:rPr>
              <a:t>专线技术应用</a:t>
            </a:r>
            <a:endParaRPr lang="en-US" altLang="zh-CN" dirty="0">
              <a:solidFill>
                <a:schemeClr val="bg1">
                  <a:lumMod val="50000"/>
                </a:schemeClr>
              </a:solidFill>
            </a:endParaRPr>
          </a:p>
          <a:p>
            <a:pPr lvl="1"/>
            <a:r>
              <a:rPr lang="en-US" altLang="zh-CN" dirty="0">
                <a:solidFill>
                  <a:schemeClr val="bg1">
                    <a:lumMod val="50000"/>
                  </a:schemeClr>
                </a:solidFill>
              </a:rPr>
              <a:t>VPN</a:t>
            </a:r>
            <a:r>
              <a:rPr lang="zh-CN" altLang="en-US" dirty="0">
                <a:solidFill>
                  <a:schemeClr val="bg1">
                    <a:lumMod val="50000"/>
                  </a:schemeClr>
                </a:solidFill>
              </a:rPr>
              <a:t>技术应用</a:t>
            </a:r>
            <a:endParaRPr lang="en-US" altLang="zh-CN" dirty="0">
              <a:solidFill>
                <a:schemeClr val="bg1">
                  <a:lumMod val="50000"/>
                </a:schemeClr>
              </a:solidFill>
            </a:endParaRPr>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dirty="0">
                <a:solidFill>
                  <a:schemeClr val="bg1">
                    <a:lumMod val="50000"/>
                  </a:schemeClr>
                </a:solidFill>
              </a:rPr>
              <a:t>广域互联优化技术应用</a:t>
            </a:r>
            <a:endParaRPr lang="zh-CN" altLang="en-US" dirty="0"/>
          </a:p>
        </p:txBody>
      </p:sp>
    </p:spTree>
    <p:extLst>
      <p:ext uri="{BB962C8B-B14F-4D97-AF65-F5344CB8AC3E}">
        <p14:creationId xmlns:p14="http://schemas.microsoft.com/office/powerpoint/2010/main" val="395848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zh-CN" altLang="en-US" dirty="0"/>
              <a:t>企业广域互联组网的三种方案</a:t>
            </a:r>
          </a:p>
        </p:txBody>
      </p:sp>
      <p:sp>
        <p:nvSpPr>
          <p:cNvPr id="4" name="Text Placeholder 3"/>
          <p:cNvSpPr>
            <a:spLocks noGrp="1"/>
          </p:cNvSpPr>
          <p:nvPr>
            <p:ph type="body" sz="quarter" idx="10"/>
          </p:nvPr>
        </p:nvSpPr>
        <p:spPr bwMode="gray">
          <a:xfrm>
            <a:off x="455612" y="1047751"/>
            <a:ext cx="11293475" cy="598338"/>
          </a:xfrm>
        </p:spPr>
        <p:txBody>
          <a:bodyPr/>
          <a:lstStyle/>
          <a:p>
            <a:r>
              <a:rPr lang="zh-CN" altLang="en-US" sz="2200" dirty="0"/>
              <a:t>企业广域互联方式较多，基于企业不同的需求，一般会使用一种或多种互联方式。</a:t>
            </a:r>
            <a:endParaRPr lang="en-US" altLang="zh-CN" sz="2200" dirty="0"/>
          </a:p>
        </p:txBody>
      </p:sp>
      <p:sp>
        <p:nvSpPr>
          <p:cNvPr id="68" name="Freeform 159"/>
          <p:cNvSpPr/>
          <p:nvPr/>
        </p:nvSpPr>
        <p:spPr bwMode="gray">
          <a:xfrm flipH="1">
            <a:off x="1602287" y="5329334"/>
            <a:ext cx="1210419" cy="63272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公司分支</a:t>
            </a:r>
            <a:endParaRPr lang="en-US" sz="1400" dirty="0">
              <a:solidFill>
                <a:schemeClr val="tx1"/>
              </a:solidFill>
            </a:endParaRPr>
          </a:p>
        </p:txBody>
      </p:sp>
      <p:sp>
        <p:nvSpPr>
          <p:cNvPr id="58" name="Freeform 159"/>
          <p:cNvSpPr/>
          <p:nvPr/>
        </p:nvSpPr>
        <p:spPr bwMode="gray">
          <a:xfrm flipH="1">
            <a:off x="4514032" y="3060862"/>
            <a:ext cx="1446417" cy="756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dirty="0">
                <a:solidFill>
                  <a:schemeClr val="tx1"/>
                </a:solidFill>
              </a:rPr>
              <a:t>MPLS</a:t>
            </a:r>
            <a:r>
              <a:rPr lang="zh-CN" altLang="en-US" sz="1600" dirty="0">
                <a:solidFill>
                  <a:schemeClr val="tx1"/>
                </a:solidFill>
              </a:rPr>
              <a:t>专线</a:t>
            </a:r>
            <a:endParaRPr lang="en-US" sz="1600" dirty="0">
              <a:solidFill>
                <a:schemeClr val="tx1"/>
              </a:solidFill>
            </a:endParaRPr>
          </a:p>
        </p:txBody>
      </p:sp>
      <p:sp>
        <p:nvSpPr>
          <p:cNvPr id="60" name="Freeform 159"/>
          <p:cNvSpPr/>
          <p:nvPr/>
        </p:nvSpPr>
        <p:spPr bwMode="gray">
          <a:xfrm flipH="1">
            <a:off x="7938685" y="2581753"/>
            <a:ext cx="2697691" cy="141015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800" dirty="0">
                <a:solidFill>
                  <a:schemeClr val="tx1"/>
                </a:solidFill>
              </a:rPr>
              <a:t>公司总部</a:t>
            </a:r>
            <a:endParaRPr lang="en-US" sz="1800" dirty="0">
              <a:solidFill>
                <a:schemeClr val="tx1"/>
              </a:solidFill>
            </a:endParaRPr>
          </a:p>
        </p:txBody>
      </p:sp>
      <p:sp>
        <p:nvSpPr>
          <p:cNvPr id="5" name="Freeform 159"/>
          <p:cNvSpPr/>
          <p:nvPr/>
        </p:nvSpPr>
        <p:spPr bwMode="gray">
          <a:xfrm flipH="1">
            <a:off x="1595507" y="1950182"/>
            <a:ext cx="1208453" cy="63169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公司分支</a:t>
            </a:r>
            <a:endParaRPr lang="en-US" sz="1400" dirty="0">
              <a:solidFill>
                <a:schemeClr val="tx1"/>
              </a:solidFill>
            </a:endParaRPr>
          </a:p>
        </p:txBody>
      </p:sp>
      <p:pic>
        <p:nvPicPr>
          <p:cNvPr id="6" name="图片 42" descr="大型网管-蓝.png"/>
          <p:cNvPicPr>
            <a:picLocks noChangeAspect="1"/>
          </p:cNvPicPr>
          <p:nvPr/>
        </p:nvPicPr>
        <p:blipFill>
          <a:blip r:embed="rId3" cstate="print"/>
          <a:stretch>
            <a:fillRect/>
          </a:stretch>
        </p:blipFill>
        <p:spPr bwMode="gray">
          <a:xfrm>
            <a:off x="1775950" y="1717324"/>
            <a:ext cx="539607" cy="441817"/>
          </a:xfrm>
          <a:prstGeom prst="rect">
            <a:avLst/>
          </a:prstGeom>
        </p:spPr>
      </p:pic>
      <p:pic>
        <p:nvPicPr>
          <p:cNvPr id="7" name="Picture 12" descr="E:\2016.01\1.12 扁平化图标\蓝色\AR-蓝色最新-40.png"/>
          <p:cNvPicPr>
            <a:picLocks noChangeAspect="1" noChangeArrowheads="1"/>
          </p:cNvPicPr>
          <p:nvPr/>
        </p:nvPicPr>
        <p:blipFill>
          <a:blip r:embed="rId4" cstate="print"/>
          <a:srcRect/>
          <a:stretch>
            <a:fillRect/>
          </a:stretch>
        </p:blipFill>
        <p:spPr bwMode="gray">
          <a:xfrm>
            <a:off x="2603266" y="2185698"/>
            <a:ext cx="484709" cy="396580"/>
          </a:xfrm>
          <a:prstGeom prst="rect">
            <a:avLst/>
          </a:prstGeom>
          <a:noFill/>
        </p:spPr>
      </p:pic>
      <p:sp>
        <p:nvSpPr>
          <p:cNvPr id="8" name="Freeform 159"/>
          <p:cNvSpPr/>
          <p:nvPr/>
        </p:nvSpPr>
        <p:spPr bwMode="gray">
          <a:xfrm flipH="1">
            <a:off x="1597462" y="4273284"/>
            <a:ext cx="1210419" cy="63272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公司分支</a:t>
            </a:r>
            <a:endParaRPr lang="en-US" sz="1400" dirty="0">
              <a:solidFill>
                <a:schemeClr val="tx1"/>
              </a:solidFill>
            </a:endParaRPr>
          </a:p>
        </p:txBody>
      </p:sp>
      <p:pic>
        <p:nvPicPr>
          <p:cNvPr id="9" name="图片 42" descr="大型网管-蓝.png"/>
          <p:cNvPicPr>
            <a:picLocks noChangeAspect="1"/>
          </p:cNvPicPr>
          <p:nvPr/>
        </p:nvPicPr>
        <p:blipFill>
          <a:blip r:embed="rId3" cstate="print"/>
          <a:stretch>
            <a:fillRect/>
          </a:stretch>
        </p:blipFill>
        <p:spPr bwMode="gray">
          <a:xfrm>
            <a:off x="1777904" y="4043160"/>
            <a:ext cx="539607" cy="441817"/>
          </a:xfrm>
          <a:prstGeom prst="rect">
            <a:avLst/>
          </a:prstGeom>
        </p:spPr>
      </p:pic>
      <p:pic>
        <p:nvPicPr>
          <p:cNvPr id="12" name="图片 42" descr="大型网管-蓝.png"/>
          <p:cNvPicPr>
            <a:picLocks noChangeAspect="1"/>
          </p:cNvPicPr>
          <p:nvPr/>
        </p:nvPicPr>
        <p:blipFill>
          <a:blip r:embed="rId3" cstate="print"/>
          <a:stretch>
            <a:fillRect/>
          </a:stretch>
        </p:blipFill>
        <p:spPr bwMode="gray">
          <a:xfrm>
            <a:off x="1777905" y="5088294"/>
            <a:ext cx="539607" cy="441817"/>
          </a:xfrm>
          <a:prstGeom prst="rect">
            <a:avLst/>
          </a:prstGeom>
        </p:spPr>
      </p:pic>
      <p:pic>
        <p:nvPicPr>
          <p:cNvPr id="25"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4286358" y="3430488"/>
            <a:ext cx="405000" cy="332100"/>
          </a:xfrm>
          <a:prstGeom prst="rect">
            <a:avLst/>
          </a:prstGeom>
        </p:spPr>
      </p:pic>
      <p:pic>
        <p:nvPicPr>
          <p:cNvPr id="26"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5066433" y="2910642"/>
            <a:ext cx="405000" cy="332100"/>
          </a:xfrm>
          <a:prstGeom prst="rect">
            <a:avLst/>
          </a:prstGeom>
        </p:spPr>
      </p:pic>
      <p:pic>
        <p:nvPicPr>
          <p:cNvPr id="27"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5821161" y="3430488"/>
            <a:ext cx="405000" cy="332100"/>
          </a:xfrm>
          <a:prstGeom prst="rect">
            <a:avLst/>
          </a:prstGeom>
        </p:spPr>
      </p:pic>
      <p:cxnSp>
        <p:nvCxnSpPr>
          <p:cNvPr id="29" name="Straight Connector 28"/>
          <p:cNvCxnSpPr>
            <a:stCxn id="7" idx="3"/>
          </p:cNvCxnSpPr>
          <p:nvPr/>
        </p:nvCxnSpPr>
        <p:spPr bwMode="gray">
          <a:xfrm>
            <a:off x="3087975" y="2383988"/>
            <a:ext cx="1709988"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31" name="Straight Connector 30"/>
          <p:cNvCxnSpPr>
            <a:stCxn id="63" idx="3"/>
          </p:cNvCxnSpPr>
          <p:nvPr/>
        </p:nvCxnSpPr>
        <p:spPr bwMode="gray">
          <a:xfrm>
            <a:off x="3085980" y="4716930"/>
            <a:ext cx="1410170" cy="48753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34" name="Straight Connector 33"/>
          <p:cNvCxnSpPr>
            <a:stCxn id="69" idx="3"/>
          </p:cNvCxnSpPr>
          <p:nvPr/>
        </p:nvCxnSpPr>
        <p:spPr bwMode="gray">
          <a:xfrm flipV="1">
            <a:off x="3056117" y="5204466"/>
            <a:ext cx="1440033" cy="53942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37" name="Straight Connector 36"/>
          <p:cNvCxnSpPr>
            <a:stCxn id="72" idx="3"/>
            <a:endCxn id="25" idx="1"/>
          </p:cNvCxnSpPr>
          <p:nvPr/>
        </p:nvCxnSpPr>
        <p:spPr bwMode="gray">
          <a:xfrm>
            <a:off x="3055346" y="3589107"/>
            <a:ext cx="1231012" cy="743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40" name="Picture 12" descr="E:\2016.01\1.12 扁平化图标\蓝色\AR-蓝色最新-40.png"/>
          <p:cNvPicPr>
            <a:picLocks noChangeAspect="1" noChangeArrowheads="1"/>
          </p:cNvPicPr>
          <p:nvPr/>
        </p:nvPicPr>
        <p:blipFill>
          <a:blip r:embed="rId4" cstate="print"/>
          <a:srcRect/>
          <a:stretch>
            <a:fillRect/>
          </a:stretch>
        </p:blipFill>
        <p:spPr bwMode="gray">
          <a:xfrm>
            <a:off x="7752728" y="3368198"/>
            <a:ext cx="540000" cy="441818"/>
          </a:xfrm>
          <a:prstGeom prst="rect">
            <a:avLst/>
          </a:prstGeom>
          <a:noFill/>
        </p:spPr>
      </p:pic>
      <p:pic>
        <p:nvPicPr>
          <p:cNvPr id="44" name="图片 20" descr="交换机.png"/>
          <p:cNvPicPr>
            <a:picLocks noChangeAspect="1"/>
          </p:cNvPicPr>
          <p:nvPr/>
        </p:nvPicPr>
        <p:blipFill>
          <a:blip r:embed="rId6" cstate="print"/>
          <a:stretch>
            <a:fillRect/>
          </a:stretch>
        </p:blipFill>
        <p:spPr bwMode="gray">
          <a:xfrm>
            <a:off x="9462886" y="2610242"/>
            <a:ext cx="539999" cy="441816"/>
          </a:xfrm>
          <a:prstGeom prst="rect">
            <a:avLst/>
          </a:prstGeom>
        </p:spPr>
      </p:pic>
      <p:pic>
        <p:nvPicPr>
          <p:cNvPr id="45" name="图片 22" descr="Web服务器-蓝.png"/>
          <p:cNvPicPr>
            <a:picLocks noChangeAspect="1"/>
          </p:cNvPicPr>
          <p:nvPr/>
        </p:nvPicPr>
        <p:blipFill>
          <a:blip r:embed="rId7" cstate="print"/>
          <a:stretch>
            <a:fillRect/>
          </a:stretch>
        </p:blipFill>
        <p:spPr bwMode="gray">
          <a:xfrm>
            <a:off x="9462886" y="3526774"/>
            <a:ext cx="540000" cy="441818"/>
          </a:xfrm>
          <a:prstGeom prst="rect">
            <a:avLst/>
          </a:prstGeom>
        </p:spPr>
      </p:pic>
      <p:pic>
        <p:nvPicPr>
          <p:cNvPr id="46" name="图片 23" descr="FTP服务器-蓝.png"/>
          <p:cNvPicPr>
            <a:picLocks noChangeAspect="1"/>
          </p:cNvPicPr>
          <p:nvPr/>
        </p:nvPicPr>
        <p:blipFill>
          <a:blip r:embed="rId8" cstate="print"/>
          <a:stretch>
            <a:fillRect/>
          </a:stretch>
        </p:blipFill>
        <p:spPr bwMode="gray">
          <a:xfrm>
            <a:off x="10367581" y="3520651"/>
            <a:ext cx="540000" cy="441818"/>
          </a:xfrm>
          <a:prstGeom prst="rect">
            <a:avLst/>
          </a:prstGeom>
        </p:spPr>
      </p:pic>
      <p:pic>
        <p:nvPicPr>
          <p:cNvPr id="47" name="图片 24" descr="邮件服务器-蓝.png"/>
          <p:cNvPicPr>
            <a:picLocks noChangeAspect="1"/>
          </p:cNvPicPr>
          <p:nvPr/>
        </p:nvPicPr>
        <p:blipFill>
          <a:blip r:embed="rId9" cstate="print"/>
          <a:stretch>
            <a:fillRect/>
          </a:stretch>
        </p:blipFill>
        <p:spPr bwMode="gray">
          <a:xfrm>
            <a:off x="8559436" y="3526774"/>
            <a:ext cx="540000" cy="441818"/>
          </a:xfrm>
          <a:prstGeom prst="rect">
            <a:avLst/>
          </a:prstGeom>
        </p:spPr>
      </p:pic>
      <p:pic>
        <p:nvPicPr>
          <p:cNvPr id="49" name="图片 29" descr="存储服务器-蓝.png"/>
          <p:cNvPicPr>
            <a:picLocks noChangeAspect="1"/>
          </p:cNvPicPr>
          <p:nvPr/>
        </p:nvPicPr>
        <p:blipFill>
          <a:blip r:embed="rId10" cstate="print"/>
          <a:stretch>
            <a:fillRect/>
          </a:stretch>
        </p:blipFill>
        <p:spPr bwMode="gray">
          <a:xfrm>
            <a:off x="8559436" y="2610242"/>
            <a:ext cx="540000" cy="441818"/>
          </a:xfrm>
          <a:prstGeom prst="rect">
            <a:avLst/>
          </a:prstGeom>
        </p:spPr>
      </p:pic>
      <p:cxnSp>
        <p:nvCxnSpPr>
          <p:cNvPr id="50" name="Straight Connector 49"/>
          <p:cNvCxnSpPr>
            <a:stCxn id="54" idx="8"/>
            <a:endCxn id="40" idx="1"/>
          </p:cNvCxnSpPr>
          <p:nvPr/>
        </p:nvCxnSpPr>
        <p:spPr bwMode="gray">
          <a:xfrm>
            <a:off x="5960365" y="2347189"/>
            <a:ext cx="1792363" cy="1241918"/>
          </a:xfrm>
          <a:prstGeom prst="line">
            <a:avLst/>
          </a:prstGeom>
          <a:solidFill>
            <a:schemeClr val="accent1"/>
          </a:solidFill>
          <a:ln w="19050" cap="flat" cmpd="sng" algn="ctr">
            <a:solidFill>
              <a:schemeClr val="bg1">
                <a:lumMod val="50000"/>
              </a:schemeClr>
            </a:solidFill>
            <a:prstDash val="dash"/>
            <a:round/>
            <a:headEnd type="none" w="med" len="med"/>
            <a:tailEnd type="none" w="med" len="med"/>
          </a:ln>
          <a:effectLst/>
        </p:spPr>
      </p:cxnSp>
      <p:cxnSp>
        <p:nvCxnSpPr>
          <p:cNvPr id="53" name="Straight Connector 52"/>
          <p:cNvCxnSpPr>
            <a:stCxn id="55" idx="8"/>
            <a:endCxn id="40" idx="1"/>
          </p:cNvCxnSpPr>
          <p:nvPr/>
        </p:nvCxnSpPr>
        <p:spPr bwMode="gray">
          <a:xfrm flipV="1">
            <a:off x="5944680" y="3589107"/>
            <a:ext cx="1808048" cy="1597452"/>
          </a:xfrm>
          <a:prstGeom prst="line">
            <a:avLst/>
          </a:prstGeom>
          <a:solidFill>
            <a:schemeClr val="accent1"/>
          </a:solidFill>
          <a:ln w="19050" cap="flat" cmpd="sng" algn="ctr">
            <a:solidFill>
              <a:schemeClr val="bg1">
                <a:lumMod val="50000"/>
              </a:schemeClr>
            </a:solidFill>
            <a:prstDash val="dash"/>
            <a:round/>
            <a:headEnd type="none" w="med" len="med"/>
            <a:tailEnd type="none" w="med" len="med"/>
          </a:ln>
          <a:effectLst/>
        </p:spPr>
      </p:cxnSp>
      <p:cxnSp>
        <p:nvCxnSpPr>
          <p:cNvPr id="56" name="Straight Connector 55"/>
          <p:cNvCxnSpPr>
            <a:stCxn id="27" idx="3"/>
            <a:endCxn id="40" idx="1"/>
          </p:cNvCxnSpPr>
          <p:nvPr/>
        </p:nvCxnSpPr>
        <p:spPr bwMode="gray">
          <a:xfrm flipV="1">
            <a:off x="6226161" y="3589107"/>
            <a:ext cx="1526567" cy="7431"/>
          </a:xfrm>
          <a:prstGeom prst="line">
            <a:avLst/>
          </a:prstGeom>
          <a:solidFill>
            <a:schemeClr val="accent1"/>
          </a:solidFill>
          <a:ln w="19050" cap="flat" cmpd="sng" algn="ctr">
            <a:solidFill>
              <a:schemeClr val="bg1">
                <a:lumMod val="50000"/>
              </a:schemeClr>
            </a:solidFill>
            <a:prstDash val="dash"/>
            <a:round/>
            <a:headEnd type="none" w="med" len="med"/>
            <a:tailEnd type="none" w="med" len="med"/>
          </a:ln>
          <a:effectLst/>
        </p:spPr>
      </p:cxnSp>
      <p:sp>
        <p:nvSpPr>
          <p:cNvPr id="61" name="TextBox 60"/>
          <p:cNvSpPr txBox="1"/>
          <p:nvPr/>
        </p:nvSpPr>
        <p:spPr bwMode="gray">
          <a:xfrm>
            <a:off x="2936997" y="1970461"/>
            <a:ext cx="1806150"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auto"/>
            <a:r>
              <a:rPr lang="zh-CN" altLang="en-US" sz="1200" dirty="0">
                <a:latin typeface="+mj-lt"/>
                <a:ea typeface="+mn-ea"/>
              </a:rPr>
              <a:t>裸纤</a:t>
            </a:r>
            <a:r>
              <a:rPr lang="en-US" altLang="zh-CN" sz="1200" dirty="0">
                <a:latin typeface="+mj-lt"/>
                <a:ea typeface="+mn-ea"/>
              </a:rPr>
              <a:t>\SDH\WDM\MSTP</a:t>
            </a:r>
            <a:endParaRPr lang="zh-CN" altLang="en-US" sz="1200" dirty="0">
              <a:latin typeface="+mj-lt"/>
              <a:ea typeface="+mn-ea"/>
            </a:endParaRPr>
          </a:p>
        </p:txBody>
      </p:sp>
      <p:sp>
        <p:nvSpPr>
          <p:cNvPr id="62" name="TextBox 61"/>
          <p:cNvSpPr txBox="1"/>
          <p:nvPr/>
        </p:nvSpPr>
        <p:spPr bwMode="gray">
          <a:xfrm rot="20358548">
            <a:off x="3047399" y="5415228"/>
            <a:ext cx="158751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L2TP VPN\SSL VPN</a:t>
            </a:r>
            <a:endParaRPr lang="zh-CN" altLang="en-US" sz="1200" dirty="0">
              <a:latin typeface="+mj-lt"/>
              <a:ea typeface="+mn-ea"/>
            </a:endParaRPr>
          </a:p>
        </p:txBody>
      </p:sp>
      <p:sp>
        <p:nvSpPr>
          <p:cNvPr id="64" name="TextBox 63"/>
          <p:cNvSpPr txBox="1"/>
          <p:nvPr/>
        </p:nvSpPr>
        <p:spPr bwMode="gray">
          <a:xfrm>
            <a:off x="3158184" y="3336810"/>
            <a:ext cx="954776"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MPLS VPN</a:t>
            </a:r>
            <a:endParaRPr lang="zh-CN" altLang="en-US" sz="1200" dirty="0">
              <a:latin typeface="+mj-lt"/>
              <a:ea typeface="+mn-ea"/>
            </a:endParaRPr>
          </a:p>
        </p:txBody>
      </p:sp>
      <p:sp>
        <p:nvSpPr>
          <p:cNvPr id="65" name="TextBox 64"/>
          <p:cNvSpPr txBox="1"/>
          <p:nvPr/>
        </p:nvSpPr>
        <p:spPr bwMode="gray">
          <a:xfrm>
            <a:off x="4220240" y="3192264"/>
            <a:ext cx="38250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PE</a:t>
            </a:r>
            <a:endParaRPr lang="zh-CN" altLang="en-US" sz="1200" dirty="0">
              <a:latin typeface="+mj-lt"/>
              <a:ea typeface="+mn-ea"/>
            </a:endParaRPr>
          </a:p>
        </p:txBody>
      </p:sp>
      <p:sp>
        <p:nvSpPr>
          <p:cNvPr id="66" name="TextBox 65"/>
          <p:cNvSpPr txBox="1"/>
          <p:nvPr/>
        </p:nvSpPr>
        <p:spPr bwMode="gray">
          <a:xfrm>
            <a:off x="5927696" y="3204427"/>
            <a:ext cx="38250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PE</a:t>
            </a:r>
            <a:endParaRPr lang="zh-CN" altLang="en-US" sz="1200" dirty="0">
              <a:latin typeface="+mj-lt"/>
              <a:ea typeface="+mn-ea"/>
            </a:endParaRPr>
          </a:p>
        </p:txBody>
      </p:sp>
      <p:sp>
        <p:nvSpPr>
          <p:cNvPr id="67" name="TextBox 66"/>
          <p:cNvSpPr txBox="1"/>
          <p:nvPr/>
        </p:nvSpPr>
        <p:spPr bwMode="gray">
          <a:xfrm>
            <a:off x="5165699" y="2648691"/>
            <a:ext cx="27991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a:t>
            </a:r>
            <a:endParaRPr lang="zh-CN" altLang="en-US" sz="1200" dirty="0">
              <a:latin typeface="+mj-lt"/>
              <a:ea typeface="+mn-ea"/>
            </a:endParaRPr>
          </a:p>
        </p:txBody>
      </p:sp>
      <p:sp>
        <p:nvSpPr>
          <p:cNvPr id="96" name="TextBox 95"/>
          <p:cNvSpPr txBox="1"/>
          <p:nvPr/>
        </p:nvSpPr>
        <p:spPr bwMode="gray">
          <a:xfrm rot="1085535">
            <a:off x="3034462" y="4679607"/>
            <a:ext cx="143407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DSVPN/IPsec VPN</a:t>
            </a:r>
            <a:endParaRPr lang="zh-CN" altLang="en-US" sz="1200" dirty="0">
              <a:latin typeface="+mj-lt"/>
              <a:ea typeface="+mn-ea"/>
            </a:endParaRPr>
          </a:p>
        </p:txBody>
      </p:sp>
      <p:sp>
        <p:nvSpPr>
          <p:cNvPr id="97" name="TextBox 96"/>
          <p:cNvSpPr txBox="1"/>
          <p:nvPr/>
        </p:nvSpPr>
        <p:spPr bwMode="gray">
          <a:xfrm>
            <a:off x="2610605" y="3146146"/>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CE</a:t>
            </a:r>
            <a:endParaRPr lang="zh-CN" altLang="en-US" sz="1200" dirty="0">
              <a:latin typeface="+mj-lt"/>
              <a:ea typeface="+mn-ea"/>
            </a:endParaRPr>
          </a:p>
        </p:txBody>
      </p:sp>
      <p:sp>
        <p:nvSpPr>
          <p:cNvPr id="98" name="TextBox 97"/>
          <p:cNvSpPr txBox="1"/>
          <p:nvPr/>
        </p:nvSpPr>
        <p:spPr bwMode="gray">
          <a:xfrm>
            <a:off x="2589604" y="5289438"/>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CE</a:t>
            </a:r>
            <a:endParaRPr lang="zh-CN" altLang="en-US" sz="1200" dirty="0">
              <a:latin typeface="+mj-lt"/>
              <a:ea typeface="+mn-ea"/>
            </a:endParaRPr>
          </a:p>
        </p:txBody>
      </p:sp>
      <p:sp>
        <p:nvSpPr>
          <p:cNvPr id="99" name="TextBox 98"/>
          <p:cNvSpPr txBox="1"/>
          <p:nvPr/>
        </p:nvSpPr>
        <p:spPr bwMode="gray">
          <a:xfrm>
            <a:off x="2593139" y="4244497"/>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CE</a:t>
            </a:r>
            <a:endParaRPr lang="zh-CN" altLang="en-US" sz="1200" dirty="0">
              <a:latin typeface="+mj-lt"/>
              <a:ea typeface="+mn-ea"/>
            </a:endParaRPr>
          </a:p>
        </p:txBody>
      </p:sp>
      <p:pic>
        <p:nvPicPr>
          <p:cNvPr id="102" name="图片 50" descr="数据中心-蓝.png"/>
          <p:cNvPicPr>
            <a:picLocks noChangeAspect="1"/>
          </p:cNvPicPr>
          <p:nvPr/>
        </p:nvPicPr>
        <p:blipFill>
          <a:blip r:embed="rId11" cstate="print">
            <a:duotone>
              <a:schemeClr val="accent3">
                <a:shade val="45000"/>
                <a:satMod val="135000"/>
              </a:schemeClr>
              <a:prstClr val="white"/>
            </a:duotone>
          </a:blip>
          <a:stretch>
            <a:fillRect/>
          </a:stretch>
        </p:blipFill>
        <p:spPr bwMode="gray">
          <a:xfrm rot="4730868">
            <a:off x="3621550" y="5081108"/>
            <a:ext cx="205390" cy="1522131"/>
          </a:xfrm>
          <a:prstGeom prst="rect">
            <a:avLst/>
          </a:prstGeom>
          <a:ln>
            <a:noFill/>
          </a:ln>
        </p:spPr>
      </p:pic>
      <p:pic>
        <p:nvPicPr>
          <p:cNvPr id="103" name="图片 4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4426417" y="5427837"/>
            <a:ext cx="437587" cy="574969"/>
          </a:xfrm>
          <a:prstGeom prst="rect">
            <a:avLst/>
          </a:prstGeom>
        </p:spPr>
      </p:pic>
      <p:cxnSp>
        <p:nvCxnSpPr>
          <p:cNvPr id="104" name="Straight Connector 103"/>
          <p:cNvCxnSpPr>
            <a:stCxn id="103" idx="3"/>
          </p:cNvCxnSpPr>
          <p:nvPr/>
        </p:nvCxnSpPr>
        <p:spPr bwMode="gray">
          <a:xfrm flipV="1">
            <a:off x="4864004" y="5427837"/>
            <a:ext cx="357467" cy="287485"/>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11" name="TextBox 110"/>
          <p:cNvSpPr txBox="1"/>
          <p:nvPr/>
        </p:nvSpPr>
        <p:spPr bwMode="gray">
          <a:xfrm>
            <a:off x="4736377" y="5722401"/>
            <a:ext cx="62776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4G/5G</a:t>
            </a:r>
            <a:endParaRPr lang="zh-CN" altLang="en-US" sz="1200" dirty="0">
              <a:latin typeface="+mj-lt"/>
              <a:ea typeface="+mn-ea"/>
            </a:endParaRPr>
          </a:p>
        </p:txBody>
      </p:sp>
      <p:sp>
        <p:nvSpPr>
          <p:cNvPr id="54" name="Freeform 159"/>
          <p:cNvSpPr/>
          <p:nvPr/>
        </p:nvSpPr>
        <p:spPr bwMode="gray">
          <a:xfrm flipH="1">
            <a:off x="4513948" y="1830863"/>
            <a:ext cx="1446417" cy="756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传输专线</a:t>
            </a:r>
            <a:endParaRPr lang="en-US" sz="1600" dirty="0">
              <a:solidFill>
                <a:schemeClr val="tx1"/>
              </a:solidFill>
            </a:endParaRPr>
          </a:p>
        </p:txBody>
      </p:sp>
      <p:sp>
        <p:nvSpPr>
          <p:cNvPr id="55" name="Freeform 159"/>
          <p:cNvSpPr/>
          <p:nvPr/>
        </p:nvSpPr>
        <p:spPr bwMode="gray">
          <a:xfrm flipH="1">
            <a:off x="4498263" y="4670233"/>
            <a:ext cx="1446417" cy="756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r>
              <a:rPr lang="en-US" altLang="zh-CN" sz="1600" dirty="0">
                <a:solidFill>
                  <a:schemeClr val="tx1"/>
                </a:solidFill>
              </a:rPr>
              <a:t>Internet + VPN</a:t>
            </a:r>
            <a:endParaRPr lang="en-US" sz="1600" dirty="0">
              <a:solidFill>
                <a:schemeClr val="tx1"/>
              </a:solidFill>
            </a:endParaRPr>
          </a:p>
        </p:txBody>
      </p:sp>
      <p:pic>
        <p:nvPicPr>
          <p:cNvPr id="63" name="Picture 12" descr="E:\2016.01\1.12 扁平化图标\蓝色\AR-蓝色最新-40.png"/>
          <p:cNvPicPr>
            <a:picLocks noChangeAspect="1" noChangeArrowheads="1"/>
          </p:cNvPicPr>
          <p:nvPr/>
        </p:nvPicPr>
        <p:blipFill>
          <a:blip r:embed="rId4" cstate="print"/>
          <a:srcRect/>
          <a:stretch>
            <a:fillRect/>
          </a:stretch>
        </p:blipFill>
        <p:spPr bwMode="gray">
          <a:xfrm>
            <a:off x="2601271" y="4518640"/>
            <a:ext cx="484709" cy="396580"/>
          </a:xfrm>
          <a:prstGeom prst="rect">
            <a:avLst/>
          </a:prstGeom>
          <a:noFill/>
        </p:spPr>
      </p:pic>
      <p:pic>
        <p:nvPicPr>
          <p:cNvPr id="69" name="Picture 12" descr="E:\2016.01\1.12 扁平化图标\蓝色\AR-蓝色最新-40.png"/>
          <p:cNvPicPr>
            <a:picLocks noChangeAspect="1" noChangeArrowheads="1"/>
          </p:cNvPicPr>
          <p:nvPr/>
        </p:nvPicPr>
        <p:blipFill>
          <a:blip r:embed="rId4" cstate="print"/>
          <a:srcRect/>
          <a:stretch>
            <a:fillRect/>
          </a:stretch>
        </p:blipFill>
        <p:spPr bwMode="gray">
          <a:xfrm>
            <a:off x="2571408" y="5545597"/>
            <a:ext cx="484709" cy="396580"/>
          </a:xfrm>
          <a:prstGeom prst="rect">
            <a:avLst/>
          </a:prstGeom>
          <a:noFill/>
        </p:spPr>
      </p:pic>
      <p:sp>
        <p:nvSpPr>
          <p:cNvPr id="71" name="Freeform 159"/>
          <p:cNvSpPr/>
          <p:nvPr/>
        </p:nvSpPr>
        <p:spPr bwMode="gray">
          <a:xfrm flipH="1">
            <a:off x="1601516" y="3174554"/>
            <a:ext cx="1210419" cy="63272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公司分支</a:t>
            </a:r>
            <a:endParaRPr lang="en-US" sz="1400" dirty="0">
              <a:solidFill>
                <a:schemeClr val="tx1"/>
              </a:solidFill>
            </a:endParaRPr>
          </a:p>
        </p:txBody>
      </p:sp>
      <p:pic>
        <p:nvPicPr>
          <p:cNvPr id="72" name="Picture 12" descr="E:\2016.01\1.12 扁平化图标\蓝色\AR-蓝色最新-40.png"/>
          <p:cNvPicPr>
            <a:picLocks noChangeAspect="1" noChangeArrowheads="1"/>
          </p:cNvPicPr>
          <p:nvPr/>
        </p:nvPicPr>
        <p:blipFill>
          <a:blip r:embed="rId4" cstate="print"/>
          <a:srcRect/>
          <a:stretch>
            <a:fillRect/>
          </a:stretch>
        </p:blipFill>
        <p:spPr bwMode="gray">
          <a:xfrm>
            <a:off x="2570637" y="3390817"/>
            <a:ext cx="484709" cy="396580"/>
          </a:xfrm>
          <a:prstGeom prst="rect">
            <a:avLst/>
          </a:prstGeom>
          <a:noFill/>
        </p:spPr>
      </p:pic>
      <p:pic>
        <p:nvPicPr>
          <p:cNvPr id="15" name="图片 42" descr="大型网管-蓝.png"/>
          <p:cNvPicPr>
            <a:picLocks noChangeAspect="1"/>
          </p:cNvPicPr>
          <p:nvPr/>
        </p:nvPicPr>
        <p:blipFill>
          <a:blip r:embed="rId3" cstate="print"/>
          <a:stretch>
            <a:fillRect/>
          </a:stretch>
        </p:blipFill>
        <p:spPr bwMode="gray">
          <a:xfrm>
            <a:off x="1783287" y="2935802"/>
            <a:ext cx="539607" cy="441817"/>
          </a:xfrm>
          <a:prstGeom prst="rect">
            <a:avLst/>
          </a:prstGeom>
        </p:spPr>
      </p:pic>
    </p:spTree>
    <p:extLst>
      <p:ext uri="{BB962C8B-B14F-4D97-AF65-F5344CB8AC3E}">
        <p14:creationId xmlns:p14="http://schemas.microsoft.com/office/powerpoint/2010/main" val="754690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专线与</a:t>
            </a:r>
            <a:r>
              <a:rPr lang="en-US" altLang="zh-CN" dirty="0"/>
              <a:t>VPN</a:t>
            </a:r>
            <a:r>
              <a:rPr lang="zh-CN" altLang="en-US" dirty="0"/>
              <a:t>的对比</a:t>
            </a:r>
          </a:p>
        </p:txBody>
      </p:sp>
      <p:sp>
        <p:nvSpPr>
          <p:cNvPr id="3" name="Text Placeholder 2"/>
          <p:cNvSpPr>
            <a:spLocks noGrp="1"/>
          </p:cNvSpPr>
          <p:nvPr>
            <p:ph type="body" sz="quarter" idx="10"/>
          </p:nvPr>
        </p:nvSpPr>
        <p:spPr bwMode="gray">
          <a:xfrm>
            <a:off x="455612" y="1047751"/>
            <a:ext cx="11293475" cy="2181882"/>
          </a:xfrm>
        </p:spPr>
        <p:txBody>
          <a:bodyPr/>
          <a:lstStyle/>
          <a:p>
            <a:r>
              <a:rPr lang="zh-CN" altLang="en-US" sz="1800" dirty="0"/>
              <a:t>专线业务出现非常早，它能够很好地满足企业之间互联的需求，对于可靠性和安全性也有很好地保障，但是价格一直比较昂贵。</a:t>
            </a:r>
            <a:endParaRPr lang="en-US" altLang="zh-CN" sz="1800" dirty="0"/>
          </a:p>
          <a:p>
            <a:r>
              <a:rPr lang="zh-CN" altLang="en-US" sz="1800" dirty="0"/>
              <a:t>随着网络的发展，</a:t>
            </a:r>
            <a:r>
              <a:rPr lang="en-US" altLang="zh-CN" sz="1800" dirty="0"/>
              <a:t>VPN</a:t>
            </a:r>
            <a:r>
              <a:rPr lang="zh-CN" altLang="en-US" sz="1800" dirty="0"/>
              <a:t>技术开始占有更多的市场，但是对于网络有高安全高可靠性诉求的部分行业，比如金融，依然倾向使用专线技术。</a:t>
            </a:r>
            <a:endParaRPr lang="en-US" altLang="zh-CN" sz="1800" dirty="0"/>
          </a:p>
          <a:p>
            <a:r>
              <a:rPr lang="zh-CN" altLang="en-US" sz="1800" dirty="0"/>
              <a:t>对于专线和</a:t>
            </a:r>
            <a:r>
              <a:rPr lang="en-US" altLang="zh-CN" sz="1800" dirty="0"/>
              <a:t>VPN</a:t>
            </a:r>
            <a:r>
              <a:rPr lang="zh-CN" altLang="en-US" sz="1800" dirty="0"/>
              <a:t>技术地取舍应该基于公司业务，多方面比较。</a:t>
            </a:r>
          </a:p>
        </p:txBody>
      </p:sp>
      <p:graphicFrame>
        <p:nvGraphicFramePr>
          <p:cNvPr id="4" name="表格 8"/>
          <p:cNvGraphicFramePr>
            <a:graphicFrameLocks noGrp="1"/>
          </p:cNvGraphicFramePr>
          <p:nvPr>
            <p:extLst>
              <p:ext uri="{D42A27DB-BD31-4B8C-83A1-F6EECF244321}">
                <p14:modId xmlns:p14="http://schemas.microsoft.com/office/powerpoint/2010/main" val="2089457976"/>
              </p:ext>
            </p:extLst>
          </p:nvPr>
        </p:nvGraphicFramePr>
        <p:xfrm>
          <a:off x="1357716" y="3343934"/>
          <a:ext cx="9970086" cy="2590800"/>
        </p:xfrm>
        <a:graphic>
          <a:graphicData uri="http://schemas.openxmlformats.org/drawingml/2006/table">
            <a:tbl>
              <a:tblPr/>
              <a:tblGrid>
                <a:gridCol w="1583746">
                  <a:extLst>
                    <a:ext uri="{9D8B030D-6E8A-4147-A177-3AD203B41FA5}">
                      <a16:colId xmlns:a16="http://schemas.microsoft.com/office/drawing/2014/main" val="20000"/>
                    </a:ext>
                  </a:extLst>
                </a:gridCol>
                <a:gridCol w="3828221">
                  <a:extLst>
                    <a:ext uri="{9D8B030D-6E8A-4147-A177-3AD203B41FA5}">
                      <a16:colId xmlns:a16="http://schemas.microsoft.com/office/drawing/2014/main" val="20001"/>
                    </a:ext>
                  </a:extLst>
                </a:gridCol>
                <a:gridCol w="4558119">
                  <a:extLst>
                    <a:ext uri="{9D8B030D-6E8A-4147-A177-3AD203B41FA5}">
                      <a16:colId xmlns:a16="http://schemas.microsoft.com/office/drawing/2014/main" val="20002"/>
                    </a:ext>
                  </a:extLst>
                </a:gridCol>
              </a:tblGrid>
              <a:tr h="262009">
                <a:tc>
                  <a:txBody>
                    <a:bodyPr/>
                    <a:lstStyle/>
                    <a:p>
                      <a:pPr algn="ctr"/>
                      <a:endParaRPr lang="zh-CN" altLang="en-US" sz="1600" b="1" dirty="0">
                        <a:solidFill>
                          <a:schemeClr val="bg1"/>
                        </a:solidFill>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effectLst/>
                          <a:latin typeface="+mn-lt"/>
                          <a:ea typeface="+mn-ea"/>
                        </a:rPr>
                        <a:t>专线技术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600" b="1" dirty="0">
                          <a:solidFill>
                            <a:schemeClr val="tx1"/>
                          </a:solidFill>
                          <a:effectLst/>
                          <a:latin typeface="+mn-lt"/>
                          <a:ea typeface="+mn-ea"/>
                        </a:rPr>
                        <a:t>VPN</a:t>
                      </a:r>
                      <a:r>
                        <a:rPr lang="zh-CN" altLang="en-US" sz="1600" b="1" dirty="0">
                          <a:solidFill>
                            <a:schemeClr val="tx1"/>
                          </a:solidFill>
                          <a:effectLst/>
                          <a:latin typeface="+mn-lt"/>
                          <a:ea typeface="+mn-ea"/>
                        </a:rPr>
                        <a:t>技术</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91260">
                <a:tc>
                  <a:txBody>
                    <a:bodyPr/>
                    <a:lstStyle/>
                    <a:p>
                      <a:pPr algn="ctr"/>
                      <a:r>
                        <a:rPr lang="zh-CN" altLang="en-US" sz="1400" dirty="0">
                          <a:effectLst/>
                          <a:latin typeface="+mn-lt"/>
                          <a:ea typeface="+mn-ea"/>
                        </a:rPr>
                        <a:t>安全性</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比较高，安全依赖于</a:t>
                      </a:r>
                      <a:r>
                        <a:rPr lang="en-US" altLang="zh-CN" sz="1400" dirty="0"/>
                        <a:t>ISP</a:t>
                      </a:r>
                      <a:r>
                        <a:rPr lang="zh-CN" altLang="en-US"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非常高，数据加密传输，安全控制由用户掌握。</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91260">
                <a:tc>
                  <a:txBody>
                    <a:bodyPr/>
                    <a:lstStyle/>
                    <a:p>
                      <a:pPr algn="ctr"/>
                      <a:r>
                        <a:rPr lang="zh-CN" altLang="en-US" sz="1400" dirty="0">
                          <a:effectLst/>
                          <a:latin typeface="+mn-lt"/>
                          <a:ea typeface="+mn-ea"/>
                        </a:rPr>
                        <a:t>可靠性</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很高，主要依赖</a:t>
                      </a:r>
                      <a:r>
                        <a:rPr lang="en-US" altLang="zh-CN" sz="1400" dirty="0"/>
                        <a:t>ISP</a:t>
                      </a:r>
                      <a:r>
                        <a:rPr lang="zh-CN" altLang="en-US" sz="1400" dirty="0"/>
                        <a:t>的网络可靠性。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比较高，依赖</a:t>
                      </a:r>
                      <a:r>
                        <a:rPr lang="en-US" altLang="zh-CN" sz="1400" dirty="0">
                          <a:effectLst/>
                          <a:latin typeface="+mn-lt"/>
                          <a:ea typeface="+mn-ea"/>
                        </a:rPr>
                        <a:t>Internet</a:t>
                      </a:r>
                      <a:r>
                        <a:rPr lang="zh-CN" altLang="en-US" sz="1400" dirty="0">
                          <a:effectLst/>
                          <a:latin typeface="+mn-lt"/>
                          <a:ea typeface="+mn-ea"/>
                        </a:rPr>
                        <a:t>线路的可靠性。</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91260">
                <a:tc>
                  <a:txBody>
                    <a:bodyPr/>
                    <a:lstStyle/>
                    <a:p>
                      <a:pPr algn="ctr"/>
                      <a:r>
                        <a:rPr lang="zh-CN" altLang="en-US" sz="1400" dirty="0">
                          <a:effectLst/>
                          <a:latin typeface="+mn-lt"/>
                          <a:ea typeface="+mn-ea"/>
                        </a:rPr>
                        <a:t>可扩展性</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依赖</a:t>
                      </a:r>
                      <a:r>
                        <a:rPr lang="en-US" altLang="zh-CN" sz="1400" dirty="0"/>
                        <a:t>ISP</a:t>
                      </a:r>
                      <a:r>
                        <a:rPr lang="zh-CN" altLang="en-US" sz="1400" dirty="0"/>
                        <a:t>，扩展存在中间环节，扩展性一般。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基于</a:t>
                      </a:r>
                      <a:r>
                        <a:rPr lang="en-US" altLang="zh-CN" sz="1400" dirty="0">
                          <a:effectLst/>
                          <a:latin typeface="+mn-lt"/>
                          <a:ea typeface="+mn-ea"/>
                        </a:rPr>
                        <a:t>TCP/IP</a:t>
                      </a:r>
                      <a:r>
                        <a:rPr lang="zh-CN" altLang="en-US" sz="1400" dirty="0">
                          <a:effectLst/>
                          <a:latin typeface="+mn-lt"/>
                          <a:ea typeface="+mn-ea"/>
                        </a:rPr>
                        <a:t>，接入方式灵活，网络可达就可以扩展。</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91260">
                <a:tc>
                  <a:txBody>
                    <a:bodyPr/>
                    <a:lstStyle/>
                    <a:p>
                      <a:pPr algn="ctr"/>
                      <a:r>
                        <a:rPr lang="zh-CN" altLang="en-US" sz="1400" dirty="0">
                          <a:effectLst/>
                          <a:latin typeface="+mn-lt"/>
                          <a:ea typeface="+mn-ea"/>
                        </a:rPr>
                        <a:t>投资成本</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费用很高，需要按月支付专线租用费用，且网络建设初期需要投入设备费用。</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设备一次性费用投入，无需支出每月的运营费用。</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91260">
                <a:tc>
                  <a:txBody>
                    <a:bodyPr/>
                    <a:lstStyle/>
                    <a:p>
                      <a:pPr algn="ctr"/>
                      <a:r>
                        <a:rPr lang="zh-CN" altLang="en-US" sz="1400" dirty="0">
                          <a:effectLst/>
                          <a:latin typeface="+mn-lt"/>
                          <a:ea typeface="+mn-ea"/>
                        </a:rPr>
                        <a:t>对移动用户的支持</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只能连接专线到达的网络，不支持离开局域网的内部移动用户接入网络。</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内部移动用户可以使用</a:t>
                      </a:r>
                      <a:r>
                        <a:rPr lang="en-US" altLang="zh-CN" sz="1400" dirty="0">
                          <a:effectLst/>
                          <a:latin typeface="+mn-lt"/>
                          <a:ea typeface="+mn-ea"/>
                        </a:rPr>
                        <a:t>Internet</a:t>
                      </a:r>
                      <a:r>
                        <a:rPr lang="zh-CN" altLang="en-US" sz="1400" dirty="0">
                          <a:effectLst/>
                          <a:latin typeface="+mn-lt"/>
                          <a:ea typeface="+mn-ea"/>
                        </a:rPr>
                        <a:t>安全接入，消除地域差异。</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91260">
                <a:tc>
                  <a:txBody>
                    <a:bodyPr/>
                    <a:lstStyle/>
                    <a:p>
                      <a:pPr algn="ctr"/>
                      <a:r>
                        <a:rPr lang="zh-CN" altLang="en-US" sz="1400" dirty="0">
                          <a:effectLst/>
                          <a:latin typeface="+mn-lt"/>
                          <a:ea typeface="+mn-ea"/>
                        </a:rPr>
                        <a:t>传输带宽</a:t>
                      </a:r>
                      <a:endParaRPr lang="en-US" sz="1400" dirty="0">
                        <a:effectLst/>
                        <a:latin typeface="+mn-lt"/>
                        <a:ea typeface="+mn-ea"/>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en-US" sz="1400" dirty="0">
                          <a:effectLst/>
                          <a:latin typeface="+mn-lt"/>
                          <a:ea typeface="+mn-ea"/>
                        </a:rPr>
                        <a:t>由于价格昂贵，一般租用的带宽都比较小。</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en-US" sz="1400" dirty="0">
                          <a:effectLst/>
                          <a:latin typeface="+mn-lt"/>
                          <a:ea typeface="+mn-ea"/>
                        </a:rPr>
                        <a:t>I</a:t>
                      </a:r>
                      <a:r>
                        <a:rPr lang="en-US" altLang="zh-CN" sz="1400" dirty="0">
                          <a:effectLst/>
                          <a:latin typeface="+mn-lt"/>
                          <a:ea typeface="+mn-ea"/>
                        </a:rPr>
                        <a:t>nternet</a:t>
                      </a:r>
                      <a:r>
                        <a:rPr lang="zh-CN" altLang="en-US" sz="1400" dirty="0">
                          <a:effectLst/>
                          <a:latin typeface="+mn-lt"/>
                          <a:ea typeface="+mn-ea"/>
                        </a:rPr>
                        <a:t>价格低廉，租用带宽一般比较大。</a:t>
                      </a:r>
                      <a:endParaRPr lang="en-US" sz="1400" dirty="0">
                        <a:effectLst/>
                        <a:latin typeface="+mn-lt"/>
                        <a:ea typeface="+mn-ea"/>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44296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a:t>运营商专线介绍</a:t>
            </a:r>
            <a:endParaRPr lang="zh-CN" altLang="en-US" dirty="0"/>
          </a:p>
        </p:txBody>
      </p:sp>
      <p:sp>
        <p:nvSpPr>
          <p:cNvPr id="3" name="Text Placeholder 2"/>
          <p:cNvSpPr>
            <a:spLocks noGrp="1"/>
          </p:cNvSpPr>
          <p:nvPr>
            <p:ph type="body" sz="quarter" idx="10"/>
          </p:nvPr>
        </p:nvSpPr>
        <p:spPr bwMode="gray">
          <a:xfrm>
            <a:off x="455612" y="1047751"/>
            <a:ext cx="11293475" cy="1454140"/>
          </a:xfrm>
        </p:spPr>
        <p:txBody>
          <a:bodyPr/>
          <a:lstStyle/>
          <a:p>
            <a:r>
              <a:rPr lang="zh-CN" altLang="en-US" sz="1800" dirty="0"/>
              <a:t>运营商拥有大量线路资源，对于不同的行业与场景，运营商推出不同专线业务。</a:t>
            </a:r>
            <a:endParaRPr lang="en-US" altLang="zh-CN" sz="1800" dirty="0"/>
          </a:p>
          <a:p>
            <a:r>
              <a:rPr lang="zh-CN" altLang="en-US" sz="1800" dirty="0"/>
              <a:t>运营商高品质的传输专线业务主要是 </a:t>
            </a:r>
            <a:r>
              <a:rPr lang="en-US" altLang="zh-CN" sz="1800" dirty="0">
                <a:solidFill>
                  <a:srgbClr val="FF0000"/>
                </a:solidFill>
              </a:rPr>
              <a:t>SDH</a:t>
            </a:r>
            <a:r>
              <a:rPr lang="zh-CN" altLang="en-US" sz="1800" dirty="0">
                <a:solidFill>
                  <a:srgbClr val="FF0000"/>
                </a:solidFill>
              </a:rPr>
              <a:t>、</a:t>
            </a:r>
            <a:r>
              <a:rPr lang="en-US" altLang="zh-CN" sz="1800" dirty="0">
                <a:solidFill>
                  <a:srgbClr val="FF0000"/>
                </a:solidFill>
              </a:rPr>
              <a:t>MSTP</a:t>
            </a:r>
            <a:r>
              <a:rPr lang="zh-CN" altLang="en-US" sz="1800" dirty="0">
                <a:solidFill>
                  <a:srgbClr val="FF0000"/>
                </a:solidFill>
              </a:rPr>
              <a:t>、裸纤等，价格昂贵，但是性能优异。（</a:t>
            </a:r>
            <a:r>
              <a:rPr lang="en-US" altLang="zh-CN" sz="1800">
                <a:solidFill>
                  <a:srgbClr val="FF0000"/>
                </a:solidFill>
              </a:rPr>
              <a:t>H</a:t>
            </a:r>
            <a:r>
              <a:rPr lang="zh-CN" altLang="en-US" sz="1800">
                <a:solidFill>
                  <a:srgbClr val="FF0000"/>
                </a:solidFill>
              </a:rPr>
              <a:t>）</a:t>
            </a:r>
            <a:endParaRPr lang="en-US" altLang="zh-CN" sz="1800" dirty="0">
              <a:solidFill>
                <a:srgbClr val="FF0000"/>
              </a:solidFill>
            </a:endParaRPr>
          </a:p>
          <a:p>
            <a:r>
              <a:rPr lang="zh-CN" altLang="en-US" sz="1800" dirty="0"/>
              <a:t>运营商还有一类专线业务是</a:t>
            </a:r>
            <a:r>
              <a:rPr lang="en-US" altLang="zh-CN" sz="1800" dirty="0"/>
              <a:t>MPLS VPN</a:t>
            </a:r>
            <a:r>
              <a:rPr lang="zh-CN" altLang="en-US" sz="1800" dirty="0"/>
              <a:t>，</a:t>
            </a:r>
            <a:r>
              <a:rPr lang="en-US" altLang="zh-CN" sz="1800" dirty="0"/>
              <a:t>MPLS VPN</a:t>
            </a:r>
            <a:r>
              <a:rPr lang="zh-CN" altLang="en-US" sz="1800" dirty="0"/>
              <a:t>专线能提供稍逊于传输专线的性能，但价格便宜。</a:t>
            </a:r>
          </a:p>
        </p:txBody>
      </p:sp>
      <p:sp>
        <p:nvSpPr>
          <p:cNvPr id="4" name="圆角矩形 75"/>
          <p:cNvSpPr/>
          <p:nvPr/>
        </p:nvSpPr>
        <p:spPr bwMode="gray">
          <a:xfrm>
            <a:off x="494236" y="2547785"/>
            <a:ext cx="545482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运营商专线（金融行业专线网络）</a:t>
            </a:r>
          </a:p>
        </p:txBody>
      </p:sp>
      <p:sp>
        <p:nvSpPr>
          <p:cNvPr id="5" name="圆角矩形 75"/>
          <p:cNvSpPr/>
          <p:nvPr/>
        </p:nvSpPr>
        <p:spPr bwMode="gray">
          <a:xfrm>
            <a:off x="491311" y="2982072"/>
            <a:ext cx="5457749" cy="307136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Group 6"/>
          <p:cNvGrpSpPr/>
          <p:nvPr/>
        </p:nvGrpSpPr>
        <p:grpSpPr bwMode="gray">
          <a:xfrm>
            <a:off x="602248" y="3143828"/>
            <a:ext cx="5258952" cy="2623634"/>
            <a:chOff x="659396" y="3472142"/>
            <a:chExt cx="5258952" cy="2623634"/>
          </a:xfrm>
        </p:grpSpPr>
        <p:sp>
          <p:nvSpPr>
            <p:cNvPr id="8" name="Rectangle 7"/>
            <p:cNvSpPr/>
            <p:nvPr/>
          </p:nvSpPr>
          <p:spPr bwMode="gray">
            <a:xfrm>
              <a:off x="1965581" y="3718204"/>
              <a:ext cx="2491662"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solidFill>
                    <a:schemeClr val="bg1"/>
                  </a:solidFill>
                  <a:latin typeface="Huawei Sans" panose="020C0503030203020204" pitchFamily="34" charset="0"/>
                  <a:ea typeface="方正兰亭黑简体" panose="02000000000000000000" pitchFamily="2" charset="-122"/>
                </a:rPr>
                <a:t>一级分行</a:t>
              </a:r>
              <a:endParaRPr kumimoji="0" lang="zh-CN" altLang="en-US" sz="14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9" name="Rectangle 8"/>
            <p:cNvSpPr/>
            <p:nvPr/>
          </p:nvSpPr>
          <p:spPr bwMode="gray">
            <a:xfrm>
              <a:off x="1965581" y="4619904"/>
              <a:ext cx="1207731"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solidFill>
                    <a:schemeClr val="bg1"/>
                  </a:solidFill>
                  <a:latin typeface="Huawei Sans" panose="020C0503030203020204" pitchFamily="34" charset="0"/>
                  <a:ea typeface="方正兰亭黑简体" panose="02000000000000000000" pitchFamily="2" charset="-122"/>
                </a:rPr>
                <a:t>二级分行</a:t>
              </a:r>
              <a:endParaRPr kumimoji="0" lang="zh-CN" altLang="en-US" sz="14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0" name="Rectangle 9"/>
            <p:cNvSpPr/>
            <p:nvPr/>
          </p:nvSpPr>
          <p:spPr bwMode="gray">
            <a:xfrm>
              <a:off x="1965581" y="5733826"/>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1" name="Rectangle 10"/>
            <p:cNvSpPr/>
            <p:nvPr/>
          </p:nvSpPr>
          <p:spPr bwMode="gray">
            <a:xfrm>
              <a:off x="2594231" y="5733826"/>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2" name="Rectangle 11"/>
            <p:cNvSpPr/>
            <p:nvPr/>
          </p:nvSpPr>
          <p:spPr bwMode="gray">
            <a:xfrm>
              <a:off x="3249512" y="4613555"/>
              <a:ext cx="1207731" cy="361950"/>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solidFill>
                    <a:schemeClr val="bg1"/>
                  </a:solidFill>
                  <a:latin typeface="Huawei Sans" panose="020C0503030203020204" pitchFamily="34" charset="0"/>
                  <a:ea typeface="方正兰亭黑简体" panose="02000000000000000000" pitchFamily="2" charset="-122"/>
                </a:rPr>
                <a:t>二级分行</a:t>
              </a:r>
              <a:endParaRPr kumimoji="0" lang="zh-CN" altLang="en-US" sz="14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3" name="Rectangle 12"/>
            <p:cNvSpPr/>
            <p:nvPr/>
          </p:nvSpPr>
          <p:spPr bwMode="gray">
            <a:xfrm>
              <a:off x="3249512" y="5733826"/>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rPr>
                <a:t>ATM</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14" name="Rectangle 13"/>
            <p:cNvSpPr/>
            <p:nvPr/>
          </p:nvSpPr>
          <p:spPr bwMode="gray">
            <a:xfrm>
              <a:off x="3878162" y="5733826"/>
              <a:ext cx="579081"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支行</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4" name="Rectangle 23"/>
            <p:cNvSpPr/>
            <p:nvPr/>
          </p:nvSpPr>
          <p:spPr bwMode="gray">
            <a:xfrm>
              <a:off x="660026" y="3472142"/>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分行业务网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5" name="Rectangle 24"/>
            <p:cNvSpPr/>
            <p:nvPr/>
          </p:nvSpPr>
          <p:spPr bwMode="gray">
            <a:xfrm>
              <a:off x="660026" y="3969157"/>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分行局域网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sp>
          <p:nvSpPr>
            <p:cNvPr id="26" name="Rectangle 25"/>
            <p:cNvSpPr/>
            <p:nvPr/>
          </p:nvSpPr>
          <p:spPr bwMode="gray">
            <a:xfrm>
              <a:off x="659396" y="4619904"/>
              <a:ext cx="1101642" cy="36195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400">
                  <a:latin typeface="Huawei Sans" panose="020C0503030203020204" pitchFamily="34" charset="0"/>
                  <a:ea typeface="方正兰亭黑简体" panose="02000000000000000000" pitchFamily="2" charset="-122"/>
                </a:rPr>
                <a:t>分行局域网</a:t>
              </a:r>
              <a:endParaRPr kumimoji="0" lang="zh-CN" altLang="en-US" sz="1400" b="0" i="0" u="none" strike="noStrike" cap="none" normalizeH="0" dirty="0">
                <a:ln>
                  <a:noFill/>
                </a:ln>
                <a:effectLst/>
                <a:latin typeface="Huawei Sans" panose="020C0503030203020204" pitchFamily="34" charset="0"/>
                <a:ea typeface="方正兰亭黑简体" panose="02000000000000000000" pitchFamily="2" charset="-122"/>
              </a:endParaRPr>
            </a:p>
          </p:txBody>
        </p:sp>
        <p:cxnSp>
          <p:nvCxnSpPr>
            <p:cNvPr id="31" name="Straight Connector 30"/>
            <p:cNvCxnSpPr>
              <a:endCxn id="9" idx="0"/>
            </p:cNvCxnSpPr>
            <p:nvPr/>
          </p:nvCxnSpPr>
          <p:spPr bwMode="gray">
            <a:xfrm>
              <a:off x="2569447" y="4080154"/>
              <a:ext cx="0" cy="53975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2" name="Straight Connector 31"/>
            <p:cNvCxnSpPr>
              <a:endCxn id="12" idx="0"/>
            </p:cNvCxnSpPr>
            <p:nvPr/>
          </p:nvCxnSpPr>
          <p:spPr bwMode="gray">
            <a:xfrm>
              <a:off x="3853378" y="4080154"/>
              <a:ext cx="0" cy="53340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5" name="Straight Connector 34"/>
            <p:cNvCxnSpPr>
              <a:endCxn id="10" idx="0"/>
            </p:cNvCxnSpPr>
            <p:nvPr/>
          </p:nvCxnSpPr>
          <p:spPr bwMode="gray">
            <a:xfrm>
              <a:off x="2255122" y="4975505"/>
              <a:ext cx="0" cy="75832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6" name="Straight Connector 35"/>
            <p:cNvCxnSpPr>
              <a:endCxn id="11" idx="0"/>
            </p:cNvCxnSpPr>
            <p:nvPr/>
          </p:nvCxnSpPr>
          <p:spPr bwMode="gray">
            <a:xfrm>
              <a:off x="2883772" y="4975505"/>
              <a:ext cx="0" cy="75832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7" name="Straight Connector 36"/>
            <p:cNvCxnSpPr>
              <a:endCxn id="13" idx="0"/>
            </p:cNvCxnSpPr>
            <p:nvPr/>
          </p:nvCxnSpPr>
          <p:spPr bwMode="gray">
            <a:xfrm>
              <a:off x="3539053" y="4975505"/>
              <a:ext cx="0" cy="75832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38" name="Straight Connector 37"/>
            <p:cNvCxnSpPr>
              <a:endCxn id="14" idx="0"/>
            </p:cNvCxnSpPr>
            <p:nvPr/>
          </p:nvCxnSpPr>
          <p:spPr bwMode="gray">
            <a:xfrm>
              <a:off x="4167703" y="4981854"/>
              <a:ext cx="0" cy="75197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3" name="Straight Connector 42"/>
            <p:cNvCxnSpPr>
              <a:stCxn id="8" idx="1"/>
              <a:endCxn id="24" idx="3"/>
            </p:cNvCxnSpPr>
            <p:nvPr/>
          </p:nvCxnSpPr>
          <p:spPr bwMode="gray">
            <a:xfrm flipH="1" flipV="1">
              <a:off x="1761668" y="3653117"/>
              <a:ext cx="203913" cy="24606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4" name="Straight Connector 43"/>
            <p:cNvCxnSpPr>
              <a:stCxn id="8" idx="1"/>
              <a:endCxn id="25" idx="3"/>
            </p:cNvCxnSpPr>
            <p:nvPr/>
          </p:nvCxnSpPr>
          <p:spPr bwMode="gray">
            <a:xfrm flipH="1">
              <a:off x="1761668" y="3899179"/>
              <a:ext cx="203913" cy="25095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45" name="Straight Connector 44"/>
            <p:cNvCxnSpPr>
              <a:stCxn id="9" idx="1"/>
              <a:endCxn id="26" idx="3"/>
            </p:cNvCxnSpPr>
            <p:nvPr/>
          </p:nvCxnSpPr>
          <p:spPr bwMode="gray">
            <a:xfrm flipH="1">
              <a:off x="1761038" y="4800879"/>
              <a:ext cx="204543" cy="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50" name="Rectangle 49"/>
            <p:cNvSpPr/>
            <p:nvPr/>
          </p:nvSpPr>
          <p:spPr bwMode="gray">
            <a:xfrm>
              <a:off x="2434005" y="4218140"/>
              <a:ext cx="1642799"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Rectangle 50"/>
            <p:cNvSpPr/>
            <p:nvPr/>
          </p:nvSpPr>
          <p:spPr bwMode="gray">
            <a:xfrm>
              <a:off x="2089406" y="5247913"/>
              <a:ext cx="2242398"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Rectangular Callout 32"/>
            <p:cNvSpPr/>
            <p:nvPr/>
          </p:nvSpPr>
          <p:spPr bwMode="gray">
            <a:xfrm>
              <a:off x="4513232" y="3834092"/>
              <a:ext cx="1405116" cy="860238"/>
            </a:xfrm>
            <a:prstGeom prst="wedgeRectCallout">
              <a:avLst>
                <a:gd name="adj1" fmla="val -74243"/>
                <a:gd name="adj2" fmla="val 1215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金融行业租用运营商</a:t>
              </a:r>
              <a:r>
                <a:rPr lang="en-US" altLang="zh-CN" sz="1200" dirty="0">
                  <a:solidFill>
                    <a:schemeClr val="tx1"/>
                  </a:solidFill>
                </a:rPr>
                <a:t>MSTP/SDH</a:t>
              </a:r>
              <a:r>
                <a:rPr lang="zh-CN" altLang="en-US" sz="1200" dirty="0">
                  <a:solidFill>
                    <a:schemeClr val="tx1"/>
                  </a:solidFill>
                </a:rPr>
                <a:t>专线业务，保障网络高可靠</a:t>
              </a:r>
            </a:p>
          </p:txBody>
        </p:sp>
        <p:sp>
          <p:nvSpPr>
            <p:cNvPr id="47" name="TextBox 46"/>
            <p:cNvSpPr txBox="1"/>
            <p:nvPr/>
          </p:nvSpPr>
          <p:spPr bwMode="gray">
            <a:xfrm>
              <a:off x="2734358" y="4218140"/>
              <a:ext cx="954107" cy="276999"/>
            </a:xfrm>
            <a:prstGeom prst="rect">
              <a:avLst/>
            </a:prstGeom>
            <a:noFill/>
          </p:spPr>
          <p:txBody>
            <a:bodyPr wrap="none" rtlCol="0">
              <a:spAutoFit/>
            </a:bodyPr>
            <a:lstStyle/>
            <a:p>
              <a:r>
                <a:rPr lang="en-US" altLang="zh-CN" sz="1200" dirty="0"/>
                <a:t>MSTP/SDH</a:t>
              </a:r>
              <a:endParaRPr lang="zh-CN" altLang="en-US" dirty="0"/>
            </a:p>
          </p:txBody>
        </p:sp>
        <p:sp>
          <p:nvSpPr>
            <p:cNvPr id="48" name="TextBox 47"/>
            <p:cNvSpPr txBox="1"/>
            <p:nvPr/>
          </p:nvSpPr>
          <p:spPr bwMode="gray">
            <a:xfrm>
              <a:off x="2749207" y="5239324"/>
              <a:ext cx="979755" cy="276999"/>
            </a:xfrm>
            <a:prstGeom prst="rect">
              <a:avLst/>
            </a:prstGeom>
            <a:noFill/>
          </p:spPr>
          <p:txBody>
            <a:bodyPr wrap="none" rtlCol="0">
              <a:spAutoFit/>
            </a:bodyPr>
            <a:lstStyle/>
            <a:p>
              <a:r>
                <a:rPr lang="en-US" altLang="zh-CN" sz="1200" dirty="0"/>
                <a:t>MSTP/SDH</a:t>
              </a:r>
              <a:endParaRPr lang="zh-CN" altLang="en-US" dirty="0"/>
            </a:p>
          </p:txBody>
        </p:sp>
      </p:grpSp>
      <p:sp>
        <p:nvSpPr>
          <p:cNvPr id="34" name="圆角矩形 75"/>
          <p:cNvSpPr/>
          <p:nvPr/>
        </p:nvSpPr>
        <p:spPr bwMode="gray">
          <a:xfrm>
            <a:off x="6106758" y="2547785"/>
            <a:ext cx="553379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运营商专线（某省图书馆</a:t>
            </a:r>
            <a:r>
              <a:rPr lang="en-US" altLang="zh-CN" sz="1600" dirty="0">
                <a:solidFill>
                  <a:srgbClr val="30B5C5"/>
                </a:solidFill>
                <a:latin typeface="Huawei Sans" panose="020C0503030203020204" pitchFamily="34" charset="0"/>
                <a:ea typeface="方正兰亭黑简体" panose="02000000000000000000" pitchFamily="2" charset="-122"/>
              </a:rPr>
              <a:t>MPLS VPN</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39" name="圆角矩形 75"/>
          <p:cNvSpPr/>
          <p:nvPr/>
        </p:nvSpPr>
        <p:spPr bwMode="gray">
          <a:xfrm>
            <a:off x="6106758" y="2982072"/>
            <a:ext cx="5533798" cy="307136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Group 39"/>
          <p:cNvGrpSpPr/>
          <p:nvPr/>
        </p:nvGrpSpPr>
        <p:grpSpPr bwMode="gray">
          <a:xfrm>
            <a:off x="6398107" y="3303825"/>
            <a:ext cx="4666385" cy="2268344"/>
            <a:chOff x="781543" y="3789040"/>
            <a:chExt cx="4666385" cy="2268344"/>
          </a:xfrm>
        </p:grpSpPr>
        <p:sp>
          <p:nvSpPr>
            <p:cNvPr id="41" name="Rectangle 40"/>
            <p:cNvSpPr/>
            <p:nvPr/>
          </p:nvSpPr>
          <p:spPr bwMode="gray">
            <a:xfrm>
              <a:off x="1743811" y="4762067"/>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2" name="Rectangle 41"/>
            <p:cNvSpPr/>
            <p:nvPr/>
          </p:nvSpPr>
          <p:spPr bwMode="gray">
            <a:xfrm>
              <a:off x="2748120" y="4761148"/>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6" name="Rectangle 45"/>
            <p:cNvSpPr/>
            <p:nvPr/>
          </p:nvSpPr>
          <p:spPr bwMode="gray">
            <a:xfrm>
              <a:off x="3757264" y="4761148"/>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9" name="Rectangle 48"/>
            <p:cNvSpPr/>
            <p:nvPr/>
          </p:nvSpPr>
          <p:spPr bwMode="gray">
            <a:xfrm>
              <a:off x="992228"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4" name="Rectangle 53"/>
            <p:cNvSpPr/>
            <p:nvPr/>
          </p:nvSpPr>
          <p:spPr bwMode="gray">
            <a:xfrm>
              <a:off x="2152169"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5" name="Rectangle 54"/>
            <p:cNvSpPr/>
            <p:nvPr/>
          </p:nvSpPr>
          <p:spPr bwMode="gray">
            <a:xfrm>
              <a:off x="3312110"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6" name="Rectangle 55"/>
            <p:cNvSpPr/>
            <p:nvPr/>
          </p:nvSpPr>
          <p:spPr bwMode="gray">
            <a:xfrm>
              <a:off x="4472051" y="5770202"/>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7" name="Rectangle 56"/>
            <p:cNvSpPr/>
            <p:nvPr/>
          </p:nvSpPr>
          <p:spPr bwMode="gray">
            <a:xfrm>
              <a:off x="2260181" y="3789040"/>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8" name="Rectangle 57"/>
            <p:cNvSpPr/>
            <p:nvPr/>
          </p:nvSpPr>
          <p:spPr bwMode="gray">
            <a:xfrm>
              <a:off x="3350627" y="3789040"/>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9" name="Rectangle 58"/>
            <p:cNvSpPr/>
            <p:nvPr/>
          </p:nvSpPr>
          <p:spPr bwMode="gray">
            <a:xfrm>
              <a:off x="781543" y="4285563"/>
              <a:ext cx="2232103"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GRE Over IPsec(</a:t>
              </a:r>
              <a:r>
                <a:rPr lang="zh-CN" altLang="en-US" sz="1400" dirty="0">
                  <a:solidFill>
                    <a:schemeClr val="tx1"/>
                  </a:solidFill>
                </a:rPr>
                <a:t>企业自建</a:t>
              </a:r>
              <a:r>
                <a:rPr lang="en-US" altLang="zh-CN" sz="1400" dirty="0">
                  <a:solidFill>
                    <a:schemeClr val="tx1"/>
                  </a:solidFill>
                </a:rPr>
                <a:t>)</a:t>
              </a:r>
              <a:endParaRPr lang="zh-CN" altLang="en-US" sz="1400" dirty="0">
                <a:solidFill>
                  <a:schemeClr val="tx1"/>
                </a:solidFill>
              </a:endParaRPr>
            </a:p>
          </p:txBody>
        </p:sp>
        <p:sp>
          <p:nvSpPr>
            <p:cNvPr id="60" name="Rectangle 59"/>
            <p:cNvSpPr/>
            <p:nvPr/>
          </p:nvSpPr>
          <p:spPr bwMode="gray">
            <a:xfrm>
              <a:off x="3256984" y="4285248"/>
              <a:ext cx="1548901"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7000B"/>
                  </a:solidFill>
                </a:rPr>
                <a:t>MPLS VPN</a:t>
              </a:r>
              <a:r>
                <a:rPr lang="zh-CN" altLang="en-US" sz="1400" b="1" dirty="0">
                  <a:solidFill>
                    <a:srgbClr val="C7000B"/>
                  </a:solidFill>
                </a:rPr>
                <a:t>（</a:t>
              </a:r>
              <a:r>
                <a:rPr lang="en-US" altLang="zh-CN" sz="1400" b="1" dirty="0">
                  <a:solidFill>
                    <a:srgbClr val="C7000B"/>
                  </a:solidFill>
                </a:rPr>
                <a:t>ISP</a:t>
              </a:r>
              <a:r>
                <a:rPr lang="zh-CN" altLang="en-US" sz="1400" b="1" dirty="0">
                  <a:solidFill>
                    <a:srgbClr val="C7000B"/>
                  </a:solidFill>
                </a:rPr>
                <a:t>）</a:t>
              </a:r>
            </a:p>
          </p:txBody>
        </p:sp>
        <p:sp>
          <p:nvSpPr>
            <p:cNvPr id="61" name="Rectangle 60"/>
            <p:cNvSpPr/>
            <p:nvPr/>
          </p:nvSpPr>
          <p:spPr bwMode="gray">
            <a:xfrm>
              <a:off x="2201767" y="5298596"/>
              <a:ext cx="1958813"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7000B"/>
                  </a:solidFill>
                </a:rPr>
                <a:t>MPLS VPN</a:t>
              </a:r>
              <a:r>
                <a:rPr lang="zh-CN" altLang="en-US" sz="1400" b="1" dirty="0">
                  <a:solidFill>
                    <a:srgbClr val="C7000B"/>
                  </a:solidFill>
                </a:rPr>
                <a:t>（</a:t>
              </a:r>
              <a:r>
                <a:rPr lang="en-US" altLang="zh-CN" sz="1400" b="1" dirty="0">
                  <a:solidFill>
                    <a:srgbClr val="C7000B"/>
                  </a:solidFill>
                </a:rPr>
                <a:t>ISP</a:t>
              </a:r>
              <a:r>
                <a:rPr lang="zh-CN" altLang="en-US" sz="1400" b="1" dirty="0">
                  <a:solidFill>
                    <a:srgbClr val="C7000B"/>
                  </a:solidFill>
                </a:rPr>
                <a:t>）</a:t>
              </a:r>
            </a:p>
          </p:txBody>
        </p:sp>
        <p:cxnSp>
          <p:nvCxnSpPr>
            <p:cNvPr id="62" name="Straight Connector 61"/>
            <p:cNvCxnSpPr>
              <a:endCxn id="49" idx="0"/>
            </p:cNvCxnSpPr>
            <p:nvPr/>
          </p:nvCxnSpPr>
          <p:spPr bwMode="gray">
            <a:xfrm flipH="1">
              <a:off x="1480167" y="5552034"/>
              <a:ext cx="844209"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3" name="Straight Connector 62"/>
            <p:cNvCxnSpPr>
              <a:endCxn id="54" idx="0"/>
            </p:cNvCxnSpPr>
            <p:nvPr/>
          </p:nvCxnSpPr>
          <p:spPr bwMode="gray">
            <a:xfrm>
              <a:off x="2640108" y="5552034"/>
              <a:ext cx="0"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4" name="Straight Connector 63"/>
            <p:cNvCxnSpPr>
              <a:endCxn id="56" idx="0"/>
            </p:cNvCxnSpPr>
            <p:nvPr/>
          </p:nvCxnSpPr>
          <p:spPr bwMode="gray">
            <a:xfrm>
              <a:off x="3980560" y="5552034"/>
              <a:ext cx="979430" cy="21816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5" name="Straight Connector 64"/>
            <p:cNvCxnSpPr>
              <a:endCxn id="55" idx="0"/>
            </p:cNvCxnSpPr>
            <p:nvPr/>
          </p:nvCxnSpPr>
          <p:spPr bwMode="gray">
            <a:xfrm flipH="1">
              <a:off x="3800049" y="5552034"/>
              <a:ext cx="491"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6" name="Straight Connector 65"/>
            <p:cNvCxnSpPr>
              <a:stCxn id="42" idx="2"/>
              <a:endCxn id="61" idx="0"/>
            </p:cNvCxnSpPr>
            <p:nvPr/>
          </p:nvCxnSpPr>
          <p:spPr bwMode="gray">
            <a:xfrm flipH="1">
              <a:off x="3181174" y="5048330"/>
              <a:ext cx="879" cy="2502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7" name="Straight Connector 66"/>
            <p:cNvCxnSpPr>
              <a:endCxn id="41" idx="2"/>
            </p:cNvCxnSpPr>
            <p:nvPr/>
          </p:nvCxnSpPr>
          <p:spPr bwMode="gray">
            <a:xfrm flipH="1" flipV="1">
              <a:off x="2177744" y="5049249"/>
              <a:ext cx="317856" cy="2493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8" name="Straight Connector 67"/>
            <p:cNvCxnSpPr>
              <a:endCxn id="46" idx="2"/>
            </p:cNvCxnSpPr>
            <p:nvPr/>
          </p:nvCxnSpPr>
          <p:spPr bwMode="gray">
            <a:xfrm flipV="1">
              <a:off x="3757264" y="5048330"/>
              <a:ext cx="433933" cy="2502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9" name="Straight Connector 68"/>
            <p:cNvCxnSpPr>
              <a:stCxn id="59" idx="2"/>
              <a:endCxn id="41" idx="0"/>
            </p:cNvCxnSpPr>
            <p:nvPr/>
          </p:nvCxnSpPr>
          <p:spPr bwMode="gray">
            <a:xfrm>
              <a:off x="1897595" y="4539001"/>
              <a:ext cx="280149" cy="2230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0" name="Straight Connector 69"/>
            <p:cNvCxnSpPr>
              <a:cxnSpLocks/>
              <a:stCxn id="60" idx="2"/>
              <a:endCxn id="41" idx="0"/>
            </p:cNvCxnSpPr>
            <p:nvPr/>
          </p:nvCxnSpPr>
          <p:spPr bwMode="gray">
            <a:xfrm flipH="1">
              <a:off x="2177744" y="4538686"/>
              <a:ext cx="1853691" cy="22338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1" name="Straight Connector 70"/>
            <p:cNvCxnSpPr>
              <a:stCxn id="42" idx="0"/>
              <a:endCxn id="59" idx="2"/>
            </p:cNvCxnSpPr>
            <p:nvPr/>
          </p:nvCxnSpPr>
          <p:spPr bwMode="gray">
            <a:xfrm flipH="1" flipV="1">
              <a:off x="1897595" y="4539001"/>
              <a:ext cx="1284458" cy="2221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2" name="Straight Connector 71"/>
            <p:cNvCxnSpPr>
              <a:cxnSpLocks/>
              <a:stCxn id="42" idx="0"/>
              <a:endCxn id="60" idx="2"/>
            </p:cNvCxnSpPr>
            <p:nvPr/>
          </p:nvCxnSpPr>
          <p:spPr bwMode="gray">
            <a:xfrm flipV="1">
              <a:off x="3182053" y="4538686"/>
              <a:ext cx="849382" cy="22246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3" name="Straight Connector 72"/>
            <p:cNvCxnSpPr>
              <a:cxnSpLocks/>
              <a:stCxn id="46" idx="0"/>
              <a:endCxn id="60" idx="2"/>
            </p:cNvCxnSpPr>
            <p:nvPr/>
          </p:nvCxnSpPr>
          <p:spPr bwMode="gray">
            <a:xfrm flipH="1" flipV="1">
              <a:off x="4031435" y="4538686"/>
              <a:ext cx="159762" cy="22246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4" name="Straight Connector 73"/>
            <p:cNvCxnSpPr>
              <a:stCxn id="46" idx="0"/>
              <a:endCxn id="59" idx="2"/>
            </p:cNvCxnSpPr>
            <p:nvPr/>
          </p:nvCxnSpPr>
          <p:spPr bwMode="gray">
            <a:xfrm flipH="1" flipV="1">
              <a:off x="1897595" y="4539001"/>
              <a:ext cx="2293602" cy="2221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5" name="Straight Connector 74"/>
            <p:cNvCxnSpPr>
              <a:stCxn id="57" idx="2"/>
              <a:endCxn id="59" idx="0"/>
            </p:cNvCxnSpPr>
            <p:nvPr/>
          </p:nvCxnSpPr>
          <p:spPr bwMode="gray">
            <a:xfrm flipH="1">
              <a:off x="1897595" y="4076222"/>
              <a:ext cx="796519" cy="20934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6" name="Straight Connector 75"/>
            <p:cNvCxnSpPr>
              <a:cxnSpLocks/>
              <a:stCxn id="57" idx="2"/>
              <a:endCxn id="60" idx="0"/>
            </p:cNvCxnSpPr>
            <p:nvPr/>
          </p:nvCxnSpPr>
          <p:spPr bwMode="gray">
            <a:xfrm>
              <a:off x="2694114" y="4076222"/>
              <a:ext cx="1337321" cy="20902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7" name="Straight Connector 76"/>
            <p:cNvCxnSpPr>
              <a:stCxn id="59" idx="0"/>
              <a:endCxn id="58" idx="2"/>
            </p:cNvCxnSpPr>
            <p:nvPr/>
          </p:nvCxnSpPr>
          <p:spPr bwMode="gray">
            <a:xfrm flipV="1">
              <a:off x="1897595" y="4076222"/>
              <a:ext cx="1886965" cy="20934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78" name="Straight Connector 77"/>
            <p:cNvCxnSpPr>
              <a:cxnSpLocks/>
              <a:stCxn id="60" idx="0"/>
              <a:endCxn id="58" idx="2"/>
            </p:cNvCxnSpPr>
            <p:nvPr/>
          </p:nvCxnSpPr>
          <p:spPr bwMode="gray">
            <a:xfrm flipH="1" flipV="1">
              <a:off x="3784560" y="4076222"/>
              <a:ext cx="246875" cy="20902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grpSp>
    </p:spTree>
    <p:extLst>
      <p:ext uri="{BB962C8B-B14F-4D97-AF65-F5344CB8AC3E}">
        <p14:creationId xmlns:p14="http://schemas.microsoft.com/office/powerpoint/2010/main" val="1191155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7" name="Rectangle 5"/>
          <p:cNvSpPr>
            <a:spLocks noGrp="1" noChangeArrowheads="1"/>
          </p:cNvSpPr>
          <p:nvPr>
            <p:ph type="title"/>
          </p:nvPr>
        </p:nvSpPr>
        <p:spPr bwMode="gray"/>
        <p:txBody>
          <a:bodyPr/>
          <a:lstStyle/>
          <a:p>
            <a:r>
              <a:rPr lang="zh-CN" altLang="en-US" dirty="0"/>
              <a:t>企业自建专线与</a:t>
            </a:r>
            <a:r>
              <a:rPr lang="en-US" altLang="zh-CN" dirty="0"/>
              <a:t>VPN</a:t>
            </a:r>
            <a:r>
              <a:rPr lang="zh-CN" altLang="en-US" dirty="0"/>
              <a:t>介绍</a:t>
            </a:r>
          </a:p>
        </p:txBody>
      </p:sp>
      <p:sp>
        <p:nvSpPr>
          <p:cNvPr id="34" name="文本占位符 33"/>
          <p:cNvSpPr>
            <a:spLocks noGrp="1"/>
          </p:cNvSpPr>
          <p:nvPr>
            <p:ph type="body" sz="quarter" idx="10"/>
          </p:nvPr>
        </p:nvSpPr>
        <p:spPr bwMode="gray">
          <a:xfrm>
            <a:off x="455612" y="1047751"/>
            <a:ext cx="11293475" cy="1508886"/>
          </a:xfrm>
        </p:spPr>
        <p:txBody>
          <a:bodyPr/>
          <a:lstStyle/>
          <a:p>
            <a:r>
              <a:rPr lang="zh-CN" altLang="en-US" sz="1800" dirty="0">
                <a:latin typeface="Huawei Sans" panose="020C0503030203020204" pitchFamily="34" charset="0"/>
                <a:ea typeface="方正兰亭黑简体" panose="02000000000000000000" pitchFamily="2" charset="-122"/>
              </a:rPr>
              <a:t>企业可以通过运营商网络自行建立</a:t>
            </a:r>
            <a:r>
              <a:rPr lang="en-US" altLang="zh-CN" sz="1800" dirty="0">
                <a:latin typeface="Huawei Sans" panose="020C0503030203020204" pitchFamily="34" charset="0"/>
                <a:ea typeface="方正兰亭黑简体" panose="02000000000000000000" pitchFamily="2" charset="-122"/>
              </a:rPr>
              <a:t>VPN</a:t>
            </a:r>
            <a:r>
              <a:rPr lang="zh-CN" altLang="en-US" sz="1800" dirty="0">
                <a:latin typeface="Huawei Sans" panose="020C0503030203020204" pitchFamily="34" charset="0"/>
                <a:ea typeface="方正兰亭黑简体" panose="02000000000000000000" pitchFamily="2" charset="-122"/>
              </a:rPr>
              <a:t>，比如：</a:t>
            </a:r>
            <a:r>
              <a:rPr lang="en-US" altLang="zh-CN" sz="1800" dirty="0">
                <a:latin typeface="Huawei Sans" panose="020C0503030203020204" pitchFamily="34" charset="0"/>
                <a:ea typeface="方正兰亭黑简体" panose="02000000000000000000" pitchFamily="2" charset="-122"/>
              </a:rPr>
              <a:t>SSL VPN</a:t>
            </a:r>
            <a:r>
              <a:rPr lang="zh-CN" altLang="en-US" sz="1800" dirty="0"/>
              <a:t>、</a:t>
            </a:r>
            <a:r>
              <a:rPr lang="en-US" altLang="zh-CN" sz="1800" dirty="0">
                <a:latin typeface="Huawei Sans" panose="020C0503030203020204" pitchFamily="34" charset="0"/>
                <a:ea typeface="方正兰亭黑简体" panose="02000000000000000000" pitchFamily="2" charset="-122"/>
              </a:rPr>
              <a:t>DSVPN</a:t>
            </a:r>
            <a:r>
              <a:rPr lang="zh-CN" altLang="en-US" sz="1800" dirty="0">
                <a:latin typeface="Huawei Sans" panose="020C0503030203020204" pitchFamily="34" charset="0"/>
                <a:ea typeface="方正兰亭黑简体" panose="02000000000000000000" pitchFamily="2" charset="-122"/>
              </a:rPr>
              <a:t>、</a:t>
            </a:r>
            <a:r>
              <a:rPr lang="en-US" altLang="zh-CN" sz="1800" dirty="0">
                <a:latin typeface="Huawei Sans" panose="020C0503030203020204" pitchFamily="34" charset="0"/>
                <a:ea typeface="方正兰亭黑简体" panose="02000000000000000000" pitchFamily="2" charset="-122"/>
              </a:rPr>
              <a:t>IPsec VPN</a:t>
            </a:r>
            <a:r>
              <a:rPr lang="zh-CN" altLang="en-US" sz="1800" dirty="0">
                <a:latin typeface="Huawei Sans" panose="020C0503030203020204" pitchFamily="34" charset="0"/>
                <a:ea typeface="方正兰亭黑简体" panose="02000000000000000000" pitchFamily="2" charset="-122"/>
              </a:rPr>
              <a:t>等。</a:t>
            </a:r>
            <a:endParaRPr lang="en-US" altLang="zh-CN" sz="1800" dirty="0">
              <a:latin typeface="Huawei Sans" panose="020C0503030203020204" pitchFamily="34" charset="0"/>
              <a:ea typeface="方正兰亭黑简体" panose="02000000000000000000" pitchFamily="2" charset="-122"/>
            </a:endParaRPr>
          </a:p>
          <a:p>
            <a:r>
              <a:rPr lang="zh-CN" altLang="en-US" sz="1800" dirty="0">
                <a:latin typeface="Huawei Sans" panose="020C0503030203020204" pitchFamily="34" charset="0"/>
                <a:ea typeface="方正兰亭黑简体" panose="02000000000000000000" pitchFamily="2" charset="-122"/>
              </a:rPr>
              <a:t>部分大型企业有自行铺设光纤的能力，能够自建专</a:t>
            </a:r>
            <a:r>
              <a:rPr lang="zh-CN" altLang="en-US" sz="1800" dirty="0"/>
              <a:t>线</a:t>
            </a:r>
            <a:r>
              <a:rPr lang="zh-CN" altLang="en-US" sz="1800" dirty="0">
                <a:latin typeface="Huawei Sans" panose="020C0503030203020204" pitchFamily="34" charset="0"/>
                <a:ea typeface="方正兰亭黑简体" panose="02000000000000000000" pitchFamily="2" charset="-122"/>
              </a:rPr>
              <a:t>，但是拥有自行铺设光纤能力的公司较少。</a:t>
            </a:r>
            <a:endParaRPr lang="en-US" altLang="zh-CN" sz="1800" dirty="0">
              <a:latin typeface="Huawei Sans" panose="020C0503030203020204" pitchFamily="34" charset="0"/>
              <a:ea typeface="方正兰亭黑简体" panose="02000000000000000000" pitchFamily="2" charset="-122"/>
            </a:endParaRPr>
          </a:p>
          <a:p>
            <a:r>
              <a:rPr lang="zh-CN" altLang="en-US" sz="1800" dirty="0">
                <a:latin typeface="Huawei Sans" panose="020C0503030203020204" pitchFamily="34" charset="0"/>
                <a:ea typeface="方正兰亭黑简体" panose="02000000000000000000" pitchFamily="2" charset="-122"/>
              </a:rPr>
              <a:t>企业自建</a:t>
            </a:r>
            <a:r>
              <a:rPr lang="en-US" altLang="zh-CN" sz="1800" dirty="0">
                <a:latin typeface="Huawei Sans" panose="020C0503030203020204" pitchFamily="34" charset="0"/>
                <a:ea typeface="方正兰亭黑简体" panose="02000000000000000000" pitchFamily="2" charset="-122"/>
              </a:rPr>
              <a:t>VPN</a:t>
            </a:r>
            <a:r>
              <a:rPr lang="zh-CN" altLang="en-US" sz="1800" dirty="0">
                <a:latin typeface="Huawei Sans" panose="020C0503030203020204" pitchFamily="34" charset="0"/>
                <a:ea typeface="方正兰亭黑简体" panose="02000000000000000000" pitchFamily="2" charset="-122"/>
              </a:rPr>
              <a:t>由于价格低廉、扩展方便、企业可控性强，被越来越多地使用。</a:t>
            </a:r>
            <a:endParaRPr lang="en-US" altLang="zh-CN" sz="1800" dirty="0">
              <a:latin typeface="Huawei Sans" panose="020C0503030203020204" pitchFamily="34" charset="0"/>
              <a:ea typeface="方正兰亭黑简体" panose="02000000000000000000" pitchFamily="2" charset="-122"/>
            </a:endParaRPr>
          </a:p>
        </p:txBody>
      </p:sp>
      <p:sp>
        <p:nvSpPr>
          <p:cNvPr id="59" name="圆角矩形 75"/>
          <p:cNvSpPr/>
          <p:nvPr/>
        </p:nvSpPr>
        <p:spPr bwMode="gray">
          <a:xfrm>
            <a:off x="709933" y="2658878"/>
            <a:ext cx="502585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企业自建</a:t>
            </a:r>
            <a:r>
              <a:rPr lang="en-US" altLang="zh-CN" sz="1600" dirty="0">
                <a:solidFill>
                  <a:srgbClr val="30B5C5"/>
                </a:solidFill>
                <a:latin typeface="Huawei Sans" panose="020C0503030203020204" pitchFamily="34" charset="0"/>
                <a:ea typeface="方正兰亭黑简体" panose="02000000000000000000" pitchFamily="2" charset="-122"/>
              </a:rPr>
              <a:t>VPN</a:t>
            </a:r>
            <a:r>
              <a:rPr lang="zh-CN" altLang="en-US" sz="1600" dirty="0">
                <a:solidFill>
                  <a:srgbClr val="30B5C5"/>
                </a:solidFill>
                <a:latin typeface="Huawei Sans" panose="020C0503030203020204" pitchFamily="34" charset="0"/>
                <a:ea typeface="方正兰亭黑简体" panose="02000000000000000000" pitchFamily="2" charset="-122"/>
              </a:rPr>
              <a:t>（某省图书馆</a:t>
            </a:r>
            <a:r>
              <a:rPr lang="en-US" altLang="zh-CN" sz="1600" dirty="0">
                <a:solidFill>
                  <a:srgbClr val="30B5C5"/>
                </a:solidFill>
                <a:latin typeface="Huawei Sans" panose="020C0503030203020204" pitchFamily="34" charset="0"/>
                <a:ea typeface="方正兰亭黑简体" panose="02000000000000000000" pitchFamily="2" charset="-122"/>
              </a:rPr>
              <a:t>VPN</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60" name="圆角矩形 75"/>
          <p:cNvSpPr/>
          <p:nvPr/>
        </p:nvSpPr>
        <p:spPr bwMode="gray">
          <a:xfrm>
            <a:off x="709933" y="3093165"/>
            <a:ext cx="5025854" cy="280602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圆角矩形 75"/>
          <p:cNvSpPr/>
          <p:nvPr/>
        </p:nvSpPr>
        <p:spPr bwMode="gray">
          <a:xfrm>
            <a:off x="6013867" y="2658878"/>
            <a:ext cx="553379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企业自建专线（能源行业</a:t>
            </a:r>
            <a:r>
              <a:rPr lang="en-US" altLang="zh-CN" sz="1600" dirty="0">
                <a:solidFill>
                  <a:srgbClr val="30B5C5"/>
                </a:solidFill>
                <a:latin typeface="Huawei Sans" panose="020C0503030203020204" pitchFamily="34" charset="0"/>
                <a:ea typeface="方正兰亭黑简体" panose="02000000000000000000" pitchFamily="2" charset="-122"/>
              </a:rPr>
              <a:t>MPLS VPN</a:t>
            </a:r>
            <a:r>
              <a:rPr lang="zh-CN" altLang="en-US" sz="1600" dirty="0">
                <a:solidFill>
                  <a:srgbClr val="30B5C5"/>
                </a:solidFill>
                <a:latin typeface="Huawei Sans" panose="020C0503030203020204" pitchFamily="34" charset="0"/>
                <a:ea typeface="方正兰亭黑简体" panose="02000000000000000000" pitchFamily="2" charset="-122"/>
              </a:rPr>
              <a:t>网络）</a:t>
            </a:r>
          </a:p>
        </p:txBody>
      </p:sp>
      <p:sp>
        <p:nvSpPr>
          <p:cNvPr id="76" name="圆角矩形 75"/>
          <p:cNvSpPr/>
          <p:nvPr/>
        </p:nvSpPr>
        <p:spPr bwMode="gray">
          <a:xfrm>
            <a:off x="6013867" y="3093165"/>
            <a:ext cx="5533798" cy="280602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33997" name="Group 1533996"/>
          <p:cNvGrpSpPr/>
          <p:nvPr/>
        </p:nvGrpSpPr>
        <p:grpSpPr bwMode="gray">
          <a:xfrm>
            <a:off x="970351" y="3414918"/>
            <a:ext cx="4455700" cy="2268344"/>
            <a:chOff x="992228" y="3789040"/>
            <a:chExt cx="4455700" cy="2268344"/>
          </a:xfrm>
        </p:grpSpPr>
        <p:sp>
          <p:nvSpPr>
            <p:cNvPr id="35" name="Rectangle 34"/>
            <p:cNvSpPr/>
            <p:nvPr/>
          </p:nvSpPr>
          <p:spPr bwMode="gray">
            <a:xfrm>
              <a:off x="1743811" y="4762067"/>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39" name="Rectangle 38"/>
            <p:cNvSpPr/>
            <p:nvPr/>
          </p:nvSpPr>
          <p:spPr bwMode="gray">
            <a:xfrm>
              <a:off x="2748120" y="4761148"/>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0" name="Rectangle 39"/>
            <p:cNvSpPr/>
            <p:nvPr/>
          </p:nvSpPr>
          <p:spPr bwMode="gray">
            <a:xfrm>
              <a:off x="3757264" y="4761148"/>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县图书馆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1" name="Rectangle 40"/>
            <p:cNvSpPr/>
            <p:nvPr/>
          </p:nvSpPr>
          <p:spPr bwMode="gray">
            <a:xfrm>
              <a:off x="992228"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8" name="Rectangle 47"/>
            <p:cNvSpPr/>
            <p:nvPr/>
          </p:nvSpPr>
          <p:spPr bwMode="gray">
            <a:xfrm>
              <a:off x="2152169"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49" name="Rectangle 48"/>
            <p:cNvSpPr/>
            <p:nvPr/>
          </p:nvSpPr>
          <p:spPr bwMode="gray">
            <a:xfrm>
              <a:off x="3312110" y="5769897"/>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50" name="Rectangle 49"/>
            <p:cNvSpPr/>
            <p:nvPr/>
          </p:nvSpPr>
          <p:spPr bwMode="gray">
            <a:xfrm>
              <a:off x="4472051" y="5770202"/>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社区图书馆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61" name="Rectangle 60"/>
            <p:cNvSpPr/>
            <p:nvPr/>
          </p:nvSpPr>
          <p:spPr bwMode="gray">
            <a:xfrm>
              <a:off x="2260181" y="3789040"/>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62" name="Rectangle 61"/>
            <p:cNvSpPr/>
            <p:nvPr/>
          </p:nvSpPr>
          <p:spPr bwMode="gray">
            <a:xfrm>
              <a:off x="3350627" y="3789040"/>
              <a:ext cx="867865"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市图书馆</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71" name="Rectangle 70"/>
            <p:cNvSpPr/>
            <p:nvPr/>
          </p:nvSpPr>
          <p:spPr bwMode="gray">
            <a:xfrm>
              <a:off x="1500799" y="4285563"/>
              <a:ext cx="1512847"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rgbClr val="C7000B"/>
                  </a:solidFill>
                </a:rPr>
                <a:t>GRE Over IPsec</a:t>
              </a:r>
              <a:endParaRPr lang="zh-CN" altLang="en-US" sz="1400" b="1" dirty="0">
                <a:solidFill>
                  <a:srgbClr val="C7000B"/>
                </a:solidFill>
              </a:endParaRPr>
            </a:p>
          </p:txBody>
        </p:sp>
        <p:sp>
          <p:nvSpPr>
            <p:cNvPr id="72" name="Rectangle 71"/>
            <p:cNvSpPr/>
            <p:nvPr/>
          </p:nvSpPr>
          <p:spPr bwMode="gray">
            <a:xfrm>
              <a:off x="3256984" y="4285248"/>
              <a:ext cx="1484035"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MPLS VPN</a:t>
              </a:r>
              <a:r>
                <a:rPr lang="zh-CN" altLang="en-US" sz="1400" dirty="0">
                  <a:solidFill>
                    <a:schemeClr val="tx1"/>
                  </a:solidFill>
                </a:rPr>
                <a:t>（</a:t>
              </a:r>
              <a:r>
                <a:rPr lang="en-US" altLang="zh-CN" sz="1400" dirty="0">
                  <a:solidFill>
                    <a:schemeClr val="tx1"/>
                  </a:solidFill>
                </a:rPr>
                <a:t>ISP</a:t>
              </a:r>
              <a:r>
                <a:rPr lang="zh-CN" altLang="en-US" sz="1400" dirty="0">
                  <a:solidFill>
                    <a:schemeClr val="tx1"/>
                  </a:solidFill>
                </a:rPr>
                <a:t>）</a:t>
              </a:r>
            </a:p>
          </p:txBody>
        </p:sp>
        <p:sp>
          <p:nvSpPr>
            <p:cNvPr id="74" name="Rectangle 73"/>
            <p:cNvSpPr/>
            <p:nvPr/>
          </p:nvSpPr>
          <p:spPr bwMode="gray">
            <a:xfrm>
              <a:off x="2201767" y="5298596"/>
              <a:ext cx="1958813"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MPLS VPN</a:t>
              </a:r>
              <a:r>
                <a:rPr lang="zh-CN" altLang="en-US" sz="1400" dirty="0">
                  <a:solidFill>
                    <a:schemeClr val="tx1"/>
                  </a:solidFill>
                </a:rPr>
                <a:t>（</a:t>
              </a:r>
              <a:r>
                <a:rPr lang="en-US" altLang="zh-CN" sz="1400" dirty="0">
                  <a:solidFill>
                    <a:schemeClr val="tx1"/>
                  </a:solidFill>
                </a:rPr>
                <a:t>ISP</a:t>
              </a:r>
              <a:r>
                <a:rPr lang="zh-CN" altLang="en-US" sz="1400" dirty="0">
                  <a:solidFill>
                    <a:schemeClr val="tx1"/>
                  </a:solidFill>
                </a:rPr>
                <a:t>）</a:t>
              </a:r>
            </a:p>
          </p:txBody>
        </p:sp>
        <p:cxnSp>
          <p:nvCxnSpPr>
            <p:cNvPr id="77" name="Straight Connector 76"/>
            <p:cNvCxnSpPr>
              <a:endCxn id="41" idx="0"/>
            </p:cNvCxnSpPr>
            <p:nvPr/>
          </p:nvCxnSpPr>
          <p:spPr bwMode="gray">
            <a:xfrm flipH="1">
              <a:off x="1480167" y="5552034"/>
              <a:ext cx="844209"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1" name="Straight Connector 80"/>
            <p:cNvCxnSpPr>
              <a:endCxn id="48" idx="0"/>
            </p:cNvCxnSpPr>
            <p:nvPr/>
          </p:nvCxnSpPr>
          <p:spPr bwMode="gray">
            <a:xfrm>
              <a:off x="2640108" y="5552034"/>
              <a:ext cx="0"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2" name="Straight Connector 81"/>
            <p:cNvCxnSpPr>
              <a:endCxn id="50" idx="0"/>
            </p:cNvCxnSpPr>
            <p:nvPr/>
          </p:nvCxnSpPr>
          <p:spPr bwMode="gray">
            <a:xfrm>
              <a:off x="3980560" y="5552034"/>
              <a:ext cx="979430" cy="21816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3" name="Straight Connector 82"/>
            <p:cNvCxnSpPr>
              <a:endCxn id="49" idx="0"/>
            </p:cNvCxnSpPr>
            <p:nvPr/>
          </p:nvCxnSpPr>
          <p:spPr bwMode="gray">
            <a:xfrm flipH="1">
              <a:off x="3800049" y="5552034"/>
              <a:ext cx="491" cy="21786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4" name="Straight Connector 83"/>
            <p:cNvCxnSpPr>
              <a:stCxn id="39" idx="2"/>
              <a:endCxn id="74" idx="0"/>
            </p:cNvCxnSpPr>
            <p:nvPr/>
          </p:nvCxnSpPr>
          <p:spPr bwMode="gray">
            <a:xfrm flipH="1">
              <a:off x="3181174" y="5048330"/>
              <a:ext cx="879" cy="2502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6" name="Straight Connector 85"/>
            <p:cNvCxnSpPr>
              <a:endCxn id="35" idx="2"/>
            </p:cNvCxnSpPr>
            <p:nvPr/>
          </p:nvCxnSpPr>
          <p:spPr bwMode="gray">
            <a:xfrm flipH="1" flipV="1">
              <a:off x="2177744" y="5049249"/>
              <a:ext cx="317856" cy="2493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89" name="Straight Connector 88"/>
            <p:cNvCxnSpPr>
              <a:endCxn id="40" idx="2"/>
            </p:cNvCxnSpPr>
            <p:nvPr/>
          </p:nvCxnSpPr>
          <p:spPr bwMode="gray">
            <a:xfrm flipV="1">
              <a:off x="3757264" y="5048330"/>
              <a:ext cx="433933" cy="2502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2" name="Straight Connector 91"/>
            <p:cNvCxnSpPr>
              <a:stCxn id="71" idx="2"/>
              <a:endCxn id="35" idx="0"/>
            </p:cNvCxnSpPr>
            <p:nvPr/>
          </p:nvCxnSpPr>
          <p:spPr bwMode="gray">
            <a:xfrm flipH="1">
              <a:off x="2177744" y="4539001"/>
              <a:ext cx="79479" cy="22306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5" name="Straight Connector 94"/>
            <p:cNvCxnSpPr>
              <a:cxnSpLocks/>
              <a:stCxn id="72" idx="2"/>
              <a:endCxn id="35" idx="0"/>
            </p:cNvCxnSpPr>
            <p:nvPr/>
          </p:nvCxnSpPr>
          <p:spPr bwMode="gray">
            <a:xfrm flipH="1">
              <a:off x="2177744" y="4538686"/>
              <a:ext cx="1821258" cy="22338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98" name="Straight Connector 97"/>
            <p:cNvCxnSpPr>
              <a:stCxn id="39" idx="0"/>
              <a:endCxn id="71" idx="2"/>
            </p:cNvCxnSpPr>
            <p:nvPr/>
          </p:nvCxnSpPr>
          <p:spPr bwMode="gray">
            <a:xfrm flipH="1" flipV="1">
              <a:off x="2257223" y="4539001"/>
              <a:ext cx="924830" cy="2221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01" name="Straight Connector 100"/>
            <p:cNvCxnSpPr>
              <a:cxnSpLocks/>
              <a:stCxn id="39" idx="0"/>
              <a:endCxn id="72" idx="2"/>
            </p:cNvCxnSpPr>
            <p:nvPr/>
          </p:nvCxnSpPr>
          <p:spPr bwMode="gray">
            <a:xfrm flipV="1">
              <a:off x="3182053" y="4538686"/>
              <a:ext cx="816949" cy="22246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04" name="Straight Connector 103"/>
            <p:cNvCxnSpPr>
              <a:cxnSpLocks/>
              <a:stCxn id="40" idx="0"/>
              <a:endCxn id="72" idx="2"/>
            </p:cNvCxnSpPr>
            <p:nvPr/>
          </p:nvCxnSpPr>
          <p:spPr bwMode="gray">
            <a:xfrm flipH="1" flipV="1">
              <a:off x="3999002" y="4538686"/>
              <a:ext cx="192195" cy="22246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07" name="Straight Connector 106"/>
            <p:cNvCxnSpPr>
              <a:stCxn id="40" idx="0"/>
              <a:endCxn id="71" idx="2"/>
            </p:cNvCxnSpPr>
            <p:nvPr/>
          </p:nvCxnSpPr>
          <p:spPr bwMode="gray">
            <a:xfrm flipH="1" flipV="1">
              <a:off x="2257223" y="4539001"/>
              <a:ext cx="1933974" cy="22214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0" name="Straight Connector 109"/>
            <p:cNvCxnSpPr>
              <a:stCxn id="61" idx="2"/>
              <a:endCxn id="71" idx="0"/>
            </p:cNvCxnSpPr>
            <p:nvPr/>
          </p:nvCxnSpPr>
          <p:spPr bwMode="gray">
            <a:xfrm flipH="1">
              <a:off x="2257223" y="4076222"/>
              <a:ext cx="436891" cy="20934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3" name="Straight Connector 112"/>
            <p:cNvCxnSpPr>
              <a:cxnSpLocks/>
              <a:stCxn id="61" idx="2"/>
              <a:endCxn id="72" idx="0"/>
            </p:cNvCxnSpPr>
            <p:nvPr/>
          </p:nvCxnSpPr>
          <p:spPr bwMode="gray">
            <a:xfrm>
              <a:off x="2694114" y="4076222"/>
              <a:ext cx="1304888" cy="20902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6" name="Straight Connector 115"/>
            <p:cNvCxnSpPr>
              <a:stCxn id="71" idx="0"/>
              <a:endCxn id="62" idx="2"/>
            </p:cNvCxnSpPr>
            <p:nvPr/>
          </p:nvCxnSpPr>
          <p:spPr bwMode="gray">
            <a:xfrm flipV="1">
              <a:off x="2257223" y="4076222"/>
              <a:ext cx="1527337" cy="20934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9" name="Straight Connector 118"/>
            <p:cNvCxnSpPr>
              <a:cxnSpLocks/>
              <a:stCxn id="72" idx="0"/>
              <a:endCxn id="62" idx="2"/>
            </p:cNvCxnSpPr>
            <p:nvPr/>
          </p:nvCxnSpPr>
          <p:spPr bwMode="gray">
            <a:xfrm flipH="1" flipV="1">
              <a:off x="3784560" y="4076222"/>
              <a:ext cx="214442" cy="20902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grpSp>
      <p:grpSp>
        <p:nvGrpSpPr>
          <p:cNvPr id="1533998" name="Group 1533997"/>
          <p:cNvGrpSpPr/>
          <p:nvPr/>
        </p:nvGrpSpPr>
        <p:grpSpPr bwMode="gray">
          <a:xfrm>
            <a:off x="6245551" y="3378914"/>
            <a:ext cx="5111824" cy="2304256"/>
            <a:chOff x="6392120" y="3753036"/>
            <a:chExt cx="5111824" cy="2304256"/>
          </a:xfrm>
        </p:grpSpPr>
        <p:sp>
          <p:nvSpPr>
            <p:cNvPr id="122" name="Rectangle 121"/>
            <p:cNvSpPr/>
            <p:nvPr/>
          </p:nvSpPr>
          <p:spPr bwMode="gray">
            <a:xfrm>
              <a:off x="7752184" y="4725994"/>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省骨干网</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3" name="Rectangle 122"/>
            <p:cNvSpPr/>
            <p:nvPr/>
          </p:nvSpPr>
          <p:spPr bwMode="gray">
            <a:xfrm>
              <a:off x="9196583" y="4725994"/>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省骨干网</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5" name="Rectangle 124"/>
            <p:cNvSpPr/>
            <p:nvPr/>
          </p:nvSpPr>
          <p:spPr bwMode="gray">
            <a:xfrm>
              <a:off x="8470704" y="3753036"/>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全国骨干网</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6" name="Rectangle 125"/>
            <p:cNvSpPr/>
            <p:nvPr/>
          </p:nvSpPr>
          <p:spPr bwMode="gray">
            <a:xfrm>
              <a:off x="6392120" y="5770110"/>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市业务网</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7" name="Rectangle 126"/>
            <p:cNvSpPr/>
            <p:nvPr/>
          </p:nvSpPr>
          <p:spPr bwMode="gray">
            <a:xfrm>
              <a:off x="7770769" y="5770110"/>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rPr>
                <a:t>市业务网</a:t>
              </a:r>
            </a:p>
          </p:txBody>
        </p:sp>
        <p:sp>
          <p:nvSpPr>
            <p:cNvPr id="128" name="Rectangle 127"/>
            <p:cNvSpPr/>
            <p:nvPr/>
          </p:nvSpPr>
          <p:spPr bwMode="gray">
            <a:xfrm>
              <a:off x="9149418" y="5770110"/>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200" dirty="0">
                  <a:solidFill>
                    <a:schemeClr val="bg1"/>
                  </a:solidFill>
                  <a:latin typeface="Huawei Sans" panose="020C0503030203020204" pitchFamily="34" charset="0"/>
                  <a:ea typeface="方正兰亭黑简体" panose="02000000000000000000" pitchFamily="2" charset="-122"/>
                </a:rPr>
                <a:t>市业务网</a:t>
              </a:r>
              <a:endParaRPr kumimoji="0" lang="zh-CN" altLang="en-US" sz="1200" b="0" i="0" u="none" strike="noStrike" cap="none" normalizeH="0" dirty="0">
                <a:ln>
                  <a:noFill/>
                </a:ln>
                <a:solidFill>
                  <a:schemeClr val="bg1"/>
                </a:solidFill>
                <a:effectLst/>
                <a:latin typeface="Huawei Sans" panose="020C0503030203020204" pitchFamily="34" charset="0"/>
                <a:ea typeface="方正兰亭黑简体" panose="02000000000000000000" pitchFamily="2" charset="-122"/>
              </a:endParaRPr>
            </a:p>
          </p:txBody>
        </p:sp>
        <p:sp>
          <p:nvSpPr>
            <p:cNvPr id="129" name="Rectangle 128"/>
            <p:cNvSpPr/>
            <p:nvPr/>
          </p:nvSpPr>
          <p:spPr bwMode="gray">
            <a:xfrm>
              <a:off x="10528067" y="5770110"/>
              <a:ext cx="975877" cy="287182"/>
            </a:xfrm>
            <a:prstGeom prst="rect">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rPr>
                <a:t>市业务网</a:t>
              </a:r>
            </a:p>
          </p:txBody>
        </p:sp>
        <p:sp>
          <p:nvSpPr>
            <p:cNvPr id="130" name="Rectangle 129"/>
            <p:cNvSpPr/>
            <p:nvPr/>
          </p:nvSpPr>
          <p:spPr bwMode="gray">
            <a:xfrm>
              <a:off x="7947928" y="5258429"/>
              <a:ext cx="1958813"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MPLS VPN</a:t>
              </a:r>
              <a:r>
                <a:rPr lang="zh-CN" altLang="en-US" sz="1400" dirty="0">
                  <a:solidFill>
                    <a:schemeClr val="tx1"/>
                  </a:solidFill>
                </a:rPr>
                <a:t>（自建）</a:t>
              </a:r>
            </a:p>
          </p:txBody>
        </p:sp>
        <p:sp>
          <p:nvSpPr>
            <p:cNvPr id="131" name="Rectangle 130"/>
            <p:cNvSpPr/>
            <p:nvPr/>
          </p:nvSpPr>
          <p:spPr bwMode="gray">
            <a:xfrm>
              <a:off x="7979235" y="4226771"/>
              <a:ext cx="1958813"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MPLS VPN</a:t>
              </a:r>
              <a:r>
                <a:rPr lang="zh-CN" altLang="en-US" sz="1400" dirty="0">
                  <a:solidFill>
                    <a:schemeClr val="tx1"/>
                  </a:solidFill>
                </a:rPr>
                <a:t>（自建）</a:t>
              </a:r>
            </a:p>
          </p:txBody>
        </p:sp>
        <p:cxnSp>
          <p:nvCxnSpPr>
            <p:cNvPr id="137" name="Straight Connector 136"/>
            <p:cNvCxnSpPr>
              <a:stCxn id="131" idx="0"/>
              <a:endCxn id="125" idx="2"/>
            </p:cNvCxnSpPr>
            <p:nvPr/>
          </p:nvCxnSpPr>
          <p:spPr bwMode="gray">
            <a:xfrm flipV="1">
              <a:off x="8958642" y="4040218"/>
              <a:ext cx="1" cy="18655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40" name="Straight Connector 139"/>
            <p:cNvCxnSpPr>
              <a:stCxn id="122" idx="0"/>
            </p:cNvCxnSpPr>
            <p:nvPr/>
          </p:nvCxnSpPr>
          <p:spPr bwMode="gray">
            <a:xfrm flipH="1" flipV="1">
              <a:off x="8240122" y="4475802"/>
              <a:ext cx="1" cy="25019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43" name="Straight Connector 142"/>
            <p:cNvCxnSpPr>
              <a:stCxn id="123" idx="0"/>
            </p:cNvCxnSpPr>
            <p:nvPr/>
          </p:nvCxnSpPr>
          <p:spPr bwMode="gray">
            <a:xfrm flipH="1" flipV="1">
              <a:off x="9684521" y="4475802"/>
              <a:ext cx="1" cy="25019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46" name="Straight Connector 145"/>
            <p:cNvCxnSpPr>
              <a:endCxn id="122" idx="2"/>
            </p:cNvCxnSpPr>
            <p:nvPr/>
          </p:nvCxnSpPr>
          <p:spPr bwMode="gray">
            <a:xfrm flipV="1">
              <a:off x="8240123" y="5013176"/>
              <a:ext cx="0" cy="23310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48" name="Straight Connector 147"/>
            <p:cNvCxnSpPr>
              <a:endCxn id="123" idx="2"/>
            </p:cNvCxnSpPr>
            <p:nvPr/>
          </p:nvCxnSpPr>
          <p:spPr bwMode="gray">
            <a:xfrm flipV="1">
              <a:off x="9684521" y="5013176"/>
              <a:ext cx="1" cy="231597"/>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0" name="Straight Connector 149"/>
            <p:cNvCxnSpPr>
              <a:stCxn id="126" idx="0"/>
            </p:cNvCxnSpPr>
            <p:nvPr/>
          </p:nvCxnSpPr>
          <p:spPr bwMode="gray">
            <a:xfrm flipV="1">
              <a:off x="6880059" y="5511867"/>
              <a:ext cx="1196161" cy="25824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3" name="Straight Connector 152"/>
            <p:cNvCxnSpPr>
              <a:stCxn id="127" idx="0"/>
            </p:cNvCxnSpPr>
            <p:nvPr/>
          </p:nvCxnSpPr>
          <p:spPr bwMode="gray">
            <a:xfrm flipH="1" flipV="1">
              <a:off x="8258707" y="5524012"/>
              <a:ext cx="1" cy="24609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6" name="Straight Connector 155"/>
            <p:cNvCxnSpPr>
              <a:stCxn id="128" idx="0"/>
            </p:cNvCxnSpPr>
            <p:nvPr/>
          </p:nvCxnSpPr>
          <p:spPr bwMode="gray">
            <a:xfrm flipH="1" flipV="1">
              <a:off x="9637356" y="5511022"/>
              <a:ext cx="1" cy="25908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8" name="Straight Connector 157"/>
            <p:cNvCxnSpPr>
              <a:stCxn id="129" idx="0"/>
            </p:cNvCxnSpPr>
            <p:nvPr/>
          </p:nvCxnSpPr>
          <p:spPr bwMode="gray">
            <a:xfrm flipH="1" flipV="1">
              <a:off x="9840631" y="5524012"/>
              <a:ext cx="1175375" cy="24609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grpSp>
    </p:spTree>
    <p:extLst>
      <p:ext uri="{BB962C8B-B14F-4D97-AF65-F5344CB8AC3E}">
        <p14:creationId xmlns:p14="http://schemas.microsoft.com/office/powerpoint/2010/main" val="159976610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b="1" dirty="0"/>
              <a:t>广域互联组网技术应用</a:t>
            </a:r>
            <a:endParaRPr lang="en-US" altLang="zh-CN" b="1" dirty="0"/>
          </a:p>
          <a:p>
            <a:pPr lvl="1"/>
            <a:r>
              <a:rPr lang="zh-CN" altLang="en-US" dirty="0">
                <a:solidFill>
                  <a:schemeClr val="bg1">
                    <a:lumMod val="50000"/>
                  </a:schemeClr>
                </a:solidFill>
              </a:rPr>
              <a:t>广域互联组网方案</a:t>
            </a:r>
            <a:endParaRPr lang="en-US" altLang="zh-CN" dirty="0">
              <a:solidFill>
                <a:schemeClr val="bg1">
                  <a:lumMod val="50000"/>
                </a:schemeClr>
              </a:solidFill>
            </a:endParaRPr>
          </a:p>
          <a:p>
            <a:pPr lvl="1">
              <a:buSzPct val="60000"/>
              <a:buFont typeface="Wingdings" panose="05000000000000000000" pitchFamily="2" charset="2"/>
              <a:buChar char="n"/>
            </a:pPr>
            <a:r>
              <a:rPr lang="zh-CN" altLang="en-US" dirty="0"/>
              <a:t>专线技术应用</a:t>
            </a:r>
            <a:endParaRPr lang="en-US" altLang="zh-CN" dirty="0"/>
          </a:p>
          <a:p>
            <a:pPr lvl="1"/>
            <a:r>
              <a:rPr lang="en-US" altLang="zh-CN" dirty="0">
                <a:solidFill>
                  <a:schemeClr val="bg1">
                    <a:lumMod val="50000"/>
                  </a:schemeClr>
                </a:solidFill>
              </a:rPr>
              <a:t>VPN</a:t>
            </a:r>
            <a:r>
              <a:rPr lang="zh-CN" altLang="en-US" dirty="0">
                <a:solidFill>
                  <a:schemeClr val="bg1">
                    <a:lumMod val="50000"/>
                  </a:schemeClr>
                </a:solidFill>
              </a:rPr>
              <a:t>技术应用</a:t>
            </a:r>
            <a:endParaRPr lang="en-US" altLang="zh-CN" dirty="0">
              <a:solidFill>
                <a:schemeClr val="bg1">
                  <a:lumMod val="50000"/>
                </a:schemeClr>
              </a:solidFill>
            </a:endParaRPr>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dirty="0">
                <a:solidFill>
                  <a:schemeClr val="bg1">
                    <a:lumMod val="50000"/>
                  </a:schemeClr>
                </a:solidFill>
              </a:rPr>
              <a:t>广域互联优化技术应用</a:t>
            </a:r>
            <a:endParaRPr lang="en-US" altLang="zh-CN" dirty="0">
              <a:solidFill>
                <a:schemeClr val="bg1">
                  <a:lumMod val="50000"/>
                </a:schemeClr>
              </a:solidFill>
            </a:endParaRPr>
          </a:p>
        </p:txBody>
      </p:sp>
    </p:spTree>
    <p:extLst>
      <p:ext uri="{BB962C8B-B14F-4D97-AF65-F5344CB8AC3E}">
        <p14:creationId xmlns:p14="http://schemas.microsoft.com/office/powerpoint/2010/main" val="3715199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专线技术概述</a:t>
            </a:r>
          </a:p>
        </p:txBody>
      </p:sp>
      <p:sp>
        <p:nvSpPr>
          <p:cNvPr id="3" name="Text Placeholder 2"/>
          <p:cNvSpPr>
            <a:spLocks noGrp="1"/>
          </p:cNvSpPr>
          <p:nvPr>
            <p:ph type="body" sz="quarter" idx="10"/>
          </p:nvPr>
        </p:nvSpPr>
        <p:spPr bwMode="gray"/>
        <p:txBody>
          <a:bodyPr/>
          <a:lstStyle/>
          <a:p>
            <a:r>
              <a:rPr lang="zh-CN" altLang="en-US" dirty="0"/>
              <a:t>专线技术诞生很早，由于网络的发展很多专线技术已经不再使用，比如：帧中继、</a:t>
            </a:r>
            <a:r>
              <a:rPr lang="en-US" altLang="zh-CN" dirty="0"/>
              <a:t>ATM</a:t>
            </a:r>
            <a:r>
              <a:rPr lang="zh-CN" altLang="en-US" dirty="0"/>
              <a:t>等，现在使用比较多的专线技术基本分以下几种：</a:t>
            </a:r>
            <a:endParaRPr lang="en-US" altLang="zh-CN" dirty="0"/>
          </a:p>
          <a:p>
            <a:pPr lvl="1"/>
            <a:r>
              <a:rPr lang="zh-CN" altLang="en-US" dirty="0"/>
              <a:t>裸纤：也叫裸光纤，运营商提供光纤，中间不经过别的设备，光纤价格昂贵。</a:t>
            </a:r>
            <a:endParaRPr lang="en-US" altLang="zh-CN" dirty="0"/>
          </a:p>
          <a:p>
            <a:pPr lvl="1"/>
            <a:r>
              <a:rPr lang="en-US" altLang="zh-CN" dirty="0"/>
              <a:t>SDH/MSTP/WDM</a:t>
            </a:r>
            <a:r>
              <a:rPr lang="zh-CN" altLang="en-US" dirty="0"/>
              <a:t>：传输类专线，这类专线使用传输设备在光纤上构建硬管道，能够保障良好的性能，价格比裸纤便宜。</a:t>
            </a:r>
            <a:endParaRPr lang="en-US" altLang="zh-CN" dirty="0"/>
          </a:p>
          <a:p>
            <a:pPr lvl="1"/>
            <a:r>
              <a:rPr lang="en-US" altLang="zh-CN" dirty="0"/>
              <a:t>MPLS VPN</a:t>
            </a:r>
            <a:r>
              <a:rPr lang="zh-CN" altLang="en-US" dirty="0"/>
              <a:t>：</a:t>
            </a:r>
            <a:r>
              <a:rPr lang="en-US" altLang="zh-CN" dirty="0"/>
              <a:t>MPLS</a:t>
            </a:r>
            <a:r>
              <a:rPr lang="zh-CN" altLang="en-US" dirty="0"/>
              <a:t>专线，这类专线使用以太网做接入，基本不构建硬管道，在性能上比传输类专线弱，但是价格是专线中最便宜的。</a:t>
            </a:r>
            <a:endParaRPr lang="en-US" altLang="zh-CN" dirty="0"/>
          </a:p>
        </p:txBody>
      </p:sp>
    </p:spTree>
    <p:extLst>
      <p:ext uri="{BB962C8B-B14F-4D97-AF65-F5344CB8AC3E}">
        <p14:creationId xmlns:p14="http://schemas.microsoft.com/office/powerpoint/2010/main" val="3704545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裸纤专线介绍</a:t>
            </a:r>
          </a:p>
        </p:txBody>
      </p:sp>
      <p:sp>
        <p:nvSpPr>
          <p:cNvPr id="3" name="Text Placeholder 2"/>
          <p:cNvSpPr>
            <a:spLocks noGrp="1"/>
          </p:cNvSpPr>
          <p:nvPr>
            <p:ph type="body" sz="quarter" idx="10"/>
          </p:nvPr>
        </p:nvSpPr>
        <p:spPr bwMode="gray"/>
        <p:txBody>
          <a:bodyPr/>
          <a:lstStyle/>
          <a:p>
            <a:r>
              <a:rPr lang="zh-CN" altLang="en-US" sz="2000" dirty="0"/>
              <a:t>裸纤也叫裸光纤，运营商提供一条纯光纤线路，网络容量取决于光纤两端的企业设备。</a:t>
            </a:r>
            <a:endParaRPr lang="en-US" altLang="zh-CN" sz="2000" dirty="0"/>
          </a:p>
          <a:p>
            <a:r>
              <a:rPr lang="zh-CN" altLang="en-US" sz="2000" dirty="0"/>
              <a:t>裸纤按照距离收费，距离越远越贵，光纤有最大长度，一般认为光纤一跳最大距离是</a:t>
            </a:r>
            <a:r>
              <a:rPr lang="en-US" altLang="zh-CN" sz="2000" dirty="0"/>
              <a:t>300 KM</a:t>
            </a:r>
            <a:r>
              <a:rPr lang="zh-CN" altLang="en-US" sz="2000" dirty="0"/>
              <a:t>，超过</a:t>
            </a:r>
            <a:r>
              <a:rPr lang="en-US" altLang="zh-CN" sz="2000" dirty="0"/>
              <a:t>300 KM</a:t>
            </a:r>
            <a:r>
              <a:rPr lang="zh-CN" altLang="en-US" sz="2000" dirty="0"/>
              <a:t>的站点之间需要架设中继设备。</a:t>
            </a:r>
            <a:endParaRPr lang="en-US" altLang="zh-CN" sz="2000" dirty="0"/>
          </a:p>
          <a:p>
            <a:endParaRPr lang="zh-CN" altLang="en-US" sz="2000" dirty="0"/>
          </a:p>
        </p:txBody>
      </p:sp>
      <p:cxnSp>
        <p:nvCxnSpPr>
          <p:cNvPr id="5" name="直接连接符 21"/>
          <p:cNvCxnSpPr>
            <a:cxnSpLocks/>
            <a:stCxn id="9" idx="2"/>
            <a:endCxn id="25" idx="3"/>
          </p:cNvCxnSpPr>
          <p:nvPr/>
        </p:nvCxnSpPr>
        <p:spPr bwMode="gray">
          <a:xfrm flipH="1">
            <a:off x="2603502" y="4511100"/>
            <a:ext cx="2142081" cy="396114"/>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8" name="直接连接符 24"/>
          <p:cNvCxnSpPr>
            <a:stCxn id="25" idx="0"/>
            <a:endCxn id="18" idx="2"/>
          </p:cNvCxnSpPr>
          <p:nvPr/>
        </p:nvCxnSpPr>
        <p:spPr bwMode="gray">
          <a:xfrm flipV="1">
            <a:off x="2426703" y="4316730"/>
            <a:ext cx="1603" cy="392347"/>
          </a:xfrm>
          <a:prstGeom prst="line">
            <a:avLst/>
          </a:prstGeom>
          <a:noFill/>
          <a:ln w="38100">
            <a:solidFill>
              <a:schemeClr val="bg1">
                <a:lumMod val="5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椭圆 25"/>
          <p:cNvSpPr/>
          <p:nvPr/>
        </p:nvSpPr>
        <p:spPr bwMode="gray">
          <a:xfrm>
            <a:off x="4745583" y="3892310"/>
            <a:ext cx="2628292" cy="1237579"/>
          </a:xfrm>
          <a:prstGeom prst="ellips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txBody>
          <a:bodyPr rtlCol="0" anchor="ctr"/>
          <a:lstStyle/>
          <a:p>
            <a:pPr algn="ctr" defTabSz="1219444"/>
            <a:endParaRPr lang="zh-CN" altLang="en-US">
              <a:latin typeface="Huawei Sans" panose="020C0503030203020204" pitchFamily="34" charset="0"/>
              <a:ea typeface="方正兰亭黑简体" panose="02000000000000000000" pitchFamily="2" charset="-122"/>
            </a:endParaRPr>
          </a:p>
        </p:txBody>
      </p:sp>
      <p:cxnSp>
        <p:nvCxnSpPr>
          <p:cNvPr id="12" name="直接连接符 29"/>
          <p:cNvCxnSpPr>
            <a:stCxn id="26" idx="0"/>
            <a:endCxn id="19" idx="2"/>
          </p:cNvCxnSpPr>
          <p:nvPr/>
        </p:nvCxnSpPr>
        <p:spPr bwMode="gray">
          <a:xfrm flipV="1">
            <a:off x="9745146" y="4274787"/>
            <a:ext cx="2828" cy="425106"/>
          </a:xfrm>
          <a:prstGeom prst="line">
            <a:avLst/>
          </a:prstGeom>
          <a:noFill/>
          <a:ln w="38100">
            <a:solidFill>
              <a:schemeClr val="bg1">
                <a:lumMod val="5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直接连接符 30"/>
          <p:cNvCxnSpPr>
            <a:cxnSpLocks/>
            <a:stCxn id="26" idx="1"/>
            <a:endCxn id="9" idx="6"/>
          </p:cNvCxnSpPr>
          <p:nvPr/>
        </p:nvCxnSpPr>
        <p:spPr bwMode="gray">
          <a:xfrm flipH="1" flipV="1">
            <a:off x="7373875" y="4511100"/>
            <a:ext cx="2194471" cy="386930"/>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14" name="TextBox 92"/>
          <p:cNvSpPr txBox="1"/>
          <p:nvPr/>
        </p:nvSpPr>
        <p:spPr bwMode="gray">
          <a:xfrm>
            <a:off x="1954501" y="3407626"/>
            <a:ext cx="1241562" cy="307777"/>
          </a:xfrm>
          <a:prstGeom prst="rect">
            <a:avLst/>
          </a:prstGeom>
          <a:noFill/>
        </p:spPr>
        <p:txBody>
          <a:bodyPr wrap="square" rtlCol="0">
            <a:spAutoFit/>
          </a:bodyPr>
          <a:lstStyle/>
          <a:p>
            <a:r>
              <a:rPr lang="zh-CN" altLang="en-US" sz="1400" dirty="0">
                <a:latin typeface="+mn-ea"/>
                <a:ea typeface="+mn-ea"/>
              </a:rPr>
              <a:t>企业分部</a:t>
            </a:r>
          </a:p>
        </p:txBody>
      </p:sp>
      <p:sp>
        <p:nvSpPr>
          <p:cNvPr id="15" name="TextBox 92"/>
          <p:cNvSpPr txBox="1"/>
          <p:nvPr/>
        </p:nvSpPr>
        <p:spPr bwMode="gray">
          <a:xfrm>
            <a:off x="9304786" y="3365683"/>
            <a:ext cx="1241562" cy="307777"/>
          </a:xfrm>
          <a:prstGeom prst="rect">
            <a:avLst/>
          </a:prstGeom>
          <a:noFill/>
        </p:spPr>
        <p:txBody>
          <a:bodyPr wrap="square" rtlCol="0">
            <a:spAutoFit/>
          </a:bodyPr>
          <a:lstStyle/>
          <a:p>
            <a:r>
              <a:rPr lang="zh-CN" altLang="en-US" sz="1400" dirty="0">
                <a:latin typeface="+mn-ea"/>
                <a:ea typeface="+mn-ea"/>
              </a:rPr>
              <a:t>企业总部</a:t>
            </a:r>
          </a:p>
        </p:txBody>
      </p:sp>
      <p:sp>
        <p:nvSpPr>
          <p:cNvPr id="16" name="TextBox 92"/>
          <p:cNvSpPr txBox="1"/>
          <p:nvPr/>
        </p:nvSpPr>
        <p:spPr bwMode="gray">
          <a:xfrm>
            <a:off x="5724574" y="3348953"/>
            <a:ext cx="742851" cy="307777"/>
          </a:xfrm>
          <a:prstGeom prst="rect">
            <a:avLst/>
          </a:prstGeom>
          <a:noFill/>
        </p:spPr>
        <p:txBody>
          <a:bodyPr wrap="square" rtlCol="0">
            <a:spAutoFit/>
          </a:bodyPr>
          <a:lstStyle/>
          <a:p>
            <a:r>
              <a:rPr lang="zh-CN" altLang="en-US" sz="1400" dirty="0">
                <a:latin typeface="+mn-ea"/>
                <a:ea typeface="+mn-ea"/>
              </a:rPr>
              <a:t>运营商</a:t>
            </a:r>
          </a:p>
        </p:txBody>
      </p:sp>
      <p:sp>
        <p:nvSpPr>
          <p:cNvPr id="17" name="TextBox 92"/>
          <p:cNvSpPr txBox="1"/>
          <p:nvPr/>
        </p:nvSpPr>
        <p:spPr bwMode="gray">
          <a:xfrm>
            <a:off x="5626440" y="4342682"/>
            <a:ext cx="939118" cy="307777"/>
          </a:xfrm>
          <a:prstGeom prst="rect">
            <a:avLst/>
          </a:prstGeom>
          <a:noFill/>
        </p:spPr>
        <p:txBody>
          <a:bodyPr wrap="square" rtlCol="0">
            <a:spAutoFit/>
          </a:bodyPr>
          <a:lstStyle/>
          <a:p>
            <a:r>
              <a:rPr lang="zh-CN" altLang="en-US" sz="1400" dirty="0">
                <a:latin typeface="+mn-ea"/>
                <a:ea typeface="+mn-ea"/>
              </a:rPr>
              <a:t>光缆网络</a:t>
            </a:r>
          </a:p>
        </p:txBody>
      </p:sp>
      <p:pic>
        <p:nvPicPr>
          <p:cNvPr id="18" name="Picture 2" descr="G:\做的项目\公共\扁平图标切换\更新2015_01_21\oss扁平图标库2015_01_21更新-04.png"/>
          <p:cNvPicPr>
            <a:picLocks noChangeAspect="1" noChangeArrowheads="1"/>
          </p:cNvPicPr>
          <p:nvPr/>
        </p:nvPicPr>
        <p:blipFill>
          <a:blip r:embed="rId3" cstate="print">
            <a:duotone>
              <a:prstClr val="black"/>
              <a:srgbClr val="F5AC3C">
                <a:tint val="45000"/>
                <a:satMod val="400000"/>
              </a:srgbClr>
            </a:duotone>
          </a:blip>
          <a:srcRect/>
          <a:stretch>
            <a:fillRect/>
          </a:stretch>
        </p:blipFill>
        <p:spPr bwMode="gray">
          <a:xfrm>
            <a:off x="2249903" y="4024798"/>
            <a:ext cx="356806" cy="291932"/>
          </a:xfrm>
          <a:prstGeom prst="rect">
            <a:avLst/>
          </a:prstGeom>
          <a:noFill/>
        </p:spPr>
      </p:pic>
      <p:pic>
        <p:nvPicPr>
          <p:cNvPr id="19" name="Picture 2" descr="G:\做的项目\公共\扁平图标切换\更新2015_01_21\oss扁平图标库2015_01_21更新-04.png"/>
          <p:cNvPicPr>
            <a:picLocks noChangeAspect="1" noChangeArrowheads="1"/>
          </p:cNvPicPr>
          <p:nvPr/>
        </p:nvPicPr>
        <p:blipFill>
          <a:blip r:embed="rId3" cstate="print">
            <a:duotone>
              <a:prstClr val="black"/>
              <a:srgbClr val="F5AC3C">
                <a:tint val="45000"/>
                <a:satMod val="400000"/>
              </a:srgbClr>
            </a:duotone>
          </a:blip>
          <a:srcRect/>
          <a:stretch>
            <a:fillRect/>
          </a:stretch>
        </p:blipFill>
        <p:spPr bwMode="gray">
          <a:xfrm>
            <a:off x="9569571" y="3982855"/>
            <a:ext cx="356806" cy="291932"/>
          </a:xfrm>
          <a:prstGeom prst="rect">
            <a:avLst/>
          </a:prstGeom>
          <a:noFill/>
        </p:spPr>
      </p:pic>
      <p:sp>
        <p:nvSpPr>
          <p:cNvPr id="20" name="圆角矩形 75"/>
          <p:cNvSpPr/>
          <p:nvPr/>
        </p:nvSpPr>
        <p:spPr bwMode="gray">
          <a:xfrm>
            <a:off x="1443156" y="3321180"/>
            <a:ext cx="1956893"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75"/>
          <p:cNvSpPr/>
          <p:nvPr/>
        </p:nvSpPr>
        <p:spPr bwMode="gray">
          <a:xfrm>
            <a:off x="8766700" y="3321180"/>
            <a:ext cx="1956893"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75"/>
          <p:cNvSpPr/>
          <p:nvPr/>
        </p:nvSpPr>
        <p:spPr bwMode="gray">
          <a:xfrm>
            <a:off x="4054107" y="3321180"/>
            <a:ext cx="4083786"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92"/>
          <p:cNvSpPr txBox="1"/>
          <p:nvPr/>
        </p:nvSpPr>
        <p:spPr bwMode="gray">
          <a:xfrm>
            <a:off x="1876638" y="5141350"/>
            <a:ext cx="1104914" cy="276999"/>
          </a:xfrm>
          <a:prstGeom prst="rect">
            <a:avLst/>
          </a:prstGeom>
          <a:noFill/>
        </p:spPr>
        <p:txBody>
          <a:bodyPr wrap="square" rtlCol="0">
            <a:spAutoFit/>
          </a:bodyPr>
          <a:lstStyle/>
          <a:p>
            <a:r>
              <a:rPr lang="zh-CN" altLang="en-US" sz="1200" dirty="0">
                <a:latin typeface="+mn-ea"/>
                <a:ea typeface="+mn-ea"/>
              </a:rPr>
              <a:t>企业传输设备</a:t>
            </a:r>
          </a:p>
        </p:txBody>
      </p:sp>
      <p:sp>
        <p:nvSpPr>
          <p:cNvPr id="24" name="TextBox 92"/>
          <p:cNvSpPr txBox="1"/>
          <p:nvPr/>
        </p:nvSpPr>
        <p:spPr bwMode="gray">
          <a:xfrm>
            <a:off x="9192689" y="5150350"/>
            <a:ext cx="1104914" cy="276999"/>
          </a:xfrm>
          <a:prstGeom prst="rect">
            <a:avLst/>
          </a:prstGeom>
          <a:noFill/>
        </p:spPr>
        <p:txBody>
          <a:bodyPr wrap="square" rtlCol="0">
            <a:spAutoFit/>
          </a:bodyPr>
          <a:lstStyle/>
          <a:p>
            <a:r>
              <a:rPr lang="zh-CN" altLang="en-US" sz="1200" dirty="0">
                <a:latin typeface="+mn-ea"/>
                <a:ea typeface="+mn-ea"/>
              </a:rPr>
              <a:t>企业传输设备</a:t>
            </a:r>
          </a:p>
        </p:txBody>
      </p:sp>
      <p:pic>
        <p:nvPicPr>
          <p:cNvPr id="25" name="Picture 24">
            <a:extLst>
              <a:ext uri="{FF2B5EF4-FFF2-40B4-BE49-F238E27FC236}">
                <a16:creationId xmlns:a16="http://schemas.microsoft.com/office/drawing/2014/main" id="{4959E4FC-0951-4260-B360-1695BF9353AE}"/>
              </a:ext>
            </a:extLst>
          </p:cNvPr>
          <p:cNvPicPr>
            <a:picLocks noChangeAspect="1"/>
          </p:cNvPicPr>
          <p:nvPr/>
        </p:nvPicPr>
        <p:blipFill>
          <a:blip r:embed="rId4"/>
          <a:stretch>
            <a:fillRect/>
          </a:stretch>
        </p:blipFill>
        <p:spPr>
          <a:xfrm>
            <a:off x="2249903" y="4709077"/>
            <a:ext cx="353599" cy="396274"/>
          </a:xfrm>
          <a:prstGeom prst="rect">
            <a:avLst/>
          </a:prstGeom>
        </p:spPr>
      </p:pic>
      <p:pic>
        <p:nvPicPr>
          <p:cNvPr id="26" name="Picture 25">
            <a:extLst>
              <a:ext uri="{FF2B5EF4-FFF2-40B4-BE49-F238E27FC236}">
                <a16:creationId xmlns:a16="http://schemas.microsoft.com/office/drawing/2014/main" id="{21AD415F-F70B-4FB9-8F55-9B49546FDF29}"/>
              </a:ext>
            </a:extLst>
          </p:cNvPr>
          <p:cNvPicPr>
            <a:picLocks noChangeAspect="1"/>
          </p:cNvPicPr>
          <p:nvPr/>
        </p:nvPicPr>
        <p:blipFill>
          <a:blip r:embed="rId4"/>
          <a:stretch>
            <a:fillRect/>
          </a:stretch>
        </p:blipFill>
        <p:spPr>
          <a:xfrm>
            <a:off x="9568346" y="4699893"/>
            <a:ext cx="353599" cy="396274"/>
          </a:xfrm>
          <a:prstGeom prst="rect">
            <a:avLst/>
          </a:prstGeom>
        </p:spPr>
      </p:pic>
    </p:spTree>
    <p:extLst>
      <p:ext uri="{BB962C8B-B14F-4D97-AF65-F5344CB8AC3E}">
        <p14:creationId xmlns:p14="http://schemas.microsoft.com/office/powerpoint/2010/main" val="302750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裸纤专线应用场景</a:t>
            </a:r>
          </a:p>
        </p:txBody>
      </p:sp>
      <p:sp>
        <p:nvSpPr>
          <p:cNvPr id="4" name="圆角矩形 75"/>
          <p:cNvSpPr/>
          <p:nvPr/>
        </p:nvSpPr>
        <p:spPr bwMode="gray">
          <a:xfrm>
            <a:off x="511257" y="1115797"/>
            <a:ext cx="11129359"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裸纤专线应用场景</a:t>
            </a:r>
          </a:p>
        </p:txBody>
      </p:sp>
      <p:sp>
        <p:nvSpPr>
          <p:cNvPr id="5" name="圆角矩形 75"/>
          <p:cNvSpPr/>
          <p:nvPr/>
        </p:nvSpPr>
        <p:spPr bwMode="gray">
          <a:xfrm>
            <a:off x="511257" y="1568354"/>
            <a:ext cx="11129359" cy="449273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rPr>
              <a:t>同城的主校区和分校区之间可以租用运营商裸纤，将两个校区互联，简化网络管理和接入认证管理。</a:t>
            </a:r>
            <a:endParaRPr lang="en-US" altLang="zh-CN" sz="1600" dirty="0">
              <a:solidFill>
                <a:prstClr val="black"/>
              </a:solidFill>
            </a:endParaRPr>
          </a:p>
        </p:txBody>
      </p:sp>
      <p:pic>
        <p:nvPicPr>
          <p:cNvPr id="98"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83633" y="2785758"/>
            <a:ext cx="488847" cy="400855"/>
          </a:xfrm>
          <a:prstGeom prst="rect">
            <a:avLst/>
          </a:prstGeom>
        </p:spPr>
      </p:pic>
      <p:pic>
        <p:nvPicPr>
          <p:cNvPr id="99"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43773" y="2785758"/>
            <a:ext cx="488847" cy="400855"/>
          </a:xfrm>
          <a:prstGeom prst="rect">
            <a:avLst/>
          </a:prstGeom>
        </p:spPr>
      </p:pic>
      <p:pic>
        <p:nvPicPr>
          <p:cNvPr id="100"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83633" y="3829874"/>
            <a:ext cx="488847" cy="400855"/>
          </a:xfrm>
          <a:prstGeom prst="rect">
            <a:avLst/>
          </a:prstGeom>
        </p:spPr>
      </p:pic>
      <p:pic>
        <p:nvPicPr>
          <p:cNvPr id="101"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043772" y="3826915"/>
            <a:ext cx="488847" cy="400855"/>
          </a:xfrm>
          <a:prstGeom prst="rect">
            <a:avLst/>
          </a:prstGeom>
        </p:spPr>
      </p:pic>
      <p:pic>
        <p:nvPicPr>
          <p:cNvPr id="102"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35561" y="5069158"/>
            <a:ext cx="488847" cy="400855"/>
          </a:xfrm>
          <a:prstGeom prst="rect">
            <a:avLst/>
          </a:prstGeom>
        </p:spPr>
      </p:pic>
      <p:pic>
        <p:nvPicPr>
          <p:cNvPr id="103"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395700" y="5069158"/>
            <a:ext cx="488847" cy="400855"/>
          </a:xfrm>
          <a:prstGeom prst="rect">
            <a:avLst/>
          </a:prstGeom>
        </p:spPr>
      </p:pic>
      <p:pic>
        <p:nvPicPr>
          <p:cNvPr id="104"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655839" y="5069159"/>
            <a:ext cx="488847" cy="400855"/>
          </a:xfrm>
          <a:prstGeom prst="rect">
            <a:avLst/>
          </a:prstGeom>
        </p:spPr>
      </p:pic>
      <p:cxnSp>
        <p:nvCxnSpPr>
          <p:cNvPr id="106" name="Straight Connector 105"/>
          <p:cNvCxnSpPr>
            <a:stCxn id="102" idx="0"/>
            <a:endCxn id="100" idx="2"/>
          </p:cNvCxnSpPr>
          <p:nvPr/>
        </p:nvCxnSpPr>
        <p:spPr bwMode="gray">
          <a:xfrm flipV="1">
            <a:off x="2379985" y="4230729"/>
            <a:ext cx="648072" cy="83842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09" name="Straight Connector 108"/>
          <p:cNvCxnSpPr>
            <a:stCxn id="102" idx="0"/>
            <a:endCxn id="101" idx="2"/>
          </p:cNvCxnSpPr>
          <p:nvPr/>
        </p:nvCxnSpPr>
        <p:spPr bwMode="gray">
          <a:xfrm flipV="1">
            <a:off x="2379985" y="4227770"/>
            <a:ext cx="1908211" cy="84138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2" name="Straight Connector 111"/>
          <p:cNvCxnSpPr>
            <a:stCxn id="103" idx="0"/>
            <a:endCxn id="100" idx="2"/>
          </p:cNvCxnSpPr>
          <p:nvPr/>
        </p:nvCxnSpPr>
        <p:spPr bwMode="gray">
          <a:xfrm flipH="1" flipV="1">
            <a:off x="3028057" y="4230729"/>
            <a:ext cx="612067" cy="83842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6" name="Straight Connector 115"/>
          <p:cNvCxnSpPr>
            <a:stCxn id="103" idx="0"/>
            <a:endCxn id="101" idx="2"/>
          </p:cNvCxnSpPr>
          <p:nvPr/>
        </p:nvCxnSpPr>
        <p:spPr bwMode="gray">
          <a:xfrm flipV="1">
            <a:off x="3640124" y="4227770"/>
            <a:ext cx="648072" cy="84138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19" name="Straight Connector 118"/>
          <p:cNvCxnSpPr>
            <a:stCxn id="104" idx="0"/>
            <a:endCxn id="101" idx="2"/>
          </p:cNvCxnSpPr>
          <p:nvPr/>
        </p:nvCxnSpPr>
        <p:spPr bwMode="gray">
          <a:xfrm flipH="1" flipV="1">
            <a:off x="4288196" y="4227770"/>
            <a:ext cx="612067" cy="84138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22" name="Straight Connector 121"/>
          <p:cNvCxnSpPr>
            <a:stCxn id="104" idx="0"/>
            <a:endCxn id="100" idx="2"/>
          </p:cNvCxnSpPr>
          <p:nvPr/>
        </p:nvCxnSpPr>
        <p:spPr bwMode="gray">
          <a:xfrm flipH="1" flipV="1">
            <a:off x="3028057" y="4230729"/>
            <a:ext cx="1872206" cy="83843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25" name="Straight Connector 124"/>
          <p:cNvCxnSpPr>
            <a:stCxn id="100" idx="0"/>
            <a:endCxn id="98" idx="2"/>
          </p:cNvCxnSpPr>
          <p:nvPr/>
        </p:nvCxnSpPr>
        <p:spPr bwMode="gray">
          <a:xfrm flipV="1">
            <a:off x="3028057" y="3186613"/>
            <a:ext cx="0" cy="643261"/>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28" name="Straight Connector 127"/>
          <p:cNvCxnSpPr>
            <a:endCxn id="99" idx="2"/>
          </p:cNvCxnSpPr>
          <p:nvPr/>
        </p:nvCxnSpPr>
        <p:spPr bwMode="gray">
          <a:xfrm flipV="1">
            <a:off x="4288196" y="3186613"/>
            <a:ext cx="1" cy="640302"/>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31" name="Straight Connector 130"/>
          <p:cNvCxnSpPr>
            <a:stCxn id="101" idx="1"/>
            <a:endCxn id="100" idx="3"/>
          </p:cNvCxnSpPr>
          <p:nvPr/>
        </p:nvCxnSpPr>
        <p:spPr bwMode="gray">
          <a:xfrm flipH="1">
            <a:off x="3272480" y="4027343"/>
            <a:ext cx="771292" cy="295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134" name="Freeform 159"/>
          <p:cNvSpPr/>
          <p:nvPr/>
        </p:nvSpPr>
        <p:spPr bwMode="gray">
          <a:xfrm flipH="1">
            <a:off x="2543736" y="1812005"/>
            <a:ext cx="968641" cy="5063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800" dirty="0">
                <a:solidFill>
                  <a:schemeClr val="tx1"/>
                </a:solidFill>
              </a:rPr>
              <a:t>ISP1</a:t>
            </a:r>
            <a:endParaRPr lang="en-US" sz="1800" dirty="0">
              <a:solidFill>
                <a:schemeClr val="tx1"/>
              </a:solidFill>
            </a:endParaRPr>
          </a:p>
        </p:txBody>
      </p:sp>
      <p:sp>
        <p:nvSpPr>
          <p:cNvPr id="135" name="Freeform 159"/>
          <p:cNvSpPr/>
          <p:nvPr/>
        </p:nvSpPr>
        <p:spPr bwMode="gray">
          <a:xfrm flipH="1">
            <a:off x="3803874" y="1821373"/>
            <a:ext cx="968641" cy="5063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800" dirty="0">
                <a:solidFill>
                  <a:schemeClr val="tx1"/>
                </a:solidFill>
              </a:rPr>
              <a:t>ISP2</a:t>
            </a:r>
            <a:endParaRPr lang="en-US" sz="1800" dirty="0">
              <a:solidFill>
                <a:schemeClr val="tx1"/>
              </a:solidFill>
            </a:endParaRPr>
          </a:p>
        </p:txBody>
      </p:sp>
      <p:cxnSp>
        <p:nvCxnSpPr>
          <p:cNvPr id="136" name="Straight Connector 135"/>
          <p:cNvCxnSpPr>
            <a:stCxn id="98" idx="0"/>
          </p:cNvCxnSpPr>
          <p:nvPr/>
        </p:nvCxnSpPr>
        <p:spPr bwMode="gray">
          <a:xfrm flipV="1">
            <a:off x="3028057" y="2318343"/>
            <a:ext cx="0" cy="467415"/>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39" name="Straight Connector 138"/>
          <p:cNvCxnSpPr>
            <a:stCxn id="99" idx="0"/>
          </p:cNvCxnSpPr>
          <p:nvPr/>
        </p:nvCxnSpPr>
        <p:spPr bwMode="gray">
          <a:xfrm flipH="1" flipV="1">
            <a:off x="4288194" y="2318342"/>
            <a:ext cx="3" cy="46741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pic>
        <p:nvPicPr>
          <p:cNvPr id="145" name="图片 5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123892" y="3826915"/>
            <a:ext cx="489934" cy="400855"/>
          </a:xfrm>
          <a:prstGeom prst="rect">
            <a:avLst/>
          </a:prstGeom>
        </p:spPr>
      </p:pic>
      <p:cxnSp>
        <p:nvCxnSpPr>
          <p:cNvPr id="146" name="Straight Connector 145"/>
          <p:cNvCxnSpPr>
            <a:stCxn id="145" idx="1"/>
            <a:endCxn id="101" idx="3"/>
          </p:cNvCxnSpPr>
          <p:nvPr/>
        </p:nvCxnSpPr>
        <p:spPr bwMode="gray">
          <a:xfrm flipH="1">
            <a:off x="4532619" y="4027343"/>
            <a:ext cx="591273" cy="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49" name="Straight Connector 148"/>
          <p:cNvCxnSpPr>
            <a:stCxn id="152" idx="1"/>
            <a:endCxn id="145" idx="3"/>
          </p:cNvCxnSpPr>
          <p:nvPr/>
        </p:nvCxnSpPr>
        <p:spPr bwMode="gray">
          <a:xfrm flipH="1" flipV="1">
            <a:off x="5613826" y="4027343"/>
            <a:ext cx="2440316" cy="2959"/>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pic>
        <p:nvPicPr>
          <p:cNvPr id="152"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054142" y="3829874"/>
            <a:ext cx="488847" cy="400855"/>
          </a:xfrm>
          <a:prstGeom prst="rect">
            <a:avLst/>
          </a:prstGeom>
        </p:spPr>
      </p:pic>
      <p:pic>
        <p:nvPicPr>
          <p:cNvPr id="153"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314281" y="3826915"/>
            <a:ext cx="488847" cy="400855"/>
          </a:xfrm>
          <a:prstGeom prst="rect">
            <a:avLst/>
          </a:prstGeom>
        </p:spPr>
      </p:pic>
      <p:pic>
        <p:nvPicPr>
          <p:cNvPr id="154"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406070" y="5069158"/>
            <a:ext cx="488847" cy="400855"/>
          </a:xfrm>
          <a:prstGeom prst="rect">
            <a:avLst/>
          </a:prstGeom>
        </p:spPr>
      </p:pic>
      <p:pic>
        <p:nvPicPr>
          <p:cNvPr id="155"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666209" y="5069158"/>
            <a:ext cx="488847" cy="400855"/>
          </a:xfrm>
          <a:prstGeom prst="rect">
            <a:avLst/>
          </a:prstGeom>
        </p:spPr>
      </p:pic>
      <p:pic>
        <p:nvPicPr>
          <p:cNvPr id="156" name="图片 7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926348" y="5069159"/>
            <a:ext cx="488847" cy="400855"/>
          </a:xfrm>
          <a:prstGeom prst="rect">
            <a:avLst/>
          </a:prstGeom>
        </p:spPr>
      </p:pic>
      <p:cxnSp>
        <p:nvCxnSpPr>
          <p:cNvPr id="157" name="Straight Connector 156"/>
          <p:cNvCxnSpPr>
            <a:stCxn id="154" idx="0"/>
            <a:endCxn id="152" idx="2"/>
          </p:cNvCxnSpPr>
          <p:nvPr/>
        </p:nvCxnSpPr>
        <p:spPr bwMode="gray">
          <a:xfrm flipV="1">
            <a:off x="7650494" y="4230729"/>
            <a:ext cx="648072" cy="83842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8" name="Straight Connector 157"/>
          <p:cNvCxnSpPr>
            <a:stCxn id="154" idx="0"/>
            <a:endCxn id="153" idx="2"/>
          </p:cNvCxnSpPr>
          <p:nvPr/>
        </p:nvCxnSpPr>
        <p:spPr bwMode="gray">
          <a:xfrm flipV="1">
            <a:off x="7650494" y="4227770"/>
            <a:ext cx="1908211" cy="84138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59" name="Straight Connector 158"/>
          <p:cNvCxnSpPr>
            <a:stCxn id="155" idx="0"/>
            <a:endCxn id="152" idx="2"/>
          </p:cNvCxnSpPr>
          <p:nvPr/>
        </p:nvCxnSpPr>
        <p:spPr bwMode="gray">
          <a:xfrm flipH="1" flipV="1">
            <a:off x="8298566" y="4230729"/>
            <a:ext cx="612067" cy="83842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60" name="Straight Connector 159"/>
          <p:cNvCxnSpPr>
            <a:stCxn id="155" idx="0"/>
            <a:endCxn id="153" idx="2"/>
          </p:cNvCxnSpPr>
          <p:nvPr/>
        </p:nvCxnSpPr>
        <p:spPr bwMode="gray">
          <a:xfrm flipV="1">
            <a:off x="8910633" y="4227770"/>
            <a:ext cx="648072" cy="841388"/>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61" name="Straight Connector 160"/>
          <p:cNvCxnSpPr>
            <a:stCxn id="156" idx="0"/>
            <a:endCxn id="153" idx="2"/>
          </p:cNvCxnSpPr>
          <p:nvPr/>
        </p:nvCxnSpPr>
        <p:spPr bwMode="gray">
          <a:xfrm flipH="1" flipV="1">
            <a:off x="9558705" y="4227770"/>
            <a:ext cx="612067" cy="84138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62" name="Straight Connector 161"/>
          <p:cNvCxnSpPr>
            <a:stCxn id="156" idx="0"/>
            <a:endCxn id="152" idx="2"/>
          </p:cNvCxnSpPr>
          <p:nvPr/>
        </p:nvCxnSpPr>
        <p:spPr bwMode="gray">
          <a:xfrm flipH="1" flipV="1">
            <a:off x="8298566" y="4230729"/>
            <a:ext cx="1872206" cy="83843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63" name="Straight Connector 162"/>
          <p:cNvCxnSpPr>
            <a:stCxn id="153" idx="1"/>
            <a:endCxn id="152" idx="3"/>
          </p:cNvCxnSpPr>
          <p:nvPr/>
        </p:nvCxnSpPr>
        <p:spPr bwMode="gray">
          <a:xfrm flipH="1">
            <a:off x="8542989" y="4027343"/>
            <a:ext cx="771292" cy="2959"/>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165" name="Rectangular Callout 164"/>
          <p:cNvSpPr/>
          <p:nvPr/>
        </p:nvSpPr>
        <p:spPr bwMode="gray">
          <a:xfrm>
            <a:off x="6178380" y="3414647"/>
            <a:ext cx="1016823" cy="388952"/>
          </a:xfrm>
          <a:prstGeom prst="wedgeRectCallout">
            <a:avLst>
              <a:gd name="adj1" fmla="val 20658"/>
              <a:gd name="adj2" fmla="val 10442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租用运营商裸纤</a:t>
            </a:r>
          </a:p>
        </p:txBody>
      </p:sp>
      <p:sp>
        <p:nvSpPr>
          <p:cNvPr id="166" name="圆角矩形 75"/>
          <p:cNvSpPr/>
          <p:nvPr/>
        </p:nvSpPr>
        <p:spPr bwMode="gray">
          <a:xfrm>
            <a:off x="1823443" y="1680950"/>
            <a:ext cx="3552477" cy="3939876"/>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圆角矩形 75"/>
          <p:cNvSpPr/>
          <p:nvPr/>
        </p:nvSpPr>
        <p:spPr bwMode="gray">
          <a:xfrm>
            <a:off x="7356351" y="3316570"/>
            <a:ext cx="3204145" cy="2304256"/>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TextBox 167"/>
          <p:cNvSpPr txBox="1"/>
          <p:nvPr/>
        </p:nvSpPr>
        <p:spPr bwMode="gray">
          <a:xfrm>
            <a:off x="1821952" y="1728371"/>
            <a:ext cx="723275" cy="307777"/>
          </a:xfrm>
          <a:prstGeom prst="rect">
            <a:avLst/>
          </a:prstGeom>
          <a:noFill/>
        </p:spPr>
        <p:txBody>
          <a:bodyPr wrap="none" rtlCol="0">
            <a:spAutoFit/>
          </a:bodyPr>
          <a:lstStyle/>
          <a:p>
            <a:r>
              <a:rPr lang="zh-CN" altLang="en-US" sz="1400" dirty="0">
                <a:latin typeface="+mj-ea"/>
                <a:ea typeface="+mj-ea"/>
              </a:rPr>
              <a:t>主校区</a:t>
            </a:r>
          </a:p>
        </p:txBody>
      </p:sp>
      <p:sp>
        <p:nvSpPr>
          <p:cNvPr id="169" name="TextBox 168"/>
          <p:cNvSpPr txBox="1"/>
          <p:nvPr/>
        </p:nvSpPr>
        <p:spPr bwMode="gray">
          <a:xfrm>
            <a:off x="7356351" y="3318711"/>
            <a:ext cx="723275" cy="307777"/>
          </a:xfrm>
          <a:prstGeom prst="rect">
            <a:avLst/>
          </a:prstGeom>
          <a:noFill/>
        </p:spPr>
        <p:txBody>
          <a:bodyPr wrap="none" rtlCol="0">
            <a:spAutoFit/>
          </a:bodyPr>
          <a:lstStyle/>
          <a:p>
            <a:r>
              <a:rPr lang="zh-CN" altLang="en-US" sz="1400" dirty="0">
                <a:latin typeface="+mj-ea"/>
                <a:ea typeface="+mj-ea"/>
              </a:rPr>
              <a:t>分校区</a:t>
            </a:r>
          </a:p>
        </p:txBody>
      </p:sp>
    </p:spTree>
    <p:extLst>
      <p:ext uri="{BB962C8B-B14F-4D97-AF65-F5344CB8AC3E}">
        <p14:creationId xmlns:p14="http://schemas.microsoft.com/office/powerpoint/2010/main" val="370442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SDH/MSTP/WDM</a:t>
            </a:r>
            <a:r>
              <a:rPr lang="zh-CN" altLang="en-US" dirty="0"/>
              <a:t>专线介绍</a:t>
            </a:r>
          </a:p>
        </p:txBody>
      </p:sp>
      <p:sp>
        <p:nvSpPr>
          <p:cNvPr id="3" name="Text Placeholder 2"/>
          <p:cNvSpPr>
            <a:spLocks noGrp="1"/>
          </p:cNvSpPr>
          <p:nvPr>
            <p:ph type="body" sz="quarter" idx="10"/>
          </p:nvPr>
        </p:nvSpPr>
        <p:spPr bwMode="gray"/>
        <p:txBody>
          <a:bodyPr/>
          <a:lstStyle/>
          <a:p>
            <a:r>
              <a:rPr lang="zh-CN" altLang="en-US" sz="1800" dirty="0"/>
              <a:t>对于需要长距离传输且对网络可靠性和安全性有需求的企业，可以租用</a:t>
            </a:r>
            <a:r>
              <a:rPr lang="en-US" altLang="zh-CN" sz="1800" dirty="0"/>
              <a:t>SDH/MSTP/WDM</a:t>
            </a:r>
            <a:r>
              <a:rPr lang="zh-CN" altLang="en-US" sz="1800" dirty="0"/>
              <a:t>专线。</a:t>
            </a:r>
            <a:endParaRPr lang="en-US" altLang="zh-CN" sz="1800" dirty="0"/>
          </a:p>
          <a:p>
            <a:r>
              <a:rPr lang="zh-CN" altLang="en-US" sz="1800" dirty="0"/>
              <a:t>此类专线属于传输类专线，租户独占传输专线的一部分带宽，由于是多个用户共享线路，所以价格比裸纤便宜。虽然传输类专线线路共享，但是由于带宽独占，且使用的是硬管道，所以能够提供非常高的可靠性和安全性。</a:t>
            </a:r>
            <a:endParaRPr lang="en-US" altLang="zh-CN" sz="1800" dirty="0"/>
          </a:p>
          <a:p>
            <a:r>
              <a:rPr lang="zh-CN" altLang="en-US" sz="1800" dirty="0"/>
              <a:t>现网中使用比较多的是</a:t>
            </a:r>
            <a:r>
              <a:rPr lang="en-US" altLang="zh-CN" sz="1800" dirty="0"/>
              <a:t>MSTP</a:t>
            </a:r>
            <a:r>
              <a:rPr lang="zh-CN" altLang="en-US" sz="1800" dirty="0"/>
              <a:t>与</a:t>
            </a:r>
            <a:r>
              <a:rPr lang="en-US" altLang="zh-CN" sz="1800" dirty="0"/>
              <a:t>WDM</a:t>
            </a:r>
            <a:r>
              <a:rPr lang="zh-CN" altLang="en-US" sz="1800" dirty="0"/>
              <a:t>专线，少量区域还在使用</a:t>
            </a:r>
            <a:r>
              <a:rPr lang="en-US" altLang="zh-CN" sz="1800"/>
              <a:t>SDH</a:t>
            </a:r>
            <a:r>
              <a:rPr lang="zh-CN" altLang="en-US" sz="1800"/>
              <a:t>专线</a:t>
            </a:r>
            <a:r>
              <a:rPr lang="zh-CN" altLang="en-US" sz="1800" dirty="0"/>
              <a:t>。</a:t>
            </a:r>
          </a:p>
        </p:txBody>
      </p:sp>
      <p:cxnSp>
        <p:nvCxnSpPr>
          <p:cNvPr id="4" name="直接连接符 35"/>
          <p:cNvCxnSpPr>
            <a:cxnSpLocks/>
            <a:stCxn id="18" idx="1"/>
            <a:endCxn id="24" idx="3"/>
          </p:cNvCxnSpPr>
          <p:nvPr/>
        </p:nvCxnSpPr>
        <p:spPr bwMode="gray">
          <a:xfrm flipH="1">
            <a:off x="2506542" y="4949674"/>
            <a:ext cx="1867811" cy="299322"/>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cxnSp>
        <p:nvCxnSpPr>
          <p:cNvPr id="7" name="直接连接符 38"/>
          <p:cNvCxnSpPr>
            <a:stCxn id="24" idx="0"/>
            <a:endCxn id="20" idx="2"/>
          </p:cNvCxnSpPr>
          <p:nvPr/>
        </p:nvCxnSpPr>
        <p:spPr bwMode="gray">
          <a:xfrm flipH="1" flipV="1">
            <a:off x="2327641" y="4684485"/>
            <a:ext cx="2102" cy="366374"/>
          </a:xfrm>
          <a:prstGeom prst="line">
            <a:avLst/>
          </a:prstGeom>
          <a:noFill/>
          <a:ln w="38100">
            <a:solidFill>
              <a:schemeClr val="bg1">
                <a:lumMod val="5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41"/>
          <p:cNvCxnSpPr>
            <a:stCxn id="28" idx="0"/>
            <a:endCxn id="21" idx="2"/>
          </p:cNvCxnSpPr>
          <p:nvPr/>
        </p:nvCxnSpPr>
        <p:spPr bwMode="gray">
          <a:xfrm flipH="1" flipV="1">
            <a:off x="9665475" y="4642542"/>
            <a:ext cx="4552" cy="408317"/>
          </a:xfrm>
          <a:prstGeom prst="line">
            <a:avLst/>
          </a:prstGeom>
          <a:noFill/>
          <a:ln w="38100">
            <a:solidFill>
              <a:schemeClr val="bg1">
                <a:lumMod val="50000"/>
              </a:schemeClr>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42"/>
          <p:cNvCxnSpPr>
            <a:cxnSpLocks/>
            <a:stCxn id="28" idx="1"/>
            <a:endCxn id="19" idx="3"/>
          </p:cNvCxnSpPr>
          <p:nvPr/>
        </p:nvCxnSpPr>
        <p:spPr bwMode="gray">
          <a:xfrm flipH="1" flipV="1">
            <a:off x="7666164" y="4949674"/>
            <a:ext cx="1827063" cy="299322"/>
          </a:xfrm>
          <a:prstGeom prst="line">
            <a:avLst/>
          </a:prstGeom>
          <a:noFill/>
          <a:ln w="28575"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cxnSp>
      <p:sp>
        <p:nvSpPr>
          <p:cNvPr id="11" name="TextBox 92"/>
          <p:cNvSpPr txBox="1"/>
          <p:nvPr/>
        </p:nvSpPr>
        <p:spPr bwMode="gray">
          <a:xfrm>
            <a:off x="1853429" y="3762389"/>
            <a:ext cx="983945" cy="307777"/>
          </a:xfrm>
          <a:prstGeom prst="rect">
            <a:avLst/>
          </a:prstGeom>
          <a:noFill/>
        </p:spPr>
        <p:txBody>
          <a:bodyPr wrap="square" rtlCol="0">
            <a:spAutoFit/>
          </a:bodyPr>
          <a:lstStyle/>
          <a:p>
            <a:r>
              <a:rPr lang="zh-CN" altLang="en-US" sz="1400" dirty="0">
                <a:latin typeface="+mn-ea"/>
                <a:ea typeface="+mn-ea"/>
              </a:rPr>
              <a:t>企业分部</a:t>
            </a:r>
          </a:p>
        </p:txBody>
      </p:sp>
      <p:sp>
        <p:nvSpPr>
          <p:cNvPr id="12" name="TextBox 92"/>
          <p:cNvSpPr txBox="1"/>
          <p:nvPr/>
        </p:nvSpPr>
        <p:spPr bwMode="gray">
          <a:xfrm>
            <a:off x="9245252" y="3793167"/>
            <a:ext cx="926763" cy="307777"/>
          </a:xfrm>
          <a:prstGeom prst="rect">
            <a:avLst/>
          </a:prstGeom>
          <a:noFill/>
        </p:spPr>
        <p:txBody>
          <a:bodyPr wrap="square" rtlCol="0">
            <a:spAutoFit/>
          </a:bodyPr>
          <a:lstStyle/>
          <a:p>
            <a:r>
              <a:rPr lang="zh-CN" altLang="en-US" sz="1400" dirty="0">
                <a:latin typeface="+mn-ea"/>
                <a:ea typeface="+mn-ea"/>
              </a:rPr>
              <a:t>企业总部</a:t>
            </a:r>
          </a:p>
        </p:txBody>
      </p:sp>
      <p:sp>
        <p:nvSpPr>
          <p:cNvPr id="13" name="TextBox 92"/>
          <p:cNvSpPr txBox="1"/>
          <p:nvPr/>
        </p:nvSpPr>
        <p:spPr bwMode="gray">
          <a:xfrm>
            <a:off x="5692442" y="3793168"/>
            <a:ext cx="742851" cy="307777"/>
          </a:xfrm>
          <a:prstGeom prst="rect">
            <a:avLst/>
          </a:prstGeom>
          <a:noFill/>
        </p:spPr>
        <p:txBody>
          <a:bodyPr wrap="square" rtlCol="0">
            <a:spAutoFit/>
          </a:bodyPr>
          <a:lstStyle/>
          <a:p>
            <a:r>
              <a:rPr lang="zh-CN" altLang="en-US" sz="1400" dirty="0">
                <a:latin typeface="+mn-ea"/>
                <a:ea typeface="+mn-ea"/>
              </a:rPr>
              <a:t>运营商</a:t>
            </a:r>
          </a:p>
        </p:txBody>
      </p:sp>
      <p:sp>
        <p:nvSpPr>
          <p:cNvPr id="14" name="椭圆 53"/>
          <p:cNvSpPr/>
          <p:nvPr/>
        </p:nvSpPr>
        <p:spPr bwMode="gray">
          <a:xfrm>
            <a:off x="4813940" y="4358728"/>
            <a:ext cx="2414154" cy="1143592"/>
          </a:xfrm>
          <a:prstGeom prst="ellipse">
            <a:avLst/>
          </a:prstGeom>
          <a:noFill/>
          <a:ln w="76200" cap="flat" cmpd="sng" algn="ctr">
            <a:gradFill>
              <a:gsLst>
                <a:gs pos="0">
                  <a:srgbClr val="FF3399"/>
                </a:gs>
                <a:gs pos="25000">
                  <a:srgbClr val="FF6633"/>
                </a:gs>
                <a:gs pos="50000">
                  <a:srgbClr val="FFFF00"/>
                </a:gs>
                <a:gs pos="75000">
                  <a:srgbClr val="01A78F"/>
                </a:gs>
                <a:gs pos="100000">
                  <a:srgbClr val="3366FF"/>
                </a:gs>
              </a:gsLst>
              <a:lin ang="2700000" scaled="0"/>
            </a:gradFill>
            <a:prstDash val="solid"/>
            <a:round/>
            <a:headEnd type="none" w="med" len="med"/>
            <a:tailEnd type="none" w="med" len="med"/>
          </a:ln>
          <a:effectLst/>
        </p:spPr>
        <p:txBody>
          <a:bodyPr rtlCol="0" anchor="ctr"/>
          <a:lstStyle>
            <a:defPPr>
              <a:defRPr lang="zh-CN"/>
            </a:defPPr>
            <a:lvl1pPr marL="0" algn="l" defTabSz="1219444" rtl="0" eaLnBrk="1" latinLnBrk="0" hangingPunct="1">
              <a:defRPr sz="2400" kern="1200">
                <a:solidFill>
                  <a:schemeClr val="tx1"/>
                </a:solidFill>
                <a:latin typeface="+mn-lt"/>
                <a:ea typeface="+mn-ea"/>
                <a:cs typeface="+mn-cs"/>
              </a:defRPr>
            </a:lvl1pPr>
            <a:lvl2pPr marL="609722" algn="l" defTabSz="1219444" rtl="0" eaLnBrk="1" latinLnBrk="0" hangingPunct="1">
              <a:defRPr sz="2400" kern="1200">
                <a:solidFill>
                  <a:schemeClr val="tx1"/>
                </a:solidFill>
                <a:latin typeface="+mn-lt"/>
                <a:ea typeface="+mn-ea"/>
                <a:cs typeface="+mn-cs"/>
              </a:defRPr>
            </a:lvl2pPr>
            <a:lvl3pPr marL="1219444" algn="l" defTabSz="1219444" rtl="0" eaLnBrk="1" latinLnBrk="0" hangingPunct="1">
              <a:defRPr sz="2400" kern="1200">
                <a:solidFill>
                  <a:schemeClr val="tx1"/>
                </a:solidFill>
                <a:latin typeface="+mn-lt"/>
                <a:ea typeface="+mn-ea"/>
                <a:cs typeface="+mn-cs"/>
              </a:defRPr>
            </a:lvl3pPr>
            <a:lvl4pPr marL="1829166" algn="l" defTabSz="1219444" rtl="0" eaLnBrk="1" latinLnBrk="0" hangingPunct="1">
              <a:defRPr sz="2400" kern="1200">
                <a:solidFill>
                  <a:schemeClr val="tx1"/>
                </a:solidFill>
                <a:latin typeface="+mn-lt"/>
                <a:ea typeface="+mn-ea"/>
                <a:cs typeface="+mn-cs"/>
              </a:defRPr>
            </a:lvl4pPr>
            <a:lvl5pPr marL="2438888" algn="l" defTabSz="1219444" rtl="0" eaLnBrk="1" latinLnBrk="0" hangingPunct="1">
              <a:defRPr sz="2400" kern="1200">
                <a:solidFill>
                  <a:schemeClr val="tx1"/>
                </a:solidFill>
                <a:latin typeface="+mn-lt"/>
                <a:ea typeface="+mn-ea"/>
                <a:cs typeface="+mn-cs"/>
              </a:defRPr>
            </a:lvl5pPr>
            <a:lvl6pPr marL="3048610" algn="l" defTabSz="1219444" rtl="0" eaLnBrk="1" latinLnBrk="0" hangingPunct="1">
              <a:defRPr sz="2400" kern="1200">
                <a:solidFill>
                  <a:schemeClr val="tx1"/>
                </a:solidFill>
                <a:latin typeface="+mn-lt"/>
                <a:ea typeface="+mn-ea"/>
                <a:cs typeface="+mn-cs"/>
              </a:defRPr>
            </a:lvl6pPr>
            <a:lvl7pPr marL="3658332" algn="l" defTabSz="1219444" rtl="0" eaLnBrk="1" latinLnBrk="0" hangingPunct="1">
              <a:defRPr sz="2400" kern="1200">
                <a:solidFill>
                  <a:schemeClr val="tx1"/>
                </a:solidFill>
                <a:latin typeface="+mn-lt"/>
                <a:ea typeface="+mn-ea"/>
                <a:cs typeface="+mn-cs"/>
              </a:defRPr>
            </a:lvl7pPr>
            <a:lvl8pPr marL="4268053" algn="l" defTabSz="1219444" rtl="0" eaLnBrk="1" latinLnBrk="0" hangingPunct="1">
              <a:defRPr sz="2400" kern="1200">
                <a:solidFill>
                  <a:schemeClr val="tx1"/>
                </a:solidFill>
                <a:latin typeface="+mn-lt"/>
                <a:ea typeface="+mn-ea"/>
                <a:cs typeface="+mn-cs"/>
              </a:defRPr>
            </a:lvl8pPr>
            <a:lvl9pPr marL="4877775" algn="l" defTabSz="1219444" rtl="0" eaLnBrk="1" latinLnBrk="0" hangingPunct="1">
              <a:defRPr sz="2400" kern="1200">
                <a:solidFill>
                  <a:schemeClr val="tx1"/>
                </a:solidFill>
                <a:latin typeface="+mn-lt"/>
                <a:ea typeface="+mn-ea"/>
                <a:cs typeface="+mn-cs"/>
              </a:defRPr>
            </a:lvl9pPr>
          </a:lstStyle>
          <a:p>
            <a:pPr algn="ctr">
              <a:buNone/>
            </a:pPr>
            <a:endParaRPr lang="en-US" sz="1800">
              <a:latin typeface="+mn-ea"/>
            </a:endParaRPr>
          </a:p>
        </p:txBody>
      </p:sp>
      <p:sp>
        <p:nvSpPr>
          <p:cNvPr id="15" name="TextBox 92"/>
          <p:cNvSpPr txBox="1"/>
          <p:nvPr/>
        </p:nvSpPr>
        <p:spPr bwMode="gray">
          <a:xfrm>
            <a:off x="5619502" y="4754017"/>
            <a:ext cx="908546" cy="307777"/>
          </a:xfrm>
          <a:prstGeom prst="rect">
            <a:avLst/>
          </a:prstGeom>
          <a:noFill/>
        </p:spPr>
        <p:txBody>
          <a:bodyPr wrap="square" rtlCol="0">
            <a:spAutoFit/>
          </a:bodyPr>
          <a:lstStyle/>
          <a:p>
            <a:r>
              <a:rPr lang="zh-CN" altLang="en-US" sz="1400" dirty="0">
                <a:latin typeface="+mn-ea"/>
                <a:ea typeface="+mn-ea"/>
              </a:rPr>
              <a:t>传输网络</a:t>
            </a:r>
          </a:p>
        </p:txBody>
      </p:sp>
      <p:pic>
        <p:nvPicPr>
          <p:cNvPr id="18" name="图片 70"/>
          <p:cNvPicPr>
            <a:picLocks noChangeAspect="1"/>
          </p:cNvPicPr>
          <p:nvPr/>
        </p:nvPicPr>
        <p:blipFill>
          <a:blip r:embed="rId3">
            <a:duotone>
              <a:prstClr val="black"/>
              <a:srgbClr val="F5AC3C">
                <a:tint val="45000"/>
                <a:satMod val="400000"/>
              </a:srgbClr>
            </a:duotone>
          </a:blip>
          <a:stretch>
            <a:fillRect/>
          </a:stretch>
        </p:blipFill>
        <p:spPr bwMode="gray">
          <a:xfrm>
            <a:off x="4374353" y="4764923"/>
            <a:ext cx="438070" cy="369501"/>
          </a:xfrm>
          <a:prstGeom prst="rect">
            <a:avLst/>
          </a:prstGeom>
        </p:spPr>
      </p:pic>
      <p:pic>
        <p:nvPicPr>
          <p:cNvPr id="19" name="图片 71"/>
          <p:cNvPicPr>
            <a:picLocks noChangeAspect="1"/>
          </p:cNvPicPr>
          <p:nvPr/>
        </p:nvPicPr>
        <p:blipFill>
          <a:blip r:embed="rId3">
            <a:duotone>
              <a:prstClr val="black"/>
              <a:srgbClr val="F5AC3C">
                <a:tint val="45000"/>
                <a:satMod val="400000"/>
              </a:srgbClr>
            </a:duotone>
          </a:blip>
          <a:stretch>
            <a:fillRect/>
          </a:stretch>
        </p:blipFill>
        <p:spPr bwMode="gray">
          <a:xfrm>
            <a:off x="7228094" y="4764923"/>
            <a:ext cx="438070" cy="369501"/>
          </a:xfrm>
          <a:prstGeom prst="rect">
            <a:avLst/>
          </a:prstGeom>
        </p:spPr>
      </p:pic>
      <p:pic>
        <p:nvPicPr>
          <p:cNvPr id="20" name="Picture 2" descr="G:\做的项目\公共\扁平图标切换\更新2015_01_21\oss扁平图标库2015_01_21更新-04.png"/>
          <p:cNvPicPr>
            <a:picLocks noChangeAspect="1" noChangeArrowheads="1"/>
          </p:cNvPicPr>
          <p:nvPr/>
        </p:nvPicPr>
        <p:blipFill>
          <a:blip r:embed="rId4" cstate="print">
            <a:duotone>
              <a:prstClr val="black"/>
              <a:srgbClr val="F5AC3C">
                <a:tint val="45000"/>
                <a:satMod val="400000"/>
              </a:srgbClr>
            </a:duotone>
          </a:blip>
          <a:srcRect/>
          <a:stretch>
            <a:fillRect/>
          </a:stretch>
        </p:blipFill>
        <p:spPr bwMode="gray">
          <a:xfrm>
            <a:off x="2149238" y="4392553"/>
            <a:ext cx="356806" cy="291932"/>
          </a:xfrm>
          <a:prstGeom prst="rect">
            <a:avLst/>
          </a:prstGeom>
          <a:noFill/>
        </p:spPr>
      </p:pic>
      <p:pic>
        <p:nvPicPr>
          <p:cNvPr id="21" name="Picture 2" descr="G:\做的项目\公共\扁平图标切换\更新2015_01_21\oss扁平图标库2015_01_21更新-04.png"/>
          <p:cNvPicPr>
            <a:picLocks noChangeAspect="1" noChangeArrowheads="1"/>
          </p:cNvPicPr>
          <p:nvPr/>
        </p:nvPicPr>
        <p:blipFill>
          <a:blip r:embed="rId4" cstate="print">
            <a:duotone>
              <a:prstClr val="black"/>
              <a:srgbClr val="F5AC3C">
                <a:tint val="45000"/>
                <a:satMod val="400000"/>
              </a:srgbClr>
            </a:duotone>
          </a:blip>
          <a:srcRect/>
          <a:stretch>
            <a:fillRect/>
          </a:stretch>
        </p:blipFill>
        <p:spPr bwMode="gray">
          <a:xfrm>
            <a:off x="9487072" y="4350610"/>
            <a:ext cx="356806" cy="291932"/>
          </a:xfrm>
          <a:prstGeom prst="rect">
            <a:avLst/>
          </a:prstGeom>
          <a:noFill/>
        </p:spPr>
      </p:pic>
      <p:sp>
        <p:nvSpPr>
          <p:cNvPr id="34" name="圆角矩形 75"/>
          <p:cNvSpPr/>
          <p:nvPr/>
        </p:nvSpPr>
        <p:spPr bwMode="gray">
          <a:xfrm>
            <a:off x="1406644" y="3716338"/>
            <a:ext cx="1956893"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75"/>
          <p:cNvSpPr/>
          <p:nvPr/>
        </p:nvSpPr>
        <p:spPr bwMode="gray">
          <a:xfrm>
            <a:off x="8730188" y="3716338"/>
            <a:ext cx="1956893"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75"/>
          <p:cNvSpPr/>
          <p:nvPr/>
        </p:nvSpPr>
        <p:spPr bwMode="gray">
          <a:xfrm>
            <a:off x="4017595" y="3716338"/>
            <a:ext cx="4083786" cy="209716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36"/>
          <p:cNvSpPr txBox="1"/>
          <p:nvPr/>
        </p:nvSpPr>
        <p:spPr bwMode="gray">
          <a:xfrm>
            <a:off x="3992344" y="4314946"/>
            <a:ext cx="1056143"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SDH/MSTP/WDM</a:t>
            </a:r>
            <a:r>
              <a:rPr lang="zh-CN" altLang="en-US" sz="1200" dirty="0">
                <a:latin typeface="Huawei Sans" panose="020C0503030203020204" pitchFamily="34" charset="0"/>
                <a:ea typeface="方正兰亭黑简体" panose="02000000000000000000" pitchFamily="2" charset="-122"/>
              </a:rPr>
              <a:t>设备</a:t>
            </a:r>
          </a:p>
        </p:txBody>
      </p:sp>
      <p:sp>
        <p:nvSpPr>
          <p:cNvPr id="38" name="TextBox 37"/>
          <p:cNvSpPr txBox="1"/>
          <p:nvPr/>
        </p:nvSpPr>
        <p:spPr bwMode="gray">
          <a:xfrm>
            <a:off x="7136666" y="4334443"/>
            <a:ext cx="1056143" cy="461665"/>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SDH/MSTP/WDM</a:t>
            </a:r>
            <a:r>
              <a:rPr lang="zh-CN" altLang="en-US" sz="1200" dirty="0">
                <a:latin typeface="Huawei Sans" panose="020C0503030203020204" pitchFamily="34" charset="0"/>
                <a:ea typeface="方正兰亭黑简体" panose="02000000000000000000" pitchFamily="2" charset="-122"/>
              </a:rPr>
              <a:t>设备</a:t>
            </a:r>
          </a:p>
        </p:txBody>
      </p:sp>
      <p:pic>
        <p:nvPicPr>
          <p:cNvPr id="24" name="Picture 23">
            <a:extLst>
              <a:ext uri="{FF2B5EF4-FFF2-40B4-BE49-F238E27FC236}">
                <a16:creationId xmlns:a16="http://schemas.microsoft.com/office/drawing/2014/main" id="{5BF5EC20-AA12-4891-A7F6-7D197600803B}"/>
              </a:ext>
            </a:extLst>
          </p:cNvPr>
          <p:cNvPicPr>
            <a:picLocks noChangeAspect="1"/>
          </p:cNvPicPr>
          <p:nvPr/>
        </p:nvPicPr>
        <p:blipFill>
          <a:blip r:embed="rId5"/>
          <a:stretch>
            <a:fillRect/>
          </a:stretch>
        </p:blipFill>
        <p:spPr>
          <a:xfrm>
            <a:off x="2152943" y="5050859"/>
            <a:ext cx="353599" cy="396274"/>
          </a:xfrm>
          <a:prstGeom prst="rect">
            <a:avLst/>
          </a:prstGeom>
        </p:spPr>
      </p:pic>
      <p:pic>
        <p:nvPicPr>
          <p:cNvPr id="28" name="Picture 27">
            <a:extLst>
              <a:ext uri="{FF2B5EF4-FFF2-40B4-BE49-F238E27FC236}">
                <a16:creationId xmlns:a16="http://schemas.microsoft.com/office/drawing/2014/main" id="{C081CE15-4C22-413E-92D0-49B631D3055A}"/>
              </a:ext>
            </a:extLst>
          </p:cNvPr>
          <p:cNvPicPr>
            <a:picLocks noChangeAspect="1"/>
          </p:cNvPicPr>
          <p:nvPr/>
        </p:nvPicPr>
        <p:blipFill>
          <a:blip r:embed="rId5"/>
          <a:stretch>
            <a:fillRect/>
          </a:stretch>
        </p:blipFill>
        <p:spPr>
          <a:xfrm>
            <a:off x="9493227" y="5050859"/>
            <a:ext cx="353599" cy="396274"/>
          </a:xfrm>
          <a:prstGeom prst="rect">
            <a:avLst/>
          </a:prstGeom>
        </p:spPr>
      </p:pic>
    </p:spTree>
    <p:extLst>
      <p:ext uri="{BB962C8B-B14F-4D97-AF65-F5344CB8AC3E}">
        <p14:creationId xmlns:p14="http://schemas.microsoft.com/office/powerpoint/2010/main" val="1340875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SDH/MSTP/WDM</a:t>
            </a:r>
            <a:r>
              <a:rPr lang="zh-CN" altLang="en-US" dirty="0"/>
              <a:t>专线应用场景</a:t>
            </a:r>
          </a:p>
        </p:txBody>
      </p:sp>
      <p:sp>
        <p:nvSpPr>
          <p:cNvPr id="4" name="圆角矩形 75"/>
          <p:cNvSpPr/>
          <p:nvPr/>
        </p:nvSpPr>
        <p:spPr bwMode="gray">
          <a:xfrm>
            <a:off x="532039" y="1146551"/>
            <a:ext cx="11129359"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SDH/MSTP/WDM</a:t>
            </a:r>
            <a:r>
              <a:rPr lang="zh-CN" altLang="en-US" sz="1600" dirty="0">
                <a:solidFill>
                  <a:srgbClr val="30B5C5"/>
                </a:solidFill>
                <a:latin typeface="Huawei Sans" panose="020C0503030203020204" pitchFamily="34" charset="0"/>
                <a:ea typeface="方正兰亭黑简体" panose="02000000000000000000" pitchFamily="2" charset="-122"/>
              </a:rPr>
              <a:t>专线应用场景</a:t>
            </a:r>
          </a:p>
        </p:txBody>
      </p:sp>
      <p:sp>
        <p:nvSpPr>
          <p:cNvPr id="5" name="圆角矩形 75"/>
          <p:cNvSpPr/>
          <p:nvPr/>
        </p:nvSpPr>
        <p:spPr bwMode="gray">
          <a:xfrm>
            <a:off x="532039" y="1599108"/>
            <a:ext cx="11129359" cy="449273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rPr>
              <a:t>金融分支站点互联时，为了保障网络的高可靠和高安全，一般会选用</a:t>
            </a:r>
            <a:r>
              <a:rPr lang="en-US" altLang="zh-CN" sz="1600" dirty="0">
                <a:solidFill>
                  <a:prstClr val="black"/>
                </a:solidFill>
              </a:rPr>
              <a:t>MSTP</a:t>
            </a:r>
            <a:r>
              <a:rPr lang="zh-CN" altLang="en-US" sz="1600" dirty="0">
                <a:solidFill>
                  <a:prstClr val="black"/>
                </a:solidFill>
              </a:rPr>
              <a:t>或</a:t>
            </a:r>
            <a:r>
              <a:rPr lang="en-US" altLang="zh-CN" sz="1600" dirty="0">
                <a:solidFill>
                  <a:prstClr val="black"/>
                </a:solidFill>
              </a:rPr>
              <a:t>SDH</a:t>
            </a:r>
            <a:r>
              <a:rPr lang="zh-CN" altLang="en-US" sz="1600" dirty="0">
                <a:solidFill>
                  <a:prstClr val="black"/>
                </a:solidFill>
              </a:rPr>
              <a:t>专线。</a:t>
            </a:r>
            <a:endParaRPr lang="en-US" altLang="zh-CN" sz="1600" dirty="0">
              <a:solidFill>
                <a:prstClr val="black"/>
              </a:solidFill>
            </a:endParaRPr>
          </a:p>
        </p:txBody>
      </p:sp>
      <p:pic>
        <p:nvPicPr>
          <p:cNvPr id="6"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208800" y="4037191"/>
            <a:ext cx="488847" cy="400855"/>
          </a:xfrm>
          <a:prstGeom prst="rect">
            <a:avLst/>
          </a:prstGeom>
        </p:spPr>
      </p:pic>
      <p:pic>
        <p:nvPicPr>
          <p:cNvPr id="7"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207713" y="3406640"/>
            <a:ext cx="489934" cy="400855"/>
          </a:xfrm>
          <a:prstGeom prst="rect">
            <a:avLst/>
          </a:prstGeom>
        </p:spPr>
      </p:pic>
      <p:pic>
        <p:nvPicPr>
          <p:cNvPr id="8"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254003" y="4037191"/>
            <a:ext cx="488847" cy="400855"/>
          </a:xfrm>
          <a:prstGeom prst="rect">
            <a:avLst/>
          </a:prstGeom>
        </p:spPr>
      </p:pic>
      <p:pic>
        <p:nvPicPr>
          <p:cNvPr id="9"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252916" y="3406640"/>
            <a:ext cx="489934" cy="400855"/>
          </a:xfrm>
          <a:prstGeom prst="rect">
            <a:avLst/>
          </a:prstGeom>
        </p:spPr>
      </p:pic>
      <p:cxnSp>
        <p:nvCxnSpPr>
          <p:cNvPr id="10" name="Straight Connector 9"/>
          <p:cNvCxnSpPr>
            <a:stCxn id="6" idx="3"/>
            <a:endCxn id="8" idx="1"/>
          </p:cNvCxnSpPr>
          <p:nvPr/>
        </p:nvCxnSpPr>
        <p:spPr bwMode="gray">
          <a:xfrm>
            <a:off x="3697647" y="4237619"/>
            <a:ext cx="556356" cy="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3" name="Straight Connector 12"/>
          <p:cNvCxnSpPr>
            <a:stCxn id="7" idx="2"/>
            <a:endCxn id="6" idx="0"/>
          </p:cNvCxnSpPr>
          <p:nvPr/>
        </p:nvCxnSpPr>
        <p:spPr bwMode="gray">
          <a:xfrm>
            <a:off x="3452680" y="3807495"/>
            <a:ext cx="544" cy="22969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16" name="Straight Connector 15"/>
          <p:cNvCxnSpPr>
            <a:stCxn id="9" idx="2"/>
            <a:endCxn id="8" idx="0"/>
          </p:cNvCxnSpPr>
          <p:nvPr/>
        </p:nvCxnSpPr>
        <p:spPr bwMode="gray">
          <a:xfrm>
            <a:off x="4497883" y="3807495"/>
            <a:ext cx="544" cy="22969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pic>
        <p:nvPicPr>
          <p:cNvPr id="20"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124894" y="4037191"/>
            <a:ext cx="488847" cy="400855"/>
          </a:xfrm>
          <a:prstGeom prst="rect">
            <a:avLst/>
          </a:prstGeom>
        </p:spPr>
      </p:pic>
      <p:pic>
        <p:nvPicPr>
          <p:cNvPr id="21"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123807" y="3406640"/>
            <a:ext cx="489934" cy="400855"/>
          </a:xfrm>
          <a:prstGeom prst="rect">
            <a:avLst/>
          </a:prstGeom>
        </p:spPr>
      </p:pic>
      <p:pic>
        <p:nvPicPr>
          <p:cNvPr id="22"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170097" y="4037191"/>
            <a:ext cx="488847" cy="400855"/>
          </a:xfrm>
          <a:prstGeom prst="rect">
            <a:avLst/>
          </a:prstGeom>
        </p:spPr>
      </p:pic>
      <p:pic>
        <p:nvPicPr>
          <p:cNvPr id="23"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169010" y="3406640"/>
            <a:ext cx="489934" cy="400855"/>
          </a:xfrm>
          <a:prstGeom prst="rect">
            <a:avLst/>
          </a:prstGeom>
        </p:spPr>
      </p:pic>
      <p:cxnSp>
        <p:nvCxnSpPr>
          <p:cNvPr id="24" name="Straight Connector 23"/>
          <p:cNvCxnSpPr>
            <a:stCxn id="20" idx="3"/>
            <a:endCxn id="22" idx="1"/>
          </p:cNvCxnSpPr>
          <p:nvPr/>
        </p:nvCxnSpPr>
        <p:spPr bwMode="gray">
          <a:xfrm>
            <a:off x="7613741" y="4237619"/>
            <a:ext cx="556356" cy="0"/>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25" name="Straight Connector 24"/>
          <p:cNvCxnSpPr>
            <a:stCxn id="21" idx="2"/>
            <a:endCxn id="20" idx="0"/>
          </p:cNvCxnSpPr>
          <p:nvPr/>
        </p:nvCxnSpPr>
        <p:spPr bwMode="gray">
          <a:xfrm>
            <a:off x="7368774" y="3807495"/>
            <a:ext cx="544" cy="22969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26" name="Straight Connector 25"/>
          <p:cNvCxnSpPr>
            <a:stCxn id="23" idx="2"/>
            <a:endCxn id="22" idx="0"/>
          </p:cNvCxnSpPr>
          <p:nvPr/>
        </p:nvCxnSpPr>
        <p:spPr bwMode="gray">
          <a:xfrm>
            <a:off x="8413977" y="3807495"/>
            <a:ext cx="544" cy="229696"/>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pic>
        <p:nvPicPr>
          <p:cNvPr id="27"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143587" y="2414619"/>
            <a:ext cx="489934" cy="400855"/>
          </a:xfrm>
          <a:prstGeom prst="rect">
            <a:avLst/>
          </a:prstGeom>
        </p:spPr>
      </p:pic>
      <p:pic>
        <p:nvPicPr>
          <p:cNvPr id="28"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188790" y="2414619"/>
            <a:ext cx="489934" cy="400855"/>
          </a:xfrm>
          <a:prstGeom prst="rect">
            <a:avLst/>
          </a:prstGeom>
        </p:spPr>
      </p:pic>
      <p:pic>
        <p:nvPicPr>
          <p:cNvPr id="29"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144674" y="1747411"/>
            <a:ext cx="488847" cy="400855"/>
          </a:xfrm>
          <a:prstGeom prst="rect">
            <a:avLst/>
          </a:prstGeom>
        </p:spPr>
      </p:pic>
      <p:pic>
        <p:nvPicPr>
          <p:cNvPr id="30"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189877" y="1747411"/>
            <a:ext cx="488847" cy="400855"/>
          </a:xfrm>
          <a:prstGeom prst="rect">
            <a:avLst/>
          </a:prstGeom>
        </p:spPr>
      </p:pic>
      <p:pic>
        <p:nvPicPr>
          <p:cNvPr id="33"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31401" y="5219515"/>
            <a:ext cx="488847" cy="400855"/>
          </a:xfrm>
          <a:prstGeom prst="rect">
            <a:avLst/>
          </a:prstGeom>
        </p:spPr>
      </p:pic>
      <p:pic>
        <p:nvPicPr>
          <p:cNvPr id="3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647495" y="5222931"/>
            <a:ext cx="488847" cy="400855"/>
          </a:xfrm>
          <a:prstGeom prst="rect">
            <a:avLst/>
          </a:prstGeom>
        </p:spPr>
      </p:pic>
      <p:cxnSp>
        <p:nvCxnSpPr>
          <p:cNvPr id="35" name="直接连接符 35"/>
          <p:cNvCxnSpPr>
            <a:stCxn id="33" idx="0"/>
            <a:endCxn id="6" idx="2"/>
          </p:cNvCxnSpPr>
          <p:nvPr/>
        </p:nvCxnSpPr>
        <p:spPr bwMode="gray">
          <a:xfrm flipH="1" flipV="1">
            <a:off x="3453224" y="4438046"/>
            <a:ext cx="522601" cy="781469"/>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5"/>
          <p:cNvCxnSpPr>
            <a:stCxn id="33" idx="0"/>
            <a:endCxn id="8" idx="2"/>
          </p:cNvCxnSpPr>
          <p:nvPr/>
        </p:nvCxnSpPr>
        <p:spPr bwMode="gray">
          <a:xfrm flipV="1">
            <a:off x="3975825" y="4438046"/>
            <a:ext cx="522602" cy="781469"/>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35"/>
          <p:cNvCxnSpPr>
            <a:stCxn id="34" idx="0"/>
            <a:endCxn id="22" idx="2"/>
          </p:cNvCxnSpPr>
          <p:nvPr/>
        </p:nvCxnSpPr>
        <p:spPr bwMode="gray">
          <a:xfrm flipV="1">
            <a:off x="7891919" y="4438046"/>
            <a:ext cx="522602" cy="784885"/>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35"/>
          <p:cNvCxnSpPr>
            <a:stCxn id="34" idx="0"/>
            <a:endCxn id="20" idx="2"/>
          </p:cNvCxnSpPr>
          <p:nvPr/>
        </p:nvCxnSpPr>
        <p:spPr bwMode="gray">
          <a:xfrm flipH="1" flipV="1">
            <a:off x="7369318" y="4438046"/>
            <a:ext cx="522601" cy="784885"/>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接连接符 35"/>
          <p:cNvCxnSpPr>
            <a:stCxn id="27" idx="2"/>
            <a:endCxn id="7" idx="0"/>
          </p:cNvCxnSpPr>
          <p:nvPr/>
        </p:nvCxnSpPr>
        <p:spPr bwMode="gray">
          <a:xfrm flipH="1">
            <a:off x="3452680" y="2815474"/>
            <a:ext cx="1935874" cy="591166"/>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35"/>
          <p:cNvCxnSpPr>
            <a:stCxn id="28" idx="2"/>
            <a:endCxn id="9" idx="0"/>
          </p:cNvCxnSpPr>
          <p:nvPr/>
        </p:nvCxnSpPr>
        <p:spPr bwMode="gray">
          <a:xfrm flipH="1">
            <a:off x="4497883" y="2815474"/>
            <a:ext cx="1935874" cy="591166"/>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连接符 35"/>
          <p:cNvCxnSpPr>
            <a:stCxn id="21" idx="0"/>
            <a:endCxn id="27" idx="2"/>
          </p:cNvCxnSpPr>
          <p:nvPr/>
        </p:nvCxnSpPr>
        <p:spPr bwMode="gray">
          <a:xfrm flipH="1" flipV="1">
            <a:off x="5388554" y="2815474"/>
            <a:ext cx="1980220" cy="591166"/>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连接符 35"/>
          <p:cNvCxnSpPr>
            <a:stCxn id="23" idx="0"/>
            <a:endCxn id="28" idx="2"/>
          </p:cNvCxnSpPr>
          <p:nvPr/>
        </p:nvCxnSpPr>
        <p:spPr bwMode="gray">
          <a:xfrm flipH="1" flipV="1">
            <a:off x="6433757" y="2815474"/>
            <a:ext cx="1980220" cy="591166"/>
          </a:xfrm>
          <a:prstGeom prst="line">
            <a:avLst/>
          </a:prstGeom>
          <a:noFill/>
          <a:ln w="38100">
            <a:solidFill>
              <a:srgbClr val="FFD17D"/>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Straight Connector 58"/>
          <p:cNvCxnSpPr>
            <a:stCxn id="29" idx="2"/>
            <a:endCxn id="27" idx="0"/>
          </p:cNvCxnSpPr>
          <p:nvPr/>
        </p:nvCxnSpPr>
        <p:spPr bwMode="gray">
          <a:xfrm flipH="1">
            <a:off x="5388554" y="2148266"/>
            <a:ext cx="544" cy="26635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cxnSp>
        <p:nvCxnSpPr>
          <p:cNvPr id="62" name="Straight Connector 61"/>
          <p:cNvCxnSpPr>
            <a:stCxn id="30" idx="2"/>
            <a:endCxn id="28" idx="0"/>
          </p:cNvCxnSpPr>
          <p:nvPr/>
        </p:nvCxnSpPr>
        <p:spPr bwMode="gray">
          <a:xfrm flipH="1">
            <a:off x="6433757" y="2148266"/>
            <a:ext cx="544" cy="266353"/>
          </a:xfrm>
          <a:prstGeom prst="line">
            <a:avLst/>
          </a:prstGeom>
          <a:solidFill>
            <a:schemeClr val="accent1"/>
          </a:solidFill>
          <a:ln w="28575" cap="flat" cmpd="sng" algn="ctr">
            <a:solidFill>
              <a:schemeClr val="bg1">
                <a:lumMod val="50000"/>
              </a:schemeClr>
            </a:solidFill>
            <a:prstDash val="solid"/>
            <a:round/>
            <a:headEnd type="none" w="med" len="med"/>
            <a:tailEnd type="none" w="med" len="med"/>
          </a:ln>
          <a:effectLst/>
        </p:spPr>
      </p:cxnSp>
      <p:sp>
        <p:nvSpPr>
          <p:cNvPr id="65" name="Rectangle 64"/>
          <p:cNvSpPr/>
          <p:nvPr/>
        </p:nvSpPr>
        <p:spPr bwMode="gray">
          <a:xfrm>
            <a:off x="3386097" y="4706849"/>
            <a:ext cx="1179454"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MSTP/SDH</a:t>
            </a:r>
            <a:endParaRPr lang="zh-CN" altLang="en-US" sz="1200" dirty="0">
              <a:solidFill>
                <a:schemeClr val="tx1"/>
              </a:solidFill>
            </a:endParaRPr>
          </a:p>
        </p:txBody>
      </p:sp>
      <p:sp>
        <p:nvSpPr>
          <p:cNvPr id="67" name="Rectangle 66"/>
          <p:cNvSpPr/>
          <p:nvPr/>
        </p:nvSpPr>
        <p:spPr bwMode="gray">
          <a:xfrm>
            <a:off x="7370118" y="4706849"/>
            <a:ext cx="1179454"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MSTP/SDH</a:t>
            </a:r>
            <a:endParaRPr lang="zh-CN" altLang="en-US" sz="1200" dirty="0">
              <a:solidFill>
                <a:schemeClr val="tx1"/>
              </a:solidFill>
            </a:endParaRPr>
          </a:p>
        </p:txBody>
      </p:sp>
      <p:sp>
        <p:nvSpPr>
          <p:cNvPr id="68" name="Rectangle 67"/>
          <p:cNvSpPr/>
          <p:nvPr/>
        </p:nvSpPr>
        <p:spPr bwMode="gray">
          <a:xfrm>
            <a:off x="4488454" y="2935339"/>
            <a:ext cx="2880320" cy="253438"/>
          </a:xfrm>
          <a:prstGeom prst="rect">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MSTP/SDH</a:t>
            </a:r>
            <a:endParaRPr lang="zh-CN" altLang="en-US" sz="1200" dirty="0">
              <a:solidFill>
                <a:schemeClr val="tx1"/>
              </a:solidFill>
            </a:endParaRPr>
          </a:p>
        </p:txBody>
      </p:sp>
      <p:sp>
        <p:nvSpPr>
          <p:cNvPr id="69" name="圆角矩形 75"/>
          <p:cNvSpPr/>
          <p:nvPr/>
        </p:nvSpPr>
        <p:spPr bwMode="gray">
          <a:xfrm>
            <a:off x="4517199" y="1701051"/>
            <a:ext cx="2813942" cy="1160781"/>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69"/>
          <p:cNvSpPr txBox="1"/>
          <p:nvPr/>
        </p:nvSpPr>
        <p:spPr bwMode="gray">
          <a:xfrm>
            <a:off x="4517199" y="1721129"/>
            <a:ext cx="543739" cy="307777"/>
          </a:xfrm>
          <a:prstGeom prst="rect">
            <a:avLst/>
          </a:prstGeom>
          <a:noFill/>
        </p:spPr>
        <p:txBody>
          <a:bodyPr wrap="none" rtlCol="0">
            <a:spAutoFit/>
          </a:bodyPr>
          <a:lstStyle/>
          <a:p>
            <a:r>
              <a:rPr lang="zh-CN" altLang="en-US" sz="1400" dirty="0">
                <a:latin typeface="方正兰亭黑简体" panose="02000000000000000000" pitchFamily="2" charset="-122"/>
                <a:ea typeface="方正兰亭黑简体" panose="02000000000000000000" pitchFamily="2" charset="-122"/>
              </a:rPr>
              <a:t>总行</a:t>
            </a:r>
          </a:p>
        </p:txBody>
      </p:sp>
      <p:sp>
        <p:nvSpPr>
          <p:cNvPr id="71" name="圆角矩形 75"/>
          <p:cNvSpPr/>
          <p:nvPr/>
        </p:nvSpPr>
        <p:spPr bwMode="gray">
          <a:xfrm>
            <a:off x="2632172" y="3348730"/>
            <a:ext cx="2428766" cy="1160781"/>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TextBox 71"/>
          <p:cNvSpPr txBox="1"/>
          <p:nvPr/>
        </p:nvSpPr>
        <p:spPr bwMode="gray">
          <a:xfrm>
            <a:off x="2632172" y="3368808"/>
            <a:ext cx="543739" cy="307777"/>
          </a:xfrm>
          <a:prstGeom prst="rect">
            <a:avLst/>
          </a:prstGeom>
          <a:noFill/>
        </p:spPr>
        <p:txBody>
          <a:bodyPr wrap="none" rtlCol="0">
            <a:spAutoFit/>
          </a:bodyPr>
          <a:lstStyle/>
          <a:p>
            <a:r>
              <a:rPr lang="zh-CN" altLang="en-US" sz="1400" dirty="0">
                <a:latin typeface="方正兰亭黑简体" panose="02000000000000000000" pitchFamily="2" charset="-122"/>
                <a:ea typeface="方正兰亭黑简体" panose="02000000000000000000" pitchFamily="2" charset="-122"/>
              </a:rPr>
              <a:t>分行</a:t>
            </a:r>
          </a:p>
        </p:txBody>
      </p:sp>
      <p:sp>
        <p:nvSpPr>
          <p:cNvPr id="73" name="圆角矩形 75"/>
          <p:cNvSpPr/>
          <p:nvPr/>
        </p:nvSpPr>
        <p:spPr bwMode="gray">
          <a:xfrm>
            <a:off x="6843084" y="3348730"/>
            <a:ext cx="2428766" cy="1160781"/>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73"/>
          <p:cNvSpPr txBox="1"/>
          <p:nvPr/>
        </p:nvSpPr>
        <p:spPr bwMode="gray">
          <a:xfrm>
            <a:off x="8693527" y="3370432"/>
            <a:ext cx="543739" cy="307777"/>
          </a:xfrm>
          <a:prstGeom prst="rect">
            <a:avLst/>
          </a:prstGeom>
          <a:noFill/>
        </p:spPr>
        <p:txBody>
          <a:bodyPr wrap="none" rtlCol="0">
            <a:spAutoFit/>
          </a:bodyPr>
          <a:lstStyle/>
          <a:p>
            <a:r>
              <a:rPr lang="zh-CN" altLang="en-US" sz="1400" dirty="0">
                <a:latin typeface="方正兰亭黑简体" panose="02000000000000000000" pitchFamily="2" charset="-122"/>
                <a:ea typeface="方正兰亭黑简体" panose="02000000000000000000" pitchFamily="2" charset="-122"/>
              </a:rPr>
              <a:t>分行</a:t>
            </a:r>
          </a:p>
        </p:txBody>
      </p:sp>
      <p:sp>
        <p:nvSpPr>
          <p:cNvPr id="75" name="圆角矩形 75"/>
          <p:cNvSpPr/>
          <p:nvPr/>
        </p:nvSpPr>
        <p:spPr bwMode="gray">
          <a:xfrm>
            <a:off x="3033311" y="5070642"/>
            <a:ext cx="1885027" cy="63961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75"/>
          <p:cNvSpPr txBox="1"/>
          <p:nvPr/>
        </p:nvSpPr>
        <p:spPr bwMode="gray">
          <a:xfrm>
            <a:off x="3033311" y="5076136"/>
            <a:ext cx="543739" cy="307777"/>
          </a:xfrm>
          <a:prstGeom prst="rect">
            <a:avLst/>
          </a:prstGeom>
          <a:noFill/>
        </p:spPr>
        <p:txBody>
          <a:bodyPr wrap="none" rtlCol="0">
            <a:spAutoFit/>
          </a:bodyPr>
          <a:lstStyle/>
          <a:p>
            <a:r>
              <a:rPr lang="zh-CN" altLang="en-US" sz="1400" dirty="0">
                <a:latin typeface="方正兰亭黑简体" panose="02000000000000000000" pitchFamily="2" charset="-122"/>
                <a:ea typeface="方正兰亭黑简体" panose="02000000000000000000" pitchFamily="2" charset="-122"/>
              </a:rPr>
              <a:t>支行</a:t>
            </a:r>
          </a:p>
        </p:txBody>
      </p:sp>
      <p:sp>
        <p:nvSpPr>
          <p:cNvPr id="77" name="圆角矩形 75"/>
          <p:cNvSpPr/>
          <p:nvPr/>
        </p:nvSpPr>
        <p:spPr bwMode="gray">
          <a:xfrm>
            <a:off x="6949405" y="5085409"/>
            <a:ext cx="1885027" cy="639619"/>
          </a:xfrm>
          <a:prstGeom prst="roundRect">
            <a:avLst>
              <a:gd name="adj" fmla="val 874"/>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TextBox 77"/>
          <p:cNvSpPr txBox="1"/>
          <p:nvPr/>
        </p:nvSpPr>
        <p:spPr bwMode="gray">
          <a:xfrm>
            <a:off x="8280125" y="5081023"/>
            <a:ext cx="543739" cy="307777"/>
          </a:xfrm>
          <a:prstGeom prst="rect">
            <a:avLst/>
          </a:prstGeom>
          <a:noFill/>
        </p:spPr>
        <p:txBody>
          <a:bodyPr wrap="none" rtlCol="0">
            <a:spAutoFit/>
          </a:bodyPr>
          <a:lstStyle/>
          <a:p>
            <a:r>
              <a:rPr lang="zh-CN" altLang="en-US" sz="1400" dirty="0">
                <a:latin typeface="方正兰亭黑简体" panose="02000000000000000000" pitchFamily="2" charset="-122"/>
                <a:ea typeface="方正兰亭黑简体" panose="02000000000000000000" pitchFamily="2" charset="-122"/>
              </a:rPr>
              <a:t>支行</a:t>
            </a:r>
          </a:p>
        </p:txBody>
      </p:sp>
    </p:spTree>
    <p:extLst>
      <p:ext uri="{BB962C8B-B14F-4D97-AF65-F5344CB8AC3E}">
        <p14:creationId xmlns:p14="http://schemas.microsoft.com/office/powerpoint/2010/main" val="2678828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3957" name="Rectangle 5"/>
          <p:cNvSpPr>
            <a:spLocks noGrp="1" noChangeArrowheads="1"/>
          </p:cNvSpPr>
          <p:nvPr>
            <p:ph type="title"/>
          </p:nvPr>
        </p:nvSpPr>
        <p:spPr bwMode="gray"/>
        <p:txBody>
          <a:bodyPr/>
          <a:lstStyle/>
          <a:p>
            <a:r>
              <a:rPr lang="en-US" altLang="zh-CN" dirty="0"/>
              <a:t>MPLS</a:t>
            </a:r>
            <a:r>
              <a:rPr lang="zh-CN" altLang="en-US" dirty="0"/>
              <a:t> </a:t>
            </a:r>
            <a:r>
              <a:rPr lang="en-US" altLang="zh-CN" dirty="0"/>
              <a:t>VPN</a:t>
            </a:r>
            <a:r>
              <a:rPr lang="zh-CN" altLang="en-US" dirty="0"/>
              <a:t>专线</a:t>
            </a:r>
          </a:p>
        </p:txBody>
      </p:sp>
      <p:sp>
        <p:nvSpPr>
          <p:cNvPr id="34" name="文本占位符 33"/>
          <p:cNvSpPr>
            <a:spLocks noGrp="1"/>
          </p:cNvSpPr>
          <p:nvPr>
            <p:ph type="body" sz="quarter" idx="10"/>
          </p:nvPr>
        </p:nvSpPr>
        <p:spPr bwMode="gray"/>
        <p:txBody>
          <a:bodyPr/>
          <a:lstStyle/>
          <a:p>
            <a:r>
              <a:rPr lang="en-US" altLang="zh-CN" sz="1800" dirty="0">
                <a:latin typeface="Huawei Sans" panose="020C0503030203020204" pitchFamily="34" charset="0"/>
                <a:ea typeface="方正兰亭黑简体" panose="02000000000000000000" pitchFamily="2" charset="-122"/>
              </a:rPr>
              <a:t>MPLS VPN</a:t>
            </a:r>
            <a:r>
              <a:rPr lang="zh-CN" altLang="en-US" sz="1800" dirty="0">
                <a:latin typeface="Huawei Sans" panose="020C0503030203020204" pitchFamily="34" charset="0"/>
                <a:ea typeface="方正兰亭黑简体" panose="02000000000000000000" pitchFamily="2" charset="-122"/>
              </a:rPr>
              <a:t>技术被广泛地用于企业互联，根据企业需求可以部署</a:t>
            </a:r>
            <a:r>
              <a:rPr lang="en-US" altLang="zh-CN" sz="1800" dirty="0">
                <a:latin typeface="Huawei Sans" panose="020C0503030203020204" pitchFamily="34" charset="0"/>
                <a:ea typeface="方正兰亭黑简体" panose="02000000000000000000" pitchFamily="2" charset="-122"/>
              </a:rPr>
              <a:t>MPLS L2VPN</a:t>
            </a:r>
            <a:r>
              <a:rPr lang="zh-CN" altLang="en-US" sz="1800" dirty="0">
                <a:latin typeface="Huawei Sans" panose="020C0503030203020204" pitchFamily="34" charset="0"/>
                <a:ea typeface="方正兰亭黑简体" panose="02000000000000000000" pitchFamily="2" charset="-122"/>
              </a:rPr>
              <a:t>或者</a:t>
            </a:r>
            <a:r>
              <a:rPr lang="en-US" altLang="zh-CN" sz="1800" dirty="0">
                <a:latin typeface="Huawei Sans" panose="020C0503030203020204" pitchFamily="34" charset="0"/>
                <a:ea typeface="方正兰亭黑简体" panose="02000000000000000000" pitchFamily="2" charset="-122"/>
              </a:rPr>
              <a:t>MPLS L3VPN</a:t>
            </a:r>
            <a:r>
              <a:rPr lang="zh-CN" altLang="en-US" sz="1800" dirty="0">
                <a:latin typeface="Huawei Sans" panose="020C0503030203020204" pitchFamily="34" charset="0"/>
                <a:ea typeface="方正兰亭黑简体" panose="02000000000000000000" pitchFamily="2" charset="-122"/>
              </a:rPr>
              <a:t>，</a:t>
            </a:r>
            <a:r>
              <a:rPr lang="en-US" altLang="zh-CN" sz="1800" dirty="0">
                <a:latin typeface="Huawei Sans" panose="020C0503030203020204" pitchFamily="34" charset="0"/>
                <a:ea typeface="方正兰亭黑简体" panose="02000000000000000000" pitchFamily="2" charset="-122"/>
              </a:rPr>
              <a:t>MPLS VPN</a:t>
            </a:r>
            <a:r>
              <a:rPr lang="zh-CN" altLang="en-US" sz="1800" dirty="0">
                <a:latin typeface="Huawei Sans" panose="020C0503030203020204" pitchFamily="34" charset="0"/>
                <a:ea typeface="方正兰亭黑简体" panose="02000000000000000000" pitchFamily="2" charset="-122"/>
              </a:rPr>
              <a:t>作为价格和性能折中的方案，是一种很受欢迎的专线业务。</a:t>
            </a:r>
            <a:endParaRPr lang="en-US" altLang="zh-CN" sz="1800" dirty="0">
              <a:latin typeface="Huawei Sans" panose="020C0503030203020204" pitchFamily="34" charset="0"/>
              <a:ea typeface="方正兰亭黑简体" panose="02000000000000000000" pitchFamily="2" charset="-122"/>
            </a:endParaRPr>
          </a:p>
          <a:p>
            <a:r>
              <a:rPr lang="zh-CN" altLang="en-US" sz="1800" dirty="0">
                <a:latin typeface="Huawei Sans" panose="020C0503030203020204" pitchFamily="34" charset="0"/>
                <a:ea typeface="方正兰亭黑简体" panose="02000000000000000000" pitchFamily="2" charset="-122"/>
              </a:rPr>
              <a:t>对于能够自建广域网的企业，比如：铁路、电力等，</a:t>
            </a:r>
            <a:r>
              <a:rPr lang="en-US" altLang="zh-CN" sz="1800" dirty="0">
                <a:latin typeface="Huawei Sans" panose="020C0503030203020204" pitchFamily="34" charset="0"/>
                <a:ea typeface="方正兰亭黑简体" panose="02000000000000000000" pitchFamily="2" charset="-122"/>
              </a:rPr>
              <a:t>MPLS VPN</a:t>
            </a:r>
            <a:r>
              <a:rPr lang="zh-CN" altLang="en-US" sz="1800" dirty="0">
                <a:latin typeface="Huawei Sans" panose="020C0503030203020204" pitchFamily="34" charset="0"/>
                <a:ea typeface="方正兰亭黑简体" panose="02000000000000000000" pitchFamily="2" charset="-122"/>
              </a:rPr>
              <a:t>是一种易管理，低成本的</a:t>
            </a:r>
            <a:r>
              <a:rPr lang="en-US" altLang="zh-CN" sz="1800" dirty="0">
                <a:latin typeface="Huawei Sans" panose="020C0503030203020204" pitchFamily="34" charset="0"/>
                <a:ea typeface="方正兰亭黑简体" panose="02000000000000000000" pitchFamily="2" charset="-122"/>
              </a:rPr>
              <a:t>VPN</a:t>
            </a:r>
            <a:r>
              <a:rPr lang="zh-CN" altLang="en-US" sz="1800" dirty="0">
                <a:latin typeface="Huawei Sans" panose="020C0503030203020204" pitchFamily="34" charset="0"/>
                <a:ea typeface="方正兰亭黑简体" panose="02000000000000000000" pitchFamily="2" charset="-122"/>
              </a:rPr>
              <a:t>技术，对于无法自建广域网的企业，</a:t>
            </a:r>
            <a:r>
              <a:rPr lang="en-US" altLang="zh-CN" sz="1800" dirty="0">
                <a:latin typeface="Huawei Sans" panose="020C0503030203020204" pitchFamily="34" charset="0"/>
                <a:ea typeface="方正兰亭黑简体" panose="02000000000000000000" pitchFamily="2" charset="-122"/>
              </a:rPr>
              <a:t>MPLS VPN</a:t>
            </a:r>
            <a:r>
              <a:rPr lang="zh-CN" altLang="en-US" sz="1800" dirty="0">
                <a:latin typeface="Huawei Sans" panose="020C0503030203020204" pitchFamily="34" charset="0"/>
                <a:ea typeface="方正兰亭黑简体" panose="02000000000000000000" pitchFamily="2" charset="-122"/>
              </a:rPr>
              <a:t>价格比较昂贵。</a:t>
            </a:r>
            <a:endParaRPr lang="en-US" altLang="zh-CN" sz="1800" dirty="0">
              <a:latin typeface="Huawei Sans" panose="020C0503030203020204" pitchFamily="34" charset="0"/>
              <a:ea typeface="方正兰亭黑简体" panose="02000000000000000000" pitchFamily="2" charset="-122"/>
            </a:endParaRPr>
          </a:p>
          <a:p>
            <a:r>
              <a:rPr lang="zh-CN" altLang="en-US" sz="1800" dirty="0">
                <a:latin typeface="Huawei Sans" panose="020C0503030203020204" pitchFamily="34" charset="0"/>
                <a:ea typeface="方正兰亭黑简体" panose="02000000000000000000" pitchFamily="2" charset="-122"/>
              </a:rPr>
              <a:t>对于一些有高可靠、高安全需求的企业，可以使用</a:t>
            </a:r>
            <a:r>
              <a:rPr lang="en-US" altLang="zh-CN" sz="1800" dirty="0">
                <a:latin typeface="Huawei Sans" panose="020C0503030203020204" pitchFamily="34" charset="0"/>
                <a:ea typeface="方正兰亭黑简体" panose="02000000000000000000" pitchFamily="2" charset="-122"/>
              </a:rPr>
              <a:t>MPLS VPN</a:t>
            </a:r>
            <a:r>
              <a:rPr lang="zh-CN" altLang="en-US" sz="1800" dirty="0">
                <a:latin typeface="Huawei Sans" panose="020C0503030203020204" pitchFamily="34" charset="0"/>
                <a:ea typeface="方正兰亭黑简体" panose="02000000000000000000" pitchFamily="2" charset="-122"/>
              </a:rPr>
              <a:t>作为主链路，使用</a:t>
            </a:r>
            <a:r>
              <a:rPr lang="en-US" altLang="zh-CN" sz="1800" dirty="0">
                <a:latin typeface="Huawei Sans" panose="020C0503030203020204" pitchFamily="34" charset="0"/>
                <a:ea typeface="方正兰亭黑简体" panose="02000000000000000000" pitchFamily="2" charset="-122"/>
              </a:rPr>
              <a:t>GRE Over IPsec</a:t>
            </a:r>
            <a:r>
              <a:rPr lang="zh-CN" altLang="en-US" sz="1800" dirty="0">
                <a:latin typeface="Huawei Sans" panose="020C0503030203020204" pitchFamily="34" charset="0"/>
                <a:ea typeface="方正兰亭黑简体" panose="02000000000000000000" pitchFamily="2" charset="-122"/>
              </a:rPr>
              <a:t>作为备用链路。</a:t>
            </a:r>
          </a:p>
        </p:txBody>
      </p:sp>
      <p:grpSp>
        <p:nvGrpSpPr>
          <p:cNvPr id="4" name="Group 3">
            <a:extLst>
              <a:ext uri="{FF2B5EF4-FFF2-40B4-BE49-F238E27FC236}">
                <a16:creationId xmlns:a16="http://schemas.microsoft.com/office/drawing/2014/main" id="{2A96EBE0-8574-4D79-938E-8457FA80F177}"/>
              </a:ext>
            </a:extLst>
          </p:cNvPr>
          <p:cNvGrpSpPr/>
          <p:nvPr/>
        </p:nvGrpSpPr>
        <p:grpSpPr bwMode="gray">
          <a:xfrm>
            <a:off x="2150368" y="3886664"/>
            <a:ext cx="7891264" cy="1860568"/>
            <a:chOff x="2150368" y="3886664"/>
            <a:chExt cx="7891264" cy="1860568"/>
          </a:xfrm>
        </p:grpSpPr>
        <p:sp>
          <p:nvSpPr>
            <p:cNvPr id="27" name="Freeform 159">
              <a:extLst>
                <a:ext uri="{FF2B5EF4-FFF2-40B4-BE49-F238E27FC236}">
                  <a16:creationId xmlns:a16="http://schemas.microsoft.com/office/drawing/2014/main" id="{B08B0833-C1B7-43B9-92FB-760034FECDA8}"/>
                </a:ext>
              </a:extLst>
            </p:cNvPr>
            <p:cNvSpPr/>
            <p:nvPr/>
          </p:nvSpPr>
          <p:spPr bwMode="gray">
            <a:xfrm flipH="1">
              <a:off x="5200817" y="4545871"/>
              <a:ext cx="1732935" cy="9058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dirty="0">
                  <a:solidFill>
                    <a:schemeClr val="tx1"/>
                  </a:solidFill>
                  <a:latin typeface="Huawei Sans" panose="020C0503030203020204" pitchFamily="34" charset="0"/>
                  <a:ea typeface="方正兰亭黑简体" panose="02000000000000000000" pitchFamily="2" charset="-122"/>
                </a:rPr>
                <a:t>Backbone</a:t>
              </a:r>
            </a:p>
          </p:txBody>
        </p:sp>
        <p:grpSp>
          <p:nvGrpSpPr>
            <p:cNvPr id="3" name="Group 2">
              <a:extLst>
                <a:ext uri="{FF2B5EF4-FFF2-40B4-BE49-F238E27FC236}">
                  <a16:creationId xmlns:a16="http://schemas.microsoft.com/office/drawing/2014/main" id="{47E55EC1-DF0A-4720-9E89-A9BC7DD82CA2}"/>
                </a:ext>
              </a:extLst>
            </p:cNvPr>
            <p:cNvGrpSpPr/>
            <p:nvPr/>
          </p:nvGrpSpPr>
          <p:grpSpPr bwMode="gray">
            <a:xfrm>
              <a:off x="2150368" y="3886664"/>
              <a:ext cx="7891264" cy="1860568"/>
              <a:chOff x="2150368" y="4052920"/>
              <a:chExt cx="7891264" cy="1860568"/>
            </a:xfrm>
          </p:grpSpPr>
          <p:sp>
            <p:nvSpPr>
              <p:cNvPr id="2" name="Freeform 1"/>
              <p:cNvSpPr/>
              <p:nvPr/>
            </p:nvSpPr>
            <p:spPr bwMode="gray">
              <a:xfrm>
                <a:off x="3736645" y="4384932"/>
                <a:ext cx="4709618" cy="787992"/>
              </a:xfrm>
              <a:custGeom>
                <a:avLst/>
                <a:gdLst>
                  <a:gd name="connsiteX0" fmla="*/ 0 w 4572000"/>
                  <a:gd name="connsiteY0" fmla="*/ 745438 h 787992"/>
                  <a:gd name="connsiteX1" fmla="*/ 1143000 w 4572000"/>
                  <a:gd name="connsiteY1" fmla="*/ 705681 h 787992"/>
                  <a:gd name="connsiteX2" fmla="*/ 2226365 w 4572000"/>
                  <a:gd name="connsiteY2" fmla="*/ 3 h 787992"/>
                  <a:gd name="connsiteX3" fmla="*/ 3180521 w 4572000"/>
                  <a:gd name="connsiteY3" fmla="*/ 695742 h 787992"/>
                  <a:gd name="connsiteX4" fmla="*/ 4572000 w 4572000"/>
                  <a:gd name="connsiteY4" fmla="*/ 765316 h 78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787992">
                    <a:moveTo>
                      <a:pt x="0" y="745438"/>
                    </a:moveTo>
                    <a:cubicBezTo>
                      <a:pt x="385969" y="787679"/>
                      <a:pt x="771939" y="829920"/>
                      <a:pt x="1143000" y="705681"/>
                    </a:cubicBezTo>
                    <a:cubicBezTo>
                      <a:pt x="1514061" y="581442"/>
                      <a:pt x="1886778" y="1659"/>
                      <a:pt x="2226365" y="3"/>
                    </a:cubicBezTo>
                    <a:cubicBezTo>
                      <a:pt x="2565952" y="-1653"/>
                      <a:pt x="2789582" y="568190"/>
                      <a:pt x="3180521" y="695742"/>
                    </a:cubicBezTo>
                    <a:cubicBezTo>
                      <a:pt x="3571460" y="823294"/>
                      <a:pt x="4572000" y="765316"/>
                      <a:pt x="4572000" y="765316"/>
                    </a:cubicBezTo>
                  </a:path>
                </a:pathLst>
              </a:custGeom>
              <a:noFill/>
              <a:ln w="28575">
                <a:solidFill>
                  <a:srgbClr val="E28189"/>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Group 11"/>
              <p:cNvGrpSpPr/>
              <p:nvPr/>
            </p:nvGrpSpPr>
            <p:grpSpPr bwMode="gray">
              <a:xfrm>
                <a:off x="2150368" y="4052920"/>
                <a:ext cx="7891264" cy="1860568"/>
                <a:chOff x="1981089" y="3745394"/>
                <a:chExt cx="7891264" cy="1860568"/>
              </a:xfrm>
            </p:grpSpPr>
            <p:sp>
              <p:nvSpPr>
                <p:cNvPr id="38" name="Freeform 159"/>
                <p:cNvSpPr/>
                <p:nvPr/>
              </p:nvSpPr>
              <p:spPr bwMode="gray">
                <a:xfrm flipH="1">
                  <a:off x="1981089" y="4420264"/>
                  <a:ext cx="1446417" cy="756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分公司</a:t>
                  </a:r>
                  <a:endParaRPr lang="en-US" sz="1600" dirty="0">
                    <a:solidFill>
                      <a:schemeClr val="tx1"/>
                    </a:solidFill>
                  </a:endParaRPr>
                </a:p>
              </p:txBody>
            </p:sp>
            <p:pic>
              <p:nvPicPr>
                <p:cNvPr id="39" name="图片 42" descr="大型网管-蓝.png"/>
                <p:cNvPicPr>
                  <a:picLocks noChangeAspect="1"/>
                </p:cNvPicPr>
                <p:nvPr/>
              </p:nvPicPr>
              <p:blipFill>
                <a:blip r:embed="rId3" cstate="print"/>
                <a:stretch>
                  <a:fillRect/>
                </a:stretch>
              </p:blipFill>
              <p:spPr bwMode="gray">
                <a:xfrm>
                  <a:off x="2164690" y="4199355"/>
                  <a:ext cx="539607" cy="441817"/>
                </a:xfrm>
                <a:prstGeom prst="rect">
                  <a:avLst/>
                </a:prstGeom>
              </p:spPr>
            </p:pic>
            <p:pic>
              <p:nvPicPr>
                <p:cNvPr id="40" name="Picture 12" descr="E:\2016.01\1.12 扁平化图标\蓝色\AR-蓝色最新-40.png"/>
                <p:cNvPicPr>
                  <a:picLocks noChangeAspect="1" noChangeArrowheads="1"/>
                </p:cNvPicPr>
                <p:nvPr/>
              </p:nvPicPr>
              <p:blipFill>
                <a:blip r:embed="rId4" cstate="print"/>
                <a:srcRect/>
                <a:stretch>
                  <a:fillRect/>
                </a:stretch>
              </p:blipFill>
              <p:spPr bwMode="gray">
                <a:xfrm>
                  <a:off x="3019430" y="4728213"/>
                  <a:ext cx="540000" cy="441818"/>
                </a:xfrm>
                <a:prstGeom prst="rect">
                  <a:avLst/>
                </a:prstGeom>
                <a:noFill/>
              </p:spPr>
            </p:pic>
            <p:pic>
              <p:nvPicPr>
                <p:cNvPr id="43"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4819819" y="4709760"/>
                  <a:ext cx="554978" cy="455082"/>
                </a:xfrm>
                <a:prstGeom prst="rect">
                  <a:avLst/>
                </a:prstGeom>
              </p:spPr>
            </p:pic>
            <p:pic>
              <p:nvPicPr>
                <p:cNvPr id="44"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5637331" y="4185084"/>
                  <a:ext cx="554978" cy="455082"/>
                </a:xfrm>
                <a:prstGeom prst="rect">
                  <a:avLst/>
                </a:prstGeom>
              </p:spPr>
            </p:pic>
            <p:pic>
              <p:nvPicPr>
                <p:cNvPr id="45" name="图片 4"/>
                <p:cNvPicPr>
                  <a:picLocks/>
                </p:cNvPicPr>
                <p:nvPr/>
              </p:nvPicPr>
              <p:blipFill>
                <a:blip r:embed="rId5" cstate="print">
                  <a:duotone>
                    <a:prstClr val="black"/>
                    <a:srgbClr val="F5AC3C">
                      <a:tint val="45000"/>
                      <a:satMod val="400000"/>
                    </a:srgbClr>
                  </a:duotone>
                  <a:extLst>
                    <a:ext uri="{28A0092B-C50C-407E-A947-70E740481C1C}">
                      <a14:useLocalDpi xmlns:a14="http://schemas.microsoft.com/office/drawing/2010/main" val="0"/>
                    </a:ext>
                  </a:extLst>
                </a:blip>
                <a:stretch>
                  <a:fillRect/>
                </a:stretch>
              </p:blipFill>
              <p:spPr bwMode="gray">
                <a:xfrm>
                  <a:off x="6454215" y="4709760"/>
                  <a:ext cx="554978" cy="455082"/>
                </a:xfrm>
                <a:prstGeom prst="rect">
                  <a:avLst/>
                </a:prstGeom>
              </p:spPr>
            </p:pic>
            <p:cxnSp>
              <p:nvCxnSpPr>
                <p:cNvPr id="46" name="Straight Connector 45"/>
                <p:cNvCxnSpPr>
                  <a:stCxn id="40" idx="3"/>
                  <a:endCxn id="43" idx="1"/>
                </p:cNvCxnSpPr>
                <p:nvPr/>
              </p:nvCxnSpPr>
              <p:spPr bwMode="gray">
                <a:xfrm flipV="1">
                  <a:off x="3559430" y="4937301"/>
                  <a:ext cx="1260389" cy="1182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53" name="TextBox 52"/>
                <p:cNvSpPr txBox="1"/>
                <p:nvPr/>
              </p:nvSpPr>
              <p:spPr bwMode="gray">
                <a:xfrm>
                  <a:off x="4342431" y="3836272"/>
                  <a:ext cx="954776"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MPLS VPN</a:t>
                  </a:r>
                  <a:endParaRPr lang="zh-CN" altLang="en-US" sz="1200" dirty="0">
                    <a:latin typeface="+mj-lt"/>
                    <a:ea typeface="+mn-ea"/>
                  </a:endParaRPr>
                </a:p>
              </p:txBody>
            </p:sp>
            <p:sp>
              <p:nvSpPr>
                <p:cNvPr id="54" name="TextBox 53"/>
                <p:cNvSpPr txBox="1"/>
                <p:nvPr/>
              </p:nvSpPr>
              <p:spPr bwMode="gray">
                <a:xfrm>
                  <a:off x="4853294" y="4471536"/>
                  <a:ext cx="38250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PE</a:t>
                  </a:r>
                  <a:endParaRPr lang="zh-CN" altLang="en-US" sz="1200" dirty="0">
                    <a:latin typeface="+mj-lt"/>
                    <a:ea typeface="+mn-ea"/>
                  </a:endParaRPr>
                </a:p>
              </p:txBody>
            </p:sp>
            <p:sp>
              <p:nvSpPr>
                <p:cNvPr id="55" name="TextBox 54"/>
                <p:cNvSpPr txBox="1"/>
                <p:nvPr/>
              </p:nvSpPr>
              <p:spPr bwMode="gray">
                <a:xfrm>
                  <a:off x="6560750" y="4483699"/>
                  <a:ext cx="38250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PE</a:t>
                  </a:r>
                  <a:endParaRPr lang="zh-CN" altLang="en-US" sz="1200" dirty="0">
                    <a:latin typeface="+mj-lt"/>
                    <a:ea typeface="+mn-ea"/>
                  </a:endParaRPr>
                </a:p>
              </p:txBody>
            </p:sp>
            <p:sp>
              <p:nvSpPr>
                <p:cNvPr id="56" name="TextBox 55"/>
                <p:cNvSpPr txBox="1"/>
                <p:nvPr/>
              </p:nvSpPr>
              <p:spPr bwMode="gray">
                <a:xfrm>
                  <a:off x="5774864" y="3923457"/>
                  <a:ext cx="27991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a:t>
                  </a:r>
                  <a:endParaRPr lang="zh-CN" altLang="en-US" sz="1200" dirty="0">
                    <a:latin typeface="+mj-lt"/>
                    <a:ea typeface="+mn-ea"/>
                  </a:endParaRPr>
                </a:p>
              </p:txBody>
            </p:sp>
            <p:sp>
              <p:nvSpPr>
                <p:cNvPr id="57" name="TextBox 56"/>
                <p:cNvSpPr txBox="1"/>
                <p:nvPr/>
              </p:nvSpPr>
              <p:spPr bwMode="gray">
                <a:xfrm>
                  <a:off x="3493624" y="4960998"/>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CE</a:t>
                  </a:r>
                  <a:endParaRPr lang="zh-CN" altLang="en-US" sz="1200" dirty="0">
                    <a:latin typeface="+mj-lt"/>
                    <a:ea typeface="+mn-ea"/>
                  </a:endParaRPr>
                </a:p>
              </p:txBody>
            </p:sp>
            <p:sp>
              <p:nvSpPr>
                <p:cNvPr id="58" name="Freeform 159"/>
                <p:cNvSpPr/>
                <p:nvPr/>
              </p:nvSpPr>
              <p:spPr bwMode="gray">
                <a:xfrm flipH="1">
                  <a:off x="8425936" y="4443129"/>
                  <a:ext cx="1446417" cy="7560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总公司</a:t>
                  </a:r>
                  <a:endParaRPr lang="en-US" sz="1600" dirty="0">
                    <a:solidFill>
                      <a:schemeClr val="tx1"/>
                    </a:solidFill>
                  </a:endParaRPr>
                </a:p>
              </p:txBody>
            </p:sp>
            <p:pic>
              <p:nvPicPr>
                <p:cNvPr id="59" name="图片 42" descr="大型网管-蓝.png"/>
                <p:cNvPicPr>
                  <a:picLocks noChangeAspect="1"/>
                </p:cNvPicPr>
                <p:nvPr/>
              </p:nvPicPr>
              <p:blipFill>
                <a:blip r:embed="rId3" cstate="print"/>
                <a:stretch>
                  <a:fillRect/>
                </a:stretch>
              </p:blipFill>
              <p:spPr bwMode="gray">
                <a:xfrm>
                  <a:off x="9089815" y="4233861"/>
                  <a:ext cx="539607" cy="441817"/>
                </a:xfrm>
                <a:prstGeom prst="rect">
                  <a:avLst/>
                </a:prstGeom>
              </p:spPr>
            </p:pic>
            <p:pic>
              <p:nvPicPr>
                <p:cNvPr id="60" name="Picture 12" descr="E:\2016.01\1.12 扁平化图标\蓝色\AR-蓝色最新-40.png"/>
                <p:cNvPicPr>
                  <a:picLocks noChangeAspect="1" noChangeArrowheads="1"/>
                </p:cNvPicPr>
                <p:nvPr/>
              </p:nvPicPr>
              <p:blipFill>
                <a:blip r:embed="rId4" cstate="print"/>
                <a:srcRect/>
                <a:stretch>
                  <a:fillRect/>
                </a:stretch>
              </p:blipFill>
              <p:spPr bwMode="gray">
                <a:xfrm>
                  <a:off x="8244031" y="4723024"/>
                  <a:ext cx="540000" cy="441818"/>
                </a:xfrm>
                <a:prstGeom prst="rect">
                  <a:avLst/>
                </a:prstGeom>
                <a:noFill/>
              </p:spPr>
            </p:pic>
            <p:sp>
              <p:nvSpPr>
                <p:cNvPr id="61" name="TextBox 60"/>
                <p:cNvSpPr txBox="1"/>
                <p:nvPr/>
              </p:nvSpPr>
              <p:spPr bwMode="gray">
                <a:xfrm>
                  <a:off x="7930254" y="4956240"/>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CE</a:t>
                  </a:r>
                  <a:endParaRPr lang="zh-CN" altLang="en-US" sz="1200" dirty="0">
                    <a:latin typeface="+mj-lt"/>
                    <a:ea typeface="+mn-ea"/>
                  </a:endParaRPr>
                </a:p>
              </p:txBody>
            </p:sp>
            <p:cxnSp>
              <p:nvCxnSpPr>
                <p:cNvPr id="62" name="Straight Connector 61"/>
                <p:cNvCxnSpPr>
                  <a:stCxn id="45" idx="3"/>
                  <a:endCxn id="60" idx="1"/>
                </p:cNvCxnSpPr>
                <p:nvPr/>
              </p:nvCxnSpPr>
              <p:spPr bwMode="gray">
                <a:xfrm>
                  <a:off x="7009193" y="4937301"/>
                  <a:ext cx="1234838" cy="6632"/>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1" name="Rectangle 10"/>
                <p:cNvSpPr/>
                <p:nvPr/>
              </p:nvSpPr>
              <p:spPr bwMode="gray">
                <a:xfrm>
                  <a:off x="4259796" y="3745394"/>
                  <a:ext cx="3204356" cy="1860568"/>
                </a:xfrm>
                <a:prstGeom prst="rect">
                  <a:avLst/>
                </a:prstGeom>
                <a:ln w="19050">
                  <a:solidFill>
                    <a:srgbClr val="56C4D2"/>
                  </a:solidFill>
                  <a:prstDash val="dash"/>
                </a:ln>
              </p:spPr>
              <p:txBody>
                <a:bodyPr wrap="non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grpSp>
        </p:grpSp>
      </p:grpSp>
    </p:spTree>
    <p:extLst>
      <p:ext uri="{BB962C8B-B14F-4D97-AF65-F5344CB8AC3E}">
        <p14:creationId xmlns:p14="http://schemas.microsoft.com/office/powerpoint/2010/main" val="115331040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MPLS VPN</a:t>
            </a:r>
            <a:r>
              <a:rPr lang="zh-CN" altLang="en-US" dirty="0"/>
              <a:t>专线应用场景</a:t>
            </a:r>
          </a:p>
        </p:txBody>
      </p:sp>
      <p:sp>
        <p:nvSpPr>
          <p:cNvPr id="4" name="圆角矩形 75"/>
          <p:cNvSpPr/>
          <p:nvPr/>
        </p:nvSpPr>
        <p:spPr bwMode="gray">
          <a:xfrm>
            <a:off x="511257" y="1146551"/>
            <a:ext cx="11129359" cy="39402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MPLS VPN</a:t>
            </a:r>
            <a:r>
              <a:rPr lang="zh-CN" altLang="en-US" sz="1600" dirty="0">
                <a:solidFill>
                  <a:srgbClr val="30B5C5"/>
                </a:solidFill>
                <a:latin typeface="Huawei Sans" panose="020C0503030203020204" pitchFamily="34" charset="0"/>
                <a:ea typeface="方正兰亭黑简体" panose="02000000000000000000" pitchFamily="2" charset="-122"/>
              </a:rPr>
              <a:t>专线应用场景</a:t>
            </a:r>
          </a:p>
        </p:txBody>
      </p:sp>
      <p:sp>
        <p:nvSpPr>
          <p:cNvPr id="5" name="圆角矩形 75"/>
          <p:cNvSpPr/>
          <p:nvPr/>
        </p:nvSpPr>
        <p:spPr bwMode="gray">
          <a:xfrm>
            <a:off x="511257" y="1599108"/>
            <a:ext cx="11129359" cy="449273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rPr>
              <a:t>现网应用</a:t>
            </a:r>
            <a:r>
              <a:rPr lang="en-US" altLang="zh-CN" sz="1600" dirty="0">
                <a:solidFill>
                  <a:prstClr val="black"/>
                </a:solidFill>
              </a:rPr>
              <a:t>MPLS L3VPN</a:t>
            </a:r>
            <a:r>
              <a:rPr lang="zh-CN" altLang="en-US" sz="1600" dirty="0">
                <a:solidFill>
                  <a:prstClr val="black"/>
                </a:solidFill>
              </a:rPr>
              <a:t>方案比较多，大型网络可能会涉及跨域</a:t>
            </a:r>
            <a:r>
              <a:rPr lang="en-US" altLang="zh-CN" sz="1600" dirty="0">
                <a:solidFill>
                  <a:prstClr val="black"/>
                </a:solidFill>
              </a:rPr>
              <a:t>MPLS L3VPN</a:t>
            </a:r>
            <a:r>
              <a:rPr lang="zh-CN" altLang="en-US" sz="1600" dirty="0">
                <a:solidFill>
                  <a:prstClr val="black"/>
                </a:solidFill>
              </a:rPr>
              <a:t>。</a:t>
            </a:r>
            <a:endParaRPr lang="en-US" altLang="zh-CN" sz="1600" dirty="0">
              <a:solidFill>
                <a:prstClr val="black"/>
              </a:solidFill>
            </a:endParaRPr>
          </a:p>
        </p:txBody>
      </p:sp>
      <p:grpSp>
        <p:nvGrpSpPr>
          <p:cNvPr id="153" name="Group 152"/>
          <p:cNvGrpSpPr/>
          <p:nvPr/>
        </p:nvGrpSpPr>
        <p:grpSpPr bwMode="gray">
          <a:xfrm>
            <a:off x="514973" y="1880726"/>
            <a:ext cx="11251570" cy="3851072"/>
            <a:chOff x="522276" y="1910069"/>
            <a:chExt cx="11251570" cy="3851072"/>
          </a:xfrm>
        </p:grpSpPr>
        <p:sp>
          <p:nvSpPr>
            <p:cNvPr id="12" name="Freeform 159"/>
            <p:cNvSpPr/>
            <p:nvPr/>
          </p:nvSpPr>
          <p:spPr bwMode="gray">
            <a:xfrm flipH="1">
              <a:off x="8255483" y="2631176"/>
              <a:ext cx="2798411" cy="166645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59"/>
            <p:cNvSpPr/>
            <p:nvPr/>
          </p:nvSpPr>
          <p:spPr bwMode="gray">
            <a:xfrm flipH="1">
              <a:off x="1083648" y="2631176"/>
              <a:ext cx="2789435" cy="166645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59"/>
            <p:cNvSpPr/>
            <p:nvPr/>
          </p:nvSpPr>
          <p:spPr bwMode="gray">
            <a:xfrm flipH="1">
              <a:off x="3961022" y="2279773"/>
              <a:ext cx="4206523" cy="21988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5"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83649" y="3354069"/>
              <a:ext cx="488847" cy="400855"/>
            </a:xfrm>
            <a:prstGeom prst="rect">
              <a:avLst/>
            </a:prstGeom>
          </p:spPr>
        </p:pic>
        <p:pic>
          <p:nvPicPr>
            <p:cNvPr id="16" name="图片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40861" y="3713984"/>
              <a:ext cx="396136" cy="520504"/>
            </a:xfrm>
            <a:prstGeom prst="rect">
              <a:avLst/>
            </a:prstGeom>
          </p:spPr>
        </p:pic>
        <p:pic>
          <p:nvPicPr>
            <p:cNvPr id="17"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641543" y="3379209"/>
              <a:ext cx="488847" cy="400855"/>
            </a:xfrm>
            <a:prstGeom prst="rect">
              <a:avLst/>
            </a:prstGeom>
          </p:spPr>
        </p:pic>
        <p:pic>
          <p:nvPicPr>
            <p:cNvPr id="18" name="图片 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0262473" y="3732072"/>
              <a:ext cx="396136" cy="520504"/>
            </a:xfrm>
            <a:prstGeom prst="rect">
              <a:avLst/>
            </a:prstGeom>
          </p:spPr>
        </p:pic>
        <p:pic>
          <p:nvPicPr>
            <p:cNvPr id="19"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574914" y="2917808"/>
              <a:ext cx="488847" cy="400855"/>
            </a:xfrm>
            <a:prstGeom prst="rect">
              <a:avLst/>
            </a:prstGeom>
          </p:spPr>
        </p:pic>
        <p:pic>
          <p:nvPicPr>
            <p:cNvPr id="20" name="图片 6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318205" y="2953215"/>
              <a:ext cx="488847" cy="400855"/>
            </a:xfrm>
            <a:prstGeom prst="rect">
              <a:avLst/>
            </a:prstGeom>
          </p:spPr>
        </p:pic>
        <p:pic>
          <p:nvPicPr>
            <p:cNvPr id="21"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334189" y="2869662"/>
              <a:ext cx="488847" cy="400855"/>
            </a:xfrm>
            <a:prstGeom prst="rect">
              <a:avLst/>
            </a:prstGeom>
          </p:spPr>
        </p:pic>
        <p:pic>
          <p:nvPicPr>
            <p:cNvPr id="22"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334189" y="3863563"/>
              <a:ext cx="488847" cy="400855"/>
            </a:xfrm>
            <a:prstGeom prst="rect">
              <a:avLst/>
            </a:prstGeom>
          </p:spPr>
        </p:pic>
        <p:pic>
          <p:nvPicPr>
            <p:cNvPr id="23"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110146" y="2869662"/>
              <a:ext cx="488847" cy="400855"/>
            </a:xfrm>
            <a:prstGeom prst="rect">
              <a:avLst/>
            </a:prstGeom>
          </p:spPr>
        </p:pic>
        <p:pic>
          <p:nvPicPr>
            <p:cNvPr id="2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110146" y="3863563"/>
              <a:ext cx="488847" cy="400855"/>
            </a:xfrm>
            <a:prstGeom prst="rect">
              <a:avLst/>
            </a:prstGeom>
          </p:spPr>
        </p:pic>
        <p:pic>
          <p:nvPicPr>
            <p:cNvPr id="25"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705146" y="2869662"/>
              <a:ext cx="488847" cy="400855"/>
            </a:xfrm>
            <a:prstGeom prst="rect">
              <a:avLst/>
            </a:prstGeom>
          </p:spPr>
        </p:pic>
        <p:pic>
          <p:nvPicPr>
            <p:cNvPr id="2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705146" y="3863563"/>
              <a:ext cx="488847" cy="400855"/>
            </a:xfrm>
            <a:prstGeom prst="rect">
              <a:avLst/>
            </a:prstGeom>
          </p:spPr>
        </p:pic>
        <p:pic>
          <p:nvPicPr>
            <p:cNvPr id="27"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481102" y="2869662"/>
              <a:ext cx="488847" cy="400855"/>
            </a:xfrm>
            <a:prstGeom prst="rect">
              <a:avLst/>
            </a:prstGeom>
          </p:spPr>
        </p:pic>
        <p:pic>
          <p:nvPicPr>
            <p:cNvPr id="28"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481102" y="3863563"/>
              <a:ext cx="488847" cy="400855"/>
            </a:xfrm>
            <a:prstGeom prst="rect">
              <a:avLst/>
            </a:prstGeom>
          </p:spPr>
        </p:pic>
        <p:cxnSp>
          <p:nvCxnSpPr>
            <p:cNvPr id="29" name="Straight Connector 28"/>
            <p:cNvCxnSpPr>
              <a:stCxn id="21" idx="3"/>
              <a:endCxn id="23" idx="1"/>
            </p:cNvCxnSpPr>
            <p:nvPr/>
          </p:nvCxnSpPr>
          <p:spPr bwMode="gray">
            <a:xfrm>
              <a:off x="2823037" y="3070090"/>
              <a:ext cx="287109"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0" name="Straight Connector 29"/>
            <p:cNvCxnSpPr>
              <a:stCxn id="22" idx="0"/>
              <a:endCxn id="21" idx="2"/>
            </p:cNvCxnSpPr>
            <p:nvPr/>
          </p:nvCxnSpPr>
          <p:spPr bwMode="gray">
            <a:xfrm flipV="1">
              <a:off x="2578613" y="3270517"/>
              <a:ext cx="0"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1" name="Straight Connector 30"/>
            <p:cNvCxnSpPr>
              <a:stCxn id="24" idx="0"/>
              <a:endCxn id="23" idx="2"/>
            </p:cNvCxnSpPr>
            <p:nvPr/>
          </p:nvCxnSpPr>
          <p:spPr bwMode="gray">
            <a:xfrm flipV="1">
              <a:off x="3354570" y="3270517"/>
              <a:ext cx="0"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2" name="Straight Connector 31"/>
            <p:cNvCxnSpPr>
              <a:stCxn id="24" idx="1"/>
              <a:endCxn id="22" idx="3"/>
            </p:cNvCxnSpPr>
            <p:nvPr/>
          </p:nvCxnSpPr>
          <p:spPr bwMode="gray">
            <a:xfrm flipH="1">
              <a:off x="2823037" y="4063990"/>
              <a:ext cx="287109"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3" name="Straight Connector 32"/>
            <p:cNvCxnSpPr>
              <a:stCxn id="23" idx="2"/>
              <a:endCxn id="22" idx="0"/>
            </p:cNvCxnSpPr>
            <p:nvPr/>
          </p:nvCxnSpPr>
          <p:spPr bwMode="gray">
            <a:xfrm flipH="1">
              <a:off x="2578613" y="3270517"/>
              <a:ext cx="775957"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4" name="Straight Connector 33"/>
            <p:cNvCxnSpPr>
              <a:stCxn id="24" idx="0"/>
              <a:endCxn id="21" idx="2"/>
            </p:cNvCxnSpPr>
            <p:nvPr/>
          </p:nvCxnSpPr>
          <p:spPr bwMode="gray">
            <a:xfrm flipH="1" flipV="1">
              <a:off x="2578613" y="3270517"/>
              <a:ext cx="775957"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5" name="Straight Connector 34"/>
            <p:cNvCxnSpPr>
              <a:stCxn id="25" idx="3"/>
              <a:endCxn id="27" idx="1"/>
            </p:cNvCxnSpPr>
            <p:nvPr/>
          </p:nvCxnSpPr>
          <p:spPr bwMode="gray">
            <a:xfrm>
              <a:off x="9193993" y="3070090"/>
              <a:ext cx="287109"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6" name="Straight Connector 35"/>
            <p:cNvCxnSpPr>
              <a:stCxn id="26" idx="3"/>
              <a:endCxn id="28" idx="1"/>
            </p:cNvCxnSpPr>
            <p:nvPr/>
          </p:nvCxnSpPr>
          <p:spPr bwMode="gray">
            <a:xfrm>
              <a:off x="9193993" y="4063990"/>
              <a:ext cx="287109"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7" name="Straight Connector 36"/>
            <p:cNvCxnSpPr>
              <a:stCxn id="25" idx="2"/>
              <a:endCxn id="26" idx="0"/>
            </p:cNvCxnSpPr>
            <p:nvPr/>
          </p:nvCxnSpPr>
          <p:spPr bwMode="gray">
            <a:xfrm>
              <a:off x="8949569" y="3270517"/>
              <a:ext cx="0"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8" name="Straight Connector 37"/>
            <p:cNvCxnSpPr>
              <a:stCxn id="27" idx="2"/>
              <a:endCxn id="28" idx="0"/>
            </p:cNvCxnSpPr>
            <p:nvPr/>
          </p:nvCxnSpPr>
          <p:spPr bwMode="gray">
            <a:xfrm>
              <a:off x="9725526" y="3270517"/>
              <a:ext cx="0"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39" name="Straight Connector 38"/>
            <p:cNvCxnSpPr>
              <a:stCxn id="27" idx="2"/>
              <a:endCxn id="26" idx="0"/>
            </p:cNvCxnSpPr>
            <p:nvPr/>
          </p:nvCxnSpPr>
          <p:spPr bwMode="gray">
            <a:xfrm flipH="1">
              <a:off x="8949569" y="3270517"/>
              <a:ext cx="775957"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40" name="Straight Connector 39"/>
            <p:cNvCxnSpPr>
              <a:stCxn id="25" idx="2"/>
              <a:endCxn id="28" idx="0"/>
            </p:cNvCxnSpPr>
            <p:nvPr/>
          </p:nvCxnSpPr>
          <p:spPr bwMode="gray">
            <a:xfrm>
              <a:off x="8949569" y="3270517"/>
              <a:ext cx="775957" cy="59304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pic>
          <p:nvPicPr>
            <p:cNvPr id="41"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767053" y="2878995"/>
              <a:ext cx="488847" cy="400855"/>
            </a:xfrm>
            <a:prstGeom prst="rect">
              <a:avLst/>
            </a:prstGeom>
          </p:spPr>
        </p:pic>
        <p:pic>
          <p:nvPicPr>
            <p:cNvPr id="42"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949040" y="2875118"/>
              <a:ext cx="488847" cy="400855"/>
            </a:xfrm>
            <a:prstGeom prst="rect">
              <a:avLst/>
            </a:prstGeom>
          </p:spPr>
        </p:pic>
        <p:pic>
          <p:nvPicPr>
            <p:cNvPr id="43"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131027" y="2875118"/>
              <a:ext cx="488847" cy="400855"/>
            </a:xfrm>
            <a:prstGeom prst="rect">
              <a:avLst/>
            </a:prstGeom>
          </p:spPr>
        </p:pic>
        <p:pic>
          <p:nvPicPr>
            <p:cNvPr id="4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761880" y="3867440"/>
              <a:ext cx="488847" cy="400855"/>
            </a:xfrm>
            <a:prstGeom prst="rect">
              <a:avLst/>
            </a:prstGeom>
          </p:spPr>
        </p:pic>
        <p:pic>
          <p:nvPicPr>
            <p:cNvPr id="45"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946453" y="3863563"/>
              <a:ext cx="488847" cy="400855"/>
            </a:xfrm>
            <a:prstGeom prst="rect">
              <a:avLst/>
            </a:prstGeom>
          </p:spPr>
        </p:pic>
        <p:pic>
          <p:nvPicPr>
            <p:cNvPr id="4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125853" y="3863563"/>
              <a:ext cx="488847" cy="400855"/>
            </a:xfrm>
            <a:prstGeom prst="rect">
              <a:avLst/>
            </a:prstGeom>
          </p:spPr>
        </p:pic>
        <p:cxnSp>
          <p:nvCxnSpPr>
            <p:cNvPr id="47" name="Straight Connector 46"/>
            <p:cNvCxnSpPr>
              <a:stCxn id="41" idx="1"/>
              <a:endCxn id="23" idx="3"/>
            </p:cNvCxnSpPr>
            <p:nvPr/>
          </p:nvCxnSpPr>
          <p:spPr bwMode="gray">
            <a:xfrm flipH="1" flipV="1">
              <a:off x="3598993" y="3070090"/>
              <a:ext cx="1168060" cy="9332"/>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48" name="Straight Connector 47"/>
            <p:cNvCxnSpPr>
              <a:stCxn id="44" idx="1"/>
              <a:endCxn id="24" idx="3"/>
            </p:cNvCxnSpPr>
            <p:nvPr/>
          </p:nvCxnSpPr>
          <p:spPr bwMode="gray">
            <a:xfrm flipH="1" flipV="1">
              <a:off x="3598993" y="4063990"/>
              <a:ext cx="1162886" cy="3877"/>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49" name="Straight Connector 48"/>
            <p:cNvCxnSpPr>
              <a:stCxn id="42" idx="1"/>
              <a:endCxn id="41" idx="3"/>
            </p:cNvCxnSpPr>
            <p:nvPr/>
          </p:nvCxnSpPr>
          <p:spPr bwMode="gray">
            <a:xfrm flipH="1">
              <a:off x="5255901" y="3075545"/>
              <a:ext cx="693139" cy="3877"/>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0" name="Straight Connector 49"/>
            <p:cNvCxnSpPr>
              <a:stCxn id="43" idx="1"/>
              <a:endCxn id="42" idx="3"/>
            </p:cNvCxnSpPr>
            <p:nvPr/>
          </p:nvCxnSpPr>
          <p:spPr bwMode="gray">
            <a:xfrm flipH="1">
              <a:off x="6437888" y="3075545"/>
              <a:ext cx="693139"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1" name="Straight Connector 50"/>
            <p:cNvCxnSpPr>
              <a:stCxn id="46" idx="1"/>
              <a:endCxn id="45" idx="3"/>
            </p:cNvCxnSpPr>
            <p:nvPr/>
          </p:nvCxnSpPr>
          <p:spPr bwMode="gray">
            <a:xfrm flipH="1">
              <a:off x="6435300" y="4063991"/>
              <a:ext cx="690553"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2" name="Straight Connector 51"/>
            <p:cNvCxnSpPr>
              <a:stCxn id="45" idx="1"/>
              <a:endCxn id="44" idx="3"/>
            </p:cNvCxnSpPr>
            <p:nvPr/>
          </p:nvCxnSpPr>
          <p:spPr bwMode="gray">
            <a:xfrm flipH="1">
              <a:off x="5250727" y="4063991"/>
              <a:ext cx="695726" cy="3877"/>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3" name="Straight Connector 52"/>
            <p:cNvCxnSpPr>
              <a:stCxn id="44" idx="0"/>
              <a:endCxn id="41" idx="2"/>
            </p:cNvCxnSpPr>
            <p:nvPr/>
          </p:nvCxnSpPr>
          <p:spPr bwMode="gray">
            <a:xfrm flipV="1">
              <a:off x="5006303" y="3279850"/>
              <a:ext cx="5174" cy="58759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4" name="Straight Connector 53"/>
            <p:cNvCxnSpPr>
              <a:stCxn id="46" idx="0"/>
              <a:endCxn id="43" idx="2"/>
            </p:cNvCxnSpPr>
            <p:nvPr/>
          </p:nvCxnSpPr>
          <p:spPr bwMode="gray">
            <a:xfrm flipV="1">
              <a:off x="7370277" y="3275972"/>
              <a:ext cx="5174" cy="58759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5" name="Straight Connector 54"/>
            <p:cNvCxnSpPr>
              <a:stCxn id="25" idx="1"/>
              <a:endCxn id="43" idx="3"/>
            </p:cNvCxnSpPr>
            <p:nvPr/>
          </p:nvCxnSpPr>
          <p:spPr bwMode="gray">
            <a:xfrm flipH="1">
              <a:off x="7619875" y="3070090"/>
              <a:ext cx="1085271" cy="5455"/>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56" name="Straight Connector 55"/>
            <p:cNvCxnSpPr>
              <a:stCxn id="26" idx="1"/>
              <a:endCxn id="46" idx="3"/>
            </p:cNvCxnSpPr>
            <p:nvPr/>
          </p:nvCxnSpPr>
          <p:spPr bwMode="gray">
            <a:xfrm flipH="1">
              <a:off x="7614701" y="4063990"/>
              <a:ext cx="1090445" cy="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sp>
          <p:nvSpPr>
            <p:cNvPr id="58" name="TextBox 57"/>
            <p:cNvSpPr txBox="1"/>
            <p:nvPr/>
          </p:nvSpPr>
          <p:spPr bwMode="gray">
            <a:xfrm>
              <a:off x="991614" y="2444696"/>
              <a:ext cx="1203241" cy="334881"/>
            </a:xfrm>
            <a:prstGeom prst="rect">
              <a:avLst/>
            </a:prstGeom>
            <a:solidFill>
              <a:schemeClr val="bg1"/>
            </a:solid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省级骨干网</a:t>
              </a:r>
            </a:p>
          </p:txBody>
        </p:sp>
        <p:sp>
          <p:nvSpPr>
            <p:cNvPr id="59" name="TextBox 58"/>
            <p:cNvSpPr txBox="1"/>
            <p:nvPr/>
          </p:nvSpPr>
          <p:spPr bwMode="gray">
            <a:xfrm>
              <a:off x="10064692" y="2530361"/>
              <a:ext cx="1203241" cy="334881"/>
            </a:xfrm>
            <a:prstGeom prst="rect">
              <a:avLst/>
            </a:prstGeom>
            <a:solidFill>
              <a:schemeClr val="bg1"/>
            </a:solid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省级骨干网</a:t>
              </a:r>
            </a:p>
          </p:txBody>
        </p:sp>
        <p:sp>
          <p:nvSpPr>
            <p:cNvPr id="60" name="TextBox 120">
              <a:extLst>
                <a:ext uri="{FF2B5EF4-FFF2-40B4-BE49-F238E27FC236}">
                  <a16:creationId xmlns:a16="http://schemas.microsoft.com/office/drawing/2014/main" id="{020D7A1D-EFAD-4C8C-B9DE-D0FAD269B77A}"/>
                </a:ext>
              </a:extLst>
            </p:cNvPr>
            <p:cNvSpPr txBox="1"/>
            <p:nvPr/>
          </p:nvSpPr>
          <p:spPr bwMode="gray">
            <a:xfrm>
              <a:off x="2197865" y="4216235"/>
              <a:ext cx="46861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p>
          </p:txBody>
        </p:sp>
        <p:sp>
          <p:nvSpPr>
            <p:cNvPr id="61" name="TextBox 120">
              <a:extLst>
                <a:ext uri="{FF2B5EF4-FFF2-40B4-BE49-F238E27FC236}">
                  <a16:creationId xmlns:a16="http://schemas.microsoft.com/office/drawing/2014/main" id="{020D7A1D-EFAD-4C8C-B9DE-D0FAD269B77A}"/>
                </a:ext>
              </a:extLst>
            </p:cNvPr>
            <p:cNvSpPr txBox="1"/>
            <p:nvPr/>
          </p:nvSpPr>
          <p:spPr bwMode="gray">
            <a:xfrm>
              <a:off x="2199216" y="2593457"/>
              <a:ext cx="46861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p>
          </p:txBody>
        </p:sp>
        <p:sp>
          <p:nvSpPr>
            <p:cNvPr id="62" name="TextBox 120">
              <a:extLst>
                <a:ext uri="{FF2B5EF4-FFF2-40B4-BE49-F238E27FC236}">
                  <a16:creationId xmlns:a16="http://schemas.microsoft.com/office/drawing/2014/main" id="{020D7A1D-EFAD-4C8C-B9DE-D0FAD269B77A}"/>
                </a:ext>
              </a:extLst>
            </p:cNvPr>
            <p:cNvSpPr txBox="1"/>
            <p:nvPr/>
          </p:nvSpPr>
          <p:spPr bwMode="gray">
            <a:xfrm>
              <a:off x="9693913" y="4270444"/>
              <a:ext cx="46861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p>
          </p:txBody>
        </p:sp>
        <p:sp>
          <p:nvSpPr>
            <p:cNvPr id="63" name="TextBox 120">
              <a:extLst>
                <a:ext uri="{FF2B5EF4-FFF2-40B4-BE49-F238E27FC236}">
                  <a16:creationId xmlns:a16="http://schemas.microsoft.com/office/drawing/2014/main" id="{020D7A1D-EFAD-4C8C-B9DE-D0FAD269B77A}"/>
                </a:ext>
              </a:extLst>
            </p:cNvPr>
            <p:cNvSpPr txBox="1"/>
            <p:nvPr/>
          </p:nvSpPr>
          <p:spPr bwMode="gray">
            <a:xfrm>
              <a:off x="9772436" y="2586976"/>
              <a:ext cx="46861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PE</a:t>
              </a:r>
            </a:p>
          </p:txBody>
        </p:sp>
        <p:sp>
          <p:nvSpPr>
            <p:cNvPr id="64" name="TextBox 120">
              <a:extLst>
                <a:ext uri="{FF2B5EF4-FFF2-40B4-BE49-F238E27FC236}">
                  <a16:creationId xmlns:a16="http://schemas.microsoft.com/office/drawing/2014/main" id="{020D7A1D-EFAD-4C8C-B9DE-D0FAD269B77A}"/>
                </a:ext>
              </a:extLst>
            </p:cNvPr>
            <p:cNvSpPr txBox="1"/>
            <p:nvPr/>
          </p:nvSpPr>
          <p:spPr bwMode="gray">
            <a:xfrm>
              <a:off x="3373196" y="2549575"/>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65" name="TextBox 120">
              <a:extLst>
                <a:ext uri="{FF2B5EF4-FFF2-40B4-BE49-F238E27FC236}">
                  <a16:creationId xmlns:a16="http://schemas.microsoft.com/office/drawing/2014/main" id="{020D7A1D-EFAD-4C8C-B9DE-D0FAD269B77A}"/>
                </a:ext>
              </a:extLst>
            </p:cNvPr>
            <p:cNvSpPr txBox="1"/>
            <p:nvPr/>
          </p:nvSpPr>
          <p:spPr bwMode="gray">
            <a:xfrm>
              <a:off x="3373196" y="4264817"/>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66" name="TextBox 120">
              <a:extLst>
                <a:ext uri="{FF2B5EF4-FFF2-40B4-BE49-F238E27FC236}">
                  <a16:creationId xmlns:a16="http://schemas.microsoft.com/office/drawing/2014/main" id="{020D7A1D-EFAD-4C8C-B9DE-D0FAD269B77A}"/>
                </a:ext>
              </a:extLst>
            </p:cNvPr>
            <p:cNvSpPr txBox="1"/>
            <p:nvPr/>
          </p:nvSpPr>
          <p:spPr bwMode="gray">
            <a:xfrm>
              <a:off x="8340936" y="2554447"/>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67" name="TextBox 120">
              <a:extLst>
                <a:ext uri="{FF2B5EF4-FFF2-40B4-BE49-F238E27FC236}">
                  <a16:creationId xmlns:a16="http://schemas.microsoft.com/office/drawing/2014/main" id="{020D7A1D-EFAD-4C8C-B9DE-D0FAD269B77A}"/>
                </a:ext>
              </a:extLst>
            </p:cNvPr>
            <p:cNvSpPr txBox="1"/>
            <p:nvPr/>
          </p:nvSpPr>
          <p:spPr bwMode="gray">
            <a:xfrm>
              <a:off x="8415396" y="4269449"/>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68" name="TextBox 120">
              <a:extLst>
                <a:ext uri="{FF2B5EF4-FFF2-40B4-BE49-F238E27FC236}">
                  <a16:creationId xmlns:a16="http://schemas.microsoft.com/office/drawing/2014/main" id="{020D7A1D-EFAD-4C8C-B9DE-D0FAD269B77A}"/>
                </a:ext>
              </a:extLst>
            </p:cNvPr>
            <p:cNvSpPr txBox="1"/>
            <p:nvPr/>
          </p:nvSpPr>
          <p:spPr bwMode="gray">
            <a:xfrm>
              <a:off x="7065693" y="2548106"/>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69" name="TextBox 120">
              <a:extLst>
                <a:ext uri="{FF2B5EF4-FFF2-40B4-BE49-F238E27FC236}">
                  <a16:creationId xmlns:a16="http://schemas.microsoft.com/office/drawing/2014/main" id="{020D7A1D-EFAD-4C8C-B9DE-D0FAD269B77A}"/>
                </a:ext>
              </a:extLst>
            </p:cNvPr>
            <p:cNvSpPr txBox="1"/>
            <p:nvPr/>
          </p:nvSpPr>
          <p:spPr bwMode="gray">
            <a:xfrm>
              <a:off x="7041027" y="4255765"/>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70" name="TextBox 120">
              <a:extLst>
                <a:ext uri="{FF2B5EF4-FFF2-40B4-BE49-F238E27FC236}">
                  <a16:creationId xmlns:a16="http://schemas.microsoft.com/office/drawing/2014/main" id="{020D7A1D-EFAD-4C8C-B9DE-D0FAD269B77A}"/>
                </a:ext>
              </a:extLst>
            </p:cNvPr>
            <p:cNvSpPr txBox="1"/>
            <p:nvPr/>
          </p:nvSpPr>
          <p:spPr bwMode="gray">
            <a:xfrm>
              <a:off x="4700668" y="2548106"/>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sp>
          <p:nvSpPr>
            <p:cNvPr id="71" name="TextBox 120">
              <a:extLst>
                <a:ext uri="{FF2B5EF4-FFF2-40B4-BE49-F238E27FC236}">
                  <a16:creationId xmlns:a16="http://schemas.microsoft.com/office/drawing/2014/main" id="{020D7A1D-EFAD-4C8C-B9DE-D0FAD269B77A}"/>
                </a:ext>
              </a:extLst>
            </p:cNvPr>
            <p:cNvSpPr txBox="1"/>
            <p:nvPr/>
          </p:nvSpPr>
          <p:spPr bwMode="gray">
            <a:xfrm>
              <a:off x="4676002" y="4255765"/>
              <a:ext cx="650602"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ASBR</a:t>
              </a:r>
            </a:p>
          </p:txBody>
        </p:sp>
        <p:cxnSp>
          <p:nvCxnSpPr>
            <p:cNvPr id="72" name="Straight Connector 71"/>
            <p:cNvCxnSpPr>
              <a:stCxn id="45" idx="0"/>
              <a:endCxn id="42" idx="2"/>
            </p:cNvCxnSpPr>
            <p:nvPr/>
          </p:nvCxnSpPr>
          <p:spPr bwMode="gray">
            <a:xfrm flipV="1">
              <a:off x="6190877" y="3275973"/>
              <a:ext cx="2587" cy="587590"/>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sp>
          <p:nvSpPr>
            <p:cNvPr id="8" name="TextBox 120">
              <a:extLst>
                <a:ext uri="{FF2B5EF4-FFF2-40B4-BE49-F238E27FC236}">
                  <a16:creationId xmlns:a16="http://schemas.microsoft.com/office/drawing/2014/main" id="{020D7A1D-EFAD-4C8C-B9DE-D0FAD269B77A}"/>
                </a:ext>
              </a:extLst>
            </p:cNvPr>
            <p:cNvSpPr txBox="1"/>
            <p:nvPr/>
          </p:nvSpPr>
          <p:spPr bwMode="gray">
            <a:xfrm>
              <a:off x="900089" y="2820378"/>
              <a:ext cx="718405" cy="307777"/>
            </a:xfrm>
            <a:prstGeom prst="rect">
              <a:avLst/>
            </a:prstGeom>
            <a:noFill/>
            <a:ln>
              <a:noFill/>
            </a:ln>
          </p:spPr>
          <p:txBody>
            <a:bodyPr wrap="square" rtlCol="0">
              <a:spAutoFit/>
            </a:body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9" name="TextBox 120">
              <a:extLst>
                <a:ext uri="{FF2B5EF4-FFF2-40B4-BE49-F238E27FC236}">
                  <a16:creationId xmlns:a16="http://schemas.microsoft.com/office/drawing/2014/main" id="{020D7A1D-EFAD-4C8C-B9DE-D0FAD269B77A}"/>
                </a:ext>
              </a:extLst>
            </p:cNvPr>
            <p:cNvSpPr txBox="1"/>
            <p:nvPr/>
          </p:nvSpPr>
          <p:spPr bwMode="gray">
            <a:xfrm>
              <a:off x="522276" y="3449783"/>
              <a:ext cx="718405" cy="307777"/>
            </a:xfrm>
            <a:prstGeom prst="rect">
              <a:avLst/>
            </a:prstGeom>
            <a:noFill/>
            <a:ln>
              <a:noFill/>
            </a:ln>
          </p:spPr>
          <p:txBody>
            <a:bodyPr wrap="square" rtlCol="0">
              <a:spAutoFit/>
            </a:body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p>
          </p:txBody>
        </p:sp>
        <p:sp>
          <p:nvSpPr>
            <p:cNvPr id="10" name="TextBox 120">
              <a:extLst>
                <a:ext uri="{FF2B5EF4-FFF2-40B4-BE49-F238E27FC236}">
                  <a16:creationId xmlns:a16="http://schemas.microsoft.com/office/drawing/2014/main" id="{020D7A1D-EFAD-4C8C-B9DE-D0FAD269B77A}"/>
                </a:ext>
              </a:extLst>
            </p:cNvPr>
            <p:cNvSpPr txBox="1"/>
            <p:nvPr/>
          </p:nvSpPr>
          <p:spPr bwMode="gray">
            <a:xfrm>
              <a:off x="10758929" y="2936298"/>
              <a:ext cx="718405" cy="307777"/>
            </a:xfrm>
            <a:prstGeom prst="rect">
              <a:avLst/>
            </a:prstGeom>
            <a:noFill/>
            <a:ln>
              <a:noFill/>
            </a:ln>
          </p:spPr>
          <p:txBody>
            <a:bodyPr wrap="square" rtlCol="0">
              <a:spAutoFit/>
            </a:body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a:t>
              </a:r>
            </a:p>
          </p:txBody>
        </p:sp>
        <p:sp>
          <p:nvSpPr>
            <p:cNvPr id="11" name="TextBox 120">
              <a:extLst>
                <a:ext uri="{FF2B5EF4-FFF2-40B4-BE49-F238E27FC236}">
                  <a16:creationId xmlns:a16="http://schemas.microsoft.com/office/drawing/2014/main" id="{020D7A1D-EFAD-4C8C-B9DE-D0FAD269B77A}"/>
                </a:ext>
              </a:extLst>
            </p:cNvPr>
            <p:cNvSpPr txBox="1"/>
            <p:nvPr/>
          </p:nvSpPr>
          <p:spPr bwMode="gray">
            <a:xfrm>
              <a:off x="11055441" y="3410668"/>
              <a:ext cx="718405" cy="307777"/>
            </a:xfrm>
            <a:prstGeom prst="rect">
              <a:avLst/>
            </a:prstGeom>
            <a:noFill/>
            <a:ln>
              <a:noFill/>
            </a:ln>
          </p:spPr>
          <p:txBody>
            <a:bodyPr wrap="square" rtlCol="0">
              <a:spAutoFit/>
            </a:bodyPr>
            <a:lstStyle/>
            <a:p>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企业</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a:t>
              </a:r>
            </a:p>
          </p:txBody>
        </p:sp>
        <p:pic>
          <p:nvPicPr>
            <p:cNvPr id="93"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918934" y="4498059"/>
              <a:ext cx="488847" cy="400855"/>
            </a:xfrm>
            <a:prstGeom prst="rect">
              <a:avLst/>
            </a:prstGeom>
          </p:spPr>
        </p:pic>
        <p:pic>
          <p:nvPicPr>
            <p:cNvPr id="9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917259" y="2207781"/>
              <a:ext cx="488847" cy="400855"/>
            </a:xfrm>
            <a:prstGeom prst="rect">
              <a:avLst/>
            </a:prstGeom>
          </p:spPr>
        </p:pic>
        <p:pic>
          <p:nvPicPr>
            <p:cNvPr id="95"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951094" y="4510724"/>
              <a:ext cx="488847" cy="400855"/>
            </a:xfrm>
            <a:prstGeom prst="rect">
              <a:avLst/>
            </a:prstGeom>
          </p:spPr>
        </p:pic>
        <p:pic>
          <p:nvPicPr>
            <p:cNvPr id="9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949419" y="2220446"/>
              <a:ext cx="488847" cy="400855"/>
            </a:xfrm>
            <a:prstGeom prst="rect">
              <a:avLst/>
            </a:prstGeom>
          </p:spPr>
        </p:pic>
        <p:cxnSp>
          <p:nvCxnSpPr>
            <p:cNvPr id="97" name="Straight Connector 96"/>
            <p:cNvCxnSpPr>
              <a:stCxn id="94" idx="2"/>
              <a:endCxn id="23" idx="0"/>
            </p:cNvCxnSpPr>
            <p:nvPr/>
          </p:nvCxnSpPr>
          <p:spPr bwMode="gray">
            <a:xfrm>
              <a:off x="3161683" y="2608636"/>
              <a:ext cx="192887" cy="261026"/>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101" name="Straight Connector 100"/>
            <p:cNvCxnSpPr>
              <a:stCxn id="93" idx="0"/>
              <a:endCxn id="24" idx="2"/>
            </p:cNvCxnSpPr>
            <p:nvPr/>
          </p:nvCxnSpPr>
          <p:spPr bwMode="gray">
            <a:xfrm flipV="1">
              <a:off x="3163358" y="4264418"/>
              <a:ext cx="191212" cy="233641"/>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104" name="Straight Connector 103"/>
            <p:cNvCxnSpPr>
              <a:stCxn id="25" idx="0"/>
              <a:endCxn id="12" idx="0"/>
            </p:cNvCxnSpPr>
            <p:nvPr/>
          </p:nvCxnSpPr>
          <p:spPr bwMode="gray">
            <a:xfrm flipV="1">
              <a:off x="8949570" y="2631176"/>
              <a:ext cx="403162" cy="238486"/>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cxnSp>
          <p:nvCxnSpPr>
            <p:cNvPr id="108" name="Straight Connector 107"/>
            <p:cNvCxnSpPr>
              <a:stCxn id="26" idx="2"/>
              <a:endCxn id="95" idx="0"/>
            </p:cNvCxnSpPr>
            <p:nvPr/>
          </p:nvCxnSpPr>
          <p:spPr bwMode="gray">
            <a:xfrm>
              <a:off x="8949570" y="4264418"/>
              <a:ext cx="245948" cy="246306"/>
            </a:xfrm>
            <a:prstGeom prst="line">
              <a:avLst/>
            </a:prstGeom>
            <a:solidFill>
              <a:schemeClr val="accent1"/>
            </a:solidFill>
            <a:ln w="19050" cap="flat" cmpd="sng" algn="ctr">
              <a:solidFill>
                <a:schemeClr val="bg1">
                  <a:lumMod val="65000"/>
                </a:schemeClr>
              </a:solidFill>
              <a:prstDash val="solid"/>
              <a:round/>
              <a:headEnd type="none" w="med" len="med"/>
              <a:tailEnd type="none" w="med" len="med"/>
            </a:ln>
            <a:effectLst/>
          </p:spPr>
        </p:cxnSp>
        <p:sp>
          <p:nvSpPr>
            <p:cNvPr id="111" name="TextBox 120">
              <a:extLst>
                <a:ext uri="{FF2B5EF4-FFF2-40B4-BE49-F238E27FC236}">
                  <a16:creationId xmlns:a16="http://schemas.microsoft.com/office/drawing/2014/main" id="{020D7A1D-EFAD-4C8C-B9DE-D0FAD269B77A}"/>
                </a:ext>
              </a:extLst>
            </p:cNvPr>
            <p:cNvSpPr txBox="1"/>
            <p:nvPr/>
          </p:nvSpPr>
          <p:spPr bwMode="gray">
            <a:xfrm>
              <a:off x="2903123" y="4857464"/>
              <a:ext cx="531996"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112" name="TextBox 120">
              <a:extLst>
                <a:ext uri="{FF2B5EF4-FFF2-40B4-BE49-F238E27FC236}">
                  <a16:creationId xmlns:a16="http://schemas.microsoft.com/office/drawing/2014/main" id="{020D7A1D-EFAD-4C8C-B9DE-D0FAD269B77A}"/>
                </a:ext>
              </a:extLst>
            </p:cNvPr>
            <p:cNvSpPr txBox="1"/>
            <p:nvPr/>
          </p:nvSpPr>
          <p:spPr bwMode="gray">
            <a:xfrm>
              <a:off x="2870598" y="1910069"/>
              <a:ext cx="58216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113" name="TextBox 120">
              <a:extLst>
                <a:ext uri="{FF2B5EF4-FFF2-40B4-BE49-F238E27FC236}">
                  <a16:creationId xmlns:a16="http://schemas.microsoft.com/office/drawing/2014/main" id="{020D7A1D-EFAD-4C8C-B9DE-D0FAD269B77A}"/>
                </a:ext>
              </a:extLst>
            </p:cNvPr>
            <p:cNvSpPr txBox="1"/>
            <p:nvPr/>
          </p:nvSpPr>
          <p:spPr bwMode="gray">
            <a:xfrm>
              <a:off x="8908600" y="4857464"/>
              <a:ext cx="570483"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114" name="TextBox 120">
              <a:extLst>
                <a:ext uri="{FF2B5EF4-FFF2-40B4-BE49-F238E27FC236}">
                  <a16:creationId xmlns:a16="http://schemas.microsoft.com/office/drawing/2014/main" id="{020D7A1D-EFAD-4C8C-B9DE-D0FAD269B77A}"/>
                </a:ext>
              </a:extLst>
            </p:cNvPr>
            <p:cNvSpPr txBox="1"/>
            <p:nvPr/>
          </p:nvSpPr>
          <p:spPr bwMode="gray">
            <a:xfrm>
              <a:off x="8933674" y="1919832"/>
              <a:ext cx="525165"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115" name="TextBox 120">
              <a:extLst>
                <a:ext uri="{FF2B5EF4-FFF2-40B4-BE49-F238E27FC236}">
                  <a16:creationId xmlns:a16="http://schemas.microsoft.com/office/drawing/2014/main" id="{020D7A1D-EFAD-4C8C-B9DE-D0FAD269B77A}"/>
                </a:ext>
              </a:extLst>
            </p:cNvPr>
            <p:cNvSpPr txBox="1"/>
            <p:nvPr/>
          </p:nvSpPr>
          <p:spPr bwMode="gray">
            <a:xfrm>
              <a:off x="5995943" y="4202947"/>
              <a:ext cx="415115"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116" name="TextBox 120">
              <a:extLst>
                <a:ext uri="{FF2B5EF4-FFF2-40B4-BE49-F238E27FC236}">
                  <a16:creationId xmlns:a16="http://schemas.microsoft.com/office/drawing/2014/main" id="{020D7A1D-EFAD-4C8C-B9DE-D0FAD269B77A}"/>
                </a:ext>
              </a:extLst>
            </p:cNvPr>
            <p:cNvSpPr txBox="1"/>
            <p:nvPr/>
          </p:nvSpPr>
          <p:spPr bwMode="gray">
            <a:xfrm>
              <a:off x="5978367" y="2563984"/>
              <a:ext cx="415115"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cxnSp>
          <p:nvCxnSpPr>
            <p:cNvPr id="117" name="直接箭头连接符 16">
              <a:extLst>
                <a:ext uri="{FF2B5EF4-FFF2-40B4-BE49-F238E27FC236}">
                  <a16:creationId xmlns:a16="http://schemas.microsoft.com/office/drawing/2014/main" id="{25FFCF9E-B77D-4002-8CAE-8C36C256A152}"/>
                </a:ext>
              </a:extLst>
            </p:cNvPr>
            <p:cNvCxnSpPr>
              <a:cxnSpLocks/>
              <a:stCxn id="21" idx="0"/>
              <a:endCxn id="94" idx="1"/>
            </p:cNvCxnSpPr>
            <p:nvPr/>
          </p:nvCxnSpPr>
          <p:spPr bwMode="gray">
            <a:xfrm flipV="1">
              <a:off x="2578613" y="2408209"/>
              <a:ext cx="338646" cy="461453"/>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20" name="直接箭头连接符 16">
              <a:extLst>
                <a:ext uri="{FF2B5EF4-FFF2-40B4-BE49-F238E27FC236}">
                  <a16:creationId xmlns:a16="http://schemas.microsoft.com/office/drawing/2014/main" id="{25FFCF9E-B77D-4002-8CAE-8C36C256A152}"/>
                </a:ext>
              </a:extLst>
            </p:cNvPr>
            <p:cNvCxnSpPr>
              <a:cxnSpLocks/>
              <a:stCxn id="22" idx="2"/>
              <a:endCxn id="93" idx="1"/>
            </p:cNvCxnSpPr>
            <p:nvPr/>
          </p:nvCxnSpPr>
          <p:spPr bwMode="gray">
            <a:xfrm>
              <a:off x="2578613" y="4264418"/>
              <a:ext cx="340321" cy="434069"/>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23" name="直接箭头连接符 16">
              <a:extLst>
                <a:ext uri="{FF2B5EF4-FFF2-40B4-BE49-F238E27FC236}">
                  <a16:creationId xmlns:a16="http://schemas.microsoft.com/office/drawing/2014/main" id="{25FFCF9E-B77D-4002-8CAE-8C36C256A152}"/>
                </a:ext>
              </a:extLst>
            </p:cNvPr>
            <p:cNvCxnSpPr>
              <a:cxnSpLocks/>
              <a:stCxn id="94" idx="3"/>
              <a:endCxn id="96" idx="1"/>
            </p:cNvCxnSpPr>
            <p:nvPr/>
          </p:nvCxnSpPr>
          <p:spPr bwMode="gray">
            <a:xfrm>
              <a:off x="3406106" y="2408209"/>
              <a:ext cx="5543313" cy="12665"/>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sp>
          <p:nvSpPr>
            <p:cNvPr id="57" name="TextBox 56"/>
            <p:cNvSpPr txBox="1"/>
            <p:nvPr/>
          </p:nvSpPr>
          <p:spPr bwMode="gray">
            <a:xfrm>
              <a:off x="5586669" y="3385876"/>
              <a:ext cx="1203241" cy="334881"/>
            </a:xfrm>
            <a:prstGeom prst="rect">
              <a:avLst/>
            </a:prstGeom>
            <a:solidFill>
              <a:schemeClr val="bg1"/>
            </a:solid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核心骨干网</a:t>
              </a:r>
            </a:p>
          </p:txBody>
        </p:sp>
        <p:cxnSp>
          <p:nvCxnSpPr>
            <p:cNvPr id="132" name="直接箭头连接符 16">
              <a:extLst>
                <a:ext uri="{FF2B5EF4-FFF2-40B4-BE49-F238E27FC236}">
                  <a16:creationId xmlns:a16="http://schemas.microsoft.com/office/drawing/2014/main" id="{25FFCF9E-B77D-4002-8CAE-8C36C256A152}"/>
                </a:ext>
              </a:extLst>
            </p:cNvPr>
            <p:cNvCxnSpPr>
              <a:cxnSpLocks/>
              <a:stCxn id="93" idx="3"/>
              <a:endCxn id="95" idx="1"/>
            </p:cNvCxnSpPr>
            <p:nvPr/>
          </p:nvCxnSpPr>
          <p:spPr bwMode="gray">
            <a:xfrm>
              <a:off x="3407781" y="4698487"/>
              <a:ext cx="5543313" cy="12665"/>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35" name="直接箭头连接符 16">
              <a:extLst>
                <a:ext uri="{FF2B5EF4-FFF2-40B4-BE49-F238E27FC236}">
                  <a16:creationId xmlns:a16="http://schemas.microsoft.com/office/drawing/2014/main" id="{25FFCF9E-B77D-4002-8CAE-8C36C256A152}"/>
                </a:ext>
              </a:extLst>
            </p:cNvPr>
            <p:cNvCxnSpPr>
              <a:cxnSpLocks/>
              <a:stCxn id="95" idx="3"/>
              <a:endCxn id="28" idx="2"/>
            </p:cNvCxnSpPr>
            <p:nvPr/>
          </p:nvCxnSpPr>
          <p:spPr bwMode="gray">
            <a:xfrm flipV="1">
              <a:off x="9439941" y="4264418"/>
              <a:ext cx="285585" cy="446734"/>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38" name="直接箭头连接符 16">
              <a:extLst>
                <a:ext uri="{FF2B5EF4-FFF2-40B4-BE49-F238E27FC236}">
                  <a16:creationId xmlns:a16="http://schemas.microsoft.com/office/drawing/2014/main" id="{25FFCF9E-B77D-4002-8CAE-8C36C256A152}"/>
                </a:ext>
              </a:extLst>
            </p:cNvPr>
            <p:cNvCxnSpPr>
              <a:cxnSpLocks/>
              <a:stCxn id="96" idx="3"/>
              <a:endCxn id="27" idx="0"/>
            </p:cNvCxnSpPr>
            <p:nvPr/>
          </p:nvCxnSpPr>
          <p:spPr bwMode="gray">
            <a:xfrm>
              <a:off x="9438266" y="2420874"/>
              <a:ext cx="287260" cy="448788"/>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42" name="Straight Arrow Connector 141"/>
            <p:cNvCxnSpPr/>
            <p:nvPr/>
          </p:nvCxnSpPr>
          <p:spPr bwMode="gray">
            <a:xfrm>
              <a:off x="2194855" y="2999853"/>
              <a:ext cx="7967676" cy="0"/>
            </a:xfrm>
            <a:prstGeom prst="straightConnector1">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bwMode="gray">
            <a:xfrm>
              <a:off x="2202086" y="4101522"/>
              <a:ext cx="7967676" cy="0"/>
            </a:xfrm>
            <a:prstGeom prst="straightConnector1">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5" name="直接箭头连接符 16">
              <a:extLst>
                <a:ext uri="{FF2B5EF4-FFF2-40B4-BE49-F238E27FC236}">
                  <a16:creationId xmlns:a16="http://schemas.microsoft.com/office/drawing/2014/main" id="{25FFCF9E-B77D-4002-8CAE-8C36C256A152}"/>
                </a:ext>
              </a:extLst>
            </p:cNvPr>
            <p:cNvCxnSpPr>
              <a:cxnSpLocks/>
            </p:cNvCxnSpPr>
            <p:nvPr/>
          </p:nvCxnSpPr>
          <p:spPr bwMode="gray">
            <a:xfrm>
              <a:off x="9226656" y="5310748"/>
              <a:ext cx="528874" cy="0"/>
            </a:xfrm>
            <a:prstGeom prst="straightConnector1">
              <a:avLst/>
            </a:prstGeom>
            <a:noFill/>
            <a:ln w="19050" cap="flat" cmpd="sng" algn="ctr">
              <a:solidFill>
                <a:srgbClr val="FFC000"/>
              </a:solidFill>
              <a:prstDash val="dash"/>
              <a:headEnd type="arrow" w="med" len="med"/>
              <a:tailEnd type="arrow" w="med" len="med"/>
            </a:ln>
            <a:effectLst>
              <a:outerShdw blurRad="152400" dist="38100" dir="5400000" algn="t" rotWithShape="0">
                <a:prstClr val="black">
                  <a:alpha val="12000"/>
                </a:prstClr>
              </a:outerShdw>
            </a:effectLst>
          </p:spPr>
        </p:cxnSp>
        <p:cxnSp>
          <p:nvCxnSpPr>
            <p:cNvPr id="147" name="Straight Arrow Connector 146"/>
            <p:cNvCxnSpPr/>
            <p:nvPr/>
          </p:nvCxnSpPr>
          <p:spPr bwMode="gray">
            <a:xfrm>
              <a:off x="9199647" y="5600604"/>
              <a:ext cx="555883" cy="0"/>
            </a:xfrm>
            <a:prstGeom prst="straightConnector1">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0" name="TextBox 120">
              <a:extLst>
                <a:ext uri="{FF2B5EF4-FFF2-40B4-BE49-F238E27FC236}">
                  <a16:creationId xmlns:a16="http://schemas.microsoft.com/office/drawing/2014/main" id="{020D7A1D-EFAD-4C8C-B9DE-D0FAD269B77A}"/>
                </a:ext>
              </a:extLst>
            </p:cNvPr>
            <p:cNvSpPr txBox="1"/>
            <p:nvPr/>
          </p:nvSpPr>
          <p:spPr bwMode="gray">
            <a:xfrm>
              <a:off x="9717522" y="5147899"/>
              <a:ext cx="1115996"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邻居</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TextBox 120">
              <a:extLst>
                <a:ext uri="{FF2B5EF4-FFF2-40B4-BE49-F238E27FC236}">
                  <a16:creationId xmlns:a16="http://schemas.microsoft.com/office/drawing/2014/main" id="{020D7A1D-EFAD-4C8C-B9DE-D0FAD269B77A}"/>
                </a:ext>
              </a:extLst>
            </p:cNvPr>
            <p:cNvSpPr txBox="1"/>
            <p:nvPr/>
          </p:nvSpPr>
          <p:spPr bwMode="gray">
            <a:xfrm>
              <a:off x="9717522" y="5453364"/>
              <a:ext cx="1764068" cy="307777"/>
            </a:xfrm>
            <a:prstGeom prst="rect">
              <a:avLst/>
            </a:prstGeom>
            <a:noFill/>
            <a:ln>
              <a:noFill/>
            </a:ln>
          </p:spPr>
          <p:txBody>
            <a:bodyPr wrap="square" rtlCol="0">
              <a:spAutoFit/>
            </a:bodyPr>
            <a:lstStyle/>
            <a:p>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 L3VPN</a:t>
              </a: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流量</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406986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b="1" dirty="0"/>
              <a:t>广域互联组网技术应用</a:t>
            </a:r>
            <a:endParaRPr lang="en-US" altLang="zh-CN" b="1" dirty="0"/>
          </a:p>
          <a:p>
            <a:pPr lvl="1"/>
            <a:r>
              <a:rPr lang="zh-CN" altLang="en-US" dirty="0">
                <a:solidFill>
                  <a:schemeClr val="bg1">
                    <a:lumMod val="50000"/>
                  </a:schemeClr>
                </a:solidFill>
              </a:rPr>
              <a:t>广域组网互联方案</a:t>
            </a:r>
            <a:endParaRPr lang="en-US" altLang="zh-CN" dirty="0">
              <a:solidFill>
                <a:schemeClr val="bg1">
                  <a:lumMod val="50000"/>
                </a:schemeClr>
              </a:solidFill>
            </a:endParaRPr>
          </a:p>
          <a:p>
            <a:pPr lvl="1"/>
            <a:r>
              <a:rPr lang="zh-CN" altLang="en-US" dirty="0">
                <a:solidFill>
                  <a:schemeClr val="bg1">
                    <a:lumMod val="50000"/>
                  </a:schemeClr>
                </a:solidFill>
              </a:rPr>
              <a:t>专线技术应用</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VPN</a:t>
            </a:r>
            <a:r>
              <a:rPr lang="zh-CN" altLang="en-US" dirty="0"/>
              <a:t>技术应用</a:t>
            </a:r>
            <a:endParaRPr lang="en-US" altLang="zh-CN" dirty="0"/>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dirty="0">
                <a:solidFill>
                  <a:schemeClr val="bg1">
                    <a:lumMod val="50000"/>
                  </a:schemeClr>
                </a:solidFill>
              </a:rPr>
              <a:t>广域互联优化技术应用</a:t>
            </a:r>
            <a:endParaRPr lang="en-US" altLang="zh-CN" dirty="0">
              <a:solidFill>
                <a:schemeClr val="bg1">
                  <a:lumMod val="50000"/>
                </a:schemeClr>
              </a:solidFill>
            </a:endParaRPr>
          </a:p>
          <a:p>
            <a:endParaRPr lang="zh-CN" altLang="en-US" dirty="0"/>
          </a:p>
        </p:txBody>
      </p:sp>
    </p:spTree>
    <p:extLst>
      <p:ext uri="{BB962C8B-B14F-4D97-AF65-F5344CB8AC3E}">
        <p14:creationId xmlns:p14="http://schemas.microsoft.com/office/powerpoint/2010/main" val="2965307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02" name="Rectangle 2"/>
          <p:cNvSpPr>
            <a:spLocks noGrp="1" noChangeArrowheads="1"/>
          </p:cNvSpPr>
          <p:nvPr>
            <p:ph type="title"/>
          </p:nvPr>
        </p:nvSpPr>
        <p:spPr bwMode="gray"/>
        <p:txBody>
          <a:bodyPr/>
          <a:lstStyle/>
          <a:p>
            <a:r>
              <a:rPr lang="en-US" altLang="zh-CN" dirty="0"/>
              <a:t>VPN</a:t>
            </a:r>
            <a:r>
              <a:rPr lang="zh-CN" altLang="en-US" dirty="0"/>
              <a:t>技术概述</a:t>
            </a:r>
          </a:p>
        </p:txBody>
      </p:sp>
      <p:sp>
        <p:nvSpPr>
          <p:cNvPr id="1536003" name="Rectangle 3"/>
          <p:cNvSpPr>
            <a:spLocks noGrp="1" noChangeArrowheads="1"/>
          </p:cNvSpPr>
          <p:nvPr>
            <p:ph type="body" sz="quarter" idx="10"/>
          </p:nvPr>
        </p:nvSpPr>
        <p:spPr bwMode="gray"/>
        <p:txBody>
          <a:bodyPr/>
          <a:lstStyle/>
          <a:p>
            <a:r>
              <a:rPr lang="en-US" altLang="zh-CN" sz="2000" dirty="0"/>
              <a:t>VPN</a:t>
            </a:r>
            <a:r>
              <a:rPr lang="zh-CN" altLang="en-US" sz="2000" dirty="0"/>
              <a:t>技术被广泛地用在企业自建互联网的场景中。</a:t>
            </a:r>
            <a:endParaRPr lang="en-US" altLang="zh-CN" sz="2000" dirty="0"/>
          </a:p>
          <a:p>
            <a:r>
              <a:rPr lang="en-US" altLang="zh-CN" sz="2000" dirty="0"/>
              <a:t>VPN</a:t>
            </a:r>
            <a:r>
              <a:rPr lang="zh-CN" altLang="en-US" sz="2000" dirty="0"/>
              <a:t>技术按业务用途划分可分成以下三类：</a:t>
            </a:r>
          </a:p>
          <a:p>
            <a:pPr lvl="1"/>
            <a:r>
              <a:rPr lang="en-US" altLang="zh-CN" sz="1800" dirty="0"/>
              <a:t>Access VPN</a:t>
            </a:r>
            <a:r>
              <a:rPr lang="zh-CN" altLang="en-US" sz="1800" dirty="0"/>
              <a:t>（远程访问虚拟专网）：又称拨号</a:t>
            </a:r>
            <a:r>
              <a:rPr lang="en-US" altLang="zh-CN" sz="1800" dirty="0"/>
              <a:t>VPN</a:t>
            </a:r>
            <a:r>
              <a:rPr lang="zh-CN" altLang="en-US" sz="1800" dirty="0"/>
              <a:t>、远程访问</a:t>
            </a:r>
            <a:r>
              <a:rPr lang="en-US" altLang="zh-CN" sz="1800" dirty="0"/>
              <a:t>VPN</a:t>
            </a:r>
            <a:r>
              <a:rPr lang="zh-CN" altLang="en-US" sz="1800" dirty="0"/>
              <a:t>，通常使用</a:t>
            </a:r>
            <a:r>
              <a:rPr lang="en-US" altLang="zh-CN" sz="1800" dirty="0"/>
              <a:t>L2TP VPN</a:t>
            </a:r>
            <a:r>
              <a:rPr lang="zh-CN" altLang="en-US" sz="1800" dirty="0"/>
              <a:t>技术。</a:t>
            </a:r>
            <a:endParaRPr lang="en-US" altLang="zh-CN" sz="1800" dirty="0"/>
          </a:p>
          <a:p>
            <a:pPr lvl="1"/>
            <a:r>
              <a:rPr lang="en-US" altLang="zh-CN" sz="1800" dirty="0"/>
              <a:t>Intranet VPN</a:t>
            </a:r>
            <a:r>
              <a:rPr lang="zh-CN" altLang="en-US" sz="1800" dirty="0"/>
              <a:t>（企业内部虚拟专网）：网关到网关，通过公司的网络架构连接来自同公司的资源，通常使用</a:t>
            </a:r>
            <a:r>
              <a:rPr lang="en-US" altLang="zh-CN" sz="1800" dirty="0"/>
              <a:t>GRE</a:t>
            </a:r>
            <a:r>
              <a:rPr lang="zh-CN" altLang="en-US" sz="1800" dirty="0"/>
              <a:t>或者</a:t>
            </a:r>
            <a:r>
              <a:rPr lang="en-US" altLang="zh-CN" sz="1800" dirty="0"/>
              <a:t>DSVPN</a:t>
            </a:r>
            <a:r>
              <a:rPr lang="zh-CN" altLang="en-US" sz="1800" dirty="0"/>
              <a:t>技术。</a:t>
            </a:r>
            <a:endParaRPr lang="en-US" altLang="zh-CN" sz="1800" dirty="0"/>
          </a:p>
          <a:p>
            <a:pPr lvl="1"/>
            <a:r>
              <a:rPr lang="en-US" altLang="zh-CN" sz="1800" dirty="0"/>
              <a:t>Extranet VPN</a:t>
            </a:r>
            <a:r>
              <a:rPr lang="zh-CN" altLang="en-US" sz="1800" dirty="0"/>
              <a:t>（扩展的企业内部虚拟专网）：与合作伙伴企业网构成</a:t>
            </a:r>
            <a:r>
              <a:rPr lang="en-US" altLang="zh-CN" sz="1800" dirty="0"/>
              <a:t>Extranet</a:t>
            </a:r>
            <a:r>
              <a:rPr lang="zh-CN" altLang="en-US" sz="1800" dirty="0"/>
              <a:t>，通常使用</a:t>
            </a:r>
            <a:r>
              <a:rPr lang="en-US" altLang="zh-CN" sz="1800" dirty="0"/>
              <a:t>SSL VPN</a:t>
            </a:r>
            <a:r>
              <a:rPr lang="zh-CN" altLang="en-US" sz="1800" dirty="0"/>
              <a:t>技术。</a:t>
            </a:r>
            <a:endParaRPr lang="en-US" altLang="zh-CN" sz="1800" dirty="0"/>
          </a:p>
        </p:txBody>
      </p:sp>
    </p:spTree>
    <p:extLst>
      <p:ext uri="{BB962C8B-B14F-4D97-AF65-F5344CB8AC3E}">
        <p14:creationId xmlns:p14="http://schemas.microsoft.com/office/powerpoint/2010/main" val="144899442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a:t>Access VPN</a:t>
            </a:r>
            <a:r>
              <a:rPr lang="zh-CN" altLang="en-US"/>
              <a:t>介绍</a:t>
            </a:r>
            <a:endParaRPr lang="zh-CN" altLang="en-US" dirty="0"/>
          </a:p>
        </p:txBody>
      </p:sp>
      <p:sp>
        <p:nvSpPr>
          <p:cNvPr id="3" name="Text Placeholder 2"/>
          <p:cNvSpPr>
            <a:spLocks noGrp="1"/>
          </p:cNvSpPr>
          <p:nvPr>
            <p:ph type="body" sz="quarter" idx="10"/>
          </p:nvPr>
        </p:nvSpPr>
        <p:spPr bwMode="gray">
          <a:xfrm>
            <a:off x="455612" y="1047750"/>
            <a:ext cx="11293475" cy="1337093"/>
          </a:xfrm>
        </p:spPr>
        <p:txBody>
          <a:bodyPr/>
          <a:lstStyle/>
          <a:p>
            <a:r>
              <a:rPr lang="en-US" altLang="zh-CN" sz="2000" dirty="0"/>
              <a:t>Access VPN</a:t>
            </a:r>
            <a:r>
              <a:rPr lang="zh-CN" altLang="en-US" sz="2000" dirty="0"/>
              <a:t>主要使用的</a:t>
            </a:r>
            <a:r>
              <a:rPr lang="en-US" altLang="zh-CN" sz="2000" dirty="0"/>
              <a:t>VPDN</a:t>
            </a:r>
            <a:r>
              <a:rPr lang="zh-CN" altLang="en-US" sz="2000" dirty="0"/>
              <a:t>（</a:t>
            </a:r>
            <a:r>
              <a:rPr lang="en-US" altLang="zh-CN" sz="2000" dirty="0"/>
              <a:t>Virtual Private Dial-up Networks</a:t>
            </a:r>
            <a:r>
              <a:rPr lang="zh-CN" altLang="en-US" sz="2000" dirty="0"/>
              <a:t>，虚拟专用拨号网）技术，是</a:t>
            </a:r>
            <a:r>
              <a:rPr lang="en-US" altLang="zh-CN" sz="2000" dirty="0"/>
              <a:t>VPN</a:t>
            </a:r>
            <a:r>
              <a:rPr lang="zh-CN" altLang="en-US" sz="2000" dirty="0"/>
              <a:t>业务的一种，是基于拨号用户的虚拟专用拨号网业务。可以用于企业互联或者远程访问企业网络。</a:t>
            </a:r>
          </a:p>
        </p:txBody>
      </p:sp>
      <p:sp>
        <p:nvSpPr>
          <p:cNvPr id="61" name="Can 225"/>
          <p:cNvSpPr/>
          <p:nvPr/>
        </p:nvSpPr>
        <p:spPr bwMode="gray">
          <a:xfrm rot="5400000" flipH="1">
            <a:off x="6364414" y="3026331"/>
            <a:ext cx="231090" cy="4582390"/>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Can 225"/>
          <p:cNvSpPr/>
          <p:nvPr/>
        </p:nvSpPr>
        <p:spPr bwMode="gray">
          <a:xfrm rot="5400000" flipH="1">
            <a:off x="7256869" y="3440602"/>
            <a:ext cx="223623" cy="2804945"/>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159"/>
          <p:cNvSpPr/>
          <p:nvPr/>
        </p:nvSpPr>
        <p:spPr bwMode="gray">
          <a:xfrm flipH="1">
            <a:off x="8912374" y="3226625"/>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159"/>
          <p:cNvSpPr/>
          <p:nvPr/>
        </p:nvSpPr>
        <p:spPr bwMode="gray">
          <a:xfrm flipH="1">
            <a:off x="1121748" y="3267336"/>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图片 73" descr="PC.png"/>
          <p:cNvPicPr>
            <a:picLocks noChangeAspect="1"/>
          </p:cNvPicPr>
          <p:nvPr/>
        </p:nvPicPr>
        <p:blipFill>
          <a:blip r:embed="rId3" cstate="print"/>
          <a:stretch>
            <a:fillRect/>
          </a:stretch>
        </p:blipFill>
        <p:spPr bwMode="gray">
          <a:xfrm>
            <a:off x="1488627" y="3299368"/>
            <a:ext cx="539063" cy="414000"/>
          </a:xfrm>
          <a:prstGeom prst="rect">
            <a:avLst/>
          </a:prstGeom>
        </p:spPr>
      </p:pic>
      <p:pic>
        <p:nvPicPr>
          <p:cNvPr id="5" name="图片 73" descr="PC.png"/>
          <p:cNvPicPr>
            <a:picLocks noChangeAspect="1"/>
          </p:cNvPicPr>
          <p:nvPr/>
        </p:nvPicPr>
        <p:blipFill>
          <a:blip r:embed="rId3" cstate="print"/>
          <a:stretch>
            <a:fillRect/>
          </a:stretch>
        </p:blipFill>
        <p:spPr bwMode="gray">
          <a:xfrm>
            <a:off x="1488628" y="4082903"/>
            <a:ext cx="539063" cy="414000"/>
          </a:xfrm>
          <a:prstGeom prst="rect">
            <a:avLst/>
          </a:prstGeom>
        </p:spPr>
      </p:pic>
      <p:pic>
        <p:nvPicPr>
          <p:cNvPr id="6" name="图片 42" descr="大型网管-蓝.png"/>
          <p:cNvPicPr>
            <a:picLocks noChangeAspect="1"/>
          </p:cNvPicPr>
          <p:nvPr/>
        </p:nvPicPr>
        <p:blipFill>
          <a:blip r:embed="rId4" cstate="print"/>
          <a:stretch>
            <a:fillRect/>
          </a:stretch>
        </p:blipFill>
        <p:spPr bwMode="gray">
          <a:xfrm>
            <a:off x="2566526" y="3878978"/>
            <a:ext cx="539607" cy="441817"/>
          </a:xfrm>
          <a:prstGeom prst="rect">
            <a:avLst/>
          </a:prstGeom>
        </p:spPr>
      </p:pic>
      <p:pic>
        <p:nvPicPr>
          <p:cNvPr id="7"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647563" y="3878978"/>
            <a:ext cx="541201" cy="442800"/>
          </a:xfrm>
          <a:prstGeom prst="rect">
            <a:avLst/>
          </a:prstGeom>
        </p:spPr>
      </p:pic>
      <p:pic>
        <p:nvPicPr>
          <p:cNvPr id="10" name="图片 56" descr="交换机.png"/>
          <p:cNvPicPr>
            <a:picLocks noChangeAspect="1"/>
          </p:cNvPicPr>
          <p:nvPr/>
        </p:nvPicPr>
        <p:blipFill>
          <a:blip r:embed="rId6" cstate="print"/>
          <a:stretch>
            <a:fillRect/>
          </a:stretch>
        </p:blipFill>
        <p:spPr bwMode="gray">
          <a:xfrm>
            <a:off x="5716922" y="3884029"/>
            <a:ext cx="524116" cy="436764"/>
          </a:xfrm>
          <a:prstGeom prst="rect">
            <a:avLst/>
          </a:prstGeom>
        </p:spPr>
      </p:pic>
      <p:pic>
        <p:nvPicPr>
          <p:cNvPr id="11" name="图片 3"/>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8526198" y="3878978"/>
            <a:ext cx="540000" cy="442800"/>
          </a:xfrm>
          <a:prstGeom prst="rect">
            <a:avLst/>
          </a:prstGeom>
        </p:spPr>
      </p:pic>
      <p:pic>
        <p:nvPicPr>
          <p:cNvPr id="13" name="图片 2" descr="交换机.png"/>
          <p:cNvPicPr>
            <a:picLocks noChangeAspect="1"/>
          </p:cNvPicPr>
          <p:nvPr/>
        </p:nvPicPr>
        <p:blipFill>
          <a:blip r:embed="rId8" cstate="print"/>
          <a:stretch>
            <a:fillRect/>
          </a:stretch>
        </p:blipFill>
        <p:spPr bwMode="gray">
          <a:xfrm>
            <a:off x="5716922" y="2807447"/>
            <a:ext cx="524116" cy="428822"/>
          </a:xfrm>
          <a:prstGeom prst="rect">
            <a:avLst/>
          </a:prstGeom>
        </p:spPr>
      </p:pic>
      <p:sp>
        <p:nvSpPr>
          <p:cNvPr id="14" name="Freeform 159"/>
          <p:cNvSpPr/>
          <p:nvPr/>
        </p:nvSpPr>
        <p:spPr bwMode="gray">
          <a:xfrm flipH="1">
            <a:off x="4480127" y="3762741"/>
            <a:ext cx="922457" cy="48219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5" name="图片 42" descr="大型网管-蓝.png"/>
          <p:cNvPicPr>
            <a:picLocks noChangeAspect="1"/>
          </p:cNvPicPr>
          <p:nvPr/>
        </p:nvPicPr>
        <p:blipFill>
          <a:blip r:embed="rId4" cstate="print"/>
          <a:stretch>
            <a:fillRect/>
          </a:stretch>
        </p:blipFill>
        <p:spPr bwMode="gray">
          <a:xfrm>
            <a:off x="9458882" y="3871121"/>
            <a:ext cx="539607" cy="441817"/>
          </a:xfrm>
          <a:prstGeom prst="rect">
            <a:avLst/>
          </a:prstGeom>
        </p:spPr>
      </p:pic>
      <p:pic>
        <p:nvPicPr>
          <p:cNvPr id="16" name="图片 73" descr="PC.png"/>
          <p:cNvPicPr>
            <a:picLocks noChangeAspect="1"/>
          </p:cNvPicPr>
          <p:nvPr/>
        </p:nvPicPr>
        <p:blipFill>
          <a:blip r:embed="rId3" cstate="print"/>
          <a:stretch>
            <a:fillRect/>
          </a:stretch>
        </p:blipFill>
        <p:spPr bwMode="gray">
          <a:xfrm>
            <a:off x="10305347" y="3289724"/>
            <a:ext cx="539063" cy="414000"/>
          </a:xfrm>
          <a:prstGeom prst="rect">
            <a:avLst/>
          </a:prstGeom>
        </p:spPr>
      </p:pic>
      <p:pic>
        <p:nvPicPr>
          <p:cNvPr id="17" name="图片 73" descr="PC.png"/>
          <p:cNvPicPr>
            <a:picLocks noChangeAspect="1"/>
          </p:cNvPicPr>
          <p:nvPr/>
        </p:nvPicPr>
        <p:blipFill>
          <a:blip r:embed="rId3" cstate="print"/>
          <a:stretch>
            <a:fillRect/>
          </a:stretch>
        </p:blipFill>
        <p:spPr bwMode="gray">
          <a:xfrm>
            <a:off x="10353657" y="4073259"/>
            <a:ext cx="539063" cy="414000"/>
          </a:xfrm>
          <a:prstGeom prst="rect">
            <a:avLst/>
          </a:prstGeom>
        </p:spPr>
      </p:pic>
      <p:pic>
        <p:nvPicPr>
          <p:cNvPr id="19" name="图片 2" descr="交换机.png"/>
          <p:cNvPicPr>
            <a:picLocks noChangeAspect="1"/>
          </p:cNvPicPr>
          <p:nvPr/>
        </p:nvPicPr>
        <p:blipFill>
          <a:blip r:embed="rId8" cstate="print"/>
          <a:stretch>
            <a:fillRect/>
          </a:stretch>
        </p:blipFill>
        <p:spPr bwMode="gray">
          <a:xfrm>
            <a:off x="8519317" y="2788821"/>
            <a:ext cx="546881" cy="447448"/>
          </a:xfrm>
          <a:prstGeom prst="rect">
            <a:avLst/>
          </a:prstGeom>
        </p:spPr>
      </p:pic>
      <p:cxnSp>
        <p:nvCxnSpPr>
          <p:cNvPr id="22" name="Straight Connector 21"/>
          <p:cNvCxnSpPr>
            <a:stCxn id="8" idx="8"/>
            <a:endCxn id="7" idx="1"/>
          </p:cNvCxnSpPr>
          <p:nvPr/>
        </p:nvCxnSpPr>
        <p:spPr bwMode="gray">
          <a:xfrm flipV="1">
            <a:off x="3461926" y="4100378"/>
            <a:ext cx="185637" cy="233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27" name="Straight Connector 26"/>
          <p:cNvCxnSpPr>
            <a:stCxn id="7" idx="3"/>
            <a:endCxn id="14" idx="21"/>
          </p:cNvCxnSpPr>
          <p:nvPr/>
        </p:nvCxnSpPr>
        <p:spPr bwMode="gray">
          <a:xfrm>
            <a:off x="4188764" y="4100378"/>
            <a:ext cx="291363" cy="428"/>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32" name="Straight Connector 31"/>
          <p:cNvCxnSpPr>
            <a:stCxn id="14" idx="8"/>
            <a:endCxn id="10" idx="1"/>
          </p:cNvCxnSpPr>
          <p:nvPr/>
        </p:nvCxnSpPr>
        <p:spPr bwMode="gray">
          <a:xfrm>
            <a:off x="5402584" y="4092030"/>
            <a:ext cx="314338" cy="1038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36" name="Straight Connector 35"/>
          <p:cNvCxnSpPr>
            <a:cxnSpLocks/>
            <a:stCxn id="10" idx="3"/>
          </p:cNvCxnSpPr>
          <p:nvPr/>
        </p:nvCxnSpPr>
        <p:spPr bwMode="gray">
          <a:xfrm flipV="1">
            <a:off x="6241038" y="4099884"/>
            <a:ext cx="546508" cy="2527"/>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0" name="Straight Connector 39"/>
          <p:cNvCxnSpPr>
            <a:cxnSpLocks/>
            <a:endCxn id="11" idx="1"/>
          </p:cNvCxnSpPr>
          <p:nvPr/>
        </p:nvCxnSpPr>
        <p:spPr bwMode="gray">
          <a:xfrm>
            <a:off x="7980100" y="4099884"/>
            <a:ext cx="546098" cy="494"/>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8" name="Straight Connector 47"/>
          <p:cNvCxnSpPr>
            <a:stCxn id="13" idx="2"/>
            <a:endCxn id="10" idx="0"/>
          </p:cNvCxnSpPr>
          <p:nvPr/>
        </p:nvCxnSpPr>
        <p:spPr bwMode="gray">
          <a:xfrm>
            <a:off x="5978980" y="3236269"/>
            <a:ext cx="0" cy="64776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51" name="Straight Connector 50"/>
          <p:cNvCxnSpPr>
            <a:stCxn id="19" idx="2"/>
            <a:endCxn id="11" idx="0"/>
          </p:cNvCxnSpPr>
          <p:nvPr/>
        </p:nvCxnSpPr>
        <p:spPr bwMode="gray">
          <a:xfrm>
            <a:off x="8792758" y="3236269"/>
            <a:ext cx="3440" cy="642709"/>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54" name="图片 63" descr="笔记本电脑.png"/>
          <p:cNvPicPr>
            <a:picLocks noChangeAspect="1"/>
          </p:cNvPicPr>
          <p:nvPr/>
        </p:nvPicPr>
        <p:blipFill>
          <a:blip r:embed="rId9" cstate="print"/>
          <a:stretch>
            <a:fillRect/>
          </a:stretch>
        </p:blipFill>
        <p:spPr bwMode="gray">
          <a:xfrm>
            <a:off x="3282716" y="5114605"/>
            <a:ext cx="539779" cy="338400"/>
          </a:xfrm>
          <a:prstGeom prst="rect">
            <a:avLst/>
          </a:prstGeom>
        </p:spPr>
      </p:pic>
      <p:cxnSp>
        <p:nvCxnSpPr>
          <p:cNvPr id="55" name="Straight Connector 54"/>
          <p:cNvCxnSpPr>
            <a:cxnSpLocks/>
            <a:stCxn id="54" idx="3"/>
          </p:cNvCxnSpPr>
          <p:nvPr/>
        </p:nvCxnSpPr>
        <p:spPr bwMode="gray">
          <a:xfrm flipV="1">
            <a:off x="3822495" y="4400264"/>
            <a:ext cx="3561328" cy="88354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59" name="Straight Connector 58"/>
          <p:cNvCxnSpPr/>
          <p:nvPr/>
        </p:nvCxnSpPr>
        <p:spPr bwMode="gray">
          <a:xfrm>
            <a:off x="2826517" y="4570512"/>
            <a:ext cx="0" cy="1510628"/>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62" name="Straight Connector 61"/>
          <p:cNvCxnSpPr/>
          <p:nvPr/>
        </p:nvCxnSpPr>
        <p:spPr bwMode="gray">
          <a:xfrm>
            <a:off x="9552219" y="4528310"/>
            <a:ext cx="0" cy="1624838"/>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65" name="Straight Connector 64"/>
          <p:cNvCxnSpPr/>
          <p:nvPr/>
        </p:nvCxnSpPr>
        <p:spPr bwMode="gray">
          <a:xfrm>
            <a:off x="5966209" y="4494635"/>
            <a:ext cx="0" cy="578393"/>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cxnSp>
        <p:nvCxnSpPr>
          <p:cNvPr id="68" name="Straight Connector 67"/>
          <p:cNvCxnSpPr/>
          <p:nvPr/>
        </p:nvCxnSpPr>
        <p:spPr bwMode="gray">
          <a:xfrm>
            <a:off x="8792757" y="4528310"/>
            <a:ext cx="0" cy="924695"/>
          </a:xfrm>
          <a:prstGeom prst="line">
            <a:avLst/>
          </a:prstGeom>
          <a:solidFill>
            <a:schemeClr val="accent1"/>
          </a:solidFill>
          <a:ln w="12700" cap="flat" cmpd="sng" algn="ctr">
            <a:solidFill>
              <a:schemeClr val="bg1">
                <a:lumMod val="50000"/>
              </a:schemeClr>
            </a:solidFill>
            <a:prstDash val="dash"/>
            <a:round/>
            <a:headEnd type="none" w="med" len="med"/>
            <a:tailEnd type="none" w="med" len="med"/>
          </a:ln>
          <a:effectLst/>
        </p:spPr>
      </p:cxnSp>
      <p:sp>
        <p:nvSpPr>
          <p:cNvPr id="73" name="TextBox 72"/>
          <p:cNvSpPr txBox="1"/>
          <p:nvPr/>
        </p:nvSpPr>
        <p:spPr bwMode="gray">
          <a:xfrm>
            <a:off x="6988989" y="4712566"/>
            <a:ext cx="90027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solidFill>
                  <a:schemeClr val="bg1"/>
                </a:solidFill>
                <a:latin typeface="+mj-lt"/>
                <a:ea typeface="+mn-ea"/>
              </a:rPr>
              <a:t>VPDN</a:t>
            </a:r>
            <a:r>
              <a:rPr lang="zh-CN" altLang="en-US" sz="1200" dirty="0">
                <a:solidFill>
                  <a:schemeClr val="bg1"/>
                </a:solidFill>
                <a:latin typeface="+mj-lt"/>
                <a:ea typeface="+mn-ea"/>
              </a:rPr>
              <a:t>隧道</a:t>
            </a:r>
          </a:p>
        </p:txBody>
      </p:sp>
      <p:sp>
        <p:nvSpPr>
          <p:cNvPr id="74" name="TextBox 73"/>
          <p:cNvSpPr txBox="1"/>
          <p:nvPr/>
        </p:nvSpPr>
        <p:spPr bwMode="gray">
          <a:xfrm>
            <a:off x="6187610" y="5195325"/>
            <a:ext cx="90027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solidFill>
                  <a:schemeClr val="bg1"/>
                </a:solidFill>
                <a:latin typeface="+mj-lt"/>
                <a:ea typeface="+mn-ea"/>
              </a:rPr>
              <a:t>VPDN</a:t>
            </a:r>
            <a:r>
              <a:rPr lang="zh-CN" altLang="en-US" sz="1200" dirty="0">
                <a:solidFill>
                  <a:schemeClr val="bg1"/>
                </a:solidFill>
                <a:latin typeface="+mj-lt"/>
                <a:ea typeface="+mn-ea"/>
              </a:rPr>
              <a:t>隧道</a:t>
            </a:r>
          </a:p>
        </p:txBody>
      </p:sp>
      <p:cxnSp>
        <p:nvCxnSpPr>
          <p:cNvPr id="76" name="Straight Arrow Connector 75"/>
          <p:cNvCxnSpPr/>
          <p:nvPr/>
        </p:nvCxnSpPr>
        <p:spPr bwMode="gray">
          <a:xfrm>
            <a:off x="2886461" y="5937336"/>
            <a:ext cx="6622553" cy="0"/>
          </a:xfrm>
          <a:prstGeom prst="straightConnector1">
            <a:avLst/>
          </a:prstGeom>
          <a:solidFill>
            <a:schemeClr val="accent1"/>
          </a:solidFill>
          <a:ln w="28575" cap="flat" cmpd="sng" algn="ctr">
            <a:solidFill>
              <a:srgbClr val="56C4D2"/>
            </a:solidFill>
            <a:prstDash val="solid"/>
            <a:round/>
            <a:headEnd type="triangle"/>
            <a:tailEnd type="triangle"/>
          </a:ln>
          <a:effectLst/>
        </p:spPr>
      </p:cxnSp>
      <p:sp>
        <p:nvSpPr>
          <p:cNvPr id="77" name="TextBox 76"/>
          <p:cNvSpPr txBox="1"/>
          <p:nvPr/>
        </p:nvSpPr>
        <p:spPr bwMode="gray">
          <a:xfrm>
            <a:off x="5966209" y="5785284"/>
            <a:ext cx="677456" cy="304103"/>
          </a:xfrm>
          <a:prstGeom prst="rect">
            <a:avLst/>
          </a:prstGeom>
          <a:solidFill>
            <a:schemeClr val="bg1"/>
          </a:solid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VPDN</a:t>
            </a:r>
            <a:endParaRPr lang="zh-CN" altLang="en-US" sz="1400" dirty="0">
              <a:latin typeface="+mj-lt"/>
              <a:ea typeface="+mn-ea"/>
            </a:endParaRPr>
          </a:p>
        </p:txBody>
      </p:sp>
      <p:sp>
        <p:nvSpPr>
          <p:cNvPr id="78" name="TextBox 77"/>
          <p:cNvSpPr txBox="1"/>
          <p:nvPr/>
        </p:nvSpPr>
        <p:spPr bwMode="gray">
          <a:xfrm>
            <a:off x="1156647" y="336006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79" name="TextBox 78"/>
          <p:cNvSpPr txBox="1"/>
          <p:nvPr/>
        </p:nvSpPr>
        <p:spPr bwMode="gray">
          <a:xfrm>
            <a:off x="1147687" y="4143223"/>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80" name="TextBox 79"/>
          <p:cNvSpPr txBox="1"/>
          <p:nvPr/>
        </p:nvSpPr>
        <p:spPr bwMode="gray">
          <a:xfrm>
            <a:off x="10817204" y="336006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81" name="TextBox 80"/>
          <p:cNvSpPr txBox="1"/>
          <p:nvPr/>
        </p:nvSpPr>
        <p:spPr bwMode="gray">
          <a:xfrm>
            <a:off x="10872351" y="4143223"/>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82" name="TextBox 81"/>
          <p:cNvSpPr txBox="1"/>
          <p:nvPr/>
        </p:nvSpPr>
        <p:spPr bwMode="gray">
          <a:xfrm>
            <a:off x="2204730" y="3529627"/>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endParaRPr lang="zh-CN" altLang="en-US" sz="1400" dirty="0">
              <a:latin typeface="+mj-lt"/>
              <a:ea typeface="+mn-ea"/>
            </a:endParaRPr>
          </a:p>
        </p:txBody>
      </p:sp>
      <p:sp>
        <p:nvSpPr>
          <p:cNvPr id="83" name="TextBox 82"/>
          <p:cNvSpPr txBox="1"/>
          <p:nvPr/>
        </p:nvSpPr>
        <p:spPr bwMode="gray">
          <a:xfrm>
            <a:off x="9371873" y="3529627"/>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1400" dirty="0">
              <a:latin typeface="+mj-lt"/>
              <a:ea typeface="+mn-ea"/>
            </a:endParaRPr>
          </a:p>
        </p:txBody>
      </p:sp>
      <p:sp>
        <p:nvSpPr>
          <p:cNvPr id="84" name="TextBox 83"/>
          <p:cNvSpPr txBox="1"/>
          <p:nvPr/>
        </p:nvSpPr>
        <p:spPr bwMode="gray">
          <a:xfrm>
            <a:off x="1342946" y="4499339"/>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拨号用户</a:t>
            </a:r>
            <a:endParaRPr lang="zh-CN" altLang="en-US" sz="1400" dirty="0">
              <a:latin typeface="+mj-lt"/>
              <a:ea typeface="+mn-ea"/>
            </a:endParaRPr>
          </a:p>
        </p:txBody>
      </p:sp>
      <p:sp>
        <p:nvSpPr>
          <p:cNvPr id="85" name="TextBox 84"/>
          <p:cNvSpPr txBox="1"/>
          <p:nvPr/>
        </p:nvSpPr>
        <p:spPr bwMode="gray">
          <a:xfrm>
            <a:off x="4582901" y="3936836"/>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拨号网络</a:t>
            </a:r>
            <a:endParaRPr lang="zh-CN" altLang="en-US" sz="1400" dirty="0">
              <a:latin typeface="+mj-lt"/>
              <a:ea typeface="+mn-ea"/>
            </a:endParaRPr>
          </a:p>
        </p:txBody>
      </p:sp>
      <p:sp>
        <p:nvSpPr>
          <p:cNvPr id="86" name="TextBox 85"/>
          <p:cNvSpPr txBox="1"/>
          <p:nvPr/>
        </p:nvSpPr>
        <p:spPr bwMode="gray">
          <a:xfrm>
            <a:off x="5936222" y="3451649"/>
            <a:ext cx="578070"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NAS</a:t>
            </a:r>
          </a:p>
          <a:p>
            <a:pPr algn="ctr" fontAlgn="auto"/>
            <a:r>
              <a:rPr lang="en-US" altLang="zh-CN" sz="1200" dirty="0">
                <a:latin typeface="+mj-lt"/>
                <a:ea typeface="+mn-ea"/>
              </a:rPr>
              <a:t>(LAC)</a:t>
            </a:r>
            <a:endParaRPr lang="zh-CN" altLang="en-US" sz="1400" dirty="0">
              <a:latin typeface="+mj-lt"/>
              <a:ea typeface="+mn-ea"/>
            </a:endParaRPr>
          </a:p>
        </p:txBody>
      </p:sp>
      <p:sp>
        <p:nvSpPr>
          <p:cNvPr id="87" name="TextBox 86"/>
          <p:cNvSpPr txBox="1"/>
          <p:nvPr/>
        </p:nvSpPr>
        <p:spPr bwMode="gray">
          <a:xfrm>
            <a:off x="8584298" y="4297187"/>
            <a:ext cx="47547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LNS</a:t>
            </a:r>
            <a:endParaRPr lang="zh-CN" altLang="en-US" sz="1400" dirty="0">
              <a:latin typeface="+mj-lt"/>
              <a:ea typeface="+mn-ea"/>
            </a:endParaRPr>
          </a:p>
        </p:txBody>
      </p:sp>
      <p:sp>
        <p:nvSpPr>
          <p:cNvPr id="90" name="TextBox 89"/>
          <p:cNvSpPr txBox="1"/>
          <p:nvPr/>
        </p:nvSpPr>
        <p:spPr bwMode="gray">
          <a:xfrm>
            <a:off x="5386978" y="2541948"/>
            <a:ext cx="118400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RADIUS</a:t>
            </a:r>
            <a:r>
              <a:rPr lang="zh-CN" altLang="en-US" sz="1200" dirty="0">
                <a:latin typeface="+mj-lt"/>
                <a:ea typeface="+mn-ea"/>
              </a:rPr>
              <a:t>服务器</a:t>
            </a:r>
            <a:endParaRPr lang="zh-CN" altLang="en-US" sz="1400" dirty="0">
              <a:latin typeface="+mj-lt"/>
              <a:ea typeface="+mn-ea"/>
            </a:endParaRPr>
          </a:p>
        </p:txBody>
      </p:sp>
      <p:sp>
        <p:nvSpPr>
          <p:cNvPr id="91" name="TextBox 90"/>
          <p:cNvSpPr txBox="1"/>
          <p:nvPr/>
        </p:nvSpPr>
        <p:spPr bwMode="gray">
          <a:xfrm>
            <a:off x="8244832" y="2541948"/>
            <a:ext cx="118400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RADIUS</a:t>
            </a:r>
            <a:r>
              <a:rPr lang="zh-CN" altLang="en-US" sz="1200" dirty="0">
                <a:latin typeface="+mj-lt"/>
                <a:ea typeface="+mn-ea"/>
              </a:rPr>
              <a:t>服务器</a:t>
            </a:r>
            <a:endParaRPr lang="zh-CN" altLang="en-US" sz="1400" dirty="0">
              <a:latin typeface="+mj-lt"/>
              <a:ea typeface="+mn-ea"/>
            </a:endParaRPr>
          </a:p>
        </p:txBody>
      </p:sp>
      <p:grpSp>
        <p:nvGrpSpPr>
          <p:cNvPr id="52" name="Group 51"/>
          <p:cNvGrpSpPr/>
          <p:nvPr/>
        </p:nvGrpSpPr>
        <p:grpSpPr bwMode="gray">
          <a:xfrm>
            <a:off x="7329280" y="71282"/>
            <a:ext cx="4346140" cy="218510"/>
            <a:chOff x="6574396" y="121552"/>
            <a:chExt cx="4346140" cy="218510"/>
          </a:xfrm>
        </p:grpSpPr>
        <p:sp>
          <p:nvSpPr>
            <p:cNvPr id="53" name="五边形 24"/>
            <p:cNvSpPr/>
            <p:nvPr/>
          </p:nvSpPr>
          <p:spPr bwMode="gray">
            <a:xfrm>
              <a:off x="6574396" y="121552"/>
              <a:ext cx="152603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Access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56" name="燕尾形 25"/>
            <p:cNvSpPr/>
            <p:nvPr/>
          </p:nvSpPr>
          <p:spPr bwMode="gray">
            <a:xfrm>
              <a:off x="8026335" y="121552"/>
              <a:ext cx="1442263" cy="2131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spcBef>
                  <a:spcPts val="0"/>
                </a:spcBef>
              </a:pP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57"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
        <p:nvSpPr>
          <p:cNvPr id="58" name="Freeform 159">
            <a:extLst>
              <a:ext uri="{FF2B5EF4-FFF2-40B4-BE49-F238E27FC236}">
                <a16:creationId xmlns:a16="http://schemas.microsoft.com/office/drawing/2014/main" id="{4DF9E0DB-57D4-4E32-ACDB-E2E48838A781}"/>
              </a:ext>
            </a:extLst>
          </p:cNvPr>
          <p:cNvSpPr/>
          <p:nvPr/>
        </p:nvSpPr>
        <p:spPr bwMode="gray">
          <a:xfrm flipH="1">
            <a:off x="6726742" y="3714093"/>
            <a:ext cx="1253357" cy="6551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dirty="0">
                <a:solidFill>
                  <a:schemeClr val="tx1"/>
                </a:solidFill>
                <a:latin typeface="Huawei Sans" panose="020C0503030203020204" pitchFamily="34" charset="0"/>
                <a:ea typeface="方正兰亭黑简体" panose="02000000000000000000" pitchFamily="2" charset="-122"/>
              </a:rPr>
              <a:t>Internet</a:t>
            </a:r>
          </a:p>
        </p:txBody>
      </p:sp>
    </p:spTree>
    <p:extLst>
      <p:ext uri="{BB962C8B-B14F-4D97-AF65-F5344CB8AC3E}">
        <p14:creationId xmlns:p14="http://schemas.microsoft.com/office/powerpoint/2010/main" val="1065556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a:extLst>
              <a:ext uri="{FF2B5EF4-FFF2-40B4-BE49-F238E27FC236}">
                <a16:creationId xmlns:a16="http://schemas.microsoft.com/office/drawing/2014/main" id="{6BC83755-072C-4C95-9EE4-B12CBA70605B}"/>
              </a:ext>
            </a:extLst>
          </p:cNvPr>
          <p:cNvSpPr/>
          <p:nvPr/>
        </p:nvSpPr>
        <p:spPr bwMode="gray">
          <a:xfrm flipH="1">
            <a:off x="5458931" y="4129670"/>
            <a:ext cx="1253357" cy="6551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dirty="0">
                <a:solidFill>
                  <a:schemeClr val="tx1"/>
                </a:solidFill>
                <a:latin typeface="Huawei Sans" panose="020C0503030203020204" pitchFamily="34" charset="0"/>
                <a:ea typeface="方正兰亭黑简体" panose="02000000000000000000" pitchFamily="2" charset="-122"/>
              </a:rPr>
              <a:t>Internet</a:t>
            </a:r>
          </a:p>
        </p:txBody>
      </p:sp>
      <p:sp>
        <p:nvSpPr>
          <p:cNvPr id="2" name="Title 1"/>
          <p:cNvSpPr>
            <a:spLocks noGrp="1"/>
          </p:cNvSpPr>
          <p:nvPr>
            <p:ph type="title"/>
          </p:nvPr>
        </p:nvSpPr>
        <p:spPr bwMode="gray"/>
        <p:txBody>
          <a:bodyPr/>
          <a:lstStyle/>
          <a:p>
            <a:r>
              <a:rPr lang="en-US" altLang="zh-CN" dirty="0"/>
              <a:t>PPTP</a:t>
            </a:r>
            <a:r>
              <a:rPr lang="zh-CN" altLang="en-US" dirty="0"/>
              <a:t>简介</a:t>
            </a:r>
          </a:p>
        </p:txBody>
      </p:sp>
      <p:sp>
        <p:nvSpPr>
          <p:cNvPr id="3" name="Text Placeholder 2"/>
          <p:cNvSpPr>
            <a:spLocks noGrp="1"/>
          </p:cNvSpPr>
          <p:nvPr>
            <p:ph type="body" sz="quarter" idx="10"/>
          </p:nvPr>
        </p:nvSpPr>
        <p:spPr bwMode="gray">
          <a:xfrm>
            <a:off x="455612" y="1047750"/>
            <a:ext cx="11293475" cy="2679339"/>
          </a:xfrm>
        </p:spPr>
        <p:txBody>
          <a:bodyPr/>
          <a:lstStyle/>
          <a:p>
            <a:r>
              <a:rPr lang="en-US" altLang="zh-CN" sz="2000" dirty="0"/>
              <a:t>PPTP</a:t>
            </a:r>
            <a:r>
              <a:rPr lang="zh-CN" altLang="en-US" sz="2000" dirty="0"/>
              <a:t>协议是一个</a:t>
            </a:r>
            <a:r>
              <a:rPr lang="en-US" altLang="zh-CN" sz="2000" dirty="0"/>
              <a:t>VPN</a:t>
            </a:r>
            <a:r>
              <a:rPr lang="zh-CN" altLang="en-US" sz="2000" dirty="0"/>
              <a:t>协议，它已有</a:t>
            </a:r>
            <a:r>
              <a:rPr lang="en-US" altLang="zh-CN" sz="2000" dirty="0"/>
              <a:t>20</a:t>
            </a:r>
            <a:r>
              <a:rPr lang="zh-CN" altLang="en-US" sz="2000" dirty="0"/>
              <a:t>多年的历史。该协议依赖于加密，认证和点对点协议（</a:t>
            </a:r>
            <a:r>
              <a:rPr lang="en-US" altLang="zh-CN" sz="2000" dirty="0"/>
              <a:t>PPP</a:t>
            </a:r>
            <a:r>
              <a:rPr lang="zh-CN" altLang="en-US" sz="2000" dirty="0"/>
              <a:t>，</a:t>
            </a:r>
            <a:r>
              <a:rPr lang="en-US" altLang="zh-CN" sz="2000" dirty="0"/>
              <a:t>Point-to-Point Protocol</a:t>
            </a:r>
            <a:r>
              <a:rPr lang="zh-CN" altLang="en-US" sz="2000" dirty="0"/>
              <a:t>）进行协商。实质上，它只需要用户名、密码和服务器地址就可创建连接。</a:t>
            </a:r>
            <a:endParaRPr lang="en-US" altLang="zh-CN" sz="2000" dirty="0"/>
          </a:p>
          <a:p>
            <a:r>
              <a:rPr lang="en-US" altLang="zh-CN" sz="2000" dirty="0"/>
              <a:t>PPTP</a:t>
            </a:r>
            <a:r>
              <a:rPr lang="zh-CN" altLang="en-US" sz="2000" dirty="0"/>
              <a:t>速度很快，但是速度是以弱加密性为代价的。在所有</a:t>
            </a:r>
            <a:r>
              <a:rPr lang="en-US" altLang="zh-CN" sz="2000" dirty="0"/>
              <a:t>VPN</a:t>
            </a:r>
            <a:r>
              <a:rPr lang="zh-CN" altLang="en-US" sz="2000" dirty="0"/>
              <a:t>协议中，</a:t>
            </a:r>
            <a:r>
              <a:rPr lang="en-US" altLang="zh-CN" sz="2000" dirty="0"/>
              <a:t>PPTP</a:t>
            </a:r>
            <a:r>
              <a:rPr lang="zh-CN" altLang="en-US" sz="2000" dirty="0"/>
              <a:t>加密级别最低，且</a:t>
            </a:r>
            <a:r>
              <a:rPr lang="en-US" altLang="zh-CN" sz="2000" dirty="0"/>
              <a:t>PPTP</a:t>
            </a:r>
            <a:r>
              <a:rPr lang="zh-CN" altLang="en-US" sz="2000" dirty="0"/>
              <a:t>必须基于</a:t>
            </a:r>
            <a:r>
              <a:rPr lang="en-US" altLang="zh-CN" sz="2000" dirty="0"/>
              <a:t>IP</a:t>
            </a:r>
            <a:r>
              <a:rPr lang="zh-CN" altLang="en-US" sz="2000" dirty="0"/>
              <a:t>网络。</a:t>
            </a:r>
          </a:p>
        </p:txBody>
      </p:sp>
      <p:grpSp>
        <p:nvGrpSpPr>
          <p:cNvPr id="31" name="Group 30"/>
          <p:cNvGrpSpPr/>
          <p:nvPr/>
        </p:nvGrpSpPr>
        <p:grpSpPr bwMode="gray">
          <a:xfrm>
            <a:off x="2265679" y="4032474"/>
            <a:ext cx="7409289" cy="1072780"/>
            <a:chOff x="2265679" y="4672753"/>
            <a:chExt cx="7409289" cy="1072780"/>
          </a:xfrm>
        </p:grpSpPr>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685322" y="4877938"/>
              <a:ext cx="540000" cy="442800"/>
            </a:xfrm>
            <a:prstGeom prst="rect">
              <a:avLst/>
            </a:prstGeom>
          </p:spPr>
        </p:pic>
        <p:pic>
          <p:nvPicPr>
            <p:cNvPr id="5"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50332" y="4883854"/>
              <a:ext cx="540000" cy="442800"/>
            </a:xfrm>
            <a:prstGeom prst="rect">
              <a:avLst/>
            </a:prstGeom>
          </p:spPr>
        </p:pic>
        <p:pic>
          <p:nvPicPr>
            <p:cNvPr id="6" name="图片 73" descr="PC.png"/>
            <p:cNvPicPr>
              <a:picLocks noChangeAspect="1"/>
            </p:cNvPicPr>
            <p:nvPr/>
          </p:nvPicPr>
          <p:blipFill>
            <a:blip r:embed="rId4" cstate="print"/>
            <a:stretch>
              <a:fillRect/>
            </a:stretch>
          </p:blipFill>
          <p:spPr bwMode="gray">
            <a:xfrm>
              <a:off x="2265679" y="4892338"/>
              <a:ext cx="539063" cy="414000"/>
            </a:xfrm>
            <a:prstGeom prst="rect">
              <a:avLst/>
            </a:prstGeom>
          </p:spPr>
        </p:pic>
        <p:pic>
          <p:nvPicPr>
            <p:cNvPr id="7" name="图片 73" descr="PC.png"/>
            <p:cNvPicPr>
              <a:picLocks noChangeAspect="1"/>
            </p:cNvPicPr>
            <p:nvPr/>
          </p:nvPicPr>
          <p:blipFill>
            <a:blip r:embed="rId4" cstate="print"/>
            <a:stretch>
              <a:fillRect/>
            </a:stretch>
          </p:blipFill>
          <p:spPr bwMode="gray">
            <a:xfrm>
              <a:off x="9135905" y="4890532"/>
              <a:ext cx="539063" cy="414000"/>
            </a:xfrm>
            <a:prstGeom prst="rect">
              <a:avLst/>
            </a:prstGeom>
          </p:spPr>
        </p:pic>
        <p:cxnSp>
          <p:nvCxnSpPr>
            <p:cNvPr id="9" name="Straight Connector 8"/>
            <p:cNvCxnSpPr>
              <a:stCxn id="6" idx="3"/>
              <a:endCxn id="5" idx="1"/>
            </p:cNvCxnSpPr>
            <p:nvPr/>
          </p:nvCxnSpPr>
          <p:spPr bwMode="gray">
            <a:xfrm>
              <a:off x="2804742" y="5099338"/>
              <a:ext cx="1145590" cy="591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3" name="Straight Connector 12"/>
            <p:cNvCxnSpPr>
              <a:cxnSpLocks/>
              <a:stCxn id="5" idx="3"/>
            </p:cNvCxnSpPr>
            <p:nvPr/>
          </p:nvCxnSpPr>
          <p:spPr bwMode="gray">
            <a:xfrm flipV="1">
              <a:off x="4490332" y="5097532"/>
              <a:ext cx="1009391" cy="7722"/>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6" name="Straight Connector 15"/>
            <p:cNvCxnSpPr>
              <a:cxnSpLocks/>
              <a:endCxn id="4" idx="1"/>
            </p:cNvCxnSpPr>
            <p:nvPr/>
          </p:nvCxnSpPr>
          <p:spPr bwMode="gray">
            <a:xfrm>
              <a:off x="6692277" y="5097532"/>
              <a:ext cx="993045" cy="180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9" name="Straight Connector 18"/>
            <p:cNvCxnSpPr>
              <a:stCxn id="4" idx="3"/>
              <a:endCxn id="7" idx="1"/>
            </p:cNvCxnSpPr>
            <p:nvPr/>
          </p:nvCxnSpPr>
          <p:spPr bwMode="gray">
            <a:xfrm flipV="1">
              <a:off x="8225322" y="5097532"/>
              <a:ext cx="910583" cy="180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22" name="TextBox 21"/>
            <p:cNvSpPr txBox="1"/>
            <p:nvPr/>
          </p:nvSpPr>
          <p:spPr bwMode="gray">
            <a:xfrm>
              <a:off x="2339950" y="5261249"/>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200" dirty="0">
                <a:latin typeface="+mj-lt"/>
                <a:ea typeface="+mn-ea"/>
              </a:endParaRPr>
            </a:p>
          </p:txBody>
        </p:sp>
        <p:sp>
          <p:nvSpPr>
            <p:cNvPr id="23" name="TextBox 22"/>
            <p:cNvSpPr txBox="1"/>
            <p:nvPr/>
          </p:nvSpPr>
          <p:spPr bwMode="gray">
            <a:xfrm>
              <a:off x="9210176" y="5261248"/>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200" dirty="0">
                <a:latin typeface="+mj-lt"/>
                <a:ea typeface="+mn-ea"/>
              </a:endParaRPr>
            </a:p>
          </p:txBody>
        </p:sp>
        <p:sp>
          <p:nvSpPr>
            <p:cNvPr id="24" name="TextBox 23"/>
            <p:cNvSpPr txBox="1"/>
            <p:nvPr/>
          </p:nvSpPr>
          <p:spPr bwMode="gray">
            <a:xfrm>
              <a:off x="3907736" y="5287542"/>
              <a:ext cx="620197"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PPTP </a:t>
              </a:r>
            </a:p>
            <a:p>
              <a:pPr algn="ctr" fontAlgn="auto"/>
              <a:r>
                <a:rPr lang="en-US" altLang="zh-CN" sz="1200" dirty="0">
                  <a:latin typeface="+mj-lt"/>
                  <a:ea typeface="+mn-ea"/>
                </a:rPr>
                <a:t>Client</a:t>
              </a:r>
              <a:endParaRPr lang="zh-CN" altLang="en-US" sz="1200" dirty="0">
                <a:latin typeface="+mj-lt"/>
                <a:ea typeface="+mn-ea"/>
              </a:endParaRPr>
            </a:p>
          </p:txBody>
        </p:sp>
        <p:sp>
          <p:nvSpPr>
            <p:cNvPr id="25" name="TextBox 24"/>
            <p:cNvSpPr txBox="1"/>
            <p:nvPr/>
          </p:nvSpPr>
          <p:spPr bwMode="gray">
            <a:xfrm>
              <a:off x="7641128" y="5287542"/>
              <a:ext cx="620197"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PPTP </a:t>
              </a:r>
            </a:p>
            <a:p>
              <a:pPr algn="ctr" fontAlgn="auto"/>
              <a:r>
                <a:rPr lang="en-US" altLang="zh-CN" sz="1200" dirty="0">
                  <a:latin typeface="+mj-lt"/>
                  <a:ea typeface="+mn-ea"/>
                </a:rPr>
                <a:t>Client</a:t>
              </a:r>
              <a:endParaRPr lang="zh-CN" altLang="en-US" sz="1200" dirty="0">
                <a:latin typeface="+mj-lt"/>
                <a:ea typeface="+mn-ea"/>
              </a:endParaRPr>
            </a:p>
          </p:txBody>
        </p:sp>
        <p:cxnSp>
          <p:nvCxnSpPr>
            <p:cNvPr id="26" name="Straight Arrow Connector 25"/>
            <p:cNvCxnSpPr/>
            <p:nvPr/>
          </p:nvCxnSpPr>
          <p:spPr bwMode="gray">
            <a:xfrm>
              <a:off x="4620438" y="4955862"/>
              <a:ext cx="2980267" cy="0"/>
            </a:xfrm>
            <a:prstGeom prst="straightConnector1">
              <a:avLst/>
            </a:prstGeom>
            <a:solidFill>
              <a:schemeClr val="accent1"/>
            </a:solidFill>
            <a:ln w="28575" cap="flat" cmpd="sng" algn="ctr">
              <a:solidFill>
                <a:srgbClr val="56C4D2"/>
              </a:solidFill>
              <a:prstDash val="dash"/>
              <a:round/>
              <a:headEnd type="triangle"/>
              <a:tailEnd type="triangle"/>
            </a:ln>
            <a:effectLst/>
          </p:spPr>
        </p:cxnSp>
        <p:cxnSp>
          <p:nvCxnSpPr>
            <p:cNvPr id="29" name="Straight Arrow Connector 28"/>
            <p:cNvCxnSpPr/>
            <p:nvPr/>
          </p:nvCxnSpPr>
          <p:spPr bwMode="gray">
            <a:xfrm>
              <a:off x="4620438" y="5261248"/>
              <a:ext cx="2980267" cy="0"/>
            </a:xfrm>
            <a:prstGeom prst="straightConnector1">
              <a:avLst/>
            </a:prstGeom>
            <a:solidFill>
              <a:schemeClr val="accent1"/>
            </a:solidFill>
            <a:ln w="28575" cap="flat" cmpd="sng" algn="ctr">
              <a:solidFill>
                <a:srgbClr val="56C4D2"/>
              </a:solidFill>
              <a:prstDash val="dash"/>
              <a:round/>
              <a:headEnd type="triangle"/>
              <a:tailEnd type="triangle"/>
            </a:ln>
            <a:effectLst/>
          </p:spPr>
        </p:cxnSp>
        <p:sp>
          <p:nvSpPr>
            <p:cNvPr id="30" name="TextBox 29"/>
            <p:cNvSpPr txBox="1"/>
            <p:nvPr/>
          </p:nvSpPr>
          <p:spPr bwMode="gray">
            <a:xfrm>
              <a:off x="6488338" y="4672753"/>
              <a:ext cx="1197878"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PPTP Tunnel</a:t>
              </a:r>
              <a:endParaRPr lang="zh-CN" altLang="en-US" sz="1200" dirty="0">
                <a:latin typeface="+mj-lt"/>
                <a:ea typeface="+mn-ea"/>
              </a:endParaRPr>
            </a:p>
          </p:txBody>
        </p:sp>
      </p:grpSp>
      <p:grpSp>
        <p:nvGrpSpPr>
          <p:cNvPr id="38" name="Group 37"/>
          <p:cNvGrpSpPr/>
          <p:nvPr/>
        </p:nvGrpSpPr>
        <p:grpSpPr bwMode="gray">
          <a:xfrm>
            <a:off x="7329284" y="71282"/>
            <a:ext cx="4346140" cy="218510"/>
            <a:chOff x="6574396" y="121552"/>
            <a:chExt cx="4346140" cy="218510"/>
          </a:xfrm>
        </p:grpSpPr>
        <p:sp>
          <p:nvSpPr>
            <p:cNvPr id="39" name="五边形 24"/>
            <p:cNvSpPr/>
            <p:nvPr/>
          </p:nvSpPr>
          <p:spPr bwMode="gray">
            <a:xfrm>
              <a:off x="6574396" y="121552"/>
              <a:ext cx="152603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Access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40" name="燕尾形 25"/>
            <p:cNvSpPr/>
            <p:nvPr/>
          </p:nvSpPr>
          <p:spPr bwMode="gray">
            <a:xfrm>
              <a:off x="8026335" y="121552"/>
              <a:ext cx="1442263" cy="2131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41"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790551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a:extLst>
              <a:ext uri="{FF2B5EF4-FFF2-40B4-BE49-F238E27FC236}">
                <a16:creationId xmlns:a16="http://schemas.microsoft.com/office/drawing/2014/main" id="{37284E01-27BA-47B4-BD71-759E5C11108E}"/>
              </a:ext>
            </a:extLst>
          </p:cNvPr>
          <p:cNvSpPr/>
          <p:nvPr/>
        </p:nvSpPr>
        <p:spPr bwMode="gray">
          <a:xfrm flipH="1">
            <a:off x="5458931" y="3960784"/>
            <a:ext cx="1253357" cy="6551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dirty="0">
                <a:solidFill>
                  <a:schemeClr val="tx1"/>
                </a:solidFill>
                <a:latin typeface="Huawei Sans" panose="020C0503030203020204" pitchFamily="34" charset="0"/>
                <a:ea typeface="方正兰亭黑简体" panose="02000000000000000000" pitchFamily="2" charset="-122"/>
              </a:rPr>
              <a:t>Internet</a:t>
            </a:r>
          </a:p>
        </p:txBody>
      </p:sp>
      <p:sp>
        <p:nvSpPr>
          <p:cNvPr id="2" name="Title 1"/>
          <p:cNvSpPr>
            <a:spLocks noGrp="1"/>
          </p:cNvSpPr>
          <p:nvPr>
            <p:ph type="title"/>
          </p:nvPr>
        </p:nvSpPr>
        <p:spPr bwMode="gray"/>
        <p:txBody>
          <a:bodyPr/>
          <a:lstStyle/>
          <a:p>
            <a:r>
              <a:rPr lang="en-US" altLang="zh-CN"/>
              <a:t>L2TP</a:t>
            </a:r>
            <a:r>
              <a:rPr lang="zh-CN" altLang="en-US"/>
              <a:t>简介</a:t>
            </a:r>
            <a:endParaRPr lang="zh-CN" altLang="en-US" dirty="0"/>
          </a:p>
        </p:txBody>
      </p:sp>
      <p:sp>
        <p:nvSpPr>
          <p:cNvPr id="3" name="Text Placeholder 2"/>
          <p:cNvSpPr>
            <a:spLocks noGrp="1"/>
          </p:cNvSpPr>
          <p:nvPr>
            <p:ph type="body" sz="quarter" idx="10"/>
          </p:nvPr>
        </p:nvSpPr>
        <p:spPr bwMode="gray"/>
        <p:txBody>
          <a:bodyPr/>
          <a:lstStyle/>
          <a:p>
            <a:r>
              <a:rPr lang="en-US" altLang="zh-CN" sz="2000" dirty="0"/>
              <a:t>IETF</a:t>
            </a:r>
            <a:r>
              <a:rPr lang="zh-CN" altLang="en-US" sz="2000" dirty="0"/>
              <a:t>的开放标准</a:t>
            </a:r>
            <a:r>
              <a:rPr lang="en-US" altLang="zh-CN" sz="2000" dirty="0"/>
              <a:t>L2TP</a:t>
            </a:r>
            <a:r>
              <a:rPr lang="zh-CN" altLang="en-US" sz="2000" dirty="0"/>
              <a:t>协议结合了</a:t>
            </a:r>
            <a:r>
              <a:rPr lang="en-US" altLang="zh-CN" sz="2000" dirty="0"/>
              <a:t>PPTP</a:t>
            </a:r>
            <a:r>
              <a:rPr lang="zh-CN" altLang="en-US" sz="2000" dirty="0"/>
              <a:t>等协议的优点，特别适合组建远程接入方式的</a:t>
            </a:r>
            <a:r>
              <a:rPr lang="en-US" altLang="zh-CN" sz="2000" dirty="0"/>
              <a:t>VPN</a:t>
            </a:r>
            <a:r>
              <a:rPr lang="zh-CN" altLang="en-US" sz="2000" dirty="0"/>
              <a:t>，已经成为事实上的工业标准。</a:t>
            </a:r>
            <a:endParaRPr lang="en-US" altLang="zh-CN" sz="2000" dirty="0"/>
          </a:p>
          <a:p>
            <a:r>
              <a:rPr lang="zh-CN" altLang="en-US" sz="2000" dirty="0"/>
              <a:t>但请注意，</a:t>
            </a:r>
            <a:r>
              <a:rPr lang="en-US" altLang="zh-CN" sz="2000" dirty="0"/>
              <a:t>L2TP</a:t>
            </a:r>
            <a:r>
              <a:rPr lang="zh-CN" altLang="en-US" sz="2000" dirty="0"/>
              <a:t>只是一种隧道协议，既不提供加密也不保证隐私，因此一般与</a:t>
            </a:r>
            <a:r>
              <a:rPr lang="en-US" altLang="zh-CN" sz="2000" dirty="0"/>
              <a:t>IPsec</a:t>
            </a:r>
            <a:r>
              <a:rPr lang="zh-CN" altLang="en-US" sz="2000" dirty="0"/>
              <a:t>配合使用。</a:t>
            </a:r>
            <a:endParaRPr lang="en-US" altLang="zh-CN" sz="2000" dirty="0"/>
          </a:p>
          <a:p>
            <a:r>
              <a:rPr lang="en-US" altLang="zh-CN" sz="2000" dirty="0"/>
              <a:t>L2TP</a:t>
            </a:r>
            <a:r>
              <a:rPr lang="zh-CN" altLang="en-US" sz="2000" dirty="0"/>
              <a:t>被作为常用的企业互联技术之一，使用</a:t>
            </a:r>
            <a:r>
              <a:rPr lang="en-US" altLang="zh-CN" sz="2000" dirty="0"/>
              <a:t>L2TP</a:t>
            </a:r>
            <a:r>
              <a:rPr lang="zh-CN" altLang="en-US" sz="2000" dirty="0"/>
              <a:t>需要配合</a:t>
            </a:r>
            <a:r>
              <a:rPr lang="en-US" altLang="zh-CN" sz="2000" dirty="0"/>
              <a:t>AAA</a:t>
            </a:r>
            <a:r>
              <a:rPr lang="zh-CN" altLang="en-US" sz="2000" dirty="0"/>
              <a:t>服务器，当需要构建</a:t>
            </a:r>
            <a:r>
              <a:rPr lang="en-US" altLang="zh-CN" sz="2000" dirty="0"/>
              <a:t>L2VPN</a:t>
            </a:r>
            <a:r>
              <a:rPr lang="zh-CN" altLang="en-US" sz="2000" dirty="0"/>
              <a:t>时，</a:t>
            </a:r>
            <a:r>
              <a:rPr lang="en-US" altLang="zh-CN" sz="2000" dirty="0"/>
              <a:t>L2TP</a:t>
            </a:r>
            <a:r>
              <a:rPr lang="zh-CN" altLang="en-US" sz="2000" dirty="0"/>
              <a:t>是非常好的选择。</a:t>
            </a:r>
          </a:p>
        </p:txBody>
      </p:sp>
      <p:sp>
        <p:nvSpPr>
          <p:cNvPr id="4" name="Freeform 159"/>
          <p:cNvSpPr/>
          <p:nvPr/>
        </p:nvSpPr>
        <p:spPr bwMode="gray">
          <a:xfrm flipH="1">
            <a:off x="2349127" y="3773852"/>
            <a:ext cx="1327741" cy="78980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endParaRPr>
          </a:p>
        </p:txBody>
      </p:sp>
      <p:pic>
        <p:nvPicPr>
          <p:cNvPr id="5"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567376" y="4088997"/>
            <a:ext cx="540000" cy="442800"/>
          </a:xfrm>
          <a:prstGeom prst="rect">
            <a:avLst/>
          </a:prstGeom>
        </p:spPr>
      </p:pic>
      <p:sp>
        <p:nvSpPr>
          <p:cNvPr id="6" name="Freeform 159"/>
          <p:cNvSpPr/>
          <p:nvPr/>
        </p:nvSpPr>
        <p:spPr bwMode="gray">
          <a:xfrm flipH="1">
            <a:off x="8363791" y="3773852"/>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971369" y="4088997"/>
            <a:ext cx="540000" cy="442800"/>
          </a:xfrm>
          <a:prstGeom prst="rect">
            <a:avLst/>
          </a:prstGeom>
        </p:spPr>
      </p:pic>
      <p:pic>
        <p:nvPicPr>
          <p:cNvPr id="8" name="图片 42" descr="大型网管-蓝.png"/>
          <p:cNvPicPr>
            <a:picLocks noChangeAspect="1"/>
          </p:cNvPicPr>
          <p:nvPr/>
        </p:nvPicPr>
        <p:blipFill>
          <a:blip r:embed="rId4" cstate="print"/>
          <a:stretch>
            <a:fillRect/>
          </a:stretch>
        </p:blipFill>
        <p:spPr bwMode="gray">
          <a:xfrm>
            <a:off x="8971523" y="4096103"/>
            <a:ext cx="539607" cy="441817"/>
          </a:xfrm>
          <a:prstGeom prst="rect">
            <a:avLst/>
          </a:prstGeom>
        </p:spPr>
      </p:pic>
      <p:sp>
        <p:nvSpPr>
          <p:cNvPr id="9" name="TextBox 8"/>
          <p:cNvSpPr txBox="1"/>
          <p:nvPr/>
        </p:nvSpPr>
        <p:spPr bwMode="gray">
          <a:xfrm>
            <a:off x="7991591" y="3735271"/>
            <a:ext cx="475477"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LNS</a:t>
            </a:r>
            <a:endParaRPr lang="zh-CN" altLang="en-US" sz="1200" dirty="0">
              <a:latin typeface="+mj-lt"/>
              <a:ea typeface="+mn-ea"/>
            </a:endParaRPr>
          </a:p>
        </p:txBody>
      </p:sp>
      <p:sp>
        <p:nvSpPr>
          <p:cNvPr id="10" name="TextBox 9"/>
          <p:cNvSpPr txBox="1"/>
          <p:nvPr/>
        </p:nvSpPr>
        <p:spPr bwMode="gray">
          <a:xfrm>
            <a:off x="3349344" y="3638113"/>
            <a:ext cx="976064"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Client</a:t>
            </a:r>
          </a:p>
          <a:p>
            <a:pPr algn="ctr" fontAlgn="auto"/>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p>
        </p:txBody>
      </p:sp>
      <p:pic>
        <p:nvPicPr>
          <p:cNvPr id="13" name="图片 51" descr="交换机.png"/>
          <p:cNvPicPr>
            <a:picLocks noChangeAspect="1"/>
          </p:cNvPicPr>
          <p:nvPr/>
        </p:nvPicPr>
        <p:blipFill>
          <a:blip r:embed="rId5" cstate="print"/>
          <a:stretch>
            <a:fillRect/>
          </a:stretch>
        </p:blipFill>
        <p:spPr bwMode="gray">
          <a:xfrm>
            <a:off x="2622188" y="4096104"/>
            <a:ext cx="540000" cy="441817"/>
          </a:xfrm>
          <a:prstGeom prst="rect">
            <a:avLst/>
          </a:prstGeom>
        </p:spPr>
      </p:pic>
      <p:sp>
        <p:nvSpPr>
          <p:cNvPr id="14" name="TextBox 13"/>
          <p:cNvSpPr txBox="1"/>
          <p:nvPr/>
        </p:nvSpPr>
        <p:spPr bwMode="gray">
          <a:xfrm>
            <a:off x="2642377" y="3867108"/>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p>
        </p:txBody>
      </p:sp>
      <p:sp>
        <p:nvSpPr>
          <p:cNvPr id="15" name="TextBox 14"/>
          <p:cNvSpPr txBox="1"/>
          <p:nvPr/>
        </p:nvSpPr>
        <p:spPr bwMode="gray">
          <a:xfrm>
            <a:off x="8618965" y="3867107"/>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p>
        </p:txBody>
      </p:sp>
      <p:cxnSp>
        <p:nvCxnSpPr>
          <p:cNvPr id="16" name="Straight Connector 15"/>
          <p:cNvCxnSpPr>
            <a:cxnSpLocks/>
            <a:endCxn id="5" idx="3"/>
          </p:cNvCxnSpPr>
          <p:nvPr/>
        </p:nvCxnSpPr>
        <p:spPr bwMode="gray">
          <a:xfrm flipH="1">
            <a:off x="4107376" y="4310397"/>
            <a:ext cx="121824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9" name="Straight Connector 18"/>
          <p:cNvCxnSpPr>
            <a:cxnSpLocks/>
            <a:stCxn id="7" idx="1"/>
          </p:cNvCxnSpPr>
          <p:nvPr/>
        </p:nvCxnSpPr>
        <p:spPr bwMode="gray">
          <a:xfrm flipH="1">
            <a:off x="6838989" y="4310397"/>
            <a:ext cx="1132380"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3" name="TextBox 22"/>
          <p:cNvSpPr txBox="1"/>
          <p:nvPr/>
        </p:nvSpPr>
        <p:spPr bwMode="gray">
          <a:xfrm>
            <a:off x="4264513" y="3996417"/>
            <a:ext cx="104454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Tunnel</a:t>
            </a:r>
            <a:endParaRPr lang="zh-CN" altLang="en-US" sz="1200" dirty="0">
              <a:latin typeface="+mj-lt"/>
              <a:ea typeface="+mn-ea"/>
            </a:endParaRPr>
          </a:p>
        </p:txBody>
      </p:sp>
      <p:pic>
        <p:nvPicPr>
          <p:cNvPr id="28" name="图片 56" descr="管理型无线虚链路-蓝.png"/>
          <p:cNvPicPr>
            <a:picLocks noChangeAspect="1"/>
          </p:cNvPicPr>
          <p:nvPr/>
        </p:nvPicPr>
        <p:blipFill>
          <a:blip r:embed="rId6" cstate="print"/>
          <a:stretch>
            <a:fillRect/>
          </a:stretch>
        </p:blipFill>
        <p:spPr bwMode="gray">
          <a:xfrm>
            <a:off x="3994709" y="5245165"/>
            <a:ext cx="539607" cy="441818"/>
          </a:xfrm>
          <a:prstGeom prst="rect">
            <a:avLst/>
          </a:prstGeom>
        </p:spPr>
      </p:pic>
      <p:cxnSp>
        <p:nvCxnSpPr>
          <p:cNvPr id="29" name="Straight Connector 28"/>
          <p:cNvCxnSpPr>
            <a:cxnSpLocks/>
            <a:stCxn id="28" idx="3"/>
          </p:cNvCxnSpPr>
          <p:nvPr/>
        </p:nvCxnSpPr>
        <p:spPr bwMode="gray">
          <a:xfrm flipV="1">
            <a:off x="4534316" y="4615950"/>
            <a:ext cx="1568034" cy="850124"/>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32" name="TextBox 31"/>
          <p:cNvSpPr txBox="1"/>
          <p:nvPr/>
        </p:nvSpPr>
        <p:spPr bwMode="gray">
          <a:xfrm rot="20510077">
            <a:off x="6094322" y="4945075"/>
            <a:ext cx="104454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Tunnel</a:t>
            </a:r>
            <a:endParaRPr lang="zh-CN" altLang="en-US" sz="1200" dirty="0">
              <a:latin typeface="+mj-lt"/>
              <a:ea typeface="+mn-ea"/>
            </a:endParaRPr>
          </a:p>
        </p:txBody>
      </p:sp>
      <p:sp>
        <p:nvSpPr>
          <p:cNvPr id="31" name="Can 225"/>
          <p:cNvSpPr/>
          <p:nvPr/>
        </p:nvSpPr>
        <p:spPr bwMode="gray">
          <a:xfrm rot="5400000" flipH="1">
            <a:off x="5942406" y="2370486"/>
            <a:ext cx="182222" cy="3852005"/>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Can 225"/>
          <p:cNvSpPr/>
          <p:nvPr/>
        </p:nvSpPr>
        <p:spPr bwMode="gray">
          <a:xfrm rot="4334451" flipH="1">
            <a:off x="6169219" y="3259927"/>
            <a:ext cx="182222" cy="3510064"/>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7" name="Group 36"/>
          <p:cNvGrpSpPr/>
          <p:nvPr/>
        </p:nvGrpSpPr>
        <p:grpSpPr bwMode="gray">
          <a:xfrm>
            <a:off x="7329286" y="71282"/>
            <a:ext cx="4346140" cy="218510"/>
            <a:chOff x="6574396" y="121552"/>
            <a:chExt cx="4346140" cy="218510"/>
          </a:xfrm>
        </p:grpSpPr>
        <p:sp>
          <p:nvSpPr>
            <p:cNvPr id="38" name="五边形 24"/>
            <p:cNvSpPr/>
            <p:nvPr/>
          </p:nvSpPr>
          <p:spPr bwMode="gray">
            <a:xfrm>
              <a:off x="6574396" y="121552"/>
              <a:ext cx="152603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Access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39" name="燕尾形 25"/>
            <p:cNvSpPr/>
            <p:nvPr/>
          </p:nvSpPr>
          <p:spPr bwMode="gray">
            <a:xfrm>
              <a:off x="8026335" y="121552"/>
              <a:ext cx="1442263" cy="2131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40"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410469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Access VPN</a:t>
            </a:r>
            <a:r>
              <a:rPr lang="zh-CN" altLang="en-US" dirty="0"/>
              <a:t>现网应用</a:t>
            </a:r>
          </a:p>
        </p:txBody>
      </p:sp>
      <p:sp>
        <p:nvSpPr>
          <p:cNvPr id="3" name="Text Placeholder 2"/>
          <p:cNvSpPr>
            <a:spLocks noGrp="1"/>
          </p:cNvSpPr>
          <p:nvPr>
            <p:ph type="body" sz="quarter" idx="10"/>
          </p:nvPr>
        </p:nvSpPr>
        <p:spPr bwMode="gray"/>
        <p:txBody>
          <a:bodyPr/>
          <a:lstStyle/>
          <a:p>
            <a:r>
              <a:rPr lang="en-US" altLang="zh-CN" sz="2000" dirty="0"/>
              <a:t>Access VPN </a:t>
            </a:r>
            <a:r>
              <a:rPr lang="zh-CN" altLang="en-US" sz="2000" dirty="0"/>
              <a:t>现网中多用于内网用户远程接入，使用最多的是</a:t>
            </a:r>
            <a:r>
              <a:rPr lang="en-US" altLang="zh-CN" sz="2000" dirty="0"/>
              <a:t>L2TP over IPsec</a:t>
            </a:r>
            <a:r>
              <a:rPr lang="zh-CN" altLang="en-US" sz="2000" dirty="0"/>
              <a:t>。</a:t>
            </a:r>
            <a:endParaRPr lang="en-US" altLang="zh-CN" sz="2000" dirty="0"/>
          </a:p>
          <a:p>
            <a:r>
              <a:rPr lang="en-US" altLang="zh-CN" sz="2000" dirty="0"/>
              <a:t>PPTP</a:t>
            </a:r>
            <a:r>
              <a:rPr lang="zh-CN" altLang="en-US" sz="2000" dirty="0"/>
              <a:t>由于需要</a:t>
            </a:r>
            <a:r>
              <a:rPr lang="en-US" altLang="zh-CN" sz="2000" dirty="0"/>
              <a:t>Windows</a:t>
            </a:r>
            <a:r>
              <a:rPr lang="zh-CN" altLang="en-US" sz="2000" dirty="0"/>
              <a:t>系统支持，且外网接入需要将内网的</a:t>
            </a:r>
            <a:r>
              <a:rPr lang="en-US" altLang="zh-CN" sz="2000" dirty="0"/>
              <a:t>Windows</a:t>
            </a:r>
            <a:r>
              <a:rPr lang="zh-CN" altLang="en-US" sz="2000" dirty="0"/>
              <a:t>服务器通过</a:t>
            </a:r>
            <a:r>
              <a:rPr lang="en-US" altLang="zh-CN" sz="2000" dirty="0"/>
              <a:t>NAT</a:t>
            </a:r>
            <a:r>
              <a:rPr lang="zh-CN" altLang="en-US" sz="2000" dirty="0"/>
              <a:t>映射出去，部署不便，使用很少。</a:t>
            </a:r>
          </a:p>
        </p:txBody>
      </p:sp>
      <p:sp>
        <p:nvSpPr>
          <p:cNvPr id="9" name="圆角矩形 75"/>
          <p:cNvSpPr/>
          <p:nvPr/>
        </p:nvSpPr>
        <p:spPr bwMode="gray">
          <a:xfrm>
            <a:off x="554018" y="2733232"/>
            <a:ext cx="1105059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L2TP Over IPsec</a:t>
            </a:r>
            <a:r>
              <a:rPr lang="zh-CN" altLang="en-US" sz="1600" dirty="0">
                <a:solidFill>
                  <a:srgbClr val="30B5C5"/>
                </a:solidFill>
                <a:latin typeface="Huawei Sans" panose="020C0503030203020204" pitchFamily="34" charset="0"/>
                <a:ea typeface="方正兰亭黑简体" panose="02000000000000000000" pitchFamily="2" charset="-122"/>
              </a:rPr>
              <a:t>现网应用</a:t>
            </a:r>
          </a:p>
        </p:txBody>
      </p:sp>
      <p:sp>
        <p:nvSpPr>
          <p:cNvPr id="10" name="圆角矩形 75"/>
          <p:cNvSpPr/>
          <p:nvPr/>
        </p:nvSpPr>
        <p:spPr bwMode="gray">
          <a:xfrm>
            <a:off x="554018" y="3167519"/>
            <a:ext cx="11050593" cy="280602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分支站点之间也可以使用</a:t>
            </a:r>
            <a:r>
              <a:rPr lang="en-US" altLang="zh-CN" sz="1400" dirty="0">
                <a:solidFill>
                  <a:prstClr val="black"/>
                </a:solidFill>
                <a:latin typeface="Huawei Sans" panose="020C0503030203020204" pitchFamily="34" charset="0"/>
                <a:ea typeface="方正兰亭黑简体" panose="02000000000000000000" pitchFamily="2" charset="-122"/>
              </a:rPr>
              <a:t>L2TP</a:t>
            </a:r>
            <a:r>
              <a:rPr lang="zh-CN" altLang="en-US" sz="1400" dirty="0">
                <a:solidFill>
                  <a:prstClr val="black"/>
                </a:solidFill>
                <a:latin typeface="Huawei Sans" panose="020C0503030203020204" pitchFamily="34" charset="0"/>
                <a:ea typeface="方正兰亭黑简体" panose="02000000000000000000" pitchFamily="2" charset="-122"/>
              </a:rPr>
              <a:t>链接，但</a:t>
            </a:r>
            <a:r>
              <a:rPr lang="en-US" altLang="zh-CN" sz="1400" dirty="0">
                <a:solidFill>
                  <a:prstClr val="black"/>
                </a:solidFill>
                <a:latin typeface="Huawei Sans" panose="020C0503030203020204" pitchFamily="34" charset="0"/>
                <a:ea typeface="方正兰亭黑简体" panose="02000000000000000000" pitchFamily="2" charset="-122"/>
              </a:rPr>
              <a:t>L2TP</a:t>
            </a:r>
            <a:r>
              <a:rPr lang="zh-CN" altLang="en-US" sz="1400" dirty="0">
                <a:solidFill>
                  <a:prstClr val="black"/>
                </a:solidFill>
                <a:latin typeface="Huawei Sans" panose="020C0503030203020204" pitchFamily="34" charset="0"/>
                <a:ea typeface="方正兰亭黑简体" panose="02000000000000000000" pitchFamily="2" charset="-122"/>
              </a:rPr>
              <a:t>没有办法传递组播数据，无法在总公司和分公司之间传递路由，所以现网</a:t>
            </a:r>
            <a:r>
              <a:rPr lang="en-US" altLang="zh-CN" sz="1400" dirty="0">
                <a:solidFill>
                  <a:prstClr val="black"/>
                </a:solidFill>
                <a:latin typeface="Huawei Sans" panose="020C0503030203020204" pitchFamily="34" charset="0"/>
                <a:ea typeface="方正兰亭黑简体" panose="02000000000000000000" pitchFamily="2" charset="-122"/>
              </a:rPr>
              <a:t>L2TP</a:t>
            </a:r>
            <a:r>
              <a:rPr lang="zh-CN" altLang="en-US" sz="1400" dirty="0">
                <a:solidFill>
                  <a:prstClr val="black"/>
                </a:solidFill>
                <a:latin typeface="Huawei Sans" panose="020C0503030203020204" pitchFamily="34" charset="0"/>
                <a:ea typeface="方正兰亭黑简体" panose="02000000000000000000" pitchFamily="2" charset="-122"/>
              </a:rPr>
              <a:t>更多用于远程用户接入。</a:t>
            </a:r>
          </a:p>
        </p:txBody>
      </p:sp>
      <p:sp>
        <p:nvSpPr>
          <p:cNvPr id="11" name="Freeform 159"/>
          <p:cNvSpPr/>
          <p:nvPr/>
        </p:nvSpPr>
        <p:spPr bwMode="gray">
          <a:xfrm flipH="1">
            <a:off x="8245311" y="3742930"/>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852889" y="4040856"/>
            <a:ext cx="540000" cy="442800"/>
          </a:xfrm>
          <a:prstGeom prst="rect">
            <a:avLst/>
          </a:prstGeom>
        </p:spPr>
      </p:pic>
      <p:pic>
        <p:nvPicPr>
          <p:cNvPr id="13" name="图片 42" descr="大型网管-蓝.png"/>
          <p:cNvPicPr>
            <a:picLocks noChangeAspect="1"/>
          </p:cNvPicPr>
          <p:nvPr/>
        </p:nvPicPr>
        <p:blipFill>
          <a:blip r:embed="rId4" cstate="print"/>
          <a:stretch>
            <a:fillRect/>
          </a:stretch>
        </p:blipFill>
        <p:spPr bwMode="gray">
          <a:xfrm>
            <a:off x="8853043" y="4065181"/>
            <a:ext cx="539607" cy="441817"/>
          </a:xfrm>
          <a:prstGeom prst="rect">
            <a:avLst/>
          </a:prstGeom>
        </p:spPr>
      </p:pic>
      <p:sp>
        <p:nvSpPr>
          <p:cNvPr id="15" name="TextBox 14"/>
          <p:cNvSpPr txBox="1"/>
          <p:nvPr/>
        </p:nvSpPr>
        <p:spPr bwMode="gray">
          <a:xfrm>
            <a:off x="8500485" y="383618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p>
        </p:txBody>
      </p:sp>
      <p:pic>
        <p:nvPicPr>
          <p:cNvPr id="16" name="图片 56" descr="管理型无线虚链路-蓝.png"/>
          <p:cNvPicPr>
            <a:picLocks noChangeAspect="1"/>
          </p:cNvPicPr>
          <p:nvPr/>
        </p:nvPicPr>
        <p:blipFill>
          <a:blip r:embed="rId5" cstate="print"/>
          <a:stretch>
            <a:fillRect/>
          </a:stretch>
        </p:blipFill>
        <p:spPr bwMode="gray">
          <a:xfrm>
            <a:off x="3129266" y="3599038"/>
            <a:ext cx="539607" cy="441818"/>
          </a:xfrm>
          <a:prstGeom prst="rect">
            <a:avLst/>
          </a:prstGeom>
        </p:spPr>
      </p:pic>
      <p:cxnSp>
        <p:nvCxnSpPr>
          <p:cNvPr id="17" name="Straight Connector 16"/>
          <p:cNvCxnSpPr>
            <a:stCxn id="16" idx="3"/>
            <a:endCxn id="20" idx="23"/>
          </p:cNvCxnSpPr>
          <p:nvPr/>
        </p:nvCxnSpPr>
        <p:spPr bwMode="gray">
          <a:xfrm>
            <a:off x="3668873" y="3819947"/>
            <a:ext cx="1760893" cy="22124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20" name="Freeform 159"/>
          <p:cNvSpPr/>
          <p:nvPr/>
        </p:nvSpPr>
        <p:spPr bwMode="gray">
          <a:xfrm flipH="1">
            <a:off x="5207145" y="3724868"/>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rPr>
              <a:t>I</a:t>
            </a:r>
            <a:r>
              <a:rPr lang="en-US" altLang="zh-CN" sz="1600" dirty="0">
                <a:solidFill>
                  <a:schemeClr val="tx1"/>
                </a:solidFill>
              </a:rPr>
              <a:t>nternet</a:t>
            </a:r>
            <a:endParaRPr lang="en-US" sz="1600" dirty="0">
              <a:solidFill>
                <a:schemeClr val="tx1"/>
              </a:solidFill>
            </a:endParaRPr>
          </a:p>
        </p:txBody>
      </p:sp>
      <p:cxnSp>
        <p:nvCxnSpPr>
          <p:cNvPr id="22" name="Straight Connector 21"/>
          <p:cNvCxnSpPr>
            <a:stCxn id="20" idx="8"/>
            <a:endCxn id="12" idx="1"/>
          </p:cNvCxnSpPr>
          <p:nvPr/>
        </p:nvCxnSpPr>
        <p:spPr bwMode="gray">
          <a:xfrm>
            <a:off x="6707042" y="4260285"/>
            <a:ext cx="1145847" cy="197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25" name="TextBox 24"/>
          <p:cNvSpPr txBox="1"/>
          <p:nvPr/>
        </p:nvSpPr>
        <p:spPr bwMode="gray">
          <a:xfrm>
            <a:off x="7852685" y="3767807"/>
            <a:ext cx="475477"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LNS</a:t>
            </a:r>
            <a:endParaRPr lang="zh-CN" altLang="en-US" sz="1200" dirty="0">
              <a:latin typeface="+mj-lt"/>
              <a:ea typeface="+mn-ea"/>
            </a:endParaRPr>
          </a:p>
        </p:txBody>
      </p:sp>
      <p:sp>
        <p:nvSpPr>
          <p:cNvPr id="26" name="TextBox 25"/>
          <p:cNvSpPr txBox="1"/>
          <p:nvPr/>
        </p:nvSpPr>
        <p:spPr bwMode="gray">
          <a:xfrm>
            <a:off x="3002633" y="3311520"/>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出差人员</a:t>
            </a:r>
          </a:p>
        </p:txBody>
      </p:sp>
      <p:pic>
        <p:nvPicPr>
          <p:cNvPr id="28" name="图片 56" descr="管理型无线虚链路-蓝.png"/>
          <p:cNvPicPr>
            <a:picLocks noChangeAspect="1"/>
          </p:cNvPicPr>
          <p:nvPr/>
        </p:nvPicPr>
        <p:blipFill>
          <a:blip r:embed="rId5" cstate="print"/>
          <a:stretch>
            <a:fillRect/>
          </a:stretch>
        </p:blipFill>
        <p:spPr bwMode="gray">
          <a:xfrm>
            <a:off x="3126289" y="4605825"/>
            <a:ext cx="539607" cy="441818"/>
          </a:xfrm>
          <a:prstGeom prst="rect">
            <a:avLst/>
          </a:prstGeom>
        </p:spPr>
      </p:pic>
      <p:sp>
        <p:nvSpPr>
          <p:cNvPr id="29" name="TextBox 28"/>
          <p:cNvSpPr txBox="1"/>
          <p:nvPr/>
        </p:nvSpPr>
        <p:spPr bwMode="gray">
          <a:xfrm>
            <a:off x="2999656" y="4318307"/>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出差人员</a:t>
            </a:r>
          </a:p>
        </p:txBody>
      </p:sp>
      <p:cxnSp>
        <p:nvCxnSpPr>
          <p:cNvPr id="30" name="Straight Connector 29"/>
          <p:cNvCxnSpPr>
            <a:stCxn id="28" idx="3"/>
            <a:endCxn id="20" idx="20"/>
          </p:cNvCxnSpPr>
          <p:nvPr/>
        </p:nvCxnSpPr>
        <p:spPr bwMode="gray">
          <a:xfrm flipV="1">
            <a:off x="3665896" y="4504147"/>
            <a:ext cx="1726732" cy="322587"/>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37" name="TextBox 36"/>
          <p:cNvSpPr txBox="1"/>
          <p:nvPr/>
        </p:nvSpPr>
        <p:spPr bwMode="gray">
          <a:xfrm rot="366679">
            <a:off x="4361978" y="3494247"/>
            <a:ext cx="129781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Over IPsec</a:t>
            </a:r>
            <a:endParaRPr lang="zh-CN" altLang="en-US" sz="1200" dirty="0">
              <a:latin typeface="+mj-lt"/>
              <a:ea typeface="+mn-ea"/>
            </a:endParaRPr>
          </a:p>
        </p:txBody>
      </p:sp>
      <p:sp>
        <p:nvSpPr>
          <p:cNvPr id="38" name="TextBox 37"/>
          <p:cNvSpPr txBox="1"/>
          <p:nvPr/>
        </p:nvSpPr>
        <p:spPr bwMode="gray">
          <a:xfrm rot="21102052">
            <a:off x="4378743" y="4826854"/>
            <a:ext cx="131384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Over IPsec</a:t>
            </a:r>
            <a:endParaRPr lang="zh-CN" altLang="en-US" sz="1200" dirty="0">
              <a:latin typeface="+mj-lt"/>
              <a:ea typeface="+mn-ea"/>
            </a:endParaRPr>
          </a:p>
        </p:txBody>
      </p:sp>
      <p:sp>
        <p:nvSpPr>
          <p:cNvPr id="31" name="Can 225"/>
          <p:cNvSpPr/>
          <p:nvPr/>
        </p:nvSpPr>
        <p:spPr bwMode="gray">
          <a:xfrm rot="5765989" flipH="1">
            <a:off x="5672732" y="1818768"/>
            <a:ext cx="182222" cy="4200310"/>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Can 225"/>
          <p:cNvSpPr/>
          <p:nvPr/>
        </p:nvSpPr>
        <p:spPr bwMode="gray">
          <a:xfrm rot="15749390" flipH="1" flipV="1">
            <a:off x="5676632" y="2553549"/>
            <a:ext cx="182222" cy="4200310"/>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Group 38"/>
          <p:cNvGrpSpPr/>
          <p:nvPr/>
        </p:nvGrpSpPr>
        <p:grpSpPr bwMode="gray">
          <a:xfrm>
            <a:off x="7329276" y="71282"/>
            <a:ext cx="4346140" cy="218510"/>
            <a:chOff x="6574396" y="121552"/>
            <a:chExt cx="4346140" cy="218510"/>
          </a:xfrm>
        </p:grpSpPr>
        <p:sp>
          <p:nvSpPr>
            <p:cNvPr id="40" name="五边形 24"/>
            <p:cNvSpPr/>
            <p:nvPr/>
          </p:nvSpPr>
          <p:spPr bwMode="gray">
            <a:xfrm>
              <a:off x="6574396" y="121552"/>
              <a:ext cx="1526032"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Access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41" name="燕尾形 25"/>
            <p:cNvSpPr/>
            <p:nvPr/>
          </p:nvSpPr>
          <p:spPr bwMode="gray">
            <a:xfrm>
              <a:off x="8026335" y="121552"/>
              <a:ext cx="1442263" cy="21312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42"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11620392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bwMode="gray"/>
        <p:txBody>
          <a:bodyPr/>
          <a:lstStyle/>
          <a:p>
            <a:r>
              <a:rPr lang="en-US" altLang="zh-CN" sz="2000" dirty="0"/>
              <a:t>Intranet VPN</a:t>
            </a:r>
            <a:r>
              <a:rPr lang="zh-CN" altLang="en-US" sz="2000" dirty="0"/>
              <a:t>技术指的是，基于</a:t>
            </a:r>
            <a:r>
              <a:rPr lang="en-US" altLang="zh-CN" sz="2000" dirty="0"/>
              <a:t>Internet</a:t>
            </a:r>
            <a:r>
              <a:rPr lang="zh-CN" altLang="en-US" sz="2000" dirty="0"/>
              <a:t>在公司网关之间构建</a:t>
            </a:r>
            <a:r>
              <a:rPr lang="en-US" altLang="zh-CN" sz="2000" dirty="0"/>
              <a:t>VPN</a:t>
            </a:r>
            <a:r>
              <a:rPr lang="zh-CN" altLang="en-US" sz="2000" dirty="0"/>
              <a:t>网络，主要用到的技术有</a:t>
            </a:r>
            <a:r>
              <a:rPr lang="en-US" altLang="zh-CN" sz="2000" dirty="0"/>
              <a:t>GRE</a:t>
            </a:r>
            <a:r>
              <a:rPr lang="zh-CN" altLang="en-US" sz="2000" dirty="0"/>
              <a:t>、</a:t>
            </a:r>
            <a:r>
              <a:rPr lang="en-US" altLang="zh-CN" sz="2000" dirty="0"/>
              <a:t>DSVPN</a:t>
            </a:r>
            <a:r>
              <a:rPr lang="zh-CN" altLang="en-US" sz="2000" dirty="0"/>
              <a:t>等。</a:t>
            </a:r>
            <a:endParaRPr lang="en-US" altLang="zh-CN" sz="2000" dirty="0"/>
          </a:p>
          <a:p>
            <a:r>
              <a:rPr lang="zh-CN" altLang="en-US" sz="2000" dirty="0"/>
              <a:t>企业自建分支</a:t>
            </a:r>
            <a:r>
              <a:rPr lang="en-US" altLang="zh-CN" sz="2000" dirty="0"/>
              <a:t>-</a:t>
            </a:r>
            <a:r>
              <a:rPr lang="zh-CN" altLang="en-US" sz="2000" dirty="0"/>
              <a:t>总部</a:t>
            </a:r>
            <a:r>
              <a:rPr lang="en-US" altLang="zh-CN" sz="2000" dirty="0"/>
              <a:t>VPN</a:t>
            </a:r>
            <a:r>
              <a:rPr lang="zh-CN" altLang="en-US" sz="2000" dirty="0"/>
              <a:t>，主要使用</a:t>
            </a:r>
            <a:r>
              <a:rPr lang="en-US" altLang="zh-CN" sz="2000" dirty="0"/>
              <a:t>GRE</a:t>
            </a:r>
            <a:r>
              <a:rPr lang="zh-CN" altLang="en-US" sz="2000" dirty="0"/>
              <a:t>和</a:t>
            </a:r>
            <a:r>
              <a:rPr lang="en-US" altLang="zh-CN" sz="2000" dirty="0"/>
              <a:t>DSVPN</a:t>
            </a:r>
            <a:r>
              <a:rPr lang="zh-CN" altLang="en-US" sz="2000" dirty="0"/>
              <a:t>技术。</a:t>
            </a:r>
          </a:p>
        </p:txBody>
      </p:sp>
      <p:sp>
        <p:nvSpPr>
          <p:cNvPr id="40" name="Freeform 159">
            <a:extLst>
              <a:ext uri="{FF2B5EF4-FFF2-40B4-BE49-F238E27FC236}">
                <a16:creationId xmlns:a16="http://schemas.microsoft.com/office/drawing/2014/main" id="{23D978D5-596F-4381-934B-4AE4AF5F9DCA}"/>
              </a:ext>
            </a:extLst>
          </p:cNvPr>
          <p:cNvSpPr/>
          <p:nvPr/>
        </p:nvSpPr>
        <p:spPr bwMode="gray">
          <a:xfrm flipH="1">
            <a:off x="5167260" y="3340451"/>
            <a:ext cx="2319875" cy="12126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a:t>
            </a:r>
            <a:r>
              <a:rPr lang="en-US" altLang="zh-CN" dirty="0">
                <a:solidFill>
                  <a:schemeClr val="tx1"/>
                </a:solidFill>
              </a:rPr>
              <a:t>nternet</a:t>
            </a:r>
            <a:endParaRPr lang="en-US" dirty="0">
              <a:solidFill>
                <a:schemeClr val="tx1"/>
              </a:solidFill>
            </a:endParaRPr>
          </a:p>
        </p:txBody>
      </p:sp>
      <p:sp>
        <p:nvSpPr>
          <p:cNvPr id="2" name="Title 1"/>
          <p:cNvSpPr>
            <a:spLocks noGrp="1"/>
          </p:cNvSpPr>
          <p:nvPr>
            <p:ph type="title"/>
          </p:nvPr>
        </p:nvSpPr>
        <p:spPr bwMode="gray"/>
        <p:txBody>
          <a:bodyPr/>
          <a:lstStyle/>
          <a:p>
            <a:r>
              <a:rPr lang="en-US" altLang="zh-CN" dirty="0"/>
              <a:t>Intranet VPN</a:t>
            </a:r>
            <a:r>
              <a:rPr lang="zh-CN" altLang="en-US" dirty="0"/>
              <a:t>介绍</a:t>
            </a:r>
          </a:p>
        </p:txBody>
      </p:sp>
      <p:sp>
        <p:nvSpPr>
          <p:cNvPr id="53" name="Freeform 159"/>
          <p:cNvSpPr/>
          <p:nvPr/>
        </p:nvSpPr>
        <p:spPr bwMode="gray">
          <a:xfrm flipH="1">
            <a:off x="8741199" y="2525638"/>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159"/>
          <p:cNvSpPr/>
          <p:nvPr/>
        </p:nvSpPr>
        <p:spPr bwMode="gray">
          <a:xfrm flipH="1">
            <a:off x="1320959" y="2656228"/>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7" name="图片 73" descr="PC.png"/>
          <p:cNvPicPr>
            <a:picLocks noChangeAspect="1"/>
          </p:cNvPicPr>
          <p:nvPr/>
        </p:nvPicPr>
        <p:blipFill>
          <a:blip r:embed="rId3" cstate="print"/>
          <a:stretch>
            <a:fillRect/>
          </a:stretch>
        </p:blipFill>
        <p:spPr bwMode="gray">
          <a:xfrm>
            <a:off x="1687838" y="2688260"/>
            <a:ext cx="539063" cy="414000"/>
          </a:xfrm>
          <a:prstGeom prst="rect">
            <a:avLst/>
          </a:prstGeom>
        </p:spPr>
      </p:pic>
      <p:pic>
        <p:nvPicPr>
          <p:cNvPr id="58" name="图片 73" descr="PC.png"/>
          <p:cNvPicPr>
            <a:picLocks noChangeAspect="1"/>
          </p:cNvPicPr>
          <p:nvPr/>
        </p:nvPicPr>
        <p:blipFill>
          <a:blip r:embed="rId3" cstate="print"/>
          <a:stretch>
            <a:fillRect/>
          </a:stretch>
        </p:blipFill>
        <p:spPr bwMode="gray">
          <a:xfrm>
            <a:off x="1687839" y="3471795"/>
            <a:ext cx="539063" cy="414000"/>
          </a:xfrm>
          <a:prstGeom prst="rect">
            <a:avLst/>
          </a:prstGeom>
        </p:spPr>
      </p:pic>
      <p:pic>
        <p:nvPicPr>
          <p:cNvPr id="60" name="图片 42" descr="大型网管-蓝.png"/>
          <p:cNvPicPr>
            <a:picLocks noChangeAspect="1"/>
          </p:cNvPicPr>
          <p:nvPr/>
        </p:nvPicPr>
        <p:blipFill>
          <a:blip r:embed="rId4" cstate="print"/>
          <a:stretch>
            <a:fillRect/>
          </a:stretch>
        </p:blipFill>
        <p:spPr bwMode="gray">
          <a:xfrm>
            <a:off x="2765737" y="3267870"/>
            <a:ext cx="539607" cy="441817"/>
          </a:xfrm>
          <a:prstGeom prst="rect">
            <a:avLst/>
          </a:prstGeom>
        </p:spPr>
      </p:pic>
      <p:pic>
        <p:nvPicPr>
          <p:cNvPr id="6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355023" y="3177991"/>
            <a:ext cx="540000" cy="442800"/>
          </a:xfrm>
          <a:prstGeom prst="rect">
            <a:avLst/>
          </a:prstGeom>
        </p:spPr>
      </p:pic>
      <p:pic>
        <p:nvPicPr>
          <p:cNvPr id="70" name="图片 42" descr="大型网管-蓝.png"/>
          <p:cNvPicPr>
            <a:picLocks noChangeAspect="1"/>
          </p:cNvPicPr>
          <p:nvPr/>
        </p:nvPicPr>
        <p:blipFill>
          <a:blip r:embed="rId4" cstate="print"/>
          <a:stretch>
            <a:fillRect/>
          </a:stretch>
        </p:blipFill>
        <p:spPr bwMode="gray">
          <a:xfrm>
            <a:off x="9287707" y="3170134"/>
            <a:ext cx="539607" cy="441817"/>
          </a:xfrm>
          <a:prstGeom prst="rect">
            <a:avLst/>
          </a:prstGeom>
        </p:spPr>
      </p:pic>
      <p:pic>
        <p:nvPicPr>
          <p:cNvPr id="75" name="图片 73" descr="PC.png"/>
          <p:cNvPicPr>
            <a:picLocks noChangeAspect="1"/>
          </p:cNvPicPr>
          <p:nvPr/>
        </p:nvPicPr>
        <p:blipFill>
          <a:blip r:embed="rId3" cstate="print"/>
          <a:stretch>
            <a:fillRect/>
          </a:stretch>
        </p:blipFill>
        <p:spPr bwMode="gray">
          <a:xfrm>
            <a:off x="10134172" y="2588737"/>
            <a:ext cx="539063" cy="414000"/>
          </a:xfrm>
          <a:prstGeom prst="rect">
            <a:avLst/>
          </a:prstGeom>
        </p:spPr>
      </p:pic>
      <p:pic>
        <p:nvPicPr>
          <p:cNvPr id="88" name="图片 73" descr="PC.png"/>
          <p:cNvPicPr>
            <a:picLocks noChangeAspect="1"/>
          </p:cNvPicPr>
          <p:nvPr/>
        </p:nvPicPr>
        <p:blipFill>
          <a:blip r:embed="rId3" cstate="print"/>
          <a:stretch>
            <a:fillRect/>
          </a:stretch>
        </p:blipFill>
        <p:spPr bwMode="gray">
          <a:xfrm>
            <a:off x="10182482" y="3372272"/>
            <a:ext cx="539063" cy="414000"/>
          </a:xfrm>
          <a:prstGeom prst="rect">
            <a:avLst/>
          </a:prstGeom>
        </p:spPr>
      </p:pic>
      <p:cxnSp>
        <p:nvCxnSpPr>
          <p:cNvPr id="96" name="Straight Connector 95"/>
          <p:cNvCxnSpPr>
            <a:cxnSpLocks/>
            <a:stCxn id="124" idx="3"/>
            <a:endCxn id="40" idx="22"/>
          </p:cNvCxnSpPr>
          <p:nvPr/>
        </p:nvCxnSpPr>
        <p:spPr bwMode="gray">
          <a:xfrm>
            <a:off x="3981356" y="3491453"/>
            <a:ext cx="1472788" cy="344087"/>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97" name="Straight Connector 96"/>
          <p:cNvCxnSpPr>
            <a:cxnSpLocks/>
            <a:stCxn id="40" idx="7"/>
            <a:endCxn id="66" idx="1"/>
          </p:cNvCxnSpPr>
          <p:nvPr/>
        </p:nvCxnSpPr>
        <p:spPr bwMode="gray">
          <a:xfrm flipV="1">
            <a:off x="7254333" y="3399391"/>
            <a:ext cx="1100690" cy="41486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12" name="TextBox 111"/>
          <p:cNvSpPr txBox="1"/>
          <p:nvPr/>
        </p:nvSpPr>
        <p:spPr bwMode="gray">
          <a:xfrm>
            <a:off x="1355858" y="2748953"/>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3" name="TextBox 112"/>
          <p:cNvSpPr txBox="1"/>
          <p:nvPr/>
        </p:nvSpPr>
        <p:spPr bwMode="gray">
          <a:xfrm>
            <a:off x="1346898" y="3532115"/>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4" name="TextBox 113"/>
          <p:cNvSpPr txBox="1"/>
          <p:nvPr/>
        </p:nvSpPr>
        <p:spPr bwMode="gray">
          <a:xfrm>
            <a:off x="10646029" y="2659074"/>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5" name="TextBox 114"/>
          <p:cNvSpPr txBox="1"/>
          <p:nvPr/>
        </p:nvSpPr>
        <p:spPr bwMode="gray">
          <a:xfrm>
            <a:off x="10701176" y="3442236"/>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6" name="TextBox 115"/>
          <p:cNvSpPr txBox="1"/>
          <p:nvPr/>
        </p:nvSpPr>
        <p:spPr bwMode="gray">
          <a:xfrm>
            <a:off x="2403941" y="2903130"/>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企业分支</a:t>
            </a:r>
            <a:endParaRPr lang="zh-CN" altLang="en-US" sz="1600" dirty="0">
              <a:latin typeface="+mj-lt"/>
              <a:ea typeface="+mn-ea"/>
            </a:endParaRPr>
          </a:p>
        </p:txBody>
      </p:sp>
      <p:sp>
        <p:nvSpPr>
          <p:cNvPr id="117" name="TextBox 116"/>
          <p:cNvSpPr txBox="1"/>
          <p:nvPr/>
        </p:nvSpPr>
        <p:spPr bwMode="gray">
          <a:xfrm>
            <a:off x="9200698" y="2813251"/>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企业总部</a:t>
            </a:r>
            <a:endParaRPr lang="zh-CN" altLang="en-US" sz="1600" dirty="0">
              <a:latin typeface="+mj-lt"/>
              <a:ea typeface="+mn-ea"/>
            </a:endParaRPr>
          </a:p>
        </p:txBody>
      </p:sp>
      <p:pic>
        <p:nvPicPr>
          <p:cNvPr id="12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441356" y="3270053"/>
            <a:ext cx="540000" cy="442800"/>
          </a:xfrm>
          <a:prstGeom prst="rect">
            <a:avLst/>
          </a:prstGeom>
        </p:spPr>
      </p:pic>
      <p:sp>
        <p:nvSpPr>
          <p:cNvPr id="125" name="Freeform 159"/>
          <p:cNvSpPr/>
          <p:nvPr/>
        </p:nvSpPr>
        <p:spPr bwMode="gray">
          <a:xfrm flipH="1">
            <a:off x="2697286" y="4878176"/>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6" name="图片 73" descr="PC.png"/>
          <p:cNvPicPr>
            <a:picLocks noChangeAspect="1"/>
          </p:cNvPicPr>
          <p:nvPr/>
        </p:nvPicPr>
        <p:blipFill>
          <a:blip r:embed="rId3" cstate="print"/>
          <a:stretch>
            <a:fillRect/>
          </a:stretch>
        </p:blipFill>
        <p:spPr bwMode="gray">
          <a:xfrm>
            <a:off x="3064165" y="4910208"/>
            <a:ext cx="539063" cy="414000"/>
          </a:xfrm>
          <a:prstGeom prst="rect">
            <a:avLst/>
          </a:prstGeom>
        </p:spPr>
      </p:pic>
      <p:pic>
        <p:nvPicPr>
          <p:cNvPr id="127" name="图片 73" descr="PC.png"/>
          <p:cNvPicPr>
            <a:picLocks noChangeAspect="1"/>
          </p:cNvPicPr>
          <p:nvPr/>
        </p:nvPicPr>
        <p:blipFill>
          <a:blip r:embed="rId3" cstate="print"/>
          <a:stretch>
            <a:fillRect/>
          </a:stretch>
        </p:blipFill>
        <p:spPr bwMode="gray">
          <a:xfrm>
            <a:off x="3064166" y="5693743"/>
            <a:ext cx="539063" cy="414000"/>
          </a:xfrm>
          <a:prstGeom prst="rect">
            <a:avLst/>
          </a:prstGeom>
        </p:spPr>
      </p:pic>
      <p:pic>
        <p:nvPicPr>
          <p:cNvPr id="128" name="图片 42" descr="大型网管-蓝.png"/>
          <p:cNvPicPr>
            <a:picLocks noChangeAspect="1"/>
          </p:cNvPicPr>
          <p:nvPr/>
        </p:nvPicPr>
        <p:blipFill>
          <a:blip r:embed="rId4" cstate="print"/>
          <a:stretch>
            <a:fillRect/>
          </a:stretch>
        </p:blipFill>
        <p:spPr bwMode="gray">
          <a:xfrm>
            <a:off x="4142064" y="5489818"/>
            <a:ext cx="539607" cy="441817"/>
          </a:xfrm>
          <a:prstGeom prst="rect">
            <a:avLst/>
          </a:prstGeom>
        </p:spPr>
      </p:pic>
      <p:sp>
        <p:nvSpPr>
          <p:cNvPr id="129" name="TextBox 128"/>
          <p:cNvSpPr txBox="1"/>
          <p:nvPr/>
        </p:nvSpPr>
        <p:spPr bwMode="gray">
          <a:xfrm>
            <a:off x="2732185" y="497090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30" name="TextBox 129"/>
          <p:cNvSpPr txBox="1"/>
          <p:nvPr/>
        </p:nvSpPr>
        <p:spPr bwMode="gray">
          <a:xfrm>
            <a:off x="2723225" y="5754063"/>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31" name="TextBox 130"/>
          <p:cNvSpPr txBox="1"/>
          <p:nvPr/>
        </p:nvSpPr>
        <p:spPr bwMode="gray">
          <a:xfrm>
            <a:off x="3780268" y="5125078"/>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企业分支</a:t>
            </a:r>
            <a:endParaRPr lang="zh-CN" altLang="en-US" sz="1600" dirty="0">
              <a:latin typeface="+mj-lt"/>
              <a:ea typeface="+mn-ea"/>
            </a:endParaRPr>
          </a:p>
        </p:txBody>
      </p:sp>
      <p:pic>
        <p:nvPicPr>
          <p:cNvPr id="133"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817683" y="5492001"/>
            <a:ext cx="540000" cy="442800"/>
          </a:xfrm>
          <a:prstGeom prst="rect">
            <a:avLst/>
          </a:prstGeom>
        </p:spPr>
      </p:pic>
      <p:cxnSp>
        <p:nvCxnSpPr>
          <p:cNvPr id="134" name="Straight Connector 133"/>
          <p:cNvCxnSpPr>
            <a:cxnSpLocks/>
            <a:stCxn id="133" idx="0"/>
          </p:cNvCxnSpPr>
          <p:nvPr/>
        </p:nvCxnSpPr>
        <p:spPr bwMode="gray">
          <a:xfrm flipV="1">
            <a:off x="5087683" y="4566449"/>
            <a:ext cx="1239369" cy="925552"/>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45" name="Freeform 44"/>
          <p:cNvSpPr/>
          <p:nvPr/>
        </p:nvSpPr>
        <p:spPr bwMode="gray">
          <a:xfrm>
            <a:off x="4095699" y="3280904"/>
            <a:ext cx="4166754" cy="521161"/>
          </a:xfrm>
          <a:custGeom>
            <a:avLst/>
            <a:gdLst>
              <a:gd name="connsiteX0" fmla="*/ 0 w 4166754"/>
              <a:gd name="connsiteY0" fmla="*/ 103909 h 645004"/>
              <a:gd name="connsiteX1" fmla="*/ 2015836 w 4166754"/>
              <a:gd name="connsiteY1" fmla="*/ 644237 h 645004"/>
              <a:gd name="connsiteX2" fmla="*/ 4166754 w 4166754"/>
              <a:gd name="connsiteY2" fmla="*/ 0 h 645004"/>
            </a:gdLst>
            <a:ahLst/>
            <a:cxnLst>
              <a:cxn ang="0">
                <a:pos x="connsiteX0" y="connsiteY0"/>
              </a:cxn>
              <a:cxn ang="0">
                <a:pos x="connsiteX1" y="connsiteY1"/>
              </a:cxn>
              <a:cxn ang="0">
                <a:pos x="connsiteX2" y="connsiteY2"/>
              </a:cxn>
            </a:cxnLst>
            <a:rect l="l" t="t" r="r" b="b"/>
            <a:pathLst>
              <a:path w="4166754" h="645004">
                <a:moveTo>
                  <a:pt x="0" y="103909"/>
                </a:moveTo>
                <a:cubicBezTo>
                  <a:pt x="660688" y="382732"/>
                  <a:pt x="1321377" y="661555"/>
                  <a:pt x="2015836" y="644237"/>
                </a:cubicBezTo>
                <a:cubicBezTo>
                  <a:pt x="2710295" y="626919"/>
                  <a:pt x="4166754" y="0"/>
                  <a:pt x="4166754" y="0"/>
                </a:cubicBezTo>
              </a:path>
            </a:pathLst>
          </a:custGeom>
          <a:noFill/>
          <a:ln w="28575">
            <a:solidFill>
              <a:srgbClr val="56C4D2"/>
            </a:solidFill>
            <a:prstDash val="dash"/>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6" name="Freeform 45"/>
          <p:cNvSpPr/>
          <p:nvPr/>
        </p:nvSpPr>
        <p:spPr bwMode="gray">
          <a:xfrm>
            <a:off x="5332217" y="3540677"/>
            <a:ext cx="2961409" cy="1943100"/>
          </a:xfrm>
          <a:custGeom>
            <a:avLst/>
            <a:gdLst>
              <a:gd name="connsiteX0" fmla="*/ 0 w 2961409"/>
              <a:gd name="connsiteY0" fmla="*/ 1943100 h 1943100"/>
              <a:gd name="connsiteX1" fmla="*/ 1444336 w 2961409"/>
              <a:gd name="connsiteY1" fmla="*/ 810491 h 1943100"/>
              <a:gd name="connsiteX2" fmla="*/ 2961409 w 2961409"/>
              <a:gd name="connsiteY2" fmla="*/ 0 h 1943100"/>
            </a:gdLst>
            <a:ahLst/>
            <a:cxnLst>
              <a:cxn ang="0">
                <a:pos x="connsiteX0" y="connsiteY0"/>
              </a:cxn>
              <a:cxn ang="0">
                <a:pos x="connsiteX1" y="connsiteY1"/>
              </a:cxn>
              <a:cxn ang="0">
                <a:pos x="connsiteX2" y="connsiteY2"/>
              </a:cxn>
            </a:cxnLst>
            <a:rect l="l" t="t" r="r" b="b"/>
            <a:pathLst>
              <a:path w="2961409" h="1943100">
                <a:moveTo>
                  <a:pt x="0" y="1943100"/>
                </a:moveTo>
                <a:cubicBezTo>
                  <a:pt x="475384" y="1538720"/>
                  <a:pt x="950768" y="1134341"/>
                  <a:pt x="1444336" y="810491"/>
                </a:cubicBezTo>
                <a:cubicBezTo>
                  <a:pt x="1937904" y="486641"/>
                  <a:pt x="2961409" y="0"/>
                  <a:pt x="2961409" y="0"/>
                </a:cubicBezTo>
              </a:path>
            </a:pathLst>
          </a:custGeom>
          <a:noFill/>
          <a:ln w="28575">
            <a:solidFill>
              <a:srgbClr val="56C4D2"/>
            </a:solidFill>
            <a:prstDash val="dash"/>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7" name="TextBox 46"/>
          <p:cNvSpPr txBox="1"/>
          <p:nvPr/>
        </p:nvSpPr>
        <p:spPr bwMode="gray">
          <a:xfrm rot="19261659">
            <a:off x="5471131" y="4879329"/>
            <a:ext cx="136674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GRE</a:t>
            </a:r>
            <a:r>
              <a:rPr lang="zh-CN" altLang="en-US" sz="1400" dirty="0">
                <a:latin typeface="+mj-lt"/>
                <a:ea typeface="+mn-ea"/>
              </a:rPr>
              <a:t>，</a:t>
            </a:r>
            <a:r>
              <a:rPr lang="en-US" altLang="zh-CN" sz="1400" dirty="0">
                <a:latin typeface="+mj-lt"/>
                <a:ea typeface="+mn-ea"/>
              </a:rPr>
              <a:t>DSVPN</a:t>
            </a:r>
            <a:endParaRPr lang="zh-CN" altLang="en-US" sz="1400" dirty="0">
              <a:latin typeface="+mj-lt"/>
              <a:ea typeface="+mn-ea"/>
            </a:endParaRPr>
          </a:p>
        </p:txBody>
      </p:sp>
      <p:sp>
        <p:nvSpPr>
          <p:cNvPr id="135" name="TextBox 134"/>
          <p:cNvSpPr txBox="1"/>
          <p:nvPr/>
        </p:nvSpPr>
        <p:spPr bwMode="gray">
          <a:xfrm rot="1047659">
            <a:off x="3952870" y="3255612"/>
            <a:ext cx="1366747"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GRE</a:t>
            </a:r>
            <a:r>
              <a:rPr lang="zh-CN" altLang="en-US" sz="1400" dirty="0">
                <a:latin typeface="+mj-lt"/>
                <a:ea typeface="+mn-ea"/>
              </a:rPr>
              <a:t>，</a:t>
            </a:r>
            <a:r>
              <a:rPr lang="en-US" altLang="zh-CN" sz="1400" dirty="0">
                <a:latin typeface="+mj-lt"/>
                <a:ea typeface="+mn-ea"/>
              </a:rPr>
              <a:t>DSVPN</a:t>
            </a:r>
            <a:endParaRPr lang="zh-CN" altLang="en-US" sz="1400" dirty="0">
              <a:latin typeface="+mj-lt"/>
              <a:ea typeface="+mn-ea"/>
            </a:endParaRPr>
          </a:p>
        </p:txBody>
      </p:sp>
      <p:grpSp>
        <p:nvGrpSpPr>
          <p:cNvPr id="36" name="Group 35"/>
          <p:cNvGrpSpPr/>
          <p:nvPr/>
        </p:nvGrpSpPr>
        <p:grpSpPr bwMode="gray">
          <a:xfrm>
            <a:off x="7219315" y="75768"/>
            <a:ext cx="4455174" cy="218510"/>
            <a:chOff x="6465362" y="121552"/>
            <a:chExt cx="4455174" cy="218510"/>
          </a:xfrm>
        </p:grpSpPr>
        <p:sp>
          <p:nvSpPr>
            <p:cNvPr id="37"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38"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39"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4259673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159">
            <a:extLst>
              <a:ext uri="{FF2B5EF4-FFF2-40B4-BE49-F238E27FC236}">
                <a16:creationId xmlns:a16="http://schemas.microsoft.com/office/drawing/2014/main" id="{AF5B40CB-0CAC-4C11-913D-C63F53EDA3E3}"/>
              </a:ext>
            </a:extLst>
          </p:cNvPr>
          <p:cNvSpPr/>
          <p:nvPr/>
        </p:nvSpPr>
        <p:spPr bwMode="gray">
          <a:xfrm flipH="1">
            <a:off x="5320726" y="4371577"/>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rPr>
              <a:t>I</a:t>
            </a:r>
            <a:r>
              <a:rPr lang="en-US" altLang="zh-CN" sz="1600" dirty="0">
                <a:solidFill>
                  <a:schemeClr val="tx1"/>
                </a:solidFill>
              </a:rPr>
              <a:t>nternet</a:t>
            </a:r>
            <a:endParaRPr lang="en-US" sz="1600" dirty="0">
              <a:solidFill>
                <a:schemeClr val="tx1"/>
              </a:solidFill>
            </a:endParaRPr>
          </a:p>
        </p:txBody>
      </p:sp>
      <p:sp>
        <p:nvSpPr>
          <p:cNvPr id="18434" name="Rectangle 2"/>
          <p:cNvSpPr>
            <a:spLocks noGrp="1" noChangeArrowheads="1"/>
          </p:cNvSpPr>
          <p:nvPr>
            <p:ph type="title"/>
          </p:nvPr>
        </p:nvSpPr>
        <p:spPr bwMode="gray"/>
        <p:txBody>
          <a:bodyPr/>
          <a:lstStyle/>
          <a:p>
            <a:r>
              <a:rPr lang="en-US" altLang="zh-CN" dirty="0"/>
              <a:t>GRE</a:t>
            </a:r>
            <a:r>
              <a:rPr lang="zh-CN" altLang="en-US" dirty="0"/>
              <a:t>协议简介</a:t>
            </a:r>
          </a:p>
        </p:txBody>
      </p:sp>
      <p:sp>
        <p:nvSpPr>
          <p:cNvPr id="5" name="Text Placeholder 4"/>
          <p:cNvSpPr>
            <a:spLocks noGrp="1"/>
          </p:cNvSpPr>
          <p:nvPr>
            <p:ph type="body" sz="quarter" idx="10"/>
          </p:nvPr>
        </p:nvSpPr>
        <p:spPr bwMode="gray">
          <a:xfrm>
            <a:off x="455612" y="1047751"/>
            <a:ext cx="11293475" cy="2002106"/>
          </a:xfrm>
        </p:spPr>
        <p:txBody>
          <a:bodyPr/>
          <a:lstStyle/>
          <a:p>
            <a:r>
              <a:rPr lang="en-US" altLang="zh-CN" sz="2000" dirty="0"/>
              <a:t>GRE</a:t>
            </a:r>
            <a:r>
              <a:rPr lang="zh-CN" altLang="en-US" sz="2000" dirty="0"/>
              <a:t>（</a:t>
            </a:r>
            <a:r>
              <a:rPr lang="en-US" altLang="zh-CN" sz="2000" dirty="0"/>
              <a:t>Generic Routing Encapsulation</a:t>
            </a:r>
            <a:r>
              <a:rPr lang="zh-CN" altLang="en-US" sz="2000" dirty="0"/>
              <a:t>，通用路由封装协议）：是对某些网络层协议（如：</a:t>
            </a:r>
            <a:r>
              <a:rPr lang="en-US" altLang="zh-CN" sz="2000" dirty="0"/>
              <a:t>IP</a:t>
            </a:r>
            <a:r>
              <a:rPr lang="zh-CN" altLang="en-US" sz="2000" dirty="0"/>
              <a:t>、</a:t>
            </a:r>
            <a:r>
              <a:rPr lang="en-US" altLang="zh-CN" sz="2000" dirty="0"/>
              <a:t> IPX</a:t>
            </a:r>
            <a:r>
              <a:rPr lang="zh-CN" altLang="en-US" sz="2000" dirty="0"/>
              <a:t>、</a:t>
            </a:r>
            <a:r>
              <a:rPr lang="en-US" altLang="zh-CN" sz="2000" dirty="0"/>
              <a:t>AppleTalk</a:t>
            </a:r>
            <a:r>
              <a:rPr lang="zh-CN" altLang="en-US" sz="2000" dirty="0"/>
              <a:t>等）的数据报文进行封装，使这些被封装的数据报文能够在另一个网络层协议（如</a:t>
            </a:r>
            <a:r>
              <a:rPr lang="en-US" altLang="zh-CN" sz="2000" dirty="0"/>
              <a:t>IP</a:t>
            </a:r>
            <a:r>
              <a:rPr lang="zh-CN" altLang="en-US" sz="2000" dirty="0"/>
              <a:t>）中传输。</a:t>
            </a:r>
          </a:p>
          <a:p>
            <a:r>
              <a:rPr lang="en-US" altLang="zh-CN" sz="2000" dirty="0"/>
              <a:t>GRE</a:t>
            </a:r>
            <a:r>
              <a:rPr lang="zh-CN" altLang="en-US" sz="2000" dirty="0"/>
              <a:t>一般使用在分支站点比较少的网络中。</a:t>
            </a:r>
          </a:p>
        </p:txBody>
      </p:sp>
      <p:sp>
        <p:nvSpPr>
          <p:cNvPr id="18451" name="Rectangle 63"/>
          <p:cNvSpPr>
            <a:spLocks noChangeArrowheads="1"/>
          </p:cNvSpPr>
          <p:nvPr/>
        </p:nvSpPr>
        <p:spPr bwMode="gray">
          <a:xfrm>
            <a:off x="2841736" y="3545343"/>
            <a:ext cx="1090613" cy="365676"/>
          </a:xfrm>
          <a:prstGeom prst="rect">
            <a:avLst/>
          </a:prstGeom>
          <a:solidFill>
            <a:schemeClr val="bg1"/>
          </a:solidFill>
          <a:ln w="19050">
            <a:solidFill>
              <a:srgbClr val="56C4D2"/>
            </a:solidFill>
            <a:miter lim="800000"/>
            <a:headEnd/>
            <a:tailEnd/>
          </a:ln>
        </p:spPr>
        <p:txBody>
          <a:bodyPr wrap="none" lIns="106692" tIns="53346" rIns="106692" bIns="53346" anchor="ctr"/>
          <a:lstStyle/>
          <a:p>
            <a:pPr algn="ctr" defTabSz="1066800"/>
            <a:r>
              <a:rPr kumimoji="1" lang="zh-CN" altLang="en-US" sz="1600" b="1" dirty="0">
                <a:latin typeface="Huawei Sans" panose="020C0503030203020204" pitchFamily="34" charset="0"/>
                <a:ea typeface="方正兰亭黑简体" panose="02000000000000000000" pitchFamily="2" charset="-122"/>
              </a:rPr>
              <a:t>链路层</a:t>
            </a:r>
          </a:p>
        </p:txBody>
      </p:sp>
      <p:sp>
        <p:nvSpPr>
          <p:cNvPr id="18452" name="Rectangle 64"/>
          <p:cNvSpPr>
            <a:spLocks noChangeArrowheads="1"/>
          </p:cNvSpPr>
          <p:nvPr/>
        </p:nvSpPr>
        <p:spPr bwMode="gray">
          <a:xfrm>
            <a:off x="5027723" y="3544588"/>
            <a:ext cx="1090612" cy="366432"/>
          </a:xfrm>
          <a:prstGeom prst="rect">
            <a:avLst/>
          </a:prstGeom>
          <a:solidFill>
            <a:srgbClr val="56C4D2"/>
          </a:solidFill>
          <a:ln w="25400">
            <a:solidFill>
              <a:srgbClr val="56C4D2"/>
            </a:solidFill>
            <a:miter lim="800000"/>
            <a:headEnd/>
            <a:tailEnd/>
          </a:ln>
        </p:spPr>
        <p:txBody>
          <a:bodyPr wrap="none" lIns="106692" tIns="53346" rIns="106692" bIns="53346" anchor="ctr"/>
          <a:lstStyle/>
          <a:p>
            <a:pPr algn="ctr" defTabSz="1066800"/>
            <a:r>
              <a:rPr kumimoji="1" lang="en-US" altLang="zh-CN" sz="1600" b="1" dirty="0">
                <a:solidFill>
                  <a:schemeClr val="bg1"/>
                </a:solidFill>
                <a:latin typeface="Huawei Sans" panose="020C0503030203020204" pitchFamily="34" charset="0"/>
                <a:ea typeface="方正兰亭黑简体" panose="02000000000000000000" pitchFamily="2" charset="-122"/>
              </a:rPr>
              <a:t>GRE</a:t>
            </a:r>
          </a:p>
        </p:txBody>
      </p:sp>
      <p:sp>
        <p:nvSpPr>
          <p:cNvPr id="18453" name="Rectangle 65"/>
          <p:cNvSpPr>
            <a:spLocks noChangeArrowheads="1"/>
          </p:cNvSpPr>
          <p:nvPr/>
        </p:nvSpPr>
        <p:spPr bwMode="gray">
          <a:xfrm>
            <a:off x="6118335" y="3545340"/>
            <a:ext cx="1092200" cy="366533"/>
          </a:xfrm>
          <a:prstGeom prst="rect">
            <a:avLst/>
          </a:prstGeom>
          <a:solidFill>
            <a:schemeClr val="bg1"/>
          </a:solidFill>
          <a:ln w="19050">
            <a:solidFill>
              <a:srgbClr val="56C4D2"/>
            </a:solidFill>
            <a:miter lim="800000"/>
            <a:headEnd/>
            <a:tailEnd/>
          </a:ln>
        </p:spPr>
        <p:txBody>
          <a:bodyPr wrap="none" lIns="106692" tIns="53346" rIns="106692" bIns="53346" anchor="ctr"/>
          <a:lstStyle/>
          <a:p>
            <a:pPr algn="ctr" defTabSz="1066800"/>
            <a:r>
              <a:rPr kumimoji="1" lang="en-US" altLang="zh-CN" sz="1600" b="1" dirty="0">
                <a:latin typeface="Huawei Sans" panose="020C0503030203020204" pitchFamily="34" charset="0"/>
                <a:ea typeface="方正兰亭黑简体" panose="02000000000000000000" pitchFamily="2" charset="-122"/>
              </a:rPr>
              <a:t>IP</a:t>
            </a:r>
          </a:p>
        </p:txBody>
      </p:sp>
      <p:sp>
        <p:nvSpPr>
          <p:cNvPr id="18454" name="Rectangle 66"/>
          <p:cNvSpPr>
            <a:spLocks noChangeArrowheads="1"/>
          </p:cNvSpPr>
          <p:nvPr/>
        </p:nvSpPr>
        <p:spPr bwMode="gray">
          <a:xfrm>
            <a:off x="3933935" y="3545343"/>
            <a:ext cx="1092200" cy="365676"/>
          </a:xfrm>
          <a:prstGeom prst="rect">
            <a:avLst/>
          </a:prstGeom>
          <a:solidFill>
            <a:schemeClr val="bg1"/>
          </a:solidFill>
          <a:ln w="19050">
            <a:solidFill>
              <a:srgbClr val="56C4D2"/>
            </a:solidFill>
            <a:miter lim="800000"/>
            <a:headEnd/>
            <a:tailEnd/>
          </a:ln>
        </p:spPr>
        <p:txBody>
          <a:bodyPr wrap="none" lIns="106692" tIns="53346" rIns="106692" bIns="53346" anchor="ctr"/>
          <a:lstStyle/>
          <a:p>
            <a:pPr algn="ctr" defTabSz="1066800"/>
            <a:r>
              <a:rPr kumimoji="1" lang="en-US" altLang="zh-CN" sz="1600" b="1" dirty="0">
                <a:latin typeface="Huawei Sans" panose="020C0503030203020204" pitchFamily="34" charset="0"/>
                <a:ea typeface="方正兰亭黑简体" panose="02000000000000000000" pitchFamily="2" charset="-122"/>
              </a:rPr>
              <a:t>IP</a:t>
            </a:r>
          </a:p>
        </p:txBody>
      </p:sp>
      <p:sp>
        <p:nvSpPr>
          <p:cNvPr id="18455" name="Rectangle 67"/>
          <p:cNvSpPr>
            <a:spLocks noChangeArrowheads="1"/>
          </p:cNvSpPr>
          <p:nvPr/>
        </p:nvSpPr>
        <p:spPr bwMode="gray">
          <a:xfrm>
            <a:off x="7212124" y="3545343"/>
            <a:ext cx="2185987" cy="365676"/>
          </a:xfrm>
          <a:prstGeom prst="rect">
            <a:avLst/>
          </a:prstGeom>
          <a:solidFill>
            <a:schemeClr val="bg1"/>
          </a:solidFill>
          <a:ln w="19050">
            <a:solidFill>
              <a:srgbClr val="56C4D2"/>
            </a:solidFill>
            <a:miter lim="800000"/>
            <a:headEnd/>
            <a:tailEnd/>
          </a:ln>
        </p:spPr>
        <p:txBody>
          <a:bodyPr wrap="none" lIns="106692" tIns="53346" rIns="106692" bIns="53346" anchor="ctr"/>
          <a:lstStyle/>
          <a:p>
            <a:pPr algn="ctr" defTabSz="1066800"/>
            <a:r>
              <a:rPr kumimoji="1" lang="en-US" altLang="zh-CN" sz="1600" b="1" dirty="0">
                <a:latin typeface="Huawei Sans" panose="020C0503030203020204" pitchFamily="34" charset="0"/>
                <a:ea typeface="方正兰亭黑简体" panose="02000000000000000000" pitchFamily="2" charset="-122"/>
              </a:rPr>
              <a:t>Payload</a:t>
            </a:r>
          </a:p>
        </p:txBody>
      </p:sp>
      <p:sp>
        <p:nvSpPr>
          <p:cNvPr id="18456" name="Rectangle 63"/>
          <p:cNvSpPr>
            <a:spLocks noChangeArrowheads="1"/>
          </p:cNvSpPr>
          <p:nvPr/>
        </p:nvSpPr>
        <p:spPr bwMode="gray">
          <a:xfrm>
            <a:off x="5026136" y="3066245"/>
            <a:ext cx="906463" cy="266372"/>
          </a:xfrm>
          <a:prstGeom prst="rect">
            <a:avLst/>
          </a:prstGeom>
          <a:solidFill>
            <a:srgbClr val="56C4D2"/>
          </a:solidFill>
          <a:ln w="25400">
            <a:solidFill>
              <a:schemeClr val="bg1">
                <a:lumMod val="50000"/>
              </a:schemeClr>
            </a:solidFill>
            <a:miter lim="800000"/>
            <a:headEnd/>
            <a:tailEnd/>
          </a:ln>
        </p:spPr>
        <p:txBody>
          <a:bodyPr wrap="none" lIns="106692" tIns="53346" rIns="106692" bIns="53346" anchor="ctr"/>
          <a:lstStyle/>
          <a:p>
            <a:pPr algn="ctr" defTabSz="1066800"/>
            <a:r>
              <a:rPr kumimoji="1" lang="en-US" altLang="zh-CN" sz="1600" b="1" dirty="0">
                <a:solidFill>
                  <a:schemeClr val="bg1"/>
                </a:solidFill>
                <a:latin typeface="Huawei Sans" panose="020C0503030203020204" pitchFamily="34" charset="0"/>
                <a:ea typeface="方正兰亭黑简体" panose="02000000000000000000" pitchFamily="2" charset="-122"/>
              </a:rPr>
              <a:t>Flags</a:t>
            </a:r>
            <a:endParaRPr kumimoji="1" lang="zh-CN" altLang="en-US" sz="1600" b="1" dirty="0">
              <a:solidFill>
                <a:schemeClr val="bg1"/>
              </a:solidFill>
              <a:latin typeface="Huawei Sans" panose="020C0503030203020204" pitchFamily="34" charset="0"/>
              <a:ea typeface="方正兰亭黑简体" panose="02000000000000000000" pitchFamily="2" charset="-122"/>
            </a:endParaRPr>
          </a:p>
        </p:txBody>
      </p:sp>
      <p:sp>
        <p:nvSpPr>
          <p:cNvPr id="18457" name="Rectangle 66"/>
          <p:cNvSpPr>
            <a:spLocks noChangeArrowheads="1"/>
          </p:cNvSpPr>
          <p:nvPr/>
        </p:nvSpPr>
        <p:spPr bwMode="gray">
          <a:xfrm>
            <a:off x="5942124" y="3066245"/>
            <a:ext cx="1982787" cy="266372"/>
          </a:xfrm>
          <a:prstGeom prst="rect">
            <a:avLst/>
          </a:prstGeom>
          <a:solidFill>
            <a:srgbClr val="56C4D2"/>
          </a:solidFill>
          <a:ln w="25400">
            <a:solidFill>
              <a:schemeClr val="bg1">
                <a:lumMod val="50000"/>
              </a:schemeClr>
            </a:solidFill>
            <a:miter lim="800000"/>
            <a:headEnd/>
            <a:tailEnd/>
          </a:ln>
        </p:spPr>
        <p:txBody>
          <a:bodyPr wrap="none" lIns="106692" tIns="53346" rIns="106692" bIns="53346" anchor="ctr"/>
          <a:lstStyle/>
          <a:p>
            <a:pPr algn="ctr" defTabSz="1066800"/>
            <a:r>
              <a:rPr kumimoji="1" lang="en-US" altLang="zh-CN" sz="1600" b="1" dirty="0">
                <a:solidFill>
                  <a:schemeClr val="bg1"/>
                </a:solidFill>
                <a:latin typeface="Huawei Sans" panose="020C0503030203020204" pitchFamily="34" charset="0"/>
                <a:ea typeface="方正兰亭黑简体" panose="02000000000000000000" pitchFamily="2" charset="-122"/>
              </a:rPr>
              <a:t>Protocol Type</a:t>
            </a:r>
          </a:p>
        </p:txBody>
      </p:sp>
      <p:cxnSp>
        <p:nvCxnSpPr>
          <p:cNvPr id="18458" name="直接连接符 2"/>
          <p:cNvCxnSpPr>
            <a:cxnSpLocks noChangeShapeType="1"/>
          </p:cNvCxnSpPr>
          <p:nvPr/>
        </p:nvCxnSpPr>
        <p:spPr bwMode="gray">
          <a:xfrm>
            <a:off x="5026135" y="3332617"/>
            <a:ext cx="0" cy="212725"/>
          </a:xfrm>
          <a:prstGeom prst="line">
            <a:avLst/>
          </a:prstGeom>
          <a:noFill/>
          <a:ln w="12700" algn="ctr">
            <a:solidFill>
              <a:srgbClr val="56C4D2"/>
            </a:solidFill>
            <a:round/>
            <a:headEnd/>
            <a:tailEnd/>
          </a:ln>
        </p:spPr>
      </p:cxnSp>
      <p:cxnSp>
        <p:nvCxnSpPr>
          <p:cNvPr id="18459" name="直接连接符 4"/>
          <p:cNvCxnSpPr>
            <a:cxnSpLocks noChangeShapeType="1"/>
          </p:cNvCxnSpPr>
          <p:nvPr/>
        </p:nvCxnSpPr>
        <p:spPr bwMode="gray">
          <a:xfrm flipV="1">
            <a:off x="6116748" y="3348491"/>
            <a:ext cx="1801812" cy="196850"/>
          </a:xfrm>
          <a:prstGeom prst="line">
            <a:avLst/>
          </a:prstGeom>
          <a:noFill/>
          <a:ln w="12700" algn="ctr">
            <a:solidFill>
              <a:srgbClr val="56C4D2"/>
            </a:solidFill>
            <a:round/>
            <a:headEnd/>
            <a:tailEnd/>
          </a:ln>
        </p:spPr>
      </p:cxnSp>
      <p:cxnSp>
        <p:nvCxnSpPr>
          <p:cNvPr id="50" name="直接连接符 49"/>
          <p:cNvCxnSpPr/>
          <p:nvPr/>
        </p:nvCxnSpPr>
        <p:spPr bwMode="gray">
          <a:xfrm flipV="1">
            <a:off x="4332044" y="5002013"/>
            <a:ext cx="3637481" cy="965"/>
          </a:xfrm>
          <a:prstGeom prst="line">
            <a:avLst/>
          </a:prstGeom>
          <a:solidFill>
            <a:schemeClr val="accent1"/>
          </a:solidFill>
          <a:ln w="31750" cap="flat" cmpd="sng" algn="ctr">
            <a:solidFill>
              <a:schemeClr val="tx1"/>
            </a:solidFill>
            <a:prstDash val="solid"/>
            <a:round/>
            <a:headEnd type="none" w="med" len="med"/>
            <a:tailEnd type="none" w="med" len="med"/>
          </a:ln>
          <a:effectLst/>
        </p:spPr>
      </p:cxnSp>
      <p:sp>
        <p:nvSpPr>
          <p:cNvPr id="18442" name="Text Box 48"/>
          <p:cNvSpPr txBox="1">
            <a:spLocks noChangeArrowheads="1"/>
          </p:cNvSpPr>
          <p:nvPr/>
        </p:nvSpPr>
        <p:spPr bwMode="gray">
          <a:xfrm>
            <a:off x="5612846" y="4835478"/>
            <a:ext cx="1260475" cy="369294"/>
          </a:xfrm>
          <a:prstGeom prst="rect">
            <a:avLst/>
          </a:prstGeom>
          <a:noFill/>
          <a:ln w="9525">
            <a:noFill/>
            <a:miter lim="800000"/>
            <a:headEnd/>
            <a:tailEnd/>
          </a:ln>
        </p:spPr>
        <p:txBody>
          <a:bodyPr lIns="91398" tIns="45701" rIns="91398" bIns="45701">
            <a:spAutoFit/>
          </a:bodyPr>
          <a:lstStyle/>
          <a:p>
            <a:pPr>
              <a:spcBef>
                <a:spcPct val="50000"/>
              </a:spcBef>
            </a:pPr>
            <a:r>
              <a:rPr lang="en-US" altLang="zh-CN" sz="1800" b="1" dirty="0">
                <a:solidFill>
                  <a:schemeClr val="bg1"/>
                </a:solidFill>
                <a:latin typeface="Huawei Sans" panose="020C0503030203020204" pitchFamily="34" charset="0"/>
                <a:ea typeface="方正兰亭黑简体" panose="02000000000000000000" pitchFamily="2" charset="-122"/>
              </a:rPr>
              <a:t>Internet</a:t>
            </a:r>
            <a:endParaRPr kumimoji="1" lang="en-US" altLang="zh-CN" sz="1800" b="1" dirty="0">
              <a:solidFill>
                <a:schemeClr val="bg1"/>
              </a:solidFill>
              <a:latin typeface="Huawei Sans" panose="020C0503030203020204" pitchFamily="34" charset="0"/>
              <a:ea typeface="方正兰亭黑简体" panose="02000000000000000000" pitchFamily="2" charset="-122"/>
            </a:endParaRPr>
          </a:p>
        </p:txBody>
      </p:sp>
      <p:sp>
        <p:nvSpPr>
          <p:cNvPr id="29" name="Freeform 159"/>
          <p:cNvSpPr/>
          <p:nvPr/>
        </p:nvSpPr>
        <p:spPr bwMode="gray">
          <a:xfrm flipH="1">
            <a:off x="1671647" y="4160491"/>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endParaRPr>
          </a:p>
        </p:txBody>
      </p:sp>
      <p:pic>
        <p:nvPicPr>
          <p:cNvPr id="30" name="图片 73" descr="PC.png"/>
          <p:cNvPicPr>
            <a:picLocks noChangeAspect="1"/>
          </p:cNvPicPr>
          <p:nvPr/>
        </p:nvPicPr>
        <p:blipFill>
          <a:blip r:embed="rId3" cstate="print"/>
          <a:stretch>
            <a:fillRect/>
          </a:stretch>
        </p:blipFill>
        <p:spPr bwMode="gray">
          <a:xfrm>
            <a:off x="2038526" y="4192523"/>
            <a:ext cx="539063" cy="414000"/>
          </a:xfrm>
          <a:prstGeom prst="rect">
            <a:avLst/>
          </a:prstGeom>
        </p:spPr>
      </p:pic>
      <p:pic>
        <p:nvPicPr>
          <p:cNvPr id="31" name="图片 73" descr="PC.png"/>
          <p:cNvPicPr>
            <a:picLocks noChangeAspect="1"/>
          </p:cNvPicPr>
          <p:nvPr/>
        </p:nvPicPr>
        <p:blipFill>
          <a:blip r:embed="rId3" cstate="print"/>
          <a:stretch>
            <a:fillRect/>
          </a:stretch>
        </p:blipFill>
        <p:spPr bwMode="gray">
          <a:xfrm>
            <a:off x="2038527" y="4976058"/>
            <a:ext cx="539063" cy="414000"/>
          </a:xfrm>
          <a:prstGeom prst="rect">
            <a:avLst/>
          </a:prstGeom>
        </p:spPr>
      </p:pic>
      <p:pic>
        <p:nvPicPr>
          <p:cNvPr id="32" name="图片 42" descr="大型网管-蓝.png"/>
          <p:cNvPicPr>
            <a:picLocks noChangeAspect="1"/>
          </p:cNvPicPr>
          <p:nvPr/>
        </p:nvPicPr>
        <p:blipFill>
          <a:blip r:embed="rId4" cstate="print"/>
          <a:stretch>
            <a:fillRect/>
          </a:stretch>
        </p:blipFill>
        <p:spPr bwMode="gray">
          <a:xfrm>
            <a:off x="3116425" y="4772133"/>
            <a:ext cx="539607" cy="441817"/>
          </a:xfrm>
          <a:prstGeom prst="rect">
            <a:avLst/>
          </a:prstGeom>
        </p:spPr>
      </p:pic>
      <p:sp>
        <p:nvSpPr>
          <p:cNvPr id="33" name="TextBox 32"/>
          <p:cNvSpPr txBox="1"/>
          <p:nvPr/>
        </p:nvSpPr>
        <p:spPr bwMode="gray">
          <a:xfrm>
            <a:off x="1706546" y="4253216"/>
            <a:ext cx="36006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PC</a:t>
            </a:r>
            <a:endParaRPr lang="zh-CN" altLang="en-US" sz="1400" dirty="0">
              <a:latin typeface="Huawei Sans" panose="020C0503030203020204" pitchFamily="34" charset="0"/>
              <a:ea typeface="方正兰亭黑简体" panose="02000000000000000000" pitchFamily="2" charset="-122"/>
            </a:endParaRPr>
          </a:p>
        </p:txBody>
      </p:sp>
      <p:sp>
        <p:nvSpPr>
          <p:cNvPr id="34" name="TextBox 33"/>
          <p:cNvSpPr txBox="1"/>
          <p:nvPr/>
        </p:nvSpPr>
        <p:spPr bwMode="gray">
          <a:xfrm>
            <a:off x="1697586" y="5036378"/>
            <a:ext cx="36006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PC</a:t>
            </a:r>
            <a:endParaRPr lang="zh-CN" altLang="en-US" sz="1400" dirty="0">
              <a:latin typeface="Huawei Sans" panose="020C0503030203020204" pitchFamily="34" charset="0"/>
              <a:ea typeface="方正兰亭黑简体" panose="02000000000000000000" pitchFamily="2" charset="-122"/>
            </a:endParaRPr>
          </a:p>
        </p:txBody>
      </p:sp>
      <p:pic>
        <p:nvPicPr>
          <p:cNvPr id="3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792044" y="4774316"/>
            <a:ext cx="540000" cy="442800"/>
          </a:xfrm>
          <a:prstGeom prst="rect">
            <a:avLst/>
          </a:prstGeom>
        </p:spPr>
      </p:pic>
      <p:sp>
        <p:nvSpPr>
          <p:cNvPr id="37" name="Freeform 159"/>
          <p:cNvSpPr/>
          <p:nvPr/>
        </p:nvSpPr>
        <p:spPr bwMode="gray">
          <a:xfrm flipH="1">
            <a:off x="8336112" y="4250773"/>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endParaRPr>
          </a:p>
        </p:txBody>
      </p:sp>
      <p:pic>
        <p:nvPicPr>
          <p:cNvPr id="38" name="图片 73" descr="PC.png"/>
          <p:cNvPicPr>
            <a:picLocks noChangeAspect="1"/>
          </p:cNvPicPr>
          <p:nvPr/>
        </p:nvPicPr>
        <p:blipFill>
          <a:blip r:embed="rId3" cstate="print"/>
          <a:stretch>
            <a:fillRect/>
          </a:stretch>
        </p:blipFill>
        <p:spPr bwMode="gray">
          <a:xfrm>
            <a:off x="9747394" y="4312015"/>
            <a:ext cx="539063" cy="414000"/>
          </a:xfrm>
          <a:prstGeom prst="rect">
            <a:avLst/>
          </a:prstGeom>
        </p:spPr>
      </p:pic>
      <p:pic>
        <p:nvPicPr>
          <p:cNvPr id="39" name="图片 73" descr="PC.png"/>
          <p:cNvPicPr>
            <a:picLocks noChangeAspect="1"/>
          </p:cNvPicPr>
          <p:nvPr/>
        </p:nvPicPr>
        <p:blipFill>
          <a:blip r:embed="rId3" cstate="print"/>
          <a:stretch>
            <a:fillRect/>
          </a:stretch>
        </p:blipFill>
        <p:spPr bwMode="gray">
          <a:xfrm>
            <a:off x="9747395" y="5095550"/>
            <a:ext cx="539063" cy="414000"/>
          </a:xfrm>
          <a:prstGeom prst="rect">
            <a:avLst/>
          </a:prstGeom>
        </p:spPr>
      </p:pic>
      <p:pic>
        <p:nvPicPr>
          <p:cNvPr id="40" name="图片 42" descr="大型网管-蓝.png"/>
          <p:cNvPicPr>
            <a:picLocks noChangeAspect="1"/>
          </p:cNvPicPr>
          <p:nvPr/>
        </p:nvPicPr>
        <p:blipFill>
          <a:blip r:embed="rId4" cstate="print"/>
          <a:stretch>
            <a:fillRect/>
          </a:stretch>
        </p:blipFill>
        <p:spPr bwMode="gray">
          <a:xfrm>
            <a:off x="8889082" y="4781104"/>
            <a:ext cx="539607" cy="441817"/>
          </a:xfrm>
          <a:prstGeom prst="rect">
            <a:avLst/>
          </a:prstGeom>
        </p:spPr>
      </p:pic>
      <p:sp>
        <p:nvSpPr>
          <p:cNvPr id="41" name="TextBox 40"/>
          <p:cNvSpPr txBox="1"/>
          <p:nvPr/>
        </p:nvSpPr>
        <p:spPr bwMode="gray">
          <a:xfrm>
            <a:off x="10286457" y="4380718"/>
            <a:ext cx="36006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PC</a:t>
            </a:r>
            <a:endParaRPr lang="zh-CN" altLang="en-US" sz="1400" dirty="0">
              <a:latin typeface="Huawei Sans" panose="020C0503030203020204" pitchFamily="34" charset="0"/>
              <a:ea typeface="方正兰亭黑简体" panose="02000000000000000000" pitchFamily="2" charset="-122"/>
            </a:endParaRPr>
          </a:p>
        </p:txBody>
      </p:sp>
      <p:sp>
        <p:nvSpPr>
          <p:cNvPr id="42" name="TextBox 41"/>
          <p:cNvSpPr txBox="1"/>
          <p:nvPr/>
        </p:nvSpPr>
        <p:spPr bwMode="gray">
          <a:xfrm>
            <a:off x="10277497" y="5163880"/>
            <a:ext cx="36006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PC</a:t>
            </a:r>
            <a:endParaRPr lang="zh-CN" altLang="en-US" sz="1400" dirty="0">
              <a:latin typeface="Huawei Sans" panose="020C0503030203020204" pitchFamily="34" charset="0"/>
              <a:ea typeface="方正兰亭黑简体" panose="02000000000000000000" pitchFamily="2" charset="-122"/>
            </a:endParaRPr>
          </a:p>
        </p:txBody>
      </p:sp>
      <p:pic>
        <p:nvPicPr>
          <p:cNvPr id="4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980319" y="4799922"/>
            <a:ext cx="540000" cy="442800"/>
          </a:xfrm>
          <a:prstGeom prst="rect">
            <a:avLst/>
          </a:prstGeom>
        </p:spPr>
      </p:pic>
      <p:sp>
        <p:nvSpPr>
          <p:cNvPr id="45" name="TextBox 44"/>
          <p:cNvSpPr txBox="1"/>
          <p:nvPr/>
        </p:nvSpPr>
        <p:spPr bwMode="gray">
          <a:xfrm>
            <a:off x="2969574" y="4500991"/>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Huawei Sans" panose="020C0503030203020204" pitchFamily="34" charset="0"/>
                <a:ea typeface="方正兰亭黑简体" panose="02000000000000000000" pitchFamily="2" charset="-122"/>
              </a:rPr>
              <a:t>企业分支</a:t>
            </a:r>
            <a:endParaRPr lang="zh-CN" altLang="en-US" sz="1400" dirty="0">
              <a:latin typeface="Huawei Sans" panose="020C0503030203020204" pitchFamily="34" charset="0"/>
              <a:ea typeface="方正兰亭黑简体" panose="02000000000000000000" pitchFamily="2" charset="-122"/>
            </a:endParaRPr>
          </a:p>
        </p:txBody>
      </p:sp>
      <p:sp>
        <p:nvSpPr>
          <p:cNvPr id="46" name="TextBox 45"/>
          <p:cNvSpPr txBox="1"/>
          <p:nvPr/>
        </p:nvSpPr>
        <p:spPr bwMode="gray">
          <a:xfrm>
            <a:off x="8762449" y="454042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Huawei Sans" panose="020C0503030203020204" pitchFamily="34" charset="0"/>
                <a:ea typeface="方正兰亭黑简体" panose="02000000000000000000" pitchFamily="2" charset="-122"/>
              </a:rPr>
              <a:t>企业总部</a:t>
            </a:r>
            <a:endParaRPr lang="zh-CN" altLang="en-US" sz="1400" dirty="0">
              <a:latin typeface="Huawei Sans" panose="020C0503030203020204" pitchFamily="34" charset="0"/>
              <a:ea typeface="方正兰亭黑简体" panose="02000000000000000000" pitchFamily="2" charset="-122"/>
            </a:endParaRPr>
          </a:p>
        </p:txBody>
      </p:sp>
      <p:sp>
        <p:nvSpPr>
          <p:cNvPr id="52" name="Can 225"/>
          <p:cNvSpPr/>
          <p:nvPr/>
        </p:nvSpPr>
        <p:spPr bwMode="gray">
          <a:xfrm rot="5400000" flipH="1">
            <a:off x="6017052" y="3185655"/>
            <a:ext cx="240736" cy="3574983"/>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46" name="Text Box 52"/>
          <p:cNvSpPr txBox="1">
            <a:spLocks noChangeArrowheads="1"/>
          </p:cNvSpPr>
          <p:nvPr/>
        </p:nvSpPr>
        <p:spPr bwMode="gray">
          <a:xfrm>
            <a:off x="5508231" y="4813750"/>
            <a:ext cx="1191352" cy="307777"/>
          </a:xfrm>
          <a:prstGeom prst="rect">
            <a:avLst/>
          </a:prstGeom>
          <a:noFill/>
          <a:ln w="9525">
            <a:noFill/>
            <a:miter lim="800000"/>
            <a:headEnd/>
            <a:tailEnd/>
          </a:ln>
        </p:spPr>
        <p:txBody>
          <a:bodyPr wrap="none">
            <a:spAutoFit/>
          </a:bodyPr>
          <a:lstStyle/>
          <a:p>
            <a:pPr eaLnBrk="1" fontAlgn="t" hangingPunct="1"/>
            <a:r>
              <a:rPr kumimoji="1" lang="en-US" altLang="zh-CN" sz="1400" b="1" dirty="0">
                <a:solidFill>
                  <a:schemeClr val="bg1"/>
                </a:solidFill>
                <a:latin typeface="Huawei Sans" panose="020C0503030203020204" pitchFamily="34" charset="0"/>
                <a:ea typeface="方正兰亭黑简体" panose="02000000000000000000" pitchFamily="2" charset="-122"/>
              </a:rPr>
              <a:t>GRE Tunnel</a:t>
            </a:r>
          </a:p>
        </p:txBody>
      </p:sp>
      <p:grpSp>
        <p:nvGrpSpPr>
          <p:cNvPr id="57" name="Group 56"/>
          <p:cNvGrpSpPr/>
          <p:nvPr/>
        </p:nvGrpSpPr>
        <p:grpSpPr bwMode="gray">
          <a:xfrm>
            <a:off x="7219313" y="75768"/>
            <a:ext cx="4455174" cy="218510"/>
            <a:chOff x="6465362" y="121552"/>
            <a:chExt cx="4455174" cy="218510"/>
          </a:xfrm>
        </p:grpSpPr>
        <p:sp>
          <p:nvSpPr>
            <p:cNvPr id="58"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60"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61"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
        <p:nvSpPr>
          <p:cNvPr id="47" name="TextBox 46">
            <a:extLst>
              <a:ext uri="{FF2B5EF4-FFF2-40B4-BE49-F238E27FC236}">
                <a16:creationId xmlns:a16="http://schemas.microsoft.com/office/drawing/2014/main" id="{6EB0F983-EBF2-4228-BA2B-CDE457F36403}"/>
              </a:ext>
            </a:extLst>
          </p:cNvPr>
          <p:cNvSpPr txBox="1"/>
          <p:nvPr/>
        </p:nvSpPr>
        <p:spPr bwMode="gray">
          <a:xfrm>
            <a:off x="3837790" y="5204772"/>
            <a:ext cx="459447"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RTA</a:t>
            </a:r>
            <a:endParaRPr lang="zh-CN" altLang="en-US" sz="1400" dirty="0">
              <a:latin typeface="Huawei Sans" panose="020C0503030203020204" pitchFamily="34" charset="0"/>
              <a:ea typeface="方正兰亭黑简体" panose="02000000000000000000" pitchFamily="2" charset="-122"/>
            </a:endParaRPr>
          </a:p>
        </p:txBody>
      </p:sp>
      <p:sp>
        <p:nvSpPr>
          <p:cNvPr id="48" name="TextBox 47">
            <a:extLst>
              <a:ext uri="{FF2B5EF4-FFF2-40B4-BE49-F238E27FC236}">
                <a16:creationId xmlns:a16="http://schemas.microsoft.com/office/drawing/2014/main" id="{AC20E466-9D47-41E0-A133-098A07CFF9AC}"/>
              </a:ext>
            </a:extLst>
          </p:cNvPr>
          <p:cNvSpPr txBox="1"/>
          <p:nvPr/>
        </p:nvSpPr>
        <p:spPr bwMode="gray">
          <a:xfrm>
            <a:off x="8022015" y="5217116"/>
            <a:ext cx="45143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Huawei Sans" panose="020C0503030203020204" pitchFamily="34" charset="0"/>
                <a:ea typeface="方正兰亭黑简体" panose="02000000000000000000" pitchFamily="2" charset="-122"/>
              </a:rPr>
              <a:t>RTB</a:t>
            </a:r>
            <a:endParaRPr lang="zh-CN" altLang="en-US" sz="1400" dirty="0">
              <a:latin typeface="Huawei Sans" panose="020C0503030203020204" pitchFamily="34" charset="0"/>
              <a:ea typeface="方正兰亭黑简体" panose="02000000000000000000" pitchFamily="2" charset="-122"/>
            </a:endParaRPr>
          </a:p>
        </p:txBody>
      </p:sp>
      <p:sp>
        <p:nvSpPr>
          <p:cNvPr id="2" name="Rectangle 1">
            <a:extLst>
              <a:ext uri="{FF2B5EF4-FFF2-40B4-BE49-F238E27FC236}">
                <a16:creationId xmlns:a16="http://schemas.microsoft.com/office/drawing/2014/main" id="{739DF195-1B2B-4D96-A574-7D15D77CB764}"/>
              </a:ext>
            </a:extLst>
          </p:cNvPr>
          <p:cNvSpPr/>
          <p:nvPr/>
        </p:nvSpPr>
        <p:spPr bwMode="gray">
          <a:xfrm>
            <a:off x="4403810" y="4494452"/>
            <a:ext cx="984851" cy="224141"/>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GRE</a:t>
            </a:r>
            <a:r>
              <a:rPr lang="zh-CN" altLang="en-US" sz="1200" dirty="0"/>
              <a:t>数据包</a:t>
            </a:r>
            <a:endParaRPr lang="en-US" sz="1200" dirty="0"/>
          </a:p>
        </p:txBody>
      </p:sp>
      <p:cxnSp>
        <p:nvCxnSpPr>
          <p:cNvPr id="4" name="Straight Arrow Connector 3">
            <a:extLst>
              <a:ext uri="{FF2B5EF4-FFF2-40B4-BE49-F238E27FC236}">
                <a16:creationId xmlns:a16="http://schemas.microsoft.com/office/drawing/2014/main" id="{F7ABC39F-4B65-4893-9A9B-4DF5ABE5DD69}"/>
              </a:ext>
            </a:extLst>
          </p:cNvPr>
          <p:cNvCxnSpPr>
            <a:cxnSpLocks/>
            <a:stCxn id="2" idx="3"/>
          </p:cNvCxnSpPr>
          <p:nvPr/>
        </p:nvCxnSpPr>
        <p:spPr bwMode="gray">
          <a:xfrm flipV="1">
            <a:off x="5388661" y="4606522"/>
            <a:ext cx="530102" cy="1"/>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连接符 2">
            <a:extLst>
              <a:ext uri="{FF2B5EF4-FFF2-40B4-BE49-F238E27FC236}">
                <a16:creationId xmlns:a16="http://schemas.microsoft.com/office/drawing/2014/main" id="{784D9F75-F098-4871-86D8-07B2087406AD}"/>
              </a:ext>
            </a:extLst>
          </p:cNvPr>
          <p:cNvCxnSpPr>
            <a:cxnSpLocks noChangeShapeType="1"/>
          </p:cNvCxnSpPr>
          <p:nvPr/>
        </p:nvCxnSpPr>
        <p:spPr bwMode="gray">
          <a:xfrm>
            <a:off x="2840147" y="3911873"/>
            <a:ext cx="1563664" cy="582579"/>
          </a:xfrm>
          <a:prstGeom prst="line">
            <a:avLst/>
          </a:prstGeom>
          <a:noFill/>
          <a:ln w="12700" algn="ctr">
            <a:solidFill>
              <a:srgbClr val="56C4D2"/>
            </a:solidFill>
            <a:round/>
            <a:headEnd/>
            <a:tailEnd/>
          </a:ln>
        </p:spPr>
      </p:cxnSp>
      <p:cxnSp>
        <p:nvCxnSpPr>
          <p:cNvPr id="51" name="直接连接符 2">
            <a:extLst>
              <a:ext uri="{FF2B5EF4-FFF2-40B4-BE49-F238E27FC236}">
                <a16:creationId xmlns:a16="http://schemas.microsoft.com/office/drawing/2014/main" id="{D293CE1B-2D17-4E0C-8047-20DA9B46C410}"/>
              </a:ext>
            </a:extLst>
          </p:cNvPr>
          <p:cNvCxnSpPr>
            <a:cxnSpLocks noChangeShapeType="1"/>
          </p:cNvCxnSpPr>
          <p:nvPr/>
        </p:nvCxnSpPr>
        <p:spPr bwMode="gray">
          <a:xfrm flipH="1">
            <a:off x="5381928" y="3911019"/>
            <a:ext cx="4016183" cy="582579"/>
          </a:xfrm>
          <a:prstGeom prst="line">
            <a:avLst/>
          </a:prstGeom>
          <a:noFill/>
          <a:ln w="12700" algn="ctr">
            <a:solidFill>
              <a:srgbClr val="56C4D2"/>
            </a:solidFill>
            <a:round/>
            <a:headEnd/>
            <a:tailEnd/>
          </a:ln>
        </p:spPr>
      </p:cxnSp>
    </p:spTree>
    <p:extLst>
      <p:ext uri="{BB962C8B-B14F-4D97-AF65-F5344CB8AC3E}">
        <p14:creationId xmlns:p14="http://schemas.microsoft.com/office/powerpoint/2010/main" val="3341790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159">
            <a:extLst>
              <a:ext uri="{FF2B5EF4-FFF2-40B4-BE49-F238E27FC236}">
                <a16:creationId xmlns:a16="http://schemas.microsoft.com/office/drawing/2014/main" id="{E4216620-5E68-4753-825F-CC9BD674BFF6}"/>
              </a:ext>
            </a:extLst>
          </p:cNvPr>
          <p:cNvSpPr/>
          <p:nvPr/>
        </p:nvSpPr>
        <p:spPr bwMode="gray">
          <a:xfrm flipH="1">
            <a:off x="5383935" y="3790008"/>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rPr>
              <a:t>I</a:t>
            </a:r>
            <a:r>
              <a:rPr lang="en-US" altLang="zh-CN" sz="1600" dirty="0">
                <a:solidFill>
                  <a:schemeClr val="tx1"/>
                </a:solidFill>
              </a:rPr>
              <a:t>nternet</a:t>
            </a:r>
            <a:endParaRPr lang="en-US" sz="1600" dirty="0">
              <a:solidFill>
                <a:schemeClr val="tx1"/>
              </a:solidFill>
            </a:endParaRPr>
          </a:p>
        </p:txBody>
      </p:sp>
      <p:sp>
        <p:nvSpPr>
          <p:cNvPr id="3" name="标题 2"/>
          <p:cNvSpPr>
            <a:spLocks noGrp="1"/>
          </p:cNvSpPr>
          <p:nvPr>
            <p:ph type="title"/>
          </p:nvPr>
        </p:nvSpPr>
        <p:spPr bwMode="gray"/>
        <p:txBody>
          <a:bodyPr/>
          <a:lstStyle/>
          <a:p>
            <a:r>
              <a:rPr lang="en-US" altLang="zh-CN" dirty="0"/>
              <a:t>GRE Over IPsec</a:t>
            </a:r>
            <a:r>
              <a:rPr lang="zh-CN" altLang="en-US" dirty="0"/>
              <a:t>简介</a:t>
            </a:r>
          </a:p>
        </p:txBody>
      </p:sp>
      <p:sp>
        <p:nvSpPr>
          <p:cNvPr id="4" name="文本占位符 3"/>
          <p:cNvSpPr>
            <a:spLocks noGrp="1"/>
          </p:cNvSpPr>
          <p:nvPr>
            <p:ph type="body" sz="quarter" idx="10"/>
          </p:nvPr>
        </p:nvSpPr>
        <p:spPr bwMode="gray"/>
        <p:txBody>
          <a:bodyPr/>
          <a:lstStyle/>
          <a:p>
            <a:pPr hangingPunct="0">
              <a:defRPr/>
            </a:pPr>
            <a:r>
              <a:rPr lang="en-US" altLang="zh-CN" sz="2000" dirty="0"/>
              <a:t>GRE</a:t>
            </a:r>
            <a:r>
              <a:rPr lang="zh-CN" altLang="en-US" sz="2000" dirty="0"/>
              <a:t>的主要缺点是不支持加密。</a:t>
            </a:r>
            <a:r>
              <a:rPr lang="en-US" altLang="zh-CN" sz="2000" dirty="0"/>
              <a:t>IPsec</a:t>
            </a:r>
            <a:r>
              <a:rPr lang="zh-CN" altLang="en-US" sz="2000" dirty="0"/>
              <a:t>的主要缺点是只支持</a:t>
            </a:r>
            <a:r>
              <a:rPr lang="en-US" altLang="zh-CN" sz="2000" dirty="0"/>
              <a:t>IP</a:t>
            </a:r>
            <a:r>
              <a:rPr lang="zh-CN" altLang="en-US" sz="2000" dirty="0"/>
              <a:t>协议，且不支持组播。</a:t>
            </a:r>
            <a:endParaRPr lang="en-US" altLang="zh-CN" sz="2000" dirty="0"/>
          </a:p>
          <a:p>
            <a:pPr hangingPunct="0">
              <a:defRPr/>
            </a:pPr>
            <a:r>
              <a:rPr lang="zh-CN" altLang="en-US" sz="2000" dirty="0"/>
              <a:t>将</a:t>
            </a:r>
            <a:r>
              <a:rPr lang="en-US" altLang="zh-CN" sz="2000" dirty="0"/>
              <a:t>GRE</a:t>
            </a:r>
            <a:r>
              <a:rPr lang="zh-CN" altLang="en-US" sz="2000" dirty="0"/>
              <a:t>封装入</a:t>
            </a:r>
            <a:r>
              <a:rPr lang="en-US" altLang="zh-CN" sz="2000" dirty="0"/>
              <a:t>IPsec</a:t>
            </a:r>
            <a:r>
              <a:rPr lang="zh-CN" altLang="en-US" sz="2000" dirty="0"/>
              <a:t>可以结合</a:t>
            </a:r>
            <a:r>
              <a:rPr lang="en-US" altLang="zh-CN" sz="2000" dirty="0"/>
              <a:t>GRE</a:t>
            </a:r>
            <a:r>
              <a:rPr lang="zh-CN" altLang="en-US" sz="2000" dirty="0"/>
              <a:t>和</a:t>
            </a:r>
            <a:r>
              <a:rPr lang="en-US" altLang="zh-CN" sz="2000" dirty="0"/>
              <a:t>IPsec</a:t>
            </a:r>
            <a:r>
              <a:rPr lang="zh-CN" altLang="en-US" sz="2000" dirty="0"/>
              <a:t>的优点，避免各自的缺点。</a:t>
            </a:r>
            <a:endParaRPr lang="en-US" altLang="zh-CN" sz="2000" dirty="0"/>
          </a:p>
          <a:p>
            <a:pPr hangingPunct="0">
              <a:defRPr/>
            </a:pPr>
            <a:r>
              <a:rPr lang="en-US" altLang="zh-CN" sz="2000" dirty="0"/>
              <a:t>GRE Over IPsec</a:t>
            </a:r>
            <a:r>
              <a:rPr lang="zh-CN" altLang="en-US" sz="2000" dirty="0"/>
              <a:t>是一种企业常用的点到点</a:t>
            </a:r>
            <a:r>
              <a:rPr lang="en-US" altLang="zh-CN" sz="2000" dirty="0"/>
              <a:t>VPN</a:t>
            </a:r>
            <a:r>
              <a:rPr lang="zh-CN" altLang="en-US" sz="2000" dirty="0"/>
              <a:t>技术。</a:t>
            </a:r>
          </a:p>
          <a:p>
            <a:pPr hangingPunct="0">
              <a:defRPr/>
            </a:pPr>
            <a:endParaRPr lang="zh-CN" altLang="en-US" sz="2000" dirty="0"/>
          </a:p>
        </p:txBody>
      </p:sp>
      <p:cxnSp>
        <p:nvCxnSpPr>
          <p:cNvPr id="6" name="直接连接符 5"/>
          <p:cNvCxnSpPr/>
          <p:nvPr/>
        </p:nvCxnSpPr>
        <p:spPr bwMode="gray">
          <a:xfrm flipV="1">
            <a:off x="4380075" y="4400191"/>
            <a:ext cx="3639147" cy="599"/>
          </a:xfrm>
          <a:prstGeom prst="line">
            <a:avLst/>
          </a:prstGeom>
          <a:solidFill>
            <a:schemeClr val="accent1"/>
          </a:solidFill>
          <a:ln w="31750" cap="flat" cmpd="sng" algn="ctr">
            <a:solidFill>
              <a:schemeClr val="tx1"/>
            </a:solidFill>
            <a:prstDash val="solid"/>
            <a:round/>
            <a:headEnd type="none" w="med" len="med"/>
            <a:tailEnd type="none" w="med" len="med"/>
          </a:ln>
          <a:effectLst/>
        </p:spPr>
      </p:cxnSp>
      <p:sp>
        <p:nvSpPr>
          <p:cNvPr id="25" name="Freeform 159"/>
          <p:cNvSpPr/>
          <p:nvPr/>
        </p:nvSpPr>
        <p:spPr bwMode="gray">
          <a:xfrm flipH="1">
            <a:off x="1732773" y="3557445"/>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6" name="图片 73" descr="PC.png"/>
          <p:cNvPicPr>
            <a:picLocks noChangeAspect="1"/>
          </p:cNvPicPr>
          <p:nvPr/>
        </p:nvPicPr>
        <p:blipFill>
          <a:blip r:embed="rId3" cstate="print"/>
          <a:stretch>
            <a:fillRect/>
          </a:stretch>
        </p:blipFill>
        <p:spPr bwMode="gray">
          <a:xfrm>
            <a:off x="2099652" y="3589477"/>
            <a:ext cx="539063" cy="414000"/>
          </a:xfrm>
          <a:prstGeom prst="rect">
            <a:avLst/>
          </a:prstGeom>
        </p:spPr>
      </p:pic>
      <p:pic>
        <p:nvPicPr>
          <p:cNvPr id="27" name="图片 73" descr="PC.png"/>
          <p:cNvPicPr>
            <a:picLocks noChangeAspect="1"/>
          </p:cNvPicPr>
          <p:nvPr/>
        </p:nvPicPr>
        <p:blipFill>
          <a:blip r:embed="rId3" cstate="print"/>
          <a:stretch>
            <a:fillRect/>
          </a:stretch>
        </p:blipFill>
        <p:spPr bwMode="gray">
          <a:xfrm>
            <a:off x="2099653" y="4373012"/>
            <a:ext cx="539063" cy="414000"/>
          </a:xfrm>
          <a:prstGeom prst="rect">
            <a:avLst/>
          </a:prstGeom>
        </p:spPr>
      </p:pic>
      <p:pic>
        <p:nvPicPr>
          <p:cNvPr id="28" name="图片 42" descr="大型网管-蓝.png"/>
          <p:cNvPicPr>
            <a:picLocks noChangeAspect="1"/>
          </p:cNvPicPr>
          <p:nvPr/>
        </p:nvPicPr>
        <p:blipFill>
          <a:blip r:embed="rId4" cstate="print"/>
          <a:stretch>
            <a:fillRect/>
          </a:stretch>
        </p:blipFill>
        <p:spPr bwMode="gray">
          <a:xfrm>
            <a:off x="3177551" y="4169087"/>
            <a:ext cx="539607" cy="441817"/>
          </a:xfrm>
          <a:prstGeom prst="rect">
            <a:avLst/>
          </a:prstGeom>
        </p:spPr>
      </p:pic>
      <p:sp>
        <p:nvSpPr>
          <p:cNvPr id="31" name="TextBox 30"/>
          <p:cNvSpPr txBox="1"/>
          <p:nvPr/>
        </p:nvSpPr>
        <p:spPr bwMode="gray">
          <a:xfrm>
            <a:off x="1767672" y="3650170"/>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32" name="TextBox 31"/>
          <p:cNvSpPr txBox="1"/>
          <p:nvPr/>
        </p:nvSpPr>
        <p:spPr bwMode="gray">
          <a:xfrm>
            <a:off x="1758712" y="4433332"/>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pic>
        <p:nvPicPr>
          <p:cNvPr id="3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853170" y="4171270"/>
            <a:ext cx="540000" cy="442800"/>
          </a:xfrm>
          <a:prstGeom prst="rect">
            <a:avLst/>
          </a:prstGeom>
        </p:spPr>
      </p:pic>
      <p:sp>
        <p:nvSpPr>
          <p:cNvPr id="35" name="Freeform 159"/>
          <p:cNvSpPr/>
          <p:nvPr/>
        </p:nvSpPr>
        <p:spPr bwMode="gray">
          <a:xfrm flipH="1">
            <a:off x="8377823" y="3621772"/>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6" name="图片 73" descr="PC.png"/>
          <p:cNvPicPr>
            <a:picLocks noChangeAspect="1"/>
          </p:cNvPicPr>
          <p:nvPr/>
        </p:nvPicPr>
        <p:blipFill>
          <a:blip r:embed="rId3" cstate="print"/>
          <a:stretch>
            <a:fillRect/>
          </a:stretch>
        </p:blipFill>
        <p:spPr bwMode="gray">
          <a:xfrm>
            <a:off x="9789105" y="3683014"/>
            <a:ext cx="539063" cy="414000"/>
          </a:xfrm>
          <a:prstGeom prst="rect">
            <a:avLst/>
          </a:prstGeom>
        </p:spPr>
      </p:pic>
      <p:pic>
        <p:nvPicPr>
          <p:cNvPr id="37" name="图片 73" descr="PC.png"/>
          <p:cNvPicPr>
            <a:picLocks noChangeAspect="1"/>
          </p:cNvPicPr>
          <p:nvPr/>
        </p:nvPicPr>
        <p:blipFill>
          <a:blip r:embed="rId3" cstate="print"/>
          <a:stretch>
            <a:fillRect/>
          </a:stretch>
        </p:blipFill>
        <p:spPr bwMode="gray">
          <a:xfrm>
            <a:off x="9789106" y="4466549"/>
            <a:ext cx="539063" cy="414000"/>
          </a:xfrm>
          <a:prstGeom prst="rect">
            <a:avLst/>
          </a:prstGeom>
        </p:spPr>
      </p:pic>
      <p:pic>
        <p:nvPicPr>
          <p:cNvPr id="38" name="图片 42" descr="大型网管-蓝.png"/>
          <p:cNvPicPr>
            <a:picLocks noChangeAspect="1"/>
          </p:cNvPicPr>
          <p:nvPr/>
        </p:nvPicPr>
        <p:blipFill>
          <a:blip r:embed="rId4" cstate="print"/>
          <a:stretch>
            <a:fillRect/>
          </a:stretch>
        </p:blipFill>
        <p:spPr bwMode="gray">
          <a:xfrm>
            <a:off x="8930793" y="4152103"/>
            <a:ext cx="539607" cy="441817"/>
          </a:xfrm>
          <a:prstGeom prst="rect">
            <a:avLst/>
          </a:prstGeom>
        </p:spPr>
      </p:pic>
      <p:sp>
        <p:nvSpPr>
          <p:cNvPr id="39" name="TextBox 38"/>
          <p:cNvSpPr txBox="1"/>
          <p:nvPr/>
        </p:nvSpPr>
        <p:spPr bwMode="gray">
          <a:xfrm>
            <a:off x="10328168" y="3751717"/>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40" name="TextBox 39"/>
          <p:cNvSpPr txBox="1"/>
          <p:nvPr/>
        </p:nvSpPr>
        <p:spPr bwMode="gray">
          <a:xfrm>
            <a:off x="10319208" y="4534879"/>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pic>
        <p:nvPicPr>
          <p:cNvPr id="42"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022030" y="4170921"/>
            <a:ext cx="540000" cy="442800"/>
          </a:xfrm>
          <a:prstGeom prst="rect">
            <a:avLst/>
          </a:prstGeom>
        </p:spPr>
      </p:pic>
      <p:sp>
        <p:nvSpPr>
          <p:cNvPr id="56" name="Can 225"/>
          <p:cNvSpPr/>
          <p:nvPr/>
        </p:nvSpPr>
        <p:spPr bwMode="gray">
          <a:xfrm rot="5400000" flipH="1">
            <a:off x="4629749" y="4076403"/>
            <a:ext cx="182222" cy="662048"/>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Can 41"/>
          <p:cNvSpPr/>
          <p:nvPr/>
        </p:nvSpPr>
        <p:spPr bwMode="gray">
          <a:xfrm rot="5400000">
            <a:off x="5751235" y="3129838"/>
            <a:ext cx="236717" cy="2540708"/>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52"/>
          <p:cNvSpPr txBox="1"/>
          <p:nvPr/>
        </p:nvSpPr>
        <p:spPr bwMode="gray">
          <a:xfrm flipH="1">
            <a:off x="5380114" y="4268928"/>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54" name="Rectangular Callout 53"/>
          <p:cNvSpPr/>
          <p:nvPr/>
        </p:nvSpPr>
        <p:spPr bwMode="gray">
          <a:xfrm>
            <a:off x="4557325" y="4660748"/>
            <a:ext cx="1145501" cy="388952"/>
          </a:xfrm>
          <a:prstGeom prst="wedgeRectCallout">
            <a:avLst>
              <a:gd name="adj1" fmla="val 23680"/>
              <a:gd name="adj2" fmla="val -1084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隧道（外）</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57" name="Can 225"/>
          <p:cNvSpPr/>
          <p:nvPr/>
        </p:nvSpPr>
        <p:spPr bwMode="gray">
          <a:xfrm rot="5400000" flipH="1">
            <a:off x="7435577" y="3950190"/>
            <a:ext cx="182222" cy="900000"/>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Group 49"/>
          <p:cNvGrpSpPr/>
          <p:nvPr/>
        </p:nvGrpSpPr>
        <p:grpSpPr bwMode="gray">
          <a:xfrm>
            <a:off x="7219311" y="75768"/>
            <a:ext cx="4455174" cy="218510"/>
            <a:chOff x="6465362" y="121552"/>
            <a:chExt cx="4455174" cy="218510"/>
          </a:xfrm>
        </p:grpSpPr>
        <p:sp>
          <p:nvSpPr>
            <p:cNvPr id="51"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52"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58"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
        <p:nvSpPr>
          <p:cNvPr id="33" name="TextBox 52"/>
          <p:cNvSpPr txBox="1"/>
          <p:nvPr/>
        </p:nvSpPr>
        <p:spPr bwMode="gray">
          <a:xfrm flipH="1">
            <a:off x="7111557" y="4268928"/>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55" name="Rectangular Callout 54"/>
          <p:cNvSpPr/>
          <p:nvPr/>
        </p:nvSpPr>
        <p:spPr bwMode="gray">
          <a:xfrm>
            <a:off x="6877516" y="4656708"/>
            <a:ext cx="1145501" cy="388952"/>
          </a:xfrm>
          <a:prstGeom prst="wedgeRectCallout">
            <a:avLst>
              <a:gd name="adj1" fmla="val 30700"/>
              <a:gd name="adj2" fmla="val -9688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隧道（内）</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7085440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圆角矩形 75"/>
          <p:cNvSpPr/>
          <p:nvPr/>
        </p:nvSpPr>
        <p:spPr bwMode="gray">
          <a:xfrm>
            <a:off x="1415480" y="3575255"/>
            <a:ext cx="9577064" cy="252052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现网中分支站点互联多使用</a:t>
            </a:r>
            <a:r>
              <a:rPr lang="en-US" altLang="zh-CN" sz="1400" dirty="0">
                <a:solidFill>
                  <a:prstClr val="black"/>
                </a:solidFill>
                <a:latin typeface="Huawei Sans" panose="020C0503030203020204" pitchFamily="34" charset="0"/>
                <a:ea typeface="方正兰亭黑简体" panose="02000000000000000000" pitchFamily="2" charset="-122"/>
              </a:rPr>
              <a:t>GRE Over IPsec</a:t>
            </a:r>
            <a:r>
              <a:rPr lang="zh-CN" altLang="en-US" sz="1400" dirty="0">
                <a:solidFill>
                  <a:prstClr val="black"/>
                </a:solidFill>
                <a:latin typeface="Huawei Sans" panose="020C0503030203020204" pitchFamily="34" charset="0"/>
                <a:ea typeface="方正兰亭黑简体" panose="02000000000000000000" pitchFamily="2" charset="-122"/>
              </a:rPr>
              <a:t>技术，</a:t>
            </a:r>
            <a:r>
              <a:rPr lang="en-US" altLang="zh-CN" sz="1400" dirty="0">
                <a:solidFill>
                  <a:prstClr val="black"/>
                </a:solidFill>
                <a:latin typeface="Huawei Sans" panose="020C0503030203020204" pitchFamily="34" charset="0"/>
                <a:ea typeface="方正兰亭黑简体" panose="02000000000000000000" pitchFamily="2" charset="-122"/>
              </a:rPr>
              <a:t>IPsec</a:t>
            </a:r>
            <a:r>
              <a:rPr lang="zh-CN" altLang="en-US" sz="1400" dirty="0">
                <a:solidFill>
                  <a:prstClr val="black"/>
                </a:solidFill>
                <a:latin typeface="Huawei Sans" panose="020C0503030203020204" pitchFamily="34" charset="0"/>
                <a:ea typeface="方正兰亭黑简体" panose="02000000000000000000" pitchFamily="2" charset="-122"/>
              </a:rPr>
              <a:t>技术保障数据安全传输，</a:t>
            </a:r>
            <a:r>
              <a:rPr lang="en-US" altLang="zh-CN" sz="1400" dirty="0">
                <a:solidFill>
                  <a:prstClr val="black"/>
                </a:solidFill>
                <a:latin typeface="Huawei Sans" panose="020C0503030203020204" pitchFamily="34" charset="0"/>
                <a:ea typeface="方正兰亭黑简体" panose="02000000000000000000" pitchFamily="2" charset="-122"/>
              </a:rPr>
              <a:t>GRE</a:t>
            </a:r>
            <a:r>
              <a:rPr lang="zh-CN" altLang="en-US" sz="1400" dirty="0">
                <a:solidFill>
                  <a:prstClr val="black"/>
                </a:solidFill>
                <a:latin typeface="Huawei Sans" panose="020C0503030203020204" pitchFamily="34" charset="0"/>
                <a:ea typeface="方正兰亭黑简体" panose="02000000000000000000" pitchFamily="2" charset="-122"/>
              </a:rPr>
              <a:t>技术保障企业内网之间能够互联。</a:t>
            </a:r>
          </a:p>
        </p:txBody>
      </p:sp>
      <p:sp>
        <p:nvSpPr>
          <p:cNvPr id="52226" name="Rectangle 2"/>
          <p:cNvSpPr>
            <a:spLocks noGrp="1" noChangeArrowheads="1"/>
          </p:cNvSpPr>
          <p:nvPr>
            <p:ph type="title"/>
          </p:nvPr>
        </p:nvSpPr>
        <p:spPr bwMode="gray"/>
        <p:txBody>
          <a:bodyPr/>
          <a:lstStyle/>
          <a:p>
            <a:pPr eaLnBrk="1" hangingPunct="1"/>
            <a:r>
              <a:rPr lang="en-US" altLang="zh-CN" dirty="0"/>
              <a:t>IPsec</a:t>
            </a:r>
            <a:r>
              <a:rPr lang="zh-CN" altLang="en-US" dirty="0"/>
              <a:t>简介</a:t>
            </a:r>
            <a:endParaRPr lang="en-US" altLang="zh-CN" dirty="0"/>
          </a:p>
        </p:txBody>
      </p:sp>
      <p:sp>
        <p:nvSpPr>
          <p:cNvPr id="2" name="Text Placeholder 1"/>
          <p:cNvSpPr>
            <a:spLocks noGrp="1"/>
          </p:cNvSpPr>
          <p:nvPr>
            <p:ph type="body" sz="quarter" idx="10"/>
          </p:nvPr>
        </p:nvSpPr>
        <p:spPr bwMode="gray"/>
        <p:txBody>
          <a:bodyPr/>
          <a:lstStyle/>
          <a:p>
            <a:r>
              <a:rPr lang="en-US" altLang="zh-CN" sz="1800" dirty="0"/>
              <a:t>IPsec</a:t>
            </a:r>
            <a:r>
              <a:rPr lang="zh-CN" altLang="en-US" sz="1800" dirty="0"/>
              <a:t>（</a:t>
            </a:r>
            <a:r>
              <a:rPr lang="en-US" altLang="zh-CN" sz="1800" dirty="0"/>
              <a:t>IP Security</a:t>
            </a:r>
            <a:r>
              <a:rPr lang="zh-CN" altLang="en-US" sz="1800" dirty="0"/>
              <a:t>）协议族是</a:t>
            </a:r>
            <a:r>
              <a:rPr lang="en-US" altLang="zh-CN" sz="1800" dirty="0"/>
              <a:t>IETF</a:t>
            </a:r>
            <a:r>
              <a:rPr lang="zh-CN" altLang="en-US" sz="1800" dirty="0"/>
              <a:t>制定的一系列安全协议，它为端到端</a:t>
            </a:r>
            <a:r>
              <a:rPr lang="en-US" altLang="zh-CN" sz="1800" dirty="0"/>
              <a:t>IP</a:t>
            </a:r>
            <a:r>
              <a:rPr lang="zh-CN" altLang="en-US" sz="1800" dirty="0"/>
              <a:t>报文交互提供了基于密码学的、可互操作的、高质量的安全保护机制。</a:t>
            </a:r>
            <a:endParaRPr lang="en-US" altLang="zh-CN" sz="1800" dirty="0"/>
          </a:p>
          <a:p>
            <a:r>
              <a:rPr lang="zh-CN" altLang="en-US" sz="1800" dirty="0"/>
              <a:t>通过对数据加密、认证，</a:t>
            </a:r>
            <a:r>
              <a:rPr lang="en-US" altLang="zh-CN" sz="1800" dirty="0"/>
              <a:t>IPsec</a:t>
            </a:r>
            <a:r>
              <a:rPr lang="zh-CN" altLang="en-US" sz="1800" dirty="0"/>
              <a:t>使得数据能够在</a:t>
            </a:r>
            <a:r>
              <a:rPr lang="en-US" altLang="zh-CN" sz="1800" dirty="0"/>
              <a:t>Internet</a:t>
            </a:r>
            <a:r>
              <a:rPr lang="zh-CN" altLang="en-US" sz="1800" dirty="0"/>
              <a:t>网络</a:t>
            </a:r>
            <a:r>
              <a:rPr lang="zh-CN" altLang="en-US" sz="1800"/>
              <a:t>上安全地传输</a:t>
            </a:r>
            <a:r>
              <a:rPr lang="zh-CN" altLang="en-US" sz="1800" dirty="0"/>
              <a:t>。</a:t>
            </a:r>
            <a:endParaRPr lang="en-US" altLang="zh-CN" sz="1800" dirty="0"/>
          </a:p>
          <a:p>
            <a:r>
              <a:rPr lang="en-US" altLang="zh-CN" sz="1800" dirty="0"/>
              <a:t>IPsec VPN</a:t>
            </a:r>
            <a:r>
              <a:rPr lang="zh-CN" altLang="en-US" sz="1800" dirty="0"/>
              <a:t>技术可以和多种</a:t>
            </a:r>
            <a:r>
              <a:rPr lang="en-US" altLang="zh-CN" sz="1800" dirty="0"/>
              <a:t>VPN</a:t>
            </a:r>
            <a:r>
              <a:rPr lang="zh-CN" altLang="en-US" sz="1800" dirty="0"/>
              <a:t>技术结合使用，使得企业互联更加灵活安全。</a:t>
            </a:r>
          </a:p>
        </p:txBody>
      </p:sp>
      <p:cxnSp>
        <p:nvCxnSpPr>
          <p:cNvPr id="6" name="直接连接符 5"/>
          <p:cNvCxnSpPr/>
          <p:nvPr/>
        </p:nvCxnSpPr>
        <p:spPr bwMode="gray">
          <a:xfrm>
            <a:off x="8570329" y="4603992"/>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Text Box 26"/>
          <p:cNvSpPr txBox="1">
            <a:spLocks noChangeArrowheads="1"/>
          </p:cNvSpPr>
          <p:nvPr/>
        </p:nvSpPr>
        <p:spPr bwMode="gray">
          <a:xfrm>
            <a:off x="3057951" y="4770767"/>
            <a:ext cx="902688"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zh-CN" altLang="en-US" sz="1400" dirty="0">
                <a:latin typeface="+mn-ea"/>
                <a:ea typeface="+mn-ea"/>
              </a:rPr>
              <a:t>企业出口</a:t>
            </a:r>
          </a:p>
        </p:txBody>
      </p:sp>
      <p:sp>
        <p:nvSpPr>
          <p:cNvPr id="17" name="Right Arrow 16"/>
          <p:cNvSpPr/>
          <p:nvPr/>
        </p:nvSpPr>
        <p:spPr bwMode="gray">
          <a:xfrm>
            <a:off x="4761702" y="4476599"/>
            <a:ext cx="2005337" cy="621227"/>
          </a:xfrm>
          <a:prstGeom prst="rightArrow">
            <a:avLst/>
          </a:prstGeom>
        </p:spPr>
        <p:txBody>
          <a:bodyPr wrap="non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sp>
        <p:nvSpPr>
          <p:cNvPr id="35" name="Freeform 159"/>
          <p:cNvSpPr/>
          <p:nvPr/>
        </p:nvSpPr>
        <p:spPr bwMode="gray">
          <a:xfrm flipH="1">
            <a:off x="8330864" y="4081760"/>
            <a:ext cx="1383886" cy="7233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企业总部</a:t>
            </a:r>
            <a:endParaRPr lang="en-US" sz="1400" dirty="0">
              <a:solidFill>
                <a:schemeClr val="tx1"/>
              </a:solidFill>
            </a:endParaRPr>
          </a:p>
        </p:txBody>
      </p:sp>
      <p:sp>
        <p:nvSpPr>
          <p:cNvPr id="36" name="Freeform 159"/>
          <p:cNvSpPr/>
          <p:nvPr/>
        </p:nvSpPr>
        <p:spPr bwMode="gray">
          <a:xfrm flipH="1">
            <a:off x="2063552" y="4081760"/>
            <a:ext cx="1383886" cy="7233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企业分支</a:t>
            </a:r>
            <a:endParaRPr lang="en-US" sz="1400" dirty="0">
              <a:solidFill>
                <a:schemeClr val="tx1"/>
              </a:solidFill>
            </a:endParaRPr>
          </a:p>
        </p:txBody>
      </p:sp>
      <p:pic>
        <p:nvPicPr>
          <p:cNvPr id="32" name="Picture 12" descr="E:\2016.01\1.12 扁平化图标\蓝色\AR-蓝色最新-40.png"/>
          <p:cNvPicPr>
            <a:picLocks noChangeAspect="1" noChangeArrowheads="1"/>
          </p:cNvPicPr>
          <p:nvPr/>
        </p:nvPicPr>
        <p:blipFill>
          <a:blip r:embed="rId3" cstate="print"/>
          <a:srcRect/>
          <a:stretch>
            <a:fillRect/>
          </a:stretch>
        </p:blipFill>
        <p:spPr bwMode="gray">
          <a:xfrm>
            <a:off x="3336540" y="4357771"/>
            <a:ext cx="540000" cy="441818"/>
          </a:xfrm>
          <a:prstGeom prst="rect">
            <a:avLst/>
          </a:prstGeom>
          <a:noFill/>
        </p:spPr>
      </p:pic>
      <p:pic>
        <p:nvPicPr>
          <p:cNvPr id="34" name="Picture 12" descr="E:\2016.01\1.12 扁平化图标\蓝色\AR-蓝色最新-40.png"/>
          <p:cNvPicPr>
            <a:picLocks noChangeAspect="1" noChangeArrowheads="1"/>
          </p:cNvPicPr>
          <p:nvPr/>
        </p:nvPicPr>
        <p:blipFill>
          <a:blip r:embed="rId3" cstate="print"/>
          <a:srcRect/>
          <a:stretch>
            <a:fillRect/>
          </a:stretch>
        </p:blipFill>
        <p:spPr bwMode="gray">
          <a:xfrm>
            <a:off x="7932324" y="4357771"/>
            <a:ext cx="540000" cy="441818"/>
          </a:xfrm>
          <a:prstGeom prst="rect">
            <a:avLst/>
          </a:prstGeom>
          <a:noFill/>
        </p:spPr>
      </p:pic>
      <p:cxnSp>
        <p:nvCxnSpPr>
          <p:cNvPr id="37" name="Straight Connector 36"/>
          <p:cNvCxnSpPr>
            <a:stCxn id="32" idx="3"/>
          </p:cNvCxnSpPr>
          <p:nvPr/>
        </p:nvCxnSpPr>
        <p:spPr bwMode="gray">
          <a:xfrm>
            <a:off x="3876540" y="4578680"/>
            <a:ext cx="339264"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0" name="Straight Connector 39"/>
          <p:cNvCxnSpPr>
            <a:endCxn id="34" idx="1"/>
          </p:cNvCxnSpPr>
          <p:nvPr/>
        </p:nvCxnSpPr>
        <p:spPr bwMode="gray">
          <a:xfrm>
            <a:off x="7593060" y="4578680"/>
            <a:ext cx="339264"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30" name="Freeform 159"/>
          <p:cNvSpPr/>
          <p:nvPr/>
        </p:nvSpPr>
        <p:spPr bwMode="gray">
          <a:xfrm flipH="1">
            <a:off x="4937056" y="3825044"/>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运营商网络</a:t>
            </a:r>
            <a:endParaRPr lang="en-US" sz="1400" dirty="0">
              <a:solidFill>
                <a:schemeClr val="tx1"/>
              </a:solidFill>
            </a:endParaRPr>
          </a:p>
        </p:txBody>
      </p:sp>
      <p:sp>
        <p:nvSpPr>
          <p:cNvPr id="44" name="Text Box 26"/>
          <p:cNvSpPr txBox="1">
            <a:spLocks noChangeArrowheads="1"/>
          </p:cNvSpPr>
          <p:nvPr/>
        </p:nvSpPr>
        <p:spPr bwMode="gray">
          <a:xfrm>
            <a:off x="7912241" y="4770767"/>
            <a:ext cx="902688"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zh-CN" altLang="en-US" sz="1400" dirty="0">
                <a:latin typeface="+mn-ea"/>
                <a:ea typeface="+mn-ea"/>
              </a:rPr>
              <a:t>企业出口</a:t>
            </a:r>
          </a:p>
        </p:txBody>
      </p:sp>
      <p:sp>
        <p:nvSpPr>
          <p:cNvPr id="46" name="Rectangular Callout 45"/>
          <p:cNvSpPr/>
          <p:nvPr/>
        </p:nvSpPr>
        <p:spPr bwMode="gray">
          <a:xfrm>
            <a:off x="7975582" y="3773809"/>
            <a:ext cx="839347" cy="482918"/>
          </a:xfrm>
          <a:prstGeom prst="wedgeRectCallout">
            <a:avLst>
              <a:gd name="adj1" fmla="val -21663"/>
              <a:gd name="adj2" fmla="val 823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数据加密、认证</a:t>
            </a:r>
          </a:p>
        </p:txBody>
      </p:sp>
      <p:sp>
        <p:nvSpPr>
          <p:cNvPr id="47" name="Rectangular Callout 46"/>
          <p:cNvSpPr/>
          <p:nvPr/>
        </p:nvSpPr>
        <p:spPr bwMode="gray">
          <a:xfrm>
            <a:off x="3009534" y="3787532"/>
            <a:ext cx="827253" cy="482918"/>
          </a:xfrm>
          <a:prstGeom prst="wedgeRectCallout">
            <a:avLst>
              <a:gd name="adj1" fmla="val 22724"/>
              <a:gd name="adj2" fmla="val 842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数据加密、认证</a:t>
            </a:r>
          </a:p>
        </p:txBody>
      </p:sp>
      <p:pic>
        <p:nvPicPr>
          <p:cNvPr id="33"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00359" y="3899472"/>
            <a:ext cx="540000" cy="442800"/>
          </a:xfrm>
          <a:prstGeom prst="rect">
            <a:avLst/>
          </a:prstGeom>
        </p:spPr>
      </p:pic>
      <p:pic>
        <p:nvPicPr>
          <p:cNvPr id="4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192404" y="3899472"/>
            <a:ext cx="540000" cy="442800"/>
          </a:xfrm>
          <a:prstGeom prst="rect">
            <a:avLst/>
          </a:prstGeom>
        </p:spPr>
      </p:pic>
      <p:sp>
        <p:nvSpPr>
          <p:cNvPr id="10" name="Freeform 9"/>
          <p:cNvSpPr/>
          <p:nvPr/>
        </p:nvSpPr>
        <p:spPr bwMode="gray">
          <a:xfrm>
            <a:off x="2661762" y="4188575"/>
            <a:ext cx="1191100" cy="376780"/>
          </a:xfrm>
          <a:custGeom>
            <a:avLst/>
            <a:gdLst>
              <a:gd name="connsiteX0" fmla="*/ 0 w 1123950"/>
              <a:gd name="connsiteY0" fmla="*/ 0 h 361950"/>
              <a:gd name="connsiteX1" fmla="*/ 266700 w 1123950"/>
              <a:gd name="connsiteY1" fmla="*/ 219075 h 361950"/>
              <a:gd name="connsiteX2" fmla="*/ 1123950 w 1123950"/>
              <a:gd name="connsiteY2" fmla="*/ 361950 h 361950"/>
            </a:gdLst>
            <a:ahLst/>
            <a:cxnLst>
              <a:cxn ang="0">
                <a:pos x="connsiteX0" y="connsiteY0"/>
              </a:cxn>
              <a:cxn ang="0">
                <a:pos x="connsiteX1" y="connsiteY1"/>
              </a:cxn>
              <a:cxn ang="0">
                <a:pos x="connsiteX2" y="connsiteY2"/>
              </a:cxn>
            </a:cxnLst>
            <a:rect l="l" t="t" r="r" b="b"/>
            <a:pathLst>
              <a:path w="1123950" h="361950">
                <a:moveTo>
                  <a:pt x="0" y="0"/>
                </a:moveTo>
                <a:cubicBezTo>
                  <a:pt x="39687" y="79375"/>
                  <a:pt x="79375" y="158750"/>
                  <a:pt x="266700" y="219075"/>
                </a:cubicBezTo>
                <a:cubicBezTo>
                  <a:pt x="454025" y="279400"/>
                  <a:pt x="1123950" y="361950"/>
                  <a:pt x="1123950" y="36195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3"/>
          <p:cNvSpPr/>
          <p:nvPr/>
        </p:nvSpPr>
        <p:spPr bwMode="gray">
          <a:xfrm>
            <a:off x="7945232" y="4166143"/>
            <a:ext cx="1226820" cy="403860"/>
          </a:xfrm>
          <a:custGeom>
            <a:avLst/>
            <a:gdLst>
              <a:gd name="connsiteX0" fmla="*/ 0 w 1226820"/>
              <a:gd name="connsiteY0" fmla="*/ 403860 h 403860"/>
              <a:gd name="connsiteX1" fmla="*/ 777240 w 1226820"/>
              <a:gd name="connsiteY1" fmla="*/ 304800 h 403860"/>
              <a:gd name="connsiteX2" fmla="*/ 1226820 w 1226820"/>
              <a:gd name="connsiteY2" fmla="*/ 0 h 403860"/>
            </a:gdLst>
            <a:ahLst/>
            <a:cxnLst>
              <a:cxn ang="0">
                <a:pos x="connsiteX0" y="connsiteY0"/>
              </a:cxn>
              <a:cxn ang="0">
                <a:pos x="connsiteX1" y="connsiteY1"/>
              </a:cxn>
              <a:cxn ang="0">
                <a:pos x="connsiteX2" y="connsiteY2"/>
              </a:cxn>
            </a:cxnLst>
            <a:rect l="l" t="t" r="r" b="b"/>
            <a:pathLst>
              <a:path w="1226820" h="403860">
                <a:moveTo>
                  <a:pt x="0" y="403860"/>
                </a:moveTo>
                <a:cubicBezTo>
                  <a:pt x="286385" y="387985"/>
                  <a:pt x="572770" y="372110"/>
                  <a:pt x="777240" y="304800"/>
                </a:cubicBezTo>
                <a:cubicBezTo>
                  <a:pt x="981710" y="237490"/>
                  <a:pt x="1104265" y="118745"/>
                  <a:pt x="1226820"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Straight Connector 15"/>
          <p:cNvCxnSpPr/>
          <p:nvPr/>
        </p:nvCxnSpPr>
        <p:spPr bwMode="gray">
          <a:xfrm>
            <a:off x="3863752" y="4844142"/>
            <a:ext cx="0" cy="6957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a:off x="7912241" y="4844142"/>
            <a:ext cx="0" cy="6957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gray">
          <a:xfrm>
            <a:off x="3863752" y="5310827"/>
            <a:ext cx="4048487" cy="229042"/>
          </a:xfrm>
          <a:prstGeom prst="rect">
            <a:avLst/>
          </a:prstGeom>
          <a:solidFill>
            <a:srgbClr val="8BC9A0"/>
          </a:solidFill>
          <a:ln>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数据被</a:t>
            </a:r>
            <a:r>
              <a:rPr lang="zh-CN" altLang="en-US" sz="1200" b="1" dirty="0">
                <a:solidFill>
                  <a:srgbClr val="C7000B"/>
                </a:solidFill>
              </a:rPr>
              <a:t>加密</a:t>
            </a:r>
          </a:p>
        </p:txBody>
      </p:sp>
      <p:sp>
        <p:nvSpPr>
          <p:cNvPr id="64" name="Can 225"/>
          <p:cNvSpPr/>
          <p:nvPr/>
        </p:nvSpPr>
        <p:spPr bwMode="gray">
          <a:xfrm rot="5400000" flipH="1">
            <a:off x="4032534" y="4367406"/>
            <a:ext cx="182222" cy="416319"/>
          </a:xfrm>
          <a:prstGeom prst="can">
            <a:avLst>
              <a:gd name="adj" fmla="val 40000"/>
            </a:avLst>
          </a:prstGeom>
          <a:solidFill>
            <a:srgbClr val="00B0F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Can 41"/>
          <p:cNvSpPr/>
          <p:nvPr/>
        </p:nvSpPr>
        <p:spPr bwMode="gray">
          <a:xfrm rot="5400000">
            <a:off x="5707610" y="2966155"/>
            <a:ext cx="236717" cy="3204356"/>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Rectangular Callout 66"/>
          <p:cNvSpPr/>
          <p:nvPr/>
        </p:nvSpPr>
        <p:spPr bwMode="gray">
          <a:xfrm>
            <a:off x="4211387" y="3895561"/>
            <a:ext cx="1145501" cy="388952"/>
          </a:xfrm>
          <a:prstGeom prst="wedgeRectCallout">
            <a:avLst>
              <a:gd name="adj1" fmla="val -23272"/>
              <a:gd name="adj2" fmla="val 1067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68" name="Can 225"/>
          <p:cNvSpPr/>
          <p:nvPr/>
        </p:nvSpPr>
        <p:spPr bwMode="gray">
          <a:xfrm rot="5400000" flipH="1">
            <a:off x="7473952" y="4330638"/>
            <a:ext cx="182222" cy="489854"/>
          </a:xfrm>
          <a:prstGeom prst="can">
            <a:avLst>
              <a:gd name="adj" fmla="val 40000"/>
            </a:avLst>
          </a:prstGeom>
          <a:solidFill>
            <a:srgbClr val="00B0F0"/>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Rectangular Callout 68"/>
          <p:cNvSpPr/>
          <p:nvPr/>
        </p:nvSpPr>
        <p:spPr bwMode="gray">
          <a:xfrm>
            <a:off x="6813315" y="3855980"/>
            <a:ext cx="1070318" cy="388952"/>
          </a:xfrm>
          <a:prstGeom prst="wedgeRectCallout">
            <a:avLst>
              <a:gd name="adj1" fmla="val 24203"/>
              <a:gd name="adj2" fmla="val 1185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cxnSp>
        <p:nvCxnSpPr>
          <p:cNvPr id="12" name="Straight Arrow Connector 11"/>
          <p:cNvCxnSpPr>
            <a:cxnSpLocks/>
            <a:stCxn id="32" idx="3"/>
            <a:endCxn id="34" idx="1"/>
          </p:cNvCxnSpPr>
          <p:nvPr/>
        </p:nvCxnSpPr>
        <p:spPr bwMode="gray">
          <a:xfrm>
            <a:off x="3876540" y="4578680"/>
            <a:ext cx="4055784" cy="0"/>
          </a:xfrm>
          <a:prstGeom prst="straightConnector1">
            <a:avLst/>
          </a:prstGeom>
          <a:ln w="28575">
            <a:solidFill>
              <a:srgbClr val="8BC9A0"/>
            </a:solidFill>
            <a:tailEnd type="triangle"/>
          </a:ln>
        </p:spPr>
        <p:style>
          <a:lnRef idx="1">
            <a:schemeClr val="accent1"/>
          </a:lnRef>
          <a:fillRef idx="0">
            <a:schemeClr val="accent1"/>
          </a:fillRef>
          <a:effectRef idx="0">
            <a:schemeClr val="accent1"/>
          </a:effectRef>
          <a:fontRef idx="minor">
            <a:schemeClr val="tx1"/>
          </a:fontRef>
        </p:style>
      </p:cxnSp>
      <p:sp>
        <p:nvSpPr>
          <p:cNvPr id="72" name="圆角矩形 75"/>
          <p:cNvSpPr/>
          <p:nvPr/>
        </p:nvSpPr>
        <p:spPr bwMode="gray">
          <a:xfrm>
            <a:off x="1415480" y="3140968"/>
            <a:ext cx="957706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GRE Over IPsec</a:t>
            </a:r>
            <a:r>
              <a:rPr lang="zh-CN" altLang="en-US" sz="1600" dirty="0">
                <a:solidFill>
                  <a:srgbClr val="30B5C5"/>
                </a:solidFill>
                <a:latin typeface="Huawei Sans" panose="020C0503030203020204" pitchFamily="34" charset="0"/>
                <a:ea typeface="方正兰亭黑简体" panose="02000000000000000000" pitchFamily="2" charset="-122"/>
              </a:rPr>
              <a:t>应用</a:t>
            </a:r>
          </a:p>
        </p:txBody>
      </p:sp>
      <p:sp>
        <p:nvSpPr>
          <p:cNvPr id="66" name="TextBox 65"/>
          <p:cNvSpPr txBox="1"/>
          <p:nvPr/>
        </p:nvSpPr>
        <p:spPr bwMode="gray">
          <a:xfrm flipH="1">
            <a:off x="5417207" y="4421384"/>
            <a:ext cx="880591" cy="276999"/>
          </a:xfrm>
          <a:prstGeom prst="rect">
            <a:avLst/>
          </a:prstGeom>
          <a:noFill/>
        </p:spPr>
        <p:txBody>
          <a:bodyPr wrap="square" rtlCol="0">
            <a:spAutoFit/>
          </a:bodyPr>
          <a:lstStyle/>
          <a:p>
            <a:pPr fontAlgn="auto"/>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grpSp>
        <p:nvGrpSpPr>
          <p:cNvPr id="38" name="Group 37"/>
          <p:cNvGrpSpPr/>
          <p:nvPr/>
        </p:nvGrpSpPr>
        <p:grpSpPr bwMode="gray">
          <a:xfrm>
            <a:off x="7219311" y="75768"/>
            <a:ext cx="4455174" cy="218510"/>
            <a:chOff x="6465362" y="121552"/>
            <a:chExt cx="4455174" cy="218510"/>
          </a:xfrm>
        </p:grpSpPr>
        <p:sp>
          <p:nvSpPr>
            <p:cNvPr id="39"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41"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42"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46146437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DSVPN</a:t>
            </a:r>
            <a:r>
              <a:rPr lang="zh-CN" altLang="en-US" dirty="0"/>
              <a:t>简介</a:t>
            </a:r>
          </a:p>
        </p:txBody>
      </p:sp>
      <p:sp>
        <p:nvSpPr>
          <p:cNvPr id="3" name="Text Placeholder 2"/>
          <p:cNvSpPr>
            <a:spLocks noGrp="1"/>
          </p:cNvSpPr>
          <p:nvPr>
            <p:ph type="body" sz="quarter" idx="10"/>
          </p:nvPr>
        </p:nvSpPr>
        <p:spPr bwMode="gray">
          <a:xfrm>
            <a:off x="455613" y="1047750"/>
            <a:ext cx="5649916" cy="4879805"/>
          </a:xfrm>
        </p:spPr>
        <p:txBody>
          <a:bodyPr/>
          <a:lstStyle/>
          <a:p>
            <a:r>
              <a:rPr lang="en-US" altLang="zh-CN" sz="1800" dirty="0"/>
              <a:t>DSVPN</a:t>
            </a:r>
            <a:r>
              <a:rPr lang="zh-CN" altLang="en-US" sz="1800" dirty="0"/>
              <a:t>主要解决</a:t>
            </a:r>
            <a:r>
              <a:rPr lang="en-US" altLang="zh-CN" sz="1800" dirty="0"/>
              <a:t>GRE Over IPsec</a:t>
            </a:r>
            <a:r>
              <a:rPr lang="zh-CN" altLang="en-US" sz="1800" dirty="0"/>
              <a:t>存在的一些缺陷，使得有大量分支机构的公司也能方便地搭建</a:t>
            </a:r>
            <a:r>
              <a:rPr lang="en-US" altLang="zh-CN" sz="1800" dirty="0"/>
              <a:t>VPN</a:t>
            </a:r>
            <a:r>
              <a:rPr lang="zh-CN" altLang="en-US" sz="1800" dirty="0"/>
              <a:t>网络。</a:t>
            </a:r>
            <a:endParaRPr lang="en-US" altLang="zh-CN" sz="1800" dirty="0"/>
          </a:p>
          <a:p>
            <a:r>
              <a:rPr lang="en-US" altLang="zh-CN" sz="1800" dirty="0"/>
              <a:t>DSVPN</a:t>
            </a:r>
            <a:r>
              <a:rPr lang="zh-CN" altLang="en-US" sz="1800" dirty="0"/>
              <a:t>是一种动态建立</a:t>
            </a:r>
            <a:r>
              <a:rPr lang="en-US" altLang="zh-CN" sz="1800" dirty="0"/>
              <a:t>GRE</a:t>
            </a:r>
            <a:r>
              <a:rPr lang="zh-CN" altLang="en-US" sz="1800" dirty="0"/>
              <a:t>隧道的技术，通过</a:t>
            </a:r>
            <a:r>
              <a:rPr lang="en-US" altLang="zh-CN" sz="1800" dirty="0"/>
              <a:t>NHRP</a:t>
            </a:r>
            <a:r>
              <a:rPr lang="zh-CN" altLang="en-US" sz="1800" dirty="0"/>
              <a:t>协议动态收集、维护和发布各节点的公网地址等信息，解决了源分支无法获取目的分支公网地址的问题。</a:t>
            </a:r>
            <a:endParaRPr lang="en-US" altLang="zh-CN" sz="1800" dirty="0"/>
          </a:p>
          <a:p>
            <a:r>
              <a:rPr lang="en-US" altLang="zh-CN" sz="1800" dirty="0"/>
              <a:t>DSVPN</a:t>
            </a:r>
            <a:r>
              <a:rPr lang="zh-CN" altLang="en-US" sz="1800" dirty="0"/>
              <a:t>借助</a:t>
            </a:r>
            <a:r>
              <a:rPr lang="en-US" altLang="zh-CN" sz="1800" dirty="0" err="1"/>
              <a:t>mGRE</a:t>
            </a:r>
            <a:r>
              <a:rPr lang="zh-CN" altLang="en-US" sz="1800" dirty="0"/>
              <a:t>技术，使一个</a:t>
            </a:r>
            <a:r>
              <a:rPr lang="en-US" altLang="zh-CN" sz="1800" dirty="0"/>
              <a:t>Tunnel</a:t>
            </a:r>
            <a:r>
              <a:rPr lang="zh-CN" altLang="en-US" sz="1800" dirty="0"/>
              <a:t>接口可与多个对端建立</a:t>
            </a:r>
            <a:r>
              <a:rPr lang="en-US" altLang="zh-CN" sz="1800" dirty="0"/>
              <a:t>VPN</a:t>
            </a:r>
            <a:r>
              <a:rPr lang="zh-CN" altLang="en-US" sz="1800" dirty="0"/>
              <a:t>隧道。</a:t>
            </a:r>
            <a:endParaRPr lang="en-US" altLang="zh-CN" sz="1800" dirty="0"/>
          </a:p>
          <a:p>
            <a:r>
              <a:rPr lang="en-US" altLang="zh-CN" sz="1800" dirty="0"/>
              <a:t>DSVPN</a:t>
            </a:r>
            <a:r>
              <a:rPr lang="zh-CN" altLang="en-US" sz="1800" dirty="0"/>
              <a:t>建立的</a:t>
            </a:r>
            <a:r>
              <a:rPr lang="en-US" altLang="zh-CN" sz="1800" dirty="0"/>
              <a:t>GRE</a:t>
            </a:r>
            <a:r>
              <a:rPr lang="zh-CN" altLang="en-US" sz="1800" dirty="0"/>
              <a:t>隧道依然可以使用</a:t>
            </a:r>
            <a:r>
              <a:rPr lang="en-US" altLang="zh-CN" sz="1800" dirty="0"/>
              <a:t>IPsec</a:t>
            </a:r>
            <a:r>
              <a:rPr lang="zh-CN" altLang="en-US" sz="1800" dirty="0"/>
              <a:t>技术保证隧道的安全性。</a:t>
            </a:r>
            <a:endParaRPr lang="en-US" altLang="zh-CN" sz="1800" dirty="0"/>
          </a:p>
          <a:p>
            <a:endParaRPr lang="en-US" altLang="zh-CN" dirty="0"/>
          </a:p>
        </p:txBody>
      </p:sp>
      <p:pic>
        <p:nvPicPr>
          <p:cNvPr id="75" name="Picture 12" descr="E:\2016.01\1.12 扁平化图标\蓝色\AR-蓝色最新-40.png"/>
          <p:cNvPicPr>
            <a:picLocks noChangeAspect="1" noChangeArrowheads="1"/>
          </p:cNvPicPr>
          <p:nvPr/>
        </p:nvPicPr>
        <p:blipFill>
          <a:blip r:embed="rId3" cstate="print"/>
          <a:srcRect/>
          <a:stretch>
            <a:fillRect/>
          </a:stretch>
        </p:blipFill>
        <p:spPr bwMode="gray">
          <a:xfrm>
            <a:off x="8184232" y="2312876"/>
            <a:ext cx="540000" cy="441818"/>
          </a:xfrm>
          <a:prstGeom prst="rect">
            <a:avLst/>
          </a:prstGeom>
          <a:noFill/>
        </p:spPr>
      </p:pic>
      <p:pic>
        <p:nvPicPr>
          <p:cNvPr id="76" name="Picture 12" descr="E:\2016.01\1.12 扁平化图标\蓝色\AR-蓝色最新-40.png"/>
          <p:cNvPicPr>
            <a:picLocks noChangeAspect="1" noChangeArrowheads="1"/>
          </p:cNvPicPr>
          <p:nvPr/>
        </p:nvPicPr>
        <p:blipFill>
          <a:blip r:embed="rId3" cstate="print"/>
          <a:srcRect/>
          <a:stretch>
            <a:fillRect/>
          </a:stretch>
        </p:blipFill>
        <p:spPr bwMode="gray">
          <a:xfrm>
            <a:off x="8184232" y="4804016"/>
            <a:ext cx="540000" cy="441818"/>
          </a:xfrm>
          <a:prstGeom prst="rect">
            <a:avLst/>
          </a:prstGeom>
          <a:noFill/>
        </p:spPr>
      </p:pic>
      <p:sp>
        <p:nvSpPr>
          <p:cNvPr id="74" name="Freeform 159"/>
          <p:cNvSpPr/>
          <p:nvPr/>
        </p:nvSpPr>
        <p:spPr bwMode="gray">
          <a:xfrm flipH="1">
            <a:off x="7409742" y="3252643"/>
            <a:ext cx="2119206" cy="101993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7" name="Picture 12" descr="E:\2016.01\1.12 扁平化图标\蓝色\AR-蓝色最新-40.png"/>
          <p:cNvPicPr>
            <a:picLocks noChangeAspect="1" noChangeArrowheads="1"/>
          </p:cNvPicPr>
          <p:nvPr/>
        </p:nvPicPr>
        <p:blipFill>
          <a:blip r:embed="rId3" cstate="print"/>
          <a:srcRect/>
          <a:stretch>
            <a:fillRect/>
          </a:stretch>
        </p:blipFill>
        <p:spPr bwMode="gray">
          <a:xfrm>
            <a:off x="9910970" y="4135468"/>
            <a:ext cx="540000" cy="441818"/>
          </a:xfrm>
          <a:prstGeom prst="rect">
            <a:avLst/>
          </a:prstGeom>
          <a:noFill/>
        </p:spPr>
      </p:pic>
      <p:pic>
        <p:nvPicPr>
          <p:cNvPr id="78" name="Picture 12" descr="E:\2016.01\1.12 扁平化图标\蓝色\AR-蓝色最新-40.png"/>
          <p:cNvPicPr>
            <a:picLocks noChangeAspect="1" noChangeArrowheads="1"/>
          </p:cNvPicPr>
          <p:nvPr/>
        </p:nvPicPr>
        <p:blipFill>
          <a:blip r:embed="rId3" cstate="print"/>
          <a:srcRect/>
          <a:stretch>
            <a:fillRect/>
          </a:stretch>
        </p:blipFill>
        <p:spPr bwMode="gray">
          <a:xfrm>
            <a:off x="6449254" y="4135468"/>
            <a:ext cx="540000" cy="441818"/>
          </a:xfrm>
          <a:prstGeom prst="rect">
            <a:avLst/>
          </a:prstGeom>
          <a:noFill/>
        </p:spPr>
      </p:pic>
      <p:sp>
        <p:nvSpPr>
          <p:cNvPr id="79" name="TextBox 78"/>
          <p:cNvSpPr txBox="1"/>
          <p:nvPr/>
        </p:nvSpPr>
        <p:spPr bwMode="gray">
          <a:xfrm>
            <a:off x="8201263" y="2036284"/>
            <a:ext cx="50593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Hub</a:t>
            </a:r>
            <a:endParaRPr lang="zh-CN" altLang="en-US" sz="2400" dirty="0">
              <a:latin typeface="+mj-lt"/>
              <a:ea typeface="+mn-ea"/>
            </a:endParaRPr>
          </a:p>
        </p:txBody>
      </p:sp>
      <p:sp>
        <p:nvSpPr>
          <p:cNvPr id="80" name="TextBox 79"/>
          <p:cNvSpPr txBox="1"/>
          <p:nvPr/>
        </p:nvSpPr>
        <p:spPr bwMode="gray">
          <a:xfrm>
            <a:off x="6376518" y="4525716"/>
            <a:ext cx="68547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Spoke</a:t>
            </a:r>
            <a:endParaRPr lang="zh-CN" altLang="en-US" sz="2400" dirty="0">
              <a:latin typeface="+mj-lt"/>
              <a:ea typeface="+mn-ea"/>
            </a:endParaRPr>
          </a:p>
        </p:txBody>
      </p:sp>
      <p:sp>
        <p:nvSpPr>
          <p:cNvPr id="81" name="TextBox 80"/>
          <p:cNvSpPr txBox="1"/>
          <p:nvPr/>
        </p:nvSpPr>
        <p:spPr bwMode="gray">
          <a:xfrm>
            <a:off x="8111494" y="5189910"/>
            <a:ext cx="68547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Spoke</a:t>
            </a:r>
            <a:endParaRPr lang="zh-CN" altLang="en-US" sz="2400" dirty="0">
              <a:latin typeface="+mj-lt"/>
              <a:ea typeface="+mn-ea"/>
            </a:endParaRPr>
          </a:p>
        </p:txBody>
      </p:sp>
      <p:sp>
        <p:nvSpPr>
          <p:cNvPr id="82" name="TextBox 81"/>
          <p:cNvSpPr txBox="1"/>
          <p:nvPr/>
        </p:nvSpPr>
        <p:spPr bwMode="gray">
          <a:xfrm>
            <a:off x="9843668" y="4509073"/>
            <a:ext cx="685471"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Spoke</a:t>
            </a:r>
            <a:endParaRPr lang="zh-CN" altLang="en-US" sz="2400" dirty="0">
              <a:latin typeface="+mj-lt"/>
              <a:ea typeface="+mn-ea"/>
            </a:endParaRPr>
          </a:p>
        </p:txBody>
      </p:sp>
      <p:cxnSp>
        <p:nvCxnSpPr>
          <p:cNvPr id="83" name="Straight Arrow Connector 82"/>
          <p:cNvCxnSpPr/>
          <p:nvPr/>
        </p:nvCxnSpPr>
        <p:spPr bwMode="gray">
          <a:xfrm>
            <a:off x="9411488" y="2784809"/>
            <a:ext cx="422039" cy="0"/>
          </a:xfrm>
          <a:prstGeom prst="straightConnector1">
            <a:avLst/>
          </a:prstGeom>
          <a:solidFill>
            <a:schemeClr val="accent1"/>
          </a:solidFill>
          <a:ln w="19050" cap="flat" cmpd="sng" algn="ctr">
            <a:solidFill>
              <a:srgbClr val="E28189"/>
            </a:solidFill>
            <a:prstDash val="solid"/>
            <a:round/>
            <a:headEnd type="triangle" w="med" len="med"/>
            <a:tailEnd type="triangle"/>
          </a:ln>
          <a:effectLst/>
        </p:spPr>
      </p:cxnSp>
      <p:sp>
        <p:nvSpPr>
          <p:cNvPr id="84" name="TextBox 83"/>
          <p:cNvSpPr txBox="1"/>
          <p:nvPr/>
        </p:nvSpPr>
        <p:spPr bwMode="gray">
          <a:xfrm>
            <a:off x="9804862" y="2126808"/>
            <a:ext cx="139239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动态</a:t>
            </a:r>
            <a:r>
              <a:rPr lang="en-US" altLang="zh-CN" sz="1400" dirty="0" err="1">
                <a:latin typeface="+mj-lt"/>
                <a:ea typeface="+mn-ea"/>
              </a:rPr>
              <a:t>mGRE</a:t>
            </a:r>
            <a:r>
              <a:rPr lang="zh-CN" altLang="en-US" sz="1400" dirty="0">
                <a:latin typeface="+mj-lt"/>
                <a:ea typeface="+mn-ea"/>
              </a:rPr>
              <a:t>隧道</a:t>
            </a:r>
            <a:endParaRPr lang="zh-CN" altLang="en-US" sz="2400" dirty="0">
              <a:latin typeface="+mj-lt"/>
              <a:ea typeface="+mn-ea"/>
            </a:endParaRPr>
          </a:p>
        </p:txBody>
      </p:sp>
      <p:sp>
        <p:nvSpPr>
          <p:cNvPr id="85" name="TextBox 84"/>
          <p:cNvSpPr txBox="1"/>
          <p:nvPr/>
        </p:nvSpPr>
        <p:spPr bwMode="gray">
          <a:xfrm>
            <a:off x="9804862" y="2650797"/>
            <a:ext cx="1971080"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Spoke-Spoke</a:t>
            </a:r>
            <a:r>
              <a:rPr lang="zh-CN" altLang="en-US" sz="1400" dirty="0">
                <a:latin typeface="+mj-lt"/>
                <a:ea typeface="+mn-ea"/>
              </a:rPr>
              <a:t>间的数据</a:t>
            </a:r>
            <a:endParaRPr lang="zh-CN" altLang="en-US" sz="2400" dirty="0">
              <a:latin typeface="+mj-lt"/>
              <a:ea typeface="+mn-ea"/>
            </a:endParaRPr>
          </a:p>
        </p:txBody>
      </p:sp>
      <p:sp>
        <p:nvSpPr>
          <p:cNvPr id="86" name="TextBox 85"/>
          <p:cNvSpPr txBox="1"/>
          <p:nvPr/>
        </p:nvSpPr>
        <p:spPr bwMode="gray">
          <a:xfrm>
            <a:off x="9812401" y="2404098"/>
            <a:ext cx="1392395"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静态</a:t>
            </a:r>
            <a:r>
              <a:rPr lang="en-US" altLang="zh-CN" sz="1400" dirty="0" err="1">
                <a:latin typeface="+mj-lt"/>
                <a:ea typeface="+mn-ea"/>
              </a:rPr>
              <a:t>mGRE</a:t>
            </a:r>
            <a:r>
              <a:rPr lang="zh-CN" altLang="en-US" sz="1400" dirty="0">
                <a:latin typeface="+mj-lt"/>
                <a:ea typeface="+mn-ea"/>
              </a:rPr>
              <a:t>隧道</a:t>
            </a:r>
            <a:endParaRPr lang="zh-CN" altLang="en-US" sz="2400" dirty="0">
              <a:latin typeface="+mj-lt"/>
              <a:ea typeface="+mn-ea"/>
            </a:endParaRPr>
          </a:p>
        </p:txBody>
      </p:sp>
      <p:sp>
        <p:nvSpPr>
          <p:cNvPr id="89" name="Can 9"/>
          <p:cNvSpPr/>
          <p:nvPr/>
        </p:nvSpPr>
        <p:spPr bwMode="gray">
          <a:xfrm rot="6701945">
            <a:off x="7601932" y="3898390"/>
            <a:ext cx="152490" cy="1254654"/>
          </a:xfrm>
          <a:prstGeom prst="can">
            <a:avLst>
              <a:gd name="adj" fmla="val 40000"/>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Can 9"/>
          <p:cNvSpPr/>
          <p:nvPr/>
        </p:nvSpPr>
        <p:spPr bwMode="gray">
          <a:xfrm rot="14898055" flipH="1">
            <a:off x="9117553" y="3898390"/>
            <a:ext cx="152490" cy="1254654"/>
          </a:xfrm>
          <a:prstGeom prst="can">
            <a:avLst>
              <a:gd name="adj" fmla="val 40000"/>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Straight Arrow Connector 90"/>
          <p:cNvCxnSpPr/>
          <p:nvPr/>
        </p:nvCxnSpPr>
        <p:spPr bwMode="gray">
          <a:xfrm flipV="1">
            <a:off x="8490669" y="4261327"/>
            <a:ext cx="1404833" cy="554072"/>
          </a:xfrm>
          <a:prstGeom prst="straightConnector1">
            <a:avLst/>
          </a:prstGeom>
          <a:solidFill>
            <a:schemeClr val="accent1"/>
          </a:solidFill>
          <a:ln w="19050" cap="flat" cmpd="sng" algn="ctr">
            <a:solidFill>
              <a:srgbClr val="E28189"/>
            </a:solidFill>
            <a:prstDash val="solid"/>
            <a:round/>
            <a:headEnd type="triangle" w="med" len="med"/>
            <a:tailEnd type="triangle"/>
          </a:ln>
          <a:effectLst/>
        </p:spPr>
      </p:cxnSp>
      <p:cxnSp>
        <p:nvCxnSpPr>
          <p:cNvPr id="92" name="Straight Arrow Connector 91"/>
          <p:cNvCxnSpPr/>
          <p:nvPr/>
        </p:nvCxnSpPr>
        <p:spPr bwMode="gray">
          <a:xfrm>
            <a:off x="6976978" y="4247281"/>
            <a:ext cx="1402400" cy="560201"/>
          </a:xfrm>
          <a:prstGeom prst="straightConnector1">
            <a:avLst/>
          </a:prstGeom>
          <a:solidFill>
            <a:schemeClr val="accent1"/>
          </a:solidFill>
          <a:ln w="19050" cap="flat" cmpd="sng" algn="ctr">
            <a:solidFill>
              <a:srgbClr val="E28189"/>
            </a:solidFill>
            <a:prstDash val="solid"/>
            <a:round/>
            <a:headEnd type="triangle" w="med" len="med"/>
            <a:tailEnd type="triangle"/>
          </a:ln>
          <a:effectLst/>
        </p:spPr>
      </p:cxnSp>
      <p:sp>
        <p:nvSpPr>
          <p:cNvPr id="93" name="Can 9"/>
          <p:cNvSpPr/>
          <p:nvPr/>
        </p:nvSpPr>
        <p:spPr bwMode="gray">
          <a:xfrm rot="5400000">
            <a:off x="9543709" y="2056464"/>
            <a:ext cx="152490" cy="422707"/>
          </a:xfrm>
          <a:prstGeom prst="can">
            <a:avLst>
              <a:gd name="adj" fmla="val 40000"/>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Can 225"/>
          <p:cNvSpPr/>
          <p:nvPr/>
        </p:nvSpPr>
        <p:spPr bwMode="gray">
          <a:xfrm rot="5400000">
            <a:off x="9545039" y="2334958"/>
            <a:ext cx="149829" cy="416932"/>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5" name="直接连接符 12"/>
          <p:cNvCxnSpPr>
            <a:endCxn id="75" idx="2"/>
          </p:cNvCxnSpPr>
          <p:nvPr/>
        </p:nvCxnSpPr>
        <p:spPr bwMode="gray">
          <a:xfrm flipV="1">
            <a:off x="8454229" y="2754694"/>
            <a:ext cx="3" cy="52883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6" name="直接连接符 12"/>
          <p:cNvCxnSpPr>
            <a:stCxn id="78" idx="0"/>
            <a:endCxn id="74" idx="21"/>
          </p:cNvCxnSpPr>
          <p:nvPr/>
        </p:nvCxnSpPr>
        <p:spPr bwMode="gray">
          <a:xfrm flipV="1">
            <a:off x="6719254" y="3967716"/>
            <a:ext cx="690488" cy="16775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7" name="直接连接符 12"/>
          <p:cNvCxnSpPr>
            <a:stCxn id="74" idx="8"/>
            <a:endCxn id="77" idx="0"/>
          </p:cNvCxnSpPr>
          <p:nvPr/>
        </p:nvCxnSpPr>
        <p:spPr bwMode="gray">
          <a:xfrm>
            <a:off x="9528948" y="3949152"/>
            <a:ext cx="652022" cy="18631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9" name="Can 9"/>
          <p:cNvSpPr/>
          <p:nvPr/>
        </p:nvSpPr>
        <p:spPr bwMode="gray">
          <a:xfrm rot="5400000">
            <a:off x="8396616" y="2908730"/>
            <a:ext cx="152490" cy="2573405"/>
          </a:xfrm>
          <a:prstGeom prst="can">
            <a:avLst>
              <a:gd name="adj" fmla="val 40000"/>
            </a:avLst>
          </a:pr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Straight Arrow Connector 99"/>
          <p:cNvCxnSpPr/>
          <p:nvPr/>
        </p:nvCxnSpPr>
        <p:spPr bwMode="gray">
          <a:xfrm flipV="1">
            <a:off x="6984149" y="4196596"/>
            <a:ext cx="2942052" cy="3183"/>
          </a:xfrm>
          <a:prstGeom prst="straightConnector1">
            <a:avLst/>
          </a:prstGeom>
          <a:solidFill>
            <a:schemeClr val="accent1"/>
          </a:solidFill>
          <a:ln w="19050" cap="flat" cmpd="sng" algn="ctr">
            <a:solidFill>
              <a:srgbClr val="E28189"/>
            </a:solidFill>
            <a:prstDash val="solid"/>
            <a:round/>
            <a:headEnd type="triangle" w="med" len="med"/>
            <a:tailEnd type="triangle"/>
          </a:ln>
          <a:effectLst/>
        </p:spPr>
      </p:cxnSp>
      <p:grpSp>
        <p:nvGrpSpPr>
          <p:cNvPr id="40" name="Group 39"/>
          <p:cNvGrpSpPr/>
          <p:nvPr/>
        </p:nvGrpSpPr>
        <p:grpSpPr bwMode="gray">
          <a:xfrm>
            <a:off x="7219311" y="84821"/>
            <a:ext cx="4455174" cy="218510"/>
            <a:chOff x="6465362" y="121552"/>
            <a:chExt cx="4455174" cy="218510"/>
          </a:xfrm>
        </p:grpSpPr>
        <p:sp>
          <p:nvSpPr>
            <p:cNvPr id="41"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42"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48"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
        <p:nvSpPr>
          <p:cNvPr id="87" name="Can 225"/>
          <p:cNvSpPr/>
          <p:nvPr/>
        </p:nvSpPr>
        <p:spPr bwMode="gray">
          <a:xfrm rot="2988408" flipH="1">
            <a:off x="7492922" y="2438602"/>
            <a:ext cx="149829" cy="2018162"/>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Can 225"/>
          <p:cNvSpPr/>
          <p:nvPr/>
        </p:nvSpPr>
        <p:spPr bwMode="gray">
          <a:xfrm rot="18611592">
            <a:off x="9265713" y="2432789"/>
            <a:ext cx="149829" cy="2018162"/>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Can 225"/>
          <p:cNvSpPr/>
          <p:nvPr/>
        </p:nvSpPr>
        <p:spPr bwMode="gray">
          <a:xfrm>
            <a:off x="8355552" y="2762103"/>
            <a:ext cx="149829" cy="2018162"/>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a:xfrm>
            <a:off x="7945916" y="3600906"/>
            <a:ext cx="1016625" cy="369332"/>
          </a:xfrm>
          <a:prstGeom prst="rect">
            <a:avLst/>
          </a:prstGeom>
          <a:noFill/>
        </p:spPr>
        <p:txBody>
          <a:bodyPr wrap="none" rtlCol="0">
            <a:spAutoFit/>
          </a:bodyPr>
          <a:lstStyle/>
          <a:p>
            <a:r>
              <a:rPr lang="en-US" altLang="zh-CN"/>
              <a:t>Internet</a:t>
            </a:r>
            <a:endParaRPr lang="zh-CN" altLang="en-US"/>
          </a:p>
        </p:txBody>
      </p:sp>
    </p:spTree>
    <p:extLst>
      <p:ext uri="{BB962C8B-B14F-4D97-AF65-F5344CB8AC3E}">
        <p14:creationId xmlns:p14="http://schemas.microsoft.com/office/powerpoint/2010/main" val="1092579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Intranet VPN</a:t>
            </a:r>
            <a:r>
              <a:rPr lang="zh-CN" altLang="en-US" dirty="0"/>
              <a:t>现网应用</a:t>
            </a:r>
          </a:p>
        </p:txBody>
      </p:sp>
      <p:sp>
        <p:nvSpPr>
          <p:cNvPr id="3" name="Text Placeholder 2"/>
          <p:cNvSpPr>
            <a:spLocks noGrp="1"/>
          </p:cNvSpPr>
          <p:nvPr>
            <p:ph type="body" sz="quarter" idx="10"/>
          </p:nvPr>
        </p:nvSpPr>
        <p:spPr bwMode="gray">
          <a:xfrm>
            <a:off x="455612" y="1047750"/>
            <a:ext cx="11293475" cy="1644359"/>
          </a:xfrm>
        </p:spPr>
        <p:txBody>
          <a:bodyPr/>
          <a:lstStyle/>
          <a:p>
            <a:r>
              <a:rPr lang="en-US" altLang="zh-CN" sz="2000" dirty="0"/>
              <a:t>Intranet VPN</a:t>
            </a:r>
            <a:r>
              <a:rPr lang="zh-CN" altLang="en-US" sz="2000" dirty="0"/>
              <a:t>现网中主要用于企业分支与总部，分支与分支之间互联。</a:t>
            </a:r>
            <a:endParaRPr lang="en-US" altLang="zh-CN" sz="2000" dirty="0"/>
          </a:p>
          <a:p>
            <a:r>
              <a:rPr lang="zh-CN" altLang="en-US" sz="2000" dirty="0"/>
              <a:t>现网中使用比较多的是</a:t>
            </a:r>
            <a:r>
              <a:rPr lang="en-US" altLang="zh-CN" sz="2000" dirty="0"/>
              <a:t>GRE </a:t>
            </a:r>
            <a:r>
              <a:rPr lang="en-US" altLang="zh-CN" sz="2000"/>
              <a:t>Over Ipsec</a:t>
            </a:r>
            <a:r>
              <a:rPr lang="zh-CN" altLang="en-US" sz="2000"/>
              <a:t>。对于</a:t>
            </a:r>
            <a:r>
              <a:rPr lang="zh-CN" altLang="en-US" sz="2000" dirty="0"/>
              <a:t>有较多分支的企业，可以使用</a:t>
            </a:r>
            <a:r>
              <a:rPr lang="en-US" altLang="zh-CN" sz="2000" dirty="0"/>
              <a:t>Efficient VPN</a:t>
            </a:r>
            <a:r>
              <a:rPr lang="zh-CN" altLang="en-US" sz="2000" dirty="0"/>
              <a:t>简化分支的配置，部署</a:t>
            </a:r>
            <a:r>
              <a:rPr lang="en-US" altLang="zh-CN" sz="2000" dirty="0"/>
              <a:t>IPsec</a:t>
            </a:r>
            <a:r>
              <a:rPr lang="zh-CN" altLang="en-US" sz="2000" dirty="0"/>
              <a:t>链路冗余备份后可以保障</a:t>
            </a:r>
            <a:r>
              <a:rPr lang="en-US" altLang="zh-CN" sz="2000" dirty="0"/>
              <a:t>GRE</a:t>
            </a:r>
            <a:r>
              <a:rPr lang="zh-CN" altLang="en-US" sz="2000" dirty="0"/>
              <a:t>的可靠性。</a:t>
            </a:r>
          </a:p>
        </p:txBody>
      </p:sp>
      <p:sp>
        <p:nvSpPr>
          <p:cNvPr id="9" name="圆角矩形 75"/>
          <p:cNvSpPr/>
          <p:nvPr/>
        </p:nvSpPr>
        <p:spPr bwMode="gray">
          <a:xfrm>
            <a:off x="554018" y="2712891"/>
            <a:ext cx="11050593"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GRE Over IPsec</a:t>
            </a:r>
            <a:r>
              <a:rPr lang="zh-CN" altLang="en-US" sz="1600" dirty="0">
                <a:solidFill>
                  <a:srgbClr val="30B5C5"/>
                </a:solidFill>
                <a:latin typeface="Huawei Sans" panose="020C0503030203020204" pitchFamily="34" charset="0"/>
                <a:ea typeface="方正兰亭黑简体" panose="02000000000000000000" pitchFamily="2" charset="-122"/>
              </a:rPr>
              <a:t>现网应用</a:t>
            </a:r>
          </a:p>
        </p:txBody>
      </p:sp>
      <p:sp>
        <p:nvSpPr>
          <p:cNvPr id="10" name="圆角矩形 75"/>
          <p:cNvSpPr/>
          <p:nvPr/>
        </p:nvSpPr>
        <p:spPr bwMode="gray">
          <a:xfrm>
            <a:off x="554018" y="3147178"/>
            <a:ext cx="11050593" cy="292111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2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2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2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2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2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2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rPr>
              <a:t>DSVPN</a:t>
            </a:r>
            <a:r>
              <a:rPr lang="zh-CN" altLang="en-US" sz="1400" dirty="0">
                <a:solidFill>
                  <a:prstClr val="black"/>
                </a:solidFill>
                <a:latin typeface="Huawei Sans" panose="020C0503030203020204" pitchFamily="34" charset="0"/>
                <a:ea typeface="方正兰亭黑简体" panose="02000000000000000000" pitchFamily="2" charset="-122"/>
              </a:rPr>
              <a:t>在现网使用较少，主要原因：</a:t>
            </a:r>
            <a:endParaRPr lang="en-US" altLang="zh-CN" sz="1400" dirty="0">
              <a:solidFill>
                <a:prstClr val="black"/>
              </a:solidFill>
              <a:latin typeface="Huawei Sans" panose="020C0503030203020204" pitchFamily="34" charset="0"/>
              <a:ea typeface="方正兰亭黑简体" panose="02000000000000000000" pitchFamily="2" charset="-122"/>
            </a:endParaRPr>
          </a:p>
          <a:p>
            <a:pPr marL="800140" lvl="1" indent="-342900" algn="just">
              <a:lnSpc>
                <a:spcPts val="2200"/>
              </a:lnSpc>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很多企业希望分支之间流量能经过总部，便于管理；</a:t>
            </a:r>
            <a:endParaRPr lang="en-US" altLang="zh-CN" sz="1400" dirty="0">
              <a:solidFill>
                <a:prstClr val="black"/>
              </a:solidFill>
              <a:latin typeface="Huawei Sans" panose="020C0503030203020204" pitchFamily="34" charset="0"/>
              <a:ea typeface="方正兰亭黑简体" panose="02000000000000000000" pitchFamily="2" charset="-122"/>
            </a:endParaRPr>
          </a:p>
          <a:p>
            <a:pPr marL="800140" lvl="1" indent="-342900" algn="just">
              <a:lnSpc>
                <a:spcPts val="2200"/>
              </a:lnSpc>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企业运维人员对于</a:t>
            </a:r>
            <a:r>
              <a:rPr lang="en-US" altLang="zh-CN" sz="1400" dirty="0">
                <a:solidFill>
                  <a:prstClr val="black"/>
                </a:solidFill>
                <a:latin typeface="Huawei Sans" panose="020C0503030203020204" pitchFamily="34" charset="0"/>
                <a:ea typeface="方正兰亭黑简体" panose="02000000000000000000" pitchFamily="2" charset="-122"/>
              </a:rPr>
              <a:t>DSVPN</a:t>
            </a:r>
            <a:r>
              <a:rPr lang="zh-CN" altLang="en-US" sz="1400" dirty="0">
                <a:solidFill>
                  <a:prstClr val="black"/>
                </a:solidFill>
                <a:latin typeface="Huawei Sans" panose="020C0503030203020204" pitchFamily="34" charset="0"/>
                <a:ea typeface="方正兰亭黑简体" panose="02000000000000000000" pitchFamily="2" charset="-122"/>
              </a:rPr>
              <a:t>的了解一般，运维较不便。</a:t>
            </a:r>
          </a:p>
          <a:p>
            <a:pPr algn="just" defTabSz="914112" fontAlgn="auto">
              <a:lnSpc>
                <a:spcPts val="2200"/>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59"/>
          <p:cNvSpPr/>
          <p:nvPr/>
        </p:nvSpPr>
        <p:spPr bwMode="gray">
          <a:xfrm flipH="1">
            <a:off x="8245311" y="3525160"/>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3"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852889" y="3823086"/>
            <a:ext cx="540000" cy="442800"/>
          </a:xfrm>
          <a:prstGeom prst="rect">
            <a:avLst/>
          </a:prstGeom>
        </p:spPr>
      </p:pic>
      <p:pic>
        <p:nvPicPr>
          <p:cNvPr id="14" name="图片 42" descr="大型网管-蓝.png"/>
          <p:cNvPicPr>
            <a:picLocks noChangeAspect="1"/>
          </p:cNvPicPr>
          <p:nvPr/>
        </p:nvPicPr>
        <p:blipFill>
          <a:blip r:embed="rId4" cstate="print"/>
          <a:stretch>
            <a:fillRect/>
          </a:stretch>
        </p:blipFill>
        <p:spPr bwMode="gray">
          <a:xfrm>
            <a:off x="8853043" y="3847411"/>
            <a:ext cx="539607" cy="441817"/>
          </a:xfrm>
          <a:prstGeom prst="rect">
            <a:avLst/>
          </a:prstGeom>
        </p:spPr>
      </p:pic>
      <p:sp>
        <p:nvSpPr>
          <p:cNvPr id="15" name="TextBox 14"/>
          <p:cNvSpPr txBox="1"/>
          <p:nvPr/>
        </p:nvSpPr>
        <p:spPr bwMode="gray">
          <a:xfrm>
            <a:off x="8500485" y="361841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p>
        </p:txBody>
      </p:sp>
      <p:cxnSp>
        <p:nvCxnSpPr>
          <p:cNvPr id="17" name="Straight Connector 16"/>
          <p:cNvCxnSpPr>
            <a:stCxn id="42" idx="3"/>
            <a:endCxn id="18" idx="23"/>
          </p:cNvCxnSpPr>
          <p:nvPr/>
        </p:nvCxnSpPr>
        <p:spPr bwMode="gray">
          <a:xfrm>
            <a:off x="3656937" y="3592031"/>
            <a:ext cx="1772829" cy="23138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8" name="Freeform 159"/>
          <p:cNvSpPr/>
          <p:nvPr/>
        </p:nvSpPr>
        <p:spPr bwMode="gray">
          <a:xfrm flipH="1">
            <a:off x="5207145" y="3507098"/>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rPr>
              <a:t>I</a:t>
            </a:r>
            <a:r>
              <a:rPr lang="en-US" altLang="zh-CN" sz="1600" dirty="0">
                <a:solidFill>
                  <a:schemeClr val="tx1"/>
                </a:solidFill>
              </a:rPr>
              <a:t>nternet</a:t>
            </a:r>
            <a:endParaRPr lang="en-US" sz="1600" dirty="0">
              <a:solidFill>
                <a:schemeClr val="tx1"/>
              </a:solidFill>
            </a:endParaRPr>
          </a:p>
        </p:txBody>
      </p:sp>
      <p:cxnSp>
        <p:nvCxnSpPr>
          <p:cNvPr id="19" name="Straight Connector 18"/>
          <p:cNvCxnSpPr>
            <a:stCxn id="18" idx="14"/>
            <a:endCxn id="13" idx="1"/>
          </p:cNvCxnSpPr>
          <p:nvPr/>
        </p:nvCxnSpPr>
        <p:spPr bwMode="gray">
          <a:xfrm flipV="1">
            <a:off x="6460592" y="4044486"/>
            <a:ext cx="1392297" cy="246652"/>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24" name="Straight Connector 23"/>
          <p:cNvCxnSpPr>
            <a:stCxn id="44" idx="3"/>
            <a:endCxn id="18" idx="15"/>
          </p:cNvCxnSpPr>
          <p:nvPr/>
        </p:nvCxnSpPr>
        <p:spPr bwMode="gray">
          <a:xfrm flipV="1">
            <a:off x="3661383" y="4291138"/>
            <a:ext cx="1778065" cy="317826"/>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27" name="TextBox 26"/>
          <p:cNvSpPr txBox="1"/>
          <p:nvPr/>
        </p:nvSpPr>
        <p:spPr bwMode="gray">
          <a:xfrm rot="366679">
            <a:off x="4387626" y="3276477"/>
            <a:ext cx="124652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GRE Over IPsec</a:t>
            </a:r>
            <a:endParaRPr lang="zh-CN" altLang="en-US" sz="1200" dirty="0">
              <a:latin typeface="+mj-lt"/>
              <a:ea typeface="+mn-ea"/>
            </a:endParaRPr>
          </a:p>
        </p:txBody>
      </p:sp>
      <p:sp>
        <p:nvSpPr>
          <p:cNvPr id="28" name="TextBox 27"/>
          <p:cNvSpPr txBox="1"/>
          <p:nvPr/>
        </p:nvSpPr>
        <p:spPr bwMode="gray">
          <a:xfrm rot="21102052">
            <a:off x="4404392" y="4609084"/>
            <a:ext cx="126255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GRE Over IPsec</a:t>
            </a:r>
            <a:endParaRPr lang="zh-CN" altLang="en-US" sz="1200" dirty="0">
              <a:latin typeface="+mj-lt"/>
              <a:ea typeface="+mn-ea"/>
            </a:endParaRPr>
          </a:p>
        </p:txBody>
      </p:sp>
      <p:cxnSp>
        <p:nvCxnSpPr>
          <p:cNvPr id="38" name="Straight Connector 37"/>
          <p:cNvCxnSpPr>
            <a:stCxn id="18" idx="7"/>
            <a:endCxn id="13" idx="1"/>
          </p:cNvCxnSpPr>
          <p:nvPr/>
        </p:nvCxnSpPr>
        <p:spPr bwMode="gray">
          <a:xfrm>
            <a:off x="6556526" y="3813431"/>
            <a:ext cx="1296363" cy="231055"/>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46" name="Freeform 159"/>
          <p:cNvSpPr/>
          <p:nvPr/>
        </p:nvSpPr>
        <p:spPr bwMode="gray">
          <a:xfrm flipH="1">
            <a:off x="2247862" y="3270101"/>
            <a:ext cx="1057880" cy="55298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分公司</a:t>
            </a:r>
            <a:endParaRPr lang="en-US" sz="1600" dirty="0">
              <a:solidFill>
                <a:schemeClr val="tx1"/>
              </a:solidFill>
            </a:endParaRPr>
          </a:p>
        </p:txBody>
      </p:sp>
      <p:pic>
        <p:nvPicPr>
          <p:cNvPr id="42"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116937" y="3370631"/>
            <a:ext cx="540000" cy="442800"/>
          </a:xfrm>
          <a:prstGeom prst="rect">
            <a:avLst/>
          </a:prstGeom>
        </p:spPr>
      </p:pic>
      <p:sp>
        <p:nvSpPr>
          <p:cNvPr id="47" name="Freeform 159"/>
          <p:cNvSpPr/>
          <p:nvPr/>
        </p:nvSpPr>
        <p:spPr bwMode="gray">
          <a:xfrm flipH="1">
            <a:off x="2240187" y="4309200"/>
            <a:ext cx="1057880" cy="53143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600" dirty="0">
                <a:solidFill>
                  <a:schemeClr val="tx1"/>
                </a:solidFill>
              </a:rPr>
              <a:t>分公司</a:t>
            </a:r>
            <a:endParaRPr lang="en-US" sz="1600" dirty="0">
              <a:solidFill>
                <a:schemeClr val="tx1"/>
              </a:solidFill>
            </a:endParaRPr>
          </a:p>
        </p:txBody>
      </p:sp>
      <p:pic>
        <p:nvPicPr>
          <p:cNvPr id="4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121383" y="4387564"/>
            <a:ext cx="540000" cy="442800"/>
          </a:xfrm>
          <a:prstGeom prst="rect">
            <a:avLst/>
          </a:prstGeom>
        </p:spPr>
      </p:pic>
      <p:sp>
        <p:nvSpPr>
          <p:cNvPr id="29" name="Can 225"/>
          <p:cNvSpPr/>
          <p:nvPr/>
        </p:nvSpPr>
        <p:spPr bwMode="gray">
          <a:xfrm rot="5761057" flipH="1">
            <a:off x="5680368" y="1612235"/>
            <a:ext cx="149829" cy="4204151"/>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Can 225"/>
          <p:cNvSpPr/>
          <p:nvPr/>
        </p:nvSpPr>
        <p:spPr bwMode="gray">
          <a:xfrm rot="4942238" flipH="1">
            <a:off x="5679882" y="2312388"/>
            <a:ext cx="149829" cy="4204151"/>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Group 30"/>
          <p:cNvGrpSpPr/>
          <p:nvPr/>
        </p:nvGrpSpPr>
        <p:grpSpPr bwMode="gray">
          <a:xfrm>
            <a:off x="7219311" y="75768"/>
            <a:ext cx="4455174" cy="218510"/>
            <a:chOff x="6465362" y="121552"/>
            <a:chExt cx="4455174" cy="218510"/>
          </a:xfrm>
        </p:grpSpPr>
        <p:sp>
          <p:nvSpPr>
            <p:cNvPr id="32"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33" name="燕尾形 25"/>
            <p:cNvSpPr/>
            <p:nvPr/>
          </p:nvSpPr>
          <p:spPr bwMode="gray">
            <a:xfrm>
              <a:off x="7930375" y="121552"/>
              <a:ext cx="1538223" cy="211431"/>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Intranet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34" name="燕尾形 26"/>
            <p:cNvSpPr/>
            <p:nvPr/>
          </p:nvSpPr>
          <p:spPr bwMode="gray">
            <a:xfrm>
              <a:off x="9396589" y="121552"/>
              <a:ext cx="1523947" cy="218510"/>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Extranet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657916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Extranet VPN</a:t>
            </a:r>
            <a:r>
              <a:rPr lang="zh-CN" altLang="en-US" dirty="0"/>
              <a:t>介绍</a:t>
            </a:r>
          </a:p>
        </p:txBody>
      </p:sp>
      <p:sp>
        <p:nvSpPr>
          <p:cNvPr id="3" name="Text Placeholder 2"/>
          <p:cNvSpPr>
            <a:spLocks noGrp="1"/>
          </p:cNvSpPr>
          <p:nvPr>
            <p:ph type="body" sz="quarter" idx="10"/>
          </p:nvPr>
        </p:nvSpPr>
        <p:spPr bwMode="gray"/>
        <p:txBody>
          <a:bodyPr/>
          <a:lstStyle/>
          <a:p>
            <a:r>
              <a:rPr lang="en-US" altLang="zh-CN" sz="2000" dirty="0"/>
              <a:t>Extranet VPN</a:t>
            </a:r>
            <a:r>
              <a:rPr lang="zh-CN" altLang="en-US" sz="2000" dirty="0"/>
              <a:t>主要用于在客户或者供应商之间构建安全的访问服务，同时对于出差员工也可以使用</a:t>
            </a:r>
            <a:r>
              <a:rPr lang="en-US" altLang="zh-CN" sz="2000" dirty="0"/>
              <a:t>Extranet VPN</a:t>
            </a:r>
            <a:r>
              <a:rPr lang="zh-CN" altLang="en-US" sz="2000" dirty="0"/>
              <a:t>接入公司网络。</a:t>
            </a:r>
            <a:endParaRPr lang="en-US" altLang="zh-CN" sz="2000" dirty="0"/>
          </a:p>
          <a:p>
            <a:r>
              <a:rPr lang="en-US" altLang="zh-CN" sz="2000" dirty="0"/>
              <a:t>Extranet VPN</a:t>
            </a:r>
            <a:r>
              <a:rPr lang="zh-CN" altLang="en-US" sz="2000" dirty="0"/>
              <a:t>主要用到的技术是</a:t>
            </a:r>
            <a:r>
              <a:rPr lang="en-US" altLang="zh-CN" sz="2000" dirty="0"/>
              <a:t>SSL VPN</a:t>
            </a:r>
            <a:r>
              <a:rPr lang="zh-CN" altLang="en-US" sz="2000" dirty="0"/>
              <a:t>与</a:t>
            </a:r>
            <a:r>
              <a:rPr lang="en-US" altLang="zh-CN" sz="2000" dirty="0"/>
              <a:t>L2TP</a:t>
            </a:r>
            <a:r>
              <a:rPr lang="zh-CN" altLang="en-US" sz="2000" dirty="0"/>
              <a:t>。</a:t>
            </a:r>
          </a:p>
        </p:txBody>
      </p:sp>
      <p:sp>
        <p:nvSpPr>
          <p:cNvPr id="53" name="Freeform 159"/>
          <p:cNvSpPr/>
          <p:nvPr/>
        </p:nvSpPr>
        <p:spPr bwMode="gray">
          <a:xfrm flipH="1">
            <a:off x="8781082" y="2486695"/>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159"/>
          <p:cNvSpPr/>
          <p:nvPr/>
        </p:nvSpPr>
        <p:spPr bwMode="gray">
          <a:xfrm flipH="1">
            <a:off x="1381760" y="3047077"/>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7" name="图片 73" descr="PC.png"/>
          <p:cNvPicPr>
            <a:picLocks noChangeAspect="1"/>
          </p:cNvPicPr>
          <p:nvPr/>
        </p:nvPicPr>
        <p:blipFill>
          <a:blip r:embed="rId3" cstate="print"/>
          <a:stretch>
            <a:fillRect/>
          </a:stretch>
        </p:blipFill>
        <p:spPr bwMode="gray">
          <a:xfrm>
            <a:off x="1748639" y="3079109"/>
            <a:ext cx="539063" cy="414000"/>
          </a:xfrm>
          <a:prstGeom prst="rect">
            <a:avLst/>
          </a:prstGeom>
        </p:spPr>
      </p:pic>
      <p:pic>
        <p:nvPicPr>
          <p:cNvPr id="58" name="图片 73" descr="PC.png"/>
          <p:cNvPicPr>
            <a:picLocks noChangeAspect="1"/>
          </p:cNvPicPr>
          <p:nvPr/>
        </p:nvPicPr>
        <p:blipFill>
          <a:blip r:embed="rId3" cstate="print"/>
          <a:stretch>
            <a:fillRect/>
          </a:stretch>
        </p:blipFill>
        <p:spPr bwMode="gray">
          <a:xfrm>
            <a:off x="1748640" y="3862644"/>
            <a:ext cx="539063" cy="414000"/>
          </a:xfrm>
          <a:prstGeom prst="rect">
            <a:avLst/>
          </a:prstGeom>
        </p:spPr>
      </p:pic>
      <p:pic>
        <p:nvPicPr>
          <p:cNvPr id="60" name="图片 42" descr="大型网管-蓝.png"/>
          <p:cNvPicPr>
            <a:picLocks noChangeAspect="1"/>
          </p:cNvPicPr>
          <p:nvPr/>
        </p:nvPicPr>
        <p:blipFill>
          <a:blip r:embed="rId4" cstate="print"/>
          <a:stretch>
            <a:fillRect/>
          </a:stretch>
        </p:blipFill>
        <p:spPr bwMode="gray">
          <a:xfrm>
            <a:off x="2826538" y="3658719"/>
            <a:ext cx="539607" cy="441817"/>
          </a:xfrm>
          <a:prstGeom prst="rect">
            <a:avLst/>
          </a:prstGeom>
        </p:spPr>
      </p:pic>
      <p:pic>
        <p:nvPicPr>
          <p:cNvPr id="6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394906" y="3139048"/>
            <a:ext cx="540000" cy="442800"/>
          </a:xfrm>
          <a:prstGeom prst="rect">
            <a:avLst/>
          </a:prstGeom>
        </p:spPr>
      </p:pic>
      <p:pic>
        <p:nvPicPr>
          <p:cNvPr id="70" name="图片 42" descr="大型网管-蓝.png"/>
          <p:cNvPicPr>
            <a:picLocks noChangeAspect="1"/>
          </p:cNvPicPr>
          <p:nvPr/>
        </p:nvPicPr>
        <p:blipFill>
          <a:blip r:embed="rId4" cstate="print"/>
          <a:stretch>
            <a:fillRect/>
          </a:stretch>
        </p:blipFill>
        <p:spPr bwMode="gray">
          <a:xfrm>
            <a:off x="9327590" y="3131191"/>
            <a:ext cx="539607" cy="441817"/>
          </a:xfrm>
          <a:prstGeom prst="rect">
            <a:avLst/>
          </a:prstGeom>
        </p:spPr>
      </p:pic>
      <p:pic>
        <p:nvPicPr>
          <p:cNvPr id="75" name="图片 73" descr="PC.png"/>
          <p:cNvPicPr>
            <a:picLocks noChangeAspect="1"/>
          </p:cNvPicPr>
          <p:nvPr/>
        </p:nvPicPr>
        <p:blipFill>
          <a:blip r:embed="rId3" cstate="print"/>
          <a:stretch>
            <a:fillRect/>
          </a:stretch>
        </p:blipFill>
        <p:spPr bwMode="gray">
          <a:xfrm>
            <a:off x="10174055" y="2549794"/>
            <a:ext cx="539063" cy="414000"/>
          </a:xfrm>
          <a:prstGeom prst="rect">
            <a:avLst/>
          </a:prstGeom>
        </p:spPr>
      </p:pic>
      <p:pic>
        <p:nvPicPr>
          <p:cNvPr id="88" name="图片 73" descr="PC.png"/>
          <p:cNvPicPr>
            <a:picLocks noChangeAspect="1"/>
          </p:cNvPicPr>
          <p:nvPr/>
        </p:nvPicPr>
        <p:blipFill>
          <a:blip r:embed="rId3" cstate="print"/>
          <a:stretch>
            <a:fillRect/>
          </a:stretch>
        </p:blipFill>
        <p:spPr bwMode="gray">
          <a:xfrm>
            <a:off x="10222365" y="3333329"/>
            <a:ext cx="539063" cy="414000"/>
          </a:xfrm>
          <a:prstGeom prst="rect">
            <a:avLst/>
          </a:prstGeom>
        </p:spPr>
      </p:pic>
      <p:cxnSp>
        <p:nvCxnSpPr>
          <p:cNvPr id="96" name="Straight Connector 95"/>
          <p:cNvCxnSpPr>
            <a:cxnSpLocks/>
            <a:stCxn id="124" idx="3"/>
          </p:cNvCxnSpPr>
          <p:nvPr/>
        </p:nvCxnSpPr>
        <p:spPr bwMode="gray">
          <a:xfrm>
            <a:off x="4042157" y="3882302"/>
            <a:ext cx="1268546"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97" name="Straight Connector 96"/>
          <p:cNvCxnSpPr>
            <a:cxnSpLocks/>
            <a:stCxn id="33" idx="7"/>
            <a:endCxn id="66" idx="1"/>
          </p:cNvCxnSpPr>
          <p:nvPr/>
        </p:nvCxnSpPr>
        <p:spPr bwMode="gray">
          <a:xfrm flipV="1">
            <a:off x="7318292" y="3360448"/>
            <a:ext cx="1076614" cy="401435"/>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12" name="TextBox 111"/>
          <p:cNvSpPr txBox="1"/>
          <p:nvPr/>
        </p:nvSpPr>
        <p:spPr bwMode="gray">
          <a:xfrm>
            <a:off x="1416659" y="3139802"/>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3" name="TextBox 112"/>
          <p:cNvSpPr txBox="1"/>
          <p:nvPr/>
        </p:nvSpPr>
        <p:spPr bwMode="gray">
          <a:xfrm>
            <a:off x="1407699" y="3922964"/>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4" name="TextBox 113"/>
          <p:cNvSpPr txBox="1"/>
          <p:nvPr/>
        </p:nvSpPr>
        <p:spPr bwMode="gray">
          <a:xfrm>
            <a:off x="10739552" y="262013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5" name="TextBox 114"/>
          <p:cNvSpPr txBox="1"/>
          <p:nvPr/>
        </p:nvSpPr>
        <p:spPr bwMode="gray">
          <a:xfrm>
            <a:off x="10741059" y="3403293"/>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1400" dirty="0">
              <a:latin typeface="+mj-lt"/>
              <a:ea typeface="+mn-ea"/>
            </a:endParaRPr>
          </a:p>
        </p:txBody>
      </p:sp>
      <p:sp>
        <p:nvSpPr>
          <p:cNvPr id="116" name="TextBox 115"/>
          <p:cNvSpPr txBox="1"/>
          <p:nvPr/>
        </p:nvSpPr>
        <p:spPr bwMode="gray">
          <a:xfrm>
            <a:off x="2464742" y="3293979"/>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400" dirty="0">
                <a:latin typeface="+mj-lt"/>
                <a:ea typeface="+mn-ea"/>
              </a:rPr>
              <a:t>客户</a:t>
            </a:r>
          </a:p>
        </p:txBody>
      </p:sp>
      <p:sp>
        <p:nvSpPr>
          <p:cNvPr id="117" name="TextBox 116"/>
          <p:cNvSpPr txBox="1"/>
          <p:nvPr/>
        </p:nvSpPr>
        <p:spPr bwMode="gray">
          <a:xfrm>
            <a:off x="9240581" y="2789697"/>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1400" dirty="0">
              <a:latin typeface="+mj-lt"/>
              <a:ea typeface="+mn-ea"/>
            </a:endParaRPr>
          </a:p>
        </p:txBody>
      </p:sp>
      <p:pic>
        <p:nvPicPr>
          <p:cNvPr id="124"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502157" y="3660902"/>
            <a:ext cx="540000" cy="442800"/>
          </a:xfrm>
          <a:prstGeom prst="rect">
            <a:avLst/>
          </a:prstGeom>
        </p:spPr>
      </p:pic>
      <p:cxnSp>
        <p:nvCxnSpPr>
          <p:cNvPr id="134" name="Straight Connector 133"/>
          <p:cNvCxnSpPr>
            <a:cxnSpLocks/>
            <a:stCxn id="40" idx="3"/>
          </p:cNvCxnSpPr>
          <p:nvPr/>
        </p:nvCxnSpPr>
        <p:spPr bwMode="gray">
          <a:xfrm flipV="1">
            <a:off x="5096866" y="4527506"/>
            <a:ext cx="1270069" cy="925552"/>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135" name="TextBox 134"/>
          <p:cNvSpPr txBox="1"/>
          <p:nvPr/>
        </p:nvSpPr>
        <p:spPr bwMode="gray">
          <a:xfrm rot="19236431">
            <a:off x="5277814" y="5025243"/>
            <a:ext cx="140816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SSL VPN/L2TP</a:t>
            </a:r>
            <a:endParaRPr lang="zh-CN" altLang="en-US" sz="1400" dirty="0">
              <a:latin typeface="+mj-lt"/>
              <a:ea typeface="+mn-ea"/>
            </a:endParaRPr>
          </a:p>
        </p:txBody>
      </p:sp>
      <p:sp>
        <p:nvSpPr>
          <p:cNvPr id="39" name="TextBox 38"/>
          <p:cNvSpPr txBox="1"/>
          <p:nvPr/>
        </p:nvSpPr>
        <p:spPr bwMode="gray">
          <a:xfrm>
            <a:off x="4030346" y="3493109"/>
            <a:ext cx="140816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SSL VPN/L2TP</a:t>
            </a:r>
            <a:endParaRPr lang="zh-CN" altLang="en-US" sz="1400" dirty="0">
              <a:latin typeface="+mj-lt"/>
              <a:ea typeface="+mn-ea"/>
            </a:endParaRPr>
          </a:p>
        </p:txBody>
      </p:sp>
      <p:pic>
        <p:nvPicPr>
          <p:cNvPr id="40" name="图片 56" descr="管理型无线虚链路-蓝.png"/>
          <p:cNvPicPr>
            <a:picLocks noChangeAspect="1"/>
          </p:cNvPicPr>
          <p:nvPr/>
        </p:nvPicPr>
        <p:blipFill>
          <a:blip r:embed="rId6" cstate="print"/>
          <a:stretch>
            <a:fillRect/>
          </a:stretch>
        </p:blipFill>
        <p:spPr bwMode="gray">
          <a:xfrm>
            <a:off x="4557259" y="5232149"/>
            <a:ext cx="539607" cy="441818"/>
          </a:xfrm>
          <a:prstGeom prst="rect">
            <a:avLst/>
          </a:prstGeom>
        </p:spPr>
      </p:pic>
      <p:grpSp>
        <p:nvGrpSpPr>
          <p:cNvPr id="29" name="Group 28"/>
          <p:cNvGrpSpPr/>
          <p:nvPr/>
        </p:nvGrpSpPr>
        <p:grpSpPr bwMode="gray">
          <a:xfrm>
            <a:off x="7219313" y="77730"/>
            <a:ext cx="4455174" cy="218510"/>
            <a:chOff x="6465362" y="121552"/>
            <a:chExt cx="4455174" cy="218510"/>
          </a:xfrm>
        </p:grpSpPr>
        <p:sp>
          <p:nvSpPr>
            <p:cNvPr id="30"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31" name="燕尾形 25"/>
            <p:cNvSpPr/>
            <p:nvPr/>
          </p:nvSpPr>
          <p:spPr bwMode="gray">
            <a:xfrm>
              <a:off x="7930375" y="121552"/>
              <a:ext cx="1538223" cy="211431"/>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32" name="燕尾形 26"/>
            <p:cNvSpPr/>
            <p:nvPr/>
          </p:nvSpPr>
          <p:spPr bwMode="gray">
            <a:xfrm>
              <a:off x="9396589" y="121552"/>
              <a:ext cx="1523947"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Extranet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grpSp>
      <p:sp>
        <p:nvSpPr>
          <p:cNvPr id="33" name="Freeform 159">
            <a:extLst>
              <a:ext uri="{FF2B5EF4-FFF2-40B4-BE49-F238E27FC236}">
                <a16:creationId xmlns:a16="http://schemas.microsoft.com/office/drawing/2014/main" id="{7DC031F6-AA3C-4E29-9A3C-C9D6677898C6}"/>
              </a:ext>
            </a:extLst>
          </p:cNvPr>
          <p:cNvSpPr/>
          <p:nvPr/>
        </p:nvSpPr>
        <p:spPr bwMode="gray">
          <a:xfrm flipH="1">
            <a:off x="5193603" y="3279542"/>
            <a:ext cx="2361687" cy="12345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a:t>
            </a:r>
            <a:r>
              <a:rPr lang="en-US" altLang="zh-CN" dirty="0">
                <a:solidFill>
                  <a:schemeClr val="tx1"/>
                </a:solidFill>
              </a:rPr>
              <a:t>nternet</a:t>
            </a:r>
            <a:endParaRPr lang="en-US" dirty="0">
              <a:solidFill>
                <a:schemeClr val="tx1"/>
              </a:solidFill>
            </a:endParaRPr>
          </a:p>
        </p:txBody>
      </p:sp>
      <p:sp>
        <p:nvSpPr>
          <p:cNvPr id="45" name="Freeform 44"/>
          <p:cNvSpPr/>
          <p:nvPr/>
        </p:nvSpPr>
        <p:spPr bwMode="gray">
          <a:xfrm rot="21267803">
            <a:off x="4115097" y="3548662"/>
            <a:ext cx="4115063" cy="210347"/>
          </a:xfrm>
          <a:custGeom>
            <a:avLst/>
            <a:gdLst>
              <a:gd name="connsiteX0" fmla="*/ 0 w 4166754"/>
              <a:gd name="connsiteY0" fmla="*/ 103909 h 645004"/>
              <a:gd name="connsiteX1" fmla="*/ 2015836 w 4166754"/>
              <a:gd name="connsiteY1" fmla="*/ 644237 h 645004"/>
              <a:gd name="connsiteX2" fmla="*/ 4166754 w 4166754"/>
              <a:gd name="connsiteY2" fmla="*/ 0 h 645004"/>
            </a:gdLst>
            <a:ahLst/>
            <a:cxnLst>
              <a:cxn ang="0">
                <a:pos x="connsiteX0" y="connsiteY0"/>
              </a:cxn>
              <a:cxn ang="0">
                <a:pos x="connsiteX1" y="connsiteY1"/>
              </a:cxn>
              <a:cxn ang="0">
                <a:pos x="connsiteX2" y="connsiteY2"/>
              </a:cxn>
            </a:cxnLst>
            <a:rect l="l" t="t" r="r" b="b"/>
            <a:pathLst>
              <a:path w="4166754" h="645004">
                <a:moveTo>
                  <a:pt x="0" y="103909"/>
                </a:moveTo>
                <a:cubicBezTo>
                  <a:pt x="660688" y="382732"/>
                  <a:pt x="1321377" y="661555"/>
                  <a:pt x="2015836" y="644237"/>
                </a:cubicBezTo>
                <a:cubicBezTo>
                  <a:pt x="2710295" y="626919"/>
                  <a:pt x="4166754" y="0"/>
                  <a:pt x="4166754" y="0"/>
                </a:cubicBezTo>
              </a:path>
            </a:pathLst>
          </a:custGeom>
          <a:noFill/>
          <a:ln w="28575">
            <a:solidFill>
              <a:srgbClr val="56C4D2"/>
            </a:solidFill>
            <a:prstDash val="dash"/>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6" name="Freeform 45"/>
          <p:cNvSpPr/>
          <p:nvPr/>
        </p:nvSpPr>
        <p:spPr bwMode="gray">
          <a:xfrm>
            <a:off x="5372100" y="3501734"/>
            <a:ext cx="2961409" cy="1943100"/>
          </a:xfrm>
          <a:custGeom>
            <a:avLst/>
            <a:gdLst>
              <a:gd name="connsiteX0" fmla="*/ 0 w 2961409"/>
              <a:gd name="connsiteY0" fmla="*/ 1943100 h 1943100"/>
              <a:gd name="connsiteX1" fmla="*/ 1444336 w 2961409"/>
              <a:gd name="connsiteY1" fmla="*/ 810491 h 1943100"/>
              <a:gd name="connsiteX2" fmla="*/ 2961409 w 2961409"/>
              <a:gd name="connsiteY2" fmla="*/ 0 h 1943100"/>
            </a:gdLst>
            <a:ahLst/>
            <a:cxnLst>
              <a:cxn ang="0">
                <a:pos x="connsiteX0" y="connsiteY0"/>
              </a:cxn>
              <a:cxn ang="0">
                <a:pos x="connsiteX1" y="connsiteY1"/>
              </a:cxn>
              <a:cxn ang="0">
                <a:pos x="connsiteX2" y="connsiteY2"/>
              </a:cxn>
            </a:cxnLst>
            <a:rect l="l" t="t" r="r" b="b"/>
            <a:pathLst>
              <a:path w="2961409" h="1943100">
                <a:moveTo>
                  <a:pt x="0" y="1943100"/>
                </a:moveTo>
                <a:cubicBezTo>
                  <a:pt x="475384" y="1538720"/>
                  <a:pt x="950768" y="1134341"/>
                  <a:pt x="1444336" y="810491"/>
                </a:cubicBezTo>
                <a:cubicBezTo>
                  <a:pt x="1937904" y="486641"/>
                  <a:pt x="2961409" y="0"/>
                  <a:pt x="2961409" y="0"/>
                </a:cubicBezTo>
              </a:path>
            </a:pathLst>
          </a:custGeom>
          <a:noFill/>
          <a:ln w="28575">
            <a:solidFill>
              <a:srgbClr val="56C4D2"/>
            </a:solidFill>
            <a:prstDash val="dash"/>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Tree>
    <p:extLst>
      <p:ext uri="{BB962C8B-B14F-4D97-AF65-F5344CB8AC3E}">
        <p14:creationId xmlns:p14="http://schemas.microsoft.com/office/powerpoint/2010/main" val="636571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159">
            <a:extLst>
              <a:ext uri="{FF2B5EF4-FFF2-40B4-BE49-F238E27FC236}">
                <a16:creationId xmlns:a16="http://schemas.microsoft.com/office/drawing/2014/main" id="{8BBAB25F-112E-49C2-BC8D-B4FC02BCA065}"/>
              </a:ext>
            </a:extLst>
          </p:cNvPr>
          <p:cNvSpPr/>
          <p:nvPr/>
        </p:nvSpPr>
        <p:spPr bwMode="gray">
          <a:xfrm flipH="1">
            <a:off x="3781551" y="3166584"/>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rPr>
              <a:t>I</a:t>
            </a:r>
            <a:r>
              <a:rPr lang="en-US" altLang="zh-CN" sz="1600" dirty="0">
                <a:solidFill>
                  <a:schemeClr val="tx1"/>
                </a:solidFill>
              </a:rPr>
              <a:t>nternet</a:t>
            </a:r>
            <a:endParaRPr lang="en-US" sz="1600" dirty="0">
              <a:solidFill>
                <a:schemeClr val="tx1"/>
              </a:solidFill>
            </a:endParaRPr>
          </a:p>
        </p:txBody>
      </p:sp>
      <p:sp>
        <p:nvSpPr>
          <p:cNvPr id="3" name="标题 2"/>
          <p:cNvSpPr>
            <a:spLocks noGrp="1"/>
          </p:cNvSpPr>
          <p:nvPr>
            <p:ph type="title"/>
          </p:nvPr>
        </p:nvSpPr>
        <p:spPr bwMode="gray"/>
        <p:txBody>
          <a:bodyPr/>
          <a:lstStyle/>
          <a:p>
            <a:r>
              <a:rPr lang="en-US" altLang="zh-CN" dirty="0"/>
              <a:t>SSL VPN</a:t>
            </a:r>
            <a:r>
              <a:rPr lang="zh-CN" altLang="en-US" dirty="0"/>
              <a:t>简介</a:t>
            </a:r>
          </a:p>
        </p:txBody>
      </p:sp>
      <p:sp>
        <p:nvSpPr>
          <p:cNvPr id="4" name="文本占位符 3"/>
          <p:cNvSpPr>
            <a:spLocks noGrp="1"/>
          </p:cNvSpPr>
          <p:nvPr>
            <p:ph type="body" sz="quarter" idx="10"/>
          </p:nvPr>
        </p:nvSpPr>
        <p:spPr bwMode="gray">
          <a:xfrm>
            <a:off x="455612" y="1047751"/>
            <a:ext cx="11293475" cy="1372406"/>
          </a:xfrm>
        </p:spPr>
        <p:txBody>
          <a:bodyPr/>
          <a:lstStyle/>
          <a:p>
            <a:pPr hangingPunct="0">
              <a:defRPr/>
            </a:pPr>
            <a:r>
              <a:rPr lang="en-US" altLang="zh-CN" sz="2000" dirty="0"/>
              <a:t>SSL VPN</a:t>
            </a:r>
            <a:r>
              <a:rPr lang="zh-CN" altLang="en-US" sz="2000" dirty="0"/>
              <a:t>主要用于出差人员远程接入公司内网，一般被认为是公司内网在广域网上的扩展。</a:t>
            </a:r>
            <a:endParaRPr lang="en-US" altLang="zh-CN" sz="2000" dirty="0"/>
          </a:p>
          <a:p>
            <a:pPr hangingPunct="0">
              <a:defRPr/>
            </a:pPr>
            <a:r>
              <a:rPr lang="en-US" altLang="zh-CN" sz="2000" dirty="0"/>
              <a:t>SSL VPN</a:t>
            </a:r>
            <a:r>
              <a:rPr lang="zh-CN" altLang="en-US" sz="2000" dirty="0"/>
              <a:t>基于</a:t>
            </a:r>
            <a:r>
              <a:rPr lang="en-US" altLang="zh-CN" sz="2000" dirty="0"/>
              <a:t>HTTP</a:t>
            </a:r>
            <a:r>
              <a:rPr lang="zh-CN" altLang="en-US" sz="2000" dirty="0"/>
              <a:t>进行用户认证和控制，用户无需配置，使用简单。</a:t>
            </a:r>
          </a:p>
        </p:txBody>
      </p:sp>
      <p:cxnSp>
        <p:nvCxnSpPr>
          <p:cNvPr id="30" name="直接连接符 5"/>
          <p:cNvCxnSpPr>
            <a:stCxn id="68" idx="3"/>
          </p:cNvCxnSpPr>
          <p:nvPr/>
        </p:nvCxnSpPr>
        <p:spPr bwMode="gray">
          <a:xfrm>
            <a:off x="2766227" y="3765374"/>
            <a:ext cx="3639833" cy="1"/>
          </a:xfrm>
          <a:prstGeom prst="line">
            <a:avLst/>
          </a:prstGeom>
          <a:solidFill>
            <a:schemeClr val="accent1"/>
          </a:solidFill>
          <a:ln w="31750" cap="flat" cmpd="sng" algn="ctr">
            <a:solidFill>
              <a:schemeClr val="bg1">
                <a:lumMod val="50000"/>
              </a:schemeClr>
            </a:solidFill>
            <a:prstDash val="solid"/>
            <a:round/>
            <a:headEnd type="none" w="med" len="med"/>
            <a:tailEnd type="none" w="med" len="med"/>
          </a:ln>
          <a:effectLst/>
        </p:spPr>
      </p:cxnSp>
      <p:sp>
        <p:nvSpPr>
          <p:cNvPr id="61" name="Freeform 159"/>
          <p:cNvSpPr/>
          <p:nvPr/>
        </p:nvSpPr>
        <p:spPr bwMode="gray">
          <a:xfrm flipH="1">
            <a:off x="6764661" y="2986955"/>
            <a:ext cx="2340178" cy="12232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4" name="图片 42" descr="大型网管-蓝.png"/>
          <p:cNvPicPr>
            <a:picLocks noChangeAspect="1"/>
          </p:cNvPicPr>
          <p:nvPr/>
        </p:nvPicPr>
        <p:blipFill>
          <a:blip r:embed="rId3" cstate="print"/>
          <a:stretch>
            <a:fillRect/>
          </a:stretch>
        </p:blipFill>
        <p:spPr bwMode="gray">
          <a:xfrm>
            <a:off x="7034857" y="3544466"/>
            <a:ext cx="539607" cy="441817"/>
          </a:xfrm>
          <a:prstGeom prst="rect">
            <a:avLst/>
          </a:prstGeom>
        </p:spPr>
      </p:pic>
      <p:pic>
        <p:nvPicPr>
          <p:cNvPr id="67"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408868" y="3536104"/>
            <a:ext cx="540000" cy="442800"/>
          </a:xfrm>
          <a:prstGeom prst="rect">
            <a:avLst/>
          </a:prstGeom>
        </p:spPr>
      </p:pic>
      <p:pic>
        <p:nvPicPr>
          <p:cNvPr id="68" name="图片 56" descr="管理型无线虚链路-蓝.png"/>
          <p:cNvPicPr>
            <a:picLocks noChangeAspect="1"/>
          </p:cNvPicPr>
          <p:nvPr/>
        </p:nvPicPr>
        <p:blipFill>
          <a:blip r:embed="rId5" cstate="print"/>
          <a:stretch>
            <a:fillRect/>
          </a:stretch>
        </p:blipFill>
        <p:spPr bwMode="gray">
          <a:xfrm>
            <a:off x="2226620" y="3544465"/>
            <a:ext cx="539607" cy="441818"/>
          </a:xfrm>
          <a:prstGeom prst="rect">
            <a:avLst/>
          </a:prstGeom>
        </p:spPr>
      </p:pic>
      <p:pic>
        <p:nvPicPr>
          <p:cNvPr id="69" name="图片 20" descr="交换机.png"/>
          <p:cNvPicPr>
            <a:picLocks noChangeAspect="1"/>
          </p:cNvPicPr>
          <p:nvPr/>
        </p:nvPicPr>
        <p:blipFill>
          <a:blip r:embed="rId6" cstate="print"/>
          <a:stretch>
            <a:fillRect/>
          </a:stretch>
        </p:blipFill>
        <p:spPr bwMode="gray">
          <a:xfrm>
            <a:off x="8424811" y="3738067"/>
            <a:ext cx="539999" cy="441816"/>
          </a:xfrm>
          <a:prstGeom prst="rect">
            <a:avLst/>
          </a:prstGeom>
        </p:spPr>
      </p:pic>
      <p:pic>
        <p:nvPicPr>
          <p:cNvPr id="70" name="图片 22" descr="Web服务器-蓝.png"/>
          <p:cNvPicPr>
            <a:picLocks noChangeAspect="1"/>
          </p:cNvPicPr>
          <p:nvPr/>
        </p:nvPicPr>
        <p:blipFill>
          <a:blip r:embed="rId7" cstate="print"/>
          <a:stretch>
            <a:fillRect/>
          </a:stretch>
        </p:blipFill>
        <p:spPr bwMode="gray">
          <a:xfrm>
            <a:off x="7744782" y="3094286"/>
            <a:ext cx="540000" cy="441818"/>
          </a:xfrm>
          <a:prstGeom prst="rect">
            <a:avLst/>
          </a:prstGeom>
        </p:spPr>
      </p:pic>
      <p:pic>
        <p:nvPicPr>
          <p:cNvPr id="71" name="图片 23" descr="FTP服务器-蓝.png"/>
          <p:cNvPicPr>
            <a:picLocks noChangeAspect="1"/>
          </p:cNvPicPr>
          <p:nvPr/>
        </p:nvPicPr>
        <p:blipFill>
          <a:blip r:embed="rId8" cstate="print"/>
          <a:stretch>
            <a:fillRect/>
          </a:stretch>
        </p:blipFill>
        <p:spPr bwMode="gray">
          <a:xfrm>
            <a:off x="7744782" y="3738065"/>
            <a:ext cx="540000" cy="441818"/>
          </a:xfrm>
          <a:prstGeom prst="rect">
            <a:avLst/>
          </a:prstGeom>
        </p:spPr>
      </p:pic>
      <p:pic>
        <p:nvPicPr>
          <p:cNvPr id="72" name="图片 24" descr="邮件服务器-蓝.png"/>
          <p:cNvPicPr>
            <a:picLocks noChangeAspect="1"/>
          </p:cNvPicPr>
          <p:nvPr/>
        </p:nvPicPr>
        <p:blipFill>
          <a:blip r:embed="rId9" cstate="print"/>
          <a:stretch>
            <a:fillRect/>
          </a:stretch>
        </p:blipFill>
        <p:spPr bwMode="gray">
          <a:xfrm>
            <a:off x="8424810" y="3094286"/>
            <a:ext cx="540000" cy="441818"/>
          </a:xfrm>
          <a:prstGeom prst="rect">
            <a:avLst/>
          </a:prstGeom>
        </p:spPr>
      </p:pic>
      <p:sp>
        <p:nvSpPr>
          <p:cNvPr id="11" name="TextBox 10"/>
          <p:cNvSpPr txBox="1"/>
          <p:nvPr/>
        </p:nvSpPr>
        <p:spPr bwMode="gray">
          <a:xfrm>
            <a:off x="2804568" y="3940233"/>
            <a:ext cx="132372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SSL VPN</a:t>
            </a:r>
            <a:r>
              <a:rPr lang="zh-CN" altLang="en-US" sz="1200" dirty="0">
                <a:latin typeface="+mj-lt"/>
                <a:ea typeface="+mn-ea"/>
              </a:rPr>
              <a:t> </a:t>
            </a:r>
            <a:r>
              <a:rPr lang="en-US" altLang="zh-CN" sz="1200" dirty="0">
                <a:latin typeface="+mj-lt"/>
                <a:ea typeface="+mn-ea"/>
              </a:rPr>
              <a:t>Tunnel</a:t>
            </a:r>
            <a:endParaRPr lang="zh-CN" altLang="en-US" sz="1200" dirty="0">
              <a:latin typeface="+mj-lt"/>
              <a:ea typeface="+mn-ea"/>
            </a:endParaRPr>
          </a:p>
        </p:txBody>
      </p:sp>
      <p:sp>
        <p:nvSpPr>
          <p:cNvPr id="75" name="TextBox 74"/>
          <p:cNvSpPr txBox="1"/>
          <p:nvPr/>
        </p:nvSpPr>
        <p:spPr bwMode="gray">
          <a:xfrm>
            <a:off x="1936317" y="3249862"/>
            <a:ext cx="1255243"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SSL VPN</a:t>
            </a:r>
            <a:r>
              <a:rPr lang="zh-CN" altLang="en-US" sz="1200" dirty="0">
                <a:latin typeface="+mj-lt"/>
                <a:ea typeface="+mn-ea"/>
              </a:rPr>
              <a:t> </a:t>
            </a:r>
            <a:r>
              <a:rPr lang="en-US" altLang="zh-CN" sz="1200" dirty="0">
                <a:latin typeface="+mj-lt"/>
                <a:ea typeface="+mn-ea"/>
              </a:rPr>
              <a:t>Client</a:t>
            </a:r>
            <a:endParaRPr lang="zh-CN" altLang="en-US" sz="1200" dirty="0">
              <a:latin typeface="+mj-lt"/>
              <a:ea typeface="+mn-ea"/>
            </a:endParaRPr>
          </a:p>
        </p:txBody>
      </p:sp>
      <p:sp>
        <p:nvSpPr>
          <p:cNvPr id="76" name="TextBox 75"/>
          <p:cNvSpPr txBox="1"/>
          <p:nvPr/>
        </p:nvSpPr>
        <p:spPr bwMode="gray">
          <a:xfrm>
            <a:off x="5912736" y="3254099"/>
            <a:ext cx="147004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SSL VPN</a:t>
            </a:r>
            <a:r>
              <a:rPr lang="zh-CN" altLang="en-US" sz="1200" dirty="0">
                <a:latin typeface="+mj-lt"/>
                <a:ea typeface="+mn-ea"/>
              </a:rPr>
              <a:t> </a:t>
            </a:r>
            <a:r>
              <a:rPr lang="en-US" altLang="zh-CN" sz="1200" dirty="0">
                <a:latin typeface="+mj-lt"/>
                <a:ea typeface="+mn-ea"/>
              </a:rPr>
              <a:t>Gateway</a:t>
            </a:r>
            <a:endParaRPr lang="zh-CN" altLang="en-US" sz="1200" dirty="0">
              <a:latin typeface="+mj-lt"/>
              <a:ea typeface="+mn-ea"/>
            </a:endParaRPr>
          </a:p>
        </p:txBody>
      </p:sp>
      <p:sp>
        <p:nvSpPr>
          <p:cNvPr id="12" name="TextBox 11"/>
          <p:cNvSpPr txBox="1"/>
          <p:nvPr/>
        </p:nvSpPr>
        <p:spPr bwMode="gray">
          <a:xfrm>
            <a:off x="9144526" y="3126584"/>
            <a:ext cx="998056" cy="1073544"/>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网页代理</a:t>
            </a:r>
            <a:endParaRPr lang="en-US" altLang="zh-CN" sz="1600" dirty="0">
              <a:latin typeface="+mj-lt"/>
              <a:ea typeface="+mn-ea"/>
            </a:endParaRPr>
          </a:p>
          <a:p>
            <a:pPr fontAlgn="auto"/>
            <a:r>
              <a:rPr lang="zh-CN" altLang="en-US" sz="1600" dirty="0">
                <a:latin typeface="+mj-lt"/>
                <a:ea typeface="+mn-ea"/>
              </a:rPr>
              <a:t>文件分享</a:t>
            </a:r>
            <a:endParaRPr lang="en-US" altLang="zh-CN" sz="1600" dirty="0">
              <a:latin typeface="+mj-lt"/>
              <a:ea typeface="+mn-ea"/>
            </a:endParaRPr>
          </a:p>
          <a:p>
            <a:pPr fontAlgn="auto"/>
            <a:r>
              <a:rPr lang="zh-CN" altLang="en-US" sz="1600" dirty="0">
                <a:latin typeface="+mj-lt"/>
                <a:ea typeface="+mn-ea"/>
              </a:rPr>
              <a:t>端口转发</a:t>
            </a:r>
            <a:endParaRPr lang="en-US" altLang="zh-CN" sz="1600" dirty="0">
              <a:latin typeface="+mj-lt"/>
              <a:ea typeface="+mn-ea"/>
            </a:endParaRPr>
          </a:p>
          <a:p>
            <a:pPr fontAlgn="auto"/>
            <a:r>
              <a:rPr lang="zh-CN" altLang="en-US" sz="1600" dirty="0">
                <a:latin typeface="+mj-lt"/>
                <a:ea typeface="+mn-ea"/>
              </a:rPr>
              <a:t>网络扩展</a:t>
            </a:r>
          </a:p>
        </p:txBody>
      </p:sp>
      <p:sp>
        <p:nvSpPr>
          <p:cNvPr id="25" name="Can 225"/>
          <p:cNvSpPr/>
          <p:nvPr/>
        </p:nvSpPr>
        <p:spPr bwMode="gray">
          <a:xfrm rot="5400000" flipH="1">
            <a:off x="4479469" y="2011759"/>
            <a:ext cx="183756" cy="3498524"/>
          </a:xfrm>
          <a:prstGeom prst="can">
            <a:avLst>
              <a:gd name="adj" fmla="val 40000"/>
            </a:avLst>
          </a:prstGeom>
          <a:solidFill>
            <a:srgbClr val="94DAE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Freeform 9"/>
          <p:cNvSpPr/>
          <p:nvPr/>
        </p:nvSpPr>
        <p:spPr bwMode="gray">
          <a:xfrm>
            <a:off x="2804568" y="3429000"/>
            <a:ext cx="5124450" cy="348277"/>
          </a:xfrm>
          <a:custGeom>
            <a:avLst/>
            <a:gdLst>
              <a:gd name="connsiteX0" fmla="*/ 0 w 5124450"/>
              <a:gd name="connsiteY0" fmla="*/ 314325 h 348277"/>
              <a:gd name="connsiteX1" fmla="*/ 3862388 w 5124450"/>
              <a:gd name="connsiteY1" fmla="*/ 319088 h 348277"/>
              <a:gd name="connsiteX2" fmla="*/ 5124450 w 5124450"/>
              <a:gd name="connsiteY2" fmla="*/ 0 h 348277"/>
            </a:gdLst>
            <a:ahLst/>
            <a:cxnLst>
              <a:cxn ang="0">
                <a:pos x="connsiteX0" y="connsiteY0"/>
              </a:cxn>
              <a:cxn ang="0">
                <a:pos x="connsiteX1" y="connsiteY1"/>
              </a:cxn>
              <a:cxn ang="0">
                <a:pos x="connsiteX2" y="connsiteY2"/>
              </a:cxn>
            </a:cxnLst>
            <a:rect l="l" t="t" r="r" b="b"/>
            <a:pathLst>
              <a:path w="5124450" h="348277">
                <a:moveTo>
                  <a:pt x="0" y="314325"/>
                </a:moveTo>
                <a:cubicBezTo>
                  <a:pt x="1504156" y="342900"/>
                  <a:pt x="3008313" y="371476"/>
                  <a:pt x="3862388" y="319088"/>
                </a:cubicBezTo>
                <a:cubicBezTo>
                  <a:pt x="4716463" y="266700"/>
                  <a:pt x="4928394" y="51594"/>
                  <a:pt x="5124450" y="0"/>
                </a:cubicBezTo>
              </a:path>
            </a:pathLst>
          </a:custGeom>
          <a:noFill/>
          <a:ln w="28575">
            <a:solidFill>
              <a:srgbClr val="E28189"/>
            </a:solidFill>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grpSp>
        <p:nvGrpSpPr>
          <p:cNvPr id="26" name="Group 25"/>
          <p:cNvGrpSpPr/>
          <p:nvPr/>
        </p:nvGrpSpPr>
        <p:grpSpPr bwMode="gray">
          <a:xfrm>
            <a:off x="7219311" y="77730"/>
            <a:ext cx="4455174" cy="218510"/>
            <a:chOff x="6465362" y="121552"/>
            <a:chExt cx="4455174" cy="218510"/>
          </a:xfrm>
        </p:grpSpPr>
        <p:sp>
          <p:nvSpPr>
            <p:cNvPr id="27"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28" name="燕尾形 25"/>
            <p:cNvSpPr/>
            <p:nvPr/>
          </p:nvSpPr>
          <p:spPr bwMode="gray">
            <a:xfrm>
              <a:off x="7930375" y="121552"/>
              <a:ext cx="1538223" cy="211431"/>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29" name="燕尾形 26"/>
            <p:cNvSpPr/>
            <p:nvPr/>
          </p:nvSpPr>
          <p:spPr bwMode="gray">
            <a:xfrm>
              <a:off x="9396589" y="121552"/>
              <a:ext cx="1523947"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Extranet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532023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Extranet VPN</a:t>
            </a:r>
            <a:r>
              <a:rPr lang="zh-CN" altLang="en-US" dirty="0"/>
              <a:t>应用场景</a:t>
            </a:r>
          </a:p>
        </p:txBody>
      </p:sp>
      <p:sp>
        <p:nvSpPr>
          <p:cNvPr id="3" name="Text Placeholder 2"/>
          <p:cNvSpPr>
            <a:spLocks noGrp="1"/>
          </p:cNvSpPr>
          <p:nvPr>
            <p:ph type="body" sz="quarter" idx="10"/>
          </p:nvPr>
        </p:nvSpPr>
        <p:spPr bwMode="gray">
          <a:xfrm>
            <a:off x="455612" y="1047750"/>
            <a:ext cx="11293475" cy="901765"/>
          </a:xfrm>
        </p:spPr>
        <p:txBody>
          <a:bodyPr/>
          <a:lstStyle/>
          <a:p>
            <a:r>
              <a:rPr lang="zh-CN" altLang="en-US" sz="1800" dirty="0"/>
              <a:t>外部用户接入内网，使用</a:t>
            </a:r>
            <a:r>
              <a:rPr lang="en-US" altLang="zh-CN" sz="1800" dirty="0"/>
              <a:t>SSL VPN</a:t>
            </a:r>
            <a:r>
              <a:rPr lang="zh-CN" altLang="en-US" sz="1800" dirty="0"/>
              <a:t>比较方便，无需安装客户端，直接使用网页即可访问公司内网，且</a:t>
            </a:r>
            <a:r>
              <a:rPr lang="en-US" altLang="zh-CN" sz="1800" dirty="0"/>
              <a:t>SSL VPN</a:t>
            </a:r>
            <a:r>
              <a:rPr lang="zh-CN" altLang="en-US" sz="1800" dirty="0"/>
              <a:t>的业务选择较多，比如网页代理、文件分享、端口转发、网络扩展。</a:t>
            </a:r>
          </a:p>
          <a:p>
            <a:endParaRPr lang="zh-CN" altLang="en-US" dirty="0"/>
          </a:p>
        </p:txBody>
      </p:sp>
      <p:sp>
        <p:nvSpPr>
          <p:cNvPr id="4" name="圆角矩形 75"/>
          <p:cNvSpPr/>
          <p:nvPr/>
        </p:nvSpPr>
        <p:spPr bwMode="gray">
          <a:xfrm>
            <a:off x="611289" y="1979636"/>
            <a:ext cx="10953621"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rPr>
              <a:t>SSL VPN</a:t>
            </a:r>
            <a:r>
              <a:rPr lang="zh-CN" altLang="en-US" sz="1600" dirty="0">
                <a:solidFill>
                  <a:srgbClr val="30B5C5"/>
                </a:solidFill>
                <a:latin typeface="Huawei Sans" panose="020C0503030203020204" pitchFamily="34" charset="0"/>
                <a:ea typeface="方正兰亭黑简体" panose="02000000000000000000" pitchFamily="2" charset="-122"/>
              </a:rPr>
              <a:t>应用场景</a:t>
            </a:r>
          </a:p>
        </p:txBody>
      </p:sp>
      <p:sp>
        <p:nvSpPr>
          <p:cNvPr id="5" name="圆角矩形 75"/>
          <p:cNvSpPr/>
          <p:nvPr/>
        </p:nvSpPr>
        <p:spPr bwMode="gray">
          <a:xfrm>
            <a:off x="611289" y="2413923"/>
            <a:ext cx="10953621" cy="363416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rPr>
              <a:t>SSL VPN</a:t>
            </a:r>
            <a:r>
              <a:rPr lang="zh-CN" altLang="en-US" sz="1400" dirty="0">
                <a:solidFill>
                  <a:prstClr val="black"/>
                </a:solidFill>
                <a:latin typeface="Huawei Sans" panose="020C0503030203020204" pitchFamily="34" charset="0"/>
                <a:ea typeface="方正兰亭黑简体" panose="02000000000000000000" pitchFamily="2" charset="-122"/>
              </a:rPr>
              <a:t>使用方便，只需要使用浏览器即可访问公司</a:t>
            </a:r>
            <a:r>
              <a:rPr lang="zh-CN" altLang="en-US" sz="1400">
                <a:solidFill>
                  <a:prstClr val="black"/>
                </a:solidFill>
                <a:latin typeface="Huawei Sans" panose="020C0503030203020204" pitchFamily="34" charset="0"/>
                <a:ea typeface="方正兰亭黑简体" panose="02000000000000000000" pitchFamily="2" charset="-122"/>
              </a:rPr>
              <a:t>内网。但</a:t>
            </a:r>
            <a:r>
              <a:rPr lang="zh-CN" altLang="en-US" sz="1400" dirty="0">
                <a:solidFill>
                  <a:prstClr val="black"/>
                </a:solidFill>
                <a:latin typeface="Huawei Sans" panose="020C0503030203020204" pitchFamily="34" charset="0"/>
                <a:ea typeface="方正兰亭黑简体" panose="02000000000000000000" pitchFamily="2" charset="-122"/>
              </a:rPr>
              <a:t>不是所有路由器都支持</a:t>
            </a:r>
            <a:r>
              <a:rPr lang="en-US" altLang="zh-CN" sz="1400" dirty="0">
                <a:solidFill>
                  <a:prstClr val="black"/>
                </a:solidFill>
                <a:latin typeface="Huawei Sans" panose="020C0503030203020204" pitchFamily="34" charset="0"/>
                <a:ea typeface="方正兰亭黑简体" panose="02000000000000000000" pitchFamily="2" charset="-122"/>
              </a:rPr>
              <a:t>SSL VPN</a:t>
            </a:r>
            <a:r>
              <a:rPr lang="zh-CN" altLang="en-US" sz="1400" dirty="0">
                <a:solidFill>
                  <a:prstClr val="black"/>
                </a:solidFill>
                <a:latin typeface="Huawei Sans" panose="020C0503030203020204" pitchFamily="34" charset="0"/>
                <a:ea typeface="方正兰亭黑简体" panose="02000000000000000000" pitchFamily="2" charset="-122"/>
              </a:rPr>
              <a:t>，对于不支持</a:t>
            </a:r>
            <a:r>
              <a:rPr lang="en-US" altLang="zh-CN" sz="1400" dirty="0">
                <a:solidFill>
                  <a:prstClr val="black"/>
                </a:solidFill>
                <a:latin typeface="Huawei Sans" panose="020C0503030203020204" pitchFamily="34" charset="0"/>
                <a:ea typeface="方正兰亭黑简体" panose="02000000000000000000" pitchFamily="2" charset="-122"/>
              </a:rPr>
              <a:t>SSL VPN</a:t>
            </a:r>
            <a:r>
              <a:rPr lang="zh-CN" altLang="en-US" sz="1400" dirty="0">
                <a:solidFill>
                  <a:prstClr val="black"/>
                </a:solidFill>
                <a:latin typeface="Huawei Sans" panose="020C0503030203020204" pitchFamily="34" charset="0"/>
                <a:ea typeface="方正兰亭黑简体" panose="02000000000000000000" pitchFamily="2" charset="-122"/>
              </a:rPr>
              <a:t>的路由器，可使用</a:t>
            </a:r>
            <a:r>
              <a:rPr lang="en-US" altLang="zh-CN" sz="1400" dirty="0">
                <a:solidFill>
                  <a:prstClr val="black"/>
                </a:solidFill>
                <a:latin typeface="Huawei Sans" panose="020C0503030203020204" pitchFamily="34" charset="0"/>
                <a:ea typeface="方正兰亭黑简体" panose="02000000000000000000" pitchFamily="2" charset="-122"/>
              </a:rPr>
              <a:t>L2TP</a:t>
            </a:r>
            <a:r>
              <a:rPr lang="zh-CN" altLang="en-US" sz="1400" dirty="0">
                <a:solidFill>
                  <a:prstClr val="black"/>
                </a:solidFill>
                <a:latin typeface="Huawei Sans" panose="020C0503030203020204" pitchFamily="34" charset="0"/>
                <a:ea typeface="方正兰亭黑简体" panose="02000000000000000000" pitchFamily="2" charset="-122"/>
              </a:rPr>
              <a:t>建立外网对内网的连接。</a:t>
            </a: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6" name="Group 105"/>
          <p:cNvGrpSpPr/>
          <p:nvPr/>
        </p:nvGrpSpPr>
        <p:grpSpPr bwMode="gray">
          <a:xfrm>
            <a:off x="1128914" y="2464378"/>
            <a:ext cx="10002314" cy="2819716"/>
            <a:chOff x="1136814" y="2653602"/>
            <a:chExt cx="10002314" cy="2819716"/>
          </a:xfrm>
        </p:grpSpPr>
        <p:sp>
          <p:nvSpPr>
            <p:cNvPr id="20" name="Rectangle 264"/>
            <p:cNvSpPr>
              <a:spLocks noChangeArrowheads="1"/>
            </p:cNvSpPr>
            <p:nvPr/>
          </p:nvSpPr>
          <p:spPr bwMode="gray">
            <a:xfrm>
              <a:off x="1874395" y="5054694"/>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远程办公</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21" name="Rectangle 265"/>
            <p:cNvSpPr>
              <a:spLocks noChangeArrowheads="1"/>
            </p:cNvSpPr>
            <p:nvPr/>
          </p:nvSpPr>
          <p:spPr bwMode="gray">
            <a:xfrm>
              <a:off x="3442310" y="2694598"/>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合作伙伴</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22" name="Rectangle 266"/>
            <p:cNvSpPr>
              <a:spLocks noChangeArrowheads="1"/>
            </p:cNvSpPr>
            <p:nvPr/>
          </p:nvSpPr>
          <p:spPr bwMode="gray">
            <a:xfrm>
              <a:off x="1847811" y="3052904"/>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移动用户</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36" name="Rectangle 272"/>
            <p:cNvSpPr>
              <a:spLocks noChangeArrowheads="1"/>
            </p:cNvSpPr>
            <p:nvPr/>
          </p:nvSpPr>
          <p:spPr bwMode="gray">
            <a:xfrm>
              <a:off x="6781959" y="4567137"/>
              <a:ext cx="856325" cy="307777"/>
            </a:xfrm>
            <a:prstGeom prst="rect">
              <a:avLst/>
            </a:prstGeom>
            <a:noFill/>
            <a:ln w="9525" algn="ctr">
              <a:noFill/>
              <a:miter lim="800000"/>
              <a:headEnd/>
              <a:tailEnd/>
            </a:ln>
          </p:spPr>
          <p:txBody>
            <a:bodyPr wrap="none">
              <a:spAutoFit/>
            </a:bodyPr>
            <a:lstStyle/>
            <a:p>
              <a:pPr eaLnBrk="0" fontAlgn="ctr" hangingPunct="0">
                <a:buSzPct val="100000"/>
              </a:pPr>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443</a:t>
              </a: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端口</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endParaRPr>
            </a:p>
          </p:txBody>
        </p:sp>
        <p:pic>
          <p:nvPicPr>
            <p:cNvPr id="44" name="图片 34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87698" y="3389830"/>
              <a:ext cx="574456" cy="479754"/>
            </a:xfrm>
            <a:prstGeom prst="rect">
              <a:avLst/>
            </a:prstGeom>
          </p:spPr>
        </p:pic>
        <p:pic>
          <p:nvPicPr>
            <p:cNvPr id="46" name="图片 35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058704" y="4627809"/>
              <a:ext cx="534195" cy="451342"/>
            </a:xfrm>
            <a:prstGeom prst="rect">
              <a:avLst/>
            </a:prstGeom>
          </p:spPr>
        </p:pic>
        <p:sp>
          <p:nvSpPr>
            <p:cNvPr id="54" name="Freeform 159"/>
            <p:cNvSpPr/>
            <p:nvPr/>
          </p:nvSpPr>
          <p:spPr bwMode="gray">
            <a:xfrm flipH="1">
              <a:off x="3828718" y="3691389"/>
              <a:ext cx="1732935" cy="9058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800" dirty="0">
                  <a:solidFill>
                    <a:schemeClr val="tx1"/>
                  </a:solidFill>
                  <a:latin typeface="Huawei Sans" panose="020C0503030203020204" pitchFamily="34" charset="0"/>
                  <a:ea typeface="方正兰亭黑简体" panose="02000000000000000000" pitchFamily="2" charset="-122"/>
                </a:rPr>
                <a:t>I</a:t>
              </a:r>
              <a:r>
                <a:rPr lang="en-US" altLang="zh-CN" sz="1800" dirty="0">
                  <a:solidFill>
                    <a:schemeClr val="tx1"/>
                  </a:solidFill>
                  <a:latin typeface="Huawei Sans" panose="020C0503030203020204" pitchFamily="34" charset="0"/>
                  <a:ea typeface="方正兰亭黑简体" panose="02000000000000000000" pitchFamily="2" charset="-122"/>
                </a:rPr>
                <a:t>nternet</a:t>
              </a:r>
              <a:endParaRPr lang="en-US" sz="1800" dirty="0">
                <a:solidFill>
                  <a:schemeClr val="tx1"/>
                </a:solidFill>
                <a:latin typeface="Huawei Sans" panose="020C0503030203020204" pitchFamily="34" charset="0"/>
                <a:ea typeface="方正兰亭黑简体" panose="02000000000000000000" pitchFamily="2" charset="-122"/>
              </a:endParaRPr>
            </a:p>
          </p:txBody>
        </p:sp>
        <p:sp>
          <p:nvSpPr>
            <p:cNvPr id="58" name="Freeform 159"/>
            <p:cNvSpPr/>
            <p:nvPr/>
          </p:nvSpPr>
          <p:spPr bwMode="gray">
            <a:xfrm flipH="1">
              <a:off x="7122977" y="3638614"/>
              <a:ext cx="1732935" cy="90585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800" dirty="0">
                  <a:solidFill>
                    <a:schemeClr val="tx1"/>
                  </a:solidFill>
                  <a:latin typeface="Huawei Sans" panose="020C0503030203020204" pitchFamily="34" charset="0"/>
                  <a:ea typeface="方正兰亭黑简体" panose="02000000000000000000" pitchFamily="2" charset="-122"/>
                </a:rPr>
                <a:t>总部</a:t>
              </a:r>
              <a:endParaRPr lang="en-US" sz="1800" dirty="0">
                <a:solidFill>
                  <a:schemeClr val="tx1"/>
                </a:solidFill>
                <a:latin typeface="Huawei Sans" panose="020C0503030203020204" pitchFamily="34" charset="0"/>
                <a:ea typeface="方正兰亭黑简体" panose="02000000000000000000" pitchFamily="2" charset="-122"/>
              </a:endParaRPr>
            </a:p>
          </p:txBody>
        </p:sp>
        <p:pic>
          <p:nvPicPr>
            <p:cNvPr id="57"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912920" y="4086050"/>
              <a:ext cx="540000" cy="442800"/>
            </a:xfrm>
            <a:prstGeom prst="rect">
              <a:avLst/>
            </a:prstGeom>
          </p:spPr>
        </p:pic>
        <p:cxnSp>
          <p:nvCxnSpPr>
            <p:cNvPr id="59" name="Straight Connector 58"/>
            <p:cNvCxnSpPr>
              <a:stCxn id="56" idx="2"/>
              <a:endCxn id="54" idx="0"/>
            </p:cNvCxnSpPr>
            <p:nvPr/>
          </p:nvCxnSpPr>
          <p:spPr bwMode="gray">
            <a:xfrm>
              <a:off x="3845720" y="3429000"/>
              <a:ext cx="662477" cy="262389"/>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62" name="Straight Connector 61"/>
            <p:cNvCxnSpPr>
              <a:stCxn id="45" idx="1"/>
              <a:endCxn id="54" idx="24"/>
            </p:cNvCxnSpPr>
            <p:nvPr/>
          </p:nvCxnSpPr>
          <p:spPr bwMode="gray">
            <a:xfrm>
              <a:off x="2523637" y="3608986"/>
              <a:ext cx="1564279" cy="427969"/>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45" name="图片 349" descr="SAN网络-蓝.png"/>
            <p:cNvPicPr>
              <a:picLocks noChangeAspect="1"/>
            </p:cNvPicPr>
            <p:nvPr/>
          </p:nvPicPr>
          <p:blipFill>
            <a:blip r:embed="rId5" cstate="print"/>
            <a:stretch>
              <a:fillRect/>
            </a:stretch>
          </p:blipFill>
          <p:spPr bwMode="gray">
            <a:xfrm>
              <a:off x="2523637" y="3389830"/>
              <a:ext cx="267540" cy="438311"/>
            </a:xfrm>
            <a:prstGeom prst="rect">
              <a:avLst/>
            </a:prstGeom>
          </p:spPr>
        </p:pic>
        <p:cxnSp>
          <p:nvCxnSpPr>
            <p:cNvPr id="66" name="Straight Connector 65"/>
            <p:cNvCxnSpPr>
              <a:stCxn id="42" idx="3"/>
              <a:endCxn id="54" idx="21"/>
            </p:cNvCxnSpPr>
            <p:nvPr/>
          </p:nvCxnSpPr>
          <p:spPr bwMode="gray">
            <a:xfrm>
              <a:off x="2572180" y="4270457"/>
              <a:ext cx="1256538" cy="56024"/>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69" name="Straight Connector 68"/>
            <p:cNvCxnSpPr>
              <a:stCxn id="46" idx="3"/>
              <a:endCxn id="54" idx="20"/>
            </p:cNvCxnSpPr>
            <p:nvPr/>
          </p:nvCxnSpPr>
          <p:spPr bwMode="gray">
            <a:xfrm flipV="1">
              <a:off x="2592899" y="4591743"/>
              <a:ext cx="1450120" cy="261737"/>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77" name="Straight Connector 76"/>
            <p:cNvCxnSpPr>
              <a:stCxn id="57" idx="1"/>
              <a:endCxn id="54" idx="8"/>
            </p:cNvCxnSpPr>
            <p:nvPr/>
          </p:nvCxnSpPr>
          <p:spPr bwMode="gray">
            <a:xfrm flipH="1">
              <a:off x="5561653" y="4307450"/>
              <a:ext cx="1351267" cy="2543"/>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9" name="Rectangle 247"/>
            <p:cNvSpPr>
              <a:spLocks noChangeArrowheads="1"/>
            </p:cNvSpPr>
            <p:nvPr/>
          </p:nvSpPr>
          <p:spPr bwMode="gray">
            <a:xfrm>
              <a:off x="8860058" y="4142713"/>
              <a:ext cx="1072463" cy="307777"/>
            </a:xfrm>
            <a:prstGeom prst="rect">
              <a:avLst/>
            </a:prstGeom>
            <a:noFill/>
            <a:ln w="9525" algn="ctr">
              <a:noFill/>
              <a:miter lim="800000"/>
              <a:headEnd/>
              <a:tailEnd/>
            </a:ln>
          </p:spPr>
          <p:txBody>
            <a:bodyPr wrap="squar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网页服务器</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10" name="Rectangle 248"/>
            <p:cNvSpPr>
              <a:spLocks noChangeArrowheads="1"/>
            </p:cNvSpPr>
            <p:nvPr/>
          </p:nvSpPr>
          <p:spPr bwMode="gray">
            <a:xfrm>
              <a:off x="8889427" y="3166001"/>
              <a:ext cx="452368" cy="307777"/>
            </a:xfrm>
            <a:prstGeom prst="rect">
              <a:avLst/>
            </a:prstGeom>
            <a:noFill/>
            <a:ln w="9525" algn="ctr">
              <a:noFill/>
              <a:miter lim="800000"/>
              <a:headEnd/>
              <a:tailEnd/>
            </a:ln>
          </p:spPr>
          <p:txBody>
            <a:bodyPr wrap="none">
              <a:spAutoFit/>
            </a:bodyPr>
            <a:lstStyle/>
            <a:p>
              <a:pPr eaLnBrk="0" fontAlgn="ctr" hangingPunct="0">
                <a:buSzPct val="100000"/>
              </a:pPr>
              <a:r>
                <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rPr>
                <a:t>OA</a:t>
              </a:r>
            </a:p>
          </p:txBody>
        </p:sp>
        <p:sp>
          <p:nvSpPr>
            <p:cNvPr id="11" name="Rectangle 249"/>
            <p:cNvSpPr>
              <a:spLocks noChangeArrowheads="1"/>
            </p:cNvSpPr>
            <p:nvPr/>
          </p:nvSpPr>
          <p:spPr bwMode="gray">
            <a:xfrm>
              <a:off x="8871817" y="2723062"/>
              <a:ext cx="1082348"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邮件服务器</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16" name="Rectangle 259"/>
            <p:cNvSpPr>
              <a:spLocks noChangeArrowheads="1"/>
            </p:cNvSpPr>
            <p:nvPr/>
          </p:nvSpPr>
          <p:spPr bwMode="gray">
            <a:xfrm>
              <a:off x="8865352" y="3667031"/>
              <a:ext cx="510076" cy="307777"/>
            </a:xfrm>
            <a:prstGeom prst="rect">
              <a:avLst/>
            </a:prstGeom>
            <a:noFill/>
            <a:ln w="9525" algn="ctr">
              <a:noFill/>
              <a:miter lim="800000"/>
              <a:headEnd/>
              <a:tailEnd/>
            </a:ln>
          </p:spPr>
          <p:txBody>
            <a:bodyPr wrap="none">
              <a:spAutoFit/>
            </a:bodyPr>
            <a:lstStyle/>
            <a:p>
              <a:pPr eaLnBrk="0" fontAlgn="ctr" hangingPunct="0">
                <a:buSzPct val="100000"/>
              </a:pPr>
              <a:r>
                <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rPr>
                <a:t>ERP</a:t>
              </a:r>
            </a:p>
          </p:txBody>
        </p:sp>
        <p:sp>
          <p:nvSpPr>
            <p:cNvPr id="25" name="Rectangle 486"/>
            <p:cNvSpPr>
              <a:spLocks noChangeArrowheads="1"/>
            </p:cNvSpPr>
            <p:nvPr/>
          </p:nvSpPr>
          <p:spPr bwMode="gray">
            <a:xfrm>
              <a:off x="8850954" y="4711598"/>
              <a:ext cx="1214437" cy="307777"/>
            </a:xfrm>
            <a:prstGeom prst="rect">
              <a:avLst/>
            </a:prstGeom>
            <a:noFill/>
            <a:ln w="9525" algn="ctr">
              <a:noFill/>
              <a:miter lim="800000"/>
              <a:headEnd/>
              <a:tailEnd/>
            </a:ln>
          </p:spPr>
          <p:txBody>
            <a:bodyPr>
              <a:spAutoFit/>
            </a:bodyPr>
            <a:lstStyle/>
            <a:p>
              <a:pPr eaLnBrk="0" fontAlgn="ctr" hangingPunct="0">
                <a:buSzPct val="100000"/>
              </a:pPr>
              <a:r>
                <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rPr>
                <a:t>FTP</a:t>
              </a: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服务器</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26" name="Rectangle 487"/>
            <p:cNvSpPr>
              <a:spLocks noChangeArrowheads="1"/>
            </p:cNvSpPr>
            <p:nvPr/>
          </p:nvSpPr>
          <p:spPr bwMode="gray">
            <a:xfrm>
              <a:off x="8850954" y="5141550"/>
              <a:ext cx="1271451" cy="307777"/>
            </a:xfrm>
            <a:prstGeom prst="rect">
              <a:avLst/>
            </a:prstGeom>
            <a:noFill/>
            <a:ln w="9525" algn="ctr">
              <a:noFill/>
              <a:miter lim="800000"/>
              <a:headEnd/>
              <a:tailEnd/>
            </a:ln>
          </p:spPr>
          <p:txBody>
            <a:bodyPr wrap="squar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网管系统</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pic>
          <p:nvPicPr>
            <p:cNvPr id="48" name="图片 35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8421155" y="2653602"/>
              <a:ext cx="471475" cy="383543"/>
            </a:xfrm>
            <a:prstGeom prst="rect">
              <a:avLst/>
            </a:prstGeom>
          </p:spPr>
        </p:pic>
        <p:pic>
          <p:nvPicPr>
            <p:cNvPr id="49" name="图片 354"/>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8419406" y="3623215"/>
              <a:ext cx="445946" cy="388228"/>
            </a:xfrm>
            <a:prstGeom prst="rect">
              <a:avLst/>
            </a:prstGeom>
          </p:spPr>
        </p:pic>
        <p:pic>
          <p:nvPicPr>
            <p:cNvPr id="50" name="图片 355"/>
            <p:cNvPicPr>
              <a:picLocks/>
            </p:cNvPicPr>
            <p:nvPr/>
          </p:nvPicPr>
          <p:blipFill>
            <a:blip r:embed="rId8" cstate="print">
              <a:extLst>
                <a:ext uri="{28A0092B-C50C-407E-A947-70E740481C1C}">
                  <a14:useLocalDpi xmlns:a14="http://schemas.microsoft.com/office/drawing/2010/main" val="0"/>
                </a:ext>
              </a:extLst>
            </a:blip>
            <a:stretch>
              <a:fillRect/>
            </a:stretch>
          </p:blipFill>
          <p:spPr bwMode="gray">
            <a:xfrm>
              <a:off x="8416464" y="4111882"/>
              <a:ext cx="458327" cy="387750"/>
            </a:xfrm>
            <a:prstGeom prst="rect">
              <a:avLst/>
            </a:prstGeom>
          </p:spPr>
        </p:pic>
        <p:pic>
          <p:nvPicPr>
            <p:cNvPr id="51" name="图片 356"/>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8436756" y="5086783"/>
              <a:ext cx="444001" cy="386535"/>
            </a:xfrm>
            <a:prstGeom prst="rect">
              <a:avLst/>
            </a:prstGeom>
          </p:spPr>
        </p:pic>
        <p:pic>
          <p:nvPicPr>
            <p:cNvPr id="52" name="图片 357"/>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8419810" y="3133460"/>
              <a:ext cx="472820" cy="404715"/>
            </a:xfrm>
            <a:prstGeom prst="rect">
              <a:avLst/>
            </a:prstGeom>
          </p:spPr>
        </p:pic>
        <p:pic>
          <p:nvPicPr>
            <p:cNvPr id="53" name="图片 358"/>
            <p:cNvPicPr>
              <a:picLocks/>
            </p:cNvPicPr>
            <p:nvPr/>
          </p:nvPicPr>
          <p:blipFill>
            <a:blip r:embed="rId9" cstate="print">
              <a:extLst>
                <a:ext uri="{28A0092B-C50C-407E-A947-70E740481C1C}">
                  <a14:useLocalDpi xmlns:a14="http://schemas.microsoft.com/office/drawing/2010/main" val="0"/>
                </a:ext>
              </a:extLst>
            </a:blip>
            <a:stretch>
              <a:fillRect/>
            </a:stretch>
          </p:blipFill>
          <p:spPr bwMode="gray">
            <a:xfrm>
              <a:off x="8433948" y="4569707"/>
              <a:ext cx="440843" cy="377344"/>
            </a:xfrm>
            <a:prstGeom prst="rect">
              <a:avLst/>
            </a:prstGeom>
          </p:spPr>
        </p:pic>
        <p:cxnSp>
          <p:nvCxnSpPr>
            <p:cNvPr id="81" name="Straight Connector 80"/>
            <p:cNvCxnSpPr>
              <a:stCxn id="50" idx="1"/>
              <a:endCxn id="57" idx="3"/>
            </p:cNvCxnSpPr>
            <p:nvPr/>
          </p:nvCxnSpPr>
          <p:spPr bwMode="gray">
            <a:xfrm flipH="1">
              <a:off x="7452920" y="4305757"/>
              <a:ext cx="963544" cy="1693"/>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34" name="Freeform 889"/>
            <p:cNvSpPr>
              <a:spLocks/>
            </p:cNvSpPr>
            <p:nvPr/>
          </p:nvSpPr>
          <p:spPr bwMode="gray">
            <a:xfrm>
              <a:off x="3072936" y="4215625"/>
              <a:ext cx="5576861" cy="211779"/>
            </a:xfrm>
            <a:custGeom>
              <a:avLst/>
              <a:gdLst>
                <a:gd name="T0" fmla="*/ 0 w 3674"/>
                <a:gd name="T1" fmla="*/ 2147483647 h 536"/>
                <a:gd name="T2" fmla="*/ 2147483647 w 3674"/>
                <a:gd name="T3" fmla="*/ 2147483647 h 536"/>
                <a:gd name="T4" fmla="*/ 2147483647 w 3674"/>
                <a:gd name="T5" fmla="*/ 2147483647 h 536"/>
                <a:gd name="T6" fmla="*/ 2147483647 w 3674"/>
                <a:gd name="T7" fmla="*/ 2147483647 h 536"/>
                <a:gd name="T8" fmla="*/ 2147483647 w 3674"/>
                <a:gd name="T9" fmla="*/ 2147483647 h 536"/>
                <a:gd name="T10" fmla="*/ 2147483647 w 3674"/>
                <a:gd name="T11" fmla="*/ 2147483647 h 536"/>
                <a:gd name="T12" fmla="*/ 2147483647 w 3674"/>
                <a:gd name="T13" fmla="*/ 2147483647 h 536"/>
                <a:gd name="T14" fmla="*/ 2147483647 w 3674"/>
                <a:gd name="T15" fmla="*/ 2147483647 h 536"/>
                <a:gd name="T16" fmla="*/ 0 60000 65536"/>
                <a:gd name="T17" fmla="*/ 0 60000 65536"/>
                <a:gd name="T18" fmla="*/ 0 60000 65536"/>
                <a:gd name="T19" fmla="*/ 0 60000 65536"/>
                <a:gd name="T20" fmla="*/ 0 60000 65536"/>
                <a:gd name="T21" fmla="*/ 0 60000 65536"/>
                <a:gd name="T22" fmla="*/ 0 60000 65536"/>
                <a:gd name="T23" fmla="*/ 0 60000 65536"/>
                <a:gd name="T24" fmla="*/ 0 w 3674"/>
                <a:gd name="T25" fmla="*/ 0 h 536"/>
                <a:gd name="T26" fmla="*/ 3674 w 3674"/>
                <a:gd name="T27" fmla="*/ 536 h 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74" h="536">
                  <a:moveTo>
                    <a:pt x="0" y="286"/>
                  </a:moveTo>
                  <a:cubicBezTo>
                    <a:pt x="450" y="362"/>
                    <a:pt x="900" y="438"/>
                    <a:pt x="1270" y="468"/>
                  </a:cubicBezTo>
                  <a:cubicBezTo>
                    <a:pt x="1640" y="498"/>
                    <a:pt x="2003" y="468"/>
                    <a:pt x="2222" y="468"/>
                  </a:cubicBezTo>
                  <a:cubicBezTo>
                    <a:pt x="2441" y="468"/>
                    <a:pt x="2524" y="536"/>
                    <a:pt x="2585" y="468"/>
                  </a:cubicBezTo>
                  <a:cubicBezTo>
                    <a:pt x="2646" y="400"/>
                    <a:pt x="2562" y="120"/>
                    <a:pt x="2585" y="60"/>
                  </a:cubicBezTo>
                  <a:cubicBezTo>
                    <a:pt x="2608" y="0"/>
                    <a:pt x="2698" y="37"/>
                    <a:pt x="2721" y="105"/>
                  </a:cubicBezTo>
                  <a:cubicBezTo>
                    <a:pt x="2744" y="173"/>
                    <a:pt x="2562" y="483"/>
                    <a:pt x="2721" y="468"/>
                  </a:cubicBezTo>
                  <a:cubicBezTo>
                    <a:pt x="2880" y="453"/>
                    <a:pt x="3277" y="233"/>
                    <a:pt x="3674" y="14"/>
                  </a:cubicBezTo>
                </a:path>
              </a:pathLst>
            </a:custGeom>
            <a:noFill/>
            <a:ln w="50800">
              <a:solidFill>
                <a:srgbClr val="E28189"/>
              </a:solidFill>
              <a:round/>
              <a:headEnd/>
              <a:tailEnd type="triangle" w="med" len="med"/>
            </a:ln>
          </p:spPr>
          <p:txBody>
            <a:bodyPr/>
            <a:lstStyle/>
            <a:p>
              <a:endParaRPr lang="zh-CN" altLang="en-US" sz="1400">
                <a:latin typeface="Huawei Sans" panose="020C0503030203020204" pitchFamily="34" charset="0"/>
                <a:ea typeface="方正兰亭黑简体" panose="02000000000000000000" pitchFamily="2" charset="-122"/>
              </a:endParaRPr>
            </a:p>
          </p:txBody>
        </p:sp>
        <p:sp>
          <p:nvSpPr>
            <p:cNvPr id="87" name="Freeform 159"/>
            <p:cNvSpPr/>
            <p:nvPr/>
          </p:nvSpPr>
          <p:spPr bwMode="gray">
            <a:xfrm flipH="1">
              <a:off x="1136814" y="3940013"/>
              <a:ext cx="1043435" cy="5454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分支用户</a:t>
              </a:r>
              <a:endParaRPr lang="en-US" sz="1400" dirty="0">
                <a:solidFill>
                  <a:schemeClr val="tx1"/>
                </a:solidFill>
                <a:latin typeface="Huawei Sans" panose="020C0503030203020204" pitchFamily="34" charset="0"/>
                <a:ea typeface="方正兰亭黑简体" panose="02000000000000000000" pitchFamily="2" charset="-122"/>
              </a:endParaRPr>
            </a:p>
          </p:txBody>
        </p:sp>
        <p:pic>
          <p:nvPicPr>
            <p:cNvPr id="42" name="图片 346"/>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2029501" y="4065462"/>
              <a:ext cx="542679" cy="409990"/>
            </a:xfrm>
            <a:prstGeom prst="rect">
              <a:avLst/>
            </a:prstGeom>
          </p:spPr>
        </p:pic>
        <p:sp>
          <p:nvSpPr>
            <p:cNvPr id="88" name="Freeform 159"/>
            <p:cNvSpPr/>
            <p:nvPr/>
          </p:nvSpPr>
          <p:spPr bwMode="gray">
            <a:xfrm flipH="1">
              <a:off x="2681367" y="2878043"/>
              <a:ext cx="1043435" cy="54543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合作伙伴</a:t>
              </a:r>
              <a:endParaRPr lang="en-US" sz="1400" dirty="0">
                <a:solidFill>
                  <a:schemeClr val="tx1"/>
                </a:solidFill>
                <a:latin typeface="Huawei Sans" panose="020C0503030203020204" pitchFamily="34" charset="0"/>
                <a:ea typeface="方正兰亭黑简体" panose="02000000000000000000" pitchFamily="2" charset="-122"/>
              </a:endParaRPr>
            </a:p>
          </p:txBody>
        </p:sp>
        <p:pic>
          <p:nvPicPr>
            <p:cNvPr id="56" name="图片 67"/>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3575720" y="2986200"/>
              <a:ext cx="540000" cy="442800"/>
            </a:xfrm>
            <a:prstGeom prst="rect">
              <a:avLst/>
            </a:prstGeom>
          </p:spPr>
        </p:pic>
        <p:sp>
          <p:nvSpPr>
            <p:cNvPr id="89" name="Right Brace 88"/>
            <p:cNvSpPr/>
            <p:nvPr/>
          </p:nvSpPr>
          <p:spPr bwMode="gray">
            <a:xfrm>
              <a:off x="9954165" y="2845373"/>
              <a:ext cx="198176" cy="1076289"/>
            </a:xfrm>
            <a:prstGeom prst="rightBrace">
              <a:avLst/>
            </a:prstGeom>
            <a:ln w="1905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endParaRPr>
            </a:p>
          </p:txBody>
        </p:sp>
        <p:sp>
          <p:nvSpPr>
            <p:cNvPr id="90" name="Rectangle 249"/>
            <p:cNvSpPr>
              <a:spLocks noChangeArrowheads="1"/>
            </p:cNvSpPr>
            <p:nvPr/>
          </p:nvSpPr>
          <p:spPr bwMode="gray">
            <a:xfrm>
              <a:off x="10223537" y="3214803"/>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网络扩展</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cxnSp>
          <p:nvCxnSpPr>
            <p:cNvPr id="93" name="Straight Connector 92"/>
            <p:cNvCxnSpPr>
              <a:stCxn id="9" idx="3"/>
            </p:cNvCxnSpPr>
            <p:nvPr/>
          </p:nvCxnSpPr>
          <p:spPr bwMode="gray">
            <a:xfrm>
              <a:off x="9932521" y="4296602"/>
              <a:ext cx="291016"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95" name="Rectangle 249"/>
            <p:cNvSpPr>
              <a:spLocks noChangeArrowheads="1"/>
            </p:cNvSpPr>
            <p:nvPr/>
          </p:nvSpPr>
          <p:spPr bwMode="gray">
            <a:xfrm>
              <a:off x="10220235" y="4129671"/>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网页代理</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cxnSp>
          <p:nvCxnSpPr>
            <p:cNvPr id="96" name="Straight Connector 95"/>
            <p:cNvCxnSpPr/>
            <p:nvPr/>
          </p:nvCxnSpPr>
          <p:spPr bwMode="gray">
            <a:xfrm>
              <a:off x="9939091" y="4852273"/>
              <a:ext cx="291016"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97" name="Rectangle 249"/>
            <p:cNvSpPr>
              <a:spLocks noChangeArrowheads="1"/>
            </p:cNvSpPr>
            <p:nvPr/>
          </p:nvSpPr>
          <p:spPr bwMode="gray">
            <a:xfrm>
              <a:off x="10226805" y="4704392"/>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文件分享</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cxnSp>
          <p:nvCxnSpPr>
            <p:cNvPr id="98" name="Straight Connector 97"/>
            <p:cNvCxnSpPr/>
            <p:nvPr/>
          </p:nvCxnSpPr>
          <p:spPr bwMode="gray">
            <a:xfrm>
              <a:off x="9948603" y="5272764"/>
              <a:ext cx="291016"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99" name="Rectangle 249"/>
            <p:cNvSpPr>
              <a:spLocks noChangeArrowheads="1"/>
            </p:cNvSpPr>
            <p:nvPr/>
          </p:nvSpPr>
          <p:spPr bwMode="gray">
            <a:xfrm>
              <a:off x="10236317" y="5143933"/>
              <a:ext cx="902811" cy="307777"/>
            </a:xfrm>
            <a:prstGeom prst="rect">
              <a:avLst/>
            </a:prstGeom>
            <a:noFill/>
            <a:ln w="9525" algn="ctr">
              <a:noFill/>
              <a:miter lim="800000"/>
              <a:headEnd/>
              <a:tailEnd/>
            </a:ln>
          </p:spPr>
          <p:txBody>
            <a:bodyPr wrap="none">
              <a:spAutoFit/>
            </a:bodyPr>
            <a:lstStyle/>
            <a:p>
              <a:pPr eaLnBrk="0" fontAlgn="ctr" hangingPunct="0">
                <a:buSzPct val="100000"/>
              </a:pPr>
              <a:r>
                <a:rPr lang="zh-CN" altLang="en-US" sz="1400" dirty="0">
                  <a:latin typeface="Huawei Sans" panose="020C0503030203020204" pitchFamily="34" charset="0"/>
                  <a:ea typeface="方正兰亭黑简体" panose="02000000000000000000" pitchFamily="2" charset="-122"/>
                  <a:cs typeface="Arial" pitchFamily="34" charset="0"/>
                  <a:sym typeface="FrutigerNext LT Regular"/>
                </a:rPr>
                <a:t>端口转发</a:t>
              </a:r>
              <a:endParaRPr lang="en-US" altLang="zh-CN" sz="1400" dirty="0">
                <a:latin typeface="Huawei Sans" panose="020C0503030203020204" pitchFamily="34" charset="0"/>
                <a:ea typeface="方正兰亭黑简体" panose="02000000000000000000" pitchFamily="2" charset="-122"/>
                <a:cs typeface="Arial" pitchFamily="34" charset="0"/>
                <a:sym typeface="FrutigerNext LT Regular"/>
              </a:endParaRPr>
            </a:p>
          </p:txBody>
        </p:sp>
        <p:sp>
          <p:nvSpPr>
            <p:cNvPr id="105" name="Rectangle 272"/>
            <p:cNvSpPr>
              <a:spLocks noChangeArrowheads="1"/>
            </p:cNvSpPr>
            <p:nvPr/>
          </p:nvSpPr>
          <p:spPr bwMode="gray">
            <a:xfrm>
              <a:off x="6750046" y="3762654"/>
              <a:ext cx="827471" cy="307777"/>
            </a:xfrm>
            <a:prstGeom prst="rect">
              <a:avLst/>
            </a:prstGeom>
            <a:noFill/>
            <a:ln w="9525" algn="ctr">
              <a:noFill/>
              <a:miter lim="800000"/>
              <a:headEnd/>
              <a:tailEnd/>
            </a:ln>
          </p:spPr>
          <p:txBody>
            <a:bodyPr wrap="none">
              <a:spAutoFit/>
            </a:bodyPr>
            <a:lstStyle/>
            <a:p>
              <a:pPr eaLnBrk="0" fontAlgn="ctr" hangingPunct="0">
                <a:buSzPct val="100000"/>
              </a:pPr>
              <a:r>
                <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SSL</a:t>
              </a:r>
              <a:r>
                <a:rPr lang="zh-CN" altLang="en-US"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rPr>
                <a:t>网关</a:t>
              </a:r>
              <a:endParaRPr lang="en-US" altLang="zh-CN" sz="1400" dirty="0">
                <a:solidFill>
                  <a:srgbClr val="000000"/>
                </a:solidFill>
                <a:latin typeface="Huawei Sans" panose="020C0503030203020204" pitchFamily="34" charset="0"/>
                <a:ea typeface="方正兰亭黑简体" panose="02000000000000000000" pitchFamily="2" charset="-122"/>
                <a:cs typeface="Arial" pitchFamily="34" charset="0"/>
                <a:sym typeface="FrutigerNext LT Regular"/>
              </a:endParaRPr>
            </a:p>
          </p:txBody>
        </p:sp>
      </p:grpSp>
      <p:grpSp>
        <p:nvGrpSpPr>
          <p:cNvPr id="65" name="Group 64"/>
          <p:cNvGrpSpPr/>
          <p:nvPr/>
        </p:nvGrpSpPr>
        <p:grpSpPr bwMode="gray">
          <a:xfrm>
            <a:off x="7219312" y="77730"/>
            <a:ext cx="4455174" cy="218510"/>
            <a:chOff x="6465362" y="121552"/>
            <a:chExt cx="4455174" cy="218510"/>
          </a:xfrm>
        </p:grpSpPr>
        <p:sp>
          <p:nvSpPr>
            <p:cNvPr id="67" name="五边形 24"/>
            <p:cNvSpPr/>
            <p:nvPr/>
          </p:nvSpPr>
          <p:spPr bwMode="gray">
            <a:xfrm>
              <a:off x="6465362" y="121552"/>
              <a:ext cx="1526032" cy="213120"/>
            </a:xfrm>
            <a:prstGeom prst="homePlate">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Access VPN</a:t>
              </a:r>
              <a:r>
                <a:rPr lang="zh-CN" altLang="en-US" sz="1200" kern="0" dirty="0">
                  <a:latin typeface="Huawei Sans" panose="020C0503030203020204" pitchFamily="34" charset="0"/>
                  <a:ea typeface="方正兰亭黑简体" panose="02000000000000000000" pitchFamily="2" charset="-122"/>
                </a:rPr>
                <a:t>介绍</a:t>
              </a:r>
            </a:p>
          </p:txBody>
        </p:sp>
        <p:sp>
          <p:nvSpPr>
            <p:cNvPr id="68" name="燕尾形 25"/>
            <p:cNvSpPr/>
            <p:nvPr/>
          </p:nvSpPr>
          <p:spPr bwMode="gray">
            <a:xfrm>
              <a:off x="7930375" y="121552"/>
              <a:ext cx="1538223" cy="211431"/>
            </a:xfrm>
            <a:prstGeom prst="chevron">
              <a:avLst/>
            </a:prstGeom>
            <a:solidFill>
              <a:srgbClr val="D9D9D9"/>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kern="0" dirty="0">
                  <a:latin typeface="Huawei Sans" panose="020C0503030203020204" pitchFamily="34" charset="0"/>
                  <a:ea typeface="方正兰亭黑简体" panose="02000000000000000000" pitchFamily="2" charset="-122"/>
                </a:rPr>
                <a:t>Intranet VPN</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70" name="燕尾形 26"/>
            <p:cNvSpPr/>
            <p:nvPr/>
          </p:nvSpPr>
          <p:spPr bwMode="gray">
            <a:xfrm>
              <a:off x="9396589" y="121552"/>
              <a:ext cx="1523947"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lang="en-US" altLang="zh-CN" sz="1200" b="1" kern="0" dirty="0">
                  <a:solidFill>
                    <a:schemeClr val="bg1"/>
                  </a:solidFill>
                  <a:latin typeface="Huawei Sans" panose="020C0503030203020204" pitchFamily="34" charset="0"/>
                  <a:ea typeface="方正兰亭黑简体" panose="02000000000000000000" pitchFamily="2" charset="-122"/>
                </a:rPr>
                <a:t>Extranet VPN</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21145495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dirty="0">
                <a:solidFill>
                  <a:schemeClr val="bg1">
                    <a:lumMod val="50000"/>
                  </a:schemeClr>
                </a:solidFill>
              </a:rPr>
              <a:t>广域互联组网技术应用</a:t>
            </a:r>
            <a:endParaRPr lang="en-US" altLang="zh-CN" dirty="0">
              <a:solidFill>
                <a:schemeClr val="bg1">
                  <a:lumMod val="50000"/>
                </a:schemeClr>
              </a:solidFill>
            </a:endParaRPr>
          </a:p>
          <a:p>
            <a:r>
              <a:rPr lang="zh-CN" altLang="en-US" b="1" dirty="0"/>
              <a:t>广域互联高可靠性技术应用</a:t>
            </a:r>
            <a:endParaRPr lang="en-US" altLang="zh-CN" b="1" dirty="0"/>
          </a:p>
          <a:p>
            <a:pPr lvl="1">
              <a:buSzPct val="60000"/>
              <a:buFont typeface="Wingdings" panose="05000000000000000000" pitchFamily="2" charset="2"/>
              <a:buChar char="n"/>
            </a:pPr>
            <a:r>
              <a:rPr lang="zh-CN" altLang="en-US" dirty="0"/>
              <a:t>链路探测技术应用</a:t>
            </a:r>
            <a:endParaRPr lang="en-US" altLang="zh-CN" dirty="0"/>
          </a:p>
          <a:p>
            <a:pPr lvl="1"/>
            <a:r>
              <a:rPr lang="zh-CN" altLang="en-US" dirty="0">
                <a:solidFill>
                  <a:schemeClr val="bg1">
                    <a:lumMod val="50000"/>
                  </a:schemeClr>
                </a:solidFill>
              </a:rPr>
              <a:t>网络与业务可靠性技术应用</a:t>
            </a:r>
            <a:endParaRPr lang="en-US" altLang="zh-CN" dirty="0">
              <a:solidFill>
                <a:schemeClr val="bg1">
                  <a:lumMod val="50000"/>
                </a:schemeClr>
              </a:solidFill>
            </a:endParaRPr>
          </a:p>
          <a:p>
            <a:r>
              <a:rPr lang="zh-CN" altLang="en-US" dirty="0">
                <a:solidFill>
                  <a:schemeClr val="bg1">
                    <a:lumMod val="50000"/>
                  </a:schemeClr>
                </a:solidFill>
              </a:rPr>
              <a:t>广域互联优化技术应用</a:t>
            </a:r>
            <a:endParaRPr lang="en-US" altLang="zh-CN" dirty="0">
              <a:solidFill>
                <a:schemeClr val="bg1">
                  <a:lumMod val="50000"/>
                </a:schemeClr>
              </a:solidFill>
            </a:endParaRPr>
          </a:p>
        </p:txBody>
      </p:sp>
    </p:spTree>
    <p:extLst>
      <p:ext uri="{BB962C8B-B14F-4D97-AF65-F5344CB8AC3E}">
        <p14:creationId xmlns:p14="http://schemas.microsoft.com/office/powerpoint/2010/main" val="1677824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D3F6E0-D19B-49EC-B336-4424DA33B678}"/>
              </a:ext>
            </a:extLst>
          </p:cNvPr>
          <p:cNvSpPr>
            <a:spLocks noGrp="1"/>
          </p:cNvSpPr>
          <p:nvPr>
            <p:ph type="title"/>
          </p:nvPr>
        </p:nvSpPr>
        <p:spPr bwMode="gray"/>
        <p:txBody>
          <a:bodyPr/>
          <a:lstStyle/>
          <a:p>
            <a:r>
              <a:rPr lang="zh-CN" altLang="en-US" dirty="0"/>
              <a:t>链路探测技术简介</a:t>
            </a:r>
            <a:endParaRPr lang="en-US" dirty="0"/>
          </a:p>
        </p:txBody>
      </p:sp>
      <p:sp>
        <p:nvSpPr>
          <p:cNvPr id="4" name="Text Placeholder 3">
            <a:extLst>
              <a:ext uri="{FF2B5EF4-FFF2-40B4-BE49-F238E27FC236}">
                <a16:creationId xmlns:a16="http://schemas.microsoft.com/office/drawing/2014/main" id="{D253E6FC-811A-4B8A-9F2D-6B8E38B0B804}"/>
              </a:ext>
            </a:extLst>
          </p:cNvPr>
          <p:cNvSpPr>
            <a:spLocks noGrp="1"/>
          </p:cNvSpPr>
          <p:nvPr>
            <p:ph type="body" sz="quarter" idx="10"/>
          </p:nvPr>
        </p:nvSpPr>
        <p:spPr bwMode="gray"/>
        <p:txBody>
          <a:bodyPr/>
          <a:lstStyle/>
          <a:p>
            <a:r>
              <a:rPr lang="zh-CN" altLang="en-US" sz="1800" dirty="0"/>
              <a:t>网络链路质量的波动会影响业务质量，而如何快速地感知链路质量波动是改善链路质量的第一步。</a:t>
            </a:r>
            <a:endParaRPr lang="en-US" altLang="zh-CN" sz="1800" dirty="0"/>
          </a:p>
          <a:p>
            <a:r>
              <a:rPr lang="zh-CN" altLang="en-US" sz="1800" dirty="0"/>
              <a:t>探测链路质量的协议和技术有很多，基本可以分为两大类：</a:t>
            </a:r>
            <a:endParaRPr lang="en-US" altLang="zh-CN" sz="1800" dirty="0"/>
          </a:p>
          <a:p>
            <a:pPr lvl="1"/>
            <a:r>
              <a:rPr lang="zh-CN" altLang="en-US" sz="1600" dirty="0"/>
              <a:t>链路连通性检测技术，主要有：</a:t>
            </a:r>
            <a:endParaRPr lang="en-US" altLang="zh-CN" sz="1600" dirty="0"/>
          </a:p>
          <a:p>
            <a:pPr lvl="2"/>
            <a:r>
              <a:rPr lang="en-US" sz="1400" dirty="0" err="1"/>
              <a:t>BFD（Bidirectional</a:t>
            </a:r>
            <a:r>
              <a:rPr lang="en-US" sz="1400" dirty="0"/>
              <a:t> Forwarding Detection</a:t>
            </a:r>
            <a:r>
              <a:rPr lang="zh-CN" altLang="en-US" sz="1400" dirty="0"/>
              <a:t>，双向转发检测</a:t>
            </a:r>
            <a:r>
              <a:rPr lang="en-US" sz="1400" dirty="0"/>
              <a:t>）</a:t>
            </a:r>
          </a:p>
          <a:p>
            <a:pPr lvl="2"/>
            <a:r>
              <a:rPr lang="en-US" sz="1400" dirty="0" err="1"/>
              <a:t>EFM（Ethernet</a:t>
            </a:r>
            <a:r>
              <a:rPr lang="en-US" sz="1400" dirty="0"/>
              <a:t> in the First Mile</a:t>
            </a:r>
            <a:r>
              <a:rPr lang="zh-CN" altLang="en-US" sz="1400" dirty="0"/>
              <a:t>，最后一公里以太网</a:t>
            </a:r>
            <a:r>
              <a:rPr lang="en-US" sz="1400" dirty="0"/>
              <a:t>）</a:t>
            </a:r>
          </a:p>
          <a:p>
            <a:pPr lvl="2"/>
            <a:r>
              <a:rPr lang="en-US" sz="1400" dirty="0" err="1"/>
              <a:t>CFM（Connectivity</a:t>
            </a:r>
            <a:r>
              <a:rPr lang="en-US" sz="1400" dirty="0"/>
              <a:t> Fault Management，</a:t>
            </a:r>
            <a:r>
              <a:rPr lang="zh-CN" altLang="en-US" sz="1400" dirty="0"/>
              <a:t>连接错误管理</a:t>
            </a:r>
            <a:r>
              <a:rPr lang="en-US" sz="1400" dirty="0"/>
              <a:t>）</a:t>
            </a:r>
          </a:p>
          <a:p>
            <a:pPr lvl="1"/>
            <a:r>
              <a:rPr lang="zh-CN" altLang="en-US" sz="1600" dirty="0"/>
              <a:t>链路质量检测技术，主要有：</a:t>
            </a:r>
            <a:endParaRPr lang="en-US" altLang="zh-CN" sz="1600" dirty="0"/>
          </a:p>
          <a:p>
            <a:pPr lvl="2"/>
            <a:r>
              <a:rPr lang="en-US" sz="1400" dirty="0" err="1"/>
              <a:t>NQA（Network</a:t>
            </a:r>
            <a:r>
              <a:rPr lang="en-US" sz="1400" dirty="0"/>
              <a:t> Quality Analysis</a:t>
            </a:r>
            <a:r>
              <a:rPr lang="zh-CN" altLang="en-US" sz="1400" dirty="0"/>
              <a:t>，网络质量分析</a:t>
            </a:r>
            <a:r>
              <a:rPr lang="en-US" sz="1400" dirty="0"/>
              <a:t>）</a:t>
            </a:r>
          </a:p>
          <a:p>
            <a:pPr lvl="2"/>
            <a:r>
              <a:rPr lang="en-US" sz="1400" dirty="0"/>
              <a:t>IP FPM（IP Flow Performance Measurement</a:t>
            </a:r>
            <a:r>
              <a:rPr lang="zh-CN" altLang="en-US" sz="1400" dirty="0"/>
              <a:t>，</a:t>
            </a:r>
            <a:r>
              <a:rPr lang="en-US" altLang="zh-CN" sz="1400" dirty="0"/>
              <a:t>IP</a:t>
            </a:r>
            <a:r>
              <a:rPr lang="zh-CN" altLang="en-US" sz="1400" dirty="0"/>
              <a:t>流性能测量</a:t>
            </a:r>
            <a:r>
              <a:rPr lang="en-US" sz="1400" dirty="0"/>
              <a:t>）</a:t>
            </a:r>
          </a:p>
          <a:p>
            <a:r>
              <a:rPr lang="zh-CN" altLang="en-US" sz="1800" dirty="0"/>
              <a:t>现网中主要使用</a:t>
            </a:r>
            <a:r>
              <a:rPr lang="en-US" altLang="zh-CN" sz="1800" dirty="0"/>
              <a:t>BFD</a:t>
            </a:r>
            <a:r>
              <a:rPr lang="zh-CN" altLang="en-US" sz="1800" dirty="0"/>
              <a:t>探测链路连通性，使用</a:t>
            </a:r>
            <a:r>
              <a:rPr lang="en-US" altLang="zh-CN" sz="1800" dirty="0"/>
              <a:t>NQA</a:t>
            </a:r>
            <a:r>
              <a:rPr lang="zh-CN" altLang="en-US" sz="1800" dirty="0"/>
              <a:t>、</a:t>
            </a:r>
            <a:r>
              <a:rPr lang="en-US" altLang="zh-CN" sz="1800" dirty="0"/>
              <a:t>IP FPM</a:t>
            </a:r>
            <a:r>
              <a:rPr lang="zh-CN" altLang="en-US" sz="1800" dirty="0"/>
              <a:t>探测链路质量。</a:t>
            </a:r>
            <a:endParaRPr lang="en-US" sz="1800" dirty="0"/>
          </a:p>
        </p:txBody>
      </p:sp>
      <p:pic>
        <p:nvPicPr>
          <p:cNvPr id="5" name="Picture 12" descr="E:\2016.01\1.12 扁平化图标\蓝色\AR-蓝色最新-40.png">
            <a:extLst>
              <a:ext uri="{FF2B5EF4-FFF2-40B4-BE49-F238E27FC236}">
                <a16:creationId xmlns:a16="http://schemas.microsoft.com/office/drawing/2014/main" id="{826F5A3F-833E-4C15-B00A-93855FC87472}"/>
              </a:ext>
            </a:extLst>
          </p:cNvPr>
          <p:cNvPicPr>
            <a:picLocks noChangeAspect="1" noChangeArrowheads="1"/>
          </p:cNvPicPr>
          <p:nvPr/>
        </p:nvPicPr>
        <p:blipFill>
          <a:blip r:embed="rId3" cstate="print"/>
          <a:srcRect/>
          <a:stretch>
            <a:fillRect/>
          </a:stretch>
        </p:blipFill>
        <p:spPr bwMode="gray">
          <a:xfrm>
            <a:off x="7404126" y="2771353"/>
            <a:ext cx="440049" cy="360040"/>
          </a:xfrm>
          <a:prstGeom prst="rect">
            <a:avLst/>
          </a:prstGeom>
          <a:noFill/>
        </p:spPr>
      </p:pic>
      <p:pic>
        <p:nvPicPr>
          <p:cNvPr id="6" name="Picture 12" descr="E:\2016.01\1.12 扁平化图标\蓝色\AR-蓝色最新-40.png">
            <a:extLst>
              <a:ext uri="{FF2B5EF4-FFF2-40B4-BE49-F238E27FC236}">
                <a16:creationId xmlns:a16="http://schemas.microsoft.com/office/drawing/2014/main" id="{B72950FD-C136-4F27-A543-71A3A47FE776}"/>
              </a:ext>
            </a:extLst>
          </p:cNvPr>
          <p:cNvPicPr>
            <a:picLocks noChangeAspect="1" noChangeArrowheads="1"/>
          </p:cNvPicPr>
          <p:nvPr/>
        </p:nvPicPr>
        <p:blipFill>
          <a:blip r:embed="rId3" cstate="print"/>
          <a:srcRect/>
          <a:stretch>
            <a:fillRect/>
          </a:stretch>
        </p:blipFill>
        <p:spPr bwMode="gray">
          <a:xfrm>
            <a:off x="10383335" y="2771353"/>
            <a:ext cx="440049" cy="360040"/>
          </a:xfrm>
          <a:prstGeom prst="rect">
            <a:avLst/>
          </a:prstGeom>
          <a:noFill/>
        </p:spPr>
      </p:pic>
      <p:sp>
        <p:nvSpPr>
          <p:cNvPr id="11" name="Freeform 159">
            <a:extLst>
              <a:ext uri="{FF2B5EF4-FFF2-40B4-BE49-F238E27FC236}">
                <a16:creationId xmlns:a16="http://schemas.microsoft.com/office/drawing/2014/main" id="{DAD741BA-FB85-436F-A7C4-F36AF8848B15}"/>
              </a:ext>
            </a:extLst>
          </p:cNvPr>
          <p:cNvSpPr/>
          <p:nvPr/>
        </p:nvSpPr>
        <p:spPr bwMode="gray">
          <a:xfrm flipH="1">
            <a:off x="8659014" y="2611068"/>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Connector 12">
            <a:extLst>
              <a:ext uri="{FF2B5EF4-FFF2-40B4-BE49-F238E27FC236}">
                <a16:creationId xmlns:a16="http://schemas.microsoft.com/office/drawing/2014/main" id="{5B788AC1-DD5D-433B-9B7F-FAC395DD072F}"/>
              </a:ext>
            </a:extLst>
          </p:cNvPr>
          <p:cNvCxnSpPr>
            <a:cxnSpLocks/>
            <a:stCxn id="5" idx="3"/>
            <a:endCxn id="11" idx="21"/>
          </p:cNvCxnSpPr>
          <p:nvPr/>
        </p:nvCxnSpPr>
        <p:spPr bwMode="gray">
          <a:xfrm flipV="1">
            <a:off x="7844175" y="2944378"/>
            <a:ext cx="81483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45C5BB2-6A08-431A-9D58-34A0190FD5DB}"/>
              </a:ext>
            </a:extLst>
          </p:cNvPr>
          <p:cNvCxnSpPr>
            <a:cxnSpLocks/>
            <a:stCxn id="6" idx="1"/>
            <a:endCxn id="11" idx="8"/>
          </p:cNvCxnSpPr>
          <p:nvPr/>
        </p:nvCxnSpPr>
        <p:spPr bwMode="gray">
          <a:xfrm flipH="1" flipV="1">
            <a:off x="9568496" y="2935725"/>
            <a:ext cx="814839"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1" name="Picture 12" descr="E:\2016.01\1.12 扁平化图标\蓝色\AR-蓝色最新-40.png">
            <a:extLst>
              <a:ext uri="{FF2B5EF4-FFF2-40B4-BE49-F238E27FC236}">
                <a16:creationId xmlns:a16="http://schemas.microsoft.com/office/drawing/2014/main" id="{1BAA4046-37A9-44DA-88AF-7F9D9618A133}"/>
              </a:ext>
            </a:extLst>
          </p:cNvPr>
          <p:cNvPicPr>
            <a:picLocks noChangeAspect="1" noChangeArrowheads="1"/>
          </p:cNvPicPr>
          <p:nvPr/>
        </p:nvPicPr>
        <p:blipFill>
          <a:blip r:embed="rId3" cstate="print"/>
          <a:srcRect/>
          <a:stretch>
            <a:fillRect/>
          </a:stretch>
        </p:blipFill>
        <p:spPr bwMode="gray">
          <a:xfrm>
            <a:off x="7404126" y="4373877"/>
            <a:ext cx="440049" cy="360040"/>
          </a:xfrm>
          <a:prstGeom prst="rect">
            <a:avLst/>
          </a:prstGeom>
          <a:noFill/>
        </p:spPr>
      </p:pic>
      <p:pic>
        <p:nvPicPr>
          <p:cNvPr id="22" name="Picture 12" descr="E:\2016.01\1.12 扁平化图标\蓝色\AR-蓝色最新-40.png">
            <a:extLst>
              <a:ext uri="{FF2B5EF4-FFF2-40B4-BE49-F238E27FC236}">
                <a16:creationId xmlns:a16="http://schemas.microsoft.com/office/drawing/2014/main" id="{C2CFE7D3-34E0-41E2-B46D-4CFF476EBEAD}"/>
              </a:ext>
            </a:extLst>
          </p:cNvPr>
          <p:cNvPicPr>
            <a:picLocks noChangeAspect="1" noChangeArrowheads="1"/>
          </p:cNvPicPr>
          <p:nvPr/>
        </p:nvPicPr>
        <p:blipFill>
          <a:blip r:embed="rId3" cstate="print"/>
          <a:srcRect/>
          <a:stretch>
            <a:fillRect/>
          </a:stretch>
        </p:blipFill>
        <p:spPr bwMode="gray">
          <a:xfrm>
            <a:off x="10383335" y="4373877"/>
            <a:ext cx="440049" cy="360040"/>
          </a:xfrm>
          <a:prstGeom prst="rect">
            <a:avLst/>
          </a:prstGeom>
          <a:noFill/>
        </p:spPr>
      </p:pic>
      <p:sp>
        <p:nvSpPr>
          <p:cNvPr id="23" name="Freeform 159">
            <a:extLst>
              <a:ext uri="{FF2B5EF4-FFF2-40B4-BE49-F238E27FC236}">
                <a16:creationId xmlns:a16="http://schemas.microsoft.com/office/drawing/2014/main" id="{8B6F9986-AAC1-4A83-A89E-9E23BC47B143}"/>
              </a:ext>
            </a:extLst>
          </p:cNvPr>
          <p:cNvSpPr/>
          <p:nvPr/>
        </p:nvSpPr>
        <p:spPr bwMode="gray">
          <a:xfrm flipH="1">
            <a:off x="8659014" y="421359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4" name="Straight Connector 23">
            <a:extLst>
              <a:ext uri="{FF2B5EF4-FFF2-40B4-BE49-F238E27FC236}">
                <a16:creationId xmlns:a16="http://schemas.microsoft.com/office/drawing/2014/main" id="{7C7AC40B-E521-4E29-929D-AAA5BEEFCB10}"/>
              </a:ext>
            </a:extLst>
          </p:cNvPr>
          <p:cNvCxnSpPr>
            <a:cxnSpLocks/>
            <a:stCxn id="21" idx="3"/>
            <a:endCxn id="23" idx="21"/>
          </p:cNvCxnSpPr>
          <p:nvPr/>
        </p:nvCxnSpPr>
        <p:spPr bwMode="gray">
          <a:xfrm flipV="1">
            <a:off x="7844175" y="4546902"/>
            <a:ext cx="81483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89C61C-36DE-4F7C-A78E-58ADBCD0F6C1}"/>
              </a:ext>
            </a:extLst>
          </p:cNvPr>
          <p:cNvCxnSpPr>
            <a:cxnSpLocks/>
            <a:stCxn id="22" idx="1"/>
            <a:endCxn id="23" idx="8"/>
          </p:cNvCxnSpPr>
          <p:nvPr/>
        </p:nvCxnSpPr>
        <p:spPr bwMode="gray">
          <a:xfrm flipH="1" flipV="1">
            <a:off x="9568496" y="4538249"/>
            <a:ext cx="814839" cy="0"/>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grpSp>
        <p:nvGrpSpPr>
          <p:cNvPr id="26" name="组合 7">
            <a:extLst>
              <a:ext uri="{FF2B5EF4-FFF2-40B4-BE49-F238E27FC236}">
                <a16:creationId xmlns:a16="http://schemas.microsoft.com/office/drawing/2014/main" id="{75B17816-644F-4CE7-A203-CF36BC6E5018}"/>
              </a:ext>
            </a:extLst>
          </p:cNvPr>
          <p:cNvGrpSpPr/>
          <p:nvPr/>
        </p:nvGrpSpPr>
        <p:grpSpPr bwMode="gray">
          <a:xfrm>
            <a:off x="9424496" y="2788397"/>
            <a:ext cx="288000" cy="288000"/>
            <a:chOff x="856677" y="2615810"/>
            <a:chExt cx="288000" cy="288000"/>
          </a:xfrm>
        </p:grpSpPr>
        <p:sp>
          <p:nvSpPr>
            <p:cNvPr id="27" name="椭圆 84">
              <a:extLst>
                <a:ext uri="{FF2B5EF4-FFF2-40B4-BE49-F238E27FC236}">
                  <a16:creationId xmlns:a16="http://schemas.microsoft.com/office/drawing/2014/main" id="{26B6117D-9045-4343-B05F-B8C735BE4243}"/>
                </a:ext>
              </a:extLst>
            </p:cNvPr>
            <p:cNvSpPr/>
            <p:nvPr/>
          </p:nvSpPr>
          <p:spPr bwMode="gray">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 name="组合 5">
              <a:extLst>
                <a:ext uri="{FF2B5EF4-FFF2-40B4-BE49-F238E27FC236}">
                  <a16:creationId xmlns:a16="http://schemas.microsoft.com/office/drawing/2014/main" id="{61955A9D-6E08-4700-8FDE-EC917E2F74F8}"/>
                </a:ext>
              </a:extLst>
            </p:cNvPr>
            <p:cNvGrpSpPr/>
            <p:nvPr/>
          </p:nvGrpSpPr>
          <p:grpSpPr bwMode="gray">
            <a:xfrm>
              <a:off x="923444" y="2692169"/>
              <a:ext cx="144001" cy="144002"/>
              <a:chOff x="898853" y="2657982"/>
              <a:chExt cx="203649" cy="203652"/>
            </a:xfrm>
          </p:grpSpPr>
          <p:cxnSp>
            <p:nvCxnSpPr>
              <p:cNvPr id="29" name="直接连接符 85">
                <a:extLst>
                  <a:ext uri="{FF2B5EF4-FFF2-40B4-BE49-F238E27FC236}">
                    <a16:creationId xmlns:a16="http://schemas.microsoft.com/office/drawing/2014/main" id="{FE770890-0463-47BD-A2E5-638432720FA4}"/>
                  </a:ext>
                </a:extLst>
              </p:cNvPr>
              <p:cNvCxnSpPr>
                <a:stCxn id="27" idx="3"/>
                <a:endCxn id="27"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30" name="直接连接符 86">
                <a:extLst>
                  <a:ext uri="{FF2B5EF4-FFF2-40B4-BE49-F238E27FC236}">
                    <a16:creationId xmlns:a16="http://schemas.microsoft.com/office/drawing/2014/main" id="{0700B6F6-C05D-49E3-A051-C9C2A1835708}"/>
                  </a:ext>
                </a:extLst>
              </p:cNvPr>
              <p:cNvCxnSpPr>
                <a:stCxn id="27" idx="1"/>
                <a:endCxn id="27"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cxnSp>
        <p:nvCxnSpPr>
          <p:cNvPr id="34" name="Straight Arrow Connector 33">
            <a:extLst>
              <a:ext uri="{FF2B5EF4-FFF2-40B4-BE49-F238E27FC236}">
                <a16:creationId xmlns:a16="http://schemas.microsoft.com/office/drawing/2014/main" id="{887298B6-AA1F-4982-88FF-CC28335B68EA}"/>
              </a:ext>
            </a:extLst>
          </p:cNvPr>
          <p:cNvCxnSpPr/>
          <p:nvPr/>
        </p:nvCxnSpPr>
        <p:spPr bwMode="gray">
          <a:xfrm>
            <a:off x="7929493" y="2848774"/>
            <a:ext cx="1459041" cy="0"/>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B26122C-A745-478B-8459-F4FBA58496DD}"/>
              </a:ext>
            </a:extLst>
          </p:cNvPr>
          <p:cNvCxnSpPr>
            <a:cxnSpLocks/>
          </p:cNvCxnSpPr>
          <p:nvPr/>
        </p:nvCxnSpPr>
        <p:spPr bwMode="gray">
          <a:xfrm>
            <a:off x="7929493" y="4432412"/>
            <a:ext cx="2381835" cy="0"/>
          </a:xfrm>
          <a:prstGeom prst="straightConnector1">
            <a:avLst/>
          </a:prstGeom>
          <a:ln w="19050">
            <a:solidFill>
              <a:srgbClr val="8BC9A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ular Callout 72">
            <a:extLst>
              <a:ext uri="{FF2B5EF4-FFF2-40B4-BE49-F238E27FC236}">
                <a16:creationId xmlns:a16="http://schemas.microsoft.com/office/drawing/2014/main" id="{26AE77FC-8936-4D87-86F9-61E63FC7D1BE}"/>
              </a:ext>
            </a:extLst>
          </p:cNvPr>
          <p:cNvSpPr/>
          <p:nvPr/>
        </p:nvSpPr>
        <p:spPr bwMode="gray">
          <a:xfrm>
            <a:off x="9195204" y="1924986"/>
            <a:ext cx="1308478" cy="605175"/>
          </a:xfrm>
          <a:prstGeom prst="wedgeRectCallout">
            <a:avLst>
              <a:gd name="adj1" fmla="val -20562"/>
              <a:gd name="adj2" fmla="val 8469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使用</a:t>
            </a:r>
            <a:r>
              <a:rPr lang="en-US" altLang="zh-CN" sz="1200" dirty="0">
                <a:solidFill>
                  <a:schemeClr val="bg1">
                    <a:lumMod val="50000"/>
                  </a:schemeClr>
                </a:solidFill>
              </a:rPr>
              <a:t>BFD</a:t>
            </a:r>
            <a:r>
              <a:rPr lang="zh-CN" altLang="en-US" sz="1200" dirty="0">
                <a:solidFill>
                  <a:schemeClr val="bg1">
                    <a:lumMod val="50000"/>
                  </a:schemeClr>
                </a:solidFill>
              </a:rPr>
              <a:t>，</a:t>
            </a:r>
            <a:r>
              <a:rPr lang="en-US" altLang="zh-CN" sz="1200" dirty="0">
                <a:solidFill>
                  <a:schemeClr val="bg1">
                    <a:lumMod val="50000"/>
                  </a:schemeClr>
                </a:solidFill>
              </a:rPr>
              <a:t>EFM</a:t>
            </a:r>
            <a:r>
              <a:rPr lang="zh-CN" altLang="en-US" sz="1200" dirty="0">
                <a:solidFill>
                  <a:schemeClr val="bg1">
                    <a:lumMod val="50000"/>
                  </a:schemeClr>
                </a:solidFill>
              </a:rPr>
              <a:t>，</a:t>
            </a:r>
            <a:r>
              <a:rPr lang="en-US" altLang="zh-CN" sz="1200" dirty="0">
                <a:solidFill>
                  <a:schemeClr val="bg1">
                    <a:lumMod val="50000"/>
                  </a:schemeClr>
                </a:solidFill>
              </a:rPr>
              <a:t>CFM</a:t>
            </a:r>
            <a:r>
              <a:rPr lang="zh-CN" altLang="en-US" sz="1200" dirty="0">
                <a:solidFill>
                  <a:schemeClr val="bg1">
                    <a:lumMod val="50000"/>
                  </a:schemeClr>
                </a:solidFill>
              </a:rPr>
              <a:t>探测网络链路连通性</a:t>
            </a:r>
          </a:p>
        </p:txBody>
      </p:sp>
      <p:sp>
        <p:nvSpPr>
          <p:cNvPr id="38" name="Rectangular Callout 72">
            <a:extLst>
              <a:ext uri="{FF2B5EF4-FFF2-40B4-BE49-F238E27FC236}">
                <a16:creationId xmlns:a16="http://schemas.microsoft.com/office/drawing/2014/main" id="{914B3232-A838-4C03-875B-71F16E4D0161}"/>
              </a:ext>
            </a:extLst>
          </p:cNvPr>
          <p:cNvSpPr/>
          <p:nvPr/>
        </p:nvSpPr>
        <p:spPr bwMode="gray">
          <a:xfrm>
            <a:off x="9078131" y="3692130"/>
            <a:ext cx="1114264" cy="605175"/>
          </a:xfrm>
          <a:prstGeom prst="wedgeRectCallout">
            <a:avLst>
              <a:gd name="adj1" fmla="val 21786"/>
              <a:gd name="adj2" fmla="val 8469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使用</a:t>
            </a:r>
            <a:r>
              <a:rPr lang="en-US" altLang="zh-CN" sz="1200" dirty="0">
                <a:solidFill>
                  <a:schemeClr val="bg1">
                    <a:lumMod val="50000"/>
                  </a:schemeClr>
                </a:solidFill>
              </a:rPr>
              <a:t>NQA</a:t>
            </a:r>
            <a:r>
              <a:rPr lang="zh-CN" altLang="en-US" sz="1200" dirty="0">
                <a:solidFill>
                  <a:schemeClr val="bg1">
                    <a:lumMod val="50000"/>
                  </a:schemeClr>
                </a:solidFill>
              </a:rPr>
              <a:t>，</a:t>
            </a:r>
            <a:r>
              <a:rPr lang="en-US" altLang="zh-CN" sz="1200" dirty="0">
                <a:solidFill>
                  <a:schemeClr val="bg1">
                    <a:lumMod val="50000"/>
                  </a:schemeClr>
                </a:solidFill>
              </a:rPr>
              <a:t>IP FPM</a:t>
            </a:r>
            <a:r>
              <a:rPr lang="zh-CN" altLang="en-US" sz="1200" dirty="0">
                <a:solidFill>
                  <a:schemeClr val="bg1">
                    <a:lumMod val="50000"/>
                  </a:schemeClr>
                </a:solidFill>
              </a:rPr>
              <a:t>探测网络质量</a:t>
            </a:r>
          </a:p>
        </p:txBody>
      </p:sp>
      <p:sp>
        <p:nvSpPr>
          <p:cNvPr id="39" name="TextBox 38">
            <a:extLst>
              <a:ext uri="{FF2B5EF4-FFF2-40B4-BE49-F238E27FC236}">
                <a16:creationId xmlns:a16="http://schemas.microsoft.com/office/drawing/2014/main" id="{CB21967D-79A3-45BB-9995-8393E8B87047}"/>
              </a:ext>
            </a:extLst>
          </p:cNvPr>
          <p:cNvSpPr txBox="1"/>
          <p:nvPr/>
        </p:nvSpPr>
        <p:spPr bwMode="gray">
          <a:xfrm>
            <a:off x="7809314" y="2563381"/>
            <a:ext cx="1173719" cy="276999"/>
          </a:xfrm>
          <a:prstGeom prst="rect">
            <a:avLst/>
          </a:prstGeom>
          <a:noFill/>
        </p:spPr>
        <p:txBody>
          <a:bodyPr wrap="none" rtlCol="0">
            <a:spAutoFit/>
          </a:bodyPr>
          <a:lstStyle/>
          <a:p>
            <a:r>
              <a:rPr lang="en-US" sz="1200" dirty="0">
                <a:latin typeface="+mn-lt"/>
              </a:rPr>
              <a:t>BFD,EFM,CFM</a:t>
            </a:r>
          </a:p>
        </p:txBody>
      </p:sp>
      <p:sp>
        <p:nvSpPr>
          <p:cNvPr id="40" name="TextBox 39">
            <a:extLst>
              <a:ext uri="{FF2B5EF4-FFF2-40B4-BE49-F238E27FC236}">
                <a16:creationId xmlns:a16="http://schemas.microsoft.com/office/drawing/2014/main" id="{6C84BE13-E171-490D-B229-8FB9D0A53B55}"/>
              </a:ext>
            </a:extLst>
          </p:cNvPr>
          <p:cNvSpPr txBox="1"/>
          <p:nvPr/>
        </p:nvSpPr>
        <p:spPr bwMode="gray">
          <a:xfrm>
            <a:off x="7793534" y="4153648"/>
            <a:ext cx="1051891" cy="276999"/>
          </a:xfrm>
          <a:prstGeom prst="rect">
            <a:avLst/>
          </a:prstGeom>
          <a:noFill/>
        </p:spPr>
        <p:txBody>
          <a:bodyPr wrap="none" rtlCol="0">
            <a:spAutoFit/>
          </a:bodyPr>
          <a:lstStyle/>
          <a:p>
            <a:r>
              <a:rPr lang="en-US" sz="1200" dirty="0">
                <a:latin typeface="+mn-lt"/>
              </a:rPr>
              <a:t>NQA,IP</a:t>
            </a:r>
            <a:r>
              <a:rPr lang="zh-CN" altLang="en-US" sz="1200" dirty="0">
                <a:latin typeface="+mn-lt"/>
              </a:rPr>
              <a:t> </a:t>
            </a:r>
            <a:r>
              <a:rPr lang="en-US" altLang="zh-CN" sz="1200" dirty="0">
                <a:latin typeface="+mn-lt"/>
              </a:rPr>
              <a:t>FPM</a:t>
            </a:r>
            <a:endParaRPr lang="en-US" sz="1200" dirty="0">
              <a:latin typeface="+mn-lt"/>
            </a:endParaRPr>
          </a:p>
        </p:txBody>
      </p:sp>
    </p:spTree>
    <p:extLst>
      <p:ext uri="{BB962C8B-B14F-4D97-AF65-F5344CB8AC3E}">
        <p14:creationId xmlns:p14="http://schemas.microsoft.com/office/powerpoint/2010/main" val="24158490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a:sym typeface="Huawei Sans" panose="020C0503030203020204" pitchFamily="34" charset="0"/>
              </a:rPr>
              <a:t>BFD</a:t>
            </a:r>
            <a:r>
              <a:rPr lang="zh-CN" altLang="en-US">
                <a:sym typeface="Huawei Sans" panose="020C0503030203020204" pitchFamily="34" charset="0"/>
              </a:rPr>
              <a:t>简介</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1800" dirty="0">
                <a:sym typeface="Huawei Sans" panose="020C0503030203020204" pitchFamily="34" charset="0"/>
              </a:rPr>
              <a:t>BFD</a:t>
            </a:r>
            <a:r>
              <a:rPr lang="zh-CN" altLang="en-US" sz="1800" dirty="0">
                <a:sym typeface="Huawei Sans" panose="020C0503030203020204" pitchFamily="34" charset="0"/>
              </a:rPr>
              <a:t>提供了一个通用的、标准化的、介质无关的、协议无关的快速故障检测机制，有以下两大优点：</a:t>
            </a:r>
          </a:p>
          <a:p>
            <a:pPr lvl="1"/>
            <a:r>
              <a:rPr lang="zh-CN" altLang="en-US" sz="1600" dirty="0">
                <a:sym typeface="Huawei Sans" panose="020C0503030203020204" pitchFamily="34" charset="0"/>
              </a:rPr>
              <a:t>对相邻转发引擎之间的通道提供轻负荷、快速故障检测。</a:t>
            </a:r>
          </a:p>
          <a:p>
            <a:pPr lvl="1"/>
            <a:r>
              <a:rPr lang="zh-CN" altLang="en-US" sz="1600" dirty="0">
                <a:sym typeface="Huawei Sans" panose="020C0503030203020204" pitchFamily="34" charset="0"/>
              </a:rPr>
              <a:t>用单一的机制对任何介质、任何协议层进行实时检测。</a:t>
            </a:r>
            <a:endParaRPr lang="en-US" altLang="zh-CN" sz="1600" dirty="0">
              <a:sym typeface="Huawei Sans" panose="020C0503030203020204" pitchFamily="34" charset="0"/>
            </a:endParaRPr>
          </a:p>
          <a:p>
            <a:r>
              <a:rPr lang="en-US" altLang="zh-CN" sz="1800" dirty="0">
                <a:sym typeface="Huawei Sans" panose="020C0503030203020204" pitchFamily="34" charset="0"/>
              </a:rPr>
              <a:t>BFD</a:t>
            </a:r>
            <a:r>
              <a:rPr lang="zh-CN" altLang="en-US" sz="1800" dirty="0">
                <a:sym typeface="Huawei Sans" panose="020C0503030203020204" pitchFamily="34" charset="0"/>
              </a:rPr>
              <a:t>是一个简单的“</a:t>
            </a:r>
            <a:r>
              <a:rPr lang="en-US" altLang="zh-CN" sz="1800" dirty="0">
                <a:sym typeface="Huawei Sans" panose="020C0503030203020204" pitchFamily="34" charset="0"/>
              </a:rPr>
              <a:t>Hello</a:t>
            </a:r>
            <a:r>
              <a:rPr lang="zh-CN" altLang="en-US" sz="1800" dirty="0">
                <a:sym typeface="Huawei Sans" panose="020C0503030203020204" pitchFamily="34" charset="0"/>
              </a:rPr>
              <a:t>”协议。两个系统之间建立</a:t>
            </a:r>
            <a:r>
              <a:rPr lang="en-US" altLang="zh-CN" sz="1800" dirty="0">
                <a:sym typeface="Huawei Sans" panose="020C0503030203020204" pitchFamily="34" charset="0"/>
              </a:rPr>
              <a:t>BFD</a:t>
            </a:r>
            <a:r>
              <a:rPr lang="zh-CN" altLang="en-US" sz="1800" dirty="0">
                <a:sym typeface="Huawei Sans" panose="020C0503030203020204" pitchFamily="34" charset="0"/>
              </a:rPr>
              <a:t>会话通道，并周期性发送</a:t>
            </a:r>
            <a:r>
              <a:rPr lang="en-US" altLang="zh-CN" sz="1800" dirty="0">
                <a:sym typeface="Huawei Sans" panose="020C0503030203020204" pitchFamily="34" charset="0"/>
              </a:rPr>
              <a:t>BFD</a:t>
            </a:r>
            <a:r>
              <a:rPr lang="zh-CN" altLang="en-US" sz="1800" dirty="0">
                <a:sym typeface="Huawei Sans" panose="020C0503030203020204" pitchFamily="34" charset="0"/>
              </a:rPr>
              <a:t>检测报文，如果某个系统在规定的时间内没有收到对端的检测报文，则认为该通道的某个部分发生了故障。</a:t>
            </a:r>
            <a:endParaRPr lang="en-US" altLang="zh-CN" sz="1800" dirty="0">
              <a:sym typeface="Huawei Sans" panose="020C0503030203020204" pitchFamily="34" charset="0"/>
            </a:endParaRPr>
          </a:p>
          <a:p>
            <a:endParaRPr lang="en-US" altLang="zh-CN" sz="1800" dirty="0">
              <a:sym typeface="Huawei Sans" panose="020C0503030203020204" pitchFamily="34" charset="0"/>
            </a:endParaRPr>
          </a:p>
        </p:txBody>
      </p:sp>
      <p:graphicFrame>
        <p:nvGraphicFramePr>
          <p:cNvPr id="2" name="表格 1"/>
          <p:cNvGraphicFramePr>
            <a:graphicFrameLocks noGrp="1"/>
          </p:cNvGraphicFramePr>
          <p:nvPr/>
        </p:nvGraphicFramePr>
        <p:xfrm>
          <a:off x="3200953" y="3879376"/>
          <a:ext cx="1409700" cy="1854200"/>
        </p:xfrm>
        <a:graphic>
          <a:graphicData uri="http://schemas.openxmlformats.org/drawingml/2006/table">
            <a:tbl>
              <a:tblPr firstRow="1" bandRow="1">
                <a:tableStyleId>{72833802-FEF1-4C79-8D5D-14CF1EAF98D9}</a:tableStyleId>
              </a:tblPr>
              <a:tblGrid>
                <a:gridCol w="1409700">
                  <a:extLst>
                    <a:ext uri="{9D8B030D-6E8A-4147-A177-3AD203B41FA5}">
                      <a16:colId xmlns:a16="http://schemas.microsoft.com/office/drawing/2014/main" val="20000"/>
                    </a:ext>
                  </a:extLst>
                </a:gridCol>
              </a:tblGrid>
              <a:tr h="370840">
                <a:tc>
                  <a:txBody>
                    <a:bodyPr/>
                    <a:lstStyle/>
                    <a:p>
                      <a:pPr algn="ct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应用层</a:t>
                      </a:r>
                      <a:endPar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0"/>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传输层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1"/>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2"/>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数据链路层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3"/>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物理侧</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4"/>
                  </a:ext>
                </a:extLst>
              </a:tr>
            </a:tbl>
          </a:graphicData>
        </a:graphic>
      </p:graphicFrame>
      <p:graphicFrame>
        <p:nvGraphicFramePr>
          <p:cNvPr id="5" name="表格 4"/>
          <p:cNvGraphicFramePr>
            <a:graphicFrameLocks noGrp="1"/>
          </p:cNvGraphicFramePr>
          <p:nvPr/>
        </p:nvGraphicFramePr>
        <p:xfrm>
          <a:off x="7570544" y="3879376"/>
          <a:ext cx="1409700" cy="1854200"/>
        </p:xfrm>
        <a:graphic>
          <a:graphicData uri="http://schemas.openxmlformats.org/drawingml/2006/table">
            <a:tbl>
              <a:tblPr firstRow="1" bandRow="1">
                <a:tableStyleId>{72833802-FEF1-4C79-8D5D-14CF1EAF98D9}</a:tableStyleId>
              </a:tblPr>
              <a:tblGrid>
                <a:gridCol w="1409700">
                  <a:extLst>
                    <a:ext uri="{9D8B030D-6E8A-4147-A177-3AD203B41FA5}">
                      <a16:colId xmlns:a16="http://schemas.microsoft.com/office/drawing/2014/main" val="20000"/>
                    </a:ext>
                  </a:extLst>
                </a:gridCol>
              </a:tblGrid>
              <a:tr h="370840">
                <a:tc>
                  <a:txBody>
                    <a:bodyPr/>
                    <a:lstStyle/>
                    <a:p>
                      <a:pPr algn="ctr"/>
                      <a:r>
                        <a:rPr lang="zh-CN" altLang="en-US"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应用层</a:t>
                      </a:r>
                      <a:endParaRPr lang="en-US" altLang="zh-CN" sz="16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0"/>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传输层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1"/>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2"/>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数据链路层</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3"/>
                  </a:ext>
                </a:extLst>
              </a:tr>
              <a:tr h="370840">
                <a:tc>
                  <a:txBody>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物理侧</a:t>
                      </a:r>
                    </a:p>
                  </a:txBody>
                  <a:tcPr>
                    <a:lnL w="12700" cap="flat" cmpd="sng" algn="ctr">
                      <a:solidFill>
                        <a:schemeClr val="tx2">
                          <a:lumMod val="75000"/>
                        </a:schemeClr>
                      </a:solidFill>
                      <a:prstDash val="solid"/>
                      <a:round/>
                      <a:headEnd type="none" w="med" len="med"/>
                      <a:tailEnd type="none" w="med" len="med"/>
                    </a:lnL>
                    <a:lnR w="12700" cap="flat" cmpd="sng" algn="ctr">
                      <a:solidFill>
                        <a:schemeClr val="tx2">
                          <a:lumMod val="75000"/>
                        </a:schemeClr>
                      </a:solidFill>
                      <a:prstDash val="solid"/>
                      <a:round/>
                      <a:headEnd type="none" w="med" len="med"/>
                      <a:tailEnd type="none" w="med" len="med"/>
                    </a:lnR>
                    <a:lnT w="12700" cap="flat" cmpd="sng" algn="ctr">
                      <a:solidFill>
                        <a:schemeClr val="tx2">
                          <a:lumMod val="75000"/>
                        </a:schemeClr>
                      </a:solidFill>
                      <a:prstDash val="solid"/>
                      <a:round/>
                      <a:headEnd type="none" w="med" len="med"/>
                      <a:tailEnd type="none" w="med" len="med"/>
                    </a:lnT>
                    <a:lnB w="12700" cap="flat" cmpd="sng" algn="ctr">
                      <a:solidFill>
                        <a:schemeClr val="tx2">
                          <a:lumMod val="75000"/>
                        </a:schemeClr>
                      </a:solidFill>
                      <a:prstDash val="solid"/>
                      <a:round/>
                      <a:headEnd type="none" w="med" len="med"/>
                      <a:tailEnd type="none" w="med" len="med"/>
                    </a:lnB>
                    <a:solidFill>
                      <a:srgbClr val="F4FBFE"/>
                    </a:solidFill>
                  </a:tcPr>
                </a:tc>
                <a:extLst>
                  <a:ext uri="{0D108BD9-81ED-4DB2-BD59-A6C34878D82A}">
                    <a16:rowId xmlns:a16="http://schemas.microsoft.com/office/drawing/2014/main" val="10004"/>
                  </a:ext>
                </a:extLst>
              </a:tr>
            </a:tbl>
          </a:graphicData>
        </a:graphic>
      </p:graphicFrame>
      <p:cxnSp>
        <p:nvCxnSpPr>
          <p:cNvPr id="7" name="直接连接符 6"/>
          <p:cNvCxnSpPr/>
          <p:nvPr/>
        </p:nvCxnSpPr>
        <p:spPr bwMode="gray">
          <a:xfrm>
            <a:off x="4610653" y="5563988"/>
            <a:ext cx="2959891" cy="0"/>
          </a:xfrm>
          <a:prstGeom prst="line">
            <a:avLst/>
          </a:prstGeom>
          <a:ln w="19050">
            <a:solidFill>
              <a:srgbClr val="15151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610653" y="5175368"/>
            <a:ext cx="2959891" cy="0"/>
          </a:xfrm>
          <a:prstGeom prst="line">
            <a:avLst/>
          </a:prstGeom>
          <a:ln w="19050">
            <a:solidFill>
              <a:srgbClr val="15151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4610653" y="4806476"/>
            <a:ext cx="2959891" cy="0"/>
          </a:xfrm>
          <a:prstGeom prst="line">
            <a:avLst/>
          </a:prstGeom>
          <a:ln w="19050">
            <a:solidFill>
              <a:srgbClr val="15151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a:off x="4610653" y="4425476"/>
            <a:ext cx="2959891" cy="0"/>
          </a:xfrm>
          <a:prstGeom prst="line">
            <a:avLst/>
          </a:prstGeom>
          <a:ln w="19050">
            <a:solidFill>
              <a:srgbClr val="15151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4604698" y="4074956"/>
            <a:ext cx="2959891" cy="0"/>
          </a:xfrm>
          <a:prstGeom prst="line">
            <a:avLst/>
          </a:prstGeom>
          <a:ln w="19050">
            <a:solidFill>
              <a:srgbClr val="15151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bwMode="gray">
          <a:xfrm>
            <a:off x="5601077" y="3819829"/>
            <a:ext cx="0" cy="255127"/>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gray">
          <a:xfrm>
            <a:off x="5840967" y="3825532"/>
            <a:ext cx="0" cy="599944"/>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bwMode="gray">
          <a:xfrm>
            <a:off x="6090360" y="3812610"/>
            <a:ext cx="0" cy="993866"/>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bwMode="gray">
          <a:xfrm>
            <a:off x="6356194" y="3827619"/>
            <a:ext cx="0" cy="1328021"/>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bwMode="gray">
          <a:xfrm>
            <a:off x="6621766" y="3824220"/>
            <a:ext cx="0" cy="1719429"/>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bwMode="gray">
          <a:xfrm>
            <a:off x="5396739" y="3457785"/>
            <a:ext cx="1398521" cy="358496"/>
          </a:xfrm>
          <a:prstGeom prst="rect">
            <a:avLst/>
          </a:prstGeom>
          <a:solidFill>
            <a:srgbClr val="BEE9E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altLang="zh-CN" i="0" dirty="0">
                <a:solidFill>
                  <a:schemeClr val="tx1"/>
                </a:solidFill>
                <a:sym typeface="Huawei Sans" panose="020C0503030203020204" pitchFamily="34" charset="0"/>
              </a:rPr>
              <a:t>BFD</a:t>
            </a:r>
            <a:r>
              <a:rPr lang="zh-CN" altLang="en-US" i="0" dirty="0">
                <a:solidFill>
                  <a:schemeClr val="tx1"/>
                </a:solidFill>
                <a:sym typeface="Huawei Sans" panose="020C0503030203020204" pitchFamily="34" charset="0"/>
              </a:rPr>
              <a:t>会话检测</a:t>
            </a:r>
          </a:p>
        </p:txBody>
      </p:sp>
    </p:spTree>
    <p:extLst>
      <p:ext uri="{BB962C8B-B14F-4D97-AF65-F5344CB8AC3E}">
        <p14:creationId xmlns:p14="http://schemas.microsoft.com/office/powerpoint/2010/main" val="149538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1927F-2BD6-419D-B062-C6ACF31B77FC}"/>
              </a:ext>
            </a:extLst>
          </p:cNvPr>
          <p:cNvSpPr>
            <a:spLocks noGrp="1"/>
          </p:cNvSpPr>
          <p:nvPr>
            <p:ph type="title"/>
          </p:nvPr>
        </p:nvSpPr>
        <p:spPr bwMode="gray"/>
        <p:txBody>
          <a:bodyPr/>
          <a:lstStyle/>
          <a:p>
            <a:r>
              <a:rPr lang="en-US"/>
              <a:t>NQA</a:t>
            </a:r>
            <a:r>
              <a:rPr lang="zh-CN" altLang="en-US"/>
              <a:t>简介</a:t>
            </a:r>
            <a:endParaRPr lang="en-US" dirty="0"/>
          </a:p>
        </p:txBody>
      </p:sp>
      <p:sp>
        <p:nvSpPr>
          <p:cNvPr id="3" name="Text Placeholder 2">
            <a:extLst>
              <a:ext uri="{FF2B5EF4-FFF2-40B4-BE49-F238E27FC236}">
                <a16:creationId xmlns:a16="http://schemas.microsoft.com/office/drawing/2014/main" id="{41ED5D3C-7D88-4129-A713-93F3ECF6806F}"/>
              </a:ext>
            </a:extLst>
          </p:cNvPr>
          <p:cNvSpPr>
            <a:spLocks noGrp="1"/>
          </p:cNvSpPr>
          <p:nvPr>
            <p:ph type="body" sz="quarter" idx="10"/>
          </p:nvPr>
        </p:nvSpPr>
        <p:spPr bwMode="gray"/>
        <p:txBody>
          <a:bodyPr/>
          <a:lstStyle/>
          <a:p>
            <a:r>
              <a:rPr lang="zh-CN" altLang="en-US" sz="1800" dirty="0"/>
              <a:t>为了使网络服务质量可见，使用户能够自行检查网络服务质量是否达到要求，需要采取以下措施：</a:t>
            </a:r>
          </a:p>
          <a:p>
            <a:pPr lvl="1"/>
            <a:r>
              <a:rPr lang="zh-CN" altLang="en-US" sz="1600" dirty="0"/>
              <a:t>在设备上提供能够说明网络服务质量的数据。</a:t>
            </a:r>
          </a:p>
          <a:p>
            <a:pPr lvl="1"/>
            <a:r>
              <a:rPr lang="zh-CN" altLang="en-US" sz="1600" dirty="0"/>
              <a:t>在网络中部署探针设备能对网络服务质量进行监控。</a:t>
            </a:r>
          </a:p>
          <a:p>
            <a:r>
              <a:rPr lang="zh-CN" altLang="en-US" sz="1800" dirty="0"/>
              <a:t>部署上述措施时，需要在设备侧提供时延、抖动、丢包率等相关统计参数和使用专用的探针设备，增加了设备和资金的投入。</a:t>
            </a:r>
          </a:p>
          <a:p>
            <a:r>
              <a:rPr lang="zh-CN" altLang="en-US" sz="1800" dirty="0"/>
              <a:t>当设备部署</a:t>
            </a:r>
            <a:r>
              <a:rPr lang="en-US" altLang="zh-CN" sz="1800" dirty="0"/>
              <a:t>NQA</a:t>
            </a:r>
            <a:r>
              <a:rPr lang="zh-CN" altLang="en-US" sz="1800" dirty="0"/>
              <a:t>时，就不用部署专门的探针设备，可以有效的节约成本。</a:t>
            </a:r>
            <a:r>
              <a:rPr lang="en-US" altLang="zh-CN" sz="1800" dirty="0"/>
              <a:t>NQA</a:t>
            </a:r>
            <a:r>
              <a:rPr lang="zh-CN" altLang="en-US" sz="1800" dirty="0"/>
              <a:t>可以实现对网络运行状况的准确测试，输出统计信息。</a:t>
            </a:r>
            <a:endParaRPr lang="en-US" altLang="zh-CN" sz="1800" dirty="0"/>
          </a:p>
          <a:p>
            <a:r>
              <a:rPr lang="en-US" sz="1800" dirty="0"/>
              <a:t>NQA</a:t>
            </a:r>
            <a:r>
              <a:rPr lang="zh-CN" altLang="en-US" sz="1800" dirty="0"/>
              <a:t>是一种实时的网络性能探测和统计技术，可以对响应时间、网络抖动、丢包率等网络信息进行统计。</a:t>
            </a:r>
            <a:endParaRPr lang="en-US" altLang="zh-CN" sz="1800" dirty="0"/>
          </a:p>
        </p:txBody>
      </p:sp>
      <p:grpSp>
        <p:nvGrpSpPr>
          <p:cNvPr id="9" name="Group 8">
            <a:extLst>
              <a:ext uri="{FF2B5EF4-FFF2-40B4-BE49-F238E27FC236}">
                <a16:creationId xmlns:a16="http://schemas.microsoft.com/office/drawing/2014/main" id="{D1DA58C1-9283-44C3-8212-F09CF7184483}"/>
              </a:ext>
            </a:extLst>
          </p:cNvPr>
          <p:cNvGrpSpPr/>
          <p:nvPr/>
        </p:nvGrpSpPr>
        <p:grpSpPr bwMode="gray">
          <a:xfrm>
            <a:off x="3338613" y="4680114"/>
            <a:ext cx="5719402" cy="1451878"/>
            <a:chOff x="3338613" y="4913794"/>
            <a:chExt cx="5719402" cy="1451878"/>
          </a:xfrm>
        </p:grpSpPr>
        <p:pic>
          <p:nvPicPr>
            <p:cNvPr id="4" name="Picture 12" descr="E:\2016.01\1.12 扁平化图标\蓝色\AR-蓝色最新-40.png">
              <a:extLst>
                <a:ext uri="{FF2B5EF4-FFF2-40B4-BE49-F238E27FC236}">
                  <a16:creationId xmlns:a16="http://schemas.microsoft.com/office/drawing/2014/main" id="{AFEBAB38-3C14-44F2-93EA-7A117F2B73D0}"/>
                </a:ext>
              </a:extLst>
            </p:cNvPr>
            <p:cNvPicPr>
              <a:picLocks noChangeAspect="1" noChangeArrowheads="1"/>
            </p:cNvPicPr>
            <p:nvPr/>
          </p:nvPicPr>
          <p:blipFill>
            <a:blip r:embed="rId3" cstate="print"/>
            <a:srcRect/>
            <a:stretch>
              <a:fillRect/>
            </a:stretch>
          </p:blipFill>
          <p:spPr bwMode="gray">
            <a:xfrm>
              <a:off x="3701052" y="5742768"/>
              <a:ext cx="440049" cy="360040"/>
            </a:xfrm>
            <a:prstGeom prst="rect">
              <a:avLst/>
            </a:prstGeom>
            <a:noFill/>
          </p:spPr>
        </p:pic>
        <p:pic>
          <p:nvPicPr>
            <p:cNvPr id="5" name="Picture 12" descr="E:\2016.01\1.12 扁平化图标\蓝色\AR-蓝色最新-40.png">
              <a:extLst>
                <a:ext uri="{FF2B5EF4-FFF2-40B4-BE49-F238E27FC236}">
                  <a16:creationId xmlns:a16="http://schemas.microsoft.com/office/drawing/2014/main" id="{592835B9-C526-4DEE-959B-34A8E7847D71}"/>
                </a:ext>
              </a:extLst>
            </p:cNvPr>
            <p:cNvPicPr>
              <a:picLocks noChangeAspect="1" noChangeArrowheads="1"/>
            </p:cNvPicPr>
            <p:nvPr/>
          </p:nvPicPr>
          <p:blipFill>
            <a:blip r:embed="rId3" cstate="print"/>
            <a:srcRect/>
            <a:stretch>
              <a:fillRect/>
            </a:stretch>
          </p:blipFill>
          <p:spPr bwMode="gray">
            <a:xfrm>
              <a:off x="8265559" y="5742768"/>
              <a:ext cx="440049" cy="360040"/>
            </a:xfrm>
            <a:prstGeom prst="rect">
              <a:avLst/>
            </a:prstGeom>
            <a:noFill/>
          </p:spPr>
        </p:pic>
        <p:sp>
          <p:nvSpPr>
            <p:cNvPr id="6" name="Freeform 159">
              <a:extLst>
                <a:ext uri="{FF2B5EF4-FFF2-40B4-BE49-F238E27FC236}">
                  <a16:creationId xmlns:a16="http://schemas.microsoft.com/office/drawing/2014/main" id="{DBA60D68-C68C-4D31-8BEC-6641CD6250EA}"/>
                </a:ext>
              </a:extLst>
            </p:cNvPr>
            <p:cNvSpPr/>
            <p:nvPr/>
          </p:nvSpPr>
          <p:spPr bwMode="gray">
            <a:xfrm flipH="1">
              <a:off x="5640016" y="558248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7" name="Straight Connector 6">
              <a:extLst>
                <a:ext uri="{FF2B5EF4-FFF2-40B4-BE49-F238E27FC236}">
                  <a16:creationId xmlns:a16="http://schemas.microsoft.com/office/drawing/2014/main" id="{416077FA-C3C0-4CF0-AF90-1058695EBF4E}"/>
                </a:ext>
              </a:extLst>
            </p:cNvPr>
            <p:cNvCxnSpPr>
              <a:cxnSpLocks/>
              <a:stCxn id="4" idx="3"/>
              <a:endCxn id="6" idx="21"/>
            </p:cNvCxnSpPr>
            <p:nvPr/>
          </p:nvCxnSpPr>
          <p:spPr bwMode="gray">
            <a:xfrm flipV="1">
              <a:off x="4141101" y="5915793"/>
              <a:ext cx="1498915" cy="6995"/>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8BB05DB-D6A8-44D7-A1B9-B6D564D7C6A5}"/>
                </a:ext>
              </a:extLst>
            </p:cNvPr>
            <p:cNvCxnSpPr>
              <a:cxnSpLocks/>
              <a:stCxn id="5" idx="1"/>
              <a:endCxn id="6" idx="8"/>
            </p:cNvCxnSpPr>
            <p:nvPr/>
          </p:nvCxnSpPr>
          <p:spPr bwMode="gray">
            <a:xfrm flipH="1" flipV="1">
              <a:off x="6549498" y="5907140"/>
              <a:ext cx="1716061" cy="156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2EA4A4-62A2-486B-8DF2-B2AFDDF9E198}"/>
                </a:ext>
              </a:extLst>
            </p:cNvPr>
            <p:cNvSpPr txBox="1"/>
            <p:nvPr/>
          </p:nvSpPr>
          <p:spPr bwMode="gray">
            <a:xfrm>
              <a:off x="4486684" y="4913795"/>
              <a:ext cx="1069524" cy="276999"/>
            </a:xfrm>
            <a:prstGeom prst="rect">
              <a:avLst/>
            </a:prstGeom>
            <a:solidFill>
              <a:srgbClr val="56C4D2"/>
            </a:solidFill>
            <a:ln>
              <a:noFill/>
            </a:ln>
          </p:spPr>
          <p:txBody>
            <a:bodyPr wrap="none" rtlCol="0">
              <a:spAutoFit/>
            </a:bodyPr>
            <a:lstStyle/>
            <a:p>
              <a:pPr fontAlgn="auto"/>
              <a:r>
                <a:rPr lang="en-US" sz="1200" dirty="0">
                  <a:solidFill>
                    <a:schemeClr val="bg1"/>
                  </a:solidFill>
                  <a:latin typeface="+mn-lt"/>
                </a:rPr>
                <a:t>TCP</a:t>
              </a:r>
              <a:r>
                <a:rPr lang="zh-CN" altLang="en-US" sz="1200" dirty="0">
                  <a:solidFill>
                    <a:schemeClr val="bg1"/>
                  </a:solidFill>
                  <a:latin typeface="方正兰亭黑简体" panose="02000000000000000000" pitchFamily="2" charset="-122"/>
                  <a:ea typeface="方正兰亭黑简体" panose="02000000000000000000" pitchFamily="2" charset="-122"/>
                </a:rPr>
                <a:t>延迟检测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12" name="TextBox 11">
              <a:extLst>
                <a:ext uri="{FF2B5EF4-FFF2-40B4-BE49-F238E27FC236}">
                  <a16:creationId xmlns:a16="http://schemas.microsoft.com/office/drawing/2014/main" id="{09B9583D-DE55-4AB3-888C-E98C9DAD19DC}"/>
                </a:ext>
              </a:extLst>
            </p:cNvPr>
            <p:cNvSpPr txBox="1"/>
            <p:nvPr/>
          </p:nvSpPr>
          <p:spPr bwMode="gray">
            <a:xfrm>
              <a:off x="4445006" y="5254400"/>
              <a:ext cx="1111202"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DNS</a:t>
              </a:r>
              <a:r>
                <a:rPr lang="zh-CN" altLang="en-US" sz="1200" dirty="0">
                  <a:solidFill>
                    <a:schemeClr val="bg1"/>
                  </a:solidFill>
                  <a:latin typeface="方正兰亭黑简体" panose="02000000000000000000" pitchFamily="2" charset="-122"/>
                  <a:ea typeface="方正兰亭黑简体" panose="02000000000000000000" pitchFamily="2" charset="-122"/>
                </a:rPr>
                <a:t>延迟检测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13" name="TextBox 12">
              <a:extLst>
                <a:ext uri="{FF2B5EF4-FFF2-40B4-BE49-F238E27FC236}">
                  <a16:creationId xmlns:a16="http://schemas.microsoft.com/office/drawing/2014/main" id="{07D6A27B-C9A1-417B-B5D9-17D0C8A17868}"/>
                </a:ext>
              </a:extLst>
            </p:cNvPr>
            <p:cNvSpPr txBox="1"/>
            <p:nvPr/>
          </p:nvSpPr>
          <p:spPr bwMode="gray">
            <a:xfrm>
              <a:off x="4223792" y="5595005"/>
              <a:ext cx="1332416" cy="276999"/>
            </a:xfrm>
            <a:prstGeom prst="rect">
              <a:avLst/>
            </a:prstGeom>
            <a:solidFill>
              <a:srgbClr val="FFD17D"/>
            </a:solidFill>
          </p:spPr>
          <p:txBody>
            <a:bodyPr wrap="none" rtlCol="0">
              <a:spAutoFit/>
            </a:bodyPr>
            <a:lstStyle/>
            <a:p>
              <a:pPr fontAlgn="auto"/>
              <a:r>
                <a:rPr lang="en-US" sz="1200" dirty="0">
                  <a:solidFill>
                    <a:schemeClr val="bg1"/>
                  </a:solidFill>
                  <a:latin typeface="+mn-lt"/>
                </a:rPr>
                <a:t>HTTP</a:t>
              </a:r>
              <a:r>
                <a:rPr lang="zh-CN" altLang="en-US" sz="1200" dirty="0">
                  <a:solidFill>
                    <a:schemeClr val="bg1"/>
                  </a:solidFill>
                  <a:latin typeface="方正兰亭黑简体" panose="02000000000000000000" pitchFamily="2" charset="-122"/>
                  <a:ea typeface="方正兰亭黑简体" panose="02000000000000000000" pitchFamily="2" charset="-122"/>
                </a:rPr>
                <a:t>总延迟检测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14" name="Arrow: Right 13">
              <a:extLst>
                <a:ext uri="{FF2B5EF4-FFF2-40B4-BE49-F238E27FC236}">
                  <a16:creationId xmlns:a16="http://schemas.microsoft.com/office/drawing/2014/main" id="{235B9ACD-CC1B-470C-9597-CF475582EF0E}"/>
                </a:ext>
              </a:extLst>
            </p:cNvPr>
            <p:cNvSpPr/>
            <p:nvPr/>
          </p:nvSpPr>
          <p:spPr bwMode="gray">
            <a:xfrm>
              <a:off x="6140040" y="5190793"/>
              <a:ext cx="1036080" cy="404211"/>
            </a:xfrm>
            <a:prstGeom prst="rightArrow">
              <a:avLst>
                <a:gd name="adj1" fmla="val 68851"/>
                <a:gd name="adj2" fmla="val 50000"/>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sz="1200" dirty="0">
                  <a:solidFill>
                    <a:schemeClr val="tx1"/>
                  </a:solidFill>
                </a:rPr>
                <a:t>NQA</a:t>
              </a:r>
              <a:r>
                <a:rPr lang="zh-CN" altLang="en-US" sz="1200" dirty="0">
                  <a:solidFill>
                    <a:schemeClr val="tx1"/>
                  </a:solidFill>
                </a:rPr>
                <a:t>测试</a:t>
              </a:r>
              <a:endParaRPr lang="en-US" sz="1200" dirty="0">
                <a:solidFill>
                  <a:schemeClr val="tx1"/>
                </a:solidFill>
              </a:endParaRPr>
            </a:p>
          </p:txBody>
        </p:sp>
        <p:sp>
          <p:nvSpPr>
            <p:cNvPr id="19" name="Trapezoid 18">
              <a:extLst>
                <a:ext uri="{FF2B5EF4-FFF2-40B4-BE49-F238E27FC236}">
                  <a16:creationId xmlns:a16="http://schemas.microsoft.com/office/drawing/2014/main" id="{38BC3546-84E6-471E-8953-B8883D64CB0F}"/>
                </a:ext>
              </a:extLst>
            </p:cNvPr>
            <p:cNvSpPr/>
            <p:nvPr/>
          </p:nvSpPr>
          <p:spPr bwMode="gray">
            <a:xfrm rot="5400000">
              <a:off x="5372412" y="5128271"/>
              <a:ext cx="958209" cy="529256"/>
            </a:xfrm>
            <a:prstGeom prst="trapezoid">
              <a:avLst>
                <a:gd name="adj" fmla="val 64593"/>
              </a:avLst>
            </a:prstGeom>
            <a:gradFill>
              <a:gsLst>
                <a:gs pos="0">
                  <a:schemeClr val="accent1">
                    <a:lumMod val="5000"/>
                    <a:lumOff val="95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文本框 34">
              <a:extLst>
                <a:ext uri="{FF2B5EF4-FFF2-40B4-BE49-F238E27FC236}">
                  <a16:creationId xmlns:a16="http://schemas.microsoft.com/office/drawing/2014/main" id="{2B950A9F-4929-4BC2-B749-7605FCFF8388}"/>
                </a:ext>
              </a:extLst>
            </p:cNvPr>
            <p:cNvSpPr txBox="1"/>
            <p:nvPr/>
          </p:nvSpPr>
          <p:spPr bwMode="gray">
            <a:xfrm>
              <a:off x="3338613" y="6057895"/>
              <a:ext cx="110639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NQA Client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34">
              <a:extLst>
                <a:ext uri="{FF2B5EF4-FFF2-40B4-BE49-F238E27FC236}">
                  <a16:creationId xmlns:a16="http://schemas.microsoft.com/office/drawing/2014/main" id="{9E232339-5D44-4F04-8456-0B91F9C045BB}"/>
                </a:ext>
              </a:extLst>
            </p:cNvPr>
            <p:cNvSpPr txBox="1"/>
            <p:nvPr/>
          </p:nvSpPr>
          <p:spPr bwMode="gray">
            <a:xfrm>
              <a:off x="7913150" y="6038930"/>
              <a:ext cx="1144865"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NQA Server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467178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F0672-F7A2-4D30-AB80-5F0071D22B65}"/>
              </a:ext>
            </a:extLst>
          </p:cNvPr>
          <p:cNvSpPr>
            <a:spLocks noGrp="1"/>
          </p:cNvSpPr>
          <p:nvPr>
            <p:ph type="title"/>
          </p:nvPr>
        </p:nvSpPr>
        <p:spPr bwMode="gray"/>
        <p:txBody>
          <a:bodyPr/>
          <a:lstStyle/>
          <a:p>
            <a:r>
              <a:rPr lang="en-US" dirty="0"/>
              <a:t>IP FPM</a:t>
            </a:r>
            <a:r>
              <a:rPr lang="zh-CN" altLang="en-US" dirty="0"/>
              <a:t>简介</a:t>
            </a:r>
            <a:endParaRPr lang="en-US" dirty="0"/>
          </a:p>
        </p:txBody>
      </p:sp>
      <p:sp>
        <p:nvSpPr>
          <p:cNvPr id="3" name="Text Placeholder 2">
            <a:extLst>
              <a:ext uri="{FF2B5EF4-FFF2-40B4-BE49-F238E27FC236}">
                <a16:creationId xmlns:a16="http://schemas.microsoft.com/office/drawing/2014/main" id="{BDC310B4-092A-4A64-B7F9-293EAE6C3767}"/>
              </a:ext>
            </a:extLst>
          </p:cNvPr>
          <p:cNvSpPr>
            <a:spLocks noGrp="1"/>
          </p:cNvSpPr>
          <p:nvPr>
            <p:ph type="body" sz="quarter" idx="10"/>
          </p:nvPr>
        </p:nvSpPr>
        <p:spPr bwMode="gray"/>
        <p:txBody>
          <a:bodyPr/>
          <a:lstStyle/>
          <a:p>
            <a:r>
              <a:rPr lang="zh-CN" altLang="en-US" sz="1600" dirty="0"/>
              <a:t>随着云计算时代的到来，业务端到端的性能检测变得非常重要，但是常用的</a:t>
            </a:r>
            <a:r>
              <a:rPr lang="en-US" altLang="zh-CN" sz="1600" dirty="0"/>
              <a:t>NQA</a:t>
            </a:r>
            <a:r>
              <a:rPr lang="zh-CN" altLang="en-US" sz="1600" dirty="0"/>
              <a:t>技术在网络端到端性能统计的场景下存在缺陷：</a:t>
            </a:r>
            <a:endParaRPr lang="en-US" altLang="zh-CN" sz="1600" dirty="0"/>
          </a:p>
          <a:p>
            <a:pPr lvl="1"/>
            <a:r>
              <a:rPr lang="en-US" sz="1400" dirty="0"/>
              <a:t>NQA</a:t>
            </a:r>
            <a:r>
              <a:rPr lang="zh-CN" altLang="en-US" sz="1400" dirty="0"/>
              <a:t>通过构造业务报文，模拟业务报文在网络上转发，因此统计得到的性能指标不够精确。</a:t>
            </a:r>
            <a:endParaRPr lang="en-US" altLang="zh-CN" sz="1400" dirty="0"/>
          </a:p>
          <a:p>
            <a:pPr lvl="1"/>
            <a:r>
              <a:rPr lang="en-US" altLang="zh-CN" sz="1400" dirty="0"/>
              <a:t>NQA</a:t>
            </a:r>
            <a:r>
              <a:rPr lang="zh-CN" altLang="en-US" sz="1400" dirty="0"/>
              <a:t>不支持跨网络层端到端的场景，不能很好地解决</a:t>
            </a:r>
            <a:r>
              <a:rPr lang="en-US" altLang="zh-CN" sz="1400" dirty="0"/>
              <a:t>IP</a:t>
            </a:r>
            <a:r>
              <a:rPr lang="zh-CN" altLang="en-US" sz="1400" dirty="0"/>
              <a:t>网络在多路径场景下，网络性能难以监控和统计的问题。</a:t>
            </a:r>
            <a:endParaRPr lang="en-US" altLang="zh-CN" sz="1400" dirty="0"/>
          </a:p>
          <a:p>
            <a:r>
              <a:rPr lang="en-US" altLang="zh-CN" sz="1600" dirty="0"/>
              <a:t>IP FPM</a:t>
            </a:r>
            <a:r>
              <a:rPr lang="zh-CN" altLang="en-US" sz="1600" dirty="0"/>
              <a:t>（</a:t>
            </a:r>
            <a:r>
              <a:rPr lang="en-US" altLang="zh-CN" sz="1600" dirty="0"/>
              <a:t>IP Flow Performance Measurement</a:t>
            </a:r>
            <a:r>
              <a:rPr lang="zh-CN" altLang="en-US" sz="1600" dirty="0"/>
              <a:t>，</a:t>
            </a:r>
            <a:r>
              <a:rPr lang="en-US" altLang="zh-CN" sz="1600" dirty="0"/>
              <a:t>IP</a:t>
            </a:r>
            <a:r>
              <a:rPr lang="zh-CN" altLang="en-US" sz="1600" dirty="0"/>
              <a:t>性能测量）是一种通用的</a:t>
            </a:r>
            <a:r>
              <a:rPr lang="en-US" altLang="zh-CN" sz="1600" dirty="0"/>
              <a:t>IP</a:t>
            </a:r>
            <a:r>
              <a:rPr lang="zh-CN" altLang="en-US" sz="1600" dirty="0"/>
              <a:t>网络性能检测的方案，可以有效地解决上述问题。一方面，</a:t>
            </a:r>
            <a:r>
              <a:rPr lang="en-US" altLang="zh-CN" sz="1600" dirty="0"/>
              <a:t>IP FPM</a:t>
            </a:r>
            <a:r>
              <a:rPr lang="zh-CN" altLang="en-US" sz="1600" dirty="0"/>
              <a:t>可以直接对业务报文进行测量，测量数据可以真实反映</a:t>
            </a:r>
            <a:r>
              <a:rPr lang="en-US" altLang="zh-CN" sz="1600" dirty="0"/>
              <a:t>IP</a:t>
            </a:r>
            <a:r>
              <a:rPr lang="zh-CN" altLang="en-US" sz="1600" dirty="0"/>
              <a:t>网络的性能；另一方面，</a:t>
            </a:r>
            <a:r>
              <a:rPr lang="en-US" altLang="zh-CN" sz="1600" dirty="0"/>
              <a:t>IP FPM</a:t>
            </a:r>
            <a:r>
              <a:rPr lang="zh-CN" altLang="en-US" sz="1600" dirty="0"/>
              <a:t>可以在线监控</a:t>
            </a:r>
            <a:r>
              <a:rPr lang="en-US" altLang="zh-CN" sz="1600" dirty="0"/>
              <a:t>IP</a:t>
            </a:r>
            <a:r>
              <a:rPr lang="zh-CN" altLang="en-US" sz="1600" dirty="0"/>
              <a:t>网络承载的业务的变化，真实准确地反映出业务的运行情况。</a:t>
            </a:r>
            <a:endParaRPr lang="en-US" sz="1600" dirty="0"/>
          </a:p>
        </p:txBody>
      </p:sp>
      <p:grpSp>
        <p:nvGrpSpPr>
          <p:cNvPr id="23" name="Group 22">
            <a:extLst>
              <a:ext uri="{FF2B5EF4-FFF2-40B4-BE49-F238E27FC236}">
                <a16:creationId xmlns:a16="http://schemas.microsoft.com/office/drawing/2014/main" id="{8054F73A-8B2C-447C-BBBB-009C02B3CFD8}"/>
              </a:ext>
            </a:extLst>
          </p:cNvPr>
          <p:cNvGrpSpPr/>
          <p:nvPr/>
        </p:nvGrpSpPr>
        <p:grpSpPr bwMode="gray">
          <a:xfrm>
            <a:off x="1777851" y="3584995"/>
            <a:ext cx="8216596" cy="2578444"/>
            <a:chOff x="1982194" y="3679272"/>
            <a:chExt cx="8216596" cy="2578444"/>
          </a:xfrm>
        </p:grpSpPr>
        <p:pic>
          <p:nvPicPr>
            <p:cNvPr id="28" name="Picture 12" descr="E:\2016.01\1.12 扁平化图标\蓝色\AR-蓝色最新-40.png">
              <a:extLst>
                <a:ext uri="{FF2B5EF4-FFF2-40B4-BE49-F238E27FC236}">
                  <a16:creationId xmlns:a16="http://schemas.microsoft.com/office/drawing/2014/main" id="{0CF2E195-E905-4768-A131-83CCDC6DB7DF}"/>
                </a:ext>
              </a:extLst>
            </p:cNvPr>
            <p:cNvPicPr>
              <a:picLocks noChangeAspect="1" noChangeArrowheads="1"/>
            </p:cNvPicPr>
            <p:nvPr/>
          </p:nvPicPr>
          <p:blipFill>
            <a:blip r:embed="rId3" cstate="print"/>
            <a:srcRect/>
            <a:stretch>
              <a:fillRect/>
            </a:stretch>
          </p:blipFill>
          <p:spPr bwMode="gray">
            <a:xfrm>
              <a:off x="3634287" y="5017881"/>
              <a:ext cx="440049" cy="360040"/>
            </a:xfrm>
            <a:prstGeom prst="rect">
              <a:avLst/>
            </a:prstGeom>
            <a:noFill/>
          </p:spPr>
        </p:pic>
        <p:pic>
          <p:nvPicPr>
            <p:cNvPr id="29" name="Picture 12" descr="E:\2016.01\1.12 扁平化图标\蓝色\AR-蓝色最新-40.png">
              <a:extLst>
                <a:ext uri="{FF2B5EF4-FFF2-40B4-BE49-F238E27FC236}">
                  <a16:creationId xmlns:a16="http://schemas.microsoft.com/office/drawing/2014/main" id="{9B0D18CA-87DA-4B5F-85C7-C3244F8C8BAF}"/>
                </a:ext>
              </a:extLst>
            </p:cNvPr>
            <p:cNvPicPr>
              <a:picLocks noChangeAspect="1" noChangeArrowheads="1"/>
            </p:cNvPicPr>
            <p:nvPr/>
          </p:nvPicPr>
          <p:blipFill>
            <a:blip r:embed="rId3" cstate="print"/>
            <a:srcRect/>
            <a:stretch>
              <a:fillRect/>
            </a:stretch>
          </p:blipFill>
          <p:spPr bwMode="gray">
            <a:xfrm>
              <a:off x="8198794" y="5017881"/>
              <a:ext cx="440049" cy="360040"/>
            </a:xfrm>
            <a:prstGeom prst="rect">
              <a:avLst/>
            </a:prstGeom>
            <a:noFill/>
          </p:spPr>
        </p:pic>
        <p:sp>
          <p:nvSpPr>
            <p:cNvPr id="30" name="Freeform 159">
              <a:extLst>
                <a:ext uri="{FF2B5EF4-FFF2-40B4-BE49-F238E27FC236}">
                  <a16:creationId xmlns:a16="http://schemas.microsoft.com/office/drawing/2014/main" id="{78065CC6-C6D4-4B27-AA87-CB8F63A8A989}"/>
                </a:ext>
              </a:extLst>
            </p:cNvPr>
            <p:cNvSpPr/>
            <p:nvPr/>
          </p:nvSpPr>
          <p:spPr bwMode="gray">
            <a:xfrm flipH="1">
              <a:off x="5573251" y="4857596"/>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3" name="Straight Connector 32">
              <a:extLst>
                <a:ext uri="{FF2B5EF4-FFF2-40B4-BE49-F238E27FC236}">
                  <a16:creationId xmlns:a16="http://schemas.microsoft.com/office/drawing/2014/main" id="{482B3251-07B0-4D24-AE85-5E8898E5895A}"/>
                </a:ext>
              </a:extLst>
            </p:cNvPr>
            <p:cNvCxnSpPr>
              <a:cxnSpLocks/>
              <a:stCxn id="28" idx="3"/>
              <a:endCxn id="30" idx="21"/>
            </p:cNvCxnSpPr>
            <p:nvPr/>
          </p:nvCxnSpPr>
          <p:spPr bwMode="gray">
            <a:xfrm flipV="1">
              <a:off x="4074336" y="5190906"/>
              <a:ext cx="1498915" cy="6995"/>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04361B-CB2E-454C-80FD-00B30DD9A3EE}"/>
                </a:ext>
              </a:extLst>
            </p:cNvPr>
            <p:cNvCxnSpPr>
              <a:cxnSpLocks/>
              <a:stCxn id="29" idx="1"/>
              <a:endCxn id="30" idx="8"/>
            </p:cNvCxnSpPr>
            <p:nvPr/>
          </p:nvCxnSpPr>
          <p:spPr bwMode="gray">
            <a:xfrm flipH="1" flipV="1">
              <a:off x="6482733" y="5182253"/>
              <a:ext cx="1716061" cy="156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pic>
          <p:nvPicPr>
            <p:cNvPr id="35" name="Picture 12" descr="E:\2016.01\1.12 扁平化图标\蓝色\AR-蓝色最新-40.png">
              <a:extLst>
                <a:ext uri="{FF2B5EF4-FFF2-40B4-BE49-F238E27FC236}">
                  <a16:creationId xmlns:a16="http://schemas.microsoft.com/office/drawing/2014/main" id="{B20E2EFD-F893-4D98-9722-C26CCD698693}"/>
                </a:ext>
              </a:extLst>
            </p:cNvPr>
            <p:cNvPicPr>
              <a:picLocks noChangeAspect="1" noChangeArrowheads="1"/>
            </p:cNvPicPr>
            <p:nvPr/>
          </p:nvPicPr>
          <p:blipFill>
            <a:blip r:embed="rId3" cstate="print"/>
            <a:srcRect/>
            <a:stretch>
              <a:fillRect/>
            </a:stretch>
          </p:blipFill>
          <p:spPr bwMode="gray">
            <a:xfrm>
              <a:off x="5875975" y="3897052"/>
              <a:ext cx="440049" cy="360040"/>
            </a:xfrm>
            <a:prstGeom prst="rect">
              <a:avLst/>
            </a:prstGeom>
            <a:noFill/>
          </p:spPr>
        </p:pic>
        <p:cxnSp>
          <p:nvCxnSpPr>
            <p:cNvPr id="36" name="Straight Connector 35">
              <a:extLst>
                <a:ext uri="{FF2B5EF4-FFF2-40B4-BE49-F238E27FC236}">
                  <a16:creationId xmlns:a16="http://schemas.microsoft.com/office/drawing/2014/main" id="{A69436CF-1360-42D5-991A-6F038C098618}"/>
                </a:ext>
              </a:extLst>
            </p:cNvPr>
            <p:cNvCxnSpPr>
              <a:cxnSpLocks/>
              <a:stCxn id="30" idx="1"/>
              <a:endCxn id="35" idx="2"/>
            </p:cNvCxnSpPr>
            <p:nvPr/>
          </p:nvCxnSpPr>
          <p:spPr bwMode="gray">
            <a:xfrm flipV="1">
              <a:off x="6089059" y="4257092"/>
              <a:ext cx="6941" cy="667031"/>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37" name="文本框 34">
              <a:extLst>
                <a:ext uri="{FF2B5EF4-FFF2-40B4-BE49-F238E27FC236}">
                  <a16:creationId xmlns:a16="http://schemas.microsoft.com/office/drawing/2014/main" id="{DBB72227-48A8-402B-AD7B-011082C7F8A2}"/>
                </a:ext>
              </a:extLst>
            </p:cNvPr>
            <p:cNvSpPr txBox="1"/>
            <p:nvPr/>
          </p:nvSpPr>
          <p:spPr bwMode="gray">
            <a:xfrm>
              <a:off x="3568578" y="5354574"/>
              <a:ext cx="623210" cy="307777"/>
            </a:xfrm>
            <a:prstGeom prst="rect">
              <a:avLst/>
            </a:prstGeom>
            <a:noFill/>
          </p:spPr>
          <p:txBody>
            <a:bodyPr wrap="square" rtlCol="0">
              <a:spAutoFit/>
            </a:bodyPr>
            <a:lstStyle/>
            <a:p>
              <a:pP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DCP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4">
              <a:extLst>
                <a:ext uri="{FF2B5EF4-FFF2-40B4-BE49-F238E27FC236}">
                  <a16:creationId xmlns:a16="http://schemas.microsoft.com/office/drawing/2014/main" id="{72A89A82-0FED-40C6-8523-BA3D9C6A7669}"/>
                </a:ext>
              </a:extLst>
            </p:cNvPr>
            <p:cNvSpPr txBox="1"/>
            <p:nvPr/>
          </p:nvSpPr>
          <p:spPr bwMode="gray">
            <a:xfrm>
              <a:off x="8162799" y="5360944"/>
              <a:ext cx="623210" cy="307777"/>
            </a:xfrm>
            <a:prstGeom prst="rect">
              <a:avLst/>
            </a:prstGeom>
            <a:noFill/>
          </p:spPr>
          <p:txBody>
            <a:bodyPr wrap="square" rtlCol="0">
              <a:spAutoFit/>
            </a:bodyPr>
            <a:lstStyle/>
            <a:p>
              <a:pP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DCP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4">
              <a:extLst>
                <a:ext uri="{FF2B5EF4-FFF2-40B4-BE49-F238E27FC236}">
                  <a16:creationId xmlns:a16="http://schemas.microsoft.com/office/drawing/2014/main" id="{FE5641E3-4921-419F-A016-223E307EB74B}"/>
                </a:ext>
              </a:extLst>
            </p:cNvPr>
            <p:cNvSpPr txBox="1"/>
            <p:nvPr/>
          </p:nvSpPr>
          <p:spPr bwMode="gray">
            <a:xfrm>
              <a:off x="5370347" y="3778001"/>
              <a:ext cx="623210" cy="307777"/>
            </a:xfrm>
            <a:prstGeom prst="rect">
              <a:avLst/>
            </a:prstGeom>
            <a:noFill/>
          </p:spPr>
          <p:txBody>
            <a:bodyPr wrap="square" rtlCol="0">
              <a:spAutoFit/>
            </a:bodyPr>
            <a:lstStyle/>
            <a:p>
              <a:pP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MCP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59">
              <a:extLst>
                <a:ext uri="{FF2B5EF4-FFF2-40B4-BE49-F238E27FC236}">
                  <a16:creationId xmlns:a16="http://schemas.microsoft.com/office/drawing/2014/main" id="{C2A95485-C2E2-4A9D-8891-7BF334129B50}"/>
                </a:ext>
              </a:extLst>
            </p:cNvPr>
            <p:cNvSpPr/>
            <p:nvPr/>
          </p:nvSpPr>
          <p:spPr bwMode="gray">
            <a:xfrm flipH="1">
              <a:off x="1982194" y="517093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159">
              <a:extLst>
                <a:ext uri="{FF2B5EF4-FFF2-40B4-BE49-F238E27FC236}">
                  <a16:creationId xmlns:a16="http://schemas.microsoft.com/office/drawing/2014/main" id="{452C703A-35CB-4214-BD8E-82DF661A84CD}"/>
                </a:ext>
              </a:extLst>
            </p:cNvPr>
            <p:cNvSpPr/>
            <p:nvPr/>
          </p:nvSpPr>
          <p:spPr bwMode="gray">
            <a:xfrm flipH="1">
              <a:off x="9289308" y="5226766"/>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2" name="Straight Connector 41">
              <a:extLst>
                <a:ext uri="{FF2B5EF4-FFF2-40B4-BE49-F238E27FC236}">
                  <a16:creationId xmlns:a16="http://schemas.microsoft.com/office/drawing/2014/main" id="{A74DED9E-E6AB-4524-84A2-811CC44F0A9C}"/>
                </a:ext>
              </a:extLst>
            </p:cNvPr>
            <p:cNvCxnSpPr>
              <a:cxnSpLocks/>
              <a:stCxn id="40" idx="6"/>
              <a:endCxn id="28" idx="1"/>
            </p:cNvCxnSpPr>
            <p:nvPr/>
          </p:nvCxnSpPr>
          <p:spPr bwMode="gray">
            <a:xfrm flipV="1">
              <a:off x="2784211" y="5197901"/>
              <a:ext cx="850076" cy="153707"/>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785DE17-327E-4955-B393-0AE677C4CDEE}"/>
                </a:ext>
              </a:extLst>
            </p:cNvPr>
            <p:cNvCxnSpPr>
              <a:cxnSpLocks/>
              <a:stCxn id="41" idx="22"/>
              <a:endCxn id="29" idx="3"/>
            </p:cNvCxnSpPr>
            <p:nvPr/>
          </p:nvCxnSpPr>
          <p:spPr bwMode="gray">
            <a:xfrm flipH="1" flipV="1">
              <a:off x="8638843" y="5197901"/>
              <a:ext cx="762935" cy="22295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Oval 41">
              <a:extLst>
                <a:ext uri="{FF2B5EF4-FFF2-40B4-BE49-F238E27FC236}">
                  <a16:creationId xmlns:a16="http://schemas.microsoft.com/office/drawing/2014/main" id="{6E7B3145-43C7-4365-B294-2C279A6338E4}"/>
                </a:ext>
              </a:extLst>
            </p:cNvPr>
            <p:cNvSpPr>
              <a:spLocks noChangeAspect="1"/>
            </p:cNvSpPr>
            <p:nvPr/>
          </p:nvSpPr>
          <p:spPr bwMode="gray">
            <a:xfrm>
              <a:off x="3548609" y="511420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5" name="Oval 41">
              <a:extLst>
                <a:ext uri="{FF2B5EF4-FFF2-40B4-BE49-F238E27FC236}">
                  <a16:creationId xmlns:a16="http://schemas.microsoft.com/office/drawing/2014/main" id="{A8633252-E839-4E0D-BF36-491A15823335}"/>
                </a:ext>
              </a:extLst>
            </p:cNvPr>
            <p:cNvSpPr>
              <a:spLocks noChangeAspect="1"/>
            </p:cNvSpPr>
            <p:nvPr/>
          </p:nvSpPr>
          <p:spPr bwMode="gray">
            <a:xfrm>
              <a:off x="8551566" y="5120637"/>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46" name="Freeform: Shape 45">
              <a:extLst>
                <a:ext uri="{FF2B5EF4-FFF2-40B4-BE49-F238E27FC236}">
                  <a16:creationId xmlns:a16="http://schemas.microsoft.com/office/drawing/2014/main" id="{5FF62D38-EA07-4154-BBF8-38CC60A87C06}"/>
                </a:ext>
              </a:extLst>
            </p:cNvPr>
            <p:cNvSpPr/>
            <p:nvPr/>
          </p:nvSpPr>
          <p:spPr bwMode="gray">
            <a:xfrm>
              <a:off x="2528792" y="5103538"/>
              <a:ext cx="6998399" cy="345399"/>
            </a:xfrm>
            <a:custGeom>
              <a:avLst/>
              <a:gdLst>
                <a:gd name="connsiteX0" fmla="*/ 0 w 8039100"/>
                <a:gd name="connsiteY0" fmla="*/ 345399 h 345399"/>
                <a:gd name="connsiteX1" fmla="*/ 1409700 w 8039100"/>
                <a:gd name="connsiteY1" fmla="*/ 31074 h 345399"/>
                <a:gd name="connsiteX2" fmla="*/ 6286500 w 8039100"/>
                <a:gd name="connsiteY2" fmla="*/ 40599 h 345399"/>
                <a:gd name="connsiteX3" fmla="*/ 8039100 w 8039100"/>
                <a:gd name="connsiteY3" fmla="*/ 288249 h 345399"/>
              </a:gdLst>
              <a:ahLst/>
              <a:cxnLst>
                <a:cxn ang="0">
                  <a:pos x="connsiteX0" y="connsiteY0"/>
                </a:cxn>
                <a:cxn ang="0">
                  <a:pos x="connsiteX1" y="connsiteY1"/>
                </a:cxn>
                <a:cxn ang="0">
                  <a:pos x="connsiteX2" y="connsiteY2"/>
                </a:cxn>
                <a:cxn ang="0">
                  <a:pos x="connsiteX3" y="connsiteY3"/>
                </a:cxn>
              </a:cxnLst>
              <a:rect l="l" t="t" r="r" b="b"/>
              <a:pathLst>
                <a:path w="8039100" h="345399">
                  <a:moveTo>
                    <a:pt x="0" y="345399"/>
                  </a:moveTo>
                  <a:cubicBezTo>
                    <a:pt x="180975" y="213636"/>
                    <a:pt x="361950" y="81874"/>
                    <a:pt x="1409700" y="31074"/>
                  </a:cubicBezTo>
                  <a:cubicBezTo>
                    <a:pt x="2457450" y="-19726"/>
                    <a:pt x="5181600" y="-2263"/>
                    <a:pt x="6286500" y="40599"/>
                  </a:cubicBezTo>
                  <a:cubicBezTo>
                    <a:pt x="7391400" y="83461"/>
                    <a:pt x="8039100" y="288249"/>
                    <a:pt x="8039100" y="288249"/>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文本框 34">
              <a:extLst>
                <a:ext uri="{FF2B5EF4-FFF2-40B4-BE49-F238E27FC236}">
                  <a16:creationId xmlns:a16="http://schemas.microsoft.com/office/drawing/2014/main" id="{5E34A678-3F47-41A9-97C9-B3A023E3B274}"/>
                </a:ext>
              </a:extLst>
            </p:cNvPr>
            <p:cNvSpPr txBox="1"/>
            <p:nvPr/>
          </p:nvSpPr>
          <p:spPr bwMode="gray">
            <a:xfrm>
              <a:off x="3027290" y="5427660"/>
              <a:ext cx="508898" cy="307777"/>
            </a:xfrm>
            <a:prstGeom prst="rect">
              <a:avLst/>
            </a:prstGeom>
            <a:noFill/>
          </p:spPr>
          <p:txBody>
            <a:bodyPr wrap="square" rtlCol="0">
              <a:spAutoFit/>
            </a:bodyPr>
            <a:lstStyle/>
            <a:p>
              <a:pP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TLP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Straight Arrow Connector 47">
              <a:extLst>
                <a:ext uri="{FF2B5EF4-FFF2-40B4-BE49-F238E27FC236}">
                  <a16:creationId xmlns:a16="http://schemas.microsoft.com/office/drawing/2014/main" id="{A0082952-37C6-4FA8-8216-A521196435EB}"/>
                </a:ext>
              </a:extLst>
            </p:cNvPr>
            <p:cNvCxnSpPr>
              <a:cxnSpLocks/>
              <a:endCxn id="44" idx="3"/>
            </p:cNvCxnSpPr>
            <p:nvPr/>
          </p:nvCxnSpPr>
          <p:spPr bwMode="gray">
            <a:xfrm flipV="1">
              <a:off x="3427883" y="5250138"/>
              <a:ext cx="144049" cy="2167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9" name="文本框 34">
              <a:extLst>
                <a:ext uri="{FF2B5EF4-FFF2-40B4-BE49-F238E27FC236}">
                  <a16:creationId xmlns:a16="http://schemas.microsoft.com/office/drawing/2014/main" id="{E9179271-9B7A-4E22-982F-7D57F0EF54F9}"/>
                </a:ext>
              </a:extLst>
            </p:cNvPr>
            <p:cNvSpPr txBox="1"/>
            <p:nvPr/>
          </p:nvSpPr>
          <p:spPr bwMode="gray">
            <a:xfrm>
              <a:off x="8710827" y="5448937"/>
              <a:ext cx="508898" cy="307777"/>
            </a:xfrm>
            <a:prstGeom prst="rect">
              <a:avLst/>
            </a:prstGeom>
            <a:noFill/>
          </p:spPr>
          <p:txBody>
            <a:bodyPr wrap="square" rtlCol="0">
              <a:spAutoFit/>
            </a:bodyPr>
            <a:lstStyle/>
            <a:p>
              <a:pP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TLP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Straight Arrow Connector 49">
              <a:extLst>
                <a:ext uri="{FF2B5EF4-FFF2-40B4-BE49-F238E27FC236}">
                  <a16:creationId xmlns:a16="http://schemas.microsoft.com/office/drawing/2014/main" id="{2AAD0267-FB13-4657-8FDE-CBE9DE7981A4}"/>
                </a:ext>
              </a:extLst>
            </p:cNvPr>
            <p:cNvCxnSpPr>
              <a:cxnSpLocks/>
              <a:endCxn id="45" idx="5"/>
            </p:cNvCxnSpPr>
            <p:nvPr/>
          </p:nvCxnSpPr>
          <p:spPr bwMode="gray">
            <a:xfrm flipH="1" flipV="1">
              <a:off x="8687504" y="5256575"/>
              <a:ext cx="157304" cy="25825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51" name="Group 50">
              <a:extLst>
                <a:ext uri="{FF2B5EF4-FFF2-40B4-BE49-F238E27FC236}">
                  <a16:creationId xmlns:a16="http://schemas.microsoft.com/office/drawing/2014/main" id="{8A449256-3B9B-4DF7-9B31-51AADB398E04}"/>
                </a:ext>
              </a:extLst>
            </p:cNvPr>
            <p:cNvGrpSpPr/>
            <p:nvPr/>
          </p:nvGrpSpPr>
          <p:grpSpPr bwMode="gray">
            <a:xfrm>
              <a:off x="2601311" y="4560974"/>
              <a:ext cx="1473025" cy="291735"/>
              <a:chOff x="2633315" y="4128926"/>
              <a:chExt cx="1473025" cy="291735"/>
            </a:xfrm>
          </p:grpSpPr>
          <p:grpSp>
            <p:nvGrpSpPr>
              <p:cNvPr id="77" name="Group 76">
                <a:extLst>
                  <a:ext uri="{FF2B5EF4-FFF2-40B4-BE49-F238E27FC236}">
                    <a16:creationId xmlns:a16="http://schemas.microsoft.com/office/drawing/2014/main" id="{7FB29DB0-7EF6-4B04-ACF0-6210170D6D2B}"/>
                  </a:ext>
                </a:extLst>
              </p:cNvPr>
              <p:cNvGrpSpPr/>
              <p:nvPr/>
            </p:nvGrpSpPr>
            <p:grpSpPr bwMode="gray">
              <a:xfrm>
                <a:off x="2633874" y="4131463"/>
                <a:ext cx="1472466" cy="287715"/>
                <a:chOff x="3286046" y="4321969"/>
                <a:chExt cx="1472466" cy="287715"/>
              </a:xfrm>
            </p:grpSpPr>
            <p:sp>
              <p:nvSpPr>
                <p:cNvPr id="80" name="TextBox 120">
                  <a:extLst>
                    <a:ext uri="{FF2B5EF4-FFF2-40B4-BE49-F238E27FC236}">
                      <a16:creationId xmlns:a16="http://schemas.microsoft.com/office/drawing/2014/main" id="{E1598FB8-3908-437B-9411-853E4FF4136D}"/>
                    </a:ext>
                  </a:extLst>
                </p:cNvPr>
                <p:cNvSpPr txBox="1"/>
                <p:nvPr/>
              </p:nvSpPr>
              <p:spPr bwMode="gray">
                <a:xfrm>
                  <a:off x="3286046" y="4321969"/>
                  <a:ext cx="907083" cy="287715"/>
                </a:xfrm>
                <a:prstGeom prst="roundRect">
                  <a:avLst>
                    <a:gd name="adj" fmla="val 6721"/>
                  </a:avLst>
                </a:prstGeom>
                <a:solidFill>
                  <a:schemeClr val="accent1"/>
                </a:solidFill>
                <a:ln w="12700">
                  <a:solidFill>
                    <a:srgbClr val="00B0F0"/>
                  </a:solidFill>
                </a:ln>
              </p:spPr>
              <p:txBody>
                <a:bodyPr wrap="square" rtlCol="0" anchor="ctr">
                  <a:spAutoFit/>
                </a:bodyPr>
                <a:lstStyle/>
                <a:p>
                  <a:pPr fontAlgn="auto"/>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TextBox 120">
                  <a:extLst>
                    <a:ext uri="{FF2B5EF4-FFF2-40B4-BE49-F238E27FC236}">
                      <a16:creationId xmlns:a16="http://schemas.microsoft.com/office/drawing/2014/main" id="{B6C17774-7A38-4862-BAD9-00EE13EB4F94}"/>
                    </a:ext>
                  </a:extLst>
                </p:cNvPr>
                <p:cNvSpPr txBox="1"/>
                <p:nvPr/>
              </p:nvSpPr>
              <p:spPr bwMode="gray">
                <a:xfrm>
                  <a:off x="4193688" y="4321969"/>
                  <a:ext cx="56482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grpSp>
          <p:sp>
            <p:nvSpPr>
              <p:cNvPr id="78" name="TextBox 120">
                <a:extLst>
                  <a:ext uri="{FF2B5EF4-FFF2-40B4-BE49-F238E27FC236}">
                    <a16:creationId xmlns:a16="http://schemas.microsoft.com/office/drawing/2014/main" id="{E3E736CA-4EFF-4917-AC1E-9F4165F4BE81}"/>
                  </a:ext>
                </a:extLst>
              </p:cNvPr>
              <p:cNvSpPr txBox="1"/>
              <p:nvPr/>
            </p:nvSpPr>
            <p:spPr bwMode="gray">
              <a:xfrm>
                <a:off x="3311719" y="4132946"/>
                <a:ext cx="83946"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20">
                <a:extLst>
                  <a:ext uri="{FF2B5EF4-FFF2-40B4-BE49-F238E27FC236}">
                    <a16:creationId xmlns:a16="http://schemas.microsoft.com/office/drawing/2014/main" id="{3E2D738A-6A81-43CD-9F9F-DC27ABCDFA00}"/>
                  </a:ext>
                </a:extLst>
              </p:cNvPr>
              <p:cNvSpPr txBox="1"/>
              <p:nvPr/>
            </p:nvSpPr>
            <p:spPr bwMode="gray">
              <a:xfrm>
                <a:off x="2633315" y="4128926"/>
                <a:ext cx="907083" cy="287715"/>
              </a:xfrm>
              <a:prstGeom prst="roundRect">
                <a:avLst>
                  <a:gd name="adj" fmla="val 6721"/>
                </a:avLst>
              </a:prstGeom>
              <a:noFill/>
              <a:ln w="12700">
                <a:no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 Header</a:t>
                </a:r>
              </a:p>
            </p:txBody>
          </p:sp>
        </p:grpSp>
        <p:grpSp>
          <p:nvGrpSpPr>
            <p:cNvPr id="52" name="Group 51">
              <a:extLst>
                <a:ext uri="{FF2B5EF4-FFF2-40B4-BE49-F238E27FC236}">
                  <a16:creationId xmlns:a16="http://schemas.microsoft.com/office/drawing/2014/main" id="{A29030B4-FC59-4246-BFD4-A05616012033}"/>
                </a:ext>
              </a:extLst>
            </p:cNvPr>
            <p:cNvGrpSpPr/>
            <p:nvPr/>
          </p:nvGrpSpPr>
          <p:grpSpPr bwMode="gray">
            <a:xfrm>
              <a:off x="8224236" y="4571096"/>
              <a:ext cx="1473025" cy="291735"/>
              <a:chOff x="2633315" y="4128926"/>
              <a:chExt cx="1473025" cy="291735"/>
            </a:xfrm>
          </p:grpSpPr>
          <p:grpSp>
            <p:nvGrpSpPr>
              <p:cNvPr id="72" name="Group 71">
                <a:extLst>
                  <a:ext uri="{FF2B5EF4-FFF2-40B4-BE49-F238E27FC236}">
                    <a16:creationId xmlns:a16="http://schemas.microsoft.com/office/drawing/2014/main" id="{0C5A4282-E6D4-4219-A8DA-04B26216342F}"/>
                  </a:ext>
                </a:extLst>
              </p:cNvPr>
              <p:cNvGrpSpPr/>
              <p:nvPr/>
            </p:nvGrpSpPr>
            <p:grpSpPr bwMode="gray">
              <a:xfrm>
                <a:off x="2633874" y="4131463"/>
                <a:ext cx="1472466" cy="287715"/>
                <a:chOff x="3286046" y="4321969"/>
                <a:chExt cx="1472466" cy="287715"/>
              </a:xfrm>
            </p:grpSpPr>
            <p:sp>
              <p:nvSpPr>
                <p:cNvPr id="75" name="TextBox 120">
                  <a:extLst>
                    <a:ext uri="{FF2B5EF4-FFF2-40B4-BE49-F238E27FC236}">
                      <a16:creationId xmlns:a16="http://schemas.microsoft.com/office/drawing/2014/main" id="{68C52466-95AD-46D4-B518-287F94585F9C}"/>
                    </a:ext>
                  </a:extLst>
                </p:cNvPr>
                <p:cNvSpPr txBox="1"/>
                <p:nvPr/>
              </p:nvSpPr>
              <p:spPr bwMode="gray">
                <a:xfrm>
                  <a:off x="3286046" y="4321969"/>
                  <a:ext cx="907083" cy="287715"/>
                </a:xfrm>
                <a:prstGeom prst="roundRect">
                  <a:avLst>
                    <a:gd name="adj" fmla="val 6721"/>
                  </a:avLst>
                </a:prstGeom>
                <a:solidFill>
                  <a:schemeClr val="accent1"/>
                </a:solidFill>
                <a:ln w="12700">
                  <a:solidFill>
                    <a:srgbClr val="00B0F0"/>
                  </a:solidFill>
                </a:ln>
              </p:spPr>
              <p:txBody>
                <a:bodyPr wrap="square" rtlCol="0" anchor="ctr">
                  <a:spAutoFit/>
                </a:bodyPr>
                <a:lstStyle/>
                <a:p>
                  <a:pPr fontAlgn="auto"/>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TextBox 120">
                  <a:extLst>
                    <a:ext uri="{FF2B5EF4-FFF2-40B4-BE49-F238E27FC236}">
                      <a16:creationId xmlns:a16="http://schemas.microsoft.com/office/drawing/2014/main" id="{CF670E6B-455E-4888-88AA-13FD63810939}"/>
                    </a:ext>
                  </a:extLst>
                </p:cNvPr>
                <p:cNvSpPr txBox="1"/>
                <p:nvPr/>
              </p:nvSpPr>
              <p:spPr bwMode="gray">
                <a:xfrm>
                  <a:off x="4193688" y="4321969"/>
                  <a:ext cx="56482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grpSp>
          <p:sp>
            <p:nvSpPr>
              <p:cNvPr id="73" name="TextBox 120">
                <a:extLst>
                  <a:ext uri="{FF2B5EF4-FFF2-40B4-BE49-F238E27FC236}">
                    <a16:creationId xmlns:a16="http://schemas.microsoft.com/office/drawing/2014/main" id="{0BE70570-1AD3-41DE-9006-B22AD68454C4}"/>
                  </a:ext>
                </a:extLst>
              </p:cNvPr>
              <p:cNvSpPr txBox="1"/>
              <p:nvPr/>
            </p:nvSpPr>
            <p:spPr bwMode="gray">
              <a:xfrm>
                <a:off x="3311719" y="4132946"/>
                <a:ext cx="83946"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20">
                <a:extLst>
                  <a:ext uri="{FF2B5EF4-FFF2-40B4-BE49-F238E27FC236}">
                    <a16:creationId xmlns:a16="http://schemas.microsoft.com/office/drawing/2014/main" id="{A2F1EFED-CCBD-4D45-BAE7-AB225E784C49}"/>
                  </a:ext>
                </a:extLst>
              </p:cNvPr>
              <p:cNvSpPr txBox="1"/>
              <p:nvPr/>
            </p:nvSpPr>
            <p:spPr bwMode="gray">
              <a:xfrm>
                <a:off x="2633315" y="4128926"/>
                <a:ext cx="907083" cy="287715"/>
              </a:xfrm>
              <a:prstGeom prst="roundRect">
                <a:avLst>
                  <a:gd name="adj" fmla="val 6721"/>
                </a:avLst>
              </a:prstGeom>
              <a:noFill/>
              <a:ln w="12700">
                <a:no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 Header</a:t>
                </a:r>
              </a:p>
            </p:txBody>
          </p:sp>
        </p:grpSp>
        <p:sp>
          <p:nvSpPr>
            <p:cNvPr id="53" name="Rectangular Callout 72">
              <a:extLst>
                <a:ext uri="{FF2B5EF4-FFF2-40B4-BE49-F238E27FC236}">
                  <a16:creationId xmlns:a16="http://schemas.microsoft.com/office/drawing/2014/main" id="{11692870-437D-4207-88E1-27286085316E}"/>
                </a:ext>
              </a:extLst>
            </p:cNvPr>
            <p:cNvSpPr/>
            <p:nvPr/>
          </p:nvSpPr>
          <p:spPr bwMode="gray">
            <a:xfrm>
              <a:off x="2496196" y="3995882"/>
              <a:ext cx="1099447" cy="435133"/>
            </a:xfrm>
            <a:prstGeom prst="wedgeRectCallout">
              <a:avLst>
                <a:gd name="adj1" fmla="val 25341"/>
                <a:gd name="adj2" fmla="val 75665"/>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IP FPM</a:t>
              </a:r>
              <a:r>
                <a:rPr lang="zh-CN" altLang="en-US" sz="1200" dirty="0">
                  <a:solidFill>
                    <a:schemeClr val="bg1">
                      <a:lumMod val="50000"/>
                    </a:schemeClr>
                  </a:solidFill>
                </a:rPr>
                <a:t>将数据包进行染色</a:t>
              </a:r>
            </a:p>
          </p:txBody>
        </p:sp>
        <p:pic>
          <p:nvPicPr>
            <p:cNvPr id="54" name="图片 13" descr="大型网管-蓝.png">
              <a:extLst>
                <a:ext uri="{FF2B5EF4-FFF2-40B4-BE49-F238E27FC236}">
                  <a16:creationId xmlns:a16="http://schemas.microsoft.com/office/drawing/2014/main" id="{CDA2CFBC-5323-4A49-AC01-F7F57469CC85}"/>
                </a:ext>
              </a:extLst>
            </p:cNvPr>
            <p:cNvPicPr>
              <a:picLocks noChangeAspect="1"/>
            </p:cNvPicPr>
            <p:nvPr/>
          </p:nvPicPr>
          <p:blipFill>
            <a:blip r:embed="rId4" cstate="print"/>
            <a:stretch>
              <a:fillRect/>
            </a:stretch>
          </p:blipFill>
          <p:spPr bwMode="gray">
            <a:xfrm>
              <a:off x="7340763" y="3679272"/>
              <a:ext cx="440049" cy="360040"/>
            </a:xfrm>
            <a:prstGeom prst="rect">
              <a:avLst/>
            </a:prstGeom>
          </p:spPr>
        </p:pic>
        <p:cxnSp>
          <p:nvCxnSpPr>
            <p:cNvPr id="55" name="Straight Arrow Connector 54">
              <a:extLst>
                <a:ext uri="{FF2B5EF4-FFF2-40B4-BE49-F238E27FC236}">
                  <a16:creationId xmlns:a16="http://schemas.microsoft.com/office/drawing/2014/main" id="{E9066021-7BEE-45D3-9A66-2121FFBCA8F8}"/>
                </a:ext>
              </a:extLst>
            </p:cNvPr>
            <p:cNvCxnSpPr>
              <a:cxnSpLocks/>
            </p:cNvCxnSpPr>
            <p:nvPr/>
          </p:nvCxnSpPr>
          <p:spPr bwMode="gray">
            <a:xfrm flipV="1">
              <a:off x="6407604" y="3897052"/>
              <a:ext cx="840524" cy="117526"/>
            </a:xfrm>
            <a:prstGeom prst="straightConnector1">
              <a:avLst/>
            </a:prstGeom>
            <a:ln w="28575">
              <a:solidFill>
                <a:srgbClr val="8BC9A0"/>
              </a:solidFill>
              <a:tailEnd type="triangle"/>
            </a:ln>
          </p:spPr>
          <p:style>
            <a:lnRef idx="1">
              <a:schemeClr val="dk1"/>
            </a:lnRef>
            <a:fillRef idx="0">
              <a:schemeClr val="dk1"/>
            </a:fillRef>
            <a:effectRef idx="0">
              <a:schemeClr val="dk1"/>
            </a:effectRef>
            <a:fontRef idx="minor">
              <a:schemeClr val="tx1"/>
            </a:fontRef>
          </p:style>
        </p:cxnSp>
        <p:sp>
          <p:nvSpPr>
            <p:cNvPr id="56" name="文本框 34">
              <a:extLst>
                <a:ext uri="{FF2B5EF4-FFF2-40B4-BE49-F238E27FC236}">
                  <a16:creationId xmlns:a16="http://schemas.microsoft.com/office/drawing/2014/main" id="{AFDE4632-4A54-4D3D-88D0-24C36216D577}"/>
                </a:ext>
              </a:extLst>
            </p:cNvPr>
            <p:cNvSpPr txBox="1"/>
            <p:nvPr/>
          </p:nvSpPr>
          <p:spPr bwMode="gray">
            <a:xfrm>
              <a:off x="7720974" y="3705403"/>
              <a:ext cx="1181665" cy="307777"/>
            </a:xfrm>
            <a:prstGeom prst="rect">
              <a:avLst/>
            </a:prstGeom>
            <a:noFill/>
          </p:spPr>
          <p:txBody>
            <a:bodyPr wrap="square" rtlCol="0">
              <a:spAutoFit/>
            </a:bodyPr>
            <a:lstStyle/>
            <a:p>
              <a:pPr fontAlgn="auto"/>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控制器</a:t>
              </a:r>
            </a:p>
          </p:txBody>
        </p:sp>
        <p:cxnSp>
          <p:nvCxnSpPr>
            <p:cNvPr id="57" name="Straight Arrow Connector 56">
              <a:extLst>
                <a:ext uri="{FF2B5EF4-FFF2-40B4-BE49-F238E27FC236}">
                  <a16:creationId xmlns:a16="http://schemas.microsoft.com/office/drawing/2014/main" id="{28788839-C199-47CA-84D5-42504395EE2E}"/>
                </a:ext>
              </a:extLst>
            </p:cNvPr>
            <p:cNvCxnSpPr>
              <a:cxnSpLocks/>
            </p:cNvCxnSpPr>
            <p:nvPr/>
          </p:nvCxnSpPr>
          <p:spPr bwMode="gray">
            <a:xfrm flipV="1">
              <a:off x="4091842" y="4067362"/>
              <a:ext cx="1675807" cy="909176"/>
            </a:xfrm>
            <a:prstGeom prst="straightConnector1">
              <a:avLst/>
            </a:prstGeom>
            <a:ln w="28575">
              <a:solidFill>
                <a:srgbClr val="FFD17D"/>
              </a:solidFill>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79FD1BD8-6842-450F-A5E1-DCF597EB4834}"/>
                </a:ext>
              </a:extLst>
            </p:cNvPr>
            <p:cNvCxnSpPr>
              <a:cxnSpLocks/>
            </p:cNvCxnSpPr>
            <p:nvPr/>
          </p:nvCxnSpPr>
          <p:spPr bwMode="gray">
            <a:xfrm flipH="1" flipV="1">
              <a:off x="6382663" y="4105397"/>
              <a:ext cx="1763697" cy="911746"/>
            </a:xfrm>
            <a:prstGeom prst="straightConnector1">
              <a:avLst/>
            </a:prstGeom>
            <a:ln w="28575">
              <a:solidFill>
                <a:srgbClr val="FFD17D"/>
              </a:solidFill>
              <a:tailEnd type="triangle"/>
            </a:ln>
          </p:spPr>
          <p:style>
            <a:lnRef idx="1">
              <a:schemeClr val="dk1"/>
            </a:lnRef>
            <a:fillRef idx="0">
              <a:schemeClr val="dk1"/>
            </a:fillRef>
            <a:effectRef idx="0">
              <a:schemeClr val="dk1"/>
            </a:effectRef>
            <a:fontRef idx="minor">
              <a:schemeClr val="tx1"/>
            </a:fontRef>
          </p:style>
        </p:cxnSp>
        <p:sp>
          <p:nvSpPr>
            <p:cNvPr id="59" name="Rectangular Callout 72">
              <a:extLst>
                <a:ext uri="{FF2B5EF4-FFF2-40B4-BE49-F238E27FC236}">
                  <a16:creationId xmlns:a16="http://schemas.microsoft.com/office/drawing/2014/main" id="{468500F7-F315-4A27-955C-85CB35B7A82C}"/>
                </a:ext>
              </a:extLst>
            </p:cNvPr>
            <p:cNvSpPr/>
            <p:nvPr/>
          </p:nvSpPr>
          <p:spPr bwMode="gray">
            <a:xfrm>
              <a:off x="4036543" y="5514832"/>
              <a:ext cx="994705" cy="586487"/>
            </a:xfrm>
            <a:prstGeom prst="wedgeRectCallout">
              <a:avLst>
                <a:gd name="adj1" fmla="val -47615"/>
                <a:gd name="adj2" fmla="val -7756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DCP</a:t>
              </a:r>
              <a:r>
                <a:rPr lang="zh-CN" altLang="en-US" sz="1200" dirty="0">
                  <a:solidFill>
                    <a:schemeClr val="bg1">
                      <a:lumMod val="50000"/>
                    </a:schemeClr>
                  </a:solidFill>
                </a:rPr>
                <a:t>将</a:t>
              </a:r>
              <a:r>
                <a:rPr lang="en-US" altLang="zh-CN" sz="1200" dirty="0">
                  <a:solidFill>
                    <a:schemeClr val="bg1">
                      <a:lumMod val="50000"/>
                    </a:schemeClr>
                  </a:solidFill>
                </a:rPr>
                <a:t>TLP</a:t>
              </a:r>
              <a:r>
                <a:rPr lang="zh-CN" altLang="en-US" sz="1200" dirty="0">
                  <a:solidFill>
                    <a:schemeClr val="bg1">
                      <a:lumMod val="50000"/>
                    </a:schemeClr>
                  </a:solidFill>
                </a:rPr>
                <a:t>统计的数据发送给</a:t>
              </a:r>
              <a:r>
                <a:rPr lang="en-US" altLang="zh-CN" sz="1200" dirty="0">
                  <a:solidFill>
                    <a:schemeClr val="bg1">
                      <a:lumMod val="50000"/>
                    </a:schemeClr>
                  </a:solidFill>
                </a:rPr>
                <a:t>MCP</a:t>
              </a:r>
              <a:endParaRPr lang="zh-CN" altLang="en-US" sz="1200" dirty="0">
                <a:solidFill>
                  <a:schemeClr val="bg1">
                    <a:lumMod val="50000"/>
                  </a:schemeClr>
                </a:solidFill>
              </a:endParaRPr>
            </a:p>
          </p:txBody>
        </p:sp>
        <p:sp>
          <p:nvSpPr>
            <p:cNvPr id="60" name="Rectangular Callout 72">
              <a:extLst>
                <a:ext uri="{FF2B5EF4-FFF2-40B4-BE49-F238E27FC236}">
                  <a16:creationId xmlns:a16="http://schemas.microsoft.com/office/drawing/2014/main" id="{4B62A58B-5E52-4D42-84A9-88F588FA69E2}"/>
                </a:ext>
              </a:extLst>
            </p:cNvPr>
            <p:cNvSpPr/>
            <p:nvPr/>
          </p:nvSpPr>
          <p:spPr bwMode="gray">
            <a:xfrm>
              <a:off x="2438961" y="5822583"/>
              <a:ext cx="1099447" cy="435133"/>
            </a:xfrm>
            <a:prstGeom prst="wedgeRectCallout">
              <a:avLst>
                <a:gd name="adj1" fmla="val 25340"/>
                <a:gd name="adj2" fmla="val -79753"/>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TLP</a:t>
              </a:r>
              <a:r>
                <a:rPr lang="zh-CN" altLang="en-US" sz="1200" dirty="0">
                  <a:solidFill>
                    <a:schemeClr val="bg1">
                      <a:lumMod val="50000"/>
                    </a:schemeClr>
                  </a:solidFill>
                </a:rPr>
                <a:t>统计被染色数据包个数</a:t>
              </a:r>
            </a:p>
          </p:txBody>
        </p:sp>
        <p:sp>
          <p:nvSpPr>
            <p:cNvPr id="61" name="Rectangular Callout 72">
              <a:extLst>
                <a:ext uri="{FF2B5EF4-FFF2-40B4-BE49-F238E27FC236}">
                  <a16:creationId xmlns:a16="http://schemas.microsoft.com/office/drawing/2014/main" id="{C6937D81-CF23-4429-AAED-E9047DEEF5DB}"/>
                </a:ext>
              </a:extLst>
            </p:cNvPr>
            <p:cNvSpPr/>
            <p:nvPr/>
          </p:nvSpPr>
          <p:spPr bwMode="gray">
            <a:xfrm>
              <a:off x="8670001" y="5820727"/>
              <a:ext cx="1099447" cy="435133"/>
            </a:xfrm>
            <a:prstGeom prst="wedgeRectCallout">
              <a:avLst>
                <a:gd name="adj1" fmla="val -27507"/>
                <a:gd name="adj2" fmla="val -7756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TLP</a:t>
              </a:r>
              <a:r>
                <a:rPr lang="zh-CN" altLang="en-US" sz="1200" dirty="0">
                  <a:solidFill>
                    <a:schemeClr val="bg1">
                      <a:lumMod val="50000"/>
                    </a:schemeClr>
                  </a:solidFill>
                </a:rPr>
                <a:t>统计被染色数据包个数</a:t>
              </a:r>
            </a:p>
          </p:txBody>
        </p:sp>
        <p:sp>
          <p:nvSpPr>
            <p:cNvPr id="62" name="Rectangular Callout 72">
              <a:extLst>
                <a:ext uri="{FF2B5EF4-FFF2-40B4-BE49-F238E27FC236}">
                  <a16:creationId xmlns:a16="http://schemas.microsoft.com/office/drawing/2014/main" id="{4F4D670E-A5A0-4342-8D27-8038610EC063}"/>
                </a:ext>
              </a:extLst>
            </p:cNvPr>
            <p:cNvSpPr/>
            <p:nvPr/>
          </p:nvSpPr>
          <p:spPr bwMode="gray">
            <a:xfrm>
              <a:off x="7217888" y="5512581"/>
              <a:ext cx="994705" cy="586487"/>
            </a:xfrm>
            <a:prstGeom prst="wedgeRectCallout">
              <a:avLst>
                <a:gd name="adj1" fmla="val 49100"/>
                <a:gd name="adj2" fmla="val -7756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DCP</a:t>
              </a:r>
              <a:r>
                <a:rPr lang="zh-CN" altLang="en-US" sz="1200" dirty="0">
                  <a:solidFill>
                    <a:schemeClr val="bg1">
                      <a:lumMod val="50000"/>
                    </a:schemeClr>
                  </a:solidFill>
                </a:rPr>
                <a:t>将</a:t>
              </a:r>
              <a:r>
                <a:rPr lang="en-US" altLang="zh-CN" sz="1200" dirty="0">
                  <a:solidFill>
                    <a:schemeClr val="bg1">
                      <a:lumMod val="50000"/>
                    </a:schemeClr>
                  </a:solidFill>
                </a:rPr>
                <a:t>TLP</a:t>
              </a:r>
              <a:r>
                <a:rPr lang="zh-CN" altLang="en-US" sz="1200" dirty="0">
                  <a:solidFill>
                    <a:schemeClr val="bg1">
                      <a:lumMod val="50000"/>
                    </a:schemeClr>
                  </a:solidFill>
                </a:rPr>
                <a:t>统计的数据发送给</a:t>
              </a:r>
              <a:r>
                <a:rPr lang="en-US" altLang="zh-CN" sz="1200" dirty="0">
                  <a:solidFill>
                    <a:schemeClr val="bg1">
                      <a:lumMod val="50000"/>
                    </a:schemeClr>
                  </a:solidFill>
                </a:rPr>
                <a:t>MCP</a:t>
              </a:r>
              <a:endParaRPr lang="zh-CN" altLang="en-US" sz="1200" dirty="0">
                <a:solidFill>
                  <a:schemeClr val="bg1">
                    <a:lumMod val="50000"/>
                  </a:schemeClr>
                </a:solidFill>
              </a:endParaRPr>
            </a:p>
          </p:txBody>
        </p:sp>
        <p:sp>
          <p:nvSpPr>
            <p:cNvPr id="63" name="Rectangular Callout 72">
              <a:extLst>
                <a:ext uri="{FF2B5EF4-FFF2-40B4-BE49-F238E27FC236}">
                  <a16:creationId xmlns:a16="http://schemas.microsoft.com/office/drawing/2014/main" id="{C9B298E2-ED1C-4AFD-BE71-69888C3362BE}"/>
                </a:ext>
              </a:extLst>
            </p:cNvPr>
            <p:cNvSpPr/>
            <p:nvPr/>
          </p:nvSpPr>
          <p:spPr bwMode="gray">
            <a:xfrm>
              <a:off x="4457833" y="4289003"/>
              <a:ext cx="1235309" cy="586487"/>
            </a:xfrm>
            <a:prstGeom prst="wedgeRectCallout">
              <a:avLst>
                <a:gd name="adj1" fmla="val 63924"/>
                <a:gd name="adj2" fmla="val -5167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MCP</a:t>
              </a:r>
              <a:r>
                <a:rPr lang="zh-CN" altLang="en-US" sz="1200" dirty="0">
                  <a:solidFill>
                    <a:schemeClr val="bg1">
                      <a:lumMod val="50000"/>
                    </a:schemeClr>
                  </a:solidFill>
                </a:rPr>
                <a:t>汇总统计数据后，计算出丢包和延迟</a:t>
              </a:r>
            </a:p>
          </p:txBody>
        </p:sp>
        <p:sp>
          <p:nvSpPr>
            <p:cNvPr id="64" name="Rectangular Callout 72">
              <a:extLst>
                <a:ext uri="{FF2B5EF4-FFF2-40B4-BE49-F238E27FC236}">
                  <a16:creationId xmlns:a16="http://schemas.microsoft.com/office/drawing/2014/main" id="{D5CB702F-5207-4CF1-BDB5-DFAB0F4FE413}"/>
                </a:ext>
              </a:extLst>
            </p:cNvPr>
            <p:cNvSpPr/>
            <p:nvPr/>
          </p:nvSpPr>
          <p:spPr bwMode="gray">
            <a:xfrm>
              <a:off x="6563623" y="4361146"/>
              <a:ext cx="1414488" cy="467703"/>
            </a:xfrm>
            <a:prstGeom prst="wedgeRectCallout">
              <a:avLst>
                <a:gd name="adj1" fmla="val 21903"/>
                <a:gd name="adj2" fmla="val -106839"/>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向网管或者控制器上报结果（可选）</a:t>
              </a:r>
            </a:p>
          </p:txBody>
        </p:sp>
        <p:sp>
          <p:nvSpPr>
            <p:cNvPr id="65" name="椭圆 50">
              <a:extLst>
                <a:ext uri="{FF2B5EF4-FFF2-40B4-BE49-F238E27FC236}">
                  <a16:creationId xmlns:a16="http://schemas.microsoft.com/office/drawing/2014/main" id="{BA889A1D-70D2-4B22-9D1C-4D42DA0CD442}"/>
                </a:ext>
              </a:extLst>
            </p:cNvPr>
            <p:cNvSpPr/>
            <p:nvPr/>
          </p:nvSpPr>
          <p:spPr bwMode="gray">
            <a:xfrm>
              <a:off x="2406196" y="3897746"/>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50">
              <a:extLst>
                <a:ext uri="{FF2B5EF4-FFF2-40B4-BE49-F238E27FC236}">
                  <a16:creationId xmlns:a16="http://schemas.microsoft.com/office/drawing/2014/main" id="{F5B85DA2-89EC-4B2C-BA92-381695B4256F}"/>
                </a:ext>
              </a:extLst>
            </p:cNvPr>
            <p:cNvSpPr/>
            <p:nvPr/>
          </p:nvSpPr>
          <p:spPr bwMode="gray">
            <a:xfrm>
              <a:off x="2346935" y="5735437"/>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50">
              <a:extLst>
                <a:ext uri="{FF2B5EF4-FFF2-40B4-BE49-F238E27FC236}">
                  <a16:creationId xmlns:a16="http://schemas.microsoft.com/office/drawing/2014/main" id="{B201B677-E8FF-46E9-9DD9-66EB0C0D954A}"/>
                </a:ext>
              </a:extLst>
            </p:cNvPr>
            <p:cNvSpPr/>
            <p:nvPr/>
          </p:nvSpPr>
          <p:spPr bwMode="gray">
            <a:xfrm>
              <a:off x="8597504" y="5727592"/>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50">
              <a:extLst>
                <a:ext uri="{FF2B5EF4-FFF2-40B4-BE49-F238E27FC236}">
                  <a16:creationId xmlns:a16="http://schemas.microsoft.com/office/drawing/2014/main" id="{9A013DDE-B5A6-4C52-8C5B-19B8CD8D17EF}"/>
                </a:ext>
              </a:extLst>
            </p:cNvPr>
            <p:cNvSpPr/>
            <p:nvPr/>
          </p:nvSpPr>
          <p:spPr bwMode="gray">
            <a:xfrm>
              <a:off x="3946543" y="6013901"/>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椭圆 50">
              <a:extLst>
                <a:ext uri="{FF2B5EF4-FFF2-40B4-BE49-F238E27FC236}">
                  <a16:creationId xmlns:a16="http://schemas.microsoft.com/office/drawing/2014/main" id="{52AA6828-D7E3-4FC7-9995-AEBB8910A0D2}"/>
                </a:ext>
              </a:extLst>
            </p:cNvPr>
            <p:cNvSpPr/>
            <p:nvPr/>
          </p:nvSpPr>
          <p:spPr bwMode="gray">
            <a:xfrm>
              <a:off x="7127888" y="6004623"/>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50">
              <a:extLst>
                <a:ext uri="{FF2B5EF4-FFF2-40B4-BE49-F238E27FC236}">
                  <a16:creationId xmlns:a16="http://schemas.microsoft.com/office/drawing/2014/main" id="{2E943388-B690-4922-945C-8FA2EE7F983C}"/>
                </a:ext>
              </a:extLst>
            </p:cNvPr>
            <p:cNvSpPr/>
            <p:nvPr/>
          </p:nvSpPr>
          <p:spPr bwMode="gray">
            <a:xfrm>
              <a:off x="4367833" y="4196421"/>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50">
              <a:extLst>
                <a:ext uri="{FF2B5EF4-FFF2-40B4-BE49-F238E27FC236}">
                  <a16:creationId xmlns:a16="http://schemas.microsoft.com/office/drawing/2014/main" id="{6817B8DD-92B5-46A4-853A-ACB6E6244FC9}"/>
                </a:ext>
              </a:extLst>
            </p:cNvPr>
            <p:cNvSpPr/>
            <p:nvPr/>
          </p:nvSpPr>
          <p:spPr bwMode="gray">
            <a:xfrm>
              <a:off x="6476351" y="4271146"/>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708252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9D81-A66C-468C-9DBF-F8816ABC99D3}"/>
              </a:ext>
            </a:extLst>
          </p:cNvPr>
          <p:cNvSpPr>
            <a:spLocks noGrp="1"/>
          </p:cNvSpPr>
          <p:nvPr>
            <p:ph type="title"/>
          </p:nvPr>
        </p:nvSpPr>
        <p:spPr bwMode="gray"/>
        <p:txBody>
          <a:bodyPr/>
          <a:lstStyle/>
          <a:p>
            <a:r>
              <a:rPr lang="zh-CN" altLang="en-US" dirty="0"/>
              <a:t>链路探测技术应用场景</a:t>
            </a:r>
            <a:endParaRPr lang="en-US" dirty="0"/>
          </a:p>
        </p:txBody>
      </p:sp>
      <p:sp>
        <p:nvSpPr>
          <p:cNvPr id="4" name="圆角矩形 75">
            <a:extLst>
              <a:ext uri="{FF2B5EF4-FFF2-40B4-BE49-F238E27FC236}">
                <a16:creationId xmlns:a16="http://schemas.microsoft.com/office/drawing/2014/main" id="{0E117DFE-7EAC-4CF6-A373-28CDABBD2C8D}"/>
              </a:ext>
            </a:extLst>
          </p:cNvPr>
          <p:cNvSpPr/>
          <p:nvPr/>
        </p:nvSpPr>
        <p:spPr bwMode="gray">
          <a:xfrm>
            <a:off x="536000" y="1251388"/>
            <a:ext cx="5484711"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常用链路质量探测场景</a:t>
            </a:r>
          </a:p>
        </p:txBody>
      </p:sp>
      <p:sp>
        <p:nvSpPr>
          <p:cNvPr id="5" name="圆角矩形 75">
            <a:extLst>
              <a:ext uri="{FF2B5EF4-FFF2-40B4-BE49-F238E27FC236}">
                <a16:creationId xmlns:a16="http://schemas.microsoft.com/office/drawing/2014/main" id="{CB444378-389F-4956-BA33-A95529BDF923}"/>
              </a:ext>
            </a:extLst>
          </p:cNvPr>
          <p:cNvSpPr/>
          <p:nvPr/>
        </p:nvSpPr>
        <p:spPr bwMode="gray">
          <a:xfrm>
            <a:off x="536000" y="1685675"/>
            <a:ext cx="5484711" cy="438175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通常会与浮动路由联动。</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检测到链路出现故障，则高优先级路由会失效，备用路由会被启用。</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a:extLst>
              <a:ext uri="{FF2B5EF4-FFF2-40B4-BE49-F238E27FC236}">
                <a16:creationId xmlns:a16="http://schemas.microsoft.com/office/drawing/2014/main" id="{48C1CAE6-52BC-491C-84C9-7157D1BEC935}"/>
              </a:ext>
            </a:extLst>
          </p:cNvPr>
          <p:cNvSpPr/>
          <p:nvPr/>
        </p:nvSpPr>
        <p:spPr bwMode="gray">
          <a:xfrm>
            <a:off x="6173111" y="1251388"/>
            <a:ext cx="5484711"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端到端链路质量探测场景</a:t>
            </a:r>
          </a:p>
        </p:txBody>
      </p:sp>
      <p:sp>
        <p:nvSpPr>
          <p:cNvPr id="7" name="圆角矩形 75">
            <a:extLst>
              <a:ext uri="{FF2B5EF4-FFF2-40B4-BE49-F238E27FC236}">
                <a16:creationId xmlns:a16="http://schemas.microsoft.com/office/drawing/2014/main" id="{D3645546-B5B8-4CBD-B06A-9B3182E87CE6}"/>
              </a:ext>
            </a:extLst>
          </p:cNvPr>
          <p:cNvSpPr/>
          <p:nvPr/>
        </p:nvSpPr>
        <p:spPr bwMode="gray">
          <a:xfrm>
            <a:off x="6173111" y="1685675"/>
            <a:ext cx="5484711" cy="438175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 FPM</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通过将数据包进行染色标注数据包，帮助入口与出口的设备测量特定流量的丢包或抖动。</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由于</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 FPM</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可以端到端地测量网络质量，所以可以在出口多链路的场景下测试不同链路的真实网络质量。</a:t>
            </a:r>
          </a:p>
        </p:txBody>
      </p:sp>
      <p:pic>
        <p:nvPicPr>
          <p:cNvPr id="26" name="Picture 12" descr="E:\2016.01\1.12 扁平化图标\蓝色\AR-蓝色最新-40.png">
            <a:extLst>
              <a:ext uri="{FF2B5EF4-FFF2-40B4-BE49-F238E27FC236}">
                <a16:creationId xmlns:a16="http://schemas.microsoft.com/office/drawing/2014/main" id="{26A53854-2E69-433D-AF03-28D973F18980}"/>
              </a:ext>
            </a:extLst>
          </p:cNvPr>
          <p:cNvPicPr>
            <a:picLocks noChangeAspect="1" noChangeArrowheads="1"/>
          </p:cNvPicPr>
          <p:nvPr/>
        </p:nvPicPr>
        <p:blipFill>
          <a:blip r:embed="rId3" cstate="print"/>
          <a:srcRect/>
          <a:stretch>
            <a:fillRect/>
          </a:stretch>
        </p:blipFill>
        <p:spPr bwMode="gray">
          <a:xfrm>
            <a:off x="7065951" y="2623807"/>
            <a:ext cx="440049" cy="360040"/>
          </a:xfrm>
          <a:prstGeom prst="rect">
            <a:avLst/>
          </a:prstGeom>
          <a:noFill/>
        </p:spPr>
      </p:pic>
      <p:sp>
        <p:nvSpPr>
          <p:cNvPr id="27" name="Freeform 159">
            <a:extLst>
              <a:ext uri="{FF2B5EF4-FFF2-40B4-BE49-F238E27FC236}">
                <a16:creationId xmlns:a16="http://schemas.microsoft.com/office/drawing/2014/main" id="{8924A4A2-86BF-466B-9E6C-5442F06A654D}"/>
              </a:ext>
            </a:extLst>
          </p:cNvPr>
          <p:cNvSpPr/>
          <p:nvPr/>
        </p:nvSpPr>
        <p:spPr bwMode="gray">
          <a:xfrm flipH="1">
            <a:off x="8430475" y="1800955"/>
            <a:ext cx="967904" cy="5059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ISP1</a:t>
            </a:r>
          </a:p>
        </p:txBody>
      </p:sp>
      <p:sp>
        <p:nvSpPr>
          <p:cNvPr id="28" name="Freeform 159">
            <a:extLst>
              <a:ext uri="{FF2B5EF4-FFF2-40B4-BE49-F238E27FC236}">
                <a16:creationId xmlns:a16="http://schemas.microsoft.com/office/drawing/2014/main" id="{23FC18BF-CE05-40EC-831F-204AD5397106}"/>
              </a:ext>
            </a:extLst>
          </p:cNvPr>
          <p:cNvSpPr/>
          <p:nvPr/>
        </p:nvSpPr>
        <p:spPr bwMode="gray">
          <a:xfrm flipH="1">
            <a:off x="8430475" y="3165683"/>
            <a:ext cx="967904" cy="50595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ISP2</a:t>
            </a:r>
          </a:p>
        </p:txBody>
      </p:sp>
      <p:cxnSp>
        <p:nvCxnSpPr>
          <p:cNvPr id="29" name="Straight Connector 28">
            <a:extLst>
              <a:ext uri="{FF2B5EF4-FFF2-40B4-BE49-F238E27FC236}">
                <a16:creationId xmlns:a16="http://schemas.microsoft.com/office/drawing/2014/main" id="{272C2A8F-5024-45D5-84EB-E2FA22A2824F}"/>
              </a:ext>
            </a:extLst>
          </p:cNvPr>
          <p:cNvCxnSpPr>
            <a:cxnSpLocks/>
            <a:stCxn id="26" idx="0"/>
            <a:endCxn id="27" idx="21"/>
          </p:cNvCxnSpPr>
          <p:nvPr/>
        </p:nvCxnSpPr>
        <p:spPr bwMode="gray">
          <a:xfrm flipV="1">
            <a:off x="7285976" y="2155675"/>
            <a:ext cx="1144499" cy="46813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CF347FB-B434-4C04-9853-A2F3A5EF25A3}"/>
              </a:ext>
            </a:extLst>
          </p:cNvPr>
          <p:cNvCxnSpPr>
            <a:cxnSpLocks/>
            <a:stCxn id="26" idx="2"/>
            <a:endCxn id="28" idx="21"/>
          </p:cNvCxnSpPr>
          <p:nvPr/>
        </p:nvCxnSpPr>
        <p:spPr bwMode="gray">
          <a:xfrm>
            <a:off x="7285976" y="2983847"/>
            <a:ext cx="1144499" cy="53655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pic>
        <p:nvPicPr>
          <p:cNvPr id="43" name="Picture 12" descr="E:\2016.01\1.12 扁平化图标\蓝色\AR-蓝色最新-40.png">
            <a:extLst>
              <a:ext uri="{FF2B5EF4-FFF2-40B4-BE49-F238E27FC236}">
                <a16:creationId xmlns:a16="http://schemas.microsoft.com/office/drawing/2014/main" id="{2A246762-6F47-4DAE-9D0B-FE87D33FC778}"/>
              </a:ext>
            </a:extLst>
          </p:cNvPr>
          <p:cNvPicPr>
            <a:picLocks noChangeAspect="1" noChangeArrowheads="1"/>
          </p:cNvPicPr>
          <p:nvPr/>
        </p:nvPicPr>
        <p:blipFill>
          <a:blip r:embed="rId3" cstate="print"/>
          <a:srcRect/>
          <a:stretch>
            <a:fillRect/>
          </a:stretch>
        </p:blipFill>
        <p:spPr bwMode="gray">
          <a:xfrm>
            <a:off x="10294661" y="2623807"/>
            <a:ext cx="440049" cy="360040"/>
          </a:xfrm>
          <a:prstGeom prst="rect">
            <a:avLst/>
          </a:prstGeom>
          <a:noFill/>
        </p:spPr>
      </p:pic>
      <p:cxnSp>
        <p:nvCxnSpPr>
          <p:cNvPr id="44" name="Straight Connector 43">
            <a:extLst>
              <a:ext uri="{FF2B5EF4-FFF2-40B4-BE49-F238E27FC236}">
                <a16:creationId xmlns:a16="http://schemas.microsoft.com/office/drawing/2014/main" id="{85D0F2C6-C3F5-453B-AF52-797C680BB0CA}"/>
              </a:ext>
            </a:extLst>
          </p:cNvPr>
          <p:cNvCxnSpPr>
            <a:cxnSpLocks/>
            <a:stCxn id="43" idx="0"/>
            <a:endCxn id="27" idx="8"/>
          </p:cNvCxnSpPr>
          <p:nvPr/>
        </p:nvCxnSpPr>
        <p:spPr bwMode="gray">
          <a:xfrm flipH="1" flipV="1">
            <a:off x="9398379" y="2146467"/>
            <a:ext cx="1116307" cy="47734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8F2ECC8-789C-47BC-888D-A075BD5BC19B}"/>
              </a:ext>
            </a:extLst>
          </p:cNvPr>
          <p:cNvCxnSpPr>
            <a:cxnSpLocks/>
            <a:stCxn id="43" idx="2"/>
            <a:endCxn id="28" idx="8"/>
          </p:cNvCxnSpPr>
          <p:nvPr/>
        </p:nvCxnSpPr>
        <p:spPr bwMode="gray">
          <a:xfrm flipH="1">
            <a:off x="9398379" y="2983847"/>
            <a:ext cx="1116307" cy="5273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A7BCD71-7929-480F-B8D2-E9D8B7B136DB}"/>
              </a:ext>
            </a:extLst>
          </p:cNvPr>
          <p:cNvCxnSpPr>
            <a:cxnSpLocks/>
            <a:stCxn id="26" idx="1"/>
          </p:cNvCxnSpPr>
          <p:nvPr/>
        </p:nvCxnSpPr>
        <p:spPr bwMode="gray">
          <a:xfrm flipH="1">
            <a:off x="6596130" y="2803827"/>
            <a:ext cx="469821"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ED29806-614B-4BA6-94EB-B90EC6A7995E}"/>
              </a:ext>
            </a:extLst>
          </p:cNvPr>
          <p:cNvCxnSpPr>
            <a:cxnSpLocks/>
            <a:endCxn id="43" idx="3"/>
          </p:cNvCxnSpPr>
          <p:nvPr/>
        </p:nvCxnSpPr>
        <p:spPr bwMode="gray">
          <a:xfrm flipH="1">
            <a:off x="10734710" y="2803827"/>
            <a:ext cx="461995"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B9E007D-A9AD-4A53-88A7-DAB9D5ECE651}"/>
              </a:ext>
            </a:extLst>
          </p:cNvPr>
          <p:cNvGrpSpPr/>
          <p:nvPr/>
        </p:nvGrpSpPr>
        <p:grpSpPr bwMode="gray">
          <a:xfrm>
            <a:off x="918384" y="1953484"/>
            <a:ext cx="4053530" cy="2760217"/>
            <a:chOff x="918384" y="1953484"/>
            <a:chExt cx="4053530" cy="2760217"/>
          </a:xfrm>
        </p:grpSpPr>
        <p:pic>
          <p:nvPicPr>
            <p:cNvPr id="8" name="Picture 12" descr="E:\2016.01\1.12 扁平化图标\蓝色\AR-蓝色最新-40.png">
              <a:extLst>
                <a:ext uri="{FF2B5EF4-FFF2-40B4-BE49-F238E27FC236}">
                  <a16:creationId xmlns:a16="http://schemas.microsoft.com/office/drawing/2014/main" id="{3DD88DCC-9642-4805-89C1-9981552AFC05}"/>
                </a:ext>
              </a:extLst>
            </p:cNvPr>
            <p:cNvPicPr>
              <a:picLocks noChangeAspect="1" noChangeArrowheads="1"/>
            </p:cNvPicPr>
            <p:nvPr/>
          </p:nvPicPr>
          <p:blipFill>
            <a:blip r:embed="rId3" cstate="print"/>
            <a:srcRect/>
            <a:stretch>
              <a:fillRect/>
            </a:stretch>
          </p:blipFill>
          <p:spPr bwMode="gray">
            <a:xfrm>
              <a:off x="1240450" y="3176278"/>
              <a:ext cx="440049" cy="360040"/>
            </a:xfrm>
            <a:prstGeom prst="rect">
              <a:avLst/>
            </a:prstGeom>
            <a:noFill/>
          </p:spPr>
        </p:pic>
        <p:sp>
          <p:nvSpPr>
            <p:cNvPr id="9" name="Freeform 159">
              <a:extLst>
                <a:ext uri="{FF2B5EF4-FFF2-40B4-BE49-F238E27FC236}">
                  <a16:creationId xmlns:a16="http://schemas.microsoft.com/office/drawing/2014/main" id="{CCF962FE-A76F-48AA-8BAD-F6D5A6F6D5AD}"/>
                </a:ext>
              </a:extLst>
            </p:cNvPr>
            <p:cNvSpPr/>
            <p:nvPr/>
          </p:nvSpPr>
          <p:spPr bwMode="gray">
            <a:xfrm flipH="1">
              <a:off x="3635407" y="1953484"/>
              <a:ext cx="1336507" cy="6986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ISP1</a:t>
              </a:r>
            </a:p>
          </p:txBody>
        </p:sp>
        <p:sp>
          <p:nvSpPr>
            <p:cNvPr id="10" name="Freeform 159">
              <a:extLst>
                <a:ext uri="{FF2B5EF4-FFF2-40B4-BE49-F238E27FC236}">
                  <a16:creationId xmlns:a16="http://schemas.microsoft.com/office/drawing/2014/main" id="{2C3777A5-5AD7-4ADC-8931-91AA65BF1565}"/>
                </a:ext>
              </a:extLst>
            </p:cNvPr>
            <p:cNvSpPr/>
            <p:nvPr/>
          </p:nvSpPr>
          <p:spPr bwMode="gray">
            <a:xfrm flipH="1">
              <a:off x="3635407" y="4015071"/>
              <a:ext cx="1336507" cy="69863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solidFill>
                </a:rPr>
                <a:t>ISP2</a:t>
              </a:r>
            </a:p>
          </p:txBody>
        </p:sp>
        <p:cxnSp>
          <p:nvCxnSpPr>
            <p:cNvPr id="11" name="Straight Connector 10">
              <a:extLst>
                <a:ext uri="{FF2B5EF4-FFF2-40B4-BE49-F238E27FC236}">
                  <a16:creationId xmlns:a16="http://schemas.microsoft.com/office/drawing/2014/main" id="{00C11FC9-5ABB-4392-A9B8-60FAC72CB56E}"/>
                </a:ext>
              </a:extLst>
            </p:cNvPr>
            <p:cNvCxnSpPr>
              <a:cxnSpLocks/>
              <a:stCxn id="8" idx="0"/>
              <a:endCxn id="9" idx="21"/>
            </p:cNvCxnSpPr>
            <p:nvPr/>
          </p:nvCxnSpPr>
          <p:spPr bwMode="gray">
            <a:xfrm flipV="1">
              <a:off x="1460475" y="2443291"/>
              <a:ext cx="2174932" cy="732987"/>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59BE0EE-B8CB-467E-8421-A8E735B859C1}"/>
                </a:ext>
              </a:extLst>
            </p:cNvPr>
            <p:cNvCxnSpPr>
              <a:cxnSpLocks/>
              <a:stCxn id="8" idx="2"/>
              <a:endCxn id="10" idx="21"/>
            </p:cNvCxnSpPr>
            <p:nvPr/>
          </p:nvCxnSpPr>
          <p:spPr bwMode="gray">
            <a:xfrm>
              <a:off x="1460475" y="3536318"/>
              <a:ext cx="2174932" cy="96856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636FE691-D625-433C-9F01-3F1A1202A866}"/>
                </a:ext>
              </a:extLst>
            </p:cNvPr>
            <p:cNvGrpSpPr/>
            <p:nvPr/>
          </p:nvGrpSpPr>
          <p:grpSpPr bwMode="gray">
            <a:xfrm>
              <a:off x="2217888" y="3010345"/>
              <a:ext cx="2754026" cy="726276"/>
              <a:chOff x="647587" y="2659890"/>
              <a:chExt cx="2754026" cy="726276"/>
            </a:xfrm>
          </p:grpSpPr>
          <p:sp>
            <p:nvSpPr>
              <p:cNvPr id="21" name="矩形: 圆角 52">
                <a:extLst>
                  <a:ext uri="{FF2B5EF4-FFF2-40B4-BE49-F238E27FC236}">
                    <a16:creationId xmlns:a16="http://schemas.microsoft.com/office/drawing/2014/main" id="{4F241723-66B8-4119-A52A-FEACC6ADBA4E}"/>
                  </a:ext>
                </a:extLst>
              </p:cNvPr>
              <p:cNvSpPr/>
              <p:nvPr/>
            </p:nvSpPr>
            <p:spPr bwMode="gray">
              <a:xfrm>
                <a:off x="647587" y="2659890"/>
                <a:ext cx="2754026" cy="726276"/>
              </a:xfrm>
              <a:prstGeom prst="roundRect">
                <a:avLst>
                  <a:gd name="adj" fmla="val 3125"/>
                </a:avLst>
              </a:prstGeom>
              <a:solidFill>
                <a:schemeClr val="bg1"/>
              </a:solid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0" rtlCol="0" anchor="t"/>
              <a:lstStyle/>
              <a:p>
                <a:pPr algn="ctr"/>
                <a:r>
                  <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 routing-table</a:t>
                </a:r>
                <a:endPar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20">
                <a:extLst>
                  <a:ext uri="{FF2B5EF4-FFF2-40B4-BE49-F238E27FC236}">
                    <a16:creationId xmlns:a16="http://schemas.microsoft.com/office/drawing/2014/main" id="{1F084FA5-CCF4-48DA-BDBE-593ED220C3BC}"/>
                  </a:ext>
                </a:extLst>
              </p:cNvPr>
              <p:cNvSpPr txBox="1"/>
              <p:nvPr/>
            </p:nvSpPr>
            <p:spPr bwMode="gray">
              <a:xfrm>
                <a:off x="697863" y="2862502"/>
                <a:ext cx="2646464" cy="479524"/>
              </a:xfrm>
              <a:prstGeom prst="roundRect">
                <a:avLst>
                  <a:gd name="adj" fmla="val 6721"/>
                </a:avLst>
              </a:prstGeom>
              <a:noFill/>
              <a:ln w="12700">
                <a:solidFill>
                  <a:srgbClr val="00B0F0"/>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Net1  60    ISP1  </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Track  BFD/NQA</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Net1  100  ISP2</a:t>
                </a:r>
              </a:p>
            </p:txBody>
          </p:sp>
        </p:grpSp>
        <p:sp>
          <p:nvSpPr>
            <p:cNvPr id="24" name="Rectangular Callout 20">
              <a:extLst>
                <a:ext uri="{FF2B5EF4-FFF2-40B4-BE49-F238E27FC236}">
                  <a16:creationId xmlns:a16="http://schemas.microsoft.com/office/drawing/2014/main" id="{18495151-E048-44C7-8D06-39ECF68FA072}"/>
                </a:ext>
              </a:extLst>
            </p:cNvPr>
            <p:cNvSpPr/>
            <p:nvPr/>
          </p:nvSpPr>
          <p:spPr bwMode="gray">
            <a:xfrm>
              <a:off x="2262805" y="2188726"/>
              <a:ext cx="1336507" cy="748354"/>
            </a:xfrm>
            <a:prstGeom prst="wedgeRectCallout">
              <a:avLst>
                <a:gd name="adj1" fmla="val -20413"/>
                <a:gd name="adj2" fmla="val 9257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rPr>
                <a:t>主路径为</a:t>
              </a:r>
              <a:r>
                <a:rPr lang="en-US" altLang="zh-CN" sz="1400" dirty="0">
                  <a:solidFill>
                    <a:schemeClr val="bg1">
                      <a:lumMod val="50000"/>
                    </a:schemeClr>
                  </a:solidFill>
                </a:rPr>
                <a:t>ISP1</a:t>
              </a:r>
              <a:r>
                <a:rPr lang="zh-CN" altLang="en-US" sz="1400" dirty="0">
                  <a:solidFill>
                    <a:schemeClr val="bg1">
                      <a:lumMod val="50000"/>
                    </a:schemeClr>
                  </a:solidFill>
                </a:rPr>
                <a:t>，并</a:t>
              </a:r>
              <a:r>
                <a:rPr lang="zh-CN" altLang="en-US" sz="1400">
                  <a:solidFill>
                    <a:schemeClr val="bg1">
                      <a:lumMod val="50000"/>
                    </a:schemeClr>
                  </a:solidFill>
                </a:rPr>
                <a:t>使用</a:t>
              </a:r>
              <a:r>
                <a:rPr lang="en-US" altLang="zh-CN" sz="1400">
                  <a:solidFill>
                    <a:schemeClr val="bg1">
                      <a:lumMod val="50000"/>
                    </a:schemeClr>
                  </a:solidFill>
                </a:rPr>
                <a:t>BFD</a:t>
              </a:r>
              <a:r>
                <a:rPr lang="zh-CN" altLang="en-US" sz="1400">
                  <a:solidFill>
                    <a:schemeClr val="bg1">
                      <a:lumMod val="50000"/>
                    </a:schemeClr>
                  </a:solidFill>
                </a:rPr>
                <a:t>或</a:t>
              </a:r>
              <a:r>
                <a:rPr lang="en-US" altLang="zh-CN" sz="1400">
                  <a:solidFill>
                    <a:schemeClr val="bg1">
                      <a:lumMod val="50000"/>
                    </a:schemeClr>
                  </a:solidFill>
                </a:rPr>
                <a:t>NQA</a:t>
              </a:r>
              <a:r>
                <a:rPr lang="zh-CN" altLang="en-US" sz="1400" dirty="0">
                  <a:solidFill>
                    <a:schemeClr val="bg1">
                      <a:lumMod val="50000"/>
                    </a:schemeClr>
                  </a:solidFill>
                </a:rPr>
                <a:t>监控链路</a:t>
              </a:r>
            </a:p>
          </p:txBody>
        </p:sp>
        <p:sp>
          <p:nvSpPr>
            <p:cNvPr id="25" name="Rectangular Callout 20">
              <a:extLst>
                <a:ext uri="{FF2B5EF4-FFF2-40B4-BE49-F238E27FC236}">
                  <a16:creationId xmlns:a16="http://schemas.microsoft.com/office/drawing/2014/main" id="{99A5A803-C795-46F9-BE2C-D341E27A40B7}"/>
                </a:ext>
              </a:extLst>
            </p:cNvPr>
            <p:cNvSpPr/>
            <p:nvPr/>
          </p:nvSpPr>
          <p:spPr bwMode="gray">
            <a:xfrm>
              <a:off x="1548714" y="3729160"/>
              <a:ext cx="1500371" cy="422581"/>
            </a:xfrm>
            <a:prstGeom prst="wedgeRectCallout">
              <a:avLst>
                <a:gd name="adj1" fmla="val 20537"/>
                <a:gd name="adj2" fmla="val -7323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rPr>
                <a:t>备路径为</a:t>
              </a:r>
              <a:r>
                <a:rPr lang="en-US" altLang="zh-CN" sz="1400" dirty="0">
                  <a:solidFill>
                    <a:schemeClr val="bg1">
                      <a:lumMod val="50000"/>
                    </a:schemeClr>
                  </a:solidFill>
                </a:rPr>
                <a:t>ISP2</a:t>
              </a:r>
              <a:endParaRPr lang="zh-CN" altLang="en-US" sz="1400" dirty="0">
                <a:solidFill>
                  <a:schemeClr val="bg1">
                    <a:lumMod val="50000"/>
                  </a:schemeClr>
                </a:solidFill>
              </a:endParaRPr>
            </a:p>
          </p:txBody>
        </p:sp>
        <p:sp>
          <p:nvSpPr>
            <p:cNvPr id="31" name="TextBox 30">
              <a:extLst>
                <a:ext uri="{FF2B5EF4-FFF2-40B4-BE49-F238E27FC236}">
                  <a16:creationId xmlns:a16="http://schemas.microsoft.com/office/drawing/2014/main" id="{5909ECB3-AE26-4B44-9DCF-59A82D8463FC}"/>
                </a:ext>
              </a:extLst>
            </p:cNvPr>
            <p:cNvSpPr txBox="1"/>
            <p:nvPr/>
          </p:nvSpPr>
          <p:spPr bwMode="gray">
            <a:xfrm rot="20469366">
              <a:off x="918384" y="2572560"/>
              <a:ext cx="779381" cy="276999"/>
            </a:xfrm>
            <a:prstGeom prst="rect">
              <a:avLst/>
            </a:prstGeom>
            <a:solidFill>
              <a:srgbClr val="56C4D2"/>
            </a:solidFill>
            <a:ln>
              <a:noFill/>
            </a:ln>
          </p:spPr>
          <p:txBody>
            <a:bodyPr wrap="none" rtlCol="0">
              <a:spAutoFit/>
            </a:bodyPr>
            <a:lstStyle/>
            <a:p>
              <a:pPr fontAlgn="auto"/>
              <a:r>
                <a:rPr lang="en-US" sz="1200" dirty="0">
                  <a:solidFill>
                    <a:schemeClr val="bg1"/>
                  </a:solidFill>
                  <a:latin typeface="+mn-lt"/>
                </a:rPr>
                <a:t>BFD</a:t>
              </a:r>
              <a:r>
                <a:rPr lang="zh-CN" altLang="en-US" sz="1200" dirty="0">
                  <a:solidFill>
                    <a:schemeClr val="bg1"/>
                  </a:solidFill>
                  <a:latin typeface="+mn-lt"/>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32" name="TextBox 31">
              <a:extLst>
                <a:ext uri="{FF2B5EF4-FFF2-40B4-BE49-F238E27FC236}">
                  <a16:creationId xmlns:a16="http://schemas.microsoft.com/office/drawing/2014/main" id="{4E011ED8-F93C-427D-84B0-0AF4C316F28D}"/>
                </a:ext>
              </a:extLst>
            </p:cNvPr>
            <p:cNvSpPr txBox="1"/>
            <p:nvPr/>
          </p:nvSpPr>
          <p:spPr bwMode="gray">
            <a:xfrm rot="20469366">
              <a:off x="979557" y="2861228"/>
              <a:ext cx="830677"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cxnSp>
          <p:nvCxnSpPr>
            <p:cNvPr id="33" name="Straight Arrow Connector 32">
              <a:extLst>
                <a:ext uri="{FF2B5EF4-FFF2-40B4-BE49-F238E27FC236}">
                  <a16:creationId xmlns:a16="http://schemas.microsoft.com/office/drawing/2014/main" id="{768FE3B3-08FB-47B9-A6B6-02FA45A2AA10}"/>
                </a:ext>
              </a:extLst>
            </p:cNvPr>
            <p:cNvCxnSpPr>
              <a:cxnSpLocks/>
              <a:stCxn id="32" idx="3"/>
            </p:cNvCxnSpPr>
            <p:nvPr/>
          </p:nvCxnSpPr>
          <p:spPr bwMode="gray">
            <a:xfrm flipV="1">
              <a:off x="1787973" y="2734500"/>
              <a:ext cx="369440" cy="131077"/>
            </a:xfrm>
            <a:prstGeom prst="straightConnector1">
              <a:avLst/>
            </a:prstGeom>
            <a:ln w="28575">
              <a:solidFill>
                <a:srgbClr val="8BC9A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520F61-2B8E-456D-A117-04FB485E6C43}"/>
                </a:ext>
              </a:extLst>
            </p:cNvPr>
            <p:cNvCxnSpPr>
              <a:cxnSpLocks/>
              <a:stCxn id="31" idx="3"/>
            </p:cNvCxnSpPr>
            <p:nvPr/>
          </p:nvCxnSpPr>
          <p:spPr bwMode="gray">
            <a:xfrm flipV="1">
              <a:off x="1676879" y="2454117"/>
              <a:ext cx="369481" cy="13107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7" name="Straight Connector 16">
            <a:extLst>
              <a:ext uri="{FF2B5EF4-FFF2-40B4-BE49-F238E27FC236}">
                <a16:creationId xmlns:a16="http://schemas.microsoft.com/office/drawing/2014/main" id="{715BB786-2CDB-44D6-8009-F403C8E4AA7E}"/>
              </a:ext>
            </a:extLst>
          </p:cNvPr>
          <p:cNvCxnSpPr>
            <a:cxnSpLocks/>
          </p:cNvCxnSpPr>
          <p:nvPr/>
        </p:nvCxnSpPr>
        <p:spPr bwMode="gray">
          <a:xfrm>
            <a:off x="7285975" y="2327263"/>
            <a:ext cx="0" cy="924862"/>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FB75EB2-8709-4A21-A646-6A5A545E8C7A}"/>
              </a:ext>
            </a:extLst>
          </p:cNvPr>
          <p:cNvCxnSpPr>
            <a:cxnSpLocks/>
          </p:cNvCxnSpPr>
          <p:nvPr/>
        </p:nvCxnSpPr>
        <p:spPr bwMode="gray">
          <a:xfrm>
            <a:off x="10528256" y="2333225"/>
            <a:ext cx="0" cy="924862"/>
          </a:xfrm>
          <a:prstGeom prst="line">
            <a:avLst/>
          </a:prstGeom>
          <a:ln w="285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3EFBC158-2CD8-438F-AB56-7F1A33114233}"/>
              </a:ext>
            </a:extLst>
          </p:cNvPr>
          <p:cNvCxnSpPr>
            <a:cxnSpLocks/>
          </p:cNvCxnSpPr>
          <p:nvPr/>
        </p:nvCxnSpPr>
        <p:spPr bwMode="gray">
          <a:xfrm flipV="1">
            <a:off x="6423349" y="2720170"/>
            <a:ext cx="601706" cy="2892"/>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788FEC5-D5CB-49B5-80E0-8842BCBF6FDD}"/>
              </a:ext>
            </a:extLst>
          </p:cNvPr>
          <p:cNvSpPr txBox="1"/>
          <p:nvPr/>
        </p:nvSpPr>
        <p:spPr bwMode="gray">
          <a:xfrm>
            <a:off x="6173111" y="2447020"/>
            <a:ext cx="973732" cy="276999"/>
          </a:xfrm>
          <a:prstGeom prst="rect">
            <a:avLst/>
          </a:prstGeom>
          <a:noFill/>
        </p:spPr>
        <p:txBody>
          <a:bodyPr wrap="square" rtlCol="0">
            <a:spAutoFit/>
          </a:bodyPr>
          <a:lstStyle/>
          <a:p>
            <a:r>
              <a:rPr lang="zh-CN" altLang="en-US" sz="1200" dirty="0">
                <a:solidFill>
                  <a:schemeClr val="bg1">
                    <a:lumMod val="50000"/>
                  </a:schemeClr>
                </a:solidFill>
              </a:rPr>
              <a:t>进方向流量</a:t>
            </a:r>
            <a:endParaRPr lang="en-US" sz="1200" dirty="0">
              <a:solidFill>
                <a:schemeClr val="bg1">
                  <a:lumMod val="50000"/>
                </a:schemeClr>
              </a:solidFill>
            </a:endParaRPr>
          </a:p>
        </p:txBody>
      </p:sp>
      <p:cxnSp>
        <p:nvCxnSpPr>
          <p:cNvPr id="46" name="Straight Arrow Connector 45">
            <a:extLst>
              <a:ext uri="{FF2B5EF4-FFF2-40B4-BE49-F238E27FC236}">
                <a16:creationId xmlns:a16="http://schemas.microsoft.com/office/drawing/2014/main" id="{78F7B115-9562-4DA4-9152-30B27040B5CB}"/>
              </a:ext>
            </a:extLst>
          </p:cNvPr>
          <p:cNvCxnSpPr>
            <a:cxnSpLocks/>
          </p:cNvCxnSpPr>
          <p:nvPr/>
        </p:nvCxnSpPr>
        <p:spPr bwMode="gray">
          <a:xfrm flipV="1">
            <a:off x="10761852" y="2720170"/>
            <a:ext cx="601706" cy="2892"/>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5A7475E-3AE6-4599-BF89-4D7176695039}"/>
              </a:ext>
            </a:extLst>
          </p:cNvPr>
          <p:cNvSpPr txBox="1"/>
          <p:nvPr/>
        </p:nvSpPr>
        <p:spPr bwMode="gray">
          <a:xfrm>
            <a:off x="10694460" y="2447020"/>
            <a:ext cx="973732" cy="276999"/>
          </a:xfrm>
          <a:prstGeom prst="rect">
            <a:avLst/>
          </a:prstGeom>
          <a:noFill/>
        </p:spPr>
        <p:txBody>
          <a:bodyPr wrap="square" rtlCol="0">
            <a:spAutoFit/>
          </a:bodyPr>
          <a:lstStyle/>
          <a:p>
            <a:r>
              <a:rPr lang="zh-CN" altLang="en-US" sz="1200" dirty="0">
                <a:solidFill>
                  <a:schemeClr val="bg1">
                    <a:lumMod val="50000"/>
                  </a:schemeClr>
                </a:solidFill>
              </a:rPr>
              <a:t>出方向流量</a:t>
            </a:r>
            <a:endParaRPr lang="en-US" sz="1200" dirty="0">
              <a:solidFill>
                <a:schemeClr val="bg1">
                  <a:lumMod val="50000"/>
                </a:schemeClr>
              </a:solidFill>
            </a:endParaRPr>
          </a:p>
        </p:txBody>
      </p:sp>
      <p:sp>
        <p:nvSpPr>
          <p:cNvPr id="49" name="Rectangular Callout 20">
            <a:extLst>
              <a:ext uri="{FF2B5EF4-FFF2-40B4-BE49-F238E27FC236}">
                <a16:creationId xmlns:a16="http://schemas.microsoft.com/office/drawing/2014/main" id="{03B0184C-FF60-4E3D-BBE0-9E3EF5303BA6}"/>
              </a:ext>
            </a:extLst>
          </p:cNvPr>
          <p:cNvSpPr/>
          <p:nvPr/>
        </p:nvSpPr>
        <p:spPr bwMode="gray">
          <a:xfrm>
            <a:off x="6633541" y="3352900"/>
            <a:ext cx="1260780" cy="521254"/>
          </a:xfrm>
          <a:prstGeom prst="wedgeRectCallout">
            <a:avLst>
              <a:gd name="adj1" fmla="val -8805"/>
              <a:gd name="adj2" fmla="val -102271"/>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rPr>
              <a:t>通过</a:t>
            </a:r>
            <a:r>
              <a:rPr lang="en-US" altLang="zh-CN" sz="1400" dirty="0">
                <a:solidFill>
                  <a:schemeClr val="bg1">
                    <a:lumMod val="50000"/>
                  </a:schemeClr>
                </a:solidFill>
              </a:rPr>
              <a:t>IP FPM</a:t>
            </a:r>
            <a:r>
              <a:rPr lang="zh-CN" altLang="en-US" sz="1400" dirty="0">
                <a:solidFill>
                  <a:schemeClr val="bg1">
                    <a:lumMod val="50000"/>
                  </a:schemeClr>
                </a:solidFill>
              </a:rPr>
              <a:t>测试进出流量</a:t>
            </a:r>
          </a:p>
        </p:txBody>
      </p:sp>
      <p:sp>
        <p:nvSpPr>
          <p:cNvPr id="50" name="Rectangular Callout 20">
            <a:extLst>
              <a:ext uri="{FF2B5EF4-FFF2-40B4-BE49-F238E27FC236}">
                <a16:creationId xmlns:a16="http://schemas.microsoft.com/office/drawing/2014/main" id="{2DBB1852-DA1E-4D77-B416-4ABABFEE11DF}"/>
              </a:ext>
            </a:extLst>
          </p:cNvPr>
          <p:cNvSpPr/>
          <p:nvPr/>
        </p:nvSpPr>
        <p:spPr bwMode="gray">
          <a:xfrm>
            <a:off x="9912488" y="3352900"/>
            <a:ext cx="1260780" cy="521254"/>
          </a:xfrm>
          <a:prstGeom prst="wedgeRectCallout">
            <a:avLst>
              <a:gd name="adj1" fmla="val 7816"/>
              <a:gd name="adj2" fmla="val -9861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lumMod val="50000"/>
                  </a:schemeClr>
                </a:solidFill>
              </a:rPr>
              <a:t>通过</a:t>
            </a:r>
            <a:r>
              <a:rPr lang="en-US" altLang="zh-CN" sz="1400" dirty="0">
                <a:solidFill>
                  <a:schemeClr val="bg1">
                    <a:lumMod val="50000"/>
                  </a:schemeClr>
                </a:solidFill>
              </a:rPr>
              <a:t>IP FPM</a:t>
            </a:r>
            <a:r>
              <a:rPr lang="zh-CN" altLang="en-US" sz="1400" dirty="0">
                <a:solidFill>
                  <a:schemeClr val="bg1">
                    <a:lumMod val="50000"/>
                  </a:schemeClr>
                </a:solidFill>
              </a:rPr>
              <a:t>测试进出流量</a:t>
            </a:r>
          </a:p>
        </p:txBody>
      </p:sp>
    </p:spTree>
    <p:extLst>
      <p:ext uri="{BB962C8B-B14F-4D97-AF65-F5344CB8AC3E}">
        <p14:creationId xmlns:p14="http://schemas.microsoft.com/office/powerpoint/2010/main" val="21057793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dirty="0">
                <a:solidFill>
                  <a:schemeClr val="bg1">
                    <a:lumMod val="50000"/>
                  </a:schemeClr>
                </a:solidFill>
              </a:rPr>
              <a:t>广域互联组网技术应用</a:t>
            </a:r>
            <a:endParaRPr lang="en-US" altLang="zh-CN" dirty="0">
              <a:solidFill>
                <a:schemeClr val="bg1">
                  <a:lumMod val="50000"/>
                </a:schemeClr>
              </a:solidFill>
            </a:endParaRPr>
          </a:p>
          <a:p>
            <a:r>
              <a:rPr lang="zh-CN" altLang="en-US" b="1" dirty="0"/>
              <a:t>广域互联高可靠性技术应用</a:t>
            </a:r>
            <a:endParaRPr lang="en-US" altLang="zh-CN" b="1" dirty="0"/>
          </a:p>
          <a:p>
            <a:pPr lvl="1"/>
            <a:r>
              <a:rPr lang="zh-CN" altLang="en-US" dirty="0">
                <a:solidFill>
                  <a:schemeClr val="bg1">
                    <a:lumMod val="50000"/>
                  </a:schemeClr>
                </a:solidFill>
              </a:rPr>
              <a:t>链路探测技术应用</a:t>
            </a:r>
            <a:endParaRPr lang="en-US" altLang="zh-CN" dirty="0">
              <a:solidFill>
                <a:schemeClr val="bg1">
                  <a:lumMod val="50000"/>
                </a:schemeClr>
              </a:solidFill>
            </a:endParaRPr>
          </a:p>
          <a:p>
            <a:pPr lvl="1">
              <a:buSzPct val="60000"/>
              <a:buFont typeface="Wingdings" panose="05000000000000000000" pitchFamily="2" charset="2"/>
              <a:buChar char="n"/>
            </a:pPr>
            <a:r>
              <a:rPr lang="zh-CN" altLang="en-US" dirty="0"/>
              <a:t>网络与业务可靠性技术应用</a:t>
            </a:r>
            <a:endParaRPr lang="en-US" altLang="zh-CN" dirty="0"/>
          </a:p>
          <a:p>
            <a:r>
              <a:rPr lang="zh-CN" altLang="en-US" dirty="0">
                <a:solidFill>
                  <a:schemeClr val="bg1">
                    <a:lumMod val="50000"/>
                  </a:schemeClr>
                </a:solidFill>
              </a:rPr>
              <a:t>广域互联优化技术应用</a:t>
            </a:r>
            <a:endParaRPr lang="en-US" altLang="zh-CN" dirty="0">
              <a:solidFill>
                <a:schemeClr val="bg1">
                  <a:lumMod val="50000"/>
                </a:schemeClr>
              </a:solidFill>
            </a:endParaRPr>
          </a:p>
        </p:txBody>
      </p:sp>
    </p:spTree>
    <p:extLst>
      <p:ext uri="{BB962C8B-B14F-4D97-AF65-F5344CB8AC3E}">
        <p14:creationId xmlns:p14="http://schemas.microsoft.com/office/powerpoint/2010/main" val="2737665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36548C-0ECE-43CC-B3BF-8067CC532649}"/>
              </a:ext>
            </a:extLst>
          </p:cNvPr>
          <p:cNvSpPr>
            <a:spLocks noGrp="1"/>
          </p:cNvSpPr>
          <p:nvPr>
            <p:ph type="title"/>
          </p:nvPr>
        </p:nvSpPr>
        <p:spPr bwMode="gray"/>
        <p:txBody>
          <a:bodyPr/>
          <a:lstStyle/>
          <a:p>
            <a:r>
              <a:rPr lang="zh-CN" altLang="en-US" dirty="0"/>
              <a:t>网络可靠性简介</a:t>
            </a:r>
            <a:endParaRPr lang="en-US" dirty="0"/>
          </a:p>
        </p:txBody>
      </p:sp>
      <p:sp>
        <p:nvSpPr>
          <p:cNvPr id="4" name="Text Placeholder 3">
            <a:extLst>
              <a:ext uri="{FF2B5EF4-FFF2-40B4-BE49-F238E27FC236}">
                <a16:creationId xmlns:a16="http://schemas.microsoft.com/office/drawing/2014/main" id="{2AA2DEAC-999A-444F-BDE3-755E65DBD43F}"/>
              </a:ext>
            </a:extLst>
          </p:cNvPr>
          <p:cNvSpPr>
            <a:spLocks noGrp="1"/>
          </p:cNvSpPr>
          <p:nvPr>
            <p:ph type="body" sz="quarter" idx="10"/>
          </p:nvPr>
        </p:nvSpPr>
        <p:spPr bwMode="gray"/>
        <p:txBody>
          <a:bodyPr/>
          <a:lstStyle/>
          <a:p>
            <a:r>
              <a:rPr lang="zh-CN" altLang="en-US" sz="2000" dirty="0"/>
              <a:t>当网络出现问题时，问题点可能无法第一时间发现或者修复，因此需要冗余技术。</a:t>
            </a:r>
            <a:endParaRPr lang="en-US" altLang="zh-CN" sz="2000" dirty="0"/>
          </a:p>
          <a:p>
            <a:r>
              <a:rPr lang="zh-CN" altLang="en-US" sz="2000" dirty="0"/>
              <a:t>常用的冗余技术主要有堆叠、链路聚合、</a:t>
            </a:r>
            <a:r>
              <a:rPr lang="en-US" altLang="zh-CN" sz="2000" dirty="0"/>
              <a:t>VRRP</a:t>
            </a:r>
            <a:r>
              <a:rPr lang="zh-CN" altLang="en-US" sz="2000" dirty="0"/>
              <a:t>等。</a:t>
            </a:r>
            <a:endParaRPr lang="en-US" altLang="zh-CN" sz="2000" dirty="0"/>
          </a:p>
          <a:p>
            <a:r>
              <a:rPr lang="zh-CN" altLang="en-US" sz="2000" dirty="0"/>
              <a:t>其中出口或者网关设备使用最多的网络冗余技术是</a:t>
            </a:r>
            <a:r>
              <a:rPr lang="en-US" altLang="zh-CN" sz="2000" dirty="0"/>
              <a:t>VRRP</a:t>
            </a:r>
            <a:r>
              <a:rPr lang="zh-CN" altLang="en-US" sz="2000" dirty="0"/>
              <a:t>。</a:t>
            </a:r>
            <a:endParaRPr lang="en-US" sz="2000" dirty="0"/>
          </a:p>
        </p:txBody>
      </p:sp>
      <p:pic>
        <p:nvPicPr>
          <p:cNvPr id="5" name="Picture 12" descr="E:\2016.01\1.12 扁平化图标\蓝色\AR-蓝色最新-40.png">
            <a:extLst>
              <a:ext uri="{FF2B5EF4-FFF2-40B4-BE49-F238E27FC236}">
                <a16:creationId xmlns:a16="http://schemas.microsoft.com/office/drawing/2014/main" id="{5B4368D6-096D-49B7-BA68-84A4AFB8636E}"/>
              </a:ext>
            </a:extLst>
          </p:cNvPr>
          <p:cNvPicPr>
            <a:picLocks noChangeAspect="1" noChangeArrowheads="1"/>
          </p:cNvPicPr>
          <p:nvPr/>
        </p:nvPicPr>
        <p:blipFill>
          <a:blip r:embed="rId3" cstate="print"/>
          <a:srcRect/>
          <a:stretch>
            <a:fillRect/>
          </a:stretch>
        </p:blipFill>
        <p:spPr bwMode="gray">
          <a:xfrm>
            <a:off x="4259796" y="3670004"/>
            <a:ext cx="440049" cy="360040"/>
          </a:xfrm>
          <a:prstGeom prst="rect">
            <a:avLst/>
          </a:prstGeom>
          <a:noFill/>
        </p:spPr>
      </p:pic>
      <p:pic>
        <p:nvPicPr>
          <p:cNvPr id="6" name="Picture 12" descr="E:\2016.01\1.12 扁平化图标\蓝色\AR-蓝色最新-40.png">
            <a:extLst>
              <a:ext uri="{FF2B5EF4-FFF2-40B4-BE49-F238E27FC236}">
                <a16:creationId xmlns:a16="http://schemas.microsoft.com/office/drawing/2014/main" id="{F07BC29D-FF62-4703-B73C-B22C0C8B91B3}"/>
              </a:ext>
            </a:extLst>
          </p:cNvPr>
          <p:cNvPicPr>
            <a:picLocks noChangeAspect="1" noChangeArrowheads="1"/>
          </p:cNvPicPr>
          <p:nvPr/>
        </p:nvPicPr>
        <p:blipFill>
          <a:blip r:embed="rId3" cstate="print"/>
          <a:srcRect/>
          <a:stretch>
            <a:fillRect/>
          </a:stretch>
        </p:blipFill>
        <p:spPr bwMode="gray">
          <a:xfrm>
            <a:off x="6527337" y="3670004"/>
            <a:ext cx="440049" cy="360040"/>
          </a:xfrm>
          <a:prstGeom prst="rect">
            <a:avLst/>
          </a:prstGeom>
          <a:noFill/>
        </p:spPr>
      </p:pic>
      <p:pic>
        <p:nvPicPr>
          <p:cNvPr id="7" name="图片 20">
            <a:extLst>
              <a:ext uri="{FF2B5EF4-FFF2-40B4-BE49-F238E27FC236}">
                <a16:creationId xmlns:a16="http://schemas.microsoft.com/office/drawing/2014/main" id="{230084A1-8ECD-4A5E-9163-E966E3E449D1}"/>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411924" y="4662390"/>
            <a:ext cx="440049" cy="360840"/>
          </a:xfrm>
          <a:prstGeom prst="rect">
            <a:avLst/>
          </a:prstGeom>
        </p:spPr>
      </p:pic>
      <p:pic>
        <p:nvPicPr>
          <p:cNvPr id="8" name="图片 20">
            <a:extLst>
              <a:ext uri="{FF2B5EF4-FFF2-40B4-BE49-F238E27FC236}">
                <a16:creationId xmlns:a16="http://schemas.microsoft.com/office/drawing/2014/main" id="{D1CE22B1-8ADB-41B5-9FB5-4903D91EC968}"/>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411924" y="5719148"/>
            <a:ext cx="440049" cy="360840"/>
          </a:xfrm>
          <a:prstGeom prst="rect">
            <a:avLst/>
          </a:prstGeom>
        </p:spPr>
      </p:pic>
      <p:sp>
        <p:nvSpPr>
          <p:cNvPr id="9" name="Freeform 159">
            <a:extLst>
              <a:ext uri="{FF2B5EF4-FFF2-40B4-BE49-F238E27FC236}">
                <a16:creationId xmlns:a16="http://schemas.microsoft.com/office/drawing/2014/main" id="{BE9CA929-AC71-4301-9932-455572B6B437}"/>
              </a:ext>
            </a:extLst>
          </p:cNvPr>
          <p:cNvSpPr/>
          <p:nvPr/>
        </p:nvSpPr>
        <p:spPr bwMode="gray">
          <a:xfrm flipH="1">
            <a:off x="5176282" y="277663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0" name="Straight Connector 9">
            <a:extLst>
              <a:ext uri="{FF2B5EF4-FFF2-40B4-BE49-F238E27FC236}">
                <a16:creationId xmlns:a16="http://schemas.microsoft.com/office/drawing/2014/main" id="{3A0D9844-852D-4A7F-BCC3-B35AD2BECFB1}"/>
              </a:ext>
            </a:extLst>
          </p:cNvPr>
          <p:cNvCxnSpPr>
            <a:cxnSpLocks/>
            <a:stCxn id="5" idx="0"/>
            <a:endCxn id="9" idx="15"/>
          </p:cNvCxnSpPr>
          <p:nvPr/>
        </p:nvCxnSpPr>
        <p:spPr bwMode="gray">
          <a:xfrm flipV="1">
            <a:off x="4479821" y="3252044"/>
            <a:ext cx="837321" cy="41796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0683F9C-DA3D-4933-9285-FF60D73DBA81}"/>
              </a:ext>
            </a:extLst>
          </p:cNvPr>
          <p:cNvCxnSpPr>
            <a:cxnSpLocks/>
            <a:stCxn id="6" idx="0"/>
            <a:endCxn id="9" idx="10"/>
          </p:cNvCxnSpPr>
          <p:nvPr/>
        </p:nvCxnSpPr>
        <p:spPr bwMode="gray">
          <a:xfrm flipH="1" flipV="1">
            <a:off x="5951560" y="3251268"/>
            <a:ext cx="795802" cy="41873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65C12ED-F03D-4CEB-8591-FA12FADBA18C}"/>
              </a:ext>
            </a:extLst>
          </p:cNvPr>
          <p:cNvCxnSpPr>
            <a:cxnSpLocks/>
            <a:stCxn id="7" idx="1"/>
            <a:endCxn id="5" idx="2"/>
          </p:cNvCxnSpPr>
          <p:nvPr/>
        </p:nvCxnSpPr>
        <p:spPr bwMode="gray">
          <a:xfrm flipH="1" flipV="1">
            <a:off x="4479821" y="4030044"/>
            <a:ext cx="932103" cy="81276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606B8A-6DEF-4EFF-A74E-06CD9A27894B}"/>
              </a:ext>
            </a:extLst>
          </p:cNvPr>
          <p:cNvCxnSpPr>
            <a:cxnSpLocks/>
            <a:stCxn id="7" idx="3"/>
            <a:endCxn id="6" idx="2"/>
          </p:cNvCxnSpPr>
          <p:nvPr/>
        </p:nvCxnSpPr>
        <p:spPr bwMode="gray">
          <a:xfrm flipV="1">
            <a:off x="5851973" y="4030044"/>
            <a:ext cx="895389" cy="81276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4FE4CBB-647A-4F78-9685-2F6B8506D099}"/>
              </a:ext>
            </a:extLst>
          </p:cNvPr>
          <p:cNvCxnSpPr>
            <a:cxnSpLocks/>
          </p:cNvCxnSpPr>
          <p:nvPr/>
        </p:nvCxnSpPr>
        <p:spPr bwMode="gray">
          <a:xfrm flipV="1">
            <a:off x="5555940" y="5023230"/>
            <a:ext cx="0" cy="69591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C838E6E-4EDF-4D5C-8B86-B681657B9D01}"/>
              </a:ext>
            </a:extLst>
          </p:cNvPr>
          <p:cNvCxnSpPr>
            <a:cxnSpLocks/>
          </p:cNvCxnSpPr>
          <p:nvPr/>
        </p:nvCxnSpPr>
        <p:spPr bwMode="gray">
          <a:xfrm flipV="1">
            <a:off x="5699956" y="5023230"/>
            <a:ext cx="0" cy="69591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C582B95E-39D3-4FAC-9619-CE139FF15E14}"/>
              </a:ext>
            </a:extLst>
          </p:cNvPr>
          <p:cNvSpPr/>
          <p:nvPr/>
        </p:nvSpPr>
        <p:spPr bwMode="gray">
          <a:xfrm>
            <a:off x="5451007" y="5093583"/>
            <a:ext cx="360032" cy="92686"/>
          </a:xfrm>
          <a:prstGeom prst="ellipse">
            <a:avLst/>
          </a:prstGeom>
          <a:ln w="1905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Oval 26">
            <a:extLst>
              <a:ext uri="{FF2B5EF4-FFF2-40B4-BE49-F238E27FC236}">
                <a16:creationId xmlns:a16="http://schemas.microsoft.com/office/drawing/2014/main" id="{95848D34-F1A2-48BB-AB80-4FF38E6E4AD5}"/>
              </a:ext>
            </a:extLst>
          </p:cNvPr>
          <p:cNvSpPr/>
          <p:nvPr/>
        </p:nvSpPr>
        <p:spPr bwMode="gray">
          <a:xfrm>
            <a:off x="5451007" y="5542212"/>
            <a:ext cx="360032" cy="92686"/>
          </a:xfrm>
          <a:prstGeom prst="ellipse">
            <a:avLst/>
          </a:prstGeom>
          <a:ln w="1905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ctangle 27">
            <a:extLst>
              <a:ext uri="{FF2B5EF4-FFF2-40B4-BE49-F238E27FC236}">
                <a16:creationId xmlns:a16="http://schemas.microsoft.com/office/drawing/2014/main" id="{22B537A7-A6FE-40BA-86F3-B23875CD161C}"/>
              </a:ext>
            </a:extLst>
          </p:cNvPr>
          <p:cNvSpPr/>
          <p:nvPr/>
        </p:nvSpPr>
        <p:spPr bwMode="gray">
          <a:xfrm>
            <a:off x="4187788" y="3632352"/>
            <a:ext cx="2849647" cy="431248"/>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ular Callout 72">
            <a:extLst>
              <a:ext uri="{FF2B5EF4-FFF2-40B4-BE49-F238E27FC236}">
                <a16:creationId xmlns:a16="http://schemas.microsoft.com/office/drawing/2014/main" id="{158031FA-47C8-4452-B45E-34D0C700393E}"/>
              </a:ext>
            </a:extLst>
          </p:cNvPr>
          <p:cNvSpPr/>
          <p:nvPr/>
        </p:nvSpPr>
        <p:spPr bwMode="gray">
          <a:xfrm>
            <a:off x="6097225" y="3201952"/>
            <a:ext cx="605218" cy="348846"/>
          </a:xfrm>
          <a:prstGeom prst="wedgeRectCallout">
            <a:avLst>
              <a:gd name="adj1" fmla="val -31164"/>
              <a:gd name="adj2" fmla="val 99141"/>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VRRP</a:t>
            </a:r>
            <a:endParaRPr lang="zh-CN" altLang="en-US" sz="1200" b="1" dirty="0">
              <a:solidFill>
                <a:srgbClr val="EC7061"/>
              </a:solidFill>
            </a:endParaRPr>
          </a:p>
        </p:txBody>
      </p:sp>
      <p:sp>
        <p:nvSpPr>
          <p:cNvPr id="30" name="Rectangular Callout 72">
            <a:extLst>
              <a:ext uri="{FF2B5EF4-FFF2-40B4-BE49-F238E27FC236}">
                <a16:creationId xmlns:a16="http://schemas.microsoft.com/office/drawing/2014/main" id="{881AE63E-B59D-4F02-BC2B-4AD5B43AEEC9}"/>
              </a:ext>
            </a:extLst>
          </p:cNvPr>
          <p:cNvSpPr/>
          <p:nvPr/>
        </p:nvSpPr>
        <p:spPr bwMode="gray">
          <a:xfrm>
            <a:off x="6076346" y="4777194"/>
            <a:ext cx="605218" cy="348846"/>
          </a:xfrm>
          <a:prstGeom prst="wedgeRectCallout">
            <a:avLst>
              <a:gd name="adj1" fmla="val -78200"/>
              <a:gd name="adj2" fmla="val -14610"/>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堆叠</a:t>
            </a:r>
            <a:endParaRPr lang="zh-CN" altLang="en-US" sz="1200" b="1" dirty="0">
              <a:solidFill>
                <a:srgbClr val="EC7061"/>
              </a:solidFill>
            </a:endParaRPr>
          </a:p>
        </p:txBody>
      </p:sp>
      <p:sp>
        <p:nvSpPr>
          <p:cNvPr id="31" name="Rectangular Callout 72">
            <a:extLst>
              <a:ext uri="{FF2B5EF4-FFF2-40B4-BE49-F238E27FC236}">
                <a16:creationId xmlns:a16="http://schemas.microsoft.com/office/drawing/2014/main" id="{05C808E7-62B3-458B-8968-0A4B36654B77}"/>
              </a:ext>
            </a:extLst>
          </p:cNvPr>
          <p:cNvSpPr/>
          <p:nvPr/>
        </p:nvSpPr>
        <p:spPr bwMode="gray">
          <a:xfrm>
            <a:off x="6000563" y="5337594"/>
            <a:ext cx="798541" cy="348846"/>
          </a:xfrm>
          <a:prstGeom prst="wedgeRectCallout">
            <a:avLst>
              <a:gd name="adj1" fmla="val -78200"/>
              <a:gd name="adj2" fmla="val -14610"/>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链路聚合</a:t>
            </a:r>
            <a:endParaRPr lang="zh-CN" altLang="en-US" sz="1200" b="1" dirty="0">
              <a:solidFill>
                <a:srgbClr val="EC7061"/>
              </a:solidFill>
            </a:endParaRPr>
          </a:p>
        </p:txBody>
      </p:sp>
    </p:spTree>
    <p:extLst>
      <p:ext uri="{BB962C8B-B14F-4D97-AF65-F5344CB8AC3E}">
        <p14:creationId xmlns:p14="http://schemas.microsoft.com/office/powerpoint/2010/main" val="6216559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3ADA-E494-479E-94AE-D89E0529C6E2}"/>
              </a:ext>
            </a:extLst>
          </p:cNvPr>
          <p:cNvSpPr>
            <a:spLocks noGrp="1"/>
          </p:cNvSpPr>
          <p:nvPr>
            <p:ph type="title"/>
          </p:nvPr>
        </p:nvSpPr>
        <p:spPr bwMode="gray"/>
        <p:txBody>
          <a:bodyPr/>
          <a:lstStyle/>
          <a:p>
            <a:r>
              <a:rPr lang="en-US" dirty="0"/>
              <a:t>VRRP</a:t>
            </a:r>
            <a:r>
              <a:rPr lang="zh-CN" altLang="en-US" dirty="0"/>
              <a:t>简介</a:t>
            </a:r>
            <a:endParaRPr lang="en-US" dirty="0"/>
          </a:p>
        </p:txBody>
      </p:sp>
      <p:sp>
        <p:nvSpPr>
          <p:cNvPr id="4" name="Text Placeholder 3">
            <a:extLst>
              <a:ext uri="{FF2B5EF4-FFF2-40B4-BE49-F238E27FC236}">
                <a16:creationId xmlns:a16="http://schemas.microsoft.com/office/drawing/2014/main" id="{F2F3DB64-C475-4734-8953-7A35F0E6733E}"/>
              </a:ext>
            </a:extLst>
          </p:cNvPr>
          <p:cNvSpPr>
            <a:spLocks noGrp="1"/>
          </p:cNvSpPr>
          <p:nvPr>
            <p:ph type="body" sz="quarter" idx="10"/>
          </p:nvPr>
        </p:nvSpPr>
        <p:spPr bwMode="gray"/>
        <p:txBody>
          <a:bodyPr/>
          <a:lstStyle/>
          <a:p>
            <a:r>
              <a:rPr lang="zh-CN" altLang="en-US" sz="1800" dirty="0"/>
              <a:t>主机与外部网络互联需要通过网关，当单网关出现问题时会面临较长时间的</a:t>
            </a:r>
            <a:r>
              <a:rPr lang="zh-CN" altLang="en-US" sz="1800"/>
              <a:t>业务中断。增加</a:t>
            </a:r>
            <a:r>
              <a:rPr lang="zh-CN" altLang="en-US" sz="1800" dirty="0"/>
              <a:t>出口网关是提高系统可靠性的常见方法，此时如何在多个出口之间进行选路就成为需要解决的问题。</a:t>
            </a:r>
            <a:endParaRPr lang="en-US" altLang="zh-CN" sz="1800" dirty="0"/>
          </a:p>
          <a:p>
            <a:r>
              <a:rPr lang="en-US" altLang="zh-CN" sz="1800" dirty="0"/>
              <a:t>VRRP</a:t>
            </a:r>
            <a:r>
              <a:rPr lang="zh-CN" altLang="en-US" sz="1800" dirty="0"/>
              <a:t>（</a:t>
            </a:r>
            <a:r>
              <a:rPr lang="en-US" altLang="zh-CN" sz="1800" dirty="0"/>
              <a:t>Virtual Router Redundancy Protocol</a:t>
            </a:r>
            <a:r>
              <a:rPr lang="zh-CN" altLang="en-US" sz="1800" dirty="0"/>
              <a:t>，虚拟路由冗余协议）把多台路由设备联合组成一台虚拟的</a:t>
            </a:r>
            <a:r>
              <a:rPr lang="zh-CN" altLang="en-US" sz="1800"/>
              <a:t>路由设备。当</a:t>
            </a:r>
            <a:r>
              <a:rPr lang="zh-CN" altLang="en-US" sz="1800" dirty="0"/>
              <a:t>网关设备发生故障时，</a:t>
            </a:r>
            <a:r>
              <a:rPr lang="en-US" altLang="zh-CN" sz="1800" dirty="0"/>
              <a:t>VRRP</a:t>
            </a:r>
            <a:r>
              <a:rPr lang="zh-CN" altLang="en-US" sz="1800" dirty="0"/>
              <a:t>机制能够选举新的网关设备承担数据流量，从而保障网络的高可靠性。</a:t>
            </a:r>
            <a:endParaRPr lang="en-US" sz="1800" dirty="0"/>
          </a:p>
        </p:txBody>
      </p:sp>
      <p:sp>
        <p:nvSpPr>
          <p:cNvPr id="5" name="Freeform 159">
            <a:extLst>
              <a:ext uri="{FF2B5EF4-FFF2-40B4-BE49-F238E27FC236}">
                <a16:creationId xmlns:a16="http://schemas.microsoft.com/office/drawing/2014/main" id="{F9CFD566-1D19-4EA2-8A40-10BC06CBDB1A}"/>
              </a:ext>
            </a:extLst>
          </p:cNvPr>
          <p:cNvSpPr/>
          <p:nvPr/>
        </p:nvSpPr>
        <p:spPr bwMode="gray">
          <a:xfrm flipH="1">
            <a:off x="2982341" y="300731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6" name="Picture 12" descr="E:\2016.01\1.12 扁平化图标\蓝色\AR-蓝色最新-40.png">
            <a:extLst>
              <a:ext uri="{FF2B5EF4-FFF2-40B4-BE49-F238E27FC236}">
                <a16:creationId xmlns:a16="http://schemas.microsoft.com/office/drawing/2014/main" id="{B9D0AE6D-91CF-4605-BCEE-AE0F6B7D27E9}"/>
              </a:ext>
            </a:extLst>
          </p:cNvPr>
          <p:cNvPicPr>
            <a:picLocks noChangeAspect="1" noChangeArrowheads="1"/>
          </p:cNvPicPr>
          <p:nvPr/>
        </p:nvPicPr>
        <p:blipFill>
          <a:blip r:embed="rId3" cstate="print"/>
          <a:srcRect/>
          <a:stretch>
            <a:fillRect/>
          </a:stretch>
        </p:blipFill>
        <p:spPr bwMode="gray">
          <a:xfrm>
            <a:off x="2538913" y="3914300"/>
            <a:ext cx="440049" cy="360040"/>
          </a:xfrm>
          <a:prstGeom prst="rect">
            <a:avLst/>
          </a:prstGeom>
          <a:noFill/>
        </p:spPr>
      </p:pic>
      <p:pic>
        <p:nvPicPr>
          <p:cNvPr id="7" name="Picture 12" descr="E:\2016.01\1.12 扁平化图标\蓝色\AR-蓝色最新-40.png">
            <a:extLst>
              <a:ext uri="{FF2B5EF4-FFF2-40B4-BE49-F238E27FC236}">
                <a16:creationId xmlns:a16="http://schemas.microsoft.com/office/drawing/2014/main" id="{03173527-959A-475C-8F48-73211CCEBB27}"/>
              </a:ext>
            </a:extLst>
          </p:cNvPr>
          <p:cNvPicPr>
            <a:picLocks noChangeAspect="1" noChangeArrowheads="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Lst>
          </a:blip>
          <a:srcRect/>
          <a:stretch>
            <a:fillRect/>
          </a:stretch>
        </p:blipFill>
        <p:spPr bwMode="gray">
          <a:xfrm>
            <a:off x="3889394" y="3914300"/>
            <a:ext cx="440049" cy="360040"/>
          </a:xfrm>
          <a:prstGeom prst="rect">
            <a:avLst/>
          </a:prstGeom>
          <a:noFill/>
        </p:spPr>
      </p:pic>
      <p:pic>
        <p:nvPicPr>
          <p:cNvPr id="8" name="图片 104">
            <a:extLst>
              <a:ext uri="{FF2B5EF4-FFF2-40B4-BE49-F238E27FC236}">
                <a16:creationId xmlns:a16="http://schemas.microsoft.com/office/drawing/2014/main" id="{383EA802-32C6-4A21-BD06-0A16CD31134B}"/>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3217057" y="4706388"/>
            <a:ext cx="440049" cy="360840"/>
          </a:xfrm>
          <a:prstGeom prst="rect">
            <a:avLst/>
          </a:prstGeom>
        </p:spPr>
      </p:pic>
      <p:cxnSp>
        <p:nvCxnSpPr>
          <p:cNvPr id="9" name="Straight Connector 8">
            <a:extLst>
              <a:ext uri="{FF2B5EF4-FFF2-40B4-BE49-F238E27FC236}">
                <a16:creationId xmlns:a16="http://schemas.microsoft.com/office/drawing/2014/main" id="{CB97EF68-73C9-4804-B9D5-C5C7DAE336AE}"/>
              </a:ext>
            </a:extLst>
          </p:cNvPr>
          <p:cNvCxnSpPr>
            <a:cxnSpLocks/>
            <a:stCxn id="6" idx="2"/>
            <a:endCxn id="8" idx="0"/>
          </p:cNvCxnSpPr>
          <p:nvPr/>
        </p:nvCxnSpPr>
        <p:spPr bwMode="gray">
          <a:xfrm>
            <a:off x="2758938" y="4274340"/>
            <a:ext cx="678144" cy="4320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A33BC9-5064-4677-A62A-DB433C14038A}"/>
              </a:ext>
            </a:extLst>
          </p:cNvPr>
          <p:cNvCxnSpPr>
            <a:cxnSpLocks/>
            <a:stCxn id="6" idx="0"/>
            <a:endCxn id="5" idx="20"/>
          </p:cNvCxnSpPr>
          <p:nvPr/>
        </p:nvCxnSpPr>
        <p:spPr bwMode="gray">
          <a:xfrm flipV="1">
            <a:off x="2758938" y="3479837"/>
            <a:ext cx="335873" cy="43446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656ED3-991C-4CE8-8099-4AA6282079B2}"/>
              </a:ext>
            </a:extLst>
          </p:cNvPr>
          <p:cNvCxnSpPr>
            <a:cxnSpLocks/>
            <a:stCxn id="7" idx="0"/>
            <a:endCxn id="5" idx="14"/>
          </p:cNvCxnSpPr>
          <p:nvPr/>
        </p:nvCxnSpPr>
        <p:spPr bwMode="gray">
          <a:xfrm flipH="1" flipV="1">
            <a:off x="3742385" y="3482724"/>
            <a:ext cx="367034" cy="4315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08ED5B6-5EF2-42DE-AAEA-B533A80CC270}"/>
              </a:ext>
            </a:extLst>
          </p:cNvPr>
          <p:cNvCxnSpPr>
            <a:cxnSpLocks/>
            <a:stCxn id="7" idx="2"/>
            <a:endCxn id="8" idx="0"/>
          </p:cNvCxnSpPr>
          <p:nvPr/>
        </p:nvCxnSpPr>
        <p:spPr bwMode="gray">
          <a:xfrm flipH="1">
            <a:off x="3437082" y="4274340"/>
            <a:ext cx="672337" cy="4320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AC2CEA-2E07-424B-B60F-DC9A5964C688}"/>
              </a:ext>
            </a:extLst>
          </p:cNvPr>
          <p:cNvCxnSpPr>
            <a:cxnSpLocks/>
            <a:stCxn id="25" idx="0"/>
            <a:endCxn id="8" idx="2"/>
          </p:cNvCxnSpPr>
          <p:nvPr/>
        </p:nvCxnSpPr>
        <p:spPr bwMode="gray">
          <a:xfrm flipV="1">
            <a:off x="2524536" y="5067228"/>
            <a:ext cx="912546" cy="5754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pic>
        <p:nvPicPr>
          <p:cNvPr id="25" name="图片 70" descr="PC.png">
            <a:extLst>
              <a:ext uri="{FF2B5EF4-FFF2-40B4-BE49-F238E27FC236}">
                <a16:creationId xmlns:a16="http://schemas.microsoft.com/office/drawing/2014/main" id="{B58AC41C-9A7E-45C3-9657-D965240EF3BB}"/>
              </a:ext>
            </a:extLst>
          </p:cNvPr>
          <p:cNvPicPr>
            <a:picLocks noChangeAspect="1"/>
          </p:cNvPicPr>
          <p:nvPr/>
        </p:nvPicPr>
        <p:blipFill>
          <a:blip r:embed="rId7" cstate="print"/>
          <a:stretch>
            <a:fillRect/>
          </a:stretch>
        </p:blipFill>
        <p:spPr bwMode="gray">
          <a:xfrm>
            <a:off x="2290134" y="5642704"/>
            <a:ext cx="468803" cy="360040"/>
          </a:xfrm>
          <a:prstGeom prst="rect">
            <a:avLst/>
          </a:prstGeom>
        </p:spPr>
      </p:pic>
      <p:pic>
        <p:nvPicPr>
          <p:cNvPr id="28" name="图片 70" descr="PC.png">
            <a:extLst>
              <a:ext uri="{FF2B5EF4-FFF2-40B4-BE49-F238E27FC236}">
                <a16:creationId xmlns:a16="http://schemas.microsoft.com/office/drawing/2014/main" id="{436E59B7-22AE-430D-85D5-54382C4A7B05}"/>
              </a:ext>
            </a:extLst>
          </p:cNvPr>
          <p:cNvPicPr>
            <a:picLocks noChangeAspect="1"/>
          </p:cNvPicPr>
          <p:nvPr/>
        </p:nvPicPr>
        <p:blipFill>
          <a:blip r:embed="rId7" cstate="print"/>
          <a:stretch>
            <a:fillRect/>
          </a:stretch>
        </p:blipFill>
        <p:spPr bwMode="gray">
          <a:xfrm>
            <a:off x="4094610" y="5642704"/>
            <a:ext cx="468803" cy="360040"/>
          </a:xfrm>
          <a:prstGeom prst="rect">
            <a:avLst/>
          </a:prstGeom>
        </p:spPr>
      </p:pic>
      <p:cxnSp>
        <p:nvCxnSpPr>
          <p:cNvPr id="29" name="Straight Connector 28">
            <a:extLst>
              <a:ext uri="{FF2B5EF4-FFF2-40B4-BE49-F238E27FC236}">
                <a16:creationId xmlns:a16="http://schemas.microsoft.com/office/drawing/2014/main" id="{67ACBBA5-EF62-4BDF-8451-108B51887374}"/>
              </a:ext>
            </a:extLst>
          </p:cNvPr>
          <p:cNvCxnSpPr>
            <a:cxnSpLocks/>
            <a:stCxn id="28" idx="0"/>
            <a:endCxn id="8" idx="2"/>
          </p:cNvCxnSpPr>
          <p:nvPr/>
        </p:nvCxnSpPr>
        <p:spPr bwMode="gray">
          <a:xfrm flipH="1" flipV="1">
            <a:off x="3437082" y="5067228"/>
            <a:ext cx="891930" cy="5754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53CE1B4-306C-4B90-B305-19254E53B7E1}"/>
              </a:ext>
            </a:extLst>
          </p:cNvPr>
          <p:cNvSpPr/>
          <p:nvPr/>
        </p:nvSpPr>
        <p:spPr bwMode="gray">
          <a:xfrm>
            <a:off x="2494234" y="3878296"/>
            <a:ext cx="1903372" cy="431248"/>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19349055-989C-4D55-8B8D-BB85367431C6}"/>
              </a:ext>
            </a:extLst>
          </p:cNvPr>
          <p:cNvCxnSpPr>
            <a:cxnSpLocks/>
          </p:cNvCxnSpPr>
          <p:nvPr/>
        </p:nvCxnSpPr>
        <p:spPr bwMode="gray">
          <a:xfrm>
            <a:off x="3018345" y="4094320"/>
            <a:ext cx="828092" cy="0"/>
          </a:xfrm>
          <a:prstGeom prst="straightConnector1">
            <a:avLst/>
          </a:prstGeom>
          <a:ln w="19050">
            <a:solidFill>
              <a:srgbClr val="8BC9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0FA62F5-D030-4D8D-9336-143E229A8C9C}"/>
              </a:ext>
            </a:extLst>
          </p:cNvPr>
          <p:cNvSpPr txBox="1"/>
          <p:nvPr/>
        </p:nvSpPr>
        <p:spPr bwMode="gray">
          <a:xfrm>
            <a:off x="3151389" y="3842764"/>
            <a:ext cx="559769"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VRRP</a:t>
            </a:r>
          </a:p>
        </p:txBody>
      </p:sp>
      <p:sp>
        <p:nvSpPr>
          <p:cNvPr id="43" name="Rectangular Callout 72">
            <a:extLst>
              <a:ext uri="{FF2B5EF4-FFF2-40B4-BE49-F238E27FC236}">
                <a16:creationId xmlns:a16="http://schemas.microsoft.com/office/drawing/2014/main" id="{B5871399-8B5B-4A92-80E4-9898D778BDE7}"/>
              </a:ext>
            </a:extLst>
          </p:cNvPr>
          <p:cNvSpPr/>
          <p:nvPr/>
        </p:nvSpPr>
        <p:spPr bwMode="gray">
          <a:xfrm>
            <a:off x="4329011" y="3245018"/>
            <a:ext cx="1122089" cy="439092"/>
          </a:xfrm>
          <a:prstGeom prst="wedgeRectCallout">
            <a:avLst>
              <a:gd name="adj1" fmla="val -37777"/>
              <a:gd name="adj2" fmla="val 78315"/>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只有一台设备提供服务</a:t>
            </a:r>
          </a:p>
        </p:txBody>
      </p:sp>
      <p:sp>
        <p:nvSpPr>
          <p:cNvPr id="44" name="TextBox 43">
            <a:extLst>
              <a:ext uri="{FF2B5EF4-FFF2-40B4-BE49-F238E27FC236}">
                <a16:creationId xmlns:a16="http://schemas.microsoft.com/office/drawing/2014/main" id="{35C94A00-7400-4160-B273-95C559D618E4}"/>
              </a:ext>
            </a:extLst>
          </p:cNvPr>
          <p:cNvSpPr txBox="1"/>
          <p:nvPr/>
        </p:nvSpPr>
        <p:spPr bwMode="gray">
          <a:xfrm>
            <a:off x="1847528" y="3950516"/>
            <a:ext cx="673582" cy="276999"/>
          </a:xfrm>
          <a:prstGeom prst="rect">
            <a:avLst/>
          </a:prstGeom>
          <a:noFill/>
        </p:spPr>
        <p:txBody>
          <a:bodyPr wrap="none" rtlCol="0">
            <a:spAutoFit/>
          </a:bodyPr>
          <a:lstStyle/>
          <a:p>
            <a:r>
              <a:rPr lang="en-US" altLang="zh-CN" sz="1200" dirty="0">
                <a:latin typeface="Huawei Sans" panose="020C0503030203020204" pitchFamily="34" charset="0"/>
                <a:ea typeface="+mn-ea"/>
                <a:cs typeface="Huawei Sans" panose="020C0503030203020204" pitchFamily="34" charset="0"/>
              </a:rPr>
              <a:t>Master</a:t>
            </a:r>
            <a:endParaRPr lang="en-US" sz="1200" dirty="0">
              <a:latin typeface="Huawei Sans" panose="020C0503030203020204" pitchFamily="34" charset="0"/>
              <a:ea typeface="+mn-ea"/>
              <a:cs typeface="Huawei Sans" panose="020C0503030203020204" pitchFamily="34" charset="0"/>
            </a:endParaRPr>
          </a:p>
        </p:txBody>
      </p:sp>
      <p:sp>
        <p:nvSpPr>
          <p:cNvPr id="45" name="TextBox 44">
            <a:extLst>
              <a:ext uri="{FF2B5EF4-FFF2-40B4-BE49-F238E27FC236}">
                <a16:creationId xmlns:a16="http://schemas.microsoft.com/office/drawing/2014/main" id="{38DE7E05-1DC6-4A42-9CE3-BCD09697C274}"/>
              </a:ext>
            </a:extLst>
          </p:cNvPr>
          <p:cNvSpPr txBox="1"/>
          <p:nvPr/>
        </p:nvSpPr>
        <p:spPr bwMode="gray">
          <a:xfrm>
            <a:off x="4323062" y="3961549"/>
            <a:ext cx="692818" cy="276999"/>
          </a:xfrm>
          <a:prstGeom prst="rect">
            <a:avLst/>
          </a:prstGeom>
          <a:noFill/>
        </p:spPr>
        <p:txBody>
          <a:bodyPr wrap="none" rtlCol="0">
            <a:spAutoFit/>
          </a:bodyPr>
          <a:lstStyle/>
          <a:p>
            <a:r>
              <a:rPr lang="en-US" altLang="zh-CN" sz="1200" dirty="0">
                <a:latin typeface="Huawei Sans" panose="020C0503030203020204" pitchFamily="34" charset="0"/>
                <a:ea typeface="+mn-ea"/>
                <a:cs typeface="Huawei Sans" panose="020C0503030203020204" pitchFamily="34" charset="0"/>
              </a:rPr>
              <a:t>Backup</a:t>
            </a:r>
            <a:endParaRPr lang="en-US" sz="1200" dirty="0">
              <a:latin typeface="Huawei Sans" panose="020C0503030203020204" pitchFamily="34" charset="0"/>
              <a:ea typeface="+mn-ea"/>
              <a:cs typeface="Huawei Sans" panose="020C0503030203020204" pitchFamily="34" charset="0"/>
            </a:endParaRPr>
          </a:p>
        </p:txBody>
      </p:sp>
      <p:sp>
        <p:nvSpPr>
          <p:cNvPr id="46" name="Rectangular Callout 72">
            <a:extLst>
              <a:ext uri="{FF2B5EF4-FFF2-40B4-BE49-F238E27FC236}">
                <a16:creationId xmlns:a16="http://schemas.microsoft.com/office/drawing/2014/main" id="{25C6E94F-2BE2-4355-A156-B7874CFC3636}"/>
              </a:ext>
            </a:extLst>
          </p:cNvPr>
          <p:cNvSpPr/>
          <p:nvPr/>
        </p:nvSpPr>
        <p:spPr bwMode="gray">
          <a:xfrm>
            <a:off x="1451766" y="4442481"/>
            <a:ext cx="1461903" cy="443927"/>
          </a:xfrm>
          <a:prstGeom prst="wedgeRectCallout">
            <a:avLst>
              <a:gd name="adj1" fmla="val 26199"/>
              <a:gd name="adj2" fmla="val -7810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Master</a:t>
            </a:r>
            <a:r>
              <a:rPr lang="zh-CN" altLang="en-US" sz="1200" dirty="0">
                <a:solidFill>
                  <a:schemeClr val="bg1">
                    <a:lumMod val="50000"/>
                  </a:schemeClr>
                </a:solidFill>
              </a:rPr>
              <a:t>设备负责转发主机发送的流量</a:t>
            </a:r>
          </a:p>
        </p:txBody>
      </p:sp>
      <p:sp>
        <p:nvSpPr>
          <p:cNvPr id="47" name="Freeform 159">
            <a:extLst>
              <a:ext uri="{FF2B5EF4-FFF2-40B4-BE49-F238E27FC236}">
                <a16:creationId xmlns:a16="http://schemas.microsoft.com/office/drawing/2014/main" id="{5A914121-FD3F-4B06-A80E-2CF852A343FB}"/>
              </a:ext>
            </a:extLst>
          </p:cNvPr>
          <p:cNvSpPr/>
          <p:nvPr/>
        </p:nvSpPr>
        <p:spPr bwMode="gray">
          <a:xfrm flipH="1">
            <a:off x="7857840" y="3007312"/>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49" name="Picture 12" descr="E:\2016.01\1.12 扁平化图标\蓝色\AR-蓝色最新-40.png">
            <a:extLst>
              <a:ext uri="{FF2B5EF4-FFF2-40B4-BE49-F238E27FC236}">
                <a16:creationId xmlns:a16="http://schemas.microsoft.com/office/drawing/2014/main" id="{0BB5B95D-A020-48E6-8C6B-C56E076BB4DE}"/>
              </a:ext>
            </a:extLst>
          </p:cNvPr>
          <p:cNvPicPr>
            <a:picLocks noChangeAspect="1" noChangeArrowheads="1"/>
          </p:cNvPicPr>
          <p:nvPr/>
        </p:nvPicPr>
        <p:blipFill>
          <a:blip r:embed="rId3" cstate="print"/>
          <a:srcRect/>
          <a:stretch>
            <a:fillRect/>
          </a:stretch>
        </p:blipFill>
        <p:spPr bwMode="gray">
          <a:xfrm>
            <a:off x="8764893" y="3914300"/>
            <a:ext cx="440049" cy="360040"/>
          </a:xfrm>
          <a:prstGeom prst="rect">
            <a:avLst/>
          </a:prstGeom>
        </p:spPr>
      </p:pic>
      <p:pic>
        <p:nvPicPr>
          <p:cNvPr id="50" name="图片 104">
            <a:extLst>
              <a:ext uri="{FF2B5EF4-FFF2-40B4-BE49-F238E27FC236}">
                <a16:creationId xmlns:a16="http://schemas.microsoft.com/office/drawing/2014/main" id="{65A7B060-14BC-43D2-8E0F-72158660FA41}"/>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8092556" y="4706388"/>
            <a:ext cx="440049" cy="360840"/>
          </a:xfrm>
          <a:prstGeom prst="rect">
            <a:avLst/>
          </a:prstGeom>
        </p:spPr>
      </p:pic>
      <p:cxnSp>
        <p:nvCxnSpPr>
          <p:cNvPr id="51" name="Straight Connector 50">
            <a:extLst>
              <a:ext uri="{FF2B5EF4-FFF2-40B4-BE49-F238E27FC236}">
                <a16:creationId xmlns:a16="http://schemas.microsoft.com/office/drawing/2014/main" id="{62B801B9-C86D-43D1-90E9-D60D8D5DC92E}"/>
              </a:ext>
            </a:extLst>
          </p:cNvPr>
          <p:cNvCxnSpPr>
            <a:cxnSpLocks/>
            <a:stCxn id="70" idx="2"/>
            <a:endCxn id="50" idx="0"/>
          </p:cNvCxnSpPr>
          <p:nvPr/>
        </p:nvCxnSpPr>
        <p:spPr bwMode="gray">
          <a:xfrm>
            <a:off x="7630000" y="4283869"/>
            <a:ext cx="682581" cy="422519"/>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53F222-B03B-405F-9DD4-4BC1BAFD1EFE}"/>
              </a:ext>
            </a:extLst>
          </p:cNvPr>
          <p:cNvCxnSpPr>
            <a:cxnSpLocks/>
            <a:stCxn id="70" idx="0"/>
            <a:endCxn id="47" idx="20"/>
          </p:cNvCxnSpPr>
          <p:nvPr/>
        </p:nvCxnSpPr>
        <p:spPr bwMode="gray">
          <a:xfrm flipV="1">
            <a:off x="7630000" y="3479837"/>
            <a:ext cx="340310" cy="44399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1853F03-9F45-48C9-A6F4-2817D9344213}"/>
              </a:ext>
            </a:extLst>
          </p:cNvPr>
          <p:cNvCxnSpPr>
            <a:cxnSpLocks/>
            <a:stCxn id="49" idx="0"/>
            <a:endCxn id="47" idx="14"/>
          </p:cNvCxnSpPr>
          <p:nvPr/>
        </p:nvCxnSpPr>
        <p:spPr bwMode="gray">
          <a:xfrm flipH="1" flipV="1">
            <a:off x="8617884" y="3482724"/>
            <a:ext cx="367034" cy="4315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CB255A6-AC95-4BCD-86B1-9C6E7A776A71}"/>
              </a:ext>
            </a:extLst>
          </p:cNvPr>
          <p:cNvCxnSpPr>
            <a:cxnSpLocks/>
            <a:stCxn id="56" idx="0"/>
            <a:endCxn id="50" idx="2"/>
          </p:cNvCxnSpPr>
          <p:nvPr/>
        </p:nvCxnSpPr>
        <p:spPr bwMode="gray">
          <a:xfrm flipV="1">
            <a:off x="7400035" y="5067228"/>
            <a:ext cx="912546" cy="5754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pic>
        <p:nvPicPr>
          <p:cNvPr id="56" name="图片 70" descr="PC.png">
            <a:extLst>
              <a:ext uri="{FF2B5EF4-FFF2-40B4-BE49-F238E27FC236}">
                <a16:creationId xmlns:a16="http://schemas.microsoft.com/office/drawing/2014/main" id="{D3CA17C2-1C06-46D7-A6CB-4B55F16D77BF}"/>
              </a:ext>
            </a:extLst>
          </p:cNvPr>
          <p:cNvPicPr>
            <a:picLocks noChangeAspect="1"/>
          </p:cNvPicPr>
          <p:nvPr/>
        </p:nvPicPr>
        <p:blipFill>
          <a:blip r:embed="rId7" cstate="print"/>
          <a:stretch>
            <a:fillRect/>
          </a:stretch>
        </p:blipFill>
        <p:spPr bwMode="gray">
          <a:xfrm>
            <a:off x="7165633" y="5642704"/>
            <a:ext cx="468803" cy="360040"/>
          </a:xfrm>
          <a:prstGeom prst="rect">
            <a:avLst/>
          </a:prstGeom>
        </p:spPr>
      </p:pic>
      <p:pic>
        <p:nvPicPr>
          <p:cNvPr id="57" name="图片 70" descr="PC.png">
            <a:extLst>
              <a:ext uri="{FF2B5EF4-FFF2-40B4-BE49-F238E27FC236}">
                <a16:creationId xmlns:a16="http://schemas.microsoft.com/office/drawing/2014/main" id="{7C230110-5F0D-40D7-B0CC-2D4F88EDED11}"/>
              </a:ext>
            </a:extLst>
          </p:cNvPr>
          <p:cNvPicPr>
            <a:picLocks noChangeAspect="1"/>
          </p:cNvPicPr>
          <p:nvPr/>
        </p:nvPicPr>
        <p:blipFill>
          <a:blip r:embed="rId7" cstate="print"/>
          <a:stretch>
            <a:fillRect/>
          </a:stretch>
        </p:blipFill>
        <p:spPr bwMode="gray">
          <a:xfrm>
            <a:off x="8970109" y="5642704"/>
            <a:ext cx="468803" cy="360040"/>
          </a:xfrm>
          <a:prstGeom prst="rect">
            <a:avLst/>
          </a:prstGeom>
        </p:spPr>
      </p:pic>
      <p:cxnSp>
        <p:nvCxnSpPr>
          <p:cNvPr id="58" name="Straight Connector 57">
            <a:extLst>
              <a:ext uri="{FF2B5EF4-FFF2-40B4-BE49-F238E27FC236}">
                <a16:creationId xmlns:a16="http://schemas.microsoft.com/office/drawing/2014/main" id="{F62B7858-C038-4D31-9F60-EF5C18CF9694}"/>
              </a:ext>
            </a:extLst>
          </p:cNvPr>
          <p:cNvCxnSpPr>
            <a:cxnSpLocks/>
            <a:stCxn id="57" idx="0"/>
            <a:endCxn id="50" idx="2"/>
          </p:cNvCxnSpPr>
          <p:nvPr/>
        </p:nvCxnSpPr>
        <p:spPr bwMode="gray">
          <a:xfrm flipH="1" flipV="1">
            <a:off x="8312581" y="5067228"/>
            <a:ext cx="891930" cy="57547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9C384C70-1237-4779-AC16-BD23B8AE85F5}"/>
              </a:ext>
            </a:extLst>
          </p:cNvPr>
          <p:cNvSpPr/>
          <p:nvPr/>
        </p:nvSpPr>
        <p:spPr bwMode="gray">
          <a:xfrm>
            <a:off x="7340045" y="3878296"/>
            <a:ext cx="1918102" cy="431248"/>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0ED655F0-F8C6-4FFF-8ACE-4CC01ADABC3A}"/>
              </a:ext>
            </a:extLst>
          </p:cNvPr>
          <p:cNvCxnSpPr>
            <a:cxnSpLocks/>
          </p:cNvCxnSpPr>
          <p:nvPr/>
        </p:nvCxnSpPr>
        <p:spPr bwMode="gray">
          <a:xfrm>
            <a:off x="7893844" y="4094320"/>
            <a:ext cx="828092" cy="0"/>
          </a:xfrm>
          <a:prstGeom prst="straightConnector1">
            <a:avLst/>
          </a:prstGeom>
          <a:ln w="19050">
            <a:solidFill>
              <a:srgbClr val="8BC9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7D08744B-9FD8-4293-AC62-8291F7D0E324}"/>
              </a:ext>
            </a:extLst>
          </p:cNvPr>
          <p:cNvSpPr txBox="1"/>
          <p:nvPr/>
        </p:nvSpPr>
        <p:spPr bwMode="gray">
          <a:xfrm>
            <a:off x="8026888" y="3842764"/>
            <a:ext cx="559769"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VRRP</a:t>
            </a:r>
          </a:p>
        </p:txBody>
      </p:sp>
      <p:sp>
        <p:nvSpPr>
          <p:cNvPr id="63" name="TextBox 62">
            <a:extLst>
              <a:ext uri="{FF2B5EF4-FFF2-40B4-BE49-F238E27FC236}">
                <a16:creationId xmlns:a16="http://schemas.microsoft.com/office/drawing/2014/main" id="{1C139042-5646-4ED0-8779-1D752C4FB22F}"/>
              </a:ext>
            </a:extLst>
          </p:cNvPr>
          <p:cNvSpPr txBox="1"/>
          <p:nvPr/>
        </p:nvSpPr>
        <p:spPr bwMode="gray">
          <a:xfrm>
            <a:off x="6708068" y="3961549"/>
            <a:ext cx="673582" cy="276999"/>
          </a:xfrm>
          <a:prstGeom prst="rect">
            <a:avLst/>
          </a:prstGeom>
          <a:noFill/>
        </p:spPr>
        <p:txBody>
          <a:bodyPr wrap="none" rtlCol="0">
            <a:spAutoFit/>
          </a:bodyPr>
          <a:lstStyle/>
          <a:p>
            <a:r>
              <a:rPr lang="en-US" altLang="zh-CN" sz="1200" dirty="0">
                <a:latin typeface="Huawei Sans" panose="020C0503030203020204" pitchFamily="34" charset="0"/>
                <a:ea typeface="+mn-ea"/>
                <a:cs typeface="Huawei Sans" panose="020C0503030203020204" pitchFamily="34" charset="0"/>
              </a:rPr>
              <a:t>Master</a:t>
            </a:r>
            <a:endParaRPr lang="en-US" sz="1200" dirty="0">
              <a:latin typeface="Huawei Sans" panose="020C0503030203020204" pitchFamily="34" charset="0"/>
              <a:ea typeface="+mn-ea"/>
              <a:cs typeface="Huawei Sans" panose="020C0503030203020204" pitchFamily="34" charset="0"/>
            </a:endParaRPr>
          </a:p>
        </p:txBody>
      </p:sp>
      <p:sp>
        <p:nvSpPr>
          <p:cNvPr id="64" name="TextBox 63">
            <a:extLst>
              <a:ext uri="{FF2B5EF4-FFF2-40B4-BE49-F238E27FC236}">
                <a16:creationId xmlns:a16="http://schemas.microsoft.com/office/drawing/2014/main" id="{FC7B5541-F38B-4682-A9E1-1703756898C8}"/>
              </a:ext>
            </a:extLst>
          </p:cNvPr>
          <p:cNvSpPr txBox="1"/>
          <p:nvPr/>
        </p:nvSpPr>
        <p:spPr bwMode="gray">
          <a:xfrm>
            <a:off x="9186049" y="3950516"/>
            <a:ext cx="1426994" cy="276999"/>
          </a:xfrm>
          <a:prstGeom prst="rect">
            <a:avLst/>
          </a:prstGeom>
          <a:noFill/>
        </p:spPr>
        <p:txBody>
          <a:bodyPr wrap="none" rtlCol="0">
            <a:spAutoFit/>
          </a:bodyPr>
          <a:lstStyle/>
          <a:p>
            <a:r>
              <a:rPr lang="en-US" altLang="zh-CN" sz="1200" dirty="0">
                <a:latin typeface="Huawei Sans" panose="020C0503030203020204" pitchFamily="34" charset="0"/>
                <a:ea typeface="+mn-ea"/>
                <a:cs typeface="Huawei Sans" panose="020C0503030203020204" pitchFamily="34" charset="0"/>
              </a:rPr>
              <a:t>Backup -&gt; Master</a:t>
            </a:r>
            <a:endParaRPr lang="en-US" sz="1200" dirty="0">
              <a:latin typeface="Huawei Sans" panose="020C0503030203020204" pitchFamily="34" charset="0"/>
              <a:ea typeface="+mn-ea"/>
              <a:cs typeface="Huawei Sans" panose="020C0503030203020204" pitchFamily="34" charset="0"/>
            </a:endParaRPr>
          </a:p>
        </p:txBody>
      </p:sp>
      <p:sp>
        <p:nvSpPr>
          <p:cNvPr id="65" name="Rectangular Callout 72">
            <a:extLst>
              <a:ext uri="{FF2B5EF4-FFF2-40B4-BE49-F238E27FC236}">
                <a16:creationId xmlns:a16="http://schemas.microsoft.com/office/drawing/2014/main" id="{D912A351-451D-4F7E-A185-C1419B89CDC4}"/>
              </a:ext>
            </a:extLst>
          </p:cNvPr>
          <p:cNvSpPr/>
          <p:nvPr/>
        </p:nvSpPr>
        <p:spPr bwMode="gray">
          <a:xfrm>
            <a:off x="6365145" y="4483619"/>
            <a:ext cx="1314902" cy="616112"/>
          </a:xfrm>
          <a:prstGeom prst="wedgeRectCallout">
            <a:avLst>
              <a:gd name="adj1" fmla="val 33869"/>
              <a:gd name="adj2" fmla="val -7203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Master</a:t>
            </a:r>
            <a:r>
              <a:rPr lang="zh-CN" altLang="en-US" sz="1200" dirty="0">
                <a:solidFill>
                  <a:schemeClr val="bg1">
                    <a:lumMod val="50000"/>
                  </a:schemeClr>
                </a:solidFill>
              </a:rPr>
              <a:t>设备下行链路中断，无法提供网关服务</a:t>
            </a:r>
          </a:p>
        </p:txBody>
      </p:sp>
      <p:sp>
        <p:nvSpPr>
          <p:cNvPr id="66" name="Freeform: Shape 65">
            <a:extLst>
              <a:ext uri="{FF2B5EF4-FFF2-40B4-BE49-F238E27FC236}">
                <a16:creationId xmlns:a16="http://schemas.microsoft.com/office/drawing/2014/main" id="{E9E9E886-8CE4-489E-AA30-F8E6A8A3B113}"/>
              </a:ext>
            </a:extLst>
          </p:cNvPr>
          <p:cNvSpPr/>
          <p:nvPr/>
        </p:nvSpPr>
        <p:spPr bwMode="gray">
          <a:xfrm>
            <a:off x="2494234" y="3385861"/>
            <a:ext cx="829983" cy="2143125"/>
          </a:xfrm>
          <a:custGeom>
            <a:avLst/>
            <a:gdLst>
              <a:gd name="connsiteX0" fmla="*/ 0 w 829983"/>
              <a:gd name="connsiteY0" fmla="*/ 2143125 h 2143125"/>
              <a:gd name="connsiteX1" fmla="*/ 828675 w 829983"/>
              <a:gd name="connsiteY1" fmla="*/ 1581150 h 2143125"/>
              <a:gd name="connsiteX2" fmla="*/ 200025 w 829983"/>
              <a:gd name="connsiteY2" fmla="*/ 914400 h 2143125"/>
              <a:gd name="connsiteX3" fmla="*/ 542925 w 829983"/>
              <a:gd name="connsiteY3" fmla="*/ 0 h 2143125"/>
            </a:gdLst>
            <a:ahLst/>
            <a:cxnLst>
              <a:cxn ang="0">
                <a:pos x="connsiteX0" y="connsiteY0"/>
              </a:cxn>
              <a:cxn ang="0">
                <a:pos x="connsiteX1" y="connsiteY1"/>
              </a:cxn>
              <a:cxn ang="0">
                <a:pos x="connsiteX2" y="connsiteY2"/>
              </a:cxn>
              <a:cxn ang="0">
                <a:pos x="connsiteX3" y="connsiteY3"/>
              </a:cxn>
            </a:cxnLst>
            <a:rect l="l" t="t" r="r" b="b"/>
            <a:pathLst>
              <a:path w="829983" h="2143125">
                <a:moveTo>
                  <a:pt x="0" y="2143125"/>
                </a:moveTo>
                <a:cubicBezTo>
                  <a:pt x="397669" y="1964531"/>
                  <a:pt x="795338" y="1785937"/>
                  <a:pt x="828675" y="1581150"/>
                </a:cubicBezTo>
                <a:cubicBezTo>
                  <a:pt x="862012" y="1376363"/>
                  <a:pt x="247650" y="1177925"/>
                  <a:pt x="200025" y="914400"/>
                </a:cubicBezTo>
                <a:cubicBezTo>
                  <a:pt x="152400" y="650875"/>
                  <a:pt x="347662" y="325437"/>
                  <a:pt x="542925"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6DBF1B06-F97B-4F75-8C55-4ECBE96889DE}"/>
              </a:ext>
            </a:extLst>
          </p:cNvPr>
          <p:cNvSpPr/>
          <p:nvPr/>
        </p:nvSpPr>
        <p:spPr bwMode="gray">
          <a:xfrm>
            <a:off x="2783716" y="3414436"/>
            <a:ext cx="1682193" cy="2143125"/>
          </a:xfrm>
          <a:custGeom>
            <a:avLst/>
            <a:gdLst>
              <a:gd name="connsiteX0" fmla="*/ 1682193 w 1682193"/>
              <a:gd name="connsiteY0" fmla="*/ 2143125 h 2143125"/>
              <a:gd name="connsiteX1" fmla="*/ 624918 w 1682193"/>
              <a:gd name="connsiteY1" fmla="*/ 1428750 h 2143125"/>
              <a:gd name="connsiteX2" fmla="*/ 5793 w 1682193"/>
              <a:gd name="connsiteY2" fmla="*/ 771525 h 2143125"/>
              <a:gd name="connsiteX3" fmla="*/ 367743 w 1682193"/>
              <a:gd name="connsiteY3" fmla="*/ 0 h 2143125"/>
            </a:gdLst>
            <a:ahLst/>
            <a:cxnLst>
              <a:cxn ang="0">
                <a:pos x="connsiteX0" y="connsiteY0"/>
              </a:cxn>
              <a:cxn ang="0">
                <a:pos x="connsiteX1" y="connsiteY1"/>
              </a:cxn>
              <a:cxn ang="0">
                <a:pos x="connsiteX2" y="connsiteY2"/>
              </a:cxn>
              <a:cxn ang="0">
                <a:pos x="connsiteX3" y="connsiteY3"/>
              </a:cxn>
            </a:cxnLst>
            <a:rect l="l" t="t" r="r" b="b"/>
            <a:pathLst>
              <a:path w="1682193" h="2143125">
                <a:moveTo>
                  <a:pt x="1682193" y="2143125"/>
                </a:moveTo>
                <a:cubicBezTo>
                  <a:pt x="1293255" y="1900237"/>
                  <a:pt x="904318" y="1657350"/>
                  <a:pt x="624918" y="1428750"/>
                </a:cubicBezTo>
                <a:cubicBezTo>
                  <a:pt x="345518" y="1200150"/>
                  <a:pt x="48656" y="1009650"/>
                  <a:pt x="5793" y="771525"/>
                </a:cubicBezTo>
                <a:cubicBezTo>
                  <a:pt x="-37070" y="533400"/>
                  <a:pt x="165336" y="266700"/>
                  <a:pt x="367743"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760C39B3-94F3-40A1-A4D3-EDEFB3F244ED}"/>
              </a:ext>
            </a:extLst>
          </p:cNvPr>
          <p:cNvSpPr/>
          <p:nvPr/>
        </p:nvSpPr>
        <p:spPr bwMode="gray">
          <a:xfrm flipH="1">
            <a:off x="8441449" y="3407172"/>
            <a:ext cx="829983" cy="2143125"/>
          </a:xfrm>
          <a:custGeom>
            <a:avLst/>
            <a:gdLst>
              <a:gd name="connsiteX0" fmla="*/ 0 w 829983"/>
              <a:gd name="connsiteY0" fmla="*/ 2143125 h 2143125"/>
              <a:gd name="connsiteX1" fmla="*/ 828675 w 829983"/>
              <a:gd name="connsiteY1" fmla="*/ 1581150 h 2143125"/>
              <a:gd name="connsiteX2" fmla="*/ 200025 w 829983"/>
              <a:gd name="connsiteY2" fmla="*/ 914400 h 2143125"/>
              <a:gd name="connsiteX3" fmla="*/ 542925 w 829983"/>
              <a:gd name="connsiteY3" fmla="*/ 0 h 2143125"/>
            </a:gdLst>
            <a:ahLst/>
            <a:cxnLst>
              <a:cxn ang="0">
                <a:pos x="connsiteX0" y="connsiteY0"/>
              </a:cxn>
              <a:cxn ang="0">
                <a:pos x="connsiteX1" y="connsiteY1"/>
              </a:cxn>
              <a:cxn ang="0">
                <a:pos x="connsiteX2" y="connsiteY2"/>
              </a:cxn>
              <a:cxn ang="0">
                <a:pos x="connsiteX3" y="connsiteY3"/>
              </a:cxn>
            </a:cxnLst>
            <a:rect l="l" t="t" r="r" b="b"/>
            <a:pathLst>
              <a:path w="829983" h="2143125">
                <a:moveTo>
                  <a:pt x="0" y="2143125"/>
                </a:moveTo>
                <a:cubicBezTo>
                  <a:pt x="397669" y="1964531"/>
                  <a:pt x="795338" y="1785937"/>
                  <a:pt x="828675" y="1581150"/>
                </a:cubicBezTo>
                <a:cubicBezTo>
                  <a:pt x="862012" y="1376363"/>
                  <a:pt x="247650" y="1177925"/>
                  <a:pt x="200025" y="914400"/>
                </a:cubicBezTo>
                <a:cubicBezTo>
                  <a:pt x="152400" y="650875"/>
                  <a:pt x="347662" y="325437"/>
                  <a:pt x="542925"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a:extLst>
              <a:ext uri="{FF2B5EF4-FFF2-40B4-BE49-F238E27FC236}">
                <a16:creationId xmlns:a16="http://schemas.microsoft.com/office/drawing/2014/main" id="{AE5BB7B0-92DF-4A63-90AC-3D666E2BD32B}"/>
              </a:ext>
            </a:extLst>
          </p:cNvPr>
          <p:cNvSpPr/>
          <p:nvPr/>
        </p:nvSpPr>
        <p:spPr bwMode="gray">
          <a:xfrm flipH="1">
            <a:off x="7271450" y="3464564"/>
            <a:ext cx="1682193" cy="2143125"/>
          </a:xfrm>
          <a:custGeom>
            <a:avLst/>
            <a:gdLst>
              <a:gd name="connsiteX0" fmla="*/ 1682193 w 1682193"/>
              <a:gd name="connsiteY0" fmla="*/ 2143125 h 2143125"/>
              <a:gd name="connsiteX1" fmla="*/ 624918 w 1682193"/>
              <a:gd name="connsiteY1" fmla="*/ 1428750 h 2143125"/>
              <a:gd name="connsiteX2" fmla="*/ 5793 w 1682193"/>
              <a:gd name="connsiteY2" fmla="*/ 771525 h 2143125"/>
              <a:gd name="connsiteX3" fmla="*/ 367743 w 1682193"/>
              <a:gd name="connsiteY3" fmla="*/ 0 h 2143125"/>
            </a:gdLst>
            <a:ahLst/>
            <a:cxnLst>
              <a:cxn ang="0">
                <a:pos x="connsiteX0" y="connsiteY0"/>
              </a:cxn>
              <a:cxn ang="0">
                <a:pos x="connsiteX1" y="connsiteY1"/>
              </a:cxn>
              <a:cxn ang="0">
                <a:pos x="connsiteX2" y="connsiteY2"/>
              </a:cxn>
              <a:cxn ang="0">
                <a:pos x="connsiteX3" y="connsiteY3"/>
              </a:cxn>
            </a:cxnLst>
            <a:rect l="l" t="t" r="r" b="b"/>
            <a:pathLst>
              <a:path w="1682193" h="2143125">
                <a:moveTo>
                  <a:pt x="1682193" y="2143125"/>
                </a:moveTo>
                <a:cubicBezTo>
                  <a:pt x="1293255" y="1900237"/>
                  <a:pt x="904318" y="1657350"/>
                  <a:pt x="624918" y="1428750"/>
                </a:cubicBezTo>
                <a:cubicBezTo>
                  <a:pt x="345518" y="1200150"/>
                  <a:pt x="48656" y="1009650"/>
                  <a:pt x="5793" y="771525"/>
                </a:cubicBezTo>
                <a:cubicBezTo>
                  <a:pt x="-37070" y="533400"/>
                  <a:pt x="165336" y="266700"/>
                  <a:pt x="367743"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Picture 12" descr="E:\2016.01\1.12 扁平化图标\蓝色\AR-蓝色最新-40.png">
            <a:extLst>
              <a:ext uri="{FF2B5EF4-FFF2-40B4-BE49-F238E27FC236}">
                <a16:creationId xmlns:a16="http://schemas.microsoft.com/office/drawing/2014/main" id="{6561FBDC-58E9-4AE4-A1C8-A1C1D41D9895}"/>
              </a:ext>
            </a:extLst>
          </p:cNvPr>
          <p:cNvPicPr>
            <a:picLocks noChangeAspect="1" noChangeArrowheads="1"/>
          </p:cNvPicPr>
          <p:nvPr/>
        </p:nvPicPr>
        <p:blipFill>
          <a:blip r:embed="rId4" cstate="print">
            <a:lum bright="70000" contrast="-70000"/>
            <a:extLst>
              <a:ext uri="{BEBA8EAE-BF5A-486C-A8C5-ECC9F3942E4B}">
                <a14:imgProps xmlns:a14="http://schemas.microsoft.com/office/drawing/2010/main">
                  <a14:imgLayer r:embed="rId5">
                    <a14:imgEffect>
                      <a14:saturation sat="0"/>
                    </a14:imgEffect>
                  </a14:imgLayer>
                </a14:imgProps>
              </a:ext>
            </a:extLst>
          </a:blip>
          <a:srcRect/>
          <a:stretch>
            <a:fillRect/>
          </a:stretch>
        </p:blipFill>
        <p:spPr bwMode="gray">
          <a:xfrm>
            <a:off x="7409975" y="3923829"/>
            <a:ext cx="440049" cy="360040"/>
          </a:xfrm>
          <a:prstGeom prst="rect">
            <a:avLst/>
          </a:prstGeom>
          <a:noFill/>
        </p:spPr>
      </p:pic>
      <p:cxnSp>
        <p:nvCxnSpPr>
          <p:cNvPr id="74" name="Straight Connector 73">
            <a:extLst>
              <a:ext uri="{FF2B5EF4-FFF2-40B4-BE49-F238E27FC236}">
                <a16:creationId xmlns:a16="http://schemas.microsoft.com/office/drawing/2014/main" id="{6B6BDDF7-CE8F-4DA5-8265-0B91DD7B60CA}"/>
              </a:ext>
            </a:extLst>
          </p:cNvPr>
          <p:cNvCxnSpPr>
            <a:cxnSpLocks/>
            <a:stCxn id="49" idx="2"/>
            <a:endCxn id="50" idx="0"/>
          </p:cNvCxnSpPr>
          <p:nvPr/>
        </p:nvCxnSpPr>
        <p:spPr bwMode="gray">
          <a:xfrm flipH="1">
            <a:off x="8312581" y="4274340"/>
            <a:ext cx="672337" cy="43204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grpSp>
        <p:nvGrpSpPr>
          <p:cNvPr id="77" name="组合 28">
            <a:extLst>
              <a:ext uri="{FF2B5EF4-FFF2-40B4-BE49-F238E27FC236}">
                <a16:creationId xmlns:a16="http://schemas.microsoft.com/office/drawing/2014/main" id="{E33EE1C8-C09A-4D57-8BAF-969474BF5D60}"/>
              </a:ext>
            </a:extLst>
          </p:cNvPr>
          <p:cNvGrpSpPr>
            <a:grpSpLocks noChangeAspect="1"/>
          </p:cNvGrpSpPr>
          <p:nvPr/>
        </p:nvGrpSpPr>
        <p:grpSpPr bwMode="gray">
          <a:xfrm>
            <a:off x="7541035" y="4184931"/>
            <a:ext cx="188347" cy="188347"/>
            <a:chOff x="5076056" y="3356992"/>
            <a:chExt cx="436268" cy="436268"/>
          </a:xfrm>
        </p:grpSpPr>
        <p:sp>
          <p:nvSpPr>
            <p:cNvPr id="78" name="椭圆 27">
              <a:extLst>
                <a:ext uri="{FF2B5EF4-FFF2-40B4-BE49-F238E27FC236}">
                  <a16:creationId xmlns:a16="http://schemas.microsoft.com/office/drawing/2014/main" id="{CDC0F4B9-28DD-482D-86D5-BC60B111DADD}"/>
                </a:ext>
              </a:extLst>
            </p:cNvPr>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禁止符 23">
              <a:extLst>
                <a:ext uri="{FF2B5EF4-FFF2-40B4-BE49-F238E27FC236}">
                  <a16:creationId xmlns:a16="http://schemas.microsoft.com/office/drawing/2014/main" id="{519AD376-3B8E-4C35-8A1B-B9C434E5351D}"/>
                </a:ext>
              </a:extLst>
            </p:cNvPr>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0" name="Rectangular Callout 72">
            <a:extLst>
              <a:ext uri="{FF2B5EF4-FFF2-40B4-BE49-F238E27FC236}">
                <a16:creationId xmlns:a16="http://schemas.microsoft.com/office/drawing/2014/main" id="{53B27285-F980-45DE-8BF4-BBDC6D9E2CC6}"/>
              </a:ext>
            </a:extLst>
          </p:cNvPr>
          <p:cNvSpPr/>
          <p:nvPr/>
        </p:nvSpPr>
        <p:spPr bwMode="gray">
          <a:xfrm>
            <a:off x="9112202" y="3117768"/>
            <a:ext cx="1264848" cy="616112"/>
          </a:xfrm>
          <a:prstGeom prst="wedgeRectCallout">
            <a:avLst>
              <a:gd name="adj1" fmla="val -44226"/>
              <a:gd name="adj2" fmla="val 7328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Backup</a:t>
            </a:r>
            <a:r>
              <a:rPr lang="zh-CN" altLang="en-US" sz="1200" dirty="0">
                <a:solidFill>
                  <a:schemeClr val="bg1">
                    <a:lumMod val="50000"/>
                  </a:schemeClr>
                </a:solidFill>
              </a:rPr>
              <a:t>设备切换为</a:t>
            </a:r>
            <a:r>
              <a:rPr lang="en-US" altLang="zh-CN" sz="1200" dirty="0">
                <a:solidFill>
                  <a:schemeClr val="bg1">
                    <a:lumMod val="50000"/>
                  </a:schemeClr>
                </a:solidFill>
              </a:rPr>
              <a:t>Master</a:t>
            </a:r>
            <a:r>
              <a:rPr lang="zh-CN" altLang="en-US" sz="1200" dirty="0">
                <a:solidFill>
                  <a:schemeClr val="bg1">
                    <a:lumMod val="50000"/>
                  </a:schemeClr>
                </a:solidFill>
              </a:rPr>
              <a:t>，引导流量切换</a:t>
            </a:r>
          </a:p>
        </p:txBody>
      </p:sp>
      <p:sp>
        <p:nvSpPr>
          <p:cNvPr id="81" name="Rectangular Callout 72">
            <a:extLst>
              <a:ext uri="{FF2B5EF4-FFF2-40B4-BE49-F238E27FC236}">
                <a16:creationId xmlns:a16="http://schemas.microsoft.com/office/drawing/2014/main" id="{C47209FB-E5A7-4EC6-ACB5-D62E6E8B2467}"/>
              </a:ext>
            </a:extLst>
          </p:cNvPr>
          <p:cNvSpPr/>
          <p:nvPr/>
        </p:nvSpPr>
        <p:spPr bwMode="gray">
          <a:xfrm>
            <a:off x="4164044" y="4441364"/>
            <a:ext cx="1313412" cy="443927"/>
          </a:xfrm>
          <a:prstGeom prst="wedgeRectCallout">
            <a:avLst>
              <a:gd name="adj1" fmla="val -41493"/>
              <a:gd name="adj2" fmla="val -8239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lumMod val="50000"/>
                  </a:schemeClr>
                </a:solidFill>
              </a:rPr>
              <a:t>Backup</a:t>
            </a:r>
            <a:r>
              <a:rPr lang="zh-CN" altLang="en-US" sz="1200" dirty="0">
                <a:solidFill>
                  <a:schemeClr val="bg1">
                    <a:lumMod val="50000"/>
                  </a:schemeClr>
                </a:solidFill>
              </a:rPr>
              <a:t>设备做备份，不承载流量</a:t>
            </a:r>
          </a:p>
        </p:txBody>
      </p:sp>
      <p:sp>
        <p:nvSpPr>
          <p:cNvPr id="82" name="TextBox 81">
            <a:extLst>
              <a:ext uri="{FF2B5EF4-FFF2-40B4-BE49-F238E27FC236}">
                <a16:creationId xmlns:a16="http://schemas.microsoft.com/office/drawing/2014/main" id="{6370F141-49E2-4843-BDFE-CEB3A63DE7E9}"/>
              </a:ext>
            </a:extLst>
          </p:cNvPr>
          <p:cNvSpPr txBox="1"/>
          <p:nvPr/>
        </p:nvSpPr>
        <p:spPr bwMode="gray">
          <a:xfrm>
            <a:off x="2290544" y="5930736"/>
            <a:ext cx="453970"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PC</a:t>
            </a:r>
            <a:r>
              <a:rPr lang="en-US" altLang="zh-CN" sz="1200" dirty="0">
                <a:latin typeface="Huawei Sans" panose="020C0503030203020204" pitchFamily="34" charset="0"/>
                <a:cs typeface="Huawei Sans" panose="020C0503030203020204" pitchFamily="34" charset="0"/>
              </a:rPr>
              <a:t>1</a:t>
            </a:r>
            <a:endParaRPr lang="en-US" sz="1200" dirty="0">
              <a:latin typeface="Huawei Sans" panose="020C0503030203020204" pitchFamily="34" charset="0"/>
              <a:cs typeface="Huawei Sans" panose="020C0503030203020204" pitchFamily="34" charset="0"/>
            </a:endParaRPr>
          </a:p>
        </p:txBody>
      </p:sp>
      <p:sp>
        <p:nvSpPr>
          <p:cNvPr id="83" name="TextBox 82">
            <a:extLst>
              <a:ext uri="{FF2B5EF4-FFF2-40B4-BE49-F238E27FC236}">
                <a16:creationId xmlns:a16="http://schemas.microsoft.com/office/drawing/2014/main" id="{C8FF7137-D3C6-4E18-96AF-AF418EA24475}"/>
              </a:ext>
            </a:extLst>
          </p:cNvPr>
          <p:cNvSpPr txBox="1"/>
          <p:nvPr/>
        </p:nvSpPr>
        <p:spPr bwMode="gray">
          <a:xfrm>
            <a:off x="4102026" y="5945864"/>
            <a:ext cx="453970"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PC</a:t>
            </a:r>
            <a:r>
              <a:rPr lang="en-US" altLang="zh-CN" sz="1200" dirty="0">
                <a:latin typeface="Huawei Sans" panose="020C0503030203020204" pitchFamily="34" charset="0"/>
                <a:cs typeface="Huawei Sans" panose="020C0503030203020204" pitchFamily="34" charset="0"/>
              </a:rPr>
              <a:t>2</a:t>
            </a:r>
            <a:endParaRPr lang="en-US" sz="1200" dirty="0">
              <a:latin typeface="Huawei Sans" panose="020C0503030203020204" pitchFamily="34" charset="0"/>
              <a:cs typeface="Huawei Sans" panose="020C0503030203020204" pitchFamily="34" charset="0"/>
            </a:endParaRPr>
          </a:p>
        </p:txBody>
      </p:sp>
      <p:sp>
        <p:nvSpPr>
          <p:cNvPr id="84" name="TextBox 83">
            <a:extLst>
              <a:ext uri="{FF2B5EF4-FFF2-40B4-BE49-F238E27FC236}">
                <a16:creationId xmlns:a16="http://schemas.microsoft.com/office/drawing/2014/main" id="{1E2E3736-075B-41EF-87A9-1A6E34BEFAEF}"/>
              </a:ext>
            </a:extLst>
          </p:cNvPr>
          <p:cNvSpPr txBox="1"/>
          <p:nvPr/>
        </p:nvSpPr>
        <p:spPr bwMode="gray">
          <a:xfrm>
            <a:off x="7193528" y="5939642"/>
            <a:ext cx="453970"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PC</a:t>
            </a:r>
            <a:r>
              <a:rPr lang="en-US" altLang="zh-CN" sz="1200" dirty="0">
                <a:latin typeface="Huawei Sans" panose="020C0503030203020204" pitchFamily="34" charset="0"/>
                <a:cs typeface="Huawei Sans" panose="020C0503030203020204" pitchFamily="34" charset="0"/>
              </a:rPr>
              <a:t>1</a:t>
            </a:r>
            <a:endParaRPr lang="en-US" sz="1200" dirty="0">
              <a:latin typeface="Huawei Sans" panose="020C0503030203020204" pitchFamily="34" charset="0"/>
              <a:cs typeface="Huawei Sans" panose="020C0503030203020204" pitchFamily="34" charset="0"/>
            </a:endParaRPr>
          </a:p>
        </p:txBody>
      </p:sp>
      <p:sp>
        <p:nvSpPr>
          <p:cNvPr id="85" name="TextBox 84">
            <a:extLst>
              <a:ext uri="{FF2B5EF4-FFF2-40B4-BE49-F238E27FC236}">
                <a16:creationId xmlns:a16="http://schemas.microsoft.com/office/drawing/2014/main" id="{5C44C651-3686-4C9E-A338-EFE20D4434F7}"/>
              </a:ext>
            </a:extLst>
          </p:cNvPr>
          <p:cNvSpPr txBox="1"/>
          <p:nvPr/>
        </p:nvSpPr>
        <p:spPr bwMode="gray">
          <a:xfrm>
            <a:off x="9005010" y="5954770"/>
            <a:ext cx="453970" cy="276999"/>
          </a:xfrm>
          <a:prstGeom prst="rect">
            <a:avLst/>
          </a:prstGeom>
          <a:noFill/>
        </p:spPr>
        <p:txBody>
          <a:bodyPr wrap="none" rtlCol="0">
            <a:spAutoFit/>
          </a:bodyPr>
          <a:lstStyle/>
          <a:p>
            <a:r>
              <a:rPr lang="en-US" sz="1200" dirty="0">
                <a:latin typeface="Huawei Sans" panose="020C0503030203020204" pitchFamily="34" charset="0"/>
                <a:cs typeface="Huawei Sans" panose="020C0503030203020204" pitchFamily="34" charset="0"/>
              </a:rPr>
              <a:t>PC</a:t>
            </a:r>
            <a:r>
              <a:rPr lang="en-US" altLang="zh-CN" sz="1200" dirty="0">
                <a:latin typeface="Huawei Sans" panose="020C0503030203020204" pitchFamily="34" charset="0"/>
                <a:cs typeface="Huawei Sans" panose="020C0503030203020204" pitchFamily="34" charset="0"/>
              </a:rPr>
              <a:t>2</a:t>
            </a:r>
            <a:endParaRPr lang="en-US" sz="1200" dirty="0">
              <a:latin typeface="Huawei Sans" panose="020C0503030203020204" pitchFamily="34" charset="0"/>
              <a:cs typeface="Huawei Sans" panose="020C0503030203020204" pitchFamily="34" charset="0"/>
            </a:endParaRPr>
          </a:p>
        </p:txBody>
      </p:sp>
      <p:sp>
        <p:nvSpPr>
          <p:cNvPr id="86" name="Arrow: Right 85">
            <a:extLst>
              <a:ext uri="{FF2B5EF4-FFF2-40B4-BE49-F238E27FC236}">
                <a16:creationId xmlns:a16="http://schemas.microsoft.com/office/drawing/2014/main" id="{4DCA8A35-91A4-46CF-80D0-393C2A05EF13}"/>
              </a:ext>
            </a:extLst>
          </p:cNvPr>
          <p:cNvSpPr/>
          <p:nvPr/>
        </p:nvSpPr>
        <p:spPr bwMode="gray">
          <a:xfrm>
            <a:off x="5257431" y="3886697"/>
            <a:ext cx="1417771" cy="404211"/>
          </a:xfrm>
          <a:prstGeom prst="rightArrow">
            <a:avLst>
              <a:gd name="adj1" fmla="val 68851"/>
              <a:gd name="adj2" fmla="val 50000"/>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主设备发生故障</a:t>
            </a:r>
            <a:endParaRPr lang="en-US" sz="1200" dirty="0">
              <a:solidFill>
                <a:schemeClr val="tx1"/>
              </a:solidFill>
            </a:endParaRPr>
          </a:p>
        </p:txBody>
      </p:sp>
    </p:spTree>
    <p:extLst>
      <p:ext uri="{BB962C8B-B14F-4D97-AF65-F5344CB8AC3E}">
        <p14:creationId xmlns:p14="http://schemas.microsoft.com/office/powerpoint/2010/main" val="2242278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C77D2E-C642-4157-A68C-E544AB72F954}"/>
              </a:ext>
            </a:extLst>
          </p:cNvPr>
          <p:cNvSpPr>
            <a:spLocks noGrp="1"/>
          </p:cNvSpPr>
          <p:nvPr>
            <p:ph type="title"/>
          </p:nvPr>
        </p:nvSpPr>
        <p:spPr bwMode="gray"/>
        <p:txBody>
          <a:bodyPr/>
          <a:lstStyle/>
          <a:p>
            <a:r>
              <a:rPr lang="zh-CN" altLang="en-US"/>
              <a:t>业务可靠性简介</a:t>
            </a:r>
            <a:endParaRPr lang="en-US" dirty="0"/>
          </a:p>
        </p:txBody>
      </p:sp>
      <p:sp>
        <p:nvSpPr>
          <p:cNvPr id="4" name="Text Placeholder 3">
            <a:extLst>
              <a:ext uri="{FF2B5EF4-FFF2-40B4-BE49-F238E27FC236}">
                <a16:creationId xmlns:a16="http://schemas.microsoft.com/office/drawing/2014/main" id="{40355E2A-CB4E-44D7-8EE6-840FEF6CD210}"/>
              </a:ext>
            </a:extLst>
          </p:cNvPr>
          <p:cNvSpPr>
            <a:spLocks noGrp="1"/>
          </p:cNvSpPr>
          <p:nvPr>
            <p:ph type="body" sz="quarter" idx="10"/>
          </p:nvPr>
        </p:nvSpPr>
        <p:spPr bwMode="gray"/>
        <p:txBody>
          <a:bodyPr/>
          <a:lstStyle/>
          <a:p>
            <a:r>
              <a:rPr lang="zh-CN" altLang="en-US" dirty="0"/>
              <a:t>云计算时代，网络的可靠性不再满足用户的需求，用户希望能够基于应用了解现网的情况，并根据应用的现状调整网络。</a:t>
            </a:r>
            <a:endParaRPr lang="en-US" altLang="zh-CN" dirty="0"/>
          </a:p>
          <a:p>
            <a:r>
              <a:rPr lang="zh-CN" altLang="en-US" dirty="0"/>
              <a:t>这种需求对于原有的网络提出了挑战：</a:t>
            </a:r>
            <a:endParaRPr lang="en-US" altLang="zh-CN" dirty="0"/>
          </a:p>
          <a:p>
            <a:pPr lvl="1"/>
            <a:r>
              <a:rPr lang="zh-CN" altLang="en-US" dirty="0"/>
              <a:t>传统的网络</a:t>
            </a:r>
            <a:r>
              <a:rPr lang="zh-CN" altLang="en-US"/>
              <a:t>无法很好地识别</a:t>
            </a:r>
            <a:r>
              <a:rPr lang="zh-CN" altLang="en-US" dirty="0"/>
              <a:t>应用。</a:t>
            </a:r>
            <a:endParaRPr lang="en-US" altLang="zh-CN" dirty="0"/>
          </a:p>
          <a:p>
            <a:pPr lvl="1"/>
            <a:r>
              <a:rPr lang="zh-CN" altLang="en-US" dirty="0"/>
              <a:t>传统的网络无法基于应用调整。</a:t>
            </a:r>
            <a:endParaRPr lang="en-US" altLang="zh-CN" dirty="0"/>
          </a:p>
          <a:p>
            <a:r>
              <a:rPr lang="zh-CN" altLang="en-US" dirty="0"/>
              <a:t>为了应对以上挑战，产生了两种技术：</a:t>
            </a:r>
            <a:endParaRPr lang="en-US" altLang="zh-CN" dirty="0"/>
          </a:p>
          <a:p>
            <a:pPr lvl="1"/>
            <a:r>
              <a:rPr lang="en-US" altLang="zh-CN" dirty="0"/>
              <a:t>SAC</a:t>
            </a:r>
            <a:r>
              <a:rPr lang="zh-CN" altLang="en-US" dirty="0"/>
              <a:t>（</a:t>
            </a:r>
            <a:r>
              <a:rPr lang="en-US" altLang="zh-CN" dirty="0"/>
              <a:t>Smart Application Control</a:t>
            </a:r>
            <a:r>
              <a:rPr lang="zh-CN" altLang="en-US" dirty="0"/>
              <a:t>，智能应用控制），该技术</a:t>
            </a:r>
            <a:r>
              <a:rPr lang="zh-CN" altLang="en-US"/>
              <a:t>能够灵活地识别</a:t>
            </a:r>
            <a:r>
              <a:rPr lang="zh-CN" altLang="en-US" dirty="0"/>
              <a:t>应用。</a:t>
            </a:r>
            <a:endParaRPr lang="en-US" altLang="zh-CN" dirty="0"/>
          </a:p>
          <a:p>
            <a:pPr lvl="1"/>
            <a:r>
              <a:rPr lang="en-US" altLang="zh-CN" dirty="0"/>
              <a:t>SPR</a:t>
            </a:r>
            <a:r>
              <a:rPr lang="zh-CN" altLang="en-US" dirty="0"/>
              <a:t>（</a:t>
            </a:r>
            <a:r>
              <a:rPr lang="en-US" altLang="zh-CN" dirty="0"/>
              <a:t>Smart Policy Routing</a:t>
            </a:r>
            <a:r>
              <a:rPr lang="zh-CN" altLang="en-US" dirty="0"/>
              <a:t>，智能策略路由），该技术能够基于网络的状况或者应用的状况切换转发路径。</a:t>
            </a:r>
            <a:endParaRPr lang="en-US" dirty="0"/>
          </a:p>
        </p:txBody>
      </p:sp>
    </p:spTree>
    <p:extLst>
      <p:ext uri="{BB962C8B-B14F-4D97-AF65-F5344CB8AC3E}">
        <p14:creationId xmlns:p14="http://schemas.microsoft.com/office/powerpoint/2010/main" val="2904850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C072-4F87-4C0C-82F0-2FBE60989595}"/>
              </a:ext>
            </a:extLst>
          </p:cNvPr>
          <p:cNvSpPr>
            <a:spLocks noGrp="1"/>
          </p:cNvSpPr>
          <p:nvPr>
            <p:ph type="title"/>
          </p:nvPr>
        </p:nvSpPr>
        <p:spPr bwMode="gray"/>
        <p:txBody>
          <a:bodyPr/>
          <a:lstStyle/>
          <a:p>
            <a:r>
              <a:rPr lang="en-US" dirty="0"/>
              <a:t>SAC</a:t>
            </a:r>
            <a:r>
              <a:rPr lang="zh-CN" altLang="en-US" dirty="0"/>
              <a:t>简介</a:t>
            </a:r>
            <a:endParaRPr lang="en-US" dirty="0"/>
          </a:p>
        </p:txBody>
      </p:sp>
      <p:sp>
        <p:nvSpPr>
          <p:cNvPr id="3" name="Text Placeholder 2">
            <a:extLst>
              <a:ext uri="{FF2B5EF4-FFF2-40B4-BE49-F238E27FC236}">
                <a16:creationId xmlns:a16="http://schemas.microsoft.com/office/drawing/2014/main" id="{B20E815F-667E-4813-8A28-15CFAD11196E}"/>
              </a:ext>
            </a:extLst>
          </p:cNvPr>
          <p:cNvSpPr>
            <a:spLocks noGrp="1"/>
          </p:cNvSpPr>
          <p:nvPr>
            <p:ph type="body" sz="quarter" idx="10"/>
          </p:nvPr>
        </p:nvSpPr>
        <p:spPr bwMode="gray">
          <a:xfrm>
            <a:off x="455612" y="1047751"/>
            <a:ext cx="11293475" cy="1537760"/>
          </a:xfrm>
        </p:spPr>
        <p:txBody>
          <a:bodyPr/>
          <a:lstStyle/>
          <a:p>
            <a:r>
              <a:rPr lang="zh-CN" altLang="en-US" sz="1600" dirty="0"/>
              <a:t>一般的路由交换设备没有办法识别应用层的信息，以应用为维度管理网络存在较大难度。</a:t>
            </a:r>
            <a:r>
              <a:rPr lang="en-US" altLang="zh-CN" sz="1600" dirty="0"/>
              <a:t>SAC</a:t>
            </a:r>
            <a:r>
              <a:rPr lang="zh-CN" altLang="en-US" sz="1600" dirty="0"/>
              <a:t>技术能够帮助路由交换设备识别分类应用。</a:t>
            </a:r>
          </a:p>
          <a:p>
            <a:r>
              <a:rPr lang="en-US" altLang="zh-CN" sz="1600" dirty="0"/>
              <a:t>SAC</a:t>
            </a:r>
            <a:r>
              <a:rPr lang="zh-CN" altLang="en-US" sz="1600" dirty="0"/>
              <a:t>指利用</a:t>
            </a:r>
            <a:r>
              <a:rPr lang="en-US" altLang="zh-CN" sz="1600" dirty="0"/>
              <a:t>SA</a:t>
            </a:r>
            <a:r>
              <a:rPr lang="zh-CN" altLang="en-US" sz="1600" dirty="0"/>
              <a:t>（</a:t>
            </a:r>
            <a:r>
              <a:rPr lang="en-US" altLang="zh-CN" sz="1600" dirty="0"/>
              <a:t>Service Awareness</a:t>
            </a:r>
            <a:r>
              <a:rPr lang="zh-CN" altLang="en-US" sz="1600" dirty="0"/>
              <a:t>，业务感知技术）和</a:t>
            </a:r>
            <a:r>
              <a:rPr lang="en-US" altLang="zh-CN" sz="1600" dirty="0"/>
              <a:t>FPI</a:t>
            </a:r>
            <a:r>
              <a:rPr lang="zh-CN" altLang="en-US" sz="1600" dirty="0"/>
              <a:t>（</a:t>
            </a:r>
            <a:r>
              <a:rPr lang="en-US" altLang="zh-CN" sz="1600" dirty="0"/>
              <a:t>First Packet Identification</a:t>
            </a:r>
            <a:r>
              <a:rPr lang="zh-CN" altLang="en-US" sz="1600" dirty="0"/>
              <a:t>，首包识别技术），对报文中的第</a:t>
            </a:r>
            <a:r>
              <a:rPr lang="en-US" altLang="zh-CN" sz="1600" dirty="0"/>
              <a:t>4</a:t>
            </a:r>
            <a:r>
              <a:rPr lang="zh-CN" altLang="en-US" sz="1600" dirty="0"/>
              <a:t>～</a:t>
            </a:r>
            <a:r>
              <a:rPr lang="en-US" altLang="zh-CN" sz="1600" dirty="0"/>
              <a:t>7</a:t>
            </a:r>
            <a:r>
              <a:rPr lang="zh-CN" altLang="en-US" sz="1600" dirty="0"/>
              <a:t>层内容（如</a:t>
            </a:r>
            <a:r>
              <a:rPr lang="en-US" altLang="zh-CN" sz="1600" dirty="0"/>
              <a:t>HTTP</a:t>
            </a:r>
            <a:r>
              <a:rPr lang="zh-CN" altLang="en-US" sz="1600" dirty="0"/>
              <a:t>、</a:t>
            </a:r>
            <a:r>
              <a:rPr lang="en-US" altLang="zh-CN" sz="1600" dirty="0"/>
              <a:t>RTP</a:t>
            </a:r>
            <a:r>
              <a:rPr lang="zh-CN" altLang="en-US" sz="1600" dirty="0"/>
              <a:t>）进行检测和识别。</a:t>
            </a:r>
          </a:p>
          <a:p>
            <a:endParaRPr lang="en-US" sz="1800" dirty="0"/>
          </a:p>
        </p:txBody>
      </p:sp>
      <p:grpSp>
        <p:nvGrpSpPr>
          <p:cNvPr id="54" name="Group 53">
            <a:extLst>
              <a:ext uri="{FF2B5EF4-FFF2-40B4-BE49-F238E27FC236}">
                <a16:creationId xmlns:a16="http://schemas.microsoft.com/office/drawing/2014/main" id="{B4A25D2B-9FDA-432E-8F7E-3B6C6F7BF43B}"/>
              </a:ext>
            </a:extLst>
          </p:cNvPr>
          <p:cNvGrpSpPr/>
          <p:nvPr/>
        </p:nvGrpSpPr>
        <p:grpSpPr bwMode="gray">
          <a:xfrm>
            <a:off x="1662776" y="3109637"/>
            <a:ext cx="8722242" cy="2950048"/>
            <a:chOff x="2063552" y="2096852"/>
            <a:chExt cx="8722242" cy="3644573"/>
          </a:xfrm>
        </p:grpSpPr>
        <p:sp>
          <p:nvSpPr>
            <p:cNvPr id="35" name="Rectangle 34">
              <a:extLst>
                <a:ext uri="{FF2B5EF4-FFF2-40B4-BE49-F238E27FC236}">
                  <a16:creationId xmlns:a16="http://schemas.microsoft.com/office/drawing/2014/main" id="{A388A1C4-E64F-4F03-810F-2BFF5415D340}"/>
                </a:ext>
              </a:extLst>
            </p:cNvPr>
            <p:cNvSpPr/>
            <p:nvPr/>
          </p:nvSpPr>
          <p:spPr bwMode="gray">
            <a:xfrm>
              <a:off x="4043808" y="2096852"/>
              <a:ext cx="5976628" cy="3644573"/>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b="1" dirty="0">
                  <a:solidFill>
                    <a:schemeClr val="tx1"/>
                  </a:solidFill>
                </a:rPr>
                <a:t>网络设备</a:t>
              </a:r>
              <a:endParaRPr lang="en-US" sz="1600" b="1" dirty="0">
                <a:solidFill>
                  <a:schemeClr val="tx1"/>
                </a:solidFill>
              </a:endParaRPr>
            </a:p>
          </p:txBody>
        </p:sp>
        <p:sp>
          <p:nvSpPr>
            <p:cNvPr id="5" name="TextBox 120">
              <a:extLst>
                <a:ext uri="{FF2B5EF4-FFF2-40B4-BE49-F238E27FC236}">
                  <a16:creationId xmlns:a16="http://schemas.microsoft.com/office/drawing/2014/main" id="{E683D4BD-B365-442D-B432-DE77CE630759}"/>
                </a:ext>
              </a:extLst>
            </p:cNvPr>
            <p:cNvSpPr txBox="1"/>
            <p:nvPr/>
          </p:nvSpPr>
          <p:spPr bwMode="gray">
            <a:xfrm>
              <a:off x="3635790" y="2582001"/>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TextBox 120">
              <a:extLst>
                <a:ext uri="{FF2B5EF4-FFF2-40B4-BE49-F238E27FC236}">
                  <a16:creationId xmlns:a16="http://schemas.microsoft.com/office/drawing/2014/main" id="{44FA51F1-BCA0-4EDD-8343-D69EE5E7D4A7}"/>
                </a:ext>
              </a:extLst>
            </p:cNvPr>
            <p:cNvSpPr txBox="1"/>
            <p:nvPr/>
          </p:nvSpPr>
          <p:spPr bwMode="gray">
            <a:xfrm>
              <a:off x="3411182" y="2582263"/>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120">
              <a:extLst>
                <a:ext uri="{FF2B5EF4-FFF2-40B4-BE49-F238E27FC236}">
                  <a16:creationId xmlns:a16="http://schemas.microsoft.com/office/drawing/2014/main" id="{E62FC933-5C80-4812-8C4B-6AE73073F1F1}"/>
                </a:ext>
              </a:extLst>
            </p:cNvPr>
            <p:cNvSpPr txBox="1"/>
            <p:nvPr/>
          </p:nvSpPr>
          <p:spPr bwMode="gray">
            <a:xfrm>
              <a:off x="3186577" y="2581870"/>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103F94A7-0A9C-4F41-B81E-28589B15B771}"/>
                </a:ext>
              </a:extLst>
            </p:cNvPr>
            <p:cNvSpPr txBox="1"/>
            <p:nvPr/>
          </p:nvSpPr>
          <p:spPr bwMode="gray">
            <a:xfrm>
              <a:off x="2961972" y="2582132"/>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46050D66-AEFE-40B2-B5E2-77A7406CA67B}"/>
                </a:ext>
              </a:extLst>
            </p:cNvPr>
            <p:cNvSpPr txBox="1"/>
            <p:nvPr/>
          </p:nvSpPr>
          <p:spPr bwMode="gray">
            <a:xfrm>
              <a:off x="2737367" y="2581870"/>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4EB5BEB1-E52B-4323-A52C-3535B784508D}"/>
                </a:ext>
              </a:extLst>
            </p:cNvPr>
            <p:cNvSpPr txBox="1"/>
            <p:nvPr/>
          </p:nvSpPr>
          <p:spPr bwMode="gray">
            <a:xfrm>
              <a:off x="2512762" y="2582132"/>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7B547453-4846-4769-BB5A-21D8A3CF5797}"/>
                </a:ext>
              </a:extLst>
            </p:cNvPr>
            <p:cNvSpPr txBox="1"/>
            <p:nvPr/>
          </p:nvSpPr>
          <p:spPr bwMode="gray">
            <a:xfrm>
              <a:off x="2288157" y="2581870"/>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a16="http://schemas.microsoft.com/office/drawing/2014/main" id="{5827FBBE-B69C-4C0F-82FD-BCE767649CFC}"/>
                </a:ext>
              </a:extLst>
            </p:cNvPr>
            <p:cNvSpPr txBox="1"/>
            <p:nvPr/>
          </p:nvSpPr>
          <p:spPr bwMode="gray">
            <a:xfrm>
              <a:off x="2063552" y="258213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ectangle 13">
              <a:extLst>
                <a:ext uri="{FF2B5EF4-FFF2-40B4-BE49-F238E27FC236}">
                  <a16:creationId xmlns:a16="http://schemas.microsoft.com/office/drawing/2014/main" id="{7168D941-0B48-427D-9716-993DAD9E9FE4}"/>
                </a:ext>
              </a:extLst>
            </p:cNvPr>
            <p:cNvSpPr/>
            <p:nvPr/>
          </p:nvSpPr>
          <p:spPr bwMode="gray">
            <a:xfrm>
              <a:off x="5457427" y="3860770"/>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FPI</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8" name="Arrow: Right 17">
              <a:extLst>
                <a:ext uri="{FF2B5EF4-FFF2-40B4-BE49-F238E27FC236}">
                  <a16:creationId xmlns:a16="http://schemas.microsoft.com/office/drawing/2014/main" id="{D494DCC8-8B78-4796-9E05-055865B5787B}"/>
                </a:ext>
              </a:extLst>
            </p:cNvPr>
            <p:cNvSpPr/>
            <p:nvPr/>
          </p:nvSpPr>
          <p:spPr bwMode="gray">
            <a:xfrm>
              <a:off x="3893525" y="2451260"/>
              <a:ext cx="151193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763D633-1B71-47C1-8A63-3DEF9C311235}"/>
                </a:ext>
              </a:extLst>
            </p:cNvPr>
            <p:cNvSpPr/>
            <p:nvPr/>
          </p:nvSpPr>
          <p:spPr bwMode="gray">
            <a:xfrm rot="5400000">
              <a:off x="5785310" y="317061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D37B098-4904-4F5A-8D0F-7885B732F69E}"/>
                </a:ext>
              </a:extLst>
            </p:cNvPr>
            <p:cNvSpPr txBox="1"/>
            <p:nvPr/>
          </p:nvSpPr>
          <p:spPr bwMode="gray">
            <a:xfrm>
              <a:off x="2585347" y="227798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23">
              <a:extLst>
                <a:ext uri="{FF2B5EF4-FFF2-40B4-BE49-F238E27FC236}">
                  <a16:creationId xmlns:a16="http://schemas.microsoft.com/office/drawing/2014/main" id="{F4379920-35E2-4561-8955-1918FBE82D17}"/>
                </a:ext>
              </a:extLst>
            </p:cNvPr>
            <p:cNvSpPr txBox="1"/>
            <p:nvPr/>
          </p:nvSpPr>
          <p:spPr bwMode="gray">
            <a:xfrm>
              <a:off x="4879582" y="331965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Rectangle 27">
              <a:extLst>
                <a:ext uri="{FF2B5EF4-FFF2-40B4-BE49-F238E27FC236}">
                  <a16:creationId xmlns:a16="http://schemas.microsoft.com/office/drawing/2014/main" id="{F12044E1-0E5D-40A9-8026-0F7E448EE062}"/>
                </a:ext>
              </a:extLst>
            </p:cNvPr>
            <p:cNvSpPr/>
            <p:nvPr/>
          </p:nvSpPr>
          <p:spPr bwMode="gray">
            <a:xfrm>
              <a:off x="5457425" y="5012875"/>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SA</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9" name="Arrow: Right 28">
              <a:extLst>
                <a:ext uri="{FF2B5EF4-FFF2-40B4-BE49-F238E27FC236}">
                  <a16:creationId xmlns:a16="http://schemas.microsoft.com/office/drawing/2014/main" id="{E0677CB5-4C84-4A4B-87F5-551B0BC3A18B}"/>
                </a:ext>
              </a:extLst>
            </p:cNvPr>
            <p:cNvSpPr/>
            <p:nvPr/>
          </p:nvSpPr>
          <p:spPr bwMode="gray">
            <a:xfrm rot="5400000">
              <a:off x="5794208" y="441744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120">
              <a:extLst>
                <a:ext uri="{FF2B5EF4-FFF2-40B4-BE49-F238E27FC236}">
                  <a16:creationId xmlns:a16="http://schemas.microsoft.com/office/drawing/2014/main" id="{3FAED4F3-E1C1-498E-A371-6B66D1E2C857}"/>
                </a:ext>
              </a:extLst>
            </p:cNvPr>
            <p:cNvSpPr txBox="1"/>
            <p:nvPr/>
          </p:nvSpPr>
          <p:spPr bwMode="gray">
            <a:xfrm>
              <a:off x="7986824" y="2581608"/>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id="{2211E423-2C2A-469E-9151-A6EE7AF59AFF}"/>
                </a:ext>
              </a:extLst>
            </p:cNvPr>
            <p:cNvSpPr txBox="1"/>
            <p:nvPr/>
          </p:nvSpPr>
          <p:spPr bwMode="gray">
            <a:xfrm>
              <a:off x="7762216" y="2581870"/>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Arrow: Right 31">
              <a:extLst>
                <a:ext uri="{FF2B5EF4-FFF2-40B4-BE49-F238E27FC236}">
                  <a16:creationId xmlns:a16="http://schemas.microsoft.com/office/drawing/2014/main" id="{AE314E12-57D4-441B-9A56-5205FA2C7A3C}"/>
                </a:ext>
              </a:extLst>
            </p:cNvPr>
            <p:cNvSpPr/>
            <p:nvPr/>
          </p:nvSpPr>
          <p:spPr bwMode="gray">
            <a:xfrm>
              <a:off x="6819667" y="2451260"/>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9E125AC-E0CB-4980-96F1-F8FE12298811}"/>
                </a:ext>
              </a:extLst>
            </p:cNvPr>
            <p:cNvSpPr txBox="1"/>
            <p:nvPr/>
          </p:nvSpPr>
          <p:spPr bwMode="gray">
            <a:xfrm>
              <a:off x="4873064" y="4566772"/>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Rectangle 33">
              <a:extLst>
                <a:ext uri="{FF2B5EF4-FFF2-40B4-BE49-F238E27FC236}">
                  <a16:creationId xmlns:a16="http://schemas.microsoft.com/office/drawing/2014/main" id="{D5CD1241-76ED-41C9-BB3F-9EF49D2360D7}"/>
                </a:ext>
              </a:extLst>
            </p:cNvPr>
            <p:cNvSpPr/>
            <p:nvPr/>
          </p:nvSpPr>
          <p:spPr bwMode="gray">
            <a:xfrm>
              <a:off x="5474113" y="2493709"/>
              <a:ext cx="1276900"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应用识别记录</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37" name="Arrow: Right 36">
              <a:extLst>
                <a:ext uri="{FF2B5EF4-FFF2-40B4-BE49-F238E27FC236}">
                  <a16:creationId xmlns:a16="http://schemas.microsoft.com/office/drawing/2014/main" id="{B9B8A55C-8576-421F-A99D-03AE65C23CD2}"/>
                </a:ext>
              </a:extLst>
            </p:cNvPr>
            <p:cNvSpPr/>
            <p:nvPr/>
          </p:nvSpPr>
          <p:spPr bwMode="gray">
            <a:xfrm>
              <a:off x="6819667" y="3802095"/>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39F089D9-0CD4-440E-A919-1ACF8CEA55F5}"/>
                </a:ext>
              </a:extLst>
            </p:cNvPr>
            <p:cNvSpPr/>
            <p:nvPr/>
          </p:nvSpPr>
          <p:spPr bwMode="gray">
            <a:xfrm>
              <a:off x="6818657" y="4970983"/>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120">
              <a:extLst>
                <a:ext uri="{FF2B5EF4-FFF2-40B4-BE49-F238E27FC236}">
                  <a16:creationId xmlns:a16="http://schemas.microsoft.com/office/drawing/2014/main" id="{04653CF4-0AA0-4B10-B5A4-33CB760E8463}"/>
                </a:ext>
              </a:extLst>
            </p:cNvPr>
            <p:cNvSpPr txBox="1"/>
            <p:nvPr/>
          </p:nvSpPr>
          <p:spPr bwMode="gray">
            <a:xfrm>
              <a:off x="7988187" y="3753091"/>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a:extLst>
                <a:ext uri="{FF2B5EF4-FFF2-40B4-BE49-F238E27FC236}">
                  <a16:creationId xmlns:a16="http://schemas.microsoft.com/office/drawing/2014/main" id="{BBAADA86-5619-4C12-9AEF-4094FFBA0B4D}"/>
                </a:ext>
              </a:extLst>
            </p:cNvPr>
            <p:cNvSpPr txBox="1"/>
            <p:nvPr/>
          </p:nvSpPr>
          <p:spPr bwMode="gray">
            <a:xfrm>
              <a:off x="7763582" y="3753353"/>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a16="http://schemas.microsoft.com/office/drawing/2014/main" id="{86E1A398-84BB-4ED0-9B8D-332FCE1FD802}"/>
                </a:ext>
              </a:extLst>
            </p:cNvPr>
            <p:cNvSpPr txBox="1"/>
            <p:nvPr/>
          </p:nvSpPr>
          <p:spPr bwMode="gray">
            <a:xfrm>
              <a:off x="7985541" y="4113076"/>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a16="http://schemas.microsoft.com/office/drawing/2014/main" id="{A65F476D-37A4-44E0-AAB8-A451BCB14F7F}"/>
                </a:ext>
              </a:extLst>
            </p:cNvPr>
            <p:cNvSpPr txBox="1"/>
            <p:nvPr/>
          </p:nvSpPr>
          <p:spPr bwMode="gray">
            <a:xfrm>
              <a:off x="7760936" y="4113338"/>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a:extLst>
                <a:ext uri="{FF2B5EF4-FFF2-40B4-BE49-F238E27FC236}">
                  <a16:creationId xmlns:a16="http://schemas.microsoft.com/office/drawing/2014/main" id="{CE7E6A29-7E1B-44DF-A052-FA5C10420702}"/>
                </a:ext>
              </a:extLst>
            </p:cNvPr>
            <p:cNvSpPr txBox="1"/>
            <p:nvPr/>
          </p:nvSpPr>
          <p:spPr bwMode="gray">
            <a:xfrm>
              <a:off x="7991742" y="5085184"/>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id="{DDAD3BDA-A093-446C-8CA6-6F8FD95A4606}"/>
                </a:ext>
              </a:extLst>
            </p:cNvPr>
            <p:cNvSpPr txBox="1"/>
            <p:nvPr/>
          </p:nvSpPr>
          <p:spPr bwMode="gray">
            <a:xfrm>
              <a:off x="7767137" y="508544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Left Brace 44">
              <a:extLst>
                <a:ext uri="{FF2B5EF4-FFF2-40B4-BE49-F238E27FC236}">
                  <a16:creationId xmlns:a16="http://schemas.microsoft.com/office/drawing/2014/main" id="{47BE1DC0-CEC3-4DEE-AB80-73035B75BC3C}"/>
                </a:ext>
              </a:extLst>
            </p:cNvPr>
            <p:cNvSpPr/>
            <p:nvPr/>
          </p:nvSpPr>
          <p:spPr bwMode="gray">
            <a:xfrm>
              <a:off x="4539710" y="3376892"/>
              <a:ext cx="352322" cy="2247620"/>
            </a:xfrm>
            <a:prstGeom prst="lef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E65424AB-347C-41C9-88F3-CE019432725C}"/>
                </a:ext>
              </a:extLst>
            </p:cNvPr>
            <p:cNvSpPr txBox="1"/>
            <p:nvPr/>
          </p:nvSpPr>
          <p:spPr bwMode="gray">
            <a:xfrm rot="16200000">
              <a:off x="3890889" y="4346813"/>
              <a:ext cx="865943" cy="307777"/>
            </a:xfrm>
            <a:prstGeom prst="rect">
              <a:avLst/>
            </a:prstGeom>
            <a:noFill/>
            <a:ln>
              <a:noFill/>
            </a:ln>
          </p:spPr>
          <p:txBody>
            <a:bodyPr wrap="none" rtlCol="0">
              <a:spAutoFit/>
            </a:bodyPr>
            <a:lstStyle/>
            <a:p>
              <a:pPr fontAlgn="auto"/>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SAC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检测</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Rectangular Callout 72">
              <a:extLst>
                <a:ext uri="{FF2B5EF4-FFF2-40B4-BE49-F238E27FC236}">
                  <a16:creationId xmlns:a16="http://schemas.microsoft.com/office/drawing/2014/main" id="{D5325311-6EDD-4345-9AFA-845899D02D34}"/>
                </a:ext>
              </a:extLst>
            </p:cNvPr>
            <p:cNvSpPr/>
            <p:nvPr/>
          </p:nvSpPr>
          <p:spPr bwMode="gray">
            <a:xfrm>
              <a:off x="6811315" y="3074135"/>
              <a:ext cx="1149902" cy="522256"/>
            </a:xfrm>
            <a:prstGeom prst="wedgeRectCallout">
              <a:avLst>
                <a:gd name="adj1" fmla="val -20799"/>
                <a:gd name="adj2" fmla="val -10412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已识别应用，直接三层转发</a:t>
              </a:r>
            </a:p>
          </p:txBody>
        </p:sp>
        <p:sp>
          <p:nvSpPr>
            <p:cNvPr id="48" name="TextBox 47">
              <a:extLst>
                <a:ext uri="{FF2B5EF4-FFF2-40B4-BE49-F238E27FC236}">
                  <a16:creationId xmlns:a16="http://schemas.microsoft.com/office/drawing/2014/main" id="{66E57629-4F1A-49F6-B417-9CD481A74BE8}"/>
                </a:ext>
              </a:extLst>
            </p:cNvPr>
            <p:cNvSpPr txBox="1"/>
            <p:nvPr/>
          </p:nvSpPr>
          <p:spPr bwMode="gray">
            <a:xfrm>
              <a:off x="8147105" y="3764148"/>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语音</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9" name="TextBox 48">
              <a:extLst>
                <a:ext uri="{FF2B5EF4-FFF2-40B4-BE49-F238E27FC236}">
                  <a16:creationId xmlns:a16="http://schemas.microsoft.com/office/drawing/2014/main" id="{F0A8A812-AA5E-406C-87C9-23B32EABB00A}"/>
                </a:ext>
              </a:extLst>
            </p:cNvPr>
            <p:cNvSpPr txBox="1"/>
            <p:nvPr/>
          </p:nvSpPr>
          <p:spPr bwMode="gray">
            <a:xfrm>
              <a:off x="8141495" y="5065122"/>
              <a:ext cx="55496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TextBox 49">
              <a:extLst>
                <a:ext uri="{FF2B5EF4-FFF2-40B4-BE49-F238E27FC236}">
                  <a16:creationId xmlns:a16="http://schemas.microsoft.com/office/drawing/2014/main" id="{7488FF15-9725-4D5E-9196-429D737CA5FF}"/>
                </a:ext>
              </a:extLst>
            </p:cNvPr>
            <p:cNvSpPr txBox="1"/>
            <p:nvPr/>
          </p:nvSpPr>
          <p:spPr bwMode="gray">
            <a:xfrm>
              <a:off x="8147105" y="4103044"/>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网页</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TextBox 50">
              <a:extLst>
                <a:ext uri="{FF2B5EF4-FFF2-40B4-BE49-F238E27FC236}">
                  <a16:creationId xmlns:a16="http://schemas.microsoft.com/office/drawing/2014/main" id="{CB152BFA-42E6-45C2-8D62-478459E9759C}"/>
                </a:ext>
              </a:extLst>
            </p:cNvPr>
            <p:cNvSpPr txBox="1"/>
            <p:nvPr/>
          </p:nvSpPr>
          <p:spPr bwMode="gray">
            <a:xfrm>
              <a:off x="8128239" y="2589450"/>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下载</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Rectangle 51">
              <a:extLst>
                <a:ext uri="{FF2B5EF4-FFF2-40B4-BE49-F238E27FC236}">
                  <a16:creationId xmlns:a16="http://schemas.microsoft.com/office/drawing/2014/main" id="{DC0CBBA8-9BCB-4AB7-8D27-7F05AC15A96F}"/>
                </a:ext>
              </a:extLst>
            </p:cNvPr>
            <p:cNvSpPr/>
            <p:nvPr/>
          </p:nvSpPr>
          <p:spPr bwMode="gray">
            <a:xfrm rot="16200000">
              <a:off x="7577985" y="3809522"/>
              <a:ext cx="3005992"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转</a:t>
              </a:r>
              <a:endParaRPr lang="en-US" altLang="zh-CN" sz="1400" dirty="0">
                <a:solidFill>
                  <a:schemeClr val="tx1"/>
                </a:solidFill>
                <a:latin typeface="Huawei Sans" panose="020C0503030203020204" pitchFamily="34" charset="0"/>
                <a:ea typeface="方正兰亭黑简体" panose="02000000000000000000" pitchFamily="2" charset="-122"/>
              </a:endParaRPr>
            </a:p>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发</a:t>
              </a:r>
              <a:endParaRPr lang="en-US" altLang="zh-CN" sz="1400" dirty="0">
                <a:solidFill>
                  <a:schemeClr val="tx1"/>
                </a:solidFill>
                <a:latin typeface="Huawei Sans" panose="020C0503030203020204" pitchFamily="34" charset="0"/>
                <a:ea typeface="方正兰亭黑简体" panose="02000000000000000000" pitchFamily="2" charset="-122"/>
              </a:endParaRPr>
            </a:p>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53" name="Arrow: Right 52">
              <a:extLst>
                <a:ext uri="{FF2B5EF4-FFF2-40B4-BE49-F238E27FC236}">
                  <a16:creationId xmlns:a16="http://schemas.microsoft.com/office/drawing/2014/main" id="{1F46A424-3EDC-4E31-8B2A-3BD482FA7B68}"/>
                </a:ext>
              </a:extLst>
            </p:cNvPr>
            <p:cNvSpPr/>
            <p:nvPr/>
          </p:nvSpPr>
          <p:spPr bwMode="gray">
            <a:xfrm>
              <a:off x="9448625" y="3806130"/>
              <a:ext cx="1337169"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5" name="圆角矩形 75">
            <a:extLst>
              <a:ext uri="{FF2B5EF4-FFF2-40B4-BE49-F238E27FC236}">
                <a16:creationId xmlns:a16="http://schemas.microsoft.com/office/drawing/2014/main" id="{24E39548-82E6-41C0-A1E7-A28859649BB7}"/>
              </a:ext>
            </a:extLst>
          </p:cNvPr>
          <p:cNvSpPr/>
          <p:nvPr/>
        </p:nvSpPr>
        <p:spPr bwMode="gray">
          <a:xfrm>
            <a:off x="810236" y="2586587"/>
            <a:ext cx="1057152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SAC</a:t>
            </a:r>
            <a:r>
              <a:rPr lang="zh-CN" altLang="en-US" sz="1600" dirty="0">
                <a:solidFill>
                  <a:srgbClr val="30B5C5"/>
                </a:solidFill>
                <a:latin typeface="Huawei Sans" panose="020C0503030203020204" pitchFamily="34" charset="0"/>
                <a:ea typeface="方正兰亭黑简体" panose="02000000000000000000" pitchFamily="2" charset="-122"/>
              </a:rPr>
              <a:t>应用识别流程</a:t>
            </a:r>
          </a:p>
        </p:txBody>
      </p:sp>
      <p:sp>
        <p:nvSpPr>
          <p:cNvPr id="56" name="圆角矩形 75">
            <a:extLst>
              <a:ext uri="{FF2B5EF4-FFF2-40B4-BE49-F238E27FC236}">
                <a16:creationId xmlns:a16="http://schemas.microsoft.com/office/drawing/2014/main" id="{979AACE2-2669-4275-8F1C-B6BAA187E3BC}"/>
              </a:ext>
            </a:extLst>
          </p:cNvPr>
          <p:cNvSpPr/>
          <p:nvPr/>
        </p:nvSpPr>
        <p:spPr bwMode="gray">
          <a:xfrm>
            <a:off x="810236" y="3020875"/>
            <a:ext cx="10571527" cy="313465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084340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D1C0AE-9E66-4194-9D6F-106764329E19}"/>
              </a:ext>
            </a:extLst>
          </p:cNvPr>
          <p:cNvSpPr>
            <a:spLocks noGrp="1"/>
          </p:cNvSpPr>
          <p:nvPr>
            <p:ph type="title"/>
          </p:nvPr>
        </p:nvSpPr>
        <p:spPr bwMode="gray"/>
        <p:txBody>
          <a:bodyPr/>
          <a:lstStyle/>
          <a:p>
            <a:r>
              <a:rPr lang="en-US" dirty="0"/>
              <a:t>SPR</a:t>
            </a:r>
            <a:r>
              <a:rPr lang="zh-CN" altLang="en-US" dirty="0"/>
              <a:t>简介</a:t>
            </a:r>
            <a:endParaRPr lang="en-US" dirty="0"/>
          </a:p>
        </p:txBody>
      </p:sp>
      <p:sp>
        <p:nvSpPr>
          <p:cNvPr id="4" name="Text Placeholder 3">
            <a:extLst>
              <a:ext uri="{FF2B5EF4-FFF2-40B4-BE49-F238E27FC236}">
                <a16:creationId xmlns:a16="http://schemas.microsoft.com/office/drawing/2014/main" id="{99C558DE-1E6F-4916-BAA2-B466DB25724A}"/>
              </a:ext>
            </a:extLst>
          </p:cNvPr>
          <p:cNvSpPr>
            <a:spLocks noGrp="1"/>
          </p:cNvSpPr>
          <p:nvPr>
            <p:ph type="body" sz="quarter" idx="10"/>
          </p:nvPr>
        </p:nvSpPr>
        <p:spPr bwMode="gray"/>
        <p:txBody>
          <a:bodyPr/>
          <a:lstStyle/>
          <a:p>
            <a:r>
              <a:rPr lang="zh-CN" altLang="en-US" sz="1800" dirty="0"/>
              <a:t>云计算时代，越来越多的用户把关注点从网络的连通性转移到业务的可用性上，如业务的可获得性、响应速度和业务质量等。但是传统网络无法感知链路的质量和业务的需求，导致用户的业务体验较差。</a:t>
            </a:r>
            <a:endParaRPr lang="en-US" altLang="zh-CN" sz="1800" dirty="0"/>
          </a:p>
          <a:p>
            <a:r>
              <a:rPr lang="en-US" altLang="zh-CN" sz="1800" dirty="0"/>
              <a:t>SPR</a:t>
            </a:r>
            <a:r>
              <a:rPr lang="zh-CN" altLang="en-US" sz="1800" dirty="0"/>
              <a:t>就是在这一背景下产生的一种</a:t>
            </a:r>
            <a:r>
              <a:rPr lang="zh-CN" altLang="en-US" sz="1800"/>
              <a:t>策略路由。它</a:t>
            </a:r>
            <a:r>
              <a:rPr lang="zh-CN" altLang="en-US" sz="1800" dirty="0"/>
              <a:t>可以主动探测链路质量并匹配业务的需求，从而选择一条最优链路转发业务数据，</a:t>
            </a:r>
            <a:r>
              <a:rPr lang="zh-CN" altLang="en-US" sz="1800"/>
              <a:t>可以有效地避免</a:t>
            </a:r>
            <a:r>
              <a:rPr lang="zh-CN" altLang="en-US" sz="1800" dirty="0"/>
              <a:t>网络黑洞、网络震荡等问题。</a:t>
            </a:r>
            <a:endParaRPr lang="en-US" sz="1800" dirty="0"/>
          </a:p>
        </p:txBody>
      </p:sp>
      <p:grpSp>
        <p:nvGrpSpPr>
          <p:cNvPr id="2" name="Group 1">
            <a:extLst>
              <a:ext uri="{FF2B5EF4-FFF2-40B4-BE49-F238E27FC236}">
                <a16:creationId xmlns:a16="http://schemas.microsoft.com/office/drawing/2014/main" id="{A88A15F5-0E2F-420F-B444-CF5E53E82D4D}"/>
              </a:ext>
            </a:extLst>
          </p:cNvPr>
          <p:cNvGrpSpPr/>
          <p:nvPr/>
        </p:nvGrpSpPr>
        <p:grpSpPr>
          <a:xfrm>
            <a:off x="3190233" y="3133629"/>
            <a:ext cx="5845322" cy="2609392"/>
            <a:chOff x="3256908" y="3114579"/>
            <a:chExt cx="5845322" cy="2609392"/>
          </a:xfrm>
        </p:grpSpPr>
        <p:sp>
          <p:nvSpPr>
            <p:cNvPr id="7" name="Freeform 159">
              <a:extLst>
                <a:ext uri="{FF2B5EF4-FFF2-40B4-BE49-F238E27FC236}">
                  <a16:creationId xmlns:a16="http://schemas.microsoft.com/office/drawing/2014/main" id="{9144C970-F887-4491-86BC-69ECC051B35F}"/>
                </a:ext>
              </a:extLst>
            </p:cNvPr>
            <p:cNvSpPr/>
            <p:nvPr/>
          </p:nvSpPr>
          <p:spPr bwMode="gray">
            <a:xfrm flipH="1">
              <a:off x="5823864" y="333203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2B4419B8-B60B-4D69-A2D1-562995D73CB1}"/>
                </a:ext>
              </a:extLst>
            </p:cNvPr>
            <p:cNvCxnSpPr>
              <a:cxnSpLocks/>
              <a:stCxn id="5" idx="0"/>
              <a:endCxn id="7" idx="21"/>
            </p:cNvCxnSpPr>
            <p:nvPr/>
          </p:nvCxnSpPr>
          <p:spPr bwMode="gray">
            <a:xfrm flipV="1">
              <a:off x="4466335" y="3665341"/>
              <a:ext cx="1357529" cy="280094"/>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406BD-4E2E-4DE0-B7BB-370BA0FB1099}"/>
                </a:ext>
              </a:extLst>
            </p:cNvPr>
            <p:cNvCxnSpPr>
              <a:cxnSpLocks/>
              <a:stCxn id="6" idx="0"/>
              <a:endCxn id="7" idx="8"/>
            </p:cNvCxnSpPr>
            <p:nvPr/>
          </p:nvCxnSpPr>
          <p:spPr bwMode="gray">
            <a:xfrm flipH="1" flipV="1">
              <a:off x="6733346" y="3656688"/>
              <a:ext cx="1454887" cy="57544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0" name="Freeform 159">
              <a:extLst>
                <a:ext uri="{FF2B5EF4-FFF2-40B4-BE49-F238E27FC236}">
                  <a16:creationId xmlns:a16="http://schemas.microsoft.com/office/drawing/2014/main" id="{606AD056-DB5C-4A34-9A61-AF7F86111084}"/>
                </a:ext>
              </a:extLst>
            </p:cNvPr>
            <p:cNvSpPr/>
            <p:nvPr/>
          </p:nvSpPr>
          <p:spPr bwMode="gray">
            <a:xfrm flipH="1">
              <a:off x="5823864" y="487284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1" name="Straight Connector 10">
              <a:extLst>
                <a:ext uri="{FF2B5EF4-FFF2-40B4-BE49-F238E27FC236}">
                  <a16:creationId xmlns:a16="http://schemas.microsoft.com/office/drawing/2014/main" id="{110A18BB-77AE-411F-B030-DAB3097BB791}"/>
                </a:ext>
              </a:extLst>
            </p:cNvPr>
            <p:cNvCxnSpPr>
              <a:cxnSpLocks/>
              <a:stCxn id="32" idx="2"/>
              <a:endCxn id="10" idx="21"/>
            </p:cNvCxnSpPr>
            <p:nvPr/>
          </p:nvCxnSpPr>
          <p:spPr bwMode="gray">
            <a:xfrm>
              <a:off x="4466334" y="4880203"/>
              <a:ext cx="1357530" cy="32595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CD06E3-822C-4738-AAD2-9BFC1DD70588}"/>
                </a:ext>
              </a:extLst>
            </p:cNvPr>
            <p:cNvCxnSpPr>
              <a:cxnSpLocks/>
              <a:stCxn id="10" idx="8"/>
              <a:endCxn id="6" idx="2"/>
            </p:cNvCxnSpPr>
            <p:nvPr/>
          </p:nvCxnSpPr>
          <p:spPr bwMode="gray">
            <a:xfrm flipV="1">
              <a:off x="6733346" y="4592171"/>
              <a:ext cx="1454887" cy="60532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C00AFA4-C39A-4BB0-8BF1-4CB4B611903D}"/>
                </a:ext>
              </a:extLst>
            </p:cNvPr>
            <p:cNvSpPr txBox="1"/>
            <p:nvPr/>
          </p:nvSpPr>
          <p:spPr bwMode="gray">
            <a:xfrm rot="20823707">
              <a:off x="4569669" y="3452903"/>
              <a:ext cx="830677" cy="276999"/>
            </a:xfrm>
            <a:prstGeom prst="rect">
              <a:avLst/>
            </a:prstGeom>
            <a:solidFill>
              <a:srgbClr val="00B0F0"/>
            </a:solidFill>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17" name="TextBox 16">
              <a:extLst>
                <a:ext uri="{FF2B5EF4-FFF2-40B4-BE49-F238E27FC236}">
                  <a16:creationId xmlns:a16="http://schemas.microsoft.com/office/drawing/2014/main" id="{B7A88F51-2E76-419E-BBC6-506E79CC0B28}"/>
                </a:ext>
              </a:extLst>
            </p:cNvPr>
            <p:cNvSpPr txBox="1"/>
            <p:nvPr/>
          </p:nvSpPr>
          <p:spPr bwMode="gray">
            <a:xfrm rot="20812250">
              <a:off x="4492724" y="3114579"/>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38" name="Freeform 159">
              <a:extLst>
                <a:ext uri="{FF2B5EF4-FFF2-40B4-BE49-F238E27FC236}">
                  <a16:creationId xmlns:a16="http://schemas.microsoft.com/office/drawing/2014/main" id="{24C7CE07-1AD5-4E9F-A6A2-8658D3328EBD}"/>
                </a:ext>
              </a:extLst>
            </p:cNvPr>
            <p:cNvSpPr/>
            <p:nvPr/>
          </p:nvSpPr>
          <p:spPr bwMode="gray">
            <a:xfrm flipH="1">
              <a:off x="3307589" y="3941729"/>
              <a:ext cx="1457943" cy="7621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sz="1400" dirty="0">
                <a:solidFill>
                  <a:schemeClr val="tx1"/>
                </a:solidFill>
              </a:endParaRPr>
            </a:p>
          </p:txBody>
        </p:sp>
        <p:pic>
          <p:nvPicPr>
            <p:cNvPr id="5" name="Picture 12" descr="E:\2016.01\1.12 扁平化图标\蓝色\AR-蓝色最新-40.png">
              <a:extLst>
                <a:ext uri="{FF2B5EF4-FFF2-40B4-BE49-F238E27FC236}">
                  <a16:creationId xmlns:a16="http://schemas.microsoft.com/office/drawing/2014/main" id="{AA7276D8-77EF-4F0C-89A4-F004768C90C8}"/>
                </a:ext>
              </a:extLst>
            </p:cNvPr>
            <p:cNvPicPr>
              <a:picLocks noChangeAspect="1" noChangeArrowheads="1"/>
            </p:cNvPicPr>
            <p:nvPr/>
          </p:nvPicPr>
          <p:blipFill>
            <a:blip r:embed="rId3" cstate="print"/>
            <a:srcRect/>
            <a:stretch>
              <a:fillRect/>
            </a:stretch>
          </p:blipFill>
          <p:spPr bwMode="gray">
            <a:xfrm>
              <a:off x="4246310" y="3945435"/>
              <a:ext cx="440049" cy="360040"/>
            </a:xfrm>
            <a:prstGeom prst="rect">
              <a:avLst/>
            </a:prstGeom>
            <a:noFill/>
          </p:spPr>
        </p:pic>
        <p:pic>
          <p:nvPicPr>
            <p:cNvPr id="32" name="Picture 12" descr="E:\2016.01\1.12 扁平化图标\蓝色\AR-蓝色最新-40.png">
              <a:extLst>
                <a:ext uri="{FF2B5EF4-FFF2-40B4-BE49-F238E27FC236}">
                  <a16:creationId xmlns:a16="http://schemas.microsoft.com/office/drawing/2014/main" id="{C13FC561-2583-452F-8B96-E66B2D3AF5CC}"/>
                </a:ext>
              </a:extLst>
            </p:cNvPr>
            <p:cNvPicPr>
              <a:picLocks noChangeAspect="1" noChangeArrowheads="1"/>
            </p:cNvPicPr>
            <p:nvPr/>
          </p:nvPicPr>
          <p:blipFill>
            <a:blip r:embed="rId3" cstate="print"/>
            <a:srcRect/>
            <a:stretch>
              <a:fillRect/>
            </a:stretch>
          </p:blipFill>
          <p:spPr bwMode="gray">
            <a:xfrm>
              <a:off x="4246309" y="4520163"/>
              <a:ext cx="440049" cy="360040"/>
            </a:xfrm>
            <a:prstGeom prst="rect">
              <a:avLst/>
            </a:prstGeom>
            <a:noFill/>
          </p:spPr>
        </p:pic>
        <p:sp>
          <p:nvSpPr>
            <p:cNvPr id="39" name="Freeform 159">
              <a:extLst>
                <a:ext uri="{FF2B5EF4-FFF2-40B4-BE49-F238E27FC236}">
                  <a16:creationId xmlns:a16="http://schemas.microsoft.com/office/drawing/2014/main" id="{F553721A-AE81-4C6E-B774-4F1FADAB8FB2}"/>
                </a:ext>
              </a:extLst>
            </p:cNvPr>
            <p:cNvSpPr/>
            <p:nvPr/>
          </p:nvSpPr>
          <p:spPr bwMode="gray">
            <a:xfrm flipH="1">
              <a:off x="8192748" y="4116759"/>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6" name="Picture 12" descr="E:\2016.01\1.12 扁平化图标\蓝色\AR-蓝色最新-40.png">
              <a:extLst>
                <a:ext uri="{FF2B5EF4-FFF2-40B4-BE49-F238E27FC236}">
                  <a16:creationId xmlns:a16="http://schemas.microsoft.com/office/drawing/2014/main" id="{5EAE945C-E3B3-4900-AF79-81CC0B6EF3B5}"/>
                </a:ext>
              </a:extLst>
            </p:cNvPr>
            <p:cNvPicPr>
              <a:picLocks noChangeAspect="1" noChangeArrowheads="1"/>
            </p:cNvPicPr>
            <p:nvPr/>
          </p:nvPicPr>
          <p:blipFill>
            <a:blip r:embed="rId3" cstate="print"/>
            <a:srcRect/>
            <a:stretch>
              <a:fillRect/>
            </a:stretch>
          </p:blipFill>
          <p:spPr bwMode="gray">
            <a:xfrm>
              <a:off x="7968208" y="4232131"/>
              <a:ext cx="440049" cy="360040"/>
            </a:xfrm>
            <a:prstGeom prst="rect">
              <a:avLst/>
            </a:prstGeom>
            <a:noFill/>
          </p:spPr>
        </p:pic>
        <p:sp>
          <p:nvSpPr>
            <p:cNvPr id="40" name="Freeform: Shape 39">
              <a:extLst>
                <a:ext uri="{FF2B5EF4-FFF2-40B4-BE49-F238E27FC236}">
                  <a16:creationId xmlns:a16="http://schemas.microsoft.com/office/drawing/2014/main" id="{DC08F959-F93D-4D95-9870-4F0A29BA8CFC}"/>
                </a:ext>
              </a:extLst>
            </p:cNvPr>
            <p:cNvSpPr/>
            <p:nvPr/>
          </p:nvSpPr>
          <p:spPr bwMode="gray">
            <a:xfrm>
              <a:off x="3256908" y="3501033"/>
              <a:ext cx="5804899" cy="906816"/>
            </a:xfrm>
            <a:custGeom>
              <a:avLst/>
              <a:gdLst>
                <a:gd name="connsiteX0" fmla="*/ 0 w 5804899"/>
                <a:gd name="connsiteY0" fmla="*/ 711607 h 906816"/>
                <a:gd name="connsiteX1" fmla="*/ 1130157 w 5804899"/>
                <a:gd name="connsiteY1" fmla="*/ 485575 h 906816"/>
                <a:gd name="connsiteX2" fmla="*/ 3061699 w 5804899"/>
                <a:gd name="connsiteY2" fmla="*/ 2690 h 906816"/>
                <a:gd name="connsiteX3" fmla="*/ 5024063 w 5804899"/>
                <a:gd name="connsiteY3" fmla="*/ 721881 h 906816"/>
                <a:gd name="connsiteX4" fmla="*/ 5804899 w 5804899"/>
                <a:gd name="connsiteY4" fmla="*/ 906816 h 90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899" h="906816">
                  <a:moveTo>
                    <a:pt x="0" y="711607"/>
                  </a:moveTo>
                  <a:cubicBezTo>
                    <a:pt x="309937" y="657667"/>
                    <a:pt x="619874" y="603728"/>
                    <a:pt x="1130157" y="485575"/>
                  </a:cubicBezTo>
                  <a:cubicBezTo>
                    <a:pt x="1640440" y="367422"/>
                    <a:pt x="2412715" y="-36694"/>
                    <a:pt x="3061699" y="2690"/>
                  </a:cubicBezTo>
                  <a:cubicBezTo>
                    <a:pt x="3710683" y="42074"/>
                    <a:pt x="4566863" y="571193"/>
                    <a:pt x="5024063" y="721881"/>
                  </a:cubicBezTo>
                  <a:cubicBezTo>
                    <a:pt x="5481263" y="872569"/>
                    <a:pt x="5643081" y="889692"/>
                    <a:pt x="5804899" y="90681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243421A-E04B-4DF1-8AAC-637FF0296A74}"/>
                </a:ext>
              </a:extLst>
            </p:cNvPr>
            <p:cNvSpPr txBox="1"/>
            <p:nvPr/>
          </p:nvSpPr>
          <p:spPr bwMode="gray">
            <a:xfrm rot="802283">
              <a:off x="4569975" y="5117459"/>
              <a:ext cx="830677" cy="276999"/>
            </a:xfrm>
            <a:prstGeom prst="rect">
              <a:avLst/>
            </a:prstGeom>
            <a:solidFill>
              <a:srgbClr val="00B0F0"/>
            </a:solidFill>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2" name="TextBox 41">
              <a:extLst>
                <a:ext uri="{FF2B5EF4-FFF2-40B4-BE49-F238E27FC236}">
                  <a16:creationId xmlns:a16="http://schemas.microsoft.com/office/drawing/2014/main" id="{777515C4-8F3E-4F33-9AFA-4211D34ECB23}"/>
                </a:ext>
              </a:extLst>
            </p:cNvPr>
            <p:cNvSpPr txBox="1"/>
            <p:nvPr/>
          </p:nvSpPr>
          <p:spPr bwMode="gray">
            <a:xfrm rot="838326">
              <a:off x="4485209" y="5446972"/>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3" name="Rectangular Callout 72">
              <a:extLst>
                <a:ext uri="{FF2B5EF4-FFF2-40B4-BE49-F238E27FC236}">
                  <a16:creationId xmlns:a16="http://schemas.microsoft.com/office/drawing/2014/main" id="{78E8B9D9-41B1-40EB-BFE6-98787195DF70}"/>
                </a:ext>
              </a:extLst>
            </p:cNvPr>
            <p:cNvSpPr/>
            <p:nvPr/>
          </p:nvSpPr>
          <p:spPr bwMode="gray">
            <a:xfrm>
              <a:off x="4765532" y="3949325"/>
              <a:ext cx="817422" cy="307592"/>
            </a:xfrm>
            <a:prstGeom prst="wedgeRectCallout">
              <a:avLst>
                <a:gd name="adj1" fmla="val -65529"/>
                <a:gd name="adj2" fmla="val -2424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部署</a:t>
              </a:r>
              <a:r>
                <a:rPr lang="en-US" altLang="zh-CN" sz="1200" dirty="0">
                  <a:solidFill>
                    <a:schemeClr val="bg1">
                      <a:lumMod val="50000"/>
                    </a:schemeClr>
                  </a:solidFill>
                </a:rPr>
                <a:t>SRP</a:t>
              </a:r>
              <a:endParaRPr lang="zh-CN" altLang="en-US" sz="1200" dirty="0">
                <a:solidFill>
                  <a:schemeClr val="bg1">
                    <a:lumMod val="50000"/>
                  </a:schemeClr>
                </a:solidFill>
              </a:endParaRPr>
            </a:p>
          </p:txBody>
        </p:sp>
        <p:cxnSp>
          <p:nvCxnSpPr>
            <p:cNvPr id="35" name="Straight Connector 34">
              <a:extLst>
                <a:ext uri="{FF2B5EF4-FFF2-40B4-BE49-F238E27FC236}">
                  <a16:creationId xmlns:a16="http://schemas.microsoft.com/office/drawing/2014/main" id="{7FE7DC54-10DC-4067-B44A-5C852FEA05C0}"/>
                </a:ext>
              </a:extLst>
            </p:cNvPr>
            <p:cNvCxnSpPr>
              <a:cxnSpLocks/>
              <a:stCxn id="5" idx="2"/>
              <a:endCxn id="32" idx="0"/>
            </p:cNvCxnSpPr>
            <p:nvPr/>
          </p:nvCxnSpPr>
          <p:spPr bwMode="gray">
            <a:xfrm flipH="1">
              <a:off x="4466334" y="4305475"/>
              <a:ext cx="1" cy="2146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Rectangular Callout 72">
              <a:extLst>
                <a:ext uri="{FF2B5EF4-FFF2-40B4-BE49-F238E27FC236}">
                  <a16:creationId xmlns:a16="http://schemas.microsoft.com/office/drawing/2014/main" id="{D558DF3B-015A-4BE6-AFB9-A9ED96EE764B}"/>
                </a:ext>
              </a:extLst>
            </p:cNvPr>
            <p:cNvSpPr/>
            <p:nvPr/>
          </p:nvSpPr>
          <p:spPr bwMode="gray">
            <a:xfrm>
              <a:off x="4786418" y="4641871"/>
              <a:ext cx="817422" cy="307592"/>
            </a:xfrm>
            <a:prstGeom prst="wedgeRectCallout">
              <a:avLst>
                <a:gd name="adj1" fmla="val -65529"/>
                <a:gd name="adj2" fmla="val -2424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部署</a:t>
              </a:r>
              <a:r>
                <a:rPr lang="en-US" altLang="zh-CN" sz="1200" dirty="0">
                  <a:solidFill>
                    <a:schemeClr val="bg1">
                      <a:lumMod val="50000"/>
                    </a:schemeClr>
                  </a:solidFill>
                </a:rPr>
                <a:t>SRP</a:t>
              </a:r>
              <a:endParaRPr lang="zh-CN" altLang="en-US" sz="1200" dirty="0">
                <a:solidFill>
                  <a:schemeClr val="bg1">
                    <a:lumMod val="50000"/>
                  </a:schemeClr>
                </a:solidFill>
              </a:endParaRPr>
            </a:p>
          </p:txBody>
        </p:sp>
      </p:grpSp>
    </p:spTree>
    <p:extLst>
      <p:ext uri="{BB962C8B-B14F-4D97-AF65-F5344CB8AC3E}">
        <p14:creationId xmlns:p14="http://schemas.microsoft.com/office/powerpoint/2010/main" val="39339126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6170D8-462F-4129-8D18-4EAA20A6987D}"/>
              </a:ext>
            </a:extLst>
          </p:cNvPr>
          <p:cNvSpPr>
            <a:spLocks noGrp="1"/>
          </p:cNvSpPr>
          <p:nvPr>
            <p:ph type="title"/>
          </p:nvPr>
        </p:nvSpPr>
        <p:spPr bwMode="gray"/>
        <p:txBody>
          <a:bodyPr/>
          <a:lstStyle/>
          <a:p>
            <a:r>
              <a:rPr lang="zh-CN" altLang="en-US" dirty="0"/>
              <a:t>业务可靠性技术应用场景</a:t>
            </a:r>
            <a:endParaRPr lang="en-US" dirty="0"/>
          </a:p>
        </p:txBody>
      </p:sp>
      <p:sp>
        <p:nvSpPr>
          <p:cNvPr id="4" name="Text Placeholder 3">
            <a:extLst>
              <a:ext uri="{FF2B5EF4-FFF2-40B4-BE49-F238E27FC236}">
                <a16:creationId xmlns:a16="http://schemas.microsoft.com/office/drawing/2014/main" id="{ED1AE2F3-C87F-48D8-A22E-204E32F4EC0D}"/>
              </a:ext>
            </a:extLst>
          </p:cNvPr>
          <p:cNvSpPr>
            <a:spLocks noGrp="1"/>
          </p:cNvSpPr>
          <p:nvPr>
            <p:ph type="body" sz="quarter" idx="10"/>
          </p:nvPr>
        </p:nvSpPr>
        <p:spPr bwMode="gray">
          <a:xfrm>
            <a:off x="455612" y="1047751"/>
            <a:ext cx="11293475" cy="1516316"/>
          </a:xfrm>
        </p:spPr>
        <p:txBody>
          <a:bodyPr/>
          <a:lstStyle/>
          <a:p>
            <a:r>
              <a:rPr lang="zh-CN" altLang="en-US" sz="1800" dirty="0"/>
              <a:t>基于</a:t>
            </a:r>
            <a:r>
              <a:rPr lang="en-US" altLang="zh-CN" sz="1800" dirty="0"/>
              <a:t>SAC</a:t>
            </a:r>
            <a:r>
              <a:rPr lang="zh-CN" altLang="en-US" sz="1800" dirty="0"/>
              <a:t>识别应用，并通过</a:t>
            </a:r>
            <a:r>
              <a:rPr lang="en-US" altLang="zh-CN" sz="1800" dirty="0"/>
              <a:t>SPR</a:t>
            </a:r>
            <a:r>
              <a:rPr lang="zh-CN" altLang="en-US" sz="1800" dirty="0"/>
              <a:t>选路就可以保障特定业务在网络上的可靠性。</a:t>
            </a:r>
            <a:endParaRPr lang="en-US" altLang="zh-CN" sz="1800" dirty="0"/>
          </a:p>
          <a:p>
            <a:pPr lvl="1"/>
            <a:r>
              <a:rPr lang="en-US" altLang="zh-CN" sz="1600" dirty="0"/>
              <a:t>SAC</a:t>
            </a:r>
            <a:r>
              <a:rPr lang="zh-CN" altLang="en-US" sz="1600" dirty="0"/>
              <a:t>通过</a:t>
            </a:r>
            <a:r>
              <a:rPr lang="en-US" altLang="zh-CN" sz="1600" dirty="0"/>
              <a:t>SA</a:t>
            </a:r>
            <a:r>
              <a:rPr lang="zh-CN" altLang="en-US" sz="1600" dirty="0"/>
              <a:t>特征库与</a:t>
            </a:r>
            <a:r>
              <a:rPr lang="en-US" altLang="zh-CN" sz="1600" dirty="0"/>
              <a:t>FPI</a:t>
            </a:r>
            <a:r>
              <a:rPr lang="zh-CN" altLang="en-US" sz="1600" dirty="0"/>
              <a:t>特征库识别应用并分组流量。</a:t>
            </a:r>
            <a:endParaRPr lang="en-US" altLang="zh-CN" sz="1600" dirty="0"/>
          </a:p>
          <a:p>
            <a:pPr lvl="1"/>
            <a:r>
              <a:rPr lang="en-US" altLang="zh-CN" sz="1600" dirty="0"/>
              <a:t>SPR</a:t>
            </a:r>
            <a:r>
              <a:rPr lang="zh-CN" altLang="en-US" sz="1600" dirty="0"/>
              <a:t>基于探测报文确定链路质量从而决定转发路径。</a:t>
            </a:r>
          </a:p>
        </p:txBody>
      </p:sp>
      <p:pic>
        <p:nvPicPr>
          <p:cNvPr id="11" name="Picture 12" descr="E:\2016.01\1.12 扁平化图标\蓝色\AR-蓝色最新-40.png">
            <a:extLst>
              <a:ext uri="{FF2B5EF4-FFF2-40B4-BE49-F238E27FC236}">
                <a16:creationId xmlns:a16="http://schemas.microsoft.com/office/drawing/2014/main" id="{DD232254-5189-41FC-8901-1E58F8DFDCF2}"/>
              </a:ext>
            </a:extLst>
          </p:cNvPr>
          <p:cNvPicPr>
            <a:picLocks noChangeAspect="1" noChangeArrowheads="1"/>
          </p:cNvPicPr>
          <p:nvPr/>
        </p:nvPicPr>
        <p:blipFill>
          <a:blip r:embed="rId3" cstate="print"/>
          <a:srcRect/>
          <a:stretch>
            <a:fillRect/>
          </a:stretch>
        </p:blipFill>
        <p:spPr bwMode="gray">
          <a:xfrm>
            <a:off x="10665681" y="4281620"/>
            <a:ext cx="440049" cy="360040"/>
          </a:xfrm>
          <a:prstGeom prst="rect">
            <a:avLst/>
          </a:prstGeom>
          <a:noFill/>
        </p:spPr>
      </p:pic>
      <p:sp>
        <p:nvSpPr>
          <p:cNvPr id="12" name="Freeform 159">
            <a:extLst>
              <a:ext uri="{FF2B5EF4-FFF2-40B4-BE49-F238E27FC236}">
                <a16:creationId xmlns:a16="http://schemas.microsoft.com/office/drawing/2014/main" id="{2E7724D6-4529-476D-8784-33D78C5ED93E}"/>
              </a:ext>
            </a:extLst>
          </p:cNvPr>
          <p:cNvSpPr/>
          <p:nvPr/>
        </p:nvSpPr>
        <p:spPr bwMode="gray">
          <a:xfrm flipH="1">
            <a:off x="8643581" y="363500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rPr>
              <a:t>MPLS</a:t>
            </a:r>
          </a:p>
        </p:txBody>
      </p:sp>
      <p:cxnSp>
        <p:nvCxnSpPr>
          <p:cNvPr id="13" name="Straight Connector 12">
            <a:extLst>
              <a:ext uri="{FF2B5EF4-FFF2-40B4-BE49-F238E27FC236}">
                <a16:creationId xmlns:a16="http://schemas.microsoft.com/office/drawing/2014/main" id="{B81DC028-348F-49B1-9222-B70365572AA8}"/>
              </a:ext>
            </a:extLst>
          </p:cNvPr>
          <p:cNvCxnSpPr>
            <a:cxnSpLocks/>
            <a:stCxn id="16" idx="0"/>
            <a:endCxn id="12" idx="21"/>
          </p:cNvCxnSpPr>
          <p:nvPr/>
        </p:nvCxnSpPr>
        <p:spPr bwMode="gray">
          <a:xfrm flipV="1">
            <a:off x="7286052" y="3968313"/>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reeform 159">
            <a:extLst>
              <a:ext uri="{FF2B5EF4-FFF2-40B4-BE49-F238E27FC236}">
                <a16:creationId xmlns:a16="http://schemas.microsoft.com/office/drawing/2014/main" id="{AAA8EB22-C099-460E-A3AC-551DCE7DB573}"/>
              </a:ext>
            </a:extLst>
          </p:cNvPr>
          <p:cNvSpPr/>
          <p:nvPr/>
        </p:nvSpPr>
        <p:spPr bwMode="gray">
          <a:xfrm flipH="1">
            <a:off x="8643581" y="47077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rPr>
              <a:t>I</a:t>
            </a:r>
            <a:r>
              <a:rPr lang="en-US" altLang="zh-CN" sz="1400" dirty="0">
                <a:solidFill>
                  <a:schemeClr val="bg1">
                    <a:lumMod val="50000"/>
                  </a:schemeClr>
                </a:solidFill>
              </a:rPr>
              <a:t>nternet</a:t>
            </a:r>
            <a:endParaRPr lang="en-US" sz="1400" dirty="0">
              <a:solidFill>
                <a:schemeClr val="bg1">
                  <a:lumMod val="50000"/>
                </a:schemeClr>
              </a:solidFill>
            </a:endParaRPr>
          </a:p>
        </p:txBody>
      </p:sp>
      <p:cxnSp>
        <p:nvCxnSpPr>
          <p:cNvPr id="15" name="Straight Connector 14">
            <a:extLst>
              <a:ext uri="{FF2B5EF4-FFF2-40B4-BE49-F238E27FC236}">
                <a16:creationId xmlns:a16="http://schemas.microsoft.com/office/drawing/2014/main" id="{A13F9A15-74C3-4B82-A5C7-CDE2B0BC47FE}"/>
              </a:ext>
            </a:extLst>
          </p:cNvPr>
          <p:cNvCxnSpPr>
            <a:cxnSpLocks/>
            <a:stCxn id="16" idx="2"/>
            <a:endCxn id="14" idx="21"/>
          </p:cNvCxnSpPr>
          <p:nvPr/>
        </p:nvCxnSpPr>
        <p:spPr bwMode="gray">
          <a:xfrm>
            <a:off x="7286052" y="4608447"/>
            <a:ext cx="1357529" cy="4326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Picture 12" descr="E:\2016.01\1.12 扁平化图标\蓝色\AR-蓝色最新-40.png">
            <a:extLst>
              <a:ext uri="{FF2B5EF4-FFF2-40B4-BE49-F238E27FC236}">
                <a16:creationId xmlns:a16="http://schemas.microsoft.com/office/drawing/2014/main" id="{F915483A-57AC-45C3-9890-F8A7D6E2E40B}"/>
              </a:ext>
            </a:extLst>
          </p:cNvPr>
          <p:cNvPicPr>
            <a:picLocks noChangeAspect="1" noChangeArrowheads="1"/>
          </p:cNvPicPr>
          <p:nvPr/>
        </p:nvPicPr>
        <p:blipFill>
          <a:blip r:embed="rId3" cstate="print"/>
          <a:srcRect/>
          <a:stretch>
            <a:fillRect/>
          </a:stretch>
        </p:blipFill>
        <p:spPr bwMode="gray">
          <a:xfrm>
            <a:off x="7066027" y="4248407"/>
            <a:ext cx="440049" cy="360040"/>
          </a:xfrm>
          <a:prstGeom prst="rect">
            <a:avLst/>
          </a:prstGeom>
          <a:noFill/>
        </p:spPr>
      </p:pic>
      <p:sp>
        <p:nvSpPr>
          <p:cNvPr id="17" name="Trapezoid 53">
            <a:extLst>
              <a:ext uri="{FF2B5EF4-FFF2-40B4-BE49-F238E27FC236}">
                <a16:creationId xmlns:a16="http://schemas.microsoft.com/office/drawing/2014/main" id="{55A8C2BB-7117-4561-AF56-D2366A457B73}"/>
              </a:ext>
            </a:extLst>
          </p:cNvPr>
          <p:cNvSpPr/>
          <p:nvPr/>
        </p:nvSpPr>
        <p:spPr bwMode="gray">
          <a:xfrm rot="5400000">
            <a:off x="5148282" y="3567363"/>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298079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9245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9245"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DFF4FFF-B2E3-453D-9229-6E6569E7FB44}"/>
              </a:ext>
            </a:extLst>
          </p:cNvPr>
          <p:cNvSpPr/>
          <p:nvPr/>
        </p:nvSpPr>
        <p:spPr bwMode="gray">
          <a:xfrm>
            <a:off x="3631400" y="3669453"/>
            <a:ext cx="1383404"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视频应用</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9" name="Trapezoid 53">
            <a:extLst>
              <a:ext uri="{FF2B5EF4-FFF2-40B4-BE49-F238E27FC236}">
                <a16:creationId xmlns:a16="http://schemas.microsoft.com/office/drawing/2014/main" id="{BAA1EB76-6272-489E-898D-8C76ABBD88D6}"/>
              </a:ext>
            </a:extLst>
          </p:cNvPr>
          <p:cNvSpPr/>
          <p:nvPr/>
        </p:nvSpPr>
        <p:spPr bwMode="gray">
          <a:xfrm rot="16200000" flipV="1">
            <a:off x="5148555" y="4417137"/>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6599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6599"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9DCA055-D7DB-4A98-BB5B-F9481DBB358C}"/>
              </a:ext>
            </a:extLst>
          </p:cNvPr>
          <p:cNvSpPr/>
          <p:nvPr/>
        </p:nvSpPr>
        <p:spPr bwMode="gray">
          <a:xfrm>
            <a:off x="3631399" y="4834412"/>
            <a:ext cx="1386727"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上网业务</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21" name="Trapezoid 20">
            <a:extLst>
              <a:ext uri="{FF2B5EF4-FFF2-40B4-BE49-F238E27FC236}">
                <a16:creationId xmlns:a16="http://schemas.microsoft.com/office/drawing/2014/main" id="{1CAECB38-DEB1-4983-A37F-B144F45C6C78}"/>
              </a:ext>
            </a:extLst>
          </p:cNvPr>
          <p:cNvSpPr/>
          <p:nvPr/>
        </p:nvSpPr>
        <p:spPr bwMode="blackGray">
          <a:xfrm rot="5400000">
            <a:off x="5316166" y="3997518"/>
            <a:ext cx="352417" cy="829182"/>
          </a:xfrm>
          <a:prstGeom prst="trapezoid">
            <a:avLst>
              <a:gd name="adj" fmla="val 34538"/>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CD8267B-4A74-43DE-9670-E888D2F49364}"/>
              </a:ext>
            </a:extLst>
          </p:cNvPr>
          <p:cNvSpPr/>
          <p:nvPr/>
        </p:nvSpPr>
        <p:spPr bwMode="gray">
          <a:xfrm>
            <a:off x="3628076" y="4235900"/>
            <a:ext cx="1386727" cy="352417"/>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语音应用</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23" name="Freeform: Shape 22">
            <a:extLst>
              <a:ext uri="{FF2B5EF4-FFF2-40B4-BE49-F238E27FC236}">
                <a16:creationId xmlns:a16="http://schemas.microsoft.com/office/drawing/2014/main" id="{8E74A07D-7057-4FF0-B1EF-6278EA71A68D}"/>
              </a:ext>
            </a:extLst>
          </p:cNvPr>
          <p:cNvSpPr/>
          <p:nvPr/>
        </p:nvSpPr>
        <p:spPr bwMode="blackGray">
          <a:xfrm>
            <a:off x="5049417" y="3881818"/>
            <a:ext cx="6211529" cy="518033"/>
          </a:xfrm>
          <a:custGeom>
            <a:avLst/>
            <a:gdLst>
              <a:gd name="connsiteX0" fmla="*/ 0 w 6996223"/>
              <a:gd name="connsiteY0" fmla="*/ 0 h 831556"/>
              <a:gd name="connsiteX1" fmla="*/ 1233377 w 6996223"/>
              <a:gd name="connsiteY1" fmla="*/ 606056 h 831556"/>
              <a:gd name="connsiteX2" fmla="*/ 2147777 w 6996223"/>
              <a:gd name="connsiteY2" fmla="*/ 606056 h 831556"/>
              <a:gd name="connsiteX3" fmla="*/ 4125433 w 6996223"/>
              <a:gd name="connsiteY3" fmla="*/ 127591 h 831556"/>
              <a:gd name="connsiteX4" fmla="*/ 6177516 w 6996223"/>
              <a:gd name="connsiteY4" fmla="*/ 723014 h 831556"/>
              <a:gd name="connsiteX5" fmla="*/ 6996223 w 6996223"/>
              <a:gd name="connsiteY5" fmla="*/ 829340 h 83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6223" h="831556">
                <a:moveTo>
                  <a:pt x="0" y="0"/>
                </a:moveTo>
                <a:cubicBezTo>
                  <a:pt x="437707" y="252523"/>
                  <a:pt x="875414" y="505047"/>
                  <a:pt x="1233377" y="606056"/>
                </a:cubicBezTo>
                <a:cubicBezTo>
                  <a:pt x="1591340" y="707065"/>
                  <a:pt x="1665768" y="685800"/>
                  <a:pt x="2147777" y="606056"/>
                </a:cubicBezTo>
                <a:cubicBezTo>
                  <a:pt x="2629786" y="526312"/>
                  <a:pt x="3453810" y="108098"/>
                  <a:pt x="4125433" y="127591"/>
                </a:cubicBezTo>
                <a:cubicBezTo>
                  <a:pt x="4797056" y="147084"/>
                  <a:pt x="5699051" y="606056"/>
                  <a:pt x="6177516" y="723014"/>
                </a:cubicBezTo>
                <a:cubicBezTo>
                  <a:pt x="6655981" y="839972"/>
                  <a:pt x="6826102" y="834656"/>
                  <a:pt x="6996223" y="82934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451C5C0C-AA78-4F8A-A792-DFDD709DC006}"/>
              </a:ext>
            </a:extLst>
          </p:cNvPr>
          <p:cNvSpPr/>
          <p:nvPr/>
        </p:nvSpPr>
        <p:spPr bwMode="gray">
          <a:xfrm>
            <a:off x="5014803" y="4417264"/>
            <a:ext cx="6246143" cy="682122"/>
          </a:xfrm>
          <a:custGeom>
            <a:avLst/>
            <a:gdLst>
              <a:gd name="connsiteX0" fmla="*/ 0 w 6953693"/>
              <a:gd name="connsiteY0" fmla="*/ 624722 h 624722"/>
              <a:gd name="connsiteX1" fmla="*/ 1063256 w 6953693"/>
              <a:gd name="connsiteY1" fmla="*/ 71829 h 624722"/>
              <a:gd name="connsiteX2" fmla="*/ 2243470 w 6953693"/>
              <a:gd name="connsiteY2" fmla="*/ 61196 h 624722"/>
              <a:gd name="connsiteX3" fmla="*/ 3987209 w 6953693"/>
              <a:gd name="connsiteY3" fmla="*/ 571559 h 624722"/>
              <a:gd name="connsiteX4" fmla="*/ 6060558 w 6953693"/>
              <a:gd name="connsiteY4" fmla="*/ 188787 h 624722"/>
              <a:gd name="connsiteX5" fmla="*/ 6953693 w 6953693"/>
              <a:gd name="connsiteY5" fmla="*/ 114359 h 62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53693" h="624722">
                <a:moveTo>
                  <a:pt x="0" y="624722"/>
                </a:moveTo>
                <a:cubicBezTo>
                  <a:pt x="344672" y="395236"/>
                  <a:pt x="689344" y="165750"/>
                  <a:pt x="1063256" y="71829"/>
                </a:cubicBezTo>
                <a:cubicBezTo>
                  <a:pt x="1437168" y="-22092"/>
                  <a:pt x="1756145" y="-22092"/>
                  <a:pt x="2243470" y="61196"/>
                </a:cubicBezTo>
                <a:cubicBezTo>
                  <a:pt x="2730795" y="144484"/>
                  <a:pt x="3351028" y="550294"/>
                  <a:pt x="3987209" y="571559"/>
                </a:cubicBezTo>
                <a:cubicBezTo>
                  <a:pt x="4623390" y="592824"/>
                  <a:pt x="5566144" y="264987"/>
                  <a:pt x="6060558" y="188787"/>
                </a:cubicBezTo>
                <a:cubicBezTo>
                  <a:pt x="6554972" y="112587"/>
                  <a:pt x="6754332" y="113473"/>
                  <a:pt x="6953693" y="114359"/>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294335E-CB15-4AC7-98DA-EECBAB8C8C17}"/>
              </a:ext>
            </a:extLst>
          </p:cNvPr>
          <p:cNvSpPr/>
          <p:nvPr/>
        </p:nvSpPr>
        <p:spPr bwMode="blackGray">
          <a:xfrm rot="21329663">
            <a:off x="5078546" y="4357418"/>
            <a:ext cx="1435425"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348058F-3951-472A-A346-4A88A9713232}"/>
              </a:ext>
            </a:extLst>
          </p:cNvPr>
          <p:cNvSpPr/>
          <p:nvPr/>
        </p:nvSpPr>
        <p:spPr bwMode="gray">
          <a:xfrm>
            <a:off x="1624244" y="4235899"/>
            <a:ext cx="1074669" cy="352417"/>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solidFill>
                <a:latin typeface="Huawei Sans" panose="020C0503030203020204" pitchFamily="34" charset="0"/>
                <a:ea typeface="方正兰亭黑简体" panose="02000000000000000000" pitchFamily="2" charset="-122"/>
              </a:rPr>
              <a:t>SAC</a:t>
            </a:r>
            <a:r>
              <a:rPr lang="zh-CN" altLang="en-US" sz="1200" dirty="0">
                <a:solidFill>
                  <a:schemeClr val="bg1"/>
                </a:solidFill>
                <a:latin typeface="Huawei Sans" panose="020C0503030203020204" pitchFamily="34" charset="0"/>
                <a:ea typeface="方正兰亭黑简体" panose="02000000000000000000" pitchFamily="2" charset="-122"/>
              </a:rPr>
              <a:t>功能模块</a:t>
            </a:r>
            <a:endParaRPr lang="en-US" sz="1200" dirty="0">
              <a:solidFill>
                <a:schemeClr val="bg1"/>
              </a:solidFill>
              <a:latin typeface="Huawei Sans" panose="020C0503030203020204" pitchFamily="34" charset="0"/>
              <a:ea typeface="方正兰亭黑简体" panose="02000000000000000000" pitchFamily="2" charset="-122"/>
            </a:endParaRPr>
          </a:p>
        </p:txBody>
      </p:sp>
      <p:cxnSp>
        <p:nvCxnSpPr>
          <p:cNvPr id="27" name="Straight Connector 26">
            <a:extLst>
              <a:ext uri="{FF2B5EF4-FFF2-40B4-BE49-F238E27FC236}">
                <a16:creationId xmlns:a16="http://schemas.microsoft.com/office/drawing/2014/main" id="{609730F9-4E77-47EA-BD6B-2CD3599E765F}"/>
              </a:ext>
            </a:extLst>
          </p:cNvPr>
          <p:cNvCxnSpPr>
            <a:cxnSpLocks/>
            <a:stCxn id="14" idx="8"/>
            <a:endCxn id="11" idx="2"/>
          </p:cNvCxnSpPr>
          <p:nvPr/>
        </p:nvCxnSpPr>
        <p:spPr bwMode="gray">
          <a:xfrm flipV="1">
            <a:off x="9553063" y="4641660"/>
            <a:ext cx="1332643" cy="3907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E43D3DB-0243-40A9-89DE-7CFB2749262E}"/>
              </a:ext>
            </a:extLst>
          </p:cNvPr>
          <p:cNvCxnSpPr>
            <a:cxnSpLocks/>
            <a:stCxn id="12" idx="8"/>
            <a:endCxn id="11" idx="0"/>
          </p:cNvCxnSpPr>
          <p:nvPr/>
        </p:nvCxnSpPr>
        <p:spPr bwMode="gray">
          <a:xfrm>
            <a:off x="9553063" y="3959660"/>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Freeform: Shape 28">
            <a:extLst>
              <a:ext uri="{FF2B5EF4-FFF2-40B4-BE49-F238E27FC236}">
                <a16:creationId xmlns:a16="http://schemas.microsoft.com/office/drawing/2014/main" id="{DFE6BD94-76CB-4F47-B72D-A32FEB1AA820}"/>
              </a:ext>
            </a:extLst>
          </p:cNvPr>
          <p:cNvSpPr/>
          <p:nvPr/>
        </p:nvSpPr>
        <p:spPr bwMode="blackGray">
          <a:xfrm rot="20048925">
            <a:off x="2708966" y="4072508"/>
            <a:ext cx="96343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8815E366-6711-477A-BF3C-E6EA7AE2E615}"/>
              </a:ext>
            </a:extLst>
          </p:cNvPr>
          <p:cNvSpPr/>
          <p:nvPr/>
        </p:nvSpPr>
        <p:spPr bwMode="gray">
          <a:xfrm rot="1551075" flipV="1">
            <a:off x="2688531" y="4677200"/>
            <a:ext cx="96343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AFD89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51D37E3C-F4E1-42AD-BA37-DBB8B7554B84}"/>
              </a:ext>
            </a:extLst>
          </p:cNvPr>
          <p:cNvSpPr/>
          <p:nvPr/>
        </p:nvSpPr>
        <p:spPr bwMode="blackGray">
          <a:xfrm>
            <a:off x="2746892" y="4368079"/>
            <a:ext cx="863357"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90657477-B548-491A-91AF-9C546964C842}"/>
              </a:ext>
            </a:extLst>
          </p:cNvPr>
          <p:cNvCxnSpPr>
            <a:cxnSpLocks/>
          </p:cNvCxnSpPr>
          <p:nvPr/>
        </p:nvCxnSpPr>
        <p:spPr bwMode="gray">
          <a:xfrm>
            <a:off x="932094" y="4406036"/>
            <a:ext cx="673100" cy="0"/>
          </a:xfrm>
          <a:prstGeom prst="line">
            <a:avLst/>
          </a:prstGeom>
          <a:ln w="762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Rectangular Callout 26">
            <a:extLst>
              <a:ext uri="{FF2B5EF4-FFF2-40B4-BE49-F238E27FC236}">
                <a16:creationId xmlns:a16="http://schemas.microsoft.com/office/drawing/2014/main" id="{AD2CA121-F996-4827-A11A-E921D1069690}"/>
              </a:ext>
            </a:extLst>
          </p:cNvPr>
          <p:cNvSpPr/>
          <p:nvPr/>
        </p:nvSpPr>
        <p:spPr bwMode="gray">
          <a:xfrm>
            <a:off x="1631338" y="3592344"/>
            <a:ext cx="1074669" cy="388952"/>
          </a:xfrm>
          <a:prstGeom prst="wedgeRectCallout">
            <a:avLst>
              <a:gd name="adj1" fmla="val 27672"/>
              <a:gd name="adj2" fmla="val 886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应用识别</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4" name="Rectangular Callout 26">
            <a:extLst>
              <a:ext uri="{FF2B5EF4-FFF2-40B4-BE49-F238E27FC236}">
                <a16:creationId xmlns:a16="http://schemas.microsoft.com/office/drawing/2014/main" id="{938A7A84-1A4C-4891-9D6D-CD183AB1E58B}"/>
              </a:ext>
            </a:extLst>
          </p:cNvPr>
          <p:cNvSpPr/>
          <p:nvPr/>
        </p:nvSpPr>
        <p:spPr bwMode="gray">
          <a:xfrm>
            <a:off x="5991358" y="3592344"/>
            <a:ext cx="1074669" cy="388952"/>
          </a:xfrm>
          <a:prstGeom prst="wedgeRectCallout">
            <a:avLst>
              <a:gd name="adj1" fmla="val 27672"/>
              <a:gd name="adj2" fmla="val 8867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应用选路</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Rectangle 36">
            <a:extLst>
              <a:ext uri="{FF2B5EF4-FFF2-40B4-BE49-F238E27FC236}">
                <a16:creationId xmlns:a16="http://schemas.microsoft.com/office/drawing/2014/main" id="{BD3882A8-5C9D-4E41-AB2C-16CD724D624E}"/>
              </a:ext>
            </a:extLst>
          </p:cNvPr>
          <p:cNvSpPr/>
          <p:nvPr/>
        </p:nvSpPr>
        <p:spPr bwMode="gray">
          <a:xfrm>
            <a:off x="5924793" y="4235901"/>
            <a:ext cx="1074669" cy="352417"/>
          </a:xfrm>
          <a:prstGeom prst="rect">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bg1"/>
                </a:solidFill>
                <a:latin typeface="Huawei Sans" panose="020C0503030203020204" pitchFamily="34" charset="0"/>
                <a:ea typeface="方正兰亭黑简体" panose="02000000000000000000" pitchFamily="2" charset="-122"/>
              </a:rPr>
              <a:t>SPR</a:t>
            </a:r>
            <a:r>
              <a:rPr lang="zh-CN" altLang="en-US" sz="1200" dirty="0">
                <a:solidFill>
                  <a:schemeClr val="bg1"/>
                </a:solidFill>
                <a:latin typeface="Huawei Sans" panose="020C0503030203020204" pitchFamily="34" charset="0"/>
                <a:ea typeface="方正兰亭黑简体" panose="02000000000000000000" pitchFamily="2" charset="-122"/>
              </a:rPr>
              <a:t>功能模块</a:t>
            </a:r>
            <a:endParaRPr lang="en-US" sz="1200" dirty="0">
              <a:solidFill>
                <a:schemeClr val="bg1"/>
              </a:solidFill>
              <a:latin typeface="Huawei Sans" panose="020C0503030203020204" pitchFamily="34" charset="0"/>
              <a:ea typeface="方正兰亭黑简体" panose="02000000000000000000" pitchFamily="2" charset="-122"/>
            </a:endParaRPr>
          </a:p>
        </p:txBody>
      </p:sp>
      <p:sp>
        <p:nvSpPr>
          <p:cNvPr id="7" name="TextBox 6">
            <a:extLst>
              <a:ext uri="{FF2B5EF4-FFF2-40B4-BE49-F238E27FC236}">
                <a16:creationId xmlns:a16="http://schemas.microsoft.com/office/drawing/2014/main" id="{BBAC3715-B5FE-4F2B-AC48-212560456F1B}"/>
              </a:ext>
            </a:extLst>
          </p:cNvPr>
          <p:cNvSpPr txBox="1"/>
          <p:nvPr/>
        </p:nvSpPr>
        <p:spPr bwMode="gray">
          <a:xfrm rot="20941601">
            <a:off x="7290017" y="3780214"/>
            <a:ext cx="829073" cy="276999"/>
          </a:xfrm>
          <a:prstGeom prst="rect">
            <a:avLst/>
          </a:prstGeom>
          <a:solidFill>
            <a:schemeClr val="bg1">
              <a:lumMod val="50000"/>
            </a:schemeClr>
          </a:solidFill>
        </p:spPr>
        <p:txBody>
          <a:bodyPr wrap="none" rtlCol="0">
            <a:spAutoFit/>
          </a:bodyPr>
          <a:lstStyle/>
          <a:p>
            <a:pPr fontAlgn="auto"/>
            <a:r>
              <a:rPr lang="zh-CN" altLang="en-US" sz="1200" dirty="0">
                <a:solidFill>
                  <a:schemeClr val="bg1"/>
                </a:solidFill>
                <a:latin typeface="+mn-lt"/>
                <a:ea typeface="方正兰亭黑简体" panose="02000000000000000000" pitchFamily="2" charset="-122"/>
              </a:rPr>
              <a:t>链路探测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8" name="TextBox 7">
            <a:extLst>
              <a:ext uri="{FF2B5EF4-FFF2-40B4-BE49-F238E27FC236}">
                <a16:creationId xmlns:a16="http://schemas.microsoft.com/office/drawing/2014/main" id="{BB13D8A3-289D-4E93-A521-360220741314}"/>
              </a:ext>
            </a:extLst>
          </p:cNvPr>
          <p:cNvSpPr txBox="1"/>
          <p:nvPr/>
        </p:nvSpPr>
        <p:spPr bwMode="gray">
          <a:xfrm rot="1255723">
            <a:off x="7245711" y="4828263"/>
            <a:ext cx="829073" cy="276999"/>
          </a:xfrm>
          <a:prstGeom prst="rect">
            <a:avLst/>
          </a:prstGeom>
          <a:solidFill>
            <a:schemeClr val="bg1">
              <a:lumMod val="50000"/>
            </a:schemeClr>
          </a:solidFill>
        </p:spPr>
        <p:txBody>
          <a:bodyPr wrap="none" rtlCol="0">
            <a:spAutoFit/>
          </a:bodyPr>
          <a:lstStyle/>
          <a:p>
            <a:pPr fontAlgn="auto"/>
            <a:r>
              <a:rPr lang="zh-CN" altLang="en-US" sz="1200" dirty="0">
                <a:solidFill>
                  <a:schemeClr val="bg1"/>
                </a:solidFill>
                <a:latin typeface="+mn-lt"/>
                <a:ea typeface="方正兰亭黑简体" panose="02000000000000000000" pitchFamily="2" charset="-122"/>
              </a:rPr>
              <a:t>链路探测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cxnSp>
        <p:nvCxnSpPr>
          <p:cNvPr id="9" name="Straight Arrow Connector 8">
            <a:extLst>
              <a:ext uri="{FF2B5EF4-FFF2-40B4-BE49-F238E27FC236}">
                <a16:creationId xmlns:a16="http://schemas.microsoft.com/office/drawing/2014/main" id="{68191B8C-BDF2-4A43-A26B-E943A5B1EBCC}"/>
              </a:ext>
            </a:extLst>
          </p:cNvPr>
          <p:cNvCxnSpPr>
            <a:cxnSpLocks/>
            <a:stCxn id="7" idx="3"/>
          </p:cNvCxnSpPr>
          <p:nvPr/>
        </p:nvCxnSpPr>
        <p:spPr bwMode="gray">
          <a:xfrm flipV="1">
            <a:off x="8111511" y="3767000"/>
            <a:ext cx="307775" cy="7280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A22D0E2-12C9-4C40-9B00-FEC5B4153D65}"/>
              </a:ext>
            </a:extLst>
          </p:cNvPr>
          <p:cNvCxnSpPr>
            <a:cxnSpLocks/>
            <a:stCxn id="8" idx="3"/>
          </p:cNvCxnSpPr>
          <p:nvPr/>
        </p:nvCxnSpPr>
        <p:spPr bwMode="gray">
          <a:xfrm>
            <a:off x="8047435" y="5114838"/>
            <a:ext cx="268107" cy="9884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圆角矩形 75">
            <a:extLst>
              <a:ext uri="{FF2B5EF4-FFF2-40B4-BE49-F238E27FC236}">
                <a16:creationId xmlns:a16="http://schemas.microsoft.com/office/drawing/2014/main" id="{EAA22720-8986-4343-AB15-88F535D45DC7}"/>
              </a:ext>
            </a:extLst>
          </p:cNvPr>
          <p:cNvSpPr/>
          <p:nvPr/>
        </p:nvSpPr>
        <p:spPr bwMode="gray">
          <a:xfrm>
            <a:off x="810236" y="2662787"/>
            <a:ext cx="1057152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业务可靠性技术应用场景</a:t>
            </a:r>
          </a:p>
        </p:txBody>
      </p:sp>
      <p:sp>
        <p:nvSpPr>
          <p:cNvPr id="39" name="圆角矩形 75">
            <a:extLst>
              <a:ext uri="{FF2B5EF4-FFF2-40B4-BE49-F238E27FC236}">
                <a16:creationId xmlns:a16="http://schemas.microsoft.com/office/drawing/2014/main" id="{96B723AD-DC03-466D-87AF-0F0BB5ADC7A8}"/>
              </a:ext>
            </a:extLst>
          </p:cNvPr>
          <p:cNvSpPr/>
          <p:nvPr/>
        </p:nvSpPr>
        <p:spPr bwMode="gray">
          <a:xfrm>
            <a:off x="810236" y="3097075"/>
            <a:ext cx="10571527" cy="273541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55662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dirty="0">
                <a:solidFill>
                  <a:schemeClr val="bg1">
                    <a:lumMod val="50000"/>
                  </a:schemeClr>
                </a:solidFill>
              </a:rPr>
              <a:t>广域互联组网技术应用</a:t>
            </a:r>
            <a:endParaRPr lang="en-US" altLang="zh-CN" dirty="0">
              <a:solidFill>
                <a:schemeClr val="bg1">
                  <a:lumMod val="50000"/>
                </a:schemeClr>
              </a:solidFill>
            </a:endParaRPr>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b="1" dirty="0"/>
              <a:t>广域互联优化技术应用</a:t>
            </a:r>
            <a:endParaRPr lang="en-US" altLang="zh-CN" b="1" dirty="0"/>
          </a:p>
          <a:p>
            <a:pPr lvl="1">
              <a:buSzPct val="60000"/>
              <a:buFont typeface="Wingdings" panose="05000000000000000000" pitchFamily="2" charset="2"/>
              <a:buChar char="n"/>
            </a:pPr>
            <a:r>
              <a:rPr lang="en-US" altLang="zh-CN" dirty="0"/>
              <a:t>QoS</a:t>
            </a:r>
            <a:r>
              <a:rPr lang="zh-CN" altLang="en-US" dirty="0"/>
              <a:t>技术应用</a:t>
            </a:r>
            <a:endParaRPr lang="en-US" altLang="zh-CN" dirty="0"/>
          </a:p>
          <a:p>
            <a:pPr lvl="1"/>
            <a:r>
              <a:rPr lang="en-US" altLang="zh-CN" dirty="0">
                <a:solidFill>
                  <a:schemeClr val="bg1">
                    <a:lumMod val="50000"/>
                  </a:schemeClr>
                </a:solidFill>
              </a:rPr>
              <a:t>FEC</a:t>
            </a:r>
            <a:r>
              <a:rPr lang="zh-CN" altLang="en-US" dirty="0">
                <a:solidFill>
                  <a:schemeClr val="bg1">
                    <a:lumMod val="50000"/>
                  </a:schemeClr>
                </a:solidFill>
              </a:rPr>
              <a:t>技术应用</a:t>
            </a:r>
            <a:endParaRPr lang="en-US" altLang="zh-CN" dirty="0">
              <a:solidFill>
                <a:schemeClr val="bg1">
                  <a:lumMod val="50000"/>
                </a:schemeClr>
              </a:solidFill>
            </a:endParaRPr>
          </a:p>
        </p:txBody>
      </p:sp>
    </p:spTree>
    <p:extLst>
      <p:ext uri="{BB962C8B-B14F-4D97-AF65-F5344CB8AC3E}">
        <p14:creationId xmlns:p14="http://schemas.microsoft.com/office/powerpoint/2010/main" val="20354682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QoS</a:t>
            </a:r>
            <a:r>
              <a:rPr lang="zh-CN" altLang="en-US" dirty="0"/>
              <a:t>简介</a:t>
            </a:r>
          </a:p>
        </p:txBody>
      </p:sp>
      <p:sp>
        <p:nvSpPr>
          <p:cNvPr id="3" name="Text Placeholder 2">
            <a:extLst>
              <a:ext uri="{FF2B5EF4-FFF2-40B4-BE49-F238E27FC236}">
                <a16:creationId xmlns:a16="http://schemas.microsoft.com/office/drawing/2014/main" id="{A5CDFDBF-1640-466F-A483-203D3A877241}"/>
              </a:ext>
            </a:extLst>
          </p:cNvPr>
          <p:cNvSpPr>
            <a:spLocks noGrp="1"/>
          </p:cNvSpPr>
          <p:nvPr>
            <p:ph type="body" sz="quarter" idx="10"/>
          </p:nvPr>
        </p:nvSpPr>
        <p:spPr bwMode="gray"/>
        <p:txBody>
          <a:bodyPr/>
          <a:lstStyle/>
          <a:p>
            <a:r>
              <a:rPr lang="zh-CN" altLang="en-US" sz="1800" dirty="0"/>
              <a:t>服务质量（</a:t>
            </a:r>
            <a:r>
              <a:rPr lang="en-US" altLang="zh-CN" sz="1800" dirty="0"/>
              <a:t>Quality of Service</a:t>
            </a:r>
            <a:r>
              <a:rPr lang="zh-CN" altLang="en-US" sz="1800" dirty="0"/>
              <a:t>，</a:t>
            </a:r>
            <a:r>
              <a:rPr lang="en-US" altLang="zh-CN" sz="1800" dirty="0" err="1"/>
              <a:t>QoS</a:t>
            </a:r>
            <a:r>
              <a:rPr lang="zh-CN" altLang="en-US" sz="1800" dirty="0"/>
              <a:t>）用于评估服务方满足客户服务需求的能力。通过配置</a:t>
            </a:r>
            <a:r>
              <a:rPr lang="en-US" altLang="zh-CN" sz="1800" dirty="0"/>
              <a:t>QoS</a:t>
            </a:r>
            <a:r>
              <a:rPr lang="zh-CN" altLang="en-US" sz="1800" dirty="0"/>
              <a:t>，对企业的网络流量进行调控，避免并管理网络拥塞，减少报文的丢失率，同时也可以为企业用户提供专用带宽或者为不同的业务（语音、视频、数据等）提供差分服务。</a:t>
            </a:r>
            <a:endParaRPr lang="en-US" sz="1800" dirty="0"/>
          </a:p>
        </p:txBody>
      </p:sp>
      <p:grpSp>
        <p:nvGrpSpPr>
          <p:cNvPr id="48" name="Group 47">
            <a:extLst>
              <a:ext uri="{FF2B5EF4-FFF2-40B4-BE49-F238E27FC236}">
                <a16:creationId xmlns:a16="http://schemas.microsoft.com/office/drawing/2014/main" id="{EBA9F798-C5D5-45FF-92F3-861BE271055E}"/>
              </a:ext>
            </a:extLst>
          </p:cNvPr>
          <p:cNvGrpSpPr/>
          <p:nvPr/>
        </p:nvGrpSpPr>
        <p:grpSpPr bwMode="gray">
          <a:xfrm>
            <a:off x="760779" y="3086022"/>
            <a:ext cx="10670442" cy="2823202"/>
            <a:chOff x="690856" y="2005360"/>
            <a:chExt cx="10670442" cy="3449585"/>
          </a:xfrm>
        </p:grpSpPr>
        <p:cxnSp>
          <p:nvCxnSpPr>
            <p:cNvPr id="49" name="直接箭头连接符 27">
              <a:extLst>
                <a:ext uri="{FF2B5EF4-FFF2-40B4-BE49-F238E27FC236}">
                  <a16:creationId xmlns:a16="http://schemas.microsoft.com/office/drawing/2014/main" id="{DDF214EE-85C0-4C79-A0D9-739C51ACE0FB}"/>
                </a:ext>
              </a:extLst>
            </p:cNvPr>
            <p:cNvCxnSpPr/>
            <p:nvPr/>
          </p:nvCxnSpPr>
          <p:spPr bwMode="gray">
            <a:xfrm>
              <a:off x="3251684" y="3069000"/>
              <a:ext cx="0" cy="7200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50" name="五边形 63">
              <a:extLst>
                <a:ext uri="{FF2B5EF4-FFF2-40B4-BE49-F238E27FC236}">
                  <a16:creationId xmlns:a16="http://schemas.microsoft.com/office/drawing/2014/main" id="{6E40762D-7A41-4C7A-8D1A-B5F05592C81F}"/>
                </a:ext>
              </a:extLst>
            </p:cNvPr>
            <p:cNvSpPr/>
            <p:nvPr/>
          </p:nvSpPr>
          <p:spPr bwMode="gray">
            <a:xfrm>
              <a:off x="6415492" y="2348840"/>
              <a:ext cx="4477322" cy="2700300"/>
            </a:xfrm>
            <a:prstGeom prst="homePlate">
              <a:avLst>
                <a:gd name="adj" fmla="val 12894"/>
              </a:avLst>
            </a:prstGeom>
            <a:solidFill>
              <a:srgbClr val="F4FBFE"/>
            </a:solidFill>
            <a:ln w="9525" cap="flat" cmpd="sng" algn="ctr">
              <a:solidFill>
                <a:srgbClr val="56C4D2"/>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nvGrpSpPr>
            <p:cNvPr id="51" name="组合 101">
              <a:extLst>
                <a:ext uri="{FF2B5EF4-FFF2-40B4-BE49-F238E27FC236}">
                  <a16:creationId xmlns:a16="http://schemas.microsoft.com/office/drawing/2014/main" id="{2BE87867-05E5-4DFF-9F55-5AA9756D4802}"/>
                </a:ext>
              </a:extLst>
            </p:cNvPr>
            <p:cNvGrpSpPr/>
            <p:nvPr/>
          </p:nvGrpSpPr>
          <p:grpSpPr bwMode="gray">
            <a:xfrm>
              <a:off x="690856" y="2005360"/>
              <a:ext cx="1345406" cy="3449585"/>
              <a:chOff x="1006178" y="2041404"/>
              <a:chExt cx="1345406" cy="3449585"/>
            </a:xfrm>
          </p:grpSpPr>
          <p:grpSp>
            <p:nvGrpSpPr>
              <p:cNvPr id="122" name="组合 13">
                <a:extLst>
                  <a:ext uri="{FF2B5EF4-FFF2-40B4-BE49-F238E27FC236}">
                    <a16:creationId xmlns:a16="http://schemas.microsoft.com/office/drawing/2014/main" id="{B8BBB94E-4CFA-4BBF-BE54-59DFE57EB57C}"/>
                  </a:ext>
                </a:extLst>
              </p:cNvPr>
              <p:cNvGrpSpPr/>
              <p:nvPr/>
            </p:nvGrpSpPr>
            <p:grpSpPr bwMode="gray">
              <a:xfrm>
                <a:off x="1006178" y="2041404"/>
                <a:ext cx="1345406" cy="3449585"/>
                <a:chOff x="1438226" y="1619398"/>
                <a:chExt cx="1345406" cy="3449585"/>
              </a:xfrm>
            </p:grpSpPr>
            <p:sp>
              <p:nvSpPr>
                <p:cNvPr id="124" name="圆角矩形 15">
                  <a:extLst>
                    <a:ext uri="{FF2B5EF4-FFF2-40B4-BE49-F238E27FC236}">
                      <a16:creationId xmlns:a16="http://schemas.microsoft.com/office/drawing/2014/main" id="{C87B1DCF-55BF-4CCF-AEA9-49E9DE6E53C1}"/>
                    </a:ext>
                  </a:extLst>
                </p:cNvPr>
                <p:cNvSpPr/>
                <p:nvPr/>
              </p:nvSpPr>
              <p:spPr bwMode="gray">
                <a:xfrm>
                  <a:off x="1438226" y="1619398"/>
                  <a:ext cx="1345406" cy="3403072"/>
                </a:xfrm>
                <a:prstGeom prst="roundRect">
                  <a:avLst>
                    <a:gd name="adj" fmla="val 3970"/>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5" name="envelope-doodle_16370">
                  <a:extLst>
                    <a:ext uri="{FF2B5EF4-FFF2-40B4-BE49-F238E27FC236}">
                      <a16:creationId xmlns:a16="http://schemas.microsoft.com/office/drawing/2014/main" id="{A0152041-18FF-4330-A067-E8E7229C0313}"/>
                    </a:ext>
                  </a:extLst>
                </p:cNvPr>
                <p:cNvSpPr>
                  <a:spLocks noChangeAspect="1"/>
                </p:cNvSpPr>
                <p:nvPr/>
              </p:nvSpPr>
              <p:spPr bwMode="gray">
                <a:xfrm>
                  <a:off x="1913183" y="4063770"/>
                  <a:ext cx="601460" cy="609685"/>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26" name="图片 17" descr="可视电话硬终端.png">
                  <a:extLst>
                    <a:ext uri="{FF2B5EF4-FFF2-40B4-BE49-F238E27FC236}">
                      <a16:creationId xmlns:a16="http://schemas.microsoft.com/office/drawing/2014/main" id="{64FA8B32-F3E2-4AD1-909B-4DCCC5E66F57}"/>
                    </a:ext>
                  </a:extLst>
                </p:cNvPr>
                <p:cNvPicPr>
                  <a:picLocks noChangeAspect="1"/>
                </p:cNvPicPr>
                <p:nvPr/>
              </p:nvPicPr>
              <p:blipFill>
                <a:blip r:embed="rId3" cstate="print"/>
                <a:stretch>
                  <a:fillRect/>
                </a:stretch>
              </p:blipFill>
              <p:spPr bwMode="gray">
                <a:xfrm>
                  <a:off x="1908939" y="2980317"/>
                  <a:ext cx="609949" cy="540000"/>
                </a:xfrm>
                <a:prstGeom prst="rect">
                  <a:avLst/>
                </a:prstGeom>
              </p:spPr>
            </p:pic>
            <p:pic>
              <p:nvPicPr>
                <p:cNvPr id="127" name="图片 18" descr="管理型无线虚链路-蓝.png">
                  <a:extLst>
                    <a:ext uri="{FF2B5EF4-FFF2-40B4-BE49-F238E27FC236}">
                      <a16:creationId xmlns:a16="http://schemas.microsoft.com/office/drawing/2014/main" id="{61425ED3-94F6-4C1F-A47F-B7C4C86C3DE4}"/>
                    </a:ext>
                  </a:extLst>
                </p:cNvPr>
                <p:cNvPicPr>
                  <a:picLocks noChangeAspect="1"/>
                </p:cNvPicPr>
                <p:nvPr/>
              </p:nvPicPr>
              <p:blipFill>
                <a:blip r:embed="rId4" cstate="print"/>
                <a:stretch>
                  <a:fillRect/>
                </a:stretch>
              </p:blipFill>
              <p:spPr bwMode="gray">
                <a:xfrm>
                  <a:off x="1922620" y="1772816"/>
                  <a:ext cx="582586" cy="540000"/>
                </a:xfrm>
                <a:prstGeom prst="rect">
                  <a:avLst/>
                </a:prstGeom>
              </p:spPr>
            </p:pic>
            <p:sp>
              <p:nvSpPr>
                <p:cNvPr id="128" name="文本框 19">
                  <a:extLst>
                    <a:ext uri="{FF2B5EF4-FFF2-40B4-BE49-F238E27FC236}">
                      <a16:creationId xmlns:a16="http://schemas.microsoft.com/office/drawing/2014/main" id="{BAC6940B-5DBD-42EC-8092-64EA1F25780E}"/>
                    </a:ext>
                  </a:extLst>
                </p:cNvPr>
                <p:cNvSpPr txBox="1"/>
                <p:nvPr/>
              </p:nvSpPr>
              <p:spPr bwMode="gray">
                <a:xfrm>
                  <a:off x="1714886" y="2266517"/>
                  <a:ext cx="998056" cy="4091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视频流量</a:t>
                  </a:r>
                </a:p>
              </p:txBody>
            </p:sp>
            <p:sp>
              <p:nvSpPr>
                <p:cNvPr id="129" name="文本框 20">
                  <a:extLst>
                    <a:ext uri="{FF2B5EF4-FFF2-40B4-BE49-F238E27FC236}">
                      <a16:creationId xmlns:a16="http://schemas.microsoft.com/office/drawing/2014/main" id="{8BF03253-316C-4637-AFA0-03B09ACDC27E}"/>
                    </a:ext>
                  </a:extLst>
                </p:cNvPr>
                <p:cNvSpPr txBox="1"/>
                <p:nvPr/>
              </p:nvSpPr>
              <p:spPr bwMode="gray">
                <a:xfrm>
                  <a:off x="1714887" y="3490461"/>
                  <a:ext cx="998056" cy="4091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语音流量</a:t>
                  </a:r>
                </a:p>
              </p:txBody>
            </p:sp>
            <p:sp>
              <p:nvSpPr>
                <p:cNvPr id="130" name="文本框 21">
                  <a:extLst>
                    <a:ext uri="{FF2B5EF4-FFF2-40B4-BE49-F238E27FC236}">
                      <a16:creationId xmlns:a16="http://schemas.microsoft.com/office/drawing/2014/main" id="{9A0E9929-77D0-41B8-9DD8-0658FDA1A022}"/>
                    </a:ext>
                  </a:extLst>
                </p:cNvPr>
                <p:cNvSpPr txBox="1"/>
                <p:nvPr/>
              </p:nvSpPr>
              <p:spPr bwMode="gray">
                <a:xfrm>
                  <a:off x="1714887" y="4659802"/>
                  <a:ext cx="998056" cy="4091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dirty="0">
                      <a:latin typeface="Huawei Sans" panose="020C0503030203020204" pitchFamily="34" charset="0"/>
                      <a:ea typeface="方正兰亭黑简体" panose="02000000000000000000" pitchFamily="2" charset="-122"/>
                    </a:rPr>
                    <a:t>数据流量</a:t>
                  </a:r>
                </a:p>
              </p:txBody>
            </p:sp>
          </p:grpSp>
          <p:sp>
            <p:nvSpPr>
              <p:cNvPr id="123" name="îṧlîḋè">
                <a:extLst>
                  <a:ext uri="{FF2B5EF4-FFF2-40B4-BE49-F238E27FC236}">
                    <a16:creationId xmlns:a16="http://schemas.microsoft.com/office/drawing/2014/main" id="{234EF42A-497C-47FA-A646-5025DFE45FEB}"/>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sp>
          <p:nvSpPr>
            <p:cNvPr id="52" name="右箭头标注 23">
              <a:extLst>
                <a:ext uri="{FF2B5EF4-FFF2-40B4-BE49-F238E27FC236}">
                  <a16:creationId xmlns:a16="http://schemas.microsoft.com/office/drawing/2014/main" id="{D6A095ED-5A40-4AEB-8376-6E7CF4269FA1}"/>
                </a:ext>
              </a:extLst>
            </p:cNvPr>
            <p:cNvSpPr/>
            <p:nvPr/>
          </p:nvSpPr>
          <p:spPr bwMode="gray">
            <a:xfrm>
              <a:off x="2108271" y="3312983"/>
              <a:ext cx="792088" cy="734621"/>
            </a:xfrm>
            <a:prstGeom prst="rightArrowCallout">
              <a:avLst>
                <a:gd name="adj1" fmla="val 23271"/>
                <a:gd name="adj2" fmla="val 25000"/>
                <a:gd name="adj3" fmla="val 19073"/>
                <a:gd name="adj4" fmla="val 75831"/>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rPr>
                <a:t>流量分类</a:t>
              </a:r>
            </a:p>
          </p:txBody>
        </p:sp>
        <p:sp>
          <p:nvSpPr>
            <p:cNvPr id="53" name="流程图: 磁盘 24">
              <a:extLst>
                <a:ext uri="{FF2B5EF4-FFF2-40B4-BE49-F238E27FC236}">
                  <a16:creationId xmlns:a16="http://schemas.microsoft.com/office/drawing/2014/main" id="{9CA1922D-1BDA-4A56-A4F4-B73C21CB366A}"/>
                </a:ext>
              </a:extLst>
            </p:cNvPr>
            <p:cNvSpPr/>
            <p:nvPr/>
          </p:nvSpPr>
          <p:spPr bwMode="gray">
            <a:xfrm>
              <a:off x="3002562" y="3266248"/>
              <a:ext cx="498244" cy="828092"/>
            </a:xfrm>
            <a:prstGeom prst="flowChartMagneticDisk">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4" name="文本框 25">
              <a:extLst>
                <a:ext uri="{FF2B5EF4-FFF2-40B4-BE49-F238E27FC236}">
                  <a16:creationId xmlns:a16="http://schemas.microsoft.com/office/drawing/2014/main" id="{A448803E-D539-455D-9114-98B0A30AC660}"/>
                </a:ext>
              </a:extLst>
            </p:cNvPr>
            <p:cNvSpPr txBox="1"/>
            <p:nvPr/>
          </p:nvSpPr>
          <p:spPr bwMode="gray">
            <a:xfrm>
              <a:off x="2932192" y="3789000"/>
              <a:ext cx="6389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200" b="1" dirty="0">
                  <a:latin typeface="Huawei Sans" panose="020C0503030203020204" pitchFamily="34" charset="0"/>
                  <a:ea typeface="方正兰亭黑简体" panose="02000000000000000000" pitchFamily="2" charset="-122"/>
                </a:rPr>
                <a:t>令牌桶</a:t>
              </a:r>
            </a:p>
          </p:txBody>
        </p:sp>
        <p:sp>
          <p:nvSpPr>
            <p:cNvPr id="55" name="矩形 28">
              <a:extLst>
                <a:ext uri="{FF2B5EF4-FFF2-40B4-BE49-F238E27FC236}">
                  <a16:creationId xmlns:a16="http://schemas.microsoft.com/office/drawing/2014/main" id="{22A411EF-C644-4E76-9FEB-06FF632052BF}"/>
                </a:ext>
              </a:extLst>
            </p:cNvPr>
            <p:cNvSpPr/>
            <p:nvPr/>
          </p:nvSpPr>
          <p:spPr bwMode="gray">
            <a:xfrm>
              <a:off x="3143672" y="2852896"/>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endParaRPr>
            </a:p>
          </p:txBody>
        </p:sp>
        <p:sp>
          <p:nvSpPr>
            <p:cNvPr id="56" name="矩形 29">
              <a:extLst>
                <a:ext uri="{FF2B5EF4-FFF2-40B4-BE49-F238E27FC236}">
                  <a16:creationId xmlns:a16="http://schemas.microsoft.com/office/drawing/2014/main" id="{B868EE2C-E4ED-4839-88D9-F8E261725635}"/>
                </a:ext>
              </a:extLst>
            </p:cNvPr>
            <p:cNvSpPr/>
            <p:nvPr/>
          </p:nvSpPr>
          <p:spPr bwMode="gray">
            <a:xfrm>
              <a:off x="3143672" y="2636872"/>
              <a:ext cx="216024" cy="144016"/>
            </a:xfrm>
            <a:prstGeom prst="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57" name="文本框 30">
              <a:extLst>
                <a:ext uri="{FF2B5EF4-FFF2-40B4-BE49-F238E27FC236}">
                  <a16:creationId xmlns:a16="http://schemas.microsoft.com/office/drawing/2014/main" id="{17E16895-BF00-406B-B3FB-A848F4F006E4}"/>
                </a:ext>
              </a:extLst>
            </p:cNvPr>
            <p:cNvSpPr txBox="1"/>
            <p:nvPr/>
          </p:nvSpPr>
          <p:spPr bwMode="gray">
            <a:xfrm>
              <a:off x="2983488" y="2332769"/>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令牌</a:t>
              </a:r>
            </a:p>
          </p:txBody>
        </p:sp>
        <p:sp>
          <p:nvSpPr>
            <p:cNvPr id="58" name="右箭头标注 33">
              <a:extLst>
                <a:ext uri="{FF2B5EF4-FFF2-40B4-BE49-F238E27FC236}">
                  <a16:creationId xmlns:a16="http://schemas.microsoft.com/office/drawing/2014/main" id="{1C5FB5AB-648B-4347-B19E-44DC3F07A867}"/>
                </a:ext>
              </a:extLst>
            </p:cNvPr>
            <p:cNvSpPr/>
            <p:nvPr/>
          </p:nvSpPr>
          <p:spPr bwMode="gray">
            <a:xfrm>
              <a:off x="4435272" y="3312983"/>
              <a:ext cx="1138870" cy="734621"/>
            </a:xfrm>
            <a:prstGeom prst="rightArrowCallout">
              <a:avLst>
                <a:gd name="adj1" fmla="val 23271"/>
                <a:gd name="adj2" fmla="val 25000"/>
                <a:gd name="adj3" fmla="val 25000"/>
                <a:gd name="adj4" fmla="val 76886"/>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Remark</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grpSp>
          <p:nvGrpSpPr>
            <p:cNvPr id="61" name="组合 64">
              <a:extLst>
                <a:ext uri="{FF2B5EF4-FFF2-40B4-BE49-F238E27FC236}">
                  <a16:creationId xmlns:a16="http://schemas.microsoft.com/office/drawing/2014/main" id="{EA2824CD-5BF2-465A-8E09-2AD24CCB4107}"/>
                </a:ext>
              </a:extLst>
            </p:cNvPr>
            <p:cNvGrpSpPr/>
            <p:nvPr/>
          </p:nvGrpSpPr>
          <p:grpSpPr bwMode="gray">
            <a:xfrm>
              <a:off x="5636662" y="3231262"/>
              <a:ext cx="720080" cy="898062"/>
              <a:chOff x="6852084" y="3267306"/>
              <a:chExt cx="720080" cy="898062"/>
            </a:xfrm>
          </p:grpSpPr>
          <p:sp>
            <p:nvSpPr>
              <p:cNvPr id="120" name="圆角矩形 36">
                <a:extLst>
                  <a:ext uri="{FF2B5EF4-FFF2-40B4-BE49-F238E27FC236}">
                    <a16:creationId xmlns:a16="http://schemas.microsoft.com/office/drawing/2014/main" id="{72540883-9724-4E39-9ACF-094183829EB4}"/>
                  </a:ext>
                </a:extLst>
              </p:cNvPr>
              <p:cNvSpPr/>
              <p:nvPr/>
            </p:nvSpPr>
            <p:spPr bwMode="gray">
              <a:xfrm>
                <a:off x="6852084" y="3302292"/>
                <a:ext cx="720080" cy="828092"/>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21" name="文本框 37">
                <a:extLst>
                  <a:ext uri="{FF2B5EF4-FFF2-40B4-BE49-F238E27FC236}">
                    <a16:creationId xmlns:a16="http://schemas.microsoft.com/office/drawing/2014/main" id="{EEB98AF8-1C07-43D3-9BCE-D142A105945A}"/>
                  </a:ext>
                </a:extLst>
              </p:cNvPr>
              <p:cNvSpPr txBox="1"/>
              <p:nvPr/>
            </p:nvSpPr>
            <p:spPr bwMode="gray">
              <a:xfrm>
                <a:off x="6949740" y="3267306"/>
                <a:ext cx="536392" cy="898062"/>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其它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处理</a:t>
                </a:r>
                <a:endParaRPr lang="en-US" altLang="zh-CN" sz="1400" b="1" dirty="0">
                  <a:latin typeface="Huawei Sans" panose="020C0503030203020204" pitchFamily="34" charset="0"/>
                  <a:ea typeface="方正兰亭黑简体" panose="02000000000000000000" pitchFamily="2" charset="-122"/>
                </a:endParaRPr>
              </a:p>
              <a:p>
                <a:pPr algn="ctr"/>
                <a:r>
                  <a:rPr lang="en-US" altLang="zh-CN" sz="1400" b="1" dirty="0">
                    <a:latin typeface="Huawei Sans" panose="020C0503030203020204" pitchFamily="34" charset="0"/>
                    <a:ea typeface="方正兰亭黑简体" panose="02000000000000000000" pitchFamily="2" charset="-122"/>
                  </a:rPr>
                  <a:t>……</a:t>
                </a:r>
                <a:endParaRPr lang="zh-CN" altLang="en-US" sz="1400" b="1" dirty="0">
                  <a:latin typeface="Huawei Sans" panose="020C0503030203020204" pitchFamily="34" charset="0"/>
                  <a:ea typeface="方正兰亭黑简体" panose="02000000000000000000" pitchFamily="2" charset="-122"/>
                </a:endParaRPr>
              </a:p>
            </p:txBody>
          </p:sp>
        </p:grpSp>
        <p:sp>
          <p:nvSpPr>
            <p:cNvPr id="62" name="椭圆 38">
              <a:extLst>
                <a:ext uri="{FF2B5EF4-FFF2-40B4-BE49-F238E27FC236}">
                  <a16:creationId xmlns:a16="http://schemas.microsoft.com/office/drawing/2014/main" id="{3FCC71B9-93EC-4A31-8AD8-7EEF720C8FF3}"/>
                </a:ext>
              </a:extLst>
            </p:cNvPr>
            <p:cNvSpPr/>
            <p:nvPr/>
          </p:nvSpPr>
          <p:spPr bwMode="gray">
            <a:xfrm>
              <a:off x="7508870" y="3500274"/>
              <a:ext cx="324036" cy="360040"/>
            </a:xfrm>
            <a:prstGeom prst="ellipse">
              <a:avLst/>
            </a:prstGeom>
            <a:solidFill>
              <a:schemeClr val="bg1">
                <a:lumMod val="50000"/>
              </a:schemeClr>
            </a:solidFill>
            <a:ln w="9525" cap="flat" cmpd="sng" algn="ctr">
              <a:solidFill>
                <a:schemeClr val="bg1">
                  <a:lumMod val="8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3" name="圆角矩形 39">
              <a:extLst>
                <a:ext uri="{FF2B5EF4-FFF2-40B4-BE49-F238E27FC236}">
                  <a16:creationId xmlns:a16="http://schemas.microsoft.com/office/drawing/2014/main" id="{46976111-A43C-4217-BA4C-18FBFF28ED58}"/>
                </a:ext>
              </a:extLst>
            </p:cNvPr>
            <p:cNvSpPr/>
            <p:nvPr/>
          </p:nvSpPr>
          <p:spPr bwMode="gray">
            <a:xfrm>
              <a:off x="8228950" y="2843221"/>
              <a:ext cx="720000" cy="288000"/>
            </a:xfrm>
            <a:prstGeom prst="roundRect">
              <a:avLst/>
            </a:prstGeom>
            <a:solidFill>
              <a:srgbClr val="E28189"/>
            </a:solidFill>
            <a:ln w="9525" cap="flat" cmpd="sng" algn="ctr">
              <a:solidFill>
                <a:srgbClr val="E2818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kumimoji="0" lang="en-US" altLang="zh-CN"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0</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64" name="圆角矩形 40">
              <a:extLst>
                <a:ext uri="{FF2B5EF4-FFF2-40B4-BE49-F238E27FC236}">
                  <a16:creationId xmlns:a16="http://schemas.microsoft.com/office/drawing/2014/main" id="{20031325-E723-4036-BA8F-EA9D4E9E2C93}"/>
                </a:ext>
              </a:extLst>
            </p:cNvPr>
            <p:cNvSpPr/>
            <p:nvPr/>
          </p:nvSpPr>
          <p:spPr bwMode="gray">
            <a:xfrm>
              <a:off x="8228950" y="3212936"/>
              <a:ext cx="720000" cy="288000"/>
            </a:xfrm>
            <a:prstGeom prst="roundRect">
              <a:avLst/>
            </a:prstGeom>
            <a:solidFill>
              <a:srgbClr val="AFD89C"/>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1</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7" name="圆角矩形 41">
              <a:extLst>
                <a:ext uri="{FF2B5EF4-FFF2-40B4-BE49-F238E27FC236}">
                  <a16:creationId xmlns:a16="http://schemas.microsoft.com/office/drawing/2014/main" id="{F74CBBEC-4B82-41D1-996B-15868177D443}"/>
                </a:ext>
              </a:extLst>
            </p:cNvPr>
            <p:cNvSpPr/>
            <p:nvPr/>
          </p:nvSpPr>
          <p:spPr bwMode="gray">
            <a:xfrm>
              <a:off x="8228950" y="3635309"/>
              <a:ext cx="720000" cy="288000"/>
            </a:xfrm>
            <a:prstGeom prst="roundRect">
              <a:avLst/>
            </a:prstGeom>
            <a:solidFill>
              <a:srgbClr val="FDE397"/>
            </a:solidFill>
            <a:ln w="9525" cap="flat" cmpd="sng" algn="ctr">
              <a:solidFill>
                <a:srgbClr val="FDE397"/>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2</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8" name="圆角矩形 42">
              <a:extLst>
                <a:ext uri="{FF2B5EF4-FFF2-40B4-BE49-F238E27FC236}">
                  <a16:creationId xmlns:a16="http://schemas.microsoft.com/office/drawing/2014/main" id="{18FE2635-F422-4807-86A2-E8E424AC5007}"/>
                </a:ext>
              </a:extLst>
            </p:cNvPr>
            <p:cNvSpPr/>
            <p:nvPr/>
          </p:nvSpPr>
          <p:spPr bwMode="gray">
            <a:xfrm>
              <a:off x="8228950" y="4329061"/>
              <a:ext cx="720080" cy="288032"/>
            </a:xfrm>
            <a:prstGeom prst="roundRect">
              <a:avLst/>
            </a:prstGeom>
            <a:solidFill>
              <a:srgbClr val="94DAE2"/>
            </a:solidFill>
            <a:ln w="9525" cap="flat" cmpd="sng" algn="ctr">
              <a:solidFill>
                <a:srgbClr val="94DAE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队列</a:t>
              </a:r>
              <a:r>
                <a:rPr lang="en-US" altLang="zh-CN" sz="1400" dirty="0">
                  <a:latin typeface="Huawei Sans" panose="020C0503030203020204" pitchFamily="34" charset="0"/>
                  <a:ea typeface="方正兰亭黑简体" panose="02000000000000000000" pitchFamily="2" charset="-122"/>
                </a:rPr>
                <a:t>N</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89" name="文本框 43">
              <a:extLst>
                <a:ext uri="{FF2B5EF4-FFF2-40B4-BE49-F238E27FC236}">
                  <a16:creationId xmlns:a16="http://schemas.microsoft.com/office/drawing/2014/main" id="{DBC00933-2CA2-4839-AC53-635F80D72102}"/>
                </a:ext>
              </a:extLst>
            </p:cNvPr>
            <p:cNvSpPr txBox="1"/>
            <p:nvPr/>
          </p:nvSpPr>
          <p:spPr bwMode="gray">
            <a:xfrm>
              <a:off x="8339430" y="3897012"/>
              <a:ext cx="494713"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en-US" altLang="zh-CN" sz="1600" b="1" dirty="0">
                  <a:latin typeface="Huawei Sans" panose="020C0503030203020204" pitchFamily="34" charset="0"/>
                  <a:ea typeface="方正兰亭黑简体" panose="02000000000000000000" pitchFamily="2" charset="-122"/>
                </a:rPr>
                <a:t>……</a:t>
              </a:r>
              <a:endParaRPr lang="zh-CN" altLang="en-US" sz="1600" b="1" dirty="0">
                <a:latin typeface="Huawei Sans" panose="020C0503030203020204" pitchFamily="34" charset="0"/>
                <a:ea typeface="方正兰亭黑简体" panose="02000000000000000000" pitchFamily="2" charset="-122"/>
              </a:endParaRPr>
            </a:p>
          </p:txBody>
        </p:sp>
        <p:cxnSp>
          <p:nvCxnSpPr>
            <p:cNvPr id="90" name="直接箭头连接符 45">
              <a:extLst>
                <a:ext uri="{FF2B5EF4-FFF2-40B4-BE49-F238E27FC236}">
                  <a16:creationId xmlns:a16="http://schemas.microsoft.com/office/drawing/2014/main" id="{5B42B90A-62E9-4260-B5EF-8DD9938FA8DE}"/>
                </a:ext>
              </a:extLst>
            </p:cNvPr>
            <p:cNvCxnSpPr>
              <a:stCxn id="62" idx="0"/>
              <a:endCxn id="63" idx="1"/>
            </p:cNvCxnSpPr>
            <p:nvPr/>
          </p:nvCxnSpPr>
          <p:spPr bwMode="gray">
            <a:xfrm flipV="1">
              <a:off x="7670888" y="2987221"/>
              <a:ext cx="558062" cy="5130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1" name="直接箭头连接符 48">
              <a:extLst>
                <a:ext uri="{FF2B5EF4-FFF2-40B4-BE49-F238E27FC236}">
                  <a16:creationId xmlns:a16="http://schemas.microsoft.com/office/drawing/2014/main" id="{773DDE20-A3C4-4113-AD4B-D5A28BD7E17D}"/>
                </a:ext>
              </a:extLst>
            </p:cNvPr>
            <p:cNvCxnSpPr>
              <a:stCxn id="62" idx="7"/>
              <a:endCxn id="64" idx="1"/>
            </p:cNvCxnSpPr>
            <p:nvPr/>
          </p:nvCxnSpPr>
          <p:spPr bwMode="gray">
            <a:xfrm flipV="1">
              <a:off x="7785452" y="3356936"/>
              <a:ext cx="443498" cy="19606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2" name="直接箭头连接符 51">
              <a:extLst>
                <a:ext uri="{FF2B5EF4-FFF2-40B4-BE49-F238E27FC236}">
                  <a16:creationId xmlns:a16="http://schemas.microsoft.com/office/drawing/2014/main" id="{0F577271-EE6A-42F6-8A13-54A44F8EE729}"/>
                </a:ext>
              </a:extLst>
            </p:cNvPr>
            <p:cNvCxnSpPr>
              <a:stCxn id="62" idx="6"/>
              <a:endCxn id="87" idx="1"/>
            </p:cNvCxnSpPr>
            <p:nvPr/>
          </p:nvCxnSpPr>
          <p:spPr bwMode="gray">
            <a:xfrm>
              <a:off x="7832906" y="3680294"/>
              <a:ext cx="396044" cy="9901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3" name="直接箭头连接符 54">
              <a:extLst>
                <a:ext uri="{FF2B5EF4-FFF2-40B4-BE49-F238E27FC236}">
                  <a16:creationId xmlns:a16="http://schemas.microsoft.com/office/drawing/2014/main" id="{E0ACE2AD-7054-47EA-AB5F-9B585B6F6AD3}"/>
                </a:ext>
              </a:extLst>
            </p:cNvPr>
            <p:cNvCxnSpPr>
              <a:stCxn id="62" idx="5"/>
            </p:cNvCxnSpPr>
            <p:nvPr/>
          </p:nvCxnSpPr>
          <p:spPr bwMode="gray">
            <a:xfrm>
              <a:off x="7785452" y="3807587"/>
              <a:ext cx="407494" cy="34145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94" name="直接箭头连接符 55">
              <a:extLst>
                <a:ext uri="{FF2B5EF4-FFF2-40B4-BE49-F238E27FC236}">
                  <a16:creationId xmlns:a16="http://schemas.microsoft.com/office/drawing/2014/main" id="{46079A0D-15C0-4C53-A9C7-0F54AFE1916C}"/>
                </a:ext>
              </a:extLst>
            </p:cNvPr>
            <p:cNvCxnSpPr>
              <a:stCxn id="62" idx="4"/>
              <a:endCxn id="88" idx="1"/>
            </p:cNvCxnSpPr>
            <p:nvPr/>
          </p:nvCxnSpPr>
          <p:spPr bwMode="gray">
            <a:xfrm>
              <a:off x="7670888" y="3860314"/>
              <a:ext cx="558062" cy="61276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5" name="右箭头标注 71">
              <a:extLst>
                <a:ext uri="{FF2B5EF4-FFF2-40B4-BE49-F238E27FC236}">
                  <a16:creationId xmlns:a16="http://schemas.microsoft.com/office/drawing/2014/main" id="{F5B94C5E-B583-4D7F-868B-F7134EC36291}"/>
                </a:ext>
              </a:extLst>
            </p:cNvPr>
            <p:cNvSpPr/>
            <p:nvPr/>
          </p:nvSpPr>
          <p:spPr bwMode="gray">
            <a:xfrm>
              <a:off x="10039205" y="3312983"/>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GTS</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6" name="右箭头标注 74">
              <a:extLst>
                <a:ext uri="{FF2B5EF4-FFF2-40B4-BE49-F238E27FC236}">
                  <a16:creationId xmlns:a16="http://schemas.microsoft.com/office/drawing/2014/main" id="{6E38E178-B1FD-4879-9CAC-7F871C78B785}"/>
                </a:ext>
              </a:extLst>
            </p:cNvPr>
            <p:cNvSpPr/>
            <p:nvPr/>
          </p:nvSpPr>
          <p:spPr bwMode="gray">
            <a:xfrm>
              <a:off x="6500758" y="3312983"/>
              <a:ext cx="1044116" cy="734621"/>
            </a:xfrm>
            <a:prstGeom prst="rightArrowCallout">
              <a:avLst>
                <a:gd name="adj1" fmla="val 23271"/>
                <a:gd name="adj2" fmla="val 19073"/>
                <a:gd name="adj3" fmla="val 28952"/>
                <a:gd name="adj4" fmla="val 7127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WRED</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sp>
          <p:nvSpPr>
            <p:cNvPr id="97" name="文本框 75">
              <a:extLst>
                <a:ext uri="{FF2B5EF4-FFF2-40B4-BE49-F238E27FC236}">
                  <a16:creationId xmlns:a16="http://schemas.microsoft.com/office/drawing/2014/main" id="{E463107E-0445-4BA8-95C8-0F8BD76E7C07}"/>
                </a:ext>
              </a:extLst>
            </p:cNvPr>
            <p:cNvSpPr txBox="1"/>
            <p:nvPr/>
          </p:nvSpPr>
          <p:spPr bwMode="gray">
            <a:xfrm>
              <a:off x="6392746"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拥塞避免</a:t>
              </a:r>
            </a:p>
          </p:txBody>
        </p:sp>
        <p:sp>
          <p:nvSpPr>
            <p:cNvPr id="98" name="文本框 76">
              <a:extLst>
                <a:ext uri="{FF2B5EF4-FFF2-40B4-BE49-F238E27FC236}">
                  <a16:creationId xmlns:a16="http://schemas.microsoft.com/office/drawing/2014/main" id="{E30B66DB-F055-48F0-93D2-6CFBABA46EB0}"/>
                </a:ext>
              </a:extLst>
            </p:cNvPr>
            <p:cNvSpPr txBox="1"/>
            <p:nvPr/>
          </p:nvSpPr>
          <p:spPr bwMode="gray">
            <a:xfrm rot="19047356">
              <a:off x="7415890" y="300975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入队列</a:t>
              </a:r>
            </a:p>
          </p:txBody>
        </p:sp>
        <p:grpSp>
          <p:nvGrpSpPr>
            <p:cNvPr id="99" name="组合 88">
              <a:extLst>
                <a:ext uri="{FF2B5EF4-FFF2-40B4-BE49-F238E27FC236}">
                  <a16:creationId xmlns:a16="http://schemas.microsoft.com/office/drawing/2014/main" id="{F8CCFB38-CBA1-4B0D-BDE0-9CC8DB9C622A}"/>
                </a:ext>
              </a:extLst>
            </p:cNvPr>
            <p:cNvGrpSpPr/>
            <p:nvPr/>
          </p:nvGrpSpPr>
          <p:grpSpPr bwMode="gray">
            <a:xfrm>
              <a:off x="9201058" y="2816892"/>
              <a:ext cx="540060" cy="1800200"/>
              <a:chOff x="9804412" y="2852936"/>
              <a:chExt cx="540060" cy="1800200"/>
            </a:xfrm>
          </p:grpSpPr>
          <p:grpSp>
            <p:nvGrpSpPr>
              <p:cNvPr id="116" name="组合 77">
                <a:extLst>
                  <a:ext uri="{FF2B5EF4-FFF2-40B4-BE49-F238E27FC236}">
                    <a16:creationId xmlns:a16="http://schemas.microsoft.com/office/drawing/2014/main" id="{3900AF84-619D-42EE-9435-4DC47BFA48AF}"/>
                  </a:ext>
                </a:extLst>
              </p:cNvPr>
              <p:cNvGrpSpPr/>
              <p:nvPr/>
            </p:nvGrpSpPr>
            <p:grpSpPr bwMode="gray">
              <a:xfrm>
                <a:off x="9804412" y="2852936"/>
                <a:ext cx="540060" cy="1800200"/>
                <a:chOff x="7032104" y="2852936"/>
                <a:chExt cx="540060" cy="1800200"/>
              </a:xfrm>
            </p:grpSpPr>
            <p:sp>
              <p:nvSpPr>
                <p:cNvPr id="118" name="圆角矩形 78">
                  <a:extLst>
                    <a:ext uri="{FF2B5EF4-FFF2-40B4-BE49-F238E27FC236}">
                      <a16:creationId xmlns:a16="http://schemas.microsoft.com/office/drawing/2014/main" id="{ACD8B3C0-EA0F-4FFD-AAD8-FD5A7E522325}"/>
                    </a:ext>
                  </a:extLst>
                </p:cNvPr>
                <p:cNvSpPr/>
                <p:nvPr/>
              </p:nvSpPr>
              <p:spPr bwMode="gray">
                <a:xfrm>
                  <a:off x="7032104" y="2852936"/>
                  <a:ext cx="540060" cy="1800200"/>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9" name="文本框 79">
                  <a:extLst>
                    <a:ext uri="{FF2B5EF4-FFF2-40B4-BE49-F238E27FC236}">
                      <a16:creationId xmlns:a16="http://schemas.microsoft.com/office/drawing/2014/main" id="{F567F757-4663-4C45-9AA8-ED114C4873EE}"/>
                    </a:ext>
                  </a:extLst>
                </p:cNvPr>
                <p:cNvSpPr txBox="1"/>
                <p:nvPr/>
              </p:nvSpPr>
              <p:spPr bwMode="gray">
                <a:xfrm>
                  <a:off x="7116936" y="3456564"/>
                  <a:ext cx="356855" cy="519547"/>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调</a:t>
                  </a:r>
                  <a:endParaRPr lang="en-US" altLang="zh-CN" sz="1400" b="1" dirty="0">
                    <a:latin typeface="Huawei Sans" panose="020C0503030203020204" pitchFamily="34" charset="0"/>
                    <a:ea typeface="方正兰亭黑简体" panose="02000000000000000000" pitchFamily="2" charset="-122"/>
                  </a:endParaRPr>
                </a:p>
                <a:p>
                  <a:pPr algn="ctr"/>
                  <a:r>
                    <a:rPr lang="zh-CN" altLang="en-US" sz="1400" b="1" dirty="0">
                      <a:latin typeface="Huawei Sans" panose="020C0503030203020204" pitchFamily="34" charset="0"/>
                      <a:ea typeface="方正兰亭黑简体" panose="02000000000000000000" pitchFamily="2" charset="-122"/>
                    </a:rPr>
                    <a:t>度</a:t>
                  </a:r>
                </a:p>
              </p:txBody>
            </p:sp>
          </p:grpSp>
          <p:sp>
            <p:nvSpPr>
              <p:cNvPr id="117" name="任意多边形 81">
                <a:extLst>
                  <a:ext uri="{FF2B5EF4-FFF2-40B4-BE49-F238E27FC236}">
                    <a16:creationId xmlns:a16="http://schemas.microsoft.com/office/drawing/2014/main" id="{351A30CB-40DD-477D-9A36-B95A41677473}"/>
                  </a:ext>
                </a:extLst>
              </p:cNvPr>
              <p:cNvSpPr/>
              <p:nvPr/>
            </p:nvSpPr>
            <p:spPr bwMode="gray">
              <a:xfrm>
                <a:off x="9884086" y="2987318"/>
                <a:ext cx="363000" cy="1528585"/>
              </a:xfrm>
              <a:custGeom>
                <a:avLst/>
                <a:gdLst>
                  <a:gd name="connsiteX0" fmla="*/ 363394 w 363394"/>
                  <a:gd name="connsiteY0" fmla="*/ 539772 h 1543059"/>
                  <a:gd name="connsiteX1" fmla="*/ 232765 w 363394"/>
                  <a:gd name="connsiteY1" fmla="*/ 2743 h 1543059"/>
                  <a:gd name="connsiteX2" fmla="*/ 537 w 363394"/>
                  <a:gd name="connsiteY2" fmla="*/ 742972 h 1543059"/>
                  <a:gd name="connsiteX3" fmla="*/ 174708 w 363394"/>
                  <a:gd name="connsiteY3" fmla="*/ 1541257 h 1543059"/>
                  <a:gd name="connsiteX4" fmla="*/ 363394 w 363394"/>
                  <a:gd name="connsiteY4" fmla="*/ 917143 h 1543059"/>
                  <a:gd name="connsiteX0" fmla="*/ 362857 w 362857"/>
                  <a:gd name="connsiteY0" fmla="*/ 554167 h 1557454"/>
                  <a:gd name="connsiteX1" fmla="*/ 174171 w 362857"/>
                  <a:gd name="connsiteY1" fmla="*/ 2624 h 1557454"/>
                  <a:gd name="connsiteX2" fmla="*/ 0 w 362857"/>
                  <a:gd name="connsiteY2" fmla="*/ 757367 h 1557454"/>
                  <a:gd name="connsiteX3" fmla="*/ 174171 w 362857"/>
                  <a:gd name="connsiteY3" fmla="*/ 1555652 h 1557454"/>
                  <a:gd name="connsiteX4" fmla="*/ 362857 w 362857"/>
                  <a:gd name="connsiteY4" fmla="*/ 931538 h 1557454"/>
                  <a:gd name="connsiteX0" fmla="*/ 363000 w 363000"/>
                  <a:gd name="connsiteY0" fmla="*/ 554167 h 1528585"/>
                  <a:gd name="connsiteX1" fmla="*/ 174314 w 363000"/>
                  <a:gd name="connsiteY1" fmla="*/ 2624 h 1528585"/>
                  <a:gd name="connsiteX2" fmla="*/ 143 w 363000"/>
                  <a:gd name="connsiteY2" fmla="*/ 757367 h 1528585"/>
                  <a:gd name="connsiteX3" fmla="*/ 203343 w 363000"/>
                  <a:gd name="connsiteY3" fmla="*/ 1526623 h 1528585"/>
                  <a:gd name="connsiteX4" fmla="*/ 363000 w 363000"/>
                  <a:gd name="connsiteY4" fmla="*/ 931538 h 152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000" h="1528585">
                    <a:moveTo>
                      <a:pt x="363000" y="554167"/>
                    </a:moveTo>
                    <a:cubicBezTo>
                      <a:pt x="327923" y="268719"/>
                      <a:pt x="234790" y="-31243"/>
                      <a:pt x="174314" y="2624"/>
                    </a:cubicBezTo>
                    <a:cubicBezTo>
                      <a:pt x="113838" y="36491"/>
                      <a:pt x="-4695" y="503367"/>
                      <a:pt x="143" y="757367"/>
                    </a:cubicBezTo>
                    <a:cubicBezTo>
                      <a:pt x="4981" y="1011367"/>
                      <a:pt x="142867" y="1497595"/>
                      <a:pt x="203343" y="1526623"/>
                    </a:cubicBezTo>
                    <a:cubicBezTo>
                      <a:pt x="263819" y="1555651"/>
                      <a:pt x="298895" y="1258109"/>
                      <a:pt x="363000" y="931538"/>
                    </a:cubicBezTo>
                  </a:path>
                </a:pathLst>
              </a:custGeom>
              <a:noFill/>
              <a:ln w="19050"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grpSp>
        <p:cxnSp>
          <p:nvCxnSpPr>
            <p:cNvPr id="100" name="直接箭头连接符 83">
              <a:extLst>
                <a:ext uri="{FF2B5EF4-FFF2-40B4-BE49-F238E27FC236}">
                  <a16:creationId xmlns:a16="http://schemas.microsoft.com/office/drawing/2014/main" id="{C4043591-4410-427D-9F4C-80FCF2598498}"/>
                </a:ext>
              </a:extLst>
            </p:cNvPr>
            <p:cNvCxnSpPr/>
            <p:nvPr/>
          </p:nvCxnSpPr>
          <p:spPr bwMode="gray">
            <a:xfrm>
              <a:off x="8949030" y="299691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1" name="直接箭头连接符 85">
              <a:extLst>
                <a:ext uri="{FF2B5EF4-FFF2-40B4-BE49-F238E27FC236}">
                  <a16:creationId xmlns:a16="http://schemas.microsoft.com/office/drawing/2014/main" id="{2B7D293D-7D3F-4664-A515-825D6DB07329}"/>
                </a:ext>
              </a:extLst>
            </p:cNvPr>
            <p:cNvCxnSpPr/>
            <p:nvPr/>
          </p:nvCxnSpPr>
          <p:spPr bwMode="gray">
            <a:xfrm>
              <a:off x="8949030" y="3356952"/>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2" name="直接箭头连接符 86">
              <a:extLst>
                <a:ext uri="{FF2B5EF4-FFF2-40B4-BE49-F238E27FC236}">
                  <a16:creationId xmlns:a16="http://schemas.microsoft.com/office/drawing/2014/main" id="{5E89F53F-A897-4E05-A941-4A25CB6AEF00}"/>
                </a:ext>
              </a:extLst>
            </p:cNvPr>
            <p:cNvCxnSpPr/>
            <p:nvPr/>
          </p:nvCxnSpPr>
          <p:spPr bwMode="gray">
            <a:xfrm>
              <a:off x="8949030" y="3789000"/>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3" name="直接箭头连接符 87">
              <a:extLst>
                <a:ext uri="{FF2B5EF4-FFF2-40B4-BE49-F238E27FC236}">
                  <a16:creationId xmlns:a16="http://schemas.microsoft.com/office/drawing/2014/main" id="{9AB28663-678E-45A6-AD6F-9905BBC33602}"/>
                </a:ext>
              </a:extLst>
            </p:cNvPr>
            <p:cNvCxnSpPr/>
            <p:nvPr/>
          </p:nvCxnSpPr>
          <p:spPr bwMode="gray">
            <a:xfrm>
              <a:off x="8949030" y="4473076"/>
              <a:ext cx="25202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4" name="文本框 90">
              <a:extLst>
                <a:ext uri="{FF2B5EF4-FFF2-40B4-BE49-F238E27FC236}">
                  <a16:creationId xmlns:a16="http://schemas.microsoft.com/office/drawing/2014/main" id="{02162221-ACE8-481B-8C25-47D045855846}"/>
                </a:ext>
              </a:extLst>
            </p:cNvPr>
            <p:cNvSpPr txBox="1"/>
            <p:nvPr/>
          </p:nvSpPr>
          <p:spPr bwMode="gray">
            <a:xfrm>
              <a:off x="8949030" y="4689100"/>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拥塞管理</a:t>
              </a:r>
            </a:p>
          </p:txBody>
        </p:sp>
        <p:sp>
          <p:nvSpPr>
            <p:cNvPr id="105" name="文本框 91">
              <a:extLst>
                <a:ext uri="{FF2B5EF4-FFF2-40B4-BE49-F238E27FC236}">
                  <a16:creationId xmlns:a16="http://schemas.microsoft.com/office/drawing/2014/main" id="{CE062328-F528-4712-936D-0790A21A81C9}"/>
                </a:ext>
              </a:extLst>
            </p:cNvPr>
            <p:cNvSpPr txBox="1"/>
            <p:nvPr/>
          </p:nvSpPr>
          <p:spPr bwMode="gray">
            <a:xfrm>
              <a:off x="9967198"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流量整形</a:t>
              </a:r>
            </a:p>
          </p:txBody>
        </p:sp>
        <p:sp>
          <p:nvSpPr>
            <p:cNvPr id="106" name="文本框 92">
              <a:extLst>
                <a:ext uri="{FF2B5EF4-FFF2-40B4-BE49-F238E27FC236}">
                  <a16:creationId xmlns:a16="http://schemas.microsoft.com/office/drawing/2014/main" id="{146EE5A3-2416-48F8-8053-86E0A1E66F6A}"/>
                </a:ext>
              </a:extLst>
            </p:cNvPr>
            <p:cNvSpPr txBox="1"/>
            <p:nvPr/>
          </p:nvSpPr>
          <p:spPr bwMode="gray">
            <a:xfrm>
              <a:off x="3031116" y="4113036"/>
              <a:ext cx="998056"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600" b="1" dirty="0">
                  <a:latin typeface="Huawei Sans" panose="020C0503030203020204" pitchFamily="34" charset="0"/>
                  <a:ea typeface="方正兰亭黑简体" panose="02000000000000000000" pitchFamily="2" charset="-122"/>
                </a:rPr>
                <a:t>流量监管</a:t>
              </a:r>
            </a:p>
          </p:txBody>
        </p:sp>
        <p:grpSp>
          <p:nvGrpSpPr>
            <p:cNvPr id="107" name="组合 102">
              <a:extLst>
                <a:ext uri="{FF2B5EF4-FFF2-40B4-BE49-F238E27FC236}">
                  <a16:creationId xmlns:a16="http://schemas.microsoft.com/office/drawing/2014/main" id="{8213C338-3867-4F6E-A26F-9B71A0890A79}"/>
                </a:ext>
              </a:extLst>
            </p:cNvPr>
            <p:cNvGrpSpPr/>
            <p:nvPr/>
          </p:nvGrpSpPr>
          <p:grpSpPr bwMode="gray">
            <a:xfrm>
              <a:off x="10929250" y="2456852"/>
              <a:ext cx="432048" cy="2628292"/>
              <a:chOff x="1006178" y="2492896"/>
              <a:chExt cx="432048" cy="2628292"/>
            </a:xfrm>
          </p:grpSpPr>
          <p:sp>
            <p:nvSpPr>
              <p:cNvPr id="114" name="圆角矩形 105">
                <a:extLst>
                  <a:ext uri="{FF2B5EF4-FFF2-40B4-BE49-F238E27FC236}">
                    <a16:creationId xmlns:a16="http://schemas.microsoft.com/office/drawing/2014/main" id="{C17779C8-6080-496F-9F42-CC259B0E1567}"/>
                  </a:ext>
                </a:extLst>
              </p:cNvPr>
              <p:cNvSpPr/>
              <p:nvPr/>
            </p:nvSpPr>
            <p:spPr bwMode="gray">
              <a:xfrm>
                <a:off x="1006178" y="2492896"/>
                <a:ext cx="432048" cy="2628292"/>
              </a:xfrm>
              <a:prstGeom prst="round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p:txBody>
          </p:sp>
          <p:sp>
            <p:nvSpPr>
              <p:cNvPr id="115" name="îṧlîḋè">
                <a:extLst>
                  <a:ext uri="{FF2B5EF4-FFF2-40B4-BE49-F238E27FC236}">
                    <a16:creationId xmlns:a16="http://schemas.microsoft.com/office/drawing/2014/main" id="{91A703D9-E263-41DD-A801-48F11BBACF3F}"/>
                  </a:ext>
                </a:extLst>
              </p:cNvPr>
              <p:cNvSpPr txBox="1"/>
              <p:nvPr/>
            </p:nvSpPr>
            <p:spPr bwMode="gray">
              <a:xfrm>
                <a:off x="1012806" y="3184783"/>
                <a:ext cx="396044" cy="106311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latin typeface="Huawei Sans" panose="020C0503030203020204" pitchFamily="34" charset="0"/>
                    <a:ea typeface="方正兰亭黑简体" panose="02000000000000000000" pitchFamily="2" charset="-122"/>
                  </a:rPr>
                  <a:t>出</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接</a:t>
                </a:r>
                <a:endParaRPr lang="en-US" altLang="zh-CN" b="1" dirty="0">
                  <a:latin typeface="Huawei Sans" panose="020C0503030203020204" pitchFamily="34" charset="0"/>
                  <a:ea typeface="方正兰亭黑简体" panose="02000000000000000000" pitchFamily="2" charset="-122"/>
                </a:endParaRPr>
              </a:p>
              <a:p>
                <a:r>
                  <a:rPr lang="zh-CN" altLang="en-US" b="1" dirty="0">
                    <a:latin typeface="Huawei Sans" panose="020C0503030203020204" pitchFamily="34" charset="0"/>
                    <a:ea typeface="方正兰亭黑简体" panose="02000000000000000000" pitchFamily="2" charset="-122"/>
                  </a:rPr>
                  <a:t>口</a:t>
                </a:r>
                <a:endParaRPr lang="en-US" altLang="zh-CN" b="1" dirty="0">
                  <a:latin typeface="Huawei Sans" panose="020C0503030203020204" pitchFamily="34" charset="0"/>
                  <a:ea typeface="方正兰亭黑简体" panose="02000000000000000000" pitchFamily="2" charset="-122"/>
                </a:endParaRPr>
              </a:p>
            </p:txBody>
          </p:sp>
        </p:grpSp>
        <p:cxnSp>
          <p:nvCxnSpPr>
            <p:cNvPr id="108" name="直接箭头连接符 112">
              <a:extLst>
                <a:ext uri="{FF2B5EF4-FFF2-40B4-BE49-F238E27FC236}">
                  <a16:creationId xmlns:a16="http://schemas.microsoft.com/office/drawing/2014/main" id="{61430F62-E6AF-40DC-8E06-6A77AFBBA631}"/>
                </a:ext>
              </a:extLst>
            </p:cNvPr>
            <p:cNvCxnSpPr/>
            <p:nvPr/>
          </p:nvCxnSpPr>
          <p:spPr bwMode="gray">
            <a:xfrm>
              <a:off x="9741118" y="3032917"/>
              <a:ext cx="288032" cy="39604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09" name="直接箭头连接符 116">
              <a:extLst>
                <a:ext uri="{FF2B5EF4-FFF2-40B4-BE49-F238E27FC236}">
                  <a16:creationId xmlns:a16="http://schemas.microsoft.com/office/drawing/2014/main" id="{0675BBEA-4FE8-4002-B8CC-2BEEE1BBEFE3}"/>
                </a:ext>
              </a:extLst>
            </p:cNvPr>
            <p:cNvCxnSpPr/>
            <p:nvPr/>
          </p:nvCxnSpPr>
          <p:spPr bwMode="gray">
            <a:xfrm>
              <a:off x="9741118" y="3392956"/>
              <a:ext cx="288032" cy="21602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0" name="直接箭头连接符 118">
              <a:extLst>
                <a:ext uri="{FF2B5EF4-FFF2-40B4-BE49-F238E27FC236}">
                  <a16:creationId xmlns:a16="http://schemas.microsoft.com/office/drawing/2014/main" id="{C62980AE-BD43-4549-883F-D186B0B4DCCD}"/>
                </a:ext>
              </a:extLst>
            </p:cNvPr>
            <p:cNvCxnSpPr>
              <a:endCxn id="95" idx="1"/>
            </p:cNvCxnSpPr>
            <p:nvPr/>
          </p:nvCxnSpPr>
          <p:spPr bwMode="gray">
            <a:xfrm flipV="1">
              <a:off x="9741118" y="3680294"/>
              <a:ext cx="298087" cy="10870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11" name="直接箭头连接符 121">
              <a:extLst>
                <a:ext uri="{FF2B5EF4-FFF2-40B4-BE49-F238E27FC236}">
                  <a16:creationId xmlns:a16="http://schemas.microsoft.com/office/drawing/2014/main" id="{7D065775-0296-4C56-B84A-885CA6F5977F}"/>
                </a:ext>
              </a:extLst>
            </p:cNvPr>
            <p:cNvCxnSpPr/>
            <p:nvPr/>
          </p:nvCxnSpPr>
          <p:spPr bwMode="gray">
            <a:xfrm flipV="1">
              <a:off x="9741118" y="3933016"/>
              <a:ext cx="288032" cy="5047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2" name="文本框 123">
              <a:extLst>
                <a:ext uri="{FF2B5EF4-FFF2-40B4-BE49-F238E27FC236}">
                  <a16:creationId xmlns:a16="http://schemas.microsoft.com/office/drawing/2014/main" id="{28A8E3B3-6FEB-4DA6-8245-500106993B7F}"/>
                </a:ext>
              </a:extLst>
            </p:cNvPr>
            <p:cNvSpPr txBox="1"/>
            <p:nvPr/>
          </p:nvSpPr>
          <p:spPr bwMode="gray">
            <a:xfrm rot="2577842">
              <a:off x="9712730" y="2840056"/>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b="1" dirty="0">
                  <a:latin typeface="Huawei Sans" panose="020C0503030203020204" pitchFamily="34" charset="0"/>
                  <a:ea typeface="方正兰亭黑简体" panose="02000000000000000000" pitchFamily="2" charset="-122"/>
                </a:rPr>
                <a:t>出队列</a:t>
              </a:r>
            </a:p>
          </p:txBody>
        </p:sp>
        <p:sp>
          <p:nvSpPr>
            <p:cNvPr id="113" name="右箭头标注 61">
              <a:extLst>
                <a:ext uri="{FF2B5EF4-FFF2-40B4-BE49-F238E27FC236}">
                  <a16:creationId xmlns:a16="http://schemas.microsoft.com/office/drawing/2014/main" id="{179F6EDA-9235-4B9F-A0E5-1B8110F76EB7}"/>
                </a:ext>
              </a:extLst>
            </p:cNvPr>
            <p:cNvSpPr/>
            <p:nvPr/>
          </p:nvSpPr>
          <p:spPr bwMode="gray">
            <a:xfrm>
              <a:off x="3571176" y="3312983"/>
              <a:ext cx="792088" cy="734621"/>
            </a:xfrm>
            <a:prstGeom prst="rightArrowCallout">
              <a:avLst>
                <a:gd name="adj1" fmla="val 23271"/>
                <a:gd name="adj2" fmla="val 25000"/>
                <a:gd name="adj3" fmla="val 25000"/>
                <a:gd name="adj4" fmla="val 71696"/>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effectLst/>
                  <a:latin typeface="Huawei Sans" panose="020C0503030203020204" pitchFamily="34" charset="0"/>
                  <a:ea typeface="方正兰亭黑简体" panose="02000000000000000000" pitchFamily="2" charset="-122"/>
                </a:rPr>
                <a:t>CAR</a:t>
              </a:r>
              <a:endParaRPr kumimoji="0" lang="zh-CN" altLang="en-US" sz="1400" b="1" i="0" u="none" strike="noStrike" cap="none" normalizeH="0" baseline="0" dirty="0">
                <a:ln>
                  <a:noFill/>
                </a:ln>
                <a:effectLst/>
                <a:latin typeface="Huawei Sans" panose="020C0503030203020204" pitchFamily="34" charset="0"/>
                <a:ea typeface="方正兰亭黑简体" panose="02000000000000000000" pitchFamily="2" charset="-122"/>
              </a:endParaRPr>
            </a:p>
          </p:txBody>
        </p:sp>
      </p:grpSp>
      <p:sp>
        <p:nvSpPr>
          <p:cNvPr id="131" name="圆角矩形 75">
            <a:extLst>
              <a:ext uri="{FF2B5EF4-FFF2-40B4-BE49-F238E27FC236}">
                <a16:creationId xmlns:a16="http://schemas.microsoft.com/office/drawing/2014/main" id="{DB011463-868D-4AB9-9794-2F178ABBE795}"/>
              </a:ext>
            </a:extLst>
          </p:cNvPr>
          <p:cNvSpPr/>
          <p:nvPr/>
        </p:nvSpPr>
        <p:spPr bwMode="gray">
          <a:xfrm>
            <a:off x="593410" y="2782042"/>
            <a:ext cx="11055665" cy="325981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132" name="圆角矩形 75">
            <a:extLst>
              <a:ext uri="{FF2B5EF4-FFF2-40B4-BE49-F238E27FC236}">
                <a16:creationId xmlns:a16="http://schemas.microsoft.com/office/drawing/2014/main" id="{4FF6BE44-7278-4A33-9AC7-4EFEBD9B3C16}"/>
              </a:ext>
            </a:extLst>
          </p:cNvPr>
          <p:cNvSpPr/>
          <p:nvPr/>
        </p:nvSpPr>
        <p:spPr bwMode="gray">
          <a:xfrm>
            <a:off x="591959" y="2353843"/>
            <a:ext cx="11084429"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QoS</a:t>
            </a:r>
            <a:r>
              <a:rPr lang="zh-CN" altLang="en-US" sz="1600" dirty="0">
                <a:solidFill>
                  <a:srgbClr val="30B5C5"/>
                </a:solidFill>
                <a:latin typeface="Huawei Sans" panose="020C0503030203020204" pitchFamily="34" charset="0"/>
                <a:ea typeface="方正兰亭黑简体" panose="02000000000000000000" pitchFamily="2" charset="-122"/>
              </a:rPr>
              <a:t>工作流程</a:t>
            </a:r>
          </a:p>
        </p:txBody>
      </p:sp>
    </p:spTree>
    <p:extLst>
      <p:ext uri="{BB962C8B-B14F-4D97-AF65-F5344CB8AC3E}">
        <p14:creationId xmlns:p14="http://schemas.microsoft.com/office/powerpoint/2010/main" val="10538710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B900B-6582-4E49-A5B0-3D3BC35E5352}"/>
              </a:ext>
            </a:extLst>
          </p:cNvPr>
          <p:cNvSpPr>
            <a:spLocks noGrp="1"/>
          </p:cNvSpPr>
          <p:nvPr>
            <p:ph type="title"/>
          </p:nvPr>
        </p:nvSpPr>
        <p:spPr bwMode="gray"/>
        <p:txBody>
          <a:bodyPr/>
          <a:lstStyle/>
          <a:p>
            <a:r>
              <a:rPr lang="en-US" dirty="0"/>
              <a:t>Q</a:t>
            </a:r>
            <a:r>
              <a:rPr lang="en-US" altLang="zh-CN" dirty="0"/>
              <a:t>oS</a:t>
            </a:r>
            <a:r>
              <a:rPr lang="zh-CN" altLang="en-US" dirty="0"/>
              <a:t>应用举例</a:t>
            </a:r>
            <a:endParaRPr lang="en-US" dirty="0"/>
          </a:p>
        </p:txBody>
      </p:sp>
      <p:sp>
        <p:nvSpPr>
          <p:cNvPr id="3" name="Text Placeholder 2">
            <a:extLst>
              <a:ext uri="{FF2B5EF4-FFF2-40B4-BE49-F238E27FC236}">
                <a16:creationId xmlns:a16="http://schemas.microsoft.com/office/drawing/2014/main" id="{DD905929-4CE6-4FA7-B3BF-3F7187AB98FE}"/>
              </a:ext>
            </a:extLst>
          </p:cNvPr>
          <p:cNvSpPr>
            <a:spLocks noGrp="1"/>
          </p:cNvSpPr>
          <p:nvPr>
            <p:ph type="body" sz="quarter" idx="10"/>
          </p:nvPr>
        </p:nvSpPr>
        <p:spPr bwMode="gray">
          <a:xfrm>
            <a:off x="455612" y="1047750"/>
            <a:ext cx="11293475" cy="1068805"/>
          </a:xfrm>
        </p:spPr>
        <p:txBody>
          <a:bodyPr/>
          <a:lstStyle/>
          <a:p>
            <a:r>
              <a:rPr lang="zh-CN" altLang="en-US" sz="2000" dirty="0"/>
              <a:t>在企业广域互联场景下，</a:t>
            </a:r>
            <a:r>
              <a:rPr lang="en-US" sz="2000" dirty="0"/>
              <a:t>Q</a:t>
            </a:r>
            <a:r>
              <a:rPr lang="en-US" altLang="zh-CN" sz="2000" dirty="0"/>
              <a:t>oS</a:t>
            </a:r>
            <a:r>
              <a:rPr lang="zh-CN" altLang="en-US" sz="2000" dirty="0"/>
              <a:t>一般被部署在出口链路上。</a:t>
            </a:r>
            <a:endParaRPr lang="en-US" altLang="zh-CN" sz="2000" dirty="0"/>
          </a:p>
          <a:p>
            <a:r>
              <a:rPr lang="zh-CN" altLang="en-US" sz="2000" dirty="0"/>
              <a:t>通过部署</a:t>
            </a:r>
            <a:r>
              <a:rPr lang="en-US" altLang="zh-CN" sz="2000" dirty="0"/>
              <a:t>QoS</a:t>
            </a:r>
            <a:r>
              <a:rPr lang="zh-CN" altLang="en-US" sz="2000" dirty="0"/>
              <a:t>技术能保障高价值业务的带宽与时延。</a:t>
            </a:r>
            <a:endParaRPr lang="en-US" sz="2000" dirty="0"/>
          </a:p>
        </p:txBody>
      </p:sp>
      <p:sp>
        <p:nvSpPr>
          <p:cNvPr id="4" name="矩形 129">
            <a:extLst>
              <a:ext uri="{FF2B5EF4-FFF2-40B4-BE49-F238E27FC236}">
                <a16:creationId xmlns:a16="http://schemas.microsoft.com/office/drawing/2014/main" id="{B0C47284-879B-40D7-A31D-F9B850AD252C}"/>
              </a:ext>
            </a:extLst>
          </p:cNvPr>
          <p:cNvSpPr/>
          <p:nvPr/>
        </p:nvSpPr>
        <p:spPr bwMode="gray">
          <a:xfrm>
            <a:off x="4557901" y="2782414"/>
            <a:ext cx="2772308" cy="3154913"/>
          </a:xfrm>
          <a:prstGeom prst="rect">
            <a:avLst/>
          </a:prstGeom>
          <a:solidFill>
            <a:schemeClr val="bg1"/>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5" name="矩形 132">
            <a:extLst>
              <a:ext uri="{FF2B5EF4-FFF2-40B4-BE49-F238E27FC236}">
                <a16:creationId xmlns:a16="http://schemas.microsoft.com/office/drawing/2014/main" id="{899BA762-CEC6-46B2-A3AF-1B6A3EDE2486}"/>
              </a:ext>
            </a:extLst>
          </p:cNvPr>
          <p:cNvSpPr/>
          <p:nvPr/>
        </p:nvSpPr>
        <p:spPr bwMode="gray">
          <a:xfrm>
            <a:off x="7438221" y="2782414"/>
            <a:ext cx="3348372" cy="3154913"/>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6" name="矩形 128">
            <a:extLst>
              <a:ext uri="{FF2B5EF4-FFF2-40B4-BE49-F238E27FC236}">
                <a16:creationId xmlns:a16="http://schemas.microsoft.com/office/drawing/2014/main" id="{5BDC625C-1957-43F9-BA35-097F382C13D5}"/>
              </a:ext>
            </a:extLst>
          </p:cNvPr>
          <p:cNvSpPr/>
          <p:nvPr/>
        </p:nvSpPr>
        <p:spPr bwMode="gray">
          <a:xfrm>
            <a:off x="1605573" y="2782414"/>
            <a:ext cx="2844316" cy="3154913"/>
          </a:xfrm>
          <a:prstGeom prst="rect">
            <a:avLst/>
          </a:prstGeom>
          <a:solidFill>
            <a:srgbClr val="F4FBFE"/>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7" name="矩形 127">
            <a:extLst>
              <a:ext uri="{FF2B5EF4-FFF2-40B4-BE49-F238E27FC236}">
                <a16:creationId xmlns:a16="http://schemas.microsoft.com/office/drawing/2014/main" id="{70D04098-BBB7-4776-A843-F0FB3C0A5920}"/>
              </a:ext>
            </a:extLst>
          </p:cNvPr>
          <p:cNvSpPr/>
          <p:nvPr/>
        </p:nvSpPr>
        <p:spPr bwMode="gray">
          <a:xfrm>
            <a:off x="9526453" y="490036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8" name="矩形 126">
            <a:extLst>
              <a:ext uri="{FF2B5EF4-FFF2-40B4-BE49-F238E27FC236}">
                <a16:creationId xmlns:a16="http://schemas.microsoft.com/office/drawing/2014/main" id="{3455F45A-6E4B-4E1B-8D30-2D0809E400B2}"/>
              </a:ext>
            </a:extLst>
          </p:cNvPr>
          <p:cNvSpPr/>
          <p:nvPr/>
        </p:nvSpPr>
        <p:spPr bwMode="gray">
          <a:xfrm>
            <a:off x="9526453" y="3892250"/>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9" name="矩形 118">
            <a:extLst>
              <a:ext uri="{FF2B5EF4-FFF2-40B4-BE49-F238E27FC236}">
                <a16:creationId xmlns:a16="http://schemas.microsoft.com/office/drawing/2014/main" id="{86D33265-BED7-4355-95FA-99E4C4945E6F}"/>
              </a:ext>
            </a:extLst>
          </p:cNvPr>
          <p:cNvSpPr/>
          <p:nvPr/>
        </p:nvSpPr>
        <p:spPr bwMode="gray">
          <a:xfrm>
            <a:off x="9526453" y="2884138"/>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cxnSp>
        <p:nvCxnSpPr>
          <p:cNvPr id="10" name="直接连接符 99">
            <a:extLst>
              <a:ext uri="{FF2B5EF4-FFF2-40B4-BE49-F238E27FC236}">
                <a16:creationId xmlns:a16="http://schemas.microsoft.com/office/drawing/2014/main" id="{546A6760-8195-4515-A9CC-E6E2EFB960D4}"/>
              </a:ext>
            </a:extLst>
          </p:cNvPr>
          <p:cNvCxnSpPr>
            <a:stCxn id="23" idx="3"/>
            <a:endCxn id="25" idx="1"/>
          </p:cNvCxnSpPr>
          <p:nvPr/>
        </p:nvCxnSpPr>
        <p:spPr bwMode="gray">
          <a:xfrm>
            <a:off x="6620592" y="4369019"/>
            <a:ext cx="49359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 name="矩形 64">
            <a:extLst>
              <a:ext uri="{FF2B5EF4-FFF2-40B4-BE49-F238E27FC236}">
                <a16:creationId xmlns:a16="http://schemas.microsoft.com/office/drawing/2014/main" id="{ACBA01B2-5B96-4CB7-B921-CE03C8E5F096}"/>
              </a:ext>
            </a:extLst>
          </p:cNvPr>
          <p:cNvSpPr/>
          <p:nvPr/>
        </p:nvSpPr>
        <p:spPr bwMode="gray">
          <a:xfrm>
            <a:off x="1749589" y="4900362"/>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2" name="矩形 63">
            <a:extLst>
              <a:ext uri="{FF2B5EF4-FFF2-40B4-BE49-F238E27FC236}">
                <a16:creationId xmlns:a16="http://schemas.microsoft.com/office/drawing/2014/main" id="{EFC8DFF0-A8F1-460F-AEAF-CC5EA07CF3FD}"/>
              </a:ext>
            </a:extLst>
          </p:cNvPr>
          <p:cNvSpPr/>
          <p:nvPr/>
        </p:nvSpPr>
        <p:spPr bwMode="gray">
          <a:xfrm>
            <a:off x="1749589" y="3892250"/>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3" name="矩形 56">
            <a:extLst>
              <a:ext uri="{FF2B5EF4-FFF2-40B4-BE49-F238E27FC236}">
                <a16:creationId xmlns:a16="http://schemas.microsoft.com/office/drawing/2014/main" id="{F214A7C8-BA6A-4A4E-BCFB-1F751C3141BB}"/>
              </a:ext>
            </a:extLst>
          </p:cNvPr>
          <p:cNvSpPr/>
          <p:nvPr/>
        </p:nvSpPr>
        <p:spPr bwMode="gray">
          <a:xfrm>
            <a:off x="1749589" y="2884138"/>
            <a:ext cx="1044116" cy="936104"/>
          </a:xfrm>
          <a:prstGeom prst="rect">
            <a:avLst/>
          </a:prstGeom>
          <a:solidFill>
            <a:schemeClr val="bg1"/>
          </a:solidFill>
          <a:ln w="9525" cap="flat" cmpd="sng" algn="ctr">
            <a:solidFill>
              <a:srgbClr val="56C4D2"/>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a:solidFill>
                <a:schemeClr val="bg1">
                  <a:lumMod val="65000"/>
                </a:schemeClr>
              </a:solidFill>
              <a:latin typeface="Huawei Sans" panose="020C0503030203020204" pitchFamily="34" charset="0"/>
              <a:ea typeface="方正兰亭黑简体" panose="02000000000000000000" pitchFamily="2" charset="-122"/>
            </a:endParaRPr>
          </a:p>
        </p:txBody>
      </p:sp>
      <p:sp>
        <p:nvSpPr>
          <p:cNvPr id="14" name="envelope-doodle_16370">
            <a:extLst>
              <a:ext uri="{FF2B5EF4-FFF2-40B4-BE49-F238E27FC236}">
                <a16:creationId xmlns:a16="http://schemas.microsoft.com/office/drawing/2014/main" id="{3EFD163D-E5C5-4362-9FC3-572634CA0A86}"/>
              </a:ext>
            </a:extLst>
          </p:cNvPr>
          <p:cNvSpPr>
            <a:spLocks noChangeAspect="1"/>
          </p:cNvSpPr>
          <p:nvPr/>
        </p:nvSpPr>
        <p:spPr bwMode="gray">
          <a:xfrm>
            <a:off x="1977291" y="4986800"/>
            <a:ext cx="561911" cy="516030"/>
          </a:xfrm>
          <a:custGeom>
            <a:avLst/>
            <a:gdLst>
              <a:gd name="T0" fmla="*/ 3334 w 5890"/>
              <a:gd name="T1" fmla="*/ 1609 h 5980"/>
              <a:gd name="T2" fmla="*/ 4117 w 5890"/>
              <a:gd name="T3" fmla="*/ 991 h 5980"/>
              <a:gd name="T4" fmla="*/ 4155 w 5890"/>
              <a:gd name="T5" fmla="*/ 991 h 5980"/>
              <a:gd name="T6" fmla="*/ 4010 w 5890"/>
              <a:gd name="T7" fmla="*/ 1420 h 5980"/>
              <a:gd name="T8" fmla="*/ 4255 w 5890"/>
              <a:gd name="T9" fmla="*/ 1424 h 5980"/>
              <a:gd name="T10" fmla="*/ 4927 w 5890"/>
              <a:gd name="T11" fmla="*/ 1681 h 5980"/>
              <a:gd name="T12" fmla="*/ 4801 w 5890"/>
              <a:gd name="T13" fmla="*/ 2339 h 5980"/>
              <a:gd name="T14" fmla="*/ 4281 w 5890"/>
              <a:gd name="T15" fmla="*/ 1798 h 5980"/>
              <a:gd name="T16" fmla="*/ 4165 w 5890"/>
              <a:gd name="T17" fmla="*/ 2190 h 5980"/>
              <a:gd name="T18" fmla="*/ 4117 w 5890"/>
              <a:gd name="T19" fmla="*/ 2227 h 5980"/>
              <a:gd name="T20" fmla="*/ 447 w 5890"/>
              <a:gd name="T21" fmla="*/ 3471 h 5980"/>
              <a:gd name="T22" fmla="*/ 1379 w 5890"/>
              <a:gd name="T23" fmla="*/ 3130 h 5980"/>
              <a:gd name="T24" fmla="*/ 447 w 5890"/>
              <a:gd name="T25" fmla="*/ 3471 h 5980"/>
              <a:gd name="T26" fmla="*/ 1603 w 5890"/>
              <a:gd name="T27" fmla="*/ 586 h 5980"/>
              <a:gd name="T28" fmla="*/ 1382 w 5890"/>
              <a:gd name="T29" fmla="*/ 586 h 5980"/>
              <a:gd name="T30" fmla="*/ 2210 w 5890"/>
              <a:gd name="T31" fmla="*/ 697 h 5980"/>
              <a:gd name="T32" fmla="*/ 2210 w 5890"/>
              <a:gd name="T33" fmla="*/ 476 h 5980"/>
              <a:gd name="T34" fmla="*/ 2210 w 5890"/>
              <a:gd name="T35" fmla="*/ 697 h 5980"/>
              <a:gd name="T36" fmla="*/ 1379 w 5890"/>
              <a:gd name="T37" fmla="*/ 2502 h 5980"/>
              <a:gd name="T38" fmla="*/ 447 w 5890"/>
              <a:gd name="T39" fmla="*/ 2573 h 5980"/>
              <a:gd name="T40" fmla="*/ 2457 w 5890"/>
              <a:gd name="T41" fmla="*/ 2231 h 5980"/>
              <a:gd name="T42" fmla="*/ 2321 w 5890"/>
              <a:gd name="T43" fmla="*/ 2354 h 5980"/>
              <a:gd name="T44" fmla="*/ 2045 w 5890"/>
              <a:gd name="T45" fmla="*/ 2450 h 5980"/>
              <a:gd name="T46" fmla="*/ 2321 w 5890"/>
              <a:gd name="T47" fmla="*/ 2354 h 5980"/>
              <a:gd name="T48" fmla="*/ 1379 w 5890"/>
              <a:gd name="T49" fmla="*/ 2754 h 5980"/>
              <a:gd name="T50" fmla="*/ 266 w 5890"/>
              <a:gd name="T51" fmla="*/ 2949 h 5980"/>
              <a:gd name="T52" fmla="*/ 1379 w 5890"/>
              <a:gd name="T53" fmla="*/ 3652 h 5980"/>
              <a:gd name="T54" fmla="*/ 0 w 5890"/>
              <a:gd name="T55" fmla="*/ 4036 h 5980"/>
              <a:gd name="T56" fmla="*/ 2875 w 5890"/>
              <a:gd name="T57" fmla="*/ 0 h 5980"/>
              <a:gd name="T58" fmla="*/ 2638 w 5890"/>
              <a:gd name="T59" fmla="*/ 2502 h 5980"/>
              <a:gd name="T60" fmla="*/ 266 w 5890"/>
              <a:gd name="T61" fmla="*/ 2050 h 5980"/>
              <a:gd name="T62" fmla="*/ 1918 w 5890"/>
              <a:gd name="T63" fmla="*/ 586 h 5980"/>
              <a:gd name="T64" fmla="*/ 2501 w 5890"/>
              <a:gd name="T65" fmla="*/ 586 h 5980"/>
              <a:gd name="T66" fmla="*/ 1918 w 5890"/>
              <a:gd name="T67" fmla="*/ 586 h 5980"/>
              <a:gd name="T68" fmla="*/ 1492 w 5890"/>
              <a:gd name="T69" fmla="*/ 878 h 5980"/>
              <a:gd name="T70" fmla="*/ 1492 w 5890"/>
              <a:gd name="T71" fmla="*/ 295 h 5980"/>
              <a:gd name="T72" fmla="*/ 266 w 5890"/>
              <a:gd name="T73" fmla="*/ 1843 h 5980"/>
              <a:gd name="T74" fmla="*/ 2638 w 5890"/>
              <a:gd name="T75" fmla="*/ 1139 h 5980"/>
              <a:gd name="T76" fmla="*/ 266 w 5890"/>
              <a:gd name="T77" fmla="*/ 1843 h 5980"/>
              <a:gd name="T78" fmla="*/ 2457 w 5890"/>
              <a:gd name="T79" fmla="*/ 1320 h 5980"/>
              <a:gd name="T80" fmla="*/ 447 w 5890"/>
              <a:gd name="T81" fmla="*/ 1662 h 5980"/>
              <a:gd name="T82" fmla="*/ 2045 w 5890"/>
              <a:gd name="T83" fmla="*/ 1526 h 5980"/>
              <a:gd name="T84" fmla="*/ 2321 w 5890"/>
              <a:gd name="T85" fmla="*/ 1431 h 5980"/>
              <a:gd name="T86" fmla="*/ 2045 w 5890"/>
              <a:gd name="T87" fmla="*/ 1526 h 5980"/>
              <a:gd name="T88" fmla="*/ 4264 w 5890"/>
              <a:gd name="T89" fmla="*/ 5717 h 5980"/>
              <a:gd name="T90" fmla="*/ 3828 w 5890"/>
              <a:gd name="T91" fmla="*/ 5980 h 5980"/>
              <a:gd name="T92" fmla="*/ 3231 w 5890"/>
              <a:gd name="T93" fmla="*/ 5724 h 5980"/>
              <a:gd name="T94" fmla="*/ 1605 w 5890"/>
              <a:gd name="T95" fmla="*/ 5520 h 5980"/>
              <a:gd name="T96" fmla="*/ 5890 w 5890"/>
              <a:gd name="T97" fmla="*/ 2783 h 5980"/>
              <a:gd name="T98" fmla="*/ 4264 w 5890"/>
              <a:gd name="T99" fmla="*/ 5520 h 5980"/>
              <a:gd name="T100" fmla="*/ 5609 w 5890"/>
              <a:gd name="T101" fmla="*/ 2994 h 5980"/>
              <a:gd name="T102" fmla="*/ 1886 w 5890"/>
              <a:gd name="T103" fmla="*/ 5286 h 5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0" h="5980">
                <a:moveTo>
                  <a:pt x="3346" y="1634"/>
                </a:moveTo>
                <a:cubicBezTo>
                  <a:pt x="3338" y="1628"/>
                  <a:pt x="3334" y="1619"/>
                  <a:pt x="3334" y="1609"/>
                </a:cubicBezTo>
                <a:cubicBezTo>
                  <a:pt x="3334" y="1599"/>
                  <a:pt x="3338" y="1590"/>
                  <a:pt x="3346" y="1584"/>
                </a:cubicBezTo>
                <a:lnTo>
                  <a:pt x="4117" y="991"/>
                </a:lnTo>
                <a:cubicBezTo>
                  <a:pt x="4122" y="987"/>
                  <a:pt x="4129" y="985"/>
                  <a:pt x="4136" y="985"/>
                </a:cubicBezTo>
                <a:cubicBezTo>
                  <a:pt x="4143" y="985"/>
                  <a:pt x="4149" y="987"/>
                  <a:pt x="4155" y="991"/>
                </a:cubicBezTo>
                <a:cubicBezTo>
                  <a:pt x="4166" y="1000"/>
                  <a:pt x="4170" y="1015"/>
                  <a:pt x="4165" y="1028"/>
                </a:cubicBezTo>
                <a:lnTo>
                  <a:pt x="4010" y="1420"/>
                </a:lnTo>
                <a:lnTo>
                  <a:pt x="4210" y="1421"/>
                </a:lnTo>
                <a:cubicBezTo>
                  <a:pt x="4210" y="1421"/>
                  <a:pt x="4229" y="1422"/>
                  <a:pt x="4255" y="1424"/>
                </a:cubicBezTo>
                <a:lnTo>
                  <a:pt x="4255" y="1421"/>
                </a:lnTo>
                <a:cubicBezTo>
                  <a:pt x="4272" y="1420"/>
                  <a:pt x="4658" y="1416"/>
                  <a:pt x="4927" y="1681"/>
                </a:cubicBezTo>
                <a:cubicBezTo>
                  <a:pt x="5093" y="1843"/>
                  <a:pt x="5177" y="2065"/>
                  <a:pt x="5177" y="2339"/>
                </a:cubicBezTo>
                <a:lnTo>
                  <a:pt x="4801" y="2339"/>
                </a:lnTo>
                <a:cubicBezTo>
                  <a:pt x="4801" y="2167"/>
                  <a:pt x="4756" y="2040"/>
                  <a:pt x="4664" y="1949"/>
                </a:cubicBezTo>
                <a:cubicBezTo>
                  <a:pt x="4533" y="1821"/>
                  <a:pt x="4339" y="1801"/>
                  <a:pt x="4281" y="1798"/>
                </a:cubicBezTo>
                <a:lnTo>
                  <a:pt x="4010" y="1798"/>
                </a:lnTo>
                <a:lnTo>
                  <a:pt x="4165" y="2190"/>
                </a:lnTo>
                <a:cubicBezTo>
                  <a:pt x="4170" y="2203"/>
                  <a:pt x="4166" y="2218"/>
                  <a:pt x="4155" y="2227"/>
                </a:cubicBezTo>
                <a:cubicBezTo>
                  <a:pt x="4144" y="2235"/>
                  <a:pt x="4128" y="2235"/>
                  <a:pt x="4117" y="2227"/>
                </a:cubicBezTo>
                <a:lnTo>
                  <a:pt x="3346" y="1634"/>
                </a:lnTo>
                <a:close/>
                <a:moveTo>
                  <a:pt x="447" y="3471"/>
                </a:moveTo>
                <a:lnTo>
                  <a:pt x="1379" y="3471"/>
                </a:lnTo>
                <a:lnTo>
                  <a:pt x="1379" y="3130"/>
                </a:lnTo>
                <a:lnTo>
                  <a:pt x="447" y="3130"/>
                </a:lnTo>
                <a:lnTo>
                  <a:pt x="447" y="3471"/>
                </a:lnTo>
                <a:close/>
                <a:moveTo>
                  <a:pt x="1492" y="697"/>
                </a:moveTo>
                <a:cubicBezTo>
                  <a:pt x="1553" y="697"/>
                  <a:pt x="1603" y="647"/>
                  <a:pt x="1603" y="586"/>
                </a:cubicBezTo>
                <a:cubicBezTo>
                  <a:pt x="1603" y="526"/>
                  <a:pt x="1553" y="476"/>
                  <a:pt x="1492" y="476"/>
                </a:cubicBezTo>
                <a:cubicBezTo>
                  <a:pt x="1432" y="476"/>
                  <a:pt x="1382" y="526"/>
                  <a:pt x="1382" y="586"/>
                </a:cubicBezTo>
                <a:cubicBezTo>
                  <a:pt x="1382" y="647"/>
                  <a:pt x="1432" y="697"/>
                  <a:pt x="1492" y="697"/>
                </a:cubicBezTo>
                <a:close/>
                <a:moveTo>
                  <a:pt x="2210" y="697"/>
                </a:moveTo>
                <a:cubicBezTo>
                  <a:pt x="2271" y="697"/>
                  <a:pt x="2321" y="647"/>
                  <a:pt x="2321" y="586"/>
                </a:cubicBezTo>
                <a:cubicBezTo>
                  <a:pt x="2321" y="526"/>
                  <a:pt x="2271" y="476"/>
                  <a:pt x="2210" y="476"/>
                </a:cubicBezTo>
                <a:cubicBezTo>
                  <a:pt x="2149" y="476"/>
                  <a:pt x="2099" y="526"/>
                  <a:pt x="2099" y="586"/>
                </a:cubicBezTo>
                <a:cubicBezTo>
                  <a:pt x="2099" y="647"/>
                  <a:pt x="2149" y="697"/>
                  <a:pt x="2210" y="697"/>
                </a:cubicBezTo>
                <a:close/>
                <a:moveTo>
                  <a:pt x="2457" y="2502"/>
                </a:moveTo>
                <a:lnTo>
                  <a:pt x="1379" y="2502"/>
                </a:lnTo>
                <a:lnTo>
                  <a:pt x="1379" y="2573"/>
                </a:lnTo>
                <a:lnTo>
                  <a:pt x="447" y="2573"/>
                </a:lnTo>
                <a:lnTo>
                  <a:pt x="447" y="2231"/>
                </a:lnTo>
                <a:lnTo>
                  <a:pt x="2457" y="2231"/>
                </a:lnTo>
                <a:lnTo>
                  <a:pt x="2457" y="2502"/>
                </a:lnTo>
                <a:close/>
                <a:moveTo>
                  <a:pt x="2321" y="2354"/>
                </a:moveTo>
                <a:lnTo>
                  <a:pt x="2045" y="2354"/>
                </a:lnTo>
                <a:lnTo>
                  <a:pt x="2045" y="2450"/>
                </a:lnTo>
                <a:lnTo>
                  <a:pt x="2321" y="2450"/>
                </a:lnTo>
                <a:lnTo>
                  <a:pt x="2321" y="2354"/>
                </a:lnTo>
                <a:close/>
                <a:moveTo>
                  <a:pt x="266" y="2754"/>
                </a:moveTo>
                <a:lnTo>
                  <a:pt x="1379" y="2754"/>
                </a:lnTo>
                <a:lnTo>
                  <a:pt x="1379" y="2949"/>
                </a:lnTo>
                <a:lnTo>
                  <a:pt x="266" y="2949"/>
                </a:lnTo>
                <a:lnTo>
                  <a:pt x="266" y="3652"/>
                </a:lnTo>
                <a:lnTo>
                  <a:pt x="1379" y="3652"/>
                </a:lnTo>
                <a:lnTo>
                  <a:pt x="1379" y="4036"/>
                </a:lnTo>
                <a:lnTo>
                  <a:pt x="0" y="4036"/>
                </a:lnTo>
                <a:lnTo>
                  <a:pt x="0" y="0"/>
                </a:lnTo>
                <a:lnTo>
                  <a:pt x="2875" y="0"/>
                </a:lnTo>
                <a:lnTo>
                  <a:pt x="2875" y="2502"/>
                </a:lnTo>
                <a:lnTo>
                  <a:pt x="2638" y="2502"/>
                </a:lnTo>
                <a:lnTo>
                  <a:pt x="2638" y="2050"/>
                </a:lnTo>
                <a:lnTo>
                  <a:pt x="266" y="2050"/>
                </a:lnTo>
                <a:lnTo>
                  <a:pt x="266" y="2754"/>
                </a:lnTo>
                <a:close/>
                <a:moveTo>
                  <a:pt x="1918" y="586"/>
                </a:moveTo>
                <a:cubicBezTo>
                  <a:pt x="1918" y="747"/>
                  <a:pt x="2049" y="878"/>
                  <a:pt x="2210" y="878"/>
                </a:cubicBezTo>
                <a:cubicBezTo>
                  <a:pt x="2371" y="878"/>
                  <a:pt x="2501" y="747"/>
                  <a:pt x="2501" y="586"/>
                </a:cubicBezTo>
                <a:cubicBezTo>
                  <a:pt x="2501" y="426"/>
                  <a:pt x="2371" y="295"/>
                  <a:pt x="2210" y="295"/>
                </a:cubicBezTo>
                <a:cubicBezTo>
                  <a:pt x="2049" y="295"/>
                  <a:pt x="1918" y="426"/>
                  <a:pt x="1918" y="586"/>
                </a:cubicBezTo>
                <a:close/>
                <a:moveTo>
                  <a:pt x="1201" y="586"/>
                </a:moveTo>
                <a:cubicBezTo>
                  <a:pt x="1201" y="747"/>
                  <a:pt x="1332" y="878"/>
                  <a:pt x="1492" y="878"/>
                </a:cubicBezTo>
                <a:cubicBezTo>
                  <a:pt x="1653" y="878"/>
                  <a:pt x="1784" y="747"/>
                  <a:pt x="1784" y="586"/>
                </a:cubicBezTo>
                <a:cubicBezTo>
                  <a:pt x="1784" y="426"/>
                  <a:pt x="1653" y="295"/>
                  <a:pt x="1492" y="295"/>
                </a:cubicBezTo>
                <a:cubicBezTo>
                  <a:pt x="1332" y="295"/>
                  <a:pt x="1201" y="426"/>
                  <a:pt x="1201" y="586"/>
                </a:cubicBezTo>
                <a:close/>
                <a:moveTo>
                  <a:pt x="266" y="1843"/>
                </a:moveTo>
                <a:lnTo>
                  <a:pt x="2638" y="1843"/>
                </a:lnTo>
                <a:lnTo>
                  <a:pt x="2638" y="1139"/>
                </a:lnTo>
                <a:lnTo>
                  <a:pt x="266" y="1139"/>
                </a:lnTo>
                <a:lnTo>
                  <a:pt x="266" y="1843"/>
                </a:lnTo>
                <a:close/>
                <a:moveTo>
                  <a:pt x="447" y="1320"/>
                </a:moveTo>
                <a:lnTo>
                  <a:pt x="2457" y="1320"/>
                </a:lnTo>
                <a:lnTo>
                  <a:pt x="2457" y="1662"/>
                </a:lnTo>
                <a:lnTo>
                  <a:pt x="447" y="1662"/>
                </a:lnTo>
                <a:lnTo>
                  <a:pt x="447" y="1320"/>
                </a:lnTo>
                <a:close/>
                <a:moveTo>
                  <a:pt x="2045" y="1526"/>
                </a:moveTo>
                <a:lnTo>
                  <a:pt x="2321" y="1526"/>
                </a:lnTo>
                <a:lnTo>
                  <a:pt x="2321" y="1431"/>
                </a:lnTo>
                <a:lnTo>
                  <a:pt x="2045" y="1431"/>
                </a:lnTo>
                <a:lnTo>
                  <a:pt x="2045" y="1526"/>
                </a:lnTo>
                <a:close/>
                <a:moveTo>
                  <a:pt x="4264" y="5520"/>
                </a:moveTo>
                <a:lnTo>
                  <a:pt x="4264" y="5717"/>
                </a:lnTo>
                <a:cubicBezTo>
                  <a:pt x="4808" y="5735"/>
                  <a:pt x="5201" y="5786"/>
                  <a:pt x="5201" y="5845"/>
                </a:cubicBezTo>
                <a:cubicBezTo>
                  <a:pt x="5201" y="5920"/>
                  <a:pt x="4586" y="5980"/>
                  <a:pt x="3828" y="5980"/>
                </a:cubicBezTo>
                <a:cubicBezTo>
                  <a:pt x="3070" y="5980"/>
                  <a:pt x="2455" y="5920"/>
                  <a:pt x="2455" y="5845"/>
                </a:cubicBezTo>
                <a:cubicBezTo>
                  <a:pt x="2455" y="5792"/>
                  <a:pt x="2772" y="5746"/>
                  <a:pt x="3231" y="5724"/>
                </a:cubicBezTo>
                <a:lnTo>
                  <a:pt x="3231" y="5520"/>
                </a:lnTo>
                <a:lnTo>
                  <a:pt x="1605" y="5520"/>
                </a:lnTo>
                <a:lnTo>
                  <a:pt x="1605" y="2783"/>
                </a:lnTo>
                <a:lnTo>
                  <a:pt x="5890" y="2783"/>
                </a:lnTo>
                <a:lnTo>
                  <a:pt x="5890" y="5520"/>
                </a:lnTo>
                <a:lnTo>
                  <a:pt x="4264" y="5520"/>
                </a:lnTo>
                <a:close/>
                <a:moveTo>
                  <a:pt x="5609" y="5286"/>
                </a:moveTo>
                <a:lnTo>
                  <a:pt x="5609" y="2994"/>
                </a:lnTo>
                <a:lnTo>
                  <a:pt x="1886" y="2994"/>
                </a:lnTo>
                <a:lnTo>
                  <a:pt x="1886" y="5286"/>
                </a:lnTo>
                <a:lnTo>
                  <a:pt x="5609" y="5286"/>
                </a:lnTo>
                <a:close/>
              </a:path>
            </a:pathLst>
          </a:custGeom>
          <a:solidFill>
            <a:schemeClr val="bg1">
              <a:lumMod val="50000"/>
            </a:schemeClr>
          </a:solidFill>
          <a:ln>
            <a:noFill/>
          </a:ln>
        </p:spPr>
        <p:txBody>
          <a:bodyPr/>
          <a:lstStyle/>
          <a:p>
            <a:endParaRPr lang="zh-CN" altLang="en-US">
              <a:latin typeface="Huawei Sans" panose="020C0503030203020204" pitchFamily="34" charset="0"/>
              <a:ea typeface="方正兰亭黑简体" panose="02000000000000000000" pitchFamily="2" charset="-122"/>
            </a:endParaRPr>
          </a:p>
        </p:txBody>
      </p:sp>
      <p:pic>
        <p:nvPicPr>
          <p:cNvPr id="15" name="图片 58" descr="可视电话硬终端.png">
            <a:extLst>
              <a:ext uri="{FF2B5EF4-FFF2-40B4-BE49-F238E27FC236}">
                <a16:creationId xmlns:a16="http://schemas.microsoft.com/office/drawing/2014/main" id="{D799C8C9-A8B3-4E54-B023-1D60A254CDBE}"/>
              </a:ext>
            </a:extLst>
          </p:cNvPr>
          <p:cNvPicPr>
            <a:picLocks noChangeAspect="1"/>
          </p:cNvPicPr>
          <p:nvPr/>
        </p:nvPicPr>
        <p:blipFill>
          <a:blip r:embed="rId3" cstate="print">
            <a:duotone>
              <a:prstClr val="black"/>
              <a:srgbClr val="F5AC3C">
                <a:tint val="45000"/>
                <a:satMod val="400000"/>
              </a:srgbClr>
            </a:duotone>
          </a:blip>
          <a:stretch>
            <a:fillRect/>
          </a:stretch>
        </p:blipFill>
        <p:spPr bwMode="gray">
          <a:xfrm>
            <a:off x="1973326" y="4058519"/>
            <a:ext cx="569841" cy="457050"/>
          </a:xfrm>
          <a:prstGeom prst="rect">
            <a:avLst/>
          </a:prstGeom>
        </p:spPr>
      </p:pic>
      <p:pic>
        <p:nvPicPr>
          <p:cNvPr id="16" name="图片 59" descr="管理型无线虚链路-蓝.png">
            <a:extLst>
              <a:ext uri="{FF2B5EF4-FFF2-40B4-BE49-F238E27FC236}">
                <a16:creationId xmlns:a16="http://schemas.microsoft.com/office/drawing/2014/main" id="{510DAE91-FAF8-44DD-95E4-074B82ED61AC}"/>
              </a:ext>
            </a:extLst>
          </p:cNvPr>
          <p:cNvPicPr>
            <a:picLocks noChangeAspect="1"/>
          </p:cNvPicPr>
          <p:nvPr/>
        </p:nvPicPr>
        <p:blipFill>
          <a:blip r:embed="rId4" cstate="print">
            <a:duotone>
              <a:prstClr val="black"/>
              <a:srgbClr val="F5AC3C">
                <a:tint val="45000"/>
                <a:satMod val="400000"/>
              </a:srgbClr>
            </a:duotone>
          </a:blip>
          <a:stretch>
            <a:fillRect/>
          </a:stretch>
        </p:blipFill>
        <p:spPr bwMode="gray">
          <a:xfrm>
            <a:off x="1986107" y="3036505"/>
            <a:ext cx="544278" cy="457050"/>
          </a:xfrm>
          <a:prstGeom prst="rect">
            <a:avLst/>
          </a:prstGeom>
        </p:spPr>
      </p:pic>
      <p:sp>
        <p:nvSpPr>
          <p:cNvPr id="17" name="文本框 60">
            <a:extLst>
              <a:ext uri="{FF2B5EF4-FFF2-40B4-BE49-F238E27FC236}">
                <a16:creationId xmlns:a16="http://schemas.microsoft.com/office/drawing/2014/main" id="{5F4F7F82-2354-43B4-9289-DDDFC8E61C4F}"/>
              </a:ext>
            </a:extLst>
          </p:cNvPr>
          <p:cNvSpPr txBox="1"/>
          <p:nvPr/>
        </p:nvSpPr>
        <p:spPr bwMode="gray">
          <a:xfrm>
            <a:off x="1900281" y="3452963"/>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视频流</a:t>
            </a:r>
          </a:p>
        </p:txBody>
      </p:sp>
      <p:sp>
        <p:nvSpPr>
          <p:cNvPr id="18" name="文本框 61">
            <a:extLst>
              <a:ext uri="{FF2B5EF4-FFF2-40B4-BE49-F238E27FC236}">
                <a16:creationId xmlns:a16="http://schemas.microsoft.com/office/drawing/2014/main" id="{158C146D-AF05-4429-91EC-4FE7D6C5904B}"/>
              </a:ext>
            </a:extLst>
          </p:cNvPr>
          <p:cNvSpPr txBox="1"/>
          <p:nvPr/>
        </p:nvSpPr>
        <p:spPr bwMode="gray">
          <a:xfrm>
            <a:off x="1900282" y="4488894"/>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语音流</a:t>
            </a:r>
          </a:p>
        </p:txBody>
      </p:sp>
      <p:sp>
        <p:nvSpPr>
          <p:cNvPr id="19" name="文本框 62">
            <a:extLst>
              <a:ext uri="{FF2B5EF4-FFF2-40B4-BE49-F238E27FC236}">
                <a16:creationId xmlns:a16="http://schemas.microsoft.com/office/drawing/2014/main" id="{442AA497-CD5A-4A60-A017-84717D1FBD38}"/>
              </a:ext>
            </a:extLst>
          </p:cNvPr>
          <p:cNvSpPr txBox="1"/>
          <p:nvPr/>
        </p:nvSpPr>
        <p:spPr bwMode="gray">
          <a:xfrm>
            <a:off x="1900282" y="5433568"/>
            <a:ext cx="715928"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数据流</a:t>
            </a:r>
          </a:p>
        </p:txBody>
      </p:sp>
      <p:pic>
        <p:nvPicPr>
          <p:cNvPr id="20" name="图片 65">
            <a:extLst>
              <a:ext uri="{FF2B5EF4-FFF2-40B4-BE49-F238E27FC236}">
                <a16:creationId xmlns:a16="http://schemas.microsoft.com/office/drawing/2014/main" id="{DEB90EC7-1884-4F63-A7B6-BEF6AA07D84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153745" y="4099019"/>
            <a:ext cx="658537" cy="540000"/>
          </a:xfrm>
          <a:prstGeom prst="rect">
            <a:avLst/>
          </a:prstGeom>
        </p:spPr>
      </p:pic>
      <p:pic>
        <p:nvPicPr>
          <p:cNvPr id="21" name="图片 66">
            <a:extLst>
              <a:ext uri="{FF2B5EF4-FFF2-40B4-BE49-F238E27FC236}">
                <a16:creationId xmlns:a16="http://schemas.microsoft.com/office/drawing/2014/main" id="{6BCD63F8-9FBA-4946-A39D-927B0ACA79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4341876" y="4099019"/>
            <a:ext cx="658536" cy="540000"/>
          </a:xfrm>
          <a:prstGeom prst="rect">
            <a:avLst/>
          </a:prstGeom>
        </p:spPr>
      </p:pic>
      <p:pic>
        <p:nvPicPr>
          <p:cNvPr id="22" name="图片 69">
            <a:extLst>
              <a:ext uri="{FF2B5EF4-FFF2-40B4-BE49-F238E27FC236}">
                <a16:creationId xmlns:a16="http://schemas.microsoft.com/office/drawing/2014/main" id="{AD6BDB17-D7D0-428C-8B7A-C60ACF44CD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169968" y="3388254"/>
            <a:ext cx="658536" cy="540000"/>
          </a:xfrm>
          <a:prstGeom prst="rect">
            <a:avLst/>
          </a:prstGeom>
        </p:spPr>
      </p:pic>
      <p:pic>
        <p:nvPicPr>
          <p:cNvPr id="23" name="图片 71">
            <a:extLst>
              <a:ext uri="{FF2B5EF4-FFF2-40B4-BE49-F238E27FC236}">
                <a16:creationId xmlns:a16="http://schemas.microsoft.com/office/drawing/2014/main" id="{EE2E1F9E-2C70-42A8-AAA1-C0BA8613BD5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962056" y="4099019"/>
            <a:ext cx="658536" cy="540000"/>
          </a:xfrm>
          <a:prstGeom prst="rect">
            <a:avLst/>
          </a:prstGeom>
        </p:spPr>
      </p:pic>
      <p:pic>
        <p:nvPicPr>
          <p:cNvPr id="24" name="图片 72">
            <a:extLst>
              <a:ext uri="{FF2B5EF4-FFF2-40B4-BE49-F238E27FC236}">
                <a16:creationId xmlns:a16="http://schemas.microsoft.com/office/drawing/2014/main" id="{35AAFFD3-13BF-47D1-8A81-CF9DABDD8CB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169968" y="4792410"/>
            <a:ext cx="658536" cy="540000"/>
          </a:xfrm>
          <a:prstGeom prst="rect">
            <a:avLst/>
          </a:prstGeom>
        </p:spPr>
      </p:pic>
      <p:pic>
        <p:nvPicPr>
          <p:cNvPr id="25" name="图片 73">
            <a:extLst>
              <a:ext uri="{FF2B5EF4-FFF2-40B4-BE49-F238E27FC236}">
                <a16:creationId xmlns:a16="http://schemas.microsoft.com/office/drawing/2014/main" id="{1A06EEB4-514B-4102-A286-062BD2A0E51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7114184" y="4099019"/>
            <a:ext cx="658536" cy="540000"/>
          </a:xfrm>
          <a:prstGeom prst="rect">
            <a:avLst/>
          </a:prstGeom>
        </p:spPr>
      </p:pic>
      <p:pic>
        <p:nvPicPr>
          <p:cNvPr id="26" name="图片 74">
            <a:extLst>
              <a:ext uri="{FF2B5EF4-FFF2-40B4-BE49-F238E27FC236}">
                <a16:creationId xmlns:a16="http://schemas.microsoft.com/office/drawing/2014/main" id="{E7C6EA06-BA22-43B2-A88E-2BCEECEC12A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518341" y="4099019"/>
            <a:ext cx="658537" cy="540000"/>
          </a:xfrm>
          <a:prstGeom prst="rect">
            <a:avLst/>
          </a:prstGeom>
        </p:spPr>
      </p:pic>
      <p:cxnSp>
        <p:nvCxnSpPr>
          <p:cNvPr id="27" name="直接连接符 75">
            <a:extLst>
              <a:ext uri="{FF2B5EF4-FFF2-40B4-BE49-F238E27FC236}">
                <a16:creationId xmlns:a16="http://schemas.microsoft.com/office/drawing/2014/main" id="{6B201141-8D76-4385-ADBB-76C1CB9C6918}"/>
              </a:ext>
            </a:extLst>
          </p:cNvPr>
          <p:cNvCxnSpPr>
            <a:stCxn id="13" idx="3"/>
            <a:endCxn id="20" idx="0"/>
          </p:cNvCxnSpPr>
          <p:nvPr/>
        </p:nvCxnSpPr>
        <p:spPr bwMode="gray">
          <a:xfrm>
            <a:off x="2793705" y="3352190"/>
            <a:ext cx="689309"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28" name="图片 76">
            <a:extLst>
              <a:ext uri="{FF2B5EF4-FFF2-40B4-BE49-F238E27FC236}">
                <a16:creationId xmlns:a16="http://schemas.microsoft.com/office/drawing/2014/main" id="{5DEC4BD3-9E90-49E1-B48B-42E475A9D5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25154" y="2956266"/>
            <a:ext cx="646714" cy="540000"/>
          </a:xfrm>
          <a:prstGeom prst="rect">
            <a:avLst/>
          </a:prstGeom>
        </p:spPr>
      </p:pic>
      <p:pic>
        <p:nvPicPr>
          <p:cNvPr id="29" name="图片 82">
            <a:extLst>
              <a:ext uri="{FF2B5EF4-FFF2-40B4-BE49-F238E27FC236}">
                <a16:creationId xmlns:a16="http://schemas.microsoft.com/office/drawing/2014/main" id="{1E384D5E-3EE5-4ACF-A32A-BBA0EC66A6F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25154" y="3991007"/>
            <a:ext cx="646714" cy="540000"/>
          </a:xfrm>
          <a:prstGeom prst="rect">
            <a:avLst/>
          </a:prstGeom>
        </p:spPr>
      </p:pic>
      <p:pic>
        <p:nvPicPr>
          <p:cNvPr id="30" name="图片 83">
            <a:extLst>
              <a:ext uri="{FF2B5EF4-FFF2-40B4-BE49-F238E27FC236}">
                <a16:creationId xmlns:a16="http://schemas.microsoft.com/office/drawing/2014/main" id="{B863C47C-7781-48CF-9167-BA0E039C7F2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9725154" y="4972430"/>
            <a:ext cx="646714" cy="540000"/>
          </a:xfrm>
          <a:prstGeom prst="rect">
            <a:avLst/>
          </a:prstGeom>
        </p:spPr>
      </p:pic>
      <p:cxnSp>
        <p:nvCxnSpPr>
          <p:cNvPr id="31" name="直接连接符 84">
            <a:extLst>
              <a:ext uri="{FF2B5EF4-FFF2-40B4-BE49-F238E27FC236}">
                <a16:creationId xmlns:a16="http://schemas.microsoft.com/office/drawing/2014/main" id="{EC47BDB7-B7E1-48B8-AF99-EDDB4B709C50}"/>
              </a:ext>
            </a:extLst>
          </p:cNvPr>
          <p:cNvCxnSpPr>
            <a:stCxn id="12" idx="3"/>
            <a:endCxn id="20" idx="1"/>
          </p:cNvCxnSpPr>
          <p:nvPr/>
        </p:nvCxnSpPr>
        <p:spPr bwMode="gray">
          <a:xfrm>
            <a:off x="2793705" y="4360302"/>
            <a:ext cx="360040"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2" name="直接连接符 85">
            <a:extLst>
              <a:ext uri="{FF2B5EF4-FFF2-40B4-BE49-F238E27FC236}">
                <a16:creationId xmlns:a16="http://schemas.microsoft.com/office/drawing/2014/main" id="{F83064E4-020B-4631-927F-CEA68545B8E1}"/>
              </a:ext>
            </a:extLst>
          </p:cNvPr>
          <p:cNvCxnSpPr>
            <a:stCxn id="11" idx="3"/>
            <a:endCxn id="20" idx="2"/>
          </p:cNvCxnSpPr>
          <p:nvPr/>
        </p:nvCxnSpPr>
        <p:spPr bwMode="gray">
          <a:xfrm flipV="1">
            <a:off x="2793705" y="4639019"/>
            <a:ext cx="689309"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86">
            <a:extLst>
              <a:ext uri="{FF2B5EF4-FFF2-40B4-BE49-F238E27FC236}">
                <a16:creationId xmlns:a16="http://schemas.microsoft.com/office/drawing/2014/main" id="{48CC86E3-A8DE-44D8-86D8-4BB118ED0D15}"/>
              </a:ext>
            </a:extLst>
          </p:cNvPr>
          <p:cNvCxnSpPr>
            <a:stCxn id="20" idx="3"/>
            <a:endCxn id="21" idx="1"/>
          </p:cNvCxnSpPr>
          <p:nvPr/>
        </p:nvCxnSpPr>
        <p:spPr bwMode="gray">
          <a:xfrm>
            <a:off x="3812282" y="4369019"/>
            <a:ext cx="52959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87">
            <a:extLst>
              <a:ext uri="{FF2B5EF4-FFF2-40B4-BE49-F238E27FC236}">
                <a16:creationId xmlns:a16="http://schemas.microsoft.com/office/drawing/2014/main" id="{A2767C5C-78E0-4ED0-A2CA-A9E0C4F50B82}"/>
              </a:ext>
            </a:extLst>
          </p:cNvPr>
          <p:cNvCxnSpPr>
            <a:stCxn id="21" idx="0"/>
            <a:endCxn id="22" idx="1"/>
          </p:cNvCxnSpPr>
          <p:nvPr/>
        </p:nvCxnSpPr>
        <p:spPr bwMode="gray">
          <a:xfrm flipV="1">
            <a:off x="4671144" y="3658254"/>
            <a:ext cx="498824"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5" name="直接连接符 92">
            <a:extLst>
              <a:ext uri="{FF2B5EF4-FFF2-40B4-BE49-F238E27FC236}">
                <a16:creationId xmlns:a16="http://schemas.microsoft.com/office/drawing/2014/main" id="{6D94970A-7D12-4F97-A398-80C99DE42ED3}"/>
              </a:ext>
            </a:extLst>
          </p:cNvPr>
          <p:cNvCxnSpPr>
            <a:stCxn id="22" idx="3"/>
            <a:endCxn id="23" idx="0"/>
          </p:cNvCxnSpPr>
          <p:nvPr/>
        </p:nvCxnSpPr>
        <p:spPr bwMode="gray">
          <a:xfrm>
            <a:off x="5828504" y="3658254"/>
            <a:ext cx="462820" cy="44076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6" name="直接连接符 94">
            <a:extLst>
              <a:ext uri="{FF2B5EF4-FFF2-40B4-BE49-F238E27FC236}">
                <a16:creationId xmlns:a16="http://schemas.microsoft.com/office/drawing/2014/main" id="{B23DB67E-1127-4B37-84B2-3AA477EA08AB}"/>
              </a:ext>
            </a:extLst>
          </p:cNvPr>
          <p:cNvCxnSpPr>
            <a:stCxn id="24" idx="3"/>
            <a:endCxn id="23" idx="2"/>
          </p:cNvCxnSpPr>
          <p:nvPr/>
        </p:nvCxnSpPr>
        <p:spPr bwMode="gray">
          <a:xfrm flipV="1">
            <a:off x="5828504" y="4639019"/>
            <a:ext cx="462820"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直接连接符 117">
            <a:extLst>
              <a:ext uri="{FF2B5EF4-FFF2-40B4-BE49-F238E27FC236}">
                <a16:creationId xmlns:a16="http://schemas.microsoft.com/office/drawing/2014/main" id="{B857EFF8-FD76-497E-9EEF-789EB60BD55D}"/>
              </a:ext>
            </a:extLst>
          </p:cNvPr>
          <p:cNvCxnSpPr>
            <a:stCxn id="25" idx="3"/>
            <a:endCxn id="26" idx="1"/>
          </p:cNvCxnSpPr>
          <p:nvPr/>
        </p:nvCxnSpPr>
        <p:spPr bwMode="gray">
          <a:xfrm>
            <a:off x="7772720" y="4369019"/>
            <a:ext cx="74562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8" name="文本框 122">
            <a:extLst>
              <a:ext uri="{FF2B5EF4-FFF2-40B4-BE49-F238E27FC236}">
                <a16:creationId xmlns:a16="http://schemas.microsoft.com/office/drawing/2014/main" id="{A9E4B94F-BBD9-484F-8133-6BA3BCFC3C67}"/>
              </a:ext>
            </a:extLst>
          </p:cNvPr>
          <p:cNvSpPr txBox="1"/>
          <p:nvPr/>
        </p:nvSpPr>
        <p:spPr bwMode="gray">
          <a:xfrm>
            <a:off x="9780315" y="3496206"/>
            <a:ext cx="53639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视频</a:t>
            </a:r>
          </a:p>
        </p:txBody>
      </p:sp>
      <p:sp>
        <p:nvSpPr>
          <p:cNvPr id="39" name="文本框 123">
            <a:extLst>
              <a:ext uri="{FF2B5EF4-FFF2-40B4-BE49-F238E27FC236}">
                <a16:creationId xmlns:a16="http://schemas.microsoft.com/office/drawing/2014/main" id="{8023EFDF-2117-4FCC-88B7-B4540EFA32EC}"/>
              </a:ext>
            </a:extLst>
          </p:cNvPr>
          <p:cNvSpPr txBox="1"/>
          <p:nvPr/>
        </p:nvSpPr>
        <p:spPr bwMode="gray">
          <a:xfrm>
            <a:off x="9780315" y="4524251"/>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语音</a:t>
            </a:r>
          </a:p>
        </p:txBody>
      </p:sp>
      <p:sp>
        <p:nvSpPr>
          <p:cNvPr id="40" name="文本框 124">
            <a:extLst>
              <a:ext uri="{FF2B5EF4-FFF2-40B4-BE49-F238E27FC236}">
                <a16:creationId xmlns:a16="http://schemas.microsoft.com/office/drawing/2014/main" id="{6B386DA2-756B-4F0D-BC43-E29BE92ACD41}"/>
              </a:ext>
            </a:extLst>
          </p:cNvPr>
          <p:cNvSpPr txBox="1"/>
          <p:nvPr/>
        </p:nvSpPr>
        <p:spPr bwMode="gray">
          <a:xfrm>
            <a:off x="9780315" y="5532363"/>
            <a:ext cx="53639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a:r>
              <a:rPr lang="zh-CN" altLang="en-US" sz="1400" dirty="0">
                <a:latin typeface="Huawei Sans" panose="020C0503030203020204" pitchFamily="34" charset="0"/>
                <a:ea typeface="方正兰亭黑简体" panose="02000000000000000000" pitchFamily="2" charset="-122"/>
              </a:rPr>
              <a:t>数据</a:t>
            </a:r>
          </a:p>
        </p:txBody>
      </p:sp>
      <p:cxnSp>
        <p:nvCxnSpPr>
          <p:cNvPr id="41" name="直接连接符 134">
            <a:extLst>
              <a:ext uri="{FF2B5EF4-FFF2-40B4-BE49-F238E27FC236}">
                <a16:creationId xmlns:a16="http://schemas.microsoft.com/office/drawing/2014/main" id="{92FC94F3-55BF-40D9-AB3B-0EFF656BF252}"/>
              </a:ext>
            </a:extLst>
          </p:cNvPr>
          <p:cNvCxnSpPr>
            <a:stCxn id="26" idx="0"/>
            <a:endCxn id="9" idx="1"/>
          </p:cNvCxnSpPr>
          <p:nvPr/>
        </p:nvCxnSpPr>
        <p:spPr bwMode="gray">
          <a:xfrm flipV="1">
            <a:off x="8847610" y="3352190"/>
            <a:ext cx="678843" cy="74682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135">
            <a:extLst>
              <a:ext uri="{FF2B5EF4-FFF2-40B4-BE49-F238E27FC236}">
                <a16:creationId xmlns:a16="http://schemas.microsoft.com/office/drawing/2014/main" id="{84000C76-8F8E-447F-BC4E-99B8A1EE2718}"/>
              </a:ext>
            </a:extLst>
          </p:cNvPr>
          <p:cNvCxnSpPr>
            <a:stCxn id="26" idx="3"/>
            <a:endCxn id="8" idx="1"/>
          </p:cNvCxnSpPr>
          <p:nvPr/>
        </p:nvCxnSpPr>
        <p:spPr bwMode="gray">
          <a:xfrm flipV="1">
            <a:off x="9176878" y="4360302"/>
            <a:ext cx="349575"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136">
            <a:extLst>
              <a:ext uri="{FF2B5EF4-FFF2-40B4-BE49-F238E27FC236}">
                <a16:creationId xmlns:a16="http://schemas.microsoft.com/office/drawing/2014/main" id="{2F469A81-97BA-46A2-B829-EE845DBBD393}"/>
              </a:ext>
            </a:extLst>
          </p:cNvPr>
          <p:cNvCxnSpPr>
            <a:stCxn id="26" idx="2"/>
            <a:endCxn id="7" idx="1"/>
          </p:cNvCxnSpPr>
          <p:nvPr/>
        </p:nvCxnSpPr>
        <p:spPr bwMode="gray">
          <a:xfrm>
            <a:off x="8847610" y="4639019"/>
            <a:ext cx="678843" cy="72939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4" name="圆角矩形 141">
            <a:extLst>
              <a:ext uri="{FF2B5EF4-FFF2-40B4-BE49-F238E27FC236}">
                <a16:creationId xmlns:a16="http://schemas.microsoft.com/office/drawing/2014/main" id="{0566E3D1-3EE5-45D8-998E-2F1DF3355854}"/>
              </a:ext>
            </a:extLst>
          </p:cNvPr>
          <p:cNvSpPr/>
          <p:nvPr/>
        </p:nvSpPr>
        <p:spPr bwMode="gray">
          <a:xfrm>
            <a:off x="2901716" y="5559100"/>
            <a:ext cx="91056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sp>
        <p:nvSpPr>
          <p:cNvPr id="45" name="圆角矩形 143">
            <a:extLst>
              <a:ext uri="{FF2B5EF4-FFF2-40B4-BE49-F238E27FC236}">
                <a16:creationId xmlns:a16="http://schemas.microsoft.com/office/drawing/2014/main" id="{38FDC859-DE4B-4BD1-BA58-4742F81908EA}"/>
              </a:ext>
            </a:extLst>
          </p:cNvPr>
          <p:cNvSpPr/>
          <p:nvPr/>
        </p:nvSpPr>
        <p:spPr bwMode="gray">
          <a:xfrm>
            <a:off x="5452930" y="5559100"/>
            <a:ext cx="1049187"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lang="zh-CN" altLang="en-US" sz="1600" b="1" dirty="0">
                <a:latin typeface="Huawei Sans" panose="020C0503030203020204" pitchFamily="34" charset="0"/>
                <a:ea typeface="方正兰亭黑简体" panose="02000000000000000000" pitchFamily="2" charset="-122"/>
              </a:rPr>
              <a:t>广</a:t>
            </a: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域网</a:t>
            </a:r>
          </a:p>
        </p:txBody>
      </p:sp>
      <p:sp>
        <p:nvSpPr>
          <p:cNvPr id="46" name="圆角矩形 145">
            <a:extLst>
              <a:ext uri="{FF2B5EF4-FFF2-40B4-BE49-F238E27FC236}">
                <a16:creationId xmlns:a16="http://schemas.microsoft.com/office/drawing/2014/main" id="{DD544C2F-0D23-4AEB-AE15-0A1FD01DEFE9}"/>
              </a:ext>
            </a:extLst>
          </p:cNvPr>
          <p:cNvSpPr/>
          <p:nvPr/>
        </p:nvSpPr>
        <p:spPr bwMode="gray">
          <a:xfrm>
            <a:off x="8518341" y="5559100"/>
            <a:ext cx="864096" cy="325352"/>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局域网</a:t>
            </a:r>
          </a:p>
        </p:txBody>
      </p:sp>
      <p:sp>
        <p:nvSpPr>
          <p:cNvPr id="49" name="Oval 41">
            <a:extLst>
              <a:ext uri="{FF2B5EF4-FFF2-40B4-BE49-F238E27FC236}">
                <a16:creationId xmlns:a16="http://schemas.microsoft.com/office/drawing/2014/main" id="{FCDCF062-5799-45BA-A30B-2A067C00331B}"/>
              </a:ext>
            </a:extLst>
          </p:cNvPr>
          <p:cNvSpPr>
            <a:spLocks noChangeAspect="1"/>
          </p:cNvSpPr>
          <p:nvPr/>
        </p:nvSpPr>
        <p:spPr bwMode="gray">
          <a:xfrm>
            <a:off x="4609398" y="4019352"/>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0" name="Rectangular Callout 52">
            <a:extLst>
              <a:ext uri="{FF2B5EF4-FFF2-40B4-BE49-F238E27FC236}">
                <a16:creationId xmlns:a16="http://schemas.microsoft.com/office/drawing/2014/main" id="{1577EEF9-9FBB-43B6-B10C-5E5DE699E358}"/>
              </a:ext>
            </a:extLst>
          </p:cNvPr>
          <p:cNvSpPr/>
          <p:nvPr/>
        </p:nvSpPr>
        <p:spPr bwMode="gray">
          <a:xfrm>
            <a:off x="3476928" y="2879723"/>
            <a:ext cx="1457961" cy="798820"/>
          </a:xfrm>
          <a:prstGeom prst="wedgeRectCallout">
            <a:avLst>
              <a:gd name="adj1" fmla="val 31692"/>
              <a:gd name="adj2" fmla="val 8649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接口出方向</a:t>
            </a:r>
            <a:endParaRPr lang="en-US" altLang="zh-CN" sz="1200" dirty="0">
              <a:solidFill>
                <a:schemeClr val="tx1"/>
              </a:solidFill>
              <a:latin typeface="Huawei Sans" panose="020C0503030203020204" pitchFamily="34" charset="0"/>
              <a:ea typeface="方正兰亭黑简体" panose="02000000000000000000" pitchFamily="2" charset="-122"/>
            </a:endParaRPr>
          </a:p>
          <a:p>
            <a:pPr algn="ctr"/>
            <a:r>
              <a:rPr lang="zh-CN" altLang="en-US" sz="1200" dirty="0">
                <a:solidFill>
                  <a:schemeClr val="tx1"/>
                </a:solidFill>
                <a:latin typeface="Huawei Sans" panose="020C0503030203020204" pitchFamily="34" charset="0"/>
                <a:ea typeface="方正兰亭黑简体" panose="02000000000000000000" pitchFamily="2" charset="-122"/>
              </a:rPr>
              <a:t>部署</a:t>
            </a:r>
            <a:r>
              <a:rPr lang="en-US" altLang="zh-CN" sz="1200" dirty="0">
                <a:solidFill>
                  <a:schemeClr val="tx1"/>
                </a:solidFill>
                <a:latin typeface="Huawei Sans" panose="020C0503030203020204" pitchFamily="34" charset="0"/>
                <a:ea typeface="方正兰亭黑简体" panose="02000000000000000000" pitchFamily="2" charset="-122"/>
              </a:rPr>
              <a:t>QoS</a:t>
            </a:r>
            <a:r>
              <a:rPr lang="zh-CN" altLang="en-US" sz="1200" dirty="0">
                <a:solidFill>
                  <a:schemeClr val="tx1"/>
                </a:solidFill>
                <a:latin typeface="Huawei Sans" panose="020C0503030203020204" pitchFamily="34" charset="0"/>
                <a:ea typeface="方正兰亭黑简体" panose="02000000000000000000" pitchFamily="2" charset="-122"/>
              </a:rPr>
              <a:t>，实现</a:t>
            </a:r>
            <a:r>
              <a:rPr lang="zh-CN" altLang="en-US" sz="1200" dirty="0">
                <a:solidFill>
                  <a:srgbClr val="C7000B"/>
                </a:solidFill>
                <a:latin typeface="Huawei Sans" panose="020C0503030203020204" pitchFamily="34" charset="0"/>
                <a:ea typeface="方正兰亭黑简体" panose="02000000000000000000" pitchFamily="2" charset="-122"/>
              </a:rPr>
              <a:t>流量限速，高优先级流量先行</a:t>
            </a:r>
            <a:r>
              <a:rPr lang="zh-CN" altLang="en-US" sz="1200" dirty="0">
                <a:solidFill>
                  <a:schemeClr val="tx1"/>
                </a:solidFill>
                <a:latin typeface="Huawei Sans" panose="020C0503030203020204" pitchFamily="34" charset="0"/>
                <a:ea typeface="方正兰亭黑简体" panose="02000000000000000000" pitchFamily="2" charset="-122"/>
              </a:rPr>
              <a:t>等诉求</a:t>
            </a:r>
          </a:p>
        </p:txBody>
      </p:sp>
      <p:cxnSp>
        <p:nvCxnSpPr>
          <p:cNvPr id="51" name="直接连接符 94">
            <a:extLst>
              <a:ext uri="{FF2B5EF4-FFF2-40B4-BE49-F238E27FC236}">
                <a16:creationId xmlns:a16="http://schemas.microsoft.com/office/drawing/2014/main" id="{B69ACAD2-EC48-4862-A814-88A22DE1C518}"/>
              </a:ext>
            </a:extLst>
          </p:cNvPr>
          <p:cNvCxnSpPr>
            <a:cxnSpLocks/>
            <a:stCxn id="24" idx="1"/>
            <a:endCxn id="21" idx="2"/>
          </p:cNvCxnSpPr>
          <p:nvPr/>
        </p:nvCxnSpPr>
        <p:spPr bwMode="gray">
          <a:xfrm flipH="1" flipV="1">
            <a:off x="4671144" y="4639019"/>
            <a:ext cx="498824" cy="42339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2" name="圆角矩形 75">
            <a:extLst>
              <a:ext uri="{FF2B5EF4-FFF2-40B4-BE49-F238E27FC236}">
                <a16:creationId xmlns:a16="http://schemas.microsoft.com/office/drawing/2014/main" id="{F7111E70-838F-4723-B445-AF801FECFDC2}"/>
              </a:ext>
            </a:extLst>
          </p:cNvPr>
          <p:cNvSpPr/>
          <p:nvPr/>
        </p:nvSpPr>
        <p:spPr bwMode="gray">
          <a:xfrm>
            <a:off x="562962" y="2576653"/>
            <a:ext cx="11055665" cy="349453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53" name="圆角矩形 75">
            <a:extLst>
              <a:ext uri="{FF2B5EF4-FFF2-40B4-BE49-F238E27FC236}">
                <a16:creationId xmlns:a16="http://schemas.microsoft.com/office/drawing/2014/main" id="{F1F5B474-4E15-441D-9A90-7D2191D761C7}"/>
              </a:ext>
            </a:extLst>
          </p:cNvPr>
          <p:cNvSpPr/>
          <p:nvPr/>
        </p:nvSpPr>
        <p:spPr bwMode="gray">
          <a:xfrm>
            <a:off x="561511" y="2148454"/>
            <a:ext cx="11084429"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rPr>
              <a:t>QoS</a:t>
            </a:r>
            <a:r>
              <a:rPr lang="zh-CN" altLang="en-US" sz="1600" dirty="0">
                <a:solidFill>
                  <a:srgbClr val="30B5C5"/>
                </a:solidFill>
                <a:latin typeface="Huawei Sans" panose="020C0503030203020204" pitchFamily="34" charset="0"/>
                <a:ea typeface="方正兰亭黑简体" panose="02000000000000000000" pitchFamily="2" charset="-122"/>
              </a:rPr>
              <a:t>应用场景</a:t>
            </a:r>
          </a:p>
        </p:txBody>
      </p:sp>
    </p:spTree>
    <p:extLst>
      <p:ext uri="{BB962C8B-B14F-4D97-AF65-F5344CB8AC3E}">
        <p14:creationId xmlns:p14="http://schemas.microsoft.com/office/powerpoint/2010/main" val="26499293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概述</a:t>
            </a:r>
          </a:p>
        </p:txBody>
      </p:sp>
      <p:sp>
        <p:nvSpPr>
          <p:cNvPr id="3" name="Text Placeholder 2"/>
          <p:cNvSpPr>
            <a:spLocks noGrp="1"/>
          </p:cNvSpPr>
          <p:nvPr>
            <p:ph type="body" sz="quarter" idx="10"/>
          </p:nvPr>
        </p:nvSpPr>
        <p:spPr bwMode="gray"/>
        <p:txBody>
          <a:bodyPr/>
          <a:lstStyle/>
          <a:p>
            <a:r>
              <a:rPr lang="zh-CN" altLang="en-US" sz="1800" dirty="0"/>
              <a:t>传统的</a:t>
            </a:r>
            <a:r>
              <a:rPr lang="en-US" altLang="zh-CN" sz="1800" dirty="0"/>
              <a:t>QoS</a:t>
            </a:r>
            <a:r>
              <a:rPr lang="zh-CN" altLang="en-US" sz="1800" dirty="0"/>
              <a:t>基于接口进行流量调度，单个接口只能区分业务优先级，只要属于同一优先级的流量，就使用同一个端口队列，彼此之间竞争同一个队列资源。因此，传统的</a:t>
            </a:r>
            <a:r>
              <a:rPr lang="en-US" altLang="zh-CN" sz="1800" dirty="0"/>
              <a:t>QoS</a:t>
            </a:r>
            <a:r>
              <a:rPr lang="zh-CN" altLang="en-US" sz="1800" dirty="0"/>
              <a:t>无法对接口上多个用户的多个流量进行区分服务。</a:t>
            </a:r>
            <a:endParaRPr lang="en-US" altLang="zh-CN" sz="1800" dirty="0"/>
          </a:p>
          <a:p>
            <a:r>
              <a:rPr lang="en-US" altLang="zh-CN" sz="1800" dirty="0"/>
              <a:t>HQoS</a:t>
            </a:r>
            <a:r>
              <a:rPr lang="zh-CN" altLang="en-US" sz="1800" dirty="0"/>
              <a:t>基于多级队列实现层次化调度，不仅区分了业务，也区分了用户，实现了精细化的</a:t>
            </a:r>
            <a:r>
              <a:rPr lang="en-US" altLang="zh-CN" sz="1800" dirty="0"/>
              <a:t>QoS</a:t>
            </a:r>
            <a:r>
              <a:rPr lang="zh-CN" altLang="en-US" sz="1800" dirty="0"/>
              <a:t>服务。</a:t>
            </a:r>
            <a:endParaRPr lang="en-US" altLang="zh-CN" sz="1800" dirty="0"/>
          </a:p>
        </p:txBody>
      </p:sp>
      <p:sp>
        <p:nvSpPr>
          <p:cNvPr id="4" name="圆角矩形 75">
            <a:extLst>
              <a:ext uri="{FF2B5EF4-FFF2-40B4-BE49-F238E27FC236}">
                <a16:creationId xmlns:a16="http://schemas.microsoft.com/office/drawing/2014/main" id="{87461A01-905F-485F-A179-3EDBF31F5375}"/>
              </a:ext>
            </a:extLst>
          </p:cNvPr>
          <p:cNvSpPr/>
          <p:nvPr/>
        </p:nvSpPr>
        <p:spPr bwMode="gray">
          <a:xfrm>
            <a:off x="690664" y="3244186"/>
            <a:ext cx="10836613" cy="288840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家宽场景下，不同的家庭可能会租用不同的网络带宽和不同的网络服务，</a:t>
            </a:r>
            <a:r>
              <a:rPr lang="en-US" altLang="zh-CN" sz="1400" dirty="0">
                <a:solidFill>
                  <a:prstClr val="black"/>
                </a:solidFill>
                <a:sym typeface="Huawei Sans" panose="020C0503030203020204" pitchFamily="34" charset="0"/>
              </a:rPr>
              <a:t>QoS</a:t>
            </a:r>
            <a:r>
              <a:rPr lang="zh-CN" altLang="en-US" sz="1400" dirty="0">
                <a:solidFill>
                  <a:prstClr val="black"/>
                </a:solidFill>
                <a:sym typeface="Huawei Sans" panose="020C0503030203020204" pitchFamily="34" charset="0"/>
              </a:rPr>
              <a:t>无法精细化的管理这些家庭。</a:t>
            </a:r>
          </a:p>
        </p:txBody>
      </p:sp>
      <p:sp>
        <p:nvSpPr>
          <p:cNvPr id="5" name="圆角矩形 75">
            <a:extLst>
              <a:ext uri="{FF2B5EF4-FFF2-40B4-BE49-F238E27FC236}">
                <a16:creationId xmlns:a16="http://schemas.microsoft.com/office/drawing/2014/main" id="{ED7DF836-6AD9-482B-AF00-52D5AAA91B24}"/>
              </a:ext>
            </a:extLst>
          </p:cNvPr>
          <p:cNvSpPr/>
          <p:nvPr/>
        </p:nvSpPr>
        <p:spPr bwMode="gray">
          <a:xfrm>
            <a:off x="686441" y="2815987"/>
            <a:ext cx="10864807"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rPr>
              <a:t>多租户场景下的</a:t>
            </a:r>
            <a:r>
              <a:rPr lang="en-US" altLang="zh-CN" sz="1600" dirty="0">
                <a:solidFill>
                  <a:srgbClr val="30B5C5"/>
                </a:solidFill>
                <a:latin typeface="Huawei Sans" panose="020C0503030203020204" pitchFamily="34" charset="0"/>
                <a:ea typeface="方正兰亭黑简体" panose="02000000000000000000" pitchFamily="2" charset="-122"/>
              </a:rPr>
              <a:t>QoS</a:t>
            </a:r>
            <a:r>
              <a:rPr lang="zh-CN" altLang="en-US" sz="1600" dirty="0">
                <a:solidFill>
                  <a:srgbClr val="30B5C5"/>
                </a:solidFill>
                <a:latin typeface="Huawei Sans" panose="020C0503030203020204" pitchFamily="34" charset="0"/>
                <a:ea typeface="方正兰亭黑简体" panose="02000000000000000000" pitchFamily="2" charset="-122"/>
              </a:rPr>
              <a:t>局限</a:t>
            </a:r>
          </a:p>
        </p:txBody>
      </p:sp>
      <p:sp>
        <p:nvSpPr>
          <p:cNvPr id="6" name="Freeform 159">
            <a:extLst>
              <a:ext uri="{FF2B5EF4-FFF2-40B4-BE49-F238E27FC236}">
                <a16:creationId xmlns:a16="http://schemas.microsoft.com/office/drawing/2014/main" id="{BBB6E3E0-47DB-4523-8D85-39CA4C80AC20}"/>
              </a:ext>
            </a:extLst>
          </p:cNvPr>
          <p:cNvSpPr/>
          <p:nvPr/>
        </p:nvSpPr>
        <p:spPr bwMode="gray">
          <a:xfrm flipH="1">
            <a:off x="2096330" y="3412519"/>
            <a:ext cx="1684767" cy="810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Freeform 159">
            <a:extLst>
              <a:ext uri="{FF2B5EF4-FFF2-40B4-BE49-F238E27FC236}">
                <a16:creationId xmlns:a16="http://schemas.microsoft.com/office/drawing/2014/main" id="{50BFEB29-3DD2-427B-A9E2-EB71D651CEB1}"/>
              </a:ext>
            </a:extLst>
          </p:cNvPr>
          <p:cNvSpPr/>
          <p:nvPr/>
        </p:nvSpPr>
        <p:spPr bwMode="gray">
          <a:xfrm flipH="1">
            <a:off x="2096331" y="4521379"/>
            <a:ext cx="1684767" cy="810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6" descr="PC.png">
            <a:extLst>
              <a:ext uri="{FF2B5EF4-FFF2-40B4-BE49-F238E27FC236}">
                <a16:creationId xmlns:a16="http://schemas.microsoft.com/office/drawing/2014/main" id="{C09410A1-5434-49CB-9E60-FD465D4A5346}"/>
              </a:ext>
            </a:extLst>
          </p:cNvPr>
          <p:cNvPicPr>
            <a:picLocks noChangeAspect="1"/>
          </p:cNvPicPr>
          <p:nvPr/>
        </p:nvPicPr>
        <p:blipFill>
          <a:blip r:embed="rId3" cstate="print"/>
          <a:stretch>
            <a:fillRect/>
          </a:stretch>
        </p:blipFill>
        <p:spPr bwMode="gray">
          <a:xfrm>
            <a:off x="2166051" y="3652966"/>
            <a:ext cx="538853" cy="413838"/>
          </a:xfrm>
          <a:prstGeom prst="rect">
            <a:avLst/>
          </a:prstGeom>
        </p:spPr>
      </p:pic>
      <p:pic>
        <p:nvPicPr>
          <p:cNvPr id="10" name="图片 6" descr="PC.png">
            <a:extLst>
              <a:ext uri="{FF2B5EF4-FFF2-40B4-BE49-F238E27FC236}">
                <a16:creationId xmlns:a16="http://schemas.microsoft.com/office/drawing/2014/main" id="{C4DE8A0B-9E0F-4E60-A223-289DCA7FDF3D}"/>
              </a:ext>
            </a:extLst>
          </p:cNvPr>
          <p:cNvPicPr>
            <a:picLocks noChangeAspect="1"/>
          </p:cNvPicPr>
          <p:nvPr/>
        </p:nvPicPr>
        <p:blipFill>
          <a:blip r:embed="rId3" cstate="print"/>
          <a:stretch>
            <a:fillRect/>
          </a:stretch>
        </p:blipFill>
        <p:spPr bwMode="gray">
          <a:xfrm>
            <a:off x="2172975" y="4491992"/>
            <a:ext cx="538853" cy="413838"/>
          </a:xfrm>
          <a:prstGeom prst="rect">
            <a:avLst/>
          </a:prstGeom>
        </p:spPr>
      </p:pic>
      <p:pic>
        <p:nvPicPr>
          <p:cNvPr id="12" name="图片 38" descr="企业-蓝.png">
            <a:extLst>
              <a:ext uri="{FF2B5EF4-FFF2-40B4-BE49-F238E27FC236}">
                <a16:creationId xmlns:a16="http://schemas.microsoft.com/office/drawing/2014/main" id="{2737E1CC-559A-4F0D-946A-7B63B91303ED}"/>
              </a:ext>
            </a:extLst>
          </p:cNvPr>
          <p:cNvPicPr>
            <a:picLocks noChangeAspect="1"/>
          </p:cNvPicPr>
          <p:nvPr/>
        </p:nvPicPr>
        <p:blipFill>
          <a:blip r:embed="rId4" cstate="print"/>
          <a:stretch>
            <a:fillRect/>
          </a:stretch>
        </p:blipFill>
        <p:spPr bwMode="gray">
          <a:xfrm>
            <a:off x="3277718" y="3659811"/>
            <a:ext cx="539607" cy="441817"/>
          </a:xfrm>
          <a:prstGeom prst="rect">
            <a:avLst/>
          </a:prstGeom>
        </p:spPr>
      </p:pic>
      <p:pic>
        <p:nvPicPr>
          <p:cNvPr id="13" name="图片 38" descr="企业-蓝.png">
            <a:extLst>
              <a:ext uri="{FF2B5EF4-FFF2-40B4-BE49-F238E27FC236}">
                <a16:creationId xmlns:a16="http://schemas.microsoft.com/office/drawing/2014/main" id="{0C78D927-EECC-445E-8384-E13BE7543920}"/>
              </a:ext>
            </a:extLst>
          </p:cNvPr>
          <p:cNvPicPr>
            <a:picLocks noChangeAspect="1"/>
          </p:cNvPicPr>
          <p:nvPr/>
        </p:nvPicPr>
        <p:blipFill>
          <a:blip r:embed="rId4" cstate="print"/>
          <a:stretch>
            <a:fillRect/>
          </a:stretch>
        </p:blipFill>
        <p:spPr bwMode="gray">
          <a:xfrm>
            <a:off x="3277718" y="4797535"/>
            <a:ext cx="539607" cy="441817"/>
          </a:xfrm>
          <a:prstGeom prst="rect">
            <a:avLst/>
          </a:prstGeom>
        </p:spPr>
      </p:pic>
      <p:pic>
        <p:nvPicPr>
          <p:cNvPr id="15" name="图片 6" descr="PC.png">
            <a:extLst>
              <a:ext uri="{FF2B5EF4-FFF2-40B4-BE49-F238E27FC236}">
                <a16:creationId xmlns:a16="http://schemas.microsoft.com/office/drawing/2014/main" id="{B983CFF4-D125-425C-AF03-11A1CD3A8A89}"/>
              </a:ext>
            </a:extLst>
          </p:cNvPr>
          <p:cNvPicPr>
            <a:picLocks noChangeAspect="1"/>
          </p:cNvPicPr>
          <p:nvPr/>
        </p:nvPicPr>
        <p:blipFill>
          <a:blip r:embed="rId3" cstate="print"/>
          <a:stretch>
            <a:fillRect/>
          </a:stretch>
        </p:blipFill>
        <p:spPr bwMode="gray">
          <a:xfrm>
            <a:off x="2184216" y="5046423"/>
            <a:ext cx="538853" cy="413838"/>
          </a:xfrm>
          <a:prstGeom prst="rect">
            <a:avLst/>
          </a:prstGeom>
        </p:spPr>
      </p:pic>
      <p:sp>
        <p:nvSpPr>
          <p:cNvPr id="17" name="Freeform 159">
            <a:extLst>
              <a:ext uri="{FF2B5EF4-FFF2-40B4-BE49-F238E27FC236}">
                <a16:creationId xmlns:a16="http://schemas.microsoft.com/office/drawing/2014/main" id="{0EBC13FF-C095-4416-93EF-E99A359AA437}"/>
              </a:ext>
            </a:extLst>
          </p:cNvPr>
          <p:cNvSpPr/>
          <p:nvPr/>
        </p:nvSpPr>
        <p:spPr bwMode="gray">
          <a:xfrm flipH="1">
            <a:off x="7437257" y="4309806"/>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Picture 2" descr="G:\做的项目\公共\扁平图标切换\更新2015_01_21\oss扁平图标库2015_01_21更新-04.png">
            <a:extLst>
              <a:ext uri="{FF2B5EF4-FFF2-40B4-BE49-F238E27FC236}">
                <a16:creationId xmlns:a16="http://schemas.microsoft.com/office/drawing/2014/main" id="{CD3289A1-9BD7-4C8D-9854-D63350E4D0B4}"/>
              </a:ext>
            </a:extLst>
          </p:cNvPr>
          <p:cNvPicPr>
            <a:picLocks noChangeAspect="1" noChangeArrowheads="1"/>
          </p:cNvPicPr>
          <p:nvPr/>
        </p:nvPicPr>
        <p:blipFill>
          <a:blip r:embed="rId5" cstate="print"/>
          <a:stretch>
            <a:fillRect/>
          </a:stretch>
        </p:blipFill>
        <p:spPr bwMode="gray">
          <a:xfrm>
            <a:off x="7389852" y="4797535"/>
            <a:ext cx="540989" cy="442626"/>
          </a:xfrm>
          <a:prstGeom prst="rect">
            <a:avLst/>
          </a:prstGeom>
          <a:noFill/>
        </p:spPr>
      </p:pic>
      <p:cxnSp>
        <p:nvCxnSpPr>
          <p:cNvPr id="19" name="直接连接符 75">
            <a:extLst>
              <a:ext uri="{FF2B5EF4-FFF2-40B4-BE49-F238E27FC236}">
                <a16:creationId xmlns:a16="http://schemas.microsoft.com/office/drawing/2014/main" id="{64F19849-0CD6-4982-86C1-F9A5B09229C3}"/>
              </a:ext>
            </a:extLst>
          </p:cNvPr>
          <p:cNvCxnSpPr>
            <a:stCxn id="12" idx="3"/>
            <a:endCxn id="18" idx="1"/>
          </p:cNvCxnSpPr>
          <p:nvPr/>
        </p:nvCxnSpPr>
        <p:spPr bwMode="gray">
          <a:xfrm>
            <a:off x="3817325" y="3880720"/>
            <a:ext cx="3572527" cy="113812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直接连接符 75">
            <a:extLst>
              <a:ext uri="{FF2B5EF4-FFF2-40B4-BE49-F238E27FC236}">
                <a16:creationId xmlns:a16="http://schemas.microsoft.com/office/drawing/2014/main" id="{5FDF8E3C-9BD0-4832-845F-C871B477612B}"/>
              </a:ext>
            </a:extLst>
          </p:cNvPr>
          <p:cNvCxnSpPr>
            <a:stCxn id="13" idx="3"/>
            <a:endCxn id="18" idx="1"/>
          </p:cNvCxnSpPr>
          <p:nvPr/>
        </p:nvCxnSpPr>
        <p:spPr bwMode="gray">
          <a:xfrm>
            <a:off x="3817325" y="5018444"/>
            <a:ext cx="3572527" cy="40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 name="TextBox 120">
            <a:extLst>
              <a:ext uri="{FF2B5EF4-FFF2-40B4-BE49-F238E27FC236}">
                <a16:creationId xmlns:a16="http://schemas.microsoft.com/office/drawing/2014/main" id="{879543A0-123B-4598-8D13-7D6ACAD54559}"/>
              </a:ext>
            </a:extLst>
          </p:cNvPr>
          <p:cNvSpPr txBox="1"/>
          <p:nvPr/>
        </p:nvSpPr>
        <p:spPr bwMode="gray">
          <a:xfrm rot="1102153">
            <a:off x="4269648" y="3756758"/>
            <a:ext cx="2973648" cy="671334"/>
          </a:xfrm>
          <a:prstGeom prst="roundRect">
            <a:avLst>
              <a:gd name="adj" fmla="val 6721"/>
            </a:avLst>
          </a:prstGeom>
          <a:solidFill>
            <a:srgbClr val="F4FBFE"/>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个租户，租用</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20 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带宽，订购上网业务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个租户，租用</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30 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带宽，订购</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IPTV</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个租户，租用</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50 M</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带宽，订购</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VoIP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业务</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Picture 2" descr="G:\做的项目\公共\扁平图标切换\更新2015_01_21\oss扁平图标库2015_01_21更新-04.png">
            <a:extLst>
              <a:ext uri="{FF2B5EF4-FFF2-40B4-BE49-F238E27FC236}">
                <a16:creationId xmlns:a16="http://schemas.microsoft.com/office/drawing/2014/main" id="{1133B3B2-7188-42CF-B634-1C14AF06692E}"/>
              </a:ext>
            </a:extLst>
          </p:cNvPr>
          <p:cNvPicPr>
            <a:picLocks noChangeAspect="1" noChangeArrowheads="1"/>
          </p:cNvPicPr>
          <p:nvPr/>
        </p:nvPicPr>
        <p:blipFill>
          <a:blip r:embed="rId5" cstate="print"/>
          <a:stretch>
            <a:fillRect/>
          </a:stretch>
        </p:blipFill>
        <p:spPr bwMode="gray">
          <a:xfrm>
            <a:off x="9106656" y="4797130"/>
            <a:ext cx="540989" cy="442626"/>
          </a:xfrm>
          <a:prstGeom prst="rect">
            <a:avLst/>
          </a:prstGeom>
          <a:noFill/>
        </p:spPr>
      </p:pic>
      <p:cxnSp>
        <p:nvCxnSpPr>
          <p:cNvPr id="25" name="直接连接符 75">
            <a:extLst>
              <a:ext uri="{FF2B5EF4-FFF2-40B4-BE49-F238E27FC236}">
                <a16:creationId xmlns:a16="http://schemas.microsoft.com/office/drawing/2014/main" id="{AE76C58E-47DB-4024-80FE-C551E0C9903B}"/>
              </a:ext>
            </a:extLst>
          </p:cNvPr>
          <p:cNvCxnSpPr>
            <a:stCxn id="18" idx="3"/>
            <a:endCxn id="24" idx="1"/>
          </p:cNvCxnSpPr>
          <p:nvPr/>
        </p:nvCxnSpPr>
        <p:spPr bwMode="gray">
          <a:xfrm flipV="1">
            <a:off x="7930841" y="5018443"/>
            <a:ext cx="1175815" cy="40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6" name="TextBox 120">
            <a:extLst>
              <a:ext uri="{FF2B5EF4-FFF2-40B4-BE49-F238E27FC236}">
                <a16:creationId xmlns:a16="http://schemas.microsoft.com/office/drawing/2014/main" id="{9C469895-B142-435E-B49F-E9DE5FBC3008}"/>
              </a:ext>
            </a:extLst>
          </p:cNvPr>
          <p:cNvSpPr txBox="1"/>
          <p:nvPr/>
        </p:nvSpPr>
        <p:spPr bwMode="gray">
          <a:xfrm>
            <a:off x="3919834" y="4889338"/>
            <a:ext cx="2987925" cy="479524"/>
          </a:xfrm>
          <a:prstGeom prst="roundRect">
            <a:avLst>
              <a:gd name="adj" fmla="val 6721"/>
            </a:avLst>
          </a:prstGeom>
          <a:solidFill>
            <a:srgbClr val="F4FBFE"/>
          </a:solidFill>
          <a:ln w="12700">
            <a:solidFill>
              <a:srgbClr val="56C4D2"/>
            </a:solidFill>
          </a:ln>
        </p:spPr>
        <p:txBody>
          <a:bodyPr wrap="square" rtlCol="0" anchor="ctr">
            <a:spAutoFit/>
          </a:bodyPr>
          <a:lstStyle>
            <a:defPPr>
              <a:defRPr lang="en-US"/>
            </a:defPPr>
            <a:lvl1pPr marR="0" lvl="0" indent="0" defTabSz="914400" fontAlgn="auto">
              <a:lnSpc>
                <a:spcPct val="100000"/>
              </a:lnSpc>
              <a:spcBef>
                <a:spcPts val="0"/>
              </a:spcBef>
              <a:spcAft>
                <a:spcPts val="0"/>
              </a:spcAft>
              <a:buClrTx/>
              <a:buSzTx/>
              <a:buFontTx/>
              <a:buNone/>
              <a:tabLst/>
              <a:defRPr sz="1200" kern="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3</a:t>
            </a:r>
            <a:r>
              <a:rPr lang="zh-CN" altLang="en-US" dirty="0">
                <a:sym typeface="Huawei Sans" panose="020C0503030203020204" pitchFamily="34" charset="0"/>
              </a:rPr>
              <a:t>个租户，</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租用</a:t>
            </a:r>
            <a:r>
              <a:rPr lang="en-US" altLang="zh-CN" dirty="0">
                <a:sym typeface="Huawei Sans" panose="020C0503030203020204" pitchFamily="34" charset="0"/>
              </a:rPr>
              <a:t>20 M</a:t>
            </a:r>
            <a:r>
              <a:rPr lang="zh-CN" altLang="en-US" dirty="0">
                <a:sym typeface="Huawei Sans" panose="020C0503030203020204" pitchFamily="34" charset="0"/>
              </a:rPr>
              <a:t>带宽，</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订购</a:t>
            </a:r>
            <a:r>
              <a:rPr lang="en-US" altLang="zh-CN" dirty="0">
                <a:sym typeface="Huawei Sans" panose="020C0503030203020204" pitchFamily="34" charset="0"/>
              </a:rPr>
              <a:t>IPTV</a:t>
            </a:r>
            <a:r>
              <a:rPr lang="zh-CN" altLang="en-US" dirty="0">
                <a:sym typeface="Huawei Sans" panose="020C0503030203020204" pitchFamily="34" charset="0"/>
              </a:rPr>
              <a:t>业务</a:t>
            </a:r>
            <a:endParaRPr lang="en-US" altLang="zh-CN" dirty="0">
              <a:sym typeface="Huawei Sans" panose="020C0503030203020204" pitchFamily="34" charset="0"/>
            </a:endParaRPr>
          </a:p>
          <a:p>
            <a:r>
              <a:rPr lang="en-US" altLang="zh-CN" dirty="0">
                <a:sym typeface="Huawei Sans" panose="020C0503030203020204" pitchFamily="34" charset="0"/>
              </a:rPr>
              <a:t>3</a:t>
            </a:r>
            <a:r>
              <a:rPr lang="zh-CN" altLang="en-US" dirty="0">
                <a:sym typeface="Huawei Sans" panose="020C0503030203020204" pitchFamily="34" charset="0"/>
              </a:rPr>
              <a:t>个租户，</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租用</a:t>
            </a:r>
            <a:r>
              <a:rPr lang="en-US" altLang="zh-CN" dirty="0">
                <a:sym typeface="Huawei Sans" panose="020C0503030203020204" pitchFamily="34" charset="0"/>
              </a:rPr>
              <a:t>50 M</a:t>
            </a:r>
            <a:r>
              <a:rPr lang="zh-CN" altLang="en-US" dirty="0">
                <a:sym typeface="Huawei Sans" panose="020C0503030203020204" pitchFamily="34" charset="0"/>
              </a:rPr>
              <a:t>带宽，</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订购</a:t>
            </a:r>
            <a:r>
              <a:rPr lang="en-US" altLang="zh-CN" dirty="0">
                <a:sym typeface="Huawei Sans" panose="020C0503030203020204" pitchFamily="34" charset="0"/>
              </a:rPr>
              <a:t>VoIP</a:t>
            </a:r>
            <a:r>
              <a:rPr lang="zh-CN" altLang="en-US" dirty="0">
                <a:sym typeface="Huawei Sans" panose="020C0503030203020204" pitchFamily="34" charset="0"/>
              </a:rPr>
              <a:t>业务</a:t>
            </a:r>
            <a:endParaRPr lang="en-US" altLang="zh-CN" dirty="0">
              <a:sym typeface="Huawei Sans" panose="020C0503030203020204" pitchFamily="34" charset="0"/>
            </a:endParaRPr>
          </a:p>
        </p:txBody>
      </p:sp>
      <p:sp>
        <p:nvSpPr>
          <p:cNvPr id="27" name="Rectangular Callout 27">
            <a:extLst>
              <a:ext uri="{FF2B5EF4-FFF2-40B4-BE49-F238E27FC236}">
                <a16:creationId xmlns:a16="http://schemas.microsoft.com/office/drawing/2014/main" id="{4BDDB45C-A9A0-41C8-B63C-A9ED108458E4}"/>
              </a:ext>
            </a:extLst>
          </p:cNvPr>
          <p:cNvSpPr/>
          <p:nvPr/>
        </p:nvSpPr>
        <p:spPr bwMode="gray">
          <a:xfrm>
            <a:off x="7990364" y="3829272"/>
            <a:ext cx="1727985" cy="768414"/>
          </a:xfrm>
          <a:prstGeom prst="wedgeRectCallout">
            <a:avLst>
              <a:gd name="adj1" fmla="val -52620"/>
              <a:gd name="adj2" fmla="val 730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rPr>
              <a:t>出口无法基于用户进行</a:t>
            </a:r>
            <a:r>
              <a:rPr lang="en-US" altLang="zh-CN" sz="1400" dirty="0">
                <a:solidFill>
                  <a:schemeClr val="tx1"/>
                </a:solidFill>
                <a:latin typeface="Huawei Sans" panose="020C0503030203020204" pitchFamily="34" charset="0"/>
                <a:ea typeface="方正兰亭黑简体" panose="02000000000000000000" pitchFamily="2" charset="-122"/>
              </a:rPr>
              <a:t>QoS</a:t>
            </a:r>
            <a:r>
              <a:rPr lang="zh-CN" altLang="en-US" sz="1400" dirty="0">
                <a:solidFill>
                  <a:schemeClr val="tx1"/>
                </a:solidFill>
                <a:latin typeface="Huawei Sans" panose="020C0503030203020204" pitchFamily="34" charset="0"/>
                <a:ea typeface="方正兰亭黑简体" panose="02000000000000000000" pitchFamily="2" charset="-122"/>
              </a:rPr>
              <a:t>，只能使用</a:t>
            </a:r>
            <a:r>
              <a:rPr lang="en-US" altLang="zh-CN" sz="1400" dirty="0">
                <a:solidFill>
                  <a:schemeClr val="tx1"/>
                </a:solidFill>
                <a:latin typeface="Huawei Sans" panose="020C0503030203020204" pitchFamily="34" charset="0"/>
                <a:ea typeface="方正兰亭黑简体" panose="02000000000000000000" pitchFamily="2" charset="-122"/>
              </a:rPr>
              <a:t>8</a:t>
            </a:r>
            <a:r>
              <a:rPr lang="zh-CN" altLang="en-US" sz="1400" dirty="0">
                <a:solidFill>
                  <a:schemeClr val="tx1"/>
                </a:solidFill>
                <a:latin typeface="Huawei Sans" panose="020C0503030203020204" pitchFamily="34" charset="0"/>
                <a:ea typeface="方正兰亭黑简体" panose="02000000000000000000" pitchFamily="2" charset="-122"/>
              </a:rPr>
              <a:t>个队列区分流量</a:t>
            </a:r>
          </a:p>
        </p:txBody>
      </p:sp>
      <p:sp>
        <p:nvSpPr>
          <p:cNvPr id="28" name="Oval 41">
            <a:extLst>
              <a:ext uri="{FF2B5EF4-FFF2-40B4-BE49-F238E27FC236}">
                <a16:creationId xmlns:a16="http://schemas.microsoft.com/office/drawing/2014/main" id="{8CC2F613-4BB8-45BD-B6E7-E22390E86133}"/>
              </a:ext>
            </a:extLst>
          </p:cNvPr>
          <p:cNvSpPr>
            <a:spLocks noChangeAspect="1"/>
          </p:cNvSpPr>
          <p:nvPr/>
        </p:nvSpPr>
        <p:spPr bwMode="gray">
          <a:xfrm>
            <a:off x="7851210" y="4944914"/>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29" name="Rectangular Callout 30">
            <a:extLst>
              <a:ext uri="{FF2B5EF4-FFF2-40B4-BE49-F238E27FC236}">
                <a16:creationId xmlns:a16="http://schemas.microsoft.com/office/drawing/2014/main" id="{6B11B712-7DA5-4AFD-AB3E-CD09F2DE25C7}"/>
              </a:ext>
            </a:extLst>
          </p:cNvPr>
          <p:cNvSpPr/>
          <p:nvPr/>
        </p:nvSpPr>
        <p:spPr bwMode="gray">
          <a:xfrm>
            <a:off x="6318240" y="3329775"/>
            <a:ext cx="1591182" cy="536521"/>
          </a:xfrm>
          <a:prstGeom prst="wedgeRectCallout">
            <a:avLst>
              <a:gd name="adj1" fmla="val -37364"/>
              <a:gd name="adj2" fmla="val 6788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Huawei Sans" panose="020C0503030203020204" pitchFamily="34" charset="0"/>
                <a:ea typeface="方正兰亭黑简体" panose="02000000000000000000" pitchFamily="2" charset="-122"/>
              </a:rPr>
              <a:t>14</a:t>
            </a:r>
            <a:r>
              <a:rPr lang="zh-CN" altLang="en-US" sz="1400" dirty="0">
                <a:solidFill>
                  <a:schemeClr val="tx1"/>
                </a:solidFill>
                <a:latin typeface="Huawei Sans" panose="020C0503030203020204" pitchFamily="34" charset="0"/>
                <a:ea typeface="方正兰亭黑简体" panose="02000000000000000000" pitchFamily="2" charset="-122"/>
              </a:rPr>
              <a:t>户家庭租用不同的带宽和业务</a:t>
            </a:r>
          </a:p>
        </p:txBody>
      </p:sp>
    </p:spTree>
    <p:extLst>
      <p:ext uri="{BB962C8B-B14F-4D97-AF65-F5344CB8AC3E}">
        <p14:creationId xmlns:p14="http://schemas.microsoft.com/office/powerpoint/2010/main" val="7738541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HQoS</a:t>
            </a:r>
            <a:r>
              <a:rPr lang="zh-CN" altLang="en-US" dirty="0"/>
              <a:t>应用举例</a:t>
            </a:r>
          </a:p>
        </p:txBody>
      </p:sp>
      <p:sp>
        <p:nvSpPr>
          <p:cNvPr id="3" name="Text Placeholder 2"/>
          <p:cNvSpPr>
            <a:spLocks noGrp="1"/>
          </p:cNvSpPr>
          <p:nvPr>
            <p:ph type="body" sz="quarter" idx="10"/>
          </p:nvPr>
        </p:nvSpPr>
        <p:spPr bwMode="gray"/>
        <p:txBody>
          <a:bodyPr/>
          <a:lstStyle/>
          <a:p>
            <a:r>
              <a:rPr lang="en-US" altLang="zh-CN" sz="1800" dirty="0" err="1"/>
              <a:t>HQoS</a:t>
            </a:r>
            <a:r>
              <a:rPr lang="zh-CN" altLang="en-US" sz="1800" dirty="0"/>
              <a:t>主要应用在多租户场景下，比如：一栋楼有</a:t>
            </a:r>
            <a:r>
              <a:rPr lang="en-US" altLang="zh-CN" sz="1800" dirty="0"/>
              <a:t>3</a:t>
            </a:r>
            <a:r>
              <a:rPr lang="zh-CN" altLang="en-US" sz="1800" dirty="0"/>
              <a:t>个家庭，家庭</a:t>
            </a:r>
            <a:r>
              <a:rPr lang="en-US" altLang="zh-CN" sz="1800" dirty="0"/>
              <a:t>A</a:t>
            </a:r>
            <a:r>
              <a:rPr lang="zh-CN" altLang="en-US" sz="1800" dirty="0"/>
              <a:t>购买了</a:t>
            </a:r>
            <a:r>
              <a:rPr lang="en-US" altLang="zh-CN" sz="1800" dirty="0"/>
              <a:t>10 M</a:t>
            </a:r>
            <a:r>
              <a:rPr lang="zh-CN" altLang="en-US" sz="1800" dirty="0"/>
              <a:t>带宽并且开通了</a:t>
            </a:r>
            <a:r>
              <a:rPr lang="en-US" altLang="zh-CN" sz="1800" dirty="0"/>
              <a:t>VoIP</a:t>
            </a:r>
            <a:r>
              <a:rPr lang="zh-CN" altLang="en-US" sz="1800" dirty="0"/>
              <a:t>、</a:t>
            </a:r>
            <a:r>
              <a:rPr lang="en-US" altLang="zh-CN" sz="1800" dirty="0"/>
              <a:t>IPTV</a:t>
            </a:r>
            <a:r>
              <a:rPr lang="zh-CN" altLang="en-US" sz="1800" dirty="0"/>
              <a:t>和</a:t>
            </a:r>
            <a:r>
              <a:rPr lang="en-US" altLang="zh-CN" sz="1800" dirty="0"/>
              <a:t>HSI</a:t>
            </a:r>
            <a:r>
              <a:rPr lang="zh-CN" altLang="en-US" sz="1800" dirty="0"/>
              <a:t>业务，家庭</a:t>
            </a:r>
            <a:r>
              <a:rPr lang="en-US" altLang="zh-CN" sz="1800" dirty="0"/>
              <a:t>B</a:t>
            </a:r>
            <a:r>
              <a:rPr lang="zh-CN" altLang="en-US" sz="1800" dirty="0"/>
              <a:t>购买了</a:t>
            </a:r>
            <a:r>
              <a:rPr lang="en-US" altLang="zh-CN" sz="1800" dirty="0"/>
              <a:t>20 M</a:t>
            </a:r>
            <a:r>
              <a:rPr lang="zh-CN" altLang="en-US" sz="1800" dirty="0"/>
              <a:t>带宽并开通了</a:t>
            </a:r>
            <a:r>
              <a:rPr lang="en-US" altLang="zh-CN" sz="1800" dirty="0"/>
              <a:t>IPTV</a:t>
            </a:r>
            <a:r>
              <a:rPr lang="zh-CN" altLang="en-US" sz="1800" dirty="0"/>
              <a:t>和</a:t>
            </a:r>
            <a:r>
              <a:rPr lang="en-US" altLang="zh-CN" sz="1800" dirty="0"/>
              <a:t>HSI</a:t>
            </a:r>
            <a:r>
              <a:rPr lang="zh-CN" altLang="en-US" sz="1800" dirty="0"/>
              <a:t>业务，家庭</a:t>
            </a:r>
            <a:r>
              <a:rPr lang="en-US" altLang="zh-CN" sz="1800" dirty="0"/>
              <a:t>C</a:t>
            </a:r>
            <a:r>
              <a:rPr lang="zh-CN" altLang="en-US" sz="1800" dirty="0"/>
              <a:t>购买了</a:t>
            </a:r>
            <a:r>
              <a:rPr lang="en-US" altLang="zh-CN" sz="1800" dirty="0"/>
              <a:t>30 M</a:t>
            </a:r>
            <a:r>
              <a:rPr lang="zh-CN" altLang="en-US" sz="1800" dirty="0"/>
              <a:t>带宽只开通了</a:t>
            </a:r>
            <a:r>
              <a:rPr lang="en-US" altLang="zh-CN" sz="1800" dirty="0"/>
              <a:t>HSI</a:t>
            </a:r>
            <a:r>
              <a:rPr lang="zh-CN" altLang="en-US" sz="1800" dirty="0"/>
              <a:t>业务，由于每个家庭的需求都不同，所以使用</a:t>
            </a:r>
            <a:r>
              <a:rPr lang="en-US" altLang="zh-CN" sz="1800" dirty="0" err="1"/>
              <a:t>HQoS</a:t>
            </a:r>
            <a:r>
              <a:rPr lang="zh-CN" altLang="en-US" sz="1800" dirty="0"/>
              <a:t>是最合适的方式。</a:t>
            </a:r>
          </a:p>
        </p:txBody>
      </p:sp>
      <p:sp>
        <p:nvSpPr>
          <p:cNvPr id="55" name="Freeform 159"/>
          <p:cNvSpPr/>
          <p:nvPr/>
        </p:nvSpPr>
        <p:spPr bwMode="gray">
          <a:xfrm flipH="1">
            <a:off x="2669758" y="3546979"/>
            <a:ext cx="2116359" cy="10185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75"/>
          <p:cNvCxnSpPr>
            <a:stCxn id="37" idx="3"/>
          </p:cNvCxnSpPr>
          <p:nvPr/>
        </p:nvCxnSpPr>
        <p:spPr bwMode="gray">
          <a:xfrm>
            <a:off x="2849269" y="4277574"/>
            <a:ext cx="1178238"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0" name="圆角矩形 75"/>
          <p:cNvSpPr/>
          <p:nvPr/>
        </p:nvSpPr>
        <p:spPr bwMode="gray">
          <a:xfrm>
            <a:off x="3711644" y="2726294"/>
            <a:ext cx="7599809" cy="3315561"/>
          </a:xfrm>
          <a:prstGeom prst="roundRect">
            <a:avLst>
              <a:gd name="adj" fmla="val 874"/>
            </a:avLst>
          </a:prstGeom>
          <a:solidFill>
            <a:schemeClr val="bg1"/>
          </a:soli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65" name="Can 225">
            <a:extLst>
              <a:ext uri="{FF2B5EF4-FFF2-40B4-BE49-F238E27FC236}">
                <a16:creationId xmlns:a16="http://schemas.microsoft.com/office/drawing/2014/main" id="{2BCE7D77-35EF-48C9-B1B8-64BFCEE53B3C}"/>
              </a:ext>
            </a:extLst>
          </p:cNvPr>
          <p:cNvSpPr/>
          <p:nvPr/>
        </p:nvSpPr>
        <p:spPr bwMode="gray">
          <a:xfrm rot="5400000">
            <a:off x="4635363" y="2525870"/>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Can 225">
            <a:extLst>
              <a:ext uri="{FF2B5EF4-FFF2-40B4-BE49-F238E27FC236}">
                <a16:creationId xmlns:a16="http://schemas.microsoft.com/office/drawing/2014/main" id="{3DE40E7E-69C1-469E-A70D-7CAC59AC4DD3}"/>
              </a:ext>
            </a:extLst>
          </p:cNvPr>
          <p:cNvSpPr/>
          <p:nvPr/>
        </p:nvSpPr>
        <p:spPr bwMode="gray">
          <a:xfrm rot="5400000">
            <a:off x="4644042" y="2926468"/>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Can 225">
            <a:extLst>
              <a:ext uri="{FF2B5EF4-FFF2-40B4-BE49-F238E27FC236}">
                <a16:creationId xmlns:a16="http://schemas.microsoft.com/office/drawing/2014/main" id="{36274CC2-F552-416E-868A-7E16D507AB0A}"/>
              </a:ext>
            </a:extLst>
          </p:cNvPr>
          <p:cNvSpPr/>
          <p:nvPr/>
        </p:nvSpPr>
        <p:spPr bwMode="gray">
          <a:xfrm rot="5400000">
            <a:off x="4635363" y="3397535"/>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Can 225">
            <a:extLst>
              <a:ext uri="{FF2B5EF4-FFF2-40B4-BE49-F238E27FC236}">
                <a16:creationId xmlns:a16="http://schemas.microsoft.com/office/drawing/2014/main" id="{A4281DBD-1718-42C5-AD9A-88D100D78AB6}"/>
              </a:ext>
            </a:extLst>
          </p:cNvPr>
          <p:cNvSpPr/>
          <p:nvPr/>
        </p:nvSpPr>
        <p:spPr bwMode="gray">
          <a:xfrm rot="5400000">
            <a:off x="4635362" y="3868824"/>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Can 225">
            <a:extLst>
              <a:ext uri="{FF2B5EF4-FFF2-40B4-BE49-F238E27FC236}">
                <a16:creationId xmlns:a16="http://schemas.microsoft.com/office/drawing/2014/main" id="{E5DBD4C0-7C5C-4823-8E42-EA8EF470FE65}"/>
              </a:ext>
            </a:extLst>
          </p:cNvPr>
          <p:cNvSpPr/>
          <p:nvPr/>
        </p:nvSpPr>
        <p:spPr bwMode="gray">
          <a:xfrm rot="5400000">
            <a:off x="4644041" y="4917197"/>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Can 9">
            <a:extLst>
              <a:ext uri="{FF2B5EF4-FFF2-40B4-BE49-F238E27FC236}">
                <a16:creationId xmlns:a16="http://schemas.microsoft.com/office/drawing/2014/main" id="{6A40C9A4-7C41-44F0-AFF0-3B7B3857A4ED}"/>
              </a:ext>
            </a:extLst>
          </p:cNvPr>
          <p:cNvSpPr/>
          <p:nvPr/>
        </p:nvSpPr>
        <p:spPr bwMode="gray">
          <a:xfrm rot="5400000">
            <a:off x="7517160" y="2530812"/>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Can 9">
            <a:extLst>
              <a:ext uri="{FF2B5EF4-FFF2-40B4-BE49-F238E27FC236}">
                <a16:creationId xmlns:a16="http://schemas.microsoft.com/office/drawing/2014/main" id="{7AB9B372-1585-4A13-9ADD-7C94AE7C103A}"/>
              </a:ext>
            </a:extLst>
          </p:cNvPr>
          <p:cNvSpPr/>
          <p:nvPr/>
        </p:nvSpPr>
        <p:spPr bwMode="gray">
          <a:xfrm rot="5400000">
            <a:off x="7526850" y="3608881"/>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Can 9">
            <a:extLst>
              <a:ext uri="{FF2B5EF4-FFF2-40B4-BE49-F238E27FC236}">
                <a16:creationId xmlns:a16="http://schemas.microsoft.com/office/drawing/2014/main" id="{A0FA35A8-E15D-4610-928A-9785020EA5B7}"/>
              </a:ext>
            </a:extLst>
          </p:cNvPr>
          <p:cNvSpPr/>
          <p:nvPr/>
        </p:nvSpPr>
        <p:spPr bwMode="gray">
          <a:xfrm rot="5400000">
            <a:off x="10269632" y="3626446"/>
            <a:ext cx="253196" cy="1614471"/>
          </a:xfrm>
          <a:prstGeom prst="can">
            <a:avLst>
              <a:gd name="adj" fmla="val 40000"/>
            </a:avLst>
          </a:prstGeom>
          <a:solidFill>
            <a:srgbClr val="F4FBFE"/>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TextBox 122"/>
          <p:cNvSpPr txBox="1"/>
          <p:nvPr/>
        </p:nvSpPr>
        <p:spPr bwMode="gray">
          <a:xfrm>
            <a:off x="9545084" y="4284850"/>
            <a:ext cx="1633781"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大楼总带宽（</a:t>
            </a:r>
            <a:r>
              <a:rPr lang="en-US" altLang="zh-CN" sz="1200" b="1" dirty="0">
                <a:latin typeface="Huawei Sans" panose="020C0503030203020204" pitchFamily="34" charset="0"/>
                <a:ea typeface="方正兰亭黑简体" panose="02000000000000000000" pitchFamily="2" charset="-122"/>
              </a:rPr>
              <a:t>60 M</a:t>
            </a:r>
            <a:r>
              <a:rPr lang="zh-CN" altLang="en-US" sz="1200" b="1" dirty="0">
                <a:latin typeface="Huawei Sans" panose="020C0503030203020204" pitchFamily="34" charset="0"/>
                <a:ea typeface="方正兰亭黑简体" panose="02000000000000000000" pitchFamily="2" charset="-122"/>
              </a:rPr>
              <a:t>）</a:t>
            </a:r>
          </a:p>
        </p:txBody>
      </p:sp>
      <p:sp>
        <p:nvSpPr>
          <p:cNvPr id="106" name="TextBox 105"/>
          <p:cNvSpPr txBox="1"/>
          <p:nvPr/>
        </p:nvSpPr>
        <p:spPr bwMode="gray">
          <a:xfrm>
            <a:off x="6781963" y="3205760"/>
            <a:ext cx="1739579"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A</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10 M</a:t>
            </a:r>
            <a:r>
              <a:rPr lang="zh-CN" altLang="en-US" sz="1200" b="1" dirty="0">
                <a:latin typeface="Huawei Sans" panose="020C0503030203020204" pitchFamily="34" charset="0"/>
                <a:ea typeface="方正兰亭黑简体" panose="02000000000000000000" pitchFamily="2" charset="-122"/>
              </a:rPr>
              <a:t>）</a:t>
            </a:r>
          </a:p>
        </p:txBody>
      </p:sp>
      <p:sp>
        <p:nvSpPr>
          <p:cNvPr id="116" name="TextBox 115"/>
          <p:cNvSpPr txBox="1"/>
          <p:nvPr/>
        </p:nvSpPr>
        <p:spPr bwMode="gray">
          <a:xfrm>
            <a:off x="6781963" y="4274451"/>
            <a:ext cx="1729961"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B</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20 M</a:t>
            </a:r>
            <a:r>
              <a:rPr lang="zh-CN" altLang="en-US" sz="1200" b="1" dirty="0">
                <a:latin typeface="Huawei Sans" panose="020C0503030203020204" pitchFamily="34" charset="0"/>
                <a:ea typeface="方正兰亭黑简体" panose="02000000000000000000" pitchFamily="2" charset="-122"/>
              </a:rPr>
              <a:t>）</a:t>
            </a:r>
          </a:p>
        </p:txBody>
      </p:sp>
      <p:sp>
        <p:nvSpPr>
          <p:cNvPr id="58" name="Can 225">
            <a:extLst>
              <a:ext uri="{FF2B5EF4-FFF2-40B4-BE49-F238E27FC236}">
                <a16:creationId xmlns:a16="http://schemas.microsoft.com/office/drawing/2014/main" id="{5C37E0C7-C36A-413F-8284-64CD316945CC}"/>
              </a:ext>
            </a:extLst>
          </p:cNvPr>
          <p:cNvSpPr/>
          <p:nvPr/>
        </p:nvSpPr>
        <p:spPr bwMode="gray">
          <a:xfrm rot="5400000">
            <a:off x="4635363" y="2106728"/>
            <a:ext cx="253196" cy="1614471"/>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6" descr="PC.png"/>
          <p:cNvPicPr>
            <a:picLocks noChangeAspect="1"/>
          </p:cNvPicPr>
          <p:nvPr/>
        </p:nvPicPr>
        <p:blipFill>
          <a:blip r:embed="rId3" cstate="print"/>
          <a:stretch>
            <a:fillRect/>
          </a:stretch>
        </p:blipFill>
        <p:spPr bwMode="gray">
          <a:xfrm>
            <a:off x="820333" y="2566004"/>
            <a:ext cx="609278" cy="467924"/>
          </a:xfrm>
          <a:prstGeom prst="rect">
            <a:avLst/>
          </a:prstGeom>
        </p:spPr>
      </p:pic>
      <p:sp>
        <p:nvSpPr>
          <p:cNvPr id="31" name="TextBox 30"/>
          <p:cNvSpPr txBox="1"/>
          <p:nvPr/>
        </p:nvSpPr>
        <p:spPr bwMode="gray">
          <a:xfrm>
            <a:off x="867614" y="3033928"/>
            <a:ext cx="660758"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A</a:t>
            </a:r>
            <a:endParaRPr lang="zh-CN" altLang="en-US" sz="1400" dirty="0">
              <a:latin typeface="Huawei Sans" panose="020C0503030203020204" pitchFamily="34" charset="0"/>
              <a:ea typeface="方正兰亭黑简体" panose="02000000000000000000" pitchFamily="2" charset="-122"/>
            </a:endParaRPr>
          </a:p>
        </p:txBody>
      </p:sp>
      <p:pic>
        <p:nvPicPr>
          <p:cNvPr id="32" name="图片 6" descr="PC.png"/>
          <p:cNvPicPr>
            <a:picLocks noChangeAspect="1"/>
          </p:cNvPicPr>
          <p:nvPr/>
        </p:nvPicPr>
        <p:blipFill>
          <a:blip r:embed="rId3" cstate="print"/>
          <a:stretch>
            <a:fillRect/>
          </a:stretch>
        </p:blipFill>
        <p:spPr bwMode="gray">
          <a:xfrm>
            <a:off x="820333" y="4043612"/>
            <a:ext cx="609278" cy="467924"/>
          </a:xfrm>
          <a:prstGeom prst="rect">
            <a:avLst/>
          </a:prstGeom>
        </p:spPr>
      </p:pic>
      <p:sp>
        <p:nvSpPr>
          <p:cNvPr id="33" name="TextBox 32"/>
          <p:cNvSpPr txBox="1"/>
          <p:nvPr/>
        </p:nvSpPr>
        <p:spPr bwMode="gray">
          <a:xfrm>
            <a:off x="867614" y="4519417"/>
            <a:ext cx="651140"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B</a:t>
            </a:r>
            <a:endParaRPr lang="zh-CN" altLang="en-US" sz="1400" dirty="0">
              <a:latin typeface="Huawei Sans" panose="020C0503030203020204" pitchFamily="34" charset="0"/>
              <a:ea typeface="方正兰亭黑简体" panose="02000000000000000000" pitchFamily="2" charset="-122"/>
            </a:endParaRPr>
          </a:p>
        </p:txBody>
      </p:sp>
      <p:pic>
        <p:nvPicPr>
          <p:cNvPr id="35" name="图片 6" descr="PC.png"/>
          <p:cNvPicPr>
            <a:picLocks noChangeAspect="1"/>
          </p:cNvPicPr>
          <p:nvPr/>
        </p:nvPicPr>
        <p:blipFill>
          <a:blip r:embed="rId3" cstate="print"/>
          <a:stretch>
            <a:fillRect/>
          </a:stretch>
        </p:blipFill>
        <p:spPr bwMode="gray">
          <a:xfrm>
            <a:off x="820333" y="5423031"/>
            <a:ext cx="609278" cy="467924"/>
          </a:xfrm>
          <a:prstGeom prst="rect">
            <a:avLst/>
          </a:prstGeom>
        </p:spPr>
      </p:pic>
      <p:sp>
        <p:nvSpPr>
          <p:cNvPr id="36" name="TextBox 35"/>
          <p:cNvSpPr txBox="1"/>
          <p:nvPr/>
        </p:nvSpPr>
        <p:spPr bwMode="gray">
          <a:xfrm>
            <a:off x="867614" y="5890955"/>
            <a:ext cx="652743"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rPr>
              <a:t>家庭</a:t>
            </a:r>
            <a:r>
              <a:rPr lang="en-US" altLang="zh-CN" sz="1400" dirty="0">
                <a:latin typeface="Huawei Sans" panose="020C0503030203020204" pitchFamily="34" charset="0"/>
                <a:ea typeface="方正兰亭黑简体" panose="02000000000000000000" pitchFamily="2" charset="-122"/>
              </a:rPr>
              <a:t>C</a:t>
            </a:r>
            <a:endParaRPr lang="zh-CN" altLang="en-US" sz="1400" dirty="0">
              <a:latin typeface="Huawei Sans" panose="020C0503030203020204" pitchFamily="34" charset="0"/>
              <a:ea typeface="方正兰亭黑简体" panose="02000000000000000000" pitchFamily="2" charset="-122"/>
            </a:endParaRPr>
          </a:p>
        </p:txBody>
      </p:sp>
      <p:pic>
        <p:nvPicPr>
          <p:cNvPr id="37"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2308280" y="4056261"/>
            <a:ext cx="540989" cy="442626"/>
          </a:xfrm>
          <a:prstGeom prst="rect">
            <a:avLst/>
          </a:prstGeom>
          <a:noFill/>
        </p:spPr>
      </p:pic>
      <p:cxnSp>
        <p:nvCxnSpPr>
          <p:cNvPr id="38" name="直接连接符 75"/>
          <p:cNvCxnSpPr>
            <a:stCxn id="30" idx="3"/>
            <a:endCxn id="37" idx="0"/>
          </p:cNvCxnSpPr>
          <p:nvPr/>
        </p:nvCxnSpPr>
        <p:spPr bwMode="gray">
          <a:xfrm>
            <a:off x="1429611" y="2799966"/>
            <a:ext cx="1149164" cy="12562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直接连接符 75"/>
          <p:cNvCxnSpPr>
            <a:stCxn id="32" idx="3"/>
            <a:endCxn id="37" idx="1"/>
          </p:cNvCxnSpPr>
          <p:nvPr/>
        </p:nvCxnSpPr>
        <p:spPr bwMode="gray">
          <a:xfrm>
            <a:off x="1429611" y="4277574"/>
            <a:ext cx="8786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75"/>
          <p:cNvCxnSpPr>
            <a:stCxn id="35" idx="3"/>
            <a:endCxn id="37" idx="2"/>
          </p:cNvCxnSpPr>
          <p:nvPr/>
        </p:nvCxnSpPr>
        <p:spPr bwMode="gray">
          <a:xfrm flipV="1">
            <a:off x="1429611" y="4498887"/>
            <a:ext cx="1149164" cy="115810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54" name="Oval 41"/>
          <p:cNvSpPr>
            <a:spLocks noChangeAspect="1"/>
          </p:cNvSpPr>
          <p:nvPr/>
        </p:nvSpPr>
        <p:spPr bwMode="gray">
          <a:xfrm>
            <a:off x="2769638" y="4197943"/>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59" name="Rectangular Callout 58"/>
          <p:cNvSpPr/>
          <p:nvPr/>
        </p:nvSpPr>
        <p:spPr bwMode="gray">
          <a:xfrm>
            <a:off x="2211013" y="4529193"/>
            <a:ext cx="897839" cy="538199"/>
          </a:xfrm>
          <a:prstGeom prst="wedgeRectCallout">
            <a:avLst>
              <a:gd name="adj1" fmla="val 21531"/>
              <a:gd name="adj2" fmla="val -8698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出口部署</a:t>
            </a:r>
            <a:r>
              <a:rPr lang="en-US" altLang="zh-CN" sz="1400" dirty="0">
                <a:solidFill>
                  <a:schemeClr val="tx1"/>
                </a:solidFill>
              </a:rPr>
              <a:t>HQoS</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61" name="圆角矩形 75"/>
          <p:cNvSpPr/>
          <p:nvPr/>
        </p:nvSpPr>
        <p:spPr bwMode="gray">
          <a:xfrm>
            <a:off x="3685046" y="2298095"/>
            <a:ext cx="7619581"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err="1">
                <a:solidFill>
                  <a:srgbClr val="30B5C5"/>
                </a:solidFill>
                <a:latin typeface="Huawei Sans" panose="020C0503030203020204" pitchFamily="34" charset="0"/>
                <a:ea typeface="方正兰亭黑简体" panose="02000000000000000000" pitchFamily="2" charset="-122"/>
              </a:rPr>
              <a:t>HQoS</a:t>
            </a:r>
            <a:r>
              <a:rPr lang="zh-CN" altLang="en-US" sz="1600" dirty="0">
                <a:solidFill>
                  <a:srgbClr val="30B5C5"/>
                </a:solidFill>
                <a:latin typeface="Huawei Sans" panose="020C0503030203020204" pitchFamily="34" charset="0"/>
                <a:ea typeface="方正兰亭黑简体" panose="02000000000000000000" pitchFamily="2" charset="-122"/>
              </a:rPr>
              <a:t>应用举例</a:t>
            </a:r>
          </a:p>
        </p:txBody>
      </p:sp>
      <p:cxnSp>
        <p:nvCxnSpPr>
          <p:cNvPr id="69" name="Elbow Connector 68"/>
          <p:cNvCxnSpPr>
            <a:cxnSpLocks/>
          </p:cNvCxnSpPr>
          <p:nvPr/>
        </p:nvCxnSpPr>
        <p:spPr bwMode="gray">
          <a:xfrm>
            <a:off x="5571477" y="2928750"/>
            <a:ext cx="1265046" cy="39269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0" name="Elbow Connector 69"/>
          <p:cNvCxnSpPr>
            <a:cxnSpLocks/>
          </p:cNvCxnSpPr>
          <p:nvPr/>
        </p:nvCxnSpPr>
        <p:spPr bwMode="gray">
          <a:xfrm flipV="1">
            <a:off x="5571476" y="3321447"/>
            <a:ext cx="1265047" cy="41931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1" name="Elbow Connector 70"/>
          <p:cNvCxnSpPr>
            <a:cxnSpLocks/>
          </p:cNvCxnSpPr>
          <p:nvPr/>
        </p:nvCxnSpPr>
        <p:spPr bwMode="gray">
          <a:xfrm>
            <a:off x="5571477" y="5698880"/>
            <a:ext cx="1277850" cy="1009"/>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3" name="Elbow Connector 72"/>
          <p:cNvCxnSpPr>
            <a:cxnSpLocks/>
          </p:cNvCxnSpPr>
          <p:nvPr/>
        </p:nvCxnSpPr>
        <p:spPr bwMode="gray">
          <a:xfrm>
            <a:off x="8450994" y="3321447"/>
            <a:ext cx="1122637" cy="111729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74" name="Elbow Connector 73"/>
          <p:cNvCxnSpPr>
            <a:cxnSpLocks/>
          </p:cNvCxnSpPr>
          <p:nvPr/>
        </p:nvCxnSpPr>
        <p:spPr bwMode="gray">
          <a:xfrm flipV="1">
            <a:off x="8463798" y="4438740"/>
            <a:ext cx="1109833" cy="126114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bwMode="gray">
          <a:xfrm>
            <a:off x="4000468" y="2782028"/>
            <a:ext cx="135485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VoIP</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00" name="TextBox 99"/>
          <p:cNvSpPr txBox="1"/>
          <p:nvPr/>
        </p:nvSpPr>
        <p:spPr bwMode="gray">
          <a:xfrm>
            <a:off x="4000468" y="3194331"/>
            <a:ext cx="1356462"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IPTV</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01" name="Elbow Connector 100"/>
          <p:cNvCxnSpPr>
            <a:cxnSpLocks/>
          </p:cNvCxnSpPr>
          <p:nvPr/>
        </p:nvCxnSpPr>
        <p:spPr bwMode="gray">
          <a:xfrm flipV="1">
            <a:off x="5576803" y="3321447"/>
            <a:ext cx="1259720" cy="7150"/>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bwMode="gray">
          <a:xfrm>
            <a:off x="3964464" y="3590375"/>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10" name="Elbow Connector 109"/>
          <p:cNvCxnSpPr>
            <a:cxnSpLocks/>
          </p:cNvCxnSpPr>
          <p:nvPr/>
        </p:nvCxnSpPr>
        <p:spPr bwMode="gray">
          <a:xfrm>
            <a:off x="5577878" y="4192693"/>
            <a:ext cx="1277850" cy="246047"/>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11" name="Elbow Connector 110"/>
          <p:cNvCxnSpPr>
            <a:cxnSpLocks/>
          </p:cNvCxnSpPr>
          <p:nvPr/>
        </p:nvCxnSpPr>
        <p:spPr bwMode="gray">
          <a:xfrm flipV="1">
            <a:off x="5577877" y="4438740"/>
            <a:ext cx="1277851" cy="252028"/>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bwMode="gray">
          <a:xfrm>
            <a:off x="4000468" y="4058427"/>
            <a:ext cx="1356462"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IPTV</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PQ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14" name="TextBox 113"/>
          <p:cNvSpPr txBox="1"/>
          <p:nvPr/>
        </p:nvSpPr>
        <p:spPr bwMode="gray">
          <a:xfrm>
            <a:off x="3928460" y="4546224"/>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sp>
        <p:nvSpPr>
          <p:cNvPr id="115" name="TextBox 114"/>
          <p:cNvSpPr txBox="1"/>
          <p:nvPr/>
        </p:nvSpPr>
        <p:spPr bwMode="gray">
          <a:xfrm>
            <a:off x="3964464" y="5590340"/>
            <a:ext cx="1418978" cy="276999"/>
          </a:xfrm>
          <a:prstGeom prst="rect">
            <a:avLst/>
          </a:prstGeom>
          <a:noFill/>
        </p:spPr>
        <p:txBody>
          <a:bodyPr wrap="none" rtlCol="0">
            <a:spAutoFit/>
          </a:bodyPr>
          <a:lstStyle/>
          <a:p>
            <a:pPr fontAlgn="auto"/>
            <a:r>
              <a:rPr lang="en-US" altLang="zh-CN" sz="1200" b="1" dirty="0">
                <a:solidFill>
                  <a:schemeClr val="bg1"/>
                </a:solidFill>
                <a:latin typeface="Huawei Sans" panose="020C0503030203020204" pitchFamily="34" charset="0"/>
                <a:ea typeface="方正兰亭黑简体" panose="02000000000000000000" pitchFamily="2" charset="-122"/>
              </a:rPr>
              <a:t>HSI</a:t>
            </a:r>
            <a:r>
              <a:rPr lang="zh-CN" altLang="en-US" sz="1200" b="1" dirty="0">
                <a:solidFill>
                  <a:schemeClr val="bg1"/>
                </a:solidFill>
                <a:latin typeface="Huawei Sans" panose="020C0503030203020204" pitchFamily="34" charset="0"/>
                <a:ea typeface="方正兰亭黑简体" panose="02000000000000000000" pitchFamily="2" charset="-122"/>
              </a:rPr>
              <a:t>（</a:t>
            </a:r>
            <a:r>
              <a:rPr lang="en-US" altLang="zh-CN" sz="1200" b="1" dirty="0">
                <a:solidFill>
                  <a:schemeClr val="bg1"/>
                </a:solidFill>
                <a:latin typeface="Huawei Sans" panose="020C0503030203020204" pitchFamily="34" charset="0"/>
                <a:ea typeface="方正兰亭黑简体" panose="02000000000000000000" pitchFamily="2" charset="-122"/>
              </a:rPr>
              <a:t>WFQ</a:t>
            </a:r>
            <a:r>
              <a:rPr lang="zh-CN" altLang="en-US" sz="1200" b="1" dirty="0">
                <a:solidFill>
                  <a:schemeClr val="bg1"/>
                </a:solidFill>
                <a:latin typeface="Huawei Sans" panose="020C0503030203020204" pitchFamily="34" charset="0"/>
                <a:ea typeface="方正兰亭黑简体" panose="02000000000000000000" pitchFamily="2" charset="-122"/>
              </a:rPr>
              <a:t>调度）</a:t>
            </a:r>
          </a:p>
        </p:txBody>
      </p:sp>
      <p:cxnSp>
        <p:nvCxnSpPr>
          <p:cNvPr id="118" name="Elbow Connector 117"/>
          <p:cNvCxnSpPr>
            <a:cxnSpLocks/>
          </p:cNvCxnSpPr>
          <p:nvPr/>
        </p:nvCxnSpPr>
        <p:spPr bwMode="gray">
          <a:xfrm>
            <a:off x="8470199" y="4438740"/>
            <a:ext cx="1103432" cy="127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7" name="Oval 86"/>
          <p:cNvSpPr/>
          <p:nvPr/>
        </p:nvSpPr>
        <p:spPr bwMode="gray">
          <a:xfrm rot="16200000">
            <a:off x="8155271" y="4248204"/>
            <a:ext cx="1152128" cy="348071"/>
          </a:xfrm>
          <a:prstGeom prst="ellipse">
            <a:avLst/>
          </a:prstGeom>
          <a:solidFill>
            <a:schemeClr val="bg1"/>
          </a:solid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WFQ</a:t>
            </a:r>
            <a:endParaRPr lang="zh-CN" altLang="en-US" sz="1200" dirty="0">
              <a:solidFill>
                <a:schemeClr val="tx1"/>
              </a:solidFill>
            </a:endParaRPr>
          </a:p>
        </p:txBody>
      </p:sp>
      <p:cxnSp>
        <p:nvCxnSpPr>
          <p:cNvPr id="88" name="Straight Arrow Connector 87"/>
          <p:cNvCxnSpPr/>
          <p:nvPr/>
        </p:nvCxnSpPr>
        <p:spPr bwMode="gray">
          <a:xfrm rot="16200000">
            <a:off x="8424825" y="4397061"/>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bwMode="gray">
          <a:xfrm rot="16200000" flipH="1">
            <a:off x="8761355" y="4416263"/>
            <a:ext cx="288032"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ular Callout 37">
            <a:extLst>
              <a:ext uri="{FF2B5EF4-FFF2-40B4-BE49-F238E27FC236}">
                <a16:creationId xmlns:a16="http://schemas.microsoft.com/office/drawing/2014/main" id="{A7B265F4-59FE-4F27-9779-775FAB870893}"/>
              </a:ext>
            </a:extLst>
          </p:cNvPr>
          <p:cNvSpPr/>
          <p:nvPr/>
        </p:nvSpPr>
        <p:spPr bwMode="gray">
          <a:xfrm>
            <a:off x="3824538" y="4985423"/>
            <a:ext cx="1521102" cy="538199"/>
          </a:xfrm>
          <a:prstGeom prst="wedgeRectCallout">
            <a:avLst>
              <a:gd name="adj1" fmla="val -26210"/>
              <a:gd name="adj2" fmla="val -8240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Level3</a:t>
            </a:r>
            <a:r>
              <a:rPr lang="zh-CN" altLang="en-US" sz="1400" dirty="0">
                <a:solidFill>
                  <a:schemeClr val="tx1"/>
                </a:solidFill>
              </a:rPr>
              <a:t>流队列（</a:t>
            </a:r>
            <a:r>
              <a:rPr lang="en-US" altLang="zh-CN" sz="1400" dirty="0">
                <a:solidFill>
                  <a:schemeClr val="tx1"/>
                </a:solidFill>
              </a:rPr>
              <a:t>Flow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3" name="Rectangular Callout 38">
            <a:extLst>
              <a:ext uri="{FF2B5EF4-FFF2-40B4-BE49-F238E27FC236}">
                <a16:creationId xmlns:a16="http://schemas.microsoft.com/office/drawing/2014/main" id="{AAD86651-7D9B-4BA7-8B04-FD44F2AF7757}"/>
              </a:ext>
            </a:extLst>
          </p:cNvPr>
          <p:cNvSpPr/>
          <p:nvPr/>
        </p:nvSpPr>
        <p:spPr bwMode="gray">
          <a:xfrm>
            <a:off x="6493329" y="4642857"/>
            <a:ext cx="1850839" cy="538199"/>
          </a:xfrm>
          <a:prstGeom prst="wedgeRectCallout">
            <a:avLst>
              <a:gd name="adj1" fmla="val -8270"/>
              <a:gd name="adj2" fmla="val -704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Level2</a:t>
            </a:r>
            <a:r>
              <a:rPr lang="zh-CN" altLang="en-US" sz="1400" dirty="0">
                <a:solidFill>
                  <a:schemeClr val="tx1"/>
                </a:solidFill>
              </a:rPr>
              <a:t>用户队列（</a:t>
            </a:r>
            <a:r>
              <a:rPr lang="en-US" altLang="zh-CN" sz="1400" dirty="0">
                <a:solidFill>
                  <a:schemeClr val="tx1"/>
                </a:solidFill>
              </a:rPr>
              <a:t>Subscriber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57" name="Rectangular Callout 39">
            <a:extLst>
              <a:ext uri="{FF2B5EF4-FFF2-40B4-BE49-F238E27FC236}">
                <a16:creationId xmlns:a16="http://schemas.microsoft.com/office/drawing/2014/main" id="{DCA3F6CE-0F80-49C5-BA53-43F926B35904}"/>
              </a:ext>
            </a:extLst>
          </p:cNvPr>
          <p:cNvSpPr/>
          <p:nvPr/>
        </p:nvSpPr>
        <p:spPr bwMode="gray">
          <a:xfrm>
            <a:off x="9275090" y="3645086"/>
            <a:ext cx="1768185" cy="538199"/>
          </a:xfrm>
          <a:prstGeom prst="wedgeRectCallout">
            <a:avLst>
              <a:gd name="adj1" fmla="val -20640"/>
              <a:gd name="adj2" fmla="val 7843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Level1</a:t>
            </a:r>
            <a:r>
              <a:rPr lang="zh-CN" altLang="en-US" sz="1400" dirty="0">
                <a:solidFill>
                  <a:schemeClr val="tx1"/>
                </a:solidFill>
              </a:rPr>
              <a:t>接口队列（</a:t>
            </a:r>
            <a:r>
              <a:rPr lang="en-US" altLang="zh-CN" sz="1400" dirty="0">
                <a:solidFill>
                  <a:schemeClr val="tx1"/>
                </a:solidFill>
              </a:rPr>
              <a:t>Port Queue</a:t>
            </a:r>
            <a:r>
              <a:rPr lang="zh-CN" altLang="en-US" sz="1400" dirty="0">
                <a:solidFill>
                  <a:schemeClr val="tx1"/>
                </a:solidFill>
              </a:rPr>
              <a:t>）</a:t>
            </a:r>
            <a:endParaRPr lang="zh-CN" altLang="en-US" sz="1400" b="1" dirty="0">
              <a:solidFill>
                <a:schemeClr val="tx1"/>
              </a:solidFill>
              <a:latin typeface="Huawei Sans" panose="020C0503030203020204" pitchFamily="34" charset="0"/>
              <a:ea typeface="方正兰亭黑简体" panose="02000000000000000000" pitchFamily="2" charset="-122"/>
            </a:endParaRPr>
          </a:p>
        </p:txBody>
      </p:sp>
      <p:sp>
        <p:nvSpPr>
          <p:cNvPr id="80" name="Can 9">
            <a:extLst>
              <a:ext uri="{FF2B5EF4-FFF2-40B4-BE49-F238E27FC236}">
                <a16:creationId xmlns:a16="http://schemas.microsoft.com/office/drawing/2014/main" id="{9E1DB1C0-96E5-46DA-91A6-3C0FE62CC96C}"/>
              </a:ext>
            </a:extLst>
          </p:cNvPr>
          <p:cNvSpPr/>
          <p:nvPr/>
        </p:nvSpPr>
        <p:spPr bwMode="gray">
          <a:xfrm rot="5400000">
            <a:off x="7529964" y="4890385"/>
            <a:ext cx="253196" cy="1614471"/>
          </a:xfrm>
          <a:prstGeom prst="can">
            <a:avLst>
              <a:gd name="adj" fmla="val 40000"/>
            </a:avLst>
          </a:prstGeom>
          <a:solidFill>
            <a:srgbClr val="FEEEC1"/>
          </a:solidFill>
          <a:ln w="12700">
            <a:solidFill>
              <a:srgbClr val="FDE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TextBox 116"/>
          <p:cNvSpPr txBox="1"/>
          <p:nvPr/>
        </p:nvSpPr>
        <p:spPr bwMode="gray">
          <a:xfrm>
            <a:off x="6802390" y="5543731"/>
            <a:ext cx="1729961" cy="276999"/>
          </a:xfrm>
          <a:prstGeom prst="rect">
            <a:avLst/>
          </a:prstGeom>
          <a:noFill/>
        </p:spPr>
        <p:txBody>
          <a:bodyPr wrap="none" rtlCol="0">
            <a:spAutoFit/>
          </a:bodyPr>
          <a:lstStyle/>
          <a:p>
            <a:pPr fontAlgn="auto"/>
            <a:r>
              <a:rPr lang="zh-CN" altLang="en-US" sz="1200" b="1" dirty="0">
                <a:latin typeface="Huawei Sans" panose="020C0503030203020204" pitchFamily="34" charset="0"/>
                <a:ea typeface="方正兰亭黑简体" panose="02000000000000000000" pitchFamily="2" charset="-122"/>
              </a:rPr>
              <a:t>家庭</a:t>
            </a:r>
            <a:r>
              <a:rPr lang="en-US" altLang="zh-CN" sz="1200" b="1" dirty="0">
                <a:latin typeface="Huawei Sans" panose="020C0503030203020204" pitchFamily="34" charset="0"/>
                <a:ea typeface="方正兰亭黑简体" panose="02000000000000000000" pitchFamily="2" charset="-122"/>
              </a:rPr>
              <a:t>C</a:t>
            </a:r>
            <a:r>
              <a:rPr lang="zh-CN" altLang="en-US" sz="1200" b="1" dirty="0">
                <a:latin typeface="Huawei Sans" panose="020C0503030203020204" pitchFamily="34" charset="0"/>
                <a:ea typeface="方正兰亭黑简体" panose="02000000000000000000" pitchFamily="2" charset="-122"/>
              </a:rPr>
              <a:t>总带宽（</a:t>
            </a:r>
            <a:r>
              <a:rPr lang="en-US" altLang="zh-CN" sz="1200" b="1" dirty="0">
                <a:latin typeface="Huawei Sans" panose="020C0503030203020204" pitchFamily="34" charset="0"/>
                <a:ea typeface="方正兰亭黑简体" panose="02000000000000000000" pitchFamily="2" charset="-122"/>
              </a:rPr>
              <a:t>30 M</a:t>
            </a:r>
            <a:r>
              <a:rPr lang="zh-CN" altLang="en-US" sz="1200" b="1" dirty="0">
                <a:latin typeface="Huawei Sans" panose="020C0503030203020204" pitchFamily="34" charset="0"/>
                <a:ea typeface="方正兰亭黑简体" panose="02000000000000000000" pitchFamily="2" charset="-122"/>
              </a:rPr>
              <a:t>）</a:t>
            </a:r>
          </a:p>
        </p:txBody>
      </p:sp>
    </p:spTree>
    <p:extLst>
      <p:ext uri="{BB962C8B-B14F-4D97-AF65-F5344CB8AC3E}">
        <p14:creationId xmlns:p14="http://schemas.microsoft.com/office/powerpoint/2010/main" val="730684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广域互联网络基本架构</a:t>
            </a:r>
            <a:endParaRPr lang="en-US" altLang="zh-CN" dirty="0">
              <a:solidFill>
                <a:schemeClr val="bg1">
                  <a:lumMod val="50000"/>
                </a:schemeClr>
              </a:solidFill>
            </a:endParaRPr>
          </a:p>
          <a:p>
            <a:r>
              <a:rPr lang="zh-CN" altLang="en-US" dirty="0">
                <a:solidFill>
                  <a:schemeClr val="bg1">
                    <a:lumMod val="50000"/>
                  </a:schemeClr>
                </a:solidFill>
              </a:rPr>
              <a:t>广域互联组网技术应用</a:t>
            </a:r>
            <a:endParaRPr lang="en-US" altLang="zh-CN" dirty="0">
              <a:solidFill>
                <a:schemeClr val="bg1">
                  <a:lumMod val="50000"/>
                </a:schemeClr>
              </a:solidFill>
            </a:endParaRPr>
          </a:p>
          <a:p>
            <a:r>
              <a:rPr lang="zh-CN" altLang="en-US" dirty="0">
                <a:solidFill>
                  <a:schemeClr val="bg1">
                    <a:lumMod val="50000"/>
                  </a:schemeClr>
                </a:solidFill>
              </a:rPr>
              <a:t>广域互联高可靠性技术应用</a:t>
            </a:r>
            <a:endParaRPr lang="en-US" altLang="zh-CN" dirty="0">
              <a:solidFill>
                <a:schemeClr val="bg1">
                  <a:lumMod val="50000"/>
                </a:schemeClr>
              </a:solidFill>
            </a:endParaRPr>
          </a:p>
          <a:p>
            <a:r>
              <a:rPr lang="zh-CN" altLang="en-US" b="1" dirty="0"/>
              <a:t>广域互联优化技术应用</a:t>
            </a:r>
            <a:endParaRPr lang="en-US" altLang="zh-CN" b="1" dirty="0"/>
          </a:p>
          <a:p>
            <a:pPr lvl="1"/>
            <a:r>
              <a:rPr lang="en-US" altLang="zh-CN" dirty="0">
                <a:solidFill>
                  <a:schemeClr val="bg1">
                    <a:lumMod val="50000"/>
                  </a:schemeClr>
                </a:solidFill>
              </a:rPr>
              <a:t>QoS</a:t>
            </a:r>
            <a:r>
              <a:rPr lang="zh-CN" altLang="en-US" dirty="0">
                <a:solidFill>
                  <a:schemeClr val="bg1">
                    <a:lumMod val="50000"/>
                  </a:schemeClr>
                </a:solidFill>
              </a:rPr>
              <a:t>技术应用</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FEC</a:t>
            </a:r>
            <a:r>
              <a:rPr lang="zh-CN" altLang="en-US" dirty="0"/>
              <a:t>技术应用</a:t>
            </a:r>
            <a:endParaRPr lang="en-US" altLang="zh-CN" dirty="0"/>
          </a:p>
        </p:txBody>
      </p:sp>
    </p:spTree>
    <p:extLst>
      <p:ext uri="{BB962C8B-B14F-4D97-AF65-F5344CB8AC3E}">
        <p14:creationId xmlns:p14="http://schemas.microsoft.com/office/powerpoint/2010/main" val="24448272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6170D8-462F-4129-8D18-4EAA20A6987D}"/>
              </a:ext>
            </a:extLst>
          </p:cNvPr>
          <p:cNvSpPr>
            <a:spLocks noGrp="1"/>
          </p:cNvSpPr>
          <p:nvPr>
            <p:ph type="title"/>
          </p:nvPr>
        </p:nvSpPr>
        <p:spPr bwMode="gray"/>
        <p:txBody>
          <a:bodyPr/>
          <a:lstStyle/>
          <a:p>
            <a:r>
              <a:rPr lang="en-US" dirty="0"/>
              <a:t>FEC</a:t>
            </a:r>
            <a:r>
              <a:rPr lang="zh-CN" altLang="en-US" dirty="0"/>
              <a:t>简介</a:t>
            </a:r>
            <a:endParaRPr lang="en-US" dirty="0"/>
          </a:p>
        </p:txBody>
      </p:sp>
      <p:sp>
        <p:nvSpPr>
          <p:cNvPr id="4" name="Text Placeholder 3">
            <a:extLst>
              <a:ext uri="{FF2B5EF4-FFF2-40B4-BE49-F238E27FC236}">
                <a16:creationId xmlns:a16="http://schemas.microsoft.com/office/drawing/2014/main" id="{ED1AE2F3-C87F-48D8-A22E-204E32F4EC0D}"/>
              </a:ext>
            </a:extLst>
          </p:cNvPr>
          <p:cNvSpPr>
            <a:spLocks noGrp="1"/>
          </p:cNvSpPr>
          <p:nvPr>
            <p:ph type="body" sz="quarter" idx="10"/>
          </p:nvPr>
        </p:nvSpPr>
        <p:spPr bwMode="gray"/>
        <p:txBody>
          <a:bodyPr/>
          <a:lstStyle/>
          <a:p>
            <a:r>
              <a:rPr lang="zh-CN" altLang="en-US" sz="1800" dirty="0"/>
              <a:t>在</a:t>
            </a:r>
            <a:r>
              <a:rPr lang="en-US" altLang="zh-CN" sz="1800" dirty="0"/>
              <a:t>IP</a:t>
            </a:r>
            <a:r>
              <a:rPr lang="zh-CN" altLang="en-US" sz="1800" dirty="0"/>
              <a:t>视频通话中常会因为丢包导致图像失真，音频中断等问题，因此在传输过程中需要部署差错控制技术。</a:t>
            </a:r>
            <a:endParaRPr lang="en-US" altLang="zh-CN" sz="1800" dirty="0"/>
          </a:p>
          <a:p>
            <a:r>
              <a:rPr lang="en-US" sz="1800" dirty="0"/>
              <a:t>FEC</a:t>
            </a:r>
            <a:r>
              <a:rPr lang="zh-CN" altLang="en-US" sz="1800" dirty="0"/>
              <a:t>（</a:t>
            </a:r>
            <a:r>
              <a:rPr lang="en-US" altLang="zh-CN" sz="1800" dirty="0"/>
              <a:t>Forward error correction</a:t>
            </a:r>
            <a:r>
              <a:rPr lang="zh-CN" altLang="en-US" sz="1800" dirty="0"/>
              <a:t>，前向纠错）技术是差错控制技术的一种，发送方在发送数据时会附上冗余纠错包，接收方如果发现差错后可以基于冗余包进行纠错。</a:t>
            </a:r>
            <a:endParaRPr lang="en-US" altLang="zh-CN" sz="1800" dirty="0"/>
          </a:p>
          <a:p>
            <a:r>
              <a:rPr lang="en-US" sz="1800" dirty="0"/>
              <a:t>FEC</a:t>
            </a:r>
            <a:r>
              <a:rPr lang="zh-CN" altLang="en-US" sz="1800" dirty="0"/>
              <a:t>适用于会随机丢包或者跨国</a:t>
            </a:r>
            <a:r>
              <a:rPr lang="en-US" altLang="zh-CN" sz="1800" dirty="0"/>
              <a:t>RTT</a:t>
            </a:r>
            <a:r>
              <a:rPr lang="zh-CN" altLang="en-US" sz="1800"/>
              <a:t>比较大的网络</a:t>
            </a:r>
            <a:r>
              <a:rPr lang="zh-CN" altLang="en-US" sz="1800" dirty="0"/>
              <a:t>。</a:t>
            </a:r>
            <a:endParaRPr lang="en-US" sz="1800" dirty="0"/>
          </a:p>
        </p:txBody>
      </p:sp>
      <p:grpSp>
        <p:nvGrpSpPr>
          <p:cNvPr id="2" name="Group 1">
            <a:extLst>
              <a:ext uri="{FF2B5EF4-FFF2-40B4-BE49-F238E27FC236}">
                <a16:creationId xmlns:a16="http://schemas.microsoft.com/office/drawing/2014/main" id="{D6E3A8D9-BB10-4F0D-83F6-6E06EEFF2052}"/>
              </a:ext>
            </a:extLst>
          </p:cNvPr>
          <p:cNvGrpSpPr/>
          <p:nvPr/>
        </p:nvGrpSpPr>
        <p:grpSpPr bwMode="gray">
          <a:xfrm>
            <a:off x="2249865" y="3376774"/>
            <a:ext cx="7981101" cy="2740450"/>
            <a:chOff x="2359526" y="3012363"/>
            <a:chExt cx="7981101" cy="2740450"/>
          </a:xfrm>
        </p:grpSpPr>
        <p:sp>
          <p:nvSpPr>
            <p:cNvPr id="6" name="Freeform 159">
              <a:extLst>
                <a:ext uri="{FF2B5EF4-FFF2-40B4-BE49-F238E27FC236}">
                  <a16:creationId xmlns:a16="http://schemas.microsoft.com/office/drawing/2014/main" id="{CF673C8F-8493-4B54-90FA-EDFEA2477445}"/>
                </a:ext>
              </a:extLst>
            </p:cNvPr>
            <p:cNvSpPr/>
            <p:nvPr/>
          </p:nvSpPr>
          <p:spPr bwMode="gray">
            <a:xfrm flipH="1">
              <a:off x="2359526" y="4462120"/>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Picture 12" descr="E:\2016.01\1.12 扁平化图标\蓝色\AR-蓝色最新-40.png">
              <a:extLst>
                <a:ext uri="{FF2B5EF4-FFF2-40B4-BE49-F238E27FC236}">
                  <a16:creationId xmlns:a16="http://schemas.microsoft.com/office/drawing/2014/main" id="{2FFE41D6-0F1E-45C8-997E-396543AFB1BB}"/>
                </a:ext>
              </a:extLst>
            </p:cNvPr>
            <p:cNvPicPr>
              <a:picLocks noChangeAspect="1" noChangeArrowheads="1"/>
            </p:cNvPicPr>
            <p:nvPr/>
          </p:nvPicPr>
          <p:blipFill>
            <a:blip r:embed="rId3" cstate="print"/>
            <a:srcRect/>
            <a:stretch>
              <a:fillRect/>
            </a:stretch>
          </p:blipFill>
          <p:spPr bwMode="gray">
            <a:xfrm>
              <a:off x="7458004" y="4851258"/>
              <a:ext cx="440049" cy="360040"/>
            </a:xfrm>
            <a:prstGeom prst="rect">
              <a:avLst/>
            </a:prstGeom>
            <a:noFill/>
          </p:spPr>
        </p:pic>
        <p:sp>
          <p:nvSpPr>
            <p:cNvPr id="10" name="Freeform 159">
              <a:extLst>
                <a:ext uri="{FF2B5EF4-FFF2-40B4-BE49-F238E27FC236}">
                  <a16:creationId xmlns:a16="http://schemas.microsoft.com/office/drawing/2014/main" id="{38A98374-A609-45F8-8FA1-59E397404069}"/>
                </a:ext>
              </a:extLst>
            </p:cNvPr>
            <p:cNvSpPr/>
            <p:nvPr/>
          </p:nvSpPr>
          <p:spPr bwMode="gray">
            <a:xfrm flipH="1">
              <a:off x="5435904" y="420464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cxnSp>
          <p:nvCxnSpPr>
            <p:cNvPr id="11" name="Straight Connector 10">
              <a:extLst>
                <a:ext uri="{FF2B5EF4-FFF2-40B4-BE49-F238E27FC236}">
                  <a16:creationId xmlns:a16="http://schemas.microsoft.com/office/drawing/2014/main" id="{E7154196-C9E8-4611-B753-D8319497A8FC}"/>
                </a:ext>
              </a:extLst>
            </p:cNvPr>
            <p:cNvCxnSpPr>
              <a:cxnSpLocks/>
              <a:stCxn id="14" idx="0"/>
              <a:endCxn id="10" idx="21"/>
            </p:cNvCxnSpPr>
            <p:nvPr/>
          </p:nvCxnSpPr>
          <p:spPr bwMode="gray">
            <a:xfrm flipV="1">
              <a:off x="4078375" y="4537951"/>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Freeform 159">
              <a:extLst>
                <a:ext uri="{FF2B5EF4-FFF2-40B4-BE49-F238E27FC236}">
                  <a16:creationId xmlns:a16="http://schemas.microsoft.com/office/drawing/2014/main" id="{BB21C514-2FE7-4399-89F3-CFC45DFBA62E}"/>
                </a:ext>
              </a:extLst>
            </p:cNvPr>
            <p:cNvSpPr/>
            <p:nvPr/>
          </p:nvSpPr>
          <p:spPr bwMode="gray">
            <a:xfrm flipH="1">
              <a:off x="5435904" y="527740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Straight Connector 12">
              <a:extLst>
                <a:ext uri="{FF2B5EF4-FFF2-40B4-BE49-F238E27FC236}">
                  <a16:creationId xmlns:a16="http://schemas.microsoft.com/office/drawing/2014/main" id="{91DB1D0B-D253-4947-863F-A77EF72024EE}"/>
                </a:ext>
              </a:extLst>
            </p:cNvPr>
            <p:cNvCxnSpPr>
              <a:cxnSpLocks/>
              <a:stCxn id="14" idx="2"/>
              <a:endCxn id="12" idx="21"/>
            </p:cNvCxnSpPr>
            <p:nvPr/>
          </p:nvCxnSpPr>
          <p:spPr bwMode="gray">
            <a:xfrm>
              <a:off x="4078375" y="5178085"/>
              <a:ext cx="1357529" cy="432626"/>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2" descr="E:\2016.01\1.12 扁平化图标\蓝色\AR-蓝色最新-40.png">
              <a:extLst>
                <a:ext uri="{FF2B5EF4-FFF2-40B4-BE49-F238E27FC236}">
                  <a16:creationId xmlns:a16="http://schemas.microsoft.com/office/drawing/2014/main" id="{E540A306-E672-47BF-AFB2-90428A92D807}"/>
                </a:ext>
              </a:extLst>
            </p:cNvPr>
            <p:cNvPicPr>
              <a:picLocks noChangeAspect="1" noChangeArrowheads="1"/>
            </p:cNvPicPr>
            <p:nvPr/>
          </p:nvPicPr>
          <p:blipFill>
            <a:blip r:embed="rId3" cstate="print"/>
            <a:srcRect/>
            <a:stretch>
              <a:fillRect/>
            </a:stretch>
          </p:blipFill>
          <p:spPr bwMode="gray">
            <a:xfrm>
              <a:off x="3858350" y="4818045"/>
              <a:ext cx="440049" cy="360040"/>
            </a:xfrm>
            <a:prstGeom prst="rect">
              <a:avLst/>
            </a:prstGeom>
            <a:noFill/>
          </p:spPr>
        </p:pic>
        <p:cxnSp>
          <p:nvCxnSpPr>
            <p:cNvPr id="15" name="Straight Connector 14">
              <a:extLst>
                <a:ext uri="{FF2B5EF4-FFF2-40B4-BE49-F238E27FC236}">
                  <a16:creationId xmlns:a16="http://schemas.microsoft.com/office/drawing/2014/main" id="{7A784C30-7E98-47CD-BE7F-B0CFF40406A8}"/>
                </a:ext>
              </a:extLst>
            </p:cNvPr>
            <p:cNvCxnSpPr>
              <a:cxnSpLocks/>
              <a:stCxn id="12" idx="8"/>
              <a:endCxn id="9" idx="2"/>
            </p:cNvCxnSpPr>
            <p:nvPr/>
          </p:nvCxnSpPr>
          <p:spPr bwMode="gray">
            <a:xfrm flipV="1">
              <a:off x="6345386" y="5211298"/>
              <a:ext cx="1332643" cy="3907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143561-C28C-42E1-8B6F-C698042B05DE}"/>
                </a:ext>
              </a:extLst>
            </p:cNvPr>
            <p:cNvCxnSpPr>
              <a:cxnSpLocks/>
              <a:stCxn id="10" idx="8"/>
              <a:endCxn id="9" idx="0"/>
            </p:cNvCxnSpPr>
            <p:nvPr/>
          </p:nvCxnSpPr>
          <p:spPr bwMode="gray">
            <a:xfrm>
              <a:off x="6345386" y="4529298"/>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Freeform 159">
              <a:extLst>
                <a:ext uri="{FF2B5EF4-FFF2-40B4-BE49-F238E27FC236}">
                  <a16:creationId xmlns:a16="http://schemas.microsoft.com/office/drawing/2014/main" id="{81AC6045-C715-4D66-9F4E-B770AE6274D8}"/>
                </a:ext>
              </a:extLst>
            </p:cNvPr>
            <p:cNvSpPr/>
            <p:nvPr/>
          </p:nvSpPr>
          <p:spPr bwMode="gray">
            <a:xfrm flipH="1">
              <a:off x="8266408" y="4449088"/>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Straight Connector 17">
              <a:extLst>
                <a:ext uri="{FF2B5EF4-FFF2-40B4-BE49-F238E27FC236}">
                  <a16:creationId xmlns:a16="http://schemas.microsoft.com/office/drawing/2014/main" id="{079CE04D-84AA-4E96-A24F-6370780D473C}"/>
                </a:ext>
              </a:extLst>
            </p:cNvPr>
            <p:cNvCxnSpPr>
              <a:cxnSpLocks/>
              <a:stCxn id="9" idx="3"/>
              <a:endCxn id="17" idx="21"/>
            </p:cNvCxnSpPr>
            <p:nvPr/>
          </p:nvCxnSpPr>
          <p:spPr bwMode="gray">
            <a:xfrm>
              <a:off x="7898053" y="5031278"/>
              <a:ext cx="368355" cy="96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5BD07658-F266-4ADD-83E2-48BEB6EDEBAB}"/>
                </a:ext>
              </a:extLst>
            </p:cNvPr>
            <p:cNvSpPr/>
            <p:nvPr/>
          </p:nvSpPr>
          <p:spPr bwMode="gray">
            <a:xfrm>
              <a:off x="3693191" y="4446050"/>
              <a:ext cx="4896204"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Group 30">
              <a:extLst>
                <a:ext uri="{FF2B5EF4-FFF2-40B4-BE49-F238E27FC236}">
                  <a16:creationId xmlns:a16="http://schemas.microsoft.com/office/drawing/2014/main" id="{EA95BD09-067D-4844-803F-B4C0D8A63629}"/>
                </a:ext>
              </a:extLst>
            </p:cNvPr>
            <p:cNvGrpSpPr/>
            <p:nvPr/>
          </p:nvGrpSpPr>
          <p:grpSpPr bwMode="gray">
            <a:xfrm>
              <a:off x="2675700" y="4320915"/>
              <a:ext cx="1366037" cy="388045"/>
              <a:chOff x="1785406" y="2934248"/>
              <a:chExt cx="1366037" cy="388045"/>
            </a:xfrm>
          </p:grpSpPr>
          <p:sp>
            <p:nvSpPr>
              <p:cNvPr id="57" name="Rectangle 56">
                <a:extLst>
                  <a:ext uri="{FF2B5EF4-FFF2-40B4-BE49-F238E27FC236}">
                    <a16:creationId xmlns:a16="http://schemas.microsoft.com/office/drawing/2014/main" id="{EF223C92-0B67-400D-A3DB-E90BE0B71174}"/>
                  </a:ext>
                </a:extLst>
              </p:cNvPr>
              <p:cNvSpPr/>
              <p:nvPr/>
            </p:nvSpPr>
            <p:spPr bwMode="gray">
              <a:xfrm>
                <a:off x="1785406" y="2934248"/>
                <a:ext cx="1366037"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57">
                <a:extLst>
                  <a:ext uri="{FF2B5EF4-FFF2-40B4-BE49-F238E27FC236}">
                    <a16:creationId xmlns:a16="http://schemas.microsoft.com/office/drawing/2014/main" id="{12C5E255-D702-480B-A9DD-1DB9DDFAC1E8}"/>
                  </a:ext>
                </a:extLst>
              </p:cNvPr>
              <p:cNvSpPr txBox="1"/>
              <p:nvPr/>
            </p:nvSpPr>
            <p:spPr bwMode="gray">
              <a:xfrm>
                <a:off x="2820297" y="298678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59" name="TextBox 58">
                <a:extLst>
                  <a:ext uri="{FF2B5EF4-FFF2-40B4-BE49-F238E27FC236}">
                    <a16:creationId xmlns:a16="http://schemas.microsoft.com/office/drawing/2014/main" id="{422A182E-A95C-4741-941F-03C6DB58FCEC}"/>
                  </a:ext>
                </a:extLst>
              </p:cNvPr>
              <p:cNvSpPr txBox="1"/>
              <p:nvPr/>
            </p:nvSpPr>
            <p:spPr bwMode="gray">
              <a:xfrm>
                <a:off x="2490150" y="298678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60" name="TextBox 59">
                <a:extLst>
                  <a:ext uri="{FF2B5EF4-FFF2-40B4-BE49-F238E27FC236}">
                    <a16:creationId xmlns:a16="http://schemas.microsoft.com/office/drawing/2014/main" id="{F664B41C-1453-404B-8352-5EA4D8CD340C}"/>
                  </a:ext>
                </a:extLst>
              </p:cNvPr>
              <p:cNvSpPr txBox="1"/>
              <p:nvPr/>
            </p:nvSpPr>
            <p:spPr bwMode="gray">
              <a:xfrm>
                <a:off x="2160003" y="299261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61" name="TextBox 60">
                <a:extLst>
                  <a:ext uri="{FF2B5EF4-FFF2-40B4-BE49-F238E27FC236}">
                    <a16:creationId xmlns:a16="http://schemas.microsoft.com/office/drawing/2014/main" id="{678DE46D-6B1B-4AB2-B167-1C9DE750ED40}"/>
                  </a:ext>
                </a:extLst>
              </p:cNvPr>
              <p:cNvSpPr txBox="1"/>
              <p:nvPr/>
            </p:nvSpPr>
            <p:spPr bwMode="gray">
              <a:xfrm>
                <a:off x="1829856" y="299261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grpSp>
        <p:sp>
          <p:nvSpPr>
            <p:cNvPr id="32" name="TextBox 31">
              <a:extLst>
                <a:ext uri="{FF2B5EF4-FFF2-40B4-BE49-F238E27FC236}">
                  <a16:creationId xmlns:a16="http://schemas.microsoft.com/office/drawing/2014/main" id="{CE5E6F50-D311-4F8F-9293-0CD39D4B900F}"/>
                </a:ext>
              </a:extLst>
            </p:cNvPr>
            <p:cNvSpPr txBox="1"/>
            <p:nvPr/>
          </p:nvSpPr>
          <p:spPr bwMode="gray">
            <a:xfrm>
              <a:off x="2907312" y="4007435"/>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Rectangle 34">
              <a:extLst>
                <a:ext uri="{FF2B5EF4-FFF2-40B4-BE49-F238E27FC236}">
                  <a16:creationId xmlns:a16="http://schemas.microsoft.com/office/drawing/2014/main" id="{65757A8E-FE08-4367-9500-3F0DD609C759}"/>
                </a:ext>
              </a:extLst>
            </p:cNvPr>
            <p:cNvSpPr/>
            <p:nvPr/>
          </p:nvSpPr>
          <p:spPr bwMode="gray">
            <a:xfrm>
              <a:off x="4944160" y="3646464"/>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35">
              <a:extLst>
                <a:ext uri="{FF2B5EF4-FFF2-40B4-BE49-F238E27FC236}">
                  <a16:creationId xmlns:a16="http://schemas.microsoft.com/office/drawing/2014/main" id="{F0757283-06B7-4C44-A056-B9EFB8861B48}"/>
                </a:ext>
              </a:extLst>
            </p:cNvPr>
            <p:cNvSpPr txBox="1"/>
            <p:nvPr/>
          </p:nvSpPr>
          <p:spPr bwMode="gray">
            <a:xfrm>
              <a:off x="6319764" y="369900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7" name="TextBox 36">
              <a:extLst>
                <a:ext uri="{FF2B5EF4-FFF2-40B4-BE49-F238E27FC236}">
                  <a16:creationId xmlns:a16="http://schemas.microsoft.com/office/drawing/2014/main" id="{C5CD49C4-7E71-4589-A83E-BE913CD066ED}"/>
                </a:ext>
              </a:extLst>
            </p:cNvPr>
            <p:cNvSpPr txBox="1"/>
            <p:nvPr/>
          </p:nvSpPr>
          <p:spPr bwMode="gray">
            <a:xfrm>
              <a:off x="5989617" y="3304369"/>
              <a:ext cx="273050" cy="276999"/>
            </a:xfrm>
            <a:prstGeom prst="rect">
              <a:avLst/>
            </a:prstGeom>
            <a:solidFill>
              <a:srgbClr val="E28189"/>
            </a:solidFill>
            <a:ln>
              <a:solidFill>
                <a:srgbClr val="E28189"/>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38" name="TextBox 37">
              <a:extLst>
                <a:ext uri="{FF2B5EF4-FFF2-40B4-BE49-F238E27FC236}">
                  <a16:creationId xmlns:a16="http://schemas.microsoft.com/office/drawing/2014/main" id="{CC9EEB48-2683-4BC2-A2BA-16E2FEF3D682}"/>
                </a:ext>
              </a:extLst>
            </p:cNvPr>
            <p:cNvSpPr txBox="1"/>
            <p:nvPr/>
          </p:nvSpPr>
          <p:spPr bwMode="gray">
            <a:xfrm>
              <a:off x="5659470" y="370483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39" name="TextBox 38">
              <a:extLst>
                <a:ext uri="{FF2B5EF4-FFF2-40B4-BE49-F238E27FC236}">
                  <a16:creationId xmlns:a16="http://schemas.microsoft.com/office/drawing/2014/main" id="{3C38B174-B36D-4114-AA1D-AFFDAEDCC744}"/>
                </a:ext>
              </a:extLst>
            </p:cNvPr>
            <p:cNvSpPr txBox="1"/>
            <p:nvPr/>
          </p:nvSpPr>
          <p:spPr bwMode="gray">
            <a:xfrm>
              <a:off x="5329323" y="370483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40" name="TextBox 39">
              <a:extLst>
                <a:ext uri="{FF2B5EF4-FFF2-40B4-BE49-F238E27FC236}">
                  <a16:creationId xmlns:a16="http://schemas.microsoft.com/office/drawing/2014/main" id="{A9C32E27-6748-4988-982D-F879F6B8E77E}"/>
                </a:ext>
              </a:extLst>
            </p:cNvPr>
            <p:cNvSpPr txBox="1"/>
            <p:nvPr/>
          </p:nvSpPr>
          <p:spPr bwMode="gray">
            <a:xfrm>
              <a:off x="4916129" y="3305635"/>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Rectangular Callout 26">
              <a:extLst>
                <a:ext uri="{FF2B5EF4-FFF2-40B4-BE49-F238E27FC236}">
                  <a16:creationId xmlns:a16="http://schemas.microsoft.com/office/drawing/2014/main" id="{7BF2055B-7485-44A0-9962-C9359646A70B}"/>
                </a:ext>
              </a:extLst>
            </p:cNvPr>
            <p:cNvSpPr/>
            <p:nvPr/>
          </p:nvSpPr>
          <p:spPr bwMode="gray">
            <a:xfrm>
              <a:off x="3941939" y="3486872"/>
              <a:ext cx="876257" cy="388952"/>
            </a:xfrm>
            <a:prstGeom prst="wedgeRectCallout">
              <a:avLst>
                <a:gd name="adj1" fmla="val 65882"/>
                <a:gd name="adj2" fmla="val 2433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TextBox 41">
              <a:extLst>
                <a:ext uri="{FF2B5EF4-FFF2-40B4-BE49-F238E27FC236}">
                  <a16:creationId xmlns:a16="http://schemas.microsoft.com/office/drawing/2014/main" id="{F5AECFBE-C5D4-4358-8DFA-398EEEC5B223}"/>
                </a:ext>
              </a:extLst>
            </p:cNvPr>
            <p:cNvSpPr txBox="1"/>
            <p:nvPr/>
          </p:nvSpPr>
          <p:spPr bwMode="gray">
            <a:xfrm>
              <a:off x="4999176" y="3707540"/>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cxnSp>
          <p:nvCxnSpPr>
            <p:cNvPr id="44" name="Straight Arrow Connector 43">
              <a:extLst>
                <a:ext uri="{FF2B5EF4-FFF2-40B4-BE49-F238E27FC236}">
                  <a16:creationId xmlns:a16="http://schemas.microsoft.com/office/drawing/2014/main" id="{82AE1A51-3E5D-49C5-89BD-78B8C68D29EF}"/>
                </a:ext>
              </a:extLst>
            </p:cNvPr>
            <p:cNvCxnSpPr>
              <a:cxnSpLocks/>
              <a:stCxn id="37" idx="0"/>
            </p:cNvCxnSpPr>
            <p:nvPr/>
          </p:nvCxnSpPr>
          <p:spPr bwMode="gray">
            <a:xfrm flipV="1">
              <a:off x="6126142" y="3012363"/>
              <a:ext cx="0" cy="292006"/>
            </a:xfrm>
            <a:prstGeom prst="straightConnector1">
              <a:avLst/>
            </a:prstGeom>
            <a:ln w="19050">
              <a:solidFill>
                <a:srgbClr val="E28189"/>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ular Callout 26">
              <a:extLst>
                <a:ext uri="{FF2B5EF4-FFF2-40B4-BE49-F238E27FC236}">
                  <a16:creationId xmlns:a16="http://schemas.microsoft.com/office/drawing/2014/main" id="{8FECAF79-5541-422B-960A-A85904FB90A7}"/>
                </a:ext>
              </a:extLst>
            </p:cNvPr>
            <p:cNvSpPr/>
            <p:nvPr/>
          </p:nvSpPr>
          <p:spPr bwMode="gray">
            <a:xfrm>
              <a:off x="6433344" y="3105535"/>
              <a:ext cx="876257" cy="388952"/>
            </a:xfrm>
            <a:prstGeom prst="wedgeRectCallout">
              <a:avLst>
                <a:gd name="adj1" fmla="val -68907"/>
                <a:gd name="adj2" fmla="val 165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数据丢包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Rectangle 45">
              <a:extLst>
                <a:ext uri="{FF2B5EF4-FFF2-40B4-BE49-F238E27FC236}">
                  <a16:creationId xmlns:a16="http://schemas.microsoft.com/office/drawing/2014/main" id="{03869922-DAB8-413C-AD04-EC44C2EDB8F7}"/>
                </a:ext>
              </a:extLst>
            </p:cNvPr>
            <p:cNvSpPr/>
            <p:nvPr/>
          </p:nvSpPr>
          <p:spPr bwMode="gray">
            <a:xfrm>
              <a:off x="8605002" y="4465208"/>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46">
              <a:extLst>
                <a:ext uri="{FF2B5EF4-FFF2-40B4-BE49-F238E27FC236}">
                  <a16:creationId xmlns:a16="http://schemas.microsoft.com/office/drawing/2014/main" id="{AF3F31D3-696E-4577-BE17-E392DE8F9A08}"/>
                </a:ext>
              </a:extLst>
            </p:cNvPr>
            <p:cNvSpPr txBox="1"/>
            <p:nvPr/>
          </p:nvSpPr>
          <p:spPr bwMode="gray">
            <a:xfrm>
              <a:off x="9980606" y="451774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48" name="TextBox 47">
              <a:extLst>
                <a:ext uri="{FF2B5EF4-FFF2-40B4-BE49-F238E27FC236}">
                  <a16:creationId xmlns:a16="http://schemas.microsoft.com/office/drawing/2014/main" id="{63B3879F-4239-45A3-9B75-F71EDBED4109}"/>
                </a:ext>
              </a:extLst>
            </p:cNvPr>
            <p:cNvSpPr txBox="1"/>
            <p:nvPr/>
          </p:nvSpPr>
          <p:spPr bwMode="gray">
            <a:xfrm>
              <a:off x="9320312" y="452357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49" name="TextBox 48">
              <a:extLst>
                <a:ext uri="{FF2B5EF4-FFF2-40B4-BE49-F238E27FC236}">
                  <a16:creationId xmlns:a16="http://schemas.microsoft.com/office/drawing/2014/main" id="{226191AA-9725-4DD6-9DAE-F83502DBC33B}"/>
                </a:ext>
              </a:extLst>
            </p:cNvPr>
            <p:cNvSpPr txBox="1"/>
            <p:nvPr/>
          </p:nvSpPr>
          <p:spPr bwMode="gray">
            <a:xfrm>
              <a:off x="8990165" y="4523579"/>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50" name="TextBox 49">
              <a:extLst>
                <a:ext uri="{FF2B5EF4-FFF2-40B4-BE49-F238E27FC236}">
                  <a16:creationId xmlns:a16="http://schemas.microsoft.com/office/drawing/2014/main" id="{A56B52CA-7D9A-4C1A-9640-6A39A5AA5580}"/>
                </a:ext>
              </a:extLst>
            </p:cNvPr>
            <p:cNvSpPr txBox="1"/>
            <p:nvPr/>
          </p:nvSpPr>
          <p:spPr bwMode="gray">
            <a:xfrm>
              <a:off x="9005431" y="4124379"/>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关键流量</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TextBox 50">
              <a:extLst>
                <a:ext uri="{FF2B5EF4-FFF2-40B4-BE49-F238E27FC236}">
                  <a16:creationId xmlns:a16="http://schemas.microsoft.com/office/drawing/2014/main" id="{82CEEDE3-37A4-44F1-AA26-98647A6E30FD}"/>
                </a:ext>
              </a:extLst>
            </p:cNvPr>
            <p:cNvSpPr txBox="1"/>
            <p:nvPr/>
          </p:nvSpPr>
          <p:spPr bwMode="gray">
            <a:xfrm>
              <a:off x="8660018" y="4526284"/>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52" name="TextBox 51">
              <a:extLst>
                <a:ext uri="{FF2B5EF4-FFF2-40B4-BE49-F238E27FC236}">
                  <a16:creationId xmlns:a16="http://schemas.microsoft.com/office/drawing/2014/main" id="{672C1C77-6B7E-438E-A151-628E6E96179D}"/>
                </a:ext>
              </a:extLst>
            </p:cNvPr>
            <p:cNvSpPr txBox="1"/>
            <p:nvPr/>
          </p:nvSpPr>
          <p:spPr bwMode="gray">
            <a:xfrm>
              <a:off x="9646520" y="4525926"/>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cxnSp>
          <p:nvCxnSpPr>
            <p:cNvPr id="53" name="Connector: Elbow 52">
              <a:extLst>
                <a:ext uri="{FF2B5EF4-FFF2-40B4-BE49-F238E27FC236}">
                  <a16:creationId xmlns:a16="http://schemas.microsoft.com/office/drawing/2014/main" id="{930B05D0-C997-431B-9655-642D6734ADD1}"/>
                </a:ext>
              </a:extLst>
            </p:cNvPr>
            <p:cNvCxnSpPr>
              <a:cxnSpLocks/>
              <a:stCxn id="51" idx="2"/>
              <a:endCxn id="52" idx="2"/>
            </p:cNvCxnSpPr>
            <p:nvPr/>
          </p:nvCxnSpPr>
          <p:spPr bwMode="gray">
            <a:xfrm rot="5400000" flipH="1" flipV="1">
              <a:off x="9289615" y="4309853"/>
              <a:ext cx="358" cy="986502"/>
            </a:xfrm>
            <a:prstGeom prst="bentConnector3">
              <a:avLst>
                <a:gd name="adj1" fmla="val -96006145"/>
              </a:avLst>
            </a:prstGeom>
            <a:ln w="19050">
              <a:gradFill>
                <a:gsLst>
                  <a:gs pos="0">
                    <a:schemeClr val="bg1">
                      <a:lumMod val="50000"/>
                    </a:schemeClr>
                  </a:gs>
                  <a:gs pos="100000">
                    <a:srgbClr val="56C4D2"/>
                  </a:gs>
                </a:gsLst>
                <a:lin ang="5400000" scaled="1"/>
              </a:gra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ular Callout 26">
              <a:extLst>
                <a:ext uri="{FF2B5EF4-FFF2-40B4-BE49-F238E27FC236}">
                  <a16:creationId xmlns:a16="http://schemas.microsoft.com/office/drawing/2014/main" id="{6E978579-D1D7-4AB3-B955-92FB105C1F65}"/>
                </a:ext>
              </a:extLst>
            </p:cNvPr>
            <p:cNvSpPr/>
            <p:nvPr/>
          </p:nvSpPr>
          <p:spPr bwMode="gray">
            <a:xfrm>
              <a:off x="8904243" y="5268297"/>
              <a:ext cx="876257" cy="388952"/>
            </a:xfrm>
            <a:prstGeom prst="wedgeRectCallout">
              <a:avLst>
                <a:gd name="adj1" fmla="val -21079"/>
                <a:gd name="adj2" fmla="val -716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还原</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62" name="圆角矩形 75">
            <a:extLst>
              <a:ext uri="{FF2B5EF4-FFF2-40B4-BE49-F238E27FC236}">
                <a16:creationId xmlns:a16="http://schemas.microsoft.com/office/drawing/2014/main" id="{96FA1A15-5810-4E55-89EC-F7E56B919270}"/>
              </a:ext>
            </a:extLst>
          </p:cNvPr>
          <p:cNvSpPr/>
          <p:nvPr/>
        </p:nvSpPr>
        <p:spPr bwMode="gray">
          <a:xfrm>
            <a:off x="1395289" y="2892180"/>
            <a:ext cx="950019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FEC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基本流程</a:t>
            </a:r>
          </a:p>
        </p:txBody>
      </p:sp>
      <p:sp>
        <p:nvSpPr>
          <p:cNvPr id="63" name="圆角矩形 75">
            <a:extLst>
              <a:ext uri="{FF2B5EF4-FFF2-40B4-BE49-F238E27FC236}">
                <a16:creationId xmlns:a16="http://schemas.microsoft.com/office/drawing/2014/main" id="{22F4B59C-586C-439D-A2FF-3559082602E9}"/>
              </a:ext>
            </a:extLst>
          </p:cNvPr>
          <p:cNvSpPr/>
          <p:nvPr/>
        </p:nvSpPr>
        <p:spPr bwMode="gray">
          <a:xfrm>
            <a:off x="1395289" y="3326469"/>
            <a:ext cx="9500197" cy="284790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744141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433E-E118-4798-9D62-FCDB7F76EF6D}"/>
              </a:ext>
            </a:extLst>
          </p:cNvPr>
          <p:cNvSpPr>
            <a:spLocks noGrp="1"/>
          </p:cNvSpPr>
          <p:nvPr>
            <p:ph type="title"/>
          </p:nvPr>
        </p:nvSpPr>
        <p:spPr bwMode="gray"/>
        <p:txBody>
          <a:bodyPr/>
          <a:lstStyle/>
          <a:p>
            <a:r>
              <a:rPr lang="en-US" dirty="0"/>
              <a:t>A-FEC</a:t>
            </a:r>
            <a:r>
              <a:rPr lang="zh-CN" altLang="en-US" dirty="0"/>
              <a:t>简介</a:t>
            </a:r>
            <a:endParaRPr lang="en-US" dirty="0"/>
          </a:p>
        </p:txBody>
      </p:sp>
      <p:sp>
        <p:nvSpPr>
          <p:cNvPr id="3" name="Text Placeholder 2">
            <a:extLst>
              <a:ext uri="{FF2B5EF4-FFF2-40B4-BE49-F238E27FC236}">
                <a16:creationId xmlns:a16="http://schemas.microsoft.com/office/drawing/2014/main" id="{557FD987-2174-4FBD-922A-6F5E564ADCC9}"/>
              </a:ext>
            </a:extLst>
          </p:cNvPr>
          <p:cNvSpPr>
            <a:spLocks noGrp="1"/>
          </p:cNvSpPr>
          <p:nvPr>
            <p:ph type="body" sz="quarter" idx="10"/>
          </p:nvPr>
        </p:nvSpPr>
        <p:spPr bwMode="gray"/>
        <p:txBody>
          <a:bodyPr/>
          <a:lstStyle/>
          <a:p>
            <a:r>
              <a:rPr lang="zh-CN" altLang="en-US" sz="1800" dirty="0"/>
              <a:t>在</a:t>
            </a:r>
            <a:r>
              <a:rPr lang="en-US" altLang="zh-CN" sz="1800" dirty="0"/>
              <a:t>FEC</a:t>
            </a:r>
            <a:r>
              <a:rPr lang="zh-CN" altLang="en-US" sz="1800" dirty="0"/>
              <a:t>中，原始数据与冗余纠错包的数量比例是</a:t>
            </a:r>
            <a:r>
              <a:rPr lang="zh-CN" altLang="en-US" sz="1800"/>
              <a:t>固定的。当</a:t>
            </a:r>
            <a:r>
              <a:rPr lang="zh-CN" altLang="en-US" sz="1800" dirty="0"/>
              <a:t>碰到突发丢包时有可能因丢包过多，导致冗余包无法还原原始数据，因此当面对有突发丢包的网络时，</a:t>
            </a:r>
            <a:r>
              <a:rPr lang="en-US" altLang="zh-CN" sz="1800" dirty="0"/>
              <a:t>FEC</a:t>
            </a:r>
            <a:r>
              <a:rPr lang="zh-CN" altLang="en-US" sz="1800" dirty="0"/>
              <a:t>是不适用的。同时，</a:t>
            </a:r>
            <a:r>
              <a:rPr lang="en-US" altLang="zh-CN" sz="1800" dirty="0"/>
              <a:t>FEC</a:t>
            </a:r>
            <a:r>
              <a:rPr lang="zh-CN" altLang="en-US" sz="1800" dirty="0"/>
              <a:t>由于添加了冗余包使得带宽利用率有所下降。</a:t>
            </a:r>
            <a:endParaRPr lang="en-US" altLang="zh-CN" sz="1800" dirty="0"/>
          </a:p>
          <a:p>
            <a:r>
              <a:rPr lang="en-US" sz="1800" dirty="0"/>
              <a:t>A-FEC</a:t>
            </a:r>
            <a:r>
              <a:rPr lang="zh-CN" altLang="en-US" sz="1800" dirty="0"/>
              <a:t>（</a:t>
            </a:r>
            <a:r>
              <a:rPr lang="en-US" altLang="zh-CN" sz="1800" dirty="0">
                <a:sym typeface="Huawei Sans" panose="020C0503030203020204" pitchFamily="34" charset="0"/>
              </a:rPr>
              <a:t>Adaptive</a:t>
            </a:r>
            <a:r>
              <a:rPr lang="en-US" altLang="zh-CN" sz="1800" dirty="0"/>
              <a:t>-FEC</a:t>
            </a:r>
            <a:r>
              <a:rPr lang="zh-CN" altLang="en-US" sz="1800" dirty="0"/>
              <a:t>）技术可以基于现有网络</a:t>
            </a:r>
            <a:r>
              <a:rPr lang="zh-CN" altLang="en-US" sz="1800"/>
              <a:t>质量灵活地增加</a:t>
            </a:r>
            <a:r>
              <a:rPr lang="zh-CN" altLang="en-US" sz="1800" dirty="0"/>
              <a:t>冗余包</a:t>
            </a:r>
            <a:r>
              <a:rPr lang="zh-CN" altLang="en-US" sz="1800"/>
              <a:t>，较好地解决</a:t>
            </a:r>
            <a:r>
              <a:rPr lang="en-US" altLang="zh-CN" sz="1800" dirty="0"/>
              <a:t>FEC</a:t>
            </a:r>
            <a:r>
              <a:rPr lang="zh-CN" altLang="en-US" sz="1800" dirty="0"/>
              <a:t>面临的问题：</a:t>
            </a:r>
            <a:endParaRPr lang="en-US" altLang="zh-CN" sz="1800" dirty="0"/>
          </a:p>
          <a:p>
            <a:pPr lvl="1"/>
            <a:r>
              <a:rPr lang="zh-CN" altLang="en-US" sz="1600" dirty="0"/>
              <a:t>当网络质量较好时，</a:t>
            </a:r>
            <a:r>
              <a:rPr lang="en-US" altLang="zh-CN" sz="1600" dirty="0"/>
              <a:t>A-FEC</a:t>
            </a:r>
            <a:r>
              <a:rPr lang="zh-CN" altLang="en-US" sz="1600" dirty="0"/>
              <a:t>可以少量添加或者不添加冗余包，提高带宽利用率。</a:t>
            </a:r>
            <a:endParaRPr lang="en-US" altLang="zh-CN" sz="1600" dirty="0"/>
          </a:p>
          <a:p>
            <a:pPr lvl="1"/>
            <a:r>
              <a:rPr lang="zh-CN" altLang="en-US" sz="1600" dirty="0"/>
              <a:t>当网络质量较差时，</a:t>
            </a:r>
            <a:r>
              <a:rPr lang="en-US" altLang="zh-CN" sz="1600" dirty="0"/>
              <a:t>A-FEC</a:t>
            </a:r>
            <a:r>
              <a:rPr lang="zh-CN" altLang="en-US" sz="1600" dirty="0"/>
              <a:t>会增加冗余包的数量，避免因突发丢包导致的数据无法还原的问题。</a:t>
            </a:r>
            <a:endParaRPr lang="en-US" sz="1600" dirty="0"/>
          </a:p>
        </p:txBody>
      </p:sp>
      <p:sp>
        <p:nvSpPr>
          <p:cNvPr id="5" name="Freeform 159">
            <a:extLst>
              <a:ext uri="{FF2B5EF4-FFF2-40B4-BE49-F238E27FC236}">
                <a16:creationId xmlns:a16="http://schemas.microsoft.com/office/drawing/2014/main" id="{B1AD7C50-FBDB-475D-8845-D64B325E8A76}"/>
              </a:ext>
            </a:extLst>
          </p:cNvPr>
          <p:cNvSpPr/>
          <p:nvPr/>
        </p:nvSpPr>
        <p:spPr bwMode="gray">
          <a:xfrm flipH="1">
            <a:off x="2483781" y="4401399"/>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Picture 12" descr="E:\2016.01\1.12 扁平化图标\蓝色\AR-蓝色最新-40.png">
            <a:extLst>
              <a:ext uri="{FF2B5EF4-FFF2-40B4-BE49-F238E27FC236}">
                <a16:creationId xmlns:a16="http://schemas.microsoft.com/office/drawing/2014/main" id="{A5A2A44D-57DF-4AD6-AE6C-C2079BFE57B5}"/>
              </a:ext>
            </a:extLst>
          </p:cNvPr>
          <p:cNvPicPr>
            <a:picLocks noChangeAspect="1" noChangeArrowheads="1"/>
          </p:cNvPicPr>
          <p:nvPr/>
        </p:nvPicPr>
        <p:blipFill>
          <a:blip r:embed="rId3" cstate="print"/>
          <a:srcRect/>
          <a:stretch>
            <a:fillRect/>
          </a:stretch>
        </p:blipFill>
        <p:spPr bwMode="gray">
          <a:xfrm>
            <a:off x="7582259" y="4790537"/>
            <a:ext cx="440049" cy="360040"/>
          </a:xfrm>
          <a:prstGeom prst="rect">
            <a:avLst/>
          </a:prstGeom>
          <a:noFill/>
        </p:spPr>
      </p:pic>
      <p:sp>
        <p:nvSpPr>
          <p:cNvPr id="7" name="Freeform 159">
            <a:extLst>
              <a:ext uri="{FF2B5EF4-FFF2-40B4-BE49-F238E27FC236}">
                <a16:creationId xmlns:a16="http://schemas.microsoft.com/office/drawing/2014/main" id="{B5D1B429-AF4A-41F6-A42E-AD58A7C85999}"/>
              </a:ext>
            </a:extLst>
          </p:cNvPr>
          <p:cNvSpPr/>
          <p:nvPr/>
        </p:nvSpPr>
        <p:spPr bwMode="gray">
          <a:xfrm flipH="1">
            <a:off x="5560159" y="4143920"/>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cxnSp>
        <p:nvCxnSpPr>
          <p:cNvPr id="8" name="Straight Connector 7">
            <a:extLst>
              <a:ext uri="{FF2B5EF4-FFF2-40B4-BE49-F238E27FC236}">
                <a16:creationId xmlns:a16="http://schemas.microsoft.com/office/drawing/2014/main" id="{A1224DB3-CF0B-4567-AAD4-C2FE8774B03B}"/>
              </a:ext>
            </a:extLst>
          </p:cNvPr>
          <p:cNvCxnSpPr>
            <a:cxnSpLocks/>
            <a:stCxn id="11" idx="0"/>
            <a:endCxn id="7" idx="21"/>
          </p:cNvCxnSpPr>
          <p:nvPr/>
        </p:nvCxnSpPr>
        <p:spPr bwMode="gray">
          <a:xfrm flipV="1">
            <a:off x="4202630" y="4477230"/>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Freeform 159">
            <a:extLst>
              <a:ext uri="{FF2B5EF4-FFF2-40B4-BE49-F238E27FC236}">
                <a16:creationId xmlns:a16="http://schemas.microsoft.com/office/drawing/2014/main" id="{5105B485-5E7F-48D7-8693-A29043F5172D}"/>
              </a:ext>
            </a:extLst>
          </p:cNvPr>
          <p:cNvSpPr/>
          <p:nvPr/>
        </p:nvSpPr>
        <p:spPr bwMode="gray">
          <a:xfrm flipH="1">
            <a:off x="5560159" y="5099717"/>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Straight Connector 9">
            <a:extLst>
              <a:ext uri="{FF2B5EF4-FFF2-40B4-BE49-F238E27FC236}">
                <a16:creationId xmlns:a16="http://schemas.microsoft.com/office/drawing/2014/main" id="{69AE2CE2-86D2-4B3D-A048-49F4C8E14079}"/>
              </a:ext>
            </a:extLst>
          </p:cNvPr>
          <p:cNvCxnSpPr>
            <a:cxnSpLocks/>
            <a:stCxn id="11" idx="2"/>
            <a:endCxn id="9" idx="21"/>
          </p:cNvCxnSpPr>
          <p:nvPr/>
        </p:nvCxnSpPr>
        <p:spPr bwMode="gray">
          <a:xfrm>
            <a:off x="4202630" y="5117364"/>
            <a:ext cx="1357529" cy="3156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2" descr="E:\2016.01\1.12 扁平化图标\蓝色\AR-蓝色最新-40.png">
            <a:extLst>
              <a:ext uri="{FF2B5EF4-FFF2-40B4-BE49-F238E27FC236}">
                <a16:creationId xmlns:a16="http://schemas.microsoft.com/office/drawing/2014/main" id="{63493D35-7394-49D4-A427-78BD77BC7539}"/>
              </a:ext>
            </a:extLst>
          </p:cNvPr>
          <p:cNvPicPr>
            <a:picLocks noChangeAspect="1" noChangeArrowheads="1"/>
          </p:cNvPicPr>
          <p:nvPr/>
        </p:nvPicPr>
        <p:blipFill>
          <a:blip r:embed="rId3" cstate="print"/>
          <a:srcRect/>
          <a:stretch>
            <a:fillRect/>
          </a:stretch>
        </p:blipFill>
        <p:spPr bwMode="gray">
          <a:xfrm>
            <a:off x="3982605" y="4757324"/>
            <a:ext cx="440049" cy="360040"/>
          </a:xfrm>
          <a:prstGeom prst="rect">
            <a:avLst/>
          </a:prstGeom>
          <a:noFill/>
        </p:spPr>
      </p:pic>
      <p:cxnSp>
        <p:nvCxnSpPr>
          <p:cNvPr id="12" name="Straight Connector 11">
            <a:extLst>
              <a:ext uri="{FF2B5EF4-FFF2-40B4-BE49-F238E27FC236}">
                <a16:creationId xmlns:a16="http://schemas.microsoft.com/office/drawing/2014/main" id="{899869EE-7EA8-4A87-B92E-F00D448ED8DA}"/>
              </a:ext>
            </a:extLst>
          </p:cNvPr>
          <p:cNvCxnSpPr>
            <a:cxnSpLocks/>
            <a:stCxn id="9" idx="8"/>
            <a:endCxn id="6" idx="2"/>
          </p:cNvCxnSpPr>
          <p:nvPr/>
        </p:nvCxnSpPr>
        <p:spPr bwMode="gray">
          <a:xfrm flipV="1">
            <a:off x="6469641" y="5150577"/>
            <a:ext cx="1332643" cy="2737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9ACCDF1-D14C-4C26-B859-326F7C806A2A}"/>
              </a:ext>
            </a:extLst>
          </p:cNvPr>
          <p:cNvCxnSpPr>
            <a:cxnSpLocks/>
            <a:stCxn id="7" idx="8"/>
            <a:endCxn id="6" idx="0"/>
          </p:cNvCxnSpPr>
          <p:nvPr/>
        </p:nvCxnSpPr>
        <p:spPr bwMode="gray">
          <a:xfrm>
            <a:off x="6469641" y="4468577"/>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reeform 159">
            <a:extLst>
              <a:ext uri="{FF2B5EF4-FFF2-40B4-BE49-F238E27FC236}">
                <a16:creationId xmlns:a16="http://schemas.microsoft.com/office/drawing/2014/main" id="{B52ABACE-0084-4739-94DA-BB8B599DA499}"/>
              </a:ext>
            </a:extLst>
          </p:cNvPr>
          <p:cNvSpPr/>
          <p:nvPr/>
        </p:nvSpPr>
        <p:spPr bwMode="gray">
          <a:xfrm flipH="1">
            <a:off x="8390663" y="4388367"/>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Straight Connector 14">
            <a:extLst>
              <a:ext uri="{FF2B5EF4-FFF2-40B4-BE49-F238E27FC236}">
                <a16:creationId xmlns:a16="http://schemas.microsoft.com/office/drawing/2014/main" id="{2526D27B-39D4-4042-ABE7-0C3B32BD5601}"/>
              </a:ext>
            </a:extLst>
          </p:cNvPr>
          <p:cNvCxnSpPr>
            <a:cxnSpLocks/>
            <a:stCxn id="6" idx="3"/>
            <a:endCxn id="14" idx="21"/>
          </p:cNvCxnSpPr>
          <p:nvPr/>
        </p:nvCxnSpPr>
        <p:spPr bwMode="gray">
          <a:xfrm>
            <a:off x="8022308" y="4970557"/>
            <a:ext cx="368355" cy="96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27816A6B-312B-416B-87B9-1EC4B3D60B67}"/>
              </a:ext>
            </a:extLst>
          </p:cNvPr>
          <p:cNvSpPr/>
          <p:nvPr/>
        </p:nvSpPr>
        <p:spPr bwMode="gray">
          <a:xfrm>
            <a:off x="3678813" y="4385329"/>
            <a:ext cx="4896204"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81C15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56C4D2"/>
                </a:solidFill>
              </a:l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Rectangle 18">
            <a:extLst>
              <a:ext uri="{FF2B5EF4-FFF2-40B4-BE49-F238E27FC236}">
                <a16:creationId xmlns:a16="http://schemas.microsoft.com/office/drawing/2014/main" id="{73502D2E-D769-4988-BF64-B589CAF52625}"/>
              </a:ext>
            </a:extLst>
          </p:cNvPr>
          <p:cNvSpPr/>
          <p:nvPr/>
        </p:nvSpPr>
        <p:spPr bwMode="gray">
          <a:xfrm>
            <a:off x="5264118" y="3714316"/>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9">
            <a:extLst>
              <a:ext uri="{FF2B5EF4-FFF2-40B4-BE49-F238E27FC236}">
                <a16:creationId xmlns:a16="http://schemas.microsoft.com/office/drawing/2014/main" id="{382BCAA6-7BB4-43D9-8FBA-F497A22F6419}"/>
              </a:ext>
            </a:extLst>
          </p:cNvPr>
          <p:cNvSpPr txBox="1"/>
          <p:nvPr/>
        </p:nvSpPr>
        <p:spPr bwMode="gray">
          <a:xfrm>
            <a:off x="6639722" y="377231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2" name="TextBox 21">
            <a:extLst>
              <a:ext uri="{FF2B5EF4-FFF2-40B4-BE49-F238E27FC236}">
                <a16:creationId xmlns:a16="http://schemas.microsoft.com/office/drawing/2014/main" id="{B7DFE369-DA20-4ABB-A870-69109AB1DB91}"/>
              </a:ext>
            </a:extLst>
          </p:cNvPr>
          <p:cNvSpPr txBox="1"/>
          <p:nvPr/>
        </p:nvSpPr>
        <p:spPr bwMode="gray">
          <a:xfrm>
            <a:off x="5979428" y="377231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23" name="TextBox 22">
            <a:extLst>
              <a:ext uri="{FF2B5EF4-FFF2-40B4-BE49-F238E27FC236}">
                <a16:creationId xmlns:a16="http://schemas.microsoft.com/office/drawing/2014/main" id="{8F8CBB04-735C-453E-8D2A-EBFC0EC1C094}"/>
              </a:ext>
            </a:extLst>
          </p:cNvPr>
          <p:cNvSpPr txBox="1"/>
          <p:nvPr/>
        </p:nvSpPr>
        <p:spPr bwMode="gray">
          <a:xfrm>
            <a:off x="5649281" y="377231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25" name="Rectangular Callout 26">
            <a:extLst>
              <a:ext uri="{FF2B5EF4-FFF2-40B4-BE49-F238E27FC236}">
                <a16:creationId xmlns:a16="http://schemas.microsoft.com/office/drawing/2014/main" id="{BDD14D26-C2BF-44E4-915A-19C075B9F39A}"/>
              </a:ext>
            </a:extLst>
          </p:cNvPr>
          <p:cNvSpPr/>
          <p:nvPr/>
        </p:nvSpPr>
        <p:spPr bwMode="gray">
          <a:xfrm>
            <a:off x="4202630" y="3752512"/>
            <a:ext cx="945223" cy="388952"/>
          </a:xfrm>
          <a:prstGeom prst="wedgeRectCallout">
            <a:avLst>
              <a:gd name="adj1" fmla="val 65882"/>
              <a:gd name="adj2" fmla="val 47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少量添加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TextBox 25">
            <a:extLst>
              <a:ext uri="{FF2B5EF4-FFF2-40B4-BE49-F238E27FC236}">
                <a16:creationId xmlns:a16="http://schemas.microsoft.com/office/drawing/2014/main" id="{5283C0C5-F2F5-4A46-84AC-B092A5B6F5FC}"/>
              </a:ext>
            </a:extLst>
          </p:cNvPr>
          <p:cNvSpPr txBox="1"/>
          <p:nvPr/>
        </p:nvSpPr>
        <p:spPr bwMode="gray">
          <a:xfrm>
            <a:off x="5319134" y="3772315"/>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45" name="TextBox 44">
            <a:extLst>
              <a:ext uri="{FF2B5EF4-FFF2-40B4-BE49-F238E27FC236}">
                <a16:creationId xmlns:a16="http://schemas.microsoft.com/office/drawing/2014/main" id="{46BAFFCD-9F37-4CB4-9228-2AD50DB748DA}"/>
              </a:ext>
            </a:extLst>
          </p:cNvPr>
          <p:cNvSpPr txBox="1"/>
          <p:nvPr/>
        </p:nvSpPr>
        <p:spPr bwMode="gray">
          <a:xfrm>
            <a:off x="6307494" y="3772315"/>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46" name="Freeform: Shape 45">
            <a:extLst>
              <a:ext uri="{FF2B5EF4-FFF2-40B4-BE49-F238E27FC236}">
                <a16:creationId xmlns:a16="http://schemas.microsoft.com/office/drawing/2014/main" id="{B082277C-E08C-4B72-B3CE-39F85CA3AA58}"/>
              </a:ext>
            </a:extLst>
          </p:cNvPr>
          <p:cNvSpPr/>
          <p:nvPr/>
        </p:nvSpPr>
        <p:spPr bwMode="blackGray">
          <a:xfrm flipV="1">
            <a:off x="3678813" y="5023649"/>
            <a:ext cx="4896204" cy="506325"/>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Rectangular Callout 26">
            <a:extLst>
              <a:ext uri="{FF2B5EF4-FFF2-40B4-BE49-F238E27FC236}">
                <a16:creationId xmlns:a16="http://schemas.microsoft.com/office/drawing/2014/main" id="{2981B3C1-C67B-471B-87F5-3188817A9906}"/>
              </a:ext>
            </a:extLst>
          </p:cNvPr>
          <p:cNvSpPr/>
          <p:nvPr/>
        </p:nvSpPr>
        <p:spPr bwMode="gray">
          <a:xfrm>
            <a:off x="3206201" y="4271029"/>
            <a:ext cx="1216453" cy="287948"/>
          </a:xfrm>
          <a:prstGeom prst="wedgeRectCallout">
            <a:avLst>
              <a:gd name="adj1" fmla="val 27636"/>
              <a:gd name="adj2" fmla="val 785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网络质量较好</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8" name="Rectangular Callout 26">
            <a:extLst>
              <a:ext uri="{FF2B5EF4-FFF2-40B4-BE49-F238E27FC236}">
                <a16:creationId xmlns:a16="http://schemas.microsoft.com/office/drawing/2014/main" id="{BC3F3D0D-B275-4998-9530-4345299B8098}"/>
              </a:ext>
            </a:extLst>
          </p:cNvPr>
          <p:cNvSpPr/>
          <p:nvPr/>
        </p:nvSpPr>
        <p:spPr bwMode="gray">
          <a:xfrm>
            <a:off x="3137964" y="5285451"/>
            <a:ext cx="1216453" cy="287948"/>
          </a:xfrm>
          <a:prstGeom prst="wedgeRectCallout">
            <a:avLst>
              <a:gd name="adj1" fmla="val 31132"/>
              <a:gd name="adj2" fmla="val -8761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网络质量较差</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Rectangle 48">
            <a:extLst>
              <a:ext uri="{FF2B5EF4-FFF2-40B4-BE49-F238E27FC236}">
                <a16:creationId xmlns:a16="http://schemas.microsoft.com/office/drawing/2014/main" id="{F248E7E6-ABE3-4FCA-8A0A-76B628D2F8B0}"/>
              </a:ext>
            </a:extLst>
          </p:cNvPr>
          <p:cNvSpPr/>
          <p:nvPr/>
        </p:nvSpPr>
        <p:spPr bwMode="gray">
          <a:xfrm>
            <a:off x="5309892" y="5684458"/>
            <a:ext cx="2033884"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49">
            <a:extLst>
              <a:ext uri="{FF2B5EF4-FFF2-40B4-BE49-F238E27FC236}">
                <a16:creationId xmlns:a16="http://schemas.microsoft.com/office/drawing/2014/main" id="{FFB2CAE9-F3C1-4F2B-8E5F-FFA2BEA4662B}"/>
              </a:ext>
            </a:extLst>
          </p:cNvPr>
          <p:cNvSpPr txBox="1"/>
          <p:nvPr/>
        </p:nvSpPr>
        <p:spPr bwMode="gray">
          <a:xfrm>
            <a:off x="7017344" y="5742457"/>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51" name="TextBox 50">
            <a:extLst>
              <a:ext uri="{FF2B5EF4-FFF2-40B4-BE49-F238E27FC236}">
                <a16:creationId xmlns:a16="http://schemas.microsoft.com/office/drawing/2014/main" id="{8F7E010D-A098-4F8C-A8F6-6DCB4F505EC6}"/>
              </a:ext>
            </a:extLst>
          </p:cNvPr>
          <p:cNvSpPr txBox="1"/>
          <p:nvPr/>
        </p:nvSpPr>
        <p:spPr bwMode="gray">
          <a:xfrm>
            <a:off x="6025201" y="5742457"/>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52" name="TextBox 51">
            <a:extLst>
              <a:ext uri="{FF2B5EF4-FFF2-40B4-BE49-F238E27FC236}">
                <a16:creationId xmlns:a16="http://schemas.microsoft.com/office/drawing/2014/main" id="{DF7A8CC9-3A6D-4038-BD45-E2FED04E8C0D}"/>
              </a:ext>
            </a:extLst>
          </p:cNvPr>
          <p:cNvSpPr txBox="1"/>
          <p:nvPr/>
        </p:nvSpPr>
        <p:spPr bwMode="gray">
          <a:xfrm>
            <a:off x="5695054" y="5742457"/>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53" name="Rectangular Callout 26">
            <a:extLst>
              <a:ext uri="{FF2B5EF4-FFF2-40B4-BE49-F238E27FC236}">
                <a16:creationId xmlns:a16="http://schemas.microsoft.com/office/drawing/2014/main" id="{7CF460E0-CA52-4EB5-ABCD-59B087B4CB6C}"/>
              </a:ext>
            </a:extLst>
          </p:cNvPr>
          <p:cNvSpPr/>
          <p:nvPr/>
        </p:nvSpPr>
        <p:spPr bwMode="gray">
          <a:xfrm>
            <a:off x="4248403" y="5722654"/>
            <a:ext cx="945223" cy="388952"/>
          </a:xfrm>
          <a:prstGeom prst="wedgeRectCallout">
            <a:avLst>
              <a:gd name="adj1" fmla="val 65882"/>
              <a:gd name="adj2" fmla="val 47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添加较多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4" name="TextBox 53">
            <a:extLst>
              <a:ext uri="{FF2B5EF4-FFF2-40B4-BE49-F238E27FC236}">
                <a16:creationId xmlns:a16="http://schemas.microsoft.com/office/drawing/2014/main" id="{14B13106-99C5-4D44-8D78-0D60D3E22648}"/>
              </a:ext>
            </a:extLst>
          </p:cNvPr>
          <p:cNvSpPr txBox="1"/>
          <p:nvPr/>
        </p:nvSpPr>
        <p:spPr bwMode="gray">
          <a:xfrm>
            <a:off x="5364907" y="5742457"/>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55" name="TextBox 54">
            <a:extLst>
              <a:ext uri="{FF2B5EF4-FFF2-40B4-BE49-F238E27FC236}">
                <a16:creationId xmlns:a16="http://schemas.microsoft.com/office/drawing/2014/main" id="{7123EE47-55DF-4B57-89EE-70D083177C64}"/>
              </a:ext>
            </a:extLst>
          </p:cNvPr>
          <p:cNvSpPr txBox="1"/>
          <p:nvPr/>
        </p:nvSpPr>
        <p:spPr bwMode="gray">
          <a:xfrm>
            <a:off x="6686346" y="5742457"/>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56" name="TextBox 55">
            <a:extLst>
              <a:ext uri="{FF2B5EF4-FFF2-40B4-BE49-F238E27FC236}">
                <a16:creationId xmlns:a16="http://schemas.microsoft.com/office/drawing/2014/main" id="{E658A371-CA5D-4DF8-B18D-BD03FAAFBC35}"/>
              </a:ext>
            </a:extLst>
          </p:cNvPr>
          <p:cNvSpPr txBox="1"/>
          <p:nvPr/>
        </p:nvSpPr>
        <p:spPr bwMode="gray">
          <a:xfrm>
            <a:off x="6355348" y="5742457"/>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Tree>
    <p:extLst>
      <p:ext uri="{BB962C8B-B14F-4D97-AF65-F5344CB8AC3E}">
        <p14:creationId xmlns:p14="http://schemas.microsoft.com/office/powerpoint/2010/main" val="31244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174FE-9DEE-4E45-ABCA-C21102CA27A1}"/>
              </a:ext>
            </a:extLst>
          </p:cNvPr>
          <p:cNvSpPr>
            <a:spLocks noGrp="1"/>
          </p:cNvSpPr>
          <p:nvPr>
            <p:ph type="title"/>
          </p:nvPr>
        </p:nvSpPr>
        <p:spPr bwMode="gray"/>
        <p:txBody>
          <a:bodyPr/>
          <a:lstStyle/>
          <a:p>
            <a:r>
              <a:rPr lang="en-US" dirty="0"/>
              <a:t>FEC/A-FEC</a:t>
            </a:r>
            <a:r>
              <a:rPr lang="zh-CN" altLang="en-US" dirty="0"/>
              <a:t>应用场景</a:t>
            </a:r>
            <a:endParaRPr lang="en-US" dirty="0"/>
          </a:p>
        </p:txBody>
      </p:sp>
      <p:sp>
        <p:nvSpPr>
          <p:cNvPr id="3" name="Text Placeholder 2">
            <a:extLst>
              <a:ext uri="{FF2B5EF4-FFF2-40B4-BE49-F238E27FC236}">
                <a16:creationId xmlns:a16="http://schemas.microsoft.com/office/drawing/2014/main" id="{D97596F2-03A4-4853-BC78-A759662F5377}"/>
              </a:ext>
            </a:extLst>
          </p:cNvPr>
          <p:cNvSpPr>
            <a:spLocks noGrp="1"/>
          </p:cNvSpPr>
          <p:nvPr>
            <p:ph type="body" sz="quarter" idx="10"/>
          </p:nvPr>
        </p:nvSpPr>
        <p:spPr bwMode="gray">
          <a:xfrm>
            <a:off x="455612" y="1047750"/>
            <a:ext cx="11293475" cy="504487"/>
          </a:xfrm>
        </p:spPr>
        <p:txBody>
          <a:bodyPr/>
          <a:lstStyle/>
          <a:p>
            <a:r>
              <a:rPr lang="zh-CN" altLang="en-US" sz="2000" dirty="0"/>
              <a:t>使用</a:t>
            </a:r>
            <a:r>
              <a:rPr lang="en-US" altLang="zh-CN" sz="2000" dirty="0"/>
              <a:t>FEC</a:t>
            </a:r>
            <a:r>
              <a:rPr lang="zh-CN" altLang="en-US" sz="2000" dirty="0"/>
              <a:t>或</a:t>
            </a:r>
            <a:r>
              <a:rPr lang="en-US" altLang="zh-CN" sz="2000" dirty="0"/>
              <a:t>A-FEC</a:t>
            </a:r>
            <a:r>
              <a:rPr lang="zh-CN" altLang="en-US" sz="2000" dirty="0"/>
              <a:t>可以保障关键的视频应用，减少视频卡顿与花屏。</a:t>
            </a:r>
            <a:endParaRPr lang="en-US" sz="2000" dirty="0"/>
          </a:p>
        </p:txBody>
      </p:sp>
      <p:sp>
        <p:nvSpPr>
          <p:cNvPr id="35" name="圆角矩形 75">
            <a:extLst>
              <a:ext uri="{FF2B5EF4-FFF2-40B4-BE49-F238E27FC236}">
                <a16:creationId xmlns:a16="http://schemas.microsoft.com/office/drawing/2014/main" id="{D4C84303-926A-4A8E-958D-8EB44731A950}"/>
              </a:ext>
            </a:extLst>
          </p:cNvPr>
          <p:cNvSpPr/>
          <p:nvPr/>
        </p:nvSpPr>
        <p:spPr bwMode="gray">
          <a:xfrm>
            <a:off x="1345901" y="1780959"/>
            <a:ext cx="950019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FEC/A-FEC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应用场景</a:t>
            </a:r>
          </a:p>
        </p:txBody>
      </p:sp>
      <p:sp>
        <p:nvSpPr>
          <p:cNvPr id="36" name="圆角矩形 75">
            <a:extLst>
              <a:ext uri="{FF2B5EF4-FFF2-40B4-BE49-F238E27FC236}">
                <a16:creationId xmlns:a16="http://schemas.microsoft.com/office/drawing/2014/main" id="{90057539-B9A2-4588-868E-2D5F665F22D4}"/>
              </a:ext>
            </a:extLst>
          </p:cNvPr>
          <p:cNvSpPr/>
          <p:nvPr/>
        </p:nvSpPr>
        <p:spPr bwMode="gray">
          <a:xfrm>
            <a:off x="1345901" y="2215248"/>
            <a:ext cx="9500197" cy="362675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A-FEC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算法根据应用和链路质量在发送端灵活增加冗余包，抵御网络连续丢包，可保障关键的视频应用在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丢包的情况下无卡顿、无花屏。</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Freeform 159">
            <a:extLst>
              <a:ext uri="{FF2B5EF4-FFF2-40B4-BE49-F238E27FC236}">
                <a16:creationId xmlns:a16="http://schemas.microsoft.com/office/drawing/2014/main" id="{2001CEDE-A488-453E-AA17-C7DCB485FBD3}"/>
              </a:ext>
            </a:extLst>
          </p:cNvPr>
          <p:cNvSpPr/>
          <p:nvPr/>
        </p:nvSpPr>
        <p:spPr bwMode="gray">
          <a:xfrm flipH="1">
            <a:off x="2341426" y="3161916"/>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 name="Picture 12" descr="E:\2016.01\1.12 扁平化图标\蓝色\AR-蓝色最新-40.png">
            <a:extLst>
              <a:ext uri="{FF2B5EF4-FFF2-40B4-BE49-F238E27FC236}">
                <a16:creationId xmlns:a16="http://schemas.microsoft.com/office/drawing/2014/main" id="{764BD342-3DE1-4C5C-91D4-5052095527B1}"/>
              </a:ext>
            </a:extLst>
          </p:cNvPr>
          <p:cNvPicPr>
            <a:picLocks noChangeAspect="1" noChangeArrowheads="1"/>
          </p:cNvPicPr>
          <p:nvPr/>
        </p:nvPicPr>
        <p:blipFill>
          <a:blip r:embed="rId3" cstate="print"/>
          <a:srcRect/>
          <a:stretch>
            <a:fillRect/>
          </a:stretch>
        </p:blipFill>
        <p:spPr bwMode="gray">
          <a:xfrm>
            <a:off x="7439904" y="3551054"/>
            <a:ext cx="440049" cy="360040"/>
          </a:xfrm>
          <a:prstGeom prst="rect">
            <a:avLst/>
          </a:prstGeom>
          <a:noFill/>
        </p:spPr>
      </p:pic>
      <p:sp>
        <p:nvSpPr>
          <p:cNvPr id="6" name="Freeform 159">
            <a:extLst>
              <a:ext uri="{FF2B5EF4-FFF2-40B4-BE49-F238E27FC236}">
                <a16:creationId xmlns:a16="http://schemas.microsoft.com/office/drawing/2014/main" id="{08550B74-C35B-4202-98DD-3ADD1107F9B9}"/>
              </a:ext>
            </a:extLst>
          </p:cNvPr>
          <p:cNvSpPr/>
          <p:nvPr/>
        </p:nvSpPr>
        <p:spPr bwMode="gray">
          <a:xfrm flipH="1">
            <a:off x="5417804" y="2904437"/>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cxnSp>
        <p:nvCxnSpPr>
          <p:cNvPr id="7" name="Straight Connector 6">
            <a:extLst>
              <a:ext uri="{FF2B5EF4-FFF2-40B4-BE49-F238E27FC236}">
                <a16:creationId xmlns:a16="http://schemas.microsoft.com/office/drawing/2014/main" id="{85F1FA51-FB07-48F6-BBFD-9D26A0D15938}"/>
              </a:ext>
            </a:extLst>
          </p:cNvPr>
          <p:cNvCxnSpPr>
            <a:cxnSpLocks/>
            <a:stCxn id="10" idx="0"/>
            <a:endCxn id="6" idx="21"/>
          </p:cNvCxnSpPr>
          <p:nvPr/>
        </p:nvCxnSpPr>
        <p:spPr bwMode="gray">
          <a:xfrm flipV="1">
            <a:off x="4060275" y="3237747"/>
            <a:ext cx="1357529" cy="2800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 name="Freeform 159">
            <a:extLst>
              <a:ext uri="{FF2B5EF4-FFF2-40B4-BE49-F238E27FC236}">
                <a16:creationId xmlns:a16="http://schemas.microsoft.com/office/drawing/2014/main" id="{8A11801C-20A8-49D4-8DAA-062E394507B3}"/>
              </a:ext>
            </a:extLst>
          </p:cNvPr>
          <p:cNvSpPr/>
          <p:nvPr/>
        </p:nvSpPr>
        <p:spPr bwMode="gray">
          <a:xfrm flipH="1">
            <a:off x="5417804" y="386023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nternet</a:t>
            </a:r>
            <a:endPar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 name="Straight Connector 8">
            <a:extLst>
              <a:ext uri="{FF2B5EF4-FFF2-40B4-BE49-F238E27FC236}">
                <a16:creationId xmlns:a16="http://schemas.microsoft.com/office/drawing/2014/main" id="{F2F9EE92-CB13-4FF8-B7E0-3EE95233A1D3}"/>
              </a:ext>
            </a:extLst>
          </p:cNvPr>
          <p:cNvCxnSpPr>
            <a:cxnSpLocks/>
            <a:stCxn id="10" idx="2"/>
            <a:endCxn id="8" idx="21"/>
          </p:cNvCxnSpPr>
          <p:nvPr/>
        </p:nvCxnSpPr>
        <p:spPr bwMode="gray">
          <a:xfrm>
            <a:off x="4060275" y="3877881"/>
            <a:ext cx="1357529" cy="3156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3840250" y="3517841"/>
            <a:ext cx="440049" cy="360040"/>
          </a:xfrm>
          <a:prstGeom prst="rect">
            <a:avLst/>
          </a:prstGeom>
          <a:noFill/>
        </p:spPr>
      </p:pic>
      <p:cxnSp>
        <p:nvCxnSpPr>
          <p:cNvPr id="11" name="Straight Connector 10">
            <a:extLst>
              <a:ext uri="{FF2B5EF4-FFF2-40B4-BE49-F238E27FC236}">
                <a16:creationId xmlns:a16="http://schemas.microsoft.com/office/drawing/2014/main" id="{11CE5125-72ED-4BC8-9BE6-1F03404A370D}"/>
              </a:ext>
            </a:extLst>
          </p:cNvPr>
          <p:cNvCxnSpPr>
            <a:cxnSpLocks/>
            <a:stCxn id="8" idx="8"/>
            <a:endCxn id="5" idx="2"/>
          </p:cNvCxnSpPr>
          <p:nvPr/>
        </p:nvCxnSpPr>
        <p:spPr bwMode="gray">
          <a:xfrm flipV="1">
            <a:off x="6327286" y="3911094"/>
            <a:ext cx="1332643" cy="2737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19E9D9-F876-4A6B-A0E0-984607D25149}"/>
              </a:ext>
            </a:extLst>
          </p:cNvPr>
          <p:cNvCxnSpPr>
            <a:cxnSpLocks/>
            <a:stCxn id="6" idx="8"/>
            <a:endCxn id="5" idx="0"/>
          </p:cNvCxnSpPr>
          <p:nvPr/>
        </p:nvCxnSpPr>
        <p:spPr bwMode="gray">
          <a:xfrm>
            <a:off x="6327286" y="3229094"/>
            <a:ext cx="1332643" cy="32196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reeform 159">
            <a:extLst>
              <a:ext uri="{FF2B5EF4-FFF2-40B4-BE49-F238E27FC236}">
                <a16:creationId xmlns:a16="http://schemas.microsoft.com/office/drawing/2014/main" id="{2FCD4AB1-58E9-4243-AABE-418421B61D62}"/>
              </a:ext>
            </a:extLst>
          </p:cNvPr>
          <p:cNvSpPr/>
          <p:nvPr/>
        </p:nvSpPr>
        <p:spPr bwMode="gray">
          <a:xfrm flipH="1">
            <a:off x="8248308" y="3148884"/>
            <a:ext cx="1614965" cy="8441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Straight Connector 13">
            <a:extLst>
              <a:ext uri="{FF2B5EF4-FFF2-40B4-BE49-F238E27FC236}">
                <a16:creationId xmlns:a16="http://schemas.microsoft.com/office/drawing/2014/main" id="{DAA14E6E-60D6-416D-9667-4108C5CC595A}"/>
              </a:ext>
            </a:extLst>
          </p:cNvPr>
          <p:cNvCxnSpPr>
            <a:cxnSpLocks/>
            <a:stCxn id="5" idx="3"/>
            <a:endCxn id="13" idx="21"/>
          </p:cNvCxnSpPr>
          <p:nvPr/>
        </p:nvCxnSpPr>
        <p:spPr bwMode="gray">
          <a:xfrm>
            <a:off x="7879953" y="3731074"/>
            <a:ext cx="368355" cy="966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81F21CBA-DFBB-449D-8D08-F859CAA6CE77}"/>
              </a:ext>
            </a:extLst>
          </p:cNvPr>
          <p:cNvSpPr/>
          <p:nvPr/>
        </p:nvSpPr>
        <p:spPr bwMode="gray">
          <a:xfrm>
            <a:off x="3536458" y="3145846"/>
            <a:ext cx="4896204" cy="442791"/>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81C15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56C4D2"/>
                </a:solidFill>
              </a:ln>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Rectangle 15">
            <a:extLst>
              <a:ext uri="{FF2B5EF4-FFF2-40B4-BE49-F238E27FC236}">
                <a16:creationId xmlns:a16="http://schemas.microsoft.com/office/drawing/2014/main" id="{0D9C8B00-F8BB-4082-9C89-C2D592B01892}"/>
              </a:ext>
            </a:extLst>
          </p:cNvPr>
          <p:cNvSpPr/>
          <p:nvPr/>
        </p:nvSpPr>
        <p:spPr bwMode="gray">
          <a:xfrm>
            <a:off x="5121763" y="2474833"/>
            <a:ext cx="1735625"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6">
            <a:extLst>
              <a:ext uri="{FF2B5EF4-FFF2-40B4-BE49-F238E27FC236}">
                <a16:creationId xmlns:a16="http://schemas.microsoft.com/office/drawing/2014/main" id="{DEAB2B64-C123-4E9A-A126-85AD4B17CCED}"/>
              </a:ext>
            </a:extLst>
          </p:cNvPr>
          <p:cNvSpPr txBox="1"/>
          <p:nvPr/>
        </p:nvSpPr>
        <p:spPr bwMode="gray">
          <a:xfrm>
            <a:off x="6497367" y="2532832"/>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18" name="TextBox 17">
            <a:extLst>
              <a:ext uri="{FF2B5EF4-FFF2-40B4-BE49-F238E27FC236}">
                <a16:creationId xmlns:a16="http://schemas.microsoft.com/office/drawing/2014/main" id="{9FC4321F-11A1-4A65-99AE-7B833B5FD0D8}"/>
              </a:ext>
            </a:extLst>
          </p:cNvPr>
          <p:cNvSpPr txBox="1"/>
          <p:nvPr/>
        </p:nvSpPr>
        <p:spPr bwMode="gray">
          <a:xfrm>
            <a:off x="5837073" y="2532832"/>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19" name="TextBox 18">
            <a:extLst>
              <a:ext uri="{FF2B5EF4-FFF2-40B4-BE49-F238E27FC236}">
                <a16:creationId xmlns:a16="http://schemas.microsoft.com/office/drawing/2014/main" id="{A9939B02-9EE4-4119-AA57-0007DF078549}"/>
              </a:ext>
            </a:extLst>
          </p:cNvPr>
          <p:cNvSpPr txBox="1"/>
          <p:nvPr/>
        </p:nvSpPr>
        <p:spPr bwMode="gray">
          <a:xfrm>
            <a:off x="5506926" y="2532832"/>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20" name="Rectangular Callout 26">
            <a:extLst>
              <a:ext uri="{FF2B5EF4-FFF2-40B4-BE49-F238E27FC236}">
                <a16:creationId xmlns:a16="http://schemas.microsoft.com/office/drawing/2014/main" id="{5FB5A660-32D7-4AD1-AE6D-6CE751FBEC08}"/>
              </a:ext>
            </a:extLst>
          </p:cNvPr>
          <p:cNvSpPr/>
          <p:nvPr/>
        </p:nvSpPr>
        <p:spPr bwMode="gray">
          <a:xfrm>
            <a:off x="4060275" y="2513029"/>
            <a:ext cx="945223" cy="388952"/>
          </a:xfrm>
          <a:prstGeom prst="wedgeRectCallout">
            <a:avLst>
              <a:gd name="adj1" fmla="val 65882"/>
              <a:gd name="adj2" fmla="val 47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少量添加</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20">
            <a:extLst>
              <a:ext uri="{FF2B5EF4-FFF2-40B4-BE49-F238E27FC236}">
                <a16:creationId xmlns:a16="http://schemas.microsoft.com/office/drawing/2014/main" id="{3F5CB0CC-A2E3-4989-9F4A-CC59FE847EF6}"/>
              </a:ext>
            </a:extLst>
          </p:cNvPr>
          <p:cNvSpPr txBox="1"/>
          <p:nvPr/>
        </p:nvSpPr>
        <p:spPr bwMode="gray">
          <a:xfrm>
            <a:off x="5176779" y="2532832"/>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22" name="TextBox 21">
            <a:extLst>
              <a:ext uri="{FF2B5EF4-FFF2-40B4-BE49-F238E27FC236}">
                <a16:creationId xmlns:a16="http://schemas.microsoft.com/office/drawing/2014/main" id="{70E1DE13-7D29-4420-91C9-501C5D1284A1}"/>
              </a:ext>
            </a:extLst>
          </p:cNvPr>
          <p:cNvSpPr txBox="1"/>
          <p:nvPr/>
        </p:nvSpPr>
        <p:spPr bwMode="gray">
          <a:xfrm>
            <a:off x="6165139" y="2532832"/>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23" name="Freeform: Shape 22">
            <a:extLst>
              <a:ext uri="{FF2B5EF4-FFF2-40B4-BE49-F238E27FC236}">
                <a16:creationId xmlns:a16="http://schemas.microsoft.com/office/drawing/2014/main" id="{648F7965-3076-45BB-99B3-119CA3DDC6AF}"/>
              </a:ext>
            </a:extLst>
          </p:cNvPr>
          <p:cNvSpPr/>
          <p:nvPr/>
        </p:nvSpPr>
        <p:spPr bwMode="blackGray">
          <a:xfrm flipV="1">
            <a:off x="3536458" y="3784166"/>
            <a:ext cx="4896204" cy="506325"/>
          </a:xfrm>
          <a:custGeom>
            <a:avLst/>
            <a:gdLst>
              <a:gd name="connsiteX0" fmla="*/ 0 w 4427621"/>
              <a:gd name="connsiteY0" fmla="*/ 365789 h 442791"/>
              <a:gd name="connsiteX1" fmla="*/ 462013 w 4427621"/>
              <a:gd name="connsiteY1" fmla="*/ 317662 h 442791"/>
              <a:gd name="connsiteX2" fmla="*/ 2069432 w 4427621"/>
              <a:gd name="connsiteY2" fmla="*/ 29 h 442791"/>
              <a:gd name="connsiteX3" fmla="*/ 3734602 w 4427621"/>
              <a:gd name="connsiteY3" fmla="*/ 336913 h 442791"/>
              <a:gd name="connsiteX4" fmla="*/ 4427621 w 4427621"/>
              <a:gd name="connsiteY4" fmla="*/ 442791 h 4427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27621" h="442791">
                <a:moveTo>
                  <a:pt x="0" y="365789"/>
                </a:moveTo>
                <a:lnTo>
                  <a:pt x="462013" y="317662"/>
                </a:lnTo>
                <a:cubicBezTo>
                  <a:pt x="806918" y="256702"/>
                  <a:pt x="1524001" y="-3179"/>
                  <a:pt x="2069432" y="29"/>
                </a:cubicBezTo>
                <a:cubicBezTo>
                  <a:pt x="2614863" y="3237"/>
                  <a:pt x="3341571" y="263119"/>
                  <a:pt x="3734602" y="336913"/>
                </a:cubicBezTo>
                <a:cubicBezTo>
                  <a:pt x="4127633" y="410707"/>
                  <a:pt x="4277627" y="426749"/>
                  <a:pt x="4427621" y="442791"/>
                </a:cubicBezTo>
              </a:path>
            </a:pathLst>
          </a:custGeom>
          <a:noFill/>
          <a:ln w="28575">
            <a:solidFill>
              <a:srgbClr val="E28189"/>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Rectangular Callout 26">
            <a:extLst>
              <a:ext uri="{FF2B5EF4-FFF2-40B4-BE49-F238E27FC236}">
                <a16:creationId xmlns:a16="http://schemas.microsoft.com/office/drawing/2014/main" id="{3F9CB5FE-07F8-4CC1-97EC-4D25ACAE7529}"/>
              </a:ext>
            </a:extLst>
          </p:cNvPr>
          <p:cNvSpPr/>
          <p:nvPr/>
        </p:nvSpPr>
        <p:spPr bwMode="gray">
          <a:xfrm>
            <a:off x="3063846" y="3031546"/>
            <a:ext cx="1216453" cy="287948"/>
          </a:xfrm>
          <a:prstGeom prst="wedgeRectCallout">
            <a:avLst>
              <a:gd name="adj1" fmla="val 27636"/>
              <a:gd name="adj2" fmla="val 785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网络质量较好</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Rectangular Callout 26">
            <a:extLst>
              <a:ext uri="{FF2B5EF4-FFF2-40B4-BE49-F238E27FC236}">
                <a16:creationId xmlns:a16="http://schemas.microsoft.com/office/drawing/2014/main" id="{DF9439B8-CDA8-4575-9B0F-7241D8B3843B}"/>
              </a:ext>
            </a:extLst>
          </p:cNvPr>
          <p:cNvSpPr/>
          <p:nvPr/>
        </p:nvSpPr>
        <p:spPr bwMode="gray">
          <a:xfrm>
            <a:off x="2995609" y="4045968"/>
            <a:ext cx="1216453" cy="287948"/>
          </a:xfrm>
          <a:prstGeom prst="wedgeRectCallout">
            <a:avLst>
              <a:gd name="adj1" fmla="val 31132"/>
              <a:gd name="adj2" fmla="val -8761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网络质量较差</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Rectangle 25">
            <a:extLst>
              <a:ext uri="{FF2B5EF4-FFF2-40B4-BE49-F238E27FC236}">
                <a16:creationId xmlns:a16="http://schemas.microsoft.com/office/drawing/2014/main" id="{82CC7A15-4D4A-4BD9-A140-9D670DCB6FD1}"/>
              </a:ext>
            </a:extLst>
          </p:cNvPr>
          <p:cNvSpPr/>
          <p:nvPr/>
        </p:nvSpPr>
        <p:spPr bwMode="gray">
          <a:xfrm>
            <a:off x="5167537" y="4444975"/>
            <a:ext cx="2033884" cy="388045"/>
          </a:xfrm>
          <a:prstGeom prst="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6">
            <a:extLst>
              <a:ext uri="{FF2B5EF4-FFF2-40B4-BE49-F238E27FC236}">
                <a16:creationId xmlns:a16="http://schemas.microsoft.com/office/drawing/2014/main" id="{B0D0051D-7E59-4315-8AD4-58199BD451EA}"/>
              </a:ext>
            </a:extLst>
          </p:cNvPr>
          <p:cNvSpPr txBox="1"/>
          <p:nvPr/>
        </p:nvSpPr>
        <p:spPr bwMode="gray">
          <a:xfrm>
            <a:off x="6874989" y="4502974"/>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28" name="TextBox 27">
            <a:extLst>
              <a:ext uri="{FF2B5EF4-FFF2-40B4-BE49-F238E27FC236}">
                <a16:creationId xmlns:a16="http://schemas.microsoft.com/office/drawing/2014/main" id="{38C8FAD1-AEEF-46A5-A557-6774A010E2CE}"/>
              </a:ext>
            </a:extLst>
          </p:cNvPr>
          <p:cNvSpPr txBox="1"/>
          <p:nvPr/>
        </p:nvSpPr>
        <p:spPr bwMode="gray">
          <a:xfrm>
            <a:off x="5882846" y="4502974"/>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29" name="TextBox 28">
            <a:extLst>
              <a:ext uri="{FF2B5EF4-FFF2-40B4-BE49-F238E27FC236}">
                <a16:creationId xmlns:a16="http://schemas.microsoft.com/office/drawing/2014/main" id="{2AC230A1-1689-48B3-A522-1B157B4C8E27}"/>
              </a:ext>
            </a:extLst>
          </p:cNvPr>
          <p:cNvSpPr txBox="1"/>
          <p:nvPr/>
        </p:nvSpPr>
        <p:spPr bwMode="gray">
          <a:xfrm>
            <a:off x="5552699" y="4502974"/>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30" name="Rectangular Callout 26">
            <a:extLst>
              <a:ext uri="{FF2B5EF4-FFF2-40B4-BE49-F238E27FC236}">
                <a16:creationId xmlns:a16="http://schemas.microsoft.com/office/drawing/2014/main" id="{137CF995-4541-45F6-BDCA-AB5CE1D5519E}"/>
              </a:ext>
            </a:extLst>
          </p:cNvPr>
          <p:cNvSpPr/>
          <p:nvPr/>
        </p:nvSpPr>
        <p:spPr bwMode="gray">
          <a:xfrm>
            <a:off x="4106048" y="4483171"/>
            <a:ext cx="945223" cy="388952"/>
          </a:xfrm>
          <a:prstGeom prst="wedgeRectCallout">
            <a:avLst>
              <a:gd name="adj1" fmla="val 65882"/>
              <a:gd name="adj2" fmla="val 474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添加较多</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FEC</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冗余包</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1" name="TextBox 30">
            <a:extLst>
              <a:ext uri="{FF2B5EF4-FFF2-40B4-BE49-F238E27FC236}">
                <a16:creationId xmlns:a16="http://schemas.microsoft.com/office/drawing/2014/main" id="{8FA219CE-1FCA-4A9C-9C6B-A4F7ADE6740A}"/>
              </a:ext>
            </a:extLst>
          </p:cNvPr>
          <p:cNvSpPr txBox="1"/>
          <p:nvPr/>
        </p:nvSpPr>
        <p:spPr bwMode="gray">
          <a:xfrm>
            <a:off x="5222552" y="4502974"/>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sp>
        <p:nvSpPr>
          <p:cNvPr id="32" name="TextBox 31">
            <a:extLst>
              <a:ext uri="{FF2B5EF4-FFF2-40B4-BE49-F238E27FC236}">
                <a16:creationId xmlns:a16="http://schemas.microsoft.com/office/drawing/2014/main" id="{65015782-0CB5-4049-A69A-5E33EE0DEA07}"/>
              </a:ext>
            </a:extLst>
          </p:cNvPr>
          <p:cNvSpPr txBox="1"/>
          <p:nvPr/>
        </p:nvSpPr>
        <p:spPr bwMode="gray">
          <a:xfrm>
            <a:off x="6543991" y="4502974"/>
            <a:ext cx="273050" cy="276999"/>
          </a:xfrm>
          <a:prstGeom prst="rect">
            <a:avLst/>
          </a:prstGeom>
          <a:solidFill>
            <a:srgbClr val="56C4D2"/>
          </a:solidFill>
          <a:ln>
            <a:solidFill>
              <a:srgbClr val="56C4D2"/>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33" name="TextBox 32">
            <a:extLst>
              <a:ext uri="{FF2B5EF4-FFF2-40B4-BE49-F238E27FC236}">
                <a16:creationId xmlns:a16="http://schemas.microsoft.com/office/drawing/2014/main" id="{960AA580-6944-44B6-A5CA-52DECC5BADCB}"/>
              </a:ext>
            </a:extLst>
          </p:cNvPr>
          <p:cNvSpPr txBox="1"/>
          <p:nvPr/>
        </p:nvSpPr>
        <p:spPr bwMode="gray">
          <a:xfrm>
            <a:off x="6212993" y="4502974"/>
            <a:ext cx="273050" cy="276999"/>
          </a:xfrm>
          <a:prstGeom prst="rect">
            <a:avLst/>
          </a:prstGeom>
          <a:solidFill>
            <a:schemeClr val="bg1">
              <a:lumMod val="50000"/>
            </a:schemeClr>
          </a:solidFill>
          <a:ln>
            <a:solidFill>
              <a:schemeClr val="bg1">
                <a:lumMod val="50000"/>
              </a:schemeClr>
            </a:solidFill>
          </a:ln>
        </p:spPr>
        <p:txBody>
          <a:bodyPr wrap="square" rtlCol="0">
            <a:spAutoFit/>
          </a:bodyPr>
          <a:lstStyle/>
          <a:p>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a:t>
            </a:r>
          </a:p>
        </p:txBody>
      </p:sp>
      <p:pic>
        <p:nvPicPr>
          <p:cNvPr id="37" name="图片 72" descr="多媒体软终端.png">
            <a:extLst>
              <a:ext uri="{FF2B5EF4-FFF2-40B4-BE49-F238E27FC236}">
                <a16:creationId xmlns:a16="http://schemas.microsoft.com/office/drawing/2014/main" id="{79AC1157-E23B-41B6-B6BE-8D72245C2DA1}"/>
              </a:ext>
            </a:extLst>
          </p:cNvPr>
          <p:cNvPicPr>
            <a:picLocks noChangeAspect="1"/>
          </p:cNvPicPr>
          <p:nvPr/>
        </p:nvPicPr>
        <p:blipFill>
          <a:blip r:embed="rId4" cstate="print"/>
          <a:stretch>
            <a:fillRect/>
          </a:stretch>
        </p:blipFill>
        <p:spPr bwMode="gray">
          <a:xfrm>
            <a:off x="8626844" y="3241107"/>
            <a:ext cx="612902" cy="469457"/>
          </a:xfrm>
          <a:prstGeom prst="rect">
            <a:avLst/>
          </a:prstGeom>
        </p:spPr>
      </p:pic>
      <p:pic>
        <p:nvPicPr>
          <p:cNvPr id="38" name="图片 31" descr="组播服务器.png">
            <a:extLst>
              <a:ext uri="{FF2B5EF4-FFF2-40B4-BE49-F238E27FC236}">
                <a16:creationId xmlns:a16="http://schemas.microsoft.com/office/drawing/2014/main" id="{D6D96435-35E5-4931-84AC-60437C3F34EA}"/>
              </a:ext>
            </a:extLst>
          </p:cNvPr>
          <p:cNvPicPr>
            <a:picLocks noChangeAspect="1"/>
          </p:cNvPicPr>
          <p:nvPr/>
        </p:nvPicPr>
        <p:blipFill>
          <a:blip r:embed="rId5" cstate="print"/>
          <a:stretch>
            <a:fillRect/>
          </a:stretch>
        </p:blipFill>
        <p:spPr bwMode="gray">
          <a:xfrm>
            <a:off x="2839751" y="3335564"/>
            <a:ext cx="540000" cy="441818"/>
          </a:xfrm>
          <a:prstGeom prst="rect">
            <a:avLst/>
          </a:prstGeom>
        </p:spPr>
      </p:pic>
      <p:sp>
        <p:nvSpPr>
          <p:cNvPr id="39" name="TextBox 38">
            <a:extLst>
              <a:ext uri="{FF2B5EF4-FFF2-40B4-BE49-F238E27FC236}">
                <a16:creationId xmlns:a16="http://schemas.microsoft.com/office/drawing/2014/main" id="{9D714030-E350-4C8C-9853-C05180C1D829}"/>
              </a:ext>
            </a:extLst>
          </p:cNvPr>
          <p:cNvSpPr txBox="1"/>
          <p:nvPr/>
        </p:nvSpPr>
        <p:spPr bwMode="gray">
          <a:xfrm>
            <a:off x="2596976" y="3745175"/>
            <a:ext cx="954107" cy="276999"/>
          </a:xfrm>
          <a:prstGeom prst="rect">
            <a:avLst/>
          </a:prstGeom>
          <a:noFill/>
        </p:spPr>
        <p:txBody>
          <a:bodyPr wrap="none" rtlCol="0">
            <a:spAutoFit/>
          </a:bodyPr>
          <a:lstStyle/>
          <a:p>
            <a:r>
              <a:rPr lang="zh-CN" altLang="en-US" sz="1200" dirty="0"/>
              <a:t>视频服务器</a:t>
            </a:r>
            <a:endParaRPr lang="en-US" sz="1200" dirty="0"/>
          </a:p>
        </p:txBody>
      </p:sp>
      <p:sp>
        <p:nvSpPr>
          <p:cNvPr id="40" name="TextBox 39">
            <a:extLst>
              <a:ext uri="{FF2B5EF4-FFF2-40B4-BE49-F238E27FC236}">
                <a16:creationId xmlns:a16="http://schemas.microsoft.com/office/drawing/2014/main" id="{47FBC0DD-7DBA-4F2D-89D3-CC2A6716CFEE}"/>
              </a:ext>
            </a:extLst>
          </p:cNvPr>
          <p:cNvSpPr txBox="1"/>
          <p:nvPr/>
        </p:nvSpPr>
        <p:spPr bwMode="gray">
          <a:xfrm>
            <a:off x="8501936" y="3716073"/>
            <a:ext cx="954107" cy="276999"/>
          </a:xfrm>
          <a:prstGeom prst="rect">
            <a:avLst/>
          </a:prstGeom>
          <a:noFill/>
        </p:spPr>
        <p:txBody>
          <a:bodyPr wrap="none" rtlCol="0">
            <a:spAutoFit/>
          </a:bodyPr>
          <a:lstStyle/>
          <a:p>
            <a:r>
              <a:rPr lang="zh-CN" altLang="en-US" sz="1200" dirty="0"/>
              <a:t>多媒体终端</a:t>
            </a:r>
            <a:endParaRPr lang="en-US" sz="1200" dirty="0"/>
          </a:p>
        </p:txBody>
      </p:sp>
    </p:spTree>
    <p:extLst>
      <p:ext uri="{BB962C8B-B14F-4D97-AF65-F5344CB8AC3E}">
        <p14:creationId xmlns:p14="http://schemas.microsoft.com/office/powerpoint/2010/main" val="3314115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a:t>(</a:t>
            </a:r>
            <a:r>
              <a:rPr lang="zh-CN" altLang="en-US" dirty="0"/>
              <a:t>多选题</a:t>
            </a:r>
            <a:r>
              <a:rPr lang="en-US" altLang="zh-CN" dirty="0"/>
              <a:t>)</a:t>
            </a:r>
            <a:r>
              <a:rPr lang="zh-CN" altLang="en-US" dirty="0"/>
              <a:t>以下哪些是专线技术？</a:t>
            </a:r>
            <a:r>
              <a:rPr lang="en-US" altLang="zh-CN" dirty="0"/>
              <a:t>(     )</a:t>
            </a:r>
          </a:p>
          <a:p>
            <a:pPr lvl="1"/>
            <a:r>
              <a:rPr lang="en-US" altLang="zh-CN" dirty="0"/>
              <a:t>SDH</a:t>
            </a:r>
          </a:p>
          <a:p>
            <a:pPr lvl="1"/>
            <a:r>
              <a:rPr lang="en-US" altLang="zh-CN" dirty="0"/>
              <a:t>L2TP</a:t>
            </a:r>
          </a:p>
          <a:p>
            <a:pPr lvl="1"/>
            <a:r>
              <a:rPr lang="en-US" altLang="zh-CN" dirty="0"/>
              <a:t>MPLS VPN</a:t>
            </a:r>
          </a:p>
          <a:p>
            <a:pPr lvl="1"/>
            <a:r>
              <a:rPr lang="en-US" altLang="zh-CN" dirty="0"/>
              <a:t>IPsec VPN</a:t>
            </a:r>
          </a:p>
          <a:p>
            <a:r>
              <a:rPr lang="en-US" altLang="zh-CN" dirty="0"/>
              <a:t>(</a:t>
            </a:r>
            <a:r>
              <a:rPr lang="zh-CN" altLang="en-US" dirty="0"/>
              <a:t>判断题</a:t>
            </a:r>
            <a:r>
              <a:rPr lang="en-US" altLang="zh-CN" dirty="0"/>
              <a:t>)SRP</a:t>
            </a:r>
            <a:r>
              <a:rPr lang="zh-CN" altLang="en-US" dirty="0"/>
              <a:t>技术能基于链路质量灵活选择出口链路。</a:t>
            </a:r>
            <a:r>
              <a:rPr lang="en-US" altLang="zh-CN" dirty="0"/>
              <a:t>(     )</a:t>
            </a:r>
          </a:p>
          <a:p>
            <a:pPr lvl="1"/>
            <a:r>
              <a:rPr lang="zh-CN" altLang="en-US" dirty="0"/>
              <a:t>正确</a:t>
            </a:r>
            <a:endParaRPr lang="en-US" altLang="zh-CN" dirty="0"/>
          </a:p>
          <a:p>
            <a:pPr lvl="1"/>
            <a:r>
              <a:rPr lang="zh-CN" altLang="en-US" dirty="0"/>
              <a:t>错误</a:t>
            </a:r>
            <a:endParaRPr lang="en-US" altLang="zh-CN" dirty="0"/>
          </a:p>
        </p:txBody>
      </p:sp>
    </p:spTree>
    <p:extLst>
      <p:ext uri="{BB962C8B-B14F-4D97-AF65-F5344CB8AC3E}">
        <p14:creationId xmlns:p14="http://schemas.microsoft.com/office/powerpoint/2010/main" val="22093302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a:prstGeom prst="rect">
            <a:avLst/>
          </a:prstGeom>
        </p:spPr>
        <p:txBody>
          <a:bodyPr/>
          <a:lstStyle/>
          <a:p>
            <a:r>
              <a:rPr lang="zh-CN" altLang="en-US" sz="2000" dirty="0"/>
              <a:t>广域网互联方式主要有专线与</a:t>
            </a:r>
            <a:r>
              <a:rPr lang="en-US" altLang="zh-CN" sz="2000" dirty="0"/>
              <a:t>VPN</a:t>
            </a:r>
            <a:r>
              <a:rPr lang="zh-CN" altLang="en-US" sz="2000" dirty="0"/>
              <a:t>两大类。</a:t>
            </a:r>
            <a:endParaRPr lang="en-US" altLang="zh-CN" sz="2000" dirty="0"/>
          </a:p>
          <a:p>
            <a:r>
              <a:rPr lang="zh-CN" altLang="en-US" sz="2000" dirty="0"/>
              <a:t>保障广域网可靠性一般需要先探测链路质量，基于链路质量再通过特定技术选择合适出口或出口链路。</a:t>
            </a:r>
            <a:endParaRPr lang="en-US" altLang="zh-CN" sz="2000" dirty="0"/>
          </a:p>
          <a:p>
            <a:r>
              <a:rPr lang="zh-CN" altLang="en-US" sz="2000" dirty="0"/>
              <a:t>广域优化的方式有很多，一般使用</a:t>
            </a:r>
            <a:r>
              <a:rPr lang="en-US" altLang="zh-CN" sz="2000" dirty="0"/>
              <a:t>QoS</a:t>
            </a:r>
            <a:r>
              <a:rPr lang="zh-CN" altLang="en-US" sz="2000" dirty="0"/>
              <a:t>控制出口流量的发送，使用纠错技术保障数据在广域网上可靠转发。</a:t>
            </a:r>
            <a:endParaRPr lang="en-US" altLang="zh-CN" sz="2000" dirty="0"/>
          </a:p>
          <a:p>
            <a:r>
              <a:rPr lang="zh-CN" altLang="en-US" sz="2000" dirty="0"/>
              <a:t>广域安全需要从广域传输和广域出口两方面保障，广域传输的安全性主要靠</a:t>
            </a:r>
            <a:r>
              <a:rPr lang="en-US" altLang="zh-CN" sz="2000" dirty="0"/>
              <a:t>IPsec</a:t>
            </a:r>
            <a:r>
              <a:rPr lang="zh-CN" altLang="en-US" sz="2000" dirty="0"/>
              <a:t>保障，广域出口的安全主要靠防火墙等技术保障。</a:t>
            </a:r>
          </a:p>
        </p:txBody>
      </p:sp>
    </p:spTree>
    <p:extLst>
      <p:ext uri="{BB962C8B-B14F-4D97-AF65-F5344CB8AC3E}">
        <p14:creationId xmlns:p14="http://schemas.microsoft.com/office/powerpoint/2010/main" val="579173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248931"/>
      </p:ext>
    </p:extLst>
  </p:cSld>
  <p:clrMapOvr>
    <a:masterClrMapping/>
  </p:clrMapOvr>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5960F2-6186-408B-A0DC-5CA5E58B604F}">
  <ds:schemaRefs>
    <ds:schemaRef ds:uri="http://purl.org/dc/term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475f1e55-3009-46d8-9566-5d569a2b3a98"/>
    <ds:schemaRef ds:uri="http://purl.org/dc/dcmitype/"/>
  </ds:schemaRefs>
</ds:datastoreItem>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3AD54CEE-3628-414C-95B5-849431AE1D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6729</TotalTime>
  <Words>9043</Words>
  <Application>Microsoft Office PowerPoint</Application>
  <PresentationFormat>宽屏</PresentationFormat>
  <Paragraphs>1280</Paragraphs>
  <Slides>64</Slides>
  <Notes>64</Notes>
  <HiddenSlides>1</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64</vt:i4>
      </vt:variant>
    </vt:vector>
  </HeadingPairs>
  <TitlesOfParts>
    <vt:vector size="76" baseType="lpstr">
      <vt:lpstr>FrutigerNext LT Regular</vt:lpstr>
      <vt:lpstr>Huawei Sans</vt:lpstr>
      <vt:lpstr>方正兰亭黑简体</vt:lpstr>
      <vt:lpstr>Microsoft YaHei</vt:lpstr>
      <vt:lpstr>Microsoft YaHei</vt:lpstr>
      <vt:lpstr>Arial</vt:lpstr>
      <vt:lpstr>Calibri</vt:lpstr>
      <vt:lpstr>Wingdings</vt:lpstr>
      <vt:lpstr>2_标题页模板</vt:lpstr>
      <vt:lpstr>3_功能页模板</vt:lpstr>
      <vt:lpstr>4_内容页模板</vt:lpstr>
      <vt:lpstr>5_感谢页模板</vt:lpstr>
      <vt:lpstr>PowerPoint 演示文稿</vt:lpstr>
      <vt:lpstr>广域互联方案与技术概述</vt:lpstr>
      <vt:lpstr>PowerPoint 演示文稿</vt:lpstr>
      <vt:lpstr>PowerPoint 演示文稿</vt:lpstr>
      <vt:lpstr>PowerPoint 演示文稿</vt:lpstr>
      <vt:lpstr>什么是广域网（覆盖范围）</vt:lpstr>
      <vt:lpstr>广域网与企业广域互联</vt:lpstr>
      <vt:lpstr>企业广域互联主要组网方式</vt:lpstr>
      <vt:lpstr>企业广域互联组网技术 - 运营商专线</vt:lpstr>
      <vt:lpstr>企业广域互联组网技术 - Internet与VPN</vt:lpstr>
      <vt:lpstr>企业广域互联组网常见应用场景</vt:lpstr>
      <vt:lpstr>PowerPoint 演示文稿</vt:lpstr>
      <vt:lpstr>企业广域互联组网的三种方案</vt:lpstr>
      <vt:lpstr>专线与VPN的对比</vt:lpstr>
      <vt:lpstr>运营商专线介绍</vt:lpstr>
      <vt:lpstr>企业自建专线与VPN介绍</vt:lpstr>
      <vt:lpstr>PowerPoint 演示文稿</vt:lpstr>
      <vt:lpstr>专线技术概述</vt:lpstr>
      <vt:lpstr>裸纤专线介绍</vt:lpstr>
      <vt:lpstr>裸纤专线应用场景</vt:lpstr>
      <vt:lpstr>SDH/MSTP/WDM专线介绍</vt:lpstr>
      <vt:lpstr>SDH/MSTP/WDM专线应用场景</vt:lpstr>
      <vt:lpstr>MPLS VPN专线</vt:lpstr>
      <vt:lpstr>MPLS VPN专线应用场景</vt:lpstr>
      <vt:lpstr>PowerPoint 演示文稿</vt:lpstr>
      <vt:lpstr>VPN技术概述</vt:lpstr>
      <vt:lpstr>Access VPN介绍</vt:lpstr>
      <vt:lpstr>PPTP简介</vt:lpstr>
      <vt:lpstr>L2TP简介</vt:lpstr>
      <vt:lpstr>Access VPN现网应用</vt:lpstr>
      <vt:lpstr>Intranet VPN介绍</vt:lpstr>
      <vt:lpstr>GRE协议简介</vt:lpstr>
      <vt:lpstr>GRE Over IPsec简介</vt:lpstr>
      <vt:lpstr>IPsec简介</vt:lpstr>
      <vt:lpstr>DSVPN简介</vt:lpstr>
      <vt:lpstr>Intranet VPN现网应用</vt:lpstr>
      <vt:lpstr>Extranet VPN介绍</vt:lpstr>
      <vt:lpstr>SSL VPN简介</vt:lpstr>
      <vt:lpstr>Extranet VPN应用场景</vt:lpstr>
      <vt:lpstr>PowerPoint 演示文稿</vt:lpstr>
      <vt:lpstr>链路探测技术简介</vt:lpstr>
      <vt:lpstr>BFD简介</vt:lpstr>
      <vt:lpstr>NQA简介</vt:lpstr>
      <vt:lpstr>IP FPM简介</vt:lpstr>
      <vt:lpstr>链路探测技术应用场景</vt:lpstr>
      <vt:lpstr>PowerPoint 演示文稿</vt:lpstr>
      <vt:lpstr>网络可靠性简介</vt:lpstr>
      <vt:lpstr>VRRP简介</vt:lpstr>
      <vt:lpstr>业务可靠性简介</vt:lpstr>
      <vt:lpstr>SAC简介</vt:lpstr>
      <vt:lpstr>SPR简介</vt:lpstr>
      <vt:lpstr>业务可靠性技术应用场景</vt:lpstr>
      <vt:lpstr>PowerPoint 演示文稿</vt:lpstr>
      <vt:lpstr>QoS简介</vt:lpstr>
      <vt:lpstr>QoS应用举例</vt:lpstr>
      <vt:lpstr>HQoS概述</vt:lpstr>
      <vt:lpstr>HQoS应用举例</vt:lpstr>
      <vt:lpstr>PowerPoint 演示文稿</vt:lpstr>
      <vt:lpstr>FEC简介</vt:lpstr>
      <vt:lpstr>A-FEC简介</vt:lpstr>
      <vt:lpstr>FEC/A-FEC应用场景</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439</cp:revision>
  <cp:lastPrinted>2020-07-31T09:33:18Z</cp:lastPrinted>
  <dcterms:created xsi:type="dcterms:W3CDTF">2018-11-29T10:16:29Z</dcterms:created>
  <dcterms:modified xsi:type="dcterms:W3CDTF">2023-04-16T06:39:04Z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(3)NAB570HdCKlQpPKHQL0Fy2hIvFkEbuqv7DzYgZ9Nd/fn7ohCQYV6WqgeU0uma3TKWSZkICHa
RKdNExj7DCP53p/PTW/RfqL/y9Y/AYLlJUfUQNu9obAiyeC0oxUnaDcbSiKckwtZmWFFEsrM
c1FGErwlbH1R3Jy/c6qeHeYFEF1K4uB60XWwtkfH2yLv4Nrq7j5HjTZyhdhDAYq8s+z3rElY
Jw7N9ykjSjaoDWlJUD</vt:lpwstr>
  </property>
  <property fmtid="{D5CDD505-2E9C-101B-9397-08002B2CF9AE}" pid="3" name="_2015_ms_pID_7253431">
    <vt:lpwstr>OPhJO8GevSu/ME7sBNa3F9b/YM+7yHqdXJnMTR+NYHZ/xlLLYd23JM
kZiszvEjaQIEqg27hW9c6VljAoBb2baS06SGkSn22Me6NrKwisOj12kJbQL54PGxL2uQFKHs
762j45KCN8+7s5bNvEpMVOYLBKFWt1eid5S39CFU5jbeXPTIWBegqtyeUqmRHcZY89sYtjS3
D/ju0s+3Opi+V0mYBfUr1OuL7wnAV9+tGcRi</vt:lpwstr>
  </property>
  <property fmtid="{D5CDD505-2E9C-101B-9397-08002B2CF9AE}" pid="4" name="_2015_ms_pID_7253432">
    <vt:lpwstr>tfmYr8DxXb9SpS1+EhkkWic=</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1622075396</vt:lpwstr>
  </property>
</Properties>
</file>