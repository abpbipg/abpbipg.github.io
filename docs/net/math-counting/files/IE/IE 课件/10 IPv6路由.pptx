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872" r:id="rId4"/>
    <p:sldMasterId id="2147483874" r:id="rId5"/>
    <p:sldMasterId id="2147483885" r:id="rId6"/>
    <p:sldMasterId id="2147483891" r:id="rId7"/>
  </p:sldMasterIdLst>
  <p:notesMasterIdLst>
    <p:notesMasterId r:id="rId84"/>
  </p:notesMasterIdLst>
  <p:handoutMasterIdLst>
    <p:handoutMasterId r:id="rId85"/>
  </p:handout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33" r:id="rId80"/>
    <p:sldId id="330" r:id="rId81"/>
    <p:sldId id="331" r:id="rId82"/>
    <p:sldId id="332" r:id="rId83"/>
  </p:sldIdLst>
  <p:sldSz cx="12192000" cy="6858000"/>
  <p:notesSz cx="7010400" cy="92964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840">
          <p15:clr>
            <a:srgbClr val="A4A3A4"/>
          </p15:clr>
        </p15:guide>
        <p15:guide id="4" orient="horz" pos="23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junjianzjhw" initials="h" lastIdx="4" clrIdx="0">
    <p:extLst>
      <p:ext uri="{19B8F6BF-5375-455C-9EA6-DF929625EA0E}">
        <p15:presenceInfo xmlns:p15="http://schemas.microsoft.com/office/powerpoint/2012/main" userId="S-1-5-21-147214757-305610072-1517763936-5682676" providerId="AD"/>
      </p:ext>
    </p:extLst>
  </p:cmAuthor>
  <p:cmAuthor id="2" name="luyueyuezjhw" initials="l" lastIdx="7" clrIdx="1">
    <p:extLst>
      <p:ext uri="{19B8F6BF-5375-455C-9EA6-DF929625EA0E}">
        <p15:presenceInfo xmlns:p15="http://schemas.microsoft.com/office/powerpoint/2012/main" userId="S-1-5-21-147214757-305610072-1517763936-473611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000B"/>
    <a:srgbClr val="56C4D2"/>
    <a:srgbClr val="FDE397"/>
    <a:srgbClr val="ECF9FA"/>
    <a:srgbClr val="94DAE2"/>
    <a:srgbClr val="30B5C5"/>
    <a:srgbClr val="ED6D00"/>
    <a:srgbClr val="62B230"/>
    <a:srgbClr val="FEF5DA"/>
    <a:srgbClr val="FCC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05" autoAdjust="0"/>
    <p:restoredTop sz="95267" autoAdjust="0"/>
  </p:normalViewPr>
  <p:slideViewPr>
    <p:cSldViewPr snapToGrid="0" snapToObjects="1">
      <p:cViewPr varScale="1">
        <p:scale>
          <a:sx n="84" d="100"/>
          <a:sy n="84" d="100"/>
        </p:scale>
        <p:origin x="40" y="92"/>
      </p:cViewPr>
      <p:guideLst>
        <p:guide pos="3840"/>
        <p:guide orient="horz" pos="23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>
        <p:scale>
          <a:sx n="125" d="100"/>
          <a:sy n="125" d="100"/>
        </p:scale>
        <p:origin x="2868" y="-2334"/>
      </p:cViewPr>
      <p:guideLst>
        <p:guide orient="horz"/>
        <p:guide pos="2208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84" Type="http://schemas.openxmlformats.org/officeDocument/2006/relationships/notesMaster" Target="notesMasters/notesMaster1.xml"/><Relationship Id="rId89" Type="http://schemas.openxmlformats.org/officeDocument/2006/relationships/theme" Target="theme/theme1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slide" Target="slides/slide72.xml"/><Relationship Id="rId5" Type="http://schemas.openxmlformats.org/officeDocument/2006/relationships/slideMaster" Target="slideMasters/slideMaster2.xml"/><Relationship Id="rId90" Type="http://schemas.openxmlformats.org/officeDocument/2006/relationships/tableStyles" Target="tableStyles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slide" Target="slides/slide70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slide" Target="slides/slide73.xml"/><Relationship Id="rId85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83" Type="http://schemas.openxmlformats.org/officeDocument/2006/relationships/slide" Target="slides/slide76.xml"/><Relationship Id="rId88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slide" Target="slides/slide74.xml"/><Relationship Id="rId86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4.xml"/><Relationship Id="rId2" Type="http://schemas.openxmlformats.org/officeDocument/2006/relationships/customXml" Target="../customXml/item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openxmlformats.org/officeDocument/2006/relationships/presProps" Target="presProps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19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1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2/25/2024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42950" y="717550"/>
            <a:ext cx="5557838" cy="3125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310765"/>
            <a:ext cx="5580062" cy="4784070"/>
          </a:xfrm>
          <a:prstGeom prst="rect">
            <a:avLst/>
          </a:prstGeom>
        </p:spPr>
        <p:txBody>
          <a:bodyPr vert="horz" lIns="97200" tIns="45720" rIns="9720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•"/>
      <a:defRPr lang="en-US"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40000" indent="-180000" algn="l" defTabSz="1219304" rtl="0" eaLnBrk="1" fontAlgn="ctr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900000" indent="-180000" algn="l" defTabSz="1219304" rtl="0" eaLnBrk="1" fontAlgn="ctr" latinLnBrk="0" hangingPunct="1">
      <a:lnSpc>
        <a:spcPct val="125000"/>
      </a:lnSpc>
      <a:spcAft>
        <a:spcPts val="600"/>
      </a:spcAft>
      <a:buFont typeface="微软雅黑" panose="020B0503020204020204" pitchFamily="34" charset="-122"/>
      <a:buChar char="▪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26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−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4pPr>
    <a:lvl5pPr marL="1620000" indent="-180000" algn="l" defTabSz="1219304" rtl="0" eaLnBrk="1" fontAlgn="ctr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~"/>
      <a:defRPr sz="1100" kern="1200" baseline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2" orient="horz" pos="2704" userDrawn="1">
          <p15:clr>
            <a:srgbClr val="F26B43"/>
          </p15:clr>
        </p15:guide>
        <p15:guide id="3" orient="horz" pos="459" userDrawn="1">
          <p15:clr>
            <a:srgbClr val="F26B43"/>
          </p15:clr>
        </p15:guide>
        <p15:guide id="4" orient="horz" pos="2432" userDrawn="1">
          <p15:clr>
            <a:srgbClr val="F26B43"/>
          </p15:clr>
        </p15:guide>
        <p15:guide id="7" pos="461" userDrawn="1">
          <p15:clr>
            <a:srgbClr val="F26B43"/>
          </p15:clr>
        </p15:guide>
        <p15:guide id="9" pos="2207" userDrawn="1">
          <p15:clr>
            <a:srgbClr val="F26B43"/>
          </p15:clr>
        </p15:guide>
        <p15:guide id="10" pos="3976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3885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08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463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028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5641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IPv6</a:t>
            </a:r>
            <a:r>
              <a:rPr lang="zh-CN" altLang="en-US" dirty="0"/>
              <a:t>静态路由与</a:t>
            </a:r>
            <a:r>
              <a:rPr lang="en-US" altLang="zh-CN" dirty="0"/>
              <a:t>IPv4</a:t>
            </a:r>
            <a:r>
              <a:rPr lang="zh-CN" altLang="en-US" dirty="0"/>
              <a:t>静态路由之间的主要区别是目的地址和下一跳地址有所不同，</a:t>
            </a:r>
            <a:r>
              <a:rPr lang="en-US" altLang="zh-CN" dirty="0"/>
              <a:t>IPv6</a:t>
            </a:r>
            <a:r>
              <a:rPr lang="zh-CN" altLang="en-US" dirty="0"/>
              <a:t>静态路由使用的是</a:t>
            </a:r>
            <a:r>
              <a:rPr lang="en-US" altLang="zh-CN" dirty="0"/>
              <a:t>IPv6</a:t>
            </a:r>
            <a:r>
              <a:rPr lang="zh-CN" altLang="en-US" dirty="0"/>
              <a:t>地址，而</a:t>
            </a:r>
            <a:r>
              <a:rPr lang="en-US" altLang="zh-CN" dirty="0"/>
              <a:t>IPv4</a:t>
            </a:r>
            <a:r>
              <a:rPr lang="zh-CN" altLang="en-US" dirty="0"/>
              <a:t>静态路由使用</a:t>
            </a:r>
            <a:r>
              <a:rPr lang="en-US" altLang="zh-CN" dirty="0"/>
              <a:t>IPv4</a:t>
            </a:r>
            <a:r>
              <a:rPr lang="zh-CN" altLang="en-US" dirty="0"/>
              <a:t>地址。</a:t>
            </a:r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2718932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[Huawei] </a:t>
            </a:r>
            <a:r>
              <a:rPr lang="en-US" altLang="zh-CN" b="1"/>
              <a:t>ipv6 route-static</a:t>
            </a:r>
            <a:r>
              <a:rPr lang="en-US" altLang="zh-CN"/>
              <a:t> </a:t>
            </a:r>
            <a:r>
              <a:rPr lang="en-US" altLang="zh-CN" i="1"/>
              <a:t>dest-ipv6-address</a:t>
            </a:r>
            <a:r>
              <a:rPr lang="en-US" altLang="zh-CN"/>
              <a:t> </a:t>
            </a:r>
            <a:r>
              <a:rPr lang="en-US" altLang="zh-CN" i="1"/>
              <a:t>prefix-length</a:t>
            </a:r>
            <a:r>
              <a:rPr lang="en-US" altLang="zh-CN"/>
              <a:t> { </a:t>
            </a:r>
            <a:r>
              <a:rPr lang="en-US" altLang="zh-CN" i="1"/>
              <a:t>interface-type</a:t>
            </a:r>
            <a:r>
              <a:rPr lang="en-US" altLang="zh-CN"/>
              <a:t> </a:t>
            </a:r>
            <a:r>
              <a:rPr lang="en-US" altLang="zh-CN" i="1"/>
              <a:t>interface-number</a:t>
            </a:r>
            <a:r>
              <a:rPr lang="en-US" altLang="zh-CN"/>
              <a:t> [ </a:t>
            </a:r>
            <a:r>
              <a:rPr lang="en-US" altLang="zh-CN" i="1"/>
              <a:t>nexthop-ipv6-address</a:t>
            </a:r>
            <a:r>
              <a:rPr lang="en-US" altLang="zh-CN"/>
              <a:t> ] | </a:t>
            </a:r>
            <a:r>
              <a:rPr lang="en-US" altLang="zh-CN" i="1"/>
              <a:t>nexthop-ipv6-address</a:t>
            </a:r>
            <a:r>
              <a:rPr lang="en-US" altLang="zh-CN"/>
              <a:t> | </a:t>
            </a:r>
            <a:r>
              <a:rPr lang="en-US" altLang="zh-CN" b="1"/>
              <a:t>vpn-instance</a:t>
            </a:r>
            <a:r>
              <a:rPr lang="en-US" altLang="zh-CN"/>
              <a:t> </a:t>
            </a:r>
            <a:r>
              <a:rPr lang="en-US" altLang="zh-CN" i="1"/>
              <a:t>vpn-destination-name</a:t>
            </a:r>
            <a:r>
              <a:rPr lang="en-US" altLang="zh-CN"/>
              <a:t> </a:t>
            </a:r>
            <a:r>
              <a:rPr lang="en-US" altLang="zh-CN" i="1"/>
              <a:t>nexthop-ipv6-address</a:t>
            </a:r>
            <a:r>
              <a:rPr lang="en-US" altLang="zh-CN"/>
              <a:t> } [ </a:t>
            </a:r>
            <a:r>
              <a:rPr lang="en-US" altLang="zh-CN" b="1"/>
              <a:t>preference</a:t>
            </a:r>
            <a:r>
              <a:rPr lang="en-US" altLang="zh-CN"/>
              <a:t> </a:t>
            </a:r>
            <a:r>
              <a:rPr lang="en-US" altLang="zh-CN" i="1"/>
              <a:t>preference</a:t>
            </a:r>
            <a:r>
              <a:rPr lang="en-US" altLang="zh-CN"/>
              <a:t>][ </a:t>
            </a:r>
            <a:r>
              <a:rPr lang="en-US" altLang="zh-CN" b="1"/>
              <a:t>permanent</a:t>
            </a:r>
            <a:r>
              <a:rPr lang="en-US" altLang="zh-CN"/>
              <a:t> | </a:t>
            </a:r>
            <a:r>
              <a:rPr lang="en-US" altLang="zh-CN" b="1"/>
              <a:t>inherit-cost</a:t>
            </a:r>
            <a:r>
              <a:rPr lang="en-US" altLang="zh-CN"/>
              <a:t> ] [ </a:t>
            </a:r>
            <a:r>
              <a:rPr lang="en-US" altLang="zh-CN" b="1"/>
              <a:t>description</a:t>
            </a:r>
            <a:r>
              <a:rPr lang="en-US" altLang="zh-CN"/>
              <a:t> </a:t>
            </a:r>
            <a:r>
              <a:rPr lang="en-US" altLang="zh-CN" i="1"/>
              <a:t>text</a:t>
            </a:r>
            <a:r>
              <a:rPr lang="en-US" altLang="zh-CN"/>
              <a:t> ]</a:t>
            </a:r>
          </a:p>
          <a:p>
            <a:pPr lvl="1"/>
            <a:r>
              <a:rPr lang="en-US" altLang="zh-CN" b="1"/>
              <a:t>preference</a:t>
            </a:r>
            <a:r>
              <a:rPr lang="en-US" altLang="zh-CN"/>
              <a:t> </a:t>
            </a:r>
            <a:r>
              <a:rPr lang="en-US" altLang="zh-CN" i="1"/>
              <a:t>preference</a:t>
            </a:r>
            <a:r>
              <a:rPr lang="zh-CN" altLang="en-US"/>
              <a:t>：指定路由优先级。整数形式，取值范围为</a:t>
            </a:r>
            <a:r>
              <a:rPr lang="en-US" altLang="zh-CN"/>
              <a:t>1</a:t>
            </a:r>
            <a:r>
              <a:rPr lang="zh-CN" altLang="en-US"/>
              <a:t>～</a:t>
            </a:r>
            <a:r>
              <a:rPr lang="en-US" altLang="zh-CN"/>
              <a:t>255</a:t>
            </a:r>
            <a:r>
              <a:rPr lang="zh-CN" altLang="en-US"/>
              <a:t>。缺省值是</a:t>
            </a:r>
            <a:r>
              <a:rPr lang="en-US" altLang="zh-CN"/>
              <a:t>60</a:t>
            </a:r>
            <a:r>
              <a:rPr lang="zh-CN" altLang="en-US"/>
              <a:t>。</a:t>
            </a:r>
          </a:p>
          <a:p>
            <a:pPr lvl="1"/>
            <a:r>
              <a:rPr lang="en-US" altLang="zh-CN" b="1"/>
              <a:t>permanent</a:t>
            </a:r>
            <a:r>
              <a:rPr lang="zh-CN" altLang="en-US"/>
              <a:t>：指定</a:t>
            </a:r>
            <a:r>
              <a:rPr lang="en-US" altLang="zh-CN"/>
              <a:t>IPv6</a:t>
            </a:r>
            <a:r>
              <a:rPr lang="zh-CN" altLang="en-US"/>
              <a:t>静态路由永久发布。</a:t>
            </a:r>
          </a:p>
          <a:p>
            <a:pPr lvl="1"/>
            <a:r>
              <a:rPr lang="en-US" altLang="zh-CN" b="1"/>
              <a:t>inherit-cost</a:t>
            </a:r>
            <a:r>
              <a:rPr lang="zh-CN" altLang="en-US"/>
              <a:t>：指定</a:t>
            </a:r>
            <a:r>
              <a:rPr lang="en-US" altLang="zh-CN"/>
              <a:t>IPv6</a:t>
            </a:r>
            <a:r>
              <a:rPr lang="zh-CN" altLang="en-US"/>
              <a:t>静态路由继承迭代路由的开销值。</a:t>
            </a:r>
          </a:p>
          <a:p>
            <a:pPr lvl="1"/>
            <a:r>
              <a:rPr lang="en-US" altLang="zh-CN" b="1"/>
              <a:t>description</a:t>
            </a:r>
            <a:r>
              <a:rPr lang="en-US" altLang="zh-CN"/>
              <a:t> </a:t>
            </a:r>
            <a:r>
              <a:rPr lang="en-US" altLang="zh-CN" i="1"/>
              <a:t>text</a:t>
            </a:r>
            <a:r>
              <a:rPr lang="zh-CN" altLang="en-US"/>
              <a:t>：指定静态路由的描述信息。字符串形式，支持空格，长度范围是</a:t>
            </a:r>
            <a:r>
              <a:rPr lang="en-US" altLang="zh-CN"/>
              <a:t>1</a:t>
            </a:r>
            <a:r>
              <a:rPr lang="zh-CN" altLang="en-US"/>
              <a:t>～</a:t>
            </a:r>
            <a:r>
              <a:rPr lang="en-US" altLang="zh-CN"/>
              <a:t>80</a:t>
            </a:r>
            <a:r>
              <a:rPr lang="zh-CN" altLang="en-US"/>
              <a:t>。</a:t>
            </a:r>
          </a:p>
          <a:p>
            <a:r>
              <a:rPr lang="en-US" altLang="zh-CN"/>
              <a:t>[[Huawei] </a:t>
            </a:r>
            <a:r>
              <a:rPr lang="en-US" altLang="zh-CN" b="1"/>
              <a:t>ipv6 route-static vpn-instance</a:t>
            </a:r>
            <a:r>
              <a:rPr lang="en-US" altLang="zh-CN"/>
              <a:t> </a:t>
            </a:r>
            <a:r>
              <a:rPr lang="en-US" altLang="zh-CN" i="1"/>
              <a:t>vpn-instance-name</a:t>
            </a:r>
            <a:r>
              <a:rPr lang="en-US" altLang="zh-CN"/>
              <a:t> </a:t>
            </a:r>
            <a:r>
              <a:rPr lang="en-US" altLang="zh-CN" i="1"/>
              <a:t>dest-ipv6-address</a:t>
            </a:r>
            <a:r>
              <a:rPr lang="en-US" altLang="zh-CN"/>
              <a:t> </a:t>
            </a:r>
            <a:r>
              <a:rPr lang="en-US" altLang="zh-CN" i="1"/>
              <a:t>prefix-length</a:t>
            </a:r>
            <a:r>
              <a:rPr lang="en-US" altLang="zh-CN"/>
              <a:t> { [ </a:t>
            </a:r>
            <a:r>
              <a:rPr lang="en-US" altLang="zh-CN" i="1"/>
              <a:t>interface-type</a:t>
            </a:r>
            <a:r>
              <a:rPr lang="en-US" altLang="zh-CN"/>
              <a:t> </a:t>
            </a:r>
            <a:r>
              <a:rPr lang="en-US" altLang="zh-CN" i="1"/>
              <a:t>interface-number</a:t>
            </a:r>
            <a:r>
              <a:rPr lang="en-US" altLang="zh-CN"/>
              <a:t> [ </a:t>
            </a:r>
            <a:r>
              <a:rPr lang="en-US" altLang="zh-CN" i="1"/>
              <a:t>nexthop-ipv6-address</a:t>
            </a:r>
            <a:r>
              <a:rPr lang="en-US" altLang="zh-CN"/>
              <a:t> ] ] | </a:t>
            </a:r>
            <a:r>
              <a:rPr lang="en-US" altLang="zh-CN" i="1"/>
              <a:t>nexthop-ipv6-address</a:t>
            </a:r>
            <a:r>
              <a:rPr lang="en-US" altLang="zh-CN"/>
              <a:t> [ </a:t>
            </a:r>
            <a:r>
              <a:rPr lang="en-US" altLang="zh-CN" b="1"/>
              <a:t>public</a:t>
            </a:r>
            <a:r>
              <a:rPr lang="en-US" altLang="zh-CN"/>
              <a:t> ] | </a:t>
            </a:r>
            <a:r>
              <a:rPr lang="en-US" altLang="zh-CN" b="1"/>
              <a:t>vpn-instance</a:t>
            </a:r>
            <a:r>
              <a:rPr lang="en-US" altLang="zh-CN"/>
              <a:t> </a:t>
            </a:r>
            <a:r>
              <a:rPr lang="en-US" altLang="zh-CN" i="1"/>
              <a:t>vpn-destination-name</a:t>
            </a:r>
            <a:r>
              <a:rPr lang="en-US" altLang="zh-CN"/>
              <a:t> </a:t>
            </a:r>
            <a:r>
              <a:rPr lang="en-US" altLang="zh-CN" i="1"/>
              <a:t>nexthop-ipv6-address</a:t>
            </a:r>
            <a:r>
              <a:rPr lang="en-US" altLang="zh-CN"/>
              <a:t> } [ </a:t>
            </a:r>
            <a:r>
              <a:rPr lang="en-US" altLang="zh-CN" b="1"/>
              <a:t>preference</a:t>
            </a:r>
            <a:r>
              <a:rPr lang="en-US" altLang="zh-CN"/>
              <a:t> </a:t>
            </a:r>
            <a:r>
              <a:rPr lang="en-US" altLang="zh-CN" i="1"/>
              <a:t>preference</a:t>
            </a:r>
            <a:r>
              <a:rPr lang="en-US" altLang="zh-CN"/>
              <a:t> ] [ </a:t>
            </a:r>
            <a:r>
              <a:rPr lang="en-US" altLang="zh-CN" b="1"/>
              <a:t>permanent</a:t>
            </a:r>
            <a:r>
              <a:rPr lang="en-US" altLang="zh-CN"/>
              <a:t> | </a:t>
            </a:r>
            <a:r>
              <a:rPr lang="en-US" altLang="zh-CN" b="1"/>
              <a:t>inherit-cost</a:t>
            </a:r>
            <a:r>
              <a:rPr lang="en-US" altLang="zh-CN"/>
              <a:t> ] [ </a:t>
            </a:r>
            <a:r>
              <a:rPr lang="en-US" altLang="zh-CN" b="1"/>
              <a:t>description</a:t>
            </a:r>
            <a:r>
              <a:rPr lang="en-US" altLang="zh-CN"/>
              <a:t> </a:t>
            </a:r>
            <a:r>
              <a:rPr lang="en-US" altLang="zh-CN" i="1"/>
              <a:t>text</a:t>
            </a:r>
            <a:r>
              <a:rPr lang="en-US" altLang="zh-CN"/>
              <a:t> ]</a:t>
            </a:r>
          </a:p>
          <a:p>
            <a:pPr lvl="1"/>
            <a:r>
              <a:rPr lang="en-US" altLang="zh-CN" b="1"/>
              <a:t>public</a:t>
            </a:r>
            <a:r>
              <a:rPr lang="zh-CN" altLang="en-US"/>
              <a:t>：指定</a:t>
            </a:r>
            <a:r>
              <a:rPr lang="en-US" altLang="zh-CN" i="1"/>
              <a:t>nexthop-ipv6-address</a:t>
            </a:r>
            <a:r>
              <a:rPr lang="zh-CN" altLang="en-US"/>
              <a:t>是公网地址，而不是源</a:t>
            </a:r>
            <a:r>
              <a:rPr lang="en-US" altLang="zh-CN"/>
              <a:t>VPN</a:t>
            </a:r>
            <a:r>
              <a:rPr lang="zh-CN" altLang="en-US"/>
              <a:t>中的地址。</a:t>
            </a:r>
            <a:endParaRPr lang="zh-CN" altLang="en-US" dirty="0"/>
          </a:p>
        </p:txBody>
      </p:sp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20140564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966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0736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3293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相同点还包括：对特殊区域、虚连接、多进程的支持等。</a:t>
            </a:r>
            <a:endParaRPr lang="en-US" altLang="zh-CN" dirty="0"/>
          </a:p>
          <a:p>
            <a:r>
              <a:rPr lang="zh-CN" altLang="en-US" dirty="0"/>
              <a:t>本课程对以上内容不再赘述，详细内容请参考</a:t>
            </a:r>
            <a:r>
              <a:rPr lang="en-US" altLang="zh-CN" dirty="0"/>
              <a:t>《HCIP-</a:t>
            </a:r>
            <a:r>
              <a:rPr lang="en-US" altLang="zh-CN" dirty="0" err="1"/>
              <a:t>Datacom</a:t>
            </a:r>
            <a:r>
              <a:rPr lang="en-US" altLang="zh-CN" dirty="0"/>
              <a:t>-Core Technology》</a:t>
            </a:r>
            <a:r>
              <a:rPr lang="zh-CN" altLang="en-US" dirty="0"/>
              <a:t>课程。</a:t>
            </a:r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33629572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3850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0534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0965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OSPFv2</a:t>
            </a:r>
            <a:r>
              <a:rPr lang="zh-CN" altLang="en-US" dirty="0"/>
              <a:t>在</a:t>
            </a:r>
            <a:r>
              <a:rPr lang="en-US" altLang="zh-CN" dirty="0"/>
              <a:t>Broadcast</a:t>
            </a:r>
            <a:r>
              <a:rPr lang="zh-CN" altLang="en-US" dirty="0"/>
              <a:t>、</a:t>
            </a:r>
            <a:r>
              <a:rPr lang="en-US" altLang="zh-CN" dirty="0"/>
              <a:t>NBMA</a:t>
            </a:r>
            <a:r>
              <a:rPr lang="zh-CN" altLang="en-US" dirty="0"/>
              <a:t>、</a:t>
            </a:r>
            <a:r>
              <a:rPr lang="en-US" altLang="zh-CN" dirty="0"/>
              <a:t>P2P</a:t>
            </a:r>
            <a:r>
              <a:rPr lang="zh-CN" altLang="en-US" dirty="0"/>
              <a:t>和</a:t>
            </a:r>
            <a:r>
              <a:rPr lang="en-US" altLang="zh-CN" dirty="0"/>
              <a:t>P2MP</a:t>
            </a:r>
            <a:r>
              <a:rPr lang="zh-CN" altLang="en-US" dirty="0"/>
              <a:t>网络中是通过</a:t>
            </a:r>
            <a:r>
              <a:rPr lang="en-US" altLang="zh-CN" dirty="0"/>
              <a:t>IPv4</a:t>
            </a:r>
            <a:r>
              <a:rPr lang="zh-CN" altLang="en-US" dirty="0"/>
              <a:t>接口地址来标识邻居，而在虚连接网络中是通过</a:t>
            </a:r>
            <a:r>
              <a:rPr lang="en-US" altLang="zh-CN" dirty="0"/>
              <a:t>Router ID</a:t>
            </a:r>
            <a:r>
              <a:rPr lang="zh-CN" altLang="en-US" dirty="0"/>
              <a:t>来标识邻居。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3329191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IPv6</a:t>
            </a:r>
            <a:r>
              <a:rPr lang="zh-CN" altLang="en-US" dirty="0"/>
              <a:t>中重点强调了链路的概念，在</a:t>
            </a:r>
            <a:r>
              <a:rPr lang="en-US" altLang="zh-CN" dirty="0"/>
              <a:t>IPv6</a:t>
            </a:r>
            <a:r>
              <a:rPr lang="zh-CN" altLang="en-US" dirty="0"/>
              <a:t>中，一个链路上可以分配多个</a:t>
            </a:r>
            <a:r>
              <a:rPr lang="en-US" altLang="zh-CN" dirty="0"/>
              <a:t>IP</a:t>
            </a:r>
            <a:r>
              <a:rPr lang="zh-CN" altLang="en-US" dirty="0"/>
              <a:t>子网，也就是</a:t>
            </a:r>
            <a:r>
              <a:rPr lang="en-US" altLang="zh-CN" dirty="0"/>
              <a:t>IPv6</a:t>
            </a:r>
            <a:r>
              <a:rPr lang="zh-CN" altLang="en-US" dirty="0"/>
              <a:t>前缀。和</a:t>
            </a:r>
            <a:r>
              <a:rPr lang="en-US" altLang="zh-CN" dirty="0"/>
              <a:t>IPv4</a:t>
            </a:r>
            <a:r>
              <a:rPr lang="zh-CN" altLang="en-US" dirty="0"/>
              <a:t>不同的是，同一个链路上的两个节点即使不具有相同的</a:t>
            </a:r>
            <a:r>
              <a:rPr lang="en-US" altLang="zh-CN" dirty="0"/>
              <a:t>IPv6</a:t>
            </a:r>
            <a:r>
              <a:rPr lang="zh-CN" altLang="en-US" dirty="0"/>
              <a:t>前缀，也可以直接通过这个链路通信。这一点极大地改变了</a:t>
            </a:r>
            <a:r>
              <a:rPr lang="en-US" altLang="zh-CN" dirty="0"/>
              <a:t>OSPF</a:t>
            </a:r>
            <a:r>
              <a:rPr lang="zh-CN" altLang="en-US" dirty="0"/>
              <a:t>的行为。</a:t>
            </a:r>
          </a:p>
          <a:p>
            <a:r>
              <a:rPr lang="zh-CN" altLang="en-US" dirty="0"/>
              <a:t>在</a:t>
            </a:r>
            <a:r>
              <a:rPr lang="en-US" altLang="zh-CN" dirty="0"/>
              <a:t>OSPFv3</a:t>
            </a:r>
            <a:r>
              <a:rPr lang="zh-CN" altLang="en-US" dirty="0"/>
              <a:t>中我们更多的是使用“链路”和“前缀”这两个术语。但这两个概念是分离的，没有必然的对应关系，所以在讨论路由协议时，</a:t>
            </a:r>
            <a:r>
              <a:rPr lang="en-US" altLang="zh-CN" dirty="0"/>
              <a:t>OSPFv2</a:t>
            </a:r>
            <a:r>
              <a:rPr lang="zh-CN" altLang="en-US" dirty="0"/>
              <a:t>的术语“网络”和“子网”在这里应该用“链路”替换掉。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6649356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多实例通过在</a:t>
            </a:r>
            <a:r>
              <a:rPr lang="en-US" altLang="zh-CN" dirty="0"/>
              <a:t>OSPFv3</a:t>
            </a:r>
            <a:r>
              <a:rPr lang="zh-CN" altLang="en-US" dirty="0"/>
              <a:t>报文头部增加一个</a:t>
            </a:r>
            <a:r>
              <a:rPr lang="en-US" altLang="zh-CN" dirty="0"/>
              <a:t>Instance ID</a:t>
            </a:r>
            <a:r>
              <a:rPr lang="zh-CN" altLang="en-US" dirty="0"/>
              <a:t>区别不同的实例来实现。一个分配了给定</a:t>
            </a:r>
            <a:r>
              <a:rPr lang="en-US" altLang="zh-CN" dirty="0"/>
              <a:t>Instance ID</a:t>
            </a:r>
            <a:r>
              <a:rPr lang="zh-CN" altLang="en-US" dirty="0"/>
              <a:t>的实例，将会丢弃那些与该</a:t>
            </a:r>
            <a:r>
              <a:rPr lang="en-US" altLang="zh-CN" dirty="0"/>
              <a:t>Instance ID</a:t>
            </a:r>
            <a:r>
              <a:rPr lang="zh-CN" altLang="en-US" dirty="0"/>
              <a:t>不匹配的</a:t>
            </a:r>
            <a:r>
              <a:rPr lang="en-US" altLang="zh-CN" dirty="0"/>
              <a:t>OSPFv3</a:t>
            </a:r>
            <a:r>
              <a:rPr lang="zh-CN" altLang="en-US" dirty="0"/>
              <a:t>报文。</a:t>
            </a: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38172582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IPv6</a:t>
            </a:r>
            <a:r>
              <a:rPr lang="zh-CN" altLang="en-US" dirty="0"/>
              <a:t>使用链路本地（</a:t>
            </a:r>
            <a:r>
              <a:rPr lang="en-US" altLang="zh-CN" dirty="0"/>
              <a:t>Link-Local</a:t>
            </a:r>
            <a:r>
              <a:rPr lang="zh-CN" altLang="en-US" dirty="0"/>
              <a:t>）地址在同一链路上发现邻居及自动配置。运行</a:t>
            </a:r>
            <a:r>
              <a:rPr lang="en-US" altLang="zh-CN" dirty="0"/>
              <a:t>IPv6</a:t>
            </a:r>
            <a:r>
              <a:rPr lang="zh-CN" altLang="en-US" dirty="0"/>
              <a:t>的路由器不转发目的地址为链路本地地址的</a:t>
            </a:r>
            <a:r>
              <a:rPr lang="en-US" altLang="zh-CN" dirty="0"/>
              <a:t>IPv6</a:t>
            </a:r>
            <a:r>
              <a:rPr lang="zh-CN" altLang="en-US" dirty="0"/>
              <a:t>报文，此类报文只在同一链路有效。</a:t>
            </a:r>
          </a:p>
          <a:p>
            <a:r>
              <a:rPr lang="en-US" altLang="zh-CN" dirty="0"/>
              <a:t>OSPFv3</a:t>
            </a:r>
            <a:r>
              <a:rPr lang="zh-CN" altLang="en-US" dirty="0"/>
              <a:t>是运行在</a:t>
            </a:r>
            <a:r>
              <a:rPr lang="en-US" altLang="zh-CN" dirty="0"/>
              <a:t>IPv6</a:t>
            </a:r>
            <a:r>
              <a:rPr lang="zh-CN" altLang="en-US" dirty="0"/>
              <a:t>上的路由协议，使用链路本地地址来发送</a:t>
            </a:r>
            <a:r>
              <a:rPr lang="en-US" altLang="zh-CN" dirty="0"/>
              <a:t>OSPFv3</a:t>
            </a:r>
            <a:r>
              <a:rPr lang="zh-CN" altLang="en-US" dirty="0"/>
              <a:t>报文。</a:t>
            </a:r>
            <a:endParaRPr lang="en-US" altLang="zh-CN" dirty="0"/>
          </a:p>
          <a:p>
            <a:pPr lvl="1"/>
            <a:r>
              <a:rPr lang="en-US" altLang="zh-CN" dirty="0"/>
              <a:t>OSPFv3</a:t>
            </a:r>
            <a:r>
              <a:rPr lang="zh-CN" altLang="en-US" dirty="0"/>
              <a:t>假定每个路由器在每个连接的链路上都已被分配链路本地地址，在除虚连接外的所有</a:t>
            </a:r>
            <a:r>
              <a:rPr lang="en-US" altLang="zh-CN" dirty="0"/>
              <a:t>OSPFv3</a:t>
            </a:r>
            <a:r>
              <a:rPr lang="zh-CN" altLang="en-US" dirty="0"/>
              <a:t>接口上使用接口关联的链路本地地址作为源地址发送</a:t>
            </a:r>
            <a:r>
              <a:rPr lang="en-US" altLang="zh-CN" dirty="0"/>
              <a:t>OSPFv3</a:t>
            </a:r>
            <a:r>
              <a:rPr lang="zh-CN" altLang="en-US" dirty="0"/>
              <a:t>报文。</a:t>
            </a:r>
            <a:endParaRPr lang="en-US" altLang="zh-CN" dirty="0"/>
          </a:p>
          <a:p>
            <a:pPr lvl="1"/>
            <a:r>
              <a:rPr lang="zh-CN" altLang="en-US" dirty="0"/>
              <a:t>路由器学习所有其他连接到该链路上的路由器的链路本地地址，并且使用这些地址作为下一跳进行报文转发。</a:t>
            </a:r>
            <a:endParaRPr lang="en-US" altLang="zh-CN" dirty="0"/>
          </a:p>
          <a:p>
            <a:pPr lvl="1"/>
            <a:r>
              <a:rPr lang="zh-CN" altLang="en-US" dirty="0"/>
              <a:t>注意：关于链路本地地址的描述仅出现在</a:t>
            </a:r>
            <a:r>
              <a:rPr lang="en-US" altLang="zh-CN" dirty="0"/>
              <a:t>Link-LSA</a:t>
            </a:r>
            <a:r>
              <a:rPr lang="zh-CN" altLang="en-US" dirty="0"/>
              <a:t>（链路</a:t>
            </a:r>
            <a:r>
              <a:rPr lang="en-US" altLang="zh-CN" dirty="0"/>
              <a:t>LSA</a:t>
            </a:r>
            <a:r>
              <a:rPr lang="zh-CN" altLang="en-US" dirty="0"/>
              <a:t>，</a:t>
            </a:r>
            <a:r>
              <a:rPr lang="en-US" altLang="zh-CN" dirty="0"/>
              <a:t>OSPFv3</a:t>
            </a:r>
            <a:r>
              <a:rPr lang="zh-CN" altLang="en-US" dirty="0"/>
              <a:t>新增</a:t>
            </a:r>
            <a:r>
              <a:rPr lang="en-US" altLang="zh-CN" dirty="0"/>
              <a:t>LSA</a:t>
            </a:r>
            <a:r>
              <a:rPr lang="zh-CN" altLang="en-US" dirty="0"/>
              <a:t>）中。</a:t>
            </a:r>
            <a:endParaRPr lang="en-US" altLang="zh-CN" dirty="0"/>
          </a:p>
          <a:p>
            <a:pPr lvl="0"/>
            <a:r>
              <a:rPr lang="zh-CN" altLang="en-US" dirty="0"/>
              <a:t>说明：在虚连接上，必须使用全球单播地址或者站点本地地址作为</a:t>
            </a:r>
            <a:r>
              <a:rPr lang="en-US" altLang="zh-CN" dirty="0"/>
              <a:t>OSPFv3</a:t>
            </a:r>
            <a:r>
              <a:rPr lang="zh-CN" altLang="en-US" dirty="0"/>
              <a:t>协议报文的源地址。</a:t>
            </a:r>
          </a:p>
          <a:p>
            <a:pPr lvl="0"/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24704982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OSPFv3</a:t>
            </a:r>
            <a:r>
              <a:rPr lang="zh-CN" altLang="en-US"/>
              <a:t>报文作用：</a:t>
            </a:r>
            <a:endParaRPr lang="en-US" altLang="zh-CN"/>
          </a:p>
          <a:p>
            <a:pPr lvl="1"/>
            <a:r>
              <a:rPr lang="en-US" altLang="zh-CN"/>
              <a:t>Hello</a:t>
            </a:r>
            <a:r>
              <a:rPr lang="zh-CN" altLang="en-US"/>
              <a:t>报文：周期性发送，用来发现、建立和维持</a:t>
            </a:r>
            <a:r>
              <a:rPr lang="en-US" altLang="zh-CN"/>
              <a:t>OSPFv3</a:t>
            </a:r>
            <a:r>
              <a:rPr lang="zh-CN" altLang="en-US"/>
              <a:t>邻居关系。</a:t>
            </a:r>
            <a:endParaRPr lang="en-US" altLang="zh-CN"/>
          </a:p>
          <a:p>
            <a:pPr lvl="1"/>
            <a:r>
              <a:rPr lang="en-US" altLang="zh-CN"/>
              <a:t>DD</a:t>
            </a:r>
            <a:r>
              <a:rPr lang="zh-CN" altLang="en-US"/>
              <a:t>报文</a:t>
            </a:r>
            <a:r>
              <a:rPr lang="zh-CN" altLang="en-US">
                <a:sym typeface="Wingdings" panose="05000000000000000000" pitchFamily="2" charset="2"/>
              </a:rPr>
              <a:t>：描述了本地</a:t>
            </a:r>
            <a:r>
              <a:rPr lang="en-US" altLang="zh-CN">
                <a:sym typeface="Wingdings" panose="05000000000000000000" pitchFamily="2" charset="2"/>
              </a:rPr>
              <a:t>LSDB</a:t>
            </a:r>
            <a:r>
              <a:rPr lang="zh-CN" altLang="en-US">
                <a:sym typeface="Wingdings" panose="05000000000000000000" pitchFamily="2" charset="2"/>
              </a:rPr>
              <a:t>的摘要信息，用于两台设备进行数据库同步。</a:t>
            </a:r>
            <a:endParaRPr lang="en-US" altLang="zh-CN">
              <a:sym typeface="Wingdings" panose="05000000000000000000" pitchFamily="2" charset="2"/>
            </a:endParaRPr>
          </a:p>
          <a:p>
            <a:pPr lvl="1"/>
            <a:r>
              <a:rPr lang="en-US" altLang="zh-CN">
                <a:sym typeface="Wingdings" panose="05000000000000000000" pitchFamily="2" charset="2"/>
              </a:rPr>
              <a:t>LSR</a:t>
            </a:r>
            <a:r>
              <a:rPr lang="zh-CN" altLang="en-US">
                <a:sym typeface="Wingdings" panose="05000000000000000000" pitchFamily="2" charset="2"/>
              </a:rPr>
              <a:t>报文：用于向对方请求所需的</a:t>
            </a:r>
            <a:r>
              <a:rPr lang="en-US" altLang="zh-CN">
                <a:sym typeface="Wingdings" panose="05000000000000000000" pitchFamily="2" charset="2"/>
              </a:rPr>
              <a:t>LSA</a:t>
            </a:r>
            <a:r>
              <a:rPr lang="zh-CN" altLang="en-US">
                <a:sym typeface="Wingdings" panose="05000000000000000000" pitchFamily="2" charset="2"/>
              </a:rPr>
              <a:t>。设备只有在</a:t>
            </a:r>
            <a:r>
              <a:rPr lang="en-US" altLang="zh-CN">
                <a:sym typeface="Wingdings" panose="05000000000000000000" pitchFamily="2" charset="2"/>
              </a:rPr>
              <a:t>OSPFv3</a:t>
            </a:r>
            <a:r>
              <a:rPr lang="zh-CN" altLang="en-US">
                <a:sym typeface="Wingdings" panose="05000000000000000000" pitchFamily="2" charset="2"/>
              </a:rPr>
              <a:t>邻居双方成功交换</a:t>
            </a:r>
            <a:r>
              <a:rPr lang="en-US" altLang="zh-CN">
                <a:sym typeface="Wingdings" panose="05000000000000000000" pitchFamily="2" charset="2"/>
              </a:rPr>
              <a:t>DD</a:t>
            </a:r>
            <a:r>
              <a:rPr lang="zh-CN" altLang="en-US">
                <a:sym typeface="Wingdings" panose="05000000000000000000" pitchFamily="2" charset="2"/>
              </a:rPr>
              <a:t>报文后，才会向对方发出</a:t>
            </a:r>
            <a:r>
              <a:rPr lang="en-US" altLang="zh-CN">
                <a:sym typeface="Wingdings" panose="05000000000000000000" pitchFamily="2" charset="2"/>
              </a:rPr>
              <a:t>LSR</a:t>
            </a:r>
            <a:r>
              <a:rPr lang="zh-CN" altLang="en-US">
                <a:sym typeface="Wingdings" panose="05000000000000000000" pitchFamily="2" charset="2"/>
              </a:rPr>
              <a:t>报文。</a:t>
            </a:r>
            <a:endParaRPr lang="en-US" altLang="zh-CN">
              <a:sym typeface="Wingdings" panose="05000000000000000000" pitchFamily="2" charset="2"/>
            </a:endParaRPr>
          </a:p>
          <a:p>
            <a:pPr lvl="1"/>
            <a:r>
              <a:rPr lang="en-US" altLang="zh-CN">
                <a:sym typeface="Wingdings" panose="05000000000000000000" pitchFamily="2" charset="2"/>
              </a:rPr>
              <a:t>LSU</a:t>
            </a:r>
            <a:r>
              <a:rPr lang="zh-CN" altLang="en-US">
                <a:sym typeface="Wingdings" panose="05000000000000000000" pitchFamily="2" charset="2"/>
              </a:rPr>
              <a:t>报文：向对方发送其所需的</a:t>
            </a:r>
            <a:r>
              <a:rPr lang="en-US" altLang="zh-CN">
                <a:sym typeface="Wingdings" panose="05000000000000000000" pitchFamily="2" charset="2"/>
              </a:rPr>
              <a:t>LSA</a:t>
            </a:r>
            <a:r>
              <a:rPr lang="zh-CN" altLang="en-US">
                <a:sym typeface="Wingdings" panose="05000000000000000000" pitchFamily="2" charset="2"/>
              </a:rPr>
              <a:t>。</a:t>
            </a:r>
            <a:endParaRPr lang="en-US" altLang="zh-CN">
              <a:sym typeface="Wingdings" panose="05000000000000000000" pitchFamily="2" charset="2"/>
            </a:endParaRPr>
          </a:p>
          <a:p>
            <a:pPr lvl="1"/>
            <a:r>
              <a:rPr lang="en-US" altLang="zh-CN">
                <a:sym typeface="Wingdings" panose="05000000000000000000" pitchFamily="2" charset="2"/>
              </a:rPr>
              <a:t>LSAck</a:t>
            </a:r>
            <a:r>
              <a:rPr lang="zh-CN" altLang="en-US">
                <a:sym typeface="Wingdings" panose="05000000000000000000" pitchFamily="2" charset="2"/>
              </a:rPr>
              <a:t>报文：用来对收到的</a:t>
            </a:r>
            <a:r>
              <a:rPr lang="en-US" altLang="zh-CN">
                <a:sym typeface="Wingdings" panose="05000000000000000000" pitchFamily="2" charset="2"/>
              </a:rPr>
              <a:t>LSA</a:t>
            </a:r>
            <a:r>
              <a:rPr lang="zh-CN" altLang="en-US">
                <a:sym typeface="Wingdings" panose="05000000000000000000" pitchFamily="2" charset="2"/>
              </a:rPr>
              <a:t>进行确认。</a:t>
            </a:r>
            <a:endParaRPr lang="en-US" altLang="zh-CN"/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25948188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Version</a:t>
            </a:r>
            <a:r>
              <a:rPr lang="zh-CN" altLang="en-US" dirty="0"/>
              <a:t>：</a:t>
            </a:r>
            <a:r>
              <a:rPr lang="en-US" altLang="zh-CN" dirty="0"/>
              <a:t>1 Byte</a:t>
            </a:r>
            <a:r>
              <a:rPr lang="zh-CN" altLang="en-US" dirty="0"/>
              <a:t>，版本，</a:t>
            </a:r>
            <a:r>
              <a:rPr lang="en-US" altLang="zh-CN" dirty="0"/>
              <a:t>OSPF</a:t>
            </a:r>
            <a:r>
              <a:rPr lang="zh-CN" altLang="en-US" dirty="0"/>
              <a:t>的版本号。对于</a:t>
            </a:r>
            <a:r>
              <a:rPr lang="en-US" altLang="zh-CN" dirty="0"/>
              <a:t>OSPFv3</a:t>
            </a:r>
            <a:r>
              <a:rPr lang="zh-CN" altLang="en-US" dirty="0"/>
              <a:t>来说，其值为</a:t>
            </a:r>
            <a:r>
              <a:rPr lang="en-US" altLang="zh-CN" dirty="0"/>
              <a:t>3</a:t>
            </a:r>
            <a:r>
              <a:rPr lang="zh-CN" altLang="en-US" dirty="0"/>
              <a:t>。 </a:t>
            </a:r>
          </a:p>
          <a:p>
            <a:r>
              <a:rPr lang="en-US" altLang="zh-CN" dirty="0"/>
              <a:t>Type</a:t>
            </a:r>
            <a:r>
              <a:rPr lang="zh-CN" altLang="en-US" dirty="0"/>
              <a:t>：</a:t>
            </a:r>
            <a:r>
              <a:rPr lang="en-US" altLang="zh-CN" dirty="0"/>
              <a:t>1 Byte</a:t>
            </a:r>
            <a:r>
              <a:rPr lang="zh-CN" altLang="en-US" dirty="0"/>
              <a:t>，类型，</a:t>
            </a:r>
            <a:r>
              <a:rPr lang="en-US" altLang="zh-CN" dirty="0"/>
              <a:t>OSPFv3</a:t>
            </a:r>
            <a:r>
              <a:rPr lang="zh-CN" altLang="en-US" dirty="0"/>
              <a:t>报文的类型。有下面几种类型：</a:t>
            </a:r>
          </a:p>
          <a:p>
            <a:pPr lvl="1"/>
            <a:r>
              <a:rPr lang="zh-CN" altLang="en-US" dirty="0"/>
              <a:t>取值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Hello</a:t>
            </a:r>
            <a:r>
              <a:rPr lang="zh-CN" altLang="en-US" dirty="0"/>
              <a:t>报文</a:t>
            </a:r>
          </a:p>
          <a:p>
            <a:pPr lvl="1"/>
            <a:r>
              <a:rPr lang="zh-CN" altLang="en-US" dirty="0"/>
              <a:t>取值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DD</a:t>
            </a:r>
            <a:r>
              <a:rPr lang="zh-CN" altLang="en-US" dirty="0"/>
              <a:t>报文</a:t>
            </a:r>
          </a:p>
          <a:p>
            <a:pPr lvl="1"/>
            <a:r>
              <a:rPr lang="zh-CN" altLang="en-US" dirty="0"/>
              <a:t>取值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/>
              <a:t>LSR</a:t>
            </a:r>
            <a:r>
              <a:rPr lang="zh-CN" altLang="en-US" dirty="0"/>
              <a:t>报文</a:t>
            </a:r>
          </a:p>
          <a:p>
            <a:pPr lvl="1"/>
            <a:r>
              <a:rPr lang="zh-CN" altLang="en-US" dirty="0"/>
              <a:t>取值</a:t>
            </a:r>
            <a:r>
              <a:rPr lang="en-US" altLang="zh-CN" dirty="0"/>
              <a:t>4</a:t>
            </a:r>
            <a:r>
              <a:rPr lang="zh-CN" altLang="en-US" dirty="0"/>
              <a:t>：</a:t>
            </a:r>
            <a:r>
              <a:rPr lang="en-US" altLang="zh-CN" dirty="0"/>
              <a:t>LSU</a:t>
            </a:r>
            <a:r>
              <a:rPr lang="zh-CN" altLang="en-US" dirty="0"/>
              <a:t>报文</a:t>
            </a:r>
          </a:p>
          <a:p>
            <a:pPr lvl="1"/>
            <a:r>
              <a:rPr lang="zh-CN" altLang="en-US" dirty="0"/>
              <a:t>取值</a:t>
            </a:r>
            <a:r>
              <a:rPr lang="en-US" altLang="zh-CN" dirty="0"/>
              <a:t>5</a:t>
            </a:r>
            <a:r>
              <a:rPr lang="zh-CN" altLang="en-US" dirty="0"/>
              <a:t>：</a:t>
            </a:r>
            <a:r>
              <a:rPr lang="en-US" altLang="zh-CN" dirty="0" err="1"/>
              <a:t>LSAck</a:t>
            </a:r>
            <a:r>
              <a:rPr lang="zh-CN" altLang="en-US" dirty="0"/>
              <a:t>报文</a:t>
            </a:r>
          </a:p>
          <a:p>
            <a:r>
              <a:rPr lang="en-US" altLang="zh-CN" dirty="0"/>
              <a:t>Packet length</a:t>
            </a:r>
            <a:r>
              <a:rPr lang="zh-CN" altLang="en-US" dirty="0"/>
              <a:t>：</a:t>
            </a:r>
            <a:r>
              <a:rPr lang="en-US" altLang="zh-CN" dirty="0"/>
              <a:t>2 Byte</a:t>
            </a:r>
            <a:r>
              <a:rPr lang="zh-CN" altLang="en-US" dirty="0"/>
              <a:t>，</a:t>
            </a:r>
            <a:r>
              <a:rPr lang="en-US" altLang="zh-CN" dirty="0"/>
              <a:t>OSPFv3</a:t>
            </a:r>
            <a:r>
              <a:rPr lang="zh-CN" altLang="en-US" dirty="0"/>
              <a:t>报文的总长度，包括报文头在内，单位为字节。 </a:t>
            </a:r>
          </a:p>
          <a:p>
            <a:r>
              <a:rPr lang="en-US" altLang="zh-CN" dirty="0"/>
              <a:t>Router ID</a:t>
            </a:r>
            <a:r>
              <a:rPr lang="zh-CN" altLang="en-US" dirty="0"/>
              <a:t>：</a:t>
            </a:r>
            <a:r>
              <a:rPr lang="en-US" altLang="zh-CN" dirty="0"/>
              <a:t>4 Byte</a:t>
            </a:r>
            <a:r>
              <a:rPr lang="zh-CN" altLang="en-US" dirty="0"/>
              <a:t>，始发此报文的路由器的</a:t>
            </a:r>
            <a:r>
              <a:rPr lang="en-US" altLang="zh-CN" dirty="0"/>
              <a:t>Router ID</a:t>
            </a:r>
            <a:r>
              <a:rPr lang="zh-CN" altLang="en-US" dirty="0"/>
              <a:t>。 </a:t>
            </a:r>
          </a:p>
          <a:p>
            <a:r>
              <a:rPr lang="en-US" altLang="zh-CN" dirty="0"/>
              <a:t>Area ID</a:t>
            </a:r>
            <a:r>
              <a:rPr lang="zh-CN" altLang="en-US" dirty="0"/>
              <a:t>：</a:t>
            </a:r>
            <a:r>
              <a:rPr lang="en-US" altLang="zh-CN" dirty="0"/>
              <a:t>4 Byte</a:t>
            </a:r>
            <a:r>
              <a:rPr lang="zh-CN" altLang="en-US" dirty="0"/>
              <a:t>，发送该报文的所属区域。 </a:t>
            </a:r>
          </a:p>
          <a:p>
            <a:r>
              <a:rPr lang="en-US" altLang="zh-CN" dirty="0"/>
              <a:t>Checksum</a:t>
            </a:r>
            <a:r>
              <a:rPr lang="zh-CN" altLang="en-US" dirty="0"/>
              <a:t>：</a:t>
            </a:r>
            <a:r>
              <a:rPr lang="en-US" altLang="zh-CN" dirty="0"/>
              <a:t>2 Byte</a:t>
            </a:r>
            <a:r>
              <a:rPr lang="zh-CN" altLang="en-US" dirty="0"/>
              <a:t>，使用</a:t>
            </a:r>
            <a:r>
              <a:rPr lang="en-US" altLang="zh-CN" dirty="0"/>
              <a:t>IPv6</a:t>
            </a:r>
            <a:r>
              <a:rPr lang="zh-CN" altLang="en-US" dirty="0"/>
              <a:t>标准</a:t>
            </a:r>
            <a:r>
              <a:rPr lang="en-US" altLang="zh-CN" dirty="0"/>
              <a:t>16</a:t>
            </a:r>
            <a:r>
              <a:rPr lang="zh-CN" altLang="en-US" dirty="0"/>
              <a:t>位校验和。</a:t>
            </a:r>
            <a:endParaRPr lang="en-US" altLang="zh-CN" dirty="0"/>
          </a:p>
          <a:p>
            <a:r>
              <a:rPr lang="en-US" altLang="zh-CN" dirty="0"/>
              <a:t>0</a:t>
            </a:r>
            <a:r>
              <a:rPr lang="zh-CN" altLang="en-US" dirty="0"/>
              <a:t>：</a:t>
            </a:r>
            <a:r>
              <a:rPr lang="en-US" altLang="zh-CN" dirty="0"/>
              <a:t>1 Byte</a:t>
            </a:r>
            <a:r>
              <a:rPr lang="zh-CN" altLang="en-US" dirty="0"/>
              <a:t>，保留字段，必须填</a:t>
            </a:r>
            <a:r>
              <a:rPr lang="en-US" altLang="zh-CN" dirty="0"/>
              <a:t>0</a:t>
            </a:r>
            <a:r>
              <a:rPr lang="zh-CN" altLang="en-US" dirty="0"/>
              <a:t>。 </a:t>
            </a:r>
          </a:p>
          <a:p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27207674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31838" y="4310765"/>
            <a:ext cx="5580062" cy="497611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/>
              <a:t>Rtr </a:t>
            </a:r>
            <a:r>
              <a:rPr lang="en-US" altLang="zh-CN" dirty="0" err="1"/>
              <a:t>Pri</a:t>
            </a:r>
            <a:r>
              <a:rPr lang="zh-CN" altLang="en-US" dirty="0"/>
              <a:t>：</a:t>
            </a:r>
            <a:r>
              <a:rPr lang="en-US" altLang="zh-CN" dirty="0"/>
              <a:t>1 Byte</a:t>
            </a:r>
            <a:r>
              <a:rPr lang="zh-CN" altLang="en-US" dirty="0"/>
              <a:t>，</a:t>
            </a:r>
            <a:r>
              <a:rPr lang="en-US" altLang="zh-CN" dirty="0"/>
              <a:t>Router Priority</a:t>
            </a:r>
            <a:r>
              <a:rPr lang="zh-CN" altLang="en-US" dirty="0"/>
              <a:t>，</a:t>
            </a:r>
            <a:r>
              <a:rPr lang="en-US" altLang="zh-CN" dirty="0"/>
              <a:t>DR</a:t>
            </a:r>
            <a:r>
              <a:rPr lang="zh-CN" altLang="en-US" dirty="0"/>
              <a:t>优先级。默认为</a:t>
            </a:r>
            <a:r>
              <a:rPr lang="en-US" altLang="zh-CN" dirty="0"/>
              <a:t>1</a:t>
            </a:r>
            <a:r>
              <a:rPr lang="zh-CN" altLang="en-US" dirty="0"/>
              <a:t>。如果设置为</a:t>
            </a:r>
            <a:r>
              <a:rPr lang="en-US" altLang="zh-CN" dirty="0"/>
              <a:t>0</a:t>
            </a:r>
            <a:r>
              <a:rPr lang="zh-CN" altLang="en-US" dirty="0"/>
              <a:t>，则路由器不能参与</a:t>
            </a:r>
            <a:r>
              <a:rPr lang="en-US" altLang="zh-CN" dirty="0"/>
              <a:t>DR</a:t>
            </a:r>
            <a:r>
              <a:rPr lang="zh-CN" altLang="en-US" dirty="0"/>
              <a:t>或</a:t>
            </a:r>
            <a:r>
              <a:rPr lang="en-US" altLang="zh-CN" dirty="0"/>
              <a:t>BDR</a:t>
            </a:r>
            <a:r>
              <a:rPr lang="zh-CN" altLang="en-US" dirty="0"/>
              <a:t>的选举。 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Options</a:t>
            </a:r>
            <a:r>
              <a:rPr lang="zh-CN" altLang="en-US" dirty="0"/>
              <a:t>：</a:t>
            </a:r>
            <a:r>
              <a:rPr lang="en-US" altLang="zh-CN" dirty="0"/>
              <a:t>3 Byte</a:t>
            </a:r>
            <a:r>
              <a:rPr lang="zh-CN" altLang="en-US" dirty="0"/>
              <a:t>，可选项。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AT</a:t>
            </a:r>
            <a:r>
              <a:rPr lang="zh-CN" altLang="en-US" dirty="0"/>
              <a:t>：</a:t>
            </a:r>
            <a:r>
              <a:rPr lang="en-US" altLang="zh-CN" dirty="0"/>
              <a:t>1 bit</a:t>
            </a:r>
            <a:r>
              <a:rPr lang="zh-CN" altLang="en-US" dirty="0"/>
              <a:t>，表示是否支持</a:t>
            </a:r>
            <a:r>
              <a:rPr lang="en-US" altLang="zh-CN" dirty="0"/>
              <a:t>OSPFv3</a:t>
            </a:r>
            <a:r>
              <a:rPr lang="zh-CN" altLang="en-US" dirty="0"/>
              <a:t>认证。若</a:t>
            </a:r>
            <a:r>
              <a:rPr lang="en-US" altLang="zh-CN" dirty="0"/>
              <a:t>AT=1</a:t>
            </a:r>
            <a:r>
              <a:rPr lang="zh-CN" altLang="en-US" dirty="0"/>
              <a:t>，则在</a:t>
            </a:r>
            <a:r>
              <a:rPr lang="en-US" altLang="zh-CN" dirty="0"/>
              <a:t>OSPFv3</a:t>
            </a:r>
            <a:r>
              <a:rPr lang="zh-CN" altLang="en-US" dirty="0"/>
              <a:t>报文后增加认证尾部字段，包含认证信息。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DC</a:t>
            </a:r>
            <a:r>
              <a:rPr lang="zh-CN" altLang="en-US" dirty="0"/>
              <a:t>：</a:t>
            </a:r>
            <a:r>
              <a:rPr lang="en-US" altLang="zh-CN" dirty="0"/>
              <a:t>1 bit</a:t>
            </a:r>
            <a:r>
              <a:rPr lang="zh-CN" altLang="en-US" dirty="0"/>
              <a:t>，表示是否具有支持按需电路的能力。 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R</a:t>
            </a:r>
            <a:r>
              <a:rPr lang="zh-CN" altLang="en-US" dirty="0"/>
              <a:t>：</a:t>
            </a:r>
            <a:r>
              <a:rPr lang="en-US" altLang="zh-CN" dirty="0"/>
              <a:t>1 bit</a:t>
            </a:r>
            <a:r>
              <a:rPr lang="zh-CN" altLang="en-US" dirty="0"/>
              <a:t>，指明始发路由器是否是一台有效的路由器。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NP</a:t>
            </a:r>
            <a:r>
              <a:rPr lang="zh-CN" altLang="en-US" dirty="0"/>
              <a:t>：</a:t>
            </a:r>
            <a:r>
              <a:rPr lang="en-US" altLang="zh-CN" dirty="0"/>
              <a:t>1 bit</a:t>
            </a:r>
            <a:r>
              <a:rPr lang="zh-CN" altLang="en-US" dirty="0"/>
              <a:t>，表示是否为</a:t>
            </a:r>
            <a:r>
              <a:rPr lang="en-US" altLang="zh-CN" dirty="0"/>
              <a:t>NSSA</a:t>
            </a:r>
            <a:r>
              <a:rPr lang="zh-CN" altLang="en-US" dirty="0"/>
              <a:t>区域。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MC</a:t>
            </a:r>
            <a:r>
              <a:rPr lang="zh-CN" altLang="en-US" dirty="0"/>
              <a:t>：</a:t>
            </a:r>
            <a:r>
              <a:rPr lang="en-US" altLang="zh-CN" dirty="0"/>
              <a:t>1 bit</a:t>
            </a:r>
            <a:r>
              <a:rPr lang="zh-CN" altLang="en-US" dirty="0"/>
              <a:t>，表示是否支持转发组播数据报文。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E</a:t>
            </a:r>
            <a:r>
              <a:rPr lang="zh-CN" altLang="en-US" dirty="0"/>
              <a:t>：</a:t>
            </a:r>
            <a:r>
              <a:rPr lang="en-US" altLang="zh-CN" dirty="0"/>
              <a:t>1 bit</a:t>
            </a:r>
            <a:r>
              <a:rPr lang="zh-CN" altLang="en-US" dirty="0"/>
              <a:t>，表示是否支持外部路由。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V6</a:t>
            </a:r>
            <a:r>
              <a:rPr lang="zh-CN" altLang="en-US" dirty="0"/>
              <a:t>：</a:t>
            </a:r>
            <a:r>
              <a:rPr lang="en-US" altLang="zh-CN" dirty="0"/>
              <a:t>1 bit</a:t>
            </a:r>
            <a:r>
              <a:rPr lang="zh-CN" altLang="en-US" dirty="0"/>
              <a:t>，表示是否参与</a:t>
            </a:r>
            <a:r>
              <a:rPr lang="en-US" altLang="zh-CN" dirty="0"/>
              <a:t>IPv6</a:t>
            </a:r>
            <a:r>
              <a:rPr lang="zh-CN" altLang="en-US" dirty="0"/>
              <a:t>路由计算。如果该位为</a:t>
            </a:r>
            <a:r>
              <a:rPr lang="en-US" altLang="zh-CN" dirty="0"/>
              <a:t>0</a:t>
            </a:r>
            <a:r>
              <a:rPr lang="zh-CN" altLang="en-US" dirty="0"/>
              <a:t>，表示该路由器或链路不参与</a:t>
            </a:r>
            <a:r>
              <a:rPr lang="en-US" altLang="zh-CN" dirty="0"/>
              <a:t>IPv6</a:t>
            </a:r>
            <a:r>
              <a:rPr lang="zh-CN" altLang="en-US" dirty="0"/>
              <a:t>路由计算。</a:t>
            </a:r>
          </a:p>
          <a:p>
            <a:pPr>
              <a:lnSpc>
                <a:spcPct val="100000"/>
              </a:lnSpc>
            </a:pPr>
            <a:r>
              <a:rPr lang="en-US" altLang="zh-CN" dirty="0" err="1"/>
              <a:t>HelloInterval</a:t>
            </a:r>
            <a:r>
              <a:rPr lang="zh-CN" altLang="en-US" dirty="0"/>
              <a:t>：</a:t>
            </a:r>
            <a:r>
              <a:rPr lang="en-US" altLang="zh-CN" dirty="0"/>
              <a:t>2 Byte</a:t>
            </a:r>
            <a:r>
              <a:rPr lang="zh-CN" altLang="en-US" dirty="0"/>
              <a:t>，发送</a:t>
            </a:r>
            <a:r>
              <a:rPr lang="en-US" altLang="zh-CN" dirty="0"/>
              <a:t>Hello</a:t>
            </a:r>
            <a:r>
              <a:rPr lang="zh-CN" altLang="en-US" dirty="0"/>
              <a:t>报文的时间间隔。 </a:t>
            </a:r>
          </a:p>
          <a:p>
            <a:pPr>
              <a:lnSpc>
                <a:spcPct val="100000"/>
              </a:lnSpc>
            </a:pPr>
            <a:r>
              <a:rPr lang="en-US" altLang="zh-CN" dirty="0" err="1"/>
              <a:t>RouterDeadInterval</a:t>
            </a:r>
            <a:r>
              <a:rPr lang="en-US" altLang="zh-CN" dirty="0"/>
              <a:t> </a:t>
            </a:r>
            <a:r>
              <a:rPr lang="zh-CN" altLang="en-US" dirty="0"/>
              <a:t>：</a:t>
            </a:r>
            <a:r>
              <a:rPr lang="en-US" altLang="zh-CN" dirty="0"/>
              <a:t>2 Byte</a:t>
            </a:r>
            <a:r>
              <a:rPr lang="zh-CN" altLang="en-US" dirty="0"/>
              <a:t>，失效时间。如果在此时间内未收到邻居发来的</a:t>
            </a:r>
            <a:r>
              <a:rPr lang="en-US" altLang="zh-CN" dirty="0"/>
              <a:t>Hello</a:t>
            </a:r>
            <a:r>
              <a:rPr lang="zh-CN" altLang="en-US" dirty="0"/>
              <a:t>报文，则认为邻居失效。 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Designated Router ID</a:t>
            </a:r>
            <a:r>
              <a:rPr lang="zh-CN" altLang="en-US" dirty="0"/>
              <a:t>：</a:t>
            </a:r>
            <a:r>
              <a:rPr lang="en-US" altLang="zh-CN" dirty="0"/>
              <a:t>4 Byte</a:t>
            </a:r>
            <a:r>
              <a:rPr lang="zh-CN" altLang="en-US" dirty="0"/>
              <a:t>，</a:t>
            </a:r>
            <a:r>
              <a:rPr lang="en-US" altLang="zh-CN" dirty="0"/>
              <a:t>DR</a:t>
            </a:r>
            <a:r>
              <a:rPr lang="zh-CN" altLang="en-US" dirty="0"/>
              <a:t>的</a:t>
            </a:r>
            <a:r>
              <a:rPr lang="en-US" altLang="zh-CN" dirty="0"/>
              <a:t>Router ID</a:t>
            </a:r>
            <a:r>
              <a:rPr lang="zh-CN" altLang="en-US" dirty="0"/>
              <a:t>。 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Backup Designated Router ID </a:t>
            </a:r>
            <a:r>
              <a:rPr lang="zh-CN" altLang="en-US" dirty="0"/>
              <a:t>：</a:t>
            </a:r>
            <a:r>
              <a:rPr lang="en-US" altLang="zh-CN" dirty="0"/>
              <a:t>4 Byte</a:t>
            </a:r>
            <a:r>
              <a:rPr lang="zh-CN" altLang="en-US" dirty="0"/>
              <a:t>，</a:t>
            </a:r>
            <a:r>
              <a:rPr lang="en-US" altLang="zh-CN" dirty="0"/>
              <a:t>BDR</a:t>
            </a:r>
            <a:r>
              <a:rPr lang="zh-CN" altLang="en-US" dirty="0"/>
              <a:t>的</a:t>
            </a:r>
            <a:r>
              <a:rPr lang="en-US" altLang="zh-CN" dirty="0"/>
              <a:t>Router ID</a:t>
            </a:r>
            <a:r>
              <a:rPr lang="zh-CN" altLang="en-US" dirty="0"/>
              <a:t>。 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Neighbor ID</a:t>
            </a:r>
            <a:r>
              <a:rPr lang="zh-CN" altLang="en-US" dirty="0"/>
              <a:t>：</a:t>
            </a:r>
            <a:r>
              <a:rPr lang="en-US" altLang="zh-CN" dirty="0"/>
              <a:t>4 Byte</a:t>
            </a:r>
            <a:r>
              <a:rPr lang="zh-CN" altLang="en-US" dirty="0"/>
              <a:t>，邻居，以</a:t>
            </a:r>
            <a:r>
              <a:rPr lang="en-US" altLang="zh-CN" dirty="0"/>
              <a:t>Router ID</a:t>
            </a:r>
            <a:r>
              <a:rPr lang="zh-CN" altLang="en-US" dirty="0"/>
              <a:t>标识。 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说明：</a:t>
            </a:r>
            <a:r>
              <a:rPr lang="en-US" altLang="zh-CN" dirty="0"/>
              <a:t>DD</a:t>
            </a:r>
            <a:r>
              <a:rPr lang="zh-CN" altLang="en-US" dirty="0"/>
              <a:t>报文、</a:t>
            </a:r>
            <a:r>
              <a:rPr lang="en-US" altLang="zh-CN" dirty="0"/>
              <a:t>LSR</a:t>
            </a:r>
            <a:r>
              <a:rPr lang="zh-CN" altLang="en-US" dirty="0"/>
              <a:t>报文、</a:t>
            </a:r>
            <a:r>
              <a:rPr lang="en-US" altLang="zh-CN" dirty="0"/>
              <a:t>LSU</a:t>
            </a:r>
            <a:r>
              <a:rPr lang="zh-CN" altLang="en-US" dirty="0"/>
              <a:t>报文和</a:t>
            </a:r>
            <a:r>
              <a:rPr lang="en-US" altLang="zh-CN" dirty="0" err="1"/>
              <a:t>LSAck</a:t>
            </a:r>
            <a:r>
              <a:rPr lang="zh-CN" altLang="en-US" dirty="0"/>
              <a:t>报文格式与</a:t>
            </a:r>
            <a:r>
              <a:rPr lang="en-US" altLang="zh-CN" dirty="0"/>
              <a:t>OSPFv2</a:t>
            </a:r>
            <a:r>
              <a:rPr lang="zh-CN" altLang="en-US" dirty="0"/>
              <a:t>相比变化不大，本课程不再赘述。</a:t>
            </a: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19435711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31838" y="4310765"/>
            <a:ext cx="5580062" cy="498563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/>
              <a:t>LS Age</a:t>
            </a:r>
            <a:r>
              <a:rPr lang="zh-CN" altLang="en-US" dirty="0"/>
              <a:t>：</a:t>
            </a:r>
            <a:r>
              <a:rPr lang="en-US" altLang="zh-CN" dirty="0"/>
              <a:t>2 Byte</a:t>
            </a:r>
            <a:r>
              <a:rPr lang="zh-CN" altLang="en-US" dirty="0"/>
              <a:t>，</a:t>
            </a:r>
            <a:r>
              <a:rPr lang="en-US" altLang="zh-CN" dirty="0"/>
              <a:t>LSA</a:t>
            </a:r>
            <a:r>
              <a:rPr lang="zh-CN" altLang="en-US" dirty="0"/>
              <a:t>产生后所经过的时间，以秒为单位。无论</a:t>
            </a:r>
            <a:r>
              <a:rPr lang="en-US" altLang="zh-CN" dirty="0"/>
              <a:t>LSA</a:t>
            </a:r>
            <a:r>
              <a:rPr lang="zh-CN" altLang="en-US" dirty="0"/>
              <a:t>是在链路上传送，还是保存在</a:t>
            </a:r>
            <a:r>
              <a:rPr lang="en-US" altLang="zh-CN" dirty="0"/>
              <a:t>LSDB</a:t>
            </a:r>
            <a:r>
              <a:rPr lang="zh-CN" altLang="en-US" dirty="0"/>
              <a:t>中，其值都会在不停的增长。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LS Type</a:t>
            </a:r>
            <a:r>
              <a:rPr lang="zh-CN" altLang="en-US" dirty="0"/>
              <a:t>：</a:t>
            </a:r>
            <a:r>
              <a:rPr lang="en-US" altLang="zh-CN" dirty="0"/>
              <a:t>2 Byte</a:t>
            </a:r>
            <a:r>
              <a:rPr lang="zh-CN" altLang="en-US" dirty="0"/>
              <a:t>，</a:t>
            </a:r>
            <a:r>
              <a:rPr lang="en-US" altLang="zh-CN" dirty="0"/>
              <a:t>LSA</a:t>
            </a:r>
            <a:r>
              <a:rPr lang="zh-CN" altLang="en-US" dirty="0"/>
              <a:t>的类型。该字段的高</a:t>
            </a:r>
            <a:r>
              <a:rPr lang="en-US" altLang="zh-CN" dirty="0"/>
              <a:t>3</a:t>
            </a:r>
            <a:r>
              <a:rPr lang="zh-CN" altLang="en-US" dirty="0"/>
              <a:t>位标识</a:t>
            </a:r>
            <a:r>
              <a:rPr lang="en-US" altLang="zh-CN" dirty="0"/>
              <a:t>LSA</a:t>
            </a:r>
            <a:r>
              <a:rPr lang="zh-CN" altLang="en-US" dirty="0"/>
              <a:t>的通用属性，剩下的比特位标识</a:t>
            </a:r>
            <a:r>
              <a:rPr lang="en-US" altLang="zh-CN" dirty="0"/>
              <a:t>LSA</a:t>
            </a:r>
            <a:r>
              <a:rPr lang="zh-CN" altLang="en-US" dirty="0"/>
              <a:t>的特定功能。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U</a:t>
            </a:r>
            <a:r>
              <a:rPr lang="zh-CN" altLang="en-US" dirty="0"/>
              <a:t>位标识了对未知</a:t>
            </a:r>
            <a:r>
              <a:rPr lang="en-US" altLang="zh-CN" dirty="0"/>
              <a:t>LSA</a:t>
            </a:r>
            <a:r>
              <a:rPr lang="zh-CN" altLang="en-US" dirty="0"/>
              <a:t>的处理方法，即标识了不识别</a:t>
            </a:r>
            <a:r>
              <a:rPr lang="en-US" altLang="zh-CN" dirty="0"/>
              <a:t>LSA</a:t>
            </a:r>
            <a:r>
              <a:rPr lang="zh-CN" altLang="en-US" dirty="0"/>
              <a:t>功能代码的路由器应如何处理</a:t>
            </a:r>
            <a:r>
              <a:rPr lang="en-US" altLang="zh-CN" dirty="0"/>
              <a:t>LSA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>
              <a:lnSpc>
                <a:spcPct val="100000"/>
              </a:lnSpc>
            </a:pPr>
            <a:r>
              <a:rPr lang="en-US" altLang="zh-CN" dirty="0"/>
              <a:t>U=0</a:t>
            </a:r>
            <a:r>
              <a:rPr lang="zh-CN" altLang="en-US" dirty="0"/>
              <a:t>：把此</a:t>
            </a:r>
            <a:r>
              <a:rPr lang="en-US" altLang="zh-CN" dirty="0"/>
              <a:t>LSA</a:t>
            </a:r>
            <a:r>
              <a:rPr lang="zh-CN" altLang="en-US" dirty="0"/>
              <a:t>当作具有链路本地泛洪范围来对待，从而只能泛洪到本地链路上。</a:t>
            </a:r>
          </a:p>
          <a:p>
            <a:pPr lvl="2">
              <a:lnSpc>
                <a:spcPct val="100000"/>
              </a:lnSpc>
            </a:pPr>
            <a:r>
              <a:rPr lang="en-US" altLang="zh-CN" dirty="0"/>
              <a:t>U=1</a:t>
            </a:r>
            <a:r>
              <a:rPr lang="zh-CN" altLang="en-US" dirty="0"/>
              <a:t>：把此</a:t>
            </a:r>
            <a:r>
              <a:rPr lang="en-US" altLang="zh-CN" dirty="0"/>
              <a:t>LSA</a:t>
            </a:r>
            <a:r>
              <a:rPr lang="zh-CN" altLang="en-US" dirty="0"/>
              <a:t>当作类型已知的</a:t>
            </a:r>
            <a:r>
              <a:rPr lang="en-US" altLang="zh-CN" dirty="0"/>
              <a:t>LSA</a:t>
            </a:r>
            <a:r>
              <a:rPr lang="zh-CN" altLang="en-US" dirty="0"/>
              <a:t>来处理，也就是存储下来并泛洪出去。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S2/S1</a:t>
            </a:r>
            <a:r>
              <a:rPr lang="zh-CN" altLang="en-US" dirty="0"/>
              <a:t>位标识了</a:t>
            </a:r>
            <a:r>
              <a:rPr lang="en-US" altLang="zh-CN" dirty="0"/>
              <a:t>LSA</a:t>
            </a:r>
            <a:r>
              <a:rPr lang="zh-CN" altLang="en-US" dirty="0"/>
              <a:t>的泛洪范围。</a:t>
            </a:r>
            <a:endParaRPr lang="en-US" altLang="zh-CN" dirty="0"/>
          </a:p>
          <a:p>
            <a:pPr lvl="2">
              <a:lnSpc>
                <a:spcPct val="100000"/>
              </a:lnSpc>
            </a:pPr>
            <a:r>
              <a:rPr lang="en-US" altLang="zh-CN" dirty="0"/>
              <a:t>S2 S1=0 0</a:t>
            </a:r>
            <a:r>
              <a:rPr lang="zh-CN" altLang="en-US" dirty="0"/>
              <a:t>：链路本地范围内，即只在始发链路上泛洪。</a:t>
            </a:r>
            <a:endParaRPr lang="en-US" altLang="zh-CN" dirty="0"/>
          </a:p>
          <a:p>
            <a:pPr lvl="2">
              <a:lnSpc>
                <a:spcPct val="100000"/>
              </a:lnSpc>
            </a:pPr>
            <a:r>
              <a:rPr lang="en-US" altLang="zh-CN" dirty="0"/>
              <a:t>S2 S1=0 1</a:t>
            </a:r>
            <a:r>
              <a:rPr lang="zh-CN" altLang="en-US" dirty="0"/>
              <a:t>：区域范围内，即泛洪到始发区域内的所有路由器。</a:t>
            </a:r>
            <a:endParaRPr lang="en-US" altLang="zh-CN" dirty="0"/>
          </a:p>
          <a:p>
            <a:pPr lvl="2">
              <a:lnSpc>
                <a:spcPct val="100000"/>
              </a:lnSpc>
            </a:pPr>
            <a:r>
              <a:rPr lang="en-US" altLang="zh-CN" dirty="0"/>
              <a:t>S2 S1=1 0</a:t>
            </a:r>
            <a:r>
              <a:rPr lang="zh-CN" altLang="en-US" dirty="0"/>
              <a:t>：</a:t>
            </a:r>
            <a:r>
              <a:rPr lang="en-US" altLang="zh-CN" dirty="0"/>
              <a:t>AS</a:t>
            </a:r>
            <a:r>
              <a:rPr lang="zh-CN" altLang="en-US" dirty="0"/>
              <a:t>范围内，即泛洪到本</a:t>
            </a:r>
            <a:r>
              <a:rPr lang="en-US" altLang="zh-CN" dirty="0"/>
              <a:t>AS</a:t>
            </a:r>
            <a:r>
              <a:rPr lang="zh-CN" altLang="en-US" dirty="0"/>
              <a:t>的所有路由器。</a:t>
            </a:r>
            <a:endParaRPr lang="en-US" altLang="zh-CN" dirty="0"/>
          </a:p>
          <a:p>
            <a:pPr lvl="2">
              <a:lnSpc>
                <a:spcPct val="100000"/>
              </a:lnSpc>
            </a:pPr>
            <a:r>
              <a:rPr lang="en-US" altLang="zh-CN" dirty="0"/>
              <a:t>S2 S1=1 1</a:t>
            </a:r>
            <a:r>
              <a:rPr lang="zh-CN" altLang="en-US" dirty="0"/>
              <a:t>：预留。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Link State ID</a:t>
            </a:r>
            <a:r>
              <a:rPr lang="zh-CN" altLang="en-US" dirty="0"/>
              <a:t>：</a:t>
            </a:r>
            <a:r>
              <a:rPr lang="en-US" altLang="zh-CN" dirty="0"/>
              <a:t>4 Byte</a:t>
            </a:r>
            <a:r>
              <a:rPr lang="zh-CN" altLang="en-US" dirty="0"/>
              <a:t>，本地</a:t>
            </a:r>
            <a:r>
              <a:rPr lang="en-US" altLang="zh-CN" dirty="0"/>
              <a:t>32</a:t>
            </a:r>
            <a:r>
              <a:rPr lang="zh-CN" altLang="en-US" dirty="0"/>
              <a:t>位标识符，与</a:t>
            </a:r>
            <a:r>
              <a:rPr lang="en-US" altLang="zh-CN" dirty="0"/>
              <a:t>IPv6</a:t>
            </a:r>
            <a:r>
              <a:rPr lang="zh-CN" altLang="en-US" dirty="0"/>
              <a:t>地址无关，与</a:t>
            </a:r>
            <a:r>
              <a:rPr lang="en-US" altLang="zh-CN" dirty="0"/>
              <a:t>LSA</a:t>
            </a:r>
            <a:r>
              <a:rPr lang="zh-CN" altLang="en-US" dirty="0"/>
              <a:t>中的</a:t>
            </a:r>
            <a:r>
              <a:rPr lang="en-US" altLang="zh-CN" dirty="0"/>
              <a:t>LS Type</a:t>
            </a:r>
            <a:r>
              <a:rPr lang="zh-CN" altLang="en-US" dirty="0"/>
              <a:t>和</a:t>
            </a:r>
            <a:r>
              <a:rPr lang="en-US" altLang="zh-CN" dirty="0"/>
              <a:t>Advertising Router</a:t>
            </a:r>
            <a:r>
              <a:rPr lang="zh-CN" altLang="en-US" dirty="0"/>
              <a:t>一起在路由域中描述一个</a:t>
            </a:r>
            <a:r>
              <a:rPr lang="en-US" altLang="zh-CN" dirty="0"/>
              <a:t>LSA</a:t>
            </a:r>
            <a:r>
              <a:rPr lang="zh-CN" altLang="en-US" dirty="0"/>
              <a:t>。</a:t>
            </a:r>
            <a:r>
              <a:rPr lang="en-US" altLang="zh-CN" dirty="0"/>
              <a:t>OSPFv3</a:t>
            </a:r>
            <a:r>
              <a:rPr lang="zh-CN" altLang="en-US" dirty="0"/>
              <a:t>与</a:t>
            </a:r>
            <a:r>
              <a:rPr lang="en-US" altLang="zh-CN" dirty="0"/>
              <a:t>OSPFv2</a:t>
            </a:r>
            <a:r>
              <a:rPr lang="zh-CN" altLang="en-US" dirty="0"/>
              <a:t>相比，</a:t>
            </a:r>
            <a:r>
              <a:rPr lang="en-US" altLang="zh-CN" dirty="0"/>
              <a:t>Link State ID</a:t>
            </a:r>
            <a:r>
              <a:rPr lang="zh-CN" altLang="en-US" dirty="0"/>
              <a:t>不再包含地址信息。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Advertising Router</a:t>
            </a:r>
            <a:r>
              <a:rPr lang="zh-CN" altLang="en-US" dirty="0"/>
              <a:t>：</a:t>
            </a:r>
            <a:r>
              <a:rPr lang="en-US" altLang="zh-CN" dirty="0"/>
              <a:t>4 Byte</a:t>
            </a:r>
            <a:r>
              <a:rPr lang="zh-CN" altLang="en-US" dirty="0"/>
              <a:t>，产生此</a:t>
            </a:r>
            <a:r>
              <a:rPr lang="en-US" altLang="zh-CN" dirty="0"/>
              <a:t>LSA</a:t>
            </a:r>
            <a:r>
              <a:rPr lang="zh-CN" altLang="en-US" dirty="0"/>
              <a:t>的路由器的</a:t>
            </a:r>
            <a:r>
              <a:rPr lang="en-US" altLang="zh-CN" dirty="0"/>
              <a:t>Router ID</a:t>
            </a:r>
            <a:r>
              <a:rPr lang="zh-CN" altLang="en-US" dirty="0"/>
              <a:t>。 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LS Sequence Number</a:t>
            </a:r>
            <a:r>
              <a:rPr lang="zh-CN" altLang="en-US" dirty="0"/>
              <a:t>：</a:t>
            </a:r>
            <a:r>
              <a:rPr lang="en-US" altLang="zh-CN" dirty="0"/>
              <a:t>4 Byte</a:t>
            </a:r>
            <a:r>
              <a:rPr lang="zh-CN" altLang="en-US" dirty="0"/>
              <a:t>，</a:t>
            </a:r>
            <a:r>
              <a:rPr lang="en-US" altLang="zh-CN" dirty="0"/>
              <a:t>LSA</a:t>
            </a:r>
            <a:r>
              <a:rPr lang="zh-CN" altLang="en-US" dirty="0"/>
              <a:t>的序列号。其他路由器根据这个值可以判断哪个</a:t>
            </a:r>
            <a:r>
              <a:rPr lang="en-US" altLang="zh-CN" dirty="0"/>
              <a:t>LSA</a:t>
            </a:r>
            <a:r>
              <a:rPr lang="zh-CN" altLang="en-US" dirty="0"/>
              <a:t>是最新的。 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LS Checksum</a:t>
            </a:r>
            <a:r>
              <a:rPr lang="zh-CN" altLang="en-US" dirty="0"/>
              <a:t>：</a:t>
            </a:r>
            <a:r>
              <a:rPr lang="en-US" altLang="zh-CN" dirty="0"/>
              <a:t>2 Byte</a:t>
            </a:r>
            <a:r>
              <a:rPr lang="zh-CN" altLang="en-US" dirty="0"/>
              <a:t>，除了</a:t>
            </a:r>
            <a:r>
              <a:rPr lang="en-US" altLang="zh-CN" dirty="0"/>
              <a:t>LS Age</a:t>
            </a:r>
            <a:r>
              <a:rPr lang="zh-CN" altLang="en-US" dirty="0"/>
              <a:t>外其它各域的校验和。 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Length</a:t>
            </a:r>
            <a:r>
              <a:rPr lang="zh-CN" altLang="en-US" dirty="0"/>
              <a:t>：</a:t>
            </a:r>
            <a:r>
              <a:rPr lang="en-US" altLang="zh-CN" dirty="0"/>
              <a:t>2 Byte</a:t>
            </a:r>
            <a:r>
              <a:rPr lang="zh-CN" altLang="en-US" dirty="0"/>
              <a:t>，</a:t>
            </a:r>
            <a:r>
              <a:rPr lang="en-US" altLang="zh-CN" dirty="0"/>
              <a:t>LSA</a:t>
            </a:r>
            <a:r>
              <a:rPr lang="zh-CN" altLang="en-US" dirty="0"/>
              <a:t>的总长度，包括</a:t>
            </a:r>
            <a:r>
              <a:rPr lang="en-US" altLang="zh-CN" dirty="0"/>
              <a:t>LSA Header</a:t>
            </a:r>
            <a:r>
              <a:rPr lang="zh-CN" altLang="en-US" dirty="0"/>
              <a:t>，以字节为单位。 </a:t>
            </a: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6965183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如表中所示，</a:t>
            </a:r>
            <a:r>
              <a:rPr lang="en-US" altLang="zh-CN" dirty="0"/>
              <a:t>OSPFv3</a:t>
            </a:r>
            <a:r>
              <a:rPr lang="zh-CN" altLang="en-US" dirty="0"/>
              <a:t>的</a:t>
            </a:r>
            <a:r>
              <a:rPr lang="en-US" altLang="zh-CN" dirty="0"/>
              <a:t>LS Type</a:t>
            </a:r>
            <a:r>
              <a:rPr lang="zh-CN" altLang="en-US" dirty="0"/>
              <a:t>字段，</a:t>
            </a:r>
            <a:r>
              <a:rPr lang="en-US" altLang="zh-CN" dirty="0"/>
              <a:t>U</a:t>
            </a:r>
            <a:r>
              <a:rPr lang="zh-CN" altLang="en-US" dirty="0"/>
              <a:t>位缺省为</a:t>
            </a:r>
            <a:r>
              <a:rPr lang="en-US" altLang="zh-CN" dirty="0"/>
              <a:t>0</a:t>
            </a:r>
            <a:r>
              <a:rPr lang="zh-CN" altLang="en-US" dirty="0"/>
              <a:t>；除</a:t>
            </a:r>
            <a:r>
              <a:rPr lang="en-US" altLang="zh-CN" dirty="0"/>
              <a:t>Type5</a:t>
            </a:r>
            <a:r>
              <a:rPr lang="zh-CN" altLang="en-US" dirty="0"/>
              <a:t>和</a:t>
            </a:r>
            <a:r>
              <a:rPr lang="en-US" altLang="zh-CN" dirty="0"/>
              <a:t>Type8</a:t>
            </a:r>
            <a:r>
              <a:rPr lang="zh-CN" altLang="en-US" dirty="0"/>
              <a:t>的</a:t>
            </a:r>
            <a:r>
              <a:rPr lang="en-US" altLang="zh-CN" dirty="0"/>
              <a:t>LSA</a:t>
            </a:r>
            <a:r>
              <a:rPr lang="zh-CN" altLang="en-US" dirty="0"/>
              <a:t>外，其余的</a:t>
            </a:r>
            <a:r>
              <a:rPr lang="en-US" altLang="zh-CN" dirty="0"/>
              <a:t>LSA</a:t>
            </a:r>
            <a:r>
              <a:rPr lang="zh-CN" altLang="en-US" dirty="0"/>
              <a:t>泛洪范围都是区域范围内（</a:t>
            </a:r>
            <a:r>
              <a:rPr lang="en-US" altLang="zh-CN" dirty="0"/>
              <a:t>S2 S1=0 1</a:t>
            </a:r>
            <a:r>
              <a:rPr lang="zh-CN" altLang="en-US" dirty="0"/>
              <a:t>）。</a:t>
            </a:r>
            <a:endParaRPr lang="en-US" altLang="zh-CN" dirty="0"/>
          </a:p>
          <a:p>
            <a:pPr lvl="1"/>
            <a:r>
              <a:rPr lang="zh-CN" altLang="en-US" dirty="0"/>
              <a:t>链路本地范围。</a:t>
            </a:r>
            <a:r>
              <a:rPr lang="en-US" altLang="zh-CN" dirty="0"/>
              <a:t>LSA</a:t>
            </a:r>
            <a:r>
              <a:rPr lang="zh-CN" altLang="en-US" dirty="0"/>
              <a:t>仅在本地链路上泛洪，包括：</a:t>
            </a:r>
            <a:r>
              <a:rPr lang="en-US" altLang="zh-CN" dirty="0"/>
              <a:t>Link-LSA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区域范围。</a:t>
            </a:r>
            <a:r>
              <a:rPr lang="en-US" altLang="zh-CN" dirty="0"/>
              <a:t>LSA</a:t>
            </a:r>
            <a:r>
              <a:rPr lang="zh-CN" altLang="en-US" dirty="0"/>
              <a:t>在单个</a:t>
            </a:r>
            <a:r>
              <a:rPr lang="en-US" altLang="zh-CN" dirty="0"/>
              <a:t>OSPF</a:t>
            </a:r>
            <a:r>
              <a:rPr lang="zh-CN" altLang="en-US" dirty="0"/>
              <a:t>区域内泛洪，包括：</a:t>
            </a:r>
            <a:r>
              <a:rPr lang="en-US" altLang="zh-CN" dirty="0"/>
              <a:t>Router-LSA</a:t>
            </a:r>
            <a:r>
              <a:rPr lang="zh-CN" altLang="en-US" dirty="0"/>
              <a:t>、</a:t>
            </a:r>
            <a:r>
              <a:rPr lang="en-US" altLang="zh-CN" dirty="0"/>
              <a:t>Network-LSA</a:t>
            </a:r>
            <a:r>
              <a:rPr lang="zh-CN" altLang="en-US" dirty="0"/>
              <a:t>、</a:t>
            </a:r>
            <a:r>
              <a:rPr lang="en-US" altLang="zh-CN" dirty="0"/>
              <a:t>Inter-Area-Prefix-LSA</a:t>
            </a:r>
            <a:r>
              <a:rPr lang="zh-CN" altLang="en-US" dirty="0"/>
              <a:t>、</a:t>
            </a:r>
            <a:r>
              <a:rPr lang="en-US" altLang="zh-CN" dirty="0"/>
              <a:t>Inter-Area-Router-LSA</a:t>
            </a:r>
            <a:r>
              <a:rPr lang="zh-CN" altLang="en-US" dirty="0"/>
              <a:t>、</a:t>
            </a:r>
            <a:r>
              <a:rPr lang="en-US" altLang="zh-CN" dirty="0"/>
              <a:t>NSSA LSA</a:t>
            </a:r>
            <a:r>
              <a:rPr lang="zh-CN" altLang="en-US" dirty="0"/>
              <a:t>和</a:t>
            </a:r>
            <a:r>
              <a:rPr lang="en-US" altLang="zh-CN" dirty="0"/>
              <a:t>Intra-Area-Prefix-LSA</a:t>
            </a:r>
            <a:r>
              <a:rPr lang="zh-CN" altLang="en-US" dirty="0"/>
              <a:t>。</a:t>
            </a:r>
          </a:p>
          <a:p>
            <a:pPr lvl="1"/>
            <a:r>
              <a:rPr lang="en-US" altLang="zh-CN" dirty="0"/>
              <a:t>AS</a:t>
            </a:r>
            <a:r>
              <a:rPr lang="zh-CN" altLang="en-US" dirty="0"/>
              <a:t>范围。</a:t>
            </a:r>
            <a:r>
              <a:rPr lang="en-US" altLang="zh-CN" dirty="0"/>
              <a:t>LSA</a:t>
            </a:r>
            <a:r>
              <a:rPr lang="zh-CN" altLang="en-US" dirty="0"/>
              <a:t>在整个路由域（自治系统）中扩散，包括：</a:t>
            </a:r>
            <a:r>
              <a:rPr lang="en-US" altLang="zh-CN" dirty="0"/>
              <a:t>AS-External-LSA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1456725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/>
              <a:t>OSPFv3</a:t>
            </a:r>
            <a:r>
              <a:rPr lang="zh-CN" altLang="en-US" dirty="0"/>
              <a:t>的</a:t>
            </a:r>
            <a:r>
              <a:rPr lang="en-US" altLang="zh-CN" dirty="0"/>
              <a:t>Router-LSA</a:t>
            </a:r>
            <a:r>
              <a:rPr lang="zh-CN" altLang="en-US" dirty="0"/>
              <a:t>字段解释：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W</a:t>
            </a:r>
            <a:r>
              <a:rPr lang="zh-CN" altLang="en-US" dirty="0"/>
              <a:t>：</a:t>
            </a:r>
            <a:r>
              <a:rPr lang="en-US" altLang="zh-CN" dirty="0"/>
              <a:t>Wild-Card Receiver</a:t>
            </a:r>
            <a:r>
              <a:rPr lang="zh-CN" altLang="en-US" dirty="0"/>
              <a:t>，值为</a:t>
            </a:r>
            <a:r>
              <a:rPr lang="en-US" altLang="zh-CN" dirty="0"/>
              <a:t>1</a:t>
            </a:r>
            <a:r>
              <a:rPr lang="zh-CN" altLang="en-US" dirty="0"/>
              <a:t>时，表示该路由器支持组播路由。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V</a:t>
            </a:r>
            <a:r>
              <a:rPr lang="zh-CN" altLang="en-US" dirty="0"/>
              <a:t>：</a:t>
            </a:r>
            <a:r>
              <a:rPr lang="en-US" altLang="zh-CN" dirty="0"/>
              <a:t>Virtual Link</a:t>
            </a:r>
            <a:r>
              <a:rPr lang="zh-CN" altLang="en-US" dirty="0"/>
              <a:t>，值为</a:t>
            </a:r>
            <a:r>
              <a:rPr lang="en-US" altLang="zh-CN" dirty="0"/>
              <a:t>1</a:t>
            </a:r>
            <a:r>
              <a:rPr lang="zh-CN" altLang="en-US" dirty="0"/>
              <a:t>时，表示产生此</a:t>
            </a:r>
            <a:r>
              <a:rPr lang="en-US" altLang="zh-CN" dirty="0"/>
              <a:t>LSA</a:t>
            </a:r>
            <a:r>
              <a:rPr lang="zh-CN" altLang="en-US" dirty="0"/>
              <a:t>的路由器是虚连接的一端。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E</a:t>
            </a:r>
            <a:r>
              <a:rPr lang="zh-CN" altLang="en-US" dirty="0"/>
              <a:t>：</a:t>
            </a:r>
            <a:r>
              <a:rPr lang="en-US" altLang="zh-CN" dirty="0"/>
              <a:t>External</a:t>
            </a:r>
            <a:r>
              <a:rPr lang="zh-CN" altLang="en-US" dirty="0"/>
              <a:t>，值为</a:t>
            </a:r>
            <a:r>
              <a:rPr lang="en-US" altLang="zh-CN" dirty="0"/>
              <a:t>1</a:t>
            </a:r>
            <a:r>
              <a:rPr lang="zh-CN" altLang="en-US" dirty="0"/>
              <a:t>时，表示产生此</a:t>
            </a:r>
            <a:r>
              <a:rPr lang="en-US" altLang="zh-CN" dirty="0"/>
              <a:t>LSA</a:t>
            </a:r>
            <a:r>
              <a:rPr lang="zh-CN" altLang="en-US" dirty="0"/>
              <a:t>的路由器是</a:t>
            </a:r>
            <a:r>
              <a:rPr lang="en-US" altLang="zh-CN" dirty="0"/>
              <a:t>ASBR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B</a:t>
            </a:r>
            <a:r>
              <a:rPr lang="zh-CN" altLang="en-US" dirty="0"/>
              <a:t>：</a:t>
            </a:r>
            <a:r>
              <a:rPr lang="en-US" altLang="zh-CN" dirty="0"/>
              <a:t>Border</a:t>
            </a:r>
            <a:r>
              <a:rPr lang="zh-CN" altLang="en-US" dirty="0"/>
              <a:t>，值为</a:t>
            </a:r>
            <a:r>
              <a:rPr lang="en-US" altLang="zh-CN" dirty="0"/>
              <a:t>1</a:t>
            </a:r>
            <a:r>
              <a:rPr lang="zh-CN" altLang="en-US" dirty="0"/>
              <a:t>时，表示产生此</a:t>
            </a:r>
            <a:r>
              <a:rPr lang="en-US" altLang="zh-CN" dirty="0"/>
              <a:t>LSA</a:t>
            </a:r>
            <a:r>
              <a:rPr lang="zh-CN" altLang="en-US" dirty="0"/>
              <a:t>的路由器是</a:t>
            </a:r>
            <a:r>
              <a:rPr lang="en-US" altLang="zh-CN" dirty="0"/>
              <a:t>ABR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Options</a:t>
            </a:r>
            <a:r>
              <a:rPr lang="zh-CN" altLang="en-US" dirty="0"/>
              <a:t>：</a:t>
            </a:r>
            <a:r>
              <a:rPr lang="en-US" altLang="zh-CN" dirty="0"/>
              <a:t>3 Byte</a:t>
            </a:r>
            <a:r>
              <a:rPr lang="zh-CN" altLang="en-US" dirty="0"/>
              <a:t>，可选项。</a:t>
            </a:r>
            <a:endParaRPr lang="en-US" altLang="zh-CN" dirty="0"/>
          </a:p>
          <a:p>
            <a:pPr lvl="2">
              <a:lnSpc>
                <a:spcPct val="100000"/>
              </a:lnSpc>
            </a:pPr>
            <a:r>
              <a:rPr lang="en-US" altLang="zh-CN" dirty="0"/>
              <a:t>DC</a:t>
            </a:r>
            <a:r>
              <a:rPr lang="zh-CN" altLang="en-US" dirty="0"/>
              <a:t>：</a:t>
            </a:r>
            <a:r>
              <a:rPr lang="en-US" altLang="zh-CN" dirty="0"/>
              <a:t>1 bit</a:t>
            </a:r>
            <a:r>
              <a:rPr lang="zh-CN" altLang="en-US" dirty="0"/>
              <a:t>，表示是否具有支持按需电路的能力。 </a:t>
            </a:r>
          </a:p>
          <a:p>
            <a:pPr lvl="2">
              <a:lnSpc>
                <a:spcPct val="100000"/>
              </a:lnSpc>
            </a:pPr>
            <a:r>
              <a:rPr lang="en-US" altLang="zh-CN" dirty="0"/>
              <a:t>R</a:t>
            </a:r>
            <a:r>
              <a:rPr lang="zh-CN" altLang="en-US" dirty="0"/>
              <a:t>：</a:t>
            </a:r>
            <a:r>
              <a:rPr lang="en-US" altLang="zh-CN" dirty="0"/>
              <a:t>1 bit</a:t>
            </a:r>
            <a:r>
              <a:rPr lang="zh-CN" altLang="en-US" dirty="0"/>
              <a:t>，指明始发路由器是否是一台有效的路由器。</a:t>
            </a:r>
          </a:p>
          <a:p>
            <a:pPr lvl="2">
              <a:lnSpc>
                <a:spcPct val="100000"/>
              </a:lnSpc>
            </a:pPr>
            <a:r>
              <a:rPr lang="en-US" altLang="zh-CN" dirty="0"/>
              <a:t>NP</a:t>
            </a:r>
            <a:r>
              <a:rPr lang="zh-CN" altLang="en-US" dirty="0"/>
              <a:t>：</a:t>
            </a:r>
            <a:r>
              <a:rPr lang="en-US" altLang="zh-CN" dirty="0"/>
              <a:t>1 bit</a:t>
            </a:r>
            <a:r>
              <a:rPr lang="zh-CN" altLang="en-US" dirty="0"/>
              <a:t>，表示是否为</a:t>
            </a:r>
            <a:r>
              <a:rPr lang="en-US" altLang="zh-CN" dirty="0"/>
              <a:t>NSSA</a:t>
            </a:r>
            <a:r>
              <a:rPr lang="zh-CN" altLang="en-US" dirty="0"/>
              <a:t>区域。</a:t>
            </a:r>
          </a:p>
          <a:p>
            <a:pPr lvl="2">
              <a:lnSpc>
                <a:spcPct val="100000"/>
              </a:lnSpc>
            </a:pPr>
            <a:r>
              <a:rPr lang="en-US" altLang="zh-CN" dirty="0"/>
              <a:t>MC</a:t>
            </a:r>
            <a:r>
              <a:rPr lang="zh-CN" altLang="en-US" dirty="0"/>
              <a:t>：</a:t>
            </a:r>
            <a:r>
              <a:rPr lang="en-US" altLang="zh-CN" dirty="0"/>
              <a:t>1 bit</a:t>
            </a:r>
            <a:r>
              <a:rPr lang="zh-CN" altLang="en-US" dirty="0"/>
              <a:t>，表示是否支持转发组播数据报文。</a:t>
            </a:r>
          </a:p>
          <a:p>
            <a:pPr lvl="2">
              <a:lnSpc>
                <a:spcPct val="100000"/>
              </a:lnSpc>
            </a:pPr>
            <a:r>
              <a:rPr lang="en-US" altLang="zh-CN" dirty="0"/>
              <a:t>E</a:t>
            </a:r>
            <a:r>
              <a:rPr lang="zh-CN" altLang="en-US" dirty="0"/>
              <a:t>：</a:t>
            </a:r>
            <a:r>
              <a:rPr lang="en-US" altLang="zh-CN" dirty="0"/>
              <a:t>1 bit</a:t>
            </a:r>
            <a:r>
              <a:rPr lang="zh-CN" altLang="en-US" dirty="0"/>
              <a:t>，表示是否支持外部路由。</a:t>
            </a:r>
          </a:p>
          <a:p>
            <a:pPr lvl="2">
              <a:lnSpc>
                <a:spcPct val="100000"/>
              </a:lnSpc>
            </a:pPr>
            <a:r>
              <a:rPr lang="en-US" altLang="zh-CN" dirty="0"/>
              <a:t>V6</a:t>
            </a:r>
            <a:r>
              <a:rPr lang="zh-CN" altLang="en-US" dirty="0"/>
              <a:t>：</a:t>
            </a:r>
            <a:r>
              <a:rPr lang="en-US" altLang="zh-CN" dirty="0"/>
              <a:t>1 bit</a:t>
            </a:r>
            <a:r>
              <a:rPr lang="zh-CN" altLang="en-US" dirty="0"/>
              <a:t>，表示是否参与</a:t>
            </a:r>
            <a:r>
              <a:rPr lang="en-US" altLang="zh-CN" dirty="0"/>
              <a:t>IPv6</a:t>
            </a:r>
            <a:r>
              <a:rPr lang="zh-CN" altLang="en-US" dirty="0"/>
              <a:t>路由计算。如果该位为</a:t>
            </a:r>
            <a:r>
              <a:rPr lang="en-US" altLang="zh-CN" dirty="0"/>
              <a:t>0</a:t>
            </a:r>
            <a:r>
              <a:rPr lang="zh-CN" altLang="en-US" dirty="0"/>
              <a:t>，表示该路由器或链路不参与</a:t>
            </a:r>
            <a:r>
              <a:rPr lang="en-US" altLang="zh-CN" dirty="0"/>
              <a:t>IPv6</a:t>
            </a:r>
            <a:r>
              <a:rPr lang="zh-CN" altLang="en-US" dirty="0"/>
              <a:t>路由计算。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Link Type</a:t>
            </a:r>
            <a:r>
              <a:rPr lang="zh-CN" altLang="en-US" dirty="0"/>
              <a:t>：</a:t>
            </a:r>
            <a:r>
              <a:rPr lang="en-US" altLang="zh-CN" dirty="0"/>
              <a:t>1 Byte</a:t>
            </a:r>
            <a:r>
              <a:rPr lang="zh-CN" altLang="en-US" dirty="0"/>
              <a:t>，链路类型。</a:t>
            </a:r>
          </a:p>
          <a:p>
            <a:pPr lvl="2">
              <a:lnSpc>
                <a:spcPct val="100000"/>
              </a:lnSpc>
            </a:pPr>
            <a:r>
              <a:rPr lang="en-US" altLang="zh-CN" dirty="0"/>
              <a:t>1</a:t>
            </a:r>
            <a:r>
              <a:rPr lang="zh-CN" altLang="en-US" dirty="0"/>
              <a:t>：点到点连接到另一台路由器。</a:t>
            </a:r>
          </a:p>
          <a:p>
            <a:pPr lvl="2">
              <a:lnSpc>
                <a:spcPct val="100000"/>
              </a:lnSpc>
            </a:pPr>
            <a:r>
              <a:rPr lang="en-US" altLang="zh-CN" dirty="0"/>
              <a:t>2</a:t>
            </a:r>
            <a:r>
              <a:rPr lang="zh-CN" altLang="en-US" dirty="0"/>
              <a:t>：连接到一个传送网络（</a:t>
            </a:r>
            <a:r>
              <a:rPr lang="en-US" altLang="zh-CN" dirty="0"/>
              <a:t>Transit Network</a:t>
            </a:r>
            <a:r>
              <a:rPr lang="zh-CN" altLang="en-US" dirty="0"/>
              <a:t>）。</a:t>
            </a:r>
          </a:p>
          <a:p>
            <a:pPr lvl="2">
              <a:lnSpc>
                <a:spcPct val="100000"/>
              </a:lnSpc>
            </a:pPr>
            <a:r>
              <a:rPr lang="en-US" altLang="zh-CN" dirty="0"/>
              <a:t>3</a:t>
            </a:r>
            <a:r>
              <a:rPr lang="zh-CN" altLang="en-US" dirty="0"/>
              <a:t>：保留。</a:t>
            </a:r>
          </a:p>
          <a:p>
            <a:pPr lvl="2">
              <a:lnSpc>
                <a:spcPct val="100000"/>
              </a:lnSpc>
            </a:pPr>
            <a:r>
              <a:rPr lang="en-US" altLang="zh-CN" dirty="0"/>
              <a:t>4</a:t>
            </a:r>
            <a:r>
              <a:rPr lang="zh-CN" altLang="en-US" dirty="0"/>
              <a:t>：虚链路。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en-US" altLang="zh-CN" dirty="0"/>
              <a:t>Metric</a:t>
            </a:r>
            <a:r>
              <a:rPr lang="zh-CN" altLang="en-US" dirty="0"/>
              <a:t>：</a:t>
            </a:r>
            <a:r>
              <a:rPr lang="en-US" altLang="zh-CN" dirty="0"/>
              <a:t>2 Byte</a:t>
            </a:r>
            <a:r>
              <a:rPr lang="zh-CN" altLang="en-US" dirty="0"/>
              <a:t>，流量出接口的开销值。</a:t>
            </a:r>
          </a:p>
          <a:p>
            <a:pPr lvl="1">
              <a:lnSpc>
                <a:spcPct val="100000"/>
              </a:lnSpc>
            </a:pP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3935542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OSPFv3</a:t>
            </a:r>
            <a:r>
              <a:rPr lang="zh-CN" altLang="en-US" dirty="0"/>
              <a:t>的</a:t>
            </a:r>
            <a:r>
              <a:rPr lang="en-US" altLang="zh-CN" dirty="0"/>
              <a:t>Network-LSA</a:t>
            </a:r>
            <a:r>
              <a:rPr lang="zh-CN" altLang="en-US" dirty="0"/>
              <a:t>字段解释：</a:t>
            </a:r>
            <a:endParaRPr lang="en-US" altLang="zh-CN" dirty="0"/>
          </a:p>
          <a:p>
            <a:pPr lvl="1"/>
            <a:r>
              <a:rPr lang="en-US" altLang="zh-CN" dirty="0"/>
              <a:t>Options</a:t>
            </a:r>
            <a:r>
              <a:rPr lang="zh-CN" altLang="en-US" dirty="0"/>
              <a:t>：与</a:t>
            </a:r>
            <a:r>
              <a:rPr lang="en-US" altLang="zh-CN" dirty="0"/>
              <a:t>Router-LSA</a:t>
            </a:r>
            <a:r>
              <a:rPr lang="zh-CN" altLang="en-US" dirty="0"/>
              <a:t>中的</a:t>
            </a:r>
            <a:r>
              <a:rPr lang="en-US" altLang="zh-CN" dirty="0"/>
              <a:t>Options</a:t>
            </a:r>
            <a:r>
              <a:rPr lang="zh-CN" altLang="en-US" dirty="0"/>
              <a:t>字段相同。</a:t>
            </a: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15312359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OSPFv3</a:t>
            </a:r>
            <a:r>
              <a:rPr lang="zh-CN" altLang="en-US" dirty="0"/>
              <a:t>的</a:t>
            </a:r>
            <a:r>
              <a:rPr lang="en-US" altLang="zh-CN" dirty="0"/>
              <a:t>Inter-Area-Prefix-LSA</a:t>
            </a:r>
            <a:r>
              <a:rPr lang="zh-CN" altLang="en-US" dirty="0"/>
              <a:t>字段解释：</a:t>
            </a:r>
            <a:endParaRPr lang="en-US" altLang="zh-CN" dirty="0"/>
          </a:p>
          <a:p>
            <a:pPr lvl="1"/>
            <a:r>
              <a:rPr lang="en-US" altLang="zh-CN" dirty="0"/>
              <a:t>Metric</a:t>
            </a:r>
            <a:r>
              <a:rPr lang="zh-CN" altLang="en-US" dirty="0"/>
              <a:t>：</a:t>
            </a:r>
            <a:r>
              <a:rPr lang="en-US" altLang="zh-CN" dirty="0"/>
              <a:t>3 Byte</a:t>
            </a:r>
            <a:r>
              <a:rPr lang="zh-CN" altLang="en-US" dirty="0"/>
              <a:t>，到目的地址的开销值。 </a:t>
            </a:r>
            <a:endParaRPr lang="en-US" altLang="zh-CN" dirty="0"/>
          </a:p>
          <a:p>
            <a:pPr lvl="1"/>
            <a:r>
              <a:rPr lang="en-US" altLang="zh-CN" dirty="0" err="1"/>
              <a:t>PrefixOptions</a:t>
            </a:r>
            <a:r>
              <a:rPr lang="zh-CN" altLang="en-US" dirty="0"/>
              <a:t>：由</a:t>
            </a:r>
            <a:r>
              <a:rPr lang="en-US" altLang="zh-CN" dirty="0"/>
              <a:t>LSA</a:t>
            </a:r>
            <a:r>
              <a:rPr lang="zh-CN" altLang="en-US" dirty="0"/>
              <a:t>公告的每个前缀都拥有一个自己的</a:t>
            </a:r>
            <a:r>
              <a:rPr lang="en-US" altLang="zh-CN" dirty="0" err="1"/>
              <a:t>PrefixOptions</a:t>
            </a:r>
            <a:r>
              <a:rPr lang="zh-CN" altLang="en-US" dirty="0"/>
              <a:t>字段。</a:t>
            </a:r>
            <a:endParaRPr lang="en-US" altLang="zh-CN" dirty="0"/>
          </a:p>
          <a:p>
            <a:pPr lvl="2"/>
            <a:r>
              <a:rPr lang="en-US" altLang="zh-CN" dirty="0"/>
              <a:t>P</a:t>
            </a:r>
            <a:r>
              <a:rPr lang="zh-CN" altLang="en-US" dirty="0"/>
              <a:t>：传播位。如果一个</a:t>
            </a:r>
            <a:r>
              <a:rPr lang="en-US" altLang="zh-CN" dirty="0"/>
              <a:t>NSSA</a:t>
            </a:r>
            <a:r>
              <a:rPr lang="zh-CN" altLang="en-US" dirty="0"/>
              <a:t>区域的前缀需要被</a:t>
            </a:r>
            <a:r>
              <a:rPr lang="en-US" altLang="zh-CN" dirty="0"/>
              <a:t>ABR</a:t>
            </a:r>
            <a:r>
              <a:rPr lang="zh-CN" altLang="en-US" dirty="0"/>
              <a:t>传播出去，就需要设置这一位。</a:t>
            </a:r>
          </a:p>
          <a:p>
            <a:pPr lvl="2"/>
            <a:r>
              <a:rPr lang="en-US" altLang="zh-CN" dirty="0"/>
              <a:t>MC</a:t>
            </a:r>
            <a:r>
              <a:rPr lang="zh-CN" altLang="en-US" dirty="0"/>
              <a:t>：组播位。如果设置为</a:t>
            </a:r>
            <a:r>
              <a:rPr lang="en-US" altLang="zh-CN" dirty="0"/>
              <a:t>1</a:t>
            </a:r>
            <a:r>
              <a:rPr lang="zh-CN" altLang="en-US" dirty="0"/>
              <a:t>，则这个前缀应该纳入组播计算中，否则不纳入组播计算。</a:t>
            </a:r>
          </a:p>
          <a:p>
            <a:pPr lvl="2"/>
            <a:r>
              <a:rPr lang="en-US" altLang="zh-CN" dirty="0"/>
              <a:t>LA</a:t>
            </a:r>
            <a:r>
              <a:rPr lang="zh-CN" altLang="en-US" dirty="0"/>
              <a:t>：本地地址位。如果设置为</a:t>
            </a:r>
            <a:r>
              <a:rPr lang="en-US" altLang="zh-CN" dirty="0"/>
              <a:t>1</a:t>
            </a:r>
            <a:r>
              <a:rPr lang="zh-CN" altLang="en-US" dirty="0"/>
              <a:t>，则这个前缀是路由器的一个接口地址。</a:t>
            </a:r>
          </a:p>
          <a:p>
            <a:pPr lvl="2"/>
            <a:r>
              <a:rPr lang="en-US" altLang="zh-CN" dirty="0"/>
              <a:t>NU</a:t>
            </a:r>
            <a:r>
              <a:rPr lang="zh-CN" altLang="en-US" dirty="0"/>
              <a:t>：非单播位。如果设置为</a:t>
            </a:r>
            <a:r>
              <a:rPr lang="en-US" altLang="zh-CN" dirty="0"/>
              <a:t>1</a:t>
            </a:r>
            <a:r>
              <a:rPr lang="zh-CN" altLang="en-US" dirty="0"/>
              <a:t>，则这个前缀不会纳入</a:t>
            </a:r>
            <a:r>
              <a:rPr lang="en-US" altLang="zh-CN" dirty="0"/>
              <a:t>IPv6</a:t>
            </a:r>
            <a:r>
              <a:rPr lang="zh-CN" altLang="en-US" dirty="0"/>
              <a:t>单播路由计算中。</a:t>
            </a:r>
          </a:p>
          <a:p>
            <a:r>
              <a:rPr lang="zh-CN" altLang="en-US" dirty="0"/>
              <a:t>注意：缺省路由的前缀长度为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r>
              <a:rPr lang="en-US" altLang="zh-CN" dirty="0"/>
              <a:t>ABR</a:t>
            </a:r>
            <a:r>
              <a:rPr lang="zh-CN" altLang="en-US" dirty="0"/>
              <a:t>也能够始发一个区域间</a:t>
            </a:r>
            <a:r>
              <a:rPr lang="en-US" altLang="zh-CN" dirty="0"/>
              <a:t>Type3</a:t>
            </a:r>
            <a:r>
              <a:rPr lang="zh-CN" altLang="en-US" dirty="0"/>
              <a:t>的</a:t>
            </a:r>
            <a:r>
              <a:rPr lang="en-US" altLang="zh-CN" dirty="0"/>
              <a:t>LSA</a:t>
            </a:r>
            <a:r>
              <a:rPr lang="zh-CN" altLang="en-US" dirty="0"/>
              <a:t>向一个末梢区域通告一条缺省路由。</a:t>
            </a:r>
          </a:p>
        </p:txBody>
      </p:sp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24016169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OSPFv3</a:t>
            </a:r>
            <a:r>
              <a:rPr lang="zh-CN" altLang="en-US" dirty="0"/>
              <a:t>的</a:t>
            </a:r>
            <a:r>
              <a:rPr lang="en-US" altLang="zh-CN" dirty="0"/>
              <a:t>Inter-Area-Router-LSA</a:t>
            </a:r>
            <a:r>
              <a:rPr lang="zh-CN" altLang="en-US" dirty="0"/>
              <a:t>字段解释：</a:t>
            </a:r>
            <a:endParaRPr lang="en-US" altLang="zh-CN" dirty="0"/>
          </a:p>
          <a:p>
            <a:pPr lvl="1"/>
            <a:r>
              <a:rPr lang="en-US" altLang="zh-CN" dirty="0"/>
              <a:t>Options</a:t>
            </a:r>
            <a:r>
              <a:rPr lang="zh-CN" altLang="en-US" dirty="0"/>
              <a:t>：</a:t>
            </a:r>
            <a:r>
              <a:rPr lang="en-US" altLang="zh-CN" dirty="0"/>
              <a:t>Options</a:t>
            </a:r>
            <a:r>
              <a:rPr lang="zh-CN" altLang="en-US" dirty="0"/>
              <a:t>字段描述的不是源路由器的能力，而是目的路由器所支持的能力，所以此字段值应该等于目的路由器的</a:t>
            </a:r>
            <a:r>
              <a:rPr lang="en-US" altLang="zh-CN" dirty="0"/>
              <a:t>Router-LSA</a:t>
            </a:r>
            <a:r>
              <a:rPr lang="zh-CN" altLang="en-US" dirty="0"/>
              <a:t>的</a:t>
            </a:r>
            <a:r>
              <a:rPr lang="en-US" altLang="zh-CN" dirty="0"/>
              <a:t>Options</a:t>
            </a:r>
            <a:r>
              <a:rPr lang="zh-CN" altLang="en-US" dirty="0"/>
              <a:t>字段值。</a:t>
            </a:r>
          </a:p>
          <a:p>
            <a:pPr lvl="1"/>
            <a:r>
              <a:rPr lang="en-US" altLang="zh-CN" dirty="0"/>
              <a:t>Metric</a:t>
            </a:r>
            <a:r>
              <a:rPr lang="zh-CN" altLang="en-US" dirty="0"/>
              <a:t>：</a:t>
            </a:r>
            <a:r>
              <a:rPr lang="en-US" altLang="zh-CN" dirty="0"/>
              <a:t>3 Byte</a:t>
            </a:r>
            <a:r>
              <a:rPr lang="zh-CN" altLang="en-US" dirty="0"/>
              <a:t>，到目的地址的开销值。 </a:t>
            </a:r>
            <a:endParaRPr lang="en-US" altLang="zh-CN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9606128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OSPFv3</a:t>
            </a:r>
            <a:r>
              <a:rPr lang="zh-CN" altLang="en-US" dirty="0"/>
              <a:t>的</a:t>
            </a:r>
            <a:r>
              <a:rPr lang="en-US" altLang="zh-CN" dirty="0"/>
              <a:t>AS-External-LSA</a:t>
            </a:r>
            <a:r>
              <a:rPr lang="zh-CN" altLang="en-US" dirty="0"/>
              <a:t>字段解释：</a:t>
            </a:r>
            <a:endParaRPr lang="en-US" altLang="zh-CN" dirty="0"/>
          </a:p>
          <a:p>
            <a:pPr lvl="1"/>
            <a:r>
              <a:rPr lang="en-US" altLang="zh-CN" dirty="0"/>
              <a:t>E</a:t>
            </a:r>
            <a:r>
              <a:rPr lang="zh-CN" altLang="en-US" dirty="0"/>
              <a:t>：</a:t>
            </a:r>
            <a:r>
              <a:rPr lang="en-US" altLang="zh-CN" dirty="0"/>
              <a:t>1 bit</a:t>
            </a:r>
            <a:r>
              <a:rPr lang="zh-CN" altLang="en-US" dirty="0"/>
              <a:t>，外部路由的</a:t>
            </a:r>
            <a:r>
              <a:rPr lang="en-US" altLang="zh-CN" dirty="0"/>
              <a:t>Metric</a:t>
            </a:r>
            <a:r>
              <a:rPr lang="zh-CN" altLang="en-US" dirty="0"/>
              <a:t>类型。</a:t>
            </a:r>
            <a:endParaRPr lang="en-US" altLang="zh-CN" dirty="0"/>
          </a:p>
          <a:p>
            <a:pPr lvl="2"/>
            <a:r>
              <a:rPr lang="zh-CN" altLang="en-US" dirty="0"/>
              <a:t>如果设置为</a:t>
            </a:r>
            <a:r>
              <a:rPr lang="en-US" altLang="zh-CN" dirty="0"/>
              <a:t>1</a:t>
            </a:r>
            <a:r>
              <a:rPr lang="zh-CN" altLang="en-US" dirty="0"/>
              <a:t>，表示此为</a:t>
            </a:r>
            <a:r>
              <a:rPr lang="en-US" altLang="zh-CN" dirty="0"/>
              <a:t>2</a:t>
            </a:r>
            <a:r>
              <a:rPr lang="zh-CN" altLang="en-US" dirty="0"/>
              <a:t>类外部路由，其</a:t>
            </a:r>
            <a:r>
              <a:rPr lang="en-US" altLang="zh-CN" dirty="0"/>
              <a:t>Metric</a:t>
            </a:r>
            <a:r>
              <a:rPr lang="zh-CN" altLang="en-US" dirty="0"/>
              <a:t>不随着路由的传递而增长。</a:t>
            </a:r>
            <a:endParaRPr lang="en-US" altLang="zh-CN" dirty="0"/>
          </a:p>
          <a:p>
            <a:pPr lvl="2"/>
            <a:r>
              <a:rPr lang="zh-CN" altLang="en-US" dirty="0"/>
              <a:t>如果设置为</a:t>
            </a:r>
            <a:r>
              <a:rPr lang="en-US" altLang="zh-CN" dirty="0"/>
              <a:t>0</a:t>
            </a:r>
            <a:r>
              <a:rPr lang="zh-CN" altLang="en-US" dirty="0"/>
              <a:t>，表示此为</a:t>
            </a:r>
            <a:r>
              <a:rPr lang="en-US" altLang="zh-CN" dirty="0"/>
              <a:t>1</a:t>
            </a:r>
            <a:r>
              <a:rPr lang="zh-CN" altLang="en-US" dirty="0"/>
              <a:t>类外部路由，其</a:t>
            </a:r>
            <a:r>
              <a:rPr lang="en-US" altLang="zh-CN" dirty="0"/>
              <a:t>Metric</a:t>
            </a:r>
            <a:r>
              <a:rPr lang="zh-CN" altLang="en-US" dirty="0"/>
              <a:t>随着路由的传递而增长。 </a:t>
            </a:r>
          </a:p>
          <a:p>
            <a:pPr lvl="1"/>
            <a:r>
              <a:rPr lang="en-US" altLang="zh-CN" dirty="0"/>
              <a:t>F</a:t>
            </a:r>
            <a:r>
              <a:rPr lang="zh-CN" altLang="en-US" dirty="0"/>
              <a:t>：</a:t>
            </a:r>
            <a:r>
              <a:rPr lang="en-US" altLang="zh-CN" dirty="0"/>
              <a:t>1 bit</a:t>
            </a:r>
            <a:r>
              <a:rPr lang="zh-CN" altLang="en-US" dirty="0"/>
              <a:t>，如果设置为</a:t>
            </a:r>
            <a:r>
              <a:rPr lang="en-US" altLang="zh-CN" dirty="0"/>
              <a:t>1</a:t>
            </a:r>
            <a:r>
              <a:rPr lang="zh-CN" altLang="en-US" dirty="0"/>
              <a:t>，则表示后面的</a:t>
            </a:r>
            <a:r>
              <a:rPr lang="en-US" altLang="zh-CN" dirty="0"/>
              <a:t>Forwarding Address</a:t>
            </a:r>
            <a:r>
              <a:rPr lang="zh-CN" altLang="en-US" dirty="0"/>
              <a:t>可选字段存在。 </a:t>
            </a:r>
          </a:p>
          <a:p>
            <a:pPr lvl="1"/>
            <a:r>
              <a:rPr lang="en-US" altLang="zh-CN" dirty="0"/>
              <a:t>T</a:t>
            </a:r>
            <a:r>
              <a:rPr lang="zh-CN" altLang="en-US" dirty="0"/>
              <a:t>：</a:t>
            </a:r>
            <a:r>
              <a:rPr lang="en-US" altLang="zh-CN" dirty="0"/>
              <a:t>1 bit</a:t>
            </a:r>
            <a:r>
              <a:rPr lang="zh-CN" altLang="en-US" dirty="0"/>
              <a:t>，如果设置为</a:t>
            </a:r>
            <a:r>
              <a:rPr lang="en-US" altLang="zh-CN" dirty="0"/>
              <a:t>1</a:t>
            </a:r>
            <a:r>
              <a:rPr lang="zh-CN" altLang="en-US" dirty="0"/>
              <a:t>，则表示后面的</a:t>
            </a:r>
            <a:r>
              <a:rPr lang="en-US" altLang="zh-CN" dirty="0"/>
              <a:t>External Route Tag</a:t>
            </a:r>
            <a:r>
              <a:rPr lang="zh-CN" altLang="en-US" dirty="0"/>
              <a:t>可选字段存在。 </a:t>
            </a:r>
          </a:p>
          <a:p>
            <a:pPr lvl="1"/>
            <a:r>
              <a:rPr lang="en-US" altLang="zh-CN" dirty="0"/>
              <a:t>Metric</a:t>
            </a:r>
            <a:r>
              <a:rPr lang="zh-CN" altLang="en-US" dirty="0"/>
              <a:t>：</a:t>
            </a:r>
            <a:r>
              <a:rPr lang="en-US" altLang="zh-CN" dirty="0"/>
              <a:t>3 Byte</a:t>
            </a:r>
            <a:r>
              <a:rPr lang="zh-CN" altLang="en-US" dirty="0"/>
              <a:t>，到目的地址的开销值。 </a:t>
            </a:r>
            <a:endParaRPr lang="en-US" altLang="zh-CN" dirty="0"/>
          </a:p>
          <a:p>
            <a:pPr lvl="1"/>
            <a:r>
              <a:rPr lang="en-US" altLang="zh-CN" dirty="0" err="1"/>
              <a:t>PrefixLength</a:t>
            </a:r>
            <a:r>
              <a:rPr lang="zh-CN" altLang="en-US" dirty="0"/>
              <a:t>、</a:t>
            </a:r>
            <a:r>
              <a:rPr lang="en-US" altLang="zh-CN" dirty="0" err="1"/>
              <a:t>PrefixOptions</a:t>
            </a:r>
            <a:r>
              <a:rPr lang="zh-CN" altLang="en-US" dirty="0"/>
              <a:t>和</a:t>
            </a:r>
            <a:r>
              <a:rPr lang="en-US" altLang="zh-CN" dirty="0"/>
              <a:t>Address Prefix</a:t>
            </a:r>
            <a:r>
              <a:rPr lang="zh-CN" altLang="en-US" dirty="0"/>
              <a:t>为描述前缀的三元组，与</a:t>
            </a:r>
            <a:r>
              <a:rPr lang="en-US" altLang="zh-CN" dirty="0"/>
              <a:t>Inter-Area-Prefix-LSA</a:t>
            </a:r>
            <a:r>
              <a:rPr lang="zh-CN" altLang="en-US" dirty="0"/>
              <a:t>中该字段含义相同。</a:t>
            </a:r>
            <a:endParaRPr lang="en-US" altLang="zh-CN" dirty="0"/>
          </a:p>
          <a:p>
            <a:pPr lvl="1"/>
            <a:r>
              <a:rPr lang="en-US" altLang="zh-CN" dirty="0"/>
              <a:t>Forwarding Address</a:t>
            </a:r>
            <a:r>
              <a:rPr lang="zh-CN" altLang="en-US" dirty="0"/>
              <a:t>：</a:t>
            </a:r>
            <a:r>
              <a:rPr lang="en-US" altLang="zh-CN" dirty="0"/>
              <a:t>4 Byte</a:t>
            </a:r>
            <a:r>
              <a:rPr lang="zh-CN" altLang="en-US" dirty="0"/>
              <a:t>，可选的</a:t>
            </a:r>
            <a:r>
              <a:rPr lang="en-US" altLang="zh-CN" dirty="0"/>
              <a:t>128</a:t>
            </a:r>
            <a:r>
              <a:rPr lang="zh-CN" altLang="en-US" dirty="0"/>
              <a:t>位</a:t>
            </a:r>
            <a:r>
              <a:rPr lang="en-US" altLang="zh-CN" dirty="0"/>
              <a:t>IPv6</a:t>
            </a:r>
            <a:r>
              <a:rPr lang="zh-CN" altLang="en-US" dirty="0"/>
              <a:t>地址，当前面的</a:t>
            </a:r>
            <a:r>
              <a:rPr lang="en-US" altLang="zh-CN" dirty="0"/>
              <a:t>F</a:t>
            </a:r>
            <a:r>
              <a:rPr lang="zh-CN" altLang="en-US" dirty="0"/>
              <a:t>位为</a:t>
            </a:r>
            <a:r>
              <a:rPr lang="en-US" altLang="zh-CN" dirty="0"/>
              <a:t>1</a:t>
            </a:r>
            <a:r>
              <a:rPr lang="zh-CN" altLang="en-US" dirty="0"/>
              <a:t>时存在。表示到达目的的数据应该转发到这个地址。</a:t>
            </a:r>
            <a:endParaRPr lang="en-US" altLang="zh-CN" dirty="0"/>
          </a:p>
          <a:p>
            <a:pPr lvl="1"/>
            <a:r>
              <a:rPr lang="en-US" altLang="zh-CN" dirty="0"/>
              <a:t>External Route Tag</a:t>
            </a:r>
            <a:r>
              <a:rPr lang="zh-CN" altLang="en-US" dirty="0"/>
              <a:t>：</a:t>
            </a:r>
            <a:r>
              <a:rPr lang="en-US" altLang="zh-CN" dirty="0"/>
              <a:t>4 Byte</a:t>
            </a:r>
            <a:r>
              <a:rPr lang="zh-CN" altLang="en-US" dirty="0"/>
              <a:t>，可选的标记位。可以用于</a:t>
            </a:r>
            <a:r>
              <a:rPr lang="en-US" altLang="zh-CN" dirty="0"/>
              <a:t>ASBR</a:t>
            </a:r>
            <a:r>
              <a:rPr lang="zh-CN" altLang="en-US" dirty="0"/>
              <a:t>之间的通信。一个比较常见的例子是：在</a:t>
            </a:r>
            <a:r>
              <a:rPr lang="en-US" altLang="zh-CN" dirty="0"/>
              <a:t>OSPF</a:t>
            </a:r>
            <a:r>
              <a:rPr lang="zh-CN" altLang="en-US" dirty="0"/>
              <a:t>自治系统的两个边界路由器上进行路由引入时，通过对引入的路由进行标记，可以很方便地进行路由过滤。</a:t>
            </a:r>
            <a:endParaRPr lang="en-US" altLang="zh-CN" dirty="0"/>
          </a:p>
          <a:p>
            <a:pPr lvl="1"/>
            <a:r>
              <a:rPr lang="en-US" altLang="zh-CN" dirty="0"/>
              <a:t>Referenced Link State ID</a:t>
            </a:r>
            <a:r>
              <a:rPr lang="zh-CN" altLang="en-US" dirty="0"/>
              <a:t>：</a:t>
            </a:r>
            <a:r>
              <a:rPr lang="en-US" altLang="zh-CN" dirty="0"/>
              <a:t>4 Byte</a:t>
            </a:r>
            <a:r>
              <a:rPr lang="zh-CN" altLang="en-US" dirty="0"/>
              <a:t>，若</a:t>
            </a:r>
            <a:r>
              <a:rPr lang="en-US" altLang="zh-CN" dirty="0"/>
              <a:t>Referenced LS Type</a:t>
            </a:r>
            <a:r>
              <a:rPr lang="zh-CN" altLang="en-US" dirty="0"/>
              <a:t>不为</a:t>
            </a:r>
            <a:r>
              <a:rPr lang="en-US" altLang="zh-CN" dirty="0"/>
              <a:t>0</a:t>
            </a:r>
            <a:r>
              <a:rPr lang="zh-CN" altLang="en-US" dirty="0"/>
              <a:t>，则该字段存在，表示引用链路状态</a:t>
            </a:r>
            <a:r>
              <a:rPr lang="en-US" altLang="zh-CN" dirty="0"/>
              <a:t>ID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32413535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OSPFv3</a:t>
            </a:r>
            <a:r>
              <a:rPr lang="zh-CN" altLang="en-US" dirty="0"/>
              <a:t>的</a:t>
            </a:r>
            <a:r>
              <a:rPr lang="en-US" altLang="zh-CN" dirty="0"/>
              <a:t>Link-LSA</a:t>
            </a:r>
            <a:r>
              <a:rPr lang="zh-CN" altLang="en-US" dirty="0"/>
              <a:t>字段解释：</a:t>
            </a:r>
            <a:endParaRPr lang="en-US" altLang="zh-CN" dirty="0"/>
          </a:p>
          <a:p>
            <a:pPr lvl="1"/>
            <a:r>
              <a:rPr lang="en-US" altLang="zh-CN" dirty="0"/>
              <a:t>Rtr </a:t>
            </a:r>
            <a:r>
              <a:rPr lang="en-US" altLang="zh-CN" dirty="0" err="1"/>
              <a:t>Pri</a:t>
            </a:r>
            <a:r>
              <a:rPr lang="zh-CN" altLang="en-US" dirty="0"/>
              <a:t>：</a:t>
            </a:r>
            <a:r>
              <a:rPr lang="en-US" altLang="zh-CN" dirty="0"/>
              <a:t>1 Byte</a:t>
            </a:r>
            <a:r>
              <a:rPr lang="zh-CN" altLang="en-US" dirty="0"/>
              <a:t>，该路由器在该链路上的优先级（</a:t>
            </a:r>
            <a:r>
              <a:rPr lang="en-US" altLang="zh-CN" dirty="0"/>
              <a:t>Router Priority</a:t>
            </a:r>
            <a:r>
              <a:rPr lang="zh-CN" altLang="en-US" dirty="0"/>
              <a:t>）。 </a:t>
            </a:r>
          </a:p>
          <a:p>
            <a:pPr lvl="1"/>
            <a:r>
              <a:rPr lang="en-US" altLang="zh-CN" dirty="0"/>
              <a:t>Options</a:t>
            </a:r>
            <a:r>
              <a:rPr lang="zh-CN" altLang="en-US" dirty="0"/>
              <a:t>：</a:t>
            </a:r>
            <a:r>
              <a:rPr lang="en-US" altLang="zh-CN" dirty="0"/>
              <a:t>3 Byte</a:t>
            </a:r>
            <a:r>
              <a:rPr lang="zh-CN" altLang="en-US" dirty="0"/>
              <a:t>，提供给</a:t>
            </a:r>
            <a:r>
              <a:rPr lang="en-US" altLang="zh-CN" dirty="0"/>
              <a:t>Network-LSA</a:t>
            </a:r>
            <a:r>
              <a:rPr lang="zh-CN" altLang="en-US" dirty="0"/>
              <a:t>的</a:t>
            </a:r>
            <a:r>
              <a:rPr lang="en-US" altLang="zh-CN" dirty="0"/>
              <a:t>Options</a:t>
            </a:r>
            <a:r>
              <a:rPr lang="zh-CN" altLang="en-US" dirty="0"/>
              <a:t>。</a:t>
            </a:r>
          </a:p>
          <a:p>
            <a:pPr lvl="1"/>
            <a:r>
              <a:rPr lang="en-US" altLang="zh-CN" dirty="0"/>
              <a:t>Number of Prefixes</a:t>
            </a:r>
            <a:r>
              <a:rPr lang="zh-CN" altLang="en-US" dirty="0"/>
              <a:t>：</a:t>
            </a:r>
            <a:r>
              <a:rPr lang="en-US" altLang="zh-CN" dirty="0"/>
              <a:t>4 Byte</a:t>
            </a:r>
            <a:r>
              <a:rPr lang="zh-CN" altLang="en-US" dirty="0"/>
              <a:t>，该</a:t>
            </a:r>
            <a:r>
              <a:rPr lang="en-US" altLang="zh-CN" dirty="0"/>
              <a:t>LSA</a:t>
            </a:r>
            <a:r>
              <a:rPr lang="zh-CN" altLang="en-US" dirty="0"/>
              <a:t>中携带的</a:t>
            </a:r>
            <a:r>
              <a:rPr lang="en-US" altLang="zh-CN" dirty="0"/>
              <a:t>IPv6</a:t>
            </a:r>
            <a:r>
              <a:rPr lang="zh-CN" altLang="en-US" dirty="0"/>
              <a:t>地址前缀个数。</a:t>
            </a:r>
            <a:endParaRPr lang="en-US" altLang="zh-CN" dirty="0"/>
          </a:p>
          <a:p>
            <a:pPr lvl="1"/>
            <a:r>
              <a:rPr lang="en-US" altLang="zh-CN" dirty="0" err="1"/>
              <a:t>PrefixLength</a:t>
            </a:r>
            <a:r>
              <a:rPr lang="zh-CN" altLang="en-US" dirty="0"/>
              <a:t>、</a:t>
            </a:r>
            <a:r>
              <a:rPr lang="en-US" altLang="zh-CN" dirty="0" err="1"/>
              <a:t>PrefixOptions</a:t>
            </a:r>
            <a:r>
              <a:rPr lang="zh-CN" altLang="en-US" dirty="0"/>
              <a:t>和</a:t>
            </a:r>
            <a:r>
              <a:rPr lang="en-US" altLang="zh-CN" dirty="0"/>
              <a:t>Address Prefix</a:t>
            </a:r>
            <a:r>
              <a:rPr lang="zh-CN" altLang="en-US" dirty="0"/>
              <a:t>为描述前缀的三元组，与</a:t>
            </a:r>
            <a:r>
              <a:rPr lang="en-US" altLang="zh-CN" dirty="0"/>
              <a:t>Inter-Area-Prefix-LSA</a:t>
            </a:r>
            <a:r>
              <a:rPr lang="zh-CN" altLang="en-US" dirty="0"/>
              <a:t>中该字段含义相同。</a:t>
            </a:r>
          </a:p>
          <a:p>
            <a:pPr lvl="1"/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32820170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31838" y="4310765"/>
            <a:ext cx="5580062" cy="4938010"/>
          </a:xfrm>
        </p:spPr>
        <p:txBody>
          <a:bodyPr/>
          <a:lstStyle/>
          <a:p>
            <a:r>
              <a:rPr lang="en-US" altLang="zh-CN" dirty="0"/>
              <a:t>OSPFv3</a:t>
            </a:r>
            <a:r>
              <a:rPr lang="zh-CN" altLang="en-US" dirty="0"/>
              <a:t>的</a:t>
            </a:r>
            <a:r>
              <a:rPr lang="en-US" altLang="zh-CN" dirty="0"/>
              <a:t>Intra-Area-Prefix-LSA</a:t>
            </a:r>
            <a:r>
              <a:rPr lang="zh-CN" altLang="en-US" dirty="0"/>
              <a:t>字段解释：</a:t>
            </a:r>
            <a:endParaRPr lang="en-US" altLang="zh-CN" dirty="0"/>
          </a:p>
          <a:p>
            <a:pPr lvl="1"/>
            <a:r>
              <a:rPr lang="en-US" altLang="zh-CN" dirty="0"/>
              <a:t>Number of Prefixes</a:t>
            </a:r>
            <a:r>
              <a:rPr lang="zh-CN" altLang="en-US" dirty="0"/>
              <a:t>：</a:t>
            </a:r>
            <a:r>
              <a:rPr lang="en-US" altLang="zh-CN" dirty="0"/>
              <a:t>4 Byte</a:t>
            </a:r>
            <a:r>
              <a:rPr lang="zh-CN" altLang="en-US" dirty="0"/>
              <a:t>，该</a:t>
            </a:r>
            <a:r>
              <a:rPr lang="en-US" altLang="zh-CN" dirty="0"/>
              <a:t>LSA</a:t>
            </a:r>
            <a:r>
              <a:rPr lang="zh-CN" altLang="en-US" dirty="0"/>
              <a:t>中携带的</a:t>
            </a:r>
            <a:r>
              <a:rPr lang="en-US" altLang="zh-CN" dirty="0"/>
              <a:t>IPv6</a:t>
            </a:r>
            <a:r>
              <a:rPr lang="zh-CN" altLang="en-US" dirty="0"/>
              <a:t>地址前缀个数。必要的话，可以通过多个</a:t>
            </a:r>
            <a:r>
              <a:rPr lang="en-US" altLang="zh-CN" dirty="0"/>
              <a:t>Intra-Area-Prefix-LSA</a:t>
            </a:r>
            <a:r>
              <a:rPr lang="zh-CN" altLang="en-US" dirty="0"/>
              <a:t>来携带前缀，这样可以控制</a:t>
            </a:r>
            <a:r>
              <a:rPr lang="en-US" altLang="zh-CN" dirty="0"/>
              <a:t>LSA</a:t>
            </a:r>
            <a:r>
              <a:rPr lang="zh-CN" altLang="en-US" dirty="0"/>
              <a:t>的长度。 </a:t>
            </a:r>
          </a:p>
          <a:p>
            <a:pPr lvl="1"/>
            <a:r>
              <a:rPr lang="en-US" altLang="zh-CN" dirty="0"/>
              <a:t>Referenced LS type</a:t>
            </a:r>
            <a:r>
              <a:rPr lang="zh-CN" altLang="en-US" dirty="0"/>
              <a:t>：</a:t>
            </a:r>
            <a:r>
              <a:rPr lang="en-US" altLang="zh-CN" dirty="0"/>
              <a:t>4 Byte</a:t>
            </a:r>
            <a:r>
              <a:rPr lang="zh-CN" altLang="en-US" dirty="0"/>
              <a:t>，表明这个</a:t>
            </a:r>
            <a:r>
              <a:rPr lang="en-US" altLang="zh-CN" dirty="0"/>
              <a:t>LSA</a:t>
            </a:r>
            <a:r>
              <a:rPr lang="zh-CN" altLang="en-US" dirty="0"/>
              <a:t>是参考一个</a:t>
            </a:r>
            <a:r>
              <a:rPr lang="en-US" altLang="zh-CN" dirty="0"/>
              <a:t>Router-LSA</a:t>
            </a:r>
            <a:r>
              <a:rPr lang="zh-CN" altLang="en-US" dirty="0"/>
              <a:t>，还是一个</a:t>
            </a:r>
            <a:r>
              <a:rPr lang="en-US" altLang="zh-CN" dirty="0"/>
              <a:t>Network-LSA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取值</a:t>
            </a:r>
            <a:r>
              <a:rPr lang="en-US" altLang="zh-CN" dirty="0"/>
              <a:t>1</a:t>
            </a:r>
            <a:r>
              <a:rPr lang="zh-CN" altLang="en-US" dirty="0"/>
              <a:t>：表示参考一个</a:t>
            </a:r>
            <a:r>
              <a:rPr lang="en-US" altLang="zh-CN" dirty="0"/>
              <a:t>Router-LSA</a:t>
            </a:r>
          </a:p>
          <a:p>
            <a:pPr lvl="2"/>
            <a:r>
              <a:rPr lang="zh-CN" altLang="en-US" dirty="0"/>
              <a:t>取值</a:t>
            </a:r>
            <a:r>
              <a:rPr lang="en-US" altLang="zh-CN" dirty="0"/>
              <a:t>2</a:t>
            </a:r>
            <a:r>
              <a:rPr lang="zh-CN" altLang="en-US" dirty="0"/>
              <a:t>：表示参考一个</a:t>
            </a:r>
            <a:r>
              <a:rPr lang="en-US" altLang="zh-CN" dirty="0"/>
              <a:t>Network-LSA</a:t>
            </a:r>
            <a:r>
              <a:rPr lang="zh-CN" altLang="en-US" dirty="0"/>
              <a:t>。 </a:t>
            </a:r>
          </a:p>
          <a:p>
            <a:pPr lvl="1"/>
            <a:r>
              <a:rPr lang="en-US" altLang="zh-CN" dirty="0"/>
              <a:t>Referenced Link State ID</a:t>
            </a:r>
            <a:r>
              <a:rPr lang="zh-CN" altLang="en-US" dirty="0"/>
              <a:t>：</a:t>
            </a:r>
            <a:r>
              <a:rPr lang="en-US" altLang="zh-CN" dirty="0"/>
              <a:t>4 Byte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设为</a:t>
            </a:r>
            <a:r>
              <a:rPr lang="en-US" altLang="zh-CN" dirty="0"/>
              <a:t>0</a:t>
            </a:r>
            <a:r>
              <a:rPr lang="zh-CN" altLang="en-US" dirty="0"/>
              <a:t>：当这个</a:t>
            </a:r>
            <a:r>
              <a:rPr lang="en-US" altLang="zh-CN" dirty="0"/>
              <a:t>LSA</a:t>
            </a:r>
            <a:r>
              <a:rPr lang="zh-CN" altLang="en-US" dirty="0"/>
              <a:t>是参考一个</a:t>
            </a:r>
            <a:r>
              <a:rPr lang="en-US" altLang="zh-CN" dirty="0"/>
              <a:t>Router-LSA</a:t>
            </a:r>
            <a:r>
              <a:rPr lang="zh-CN" altLang="en-US" dirty="0"/>
              <a:t>时。</a:t>
            </a:r>
            <a:endParaRPr lang="en-US" altLang="zh-CN" dirty="0"/>
          </a:p>
          <a:p>
            <a:pPr lvl="2"/>
            <a:r>
              <a:rPr lang="zh-CN" altLang="en-US" dirty="0"/>
              <a:t>设为该链路的</a:t>
            </a:r>
            <a:r>
              <a:rPr lang="en-US" altLang="zh-CN" dirty="0"/>
              <a:t>DR</a:t>
            </a:r>
            <a:r>
              <a:rPr lang="zh-CN" altLang="en-US" dirty="0"/>
              <a:t>的</a:t>
            </a:r>
            <a:r>
              <a:rPr lang="en-US" altLang="zh-CN" dirty="0"/>
              <a:t>Interface ID</a:t>
            </a:r>
            <a:r>
              <a:rPr lang="zh-CN" altLang="en-US" dirty="0"/>
              <a:t>：当这个</a:t>
            </a:r>
            <a:r>
              <a:rPr lang="en-US" altLang="zh-CN" dirty="0"/>
              <a:t>LSA</a:t>
            </a:r>
            <a:r>
              <a:rPr lang="zh-CN" altLang="en-US" dirty="0"/>
              <a:t>是参考一个</a:t>
            </a:r>
            <a:r>
              <a:rPr lang="en-US" altLang="zh-CN" dirty="0"/>
              <a:t>Network-LSA</a:t>
            </a:r>
            <a:r>
              <a:rPr lang="zh-CN" altLang="en-US" dirty="0"/>
              <a:t>时。 </a:t>
            </a:r>
          </a:p>
          <a:p>
            <a:pPr lvl="1"/>
            <a:r>
              <a:rPr lang="en-US" altLang="zh-CN" dirty="0"/>
              <a:t>Referenced Advertising Router</a:t>
            </a:r>
            <a:r>
              <a:rPr lang="zh-CN" altLang="en-US" dirty="0"/>
              <a:t>：</a:t>
            </a:r>
            <a:r>
              <a:rPr lang="en-US" altLang="zh-CN" dirty="0"/>
              <a:t>4 Byte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设为这个路由器的</a:t>
            </a:r>
            <a:r>
              <a:rPr lang="en-US" altLang="zh-CN" dirty="0"/>
              <a:t>Router ID</a:t>
            </a:r>
            <a:r>
              <a:rPr lang="zh-CN" altLang="en-US" dirty="0"/>
              <a:t>：当这个</a:t>
            </a:r>
            <a:r>
              <a:rPr lang="en-US" altLang="zh-CN" dirty="0"/>
              <a:t>LSA</a:t>
            </a:r>
            <a:r>
              <a:rPr lang="zh-CN" altLang="en-US" dirty="0"/>
              <a:t>是参考一个</a:t>
            </a:r>
            <a:r>
              <a:rPr lang="en-US" altLang="zh-CN" dirty="0"/>
              <a:t>Router-LSA</a:t>
            </a:r>
            <a:r>
              <a:rPr lang="zh-CN" altLang="en-US" dirty="0"/>
              <a:t>时。</a:t>
            </a:r>
            <a:endParaRPr lang="en-US" altLang="zh-CN" dirty="0"/>
          </a:p>
          <a:p>
            <a:pPr lvl="2"/>
            <a:r>
              <a:rPr lang="zh-CN" altLang="en-US" dirty="0"/>
              <a:t>设为该链路的</a:t>
            </a:r>
            <a:r>
              <a:rPr lang="en-US" altLang="zh-CN" dirty="0"/>
              <a:t>DR</a:t>
            </a:r>
            <a:r>
              <a:rPr lang="zh-CN" altLang="en-US" dirty="0"/>
              <a:t>的</a:t>
            </a:r>
            <a:r>
              <a:rPr lang="en-US" altLang="zh-CN" dirty="0"/>
              <a:t>Router ID</a:t>
            </a:r>
            <a:r>
              <a:rPr lang="zh-CN" altLang="en-US" dirty="0"/>
              <a:t>：当这个</a:t>
            </a:r>
            <a:r>
              <a:rPr lang="en-US" altLang="zh-CN" dirty="0"/>
              <a:t>LSA</a:t>
            </a:r>
            <a:r>
              <a:rPr lang="zh-CN" altLang="en-US" dirty="0"/>
              <a:t>是参考一个</a:t>
            </a:r>
            <a:r>
              <a:rPr lang="en-US" altLang="zh-CN" dirty="0"/>
              <a:t>Network-LSA</a:t>
            </a:r>
            <a:r>
              <a:rPr lang="zh-CN" altLang="en-US" dirty="0"/>
              <a:t>时。 </a:t>
            </a:r>
          </a:p>
          <a:p>
            <a:pPr lvl="1"/>
            <a:r>
              <a:rPr lang="en-US" altLang="zh-CN" dirty="0" err="1"/>
              <a:t>PrefixLength</a:t>
            </a:r>
            <a:r>
              <a:rPr lang="zh-CN" altLang="en-US" dirty="0"/>
              <a:t>、</a:t>
            </a:r>
            <a:r>
              <a:rPr lang="en-US" altLang="zh-CN" dirty="0" err="1"/>
              <a:t>PrefixOptions</a:t>
            </a:r>
            <a:r>
              <a:rPr lang="zh-CN" altLang="en-US" dirty="0"/>
              <a:t>和</a:t>
            </a:r>
            <a:r>
              <a:rPr lang="en-US" altLang="zh-CN" dirty="0"/>
              <a:t>Address Prefix</a:t>
            </a:r>
            <a:r>
              <a:rPr lang="zh-CN" altLang="en-US" dirty="0"/>
              <a:t>为描述前缀的三元组，与</a:t>
            </a:r>
            <a:r>
              <a:rPr lang="en-US" altLang="zh-CN" dirty="0"/>
              <a:t>Inter-Area-Prefix-LSA</a:t>
            </a:r>
            <a:r>
              <a:rPr lang="zh-CN" altLang="en-US" dirty="0"/>
              <a:t>中该字段含义相同。</a:t>
            </a:r>
            <a:endParaRPr lang="en-US" altLang="zh-CN" dirty="0"/>
          </a:p>
          <a:p>
            <a:pPr lvl="1"/>
            <a:r>
              <a:rPr lang="en-US" altLang="zh-CN" dirty="0"/>
              <a:t>Metric</a:t>
            </a:r>
            <a:r>
              <a:rPr lang="zh-CN" altLang="en-US" dirty="0"/>
              <a:t>：</a:t>
            </a:r>
            <a:r>
              <a:rPr lang="en-US" altLang="zh-CN" dirty="0"/>
              <a:t>2 Byte</a:t>
            </a:r>
            <a:r>
              <a:rPr lang="zh-CN" altLang="en-US" dirty="0"/>
              <a:t>，前缀开销值。与</a:t>
            </a:r>
            <a:r>
              <a:rPr lang="en-US" altLang="zh-CN" dirty="0"/>
              <a:t>Router-LSA</a:t>
            </a:r>
            <a:r>
              <a:rPr lang="zh-CN" altLang="en-US" dirty="0"/>
              <a:t>的接口开销值相同单位。 </a:t>
            </a:r>
          </a:p>
          <a:p>
            <a:pPr lvl="0"/>
            <a:r>
              <a:rPr lang="zh-CN" altLang="en-US" dirty="0"/>
              <a:t>在</a:t>
            </a:r>
            <a:r>
              <a:rPr lang="en-US" altLang="zh-CN" dirty="0"/>
              <a:t>OSPFv3</a:t>
            </a:r>
            <a:r>
              <a:rPr lang="zh-CN" altLang="en-US" dirty="0"/>
              <a:t>中，当一条链路或它的前缀发生变化时，相连的路由器会发送一个</a:t>
            </a:r>
            <a:r>
              <a:rPr lang="en-US" altLang="zh-CN" dirty="0"/>
              <a:t>Intra-Area-Prefix-LSA</a:t>
            </a:r>
            <a:r>
              <a:rPr lang="zh-CN" altLang="en-US" dirty="0"/>
              <a:t>。但是，这条</a:t>
            </a:r>
            <a:r>
              <a:rPr lang="en-US" altLang="zh-CN" dirty="0"/>
              <a:t>LSA</a:t>
            </a:r>
            <a:r>
              <a:rPr lang="zh-CN" altLang="en-US" dirty="0"/>
              <a:t>不会触发</a:t>
            </a:r>
            <a:r>
              <a:rPr lang="en-US" altLang="zh-CN" dirty="0"/>
              <a:t>SPF</a:t>
            </a:r>
            <a:r>
              <a:rPr lang="zh-CN" altLang="en-US" dirty="0"/>
              <a:t>计算。</a:t>
            </a:r>
          </a:p>
          <a:p>
            <a:pPr lvl="0"/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11565321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如图所示：</a:t>
            </a:r>
            <a:r>
              <a:rPr lang="en-US" altLang="zh-CN" dirty="0"/>
              <a:t>R1</a:t>
            </a:r>
            <a:r>
              <a:rPr lang="zh-CN" altLang="en-US" dirty="0"/>
              <a:t>、</a:t>
            </a:r>
            <a:r>
              <a:rPr lang="en-US" altLang="zh-CN" dirty="0"/>
              <a:t>R2</a:t>
            </a:r>
            <a:r>
              <a:rPr lang="zh-CN" altLang="en-US" dirty="0"/>
              <a:t>、</a:t>
            </a:r>
            <a:r>
              <a:rPr lang="en-US" altLang="zh-CN" dirty="0"/>
              <a:t>R3</a:t>
            </a:r>
            <a:r>
              <a:rPr lang="zh-CN" altLang="en-US" dirty="0"/>
              <a:t>和</a:t>
            </a:r>
            <a:r>
              <a:rPr lang="en-US" altLang="zh-CN" dirty="0"/>
              <a:t>R4</a:t>
            </a:r>
            <a:r>
              <a:rPr lang="zh-CN" altLang="en-US" dirty="0"/>
              <a:t>运行</a:t>
            </a:r>
            <a:r>
              <a:rPr lang="en-US" altLang="zh-CN" dirty="0"/>
              <a:t>OSPFv3</a:t>
            </a:r>
            <a:r>
              <a:rPr lang="zh-CN" altLang="en-US" dirty="0"/>
              <a:t>路由协议，且均部署在骨干区域。</a:t>
            </a:r>
            <a:endParaRPr lang="en-US" altLang="zh-CN" dirty="0"/>
          </a:p>
          <a:p>
            <a:r>
              <a:rPr lang="zh-CN" altLang="en-US" dirty="0"/>
              <a:t>网络稳定后，查看</a:t>
            </a:r>
            <a:r>
              <a:rPr lang="en-US" altLang="zh-CN" dirty="0"/>
              <a:t>R2</a:t>
            </a:r>
            <a:r>
              <a:rPr lang="zh-CN" altLang="en-US" dirty="0"/>
              <a:t>的</a:t>
            </a:r>
            <a:r>
              <a:rPr lang="en-US" altLang="zh-CN" dirty="0"/>
              <a:t>LSDB</a:t>
            </a:r>
            <a:r>
              <a:rPr lang="zh-CN" altLang="en-US" dirty="0"/>
              <a:t>，可以查看到该路由器的</a:t>
            </a:r>
            <a:r>
              <a:rPr lang="en-US" altLang="zh-CN" dirty="0"/>
              <a:t>Router-LSA</a:t>
            </a:r>
            <a:r>
              <a:rPr lang="zh-CN" altLang="en-US" dirty="0"/>
              <a:t>（</a:t>
            </a:r>
            <a:r>
              <a:rPr lang="en-US" altLang="zh-CN" dirty="0"/>
              <a:t>Type1</a:t>
            </a:r>
            <a:r>
              <a:rPr lang="zh-CN" altLang="en-US" dirty="0"/>
              <a:t>）、</a:t>
            </a:r>
            <a:r>
              <a:rPr lang="en-US" altLang="zh-CN" dirty="0"/>
              <a:t>Network-LSA</a:t>
            </a:r>
            <a:r>
              <a:rPr lang="zh-CN" altLang="en-US" dirty="0"/>
              <a:t>（</a:t>
            </a:r>
            <a:r>
              <a:rPr lang="en-US" altLang="zh-CN" dirty="0"/>
              <a:t>Type2</a:t>
            </a:r>
            <a:r>
              <a:rPr lang="zh-CN" altLang="en-US" dirty="0"/>
              <a:t>）、</a:t>
            </a:r>
            <a:r>
              <a:rPr lang="en-US" altLang="zh-CN" dirty="0"/>
              <a:t>Link-LSA</a:t>
            </a:r>
            <a:r>
              <a:rPr lang="zh-CN" altLang="en-US" dirty="0"/>
              <a:t>（</a:t>
            </a:r>
            <a:r>
              <a:rPr lang="en-US" altLang="zh-CN" dirty="0"/>
              <a:t>Type8</a:t>
            </a:r>
            <a:r>
              <a:rPr lang="zh-CN" altLang="en-US" dirty="0"/>
              <a:t>）和</a:t>
            </a:r>
            <a:r>
              <a:rPr lang="en-US" altLang="zh-CN" dirty="0"/>
              <a:t>Intra-Area-Prefix-LSA</a:t>
            </a:r>
            <a:r>
              <a:rPr lang="zh-CN" altLang="en-US" dirty="0"/>
              <a:t>（</a:t>
            </a:r>
            <a:r>
              <a:rPr lang="en-US" altLang="zh-CN" dirty="0"/>
              <a:t>Type9</a:t>
            </a:r>
            <a:r>
              <a:rPr lang="zh-CN" altLang="en-US" dirty="0"/>
              <a:t>）。</a:t>
            </a:r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138063423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输出信息解释：</a:t>
            </a:r>
            <a:endParaRPr lang="en-US" altLang="zh-CN" dirty="0"/>
          </a:p>
          <a:p>
            <a:pPr lvl="1"/>
            <a:r>
              <a:rPr lang="en-US" altLang="zh-CN" dirty="0"/>
              <a:t>LS age</a:t>
            </a:r>
            <a:r>
              <a:rPr lang="zh-CN" altLang="en-US" dirty="0"/>
              <a:t>：</a:t>
            </a:r>
            <a:r>
              <a:rPr lang="en-US" altLang="zh-CN" dirty="0"/>
              <a:t>LSA</a:t>
            </a:r>
            <a:r>
              <a:rPr lang="zh-CN" altLang="en-US" dirty="0"/>
              <a:t>的老化时间。</a:t>
            </a:r>
          </a:p>
          <a:p>
            <a:pPr lvl="1"/>
            <a:r>
              <a:rPr lang="en-US" altLang="zh-CN" dirty="0"/>
              <a:t>LS Type</a:t>
            </a:r>
            <a:r>
              <a:rPr lang="zh-CN" altLang="en-US" dirty="0"/>
              <a:t>：</a:t>
            </a:r>
            <a:r>
              <a:rPr lang="en-US" altLang="zh-CN" dirty="0"/>
              <a:t>LSA</a:t>
            </a:r>
            <a:r>
              <a:rPr lang="zh-CN" altLang="en-US" dirty="0"/>
              <a:t>的类型，包括：</a:t>
            </a:r>
            <a:r>
              <a:rPr lang="en-US" altLang="zh-CN" dirty="0"/>
              <a:t>Router-LSA</a:t>
            </a:r>
            <a:r>
              <a:rPr lang="zh-CN" altLang="en-US" dirty="0"/>
              <a:t>、</a:t>
            </a:r>
            <a:r>
              <a:rPr lang="en-US" altLang="zh-CN" dirty="0"/>
              <a:t>Network-LSA</a:t>
            </a:r>
            <a:r>
              <a:rPr lang="zh-CN" altLang="en-US" dirty="0"/>
              <a:t>、</a:t>
            </a:r>
            <a:r>
              <a:rPr lang="en-US" altLang="zh-CN" dirty="0"/>
              <a:t>Inter-Area-Prefix-LSA</a:t>
            </a:r>
            <a:r>
              <a:rPr lang="zh-CN" altLang="en-US" dirty="0"/>
              <a:t>、</a:t>
            </a:r>
            <a:r>
              <a:rPr lang="en-US" altLang="zh-CN" dirty="0"/>
              <a:t>Inter-Area-Router-LSA</a:t>
            </a:r>
            <a:r>
              <a:rPr lang="zh-CN" altLang="en-US" dirty="0"/>
              <a:t>、</a:t>
            </a:r>
            <a:r>
              <a:rPr lang="en-US" altLang="zh-CN" dirty="0"/>
              <a:t>AS-external-LSA</a:t>
            </a:r>
            <a:r>
              <a:rPr lang="zh-CN" altLang="en-US" dirty="0"/>
              <a:t>、</a:t>
            </a:r>
            <a:r>
              <a:rPr lang="en-US" altLang="zh-CN" dirty="0"/>
              <a:t>NSSA-LSA</a:t>
            </a:r>
            <a:r>
              <a:rPr lang="zh-CN" altLang="en-US" dirty="0"/>
              <a:t>、</a:t>
            </a:r>
            <a:r>
              <a:rPr lang="en-US" altLang="zh-CN" dirty="0"/>
              <a:t>Link-LSA</a:t>
            </a:r>
            <a:r>
              <a:rPr lang="zh-CN" altLang="en-US" dirty="0"/>
              <a:t>、</a:t>
            </a:r>
            <a:r>
              <a:rPr lang="en-US" altLang="zh-CN" dirty="0"/>
              <a:t>Intra-Area-Prefix-LSA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Link State ID</a:t>
            </a:r>
            <a:r>
              <a:rPr lang="zh-CN" altLang="en-US" dirty="0"/>
              <a:t>：</a:t>
            </a:r>
            <a:r>
              <a:rPr lang="en-US" altLang="zh-CN" dirty="0"/>
              <a:t>LSA</a:t>
            </a:r>
            <a:r>
              <a:rPr lang="zh-CN" altLang="en-US" dirty="0"/>
              <a:t>报文头中的链路状态</a:t>
            </a:r>
            <a:r>
              <a:rPr lang="en-US" altLang="zh-CN" dirty="0"/>
              <a:t>ID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Originating Router</a:t>
            </a:r>
            <a:r>
              <a:rPr lang="zh-CN" altLang="en-US" dirty="0"/>
              <a:t>：产生</a:t>
            </a:r>
            <a:r>
              <a:rPr lang="en-US" altLang="zh-CN" dirty="0"/>
              <a:t>LSA</a:t>
            </a:r>
            <a:r>
              <a:rPr lang="zh-CN" altLang="en-US" dirty="0"/>
              <a:t>的路由器。</a:t>
            </a:r>
          </a:p>
          <a:p>
            <a:pPr lvl="1"/>
            <a:r>
              <a:rPr lang="en-US" altLang="zh-CN" dirty="0"/>
              <a:t>LS </a:t>
            </a:r>
            <a:r>
              <a:rPr lang="en-US" altLang="zh-CN" dirty="0" err="1"/>
              <a:t>Seq</a:t>
            </a:r>
            <a:r>
              <a:rPr lang="en-US" altLang="zh-CN" dirty="0"/>
              <a:t> Number</a:t>
            </a:r>
            <a:r>
              <a:rPr lang="zh-CN" altLang="en-US" dirty="0"/>
              <a:t>：</a:t>
            </a:r>
            <a:r>
              <a:rPr lang="en-US" altLang="zh-CN" dirty="0"/>
              <a:t>LSA</a:t>
            </a:r>
            <a:r>
              <a:rPr lang="zh-CN" altLang="en-US" dirty="0"/>
              <a:t>序列号（来自</a:t>
            </a:r>
            <a:r>
              <a:rPr lang="en-US" altLang="zh-CN" dirty="0"/>
              <a:t>LSA</a:t>
            </a:r>
            <a:r>
              <a:rPr lang="zh-CN" altLang="en-US" dirty="0"/>
              <a:t>报头）。</a:t>
            </a:r>
          </a:p>
          <a:p>
            <a:pPr lvl="1"/>
            <a:r>
              <a:rPr lang="en-US" altLang="zh-CN" dirty="0"/>
              <a:t>Checksum</a:t>
            </a:r>
            <a:r>
              <a:rPr lang="zh-CN" altLang="en-US" dirty="0"/>
              <a:t>：</a:t>
            </a:r>
            <a:r>
              <a:rPr lang="en-US" altLang="zh-CN" dirty="0"/>
              <a:t>LSA</a:t>
            </a:r>
            <a:r>
              <a:rPr lang="zh-CN" altLang="en-US" dirty="0"/>
              <a:t>的校验和。</a:t>
            </a:r>
          </a:p>
          <a:p>
            <a:pPr lvl="1"/>
            <a:r>
              <a:rPr lang="en-US" altLang="zh-CN" dirty="0"/>
              <a:t>Length</a:t>
            </a:r>
            <a:r>
              <a:rPr lang="zh-CN" altLang="en-US" dirty="0"/>
              <a:t>：</a:t>
            </a:r>
            <a:r>
              <a:rPr lang="en-US" altLang="zh-CN" dirty="0"/>
              <a:t>LSA</a:t>
            </a:r>
            <a:r>
              <a:rPr lang="zh-CN" altLang="en-US" dirty="0"/>
              <a:t>的长度。</a:t>
            </a:r>
          </a:p>
          <a:p>
            <a:pPr lvl="1"/>
            <a:r>
              <a:rPr lang="en-US" altLang="zh-CN" dirty="0"/>
              <a:t>Priority</a:t>
            </a:r>
            <a:r>
              <a:rPr lang="zh-CN" altLang="en-US" dirty="0"/>
              <a:t>：该</a:t>
            </a:r>
            <a:r>
              <a:rPr lang="en-US" altLang="zh-CN" dirty="0"/>
              <a:t>Link</a:t>
            </a:r>
            <a:r>
              <a:rPr lang="zh-CN" altLang="en-US" dirty="0"/>
              <a:t>对应接口的优先级。</a:t>
            </a:r>
          </a:p>
          <a:p>
            <a:pPr lvl="1"/>
            <a:r>
              <a:rPr lang="en-US" altLang="zh-CN" dirty="0"/>
              <a:t>Options</a:t>
            </a:r>
            <a:r>
              <a:rPr lang="zh-CN" altLang="en-US" dirty="0"/>
              <a:t>：该</a:t>
            </a:r>
            <a:r>
              <a:rPr lang="en-US" altLang="zh-CN" dirty="0"/>
              <a:t>Link</a:t>
            </a:r>
            <a:r>
              <a:rPr lang="zh-CN" altLang="en-US" dirty="0"/>
              <a:t>的</a:t>
            </a:r>
            <a:r>
              <a:rPr lang="en-US" altLang="zh-CN" dirty="0"/>
              <a:t>Option</a:t>
            </a:r>
            <a:r>
              <a:rPr lang="zh-CN" altLang="en-US" dirty="0"/>
              <a:t>值。</a:t>
            </a:r>
          </a:p>
          <a:p>
            <a:pPr lvl="1"/>
            <a:r>
              <a:rPr lang="en-US" altLang="zh-CN" dirty="0"/>
              <a:t>Link-Local Address</a:t>
            </a:r>
            <a:r>
              <a:rPr lang="zh-CN" altLang="en-US" dirty="0"/>
              <a:t>：链路本地地址。</a:t>
            </a:r>
          </a:p>
          <a:p>
            <a:pPr lvl="1"/>
            <a:r>
              <a:rPr lang="en-US" altLang="zh-CN" dirty="0"/>
              <a:t>Number of Prefixes</a:t>
            </a:r>
            <a:r>
              <a:rPr lang="zh-CN" altLang="en-US" dirty="0"/>
              <a:t>：该</a:t>
            </a:r>
            <a:r>
              <a:rPr lang="en-US" altLang="zh-CN" dirty="0"/>
              <a:t>LSA</a:t>
            </a:r>
            <a:r>
              <a:rPr lang="zh-CN" altLang="en-US" dirty="0"/>
              <a:t>中包含的</a:t>
            </a:r>
            <a:r>
              <a:rPr lang="en-US" altLang="zh-CN" dirty="0"/>
              <a:t>IPv6</a:t>
            </a:r>
            <a:r>
              <a:rPr lang="zh-CN" altLang="en-US" dirty="0"/>
              <a:t>前缀数目。</a:t>
            </a:r>
          </a:p>
          <a:p>
            <a:pPr lvl="1"/>
            <a:r>
              <a:rPr lang="en-US" altLang="zh-CN" dirty="0"/>
              <a:t>Prefix</a:t>
            </a:r>
            <a:r>
              <a:rPr lang="zh-CN" altLang="en-US" dirty="0"/>
              <a:t>：</a:t>
            </a:r>
            <a:r>
              <a:rPr lang="en-US" altLang="zh-CN" dirty="0"/>
              <a:t>IPv6</a:t>
            </a:r>
            <a:r>
              <a:rPr lang="zh-CN" altLang="en-US" dirty="0"/>
              <a:t>前缀。</a:t>
            </a:r>
          </a:p>
          <a:p>
            <a:pPr lvl="1"/>
            <a:r>
              <a:rPr lang="en-US" altLang="zh-CN" dirty="0"/>
              <a:t>Prefix Options</a:t>
            </a:r>
            <a:r>
              <a:rPr lang="zh-CN" altLang="en-US" dirty="0"/>
              <a:t>：前缀</a:t>
            </a:r>
            <a:r>
              <a:rPr lang="en-US" altLang="zh-CN" dirty="0"/>
              <a:t>Option</a:t>
            </a:r>
            <a:r>
              <a:rPr lang="zh-CN" altLang="en-US" dirty="0"/>
              <a:t>值。</a:t>
            </a: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2992769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22127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2450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OSPFv3</a:t>
            </a:r>
            <a:r>
              <a:rPr lang="zh-CN" altLang="en-US"/>
              <a:t>的配置命令与配置方式与</a:t>
            </a:r>
            <a:r>
              <a:rPr lang="en-US" altLang="zh-CN"/>
              <a:t>OSPFv2</a:t>
            </a:r>
            <a:r>
              <a:rPr lang="zh-CN" altLang="en-US"/>
              <a:t>类似，其他配置命令不再赘述，详细内容请参考</a:t>
            </a:r>
            <a:r>
              <a:rPr lang="en-US" altLang="zh-CN"/>
              <a:t>《HCIP-Datacom-Core Technology》</a:t>
            </a:r>
            <a:r>
              <a:rPr lang="zh-CN" altLang="en-US"/>
              <a:t>课程。</a:t>
            </a:r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9301099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5809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[Huawei] </a:t>
            </a:r>
            <a:r>
              <a:rPr lang="en-US" altLang="zh-CN" b="1" dirty="0"/>
              <a:t>display ospfv3</a:t>
            </a:r>
            <a:r>
              <a:rPr lang="en-US" altLang="zh-CN" dirty="0"/>
              <a:t> [ </a:t>
            </a:r>
            <a:r>
              <a:rPr lang="en-US" altLang="zh-CN" i="1" dirty="0"/>
              <a:t>process-id</a:t>
            </a:r>
            <a:r>
              <a:rPr lang="en-US" altLang="zh-CN" dirty="0"/>
              <a:t> ] </a:t>
            </a:r>
            <a:r>
              <a:rPr lang="en-US" altLang="zh-CN" b="1" dirty="0" err="1"/>
              <a:t>lsdb</a:t>
            </a:r>
            <a:r>
              <a:rPr lang="en-US" altLang="zh-CN" dirty="0"/>
              <a:t> [ </a:t>
            </a:r>
            <a:r>
              <a:rPr lang="en-US" altLang="zh-CN" b="1" dirty="0"/>
              <a:t>area</a:t>
            </a:r>
            <a:r>
              <a:rPr lang="en-US" altLang="zh-CN" dirty="0"/>
              <a:t> </a:t>
            </a:r>
            <a:r>
              <a:rPr lang="en-US" altLang="zh-CN" i="1" dirty="0"/>
              <a:t>area-id</a:t>
            </a:r>
            <a:r>
              <a:rPr lang="en-US" altLang="zh-CN" dirty="0"/>
              <a:t> ] [ </a:t>
            </a:r>
            <a:r>
              <a:rPr lang="en-US" altLang="zh-CN" b="1" dirty="0"/>
              <a:t>originate-router</a:t>
            </a:r>
            <a:r>
              <a:rPr lang="en-US" altLang="zh-CN" dirty="0"/>
              <a:t> </a:t>
            </a:r>
            <a:r>
              <a:rPr lang="en-US" altLang="zh-CN" i="1" dirty="0"/>
              <a:t>advertising-router-id</a:t>
            </a:r>
            <a:r>
              <a:rPr lang="en-US" altLang="zh-CN" dirty="0"/>
              <a:t> | </a:t>
            </a:r>
            <a:r>
              <a:rPr lang="en-US" altLang="zh-CN" b="1" dirty="0"/>
              <a:t>self-originate</a:t>
            </a:r>
            <a:r>
              <a:rPr lang="en-US" altLang="zh-CN" dirty="0"/>
              <a:t> ] [ { </a:t>
            </a:r>
            <a:r>
              <a:rPr lang="en-US" altLang="zh-CN" b="1" dirty="0"/>
              <a:t>router</a:t>
            </a:r>
            <a:r>
              <a:rPr lang="en-US" altLang="zh-CN" dirty="0"/>
              <a:t> | </a:t>
            </a:r>
            <a:r>
              <a:rPr lang="en-US" altLang="zh-CN" b="1" dirty="0"/>
              <a:t>network</a:t>
            </a:r>
            <a:r>
              <a:rPr lang="en-US" altLang="zh-CN" dirty="0"/>
              <a:t> | </a:t>
            </a:r>
            <a:r>
              <a:rPr lang="en-US" altLang="zh-CN" b="1" dirty="0"/>
              <a:t>inter-router</a:t>
            </a:r>
            <a:r>
              <a:rPr lang="en-US" altLang="zh-CN" dirty="0"/>
              <a:t> [ </a:t>
            </a:r>
            <a:r>
              <a:rPr lang="en-US" altLang="zh-CN" b="1" dirty="0" err="1"/>
              <a:t>asbr</a:t>
            </a:r>
            <a:r>
              <a:rPr lang="en-US" altLang="zh-CN" b="1" dirty="0"/>
              <a:t>-router</a:t>
            </a:r>
            <a:r>
              <a:rPr lang="en-US" altLang="zh-CN" dirty="0"/>
              <a:t> </a:t>
            </a:r>
            <a:r>
              <a:rPr lang="en-US" altLang="zh-CN" i="1" dirty="0" err="1"/>
              <a:t>asbr</a:t>
            </a:r>
            <a:r>
              <a:rPr lang="en-US" altLang="zh-CN" i="1" dirty="0"/>
              <a:t>-router-id</a:t>
            </a:r>
            <a:r>
              <a:rPr lang="en-US" altLang="zh-CN" dirty="0"/>
              <a:t> ] | { </a:t>
            </a:r>
            <a:r>
              <a:rPr lang="en-US" altLang="zh-CN" b="1" dirty="0"/>
              <a:t>inter-prefix</a:t>
            </a:r>
            <a:r>
              <a:rPr lang="en-US" altLang="zh-CN" dirty="0"/>
              <a:t> | </a:t>
            </a:r>
            <a:r>
              <a:rPr lang="en-US" altLang="zh-CN" b="1" dirty="0" err="1"/>
              <a:t>nssa</a:t>
            </a:r>
            <a:r>
              <a:rPr lang="en-US" altLang="zh-CN" dirty="0"/>
              <a:t> } [ </a:t>
            </a:r>
            <a:r>
              <a:rPr lang="en-US" altLang="zh-CN" i="1" dirty="0"/>
              <a:t>ipv6-address</a:t>
            </a:r>
            <a:r>
              <a:rPr lang="en-US" altLang="zh-CN" dirty="0"/>
              <a:t> </a:t>
            </a:r>
            <a:r>
              <a:rPr lang="en-US" altLang="zh-CN" i="1" dirty="0"/>
              <a:t>prefix-length</a:t>
            </a:r>
            <a:r>
              <a:rPr lang="en-US" altLang="zh-CN" dirty="0"/>
              <a:t> ] | </a:t>
            </a:r>
            <a:r>
              <a:rPr lang="en-US" altLang="zh-CN" b="1" dirty="0"/>
              <a:t>link</a:t>
            </a:r>
            <a:r>
              <a:rPr lang="en-US" altLang="zh-CN" dirty="0"/>
              <a:t> | </a:t>
            </a:r>
            <a:r>
              <a:rPr lang="en-US" altLang="zh-CN" b="1" dirty="0"/>
              <a:t>intra-prefix</a:t>
            </a:r>
            <a:r>
              <a:rPr lang="en-US" altLang="zh-CN" dirty="0"/>
              <a:t> | </a:t>
            </a:r>
            <a:r>
              <a:rPr lang="en-US" altLang="zh-CN" b="1" dirty="0"/>
              <a:t>grace</a:t>
            </a:r>
            <a:r>
              <a:rPr lang="en-US" altLang="zh-CN" dirty="0"/>
              <a:t> } [ </a:t>
            </a:r>
            <a:r>
              <a:rPr lang="en-US" altLang="zh-CN" i="1" dirty="0"/>
              <a:t>link-state-id</a:t>
            </a:r>
            <a:r>
              <a:rPr lang="en-US" altLang="zh-CN" dirty="0"/>
              <a:t> ] ]</a:t>
            </a:r>
          </a:p>
          <a:p>
            <a:pPr lvl="1"/>
            <a:r>
              <a:rPr lang="en-US" altLang="zh-CN" i="1" dirty="0"/>
              <a:t>process-id</a:t>
            </a:r>
            <a:r>
              <a:rPr lang="zh-CN" altLang="en-US" dirty="0"/>
              <a:t>：</a:t>
            </a:r>
            <a:r>
              <a:rPr lang="en-US" altLang="zh-CN" dirty="0"/>
              <a:t>OSPFv3</a:t>
            </a:r>
            <a:r>
              <a:rPr lang="zh-CN" altLang="en-US" dirty="0"/>
              <a:t>进程号。整数形式，取值范围是</a:t>
            </a:r>
            <a:r>
              <a:rPr lang="en-US" altLang="zh-CN" dirty="0"/>
              <a:t>1</a:t>
            </a:r>
            <a:r>
              <a:rPr lang="zh-CN" altLang="en-US" dirty="0"/>
              <a:t>～</a:t>
            </a:r>
            <a:r>
              <a:rPr lang="en-US" altLang="zh-CN" dirty="0"/>
              <a:t>65535</a:t>
            </a:r>
            <a:r>
              <a:rPr lang="zh-CN" altLang="en-US" dirty="0"/>
              <a:t>。</a:t>
            </a:r>
          </a:p>
          <a:p>
            <a:pPr lvl="1"/>
            <a:r>
              <a:rPr lang="en-US" altLang="zh-CN" b="1" dirty="0"/>
              <a:t>area</a:t>
            </a:r>
            <a:r>
              <a:rPr lang="en-US" altLang="zh-CN" dirty="0"/>
              <a:t> </a:t>
            </a:r>
            <a:r>
              <a:rPr lang="en-US" altLang="zh-CN" i="1" dirty="0"/>
              <a:t>area-id</a:t>
            </a:r>
            <a:r>
              <a:rPr lang="zh-CN" altLang="en-US" dirty="0"/>
              <a:t>：区域的标识。可以是十进制整数或</a:t>
            </a:r>
            <a:r>
              <a:rPr lang="en-US" altLang="zh-CN" dirty="0"/>
              <a:t>IPv4</a:t>
            </a:r>
            <a:r>
              <a:rPr lang="zh-CN" altLang="en-US" dirty="0"/>
              <a:t>地址格式。如果是十进制整数，取值范围是</a:t>
            </a:r>
            <a:r>
              <a:rPr lang="en-US" altLang="zh-CN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4294967295</a:t>
            </a:r>
            <a:r>
              <a:rPr lang="zh-CN" altLang="en-US" dirty="0"/>
              <a:t>。如果是</a:t>
            </a:r>
            <a:r>
              <a:rPr lang="en-US" altLang="zh-CN" dirty="0"/>
              <a:t>IPv4</a:t>
            </a:r>
            <a:r>
              <a:rPr lang="zh-CN" altLang="en-US" dirty="0"/>
              <a:t>地址格式，取值是点分十进制。</a:t>
            </a:r>
          </a:p>
          <a:p>
            <a:pPr lvl="1"/>
            <a:r>
              <a:rPr lang="en-US" altLang="zh-CN" b="1" dirty="0"/>
              <a:t>external</a:t>
            </a:r>
            <a:r>
              <a:rPr lang="zh-CN" altLang="en-US" dirty="0"/>
              <a:t>：显示数据库中</a:t>
            </a:r>
            <a:r>
              <a:rPr lang="en-US" altLang="zh-CN" dirty="0"/>
              <a:t>AS-external LSA</a:t>
            </a:r>
            <a:r>
              <a:rPr lang="zh-CN" altLang="en-US" dirty="0"/>
              <a:t>的信息。</a:t>
            </a:r>
          </a:p>
          <a:p>
            <a:pPr lvl="1"/>
            <a:r>
              <a:rPr lang="en-US" altLang="zh-CN" b="1" dirty="0"/>
              <a:t>inter-prefix</a:t>
            </a:r>
            <a:r>
              <a:rPr lang="zh-CN" altLang="en-US" dirty="0"/>
              <a:t>：显示数据库中</a:t>
            </a:r>
            <a:r>
              <a:rPr lang="en-US" altLang="zh-CN" dirty="0"/>
              <a:t>Inter-Area-Prefix LSA</a:t>
            </a:r>
            <a:r>
              <a:rPr lang="zh-CN" altLang="en-US" dirty="0"/>
              <a:t>的信息。</a:t>
            </a:r>
          </a:p>
          <a:p>
            <a:pPr lvl="1"/>
            <a:r>
              <a:rPr lang="en-US" altLang="zh-CN" b="1" dirty="0"/>
              <a:t>inter-router</a:t>
            </a:r>
            <a:r>
              <a:rPr lang="zh-CN" altLang="en-US" dirty="0"/>
              <a:t>：显示数据库中</a:t>
            </a:r>
            <a:r>
              <a:rPr lang="en-US" altLang="zh-CN" dirty="0"/>
              <a:t>Inter-Area-Router LSA</a:t>
            </a:r>
            <a:r>
              <a:rPr lang="zh-CN" altLang="en-US" dirty="0"/>
              <a:t>的信息。</a:t>
            </a:r>
          </a:p>
          <a:p>
            <a:pPr lvl="1"/>
            <a:r>
              <a:rPr lang="en-US" altLang="zh-CN" b="1" dirty="0"/>
              <a:t>intra-prefix</a:t>
            </a:r>
            <a:r>
              <a:rPr lang="zh-CN" altLang="en-US" dirty="0"/>
              <a:t>：显示数据库中</a:t>
            </a:r>
            <a:r>
              <a:rPr lang="en-US" altLang="zh-CN" dirty="0"/>
              <a:t>Intra-Area-Prefix LSA</a:t>
            </a:r>
            <a:r>
              <a:rPr lang="zh-CN" altLang="en-US" dirty="0"/>
              <a:t>的信息。</a:t>
            </a:r>
          </a:p>
          <a:p>
            <a:pPr lvl="1"/>
            <a:r>
              <a:rPr lang="en-US" altLang="zh-CN" b="1" dirty="0" err="1"/>
              <a:t>nssa</a:t>
            </a:r>
            <a:r>
              <a:rPr lang="zh-CN" altLang="en-US" dirty="0"/>
              <a:t>：显示数据库中</a:t>
            </a:r>
            <a:r>
              <a:rPr lang="en-US" altLang="zh-CN" dirty="0"/>
              <a:t>NSSA LSA</a:t>
            </a:r>
            <a:r>
              <a:rPr lang="zh-CN" altLang="en-US" dirty="0"/>
              <a:t>的信息。</a:t>
            </a:r>
          </a:p>
          <a:p>
            <a:pPr lvl="1"/>
            <a:r>
              <a:rPr lang="en-US" altLang="zh-CN" b="1" dirty="0"/>
              <a:t>link</a:t>
            </a:r>
            <a:r>
              <a:rPr lang="zh-CN" altLang="en-US" dirty="0"/>
              <a:t>：显示数据库中</a:t>
            </a:r>
            <a:r>
              <a:rPr lang="en-US" altLang="zh-CN" dirty="0"/>
              <a:t>Link-LSA</a:t>
            </a:r>
            <a:r>
              <a:rPr lang="zh-CN" altLang="en-US" dirty="0"/>
              <a:t>的信息。</a:t>
            </a:r>
          </a:p>
          <a:p>
            <a:pPr lvl="1"/>
            <a:r>
              <a:rPr lang="en-US" altLang="zh-CN" b="1" dirty="0"/>
              <a:t>network</a:t>
            </a:r>
            <a:r>
              <a:rPr lang="zh-CN" altLang="en-US" dirty="0"/>
              <a:t>：显示数据库中</a:t>
            </a:r>
            <a:r>
              <a:rPr lang="en-US" altLang="zh-CN" dirty="0"/>
              <a:t>Network-LSA</a:t>
            </a:r>
            <a:r>
              <a:rPr lang="zh-CN" altLang="en-US" dirty="0"/>
              <a:t>的信息。</a:t>
            </a:r>
          </a:p>
          <a:p>
            <a:pPr lvl="1"/>
            <a:r>
              <a:rPr lang="en-US" altLang="zh-CN" b="1" dirty="0"/>
              <a:t>router</a:t>
            </a:r>
            <a:r>
              <a:rPr lang="zh-CN" altLang="en-US" dirty="0"/>
              <a:t>：显示数据库中</a:t>
            </a:r>
            <a:r>
              <a:rPr lang="en-US" altLang="zh-CN" dirty="0"/>
              <a:t>Router-LSA</a:t>
            </a:r>
            <a:r>
              <a:rPr lang="zh-CN" altLang="en-US" dirty="0"/>
              <a:t>的信息。</a:t>
            </a:r>
          </a:p>
          <a:p>
            <a:pPr lvl="1"/>
            <a:r>
              <a:rPr lang="en-US" altLang="zh-CN" i="1" dirty="0"/>
              <a:t>link-state-id</a:t>
            </a:r>
            <a:r>
              <a:rPr lang="zh-CN" altLang="en-US" dirty="0"/>
              <a:t>：链路状态</a:t>
            </a:r>
            <a:r>
              <a:rPr lang="en-US" altLang="zh-CN" dirty="0"/>
              <a:t>ID</a:t>
            </a:r>
            <a:r>
              <a:rPr lang="zh-CN" altLang="en-US" dirty="0"/>
              <a:t>。点分十进制格式。</a:t>
            </a:r>
          </a:p>
        </p:txBody>
      </p:sp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204485451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731838" y="728663"/>
            <a:ext cx="5580062" cy="8366172"/>
          </a:xfrm>
        </p:spPr>
        <p:txBody>
          <a:bodyPr/>
          <a:lstStyle/>
          <a:p>
            <a:pPr lvl="1"/>
            <a:r>
              <a:rPr lang="en-US" altLang="zh-CN" b="1" dirty="0"/>
              <a:t>originate-router</a:t>
            </a:r>
            <a:r>
              <a:rPr lang="en-US" altLang="zh-CN" dirty="0"/>
              <a:t> </a:t>
            </a:r>
            <a:r>
              <a:rPr lang="en-US" altLang="zh-CN" i="1" dirty="0"/>
              <a:t>advertising-router-id</a:t>
            </a:r>
            <a:r>
              <a:rPr lang="zh-CN" altLang="en-US" dirty="0"/>
              <a:t>：指定发布</a:t>
            </a:r>
            <a:r>
              <a:rPr lang="en-US" altLang="zh-CN" dirty="0"/>
              <a:t>LSA</a:t>
            </a:r>
            <a:r>
              <a:rPr lang="zh-CN" altLang="en-US" dirty="0"/>
              <a:t>的路由器的</a:t>
            </a:r>
            <a:r>
              <a:rPr lang="en-US" altLang="zh-CN" dirty="0"/>
              <a:t>Router ID</a:t>
            </a:r>
            <a:r>
              <a:rPr lang="zh-CN" altLang="en-US" dirty="0"/>
              <a:t>。点分十进制格式。</a:t>
            </a:r>
          </a:p>
          <a:p>
            <a:pPr lvl="1"/>
            <a:r>
              <a:rPr lang="en-US" altLang="zh-CN" b="1" dirty="0" err="1"/>
              <a:t>asbr</a:t>
            </a:r>
            <a:r>
              <a:rPr lang="en-US" altLang="zh-CN" b="1" dirty="0"/>
              <a:t>-router </a:t>
            </a:r>
            <a:r>
              <a:rPr lang="en-US" altLang="zh-CN" i="1" dirty="0" err="1"/>
              <a:t>asbr</a:t>
            </a:r>
            <a:r>
              <a:rPr lang="en-US" altLang="zh-CN" i="1" dirty="0"/>
              <a:t>-router-id</a:t>
            </a:r>
            <a:r>
              <a:rPr lang="zh-CN" altLang="en-US" dirty="0"/>
              <a:t>：指定</a:t>
            </a:r>
            <a:r>
              <a:rPr lang="en-US" altLang="zh-CN" dirty="0"/>
              <a:t>ASBR</a:t>
            </a:r>
            <a:r>
              <a:rPr lang="zh-CN" altLang="en-US" dirty="0"/>
              <a:t>路由器的</a:t>
            </a:r>
            <a:r>
              <a:rPr lang="en-US" altLang="zh-CN" dirty="0"/>
              <a:t>Router ID</a:t>
            </a:r>
            <a:r>
              <a:rPr lang="zh-CN" altLang="en-US" dirty="0"/>
              <a:t>。点分十进制格式。</a:t>
            </a:r>
          </a:p>
          <a:p>
            <a:pPr lvl="1"/>
            <a:r>
              <a:rPr lang="en-US" altLang="zh-CN" b="1" dirty="0"/>
              <a:t>self-originate</a:t>
            </a:r>
            <a:r>
              <a:rPr lang="zh-CN" altLang="en-US" dirty="0"/>
              <a:t>：显示数据库中由本路由器发布的</a:t>
            </a:r>
            <a:r>
              <a:rPr lang="en-US" altLang="zh-CN" dirty="0"/>
              <a:t>LSA</a:t>
            </a:r>
            <a:r>
              <a:rPr lang="zh-CN" altLang="en-US" dirty="0"/>
              <a:t>信息。</a:t>
            </a:r>
          </a:p>
          <a:p>
            <a:pPr lvl="1"/>
            <a:r>
              <a:rPr lang="en-US" altLang="zh-CN" i="1" dirty="0"/>
              <a:t>ipv6-address prefix-length</a:t>
            </a:r>
            <a:r>
              <a:rPr lang="zh-CN" altLang="en-US" dirty="0"/>
              <a:t>：指定</a:t>
            </a:r>
            <a:r>
              <a:rPr lang="en-US" altLang="zh-CN" dirty="0"/>
              <a:t>IPv6</a:t>
            </a:r>
            <a:r>
              <a:rPr lang="zh-CN" altLang="en-US" dirty="0"/>
              <a:t>目的地址及前缀长度。</a:t>
            </a:r>
          </a:p>
          <a:p>
            <a:pPr lvl="2"/>
            <a:r>
              <a:rPr lang="en-US" altLang="zh-CN" i="1" dirty="0"/>
              <a:t>ipv6-address</a:t>
            </a:r>
            <a:r>
              <a:rPr lang="zh-CN" altLang="en-US" dirty="0"/>
              <a:t>是</a:t>
            </a:r>
            <a:r>
              <a:rPr lang="en-US" altLang="zh-CN" dirty="0"/>
              <a:t>32</a:t>
            </a:r>
            <a:r>
              <a:rPr lang="zh-CN" altLang="en-US" dirty="0"/>
              <a:t>位</a:t>
            </a:r>
            <a:r>
              <a:rPr lang="en-US" altLang="zh-CN" dirty="0"/>
              <a:t>16</a:t>
            </a:r>
            <a:r>
              <a:rPr lang="zh-CN" altLang="en-US" dirty="0"/>
              <a:t>进制数，格式为</a:t>
            </a:r>
            <a:r>
              <a:rPr lang="en-US" altLang="zh-CN" dirty="0"/>
              <a:t>X:X:X:X:X:X:X:X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en-US" altLang="zh-CN" i="1" dirty="0"/>
              <a:t>prefix-length</a:t>
            </a:r>
            <a:r>
              <a:rPr lang="zh-CN" altLang="en-US" dirty="0"/>
              <a:t>是整数形式，取值范围是</a:t>
            </a:r>
            <a:r>
              <a:rPr lang="en-US" altLang="zh-CN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128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[Huawei] </a:t>
            </a:r>
            <a:r>
              <a:rPr lang="en-US" altLang="zh-CN" b="1" dirty="0"/>
              <a:t>display ospfv3</a:t>
            </a:r>
            <a:r>
              <a:rPr lang="en-US" altLang="zh-CN" dirty="0"/>
              <a:t> [ </a:t>
            </a:r>
            <a:r>
              <a:rPr lang="en-US" altLang="zh-CN" i="1" dirty="0"/>
              <a:t>process-id</a:t>
            </a:r>
            <a:r>
              <a:rPr lang="en-US" altLang="zh-CN" dirty="0"/>
              <a:t> ] </a:t>
            </a:r>
            <a:r>
              <a:rPr lang="en-US" altLang="zh-CN" b="1" dirty="0"/>
              <a:t>routing</a:t>
            </a:r>
            <a:r>
              <a:rPr lang="en-US" altLang="zh-CN" dirty="0"/>
              <a:t> [ </a:t>
            </a:r>
            <a:r>
              <a:rPr lang="en-US" altLang="zh-CN" i="1" dirty="0"/>
              <a:t>ipv6-address</a:t>
            </a:r>
            <a:r>
              <a:rPr lang="en-US" altLang="zh-CN" dirty="0"/>
              <a:t> </a:t>
            </a:r>
            <a:r>
              <a:rPr lang="en-US" altLang="zh-CN" i="1" dirty="0"/>
              <a:t>prefix-length</a:t>
            </a:r>
            <a:r>
              <a:rPr lang="en-US" altLang="zh-CN" dirty="0"/>
              <a:t> | </a:t>
            </a:r>
            <a:r>
              <a:rPr lang="en-US" altLang="zh-CN" b="1" dirty="0" err="1"/>
              <a:t>abr</a:t>
            </a:r>
            <a:r>
              <a:rPr lang="en-US" altLang="zh-CN" b="1" dirty="0"/>
              <a:t>-routes</a:t>
            </a:r>
            <a:r>
              <a:rPr lang="en-US" altLang="zh-CN" dirty="0"/>
              <a:t> | </a:t>
            </a:r>
            <a:r>
              <a:rPr lang="en-US" altLang="zh-CN" b="1" dirty="0" err="1"/>
              <a:t>asbr</a:t>
            </a:r>
            <a:r>
              <a:rPr lang="en-US" altLang="zh-CN" b="1" dirty="0"/>
              <a:t>-routes</a:t>
            </a:r>
            <a:r>
              <a:rPr lang="en-US" altLang="zh-CN" dirty="0"/>
              <a:t> | </a:t>
            </a:r>
            <a:r>
              <a:rPr lang="en-US" altLang="zh-CN" b="1" dirty="0"/>
              <a:t>intra-routes</a:t>
            </a:r>
            <a:r>
              <a:rPr lang="en-US" altLang="zh-CN" dirty="0"/>
              <a:t> | </a:t>
            </a:r>
            <a:r>
              <a:rPr lang="en-US" altLang="zh-CN" b="1" dirty="0"/>
              <a:t>inter-routes</a:t>
            </a:r>
            <a:r>
              <a:rPr lang="en-US" altLang="zh-CN" dirty="0"/>
              <a:t> | </a:t>
            </a:r>
            <a:r>
              <a:rPr lang="en-US" altLang="zh-CN" b="1" dirty="0" err="1"/>
              <a:t>ase</a:t>
            </a:r>
            <a:r>
              <a:rPr lang="en-US" altLang="zh-CN" b="1" dirty="0"/>
              <a:t>-routes</a:t>
            </a:r>
            <a:r>
              <a:rPr lang="en-US" altLang="zh-CN" dirty="0"/>
              <a:t> | </a:t>
            </a:r>
            <a:r>
              <a:rPr lang="en-US" altLang="zh-CN" b="1" dirty="0" err="1"/>
              <a:t>nssa</a:t>
            </a:r>
            <a:r>
              <a:rPr lang="en-US" altLang="zh-CN" b="1" dirty="0"/>
              <a:t>-routes</a:t>
            </a:r>
            <a:r>
              <a:rPr lang="en-US" altLang="zh-CN" dirty="0"/>
              <a:t> | [ </a:t>
            </a:r>
            <a:r>
              <a:rPr lang="en-US" altLang="zh-CN" b="1" dirty="0"/>
              <a:t>statistics</a:t>
            </a:r>
            <a:r>
              <a:rPr lang="en-US" altLang="zh-CN" dirty="0"/>
              <a:t> ] ]</a:t>
            </a:r>
          </a:p>
          <a:p>
            <a:pPr lvl="1"/>
            <a:r>
              <a:rPr lang="en-US" altLang="zh-CN" i="1" dirty="0"/>
              <a:t>process-id</a:t>
            </a:r>
            <a:r>
              <a:rPr lang="zh-CN" altLang="en-US" dirty="0"/>
              <a:t>：</a:t>
            </a:r>
            <a:r>
              <a:rPr lang="en-US" altLang="zh-CN" dirty="0"/>
              <a:t>OSPFv3</a:t>
            </a:r>
            <a:r>
              <a:rPr lang="zh-CN" altLang="en-US" dirty="0"/>
              <a:t>进程号。整数形式，取值范围是</a:t>
            </a:r>
            <a:r>
              <a:rPr lang="en-US" altLang="zh-CN" dirty="0"/>
              <a:t>1</a:t>
            </a:r>
            <a:r>
              <a:rPr lang="zh-CN" altLang="en-US" dirty="0"/>
              <a:t>～</a:t>
            </a:r>
            <a:r>
              <a:rPr lang="en-US" altLang="zh-CN" dirty="0"/>
              <a:t>65535</a:t>
            </a:r>
            <a:r>
              <a:rPr lang="zh-CN" altLang="en-US" dirty="0"/>
              <a:t>。</a:t>
            </a:r>
          </a:p>
          <a:p>
            <a:pPr lvl="1"/>
            <a:r>
              <a:rPr lang="en-US" altLang="zh-CN" i="1" dirty="0"/>
              <a:t>ipv6-address</a:t>
            </a:r>
            <a:r>
              <a:rPr lang="zh-CN" altLang="en-US" dirty="0"/>
              <a:t>：指定</a:t>
            </a:r>
            <a:r>
              <a:rPr lang="en-US" altLang="zh-CN" dirty="0"/>
              <a:t>IPv6</a:t>
            </a:r>
            <a:r>
              <a:rPr lang="zh-CN" altLang="en-US" dirty="0"/>
              <a:t>地址。</a:t>
            </a:r>
            <a:r>
              <a:rPr lang="en-US" altLang="zh-CN" dirty="0"/>
              <a:t>32</a:t>
            </a:r>
            <a:r>
              <a:rPr lang="zh-CN" altLang="en-US" dirty="0"/>
              <a:t>位</a:t>
            </a:r>
            <a:r>
              <a:rPr lang="en-US" altLang="zh-CN" dirty="0"/>
              <a:t>16</a:t>
            </a:r>
            <a:r>
              <a:rPr lang="zh-CN" altLang="en-US" dirty="0"/>
              <a:t>进制数，格式为</a:t>
            </a:r>
            <a:r>
              <a:rPr lang="en-US" altLang="zh-CN" dirty="0"/>
              <a:t>X:X:X:X:X:X:X:X</a:t>
            </a:r>
            <a:r>
              <a:rPr lang="zh-CN" altLang="en-US" dirty="0"/>
              <a:t>。</a:t>
            </a:r>
          </a:p>
          <a:p>
            <a:pPr lvl="1"/>
            <a:r>
              <a:rPr lang="en-US" altLang="zh-CN" i="1" dirty="0"/>
              <a:t>prefix-length</a:t>
            </a:r>
            <a:r>
              <a:rPr lang="zh-CN" altLang="en-US" dirty="0"/>
              <a:t>：指定前缀长度。整数形式，取值范围是</a:t>
            </a:r>
            <a:r>
              <a:rPr lang="en-US" altLang="zh-CN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128</a:t>
            </a:r>
            <a:r>
              <a:rPr lang="zh-CN" altLang="en-US" dirty="0"/>
              <a:t>。</a:t>
            </a:r>
          </a:p>
          <a:p>
            <a:pPr lvl="1"/>
            <a:r>
              <a:rPr lang="en-US" altLang="zh-CN" b="1" dirty="0" err="1"/>
              <a:t>abr</a:t>
            </a:r>
            <a:r>
              <a:rPr lang="en-US" altLang="zh-CN" b="1" dirty="0"/>
              <a:t>-routes</a:t>
            </a:r>
            <a:r>
              <a:rPr lang="zh-CN" altLang="en-US" dirty="0"/>
              <a:t>：显示</a:t>
            </a:r>
            <a:r>
              <a:rPr lang="en-US" altLang="zh-CN" dirty="0"/>
              <a:t>OSPFv3</a:t>
            </a:r>
            <a:r>
              <a:rPr lang="zh-CN" altLang="en-US" dirty="0"/>
              <a:t>中所有</a:t>
            </a:r>
            <a:r>
              <a:rPr lang="en-US" altLang="zh-CN" dirty="0"/>
              <a:t>ABR</a:t>
            </a:r>
            <a:r>
              <a:rPr lang="zh-CN" altLang="en-US" dirty="0"/>
              <a:t>的路由信息。</a:t>
            </a:r>
          </a:p>
          <a:p>
            <a:pPr lvl="1"/>
            <a:r>
              <a:rPr lang="en-US" altLang="zh-CN" b="1" dirty="0" err="1"/>
              <a:t>asbr</a:t>
            </a:r>
            <a:r>
              <a:rPr lang="en-US" altLang="zh-CN" b="1" dirty="0"/>
              <a:t>-routes</a:t>
            </a:r>
            <a:r>
              <a:rPr lang="zh-CN" altLang="en-US" dirty="0"/>
              <a:t>：显示</a:t>
            </a:r>
            <a:r>
              <a:rPr lang="en-US" altLang="zh-CN" dirty="0"/>
              <a:t>OSPFv3</a:t>
            </a:r>
            <a:r>
              <a:rPr lang="zh-CN" altLang="en-US" dirty="0"/>
              <a:t>中所有</a:t>
            </a:r>
            <a:r>
              <a:rPr lang="en-US" altLang="zh-CN" dirty="0"/>
              <a:t>ASBR</a:t>
            </a:r>
            <a:r>
              <a:rPr lang="zh-CN" altLang="en-US" dirty="0"/>
              <a:t>的路由信息。</a:t>
            </a:r>
          </a:p>
          <a:p>
            <a:pPr lvl="1"/>
            <a:r>
              <a:rPr lang="en-US" altLang="zh-CN" b="1" dirty="0"/>
              <a:t>intra-routes</a:t>
            </a:r>
            <a:r>
              <a:rPr lang="zh-CN" altLang="en-US" dirty="0"/>
              <a:t>：显示</a:t>
            </a:r>
            <a:r>
              <a:rPr lang="en-US" altLang="zh-CN" dirty="0"/>
              <a:t>OSPFv3</a:t>
            </a:r>
            <a:r>
              <a:rPr lang="zh-CN" altLang="en-US" dirty="0"/>
              <a:t>中区域内路由的统计信息。</a:t>
            </a:r>
          </a:p>
          <a:p>
            <a:pPr lvl="1"/>
            <a:r>
              <a:rPr lang="en-US" altLang="zh-CN" b="1" dirty="0"/>
              <a:t>inter-routes</a:t>
            </a:r>
            <a:r>
              <a:rPr lang="zh-CN" altLang="en-US" dirty="0"/>
              <a:t>：显示</a:t>
            </a:r>
            <a:r>
              <a:rPr lang="en-US" altLang="zh-CN" dirty="0"/>
              <a:t>OSPFv3</a:t>
            </a:r>
            <a:r>
              <a:rPr lang="zh-CN" altLang="en-US" dirty="0"/>
              <a:t>中区域间路由的统计信息。</a:t>
            </a:r>
          </a:p>
          <a:p>
            <a:pPr lvl="1"/>
            <a:r>
              <a:rPr lang="en-US" altLang="zh-CN" b="1" dirty="0" err="1"/>
              <a:t>ase</a:t>
            </a:r>
            <a:r>
              <a:rPr lang="en-US" altLang="zh-CN" b="1" dirty="0"/>
              <a:t>-routes</a:t>
            </a:r>
            <a:r>
              <a:rPr lang="zh-CN" altLang="en-US" dirty="0"/>
              <a:t>：显示</a:t>
            </a:r>
            <a:r>
              <a:rPr lang="en-US" altLang="zh-CN" dirty="0"/>
              <a:t>OSPFv3</a:t>
            </a:r>
            <a:r>
              <a:rPr lang="zh-CN" altLang="en-US" dirty="0"/>
              <a:t>中</a:t>
            </a:r>
            <a:r>
              <a:rPr lang="en-US" altLang="zh-CN" dirty="0"/>
              <a:t>AS</a:t>
            </a:r>
            <a:r>
              <a:rPr lang="zh-CN" altLang="en-US" dirty="0"/>
              <a:t>外部路由的统计信息。</a:t>
            </a:r>
          </a:p>
          <a:p>
            <a:pPr lvl="1"/>
            <a:r>
              <a:rPr lang="en-US" altLang="zh-CN" b="1" dirty="0" err="1"/>
              <a:t>nssa</a:t>
            </a:r>
            <a:r>
              <a:rPr lang="en-US" altLang="zh-CN" b="1" dirty="0"/>
              <a:t>-routes</a:t>
            </a:r>
            <a:r>
              <a:rPr lang="zh-CN" altLang="en-US" dirty="0"/>
              <a:t>：显示</a:t>
            </a:r>
            <a:r>
              <a:rPr lang="en-US" altLang="zh-CN" dirty="0"/>
              <a:t>OSPFv3</a:t>
            </a:r>
            <a:r>
              <a:rPr lang="zh-CN" altLang="en-US" dirty="0"/>
              <a:t>中</a:t>
            </a:r>
            <a:r>
              <a:rPr lang="en-US" altLang="zh-CN" dirty="0"/>
              <a:t>NSSA</a:t>
            </a:r>
            <a:r>
              <a:rPr lang="zh-CN" altLang="en-US" dirty="0"/>
              <a:t>区域路由的统计信息。</a:t>
            </a:r>
          </a:p>
          <a:p>
            <a:pPr lvl="1"/>
            <a:r>
              <a:rPr lang="en-US" altLang="zh-CN" b="1" dirty="0"/>
              <a:t>statistics</a:t>
            </a:r>
            <a:r>
              <a:rPr lang="zh-CN" altLang="en-US" dirty="0"/>
              <a:t>：显示</a:t>
            </a:r>
            <a:r>
              <a:rPr lang="en-US" altLang="zh-CN" dirty="0"/>
              <a:t>OSPFv3</a:t>
            </a:r>
            <a:r>
              <a:rPr lang="zh-CN" altLang="en-US" dirty="0"/>
              <a:t>中所有路由表的统计信息。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44511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32148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9412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6" name="备注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4943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79313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73846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可以通过</a:t>
            </a:r>
            <a:r>
              <a:rPr lang="en-US" altLang="zh-CN" b="1" dirty="0"/>
              <a:t>display </a:t>
            </a:r>
            <a:r>
              <a:rPr lang="en-US" altLang="zh-CN" b="1" dirty="0" err="1"/>
              <a:t>ospf</a:t>
            </a:r>
            <a:r>
              <a:rPr lang="en-US" altLang="zh-CN" b="1" dirty="0"/>
              <a:t> peer</a:t>
            </a:r>
            <a:r>
              <a:rPr lang="zh-CN" altLang="en-US" dirty="0"/>
              <a:t>查看</a:t>
            </a:r>
            <a:r>
              <a:rPr lang="en-US" altLang="zh-CN" dirty="0"/>
              <a:t>OSPFv2</a:t>
            </a:r>
            <a:r>
              <a:rPr lang="zh-CN" altLang="en-US" dirty="0"/>
              <a:t>的邻居信息。</a:t>
            </a:r>
            <a:endParaRPr lang="en-US" altLang="zh-CN" dirty="0"/>
          </a:p>
          <a:p>
            <a:r>
              <a:rPr lang="zh-CN" altLang="en-US" dirty="0"/>
              <a:t>对比</a:t>
            </a:r>
            <a:r>
              <a:rPr lang="en-US" altLang="zh-CN" dirty="0"/>
              <a:t>OSPFv2</a:t>
            </a:r>
            <a:r>
              <a:rPr lang="zh-CN" altLang="en-US" dirty="0"/>
              <a:t>和</a:t>
            </a:r>
            <a:r>
              <a:rPr lang="en-US" altLang="zh-CN" dirty="0"/>
              <a:t>OSPFv3</a:t>
            </a:r>
            <a:r>
              <a:rPr lang="zh-CN" altLang="en-US" dirty="0"/>
              <a:t>的邻居信息，发现选出的</a:t>
            </a:r>
            <a:r>
              <a:rPr lang="en-US" altLang="zh-CN" dirty="0"/>
              <a:t>DR</a:t>
            </a:r>
            <a:r>
              <a:rPr lang="zh-CN" altLang="en-US" dirty="0"/>
              <a:t>和</a:t>
            </a:r>
            <a:r>
              <a:rPr lang="en-US" altLang="zh-CN" dirty="0"/>
              <a:t>BDR</a:t>
            </a:r>
            <a:r>
              <a:rPr lang="zh-CN" altLang="en-US" dirty="0"/>
              <a:t>是一致的，说明</a:t>
            </a:r>
            <a:r>
              <a:rPr lang="en-US" altLang="zh-CN" dirty="0"/>
              <a:t>DR</a:t>
            </a:r>
            <a:r>
              <a:rPr lang="zh-CN" altLang="en-US" dirty="0"/>
              <a:t>选举方式相同。</a:t>
            </a: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67553883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可以通过</a:t>
            </a:r>
            <a:r>
              <a:rPr lang="en-US" altLang="zh-CN" b="1" dirty="0"/>
              <a:t>display </a:t>
            </a:r>
            <a:r>
              <a:rPr lang="en-US" altLang="zh-CN" b="1" dirty="0" err="1"/>
              <a:t>ospf</a:t>
            </a:r>
            <a:r>
              <a:rPr lang="en-US" altLang="zh-CN" b="1" dirty="0"/>
              <a:t> routing</a:t>
            </a:r>
            <a:r>
              <a:rPr lang="zh-CN" altLang="en-US" dirty="0"/>
              <a:t>查看</a:t>
            </a:r>
            <a:r>
              <a:rPr lang="en-US" altLang="zh-CN" dirty="0"/>
              <a:t>OSPFv2</a:t>
            </a:r>
            <a:r>
              <a:rPr lang="zh-CN" altLang="en-US" dirty="0"/>
              <a:t>的路由信息。</a:t>
            </a:r>
            <a:endParaRPr lang="en-US" altLang="zh-CN" dirty="0"/>
          </a:p>
          <a:p>
            <a:r>
              <a:rPr lang="zh-CN" altLang="en-US" dirty="0"/>
              <a:t>对比</a:t>
            </a:r>
            <a:r>
              <a:rPr lang="en-US" altLang="zh-CN" dirty="0"/>
              <a:t>OSPFv2</a:t>
            </a:r>
            <a:r>
              <a:rPr lang="zh-CN" altLang="en-US" dirty="0"/>
              <a:t>和</a:t>
            </a:r>
            <a:r>
              <a:rPr lang="en-US" altLang="zh-CN" dirty="0"/>
              <a:t>OSPFv3</a:t>
            </a:r>
            <a:r>
              <a:rPr lang="zh-CN" altLang="en-US" dirty="0"/>
              <a:t>的路由信息，发现到“同一”网段的路径一致，说明路由计算方式相同。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187509141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/>
              <a:t>可以通过</a:t>
            </a:r>
            <a:r>
              <a:rPr lang="en-US" altLang="zh-CN" b="1" dirty="0"/>
              <a:t>display </a:t>
            </a:r>
            <a:r>
              <a:rPr lang="en-US" altLang="zh-CN" b="1" dirty="0" err="1"/>
              <a:t>ospf</a:t>
            </a:r>
            <a:r>
              <a:rPr lang="en-US" altLang="zh-CN" b="1" dirty="0"/>
              <a:t> </a:t>
            </a:r>
            <a:r>
              <a:rPr lang="en-US" altLang="zh-CN" b="1" dirty="0" err="1"/>
              <a:t>lsdb</a:t>
            </a:r>
            <a:r>
              <a:rPr lang="zh-CN" altLang="en-US" dirty="0"/>
              <a:t>查看</a:t>
            </a:r>
            <a:r>
              <a:rPr lang="en-US" altLang="zh-CN" dirty="0"/>
              <a:t>OSPFv2</a:t>
            </a:r>
            <a:r>
              <a:rPr lang="zh-CN" altLang="en-US" dirty="0"/>
              <a:t>的</a:t>
            </a:r>
            <a:r>
              <a:rPr lang="en-US" altLang="zh-CN" dirty="0"/>
              <a:t>LSDB</a:t>
            </a:r>
            <a:r>
              <a:rPr lang="zh-CN" altLang="en-US" dirty="0"/>
              <a:t>信息，可以看到有</a:t>
            </a:r>
            <a:r>
              <a:rPr lang="en-US" altLang="zh-CN" dirty="0"/>
              <a:t>Type1</a:t>
            </a:r>
            <a:r>
              <a:rPr lang="zh-CN" altLang="en-US" dirty="0"/>
              <a:t>、</a:t>
            </a:r>
            <a:r>
              <a:rPr lang="en-US" altLang="zh-CN" dirty="0"/>
              <a:t>Type2</a:t>
            </a:r>
            <a:r>
              <a:rPr lang="zh-CN" altLang="en-US" dirty="0"/>
              <a:t>和</a:t>
            </a:r>
            <a:r>
              <a:rPr lang="en-US" altLang="zh-CN" dirty="0"/>
              <a:t>Type3</a:t>
            </a:r>
            <a:r>
              <a:rPr lang="zh-CN" altLang="en-US" dirty="0"/>
              <a:t>三种</a:t>
            </a:r>
            <a:r>
              <a:rPr lang="en-US" altLang="zh-CN" dirty="0"/>
              <a:t>LSA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44311391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96824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Hello PDU</a:t>
            </a:r>
            <a:r>
              <a:rPr lang="zh-CN" altLang="en-US"/>
              <a:t>：</a:t>
            </a:r>
            <a:r>
              <a:rPr lang="en-US" altLang="zh-CN"/>
              <a:t>Hello Protocol Data Unit</a:t>
            </a:r>
            <a:r>
              <a:rPr lang="zh-CN" altLang="en-US"/>
              <a:t>，</a:t>
            </a:r>
            <a:r>
              <a:rPr lang="en-US" altLang="zh-CN"/>
              <a:t>Hello</a:t>
            </a:r>
            <a:r>
              <a:rPr lang="zh-CN" altLang="en-US"/>
              <a:t>报文</a:t>
            </a:r>
            <a:endParaRPr lang="en-US" altLang="zh-CN"/>
          </a:p>
          <a:p>
            <a:r>
              <a:rPr lang="en-US" altLang="zh-CN"/>
              <a:t>LSP</a:t>
            </a:r>
            <a:r>
              <a:rPr lang="zh-CN" altLang="en-US"/>
              <a:t>：</a:t>
            </a:r>
            <a:r>
              <a:rPr lang="en-US" altLang="zh-CN"/>
              <a:t>Link State PDUs</a:t>
            </a:r>
            <a:r>
              <a:rPr lang="zh-CN" altLang="en-US"/>
              <a:t>，链路状态报文</a:t>
            </a:r>
            <a:endParaRPr lang="en-US" altLang="zh-CN"/>
          </a:p>
          <a:p>
            <a:r>
              <a:rPr lang="en-US" altLang="zh-CN"/>
              <a:t>SNP</a:t>
            </a:r>
            <a:r>
              <a:rPr lang="zh-CN" altLang="en-US"/>
              <a:t>：</a:t>
            </a:r>
            <a:r>
              <a:rPr lang="en-US" altLang="zh-CN"/>
              <a:t>Sequence Number PDUs</a:t>
            </a:r>
            <a:r>
              <a:rPr lang="zh-CN" altLang="en-US"/>
              <a:t>，序列号报文</a:t>
            </a:r>
            <a:endParaRPr lang="zh-CN" altLang="en-US" dirty="0"/>
          </a:p>
        </p:txBody>
      </p:sp>
      <p:sp>
        <p:nvSpPr>
          <p:cNvPr id="3" name="幻灯片图像占位符 2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14116233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232</a:t>
            </a:r>
            <a:r>
              <a:rPr lang="zh-CN" altLang="en-US" dirty="0"/>
              <a:t>号</a:t>
            </a:r>
            <a:r>
              <a:rPr lang="en-US" altLang="zh-CN" dirty="0"/>
              <a:t>TLV</a:t>
            </a:r>
            <a:r>
              <a:rPr lang="zh-CN" altLang="en-US" dirty="0"/>
              <a:t>字段解释：</a:t>
            </a:r>
            <a:endParaRPr lang="en-US" altLang="zh-CN" dirty="0"/>
          </a:p>
          <a:p>
            <a:pPr lvl="1"/>
            <a:r>
              <a:rPr lang="en-US" altLang="zh-CN" dirty="0"/>
              <a:t>Type</a:t>
            </a:r>
            <a:r>
              <a:rPr lang="zh-CN" altLang="en-US" dirty="0"/>
              <a:t>：</a:t>
            </a:r>
            <a:r>
              <a:rPr lang="en-US" altLang="zh-CN" dirty="0"/>
              <a:t>8 bit</a:t>
            </a:r>
            <a:r>
              <a:rPr lang="zh-CN" altLang="en-US" dirty="0"/>
              <a:t>，</a:t>
            </a:r>
            <a:r>
              <a:rPr lang="en-US" altLang="zh-CN" dirty="0"/>
              <a:t>TLV</a:t>
            </a:r>
            <a:r>
              <a:rPr lang="zh-CN" altLang="en-US" dirty="0"/>
              <a:t>类型，此时值为</a:t>
            </a:r>
            <a:r>
              <a:rPr lang="en-US" altLang="zh-CN" dirty="0"/>
              <a:t>232</a:t>
            </a:r>
            <a:r>
              <a:rPr lang="zh-CN" altLang="en-US" dirty="0"/>
              <a:t>（</a:t>
            </a:r>
            <a:r>
              <a:rPr lang="en-US" altLang="zh-CN" dirty="0"/>
              <a:t>0xE8</a:t>
            </a:r>
            <a:r>
              <a:rPr lang="zh-CN" altLang="en-US" dirty="0"/>
              <a:t>）。</a:t>
            </a:r>
            <a:endParaRPr lang="en-US" altLang="zh-CN" dirty="0"/>
          </a:p>
          <a:p>
            <a:pPr lvl="1"/>
            <a:r>
              <a:rPr lang="en-US" altLang="zh-CN" dirty="0"/>
              <a:t>Length</a:t>
            </a:r>
            <a:r>
              <a:rPr lang="zh-CN" altLang="en-US" dirty="0"/>
              <a:t>：</a:t>
            </a:r>
            <a:r>
              <a:rPr lang="en-US" altLang="zh-CN" dirty="0"/>
              <a:t>8 bit</a:t>
            </a:r>
            <a:r>
              <a:rPr lang="zh-CN" altLang="en-US" dirty="0"/>
              <a:t>，</a:t>
            </a:r>
            <a:r>
              <a:rPr lang="en-US" altLang="zh-CN" dirty="0"/>
              <a:t>TLV</a:t>
            </a:r>
            <a:r>
              <a:rPr lang="zh-CN" altLang="en-US" dirty="0"/>
              <a:t>的</a:t>
            </a:r>
            <a:r>
              <a:rPr lang="en-US" altLang="zh-CN" dirty="0"/>
              <a:t>Value</a:t>
            </a:r>
            <a:r>
              <a:rPr lang="zh-CN" altLang="en-US" dirty="0"/>
              <a:t>部分长度。</a:t>
            </a:r>
            <a:endParaRPr lang="en-US" altLang="zh-CN" dirty="0"/>
          </a:p>
          <a:p>
            <a:pPr lvl="1"/>
            <a:r>
              <a:rPr lang="en-US" altLang="zh-CN" dirty="0"/>
              <a:t>Interface Address</a:t>
            </a:r>
            <a:r>
              <a:rPr lang="zh-CN" altLang="en-US" dirty="0"/>
              <a:t>：</a:t>
            </a:r>
            <a:r>
              <a:rPr lang="en-US" altLang="zh-CN" dirty="0"/>
              <a:t>128 bit</a:t>
            </a:r>
            <a:r>
              <a:rPr lang="zh-CN" altLang="en-US" dirty="0"/>
              <a:t>，</a:t>
            </a:r>
            <a:r>
              <a:rPr lang="en-US" altLang="zh-CN" dirty="0"/>
              <a:t>IPv6</a:t>
            </a:r>
            <a:r>
              <a:rPr lang="zh-CN" altLang="en-US" dirty="0"/>
              <a:t>地址。</a:t>
            </a:r>
          </a:p>
          <a:p>
            <a:r>
              <a:rPr lang="en-US" altLang="zh-CN" dirty="0"/>
              <a:t>236</a:t>
            </a:r>
            <a:r>
              <a:rPr lang="zh-CN" altLang="en-US" dirty="0"/>
              <a:t>号</a:t>
            </a:r>
            <a:r>
              <a:rPr lang="en-US" altLang="zh-CN" dirty="0"/>
              <a:t>TLV</a:t>
            </a:r>
            <a:r>
              <a:rPr lang="zh-CN" altLang="en-US" dirty="0"/>
              <a:t>字段解释：</a:t>
            </a:r>
            <a:endParaRPr lang="en-US" altLang="zh-CN" dirty="0"/>
          </a:p>
          <a:p>
            <a:pPr lvl="1"/>
            <a:r>
              <a:rPr lang="en-US" altLang="zh-CN" dirty="0"/>
              <a:t>Type</a:t>
            </a:r>
            <a:r>
              <a:rPr lang="zh-CN" altLang="en-US" dirty="0"/>
              <a:t>：</a:t>
            </a:r>
            <a:r>
              <a:rPr lang="en-US" altLang="zh-CN" dirty="0"/>
              <a:t>8 bit</a:t>
            </a:r>
            <a:r>
              <a:rPr lang="zh-CN" altLang="en-US" dirty="0"/>
              <a:t>，</a:t>
            </a:r>
            <a:r>
              <a:rPr lang="en-US" altLang="zh-CN" dirty="0"/>
              <a:t>TLV</a:t>
            </a:r>
            <a:r>
              <a:rPr lang="zh-CN" altLang="en-US" dirty="0"/>
              <a:t>类型，此时值为</a:t>
            </a:r>
            <a:r>
              <a:rPr lang="en-US" altLang="zh-CN" dirty="0"/>
              <a:t>236</a:t>
            </a:r>
            <a:r>
              <a:rPr lang="zh-CN" altLang="en-US" dirty="0"/>
              <a:t>（</a:t>
            </a:r>
            <a:r>
              <a:rPr lang="en-US" altLang="zh-CN" dirty="0"/>
              <a:t>0xEC</a:t>
            </a:r>
            <a:r>
              <a:rPr lang="zh-CN" altLang="en-US" dirty="0"/>
              <a:t>）。</a:t>
            </a:r>
            <a:endParaRPr lang="en-US" altLang="zh-CN" dirty="0"/>
          </a:p>
          <a:p>
            <a:pPr lvl="1"/>
            <a:r>
              <a:rPr lang="en-US" altLang="zh-CN" dirty="0"/>
              <a:t>Length</a:t>
            </a:r>
            <a:r>
              <a:rPr lang="zh-CN" altLang="en-US" dirty="0"/>
              <a:t>：</a:t>
            </a:r>
            <a:r>
              <a:rPr lang="en-US" altLang="zh-CN" dirty="0"/>
              <a:t>8 bit</a:t>
            </a:r>
            <a:r>
              <a:rPr lang="zh-CN" altLang="en-US" dirty="0"/>
              <a:t>，</a:t>
            </a:r>
            <a:r>
              <a:rPr lang="en-US" altLang="zh-CN" dirty="0"/>
              <a:t>TLV</a:t>
            </a:r>
            <a:r>
              <a:rPr lang="zh-CN" altLang="en-US" dirty="0"/>
              <a:t>的</a:t>
            </a:r>
            <a:r>
              <a:rPr lang="en-US" altLang="zh-CN" dirty="0"/>
              <a:t>Value</a:t>
            </a:r>
            <a:r>
              <a:rPr lang="zh-CN" altLang="en-US" dirty="0"/>
              <a:t>部分长度。</a:t>
            </a:r>
            <a:endParaRPr lang="en-US" altLang="zh-CN" dirty="0"/>
          </a:p>
          <a:p>
            <a:pPr lvl="1"/>
            <a:r>
              <a:rPr lang="en-US" altLang="zh-CN" dirty="0"/>
              <a:t>Metric</a:t>
            </a:r>
            <a:r>
              <a:rPr lang="zh-CN" altLang="en-US" dirty="0"/>
              <a:t>：</a:t>
            </a:r>
            <a:r>
              <a:rPr lang="en-US" altLang="zh-CN" dirty="0"/>
              <a:t>32 bit</a:t>
            </a:r>
            <a:r>
              <a:rPr lang="zh-CN" altLang="en-US" dirty="0"/>
              <a:t>，度量值。</a:t>
            </a:r>
            <a:endParaRPr lang="en-US" altLang="zh-CN" dirty="0"/>
          </a:p>
          <a:p>
            <a:pPr lvl="1"/>
            <a:r>
              <a:rPr lang="en-US" altLang="zh-CN" dirty="0"/>
              <a:t>U</a:t>
            </a:r>
            <a:r>
              <a:rPr lang="zh-CN" altLang="en-US" dirty="0"/>
              <a:t>：</a:t>
            </a:r>
            <a:r>
              <a:rPr lang="en-US" altLang="zh-CN" dirty="0"/>
              <a:t>1 bit</a:t>
            </a:r>
            <a:r>
              <a:rPr lang="zh-CN" altLang="en-US" dirty="0"/>
              <a:t>，</a:t>
            </a:r>
            <a:r>
              <a:rPr lang="en-US" altLang="zh-CN" dirty="0"/>
              <a:t>Up/Down</a:t>
            </a:r>
            <a:r>
              <a:rPr lang="zh-CN" altLang="en-US" dirty="0"/>
              <a:t>位，标识这个前缀是否是从高</a:t>
            </a:r>
            <a:r>
              <a:rPr lang="en-US" altLang="zh-CN" dirty="0"/>
              <a:t>Level</a:t>
            </a:r>
            <a:r>
              <a:rPr lang="zh-CN" altLang="en-US" dirty="0"/>
              <a:t>通告下来的。</a:t>
            </a:r>
          </a:p>
          <a:p>
            <a:pPr lvl="1"/>
            <a:r>
              <a:rPr lang="en-US" altLang="zh-CN" dirty="0"/>
              <a:t>X</a:t>
            </a:r>
            <a:r>
              <a:rPr lang="zh-CN" altLang="en-US" dirty="0"/>
              <a:t>：</a:t>
            </a:r>
            <a:r>
              <a:rPr lang="en-US" altLang="zh-CN" dirty="0"/>
              <a:t>1 bit</a:t>
            </a:r>
            <a:r>
              <a:rPr lang="zh-CN" altLang="en-US" dirty="0"/>
              <a:t>，</a:t>
            </a:r>
            <a:r>
              <a:rPr lang="en-US" altLang="zh-CN" dirty="0"/>
              <a:t>External</a:t>
            </a:r>
            <a:r>
              <a:rPr lang="zh-CN" altLang="en-US" dirty="0"/>
              <a:t> </a:t>
            </a:r>
            <a:r>
              <a:rPr lang="en-US" altLang="zh-CN" dirty="0"/>
              <a:t>Original</a:t>
            </a:r>
            <a:r>
              <a:rPr lang="zh-CN" altLang="en-US" dirty="0"/>
              <a:t>位，标识这个前缀是否是从其他路由协议中引入的。</a:t>
            </a:r>
          </a:p>
          <a:p>
            <a:pPr lvl="1"/>
            <a:r>
              <a:rPr lang="en-US" altLang="zh-CN" dirty="0"/>
              <a:t>S</a:t>
            </a:r>
            <a:r>
              <a:rPr lang="zh-CN" altLang="en-US" dirty="0"/>
              <a:t>：</a:t>
            </a:r>
            <a:r>
              <a:rPr lang="en-US" altLang="zh-CN" dirty="0"/>
              <a:t>1 bit</a:t>
            </a:r>
            <a:r>
              <a:rPr lang="zh-CN" altLang="en-US" dirty="0"/>
              <a:t>，</a:t>
            </a:r>
            <a:r>
              <a:rPr lang="en-US" altLang="zh-CN" dirty="0"/>
              <a:t>Sub-TLV</a:t>
            </a:r>
            <a:r>
              <a:rPr lang="zh-CN" altLang="en-US" dirty="0"/>
              <a:t> </a:t>
            </a:r>
            <a:r>
              <a:rPr lang="en-US" altLang="zh-CN" dirty="0"/>
              <a:t>Present</a:t>
            </a:r>
            <a:r>
              <a:rPr lang="zh-CN" altLang="en-US" dirty="0"/>
              <a:t>位，子</a:t>
            </a:r>
            <a:r>
              <a:rPr lang="en-US" altLang="zh-CN" dirty="0"/>
              <a:t>TLV</a:t>
            </a:r>
            <a:r>
              <a:rPr lang="zh-CN" altLang="en-US" dirty="0"/>
              <a:t>标识位（可选）。</a:t>
            </a:r>
            <a:endParaRPr lang="en-US" altLang="zh-CN" dirty="0"/>
          </a:p>
          <a:p>
            <a:pPr lvl="1"/>
            <a:r>
              <a:rPr lang="en-US" altLang="zh-CN" dirty="0"/>
              <a:t>R</a:t>
            </a:r>
            <a:r>
              <a:rPr lang="zh-CN" altLang="en-US" dirty="0"/>
              <a:t>：</a:t>
            </a:r>
            <a:r>
              <a:rPr lang="en-US" altLang="zh-CN" dirty="0"/>
              <a:t>5 bit</a:t>
            </a:r>
            <a:r>
              <a:rPr lang="zh-CN" altLang="en-US" dirty="0"/>
              <a:t>，</a:t>
            </a:r>
            <a:r>
              <a:rPr lang="en-US" altLang="zh-CN" dirty="0"/>
              <a:t>Reserve</a:t>
            </a:r>
            <a:r>
              <a:rPr lang="zh-CN" altLang="en-US" dirty="0"/>
              <a:t>位，保留位。</a:t>
            </a:r>
            <a:endParaRPr lang="en-US" altLang="zh-CN" dirty="0"/>
          </a:p>
          <a:p>
            <a:pPr lvl="1"/>
            <a:r>
              <a:rPr lang="en-US" altLang="zh-CN" dirty="0"/>
              <a:t>Prefix Length</a:t>
            </a:r>
            <a:r>
              <a:rPr lang="zh-CN" altLang="en-US" dirty="0"/>
              <a:t>：</a:t>
            </a:r>
            <a:r>
              <a:rPr lang="en-US" altLang="zh-CN" dirty="0"/>
              <a:t>8 bit</a:t>
            </a:r>
            <a:r>
              <a:rPr lang="zh-CN" altLang="en-US" dirty="0"/>
              <a:t>，前缀长度。</a:t>
            </a:r>
            <a:endParaRPr lang="en-US" altLang="zh-CN" dirty="0"/>
          </a:p>
          <a:p>
            <a:pPr lvl="1"/>
            <a:r>
              <a:rPr lang="en-US" altLang="zh-CN" dirty="0"/>
              <a:t>Prefix</a:t>
            </a:r>
            <a:r>
              <a:rPr lang="zh-CN" altLang="en-US" dirty="0"/>
              <a:t>：</a:t>
            </a:r>
            <a:r>
              <a:rPr lang="en-US" altLang="zh-CN" dirty="0"/>
              <a:t>IPv6</a:t>
            </a:r>
            <a:r>
              <a:rPr lang="zh-CN" altLang="en-US" dirty="0"/>
              <a:t>地址前缀。</a:t>
            </a:r>
            <a:endParaRPr lang="en-US" altLang="zh-CN" dirty="0"/>
          </a:p>
          <a:p>
            <a:pPr lvl="1"/>
            <a:r>
              <a:rPr lang="en-US" altLang="zh-CN" dirty="0"/>
              <a:t>Sub-TLV Length</a:t>
            </a:r>
            <a:r>
              <a:rPr lang="zh-CN" altLang="en-US" dirty="0"/>
              <a:t>：</a:t>
            </a:r>
            <a:r>
              <a:rPr lang="en-US" altLang="zh-CN" dirty="0"/>
              <a:t>8 bit</a:t>
            </a:r>
            <a:r>
              <a:rPr lang="zh-CN" altLang="en-US" dirty="0"/>
              <a:t>，子</a:t>
            </a:r>
            <a:r>
              <a:rPr lang="en-US" altLang="zh-CN" dirty="0"/>
              <a:t>TLV</a:t>
            </a:r>
            <a:r>
              <a:rPr lang="zh-CN" altLang="en-US" dirty="0"/>
              <a:t>长度。若</a:t>
            </a:r>
            <a:r>
              <a:rPr lang="en-US" altLang="zh-CN" dirty="0"/>
              <a:t>S</a:t>
            </a:r>
            <a:r>
              <a:rPr lang="zh-CN" altLang="en-US" dirty="0"/>
              <a:t>位置</a:t>
            </a:r>
            <a:r>
              <a:rPr lang="en-US" altLang="zh-CN" dirty="0"/>
              <a:t>1</a:t>
            </a:r>
            <a:r>
              <a:rPr lang="zh-CN" altLang="en-US" dirty="0"/>
              <a:t>，则存在。</a:t>
            </a:r>
            <a:endParaRPr lang="en-US" altLang="zh-CN" dirty="0"/>
          </a:p>
          <a:p>
            <a:pPr lvl="1"/>
            <a:r>
              <a:rPr lang="en-US" altLang="zh-CN" dirty="0"/>
              <a:t>Sub-TLV</a:t>
            </a:r>
            <a:r>
              <a:rPr lang="zh-CN" altLang="en-US" dirty="0"/>
              <a:t>：子</a:t>
            </a:r>
            <a:r>
              <a:rPr lang="en-US" altLang="zh-CN" dirty="0"/>
              <a:t>TLV</a:t>
            </a:r>
            <a:r>
              <a:rPr lang="zh-CN" altLang="en-US" dirty="0"/>
              <a:t>。若</a:t>
            </a:r>
            <a:r>
              <a:rPr lang="en-US" altLang="zh-CN" dirty="0"/>
              <a:t>S</a:t>
            </a:r>
            <a:r>
              <a:rPr lang="zh-CN" altLang="en-US" dirty="0"/>
              <a:t>位置</a:t>
            </a:r>
            <a:r>
              <a:rPr lang="en-US" altLang="zh-CN" dirty="0"/>
              <a:t>1</a:t>
            </a:r>
            <a:r>
              <a:rPr lang="zh-CN" altLang="en-US" dirty="0"/>
              <a:t>，则存在。</a:t>
            </a:r>
            <a:endParaRPr lang="en-US" altLang="zh-CN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68247941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16719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IS-IS</a:t>
            </a:r>
            <a:r>
              <a:rPr lang="zh-CN" altLang="en-US" dirty="0"/>
              <a:t>单拓扑的不足之处：</a:t>
            </a:r>
            <a:endParaRPr lang="en-US" altLang="zh-CN" dirty="0"/>
          </a:p>
          <a:p>
            <a:pPr lvl="1"/>
            <a:r>
              <a:rPr lang="zh-CN" altLang="en-US" dirty="0"/>
              <a:t>网络部署不适合拓扑分离。</a:t>
            </a:r>
            <a:endParaRPr lang="en-US" altLang="zh-CN" dirty="0"/>
          </a:p>
          <a:p>
            <a:pPr lvl="1"/>
            <a:r>
              <a:rPr lang="zh-CN" altLang="en-US" dirty="0"/>
              <a:t>为维护相同的拓扑，所有接口都必须同时运行</a:t>
            </a:r>
            <a:r>
              <a:rPr lang="en-US" altLang="zh-CN" dirty="0"/>
              <a:t>IS-IS</a:t>
            </a:r>
            <a:r>
              <a:rPr lang="zh-CN" altLang="en-US" dirty="0"/>
              <a:t>（</a:t>
            </a:r>
            <a:r>
              <a:rPr lang="en-US" altLang="zh-CN" dirty="0"/>
              <a:t>IPv4</a:t>
            </a:r>
            <a:r>
              <a:rPr lang="zh-CN" altLang="en-US" dirty="0"/>
              <a:t>）和</a:t>
            </a:r>
            <a:r>
              <a:rPr lang="en-US" altLang="zh-CN" dirty="0"/>
              <a:t>IS-IS</a:t>
            </a:r>
            <a:r>
              <a:rPr lang="zh-CN" altLang="en-US" dirty="0"/>
              <a:t>（</a:t>
            </a:r>
            <a:r>
              <a:rPr lang="en-US" altLang="zh-CN" dirty="0"/>
              <a:t>IPv6</a:t>
            </a:r>
            <a:r>
              <a:rPr lang="zh-CN" altLang="en-US" dirty="0"/>
              <a:t>），部署不够灵活。</a:t>
            </a:r>
            <a:endParaRPr lang="en-US" altLang="zh-CN" dirty="0"/>
          </a:p>
          <a:p>
            <a:pPr lvl="1"/>
            <a:r>
              <a:rPr lang="zh-CN" altLang="en-US" dirty="0"/>
              <a:t>不能使用</a:t>
            </a:r>
            <a:r>
              <a:rPr lang="en-US" altLang="zh-CN" dirty="0"/>
              <a:t>IPv4</a:t>
            </a:r>
            <a:r>
              <a:rPr lang="zh-CN" altLang="en-US" dirty="0"/>
              <a:t>区域来连接不同的</a:t>
            </a:r>
            <a:r>
              <a:rPr lang="en-US" altLang="zh-CN" dirty="0"/>
              <a:t>IPv6</a:t>
            </a:r>
            <a:r>
              <a:rPr lang="zh-CN" altLang="en-US" dirty="0"/>
              <a:t>区域，即无法通过</a:t>
            </a:r>
            <a:r>
              <a:rPr lang="en-US" altLang="zh-CN" dirty="0"/>
              <a:t>IPv4</a:t>
            </a:r>
            <a:r>
              <a:rPr lang="zh-CN" altLang="en-US" dirty="0"/>
              <a:t>网络解决</a:t>
            </a:r>
            <a:r>
              <a:rPr lang="en-US" altLang="zh-CN" dirty="0"/>
              <a:t>IPv6</a:t>
            </a:r>
            <a:r>
              <a:rPr lang="zh-CN" altLang="en-US" dirty="0"/>
              <a:t>孤岛问题。</a:t>
            </a:r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222859916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IS-IS</a:t>
            </a:r>
            <a:r>
              <a:rPr lang="zh-CN" altLang="en-US"/>
              <a:t>的多拓扑特性可以解决单拓扑的不足之处。</a:t>
            </a:r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378118839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IS-IS</a:t>
            </a:r>
            <a:r>
              <a:rPr lang="zh-CN" altLang="en-US" dirty="0"/>
              <a:t>为了支持多拓扑特性，定义了多种</a:t>
            </a:r>
            <a:r>
              <a:rPr lang="en-US" altLang="zh-CN" dirty="0"/>
              <a:t>TLV</a:t>
            </a:r>
            <a:r>
              <a:rPr lang="zh-CN" altLang="en-US" dirty="0"/>
              <a:t>，包括：多拓扑</a:t>
            </a:r>
            <a:r>
              <a:rPr lang="en-US" altLang="zh-CN" dirty="0"/>
              <a:t>TLV</a:t>
            </a:r>
            <a:r>
              <a:rPr lang="zh-CN" altLang="en-US" dirty="0"/>
              <a:t>、多拓扑中间系统</a:t>
            </a:r>
            <a:r>
              <a:rPr lang="en-US" altLang="zh-CN" dirty="0"/>
              <a:t>TLV</a:t>
            </a:r>
            <a:r>
              <a:rPr lang="zh-CN" altLang="en-US" dirty="0"/>
              <a:t>、多拓扑可达的</a:t>
            </a:r>
            <a:r>
              <a:rPr lang="en-US" altLang="zh-CN" dirty="0"/>
              <a:t>IPv4</a:t>
            </a:r>
            <a:r>
              <a:rPr lang="zh-CN" altLang="en-US" dirty="0"/>
              <a:t>前缀</a:t>
            </a:r>
            <a:r>
              <a:rPr lang="en-US" altLang="zh-CN" dirty="0"/>
              <a:t>TLV</a:t>
            </a:r>
            <a:r>
              <a:rPr lang="zh-CN" altLang="en-US" dirty="0"/>
              <a:t>和多拓扑可达的</a:t>
            </a:r>
            <a:r>
              <a:rPr lang="en-US" altLang="zh-CN" dirty="0"/>
              <a:t>IPv6</a:t>
            </a:r>
            <a:r>
              <a:rPr lang="zh-CN" altLang="en-US" dirty="0"/>
              <a:t>前缀</a:t>
            </a:r>
            <a:r>
              <a:rPr lang="en-US" altLang="zh-CN" dirty="0"/>
              <a:t>TLV</a:t>
            </a:r>
            <a:r>
              <a:rPr lang="zh-CN" altLang="en-US" dirty="0"/>
              <a:t>。其中本课程将对多拓扑</a:t>
            </a:r>
            <a:r>
              <a:rPr lang="en-US" altLang="zh-CN" dirty="0"/>
              <a:t>TLV</a:t>
            </a:r>
            <a:r>
              <a:rPr lang="zh-CN" altLang="en-US" dirty="0"/>
              <a:t>进行讲解，其他内容不详细展开。</a:t>
            </a:r>
            <a:endParaRPr lang="en-US" altLang="zh-CN" dirty="0"/>
          </a:p>
          <a:p>
            <a:r>
              <a:rPr lang="zh-CN" altLang="en-US" dirty="0"/>
              <a:t>多拓扑</a:t>
            </a:r>
            <a:r>
              <a:rPr lang="en-US" altLang="zh-CN" dirty="0"/>
              <a:t>TLV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多拓扑</a:t>
            </a:r>
            <a:r>
              <a:rPr lang="en-US" altLang="zh-CN" dirty="0"/>
              <a:t>TLV</a:t>
            </a:r>
            <a:r>
              <a:rPr lang="zh-CN" altLang="en-US" dirty="0"/>
              <a:t>仅包含在</a:t>
            </a:r>
            <a:r>
              <a:rPr lang="en-US" altLang="zh-CN" dirty="0"/>
              <a:t>IIH</a:t>
            </a:r>
            <a:r>
              <a:rPr lang="zh-CN" altLang="en-US" dirty="0"/>
              <a:t>报文和</a:t>
            </a:r>
            <a:r>
              <a:rPr lang="en-US" altLang="zh-CN" dirty="0"/>
              <a:t>LSP</a:t>
            </a:r>
            <a:r>
              <a:rPr lang="zh-CN" altLang="en-US" dirty="0"/>
              <a:t>的</a:t>
            </a:r>
            <a:r>
              <a:rPr lang="en-US" altLang="zh-CN" dirty="0"/>
              <a:t>0</a:t>
            </a:r>
            <a:r>
              <a:rPr lang="zh-CN" altLang="en-US" dirty="0"/>
              <a:t>分片报文中。</a:t>
            </a:r>
            <a:endParaRPr lang="en-US" altLang="zh-CN" dirty="0"/>
          </a:p>
          <a:p>
            <a:pPr lvl="1"/>
            <a:r>
              <a:rPr lang="zh-CN" altLang="en-US" dirty="0"/>
              <a:t>预留的</a:t>
            </a:r>
            <a:r>
              <a:rPr lang="en-US" altLang="zh-CN" dirty="0"/>
              <a:t>MT ID</a:t>
            </a:r>
            <a:r>
              <a:rPr lang="zh-CN" altLang="en-US" dirty="0"/>
              <a:t>字段：</a:t>
            </a:r>
            <a:endParaRPr lang="en-US" altLang="zh-CN" dirty="0"/>
          </a:p>
          <a:p>
            <a:pPr lvl="2"/>
            <a:r>
              <a:rPr lang="en-US" altLang="zh-CN" dirty="0"/>
              <a:t>MT ID=0</a:t>
            </a:r>
            <a:r>
              <a:rPr lang="zh-CN" altLang="en-US" dirty="0"/>
              <a:t>，用于标准</a:t>
            </a:r>
            <a:r>
              <a:rPr lang="en-US" altLang="zh-CN" dirty="0"/>
              <a:t>IPv4</a:t>
            </a:r>
            <a:r>
              <a:rPr lang="zh-CN" altLang="en-US" dirty="0"/>
              <a:t>拓扑。</a:t>
            </a:r>
            <a:endParaRPr lang="en-US" altLang="zh-CN" dirty="0"/>
          </a:p>
          <a:p>
            <a:pPr lvl="2"/>
            <a:r>
              <a:rPr lang="en-US" altLang="zh-CN" dirty="0"/>
              <a:t>MT ID=2</a:t>
            </a:r>
            <a:r>
              <a:rPr lang="zh-CN" altLang="en-US" dirty="0"/>
              <a:t>，预留给</a:t>
            </a:r>
            <a:r>
              <a:rPr lang="en-US" altLang="zh-CN" dirty="0"/>
              <a:t>IPv6</a:t>
            </a:r>
            <a:r>
              <a:rPr lang="zh-CN" altLang="en-US" dirty="0"/>
              <a:t>拓扑。</a:t>
            </a:r>
            <a:endParaRPr lang="en-US" altLang="zh-CN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21729690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/>
              <a:t>IS-IS</a:t>
            </a:r>
            <a:r>
              <a:rPr lang="zh-CN" altLang="en-US" dirty="0"/>
              <a:t>（</a:t>
            </a:r>
            <a:r>
              <a:rPr lang="en-US" altLang="zh-CN" dirty="0"/>
              <a:t>IPv6</a:t>
            </a:r>
            <a:r>
              <a:rPr lang="zh-CN" altLang="en-US" dirty="0"/>
              <a:t>）的基础配置命令与配置方式与</a:t>
            </a:r>
            <a:r>
              <a:rPr lang="en-US" altLang="zh-CN" dirty="0"/>
              <a:t>IS-IS</a:t>
            </a:r>
            <a:r>
              <a:rPr lang="zh-CN" altLang="en-US" dirty="0"/>
              <a:t>（</a:t>
            </a:r>
            <a:r>
              <a:rPr lang="en-US" altLang="zh-CN" dirty="0"/>
              <a:t>IPv4</a:t>
            </a:r>
            <a:r>
              <a:rPr lang="zh-CN" altLang="en-US" dirty="0"/>
              <a:t>）一致，其他配置命令不再赘述，详细内容请参考</a:t>
            </a:r>
            <a:r>
              <a:rPr lang="en-US" altLang="zh-CN" dirty="0"/>
              <a:t>《HCIP-</a:t>
            </a:r>
            <a:r>
              <a:rPr lang="en-US" altLang="zh-CN" dirty="0" err="1"/>
              <a:t>Datacom</a:t>
            </a:r>
            <a:r>
              <a:rPr lang="en-US" altLang="zh-CN" dirty="0"/>
              <a:t>-Core Technology》</a:t>
            </a:r>
            <a:r>
              <a:rPr lang="zh-CN" altLang="en-US" dirty="0"/>
              <a:t>课程。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[Huawei-isis-1] </a:t>
            </a:r>
            <a:r>
              <a:rPr lang="en-US" altLang="zh-CN" b="1" dirty="0"/>
              <a:t>ipv6 enable</a:t>
            </a:r>
            <a:r>
              <a:rPr lang="en-US" altLang="zh-CN" dirty="0"/>
              <a:t> [ </a:t>
            </a:r>
            <a:r>
              <a:rPr lang="en-US" altLang="zh-CN" b="1" dirty="0"/>
              <a:t>topology</a:t>
            </a:r>
            <a:r>
              <a:rPr lang="en-US" altLang="zh-CN" dirty="0"/>
              <a:t> { </a:t>
            </a:r>
            <a:r>
              <a:rPr lang="en-US" altLang="zh-CN" b="1" dirty="0"/>
              <a:t>ipv6</a:t>
            </a:r>
            <a:r>
              <a:rPr lang="en-US" altLang="zh-CN" dirty="0"/>
              <a:t> | </a:t>
            </a:r>
            <a:r>
              <a:rPr lang="en-US" altLang="zh-CN" b="1" dirty="0"/>
              <a:t>standard</a:t>
            </a:r>
            <a:r>
              <a:rPr lang="en-US" altLang="zh-CN" dirty="0"/>
              <a:t> } ]</a:t>
            </a:r>
          </a:p>
          <a:p>
            <a:pPr lvl="1">
              <a:lnSpc>
                <a:spcPct val="100000"/>
              </a:lnSpc>
            </a:pPr>
            <a:r>
              <a:rPr lang="en-US" altLang="zh-CN" b="1" dirty="0"/>
              <a:t>topology</a:t>
            </a:r>
            <a:r>
              <a:rPr lang="zh-CN" altLang="en-US" dirty="0"/>
              <a:t>：用于指定网络的拓扑类型。</a:t>
            </a:r>
          </a:p>
          <a:p>
            <a:pPr lvl="1">
              <a:lnSpc>
                <a:spcPct val="100000"/>
              </a:lnSpc>
            </a:pPr>
            <a:r>
              <a:rPr lang="en-US" altLang="zh-CN" b="1" dirty="0"/>
              <a:t>ipv6</a:t>
            </a:r>
            <a:r>
              <a:rPr lang="zh-CN" altLang="en-US" dirty="0"/>
              <a:t>：指定拓扑类型为</a:t>
            </a:r>
            <a:r>
              <a:rPr lang="en-US" altLang="zh-CN" dirty="0"/>
              <a:t>IPv6</a:t>
            </a:r>
            <a:r>
              <a:rPr lang="zh-CN" altLang="en-US" dirty="0"/>
              <a:t>拓扑，即在</a:t>
            </a:r>
            <a:r>
              <a:rPr lang="en-US" altLang="zh-CN" dirty="0"/>
              <a:t>IPv6</a:t>
            </a:r>
            <a:r>
              <a:rPr lang="zh-CN" altLang="en-US" dirty="0"/>
              <a:t>拓扑上使能</a:t>
            </a:r>
            <a:r>
              <a:rPr lang="en-US" altLang="zh-CN" dirty="0"/>
              <a:t>IS-IS</a:t>
            </a:r>
            <a:r>
              <a:rPr lang="zh-CN" altLang="en-US" dirty="0"/>
              <a:t>进程的</a:t>
            </a:r>
            <a:r>
              <a:rPr lang="en-US" altLang="zh-CN" dirty="0"/>
              <a:t>IPv6</a:t>
            </a:r>
            <a:r>
              <a:rPr lang="zh-CN" altLang="en-US" dirty="0"/>
              <a:t>。网络中的链路可以配置成</a:t>
            </a:r>
            <a:r>
              <a:rPr lang="en-US" altLang="zh-CN" dirty="0"/>
              <a:t>IPv4</a:t>
            </a:r>
            <a:r>
              <a:rPr lang="zh-CN" altLang="en-US" dirty="0"/>
              <a:t>或</a:t>
            </a:r>
            <a:r>
              <a:rPr lang="en-US" altLang="zh-CN" dirty="0"/>
              <a:t>IPv6</a:t>
            </a:r>
            <a:r>
              <a:rPr lang="zh-CN" altLang="en-US" dirty="0"/>
              <a:t>，但</a:t>
            </a:r>
            <a:r>
              <a:rPr lang="en-US" altLang="zh-CN" dirty="0"/>
              <a:t>SPF</a:t>
            </a:r>
            <a:r>
              <a:rPr lang="zh-CN" altLang="en-US" dirty="0"/>
              <a:t>计算在各自的拓扑中单独进行。</a:t>
            </a:r>
          </a:p>
          <a:p>
            <a:pPr lvl="1">
              <a:lnSpc>
                <a:spcPct val="100000"/>
              </a:lnSpc>
            </a:pPr>
            <a:r>
              <a:rPr lang="en-US" altLang="zh-CN" b="1" dirty="0"/>
              <a:t>standard</a:t>
            </a:r>
            <a:r>
              <a:rPr lang="zh-CN" altLang="en-US" dirty="0"/>
              <a:t>：指定拓扑类型为标准模式，即在集成拓扑上使能</a:t>
            </a:r>
            <a:r>
              <a:rPr lang="en-US" altLang="zh-CN" dirty="0"/>
              <a:t>IS-IS</a:t>
            </a:r>
            <a:r>
              <a:rPr lang="zh-CN" altLang="en-US" dirty="0"/>
              <a:t>进程的</a:t>
            </a:r>
            <a:r>
              <a:rPr lang="en-US" altLang="zh-CN" dirty="0"/>
              <a:t>IPv6</a:t>
            </a:r>
            <a:r>
              <a:rPr lang="zh-CN" altLang="en-US" dirty="0"/>
              <a:t>。网络管理员必须保证网络中所有的链路支持一致的拓扑模式。缺省情况下，使能</a:t>
            </a:r>
            <a:r>
              <a:rPr lang="en-US" altLang="zh-CN" dirty="0"/>
              <a:t>IPv6</a:t>
            </a:r>
            <a:r>
              <a:rPr lang="zh-CN" altLang="en-US" dirty="0"/>
              <a:t>选择</a:t>
            </a:r>
            <a:r>
              <a:rPr lang="en-US" altLang="zh-CN" b="1" dirty="0"/>
              <a:t>standard</a:t>
            </a:r>
            <a:r>
              <a:rPr lang="zh-CN" altLang="en-US" dirty="0"/>
              <a:t>参数。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[ Huawei-GigabitEthernet0/0/1] </a:t>
            </a:r>
            <a:r>
              <a:rPr lang="en-US" altLang="zh-CN" b="1" dirty="0" err="1"/>
              <a:t>isis</a:t>
            </a:r>
            <a:r>
              <a:rPr lang="en-US" altLang="zh-CN" b="1" dirty="0"/>
              <a:t> ipv6</a:t>
            </a:r>
            <a:r>
              <a:rPr lang="en-US" altLang="zh-CN" dirty="0"/>
              <a:t> </a:t>
            </a:r>
            <a:r>
              <a:rPr lang="en-US" altLang="zh-CN" b="1" dirty="0"/>
              <a:t>cost</a:t>
            </a:r>
            <a:r>
              <a:rPr lang="en-US" altLang="zh-CN" dirty="0"/>
              <a:t> { </a:t>
            </a:r>
            <a:r>
              <a:rPr lang="en-US" altLang="zh-CN" i="1" dirty="0"/>
              <a:t>cost</a:t>
            </a:r>
            <a:r>
              <a:rPr lang="en-US" altLang="zh-CN" dirty="0"/>
              <a:t> | </a:t>
            </a:r>
            <a:r>
              <a:rPr lang="en-US" altLang="zh-CN" b="1" dirty="0"/>
              <a:t>maximum</a:t>
            </a:r>
            <a:r>
              <a:rPr lang="en-US" altLang="zh-CN" dirty="0"/>
              <a:t> } [ </a:t>
            </a:r>
            <a:r>
              <a:rPr lang="en-US" altLang="zh-CN" b="1" dirty="0"/>
              <a:t>level-1</a:t>
            </a:r>
            <a:r>
              <a:rPr lang="en-US" altLang="zh-CN" dirty="0"/>
              <a:t> | </a:t>
            </a:r>
            <a:r>
              <a:rPr lang="en-US" altLang="zh-CN" b="1" dirty="0"/>
              <a:t>level-2</a:t>
            </a:r>
            <a:r>
              <a:rPr lang="en-US" altLang="zh-CN" dirty="0"/>
              <a:t> ]</a:t>
            </a:r>
          </a:p>
          <a:p>
            <a:pPr lvl="1">
              <a:lnSpc>
                <a:spcPct val="100000"/>
              </a:lnSpc>
            </a:pPr>
            <a:r>
              <a:rPr lang="en-US" altLang="zh-CN" i="1" dirty="0"/>
              <a:t>cost</a:t>
            </a:r>
            <a:r>
              <a:rPr lang="zh-CN" altLang="en-US" dirty="0"/>
              <a:t>：指定</a:t>
            </a:r>
            <a:r>
              <a:rPr lang="en-US" altLang="zh-CN" dirty="0"/>
              <a:t>IPv6</a:t>
            </a:r>
            <a:r>
              <a:rPr lang="zh-CN" altLang="en-US" dirty="0"/>
              <a:t>接口的链路开销值。整数形式，取值范围根据开销类型而定。</a:t>
            </a:r>
          </a:p>
          <a:p>
            <a:pPr lvl="2">
              <a:lnSpc>
                <a:spcPct val="100000"/>
              </a:lnSpc>
            </a:pPr>
            <a:r>
              <a:rPr lang="zh-CN" altLang="en-US" dirty="0"/>
              <a:t>当开销类型为</a:t>
            </a:r>
            <a:r>
              <a:rPr lang="en-US" altLang="zh-CN" dirty="0"/>
              <a:t>narrow</a:t>
            </a:r>
            <a:r>
              <a:rPr lang="zh-CN" altLang="en-US" dirty="0"/>
              <a:t>、</a:t>
            </a:r>
            <a:r>
              <a:rPr lang="en-US" altLang="zh-CN" dirty="0"/>
              <a:t>narrow-compatible</a:t>
            </a:r>
            <a:r>
              <a:rPr lang="zh-CN" altLang="en-US" dirty="0"/>
              <a:t>或</a:t>
            </a:r>
            <a:r>
              <a:rPr lang="en-US" altLang="zh-CN" dirty="0"/>
              <a:t>compatible</a:t>
            </a:r>
            <a:r>
              <a:rPr lang="zh-CN" altLang="en-US" dirty="0"/>
              <a:t>时，取值范围是</a:t>
            </a:r>
            <a:r>
              <a:rPr lang="en-US" altLang="zh-CN" dirty="0"/>
              <a:t>1</a:t>
            </a:r>
            <a:r>
              <a:rPr lang="zh-CN" altLang="en-US" dirty="0"/>
              <a:t>～</a:t>
            </a:r>
            <a:r>
              <a:rPr lang="en-US" altLang="zh-CN" dirty="0"/>
              <a:t>63</a:t>
            </a:r>
            <a:r>
              <a:rPr lang="zh-CN" altLang="en-US" dirty="0"/>
              <a:t>。</a:t>
            </a:r>
          </a:p>
          <a:p>
            <a:pPr lvl="2">
              <a:lnSpc>
                <a:spcPct val="100000"/>
              </a:lnSpc>
            </a:pPr>
            <a:r>
              <a:rPr lang="zh-CN" altLang="en-US" dirty="0"/>
              <a:t>当开销类型为</a:t>
            </a:r>
            <a:r>
              <a:rPr lang="en-US" altLang="zh-CN" dirty="0"/>
              <a:t>wide</a:t>
            </a:r>
            <a:r>
              <a:rPr lang="zh-CN" altLang="en-US" dirty="0"/>
              <a:t>或</a:t>
            </a:r>
            <a:r>
              <a:rPr lang="en-US" altLang="zh-CN" dirty="0"/>
              <a:t>wide-compatible</a:t>
            </a:r>
            <a:r>
              <a:rPr lang="zh-CN" altLang="en-US" dirty="0"/>
              <a:t>时，取值范围是</a:t>
            </a:r>
            <a:r>
              <a:rPr lang="en-US" altLang="zh-CN" dirty="0"/>
              <a:t>1</a:t>
            </a:r>
            <a:r>
              <a:rPr lang="zh-CN" altLang="en-US" dirty="0"/>
              <a:t>～</a:t>
            </a:r>
            <a:r>
              <a:rPr lang="en-US" altLang="zh-CN" dirty="0"/>
              <a:t>16777214</a:t>
            </a:r>
            <a:r>
              <a:rPr lang="zh-CN" altLang="en-US" dirty="0"/>
              <a:t>。</a:t>
            </a:r>
          </a:p>
          <a:p>
            <a:pPr lvl="2">
              <a:lnSpc>
                <a:spcPct val="100000"/>
              </a:lnSpc>
            </a:pPr>
            <a:r>
              <a:rPr lang="zh-CN" altLang="en-US" dirty="0"/>
              <a:t>缺省值为</a:t>
            </a:r>
            <a:r>
              <a:rPr lang="en-US" altLang="zh-CN" dirty="0"/>
              <a:t>10</a:t>
            </a:r>
            <a:r>
              <a:rPr lang="zh-CN" altLang="en-US" dirty="0"/>
              <a:t>。</a:t>
            </a:r>
          </a:p>
          <a:p>
            <a:pPr lvl="1">
              <a:lnSpc>
                <a:spcPct val="100000"/>
              </a:lnSpc>
            </a:pPr>
            <a:r>
              <a:rPr lang="en-US" altLang="zh-CN" b="1" dirty="0"/>
              <a:t>maximum</a:t>
            </a:r>
            <a:r>
              <a:rPr lang="zh-CN" altLang="en-US" dirty="0"/>
              <a:t>：指定接口的链路开销值为</a:t>
            </a:r>
            <a:r>
              <a:rPr lang="en-US" altLang="zh-CN" dirty="0"/>
              <a:t>16777215</a:t>
            </a:r>
            <a:r>
              <a:rPr lang="zh-CN" altLang="en-US" dirty="0"/>
              <a:t>。</a:t>
            </a:r>
          </a:p>
          <a:p>
            <a:pPr lvl="1">
              <a:lnSpc>
                <a:spcPct val="100000"/>
              </a:lnSpc>
            </a:pPr>
            <a:r>
              <a:rPr lang="en-US" altLang="zh-CN" b="1" dirty="0"/>
              <a:t>level-1</a:t>
            </a:r>
            <a:r>
              <a:rPr lang="zh-CN" altLang="en-US" dirty="0"/>
              <a:t>：指定配置</a:t>
            </a:r>
            <a:r>
              <a:rPr lang="en-US" altLang="zh-CN" dirty="0"/>
              <a:t>level-1</a:t>
            </a:r>
            <a:r>
              <a:rPr lang="zh-CN" altLang="en-US" dirty="0"/>
              <a:t>链路的开销值。如果不指定配置链路开销的接口级别，则同时为</a:t>
            </a:r>
            <a:r>
              <a:rPr lang="en-US" altLang="zh-CN" dirty="0"/>
              <a:t>Level-1</a:t>
            </a:r>
            <a:r>
              <a:rPr lang="zh-CN" altLang="en-US" dirty="0"/>
              <a:t>和</a:t>
            </a:r>
            <a:r>
              <a:rPr lang="en-US" altLang="zh-CN" dirty="0"/>
              <a:t>Level-2</a:t>
            </a:r>
            <a:r>
              <a:rPr lang="zh-CN" altLang="en-US" dirty="0"/>
              <a:t>级别的接口设置链路开销。</a:t>
            </a:r>
          </a:p>
          <a:p>
            <a:pPr lvl="1">
              <a:lnSpc>
                <a:spcPct val="100000"/>
              </a:lnSpc>
            </a:pPr>
            <a:r>
              <a:rPr lang="en-US" altLang="zh-CN" b="1" dirty="0"/>
              <a:t>level-2</a:t>
            </a:r>
            <a:r>
              <a:rPr lang="zh-CN" altLang="en-US" dirty="0"/>
              <a:t>：指定配置</a:t>
            </a:r>
            <a:r>
              <a:rPr lang="en-US" altLang="zh-CN" dirty="0"/>
              <a:t>level-2</a:t>
            </a:r>
            <a:r>
              <a:rPr lang="zh-CN" altLang="en-US" dirty="0"/>
              <a:t>链路的开销值。如果不指定配置链路开销的接口级别，则同时为</a:t>
            </a:r>
            <a:r>
              <a:rPr lang="en-US" altLang="zh-CN" dirty="0"/>
              <a:t>Level-1</a:t>
            </a:r>
            <a:r>
              <a:rPr lang="zh-CN" altLang="en-US" dirty="0"/>
              <a:t>和</a:t>
            </a:r>
            <a:r>
              <a:rPr lang="en-US" altLang="zh-CN" dirty="0"/>
              <a:t>Level-2</a:t>
            </a:r>
            <a:r>
              <a:rPr lang="zh-CN" altLang="en-US" dirty="0"/>
              <a:t>级别的接口设置链路开销。</a:t>
            </a:r>
          </a:p>
        </p:txBody>
      </p:sp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11148318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06043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68414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18231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22011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34648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34311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4348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为了实现对</a:t>
            </a:r>
            <a:r>
              <a:rPr lang="en-US" altLang="zh-CN"/>
              <a:t>IPv6</a:t>
            </a:r>
            <a:r>
              <a:rPr lang="zh-CN" altLang="en-US"/>
              <a:t>协议的支持，</a:t>
            </a:r>
            <a:r>
              <a:rPr lang="en-US" altLang="zh-CN"/>
              <a:t>BGP</a:t>
            </a:r>
            <a:r>
              <a:rPr lang="zh-CN" altLang="en-US"/>
              <a:t>需要将</a:t>
            </a:r>
            <a:r>
              <a:rPr lang="en-US" altLang="zh-CN"/>
              <a:t>IPv6</a:t>
            </a:r>
            <a:r>
              <a:rPr lang="zh-CN" altLang="en-US"/>
              <a:t>协议的信息反映到</a:t>
            </a:r>
            <a:r>
              <a:rPr lang="en-US" altLang="zh-CN"/>
              <a:t>NLRI</a:t>
            </a:r>
            <a:r>
              <a:rPr lang="zh-CN" altLang="en-US"/>
              <a:t>（</a:t>
            </a:r>
            <a:r>
              <a:rPr lang="en-US" altLang="zh-CN"/>
              <a:t>Network Layer Reachability Information</a:t>
            </a:r>
            <a:r>
              <a:rPr lang="zh-CN" altLang="en-US"/>
              <a:t>，网络层可达信息）属性中。</a:t>
            </a:r>
          </a:p>
          <a:p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397672054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96600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Update</a:t>
            </a:r>
            <a:r>
              <a:rPr lang="zh-CN" altLang="en-US"/>
              <a:t>报文：</a:t>
            </a:r>
            <a:endParaRPr lang="en-US" altLang="zh-CN"/>
          </a:p>
          <a:p>
            <a:pPr lvl="1"/>
            <a:r>
              <a:rPr lang="zh-CN" altLang="en-US"/>
              <a:t>一个</a:t>
            </a:r>
            <a:r>
              <a:rPr lang="en-US" altLang="zh-CN"/>
              <a:t>Update</a:t>
            </a:r>
            <a:r>
              <a:rPr lang="zh-CN" altLang="en-US"/>
              <a:t>报文可以通告具有相同路径属性的多条路由，这些路由保存在</a:t>
            </a:r>
            <a:r>
              <a:rPr lang="en-US" altLang="zh-CN"/>
              <a:t>NLRI</a:t>
            </a:r>
            <a:r>
              <a:rPr lang="zh-CN" altLang="en-US"/>
              <a:t>中。同时</a:t>
            </a:r>
            <a:r>
              <a:rPr lang="en-US" altLang="zh-CN"/>
              <a:t>Update</a:t>
            </a:r>
            <a:r>
              <a:rPr lang="zh-CN" altLang="en-US"/>
              <a:t>还可以携带多条不可达路由，用于告知对方撤销路由，这些保存在</a:t>
            </a:r>
            <a:r>
              <a:rPr lang="en-US" altLang="zh-CN"/>
              <a:t>Withdrawn Routes</a:t>
            </a:r>
            <a:r>
              <a:rPr lang="zh-CN" altLang="en-US"/>
              <a:t>字段中。</a:t>
            </a:r>
          </a:p>
          <a:p>
            <a:pPr lvl="1"/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408682695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MP_REACH_NLRI</a:t>
            </a:r>
            <a:r>
              <a:rPr lang="zh-CN" altLang="en-US" dirty="0"/>
              <a:t>字段解释：</a:t>
            </a:r>
          </a:p>
          <a:p>
            <a:pPr lvl="1"/>
            <a:r>
              <a:rPr lang="zh-CN" altLang="en-US" dirty="0"/>
              <a:t>地址族信息（</a:t>
            </a:r>
            <a:r>
              <a:rPr lang="en-US" altLang="zh-CN" dirty="0"/>
              <a:t>Address Family Information</a:t>
            </a:r>
            <a:r>
              <a:rPr lang="zh-CN" altLang="en-US" dirty="0"/>
              <a:t>）：由</a:t>
            </a:r>
            <a:r>
              <a:rPr lang="en-US" altLang="zh-CN" dirty="0"/>
              <a:t>2 Byte</a:t>
            </a:r>
            <a:r>
              <a:rPr lang="zh-CN" altLang="en-US" dirty="0"/>
              <a:t>的地址族标识（</a:t>
            </a:r>
            <a:r>
              <a:rPr lang="en-US" altLang="zh-CN" dirty="0"/>
              <a:t>Address Family Identifier</a:t>
            </a:r>
            <a:r>
              <a:rPr lang="zh-CN" altLang="en-US" dirty="0"/>
              <a:t>，</a:t>
            </a:r>
            <a:r>
              <a:rPr lang="en-US" altLang="zh-CN" dirty="0"/>
              <a:t>AFI</a:t>
            </a:r>
            <a:r>
              <a:rPr lang="zh-CN" altLang="en-US" dirty="0"/>
              <a:t>）和</a:t>
            </a:r>
            <a:r>
              <a:rPr lang="en-US" altLang="zh-CN" dirty="0"/>
              <a:t>1 Byte</a:t>
            </a:r>
            <a:r>
              <a:rPr lang="zh-CN" altLang="en-US" dirty="0"/>
              <a:t>的子地址族标识（</a:t>
            </a:r>
            <a:r>
              <a:rPr lang="en-US" altLang="zh-CN" dirty="0"/>
              <a:t>Subsequent Address Family Identifier</a:t>
            </a:r>
            <a:r>
              <a:rPr lang="zh-CN" altLang="en-US" dirty="0"/>
              <a:t>，</a:t>
            </a:r>
            <a:r>
              <a:rPr lang="en-US" altLang="zh-CN" dirty="0"/>
              <a:t>SAFI</a:t>
            </a:r>
            <a:r>
              <a:rPr lang="zh-CN" altLang="en-US" dirty="0"/>
              <a:t>）组成。</a:t>
            </a:r>
          </a:p>
          <a:p>
            <a:pPr lvl="1"/>
            <a:r>
              <a:rPr lang="zh-CN" altLang="en-US" dirty="0"/>
              <a:t>下一跳长度（</a:t>
            </a:r>
            <a:r>
              <a:rPr lang="en-US" altLang="zh-CN" dirty="0"/>
              <a:t>Length of Next Hop Network Address</a:t>
            </a:r>
            <a:r>
              <a:rPr lang="zh-CN" altLang="en-US" dirty="0"/>
              <a:t>）：</a:t>
            </a:r>
            <a:r>
              <a:rPr lang="en-US" altLang="zh-CN" dirty="0"/>
              <a:t>1 Byte</a:t>
            </a:r>
            <a:r>
              <a:rPr lang="zh-CN" altLang="en-US" dirty="0"/>
              <a:t>，表示下一跳地址的长度，通常情况下为</a:t>
            </a:r>
            <a:r>
              <a:rPr lang="en-US" altLang="zh-CN" dirty="0"/>
              <a:t>16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下一跳地址（</a:t>
            </a:r>
            <a:r>
              <a:rPr lang="en-US" altLang="zh-CN" dirty="0"/>
              <a:t>Network Address of Next Hop</a:t>
            </a:r>
            <a:r>
              <a:rPr lang="zh-CN" altLang="en-US" dirty="0"/>
              <a:t>）：长度由上一个字段决定，一般情况下为全球单播地址。</a:t>
            </a:r>
          </a:p>
          <a:p>
            <a:pPr lvl="1"/>
            <a:r>
              <a:rPr lang="zh-CN" altLang="en-US" dirty="0"/>
              <a:t>保留字段（</a:t>
            </a:r>
            <a:r>
              <a:rPr lang="en-US" altLang="zh-CN" dirty="0"/>
              <a:t>Reserved</a:t>
            </a:r>
            <a:r>
              <a:rPr lang="zh-CN" altLang="en-US" dirty="0"/>
              <a:t>）：</a:t>
            </a:r>
            <a:r>
              <a:rPr lang="en-US" altLang="zh-CN" dirty="0"/>
              <a:t>1 Byte</a:t>
            </a:r>
            <a:r>
              <a:rPr lang="zh-CN" altLang="en-US" dirty="0"/>
              <a:t>，必须为</a:t>
            </a:r>
            <a:r>
              <a:rPr lang="en-US" altLang="zh-CN" dirty="0"/>
              <a:t>0 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网络层可达信息（</a:t>
            </a:r>
            <a:r>
              <a:rPr lang="en-US" altLang="zh-CN" dirty="0"/>
              <a:t>Network Layer Reachability Information</a:t>
            </a:r>
            <a:r>
              <a:rPr lang="zh-CN" altLang="en-US" dirty="0"/>
              <a:t>，</a:t>
            </a:r>
            <a:r>
              <a:rPr lang="en-US" altLang="zh-CN" dirty="0"/>
              <a:t>NLRI</a:t>
            </a:r>
            <a:r>
              <a:rPr lang="zh-CN" altLang="en-US" dirty="0"/>
              <a:t>）：表示含有匹配相同属性的路由信息。当此字段为</a:t>
            </a:r>
            <a:r>
              <a:rPr lang="en-US" altLang="zh-CN" dirty="0"/>
              <a:t>0</a:t>
            </a:r>
            <a:r>
              <a:rPr lang="zh-CN" altLang="en-US" dirty="0"/>
              <a:t>时，表示为缺省路由。</a:t>
            </a:r>
          </a:p>
          <a:p>
            <a:pPr lvl="0"/>
            <a:r>
              <a:rPr lang="en-US" altLang="zh-CN" dirty="0"/>
              <a:t>MP_UNREACH_NLRI</a:t>
            </a:r>
            <a:r>
              <a:rPr lang="zh-CN" altLang="en-US" dirty="0"/>
              <a:t>字段解释：</a:t>
            </a:r>
            <a:endParaRPr lang="en-US" altLang="zh-CN" dirty="0"/>
          </a:p>
          <a:p>
            <a:pPr lvl="1"/>
            <a:r>
              <a:rPr lang="zh-CN" altLang="en-US" dirty="0"/>
              <a:t>撤销路由（</a:t>
            </a:r>
            <a:r>
              <a:rPr lang="en-US" altLang="zh-CN" dirty="0"/>
              <a:t>Withdrawn Routes</a:t>
            </a:r>
            <a:r>
              <a:rPr lang="zh-CN" altLang="en-US" dirty="0"/>
              <a:t>）：表示撤销的路由条目。格式为</a:t>
            </a:r>
            <a:r>
              <a:rPr lang="en-US" altLang="zh-CN" b="1" dirty="0"/>
              <a:t>&lt;</a:t>
            </a:r>
            <a:r>
              <a:rPr lang="zh-CN" altLang="en-US" b="1" dirty="0"/>
              <a:t>掩码长度，路由前缀</a:t>
            </a:r>
            <a:r>
              <a:rPr lang="en-US" altLang="zh-CN" b="1" dirty="0"/>
              <a:t>&gt; </a:t>
            </a:r>
            <a:r>
              <a:rPr lang="zh-CN" altLang="en-US" dirty="0"/>
              <a:t>，当此掩码长度为</a:t>
            </a:r>
            <a:r>
              <a:rPr lang="en-US" altLang="zh-CN" dirty="0"/>
              <a:t>0</a:t>
            </a:r>
            <a:r>
              <a:rPr lang="zh-CN" altLang="en-US" dirty="0"/>
              <a:t>时，表示为缺省路由。</a:t>
            </a:r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40395164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BGP4+</a:t>
            </a:r>
            <a:r>
              <a:rPr lang="zh-CN" altLang="en-US" dirty="0"/>
              <a:t>的基础配置命令与配置方式与</a:t>
            </a:r>
            <a:r>
              <a:rPr lang="en-US" altLang="zh-CN" dirty="0"/>
              <a:t>BGP</a:t>
            </a:r>
            <a:r>
              <a:rPr lang="zh-CN" altLang="en-US" dirty="0"/>
              <a:t>一致，其他配置命令不再赘述，详细内容请参考</a:t>
            </a:r>
            <a:r>
              <a:rPr lang="en-US" altLang="zh-CN" dirty="0"/>
              <a:t>《HCIP-</a:t>
            </a:r>
            <a:r>
              <a:rPr lang="en-US" altLang="zh-CN" dirty="0" err="1"/>
              <a:t>Datacom</a:t>
            </a:r>
            <a:r>
              <a:rPr lang="en-US" altLang="zh-CN" dirty="0"/>
              <a:t>-Core Technology》</a:t>
            </a:r>
            <a:r>
              <a:rPr lang="zh-CN" altLang="en-US" dirty="0"/>
              <a:t>课程。</a:t>
            </a:r>
            <a:endParaRPr lang="en-US" altLang="zh-CN" dirty="0"/>
          </a:p>
          <a:p>
            <a:r>
              <a:rPr lang="en-US" altLang="zh-CN" dirty="0"/>
              <a:t>[Huawei-</a:t>
            </a:r>
            <a:r>
              <a:rPr lang="en-US" altLang="zh-CN" dirty="0" err="1"/>
              <a:t>bgp</a:t>
            </a:r>
            <a:r>
              <a:rPr lang="en-US" altLang="zh-CN" dirty="0"/>
              <a:t>] </a:t>
            </a:r>
            <a:r>
              <a:rPr lang="en-US" altLang="zh-CN" b="1" dirty="0"/>
              <a:t>ipv6-family</a:t>
            </a:r>
            <a:r>
              <a:rPr lang="en-US" altLang="zh-CN" dirty="0"/>
              <a:t> [ </a:t>
            </a:r>
            <a:r>
              <a:rPr lang="en-US" altLang="zh-CN" b="1" dirty="0"/>
              <a:t>unicast</a:t>
            </a:r>
            <a:r>
              <a:rPr lang="en-US" altLang="zh-CN" dirty="0"/>
              <a:t> | </a:t>
            </a:r>
            <a:r>
              <a:rPr lang="en-US" altLang="zh-CN" b="1" dirty="0"/>
              <a:t>vpnv6</a:t>
            </a:r>
            <a:r>
              <a:rPr lang="en-US" altLang="zh-CN" dirty="0"/>
              <a:t> | </a:t>
            </a:r>
            <a:r>
              <a:rPr lang="en-US" altLang="zh-CN" b="1" dirty="0" err="1"/>
              <a:t>vpn</a:t>
            </a:r>
            <a:r>
              <a:rPr lang="en-US" altLang="zh-CN" b="1" dirty="0"/>
              <a:t>-instance</a:t>
            </a:r>
            <a:r>
              <a:rPr lang="en-US" altLang="zh-CN" dirty="0"/>
              <a:t> </a:t>
            </a:r>
            <a:r>
              <a:rPr lang="en-US" altLang="zh-CN" i="1" dirty="0" err="1"/>
              <a:t>vpn</a:t>
            </a:r>
            <a:r>
              <a:rPr lang="en-US" altLang="zh-CN" i="1" dirty="0"/>
              <a:t>-instance-name</a:t>
            </a:r>
            <a:r>
              <a:rPr lang="en-US" altLang="zh-CN" dirty="0"/>
              <a:t> ]</a:t>
            </a:r>
          </a:p>
          <a:p>
            <a:pPr lvl="1"/>
            <a:r>
              <a:rPr lang="en-US" altLang="zh-CN" b="1" dirty="0"/>
              <a:t>unicast</a:t>
            </a:r>
            <a:r>
              <a:rPr lang="zh-CN" altLang="en-US" dirty="0"/>
              <a:t>：进入</a:t>
            </a:r>
            <a:r>
              <a:rPr lang="en-US" altLang="zh-CN" dirty="0"/>
              <a:t>IPv6</a:t>
            </a:r>
            <a:r>
              <a:rPr lang="zh-CN" altLang="en-US" dirty="0"/>
              <a:t>单播地址族视图。</a:t>
            </a:r>
          </a:p>
          <a:p>
            <a:pPr lvl="1"/>
            <a:r>
              <a:rPr lang="en-US" altLang="zh-CN" b="1" dirty="0"/>
              <a:t>vpnv6</a:t>
            </a:r>
            <a:r>
              <a:rPr lang="zh-CN" altLang="en-US" dirty="0"/>
              <a:t>：进入</a:t>
            </a:r>
            <a:r>
              <a:rPr lang="en-US" altLang="zh-CN" dirty="0"/>
              <a:t>BGP-VPNv6</a:t>
            </a:r>
            <a:r>
              <a:rPr lang="zh-CN" altLang="en-US" dirty="0"/>
              <a:t>地址族视图。</a:t>
            </a:r>
          </a:p>
          <a:p>
            <a:pPr lvl="1"/>
            <a:r>
              <a:rPr lang="en-US" altLang="zh-CN" b="1" dirty="0" err="1"/>
              <a:t>vpn</a:t>
            </a:r>
            <a:r>
              <a:rPr lang="en-US" altLang="zh-CN" b="1" dirty="0"/>
              <a:t>-instance</a:t>
            </a:r>
            <a:r>
              <a:rPr lang="en-US" altLang="zh-CN" dirty="0"/>
              <a:t> </a:t>
            </a:r>
            <a:r>
              <a:rPr lang="en-US" altLang="zh-CN" i="1" dirty="0" err="1"/>
              <a:t>vpn</a:t>
            </a:r>
            <a:r>
              <a:rPr lang="en-US" altLang="zh-CN" i="1" dirty="0"/>
              <a:t>-instance-name</a:t>
            </a:r>
            <a:r>
              <a:rPr lang="zh-CN" altLang="en-US" dirty="0"/>
              <a:t>：将指定的</a:t>
            </a:r>
            <a:r>
              <a:rPr lang="en-US" altLang="zh-CN" dirty="0"/>
              <a:t>VPN</a:t>
            </a:r>
            <a:r>
              <a:rPr lang="zh-CN" altLang="en-US" dirty="0"/>
              <a:t>实例与</a:t>
            </a:r>
            <a:r>
              <a:rPr lang="en-US" altLang="zh-CN" dirty="0"/>
              <a:t>IPv6</a:t>
            </a:r>
            <a:r>
              <a:rPr lang="zh-CN" altLang="en-US" dirty="0"/>
              <a:t>地址族进行关联，进入</a:t>
            </a:r>
            <a:r>
              <a:rPr lang="en-US" altLang="zh-CN" dirty="0"/>
              <a:t>BGP-VPN</a:t>
            </a:r>
            <a:r>
              <a:rPr lang="zh-CN" altLang="en-US" dirty="0"/>
              <a:t>实例</a:t>
            </a:r>
            <a:r>
              <a:rPr lang="en-US" altLang="zh-CN" dirty="0"/>
              <a:t>IPv6</a:t>
            </a:r>
            <a:r>
              <a:rPr lang="zh-CN" altLang="en-US" dirty="0"/>
              <a:t>地址族视图。字符串形式，区分大小写，不支持空格，长度范围是</a:t>
            </a:r>
            <a:r>
              <a:rPr lang="en-US" altLang="zh-CN" dirty="0"/>
              <a:t>1</a:t>
            </a:r>
            <a:r>
              <a:rPr lang="zh-CN" altLang="en-US" dirty="0"/>
              <a:t>～</a:t>
            </a:r>
            <a:r>
              <a:rPr lang="en-US" altLang="zh-CN" dirty="0"/>
              <a:t>31</a:t>
            </a:r>
            <a:r>
              <a:rPr lang="zh-CN" altLang="en-US" dirty="0"/>
              <a:t>。当输入的字符串两端使用双引号时，可在字符串中输入空格。</a:t>
            </a:r>
          </a:p>
          <a:p>
            <a:r>
              <a:rPr lang="en-US" altLang="zh-CN" dirty="0"/>
              <a:t>[Huawei-bgp-af-ipv6] </a:t>
            </a:r>
            <a:r>
              <a:rPr lang="en-US" altLang="zh-CN" b="1" dirty="0"/>
              <a:t>network</a:t>
            </a:r>
            <a:r>
              <a:rPr lang="en-US" altLang="zh-CN" dirty="0"/>
              <a:t> </a:t>
            </a:r>
            <a:r>
              <a:rPr lang="en-US" altLang="zh-CN" i="1" dirty="0"/>
              <a:t>ipv6-address</a:t>
            </a:r>
            <a:r>
              <a:rPr lang="en-US" altLang="zh-CN" dirty="0"/>
              <a:t> </a:t>
            </a:r>
            <a:r>
              <a:rPr lang="en-US" altLang="zh-CN" i="1" dirty="0"/>
              <a:t>prefix-length</a:t>
            </a:r>
            <a:r>
              <a:rPr lang="en-US" altLang="zh-CN" dirty="0"/>
              <a:t> [ </a:t>
            </a:r>
            <a:r>
              <a:rPr lang="en-US" altLang="zh-CN" b="1" dirty="0"/>
              <a:t>route-policy</a:t>
            </a:r>
            <a:r>
              <a:rPr lang="en-US" altLang="zh-CN" dirty="0"/>
              <a:t> </a:t>
            </a:r>
            <a:r>
              <a:rPr lang="en-US" altLang="zh-CN" i="1" dirty="0"/>
              <a:t>route-policy-name</a:t>
            </a:r>
            <a:r>
              <a:rPr lang="en-US" altLang="zh-CN" dirty="0"/>
              <a:t> ]</a:t>
            </a:r>
          </a:p>
          <a:p>
            <a:pPr lvl="1"/>
            <a:r>
              <a:rPr lang="en-US" altLang="zh-CN" i="1" dirty="0"/>
              <a:t>ipv6-address</a:t>
            </a:r>
            <a:r>
              <a:rPr lang="zh-CN" altLang="en-US" dirty="0"/>
              <a:t>：指定</a:t>
            </a:r>
            <a:r>
              <a:rPr lang="en-US" altLang="zh-CN" dirty="0"/>
              <a:t>BGP</a:t>
            </a:r>
            <a:r>
              <a:rPr lang="zh-CN" altLang="en-US" dirty="0"/>
              <a:t>发布的</a:t>
            </a:r>
            <a:r>
              <a:rPr lang="en-US" altLang="zh-CN" dirty="0"/>
              <a:t>IPv6</a:t>
            </a:r>
            <a:r>
              <a:rPr lang="zh-CN" altLang="en-US" dirty="0"/>
              <a:t>网络地址。</a:t>
            </a:r>
            <a:r>
              <a:rPr lang="en-US" altLang="zh-CN" dirty="0"/>
              <a:t>32</a:t>
            </a:r>
            <a:r>
              <a:rPr lang="zh-CN" altLang="en-US" dirty="0"/>
              <a:t>位</a:t>
            </a:r>
            <a:r>
              <a:rPr lang="en-US" altLang="zh-CN" dirty="0"/>
              <a:t>16</a:t>
            </a:r>
            <a:r>
              <a:rPr lang="zh-CN" altLang="en-US" dirty="0"/>
              <a:t>进制数，格式为</a:t>
            </a:r>
            <a:r>
              <a:rPr lang="en-US" altLang="zh-CN" dirty="0"/>
              <a:t>X:X:X:X:X:X:X:X</a:t>
            </a:r>
            <a:r>
              <a:rPr lang="zh-CN" altLang="en-US" dirty="0"/>
              <a:t>。</a:t>
            </a:r>
          </a:p>
          <a:p>
            <a:pPr lvl="1"/>
            <a:r>
              <a:rPr lang="en-US" altLang="zh-CN" i="1" dirty="0"/>
              <a:t>prefix-length</a:t>
            </a:r>
            <a:r>
              <a:rPr lang="zh-CN" altLang="en-US" dirty="0"/>
              <a:t>：指定</a:t>
            </a:r>
            <a:r>
              <a:rPr lang="en-US" altLang="zh-CN" dirty="0"/>
              <a:t>BGP</a:t>
            </a:r>
            <a:r>
              <a:rPr lang="zh-CN" altLang="en-US" dirty="0"/>
              <a:t>发布的</a:t>
            </a:r>
            <a:r>
              <a:rPr lang="en-US" altLang="zh-CN" dirty="0"/>
              <a:t>IPv6</a:t>
            </a:r>
            <a:r>
              <a:rPr lang="zh-CN" altLang="en-US" dirty="0"/>
              <a:t>网络地址的前缀长度。整数形式，取值范围是</a:t>
            </a:r>
            <a:r>
              <a:rPr lang="en-US" altLang="zh-CN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128</a:t>
            </a:r>
            <a:r>
              <a:rPr lang="zh-CN" altLang="en-US" dirty="0"/>
              <a:t>。</a:t>
            </a:r>
          </a:p>
          <a:p>
            <a:pPr lvl="1"/>
            <a:r>
              <a:rPr lang="en-US" altLang="zh-CN" b="1" dirty="0"/>
              <a:t>route-policy </a:t>
            </a:r>
            <a:r>
              <a:rPr lang="en-US" altLang="zh-CN" i="1" dirty="0"/>
              <a:t>route-policy-name</a:t>
            </a:r>
            <a:r>
              <a:rPr lang="zh-CN" altLang="en-US" dirty="0"/>
              <a:t>：指定发布路由应用的</a:t>
            </a:r>
            <a:r>
              <a:rPr lang="en-US" altLang="zh-CN" dirty="0"/>
              <a:t>Route-Policy</a:t>
            </a:r>
            <a:r>
              <a:rPr lang="zh-CN" altLang="en-US" dirty="0"/>
              <a:t>。字符串形式，区分大小写，不支持空格，长度范围是</a:t>
            </a:r>
            <a:r>
              <a:rPr lang="en-US" altLang="zh-CN" dirty="0"/>
              <a:t>1</a:t>
            </a:r>
            <a:r>
              <a:rPr lang="zh-CN" altLang="en-US" dirty="0"/>
              <a:t>～</a:t>
            </a:r>
            <a:r>
              <a:rPr lang="en-US" altLang="zh-CN" dirty="0"/>
              <a:t>40</a:t>
            </a:r>
            <a:r>
              <a:rPr lang="zh-CN" altLang="en-US" dirty="0"/>
              <a:t>。当输入的字符串两端使用双引号时，可在字符串中输入空格。</a:t>
            </a:r>
          </a:p>
        </p:txBody>
      </p:sp>
      <p:sp>
        <p:nvSpPr>
          <p:cNvPr id="6" name="幻灯片图像占位符 5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365306931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43966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14186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66449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816564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36321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06885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81042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zh-CN" dirty="0"/>
              <a:t>ABD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CN" dirty="0"/>
              <a:t>A</a:t>
            </a:r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</p:spTree>
    <p:extLst>
      <p:ext uri="{BB962C8B-B14F-4D97-AF65-F5344CB8AC3E}">
        <p14:creationId xmlns:p14="http://schemas.microsoft.com/office/powerpoint/2010/main" val="412548699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851809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744538" y="717550"/>
            <a:ext cx="5556250" cy="3125788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188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fontAlgn="base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813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/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/>
        </p:nvGraphicFramePr>
        <p:xfrm>
          <a:off x="1007140" y="2920836"/>
          <a:ext cx="10177327" cy="254952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7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lang="zh-CN" altLang="en-US" sz="1599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V1.0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27" tIns="39112" rIns="78227" bIns="39112" anchor="ctr"/>
          <a:lstStyle/>
          <a:p>
            <a:pPr algn="l" defTabSz="1001223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499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3998" i="0" baseline="0" dirty="0">
                <a:solidFill>
                  <a:schemeClr val="bg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499907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499907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lang="zh-CN" altLang="en-US" sz="1599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499907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499907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800252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 bwMode="auto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auto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auto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auto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auto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auto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4191700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 bwMode="auto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eaLnBrk="1" fontAlgn="auto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auto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auto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auto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auto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学完本课程后，您将能够：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85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 bwMode="auto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auto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auto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525239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</a:p>
        </p:txBody>
      </p:sp>
    </p:spTree>
    <p:extLst>
      <p:ext uri="{BB962C8B-B14F-4D97-AF65-F5344CB8AC3E}">
        <p14:creationId xmlns:p14="http://schemas.microsoft.com/office/powerpoint/2010/main" val="1036787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1688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537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此版式用于思考题具体格式</a:t>
            </a:r>
            <a:endParaRPr lang="en-US" altLang="zh-CN" dirty="0"/>
          </a:p>
        </p:txBody>
      </p:sp>
      <p:cxnSp>
        <p:nvCxnSpPr>
          <p:cNvPr id="2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思考题</a:t>
            </a:r>
          </a:p>
        </p:txBody>
      </p:sp>
    </p:spTree>
    <p:extLst>
      <p:ext uri="{BB962C8B-B14F-4D97-AF65-F5344CB8AC3E}">
        <p14:creationId xmlns:p14="http://schemas.microsoft.com/office/powerpoint/2010/main" val="3557104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此版式用于每一节的小结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</a:p>
        </p:txBody>
      </p:sp>
    </p:spTree>
    <p:extLst>
      <p:ext uri="{BB962C8B-B14F-4D97-AF65-F5344CB8AC3E}">
        <p14:creationId xmlns:p14="http://schemas.microsoft.com/office/powerpoint/2010/main" val="32952931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auto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auto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auto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auto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auto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本章总结</a:t>
            </a:r>
          </a:p>
        </p:txBody>
      </p:sp>
    </p:spTree>
    <p:extLst>
      <p:ext uri="{BB962C8B-B14F-4D97-AF65-F5344CB8AC3E}">
        <p14:creationId xmlns:p14="http://schemas.microsoft.com/office/powerpoint/2010/main" val="1733786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cxnSp>
        <p:nvCxnSpPr>
          <p:cNvPr id="12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更多信息</a:t>
            </a:r>
          </a:p>
        </p:txBody>
      </p:sp>
    </p:spTree>
    <p:extLst>
      <p:ext uri="{BB962C8B-B14F-4D97-AF65-F5344CB8AC3E}">
        <p14:creationId xmlns:p14="http://schemas.microsoft.com/office/powerpoint/2010/main" val="1051668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</a:p>
        </p:txBody>
      </p:sp>
    </p:spTree>
    <p:extLst>
      <p:ext uri="{BB962C8B-B14F-4D97-AF65-F5344CB8AC3E}">
        <p14:creationId xmlns:p14="http://schemas.microsoft.com/office/powerpoint/2010/main" val="4259767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2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484312"/>
            <a:ext cx="11293476" cy="4443243"/>
          </a:xfrm>
          <a:prstGeom prst="rect">
            <a:avLst/>
          </a:prstGeom>
        </p:spPr>
        <p:txBody>
          <a:bodyPr/>
          <a:lstStyle>
            <a:lvl1pPr algn="just" fontAlgn="auto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649862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047750"/>
            <a:ext cx="11293475" cy="4879805"/>
          </a:xfrm>
          <a:prstGeom prst="rect">
            <a:avLst/>
          </a:prstGeom>
        </p:spPr>
        <p:txBody>
          <a:bodyPr/>
          <a:lstStyle>
            <a:lvl1pPr algn="just" fontAlgn="auto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1288804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519249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2438" y="447468"/>
            <a:ext cx="11296649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9998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697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1028299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  <p:grpSp>
        <p:nvGrpSpPr>
          <p:cNvPr id="30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32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9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007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>
          <p15:clr>
            <a:srgbClr val="F26B43"/>
          </p15:clr>
        </p15:guide>
        <p15:guide id="2" pos="574">
          <p15:clr>
            <a:srgbClr val="F26B43"/>
          </p15:clr>
        </p15:guide>
        <p15:guide id="3" orient="horz" pos="572">
          <p15:clr>
            <a:srgbClr val="F26B43"/>
          </p15:clr>
        </p15:guide>
        <p15:guide id="4" orient="horz" pos="123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29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6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096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</p:sldLayoutIdLst>
  <p:txStyles>
    <p:titleStyle>
      <a:lvl1pPr algn="l" defTabSz="914034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42">
          <p15:clr>
            <a:srgbClr val="F26B43"/>
          </p15:clr>
        </p15:guide>
        <p15:guide id="2" pos="7038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162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731">
          <p15:clr>
            <a:srgbClr val="F26B43"/>
          </p15:clr>
        </p15:guide>
        <p15:guide id="8" orient="horz" pos="867">
          <p15:clr>
            <a:srgbClr val="F26B43"/>
          </p15:clr>
        </p15:guide>
        <p15:guide id="9" orient="horz" pos="234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905" y="457499"/>
            <a:ext cx="11291061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84313"/>
            <a:ext cx="1129347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5767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</p:sldLayoutIdLst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auto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auto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auto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auto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auto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2" pos="7401">
          <p15:clr>
            <a:srgbClr val="F26B43"/>
          </p15:clr>
        </p15:guide>
        <p15:guide id="3" orient="horz" pos="234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935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278">
          <p15:clr>
            <a:srgbClr val="F26B43"/>
          </p15:clr>
        </p15:guide>
        <p15:guide id="8" orient="horz" pos="91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70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1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2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3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321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61">
          <p15:clr>
            <a:srgbClr val="F26B43"/>
          </p15:clr>
        </p15:guide>
        <p15:guide id="4" pos="71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2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0" name="文本占位符 2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 err="1"/>
              <a:t>Datacom</a:t>
            </a:r>
            <a:endParaRPr lang="zh-CN" altLang="en-US" dirty="0"/>
          </a:p>
        </p:txBody>
      </p:sp>
      <p:sp>
        <p:nvSpPr>
          <p:cNvPr id="31" name="文本占位符 30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通用</a:t>
            </a:r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zh-CN" dirty="0"/>
              <a:t>V1.0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卢玥玥</a:t>
            </a:r>
            <a:r>
              <a:rPr lang="en-US" altLang="zh-CN" dirty="0"/>
              <a:t>/WX445705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2020.06.15</a:t>
            </a:r>
            <a:endParaRPr lang="zh-CN" altLang="en-US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/>
              <a:t>朱仕耿</a:t>
            </a:r>
            <a:r>
              <a:rPr lang="en-US" altLang="zh-CN" dirty="0"/>
              <a:t>/00261992</a:t>
            </a:r>
            <a:endParaRPr lang="zh-CN" altLang="en-US" dirty="0"/>
          </a:p>
        </p:txBody>
      </p:sp>
      <p:sp>
        <p:nvSpPr>
          <p:cNvPr id="28" name="文本占位符 2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/>
              <a:t>新开发</a:t>
            </a:r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zh-CN" altLang="en-US" dirty="0"/>
              <a:t>卢玥玥</a:t>
            </a:r>
            <a:r>
              <a:rPr lang="en-US" altLang="zh-CN" dirty="0"/>
              <a:t>/WX445705</a:t>
            </a:r>
          </a:p>
        </p:txBody>
      </p:sp>
      <p:sp>
        <p:nvSpPr>
          <p:cNvPr id="34" name="文本占位符 3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zh-CN" dirty="0"/>
              <a:t>2021.08.15</a:t>
            </a:r>
            <a:endParaRPr lang="zh-CN" altLang="en-US" dirty="0"/>
          </a:p>
        </p:txBody>
      </p:sp>
      <p:sp>
        <p:nvSpPr>
          <p:cNvPr id="35" name="文本占位符 34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zh-CN" altLang="en-US" dirty="0"/>
              <a:t>何军建</a:t>
            </a:r>
            <a:r>
              <a:rPr lang="en-US" altLang="zh-CN" dirty="0"/>
              <a:t>/WX580230</a:t>
            </a:r>
            <a:endParaRPr lang="zh-CN" altLang="en-US" dirty="0"/>
          </a:p>
        </p:txBody>
      </p:sp>
      <p:sp>
        <p:nvSpPr>
          <p:cNvPr id="36" name="文本占位符 35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zh-CN" altLang="en-US" dirty="0"/>
              <a:t>优化</a:t>
            </a:r>
          </a:p>
        </p:txBody>
      </p:sp>
      <p:sp>
        <p:nvSpPr>
          <p:cNvPr id="37" name="文本占位符 36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8" name="文本占位符 37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0" name="文本占位符 39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1" name="文本占位符 40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2" name="文本占位符 41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3" name="文本占位符 42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4" name="文本占位符 43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37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IPv6</a:t>
            </a:r>
            <a:r>
              <a:rPr lang="zh-CN" altLang="en-US"/>
              <a:t>路由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3150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随着万物互联时代的到来，</a:t>
            </a:r>
            <a:r>
              <a:rPr lang="en-US" altLang="zh-CN"/>
              <a:t>IPv4</a:t>
            </a:r>
            <a:r>
              <a:rPr lang="zh-CN" altLang="en-US"/>
              <a:t>地址空间不足，</a:t>
            </a:r>
            <a:r>
              <a:rPr lang="en-US" altLang="zh-CN"/>
              <a:t>IPv6</a:t>
            </a:r>
            <a:r>
              <a:rPr lang="zh-CN" altLang="en-US"/>
              <a:t>取代</a:t>
            </a:r>
            <a:r>
              <a:rPr lang="en-US" altLang="zh-CN"/>
              <a:t>IPv4</a:t>
            </a:r>
            <a:r>
              <a:rPr lang="zh-CN" altLang="en-US"/>
              <a:t>势在必行。那么如何实现</a:t>
            </a:r>
            <a:r>
              <a:rPr lang="en-US" altLang="zh-CN"/>
              <a:t>IPv6</a:t>
            </a:r>
            <a:r>
              <a:rPr lang="zh-CN" altLang="en-US"/>
              <a:t>网络中各个节点之间的可达性呢？与</a:t>
            </a:r>
            <a:r>
              <a:rPr lang="en-US" altLang="zh-CN"/>
              <a:t>IPv4</a:t>
            </a:r>
            <a:r>
              <a:rPr lang="zh-CN" altLang="en-US"/>
              <a:t>网络相同，</a:t>
            </a:r>
            <a:r>
              <a:rPr lang="en-US" altLang="zh-CN"/>
              <a:t>IPv6</a:t>
            </a:r>
            <a:r>
              <a:rPr lang="zh-CN" altLang="en-US"/>
              <a:t>网络同样支持静态路由和动态路由协议。</a:t>
            </a:r>
            <a:endParaRPr lang="en-US" altLang="zh-CN"/>
          </a:p>
          <a:p>
            <a:r>
              <a:rPr lang="en-US" altLang="zh-CN"/>
              <a:t>IPv6</a:t>
            </a:r>
            <a:r>
              <a:rPr lang="zh-CN" altLang="en-US"/>
              <a:t>静态路由与</a:t>
            </a:r>
            <a:r>
              <a:rPr lang="en-US" altLang="zh-CN"/>
              <a:t>IPv4</a:t>
            </a:r>
            <a:r>
              <a:rPr lang="zh-CN" altLang="en-US"/>
              <a:t>静态路由在配置方式上颇为相似。为了实现对</a:t>
            </a:r>
            <a:r>
              <a:rPr lang="en-US" altLang="zh-CN"/>
              <a:t>IPv6</a:t>
            </a:r>
            <a:r>
              <a:rPr lang="zh-CN" altLang="en-US"/>
              <a:t>网络的支持，</a:t>
            </a:r>
            <a:r>
              <a:rPr lang="en-US" altLang="zh-CN"/>
              <a:t>IETF</a:t>
            </a:r>
            <a:r>
              <a:rPr lang="zh-CN" altLang="en-US"/>
              <a:t>制定了</a:t>
            </a:r>
            <a:r>
              <a:rPr lang="en-US" altLang="zh-CN"/>
              <a:t>OSPFv3</a:t>
            </a:r>
            <a:r>
              <a:rPr lang="zh-CN" altLang="en-US"/>
              <a:t>，同时对</a:t>
            </a:r>
            <a:r>
              <a:rPr lang="en-US" altLang="zh-CN"/>
              <a:t>IS-IS</a:t>
            </a:r>
            <a:r>
              <a:rPr lang="zh-CN" altLang="en-US"/>
              <a:t>、</a:t>
            </a:r>
            <a:r>
              <a:rPr lang="en-US" altLang="zh-CN"/>
              <a:t>BGP</a:t>
            </a:r>
            <a:r>
              <a:rPr lang="zh-CN" altLang="en-US"/>
              <a:t>做了扩展。</a:t>
            </a:r>
          </a:p>
          <a:p>
            <a:r>
              <a:rPr lang="zh-CN" altLang="en-US"/>
              <a:t>本课程将介绍</a:t>
            </a:r>
            <a:r>
              <a:rPr lang="en-US" altLang="zh-CN"/>
              <a:t>IPv6</a:t>
            </a:r>
            <a:r>
              <a:rPr lang="zh-CN" altLang="en-US"/>
              <a:t>静态路由的概念及配置，还会介绍常见的</a:t>
            </a:r>
            <a:r>
              <a:rPr lang="en-US" altLang="zh-CN"/>
              <a:t>IPv6</a:t>
            </a:r>
            <a:r>
              <a:rPr lang="zh-CN" altLang="en-US"/>
              <a:t>动态路由协议，包括：</a:t>
            </a:r>
            <a:r>
              <a:rPr lang="en-US" altLang="zh-CN"/>
              <a:t>OSPFv3</a:t>
            </a:r>
            <a:r>
              <a:rPr lang="zh-CN" altLang="en-US"/>
              <a:t>，</a:t>
            </a:r>
            <a:r>
              <a:rPr lang="en-US" altLang="zh-CN"/>
              <a:t>IS-IS</a:t>
            </a:r>
            <a:r>
              <a:rPr lang="zh-CN" altLang="en-US"/>
              <a:t>（</a:t>
            </a:r>
            <a:r>
              <a:rPr lang="en-US" altLang="zh-CN"/>
              <a:t>IPv6</a:t>
            </a:r>
            <a:r>
              <a:rPr lang="zh-CN" altLang="en-US"/>
              <a:t>），以及</a:t>
            </a:r>
            <a:r>
              <a:rPr lang="en-US" altLang="zh-CN"/>
              <a:t>BGP4+</a:t>
            </a:r>
            <a:r>
              <a:rPr lang="zh-CN" altLang="en-US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3553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学完本课程后，您将能够：</a:t>
            </a:r>
            <a:endParaRPr lang="en-US" altLang="zh-CN"/>
          </a:p>
          <a:p>
            <a:pPr lvl="1"/>
            <a:r>
              <a:rPr lang="zh-CN" altLang="en-US"/>
              <a:t>实现</a:t>
            </a:r>
            <a:r>
              <a:rPr lang="en-US" altLang="zh-CN"/>
              <a:t>IPv6</a:t>
            </a:r>
            <a:r>
              <a:rPr lang="zh-CN" altLang="en-US"/>
              <a:t>静态路由的配置</a:t>
            </a:r>
            <a:endParaRPr lang="en-US" altLang="zh-CN"/>
          </a:p>
          <a:p>
            <a:pPr lvl="1"/>
            <a:r>
              <a:rPr lang="zh-CN" altLang="en-US"/>
              <a:t>分析</a:t>
            </a:r>
            <a:r>
              <a:rPr lang="en-US" altLang="zh-CN"/>
              <a:t>OSPFv3</a:t>
            </a:r>
            <a:r>
              <a:rPr lang="zh-CN" altLang="en-US"/>
              <a:t>与</a:t>
            </a:r>
            <a:r>
              <a:rPr lang="en-US" altLang="zh-CN"/>
              <a:t>OSPFv2</a:t>
            </a:r>
            <a:r>
              <a:rPr lang="zh-CN" altLang="en-US"/>
              <a:t>的不同点</a:t>
            </a:r>
            <a:endParaRPr lang="en-US" altLang="zh-CN"/>
          </a:p>
          <a:p>
            <a:pPr lvl="1"/>
            <a:r>
              <a:rPr lang="zh-CN" altLang="en-US"/>
              <a:t>实现</a:t>
            </a:r>
            <a:r>
              <a:rPr lang="en-US" altLang="zh-CN"/>
              <a:t>OSPFv3</a:t>
            </a:r>
            <a:r>
              <a:rPr lang="zh-CN" altLang="en-US"/>
              <a:t>的基本配置</a:t>
            </a:r>
            <a:endParaRPr lang="en-US" altLang="zh-CN"/>
          </a:p>
          <a:p>
            <a:pPr lvl="1"/>
            <a:r>
              <a:rPr lang="zh-CN" altLang="en-US"/>
              <a:t>描述</a:t>
            </a:r>
            <a:r>
              <a:rPr lang="en-US" altLang="zh-CN"/>
              <a:t>IS-IS</a:t>
            </a:r>
            <a:r>
              <a:rPr lang="zh-CN" altLang="en-US"/>
              <a:t>对</a:t>
            </a:r>
            <a:r>
              <a:rPr lang="en-US" altLang="zh-CN"/>
              <a:t>IPv6</a:t>
            </a:r>
            <a:r>
              <a:rPr lang="zh-CN" altLang="en-US"/>
              <a:t>的扩展</a:t>
            </a:r>
            <a:endParaRPr lang="en-US" altLang="zh-CN"/>
          </a:p>
          <a:p>
            <a:pPr lvl="1"/>
            <a:r>
              <a:rPr lang="zh-CN" altLang="en-US"/>
              <a:t>实现</a:t>
            </a:r>
            <a:r>
              <a:rPr lang="en-US" altLang="zh-CN"/>
              <a:t>IS-IS</a:t>
            </a:r>
            <a:r>
              <a:rPr lang="zh-CN" altLang="en-US"/>
              <a:t>（</a:t>
            </a:r>
            <a:r>
              <a:rPr lang="en-US" altLang="zh-CN"/>
              <a:t>IPv6</a:t>
            </a:r>
            <a:r>
              <a:rPr lang="zh-CN" altLang="en-US"/>
              <a:t>）的基本配置</a:t>
            </a:r>
            <a:endParaRPr lang="en-US" altLang="zh-CN"/>
          </a:p>
          <a:p>
            <a:pPr lvl="1"/>
            <a:r>
              <a:rPr lang="zh-CN" altLang="en-US"/>
              <a:t>描述</a:t>
            </a:r>
            <a:r>
              <a:rPr lang="en-US" altLang="zh-CN"/>
              <a:t>BGP</a:t>
            </a:r>
            <a:r>
              <a:rPr lang="zh-CN" altLang="en-US"/>
              <a:t>对</a:t>
            </a:r>
            <a:r>
              <a:rPr lang="en-US" altLang="zh-CN"/>
              <a:t>IPv6</a:t>
            </a:r>
            <a:r>
              <a:rPr lang="zh-CN" altLang="en-US"/>
              <a:t>的扩展</a:t>
            </a:r>
            <a:endParaRPr lang="en-US" altLang="zh-CN"/>
          </a:p>
          <a:p>
            <a:pPr lvl="1"/>
            <a:r>
              <a:rPr lang="zh-CN" altLang="en-US"/>
              <a:t>实现</a:t>
            </a:r>
            <a:r>
              <a:rPr lang="en-US" altLang="zh-CN"/>
              <a:t>BGP4+</a:t>
            </a:r>
            <a:r>
              <a:rPr lang="zh-CN" altLang="en-US"/>
              <a:t>的基本配置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69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b="1"/>
              <a:t>IPv6</a:t>
            </a:r>
            <a:r>
              <a:rPr lang="zh-CN" altLang="en-US" b="1"/>
              <a:t>静态路由</a:t>
            </a:r>
            <a:endParaRPr lang="en-US" altLang="zh-CN" b="1"/>
          </a:p>
          <a:p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OSPFv3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原理与配置</a:t>
            </a:r>
            <a:endParaRPr lang="en-US" altLang="zh-CN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IS-IS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（</a:t>
            </a:r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）原理与配置</a:t>
            </a:r>
            <a:endParaRPr lang="en-US" altLang="zh-CN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>
                <a:solidFill>
                  <a:schemeClr val="bg1">
                    <a:lumMod val="50000"/>
                  </a:schemeClr>
                </a:solidFill>
              </a:rPr>
              <a:t>BGP4+</a:t>
            </a:r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原理与配置</a:t>
            </a:r>
            <a:endParaRPr lang="en-US" altLang="zh-CN">
              <a:solidFill>
                <a:schemeClr val="bg1">
                  <a:lumMod val="50000"/>
                </a:schemeClr>
              </a:solidFill>
            </a:endParaRPr>
          </a:p>
          <a:p>
            <a:pPr lvl="1"/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610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IPv6</a:t>
            </a:r>
            <a:r>
              <a:rPr lang="zh-CN" altLang="en-US"/>
              <a:t>静态路由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000" dirty="0"/>
              <a:t>IPv6</a:t>
            </a:r>
            <a:r>
              <a:rPr lang="zh-CN" altLang="en-US" sz="2000" dirty="0"/>
              <a:t>静态路由与</a:t>
            </a:r>
            <a:r>
              <a:rPr lang="en-US" altLang="zh-CN" sz="2000" dirty="0"/>
              <a:t>IPv4</a:t>
            </a:r>
            <a:r>
              <a:rPr lang="zh-CN" altLang="en-US" sz="2000" dirty="0"/>
              <a:t>静态路由类似，也需要管理员手工配置，适合于一些结构比较简单的</a:t>
            </a:r>
            <a:r>
              <a:rPr lang="en-US" altLang="zh-CN" sz="2000" dirty="0"/>
              <a:t>IPv6</a:t>
            </a:r>
            <a:r>
              <a:rPr lang="zh-CN" altLang="en-US" sz="2000" dirty="0"/>
              <a:t>网络。</a:t>
            </a:r>
            <a:endParaRPr lang="en-US" altLang="zh-CN" sz="2000" dirty="0"/>
          </a:p>
          <a:p>
            <a:r>
              <a:rPr lang="zh-CN" altLang="en-US" sz="2000" dirty="0"/>
              <a:t>在创建</a:t>
            </a:r>
            <a:r>
              <a:rPr lang="en-US" altLang="zh-CN" sz="2000" dirty="0"/>
              <a:t>IPv6</a:t>
            </a:r>
            <a:r>
              <a:rPr lang="zh-CN" altLang="en-US" sz="2000" dirty="0"/>
              <a:t>静态路由时，可以同时指定出接口和下一跳，或者只指定出接口或只指定下一跳。</a:t>
            </a:r>
          </a:p>
          <a:p>
            <a:pPr lvl="1"/>
            <a:r>
              <a:rPr lang="zh-CN" altLang="en-US" sz="1800" dirty="0"/>
              <a:t>对于点到点接口：指定</a:t>
            </a:r>
            <a:r>
              <a:rPr lang="zh-CN" altLang="en-US" sz="1800"/>
              <a:t>出接口（或下一跳）。</a:t>
            </a:r>
            <a:endParaRPr lang="zh-CN" altLang="en-US" sz="1800" dirty="0"/>
          </a:p>
          <a:p>
            <a:pPr lvl="1"/>
            <a:r>
              <a:rPr lang="zh-CN" altLang="en-US" sz="1800" dirty="0"/>
              <a:t>对于广播类型接口：指定下一跳。</a:t>
            </a:r>
            <a:endParaRPr lang="en-US" altLang="zh-CN" sz="1800" dirty="0"/>
          </a:p>
          <a:p>
            <a:r>
              <a:rPr lang="en-US" altLang="zh-CN" sz="2000" dirty="0"/>
              <a:t>IPv6</a:t>
            </a:r>
            <a:r>
              <a:rPr lang="zh-CN" altLang="en-US" sz="2000" dirty="0"/>
              <a:t>静态路由负载分担和备份：</a:t>
            </a:r>
            <a:endParaRPr lang="en-US" altLang="zh-CN" sz="2000" dirty="0"/>
          </a:p>
          <a:p>
            <a:pPr lvl="1"/>
            <a:r>
              <a:rPr lang="zh-CN" altLang="en-US" sz="1800" dirty="0"/>
              <a:t>在创建相同目的地址的多条</a:t>
            </a:r>
            <a:r>
              <a:rPr lang="en-US" altLang="zh-CN" sz="1800" dirty="0"/>
              <a:t>IPv6</a:t>
            </a:r>
            <a:r>
              <a:rPr lang="zh-CN" altLang="en-US" sz="1800" dirty="0"/>
              <a:t>静态路由时，如果指定相同优先级，则可实现负载分担，如果指定不同优先级，则可实现路由备份。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0911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IPv6</a:t>
            </a:r>
            <a:r>
              <a:rPr lang="zh-CN" altLang="en-US" dirty="0"/>
              <a:t>静态路由的基础配置命令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55612" y="4491607"/>
            <a:ext cx="11293475" cy="1709168"/>
          </a:xfrm>
        </p:spPr>
        <p:txBody>
          <a:bodyPr/>
          <a:lstStyle/>
          <a:p>
            <a:r>
              <a:rPr lang="zh-CN" altLang="en-US" sz="1600" dirty="0"/>
              <a:t>注意事项：</a:t>
            </a:r>
            <a:endParaRPr lang="en-US" altLang="zh-CN" sz="1600" dirty="0"/>
          </a:p>
          <a:p>
            <a:pPr lvl="1"/>
            <a:r>
              <a:rPr lang="zh-CN" altLang="en-US" sz="1400" dirty="0"/>
              <a:t>静态路由如果不配置优先级，默认优先级为</a:t>
            </a:r>
            <a:r>
              <a:rPr lang="en-US" altLang="zh-CN" sz="1400" dirty="0"/>
              <a:t>60</a:t>
            </a:r>
            <a:r>
              <a:rPr lang="zh-CN" altLang="en-US" sz="1400" dirty="0"/>
              <a:t>。</a:t>
            </a:r>
          </a:p>
          <a:p>
            <a:pPr lvl="1"/>
            <a:r>
              <a:rPr lang="zh-CN" altLang="en-US" sz="1400" dirty="0"/>
              <a:t>如果将目的地址与前缀长度都配置为全</a:t>
            </a:r>
            <a:r>
              <a:rPr lang="en-US" altLang="zh-CN" sz="1400" dirty="0"/>
              <a:t>0</a:t>
            </a:r>
            <a:r>
              <a:rPr lang="zh-CN" altLang="en-US" sz="1400" dirty="0"/>
              <a:t>（</a:t>
            </a:r>
            <a:r>
              <a:rPr lang="en-US" altLang="zh-CN" sz="1400" b="1" dirty="0">
                <a:solidFill>
                  <a:srgbClr val="C7000B"/>
                </a:solidFill>
              </a:rPr>
              <a:t>:: 0</a:t>
            </a:r>
            <a:r>
              <a:rPr lang="zh-CN" altLang="en-US" sz="1400" dirty="0"/>
              <a:t>），则表示配置的是缺省路由（</a:t>
            </a:r>
            <a:r>
              <a:rPr lang="en-US" altLang="zh-CN" sz="1400" b="1" dirty="0">
                <a:solidFill>
                  <a:srgbClr val="C7000B"/>
                </a:solidFill>
              </a:rPr>
              <a:t>::/0</a:t>
            </a:r>
            <a:r>
              <a:rPr lang="zh-CN" altLang="en-US" sz="1400" dirty="0"/>
              <a:t>）。</a:t>
            </a:r>
          </a:p>
          <a:p>
            <a:pPr lvl="1"/>
            <a:r>
              <a:rPr lang="en-US" altLang="zh-CN" sz="1400" dirty="0"/>
              <a:t>undo</a:t>
            </a:r>
            <a:r>
              <a:rPr lang="zh-CN" altLang="en-US" sz="1400" dirty="0"/>
              <a:t>命令中配置参数</a:t>
            </a:r>
            <a:r>
              <a:rPr lang="en-US" altLang="zh-CN" sz="1400" dirty="0"/>
              <a:t>permanent</a:t>
            </a:r>
            <a:r>
              <a:rPr lang="zh-CN" altLang="en-US" sz="1400" dirty="0"/>
              <a:t>时，只能取消</a:t>
            </a:r>
            <a:r>
              <a:rPr lang="en-US" altLang="zh-CN" sz="1400" dirty="0"/>
              <a:t>IPv6</a:t>
            </a:r>
            <a:r>
              <a:rPr lang="zh-CN" altLang="en-US" sz="1400" dirty="0"/>
              <a:t>静态路由永久发布，不能删除</a:t>
            </a:r>
            <a:r>
              <a:rPr lang="en-US" altLang="zh-CN" sz="1400" dirty="0"/>
              <a:t>IPv6</a:t>
            </a:r>
            <a:r>
              <a:rPr lang="zh-CN" altLang="en-US" sz="1400" dirty="0"/>
              <a:t>静态路由。</a:t>
            </a:r>
          </a:p>
        </p:txBody>
      </p:sp>
      <p:sp>
        <p:nvSpPr>
          <p:cNvPr id="4" name="矩形 3"/>
          <p:cNvSpPr/>
          <p:nvPr/>
        </p:nvSpPr>
        <p:spPr>
          <a:xfrm>
            <a:off x="1031917" y="1590981"/>
            <a:ext cx="10608699" cy="8617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cs typeface="Courier New" panose="02070309020205020404" pitchFamily="49" charset="0"/>
              </a:rPr>
              <a:t>[Huawei] </a:t>
            </a:r>
            <a:r>
              <a:rPr lang="en-US" altLang="zh-CN" sz="1600" b="1" dirty="0"/>
              <a:t>ipv6 route-static</a:t>
            </a:r>
            <a:r>
              <a:rPr lang="en-US" altLang="zh-CN" sz="1600" dirty="0"/>
              <a:t> </a:t>
            </a:r>
            <a:r>
              <a:rPr lang="en-US" altLang="zh-CN" sz="1600" i="1" dirty="0"/>
              <a:t>dest-ipv6-address</a:t>
            </a:r>
            <a:r>
              <a:rPr lang="en-US" altLang="zh-CN" sz="1600" dirty="0"/>
              <a:t> </a:t>
            </a:r>
            <a:r>
              <a:rPr lang="en-US" altLang="zh-CN" sz="1600" i="1" dirty="0"/>
              <a:t>prefix-length</a:t>
            </a:r>
            <a:r>
              <a:rPr lang="en-US" altLang="zh-CN" sz="1600" dirty="0"/>
              <a:t> { </a:t>
            </a:r>
            <a:r>
              <a:rPr lang="en-US" altLang="zh-CN" sz="1600" i="1" dirty="0"/>
              <a:t>interface-type</a:t>
            </a:r>
            <a:r>
              <a:rPr lang="en-US" altLang="zh-CN" sz="1600" dirty="0"/>
              <a:t> </a:t>
            </a:r>
            <a:r>
              <a:rPr lang="en-US" altLang="zh-CN" sz="1600" i="1" dirty="0"/>
              <a:t>interface-number</a:t>
            </a:r>
            <a:r>
              <a:rPr lang="en-US" altLang="zh-CN" sz="1600" dirty="0"/>
              <a:t> [ </a:t>
            </a:r>
            <a:r>
              <a:rPr lang="en-US" altLang="zh-CN" sz="1600" i="1" dirty="0"/>
              <a:t>nexthop-ipv6-address</a:t>
            </a:r>
            <a:r>
              <a:rPr lang="en-US" altLang="zh-CN" sz="1600" dirty="0"/>
              <a:t> ] | </a:t>
            </a:r>
            <a:r>
              <a:rPr lang="en-US" altLang="zh-CN" sz="1600" i="1" dirty="0"/>
              <a:t>nexthop-ipv6-address</a:t>
            </a:r>
            <a:r>
              <a:rPr lang="en-US" altLang="zh-CN" sz="1600" dirty="0"/>
              <a:t> | </a:t>
            </a:r>
            <a:r>
              <a:rPr lang="en-US" altLang="zh-CN" sz="1600" b="1" dirty="0" err="1"/>
              <a:t>vpn</a:t>
            </a:r>
            <a:r>
              <a:rPr lang="en-US" altLang="zh-CN" sz="1600" b="1" dirty="0"/>
              <a:t>-instance</a:t>
            </a:r>
            <a:r>
              <a:rPr lang="en-US" altLang="zh-CN" sz="1600" dirty="0"/>
              <a:t> </a:t>
            </a:r>
            <a:r>
              <a:rPr lang="en-US" altLang="zh-CN" sz="1600" i="1" dirty="0" err="1"/>
              <a:t>vpn</a:t>
            </a:r>
            <a:r>
              <a:rPr lang="en-US" altLang="zh-CN" sz="1600" i="1" dirty="0"/>
              <a:t>-destination-name</a:t>
            </a:r>
            <a:r>
              <a:rPr lang="en-US" altLang="zh-CN" sz="1600" dirty="0"/>
              <a:t> </a:t>
            </a:r>
            <a:r>
              <a:rPr lang="en-US" altLang="zh-CN" sz="1600" i="1" dirty="0"/>
              <a:t>nexthop-ipv6-address</a:t>
            </a:r>
            <a:r>
              <a:rPr lang="en-US" altLang="zh-CN" sz="1600" dirty="0"/>
              <a:t> } [ </a:t>
            </a:r>
            <a:r>
              <a:rPr lang="en-US" altLang="zh-CN" sz="1600" b="1" dirty="0"/>
              <a:t>preference</a:t>
            </a:r>
            <a:r>
              <a:rPr lang="en-US" altLang="zh-CN" sz="1600" dirty="0"/>
              <a:t> </a:t>
            </a:r>
            <a:r>
              <a:rPr lang="en-US" altLang="zh-CN" sz="1600" i="1" dirty="0"/>
              <a:t>preference</a:t>
            </a:r>
            <a:r>
              <a:rPr lang="en-US" altLang="zh-CN" sz="1600" dirty="0"/>
              <a:t>][ </a:t>
            </a:r>
            <a:r>
              <a:rPr lang="en-US" altLang="zh-CN" sz="1600" b="1" dirty="0"/>
              <a:t>permanent</a:t>
            </a:r>
            <a:r>
              <a:rPr lang="en-US" altLang="zh-CN" sz="1600" dirty="0"/>
              <a:t> | </a:t>
            </a:r>
            <a:r>
              <a:rPr lang="en-US" altLang="zh-CN" sz="1600" b="1" dirty="0"/>
              <a:t>inherit-cost</a:t>
            </a:r>
            <a:r>
              <a:rPr lang="en-US" altLang="zh-CN" sz="1600" dirty="0"/>
              <a:t> ] [ </a:t>
            </a:r>
            <a:r>
              <a:rPr lang="en-US" altLang="zh-CN" sz="1600" b="1" dirty="0"/>
              <a:t>description</a:t>
            </a:r>
            <a:r>
              <a:rPr lang="en-US" altLang="zh-CN" sz="1600" dirty="0"/>
              <a:t> </a:t>
            </a:r>
            <a:r>
              <a:rPr lang="en-US" altLang="zh-CN" sz="1600" i="1" dirty="0"/>
              <a:t>text</a:t>
            </a:r>
            <a:r>
              <a:rPr lang="en-US" altLang="zh-CN" sz="1600" dirty="0"/>
              <a:t> ]</a:t>
            </a:r>
          </a:p>
        </p:txBody>
      </p:sp>
      <p:sp>
        <p:nvSpPr>
          <p:cNvPr id="5" name="矩形 4"/>
          <p:cNvSpPr/>
          <p:nvPr/>
        </p:nvSpPr>
        <p:spPr>
          <a:xfrm>
            <a:off x="551384" y="1158834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/>
            </a:pPr>
            <a:r>
              <a:rPr lang="zh-CN" altLang="en-US" sz="1600" dirty="0">
                <a:cs typeface="Courier New" panose="02070309020205020404" pitchFamily="49" charset="0"/>
              </a:rPr>
              <a:t>在公网上配置</a:t>
            </a:r>
            <a:r>
              <a:rPr lang="en-US" altLang="zh-CN" sz="1600" dirty="0">
                <a:cs typeface="Courier New" panose="02070309020205020404" pitchFamily="49" charset="0"/>
              </a:rPr>
              <a:t>IPv6</a:t>
            </a:r>
            <a:r>
              <a:rPr lang="zh-CN" altLang="en-US" sz="1600" dirty="0">
                <a:cs typeface="Courier New" panose="02070309020205020404" pitchFamily="49" charset="0"/>
              </a:rPr>
              <a:t>静态路由。</a:t>
            </a:r>
          </a:p>
        </p:txBody>
      </p:sp>
      <p:sp>
        <p:nvSpPr>
          <p:cNvPr id="14" name="矩形 13"/>
          <p:cNvSpPr/>
          <p:nvPr/>
        </p:nvSpPr>
        <p:spPr>
          <a:xfrm>
            <a:off x="1031917" y="3114318"/>
            <a:ext cx="10608699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cs typeface="Courier New" panose="02070309020205020404" pitchFamily="49" charset="0"/>
              </a:rPr>
              <a:t>[Huawei] </a:t>
            </a:r>
            <a:r>
              <a:rPr lang="en-US" altLang="zh-CN" sz="1600" b="1" dirty="0"/>
              <a:t>ipv6 route-static </a:t>
            </a:r>
            <a:r>
              <a:rPr lang="en-US" altLang="zh-CN" sz="1600" b="1" dirty="0" err="1"/>
              <a:t>vpn</a:t>
            </a:r>
            <a:r>
              <a:rPr lang="en-US" altLang="zh-CN" sz="1600" b="1" dirty="0"/>
              <a:t>-instance</a:t>
            </a:r>
            <a:r>
              <a:rPr lang="en-US" altLang="zh-CN" sz="1600" dirty="0"/>
              <a:t> </a:t>
            </a:r>
            <a:r>
              <a:rPr lang="en-US" altLang="zh-CN" sz="1600" i="1" dirty="0" err="1"/>
              <a:t>vpn</a:t>
            </a:r>
            <a:r>
              <a:rPr lang="en-US" altLang="zh-CN" sz="1600" i="1" dirty="0"/>
              <a:t>-instance-name</a:t>
            </a:r>
            <a:r>
              <a:rPr lang="en-US" altLang="zh-CN" sz="1600" dirty="0"/>
              <a:t> </a:t>
            </a:r>
            <a:r>
              <a:rPr lang="en-US" altLang="zh-CN" sz="1600" i="1" dirty="0"/>
              <a:t>dest-ipv6-address</a:t>
            </a:r>
            <a:r>
              <a:rPr lang="en-US" altLang="zh-CN" sz="1600" dirty="0"/>
              <a:t> </a:t>
            </a:r>
            <a:r>
              <a:rPr lang="en-US" altLang="zh-CN" sz="1600" i="1" dirty="0"/>
              <a:t>prefix-length</a:t>
            </a:r>
            <a:r>
              <a:rPr lang="en-US" altLang="zh-CN" sz="1600" dirty="0"/>
              <a:t> { [ </a:t>
            </a:r>
            <a:r>
              <a:rPr lang="en-US" altLang="zh-CN" sz="1600" i="1" dirty="0"/>
              <a:t>interface-type</a:t>
            </a:r>
            <a:r>
              <a:rPr lang="en-US" altLang="zh-CN" sz="1600" dirty="0"/>
              <a:t> </a:t>
            </a:r>
            <a:r>
              <a:rPr lang="en-US" altLang="zh-CN" sz="1600" i="1" dirty="0"/>
              <a:t>interface-number</a:t>
            </a:r>
            <a:r>
              <a:rPr lang="en-US" altLang="zh-CN" sz="1600" dirty="0"/>
              <a:t> [ </a:t>
            </a:r>
            <a:r>
              <a:rPr lang="en-US" altLang="zh-CN" sz="1600" i="1" dirty="0"/>
              <a:t>nexthop-ipv6-address</a:t>
            </a:r>
            <a:r>
              <a:rPr lang="en-US" altLang="zh-CN" sz="1600" dirty="0"/>
              <a:t> ] ] | </a:t>
            </a:r>
            <a:r>
              <a:rPr lang="en-US" altLang="zh-CN" sz="1600" i="1" dirty="0"/>
              <a:t>nexthop-ipv6-address</a:t>
            </a:r>
            <a:r>
              <a:rPr lang="en-US" altLang="zh-CN" sz="1600" dirty="0"/>
              <a:t> [ </a:t>
            </a:r>
            <a:r>
              <a:rPr lang="en-US" altLang="zh-CN" sz="1600" b="1" dirty="0"/>
              <a:t>public</a:t>
            </a:r>
            <a:r>
              <a:rPr lang="en-US" altLang="zh-CN" sz="1600" dirty="0"/>
              <a:t> ] | </a:t>
            </a:r>
            <a:r>
              <a:rPr lang="en-US" altLang="zh-CN" sz="1600" b="1" dirty="0" err="1"/>
              <a:t>vpn</a:t>
            </a:r>
            <a:r>
              <a:rPr lang="en-US" altLang="zh-CN" sz="1600" b="1" dirty="0"/>
              <a:t>-instance</a:t>
            </a:r>
            <a:r>
              <a:rPr lang="en-US" altLang="zh-CN" sz="1600" dirty="0"/>
              <a:t> </a:t>
            </a:r>
            <a:r>
              <a:rPr lang="en-US" altLang="zh-CN" sz="1600" i="1" dirty="0" err="1"/>
              <a:t>vpn</a:t>
            </a:r>
            <a:r>
              <a:rPr lang="en-US" altLang="zh-CN" sz="1600" i="1" dirty="0"/>
              <a:t>-destination-name</a:t>
            </a:r>
            <a:r>
              <a:rPr lang="en-US" altLang="zh-CN" sz="1600" dirty="0"/>
              <a:t> </a:t>
            </a:r>
            <a:r>
              <a:rPr lang="en-US" altLang="zh-CN" sz="1600" i="1" dirty="0"/>
              <a:t>nexthop-ipv6-address</a:t>
            </a:r>
            <a:r>
              <a:rPr lang="en-US" altLang="zh-CN" sz="1600" dirty="0"/>
              <a:t> } [ </a:t>
            </a:r>
            <a:r>
              <a:rPr lang="en-US" altLang="zh-CN" sz="1600" b="1" dirty="0"/>
              <a:t>preference</a:t>
            </a:r>
            <a:r>
              <a:rPr lang="en-US" altLang="zh-CN" sz="1600" dirty="0"/>
              <a:t> </a:t>
            </a:r>
            <a:r>
              <a:rPr lang="en-US" altLang="zh-CN" sz="1600" i="1" dirty="0" err="1"/>
              <a:t>preference</a:t>
            </a:r>
            <a:r>
              <a:rPr lang="en-US" altLang="zh-CN" sz="1600" dirty="0"/>
              <a:t> ] [</a:t>
            </a:r>
            <a:r>
              <a:rPr lang="en-US" altLang="zh-CN" sz="1600" b="1" dirty="0"/>
              <a:t>permanent</a:t>
            </a:r>
            <a:r>
              <a:rPr lang="en-US" altLang="zh-CN" sz="1600" dirty="0"/>
              <a:t> | </a:t>
            </a:r>
            <a:r>
              <a:rPr lang="en-US" altLang="zh-CN" sz="1600" b="1" dirty="0"/>
              <a:t>inherit-cost</a:t>
            </a:r>
            <a:r>
              <a:rPr lang="en-US" altLang="zh-CN" sz="1600" dirty="0"/>
              <a:t> ] [ </a:t>
            </a:r>
            <a:r>
              <a:rPr lang="en-US" altLang="zh-CN" sz="1600" b="1" dirty="0"/>
              <a:t>description</a:t>
            </a:r>
            <a:r>
              <a:rPr lang="en-US" altLang="zh-CN" sz="1600" dirty="0"/>
              <a:t> </a:t>
            </a:r>
            <a:r>
              <a:rPr lang="en-US" altLang="zh-CN" sz="1600" i="1" dirty="0"/>
              <a:t>text</a:t>
            </a:r>
            <a:r>
              <a:rPr lang="en-US" altLang="zh-CN" sz="1600" dirty="0"/>
              <a:t> ]</a:t>
            </a:r>
          </a:p>
        </p:txBody>
      </p:sp>
      <p:sp>
        <p:nvSpPr>
          <p:cNvPr id="15" name="矩形 14"/>
          <p:cNvSpPr/>
          <p:nvPr/>
        </p:nvSpPr>
        <p:spPr>
          <a:xfrm>
            <a:off x="551384" y="2682171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2"/>
            </a:pPr>
            <a:r>
              <a:rPr lang="zh-CN" altLang="en-US" sz="1600" dirty="0">
                <a:cs typeface="Courier New" panose="02070309020205020404" pitchFamily="49" charset="0"/>
              </a:rPr>
              <a:t>在</a:t>
            </a:r>
            <a:r>
              <a:rPr lang="en-US" altLang="zh-CN" sz="1600" dirty="0">
                <a:cs typeface="Courier New" panose="02070309020205020404" pitchFamily="49" charset="0"/>
              </a:rPr>
              <a:t>VPN</a:t>
            </a:r>
            <a:r>
              <a:rPr lang="zh-CN" altLang="en-US" sz="1600" dirty="0">
                <a:cs typeface="Courier New" panose="02070309020205020404" pitchFamily="49" charset="0"/>
              </a:rPr>
              <a:t>实例下配置</a:t>
            </a:r>
            <a:r>
              <a:rPr lang="en-US" altLang="zh-CN" sz="1600" dirty="0">
                <a:cs typeface="Courier New" panose="02070309020205020404" pitchFamily="49" charset="0"/>
              </a:rPr>
              <a:t>IPv6</a:t>
            </a:r>
            <a:r>
              <a:rPr lang="zh-CN" altLang="en-US" sz="1600" dirty="0">
                <a:cs typeface="Courier New" panose="02070309020205020404" pitchFamily="49" charset="0"/>
              </a:rPr>
              <a:t>静态路由。</a:t>
            </a:r>
          </a:p>
        </p:txBody>
      </p:sp>
    </p:spTree>
    <p:extLst>
      <p:ext uri="{BB962C8B-B14F-4D97-AF65-F5344CB8AC3E}">
        <p14:creationId xmlns:p14="http://schemas.microsoft.com/office/powerpoint/2010/main" val="1768596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IPv6</a:t>
            </a:r>
            <a:r>
              <a:rPr lang="zh-CN" altLang="en-US" dirty="0"/>
              <a:t>静态路由配置举例</a:t>
            </a:r>
          </a:p>
        </p:txBody>
      </p:sp>
      <p:pic>
        <p:nvPicPr>
          <p:cNvPr id="7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594311" y="1997876"/>
            <a:ext cx="541201" cy="442800"/>
          </a:xfrm>
          <a:prstGeom prst="rect">
            <a:avLst/>
          </a:prstGeom>
          <a:noFill/>
        </p:spPr>
      </p:pic>
      <p:pic>
        <p:nvPicPr>
          <p:cNvPr id="8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4428239" y="1997876"/>
            <a:ext cx="541201" cy="442800"/>
          </a:xfrm>
          <a:prstGeom prst="rect">
            <a:avLst/>
          </a:prstGeom>
          <a:noFill/>
        </p:spPr>
      </p:pic>
      <p:cxnSp>
        <p:nvCxnSpPr>
          <p:cNvPr id="11" name="直接连接符 10"/>
          <p:cNvCxnSpPr>
            <a:stCxn id="7" idx="3"/>
            <a:endCxn id="8" idx="1"/>
          </p:cNvCxnSpPr>
          <p:nvPr/>
        </p:nvCxnSpPr>
        <p:spPr>
          <a:xfrm>
            <a:off x="2135512" y="2219276"/>
            <a:ext cx="229272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312"/>
          <p:cNvSpPr>
            <a:spLocks noChangeArrowheads="1"/>
          </p:cNvSpPr>
          <p:nvPr/>
        </p:nvSpPr>
        <p:spPr bwMode="auto">
          <a:xfrm>
            <a:off x="1565560" y="1757087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R1</a:t>
            </a:r>
          </a:p>
        </p:txBody>
      </p:sp>
      <p:sp>
        <p:nvSpPr>
          <p:cNvPr id="15" name="Rectangle 312"/>
          <p:cNvSpPr>
            <a:spLocks noChangeArrowheads="1"/>
          </p:cNvSpPr>
          <p:nvPr/>
        </p:nvSpPr>
        <p:spPr bwMode="auto">
          <a:xfrm>
            <a:off x="4400787" y="1757157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R2</a:t>
            </a:r>
          </a:p>
        </p:txBody>
      </p:sp>
      <p:sp>
        <p:nvSpPr>
          <p:cNvPr id="18" name="Rectangle 312"/>
          <p:cNvSpPr>
            <a:spLocks noChangeArrowheads="1"/>
          </p:cNvSpPr>
          <p:nvPr/>
        </p:nvSpPr>
        <p:spPr bwMode="auto">
          <a:xfrm>
            <a:off x="1956659" y="1971745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sp>
        <p:nvSpPr>
          <p:cNvPr id="19" name="Rectangle 312"/>
          <p:cNvSpPr>
            <a:spLocks noChangeArrowheads="1"/>
          </p:cNvSpPr>
          <p:nvPr/>
        </p:nvSpPr>
        <p:spPr bwMode="auto">
          <a:xfrm>
            <a:off x="3632064" y="2186403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704941"/>
              </p:ext>
            </p:extLst>
          </p:nvPr>
        </p:nvGraphicFramePr>
        <p:xfrm>
          <a:off x="1072566" y="2925877"/>
          <a:ext cx="4680000" cy="1524000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设备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接口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IPv6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2001:DB8:2345:12::1/64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Loopback0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2001:DB8:2345:1::1/128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2001:DB8:2345:12::2/64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Loopback0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2001:DB8:2345:2::2/128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文本占位符 2"/>
          <p:cNvSpPr txBox="1">
            <a:spLocks/>
          </p:cNvSpPr>
          <p:nvPr/>
        </p:nvSpPr>
        <p:spPr bwMode="auto">
          <a:xfrm>
            <a:off x="469727" y="4473821"/>
            <a:ext cx="5627683" cy="1709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800" dirty="0"/>
              <a:t>场景描述：</a:t>
            </a:r>
            <a:endParaRPr lang="en-US" altLang="zh-CN" sz="1800" dirty="0"/>
          </a:p>
          <a:p>
            <a:pPr lvl="1"/>
            <a:r>
              <a:rPr lang="zh-CN" altLang="en-US" sz="1600" dirty="0"/>
              <a:t>某公司网络部署了</a:t>
            </a:r>
            <a:r>
              <a:rPr lang="en-US" altLang="zh-CN" sz="1600" dirty="0"/>
              <a:t>IPv6</a:t>
            </a:r>
            <a:r>
              <a:rPr lang="zh-CN" altLang="en-US" sz="1600" dirty="0"/>
              <a:t>网络进行业务测试，在部署初期，通过静态路由实现</a:t>
            </a:r>
            <a:r>
              <a:rPr lang="en-US" altLang="zh-CN" sz="1600" dirty="0"/>
              <a:t>IPv6</a:t>
            </a:r>
            <a:r>
              <a:rPr lang="zh-CN" altLang="en-US" sz="1600" dirty="0"/>
              <a:t>网络的互联互通。</a:t>
            </a:r>
            <a:endParaRPr lang="en-US" altLang="zh-CN" sz="1600" dirty="0"/>
          </a:p>
          <a:p>
            <a:pPr lvl="1"/>
            <a:r>
              <a:rPr lang="zh-CN" altLang="en-US" sz="1600" dirty="0"/>
              <a:t>实现</a:t>
            </a:r>
            <a:r>
              <a:rPr lang="en-US" altLang="zh-CN" sz="1600" dirty="0"/>
              <a:t>R1</a:t>
            </a:r>
            <a:r>
              <a:rPr lang="zh-CN" altLang="en-US" sz="1600" dirty="0"/>
              <a:t>和</a:t>
            </a:r>
            <a:r>
              <a:rPr lang="en-US" altLang="zh-CN" sz="1600" dirty="0"/>
              <a:t>R2</a:t>
            </a:r>
            <a:r>
              <a:rPr lang="zh-CN" altLang="en-US" sz="1600" dirty="0"/>
              <a:t>的</a:t>
            </a:r>
            <a:r>
              <a:rPr lang="en-US" altLang="zh-CN" sz="1600" dirty="0"/>
              <a:t>Loopback0</a:t>
            </a:r>
            <a:r>
              <a:rPr lang="zh-CN" altLang="en-US" sz="1600" dirty="0"/>
              <a:t>接口地址互通。</a:t>
            </a:r>
            <a:endParaRPr lang="en-US" altLang="zh-CN" sz="1600" dirty="0"/>
          </a:p>
        </p:txBody>
      </p:sp>
      <p:sp>
        <p:nvSpPr>
          <p:cNvPr id="34" name="文本框 36"/>
          <p:cNvSpPr txBox="1"/>
          <p:nvPr/>
        </p:nvSpPr>
        <p:spPr>
          <a:xfrm>
            <a:off x="6095999" y="1870178"/>
            <a:ext cx="5640805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[R1] ipv6 route-static 2001:DB8:2345:2::2 128 2001:DB8:2345:12::2</a:t>
            </a:r>
          </a:p>
        </p:txBody>
      </p:sp>
      <p:sp>
        <p:nvSpPr>
          <p:cNvPr id="35" name="文本框 37"/>
          <p:cNvSpPr txBox="1"/>
          <p:nvPr/>
        </p:nvSpPr>
        <p:spPr>
          <a:xfrm>
            <a:off x="6101223" y="1193440"/>
            <a:ext cx="39741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</a:rPr>
              <a:t>1</a:t>
            </a:r>
            <a:r>
              <a:rPr lang="zh-CN" altLang="en-US" sz="1600" dirty="0">
                <a:solidFill>
                  <a:prstClr val="black"/>
                </a:solidFill>
              </a:rPr>
              <a:t>、配置各路由器接口的</a:t>
            </a:r>
            <a:r>
              <a:rPr lang="en-US" altLang="zh-CN" sz="1600" dirty="0">
                <a:solidFill>
                  <a:prstClr val="black"/>
                </a:solidFill>
              </a:rPr>
              <a:t>IPv6</a:t>
            </a:r>
            <a:r>
              <a:rPr lang="zh-CN" altLang="en-US" sz="1600" dirty="0">
                <a:solidFill>
                  <a:prstClr val="black"/>
                </a:solidFill>
              </a:rPr>
              <a:t>地址。（略）</a:t>
            </a:r>
          </a:p>
        </p:txBody>
      </p:sp>
      <p:sp>
        <p:nvSpPr>
          <p:cNvPr id="36" name="文本框 38"/>
          <p:cNvSpPr txBox="1"/>
          <p:nvPr/>
        </p:nvSpPr>
        <p:spPr>
          <a:xfrm>
            <a:off x="6101223" y="1548637"/>
            <a:ext cx="23326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</a:rPr>
              <a:t>2</a:t>
            </a:r>
            <a:r>
              <a:rPr lang="zh-CN" altLang="en-US" sz="1600" dirty="0">
                <a:solidFill>
                  <a:prstClr val="black"/>
                </a:solidFill>
              </a:rPr>
              <a:t>、配置</a:t>
            </a:r>
            <a:r>
              <a:rPr lang="en-US" altLang="zh-CN" sz="1600" dirty="0">
                <a:solidFill>
                  <a:prstClr val="black"/>
                </a:solidFill>
              </a:rPr>
              <a:t>IPv6</a:t>
            </a:r>
            <a:r>
              <a:rPr lang="zh-CN" altLang="en-US" sz="1600" dirty="0">
                <a:solidFill>
                  <a:prstClr val="black"/>
                </a:solidFill>
              </a:rPr>
              <a:t>静态路由。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6095999" y="2221886"/>
            <a:ext cx="5640805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[R2] ipv6 route-static 2001:DB8:2345:1::1 128 2001:DB8:2345:12::1</a:t>
            </a:r>
          </a:p>
        </p:txBody>
      </p:sp>
      <p:sp>
        <p:nvSpPr>
          <p:cNvPr id="38" name="文本框 36"/>
          <p:cNvSpPr txBox="1"/>
          <p:nvPr/>
        </p:nvSpPr>
        <p:spPr>
          <a:xfrm>
            <a:off x="6101223" y="2954910"/>
            <a:ext cx="5644690" cy="32316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[R1] </a:t>
            </a:r>
            <a:r>
              <a:rPr lang="en-US" altLang="zh-CN" sz="1200" dirty="0">
                <a:solidFill>
                  <a:srgbClr val="C7000B"/>
                </a:solidFill>
                <a:cs typeface="Courier New" panose="02070309020205020404" pitchFamily="49" charset="0"/>
              </a:rPr>
              <a:t>ping ipv6 2001:DB8:2345:2::2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PING 2001:DB8:2345:2::2 : 56  data bytes, press CTRL_C to break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Reply from 2001:DB8:2345:2::2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bytes=56 Sequence=1 hop limit=64  time = 90 </a:t>
            </a:r>
            <a:r>
              <a:rPr lang="en-US" altLang="zh-CN" sz="1200" dirty="0" err="1">
                <a:solidFill>
                  <a:prstClr val="black"/>
                </a:solidFill>
                <a:cs typeface="Courier New" panose="02070309020205020404" pitchFamily="49" charset="0"/>
              </a:rPr>
              <a:t>ms</a:t>
            </a:r>
            <a:endParaRPr lang="en-US" altLang="zh-CN" sz="12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Reply from 2001:DB8:2345:2::2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bytes=56 Sequence=2 hop limit=64  time = 20 </a:t>
            </a:r>
            <a:r>
              <a:rPr lang="en-US" altLang="zh-CN" sz="1200" dirty="0" err="1">
                <a:solidFill>
                  <a:prstClr val="black"/>
                </a:solidFill>
                <a:cs typeface="Courier New" panose="02070309020205020404" pitchFamily="49" charset="0"/>
              </a:rPr>
              <a:t>ms</a:t>
            </a:r>
            <a:endParaRPr lang="en-US" altLang="zh-CN" sz="12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Reply from 2001:DB8:2345:2::2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bytes=56 Sequence=3 hop limit=64  time = 20 </a:t>
            </a:r>
            <a:r>
              <a:rPr lang="en-US" altLang="zh-CN" sz="1200" dirty="0" err="1">
                <a:solidFill>
                  <a:prstClr val="black"/>
                </a:solidFill>
                <a:cs typeface="Courier New" panose="02070309020205020404" pitchFamily="49" charset="0"/>
              </a:rPr>
              <a:t>ms</a:t>
            </a:r>
            <a:endParaRPr lang="en-US" altLang="zh-CN" sz="12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Reply from 2001:DB8:2345:2::2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bytes=56 Sequence=4 hop limit=64  time = 20 </a:t>
            </a:r>
            <a:r>
              <a:rPr lang="en-US" altLang="zh-CN" sz="1200" dirty="0" err="1">
                <a:solidFill>
                  <a:prstClr val="black"/>
                </a:solidFill>
                <a:cs typeface="Courier New" panose="02070309020205020404" pitchFamily="49" charset="0"/>
              </a:rPr>
              <a:t>ms</a:t>
            </a:r>
            <a:endParaRPr lang="en-US" altLang="zh-CN" sz="12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Reply from 2001:DB8:2345:2::2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bytes=56 Sequence=5 hop limit=64  time = 20 </a:t>
            </a:r>
            <a:r>
              <a:rPr lang="en-US" altLang="zh-CN" sz="1200" dirty="0" err="1">
                <a:solidFill>
                  <a:prstClr val="black"/>
                </a:solidFill>
                <a:cs typeface="Courier New" panose="02070309020205020404" pitchFamily="49" charset="0"/>
              </a:rPr>
              <a:t>ms</a:t>
            </a:r>
            <a:endParaRPr lang="en-US" altLang="zh-CN" sz="12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--- 2001:DB8:2345:2::2 ping statistics ---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5 packet(s) transmitted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5 packet(s) received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0.00% packet loss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round-trip min/</a:t>
            </a:r>
            <a:r>
              <a:rPr lang="en-US" altLang="zh-CN" sz="1200" dirty="0" err="1">
                <a:solidFill>
                  <a:prstClr val="black"/>
                </a:solidFill>
                <a:cs typeface="Courier New" panose="02070309020205020404" pitchFamily="49" charset="0"/>
              </a:rPr>
              <a:t>avg</a:t>
            </a: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/max = 20/34/90 </a:t>
            </a:r>
            <a:r>
              <a:rPr lang="en-US" altLang="zh-CN" sz="1200" dirty="0" err="1">
                <a:solidFill>
                  <a:prstClr val="black"/>
                </a:solidFill>
                <a:cs typeface="Courier New" panose="02070309020205020404" pitchFamily="49" charset="0"/>
              </a:rPr>
              <a:t>ms</a:t>
            </a:r>
            <a:endParaRPr lang="en-US" altLang="zh-CN" sz="1200" dirty="0">
              <a:solidFill>
                <a:prstClr val="black"/>
              </a:solidFill>
              <a:cs typeface="Courier New" panose="02070309020205020404" pitchFamily="49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101223" y="2633369"/>
            <a:ext cx="2537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</a:rPr>
              <a:t>3</a:t>
            </a:r>
            <a:r>
              <a:rPr lang="zh-CN" altLang="en-US" sz="1600" dirty="0">
                <a:solidFill>
                  <a:prstClr val="black"/>
                </a:solidFill>
              </a:rPr>
              <a:t>、测试</a:t>
            </a:r>
            <a:r>
              <a:rPr lang="en-US" altLang="zh-CN" sz="1600" dirty="0">
                <a:solidFill>
                  <a:prstClr val="black"/>
                </a:solidFill>
              </a:rPr>
              <a:t>IPv6</a:t>
            </a:r>
            <a:r>
              <a:rPr lang="zh-CN" altLang="en-US" sz="1600" dirty="0">
                <a:solidFill>
                  <a:prstClr val="black"/>
                </a:solidFill>
              </a:rPr>
              <a:t>网络连通性。</a:t>
            </a:r>
          </a:p>
        </p:txBody>
      </p:sp>
    </p:spTree>
    <p:extLst>
      <p:ext uri="{BB962C8B-B14F-4D97-AF65-F5344CB8AC3E}">
        <p14:creationId xmlns:p14="http://schemas.microsoft.com/office/powerpoint/2010/main" val="210066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静态路由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b="1" dirty="0"/>
              <a:t>OSPFv3</a:t>
            </a:r>
            <a:r>
              <a:rPr lang="zh-CN" altLang="en-US" b="1" dirty="0"/>
              <a:t>原理与配置</a:t>
            </a:r>
            <a:endParaRPr lang="en-US" altLang="zh-CN" b="1" dirty="0"/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/>
              <a:t>OSPFv3</a:t>
            </a:r>
            <a:r>
              <a:rPr lang="zh-CN" altLang="en-US" dirty="0"/>
              <a:t>的基本工作原理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OSPFv3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的基本配置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IS-IS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（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）原理与配置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BGP4+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7555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OSPFv3</a:t>
            </a:r>
            <a:r>
              <a:rPr lang="zh-CN" altLang="en-US"/>
              <a:t>概述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000" dirty="0"/>
              <a:t>OSPF</a:t>
            </a:r>
            <a:r>
              <a:rPr lang="zh-CN" altLang="en-US" sz="2000" dirty="0"/>
              <a:t>是</a:t>
            </a:r>
            <a:r>
              <a:rPr lang="en-US" altLang="zh-CN" sz="2000" dirty="0"/>
              <a:t>IETF</a:t>
            </a:r>
            <a:r>
              <a:rPr lang="zh-CN" altLang="en-US" sz="2000" dirty="0"/>
              <a:t>定义的一种基于链路状态的内部网关路由协议。目前针对</a:t>
            </a:r>
            <a:r>
              <a:rPr lang="en-US" altLang="zh-CN" sz="2000" dirty="0"/>
              <a:t>IPv4</a:t>
            </a:r>
            <a:r>
              <a:rPr lang="zh-CN" altLang="en-US" sz="2000" dirty="0"/>
              <a:t>协议使用的是</a:t>
            </a:r>
            <a:r>
              <a:rPr lang="en-US" altLang="zh-CN" sz="2000" dirty="0"/>
              <a:t>OSPF Version 2</a:t>
            </a:r>
            <a:r>
              <a:rPr lang="zh-CN" altLang="en-US" sz="2000" dirty="0"/>
              <a:t>（</a:t>
            </a:r>
            <a:r>
              <a:rPr lang="en-US" altLang="zh-CN" sz="2000" dirty="0"/>
              <a:t>OSPFv2</a:t>
            </a:r>
            <a:r>
              <a:rPr lang="zh-CN" altLang="en-US" sz="2000" dirty="0"/>
              <a:t>），针对</a:t>
            </a:r>
            <a:r>
              <a:rPr lang="en-US" altLang="zh-CN" sz="2000" dirty="0"/>
              <a:t>IPv6</a:t>
            </a:r>
            <a:r>
              <a:rPr lang="zh-CN" altLang="en-US" sz="2000" dirty="0"/>
              <a:t>协议使用</a:t>
            </a:r>
            <a:r>
              <a:rPr lang="en-US" altLang="zh-CN" sz="2000" dirty="0"/>
              <a:t>OSPF Version 3</a:t>
            </a:r>
            <a:r>
              <a:rPr lang="zh-CN" altLang="en-US" sz="2000" dirty="0"/>
              <a:t>（</a:t>
            </a:r>
            <a:r>
              <a:rPr lang="en-US" altLang="zh-CN" sz="2000" dirty="0"/>
              <a:t>OSPFv3</a:t>
            </a:r>
            <a:r>
              <a:rPr lang="zh-CN" altLang="en-US" sz="2000" dirty="0"/>
              <a:t>）。</a:t>
            </a:r>
          </a:p>
          <a:p>
            <a:r>
              <a:rPr lang="en-US" altLang="zh-CN" sz="2000" dirty="0"/>
              <a:t>OSPFv3</a:t>
            </a:r>
            <a:r>
              <a:rPr lang="zh-CN" altLang="en-US" sz="2000" dirty="0"/>
              <a:t>的主要目的是开发一种独立于任何具体网络层的路由协议。为实现这一目的，</a:t>
            </a:r>
            <a:r>
              <a:rPr lang="en-US" altLang="zh-CN" sz="2000" dirty="0"/>
              <a:t>OSPFv3</a:t>
            </a:r>
            <a:r>
              <a:rPr lang="zh-CN" altLang="en-US" sz="2000" dirty="0"/>
              <a:t>的内部路由器信息被重新进行了设计。</a:t>
            </a:r>
          </a:p>
        </p:txBody>
      </p:sp>
      <p:sp>
        <p:nvSpPr>
          <p:cNvPr id="10" name="五边形 9"/>
          <p:cNvSpPr/>
          <p:nvPr/>
        </p:nvSpPr>
        <p:spPr bwMode="auto">
          <a:xfrm>
            <a:off x="8753159" y="92882"/>
            <a:ext cx="781200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11" name="燕尾形 10"/>
          <p:cNvSpPr/>
          <p:nvPr/>
        </p:nvSpPr>
        <p:spPr bwMode="auto">
          <a:xfrm>
            <a:off x="9451802" y="92882"/>
            <a:ext cx="90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燕尾形 11"/>
          <p:cNvSpPr/>
          <p:nvPr/>
        </p:nvSpPr>
        <p:spPr bwMode="auto">
          <a:xfrm>
            <a:off x="10269245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燕尾形 12"/>
          <p:cNvSpPr/>
          <p:nvPr/>
        </p:nvSpPr>
        <p:spPr bwMode="auto">
          <a:xfrm>
            <a:off x="10967888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  <p:grpSp>
        <p:nvGrpSpPr>
          <p:cNvPr id="8" name="组合 7"/>
          <p:cNvGrpSpPr/>
          <p:nvPr/>
        </p:nvGrpSpPr>
        <p:grpSpPr bwMode="gray">
          <a:xfrm>
            <a:off x="6398288" y="3244104"/>
            <a:ext cx="4032448" cy="1537959"/>
            <a:chOff x="2135560" y="3789040"/>
            <a:chExt cx="4032448" cy="1537959"/>
          </a:xfrm>
        </p:grpSpPr>
        <p:sp>
          <p:nvSpPr>
            <p:cNvPr id="9" name="文本框 8"/>
            <p:cNvSpPr txBox="1"/>
            <p:nvPr/>
          </p:nvSpPr>
          <p:spPr bwMode="gray">
            <a:xfrm>
              <a:off x="2135560" y="4941168"/>
              <a:ext cx="4032448" cy="3858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75000"/>
                </a:schemeClr>
              </a:solidFill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en-US"/>
              </a:defPPr>
              <a:lvl1pPr algn="ctr">
                <a:defRPr sz="1600"/>
              </a:lvl1pPr>
            </a:lstStyle>
            <a:p>
              <a:r>
                <a:rPr lang="zh-CN" altLang="en-US" dirty="0">
                  <a:solidFill>
                    <a:schemeClr val="bg1">
                      <a:lumMod val="50000"/>
                    </a:schemeClr>
                  </a:solidFill>
                </a:rPr>
                <a:t>数据链路层</a:t>
              </a:r>
            </a:p>
          </p:txBody>
        </p:sp>
        <p:sp>
          <p:nvSpPr>
            <p:cNvPr id="14" name="文本框 13"/>
            <p:cNvSpPr txBox="1"/>
            <p:nvPr/>
          </p:nvSpPr>
          <p:spPr bwMode="gray">
            <a:xfrm>
              <a:off x="2135560" y="4365104"/>
              <a:ext cx="1944216" cy="385831"/>
            </a:xfrm>
            <a:prstGeom prst="rect">
              <a:avLst/>
            </a:prstGeom>
            <a:solidFill>
              <a:srgbClr val="ECF9FA"/>
            </a:solidFill>
            <a:ln w="19050">
              <a:solidFill>
                <a:srgbClr val="94DAE2"/>
              </a:solidFill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en-US"/>
              </a:defPPr>
              <a:lvl1pPr algn="ctr">
                <a:defRPr sz="1600"/>
              </a:lvl1pPr>
            </a:lstStyle>
            <a:p>
              <a:r>
                <a:rPr lang="en-US" altLang="zh-CN">
                  <a:solidFill>
                    <a:schemeClr val="bg1">
                      <a:lumMod val="50000"/>
                    </a:schemeClr>
                  </a:solidFill>
                </a:rPr>
                <a:t>IPv4</a:t>
              </a:r>
              <a:endParaRPr lang="zh-CN" altLang="en-US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" name="文本框 14"/>
            <p:cNvSpPr txBox="1"/>
            <p:nvPr/>
          </p:nvSpPr>
          <p:spPr bwMode="gray">
            <a:xfrm>
              <a:off x="4223792" y="4365104"/>
              <a:ext cx="1944216" cy="385831"/>
            </a:xfrm>
            <a:prstGeom prst="rect">
              <a:avLst/>
            </a:prstGeom>
            <a:solidFill>
              <a:srgbClr val="FEF5DA"/>
            </a:solidFill>
            <a:ln w="19050">
              <a:solidFill>
                <a:srgbClr val="FDE397"/>
              </a:solidFill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en-US"/>
              </a:defPPr>
              <a:lvl1pPr algn="ctr">
                <a:defRPr sz="1600"/>
              </a:lvl1pPr>
            </a:lstStyle>
            <a:p>
              <a:r>
                <a:rPr lang="en-US" altLang="zh-CN"/>
                <a:t>IPv6</a:t>
              </a:r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 bwMode="gray">
            <a:xfrm>
              <a:off x="2135560" y="3789040"/>
              <a:ext cx="1944216" cy="385831"/>
            </a:xfrm>
            <a:prstGeom prst="rect">
              <a:avLst/>
            </a:prstGeom>
            <a:solidFill>
              <a:srgbClr val="ECF9FA"/>
            </a:solidFill>
            <a:ln w="19050">
              <a:solidFill>
                <a:srgbClr val="94DAE2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</a:rPr>
                <a:t>OSPFv2</a:t>
              </a:r>
              <a:endParaRPr lang="zh-CN" altLang="en-US" sz="1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" name="文本框 16"/>
            <p:cNvSpPr txBox="1"/>
            <p:nvPr/>
          </p:nvSpPr>
          <p:spPr bwMode="gray">
            <a:xfrm>
              <a:off x="4223792" y="3789040"/>
              <a:ext cx="1944216" cy="385831"/>
            </a:xfrm>
            <a:prstGeom prst="rect">
              <a:avLst/>
            </a:prstGeom>
            <a:solidFill>
              <a:srgbClr val="FEF5DA"/>
            </a:solidFill>
            <a:ln w="19050">
              <a:solidFill>
                <a:srgbClr val="FDE397"/>
              </a:solidFill>
            </a:ln>
          </p:spPr>
          <p:txBody>
            <a:bodyPr wrap="none" lIns="0" tIns="0" rIns="0" bIns="0" rtlCol="0" anchor="ctr" anchorCtr="0">
              <a:noAutofit/>
            </a:bodyPr>
            <a:lstStyle>
              <a:defPPr>
                <a:defRPr lang="en-US"/>
              </a:defPPr>
              <a:lvl1pPr algn="ctr">
                <a:defRPr sz="1600"/>
              </a:lvl1pPr>
            </a:lstStyle>
            <a:p>
              <a:r>
                <a:rPr lang="en-US" altLang="zh-CN" b="1"/>
                <a:t>OSPFv3</a:t>
              </a:r>
              <a:endParaRPr lang="zh-CN" altLang="en-US" b="1"/>
            </a:p>
          </p:txBody>
        </p:sp>
      </p:grpSp>
      <p:sp>
        <p:nvSpPr>
          <p:cNvPr id="18" name="文本占位符 2"/>
          <p:cNvSpPr txBox="1">
            <a:spLocks/>
          </p:cNvSpPr>
          <p:nvPr/>
        </p:nvSpPr>
        <p:spPr bwMode="auto">
          <a:xfrm>
            <a:off x="6178557" y="4940569"/>
            <a:ext cx="4524918" cy="768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/>
              <a:t>OSPFv2</a:t>
            </a:r>
            <a:r>
              <a:rPr lang="zh-CN" altLang="en-US" sz="1600" dirty="0"/>
              <a:t>是运行在</a:t>
            </a:r>
            <a:r>
              <a:rPr lang="en-US" altLang="zh-CN" sz="1600" dirty="0"/>
              <a:t>IPv4</a:t>
            </a:r>
            <a:r>
              <a:rPr lang="zh-CN" altLang="en-US" sz="1600" dirty="0"/>
              <a:t>上的</a:t>
            </a:r>
            <a:r>
              <a:rPr lang="en-US" altLang="zh-CN" sz="1600" dirty="0"/>
              <a:t>IGP</a:t>
            </a:r>
            <a:r>
              <a:rPr lang="zh-CN" altLang="en-US" sz="1600" dirty="0"/>
              <a:t>路由协议；</a:t>
            </a:r>
            <a:r>
              <a:rPr lang="en-US" altLang="zh-CN" sz="1600" dirty="0"/>
              <a:t>OSPFv3</a:t>
            </a:r>
            <a:r>
              <a:rPr lang="zh-CN" altLang="en-US" sz="1600" dirty="0"/>
              <a:t>是运行在</a:t>
            </a:r>
            <a:r>
              <a:rPr lang="en-US" altLang="zh-CN" sz="1600" dirty="0"/>
              <a:t>IPv6</a:t>
            </a:r>
            <a:r>
              <a:rPr lang="zh-CN" altLang="en-US" sz="1600" dirty="0"/>
              <a:t>上的</a:t>
            </a:r>
            <a:r>
              <a:rPr lang="en-US" altLang="zh-CN" sz="1600" dirty="0"/>
              <a:t>IGP</a:t>
            </a:r>
            <a:r>
              <a:rPr lang="zh-CN" altLang="en-US" sz="1600" dirty="0"/>
              <a:t>路由协议。两者并不兼容。</a:t>
            </a:r>
          </a:p>
        </p:txBody>
      </p:sp>
    </p:spTree>
    <p:extLst>
      <p:ext uri="{BB962C8B-B14F-4D97-AF65-F5344CB8AC3E}">
        <p14:creationId xmlns:p14="http://schemas.microsoft.com/office/powerpoint/2010/main" val="86746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OSPFv3</a:t>
            </a:r>
            <a:r>
              <a:rPr lang="zh-CN" altLang="en-US"/>
              <a:t>与</a:t>
            </a:r>
            <a:r>
              <a:rPr lang="en-US" altLang="zh-CN"/>
              <a:t>OSPFv2</a:t>
            </a:r>
            <a:r>
              <a:rPr lang="zh-CN" altLang="en-US"/>
              <a:t>的相同点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000" dirty="0"/>
              <a:t>OSPF</a:t>
            </a:r>
            <a:r>
              <a:rPr lang="zh-CN" altLang="en-US" sz="2000" dirty="0"/>
              <a:t>的基本运行机制没有改变，包括：</a:t>
            </a:r>
            <a:endParaRPr lang="en-US" altLang="zh-CN" sz="2000" dirty="0"/>
          </a:p>
          <a:p>
            <a:pPr lvl="1"/>
            <a:r>
              <a:rPr lang="zh-CN" altLang="en-US" sz="1800" dirty="0"/>
              <a:t>基本概念：</a:t>
            </a:r>
            <a:endParaRPr lang="en-US" altLang="zh-CN" sz="1800" dirty="0"/>
          </a:p>
          <a:p>
            <a:pPr lvl="2"/>
            <a:r>
              <a:rPr lang="zh-CN" altLang="en-US" sz="1600" dirty="0"/>
              <a:t>区域划分及路由器类型</a:t>
            </a:r>
            <a:endParaRPr lang="en-US" altLang="zh-CN" sz="1600" dirty="0"/>
          </a:p>
          <a:p>
            <a:pPr lvl="2"/>
            <a:r>
              <a:rPr lang="zh-CN" altLang="en-US" sz="1600" dirty="0"/>
              <a:t>路由计算影响参数：优先级、度量值</a:t>
            </a:r>
            <a:endParaRPr lang="en-US" altLang="zh-CN" sz="1600" dirty="0"/>
          </a:p>
          <a:p>
            <a:pPr lvl="2"/>
            <a:r>
              <a:rPr lang="zh-CN" altLang="en-US" sz="1600" dirty="0"/>
              <a:t>支持的网络类型：</a:t>
            </a:r>
            <a:r>
              <a:rPr lang="en-US" altLang="zh-CN" sz="1600" dirty="0"/>
              <a:t>Broadcast</a:t>
            </a:r>
            <a:r>
              <a:rPr lang="zh-CN" altLang="en-US" sz="1600" dirty="0"/>
              <a:t>（广播类型）、</a:t>
            </a:r>
            <a:r>
              <a:rPr lang="en-US" altLang="zh-CN" sz="1600" dirty="0"/>
              <a:t>NBMA</a:t>
            </a:r>
            <a:r>
              <a:rPr lang="zh-CN" altLang="en-US" sz="1600" dirty="0"/>
              <a:t>、</a:t>
            </a:r>
            <a:r>
              <a:rPr lang="en-US" altLang="zh-CN" sz="1600" dirty="0"/>
              <a:t>P2P</a:t>
            </a:r>
            <a:r>
              <a:rPr lang="zh-CN" altLang="en-US" sz="1600" dirty="0"/>
              <a:t>（点到点类型）、</a:t>
            </a:r>
            <a:r>
              <a:rPr lang="en-US" altLang="zh-CN" sz="1600" dirty="0"/>
              <a:t>P2MP</a:t>
            </a:r>
            <a:r>
              <a:rPr lang="zh-CN" altLang="en-US" sz="1600" dirty="0"/>
              <a:t>（点到多点类型）</a:t>
            </a:r>
            <a:endParaRPr lang="en-US" altLang="zh-CN" sz="1600" dirty="0"/>
          </a:p>
          <a:p>
            <a:pPr lvl="2"/>
            <a:r>
              <a:rPr lang="zh-CN" altLang="en-US" sz="1600" dirty="0"/>
              <a:t>报文类型：</a:t>
            </a:r>
            <a:r>
              <a:rPr lang="en-US" altLang="zh-CN" sz="1600" dirty="0"/>
              <a:t>Hello</a:t>
            </a:r>
            <a:r>
              <a:rPr lang="zh-CN" altLang="en-US" sz="1600" dirty="0"/>
              <a:t>报文、</a:t>
            </a:r>
            <a:r>
              <a:rPr lang="en-US" altLang="zh-CN" sz="1600" dirty="0"/>
              <a:t>DD</a:t>
            </a:r>
            <a:r>
              <a:rPr lang="zh-CN" altLang="en-US" sz="1600" dirty="0"/>
              <a:t>报文、</a:t>
            </a:r>
            <a:r>
              <a:rPr lang="en-US" altLang="zh-CN" sz="1600" dirty="0"/>
              <a:t>LSR</a:t>
            </a:r>
            <a:r>
              <a:rPr lang="zh-CN" altLang="en-US" sz="1600" dirty="0"/>
              <a:t>报文、</a:t>
            </a:r>
            <a:r>
              <a:rPr lang="en-US" altLang="zh-CN" sz="1600" dirty="0"/>
              <a:t>LSU</a:t>
            </a:r>
            <a:r>
              <a:rPr lang="zh-CN" altLang="en-US" sz="1600" dirty="0"/>
              <a:t>报文和</a:t>
            </a:r>
            <a:r>
              <a:rPr lang="en-US" altLang="zh-CN" sz="1600" dirty="0" err="1"/>
              <a:t>LSAck</a:t>
            </a:r>
            <a:r>
              <a:rPr lang="zh-CN" altLang="en-US" sz="1600" dirty="0"/>
              <a:t>报文</a:t>
            </a:r>
          </a:p>
          <a:p>
            <a:pPr lvl="1"/>
            <a:r>
              <a:rPr lang="zh-CN" altLang="en-US" sz="1800" dirty="0"/>
              <a:t>工作原理：</a:t>
            </a:r>
            <a:endParaRPr lang="en-US" altLang="zh-CN" sz="1800" dirty="0"/>
          </a:p>
          <a:p>
            <a:pPr lvl="2"/>
            <a:r>
              <a:rPr lang="zh-CN" altLang="en-US" sz="1600" dirty="0"/>
              <a:t>邻居关系的建立及邻居状态的转换</a:t>
            </a:r>
            <a:endParaRPr lang="en-US" altLang="zh-CN" sz="1600" dirty="0"/>
          </a:p>
          <a:p>
            <a:pPr lvl="2"/>
            <a:r>
              <a:rPr lang="en-US" altLang="zh-CN" sz="1600" dirty="0"/>
              <a:t>DR</a:t>
            </a:r>
            <a:r>
              <a:rPr lang="zh-CN" altLang="en-US" sz="1600" dirty="0"/>
              <a:t>与</a:t>
            </a:r>
            <a:r>
              <a:rPr lang="en-US" altLang="zh-CN" sz="1600" dirty="0"/>
              <a:t>BDR</a:t>
            </a:r>
            <a:r>
              <a:rPr lang="zh-CN" altLang="en-US" sz="1600" dirty="0"/>
              <a:t>的选举</a:t>
            </a:r>
            <a:endParaRPr lang="en-US" altLang="zh-CN" sz="1600" dirty="0"/>
          </a:p>
          <a:p>
            <a:pPr lvl="2"/>
            <a:r>
              <a:rPr lang="en-US" altLang="zh-CN" sz="1600" dirty="0"/>
              <a:t>LSA</a:t>
            </a:r>
            <a:r>
              <a:rPr lang="zh-CN" altLang="en-US" sz="1600" dirty="0"/>
              <a:t>泛洪机制</a:t>
            </a:r>
            <a:endParaRPr lang="en-US" altLang="zh-CN" sz="1600" dirty="0"/>
          </a:p>
          <a:p>
            <a:pPr lvl="2"/>
            <a:r>
              <a:rPr lang="zh-CN" altLang="en-US" sz="1600" dirty="0"/>
              <a:t>路由计算过程</a:t>
            </a:r>
            <a:endParaRPr lang="en-US" altLang="zh-CN" sz="1600" dirty="0"/>
          </a:p>
        </p:txBody>
      </p:sp>
      <p:sp>
        <p:nvSpPr>
          <p:cNvPr id="8" name="五边形 7"/>
          <p:cNvSpPr/>
          <p:nvPr/>
        </p:nvSpPr>
        <p:spPr bwMode="auto">
          <a:xfrm>
            <a:off x="8753159" y="92882"/>
            <a:ext cx="781200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9" name="燕尾形 8"/>
          <p:cNvSpPr/>
          <p:nvPr/>
        </p:nvSpPr>
        <p:spPr bwMode="auto">
          <a:xfrm>
            <a:off x="9451802" y="92882"/>
            <a:ext cx="90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燕尾形 13"/>
          <p:cNvSpPr/>
          <p:nvPr/>
        </p:nvSpPr>
        <p:spPr bwMode="auto">
          <a:xfrm>
            <a:off x="10269245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燕尾形 14"/>
          <p:cNvSpPr/>
          <p:nvPr/>
        </p:nvSpPr>
        <p:spPr bwMode="auto">
          <a:xfrm>
            <a:off x="10967888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</p:spTree>
    <p:extLst>
      <p:ext uri="{BB962C8B-B14F-4D97-AF65-F5344CB8AC3E}">
        <p14:creationId xmlns:p14="http://schemas.microsoft.com/office/powerpoint/2010/main" val="1491984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圆角矩形 97"/>
          <p:cNvSpPr/>
          <p:nvPr/>
        </p:nvSpPr>
        <p:spPr bwMode="gray">
          <a:xfrm>
            <a:off x="477284" y="1366728"/>
            <a:ext cx="9111340" cy="1363422"/>
          </a:xfrm>
          <a:prstGeom prst="roundRect">
            <a:avLst>
              <a:gd name="adj" fmla="val 3978"/>
            </a:avLst>
          </a:prstGeom>
          <a:solidFill>
            <a:srgbClr val="FEF5DA"/>
          </a:solidFill>
          <a:ln w="19050">
            <a:solidFill>
              <a:srgbClr val="FDE397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101" name="圆角矩形 100"/>
          <p:cNvSpPr/>
          <p:nvPr/>
        </p:nvSpPr>
        <p:spPr bwMode="gray">
          <a:xfrm>
            <a:off x="6628082" y="3997086"/>
            <a:ext cx="2960541" cy="2135819"/>
          </a:xfrm>
          <a:prstGeom prst="roundRect">
            <a:avLst>
              <a:gd name="adj" fmla="val 357"/>
            </a:avLst>
          </a:prstGeom>
          <a:solidFill>
            <a:srgbClr val="ECF9FA"/>
          </a:solidFill>
          <a:ln w="1905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0" name="圆角矩形 99"/>
          <p:cNvSpPr/>
          <p:nvPr/>
        </p:nvSpPr>
        <p:spPr bwMode="gray">
          <a:xfrm>
            <a:off x="3542809" y="3997086"/>
            <a:ext cx="2960541" cy="2135819"/>
          </a:xfrm>
          <a:prstGeom prst="roundRect">
            <a:avLst>
              <a:gd name="adj" fmla="val 357"/>
            </a:avLst>
          </a:prstGeom>
          <a:solidFill>
            <a:srgbClr val="ECF9FA"/>
          </a:solidFill>
          <a:ln w="1905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9" name="圆角矩形 98"/>
          <p:cNvSpPr/>
          <p:nvPr/>
        </p:nvSpPr>
        <p:spPr bwMode="gray">
          <a:xfrm>
            <a:off x="477284" y="3997086"/>
            <a:ext cx="2960541" cy="2135819"/>
          </a:xfrm>
          <a:prstGeom prst="roundRect">
            <a:avLst>
              <a:gd name="adj" fmla="val 357"/>
            </a:avLst>
          </a:prstGeom>
          <a:solidFill>
            <a:srgbClr val="ECF9FA"/>
          </a:solidFill>
          <a:ln w="1905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6" name="圆角矩形 95"/>
          <p:cNvSpPr/>
          <p:nvPr/>
        </p:nvSpPr>
        <p:spPr bwMode="gray">
          <a:xfrm>
            <a:off x="477284" y="2830186"/>
            <a:ext cx="9111339" cy="1067219"/>
          </a:xfrm>
          <a:prstGeom prst="roundRect">
            <a:avLst>
              <a:gd name="adj" fmla="val 2036"/>
            </a:avLst>
          </a:prstGeom>
          <a:solidFill>
            <a:srgbClr val="ECF9FA"/>
          </a:solidFill>
          <a:ln w="1905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OSPFv3</a:t>
            </a:r>
            <a:r>
              <a:rPr lang="zh-CN" altLang="en-US" dirty="0"/>
              <a:t>拓扑和路由器类型</a:t>
            </a:r>
          </a:p>
        </p:txBody>
      </p:sp>
      <p:sp>
        <p:nvSpPr>
          <p:cNvPr id="9" name="Rectangle 312"/>
          <p:cNvSpPr>
            <a:spLocks noChangeArrowheads="1"/>
          </p:cNvSpPr>
          <p:nvPr/>
        </p:nvSpPr>
        <p:spPr bwMode="gray">
          <a:xfrm>
            <a:off x="443864" y="2832120"/>
            <a:ext cx="819608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Area 0</a:t>
            </a:r>
          </a:p>
        </p:txBody>
      </p:sp>
      <p:pic>
        <p:nvPicPr>
          <p:cNvPr id="17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792611" y="4564221"/>
            <a:ext cx="541201" cy="442800"/>
          </a:xfrm>
          <a:prstGeom prst="rect">
            <a:avLst/>
          </a:prstGeom>
          <a:noFill/>
        </p:spPr>
      </p:pic>
      <p:pic>
        <p:nvPicPr>
          <p:cNvPr id="18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1709788" y="4564221"/>
            <a:ext cx="541201" cy="442800"/>
          </a:xfrm>
          <a:prstGeom prst="rect">
            <a:avLst/>
          </a:prstGeom>
          <a:noFill/>
        </p:spPr>
      </p:pic>
      <p:pic>
        <p:nvPicPr>
          <p:cNvPr id="19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626965" y="4564221"/>
            <a:ext cx="541201" cy="442800"/>
          </a:xfrm>
          <a:prstGeom prst="rect">
            <a:avLst/>
          </a:prstGeom>
          <a:noFill/>
        </p:spPr>
      </p:pic>
      <p:pic>
        <p:nvPicPr>
          <p:cNvPr id="20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884349" y="4564221"/>
            <a:ext cx="541201" cy="442800"/>
          </a:xfrm>
          <a:prstGeom prst="rect">
            <a:avLst/>
          </a:prstGeom>
          <a:noFill/>
        </p:spPr>
      </p:pic>
      <p:pic>
        <p:nvPicPr>
          <p:cNvPr id="21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794702" y="4564221"/>
            <a:ext cx="541201" cy="442800"/>
          </a:xfrm>
          <a:prstGeom prst="rect">
            <a:avLst/>
          </a:prstGeom>
          <a:noFill/>
        </p:spPr>
      </p:pic>
      <p:pic>
        <p:nvPicPr>
          <p:cNvPr id="22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718703" y="4564221"/>
            <a:ext cx="541201" cy="442800"/>
          </a:xfrm>
          <a:prstGeom prst="rect">
            <a:avLst/>
          </a:prstGeom>
          <a:noFill/>
        </p:spPr>
      </p:pic>
      <p:pic>
        <p:nvPicPr>
          <p:cNvPr id="23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6997663" y="4564221"/>
            <a:ext cx="541201" cy="442800"/>
          </a:xfrm>
          <a:prstGeom prst="rect">
            <a:avLst/>
          </a:prstGeom>
          <a:noFill/>
        </p:spPr>
      </p:pic>
      <p:pic>
        <p:nvPicPr>
          <p:cNvPr id="24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7904472" y="4564221"/>
            <a:ext cx="541201" cy="442800"/>
          </a:xfrm>
          <a:prstGeom prst="rect">
            <a:avLst/>
          </a:prstGeom>
          <a:noFill/>
        </p:spPr>
      </p:pic>
      <p:pic>
        <p:nvPicPr>
          <p:cNvPr id="25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8832017" y="4564221"/>
            <a:ext cx="541201" cy="442800"/>
          </a:xfrm>
          <a:prstGeom prst="rect">
            <a:avLst/>
          </a:prstGeom>
          <a:noFill/>
        </p:spPr>
      </p:pic>
      <p:pic>
        <p:nvPicPr>
          <p:cNvPr id="26" name="图片 25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3812" y="5527061"/>
            <a:ext cx="540000" cy="442800"/>
          </a:xfrm>
          <a:prstGeom prst="rect">
            <a:avLst/>
          </a:prstGeom>
        </p:spPr>
      </p:pic>
      <p:pic>
        <p:nvPicPr>
          <p:cNvPr id="27" name="图片 26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709788" y="5527061"/>
            <a:ext cx="540000" cy="442800"/>
          </a:xfrm>
          <a:prstGeom prst="rect">
            <a:avLst/>
          </a:prstGeom>
        </p:spPr>
      </p:pic>
      <p:pic>
        <p:nvPicPr>
          <p:cNvPr id="28" name="图片 27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628166" y="5527061"/>
            <a:ext cx="540000" cy="442800"/>
          </a:xfrm>
          <a:prstGeom prst="rect">
            <a:avLst/>
          </a:prstGeom>
        </p:spPr>
      </p:pic>
      <p:pic>
        <p:nvPicPr>
          <p:cNvPr id="29" name="图片 28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85550" y="5527061"/>
            <a:ext cx="540000" cy="442800"/>
          </a:xfrm>
          <a:prstGeom prst="rect">
            <a:avLst/>
          </a:prstGeom>
        </p:spPr>
      </p:pic>
      <p:pic>
        <p:nvPicPr>
          <p:cNvPr id="30" name="图片 2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95302" y="5527061"/>
            <a:ext cx="540000" cy="442800"/>
          </a:xfrm>
          <a:prstGeom prst="rect">
            <a:avLst/>
          </a:prstGeom>
        </p:spPr>
      </p:pic>
      <p:pic>
        <p:nvPicPr>
          <p:cNvPr id="31" name="图片 30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719904" y="5527061"/>
            <a:ext cx="540000" cy="442800"/>
          </a:xfrm>
          <a:prstGeom prst="rect">
            <a:avLst/>
          </a:prstGeom>
        </p:spPr>
      </p:pic>
      <p:pic>
        <p:nvPicPr>
          <p:cNvPr id="32" name="图片 31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997663" y="5527061"/>
            <a:ext cx="540000" cy="442800"/>
          </a:xfrm>
          <a:prstGeom prst="rect">
            <a:avLst/>
          </a:prstGeom>
        </p:spPr>
      </p:pic>
      <p:pic>
        <p:nvPicPr>
          <p:cNvPr id="33" name="图片 32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904472" y="5527061"/>
            <a:ext cx="540000" cy="442800"/>
          </a:xfrm>
          <a:prstGeom prst="rect">
            <a:avLst/>
          </a:prstGeom>
        </p:spPr>
      </p:pic>
      <p:pic>
        <p:nvPicPr>
          <p:cNvPr id="34" name="图片 33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832617" y="5527061"/>
            <a:ext cx="540000" cy="442800"/>
          </a:xfrm>
          <a:prstGeom prst="rect">
            <a:avLst/>
          </a:prstGeom>
        </p:spPr>
      </p:pic>
      <p:cxnSp>
        <p:nvCxnSpPr>
          <p:cNvPr id="36" name="直接连接符 35"/>
          <p:cNvCxnSpPr>
            <a:stCxn id="15" idx="2"/>
            <a:endCxn id="18" idx="0"/>
          </p:cNvCxnSpPr>
          <p:nvPr/>
        </p:nvCxnSpPr>
        <p:spPr bwMode="gray">
          <a:xfrm flipH="1">
            <a:off x="1980389" y="4119916"/>
            <a:ext cx="1" cy="4443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14" idx="2"/>
            <a:endCxn id="21" idx="0"/>
          </p:cNvCxnSpPr>
          <p:nvPr/>
        </p:nvCxnSpPr>
        <p:spPr bwMode="gray">
          <a:xfrm>
            <a:off x="5065303" y="4119916"/>
            <a:ext cx="0" cy="4443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stCxn id="16" idx="2"/>
            <a:endCxn id="24" idx="0"/>
          </p:cNvCxnSpPr>
          <p:nvPr/>
        </p:nvCxnSpPr>
        <p:spPr bwMode="gray">
          <a:xfrm>
            <a:off x="8175073" y="4119916"/>
            <a:ext cx="0" cy="4443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>
            <a:endCxn id="17" idx="0"/>
          </p:cNvCxnSpPr>
          <p:nvPr/>
        </p:nvCxnSpPr>
        <p:spPr bwMode="gray">
          <a:xfrm flipH="1">
            <a:off x="1063212" y="3897405"/>
            <a:ext cx="894431" cy="6668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>
            <a:endCxn id="20" idx="0"/>
          </p:cNvCxnSpPr>
          <p:nvPr/>
        </p:nvCxnSpPr>
        <p:spPr bwMode="gray">
          <a:xfrm flipH="1">
            <a:off x="4154950" y="3897405"/>
            <a:ext cx="894049" cy="6668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>
            <a:endCxn id="23" idx="0"/>
          </p:cNvCxnSpPr>
          <p:nvPr/>
        </p:nvCxnSpPr>
        <p:spPr bwMode="gray">
          <a:xfrm flipH="1">
            <a:off x="7268264" y="3897405"/>
            <a:ext cx="890253" cy="6668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endCxn id="19" idx="0"/>
          </p:cNvCxnSpPr>
          <p:nvPr/>
        </p:nvCxnSpPr>
        <p:spPr bwMode="gray">
          <a:xfrm>
            <a:off x="1980390" y="3897405"/>
            <a:ext cx="917176" cy="6668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>
            <a:endCxn id="22" idx="0"/>
          </p:cNvCxnSpPr>
          <p:nvPr/>
        </p:nvCxnSpPr>
        <p:spPr bwMode="gray">
          <a:xfrm>
            <a:off x="5071333" y="3897405"/>
            <a:ext cx="917971" cy="6668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endCxn id="25" idx="0"/>
          </p:cNvCxnSpPr>
          <p:nvPr/>
        </p:nvCxnSpPr>
        <p:spPr bwMode="gray">
          <a:xfrm>
            <a:off x="8191630" y="3897405"/>
            <a:ext cx="910988" cy="6668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stCxn id="17" idx="2"/>
            <a:endCxn id="26" idx="0"/>
          </p:cNvCxnSpPr>
          <p:nvPr/>
        </p:nvCxnSpPr>
        <p:spPr bwMode="gray">
          <a:xfrm>
            <a:off x="1063212" y="5007021"/>
            <a:ext cx="600" cy="520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>
            <a:stCxn id="18" idx="2"/>
            <a:endCxn id="27" idx="0"/>
          </p:cNvCxnSpPr>
          <p:nvPr/>
        </p:nvCxnSpPr>
        <p:spPr bwMode="gray">
          <a:xfrm flipH="1">
            <a:off x="1979788" y="5007021"/>
            <a:ext cx="601" cy="520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stCxn id="19" idx="2"/>
            <a:endCxn id="28" idx="0"/>
          </p:cNvCxnSpPr>
          <p:nvPr/>
        </p:nvCxnSpPr>
        <p:spPr bwMode="gray">
          <a:xfrm>
            <a:off x="2897566" y="5007021"/>
            <a:ext cx="600" cy="520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>
            <a:stCxn id="20" idx="2"/>
            <a:endCxn id="29" idx="0"/>
          </p:cNvCxnSpPr>
          <p:nvPr/>
        </p:nvCxnSpPr>
        <p:spPr bwMode="gray">
          <a:xfrm>
            <a:off x="4154950" y="5007021"/>
            <a:ext cx="600" cy="520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>
            <a:stCxn id="21" idx="2"/>
            <a:endCxn id="30" idx="0"/>
          </p:cNvCxnSpPr>
          <p:nvPr/>
        </p:nvCxnSpPr>
        <p:spPr bwMode="gray">
          <a:xfrm flipH="1">
            <a:off x="5065302" y="5007021"/>
            <a:ext cx="1" cy="520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stCxn id="22" idx="2"/>
            <a:endCxn id="31" idx="0"/>
          </p:cNvCxnSpPr>
          <p:nvPr/>
        </p:nvCxnSpPr>
        <p:spPr bwMode="gray">
          <a:xfrm>
            <a:off x="5989304" y="5007021"/>
            <a:ext cx="600" cy="520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>
            <a:stCxn id="23" idx="2"/>
            <a:endCxn id="32" idx="0"/>
          </p:cNvCxnSpPr>
          <p:nvPr/>
        </p:nvCxnSpPr>
        <p:spPr bwMode="gray">
          <a:xfrm flipH="1">
            <a:off x="7267663" y="5007021"/>
            <a:ext cx="601" cy="520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>
            <a:stCxn id="24" idx="2"/>
            <a:endCxn id="33" idx="0"/>
          </p:cNvCxnSpPr>
          <p:nvPr/>
        </p:nvCxnSpPr>
        <p:spPr bwMode="gray">
          <a:xfrm flipH="1">
            <a:off x="8174472" y="5007021"/>
            <a:ext cx="601" cy="520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>
            <a:stCxn id="25" idx="2"/>
            <a:endCxn id="34" idx="0"/>
          </p:cNvCxnSpPr>
          <p:nvPr/>
        </p:nvCxnSpPr>
        <p:spPr bwMode="gray">
          <a:xfrm flipH="1">
            <a:off x="9102617" y="5007021"/>
            <a:ext cx="1" cy="5200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>
            <a:stCxn id="8" idx="3"/>
            <a:endCxn id="15" idx="0"/>
          </p:cNvCxnSpPr>
          <p:nvPr/>
        </p:nvCxnSpPr>
        <p:spPr bwMode="gray">
          <a:xfrm flipH="1">
            <a:off x="1980390" y="2928756"/>
            <a:ext cx="3355513" cy="7483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>
            <a:stCxn id="8" idx="2"/>
            <a:endCxn id="14" idx="0"/>
          </p:cNvCxnSpPr>
          <p:nvPr/>
        </p:nvCxnSpPr>
        <p:spPr bwMode="gray">
          <a:xfrm>
            <a:off x="5065303" y="3150156"/>
            <a:ext cx="0" cy="5269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>
            <a:stCxn id="16" idx="0"/>
            <a:endCxn id="8" idx="1"/>
          </p:cNvCxnSpPr>
          <p:nvPr/>
        </p:nvCxnSpPr>
        <p:spPr bwMode="gray">
          <a:xfrm flipH="1" flipV="1">
            <a:off x="4794702" y="2928756"/>
            <a:ext cx="3380371" cy="7483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794702" y="2707356"/>
            <a:ext cx="541201" cy="442800"/>
          </a:xfrm>
          <a:prstGeom prst="rect">
            <a:avLst/>
          </a:prstGeom>
          <a:noFill/>
        </p:spPr>
      </p:pic>
      <p:pic>
        <p:nvPicPr>
          <p:cNvPr id="14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794702" y="3677116"/>
            <a:ext cx="541201" cy="442800"/>
          </a:xfrm>
          <a:prstGeom prst="rect">
            <a:avLst/>
          </a:prstGeom>
          <a:noFill/>
        </p:spPr>
      </p:pic>
      <p:pic>
        <p:nvPicPr>
          <p:cNvPr id="15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1709789" y="3677116"/>
            <a:ext cx="541201" cy="442800"/>
          </a:xfrm>
          <a:prstGeom prst="rect">
            <a:avLst/>
          </a:prstGeom>
          <a:noFill/>
        </p:spPr>
      </p:pic>
      <p:pic>
        <p:nvPicPr>
          <p:cNvPr id="16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7904472" y="3677116"/>
            <a:ext cx="541201" cy="442800"/>
          </a:xfrm>
          <a:prstGeom prst="rect">
            <a:avLst/>
          </a:prstGeom>
          <a:noFill/>
        </p:spPr>
      </p:pic>
      <p:pic>
        <p:nvPicPr>
          <p:cNvPr id="105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794702" y="1417475"/>
            <a:ext cx="541201" cy="442800"/>
          </a:xfrm>
          <a:prstGeom prst="rect">
            <a:avLst/>
          </a:prstGeom>
          <a:noFill/>
        </p:spPr>
      </p:pic>
      <p:cxnSp>
        <p:nvCxnSpPr>
          <p:cNvPr id="106" name="直接连接符 105"/>
          <p:cNvCxnSpPr>
            <a:stCxn id="105" idx="2"/>
            <a:endCxn id="8" idx="0"/>
          </p:cNvCxnSpPr>
          <p:nvPr/>
        </p:nvCxnSpPr>
        <p:spPr bwMode="gray">
          <a:xfrm>
            <a:off x="5065303" y="1860275"/>
            <a:ext cx="0" cy="84708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312"/>
          <p:cNvSpPr>
            <a:spLocks noChangeArrowheads="1"/>
          </p:cNvSpPr>
          <p:nvPr/>
        </p:nvSpPr>
        <p:spPr bwMode="gray">
          <a:xfrm>
            <a:off x="443864" y="4006764"/>
            <a:ext cx="819608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Area 1</a:t>
            </a:r>
          </a:p>
        </p:txBody>
      </p:sp>
      <p:sp>
        <p:nvSpPr>
          <p:cNvPr id="110" name="Rectangle 312"/>
          <p:cNvSpPr>
            <a:spLocks noChangeArrowheads="1"/>
          </p:cNvSpPr>
          <p:nvPr/>
        </p:nvSpPr>
        <p:spPr bwMode="gray">
          <a:xfrm>
            <a:off x="3489089" y="4006764"/>
            <a:ext cx="819608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Area 2</a:t>
            </a:r>
          </a:p>
        </p:txBody>
      </p:sp>
      <p:sp>
        <p:nvSpPr>
          <p:cNvPr id="111" name="Rectangle 312"/>
          <p:cNvSpPr>
            <a:spLocks noChangeArrowheads="1"/>
          </p:cNvSpPr>
          <p:nvPr/>
        </p:nvSpPr>
        <p:spPr bwMode="gray">
          <a:xfrm>
            <a:off x="6587859" y="4006764"/>
            <a:ext cx="819608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Area 3</a:t>
            </a:r>
          </a:p>
        </p:txBody>
      </p:sp>
      <p:sp>
        <p:nvSpPr>
          <p:cNvPr id="112" name="Rectangle 312"/>
          <p:cNvSpPr>
            <a:spLocks noChangeArrowheads="1"/>
          </p:cNvSpPr>
          <p:nvPr/>
        </p:nvSpPr>
        <p:spPr bwMode="gray">
          <a:xfrm>
            <a:off x="5233213" y="2799880"/>
            <a:ext cx="819608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rgbClr val="C7000B"/>
                </a:solidFill>
              </a:rPr>
              <a:t>ASBR</a:t>
            </a:r>
          </a:p>
        </p:txBody>
      </p:sp>
      <p:sp>
        <p:nvSpPr>
          <p:cNvPr id="113" name="Rectangle 312"/>
          <p:cNvSpPr>
            <a:spLocks noChangeArrowheads="1"/>
          </p:cNvSpPr>
          <p:nvPr/>
        </p:nvSpPr>
        <p:spPr bwMode="gray">
          <a:xfrm>
            <a:off x="2160493" y="3606478"/>
            <a:ext cx="721253" cy="30648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rgbClr val="C7000B"/>
                </a:solidFill>
              </a:rPr>
              <a:t>ABR</a:t>
            </a:r>
          </a:p>
        </p:txBody>
      </p:sp>
      <p:sp>
        <p:nvSpPr>
          <p:cNvPr id="114" name="Rectangle 312"/>
          <p:cNvSpPr>
            <a:spLocks noChangeArrowheads="1"/>
          </p:cNvSpPr>
          <p:nvPr/>
        </p:nvSpPr>
        <p:spPr bwMode="gray">
          <a:xfrm>
            <a:off x="5226791" y="3606478"/>
            <a:ext cx="721253" cy="30648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rgbClr val="C7000B"/>
                </a:solidFill>
              </a:rPr>
              <a:t>ABR</a:t>
            </a:r>
          </a:p>
        </p:txBody>
      </p:sp>
      <p:sp>
        <p:nvSpPr>
          <p:cNvPr id="115" name="Rectangle 312"/>
          <p:cNvSpPr>
            <a:spLocks noChangeArrowheads="1"/>
          </p:cNvSpPr>
          <p:nvPr/>
        </p:nvSpPr>
        <p:spPr bwMode="gray">
          <a:xfrm>
            <a:off x="8328049" y="3606478"/>
            <a:ext cx="721253" cy="30648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rgbClr val="C7000B"/>
                </a:solidFill>
              </a:rPr>
              <a:t>ABR</a:t>
            </a:r>
          </a:p>
        </p:txBody>
      </p:sp>
      <p:sp>
        <p:nvSpPr>
          <p:cNvPr id="116" name="Rectangle 312"/>
          <p:cNvSpPr>
            <a:spLocks noChangeArrowheads="1"/>
          </p:cNvSpPr>
          <p:nvPr/>
        </p:nvSpPr>
        <p:spPr bwMode="gray">
          <a:xfrm>
            <a:off x="4022597" y="3134994"/>
            <a:ext cx="1162371" cy="319970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城域网核心</a:t>
            </a:r>
            <a:endParaRPr lang="en-US" altLang="zh-CN" sz="1400" dirty="0"/>
          </a:p>
        </p:txBody>
      </p:sp>
      <p:sp>
        <p:nvSpPr>
          <p:cNvPr id="117" name="Rectangle 312"/>
          <p:cNvSpPr>
            <a:spLocks noChangeArrowheads="1"/>
          </p:cNvSpPr>
          <p:nvPr/>
        </p:nvSpPr>
        <p:spPr bwMode="gray">
          <a:xfrm>
            <a:off x="842545" y="3632236"/>
            <a:ext cx="926626" cy="319970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区县汇聚</a:t>
            </a:r>
            <a:endParaRPr lang="en-US" altLang="zh-CN" sz="1400" dirty="0"/>
          </a:p>
        </p:txBody>
      </p:sp>
      <p:sp>
        <p:nvSpPr>
          <p:cNvPr id="118" name="Rectangle 312"/>
          <p:cNvSpPr>
            <a:spLocks noChangeArrowheads="1"/>
          </p:cNvSpPr>
          <p:nvPr/>
        </p:nvSpPr>
        <p:spPr bwMode="gray">
          <a:xfrm>
            <a:off x="3922633" y="3632236"/>
            <a:ext cx="926626" cy="319970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区县汇聚</a:t>
            </a:r>
            <a:endParaRPr lang="en-US" altLang="zh-CN" sz="1400" dirty="0"/>
          </a:p>
        </p:txBody>
      </p:sp>
      <p:sp>
        <p:nvSpPr>
          <p:cNvPr id="119" name="Rectangle 312"/>
          <p:cNvSpPr>
            <a:spLocks noChangeArrowheads="1"/>
          </p:cNvSpPr>
          <p:nvPr/>
        </p:nvSpPr>
        <p:spPr bwMode="gray">
          <a:xfrm>
            <a:off x="7044714" y="3632236"/>
            <a:ext cx="926626" cy="319970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区县汇聚</a:t>
            </a:r>
            <a:endParaRPr lang="en-US" altLang="zh-CN" sz="1400" dirty="0"/>
          </a:p>
        </p:txBody>
      </p:sp>
      <p:sp>
        <p:nvSpPr>
          <p:cNvPr id="120" name="Rectangle 312"/>
          <p:cNvSpPr>
            <a:spLocks noChangeArrowheads="1"/>
          </p:cNvSpPr>
          <p:nvPr/>
        </p:nvSpPr>
        <p:spPr bwMode="gray">
          <a:xfrm>
            <a:off x="1074345" y="4365714"/>
            <a:ext cx="721253" cy="30648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rgbClr val="C7000B"/>
                </a:solidFill>
              </a:rPr>
              <a:t>IR</a:t>
            </a:r>
          </a:p>
        </p:txBody>
      </p:sp>
      <p:sp>
        <p:nvSpPr>
          <p:cNvPr id="121" name="Rectangle 312"/>
          <p:cNvSpPr>
            <a:spLocks noChangeArrowheads="1"/>
          </p:cNvSpPr>
          <p:nvPr/>
        </p:nvSpPr>
        <p:spPr bwMode="gray">
          <a:xfrm>
            <a:off x="1990756" y="4365714"/>
            <a:ext cx="721253" cy="30648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rgbClr val="C7000B"/>
                </a:solidFill>
              </a:rPr>
              <a:t>IR</a:t>
            </a:r>
          </a:p>
        </p:txBody>
      </p:sp>
      <p:sp>
        <p:nvSpPr>
          <p:cNvPr id="122" name="Rectangle 312"/>
          <p:cNvSpPr>
            <a:spLocks noChangeArrowheads="1"/>
          </p:cNvSpPr>
          <p:nvPr/>
        </p:nvSpPr>
        <p:spPr bwMode="gray">
          <a:xfrm>
            <a:off x="2905654" y="4365714"/>
            <a:ext cx="721253" cy="30648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rgbClr val="C7000B"/>
                </a:solidFill>
              </a:rPr>
              <a:t>IR</a:t>
            </a:r>
          </a:p>
        </p:txBody>
      </p:sp>
      <p:sp>
        <p:nvSpPr>
          <p:cNvPr id="127" name="Rectangle 312"/>
          <p:cNvSpPr>
            <a:spLocks noChangeArrowheads="1"/>
          </p:cNvSpPr>
          <p:nvPr/>
        </p:nvSpPr>
        <p:spPr bwMode="gray">
          <a:xfrm>
            <a:off x="4154950" y="4365714"/>
            <a:ext cx="721253" cy="30648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rgbClr val="C7000B"/>
                </a:solidFill>
              </a:rPr>
              <a:t>IR</a:t>
            </a:r>
          </a:p>
        </p:txBody>
      </p:sp>
      <p:sp>
        <p:nvSpPr>
          <p:cNvPr id="128" name="Rectangle 312"/>
          <p:cNvSpPr>
            <a:spLocks noChangeArrowheads="1"/>
          </p:cNvSpPr>
          <p:nvPr/>
        </p:nvSpPr>
        <p:spPr bwMode="gray">
          <a:xfrm>
            <a:off x="5071361" y="4365714"/>
            <a:ext cx="721253" cy="30648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rgbClr val="C7000B"/>
                </a:solidFill>
              </a:rPr>
              <a:t>IR</a:t>
            </a:r>
          </a:p>
        </p:txBody>
      </p:sp>
      <p:sp>
        <p:nvSpPr>
          <p:cNvPr id="129" name="Rectangle 312"/>
          <p:cNvSpPr>
            <a:spLocks noChangeArrowheads="1"/>
          </p:cNvSpPr>
          <p:nvPr/>
        </p:nvSpPr>
        <p:spPr bwMode="gray">
          <a:xfrm>
            <a:off x="5986259" y="4365714"/>
            <a:ext cx="721253" cy="30648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rgbClr val="C7000B"/>
                </a:solidFill>
              </a:rPr>
              <a:t>IR</a:t>
            </a:r>
          </a:p>
        </p:txBody>
      </p:sp>
      <p:sp>
        <p:nvSpPr>
          <p:cNvPr id="130" name="Rectangle 312"/>
          <p:cNvSpPr>
            <a:spLocks noChangeArrowheads="1"/>
          </p:cNvSpPr>
          <p:nvPr/>
        </p:nvSpPr>
        <p:spPr bwMode="gray">
          <a:xfrm>
            <a:off x="7309934" y="4365714"/>
            <a:ext cx="721253" cy="30648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rgbClr val="C7000B"/>
                </a:solidFill>
              </a:rPr>
              <a:t>IR</a:t>
            </a:r>
          </a:p>
        </p:txBody>
      </p:sp>
      <p:sp>
        <p:nvSpPr>
          <p:cNvPr id="131" name="Rectangle 312"/>
          <p:cNvSpPr>
            <a:spLocks noChangeArrowheads="1"/>
          </p:cNvSpPr>
          <p:nvPr/>
        </p:nvSpPr>
        <p:spPr bwMode="gray">
          <a:xfrm>
            <a:off x="8226345" y="4365714"/>
            <a:ext cx="721253" cy="30648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rgbClr val="C7000B"/>
                </a:solidFill>
              </a:rPr>
              <a:t>IR</a:t>
            </a:r>
          </a:p>
        </p:txBody>
      </p:sp>
      <p:sp>
        <p:nvSpPr>
          <p:cNvPr id="132" name="Rectangle 312"/>
          <p:cNvSpPr>
            <a:spLocks noChangeArrowheads="1"/>
          </p:cNvSpPr>
          <p:nvPr/>
        </p:nvSpPr>
        <p:spPr bwMode="gray">
          <a:xfrm>
            <a:off x="9109757" y="4365714"/>
            <a:ext cx="721253" cy="30648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rgbClr val="C7000B"/>
                </a:solidFill>
              </a:rPr>
              <a:t>IR</a:t>
            </a:r>
          </a:p>
        </p:txBody>
      </p:sp>
      <p:cxnSp>
        <p:nvCxnSpPr>
          <p:cNvPr id="134" name="直接箭头连接符 133"/>
          <p:cNvCxnSpPr/>
          <p:nvPr/>
        </p:nvCxnSpPr>
        <p:spPr bwMode="gray">
          <a:xfrm>
            <a:off x="5233213" y="1860275"/>
            <a:ext cx="0" cy="820459"/>
          </a:xfrm>
          <a:prstGeom prst="straightConnector1">
            <a:avLst/>
          </a:prstGeom>
          <a:ln w="38100">
            <a:solidFill>
              <a:srgbClr val="30B5C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312"/>
          <p:cNvSpPr>
            <a:spLocks noChangeArrowheads="1"/>
          </p:cNvSpPr>
          <p:nvPr/>
        </p:nvSpPr>
        <p:spPr bwMode="gray">
          <a:xfrm>
            <a:off x="5128513" y="2005300"/>
            <a:ext cx="819608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BGP</a:t>
            </a:r>
          </a:p>
        </p:txBody>
      </p:sp>
      <p:sp>
        <p:nvSpPr>
          <p:cNvPr id="138" name="Freeform 3"/>
          <p:cNvSpPr>
            <a:spLocks/>
          </p:cNvSpPr>
          <p:nvPr/>
        </p:nvSpPr>
        <p:spPr bwMode="gray">
          <a:xfrm rot="17884841" flipH="1">
            <a:off x="5572529" y="2186055"/>
            <a:ext cx="582856" cy="704171"/>
          </a:xfrm>
          <a:custGeom>
            <a:avLst/>
            <a:gdLst>
              <a:gd name="T0" fmla="*/ 1219 w 1921"/>
              <a:gd name="T1" fmla="*/ 3 h 1516"/>
              <a:gd name="T2" fmla="*/ 1047 w 1921"/>
              <a:gd name="T3" fmla="*/ 20 h 1516"/>
              <a:gd name="T4" fmla="*/ 900 w 1921"/>
              <a:gd name="T5" fmla="*/ 43 h 1516"/>
              <a:gd name="T6" fmla="*/ 763 w 1921"/>
              <a:gd name="T7" fmla="*/ 76 h 1516"/>
              <a:gd name="T8" fmla="*/ 593 w 1921"/>
              <a:gd name="T9" fmla="*/ 128 h 1516"/>
              <a:gd name="T10" fmla="*/ 449 w 1921"/>
              <a:gd name="T11" fmla="*/ 187 h 1516"/>
              <a:gd name="T12" fmla="*/ 345 w 1921"/>
              <a:gd name="T13" fmla="*/ 244 h 1516"/>
              <a:gd name="T14" fmla="*/ 261 w 1921"/>
              <a:gd name="T15" fmla="*/ 301 h 1516"/>
              <a:gd name="T16" fmla="*/ 184 w 1921"/>
              <a:gd name="T17" fmla="*/ 366 h 1516"/>
              <a:gd name="T18" fmla="*/ 118 w 1921"/>
              <a:gd name="T19" fmla="*/ 431 h 1516"/>
              <a:gd name="T20" fmla="*/ 58 w 1921"/>
              <a:gd name="T21" fmla="*/ 516 h 1516"/>
              <a:gd name="T22" fmla="*/ 21 w 1921"/>
              <a:gd name="T23" fmla="*/ 594 h 1516"/>
              <a:gd name="T24" fmla="*/ 0 w 1921"/>
              <a:gd name="T25" fmla="*/ 695 h 1516"/>
              <a:gd name="T26" fmla="*/ 14 w 1921"/>
              <a:gd name="T27" fmla="*/ 785 h 1516"/>
              <a:gd name="T28" fmla="*/ 47 w 1921"/>
              <a:gd name="T29" fmla="*/ 872 h 1516"/>
              <a:gd name="T30" fmla="*/ 92 w 1921"/>
              <a:gd name="T31" fmla="*/ 946 h 1516"/>
              <a:gd name="T32" fmla="*/ 179 w 1921"/>
              <a:gd name="T33" fmla="*/ 1041 h 1516"/>
              <a:gd name="T34" fmla="*/ 271 w 1921"/>
              <a:gd name="T35" fmla="*/ 1115 h 1516"/>
              <a:gd name="T36" fmla="*/ 377 w 1921"/>
              <a:gd name="T37" fmla="*/ 1176 h 1516"/>
              <a:gd name="T38" fmla="*/ 512 w 1921"/>
              <a:gd name="T39" fmla="*/ 1244 h 1516"/>
              <a:gd name="T40" fmla="*/ 667 w 1921"/>
              <a:gd name="T41" fmla="*/ 1302 h 1516"/>
              <a:gd name="T42" fmla="*/ 978 w 1921"/>
              <a:gd name="T43" fmla="*/ 1373 h 1516"/>
              <a:gd name="T44" fmla="*/ 1248 w 1921"/>
              <a:gd name="T45" fmla="*/ 1403 h 1516"/>
              <a:gd name="T46" fmla="*/ 1403 w 1921"/>
              <a:gd name="T47" fmla="*/ 1515 h 1516"/>
              <a:gd name="T48" fmla="*/ 1397 w 1921"/>
              <a:gd name="T49" fmla="*/ 1031 h 1516"/>
              <a:gd name="T50" fmla="*/ 1243 w 1921"/>
              <a:gd name="T51" fmla="*/ 1132 h 1516"/>
              <a:gd name="T52" fmla="*/ 1007 w 1921"/>
              <a:gd name="T53" fmla="*/ 1098 h 1516"/>
              <a:gd name="T54" fmla="*/ 757 w 1921"/>
              <a:gd name="T55" fmla="*/ 1025 h 1516"/>
              <a:gd name="T56" fmla="*/ 619 w 1921"/>
              <a:gd name="T57" fmla="*/ 957 h 1516"/>
              <a:gd name="T58" fmla="*/ 506 w 1921"/>
              <a:gd name="T59" fmla="*/ 888 h 1516"/>
              <a:gd name="T60" fmla="*/ 417 w 1921"/>
              <a:gd name="T61" fmla="*/ 806 h 1516"/>
              <a:gd name="T62" fmla="*/ 348 w 1921"/>
              <a:gd name="T63" fmla="*/ 708 h 1516"/>
              <a:gd name="T64" fmla="*/ 319 w 1921"/>
              <a:gd name="T65" fmla="*/ 610 h 1516"/>
              <a:gd name="T66" fmla="*/ 321 w 1921"/>
              <a:gd name="T67" fmla="*/ 522 h 1516"/>
              <a:gd name="T68" fmla="*/ 348 w 1921"/>
              <a:gd name="T69" fmla="*/ 437 h 1516"/>
              <a:gd name="T70" fmla="*/ 401 w 1921"/>
              <a:gd name="T71" fmla="*/ 351 h 1516"/>
              <a:gd name="T72" fmla="*/ 509 w 1921"/>
              <a:gd name="T73" fmla="*/ 251 h 1516"/>
              <a:gd name="T74" fmla="*/ 643 w 1921"/>
              <a:gd name="T75" fmla="*/ 169 h 1516"/>
              <a:gd name="T76" fmla="*/ 778 w 1921"/>
              <a:gd name="T77" fmla="*/ 110 h 1516"/>
              <a:gd name="T78" fmla="*/ 913 w 1921"/>
              <a:gd name="T79" fmla="*/ 68 h 1516"/>
              <a:gd name="T80" fmla="*/ 1021 w 1921"/>
              <a:gd name="T81" fmla="*/ 42 h 1516"/>
              <a:gd name="T82" fmla="*/ 1150 w 1921"/>
              <a:gd name="T83" fmla="*/ 25 h 1516"/>
              <a:gd name="T84" fmla="*/ 1446 w 1921"/>
              <a:gd name="T85" fmla="*/ 0 h 1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921" h="1516">
                <a:moveTo>
                  <a:pt x="1446" y="0"/>
                </a:moveTo>
                <a:lnTo>
                  <a:pt x="1219" y="3"/>
                </a:lnTo>
                <a:lnTo>
                  <a:pt x="1142" y="9"/>
                </a:lnTo>
                <a:lnTo>
                  <a:pt x="1047" y="20"/>
                </a:lnTo>
                <a:lnTo>
                  <a:pt x="974" y="29"/>
                </a:lnTo>
                <a:lnTo>
                  <a:pt x="900" y="43"/>
                </a:lnTo>
                <a:lnTo>
                  <a:pt x="828" y="59"/>
                </a:lnTo>
                <a:lnTo>
                  <a:pt x="763" y="76"/>
                </a:lnTo>
                <a:lnTo>
                  <a:pt x="686" y="97"/>
                </a:lnTo>
                <a:lnTo>
                  <a:pt x="593" y="128"/>
                </a:lnTo>
                <a:lnTo>
                  <a:pt x="520" y="156"/>
                </a:lnTo>
                <a:lnTo>
                  <a:pt x="449" y="187"/>
                </a:lnTo>
                <a:lnTo>
                  <a:pt x="401" y="213"/>
                </a:lnTo>
                <a:lnTo>
                  <a:pt x="345" y="244"/>
                </a:lnTo>
                <a:lnTo>
                  <a:pt x="304" y="268"/>
                </a:lnTo>
                <a:lnTo>
                  <a:pt x="261" y="301"/>
                </a:lnTo>
                <a:lnTo>
                  <a:pt x="222" y="332"/>
                </a:lnTo>
                <a:lnTo>
                  <a:pt x="184" y="366"/>
                </a:lnTo>
                <a:lnTo>
                  <a:pt x="155" y="393"/>
                </a:lnTo>
                <a:lnTo>
                  <a:pt x="118" y="431"/>
                </a:lnTo>
                <a:lnTo>
                  <a:pt x="82" y="474"/>
                </a:lnTo>
                <a:lnTo>
                  <a:pt x="58" y="516"/>
                </a:lnTo>
                <a:lnTo>
                  <a:pt x="39" y="552"/>
                </a:lnTo>
                <a:lnTo>
                  <a:pt x="21" y="594"/>
                </a:lnTo>
                <a:lnTo>
                  <a:pt x="6" y="638"/>
                </a:lnTo>
                <a:lnTo>
                  <a:pt x="0" y="695"/>
                </a:lnTo>
                <a:lnTo>
                  <a:pt x="5" y="744"/>
                </a:lnTo>
                <a:lnTo>
                  <a:pt x="14" y="785"/>
                </a:lnTo>
                <a:lnTo>
                  <a:pt x="26" y="826"/>
                </a:lnTo>
                <a:lnTo>
                  <a:pt x="47" y="872"/>
                </a:lnTo>
                <a:lnTo>
                  <a:pt x="66" y="911"/>
                </a:lnTo>
                <a:lnTo>
                  <a:pt x="92" y="946"/>
                </a:lnTo>
                <a:lnTo>
                  <a:pt x="130" y="991"/>
                </a:lnTo>
                <a:lnTo>
                  <a:pt x="179" y="1041"/>
                </a:lnTo>
                <a:lnTo>
                  <a:pt x="229" y="1081"/>
                </a:lnTo>
                <a:lnTo>
                  <a:pt x="271" y="1115"/>
                </a:lnTo>
                <a:lnTo>
                  <a:pt x="325" y="1149"/>
                </a:lnTo>
                <a:lnTo>
                  <a:pt x="377" y="1176"/>
                </a:lnTo>
                <a:lnTo>
                  <a:pt x="437" y="1207"/>
                </a:lnTo>
                <a:lnTo>
                  <a:pt x="512" y="1244"/>
                </a:lnTo>
                <a:lnTo>
                  <a:pt x="585" y="1271"/>
                </a:lnTo>
                <a:lnTo>
                  <a:pt x="667" y="1302"/>
                </a:lnTo>
                <a:lnTo>
                  <a:pt x="836" y="1346"/>
                </a:lnTo>
                <a:lnTo>
                  <a:pt x="978" y="1373"/>
                </a:lnTo>
                <a:lnTo>
                  <a:pt x="1128" y="1393"/>
                </a:lnTo>
                <a:lnTo>
                  <a:pt x="1248" y="1403"/>
                </a:lnTo>
                <a:lnTo>
                  <a:pt x="1403" y="1410"/>
                </a:lnTo>
                <a:lnTo>
                  <a:pt x="1403" y="1515"/>
                </a:lnTo>
                <a:lnTo>
                  <a:pt x="1920" y="1275"/>
                </a:lnTo>
                <a:lnTo>
                  <a:pt x="1397" y="1031"/>
                </a:lnTo>
                <a:lnTo>
                  <a:pt x="1398" y="1139"/>
                </a:lnTo>
                <a:lnTo>
                  <a:pt x="1243" y="1132"/>
                </a:lnTo>
                <a:lnTo>
                  <a:pt x="1128" y="1119"/>
                </a:lnTo>
                <a:lnTo>
                  <a:pt x="1007" y="1098"/>
                </a:lnTo>
                <a:lnTo>
                  <a:pt x="836" y="1054"/>
                </a:lnTo>
                <a:lnTo>
                  <a:pt x="757" y="1025"/>
                </a:lnTo>
                <a:lnTo>
                  <a:pt x="681" y="993"/>
                </a:lnTo>
                <a:lnTo>
                  <a:pt x="619" y="957"/>
                </a:lnTo>
                <a:lnTo>
                  <a:pt x="556" y="922"/>
                </a:lnTo>
                <a:lnTo>
                  <a:pt x="506" y="888"/>
                </a:lnTo>
                <a:lnTo>
                  <a:pt x="464" y="850"/>
                </a:lnTo>
                <a:lnTo>
                  <a:pt x="417" y="806"/>
                </a:lnTo>
                <a:lnTo>
                  <a:pt x="377" y="755"/>
                </a:lnTo>
                <a:lnTo>
                  <a:pt x="348" y="708"/>
                </a:lnTo>
                <a:lnTo>
                  <a:pt x="333" y="664"/>
                </a:lnTo>
                <a:lnTo>
                  <a:pt x="319" y="610"/>
                </a:lnTo>
                <a:lnTo>
                  <a:pt x="317" y="558"/>
                </a:lnTo>
                <a:lnTo>
                  <a:pt x="321" y="522"/>
                </a:lnTo>
                <a:lnTo>
                  <a:pt x="329" y="483"/>
                </a:lnTo>
                <a:lnTo>
                  <a:pt x="348" y="437"/>
                </a:lnTo>
                <a:lnTo>
                  <a:pt x="372" y="393"/>
                </a:lnTo>
                <a:lnTo>
                  <a:pt x="401" y="351"/>
                </a:lnTo>
                <a:lnTo>
                  <a:pt x="440" y="310"/>
                </a:lnTo>
                <a:lnTo>
                  <a:pt x="509" y="251"/>
                </a:lnTo>
                <a:lnTo>
                  <a:pt x="567" y="211"/>
                </a:lnTo>
                <a:lnTo>
                  <a:pt x="643" y="169"/>
                </a:lnTo>
                <a:lnTo>
                  <a:pt x="720" y="133"/>
                </a:lnTo>
                <a:lnTo>
                  <a:pt x="778" y="110"/>
                </a:lnTo>
                <a:lnTo>
                  <a:pt x="847" y="86"/>
                </a:lnTo>
                <a:lnTo>
                  <a:pt x="913" y="68"/>
                </a:lnTo>
                <a:lnTo>
                  <a:pt x="966" y="54"/>
                </a:lnTo>
                <a:lnTo>
                  <a:pt x="1021" y="42"/>
                </a:lnTo>
                <a:lnTo>
                  <a:pt x="1089" y="32"/>
                </a:lnTo>
                <a:lnTo>
                  <a:pt x="1150" y="25"/>
                </a:lnTo>
                <a:lnTo>
                  <a:pt x="1234" y="15"/>
                </a:lnTo>
                <a:lnTo>
                  <a:pt x="1446" y="0"/>
                </a:lnTo>
              </a:path>
            </a:pathLst>
          </a:custGeom>
          <a:gradFill>
            <a:gsLst>
              <a:gs pos="100000">
                <a:srgbClr val="ECF9FA"/>
              </a:gs>
              <a:gs pos="31000">
                <a:srgbClr val="94DAE2"/>
              </a:gs>
            </a:gsLst>
            <a:lin ang="0" scaled="0"/>
          </a:gradFill>
          <a:ln w="19050">
            <a:gradFill>
              <a:gsLst>
                <a:gs pos="0">
                  <a:schemeClr val="bg2">
                    <a:alpha val="40000"/>
                  </a:schemeClr>
                </a:gs>
                <a:gs pos="100000">
                  <a:srgbClr val="94DAE2"/>
                </a:gs>
              </a:gsLst>
              <a:lin ang="0" scaled="0"/>
            </a:gra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9" name="Rectangle 312"/>
          <p:cNvSpPr>
            <a:spLocks noChangeArrowheads="1"/>
          </p:cNvSpPr>
          <p:nvPr/>
        </p:nvSpPr>
        <p:spPr bwMode="gray">
          <a:xfrm>
            <a:off x="6052821" y="2272729"/>
            <a:ext cx="1345509" cy="2688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/>
              <a:t>外部路由引入</a:t>
            </a:r>
            <a:endParaRPr lang="en-US" altLang="zh-CN" sz="1400" dirty="0"/>
          </a:p>
        </p:txBody>
      </p:sp>
      <p:sp>
        <p:nvSpPr>
          <p:cNvPr id="140" name="文本占位符 2"/>
          <p:cNvSpPr txBox="1">
            <a:spLocks/>
          </p:cNvSpPr>
          <p:nvPr/>
        </p:nvSpPr>
        <p:spPr bwMode="gray">
          <a:xfrm>
            <a:off x="9595949" y="4677919"/>
            <a:ext cx="2132510" cy="66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200" tIns="40071" rIns="43200" bIns="4007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indent="0" algn="just" defTabSz="914034" fontAlgn="auto">
              <a:lnSpc>
                <a:spcPct val="100000"/>
              </a:lnSpc>
              <a:spcBef>
                <a:spcPts val="0"/>
              </a:spcBef>
              <a:buClrTx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1pPr>
            <a:lvl2pPr marL="654938" indent="-251899" defTabSz="914034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/>
            </a:lvl2pPr>
            <a:lvl3pPr marL="1003998" indent="-201519" defTabSz="914034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/>
            </a:lvl3pPr>
            <a:lvl4pPr marL="1399840" indent="-197921" defTabSz="914034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/>
            </a:lvl4pPr>
            <a:lvl5pPr marL="1802879" indent="-201519" defTabSz="914034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/>
            </a:lvl5pPr>
            <a:lvl6pPr marL="2513594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6pPr>
            <a:lvl7pPr marL="2970611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7pPr>
            <a:lvl8pPr marL="3427628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8pPr>
            <a:lvl9pPr marL="3884646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9pPr>
          </a:lstStyle>
          <a:p>
            <a:r>
              <a:rPr lang="en-US" altLang="zh-CN" dirty="0"/>
              <a:t>Internal Router</a:t>
            </a:r>
          </a:p>
          <a:p>
            <a:r>
              <a:rPr lang="zh-CN" altLang="en-US" dirty="0"/>
              <a:t>内部路由器，</a:t>
            </a:r>
            <a:r>
              <a:rPr lang="en-US" altLang="zh-CN" dirty="0"/>
              <a:t>IR</a:t>
            </a:r>
          </a:p>
        </p:txBody>
      </p:sp>
      <p:sp>
        <p:nvSpPr>
          <p:cNvPr id="141" name="文本占位符 2"/>
          <p:cNvSpPr txBox="1">
            <a:spLocks/>
          </p:cNvSpPr>
          <p:nvPr/>
        </p:nvSpPr>
        <p:spPr bwMode="gray">
          <a:xfrm>
            <a:off x="9595949" y="3072976"/>
            <a:ext cx="2153139" cy="66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200" tIns="40071" rIns="43200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/>
              <a:t>Area Border Router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600" dirty="0"/>
              <a:t>区域边界路由器，</a:t>
            </a:r>
            <a:r>
              <a:rPr lang="en-US" altLang="zh-CN" sz="1600" dirty="0"/>
              <a:t>ABR</a:t>
            </a:r>
          </a:p>
        </p:txBody>
      </p:sp>
      <p:sp>
        <p:nvSpPr>
          <p:cNvPr id="142" name="文本占位符 2"/>
          <p:cNvSpPr txBox="1">
            <a:spLocks/>
          </p:cNvSpPr>
          <p:nvPr/>
        </p:nvSpPr>
        <p:spPr bwMode="gray">
          <a:xfrm>
            <a:off x="9595949" y="2270504"/>
            <a:ext cx="2132510" cy="66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200" tIns="40071" rIns="43200" bIns="4007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indent="0" algn="just" defTabSz="914034" fontAlgn="auto">
              <a:lnSpc>
                <a:spcPct val="100000"/>
              </a:lnSpc>
              <a:spcBef>
                <a:spcPts val="0"/>
              </a:spcBef>
              <a:buClrTx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1pPr>
            <a:lvl2pPr marL="654938" indent="-251899" defTabSz="914034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/>
            </a:lvl2pPr>
            <a:lvl3pPr marL="1003998" indent="-201519" defTabSz="914034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/>
            </a:lvl3pPr>
            <a:lvl4pPr marL="1399840" indent="-197921" defTabSz="914034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/>
            </a:lvl4pPr>
            <a:lvl5pPr marL="1802879" indent="-201519" defTabSz="914034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/>
            </a:lvl5pPr>
            <a:lvl6pPr marL="2513594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6pPr>
            <a:lvl7pPr marL="2970611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7pPr>
            <a:lvl8pPr marL="3427628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8pPr>
            <a:lvl9pPr marL="3884646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9pPr>
          </a:lstStyle>
          <a:p>
            <a:r>
              <a:rPr lang="en-US" altLang="zh-CN" dirty="0"/>
              <a:t>AS Boundary Router</a:t>
            </a:r>
          </a:p>
          <a:p>
            <a:r>
              <a:rPr lang="en-US" altLang="zh-CN" dirty="0"/>
              <a:t>AS</a:t>
            </a:r>
            <a:r>
              <a:rPr lang="zh-CN" altLang="en-US" dirty="0"/>
              <a:t>边界路由器，</a:t>
            </a:r>
            <a:r>
              <a:rPr lang="en-US" altLang="zh-CN" dirty="0"/>
              <a:t>ASBR</a:t>
            </a:r>
          </a:p>
        </p:txBody>
      </p:sp>
      <p:sp>
        <p:nvSpPr>
          <p:cNvPr id="143" name="Rectangle 312"/>
          <p:cNvSpPr>
            <a:spLocks noChangeArrowheads="1"/>
          </p:cNvSpPr>
          <p:nvPr/>
        </p:nvSpPr>
        <p:spPr bwMode="gray">
          <a:xfrm>
            <a:off x="2090052" y="3801447"/>
            <a:ext cx="721253" cy="30648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rgbClr val="C7000B"/>
                </a:solidFill>
              </a:rPr>
              <a:t>BR</a:t>
            </a:r>
          </a:p>
        </p:txBody>
      </p:sp>
      <p:sp>
        <p:nvSpPr>
          <p:cNvPr id="144" name="Rectangle 312"/>
          <p:cNvSpPr>
            <a:spLocks noChangeArrowheads="1"/>
          </p:cNvSpPr>
          <p:nvPr/>
        </p:nvSpPr>
        <p:spPr bwMode="gray">
          <a:xfrm>
            <a:off x="5153631" y="3801447"/>
            <a:ext cx="721253" cy="30648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rgbClr val="C7000B"/>
                </a:solidFill>
              </a:rPr>
              <a:t>BR</a:t>
            </a:r>
          </a:p>
        </p:txBody>
      </p:sp>
      <p:sp>
        <p:nvSpPr>
          <p:cNvPr id="145" name="Rectangle 312"/>
          <p:cNvSpPr>
            <a:spLocks noChangeArrowheads="1"/>
          </p:cNvSpPr>
          <p:nvPr/>
        </p:nvSpPr>
        <p:spPr bwMode="gray">
          <a:xfrm>
            <a:off x="8260989" y="3801447"/>
            <a:ext cx="721253" cy="30648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rgbClr val="C7000B"/>
                </a:solidFill>
              </a:rPr>
              <a:t>BR</a:t>
            </a:r>
          </a:p>
        </p:txBody>
      </p:sp>
      <p:sp>
        <p:nvSpPr>
          <p:cNvPr id="146" name="Rectangle 312"/>
          <p:cNvSpPr>
            <a:spLocks noChangeArrowheads="1"/>
          </p:cNvSpPr>
          <p:nvPr/>
        </p:nvSpPr>
        <p:spPr bwMode="gray">
          <a:xfrm>
            <a:off x="4241347" y="2775515"/>
            <a:ext cx="721253" cy="30648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rgbClr val="C7000B"/>
                </a:solidFill>
              </a:rPr>
              <a:t>BR</a:t>
            </a:r>
          </a:p>
        </p:txBody>
      </p:sp>
      <p:sp>
        <p:nvSpPr>
          <p:cNvPr id="147" name="文本占位符 2"/>
          <p:cNvSpPr txBox="1">
            <a:spLocks/>
          </p:cNvSpPr>
          <p:nvPr/>
        </p:nvSpPr>
        <p:spPr bwMode="gray">
          <a:xfrm>
            <a:off x="9595949" y="3875448"/>
            <a:ext cx="2132510" cy="66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3200" tIns="40071" rIns="43200" bIns="40071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indent="0" algn="just" defTabSz="914034" fontAlgn="auto">
              <a:lnSpc>
                <a:spcPct val="100000"/>
              </a:lnSpc>
              <a:spcBef>
                <a:spcPts val="0"/>
              </a:spcBef>
              <a:buClrTx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1pPr>
            <a:lvl2pPr marL="654938" indent="-251899" defTabSz="914034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/>
            </a:lvl2pPr>
            <a:lvl3pPr marL="1003998" indent="-201519" defTabSz="914034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/>
            </a:lvl3pPr>
            <a:lvl4pPr marL="1399840" indent="-197921" defTabSz="914034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/>
            </a:lvl4pPr>
            <a:lvl5pPr marL="1802879" indent="-201519" defTabSz="914034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/>
            </a:lvl5pPr>
            <a:lvl6pPr marL="2513594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6pPr>
            <a:lvl7pPr marL="2970611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7pPr>
            <a:lvl8pPr marL="3427628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8pPr>
            <a:lvl9pPr marL="3884646" indent="-228509" defTabSz="91403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/>
            </a:lvl9pPr>
          </a:lstStyle>
          <a:p>
            <a:r>
              <a:rPr lang="en-US" altLang="zh-CN" dirty="0"/>
              <a:t>Backbone Router</a:t>
            </a:r>
          </a:p>
          <a:p>
            <a:r>
              <a:rPr lang="zh-CN" altLang="en-US" dirty="0"/>
              <a:t>骨干路由器，</a:t>
            </a:r>
            <a:r>
              <a:rPr lang="en-US" altLang="zh-CN" dirty="0"/>
              <a:t>BR</a:t>
            </a:r>
          </a:p>
        </p:txBody>
      </p:sp>
      <p:sp>
        <p:nvSpPr>
          <p:cNvPr id="91" name="五边形 90"/>
          <p:cNvSpPr/>
          <p:nvPr/>
        </p:nvSpPr>
        <p:spPr bwMode="gray">
          <a:xfrm>
            <a:off x="8753159" y="92882"/>
            <a:ext cx="781200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92" name="燕尾形 91"/>
          <p:cNvSpPr/>
          <p:nvPr/>
        </p:nvSpPr>
        <p:spPr bwMode="gray">
          <a:xfrm>
            <a:off x="9451802" y="92882"/>
            <a:ext cx="90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燕尾形 93"/>
          <p:cNvSpPr/>
          <p:nvPr/>
        </p:nvSpPr>
        <p:spPr bwMode="gray">
          <a:xfrm>
            <a:off x="10269245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燕尾形 94"/>
          <p:cNvSpPr/>
          <p:nvPr/>
        </p:nvSpPr>
        <p:spPr bwMode="gray">
          <a:xfrm>
            <a:off x="10967888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</p:spTree>
    <p:extLst>
      <p:ext uri="{BB962C8B-B14F-4D97-AF65-F5344CB8AC3E}">
        <p14:creationId xmlns:p14="http://schemas.microsoft.com/office/powerpoint/2010/main" val="3475572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OSPFv3</a:t>
            </a:r>
            <a:r>
              <a:rPr lang="zh-CN" altLang="en-US" dirty="0"/>
              <a:t>的基本工作原理与</a:t>
            </a:r>
            <a:r>
              <a:rPr lang="en-US" altLang="zh-CN" dirty="0"/>
              <a:t>OSPFv2</a:t>
            </a:r>
            <a:r>
              <a:rPr lang="zh-CN" altLang="en-US" dirty="0"/>
              <a:t>相似</a:t>
            </a:r>
          </a:p>
        </p:txBody>
      </p:sp>
      <p:pic>
        <p:nvPicPr>
          <p:cNvPr id="31" name="图片 30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485115" y="1421877"/>
            <a:ext cx="540000" cy="442800"/>
          </a:xfrm>
          <a:prstGeom prst="rect">
            <a:avLst/>
          </a:prstGeom>
        </p:spPr>
      </p:pic>
      <p:pic>
        <p:nvPicPr>
          <p:cNvPr id="32" name="图片 3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979284" y="1421877"/>
            <a:ext cx="540000" cy="442800"/>
          </a:xfrm>
          <a:prstGeom prst="rect">
            <a:avLst/>
          </a:prstGeom>
        </p:spPr>
      </p:pic>
      <p:pic>
        <p:nvPicPr>
          <p:cNvPr id="33" name="图片 3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751709" y="2629854"/>
            <a:ext cx="540000" cy="442800"/>
          </a:xfrm>
          <a:prstGeom prst="rect">
            <a:avLst/>
          </a:prstGeom>
        </p:spPr>
      </p:pic>
      <p:cxnSp>
        <p:nvCxnSpPr>
          <p:cNvPr id="34" name="直接连接符 33"/>
          <p:cNvCxnSpPr>
            <a:stCxn id="33" idx="1"/>
            <a:endCxn id="31" idx="2"/>
          </p:cNvCxnSpPr>
          <p:nvPr/>
        </p:nvCxnSpPr>
        <p:spPr bwMode="gray">
          <a:xfrm flipH="1" flipV="1">
            <a:off x="7755115" y="1864677"/>
            <a:ext cx="996594" cy="9865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stCxn id="33" idx="3"/>
            <a:endCxn id="32" idx="2"/>
          </p:cNvCxnSpPr>
          <p:nvPr/>
        </p:nvCxnSpPr>
        <p:spPr bwMode="gray">
          <a:xfrm flipV="1">
            <a:off x="9291709" y="1864677"/>
            <a:ext cx="957575" cy="9865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>
            <a:stCxn id="32" idx="1"/>
            <a:endCxn id="31" idx="3"/>
          </p:cNvCxnSpPr>
          <p:nvPr/>
        </p:nvCxnSpPr>
        <p:spPr bwMode="gray">
          <a:xfrm flipH="1">
            <a:off x="8025115" y="1643277"/>
            <a:ext cx="19541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 bwMode="gray">
          <a:xfrm>
            <a:off x="8253412" y="1520686"/>
            <a:ext cx="1517084" cy="0"/>
          </a:xfrm>
          <a:prstGeom prst="straightConnector1">
            <a:avLst/>
          </a:prstGeom>
          <a:ln w="25400">
            <a:solidFill>
              <a:srgbClr val="30B5C5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 bwMode="gray">
          <a:xfrm>
            <a:off x="7026985" y="1448701"/>
            <a:ext cx="485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 bwMode="gray">
          <a:xfrm>
            <a:off x="10543835" y="1436267"/>
            <a:ext cx="485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文本框 43"/>
          <p:cNvSpPr txBox="1"/>
          <p:nvPr/>
        </p:nvSpPr>
        <p:spPr bwMode="gray">
          <a:xfrm>
            <a:off x="8806289" y="3063838"/>
            <a:ext cx="485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45" name="直接箭头连接符 44"/>
          <p:cNvCxnSpPr/>
          <p:nvPr/>
        </p:nvCxnSpPr>
        <p:spPr bwMode="gray">
          <a:xfrm>
            <a:off x="7755115" y="2012915"/>
            <a:ext cx="868296" cy="889221"/>
          </a:xfrm>
          <a:prstGeom prst="straightConnector1">
            <a:avLst/>
          </a:prstGeom>
          <a:ln w="25400">
            <a:solidFill>
              <a:srgbClr val="30B5C5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 bwMode="gray">
          <a:xfrm flipH="1">
            <a:off x="9438764" y="2012915"/>
            <a:ext cx="810520" cy="838339"/>
          </a:xfrm>
          <a:prstGeom prst="straightConnector1">
            <a:avLst/>
          </a:prstGeom>
          <a:ln w="25400">
            <a:solidFill>
              <a:srgbClr val="30B5C5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 bwMode="gray">
          <a:xfrm>
            <a:off x="8274126" y="1126280"/>
            <a:ext cx="1747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链路状态信息</a:t>
            </a:r>
          </a:p>
        </p:txBody>
      </p:sp>
      <p:sp>
        <p:nvSpPr>
          <p:cNvPr id="48" name="文本框 47"/>
          <p:cNvSpPr txBox="1"/>
          <p:nvPr/>
        </p:nvSpPr>
        <p:spPr bwMode="gray">
          <a:xfrm rot="2682494">
            <a:off x="7206405" y="2565504"/>
            <a:ext cx="1747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链路状态信息</a:t>
            </a:r>
          </a:p>
        </p:txBody>
      </p:sp>
      <p:sp>
        <p:nvSpPr>
          <p:cNvPr id="49" name="文本框 48"/>
          <p:cNvSpPr txBox="1"/>
          <p:nvPr/>
        </p:nvSpPr>
        <p:spPr bwMode="gray">
          <a:xfrm rot="18884879">
            <a:off x="9325231" y="2289682"/>
            <a:ext cx="1747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链路状态信息</a:t>
            </a:r>
          </a:p>
        </p:txBody>
      </p:sp>
      <p:pic>
        <p:nvPicPr>
          <p:cNvPr id="50" name="图片 49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738976" y="1421877"/>
            <a:ext cx="540000" cy="442800"/>
          </a:xfrm>
          <a:prstGeom prst="rect">
            <a:avLst/>
          </a:prstGeom>
        </p:spPr>
      </p:pic>
      <p:pic>
        <p:nvPicPr>
          <p:cNvPr id="51" name="图片 50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233145" y="1421877"/>
            <a:ext cx="540000" cy="442800"/>
          </a:xfrm>
          <a:prstGeom prst="rect">
            <a:avLst/>
          </a:prstGeom>
        </p:spPr>
      </p:pic>
      <p:pic>
        <p:nvPicPr>
          <p:cNvPr id="52" name="图片 51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05570" y="2629854"/>
            <a:ext cx="540000" cy="442800"/>
          </a:xfrm>
          <a:prstGeom prst="rect">
            <a:avLst/>
          </a:prstGeom>
        </p:spPr>
      </p:pic>
      <p:cxnSp>
        <p:nvCxnSpPr>
          <p:cNvPr id="53" name="直接连接符 52"/>
          <p:cNvCxnSpPr>
            <a:stCxn id="52" idx="1"/>
            <a:endCxn id="50" idx="2"/>
          </p:cNvCxnSpPr>
          <p:nvPr/>
        </p:nvCxnSpPr>
        <p:spPr bwMode="gray">
          <a:xfrm flipH="1" flipV="1">
            <a:off x="2008976" y="1864677"/>
            <a:ext cx="996594" cy="9865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stCxn id="52" idx="3"/>
            <a:endCxn id="51" idx="2"/>
          </p:cNvCxnSpPr>
          <p:nvPr/>
        </p:nvCxnSpPr>
        <p:spPr bwMode="gray">
          <a:xfrm flipV="1">
            <a:off x="3545570" y="1864677"/>
            <a:ext cx="957575" cy="9865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>
            <a:stCxn id="51" idx="1"/>
            <a:endCxn id="50" idx="3"/>
          </p:cNvCxnSpPr>
          <p:nvPr/>
        </p:nvCxnSpPr>
        <p:spPr bwMode="gray">
          <a:xfrm flipH="1">
            <a:off x="2278976" y="1643277"/>
            <a:ext cx="19541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 bwMode="gray">
          <a:xfrm>
            <a:off x="2507273" y="1570114"/>
            <a:ext cx="1517084" cy="0"/>
          </a:xfrm>
          <a:prstGeom prst="straightConnector1">
            <a:avLst/>
          </a:prstGeom>
          <a:ln w="25400">
            <a:solidFill>
              <a:srgbClr val="30B5C5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 bwMode="gray">
          <a:xfrm>
            <a:off x="1280846" y="1448701"/>
            <a:ext cx="485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 bwMode="gray">
          <a:xfrm>
            <a:off x="4797696" y="1436267"/>
            <a:ext cx="485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9" name="文本框 58"/>
          <p:cNvSpPr txBox="1"/>
          <p:nvPr/>
        </p:nvSpPr>
        <p:spPr bwMode="gray">
          <a:xfrm>
            <a:off x="3060150" y="3063838"/>
            <a:ext cx="485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0" name="直接箭头连接符 59"/>
          <p:cNvCxnSpPr/>
          <p:nvPr/>
        </p:nvCxnSpPr>
        <p:spPr bwMode="gray">
          <a:xfrm>
            <a:off x="2008976" y="2012915"/>
            <a:ext cx="868296" cy="889221"/>
          </a:xfrm>
          <a:prstGeom prst="straightConnector1">
            <a:avLst/>
          </a:prstGeom>
          <a:ln w="25400">
            <a:solidFill>
              <a:srgbClr val="30B5C5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 bwMode="gray">
          <a:xfrm flipH="1">
            <a:off x="3692625" y="2012915"/>
            <a:ext cx="810520" cy="838339"/>
          </a:xfrm>
          <a:prstGeom prst="straightConnector1">
            <a:avLst/>
          </a:prstGeom>
          <a:ln w="25400">
            <a:solidFill>
              <a:srgbClr val="30B5C5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 bwMode="gray">
          <a:xfrm>
            <a:off x="2540344" y="1212779"/>
            <a:ext cx="1747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建立邻居关系</a:t>
            </a:r>
          </a:p>
        </p:txBody>
      </p:sp>
      <p:sp>
        <p:nvSpPr>
          <p:cNvPr id="63" name="文本框 62"/>
          <p:cNvSpPr txBox="1"/>
          <p:nvPr/>
        </p:nvSpPr>
        <p:spPr bwMode="gray">
          <a:xfrm rot="2682494">
            <a:off x="1509694" y="2565504"/>
            <a:ext cx="1747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建立邻居关系</a:t>
            </a:r>
          </a:p>
        </p:txBody>
      </p:sp>
      <p:sp>
        <p:nvSpPr>
          <p:cNvPr id="64" name="文本框 63"/>
          <p:cNvSpPr txBox="1"/>
          <p:nvPr/>
        </p:nvSpPr>
        <p:spPr bwMode="gray">
          <a:xfrm rot="18884879">
            <a:off x="3542021" y="2326753"/>
            <a:ext cx="17474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建立邻居关系</a:t>
            </a:r>
          </a:p>
        </p:txBody>
      </p:sp>
      <p:pic>
        <p:nvPicPr>
          <p:cNvPr id="65" name="图片 6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485115" y="4091947"/>
            <a:ext cx="540000" cy="442800"/>
          </a:xfrm>
          <a:prstGeom prst="rect">
            <a:avLst/>
          </a:prstGeom>
        </p:spPr>
      </p:pic>
      <p:pic>
        <p:nvPicPr>
          <p:cNvPr id="66" name="图片 6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9979284" y="4091947"/>
            <a:ext cx="540000" cy="442800"/>
          </a:xfrm>
          <a:prstGeom prst="rect">
            <a:avLst/>
          </a:prstGeom>
        </p:spPr>
      </p:pic>
      <p:pic>
        <p:nvPicPr>
          <p:cNvPr id="67" name="图片 66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8751709" y="5299924"/>
            <a:ext cx="540000" cy="442800"/>
          </a:xfrm>
          <a:prstGeom prst="rect">
            <a:avLst/>
          </a:prstGeom>
        </p:spPr>
      </p:pic>
      <p:cxnSp>
        <p:nvCxnSpPr>
          <p:cNvPr id="68" name="直接连接符 67"/>
          <p:cNvCxnSpPr>
            <a:stCxn id="67" idx="1"/>
            <a:endCxn id="65" idx="2"/>
          </p:cNvCxnSpPr>
          <p:nvPr/>
        </p:nvCxnSpPr>
        <p:spPr bwMode="gray">
          <a:xfrm flipH="1" flipV="1">
            <a:off x="7755115" y="4534747"/>
            <a:ext cx="996594" cy="9865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stCxn id="67" idx="3"/>
            <a:endCxn id="66" idx="2"/>
          </p:cNvCxnSpPr>
          <p:nvPr/>
        </p:nvCxnSpPr>
        <p:spPr bwMode="gray">
          <a:xfrm flipV="1">
            <a:off x="9291709" y="4534747"/>
            <a:ext cx="957575" cy="9865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>
            <a:stCxn id="66" idx="1"/>
            <a:endCxn id="65" idx="3"/>
          </p:cNvCxnSpPr>
          <p:nvPr/>
        </p:nvCxnSpPr>
        <p:spPr bwMode="gray">
          <a:xfrm flipH="1">
            <a:off x="8025115" y="4313347"/>
            <a:ext cx="19541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 bwMode="gray">
          <a:xfrm>
            <a:off x="7026985" y="4118771"/>
            <a:ext cx="485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文本框 71"/>
          <p:cNvSpPr txBox="1"/>
          <p:nvPr/>
        </p:nvSpPr>
        <p:spPr bwMode="gray">
          <a:xfrm>
            <a:off x="10543835" y="4106337"/>
            <a:ext cx="485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3" name="文本框 72"/>
          <p:cNvSpPr txBox="1"/>
          <p:nvPr/>
        </p:nvSpPr>
        <p:spPr bwMode="gray">
          <a:xfrm>
            <a:off x="8806289" y="5733908"/>
            <a:ext cx="485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74" name="图片 7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738976" y="4091947"/>
            <a:ext cx="540000" cy="442800"/>
          </a:xfrm>
          <a:prstGeom prst="rect">
            <a:avLst/>
          </a:prstGeom>
        </p:spPr>
      </p:pic>
      <p:pic>
        <p:nvPicPr>
          <p:cNvPr id="75" name="图片 7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233145" y="4091947"/>
            <a:ext cx="540000" cy="442800"/>
          </a:xfrm>
          <a:prstGeom prst="rect">
            <a:avLst/>
          </a:prstGeom>
        </p:spPr>
      </p:pic>
      <p:pic>
        <p:nvPicPr>
          <p:cNvPr id="76" name="图片 7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05570" y="5299924"/>
            <a:ext cx="540000" cy="442800"/>
          </a:xfrm>
          <a:prstGeom prst="rect">
            <a:avLst/>
          </a:prstGeom>
        </p:spPr>
      </p:pic>
      <p:cxnSp>
        <p:nvCxnSpPr>
          <p:cNvPr id="77" name="直接连接符 76"/>
          <p:cNvCxnSpPr>
            <a:stCxn id="76" idx="1"/>
            <a:endCxn id="74" idx="2"/>
          </p:cNvCxnSpPr>
          <p:nvPr/>
        </p:nvCxnSpPr>
        <p:spPr bwMode="gray">
          <a:xfrm flipH="1" flipV="1">
            <a:off x="2008976" y="4534747"/>
            <a:ext cx="996594" cy="9865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>
            <a:stCxn id="76" idx="3"/>
            <a:endCxn id="75" idx="2"/>
          </p:cNvCxnSpPr>
          <p:nvPr/>
        </p:nvCxnSpPr>
        <p:spPr bwMode="gray">
          <a:xfrm flipV="1">
            <a:off x="3545570" y="4534747"/>
            <a:ext cx="957575" cy="9865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stCxn id="75" idx="1"/>
            <a:endCxn id="74" idx="3"/>
          </p:cNvCxnSpPr>
          <p:nvPr/>
        </p:nvCxnSpPr>
        <p:spPr bwMode="gray">
          <a:xfrm flipH="1">
            <a:off x="2278976" y="4313347"/>
            <a:ext cx="195416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/>
          <p:cNvSpPr txBox="1"/>
          <p:nvPr/>
        </p:nvSpPr>
        <p:spPr bwMode="gray">
          <a:xfrm>
            <a:off x="1280846" y="4118771"/>
            <a:ext cx="485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文本框 80"/>
          <p:cNvSpPr txBox="1"/>
          <p:nvPr/>
        </p:nvSpPr>
        <p:spPr bwMode="gray">
          <a:xfrm>
            <a:off x="4797696" y="4106337"/>
            <a:ext cx="485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文本框 81"/>
          <p:cNvSpPr txBox="1"/>
          <p:nvPr/>
        </p:nvSpPr>
        <p:spPr bwMode="gray">
          <a:xfrm>
            <a:off x="3060150" y="5733908"/>
            <a:ext cx="485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文本框 82"/>
          <p:cNvSpPr txBox="1"/>
          <p:nvPr/>
        </p:nvSpPr>
        <p:spPr bwMode="gray">
          <a:xfrm>
            <a:off x="1437111" y="3684120"/>
            <a:ext cx="11437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路径计算</a:t>
            </a:r>
          </a:p>
        </p:txBody>
      </p:sp>
      <p:sp>
        <p:nvSpPr>
          <p:cNvPr id="84" name="文本框 83"/>
          <p:cNvSpPr txBox="1"/>
          <p:nvPr/>
        </p:nvSpPr>
        <p:spPr bwMode="gray">
          <a:xfrm>
            <a:off x="3947530" y="3684120"/>
            <a:ext cx="11437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路径计算</a:t>
            </a:r>
          </a:p>
        </p:txBody>
      </p:sp>
      <p:sp>
        <p:nvSpPr>
          <p:cNvPr id="85" name="文本框 84"/>
          <p:cNvSpPr txBox="1"/>
          <p:nvPr/>
        </p:nvSpPr>
        <p:spPr bwMode="gray">
          <a:xfrm>
            <a:off x="1908816" y="5713318"/>
            <a:ext cx="11437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路径计算</a:t>
            </a:r>
          </a:p>
        </p:txBody>
      </p:sp>
      <p:sp>
        <p:nvSpPr>
          <p:cNvPr id="86" name="梯形 12"/>
          <p:cNvSpPr/>
          <p:nvPr/>
        </p:nvSpPr>
        <p:spPr bwMode="gray">
          <a:xfrm rot="5400000">
            <a:off x="3467159" y="5209415"/>
            <a:ext cx="972237" cy="815415"/>
          </a:xfrm>
          <a:custGeom>
            <a:avLst/>
            <a:gdLst>
              <a:gd name="connsiteX0" fmla="*/ 0 w 2811572"/>
              <a:gd name="connsiteY0" fmla="*/ 661945 h 661945"/>
              <a:gd name="connsiteX1" fmla="*/ 501351 w 2811572"/>
              <a:gd name="connsiteY1" fmla="*/ 0 h 661945"/>
              <a:gd name="connsiteX2" fmla="*/ 2310221 w 2811572"/>
              <a:gd name="connsiteY2" fmla="*/ 0 h 661945"/>
              <a:gd name="connsiteX3" fmla="*/ 2811572 w 2811572"/>
              <a:gd name="connsiteY3" fmla="*/ 661945 h 661945"/>
              <a:gd name="connsiteX4" fmla="*/ 0 w 2811572"/>
              <a:gd name="connsiteY4" fmla="*/ 661945 h 661945"/>
              <a:gd name="connsiteX0" fmla="*/ 0 w 2310221"/>
              <a:gd name="connsiteY0" fmla="*/ 661945 h 707665"/>
              <a:gd name="connsiteX1" fmla="*/ 501351 w 2310221"/>
              <a:gd name="connsiteY1" fmla="*/ 0 h 707665"/>
              <a:gd name="connsiteX2" fmla="*/ 2310221 w 2310221"/>
              <a:gd name="connsiteY2" fmla="*/ 0 h 707665"/>
              <a:gd name="connsiteX3" fmla="*/ 1599992 w 2310221"/>
              <a:gd name="connsiteY3" fmla="*/ 707665 h 707665"/>
              <a:gd name="connsiteX4" fmla="*/ 0 w 2310221"/>
              <a:gd name="connsiteY4" fmla="*/ 661945 h 707665"/>
              <a:gd name="connsiteX0" fmla="*/ 580689 w 1808870"/>
              <a:gd name="connsiteY0" fmla="*/ 753385 h 753385"/>
              <a:gd name="connsiteX1" fmla="*/ 0 w 1808870"/>
              <a:gd name="connsiteY1" fmla="*/ 0 h 753385"/>
              <a:gd name="connsiteX2" fmla="*/ 1808870 w 1808870"/>
              <a:gd name="connsiteY2" fmla="*/ 0 h 753385"/>
              <a:gd name="connsiteX3" fmla="*/ 1098641 w 1808870"/>
              <a:gd name="connsiteY3" fmla="*/ 707665 h 753385"/>
              <a:gd name="connsiteX4" fmla="*/ 580689 w 1808870"/>
              <a:gd name="connsiteY4" fmla="*/ 753385 h 753385"/>
              <a:gd name="connsiteX0" fmla="*/ 580689 w 1808870"/>
              <a:gd name="connsiteY0" fmla="*/ 715285 h 715285"/>
              <a:gd name="connsiteX1" fmla="*/ 0 w 1808870"/>
              <a:gd name="connsiteY1" fmla="*/ 0 h 715285"/>
              <a:gd name="connsiteX2" fmla="*/ 1808870 w 1808870"/>
              <a:gd name="connsiteY2" fmla="*/ 0 h 715285"/>
              <a:gd name="connsiteX3" fmla="*/ 1098641 w 1808870"/>
              <a:gd name="connsiteY3" fmla="*/ 707665 h 715285"/>
              <a:gd name="connsiteX4" fmla="*/ 580689 w 1808870"/>
              <a:gd name="connsiteY4" fmla="*/ 715285 h 715285"/>
              <a:gd name="connsiteX0" fmla="*/ 1152189 w 2380370"/>
              <a:gd name="connsiteY0" fmla="*/ 890545 h 890545"/>
              <a:gd name="connsiteX1" fmla="*/ 0 w 2380370"/>
              <a:gd name="connsiteY1" fmla="*/ 0 h 890545"/>
              <a:gd name="connsiteX2" fmla="*/ 2380370 w 2380370"/>
              <a:gd name="connsiteY2" fmla="*/ 175260 h 890545"/>
              <a:gd name="connsiteX3" fmla="*/ 1670141 w 2380370"/>
              <a:gd name="connsiteY3" fmla="*/ 882925 h 890545"/>
              <a:gd name="connsiteX4" fmla="*/ 1152189 w 2380370"/>
              <a:gd name="connsiteY4" fmla="*/ 890545 h 890545"/>
              <a:gd name="connsiteX0" fmla="*/ 1152189 w 2890910"/>
              <a:gd name="connsiteY0" fmla="*/ 905785 h 905785"/>
              <a:gd name="connsiteX1" fmla="*/ 0 w 2890910"/>
              <a:gd name="connsiteY1" fmla="*/ 15240 h 905785"/>
              <a:gd name="connsiteX2" fmla="*/ 2890910 w 2890910"/>
              <a:gd name="connsiteY2" fmla="*/ 0 h 905785"/>
              <a:gd name="connsiteX3" fmla="*/ 1670141 w 2890910"/>
              <a:gd name="connsiteY3" fmla="*/ 898165 h 905785"/>
              <a:gd name="connsiteX4" fmla="*/ 1152189 w 2890910"/>
              <a:gd name="connsiteY4" fmla="*/ 905785 h 905785"/>
              <a:gd name="connsiteX0" fmla="*/ 1272945 w 2890910"/>
              <a:gd name="connsiteY0" fmla="*/ 1035489 h 1035489"/>
              <a:gd name="connsiteX1" fmla="*/ 0 w 2890910"/>
              <a:gd name="connsiteY1" fmla="*/ 15240 h 1035489"/>
              <a:gd name="connsiteX2" fmla="*/ 2890910 w 2890910"/>
              <a:gd name="connsiteY2" fmla="*/ 0 h 1035489"/>
              <a:gd name="connsiteX3" fmla="*/ 1670141 w 2890910"/>
              <a:gd name="connsiteY3" fmla="*/ 898165 h 1035489"/>
              <a:gd name="connsiteX4" fmla="*/ 1272945 w 2890910"/>
              <a:gd name="connsiteY4" fmla="*/ 1035489 h 1035489"/>
              <a:gd name="connsiteX0" fmla="*/ 1272945 w 2890910"/>
              <a:gd name="connsiteY0" fmla="*/ 1035489 h 1044082"/>
              <a:gd name="connsiteX1" fmla="*/ 0 w 2890910"/>
              <a:gd name="connsiteY1" fmla="*/ 15240 h 1044082"/>
              <a:gd name="connsiteX2" fmla="*/ 2890910 w 2890910"/>
              <a:gd name="connsiteY2" fmla="*/ 0 h 1044082"/>
              <a:gd name="connsiteX3" fmla="*/ 1750646 w 2890910"/>
              <a:gd name="connsiteY3" fmla="*/ 1044082 h 1044082"/>
              <a:gd name="connsiteX4" fmla="*/ 1272945 w 2890910"/>
              <a:gd name="connsiteY4" fmla="*/ 1035489 h 1044082"/>
              <a:gd name="connsiteX0" fmla="*/ 1161926 w 2890910"/>
              <a:gd name="connsiteY0" fmla="*/ 1130128 h 1130128"/>
              <a:gd name="connsiteX1" fmla="*/ 0 w 2890910"/>
              <a:gd name="connsiteY1" fmla="*/ 15240 h 1130128"/>
              <a:gd name="connsiteX2" fmla="*/ 2890910 w 2890910"/>
              <a:gd name="connsiteY2" fmla="*/ 0 h 1130128"/>
              <a:gd name="connsiteX3" fmla="*/ 1750646 w 2890910"/>
              <a:gd name="connsiteY3" fmla="*/ 1044082 h 1130128"/>
              <a:gd name="connsiteX4" fmla="*/ 1161926 w 2890910"/>
              <a:gd name="connsiteY4" fmla="*/ 1130128 h 1130128"/>
              <a:gd name="connsiteX0" fmla="*/ 1161926 w 2890910"/>
              <a:gd name="connsiteY0" fmla="*/ 1130128 h 1130128"/>
              <a:gd name="connsiteX1" fmla="*/ 0 w 2890910"/>
              <a:gd name="connsiteY1" fmla="*/ 15240 h 1130128"/>
              <a:gd name="connsiteX2" fmla="*/ 2890910 w 2890910"/>
              <a:gd name="connsiteY2" fmla="*/ 0 h 1130128"/>
              <a:gd name="connsiteX3" fmla="*/ 1750650 w 2890910"/>
              <a:gd name="connsiteY3" fmla="*/ 1128205 h 1130128"/>
              <a:gd name="connsiteX4" fmla="*/ 1161926 w 2890910"/>
              <a:gd name="connsiteY4" fmla="*/ 1130128 h 1130128"/>
              <a:gd name="connsiteX0" fmla="*/ 1073109 w 2890910"/>
              <a:gd name="connsiteY0" fmla="*/ 1130128 h 1130128"/>
              <a:gd name="connsiteX1" fmla="*/ 0 w 2890910"/>
              <a:gd name="connsiteY1" fmla="*/ 15240 h 1130128"/>
              <a:gd name="connsiteX2" fmla="*/ 2890910 w 2890910"/>
              <a:gd name="connsiteY2" fmla="*/ 0 h 1130128"/>
              <a:gd name="connsiteX3" fmla="*/ 1750650 w 2890910"/>
              <a:gd name="connsiteY3" fmla="*/ 1128205 h 1130128"/>
              <a:gd name="connsiteX4" fmla="*/ 1073109 w 2890910"/>
              <a:gd name="connsiteY4" fmla="*/ 1130128 h 1130128"/>
              <a:gd name="connsiteX0" fmla="*/ 1073109 w 2890910"/>
              <a:gd name="connsiteY0" fmla="*/ 1130128 h 1130128"/>
              <a:gd name="connsiteX1" fmla="*/ 0 w 2890910"/>
              <a:gd name="connsiteY1" fmla="*/ 15240 h 1130128"/>
              <a:gd name="connsiteX2" fmla="*/ 2890910 w 2890910"/>
              <a:gd name="connsiteY2" fmla="*/ 0 h 1130128"/>
              <a:gd name="connsiteX3" fmla="*/ 1883879 w 2890910"/>
              <a:gd name="connsiteY3" fmla="*/ 1128205 h 1130128"/>
              <a:gd name="connsiteX4" fmla="*/ 1073109 w 2890910"/>
              <a:gd name="connsiteY4" fmla="*/ 1130128 h 1130128"/>
              <a:gd name="connsiteX0" fmla="*/ 1961299 w 3779100"/>
              <a:gd name="connsiteY0" fmla="*/ 1968608 h 1968608"/>
              <a:gd name="connsiteX1" fmla="*/ 0 w 3779100"/>
              <a:gd name="connsiteY1" fmla="*/ 0 h 1968608"/>
              <a:gd name="connsiteX2" fmla="*/ 3779100 w 3779100"/>
              <a:gd name="connsiteY2" fmla="*/ 838480 h 1968608"/>
              <a:gd name="connsiteX3" fmla="*/ 2772069 w 3779100"/>
              <a:gd name="connsiteY3" fmla="*/ 1966685 h 1968608"/>
              <a:gd name="connsiteX4" fmla="*/ 1961299 w 3779100"/>
              <a:gd name="connsiteY4" fmla="*/ 1968608 h 1968608"/>
              <a:gd name="connsiteX0" fmla="*/ 1961299 w 4800518"/>
              <a:gd name="connsiteY0" fmla="*/ 2021791 h 2021791"/>
              <a:gd name="connsiteX1" fmla="*/ 0 w 4800518"/>
              <a:gd name="connsiteY1" fmla="*/ 53183 h 2021791"/>
              <a:gd name="connsiteX2" fmla="*/ 4800518 w 4800518"/>
              <a:gd name="connsiteY2" fmla="*/ 0 h 2021791"/>
              <a:gd name="connsiteX3" fmla="*/ 2772069 w 4800518"/>
              <a:gd name="connsiteY3" fmla="*/ 2019868 h 2021791"/>
              <a:gd name="connsiteX4" fmla="*/ 1961299 w 4800518"/>
              <a:gd name="connsiteY4" fmla="*/ 2021791 h 2021791"/>
              <a:gd name="connsiteX0" fmla="*/ 1961299 w 4800518"/>
              <a:gd name="connsiteY0" fmla="*/ 2021791 h 2021791"/>
              <a:gd name="connsiteX1" fmla="*/ 0 w 4800518"/>
              <a:gd name="connsiteY1" fmla="*/ 15240 h 2021791"/>
              <a:gd name="connsiteX2" fmla="*/ 4800518 w 4800518"/>
              <a:gd name="connsiteY2" fmla="*/ 0 h 2021791"/>
              <a:gd name="connsiteX3" fmla="*/ 2772069 w 4800518"/>
              <a:gd name="connsiteY3" fmla="*/ 2019868 h 2021791"/>
              <a:gd name="connsiteX4" fmla="*/ 1961299 w 4800518"/>
              <a:gd name="connsiteY4" fmla="*/ 2021791 h 2021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00518" h="2021791">
                <a:moveTo>
                  <a:pt x="1961299" y="2021791"/>
                </a:moveTo>
                <a:lnTo>
                  <a:pt x="0" y="15240"/>
                </a:lnTo>
                <a:lnTo>
                  <a:pt x="4800518" y="0"/>
                </a:lnTo>
                <a:lnTo>
                  <a:pt x="2772069" y="2019868"/>
                </a:lnTo>
                <a:lnTo>
                  <a:pt x="1961299" y="2021791"/>
                </a:ln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rgbClr val="94DAE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椭圆 86"/>
          <p:cNvSpPr/>
          <p:nvPr/>
        </p:nvSpPr>
        <p:spPr bwMode="gray">
          <a:xfrm>
            <a:off x="4123256" y="4908408"/>
            <a:ext cx="1299778" cy="1277787"/>
          </a:xfrm>
          <a:prstGeom prst="ellipse">
            <a:avLst/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  <a:sym typeface="Huawei Sans" panose="020C0503030203020204" pitchFamily="34" charset="0"/>
            </a:endParaRPr>
          </a:p>
        </p:txBody>
      </p:sp>
      <p:sp>
        <p:nvSpPr>
          <p:cNvPr id="88" name="Oval 4"/>
          <p:cNvSpPr>
            <a:spLocks noChangeAspect="1"/>
          </p:cNvSpPr>
          <p:nvPr/>
        </p:nvSpPr>
        <p:spPr bwMode="gray">
          <a:xfrm>
            <a:off x="4237252" y="5142596"/>
            <a:ext cx="282142" cy="282142"/>
          </a:xfrm>
          <a:prstGeom prst="ellipse">
            <a:avLst/>
          </a:prstGeom>
          <a:solidFill>
            <a:srgbClr val="EC706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6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Oval 4"/>
          <p:cNvSpPr>
            <a:spLocks noChangeAspect="1"/>
          </p:cNvSpPr>
          <p:nvPr/>
        </p:nvSpPr>
        <p:spPr bwMode="gray">
          <a:xfrm>
            <a:off x="5020927" y="5148480"/>
            <a:ext cx="282142" cy="282142"/>
          </a:xfrm>
          <a:prstGeom prst="ellipse">
            <a:avLst/>
          </a:prstGeom>
          <a:solidFill>
            <a:srgbClr val="EC706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6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0" name="Oval 4"/>
          <p:cNvSpPr>
            <a:spLocks noChangeAspect="1"/>
          </p:cNvSpPr>
          <p:nvPr/>
        </p:nvSpPr>
        <p:spPr bwMode="gray">
          <a:xfrm>
            <a:off x="4632074" y="5836982"/>
            <a:ext cx="282142" cy="282142"/>
          </a:xfrm>
          <a:prstGeom prst="ellipse">
            <a:avLst/>
          </a:prstGeom>
          <a:solidFill>
            <a:srgbClr val="EC706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6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91" name="组合 90"/>
          <p:cNvGrpSpPr/>
          <p:nvPr/>
        </p:nvGrpSpPr>
        <p:grpSpPr bwMode="gray">
          <a:xfrm>
            <a:off x="4528285" y="5186362"/>
            <a:ext cx="492642" cy="168920"/>
            <a:chOff x="5928528" y="1911781"/>
            <a:chExt cx="538143" cy="205252"/>
          </a:xfrm>
        </p:grpSpPr>
        <p:cxnSp>
          <p:nvCxnSpPr>
            <p:cNvPr id="92" name="直接箭头连接符 91"/>
            <p:cNvCxnSpPr/>
            <p:nvPr/>
          </p:nvCxnSpPr>
          <p:spPr bwMode="gray">
            <a:xfrm>
              <a:off x="5928528" y="2117033"/>
              <a:ext cx="538143" cy="0"/>
            </a:xfrm>
            <a:prstGeom prst="straightConnector1">
              <a:avLst/>
            </a:prstGeom>
            <a:ln w="25400">
              <a:solidFill>
                <a:srgbClr val="EC706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/>
            <p:cNvCxnSpPr/>
            <p:nvPr/>
          </p:nvCxnSpPr>
          <p:spPr bwMode="gray">
            <a:xfrm flipH="1">
              <a:off x="5928528" y="1911781"/>
              <a:ext cx="530328" cy="0"/>
            </a:xfrm>
            <a:prstGeom prst="straightConnector1">
              <a:avLst/>
            </a:prstGeom>
            <a:ln w="25400">
              <a:solidFill>
                <a:srgbClr val="EC706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组合 93"/>
          <p:cNvGrpSpPr/>
          <p:nvPr/>
        </p:nvGrpSpPr>
        <p:grpSpPr bwMode="gray">
          <a:xfrm rot="2959008">
            <a:off x="4185745" y="5615330"/>
            <a:ext cx="492642" cy="168920"/>
            <a:chOff x="5928528" y="1911781"/>
            <a:chExt cx="538143" cy="205252"/>
          </a:xfrm>
        </p:grpSpPr>
        <p:cxnSp>
          <p:nvCxnSpPr>
            <p:cNvPr id="95" name="直接箭头连接符 94"/>
            <p:cNvCxnSpPr/>
            <p:nvPr/>
          </p:nvCxnSpPr>
          <p:spPr bwMode="gray">
            <a:xfrm>
              <a:off x="5928528" y="2117033"/>
              <a:ext cx="538143" cy="0"/>
            </a:xfrm>
            <a:prstGeom prst="straightConnector1">
              <a:avLst/>
            </a:prstGeom>
            <a:ln w="25400">
              <a:solidFill>
                <a:srgbClr val="EC706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/>
            <p:cNvCxnSpPr/>
            <p:nvPr/>
          </p:nvCxnSpPr>
          <p:spPr bwMode="gray">
            <a:xfrm flipH="1">
              <a:off x="5928528" y="1911781"/>
              <a:ext cx="530328" cy="0"/>
            </a:xfrm>
            <a:prstGeom prst="straightConnector1">
              <a:avLst/>
            </a:prstGeom>
            <a:ln w="25400">
              <a:solidFill>
                <a:srgbClr val="EC706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组合 96"/>
          <p:cNvGrpSpPr/>
          <p:nvPr/>
        </p:nvGrpSpPr>
        <p:grpSpPr bwMode="gray">
          <a:xfrm rot="17691156">
            <a:off x="4865969" y="5601549"/>
            <a:ext cx="492642" cy="168920"/>
            <a:chOff x="5928528" y="1911781"/>
            <a:chExt cx="538143" cy="205252"/>
          </a:xfrm>
        </p:grpSpPr>
        <p:cxnSp>
          <p:nvCxnSpPr>
            <p:cNvPr id="98" name="直接箭头连接符 97"/>
            <p:cNvCxnSpPr/>
            <p:nvPr/>
          </p:nvCxnSpPr>
          <p:spPr bwMode="gray">
            <a:xfrm>
              <a:off x="5928528" y="2117033"/>
              <a:ext cx="538143" cy="0"/>
            </a:xfrm>
            <a:prstGeom prst="straightConnector1">
              <a:avLst/>
            </a:prstGeom>
            <a:ln w="25400">
              <a:solidFill>
                <a:srgbClr val="EC706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/>
            <p:cNvCxnSpPr/>
            <p:nvPr/>
          </p:nvCxnSpPr>
          <p:spPr bwMode="gray">
            <a:xfrm flipH="1">
              <a:off x="5928528" y="1911781"/>
              <a:ext cx="530328" cy="0"/>
            </a:xfrm>
            <a:prstGeom prst="straightConnector1">
              <a:avLst/>
            </a:prstGeom>
            <a:ln w="25400">
              <a:solidFill>
                <a:srgbClr val="EC706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矩形 99"/>
          <p:cNvSpPr/>
          <p:nvPr/>
        </p:nvSpPr>
        <p:spPr bwMode="gray">
          <a:xfrm>
            <a:off x="7343080" y="1059313"/>
            <a:ext cx="775633" cy="330460"/>
          </a:xfrm>
          <a:prstGeom prst="rect">
            <a:avLst/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600" dirty="0">
                <a:sym typeface="Huawei Sans" panose="020C0503030203020204" pitchFamily="34" charset="0"/>
              </a:rPr>
              <a:t>LSDB</a:t>
            </a:r>
            <a:endParaRPr lang="zh-CN" altLang="en-US" sz="1600" dirty="0">
              <a:sym typeface="Huawei Sans" panose="020C0503030203020204" pitchFamily="34" charset="0"/>
            </a:endParaRPr>
          </a:p>
        </p:txBody>
      </p:sp>
      <p:sp>
        <p:nvSpPr>
          <p:cNvPr id="101" name="矩形 100"/>
          <p:cNvSpPr/>
          <p:nvPr/>
        </p:nvSpPr>
        <p:spPr bwMode="gray">
          <a:xfrm>
            <a:off x="9861467" y="1059313"/>
            <a:ext cx="775633" cy="330460"/>
          </a:xfrm>
          <a:prstGeom prst="rect">
            <a:avLst/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sym typeface="Huawei Sans" panose="020C0503030203020204" pitchFamily="34" charset="0"/>
              </a:rPr>
              <a:t>LSDB</a:t>
            </a:r>
            <a:endParaRPr lang="zh-CN" altLang="en-US" sz="1600" dirty="0">
              <a:solidFill>
                <a:schemeClr val="tx1"/>
              </a:solidFill>
              <a:sym typeface="Huawei Sans" panose="020C0503030203020204" pitchFamily="34" charset="0"/>
            </a:endParaRPr>
          </a:p>
        </p:txBody>
      </p:sp>
      <p:sp>
        <p:nvSpPr>
          <p:cNvPr id="102" name="矩形 101"/>
          <p:cNvSpPr/>
          <p:nvPr/>
        </p:nvSpPr>
        <p:spPr bwMode="gray">
          <a:xfrm>
            <a:off x="9248277" y="3139292"/>
            <a:ext cx="775633" cy="330460"/>
          </a:xfrm>
          <a:prstGeom prst="rect">
            <a:avLst/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sym typeface="Huawei Sans" panose="020C0503030203020204" pitchFamily="34" charset="0"/>
              </a:rPr>
              <a:t>LSDB</a:t>
            </a:r>
            <a:endParaRPr lang="zh-CN" altLang="en-US" sz="1600" dirty="0">
              <a:solidFill>
                <a:schemeClr val="tx1"/>
              </a:solidFill>
              <a:sym typeface="Huawei Sans" panose="020C0503030203020204" pitchFamily="34" charset="0"/>
            </a:endParaRPr>
          </a:p>
        </p:txBody>
      </p:sp>
      <p:sp>
        <p:nvSpPr>
          <p:cNvPr id="103" name="矩形 102"/>
          <p:cNvSpPr/>
          <p:nvPr/>
        </p:nvSpPr>
        <p:spPr bwMode="gray">
          <a:xfrm>
            <a:off x="7318347" y="3677611"/>
            <a:ext cx="873535" cy="294654"/>
          </a:xfrm>
          <a:prstGeom prst="rect">
            <a:avLst/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sym typeface="Huawei Sans" panose="020C0503030203020204" pitchFamily="34" charset="0"/>
              </a:rPr>
              <a:t>路由表</a:t>
            </a:r>
          </a:p>
        </p:txBody>
      </p:sp>
      <p:sp>
        <p:nvSpPr>
          <p:cNvPr id="104" name="矩形 103"/>
          <p:cNvSpPr/>
          <p:nvPr/>
        </p:nvSpPr>
        <p:spPr bwMode="gray">
          <a:xfrm>
            <a:off x="9812516" y="3677610"/>
            <a:ext cx="873535" cy="294654"/>
          </a:xfrm>
          <a:prstGeom prst="rect">
            <a:avLst/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sym typeface="Huawei Sans" panose="020C0503030203020204" pitchFamily="34" charset="0"/>
              </a:rPr>
              <a:t>路由表</a:t>
            </a:r>
          </a:p>
        </p:txBody>
      </p:sp>
      <p:sp>
        <p:nvSpPr>
          <p:cNvPr id="105" name="矩形 104"/>
          <p:cNvSpPr/>
          <p:nvPr/>
        </p:nvSpPr>
        <p:spPr bwMode="gray">
          <a:xfrm>
            <a:off x="9317264" y="5592115"/>
            <a:ext cx="873535" cy="294654"/>
          </a:xfrm>
          <a:prstGeom prst="rect">
            <a:avLst/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sym typeface="Huawei Sans" panose="020C0503030203020204" pitchFamily="34" charset="0"/>
              </a:rPr>
              <a:t>路由表</a:t>
            </a:r>
          </a:p>
        </p:txBody>
      </p:sp>
      <p:sp>
        <p:nvSpPr>
          <p:cNvPr id="106" name="文本框 105"/>
          <p:cNvSpPr txBox="1"/>
          <p:nvPr/>
        </p:nvSpPr>
        <p:spPr bwMode="gray">
          <a:xfrm>
            <a:off x="8263787" y="3827954"/>
            <a:ext cx="15487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生成路由表项</a:t>
            </a:r>
          </a:p>
        </p:txBody>
      </p:sp>
      <p:sp>
        <p:nvSpPr>
          <p:cNvPr id="107" name="Oval 4">
            <a:extLst>
              <a:ext uri="{FF2B5EF4-FFF2-40B4-BE49-F238E27FC236}">
                <a16:creationId xmlns:a16="http://schemas.microsoft.com/office/drawing/2014/main" id="{4DEBE282-43A3-4DC8-A9B7-860558EEB12A}"/>
              </a:ext>
            </a:extLst>
          </p:cNvPr>
          <p:cNvSpPr>
            <a:spLocks noChangeAspect="1"/>
          </p:cNvSpPr>
          <p:nvPr/>
        </p:nvSpPr>
        <p:spPr bwMode="gray">
          <a:xfrm>
            <a:off x="5699929" y="3185473"/>
            <a:ext cx="252000" cy="252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8" name="Oval 4">
            <a:extLst>
              <a:ext uri="{FF2B5EF4-FFF2-40B4-BE49-F238E27FC236}">
                <a16:creationId xmlns:a16="http://schemas.microsoft.com/office/drawing/2014/main" id="{CC69469B-46E6-41BD-A4BA-86BCDBCFF0DE}"/>
              </a:ext>
            </a:extLst>
          </p:cNvPr>
          <p:cNvSpPr>
            <a:spLocks noChangeAspect="1"/>
          </p:cNvSpPr>
          <p:nvPr/>
        </p:nvSpPr>
        <p:spPr bwMode="gray">
          <a:xfrm>
            <a:off x="6228991" y="3185473"/>
            <a:ext cx="252000" cy="252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9" name="Oval 4">
            <a:extLst>
              <a:ext uri="{FF2B5EF4-FFF2-40B4-BE49-F238E27FC236}">
                <a16:creationId xmlns:a16="http://schemas.microsoft.com/office/drawing/2014/main" id="{2564C9D7-DCA5-4A86-AD85-9DD63BA1B57B}"/>
              </a:ext>
            </a:extLst>
          </p:cNvPr>
          <p:cNvSpPr>
            <a:spLocks noChangeAspect="1"/>
          </p:cNvSpPr>
          <p:nvPr/>
        </p:nvSpPr>
        <p:spPr bwMode="gray">
          <a:xfrm>
            <a:off x="5699929" y="3653006"/>
            <a:ext cx="252000" cy="252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0" name="Oval 4">
            <a:extLst>
              <a:ext uri="{FF2B5EF4-FFF2-40B4-BE49-F238E27FC236}">
                <a16:creationId xmlns:a16="http://schemas.microsoft.com/office/drawing/2014/main" id="{3DC7F9DF-54E1-48D4-BA4B-FF6453433052}"/>
              </a:ext>
            </a:extLst>
          </p:cNvPr>
          <p:cNvSpPr>
            <a:spLocks noChangeAspect="1"/>
          </p:cNvSpPr>
          <p:nvPr/>
        </p:nvSpPr>
        <p:spPr bwMode="gray">
          <a:xfrm>
            <a:off x="6228991" y="3653006"/>
            <a:ext cx="252000" cy="252000"/>
          </a:xfrm>
          <a:prstGeom prst="ellipse">
            <a:avLst/>
          </a:prstGeom>
          <a:solidFill>
            <a:srgbClr val="30B5C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98B5B032-CA2A-4257-BDF8-A8205342552F}"/>
              </a:ext>
            </a:extLst>
          </p:cNvPr>
          <p:cNvCxnSpPr>
            <a:cxnSpLocks/>
          </p:cNvCxnSpPr>
          <p:nvPr/>
        </p:nvCxnSpPr>
        <p:spPr bwMode="gray">
          <a:xfrm>
            <a:off x="927100" y="3529463"/>
            <a:ext cx="10223500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D9B5E335-298D-435F-A224-B3A46674161A}"/>
              </a:ext>
            </a:extLst>
          </p:cNvPr>
          <p:cNvCxnSpPr>
            <a:cxnSpLocks/>
          </p:cNvCxnSpPr>
          <p:nvPr/>
        </p:nvCxnSpPr>
        <p:spPr bwMode="gray">
          <a:xfrm>
            <a:off x="6096000" y="1062780"/>
            <a:ext cx="0" cy="508129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五边形 112"/>
          <p:cNvSpPr/>
          <p:nvPr/>
        </p:nvSpPr>
        <p:spPr bwMode="gray">
          <a:xfrm>
            <a:off x="8753159" y="92882"/>
            <a:ext cx="781200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114" name="燕尾形 113"/>
          <p:cNvSpPr/>
          <p:nvPr/>
        </p:nvSpPr>
        <p:spPr bwMode="gray">
          <a:xfrm>
            <a:off x="9451802" y="92882"/>
            <a:ext cx="90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5" name="燕尾形 114"/>
          <p:cNvSpPr/>
          <p:nvPr/>
        </p:nvSpPr>
        <p:spPr bwMode="gray">
          <a:xfrm>
            <a:off x="10269245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6" name="燕尾形 115"/>
          <p:cNvSpPr/>
          <p:nvPr/>
        </p:nvSpPr>
        <p:spPr bwMode="gray">
          <a:xfrm>
            <a:off x="10967888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</p:spTree>
    <p:extLst>
      <p:ext uri="{BB962C8B-B14F-4D97-AF65-F5344CB8AC3E}">
        <p14:creationId xmlns:p14="http://schemas.microsoft.com/office/powerpoint/2010/main" val="69599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OSPFv3</a:t>
            </a:r>
            <a:r>
              <a:rPr lang="zh-CN" altLang="en-US"/>
              <a:t>与</a:t>
            </a:r>
            <a:r>
              <a:rPr lang="en-US" altLang="zh-CN"/>
              <a:t>OSPFv2</a:t>
            </a:r>
            <a:r>
              <a:rPr lang="zh-CN" altLang="en-US"/>
              <a:t>的不同点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000" dirty="0"/>
              <a:t>OSPFv3</a:t>
            </a:r>
            <a:r>
              <a:rPr lang="zh-CN" altLang="en-US" sz="2000" dirty="0"/>
              <a:t>基于链路运行以及拓扑计算，而不再是网段。</a:t>
            </a:r>
            <a:endParaRPr lang="en-US" altLang="zh-CN" sz="2000" dirty="0"/>
          </a:p>
          <a:p>
            <a:r>
              <a:rPr lang="en-US" altLang="zh-CN" sz="2000" dirty="0"/>
              <a:t>OSPFv3</a:t>
            </a:r>
            <a:r>
              <a:rPr lang="zh-CN" altLang="en-US" sz="2000" dirty="0"/>
              <a:t>支持一个链路上多个实例。</a:t>
            </a:r>
            <a:endParaRPr lang="en-US" altLang="zh-CN" sz="2000" dirty="0"/>
          </a:p>
          <a:p>
            <a:r>
              <a:rPr lang="en-US" altLang="zh-CN" sz="2000" dirty="0"/>
              <a:t>OSPFv3</a:t>
            </a:r>
            <a:r>
              <a:rPr lang="zh-CN" altLang="en-US" sz="2000" dirty="0"/>
              <a:t>报文和</a:t>
            </a:r>
            <a:r>
              <a:rPr lang="en-US" altLang="zh-CN" sz="2000" dirty="0"/>
              <a:t>LSA</a:t>
            </a:r>
            <a:r>
              <a:rPr lang="zh-CN" altLang="en-US" sz="2000" dirty="0"/>
              <a:t>中去掉了</a:t>
            </a:r>
            <a:r>
              <a:rPr lang="en-US" altLang="zh-CN" sz="2000" dirty="0"/>
              <a:t>IP</a:t>
            </a:r>
            <a:r>
              <a:rPr lang="zh-CN" altLang="en-US" sz="2000" dirty="0"/>
              <a:t>地址的意义，且重构了报文格式和</a:t>
            </a:r>
            <a:r>
              <a:rPr lang="en-US" altLang="zh-CN" sz="2000" dirty="0"/>
              <a:t>LSA</a:t>
            </a:r>
            <a:r>
              <a:rPr lang="zh-CN" altLang="en-US" sz="2000" dirty="0"/>
              <a:t>格式。</a:t>
            </a:r>
            <a:endParaRPr lang="en-US" altLang="zh-CN" sz="2000" dirty="0"/>
          </a:p>
          <a:p>
            <a:pPr lvl="1"/>
            <a:r>
              <a:rPr lang="en-US" altLang="zh-CN" sz="1800" dirty="0"/>
              <a:t>OSPFv3</a:t>
            </a:r>
            <a:r>
              <a:rPr lang="zh-CN" altLang="en-US" sz="1800" dirty="0"/>
              <a:t>报文和</a:t>
            </a:r>
            <a:r>
              <a:rPr lang="en-US" altLang="zh-CN" sz="1800" dirty="0"/>
              <a:t>Router LSA/Network LSA</a:t>
            </a:r>
            <a:r>
              <a:rPr lang="zh-CN" altLang="en-US" sz="1800" dirty="0"/>
              <a:t>中不包含</a:t>
            </a:r>
            <a:r>
              <a:rPr lang="en-US" altLang="zh-CN" sz="1800" dirty="0"/>
              <a:t>IP</a:t>
            </a:r>
            <a:r>
              <a:rPr lang="zh-CN" altLang="en-US" sz="1800" dirty="0"/>
              <a:t>地址。</a:t>
            </a:r>
            <a:endParaRPr lang="en-US" altLang="zh-CN" sz="1800" dirty="0"/>
          </a:p>
          <a:p>
            <a:pPr lvl="1"/>
            <a:r>
              <a:rPr lang="en-US" altLang="zh-CN" sz="1800" dirty="0"/>
              <a:t>OSPFv3</a:t>
            </a:r>
            <a:r>
              <a:rPr lang="zh-CN" altLang="en-US" sz="1800" dirty="0"/>
              <a:t>的</a:t>
            </a:r>
            <a:r>
              <a:rPr lang="en-US" altLang="zh-CN" sz="1800" dirty="0"/>
              <a:t>LSA</a:t>
            </a:r>
            <a:r>
              <a:rPr lang="zh-CN" altLang="en-US" sz="1800" dirty="0"/>
              <a:t>中定义了</a:t>
            </a:r>
            <a:r>
              <a:rPr lang="en-US" altLang="zh-CN" sz="1800" dirty="0"/>
              <a:t>LSA</a:t>
            </a:r>
            <a:r>
              <a:rPr lang="zh-CN" altLang="en-US" sz="1800" dirty="0"/>
              <a:t>的泛洪范围。</a:t>
            </a:r>
            <a:endParaRPr lang="en-US" altLang="zh-CN" sz="1800" dirty="0"/>
          </a:p>
          <a:p>
            <a:pPr lvl="1"/>
            <a:r>
              <a:rPr lang="en-US" altLang="zh-CN" sz="1800" dirty="0"/>
              <a:t>OSPFv3</a:t>
            </a:r>
            <a:r>
              <a:rPr lang="zh-CN" altLang="en-US" sz="1800" dirty="0"/>
              <a:t>中创建了新的</a:t>
            </a:r>
            <a:r>
              <a:rPr lang="en-US" altLang="zh-CN" sz="1800" dirty="0"/>
              <a:t>LSA</a:t>
            </a:r>
            <a:r>
              <a:rPr lang="zh-CN" altLang="en-US" sz="1800" dirty="0"/>
              <a:t>承载</a:t>
            </a:r>
            <a:r>
              <a:rPr lang="en-US" altLang="zh-CN" sz="1800" dirty="0"/>
              <a:t>IPv6</a:t>
            </a:r>
            <a:r>
              <a:rPr lang="zh-CN" altLang="en-US" sz="1800" dirty="0"/>
              <a:t>地址和前缀。</a:t>
            </a:r>
            <a:endParaRPr lang="en-US" altLang="zh-CN" sz="1800" dirty="0"/>
          </a:p>
          <a:p>
            <a:pPr lvl="1"/>
            <a:r>
              <a:rPr lang="en-US" altLang="zh-CN" sz="1800" dirty="0"/>
              <a:t>OSPFv3</a:t>
            </a:r>
            <a:r>
              <a:rPr lang="zh-CN" altLang="en-US" sz="1800" dirty="0"/>
              <a:t>邻居不再由</a:t>
            </a:r>
            <a:r>
              <a:rPr lang="en-US" altLang="zh-CN" sz="1800" dirty="0"/>
              <a:t>IP</a:t>
            </a:r>
            <a:r>
              <a:rPr lang="zh-CN" altLang="en-US" sz="1800" dirty="0"/>
              <a:t>地址标识，只由</a:t>
            </a:r>
            <a:r>
              <a:rPr lang="en-US" altLang="zh-CN" sz="1800" dirty="0"/>
              <a:t>Router ID</a:t>
            </a:r>
            <a:r>
              <a:rPr lang="zh-CN" altLang="en-US" sz="1800" dirty="0"/>
              <a:t>标识。</a:t>
            </a:r>
            <a:endParaRPr lang="en-US" altLang="zh-CN" sz="1800" dirty="0"/>
          </a:p>
        </p:txBody>
      </p:sp>
      <p:sp>
        <p:nvSpPr>
          <p:cNvPr id="12" name="五边形 11"/>
          <p:cNvSpPr/>
          <p:nvPr/>
        </p:nvSpPr>
        <p:spPr bwMode="auto">
          <a:xfrm>
            <a:off x="8753159" y="92882"/>
            <a:ext cx="781200" cy="213120"/>
          </a:xfrm>
          <a:prstGeom prst="homePlate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13" name="燕尾形 12"/>
          <p:cNvSpPr/>
          <p:nvPr/>
        </p:nvSpPr>
        <p:spPr bwMode="auto">
          <a:xfrm>
            <a:off x="9451802" y="92882"/>
            <a:ext cx="90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4" name="燕尾形 13"/>
          <p:cNvSpPr/>
          <p:nvPr/>
        </p:nvSpPr>
        <p:spPr bwMode="auto">
          <a:xfrm>
            <a:off x="10269245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" name="燕尾形 14"/>
          <p:cNvSpPr/>
          <p:nvPr/>
        </p:nvSpPr>
        <p:spPr bwMode="auto">
          <a:xfrm>
            <a:off x="10967888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</p:spTree>
    <p:extLst>
      <p:ext uri="{BB962C8B-B14F-4D97-AF65-F5344CB8AC3E}">
        <p14:creationId xmlns:p14="http://schemas.microsoft.com/office/powerpoint/2010/main" val="2839229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/>
              <a:t>唯一邻居标识：</a:t>
            </a:r>
            <a:r>
              <a:rPr lang="en-US" altLang="zh-CN"/>
              <a:t>Router ID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1"/>
            <a:ext cx="11293475" cy="573304"/>
          </a:xfrm>
        </p:spPr>
        <p:txBody>
          <a:bodyPr/>
          <a:lstStyle/>
          <a:p>
            <a:r>
              <a:rPr lang="en-US" altLang="zh-CN" sz="2000" dirty="0"/>
              <a:t>OSPFv3</a:t>
            </a:r>
            <a:r>
              <a:rPr lang="zh-CN" altLang="en-US" sz="2000" dirty="0"/>
              <a:t>通过</a:t>
            </a:r>
            <a:r>
              <a:rPr lang="en-US" altLang="zh-CN" sz="2000" dirty="0"/>
              <a:t>Router ID</a:t>
            </a:r>
            <a:r>
              <a:rPr lang="zh-CN" altLang="en-US" sz="2000" dirty="0"/>
              <a:t>来标识网络设备。</a:t>
            </a:r>
          </a:p>
        </p:txBody>
      </p:sp>
      <p:sp>
        <p:nvSpPr>
          <p:cNvPr id="4" name="圆角矩形 3"/>
          <p:cNvSpPr/>
          <p:nvPr/>
        </p:nvSpPr>
        <p:spPr bwMode="gray">
          <a:xfrm>
            <a:off x="465052" y="2073388"/>
            <a:ext cx="5652304" cy="2776910"/>
          </a:xfrm>
          <a:prstGeom prst="roundRect">
            <a:avLst>
              <a:gd name="adj" fmla="val 750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pic>
        <p:nvPicPr>
          <p:cNvPr id="7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082106" y="4082199"/>
            <a:ext cx="541201" cy="442800"/>
          </a:xfrm>
          <a:prstGeom prst="rect">
            <a:avLst/>
          </a:prstGeom>
          <a:noFill/>
        </p:spPr>
      </p:pic>
      <p:pic>
        <p:nvPicPr>
          <p:cNvPr id="8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29767" y="4082199"/>
            <a:ext cx="541201" cy="442800"/>
          </a:xfrm>
          <a:prstGeom prst="rect">
            <a:avLst/>
          </a:prstGeom>
          <a:noFill/>
        </p:spPr>
      </p:pic>
      <p:cxnSp>
        <p:nvCxnSpPr>
          <p:cNvPr id="10" name="直接连接符 9"/>
          <p:cNvCxnSpPr>
            <a:stCxn id="41" idx="2"/>
            <a:endCxn id="28" idx="3"/>
          </p:cNvCxnSpPr>
          <p:nvPr/>
        </p:nvCxnSpPr>
        <p:spPr bwMode="gray">
          <a:xfrm>
            <a:off x="2352707" y="2906796"/>
            <a:ext cx="1193830" cy="5877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44" idx="2"/>
            <a:endCxn id="28" idx="1"/>
          </p:cNvCxnSpPr>
          <p:nvPr/>
        </p:nvCxnSpPr>
        <p:spPr bwMode="gray">
          <a:xfrm flipH="1">
            <a:off x="3006537" y="2907808"/>
            <a:ext cx="1193831" cy="5866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28" idx="3"/>
            <a:endCxn id="7" idx="0"/>
          </p:cNvCxnSpPr>
          <p:nvPr/>
        </p:nvCxnSpPr>
        <p:spPr bwMode="gray">
          <a:xfrm flipH="1">
            <a:off x="2352707" y="3494498"/>
            <a:ext cx="1193830" cy="5877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28" idx="1"/>
            <a:endCxn id="8" idx="0"/>
          </p:cNvCxnSpPr>
          <p:nvPr/>
        </p:nvCxnSpPr>
        <p:spPr bwMode="gray">
          <a:xfrm>
            <a:off x="3006537" y="3494498"/>
            <a:ext cx="1193831" cy="58770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312"/>
          <p:cNvSpPr>
            <a:spLocks noChangeArrowheads="1"/>
          </p:cNvSpPr>
          <p:nvPr/>
        </p:nvSpPr>
        <p:spPr bwMode="gray">
          <a:xfrm>
            <a:off x="158843" y="2866230"/>
            <a:ext cx="2652323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dirty="0"/>
              <a:t>2001:DB8:2345:1::1/64</a:t>
            </a:r>
          </a:p>
        </p:txBody>
      </p:sp>
      <p:sp>
        <p:nvSpPr>
          <p:cNvPr id="15" name="Rectangle 312"/>
          <p:cNvSpPr>
            <a:spLocks noChangeArrowheads="1"/>
          </p:cNvSpPr>
          <p:nvPr/>
        </p:nvSpPr>
        <p:spPr bwMode="gray">
          <a:xfrm>
            <a:off x="3782521" y="2866230"/>
            <a:ext cx="2652323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dirty="0"/>
              <a:t>2001:DB8:2345:2::1/64</a:t>
            </a:r>
          </a:p>
        </p:txBody>
      </p:sp>
      <p:sp>
        <p:nvSpPr>
          <p:cNvPr id="16" name="Rectangle 312"/>
          <p:cNvSpPr>
            <a:spLocks noChangeArrowheads="1"/>
          </p:cNvSpPr>
          <p:nvPr/>
        </p:nvSpPr>
        <p:spPr bwMode="gray">
          <a:xfrm>
            <a:off x="158843" y="3840214"/>
            <a:ext cx="2652323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dirty="0"/>
              <a:t>2001:DB8:2345:3::1/64</a:t>
            </a:r>
          </a:p>
        </p:txBody>
      </p:sp>
      <p:sp>
        <p:nvSpPr>
          <p:cNvPr id="17" name="Rectangle 312"/>
          <p:cNvSpPr>
            <a:spLocks noChangeArrowheads="1"/>
          </p:cNvSpPr>
          <p:nvPr/>
        </p:nvSpPr>
        <p:spPr bwMode="gray">
          <a:xfrm>
            <a:off x="3782521" y="3840214"/>
            <a:ext cx="2652323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dirty="0"/>
              <a:t>2001:DB8:2345:4::1/64</a:t>
            </a:r>
          </a:p>
        </p:txBody>
      </p:sp>
      <p:sp>
        <p:nvSpPr>
          <p:cNvPr id="18" name="Rectangle 312"/>
          <p:cNvSpPr>
            <a:spLocks noChangeArrowheads="1"/>
          </p:cNvSpPr>
          <p:nvPr/>
        </p:nvSpPr>
        <p:spPr bwMode="gray">
          <a:xfrm>
            <a:off x="342255" y="2127741"/>
            <a:ext cx="1056916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600" dirty="0"/>
              <a:t>OSPFv3</a:t>
            </a:r>
          </a:p>
        </p:txBody>
      </p:sp>
      <p:sp>
        <p:nvSpPr>
          <p:cNvPr id="20" name="Rectangle 312"/>
          <p:cNvSpPr>
            <a:spLocks noChangeArrowheads="1"/>
          </p:cNvSpPr>
          <p:nvPr/>
        </p:nvSpPr>
        <p:spPr bwMode="gray">
          <a:xfrm>
            <a:off x="1277746" y="2237586"/>
            <a:ext cx="2160000" cy="217888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b="1" dirty="0"/>
              <a:t>Router ID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10.1.1.1</a:t>
            </a:r>
          </a:p>
        </p:txBody>
      </p:sp>
      <p:sp>
        <p:nvSpPr>
          <p:cNvPr id="21" name="Rectangle 312"/>
          <p:cNvSpPr>
            <a:spLocks noChangeArrowheads="1"/>
          </p:cNvSpPr>
          <p:nvPr/>
        </p:nvSpPr>
        <p:spPr bwMode="gray">
          <a:xfrm>
            <a:off x="3372155" y="2237586"/>
            <a:ext cx="2160000" cy="217888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b="1" dirty="0"/>
              <a:t>Router ID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10.1.2.2</a:t>
            </a:r>
          </a:p>
        </p:txBody>
      </p:sp>
      <p:sp>
        <p:nvSpPr>
          <p:cNvPr id="22" name="Rectangle 312"/>
          <p:cNvSpPr>
            <a:spLocks noChangeArrowheads="1"/>
          </p:cNvSpPr>
          <p:nvPr/>
        </p:nvSpPr>
        <p:spPr bwMode="gray">
          <a:xfrm>
            <a:off x="1272706" y="4531770"/>
            <a:ext cx="2160000" cy="217888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b="1" dirty="0"/>
              <a:t>Router ID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10.1.3.3</a:t>
            </a:r>
          </a:p>
        </p:txBody>
      </p:sp>
      <p:sp>
        <p:nvSpPr>
          <p:cNvPr id="23" name="Rectangle 312"/>
          <p:cNvSpPr>
            <a:spLocks noChangeArrowheads="1"/>
          </p:cNvSpPr>
          <p:nvPr/>
        </p:nvSpPr>
        <p:spPr bwMode="gray">
          <a:xfrm>
            <a:off x="3372155" y="4531770"/>
            <a:ext cx="2160000" cy="217888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b="1" dirty="0"/>
              <a:t>Router ID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10.1.4.4</a:t>
            </a:r>
          </a:p>
        </p:txBody>
      </p:sp>
      <p:sp>
        <p:nvSpPr>
          <p:cNvPr id="24" name="文本占位符 2"/>
          <p:cNvSpPr txBox="1">
            <a:spLocks/>
          </p:cNvSpPr>
          <p:nvPr/>
        </p:nvSpPr>
        <p:spPr bwMode="gray">
          <a:xfrm>
            <a:off x="6117356" y="2127741"/>
            <a:ext cx="5639505" cy="2274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/>
              <a:t>Router ID</a:t>
            </a:r>
            <a:r>
              <a:rPr lang="zh-CN" altLang="en-US" sz="1600" dirty="0"/>
              <a:t>是一个</a:t>
            </a:r>
            <a:r>
              <a:rPr lang="en-US" altLang="zh-CN" sz="1600" dirty="0"/>
              <a:t>OSPFv3</a:t>
            </a:r>
            <a:r>
              <a:rPr lang="zh-CN" altLang="en-US" sz="1600" dirty="0"/>
              <a:t>设备在自治系统中的唯一标识。如果用户没有指定</a:t>
            </a:r>
            <a:r>
              <a:rPr lang="en-US" altLang="zh-CN" sz="1600" dirty="0"/>
              <a:t>Router ID</a:t>
            </a:r>
            <a:r>
              <a:rPr lang="zh-CN" altLang="en-US" sz="1600" dirty="0"/>
              <a:t>，则</a:t>
            </a:r>
            <a:r>
              <a:rPr lang="en-US" altLang="zh-CN" sz="1600" dirty="0"/>
              <a:t>OSPFv3</a:t>
            </a:r>
            <a:r>
              <a:rPr lang="zh-CN" altLang="en-US" sz="1600" dirty="0"/>
              <a:t>进程无法运行。</a:t>
            </a:r>
          </a:p>
          <a:p>
            <a:r>
              <a:rPr lang="zh-CN" altLang="en-US" sz="1600" dirty="0"/>
              <a:t>设置</a:t>
            </a:r>
            <a:r>
              <a:rPr lang="en-US" altLang="zh-CN" sz="1600" dirty="0"/>
              <a:t>Router ID</a:t>
            </a:r>
            <a:r>
              <a:rPr lang="zh-CN" altLang="en-US" sz="1600" dirty="0"/>
              <a:t>时，必须保证自治系统中任意两台设备的</a:t>
            </a:r>
            <a:r>
              <a:rPr lang="en-US" altLang="zh-CN" sz="1600" dirty="0"/>
              <a:t>Router ID</a:t>
            </a:r>
            <a:r>
              <a:rPr lang="zh-CN" altLang="en-US" sz="1600" dirty="0"/>
              <a:t>都不相同。</a:t>
            </a:r>
            <a:endParaRPr lang="en-US" altLang="zh-CN" sz="1600" dirty="0"/>
          </a:p>
          <a:p>
            <a:r>
              <a:rPr lang="en-US" altLang="zh-CN" sz="1600" dirty="0"/>
              <a:t>Router ID</a:t>
            </a:r>
            <a:r>
              <a:rPr lang="zh-CN" altLang="en-US" sz="1600" dirty="0"/>
              <a:t>长度</a:t>
            </a:r>
            <a:r>
              <a:rPr lang="en-US" altLang="zh-CN" sz="1600" dirty="0"/>
              <a:t>32 bit</a:t>
            </a:r>
            <a:r>
              <a:rPr lang="zh-CN" altLang="en-US" sz="1600" dirty="0"/>
              <a:t>，本地标识符，与</a:t>
            </a:r>
            <a:r>
              <a:rPr lang="en-US" altLang="zh-CN" sz="1600" dirty="0"/>
              <a:t>IPv6</a:t>
            </a:r>
            <a:r>
              <a:rPr lang="zh-CN" altLang="en-US" sz="1600" dirty="0"/>
              <a:t>地址无关，用点分十进制表示法来表示。</a:t>
            </a:r>
          </a:p>
        </p:txBody>
      </p:sp>
      <p:pic>
        <p:nvPicPr>
          <p:cNvPr id="28" name="图片 27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06537" y="3273098"/>
            <a:ext cx="540000" cy="442800"/>
          </a:xfrm>
          <a:prstGeom prst="rect">
            <a:avLst/>
          </a:prstGeom>
        </p:spPr>
      </p:pic>
      <p:pic>
        <p:nvPicPr>
          <p:cNvPr id="41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082106" y="2463996"/>
            <a:ext cx="541201" cy="442800"/>
          </a:xfrm>
          <a:prstGeom prst="rect">
            <a:avLst/>
          </a:prstGeom>
          <a:noFill/>
        </p:spPr>
      </p:pic>
      <p:pic>
        <p:nvPicPr>
          <p:cNvPr id="44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29767" y="2465008"/>
            <a:ext cx="541201" cy="442800"/>
          </a:xfrm>
          <a:prstGeom prst="rect">
            <a:avLst/>
          </a:prstGeom>
          <a:noFill/>
        </p:spPr>
      </p:pic>
      <p:sp>
        <p:nvSpPr>
          <p:cNvPr id="29" name="五边形 28"/>
          <p:cNvSpPr/>
          <p:nvPr/>
        </p:nvSpPr>
        <p:spPr bwMode="gray">
          <a:xfrm>
            <a:off x="8753159" y="92882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30" name="燕尾形 29"/>
          <p:cNvSpPr/>
          <p:nvPr/>
        </p:nvSpPr>
        <p:spPr bwMode="gray">
          <a:xfrm>
            <a:off x="9451802" y="92882"/>
            <a:ext cx="90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燕尾形 30"/>
          <p:cNvSpPr/>
          <p:nvPr/>
        </p:nvSpPr>
        <p:spPr bwMode="gray">
          <a:xfrm>
            <a:off x="10269245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2" name="燕尾形 31"/>
          <p:cNvSpPr/>
          <p:nvPr/>
        </p:nvSpPr>
        <p:spPr bwMode="gray">
          <a:xfrm>
            <a:off x="10967888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</p:spTree>
    <p:extLst>
      <p:ext uri="{BB962C8B-B14F-4D97-AF65-F5344CB8AC3E}">
        <p14:creationId xmlns:p14="http://schemas.microsoft.com/office/powerpoint/2010/main" val="1864519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OSPFv3</a:t>
            </a:r>
            <a:r>
              <a:rPr lang="zh-CN" altLang="en-US"/>
              <a:t>基于链路运行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55612" y="1047750"/>
            <a:ext cx="11293475" cy="555315"/>
          </a:xfrm>
        </p:spPr>
        <p:txBody>
          <a:bodyPr/>
          <a:lstStyle/>
          <a:p>
            <a:r>
              <a:rPr lang="en-US" altLang="zh-CN" sz="2000"/>
              <a:t>OSPFv3</a:t>
            </a:r>
            <a:r>
              <a:rPr lang="zh-CN" altLang="en-US" sz="2000"/>
              <a:t>是基于链路运行的，设备只要在同一链路，就可以建立邻居关系。</a:t>
            </a:r>
            <a:endParaRPr lang="zh-CN" altLang="en-US" sz="2000" dirty="0"/>
          </a:p>
        </p:txBody>
      </p:sp>
      <p:sp>
        <p:nvSpPr>
          <p:cNvPr id="31" name="圆角矩形 75"/>
          <p:cNvSpPr/>
          <p:nvPr/>
        </p:nvSpPr>
        <p:spPr bwMode="gray">
          <a:xfrm>
            <a:off x="593135" y="1816689"/>
            <a:ext cx="5371322" cy="394020"/>
          </a:xfrm>
          <a:prstGeom prst="roundRect">
            <a:avLst>
              <a:gd name="adj" fmla="val 10604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OSPFv2</a:t>
            </a:r>
            <a:r>
              <a:rPr lang="zh-CN" altLang="en-US" sz="18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基于网段运行</a:t>
            </a:r>
          </a:p>
        </p:txBody>
      </p:sp>
      <p:sp>
        <p:nvSpPr>
          <p:cNvPr id="32" name="圆角矩形 75"/>
          <p:cNvSpPr/>
          <p:nvPr/>
        </p:nvSpPr>
        <p:spPr bwMode="gray">
          <a:xfrm>
            <a:off x="597091" y="2248194"/>
            <a:ext cx="5374553" cy="3186559"/>
          </a:xfrm>
          <a:prstGeom prst="roundRect">
            <a:avLst>
              <a:gd name="adj" fmla="val 874"/>
            </a:avLst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sz="16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3" name="圆角矩形 75"/>
          <p:cNvSpPr/>
          <p:nvPr/>
        </p:nvSpPr>
        <p:spPr bwMode="gray">
          <a:xfrm>
            <a:off x="6226629" y="1816689"/>
            <a:ext cx="5371322" cy="394020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/>
              </a:gs>
            </a:gsLst>
            <a:lin ang="5400000" scaled="1"/>
          </a:gradFill>
          <a:ln w="9525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OSPFv3</a:t>
            </a:r>
            <a:r>
              <a:rPr lang="zh-CN" altLang="en-US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基于链路运行</a:t>
            </a:r>
          </a:p>
        </p:txBody>
      </p:sp>
      <p:sp>
        <p:nvSpPr>
          <p:cNvPr id="34" name="圆角矩形 75"/>
          <p:cNvSpPr/>
          <p:nvPr/>
        </p:nvSpPr>
        <p:spPr bwMode="gray">
          <a:xfrm>
            <a:off x="6226629" y="2248194"/>
            <a:ext cx="5371322" cy="3186559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sz="16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圆角矩形 75"/>
          <p:cNvSpPr/>
          <p:nvPr/>
        </p:nvSpPr>
        <p:spPr bwMode="gray">
          <a:xfrm>
            <a:off x="6238770" y="3912936"/>
            <a:ext cx="5252985" cy="1529631"/>
          </a:xfrm>
          <a:prstGeom prst="roundRect">
            <a:avLst>
              <a:gd name="adj" fmla="val 874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之间运行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OSPFv3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6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接口与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接口地址</a:t>
            </a:r>
            <a:r>
              <a:rPr lang="zh-CN" altLang="en-US" sz="16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不在同一网段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，但是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仍然可以建立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OSPFv3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邻居关系。</a:t>
            </a:r>
            <a:endParaRPr lang="en-US" altLang="zh-CN" sz="16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OSPFv3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运行时，仅需邻居双方处于相同直连链路即可。</a:t>
            </a:r>
            <a:endParaRPr lang="en-US" altLang="zh-CN" sz="16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 bwMode="gray">
          <a:xfrm>
            <a:off x="6538370" y="2375604"/>
            <a:ext cx="4777512" cy="1298713"/>
            <a:chOff x="6385499" y="3322601"/>
            <a:chExt cx="4777512" cy="1298713"/>
          </a:xfrm>
        </p:grpSpPr>
        <p:sp>
          <p:nvSpPr>
            <p:cNvPr id="27" name="圆角矩形 26"/>
            <p:cNvSpPr/>
            <p:nvPr/>
          </p:nvSpPr>
          <p:spPr bwMode="gray">
            <a:xfrm>
              <a:off x="6385499" y="3322601"/>
              <a:ext cx="4777511" cy="1298713"/>
            </a:xfrm>
            <a:prstGeom prst="roundRect">
              <a:avLst>
                <a:gd name="adj" fmla="val 2103"/>
              </a:avLst>
            </a:prstGeom>
            <a:solidFill>
              <a:srgbClr val="ECF9FA"/>
            </a:solidFill>
            <a:ln w="12700">
              <a:solidFill>
                <a:srgbClr val="94DAE2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endParaRPr lang="zh-CN" altLang="en-US" sz="1600">
                <a:solidFill>
                  <a:schemeClr val="tx1"/>
                </a:solidFill>
              </a:endParaRPr>
            </a:p>
          </p:txBody>
        </p:sp>
        <p:pic>
          <p:nvPicPr>
            <p:cNvPr id="4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7294524" y="3747518"/>
              <a:ext cx="541201" cy="442800"/>
            </a:xfrm>
            <a:prstGeom prst="rect">
              <a:avLst/>
            </a:prstGeom>
            <a:noFill/>
          </p:spPr>
        </p:pic>
        <p:pic>
          <p:nvPicPr>
            <p:cNvPr id="5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9566249" y="3747518"/>
              <a:ext cx="541201" cy="442800"/>
            </a:xfrm>
            <a:prstGeom prst="rect">
              <a:avLst/>
            </a:prstGeom>
            <a:noFill/>
          </p:spPr>
        </p:pic>
        <p:cxnSp>
          <p:nvCxnSpPr>
            <p:cNvPr id="9" name="直接连接符 8"/>
            <p:cNvCxnSpPr>
              <a:stCxn id="4" idx="3"/>
              <a:endCxn id="5" idx="1"/>
            </p:cNvCxnSpPr>
            <p:nvPr/>
          </p:nvCxnSpPr>
          <p:spPr bwMode="gray">
            <a:xfrm>
              <a:off x="7835725" y="3968918"/>
              <a:ext cx="173052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312"/>
            <p:cNvSpPr>
              <a:spLocks noChangeArrowheads="1"/>
            </p:cNvSpPr>
            <p:nvPr/>
          </p:nvSpPr>
          <p:spPr bwMode="gray">
            <a:xfrm>
              <a:off x="6385499" y="3976269"/>
              <a:ext cx="2256649" cy="446410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r"/>
              <a:r>
                <a:rPr lang="en-US" altLang="zh-CN" sz="1400" dirty="0"/>
                <a:t>GE0/0/1</a:t>
              </a:r>
            </a:p>
            <a:p>
              <a:pPr algn="r"/>
              <a:r>
                <a:rPr lang="en-US" altLang="zh-CN" sz="1400" dirty="0">
                  <a:solidFill>
                    <a:srgbClr val="C7000B"/>
                  </a:solidFill>
                </a:rPr>
                <a:t>2001:DB8:2345:1::</a:t>
              </a:r>
              <a:r>
                <a:rPr lang="en-US" altLang="zh-CN" sz="1400" dirty="0"/>
                <a:t>1/64</a:t>
              </a:r>
            </a:p>
          </p:txBody>
        </p:sp>
        <p:sp>
          <p:nvSpPr>
            <p:cNvPr id="23" name="Rectangle 312"/>
            <p:cNvSpPr>
              <a:spLocks noChangeArrowheads="1"/>
            </p:cNvSpPr>
            <p:nvPr/>
          </p:nvSpPr>
          <p:spPr bwMode="gray">
            <a:xfrm>
              <a:off x="8774255" y="3992216"/>
              <a:ext cx="2388756" cy="413600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altLang="zh-CN" sz="1400" dirty="0"/>
                <a:t>GE0/0/1</a:t>
              </a:r>
            </a:p>
            <a:p>
              <a:r>
                <a:rPr lang="en-US" altLang="zh-CN" sz="1400" dirty="0">
                  <a:solidFill>
                    <a:srgbClr val="C7000B"/>
                  </a:solidFill>
                </a:rPr>
                <a:t>2001:DB8:2345:2::</a:t>
              </a:r>
              <a:r>
                <a:rPr lang="en-US" altLang="zh-CN" sz="1400" dirty="0"/>
                <a:t>1/64</a:t>
              </a:r>
            </a:p>
          </p:txBody>
        </p:sp>
        <p:sp>
          <p:nvSpPr>
            <p:cNvPr id="28" name="Rectangle 312"/>
            <p:cNvSpPr>
              <a:spLocks noChangeArrowheads="1"/>
            </p:cNvSpPr>
            <p:nvPr/>
          </p:nvSpPr>
          <p:spPr bwMode="gray">
            <a:xfrm>
              <a:off x="6385499" y="3371847"/>
              <a:ext cx="1056916" cy="27707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b="1" dirty="0"/>
                <a:t>OSPFv3</a:t>
              </a:r>
            </a:p>
          </p:txBody>
        </p:sp>
        <p:sp>
          <p:nvSpPr>
            <p:cNvPr id="36" name="Rectangle 312"/>
            <p:cNvSpPr>
              <a:spLocks noChangeArrowheads="1"/>
            </p:cNvSpPr>
            <p:nvPr/>
          </p:nvSpPr>
          <p:spPr bwMode="gray">
            <a:xfrm>
              <a:off x="7315986" y="3484521"/>
              <a:ext cx="528458" cy="288130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400" dirty="0"/>
                <a:t>R1</a:t>
              </a:r>
            </a:p>
          </p:txBody>
        </p:sp>
        <p:sp>
          <p:nvSpPr>
            <p:cNvPr id="37" name="Rectangle 312"/>
            <p:cNvSpPr>
              <a:spLocks noChangeArrowheads="1"/>
            </p:cNvSpPr>
            <p:nvPr/>
          </p:nvSpPr>
          <p:spPr bwMode="gray">
            <a:xfrm>
              <a:off x="9581763" y="3484521"/>
              <a:ext cx="528458" cy="288130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400" dirty="0"/>
                <a:t>R2</a:t>
              </a:r>
            </a:p>
          </p:txBody>
        </p:sp>
      </p:grpSp>
      <p:grpSp>
        <p:nvGrpSpPr>
          <p:cNvPr id="38" name="组合 37"/>
          <p:cNvGrpSpPr/>
          <p:nvPr/>
        </p:nvGrpSpPr>
        <p:grpSpPr bwMode="gray">
          <a:xfrm>
            <a:off x="830372" y="2375604"/>
            <a:ext cx="4777512" cy="1298713"/>
            <a:chOff x="6385499" y="3322601"/>
            <a:chExt cx="4777512" cy="1298713"/>
          </a:xfrm>
        </p:grpSpPr>
        <p:sp>
          <p:nvSpPr>
            <p:cNvPr id="43" name="圆角矩形 42"/>
            <p:cNvSpPr/>
            <p:nvPr/>
          </p:nvSpPr>
          <p:spPr bwMode="gray">
            <a:xfrm>
              <a:off x="6385499" y="3322601"/>
              <a:ext cx="4777511" cy="1298713"/>
            </a:xfrm>
            <a:prstGeom prst="roundRect">
              <a:avLst>
                <a:gd name="adj" fmla="val 2103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4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7294524" y="3747518"/>
              <a:ext cx="541201" cy="442800"/>
            </a:xfrm>
            <a:prstGeom prst="rect">
              <a:avLst/>
            </a:prstGeom>
            <a:noFill/>
          </p:spPr>
        </p:pic>
        <p:pic>
          <p:nvPicPr>
            <p:cNvPr id="45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9566249" y="3747518"/>
              <a:ext cx="541201" cy="442800"/>
            </a:xfrm>
            <a:prstGeom prst="rect">
              <a:avLst/>
            </a:prstGeom>
            <a:noFill/>
          </p:spPr>
        </p:pic>
        <p:cxnSp>
          <p:nvCxnSpPr>
            <p:cNvPr id="46" name="直接连接符 45"/>
            <p:cNvCxnSpPr>
              <a:stCxn id="44" idx="3"/>
              <a:endCxn id="45" idx="1"/>
            </p:cNvCxnSpPr>
            <p:nvPr/>
          </p:nvCxnSpPr>
          <p:spPr bwMode="gray">
            <a:xfrm>
              <a:off x="7835725" y="3968918"/>
              <a:ext cx="1730524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312"/>
            <p:cNvSpPr>
              <a:spLocks noChangeArrowheads="1"/>
            </p:cNvSpPr>
            <p:nvPr/>
          </p:nvSpPr>
          <p:spPr bwMode="gray">
            <a:xfrm>
              <a:off x="6385499" y="3976269"/>
              <a:ext cx="2256649" cy="446410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r"/>
              <a:r>
                <a:rPr lang="en-US" altLang="zh-CN" sz="1400" dirty="0"/>
                <a:t>GE0/0/1</a:t>
              </a:r>
            </a:p>
            <a:p>
              <a:pPr algn="r"/>
              <a:r>
                <a:rPr lang="en-US" altLang="zh-CN" sz="1400" dirty="0">
                  <a:solidFill>
                    <a:srgbClr val="C7000B"/>
                  </a:solidFill>
                </a:rPr>
                <a:t>10.1.12.</a:t>
              </a:r>
              <a:r>
                <a:rPr lang="en-US" altLang="zh-CN" sz="1400" dirty="0"/>
                <a:t>1/24</a:t>
              </a:r>
            </a:p>
          </p:txBody>
        </p:sp>
        <p:sp>
          <p:nvSpPr>
            <p:cNvPr id="48" name="Rectangle 312"/>
            <p:cNvSpPr>
              <a:spLocks noChangeArrowheads="1"/>
            </p:cNvSpPr>
            <p:nvPr/>
          </p:nvSpPr>
          <p:spPr bwMode="gray">
            <a:xfrm>
              <a:off x="8774255" y="3992216"/>
              <a:ext cx="2388756" cy="413600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r>
                <a:rPr lang="en-US" altLang="zh-CN" sz="1400" dirty="0"/>
                <a:t>GE0/0/1</a:t>
              </a:r>
            </a:p>
            <a:p>
              <a:r>
                <a:rPr lang="en-US" altLang="zh-CN" sz="1400" dirty="0">
                  <a:solidFill>
                    <a:srgbClr val="C7000B"/>
                  </a:solidFill>
                </a:rPr>
                <a:t>10.1.12.</a:t>
              </a:r>
              <a:r>
                <a:rPr lang="en-US" altLang="zh-CN" sz="1400" dirty="0"/>
                <a:t>2/24</a:t>
              </a:r>
            </a:p>
          </p:txBody>
        </p:sp>
        <p:sp>
          <p:nvSpPr>
            <p:cNvPr id="49" name="Rectangle 312"/>
            <p:cNvSpPr>
              <a:spLocks noChangeArrowheads="1"/>
            </p:cNvSpPr>
            <p:nvPr/>
          </p:nvSpPr>
          <p:spPr bwMode="gray">
            <a:xfrm>
              <a:off x="6385499" y="3371847"/>
              <a:ext cx="1056916" cy="27707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</a:rPr>
                <a:t>OSPFv2</a:t>
              </a:r>
            </a:p>
          </p:txBody>
        </p:sp>
        <p:sp>
          <p:nvSpPr>
            <p:cNvPr id="51" name="Rectangle 312"/>
            <p:cNvSpPr>
              <a:spLocks noChangeArrowheads="1"/>
            </p:cNvSpPr>
            <p:nvPr/>
          </p:nvSpPr>
          <p:spPr bwMode="gray">
            <a:xfrm>
              <a:off x="7315986" y="3484521"/>
              <a:ext cx="528458" cy="288130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400" dirty="0"/>
                <a:t>R1</a:t>
              </a:r>
            </a:p>
          </p:txBody>
        </p:sp>
        <p:sp>
          <p:nvSpPr>
            <p:cNvPr id="52" name="Rectangle 312"/>
            <p:cNvSpPr>
              <a:spLocks noChangeArrowheads="1"/>
            </p:cNvSpPr>
            <p:nvPr/>
          </p:nvSpPr>
          <p:spPr bwMode="gray">
            <a:xfrm>
              <a:off x="9581763" y="3484521"/>
              <a:ext cx="528458" cy="288130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zh-CN" sz="1400" dirty="0"/>
                <a:t>R2</a:t>
              </a:r>
            </a:p>
          </p:txBody>
        </p:sp>
      </p:grpSp>
      <p:sp>
        <p:nvSpPr>
          <p:cNvPr id="53" name="圆角矩形 75"/>
          <p:cNvSpPr/>
          <p:nvPr/>
        </p:nvSpPr>
        <p:spPr bwMode="gray">
          <a:xfrm>
            <a:off x="600322" y="3912936"/>
            <a:ext cx="5371322" cy="1529631"/>
          </a:xfrm>
          <a:prstGeom prst="roundRect">
            <a:avLst>
              <a:gd name="adj" fmla="val 874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之间运行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OSPFv2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6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接口与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GE0/0/1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接口地址</a:t>
            </a:r>
            <a:r>
              <a:rPr lang="zh-CN" altLang="en-US" sz="1600" dirty="0">
                <a:solidFill>
                  <a:srgbClr val="C7000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在同一网段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才可以建立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OSPFv2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邻居关系。</a:t>
            </a:r>
            <a:endParaRPr lang="en-US" altLang="zh-CN" sz="16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7800" indent="-177800"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OSPFv2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运行时，邻居双方必须处于相同网段。</a:t>
            </a:r>
            <a:endParaRPr lang="en-US" altLang="zh-CN" sz="16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0" name="五边形 49"/>
          <p:cNvSpPr/>
          <p:nvPr/>
        </p:nvSpPr>
        <p:spPr bwMode="gray">
          <a:xfrm>
            <a:off x="8753159" y="92882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54" name="燕尾形 53"/>
          <p:cNvSpPr/>
          <p:nvPr/>
        </p:nvSpPr>
        <p:spPr bwMode="gray">
          <a:xfrm>
            <a:off x="9451802" y="92882"/>
            <a:ext cx="90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燕尾形 54"/>
          <p:cNvSpPr/>
          <p:nvPr/>
        </p:nvSpPr>
        <p:spPr bwMode="gray">
          <a:xfrm>
            <a:off x="10269245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燕尾形 55"/>
          <p:cNvSpPr/>
          <p:nvPr/>
        </p:nvSpPr>
        <p:spPr bwMode="gray">
          <a:xfrm>
            <a:off x="10967888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</p:spTree>
    <p:extLst>
      <p:ext uri="{BB962C8B-B14F-4D97-AF65-F5344CB8AC3E}">
        <p14:creationId xmlns:p14="http://schemas.microsoft.com/office/powerpoint/2010/main" val="3788271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矩形 114"/>
          <p:cNvSpPr/>
          <p:nvPr/>
        </p:nvSpPr>
        <p:spPr bwMode="gray">
          <a:xfrm>
            <a:off x="3875108" y="3190534"/>
            <a:ext cx="4450509" cy="2095006"/>
          </a:xfrm>
          <a:prstGeom prst="rect">
            <a:avLst/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/>
              <a:t>链路支持多实例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0"/>
            <a:ext cx="11293475" cy="1975933"/>
          </a:xfrm>
        </p:spPr>
        <p:txBody>
          <a:bodyPr/>
          <a:lstStyle/>
          <a:p>
            <a:r>
              <a:rPr lang="zh-CN" altLang="en-US" sz="2000" dirty="0"/>
              <a:t>一个</a:t>
            </a:r>
            <a:r>
              <a:rPr lang="en-US" altLang="zh-CN" sz="2000" dirty="0"/>
              <a:t>OSPFv3</a:t>
            </a:r>
            <a:r>
              <a:rPr lang="zh-CN" altLang="en-US" sz="2000" dirty="0"/>
              <a:t>物理接口可以和多个实例绑定，并用不同的实例标识（</a:t>
            </a:r>
            <a:r>
              <a:rPr lang="en-US" altLang="zh-CN" sz="2000" dirty="0"/>
              <a:t>Instance ID</a:t>
            </a:r>
            <a:r>
              <a:rPr lang="zh-CN" altLang="en-US" sz="2000" dirty="0"/>
              <a:t>）区分，即</a:t>
            </a:r>
            <a:r>
              <a:rPr lang="en-US" altLang="zh-CN" sz="2000" dirty="0"/>
              <a:t>OSPFv3</a:t>
            </a:r>
            <a:r>
              <a:rPr lang="zh-CN" altLang="en-US" sz="2000" dirty="0"/>
              <a:t>的单个链路支持运行多个</a:t>
            </a:r>
            <a:r>
              <a:rPr lang="en-US" altLang="zh-CN" sz="2000" dirty="0"/>
              <a:t>OSPFv3</a:t>
            </a:r>
            <a:r>
              <a:rPr lang="zh-CN" altLang="en-US" sz="2000" dirty="0"/>
              <a:t>实例。</a:t>
            </a:r>
            <a:endParaRPr lang="en-US" altLang="zh-CN" sz="2000" dirty="0"/>
          </a:p>
          <a:p>
            <a:r>
              <a:rPr lang="zh-CN" altLang="en-US" sz="2000" dirty="0"/>
              <a:t>这些运行在同一条物理链路上的多个</a:t>
            </a:r>
            <a:r>
              <a:rPr lang="en-US" altLang="zh-CN" sz="2000" dirty="0"/>
              <a:t>OSPFv3</a:t>
            </a:r>
            <a:r>
              <a:rPr lang="zh-CN" altLang="en-US" sz="2000" dirty="0"/>
              <a:t>实例，分别与链路对端设备建立邻居及发送报文，且互不干扰，这样可以充分共享同一链路资源。</a:t>
            </a:r>
          </a:p>
        </p:txBody>
      </p:sp>
      <p:grpSp>
        <p:nvGrpSpPr>
          <p:cNvPr id="117" name="组合 116"/>
          <p:cNvGrpSpPr/>
          <p:nvPr/>
        </p:nvGrpSpPr>
        <p:grpSpPr bwMode="gray">
          <a:xfrm>
            <a:off x="9251017" y="5383800"/>
            <a:ext cx="1018228" cy="665919"/>
            <a:chOff x="415068" y="5610812"/>
            <a:chExt cx="1018228" cy="665919"/>
          </a:xfrm>
        </p:grpSpPr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53F6C620-8FD2-48CE-8EA9-FD15D8766901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446088" y="5940297"/>
              <a:ext cx="855711" cy="0"/>
            </a:xfrm>
            <a:prstGeom prst="line">
              <a:avLst/>
            </a:prstGeom>
            <a:ln w="28575">
              <a:solidFill>
                <a:srgbClr val="ED6D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29">
              <a:extLst>
                <a:ext uri="{FF2B5EF4-FFF2-40B4-BE49-F238E27FC236}">
                  <a16:creationId xmlns:a16="http://schemas.microsoft.com/office/drawing/2014/main" id="{B546FFE7-31D2-496E-8500-1CFAB105756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15069" y="5610812"/>
              <a:ext cx="1018227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/>
              <a:r>
                <a:rPr kumimoji="1" lang="en-US" altLang="zh-CN" sz="1400" dirty="0"/>
                <a:t>Instance 1</a:t>
              </a:r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01C3C8C2-BBB1-4CDB-95BE-9BE3AAACBA93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446088" y="6276731"/>
              <a:ext cx="855711" cy="0"/>
            </a:xfrm>
            <a:prstGeom prst="line">
              <a:avLst/>
            </a:prstGeom>
            <a:ln w="28575">
              <a:solidFill>
                <a:srgbClr val="62B230"/>
              </a:solidFill>
              <a:prstDash val="dash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9F2D2DC7-4A7D-4360-BBBD-6EF3C066165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15068" y="5962006"/>
              <a:ext cx="1018227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/>
              <a:r>
                <a:rPr kumimoji="1" lang="en-US" altLang="zh-CN" sz="1400" dirty="0"/>
                <a:t>Instance 2</a:t>
              </a:r>
            </a:p>
          </p:txBody>
        </p:sp>
      </p:grpSp>
      <p:sp>
        <p:nvSpPr>
          <p:cNvPr id="44" name="Rectangle 312"/>
          <p:cNvSpPr>
            <a:spLocks noChangeArrowheads="1"/>
          </p:cNvSpPr>
          <p:nvPr/>
        </p:nvSpPr>
        <p:spPr bwMode="gray">
          <a:xfrm>
            <a:off x="4415436" y="3409417"/>
            <a:ext cx="471033" cy="2017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b="1" dirty="0"/>
              <a:t>R1</a:t>
            </a:r>
          </a:p>
        </p:txBody>
      </p:sp>
      <p:sp>
        <p:nvSpPr>
          <p:cNvPr id="45" name="Rectangle 312"/>
          <p:cNvSpPr>
            <a:spLocks noChangeArrowheads="1"/>
          </p:cNvSpPr>
          <p:nvPr/>
        </p:nvSpPr>
        <p:spPr bwMode="gray">
          <a:xfrm>
            <a:off x="6980098" y="3410020"/>
            <a:ext cx="471033" cy="2017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b="1" dirty="0"/>
              <a:t>R2</a:t>
            </a:r>
          </a:p>
        </p:txBody>
      </p:sp>
      <p:sp>
        <p:nvSpPr>
          <p:cNvPr id="46" name="Rectangle 312"/>
          <p:cNvSpPr>
            <a:spLocks noChangeArrowheads="1"/>
          </p:cNvSpPr>
          <p:nvPr/>
        </p:nvSpPr>
        <p:spPr bwMode="gray">
          <a:xfrm>
            <a:off x="4415436" y="4864370"/>
            <a:ext cx="471033" cy="2017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b="1" dirty="0"/>
              <a:t>R3</a:t>
            </a:r>
          </a:p>
        </p:txBody>
      </p:sp>
      <p:sp>
        <p:nvSpPr>
          <p:cNvPr id="47" name="Rectangle 312"/>
          <p:cNvSpPr>
            <a:spLocks noChangeArrowheads="1"/>
          </p:cNvSpPr>
          <p:nvPr/>
        </p:nvSpPr>
        <p:spPr bwMode="gray">
          <a:xfrm>
            <a:off x="6977855" y="4864370"/>
            <a:ext cx="471033" cy="2017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b="1" dirty="0"/>
              <a:t>R4</a:t>
            </a:r>
          </a:p>
        </p:txBody>
      </p:sp>
      <p:sp>
        <p:nvSpPr>
          <p:cNvPr id="48" name="Rectangle 312"/>
          <p:cNvSpPr>
            <a:spLocks noChangeArrowheads="1"/>
          </p:cNvSpPr>
          <p:nvPr/>
        </p:nvSpPr>
        <p:spPr bwMode="gray">
          <a:xfrm>
            <a:off x="4309773" y="3784870"/>
            <a:ext cx="899890" cy="1894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dirty="0"/>
              <a:t>GE0/0/1</a:t>
            </a:r>
          </a:p>
        </p:txBody>
      </p:sp>
      <p:sp>
        <p:nvSpPr>
          <p:cNvPr id="49" name="Rectangle 312"/>
          <p:cNvSpPr>
            <a:spLocks noChangeArrowheads="1"/>
          </p:cNvSpPr>
          <p:nvPr/>
        </p:nvSpPr>
        <p:spPr bwMode="gray">
          <a:xfrm>
            <a:off x="6763426" y="3784870"/>
            <a:ext cx="899890" cy="1894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dirty="0"/>
              <a:t>GE0/0/1</a:t>
            </a:r>
          </a:p>
        </p:txBody>
      </p:sp>
      <p:sp>
        <p:nvSpPr>
          <p:cNvPr id="50" name="Rectangle 312"/>
          <p:cNvSpPr>
            <a:spLocks noChangeArrowheads="1"/>
          </p:cNvSpPr>
          <p:nvPr/>
        </p:nvSpPr>
        <p:spPr bwMode="gray">
          <a:xfrm>
            <a:off x="4309773" y="4508052"/>
            <a:ext cx="899890" cy="1894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dirty="0"/>
              <a:t>GE0/0/1</a:t>
            </a:r>
          </a:p>
        </p:txBody>
      </p:sp>
      <p:sp>
        <p:nvSpPr>
          <p:cNvPr id="51" name="Rectangle 312"/>
          <p:cNvSpPr>
            <a:spLocks noChangeArrowheads="1"/>
          </p:cNvSpPr>
          <p:nvPr/>
        </p:nvSpPr>
        <p:spPr bwMode="gray">
          <a:xfrm>
            <a:off x="6758834" y="4508052"/>
            <a:ext cx="899890" cy="1894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dirty="0"/>
              <a:t>GE0/0/1</a:t>
            </a:r>
          </a:p>
        </p:txBody>
      </p:sp>
      <p:sp>
        <p:nvSpPr>
          <p:cNvPr id="118" name="圆角矩形 75"/>
          <p:cNvSpPr/>
          <p:nvPr/>
        </p:nvSpPr>
        <p:spPr bwMode="gray">
          <a:xfrm>
            <a:off x="3875107" y="5355323"/>
            <a:ext cx="4451424" cy="694396"/>
          </a:xfrm>
          <a:prstGeom prst="roundRect">
            <a:avLst>
              <a:gd name="adj" fmla="val 874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t" anchorCtr="0">
            <a:noAutofit/>
          </a:bodyPr>
          <a:lstStyle/>
          <a:p>
            <a:pPr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Instance ID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可以实现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建立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OSPFv3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邻居关系，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R4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也建立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OSPFv3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邻居关系。</a:t>
            </a:r>
            <a:endParaRPr lang="en-US" altLang="zh-CN" sz="16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1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829388" y="4732832"/>
            <a:ext cx="541201" cy="442800"/>
          </a:xfrm>
          <a:prstGeom prst="rect">
            <a:avLst/>
          </a:prstGeom>
          <a:noFill/>
        </p:spPr>
      </p:pic>
      <p:pic>
        <p:nvPicPr>
          <p:cNvPr id="64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6531277" y="4732832"/>
            <a:ext cx="541201" cy="442800"/>
          </a:xfrm>
          <a:prstGeom prst="rect">
            <a:avLst/>
          </a:prstGeom>
          <a:noFill/>
        </p:spPr>
      </p:pic>
      <p:pic>
        <p:nvPicPr>
          <p:cNvPr id="66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829388" y="3300157"/>
            <a:ext cx="541201" cy="442800"/>
          </a:xfrm>
          <a:prstGeom prst="rect">
            <a:avLst/>
          </a:prstGeom>
          <a:noFill/>
        </p:spPr>
      </p:pic>
      <p:pic>
        <p:nvPicPr>
          <p:cNvPr id="67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6531277" y="3301169"/>
            <a:ext cx="541201" cy="442800"/>
          </a:xfrm>
          <a:prstGeom prst="rect">
            <a:avLst/>
          </a:prstGeom>
          <a:noFill/>
        </p:spPr>
      </p:pic>
      <p:cxnSp>
        <p:nvCxnSpPr>
          <p:cNvPr id="68" name="直接连接符 67"/>
          <p:cNvCxnSpPr>
            <a:stCxn id="66" idx="2"/>
            <a:endCxn id="65" idx="3"/>
          </p:cNvCxnSpPr>
          <p:nvPr/>
        </p:nvCxnSpPr>
        <p:spPr bwMode="gray">
          <a:xfrm>
            <a:off x="5099989" y="3742957"/>
            <a:ext cx="1120944" cy="4949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stCxn id="61" idx="0"/>
            <a:endCxn id="65" idx="3"/>
          </p:cNvCxnSpPr>
          <p:nvPr/>
        </p:nvCxnSpPr>
        <p:spPr bwMode="gray">
          <a:xfrm flipV="1">
            <a:off x="5099989" y="4237895"/>
            <a:ext cx="1120944" cy="4949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>
            <a:stCxn id="65" idx="1"/>
            <a:endCxn id="67" idx="2"/>
          </p:cNvCxnSpPr>
          <p:nvPr/>
        </p:nvCxnSpPr>
        <p:spPr bwMode="gray">
          <a:xfrm flipV="1">
            <a:off x="5680933" y="3743969"/>
            <a:ext cx="1120945" cy="4939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stCxn id="65" idx="1"/>
            <a:endCxn id="64" idx="0"/>
          </p:cNvCxnSpPr>
          <p:nvPr/>
        </p:nvCxnSpPr>
        <p:spPr bwMode="gray">
          <a:xfrm>
            <a:off x="5680933" y="4237895"/>
            <a:ext cx="1120945" cy="4949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图片 64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5680933" y="4016495"/>
            <a:ext cx="540000" cy="442800"/>
          </a:xfrm>
          <a:prstGeom prst="rect">
            <a:avLst/>
          </a:prstGeom>
        </p:spPr>
      </p:pic>
      <p:cxnSp>
        <p:nvCxnSpPr>
          <p:cNvPr id="28" name="直接连接符 27"/>
          <p:cNvCxnSpPr/>
          <p:nvPr/>
        </p:nvCxnSpPr>
        <p:spPr bwMode="gray">
          <a:xfrm flipH="1">
            <a:off x="5068617" y="3784870"/>
            <a:ext cx="1818452" cy="849748"/>
          </a:xfrm>
          <a:prstGeom prst="line">
            <a:avLst/>
          </a:prstGeom>
          <a:ln w="28575">
            <a:solidFill>
              <a:srgbClr val="ED6D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 bwMode="gray">
          <a:xfrm>
            <a:off x="5068617" y="3806908"/>
            <a:ext cx="1750598" cy="861973"/>
          </a:xfrm>
          <a:prstGeom prst="line">
            <a:avLst/>
          </a:prstGeom>
          <a:ln w="28575">
            <a:solidFill>
              <a:srgbClr val="62B230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五边形 59"/>
          <p:cNvSpPr/>
          <p:nvPr/>
        </p:nvSpPr>
        <p:spPr bwMode="gray">
          <a:xfrm>
            <a:off x="8753159" y="92882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71" name="燕尾形 70"/>
          <p:cNvSpPr/>
          <p:nvPr/>
        </p:nvSpPr>
        <p:spPr bwMode="gray">
          <a:xfrm>
            <a:off x="9451802" y="92882"/>
            <a:ext cx="90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2" name="燕尾形 71"/>
          <p:cNvSpPr/>
          <p:nvPr/>
        </p:nvSpPr>
        <p:spPr bwMode="gray">
          <a:xfrm>
            <a:off x="10269245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4" name="燕尾形 73"/>
          <p:cNvSpPr/>
          <p:nvPr/>
        </p:nvSpPr>
        <p:spPr bwMode="gray">
          <a:xfrm>
            <a:off x="10967888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</p:spTree>
    <p:extLst>
      <p:ext uri="{BB962C8B-B14F-4D97-AF65-F5344CB8AC3E}">
        <p14:creationId xmlns:p14="http://schemas.microsoft.com/office/powerpoint/2010/main" val="4197022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/>
              <a:t>OSPFv3</a:t>
            </a:r>
            <a:r>
              <a:rPr lang="zh-CN" altLang="en-US"/>
              <a:t>对链路本地地址的使用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1"/>
            <a:ext cx="11293475" cy="3011144"/>
          </a:xfrm>
        </p:spPr>
        <p:txBody>
          <a:bodyPr/>
          <a:lstStyle/>
          <a:p>
            <a:r>
              <a:rPr lang="en-US" altLang="zh-CN" sz="2000" dirty="0"/>
              <a:t>OSPFv3</a:t>
            </a:r>
            <a:r>
              <a:rPr lang="zh-CN" altLang="en-US" sz="2000" dirty="0"/>
              <a:t>使用链路本地（</a:t>
            </a:r>
            <a:r>
              <a:rPr lang="en-US" altLang="zh-CN" sz="2000" dirty="0"/>
              <a:t>FE80::/10</a:t>
            </a:r>
            <a:r>
              <a:rPr lang="zh-CN" altLang="en-US" sz="2000" dirty="0"/>
              <a:t>）地址作为发送报文的源地址和路由的下一跳地址。</a:t>
            </a:r>
            <a:endParaRPr lang="en-US" altLang="zh-CN" sz="2000" dirty="0"/>
          </a:p>
          <a:p>
            <a:pPr lvl="1"/>
            <a:r>
              <a:rPr lang="zh-CN" altLang="en-US" sz="1800" dirty="0"/>
              <a:t>使用链路本地地址来维持邻居关系，同步</a:t>
            </a:r>
            <a:r>
              <a:rPr lang="en-US" altLang="zh-CN" sz="1800" dirty="0"/>
              <a:t>LSA</a:t>
            </a:r>
            <a:r>
              <a:rPr lang="zh-CN" altLang="en-US" sz="1800" dirty="0"/>
              <a:t>数据库。</a:t>
            </a:r>
            <a:endParaRPr lang="en-US" altLang="zh-CN" sz="1800" dirty="0"/>
          </a:p>
          <a:p>
            <a:r>
              <a:rPr lang="zh-CN" altLang="en-US" sz="2000" dirty="0"/>
              <a:t>优势：</a:t>
            </a:r>
            <a:endParaRPr lang="en-US" altLang="zh-CN" sz="2000" dirty="0"/>
          </a:p>
          <a:p>
            <a:pPr lvl="1"/>
            <a:r>
              <a:rPr lang="zh-CN" altLang="en-US" sz="1800" dirty="0"/>
              <a:t>不需要配置</a:t>
            </a:r>
            <a:r>
              <a:rPr lang="en-US" altLang="zh-CN" sz="1800" dirty="0"/>
              <a:t>IPv6</a:t>
            </a:r>
            <a:r>
              <a:rPr lang="zh-CN" altLang="en-US" sz="1800" dirty="0"/>
              <a:t>全球单播地址，就可以得到</a:t>
            </a:r>
            <a:r>
              <a:rPr lang="en-US" altLang="zh-CN" sz="1800" dirty="0"/>
              <a:t>OSPFv3</a:t>
            </a:r>
            <a:r>
              <a:rPr lang="zh-CN" altLang="en-US" sz="1800" dirty="0"/>
              <a:t>拓扑，实现拓扑与地址分离。</a:t>
            </a:r>
          </a:p>
          <a:p>
            <a:pPr lvl="1"/>
            <a:r>
              <a:rPr lang="en-US" altLang="zh-CN" sz="1800" dirty="0"/>
              <a:t>OSPFv3</a:t>
            </a:r>
            <a:r>
              <a:rPr lang="zh-CN" altLang="en-US" sz="1800" dirty="0"/>
              <a:t>报文不会被转发到始发链路范围之外，减少了报文不必要的泛洪，节省了带宽。</a:t>
            </a:r>
          </a:p>
        </p:txBody>
      </p:sp>
      <p:sp>
        <p:nvSpPr>
          <p:cNvPr id="14" name="圆角矩形 13"/>
          <p:cNvSpPr/>
          <p:nvPr/>
        </p:nvSpPr>
        <p:spPr bwMode="gray">
          <a:xfrm>
            <a:off x="525600" y="4283477"/>
            <a:ext cx="5345111" cy="1298713"/>
          </a:xfrm>
          <a:prstGeom prst="roundRect">
            <a:avLst>
              <a:gd name="adj" fmla="val 2103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/>
          </a:p>
        </p:txBody>
      </p:sp>
      <p:pic>
        <p:nvPicPr>
          <p:cNvPr id="15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1309779" y="4708394"/>
            <a:ext cx="541201" cy="442800"/>
          </a:xfrm>
          <a:prstGeom prst="rect">
            <a:avLst/>
          </a:prstGeom>
          <a:noFill/>
        </p:spPr>
      </p:pic>
      <p:pic>
        <p:nvPicPr>
          <p:cNvPr id="16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581504" y="4708394"/>
            <a:ext cx="541201" cy="442800"/>
          </a:xfrm>
          <a:prstGeom prst="rect">
            <a:avLst/>
          </a:prstGeom>
          <a:noFill/>
        </p:spPr>
      </p:pic>
      <p:cxnSp>
        <p:nvCxnSpPr>
          <p:cNvPr id="17" name="直接连接符 16"/>
          <p:cNvCxnSpPr>
            <a:stCxn id="15" idx="3"/>
            <a:endCxn id="16" idx="1"/>
          </p:cNvCxnSpPr>
          <p:nvPr/>
        </p:nvCxnSpPr>
        <p:spPr bwMode="gray">
          <a:xfrm>
            <a:off x="1850980" y="4929794"/>
            <a:ext cx="17305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12"/>
          <p:cNvSpPr>
            <a:spLocks noChangeArrowheads="1"/>
          </p:cNvSpPr>
          <p:nvPr/>
        </p:nvSpPr>
        <p:spPr bwMode="gray">
          <a:xfrm>
            <a:off x="2789510" y="4953092"/>
            <a:ext cx="2388756" cy="413600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altLang="zh-CN" sz="1400" dirty="0"/>
              <a:t>GE0/0/1</a:t>
            </a:r>
          </a:p>
          <a:p>
            <a:r>
              <a:rPr lang="en-US" altLang="zh-CN" sz="1400" dirty="0"/>
              <a:t>2001:DB8:2345:12::2/64</a:t>
            </a:r>
          </a:p>
        </p:txBody>
      </p:sp>
      <p:sp>
        <p:nvSpPr>
          <p:cNvPr id="20" name="Rectangle 312"/>
          <p:cNvSpPr>
            <a:spLocks noChangeArrowheads="1"/>
          </p:cNvSpPr>
          <p:nvPr/>
        </p:nvSpPr>
        <p:spPr bwMode="gray">
          <a:xfrm>
            <a:off x="456311" y="4319481"/>
            <a:ext cx="1056916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600" b="1" dirty="0"/>
              <a:t>OSPFv3</a:t>
            </a:r>
          </a:p>
        </p:txBody>
      </p:sp>
      <p:sp>
        <p:nvSpPr>
          <p:cNvPr id="22" name="Rectangle 312"/>
          <p:cNvSpPr>
            <a:spLocks noChangeArrowheads="1"/>
          </p:cNvSpPr>
          <p:nvPr/>
        </p:nvSpPr>
        <p:spPr bwMode="gray">
          <a:xfrm>
            <a:off x="1331241" y="4445397"/>
            <a:ext cx="528458" cy="288130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b="1" dirty="0"/>
              <a:t>R1</a:t>
            </a:r>
          </a:p>
        </p:txBody>
      </p:sp>
      <p:sp>
        <p:nvSpPr>
          <p:cNvPr id="23" name="Rectangle 312"/>
          <p:cNvSpPr>
            <a:spLocks noChangeArrowheads="1"/>
          </p:cNvSpPr>
          <p:nvPr/>
        </p:nvSpPr>
        <p:spPr bwMode="gray">
          <a:xfrm>
            <a:off x="3386183" y="4445397"/>
            <a:ext cx="528458" cy="288130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b="1" dirty="0"/>
              <a:t>R2</a:t>
            </a:r>
          </a:p>
        </p:txBody>
      </p:sp>
      <p:cxnSp>
        <p:nvCxnSpPr>
          <p:cNvPr id="21" name="直接连接符 20"/>
          <p:cNvCxnSpPr>
            <a:stCxn id="16" idx="3"/>
          </p:cNvCxnSpPr>
          <p:nvPr/>
        </p:nvCxnSpPr>
        <p:spPr bwMode="gray">
          <a:xfrm>
            <a:off x="4122705" y="4929794"/>
            <a:ext cx="17099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 bwMode="gray">
          <a:xfrm flipH="1">
            <a:off x="4304887" y="4774983"/>
            <a:ext cx="2073" cy="3232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312"/>
          <p:cNvSpPr>
            <a:spLocks noChangeArrowheads="1"/>
          </p:cNvSpPr>
          <p:nvPr/>
        </p:nvSpPr>
        <p:spPr bwMode="gray">
          <a:xfrm>
            <a:off x="3621260" y="4468520"/>
            <a:ext cx="2388756" cy="554875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40000"/>
              </a:lnSpc>
            </a:pPr>
            <a:r>
              <a:rPr lang="en-US" altLang="zh-CN" sz="1400" dirty="0"/>
              <a:t>2001:DB8:2345:2::2/128</a:t>
            </a:r>
          </a:p>
          <a:p>
            <a:pPr algn="ctr">
              <a:lnSpc>
                <a:spcPct val="140000"/>
              </a:lnSpc>
            </a:pPr>
            <a:r>
              <a:rPr lang="en-US" altLang="zh-CN" sz="1400" dirty="0"/>
              <a:t>Loopback0</a:t>
            </a:r>
          </a:p>
        </p:txBody>
      </p:sp>
      <p:sp>
        <p:nvSpPr>
          <p:cNvPr id="24" name="文本框 3"/>
          <p:cNvSpPr txBox="1"/>
          <p:nvPr/>
        </p:nvSpPr>
        <p:spPr bwMode="gray">
          <a:xfrm>
            <a:off x="5919489" y="3983564"/>
            <a:ext cx="5815315" cy="20313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[R1]display ipv6 routing-table </a:t>
            </a:r>
          </a:p>
          <a:p>
            <a:r>
              <a:rPr lang="en-US" altLang="zh-CN" sz="1400" dirty="0"/>
              <a:t>……</a:t>
            </a:r>
          </a:p>
          <a:p>
            <a:endParaRPr lang="en-US" altLang="zh-CN" sz="1400" dirty="0"/>
          </a:p>
          <a:p>
            <a:r>
              <a:rPr lang="en-US" altLang="zh-CN" sz="1400" dirty="0"/>
              <a:t> Destination:      2001:DB8:2345:2::2                </a:t>
            </a:r>
            <a:r>
              <a:rPr lang="en-US" altLang="zh-CN" sz="1400" dirty="0" err="1"/>
              <a:t>PrefixLength</a:t>
            </a:r>
            <a:r>
              <a:rPr lang="en-US" altLang="zh-CN" sz="1400" dirty="0"/>
              <a:t> : 128</a:t>
            </a:r>
          </a:p>
          <a:p>
            <a:r>
              <a:rPr lang="en-US" altLang="zh-CN" sz="1400" dirty="0"/>
              <a:t> </a:t>
            </a:r>
            <a:r>
              <a:rPr lang="en-US" altLang="zh-CN" sz="1400" dirty="0" err="1"/>
              <a:t>NextHop</a:t>
            </a:r>
            <a:r>
              <a:rPr lang="en-US" altLang="zh-CN" sz="1400" dirty="0"/>
              <a:t>:          </a:t>
            </a:r>
            <a:r>
              <a:rPr lang="en-US" altLang="zh-CN" sz="1400" dirty="0">
                <a:solidFill>
                  <a:srgbClr val="C7000B"/>
                </a:solidFill>
              </a:rPr>
              <a:t>FE80::2E0:FCFF:FE82:522B      </a:t>
            </a:r>
            <a:r>
              <a:rPr lang="en-US" altLang="zh-CN" sz="1400" dirty="0"/>
              <a:t>Preference :    10</a:t>
            </a:r>
          </a:p>
          <a:p>
            <a:r>
              <a:rPr lang="en-US" altLang="zh-CN" sz="1400" dirty="0"/>
              <a:t> Cost:                1                                          Protocol  :       OSPFv3</a:t>
            </a:r>
          </a:p>
          <a:p>
            <a:r>
              <a:rPr lang="en-US" altLang="zh-CN" sz="1400" dirty="0"/>
              <a:t> </a:t>
            </a:r>
            <a:r>
              <a:rPr lang="en-US" altLang="zh-CN" sz="1400" dirty="0" err="1"/>
              <a:t>RelayNextHop</a:t>
            </a:r>
            <a:r>
              <a:rPr lang="en-US" altLang="zh-CN" sz="1400" dirty="0"/>
              <a:t>:  ::                                          </a:t>
            </a:r>
            <a:r>
              <a:rPr lang="en-US" altLang="zh-CN" sz="1400" dirty="0" err="1"/>
              <a:t>TunnelID</a:t>
            </a:r>
            <a:r>
              <a:rPr lang="en-US" altLang="zh-CN" sz="1400" dirty="0"/>
              <a:t> :       0x0</a:t>
            </a:r>
          </a:p>
          <a:p>
            <a:r>
              <a:rPr lang="en-US" altLang="zh-CN" sz="1400" dirty="0"/>
              <a:t> Interface:          GigabitEthernet0/0/1             Flags :             D</a:t>
            </a:r>
          </a:p>
          <a:p>
            <a:r>
              <a:rPr lang="en-US" altLang="zh-CN" sz="1400" dirty="0"/>
              <a:t>……</a:t>
            </a:r>
          </a:p>
        </p:txBody>
      </p:sp>
      <p:sp>
        <p:nvSpPr>
          <p:cNvPr id="28" name="五边形 27"/>
          <p:cNvSpPr/>
          <p:nvPr/>
        </p:nvSpPr>
        <p:spPr bwMode="gray">
          <a:xfrm>
            <a:off x="8753159" y="92882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29" name="燕尾形 28"/>
          <p:cNvSpPr/>
          <p:nvPr/>
        </p:nvSpPr>
        <p:spPr bwMode="gray">
          <a:xfrm>
            <a:off x="9451802" y="92882"/>
            <a:ext cx="9000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0" name="燕尾形 29"/>
          <p:cNvSpPr/>
          <p:nvPr/>
        </p:nvSpPr>
        <p:spPr bwMode="gray">
          <a:xfrm>
            <a:off x="10269245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1" name="燕尾形 30"/>
          <p:cNvSpPr/>
          <p:nvPr/>
        </p:nvSpPr>
        <p:spPr bwMode="gray">
          <a:xfrm>
            <a:off x="10967888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  <p:sp>
        <p:nvSpPr>
          <p:cNvPr id="18" name="Rectangle 312"/>
          <p:cNvSpPr>
            <a:spLocks noChangeArrowheads="1"/>
          </p:cNvSpPr>
          <p:nvPr/>
        </p:nvSpPr>
        <p:spPr bwMode="gray">
          <a:xfrm>
            <a:off x="398074" y="4937145"/>
            <a:ext cx="2256649" cy="446410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r"/>
            <a:r>
              <a:rPr lang="en-US" altLang="zh-CN" sz="1400" dirty="0"/>
              <a:t>GE0/0/1</a:t>
            </a:r>
          </a:p>
          <a:p>
            <a:pPr algn="r"/>
            <a:r>
              <a:rPr lang="en-US" altLang="zh-CN" sz="1400" dirty="0"/>
              <a:t>2001:DB8:2345:12::1/64</a:t>
            </a:r>
          </a:p>
        </p:txBody>
      </p:sp>
    </p:spTree>
    <p:extLst>
      <p:ext uri="{BB962C8B-B14F-4D97-AF65-F5344CB8AC3E}">
        <p14:creationId xmlns:p14="http://schemas.microsoft.com/office/powerpoint/2010/main" val="808773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OSPFv3</a:t>
            </a:r>
            <a:r>
              <a:rPr lang="zh-CN" altLang="en-US"/>
              <a:t>报文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000" dirty="0"/>
              <a:t>OSPFv3</a:t>
            </a:r>
            <a:r>
              <a:rPr lang="zh-CN" altLang="en-US" sz="2000" dirty="0"/>
              <a:t>与</a:t>
            </a:r>
            <a:r>
              <a:rPr lang="en-US" altLang="zh-CN" sz="2000" dirty="0"/>
              <a:t>OSPFv2</a:t>
            </a:r>
            <a:r>
              <a:rPr lang="zh-CN" altLang="en-US" sz="2000" dirty="0"/>
              <a:t>有相同类型的报文：</a:t>
            </a:r>
            <a:endParaRPr lang="en-US" altLang="zh-CN" sz="2000" dirty="0"/>
          </a:p>
          <a:p>
            <a:pPr lvl="1"/>
            <a:r>
              <a:rPr lang="en-US" altLang="zh-CN" sz="1800" dirty="0"/>
              <a:t>Hello</a:t>
            </a:r>
            <a:r>
              <a:rPr lang="zh-CN" altLang="en-US" sz="1800" dirty="0"/>
              <a:t>报文、</a:t>
            </a:r>
            <a:r>
              <a:rPr lang="en-US" altLang="zh-CN" sz="1800" dirty="0"/>
              <a:t>DD</a:t>
            </a:r>
            <a:r>
              <a:rPr lang="zh-CN" altLang="en-US" sz="1800" dirty="0"/>
              <a:t>报文、</a:t>
            </a:r>
            <a:r>
              <a:rPr lang="en-US" altLang="zh-CN" sz="1800" dirty="0"/>
              <a:t>LSR</a:t>
            </a:r>
            <a:r>
              <a:rPr lang="zh-CN" altLang="en-US" sz="1800" dirty="0"/>
              <a:t>报文、</a:t>
            </a:r>
            <a:r>
              <a:rPr lang="en-US" altLang="zh-CN" sz="1800" dirty="0"/>
              <a:t>LSU</a:t>
            </a:r>
            <a:r>
              <a:rPr lang="zh-CN" altLang="en-US" sz="1800" dirty="0"/>
              <a:t>报文和</a:t>
            </a:r>
            <a:r>
              <a:rPr lang="en-US" altLang="zh-CN" sz="1800" dirty="0" err="1"/>
              <a:t>LSAck</a:t>
            </a:r>
            <a:r>
              <a:rPr lang="zh-CN" altLang="en-US" sz="1800" dirty="0"/>
              <a:t>报文。</a:t>
            </a:r>
          </a:p>
          <a:p>
            <a:r>
              <a:rPr lang="en-US" altLang="zh-CN" sz="2000" dirty="0"/>
              <a:t>OSPFv3</a:t>
            </a:r>
            <a:r>
              <a:rPr lang="zh-CN" altLang="en-US" sz="2000" dirty="0"/>
              <a:t>与</a:t>
            </a:r>
            <a:r>
              <a:rPr lang="en-US" altLang="zh-CN" sz="2000" dirty="0"/>
              <a:t>OSPFv2</a:t>
            </a:r>
            <a:r>
              <a:rPr lang="zh-CN" altLang="en-US" sz="2000" dirty="0"/>
              <a:t>使用相同的协议号</a:t>
            </a:r>
            <a:r>
              <a:rPr lang="en-US" altLang="zh-CN" sz="2000" dirty="0"/>
              <a:t>89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1"/>
            <a:r>
              <a:rPr lang="en-US" altLang="zh-CN" sz="1800" dirty="0"/>
              <a:t>OSPFv2</a:t>
            </a:r>
            <a:r>
              <a:rPr lang="zh-CN" altLang="en-US" sz="1800" dirty="0"/>
              <a:t>：</a:t>
            </a:r>
            <a:r>
              <a:rPr lang="en-US" altLang="zh-CN" sz="1800" dirty="0"/>
              <a:t>IPv4</a:t>
            </a:r>
            <a:r>
              <a:rPr lang="zh-CN" altLang="en-US" sz="1800" dirty="0"/>
              <a:t>报文头部中的协议号（</a:t>
            </a:r>
            <a:r>
              <a:rPr lang="en-US" altLang="zh-CN" sz="1800" dirty="0"/>
              <a:t>Protocol</a:t>
            </a:r>
            <a:r>
              <a:rPr lang="zh-CN" altLang="en-US" sz="1800" dirty="0"/>
              <a:t>）为</a:t>
            </a:r>
            <a:r>
              <a:rPr lang="en-US" altLang="zh-CN" sz="1800" dirty="0"/>
              <a:t>89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 lvl="1"/>
            <a:r>
              <a:rPr lang="en-US" altLang="zh-CN" sz="1800" dirty="0"/>
              <a:t>OSPFv3</a:t>
            </a:r>
            <a:r>
              <a:rPr lang="zh-CN" altLang="en-US" sz="1800" dirty="0"/>
              <a:t>：</a:t>
            </a:r>
            <a:r>
              <a:rPr lang="en-US" altLang="zh-CN" sz="1800" dirty="0"/>
              <a:t>IPv6</a:t>
            </a:r>
            <a:r>
              <a:rPr lang="zh-CN" altLang="en-US" sz="1800" dirty="0"/>
              <a:t>报文头部中的下一报头号（</a:t>
            </a:r>
            <a:r>
              <a:rPr lang="en-US" altLang="zh-CN" sz="1800" dirty="0"/>
              <a:t>Next Header</a:t>
            </a:r>
            <a:r>
              <a:rPr lang="zh-CN" altLang="en-US" sz="1800" dirty="0"/>
              <a:t>）为</a:t>
            </a:r>
            <a:r>
              <a:rPr lang="en-US" altLang="zh-CN" sz="1800" dirty="0"/>
              <a:t>89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r>
              <a:rPr lang="en-US" altLang="zh-CN" sz="2000" dirty="0"/>
              <a:t>OSPFv3</a:t>
            </a:r>
            <a:r>
              <a:rPr lang="zh-CN" altLang="en-US" sz="2000" dirty="0"/>
              <a:t>与</a:t>
            </a:r>
            <a:r>
              <a:rPr lang="en-US" altLang="zh-CN" sz="2000" dirty="0"/>
              <a:t>OSPFv2</a:t>
            </a:r>
            <a:r>
              <a:rPr lang="zh-CN" altLang="en-US" sz="2000" dirty="0"/>
              <a:t>类似，使用组播地址作为</a:t>
            </a:r>
            <a:r>
              <a:rPr lang="en-US" altLang="zh-CN" sz="2000" dirty="0"/>
              <a:t>OSPF</a:t>
            </a:r>
            <a:r>
              <a:rPr lang="zh-CN" altLang="en-US" sz="2000" dirty="0"/>
              <a:t>报文目的地址。</a:t>
            </a:r>
            <a:endParaRPr lang="en-US" altLang="zh-CN" sz="2000" dirty="0"/>
          </a:p>
          <a:p>
            <a:pPr lvl="1"/>
            <a:r>
              <a:rPr lang="en-US" altLang="zh-CN" sz="1800" dirty="0"/>
              <a:t>OSPFv2</a:t>
            </a:r>
            <a:r>
              <a:rPr lang="zh-CN" altLang="en-US" sz="1800" dirty="0"/>
              <a:t>使用</a:t>
            </a:r>
            <a:r>
              <a:rPr lang="en-US" altLang="zh-CN" sz="1800" dirty="0"/>
              <a:t>IPv4</a:t>
            </a:r>
            <a:r>
              <a:rPr lang="zh-CN" altLang="en-US" sz="1800" dirty="0"/>
              <a:t>组播地址：</a:t>
            </a:r>
            <a:r>
              <a:rPr lang="en-US" altLang="zh-CN" sz="1800" dirty="0"/>
              <a:t> </a:t>
            </a:r>
          </a:p>
          <a:p>
            <a:pPr lvl="2"/>
            <a:r>
              <a:rPr lang="en-US" altLang="zh-CN" sz="1600" dirty="0"/>
              <a:t>OSPF IGP Routers</a:t>
            </a:r>
            <a:r>
              <a:rPr lang="zh-CN" altLang="en-US" sz="1600" dirty="0"/>
              <a:t>：</a:t>
            </a:r>
            <a:r>
              <a:rPr lang="en-US" altLang="zh-CN" sz="1600" dirty="0"/>
              <a:t>224.0.0.5</a:t>
            </a:r>
            <a:r>
              <a:rPr lang="zh-CN" altLang="en-US" sz="1600" dirty="0"/>
              <a:t>；</a:t>
            </a:r>
            <a:r>
              <a:rPr lang="en-US" altLang="zh-CN" sz="1600" dirty="0"/>
              <a:t>OSPF IGP DR </a:t>
            </a:r>
            <a:r>
              <a:rPr lang="zh-CN" altLang="en-US" sz="1600" dirty="0"/>
              <a:t>：</a:t>
            </a:r>
            <a:r>
              <a:rPr lang="en-US" altLang="zh-CN" sz="1600" dirty="0"/>
              <a:t>224.0.0.6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lvl="1"/>
            <a:r>
              <a:rPr lang="en-US" altLang="zh-CN" sz="1800" dirty="0"/>
              <a:t>OSPFv3</a:t>
            </a:r>
            <a:r>
              <a:rPr lang="zh-CN" altLang="en-US" sz="1800" dirty="0"/>
              <a:t>使用</a:t>
            </a:r>
            <a:r>
              <a:rPr lang="en-US" altLang="zh-CN" sz="1800" dirty="0"/>
              <a:t>IPv6</a:t>
            </a:r>
            <a:r>
              <a:rPr lang="zh-CN" altLang="en-US" sz="1800" dirty="0"/>
              <a:t>组播地址：</a:t>
            </a:r>
            <a:endParaRPr lang="en-US" altLang="zh-CN" sz="1800" dirty="0"/>
          </a:p>
          <a:p>
            <a:pPr lvl="2"/>
            <a:r>
              <a:rPr lang="en-US" altLang="zh-CN" sz="1600" dirty="0"/>
              <a:t>OSPF IGP Routers</a:t>
            </a:r>
            <a:r>
              <a:rPr lang="zh-CN" altLang="en-US" sz="1600" dirty="0"/>
              <a:t>：</a:t>
            </a:r>
            <a:r>
              <a:rPr lang="en-US" altLang="zh-CN" sz="1600" dirty="0"/>
              <a:t>FF02::5</a:t>
            </a:r>
            <a:r>
              <a:rPr lang="zh-CN" altLang="en-US" sz="1600" dirty="0"/>
              <a:t>；</a:t>
            </a:r>
            <a:r>
              <a:rPr lang="en-US" altLang="zh-CN" sz="1600" dirty="0"/>
              <a:t>OSPF IGP DR</a:t>
            </a:r>
            <a:r>
              <a:rPr lang="zh-CN" altLang="en-US" sz="1600" dirty="0"/>
              <a:t>：</a:t>
            </a:r>
            <a:r>
              <a:rPr lang="en-US" altLang="zh-CN" sz="1600" dirty="0"/>
              <a:t>FF02::6</a:t>
            </a:r>
            <a:r>
              <a:rPr lang="zh-CN" altLang="en-US" sz="1600" dirty="0"/>
              <a:t>。</a:t>
            </a:r>
            <a:endParaRPr lang="en-US" altLang="zh-CN" sz="1600" dirty="0"/>
          </a:p>
        </p:txBody>
      </p:sp>
      <p:sp>
        <p:nvSpPr>
          <p:cNvPr id="8" name="五边形 7"/>
          <p:cNvSpPr/>
          <p:nvPr/>
        </p:nvSpPr>
        <p:spPr bwMode="auto">
          <a:xfrm>
            <a:off x="8753159" y="92882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9" name="燕尾形 8"/>
          <p:cNvSpPr/>
          <p:nvPr/>
        </p:nvSpPr>
        <p:spPr bwMode="auto">
          <a:xfrm>
            <a:off x="9451802" y="92882"/>
            <a:ext cx="90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燕尾形 9"/>
          <p:cNvSpPr/>
          <p:nvPr/>
        </p:nvSpPr>
        <p:spPr bwMode="auto">
          <a:xfrm>
            <a:off x="10269245" y="92882"/>
            <a:ext cx="7812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燕尾形 10"/>
          <p:cNvSpPr/>
          <p:nvPr/>
        </p:nvSpPr>
        <p:spPr bwMode="auto">
          <a:xfrm>
            <a:off x="10967888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</p:spTree>
    <p:extLst>
      <p:ext uri="{BB962C8B-B14F-4D97-AF65-F5344CB8AC3E}">
        <p14:creationId xmlns:p14="http://schemas.microsoft.com/office/powerpoint/2010/main" val="2212631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OSPFv3</a:t>
            </a:r>
            <a:r>
              <a:rPr lang="zh-CN" altLang="en-US"/>
              <a:t>报文头部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55613" y="1047750"/>
            <a:ext cx="5662618" cy="3230731"/>
          </a:xfrm>
        </p:spPr>
        <p:txBody>
          <a:bodyPr/>
          <a:lstStyle/>
          <a:p>
            <a:r>
              <a:rPr lang="en-US" altLang="zh-CN" sz="2000" dirty="0"/>
              <a:t>OSPFv2</a:t>
            </a:r>
            <a:r>
              <a:rPr lang="zh-CN" altLang="en-US" sz="2000" dirty="0"/>
              <a:t>报文头部：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OSPFv3</a:t>
            </a:r>
            <a:r>
              <a:rPr lang="zh-CN" altLang="en-US" sz="2000" dirty="0"/>
              <a:t>报文头部：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056375"/>
              </p:ext>
            </p:extLst>
          </p:nvPr>
        </p:nvGraphicFramePr>
        <p:xfrm>
          <a:off x="817203" y="4278481"/>
          <a:ext cx="5040000" cy="1489328"/>
        </p:xfrm>
        <a:graphic>
          <a:graphicData uri="http://schemas.openxmlformats.org/drawingml/2006/table">
            <a:tbl>
              <a:tblPr firstRow="1" bandRow="1"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664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Version=3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Type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Packet Length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242">
                <a:tc gridSpan="4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Router ID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180">
                <a:tc gridSpan="4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Area ID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242"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Checksum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Instance ID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598544"/>
              </p:ext>
            </p:extLst>
          </p:nvPr>
        </p:nvGraphicFramePr>
        <p:xfrm>
          <a:off x="817203" y="1607708"/>
          <a:ext cx="5040000" cy="1895570"/>
        </p:xfrm>
        <a:graphic>
          <a:graphicData uri="http://schemas.openxmlformats.org/drawingml/2006/table">
            <a:tbl>
              <a:tblPr firstRow="1" bandRow="1"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664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Version=2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Type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Packet Length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242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Router ID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18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Area ID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242"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Checksum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</a:t>
                      </a: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Type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242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Authentication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文本占位符 2"/>
          <p:cNvSpPr txBox="1">
            <a:spLocks/>
          </p:cNvSpPr>
          <p:nvPr/>
        </p:nvSpPr>
        <p:spPr bwMode="auto">
          <a:xfrm>
            <a:off x="6118230" y="1052513"/>
            <a:ext cx="5627683" cy="482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/>
              <a:t>与</a:t>
            </a:r>
            <a:r>
              <a:rPr lang="en-US" altLang="zh-CN" sz="1800" dirty="0"/>
              <a:t>OSPFv2</a:t>
            </a:r>
            <a:r>
              <a:rPr lang="zh-CN" altLang="en-US" sz="1800" dirty="0"/>
              <a:t>一样，</a:t>
            </a:r>
            <a:r>
              <a:rPr lang="en-US" altLang="zh-CN" sz="1800" dirty="0"/>
              <a:t>OSPFv3</a:t>
            </a:r>
            <a:r>
              <a:rPr lang="zh-CN" altLang="en-US" sz="1800" dirty="0"/>
              <a:t>的五种报文都有同样的报文头，只是报文中的字段有些不同。</a:t>
            </a:r>
          </a:p>
          <a:p>
            <a:r>
              <a:rPr lang="zh-CN" altLang="en-US" sz="1800" dirty="0"/>
              <a:t>变化点：</a:t>
            </a:r>
          </a:p>
          <a:p>
            <a:pPr lvl="1"/>
            <a:r>
              <a:rPr lang="en-US" altLang="zh-CN" sz="1600" b="1" dirty="0"/>
              <a:t>Instance ID</a:t>
            </a:r>
            <a:r>
              <a:rPr lang="zh-CN" altLang="en-US" sz="1600" dirty="0"/>
              <a:t>：</a:t>
            </a:r>
            <a:r>
              <a:rPr lang="en-US" altLang="zh-CN" sz="1600" dirty="0"/>
              <a:t>1 Byte</a:t>
            </a:r>
            <a:r>
              <a:rPr lang="zh-CN" altLang="en-US" sz="1600" dirty="0"/>
              <a:t>，缺省值为</a:t>
            </a:r>
            <a:r>
              <a:rPr lang="en-US" altLang="zh-CN" sz="1600" dirty="0"/>
              <a:t>0</a:t>
            </a:r>
            <a:r>
              <a:rPr lang="zh-CN" altLang="en-US" sz="1600" dirty="0"/>
              <a:t>。允许在一个链路上运行多个</a:t>
            </a:r>
            <a:r>
              <a:rPr lang="en-US" altLang="zh-CN" sz="1600" dirty="0"/>
              <a:t>OSPFv3</a:t>
            </a:r>
            <a:r>
              <a:rPr lang="zh-CN" altLang="en-US" sz="1600" dirty="0"/>
              <a:t>的实例。每个实例具有唯一的</a:t>
            </a:r>
            <a:r>
              <a:rPr lang="en-US" altLang="zh-CN" sz="1600" dirty="0"/>
              <a:t>Instance ID</a:t>
            </a:r>
            <a:r>
              <a:rPr lang="zh-CN" altLang="en-US" sz="1600" dirty="0"/>
              <a:t>。</a:t>
            </a:r>
            <a:r>
              <a:rPr lang="en-US" altLang="zh-CN" sz="1600" dirty="0"/>
              <a:t>Instance ID</a:t>
            </a:r>
            <a:r>
              <a:rPr lang="zh-CN" altLang="en-US" sz="1600" dirty="0"/>
              <a:t>只在本地链路上有意义。</a:t>
            </a:r>
          </a:p>
          <a:p>
            <a:pPr lvl="1"/>
            <a:r>
              <a:rPr lang="en-US" altLang="zh-CN" sz="1600" b="1" dirty="0"/>
              <a:t>OSPFv3</a:t>
            </a:r>
            <a:r>
              <a:rPr lang="zh-CN" altLang="en-US" sz="1600" b="1" dirty="0"/>
              <a:t>报文头部移除了所有的认证字段</a:t>
            </a:r>
            <a:r>
              <a:rPr lang="zh-CN" altLang="en-US" sz="1600" dirty="0"/>
              <a:t>：</a:t>
            </a:r>
            <a:r>
              <a:rPr lang="en-US" altLang="zh-CN" sz="1600" dirty="0"/>
              <a:t>OSPFv3</a:t>
            </a:r>
            <a:r>
              <a:rPr lang="zh-CN" altLang="en-US" sz="1600" dirty="0"/>
              <a:t>的认证可以使用</a:t>
            </a:r>
            <a:r>
              <a:rPr lang="en-US" altLang="zh-CN" sz="1600" dirty="0"/>
              <a:t>IPv6</a:t>
            </a:r>
            <a:r>
              <a:rPr lang="zh-CN" altLang="en-US" sz="1600" dirty="0"/>
              <a:t>的认证及安全处理，也可以通过</a:t>
            </a:r>
            <a:r>
              <a:rPr lang="en-US" altLang="zh-CN" sz="1600" dirty="0"/>
              <a:t>OSPFv3</a:t>
            </a:r>
            <a:r>
              <a:rPr lang="zh-CN" altLang="en-US" sz="1600" dirty="0"/>
              <a:t>自身机制来完成报文认证。</a:t>
            </a:r>
          </a:p>
        </p:txBody>
      </p:sp>
      <p:sp>
        <p:nvSpPr>
          <p:cNvPr id="11" name="五边形 10"/>
          <p:cNvSpPr/>
          <p:nvPr/>
        </p:nvSpPr>
        <p:spPr bwMode="auto">
          <a:xfrm>
            <a:off x="8753159" y="92882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17" name="燕尾形 16"/>
          <p:cNvSpPr/>
          <p:nvPr/>
        </p:nvSpPr>
        <p:spPr bwMode="auto">
          <a:xfrm>
            <a:off x="9451802" y="92882"/>
            <a:ext cx="90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燕尾形 17"/>
          <p:cNvSpPr/>
          <p:nvPr/>
        </p:nvSpPr>
        <p:spPr bwMode="auto">
          <a:xfrm>
            <a:off x="10269245" y="92882"/>
            <a:ext cx="7812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燕尾形 18"/>
          <p:cNvSpPr/>
          <p:nvPr/>
        </p:nvSpPr>
        <p:spPr bwMode="auto">
          <a:xfrm>
            <a:off x="10967888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</p:spTree>
    <p:extLst>
      <p:ext uri="{BB962C8B-B14F-4D97-AF65-F5344CB8AC3E}">
        <p14:creationId xmlns:p14="http://schemas.microsoft.com/office/powerpoint/2010/main" val="2913356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Hello</a:t>
            </a:r>
            <a:r>
              <a:rPr lang="zh-CN" altLang="en-US"/>
              <a:t>报文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55613" y="1047751"/>
            <a:ext cx="5640387" cy="3174106"/>
          </a:xfrm>
        </p:spPr>
        <p:txBody>
          <a:bodyPr/>
          <a:lstStyle/>
          <a:p>
            <a:r>
              <a:rPr lang="en-US" altLang="zh-CN" sz="2000" dirty="0"/>
              <a:t>OSPFv2</a:t>
            </a:r>
            <a:r>
              <a:rPr lang="zh-CN" altLang="en-US" sz="2000" dirty="0"/>
              <a:t>的</a:t>
            </a:r>
            <a:r>
              <a:rPr lang="en-US" altLang="zh-CN" sz="2000" dirty="0"/>
              <a:t>Hello</a:t>
            </a:r>
            <a:r>
              <a:rPr lang="zh-CN" altLang="en-US" sz="2000" dirty="0"/>
              <a:t>报文格式：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OSPFv3</a:t>
            </a:r>
            <a:r>
              <a:rPr lang="zh-CN" altLang="en-US" sz="2000" dirty="0"/>
              <a:t>的</a:t>
            </a:r>
            <a:r>
              <a:rPr lang="en-US" altLang="zh-CN" sz="2000" dirty="0"/>
              <a:t>Hello</a:t>
            </a:r>
            <a:r>
              <a:rPr lang="zh-CN" altLang="en-US" sz="2000" dirty="0"/>
              <a:t>报文格式：</a:t>
            </a:r>
          </a:p>
          <a:p>
            <a:endParaRPr lang="zh-CN" altLang="en-US" sz="20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691108"/>
              </p:ext>
            </p:extLst>
          </p:nvPr>
        </p:nvGraphicFramePr>
        <p:xfrm>
          <a:off x="817203" y="1607708"/>
          <a:ext cx="5040000" cy="1880312"/>
        </p:xfrm>
        <a:graphic>
          <a:graphicData uri="http://schemas.openxmlformats.org/drawingml/2006/table">
            <a:tbl>
              <a:tblPr firstRow="1" bandRow="1"/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255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Mask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678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HelloInterval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Options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Rtr </a:t>
                      </a:r>
                      <a:r>
                        <a:rPr kumimoji="0" lang="en-US" altLang="zh-CN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032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RouterDeadInterval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678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Designated Router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678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Backup Designated Router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678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Neighbor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932525"/>
              </p:ext>
            </p:extLst>
          </p:nvPr>
        </p:nvGraphicFramePr>
        <p:xfrm>
          <a:off x="817203" y="4221856"/>
          <a:ext cx="5040000" cy="1880312"/>
        </p:xfrm>
        <a:graphic>
          <a:graphicData uri="http://schemas.openxmlformats.org/drawingml/2006/table">
            <a:tbl>
              <a:tblPr firstRow="1" bandRow="1"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255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 ID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678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Rtr </a:t>
                      </a:r>
                      <a:r>
                        <a:rPr kumimoji="0" lang="en-US" altLang="zh-CN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Options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032"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HelloInterval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RouterDeadInterval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678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Designated Router ID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678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Backup Designated Router ID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678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Neighbor ID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文本占位符 2"/>
          <p:cNvSpPr txBox="1">
            <a:spLocks/>
          </p:cNvSpPr>
          <p:nvPr/>
        </p:nvSpPr>
        <p:spPr bwMode="auto">
          <a:xfrm>
            <a:off x="6118230" y="1052514"/>
            <a:ext cx="5627683" cy="4351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/>
              <a:t>与</a:t>
            </a:r>
            <a:r>
              <a:rPr lang="en-US" altLang="zh-CN" sz="1800" dirty="0"/>
              <a:t>OSPFv2</a:t>
            </a:r>
            <a:r>
              <a:rPr lang="zh-CN" altLang="en-US" sz="1800" dirty="0"/>
              <a:t>的</a:t>
            </a:r>
            <a:r>
              <a:rPr lang="en-US" altLang="zh-CN" sz="1800" dirty="0"/>
              <a:t>Hello</a:t>
            </a:r>
            <a:r>
              <a:rPr lang="zh-CN" altLang="en-US" sz="1800" dirty="0"/>
              <a:t>报文相比，</a:t>
            </a:r>
            <a:r>
              <a:rPr lang="en-US" altLang="zh-CN" sz="1800" dirty="0"/>
              <a:t>OSPFv3</a:t>
            </a:r>
            <a:r>
              <a:rPr lang="zh-CN" altLang="en-US" sz="1800" dirty="0"/>
              <a:t>的</a:t>
            </a:r>
            <a:r>
              <a:rPr lang="en-US" altLang="zh-CN" sz="1800" dirty="0"/>
              <a:t>Hello</a:t>
            </a:r>
            <a:r>
              <a:rPr lang="zh-CN" altLang="en-US" sz="1800" dirty="0"/>
              <a:t>报文去掉了</a:t>
            </a:r>
            <a:r>
              <a:rPr lang="en-US" altLang="zh-CN" sz="1800" dirty="0"/>
              <a:t>Network Mask</a:t>
            </a:r>
            <a:r>
              <a:rPr lang="zh-CN" altLang="en-US" sz="1800" dirty="0"/>
              <a:t>字段，增加了</a:t>
            </a:r>
            <a:r>
              <a:rPr lang="en-US" altLang="zh-CN" sz="1800" dirty="0"/>
              <a:t>Interface ID</a:t>
            </a:r>
            <a:r>
              <a:rPr lang="zh-CN" altLang="en-US" sz="1800" dirty="0"/>
              <a:t>字段，用来标识发送该</a:t>
            </a:r>
            <a:r>
              <a:rPr lang="en-US" altLang="zh-CN" sz="1800" dirty="0"/>
              <a:t>Hello</a:t>
            </a:r>
            <a:r>
              <a:rPr lang="zh-CN" altLang="en-US" sz="1800" dirty="0"/>
              <a:t>报文的接口</a:t>
            </a:r>
            <a:r>
              <a:rPr lang="en-US" altLang="zh-CN" sz="1800" dirty="0"/>
              <a:t>ID</a:t>
            </a:r>
            <a:r>
              <a:rPr lang="zh-CN" altLang="en-US" sz="1800" dirty="0"/>
              <a:t>。</a:t>
            </a:r>
          </a:p>
          <a:p>
            <a:r>
              <a:rPr lang="zh-CN" altLang="en-US" sz="1800" dirty="0"/>
              <a:t>变化点：</a:t>
            </a:r>
          </a:p>
          <a:p>
            <a:pPr lvl="1"/>
            <a:r>
              <a:rPr lang="en-US" altLang="zh-CN" sz="1600" b="1" dirty="0"/>
              <a:t>Interface ID</a:t>
            </a:r>
            <a:r>
              <a:rPr lang="zh-CN" altLang="en-US" sz="1600" b="1" dirty="0"/>
              <a:t>：</a:t>
            </a:r>
            <a:r>
              <a:rPr lang="en-US" altLang="zh-CN" sz="1600" dirty="0"/>
              <a:t>4 Byte</a:t>
            </a:r>
            <a:r>
              <a:rPr lang="zh-CN" altLang="en-US" sz="1600" dirty="0"/>
              <a:t>，唯一标识了建立连接的（发送</a:t>
            </a:r>
            <a:r>
              <a:rPr lang="en-US" altLang="zh-CN" sz="1600" dirty="0"/>
              <a:t>Hello</a:t>
            </a:r>
            <a:r>
              <a:rPr lang="zh-CN" altLang="en-US" sz="1600" dirty="0"/>
              <a:t>报文的）接口。 </a:t>
            </a:r>
            <a:endParaRPr lang="en-US" altLang="zh-CN" sz="1600" dirty="0"/>
          </a:p>
          <a:p>
            <a:pPr lvl="1"/>
            <a:r>
              <a:rPr lang="en-US" altLang="zh-CN" sz="1600" b="1" dirty="0"/>
              <a:t>Options</a:t>
            </a:r>
            <a:r>
              <a:rPr lang="zh-CN" altLang="en-US" sz="1600" dirty="0"/>
              <a:t>：扩展到</a:t>
            </a:r>
            <a:r>
              <a:rPr lang="en-US" altLang="zh-CN" sz="1600" dirty="0"/>
              <a:t>3 Byte</a:t>
            </a:r>
            <a:r>
              <a:rPr lang="zh-CN" altLang="en-US" sz="1600" dirty="0"/>
              <a:t>，可选项。与</a:t>
            </a:r>
            <a:r>
              <a:rPr lang="en-US" altLang="zh-CN" sz="1600" dirty="0"/>
              <a:t>OSPFv2</a:t>
            </a:r>
            <a:r>
              <a:rPr lang="zh-CN" altLang="en-US" sz="1600" dirty="0"/>
              <a:t>相比，增加了</a:t>
            </a:r>
            <a:r>
              <a:rPr lang="en-US" altLang="zh-CN" sz="1600" dirty="0"/>
              <a:t>AT</a:t>
            </a:r>
            <a:r>
              <a:rPr lang="zh-CN" altLang="en-US" sz="1600" dirty="0"/>
              <a:t>位、</a:t>
            </a:r>
            <a:r>
              <a:rPr lang="en-US" altLang="zh-CN" sz="1600" dirty="0"/>
              <a:t>R</a:t>
            </a:r>
            <a:r>
              <a:rPr lang="zh-CN" altLang="en-US" sz="1600" dirty="0"/>
              <a:t>位和</a:t>
            </a:r>
            <a:r>
              <a:rPr lang="en-US" altLang="zh-CN" sz="1600" dirty="0"/>
              <a:t>V6</a:t>
            </a:r>
            <a:r>
              <a:rPr lang="zh-CN" altLang="en-US" sz="1600" dirty="0"/>
              <a:t>位。</a:t>
            </a:r>
            <a:endParaRPr lang="en-US" altLang="zh-CN" sz="1600" dirty="0"/>
          </a:p>
          <a:p>
            <a:pPr lvl="2"/>
            <a:r>
              <a:rPr lang="en-US" altLang="zh-CN" sz="1400" dirty="0"/>
              <a:t>AT</a:t>
            </a:r>
            <a:r>
              <a:rPr lang="zh-CN" altLang="en-US" sz="1400" dirty="0"/>
              <a:t>：表示是否支持</a:t>
            </a:r>
            <a:r>
              <a:rPr lang="en-US" altLang="zh-CN" sz="1400" dirty="0"/>
              <a:t>OSPFv3</a:t>
            </a:r>
            <a:r>
              <a:rPr lang="zh-CN" altLang="en-US" sz="1400" dirty="0"/>
              <a:t>认证。</a:t>
            </a:r>
          </a:p>
          <a:p>
            <a:pPr lvl="2"/>
            <a:r>
              <a:rPr lang="en-US" altLang="zh-CN" sz="1400" dirty="0"/>
              <a:t>R</a:t>
            </a:r>
            <a:r>
              <a:rPr lang="zh-CN" altLang="en-US" sz="1400" dirty="0"/>
              <a:t>：指明始发路由器是否具备转发能力。</a:t>
            </a:r>
          </a:p>
          <a:p>
            <a:pPr lvl="2"/>
            <a:r>
              <a:rPr lang="en-US" altLang="zh-CN" sz="1400" dirty="0"/>
              <a:t>V6</a:t>
            </a:r>
            <a:r>
              <a:rPr lang="zh-CN" altLang="en-US" sz="1400" dirty="0"/>
              <a:t>：表示是否参与</a:t>
            </a:r>
            <a:r>
              <a:rPr lang="en-US" altLang="zh-CN" sz="1400" dirty="0"/>
              <a:t>IPv6</a:t>
            </a:r>
            <a:r>
              <a:rPr lang="zh-CN" altLang="en-US" sz="1400" dirty="0"/>
              <a:t>路由计算。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490878"/>
              </p:ext>
            </p:extLst>
          </p:nvPr>
        </p:nvGraphicFramePr>
        <p:xfrm>
          <a:off x="6379779" y="5798265"/>
          <a:ext cx="5275782" cy="304800"/>
        </p:xfrm>
        <a:graphic>
          <a:graphicData uri="http://schemas.openxmlformats.org/drawingml/2006/table">
            <a:tbl>
              <a:tblPr firstRow="1" bandRow="1"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8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082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082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08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082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082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81255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DC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MC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V6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A20CFF6E-63E9-4A2B-AAB0-36CA4D9013C0}"/>
              </a:ext>
            </a:extLst>
          </p:cNvPr>
          <p:cNvSpPr txBox="1"/>
          <p:nvPr/>
        </p:nvSpPr>
        <p:spPr bwMode="auto">
          <a:xfrm>
            <a:off x="6217983" y="5524275"/>
            <a:ext cx="360040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>
                <a:solidFill>
                  <a:srgbClr val="000000"/>
                </a:solidFill>
                <a:cs typeface="Arial" pitchFamily="34" charset="0"/>
              </a:rPr>
              <a:t>0</a:t>
            </a:r>
            <a:endParaRPr lang="zh-CN" altLang="en-US" sz="1400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9CD38C6-D772-4F4F-849A-7B1BD37852F0}"/>
              </a:ext>
            </a:extLst>
          </p:cNvPr>
          <p:cNvSpPr txBox="1"/>
          <p:nvPr/>
        </p:nvSpPr>
        <p:spPr bwMode="auto">
          <a:xfrm>
            <a:off x="8557208" y="5524275"/>
            <a:ext cx="538302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>
                <a:solidFill>
                  <a:srgbClr val="000000"/>
                </a:solidFill>
                <a:cs typeface="Arial" pitchFamily="34" charset="0"/>
              </a:rPr>
              <a:t>18</a:t>
            </a:r>
            <a:endParaRPr lang="zh-CN" altLang="en-US" sz="1400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30C8DA5-1596-4164-8C20-2154B6D0A4DB}"/>
              </a:ext>
            </a:extLst>
          </p:cNvPr>
          <p:cNvSpPr txBox="1"/>
          <p:nvPr/>
        </p:nvSpPr>
        <p:spPr bwMode="auto">
          <a:xfrm>
            <a:off x="11349129" y="5524275"/>
            <a:ext cx="538302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>
                <a:solidFill>
                  <a:srgbClr val="000000"/>
                </a:solidFill>
                <a:cs typeface="Arial" pitchFamily="34" charset="0"/>
              </a:rPr>
              <a:t>24</a:t>
            </a:r>
            <a:endParaRPr lang="zh-CN" altLang="en-US" sz="1400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9CD38C6-D772-4F4F-849A-7B1BD37852F0}"/>
              </a:ext>
            </a:extLst>
          </p:cNvPr>
          <p:cNvSpPr txBox="1"/>
          <p:nvPr/>
        </p:nvSpPr>
        <p:spPr bwMode="auto">
          <a:xfrm>
            <a:off x="6578023" y="5524275"/>
            <a:ext cx="538302" cy="3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649" eaLnBrk="0" hangingPunct="0"/>
            <a:r>
              <a:rPr lang="en-US" altLang="zh-CN" sz="1400" dirty="0">
                <a:solidFill>
                  <a:srgbClr val="000000"/>
                </a:solidFill>
                <a:cs typeface="Arial" pitchFamily="34" charset="0"/>
              </a:rPr>
              <a:t>13</a:t>
            </a:r>
            <a:endParaRPr lang="zh-CN" altLang="en-US" sz="1400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4" name="任意多边形 13"/>
          <p:cNvSpPr/>
          <p:nvPr/>
        </p:nvSpPr>
        <p:spPr bwMode="gray">
          <a:xfrm>
            <a:off x="5855110" y="4680009"/>
            <a:ext cx="516193" cy="1247546"/>
          </a:xfrm>
          <a:custGeom>
            <a:avLst/>
            <a:gdLst>
              <a:gd name="connsiteX0" fmla="*/ 0 w 516193"/>
              <a:gd name="connsiteY0" fmla="*/ 0 h 1445342"/>
              <a:gd name="connsiteX1" fmla="*/ 235974 w 516193"/>
              <a:gd name="connsiteY1" fmla="*/ 0 h 1445342"/>
              <a:gd name="connsiteX2" fmla="*/ 235974 w 516193"/>
              <a:gd name="connsiteY2" fmla="*/ 1445342 h 1445342"/>
              <a:gd name="connsiteX3" fmla="*/ 516193 w 516193"/>
              <a:gd name="connsiteY3" fmla="*/ 1445342 h 1445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6193" h="1445342">
                <a:moveTo>
                  <a:pt x="0" y="0"/>
                </a:moveTo>
                <a:lnTo>
                  <a:pt x="235974" y="0"/>
                </a:lnTo>
                <a:lnTo>
                  <a:pt x="235974" y="1445342"/>
                </a:lnTo>
                <a:lnTo>
                  <a:pt x="516193" y="1445342"/>
                </a:lnTo>
              </a:path>
            </a:pathLst>
          </a:custGeom>
          <a:noFill/>
          <a:ln>
            <a:solidFill>
              <a:srgbClr val="94DAE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五边形 16"/>
          <p:cNvSpPr/>
          <p:nvPr/>
        </p:nvSpPr>
        <p:spPr bwMode="auto">
          <a:xfrm>
            <a:off x="8753159" y="92882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18" name="燕尾形 17"/>
          <p:cNvSpPr/>
          <p:nvPr/>
        </p:nvSpPr>
        <p:spPr bwMode="auto">
          <a:xfrm>
            <a:off x="9451802" y="92882"/>
            <a:ext cx="90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燕尾形 22"/>
          <p:cNvSpPr/>
          <p:nvPr/>
        </p:nvSpPr>
        <p:spPr bwMode="auto">
          <a:xfrm>
            <a:off x="10269245" y="92882"/>
            <a:ext cx="7812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b="1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燕尾形 23"/>
          <p:cNvSpPr/>
          <p:nvPr/>
        </p:nvSpPr>
        <p:spPr bwMode="auto">
          <a:xfrm>
            <a:off x="10967888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</p:spTree>
    <p:extLst>
      <p:ext uri="{BB962C8B-B14F-4D97-AF65-F5344CB8AC3E}">
        <p14:creationId xmlns:p14="http://schemas.microsoft.com/office/powerpoint/2010/main" val="3451454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OSPFv3</a:t>
            </a:r>
            <a:r>
              <a:rPr lang="zh-CN" altLang="en-US"/>
              <a:t>的</a:t>
            </a:r>
            <a:r>
              <a:rPr lang="en-US" altLang="zh-CN"/>
              <a:t>LSA</a:t>
            </a:r>
            <a:r>
              <a:rPr lang="zh-CN" altLang="en-US"/>
              <a:t>头部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55613" y="1047751"/>
            <a:ext cx="5640388" cy="3100638"/>
          </a:xfrm>
        </p:spPr>
        <p:txBody>
          <a:bodyPr/>
          <a:lstStyle/>
          <a:p>
            <a:r>
              <a:rPr lang="en-US" altLang="zh-CN" sz="2000" dirty="0"/>
              <a:t>OSPFv2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OSPFv3</a:t>
            </a:r>
            <a:endParaRPr lang="zh-CN" altLang="en-US" sz="2000" dirty="0"/>
          </a:p>
          <a:p>
            <a:endParaRPr lang="zh-CN" altLang="en-US" sz="20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385667"/>
              </p:ext>
            </p:extLst>
          </p:nvPr>
        </p:nvGraphicFramePr>
        <p:xfrm>
          <a:off x="817203" y="1607708"/>
          <a:ext cx="5040000" cy="1530000"/>
        </p:xfrm>
        <a:graphic>
          <a:graphicData uri="http://schemas.openxmlformats.org/drawingml/2006/table">
            <a:tbl>
              <a:tblPr firstRow="1" bandRow="1"/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 Age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Options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 Type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Link State ID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Advertising Router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LS Sequence Number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LS Checksum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701597"/>
              </p:ext>
            </p:extLst>
          </p:nvPr>
        </p:nvGraphicFramePr>
        <p:xfrm>
          <a:off x="817203" y="4234397"/>
          <a:ext cx="5040000" cy="1530000"/>
        </p:xfrm>
        <a:graphic>
          <a:graphicData uri="http://schemas.openxmlformats.org/drawingml/2006/table">
            <a:tbl>
              <a:tblPr firstRow="1" bandRow="1"/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 Age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 Type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Link State ID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Advertising Router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LS Sequence Number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LS Checksum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文本占位符 2"/>
          <p:cNvSpPr txBox="1">
            <a:spLocks/>
          </p:cNvSpPr>
          <p:nvPr/>
        </p:nvSpPr>
        <p:spPr bwMode="auto">
          <a:xfrm>
            <a:off x="6118230" y="1052514"/>
            <a:ext cx="5627683" cy="4207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/>
              <a:t>与</a:t>
            </a:r>
            <a:r>
              <a:rPr lang="en-US" altLang="zh-CN" sz="1800" dirty="0"/>
              <a:t>OSPFv2</a:t>
            </a:r>
            <a:r>
              <a:rPr lang="zh-CN" altLang="en-US" sz="1800" dirty="0"/>
              <a:t>的</a:t>
            </a:r>
            <a:r>
              <a:rPr lang="en-US" altLang="zh-CN" sz="1800" dirty="0"/>
              <a:t>LSA</a:t>
            </a:r>
            <a:r>
              <a:rPr lang="zh-CN" altLang="en-US" sz="1800" dirty="0"/>
              <a:t>头部相比，</a:t>
            </a:r>
            <a:r>
              <a:rPr lang="en-US" altLang="zh-CN" sz="1800" dirty="0"/>
              <a:t>OSPFv3</a:t>
            </a:r>
            <a:r>
              <a:rPr lang="zh-CN" altLang="en-US" sz="1800" dirty="0"/>
              <a:t>的</a:t>
            </a:r>
            <a:r>
              <a:rPr lang="en-US" altLang="zh-CN" sz="1800" dirty="0"/>
              <a:t>LSA</a:t>
            </a:r>
            <a:r>
              <a:rPr lang="zh-CN" altLang="en-US" sz="1800" dirty="0"/>
              <a:t>头部去掉了</a:t>
            </a:r>
            <a:r>
              <a:rPr lang="en-US" altLang="zh-CN" sz="1800" dirty="0"/>
              <a:t>Options</a:t>
            </a:r>
            <a:r>
              <a:rPr lang="zh-CN" altLang="en-US" sz="1800" dirty="0"/>
              <a:t>字段，并扩充了</a:t>
            </a:r>
            <a:r>
              <a:rPr lang="en-US" altLang="zh-CN" sz="1800" dirty="0"/>
              <a:t>LS Type</a:t>
            </a:r>
            <a:r>
              <a:rPr lang="zh-CN" altLang="en-US" sz="1800" dirty="0"/>
              <a:t>字段。</a:t>
            </a:r>
            <a:r>
              <a:rPr lang="en-US" altLang="zh-CN" sz="1800" dirty="0"/>
              <a:t>OSPFv3</a:t>
            </a:r>
            <a:r>
              <a:rPr lang="zh-CN" altLang="en-US" sz="1800" dirty="0"/>
              <a:t>同样使用</a:t>
            </a:r>
            <a:r>
              <a:rPr lang="en-US" altLang="zh-CN" sz="1800" dirty="0"/>
              <a:t>LS Type</a:t>
            </a:r>
            <a:r>
              <a:rPr lang="zh-CN" altLang="en-US" sz="1800" dirty="0"/>
              <a:t>、</a:t>
            </a:r>
            <a:r>
              <a:rPr lang="en-US" altLang="zh-CN" sz="1800" dirty="0"/>
              <a:t>Link State ID</a:t>
            </a:r>
            <a:r>
              <a:rPr lang="zh-CN" altLang="en-US" sz="1800" dirty="0"/>
              <a:t>和</a:t>
            </a:r>
            <a:r>
              <a:rPr lang="en-US" altLang="zh-CN" sz="1800" dirty="0"/>
              <a:t>Advertising Router</a:t>
            </a:r>
            <a:r>
              <a:rPr lang="zh-CN" altLang="en-US" sz="1800" dirty="0"/>
              <a:t>三元组唯一地标识一个</a:t>
            </a:r>
            <a:r>
              <a:rPr lang="en-US" altLang="zh-CN" sz="1800" dirty="0"/>
              <a:t>LSA</a:t>
            </a:r>
            <a:r>
              <a:rPr lang="zh-CN" altLang="en-US" sz="1800" dirty="0"/>
              <a:t>。</a:t>
            </a:r>
          </a:p>
          <a:p>
            <a:r>
              <a:rPr lang="zh-CN" altLang="en-US" sz="1800" dirty="0"/>
              <a:t>变化点：</a:t>
            </a:r>
          </a:p>
          <a:p>
            <a:pPr lvl="1"/>
            <a:r>
              <a:rPr lang="en-US" altLang="zh-CN" sz="1600" b="1" dirty="0"/>
              <a:t>LS Type</a:t>
            </a:r>
            <a:r>
              <a:rPr lang="zh-CN" altLang="en-US" sz="1600" dirty="0"/>
              <a:t>：扩展到</a:t>
            </a:r>
            <a:r>
              <a:rPr lang="en-US" altLang="zh-CN" sz="1600" dirty="0"/>
              <a:t>2 Byte</a:t>
            </a:r>
            <a:r>
              <a:rPr lang="zh-CN" altLang="en-US" sz="1600" dirty="0"/>
              <a:t>，</a:t>
            </a:r>
            <a:r>
              <a:rPr lang="en-US" altLang="zh-CN" sz="1600" dirty="0"/>
              <a:t>Link State Type</a:t>
            </a:r>
            <a:r>
              <a:rPr lang="zh-CN" altLang="en-US" sz="1600" dirty="0"/>
              <a:t>，链路状态类型。</a:t>
            </a:r>
            <a:endParaRPr lang="en-US" altLang="zh-CN" sz="1600" dirty="0"/>
          </a:p>
          <a:p>
            <a:pPr lvl="2"/>
            <a:r>
              <a:rPr lang="en-US" altLang="zh-CN" sz="1400" dirty="0">
                <a:solidFill>
                  <a:srgbClr val="C7000B"/>
                </a:solidFill>
              </a:rPr>
              <a:t>U</a:t>
            </a:r>
            <a:r>
              <a:rPr lang="zh-CN" altLang="en-US" sz="1400" dirty="0">
                <a:solidFill>
                  <a:srgbClr val="C7000B"/>
                </a:solidFill>
              </a:rPr>
              <a:t>：</a:t>
            </a:r>
            <a:r>
              <a:rPr lang="en-US" altLang="zh-CN" sz="1400" dirty="0">
                <a:solidFill>
                  <a:srgbClr val="C7000B"/>
                </a:solidFill>
              </a:rPr>
              <a:t>1 bit</a:t>
            </a:r>
            <a:r>
              <a:rPr lang="zh-CN" altLang="en-US" sz="1400" dirty="0">
                <a:solidFill>
                  <a:srgbClr val="C7000B"/>
                </a:solidFill>
              </a:rPr>
              <a:t>，标识对未知</a:t>
            </a:r>
            <a:r>
              <a:rPr lang="en-US" altLang="zh-CN" sz="1400" dirty="0">
                <a:solidFill>
                  <a:srgbClr val="C7000B"/>
                </a:solidFill>
              </a:rPr>
              <a:t>LSA</a:t>
            </a:r>
            <a:r>
              <a:rPr lang="zh-CN" altLang="en-US" sz="1400" dirty="0">
                <a:solidFill>
                  <a:srgbClr val="C7000B"/>
                </a:solidFill>
              </a:rPr>
              <a:t>的处理方法。</a:t>
            </a:r>
            <a:endParaRPr lang="en-US" altLang="zh-CN" sz="1400" dirty="0">
              <a:solidFill>
                <a:srgbClr val="C7000B"/>
              </a:solidFill>
            </a:endParaRPr>
          </a:p>
          <a:p>
            <a:pPr lvl="2"/>
            <a:r>
              <a:rPr lang="en-US" altLang="zh-CN" sz="1400" dirty="0">
                <a:solidFill>
                  <a:srgbClr val="C7000B"/>
                </a:solidFill>
              </a:rPr>
              <a:t>S2/S1</a:t>
            </a:r>
            <a:r>
              <a:rPr lang="zh-CN" altLang="en-US" sz="1400" dirty="0">
                <a:solidFill>
                  <a:srgbClr val="C7000B"/>
                </a:solidFill>
              </a:rPr>
              <a:t>：</a:t>
            </a:r>
            <a:r>
              <a:rPr lang="en-US" altLang="zh-CN" sz="1400" dirty="0">
                <a:solidFill>
                  <a:srgbClr val="C7000B"/>
                </a:solidFill>
              </a:rPr>
              <a:t>2 bit</a:t>
            </a:r>
            <a:r>
              <a:rPr lang="zh-CN" altLang="en-US" sz="1400" dirty="0">
                <a:solidFill>
                  <a:srgbClr val="C7000B"/>
                </a:solidFill>
              </a:rPr>
              <a:t>，标识</a:t>
            </a:r>
            <a:r>
              <a:rPr lang="en-US" altLang="zh-CN" sz="1400" dirty="0">
                <a:solidFill>
                  <a:srgbClr val="C7000B"/>
                </a:solidFill>
              </a:rPr>
              <a:t>LSA</a:t>
            </a:r>
            <a:r>
              <a:rPr lang="zh-CN" altLang="en-US" sz="1400" dirty="0">
                <a:solidFill>
                  <a:srgbClr val="C7000B"/>
                </a:solidFill>
              </a:rPr>
              <a:t>的泛洪范围。</a:t>
            </a:r>
            <a:endParaRPr lang="en-US" altLang="zh-CN" sz="1400" dirty="0">
              <a:solidFill>
                <a:srgbClr val="C7000B"/>
              </a:solidFill>
            </a:endParaRPr>
          </a:p>
          <a:p>
            <a:pPr lvl="2"/>
            <a:r>
              <a:rPr lang="en-US" altLang="zh-CN" sz="1400" dirty="0"/>
              <a:t>LSA Function Code</a:t>
            </a:r>
            <a:r>
              <a:rPr lang="zh-CN" altLang="en-US" sz="1400" dirty="0"/>
              <a:t>：</a:t>
            </a:r>
            <a:r>
              <a:rPr lang="en-US" altLang="zh-CN" sz="1400" dirty="0"/>
              <a:t>13 bit</a:t>
            </a:r>
            <a:r>
              <a:rPr lang="zh-CN" altLang="en-US" sz="1400" dirty="0"/>
              <a:t>，</a:t>
            </a:r>
            <a:r>
              <a:rPr lang="en-US" altLang="zh-CN" sz="1400" dirty="0"/>
              <a:t>LSA</a:t>
            </a:r>
            <a:r>
              <a:rPr lang="zh-CN" altLang="en-US" sz="1400" dirty="0"/>
              <a:t>功能代码，标识了</a:t>
            </a:r>
            <a:r>
              <a:rPr lang="en-US" altLang="zh-CN" sz="1400" dirty="0"/>
              <a:t>LSA</a:t>
            </a:r>
            <a:r>
              <a:rPr lang="zh-CN" altLang="en-US" sz="1400" dirty="0"/>
              <a:t>的类型。</a:t>
            </a:r>
            <a:endParaRPr lang="en-US" altLang="zh-CN" sz="14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137319"/>
              </p:ext>
            </p:extLst>
          </p:nvPr>
        </p:nvGraphicFramePr>
        <p:xfrm>
          <a:off x="7187304" y="5412771"/>
          <a:ext cx="3456000" cy="304800"/>
        </p:xfrm>
        <a:graphic>
          <a:graphicData uri="http://schemas.openxmlformats.org/drawingml/2006/table">
            <a:tbl>
              <a:tblPr firstRow="1" bandRow="1"/>
              <a:tblGrid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255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S2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S1</a:t>
                      </a: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LSA Function Code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" name="肘形连接符 14"/>
          <p:cNvCxnSpPr>
            <a:endCxn id="13" idx="1"/>
          </p:cNvCxnSpPr>
          <p:nvPr/>
        </p:nvCxnSpPr>
        <p:spPr bwMode="gray">
          <a:xfrm>
            <a:off x="5857203" y="4349522"/>
            <a:ext cx="1330101" cy="1215649"/>
          </a:xfrm>
          <a:prstGeom prst="bentConnector3">
            <a:avLst/>
          </a:prstGeom>
          <a:ln w="19050">
            <a:solidFill>
              <a:srgbClr val="94DAE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五边形 13"/>
          <p:cNvSpPr/>
          <p:nvPr/>
        </p:nvSpPr>
        <p:spPr bwMode="auto">
          <a:xfrm>
            <a:off x="8753159" y="92882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16" name="燕尾形 15"/>
          <p:cNvSpPr/>
          <p:nvPr/>
        </p:nvSpPr>
        <p:spPr bwMode="auto">
          <a:xfrm>
            <a:off x="9451802" y="92882"/>
            <a:ext cx="90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燕尾形 16"/>
          <p:cNvSpPr/>
          <p:nvPr/>
        </p:nvSpPr>
        <p:spPr bwMode="auto">
          <a:xfrm>
            <a:off x="10269245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燕尾形 17"/>
          <p:cNvSpPr/>
          <p:nvPr/>
        </p:nvSpPr>
        <p:spPr bwMode="auto">
          <a:xfrm>
            <a:off x="10967888" y="92882"/>
            <a:ext cx="7812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</p:spTree>
    <p:extLst>
      <p:ext uri="{BB962C8B-B14F-4D97-AF65-F5344CB8AC3E}">
        <p14:creationId xmlns:p14="http://schemas.microsoft.com/office/powerpoint/2010/main" val="42645886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OSPFv3</a:t>
            </a:r>
            <a:r>
              <a:rPr lang="zh-CN" altLang="en-US"/>
              <a:t>的</a:t>
            </a:r>
            <a:r>
              <a:rPr lang="en-US" altLang="zh-CN"/>
              <a:t>LSA</a:t>
            </a:r>
            <a:r>
              <a:rPr lang="zh-CN" altLang="en-US"/>
              <a:t>类型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55612" y="1047750"/>
            <a:ext cx="11293475" cy="1077141"/>
          </a:xfrm>
        </p:spPr>
        <p:txBody>
          <a:bodyPr/>
          <a:lstStyle/>
          <a:p>
            <a:r>
              <a:rPr lang="en-US" altLang="zh-CN" sz="2000" dirty="0"/>
              <a:t>OSPFv3</a:t>
            </a:r>
            <a:r>
              <a:rPr lang="zh-CN" altLang="en-US" sz="2000" dirty="0"/>
              <a:t>与</a:t>
            </a:r>
            <a:r>
              <a:rPr lang="en-US" altLang="zh-CN" sz="2000" dirty="0"/>
              <a:t>OSPFv2</a:t>
            </a:r>
            <a:r>
              <a:rPr lang="zh-CN" altLang="en-US" sz="2000" dirty="0"/>
              <a:t>相比，具有类似的</a:t>
            </a:r>
            <a:r>
              <a:rPr lang="en-US" altLang="zh-CN" sz="2000" dirty="0"/>
              <a:t>LSA</a:t>
            </a:r>
            <a:r>
              <a:rPr lang="zh-CN" altLang="en-US" sz="2000" dirty="0"/>
              <a:t>名称，但是功能略有区别。</a:t>
            </a:r>
            <a:endParaRPr lang="en-US" altLang="zh-CN" sz="2000" dirty="0"/>
          </a:p>
          <a:p>
            <a:r>
              <a:rPr lang="en-US" altLang="zh-CN" sz="2000" dirty="0"/>
              <a:t>OSPFv3</a:t>
            </a:r>
            <a:r>
              <a:rPr lang="zh-CN" altLang="en-US" sz="2000" dirty="0"/>
              <a:t>新增了两类</a:t>
            </a:r>
            <a:r>
              <a:rPr lang="en-US" altLang="zh-CN" sz="2000" dirty="0"/>
              <a:t>LSA</a:t>
            </a:r>
            <a:r>
              <a:rPr lang="zh-CN" altLang="en-US" sz="2000" dirty="0"/>
              <a:t>，包括：链路</a:t>
            </a:r>
            <a:r>
              <a:rPr lang="en-US" altLang="zh-CN" sz="2000" dirty="0"/>
              <a:t>LSA</a:t>
            </a:r>
            <a:r>
              <a:rPr lang="zh-CN" altLang="en-US" sz="2000" dirty="0"/>
              <a:t>和区域内前缀</a:t>
            </a:r>
            <a:r>
              <a:rPr lang="en-US" altLang="zh-CN" sz="2000" dirty="0"/>
              <a:t>LSA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zh-CN" altLang="en-US" sz="2000" dirty="0"/>
          </a:p>
          <a:p>
            <a:endParaRPr lang="zh-CN" altLang="en-US" sz="20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176259"/>
              </p:ext>
            </p:extLst>
          </p:nvPr>
        </p:nvGraphicFramePr>
        <p:xfrm>
          <a:off x="858144" y="2358884"/>
          <a:ext cx="10692000" cy="3708400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OSPFv2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的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LSA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OSPFv3</a:t>
                      </a:r>
                      <a:r>
                        <a:rPr lang="zh-CN" altLang="en-US" sz="1600" b="1" dirty="0"/>
                        <a:t>的</a:t>
                      </a:r>
                      <a:r>
                        <a:rPr lang="en-US" altLang="zh-CN" sz="1600" b="1" dirty="0"/>
                        <a:t>LSA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异同点说明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类型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名称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aseline="0" dirty="0"/>
                        <a:t>类型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名称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Router</a:t>
                      </a:r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LSA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（路由器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LSA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0x2001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Router-LSA</a:t>
                      </a:r>
                      <a:r>
                        <a:rPr lang="zh-CN" altLang="en-US" sz="1400" dirty="0"/>
                        <a:t>（路由器</a:t>
                      </a:r>
                      <a:r>
                        <a:rPr lang="en-US" altLang="zh-CN" sz="1400" dirty="0"/>
                        <a:t>LSA</a:t>
                      </a:r>
                      <a:r>
                        <a:rPr lang="zh-CN" altLang="en-US" sz="1400" dirty="0"/>
                        <a:t>）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zh-CN" altLang="en-US" sz="1400" dirty="0"/>
                        <a:t>作用类似，但不再描述地址信息，仅描述拓扑结构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Network</a:t>
                      </a:r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LSA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（网络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LSA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0x2002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Network-LSA</a:t>
                      </a:r>
                      <a:r>
                        <a:rPr lang="zh-CN" altLang="en-US" sz="1400" dirty="0"/>
                        <a:t>（网络</a:t>
                      </a:r>
                      <a:r>
                        <a:rPr lang="en-US" altLang="zh-CN" sz="1400" dirty="0"/>
                        <a:t>LSA</a:t>
                      </a:r>
                      <a:r>
                        <a:rPr lang="zh-CN" altLang="en-US" sz="1400" dirty="0"/>
                        <a:t>）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Network</a:t>
                      </a:r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</a:rPr>
                        <a:t>-S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ummary</a:t>
                      </a:r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LSA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（网络汇总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LSA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0x2003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Inter-Area-Prefix-LSA</a:t>
                      </a:r>
                      <a:r>
                        <a:rPr lang="zh-CN" altLang="en-US" sz="1400" dirty="0"/>
                        <a:t>（区域间前缀</a:t>
                      </a:r>
                      <a:r>
                        <a:rPr lang="en-US" altLang="zh-CN" sz="1400" dirty="0"/>
                        <a:t>LSA</a:t>
                      </a:r>
                      <a:r>
                        <a:rPr lang="zh-CN" altLang="en-US" sz="1400" dirty="0"/>
                        <a:t>）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zh-CN" altLang="en-US" sz="1400" dirty="0"/>
                        <a:t>作用类似，名称不同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ASBR-Summary-LSA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ASBR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汇总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LSA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0x2004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Inter-Area-Router LSA</a:t>
                      </a:r>
                      <a:r>
                        <a:rPr lang="zh-CN" altLang="en-US" sz="1400" dirty="0"/>
                        <a:t>（区域间路由器</a:t>
                      </a:r>
                      <a:r>
                        <a:rPr lang="en-US" altLang="zh-CN" sz="1400" dirty="0"/>
                        <a:t>LSA</a:t>
                      </a:r>
                      <a:r>
                        <a:rPr lang="zh-CN" altLang="en-US" sz="1400" dirty="0"/>
                        <a:t>）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AS-External-LSA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AS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外部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LSA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0x4005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AS-External-LSA</a:t>
                      </a:r>
                      <a:r>
                        <a:rPr lang="zh-CN" altLang="en-US" sz="1400" dirty="0"/>
                        <a:t>（</a:t>
                      </a:r>
                      <a:r>
                        <a:rPr lang="en-US" altLang="zh-CN" sz="1400" dirty="0"/>
                        <a:t>AS</a:t>
                      </a:r>
                      <a:r>
                        <a:rPr lang="zh-CN" altLang="en-US" sz="1400" dirty="0"/>
                        <a:t>外部</a:t>
                      </a:r>
                      <a:r>
                        <a:rPr lang="en-US" altLang="zh-CN" sz="1400" dirty="0"/>
                        <a:t>LSA</a:t>
                      </a:r>
                      <a:r>
                        <a:rPr lang="zh-CN" altLang="en-US" sz="1400" dirty="0"/>
                        <a:t>）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zh-CN" altLang="en-US" sz="1400" dirty="0"/>
                        <a:t>作用与名称完全相同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NSSA</a:t>
                      </a:r>
                      <a:r>
                        <a:rPr lang="en-US" altLang="zh-CN" sz="1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LSA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（非完全末梢区域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LSA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0x2007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NSSA LSA</a:t>
                      </a:r>
                      <a:r>
                        <a:rPr lang="zh-CN" altLang="en-US" sz="1400" dirty="0"/>
                        <a:t>（非完全末梢区域</a:t>
                      </a:r>
                      <a:r>
                        <a:rPr lang="en-US" altLang="zh-CN" sz="1400" dirty="0"/>
                        <a:t>LSA</a:t>
                      </a:r>
                      <a:r>
                        <a:rPr lang="zh-CN" altLang="en-US" sz="1400" dirty="0"/>
                        <a:t>）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l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C7000B"/>
                          </a:solidFill>
                        </a:rPr>
                        <a:t>0x0008</a:t>
                      </a:r>
                      <a:endParaRPr lang="zh-CN" altLang="en-US" sz="1400" b="0" dirty="0">
                        <a:solidFill>
                          <a:srgbClr val="C7000B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solidFill>
                            <a:srgbClr val="C7000B"/>
                          </a:solidFill>
                        </a:rPr>
                        <a:t>Link-LSA</a:t>
                      </a:r>
                      <a:r>
                        <a:rPr lang="zh-CN" altLang="en-US" sz="1400" dirty="0">
                          <a:solidFill>
                            <a:srgbClr val="C7000B"/>
                          </a:solidFill>
                        </a:rPr>
                        <a:t>（链路</a:t>
                      </a:r>
                      <a:r>
                        <a:rPr lang="en-US" altLang="zh-CN" sz="1400" dirty="0">
                          <a:solidFill>
                            <a:srgbClr val="C7000B"/>
                          </a:solidFill>
                        </a:rPr>
                        <a:t>LSA</a:t>
                      </a:r>
                      <a:r>
                        <a:rPr lang="zh-CN" altLang="en-US" sz="1400" dirty="0">
                          <a:solidFill>
                            <a:srgbClr val="C7000B"/>
                          </a:solidFill>
                        </a:rPr>
                        <a:t>）</a:t>
                      </a:r>
                      <a:endParaRPr lang="zh-CN" altLang="en-US" sz="1400" b="0" dirty="0">
                        <a:solidFill>
                          <a:srgbClr val="C7000B"/>
                        </a:solidFill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solidFill>
                            <a:srgbClr val="C7000B"/>
                          </a:solidFill>
                        </a:rPr>
                        <a:t>OSPFv3</a:t>
                      </a:r>
                      <a:r>
                        <a:rPr lang="zh-CN" altLang="en-US" sz="1400" dirty="0">
                          <a:solidFill>
                            <a:srgbClr val="C7000B"/>
                          </a:solidFill>
                        </a:rPr>
                        <a:t>新增</a:t>
                      </a: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C7000B"/>
                          </a:solidFill>
                        </a:rPr>
                        <a:t>0x2009</a:t>
                      </a:r>
                      <a:endParaRPr lang="zh-CN" altLang="en-US" sz="1400" b="0" dirty="0">
                        <a:solidFill>
                          <a:srgbClr val="C7000B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solidFill>
                            <a:srgbClr val="C7000B"/>
                          </a:solidFill>
                        </a:rPr>
                        <a:t>Intra-Area-Prefix-LSA</a:t>
                      </a:r>
                      <a:r>
                        <a:rPr lang="zh-CN" altLang="en-US" sz="1400" dirty="0">
                          <a:solidFill>
                            <a:srgbClr val="C7000B"/>
                          </a:solidFill>
                        </a:rPr>
                        <a:t>（区域内前缀</a:t>
                      </a:r>
                      <a:r>
                        <a:rPr lang="en-US" altLang="zh-CN" sz="1400" dirty="0">
                          <a:solidFill>
                            <a:srgbClr val="C7000B"/>
                          </a:solidFill>
                        </a:rPr>
                        <a:t>LSA</a:t>
                      </a:r>
                      <a:r>
                        <a:rPr lang="zh-CN" altLang="en-US" sz="1400" dirty="0">
                          <a:solidFill>
                            <a:srgbClr val="C7000B"/>
                          </a:solidFill>
                        </a:rPr>
                        <a:t>）</a:t>
                      </a:r>
                      <a:endParaRPr lang="zh-CN" altLang="en-US" sz="1400" b="0" dirty="0">
                        <a:solidFill>
                          <a:srgbClr val="C7000B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五边形 9"/>
          <p:cNvSpPr/>
          <p:nvPr/>
        </p:nvSpPr>
        <p:spPr bwMode="auto">
          <a:xfrm>
            <a:off x="8753159" y="92882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11" name="燕尾形 10"/>
          <p:cNvSpPr/>
          <p:nvPr/>
        </p:nvSpPr>
        <p:spPr bwMode="auto">
          <a:xfrm>
            <a:off x="9451802" y="92882"/>
            <a:ext cx="90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燕尾形 11"/>
          <p:cNvSpPr/>
          <p:nvPr/>
        </p:nvSpPr>
        <p:spPr bwMode="auto">
          <a:xfrm>
            <a:off x="10269245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燕尾形 12"/>
          <p:cNvSpPr/>
          <p:nvPr/>
        </p:nvSpPr>
        <p:spPr bwMode="auto">
          <a:xfrm>
            <a:off x="10967888" y="92882"/>
            <a:ext cx="7812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</p:spTree>
    <p:extLst>
      <p:ext uri="{BB962C8B-B14F-4D97-AF65-F5344CB8AC3E}">
        <p14:creationId xmlns:p14="http://schemas.microsoft.com/office/powerpoint/2010/main" val="4268196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Type1</a:t>
            </a:r>
            <a:r>
              <a:rPr lang="zh-CN" altLang="en-US"/>
              <a:t>：</a:t>
            </a:r>
            <a:r>
              <a:rPr lang="en-US" altLang="zh-CN"/>
              <a:t>Router-LSA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000" dirty="0"/>
              <a:t>OSPFv2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OSPFv3</a:t>
            </a:r>
            <a:endParaRPr lang="zh-CN" altLang="en-US" sz="20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280211"/>
              </p:ext>
            </p:extLst>
          </p:nvPr>
        </p:nvGraphicFramePr>
        <p:xfrm>
          <a:off x="817203" y="1538036"/>
          <a:ext cx="5040000" cy="1224000"/>
        </p:xfrm>
        <a:graphic>
          <a:graphicData uri="http://schemas.openxmlformats.org/drawingml/2006/table">
            <a:tbl>
              <a:tblPr firstRow="1" bandRow="1"/>
              <a:tblGrid>
                <a:gridCol w="4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Links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 gridSpan="6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Link ID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 gridSpan="6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Link Data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 gridSpan="4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</a:rPr>
                        <a:t>Link Type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 </a:t>
                      </a:r>
                      <a:r>
                        <a:rPr kumimoji="0" lang="en-US" altLang="zh-CN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Tos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584399"/>
              </p:ext>
            </p:extLst>
          </p:nvPr>
        </p:nvGraphicFramePr>
        <p:xfrm>
          <a:off x="817203" y="4164725"/>
          <a:ext cx="5040000" cy="1530000"/>
        </p:xfrm>
        <a:graphic>
          <a:graphicData uri="http://schemas.openxmlformats.org/drawingml/2006/table">
            <a:tbl>
              <a:tblPr firstRow="1" bandRow="1"/>
              <a:tblGrid>
                <a:gridCol w="4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Options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 gridSpan="4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Link Type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 gridSpan="7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 ID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 gridSpan="7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Neighbor Interface ID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000">
                <a:tc gridSpan="7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Neighbor Router ID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文本占位符 2"/>
          <p:cNvSpPr txBox="1">
            <a:spLocks/>
          </p:cNvSpPr>
          <p:nvPr/>
        </p:nvSpPr>
        <p:spPr bwMode="auto">
          <a:xfrm>
            <a:off x="6118230" y="1158843"/>
            <a:ext cx="5627683" cy="4718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/>
              <a:t>在</a:t>
            </a:r>
            <a:r>
              <a:rPr lang="en-US" altLang="zh-CN" sz="1800" dirty="0"/>
              <a:t>OSPFv2</a:t>
            </a:r>
            <a:r>
              <a:rPr lang="zh-CN" altLang="en-US" sz="1800" dirty="0"/>
              <a:t>中，通过</a:t>
            </a:r>
            <a:r>
              <a:rPr lang="en-US" altLang="zh-CN" sz="1800" dirty="0"/>
              <a:t>Link Type</a:t>
            </a:r>
            <a:r>
              <a:rPr lang="zh-CN" altLang="en-US" sz="1800" dirty="0"/>
              <a:t>、</a:t>
            </a:r>
            <a:r>
              <a:rPr lang="en-US" altLang="zh-CN" sz="1800" dirty="0"/>
              <a:t>Link ID</a:t>
            </a:r>
            <a:r>
              <a:rPr lang="zh-CN" altLang="en-US" sz="1800" dirty="0"/>
              <a:t>以及</a:t>
            </a:r>
            <a:r>
              <a:rPr lang="en-US" altLang="zh-CN" sz="1800" dirty="0"/>
              <a:t>Link Data</a:t>
            </a:r>
            <a:r>
              <a:rPr lang="zh-CN" altLang="en-US" sz="1800" dirty="0"/>
              <a:t>来描述一个接口信息。在</a:t>
            </a:r>
            <a:r>
              <a:rPr lang="en-US" altLang="zh-CN" sz="1800" dirty="0"/>
              <a:t>OSPFv3</a:t>
            </a:r>
            <a:r>
              <a:rPr lang="zh-CN" altLang="en-US" sz="1800" dirty="0"/>
              <a:t>中，设备会为每个运行</a:t>
            </a:r>
            <a:r>
              <a:rPr lang="en-US" altLang="zh-CN" sz="1800" dirty="0"/>
              <a:t>OSPFv3</a:t>
            </a:r>
            <a:r>
              <a:rPr lang="zh-CN" altLang="en-US" sz="1800" dirty="0"/>
              <a:t>接口所在的区域产生一个</a:t>
            </a:r>
            <a:r>
              <a:rPr lang="en-US" altLang="zh-CN" sz="1800" dirty="0"/>
              <a:t>LSA</a:t>
            </a:r>
            <a:r>
              <a:rPr lang="zh-CN" altLang="en-US" sz="1800" dirty="0"/>
              <a:t>，描述了设备的链路状态（</a:t>
            </a:r>
            <a:r>
              <a:rPr lang="en-US" altLang="zh-CN" sz="1800" dirty="0"/>
              <a:t>Link Type</a:t>
            </a:r>
            <a:r>
              <a:rPr lang="zh-CN" altLang="en-US" sz="1800" dirty="0"/>
              <a:t>、</a:t>
            </a:r>
            <a:r>
              <a:rPr lang="en-US" altLang="zh-CN" sz="1800" dirty="0"/>
              <a:t>Interface ID</a:t>
            </a:r>
            <a:r>
              <a:rPr lang="zh-CN" altLang="en-US" sz="1800" dirty="0"/>
              <a:t>、</a:t>
            </a:r>
            <a:r>
              <a:rPr lang="en-US" altLang="zh-CN" sz="1800" dirty="0"/>
              <a:t>Neighbor Interface ID</a:t>
            </a:r>
            <a:r>
              <a:rPr lang="zh-CN" altLang="en-US" sz="1800" dirty="0"/>
              <a:t>和</a:t>
            </a:r>
            <a:r>
              <a:rPr lang="en-US" altLang="zh-CN" sz="1800" dirty="0"/>
              <a:t>Neighbor Router ID </a:t>
            </a:r>
            <a:r>
              <a:rPr lang="zh-CN" altLang="en-US" sz="1800" dirty="0"/>
              <a:t>）和开销，在所属的区域内传播。</a:t>
            </a:r>
            <a:endParaRPr lang="en-US" altLang="zh-CN" sz="1800" dirty="0"/>
          </a:p>
          <a:p>
            <a:r>
              <a:rPr lang="zh-CN" altLang="en-US" sz="1800" dirty="0"/>
              <a:t>重要字段介绍：</a:t>
            </a:r>
            <a:endParaRPr lang="en-US" altLang="zh-CN" sz="1800" dirty="0"/>
          </a:p>
          <a:p>
            <a:pPr lvl="1"/>
            <a:r>
              <a:rPr lang="en-US" altLang="zh-CN" sz="1600" dirty="0"/>
              <a:t>Link Type</a:t>
            </a:r>
            <a:r>
              <a:rPr lang="zh-CN" altLang="en-US" sz="1600" dirty="0"/>
              <a:t>：</a:t>
            </a:r>
            <a:r>
              <a:rPr lang="en-US" altLang="zh-CN" sz="1600" dirty="0"/>
              <a:t>1 Byte</a:t>
            </a:r>
            <a:r>
              <a:rPr lang="zh-CN" altLang="en-US" sz="1600" dirty="0"/>
              <a:t>，链路类型。</a:t>
            </a:r>
            <a:endParaRPr lang="en-US" altLang="zh-CN" sz="1600" dirty="0"/>
          </a:p>
          <a:p>
            <a:pPr lvl="1"/>
            <a:r>
              <a:rPr lang="en-US" altLang="zh-CN" sz="1600" dirty="0"/>
              <a:t>Interface ID</a:t>
            </a:r>
            <a:r>
              <a:rPr lang="zh-CN" altLang="en-US" sz="1600" dirty="0"/>
              <a:t>：</a:t>
            </a:r>
            <a:r>
              <a:rPr lang="en-US" altLang="zh-CN" sz="1600" dirty="0"/>
              <a:t>4 Byte</a:t>
            </a:r>
            <a:r>
              <a:rPr lang="zh-CN" altLang="en-US" sz="1600" dirty="0"/>
              <a:t>，接口</a:t>
            </a:r>
            <a:r>
              <a:rPr lang="en-US" altLang="zh-CN" sz="1600" dirty="0"/>
              <a:t>ID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lvl="1"/>
            <a:r>
              <a:rPr lang="en-US" altLang="zh-CN" sz="1600" dirty="0"/>
              <a:t>Neighbor Interface ID</a:t>
            </a:r>
            <a:r>
              <a:rPr lang="zh-CN" altLang="en-US" sz="1600" dirty="0"/>
              <a:t>：</a:t>
            </a:r>
            <a:r>
              <a:rPr lang="en-US" altLang="zh-CN" sz="1600" dirty="0"/>
              <a:t>4 Byte</a:t>
            </a:r>
            <a:r>
              <a:rPr lang="zh-CN" altLang="en-US" sz="1600" dirty="0"/>
              <a:t>，邻居的接口</a:t>
            </a:r>
            <a:r>
              <a:rPr lang="en-US" altLang="zh-CN" sz="1600" dirty="0"/>
              <a:t>ID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lvl="1"/>
            <a:r>
              <a:rPr lang="en-US" altLang="zh-CN" sz="1600" dirty="0"/>
              <a:t>Neighbor Router ID</a:t>
            </a:r>
            <a:r>
              <a:rPr lang="zh-CN" altLang="en-US" sz="1600" dirty="0"/>
              <a:t>：</a:t>
            </a:r>
            <a:r>
              <a:rPr lang="en-US" altLang="zh-CN" sz="1600" dirty="0"/>
              <a:t>4 Byte</a:t>
            </a:r>
            <a:r>
              <a:rPr lang="zh-CN" altLang="en-US" sz="1600" dirty="0"/>
              <a:t>，邻居的路由器</a:t>
            </a:r>
            <a:r>
              <a:rPr lang="en-US" altLang="zh-CN" sz="1600" dirty="0"/>
              <a:t>ID</a:t>
            </a:r>
            <a:r>
              <a:rPr lang="zh-CN" altLang="en-US" sz="1600" dirty="0"/>
              <a:t>。</a:t>
            </a:r>
          </a:p>
        </p:txBody>
      </p:sp>
      <p:sp>
        <p:nvSpPr>
          <p:cNvPr id="9" name="五边形 8"/>
          <p:cNvSpPr/>
          <p:nvPr/>
        </p:nvSpPr>
        <p:spPr bwMode="auto">
          <a:xfrm>
            <a:off x="8753159" y="92882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10" name="燕尾形 9"/>
          <p:cNvSpPr/>
          <p:nvPr/>
        </p:nvSpPr>
        <p:spPr bwMode="auto">
          <a:xfrm>
            <a:off x="9451802" y="92882"/>
            <a:ext cx="90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燕尾形 10"/>
          <p:cNvSpPr/>
          <p:nvPr/>
        </p:nvSpPr>
        <p:spPr bwMode="auto">
          <a:xfrm>
            <a:off x="10269245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燕尾形 11"/>
          <p:cNvSpPr/>
          <p:nvPr/>
        </p:nvSpPr>
        <p:spPr bwMode="auto">
          <a:xfrm>
            <a:off x="10967888" y="92882"/>
            <a:ext cx="7812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</p:spTree>
    <p:extLst>
      <p:ext uri="{BB962C8B-B14F-4D97-AF65-F5344CB8AC3E}">
        <p14:creationId xmlns:p14="http://schemas.microsoft.com/office/powerpoint/2010/main" val="7702220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Type2</a:t>
            </a:r>
            <a:r>
              <a:rPr lang="zh-CN" altLang="en-US"/>
              <a:t>：</a:t>
            </a:r>
            <a:r>
              <a:rPr lang="en-US" altLang="zh-CN"/>
              <a:t>Network-LSA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55613" y="1047750"/>
            <a:ext cx="5640388" cy="3134395"/>
          </a:xfrm>
        </p:spPr>
        <p:txBody>
          <a:bodyPr/>
          <a:lstStyle/>
          <a:p>
            <a:r>
              <a:rPr lang="en-US" altLang="zh-CN" sz="2000" dirty="0"/>
              <a:t>OSPFv2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OSPFv3</a:t>
            </a:r>
            <a:endParaRPr lang="zh-CN" altLang="en-US" sz="20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517852"/>
              </p:ext>
            </p:extLst>
          </p:nvPr>
        </p:nvGraphicFramePr>
        <p:xfrm>
          <a:off x="817203" y="1555456"/>
          <a:ext cx="5040000" cy="1224000"/>
        </p:xfrm>
        <a:graphic>
          <a:graphicData uri="http://schemas.openxmlformats.org/drawingml/2006/table">
            <a:tbl>
              <a:tblPr firstRow="1" bandRow="1"/>
              <a:tblGrid>
                <a:gridCol w="50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Mask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Attached Router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Attached Router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863598"/>
              </p:ext>
            </p:extLst>
          </p:nvPr>
        </p:nvGraphicFramePr>
        <p:xfrm>
          <a:off x="817203" y="4182145"/>
          <a:ext cx="5040000" cy="1224000"/>
        </p:xfrm>
        <a:graphic>
          <a:graphicData uri="http://schemas.openxmlformats.org/drawingml/2006/table">
            <a:tbl>
              <a:tblPr firstRow="1" bandRow="1"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Options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Attached Router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Attached Router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文本占位符 2"/>
          <p:cNvSpPr txBox="1">
            <a:spLocks/>
          </p:cNvSpPr>
          <p:nvPr/>
        </p:nvSpPr>
        <p:spPr bwMode="auto">
          <a:xfrm>
            <a:off x="6118230" y="1149790"/>
            <a:ext cx="5627683" cy="4727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/>
              <a:t>与</a:t>
            </a:r>
            <a:r>
              <a:rPr lang="en-US" altLang="zh-CN" sz="1800" dirty="0"/>
              <a:t>OSPFv2</a:t>
            </a:r>
            <a:r>
              <a:rPr lang="zh-CN" altLang="en-US" sz="1800" dirty="0"/>
              <a:t>相比，</a:t>
            </a:r>
            <a:r>
              <a:rPr lang="en-US" altLang="zh-CN" sz="1800" dirty="0"/>
              <a:t>OSPFv3</a:t>
            </a:r>
            <a:r>
              <a:rPr lang="zh-CN" altLang="en-US" sz="1800" dirty="0"/>
              <a:t>的</a:t>
            </a:r>
            <a:r>
              <a:rPr lang="en-US" altLang="zh-CN" sz="1800" dirty="0"/>
              <a:t>Network-LSA</a:t>
            </a:r>
            <a:r>
              <a:rPr lang="zh-CN" altLang="en-US" sz="1800" dirty="0"/>
              <a:t>删除了网络掩码字段，仅用相连的路由器的</a:t>
            </a:r>
            <a:r>
              <a:rPr lang="en-US" altLang="zh-CN" sz="1800" dirty="0"/>
              <a:t>Router ID</a:t>
            </a:r>
            <a:r>
              <a:rPr lang="zh-CN" altLang="en-US" sz="1800" dirty="0"/>
              <a:t>来描述本网段的链路状态，由</a:t>
            </a:r>
            <a:r>
              <a:rPr lang="en-US" altLang="zh-CN" sz="1800" dirty="0"/>
              <a:t>DR</a:t>
            </a:r>
            <a:r>
              <a:rPr lang="zh-CN" altLang="en-US" sz="1800" dirty="0"/>
              <a:t>产生，在所属的区域内传播。</a:t>
            </a:r>
            <a:endParaRPr lang="en-US" altLang="zh-CN" sz="1800" dirty="0"/>
          </a:p>
          <a:p>
            <a:r>
              <a:rPr lang="zh-CN" altLang="en-US" sz="1800" dirty="0"/>
              <a:t>重要字段介绍：</a:t>
            </a:r>
            <a:endParaRPr lang="en-US" altLang="zh-CN" sz="1800" dirty="0"/>
          </a:p>
          <a:p>
            <a:pPr lvl="1"/>
            <a:r>
              <a:rPr lang="en-US" altLang="zh-CN" sz="1600" dirty="0"/>
              <a:t>Attached Router</a:t>
            </a:r>
            <a:r>
              <a:rPr lang="zh-CN" altLang="en-US" sz="1600" dirty="0"/>
              <a:t>：</a:t>
            </a:r>
            <a:r>
              <a:rPr lang="en-US" altLang="zh-CN" sz="1600" dirty="0"/>
              <a:t>4 Byte</a:t>
            </a:r>
            <a:r>
              <a:rPr lang="zh-CN" altLang="en-US" sz="1600" dirty="0"/>
              <a:t>，相连的路由器，指连接在同一个网段上的所有路由器的</a:t>
            </a:r>
            <a:r>
              <a:rPr lang="en-US" altLang="zh-CN" sz="1600" dirty="0"/>
              <a:t>Router ID</a:t>
            </a:r>
            <a:r>
              <a:rPr lang="zh-CN" altLang="en-US" sz="1600" dirty="0"/>
              <a:t>，也包括</a:t>
            </a:r>
            <a:r>
              <a:rPr lang="en-US" altLang="zh-CN" sz="1600" dirty="0"/>
              <a:t>DR</a:t>
            </a:r>
            <a:r>
              <a:rPr lang="zh-CN" altLang="en-US" sz="1600" dirty="0"/>
              <a:t>的</a:t>
            </a:r>
            <a:r>
              <a:rPr lang="en-US" altLang="zh-CN" sz="1600" dirty="0"/>
              <a:t>Router ID</a:t>
            </a:r>
            <a:r>
              <a:rPr lang="zh-CN" altLang="en-US" sz="1600" dirty="0"/>
              <a:t>。</a:t>
            </a:r>
          </a:p>
        </p:txBody>
      </p:sp>
      <p:sp>
        <p:nvSpPr>
          <p:cNvPr id="9" name="五边形 8"/>
          <p:cNvSpPr/>
          <p:nvPr/>
        </p:nvSpPr>
        <p:spPr bwMode="auto">
          <a:xfrm>
            <a:off x="8753159" y="92882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10" name="燕尾形 9"/>
          <p:cNvSpPr/>
          <p:nvPr/>
        </p:nvSpPr>
        <p:spPr bwMode="auto">
          <a:xfrm>
            <a:off x="9451802" y="92882"/>
            <a:ext cx="90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燕尾形 10"/>
          <p:cNvSpPr/>
          <p:nvPr/>
        </p:nvSpPr>
        <p:spPr bwMode="auto">
          <a:xfrm>
            <a:off x="10269245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燕尾形 11"/>
          <p:cNvSpPr/>
          <p:nvPr/>
        </p:nvSpPr>
        <p:spPr bwMode="auto">
          <a:xfrm>
            <a:off x="10967888" y="92882"/>
            <a:ext cx="7812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</p:spTree>
    <p:extLst>
      <p:ext uri="{BB962C8B-B14F-4D97-AF65-F5344CB8AC3E}">
        <p14:creationId xmlns:p14="http://schemas.microsoft.com/office/powerpoint/2010/main" val="41668530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Type3</a:t>
            </a:r>
            <a:r>
              <a:rPr lang="zh-CN" altLang="en-US"/>
              <a:t>：</a:t>
            </a:r>
            <a:r>
              <a:rPr lang="en-US" altLang="zh-CN"/>
              <a:t>Inter-Area-Prefix-LSA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55613" y="1047750"/>
            <a:ext cx="5662618" cy="4731539"/>
          </a:xfrm>
        </p:spPr>
        <p:txBody>
          <a:bodyPr/>
          <a:lstStyle/>
          <a:p>
            <a:r>
              <a:rPr lang="en-US" altLang="zh-CN" sz="2000" dirty="0"/>
              <a:t>OSPFv2</a:t>
            </a:r>
            <a:r>
              <a:rPr lang="zh-CN" altLang="en-US" sz="2000" dirty="0"/>
              <a:t>：</a:t>
            </a:r>
            <a:r>
              <a:rPr lang="en-US" altLang="zh-CN" sz="2000" dirty="0"/>
              <a:t>Network-Summary-LSA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OSPFv3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 err="1"/>
              <a:t>PrefixOptions</a:t>
            </a:r>
            <a:r>
              <a:rPr lang="en-US" altLang="zh-CN" sz="2000" dirty="0"/>
              <a:t>: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651693"/>
              </p:ext>
            </p:extLst>
          </p:nvPr>
        </p:nvGraphicFramePr>
        <p:xfrm>
          <a:off x="817203" y="1555459"/>
          <a:ext cx="5040000" cy="918000"/>
        </p:xfrm>
        <a:graphic>
          <a:graphicData uri="http://schemas.openxmlformats.org/drawingml/2006/table">
            <a:tbl>
              <a:tblPr firstRow="1" bandRow="1"/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000"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Mask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739293"/>
              </p:ext>
            </p:extLst>
          </p:nvPr>
        </p:nvGraphicFramePr>
        <p:xfrm>
          <a:off x="817203" y="3718372"/>
          <a:ext cx="5040001" cy="1224000"/>
        </p:xfrm>
        <a:graphic>
          <a:graphicData uri="http://schemas.openxmlformats.org/drawingml/2006/table">
            <a:tbl>
              <a:tblPr firstRow="1" bandRow="1"/>
              <a:tblGrid>
                <a:gridCol w="1251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6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PrefixLength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PrefixOptions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Address Prefix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文本占位符 2"/>
          <p:cNvSpPr txBox="1">
            <a:spLocks/>
          </p:cNvSpPr>
          <p:nvPr/>
        </p:nvSpPr>
        <p:spPr bwMode="auto">
          <a:xfrm>
            <a:off x="6118230" y="1074916"/>
            <a:ext cx="5627683" cy="5125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/>
              <a:t>与</a:t>
            </a:r>
            <a:r>
              <a:rPr lang="en-US" altLang="zh-CN" sz="1800" dirty="0"/>
              <a:t>OSPFv2</a:t>
            </a:r>
            <a:r>
              <a:rPr lang="zh-CN" altLang="en-US" sz="1800" dirty="0"/>
              <a:t>类似，由</a:t>
            </a:r>
            <a:r>
              <a:rPr lang="en-US" altLang="zh-CN" sz="1800" dirty="0"/>
              <a:t>ABR</a:t>
            </a:r>
            <a:r>
              <a:rPr lang="zh-CN" altLang="en-US" sz="1800" dirty="0"/>
              <a:t>产生，描述区域内某个</a:t>
            </a:r>
            <a:r>
              <a:rPr lang="en-US" altLang="zh-CN" sz="1800" dirty="0"/>
              <a:t>IPv6</a:t>
            </a:r>
            <a:r>
              <a:rPr lang="zh-CN" altLang="en-US" sz="1800" dirty="0"/>
              <a:t>地址前缀的路由，并通告给其他相关区域。每个</a:t>
            </a:r>
            <a:r>
              <a:rPr lang="en-US" altLang="zh-CN" sz="1800" dirty="0"/>
              <a:t>IPv6</a:t>
            </a:r>
            <a:r>
              <a:rPr lang="zh-CN" altLang="en-US" sz="1800" dirty="0"/>
              <a:t>地址前缀，</a:t>
            </a:r>
            <a:r>
              <a:rPr lang="en-US" altLang="zh-CN" sz="1800" dirty="0"/>
              <a:t>ABR</a:t>
            </a:r>
            <a:r>
              <a:rPr lang="zh-CN" altLang="en-US" sz="1800" dirty="0"/>
              <a:t>都会单独发送一个</a:t>
            </a:r>
            <a:r>
              <a:rPr lang="en-US" altLang="zh-CN" sz="1800" dirty="0"/>
              <a:t>Type3</a:t>
            </a:r>
            <a:r>
              <a:rPr lang="zh-CN" altLang="en-US" sz="1800" dirty="0"/>
              <a:t>的</a:t>
            </a:r>
            <a:r>
              <a:rPr lang="en-US" altLang="zh-CN" sz="1800" dirty="0"/>
              <a:t>LSA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r>
              <a:rPr lang="zh-CN" altLang="en-US" sz="1800" dirty="0"/>
              <a:t>重要字段介绍（描述前缀的三元组）：</a:t>
            </a:r>
            <a:endParaRPr lang="en-US" altLang="zh-CN" sz="1800" dirty="0"/>
          </a:p>
          <a:p>
            <a:pPr lvl="1"/>
            <a:r>
              <a:rPr lang="en-US" altLang="zh-CN" sz="1600" dirty="0"/>
              <a:t>PrefixLength</a:t>
            </a:r>
            <a:r>
              <a:rPr lang="zh-CN" altLang="en-US" sz="1600" dirty="0"/>
              <a:t>：</a:t>
            </a:r>
            <a:r>
              <a:rPr lang="en-US" altLang="zh-CN" sz="1600" dirty="0"/>
              <a:t>1 Byte</a:t>
            </a:r>
            <a:r>
              <a:rPr lang="zh-CN" altLang="en-US" sz="1600" dirty="0"/>
              <a:t>，前缀的比特数。 </a:t>
            </a:r>
          </a:p>
          <a:p>
            <a:pPr lvl="1"/>
            <a:r>
              <a:rPr lang="en-US" altLang="zh-CN" sz="1600" dirty="0" err="1"/>
              <a:t>PrefixOptions</a:t>
            </a:r>
            <a:r>
              <a:rPr lang="zh-CN" altLang="en-US" sz="1600" dirty="0"/>
              <a:t>：</a:t>
            </a:r>
            <a:r>
              <a:rPr lang="en-US" altLang="zh-CN" sz="1600" dirty="0"/>
              <a:t>1 Byte</a:t>
            </a:r>
            <a:r>
              <a:rPr lang="zh-CN" altLang="en-US" sz="1600" dirty="0"/>
              <a:t>，表示这个前缀的一些特性，以便在各种不同的路由计算时做相应的判断和处理。</a:t>
            </a:r>
            <a:r>
              <a:rPr lang="en-US" altLang="zh-CN" sz="1600" dirty="0" err="1"/>
              <a:t>PrefixOptions</a:t>
            </a:r>
            <a:r>
              <a:rPr lang="zh-CN" altLang="en-US" sz="1600" dirty="0"/>
              <a:t>字段格式如下：</a:t>
            </a:r>
            <a:endParaRPr lang="en-US" altLang="zh-CN" sz="1600" dirty="0"/>
          </a:p>
          <a:p>
            <a:pPr lvl="2"/>
            <a:r>
              <a:rPr lang="en-US" altLang="zh-CN" sz="1400" dirty="0"/>
              <a:t>P</a:t>
            </a:r>
            <a:r>
              <a:rPr lang="zh-CN" altLang="en-US" sz="1400" dirty="0"/>
              <a:t>：</a:t>
            </a:r>
            <a:r>
              <a:rPr lang="en-US" altLang="zh-CN" sz="1400" dirty="0"/>
              <a:t>1 bit</a:t>
            </a:r>
            <a:r>
              <a:rPr lang="zh-CN" altLang="en-US" sz="1400" dirty="0"/>
              <a:t>，传播位。</a:t>
            </a:r>
          </a:p>
          <a:p>
            <a:pPr lvl="2"/>
            <a:r>
              <a:rPr lang="en-US" altLang="zh-CN" sz="1400" dirty="0"/>
              <a:t>MC</a:t>
            </a:r>
            <a:r>
              <a:rPr lang="zh-CN" altLang="en-US" sz="1400" dirty="0"/>
              <a:t>：</a:t>
            </a:r>
            <a:r>
              <a:rPr lang="en-US" altLang="zh-CN" sz="1400" dirty="0"/>
              <a:t>1 bit</a:t>
            </a:r>
            <a:r>
              <a:rPr lang="zh-CN" altLang="en-US" sz="1400" dirty="0"/>
              <a:t>，组播位。</a:t>
            </a:r>
            <a:endParaRPr lang="en-US" altLang="zh-CN" sz="1400" dirty="0"/>
          </a:p>
          <a:p>
            <a:pPr lvl="2"/>
            <a:r>
              <a:rPr lang="en-US" altLang="zh-CN" sz="1400" dirty="0"/>
              <a:t>LA</a:t>
            </a:r>
            <a:r>
              <a:rPr lang="zh-CN" altLang="en-US" sz="1400" dirty="0"/>
              <a:t>：</a:t>
            </a:r>
            <a:r>
              <a:rPr lang="en-US" altLang="zh-CN" sz="1400" dirty="0"/>
              <a:t>1 bit</a:t>
            </a:r>
            <a:r>
              <a:rPr lang="zh-CN" altLang="en-US" sz="1400" dirty="0"/>
              <a:t>，本地地址位。</a:t>
            </a:r>
          </a:p>
          <a:p>
            <a:pPr lvl="2"/>
            <a:r>
              <a:rPr lang="en-US" altLang="zh-CN" sz="1400" dirty="0"/>
              <a:t>NU</a:t>
            </a:r>
            <a:r>
              <a:rPr lang="zh-CN" altLang="en-US" sz="1400" dirty="0"/>
              <a:t>：</a:t>
            </a:r>
            <a:r>
              <a:rPr lang="en-US" altLang="zh-CN" sz="1400" dirty="0"/>
              <a:t>1 bit</a:t>
            </a:r>
            <a:r>
              <a:rPr lang="zh-CN" altLang="en-US" sz="1400" dirty="0"/>
              <a:t>，非单播位。</a:t>
            </a:r>
            <a:endParaRPr lang="en-US" altLang="zh-CN" sz="1400" dirty="0"/>
          </a:p>
          <a:p>
            <a:pPr lvl="1"/>
            <a:r>
              <a:rPr lang="en-US" altLang="zh-CN" sz="1600" dirty="0"/>
              <a:t>Address Prefix</a:t>
            </a:r>
            <a:r>
              <a:rPr lang="zh-CN" altLang="en-US" sz="1600" dirty="0"/>
              <a:t>：变长，</a:t>
            </a:r>
            <a:r>
              <a:rPr lang="en-US" altLang="zh-CN" sz="1600" dirty="0"/>
              <a:t>IPv6</a:t>
            </a:r>
            <a:r>
              <a:rPr lang="zh-CN" altLang="en-US" sz="1600" dirty="0"/>
              <a:t>地址前缀。 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073759"/>
              </p:ext>
            </p:extLst>
          </p:nvPr>
        </p:nvGraphicFramePr>
        <p:xfrm>
          <a:off x="2509985" y="5779289"/>
          <a:ext cx="2988000" cy="304800"/>
        </p:xfrm>
        <a:graphic>
          <a:graphicData uri="http://schemas.openxmlformats.org/drawingml/2006/table">
            <a:tbl>
              <a:tblPr firstRow="1" bandRow="1"/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1255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MC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五边形 9"/>
          <p:cNvSpPr/>
          <p:nvPr/>
        </p:nvSpPr>
        <p:spPr bwMode="auto">
          <a:xfrm>
            <a:off x="8753159" y="92882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11" name="燕尾形 10"/>
          <p:cNvSpPr/>
          <p:nvPr/>
        </p:nvSpPr>
        <p:spPr bwMode="auto">
          <a:xfrm>
            <a:off x="9451802" y="92882"/>
            <a:ext cx="90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燕尾形 11"/>
          <p:cNvSpPr/>
          <p:nvPr/>
        </p:nvSpPr>
        <p:spPr bwMode="auto">
          <a:xfrm>
            <a:off x="10269245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3" name="燕尾形 12"/>
          <p:cNvSpPr/>
          <p:nvPr/>
        </p:nvSpPr>
        <p:spPr bwMode="auto">
          <a:xfrm>
            <a:off x="10967888" y="92882"/>
            <a:ext cx="7812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</p:spTree>
    <p:extLst>
      <p:ext uri="{BB962C8B-B14F-4D97-AF65-F5344CB8AC3E}">
        <p14:creationId xmlns:p14="http://schemas.microsoft.com/office/powerpoint/2010/main" val="27380887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Type4</a:t>
            </a:r>
            <a:r>
              <a:rPr lang="zh-CN" altLang="en-US"/>
              <a:t>：</a:t>
            </a:r>
            <a:r>
              <a:rPr lang="en-US" altLang="zh-CN"/>
              <a:t>Inter-Area-Router-LSA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55613" y="1047751"/>
            <a:ext cx="5662618" cy="3134398"/>
          </a:xfrm>
        </p:spPr>
        <p:txBody>
          <a:bodyPr/>
          <a:lstStyle/>
          <a:p>
            <a:r>
              <a:rPr lang="en-US" altLang="zh-CN" sz="2000" dirty="0"/>
              <a:t>OSPFv2</a:t>
            </a:r>
            <a:r>
              <a:rPr lang="zh-CN" altLang="en-US" sz="2000" dirty="0"/>
              <a:t>：</a:t>
            </a:r>
            <a:r>
              <a:rPr lang="en-US" altLang="zh-CN" sz="2000" dirty="0"/>
              <a:t>ASBR-Summary-LSA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OSPFv3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914557"/>
              </p:ext>
            </p:extLst>
          </p:nvPr>
        </p:nvGraphicFramePr>
        <p:xfrm>
          <a:off x="817203" y="1555459"/>
          <a:ext cx="5040000" cy="918000"/>
        </p:xfrm>
        <a:graphic>
          <a:graphicData uri="http://schemas.openxmlformats.org/drawingml/2006/table">
            <a:tbl>
              <a:tblPr firstRow="1" bandRow="1"/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000"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Mask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301543"/>
              </p:ext>
            </p:extLst>
          </p:nvPr>
        </p:nvGraphicFramePr>
        <p:xfrm>
          <a:off x="817203" y="4182148"/>
          <a:ext cx="5040000" cy="918000"/>
        </p:xfrm>
        <a:graphic>
          <a:graphicData uri="http://schemas.openxmlformats.org/drawingml/2006/table">
            <a:tbl>
              <a:tblPr firstRow="1" bandRow="1"/>
              <a:tblGrid>
                <a:gridCol w="1251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8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Options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Destination Router ID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文本占位符 2"/>
          <p:cNvSpPr txBox="1">
            <a:spLocks/>
          </p:cNvSpPr>
          <p:nvPr/>
        </p:nvSpPr>
        <p:spPr bwMode="auto">
          <a:xfrm>
            <a:off x="6118230" y="1140736"/>
            <a:ext cx="5627683" cy="3041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/>
              <a:t>与</a:t>
            </a:r>
            <a:r>
              <a:rPr lang="en-US" altLang="zh-CN" sz="1800" dirty="0"/>
              <a:t>OSPFv2</a:t>
            </a:r>
            <a:r>
              <a:rPr lang="zh-CN" altLang="en-US" sz="1800" dirty="0"/>
              <a:t>类似，由</a:t>
            </a:r>
            <a:r>
              <a:rPr lang="en-US" altLang="zh-CN" sz="1800" dirty="0"/>
              <a:t>ABR</a:t>
            </a:r>
            <a:r>
              <a:rPr lang="zh-CN" altLang="en-US" sz="1800" dirty="0"/>
              <a:t>产生，描述到</a:t>
            </a:r>
            <a:r>
              <a:rPr lang="en-US" altLang="zh-CN" sz="1800" dirty="0"/>
              <a:t>ASBR</a:t>
            </a:r>
            <a:r>
              <a:rPr lang="zh-CN" altLang="en-US" sz="1800" dirty="0"/>
              <a:t>的路由，通告给除</a:t>
            </a:r>
            <a:r>
              <a:rPr lang="en-US" altLang="zh-CN" sz="1800" dirty="0"/>
              <a:t>ASBR</a:t>
            </a:r>
            <a:r>
              <a:rPr lang="zh-CN" altLang="en-US" sz="1800" dirty="0"/>
              <a:t>所在区域的其他相关区域。对于所描述的每一个</a:t>
            </a:r>
            <a:r>
              <a:rPr lang="en-US" altLang="zh-CN" sz="1800" dirty="0"/>
              <a:t>ASBR</a:t>
            </a:r>
            <a:r>
              <a:rPr lang="zh-CN" altLang="en-US" sz="1800" dirty="0"/>
              <a:t>，</a:t>
            </a:r>
            <a:r>
              <a:rPr lang="en-US" altLang="zh-CN" sz="1800" dirty="0"/>
              <a:t>ABR</a:t>
            </a:r>
            <a:r>
              <a:rPr lang="zh-CN" altLang="en-US" sz="1800" dirty="0"/>
              <a:t>都会单独发送一个</a:t>
            </a:r>
            <a:r>
              <a:rPr lang="en-US" altLang="zh-CN" sz="1800" dirty="0"/>
              <a:t>Type4</a:t>
            </a:r>
            <a:r>
              <a:rPr lang="zh-CN" altLang="en-US" sz="1800" dirty="0"/>
              <a:t>的</a:t>
            </a:r>
            <a:r>
              <a:rPr lang="en-US" altLang="zh-CN" sz="1800" dirty="0"/>
              <a:t>LSA 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r>
              <a:rPr lang="zh-CN" altLang="en-US" sz="1800" dirty="0"/>
              <a:t>重要字段介绍：</a:t>
            </a:r>
            <a:endParaRPr lang="en-US" altLang="zh-CN" sz="1800" dirty="0"/>
          </a:p>
          <a:p>
            <a:pPr lvl="1"/>
            <a:r>
              <a:rPr lang="en-US" altLang="zh-CN" sz="1600" dirty="0"/>
              <a:t>Destination Router ID</a:t>
            </a:r>
            <a:r>
              <a:rPr lang="zh-CN" altLang="en-US" sz="1600" dirty="0"/>
              <a:t>：</a:t>
            </a:r>
            <a:r>
              <a:rPr lang="en-US" altLang="zh-CN" sz="1600" dirty="0"/>
              <a:t>4 Byte</a:t>
            </a:r>
            <a:r>
              <a:rPr lang="zh-CN" altLang="en-US" sz="1600" dirty="0"/>
              <a:t>，</a:t>
            </a:r>
            <a:r>
              <a:rPr lang="en-US" altLang="zh-CN" sz="1600" dirty="0"/>
              <a:t>LSA</a:t>
            </a:r>
            <a:r>
              <a:rPr lang="zh-CN" altLang="en-US" sz="1600" dirty="0"/>
              <a:t>中描述的目的路由器的</a:t>
            </a:r>
            <a:r>
              <a:rPr lang="en-US" altLang="zh-CN" sz="1600" dirty="0"/>
              <a:t>Router ID</a:t>
            </a:r>
            <a:r>
              <a:rPr lang="zh-CN" altLang="en-US" sz="1600" dirty="0"/>
              <a:t>，即</a:t>
            </a:r>
            <a:r>
              <a:rPr lang="en-US" altLang="zh-CN" sz="1600" dirty="0"/>
              <a:t>ASBR</a:t>
            </a:r>
            <a:r>
              <a:rPr lang="zh-CN" altLang="en-US" sz="1600" dirty="0"/>
              <a:t>的</a:t>
            </a:r>
            <a:r>
              <a:rPr lang="en-US" altLang="zh-CN" sz="1600" dirty="0"/>
              <a:t>Router ID</a:t>
            </a:r>
            <a:r>
              <a:rPr lang="zh-CN" altLang="en-US" sz="1600" dirty="0"/>
              <a:t>。</a:t>
            </a:r>
          </a:p>
        </p:txBody>
      </p:sp>
      <p:sp>
        <p:nvSpPr>
          <p:cNvPr id="9" name="五边形 8"/>
          <p:cNvSpPr/>
          <p:nvPr/>
        </p:nvSpPr>
        <p:spPr bwMode="auto">
          <a:xfrm>
            <a:off x="8753159" y="92882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10" name="燕尾形 9"/>
          <p:cNvSpPr/>
          <p:nvPr/>
        </p:nvSpPr>
        <p:spPr bwMode="auto">
          <a:xfrm>
            <a:off x="9451802" y="92882"/>
            <a:ext cx="90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燕尾形 10"/>
          <p:cNvSpPr/>
          <p:nvPr/>
        </p:nvSpPr>
        <p:spPr bwMode="auto">
          <a:xfrm>
            <a:off x="10269245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燕尾形 11"/>
          <p:cNvSpPr/>
          <p:nvPr/>
        </p:nvSpPr>
        <p:spPr bwMode="auto">
          <a:xfrm>
            <a:off x="10967888" y="92882"/>
            <a:ext cx="7812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</p:spTree>
    <p:extLst>
      <p:ext uri="{BB962C8B-B14F-4D97-AF65-F5344CB8AC3E}">
        <p14:creationId xmlns:p14="http://schemas.microsoft.com/office/powerpoint/2010/main" val="32233362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Type5</a:t>
            </a:r>
            <a:r>
              <a:rPr lang="zh-CN" altLang="en-US"/>
              <a:t>：</a:t>
            </a:r>
            <a:r>
              <a:rPr lang="en-US" altLang="zh-CN"/>
              <a:t>AS-External-LSA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55613" y="1047751"/>
            <a:ext cx="5640388" cy="3134398"/>
          </a:xfrm>
        </p:spPr>
        <p:txBody>
          <a:bodyPr/>
          <a:lstStyle/>
          <a:p>
            <a:r>
              <a:rPr lang="en-US" altLang="zh-CN" sz="2000" dirty="0"/>
              <a:t>OSPFv2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OSPFv3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470055"/>
              </p:ext>
            </p:extLst>
          </p:nvPr>
        </p:nvGraphicFramePr>
        <p:xfrm>
          <a:off x="817203" y="1555459"/>
          <a:ext cx="5040000" cy="1530000"/>
        </p:xfrm>
        <a:graphic>
          <a:graphicData uri="http://schemas.openxmlformats.org/drawingml/2006/table">
            <a:tbl>
              <a:tblPr firstRow="1" bandRow="1"/>
              <a:tblGrid>
                <a:gridCol w="31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00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Mask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Forwarding Address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External Route Tag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00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958765"/>
              </p:ext>
            </p:extLst>
          </p:nvPr>
        </p:nvGraphicFramePr>
        <p:xfrm>
          <a:off x="817203" y="4182148"/>
          <a:ext cx="5043379" cy="1836000"/>
        </p:xfrm>
        <a:graphic>
          <a:graphicData uri="http://schemas.openxmlformats.org/drawingml/2006/table">
            <a:tbl>
              <a:tblPr firstRow="1" bandRow="1"/>
              <a:tblGrid>
                <a:gridCol w="621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7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095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 gridSpan="4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PrefixLength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PrefixOptions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Referenced LS Type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 gridSpan="6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Address Prefix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 gridSpan="6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Forwarding Address (Optional)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000">
                <a:tc gridSpan="6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External Route Tag (Optional)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000">
                <a:tc gridSpan="6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Referenced Link State ID (Optional)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文本占位符 2"/>
          <p:cNvSpPr txBox="1">
            <a:spLocks/>
          </p:cNvSpPr>
          <p:nvPr/>
        </p:nvSpPr>
        <p:spPr bwMode="auto">
          <a:xfrm>
            <a:off x="6118230" y="1140736"/>
            <a:ext cx="5627683" cy="524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/>
              <a:t>与</a:t>
            </a:r>
            <a:r>
              <a:rPr lang="en-US" altLang="zh-CN" sz="1800" dirty="0"/>
              <a:t>OSPFv2</a:t>
            </a:r>
            <a:r>
              <a:rPr lang="zh-CN" altLang="en-US" sz="1800" dirty="0"/>
              <a:t>类似，由</a:t>
            </a:r>
            <a:r>
              <a:rPr lang="en-US" altLang="zh-CN" sz="1800" dirty="0"/>
              <a:t>ASBR</a:t>
            </a:r>
            <a:r>
              <a:rPr lang="zh-CN" altLang="en-US" sz="1800" dirty="0"/>
              <a:t>产生，描述到达</a:t>
            </a:r>
            <a:r>
              <a:rPr lang="en-US" altLang="zh-CN" sz="1800" dirty="0"/>
              <a:t>AS</a:t>
            </a:r>
            <a:r>
              <a:rPr lang="zh-CN" altLang="en-US" sz="1800" dirty="0"/>
              <a:t>外部的一个前缀的路由，通告到所有的区域（除了</a:t>
            </a:r>
            <a:r>
              <a:rPr lang="en-US" altLang="zh-CN" sz="1800" dirty="0"/>
              <a:t>Stub</a:t>
            </a:r>
            <a:r>
              <a:rPr lang="zh-CN" altLang="en-US" sz="1800" dirty="0"/>
              <a:t>区域和</a:t>
            </a:r>
            <a:r>
              <a:rPr lang="en-US" altLang="zh-CN" sz="1800" dirty="0"/>
              <a:t>NSSA</a:t>
            </a:r>
            <a:r>
              <a:rPr lang="zh-CN" altLang="en-US" sz="1800" dirty="0"/>
              <a:t>区域）。</a:t>
            </a:r>
            <a:endParaRPr lang="en-US" altLang="zh-CN" sz="1800" dirty="0"/>
          </a:p>
          <a:p>
            <a:r>
              <a:rPr lang="zh-CN" altLang="en-US" sz="1800" dirty="0"/>
              <a:t>重要字段介绍：</a:t>
            </a:r>
            <a:endParaRPr lang="en-US" altLang="zh-CN" sz="1800" dirty="0"/>
          </a:p>
          <a:p>
            <a:pPr lvl="1"/>
            <a:r>
              <a:rPr lang="en-US" altLang="zh-CN" sz="1600" dirty="0"/>
              <a:t>Referenced LS Type</a:t>
            </a:r>
            <a:r>
              <a:rPr lang="zh-CN" altLang="en-US" sz="1600" dirty="0"/>
              <a:t>：</a:t>
            </a:r>
            <a:r>
              <a:rPr lang="en-US" altLang="zh-CN" sz="1600" dirty="0"/>
              <a:t>2 Byte</a:t>
            </a:r>
            <a:r>
              <a:rPr lang="zh-CN" altLang="en-US" sz="1600" dirty="0"/>
              <a:t>，引用链路状态类型，表明这个</a:t>
            </a:r>
            <a:r>
              <a:rPr lang="en-US" altLang="zh-CN" sz="1600" dirty="0"/>
              <a:t>LSA</a:t>
            </a:r>
            <a:r>
              <a:rPr lang="zh-CN" altLang="en-US" sz="1600" dirty="0"/>
              <a:t>是否需要参考其他</a:t>
            </a:r>
            <a:r>
              <a:rPr lang="en-US" altLang="zh-CN" sz="1600" dirty="0"/>
              <a:t>LSA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lvl="2"/>
            <a:r>
              <a:rPr lang="en-US" altLang="zh-CN" sz="1400" dirty="0"/>
              <a:t>0</a:t>
            </a:r>
            <a:r>
              <a:rPr lang="zh-CN" altLang="en-US" sz="1400" dirty="0"/>
              <a:t>：不参考</a:t>
            </a:r>
            <a:endParaRPr lang="en-US" altLang="zh-CN" sz="1400" dirty="0"/>
          </a:p>
          <a:p>
            <a:pPr lvl="2"/>
            <a:r>
              <a:rPr lang="en-US" altLang="zh-CN" sz="1400" dirty="0"/>
              <a:t>1</a:t>
            </a:r>
            <a:r>
              <a:rPr lang="zh-CN" altLang="en-US" sz="1400" dirty="0"/>
              <a:t>：参考</a:t>
            </a:r>
            <a:r>
              <a:rPr lang="en-US" altLang="zh-CN" sz="1400" dirty="0"/>
              <a:t>Router-LSA</a:t>
            </a:r>
          </a:p>
          <a:p>
            <a:pPr lvl="2"/>
            <a:r>
              <a:rPr lang="en-US" altLang="zh-CN" sz="1400" dirty="0"/>
              <a:t>2</a:t>
            </a:r>
            <a:r>
              <a:rPr lang="zh-CN" altLang="en-US" sz="1400" dirty="0"/>
              <a:t>：参考</a:t>
            </a:r>
            <a:r>
              <a:rPr lang="en-US" altLang="zh-CN" sz="1400" dirty="0"/>
              <a:t>Network-LSA</a:t>
            </a:r>
          </a:p>
        </p:txBody>
      </p:sp>
      <p:sp>
        <p:nvSpPr>
          <p:cNvPr id="8" name="五边形 7"/>
          <p:cNvSpPr/>
          <p:nvPr/>
        </p:nvSpPr>
        <p:spPr bwMode="auto">
          <a:xfrm>
            <a:off x="8753159" y="92882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10" name="燕尾形 9"/>
          <p:cNvSpPr/>
          <p:nvPr/>
        </p:nvSpPr>
        <p:spPr bwMode="auto">
          <a:xfrm>
            <a:off x="9451802" y="92882"/>
            <a:ext cx="90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燕尾形 10"/>
          <p:cNvSpPr/>
          <p:nvPr/>
        </p:nvSpPr>
        <p:spPr bwMode="auto">
          <a:xfrm>
            <a:off x="10269245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2" name="燕尾形 11"/>
          <p:cNvSpPr/>
          <p:nvPr/>
        </p:nvSpPr>
        <p:spPr bwMode="auto">
          <a:xfrm>
            <a:off x="10967888" y="92882"/>
            <a:ext cx="7812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</p:spTree>
    <p:extLst>
      <p:ext uri="{BB962C8B-B14F-4D97-AF65-F5344CB8AC3E}">
        <p14:creationId xmlns:p14="http://schemas.microsoft.com/office/powerpoint/2010/main" val="27501109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005259"/>
              </p:ext>
            </p:extLst>
          </p:nvPr>
        </p:nvGraphicFramePr>
        <p:xfrm>
          <a:off x="817203" y="1628611"/>
          <a:ext cx="5076000" cy="3672000"/>
        </p:xfrm>
        <a:graphic>
          <a:graphicData uri="http://schemas.openxmlformats.org/drawingml/2006/table">
            <a:tbl>
              <a:tblPr firstRow="1" bandRow="1"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Rtr </a:t>
                      </a:r>
                      <a:r>
                        <a:rPr kumimoji="0" lang="en-US" altLang="zh-CN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Options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00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Link-Local Interface Address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 of prefixes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PrefixLength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PrefixOptions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Address Prefix</a:t>
                      </a:r>
                    </a:p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00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PrefixLength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PrefixOptions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200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Address Prefix</a:t>
                      </a:r>
                    </a:p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新增</a:t>
            </a:r>
            <a:r>
              <a:rPr lang="en-US" altLang="zh-CN"/>
              <a:t>Type8</a:t>
            </a:r>
            <a:r>
              <a:rPr lang="zh-CN" altLang="en-US"/>
              <a:t>：</a:t>
            </a:r>
            <a:r>
              <a:rPr lang="en-US" altLang="zh-CN"/>
              <a:t>Link-LSA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55612" y="1047750"/>
            <a:ext cx="5567501" cy="507709"/>
          </a:xfrm>
        </p:spPr>
        <p:txBody>
          <a:bodyPr/>
          <a:lstStyle/>
          <a:p>
            <a:r>
              <a:rPr lang="en-US" altLang="zh-CN" sz="2000" dirty="0"/>
              <a:t>Link-LSA</a:t>
            </a:r>
            <a:r>
              <a:rPr lang="zh-CN" altLang="en-US" sz="2000" dirty="0"/>
              <a:t>报文格式：</a:t>
            </a:r>
            <a:endParaRPr lang="en-US" altLang="zh-CN" sz="2000" dirty="0"/>
          </a:p>
        </p:txBody>
      </p:sp>
      <p:sp>
        <p:nvSpPr>
          <p:cNvPr id="8" name="文本占位符 2"/>
          <p:cNvSpPr txBox="1">
            <a:spLocks/>
          </p:cNvSpPr>
          <p:nvPr/>
        </p:nvSpPr>
        <p:spPr bwMode="auto">
          <a:xfrm>
            <a:off x="6118230" y="1149790"/>
            <a:ext cx="5627683" cy="4654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/>
              <a:t>每个设备都会为每个链路产生一个</a:t>
            </a:r>
            <a:r>
              <a:rPr lang="en-US" altLang="zh-CN" sz="1800" dirty="0"/>
              <a:t>Link-LSA</a:t>
            </a:r>
            <a:r>
              <a:rPr lang="zh-CN" altLang="en-US" sz="1800" dirty="0"/>
              <a:t>，仅在始发链路内泛洪。</a:t>
            </a:r>
            <a:endParaRPr lang="en-US" altLang="zh-CN" sz="1800" dirty="0"/>
          </a:p>
          <a:p>
            <a:r>
              <a:rPr lang="en-US" altLang="zh-CN" sz="1800" dirty="0"/>
              <a:t>Link-LSA</a:t>
            </a:r>
            <a:r>
              <a:rPr lang="zh-CN" altLang="en-US" sz="1800" dirty="0"/>
              <a:t>作用：</a:t>
            </a:r>
          </a:p>
          <a:p>
            <a:pPr lvl="1"/>
            <a:r>
              <a:rPr lang="zh-CN" altLang="en-US" sz="1600" dirty="0"/>
              <a:t>向该链路上其他路由器通告本接口的链路本地地址。</a:t>
            </a:r>
          </a:p>
          <a:p>
            <a:pPr lvl="1"/>
            <a:r>
              <a:rPr lang="zh-CN" altLang="en-US" sz="1600" dirty="0"/>
              <a:t>向该链路上其他路由器通告本接口的</a:t>
            </a:r>
            <a:r>
              <a:rPr lang="en-US" altLang="zh-CN" sz="1600" dirty="0"/>
              <a:t>IPv6</a:t>
            </a:r>
            <a:r>
              <a:rPr lang="zh-CN" altLang="en-US" sz="1600" dirty="0"/>
              <a:t>前缀列表。</a:t>
            </a:r>
            <a:endParaRPr lang="en-US" altLang="zh-CN" sz="1600" dirty="0"/>
          </a:p>
          <a:p>
            <a:pPr lvl="1"/>
            <a:r>
              <a:rPr lang="zh-CN" altLang="en-US" sz="1600" dirty="0"/>
              <a:t>向该链路上其他路由器通告本链路始发的</a:t>
            </a:r>
            <a:r>
              <a:rPr lang="en-US" altLang="zh-CN" sz="1600" dirty="0"/>
              <a:t>Network-LSA</a:t>
            </a:r>
            <a:r>
              <a:rPr lang="zh-CN" altLang="en-US" sz="1600" dirty="0"/>
              <a:t>中设置的可选项。</a:t>
            </a:r>
            <a:endParaRPr lang="en-US" altLang="zh-CN" sz="1600" dirty="0"/>
          </a:p>
          <a:p>
            <a:r>
              <a:rPr lang="zh-CN" altLang="en-US" sz="1800" dirty="0"/>
              <a:t>重要字段介绍：</a:t>
            </a:r>
            <a:endParaRPr lang="en-US" altLang="zh-CN" sz="1800" dirty="0"/>
          </a:p>
          <a:p>
            <a:pPr lvl="1"/>
            <a:r>
              <a:rPr lang="en-US" altLang="zh-CN" sz="1600" dirty="0"/>
              <a:t>Link-Local Interface Address</a:t>
            </a:r>
            <a:r>
              <a:rPr lang="zh-CN" altLang="en-US" sz="1600" dirty="0"/>
              <a:t>：</a:t>
            </a:r>
            <a:r>
              <a:rPr lang="en-US" altLang="zh-CN" sz="1600" dirty="0"/>
              <a:t>16 Byte</a:t>
            </a:r>
            <a:r>
              <a:rPr lang="zh-CN" altLang="en-US" sz="1600" dirty="0"/>
              <a:t>，路由器与该链路相连的接口上配置的链路本地地址（该地址只出现在</a:t>
            </a:r>
            <a:r>
              <a:rPr lang="en-US" altLang="zh-CN" sz="1600" dirty="0"/>
              <a:t>Link-LSA</a:t>
            </a:r>
            <a:r>
              <a:rPr lang="zh-CN" altLang="en-US" sz="1600" dirty="0"/>
              <a:t>中）。</a:t>
            </a:r>
            <a:endParaRPr lang="en-US" altLang="zh-CN" sz="1600" dirty="0"/>
          </a:p>
        </p:txBody>
      </p:sp>
      <p:sp>
        <p:nvSpPr>
          <p:cNvPr id="6" name="五边形 5"/>
          <p:cNvSpPr/>
          <p:nvPr/>
        </p:nvSpPr>
        <p:spPr bwMode="auto">
          <a:xfrm>
            <a:off x="8753159" y="92882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7" name="燕尾形 6"/>
          <p:cNvSpPr/>
          <p:nvPr/>
        </p:nvSpPr>
        <p:spPr bwMode="auto">
          <a:xfrm>
            <a:off x="9451802" y="92882"/>
            <a:ext cx="90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燕尾形 9"/>
          <p:cNvSpPr/>
          <p:nvPr/>
        </p:nvSpPr>
        <p:spPr bwMode="auto">
          <a:xfrm>
            <a:off x="10269245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燕尾形 10"/>
          <p:cNvSpPr/>
          <p:nvPr/>
        </p:nvSpPr>
        <p:spPr bwMode="auto">
          <a:xfrm>
            <a:off x="10967888" y="92882"/>
            <a:ext cx="7812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</p:spTree>
    <p:extLst>
      <p:ext uri="{BB962C8B-B14F-4D97-AF65-F5344CB8AC3E}">
        <p14:creationId xmlns:p14="http://schemas.microsoft.com/office/powerpoint/2010/main" val="24731551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740390"/>
              </p:ext>
            </p:extLst>
          </p:nvPr>
        </p:nvGraphicFramePr>
        <p:xfrm>
          <a:off x="794973" y="1628611"/>
          <a:ext cx="5041141" cy="2142000"/>
        </p:xfrm>
        <a:graphic>
          <a:graphicData uri="http://schemas.openxmlformats.org/drawingml/2006/table">
            <a:tbl>
              <a:tblPr firstRow="1" bandRow="1"/>
              <a:tblGrid>
                <a:gridCol w="1214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000"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 of Prefixes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Referenced LS Type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Referenced Link State ID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Referenced Advertising Router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PrefixLength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PrefixOptions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Address Prefix</a:t>
                      </a:r>
                    </a:p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00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新增</a:t>
            </a:r>
            <a:r>
              <a:rPr lang="en-US" altLang="zh-CN"/>
              <a:t>Type9</a:t>
            </a:r>
            <a:r>
              <a:rPr lang="zh-CN" altLang="en-US"/>
              <a:t>：</a:t>
            </a:r>
            <a:r>
              <a:rPr lang="en-US" altLang="zh-CN"/>
              <a:t>Intra-Area-Prefix-LSA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55613" y="1047750"/>
            <a:ext cx="5640388" cy="436563"/>
          </a:xfrm>
        </p:spPr>
        <p:txBody>
          <a:bodyPr/>
          <a:lstStyle/>
          <a:p>
            <a:r>
              <a:rPr lang="en-US" altLang="zh-CN" sz="2000" dirty="0"/>
              <a:t>Intra-Area-Prefix-LSA</a:t>
            </a:r>
            <a:r>
              <a:rPr lang="zh-CN" altLang="en-US" sz="2000" dirty="0"/>
              <a:t>报文格式：</a:t>
            </a:r>
            <a:endParaRPr lang="en-US" altLang="zh-CN" sz="2000" dirty="0"/>
          </a:p>
        </p:txBody>
      </p:sp>
      <p:sp>
        <p:nvSpPr>
          <p:cNvPr id="8" name="文本占位符 2"/>
          <p:cNvSpPr txBox="1">
            <a:spLocks/>
          </p:cNvSpPr>
          <p:nvPr/>
        </p:nvSpPr>
        <p:spPr bwMode="auto">
          <a:xfrm>
            <a:off x="6118230" y="1149790"/>
            <a:ext cx="5627683" cy="4062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/>
              <a:t>在</a:t>
            </a:r>
            <a:r>
              <a:rPr lang="en-US" altLang="zh-CN" sz="1800" dirty="0"/>
              <a:t>OSPFv2</a:t>
            </a:r>
            <a:r>
              <a:rPr lang="zh-CN" altLang="en-US" sz="1800" dirty="0"/>
              <a:t>中，可以通过</a:t>
            </a:r>
            <a:r>
              <a:rPr lang="en-US" altLang="zh-CN" sz="1800" dirty="0"/>
              <a:t>Type1</a:t>
            </a:r>
            <a:r>
              <a:rPr lang="zh-CN" altLang="en-US" sz="1800" dirty="0"/>
              <a:t>和</a:t>
            </a:r>
            <a:r>
              <a:rPr lang="en-US" altLang="zh-CN" sz="1800" dirty="0"/>
              <a:t>Type2</a:t>
            </a:r>
            <a:r>
              <a:rPr lang="zh-CN" altLang="en-US" sz="1800" dirty="0"/>
              <a:t>的</a:t>
            </a:r>
            <a:r>
              <a:rPr lang="en-US" altLang="zh-CN" sz="1800" dirty="0"/>
              <a:t>LSA</a:t>
            </a:r>
            <a:r>
              <a:rPr lang="zh-CN" altLang="en-US" sz="1800" dirty="0"/>
              <a:t>来描述拓扑信息和网段信息；而</a:t>
            </a:r>
            <a:r>
              <a:rPr lang="en-US" altLang="zh-CN" sz="1800" dirty="0"/>
              <a:t>OSPFv3</a:t>
            </a:r>
            <a:r>
              <a:rPr lang="zh-CN" altLang="en-US" sz="1800" dirty="0"/>
              <a:t>的此两类</a:t>
            </a:r>
            <a:r>
              <a:rPr lang="en-US" altLang="zh-CN" sz="1800" dirty="0"/>
              <a:t>LSA</a:t>
            </a:r>
            <a:r>
              <a:rPr lang="zh-CN" altLang="en-US" sz="1800" dirty="0"/>
              <a:t>仅包含拓扑信息，那</a:t>
            </a:r>
            <a:r>
              <a:rPr lang="en-US" altLang="zh-CN" sz="1800" dirty="0"/>
              <a:t>OSPFv3</a:t>
            </a:r>
            <a:r>
              <a:rPr lang="zh-CN" altLang="en-US" sz="1800" dirty="0"/>
              <a:t>如何描述网段信息呢？</a:t>
            </a:r>
            <a:endParaRPr lang="en-US" altLang="zh-CN" sz="1800" dirty="0"/>
          </a:p>
          <a:p>
            <a:r>
              <a:rPr lang="en-US" altLang="zh-CN" sz="1800" dirty="0"/>
              <a:t>Type9</a:t>
            </a:r>
            <a:r>
              <a:rPr lang="zh-CN" altLang="en-US" sz="1800" dirty="0"/>
              <a:t> </a:t>
            </a:r>
            <a:r>
              <a:rPr lang="en-US" altLang="zh-CN" sz="1800" dirty="0"/>
              <a:t>LSA</a:t>
            </a:r>
            <a:r>
              <a:rPr lang="zh-CN" altLang="en-US" sz="1800" dirty="0"/>
              <a:t>描述的是网段信息，只在所属的区域内传播，它需要依赖于拓扑信息，才能实现</a:t>
            </a:r>
            <a:r>
              <a:rPr lang="en-US" altLang="zh-CN" sz="1800" dirty="0"/>
              <a:t>OSPFv3</a:t>
            </a:r>
            <a:r>
              <a:rPr lang="zh-CN" altLang="en-US" sz="1800" dirty="0"/>
              <a:t>的路由计算。其类型可以分为两种：</a:t>
            </a:r>
            <a:endParaRPr lang="en-US" altLang="zh-CN" sz="1800" dirty="0"/>
          </a:p>
          <a:p>
            <a:pPr lvl="1"/>
            <a:r>
              <a:rPr lang="zh-CN" altLang="en-US" sz="1600" dirty="0"/>
              <a:t>每台设备均产生描述与</a:t>
            </a:r>
            <a:r>
              <a:rPr lang="en-US" altLang="zh-CN" sz="1600" dirty="0"/>
              <a:t>Router-LSA</a:t>
            </a:r>
            <a:r>
              <a:rPr lang="zh-CN" altLang="en-US" sz="1600" dirty="0"/>
              <a:t>相关联的</a:t>
            </a:r>
            <a:r>
              <a:rPr lang="en-US" altLang="zh-CN" sz="1600" dirty="0"/>
              <a:t>IPv6</a:t>
            </a:r>
            <a:r>
              <a:rPr lang="zh-CN" altLang="en-US" sz="1600" dirty="0"/>
              <a:t>前缀地址的</a:t>
            </a:r>
            <a:r>
              <a:rPr lang="en-US" altLang="zh-CN" sz="1600" dirty="0"/>
              <a:t>Type9 LSA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lvl="1"/>
            <a:r>
              <a:rPr lang="en-US" altLang="zh-CN" sz="1600" dirty="0"/>
              <a:t>DR</a:t>
            </a:r>
            <a:r>
              <a:rPr lang="zh-CN" altLang="en-US" sz="1600" dirty="0"/>
              <a:t>会产生描述与</a:t>
            </a:r>
            <a:r>
              <a:rPr lang="en-US" altLang="zh-CN" sz="1600" dirty="0"/>
              <a:t>Network-LSA</a:t>
            </a:r>
            <a:r>
              <a:rPr lang="zh-CN" altLang="en-US" sz="1600" dirty="0"/>
              <a:t>相关联的</a:t>
            </a:r>
            <a:r>
              <a:rPr lang="en-US" altLang="zh-CN" sz="1600" dirty="0"/>
              <a:t>IPv6</a:t>
            </a:r>
            <a:r>
              <a:rPr lang="zh-CN" altLang="en-US" sz="1600" dirty="0"/>
              <a:t>前缀地址的</a:t>
            </a:r>
            <a:r>
              <a:rPr lang="en-US" altLang="zh-CN" sz="1600" dirty="0"/>
              <a:t>Type9 LSA</a:t>
            </a:r>
            <a:r>
              <a:rPr lang="zh-CN" altLang="en-US" sz="1600" dirty="0"/>
              <a:t>。</a:t>
            </a:r>
            <a:endParaRPr lang="en-US" altLang="zh-CN" sz="1600" dirty="0"/>
          </a:p>
        </p:txBody>
      </p:sp>
      <p:sp>
        <p:nvSpPr>
          <p:cNvPr id="6" name="五边形 5"/>
          <p:cNvSpPr/>
          <p:nvPr/>
        </p:nvSpPr>
        <p:spPr bwMode="auto">
          <a:xfrm>
            <a:off x="8753159" y="92882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7" name="燕尾形 6"/>
          <p:cNvSpPr/>
          <p:nvPr/>
        </p:nvSpPr>
        <p:spPr bwMode="auto">
          <a:xfrm>
            <a:off x="9451802" y="92882"/>
            <a:ext cx="90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燕尾形 9"/>
          <p:cNvSpPr/>
          <p:nvPr/>
        </p:nvSpPr>
        <p:spPr bwMode="auto">
          <a:xfrm>
            <a:off x="10269245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燕尾形 10"/>
          <p:cNvSpPr/>
          <p:nvPr/>
        </p:nvSpPr>
        <p:spPr bwMode="auto">
          <a:xfrm>
            <a:off x="10967888" y="92882"/>
            <a:ext cx="7812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</p:spTree>
    <p:extLst>
      <p:ext uri="{BB962C8B-B14F-4D97-AF65-F5344CB8AC3E}">
        <p14:creationId xmlns:p14="http://schemas.microsoft.com/office/powerpoint/2010/main" val="13552310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OSPFv3</a:t>
            </a:r>
            <a:r>
              <a:rPr lang="zh-CN" altLang="en-US" dirty="0"/>
              <a:t>的</a:t>
            </a:r>
            <a:r>
              <a:rPr lang="en-US" altLang="zh-CN" dirty="0"/>
              <a:t>LSA</a:t>
            </a:r>
            <a:r>
              <a:rPr lang="zh-CN" altLang="en-US" dirty="0"/>
              <a:t>举例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6069305" y="1049890"/>
            <a:ext cx="5641772" cy="50783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[R2]display ospfv3 </a:t>
            </a:r>
            <a:r>
              <a:rPr lang="en-US" altLang="zh-CN" sz="1200" dirty="0" err="1"/>
              <a:t>lsdb</a:t>
            </a:r>
            <a:endParaRPr lang="en-US" altLang="zh-CN" sz="1200" dirty="0"/>
          </a:p>
          <a:p>
            <a:r>
              <a:rPr lang="en-US" altLang="zh-CN" sz="1200" dirty="0"/>
              <a:t>      * indicates STALE LSA</a:t>
            </a:r>
          </a:p>
          <a:p>
            <a:endParaRPr lang="en-US" altLang="zh-CN" sz="1200" dirty="0"/>
          </a:p>
          <a:p>
            <a:r>
              <a:rPr lang="en-US" altLang="zh-CN" sz="1200" dirty="0"/>
              <a:t>           OSPFv3 Router with ID (10.1.2.2) (Process 1)</a:t>
            </a:r>
          </a:p>
          <a:p>
            <a:endParaRPr lang="en-US" altLang="zh-CN" sz="1200" dirty="0"/>
          </a:p>
          <a:p>
            <a:r>
              <a:rPr lang="en-US" altLang="zh-CN" sz="1200" dirty="0"/>
              <a:t>               Link-LSA (Interface GigabitEthernet0/0/0)</a:t>
            </a:r>
          </a:p>
          <a:p>
            <a:r>
              <a:rPr lang="en-US" altLang="zh-CN" sz="1200" dirty="0"/>
              <a:t>Link State ID   Origin Router    Age   </a:t>
            </a:r>
            <a:r>
              <a:rPr lang="en-US" altLang="zh-CN" sz="1200" dirty="0" err="1"/>
              <a:t>Seq</a:t>
            </a:r>
            <a:r>
              <a:rPr lang="en-US" altLang="zh-CN" sz="1200" dirty="0"/>
              <a:t>#            </a:t>
            </a:r>
            <a:r>
              <a:rPr lang="en-US" altLang="zh-CN" sz="1200" dirty="0" err="1"/>
              <a:t>CkSum</a:t>
            </a:r>
            <a:r>
              <a:rPr lang="en-US" altLang="zh-CN" sz="1200" dirty="0"/>
              <a:t>  Prefix</a:t>
            </a:r>
          </a:p>
          <a:p>
            <a:r>
              <a:rPr lang="en-US" altLang="zh-CN" sz="1200" dirty="0"/>
              <a:t>0.0.0.3	   10.1.2.2            0080  0x80000002 0x1c52      1</a:t>
            </a:r>
          </a:p>
          <a:p>
            <a:r>
              <a:rPr lang="en-US" altLang="zh-CN" sz="1200" dirty="0"/>
              <a:t>0.0.0.4	   10.1.3.3            0075  0x80000002 0x2a59      1</a:t>
            </a:r>
          </a:p>
          <a:p>
            <a:r>
              <a:rPr lang="en-US" altLang="zh-CN" sz="1200" dirty="0">
                <a:solidFill>
                  <a:srgbClr val="C7000B"/>
                </a:solidFill>
              </a:rPr>
              <a:t>0.0.0.5	   10.1.4.4            0089  0x80000002 0xe2a3      1</a:t>
            </a:r>
          </a:p>
          <a:p>
            <a:endParaRPr lang="en-US" altLang="zh-CN" sz="1200" dirty="0"/>
          </a:p>
          <a:p>
            <a:r>
              <a:rPr lang="en-US" altLang="zh-CN" sz="1200" dirty="0"/>
              <a:t>               Link-LSA (Interface GigabitEthernet0/0/1)</a:t>
            </a:r>
          </a:p>
          <a:p>
            <a:r>
              <a:rPr lang="en-US" altLang="zh-CN" sz="1200" dirty="0"/>
              <a:t>Link State ID   Origin Router    Age   </a:t>
            </a:r>
            <a:r>
              <a:rPr lang="en-US" altLang="zh-CN" sz="1200" dirty="0" err="1"/>
              <a:t>Seq</a:t>
            </a:r>
            <a:r>
              <a:rPr lang="en-US" altLang="zh-CN" sz="1200" dirty="0"/>
              <a:t>#            </a:t>
            </a:r>
            <a:r>
              <a:rPr lang="en-US" altLang="zh-CN" sz="1200" dirty="0" err="1"/>
              <a:t>CkSum</a:t>
            </a:r>
            <a:r>
              <a:rPr lang="en-US" altLang="zh-CN" sz="1200" dirty="0"/>
              <a:t>  Prefix</a:t>
            </a:r>
          </a:p>
          <a:p>
            <a:r>
              <a:rPr lang="en-US" altLang="zh-CN" sz="1200" dirty="0"/>
              <a:t>0.0.0.4         	   10.1.1.1            0070  0x80000002 0xe971      1</a:t>
            </a:r>
          </a:p>
          <a:p>
            <a:r>
              <a:rPr lang="en-US" altLang="zh-CN" sz="1200" dirty="0"/>
              <a:t>0.0.0.4         	   10.1.2.2            0069  0x80000002 0x9fdd       1</a:t>
            </a:r>
          </a:p>
          <a:p>
            <a:endParaRPr lang="en-US" altLang="zh-CN" sz="1200" dirty="0"/>
          </a:p>
          <a:p>
            <a:r>
              <a:rPr lang="en-US" altLang="zh-CN" sz="1200" dirty="0"/>
              <a:t>               Router-LSA (Area 0.0.0.0)</a:t>
            </a:r>
          </a:p>
          <a:p>
            <a:r>
              <a:rPr lang="en-US" altLang="zh-CN" sz="1200" dirty="0"/>
              <a:t>……</a:t>
            </a:r>
          </a:p>
          <a:p>
            <a:r>
              <a:rPr lang="en-US" altLang="zh-CN" sz="1200" dirty="0"/>
              <a:t>               Network-LSA (Area 0.0.0.0)</a:t>
            </a:r>
          </a:p>
          <a:p>
            <a:r>
              <a:rPr lang="en-US" altLang="zh-CN" sz="1200" dirty="0"/>
              <a:t>Link State ID   Origin Router    Age   </a:t>
            </a:r>
            <a:r>
              <a:rPr lang="en-US" altLang="zh-CN" sz="1200" dirty="0" err="1"/>
              <a:t>Seq</a:t>
            </a:r>
            <a:r>
              <a:rPr lang="en-US" altLang="zh-CN" sz="1200" dirty="0"/>
              <a:t>#            </a:t>
            </a:r>
            <a:r>
              <a:rPr lang="en-US" altLang="zh-CN" sz="1200" dirty="0" err="1"/>
              <a:t>CkSum</a:t>
            </a:r>
            <a:endParaRPr lang="en-US" altLang="zh-CN" sz="1200" dirty="0"/>
          </a:p>
          <a:p>
            <a:r>
              <a:rPr lang="en-US" altLang="zh-CN" sz="1200" dirty="0"/>
              <a:t>0.0.0.4             10.1.2.2            0030  0x80000001 0x9564</a:t>
            </a:r>
          </a:p>
          <a:p>
            <a:r>
              <a:rPr lang="en-US" altLang="zh-CN" sz="1200" dirty="0"/>
              <a:t>0.0.0.5             10.1.4.4            0036  0x80000002 0xc810</a:t>
            </a:r>
          </a:p>
          <a:p>
            <a:endParaRPr lang="en-US" altLang="zh-CN" sz="1200" dirty="0"/>
          </a:p>
          <a:p>
            <a:r>
              <a:rPr lang="en-US" altLang="zh-CN" sz="1200" dirty="0"/>
              <a:t>               Intra-Area-Prefix-LSA (Area 0.0.0.0)</a:t>
            </a:r>
          </a:p>
          <a:p>
            <a:r>
              <a:rPr lang="en-US" altLang="zh-CN" sz="1200" dirty="0"/>
              <a:t>Link State ID   Origin Router    Age   </a:t>
            </a:r>
            <a:r>
              <a:rPr lang="en-US" altLang="zh-CN" sz="1200" dirty="0" err="1"/>
              <a:t>Seq</a:t>
            </a:r>
            <a:r>
              <a:rPr lang="en-US" altLang="zh-CN" sz="1200" dirty="0"/>
              <a:t>#            </a:t>
            </a:r>
            <a:r>
              <a:rPr lang="en-US" altLang="zh-CN" sz="1200" dirty="0" err="1"/>
              <a:t>CkSum</a:t>
            </a:r>
            <a:r>
              <a:rPr lang="en-US" altLang="zh-CN" sz="1200" dirty="0"/>
              <a:t>  Prefix Reference</a:t>
            </a:r>
          </a:p>
          <a:p>
            <a:r>
              <a:rPr lang="en-US" altLang="zh-CN" sz="1200" dirty="0"/>
              <a:t>0.0.0.1         	   10.1.2.2            0028  0x80000006 0x1527      1   Network-LSA</a:t>
            </a:r>
          </a:p>
          <a:p>
            <a:r>
              <a:rPr lang="en-US" altLang="zh-CN" sz="1200" dirty="0">
                <a:solidFill>
                  <a:srgbClr val="C7000B"/>
                </a:solidFill>
              </a:rPr>
              <a:t>0.0.0.1         	   10.1.4.4            0034  0x80000003 0xfc28       1   Network-LSA</a:t>
            </a:r>
          </a:p>
        </p:txBody>
      </p:sp>
      <p:graphicFrame>
        <p:nvGraphicFramePr>
          <p:cNvPr id="56" name="表格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341376"/>
              </p:ext>
            </p:extLst>
          </p:nvPr>
        </p:nvGraphicFramePr>
        <p:xfrm>
          <a:off x="523017" y="3732706"/>
          <a:ext cx="5220000" cy="2225040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设备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Router ID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接口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接口地址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10.1.1.1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2001:DB8:2345:12::1/64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10.1.2.2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2001:DB8:2345:12::2/64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2001:DB8:2345:23::2/64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10.1.3.3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2001:DB8:2345:23::3/64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10.1.4.4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2001:DB8:2345:23::4/64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矩形 2"/>
          <p:cNvSpPr/>
          <p:nvPr/>
        </p:nvSpPr>
        <p:spPr bwMode="ltGray">
          <a:xfrm>
            <a:off x="6060596" y="1993429"/>
            <a:ext cx="5655627" cy="1971341"/>
          </a:xfrm>
          <a:prstGeom prst="rect">
            <a:avLst/>
          </a:prstGeom>
          <a:noFill/>
          <a:ln w="28575">
            <a:solidFill>
              <a:srgbClr val="C700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 bwMode="ltGray">
          <a:xfrm>
            <a:off x="6060596" y="5251894"/>
            <a:ext cx="5655627" cy="876309"/>
          </a:xfrm>
          <a:prstGeom prst="rect">
            <a:avLst/>
          </a:prstGeom>
          <a:noFill/>
          <a:ln w="28575">
            <a:solidFill>
              <a:srgbClr val="C700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0636729" y="1692334"/>
            <a:ext cx="1096048" cy="301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C7000B"/>
                </a:solidFill>
              </a:rPr>
              <a:t>Type8 LSA</a:t>
            </a:r>
            <a:endParaRPr lang="zh-CN" altLang="en-US" sz="1400" b="1" dirty="0">
              <a:solidFill>
                <a:srgbClr val="C7000B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0636729" y="4949900"/>
            <a:ext cx="1096048" cy="301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C7000B"/>
                </a:solidFill>
              </a:rPr>
              <a:t>Type9 LSA</a:t>
            </a:r>
            <a:endParaRPr lang="zh-CN" altLang="en-US" sz="1400" b="1" dirty="0">
              <a:solidFill>
                <a:srgbClr val="C7000B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952555" y="1414115"/>
            <a:ext cx="4195259" cy="1790729"/>
            <a:chOff x="952555" y="1544744"/>
            <a:chExt cx="4195259" cy="1790729"/>
          </a:xfrm>
        </p:grpSpPr>
        <p:pic>
          <p:nvPicPr>
            <p:cNvPr id="6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auto">
            <a:xfrm>
              <a:off x="981306" y="2327231"/>
              <a:ext cx="541201" cy="442800"/>
            </a:xfrm>
            <a:prstGeom prst="rect">
              <a:avLst/>
            </a:prstGeom>
            <a:noFill/>
          </p:spPr>
        </p:pic>
        <p:pic>
          <p:nvPicPr>
            <p:cNvPr id="7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 bwMode="auto">
            <a:xfrm>
              <a:off x="2411438" y="2327231"/>
              <a:ext cx="541201" cy="442800"/>
            </a:xfrm>
            <a:prstGeom prst="rect">
              <a:avLst/>
            </a:prstGeom>
            <a:noFill/>
          </p:spPr>
        </p:pic>
        <p:pic>
          <p:nvPicPr>
            <p:cNvPr id="8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auto">
            <a:xfrm>
              <a:off x="4579838" y="1797641"/>
              <a:ext cx="541201" cy="442800"/>
            </a:xfrm>
            <a:prstGeom prst="rect">
              <a:avLst/>
            </a:prstGeom>
            <a:noFill/>
          </p:spPr>
        </p:pic>
        <p:cxnSp>
          <p:nvCxnSpPr>
            <p:cNvPr id="11" name="直接连接符 10"/>
            <p:cNvCxnSpPr>
              <a:stCxn id="6" idx="3"/>
              <a:endCxn id="7" idx="1"/>
            </p:cNvCxnSpPr>
            <p:nvPr/>
          </p:nvCxnSpPr>
          <p:spPr>
            <a:xfrm>
              <a:off x="1522507" y="2548631"/>
              <a:ext cx="8889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>
              <a:stCxn id="7" idx="3"/>
              <a:endCxn id="31" idx="1"/>
            </p:cNvCxnSpPr>
            <p:nvPr/>
          </p:nvCxnSpPr>
          <p:spPr>
            <a:xfrm>
              <a:off x="2952639" y="2548631"/>
              <a:ext cx="695257" cy="87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>
              <a:stCxn id="31" idx="1"/>
              <a:endCxn id="8" idx="1"/>
            </p:cNvCxnSpPr>
            <p:nvPr/>
          </p:nvCxnSpPr>
          <p:spPr>
            <a:xfrm flipV="1">
              <a:off x="3647896" y="2019041"/>
              <a:ext cx="931942" cy="5304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312"/>
            <p:cNvSpPr>
              <a:spLocks noChangeArrowheads="1"/>
            </p:cNvSpPr>
            <p:nvPr/>
          </p:nvSpPr>
          <p:spPr bwMode="auto">
            <a:xfrm>
              <a:off x="952555" y="2086442"/>
              <a:ext cx="594752" cy="25775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b="1" dirty="0"/>
                <a:t>R1</a:t>
              </a:r>
            </a:p>
          </p:txBody>
        </p:sp>
        <p:sp>
          <p:nvSpPr>
            <p:cNvPr id="27" name="Rectangle 312"/>
            <p:cNvSpPr>
              <a:spLocks noChangeArrowheads="1"/>
            </p:cNvSpPr>
            <p:nvPr/>
          </p:nvSpPr>
          <p:spPr bwMode="auto">
            <a:xfrm>
              <a:off x="2383986" y="2086512"/>
              <a:ext cx="594752" cy="25775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b="1" dirty="0"/>
                <a:t>R2</a:t>
              </a:r>
            </a:p>
          </p:txBody>
        </p:sp>
        <p:sp>
          <p:nvSpPr>
            <p:cNvPr id="28" name="Rectangle 312"/>
            <p:cNvSpPr>
              <a:spLocks noChangeArrowheads="1"/>
            </p:cNvSpPr>
            <p:nvPr/>
          </p:nvSpPr>
          <p:spPr bwMode="auto">
            <a:xfrm>
              <a:off x="4553062" y="1544744"/>
              <a:ext cx="594752" cy="25775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b="1" dirty="0"/>
                <a:t>R3</a:t>
              </a:r>
            </a:p>
          </p:txBody>
        </p:sp>
        <p:sp>
          <p:nvSpPr>
            <p:cNvPr id="29" name="Rectangle 312"/>
            <p:cNvSpPr>
              <a:spLocks noChangeArrowheads="1"/>
            </p:cNvSpPr>
            <p:nvPr/>
          </p:nvSpPr>
          <p:spPr bwMode="auto">
            <a:xfrm>
              <a:off x="4544884" y="2667023"/>
              <a:ext cx="594752" cy="25775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b="1" dirty="0"/>
                <a:t>R4</a:t>
              </a:r>
            </a:p>
          </p:txBody>
        </p:sp>
        <p:sp>
          <p:nvSpPr>
            <p:cNvPr id="46" name="Rectangle 312"/>
            <p:cNvSpPr>
              <a:spLocks noChangeArrowheads="1"/>
            </p:cNvSpPr>
            <p:nvPr/>
          </p:nvSpPr>
          <p:spPr bwMode="auto">
            <a:xfrm>
              <a:off x="1343654" y="2301100"/>
              <a:ext cx="860870" cy="27707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sz="1200" dirty="0"/>
                <a:t>GE0/0/1</a:t>
              </a:r>
            </a:p>
          </p:txBody>
        </p:sp>
        <p:sp>
          <p:nvSpPr>
            <p:cNvPr id="47" name="Rectangle 312"/>
            <p:cNvSpPr>
              <a:spLocks noChangeArrowheads="1"/>
            </p:cNvSpPr>
            <p:nvPr/>
          </p:nvSpPr>
          <p:spPr bwMode="auto">
            <a:xfrm>
              <a:off x="1638329" y="2515758"/>
              <a:ext cx="860870" cy="27707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sz="1200" dirty="0"/>
                <a:t>GE0/0/1</a:t>
              </a:r>
            </a:p>
          </p:txBody>
        </p:sp>
        <p:sp>
          <p:nvSpPr>
            <p:cNvPr id="48" name="Rectangle 312"/>
            <p:cNvSpPr>
              <a:spLocks noChangeArrowheads="1"/>
            </p:cNvSpPr>
            <p:nvPr/>
          </p:nvSpPr>
          <p:spPr bwMode="auto">
            <a:xfrm>
              <a:off x="2799885" y="2301100"/>
              <a:ext cx="860870" cy="27707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sz="1200" dirty="0"/>
                <a:t>GE0/0/0</a:t>
              </a:r>
            </a:p>
          </p:txBody>
        </p:sp>
        <p:sp>
          <p:nvSpPr>
            <p:cNvPr id="49" name="Rectangle 312"/>
            <p:cNvSpPr>
              <a:spLocks noChangeArrowheads="1"/>
            </p:cNvSpPr>
            <p:nvPr/>
          </p:nvSpPr>
          <p:spPr bwMode="auto">
            <a:xfrm>
              <a:off x="3792328" y="1818722"/>
              <a:ext cx="860870" cy="27707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sz="1200" dirty="0"/>
                <a:t>GE0/0/1</a:t>
              </a:r>
            </a:p>
          </p:txBody>
        </p:sp>
        <p:sp>
          <p:nvSpPr>
            <p:cNvPr id="50" name="Rectangle 312"/>
            <p:cNvSpPr>
              <a:spLocks noChangeArrowheads="1"/>
            </p:cNvSpPr>
            <p:nvPr/>
          </p:nvSpPr>
          <p:spPr bwMode="auto">
            <a:xfrm>
              <a:off x="3792328" y="3058402"/>
              <a:ext cx="860870" cy="27707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sz="1200" dirty="0"/>
                <a:t>GE0/0/2</a:t>
              </a:r>
            </a:p>
          </p:txBody>
        </p:sp>
        <p:pic>
          <p:nvPicPr>
            <p:cNvPr id="54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auto">
            <a:xfrm>
              <a:off x="4579838" y="2892673"/>
              <a:ext cx="541201" cy="442800"/>
            </a:xfrm>
            <a:prstGeom prst="rect">
              <a:avLst/>
            </a:prstGeom>
            <a:noFill/>
          </p:spPr>
        </p:pic>
        <p:cxnSp>
          <p:nvCxnSpPr>
            <p:cNvPr id="55" name="直接连接符 54"/>
            <p:cNvCxnSpPr>
              <a:stCxn id="31" idx="1"/>
              <a:endCxn id="54" idx="1"/>
            </p:cNvCxnSpPr>
            <p:nvPr/>
          </p:nvCxnSpPr>
          <p:spPr>
            <a:xfrm>
              <a:off x="3647896" y="2549509"/>
              <a:ext cx="931942" cy="5645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图片 30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7896" y="2328109"/>
              <a:ext cx="540000" cy="442800"/>
            </a:xfrm>
            <a:prstGeom prst="rect">
              <a:avLst/>
            </a:prstGeom>
          </p:spPr>
        </p:pic>
      </p:grpSp>
      <p:sp>
        <p:nvSpPr>
          <p:cNvPr id="32" name="五边形 31"/>
          <p:cNvSpPr/>
          <p:nvPr/>
        </p:nvSpPr>
        <p:spPr bwMode="auto">
          <a:xfrm>
            <a:off x="8753159" y="92882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33" name="燕尾形 32"/>
          <p:cNvSpPr/>
          <p:nvPr/>
        </p:nvSpPr>
        <p:spPr bwMode="auto">
          <a:xfrm>
            <a:off x="9451802" y="92882"/>
            <a:ext cx="90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燕尾形 33"/>
          <p:cNvSpPr/>
          <p:nvPr/>
        </p:nvSpPr>
        <p:spPr bwMode="auto">
          <a:xfrm>
            <a:off x="10269245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5" name="燕尾形 34"/>
          <p:cNvSpPr/>
          <p:nvPr/>
        </p:nvSpPr>
        <p:spPr bwMode="auto">
          <a:xfrm>
            <a:off x="10967888" y="92882"/>
            <a:ext cx="7812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</p:spTree>
    <p:extLst>
      <p:ext uri="{BB962C8B-B14F-4D97-AF65-F5344CB8AC3E}">
        <p14:creationId xmlns:p14="http://schemas.microsoft.com/office/powerpoint/2010/main" val="29824263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Link-LSA</a:t>
            </a:r>
            <a:r>
              <a:rPr lang="zh-CN" altLang="en-US" dirty="0"/>
              <a:t>举例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4294967295"/>
          </p:nvPr>
        </p:nvSpPr>
        <p:spPr>
          <a:xfrm>
            <a:off x="6083344" y="1120276"/>
            <a:ext cx="5638800" cy="88262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查看</a:t>
            </a:r>
            <a:r>
              <a:rPr lang="en-US" altLang="zh-CN" sz="1800" dirty="0"/>
              <a:t>R2</a:t>
            </a:r>
            <a:r>
              <a:rPr lang="zh-CN" altLang="en-US" sz="1800" dirty="0"/>
              <a:t>的</a:t>
            </a:r>
            <a:r>
              <a:rPr lang="en-US" altLang="zh-CN" sz="1800" dirty="0"/>
              <a:t>Link State ID</a:t>
            </a:r>
            <a:r>
              <a:rPr lang="zh-CN" altLang="en-US" sz="1800" dirty="0"/>
              <a:t>为</a:t>
            </a:r>
            <a:r>
              <a:rPr lang="en-US" altLang="zh-CN" sz="1800" dirty="0"/>
              <a:t>0.0.0.5</a:t>
            </a:r>
            <a:r>
              <a:rPr lang="zh-CN" altLang="en-US" sz="1800" dirty="0"/>
              <a:t>的</a:t>
            </a:r>
            <a:r>
              <a:rPr lang="en-US" altLang="zh-CN" sz="1800" dirty="0"/>
              <a:t>Link-LSA</a:t>
            </a:r>
            <a:r>
              <a:rPr lang="zh-CN" altLang="en-US" sz="1800" dirty="0"/>
              <a:t>，输出信息如下所示。</a:t>
            </a:r>
          </a:p>
          <a:p>
            <a:endParaRPr lang="zh-CN" altLang="en-US" sz="1800" dirty="0"/>
          </a:p>
        </p:txBody>
      </p:sp>
      <p:sp>
        <p:nvSpPr>
          <p:cNvPr id="4" name="文本框 3"/>
          <p:cNvSpPr txBox="1"/>
          <p:nvPr/>
        </p:nvSpPr>
        <p:spPr>
          <a:xfrm>
            <a:off x="6088857" y="2036421"/>
            <a:ext cx="5639637" cy="39703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[R2]display ospfv3 </a:t>
            </a:r>
            <a:r>
              <a:rPr lang="en-US" altLang="zh-CN" sz="1200" dirty="0" err="1"/>
              <a:t>lsdb</a:t>
            </a:r>
            <a:r>
              <a:rPr lang="en-US" altLang="zh-CN" sz="1200" dirty="0"/>
              <a:t> </a:t>
            </a:r>
            <a:r>
              <a:rPr lang="en-US" altLang="zh-CN" sz="1200" dirty="0">
                <a:solidFill>
                  <a:srgbClr val="C7000B"/>
                </a:solidFill>
              </a:rPr>
              <a:t>link 0.0.0.5</a:t>
            </a:r>
          </a:p>
          <a:p>
            <a:endParaRPr lang="en-US" altLang="zh-CN" sz="1200" dirty="0"/>
          </a:p>
          <a:p>
            <a:r>
              <a:rPr lang="en-US" altLang="zh-CN" sz="1200" dirty="0"/>
              <a:t>           OSPFv3 Router with ID (10.1.2.2) (Process 1)</a:t>
            </a:r>
          </a:p>
          <a:p>
            <a:endParaRPr lang="en-US" altLang="zh-CN" sz="1200" dirty="0"/>
          </a:p>
          <a:p>
            <a:r>
              <a:rPr lang="en-US" altLang="zh-CN" sz="1200" dirty="0"/>
              <a:t>               Link-LSA (Interface GigabitEthernet0/0/0)</a:t>
            </a:r>
          </a:p>
          <a:p>
            <a:endParaRPr lang="en-US" altLang="zh-CN" sz="1200" dirty="0"/>
          </a:p>
          <a:p>
            <a:r>
              <a:rPr lang="en-US" altLang="zh-CN" sz="1200" dirty="0"/>
              <a:t>  LS Age: 446</a:t>
            </a:r>
          </a:p>
          <a:p>
            <a:r>
              <a:rPr lang="en-US" altLang="zh-CN" sz="1200" dirty="0"/>
              <a:t>  LS Type: Link-LSA</a:t>
            </a:r>
          </a:p>
          <a:p>
            <a:r>
              <a:rPr lang="en-US" altLang="zh-CN" sz="1200" dirty="0"/>
              <a:t>  Link State ID: 0.0.0.5 </a:t>
            </a:r>
          </a:p>
          <a:p>
            <a:r>
              <a:rPr lang="en-US" altLang="zh-CN" sz="1200" dirty="0"/>
              <a:t>  Originating Router: 10.1.4.4</a:t>
            </a:r>
          </a:p>
          <a:p>
            <a:r>
              <a:rPr lang="en-US" altLang="zh-CN" sz="1200" dirty="0"/>
              <a:t>  LS </a:t>
            </a:r>
            <a:r>
              <a:rPr lang="en-US" altLang="zh-CN" sz="1200" dirty="0" err="1"/>
              <a:t>Seq</a:t>
            </a:r>
            <a:r>
              <a:rPr lang="en-US" altLang="zh-CN" sz="1200" dirty="0"/>
              <a:t> Number: 0x80000002</a:t>
            </a:r>
          </a:p>
          <a:p>
            <a:r>
              <a:rPr lang="en-US" altLang="zh-CN" sz="1200" dirty="0"/>
              <a:t>  Retransmit Count: 0</a:t>
            </a:r>
          </a:p>
          <a:p>
            <a:r>
              <a:rPr lang="en-US" altLang="zh-CN" sz="1200" dirty="0"/>
              <a:t>  Checksum: 0xE2A3</a:t>
            </a:r>
          </a:p>
          <a:p>
            <a:r>
              <a:rPr lang="en-US" altLang="zh-CN" sz="1200" dirty="0"/>
              <a:t>  Length: 56</a:t>
            </a:r>
          </a:p>
          <a:p>
            <a:r>
              <a:rPr lang="en-US" altLang="zh-CN" sz="1200" dirty="0"/>
              <a:t>  Priority: 1</a:t>
            </a:r>
          </a:p>
          <a:p>
            <a:r>
              <a:rPr lang="en-US" altLang="zh-CN" sz="1200" dirty="0"/>
              <a:t>  Options: 0x000013 (-|R|-|-|E|V6)</a:t>
            </a:r>
          </a:p>
          <a:p>
            <a:r>
              <a:rPr lang="en-US" altLang="zh-CN" sz="1200" dirty="0">
                <a:solidFill>
                  <a:srgbClr val="C7000B"/>
                </a:solidFill>
              </a:rPr>
              <a:t>  Link-Local Address: FE80::2E0:FCFF:FEAC:6C5</a:t>
            </a:r>
          </a:p>
          <a:p>
            <a:r>
              <a:rPr lang="en-US" altLang="zh-CN" sz="1200" dirty="0"/>
              <a:t>  Number of Prefixes: 1</a:t>
            </a:r>
          </a:p>
          <a:p>
            <a:endParaRPr lang="en-US" altLang="zh-CN" sz="1200" dirty="0"/>
          </a:p>
          <a:p>
            <a:r>
              <a:rPr lang="en-US" altLang="zh-CN" sz="1200" dirty="0">
                <a:solidFill>
                  <a:srgbClr val="C7000B"/>
                </a:solidFill>
              </a:rPr>
              <a:t>   Prefix: 2001:DB8:2345:23::/64</a:t>
            </a:r>
          </a:p>
          <a:p>
            <a:r>
              <a:rPr lang="en-US" altLang="zh-CN" sz="1200" dirty="0"/>
              <a:t>    Prefix Options: 0 (-|-|-|-|-)</a:t>
            </a:r>
          </a:p>
        </p:txBody>
      </p:sp>
      <p:sp>
        <p:nvSpPr>
          <p:cNvPr id="25" name="矩形 24"/>
          <p:cNvSpPr/>
          <p:nvPr/>
        </p:nvSpPr>
        <p:spPr>
          <a:xfrm>
            <a:off x="9451802" y="4934098"/>
            <a:ext cx="1208043" cy="301994"/>
          </a:xfrm>
          <a:prstGeom prst="rect">
            <a:avLst/>
          </a:prstGeom>
          <a:solidFill>
            <a:srgbClr val="FEF5DA"/>
          </a:solidFill>
          <a:ln w="12700">
            <a:solidFill>
              <a:srgbClr val="FDE397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链路本地地址</a:t>
            </a:r>
          </a:p>
        </p:txBody>
      </p:sp>
      <p:sp>
        <p:nvSpPr>
          <p:cNvPr id="28" name="矩形 27"/>
          <p:cNvSpPr/>
          <p:nvPr/>
        </p:nvSpPr>
        <p:spPr bwMode="ltGray">
          <a:xfrm>
            <a:off x="6203274" y="4635350"/>
            <a:ext cx="5396052" cy="1337864"/>
          </a:xfrm>
          <a:prstGeom prst="rect">
            <a:avLst/>
          </a:prstGeom>
          <a:noFill/>
          <a:ln w="28575">
            <a:solidFill>
              <a:srgbClr val="C700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10504620" y="4326904"/>
            <a:ext cx="1094705" cy="301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C7000B"/>
                </a:solidFill>
              </a:rPr>
              <a:t>Type8 LSA</a:t>
            </a:r>
            <a:endParaRPr lang="zh-CN" altLang="en-US" sz="1400" b="1" dirty="0">
              <a:solidFill>
                <a:srgbClr val="C7000B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629787" y="5495107"/>
            <a:ext cx="2030058" cy="293955"/>
          </a:xfrm>
          <a:prstGeom prst="rect">
            <a:avLst/>
          </a:prstGeom>
          <a:solidFill>
            <a:srgbClr val="FEF5DA"/>
          </a:solidFill>
          <a:ln w="12700">
            <a:solidFill>
              <a:srgbClr val="FDE397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直连网段的</a:t>
            </a:r>
            <a:r>
              <a:rPr lang="en-US" altLang="zh-CN" sz="1400" dirty="0">
                <a:solidFill>
                  <a:schemeClr val="tx1"/>
                </a:solidFill>
              </a:rPr>
              <a:t>IPv6</a:t>
            </a:r>
            <a:r>
              <a:rPr lang="zh-CN" altLang="en-US" sz="1400" dirty="0">
                <a:solidFill>
                  <a:schemeClr val="tx1"/>
                </a:solidFill>
              </a:rPr>
              <a:t>地址前缀</a:t>
            </a:r>
          </a:p>
        </p:txBody>
      </p:sp>
      <p:sp>
        <p:nvSpPr>
          <p:cNvPr id="33" name="五边形 32"/>
          <p:cNvSpPr/>
          <p:nvPr/>
        </p:nvSpPr>
        <p:spPr bwMode="auto">
          <a:xfrm>
            <a:off x="8753159" y="92882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38" name="燕尾形 37"/>
          <p:cNvSpPr/>
          <p:nvPr/>
        </p:nvSpPr>
        <p:spPr bwMode="auto">
          <a:xfrm>
            <a:off x="9451802" y="92882"/>
            <a:ext cx="90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燕尾形 38"/>
          <p:cNvSpPr/>
          <p:nvPr/>
        </p:nvSpPr>
        <p:spPr bwMode="auto">
          <a:xfrm>
            <a:off x="10269245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燕尾形 39"/>
          <p:cNvSpPr/>
          <p:nvPr/>
        </p:nvSpPr>
        <p:spPr bwMode="auto">
          <a:xfrm>
            <a:off x="10967888" y="92882"/>
            <a:ext cx="7812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  <p:grpSp>
        <p:nvGrpSpPr>
          <p:cNvPr id="42" name="组合 41"/>
          <p:cNvGrpSpPr/>
          <p:nvPr/>
        </p:nvGrpSpPr>
        <p:grpSpPr>
          <a:xfrm>
            <a:off x="952555" y="1414115"/>
            <a:ext cx="4195259" cy="1790729"/>
            <a:chOff x="952555" y="1544744"/>
            <a:chExt cx="4195259" cy="1790729"/>
          </a:xfrm>
        </p:grpSpPr>
        <p:pic>
          <p:nvPicPr>
            <p:cNvPr id="43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auto">
            <a:xfrm>
              <a:off x="981306" y="2327231"/>
              <a:ext cx="541201" cy="442800"/>
            </a:xfrm>
            <a:prstGeom prst="rect">
              <a:avLst/>
            </a:prstGeom>
            <a:noFill/>
          </p:spPr>
        </p:pic>
        <p:pic>
          <p:nvPicPr>
            <p:cNvPr id="44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 bwMode="auto">
            <a:xfrm>
              <a:off x="2411438" y="2327231"/>
              <a:ext cx="541201" cy="442800"/>
            </a:xfrm>
            <a:prstGeom prst="rect">
              <a:avLst/>
            </a:prstGeom>
            <a:noFill/>
          </p:spPr>
        </p:pic>
        <p:pic>
          <p:nvPicPr>
            <p:cNvPr id="45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auto">
            <a:xfrm>
              <a:off x="4579838" y="1797641"/>
              <a:ext cx="541201" cy="442800"/>
            </a:xfrm>
            <a:prstGeom prst="rect">
              <a:avLst/>
            </a:prstGeom>
            <a:noFill/>
          </p:spPr>
        </p:pic>
        <p:cxnSp>
          <p:nvCxnSpPr>
            <p:cNvPr id="46" name="直接连接符 45"/>
            <p:cNvCxnSpPr>
              <a:stCxn id="43" idx="3"/>
              <a:endCxn id="44" idx="1"/>
            </p:cNvCxnSpPr>
            <p:nvPr/>
          </p:nvCxnSpPr>
          <p:spPr>
            <a:xfrm>
              <a:off x="1522507" y="2548631"/>
              <a:ext cx="8889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>
              <a:stCxn id="44" idx="3"/>
              <a:endCxn id="76" idx="1"/>
            </p:cNvCxnSpPr>
            <p:nvPr/>
          </p:nvCxnSpPr>
          <p:spPr>
            <a:xfrm>
              <a:off x="2952639" y="2548631"/>
              <a:ext cx="695257" cy="87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>
              <a:stCxn id="76" idx="1"/>
              <a:endCxn id="45" idx="1"/>
            </p:cNvCxnSpPr>
            <p:nvPr/>
          </p:nvCxnSpPr>
          <p:spPr>
            <a:xfrm flipV="1">
              <a:off x="3647896" y="2019041"/>
              <a:ext cx="931942" cy="5304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ectangle 312"/>
            <p:cNvSpPr>
              <a:spLocks noChangeArrowheads="1"/>
            </p:cNvSpPr>
            <p:nvPr/>
          </p:nvSpPr>
          <p:spPr bwMode="auto">
            <a:xfrm>
              <a:off x="952555" y="2086442"/>
              <a:ext cx="594752" cy="25775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b="1" dirty="0"/>
                <a:t>R1</a:t>
              </a:r>
            </a:p>
          </p:txBody>
        </p:sp>
        <p:sp>
          <p:nvSpPr>
            <p:cNvPr id="50" name="Rectangle 312"/>
            <p:cNvSpPr>
              <a:spLocks noChangeArrowheads="1"/>
            </p:cNvSpPr>
            <p:nvPr/>
          </p:nvSpPr>
          <p:spPr bwMode="auto">
            <a:xfrm>
              <a:off x="2383986" y="2086512"/>
              <a:ext cx="594752" cy="25775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b="1" dirty="0"/>
                <a:t>R2</a:t>
              </a:r>
            </a:p>
          </p:txBody>
        </p:sp>
        <p:sp>
          <p:nvSpPr>
            <p:cNvPr id="51" name="Rectangle 312"/>
            <p:cNvSpPr>
              <a:spLocks noChangeArrowheads="1"/>
            </p:cNvSpPr>
            <p:nvPr/>
          </p:nvSpPr>
          <p:spPr bwMode="auto">
            <a:xfrm>
              <a:off x="4553062" y="1544744"/>
              <a:ext cx="594752" cy="25775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b="1" dirty="0"/>
                <a:t>R3</a:t>
              </a:r>
            </a:p>
          </p:txBody>
        </p:sp>
        <p:sp>
          <p:nvSpPr>
            <p:cNvPr id="52" name="Rectangle 312"/>
            <p:cNvSpPr>
              <a:spLocks noChangeArrowheads="1"/>
            </p:cNvSpPr>
            <p:nvPr/>
          </p:nvSpPr>
          <p:spPr bwMode="auto">
            <a:xfrm>
              <a:off x="4544884" y="2667023"/>
              <a:ext cx="594752" cy="25775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b="1" dirty="0"/>
                <a:t>R4</a:t>
              </a:r>
            </a:p>
          </p:txBody>
        </p:sp>
        <p:sp>
          <p:nvSpPr>
            <p:cNvPr id="53" name="Rectangle 312"/>
            <p:cNvSpPr>
              <a:spLocks noChangeArrowheads="1"/>
            </p:cNvSpPr>
            <p:nvPr/>
          </p:nvSpPr>
          <p:spPr bwMode="auto">
            <a:xfrm>
              <a:off x="1343654" y="2301100"/>
              <a:ext cx="860870" cy="27707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sz="1200" dirty="0"/>
                <a:t>GE0/0/1</a:t>
              </a:r>
            </a:p>
          </p:txBody>
        </p:sp>
        <p:sp>
          <p:nvSpPr>
            <p:cNvPr id="54" name="Rectangle 312"/>
            <p:cNvSpPr>
              <a:spLocks noChangeArrowheads="1"/>
            </p:cNvSpPr>
            <p:nvPr/>
          </p:nvSpPr>
          <p:spPr bwMode="auto">
            <a:xfrm>
              <a:off x="1638329" y="2515758"/>
              <a:ext cx="860870" cy="27707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sz="1200" dirty="0"/>
                <a:t>GE0/0/1</a:t>
              </a:r>
            </a:p>
          </p:txBody>
        </p:sp>
        <p:sp>
          <p:nvSpPr>
            <p:cNvPr id="71" name="Rectangle 312"/>
            <p:cNvSpPr>
              <a:spLocks noChangeArrowheads="1"/>
            </p:cNvSpPr>
            <p:nvPr/>
          </p:nvSpPr>
          <p:spPr bwMode="auto">
            <a:xfrm>
              <a:off x="2799885" y="2301100"/>
              <a:ext cx="860870" cy="27707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sz="1200" dirty="0"/>
                <a:t>GE0/0/0</a:t>
              </a:r>
            </a:p>
          </p:txBody>
        </p:sp>
        <p:sp>
          <p:nvSpPr>
            <p:cNvPr id="72" name="Rectangle 312"/>
            <p:cNvSpPr>
              <a:spLocks noChangeArrowheads="1"/>
            </p:cNvSpPr>
            <p:nvPr/>
          </p:nvSpPr>
          <p:spPr bwMode="auto">
            <a:xfrm>
              <a:off x="3792328" y="1818722"/>
              <a:ext cx="860870" cy="27707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sz="1200" dirty="0"/>
                <a:t>GE0/0/1</a:t>
              </a:r>
            </a:p>
          </p:txBody>
        </p:sp>
        <p:sp>
          <p:nvSpPr>
            <p:cNvPr id="73" name="Rectangle 312"/>
            <p:cNvSpPr>
              <a:spLocks noChangeArrowheads="1"/>
            </p:cNvSpPr>
            <p:nvPr/>
          </p:nvSpPr>
          <p:spPr bwMode="auto">
            <a:xfrm>
              <a:off x="3792328" y="3058402"/>
              <a:ext cx="860870" cy="27707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sz="1200" dirty="0"/>
                <a:t>GE0/0/2</a:t>
              </a:r>
            </a:p>
          </p:txBody>
        </p:sp>
        <p:pic>
          <p:nvPicPr>
            <p:cNvPr id="74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auto">
            <a:xfrm>
              <a:off x="4579838" y="2892673"/>
              <a:ext cx="541201" cy="442800"/>
            </a:xfrm>
            <a:prstGeom prst="rect">
              <a:avLst/>
            </a:prstGeom>
            <a:noFill/>
          </p:spPr>
        </p:pic>
        <p:cxnSp>
          <p:nvCxnSpPr>
            <p:cNvPr id="75" name="直接连接符 74"/>
            <p:cNvCxnSpPr>
              <a:stCxn id="76" idx="1"/>
              <a:endCxn id="74" idx="1"/>
            </p:cNvCxnSpPr>
            <p:nvPr/>
          </p:nvCxnSpPr>
          <p:spPr>
            <a:xfrm>
              <a:off x="3647896" y="2549509"/>
              <a:ext cx="931942" cy="5645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6" name="图片 75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7896" y="2328109"/>
              <a:ext cx="540000" cy="442800"/>
            </a:xfrm>
            <a:prstGeom prst="rect">
              <a:avLst/>
            </a:prstGeom>
          </p:spPr>
        </p:pic>
      </p:grpSp>
      <p:graphicFrame>
        <p:nvGraphicFramePr>
          <p:cNvPr id="79" name="表格 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035193"/>
              </p:ext>
            </p:extLst>
          </p:nvPr>
        </p:nvGraphicFramePr>
        <p:xfrm>
          <a:off x="523017" y="3732706"/>
          <a:ext cx="5220000" cy="2225040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设备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Router ID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接口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接口地址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10.1.1.1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2001:DB8:2345:12::1/64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10.1.2.2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2001:DB8:2345:12::2/64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2001:DB8:2345:23::2/64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10.1.3.3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2001:DB8:2345:23::3/64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10.1.4.4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2001:DB8:2345:23::4/64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68496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Intra-Area-Prefix-LSA</a:t>
            </a:r>
            <a:r>
              <a:rPr lang="zh-CN" altLang="en-US" dirty="0"/>
              <a:t>举例</a:t>
            </a:r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4294967295"/>
          </p:nvPr>
        </p:nvSpPr>
        <p:spPr>
          <a:xfrm>
            <a:off x="6083344" y="1189943"/>
            <a:ext cx="5648325" cy="6731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查看</a:t>
            </a:r>
            <a:r>
              <a:rPr lang="en-US" altLang="zh-CN" sz="1800" dirty="0"/>
              <a:t>R2</a:t>
            </a:r>
            <a:r>
              <a:rPr lang="zh-CN" altLang="en-US" sz="1800" dirty="0"/>
              <a:t>的</a:t>
            </a:r>
            <a:r>
              <a:rPr lang="en-US" altLang="zh-CN" sz="1800" dirty="0"/>
              <a:t>Intra-Area-Prefix-LSA</a:t>
            </a:r>
            <a:r>
              <a:rPr lang="zh-CN" altLang="en-US" sz="1800" dirty="0"/>
              <a:t>，输出信息如下所示。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088852" y="1724216"/>
            <a:ext cx="5637601" cy="43396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[R2]display ospfv3 </a:t>
            </a:r>
            <a:r>
              <a:rPr lang="en-US" altLang="zh-CN" sz="1200" dirty="0" err="1"/>
              <a:t>lsdb</a:t>
            </a:r>
            <a:r>
              <a:rPr lang="en-US" altLang="zh-CN" sz="1200" dirty="0"/>
              <a:t> </a:t>
            </a:r>
            <a:r>
              <a:rPr lang="en-US" altLang="zh-CN" sz="1200" dirty="0">
                <a:solidFill>
                  <a:srgbClr val="C7000B"/>
                </a:solidFill>
              </a:rPr>
              <a:t>intra-prefix </a:t>
            </a:r>
          </a:p>
          <a:p>
            <a:endParaRPr lang="en-US" altLang="zh-CN" sz="1200" dirty="0"/>
          </a:p>
          <a:p>
            <a:r>
              <a:rPr lang="en-US" altLang="zh-CN" sz="1200" dirty="0"/>
              <a:t>           OSPFv3 Router with ID (10.1.2.2) (Process 1)</a:t>
            </a:r>
          </a:p>
          <a:p>
            <a:endParaRPr lang="en-US" altLang="zh-CN" sz="1200" dirty="0"/>
          </a:p>
          <a:p>
            <a:r>
              <a:rPr lang="en-US" altLang="zh-CN" sz="1200" dirty="0"/>
              <a:t>               Intra-Area-Prefix-LSA (Area 0.0.0.0)</a:t>
            </a:r>
          </a:p>
          <a:p>
            <a:r>
              <a:rPr lang="en-US" altLang="zh-CN" sz="1200" dirty="0"/>
              <a:t>……</a:t>
            </a:r>
          </a:p>
          <a:p>
            <a:endParaRPr lang="en-US" altLang="zh-CN" sz="1200" dirty="0"/>
          </a:p>
          <a:p>
            <a:r>
              <a:rPr lang="en-US" altLang="zh-CN" sz="1200" dirty="0"/>
              <a:t>  LS Age: 556</a:t>
            </a:r>
          </a:p>
          <a:p>
            <a:r>
              <a:rPr lang="en-US" altLang="zh-CN" sz="1200" dirty="0"/>
              <a:t>  LS Type: Intra-Area-Prefix-LSA</a:t>
            </a:r>
          </a:p>
          <a:p>
            <a:r>
              <a:rPr lang="en-US" altLang="zh-CN" sz="1200" dirty="0"/>
              <a:t>  Link State ID: 0.0.0.1 </a:t>
            </a:r>
          </a:p>
          <a:p>
            <a:r>
              <a:rPr lang="en-US" altLang="zh-CN" sz="1200" dirty="0"/>
              <a:t>  Originating Router: 10.1.4.4</a:t>
            </a:r>
          </a:p>
          <a:p>
            <a:r>
              <a:rPr lang="en-US" altLang="zh-CN" sz="1200" dirty="0"/>
              <a:t>  LS </a:t>
            </a:r>
            <a:r>
              <a:rPr lang="en-US" altLang="zh-CN" sz="1200" dirty="0" err="1"/>
              <a:t>Seq</a:t>
            </a:r>
            <a:r>
              <a:rPr lang="en-US" altLang="zh-CN" sz="1200" dirty="0"/>
              <a:t> Number: 0x80000003</a:t>
            </a:r>
          </a:p>
          <a:p>
            <a:r>
              <a:rPr lang="en-US" altLang="zh-CN" sz="1200" dirty="0"/>
              <a:t>  Retransmit Count: 0</a:t>
            </a:r>
          </a:p>
          <a:p>
            <a:r>
              <a:rPr lang="en-US" altLang="zh-CN" sz="1200" dirty="0"/>
              <a:t>  Checksum: 0xFC28</a:t>
            </a:r>
          </a:p>
          <a:p>
            <a:r>
              <a:rPr lang="en-US" altLang="zh-CN" sz="1200" dirty="0"/>
              <a:t>  Length: 44</a:t>
            </a:r>
          </a:p>
          <a:p>
            <a:r>
              <a:rPr lang="en-US" altLang="zh-CN" sz="1200" dirty="0"/>
              <a:t>  Number of Prefixes: 1</a:t>
            </a:r>
          </a:p>
          <a:p>
            <a:r>
              <a:rPr lang="en-US" altLang="zh-CN" sz="1200" dirty="0"/>
              <a:t>  </a:t>
            </a:r>
            <a:r>
              <a:rPr lang="en-US" altLang="zh-CN" sz="1200" dirty="0">
                <a:solidFill>
                  <a:srgbClr val="C7000B"/>
                </a:solidFill>
              </a:rPr>
              <a:t>Referenced LS Type: 0x2002</a:t>
            </a:r>
          </a:p>
          <a:p>
            <a:r>
              <a:rPr lang="en-US" altLang="zh-CN" sz="1200" dirty="0">
                <a:solidFill>
                  <a:srgbClr val="C7000B"/>
                </a:solidFill>
              </a:rPr>
              <a:t>  Referenced Link State ID: 0.0.0.5</a:t>
            </a:r>
          </a:p>
          <a:p>
            <a:r>
              <a:rPr lang="en-US" altLang="zh-CN" sz="1200" dirty="0">
                <a:solidFill>
                  <a:srgbClr val="C7000B"/>
                </a:solidFill>
              </a:rPr>
              <a:t>  Referenced Originating Router: 10.1.4.4</a:t>
            </a:r>
          </a:p>
          <a:p>
            <a:endParaRPr lang="en-US" altLang="zh-CN" sz="1200" dirty="0">
              <a:solidFill>
                <a:srgbClr val="C7000B"/>
              </a:solidFill>
            </a:endParaRPr>
          </a:p>
          <a:p>
            <a:r>
              <a:rPr lang="en-US" altLang="zh-CN" sz="1200" dirty="0">
                <a:solidFill>
                  <a:srgbClr val="C7000B"/>
                </a:solidFill>
              </a:rPr>
              <a:t>   Prefix: 2001:DB8:2345:23::/64</a:t>
            </a:r>
          </a:p>
          <a:p>
            <a:r>
              <a:rPr lang="en-US" altLang="zh-CN" sz="1200" dirty="0"/>
              <a:t>    Prefix Options: 0 (-|-|-|-|-)</a:t>
            </a:r>
          </a:p>
          <a:p>
            <a:r>
              <a:rPr lang="en-US" altLang="zh-CN" sz="1200" dirty="0"/>
              <a:t>      Metric: 0</a:t>
            </a:r>
          </a:p>
        </p:txBody>
      </p:sp>
      <p:sp>
        <p:nvSpPr>
          <p:cNvPr id="26" name="矩形 25"/>
          <p:cNvSpPr/>
          <p:nvPr/>
        </p:nvSpPr>
        <p:spPr>
          <a:xfrm>
            <a:off x="8509888" y="4593772"/>
            <a:ext cx="3089437" cy="288147"/>
          </a:xfrm>
          <a:prstGeom prst="rect">
            <a:avLst/>
          </a:prstGeom>
          <a:solidFill>
            <a:srgbClr val="FEF5DA"/>
          </a:solidFill>
          <a:ln w="12700">
            <a:solidFill>
              <a:srgbClr val="FDE397"/>
            </a:solidFill>
          </a:ln>
        </p:spPr>
        <p:txBody>
          <a:bodyPr wrap="square" lIns="36000" tIns="36000" rIns="36000" bIns="36000" rtlCol="0" anchor="ctr" anchorCtr="0">
            <a:spAutoFit/>
          </a:bodyPr>
          <a:lstStyle/>
          <a:p>
            <a:r>
              <a:rPr lang="zh-CN" altLang="en-US" sz="1400" dirty="0"/>
              <a:t>参考由</a:t>
            </a:r>
            <a:r>
              <a:rPr lang="en-US" altLang="zh-CN" sz="1400" dirty="0"/>
              <a:t>DR</a:t>
            </a:r>
            <a:r>
              <a:rPr lang="zh-CN" altLang="en-US" sz="1400" dirty="0"/>
              <a:t>（</a:t>
            </a:r>
            <a:r>
              <a:rPr lang="en-US" altLang="zh-CN" sz="1400" dirty="0"/>
              <a:t>R4</a:t>
            </a:r>
            <a:r>
              <a:rPr lang="zh-CN" altLang="en-US" sz="1400" dirty="0"/>
              <a:t>）产生的</a:t>
            </a:r>
            <a:r>
              <a:rPr lang="en-US" altLang="zh-CN" sz="1400" dirty="0"/>
              <a:t>Network-LSA</a:t>
            </a:r>
            <a:endParaRPr lang="zh-CN" altLang="en-US" sz="1400" dirty="0"/>
          </a:p>
        </p:txBody>
      </p:sp>
      <p:sp>
        <p:nvSpPr>
          <p:cNvPr id="31" name="矩形 30"/>
          <p:cNvSpPr/>
          <p:nvPr/>
        </p:nvSpPr>
        <p:spPr>
          <a:xfrm>
            <a:off x="10504620" y="4227256"/>
            <a:ext cx="1094705" cy="301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rgbClr val="C7000B"/>
                </a:solidFill>
              </a:rPr>
              <a:t>Type9 LSA</a:t>
            </a:r>
            <a:endParaRPr lang="zh-CN" altLang="en-US" sz="1400" b="1" dirty="0">
              <a:solidFill>
                <a:srgbClr val="C7000B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509888" y="5430025"/>
            <a:ext cx="3089437" cy="503590"/>
          </a:xfrm>
          <a:prstGeom prst="rect">
            <a:avLst/>
          </a:prstGeom>
          <a:solidFill>
            <a:srgbClr val="FEF5DA"/>
          </a:solidFill>
          <a:ln w="12700">
            <a:solidFill>
              <a:srgbClr val="FDE397"/>
            </a:solidFill>
          </a:ln>
        </p:spPr>
        <p:txBody>
          <a:bodyPr wrap="square" lIns="36000" tIns="36000" rIns="36000" bIns="36000" rtlCol="0" anchor="ctr" anchorCtr="0">
            <a:spAutoFit/>
          </a:bodyPr>
          <a:lstStyle/>
          <a:p>
            <a:r>
              <a:rPr lang="zh-CN" altLang="en-US" sz="1400" dirty="0"/>
              <a:t>由</a:t>
            </a:r>
            <a:r>
              <a:rPr lang="en-US" altLang="zh-CN" sz="1400" dirty="0"/>
              <a:t>DR</a:t>
            </a:r>
            <a:r>
              <a:rPr lang="zh-CN" altLang="en-US" sz="1400" dirty="0"/>
              <a:t>产生，路由器直接相连的传输网段的</a:t>
            </a:r>
            <a:r>
              <a:rPr lang="en-US" altLang="zh-CN" sz="1400" dirty="0"/>
              <a:t>IPv6</a:t>
            </a:r>
            <a:r>
              <a:rPr lang="zh-CN" altLang="en-US" sz="1400" dirty="0"/>
              <a:t>地址前缀</a:t>
            </a:r>
          </a:p>
        </p:txBody>
      </p:sp>
      <p:sp>
        <p:nvSpPr>
          <p:cNvPr id="54" name="五边形 53"/>
          <p:cNvSpPr/>
          <p:nvPr/>
        </p:nvSpPr>
        <p:spPr bwMode="auto">
          <a:xfrm>
            <a:off x="8753159" y="92882"/>
            <a:ext cx="781200" cy="213120"/>
          </a:xfrm>
          <a:prstGeom prst="homePlate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概述</a:t>
            </a:r>
          </a:p>
        </p:txBody>
      </p:sp>
      <p:sp>
        <p:nvSpPr>
          <p:cNvPr id="55" name="燕尾形 54"/>
          <p:cNvSpPr/>
          <p:nvPr/>
        </p:nvSpPr>
        <p:spPr bwMode="auto">
          <a:xfrm>
            <a:off x="9451802" y="92882"/>
            <a:ext cx="9000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6" name="燕尾形 55"/>
          <p:cNvSpPr/>
          <p:nvPr/>
        </p:nvSpPr>
        <p:spPr bwMode="auto">
          <a:xfrm>
            <a:off x="10269245" y="92882"/>
            <a:ext cx="781200" cy="213120"/>
          </a:xfrm>
          <a:prstGeom prst="chevron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zh-CN" altLang="en-US" sz="1200" kern="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</a:t>
            </a:r>
            <a:endParaRPr lang="en-US" altLang="zh-CN" sz="1200" kern="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燕尾形 56"/>
          <p:cNvSpPr/>
          <p:nvPr/>
        </p:nvSpPr>
        <p:spPr bwMode="auto">
          <a:xfrm>
            <a:off x="10967888" y="92882"/>
            <a:ext cx="781200" cy="213120"/>
          </a:xfrm>
          <a:prstGeom prst="chevron">
            <a:avLst/>
          </a:prstGeom>
          <a:solidFill>
            <a:srgbClr val="56C4D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fontAlgn="ctr"/>
            <a:r>
              <a:rPr lang="en-US" altLang="zh-CN" sz="1200" b="1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LSA</a:t>
            </a:r>
          </a:p>
        </p:txBody>
      </p:sp>
      <p:grpSp>
        <p:nvGrpSpPr>
          <p:cNvPr id="59" name="组合 58"/>
          <p:cNvGrpSpPr/>
          <p:nvPr/>
        </p:nvGrpSpPr>
        <p:grpSpPr>
          <a:xfrm>
            <a:off x="952555" y="1414115"/>
            <a:ext cx="4195259" cy="1790729"/>
            <a:chOff x="952555" y="1544744"/>
            <a:chExt cx="4195259" cy="1790729"/>
          </a:xfrm>
        </p:grpSpPr>
        <p:pic>
          <p:nvPicPr>
            <p:cNvPr id="60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auto">
            <a:xfrm>
              <a:off x="981306" y="2327231"/>
              <a:ext cx="541201" cy="442800"/>
            </a:xfrm>
            <a:prstGeom prst="rect">
              <a:avLst/>
            </a:prstGeom>
            <a:noFill/>
          </p:spPr>
        </p:pic>
        <p:pic>
          <p:nvPicPr>
            <p:cNvPr id="61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 bwMode="auto">
            <a:xfrm>
              <a:off x="2411438" y="2327231"/>
              <a:ext cx="541201" cy="442800"/>
            </a:xfrm>
            <a:prstGeom prst="rect">
              <a:avLst/>
            </a:prstGeom>
            <a:noFill/>
          </p:spPr>
        </p:pic>
        <p:pic>
          <p:nvPicPr>
            <p:cNvPr id="62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auto">
            <a:xfrm>
              <a:off x="4579838" y="1797641"/>
              <a:ext cx="541201" cy="442800"/>
            </a:xfrm>
            <a:prstGeom prst="rect">
              <a:avLst/>
            </a:prstGeom>
            <a:noFill/>
          </p:spPr>
        </p:pic>
        <p:cxnSp>
          <p:nvCxnSpPr>
            <p:cNvPr id="63" name="直接连接符 62"/>
            <p:cNvCxnSpPr>
              <a:stCxn id="60" idx="3"/>
              <a:endCxn id="61" idx="1"/>
            </p:cNvCxnSpPr>
            <p:nvPr/>
          </p:nvCxnSpPr>
          <p:spPr>
            <a:xfrm>
              <a:off x="1522507" y="2548631"/>
              <a:ext cx="8889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>
              <a:stCxn id="61" idx="3"/>
              <a:endCxn id="77" idx="1"/>
            </p:cNvCxnSpPr>
            <p:nvPr/>
          </p:nvCxnSpPr>
          <p:spPr>
            <a:xfrm>
              <a:off x="2952639" y="2548631"/>
              <a:ext cx="695257" cy="87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>
              <a:stCxn id="77" idx="1"/>
              <a:endCxn id="62" idx="1"/>
            </p:cNvCxnSpPr>
            <p:nvPr/>
          </p:nvCxnSpPr>
          <p:spPr>
            <a:xfrm flipV="1">
              <a:off x="3647896" y="2019041"/>
              <a:ext cx="931942" cy="5304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 312"/>
            <p:cNvSpPr>
              <a:spLocks noChangeArrowheads="1"/>
            </p:cNvSpPr>
            <p:nvPr/>
          </p:nvSpPr>
          <p:spPr bwMode="auto">
            <a:xfrm>
              <a:off x="952555" y="2086442"/>
              <a:ext cx="594752" cy="25775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b="1" dirty="0"/>
                <a:t>R1</a:t>
              </a:r>
            </a:p>
          </p:txBody>
        </p:sp>
        <p:sp>
          <p:nvSpPr>
            <p:cNvPr id="67" name="Rectangle 312"/>
            <p:cNvSpPr>
              <a:spLocks noChangeArrowheads="1"/>
            </p:cNvSpPr>
            <p:nvPr/>
          </p:nvSpPr>
          <p:spPr bwMode="auto">
            <a:xfrm>
              <a:off x="2383986" y="2086512"/>
              <a:ext cx="594752" cy="25775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b="1" dirty="0"/>
                <a:t>R2</a:t>
              </a:r>
            </a:p>
          </p:txBody>
        </p:sp>
        <p:sp>
          <p:nvSpPr>
            <p:cNvPr id="68" name="Rectangle 312"/>
            <p:cNvSpPr>
              <a:spLocks noChangeArrowheads="1"/>
            </p:cNvSpPr>
            <p:nvPr/>
          </p:nvSpPr>
          <p:spPr bwMode="auto">
            <a:xfrm>
              <a:off x="4553062" y="1544744"/>
              <a:ext cx="594752" cy="25775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b="1" dirty="0"/>
                <a:t>R3</a:t>
              </a:r>
            </a:p>
          </p:txBody>
        </p:sp>
        <p:sp>
          <p:nvSpPr>
            <p:cNvPr id="69" name="Rectangle 312"/>
            <p:cNvSpPr>
              <a:spLocks noChangeArrowheads="1"/>
            </p:cNvSpPr>
            <p:nvPr/>
          </p:nvSpPr>
          <p:spPr bwMode="auto">
            <a:xfrm>
              <a:off x="4544884" y="2667023"/>
              <a:ext cx="594752" cy="25775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b="1" dirty="0"/>
                <a:t>R4</a:t>
              </a:r>
            </a:p>
          </p:txBody>
        </p:sp>
        <p:sp>
          <p:nvSpPr>
            <p:cNvPr id="70" name="Rectangle 312"/>
            <p:cNvSpPr>
              <a:spLocks noChangeArrowheads="1"/>
            </p:cNvSpPr>
            <p:nvPr/>
          </p:nvSpPr>
          <p:spPr bwMode="auto">
            <a:xfrm>
              <a:off x="1343654" y="2301100"/>
              <a:ext cx="860870" cy="27707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sz="1200" dirty="0"/>
                <a:t>GE0/0/1</a:t>
              </a:r>
            </a:p>
          </p:txBody>
        </p:sp>
        <p:sp>
          <p:nvSpPr>
            <p:cNvPr id="71" name="Rectangle 312"/>
            <p:cNvSpPr>
              <a:spLocks noChangeArrowheads="1"/>
            </p:cNvSpPr>
            <p:nvPr/>
          </p:nvSpPr>
          <p:spPr bwMode="auto">
            <a:xfrm>
              <a:off x="1638329" y="2515758"/>
              <a:ext cx="860870" cy="27707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sz="1200" dirty="0"/>
                <a:t>GE0/0/1</a:t>
              </a:r>
            </a:p>
          </p:txBody>
        </p:sp>
        <p:sp>
          <p:nvSpPr>
            <p:cNvPr id="72" name="Rectangle 312"/>
            <p:cNvSpPr>
              <a:spLocks noChangeArrowheads="1"/>
            </p:cNvSpPr>
            <p:nvPr/>
          </p:nvSpPr>
          <p:spPr bwMode="auto">
            <a:xfrm>
              <a:off x="2799885" y="2301100"/>
              <a:ext cx="860870" cy="27707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sz="1200" dirty="0"/>
                <a:t>GE0/0/0</a:t>
              </a:r>
            </a:p>
          </p:txBody>
        </p:sp>
        <p:sp>
          <p:nvSpPr>
            <p:cNvPr id="73" name="Rectangle 312"/>
            <p:cNvSpPr>
              <a:spLocks noChangeArrowheads="1"/>
            </p:cNvSpPr>
            <p:nvPr/>
          </p:nvSpPr>
          <p:spPr bwMode="auto">
            <a:xfrm>
              <a:off x="3792328" y="1818722"/>
              <a:ext cx="860870" cy="27707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sz="1200" dirty="0"/>
                <a:t>GE0/0/1</a:t>
              </a:r>
            </a:p>
          </p:txBody>
        </p:sp>
        <p:sp>
          <p:nvSpPr>
            <p:cNvPr id="74" name="Rectangle 312"/>
            <p:cNvSpPr>
              <a:spLocks noChangeArrowheads="1"/>
            </p:cNvSpPr>
            <p:nvPr/>
          </p:nvSpPr>
          <p:spPr bwMode="auto">
            <a:xfrm>
              <a:off x="3792328" y="3058402"/>
              <a:ext cx="860870" cy="27707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zh-CN" sz="1200" dirty="0"/>
                <a:t>GE0/0/2</a:t>
              </a:r>
            </a:p>
          </p:txBody>
        </p:sp>
        <p:pic>
          <p:nvPicPr>
            <p:cNvPr id="75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auto">
            <a:xfrm>
              <a:off x="4579838" y="2892673"/>
              <a:ext cx="541201" cy="442800"/>
            </a:xfrm>
            <a:prstGeom prst="rect">
              <a:avLst/>
            </a:prstGeom>
            <a:noFill/>
          </p:spPr>
        </p:pic>
        <p:cxnSp>
          <p:nvCxnSpPr>
            <p:cNvPr id="76" name="直接连接符 75"/>
            <p:cNvCxnSpPr>
              <a:stCxn id="77" idx="1"/>
              <a:endCxn id="75" idx="1"/>
            </p:cNvCxnSpPr>
            <p:nvPr/>
          </p:nvCxnSpPr>
          <p:spPr>
            <a:xfrm>
              <a:off x="3647896" y="2549509"/>
              <a:ext cx="931942" cy="5645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7" name="图片 76"/>
            <p:cNvPicPr>
              <a:picLocks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47896" y="2328109"/>
              <a:ext cx="540000" cy="442800"/>
            </a:xfrm>
            <a:prstGeom prst="rect">
              <a:avLst/>
            </a:prstGeom>
          </p:spPr>
        </p:pic>
      </p:grpSp>
      <p:graphicFrame>
        <p:nvGraphicFramePr>
          <p:cNvPr id="78" name="表格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035193"/>
              </p:ext>
            </p:extLst>
          </p:nvPr>
        </p:nvGraphicFramePr>
        <p:xfrm>
          <a:off x="523017" y="3732706"/>
          <a:ext cx="5220000" cy="2225040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设备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Router ID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接口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接口地址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10.1.1.1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2001:DB8:2345:12::1/64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10.1.2.2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2001:DB8:2345:12::2/64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2001:DB8:2345:23::2/64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10.1.3.3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2001:DB8:2345:23::3/64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10.1.4.4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2001:DB8:2345:23::4/64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矩形 28"/>
          <p:cNvSpPr/>
          <p:nvPr/>
        </p:nvSpPr>
        <p:spPr bwMode="ltGray">
          <a:xfrm>
            <a:off x="6203274" y="4529250"/>
            <a:ext cx="5396052" cy="1464462"/>
          </a:xfrm>
          <a:prstGeom prst="rect">
            <a:avLst/>
          </a:prstGeom>
          <a:noFill/>
          <a:ln w="28575">
            <a:solidFill>
              <a:srgbClr val="C700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3929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静态路由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b="1" dirty="0"/>
              <a:t>OSPFv3</a:t>
            </a:r>
            <a:r>
              <a:rPr lang="zh-CN" altLang="en-US" b="1" dirty="0"/>
              <a:t>原理与配置</a:t>
            </a:r>
            <a:endParaRPr lang="en-US" altLang="zh-CN" b="1" dirty="0"/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OSPFv3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的基本工作原理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pPr lvl="1">
              <a:buSzPct val="60000"/>
              <a:buFont typeface="Wingdings" panose="05000000000000000000" pitchFamily="2" charset="2"/>
              <a:buChar char="n"/>
            </a:pPr>
            <a:r>
              <a:rPr lang="en-US" altLang="zh-CN" dirty="0"/>
              <a:t>OSPFv3</a:t>
            </a:r>
            <a:r>
              <a:rPr lang="zh-CN" altLang="en-US" dirty="0"/>
              <a:t>的基本配置</a:t>
            </a:r>
            <a:endParaRPr lang="en-US" altLang="zh-CN" dirty="0"/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IS-IS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（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）原理与配置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BGP4+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43704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OSPFv3</a:t>
            </a:r>
            <a:r>
              <a:rPr lang="zh-CN" altLang="en-US" dirty="0"/>
              <a:t>的基础配置命令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31917" y="1492654"/>
            <a:ext cx="106086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cs typeface="Courier New" panose="02070309020205020404" pitchFamily="49" charset="0"/>
              </a:rPr>
              <a:t>[Huawei] </a:t>
            </a:r>
            <a:r>
              <a:rPr lang="en-US" altLang="zh-CN" sz="1600" b="1" dirty="0">
                <a:cs typeface="Courier New" panose="02070309020205020404" pitchFamily="49" charset="0"/>
              </a:rPr>
              <a:t>ospfv3 </a:t>
            </a:r>
            <a:r>
              <a:rPr lang="en-US" altLang="zh-CN" sz="1600" dirty="0">
                <a:cs typeface="Courier New" panose="02070309020205020404" pitchFamily="49" charset="0"/>
              </a:rPr>
              <a:t>[ </a:t>
            </a:r>
            <a:r>
              <a:rPr lang="en-US" altLang="zh-CN" sz="1600" i="1" dirty="0">
                <a:cs typeface="Courier New" panose="02070309020205020404" pitchFamily="49" charset="0"/>
              </a:rPr>
              <a:t>process-id </a:t>
            </a:r>
            <a:r>
              <a:rPr lang="en-US" altLang="zh-CN" sz="1600" dirty="0">
                <a:cs typeface="Courier New" panose="02070309020205020404" pitchFamily="49" charset="0"/>
              </a:rPr>
              <a:t>] [ </a:t>
            </a:r>
            <a:r>
              <a:rPr lang="en-US" altLang="zh-CN" sz="1600" b="1" dirty="0" err="1">
                <a:cs typeface="Courier New" panose="02070309020205020404" pitchFamily="49" charset="0"/>
              </a:rPr>
              <a:t>vpn</a:t>
            </a:r>
            <a:r>
              <a:rPr lang="en-US" altLang="zh-CN" sz="1600" b="1" dirty="0">
                <a:cs typeface="Courier New" panose="02070309020205020404" pitchFamily="49" charset="0"/>
              </a:rPr>
              <a:t>-instance</a:t>
            </a:r>
            <a:r>
              <a:rPr lang="en-US" altLang="zh-CN" sz="1600" dirty="0">
                <a:cs typeface="Courier New" panose="02070309020205020404" pitchFamily="49" charset="0"/>
              </a:rPr>
              <a:t> </a:t>
            </a:r>
            <a:r>
              <a:rPr lang="en-US" altLang="zh-CN" sz="1600" i="1" dirty="0" err="1">
                <a:cs typeface="Courier New" panose="02070309020205020404" pitchFamily="49" charset="0"/>
              </a:rPr>
              <a:t>vpn</a:t>
            </a:r>
            <a:r>
              <a:rPr lang="en-US" altLang="zh-CN" sz="1600" i="1" dirty="0">
                <a:cs typeface="Courier New" panose="02070309020205020404" pitchFamily="49" charset="0"/>
              </a:rPr>
              <a:t>-instance-name </a:t>
            </a:r>
            <a:r>
              <a:rPr lang="en-US" altLang="zh-CN" sz="1600" dirty="0">
                <a:cs typeface="Courier New" panose="02070309020205020404" pitchFamily="49" charset="0"/>
              </a:rPr>
              <a:t>]</a:t>
            </a:r>
            <a:endParaRPr lang="zh-CN" altLang="en-US" sz="1600" dirty="0">
              <a:cs typeface="Courier New" panose="020703090202050204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1384" y="1060507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/>
            </a:pPr>
            <a:r>
              <a:rPr lang="zh-CN" altLang="en-US" sz="1600" dirty="0">
                <a:cs typeface="Courier New" panose="02070309020205020404" pitchFamily="49" charset="0"/>
              </a:rPr>
              <a:t>启动</a:t>
            </a:r>
            <a:r>
              <a:rPr lang="en-US" altLang="zh-CN" sz="1600" dirty="0">
                <a:cs typeface="Courier New" panose="02070309020205020404" pitchFamily="49" charset="0"/>
              </a:rPr>
              <a:t>OSPFv3</a:t>
            </a:r>
            <a:r>
              <a:rPr lang="zh-CN" altLang="en-US" sz="1600" dirty="0">
                <a:cs typeface="Courier New" panose="02070309020205020404" pitchFamily="49" charset="0"/>
              </a:rPr>
              <a:t>。</a:t>
            </a:r>
          </a:p>
        </p:txBody>
      </p:sp>
      <p:sp>
        <p:nvSpPr>
          <p:cNvPr id="6" name="矩形 5"/>
          <p:cNvSpPr/>
          <p:nvPr/>
        </p:nvSpPr>
        <p:spPr>
          <a:xfrm>
            <a:off x="1031917" y="1845289"/>
            <a:ext cx="10608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600" dirty="0">
                <a:cs typeface="Courier New" panose="02070309020205020404" pitchFamily="49" charset="0"/>
              </a:rPr>
              <a:t>创建并运行</a:t>
            </a:r>
            <a:r>
              <a:rPr lang="en-US" altLang="zh-CN" sz="1600" dirty="0">
                <a:cs typeface="Courier New" panose="02070309020205020404" pitchFamily="49" charset="0"/>
              </a:rPr>
              <a:t>OSPFv3</a:t>
            </a:r>
            <a:r>
              <a:rPr lang="zh-CN" altLang="en-US" sz="1600" dirty="0">
                <a:cs typeface="Courier New" panose="02070309020205020404" pitchFamily="49" charset="0"/>
              </a:rPr>
              <a:t>进程，同时可以将创建的</a:t>
            </a:r>
            <a:r>
              <a:rPr lang="en-US" altLang="zh-CN" sz="1600" dirty="0">
                <a:cs typeface="Courier New" panose="02070309020205020404" pitchFamily="49" charset="0"/>
              </a:rPr>
              <a:t>OSPFv3</a:t>
            </a:r>
            <a:r>
              <a:rPr lang="zh-CN" altLang="en-US" sz="1600" dirty="0">
                <a:cs typeface="Courier New" panose="02070309020205020404" pitchFamily="49" charset="0"/>
              </a:rPr>
              <a:t>进程与</a:t>
            </a:r>
            <a:r>
              <a:rPr lang="en-US" altLang="zh-CN" sz="1600" dirty="0">
                <a:cs typeface="Courier New" panose="02070309020205020404" pitchFamily="49" charset="0"/>
              </a:rPr>
              <a:t>VPN</a:t>
            </a:r>
            <a:r>
              <a:rPr lang="zh-CN" altLang="en-US" sz="1600" dirty="0">
                <a:cs typeface="Courier New" panose="02070309020205020404" pitchFamily="49" charset="0"/>
              </a:rPr>
              <a:t>实例进行绑定（可选）。</a:t>
            </a:r>
          </a:p>
        </p:txBody>
      </p:sp>
      <p:sp>
        <p:nvSpPr>
          <p:cNvPr id="7" name="矩形 6"/>
          <p:cNvSpPr/>
          <p:nvPr/>
        </p:nvSpPr>
        <p:spPr>
          <a:xfrm>
            <a:off x="1031917" y="2406038"/>
            <a:ext cx="106086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cs typeface="Courier New" panose="02070309020205020404" pitchFamily="49" charset="0"/>
              </a:rPr>
              <a:t>[Huawei-ospfv3-1] </a:t>
            </a:r>
            <a:r>
              <a:rPr lang="en-US" altLang="zh-CN" sz="1600" b="1" dirty="0"/>
              <a:t>router-id</a:t>
            </a:r>
            <a:r>
              <a:rPr lang="en-US" altLang="zh-CN" sz="1600" dirty="0"/>
              <a:t> </a:t>
            </a:r>
            <a:r>
              <a:rPr lang="en-US" altLang="zh-CN" sz="1600" i="1" dirty="0" err="1"/>
              <a:t>router-id</a:t>
            </a:r>
            <a:endParaRPr lang="zh-CN" altLang="en-US" sz="1600" dirty="0">
              <a:cs typeface="Courier New" panose="020703090202050204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31917" y="2758673"/>
            <a:ext cx="106086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600" dirty="0">
                <a:cs typeface="Courier New" panose="02070309020205020404" pitchFamily="49" charset="0"/>
              </a:rPr>
              <a:t>配置设备在该</a:t>
            </a:r>
            <a:r>
              <a:rPr lang="en-US" altLang="zh-CN" sz="1600" dirty="0">
                <a:cs typeface="Courier New" panose="02070309020205020404" pitchFamily="49" charset="0"/>
              </a:rPr>
              <a:t>OSPFv3</a:t>
            </a:r>
            <a:r>
              <a:rPr lang="zh-CN" altLang="en-US" sz="1600" dirty="0">
                <a:cs typeface="Courier New" panose="02070309020205020404" pitchFamily="49" charset="0"/>
              </a:rPr>
              <a:t>进程中所使用的</a:t>
            </a:r>
            <a:r>
              <a:rPr lang="en-US" altLang="zh-CN" sz="1600" dirty="0">
                <a:cs typeface="Courier New" panose="02070309020205020404" pitchFamily="49" charset="0"/>
              </a:rPr>
              <a:t>Router ID</a:t>
            </a:r>
            <a:r>
              <a:rPr lang="zh-CN" altLang="en-US" sz="1600" dirty="0">
                <a:cs typeface="Courier New" panose="02070309020205020404" pitchFamily="49" charset="0"/>
              </a:rPr>
              <a:t>。</a:t>
            </a:r>
            <a:endParaRPr lang="en-US" altLang="zh-CN" sz="1600" dirty="0">
              <a:cs typeface="Courier New" panose="02070309020205020404" pitchFamily="49" charset="0"/>
            </a:endParaRPr>
          </a:p>
          <a:p>
            <a:pPr fontAlgn="auto">
              <a:lnSpc>
                <a:spcPts val="2400"/>
              </a:lnSpc>
            </a:pPr>
            <a:r>
              <a:rPr lang="zh-CN" altLang="en-US" sz="1600" dirty="0">
                <a:cs typeface="Courier New" panose="02070309020205020404" pitchFamily="49" charset="0"/>
              </a:rPr>
              <a:t>注意：如果用户没有指定</a:t>
            </a:r>
            <a:r>
              <a:rPr lang="en-US" altLang="zh-CN" sz="1600" dirty="0">
                <a:cs typeface="Courier New" panose="02070309020205020404" pitchFamily="49" charset="0"/>
              </a:rPr>
              <a:t>Router ID</a:t>
            </a:r>
            <a:r>
              <a:rPr lang="zh-CN" altLang="en-US" sz="1600" dirty="0">
                <a:cs typeface="Courier New" panose="02070309020205020404" pitchFamily="49" charset="0"/>
              </a:rPr>
              <a:t>，则</a:t>
            </a:r>
            <a:r>
              <a:rPr lang="en-US" altLang="zh-CN" sz="1600" dirty="0">
                <a:cs typeface="Courier New" panose="02070309020205020404" pitchFamily="49" charset="0"/>
              </a:rPr>
              <a:t>OSPFv3</a:t>
            </a:r>
            <a:r>
              <a:rPr lang="zh-CN" altLang="en-US" sz="1600" dirty="0">
                <a:cs typeface="Courier New" panose="02070309020205020404" pitchFamily="49" charset="0"/>
              </a:rPr>
              <a:t>进程无法运行。</a:t>
            </a:r>
          </a:p>
        </p:txBody>
      </p:sp>
      <p:sp>
        <p:nvSpPr>
          <p:cNvPr id="9" name="矩形 8"/>
          <p:cNvSpPr/>
          <p:nvPr/>
        </p:nvSpPr>
        <p:spPr>
          <a:xfrm>
            <a:off x="1031917" y="4271455"/>
            <a:ext cx="106086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cs typeface="Courier New" panose="02070309020205020404" pitchFamily="49" charset="0"/>
              </a:rPr>
              <a:t>[Huawei-GigabitEthernet0/0/1] </a:t>
            </a:r>
            <a:r>
              <a:rPr lang="en-US" altLang="zh-CN" sz="1600" b="1" dirty="0"/>
              <a:t>ospfv3</a:t>
            </a:r>
            <a:r>
              <a:rPr lang="en-US" altLang="zh-CN" sz="1600" dirty="0"/>
              <a:t> </a:t>
            </a:r>
            <a:r>
              <a:rPr lang="en-US" altLang="zh-CN" sz="1600" i="1" dirty="0"/>
              <a:t>process-id</a:t>
            </a:r>
            <a:r>
              <a:rPr lang="en-US" altLang="zh-CN" sz="1600" dirty="0"/>
              <a:t> </a:t>
            </a:r>
            <a:r>
              <a:rPr lang="en-US" altLang="zh-CN" sz="1600" b="1" dirty="0"/>
              <a:t>area</a:t>
            </a:r>
            <a:r>
              <a:rPr lang="en-US" altLang="zh-CN" sz="1600" dirty="0"/>
              <a:t> </a:t>
            </a:r>
            <a:r>
              <a:rPr lang="en-US" altLang="zh-CN" sz="1600" i="1" dirty="0"/>
              <a:t>area-id</a:t>
            </a:r>
            <a:r>
              <a:rPr lang="en-US" altLang="zh-CN" sz="1600" dirty="0"/>
              <a:t> [ </a:t>
            </a:r>
            <a:r>
              <a:rPr lang="en-US" altLang="zh-CN" sz="1600" b="1" dirty="0"/>
              <a:t>instance</a:t>
            </a:r>
            <a:r>
              <a:rPr lang="en-US" altLang="zh-CN" sz="1600" dirty="0"/>
              <a:t> </a:t>
            </a:r>
            <a:r>
              <a:rPr lang="en-US" altLang="zh-CN" sz="1600" i="1" dirty="0"/>
              <a:t>instance-id</a:t>
            </a:r>
            <a:r>
              <a:rPr lang="en-US" altLang="zh-CN" sz="1600" dirty="0"/>
              <a:t> ]</a:t>
            </a:r>
            <a:endParaRPr lang="zh-CN" altLang="en-US" sz="1600" dirty="0"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51384" y="3839308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2"/>
            </a:pPr>
            <a:r>
              <a:rPr lang="zh-CN" altLang="en-US" sz="1600" dirty="0">
                <a:cs typeface="Courier New" panose="02070309020205020404" pitchFamily="49" charset="0"/>
              </a:rPr>
              <a:t>在接口上使能</a:t>
            </a:r>
            <a:r>
              <a:rPr lang="en-US" altLang="zh-CN" sz="1600" dirty="0">
                <a:cs typeface="Courier New" panose="02070309020205020404" pitchFamily="49" charset="0"/>
              </a:rPr>
              <a:t>OSPFv3</a:t>
            </a:r>
            <a:r>
              <a:rPr lang="zh-CN" altLang="en-US" sz="1600" dirty="0">
                <a:cs typeface="Courier New" panose="02070309020205020404" pitchFamily="49" charset="0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031917" y="4624090"/>
            <a:ext cx="106086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600" dirty="0">
                <a:cs typeface="Courier New" panose="02070309020205020404" pitchFamily="49" charset="0"/>
              </a:rPr>
              <a:t>在接口上使能</a:t>
            </a:r>
            <a:r>
              <a:rPr lang="en-US" altLang="zh-CN" sz="1600" dirty="0">
                <a:cs typeface="Courier New" panose="02070309020205020404" pitchFamily="49" charset="0"/>
              </a:rPr>
              <a:t>OSPFv3</a:t>
            </a:r>
            <a:r>
              <a:rPr lang="zh-CN" altLang="en-US" sz="1600" dirty="0">
                <a:cs typeface="Courier New" panose="02070309020205020404" pitchFamily="49" charset="0"/>
              </a:rPr>
              <a:t>的进程，并指定所属区域，也可以指定接口所属的</a:t>
            </a:r>
            <a:r>
              <a:rPr lang="en-US" altLang="zh-CN" sz="1600" dirty="0">
                <a:cs typeface="Courier New" panose="02070309020205020404" pitchFamily="49" charset="0"/>
              </a:rPr>
              <a:t>VPN</a:t>
            </a:r>
            <a:r>
              <a:rPr lang="zh-CN" altLang="en-US" sz="1600" dirty="0">
                <a:cs typeface="Courier New" panose="02070309020205020404" pitchFamily="49" charset="0"/>
              </a:rPr>
              <a:t>实例</a:t>
            </a:r>
            <a:r>
              <a:rPr lang="en-US" altLang="zh-CN" sz="1600" dirty="0">
                <a:cs typeface="Courier New" panose="02070309020205020404" pitchFamily="49" charset="0"/>
              </a:rPr>
              <a:t>ID</a:t>
            </a:r>
            <a:r>
              <a:rPr lang="zh-CN" altLang="en-US" sz="1600" dirty="0">
                <a:cs typeface="Courier New" panose="02070309020205020404" pitchFamily="49" charset="0"/>
              </a:rPr>
              <a:t>。</a:t>
            </a:r>
            <a:endParaRPr lang="en-US" altLang="zh-CN" sz="1600" dirty="0">
              <a:cs typeface="Courier New" panose="02070309020205020404" pitchFamily="49" charset="0"/>
            </a:endParaRPr>
          </a:p>
          <a:p>
            <a:pPr fontAlgn="auto">
              <a:lnSpc>
                <a:spcPts val="2400"/>
              </a:lnSpc>
            </a:pPr>
            <a:r>
              <a:rPr lang="zh-CN" altLang="en-US" sz="1600" dirty="0">
                <a:cs typeface="Courier New" panose="02070309020205020404" pitchFamily="49" charset="0"/>
              </a:rPr>
              <a:t>注意：配置此命令前，必须先创建</a:t>
            </a:r>
            <a:r>
              <a:rPr lang="en-US" altLang="zh-CN" sz="1600" dirty="0">
                <a:cs typeface="Courier New" panose="02070309020205020404" pitchFamily="49" charset="0"/>
              </a:rPr>
              <a:t>OSPFv3</a:t>
            </a:r>
            <a:r>
              <a:rPr lang="zh-CN" altLang="en-US" sz="1600" dirty="0">
                <a:cs typeface="Courier New" panose="02070309020205020404" pitchFamily="49" charset="0"/>
              </a:rPr>
              <a:t>进程和使能</a:t>
            </a:r>
            <a:r>
              <a:rPr lang="en-US" altLang="zh-CN" sz="1600" dirty="0">
                <a:cs typeface="Courier New" panose="02070309020205020404" pitchFamily="49" charset="0"/>
              </a:rPr>
              <a:t>IPv6</a:t>
            </a:r>
            <a:r>
              <a:rPr lang="zh-CN" altLang="en-US" sz="1600" dirty="0">
                <a:cs typeface="Courier New" panose="02070309020205020404" pitchFamily="49" charset="0"/>
              </a:rPr>
              <a:t>功能。</a:t>
            </a:r>
          </a:p>
        </p:txBody>
      </p:sp>
    </p:spTree>
    <p:extLst>
      <p:ext uri="{BB962C8B-B14F-4D97-AF65-F5344CB8AC3E}">
        <p14:creationId xmlns:p14="http://schemas.microsoft.com/office/powerpoint/2010/main" val="26156068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OSPFv3</a:t>
            </a:r>
            <a:r>
              <a:rPr lang="zh-CN" altLang="en-US" dirty="0"/>
              <a:t>的基础配置命令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31917" y="1492658"/>
            <a:ext cx="10608699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cs typeface="Courier New" panose="02070309020205020404" pitchFamily="49" charset="0"/>
              </a:rPr>
              <a:t>[Huawei-GigabitEthernet0/0/1] </a:t>
            </a:r>
            <a:r>
              <a:rPr lang="en-US" altLang="zh-CN" sz="1600" b="1" dirty="0"/>
              <a:t>ospfv3</a:t>
            </a:r>
            <a:r>
              <a:rPr lang="en-US" altLang="zh-CN" sz="1600" dirty="0"/>
              <a:t> </a:t>
            </a:r>
            <a:r>
              <a:rPr lang="en-US" altLang="zh-CN" sz="1600" b="1" dirty="0"/>
              <a:t>network-type</a:t>
            </a:r>
            <a:r>
              <a:rPr lang="en-US" altLang="zh-CN" sz="1600" dirty="0"/>
              <a:t> { </a:t>
            </a:r>
            <a:r>
              <a:rPr lang="en-US" altLang="zh-CN" sz="1600" b="1" dirty="0"/>
              <a:t>broadcast</a:t>
            </a:r>
            <a:r>
              <a:rPr lang="en-US" altLang="zh-CN" sz="1600" dirty="0"/>
              <a:t> | </a:t>
            </a:r>
            <a:r>
              <a:rPr lang="en-US" altLang="zh-CN" sz="1600" b="1" dirty="0" err="1"/>
              <a:t>nbma</a:t>
            </a:r>
            <a:r>
              <a:rPr lang="en-US" altLang="zh-CN" sz="1600" dirty="0"/>
              <a:t> | </a:t>
            </a:r>
            <a:r>
              <a:rPr lang="en-US" altLang="zh-CN" sz="1600" b="1" dirty="0"/>
              <a:t>p2mp</a:t>
            </a:r>
            <a:r>
              <a:rPr lang="en-US" altLang="zh-CN" sz="1600" dirty="0"/>
              <a:t> [ </a:t>
            </a:r>
            <a:r>
              <a:rPr lang="en-US" altLang="zh-CN" sz="1600" b="1" dirty="0"/>
              <a:t>non-broadcast</a:t>
            </a:r>
            <a:r>
              <a:rPr lang="en-US" altLang="zh-CN" sz="1600" dirty="0"/>
              <a:t> ] | </a:t>
            </a:r>
            <a:r>
              <a:rPr lang="en-US" altLang="zh-CN" sz="1600" b="1" dirty="0"/>
              <a:t>p2p</a:t>
            </a:r>
            <a:r>
              <a:rPr lang="en-US" altLang="zh-CN" sz="1600" dirty="0"/>
              <a:t> } [ </a:t>
            </a:r>
            <a:r>
              <a:rPr lang="en-US" altLang="zh-CN" sz="1600" b="1" dirty="0"/>
              <a:t>instance</a:t>
            </a:r>
            <a:r>
              <a:rPr lang="en-US" altLang="zh-CN" sz="1600" dirty="0"/>
              <a:t> </a:t>
            </a:r>
            <a:r>
              <a:rPr lang="en-US" altLang="zh-CN" sz="1600" i="1" dirty="0"/>
              <a:t>instance-id</a:t>
            </a:r>
            <a:r>
              <a:rPr lang="en-US" altLang="zh-CN" sz="1600" dirty="0"/>
              <a:t> ]</a:t>
            </a:r>
            <a:endParaRPr lang="zh-CN" altLang="en-US" sz="1600" dirty="0">
              <a:cs typeface="Courier New" panose="020703090202050204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1384" y="1060511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3"/>
            </a:pPr>
            <a:r>
              <a:rPr lang="zh-CN" altLang="en-US" sz="1600" dirty="0">
                <a:cs typeface="Courier New" panose="02070309020205020404" pitchFamily="49" charset="0"/>
              </a:rPr>
              <a:t>（可选）配置接口的</a:t>
            </a:r>
            <a:r>
              <a:rPr lang="en-US" altLang="zh-CN" sz="1600" dirty="0">
                <a:cs typeface="Courier New" panose="02070309020205020404" pitchFamily="49" charset="0"/>
              </a:rPr>
              <a:t>OSPFv3</a:t>
            </a:r>
            <a:r>
              <a:rPr lang="zh-CN" altLang="en-US" sz="1600" dirty="0">
                <a:cs typeface="Courier New" panose="02070309020205020404" pitchFamily="49" charset="0"/>
              </a:rPr>
              <a:t>网络类型。</a:t>
            </a:r>
          </a:p>
        </p:txBody>
      </p:sp>
      <p:sp>
        <p:nvSpPr>
          <p:cNvPr id="6" name="矩形 5"/>
          <p:cNvSpPr/>
          <p:nvPr/>
        </p:nvSpPr>
        <p:spPr>
          <a:xfrm>
            <a:off x="1031917" y="2097081"/>
            <a:ext cx="10608699" cy="685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600" dirty="0">
                <a:cs typeface="Courier New" panose="02070309020205020404" pitchFamily="49" charset="0"/>
              </a:rPr>
              <a:t>缺省情况下，接口的</a:t>
            </a:r>
            <a:r>
              <a:rPr lang="en-US" altLang="zh-CN" sz="1600" dirty="0">
                <a:cs typeface="Courier New" panose="02070309020205020404" pitchFamily="49" charset="0"/>
              </a:rPr>
              <a:t>OSPFv3</a:t>
            </a:r>
            <a:r>
              <a:rPr lang="zh-CN" altLang="en-US" sz="1600" dirty="0">
                <a:cs typeface="Courier New" panose="02070309020205020404" pitchFamily="49" charset="0"/>
              </a:rPr>
              <a:t>网络类型根据物理接口的数据链路层封装而定。以太网接口的缺省网络类型为</a:t>
            </a:r>
            <a:r>
              <a:rPr lang="en-US" altLang="zh-CN" sz="1600" dirty="0">
                <a:cs typeface="Courier New" panose="02070309020205020404" pitchFamily="49" charset="0"/>
              </a:rPr>
              <a:t>Broadcast</a:t>
            </a:r>
            <a:r>
              <a:rPr lang="zh-CN" altLang="en-US" sz="1600" dirty="0">
                <a:cs typeface="Courier New" panose="02070309020205020404" pitchFamily="49" charset="0"/>
              </a:rPr>
              <a:t>，串口（封装</a:t>
            </a:r>
            <a:r>
              <a:rPr lang="en-US" altLang="zh-CN" sz="1600" dirty="0">
                <a:cs typeface="Courier New" panose="02070309020205020404" pitchFamily="49" charset="0"/>
              </a:rPr>
              <a:t>PPP</a:t>
            </a:r>
            <a:r>
              <a:rPr lang="zh-CN" altLang="en-US" sz="1600" dirty="0">
                <a:cs typeface="Courier New" panose="02070309020205020404" pitchFamily="49" charset="0"/>
              </a:rPr>
              <a:t>协议或</a:t>
            </a:r>
            <a:r>
              <a:rPr lang="en-US" altLang="zh-CN" sz="1600" dirty="0">
                <a:cs typeface="Courier New" panose="02070309020205020404" pitchFamily="49" charset="0"/>
              </a:rPr>
              <a:t>HDLC</a:t>
            </a:r>
            <a:r>
              <a:rPr lang="zh-CN" altLang="en-US" sz="1600" dirty="0">
                <a:cs typeface="Courier New" panose="02070309020205020404" pitchFamily="49" charset="0"/>
              </a:rPr>
              <a:t>协议时）的缺省网络类型为</a:t>
            </a:r>
            <a:r>
              <a:rPr lang="en-US" altLang="zh-CN" sz="1600" dirty="0">
                <a:cs typeface="Courier New" panose="02070309020205020404" pitchFamily="49" charset="0"/>
              </a:rPr>
              <a:t>P2P</a:t>
            </a:r>
            <a:r>
              <a:rPr lang="zh-CN" altLang="en-US" sz="1600" dirty="0">
                <a:cs typeface="Courier New" panose="02070309020205020404" pitchFamily="49" charset="0"/>
              </a:rPr>
              <a:t>。</a:t>
            </a:r>
            <a:endParaRPr lang="en-US" altLang="zh-CN" sz="1600" dirty="0">
              <a:cs typeface="Courier New" panose="020703090202050204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31917" y="4271459"/>
            <a:ext cx="106086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cs typeface="Courier New" panose="02070309020205020404" pitchFamily="49" charset="0"/>
              </a:rPr>
              <a:t>[Huawei-ospfv3-1] </a:t>
            </a:r>
            <a:r>
              <a:rPr lang="en-US" altLang="zh-CN" sz="1600" b="1" dirty="0"/>
              <a:t>area</a:t>
            </a:r>
            <a:r>
              <a:rPr lang="en-US" altLang="zh-CN" sz="1600" dirty="0"/>
              <a:t> </a:t>
            </a:r>
            <a:r>
              <a:rPr lang="en-US" altLang="zh-CN" sz="1600" i="1" dirty="0"/>
              <a:t>area-id</a:t>
            </a:r>
            <a:endParaRPr lang="zh-CN" altLang="en-US" sz="1600" dirty="0"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51384" y="3839312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4"/>
            </a:pPr>
            <a:r>
              <a:rPr lang="zh-CN" altLang="en-US" sz="1600" dirty="0">
                <a:cs typeface="Courier New" panose="02070309020205020404" pitchFamily="49" charset="0"/>
              </a:rPr>
              <a:t>进入</a:t>
            </a:r>
            <a:r>
              <a:rPr lang="en-US" altLang="zh-CN" sz="1600" dirty="0">
                <a:cs typeface="Courier New" panose="02070309020205020404" pitchFamily="49" charset="0"/>
              </a:rPr>
              <a:t>OSPFv3</a:t>
            </a:r>
            <a:r>
              <a:rPr lang="zh-CN" altLang="en-US" sz="1600" dirty="0">
                <a:cs typeface="Courier New" panose="02070309020205020404" pitchFamily="49" charset="0"/>
              </a:rPr>
              <a:t>区域视图。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031917" y="4624094"/>
            <a:ext cx="10608699" cy="377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600" dirty="0">
                <a:cs typeface="Courier New" panose="02070309020205020404" pitchFamily="49" charset="0"/>
              </a:rPr>
              <a:t>区域</a:t>
            </a:r>
            <a:r>
              <a:rPr lang="en-US" altLang="zh-CN" sz="1600" dirty="0">
                <a:cs typeface="Courier New" panose="02070309020205020404" pitchFamily="49" charset="0"/>
              </a:rPr>
              <a:t>ID</a:t>
            </a:r>
            <a:r>
              <a:rPr lang="zh-CN" altLang="en-US" sz="1600" dirty="0">
                <a:cs typeface="Courier New" panose="02070309020205020404" pitchFamily="49" charset="0"/>
              </a:rPr>
              <a:t>可以采用十进制整数或</a:t>
            </a:r>
            <a:r>
              <a:rPr lang="en-US" altLang="zh-CN" sz="1600" dirty="0">
                <a:cs typeface="Courier New" panose="02070309020205020404" pitchFamily="49" charset="0"/>
              </a:rPr>
              <a:t>IPv4</a:t>
            </a:r>
            <a:r>
              <a:rPr lang="zh-CN" altLang="en-US" sz="1600" dirty="0">
                <a:cs typeface="Courier New" panose="02070309020205020404" pitchFamily="49" charset="0"/>
              </a:rPr>
              <a:t>地址形式输入，但显示时是</a:t>
            </a:r>
            <a:r>
              <a:rPr lang="en-US" altLang="zh-CN" sz="1600" dirty="0">
                <a:cs typeface="Courier New" panose="02070309020205020404" pitchFamily="49" charset="0"/>
              </a:rPr>
              <a:t>IPv4</a:t>
            </a:r>
            <a:r>
              <a:rPr lang="zh-CN" altLang="en-US" sz="1600" dirty="0">
                <a:cs typeface="Courier New" panose="02070309020205020404" pitchFamily="49" charset="0"/>
              </a:rPr>
              <a:t>地址形式。</a:t>
            </a:r>
          </a:p>
        </p:txBody>
      </p:sp>
    </p:spTree>
    <p:extLst>
      <p:ext uri="{BB962C8B-B14F-4D97-AF65-F5344CB8AC3E}">
        <p14:creationId xmlns:p14="http://schemas.microsoft.com/office/powerpoint/2010/main" val="42760503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检查</a:t>
            </a:r>
            <a:r>
              <a:rPr lang="en-US" altLang="zh-CN" dirty="0"/>
              <a:t>OSPFv3</a:t>
            </a:r>
            <a:r>
              <a:rPr lang="zh-CN" altLang="en-US" dirty="0"/>
              <a:t>基本功能的配置结果</a:t>
            </a:r>
          </a:p>
        </p:txBody>
      </p:sp>
      <p:sp>
        <p:nvSpPr>
          <p:cNvPr id="4" name="矩形 3"/>
          <p:cNvSpPr/>
          <p:nvPr/>
        </p:nvSpPr>
        <p:spPr>
          <a:xfrm>
            <a:off x="1031917" y="1492654"/>
            <a:ext cx="106086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cs typeface="Courier New" panose="02070309020205020404" pitchFamily="49" charset="0"/>
              </a:rPr>
              <a:t>[Huawei] </a:t>
            </a:r>
            <a:r>
              <a:rPr lang="en-US" altLang="zh-CN" sz="1600" b="1" dirty="0"/>
              <a:t>display ospfv3</a:t>
            </a:r>
            <a:r>
              <a:rPr lang="en-US" altLang="zh-CN" sz="1600" dirty="0"/>
              <a:t> [ </a:t>
            </a:r>
            <a:r>
              <a:rPr lang="en-US" altLang="zh-CN" sz="1600" i="1" dirty="0"/>
              <a:t>process-id</a:t>
            </a:r>
            <a:r>
              <a:rPr lang="en-US" altLang="zh-CN" sz="1600" dirty="0"/>
              <a:t> ] </a:t>
            </a:r>
            <a:r>
              <a:rPr lang="en-US" altLang="zh-CN" sz="1600" b="1" dirty="0"/>
              <a:t>interface</a:t>
            </a:r>
            <a:r>
              <a:rPr lang="en-US" altLang="zh-CN" sz="1600" dirty="0"/>
              <a:t> [ </a:t>
            </a:r>
            <a:r>
              <a:rPr lang="en-US" altLang="zh-CN" sz="1600" b="1" dirty="0"/>
              <a:t>area</a:t>
            </a:r>
            <a:r>
              <a:rPr lang="en-US" altLang="zh-CN" sz="1600" dirty="0"/>
              <a:t> </a:t>
            </a:r>
            <a:r>
              <a:rPr lang="en-US" altLang="zh-CN" sz="1600" i="1" dirty="0"/>
              <a:t>area-id</a:t>
            </a:r>
            <a:r>
              <a:rPr lang="en-US" altLang="zh-CN" sz="1600" dirty="0"/>
              <a:t> ] [ </a:t>
            </a:r>
            <a:r>
              <a:rPr lang="en-US" altLang="zh-CN" sz="1600" i="1" dirty="0"/>
              <a:t>interface-type</a:t>
            </a:r>
            <a:r>
              <a:rPr lang="en-US" altLang="zh-CN" sz="1600" dirty="0"/>
              <a:t> </a:t>
            </a:r>
            <a:r>
              <a:rPr lang="en-US" altLang="zh-CN" sz="1600" i="1" dirty="0"/>
              <a:t>interface-number</a:t>
            </a:r>
            <a:r>
              <a:rPr lang="en-US" altLang="zh-CN" sz="1600" dirty="0"/>
              <a:t> ]</a:t>
            </a:r>
            <a:endParaRPr lang="zh-CN" altLang="en-US" sz="1600" dirty="0">
              <a:cs typeface="Courier New" panose="020703090202050204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1384" y="1060507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/>
            </a:pPr>
            <a:r>
              <a:rPr lang="zh-CN" altLang="en-US" sz="1600" dirty="0">
                <a:cs typeface="Courier New" panose="02070309020205020404" pitchFamily="49" charset="0"/>
              </a:rPr>
              <a:t>查看</a:t>
            </a:r>
            <a:r>
              <a:rPr lang="en-US" altLang="zh-CN" sz="1600" dirty="0">
                <a:cs typeface="Courier New" panose="02070309020205020404" pitchFamily="49" charset="0"/>
              </a:rPr>
              <a:t>OSPFv3</a:t>
            </a:r>
            <a:r>
              <a:rPr lang="zh-CN" altLang="en-US" sz="1600" dirty="0">
                <a:cs typeface="Courier New" panose="02070309020205020404" pitchFamily="49" charset="0"/>
              </a:rPr>
              <a:t>的接口信息。</a:t>
            </a:r>
          </a:p>
        </p:txBody>
      </p:sp>
      <p:sp>
        <p:nvSpPr>
          <p:cNvPr id="9" name="矩形 8"/>
          <p:cNvSpPr/>
          <p:nvPr/>
        </p:nvSpPr>
        <p:spPr>
          <a:xfrm>
            <a:off x="1031917" y="2469161"/>
            <a:ext cx="10608699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cs typeface="Courier New" panose="02070309020205020404" pitchFamily="49" charset="0"/>
              </a:rPr>
              <a:t>[Huawei] </a:t>
            </a:r>
            <a:r>
              <a:rPr lang="en-US" altLang="zh-CN" sz="1600" b="1" dirty="0"/>
              <a:t>display ospfv3</a:t>
            </a:r>
            <a:r>
              <a:rPr lang="en-US" altLang="zh-CN" sz="1600" dirty="0"/>
              <a:t> [ </a:t>
            </a:r>
            <a:r>
              <a:rPr lang="en-US" altLang="zh-CN" sz="1600" i="1" dirty="0"/>
              <a:t>process-id</a:t>
            </a:r>
            <a:r>
              <a:rPr lang="en-US" altLang="zh-CN" sz="1600" dirty="0"/>
              <a:t> ] [ </a:t>
            </a:r>
            <a:r>
              <a:rPr lang="en-US" altLang="zh-CN" sz="1600" b="1" dirty="0"/>
              <a:t>area</a:t>
            </a:r>
            <a:r>
              <a:rPr lang="en-US" altLang="zh-CN" sz="1600" dirty="0"/>
              <a:t> </a:t>
            </a:r>
            <a:r>
              <a:rPr lang="en-US" altLang="zh-CN" sz="1600" i="1" dirty="0"/>
              <a:t>area-id</a:t>
            </a:r>
            <a:r>
              <a:rPr lang="en-US" altLang="zh-CN" sz="1600" dirty="0"/>
              <a:t> ] </a:t>
            </a:r>
            <a:r>
              <a:rPr lang="en-US" altLang="zh-CN" sz="1600" b="1" dirty="0"/>
              <a:t>peer</a:t>
            </a:r>
            <a:r>
              <a:rPr lang="en-US" altLang="zh-CN" sz="1600" dirty="0"/>
              <a:t> [ </a:t>
            </a:r>
            <a:r>
              <a:rPr lang="en-US" altLang="zh-CN" sz="1600" i="1" dirty="0"/>
              <a:t>interface-type</a:t>
            </a:r>
            <a:r>
              <a:rPr lang="en-US" altLang="zh-CN" sz="1600" dirty="0"/>
              <a:t> </a:t>
            </a:r>
            <a:r>
              <a:rPr lang="en-US" altLang="zh-CN" sz="1600" i="1" dirty="0"/>
              <a:t>interface-number</a:t>
            </a:r>
            <a:r>
              <a:rPr lang="en-US" altLang="zh-CN" sz="1600" dirty="0"/>
              <a:t> | </a:t>
            </a:r>
            <a:r>
              <a:rPr lang="en-US" altLang="zh-CN" sz="1600" i="1" dirty="0"/>
              <a:t>neighbor-id</a:t>
            </a:r>
            <a:r>
              <a:rPr lang="en-US" altLang="zh-CN" sz="1600" dirty="0"/>
              <a:t> ] [ </a:t>
            </a:r>
            <a:r>
              <a:rPr lang="en-US" altLang="zh-CN" sz="1600" b="1" dirty="0"/>
              <a:t>verbose</a:t>
            </a:r>
            <a:r>
              <a:rPr lang="en-US" altLang="zh-CN" sz="1600" dirty="0"/>
              <a:t> ]</a:t>
            </a:r>
            <a:endParaRPr lang="zh-CN" altLang="en-US" sz="1600" dirty="0"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51384" y="2037014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2"/>
            </a:pPr>
            <a:r>
              <a:rPr lang="zh-CN" altLang="en-US" sz="1600" dirty="0">
                <a:cs typeface="Courier New" panose="02070309020205020404" pitchFamily="49" charset="0"/>
              </a:rPr>
              <a:t>查看</a:t>
            </a:r>
            <a:r>
              <a:rPr lang="en-US" altLang="zh-CN" sz="1600" dirty="0">
                <a:cs typeface="Courier New" panose="02070309020205020404" pitchFamily="49" charset="0"/>
              </a:rPr>
              <a:t>OSPFv3</a:t>
            </a:r>
            <a:r>
              <a:rPr lang="zh-CN" altLang="en-US" sz="1600" dirty="0">
                <a:cs typeface="Courier New" panose="02070309020205020404" pitchFamily="49" charset="0"/>
              </a:rPr>
              <a:t>的邻居信息。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031917" y="3060333"/>
            <a:ext cx="10608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en-US" altLang="zh-CN" sz="1600" i="1" dirty="0">
                <a:cs typeface="Courier New" panose="02070309020205020404" pitchFamily="49" charset="0"/>
              </a:rPr>
              <a:t>neighbor-id</a:t>
            </a:r>
            <a:r>
              <a:rPr lang="zh-CN" altLang="en-US" sz="1600" dirty="0">
                <a:cs typeface="Courier New" panose="02070309020205020404" pitchFamily="49" charset="0"/>
              </a:rPr>
              <a:t>：指定邻居的</a:t>
            </a:r>
            <a:r>
              <a:rPr lang="en-US" altLang="zh-CN" sz="1600" dirty="0">
                <a:cs typeface="Courier New" panose="02070309020205020404" pitchFamily="49" charset="0"/>
              </a:rPr>
              <a:t>Router ID</a:t>
            </a:r>
            <a:r>
              <a:rPr lang="zh-CN" altLang="en-US" sz="1600" dirty="0">
                <a:cs typeface="Courier New" panose="02070309020205020404" pitchFamily="49" charset="0"/>
              </a:rPr>
              <a:t>号。</a:t>
            </a:r>
          </a:p>
        </p:txBody>
      </p:sp>
      <p:sp>
        <p:nvSpPr>
          <p:cNvPr id="12" name="矩形 11"/>
          <p:cNvSpPr/>
          <p:nvPr/>
        </p:nvSpPr>
        <p:spPr>
          <a:xfrm>
            <a:off x="1031917" y="3993163"/>
            <a:ext cx="10608699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cs typeface="Courier New" panose="02070309020205020404" pitchFamily="49" charset="0"/>
              </a:rPr>
              <a:t>[Huawei] </a:t>
            </a:r>
            <a:r>
              <a:rPr lang="en-US" altLang="zh-CN" sz="1600" b="1" dirty="0"/>
              <a:t>display ospfv3</a:t>
            </a:r>
            <a:r>
              <a:rPr lang="en-US" altLang="zh-CN" sz="1600" dirty="0"/>
              <a:t> [ </a:t>
            </a:r>
            <a:r>
              <a:rPr lang="en-US" altLang="zh-CN" sz="1600" i="1" dirty="0"/>
              <a:t>process-id</a:t>
            </a:r>
            <a:r>
              <a:rPr lang="en-US" altLang="zh-CN" sz="1600" dirty="0"/>
              <a:t> ] </a:t>
            </a:r>
            <a:r>
              <a:rPr lang="en-US" altLang="zh-CN" sz="1600" b="1" dirty="0" err="1"/>
              <a:t>lsdb</a:t>
            </a:r>
            <a:r>
              <a:rPr lang="en-US" altLang="zh-CN" sz="1600" dirty="0"/>
              <a:t> [ </a:t>
            </a:r>
            <a:r>
              <a:rPr lang="en-US" altLang="zh-CN" sz="1600" b="1" dirty="0"/>
              <a:t>area</a:t>
            </a:r>
            <a:r>
              <a:rPr lang="en-US" altLang="zh-CN" sz="1600" dirty="0"/>
              <a:t> </a:t>
            </a:r>
            <a:r>
              <a:rPr lang="en-US" altLang="zh-CN" sz="1600" i="1" dirty="0"/>
              <a:t>area-id</a:t>
            </a:r>
            <a:r>
              <a:rPr lang="en-US" altLang="zh-CN" sz="1600" dirty="0"/>
              <a:t> ] [ </a:t>
            </a:r>
            <a:r>
              <a:rPr lang="en-US" altLang="zh-CN" sz="1600" b="1" dirty="0"/>
              <a:t>originate-router</a:t>
            </a:r>
            <a:r>
              <a:rPr lang="en-US" altLang="zh-CN" sz="1600" dirty="0"/>
              <a:t> </a:t>
            </a:r>
            <a:r>
              <a:rPr lang="en-US" altLang="zh-CN" sz="1600" i="1" dirty="0"/>
              <a:t>advertising-router-id</a:t>
            </a:r>
            <a:r>
              <a:rPr lang="en-US" altLang="zh-CN" sz="1600" dirty="0"/>
              <a:t> | </a:t>
            </a:r>
            <a:r>
              <a:rPr lang="en-US" altLang="zh-CN" sz="1600" b="1" dirty="0"/>
              <a:t>self-originate</a:t>
            </a:r>
            <a:r>
              <a:rPr lang="en-US" altLang="zh-CN" sz="1600" dirty="0"/>
              <a:t> ] [ { </a:t>
            </a:r>
            <a:r>
              <a:rPr lang="en-US" altLang="zh-CN" sz="1600" b="1" dirty="0"/>
              <a:t>router</a:t>
            </a:r>
            <a:r>
              <a:rPr lang="en-US" altLang="zh-CN" sz="1600" dirty="0"/>
              <a:t> | </a:t>
            </a:r>
            <a:r>
              <a:rPr lang="en-US" altLang="zh-CN" sz="1600" b="1" dirty="0"/>
              <a:t>network</a:t>
            </a:r>
            <a:r>
              <a:rPr lang="en-US" altLang="zh-CN" sz="1600" dirty="0"/>
              <a:t> | </a:t>
            </a:r>
            <a:r>
              <a:rPr lang="en-US" altLang="zh-CN" sz="1600" b="1" dirty="0"/>
              <a:t>inter-router</a:t>
            </a:r>
            <a:r>
              <a:rPr lang="en-US" altLang="zh-CN" sz="1600" dirty="0"/>
              <a:t> [ </a:t>
            </a:r>
            <a:r>
              <a:rPr lang="en-US" altLang="zh-CN" sz="1600" b="1" dirty="0" err="1"/>
              <a:t>asbr</a:t>
            </a:r>
            <a:r>
              <a:rPr lang="en-US" altLang="zh-CN" sz="1600" b="1" dirty="0"/>
              <a:t>-router</a:t>
            </a:r>
            <a:r>
              <a:rPr lang="en-US" altLang="zh-CN" sz="1600" dirty="0"/>
              <a:t> </a:t>
            </a:r>
            <a:r>
              <a:rPr lang="en-US" altLang="zh-CN" sz="1600" i="1" dirty="0" err="1"/>
              <a:t>asbr</a:t>
            </a:r>
            <a:r>
              <a:rPr lang="en-US" altLang="zh-CN" sz="1600" i="1" dirty="0"/>
              <a:t>-router-id</a:t>
            </a:r>
            <a:r>
              <a:rPr lang="en-US" altLang="zh-CN" sz="1600" dirty="0"/>
              <a:t> ] | { </a:t>
            </a:r>
            <a:r>
              <a:rPr lang="en-US" altLang="zh-CN" sz="1600" b="1" dirty="0"/>
              <a:t>inter-prefix</a:t>
            </a:r>
            <a:r>
              <a:rPr lang="en-US" altLang="zh-CN" sz="1600" dirty="0"/>
              <a:t> | </a:t>
            </a:r>
            <a:r>
              <a:rPr lang="en-US" altLang="zh-CN" sz="1600" b="1" dirty="0" err="1"/>
              <a:t>nssa</a:t>
            </a:r>
            <a:r>
              <a:rPr lang="en-US" altLang="zh-CN" sz="1600" dirty="0"/>
              <a:t> } [ </a:t>
            </a:r>
            <a:r>
              <a:rPr lang="en-US" altLang="zh-CN" sz="1600" i="1" dirty="0"/>
              <a:t>ipv6-address</a:t>
            </a:r>
            <a:r>
              <a:rPr lang="en-US" altLang="zh-CN" sz="1600" dirty="0"/>
              <a:t> </a:t>
            </a:r>
            <a:r>
              <a:rPr lang="en-US" altLang="zh-CN" sz="1600" i="1" dirty="0"/>
              <a:t>prefix-length</a:t>
            </a:r>
            <a:r>
              <a:rPr lang="en-US" altLang="zh-CN" sz="1600" dirty="0"/>
              <a:t> ] | </a:t>
            </a:r>
            <a:r>
              <a:rPr lang="en-US" altLang="zh-CN" sz="1600" b="1" dirty="0"/>
              <a:t>link</a:t>
            </a:r>
            <a:r>
              <a:rPr lang="en-US" altLang="zh-CN" sz="1600" dirty="0"/>
              <a:t> | </a:t>
            </a:r>
            <a:r>
              <a:rPr lang="en-US" altLang="zh-CN" sz="1600" b="1" dirty="0"/>
              <a:t>intra-prefix</a:t>
            </a:r>
            <a:r>
              <a:rPr lang="en-US" altLang="zh-CN" sz="1600" dirty="0"/>
              <a:t> } [ </a:t>
            </a:r>
            <a:r>
              <a:rPr lang="en-US" altLang="zh-CN" sz="1600" i="1" dirty="0"/>
              <a:t>link-state-id</a:t>
            </a:r>
            <a:r>
              <a:rPr lang="en-US" altLang="zh-CN" sz="1600" dirty="0"/>
              <a:t> ] ]</a:t>
            </a:r>
            <a:endParaRPr lang="zh-CN" altLang="en-US" sz="1600" dirty="0"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51384" y="3561016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3"/>
            </a:pPr>
            <a:r>
              <a:rPr lang="zh-CN" altLang="en-US" sz="1600" dirty="0">
                <a:cs typeface="Courier New" panose="02070309020205020404" pitchFamily="49" charset="0"/>
              </a:rPr>
              <a:t>查看</a:t>
            </a:r>
            <a:r>
              <a:rPr lang="en-US" altLang="zh-CN" sz="1600" dirty="0">
                <a:cs typeface="Courier New" panose="02070309020205020404" pitchFamily="49" charset="0"/>
              </a:rPr>
              <a:t>OSPFv3</a:t>
            </a:r>
            <a:r>
              <a:rPr lang="zh-CN" altLang="en-US" sz="1600" dirty="0">
                <a:cs typeface="Courier New" panose="02070309020205020404" pitchFamily="49" charset="0"/>
              </a:rPr>
              <a:t>的</a:t>
            </a:r>
            <a:r>
              <a:rPr lang="en-US" altLang="zh-CN" sz="1600" dirty="0">
                <a:cs typeface="Courier New" panose="02070309020205020404" pitchFamily="49" charset="0"/>
              </a:rPr>
              <a:t>LSDB</a:t>
            </a:r>
            <a:r>
              <a:rPr lang="zh-CN" altLang="en-US" sz="1600" dirty="0">
                <a:cs typeface="Courier New" panose="02070309020205020404" pitchFamily="49" charset="0"/>
              </a:rPr>
              <a:t>信息。</a:t>
            </a:r>
          </a:p>
        </p:txBody>
      </p:sp>
      <p:sp>
        <p:nvSpPr>
          <p:cNvPr id="14" name="矩形 13"/>
          <p:cNvSpPr/>
          <p:nvPr/>
        </p:nvSpPr>
        <p:spPr>
          <a:xfrm>
            <a:off x="1031917" y="5491034"/>
            <a:ext cx="10608699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cs typeface="Courier New" panose="02070309020205020404" pitchFamily="49" charset="0"/>
              </a:rPr>
              <a:t>[Huawei] </a:t>
            </a:r>
            <a:r>
              <a:rPr lang="en-US" altLang="zh-CN" sz="1600" b="1" dirty="0"/>
              <a:t>display ospfv3</a:t>
            </a:r>
            <a:r>
              <a:rPr lang="en-US" altLang="zh-CN" sz="1600" dirty="0"/>
              <a:t> [ </a:t>
            </a:r>
            <a:r>
              <a:rPr lang="en-US" altLang="zh-CN" sz="1600" i="1" dirty="0"/>
              <a:t>process-id</a:t>
            </a:r>
            <a:r>
              <a:rPr lang="en-US" altLang="zh-CN" sz="1600" dirty="0"/>
              <a:t> ] </a:t>
            </a:r>
            <a:r>
              <a:rPr lang="en-US" altLang="zh-CN" sz="1600" b="1" dirty="0"/>
              <a:t>routing</a:t>
            </a:r>
            <a:r>
              <a:rPr lang="en-US" altLang="zh-CN" sz="1600" dirty="0"/>
              <a:t> [ </a:t>
            </a:r>
            <a:r>
              <a:rPr lang="en-US" altLang="zh-CN" sz="1600" i="1" dirty="0"/>
              <a:t>ipv6-address</a:t>
            </a:r>
            <a:r>
              <a:rPr lang="en-US" altLang="zh-CN" sz="1600" dirty="0"/>
              <a:t> </a:t>
            </a:r>
            <a:r>
              <a:rPr lang="en-US" altLang="zh-CN" sz="1600" i="1" dirty="0"/>
              <a:t>prefix-length</a:t>
            </a:r>
            <a:r>
              <a:rPr lang="en-US" altLang="zh-CN" sz="1600" dirty="0"/>
              <a:t> | </a:t>
            </a:r>
            <a:r>
              <a:rPr lang="en-US" altLang="zh-CN" sz="1600" b="1" dirty="0" err="1"/>
              <a:t>abr</a:t>
            </a:r>
            <a:r>
              <a:rPr lang="en-US" altLang="zh-CN" sz="1600" b="1" dirty="0"/>
              <a:t>-routes</a:t>
            </a:r>
            <a:r>
              <a:rPr lang="en-US" altLang="zh-CN" sz="1600" dirty="0"/>
              <a:t> | </a:t>
            </a:r>
            <a:r>
              <a:rPr lang="en-US" altLang="zh-CN" sz="1600" b="1" dirty="0" err="1"/>
              <a:t>asbr</a:t>
            </a:r>
            <a:r>
              <a:rPr lang="en-US" altLang="zh-CN" sz="1600" b="1" dirty="0"/>
              <a:t>-routes</a:t>
            </a:r>
            <a:r>
              <a:rPr lang="en-US" altLang="zh-CN" sz="1600" dirty="0"/>
              <a:t> | </a:t>
            </a:r>
            <a:r>
              <a:rPr lang="en-US" altLang="zh-CN" sz="1600" b="1" dirty="0"/>
              <a:t>intra-routes</a:t>
            </a:r>
            <a:r>
              <a:rPr lang="en-US" altLang="zh-CN" sz="1600" dirty="0"/>
              <a:t> | </a:t>
            </a:r>
            <a:r>
              <a:rPr lang="en-US" altLang="zh-CN" sz="1600" b="1" dirty="0"/>
              <a:t>inter-routes</a:t>
            </a:r>
            <a:r>
              <a:rPr lang="en-US" altLang="zh-CN" sz="1600" dirty="0"/>
              <a:t> | </a:t>
            </a:r>
            <a:r>
              <a:rPr lang="en-US" altLang="zh-CN" sz="1600" b="1" dirty="0" err="1"/>
              <a:t>ase</a:t>
            </a:r>
            <a:r>
              <a:rPr lang="en-US" altLang="zh-CN" sz="1600" b="1" dirty="0"/>
              <a:t>-routes</a:t>
            </a:r>
            <a:r>
              <a:rPr lang="en-US" altLang="zh-CN" sz="1600" dirty="0"/>
              <a:t> | </a:t>
            </a:r>
            <a:r>
              <a:rPr lang="en-US" altLang="zh-CN" sz="1600" b="1" dirty="0" err="1"/>
              <a:t>nssa</a:t>
            </a:r>
            <a:r>
              <a:rPr lang="en-US" altLang="zh-CN" sz="1600" b="1" dirty="0"/>
              <a:t>-routes</a:t>
            </a:r>
            <a:r>
              <a:rPr lang="en-US" altLang="zh-CN" sz="1600" dirty="0"/>
              <a:t> | [ </a:t>
            </a:r>
            <a:r>
              <a:rPr lang="en-US" altLang="zh-CN" sz="1600" b="1" dirty="0"/>
              <a:t>statistics</a:t>
            </a:r>
            <a:r>
              <a:rPr lang="en-US" altLang="zh-CN" sz="1600" dirty="0"/>
              <a:t> ] ]</a:t>
            </a:r>
            <a:endParaRPr lang="zh-CN" altLang="en-US" sz="1600" dirty="0">
              <a:cs typeface="Courier New" panose="020703090202050204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51384" y="5058887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4"/>
            </a:pPr>
            <a:r>
              <a:rPr lang="zh-CN" altLang="en-US" sz="1600" dirty="0">
                <a:cs typeface="Courier New" panose="02070309020205020404" pitchFamily="49" charset="0"/>
              </a:rPr>
              <a:t>查看</a:t>
            </a:r>
            <a:r>
              <a:rPr lang="en-US" altLang="zh-CN" sz="1600" dirty="0">
                <a:cs typeface="Courier New" panose="02070309020205020404" pitchFamily="49" charset="0"/>
              </a:rPr>
              <a:t>OSPFv3</a:t>
            </a:r>
            <a:r>
              <a:rPr lang="zh-CN" altLang="en-US" sz="1600" dirty="0">
                <a:cs typeface="Courier New" panose="02070309020205020404" pitchFamily="49" charset="0"/>
              </a:rPr>
              <a:t>的路由表信息。</a:t>
            </a:r>
          </a:p>
        </p:txBody>
      </p:sp>
    </p:spTree>
    <p:extLst>
      <p:ext uri="{BB962C8B-B14F-4D97-AF65-F5344CB8AC3E}">
        <p14:creationId xmlns:p14="http://schemas.microsoft.com/office/powerpoint/2010/main" val="24080711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92038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圆角矩形 29"/>
          <p:cNvSpPr/>
          <p:nvPr/>
        </p:nvSpPr>
        <p:spPr bwMode="gray">
          <a:xfrm>
            <a:off x="4248122" y="1396863"/>
            <a:ext cx="1719465" cy="1033427"/>
          </a:xfrm>
          <a:prstGeom prst="roundRect">
            <a:avLst>
              <a:gd name="adj" fmla="val 5934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28" name="圆角矩形 27"/>
          <p:cNvSpPr/>
          <p:nvPr/>
        </p:nvSpPr>
        <p:spPr bwMode="gray">
          <a:xfrm>
            <a:off x="550603" y="1396863"/>
            <a:ext cx="1719465" cy="1975624"/>
          </a:xfrm>
          <a:prstGeom prst="roundRect">
            <a:avLst>
              <a:gd name="adj" fmla="val 5934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27" name="圆角矩形 26"/>
          <p:cNvSpPr/>
          <p:nvPr/>
        </p:nvSpPr>
        <p:spPr bwMode="gray">
          <a:xfrm>
            <a:off x="2316117" y="1396863"/>
            <a:ext cx="1875110" cy="1975624"/>
          </a:xfrm>
          <a:prstGeom prst="roundRect">
            <a:avLst>
              <a:gd name="adj" fmla="val 5934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OSPF</a:t>
            </a:r>
            <a:r>
              <a:rPr lang="zh-CN" altLang="en-US"/>
              <a:t>双栈配置举例</a:t>
            </a:r>
            <a:endParaRPr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0"/>
          </p:nvPr>
        </p:nvSpPr>
        <p:spPr>
          <a:xfrm>
            <a:off x="6207207" y="1294646"/>
            <a:ext cx="5541880" cy="3150605"/>
          </a:xfrm>
        </p:spPr>
        <p:txBody>
          <a:bodyPr/>
          <a:lstStyle/>
          <a:p>
            <a:r>
              <a:rPr lang="zh-CN" altLang="en-US" sz="1800" dirty="0"/>
              <a:t>场景描述：</a:t>
            </a:r>
            <a:endParaRPr lang="en-US" altLang="zh-CN" sz="1800" dirty="0"/>
          </a:p>
          <a:p>
            <a:pPr lvl="1"/>
            <a:r>
              <a:rPr lang="zh-CN" altLang="en-US" sz="1600" dirty="0"/>
              <a:t>某公司通过部署</a:t>
            </a:r>
            <a:r>
              <a:rPr lang="en-US" altLang="zh-CN" sz="1600" dirty="0"/>
              <a:t>OSPFv2</a:t>
            </a:r>
            <a:r>
              <a:rPr lang="zh-CN" altLang="en-US" sz="1600" dirty="0"/>
              <a:t>实现</a:t>
            </a:r>
            <a:r>
              <a:rPr lang="en-US" altLang="zh-CN" sz="1600" dirty="0"/>
              <a:t>IPv4</a:t>
            </a:r>
            <a:r>
              <a:rPr lang="zh-CN" altLang="en-US" sz="1600" dirty="0"/>
              <a:t>网络的互联互通。该公司为了保证未来的业务发展，同时部署了</a:t>
            </a:r>
            <a:r>
              <a:rPr lang="en-US" altLang="zh-CN" sz="1600" dirty="0"/>
              <a:t>IPv6</a:t>
            </a:r>
            <a:r>
              <a:rPr lang="zh-CN" altLang="en-US" sz="1600" dirty="0"/>
              <a:t>网络进行业务测试，在该网络中运行</a:t>
            </a:r>
            <a:r>
              <a:rPr lang="en-US" altLang="zh-CN" sz="1600" dirty="0"/>
              <a:t>OSPFv3</a:t>
            </a:r>
            <a:r>
              <a:rPr lang="zh-CN" altLang="en-US" sz="1600" dirty="0"/>
              <a:t>实现了</a:t>
            </a:r>
            <a:r>
              <a:rPr lang="en-US" altLang="zh-CN" sz="1600" dirty="0"/>
              <a:t>IPv6</a:t>
            </a:r>
            <a:r>
              <a:rPr lang="zh-CN" altLang="en-US" sz="1600" dirty="0"/>
              <a:t>网络的互联互通。</a:t>
            </a:r>
            <a:endParaRPr lang="en-US" altLang="zh-CN" sz="1600" dirty="0"/>
          </a:p>
          <a:p>
            <a:pPr lvl="1"/>
            <a:r>
              <a:rPr lang="zh-CN" altLang="en-US" sz="1600" dirty="0"/>
              <a:t>所有路由器运行</a:t>
            </a:r>
            <a:r>
              <a:rPr lang="en-US" altLang="zh-CN" sz="1600" dirty="0"/>
              <a:t>OSPFv2</a:t>
            </a:r>
            <a:r>
              <a:rPr lang="zh-CN" altLang="en-US" sz="1600" dirty="0"/>
              <a:t>和</a:t>
            </a:r>
            <a:r>
              <a:rPr lang="en-US" altLang="zh-CN" sz="1600" dirty="0"/>
              <a:t>OSPFv3</a:t>
            </a:r>
            <a:r>
              <a:rPr lang="zh-CN" altLang="en-US" sz="1600" dirty="0"/>
              <a:t>协议，整个自治系统分为</a:t>
            </a:r>
            <a:r>
              <a:rPr lang="en-US" altLang="zh-CN" sz="1600" dirty="0"/>
              <a:t>3</a:t>
            </a:r>
            <a:r>
              <a:rPr lang="zh-CN" altLang="en-US" sz="1600" dirty="0"/>
              <a:t>个区域。配置完成后，每台路由器都应学到</a:t>
            </a:r>
            <a:r>
              <a:rPr lang="en-US" altLang="zh-CN" sz="1600" dirty="0"/>
              <a:t>AS</a:t>
            </a:r>
            <a:r>
              <a:rPr lang="zh-CN" altLang="en-US" sz="1600" dirty="0"/>
              <a:t>内的所有网段的</a:t>
            </a:r>
            <a:r>
              <a:rPr lang="en-US" altLang="zh-CN" sz="1600" dirty="0"/>
              <a:t>IPv4</a:t>
            </a:r>
            <a:r>
              <a:rPr lang="zh-CN" altLang="en-US" sz="1600" dirty="0"/>
              <a:t>路由和</a:t>
            </a:r>
            <a:r>
              <a:rPr lang="en-US" altLang="zh-CN" sz="1600" dirty="0"/>
              <a:t>IPv6</a:t>
            </a:r>
            <a:r>
              <a:rPr lang="zh-CN" altLang="en-US" sz="1600" dirty="0"/>
              <a:t>路由。</a:t>
            </a:r>
            <a:endParaRPr lang="en-US" altLang="zh-CN" sz="1600" dirty="0"/>
          </a:p>
        </p:txBody>
      </p:sp>
      <p:pic>
        <p:nvPicPr>
          <p:cNvPr id="3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91310" y="2179350"/>
            <a:ext cx="541201" cy="442800"/>
          </a:xfrm>
          <a:prstGeom prst="rect">
            <a:avLst/>
          </a:prstGeom>
          <a:noFill/>
        </p:spPr>
      </p:pic>
      <p:pic>
        <p:nvPicPr>
          <p:cNvPr id="4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021442" y="2179350"/>
            <a:ext cx="541201" cy="442800"/>
          </a:xfrm>
          <a:prstGeom prst="rect">
            <a:avLst/>
          </a:prstGeom>
          <a:noFill/>
        </p:spPr>
      </p:pic>
      <p:pic>
        <p:nvPicPr>
          <p:cNvPr id="5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91062" y="1649760"/>
            <a:ext cx="541201" cy="442800"/>
          </a:xfrm>
          <a:prstGeom prst="rect">
            <a:avLst/>
          </a:prstGeom>
          <a:noFill/>
        </p:spPr>
      </p:pic>
      <p:cxnSp>
        <p:nvCxnSpPr>
          <p:cNvPr id="7" name="直接连接符 6"/>
          <p:cNvCxnSpPr>
            <a:stCxn id="3" idx="3"/>
            <a:endCxn id="4" idx="1"/>
          </p:cNvCxnSpPr>
          <p:nvPr/>
        </p:nvCxnSpPr>
        <p:spPr bwMode="gray">
          <a:xfrm>
            <a:off x="1132511" y="2400750"/>
            <a:ext cx="8889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stCxn id="4" idx="3"/>
            <a:endCxn id="35" idx="1"/>
          </p:cNvCxnSpPr>
          <p:nvPr/>
        </p:nvCxnSpPr>
        <p:spPr bwMode="gray">
          <a:xfrm>
            <a:off x="2562643" y="2400750"/>
            <a:ext cx="6086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35" idx="1"/>
            <a:endCxn id="5" idx="1"/>
          </p:cNvCxnSpPr>
          <p:nvPr/>
        </p:nvCxnSpPr>
        <p:spPr bwMode="gray">
          <a:xfrm flipV="1">
            <a:off x="3171277" y="1871160"/>
            <a:ext cx="819785" cy="5295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312"/>
          <p:cNvSpPr>
            <a:spLocks noChangeArrowheads="1"/>
          </p:cNvSpPr>
          <p:nvPr/>
        </p:nvSpPr>
        <p:spPr bwMode="gray">
          <a:xfrm>
            <a:off x="562559" y="1938561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R1</a:t>
            </a:r>
          </a:p>
        </p:txBody>
      </p:sp>
      <p:sp>
        <p:nvSpPr>
          <p:cNvPr id="11" name="Rectangle 312"/>
          <p:cNvSpPr>
            <a:spLocks noChangeArrowheads="1"/>
          </p:cNvSpPr>
          <p:nvPr/>
        </p:nvSpPr>
        <p:spPr bwMode="gray">
          <a:xfrm>
            <a:off x="1993990" y="1938631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R2</a:t>
            </a:r>
          </a:p>
        </p:txBody>
      </p:sp>
      <p:sp>
        <p:nvSpPr>
          <p:cNvPr id="14" name="Rectangle 312"/>
          <p:cNvSpPr>
            <a:spLocks noChangeArrowheads="1"/>
          </p:cNvSpPr>
          <p:nvPr/>
        </p:nvSpPr>
        <p:spPr bwMode="gray">
          <a:xfrm>
            <a:off x="953658" y="2153219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sp>
        <p:nvSpPr>
          <p:cNvPr id="15" name="Rectangle 312"/>
          <p:cNvSpPr>
            <a:spLocks noChangeArrowheads="1"/>
          </p:cNvSpPr>
          <p:nvPr/>
        </p:nvSpPr>
        <p:spPr bwMode="gray">
          <a:xfrm>
            <a:off x="1248333" y="2367877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sp>
        <p:nvSpPr>
          <p:cNvPr id="16" name="Rectangle 312"/>
          <p:cNvSpPr>
            <a:spLocks noChangeArrowheads="1"/>
          </p:cNvSpPr>
          <p:nvPr/>
        </p:nvSpPr>
        <p:spPr bwMode="gray">
          <a:xfrm>
            <a:off x="2369550" y="2153219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GE0/0/0</a:t>
            </a:r>
          </a:p>
        </p:txBody>
      </p:sp>
      <p:sp>
        <p:nvSpPr>
          <p:cNvPr id="17" name="Rectangle 312"/>
          <p:cNvSpPr>
            <a:spLocks noChangeArrowheads="1"/>
          </p:cNvSpPr>
          <p:nvPr/>
        </p:nvSpPr>
        <p:spPr bwMode="gray">
          <a:xfrm>
            <a:off x="3213864" y="1633049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sp>
        <p:nvSpPr>
          <p:cNvPr id="18" name="Rectangle 312"/>
          <p:cNvSpPr>
            <a:spLocks noChangeArrowheads="1"/>
          </p:cNvSpPr>
          <p:nvPr/>
        </p:nvSpPr>
        <p:spPr bwMode="gray">
          <a:xfrm>
            <a:off x="3198791" y="2926404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GE0/0/2</a:t>
            </a:r>
          </a:p>
        </p:txBody>
      </p:sp>
      <p:pic>
        <p:nvPicPr>
          <p:cNvPr id="19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91062" y="2744792"/>
            <a:ext cx="541201" cy="442800"/>
          </a:xfrm>
          <a:prstGeom prst="rect">
            <a:avLst/>
          </a:prstGeom>
          <a:noFill/>
        </p:spPr>
      </p:pic>
      <p:cxnSp>
        <p:nvCxnSpPr>
          <p:cNvPr id="20" name="直接连接符 19"/>
          <p:cNvCxnSpPr>
            <a:stCxn id="35" idx="1"/>
            <a:endCxn id="19" idx="1"/>
          </p:cNvCxnSpPr>
          <p:nvPr/>
        </p:nvCxnSpPr>
        <p:spPr bwMode="gray">
          <a:xfrm>
            <a:off x="3171277" y="2400750"/>
            <a:ext cx="819785" cy="5654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231513" y="1649760"/>
            <a:ext cx="541201" cy="442800"/>
          </a:xfrm>
          <a:prstGeom prst="rect">
            <a:avLst/>
          </a:prstGeom>
          <a:noFill/>
        </p:spPr>
      </p:pic>
      <p:cxnSp>
        <p:nvCxnSpPr>
          <p:cNvPr id="22" name="直接连接符 21"/>
          <p:cNvCxnSpPr>
            <a:stCxn id="5" idx="3"/>
            <a:endCxn id="21" idx="1"/>
          </p:cNvCxnSpPr>
          <p:nvPr/>
        </p:nvCxnSpPr>
        <p:spPr bwMode="gray">
          <a:xfrm>
            <a:off x="4532263" y="1871160"/>
            <a:ext cx="6992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312"/>
          <p:cNvSpPr>
            <a:spLocks noChangeArrowheads="1"/>
          </p:cNvSpPr>
          <p:nvPr/>
        </p:nvSpPr>
        <p:spPr bwMode="gray">
          <a:xfrm>
            <a:off x="4413671" y="1617317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GE0/0/2</a:t>
            </a:r>
          </a:p>
        </p:txBody>
      </p:sp>
      <p:sp>
        <p:nvSpPr>
          <p:cNvPr id="26" name="Rectangle 312"/>
          <p:cNvSpPr>
            <a:spLocks noChangeArrowheads="1"/>
          </p:cNvSpPr>
          <p:nvPr/>
        </p:nvSpPr>
        <p:spPr bwMode="gray">
          <a:xfrm>
            <a:off x="5204737" y="1396863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R5</a:t>
            </a:r>
          </a:p>
        </p:txBody>
      </p:sp>
      <p:sp>
        <p:nvSpPr>
          <p:cNvPr id="32" name="Rectangle 312"/>
          <p:cNvSpPr>
            <a:spLocks noChangeArrowheads="1"/>
          </p:cNvSpPr>
          <p:nvPr/>
        </p:nvSpPr>
        <p:spPr bwMode="gray">
          <a:xfrm>
            <a:off x="600821" y="1491870"/>
            <a:ext cx="801728" cy="270484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b="1" dirty="0"/>
              <a:t>Area 1</a:t>
            </a:r>
          </a:p>
        </p:txBody>
      </p:sp>
      <p:sp>
        <p:nvSpPr>
          <p:cNvPr id="33" name="Rectangle 312"/>
          <p:cNvSpPr>
            <a:spLocks noChangeArrowheads="1"/>
          </p:cNvSpPr>
          <p:nvPr/>
        </p:nvSpPr>
        <p:spPr bwMode="gray">
          <a:xfrm>
            <a:off x="2335679" y="1491870"/>
            <a:ext cx="801728" cy="270484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b="1" dirty="0"/>
              <a:t>Area 0</a:t>
            </a:r>
          </a:p>
        </p:txBody>
      </p:sp>
      <p:sp>
        <p:nvSpPr>
          <p:cNvPr id="34" name="Rectangle 312"/>
          <p:cNvSpPr>
            <a:spLocks noChangeArrowheads="1"/>
          </p:cNvSpPr>
          <p:nvPr/>
        </p:nvSpPr>
        <p:spPr bwMode="gray">
          <a:xfrm>
            <a:off x="4443242" y="2153219"/>
            <a:ext cx="801728" cy="270484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Area 2</a:t>
            </a:r>
          </a:p>
        </p:txBody>
      </p:sp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017404"/>
              </p:ext>
            </p:extLst>
          </p:nvPr>
        </p:nvGraphicFramePr>
        <p:xfrm>
          <a:off x="485001" y="3654492"/>
          <a:ext cx="5927002" cy="2438400"/>
        </p:xfrm>
        <a:graphic>
          <a:graphicData uri="http://schemas.openxmlformats.org/drawingml/2006/table">
            <a:tbl>
              <a:tblPr firstRow="1" bandRow="1"/>
              <a:tblGrid>
                <a:gridCol w="613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18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设备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Router ID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接口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IPv4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IPv6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10.1.1.1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10.1.12.1/24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2001:DB8:2345:12::1/64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10.1.2.2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10.1.12.2/24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2001:DB8:2345:12::2/64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10.1.23.2/24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2001:DB8:2345:23::2/64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10.1.3.3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10.1.23.3/24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2001:DB8:2345:23::3/64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10.1.35.3/24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2001:DB8:2345:35::3/64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10.1.4.4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10.1.23.4/24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2001:DB8:2345:23::4/64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R5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10.1.5.5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10.1.35.5/24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2001:DB8:2345:35::5/64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5" name="图片 34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171277" y="2179350"/>
            <a:ext cx="540000" cy="442800"/>
          </a:xfrm>
          <a:prstGeom prst="rect">
            <a:avLst/>
          </a:prstGeom>
        </p:spPr>
      </p:pic>
      <p:sp>
        <p:nvSpPr>
          <p:cNvPr id="12" name="Rectangle 312"/>
          <p:cNvSpPr>
            <a:spLocks noChangeArrowheads="1"/>
          </p:cNvSpPr>
          <p:nvPr/>
        </p:nvSpPr>
        <p:spPr bwMode="gray">
          <a:xfrm>
            <a:off x="3964286" y="1396863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R3</a:t>
            </a:r>
          </a:p>
        </p:txBody>
      </p:sp>
      <p:sp>
        <p:nvSpPr>
          <p:cNvPr id="13" name="Rectangle 312"/>
          <p:cNvSpPr>
            <a:spLocks noChangeArrowheads="1"/>
          </p:cNvSpPr>
          <p:nvPr/>
        </p:nvSpPr>
        <p:spPr bwMode="gray">
          <a:xfrm>
            <a:off x="3956108" y="2519142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R4</a:t>
            </a:r>
          </a:p>
        </p:txBody>
      </p:sp>
    </p:spTree>
    <p:extLst>
      <p:ext uri="{BB962C8B-B14F-4D97-AF65-F5344CB8AC3E}">
        <p14:creationId xmlns:p14="http://schemas.microsoft.com/office/powerpoint/2010/main" val="36962647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部署</a:t>
            </a:r>
            <a:r>
              <a:rPr lang="en-US" altLang="zh-CN" dirty="0"/>
              <a:t>IPv4</a:t>
            </a:r>
            <a:r>
              <a:rPr lang="zh-CN" altLang="en-US" dirty="0"/>
              <a:t>网络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7077038" y="2294674"/>
            <a:ext cx="4642748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[R1] ospf 1 router-id 10.1.1.1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[R1-ospf-1] area 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[R1-ospf-1-area-0.0.0.1] network 10.1.12.1 0.0.0.0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6733846" y="1400443"/>
            <a:ext cx="40286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</a:rPr>
              <a:t>1</a:t>
            </a:r>
            <a:r>
              <a:rPr lang="zh-CN" altLang="en-US" sz="1600" dirty="0">
                <a:solidFill>
                  <a:prstClr val="black"/>
                </a:solidFill>
              </a:rPr>
              <a:t>、配置各路由器接口的</a:t>
            </a:r>
            <a:r>
              <a:rPr lang="en-US" altLang="zh-CN" sz="1600" dirty="0">
                <a:solidFill>
                  <a:prstClr val="black"/>
                </a:solidFill>
              </a:rPr>
              <a:t>IPv4</a:t>
            </a:r>
            <a:r>
              <a:rPr lang="zh-CN" altLang="en-US" sz="1600" dirty="0">
                <a:solidFill>
                  <a:prstClr val="black"/>
                </a:solidFill>
              </a:rPr>
              <a:t>地址。（略）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6733846" y="1931485"/>
            <a:ext cx="2438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</a:rPr>
              <a:t>2</a:t>
            </a:r>
            <a:r>
              <a:rPr lang="zh-CN" altLang="en-US" sz="1600" dirty="0">
                <a:solidFill>
                  <a:prstClr val="black"/>
                </a:solidFill>
              </a:rPr>
              <a:t>、配置</a:t>
            </a:r>
            <a:r>
              <a:rPr lang="en-US" altLang="zh-CN" sz="1600" dirty="0">
                <a:solidFill>
                  <a:prstClr val="black"/>
                </a:solidFill>
              </a:rPr>
              <a:t>OSPF</a:t>
            </a:r>
            <a:r>
              <a:rPr lang="zh-CN" altLang="en-US" sz="1600" dirty="0">
                <a:solidFill>
                  <a:prstClr val="black"/>
                </a:solidFill>
              </a:rPr>
              <a:t>基本功能。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7077038" y="3173768"/>
            <a:ext cx="4642748" cy="13849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[R2] ospf 1 router-id 10.1.2.2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[R2-ospf-1] area 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[R2-ospf-1-area-0.0.0.1] network 10.1.12.2 0.0.0.0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[R2-ospf-1-area-0.0.0.1] quit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[R2-ospf-1] area 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[R2-ospf-1-area-0.0.0.0] network 10.1.23.2 0.0.0.0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7077038" y="4699193"/>
            <a:ext cx="4642748" cy="13849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[R3] ospf 1 router-id 10.1.3.3</a:t>
            </a:r>
          </a:p>
          <a:p>
            <a:r>
              <a:rPr lang="en-US" altLang="zh-CN" dirty="0"/>
              <a:t>[R3-ospf-1] area 0</a:t>
            </a:r>
          </a:p>
          <a:p>
            <a:r>
              <a:rPr lang="en-US" altLang="zh-CN" dirty="0"/>
              <a:t>[R3-ospf-1-area-0.0.0.0] network 10.1.23.3 0.0.0.0</a:t>
            </a:r>
          </a:p>
          <a:p>
            <a:r>
              <a:rPr lang="en-US" altLang="zh-CN" dirty="0"/>
              <a:t>[R3-ospf-1-area-0.0.0.0] quit</a:t>
            </a:r>
          </a:p>
          <a:p>
            <a:r>
              <a:rPr lang="en-US" altLang="zh-CN" dirty="0"/>
              <a:t>[R3-ospf-1] area 2</a:t>
            </a:r>
          </a:p>
          <a:p>
            <a:r>
              <a:rPr lang="en-US" altLang="zh-CN" dirty="0"/>
              <a:t>[R3-ospf-1-area-0.0.0.2] network 10.1.35.3 0.0.0.0</a:t>
            </a:r>
          </a:p>
        </p:txBody>
      </p:sp>
      <p:sp>
        <p:nvSpPr>
          <p:cNvPr id="71" name="圆角矩形 70"/>
          <p:cNvSpPr/>
          <p:nvPr/>
        </p:nvSpPr>
        <p:spPr bwMode="gray">
          <a:xfrm>
            <a:off x="4248122" y="1396863"/>
            <a:ext cx="1719465" cy="1033427"/>
          </a:xfrm>
          <a:prstGeom prst="roundRect">
            <a:avLst>
              <a:gd name="adj" fmla="val 5934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72" name="圆角矩形 71"/>
          <p:cNvSpPr/>
          <p:nvPr/>
        </p:nvSpPr>
        <p:spPr bwMode="gray">
          <a:xfrm>
            <a:off x="550603" y="1396863"/>
            <a:ext cx="1719465" cy="1975624"/>
          </a:xfrm>
          <a:prstGeom prst="roundRect">
            <a:avLst>
              <a:gd name="adj" fmla="val 5934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73" name="圆角矩形 72"/>
          <p:cNvSpPr/>
          <p:nvPr/>
        </p:nvSpPr>
        <p:spPr bwMode="gray">
          <a:xfrm>
            <a:off x="2316117" y="1396863"/>
            <a:ext cx="1875110" cy="1975624"/>
          </a:xfrm>
          <a:prstGeom prst="roundRect">
            <a:avLst>
              <a:gd name="adj" fmla="val 5934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pic>
        <p:nvPicPr>
          <p:cNvPr id="74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91310" y="2179350"/>
            <a:ext cx="541201" cy="442800"/>
          </a:xfrm>
          <a:prstGeom prst="rect">
            <a:avLst/>
          </a:prstGeom>
          <a:noFill/>
        </p:spPr>
      </p:pic>
      <p:pic>
        <p:nvPicPr>
          <p:cNvPr id="75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021442" y="2179350"/>
            <a:ext cx="541201" cy="442800"/>
          </a:xfrm>
          <a:prstGeom prst="rect">
            <a:avLst/>
          </a:prstGeom>
          <a:noFill/>
        </p:spPr>
      </p:pic>
      <p:pic>
        <p:nvPicPr>
          <p:cNvPr id="76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91062" y="1649760"/>
            <a:ext cx="541201" cy="442800"/>
          </a:xfrm>
          <a:prstGeom prst="rect">
            <a:avLst/>
          </a:prstGeom>
          <a:noFill/>
        </p:spPr>
      </p:pic>
      <p:cxnSp>
        <p:nvCxnSpPr>
          <p:cNvPr id="77" name="直接连接符 76"/>
          <p:cNvCxnSpPr>
            <a:stCxn id="74" idx="3"/>
            <a:endCxn id="75" idx="1"/>
          </p:cNvCxnSpPr>
          <p:nvPr/>
        </p:nvCxnSpPr>
        <p:spPr bwMode="gray">
          <a:xfrm>
            <a:off x="1132511" y="2400750"/>
            <a:ext cx="8889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>
            <a:stCxn id="75" idx="3"/>
            <a:endCxn id="99" idx="1"/>
          </p:cNvCxnSpPr>
          <p:nvPr/>
        </p:nvCxnSpPr>
        <p:spPr bwMode="gray">
          <a:xfrm>
            <a:off x="2562643" y="2400750"/>
            <a:ext cx="6086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stCxn id="99" idx="1"/>
            <a:endCxn id="76" idx="1"/>
          </p:cNvCxnSpPr>
          <p:nvPr/>
        </p:nvCxnSpPr>
        <p:spPr bwMode="gray">
          <a:xfrm flipV="1">
            <a:off x="3171277" y="1871160"/>
            <a:ext cx="819785" cy="5295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312"/>
          <p:cNvSpPr>
            <a:spLocks noChangeArrowheads="1"/>
          </p:cNvSpPr>
          <p:nvPr/>
        </p:nvSpPr>
        <p:spPr bwMode="gray">
          <a:xfrm>
            <a:off x="562559" y="1938561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R1</a:t>
            </a:r>
          </a:p>
        </p:txBody>
      </p:sp>
      <p:sp>
        <p:nvSpPr>
          <p:cNvPr id="81" name="Rectangle 312"/>
          <p:cNvSpPr>
            <a:spLocks noChangeArrowheads="1"/>
          </p:cNvSpPr>
          <p:nvPr/>
        </p:nvSpPr>
        <p:spPr bwMode="gray">
          <a:xfrm>
            <a:off x="1993990" y="1938631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R2</a:t>
            </a:r>
          </a:p>
        </p:txBody>
      </p:sp>
      <p:sp>
        <p:nvSpPr>
          <p:cNvPr id="82" name="Rectangle 312"/>
          <p:cNvSpPr>
            <a:spLocks noChangeArrowheads="1"/>
          </p:cNvSpPr>
          <p:nvPr/>
        </p:nvSpPr>
        <p:spPr bwMode="gray">
          <a:xfrm>
            <a:off x="3964286" y="1396863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R3</a:t>
            </a:r>
          </a:p>
        </p:txBody>
      </p:sp>
      <p:sp>
        <p:nvSpPr>
          <p:cNvPr id="83" name="Rectangle 312"/>
          <p:cNvSpPr>
            <a:spLocks noChangeArrowheads="1"/>
          </p:cNvSpPr>
          <p:nvPr/>
        </p:nvSpPr>
        <p:spPr bwMode="gray">
          <a:xfrm>
            <a:off x="3956108" y="2519142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R4</a:t>
            </a:r>
          </a:p>
        </p:txBody>
      </p:sp>
      <p:sp>
        <p:nvSpPr>
          <p:cNvPr id="84" name="Rectangle 312"/>
          <p:cNvSpPr>
            <a:spLocks noChangeArrowheads="1"/>
          </p:cNvSpPr>
          <p:nvPr/>
        </p:nvSpPr>
        <p:spPr bwMode="gray">
          <a:xfrm>
            <a:off x="953658" y="2153219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sp>
        <p:nvSpPr>
          <p:cNvPr id="85" name="Rectangle 312"/>
          <p:cNvSpPr>
            <a:spLocks noChangeArrowheads="1"/>
          </p:cNvSpPr>
          <p:nvPr/>
        </p:nvSpPr>
        <p:spPr bwMode="gray">
          <a:xfrm>
            <a:off x="1248333" y="2367877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sp>
        <p:nvSpPr>
          <p:cNvPr id="86" name="Rectangle 312"/>
          <p:cNvSpPr>
            <a:spLocks noChangeArrowheads="1"/>
          </p:cNvSpPr>
          <p:nvPr/>
        </p:nvSpPr>
        <p:spPr bwMode="gray">
          <a:xfrm>
            <a:off x="2369550" y="2153219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GE0/0/0</a:t>
            </a:r>
          </a:p>
        </p:txBody>
      </p:sp>
      <p:sp>
        <p:nvSpPr>
          <p:cNvPr id="87" name="Rectangle 312"/>
          <p:cNvSpPr>
            <a:spLocks noChangeArrowheads="1"/>
          </p:cNvSpPr>
          <p:nvPr/>
        </p:nvSpPr>
        <p:spPr bwMode="gray">
          <a:xfrm>
            <a:off x="3213864" y="1633049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sp>
        <p:nvSpPr>
          <p:cNvPr id="88" name="Rectangle 312"/>
          <p:cNvSpPr>
            <a:spLocks noChangeArrowheads="1"/>
          </p:cNvSpPr>
          <p:nvPr/>
        </p:nvSpPr>
        <p:spPr bwMode="gray">
          <a:xfrm>
            <a:off x="3198791" y="2926404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GE0/0/2</a:t>
            </a:r>
          </a:p>
        </p:txBody>
      </p:sp>
      <p:pic>
        <p:nvPicPr>
          <p:cNvPr id="89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91062" y="2744792"/>
            <a:ext cx="541201" cy="442800"/>
          </a:xfrm>
          <a:prstGeom prst="rect">
            <a:avLst/>
          </a:prstGeom>
          <a:noFill/>
        </p:spPr>
      </p:pic>
      <p:cxnSp>
        <p:nvCxnSpPr>
          <p:cNvPr id="90" name="直接连接符 89"/>
          <p:cNvCxnSpPr>
            <a:stCxn id="99" idx="1"/>
            <a:endCxn id="89" idx="1"/>
          </p:cNvCxnSpPr>
          <p:nvPr/>
        </p:nvCxnSpPr>
        <p:spPr bwMode="gray">
          <a:xfrm>
            <a:off x="3171277" y="2400750"/>
            <a:ext cx="819785" cy="5654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1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231513" y="1649760"/>
            <a:ext cx="541201" cy="442800"/>
          </a:xfrm>
          <a:prstGeom prst="rect">
            <a:avLst/>
          </a:prstGeom>
          <a:noFill/>
        </p:spPr>
      </p:pic>
      <p:cxnSp>
        <p:nvCxnSpPr>
          <p:cNvPr id="92" name="直接连接符 91"/>
          <p:cNvCxnSpPr>
            <a:stCxn id="76" idx="3"/>
            <a:endCxn id="91" idx="1"/>
          </p:cNvCxnSpPr>
          <p:nvPr/>
        </p:nvCxnSpPr>
        <p:spPr bwMode="gray">
          <a:xfrm>
            <a:off x="4532263" y="1871160"/>
            <a:ext cx="6992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312"/>
          <p:cNvSpPr>
            <a:spLocks noChangeArrowheads="1"/>
          </p:cNvSpPr>
          <p:nvPr/>
        </p:nvSpPr>
        <p:spPr bwMode="gray">
          <a:xfrm>
            <a:off x="4413671" y="1617317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GE0/0/2</a:t>
            </a:r>
          </a:p>
        </p:txBody>
      </p:sp>
      <p:sp>
        <p:nvSpPr>
          <p:cNvPr id="94" name="Rectangle 312"/>
          <p:cNvSpPr>
            <a:spLocks noChangeArrowheads="1"/>
          </p:cNvSpPr>
          <p:nvPr/>
        </p:nvSpPr>
        <p:spPr bwMode="gray">
          <a:xfrm>
            <a:off x="5204737" y="1396863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R5</a:t>
            </a:r>
          </a:p>
        </p:txBody>
      </p:sp>
      <p:sp>
        <p:nvSpPr>
          <p:cNvPr id="95" name="Rectangle 312"/>
          <p:cNvSpPr>
            <a:spLocks noChangeArrowheads="1"/>
          </p:cNvSpPr>
          <p:nvPr/>
        </p:nvSpPr>
        <p:spPr bwMode="gray">
          <a:xfrm>
            <a:off x="600821" y="1491870"/>
            <a:ext cx="801728" cy="270484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b="1" dirty="0"/>
              <a:t>Area 1</a:t>
            </a:r>
          </a:p>
        </p:txBody>
      </p:sp>
      <p:sp>
        <p:nvSpPr>
          <p:cNvPr id="96" name="Rectangle 312"/>
          <p:cNvSpPr>
            <a:spLocks noChangeArrowheads="1"/>
          </p:cNvSpPr>
          <p:nvPr/>
        </p:nvSpPr>
        <p:spPr bwMode="gray">
          <a:xfrm>
            <a:off x="2335679" y="1491870"/>
            <a:ext cx="801728" cy="270484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b="1" dirty="0"/>
              <a:t>Area 0</a:t>
            </a:r>
          </a:p>
        </p:txBody>
      </p:sp>
      <p:sp>
        <p:nvSpPr>
          <p:cNvPr id="97" name="Rectangle 312"/>
          <p:cNvSpPr>
            <a:spLocks noChangeArrowheads="1"/>
          </p:cNvSpPr>
          <p:nvPr/>
        </p:nvSpPr>
        <p:spPr bwMode="gray">
          <a:xfrm>
            <a:off x="4443242" y="2153219"/>
            <a:ext cx="801728" cy="270484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Area 2</a:t>
            </a:r>
          </a:p>
        </p:txBody>
      </p:sp>
      <p:graphicFrame>
        <p:nvGraphicFramePr>
          <p:cNvPr id="98" name="表格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523381"/>
              </p:ext>
            </p:extLst>
          </p:nvPr>
        </p:nvGraphicFramePr>
        <p:xfrm>
          <a:off x="485001" y="3654492"/>
          <a:ext cx="5927002" cy="2438400"/>
        </p:xfrm>
        <a:graphic>
          <a:graphicData uri="http://schemas.openxmlformats.org/drawingml/2006/table">
            <a:tbl>
              <a:tblPr firstRow="1" bandRow="1"/>
              <a:tblGrid>
                <a:gridCol w="613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18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设备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Router ID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接口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IPv4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IPv6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10.1.1.1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10.1.12.1/24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2001:DB8:2345:12::1/64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10.1.2.2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10.1.12.2/24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2001:DB8:2345:12::2/64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10.1.23.2/24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2001:DB8:2345:23::2/64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10.1.3.3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10.1.23.3/24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2001:DB8:2345:23::3/64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10.1.35.3/24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2001:DB8:2345:35::3/64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10.1.4.4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10.1.23.4/24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2001:DB8:2345:23::4/64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R5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10.1.5.5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10.1.35.5/24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2001:DB8:2345:35::5/64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99" name="图片 98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171277" y="2179350"/>
            <a:ext cx="540000" cy="4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3989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部署</a:t>
            </a:r>
            <a:r>
              <a:rPr lang="en-US" altLang="zh-CN" dirty="0"/>
              <a:t>IPv4</a:t>
            </a:r>
            <a:r>
              <a:rPr lang="zh-CN" altLang="en-US" dirty="0"/>
              <a:t>网络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41" name="文本框 40"/>
          <p:cNvSpPr txBox="1"/>
          <p:nvPr/>
        </p:nvSpPr>
        <p:spPr>
          <a:xfrm>
            <a:off x="7077038" y="1543435"/>
            <a:ext cx="4642748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[R4] ospf 1 router-id 10.1.4.4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[R4-ospf-1] area 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[R4-ospf-1-area-0.0.0.0] network 10.1.23.4 0.0.0.0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7077038" y="2773162"/>
            <a:ext cx="4642748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[R5] ospf 1 router-id 10.1.5.5</a:t>
            </a:r>
          </a:p>
          <a:p>
            <a:r>
              <a:rPr lang="en-US" altLang="zh-CN" dirty="0"/>
              <a:t>[R5-ospf-1] area 2</a:t>
            </a:r>
          </a:p>
          <a:p>
            <a:r>
              <a:rPr lang="en-US" altLang="zh-CN" dirty="0"/>
              <a:t>[R5-ospf-1-area-0.0.0.2] network 10.1.35.5 0.0.0.0</a:t>
            </a:r>
          </a:p>
        </p:txBody>
      </p:sp>
      <p:sp>
        <p:nvSpPr>
          <p:cNvPr id="34" name="圆角矩形 33"/>
          <p:cNvSpPr/>
          <p:nvPr/>
        </p:nvSpPr>
        <p:spPr bwMode="gray">
          <a:xfrm>
            <a:off x="4248122" y="1396863"/>
            <a:ext cx="1719465" cy="1033427"/>
          </a:xfrm>
          <a:prstGeom prst="roundRect">
            <a:avLst>
              <a:gd name="adj" fmla="val 5934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5" name="圆角矩形 34"/>
          <p:cNvSpPr/>
          <p:nvPr/>
        </p:nvSpPr>
        <p:spPr bwMode="gray">
          <a:xfrm>
            <a:off x="550603" y="1396863"/>
            <a:ext cx="1719465" cy="1975624"/>
          </a:xfrm>
          <a:prstGeom prst="roundRect">
            <a:avLst>
              <a:gd name="adj" fmla="val 5934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67" name="圆角矩形 66"/>
          <p:cNvSpPr/>
          <p:nvPr/>
        </p:nvSpPr>
        <p:spPr bwMode="gray">
          <a:xfrm>
            <a:off x="2316117" y="1396863"/>
            <a:ext cx="1875110" cy="1975624"/>
          </a:xfrm>
          <a:prstGeom prst="roundRect">
            <a:avLst>
              <a:gd name="adj" fmla="val 5934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pic>
        <p:nvPicPr>
          <p:cNvPr id="68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91310" y="2179350"/>
            <a:ext cx="541201" cy="442800"/>
          </a:xfrm>
          <a:prstGeom prst="rect">
            <a:avLst/>
          </a:prstGeom>
          <a:noFill/>
        </p:spPr>
      </p:pic>
      <p:pic>
        <p:nvPicPr>
          <p:cNvPr id="69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021442" y="2179350"/>
            <a:ext cx="541201" cy="442800"/>
          </a:xfrm>
          <a:prstGeom prst="rect">
            <a:avLst/>
          </a:prstGeom>
          <a:noFill/>
        </p:spPr>
      </p:pic>
      <p:pic>
        <p:nvPicPr>
          <p:cNvPr id="70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91062" y="1649760"/>
            <a:ext cx="541201" cy="442800"/>
          </a:xfrm>
          <a:prstGeom prst="rect">
            <a:avLst/>
          </a:prstGeom>
          <a:noFill/>
        </p:spPr>
      </p:pic>
      <p:cxnSp>
        <p:nvCxnSpPr>
          <p:cNvPr id="71" name="直接连接符 70"/>
          <p:cNvCxnSpPr>
            <a:stCxn id="68" idx="3"/>
            <a:endCxn id="69" idx="1"/>
          </p:cNvCxnSpPr>
          <p:nvPr/>
        </p:nvCxnSpPr>
        <p:spPr bwMode="gray">
          <a:xfrm>
            <a:off x="1132511" y="2400750"/>
            <a:ext cx="8889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>
            <a:stCxn id="69" idx="3"/>
            <a:endCxn id="93" idx="1"/>
          </p:cNvCxnSpPr>
          <p:nvPr/>
        </p:nvCxnSpPr>
        <p:spPr bwMode="gray">
          <a:xfrm>
            <a:off x="2562643" y="2400750"/>
            <a:ext cx="6086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stCxn id="93" idx="1"/>
            <a:endCxn id="70" idx="1"/>
          </p:cNvCxnSpPr>
          <p:nvPr/>
        </p:nvCxnSpPr>
        <p:spPr bwMode="gray">
          <a:xfrm flipV="1">
            <a:off x="3171277" y="1871160"/>
            <a:ext cx="819785" cy="5295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312"/>
          <p:cNvSpPr>
            <a:spLocks noChangeArrowheads="1"/>
          </p:cNvSpPr>
          <p:nvPr/>
        </p:nvSpPr>
        <p:spPr bwMode="gray">
          <a:xfrm>
            <a:off x="562559" y="1938561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R1</a:t>
            </a:r>
          </a:p>
        </p:txBody>
      </p:sp>
      <p:sp>
        <p:nvSpPr>
          <p:cNvPr id="75" name="Rectangle 312"/>
          <p:cNvSpPr>
            <a:spLocks noChangeArrowheads="1"/>
          </p:cNvSpPr>
          <p:nvPr/>
        </p:nvSpPr>
        <p:spPr bwMode="gray">
          <a:xfrm>
            <a:off x="1993990" y="1938631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R2</a:t>
            </a:r>
          </a:p>
        </p:txBody>
      </p:sp>
      <p:sp>
        <p:nvSpPr>
          <p:cNvPr id="76" name="Rectangle 312"/>
          <p:cNvSpPr>
            <a:spLocks noChangeArrowheads="1"/>
          </p:cNvSpPr>
          <p:nvPr/>
        </p:nvSpPr>
        <p:spPr bwMode="gray">
          <a:xfrm>
            <a:off x="3964286" y="1396863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R3</a:t>
            </a:r>
          </a:p>
        </p:txBody>
      </p:sp>
      <p:sp>
        <p:nvSpPr>
          <p:cNvPr id="77" name="Rectangle 312"/>
          <p:cNvSpPr>
            <a:spLocks noChangeArrowheads="1"/>
          </p:cNvSpPr>
          <p:nvPr/>
        </p:nvSpPr>
        <p:spPr bwMode="gray">
          <a:xfrm>
            <a:off x="3956108" y="2519142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R4</a:t>
            </a:r>
          </a:p>
        </p:txBody>
      </p:sp>
      <p:sp>
        <p:nvSpPr>
          <p:cNvPr id="78" name="Rectangle 312"/>
          <p:cNvSpPr>
            <a:spLocks noChangeArrowheads="1"/>
          </p:cNvSpPr>
          <p:nvPr/>
        </p:nvSpPr>
        <p:spPr bwMode="gray">
          <a:xfrm>
            <a:off x="953658" y="2153219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sp>
        <p:nvSpPr>
          <p:cNvPr id="79" name="Rectangle 312"/>
          <p:cNvSpPr>
            <a:spLocks noChangeArrowheads="1"/>
          </p:cNvSpPr>
          <p:nvPr/>
        </p:nvSpPr>
        <p:spPr bwMode="gray">
          <a:xfrm>
            <a:off x="1248333" y="2367877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sp>
        <p:nvSpPr>
          <p:cNvPr id="80" name="Rectangle 312"/>
          <p:cNvSpPr>
            <a:spLocks noChangeArrowheads="1"/>
          </p:cNvSpPr>
          <p:nvPr/>
        </p:nvSpPr>
        <p:spPr bwMode="gray">
          <a:xfrm>
            <a:off x="2369550" y="2153219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GE0/0/0</a:t>
            </a:r>
          </a:p>
        </p:txBody>
      </p:sp>
      <p:sp>
        <p:nvSpPr>
          <p:cNvPr id="81" name="Rectangle 312"/>
          <p:cNvSpPr>
            <a:spLocks noChangeArrowheads="1"/>
          </p:cNvSpPr>
          <p:nvPr/>
        </p:nvSpPr>
        <p:spPr bwMode="gray">
          <a:xfrm>
            <a:off x="3213864" y="1633049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sp>
        <p:nvSpPr>
          <p:cNvPr id="82" name="Rectangle 312"/>
          <p:cNvSpPr>
            <a:spLocks noChangeArrowheads="1"/>
          </p:cNvSpPr>
          <p:nvPr/>
        </p:nvSpPr>
        <p:spPr bwMode="gray">
          <a:xfrm>
            <a:off x="3198791" y="2926404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GE0/0/2</a:t>
            </a:r>
          </a:p>
        </p:txBody>
      </p:sp>
      <p:pic>
        <p:nvPicPr>
          <p:cNvPr id="83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91062" y="2744792"/>
            <a:ext cx="541201" cy="442800"/>
          </a:xfrm>
          <a:prstGeom prst="rect">
            <a:avLst/>
          </a:prstGeom>
          <a:noFill/>
        </p:spPr>
      </p:pic>
      <p:cxnSp>
        <p:nvCxnSpPr>
          <p:cNvPr id="84" name="直接连接符 83"/>
          <p:cNvCxnSpPr>
            <a:stCxn id="93" idx="1"/>
            <a:endCxn id="83" idx="1"/>
          </p:cNvCxnSpPr>
          <p:nvPr/>
        </p:nvCxnSpPr>
        <p:spPr bwMode="gray">
          <a:xfrm>
            <a:off x="3171277" y="2400750"/>
            <a:ext cx="819785" cy="5654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231513" y="1649760"/>
            <a:ext cx="541201" cy="442800"/>
          </a:xfrm>
          <a:prstGeom prst="rect">
            <a:avLst/>
          </a:prstGeom>
          <a:noFill/>
        </p:spPr>
      </p:pic>
      <p:cxnSp>
        <p:nvCxnSpPr>
          <p:cNvPr id="86" name="直接连接符 85"/>
          <p:cNvCxnSpPr>
            <a:stCxn id="70" idx="3"/>
            <a:endCxn id="85" idx="1"/>
          </p:cNvCxnSpPr>
          <p:nvPr/>
        </p:nvCxnSpPr>
        <p:spPr bwMode="gray">
          <a:xfrm>
            <a:off x="4532263" y="1871160"/>
            <a:ext cx="6992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312"/>
          <p:cNvSpPr>
            <a:spLocks noChangeArrowheads="1"/>
          </p:cNvSpPr>
          <p:nvPr/>
        </p:nvSpPr>
        <p:spPr bwMode="gray">
          <a:xfrm>
            <a:off x="4413671" y="1617317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GE0/0/2</a:t>
            </a:r>
          </a:p>
        </p:txBody>
      </p:sp>
      <p:sp>
        <p:nvSpPr>
          <p:cNvPr id="88" name="Rectangle 312"/>
          <p:cNvSpPr>
            <a:spLocks noChangeArrowheads="1"/>
          </p:cNvSpPr>
          <p:nvPr/>
        </p:nvSpPr>
        <p:spPr bwMode="gray">
          <a:xfrm>
            <a:off x="5204737" y="1396863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R5</a:t>
            </a:r>
          </a:p>
        </p:txBody>
      </p:sp>
      <p:sp>
        <p:nvSpPr>
          <p:cNvPr id="89" name="Rectangle 312"/>
          <p:cNvSpPr>
            <a:spLocks noChangeArrowheads="1"/>
          </p:cNvSpPr>
          <p:nvPr/>
        </p:nvSpPr>
        <p:spPr bwMode="gray">
          <a:xfrm>
            <a:off x="600821" y="1491870"/>
            <a:ext cx="801728" cy="270484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b="1" dirty="0"/>
              <a:t>Area 1</a:t>
            </a:r>
          </a:p>
        </p:txBody>
      </p:sp>
      <p:sp>
        <p:nvSpPr>
          <p:cNvPr id="90" name="Rectangle 312"/>
          <p:cNvSpPr>
            <a:spLocks noChangeArrowheads="1"/>
          </p:cNvSpPr>
          <p:nvPr/>
        </p:nvSpPr>
        <p:spPr bwMode="gray">
          <a:xfrm>
            <a:off x="2335679" y="1491870"/>
            <a:ext cx="801728" cy="270484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b="1" dirty="0"/>
              <a:t>Area 0</a:t>
            </a:r>
          </a:p>
        </p:txBody>
      </p:sp>
      <p:sp>
        <p:nvSpPr>
          <p:cNvPr id="91" name="Rectangle 312"/>
          <p:cNvSpPr>
            <a:spLocks noChangeArrowheads="1"/>
          </p:cNvSpPr>
          <p:nvPr/>
        </p:nvSpPr>
        <p:spPr bwMode="gray">
          <a:xfrm>
            <a:off x="4443242" y="2153219"/>
            <a:ext cx="801728" cy="270484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Area 2</a:t>
            </a:r>
          </a:p>
        </p:txBody>
      </p:sp>
      <p:graphicFrame>
        <p:nvGraphicFramePr>
          <p:cNvPr id="92" name="表格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998070"/>
              </p:ext>
            </p:extLst>
          </p:nvPr>
        </p:nvGraphicFramePr>
        <p:xfrm>
          <a:off x="485001" y="3654492"/>
          <a:ext cx="5927002" cy="2438400"/>
        </p:xfrm>
        <a:graphic>
          <a:graphicData uri="http://schemas.openxmlformats.org/drawingml/2006/table">
            <a:tbl>
              <a:tblPr firstRow="1" bandRow="1"/>
              <a:tblGrid>
                <a:gridCol w="613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18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设备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Router ID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接口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IPv4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IPv6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10.1.1.1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10.1.12.1/24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2001:DB8:2345:12::1/64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10.1.2.2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10.1.12.2/24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2001:DB8:2345:12::2/64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10.1.23.2/24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2001:DB8:2345:23::2/64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10.1.3.3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10.1.23.3/24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2001:DB8:2345:23::3/64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10.1.35.3/24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2001:DB8:2345:35::3/64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10.1.4.4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10.1.23.4/24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2001:DB8:2345:23::4/64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R5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10.1.5.5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10.1.35.5/24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2001:DB8:2345:35::5/64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93" name="图片 92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171277" y="2179350"/>
            <a:ext cx="540000" cy="4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0994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部署</a:t>
            </a:r>
            <a:r>
              <a:rPr lang="en-US" altLang="zh-CN" dirty="0"/>
              <a:t>IPv6</a:t>
            </a:r>
            <a:r>
              <a:rPr lang="zh-CN" altLang="en-US" dirty="0"/>
              <a:t>网络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7077038" y="2383270"/>
            <a:ext cx="4642748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[R1] ospfv3 1</a:t>
            </a:r>
          </a:p>
          <a:p>
            <a:r>
              <a:rPr lang="en-US" altLang="zh-CN" dirty="0"/>
              <a:t>[R1-ospfv3-1] router-id 10.1.1.1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6733846" y="1383021"/>
            <a:ext cx="49859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</a:rPr>
              <a:t>1</a:t>
            </a:r>
            <a:r>
              <a:rPr lang="zh-CN" altLang="en-US" sz="1600" dirty="0">
                <a:solidFill>
                  <a:prstClr val="black"/>
                </a:solidFill>
              </a:rPr>
              <a:t>、全局及接口下使能</a:t>
            </a:r>
            <a:r>
              <a:rPr lang="en-US" altLang="zh-CN" sz="1600" dirty="0">
                <a:solidFill>
                  <a:prstClr val="black"/>
                </a:solidFill>
              </a:rPr>
              <a:t>IPv6</a:t>
            </a:r>
            <a:r>
              <a:rPr lang="zh-CN" altLang="en-US" sz="1600" dirty="0">
                <a:solidFill>
                  <a:prstClr val="black"/>
                </a:solidFill>
              </a:rPr>
              <a:t>功能，配置各路由器接口的</a:t>
            </a:r>
            <a:r>
              <a:rPr lang="en-US" altLang="zh-CN" sz="1600" dirty="0">
                <a:solidFill>
                  <a:prstClr val="black"/>
                </a:solidFill>
              </a:rPr>
              <a:t>IPv6</a:t>
            </a:r>
            <a:r>
              <a:rPr lang="zh-CN" altLang="en-US" sz="1600" dirty="0">
                <a:solidFill>
                  <a:prstClr val="black"/>
                </a:solidFill>
              </a:rPr>
              <a:t>地址。（略）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6733846" y="2020081"/>
            <a:ext cx="22445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</a:rPr>
              <a:t>2</a:t>
            </a:r>
            <a:r>
              <a:rPr lang="zh-CN" altLang="en-US" sz="1600" dirty="0">
                <a:solidFill>
                  <a:prstClr val="black"/>
                </a:solidFill>
              </a:rPr>
              <a:t>、启动</a:t>
            </a:r>
            <a:r>
              <a:rPr lang="en-US" altLang="zh-CN" sz="1600" dirty="0">
                <a:solidFill>
                  <a:prstClr val="black"/>
                </a:solidFill>
              </a:rPr>
              <a:t>OSPFv3</a:t>
            </a:r>
            <a:r>
              <a:rPr lang="zh-CN" altLang="en-US" sz="1600" dirty="0">
                <a:solidFill>
                  <a:prstClr val="black"/>
                </a:solidFill>
              </a:rPr>
              <a:t>功能。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7077038" y="3173339"/>
            <a:ext cx="4642748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cs typeface="Courier New" panose="02070309020205020404" pitchFamily="49" charset="0"/>
              </a:defRPr>
            </a:lvl1pPr>
          </a:lstStyle>
          <a:p>
            <a:r>
              <a:rPr lang="pt-BR" altLang="zh-CN" dirty="0"/>
              <a:t>[R2] ospfv3 1</a:t>
            </a:r>
          </a:p>
          <a:p>
            <a:r>
              <a:rPr lang="pt-BR" altLang="zh-CN" dirty="0"/>
              <a:t>[R2-ospfv3-1] router-id 10.1.2.2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7077038" y="3963408"/>
            <a:ext cx="4642748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cs typeface="Courier New" panose="02070309020205020404" pitchFamily="49" charset="0"/>
              </a:defRPr>
            </a:lvl1pPr>
          </a:lstStyle>
          <a:p>
            <a:r>
              <a:rPr lang="pt-BR" altLang="zh-CN" dirty="0"/>
              <a:t>[R3] ospfv3 1</a:t>
            </a:r>
          </a:p>
          <a:p>
            <a:r>
              <a:rPr lang="pt-BR" altLang="zh-CN" dirty="0"/>
              <a:t>[R3-ospfv3-1] router-id 10.1.3.3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7077038" y="4753477"/>
            <a:ext cx="4642748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cs typeface="Courier New" panose="02070309020205020404" pitchFamily="49" charset="0"/>
              </a:defRPr>
            </a:lvl1pPr>
          </a:lstStyle>
          <a:p>
            <a:r>
              <a:rPr lang="pt-BR" altLang="zh-CN" dirty="0"/>
              <a:t>[R4] ospfv3 1</a:t>
            </a:r>
          </a:p>
          <a:p>
            <a:r>
              <a:rPr lang="pt-BR" altLang="zh-CN" dirty="0"/>
              <a:t>[R4-ospfv3-1] router-id 10.1.4.4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7077038" y="5543546"/>
            <a:ext cx="4642748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cs typeface="Courier New" panose="02070309020205020404" pitchFamily="49" charset="0"/>
              </a:defRPr>
            </a:lvl1pPr>
          </a:lstStyle>
          <a:p>
            <a:r>
              <a:rPr lang="pt-BR" altLang="zh-CN" dirty="0"/>
              <a:t>[R5] ospfv3 1</a:t>
            </a:r>
          </a:p>
          <a:p>
            <a:r>
              <a:rPr lang="pt-BR" altLang="zh-CN" dirty="0"/>
              <a:t>[R5-ospfv3-1] router-id 10.1.5.5</a:t>
            </a:r>
          </a:p>
        </p:txBody>
      </p:sp>
      <p:sp>
        <p:nvSpPr>
          <p:cNvPr id="43" name="圆角矩形 42"/>
          <p:cNvSpPr/>
          <p:nvPr/>
        </p:nvSpPr>
        <p:spPr bwMode="gray">
          <a:xfrm>
            <a:off x="4248122" y="1396863"/>
            <a:ext cx="1719465" cy="1033427"/>
          </a:xfrm>
          <a:prstGeom prst="roundRect">
            <a:avLst>
              <a:gd name="adj" fmla="val 5934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73" name="圆角矩形 72"/>
          <p:cNvSpPr/>
          <p:nvPr/>
        </p:nvSpPr>
        <p:spPr bwMode="gray">
          <a:xfrm>
            <a:off x="550603" y="1396863"/>
            <a:ext cx="1719465" cy="1975624"/>
          </a:xfrm>
          <a:prstGeom prst="roundRect">
            <a:avLst>
              <a:gd name="adj" fmla="val 5934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74" name="圆角矩形 73"/>
          <p:cNvSpPr/>
          <p:nvPr/>
        </p:nvSpPr>
        <p:spPr bwMode="gray">
          <a:xfrm>
            <a:off x="2316117" y="1396863"/>
            <a:ext cx="1875110" cy="1975624"/>
          </a:xfrm>
          <a:prstGeom prst="roundRect">
            <a:avLst>
              <a:gd name="adj" fmla="val 5934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pic>
        <p:nvPicPr>
          <p:cNvPr id="75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91310" y="2179350"/>
            <a:ext cx="541201" cy="442800"/>
          </a:xfrm>
          <a:prstGeom prst="rect">
            <a:avLst/>
          </a:prstGeom>
          <a:noFill/>
        </p:spPr>
      </p:pic>
      <p:pic>
        <p:nvPicPr>
          <p:cNvPr id="76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021442" y="2179350"/>
            <a:ext cx="541201" cy="442800"/>
          </a:xfrm>
          <a:prstGeom prst="rect">
            <a:avLst/>
          </a:prstGeom>
          <a:noFill/>
        </p:spPr>
      </p:pic>
      <p:pic>
        <p:nvPicPr>
          <p:cNvPr id="77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91062" y="1649760"/>
            <a:ext cx="541201" cy="442800"/>
          </a:xfrm>
          <a:prstGeom prst="rect">
            <a:avLst/>
          </a:prstGeom>
          <a:noFill/>
        </p:spPr>
      </p:pic>
      <p:cxnSp>
        <p:nvCxnSpPr>
          <p:cNvPr id="78" name="直接连接符 77"/>
          <p:cNvCxnSpPr>
            <a:stCxn id="75" idx="3"/>
            <a:endCxn id="76" idx="1"/>
          </p:cNvCxnSpPr>
          <p:nvPr/>
        </p:nvCxnSpPr>
        <p:spPr bwMode="gray">
          <a:xfrm>
            <a:off x="1132511" y="2400750"/>
            <a:ext cx="8889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stCxn id="76" idx="3"/>
            <a:endCxn id="100" idx="1"/>
          </p:cNvCxnSpPr>
          <p:nvPr/>
        </p:nvCxnSpPr>
        <p:spPr bwMode="gray">
          <a:xfrm>
            <a:off x="2562643" y="2400750"/>
            <a:ext cx="6086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>
            <a:stCxn id="100" idx="1"/>
            <a:endCxn id="77" idx="1"/>
          </p:cNvCxnSpPr>
          <p:nvPr/>
        </p:nvCxnSpPr>
        <p:spPr bwMode="gray">
          <a:xfrm flipV="1">
            <a:off x="3171277" y="1871160"/>
            <a:ext cx="819785" cy="5295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312"/>
          <p:cNvSpPr>
            <a:spLocks noChangeArrowheads="1"/>
          </p:cNvSpPr>
          <p:nvPr/>
        </p:nvSpPr>
        <p:spPr bwMode="gray">
          <a:xfrm>
            <a:off x="562559" y="1938561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R1</a:t>
            </a:r>
          </a:p>
        </p:txBody>
      </p:sp>
      <p:sp>
        <p:nvSpPr>
          <p:cNvPr id="82" name="Rectangle 312"/>
          <p:cNvSpPr>
            <a:spLocks noChangeArrowheads="1"/>
          </p:cNvSpPr>
          <p:nvPr/>
        </p:nvSpPr>
        <p:spPr bwMode="gray">
          <a:xfrm>
            <a:off x="1993990" y="1938631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R2</a:t>
            </a:r>
          </a:p>
        </p:txBody>
      </p:sp>
      <p:sp>
        <p:nvSpPr>
          <p:cNvPr id="83" name="Rectangle 312"/>
          <p:cNvSpPr>
            <a:spLocks noChangeArrowheads="1"/>
          </p:cNvSpPr>
          <p:nvPr/>
        </p:nvSpPr>
        <p:spPr bwMode="gray">
          <a:xfrm>
            <a:off x="3964286" y="1396863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R3</a:t>
            </a:r>
          </a:p>
        </p:txBody>
      </p:sp>
      <p:sp>
        <p:nvSpPr>
          <p:cNvPr id="84" name="Rectangle 312"/>
          <p:cNvSpPr>
            <a:spLocks noChangeArrowheads="1"/>
          </p:cNvSpPr>
          <p:nvPr/>
        </p:nvSpPr>
        <p:spPr bwMode="gray">
          <a:xfrm>
            <a:off x="3956108" y="2519142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R4</a:t>
            </a:r>
          </a:p>
        </p:txBody>
      </p:sp>
      <p:sp>
        <p:nvSpPr>
          <p:cNvPr id="85" name="Rectangle 312"/>
          <p:cNvSpPr>
            <a:spLocks noChangeArrowheads="1"/>
          </p:cNvSpPr>
          <p:nvPr/>
        </p:nvSpPr>
        <p:spPr bwMode="gray">
          <a:xfrm>
            <a:off x="953658" y="2153219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sp>
        <p:nvSpPr>
          <p:cNvPr id="86" name="Rectangle 312"/>
          <p:cNvSpPr>
            <a:spLocks noChangeArrowheads="1"/>
          </p:cNvSpPr>
          <p:nvPr/>
        </p:nvSpPr>
        <p:spPr bwMode="gray">
          <a:xfrm>
            <a:off x="1248333" y="2367877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sp>
        <p:nvSpPr>
          <p:cNvPr id="87" name="Rectangle 312"/>
          <p:cNvSpPr>
            <a:spLocks noChangeArrowheads="1"/>
          </p:cNvSpPr>
          <p:nvPr/>
        </p:nvSpPr>
        <p:spPr bwMode="gray">
          <a:xfrm>
            <a:off x="2369550" y="2153219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GE0/0/0</a:t>
            </a:r>
          </a:p>
        </p:txBody>
      </p:sp>
      <p:sp>
        <p:nvSpPr>
          <p:cNvPr id="88" name="Rectangle 312"/>
          <p:cNvSpPr>
            <a:spLocks noChangeArrowheads="1"/>
          </p:cNvSpPr>
          <p:nvPr/>
        </p:nvSpPr>
        <p:spPr bwMode="gray">
          <a:xfrm>
            <a:off x="3213864" y="1633049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sp>
        <p:nvSpPr>
          <p:cNvPr id="89" name="Rectangle 312"/>
          <p:cNvSpPr>
            <a:spLocks noChangeArrowheads="1"/>
          </p:cNvSpPr>
          <p:nvPr/>
        </p:nvSpPr>
        <p:spPr bwMode="gray">
          <a:xfrm>
            <a:off x="3198791" y="2926404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GE0/0/2</a:t>
            </a:r>
          </a:p>
        </p:txBody>
      </p:sp>
      <p:pic>
        <p:nvPicPr>
          <p:cNvPr id="90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91062" y="2744792"/>
            <a:ext cx="541201" cy="442800"/>
          </a:xfrm>
          <a:prstGeom prst="rect">
            <a:avLst/>
          </a:prstGeom>
          <a:noFill/>
        </p:spPr>
      </p:pic>
      <p:cxnSp>
        <p:nvCxnSpPr>
          <p:cNvPr id="91" name="直接连接符 90"/>
          <p:cNvCxnSpPr>
            <a:stCxn id="100" idx="1"/>
            <a:endCxn id="90" idx="1"/>
          </p:cNvCxnSpPr>
          <p:nvPr/>
        </p:nvCxnSpPr>
        <p:spPr bwMode="gray">
          <a:xfrm>
            <a:off x="3171277" y="2400750"/>
            <a:ext cx="819785" cy="5654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231513" y="1649760"/>
            <a:ext cx="541201" cy="442800"/>
          </a:xfrm>
          <a:prstGeom prst="rect">
            <a:avLst/>
          </a:prstGeom>
          <a:noFill/>
        </p:spPr>
      </p:pic>
      <p:cxnSp>
        <p:nvCxnSpPr>
          <p:cNvPr id="93" name="直接连接符 92"/>
          <p:cNvCxnSpPr>
            <a:stCxn id="77" idx="3"/>
            <a:endCxn id="92" idx="1"/>
          </p:cNvCxnSpPr>
          <p:nvPr/>
        </p:nvCxnSpPr>
        <p:spPr bwMode="gray">
          <a:xfrm>
            <a:off x="4532263" y="1871160"/>
            <a:ext cx="6992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312"/>
          <p:cNvSpPr>
            <a:spLocks noChangeArrowheads="1"/>
          </p:cNvSpPr>
          <p:nvPr/>
        </p:nvSpPr>
        <p:spPr bwMode="gray">
          <a:xfrm>
            <a:off x="4413671" y="1617317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GE0/0/2</a:t>
            </a:r>
          </a:p>
        </p:txBody>
      </p:sp>
      <p:sp>
        <p:nvSpPr>
          <p:cNvPr id="95" name="Rectangle 312"/>
          <p:cNvSpPr>
            <a:spLocks noChangeArrowheads="1"/>
          </p:cNvSpPr>
          <p:nvPr/>
        </p:nvSpPr>
        <p:spPr bwMode="gray">
          <a:xfrm>
            <a:off x="5204737" y="1396863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R5</a:t>
            </a:r>
          </a:p>
        </p:txBody>
      </p:sp>
      <p:sp>
        <p:nvSpPr>
          <p:cNvPr id="96" name="Rectangle 312"/>
          <p:cNvSpPr>
            <a:spLocks noChangeArrowheads="1"/>
          </p:cNvSpPr>
          <p:nvPr/>
        </p:nvSpPr>
        <p:spPr bwMode="gray">
          <a:xfrm>
            <a:off x="600821" y="1491870"/>
            <a:ext cx="801728" cy="270484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b="1" dirty="0"/>
              <a:t>Area 1</a:t>
            </a:r>
          </a:p>
        </p:txBody>
      </p:sp>
      <p:sp>
        <p:nvSpPr>
          <p:cNvPr id="97" name="Rectangle 312"/>
          <p:cNvSpPr>
            <a:spLocks noChangeArrowheads="1"/>
          </p:cNvSpPr>
          <p:nvPr/>
        </p:nvSpPr>
        <p:spPr bwMode="gray">
          <a:xfrm>
            <a:off x="2335679" y="1491870"/>
            <a:ext cx="801728" cy="270484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b="1" dirty="0"/>
              <a:t>Area 0</a:t>
            </a:r>
          </a:p>
        </p:txBody>
      </p:sp>
      <p:sp>
        <p:nvSpPr>
          <p:cNvPr id="98" name="Rectangle 312"/>
          <p:cNvSpPr>
            <a:spLocks noChangeArrowheads="1"/>
          </p:cNvSpPr>
          <p:nvPr/>
        </p:nvSpPr>
        <p:spPr bwMode="gray">
          <a:xfrm>
            <a:off x="4443242" y="2153219"/>
            <a:ext cx="801728" cy="270484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Area 2</a:t>
            </a:r>
          </a:p>
        </p:txBody>
      </p:sp>
      <p:graphicFrame>
        <p:nvGraphicFramePr>
          <p:cNvPr id="99" name="表格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929552"/>
              </p:ext>
            </p:extLst>
          </p:nvPr>
        </p:nvGraphicFramePr>
        <p:xfrm>
          <a:off x="485001" y="3654492"/>
          <a:ext cx="5927002" cy="2438400"/>
        </p:xfrm>
        <a:graphic>
          <a:graphicData uri="http://schemas.openxmlformats.org/drawingml/2006/table">
            <a:tbl>
              <a:tblPr firstRow="1" bandRow="1"/>
              <a:tblGrid>
                <a:gridCol w="613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18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设备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Router ID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接口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IPv4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IPv6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10.1.1.1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10.1.12.1/24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2001:DB8:2345:12::1/64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10.1.2.2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10.1.12.2/24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2001:DB8:2345:12::2/64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10.1.23.2/24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2001:DB8:2345:23::2/64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10.1.3.3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10.1.23.3/24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2001:DB8:2345:23::3/64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10.1.35.3/24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2001:DB8:2345:35::3/64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10.1.4.4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10.1.23.4/24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2001:DB8:2345:23::4/64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R5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10.1.5.5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10.1.35.5/24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2001:DB8:2345:35::5/64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00" name="图片 9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171277" y="2179350"/>
            <a:ext cx="540000" cy="4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503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部署</a:t>
            </a:r>
            <a:r>
              <a:rPr lang="en-US" altLang="zh-CN" dirty="0"/>
              <a:t>IPv6</a:t>
            </a:r>
            <a:r>
              <a:rPr lang="zh-CN" altLang="en-US" dirty="0"/>
              <a:t>网络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7077038" y="1732778"/>
            <a:ext cx="4642748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[R1] interface </a:t>
            </a:r>
            <a:r>
              <a:rPr lang="en-US" altLang="zh-CN" dirty="0" err="1"/>
              <a:t>gigabitethernet</a:t>
            </a:r>
            <a:r>
              <a:rPr lang="en-US" altLang="zh-CN" dirty="0"/>
              <a:t> 0/0/1</a:t>
            </a:r>
          </a:p>
          <a:p>
            <a:r>
              <a:rPr lang="en-US" altLang="zh-CN" dirty="0"/>
              <a:t>[R1-GigabitEthernet0/0/1] ospfv3 1 area 1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6733846" y="1383021"/>
            <a:ext cx="4985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</a:rPr>
              <a:t>3</a:t>
            </a:r>
            <a:r>
              <a:rPr lang="zh-CN" altLang="en-US" sz="1600" dirty="0">
                <a:solidFill>
                  <a:prstClr val="black"/>
                </a:solidFill>
              </a:rPr>
              <a:t>、接口使能</a:t>
            </a:r>
            <a:r>
              <a:rPr lang="en-US" altLang="zh-CN" sz="1600" dirty="0">
                <a:solidFill>
                  <a:prstClr val="black"/>
                </a:solidFill>
              </a:rPr>
              <a:t>OSPFv3</a:t>
            </a:r>
            <a:r>
              <a:rPr lang="zh-CN" altLang="en-US" sz="1600" dirty="0">
                <a:solidFill>
                  <a:prstClr val="black"/>
                </a:solidFill>
              </a:rPr>
              <a:t>功能。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7077038" y="2363762"/>
            <a:ext cx="4642748" cy="1169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cs typeface="Courier New" panose="02070309020205020404" pitchFamily="49" charset="0"/>
              </a:defRPr>
            </a:lvl1pPr>
          </a:lstStyle>
          <a:p>
            <a:r>
              <a:rPr lang="pt-BR" altLang="zh-CN" dirty="0"/>
              <a:t>[R2] interface gigabitethernet 0/0/1</a:t>
            </a:r>
          </a:p>
          <a:p>
            <a:r>
              <a:rPr lang="pt-BR" altLang="zh-CN" dirty="0"/>
              <a:t>[R2-GigabitEthernet0/0/1] ospfv3 1 area 1</a:t>
            </a:r>
          </a:p>
          <a:p>
            <a:r>
              <a:rPr lang="pt-BR" altLang="zh-CN" dirty="0"/>
              <a:t>[R2-GigabitEthernet0/0/1] quit</a:t>
            </a:r>
          </a:p>
          <a:p>
            <a:r>
              <a:rPr lang="pt-BR" altLang="zh-CN" dirty="0"/>
              <a:t>[R2] interface gigabitethernet 0/0/0</a:t>
            </a:r>
          </a:p>
          <a:p>
            <a:r>
              <a:rPr lang="pt-BR" altLang="zh-CN" dirty="0"/>
              <a:t>[R2-GigabitEthernet0/0/0] ospfv3 1 area 0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7077038" y="3641077"/>
            <a:ext cx="4642748" cy="11695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cs typeface="Courier New" panose="02070309020205020404" pitchFamily="49" charset="0"/>
              </a:defRPr>
            </a:lvl1pPr>
          </a:lstStyle>
          <a:p>
            <a:r>
              <a:rPr lang="pt-BR" altLang="zh-CN" dirty="0"/>
              <a:t>[R3] interface gigabitethernet 0/0/1</a:t>
            </a:r>
          </a:p>
          <a:p>
            <a:r>
              <a:rPr lang="pt-BR" altLang="zh-CN" dirty="0"/>
              <a:t>[R3-GigabitEthernet0/0/1] ospfv3 1 area 0</a:t>
            </a:r>
          </a:p>
          <a:p>
            <a:r>
              <a:rPr lang="pt-BR" altLang="zh-CN" dirty="0"/>
              <a:t>[R3-GigabitEthernet0/0/1] quit</a:t>
            </a:r>
          </a:p>
          <a:p>
            <a:r>
              <a:rPr lang="pt-BR" altLang="zh-CN" dirty="0"/>
              <a:t>[R3] interface gigabitethernet 0/0/2</a:t>
            </a:r>
          </a:p>
          <a:p>
            <a:r>
              <a:rPr lang="pt-BR" altLang="zh-CN" dirty="0"/>
              <a:t>[R3-GigabitEthernet0/0/2] ospfv3 1 area 2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7077038" y="4918392"/>
            <a:ext cx="4642748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[R4] interface </a:t>
            </a:r>
            <a:r>
              <a:rPr lang="en-US" altLang="zh-CN" dirty="0" err="1"/>
              <a:t>gigabitethernet</a:t>
            </a:r>
            <a:r>
              <a:rPr lang="en-US" altLang="zh-CN" dirty="0"/>
              <a:t> 0/0/2</a:t>
            </a:r>
          </a:p>
          <a:p>
            <a:r>
              <a:rPr lang="en-US" altLang="zh-CN" dirty="0"/>
              <a:t>[R4-GigabitEthernet0/0/2] ospfv3 1 area 0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7077038" y="5549378"/>
            <a:ext cx="4642748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1400">
                <a:solidFill>
                  <a:prstClr val="black"/>
                </a:solidFill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[R5] interface </a:t>
            </a:r>
            <a:r>
              <a:rPr lang="en-US" altLang="zh-CN" dirty="0" err="1"/>
              <a:t>gigabitethernet</a:t>
            </a:r>
            <a:r>
              <a:rPr lang="en-US" altLang="zh-CN" dirty="0"/>
              <a:t> 0/0/2</a:t>
            </a:r>
          </a:p>
          <a:p>
            <a:r>
              <a:rPr lang="en-US" altLang="zh-CN" dirty="0"/>
              <a:t>[R5-GigabitEthernet0/0/2] ospfv3 1 area 2</a:t>
            </a:r>
          </a:p>
        </p:txBody>
      </p:sp>
      <p:sp>
        <p:nvSpPr>
          <p:cNvPr id="72" name="圆角矩形 71"/>
          <p:cNvSpPr/>
          <p:nvPr/>
        </p:nvSpPr>
        <p:spPr bwMode="gray">
          <a:xfrm>
            <a:off x="4248122" y="1396863"/>
            <a:ext cx="1719465" cy="1033427"/>
          </a:xfrm>
          <a:prstGeom prst="roundRect">
            <a:avLst>
              <a:gd name="adj" fmla="val 5934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73" name="圆角矩形 72"/>
          <p:cNvSpPr/>
          <p:nvPr/>
        </p:nvSpPr>
        <p:spPr bwMode="gray">
          <a:xfrm>
            <a:off x="550603" y="1396863"/>
            <a:ext cx="1719465" cy="1975624"/>
          </a:xfrm>
          <a:prstGeom prst="roundRect">
            <a:avLst>
              <a:gd name="adj" fmla="val 5934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74" name="圆角矩形 73"/>
          <p:cNvSpPr/>
          <p:nvPr/>
        </p:nvSpPr>
        <p:spPr bwMode="gray">
          <a:xfrm>
            <a:off x="2316117" y="1396863"/>
            <a:ext cx="1875110" cy="1975624"/>
          </a:xfrm>
          <a:prstGeom prst="roundRect">
            <a:avLst>
              <a:gd name="adj" fmla="val 5934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pic>
        <p:nvPicPr>
          <p:cNvPr id="75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91310" y="2179350"/>
            <a:ext cx="541201" cy="442800"/>
          </a:xfrm>
          <a:prstGeom prst="rect">
            <a:avLst/>
          </a:prstGeom>
          <a:noFill/>
        </p:spPr>
      </p:pic>
      <p:pic>
        <p:nvPicPr>
          <p:cNvPr id="76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021442" y="2179350"/>
            <a:ext cx="541201" cy="442800"/>
          </a:xfrm>
          <a:prstGeom prst="rect">
            <a:avLst/>
          </a:prstGeom>
          <a:noFill/>
        </p:spPr>
      </p:pic>
      <p:pic>
        <p:nvPicPr>
          <p:cNvPr id="77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91062" y="1649760"/>
            <a:ext cx="541201" cy="442800"/>
          </a:xfrm>
          <a:prstGeom prst="rect">
            <a:avLst/>
          </a:prstGeom>
          <a:noFill/>
        </p:spPr>
      </p:pic>
      <p:cxnSp>
        <p:nvCxnSpPr>
          <p:cNvPr id="78" name="直接连接符 77"/>
          <p:cNvCxnSpPr>
            <a:stCxn id="75" idx="3"/>
            <a:endCxn id="76" idx="1"/>
          </p:cNvCxnSpPr>
          <p:nvPr/>
        </p:nvCxnSpPr>
        <p:spPr bwMode="gray">
          <a:xfrm>
            <a:off x="1132511" y="2400750"/>
            <a:ext cx="8889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>
            <a:stCxn id="76" idx="3"/>
            <a:endCxn id="100" idx="1"/>
          </p:cNvCxnSpPr>
          <p:nvPr/>
        </p:nvCxnSpPr>
        <p:spPr bwMode="gray">
          <a:xfrm>
            <a:off x="2562643" y="2400750"/>
            <a:ext cx="6086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>
            <a:stCxn id="100" idx="1"/>
            <a:endCxn id="77" idx="1"/>
          </p:cNvCxnSpPr>
          <p:nvPr/>
        </p:nvCxnSpPr>
        <p:spPr bwMode="gray">
          <a:xfrm flipV="1">
            <a:off x="3171277" y="1871160"/>
            <a:ext cx="819785" cy="5295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312"/>
          <p:cNvSpPr>
            <a:spLocks noChangeArrowheads="1"/>
          </p:cNvSpPr>
          <p:nvPr/>
        </p:nvSpPr>
        <p:spPr bwMode="gray">
          <a:xfrm>
            <a:off x="562559" y="1938561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R1</a:t>
            </a:r>
          </a:p>
        </p:txBody>
      </p:sp>
      <p:sp>
        <p:nvSpPr>
          <p:cNvPr id="82" name="Rectangle 312"/>
          <p:cNvSpPr>
            <a:spLocks noChangeArrowheads="1"/>
          </p:cNvSpPr>
          <p:nvPr/>
        </p:nvSpPr>
        <p:spPr bwMode="gray">
          <a:xfrm>
            <a:off x="1993990" y="1938631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R2</a:t>
            </a:r>
          </a:p>
        </p:txBody>
      </p:sp>
      <p:sp>
        <p:nvSpPr>
          <p:cNvPr id="83" name="Rectangle 312"/>
          <p:cNvSpPr>
            <a:spLocks noChangeArrowheads="1"/>
          </p:cNvSpPr>
          <p:nvPr/>
        </p:nvSpPr>
        <p:spPr bwMode="gray">
          <a:xfrm>
            <a:off x="3964286" y="1396863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R3</a:t>
            </a:r>
          </a:p>
        </p:txBody>
      </p:sp>
      <p:sp>
        <p:nvSpPr>
          <p:cNvPr id="84" name="Rectangle 312"/>
          <p:cNvSpPr>
            <a:spLocks noChangeArrowheads="1"/>
          </p:cNvSpPr>
          <p:nvPr/>
        </p:nvSpPr>
        <p:spPr bwMode="gray">
          <a:xfrm>
            <a:off x="3956108" y="2519142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R4</a:t>
            </a:r>
          </a:p>
        </p:txBody>
      </p:sp>
      <p:sp>
        <p:nvSpPr>
          <p:cNvPr id="85" name="Rectangle 312"/>
          <p:cNvSpPr>
            <a:spLocks noChangeArrowheads="1"/>
          </p:cNvSpPr>
          <p:nvPr/>
        </p:nvSpPr>
        <p:spPr bwMode="gray">
          <a:xfrm>
            <a:off x="953658" y="2153219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sp>
        <p:nvSpPr>
          <p:cNvPr id="86" name="Rectangle 312"/>
          <p:cNvSpPr>
            <a:spLocks noChangeArrowheads="1"/>
          </p:cNvSpPr>
          <p:nvPr/>
        </p:nvSpPr>
        <p:spPr bwMode="gray">
          <a:xfrm>
            <a:off x="1248333" y="2367877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sp>
        <p:nvSpPr>
          <p:cNvPr id="87" name="Rectangle 312"/>
          <p:cNvSpPr>
            <a:spLocks noChangeArrowheads="1"/>
          </p:cNvSpPr>
          <p:nvPr/>
        </p:nvSpPr>
        <p:spPr bwMode="gray">
          <a:xfrm>
            <a:off x="2369550" y="2153219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GE0/0/0</a:t>
            </a:r>
          </a:p>
        </p:txBody>
      </p:sp>
      <p:sp>
        <p:nvSpPr>
          <p:cNvPr id="88" name="Rectangle 312"/>
          <p:cNvSpPr>
            <a:spLocks noChangeArrowheads="1"/>
          </p:cNvSpPr>
          <p:nvPr/>
        </p:nvSpPr>
        <p:spPr bwMode="gray">
          <a:xfrm>
            <a:off x="3213864" y="1633049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sp>
        <p:nvSpPr>
          <p:cNvPr id="89" name="Rectangle 312"/>
          <p:cNvSpPr>
            <a:spLocks noChangeArrowheads="1"/>
          </p:cNvSpPr>
          <p:nvPr/>
        </p:nvSpPr>
        <p:spPr bwMode="gray">
          <a:xfrm>
            <a:off x="3198791" y="2926404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GE0/0/2</a:t>
            </a:r>
          </a:p>
        </p:txBody>
      </p:sp>
      <p:pic>
        <p:nvPicPr>
          <p:cNvPr id="90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91062" y="2744792"/>
            <a:ext cx="541201" cy="442800"/>
          </a:xfrm>
          <a:prstGeom prst="rect">
            <a:avLst/>
          </a:prstGeom>
          <a:noFill/>
        </p:spPr>
      </p:pic>
      <p:cxnSp>
        <p:nvCxnSpPr>
          <p:cNvPr id="91" name="直接连接符 90"/>
          <p:cNvCxnSpPr>
            <a:stCxn id="100" idx="1"/>
            <a:endCxn id="90" idx="1"/>
          </p:cNvCxnSpPr>
          <p:nvPr/>
        </p:nvCxnSpPr>
        <p:spPr bwMode="gray">
          <a:xfrm>
            <a:off x="3171277" y="2400750"/>
            <a:ext cx="819785" cy="5654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231513" y="1649760"/>
            <a:ext cx="541201" cy="442800"/>
          </a:xfrm>
          <a:prstGeom prst="rect">
            <a:avLst/>
          </a:prstGeom>
          <a:noFill/>
        </p:spPr>
      </p:pic>
      <p:cxnSp>
        <p:nvCxnSpPr>
          <p:cNvPr id="93" name="直接连接符 92"/>
          <p:cNvCxnSpPr>
            <a:stCxn id="77" idx="3"/>
            <a:endCxn id="92" idx="1"/>
          </p:cNvCxnSpPr>
          <p:nvPr/>
        </p:nvCxnSpPr>
        <p:spPr bwMode="gray">
          <a:xfrm>
            <a:off x="4532263" y="1871160"/>
            <a:ext cx="6992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312"/>
          <p:cNvSpPr>
            <a:spLocks noChangeArrowheads="1"/>
          </p:cNvSpPr>
          <p:nvPr/>
        </p:nvSpPr>
        <p:spPr bwMode="gray">
          <a:xfrm>
            <a:off x="4413671" y="1617317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GE0/0/2</a:t>
            </a:r>
          </a:p>
        </p:txBody>
      </p:sp>
      <p:sp>
        <p:nvSpPr>
          <p:cNvPr id="95" name="Rectangle 312"/>
          <p:cNvSpPr>
            <a:spLocks noChangeArrowheads="1"/>
          </p:cNvSpPr>
          <p:nvPr/>
        </p:nvSpPr>
        <p:spPr bwMode="gray">
          <a:xfrm>
            <a:off x="5204737" y="1396863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R5</a:t>
            </a:r>
          </a:p>
        </p:txBody>
      </p:sp>
      <p:sp>
        <p:nvSpPr>
          <p:cNvPr id="96" name="Rectangle 312"/>
          <p:cNvSpPr>
            <a:spLocks noChangeArrowheads="1"/>
          </p:cNvSpPr>
          <p:nvPr/>
        </p:nvSpPr>
        <p:spPr bwMode="gray">
          <a:xfrm>
            <a:off x="600821" y="1491870"/>
            <a:ext cx="801728" cy="270484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b="1" dirty="0"/>
              <a:t>Area 1</a:t>
            </a:r>
          </a:p>
        </p:txBody>
      </p:sp>
      <p:sp>
        <p:nvSpPr>
          <p:cNvPr id="97" name="Rectangle 312"/>
          <p:cNvSpPr>
            <a:spLocks noChangeArrowheads="1"/>
          </p:cNvSpPr>
          <p:nvPr/>
        </p:nvSpPr>
        <p:spPr bwMode="gray">
          <a:xfrm>
            <a:off x="2335679" y="1491870"/>
            <a:ext cx="801728" cy="270484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b="1" dirty="0"/>
              <a:t>Area 0</a:t>
            </a:r>
          </a:p>
        </p:txBody>
      </p:sp>
      <p:sp>
        <p:nvSpPr>
          <p:cNvPr id="98" name="Rectangle 312"/>
          <p:cNvSpPr>
            <a:spLocks noChangeArrowheads="1"/>
          </p:cNvSpPr>
          <p:nvPr/>
        </p:nvSpPr>
        <p:spPr bwMode="gray">
          <a:xfrm>
            <a:off x="4443242" y="2153219"/>
            <a:ext cx="801728" cy="270484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Area 2</a:t>
            </a:r>
          </a:p>
        </p:txBody>
      </p:sp>
      <p:graphicFrame>
        <p:nvGraphicFramePr>
          <p:cNvPr id="99" name="表格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985660"/>
              </p:ext>
            </p:extLst>
          </p:nvPr>
        </p:nvGraphicFramePr>
        <p:xfrm>
          <a:off x="485001" y="3654492"/>
          <a:ext cx="5927002" cy="2438400"/>
        </p:xfrm>
        <a:graphic>
          <a:graphicData uri="http://schemas.openxmlformats.org/drawingml/2006/table">
            <a:tbl>
              <a:tblPr firstRow="1" bandRow="1"/>
              <a:tblGrid>
                <a:gridCol w="613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9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18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设备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Router ID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接口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IPv4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IPv6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10.1.1.1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10.1.12.1/24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2001:DB8:2345:12::1/64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10.1.2.2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10.1.12.2/24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2001:DB8:2345:12::2/64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10.1.23.2/24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2001:DB8:2345:23::2/64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10.1.3.3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10.1.23.3/24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2001:DB8:2345:23::3/64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10.1.35.3/24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2001:DB8:2345:35::3/64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10.1.4.4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10.1.23.4/24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2001:DB8:2345:23::4/64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R5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10.1.5.5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10.1.35.5/24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2001:DB8:2345:35::5/64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00" name="图片 99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171277" y="2179350"/>
            <a:ext cx="540000" cy="4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3563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查看</a:t>
            </a:r>
            <a:r>
              <a:rPr lang="en-US" altLang="zh-CN" dirty="0"/>
              <a:t>OSPFv3</a:t>
            </a:r>
            <a:r>
              <a:rPr lang="zh-CN" altLang="en-US" dirty="0"/>
              <a:t>网络的邻居信息</a:t>
            </a:r>
          </a:p>
        </p:txBody>
      </p:sp>
      <p:sp>
        <p:nvSpPr>
          <p:cNvPr id="4" name="文本框 3"/>
          <p:cNvSpPr txBox="1"/>
          <p:nvPr/>
        </p:nvSpPr>
        <p:spPr bwMode="gray">
          <a:xfrm>
            <a:off x="562559" y="3988739"/>
            <a:ext cx="6039342" cy="20313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[R2]</a:t>
            </a:r>
            <a:r>
              <a:rPr lang="en-US" altLang="zh-CN" sz="1400" b="1" dirty="0">
                <a:solidFill>
                  <a:prstClr val="black"/>
                </a:solidFill>
                <a:cs typeface="Courier New" panose="02070309020205020404" pitchFamily="49" charset="0"/>
              </a:rPr>
              <a:t>display ospfv3 peer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OSPFv3 Process (1)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OSPFv3 Area (0.0.0.0)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Neighbor ID     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Pri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 State                Dead Time Interface     Instance ID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cs typeface="Courier New" panose="02070309020205020404" pitchFamily="49" charset="0"/>
              </a:rPr>
              <a:t>10.1.3.3             1   Full/Backup	   00:00:31     GE0/0/0  </a:t>
            </a:r>
            <a:r>
              <a:rPr lang="en-US" altLang="zh-CN" sz="1400" dirty="0">
                <a:solidFill>
                  <a:srgbClr val="C7000B"/>
                </a:solidFill>
                <a:cs typeface="Courier New" panose="02070309020205020404" pitchFamily="49" charset="0"/>
              </a:rPr>
              <a:t>      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cs typeface="Courier New" panose="02070309020205020404" pitchFamily="49" charset="0"/>
              </a:rPr>
              <a:t>10.1.4.4             1   Full/DR	   00:00:36     GE0/0/0  </a:t>
            </a:r>
            <a:r>
              <a:rPr lang="en-US" altLang="zh-CN" sz="1400" dirty="0">
                <a:solidFill>
                  <a:srgbClr val="C7000B"/>
                </a:solidFill>
                <a:cs typeface="Courier New" panose="02070309020205020404" pitchFamily="49" charset="0"/>
              </a:rPr>
              <a:t>      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cs typeface="Courier New" panose="02070309020205020404" pitchFamily="49" charset="0"/>
              </a:rPr>
              <a:t>OSPFv3 Area (0.0.0.1)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cs typeface="Courier New" panose="02070309020205020404" pitchFamily="49" charset="0"/>
              </a:rPr>
              <a:t>Neighbor ID     </a:t>
            </a:r>
            <a:r>
              <a:rPr lang="en-US" altLang="zh-CN" sz="1400" dirty="0" err="1">
                <a:cs typeface="Courier New" panose="02070309020205020404" pitchFamily="49" charset="0"/>
              </a:rPr>
              <a:t>Pri</a:t>
            </a:r>
            <a:r>
              <a:rPr lang="en-US" altLang="zh-CN" sz="1400" dirty="0">
                <a:cs typeface="Courier New" panose="02070309020205020404" pitchFamily="49" charset="0"/>
              </a:rPr>
              <a:t>  State                Dead Time Interface     Instance ID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cs typeface="Courier New" panose="02070309020205020404" pitchFamily="49" charset="0"/>
              </a:rPr>
              <a:t>10.1.1.1             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1   Full/Backup      00:00:37     GE0/0/1   </a:t>
            </a:r>
            <a:r>
              <a:rPr lang="en-US" altLang="zh-CN" sz="1400" dirty="0">
                <a:solidFill>
                  <a:srgbClr val="C7000B"/>
                </a:solidFill>
                <a:cs typeface="Courier New" panose="02070309020205020404" pitchFamily="49" charset="0"/>
              </a:rPr>
              <a:t>     0</a:t>
            </a:r>
          </a:p>
        </p:txBody>
      </p:sp>
      <p:sp>
        <p:nvSpPr>
          <p:cNvPr id="37" name="矩形 36"/>
          <p:cNvSpPr/>
          <p:nvPr/>
        </p:nvSpPr>
        <p:spPr bwMode="invGray">
          <a:xfrm>
            <a:off x="5366357" y="4621840"/>
            <a:ext cx="1202459" cy="1344751"/>
          </a:xfrm>
          <a:prstGeom prst="rect">
            <a:avLst/>
          </a:prstGeom>
          <a:solidFill>
            <a:srgbClr val="FFD17D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 bwMode="gray">
          <a:xfrm>
            <a:off x="7358481" y="4575307"/>
            <a:ext cx="3595270" cy="755385"/>
          </a:xfrm>
          <a:prstGeom prst="rect">
            <a:avLst/>
          </a:prstGeom>
          <a:solidFill>
            <a:srgbClr val="FEF5DA"/>
          </a:solidFill>
          <a:ln w="19050">
            <a:solidFill>
              <a:srgbClr val="FDE397"/>
            </a:solidFill>
          </a:ln>
        </p:spPr>
        <p:txBody>
          <a:bodyPr wrap="square" lIns="54000" tIns="54000" rIns="54000" bIns="54000" rtlCol="0" anchor="ctr" anchorCtr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</a:rPr>
              <a:t>当不指定实例时，默认值为</a:t>
            </a:r>
            <a:r>
              <a:rPr lang="en-US" altLang="zh-CN" sz="1400" dirty="0">
                <a:solidFill>
                  <a:schemeClr val="tx1"/>
                </a:solidFill>
              </a:rPr>
              <a:t>0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zh-CN" altLang="en-US" sz="1400" dirty="0">
                <a:solidFill>
                  <a:schemeClr val="tx1"/>
                </a:solidFill>
              </a:rPr>
              <a:t>两台设备的直连接口的实例</a:t>
            </a:r>
            <a:r>
              <a:rPr lang="en-US" altLang="zh-CN" sz="1400" dirty="0">
                <a:solidFill>
                  <a:schemeClr val="tx1"/>
                </a:solidFill>
              </a:rPr>
              <a:t>ID</a:t>
            </a:r>
            <a:r>
              <a:rPr lang="zh-CN" altLang="en-US" sz="1400" dirty="0">
                <a:solidFill>
                  <a:schemeClr val="tx1"/>
                </a:solidFill>
              </a:rPr>
              <a:t>需要相同，否则无法建立</a:t>
            </a:r>
            <a:r>
              <a:rPr lang="en-US" altLang="zh-CN" sz="1400" dirty="0">
                <a:solidFill>
                  <a:schemeClr val="tx1"/>
                </a:solidFill>
              </a:rPr>
              <a:t>OSPFv3</a:t>
            </a:r>
            <a:r>
              <a:rPr lang="zh-CN" altLang="en-US" sz="1400" dirty="0">
                <a:solidFill>
                  <a:schemeClr val="tx1"/>
                </a:solidFill>
              </a:rPr>
              <a:t>邻接关系。</a:t>
            </a:r>
          </a:p>
        </p:txBody>
      </p:sp>
      <p:cxnSp>
        <p:nvCxnSpPr>
          <p:cNvPr id="40" name="直接箭头连接符 39"/>
          <p:cNvCxnSpPr>
            <a:stCxn id="38" idx="1"/>
            <a:endCxn id="37" idx="3"/>
          </p:cNvCxnSpPr>
          <p:nvPr/>
        </p:nvCxnSpPr>
        <p:spPr bwMode="invGray">
          <a:xfrm flipH="1">
            <a:off x="6568816" y="4953000"/>
            <a:ext cx="789665" cy="341216"/>
          </a:xfrm>
          <a:prstGeom prst="straightConnector1">
            <a:avLst/>
          </a:prstGeom>
          <a:ln w="19050">
            <a:solidFill>
              <a:srgbClr val="FFD1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圆角矩形 34"/>
          <p:cNvSpPr/>
          <p:nvPr/>
        </p:nvSpPr>
        <p:spPr bwMode="gray">
          <a:xfrm>
            <a:off x="4248122" y="1396863"/>
            <a:ext cx="1719465" cy="1033427"/>
          </a:xfrm>
          <a:prstGeom prst="roundRect">
            <a:avLst>
              <a:gd name="adj" fmla="val 5934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67" name="圆角矩形 66"/>
          <p:cNvSpPr/>
          <p:nvPr/>
        </p:nvSpPr>
        <p:spPr bwMode="gray">
          <a:xfrm>
            <a:off x="550603" y="1396863"/>
            <a:ext cx="1719465" cy="1975624"/>
          </a:xfrm>
          <a:prstGeom prst="roundRect">
            <a:avLst>
              <a:gd name="adj" fmla="val 5934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68" name="圆角矩形 67"/>
          <p:cNvSpPr/>
          <p:nvPr/>
        </p:nvSpPr>
        <p:spPr bwMode="gray">
          <a:xfrm>
            <a:off x="2316117" y="1396863"/>
            <a:ext cx="1875110" cy="1975624"/>
          </a:xfrm>
          <a:prstGeom prst="roundRect">
            <a:avLst>
              <a:gd name="adj" fmla="val 5934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pic>
        <p:nvPicPr>
          <p:cNvPr id="69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91310" y="2179350"/>
            <a:ext cx="541201" cy="442800"/>
          </a:xfrm>
          <a:prstGeom prst="rect">
            <a:avLst/>
          </a:prstGeom>
          <a:noFill/>
        </p:spPr>
      </p:pic>
      <p:pic>
        <p:nvPicPr>
          <p:cNvPr id="70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2021442" y="2179350"/>
            <a:ext cx="541201" cy="442800"/>
          </a:xfrm>
          <a:prstGeom prst="rect">
            <a:avLst/>
          </a:prstGeom>
          <a:noFill/>
        </p:spPr>
      </p:pic>
      <p:pic>
        <p:nvPicPr>
          <p:cNvPr id="71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91062" y="1649760"/>
            <a:ext cx="541201" cy="442800"/>
          </a:xfrm>
          <a:prstGeom prst="rect">
            <a:avLst/>
          </a:prstGeom>
          <a:noFill/>
        </p:spPr>
      </p:pic>
      <p:cxnSp>
        <p:nvCxnSpPr>
          <p:cNvPr id="72" name="直接连接符 71"/>
          <p:cNvCxnSpPr>
            <a:stCxn id="69" idx="3"/>
            <a:endCxn id="70" idx="1"/>
          </p:cNvCxnSpPr>
          <p:nvPr/>
        </p:nvCxnSpPr>
        <p:spPr bwMode="gray">
          <a:xfrm>
            <a:off x="1132511" y="2400750"/>
            <a:ext cx="8889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stCxn id="70" idx="3"/>
            <a:endCxn id="93" idx="1"/>
          </p:cNvCxnSpPr>
          <p:nvPr/>
        </p:nvCxnSpPr>
        <p:spPr bwMode="gray">
          <a:xfrm>
            <a:off x="2562643" y="2400750"/>
            <a:ext cx="6086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>
            <a:stCxn id="93" idx="1"/>
            <a:endCxn id="71" idx="1"/>
          </p:cNvCxnSpPr>
          <p:nvPr/>
        </p:nvCxnSpPr>
        <p:spPr bwMode="gray">
          <a:xfrm flipV="1">
            <a:off x="3171277" y="1871160"/>
            <a:ext cx="819785" cy="5295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312"/>
          <p:cNvSpPr>
            <a:spLocks noChangeArrowheads="1"/>
          </p:cNvSpPr>
          <p:nvPr/>
        </p:nvSpPr>
        <p:spPr bwMode="gray">
          <a:xfrm>
            <a:off x="562559" y="1938561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R1</a:t>
            </a:r>
          </a:p>
        </p:txBody>
      </p:sp>
      <p:sp>
        <p:nvSpPr>
          <p:cNvPr id="76" name="Rectangle 312"/>
          <p:cNvSpPr>
            <a:spLocks noChangeArrowheads="1"/>
          </p:cNvSpPr>
          <p:nvPr/>
        </p:nvSpPr>
        <p:spPr bwMode="gray">
          <a:xfrm>
            <a:off x="1993990" y="1938631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R2</a:t>
            </a:r>
          </a:p>
        </p:txBody>
      </p:sp>
      <p:sp>
        <p:nvSpPr>
          <p:cNvPr id="77" name="Rectangle 312"/>
          <p:cNvSpPr>
            <a:spLocks noChangeArrowheads="1"/>
          </p:cNvSpPr>
          <p:nvPr/>
        </p:nvSpPr>
        <p:spPr bwMode="gray">
          <a:xfrm>
            <a:off x="3964286" y="1396863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R3</a:t>
            </a:r>
          </a:p>
        </p:txBody>
      </p:sp>
      <p:sp>
        <p:nvSpPr>
          <p:cNvPr id="78" name="Rectangle 312"/>
          <p:cNvSpPr>
            <a:spLocks noChangeArrowheads="1"/>
          </p:cNvSpPr>
          <p:nvPr/>
        </p:nvSpPr>
        <p:spPr bwMode="gray">
          <a:xfrm>
            <a:off x="3956108" y="2519142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R4</a:t>
            </a:r>
          </a:p>
        </p:txBody>
      </p:sp>
      <p:sp>
        <p:nvSpPr>
          <p:cNvPr id="79" name="Rectangle 312"/>
          <p:cNvSpPr>
            <a:spLocks noChangeArrowheads="1"/>
          </p:cNvSpPr>
          <p:nvPr/>
        </p:nvSpPr>
        <p:spPr bwMode="gray">
          <a:xfrm>
            <a:off x="953658" y="2153219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sp>
        <p:nvSpPr>
          <p:cNvPr id="80" name="Rectangle 312"/>
          <p:cNvSpPr>
            <a:spLocks noChangeArrowheads="1"/>
          </p:cNvSpPr>
          <p:nvPr/>
        </p:nvSpPr>
        <p:spPr bwMode="gray">
          <a:xfrm>
            <a:off x="1248333" y="2367877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sp>
        <p:nvSpPr>
          <p:cNvPr id="81" name="Rectangle 312"/>
          <p:cNvSpPr>
            <a:spLocks noChangeArrowheads="1"/>
          </p:cNvSpPr>
          <p:nvPr/>
        </p:nvSpPr>
        <p:spPr bwMode="gray">
          <a:xfrm>
            <a:off x="2369550" y="2153219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GE0/0/0</a:t>
            </a:r>
          </a:p>
        </p:txBody>
      </p:sp>
      <p:sp>
        <p:nvSpPr>
          <p:cNvPr id="82" name="Rectangle 312"/>
          <p:cNvSpPr>
            <a:spLocks noChangeArrowheads="1"/>
          </p:cNvSpPr>
          <p:nvPr/>
        </p:nvSpPr>
        <p:spPr bwMode="gray">
          <a:xfrm>
            <a:off x="3213864" y="1633049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sp>
        <p:nvSpPr>
          <p:cNvPr id="83" name="Rectangle 312"/>
          <p:cNvSpPr>
            <a:spLocks noChangeArrowheads="1"/>
          </p:cNvSpPr>
          <p:nvPr/>
        </p:nvSpPr>
        <p:spPr bwMode="gray">
          <a:xfrm>
            <a:off x="3198791" y="2926404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GE0/0/2</a:t>
            </a:r>
          </a:p>
        </p:txBody>
      </p:sp>
      <p:pic>
        <p:nvPicPr>
          <p:cNvPr id="84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91062" y="2744792"/>
            <a:ext cx="541201" cy="442800"/>
          </a:xfrm>
          <a:prstGeom prst="rect">
            <a:avLst/>
          </a:prstGeom>
          <a:noFill/>
        </p:spPr>
      </p:pic>
      <p:cxnSp>
        <p:nvCxnSpPr>
          <p:cNvPr id="85" name="直接连接符 84"/>
          <p:cNvCxnSpPr>
            <a:stCxn id="93" idx="1"/>
            <a:endCxn id="84" idx="1"/>
          </p:cNvCxnSpPr>
          <p:nvPr/>
        </p:nvCxnSpPr>
        <p:spPr bwMode="gray">
          <a:xfrm>
            <a:off x="3171277" y="2400750"/>
            <a:ext cx="819785" cy="5654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6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231513" y="1649760"/>
            <a:ext cx="541201" cy="442800"/>
          </a:xfrm>
          <a:prstGeom prst="rect">
            <a:avLst/>
          </a:prstGeom>
          <a:noFill/>
        </p:spPr>
      </p:pic>
      <p:cxnSp>
        <p:nvCxnSpPr>
          <p:cNvPr id="87" name="直接连接符 86"/>
          <p:cNvCxnSpPr>
            <a:stCxn id="71" idx="3"/>
            <a:endCxn id="86" idx="1"/>
          </p:cNvCxnSpPr>
          <p:nvPr/>
        </p:nvCxnSpPr>
        <p:spPr bwMode="gray">
          <a:xfrm>
            <a:off x="4532263" y="1871160"/>
            <a:ext cx="6992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312"/>
          <p:cNvSpPr>
            <a:spLocks noChangeArrowheads="1"/>
          </p:cNvSpPr>
          <p:nvPr/>
        </p:nvSpPr>
        <p:spPr bwMode="gray">
          <a:xfrm>
            <a:off x="4413671" y="1617317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GE0/0/2</a:t>
            </a:r>
          </a:p>
        </p:txBody>
      </p:sp>
      <p:sp>
        <p:nvSpPr>
          <p:cNvPr id="89" name="Rectangle 312"/>
          <p:cNvSpPr>
            <a:spLocks noChangeArrowheads="1"/>
          </p:cNvSpPr>
          <p:nvPr/>
        </p:nvSpPr>
        <p:spPr bwMode="gray">
          <a:xfrm>
            <a:off x="5204737" y="1396863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R5</a:t>
            </a:r>
          </a:p>
        </p:txBody>
      </p:sp>
      <p:sp>
        <p:nvSpPr>
          <p:cNvPr id="90" name="Rectangle 312"/>
          <p:cNvSpPr>
            <a:spLocks noChangeArrowheads="1"/>
          </p:cNvSpPr>
          <p:nvPr/>
        </p:nvSpPr>
        <p:spPr bwMode="gray">
          <a:xfrm>
            <a:off x="600821" y="1491870"/>
            <a:ext cx="801728" cy="270484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b="1" dirty="0"/>
              <a:t>Area 1</a:t>
            </a:r>
          </a:p>
        </p:txBody>
      </p:sp>
      <p:sp>
        <p:nvSpPr>
          <p:cNvPr id="91" name="Rectangle 312"/>
          <p:cNvSpPr>
            <a:spLocks noChangeArrowheads="1"/>
          </p:cNvSpPr>
          <p:nvPr/>
        </p:nvSpPr>
        <p:spPr bwMode="gray">
          <a:xfrm>
            <a:off x="2335679" y="1491870"/>
            <a:ext cx="801728" cy="270484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b="1" dirty="0"/>
              <a:t>Area 0</a:t>
            </a:r>
          </a:p>
        </p:txBody>
      </p:sp>
      <p:sp>
        <p:nvSpPr>
          <p:cNvPr id="92" name="Rectangle 312"/>
          <p:cNvSpPr>
            <a:spLocks noChangeArrowheads="1"/>
          </p:cNvSpPr>
          <p:nvPr/>
        </p:nvSpPr>
        <p:spPr bwMode="gray">
          <a:xfrm>
            <a:off x="4443242" y="2153219"/>
            <a:ext cx="801728" cy="270484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Area 2</a:t>
            </a:r>
          </a:p>
        </p:txBody>
      </p:sp>
      <p:pic>
        <p:nvPicPr>
          <p:cNvPr id="93" name="图片 92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171277" y="2179350"/>
            <a:ext cx="540000" cy="4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27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查看</a:t>
            </a:r>
            <a:r>
              <a:rPr lang="en-US" altLang="zh-CN" dirty="0"/>
              <a:t>OSPFv3</a:t>
            </a:r>
            <a:r>
              <a:rPr lang="zh-CN" altLang="en-US" dirty="0"/>
              <a:t>网络的路由信息</a:t>
            </a:r>
          </a:p>
        </p:txBody>
      </p:sp>
      <p:sp>
        <p:nvSpPr>
          <p:cNvPr id="37" name="文本框 36"/>
          <p:cNvSpPr txBox="1"/>
          <p:nvPr/>
        </p:nvSpPr>
        <p:spPr bwMode="gray">
          <a:xfrm>
            <a:off x="562559" y="4000204"/>
            <a:ext cx="8235077" cy="20313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[R2]</a:t>
            </a:r>
            <a:r>
              <a:rPr lang="en-US" altLang="zh-CN" sz="1400" b="1" dirty="0">
                <a:solidFill>
                  <a:prstClr val="black"/>
                </a:solidFill>
                <a:cs typeface="Courier New" panose="02070309020205020404" pitchFamily="49" charset="0"/>
              </a:rPr>
              <a:t>display ospfv3 routing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Codes : E2 - Type 2 External, E1 - Type 1 External, IA - Inter-Area, N - NSSA, U - Uninstalled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OSPFv3 Process (1)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    Destination		Metric	Next-hop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    </a:t>
            </a:r>
            <a:r>
              <a:rPr lang="en-US" altLang="zh-CN" sz="1400" dirty="0">
                <a:cs typeface="Courier New" panose="02070309020205020404" pitchFamily="49" charset="0"/>
              </a:rPr>
              <a:t>2001:DB8:2345:12::/64	1	directly connected, GigabitEthernet0/0/1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cs typeface="Courier New" panose="02070309020205020404" pitchFamily="49" charset="0"/>
              </a:rPr>
              <a:t>     2001:DB8:2345:23::/64	1	directly connected, GigabitEthernet0/0/0</a:t>
            </a:r>
            <a:endParaRPr lang="en-US" altLang="zh-CN" sz="1400" dirty="0">
              <a:solidFill>
                <a:srgbClr val="C7000B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srgbClr val="C7000B"/>
                </a:solidFill>
                <a:cs typeface="Courier New" panose="02070309020205020404" pitchFamily="49" charset="0"/>
              </a:rPr>
              <a:t> IA 2001:DB8:2345:35::/64	2	via FE80::2E0:FCFF:FE38:50A0, GigabitEthernet0/0/0</a:t>
            </a:r>
          </a:p>
        </p:txBody>
      </p:sp>
      <p:sp>
        <p:nvSpPr>
          <p:cNvPr id="42" name="矩形 41"/>
          <p:cNvSpPr/>
          <p:nvPr/>
        </p:nvSpPr>
        <p:spPr bwMode="invGray">
          <a:xfrm>
            <a:off x="674440" y="5726952"/>
            <a:ext cx="7864566" cy="257163"/>
          </a:xfrm>
          <a:prstGeom prst="rect">
            <a:avLst/>
          </a:prstGeom>
          <a:solidFill>
            <a:srgbClr val="FFD17D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 bwMode="gray">
          <a:xfrm>
            <a:off x="8863348" y="4675855"/>
            <a:ext cx="2882566" cy="970829"/>
          </a:xfrm>
          <a:prstGeom prst="rect">
            <a:avLst/>
          </a:prstGeom>
          <a:solidFill>
            <a:srgbClr val="FEF5DA"/>
          </a:solidFill>
          <a:ln w="19050">
            <a:solidFill>
              <a:srgbClr val="FDE397"/>
            </a:solidFill>
          </a:ln>
        </p:spPr>
        <p:txBody>
          <a:bodyPr wrap="square" lIns="54000" tIns="54000" rIns="54000" bIns="54000" rtlCol="0" anchor="ctr" anchorCtr="0">
            <a:spAutoFit/>
          </a:bodyPr>
          <a:lstStyle/>
          <a:p>
            <a:r>
              <a:rPr lang="zh-CN" altLang="en-US" sz="1400" dirty="0">
                <a:solidFill>
                  <a:schemeClr val="tx1"/>
                </a:solidFill>
              </a:rPr>
              <a:t>在</a:t>
            </a:r>
            <a:r>
              <a:rPr lang="en-US" altLang="zh-CN" sz="1400" dirty="0">
                <a:solidFill>
                  <a:schemeClr val="tx1"/>
                </a:solidFill>
              </a:rPr>
              <a:t>OSPFv3</a:t>
            </a:r>
            <a:r>
              <a:rPr lang="zh-CN" altLang="en-US" sz="1400" dirty="0">
                <a:solidFill>
                  <a:schemeClr val="tx1"/>
                </a:solidFill>
              </a:rPr>
              <a:t>中，路由的下一跳地址为链路本地地址。</a:t>
            </a:r>
            <a:endParaRPr lang="en-US" altLang="zh-CN" sz="1400" dirty="0">
              <a:solidFill>
                <a:schemeClr val="tx1"/>
              </a:solidFill>
            </a:endParaRPr>
          </a:p>
          <a:p>
            <a:r>
              <a:rPr lang="zh-CN" altLang="en-US" sz="1400" dirty="0">
                <a:solidFill>
                  <a:schemeClr val="tx1"/>
                </a:solidFill>
              </a:rPr>
              <a:t>本条路由的下一跳地址为</a:t>
            </a:r>
            <a:r>
              <a:rPr lang="en-US" altLang="zh-CN" sz="1400" dirty="0">
                <a:solidFill>
                  <a:schemeClr val="tx1"/>
                </a:solidFill>
              </a:rPr>
              <a:t>R3</a:t>
            </a:r>
            <a:r>
              <a:rPr lang="zh-CN" altLang="en-US" sz="1400" dirty="0">
                <a:solidFill>
                  <a:schemeClr val="tx1"/>
                </a:solidFill>
              </a:rPr>
              <a:t>的</a:t>
            </a:r>
            <a:r>
              <a:rPr lang="en-US" altLang="zh-CN" sz="1400" dirty="0">
                <a:solidFill>
                  <a:schemeClr val="tx1"/>
                </a:solidFill>
              </a:rPr>
              <a:t>GE0/0/1</a:t>
            </a:r>
            <a:r>
              <a:rPr lang="zh-CN" altLang="en-US" sz="1400" dirty="0">
                <a:solidFill>
                  <a:schemeClr val="tx1"/>
                </a:solidFill>
              </a:rPr>
              <a:t>接口的链路本地地址。</a:t>
            </a:r>
          </a:p>
        </p:txBody>
      </p:sp>
      <p:cxnSp>
        <p:nvCxnSpPr>
          <p:cNvPr id="44" name="直接箭头连接符 43"/>
          <p:cNvCxnSpPr>
            <a:stCxn id="43" idx="1"/>
            <a:endCxn id="42" idx="3"/>
          </p:cNvCxnSpPr>
          <p:nvPr/>
        </p:nvCxnSpPr>
        <p:spPr bwMode="invGray">
          <a:xfrm flipH="1">
            <a:off x="8539006" y="5161270"/>
            <a:ext cx="324342" cy="694264"/>
          </a:xfrm>
          <a:prstGeom prst="straightConnector1">
            <a:avLst/>
          </a:prstGeom>
          <a:ln w="19050">
            <a:solidFill>
              <a:srgbClr val="FFD1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圆角矩形 39"/>
          <p:cNvSpPr/>
          <p:nvPr/>
        </p:nvSpPr>
        <p:spPr bwMode="gray">
          <a:xfrm>
            <a:off x="5242033" y="1396862"/>
            <a:ext cx="2484063" cy="1033427"/>
          </a:xfrm>
          <a:prstGeom prst="roundRect">
            <a:avLst>
              <a:gd name="adj" fmla="val 5934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45" name="圆角矩形 44"/>
          <p:cNvSpPr/>
          <p:nvPr/>
        </p:nvSpPr>
        <p:spPr bwMode="gray">
          <a:xfrm>
            <a:off x="550603" y="1396862"/>
            <a:ext cx="2234219" cy="1975624"/>
          </a:xfrm>
          <a:prstGeom prst="roundRect">
            <a:avLst>
              <a:gd name="adj" fmla="val 5934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46" name="圆角矩形 45"/>
          <p:cNvSpPr/>
          <p:nvPr/>
        </p:nvSpPr>
        <p:spPr bwMode="gray">
          <a:xfrm>
            <a:off x="2846205" y="1396862"/>
            <a:ext cx="2337775" cy="1975624"/>
          </a:xfrm>
          <a:prstGeom prst="roundRect">
            <a:avLst>
              <a:gd name="adj" fmla="val 5934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pic>
        <p:nvPicPr>
          <p:cNvPr id="47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591310" y="2179349"/>
            <a:ext cx="541201" cy="442800"/>
          </a:xfrm>
          <a:prstGeom prst="rect">
            <a:avLst/>
          </a:prstGeom>
          <a:noFill/>
        </p:spPr>
      </p:pic>
      <p:pic>
        <p:nvPicPr>
          <p:cNvPr id="48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2551531" y="2179349"/>
            <a:ext cx="541201" cy="442800"/>
          </a:xfrm>
          <a:prstGeom prst="rect">
            <a:avLst/>
          </a:prstGeom>
          <a:noFill/>
        </p:spPr>
      </p:pic>
      <p:pic>
        <p:nvPicPr>
          <p:cNvPr id="49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984973" y="1649759"/>
            <a:ext cx="541201" cy="442800"/>
          </a:xfrm>
          <a:prstGeom prst="rect">
            <a:avLst/>
          </a:prstGeom>
          <a:noFill/>
        </p:spPr>
      </p:pic>
      <p:cxnSp>
        <p:nvCxnSpPr>
          <p:cNvPr id="50" name="直接连接符 49"/>
          <p:cNvCxnSpPr>
            <a:stCxn id="47" idx="3"/>
            <a:endCxn id="48" idx="1"/>
          </p:cNvCxnSpPr>
          <p:nvPr/>
        </p:nvCxnSpPr>
        <p:spPr bwMode="gray">
          <a:xfrm>
            <a:off x="1132511" y="2400749"/>
            <a:ext cx="14190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48" idx="3"/>
            <a:endCxn id="71" idx="1"/>
          </p:cNvCxnSpPr>
          <p:nvPr/>
        </p:nvCxnSpPr>
        <p:spPr bwMode="gray">
          <a:xfrm>
            <a:off x="3092732" y="2400749"/>
            <a:ext cx="72790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stCxn id="71" idx="1"/>
            <a:endCxn id="49" idx="1"/>
          </p:cNvCxnSpPr>
          <p:nvPr/>
        </p:nvCxnSpPr>
        <p:spPr bwMode="gray">
          <a:xfrm flipV="1">
            <a:off x="3820634" y="1871159"/>
            <a:ext cx="1164339" cy="52959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12"/>
          <p:cNvSpPr>
            <a:spLocks noChangeArrowheads="1"/>
          </p:cNvSpPr>
          <p:nvPr/>
        </p:nvSpPr>
        <p:spPr bwMode="gray">
          <a:xfrm>
            <a:off x="562559" y="1938560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R1</a:t>
            </a:r>
          </a:p>
        </p:txBody>
      </p:sp>
      <p:sp>
        <p:nvSpPr>
          <p:cNvPr id="54" name="Rectangle 312"/>
          <p:cNvSpPr>
            <a:spLocks noChangeArrowheads="1"/>
          </p:cNvSpPr>
          <p:nvPr/>
        </p:nvSpPr>
        <p:spPr bwMode="gray">
          <a:xfrm>
            <a:off x="2524755" y="1938630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R2</a:t>
            </a:r>
          </a:p>
        </p:txBody>
      </p:sp>
      <p:sp>
        <p:nvSpPr>
          <p:cNvPr id="55" name="Rectangle 312"/>
          <p:cNvSpPr>
            <a:spLocks noChangeArrowheads="1"/>
          </p:cNvSpPr>
          <p:nvPr/>
        </p:nvSpPr>
        <p:spPr bwMode="gray">
          <a:xfrm>
            <a:off x="4958197" y="1396862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R3</a:t>
            </a:r>
          </a:p>
        </p:txBody>
      </p:sp>
      <p:sp>
        <p:nvSpPr>
          <p:cNvPr id="56" name="Rectangle 312"/>
          <p:cNvSpPr>
            <a:spLocks noChangeArrowheads="1"/>
          </p:cNvSpPr>
          <p:nvPr/>
        </p:nvSpPr>
        <p:spPr bwMode="gray">
          <a:xfrm>
            <a:off x="4950019" y="2519141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R4</a:t>
            </a:r>
          </a:p>
        </p:txBody>
      </p:sp>
      <p:sp>
        <p:nvSpPr>
          <p:cNvPr id="57" name="Rectangle 312"/>
          <p:cNvSpPr>
            <a:spLocks noChangeArrowheads="1"/>
          </p:cNvSpPr>
          <p:nvPr/>
        </p:nvSpPr>
        <p:spPr bwMode="gray">
          <a:xfrm>
            <a:off x="953658" y="2153218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sp>
        <p:nvSpPr>
          <p:cNvPr id="58" name="Rectangle 312"/>
          <p:cNvSpPr>
            <a:spLocks noChangeArrowheads="1"/>
          </p:cNvSpPr>
          <p:nvPr/>
        </p:nvSpPr>
        <p:spPr bwMode="gray">
          <a:xfrm>
            <a:off x="1248333" y="2367876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sp>
        <p:nvSpPr>
          <p:cNvPr id="59" name="Rectangle 312"/>
          <p:cNvSpPr>
            <a:spLocks noChangeArrowheads="1"/>
          </p:cNvSpPr>
          <p:nvPr/>
        </p:nvSpPr>
        <p:spPr bwMode="gray">
          <a:xfrm>
            <a:off x="2952647" y="2153218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GE0/0/0</a:t>
            </a:r>
          </a:p>
        </p:txBody>
      </p:sp>
      <p:sp>
        <p:nvSpPr>
          <p:cNvPr id="60" name="Rectangle 312"/>
          <p:cNvSpPr>
            <a:spLocks noChangeArrowheads="1"/>
          </p:cNvSpPr>
          <p:nvPr/>
        </p:nvSpPr>
        <p:spPr bwMode="gray">
          <a:xfrm>
            <a:off x="4194843" y="1659816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GE0/0/1</a:t>
            </a:r>
          </a:p>
        </p:txBody>
      </p:sp>
      <p:sp>
        <p:nvSpPr>
          <p:cNvPr id="61" name="Rectangle 312"/>
          <p:cNvSpPr>
            <a:spLocks noChangeArrowheads="1"/>
          </p:cNvSpPr>
          <p:nvPr/>
        </p:nvSpPr>
        <p:spPr bwMode="gray">
          <a:xfrm>
            <a:off x="4194843" y="2926403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GE0/0/2</a:t>
            </a:r>
          </a:p>
        </p:txBody>
      </p:sp>
      <p:pic>
        <p:nvPicPr>
          <p:cNvPr id="62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984973" y="2744791"/>
            <a:ext cx="541201" cy="442800"/>
          </a:xfrm>
          <a:prstGeom prst="rect">
            <a:avLst/>
          </a:prstGeom>
          <a:noFill/>
        </p:spPr>
      </p:pic>
      <p:cxnSp>
        <p:nvCxnSpPr>
          <p:cNvPr id="63" name="直接连接符 62"/>
          <p:cNvCxnSpPr>
            <a:stCxn id="71" idx="1"/>
            <a:endCxn id="62" idx="1"/>
          </p:cNvCxnSpPr>
          <p:nvPr/>
        </p:nvCxnSpPr>
        <p:spPr bwMode="gray">
          <a:xfrm>
            <a:off x="3820634" y="2400749"/>
            <a:ext cx="1164339" cy="5654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7100068" y="1649759"/>
            <a:ext cx="541201" cy="442800"/>
          </a:xfrm>
          <a:prstGeom prst="rect">
            <a:avLst/>
          </a:prstGeom>
          <a:noFill/>
        </p:spPr>
      </p:pic>
      <p:cxnSp>
        <p:nvCxnSpPr>
          <p:cNvPr id="65" name="直接连接符 64"/>
          <p:cNvCxnSpPr>
            <a:stCxn id="49" idx="3"/>
            <a:endCxn id="64" idx="1"/>
          </p:cNvCxnSpPr>
          <p:nvPr/>
        </p:nvCxnSpPr>
        <p:spPr bwMode="gray">
          <a:xfrm>
            <a:off x="5526174" y="1871159"/>
            <a:ext cx="157389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12"/>
          <p:cNvSpPr>
            <a:spLocks noChangeArrowheads="1"/>
          </p:cNvSpPr>
          <p:nvPr/>
        </p:nvSpPr>
        <p:spPr bwMode="gray">
          <a:xfrm>
            <a:off x="5884705" y="1630331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dirty="0"/>
              <a:t>GE0/0/2</a:t>
            </a:r>
          </a:p>
        </p:txBody>
      </p:sp>
      <p:sp>
        <p:nvSpPr>
          <p:cNvPr id="67" name="Rectangle 312"/>
          <p:cNvSpPr>
            <a:spLocks noChangeArrowheads="1"/>
          </p:cNvSpPr>
          <p:nvPr/>
        </p:nvSpPr>
        <p:spPr bwMode="gray">
          <a:xfrm>
            <a:off x="7073292" y="1396862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R5</a:t>
            </a:r>
          </a:p>
        </p:txBody>
      </p:sp>
      <p:sp>
        <p:nvSpPr>
          <p:cNvPr id="68" name="Rectangle 312"/>
          <p:cNvSpPr>
            <a:spLocks noChangeArrowheads="1"/>
          </p:cNvSpPr>
          <p:nvPr/>
        </p:nvSpPr>
        <p:spPr bwMode="gray">
          <a:xfrm>
            <a:off x="600821" y="3068232"/>
            <a:ext cx="801728" cy="270484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Area 1</a:t>
            </a:r>
          </a:p>
        </p:txBody>
      </p:sp>
      <p:sp>
        <p:nvSpPr>
          <p:cNvPr id="69" name="Rectangle 312"/>
          <p:cNvSpPr>
            <a:spLocks noChangeArrowheads="1"/>
          </p:cNvSpPr>
          <p:nvPr/>
        </p:nvSpPr>
        <p:spPr bwMode="gray">
          <a:xfrm>
            <a:off x="2865768" y="3068232"/>
            <a:ext cx="801728" cy="270484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Area 0</a:t>
            </a:r>
          </a:p>
        </p:txBody>
      </p:sp>
      <p:sp>
        <p:nvSpPr>
          <p:cNvPr id="70" name="Rectangle 312"/>
          <p:cNvSpPr>
            <a:spLocks noChangeArrowheads="1"/>
          </p:cNvSpPr>
          <p:nvPr/>
        </p:nvSpPr>
        <p:spPr bwMode="gray">
          <a:xfrm>
            <a:off x="5437153" y="2153218"/>
            <a:ext cx="801728" cy="270484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Area 2</a:t>
            </a:r>
          </a:p>
        </p:txBody>
      </p:sp>
      <p:pic>
        <p:nvPicPr>
          <p:cNvPr id="71" name="图片 70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20634" y="2179349"/>
            <a:ext cx="540000" cy="442800"/>
          </a:xfrm>
          <a:prstGeom prst="rect">
            <a:avLst/>
          </a:prstGeom>
        </p:spPr>
      </p:pic>
      <p:sp>
        <p:nvSpPr>
          <p:cNvPr id="38" name="Rectangle 312"/>
          <p:cNvSpPr>
            <a:spLocks noChangeArrowheads="1"/>
          </p:cNvSpPr>
          <p:nvPr/>
        </p:nvSpPr>
        <p:spPr bwMode="gray">
          <a:xfrm>
            <a:off x="934193" y="1864300"/>
            <a:ext cx="1804136" cy="260845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b="1" dirty="0"/>
              <a:t>2001:D88:2345:12::/64</a:t>
            </a:r>
          </a:p>
        </p:txBody>
      </p:sp>
      <p:sp>
        <p:nvSpPr>
          <p:cNvPr id="39" name="Rectangle 312"/>
          <p:cNvSpPr>
            <a:spLocks noChangeArrowheads="1"/>
          </p:cNvSpPr>
          <p:nvPr/>
        </p:nvSpPr>
        <p:spPr bwMode="gray">
          <a:xfrm>
            <a:off x="2965722" y="1474228"/>
            <a:ext cx="1846182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b="1" dirty="0"/>
              <a:t>2001:D88:2345:23::/64</a:t>
            </a:r>
          </a:p>
        </p:txBody>
      </p:sp>
      <p:sp>
        <p:nvSpPr>
          <p:cNvPr id="41" name="Rectangle 312"/>
          <p:cNvSpPr>
            <a:spLocks noChangeArrowheads="1"/>
          </p:cNvSpPr>
          <p:nvPr/>
        </p:nvSpPr>
        <p:spPr bwMode="gray">
          <a:xfrm>
            <a:off x="5319596" y="1469383"/>
            <a:ext cx="1882938" cy="233463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200" b="1" dirty="0">
                <a:solidFill>
                  <a:srgbClr val="C7000B"/>
                </a:solidFill>
              </a:rPr>
              <a:t>2001:D88:2345:35::/64</a:t>
            </a:r>
          </a:p>
        </p:txBody>
      </p:sp>
    </p:spTree>
    <p:extLst>
      <p:ext uri="{BB962C8B-B14F-4D97-AF65-F5344CB8AC3E}">
        <p14:creationId xmlns:p14="http://schemas.microsoft.com/office/powerpoint/2010/main" val="40579718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查看</a:t>
            </a:r>
            <a:r>
              <a:rPr lang="en-US" altLang="zh-CN" dirty="0"/>
              <a:t>OSPFv3</a:t>
            </a:r>
            <a:r>
              <a:rPr lang="zh-CN" altLang="en-US" dirty="0"/>
              <a:t>网络</a:t>
            </a:r>
            <a:r>
              <a:rPr lang="en-US" altLang="zh-CN" dirty="0"/>
              <a:t>LSDB</a:t>
            </a:r>
            <a:r>
              <a:rPr lang="zh-CN" altLang="en-US" dirty="0"/>
              <a:t>信息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4294967295"/>
          </p:nvPr>
        </p:nvSpPr>
        <p:spPr>
          <a:xfrm>
            <a:off x="6096000" y="4789442"/>
            <a:ext cx="5648325" cy="10001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600" dirty="0"/>
              <a:t>查看</a:t>
            </a:r>
            <a:r>
              <a:rPr lang="en-US" altLang="zh-CN" sz="1600" dirty="0"/>
              <a:t>R2</a:t>
            </a:r>
            <a:r>
              <a:rPr lang="zh-CN" altLang="en-US" sz="1600" dirty="0"/>
              <a:t>的</a:t>
            </a:r>
            <a:r>
              <a:rPr lang="en-US" altLang="zh-CN" sz="1600" dirty="0"/>
              <a:t>LSDB</a:t>
            </a:r>
            <a:r>
              <a:rPr lang="zh-CN" altLang="en-US" sz="1600" dirty="0"/>
              <a:t>，有</a:t>
            </a:r>
            <a:r>
              <a:rPr lang="en-US" altLang="zh-CN" sz="1600" dirty="0"/>
              <a:t>Type1</a:t>
            </a:r>
            <a:r>
              <a:rPr lang="zh-CN" altLang="en-US" sz="1600" dirty="0"/>
              <a:t>、</a:t>
            </a:r>
            <a:r>
              <a:rPr lang="en-US" altLang="zh-CN" sz="1600" dirty="0"/>
              <a:t>Type2</a:t>
            </a:r>
            <a:r>
              <a:rPr lang="zh-CN" altLang="en-US" sz="1600" dirty="0"/>
              <a:t>、</a:t>
            </a:r>
            <a:r>
              <a:rPr lang="en-US" altLang="zh-CN" sz="1600" dirty="0"/>
              <a:t>Type3</a:t>
            </a:r>
            <a:r>
              <a:rPr lang="zh-CN" altLang="en-US" sz="1600" dirty="0"/>
              <a:t>、</a:t>
            </a:r>
            <a:r>
              <a:rPr lang="en-US" altLang="zh-CN" sz="1600" dirty="0"/>
              <a:t>Type8</a:t>
            </a:r>
            <a:r>
              <a:rPr lang="zh-CN" altLang="en-US" sz="1600" dirty="0"/>
              <a:t>和</a:t>
            </a:r>
            <a:r>
              <a:rPr lang="en-US" altLang="zh-CN" sz="1600" dirty="0"/>
              <a:t>Type9</a:t>
            </a:r>
            <a:r>
              <a:rPr lang="zh-CN" altLang="en-US" sz="1600" dirty="0"/>
              <a:t>五种</a:t>
            </a:r>
            <a:r>
              <a:rPr lang="en-US" altLang="zh-CN" sz="1600" dirty="0"/>
              <a:t>LSA</a:t>
            </a:r>
            <a:r>
              <a:rPr lang="zh-CN" altLang="en-US" sz="1600" dirty="0"/>
              <a:t>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3506" y="1082631"/>
            <a:ext cx="5539076" cy="503785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54000" rIns="54000" rtlCol="0" anchor="ctr" anchorCtr="0">
            <a:noAutofit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/>
                </a:solidFill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[R2]display ospfv3 </a:t>
            </a:r>
            <a:r>
              <a:rPr lang="en-US" altLang="zh-CN" dirty="0" err="1"/>
              <a:t>lsdb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* indicates STALE LSA</a:t>
            </a:r>
          </a:p>
          <a:p>
            <a:r>
              <a:rPr lang="en-US" altLang="zh-CN" dirty="0"/>
              <a:t>           OSPFv3 Router with ID (10.1.2.2) (Process 1)</a:t>
            </a:r>
          </a:p>
          <a:p>
            <a:r>
              <a:rPr lang="en-US" altLang="zh-CN" dirty="0">
                <a:solidFill>
                  <a:srgbClr val="EC7061"/>
                </a:solidFill>
              </a:rPr>
              <a:t>               </a:t>
            </a:r>
            <a:r>
              <a:rPr lang="en-US" altLang="zh-CN" dirty="0">
                <a:solidFill>
                  <a:srgbClr val="C7000B"/>
                </a:solidFill>
              </a:rPr>
              <a:t>Link-LSA</a:t>
            </a:r>
            <a:r>
              <a:rPr lang="en-US" altLang="zh-CN" dirty="0">
                <a:solidFill>
                  <a:srgbClr val="EC7061"/>
                </a:solidFill>
              </a:rPr>
              <a:t> </a:t>
            </a:r>
            <a:r>
              <a:rPr lang="en-US" altLang="zh-CN" dirty="0"/>
              <a:t>(Interface GigabitEthernet0/0/0)</a:t>
            </a:r>
          </a:p>
          <a:p>
            <a:r>
              <a:rPr lang="en-US" altLang="zh-CN" dirty="0"/>
              <a:t>Link State ID	 Origin Router    Age   </a:t>
            </a:r>
            <a:r>
              <a:rPr lang="en-US" altLang="zh-CN" dirty="0" err="1"/>
              <a:t>Seq</a:t>
            </a:r>
            <a:r>
              <a:rPr lang="en-US" altLang="zh-CN" dirty="0"/>
              <a:t>#              </a:t>
            </a:r>
            <a:r>
              <a:rPr lang="en-US" altLang="zh-CN" dirty="0" err="1"/>
              <a:t>CkSum</a:t>
            </a:r>
            <a:r>
              <a:rPr lang="en-US" altLang="zh-CN" dirty="0"/>
              <a:t>  Prefix</a:t>
            </a:r>
          </a:p>
          <a:p>
            <a:r>
              <a:rPr lang="en-US" altLang="zh-CN" dirty="0"/>
              <a:t>0.0.0.3         	 10.1.2.2            0862  0x80000003    0x486d   1</a:t>
            </a:r>
          </a:p>
          <a:p>
            <a:r>
              <a:rPr lang="en-US" altLang="zh-CN" dirty="0"/>
              <a:t>0.0.0.4         	 10.1.3.3            0854  0x80000003    0xc512   1</a:t>
            </a:r>
          </a:p>
          <a:p>
            <a:r>
              <a:rPr lang="en-US" altLang="zh-CN" dirty="0"/>
              <a:t>0.0.0.5         	 10.1.4.4            0840  0x80000003    0x4e3c   1</a:t>
            </a:r>
          </a:p>
          <a:p>
            <a:r>
              <a:rPr lang="en-US" altLang="zh-CN" dirty="0"/>
              <a:t>               </a:t>
            </a:r>
            <a:r>
              <a:rPr lang="en-US" altLang="zh-CN" dirty="0">
                <a:solidFill>
                  <a:srgbClr val="C7000B"/>
                </a:solidFill>
              </a:rPr>
              <a:t>Link-LSA</a:t>
            </a:r>
            <a:r>
              <a:rPr lang="en-US" altLang="zh-CN" dirty="0"/>
              <a:t> (Interface GigabitEthernet0/0/1)</a:t>
            </a:r>
          </a:p>
          <a:p>
            <a:r>
              <a:rPr lang="en-US" altLang="zh-CN" dirty="0"/>
              <a:t>Link State ID	 Origin Router    Age   </a:t>
            </a:r>
            <a:r>
              <a:rPr lang="en-US" altLang="zh-CN" dirty="0" err="1"/>
              <a:t>Seq</a:t>
            </a:r>
            <a:r>
              <a:rPr lang="en-US" altLang="zh-CN" dirty="0"/>
              <a:t>#              </a:t>
            </a:r>
            <a:r>
              <a:rPr lang="en-US" altLang="zh-CN" dirty="0" err="1"/>
              <a:t>CkSum</a:t>
            </a:r>
            <a:r>
              <a:rPr lang="en-US" altLang="zh-CN" dirty="0"/>
              <a:t>  Prefix</a:t>
            </a:r>
          </a:p>
          <a:p>
            <a:r>
              <a:rPr lang="en-US" altLang="zh-CN" dirty="0"/>
              <a:t>0.0.0.4         	 10.1.1.1            0878  0x80000003    0x9d8f    1</a:t>
            </a:r>
          </a:p>
          <a:p>
            <a:r>
              <a:rPr lang="en-US" altLang="zh-CN" dirty="0"/>
              <a:t>0.0.0.4         	 10.1.2.2            0868  0x80000003    0xcbf8    1               </a:t>
            </a:r>
          </a:p>
          <a:p>
            <a:r>
              <a:rPr lang="en-US" altLang="zh-CN" dirty="0"/>
              <a:t>               Router-LSA (Area 0.0.0.0)</a:t>
            </a:r>
          </a:p>
          <a:p>
            <a:r>
              <a:rPr lang="en-US" altLang="zh-CN" dirty="0"/>
              <a:t>Link State ID	 Origin Router    Age   </a:t>
            </a:r>
            <a:r>
              <a:rPr lang="en-US" altLang="zh-CN" dirty="0" err="1"/>
              <a:t>Seq</a:t>
            </a:r>
            <a:r>
              <a:rPr lang="en-US" altLang="zh-CN" dirty="0"/>
              <a:t>#              </a:t>
            </a:r>
            <a:r>
              <a:rPr lang="en-US" altLang="zh-CN" dirty="0" err="1"/>
              <a:t>CkSum</a:t>
            </a:r>
            <a:r>
              <a:rPr lang="en-US" altLang="zh-CN" dirty="0"/>
              <a:t>  Link</a:t>
            </a:r>
          </a:p>
          <a:p>
            <a:r>
              <a:rPr lang="en-US" altLang="zh-CN" dirty="0"/>
              <a:t>0.0.0.0	 10.1.2.2            0567  0x8000000f    0xd411   1</a:t>
            </a:r>
          </a:p>
          <a:p>
            <a:r>
              <a:rPr lang="en-US" altLang="zh-CN" dirty="0"/>
              <a:t>0.0.0.0	 10.1.3.3            0576  0x8000000e    0xd70c   1</a:t>
            </a:r>
          </a:p>
          <a:p>
            <a:r>
              <a:rPr lang="en-US" altLang="zh-CN" dirty="0"/>
              <a:t>0.0.0.0	 10.1.4.4            0577  0x8000000a    0xdd08   1</a:t>
            </a:r>
          </a:p>
          <a:p>
            <a:r>
              <a:rPr lang="en-US" altLang="zh-CN" dirty="0"/>
              <a:t>               Network-LSA (Area 0.0.0.0)</a:t>
            </a:r>
          </a:p>
          <a:p>
            <a:r>
              <a:rPr lang="en-US" altLang="zh-CN" dirty="0"/>
              <a:t>Link State ID	 Origin Router    Age   </a:t>
            </a:r>
            <a:r>
              <a:rPr lang="en-US" altLang="zh-CN" dirty="0" err="1"/>
              <a:t>Seq</a:t>
            </a:r>
            <a:r>
              <a:rPr lang="en-US" altLang="zh-CN" dirty="0"/>
              <a:t>#              </a:t>
            </a:r>
            <a:r>
              <a:rPr lang="en-US" altLang="zh-CN" dirty="0" err="1"/>
              <a:t>CkSum</a:t>
            </a:r>
            <a:endParaRPr lang="en-US" altLang="zh-CN" dirty="0"/>
          </a:p>
          <a:p>
            <a:r>
              <a:rPr lang="en-US" altLang="zh-CN" dirty="0"/>
              <a:t>0.0.0.5	 10.1.4.4            0577  0x80000006    0xc014</a:t>
            </a:r>
          </a:p>
          <a:p>
            <a:r>
              <a:rPr lang="en-US" altLang="zh-CN" dirty="0"/>
              <a:t>               Inter-Area-Prefix-LSA (Area 0.0.0.0)</a:t>
            </a:r>
          </a:p>
          <a:p>
            <a:r>
              <a:rPr lang="en-US" altLang="zh-CN" dirty="0"/>
              <a:t>Link State ID	 Origin Router    Age   </a:t>
            </a:r>
            <a:r>
              <a:rPr lang="en-US" altLang="zh-CN" dirty="0" err="1"/>
              <a:t>Seq</a:t>
            </a:r>
            <a:r>
              <a:rPr lang="en-US" altLang="zh-CN" dirty="0"/>
              <a:t>#              </a:t>
            </a:r>
            <a:r>
              <a:rPr lang="en-US" altLang="zh-CN" dirty="0" err="1"/>
              <a:t>CkSum</a:t>
            </a:r>
            <a:endParaRPr lang="en-US" altLang="zh-CN" dirty="0"/>
          </a:p>
          <a:p>
            <a:r>
              <a:rPr lang="en-US" altLang="zh-CN" dirty="0"/>
              <a:t>0.0.0.1	 10.1.2.2            0862  0x80000003    0xceb3</a:t>
            </a:r>
          </a:p>
          <a:p>
            <a:r>
              <a:rPr lang="en-US" altLang="zh-CN" dirty="0"/>
              <a:t>0.0.0.1	 10.1.3.3            0782  0x80000004    0x3824</a:t>
            </a:r>
          </a:p>
          <a:p>
            <a:r>
              <a:rPr lang="en-US" altLang="zh-CN" dirty="0"/>
              <a:t>               </a:t>
            </a:r>
            <a:r>
              <a:rPr lang="en-US" altLang="zh-CN" dirty="0">
                <a:solidFill>
                  <a:srgbClr val="C7000B"/>
                </a:solidFill>
              </a:rPr>
              <a:t>Intra-Area-Prefix-LSA</a:t>
            </a:r>
            <a:r>
              <a:rPr lang="en-US" altLang="zh-CN" dirty="0"/>
              <a:t> (Area 0.0.0.0)</a:t>
            </a:r>
          </a:p>
          <a:p>
            <a:r>
              <a:rPr lang="en-US" altLang="zh-CN" dirty="0"/>
              <a:t>Link State ID	 Origin Router    Age   </a:t>
            </a:r>
            <a:r>
              <a:rPr lang="en-US" altLang="zh-CN" dirty="0" err="1"/>
              <a:t>Seq</a:t>
            </a:r>
            <a:r>
              <a:rPr lang="en-US" altLang="zh-CN" dirty="0"/>
              <a:t>#              </a:t>
            </a:r>
            <a:r>
              <a:rPr lang="en-US" altLang="zh-CN" dirty="0" err="1"/>
              <a:t>CkSum</a:t>
            </a:r>
            <a:r>
              <a:rPr lang="en-US" altLang="zh-CN" dirty="0"/>
              <a:t> Prefix Reference</a:t>
            </a:r>
          </a:p>
          <a:p>
            <a:r>
              <a:rPr lang="en-US" altLang="zh-CN" dirty="0"/>
              <a:t>0.0.0.1	 10.1.4.4            0576  0x8000000a    0xee2f     1   Network-LSA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065793" y="1082631"/>
            <a:ext cx="5672369" cy="27293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lIns="54000" rIns="54000" rtlCol="0" anchor="ctr" anchorCtr="0">
            <a:noAutofit/>
          </a:bodyPr>
          <a:lstStyle>
            <a:defPPr>
              <a:defRPr lang="en-US"/>
            </a:defPPr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/>
                </a:solidFill>
                <a:cs typeface="Courier New" panose="02070309020205020404" pitchFamily="49" charset="0"/>
              </a:defRPr>
            </a:lvl1pPr>
          </a:lstStyle>
          <a:p>
            <a:r>
              <a:rPr lang="en-US" altLang="zh-CN" dirty="0"/>
              <a:t>               Router-LSA (Area 0.0.0.1)</a:t>
            </a:r>
          </a:p>
          <a:p>
            <a:r>
              <a:rPr lang="en-US" altLang="zh-CN" dirty="0"/>
              <a:t>Link State ID	 Origin Router    Age    </a:t>
            </a:r>
            <a:r>
              <a:rPr lang="en-US" altLang="zh-CN" dirty="0" err="1"/>
              <a:t>Seq</a:t>
            </a:r>
            <a:r>
              <a:rPr lang="en-US" altLang="zh-CN" dirty="0"/>
              <a:t>#           </a:t>
            </a:r>
            <a:r>
              <a:rPr lang="en-US" altLang="zh-CN" dirty="0" err="1"/>
              <a:t>CkSum</a:t>
            </a:r>
            <a:r>
              <a:rPr lang="en-US" altLang="zh-CN" dirty="0"/>
              <a:t>    Link</a:t>
            </a:r>
          </a:p>
          <a:p>
            <a:r>
              <a:rPr lang="en-US" altLang="zh-CN" dirty="0"/>
              <a:t>0.0.0.0	 10.1.1.1             0819  0x80000007 0x9460      1</a:t>
            </a:r>
          </a:p>
          <a:p>
            <a:r>
              <a:rPr lang="en-US" altLang="zh-CN" dirty="0"/>
              <a:t>0.0.0.0	 10.1.2.2             0827  0x80000007 0x8a67      1</a:t>
            </a:r>
          </a:p>
          <a:p>
            <a:r>
              <a:rPr lang="en-US" altLang="zh-CN" dirty="0"/>
              <a:t>               Network-LSA (Area 0.0.0.1)</a:t>
            </a:r>
          </a:p>
          <a:p>
            <a:r>
              <a:rPr lang="en-US" altLang="zh-CN" dirty="0"/>
              <a:t>Link State ID	 Origin Router    Age    </a:t>
            </a:r>
            <a:r>
              <a:rPr lang="en-US" altLang="zh-CN" dirty="0" err="1"/>
              <a:t>Seq</a:t>
            </a:r>
            <a:r>
              <a:rPr lang="en-US" altLang="zh-CN" dirty="0"/>
              <a:t>#           </a:t>
            </a:r>
            <a:r>
              <a:rPr lang="en-US" altLang="zh-CN" dirty="0" err="1"/>
              <a:t>CkSum</a:t>
            </a:r>
            <a:endParaRPr lang="en-US" altLang="zh-CN" dirty="0"/>
          </a:p>
          <a:p>
            <a:r>
              <a:rPr lang="en-US" altLang="zh-CN" dirty="0"/>
              <a:t>0.0.0.4	 10.1.2.2             0828  0x80000003 0x9166</a:t>
            </a:r>
          </a:p>
          <a:p>
            <a:r>
              <a:rPr lang="en-US" altLang="zh-CN" dirty="0"/>
              <a:t>               Inter-Area-Prefix-LSA (Area 0.0.0.1)</a:t>
            </a:r>
          </a:p>
          <a:p>
            <a:r>
              <a:rPr lang="en-US" altLang="zh-CN" dirty="0"/>
              <a:t>Link State ID	 Origin Router    Age    </a:t>
            </a:r>
            <a:r>
              <a:rPr lang="en-US" altLang="zh-CN" dirty="0" err="1"/>
              <a:t>Seq</a:t>
            </a:r>
            <a:r>
              <a:rPr lang="en-US" altLang="zh-CN" dirty="0"/>
              <a:t>#           </a:t>
            </a:r>
            <a:r>
              <a:rPr lang="en-US" altLang="zh-CN" dirty="0" err="1"/>
              <a:t>CkSum</a:t>
            </a:r>
            <a:endParaRPr lang="en-US" altLang="zh-CN" dirty="0"/>
          </a:p>
          <a:p>
            <a:r>
              <a:rPr lang="en-US" altLang="zh-CN" dirty="0"/>
              <a:t>0.0.0.1	 10.1.2.2             0570  0x80000001 0x510f</a:t>
            </a:r>
          </a:p>
          <a:p>
            <a:r>
              <a:rPr lang="en-US" altLang="zh-CN" dirty="0"/>
              <a:t>0.0.0.2 	 10.1.2.2             0596  0x80000001 0xfb76</a:t>
            </a:r>
          </a:p>
          <a:p>
            <a:r>
              <a:rPr lang="en-US" altLang="zh-CN" dirty="0">
                <a:solidFill>
                  <a:srgbClr val="C7000B"/>
                </a:solidFill>
              </a:rPr>
              <a:t>               Intra-Area-Prefix-LSA </a:t>
            </a:r>
            <a:r>
              <a:rPr lang="en-US" altLang="zh-CN" dirty="0"/>
              <a:t>(Area 0.0.0.1)</a:t>
            </a:r>
          </a:p>
          <a:p>
            <a:r>
              <a:rPr lang="en-US" altLang="zh-CN" dirty="0"/>
              <a:t>Link State ID	 Origin Router    Age    </a:t>
            </a:r>
            <a:r>
              <a:rPr lang="en-US" altLang="zh-CN" dirty="0" err="1"/>
              <a:t>Seq</a:t>
            </a:r>
            <a:r>
              <a:rPr lang="en-US" altLang="zh-CN" dirty="0"/>
              <a:t>#           </a:t>
            </a:r>
            <a:r>
              <a:rPr lang="en-US" altLang="zh-CN" dirty="0" err="1"/>
              <a:t>CkSum</a:t>
            </a:r>
            <a:r>
              <a:rPr lang="en-US" altLang="zh-CN" dirty="0"/>
              <a:t>  Prefix   Reference</a:t>
            </a:r>
          </a:p>
          <a:p>
            <a:r>
              <a:rPr lang="en-US" altLang="zh-CN" dirty="0"/>
              <a:t>0.0.0.1         	 10.1.2.2             0826  0x80000004 0x1925      1     Network-LSA</a:t>
            </a:r>
          </a:p>
        </p:txBody>
      </p:sp>
    </p:spTree>
    <p:extLst>
      <p:ext uri="{BB962C8B-B14F-4D97-AF65-F5344CB8AC3E}">
        <p14:creationId xmlns:p14="http://schemas.microsoft.com/office/powerpoint/2010/main" val="11072037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静态路由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OSPFv3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b="1" dirty="0"/>
              <a:t>IS-IS</a:t>
            </a:r>
            <a:r>
              <a:rPr lang="zh-CN" altLang="en-US" b="1" dirty="0"/>
              <a:t>（</a:t>
            </a:r>
            <a:r>
              <a:rPr lang="en-US" altLang="zh-CN" b="1" dirty="0"/>
              <a:t>IPv6</a:t>
            </a:r>
            <a:r>
              <a:rPr lang="zh-CN" altLang="en-US" b="1" dirty="0"/>
              <a:t>）原理与配置</a:t>
            </a:r>
            <a:endParaRPr lang="en-US" altLang="zh-CN" b="1" dirty="0"/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BGP4+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606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IS-IS</a:t>
            </a:r>
            <a:r>
              <a:rPr lang="zh-CN" altLang="en-US" dirty="0"/>
              <a:t> </a:t>
            </a:r>
            <a:r>
              <a:rPr lang="en-US" altLang="zh-CN" dirty="0"/>
              <a:t>(IPv6)</a:t>
            </a:r>
            <a:r>
              <a:rPr lang="zh-CN" altLang="en-US" dirty="0"/>
              <a:t>概述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000" dirty="0"/>
              <a:t>IS-IS</a:t>
            </a:r>
            <a:r>
              <a:rPr lang="zh-CN" altLang="en-US" sz="2000" dirty="0"/>
              <a:t>最初是为</a:t>
            </a:r>
            <a:r>
              <a:rPr lang="en-US" altLang="zh-CN" sz="2000" dirty="0"/>
              <a:t>OSI</a:t>
            </a:r>
            <a:r>
              <a:rPr lang="zh-CN" altLang="en-US" sz="2000" dirty="0"/>
              <a:t>网络设计的一种基于链路状态协议的动态路由协议。之后为了提供对</a:t>
            </a:r>
            <a:r>
              <a:rPr lang="en-US" altLang="zh-CN" sz="2000" dirty="0"/>
              <a:t>IPv4</a:t>
            </a:r>
            <a:r>
              <a:rPr lang="zh-CN" altLang="en-US" sz="2000" dirty="0"/>
              <a:t>的路由支持，扩展应用到</a:t>
            </a:r>
            <a:r>
              <a:rPr lang="en-US" altLang="zh-CN" sz="2000" dirty="0"/>
              <a:t>IPv4</a:t>
            </a:r>
            <a:r>
              <a:rPr lang="zh-CN" altLang="en-US" sz="2000" dirty="0"/>
              <a:t>网络，称为集成</a:t>
            </a:r>
            <a:r>
              <a:rPr lang="en-US" altLang="zh-CN" sz="2000" dirty="0"/>
              <a:t>IS-IS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r>
              <a:rPr lang="en-US" altLang="zh-CN" sz="2000" dirty="0"/>
              <a:t>IS-IS</a:t>
            </a:r>
            <a:r>
              <a:rPr lang="zh-CN" altLang="en-US" sz="2000" dirty="0"/>
              <a:t>报文有以下几种类型：</a:t>
            </a:r>
            <a:r>
              <a:rPr lang="en-US" altLang="zh-CN" sz="2000" dirty="0"/>
              <a:t>Hello PDU</a:t>
            </a:r>
            <a:r>
              <a:rPr lang="zh-CN" altLang="en-US" sz="2000" dirty="0"/>
              <a:t>、</a:t>
            </a:r>
            <a:r>
              <a:rPr lang="en-US" altLang="zh-CN" sz="2000" dirty="0"/>
              <a:t>LSP</a:t>
            </a:r>
            <a:r>
              <a:rPr lang="zh-CN" altLang="en-US" sz="2000" dirty="0"/>
              <a:t>和</a:t>
            </a:r>
            <a:r>
              <a:rPr lang="en-US" altLang="zh-CN" sz="2000" dirty="0"/>
              <a:t>SNP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1"/>
            <a:r>
              <a:rPr lang="zh-CN" altLang="en-US" sz="1800" dirty="0"/>
              <a:t>报文格式为：</a:t>
            </a:r>
            <a:endParaRPr lang="en-US" altLang="zh-CN" sz="18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lvl="1"/>
            <a:r>
              <a:rPr lang="en-US" altLang="zh-CN" sz="1800" dirty="0"/>
              <a:t>IS-IS</a:t>
            </a:r>
            <a:r>
              <a:rPr lang="zh-CN" altLang="en-US" sz="1800" dirty="0"/>
              <a:t>报文中的变长字段部分是多个</a:t>
            </a:r>
            <a:r>
              <a:rPr lang="en-US" altLang="zh-CN" sz="1800" dirty="0"/>
              <a:t>TLV</a:t>
            </a:r>
            <a:r>
              <a:rPr lang="zh-CN" altLang="en-US" sz="1800" dirty="0"/>
              <a:t>（</a:t>
            </a:r>
            <a:r>
              <a:rPr lang="en-US" altLang="zh-CN" sz="1800" dirty="0"/>
              <a:t>Type-Length-Value</a:t>
            </a:r>
            <a:r>
              <a:rPr lang="zh-CN" altLang="en-US" sz="1800" dirty="0"/>
              <a:t>）三元组，使用</a:t>
            </a:r>
            <a:r>
              <a:rPr lang="en-US" altLang="zh-CN" sz="1800" dirty="0"/>
              <a:t>TLV</a:t>
            </a:r>
            <a:r>
              <a:rPr lang="zh-CN" altLang="en-US" sz="1800" dirty="0"/>
              <a:t>结构构建报文使</a:t>
            </a:r>
            <a:r>
              <a:rPr lang="en-US" altLang="zh-CN" sz="1800" dirty="0"/>
              <a:t>IS-IS</a:t>
            </a:r>
            <a:r>
              <a:rPr lang="zh-CN" altLang="en-US" sz="1800" dirty="0"/>
              <a:t>更具灵活性和扩展性，增加新特性只需要增加新</a:t>
            </a:r>
            <a:r>
              <a:rPr lang="en-US" altLang="zh-CN" sz="1800" dirty="0"/>
              <a:t>TLV</a:t>
            </a:r>
            <a:r>
              <a:rPr lang="zh-CN" altLang="en-US" sz="1800" dirty="0"/>
              <a:t>即可。</a:t>
            </a:r>
            <a:endParaRPr lang="en-US" altLang="zh-CN" sz="1800" dirty="0"/>
          </a:p>
          <a:p>
            <a:r>
              <a:rPr lang="zh-CN" altLang="en-US" sz="2000" dirty="0"/>
              <a:t>为了支持</a:t>
            </a:r>
            <a:r>
              <a:rPr lang="en-US" altLang="zh-CN" sz="2000" dirty="0"/>
              <a:t>IPv6</a:t>
            </a:r>
            <a:r>
              <a:rPr lang="zh-CN" altLang="en-US" sz="2000" dirty="0"/>
              <a:t>路由的处理和计算，</a:t>
            </a:r>
            <a:r>
              <a:rPr lang="en-US" altLang="zh-CN" sz="2000" dirty="0"/>
              <a:t>IS-IS</a:t>
            </a:r>
            <a:r>
              <a:rPr lang="zh-CN" altLang="en-US" sz="2000" dirty="0"/>
              <a:t>新增了</a:t>
            </a:r>
            <a:r>
              <a:rPr lang="zh-CN" altLang="en-US" sz="2000" b="1" dirty="0"/>
              <a:t>两个</a:t>
            </a:r>
            <a:r>
              <a:rPr lang="en-US" altLang="zh-CN" sz="2000" b="1" dirty="0"/>
              <a:t>TLV</a:t>
            </a:r>
            <a:r>
              <a:rPr lang="zh-CN" altLang="en-US" sz="2000" dirty="0"/>
              <a:t>和</a:t>
            </a:r>
            <a:r>
              <a:rPr lang="zh-CN" altLang="en-US" sz="2000" b="1" dirty="0"/>
              <a:t>一个</a:t>
            </a:r>
            <a:r>
              <a:rPr lang="en-US" altLang="zh-CN" sz="2000" b="1" dirty="0"/>
              <a:t>NLPID</a:t>
            </a:r>
            <a:r>
              <a:rPr lang="zh-CN" altLang="en-US" sz="2000" dirty="0"/>
              <a:t>（</a:t>
            </a:r>
            <a:r>
              <a:rPr lang="en-US" altLang="zh-CN" sz="2000" dirty="0"/>
              <a:t>Network Layer Protocol Identifier</a:t>
            </a:r>
            <a:r>
              <a:rPr lang="zh-CN" altLang="en-US" sz="2000" dirty="0"/>
              <a:t>，网络层协议标识符）。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272965"/>
              </p:ext>
            </p:extLst>
          </p:nvPr>
        </p:nvGraphicFramePr>
        <p:xfrm>
          <a:off x="1259035" y="3091872"/>
          <a:ext cx="5040000" cy="918000"/>
        </p:xfrm>
        <a:graphic>
          <a:graphicData uri="http://schemas.openxmlformats.org/drawingml/2006/table">
            <a:tbl>
              <a:tblPr firstRow="1" bandRow="1"/>
              <a:tblGrid>
                <a:gridCol w="50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PDU</a:t>
                      </a: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Common Header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PDU Specific Header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7000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Variable Length Fields</a:t>
                      </a:r>
                      <a:r>
                        <a:rPr kumimoji="0" lang="zh-CN" alt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7000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7000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TLV</a:t>
                      </a:r>
                      <a:r>
                        <a:rPr kumimoji="0" lang="zh-CN" alt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7000B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kumimoji="0" lang="en-US" altLang="zh-CN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C7000B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368663"/>
              </p:ext>
            </p:extLst>
          </p:nvPr>
        </p:nvGraphicFramePr>
        <p:xfrm>
          <a:off x="7132141" y="2779399"/>
          <a:ext cx="2520000" cy="918000"/>
        </p:xfrm>
        <a:graphic>
          <a:graphicData uri="http://schemas.openxmlformats.org/drawingml/2006/table">
            <a:tbl>
              <a:tblPr firstRow="1" bandRow="1"/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Freeform 9"/>
          <p:cNvSpPr>
            <a:spLocks/>
          </p:cNvSpPr>
          <p:nvPr/>
        </p:nvSpPr>
        <p:spPr bwMode="gray">
          <a:xfrm rot="313144">
            <a:off x="6326868" y="3516102"/>
            <a:ext cx="747944" cy="362594"/>
          </a:xfrm>
          <a:custGeom>
            <a:avLst/>
            <a:gdLst>
              <a:gd name="T0" fmla="*/ 30278 w 32079"/>
              <a:gd name="T1" fmla="*/ 4424 h 15622"/>
              <a:gd name="T2" fmla="*/ 2783 w 32079"/>
              <a:gd name="T3" fmla="*/ 15622 h 15622"/>
              <a:gd name="T4" fmla="*/ 0 w 32079"/>
              <a:gd name="T5" fmla="*/ 15523 h 15622"/>
              <a:gd name="T6" fmla="*/ 26897 w 32079"/>
              <a:gd name="T7" fmla="*/ 2112 h 15622"/>
              <a:gd name="T8" fmla="*/ 25060 w 32079"/>
              <a:gd name="T9" fmla="*/ 856 h 15622"/>
              <a:gd name="T10" fmla="*/ 27928 w 32079"/>
              <a:gd name="T11" fmla="*/ 428 h 15622"/>
              <a:gd name="T12" fmla="*/ 30796 w 32079"/>
              <a:gd name="T13" fmla="*/ 0 h 15622"/>
              <a:gd name="T14" fmla="*/ 31438 w 32079"/>
              <a:gd name="T15" fmla="*/ 2828 h 15622"/>
              <a:gd name="T16" fmla="*/ 32079 w 32079"/>
              <a:gd name="T17" fmla="*/ 5656 h 15622"/>
              <a:gd name="T18" fmla="*/ 30278 w 32079"/>
              <a:gd name="T19" fmla="*/ 4424 h 156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079" h="15622">
                <a:moveTo>
                  <a:pt x="30278" y="4424"/>
                </a:moveTo>
                <a:cubicBezTo>
                  <a:pt x="23182" y="11352"/>
                  <a:pt x="13481" y="15622"/>
                  <a:pt x="2783" y="15622"/>
                </a:cubicBezTo>
                <a:cubicBezTo>
                  <a:pt x="1847" y="15622"/>
                  <a:pt x="920" y="15587"/>
                  <a:pt x="0" y="15523"/>
                </a:cubicBezTo>
                <a:cubicBezTo>
                  <a:pt x="10716" y="14774"/>
                  <a:pt x="20250" y="9734"/>
                  <a:pt x="26897" y="2112"/>
                </a:cubicBezTo>
                <a:lnTo>
                  <a:pt x="25060" y="856"/>
                </a:lnTo>
                <a:lnTo>
                  <a:pt x="27928" y="428"/>
                </a:lnTo>
                <a:lnTo>
                  <a:pt x="30796" y="0"/>
                </a:lnTo>
                <a:lnTo>
                  <a:pt x="31438" y="2828"/>
                </a:lnTo>
                <a:lnTo>
                  <a:pt x="32079" y="5656"/>
                </a:lnTo>
                <a:lnTo>
                  <a:pt x="30278" y="4424"/>
                </a:lnTo>
                <a:close/>
              </a:path>
            </a:pathLst>
          </a:custGeom>
          <a:gradFill>
            <a:gsLst>
              <a:gs pos="100000">
                <a:srgbClr val="ECF9FA"/>
              </a:gs>
              <a:gs pos="31000">
                <a:srgbClr val="94DAE2"/>
              </a:gs>
            </a:gsLst>
            <a:lin ang="16200000" scaled="1"/>
          </a:gradFill>
          <a:ln w="19050" cap="flat" cmpd="sng">
            <a:gradFill>
              <a:gsLst>
                <a:gs pos="0">
                  <a:schemeClr val="bg2">
                    <a:alpha val="40000"/>
                  </a:schemeClr>
                </a:gs>
                <a:gs pos="100000">
                  <a:srgbClr val="94DAE2"/>
                </a:gs>
              </a:gsLst>
              <a:lin ang="0" scaled="0"/>
            </a:gra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1449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新增</a:t>
            </a:r>
            <a:r>
              <a:rPr lang="en-US" altLang="zh-CN" dirty="0"/>
              <a:t>TLV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46656"/>
              </p:ext>
            </p:extLst>
          </p:nvPr>
        </p:nvGraphicFramePr>
        <p:xfrm>
          <a:off x="820177" y="2479430"/>
          <a:ext cx="5040057" cy="1836000"/>
        </p:xfrm>
        <a:graphic>
          <a:graphicData uri="http://schemas.openxmlformats.org/drawingml/2006/table">
            <a:tbl>
              <a:tblPr firstRow="1" bandRow="1"/>
              <a:tblGrid>
                <a:gridCol w="121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8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2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Type=232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 Address 1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 Address 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 Address 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 Address 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000"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 Address 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Interface Address 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000">
                <a:tc gridSpan="3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zh-C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圆角矩形 75"/>
          <p:cNvSpPr/>
          <p:nvPr/>
        </p:nvSpPr>
        <p:spPr bwMode="gray">
          <a:xfrm>
            <a:off x="692402" y="1166431"/>
            <a:ext cx="5403597" cy="394020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/>
              </a:gs>
            </a:gsLst>
            <a:lin ang="5400000" scaled="1"/>
          </a:gradFill>
          <a:ln w="9525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232</a:t>
            </a:r>
            <a:r>
              <a:rPr lang="zh-CN" altLang="en-US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号</a:t>
            </a:r>
            <a:r>
              <a:rPr lang="en-US" altLang="zh-CN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TLV</a:t>
            </a:r>
            <a:r>
              <a:rPr lang="zh-CN" altLang="en-US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 Interface Address</a:t>
            </a:r>
            <a:r>
              <a:rPr lang="zh-CN" altLang="en-US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</a:p>
        </p:txBody>
      </p:sp>
      <p:sp>
        <p:nvSpPr>
          <p:cNvPr id="8" name="圆角矩形 75"/>
          <p:cNvSpPr/>
          <p:nvPr/>
        </p:nvSpPr>
        <p:spPr bwMode="gray">
          <a:xfrm>
            <a:off x="692402" y="1597937"/>
            <a:ext cx="5403597" cy="4495634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36000" rIns="108000" bIns="36000" rtlCol="0" anchor="t" anchorCtr="0">
            <a:noAutofit/>
          </a:bodyPr>
          <a:lstStyle/>
          <a:p>
            <a:pPr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相当于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132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号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TLV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（用于描述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接口地址），只不过把原来的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32 bit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地址改为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128 bit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地址。</a:t>
            </a:r>
            <a:endParaRPr lang="en-US" altLang="zh-CN" sz="16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圆角矩形 75"/>
          <p:cNvSpPr/>
          <p:nvPr/>
        </p:nvSpPr>
        <p:spPr bwMode="gray">
          <a:xfrm>
            <a:off x="692402" y="4491639"/>
            <a:ext cx="5403597" cy="1601932"/>
          </a:xfrm>
          <a:prstGeom prst="roundRect">
            <a:avLst>
              <a:gd name="adj" fmla="val 874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36000" rIns="108000" bIns="36000" rtlCol="0" anchor="t" anchorCtr="0">
            <a:noAutofit/>
          </a:bodyPr>
          <a:lstStyle/>
          <a:p>
            <a:pPr algn="just" fontAlgn="auto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在不同的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PDU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中，接口地址字段的内容是不同的。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60000" indent="-180000" algn="just" fontAlgn="auto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对于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Hello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报文，“接口地址”只能包含发送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Hello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报文接口的链路本地地址。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60000" indent="-180000" algn="just" fontAlgn="auto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对于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报文，“接口地址”只能包含分配给设备接口的非链路本地地址。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圆角矩形 75"/>
          <p:cNvSpPr/>
          <p:nvPr/>
        </p:nvSpPr>
        <p:spPr bwMode="gray">
          <a:xfrm>
            <a:off x="6342316" y="1166431"/>
            <a:ext cx="5403597" cy="394020"/>
          </a:xfrm>
          <a:prstGeom prst="roundRect">
            <a:avLst>
              <a:gd name="adj" fmla="val 10604"/>
            </a:avLst>
          </a:prstGeom>
          <a:gradFill>
            <a:gsLst>
              <a:gs pos="0">
                <a:schemeClr val="bg1"/>
              </a:gs>
              <a:gs pos="100000">
                <a:srgbClr val="BEE9EE"/>
              </a:gs>
            </a:gsLst>
            <a:lin ang="5400000" scaled="1"/>
          </a:gradFill>
          <a:ln w="9525">
            <a:solidFill>
              <a:srgbClr val="56C4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236</a:t>
            </a:r>
            <a:r>
              <a:rPr lang="zh-CN" altLang="en-US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号</a:t>
            </a:r>
            <a:r>
              <a:rPr lang="en-US" altLang="zh-CN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TLV</a:t>
            </a:r>
            <a:r>
              <a:rPr lang="zh-CN" altLang="en-US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 Reachability</a:t>
            </a:r>
            <a:r>
              <a:rPr lang="zh-CN" altLang="en-US" dirty="0">
                <a:solidFill>
                  <a:srgbClr val="30B5C5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</a:t>
            </a:r>
          </a:p>
        </p:txBody>
      </p:sp>
      <p:sp>
        <p:nvSpPr>
          <p:cNvPr id="12" name="圆角矩形 75"/>
          <p:cNvSpPr/>
          <p:nvPr/>
        </p:nvSpPr>
        <p:spPr bwMode="gray">
          <a:xfrm>
            <a:off x="6342316" y="1597937"/>
            <a:ext cx="5403597" cy="4495634"/>
          </a:xfrm>
          <a:prstGeom prst="roundRect">
            <a:avLst>
              <a:gd name="adj" fmla="val 874"/>
            </a:avLst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36000" rIns="108000" bIns="36000" rtlCol="0" anchor="t" anchorCtr="0">
            <a:noAutofit/>
          </a:bodyPr>
          <a:lstStyle/>
          <a:p>
            <a:pPr algn="just" fontAlgn="auto">
              <a:lnSpc>
                <a:spcPts val="26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相当于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128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号和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130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号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TLV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，通过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X-bit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来标识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内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外部可达性信息。</a:t>
            </a: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110460"/>
              </p:ext>
            </p:extLst>
          </p:nvPr>
        </p:nvGraphicFramePr>
        <p:xfrm>
          <a:off x="6524085" y="2479577"/>
          <a:ext cx="5040058" cy="1224000"/>
        </p:xfrm>
        <a:graphic>
          <a:graphicData uri="http://schemas.openxmlformats.org/drawingml/2006/table">
            <a:tbl>
              <a:tblPr firstRow="1" bandRow="1"/>
              <a:tblGrid>
                <a:gridCol w="121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8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2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4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62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Type=236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 gridSpan="2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Prefix Length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 gridSpan="7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Prefix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zh-C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Sub-TLV Len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Sub-TLV</a:t>
                      </a:r>
                      <a:endParaRPr lang="zh-CN" altLang="en-US" sz="1400" dirty="0"/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圆角矩形 75"/>
          <p:cNvSpPr/>
          <p:nvPr/>
        </p:nvSpPr>
        <p:spPr bwMode="gray">
          <a:xfrm>
            <a:off x="6342316" y="4491639"/>
            <a:ext cx="5403597" cy="1601932"/>
          </a:xfrm>
          <a:prstGeom prst="roundRect">
            <a:avLst>
              <a:gd name="adj" fmla="val 874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36000" rIns="108000" bIns="36000" rtlCol="0" anchor="t" anchorCtr="0">
            <a:noAutofit/>
          </a:bodyPr>
          <a:lstStyle/>
          <a:p>
            <a:pPr algn="just" fontAlgn="auto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236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号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TLV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描述的是源路由器可达的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网络前缀及路径开销信息。</a:t>
            </a:r>
          </a:p>
          <a:p>
            <a:pPr algn="just" fontAlgn="auto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上述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 Reachability TLV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LSP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中可以出现任意次数（包括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次）。 其中，链路本地前缀不是用这个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TLV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来发布。</a:t>
            </a:r>
          </a:p>
          <a:p>
            <a:pPr marL="177800" indent="-177800" algn="just" fontAlgn="auto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3152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129</a:t>
            </a:r>
            <a:r>
              <a:rPr lang="zh-CN" altLang="en-US"/>
              <a:t>号</a:t>
            </a:r>
            <a:r>
              <a:rPr lang="en-US" altLang="zh-CN"/>
              <a:t>TLV</a:t>
            </a:r>
            <a:r>
              <a:rPr lang="zh-CN" altLang="en-US"/>
              <a:t>中新增</a:t>
            </a:r>
            <a:r>
              <a:rPr lang="en-US" altLang="zh-CN"/>
              <a:t>NLPID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55612" y="1047750"/>
            <a:ext cx="11293475" cy="972477"/>
          </a:xfrm>
        </p:spPr>
        <p:txBody>
          <a:bodyPr/>
          <a:lstStyle/>
          <a:p>
            <a:r>
              <a:rPr lang="zh-CN" altLang="en-US" sz="2000" dirty="0"/>
              <a:t>为了支持</a:t>
            </a:r>
            <a:r>
              <a:rPr lang="en-US" altLang="zh-CN" sz="2000" dirty="0"/>
              <a:t>IPv6</a:t>
            </a:r>
            <a:r>
              <a:rPr lang="zh-CN" altLang="en-US" sz="2000" dirty="0"/>
              <a:t>路由的处理和计算，</a:t>
            </a:r>
            <a:r>
              <a:rPr lang="en-US" altLang="zh-CN" sz="2000" dirty="0"/>
              <a:t>IS-IS</a:t>
            </a:r>
            <a:r>
              <a:rPr lang="zh-CN" altLang="en-US" sz="2000" dirty="0"/>
              <a:t>在</a:t>
            </a:r>
            <a:r>
              <a:rPr lang="en-US" altLang="zh-CN" sz="2000" dirty="0"/>
              <a:t>129</a:t>
            </a:r>
            <a:r>
              <a:rPr lang="zh-CN" altLang="en-US" sz="2000" dirty="0"/>
              <a:t>号</a:t>
            </a:r>
            <a:r>
              <a:rPr lang="en-US" altLang="zh-CN" sz="2000" dirty="0"/>
              <a:t>TLV</a:t>
            </a:r>
            <a:r>
              <a:rPr lang="zh-CN" altLang="en-US" sz="2000" dirty="0"/>
              <a:t>中新增了一个</a:t>
            </a:r>
            <a:r>
              <a:rPr lang="en-US" altLang="zh-CN" sz="2000" dirty="0"/>
              <a:t>NLPID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r>
              <a:rPr lang="en-US" altLang="zh-CN" sz="2000" dirty="0"/>
              <a:t>129</a:t>
            </a:r>
            <a:r>
              <a:rPr lang="zh-CN" altLang="en-US" sz="2000" dirty="0"/>
              <a:t>号</a:t>
            </a:r>
            <a:r>
              <a:rPr lang="en-US" altLang="zh-CN" sz="2000" dirty="0"/>
              <a:t>TLV</a:t>
            </a:r>
            <a:r>
              <a:rPr lang="zh-CN" altLang="en-US" sz="2000" dirty="0"/>
              <a:t>（</a:t>
            </a:r>
            <a:r>
              <a:rPr lang="en-US" altLang="zh-CN" sz="2000" dirty="0"/>
              <a:t>Protocol Supported</a:t>
            </a:r>
            <a:r>
              <a:rPr lang="zh-CN" altLang="en-US" sz="2000" dirty="0"/>
              <a:t>）：用于表示支持的协议。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683883"/>
              </p:ext>
            </p:extLst>
          </p:nvPr>
        </p:nvGraphicFramePr>
        <p:xfrm>
          <a:off x="938527" y="2299558"/>
          <a:ext cx="5040058" cy="612000"/>
        </p:xfrm>
        <a:graphic>
          <a:graphicData uri="http://schemas.openxmlformats.org/drawingml/2006/table">
            <a:tbl>
              <a:tblPr firstRow="1" bandRow="1"/>
              <a:tblGrid>
                <a:gridCol w="121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8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6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62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Type=129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NLPID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NLPID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 gridSpan="4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圆角矩形 75"/>
          <p:cNvSpPr/>
          <p:nvPr/>
        </p:nvSpPr>
        <p:spPr>
          <a:xfrm>
            <a:off x="806005" y="3044384"/>
            <a:ext cx="9477682" cy="1434851"/>
          </a:xfrm>
          <a:prstGeom prst="roundRect">
            <a:avLst>
              <a:gd name="adj" fmla="val 874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36000" rIns="108000" bIns="36000" rtlCol="0" anchor="t" anchorCtr="0">
            <a:noAutofit/>
          </a:bodyPr>
          <a:lstStyle/>
          <a:p>
            <a:pPr algn="just" fontAlgn="auto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字段解释：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60000" indent="-180000" algn="just" fontAlgn="auto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8 bit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TLV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类型，此时值为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129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0x81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），表示支持协议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TLV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60000" indent="-180000" algn="just" fontAlgn="auto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Length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8 bit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TLV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Value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部分长度。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60000" indent="-180000" algn="just" fontAlgn="auto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NLPID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8 bit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，网络层协议标识符。若支持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，则值为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204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0xCC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）；若支持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，则值为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142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0x8E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）。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文本占位符 3"/>
          <p:cNvSpPr txBox="1">
            <a:spLocks/>
          </p:cNvSpPr>
          <p:nvPr/>
        </p:nvSpPr>
        <p:spPr bwMode="auto">
          <a:xfrm>
            <a:off x="468317" y="4758567"/>
            <a:ext cx="11276183" cy="499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如果</a:t>
            </a:r>
            <a:r>
              <a:rPr lang="en-US" altLang="zh-CN" sz="2000" dirty="0"/>
              <a:t>IS-IS</a:t>
            </a:r>
            <a:r>
              <a:rPr lang="zh-CN" altLang="en-US" sz="2000" dirty="0"/>
              <a:t>支持</a:t>
            </a:r>
            <a:r>
              <a:rPr lang="en-US" altLang="zh-CN" sz="2000" dirty="0"/>
              <a:t>IPv6</a:t>
            </a:r>
            <a:r>
              <a:rPr lang="zh-CN" altLang="en-US" sz="2000" dirty="0"/>
              <a:t>，那么向外发布</a:t>
            </a:r>
            <a:r>
              <a:rPr lang="en-US" altLang="zh-CN" sz="2000" dirty="0"/>
              <a:t>IPv6</a:t>
            </a:r>
            <a:r>
              <a:rPr lang="zh-CN" altLang="en-US" sz="2000" dirty="0"/>
              <a:t>路由时必须携带</a:t>
            </a:r>
            <a:r>
              <a:rPr lang="en-US" altLang="zh-CN" sz="2000" dirty="0"/>
              <a:t>NLPID</a:t>
            </a:r>
            <a:r>
              <a:rPr lang="zh-CN" altLang="en-US" sz="2000" dirty="0"/>
              <a:t>值。</a:t>
            </a:r>
          </a:p>
        </p:txBody>
      </p:sp>
    </p:spTree>
    <p:extLst>
      <p:ext uri="{BB962C8B-B14F-4D97-AF65-F5344CB8AC3E}">
        <p14:creationId xmlns:p14="http://schemas.microsoft.com/office/powerpoint/2010/main" val="30988181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圆角矩形 152"/>
          <p:cNvSpPr/>
          <p:nvPr/>
        </p:nvSpPr>
        <p:spPr bwMode="gray">
          <a:xfrm>
            <a:off x="548985" y="2415256"/>
            <a:ext cx="2959669" cy="3609490"/>
          </a:xfrm>
          <a:prstGeom prst="roundRect">
            <a:avLst>
              <a:gd name="adj" fmla="val 755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/>
              <a:t>IS-IS</a:t>
            </a:r>
            <a:r>
              <a:rPr lang="zh-CN" altLang="en-US"/>
              <a:t>多拓扑技术背景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1"/>
            <a:ext cx="11293475" cy="1111662"/>
          </a:xfrm>
        </p:spPr>
        <p:txBody>
          <a:bodyPr/>
          <a:lstStyle/>
          <a:p>
            <a:r>
              <a:rPr lang="zh-CN" altLang="en-US" sz="2000" dirty="0"/>
              <a:t>缺省情况下，在运行</a:t>
            </a:r>
            <a:r>
              <a:rPr lang="en-US" altLang="zh-CN" sz="2000" dirty="0"/>
              <a:t>IS-IS</a:t>
            </a:r>
            <a:r>
              <a:rPr lang="zh-CN" altLang="en-US" sz="2000" dirty="0"/>
              <a:t>的网络环境中，</a:t>
            </a:r>
            <a:r>
              <a:rPr lang="en-US" altLang="zh-CN" sz="2000" dirty="0"/>
              <a:t>IPv4</a:t>
            </a:r>
            <a:r>
              <a:rPr lang="zh-CN" altLang="en-US" sz="2000" dirty="0"/>
              <a:t>和</a:t>
            </a:r>
            <a:r>
              <a:rPr lang="en-US" altLang="zh-CN" sz="2000" dirty="0"/>
              <a:t>IPv6</a:t>
            </a:r>
            <a:r>
              <a:rPr lang="zh-CN" altLang="en-US" sz="2000" dirty="0"/>
              <a:t>的混合拓扑被看成是一个集成的拓扑，</a:t>
            </a:r>
            <a:r>
              <a:rPr lang="en-US" altLang="zh-CN" sz="2000" dirty="0"/>
              <a:t>IS-IS</a:t>
            </a:r>
            <a:r>
              <a:rPr lang="zh-CN" altLang="en-US" sz="2000" dirty="0"/>
              <a:t>针对</a:t>
            </a:r>
            <a:r>
              <a:rPr lang="en-US" altLang="zh-CN" sz="2000" dirty="0"/>
              <a:t>IPv4</a:t>
            </a:r>
            <a:r>
              <a:rPr lang="zh-CN" altLang="en-US" sz="2000" dirty="0"/>
              <a:t>和</a:t>
            </a:r>
            <a:r>
              <a:rPr lang="en-US" altLang="zh-CN" sz="2000" dirty="0"/>
              <a:t>IPv6</a:t>
            </a:r>
            <a:r>
              <a:rPr lang="zh-CN" altLang="en-US" sz="2000" dirty="0"/>
              <a:t>经计算形成相同的最短路径树。</a:t>
            </a:r>
            <a:endParaRPr lang="en-US" altLang="zh-CN" sz="2000" dirty="0"/>
          </a:p>
        </p:txBody>
      </p:sp>
      <p:pic>
        <p:nvPicPr>
          <p:cNvPr id="4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1683859" y="2966332"/>
            <a:ext cx="541201" cy="442800"/>
          </a:xfrm>
          <a:prstGeom prst="rect">
            <a:avLst/>
          </a:prstGeom>
          <a:noFill/>
        </p:spPr>
      </p:pic>
      <p:pic>
        <p:nvPicPr>
          <p:cNvPr id="6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977353" y="3825314"/>
            <a:ext cx="541201" cy="442800"/>
          </a:xfrm>
          <a:prstGeom prst="rect">
            <a:avLst/>
          </a:prstGeom>
          <a:noFill/>
        </p:spPr>
      </p:pic>
      <p:pic>
        <p:nvPicPr>
          <p:cNvPr id="9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390366" y="4840016"/>
            <a:ext cx="541201" cy="442800"/>
          </a:xfrm>
          <a:prstGeom prst="rect">
            <a:avLst/>
          </a:prstGeom>
          <a:noFill/>
        </p:spPr>
      </p:pic>
      <p:cxnSp>
        <p:nvCxnSpPr>
          <p:cNvPr id="11" name="直接连接符 10"/>
          <p:cNvCxnSpPr>
            <a:stCxn id="4" idx="1"/>
            <a:endCxn id="6" idx="0"/>
          </p:cNvCxnSpPr>
          <p:nvPr/>
        </p:nvCxnSpPr>
        <p:spPr bwMode="gray">
          <a:xfrm flipH="1">
            <a:off x="1247954" y="3187732"/>
            <a:ext cx="435905" cy="637582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4" idx="3"/>
            <a:endCxn id="7" idx="0"/>
          </p:cNvCxnSpPr>
          <p:nvPr/>
        </p:nvCxnSpPr>
        <p:spPr bwMode="gray">
          <a:xfrm>
            <a:off x="2225060" y="3187732"/>
            <a:ext cx="435907" cy="637582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stCxn id="6" idx="2"/>
            <a:endCxn id="8" idx="0"/>
          </p:cNvCxnSpPr>
          <p:nvPr/>
        </p:nvCxnSpPr>
        <p:spPr bwMode="gray">
          <a:xfrm>
            <a:off x="1247954" y="4268114"/>
            <a:ext cx="0" cy="571902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7" idx="2"/>
            <a:endCxn id="9" idx="0"/>
          </p:cNvCxnSpPr>
          <p:nvPr/>
        </p:nvCxnSpPr>
        <p:spPr bwMode="gray">
          <a:xfrm>
            <a:off x="2660967" y="4268114"/>
            <a:ext cx="0" cy="571902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>
            <a:stCxn id="8" idx="3"/>
            <a:endCxn id="9" idx="1"/>
          </p:cNvCxnSpPr>
          <p:nvPr/>
        </p:nvCxnSpPr>
        <p:spPr bwMode="gray">
          <a:xfrm>
            <a:off x="1518554" y="5061416"/>
            <a:ext cx="871812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 bwMode="gray">
          <a:xfrm flipV="1">
            <a:off x="1247953" y="4029752"/>
            <a:ext cx="1413013" cy="101671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 bwMode="gray">
          <a:xfrm>
            <a:off x="2390366" y="3825314"/>
            <a:ext cx="541201" cy="442800"/>
          </a:xfrm>
          <a:prstGeom prst="rect">
            <a:avLst/>
          </a:prstGeom>
          <a:noFill/>
        </p:spPr>
      </p:pic>
      <p:pic>
        <p:nvPicPr>
          <p:cNvPr id="8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977353" y="4840016"/>
            <a:ext cx="541201" cy="442800"/>
          </a:xfrm>
          <a:prstGeom prst="rect">
            <a:avLst/>
          </a:prstGeom>
          <a:noFill/>
        </p:spPr>
      </p:pic>
      <p:sp>
        <p:nvSpPr>
          <p:cNvPr id="29" name="Rectangle 312"/>
          <p:cNvSpPr>
            <a:spLocks noChangeArrowheads="1"/>
          </p:cNvSpPr>
          <p:nvPr/>
        </p:nvSpPr>
        <p:spPr bwMode="gray">
          <a:xfrm>
            <a:off x="1505165" y="5666196"/>
            <a:ext cx="898588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/>
              <a:t>物理拓扑</a:t>
            </a:r>
            <a:endParaRPr lang="en-US" altLang="zh-CN" sz="1400" b="1" dirty="0"/>
          </a:p>
        </p:txBody>
      </p:sp>
      <p:sp>
        <p:nvSpPr>
          <p:cNvPr id="88" name="Oval 4"/>
          <p:cNvSpPr>
            <a:spLocks noChangeAspect="1"/>
          </p:cNvSpPr>
          <p:nvPr/>
        </p:nvSpPr>
        <p:spPr bwMode="gray">
          <a:xfrm>
            <a:off x="5663118" y="5765386"/>
            <a:ext cx="252000" cy="252000"/>
          </a:xfrm>
          <a:prstGeom prst="ellipse">
            <a:avLst/>
          </a:prstGeom>
          <a:solidFill>
            <a:srgbClr val="ED6D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zh-CN" altLang="en-US" sz="1400" b="1" dirty="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9" name="圆角矩形 88"/>
          <p:cNvSpPr/>
          <p:nvPr/>
        </p:nvSpPr>
        <p:spPr bwMode="gray">
          <a:xfrm>
            <a:off x="5790483" y="5646665"/>
            <a:ext cx="1278302" cy="489442"/>
          </a:xfrm>
          <a:prstGeom prst="roundRect">
            <a:avLst/>
          </a:prstGeom>
          <a:noFill/>
          <a:ln w="1905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不支持</a:t>
            </a:r>
            <a:r>
              <a:rPr lang="en-US" altLang="zh-CN" sz="1400" dirty="0">
                <a:solidFill>
                  <a:schemeClr val="tx1"/>
                </a:solidFill>
              </a:rPr>
              <a:t>IPv6</a:t>
            </a:r>
          </a:p>
        </p:txBody>
      </p:sp>
      <p:sp>
        <p:nvSpPr>
          <p:cNvPr id="99" name="Rectangle 312"/>
          <p:cNvSpPr>
            <a:spLocks noChangeArrowheads="1"/>
          </p:cNvSpPr>
          <p:nvPr/>
        </p:nvSpPr>
        <p:spPr bwMode="gray">
          <a:xfrm>
            <a:off x="1261443" y="2683497"/>
            <a:ext cx="1386031" cy="325797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/>
              <a:t>R1 (IPv4/IPv6)</a:t>
            </a:r>
          </a:p>
        </p:txBody>
      </p:sp>
      <p:grpSp>
        <p:nvGrpSpPr>
          <p:cNvPr id="125" name="组合 124"/>
          <p:cNvGrpSpPr/>
          <p:nvPr/>
        </p:nvGrpSpPr>
        <p:grpSpPr bwMode="gray">
          <a:xfrm>
            <a:off x="4186390" y="2546439"/>
            <a:ext cx="1375056" cy="1563061"/>
            <a:chOff x="4222542" y="2878748"/>
            <a:chExt cx="1375056" cy="1563061"/>
          </a:xfrm>
        </p:grpSpPr>
        <p:sp>
          <p:nvSpPr>
            <p:cNvPr id="90" name="圆角矩形 89"/>
            <p:cNvSpPr/>
            <p:nvPr/>
          </p:nvSpPr>
          <p:spPr bwMode="gray">
            <a:xfrm>
              <a:off x="4222542" y="2878748"/>
              <a:ext cx="1375056" cy="1563061"/>
            </a:xfrm>
            <a:prstGeom prst="roundRect">
              <a:avLst>
                <a:gd name="adj" fmla="val 4925"/>
              </a:avLst>
            </a:prstGeom>
            <a:solidFill>
              <a:schemeClr val="bg1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2" name="Oval 4"/>
            <p:cNvSpPr>
              <a:spLocks noChangeAspect="1"/>
            </p:cNvSpPr>
            <p:nvPr/>
          </p:nvSpPr>
          <p:spPr bwMode="gray">
            <a:xfrm>
              <a:off x="4418958" y="3344614"/>
              <a:ext cx="252000" cy="252000"/>
            </a:xfrm>
            <a:prstGeom prst="ellipse">
              <a:avLst/>
            </a:prstGeom>
            <a:solidFill>
              <a:srgbClr val="ECF9FA"/>
            </a:solidFill>
            <a:ln w="12700">
              <a:solidFill>
                <a:srgbClr val="94DAE2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sym typeface="Huawei Sans" panose="020C0503030203020204" pitchFamily="34" charset="0"/>
                </a:rPr>
                <a:t>2</a:t>
              </a:r>
              <a:endParaRPr lang="zh-CN" altLang="en-US" sz="1400" dirty="0">
                <a:solidFill>
                  <a:schemeClr val="tx1"/>
                </a:solidFill>
                <a:sym typeface="Huawei Sans" panose="020C0503030203020204" pitchFamily="34" charset="0"/>
              </a:endParaRPr>
            </a:p>
          </p:txBody>
        </p:sp>
        <p:sp>
          <p:nvSpPr>
            <p:cNvPr id="94" name="Oval 4"/>
            <p:cNvSpPr>
              <a:spLocks noChangeAspect="1"/>
            </p:cNvSpPr>
            <p:nvPr/>
          </p:nvSpPr>
          <p:spPr bwMode="gray">
            <a:xfrm>
              <a:off x="5107755" y="3344614"/>
              <a:ext cx="252000" cy="252000"/>
            </a:xfrm>
            <a:prstGeom prst="ellipse">
              <a:avLst/>
            </a:prstGeom>
            <a:solidFill>
              <a:srgbClr val="ECF9FA"/>
            </a:solidFill>
            <a:ln w="12700">
              <a:solidFill>
                <a:srgbClr val="94DAE2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sym typeface="Huawei Sans" panose="020C0503030203020204" pitchFamily="34" charset="0"/>
                </a:rPr>
                <a:t>3</a:t>
              </a:r>
              <a:endParaRPr lang="zh-CN" altLang="en-US" sz="1400" dirty="0">
                <a:solidFill>
                  <a:schemeClr val="tx1"/>
                </a:solidFill>
                <a:sym typeface="Huawei Sans" panose="020C0503030203020204" pitchFamily="34" charset="0"/>
              </a:endParaRPr>
            </a:p>
          </p:txBody>
        </p:sp>
        <p:cxnSp>
          <p:nvCxnSpPr>
            <p:cNvPr id="95" name="直接连接符 94"/>
            <p:cNvCxnSpPr>
              <a:stCxn id="91" idx="7"/>
              <a:endCxn id="92" idx="0"/>
            </p:cNvCxnSpPr>
            <p:nvPr/>
          </p:nvCxnSpPr>
          <p:spPr bwMode="gray">
            <a:xfrm flipH="1">
              <a:off x="4544958" y="3032974"/>
              <a:ext cx="440421" cy="31164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96" name="直接连接符 95"/>
            <p:cNvCxnSpPr>
              <a:stCxn id="92" idx="4"/>
              <a:endCxn id="107" idx="0"/>
            </p:cNvCxnSpPr>
            <p:nvPr/>
          </p:nvCxnSpPr>
          <p:spPr bwMode="gray">
            <a:xfrm>
              <a:off x="4544958" y="3596614"/>
              <a:ext cx="0" cy="170598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98" name="圆角矩形 97"/>
            <p:cNvSpPr/>
            <p:nvPr/>
          </p:nvSpPr>
          <p:spPr bwMode="gray">
            <a:xfrm>
              <a:off x="4260196" y="4090958"/>
              <a:ext cx="1292609" cy="295876"/>
            </a:xfrm>
            <a:prstGeom prst="roundRect">
              <a:avLst/>
            </a:prstGeom>
            <a:no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IPv4</a:t>
              </a:r>
              <a:r>
                <a:rPr lang="zh-CN" altLang="en-US" sz="1400" dirty="0">
                  <a:solidFill>
                    <a:schemeClr val="tx1"/>
                  </a:solidFill>
                </a:rPr>
                <a:t>逻辑拓扑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107" name="Oval 4"/>
            <p:cNvSpPr>
              <a:spLocks noChangeAspect="1"/>
            </p:cNvSpPr>
            <p:nvPr/>
          </p:nvSpPr>
          <p:spPr bwMode="gray">
            <a:xfrm>
              <a:off x="4418958" y="3767212"/>
              <a:ext cx="252000" cy="252000"/>
            </a:xfrm>
            <a:prstGeom prst="ellipse">
              <a:avLst/>
            </a:prstGeom>
            <a:solidFill>
              <a:srgbClr val="ECF9FA"/>
            </a:solidFill>
            <a:ln w="12700">
              <a:solidFill>
                <a:srgbClr val="94DAE2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sym typeface="Huawei Sans" panose="020C0503030203020204" pitchFamily="34" charset="0"/>
                </a:rPr>
                <a:t>4</a:t>
              </a:r>
              <a:endParaRPr lang="zh-CN" altLang="en-US" sz="1400" dirty="0">
                <a:solidFill>
                  <a:schemeClr val="tx1"/>
                </a:solidFill>
                <a:sym typeface="Huawei Sans" panose="020C0503030203020204" pitchFamily="34" charset="0"/>
              </a:endParaRPr>
            </a:p>
          </p:txBody>
        </p:sp>
        <p:sp>
          <p:nvSpPr>
            <p:cNvPr id="108" name="Oval 4"/>
            <p:cNvSpPr>
              <a:spLocks noChangeAspect="1"/>
            </p:cNvSpPr>
            <p:nvPr/>
          </p:nvSpPr>
          <p:spPr bwMode="gray">
            <a:xfrm>
              <a:off x="5107755" y="3767212"/>
              <a:ext cx="252000" cy="252000"/>
            </a:xfrm>
            <a:prstGeom prst="ellipse">
              <a:avLst/>
            </a:prstGeom>
            <a:solidFill>
              <a:srgbClr val="ECF9FA"/>
            </a:solidFill>
            <a:ln w="12700">
              <a:solidFill>
                <a:srgbClr val="94DAE2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sym typeface="Huawei Sans" panose="020C0503030203020204" pitchFamily="34" charset="0"/>
                </a:rPr>
                <a:t>5</a:t>
              </a:r>
              <a:endParaRPr lang="zh-CN" altLang="en-US" sz="1400" dirty="0">
                <a:solidFill>
                  <a:schemeClr val="tx1"/>
                </a:solidFill>
                <a:sym typeface="Huawei Sans" panose="020C0503030203020204" pitchFamily="34" charset="0"/>
              </a:endParaRPr>
            </a:p>
          </p:txBody>
        </p:sp>
        <p:cxnSp>
          <p:nvCxnSpPr>
            <p:cNvPr id="112" name="直接连接符 111"/>
            <p:cNvCxnSpPr>
              <a:stCxn id="94" idx="0"/>
              <a:endCxn id="91" idx="1"/>
            </p:cNvCxnSpPr>
            <p:nvPr/>
          </p:nvCxnSpPr>
          <p:spPr bwMode="gray">
            <a:xfrm flipH="1" flipV="1">
              <a:off x="4807189" y="3032974"/>
              <a:ext cx="426566" cy="31164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117" name="直接连接符 116"/>
            <p:cNvCxnSpPr>
              <a:stCxn id="94" idx="4"/>
              <a:endCxn id="108" idx="0"/>
            </p:cNvCxnSpPr>
            <p:nvPr/>
          </p:nvCxnSpPr>
          <p:spPr bwMode="gray">
            <a:xfrm>
              <a:off x="5233755" y="3596614"/>
              <a:ext cx="0" cy="170598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91" name="椭圆 90"/>
            <p:cNvSpPr>
              <a:spLocks noChangeAspect="1"/>
            </p:cNvSpPr>
            <p:nvPr/>
          </p:nvSpPr>
          <p:spPr bwMode="gray">
            <a:xfrm>
              <a:off x="4770284" y="2996069"/>
              <a:ext cx="252000" cy="252000"/>
            </a:xfrm>
            <a:prstGeom prst="ellipse">
              <a:avLst/>
            </a:prstGeom>
            <a:solidFill>
              <a:srgbClr val="ECF9FA"/>
            </a:solidFill>
            <a:ln w="12700">
              <a:solidFill>
                <a:srgbClr val="94DAE2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sym typeface="Huawei Sans" panose="020C0503030203020204" pitchFamily="34" charset="0"/>
                </a:rPr>
                <a:t>1</a:t>
              </a:r>
              <a:endParaRPr lang="zh-CN" altLang="en-US" sz="1400" dirty="0">
                <a:solidFill>
                  <a:schemeClr val="tx1"/>
                </a:solidFill>
                <a:sym typeface="Huawei Sans" panose="020C0503030203020204" pitchFamily="34" charset="0"/>
              </a:endParaRPr>
            </a:p>
          </p:txBody>
        </p:sp>
      </p:grpSp>
      <p:grpSp>
        <p:nvGrpSpPr>
          <p:cNvPr id="138" name="组合 137"/>
          <p:cNvGrpSpPr/>
          <p:nvPr/>
        </p:nvGrpSpPr>
        <p:grpSpPr bwMode="gray">
          <a:xfrm>
            <a:off x="4186390" y="4365344"/>
            <a:ext cx="1375056" cy="1563061"/>
            <a:chOff x="4222542" y="2878748"/>
            <a:chExt cx="1375056" cy="1563061"/>
          </a:xfrm>
        </p:grpSpPr>
        <p:sp>
          <p:nvSpPr>
            <p:cNvPr id="139" name="圆角矩形 138"/>
            <p:cNvSpPr/>
            <p:nvPr/>
          </p:nvSpPr>
          <p:spPr bwMode="gray">
            <a:xfrm>
              <a:off x="4222542" y="2878748"/>
              <a:ext cx="1375056" cy="1563061"/>
            </a:xfrm>
            <a:prstGeom prst="roundRect">
              <a:avLst>
                <a:gd name="adj" fmla="val 4925"/>
              </a:avLst>
            </a:prstGeom>
            <a:solidFill>
              <a:schemeClr val="bg1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0" name="Oval 4"/>
            <p:cNvSpPr>
              <a:spLocks noChangeAspect="1"/>
            </p:cNvSpPr>
            <p:nvPr/>
          </p:nvSpPr>
          <p:spPr bwMode="gray">
            <a:xfrm>
              <a:off x="4418958" y="3344614"/>
              <a:ext cx="252000" cy="252000"/>
            </a:xfrm>
            <a:prstGeom prst="ellipse">
              <a:avLst/>
            </a:prstGeom>
            <a:solidFill>
              <a:srgbClr val="ECF9FA"/>
            </a:solidFill>
            <a:ln w="12700">
              <a:solidFill>
                <a:srgbClr val="94DAE2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sym typeface="Huawei Sans" panose="020C0503030203020204" pitchFamily="34" charset="0"/>
                </a:rPr>
                <a:t>2</a:t>
              </a:r>
              <a:endParaRPr lang="zh-CN" altLang="en-US" sz="1400" dirty="0">
                <a:solidFill>
                  <a:schemeClr val="tx1"/>
                </a:solidFill>
                <a:sym typeface="Huawei Sans" panose="020C0503030203020204" pitchFamily="34" charset="0"/>
              </a:endParaRPr>
            </a:p>
          </p:txBody>
        </p:sp>
        <p:sp>
          <p:nvSpPr>
            <p:cNvPr id="141" name="Oval 4"/>
            <p:cNvSpPr>
              <a:spLocks noChangeAspect="1"/>
            </p:cNvSpPr>
            <p:nvPr/>
          </p:nvSpPr>
          <p:spPr bwMode="gray">
            <a:xfrm>
              <a:off x="5107755" y="3344614"/>
              <a:ext cx="252000" cy="252000"/>
            </a:xfrm>
            <a:prstGeom prst="ellipse">
              <a:avLst/>
            </a:prstGeom>
            <a:solidFill>
              <a:srgbClr val="ED6D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400" b="1" dirty="0">
                  <a:solidFill>
                    <a:prstClr val="white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3</a:t>
              </a:r>
              <a:endParaRPr lang="zh-CN" altLang="en-US" sz="1400" b="1" dirty="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142" name="直接连接符 141"/>
            <p:cNvCxnSpPr>
              <a:stCxn id="149" idx="7"/>
              <a:endCxn id="140" idx="0"/>
            </p:cNvCxnSpPr>
            <p:nvPr/>
          </p:nvCxnSpPr>
          <p:spPr bwMode="gray">
            <a:xfrm flipH="1">
              <a:off x="4544958" y="3032974"/>
              <a:ext cx="440421" cy="31164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143" name="直接连接符 142"/>
            <p:cNvCxnSpPr>
              <a:stCxn id="140" idx="4"/>
              <a:endCxn id="145" idx="0"/>
            </p:cNvCxnSpPr>
            <p:nvPr/>
          </p:nvCxnSpPr>
          <p:spPr bwMode="gray">
            <a:xfrm>
              <a:off x="4544958" y="3596614"/>
              <a:ext cx="0" cy="170598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144" name="圆角矩形 143"/>
            <p:cNvSpPr/>
            <p:nvPr/>
          </p:nvSpPr>
          <p:spPr bwMode="gray">
            <a:xfrm>
              <a:off x="4260196" y="4090958"/>
              <a:ext cx="1292609" cy="295876"/>
            </a:xfrm>
            <a:prstGeom prst="roundRect">
              <a:avLst/>
            </a:prstGeom>
            <a:no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IPv6</a:t>
              </a:r>
              <a:r>
                <a:rPr lang="zh-CN" altLang="en-US" sz="1400" dirty="0">
                  <a:solidFill>
                    <a:schemeClr val="tx1"/>
                  </a:solidFill>
                </a:rPr>
                <a:t>逻辑拓扑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145" name="Oval 4"/>
            <p:cNvSpPr>
              <a:spLocks noChangeAspect="1"/>
            </p:cNvSpPr>
            <p:nvPr/>
          </p:nvSpPr>
          <p:spPr bwMode="gray">
            <a:xfrm>
              <a:off x="4418958" y="3767212"/>
              <a:ext cx="252000" cy="252000"/>
            </a:xfrm>
            <a:prstGeom prst="ellipse">
              <a:avLst/>
            </a:prstGeom>
            <a:solidFill>
              <a:srgbClr val="ECF9FA"/>
            </a:solidFill>
            <a:ln w="12700">
              <a:solidFill>
                <a:srgbClr val="94DAE2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sym typeface="Huawei Sans" panose="020C0503030203020204" pitchFamily="34" charset="0"/>
                </a:rPr>
                <a:t>4</a:t>
              </a:r>
              <a:endParaRPr lang="zh-CN" altLang="en-US" sz="1400" dirty="0">
                <a:solidFill>
                  <a:schemeClr val="tx1"/>
                </a:solidFill>
                <a:sym typeface="Huawei Sans" panose="020C0503030203020204" pitchFamily="34" charset="0"/>
              </a:endParaRPr>
            </a:p>
          </p:txBody>
        </p:sp>
        <p:sp>
          <p:nvSpPr>
            <p:cNvPr id="146" name="Oval 4"/>
            <p:cNvSpPr>
              <a:spLocks noChangeAspect="1"/>
            </p:cNvSpPr>
            <p:nvPr/>
          </p:nvSpPr>
          <p:spPr bwMode="gray">
            <a:xfrm>
              <a:off x="5107755" y="3767212"/>
              <a:ext cx="252000" cy="252000"/>
            </a:xfrm>
            <a:prstGeom prst="ellipse">
              <a:avLst/>
            </a:prstGeom>
            <a:solidFill>
              <a:srgbClr val="ECF9FA"/>
            </a:solidFill>
            <a:ln w="12700">
              <a:solidFill>
                <a:srgbClr val="94DAE2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sym typeface="Huawei Sans" panose="020C0503030203020204" pitchFamily="34" charset="0"/>
                </a:rPr>
                <a:t>5</a:t>
              </a:r>
              <a:endParaRPr lang="zh-CN" altLang="en-US" sz="1400" dirty="0">
                <a:solidFill>
                  <a:schemeClr val="tx1"/>
                </a:solidFill>
                <a:sym typeface="Huawei Sans" panose="020C0503030203020204" pitchFamily="34" charset="0"/>
              </a:endParaRPr>
            </a:p>
          </p:txBody>
        </p:sp>
        <p:cxnSp>
          <p:nvCxnSpPr>
            <p:cNvPr id="147" name="直接连接符 146"/>
            <p:cNvCxnSpPr>
              <a:stCxn id="141" idx="0"/>
              <a:endCxn id="149" idx="1"/>
            </p:cNvCxnSpPr>
            <p:nvPr/>
          </p:nvCxnSpPr>
          <p:spPr bwMode="gray">
            <a:xfrm flipH="1" flipV="1">
              <a:off x="4807189" y="3032974"/>
              <a:ext cx="426566" cy="31164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148" name="直接连接符 147"/>
            <p:cNvCxnSpPr>
              <a:stCxn id="141" idx="4"/>
              <a:endCxn id="146" idx="0"/>
            </p:cNvCxnSpPr>
            <p:nvPr/>
          </p:nvCxnSpPr>
          <p:spPr bwMode="gray">
            <a:xfrm>
              <a:off x="5233755" y="3596614"/>
              <a:ext cx="0" cy="170598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149" name="椭圆 148"/>
            <p:cNvSpPr>
              <a:spLocks noChangeAspect="1"/>
            </p:cNvSpPr>
            <p:nvPr/>
          </p:nvSpPr>
          <p:spPr bwMode="gray">
            <a:xfrm>
              <a:off x="4770284" y="2996069"/>
              <a:ext cx="252000" cy="252000"/>
            </a:xfrm>
            <a:prstGeom prst="ellipse">
              <a:avLst/>
            </a:prstGeom>
            <a:solidFill>
              <a:srgbClr val="ECF9FA"/>
            </a:solidFill>
            <a:ln w="12700">
              <a:solidFill>
                <a:srgbClr val="94DAE2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sym typeface="Huawei Sans" panose="020C0503030203020204" pitchFamily="34" charset="0"/>
                </a:rPr>
                <a:t>1</a:t>
              </a:r>
              <a:endParaRPr lang="zh-CN" altLang="en-US" sz="1400" dirty="0">
                <a:solidFill>
                  <a:schemeClr val="tx1"/>
                </a:solidFill>
                <a:sym typeface="Huawei Sans" panose="020C0503030203020204" pitchFamily="34" charset="0"/>
              </a:endParaRPr>
            </a:p>
          </p:txBody>
        </p:sp>
      </p:grpSp>
      <p:sp>
        <p:nvSpPr>
          <p:cNvPr id="150" name="下箭头 63"/>
          <p:cNvSpPr/>
          <p:nvPr/>
        </p:nvSpPr>
        <p:spPr bwMode="gray">
          <a:xfrm rot="5400000" flipV="1">
            <a:off x="3508837" y="3938107"/>
            <a:ext cx="588864" cy="500252"/>
          </a:xfrm>
          <a:custGeom>
            <a:avLst/>
            <a:gdLst>
              <a:gd name="connsiteX0" fmla="*/ 0 w 1035535"/>
              <a:gd name="connsiteY0" fmla="*/ 468495 h 794114"/>
              <a:gd name="connsiteX1" fmla="*/ 258884 w 1035535"/>
              <a:gd name="connsiteY1" fmla="*/ 468495 h 794114"/>
              <a:gd name="connsiteX2" fmla="*/ 258884 w 1035535"/>
              <a:gd name="connsiteY2" fmla="*/ 0 h 794114"/>
              <a:gd name="connsiteX3" fmla="*/ 776651 w 1035535"/>
              <a:gd name="connsiteY3" fmla="*/ 0 h 794114"/>
              <a:gd name="connsiteX4" fmla="*/ 776651 w 1035535"/>
              <a:gd name="connsiteY4" fmla="*/ 468495 h 794114"/>
              <a:gd name="connsiteX5" fmla="*/ 1035535 w 1035535"/>
              <a:gd name="connsiteY5" fmla="*/ 468495 h 794114"/>
              <a:gd name="connsiteX6" fmla="*/ 517768 w 1035535"/>
              <a:gd name="connsiteY6" fmla="*/ 794114 h 794114"/>
              <a:gd name="connsiteX7" fmla="*/ 0 w 1035535"/>
              <a:gd name="connsiteY7" fmla="*/ 468495 h 794114"/>
              <a:gd name="connsiteX0" fmla="*/ 258884 w 1035535"/>
              <a:gd name="connsiteY0" fmla="*/ 0 h 794114"/>
              <a:gd name="connsiteX1" fmla="*/ 776651 w 1035535"/>
              <a:gd name="connsiteY1" fmla="*/ 0 h 794114"/>
              <a:gd name="connsiteX2" fmla="*/ 776651 w 1035535"/>
              <a:gd name="connsiteY2" fmla="*/ 468495 h 794114"/>
              <a:gd name="connsiteX3" fmla="*/ 1035535 w 1035535"/>
              <a:gd name="connsiteY3" fmla="*/ 468495 h 794114"/>
              <a:gd name="connsiteX4" fmla="*/ 517768 w 1035535"/>
              <a:gd name="connsiteY4" fmla="*/ 794114 h 794114"/>
              <a:gd name="connsiteX5" fmla="*/ 0 w 1035535"/>
              <a:gd name="connsiteY5" fmla="*/ 468495 h 794114"/>
              <a:gd name="connsiteX6" fmla="*/ 258884 w 1035535"/>
              <a:gd name="connsiteY6" fmla="*/ 468495 h 794114"/>
              <a:gd name="connsiteX7" fmla="*/ 350324 w 1035535"/>
              <a:gd name="connsiteY7" fmla="*/ 91440 h 794114"/>
              <a:gd name="connsiteX0" fmla="*/ 258884 w 1035535"/>
              <a:gd name="connsiteY0" fmla="*/ 0 h 794114"/>
              <a:gd name="connsiteX1" fmla="*/ 776651 w 1035535"/>
              <a:gd name="connsiteY1" fmla="*/ 468495 h 794114"/>
              <a:gd name="connsiteX2" fmla="*/ 1035535 w 1035535"/>
              <a:gd name="connsiteY2" fmla="*/ 468495 h 794114"/>
              <a:gd name="connsiteX3" fmla="*/ 517768 w 1035535"/>
              <a:gd name="connsiteY3" fmla="*/ 794114 h 794114"/>
              <a:gd name="connsiteX4" fmla="*/ 0 w 1035535"/>
              <a:gd name="connsiteY4" fmla="*/ 468495 h 794114"/>
              <a:gd name="connsiteX5" fmla="*/ 258884 w 1035535"/>
              <a:gd name="connsiteY5" fmla="*/ 468495 h 794114"/>
              <a:gd name="connsiteX6" fmla="*/ 350324 w 1035535"/>
              <a:gd name="connsiteY6" fmla="*/ 91440 h 794114"/>
              <a:gd name="connsiteX0" fmla="*/ 1016121 w 1035535"/>
              <a:gd name="connsiteY0" fmla="*/ 0 h 794114"/>
              <a:gd name="connsiteX1" fmla="*/ 776651 w 1035535"/>
              <a:gd name="connsiteY1" fmla="*/ 468495 h 794114"/>
              <a:gd name="connsiteX2" fmla="*/ 1035535 w 1035535"/>
              <a:gd name="connsiteY2" fmla="*/ 468495 h 794114"/>
              <a:gd name="connsiteX3" fmla="*/ 517768 w 1035535"/>
              <a:gd name="connsiteY3" fmla="*/ 794114 h 794114"/>
              <a:gd name="connsiteX4" fmla="*/ 0 w 1035535"/>
              <a:gd name="connsiteY4" fmla="*/ 468495 h 794114"/>
              <a:gd name="connsiteX5" fmla="*/ 258884 w 1035535"/>
              <a:gd name="connsiteY5" fmla="*/ 468495 h 794114"/>
              <a:gd name="connsiteX6" fmla="*/ 350324 w 1035535"/>
              <a:gd name="connsiteY6" fmla="*/ 91440 h 794114"/>
              <a:gd name="connsiteX0" fmla="*/ 1018222 w 1037636"/>
              <a:gd name="connsiteY0" fmla="*/ 0 h 794114"/>
              <a:gd name="connsiteX1" fmla="*/ 778752 w 1037636"/>
              <a:gd name="connsiteY1" fmla="*/ 468495 h 794114"/>
              <a:gd name="connsiteX2" fmla="*/ 1037636 w 1037636"/>
              <a:gd name="connsiteY2" fmla="*/ 468495 h 794114"/>
              <a:gd name="connsiteX3" fmla="*/ 519869 w 1037636"/>
              <a:gd name="connsiteY3" fmla="*/ 794114 h 794114"/>
              <a:gd name="connsiteX4" fmla="*/ 2101 w 1037636"/>
              <a:gd name="connsiteY4" fmla="*/ 468495 h 794114"/>
              <a:gd name="connsiteX5" fmla="*/ 260985 w 1037636"/>
              <a:gd name="connsiteY5" fmla="*/ 468495 h 794114"/>
              <a:gd name="connsiteX6" fmla="*/ 0 w 1037636"/>
              <a:gd name="connsiteY6" fmla="*/ 86678 h 794114"/>
              <a:gd name="connsiteX0" fmla="*/ 1027747 w 1047161"/>
              <a:gd name="connsiteY0" fmla="*/ 0 h 794114"/>
              <a:gd name="connsiteX1" fmla="*/ 788277 w 1047161"/>
              <a:gd name="connsiteY1" fmla="*/ 468495 h 794114"/>
              <a:gd name="connsiteX2" fmla="*/ 1047161 w 1047161"/>
              <a:gd name="connsiteY2" fmla="*/ 468495 h 794114"/>
              <a:gd name="connsiteX3" fmla="*/ 529394 w 1047161"/>
              <a:gd name="connsiteY3" fmla="*/ 794114 h 794114"/>
              <a:gd name="connsiteX4" fmla="*/ 11626 w 1047161"/>
              <a:gd name="connsiteY4" fmla="*/ 468495 h 794114"/>
              <a:gd name="connsiteX5" fmla="*/ 270510 w 1047161"/>
              <a:gd name="connsiteY5" fmla="*/ 468495 h 794114"/>
              <a:gd name="connsiteX6" fmla="*/ 0 w 1047161"/>
              <a:gd name="connsiteY6" fmla="*/ 10478 h 794114"/>
              <a:gd name="connsiteX0" fmla="*/ 1016121 w 1035535"/>
              <a:gd name="connsiteY0" fmla="*/ 13335 h 807449"/>
              <a:gd name="connsiteX1" fmla="*/ 776651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258884 w 1035535"/>
              <a:gd name="connsiteY5" fmla="*/ 481830 h 807449"/>
              <a:gd name="connsiteX6" fmla="*/ 12187 w 1035535"/>
              <a:gd name="connsiteY6" fmla="*/ 0 h 807449"/>
              <a:gd name="connsiteX0" fmla="*/ 1016121 w 1035535"/>
              <a:gd name="connsiteY0" fmla="*/ 13335 h 807449"/>
              <a:gd name="connsiteX1" fmla="*/ 776651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392234 w 1035535"/>
              <a:gd name="connsiteY5" fmla="*/ 486592 h 807449"/>
              <a:gd name="connsiteX6" fmla="*/ 12187 w 1035535"/>
              <a:gd name="connsiteY6" fmla="*/ 0 h 807449"/>
              <a:gd name="connsiteX0" fmla="*/ 1016121 w 1035535"/>
              <a:gd name="connsiteY0" fmla="*/ 13335 h 807449"/>
              <a:gd name="connsiteX1" fmla="*/ 619488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392234 w 1035535"/>
              <a:gd name="connsiteY5" fmla="*/ 486592 h 807449"/>
              <a:gd name="connsiteX6" fmla="*/ 12187 w 1035535"/>
              <a:gd name="connsiteY6" fmla="*/ 0 h 807449"/>
              <a:gd name="connsiteX0" fmla="*/ 1016121 w 1035535"/>
              <a:gd name="connsiteY0" fmla="*/ 13335 h 807449"/>
              <a:gd name="connsiteX1" fmla="*/ 619488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392234 w 1035535"/>
              <a:gd name="connsiteY5" fmla="*/ 486592 h 807449"/>
              <a:gd name="connsiteX6" fmla="*/ 12187 w 1035535"/>
              <a:gd name="connsiteY6" fmla="*/ 0 h 807449"/>
              <a:gd name="connsiteX0" fmla="*/ 1016121 w 1035535"/>
              <a:gd name="connsiteY0" fmla="*/ 13335 h 807449"/>
              <a:gd name="connsiteX1" fmla="*/ 619488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392234 w 1035535"/>
              <a:gd name="connsiteY5" fmla="*/ 486592 h 807449"/>
              <a:gd name="connsiteX6" fmla="*/ 12187 w 1035535"/>
              <a:gd name="connsiteY6" fmla="*/ 0 h 807449"/>
              <a:gd name="connsiteX0" fmla="*/ 1044696 w 1044696"/>
              <a:gd name="connsiteY0" fmla="*/ 0 h 832214"/>
              <a:gd name="connsiteX1" fmla="*/ 619488 w 1044696"/>
              <a:gd name="connsiteY1" fmla="*/ 506595 h 832214"/>
              <a:gd name="connsiteX2" fmla="*/ 1035535 w 1044696"/>
              <a:gd name="connsiteY2" fmla="*/ 506595 h 832214"/>
              <a:gd name="connsiteX3" fmla="*/ 517768 w 1044696"/>
              <a:gd name="connsiteY3" fmla="*/ 832214 h 832214"/>
              <a:gd name="connsiteX4" fmla="*/ 0 w 1044696"/>
              <a:gd name="connsiteY4" fmla="*/ 506595 h 832214"/>
              <a:gd name="connsiteX5" fmla="*/ 392234 w 1044696"/>
              <a:gd name="connsiteY5" fmla="*/ 511357 h 832214"/>
              <a:gd name="connsiteX6" fmla="*/ 12187 w 1044696"/>
              <a:gd name="connsiteY6" fmla="*/ 24765 h 832214"/>
              <a:gd name="connsiteX0" fmla="*/ 1032509 w 1032509"/>
              <a:gd name="connsiteY0" fmla="*/ 0 h 832214"/>
              <a:gd name="connsiteX1" fmla="*/ 607301 w 1032509"/>
              <a:gd name="connsiteY1" fmla="*/ 506595 h 832214"/>
              <a:gd name="connsiteX2" fmla="*/ 1023348 w 1032509"/>
              <a:gd name="connsiteY2" fmla="*/ 506595 h 832214"/>
              <a:gd name="connsiteX3" fmla="*/ 505581 w 1032509"/>
              <a:gd name="connsiteY3" fmla="*/ 832214 h 832214"/>
              <a:gd name="connsiteX4" fmla="*/ 237844 w 1032509"/>
              <a:gd name="connsiteY4" fmla="*/ 508976 h 832214"/>
              <a:gd name="connsiteX5" fmla="*/ 380047 w 1032509"/>
              <a:gd name="connsiteY5" fmla="*/ 511357 h 832214"/>
              <a:gd name="connsiteX6" fmla="*/ 0 w 1032509"/>
              <a:gd name="connsiteY6" fmla="*/ 24765 h 832214"/>
              <a:gd name="connsiteX0" fmla="*/ 1032509 w 1032509"/>
              <a:gd name="connsiteY0" fmla="*/ 0 h 832214"/>
              <a:gd name="connsiteX1" fmla="*/ 607301 w 1032509"/>
              <a:gd name="connsiteY1" fmla="*/ 506595 h 832214"/>
              <a:gd name="connsiteX2" fmla="*/ 804276 w 1032509"/>
              <a:gd name="connsiteY2" fmla="*/ 513741 h 832214"/>
              <a:gd name="connsiteX3" fmla="*/ 505581 w 1032509"/>
              <a:gd name="connsiteY3" fmla="*/ 832214 h 832214"/>
              <a:gd name="connsiteX4" fmla="*/ 237844 w 1032509"/>
              <a:gd name="connsiteY4" fmla="*/ 508976 h 832214"/>
              <a:gd name="connsiteX5" fmla="*/ 380047 w 1032509"/>
              <a:gd name="connsiteY5" fmla="*/ 511357 h 832214"/>
              <a:gd name="connsiteX6" fmla="*/ 0 w 1032509"/>
              <a:gd name="connsiteY6" fmla="*/ 24765 h 832214"/>
              <a:gd name="connsiteX0" fmla="*/ 1032509 w 1032509"/>
              <a:gd name="connsiteY0" fmla="*/ 0 h 722679"/>
              <a:gd name="connsiteX1" fmla="*/ 607301 w 1032509"/>
              <a:gd name="connsiteY1" fmla="*/ 506595 h 722679"/>
              <a:gd name="connsiteX2" fmla="*/ 804276 w 1032509"/>
              <a:gd name="connsiteY2" fmla="*/ 513741 h 722679"/>
              <a:gd name="connsiteX3" fmla="*/ 507965 w 1032509"/>
              <a:gd name="connsiteY3" fmla="*/ 722679 h 722679"/>
              <a:gd name="connsiteX4" fmla="*/ 237844 w 1032509"/>
              <a:gd name="connsiteY4" fmla="*/ 508976 h 722679"/>
              <a:gd name="connsiteX5" fmla="*/ 380047 w 1032509"/>
              <a:gd name="connsiteY5" fmla="*/ 511357 h 722679"/>
              <a:gd name="connsiteX6" fmla="*/ 0 w 1032509"/>
              <a:gd name="connsiteY6" fmla="*/ 24765 h 722679"/>
              <a:gd name="connsiteX0" fmla="*/ 1032509 w 1032509"/>
              <a:gd name="connsiteY0" fmla="*/ 0 h 722679"/>
              <a:gd name="connsiteX1" fmla="*/ 607301 w 1032509"/>
              <a:gd name="connsiteY1" fmla="*/ 506595 h 722679"/>
              <a:gd name="connsiteX2" fmla="*/ 804276 w 1032509"/>
              <a:gd name="connsiteY2" fmla="*/ 513741 h 722679"/>
              <a:gd name="connsiteX3" fmla="*/ 498440 w 1032509"/>
              <a:gd name="connsiteY3" fmla="*/ 722679 h 722679"/>
              <a:gd name="connsiteX4" fmla="*/ 237844 w 1032509"/>
              <a:gd name="connsiteY4" fmla="*/ 508976 h 722679"/>
              <a:gd name="connsiteX5" fmla="*/ 380047 w 1032509"/>
              <a:gd name="connsiteY5" fmla="*/ 511357 h 722679"/>
              <a:gd name="connsiteX6" fmla="*/ 0 w 1032509"/>
              <a:gd name="connsiteY6" fmla="*/ 24765 h 722679"/>
              <a:gd name="connsiteX0" fmla="*/ 1032509 w 1032509"/>
              <a:gd name="connsiteY0" fmla="*/ 0 h 722679"/>
              <a:gd name="connsiteX1" fmla="*/ 607301 w 1032509"/>
              <a:gd name="connsiteY1" fmla="*/ 506595 h 722679"/>
              <a:gd name="connsiteX2" fmla="*/ 792369 w 1032509"/>
              <a:gd name="connsiteY2" fmla="*/ 515732 h 722679"/>
              <a:gd name="connsiteX3" fmla="*/ 498440 w 1032509"/>
              <a:gd name="connsiteY3" fmla="*/ 722679 h 722679"/>
              <a:gd name="connsiteX4" fmla="*/ 237844 w 1032509"/>
              <a:gd name="connsiteY4" fmla="*/ 508976 h 722679"/>
              <a:gd name="connsiteX5" fmla="*/ 380047 w 1032509"/>
              <a:gd name="connsiteY5" fmla="*/ 511357 h 722679"/>
              <a:gd name="connsiteX6" fmla="*/ 0 w 1032509"/>
              <a:gd name="connsiteY6" fmla="*/ 24765 h 722679"/>
              <a:gd name="connsiteX0" fmla="*/ 1032509 w 1032509"/>
              <a:gd name="connsiteY0" fmla="*/ 0 h 720688"/>
              <a:gd name="connsiteX1" fmla="*/ 607301 w 1032509"/>
              <a:gd name="connsiteY1" fmla="*/ 506595 h 720688"/>
              <a:gd name="connsiteX2" fmla="*/ 792369 w 1032509"/>
              <a:gd name="connsiteY2" fmla="*/ 515732 h 720688"/>
              <a:gd name="connsiteX3" fmla="*/ 503202 w 1032509"/>
              <a:gd name="connsiteY3" fmla="*/ 720688 h 720688"/>
              <a:gd name="connsiteX4" fmla="*/ 237844 w 1032509"/>
              <a:gd name="connsiteY4" fmla="*/ 508976 h 720688"/>
              <a:gd name="connsiteX5" fmla="*/ 380047 w 1032509"/>
              <a:gd name="connsiteY5" fmla="*/ 511357 h 720688"/>
              <a:gd name="connsiteX6" fmla="*/ 0 w 1032509"/>
              <a:gd name="connsiteY6" fmla="*/ 24765 h 720688"/>
              <a:gd name="connsiteX0" fmla="*/ 1044414 w 1044414"/>
              <a:gd name="connsiteY0" fmla="*/ 0 h 720688"/>
              <a:gd name="connsiteX1" fmla="*/ 619206 w 1044414"/>
              <a:gd name="connsiteY1" fmla="*/ 506595 h 720688"/>
              <a:gd name="connsiteX2" fmla="*/ 804274 w 1044414"/>
              <a:gd name="connsiteY2" fmla="*/ 515732 h 720688"/>
              <a:gd name="connsiteX3" fmla="*/ 515107 w 1044414"/>
              <a:gd name="connsiteY3" fmla="*/ 720688 h 720688"/>
              <a:gd name="connsiteX4" fmla="*/ 249749 w 1044414"/>
              <a:gd name="connsiteY4" fmla="*/ 508976 h 720688"/>
              <a:gd name="connsiteX5" fmla="*/ 391952 w 1044414"/>
              <a:gd name="connsiteY5" fmla="*/ 511357 h 720688"/>
              <a:gd name="connsiteX6" fmla="*/ 0 w 1044414"/>
              <a:gd name="connsiteY6" fmla="*/ 4852 h 720688"/>
              <a:gd name="connsiteX0" fmla="*/ 1082514 w 1082514"/>
              <a:gd name="connsiteY0" fmla="*/ 0 h 722679"/>
              <a:gd name="connsiteX1" fmla="*/ 619206 w 1082514"/>
              <a:gd name="connsiteY1" fmla="*/ 508586 h 722679"/>
              <a:gd name="connsiteX2" fmla="*/ 804274 w 1082514"/>
              <a:gd name="connsiteY2" fmla="*/ 517723 h 722679"/>
              <a:gd name="connsiteX3" fmla="*/ 515107 w 1082514"/>
              <a:gd name="connsiteY3" fmla="*/ 722679 h 722679"/>
              <a:gd name="connsiteX4" fmla="*/ 249749 w 1082514"/>
              <a:gd name="connsiteY4" fmla="*/ 510967 h 722679"/>
              <a:gd name="connsiteX5" fmla="*/ 391952 w 1082514"/>
              <a:gd name="connsiteY5" fmla="*/ 513348 h 722679"/>
              <a:gd name="connsiteX6" fmla="*/ 0 w 1082514"/>
              <a:gd name="connsiteY6" fmla="*/ 6843 h 722679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49749 w 1082514"/>
              <a:gd name="connsiteY4" fmla="*/ 510967 h 724672"/>
              <a:gd name="connsiteX5" fmla="*/ 391952 w 1082514"/>
              <a:gd name="connsiteY5" fmla="*/ 513348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49749 w 1082514"/>
              <a:gd name="connsiteY4" fmla="*/ 510967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49749 w 1082514"/>
              <a:gd name="connsiteY4" fmla="*/ 510967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49749 w 1082514"/>
              <a:gd name="connsiteY4" fmla="*/ 510967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33080 w 1082514"/>
              <a:gd name="connsiteY4" fmla="*/ 526899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30468 w 1082514"/>
              <a:gd name="connsiteY2" fmla="*/ 531664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30468 w 1082514"/>
              <a:gd name="connsiteY2" fmla="*/ 531664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434815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30468 w 1082514"/>
              <a:gd name="connsiteY2" fmla="*/ 531664 h 724672"/>
              <a:gd name="connsiteX3" fmla="*/ 534160 w 1082514"/>
              <a:gd name="connsiteY3" fmla="*/ 724672 h 724672"/>
              <a:gd name="connsiteX4" fmla="*/ 297373 w 1082514"/>
              <a:gd name="connsiteY4" fmla="*/ 532873 h 724672"/>
              <a:gd name="connsiteX5" fmla="*/ 434815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768555 w 1082514"/>
              <a:gd name="connsiteY2" fmla="*/ 531664 h 724672"/>
              <a:gd name="connsiteX3" fmla="*/ 534160 w 1082514"/>
              <a:gd name="connsiteY3" fmla="*/ 724672 h 724672"/>
              <a:gd name="connsiteX4" fmla="*/ 297373 w 1082514"/>
              <a:gd name="connsiteY4" fmla="*/ 532873 h 724672"/>
              <a:gd name="connsiteX5" fmla="*/ 434815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38256 w 1082514"/>
              <a:gd name="connsiteY1" fmla="*/ 534476 h 724672"/>
              <a:gd name="connsiteX2" fmla="*/ 768555 w 1082514"/>
              <a:gd name="connsiteY2" fmla="*/ 531664 h 724672"/>
              <a:gd name="connsiteX3" fmla="*/ 534160 w 1082514"/>
              <a:gd name="connsiteY3" fmla="*/ 724672 h 724672"/>
              <a:gd name="connsiteX4" fmla="*/ 297373 w 1082514"/>
              <a:gd name="connsiteY4" fmla="*/ 532873 h 724672"/>
              <a:gd name="connsiteX5" fmla="*/ 434815 w 1082514"/>
              <a:gd name="connsiteY5" fmla="*/ 533263 h 724672"/>
              <a:gd name="connsiteX6" fmla="*/ 0 w 1082514"/>
              <a:gd name="connsiteY6" fmla="*/ 6843 h 724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2514" h="724672">
                <a:moveTo>
                  <a:pt x="1082514" y="0"/>
                </a:moveTo>
                <a:cubicBezTo>
                  <a:pt x="788378" y="227602"/>
                  <a:pt x="727605" y="349736"/>
                  <a:pt x="638256" y="534476"/>
                </a:cubicBezTo>
                <a:lnTo>
                  <a:pt x="768555" y="531664"/>
                </a:lnTo>
                <a:lnTo>
                  <a:pt x="534160" y="724672"/>
                </a:lnTo>
                <a:lnTo>
                  <a:pt x="297373" y="532873"/>
                </a:lnTo>
                <a:lnTo>
                  <a:pt x="434815" y="533263"/>
                </a:lnTo>
                <a:cubicBezTo>
                  <a:pt x="434815" y="377098"/>
                  <a:pt x="0" y="6843"/>
                  <a:pt x="0" y="6843"/>
                </a:cubicBezTo>
              </a:path>
            </a:pathLst>
          </a:custGeom>
          <a:gradFill flip="none" rotWithShape="1">
            <a:gsLst>
              <a:gs pos="15000">
                <a:srgbClr val="ECF9FA"/>
              </a:gs>
              <a:gs pos="100000">
                <a:schemeClr val="bg1">
                  <a:alpha val="0"/>
                </a:schemeClr>
              </a:gs>
            </a:gsLst>
            <a:lin ang="16200000" scaled="1"/>
            <a:tileRect/>
          </a:gradFill>
          <a:ln w="19050">
            <a:gradFill flip="none" rotWithShape="1">
              <a:gsLst>
                <a:gs pos="100000">
                  <a:srgbClr val="F4FBFE"/>
                </a:gs>
                <a:gs pos="31000">
                  <a:srgbClr val="94DAE2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52" name="文本占位符 2"/>
          <p:cNvSpPr txBox="1">
            <a:spLocks/>
          </p:cNvSpPr>
          <p:nvPr/>
        </p:nvSpPr>
        <p:spPr bwMode="gray">
          <a:xfrm>
            <a:off x="7352067" y="2425745"/>
            <a:ext cx="4392432" cy="240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buSzPct val="50000"/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IS-IS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单拓扑存在的问题：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  <a:p>
            <a:pPr lvl="1" fontAlgn="ctr">
              <a:buSzPct val="50000"/>
              <a:buFont typeface="Wingdings" panose="05000000000000000000" pitchFamily="2" charset="2"/>
              <a:buChar char="p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混合拓扑中的一些路由器和链路不支持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IPv6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协议，但是支持双协议栈的路由器无法感知到这些路由器和链路，仍然会把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IPv6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报文转发给它们，这就导致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IPv6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报文因无法转发而被丢弃。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  <a:p>
            <a:pPr lvl="1" fontAlgn="ctr">
              <a:buSzPct val="50000"/>
              <a:buFont typeface="Wingdings" panose="05000000000000000000" pitchFamily="2" charset="2"/>
              <a:buChar char="p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同样，存在不支持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IPv4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的路由器和链路时，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IPv4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</a:rPr>
              <a:t>报文也无法转发。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154" name="Rectangle 312"/>
          <p:cNvSpPr>
            <a:spLocks noChangeArrowheads="1"/>
          </p:cNvSpPr>
          <p:nvPr/>
        </p:nvSpPr>
        <p:spPr bwMode="gray">
          <a:xfrm>
            <a:off x="435322" y="2425746"/>
            <a:ext cx="898588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>
                <a:solidFill>
                  <a:srgbClr val="30B5C5"/>
                </a:solidFill>
              </a:rPr>
              <a:t>IS-IS</a:t>
            </a:r>
          </a:p>
        </p:txBody>
      </p:sp>
      <p:sp>
        <p:nvSpPr>
          <p:cNvPr id="155" name="圆角矩形标注 154"/>
          <p:cNvSpPr/>
          <p:nvPr/>
        </p:nvSpPr>
        <p:spPr bwMode="gray">
          <a:xfrm>
            <a:off x="5697677" y="4630689"/>
            <a:ext cx="1808632" cy="835746"/>
          </a:xfrm>
          <a:prstGeom prst="wedgeRoundRectCallout">
            <a:avLst>
              <a:gd name="adj1" fmla="val -71180"/>
              <a:gd name="adj2" fmla="val -9897"/>
              <a:gd name="adj3" fmla="val 16667"/>
            </a:avLst>
          </a:prstGeom>
          <a:solidFill>
            <a:srgbClr val="FEF5DA"/>
          </a:solidFill>
          <a:ln w="19050">
            <a:solidFill>
              <a:srgbClr val="FDE397"/>
            </a:solidFill>
          </a:ln>
        </p:spPr>
        <p:txBody>
          <a:bodyPr wrap="square" lIns="54000" tIns="54000" rIns="54000" bIns="54000" rtlCol="0" anchor="ctr" anchorCtr="0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</a:rPr>
              <a:t>R3</a:t>
            </a:r>
            <a:r>
              <a:rPr lang="zh-CN" altLang="en-US" sz="1400" dirty="0">
                <a:solidFill>
                  <a:schemeClr val="tx1"/>
                </a:solidFill>
              </a:rPr>
              <a:t>不支持</a:t>
            </a:r>
            <a:r>
              <a:rPr lang="en-US" altLang="zh-CN" sz="1400" dirty="0">
                <a:solidFill>
                  <a:schemeClr val="tx1"/>
                </a:solidFill>
              </a:rPr>
              <a:t>IPv6</a:t>
            </a:r>
            <a:r>
              <a:rPr lang="zh-CN" altLang="en-US" sz="1400" dirty="0">
                <a:solidFill>
                  <a:schemeClr val="tx1"/>
                </a:solidFill>
              </a:rPr>
              <a:t>，收到</a:t>
            </a:r>
            <a:r>
              <a:rPr lang="en-US" altLang="zh-CN" sz="1400" dirty="0">
                <a:solidFill>
                  <a:schemeClr val="tx1"/>
                </a:solidFill>
              </a:rPr>
              <a:t>R1</a:t>
            </a:r>
            <a:r>
              <a:rPr lang="zh-CN" altLang="en-US" sz="1400" dirty="0">
                <a:solidFill>
                  <a:schemeClr val="tx1"/>
                </a:solidFill>
              </a:rPr>
              <a:t>发来的</a:t>
            </a:r>
            <a:r>
              <a:rPr lang="en-US" altLang="zh-CN" sz="1400" dirty="0">
                <a:solidFill>
                  <a:schemeClr val="tx1"/>
                </a:solidFill>
              </a:rPr>
              <a:t>IPv6</a:t>
            </a:r>
            <a:r>
              <a:rPr lang="zh-CN" altLang="en-US" sz="1400" dirty="0">
                <a:solidFill>
                  <a:schemeClr val="tx1"/>
                </a:solidFill>
              </a:rPr>
              <a:t>报文，会直接丢弃。</a:t>
            </a:r>
          </a:p>
        </p:txBody>
      </p:sp>
      <p:sp>
        <p:nvSpPr>
          <p:cNvPr id="54" name="Rectangle 312"/>
          <p:cNvSpPr>
            <a:spLocks noChangeArrowheads="1"/>
          </p:cNvSpPr>
          <p:nvPr/>
        </p:nvSpPr>
        <p:spPr bwMode="gray">
          <a:xfrm>
            <a:off x="2258095" y="3497626"/>
            <a:ext cx="1296640" cy="433977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/>
              <a:t>R3 (IPv4)</a:t>
            </a:r>
          </a:p>
        </p:txBody>
      </p:sp>
      <p:sp>
        <p:nvSpPr>
          <p:cNvPr id="55" name="Rectangle 312"/>
          <p:cNvSpPr>
            <a:spLocks noChangeArrowheads="1"/>
          </p:cNvSpPr>
          <p:nvPr/>
        </p:nvSpPr>
        <p:spPr bwMode="gray">
          <a:xfrm>
            <a:off x="548985" y="5205715"/>
            <a:ext cx="1296640" cy="433977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/>
              <a:t>R4 (IPv4/IPv6)</a:t>
            </a:r>
          </a:p>
        </p:txBody>
      </p:sp>
      <p:sp>
        <p:nvSpPr>
          <p:cNvPr id="56" name="Rectangle 312"/>
          <p:cNvSpPr>
            <a:spLocks noChangeArrowheads="1"/>
          </p:cNvSpPr>
          <p:nvPr/>
        </p:nvSpPr>
        <p:spPr bwMode="gray">
          <a:xfrm>
            <a:off x="2166448" y="5205715"/>
            <a:ext cx="1386887" cy="433977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/>
              <a:t>R5 (IPv4/IPv6)</a:t>
            </a:r>
          </a:p>
        </p:txBody>
      </p:sp>
      <p:sp>
        <p:nvSpPr>
          <p:cNvPr id="100" name="Rectangle 312"/>
          <p:cNvSpPr>
            <a:spLocks noChangeArrowheads="1"/>
          </p:cNvSpPr>
          <p:nvPr/>
        </p:nvSpPr>
        <p:spPr bwMode="gray">
          <a:xfrm>
            <a:off x="548985" y="3497626"/>
            <a:ext cx="1296640" cy="433977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/>
              <a:t>R2 (IPv4/IPv6)</a:t>
            </a:r>
          </a:p>
        </p:txBody>
      </p:sp>
    </p:spTree>
    <p:extLst>
      <p:ext uri="{BB962C8B-B14F-4D97-AF65-F5344CB8AC3E}">
        <p14:creationId xmlns:p14="http://schemas.microsoft.com/office/powerpoint/2010/main" val="258084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/>
      <p:bldP spid="15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IS-IS</a:t>
            </a:r>
            <a:r>
              <a:rPr lang="zh-CN" altLang="en-US"/>
              <a:t>多拓扑概述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000" dirty="0"/>
              <a:t>IS-IS</a:t>
            </a:r>
            <a:r>
              <a:rPr lang="zh-CN" altLang="en-US" sz="2000" dirty="0"/>
              <a:t>多拓扑（</a:t>
            </a:r>
            <a:r>
              <a:rPr lang="en-US" altLang="zh-CN" sz="2000" dirty="0"/>
              <a:t>Multi-Topology</a:t>
            </a:r>
            <a:r>
              <a:rPr lang="zh-CN" altLang="en-US" sz="2000" dirty="0"/>
              <a:t>，</a:t>
            </a:r>
            <a:r>
              <a:rPr lang="en-US" altLang="zh-CN" sz="2000" dirty="0"/>
              <a:t>MT</a:t>
            </a:r>
            <a:r>
              <a:rPr lang="zh-CN" altLang="en-US" sz="2000" dirty="0"/>
              <a:t>）特性是指在一个</a:t>
            </a:r>
            <a:r>
              <a:rPr lang="en-US" altLang="zh-CN" sz="2000" dirty="0"/>
              <a:t>IS-IS</a:t>
            </a:r>
            <a:r>
              <a:rPr lang="zh-CN" altLang="en-US" sz="2000" dirty="0"/>
              <a:t>自治域内运行多个独立的</a:t>
            </a:r>
            <a:r>
              <a:rPr lang="en-US" altLang="zh-CN" sz="2000" dirty="0"/>
              <a:t>IP</a:t>
            </a:r>
            <a:r>
              <a:rPr lang="zh-CN" altLang="en-US" sz="2000" dirty="0"/>
              <a:t>拓扑。例如</a:t>
            </a:r>
            <a:r>
              <a:rPr lang="en-US" altLang="zh-CN" sz="2000" dirty="0"/>
              <a:t>IPv4</a:t>
            </a:r>
            <a:r>
              <a:rPr lang="zh-CN" altLang="en-US" sz="2000" dirty="0"/>
              <a:t>拓扑和</a:t>
            </a:r>
            <a:r>
              <a:rPr lang="en-US" altLang="zh-CN" sz="2000" dirty="0"/>
              <a:t>IPv6</a:t>
            </a:r>
            <a:r>
              <a:rPr lang="zh-CN" altLang="en-US" sz="2000" dirty="0"/>
              <a:t>拓扑，而不是将它们视为一个集成的单一拓扑。这有利于</a:t>
            </a:r>
            <a:r>
              <a:rPr lang="en-US" altLang="zh-CN" sz="2000" dirty="0"/>
              <a:t>IS-IS</a:t>
            </a:r>
            <a:r>
              <a:rPr lang="zh-CN" altLang="en-US" sz="2000" dirty="0"/>
              <a:t>在路由计算中根据实际组网情况来单独考虑</a:t>
            </a:r>
            <a:r>
              <a:rPr lang="en-US" altLang="zh-CN" sz="2000" dirty="0"/>
              <a:t>IPv4</a:t>
            </a:r>
            <a:r>
              <a:rPr lang="zh-CN" altLang="en-US" sz="2000" dirty="0"/>
              <a:t>和</a:t>
            </a:r>
            <a:r>
              <a:rPr lang="en-US" altLang="zh-CN" sz="2000" dirty="0"/>
              <a:t>IPv6</a:t>
            </a:r>
            <a:r>
              <a:rPr lang="zh-CN" altLang="en-US" sz="2000" dirty="0"/>
              <a:t>网络。根据链路所支持的</a:t>
            </a:r>
            <a:r>
              <a:rPr lang="en-US" altLang="zh-CN" sz="2000" dirty="0"/>
              <a:t>IP</a:t>
            </a:r>
            <a:r>
              <a:rPr lang="zh-CN" altLang="en-US" sz="2000" dirty="0"/>
              <a:t>协议类型，不同拓扑运行各自的</a:t>
            </a:r>
            <a:r>
              <a:rPr lang="en-US" altLang="zh-CN" sz="2000" dirty="0"/>
              <a:t>SPF</a:t>
            </a:r>
            <a:r>
              <a:rPr lang="zh-CN" altLang="en-US" sz="2000" dirty="0"/>
              <a:t>计算，实现网络的相互屏蔽。</a:t>
            </a:r>
            <a:endParaRPr lang="en-US" altLang="zh-CN" sz="2000" dirty="0"/>
          </a:p>
          <a:p>
            <a:r>
              <a:rPr lang="en-US" altLang="zh-CN" sz="2000" dirty="0"/>
              <a:t>IS-IS</a:t>
            </a:r>
            <a:r>
              <a:rPr lang="zh-CN" altLang="en-US" sz="2000" dirty="0"/>
              <a:t>多拓扑的实现过程：</a:t>
            </a:r>
          </a:p>
          <a:p>
            <a:pPr lvl="1"/>
            <a:r>
              <a:rPr lang="zh-CN" altLang="en-US" sz="1800" dirty="0"/>
              <a:t>建立拓扑：通过报文交互建立邻居，从而建立多拓扑。</a:t>
            </a:r>
          </a:p>
          <a:p>
            <a:pPr lvl="1"/>
            <a:r>
              <a:rPr lang="en-US" altLang="zh-CN" sz="1800" dirty="0"/>
              <a:t>SPF</a:t>
            </a:r>
            <a:r>
              <a:rPr lang="zh-CN" altLang="en-US" sz="1800" dirty="0"/>
              <a:t>计算：在不同的拓扑上分别进行</a:t>
            </a:r>
            <a:r>
              <a:rPr lang="en-US" altLang="zh-CN" sz="1800" dirty="0"/>
              <a:t>SPF</a:t>
            </a:r>
            <a:r>
              <a:rPr lang="zh-CN" altLang="en-US" sz="1800" dirty="0"/>
              <a:t>计算。</a:t>
            </a:r>
          </a:p>
          <a:p>
            <a:endParaRPr lang="zh-CN" altLang="en-US" sz="20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603442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altLang="zh-CN" dirty="0"/>
              <a:t>IS-IS</a:t>
            </a:r>
            <a:r>
              <a:rPr lang="zh-CN" altLang="en-US" dirty="0"/>
              <a:t>多拓扑原理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>
          <a:xfrm>
            <a:off x="455612" y="1047750"/>
            <a:ext cx="11293475" cy="1490675"/>
          </a:xfrm>
        </p:spPr>
        <p:txBody>
          <a:bodyPr/>
          <a:lstStyle/>
          <a:p>
            <a:r>
              <a:rPr lang="en-US" altLang="zh-CN" sz="2000" dirty="0"/>
              <a:t>IS-IS</a:t>
            </a:r>
            <a:r>
              <a:rPr lang="zh-CN" altLang="en-US" sz="2000" dirty="0"/>
              <a:t>定义了新的</a:t>
            </a:r>
            <a:r>
              <a:rPr lang="en-US" altLang="zh-CN" sz="2000" dirty="0"/>
              <a:t>TLV</a:t>
            </a:r>
            <a:r>
              <a:rPr lang="zh-CN" altLang="en-US" sz="2000" dirty="0"/>
              <a:t>，该</a:t>
            </a:r>
            <a:r>
              <a:rPr lang="en-US" altLang="zh-CN" sz="2000" dirty="0"/>
              <a:t>TLV</a:t>
            </a:r>
            <a:r>
              <a:rPr lang="zh-CN" altLang="en-US" sz="2000" dirty="0"/>
              <a:t>中包含接口所属拓扑信息（</a:t>
            </a:r>
            <a:r>
              <a:rPr lang="en-US" altLang="zh-CN" sz="2000" dirty="0"/>
              <a:t>MT</a:t>
            </a:r>
            <a:r>
              <a:rPr lang="zh-CN" altLang="en-US" sz="2000" dirty="0"/>
              <a:t>信息）。</a:t>
            </a:r>
            <a:r>
              <a:rPr lang="en-US" altLang="zh-CN" sz="2000" dirty="0"/>
              <a:t>MT</a:t>
            </a:r>
            <a:r>
              <a:rPr lang="zh-CN" altLang="en-US" sz="2000" dirty="0"/>
              <a:t>信息的传播，使得网络按不同的拓扑分别进行</a:t>
            </a:r>
            <a:r>
              <a:rPr lang="en-US" altLang="zh-CN" sz="2000" dirty="0"/>
              <a:t>SPF</a:t>
            </a:r>
            <a:r>
              <a:rPr lang="zh-CN" altLang="en-US" sz="2000" dirty="0"/>
              <a:t>计算，最终实现拓扑分离。</a:t>
            </a:r>
            <a:endParaRPr lang="en-US" altLang="zh-CN" sz="2000" dirty="0"/>
          </a:p>
          <a:p>
            <a:r>
              <a:rPr lang="en-US" altLang="zh-CN" sz="2000" dirty="0"/>
              <a:t>229</a:t>
            </a:r>
            <a:r>
              <a:rPr lang="zh-CN" altLang="en-US" sz="2000" dirty="0"/>
              <a:t>号</a:t>
            </a:r>
            <a:r>
              <a:rPr lang="en-US" altLang="zh-CN" sz="2000" dirty="0"/>
              <a:t>TLV</a:t>
            </a:r>
            <a:r>
              <a:rPr lang="zh-CN" altLang="en-US" sz="2000" dirty="0"/>
              <a:t>（多拓扑</a:t>
            </a:r>
            <a:r>
              <a:rPr lang="en-US" altLang="zh-CN" sz="2000" dirty="0"/>
              <a:t>TLV</a:t>
            </a:r>
            <a:r>
              <a:rPr lang="zh-CN" altLang="en-US" sz="2000" dirty="0"/>
              <a:t>）：</a:t>
            </a:r>
            <a:endParaRPr lang="en-US" altLang="zh-CN" sz="2000" dirty="0"/>
          </a:p>
        </p:txBody>
      </p:sp>
      <p:graphicFrame>
        <p:nvGraphicFramePr>
          <p:cNvPr id="52" name="表格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466652"/>
              </p:ext>
            </p:extLst>
          </p:nvPr>
        </p:nvGraphicFramePr>
        <p:xfrm>
          <a:off x="820177" y="2724118"/>
          <a:ext cx="5040060" cy="612000"/>
        </p:xfrm>
        <a:graphic>
          <a:graphicData uri="http://schemas.openxmlformats.org/drawingml/2006/table">
            <a:tbl>
              <a:tblPr firstRow="1" bandRow="1"/>
              <a:tblGrid>
                <a:gridCol w="121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8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2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81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Type=229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MT ID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 gridSpan="6"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4" name="圆角矩形 75"/>
          <p:cNvSpPr/>
          <p:nvPr/>
        </p:nvSpPr>
        <p:spPr bwMode="gray">
          <a:xfrm>
            <a:off x="820177" y="3336119"/>
            <a:ext cx="5275824" cy="2047114"/>
          </a:xfrm>
          <a:prstGeom prst="roundRect">
            <a:avLst>
              <a:gd name="adj" fmla="val 874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36000" rIns="108000" bIns="36000" rtlCol="0" anchor="t" anchorCtr="0">
            <a:noAutofit/>
          </a:bodyPr>
          <a:lstStyle/>
          <a:p>
            <a:pPr marL="177800" indent="-177800" algn="just" fontAlgn="auto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重要字段解释：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60000" indent="-180000" algn="just" fontAlgn="auto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8 bit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TLV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类型，此时值为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229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0xE5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），表示支持多拓扑。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60000" indent="-180000" algn="just" fontAlgn="auto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 bit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Overload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，超载位。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60000" indent="-180000" algn="just" fontAlgn="auto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 bit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Attach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，附着位。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60000" indent="-180000" algn="just" fontAlgn="auto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Huawei Sans" panose="020C0503030203020204" pitchFamily="34" charset="0"/>
              <a:buChar char="▫"/>
            </a:pP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MT ID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12 bit</a:t>
            </a:r>
            <a:r>
              <a:rPr lang="zh-CN" altLang="en-US" sz="14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，表示该接口属于什么拓扑。</a:t>
            </a:r>
            <a:endParaRPr lang="en-US" altLang="zh-CN" sz="14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7" name="椭圆 56"/>
          <p:cNvSpPr/>
          <p:nvPr/>
        </p:nvSpPr>
        <p:spPr bwMode="gray">
          <a:xfrm>
            <a:off x="7058887" y="1992296"/>
            <a:ext cx="3898492" cy="3696576"/>
          </a:xfrm>
          <a:prstGeom prst="ellipse">
            <a:avLst/>
          </a:prstGeom>
          <a:solidFill>
            <a:srgbClr val="ECF9FA"/>
          </a:solidFill>
          <a:ln w="28575" cap="flat" cmpd="sng" algn="ctr">
            <a:solidFill>
              <a:srgbClr val="94DAE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0" name="组合 59"/>
          <p:cNvGrpSpPr/>
          <p:nvPr/>
        </p:nvGrpSpPr>
        <p:grpSpPr bwMode="gray">
          <a:xfrm>
            <a:off x="8320278" y="2144305"/>
            <a:ext cx="1375056" cy="1563061"/>
            <a:chOff x="4222542" y="2878748"/>
            <a:chExt cx="1375056" cy="1563061"/>
          </a:xfrm>
        </p:grpSpPr>
        <p:sp>
          <p:nvSpPr>
            <p:cNvPr id="61" name="圆角矩形 60"/>
            <p:cNvSpPr/>
            <p:nvPr/>
          </p:nvSpPr>
          <p:spPr bwMode="gray">
            <a:xfrm>
              <a:off x="4222542" y="2878748"/>
              <a:ext cx="1375056" cy="1563061"/>
            </a:xfrm>
            <a:prstGeom prst="roundRect">
              <a:avLst>
                <a:gd name="adj" fmla="val 4925"/>
              </a:avLst>
            </a:prstGeom>
            <a:solidFill>
              <a:schemeClr val="bg1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2" name="Oval 4"/>
            <p:cNvSpPr>
              <a:spLocks noChangeAspect="1"/>
            </p:cNvSpPr>
            <p:nvPr/>
          </p:nvSpPr>
          <p:spPr bwMode="gray">
            <a:xfrm>
              <a:off x="4418958" y="3344614"/>
              <a:ext cx="252000" cy="252000"/>
            </a:xfrm>
            <a:prstGeom prst="ellipse">
              <a:avLst/>
            </a:prstGeom>
            <a:solidFill>
              <a:srgbClr val="ECF9FA"/>
            </a:solidFill>
            <a:ln w="12700">
              <a:solidFill>
                <a:srgbClr val="94DAE2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sym typeface="Huawei Sans" panose="020C0503030203020204" pitchFamily="34" charset="0"/>
                </a:rPr>
                <a:t>2</a:t>
              </a:r>
              <a:endParaRPr lang="zh-CN" altLang="en-US" sz="1400" dirty="0">
                <a:solidFill>
                  <a:schemeClr val="tx1"/>
                </a:solidFill>
                <a:sym typeface="Huawei Sans" panose="020C0503030203020204" pitchFamily="34" charset="0"/>
              </a:endParaRPr>
            </a:p>
          </p:txBody>
        </p:sp>
        <p:sp>
          <p:nvSpPr>
            <p:cNvPr id="63" name="Oval 4"/>
            <p:cNvSpPr>
              <a:spLocks noChangeAspect="1"/>
            </p:cNvSpPr>
            <p:nvPr/>
          </p:nvSpPr>
          <p:spPr bwMode="gray">
            <a:xfrm>
              <a:off x="5107755" y="3344614"/>
              <a:ext cx="252000" cy="252000"/>
            </a:xfrm>
            <a:prstGeom prst="ellipse">
              <a:avLst/>
            </a:prstGeom>
            <a:solidFill>
              <a:srgbClr val="ECF9FA"/>
            </a:solidFill>
            <a:ln w="12700">
              <a:solidFill>
                <a:srgbClr val="94DAE2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sym typeface="Huawei Sans" panose="020C0503030203020204" pitchFamily="34" charset="0"/>
                </a:rPr>
                <a:t>3</a:t>
              </a:r>
              <a:endParaRPr lang="zh-CN" altLang="en-US" sz="1400" dirty="0">
                <a:solidFill>
                  <a:schemeClr val="tx1"/>
                </a:solidFill>
                <a:sym typeface="Huawei Sans" panose="020C0503030203020204" pitchFamily="34" charset="0"/>
              </a:endParaRPr>
            </a:p>
          </p:txBody>
        </p:sp>
        <p:cxnSp>
          <p:nvCxnSpPr>
            <p:cNvPr id="64" name="直接连接符 63"/>
            <p:cNvCxnSpPr>
              <a:stCxn id="72" idx="7"/>
              <a:endCxn id="62" idx="0"/>
            </p:cNvCxnSpPr>
            <p:nvPr/>
          </p:nvCxnSpPr>
          <p:spPr bwMode="gray">
            <a:xfrm flipH="1">
              <a:off x="4544958" y="3032974"/>
              <a:ext cx="440421" cy="31164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65" name="直接连接符 64"/>
            <p:cNvCxnSpPr>
              <a:stCxn id="62" idx="4"/>
              <a:endCxn id="67" idx="0"/>
            </p:cNvCxnSpPr>
            <p:nvPr/>
          </p:nvCxnSpPr>
          <p:spPr bwMode="gray">
            <a:xfrm>
              <a:off x="4544958" y="3596614"/>
              <a:ext cx="0" cy="170598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66" name="圆角矩形 65"/>
            <p:cNvSpPr/>
            <p:nvPr/>
          </p:nvSpPr>
          <p:spPr bwMode="gray">
            <a:xfrm>
              <a:off x="4260196" y="4090958"/>
              <a:ext cx="1292609" cy="295876"/>
            </a:xfrm>
            <a:prstGeom prst="roundRect">
              <a:avLst/>
            </a:prstGeom>
            <a:no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IPv4</a:t>
              </a:r>
              <a:r>
                <a:rPr lang="zh-CN" altLang="en-US" sz="1400" dirty="0">
                  <a:solidFill>
                    <a:schemeClr val="tx1"/>
                  </a:solidFill>
                </a:rPr>
                <a:t>逻辑拓扑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67" name="Oval 4"/>
            <p:cNvSpPr>
              <a:spLocks noChangeAspect="1"/>
            </p:cNvSpPr>
            <p:nvPr/>
          </p:nvSpPr>
          <p:spPr bwMode="gray">
            <a:xfrm>
              <a:off x="4418958" y="3767212"/>
              <a:ext cx="252000" cy="252000"/>
            </a:xfrm>
            <a:prstGeom prst="ellipse">
              <a:avLst/>
            </a:prstGeom>
            <a:solidFill>
              <a:srgbClr val="ECF9FA"/>
            </a:solidFill>
            <a:ln w="12700">
              <a:solidFill>
                <a:srgbClr val="94DAE2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sym typeface="Huawei Sans" panose="020C0503030203020204" pitchFamily="34" charset="0"/>
                </a:rPr>
                <a:t>4</a:t>
              </a:r>
              <a:endParaRPr lang="zh-CN" altLang="en-US" sz="1400" dirty="0">
                <a:solidFill>
                  <a:schemeClr val="tx1"/>
                </a:solidFill>
                <a:sym typeface="Huawei Sans" panose="020C0503030203020204" pitchFamily="34" charset="0"/>
              </a:endParaRPr>
            </a:p>
          </p:txBody>
        </p:sp>
        <p:sp>
          <p:nvSpPr>
            <p:cNvPr id="69" name="Oval 4"/>
            <p:cNvSpPr>
              <a:spLocks noChangeAspect="1"/>
            </p:cNvSpPr>
            <p:nvPr/>
          </p:nvSpPr>
          <p:spPr bwMode="gray">
            <a:xfrm>
              <a:off x="5107755" y="3767212"/>
              <a:ext cx="252000" cy="252000"/>
            </a:xfrm>
            <a:prstGeom prst="ellipse">
              <a:avLst/>
            </a:prstGeom>
            <a:solidFill>
              <a:srgbClr val="ECF9FA"/>
            </a:solidFill>
            <a:ln w="12700">
              <a:solidFill>
                <a:srgbClr val="94DAE2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sym typeface="Huawei Sans" panose="020C0503030203020204" pitchFamily="34" charset="0"/>
                </a:rPr>
                <a:t>5</a:t>
              </a:r>
              <a:endParaRPr lang="zh-CN" altLang="en-US" sz="1400" dirty="0">
                <a:solidFill>
                  <a:schemeClr val="tx1"/>
                </a:solidFill>
                <a:sym typeface="Huawei Sans" panose="020C0503030203020204" pitchFamily="34" charset="0"/>
              </a:endParaRPr>
            </a:p>
          </p:txBody>
        </p:sp>
        <p:cxnSp>
          <p:nvCxnSpPr>
            <p:cNvPr id="70" name="直接连接符 69"/>
            <p:cNvCxnSpPr>
              <a:stCxn id="63" idx="0"/>
              <a:endCxn id="72" idx="1"/>
            </p:cNvCxnSpPr>
            <p:nvPr/>
          </p:nvCxnSpPr>
          <p:spPr bwMode="gray">
            <a:xfrm flipH="1" flipV="1">
              <a:off x="4807189" y="3032974"/>
              <a:ext cx="426566" cy="31164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71" name="直接连接符 70"/>
            <p:cNvCxnSpPr>
              <a:stCxn id="63" idx="4"/>
              <a:endCxn id="69" idx="0"/>
            </p:cNvCxnSpPr>
            <p:nvPr/>
          </p:nvCxnSpPr>
          <p:spPr bwMode="gray">
            <a:xfrm>
              <a:off x="5233755" y="3596614"/>
              <a:ext cx="0" cy="170598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72" name="椭圆 71"/>
            <p:cNvSpPr>
              <a:spLocks noChangeAspect="1"/>
            </p:cNvSpPr>
            <p:nvPr/>
          </p:nvSpPr>
          <p:spPr bwMode="gray">
            <a:xfrm>
              <a:off x="4770284" y="2996069"/>
              <a:ext cx="252000" cy="252000"/>
            </a:xfrm>
            <a:prstGeom prst="ellipse">
              <a:avLst/>
            </a:prstGeom>
            <a:solidFill>
              <a:srgbClr val="ECF9FA"/>
            </a:solidFill>
            <a:ln w="12700">
              <a:solidFill>
                <a:srgbClr val="94DAE2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sym typeface="Huawei Sans" panose="020C0503030203020204" pitchFamily="34" charset="0"/>
                </a:rPr>
                <a:t>1</a:t>
              </a:r>
              <a:endParaRPr lang="zh-CN" altLang="en-US" sz="1400" dirty="0">
                <a:solidFill>
                  <a:schemeClr val="tx1"/>
                </a:solidFill>
                <a:sym typeface="Huawei Sans" panose="020C0503030203020204" pitchFamily="34" charset="0"/>
              </a:endParaRPr>
            </a:p>
          </p:txBody>
        </p:sp>
      </p:grpSp>
      <p:grpSp>
        <p:nvGrpSpPr>
          <p:cNvPr id="73" name="组合 72"/>
          <p:cNvGrpSpPr/>
          <p:nvPr/>
        </p:nvGrpSpPr>
        <p:grpSpPr bwMode="gray">
          <a:xfrm>
            <a:off x="8320278" y="3963210"/>
            <a:ext cx="1375056" cy="1563061"/>
            <a:chOff x="4222542" y="2878748"/>
            <a:chExt cx="1375056" cy="1563061"/>
          </a:xfrm>
        </p:grpSpPr>
        <p:sp>
          <p:nvSpPr>
            <p:cNvPr id="74" name="圆角矩形 73"/>
            <p:cNvSpPr/>
            <p:nvPr/>
          </p:nvSpPr>
          <p:spPr bwMode="gray">
            <a:xfrm>
              <a:off x="4222542" y="2878748"/>
              <a:ext cx="1375056" cy="1563061"/>
            </a:xfrm>
            <a:prstGeom prst="roundRect">
              <a:avLst>
                <a:gd name="adj" fmla="val 4925"/>
              </a:avLst>
            </a:prstGeom>
            <a:solidFill>
              <a:schemeClr val="bg1"/>
            </a:solidFill>
            <a:ln w="12700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5" name="Oval 4"/>
            <p:cNvSpPr>
              <a:spLocks noChangeAspect="1"/>
            </p:cNvSpPr>
            <p:nvPr/>
          </p:nvSpPr>
          <p:spPr bwMode="gray">
            <a:xfrm>
              <a:off x="4418958" y="3344614"/>
              <a:ext cx="252000" cy="252000"/>
            </a:xfrm>
            <a:prstGeom prst="ellipse">
              <a:avLst/>
            </a:prstGeom>
            <a:solidFill>
              <a:srgbClr val="ECF9FA"/>
            </a:solidFill>
            <a:ln w="12700">
              <a:solidFill>
                <a:srgbClr val="94DAE2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sym typeface="Huawei Sans" panose="020C0503030203020204" pitchFamily="34" charset="0"/>
                </a:rPr>
                <a:t>2</a:t>
              </a:r>
              <a:endParaRPr lang="zh-CN" altLang="en-US" sz="1400" dirty="0">
                <a:solidFill>
                  <a:schemeClr val="tx1"/>
                </a:solidFill>
                <a:sym typeface="Huawei Sans" panose="020C0503030203020204" pitchFamily="34" charset="0"/>
              </a:endParaRPr>
            </a:p>
          </p:txBody>
        </p:sp>
        <p:cxnSp>
          <p:nvCxnSpPr>
            <p:cNvPr id="77" name="直接连接符 76"/>
            <p:cNvCxnSpPr>
              <a:stCxn id="84" idx="7"/>
              <a:endCxn id="75" idx="0"/>
            </p:cNvCxnSpPr>
            <p:nvPr/>
          </p:nvCxnSpPr>
          <p:spPr bwMode="gray">
            <a:xfrm flipH="1">
              <a:off x="4544958" y="3032974"/>
              <a:ext cx="440421" cy="31164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78" name="直接连接符 77"/>
            <p:cNvCxnSpPr>
              <a:stCxn id="75" idx="4"/>
              <a:endCxn id="80" idx="0"/>
            </p:cNvCxnSpPr>
            <p:nvPr/>
          </p:nvCxnSpPr>
          <p:spPr bwMode="gray">
            <a:xfrm>
              <a:off x="4544958" y="3596614"/>
              <a:ext cx="0" cy="170598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79" name="圆角矩形 78"/>
            <p:cNvSpPr/>
            <p:nvPr/>
          </p:nvSpPr>
          <p:spPr bwMode="gray">
            <a:xfrm>
              <a:off x="4260196" y="4090958"/>
              <a:ext cx="1292609" cy="295876"/>
            </a:xfrm>
            <a:prstGeom prst="roundRect">
              <a:avLst/>
            </a:prstGeom>
            <a:no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IPv6</a:t>
              </a:r>
              <a:r>
                <a:rPr lang="zh-CN" altLang="en-US" sz="1400" dirty="0">
                  <a:solidFill>
                    <a:schemeClr val="tx1"/>
                  </a:solidFill>
                </a:rPr>
                <a:t>逻辑拓扑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80" name="Oval 4"/>
            <p:cNvSpPr>
              <a:spLocks noChangeAspect="1"/>
            </p:cNvSpPr>
            <p:nvPr/>
          </p:nvSpPr>
          <p:spPr bwMode="gray">
            <a:xfrm>
              <a:off x="4418958" y="3767212"/>
              <a:ext cx="252000" cy="252000"/>
            </a:xfrm>
            <a:prstGeom prst="ellipse">
              <a:avLst/>
            </a:prstGeom>
            <a:solidFill>
              <a:srgbClr val="ECF9FA"/>
            </a:solidFill>
            <a:ln w="12700">
              <a:solidFill>
                <a:srgbClr val="94DAE2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sym typeface="Huawei Sans" panose="020C0503030203020204" pitchFamily="34" charset="0"/>
                </a:rPr>
                <a:t>4</a:t>
              </a:r>
              <a:endParaRPr lang="zh-CN" altLang="en-US" sz="1400" dirty="0">
                <a:solidFill>
                  <a:schemeClr val="tx1"/>
                </a:solidFill>
                <a:sym typeface="Huawei Sans" panose="020C0503030203020204" pitchFamily="34" charset="0"/>
              </a:endParaRPr>
            </a:p>
          </p:txBody>
        </p:sp>
        <p:sp>
          <p:nvSpPr>
            <p:cNvPr id="81" name="Oval 4"/>
            <p:cNvSpPr>
              <a:spLocks noChangeAspect="1"/>
            </p:cNvSpPr>
            <p:nvPr/>
          </p:nvSpPr>
          <p:spPr bwMode="gray">
            <a:xfrm>
              <a:off x="5107755" y="3767212"/>
              <a:ext cx="252000" cy="252000"/>
            </a:xfrm>
            <a:prstGeom prst="ellipse">
              <a:avLst/>
            </a:prstGeom>
            <a:solidFill>
              <a:srgbClr val="ECF9FA"/>
            </a:solidFill>
            <a:ln w="12700">
              <a:solidFill>
                <a:srgbClr val="94DAE2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sym typeface="Huawei Sans" panose="020C0503030203020204" pitchFamily="34" charset="0"/>
                </a:rPr>
                <a:t>5</a:t>
              </a:r>
              <a:endParaRPr lang="zh-CN" altLang="en-US" sz="1400" dirty="0">
                <a:solidFill>
                  <a:schemeClr val="tx1"/>
                </a:solidFill>
                <a:sym typeface="Huawei Sans" panose="020C0503030203020204" pitchFamily="34" charset="0"/>
              </a:endParaRPr>
            </a:p>
          </p:txBody>
        </p:sp>
        <p:cxnSp>
          <p:nvCxnSpPr>
            <p:cNvPr id="82" name="直接连接符 81"/>
            <p:cNvCxnSpPr>
              <a:endCxn id="84" idx="1"/>
            </p:cNvCxnSpPr>
            <p:nvPr/>
          </p:nvCxnSpPr>
          <p:spPr bwMode="gray">
            <a:xfrm flipH="1" flipV="1">
              <a:off x="4807189" y="3032974"/>
              <a:ext cx="426566" cy="31164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83" name="直接连接符 82"/>
            <p:cNvCxnSpPr>
              <a:stCxn id="80" idx="6"/>
              <a:endCxn id="81" idx="2"/>
            </p:cNvCxnSpPr>
            <p:nvPr/>
          </p:nvCxnSpPr>
          <p:spPr bwMode="gray">
            <a:xfrm>
              <a:off x="4670958" y="3893212"/>
              <a:ext cx="436797" cy="0"/>
            </a:xfrm>
            <a:prstGeom prst="line">
              <a:avLst/>
            </a:prstGeom>
            <a:noFill/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</p:cxnSp>
        <p:sp>
          <p:nvSpPr>
            <p:cNvPr id="84" name="椭圆 83"/>
            <p:cNvSpPr>
              <a:spLocks noChangeAspect="1"/>
            </p:cNvSpPr>
            <p:nvPr/>
          </p:nvSpPr>
          <p:spPr bwMode="gray">
            <a:xfrm>
              <a:off x="4770284" y="2996069"/>
              <a:ext cx="252000" cy="252000"/>
            </a:xfrm>
            <a:prstGeom prst="ellipse">
              <a:avLst/>
            </a:prstGeom>
            <a:solidFill>
              <a:srgbClr val="ECF9FA"/>
            </a:solidFill>
            <a:ln w="12700">
              <a:solidFill>
                <a:srgbClr val="94DAE2"/>
              </a:solidFill>
            </a:ln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sym typeface="Huawei Sans" panose="020C0503030203020204" pitchFamily="34" charset="0"/>
                </a:rPr>
                <a:t>1</a:t>
              </a:r>
              <a:endParaRPr lang="zh-CN" altLang="en-US" sz="1400" dirty="0">
                <a:solidFill>
                  <a:schemeClr val="tx1"/>
                </a:solidFill>
                <a:sym typeface="Huawei Sans" panose="020C0503030203020204" pitchFamily="34" charset="0"/>
              </a:endParaRPr>
            </a:p>
          </p:txBody>
        </p:sp>
      </p:grpSp>
      <p:sp>
        <p:nvSpPr>
          <p:cNvPr id="86" name="圆角矩形标注 85"/>
          <p:cNvSpPr/>
          <p:nvPr/>
        </p:nvSpPr>
        <p:spPr bwMode="gray">
          <a:xfrm>
            <a:off x="9874600" y="4602771"/>
            <a:ext cx="1774061" cy="835746"/>
          </a:xfrm>
          <a:prstGeom prst="wedgeRoundRectCallout">
            <a:avLst>
              <a:gd name="adj1" fmla="val -68947"/>
              <a:gd name="adj2" fmla="val -55221"/>
              <a:gd name="adj3" fmla="val 16667"/>
            </a:avLst>
          </a:prstGeom>
          <a:solidFill>
            <a:srgbClr val="FEF5DA"/>
          </a:solidFill>
          <a:ln w="19050">
            <a:solidFill>
              <a:srgbClr val="FDE397"/>
            </a:solidFill>
          </a:ln>
        </p:spPr>
        <p:txBody>
          <a:bodyPr wrap="square" lIns="54000" tIns="54000" rIns="54000" bIns="54000" rtlCol="0" anchor="ctr" anchorCtr="0">
            <a:spAutoFit/>
          </a:bodyPr>
          <a:lstStyle/>
          <a:p>
            <a:r>
              <a:rPr lang="en-US" altLang="zh-CN" sz="1400" dirty="0">
                <a:solidFill>
                  <a:schemeClr val="tx1"/>
                </a:solidFill>
              </a:rPr>
              <a:t>R3</a:t>
            </a:r>
            <a:r>
              <a:rPr lang="zh-CN" altLang="en-US" sz="1400" dirty="0">
                <a:solidFill>
                  <a:schemeClr val="tx1"/>
                </a:solidFill>
              </a:rPr>
              <a:t>不支持</a:t>
            </a:r>
            <a:r>
              <a:rPr lang="en-US" altLang="zh-CN" sz="1400" dirty="0">
                <a:solidFill>
                  <a:schemeClr val="tx1"/>
                </a:solidFill>
              </a:rPr>
              <a:t>IPv6</a:t>
            </a:r>
            <a:r>
              <a:rPr lang="zh-CN" altLang="en-US" sz="1400" dirty="0">
                <a:solidFill>
                  <a:schemeClr val="tx1"/>
                </a:solidFill>
              </a:rPr>
              <a:t>，因此不会出现在</a:t>
            </a:r>
            <a:r>
              <a:rPr lang="en-US" altLang="zh-CN" sz="1400" dirty="0">
                <a:solidFill>
                  <a:schemeClr val="tx1"/>
                </a:solidFill>
              </a:rPr>
              <a:t>IPv6</a:t>
            </a:r>
            <a:r>
              <a:rPr lang="zh-CN" altLang="en-US" sz="1400" dirty="0">
                <a:solidFill>
                  <a:schemeClr val="tx1"/>
                </a:solidFill>
              </a:rPr>
              <a:t>的最短路径树中</a:t>
            </a:r>
          </a:p>
        </p:txBody>
      </p:sp>
      <p:sp>
        <p:nvSpPr>
          <p:cNvPr id="31" name="圆角矩形 75"/>
          <p:cNvSpPr/>
          <p:nvPr/>
        </p:nvSpPr>
        <p:spPr bwMode="gray">
          <a:xfrm>
            <a:off x="7192233" y="5771490"/>
            <a:ext cx="3589718" cy="365809"/>
          </a:xfrm>
          <a:prstGeom prst="roundRect">
            <a:avLst>
              <a:gd name="adj" fmla="val 874"/>
            </a:avLst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36000" rIns="108000" bIns="36000" rtlCol="0" anchor="t" anchorCtr="0">
            <a:noAutofit/>
          </a:bodyPr>
          <a:lstStyle/>
          <a:p>
            <a:pPr algn="just" fontAlgn="auto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IPv4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IPv6</a:t>
            </a:r>
            <a:r>
              <a:rPr lang="zh-CN" altLang="en-US" sz="16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各自计算自己独立的拓扑。</a:t>
            </a:r>
          </a:p>
        </p:txBody>
      </p:sp>
    </p:spTree>
    <p:extLst>
      <p:ext uri="{BB962C8B-B14F-4D97-AF65-F5344CB8AC3E}">
        <p14:creationId xmlns:p14="http://schemas.microsoft.com/office/powerpoint/2010/main" val="27334486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IS-IS (IPv6)</a:t>
            </a:r>
            <a:r>
              <a:rPr lang="zh-CN" altLang="en-US" dirty="0"/>
              <a:t>的基础配置命令</a:t>
            </a:r>
          </a:p>
        </p:txBody>
      </p:sp>
      <p:sp>
        <p:nvSpPr>
          <p:cNvPr id="4" name="矩形 3"/>
          <p:cNvSpPr/>
          <p:nvPr/>
        </p:nvSpPr>
        <p:spPr>
          <a:xfrm>
            <a:off x="1031917" y="1797459"/>
            <a:ext cx="106086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cs typeface="Courier New" panose="02070309020205020404" pitchFamily="49" charset="0"/>
              </a:rPr>
              <a:t>[Huawei-isis-1] </a:t>
            </a:r>
            <a:r>
              <a:rPr lang="en-US" altLang="zh-CN" sz="1600" b="1" dirty="0"/>
              <a:t>ipv6 enable</a:t>
            </a:r>
            <a:r>
              <a:rPr lang="en-US" altLang="zh-CN" sz="1600" dirty="0"/>
              <a:t> [ </a:t>
            </a:r>
            <a:r>
              <a:rPr lang="en-US" altLang="zh-CN" sz="1600" b="1" dirty="0"/>
              <a:t>topology</a:t>
            </a:r>
            <a:r>
              <a:rPr lang="en-US" altLang="zh-CN" sz="1600" dirty="0"/>
              <a:t> { </a:t>
            </a:r>
            <a:r>
              <a:rPr lang="en-US" altLang="zh-CN" sz="1600" b="1" dirty="0"/>
              <a:t>ipv6</a:t>
            </a:r>
            <a:r>
              <a:rPr lang="en-US" altLang="zh-CN" sz="1600" dirty="0"/>
              <a:t> | </a:t>
            </a:r>
            <a:r>
              <a:rPr lang="en-US" altLang="zh-CN" sz="1600" b="1" dirty="0"/>
              <a:t>standard</a:t>
            </a:r>
            <a:r>
              <a:rPr lang="en-US" altLang="zh-CN" sz="1600" dirty="0"/>
              <a:t> } ]</a:t>
            </a:r>
            <a:endParaRPr lang="zh-CN" altLang="en-US" sz="1600" dirty="0">
              <a:cs typeface="Courier New" panose="020703090202050204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1384" y="1365312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/>
            </a:pPr>
            <a:r>
              <a:rPr lang="zh-CN" altLang="en-US" sz="1600" dirty="0">
                <a:cs typeface="Courier New" panose="02070309020205020404" pitchFamily="49" charset="0"/>
              </a:rPr>
              <a:t>使能</a:t>
            </a:r>
            <a:r>
              <a:rPr lang="en-US" altLang="zh-CN" sz="1600" dirty="0">
                <a:cs typeface="Courier New" panose="02070309020205020404" pitchFamily="49" charset="0"/>
              </a:rPr>
              <a:t>IS-IS</a:t>
            </a:r>
            <a:r>
              <a:rPr lang="zh-CN" altLang="en-US" sz="1600" dirty="0">
                <a:cs typeface="Courier New" panose="02070309020205020404" pitchFamily="49" charset="0"/>
              </a:rPr>
              <a:t>（</a:t>
            </a:r>
            <a:r>
              <a:rPr lang="en-US" altLang="zh-CN" sz="1600" dirty="0">
                <a:cs typeface="Courier New" panose="02070309020205020404" pitchFamily="49" charset="0"/>
              </a:rPr>
              <a:t>IPv6</a:t>
            </a:r>
            <a:r>
              <a:rPr lang="zh-CN" altLang="en-US" sz="1600" dirty="0">
                <a:cs typeface="Courier New" panose="02070309020205020404" pitchFamily="49" charset="0"/>
              </a:rPr>
              <a:t>）功能。</a:t>
            </a:r>
          </a:p>
        </p:txBody>
      </p:sp>
      <p:sp>
        <p:nvSpPr>
          <p:cNvPr id="6" name="矩形 5"/>
          <p:cNvSpPr/>
          <p:nvPr/>
        </p:nvSpPr>
        <p:spPr>
          <a:xfrm>
            <a:off x="1031917" y="2150094"/>
            <a:ext cx="10608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600" dirty="0">
                <a:cs typeface="Courier New" panose="02070309020205020404" pitchFamily="49" charset="0"/>
              </a:rPr>
              <a:t>在</a:t>
            </a:r>
            <a:r>
              <a:rPr lang="en-US" altLang="zh-CN" sz="1600" dirty="0">
                <a:cs typeface="Courier New" panose="02070309020205020404" pitchFamily="49" charset="0"/>
              </a:rPr>
              <a:t>IS-IS</a:t>
            </a:r>
            <a:r>
              <a:rPr lang="zh-CN" altLang="en-US" sz="1600" dirty="0">
                <a:cs typeface="Courier New" panose="02070309020205020404" pitchFamily="49" charset="0"/>
              </a:rPr>
              <a:t>进程下，使能该进程的</a:t>
            </a:r>
            <a:r>
              <a:rPr lang="en-US" altLang="zh-CN" sz="1600" dirty="0">
                <a:cs typeface="Courier New" panose="02070309020205020404" pitchFamily="49" charset="0"/>
              </a:rPr>
              <a:t>IPv6</a:t>
            </a:r>
            <a:r>
              <a:rPr lang="zh-CN" altLang="en-US" sz="1600" dirty="0">
                <a:cs typeface="Courier New" panose="02070309020205020404" pitchFamily="49" charset="0"/>
              </a:rPr>
              <a:t>能力。</a:t>
            </a:r>
          </a:p>
        </p:txBody>
      </p:sp>
      <p:sp>
        <p:nvSpPr>
          <p:cNvPr id="12" name="矩形 11"/>
          <p:cNvSpPr/>
          <p:nvPr/>
        </p:nvSpPr>
        <p:spPr>
          <a:xfrm>
            <a:off x="1031917" y="2720746"/>
            <a:ext cx="106086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cs typeface="Courier New" panose="02070309020205020404" pitchFamily="49" charset="0"/>
              </a:rPr>
              <a:t>[Huawei-GigabitEthernet0/0/1] </a:t>
            </a:r>
            <a:r>
              <a:rPr lang="en-US" altLang="zh-CN" sz="1600" b="1" dirty="0" err="1"/>
              <a:t>isis</a:t>
            </a:r>
            <a:r>
              <a:rPr lang="en-US" altLang="zh-CN" sz="1600" b="1" dirty="0"/>
              <a:t> ipv6 enable</a:t>
            </a:r>
            <a:r>
              <a:rPr lang="en-US" altLang="zh-CN" sz="1600" dirty="0"/>
              <a:t> [ </a:t>
            </a:r>
            <a:r>
              <a:rPr lang="en-US" altLang="zh-CN" sz="1600" i="1" dirty="0"/>
              <a:t>process-id</a:t>
            </a:r>
            <a:r>
              <a:rPr lang="en-US" altLang="zh-CN" sz="1600" dirty="0"/>
              <a:t> ]</a:t>
            </a:r>
            <a:endParaRPr lang="zh-CN" altLang="en-US" sz="1600" dirty="0"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31917" y="3073381"/>
            <a:ext cx="106086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600" dirty="0">
                <a:cs typeface="Courier New" panose="02070309020205020404" pitchFamily="49" charset="0"/>
              </a:rPr>
              <a:t>在接口上使能</a:t>
            </a:r>
            <a:r>
              <a:rPr lang="en-US" altLang="zh-CN" sz="1600" dirty="0">
                <a:cs typeface="Courier New" panose="02070309020205020404" pitchFamily="49" charset="0"/>
              </a:rPr>
              <a:t>IS-IS</a:t>
            </a:r>
            <a:r>
              <a:rPr lang="zh-CN" altLang="en-US" sz="1600" dirty="0">
                <a:cs typeface="Courier New" panose="02070309020205020404" pitchFamily="49" charset="0"/>
              </a:rPr>
              <a:t>的</a:t>
            </a:r>
            <a:r>
              <a:rPr lang="en-US" altLang="zh-CN" sz="1600" dirty="0">
                <a:cs typeface="Courier New" panose="02070309020205020404" pitchFamily="49" charset="0"/>
              </a:rPr>
              <a:t>IPv6</a:t>
            </a:r>
            <a:r>
              <a:rPr lang="zh-CN" altLang="en-US" sz="1600" dirty="0">
                <a:cs typeface="Courier New" panose="02070309020205020404" pitchFamily="49" charset="0"/>
              </a:rPr>
              <a:t>功能并指定要关联的</a:t>
            </a:r>
            <a:r>
              <a:rPr lang="en-US" altLang="zh-CN" sz="1600" dirty="0">
                <a:cs typeface="Courier New" panose="02070309020205020404" pitchFamily="49" charset="0"/>
              </a:rPr>
              <a:t>IS-IS</a:t>
            </a:r>
            <a:r>
              <a:rPr lang="zh-CN" altLang="en-US" sz="1600" dirty="0">
                <a:cs typeface="Courier New" panose="02070309020205020404" pitchFamily="49" charset="0"/>
              </a:rPr>
              <a:t>进程号。</a:t>
            </a:r>
            <a:endParaRPr lang="en-US" altLang="zh-CN" sz="1600" dirty="0">
              <a:cs typeface="Courier New" panose="02070309020205020404" pitchFamily="49" charset="0"/>
            </a:endParaRPr>
          </a:p>
          <a:p>
            <a:pPr fontAlgn="auto">
              <a:lnSpc>
                <a:spcPts val="2400"/>
              </a:lnSpc>
            </a:pPr>
            <a:r>
              <a:rPr lang="zh-CN" altLang="en-US" sz="1600" dirty="0">
                <a:cs typeface="Courier New" panose="02070309020205020404" pitchFamily="49" charset="0"/>
              </a:rPr>
              <a:t>注意：配置此命令前，必须先使能接口的</a:t>
            </a:r>
            <a:r>
              <a:rPr lang="en-US" altLang="zh-CN" sz="1600" dirty="0">
                <a:cs typeface="Courier New" panose="02070309020205020404" pitchFamily="49" charset="0"/>
              </a:rPr>
              <a:t>IPv6</a:t>
            </a:r>
            <a:r>
              <a:rPr lang="zh-CN" altLang="en-US" sz="1600" dirty="0">
                <a:cs typeface="Courier New" panose="02070309020205020404" pitchFamily="49" charset="0"/>
              </a:rPr>
              <a:t>功能。</a:t>
            </a:r>
          </a:p>
        </p:txBody>
      </p:sp>
      <p:sp>
        <p:nvSpPr>
          <p:cNvPr id="14" name="矩形 13"/>
          <p:cNvSpPr/>
          <p:nvPr/>
        </p:nvSpPr>
        <p:spPr>
          <a:xfrm>
            <a:off x="1031917" y="4776186"/>
            <a:ext cx="106086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cs typeface="Courier New" panose="02070309020205020404" pitchFamily="49" charset="0"/>
              </a:rPr>
              <a:t>[Huawei-GigabitEthernet0/0/1] </a:t>
            </a:r>
            <a:r>
              <a:rPr lang="en-US" altLang="zh-CN" sz="1600" b="1" dirty="0" err="1"/>
              <a:t>isis</a:t>
            </a:r>
            <a:r>
              <a:rPr lang="en-US" altLang="zh-CN" sz="1600" b="1" dirty="0"/>
              <a:t> ipv6</a:t>
            </a:r>
            <a:r>
              <a:rPr lang="en-US" altLang="zh-CN" sz="1600" dirty="0"/>
              <a:t> </a:t>
            </a:r>
            <a:r>
              <a:rPr lang="en-US" altLang="zh-CN" sz="1600" b="1" dirty="0"/>
              <a:t>cost</a:t>
            </a:r>
            <a:r>
              <a:rPr lang="en-US" altLang="zh-CN" sz="1600" dirty="0"/>
              <a:t> { </a:t>
            </a:r>
            <a:r>
              <a:rPr lang="en-US" altLang="zh-CN" sz="1600" i="1" dirty="0"/>
              <a:t>cost</a:t>
            </a:r>
            <a:r>
              <a:rPr lang="en-US" altLang="zh-CN" sz="1600" dirty="0"/>
              <a:t> | </a:t>
            </a:r>
            <a:r>
              <a:rPr lang="en-US" altLang="zh-CN" sz="1600" b="1" dirty="0"/>
              <a:t>maximum</a:t>
            </a:r>
            <a:r>
              <a:rPr lang="en-US" altLang="zh-CN" sz="1600" dirty="0"/>
              <a:t> } [ </a:t>
            </a:r>
            <a:r>
              <a:rPr lang="en-US" altLang="zh-CN" sz="1600" b="1" dirty="0"/>
              <a:t>level-1</a:t>
            </a:r>
            <a:r>
              <a:rPr lang="en-US" altLang="zh-CN" sz="1600" dirty="0"/>
              <a:t> | </a:t>
            </a:r>
            <a:r>
              <a:rPr lang="en-US" altLang="zh-CN" sz="1600" b="1" dirty="0"/>
              <a:t>level-2</a:t>
            </a:r>
            <a:r>
              <a:rPr lang="en-US" altLang="zh-CN" sz="1600" dirty="0"/>
              <a:t> ]</a:t>
            </a:r>
            <a:endParaRPr lang="zh-CN" altLang="en-US" sz="1600" dirty="0">
              <a:cs typeface="Courier New" panose="020703090202050204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51384" y="4344039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2"/>
            </a:pPr>
            <a:r>
              <a:rPr lang="zh-CN" altLang="en-US" sz="1600" dirty="0">
                <a:cs typeface="Courier New" panose="02070309020205020404" pitchFamily="49" charset="0"/>
              </a:rPr>
              <a:t>配置</a:t>
            </a:r>
            <a:r>
              <a:rPr lang="en-US" altLang="zh-CN" sz="1600" dirty="0">
                <a:cs typeface="Courier New" panose="02070309020205020404" pitchFamily="49" charset="0"/>
              </a:rPr>
              <a:t>IS-IS</a:t>
            </a:r>
            <a:r>
              <a:rPr lang="zh-CN" altLang="en-US" sz="1600" dirty="0">
                <a:cs typeface="Courier New" panose="02070309020205020404" pitchFamily="49" charset="0"/>
              </a:rPr>
              <a:t>接口在</a:t>
            </a:r>
            <a:r>
              <a:rPr lang="en-US" altLang="zh-CN" sz="1600" dirty="0">
                <a:cs typeface="Courier New" panose="02070309020205020404" pitchFamily="49" charset="0"/>
              </a:rPr>
              <a:t>IPv6</a:t>
            </a:r>
            <a:r>
              <a:rPr lang="zh-CN" altLang="en-US" sz="1600" dirty="0">
                <a:cs typeface="Courier New" panose="02070309020205020404" pitchFamily="49" charset="0"/>
              </a:rPr>
              <a:t>网络中的开销。</a:t>
            </a:r>
          </a:p>
        </p:txBody>
      </p:sp>
      <p:sp>
        <p:nvSpPr>
          <p:cNvPr id="16" name="矩形 15"/>
          <p:cNvSpPr/>
          <p:nvPr/>
        </p:nvSpPr>
        <p:spPr>
          <a:xfrm>
            <a:off x="1031917" y="5128821"/>
            <a:ext cx="10608699" cy="377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600" dirty="0">
                <a:cs typeface="Courier New" panose="02070309020205020404" pitchFamily="49" charset="0"/>
              </a:rPr>
              <a:t>缺省情况下，</a:t>
            </a:r>
            <a:r>
              <a:rPr lang="en-US" altLang="zh-CN" sz="1600" dirty="0">
                <a:cs typeface="Courier New" panose="02070309020205020404" pitchFamily="49" charset="0"/>
              </a:rPr>
              <a:t>IPv6</a:t>
            </a:r>
            <a:r>
              <a:rPr lang="zh-CN" altLang="en-US" sz="1600" dirty="0">
                <a:cs typeface="Courier New" panose="02070309020205020404" pitchFamily="49" charset="0"/>
              </a:rPr>
              <a:t>拓扑中</a:t>
            </a:r>
            <a:r>
              <a:rPr lang="en-US" altLang="zh-CN" sz="1600" dirty="0">
                <a:cs typeface="Courier New" panose="02070309020205020404" pitchFamily="49" charset="0"/>
              </a:rPr>
              <a:t>IS-IS</a:t>
            </a:r>
            <a:r>
              <a:rPr lang="zh-CN" altLang="en-US" sz="1600" dirty="0">
                <a:cs typeface="Courier New" panose="02070309020205020404" pitchFamily="49" charset="0"/>
              </a:rPr>
              <a:t>接口的链路开销值为</a:t>
            </a:r>
            <a:r>
              <a:rPr lang="en-US" altLang="zh-CN" sz="1600" dirty="0">
                <a:cs typeface="Courier New" panose="02070309020205020404" pitchFamily="49" charset="0"/>
              </a:rPr>
              <a:t>10</a:t>
            </a:r>
            <a:r>
              <a:rPr lang="zh-CN" altLang="en-US" sz="1600" dirty="0">
                <a:cs typeface="Courier New" panose="02070309020205020404" pitchFamily="49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927451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检查</a:t>
            </a:r>
            <a:r>
              <a:rPr lang="en-US" altLang="zh-CN" dirty="0"/>
              <a:t>IS-IS (IPv6)</a:t>
            </a:r>
            <a:r>
              <a:rPr lang="zh-CN" altLang="en-US" dirty="0"/>
              <a:t>基本功能的配置结果</a:t>
            </a:r>
          </a:p>
        </p:txBody>
      </p:sp>
      <p:sp>
        <p:nvSpPr>
          <p:cNvPr id="4" name="矩形 3"/>
          <p:cNvSpPr/>
          <p:nvPr/>
        </p:nvSpPr>
        <p:spPr>
          <a:xfrm>
            <a:off x="1031917" y="1797459"/>
            <a:ext cx="106086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cs typeface="Courier New" panose="02070309020205020404" pitchFamily="49" charset="0"/>
              </a:rPr>
              <a:t>[Huawei] </a:t>
            </a:r>
            <a:r>
              <a:rPr lang="en-US" altLang="zh-CN" sz="1600" b="1" dirty="0"/>
              <a:t>display </a:t>
            </a:r>
            <a:r>
              <a:rPr lang="en-US" altLang="zh-CN" sz="1600" b="1" dirty="0" err="1"/>
              <a:t>isis</a:t>
            </a:r>
            <a:r>
              <a:rPr lang="en-US" altLang="zh-CN" sz="1600" b="1" dirty="0"/>
              <a:t> interface</a:t>
            </a:r>
            <a:r>
              <a:rPr lang="en-US" altLang="zh-CN" sz="1600" dirty="0"/>
              <a:t> </a:t>
            </a:r>
            <a:r>
              <a:rPr lang="en-US" altLang="zh-CN" sz="1600" i="1" dirty="0"/>
              <a:t>interface-type interface-number</a:t>
            </a:r>
            <a:r>
              <a:rPr lang="en-US" altLang="zh-CN" sz="1600" dirty="0"/>
              <a:t> [ </a:t>
            </a:r>
            <a:r>
              <a:rPr lang="en-US" altLang="zh-CN" sz="1600" b="1" dirty="0"/>
              <a:t>verbose</a:t>
            </a:r>
            <a:r>
              <a:rPr lang="en-US" altLang="zh-CN" sz="1600" dirty="0"/>
              <a:t> ]</a:t>
            </a:r>
            <a:endParaRPr lang="zh-CN" altLang="en-US" sz="1600" dirty="0">
              <a:cs typeface="Courier New" panose="020703090202050204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1384" y="1365312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/>
            </a:pPr>
            <a:r>
              <a:rPr lang="zh-CN" altLang="en-US" sz="1600" dirty="0">
                <a:cs typeface="Courier New" panose="02070309020205020404" pitchFamily="49" charset="0"/>
              </a:rPr>
              <a:t>查看使能了</a:t>
            </a:r>
            <a:r>
              <a:rPr lang="en-US" altLang="zh-CN" sz="1600" dirty="0">
                <a:cs typeface="Courier New" panose="02070309020205020404" pitchFamily="49" charset="0"/>
              </a:rPr>
              <a:t>IS-IS</a:t>
            </a:r>
            <a:r>
              <a:rPr lang="zh-CN" altLang="en-US" sz="1600" dirty="0">
                <a:cs typeface="Courier New" panose="02070309020205020404" pitchFamily="49" charset="0"/>
              </a:rPr>
              <a:t>（</a:t>
            </a:r>
            <a:r>
              <a:rPr lang="en-US" altLang="zh-CN" sz="1600" dirty="0">
                <a:cs typeface="Courier New" panose="02070309020205020404" pitchFamily="49" charset="0"/>
              </a:rPr>
              <a:t>IPv6</a:t>
            </a:r>
            <a:r>
              <a:rPr lang="zh-CN" altLang="en-US" sz="1600" dirty="0">
                <a:cs typeface="Courier New" panose="02070309020205020404" pitchFamily="49" charset="0"/>
              </a:rPr>
              <a:t>）的接口信息。</a:t>
            </a:r>
          </a:p>
        </p:txBody>
      </p:sp>
      <p:sp>
        <p:nvSpPr>
          <p:cNvPr id="9" name="矩形 8"/>
          <p:cNvSpPr/>
          <p:nvPr/>
        </p:nvSpPr>
        <p:spPr>
          <a:xfrm>
            <a:off x="1031917" y="2773966"/>
            <a:ext cx="106086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cs typeface="Courier New" panose="02070309020205020404" pitchFamily="49" charset="0"/>
              </a:rPr>
              <a:t>[Huawei] </a:t>
            </a:r>
            <a:r>
              <a:rPr lang="en-US" altLang="zh-CN" sz="1600" b="1" dirty="0"/>
              <a:t>display </a:t>
            </a:r>
            <a:r>
              <a:rPr lang="en-US" altLang="zh-CN" sz="1600" b="1" dirty="0" err="1"/>
              <a:t>isis</a:t>
            </a:r>
            <a:r>
              <a:rPr lang="en-US" altLang="zh-CN" sz="1600" dirty="0"/>
              <a:t> </a:t>
            </a:r>
            <a:r>
              <a:rPr lang="en-US" altLang="zh-CN" sz="1600" i="1" dirty="0"/>
              <a:t>process-id</a:t>
            </a:r>
            <a:r>
              <a:rPr lang="en-US" altLang="zh-CN" sz="1600" dirty="0"/>
              <a:t> </a:t>
            </a:r>
            <a:r>
              <a:rPr lang="en-US" altLang="zh-CN" sz="1600" b="1" dirty="0"/>
              <a:t>peer</a:t>
            </a:r>
            <a:r>
              <a:rPr lang="en-US" altLang="zh-CN" sz="1600" dirty="0"/>
              <a:t> [ </a:t>
            </a:r>
            <a:r>
              <a:rPr lang="en-US" altLang="zh-CN" sz="1600" b="1" dirty="0"/>
              <a:t>verbose</a:t>
            </a:r>
            <a:r>
              <a:rPr lang="en-US" altLang="zh-CN" sz="1600" dirty="0"/>
              <a:t> ]</a:t>
            </a:r>
            <a:endParaRPr lang="zh-CN" altLang="en-US" sz="1600" dirty="0"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51384" y="2341819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2"/>
            </a:pPr>
            <a:r>
              <a:rPr lang="zh-CN" altLang="en-US" sz="1600" dirty="0">
                <a:cs typeface="Courier New" panose="02070309020205020404" pitchFamily="49" charset="0"/>
              </a:rPr>
              <a:t>查看</a:t>
            </a:r>
            <a:r>
              <a:rPr lang="en-US" altLang="zh-CN" sz="1600" dirty="0">
                <a:cs typeface="Courier New" panose="02070309020205020404" pitchFamily="49" charset="0"/>
              </a:rPr>
              <a:t>IS-IS</a:t>
            </a:r>
            <a:r>
              <a:rPr lang="zh-CN" altLang="en-US" sz="1600" dirty="0">
                <a:cs typeface="Courier New" panose="02070309020205020404" pitchFamily="49" charset="0"/>
              </a:rPr>
              <a:t>（</a:t>
            </a:r>
            <a:r>
              <a:rPr lang="en-US" altLang="zh-CN" sz="1600" dirty="0">
                <a:cs typeface="Courier New" panose="02070309020205020404" pitchFamily="49" charset="0"/>
              </a:rPr>
              <a:t>IPv6</a:t>
            </a:r>
            <a:r>
              <a:rPr lang="zh-CN" altLang="en-US" sz="1600" dirty="0">
                <a:cs typeface="Courier New" panose="02070309020205020404" pitchFamily="49" charset="0"/>
              </a:rPr>
              <a:t>）的邻居信息。</a:t>
            </a:r>
          </a:p>
        </p:txBody>
      </p:sp>
      <p:sp>
        <p:nvSpPr>
          <p:cNvPr id="12" name="矩形 11"/>
          <p:cNvSpPr/>
          <p:nvPr/>
        </p:nvSpPr>
        <p:spPr>
          <a:xfrm>
            <a:off x="1031917" y="3813056"/>
            <a:ext cx="10608699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cs typeface="Courier New" panose="02070309020205020404" pitchFamily="49" charset="0"/>
              </a:rPr>
              <a:t>[Huawei] </a:t>
            </a:r>
            <a:r>
              <a:rPr lang="en-US" altLang="zh-CN" sz="1600" b="1" dirty="0"/>
              <a:t>display </a:t>
            </a:r>
            <a:r>
              <a:rPr lang="en-US" altLang="zh-CN" sz="1600" b="1" dirty="0" err="1"/>
              <a:t>isis</a:t>
            </a:r>
            <a:r>
              <a:rPr lang="en-US" altLang="zh-CN" sz="1600" b="1" dirty="0"/>
              <a:t> route</a:t>
            </a:r>
            <a:r>
              <a:rPr lang="en-US" altLang="zh-CN" sz="1600" dirty="0"/>
              <a:t> [ </a:t>
            </a:r>
            <a:r>
              <a:rPr lang="en-US" altLang="zh-CN" sz="1600" i="1" dirty="0"/>
              <a:t>process-id</a:t>
            </a:r>
            <a:r>
              <a:rPr lang="en-US" altLang="zh-CN" sz="1600" dirty="0"/>
              <a:t> | </a:t>
            </a:r>
            <a:r>
              <a:rPr lang="en-US" altLang="zh-CN" sz="1600" b="1" dirty="0" err="1"/>
              <a:t>vpn</a:t>
            </a:r>
            <a:r>
              <a:rPr lang="en-US" altLang="zh-CN" sz="1600" b="1" dirty="0"/>
              <a:t>-instance</a:t>
            </a:r>
            <a:r>
              <a:rPr lang="en-US" altLang="zh-CN" sz="1600" dirty="0"/>
              <a:t> </a:t>
            </a:r>
            <a:r>
              <a:rPr lang="en-US" altLang="zh-CN" sz="1600" i="1" dirty="0" err="1"/>
              <a:t>vpn</a:t>
            </a:r>
            <a:r>
              <a:rPr lang="en-US" altLang="zh-CN" sz="1600" i="1" dirty="0"/>
              <a:t>-instance-name</a:t>
            </a:r>
            <a:r>
              <a:rPr lang="en-US" altLang="zh-CN" sz="1600" dirty="0"/>
              <a:t> ] </a:t>
            </a:r>
            <a:r>
              <a:rPr lang="en-US" altLang="zh-CN" sz="1600" b="1" dirty="0"/>
              <a:t>ipv6</a:t>
            </a:r>
            <a:r>
              <a:rPr lang="en-US" altLang="zh-CN" sz="1600" dirty="0"/>
              <a:t> [ </a:t>
            </a:r>
            <a:r>
              <a:rPr lang="en-US" altLang="zh-CN" sz="1600" b="1" dirty="0"/>
              <a:t>verbose</a:t>
            </a:r>
            <a:r>
              <a:rPr lang="en-US" altLang="zh-CN" sz="1600" dirty="0"/>
              <a:t> | [ </a:t>
            </a:r>
            <a:r>
              <a:rPr lang="en-US" altLang="zh-CN" sz="1600" b="1" dirty="0"/>
              <a:t>level-1</a:t>
            </a:r>
            <a:r>
              <a:rPr lang="en-US" altLang="zh-CN" sz="1600" dirty="0"/>
              <a:t> | </a:t>
            </a:r>
            <a:r>
              <a:rPr lang="en-US" altLang="zh-CN" sz="1600" b="1" dirty="0"/>
              <a:t>level-2</a:t>
            </a:r>
            <a:r>
              <a:rPr lang="en-US" altLang="zh-CN" sz="1600" dirty="0"/>
              <a:t> ] | </a:t>
            </a:r>
            <a:r>
              <a:rPr lang="en-US" altLang="zh-CN" sz="1600" i="1" dirty="0"/>
              <a:t>ipv6-address</a:t>
            </a:r>
            <a:r>
              <a:rPr lang="en-US" altLang="zh-CN" sz="1600" dirty="0"/>
              <a:t> [ </a:t>
            </a:r>
            <a:r>
              <a:rPr lang="en-US" altLang="zh-CN" sz="1600" i="1" dirty="0"/>
              <a:t>prefix-length </a:t>
            </a:r>
            <a:r>
              <a:rPr lang="en-US" altLang="zh-CN" sz="1600" dirty="0"/>
              <a:t>] ]</a:t>
            </a:r>
            <a:endParaRPr lang="zh-CN" altLang="en-US" sz="1600" dirty="0">
              <a:cs typeface="Courier New" panose="020703090202050204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51384" y="3380909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3"/>
            </a:pPr>
            <a:r>
              <a:rPr lang="zh-CN" altLang="en-US" sz="1600" dirty="0">
                <a:cs typeface="Courier New" panose="02070309020205020404" pitchFamily="49" charset="0"/>
              </a:rPr>
              <a:t>查看</a:t>
            </a:r>
            <a:r>
              <a:rPr lang="en-US" altLang="zh-CN" sz="1600" dirty="0">
                <a:cs typeface="Courier New" panose="02070309020205020404" pitchFamily="49" charset="0"/>
              </a:rPr>
              <a:t>IS-IS</a:t>
            </a:r>
            <a:r>
              <a:rPr lang="zh-CN" altLang="en-US" sz="1600" dirty="0">
                <a:cs typeface="Courier New" panose="02070309020205020404" pitchFamily="49" charset="0"/>
              </a:rPr>
              <a:t>（</a:t>
            </a:r>
            <a:r>
              <a:rPr lang="en-US" altLang="zh-CN" sz="1600" dirty="0">
                <a:cs typeface="Courier New" panose="02070309020205020404" pitchFamily="49" charset="0"/>
              </a:rPr>
              <a:t>IPv6</a:t>
            </a:r>
            <a:r>
              <a:rPr lang="zh-CN" altLang="en-US" sz="1600" dirty="0">
                <a:cs typeface="Courier New" panose="02070309020205020404" pitchFamily="49" charset="0"/>
              </a:rPr>
              <a:t>）的路由信息。</a:t>
            </a:r>
          </a:p>
        </p:txBody>
      </p:sp>
    </p:spTree>
    <p:extLst>
      <p:ext uri="{BB962C8B-B14F-4D97-AF65-F5344CB8AC3E}">
        <p14:creationId xmlns:p14="http://schemas.microsoft.com/office/powerpoint/2010/main" val="15007644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IS-IS</a:t>
            </a:r>
            <a:r>
              <a:rPr lang="zh-CN" altLang="en-US"/>
              <a:t>双栈配置举例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6088923" y="1047750"/>
            <a:ext cx="5660164" cy="4879805"/>
          </a:xfrm>
        </p:spPr>
        <p:txBody>
          <a:bodyPr/>
          <a:lstStyle/>
          <a:p>
            <a:r>
              <a:rPr lang="zh-CN" altLang="en-US" sz="1800" dirty="0"/>
              <a:t>场景描述：</a:t>
            </a:r>
            <a:endParaRPr lang="en-US" altLang="zh-CN" sz="1800" dirty="0"/>
          </a:p>
          <a:p>
            <a:pPr lvl="1"/>
            <a:r>
              <a:rPr lang="zh-CN" altLang="en-US" sz="1600" dirty="0"/>
              <a:t>某公司通过部署</a:t>
            </a:r>
            <a:r>
              <a:rPr lang="en-US" altLang="zh-CN" sz="1600" dirty="0"/>
              <a:t>IS-IS</a:t>
            </a:r>
            <a:r>
              <a:rPr lang="zh-CN" altLang="en-US" sz="1600" dirty="0"/>
              <a:t>实现</a:t>
            </a:r>
            <a:r>
              <a:rPr lang="en-US" altLang="zh-CN" sz="1600" dirty="0"/>
              <a:t>IPv4</a:t>
            </a:r>
            <a:r>
              <a:rPr lang="zh-CN" altLang="en-US" sz="1600" dirty="0"/>
              <a:t>网络的互联互通。该公司为了保证未来的业务发展，同时部署了</a:t>
            </a:r>
            <a:r>
              <a:rPr lang="en-US" altLang="zh-CN" sz="1600" dirty="0"/>
              <a:t>IPv6</a:t>
            </a:r>
            <a:r>
              <a:rPr lang="zh-CN" altLang="en-US" sz="1600" dirty="0"/>
              <a:t>网络进行业务测试，因此需要在该网络的</a:t>
            </a:r>
            <a:r>
              <a:rPr lang="en-US" altLang="zh-CN" sz="1600" dirty="0"/>
              <a:t>IS-IS</a:t>
            </a:r>
            <a:r>
              <a:rPr lang="zh-CN" altLang="en-US" sz="1600" dirty="0"/>
              <a:t>中使能</a:t>
            </a:r>
            <a:r>
              <a:rPr lang="en-US" altLang="zh-CN" sz="1600" dirty="0"/>
              <a:t>IPv6</a:t>
            </a:r>
            <a:r>
              <a:rPr lang="zh-CN" altLang="en-US" sz="1600" dirty="0"/>
              <a:t>功能。</a:t>
            </a:r>
            <a:endParaRPr lang="en-US" altLang="zh-CN" sz="1600" dirty="0"/>
          </a:p>
          <a:p>
            <a:pPr lvl="1"/>
            <a:r>
              <a:rPr lang="zh-CN" altLang="en-US" sz="1600" dirty="0"/>
              <a:t>由于设备性能不同，要求通过修改开销值，让</a:t>
            </a:r>
            <a:r>
              <a:rPr lang="en-US" altLang="zh-CN" sz="1600" dirty="0"/>
              <a:t>IPv4</a:t>
            </a:r>
            <a:r>
              <a:rPr lang="zh-CN" altLang="en-US" sz="1600" dirty="0"/>
              <a:t>和</a:t>
            </a:r>
            <a:r>
              <a:rPr lang="en-US" altLang="zh-CN" sz="1600" dirty="0"/>
              <a:t>IPv6</a:t>
            </a:r>
            <a:r>
              <a:rPr lang="zh-CN" altLang="en-US" sz="1600" dirty="0"/>
              <a:t>业务优选不同的路径，且</a:t>
            </a:r>
            <a:r>
              <a:rPr lang="en-US" altLang="zh-CN" sz="1600" dirty="0"/>
              <a:t>IPv6</a:t>
            </a:r>
            <a:r>
              <a:rPr lang="zh-CN" altLang="en-US" sz="1600" dirty="0"/>
              <a:t>网络单独计算拓扑。</a:t>
            </a:r>
            <a:endParaRPr lang="en-US" altLang="zh-CN" sz="1600" dirty="0"/>
          </a:p>
          <a:p>
            <a:pPr lvl="1"/>
            <a:r>
              <a:rPr lang="zh-CN" altLang="en-US" sz="1600" dirty="0"/>
              <a:t>所有路由器运行</a:t>
            </a:r>
            <a:r>
              <a:rPr lang="en-US" altLang="zh-CN" sz="1600" dirty="0"/>
              <a:t>IS-IS</a:t>
            </a:r>
            <a:r>
              <a:rPr lang="zh-CN" altLang="en-US" sz="1600" dirty="0"/>
              <a:t>协议，整个网络都处于区域</a:t>
            </a:r>
            <a:r>
              <a:rPr lang="en-US" altLang="zh-CN" sz="1600" dirty="0"/>
              <a:t>49.0001</a:t>
            </a:r>
            <a:r>
              <a:rPr lang="zh-CN" altLang="en-US" sz="1600" dirty="0"/>
              <a:t>中，且所有路由器均为</a:t>
            </a:r>
            <a:r>
              <a:rPr lang="en-US" altLang="zh-CN" sz="1600" dirty="0"/>
              <a:t>Level-2</a:t>
            </a:r>
            <a:r>
              <a:rPr lang="zh-CN" altLang="en-US" sz="1600" dirty="0"/>
              <a:t>路由器。配置完成后，每台路由器都应学到</a:t>
            </a:r>
            <a:r>
              <a:rPr lang="en-US" altLang="zh-CN" sz="1600" dirty="0"/>
              <a:t>AS</a:t>
            </a:r>
            <a:r>
              <a:rPr lang="zh-CN" altLang="en-US" sz="1600" dirty="0"/>
              <a:t>内的所有网段的</a:t>
            </a:r>
            <a:r>
              <a:rPr lang="en-US" altLang="zh-CN" sz="1600" dirty="0"/>
              <a:t>IPv4</a:t>
            </a:r>
            <a:r>
              <a:rPr lang="zh-CN" altLang="en-US" sz="1600" dirty="0"/>
              <a:t>路由和</a:t>
            </a:r>
            <a:r>
              <a:rPr lang="en-US" altLang="zh-CN" sz="1600" dirty="0"/>
              <a:t>IPv6</a:t>
            </a:r>
            <a:r>
              <a:rPr lang="zh-CN" altLang="en-US" sz="1600" dirty="0"/>
              <a:t>路由。</a:t>
            </a:r>
            <a:endParaRPr lang="en-US" altLang="zh-CN" sz="1600" dirty="0"/>
          </a:p>
          <a:p>
            <a:pPr lvl="1"/>
            <a:endParaRPr lang="zh-CN" altLang="en-US" sz="1600" dirty="0"/>
          </a:p>
          <a:p>
            <a:endParaRPr lang="zh-CN" altLang="en-US" sz="1800" dirty="0"/>
          </a:p>
        </p:txBody>
      </p:sp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354140"/>
              </p:ext>
            </p:extLst>
          </p:nvPr>
        </p:nvGraphicFramePr>
        <p:xfrm>
          <a:off x="685543" y="3411379"/>
          <a:ext cx="4961442" cy="2743200"/>
        </p:xfrm>
        <a:graphic>
          <a:graphicData uri="http://schemas.openxmlformats.org/drawingml/2006/table">
            <a:tbl>
              <a:tblPr firstRow="1" bandRow="1"/>
              <a:tblGrid>
                <a:gridCol w="613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9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01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设备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接口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IPv4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IPv6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10.1.12.1/24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2001:DB8:2345:12::1/64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10.1.13.1/24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2001:DB8:2345:13::1/64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10.1.12.2/24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2001:DB8:2345:12::2/64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10.1.24.2/24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2001:DB8:2345:24::2/64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10.1.34.3/24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2001:DB8:2345:34::3/64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10.1.13.3/24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2001:DB8:2345:13::3/64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10.1.34.4/24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2001:DB8:2345:34::4/64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10.1.24.4/24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2001:DB8:2345:24::4/64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4" name="圆角矩形 53"/>
          <p:cNvSpPr/>
          <p:nvPr/>
        </p:nvSpPr>
        <p:spPr bwMode="gray">
          <a:xfrm>
            <a:off x="685543" y="1063748"/>
            <a:ext cx="4606892" cy="2306065"/>
          </a:xfrm>
          <a:prstGeom prst="roundRect">
            <a:avLst>
              <a:gd name="adj" fmla="val 3573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pic>
        <p:nvPicPr>
          <p:cNvPr id="55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015946" y="1305256"/>
            <a:ext cx="541201" cy="442800"/>
          </a:xfrm>
          <a:prstGeom prst="rect">
            <a:avLst/>
          </a:prstGeom>
          <a:noFill/>
        </p:spPr>
      </p:pic>
      <p:pic>
        <p:nvPicPr>
          <p:cNvPr id="56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17134" y="1305256"/>
            <a:ext cx="541201" cy="442800"/>
          </a:xfrm>
          <a:prstGeom prst="rect">
            <a:avLst/>
          </a:prstGeom>
          <a:noFill/>
        </p:spPr>
      </p:pic>
      <p:cxnSp>
        <p:nvCxnSpPr>
          <p:cNvPr id="57" name="直接连接符 56"/>
          <p:cNvCxnSpPr>
            <a:stCxn id="55" idx="3"/>
            <a:endCxn id="56" idx="1"/>
          </p:cNvCxnSpPr>
          <p:nvPr/>
        </p:nvCxnSpPr>
        <p:spPr bwMode="gray">
          <a:xfrm>
            <a:off x="2557147" y="1526656"/>
            <a:ext cx="13599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312"/>
          <p:cNvSpPr>
            <a:spLocks noChangeArrowheads="1"/>
          </p:cNvSpPr>
          <p:nvPr/>
        </p:nvSpPr>
        <p:spPr bwMode="gray">
          <a:xfrm>
            <a:off x="1989170" y="1063749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R1</a:t>
            </a:r>
          </a:p>
        </p:txBody>
      </p:sp>
      <p:sp>
        <p:nvSpPr>
          <p:cNvPr id="59" name="Rectangle 312"/>
          <p:cNvSpPr>
            <a:spLocks noChangeArrowheads="1"/>
          </p:cNvSpPr>
          <p:nvPr/>
        </p:nvSpPr>
        <p:spPr bwMode="gray">
          <a:xfrm>
            <a:off x="2806705" y="1284067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  <p:sp>
        <p:nvSpPr>
          <p:cNvPr id="60" name="Rectangle 312"/>
          <p:cNvSpPr>
            <a:spLocks noChangeArrowheads="1"/>
          </p:cNvSpPr>
          <p:nvPr/>
        </p:nvSpPr>
        <p:spPr bwMode="gray">
          <a:xfrm rot="16200000">
            <a:off x="1731335" y="2095375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GE0/0/2</a:t>
            </a:r>
          </a:p>
        </p:txBody>
      </p:sp>
      <p:sp>
        <p:nvSpPr>
          <p:cNvPr id="61" name="Rectangle 312"/>
          <p:cNvSpPr>
            <a:spLocks noChangeArrowheads="1"/>
          </p:cNvSpPr>
          <p:nvPr/>
        </p:nvSpPr>
        <p:spPr bwMode="gray">
          <a:xfrm>
            <a:off x="711344" y="1294974"/>
            <a:ext cx="1304602" cy="421129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IS-IS</a:t>
            </a:r>
          </a:p>
          <a:p>
            <a:pPr algn="ctr"/>
            <a:r>
              <a:rPr lang="en-US" altLang="zh-CN" sz="1400" b="1" dirty="0"/>
              <a:t>Area 49.0001</a:t>
            </a:r>
          </a:p>
        </p:txBody>
      </p:sp>
      <p:pic>
        <p:nvPicPr>
          <p:cNvPr id="62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015946" y="2711054"/>
            <a:ext cx="541201" cy="442800"/>
          </a:xfrm>
          <a:prstGeom prst="rect">
            <a:avLst/>
          </a:prstGeom>
          <a:noFill/>
        </p:spPr>
      </p:pic>
      <p:pic>
        <p:nvPicPr>
          <p:cNvPr id="63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17134" y="2711054"/>
            <a:ext cx="541201" cy="442800"/>
          </a:xfrm>
          <a:prstGeom prst="rect">
            <a:avLst/>
          </a:prstGeom>
          <a:noFill/>
        </p:spPr>
      </p:pic>
      <p:cxnSp>
        <p:nvCxnSpPr>
          <p:cNvPr id="64" name="直接连接符 63"/>
          <p:cNvCxnSpPr>
            <a:stCxn id="55" idx="2"/>
            <a:endCxn id="62" idx="0"/>
          </p:cNvCxnSpPr>
          <p:nvPr/>
        </p:nvCxnSpPr>
        <p:spPr bwMode="gray">
          <a:xfrm>
            <a:off x="2286547" y="1748056"/>
            <a:ext cx="0" cy="9629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>
            <a:stCxn id="56" idx="2"/>
            <a:endCxn id="63" idx="0"/>
          </p:cNvCxnSpPr>
          <p:nvPr/>
        </p:nvCxnSpPr>
        <p:spPr bwMode="gray">
          <a:xfrm>
            <a:off x="4187735" y="1748056"/>
            <a:ext cx="0" cy="9629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>
            <a:stCxn id="62" idx="3"/>
            <a:endCxn id="63" idx="1"/>
          </p:cNvCxnSpPr>
          <p:nvPr/>
        </p:nvCxnSpPr>
        <p:spPr bwMode="gray">
          <a:xfrm>
            <a:off x="2557147" y="2932454"/>
            <a:ext cx="13599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312"/>
          <p:cNvSpPr>
            <a:spLocks noChangeArrowheads="1"/>
          </p:cNvSpPr>
          <p:nvPr/>
        </p:nvSpPr>
        <p:spPr bwMode="gray">
          <a:xfrm>
            <a:off x="3890358" y="1063749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R2</a:t>
            </a:r>
          </a:p>
        </p:txBody>
      </p:sp>
      <p:sp>
        <p:nvSpPr>
          <p:cNvPr id="68" name="Rectangle 312"/>
          <p:cNvSpPr>
            <a:spLocks noChangeArrowheads="1"/>
          </p:cNvSpPr>
          <p:nvPr/>
        </p:nvSpPr>
        <p:spPr bwMode="gray">
          <a:xfrm>
            <a:off x="1989170" y="3153628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R3</a:t>
            </a:r>
          </a:p>
        </p:txBody>
      </p:sp>
      <p:sp>
        <p:nvSpPr>
          <p:cNvPr id="69" name="Rectangle 312"/>
          <p:cNvSpPr>
            <a:spLocks noChangeArrowheads="1"/>
          </p:cNvSpPr>
          <p:nvPr/>
        </p:nvSpPr>
        <p:spPr bwMode="gray">
          <a:xfrm>
            <a:off x="3890358" y="3153628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R4</a:t>
            </a:r>
          </a:p>
        </p:txBody>
      </p:sp>
      <p:sp>
        <p:nvSpPr>
          <p:cNvPr id="70" name="Rectangle 312"/>
          <p:cNvSpPr>
            <a:spLocks noChangeArrowheads="1"/>
          </p:cNvSpPr>
          <p:nvPr/>
        </p:nvSpPr>
        <p:spPr bwMode="gray">
          <a:xfrm rot="16200000">
            <a:off x="3877623" y="2095376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GE0/0/2</a:t>
            </a:r>
          </a:p>
        </p:txBody>
      </p:sp>
      <p:sp>
        <p:nvSpPr>
          <p:cNvPr id="72" name="Rectangle 312"/>
          <p:cNvSpPr>
            <a:spLocks noChangeArrowheads="1"/>
          </p:cNvSpPr>
          <p:nvPr/>
        </p:nvSpPr>
        <p:spPr bwMode="gray">
          <a:xfrm>
            <a:off x="2806705" y="2932454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</p:spTree>
    <p:extLst>
      <p:ext uri="{BB962C8B-B14F-4D97-AF65-F5344CB8AC3E}">
        <p14:creationId xmlns:p14="http://schemas.microsoft.com/office/powerpoint/2010/main" val="35691606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zh-CN" altLang="en-US" dirty="0"/>
              <a:t>部署</a:t>
            </a:r>
            <a:r>
              <a:rPr lang="en-US" altLang="zh-CN" dirty="0"/>
              <a:t>IPv4</a:t>
            </a:r>
            <a:r>
              <a:rPr lang="zh-CN" altLang="en-US" dirty="0"/>
              <a:t>网络</a:t>
            </a:r>
          </a:p>
        </p:txBody>
      </p:sp>
      <p:sp>
        <p:nvSpPr>
          <p:cNvPr id="37" name="文本框 36"/>
          <p:cNvSpPr txBox="1"/>
          <p:nvPr/>
        </p:nvSpPr>
        <p:spPr bwMode="gray">
          <a:xfrm>
            <a:off x="6446340" y="2442717"/>
            <a:ext cx="4642748" cy="22467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[R1] 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isis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[R1-isis-1] is-level level-2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[R1-isis-1] network-entity 49.0001.0000.0000.0001.00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#</a:t>
            </a:r>
          </a:p>
          <a:p>
            <a:r>
              <a:rPr lang="en-US" altLang="zh-CN" sz="1400" dirty="0"/>
              <a:t>[R1] interface </a:t>
            </a:r>
            <a:r>
              <a:rPr lang="en-US" altLang="zh-CN" sz="1400" dirty="0" err="1"/>
              <a:t>gigabitethernet</a:t>
            </a:r>
            <a:r>
              <a:rPr lang="en-US" altLang="zh-CN" sz="1400" dirty="0"/>
              <a:t> 0/0/1</a:t>
            </a:r>
          </a:p>
          <a:p>
            <a:r>
              <a:rPr lang="en-US" altLang="zh-CN" sz="1400" dirty="0"/>
              <a:t>[R1-GigabitEthernet0/0/1] </a:t>
            </a:r>
            <a:r>
              <a:rPr lang="en-US" altLang="zh-CN" sz="1400" dirty="0" err="1"/>
              <a:t>isis</a:t>
            </a:r>
            <a:r>
              <a:rPr lang="en-US" altLang="zh-CN" sz="1400" dirty="0"/>
              <a:t> enable 1</a:t>
            </a:r>
          </a:p>
          <a:p>
            <a:r>
              <a:rPr lang="en-US" altLang="zh-CN" sz="1400" dirty="0"/>
              <a:t>[R1-GigabitEthernet0/0/1] quit</a:t>
            </a:r>
          </a:p>
          <a:p>
            <a:r>
              <a:rPr lang="en-US" altLang="zh-CN" sz="1400" dirty="0"/>
              <a:t>[R1] interface </a:t>
            </a:r>
            <a:r>
              <a:rPr lang="en-US" altLang="zh-CN" sz="1400" dirty="0" err="1"/>
              <a:t>gigabitethernet</a:t>
            </a:r>
            <a:r>
              <a:rPr lang="en-US" altLang="zh-CN" sz="1400" dirty="0"/>
              <a:t> 0/0/2</a:t>
            </a:r>
          </a:p>
          <a:p>
            <a:r>
              <a:rPr lang="en-US" altLang="zh-CN" sz="1400" dirty="0"/>
              <a:t>[R1-GigabitEthernet0/0/2] </a:t>
            </a:r>
            <a:r>
              <a:rPr lang="en-US" altLang="zh-CN" sz="1400" dirty="0" err="1"/>
              <a:t>isis</a:t>
            </a:r>
            <a:r>
              <a:rPr lang="en-US" altLang="zh-CN" sz="1400" dirty="0"/>
              <a:t> enable 1</a:t>
            </a:r>
          </a:p>
          <a:p>
            <a:r>
              <a:rPr lang="en-US" altLang="zh-CN" sz="1400" dirty="0"/>
              <a:t>[R1-GigabitEthernet0/0/2] </a:t>
            </a:r>
            <a:r>
              <a:rPr lang="en-US" altLang="zh-CN" sz="1400" b="1" dirty="0" err="1">
                <a:solidFill>
                  <a:srgbClr val="C7000B"/>
                </a:solidFill>
              </a:rPr>
              <a:t>isis</a:t>
            </a:r>
            <a:r>
              <a:rPr lang="en-US" altLang="zh-CN" sz="1400" b="1" dirty="0">
                <a:solidFill>
                  <a:srgbClr val="C7000B"/>
                </a:solidFill>
              </a:rPr>
              <a:t> cost 40 level-2</a:t>
            </a:r>
            <a:endParaRPr lang="en-US" altLang="zh-CN" sz="1400" b="1" dirty="0">
              <a:solidFill>
                <a:srgbClr val="C7000B"/>
              </a:solidFill>
              <a:cs typeface="Courier New" panose="02070309020205020404" pitchFamily="49" charset="0"/>
            </a:endParaRPr>
          </a:p>
        </p:txBody>
      </p:sp>
      <p:sp>
        <p:nvSpPr>
          <p:cNvPr id="38" name="文本框 37"/>
          <p:cNvSpPr txBox="1"/>
          <p:nvPr/>
        </p:nvSpPr>
        <p:spPr bwMode="gray">
          <a:xfrm>
            <a:off x="6103148" y="1548486"/>
            <a:ext cx="40286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</a:rPr>
              <a:t>1</a:t>
            </a:r>
            <a:r>
              <a:rPr lang="zh-CN" altLang="en-US" sz="1600" dirty="0">
                <a:solidFill>
                  <a:prstClr val="black"/>
                </a:solidFill>
              </a:rPr>
              <a:t>、配置各路由器接口的</a:t>
            </a:r>
            <a:r>
              <a:rPr lang="en-US" altLang="zh-CN" sz="1600" dirty="0">
                <a:solidFill>
                  <a:prstClr val="black"/>
                </a:solidFill>
              </a:rPr>
              <a:t>IPv4</a:t>
            </a:r>
            <a:r>
              <a:rPr lang="zh-CN" altLang="en-US" sz="1600" dirty="0">
                <a:solidFill>
                  <a:prstClr val="black"/>
                </a:solidFill>
              </a:rPr>
              <a:t>地址。（略）</a:t>
            </a:r>
          </a:p>
        </p:txBody>
      </p:sp>
      <p:sp>
        <p:nvSpPr>
          <p:cNvPr id="39" name="文本框 38"/>
          <p:cNvSpPr txBox="1"/>
          <p:nvPr/>
        </p:nvSpPr>
        <p:spPr bwMode="gray">
          <a:xfrm>
            <a:off x="6103148" y="2079528"/>
            <a:ext cx="23551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</a:rPr>
              <a:t>2</a:t>
            </a:r>
            <a:r>
              <a:rPr lang="zh-CN" altLang="en-US" sz="1600" dirty="0">
                <a:solidFill>
                  <a:prstClr val="black"/>
                </a:solidFill>
              </a:rPr>
              <a:t>、配置</a:t>
            </a:r>
            <a:r>
              <a:rPr lang="en-US" altLang="zh-CN" sz="1600" dirty="0">
                <a:solidFill>
                  <a:prstClr val="black"/>
                </a:solidFill>
              </a:rPr>
              <a:t>IS-IS</a:t>
            </a:r>
            <a:r>
              <a:rPr lang="zh-CN" altLang="en-US" sz="1600" dirty="0">
                <a:solidFill>
                  <a:prstClr val="black"/>
                </a:solidFill>
              </a:rPr>
              <a:t>基本功能。</a:t>
            </a:r>
          </a:p>
        </p:txBody>
      </p:sp>
      <p:sp>
        <p:nvSpPr>
          <p:cNvPr id="61" name="圆角矩形 60"/>
          <p:cNvSpPr/>
          <p:nvPr/>
        </p:nvSpPr>
        <p:spPr bwMode="gray">
          <a:xfrm>
            <a:off x="685543" y="1063748"/>
            <a:ext cx="4606892" cy="2306065"/>
          </a:xfrm>
          <a:prstGeom prst="roundRect">
            <a:avLst>
              <a:gd name="adj" fmla="val 3573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pic>
        <p:nvPicPr>
          <p:cNvPr id="62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015946" y="1305256"/>
            <a:ext cx="541201" cy="442800"/>
          </a:xfrm>
          <a:prstGeom prst="rect">
            <a:avLst/>
          </a:prstGeom>
          <a:noFill/>
        </p:spPr>
      </p:pic>
      <p:pic>
        <p:nvPicPr>
          <p:cNvPr id="63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17134" y="1305256"/>
            <a:ext cx="541201" cy="442800"/>
          </a:xfrm>
          <a:prstGeom prst="rect">
            <a:avLst/>
          </a:prstGeom>
          <a:noFill/>
        </p:spPr>
      </p:pic>
      <p:cxnSp>
        <p:nvCxnSpPr>
          <p:cNvPr id="64" name="直接连接符 63"/>
          <p:cNvCxnSpPr>
            <a:stCxn id="62" idx="3"/>
            <a:endCxn id="63" idx="1"/>
          </p:cNvCxnSpPr>
          <p:nvPr/>
        </p:nvCxnSpPr>
        <p:spPr bwMode="gray">
          <a:xfrm>
            <a:off x="2557147" y="1526656"/>
            <a:ext cx="13599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312"/>
          <p:cNvSpPr>
            <a:spLocks noChangeArrowheads="1"/>
          </p:cNvSpPr>
          <p:nvPr/>
        </p:nvSpPr>
        <p:spPr bwMode="gray">
          <a:xfrm>
            <a:off x="1989170" y="1063749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R1</a:t>
            </a:r>
          </a:p>
        </p:txBody>
      </p:sp>
      <p:sp>
        <p:nvSpPr>
          <p:cNvPr id="66" name="Rectangle 312"/>
          <p:cNvSpPr>
            <a:spLocks noChangeArrowheads="1"/>
          </p:cNvSpPr>
          <p:nvPr/>
        </p:nvSpPr>
        <p:spPr bwMode="gray">
          <a:xfrm>
            <a:off x="2806705" y="1284067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  <p:sp>
        <p:nvSpPr>
          <p:cNvPr id="67" name="Rectangle 312"/>
          <p:cNvSpPr>
            <a:spLocks noChangeArrowheads="1"/>
          </p:cNvSpPr>
          <p:nvPr/>
        </p:nvSpPr>
        <p:spPr bwMode="gray">
          <a:xfrm rot="16200000">
            <a:off x="1731335" y="2095375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GE0/0/2</a:t>
            </a:r>
          </a:p>
        </p:txBody>
      </p:sp>
      <p:sp>
        <p:nvSpPr>
          <p:cNvPr id="68" name="Rectangle 312"/>
          <p:cNvSpPr>
            <a:spLocks noChangeArrowheads="1"/>
          </p:cNvSpPr>
          <p:nvPr/>
        </p:nvSpPr>
        <p:spPr bwMode="gray">
          <a:xfrm>
            <a:off x="711344" y="1294974"/>
            <a:ext cx="1304602" cy="421129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IS-IS (IPv4)</a:t>
            </a:r>
          </a:p>
          <a:p>
            <a:pPr algn="ctr"/>
            <a:r>
              <a:rPr lang="en-US" altLang="zh-CN" sz="1400" b="1" dirty="0"/>
              <a:t>Area 49.0001</a:t>
            </a:r>
          </a:p>
        </p:txBody>
      </p:sp>
      <p:pic>
        <p:nvPicPr>
          <p:cNvPr id="69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015946" y="2711054"/>
            <a:ext cx="541201" cy="442800"/>
          </a:xfrm>
          <a:prstGeom prst="rect">
            <a:avLst/>
          </a:prstGeom>
          <a:noFill/>
        </p:spPr>
      </p:pic>
      <p:pic>
        <p:nvPicPr>
          <p:cNvPr id="70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17134" y="2711054"/>
            <a:ext cx="541201" cy="442800"/>
          </a:xfrm>
          <a:prstGeom prst="rect">
            <a:avLst/>
          </a:prstGeom>
          <a:noFill/>
        </p:spPr>
      </p:pic>
      <p:cxnSp>
        <p:nvCxnSpPr>
          <p:cNvPr id="71" name="直接连接符 70"/>
          <p:cNvCxnSpPr>
            <a:stCxn id="62" idx="2"/>
            <a:endCxn id="69" idx="0"/>
          </p:cNvCxnSpPr>
          <p:nvPr/>
        </p:nvCxnSpPr>
        <p:spPr bwMode="gray">
          <a:xfrm>
            <a:off x="2286547" y="1748056"/>
            <a:ext cx="0" cy="9629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>
            <a:stCxn id="63" idx="2"/>
            <a:endCxn id="70" idx="0"/>
          </p:cNvCxnSpPr>
          <p:nvPr/>
        </p:nvCxnSpPr>
        <p:spPr bwMode="gray">
          <a:xfrm>
            <a:off x="4187735" y="1748056"/>
            <a:ext cx="0" cy="9629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>
            <a:stCxn id="69" idx="3"/>
            <a:endCxn id="70" idx="1"/>
          </p:cNvCxnSpPr>
          <p:nvPr/>
        </p:nvCxnSpPr>
        <p:spPr bwMode="gray">
          <a:xfrm>
            <a:off x="2557147" y="2932454"/>
            <a:ext cx="13599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312"/>
          <p:cNvSpPr>
            <a:spLocks noChangeArrowheads="1"/>
          </p:cNvSpPr>
          <p:nvPr/>
        </p:nvSpPr>
        <p:spPr bwMode="gray">
          <a:xfrm>
            <a:off x="3890358" y="1063749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R2</a:t>
            </a:r>
          </a:p>
        </p:txBody>
      </p:sp>
      <p:sp>
        <p:nvSpPr>
          <p:cNvPr id="75" name="Rectangle 312"/>
          <p:cNvSpPr>
            <a:spLocks noChangeArrowheads="1"/>
          </p:cNvSpPr>
          <p:nvPr/>
        </p:nvSpPr>
        <p:spPr bwMode="gray">
          <a:xfrm>
            <a:off x="1989170" y="3153628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R3</a:t>
            </a:r>
          </a:p>
        </p:txBody>
      </p:sp>
      <p:sp>
        <p:nvSpPr>
          <p:cNvPr id="76" name="Rectangle 312"/>
          <p:cNvSpPr>
            <a:spLocks noChangeArrowheads="1"/>
          </p:cNvSpPr>
          <p:nvPr/>
        </p:nvSpPr>
        <p:spPr bwMode="gray">
          <a:xfrm>
            <a:off x="3890358" y="3153628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R4</a:t>
            </a:r>
          </a:p>
        </p:txBody>
      </p:sp>
      <p:sp>
        <p:nvSpPr>
          <p:cNvPr id="78" name="Rectangle 312"/>
          <p:cNvSpPr>
            <a:spLocks noChangeArrowheads="1"/>
          </p:cNvSpPr>
          <p:nvPr/>
        </p:nvSpPr>
        <p:spPr bwMode="gray">
          <a:xfrm rot="16200000">
            <a:off x="3877623" y="2095376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GE0/0/2</a:t>
            </a:r>
          </a:p>
        </p:txBody>
      </p:sp>
      <p:sp>
        <p:nvSpPr>
          <p:cNvPr id="83" name="文本框 82"/>
          <p:cNvSpPr txBox="1"/>
          <p:nvPr/>
        </p:nvSpPr>
        <p:spPr bwMode="gray">
          <a:xfrm>
            <a:off x="6446340" y="4691163"/>
            <a:ext cx="3538148" cy="14388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</a:rPr>
              <a:t>R2</a:t>
            </a:r>
            <a:r>
              <a:rPr lang="zh-CN" altLang="en-US" sz="1400" dirty="0">
                <a:solidFill>
                  <a:prstClr val="black"/>
                </a:solidFill>
              </a:rPr>
              <a:t>、</a:t>
            </a:r>
            <a:r>
              <a:rPr lang="en-US" altLang="zh-CN" sz="1400" dirty="0">
                <a:solidFill>
                  <a:prstClr val="black"/>
                </a:solidFill>
              </a:rPr>
              <a:t>R3</a:t>
            </a:r>
            <a:r>
              <a:rPr lang="zh-CN" altLang="en-US" sz="1400" dirty="0">
                <a:solidFill>
                  <a:prstClr val="black"/>
                </a:solidFill>
              </a:rPr>
              <a:t>和</a:t>
            </a:r>
            <a:r>
              <a:rPr lang="en-US" altLang="zh-CN" sz="1400" dirty="0">
                <a:solidFill>
                  <a:prstClr val="black"/>
                </a:solidFill>
              </a:rPr>
              <a:t>R4</a:t>
            </a:r>
            <a:r>
              <a:rPr lang="zh-CN" altLang="en-US" sz="1400" dirty="0">
                <a:solidFill>
                  <a:prstClr val="black"/>
                </a:solidFill>
              </a:rPr>
              <a:t>的配置与</a:t>
            </a:r>
            <a:r>
              <a:rPr lang="en-US" altLang="zh-CN" sz="1400" dirty="0">
                <a:solidFill>
                  <a:prstClr val="black"/>
                </a:solidFill>
              </a:rPr>
              <a:t>R1</a:t>
            </a:r>
            <a:r>
              <a:rPr lang="zh-CN" altLang="en-US" sz="1400" dirty="0">
                <a:solidFill>
                  <a:prstClr val="black"/>
                </a:solidFill>
              </a:rPr>
              <a:t>类似，不再赘述。</a:t>
            </a:r>
            <a:endParaRPr lang="en-US" altLang="zh-CN" sz="1400" dirty="0">
              <a:solidFill>
                <a:prstClr val="black"/>
              </a:solidFill>
            </a:endParaRPr>
          </a:p>
          <a:p>
            <a:pPr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prstClr val="black"/>
                </a:solidFill>
              </a:rPr>
              <a:t>其中，它们的网络实体名分别为：</a:t>
            </a:r>
            <a:endParaRPr lang="en-US" altLang="zh-CN" sz="1400" dirty="0">
              <a:solidFill>
                <a:prstClr val="black"/>
              </a:solidFill>
            </a:endParaRPr>
          </a:p>
          <a:p>
            <a:pPr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</a:rPr>
              <a:t>   R2</a:t>
            </a:r>
            <a:r>
              <a:rPr lang="zh-CN" altLang="en-US" sz="1400" dirty="0">
                <a:solidFill>
                  <a:prstClr val="black"/>
                </a:solidFill>
              </a:rPr>
              <a:t>：</a:t>
            </a:r>
            <a:r>
              <a:rPr lang="en-US" altLang="zh-CN" sz="1400" dirty="0">
                <a:solidFill>
                  <a:prstClr val="black"/>
                </a:solidFill>
              </a:rPr>
              <a:t>49.0001.0000.0000.0002.00</a:t>
            </a:r>
          </a:p>
          <a:p>
            <a:pPr>
              <a:lnSpc>
                <a:spcPct val="125000"/>
              </a:lnSpc>
            </a:pPr>
            <a:r>
              <a:rPr lang="en-US" altLang="zh-CN" sz="1400" dirty="0">
                <a:solidFill>
                  <a:prstClr val="black"/>
                </a:solidFill>
              </a:rPr>
              <a:t>   R3</a:t>
            </a:r>
            <a:r>
              <a:rPr lang="zh-CN" altLang="en-US" sz="1400" dirty="0">
                <a:solidFill>
                  <a:prstClr val="black"/>
                </a:solidFill>
              </a:rPr>
              <a:t>：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49.0001.0000.0000.0003.00</a:t>
            </a:r>
          </a:p>
          <a:p>
            <a:pPr>
              <a:lnSpc>
                <a:spcPct val="125000"/>
              </a:lnSpc>
            </a:pPr>
            <a:r>
              <a:rPr lang="en-US" altLang="zh-CN" sz="1400" dirty="0">
                <a:solidFill>
                  <a:prstClr val="black"/>
                </a:solidFill>
              </a:rPr>
              <a:t>   R4</a:t>
            </a:r>
            <a:r>
              <a:rPr lang="zh-CN" altLang="en-US" sz="1400" dirty="0">
                <a:solidFill>
                  <a:prstClr val="black"/>
                </a:solidFill>
              </a:rPr>
              <a:t>：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49.0001.0000.0000.0004.00</a:t>
            </a:r>
          </a:p>
        </p:txBody>
      </p:sp>
      <p:sp>
        <p:nvSpPr>
          <p:cNvPr id="84" name="Rectangle 312"/>
          <p:cNvSpPr>
            <a:spLocks noChangeArrowheads="1"/>
          </p:cNvSpPr>
          <p:nvPr/>
        </p:nvSpPr>
        <p:spPr bwMode="gray">
          <a:xfrm>
            <a:off x="2806705" y="1505539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srgbClr val="C7000B"/>
                </a:solidFill>
              </a:rPr>
              <a:t>Cost=10</a:t>
            </a:r>
          </a:p>
        </p:txBody>
      </p:sp>
      <p:sp>
        <p:nvSpPr>
          <p:cNvPr id="85" name="Rectangle 312"/>
          <p:cNvSpPr>
            <a:spLocks noChangeArrowheads="1"/>
          </p:cNvSpPr>
          <p:nvPr/>
        </p:nvSpPr>
        <p:spPr bwMode="gray">
          <a:xfrm>
            <a:off x="2806705" y="2932454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  <p:sp>
        <p:nvSpPr>
          <p:cNvPr id="86" name="Rectangle 312"/>
          <p:cNvSpPr>
            <a:spLocks noChangeArrowheads="1"/>
          </p:cNvSpPr>
          <p:nvPr/>
        </p:nvSpPr>
        <p:spPr bwMode="gray">
          <a:xfrm>
            <a:off x="2806705" y="2655383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srgbClr val="C7000B"/>
                </a:solidFill>
              </a:rPr>
              <a:t>Cost=10</a:t>
            </a:r>
          </a:p>
        </p:txBody>
      </p:sp>
      <p:sp>
        <p:nvSpPr>
          <p:cNvPr id="87" name="Rectangle 312"/>
          <p:cNvSpPr>
            <a:spLocks noChangeArrowheads="1"/>
          </p:cNvSpPr>
          <p:nvPr/>
        </p:nvSpPr>
        <p:spPr bwMode="gray">
          <a:xfrm rot="16200000">
            <a:off x="1988177" y="2104442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b="1" dirty="0">
                <a:solidFill>
                  <a:srgbClr val="C7000B"/>
                </a:solidFill>
              </a:rPr>
              <a:t>Cost=40</a:t>
            </a:r>
          </a:p>
        </p:txBody>
      </p:sp>
      <p:sp>
        <p:nvSpPr>
          <p:cNvPr id="88" name="Rectangle 312"/>
          <p:cNvSpPr>
            <a:spLocks noChangeArrowheads="1"/>
          </p:cNvSpPr>
          <p:nvPr/>
        </p:nvSpPr>
        <p:spPr bwMode="gray">
          <a:xfrm rot="16200000">
            <a:off x="3650976" y="2104443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srgbClr val="C7000B"/>
                </a:solidFill>
              </a:rPr>
              <a:t>Cost=10</a:t>
            </a: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62751"/>
              </p:ext>
            </p:extLst>
          </p:nvPr>
        </p:nvGraphicFramePr>
        <p:xfrm>
          <a:off x="685543" y="3411379"/>
          <a:ext cx="4961442" cy="2743200"/>
        </p:xfrm>
        <a:graphic>
          <a:graphicData uri="http://schemas.openxmlformats.org/drawingml/2006/table">
            <a:tbl>
              <a:tblPr firstRow="1" bandRow="1"/>
              <a:tblGrid>
                <a:gridCol w="613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9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01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设备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接口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IPv4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IPv6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10.1.12.1/24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2001:DB8:2345:12::1/64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10.1.13.1/24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2001:DB8:2345:13::1/64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10.1.12.2/24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2001:DB8:2345:12::2/64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10.1.24.2/24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2001:DB8:2345:24::2/64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10.1.34.3/24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2001:DB8:2345:34::3/64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10.1.13.3/24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2001:DB8:2345:13::3/64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10.1.34.4/24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2001:DB8:2345:34::4/64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10.1.24.4/24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2001:DB8:2345:24::4/64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21700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部署</a:t>
            </a:r>
            <a:r>
              <a:rPr lang="en-US" altLang="zh-CN" dirty="0"/>
              <a:t>IPv6</a:t>
            </a:r>
            <a:r>
              <a:rPr lang="zh-CN" altLang="en-US" dirty="0"/>
              <a:t>网络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6446346" y="2442717"/>
            <a:ext cx="4642748" cy="20313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[R1] 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isis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[R1-isis-1] </a:t>
            </a:r>
            <a:r>
              <a:rPr lang="en-US" altLang="zh-CN" sz="1400" b="1" dirty="0">
                <a:solidFill>
                  <a:srgbClr val="C7000B"/>
                </a:solidFill>
                <a:cs typeface="Courier New" panose="02070309020205020404" pitchFamily="49" charset="0"/>
              </a:rPr>
              <a:t>ipv6 enable topology ipv6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#</a:t>
            </a:r>
          </a:p>
          <a:p>
            <a:r>
              <a:rPr lang="en-US" altLang="zh-CN" sz="1400" dirty="0"/>
              <a:t>[R1] interface </a:t>
            </a:r>
            <a:r>
              <a:rPr lang="en-US" altLang="zh-CN" sz="1400" dirty="0" err="1"/>
              <a:t>gigabitethernet</a:t>
            </a:r>
            <a:r>
              <a:rPr lang="en-US" altLang="zh-CN" sz="1400" dirty="0"/>
              <a:t> 0/0/1</a:t>
            </a:r>
          </a:p>
          <a:p>
            <a:r>
              <a:rPr lang="en-US" altLang="zh-CN" sz="1400" dirty="0"/>
              <a:t>[R1-GigabitEthernet0/0/1] </a:t>
            </a:r>
            <a:r>
              <a:rPr lang="en-US" altLang="zh-CN" sz="1400" dirty="0" err="1"/>
              <a:t>isis</a:t>
            </a:r>
            <a:r>
              <a:rPr lang="en-US" altLang="zh-CN" sz="1400" dirty="0"/>
              <a:t> ipv6 enable 1</a:t>
            </a:r>
          </a:p>
          <a:p>
            <a:r>
              <a:rPr lang="en-US" altLang="zh-CN" sz="1400" dirty="0"/>
              <a:t>[R1-GigabitEthernet0/0/1] </a:t>
            </a:r>
            <a:r>
              <a:rPr lang="en-US" altLang="zh-CN" sz="1400" b="1" dirty="0" err="1">
                <a:solidFill>
                  <a:srgbClr val="C7000B"/>
                </a:solidFill>
              </a:rPr>
              <a:t>isis</a:t>
            </a:r>
            <a:r>
              <a:rPr lang="en-US" altLang="zh-CN" sz="1400" b="1" dirty="0">
                <a:solidFill>
                  <a:srgbClr val="C7000B"/>
                </a:solidFill>
              </a:rPr>
              <a:t> ipv6 cost 40 level-2</a:t>
            </a:r>
          </a:p>
          <a:p>
            <a:r>
              <a:rPr lang="en-US" altLang="zh-CN" sz="1400" dirty="0"/>
              <a:t>[R1-GigabitEthernet0/0/1] quit</a:t>
            </a:r>
          </a:p>
          <a:p>
            <a:r>
              <a:rPr lang="en-US" altLang="zh-CN" sz="1400" dirty="0"/>
              <a:t>[R1] interface </a:t>
            </a:r>
            <a:r>
              <a:rPr lang="en-US" altLang="zh-CN" sz="1400" dirty="0" err="1"/>
              <a:t>gigabitethernet</a:t>
            </a:r>
            <a:r>
              <a:rPr lang="en-US" altLang="zh-CN" sz="1400" dirty="0"/>
              <a:t> 0/0/2</a:t>
            </a:r>
          </a:p>
          <a:p>
            <a:r>
              <a:rPr lang="en-US" altLang="zh-CN" sz="1400" dirty="0"/>
              <a:t>[R1-GigabitEthernet0/0/2] </a:t>
            </a:r>
            <a:r>
              <a:rPr lang="en-US" altLang="zh-CN" sz="1400" dirty="0" err="1"/>
              <a:t>isis</a:t>
            </a:r>
            <a:r>
              <a:rPr lang="en-US" altLang="zh-CN" sz="1400" dirty="0"/>
              <a:t> ipv6 enable 1</a:t>
            </a:r>
            <a:endParaRPr lang="en-US" altLang="zh-CN" sz="1400" dirty="0">
              <a:solidFill>
                <a:prstClr val="black"/>
              </a:solidFill>
              <a:cs typeface="Courier New" panose="02070309020205020404" pitchFamily="49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103154" y="1548486"/>
            <a:ext cx="39741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</a:rPr>
              <a:t>1</a:t>
            </a:r>
            <a:r>
              <a:rPr lang="zh-CN" altLang="en-US" sz="1600" dirty="0">
                <a:solidFill>
                  <a:prstClr val="black"/>
                </a:solidFill>
              </a:rPr>
              <a:t>、配置各路由器接口的</a:t>
            </a:r>
            <a:r>
              <a:rPr lang="en-US" altLang="zh-CN" sz="1600" dirty="0">
                <a:solidFill>
                  <a:prstClr val="black"/>
                </a:solidFill>
              </a:rPr>
              <a:t>IPv6</a:t>
            </a:r>
            <a:r>
              <a:rPr lang="zh-CN" altLang="en-US" sz="1600" dirty="0">
                <a:solidFill>
                  <a:prstClr val="black"/>
                </a:solidFill>
              </a:rPr>
              <a:t>地址。（略）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6103154" y="2079528"/>
            <a:ext cx="2746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</a:rPr>
              <a:t>2</a:t>
            </a:r>
            <a:r>
              <a:rPr lang="zh-CN" altLang="en-US" sz="1600" dirty="0">
                <a:solidFill>
                  <a:prstClr val="black"/>
                </a:solidFill>
              </a:rPr>
              <a:t>、使能</a:t>
            </a:r>
            <a:r>
              <a:rPr lang="en-US" altLang="zh-CN" sz="1600" dirty="0">
                <a:solidFill>
                  <a:prstClr val="black"/>
                </a:solidFill>
              </a:rPr>
              <a:t>IS-IS</a:t>
            </a:r>
            <a:r>
              <a:rPr lang="zh-CN" altLang="en-US" sz="1600" dirty="0">
                <a:solidFill>
                  <a:prstClr val="black"/>
                </a:solidFill>
              </a:rPr>
              <a:t>（</a:t>
            </a:r>
            <a:r>
              <a:rPr lang="en-US" altLang="zh-CN" sz="1600" dirty="0">
                <a:solidFill>
                  <a:prstClr val="black"/>
                </a:solidFill>
              </a:rPr>
              <a:t>IPv6</a:t>
            </a:r>
            <a:r>
              <a:rPr lang="zh-CN" altLang="en-US" sz="1600" dirty="0">
                <a:solidFill>
                  <a:prstClr val="black"/>
                </a:solidFill>
              </a:rPr>
              <a:t>）功能。</a:t>
            </a:r>
          </a:p>
        </p:txBody>
      </p:sp>
      <p:sp>
        <p:nvSpPr>
          <p:cNvPr id="83" name="文本框 82"/>
          <p:cNvSpPr txBox="1"/>
          <p:nvPr/>
        </p:nvSpPr>
        <p:spPr>
          <a:xfrm>
            <a:off x="6446346" y="4469490"/>
            <a:ext cx="3538148" cy="342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</a:rPr>
              <a:t>R2</a:t>
            </a:r>
            <a:r>
              <a:rPr lang="zh-CN" altLang="en-US" sz="1400" dirty="0">
                <a:solidFill>
                  <a:prstClr val="black"/>
                </a:solidFill>
              </a:rPr>
              <a:t>、</a:t>
            </a:r>
            <a:r>
              <a:rPr lang="en-US" altLang="zh-CN" sz="1400" dirty="0">
                <a:solidFill>
                  <a:prstClr val="black"/>
                </a:solidFill>
              </a:rPr>
              <a:t>R3</a:t>
            </a:r>
            <a:r>
              <a:rPr lang="zh-CN" altLang="en-US" sz="1400" dirty="0">
                <a:solidFill>
                  <a:prstClr val="black"/>
                </a:solidFill>
              </a:rPr>
              <a:t>和</a:t>
            </a:r>
            <a:r>
              <a:rPr lang="en-US" altLang="zh-CN" sz="1400" dirty="0">
                <a:solidFill>
                  <a:prstClr val="black"/>
                </a:solidFill>
              </a:rPr>
              <a:t>R4</a:t>
            </a:r>
            <a:r>
              <a:rPr lang="zh-CN" altLang="en-US" sz="1400" dirty="0">
                <a:solidFill>
                  <a:prstClr val="black"/>
                </a:solidFill>
              </a:rPr>
              <a:t>的配置与</a:t>
            </a:r>
            <a:r>
              <a:rPr lang="en-US" altLang="zh-CN" sz="1400" dirty="0">
                <a:solidFill>
                  <a:prstClr val="black"/>
                </a:solidFill>
              </a:rPr>
              <a:t>R1</a:t>
            </a:r>
            <a:r>
              <a:rPr lang="zh-CN" altLang="en-US" sz="1400" dirty="0">
                <a:solidFill>
                  <a:prstClr val="black"/>
                </a:solidFill>
              </a:rPr>
              <a:t>类似，不再赘述。</a:t>
            </a:r>
            <a:endParaRPr lang="en-US" altLang="zh-CN" sz="1400" dirty="0">
              <a:solidFill>
                <a:prstClr val="black"/>
              </a:solidFill>
            </a:endParaRPr>
          </a:p>
        </p:txBody>
      </p:sp>
      <p:sp>
        <p:nvSpPr>
          <p:cNvPr id="26" name="圆角矩形 25"/>
          <p:cNvSpPr/>
          <p:nvPr/>
        </p:nvSpPr>
        <p:spPr bwMode="gray">
          <a:xfrm>
            <a:off x="685543" y="1063752"/>
            <a:ext cx="4606892" cy="2306065"/>
          </a:xfrm>
          <a:prstGeom prst="roundRect">
            <a:avLst>
              <a:gd name="adj" fmla="val 3573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pic>
        <p:nvPicPr>
          <p:cNvPr id="27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015946" y="1305260"/>
            <a:ext cx="541201" cy="442800"/>
          </a:xfrm>
          <a:prstGeom prst="rect">
            <a:avLst/>
          </a:prstGeom>
          <a:noFill/>
        </p:spPr>
      </p:pic>
      <p:pic>
        <p:nvPicPr>
          <p:cNvPr id="28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17134" y="1305260"/>
            <a:ext cx="541201" cy="442800"/>
          </a:xfrm>
          <a:prstGeom prst="rect">
            <a:avLst/>
          </a:prstGeom>
          <a:noFill/>
        </p:spPr>
      </p:pic>
      <p:cxnSp>
        <p:nvCxnSpPr>
          <p:cNvPr id="29" name="直接连接符 28"/>
          <p:cNvCxnSpPr>
            <a:stCxn id="27" idx="3"/>
            <a:endCxn id="28" idx="1"/>
          </p:cNvCxnSpPr>
          <p:nvPr/>
        </p:nvCxnSpPr>
        <p:spPr bwMode="gray">
          <a:xfrm>
            <a:off x="2557147" y="1526660"/>
            <a:ext cx="13599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312"/>
          <p:cNvSpPr>
            <a:spLocks noChangeArrowheads="1"/>
          </p:cNvSpPr>
          <p:nvPr/>
        </p:nvSpPr>
        <p:spPr bwMode="gray">
          <a:xfrm>
            <a:off x="1989170" y="1063753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R1</a:t>
            </a:r>
          </a:p>
        </p:txBody>
      </p:sp>
      <p:sp>
        <p:nvSpPr>
          <p:cNvPr id="31" name="Rectangle 312"/>
          <p:cNvSpPr>
            <a:spLocks noChangeArrowheads="1"/>
          </p:cNvSpPr>
          <p:nvPr/>
        </p:nvSpPr>
        <p:spPr bwMode="gray">
          <a:xfrm>
            <a:off x="2806705" y="1284071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  <p:sp>
        <p:nvSpPr>
          <p:cNvPr id="32" name="Rectangle 312"/>
          <p:cNvSpPr>
            <a:spLocks noChangeArrowheads="1"/>
          </p:cNvSpPr>
          <p:nvPr/>
        </p:nvSpPr>
        <p:spPr bwMode="gray">
          <a:xfrm rot="16200000">
            <a:off x="1731335" y="2095379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GE0/0/2</a:t>
            </a:r>
          </a:p>
        </p:txBody>
      </p:sp>
      <p:sp>
        <p:nvSpPr>
          <p:cNvPr id="33" name="Rectangle 312"/>
          <p:cNvSpPr>
            <a:spLocks noChangeArrowheads="1"/>
          </p:cNvSpPr>
          <p:nvPr/>
        </p:nvSpPr>
        <p:spPr bwMode="gray">
          <a:xfrm>
            <a:off x="711344" y="1294978"/>
            <a:ext cx="1304602" cy="421129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IS-IS (IPv6)</a:t>
            </a:r>
          </a:p>
          <a:p>
            <a:pPr algn="ctr"/>
            <a:r>
              <a:rPr lang="en-US" altLang="zh-CN" sz="1400" b="1" dirty="0"/>
              <a:t>Area 49.0001</a:t>
            </a:r>
          </a:p>
        </p:txBody>
      </p:sp>
      <p:pic>
        <p:nvPicPr>
          <p:cNvPr id="34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2015946" y="2711058"/>
            <a:ext cx="541201" cy="442800"/>
          </a:xfrm>
          <a:prstGeom prst="rect">
            <a:avLst/>
          </a:prstGeom>
          <a:noFill/>
        </p:spPr>
      </p:pic>
      <p:pic>
        <p:nvPicPr>
          <p:cNvPr id="35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3917134" y="2711058"/>
            <a:ext cx="541201" cy="442800"/>
          </a:xfrm>
          <a:prstGeom prst="rect">
            <a:avLst/>
          </a:prstGeom>
          <a:noFill/>
        </p:spPr>
      </p:pic>
      <p:cxnSp>
        <p:nvCxnSpPr>
          <p:cNvPr id="36" name="直接连接符 35"/>
          <p:cNvCxnSpPr>
            <a:stCxn id="27" idx="2"/>
            <a:endCxn id="34" idx="0"/>
          </p:cNvCxnSpPr>
          <p:nvPr/>
        </p:nvCxnSpPr>
        <p:spPr bwMode="gray">
          <a:xfrm>
            <a:off x="2286547" y="1748060"/>
            <a:ext cx="0" cy="9629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stCxn id="28" idx="2"/>
            <a:endCxn id="35" idx="0"/>
          </p:cNvCxnSpPr>
          <p:nvPr/>
        </p:nvCxnSpPr>
        <p:spPr bwMode="gray">
          <a:xfrm>
            <a:off x="4187735" y="1748060"/>
            <a:ext cx="0" cy="9629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stCxn id="34" idx="3"/>
            <a:endCxn id="35" idx="1"/>
          </p:cNvCxnSpPr>
          <p:nvPr/>
        </p:nvCxnSpPr>
        <p:spPr bwMode="gray">
          <a:xfrm>
            <a:off x="2557147" y="2932458"/>
            <a:ext cx="13599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312"/>
          <p:cNvSpPr>
            <a:spLocks noChangeArrowheads="1"/>
          </p:cNvSpPr>
          <p:nvPr/>
        </p:nvSpPr>
        <p:spPr bwMode="gray">
          <a:xfrm>
            <a:off x="3890358" y="1063753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R2</a:t>
            </a:r>
          </a:p>
        </p:txBody>
      </p:sp>
      <p:sp>
        <p:nvSpPr>
          <p:cNvPr id="43" name="Rectangle 312"/>
          <p:cNvSpPr>
            <a:spLocks noChangeArrowheads="1"/>
          </p:cNvSpPr>
          <p:nvPr/>
        </p:nvSpPr>
        <p:spPr bwMode="gray">
          <a:xfrm>
            <a:off x="1989170" y="3153632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R3</a:t>
            </a:r>
          </a:p>
        </p:txBody>
      </p:sp>
      <p:sp>
        <p:nvSpPr>
          <p:cNvPr id="44" name="Rectangle 312"/>
          <p:cNvSpPr>
            <a:spLocks noChangeArrowheads="1"/>
          </p:cNvSpPr>
          <p:nvPr/>
        </p:nvSpPr>
        <p:spPr bwMode="gray">
          <a:xfrm>
            <a:off x="3890358" y="3153632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R4</a:t>
            </a:r>
          </a:p>
        </p:txBody>
      </p:sp>
      <p:sp>
        <p:nvSpPr>
          <p:cNvPr id="45" name="Rectangle 312"/>
          <p:cNvSpPr>
            <a:spLocks noChangeArrowheads="1"/>
          </p:cNvSpPr>
          <p:nvPr/>
        </p:nvSpPr>
        <p:spPr bwMode="gray">
          <a:xfrm rot="16200000">
            <a:off x="3877623" y="2095380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GE0/0/2</a:t>
            </a:r>
          </a:p>
        </p:txBody>
      </p:sp>
      <p:sp>
        <p:nvSpPr>
          <p:cNvPr id="46" name="Rectangle 312"/>
          <p:cNvSpPr>
            <a:spLocks noChangeArrowheads="1"/>
          </p:cNvSpPr>
          <p:nvPr/>
        </p:nvSpPr>
        <p:spPr bwMode="gray">
          <a:xfrm>
            <a:off x="2806705" y="1505543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b="1" dirty="0">
                <a:solidFill>
                  <a:srgbClr val="C7000B"/>
                </a:solidFill>
              </a:rPr>
              <a:t>Cost=40</a:t>
            </a:r>
          </a:p>
        </p:txBody>
      </p:sp>
      <p:sp>
        <p:nvSpPr>
          <p:cNvPr id="47" name="Rectangle 312"/>
          <p:cNvSpPr>
            <a:spLocks noChangeArrowheads="1"/>
          </p:cNvSpPr>
          <p:nvPr/>
        </p:nvSpPr>
        <p:spPr bwMode="gray">
          <a:xfrm>
            <a:off x="2806705" y="2932458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  <p:sp>
        <p:nvSpPr>
          <p:cNvPr id="48" name="Rectangle 312"/>
          <p:cNvSpPr>
            <a:spLocks noChangeArrowheads="1"/>
          </p:cNvSpPr>
          <p:nvPr/>
        </p:nvSpPr>
        <p:spPr bwMode="gray">
          <a:xfrm>
            <a:off x="2806705" y="2655387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srgbClr val="C7000B"/>
                </a:solidFill>
              </a:rPr>
              <a:t>Cost=10</a:t>
            </a:r>
          </a:p>
        </p:txBody>
      </p:sp>
      <p:sp>
        <p:nvSpPr>
          <p:cNvPr id="49" name="Rectangle 312"/>
          <p:cNvSpPr>
            <a:spLocks noChangeArrowheads="1"/>
          </p:cNvSpPr>
          <p:nvPr/>
        </p:nvSpPr>
        <p:spPr bwMode="gray">
          <a:xfrm rot="16200000">
            <a:off x="1988177" y="2104446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srgbClr val="C7000B"/>
                </a:solidFill>
              </a:rPr>
              <a:t>Cost=10</a:t>
            </a:r>
          </a:p>
        </p:txBody>
      </p:sp>
      <p:sp>
        <p:nvSpPr>
          <p:cNvPr id="50" name="Rectangle 312"/>
          <p:cNvSpPr>
            <a:spLocks noChangeArrowheads="1"/>
          </p:cNvSpPr>
          <p:nvPr/>
        </p:nvSpPr>
        <p:spPr bwMode="gray">
          <a:xfrm rot="16200000">
            <a:off x="3650976" y="2104447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>
                <a:solidFill>
                  <a:srgbClr val="C7000B"/>
                </a:solidFill>
              </a:rPr>
              <a:t>Cost=10</a:t>
            </a:r>
          </a:p>
        </p:txBody>
      </p:sp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480982"/>
              </p:ext>
            </p:extLst>
          </p:nvPr>
        </p:nvGraphicFramePr>
        <p:xfrm>
          <a:off x="685543" y="3411379"/>
          <a:ext cx="4961442" cy="2743200"/>
        </p:xfrm>
        <a:graphic>
          <a:graphicData uri="http://schemas.openxmlformats.org/drawingml/2006/table">
            <a:tbl>
              <a:tblPr firstRow="1" bandRow="1"/>
              <a:tblGrid>
                <a:gridCol w="613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9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01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设备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接口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IPv4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IPv6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10.1.12.1/24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2001:DB8:2345:12::1/64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10.1.13.1/24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2001:DB8:2345:13::1/64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10.1.12.2/24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2001:DB8:2345:12::2/64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10.1.24.2/24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2001:DB8:2345:24::2/64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R3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10.1.34.3/24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2001:DB8:2345:34::3/64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10.1.13.3/24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2001:DB8:2345:13::3/64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R4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10.1.34.4/24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2001:DB8:2345:34::4/64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10.1.24.4/24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2001:DB8:2345:24::4/64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0421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查看</a:t>
            </a:r>
            <a:r>
              <a:rPr lang="en-US" altLang="zh-CN"/>
              <a:t>IS-IS (IPv4)</a:t>
            </a:r>
            <a:r>
              <a:rPr lang="zh-CN" altLang="en-US"/>
              <a:t>网络路由信息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55612" y="1047751"/>
            <a:ext cx="11293475" cy="425116"/>
          </a:xfrm>
        </p:spPr>
        <p:txBody>
          <a:bodyPr/>
          <a:lstStyle/>
          <a:p>
            <a:r>
              <a:rPr lang="zh-CN" altLang="en-US" sz="2000" dirty="0"/>
              <a:t>以</a:t>
            </a:r>
            <a:r>
              <a:rPr lang="en-US" altLang="zh-CN" sz="2000" dirty="0"/>
              <a:t>R1</a:t>
            </a:r>
            <a:r>
              <a:rPr lang="zh-CN" altLang="en-US" sz="2000" dirty="0"/>
              <a:t>为根计算最短路径树为例，可以发现</a:t>
            </a:r>
            <a:r>
              <a:rPr lang="en-US" altLang="zh-CN" sz="2000" dirty="0"/>
              <a:t>IS-IS</a:t>
            </a:r>
            <a:r>
              <a:rPr lang="zh-CN" altLang="en-US" sz="2000" dirty="0"/>
              <a:t>（</a:t>
            </a:r>
            <a:r>
              <a:rPr lang="en-US" altLang="zh-CN" sz="2000" dirty="0"/>
              <a:t>IPv4</a:t>
            </a:r>
            <a:r>
              <a:rPr lang="zh-CN" altLang="en-US" sz="2000" dirty="0"/>
              <a:t>）的逻辑拓扑如右下图所示。</a:t>
            </a:r>
          </a:p>
        </p:txBody>
      </p:sp>
      <p:pic>
        <p:nvPicPr>
          <p:cNvPr id="9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8289640" y="2554781"/>
            <a:ext cx="541201" cy="442800"/>
          </a:xfrm>
          <a:prstGeom prst="rect">
            <a:avLst/>
          </a:prstGeom>
          <a:noFill/>
        </p:spPr>
      </p:pic>
      <p:pic>
        <p:nvPicPr>
          <p:cNvPr id="10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0745458" y="2554781"/>
            <a:ext cx="541201" cy="442800"/>
          </a:xfrm>
          <a:prstGeom prst="rect">
            <a:avLst/>
          </a:prstGeom>
          <a:noFill/>
        </p:spPr>
      </p:pic>
      <p:cxnSp>
        <p:nvCxnSpPr>
          <p:cNvPr id="11" name="直接连接符 10"/>
          <p:cNvCxnSpPr>
            <a:stCxn id="9" idx="3"/>
            <a:endCxn id="10" idx="1"/>
          </p:cNvCxnSpPr>
          <p:nvPr/>
        </p:nvCxnSpPr>
        <p:spPr>
          <a:xfrm>
            <a:off x="8830841" y="2776181"/>
            <a:ext cx="19146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312"/>
          <p:cNvSpPr>
            <a:spLocks noChangeArrowheads="1"/>
          </p:cNvSpPr>
          <p:nvPr/>
        </p:nvSpPr>
        <p:spPr bwMode="auto">
          <a:xfrm>
            <a:off x="8262864" y="2313274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R1</a:t>
            </a:r>
          </a:p>
        </p:txBody>
      </p:sp>
      <p:sp>
        <p:nvSpPr>
          <p:cNvPr id="13" name="Rectangle 312"/>
          <p:cNvSpPr>
            <a:spLocks noChangeArrowheads="1"/>
          </p:cNvSpPr>
          <p:nvPr/>
        </p:nvSpPr>
        <p:spPr bwMode="auto">
          <a:xfrm>
            <a:off x="8707121" y="2725765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  <p:sp>
        <p:nvSpPr>
          <p:cNvPr id="14" name="Rectangle 312"/>
          <p:cNvSpPr>
            <a:spLocks noChangeArrowheads="1"/>
          </p:cNvSpPr>
          <p:nvPr/>
        </p:nvSpPr>
        <p:spPr bwMode="auto">
          <a:xfrm rot="16200000">
            <a:off x="8232347" y="3176711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GE0/0/2</a:t>
            </a:r>
          </a:p>
        </p:txBody>
      </p:sp>
      <p:sp>
        <p:nvSpPr>
          <p:cNvPr id="15" name="Rectangle 312"/>
          <p:cNvSpPr>
            <a:spLocks noChangeArrowheads="1"/>
          </p:cNvSpPr>
          <p:nvPr/>
        </p:nvSpPr>
        <p:spPr bwMode="auto">
          <a:xfrm>
            <a:off x="8568438" y="1652495"/>
            <a:ext cx="2384538" cy="421129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/>
              <a:t>IS-IS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IPv4</a:t>
            </a:r>
            <a:r>
              <a:rPr lang="zh-CN" altLang="en-US" sz="1600" b="1" dirty="0"/>
              <a:t>）逻辑拓扑</a:t>
            </a:r>
            <a:endParaRPr lang="en-US" altLang="zh-CN" sz="1600" b="1" dirty="0"/>
          </a:p>
        </p:txBody>
      </p:sp>
      <p:pic>
        <p:nvPicPr>
          <p:cNvPr id="16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8289640" y="4620139"/>
            <a:ext cx="541201" cy="442800"/>
          </a:xfrm>
          <a:prstGeom prst="rect">
            <a:avLst/>
          </a:prstGeom>
          <a:noFill/>
        </p:spPr>
      </p:pic>
      <p:pic>
        <p:nvPicPr>
          <p:cNvPr id="17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0745458" y="4620139"/>
            <a:ext cx="541201" cy="442800"/>
          </a:xfrm>
          <a:prstGeom prst="rect">
            <a:avLst/>
          </a:prstGeom>
          <a:noFill/>
        </p:spPr>
      </p:pic>
      <p:cxnSp>
        <p:nvCxnSpPr>
          <p:cNvPr id="18" name="直接连接符 17"/>
          <p:cNvCxnSpPr>
            <a:stCxn id="9" idx="2"/>
            <a:endCxn id="16" idx="0"/>
          </p:cNvCxnSpPr>
          <p:nvPr/>
        </p:nvCxnSpPr>
        <p:spPr>
          <a:xfrm>
            <a:off x="8560241" y="2997581"/>
            <a:ext cx="0" cy="16225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>
            <a:stCxn id="10" idx="2"/>
            <a:endCxn id="17" idx="0"/>
          </p:cNvCxnSpPr>
          <p:nvPr/>
        </p:nvCxnSpPr>
        <p:spPr>
          <a:xfrm>
            <a:off x="11016059" y="2997581"/>
            <a:ext cx="0" cy="16225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endCxn id="17" idx="1"/>
          </p:cNvCxnSpPr>
          <p:nvPr/>
        </p:nvCxnSpPr>
        <p:spPr>
          <a:xfrm>
            <a:off x="10495899" y="4841539"/>
            <a:ext cx="24955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312"/>
          <p:cNvSpPr>
            <a:spLocks noChangeArrowheads="1"/>
          </p:cNvSpPr>
          <p:nvPr/>
        </p:nvSpPr>
        <p:spPr bwMode="auto">
          <a:xfrm>
            <a:off x="10718682" y="2313274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R2</a:t>
            </a:r>
          </a:p>
        </p:txBody>
      </p:sp>
      <p:sp>
        <p:nvSpPr>
          <p:cNvPr id="22" name="Rectangle 312"/>
          <p:cNvSpPr>
            <a:spLocks noChangeArrowheads="1"/>
          </p:cNvSpPr>
          <p:nvPr/>
        </p:nvSpPr>
        <p:spPr bwMode="auto">
          <a:xfrm>
            <a:off x="8262864" y="5062713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R3</a:t>
            </a:r>
          </a:p>
        </p:txBody>
      </p:sp>
      <p:sp>
        <p:nvSpPr>
          <p:cNvPr id="23" name="Rectangle 312"/>
          <p:cNvSpPr>
            <a:spLocks noChangeArrowheads="1"/>
          </p:cNvSpPr>
          <p:nvPr/>
        </p:nvSpPr>
        <p:spPr bwMode="auto">
          <a:xfrm>
            <a:off x="10718682" y="5062713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R4</a:t>
            </a:r>
          </a:p>
        </p:txBody>
      </p:sp>
      <p:sp>
        <p:nvSpPr>
          <p:cNvPr id="24" name="Rectangle 312"/>
          <p:cNvSpPr>
            <a:spLocks noChangeArrowheads="1"/>
          </p:cNvSpPr>
          <p:nvPr/>
        </p:nvSpPr>
        <p:spPr bwMode="auto">
          <a:xfrm rot="16200000">
            <a:off x="10469069" y="3187978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GE0/0/2</a:t>
            </a:r>
          </a:p>
        </p:txBody>
      </p:sp>
      <p:sp>
        <p:nvSpPr>
          <p:cNvPr id="25" name="Rectangle 312"/>
          <p:cNvSpPr>
            <a:spLocks noChangeArrowheads="1"/>
          </p:cNvSpPr>
          <p:nvPr/>
        </p:nvSpPr>
        <p:spPr bwMode="auto">
          <a:xfrm>
            <a:off x="10073571" y="5012873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10504067" y="4681094"/>
            <a:ext cx="0" cy="3345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任意多边形 7"/>
          <p:cNvSpPr/>
          <p:nvPr/>
        </p:nvSpPr>
        <p:spPr>
          <a:xfrm>
            <a:off x="8874651" y="3089657"/>
            <a:ext cx="1812983" cy="1113873"/>
          </a:xfrm>
          <a:custGeom>
            <a:avLst/>
            <a:gdLst>
              <a:gd name="connsiteX0" fmla="*/ 0 w 1139253"/>
              <a:gd name="connsiteY0" fmla="*/ 0 h 779488"/>
              <a:gd name="connsiteX1" fmla="*/ 1139253 w 1139253"/>
              <a:gd name="connsiteY1" fmla="*/ 0 h 779488"/>
              <a:gd name="connsiteX2" fmla="*/ 1139253 w 1139253"/>
              <a:gd name="connsiteY2" fmla="*/ 779488 h 779488"/>
              <a:gd name="connsiteX3" fmla="*/ 704538 w 1139253"/>
              <a:gd name="connsiteY3" fmla="*/ 779488 h 779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9253" h="779488">
                <a:moveTo>
                  <a:pt x="0" y="0"/>
                </a:moveTo>
                <a:lnTo>
                  <a:pt x="1139253" y="0"/>
                </a:lnTo>
                <a:lnTo>
                  <a:pt x="1139253" y="779488"/>
                </a:lnTo>
                <a:lnTo>
                  <a:pt x="704538" y="779488"/>
                </a:lnTo>
              </a:path>
            </a:pathLst>
          </a:custGeom>
          <a:noFill/>
          <a:ln w="28575">
            <a:solidFill>
              <a:srgbClr val="C7000B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9445668" y="5968413"/>
            <a:ext cx="517216" cy="0"/>
          </a:xfrm>
          <a:prstGeom prst="straightConnector1">
            <a:avLst/>
          </a:prstGeom>
          <a:ln w="28575">
            <a:solidFill>
              <a:srgbClr val="C7000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312"/>
          <p:cNvSpPr>
            <a:spLocks noChangeArrowheads="1"/>
          </p:cNvSpPr>
          <p:nvPr/>
        </p:nvSpPr>
        <p:spPr bwMode="auto">
          <a:xfrm>
            <a:off x="9917344" y="5732953"/>
            <a:ext cx="1910768" cy="465718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R1</a:t>
            </a:r>
            <a:r>
              <a:rPr lang="zh-CN" altLang="en-US" sz="1400" dirty="0"/>
              <a:t>访问</a:t>
            </a:r>
            <a:r>
              <a:rPr lang="en-US" altLang="zh-CN" sz="1400" dirty="0"/>
              <a:t>10.1.34.0/24</a:t>
            </a:r>
            <a:r>
              <a:rPr lang="zh-CN" altLang="en-US" sz="1400" dirty="0"/>
              <a:t>网段的流量访问路径</a:t>
            </a:r>
            <a:endParaRPr lang="en-US" altLang="zh-CN" sz="1400" dirty="0"/>
          </a:p>
        </p:txBody>
      </p:sp>
      <p:sp>
        <p:nvSpPr>
          <p:cNvPr id="31" name="文本框 30"/>
          <p:cNvSpPr txBox="1"/>
          <p:nvPr/>
        </p:nvSpPr>
        <p:spPr>
          <a:xfrm>
            <a:off x="554655" y="1686176"/>
            <a:ext cx="6937400" cy="3539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[R1]dis 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ip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routing-table protocol 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isis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Route Flags: R - relay, D - download to fib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------------------------------------------------------------------------------------------------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Public routing table : ISIS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        Destinations : 2        Routes : 2 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ISIS routing table status : &lt;Active&gt;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        Destinations : 2        Routes : 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Destination/Mask    Proto    Pre  Cost      Flags 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NextHop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      Interface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     10.1.24.0/24      ISIS-L2  15   20          D     10.1.12.2       GigabitEthernet0/0/1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     </a:t>
            </a:r>
            <a:r>
              <a:rPr lang="en-US" altLang="zh-CN" sz="1400" dirty="0">
                <a:solidFill>
                  <a:srgbClr val="C7000B"/>
                </a:solidFill>
                <a:cs typeface="Courier New" panose="02070309020205020404" pitchFamily="49" charset="0"/>
              </a:rPr>
              <a:t>10.1.34.0/24      ISIS-L2  15   30          D     10.1.12.2       GigabitEthernet0/0/1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ISIS routing table status : &lt;Inactive&gt;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        Destinations : 0        Routes : 0</a:t>
            </a:r>
          </a:p>
        </p:txBody>
      </p:sp>
      <p:sp>
        <p:nvSpPr>
          <p:cNvPr id="28" name="Rectangle 312"/>
          <p:cNvSpPr>
            <a:spLocks noChangeArrowheads="1"/>
          </p:cNvSpPr>
          <p:nvPr/>
        </p:nvSpPr>
        <p:spPr bwMode="auto">
          <a:xfrm rot="16200000">
            <a:off x="7631981" y="3589654"/>
            <a:ext cx="1350378" cy="446420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/>
              <a:t>10.1.13.0/24</a:t>
            </a:r>
          </a:p>
          <a:p>
            <a:pPr algn="ctr"/>
            <a:r>
              <a:rPr lang="en-US" altLang="zh-CN" sz="1400" b="1" dirty="0">
                <a:solidFill>
                  <a:srgbClr val="C7000B"/>
                </a:solidFill>
              </a:rPr>
              <a:t>Cost:40</a:t>
            </a:r>
          </a:p>
        </p:txBody>
      </p:sp>
      <p:sp>
        <p:nvSpPr>
          <p:cNvPr id="29" name="Rectangle 312"/>
          <p:cNvSpPr>
            <a:spLocks noChangeArrowheads="1"/>
          </p:cNvSpPr>
          <p:nvPr/>
        </p:nvSpPr>
        <p:spPr bwMode="auto">
          <a:xfrm rot="16200000">
            <a:off x="10597456" y="3571188"/>
            <a:ext cx="1350378" cy="483352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solidFill>
                  <a:srgbClr val="C7000B"/>
                </a:solidFill>
              </a:rPr>
              <a:t>Cost:10</a:t>
            </a:r>
          </a:p>
          <a:p>
            <a:pPr algn="ctr"/>
            <a:r>
              <a:rPr lang="en-US" altLang="zh-CN" sz="1400" dirty="0"/>
              <a:t>10.1.24.0/24</a:t>
            </a:r>
          </a:p>
        </p:txBody>
      </p:sp>
      <p:sp>
        <p:nvSpPr>
          <p:cNvPr id="32" name="Rectangle 312"/>
          <p:cNvSpPr>
            <a:spLocks noChangeArrowheads="1"/>
          </p:cNvSpPr>
          <p:nvPr/>
        </p:nvSpPr>
        <p:spPr bwMode="auto">
          <a:xfrm>
            <a:off x="9108418" y="2287928"/>
            <a:ext cx="1350378" cy="462195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/>
              <a:t>10.1.12.0/24</a:t>
            </a:r>
          </a:p>
          <a:p>
            <a:pPr algn="ctr"/>
            <a:r>
              <a:rPr lang="en-US" altLang="zh-CN" sz="1400" dirty="0">
                <a:solidFill>
                  <a:srgbClr val="C7000B"/>
                </a:solidFill>
              </a:rPr>
              <a:t>Cost:10</a:t>
            </a:r>
          </a:p>
        </p:txBody>
      </p:sp>
      <p:sp>
        <p:nvSpPr>
          <p:cNvPr id="33" name="Rectangle 312"/>
          <p:cNvSpPr>
            <a:spLocks noChangeArrowheads="1"/>
          </p:cNvSpPr>
          <p:nvPr/>
        </p:nvSpPr>
        <p:spPr bwMode="auto">
          <a:xfrm>
            <a:off x="9141541" y="4655822"/>
            <a:ext cx="1350378" cy="420812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dirty="0">
                <a:solidFill>
                  <a:srgbClr val="C7000B"/>
                </a:solidFill>
              </a:rPr>
              <a:t>Cost:10</a:t>
            </a:r>
          </a:p>
          <a:p>
            <a:pPr algn="r"/>
            <a:r>
              <a:rPr lang="en-US" altLang="zh-CN" sz="1400" dirty="0"/>
              <a:t>10.1.34.0/24</a:t>
            </a:r>
          </a:p>
        </p:txBody>
      </p:sp>
      <p:sp>
        <p:nvSpPr>
          <p:cNvPr id="34" name="Rectangle 312"/>
          <p:cNvSpPr>
            <a:spLocks noChangeArrowheads="1"/>
          </p:cNvSpPr>
          <p:nvPr/>
        </p:nvSpPr>
        <p:spPr bwMode="auto">
          <a:xfrm>
            <a:off x="10011858" y="2725765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  <p:sp>
        <p:nvSpPr>
          <p:cNvPr id="35" name="Rectangle 312"/>
          <p:cNvSpPr>
            <a:spLocks noChangeArrowheads="1"/>
          </p:cNvSpPr>
          <p:nvPr/>
        </p:nvSpPr>
        <p:spPr bwMode="auto">
          <a:xfrm rot="16200000">
            <a:off x="10469069" y="4157925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GE0/0/2</a:t>
            </a:r>
          </a:p>
        </p:txBody>
      </p:sp>
      <p:sp>
        <p:nvSpPr>
          <p:cNvPr id="36" name="Rectangle 312"/>
          <p:cNvSpPr>
            <a:spLocks noChangeArrowheads="1"/>
          </p:cNvSpPr>
          <p:nvPr/>
        </p:nvSpPr>
        <p:spPr bwMode="auto">
          <a:xfrm rot="16200000">
            <a:off x="8232347" y="4122836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GE0/0/2</a:t>
            </a:r>
          </a:p>
        </p:txBody>
      </p:sp>
    </p:spTree>
    <p:extLst>
      <p:ext uri="{BB962C8B-B14F-4D97-AF65-F5344CB8AC3E}">
        <p14:creationId xmlns:p14="http://schemas.microsoft.com/office/powerpoint/2010/main" val="35595702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查看</a:t>
            </a:r>
            <a:r>
              <a:rPr lang="en-US" altLang="zh-CN"/>
              <a:t>IS-IS (IPv6)</a:t>
            </a:r>
            <a:r>
              <a:rPr lang="zh-CN" altLang="en-US"/>
              <a:t>网络路由信息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0"/>
          </p:nvPr>
        </p:nvSpPr>
        <p:spPr>
          <a:xfrm>
            <a:off x="455612" y="1047751"/>
            <a:ext cx="11293475" cy="422046"/>
          </a:xfrm>
        </p:spPr>
        <p:txBody>
          <a:bodyPr/>
          <a:lstStyle/>
          <a:p>
            <a:r>
              <a:rPr lang="zh-CN" altLang="en-US" sz="2000" dirty="0"/>
              <a:t>以</a:t>
            </a:r>
            <a:r>
              <a:rPr lang="en-US" altLang="zh-CN" sz="2000" dirty="0"/>
              <a:t>R1</a:t>
            </a:r>
            <a:r>
              <a:rPr lang="zh-CN" altLang="en-US" sz="2000" dirty="0"/>
              <a:t>为根计算最短路径树为例，可以发现</a:t>
            </a:r>
            <a:r>
              <a:rPr lang="en-US" altLang="zh-CN" sz="2000" dirty="0"/>
              <a:t>IS-IS</a:t>
            </a:r>
            <a:r>
              <a:rPr lang="zh-CN" altLang="en-US" sz="2000" dirty="0"/>
              <a:t>（</a:t>
            </a:r>
            <a:r>
              <a:rPr lang="en-US" altLang="zh-CN" sz="2000" dirty="0"/>
              <a:t>IPv6</a:t>
            </a:r>
            <a:r>
              <a:rPr lang="zh-CN" altLang="en-US" sz="2000" dirty="0"/>
              <a:t>）的逻辑拓扑如右下图所示。</a:t>
            </a:r>
          </a:p>
          <a:p>
            <a:endParaRPr lang="zh-CN" altLang="en-US" sz="2000" dirty="0"/>
          </a:p>
        </p:txBody>
      </p:sp>
      <p:sp>
        <p:nvSpPr>
          <p:cNvPr id="3" name="文本框 2"/>
          <p:cNvSpPr txBox="1"/>
          <p:nvPr/>
        </p:nvSpPr>
        <p:spPr>
          <a:xfrm>
            <a:off x="561534" y="1555050"/>
            <a:ext cx="6937400" cy="46166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[R1]dis ipv6 routing-table protocol 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isis</a:t>
            </a:r>
            <a:endParaRPr lang="en-US" altLang="zh-CN" sz="14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Public Routing Table : ISIS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Summary Count : 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ISIS Routing Table's Status : &lt; Active &gt;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Summary Count : 2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1400" dirty="0">
                <a:solidFill>
                  <a:srgbClr val="C7000B"/>
                </a:solidFill>
                <a:cs typeface="Courier New" panose="02070309020205020404" pitchFamily="49" charset="0"/>
              </a:rPr>
              <a:t>Destination :	2001:DB8:2345:24::              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	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PrefixLength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: 64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NextHop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:		FE80::2E0:FCFF:FE90:3D3A    	Preference    : 15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Cost :		30                                      	Protocol       : ISIS-L2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RelayNextHop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:	::                              		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TunnelID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     : 0x0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Interface : 	GigabitEthernet0/0/2            	Flags            : 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cs typeface="Courier New" panose="02070309020205020404" pitchFamily="49" charset="0"/>
              </a:rPr>
              <a:t> Destination :	2001:DB8:2345:34::              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	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PrefixLength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: 64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NextHop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: 	FE80::2E0:FCFF:FE90:3D3A   	Preference    : 15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Cost : 		20                              	Protocol       : ISIS-L2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RelayNextHop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: 	::                              		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TunnelID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     : 0x0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Interface : 	GigabitEthernet0/0/2            	Flags            : 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ISIS Routing Table's Status : &lt; Inactive &gt;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Summary Count : 0</a:t>
            </a:r>
          </a:p>
        </p:txBody>
      </p:sp>
      <p:pic>
        <p:nvPicPr>
          <p:cNvPr id="47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8289640" y="2554781"/>
            <a:ext cx="541201" cy="442800"/>
          </a:xfrm>
          <a:prstGeom prst="rect">
            <a:avLst/>
          </a:prstGeom>
          <a:noFill/>
        </p:spPr>
      </p:pic>
      <p:pic>
        <p:nvPicPr>
          <p:cNvPr id="48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0745458" y="2554781"/>
            <a:ext cx="541201" cy="442800"/>
          </a:xfrm>
          <a:prstGeom prst="rect">
            <a:avLst/>
          </a:prstGeom>
          <a:noFill/>
        </p:spPr>
      </p:pic>
      <p:cxnSp>
        <p:nvCxnSpPr>
          <p:cNvPr id="49" name="直接连接符 48"/>
          <p:cNvCxnSpPr>
            <a:stCxn id="47" idx="3"/>
            <a:endCxn id="48" idx="1"/>
          </p:cNvCxnSpPr>
          <p:nvPr/>
        </p:nvCxnSpPr>
        <p:spPr>
          <a:xfrm>
            <a:off x="8830841" y="2776181"/>
            <a:ext cx="19146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312"/>
          <p:cNvSpPr>
            <a:spLocks noChangeArrowheads="1"/>
          </p:cNvSpPr>
          <p:nvPr/>
        </p:nvSpPr>
        <p:spPr bwMode="auto">
          <a:xfrm>
            <a:off x="8262864" y="2313274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R1</a:t>
            </a:r>
          </a:p>
        </p:txBody>
      </p:sp>
      <p:sp>
        <p:nvSpPr>
          <p:cNvPr id="52" name="Rectangle 312"/>
          <p:cNvSpPr>
            <a:spLocks noChangeArrowheads="1"/>
          </p:cNvSpPr>
          <p:nvPr/>
        </p:nvSpPr>
        <p:spPr bwMode="auto">
          <a:xfrm>
            <a:off x="8707121" y="2725765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  <p:sp>
        <p:nvSpPr>
          <p:cNvPr id="53" name="Rectangle 312"/>
          <p:cNvSpPr>
            <a:spLocks noChangeArrowheads="1"/>
          </p:cNvSpPr>
          <p:nvPr/>
        </p:nvSpPr>
        <p:spPr bwMode="auto">
          <a:xfrm rot="16200000">
            <a:off x="8232347" y="3176711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GE0/0/2</a:t>
            </a:r>
          </a:p>
        </p:txBody>
      </p:sp>
      <p:sp>
        <p:nvSpPr>
          <p:cNvPr id="54" name="Rectangle 312"/>
          <p:cNvSpPr>
            <a:spLocks noChangeArrowheads="1"/>
          </p:cNvSpPr>
          <p:nvPr/>
        </p:nvSpPr>
        <p:spPr bwMode="auto">
          <a:xfrm>
            <a:off x="8568438" y="1652495"/>
            <a:ext cx="2384538" cy="421129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dirty="0"/>
              <a:t>IS-IS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IPv6</a:t>
            </a:r>
            <a:r>
              <a:rPr lang="zh-CN" altLang="en-US" sz="1600" b="1" dirty="0"/>
              <a:t>）逻辑拓扑</a:t>
            </a:r>
            <a:endParaRPr lang="en-US" altLang="zh-CN" sz="1600" b="1" dirty="0"/>
          </a:p>
        </p:txBody>
      </p:sp>
      <p:pic>
        <p:nvPicPr>
          <p:cNvPr id="55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8289640" y="4620139"/>
            <a:ext cx="541201" cy="442800"/>
          </a:xfrm>
          <a:prstGeom prst="rect">
            <a:avLst/>
          </a:prstGeom>
          <a:noFill/>
        </p:spPr>
      </p:pic>
      <p:pic>
        <p:nvPicPr>
          <p:cNvPr id="56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0745458" y="4620139"/>
            <a:ext cx="541201" cy="442800"/>
          </a:xfrm>
          <a:prstGeom prst="rect">
            <a:avLst/>
          </a:prstGeom>
          <a:noFill/>
        </p:spPr>
      </p:pic>
      <p:cxnSp>
        <p:nvCxnSpPr>
          <p:cNvPr id="57" name="直接连接符 56"/>
          <p:cNvCxnSpPr>
            <a:stCxn id="47" idx="2"/>
            <a:endCxn id="55" idx="0"/>
          </p:cNvCxnSpPr>
          <p:nvPr/>
        </p:nvCxnSpPr>
        <p:spPr>
          <a:xfrm>
            <a:off x="8560241" y="2997581"/>
            <a:ext cx="0" cy="16225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312"/>
          <p:cNvSpPr>
            <a:spLocks noChangeArrowheads="1"/>
          </p:cNvSpPr>
          <p:nvPr/>
        </p:nvSpPr>
        <p:spPr bwMode="auto">
          <a:xfrm>
            <a:off x="10718682" y="2313274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R2</a:t>
            </a:r>
          </a:p>
        </p:txBody>
      </p:sp>
      <p:sp>
        <p:nvSpPr>
          <p:cNvPr id="61" name="Rectangle 312"/>
          <p:cNvSpPr>
            <a:spLocks noChangeArrowheads="1"/>
          </p:cNvSpPr>
          <p:nvPr/>
        </p:nvSpPr>
        <p:spPr bwMode="auto">
          <a:xfrm>
            <a:off x="8262864" y="5062713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R3</a:t>
            </a:r>
          </a:p>
        </p:txBody>
      </p:sp>
      <p:sp>
        <p:nvSpPr>
          <p:cNvPr id="62" name="Rectangle 312"/>
          <p:cNvSpPr>
            <a:spLocks noChangeArrowheads="1"/>
          </p:cNvSpPr>
          <p:nvPr/>
        </p:nvSpPr>
        <p:spPr bwMode="auto">
          <a:xfrm>
            <a:off x="10718682" y="5062713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R4</a:t>
            </a:r>
          </a:p>
        </p:txBody>
      </p:sp>
      <p:sp>
        <p:nvSpPr>
          <p:cNvPr id="64" name="Rectangle 312"/>
          <p:cNvSpPr>
            <a:spLocks noChangeArrowheads="1"/>
          </p:cNvSpPr>
          <p:nvPr/>
        </p:nvSpPr>
        <p:spPr bwMode="auto">
          <a:xfrm>
            <a:off x="8693722" y="4578285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  <p:cxnSp>
        <p:nvCxnSpPr>
          <p:cNvPr id="67" name="直接箭头连接符 66"/>
          <p:cNvCxnSpPr/>
          <p:nvPr/>
        </p:nvCxnSpPr>
        <p:spPr>
          <a:xfrm>
            <a:off x="8620340" y="5969786"/>
            <a:ext cx="517216" cy="0"/>
          </a:xfrm>
          <a:prstGeom prst="straightConnector1">
            <a:avLst/>
          </a:prstGeom>
          <a:ln w="28575">
            <a:solidFill>
              <a:srgbClr val="C7000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312"/>
          <p:cNvSpPr>
            <a:spLocks noChangeArrowheads="1"/>
          </p:cNvSpPr>
          <p:nvPr/>
        </p:nvSpPr>
        <p:spPr bwMode="auto">
          <a:xfrm>
            <a:off x="9123550" y="5725138"/>
            <a:ext cx="2637486" cy="465718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/>
              <a:t>R1</a:t>
            </a:r>
            <a:r>
              <a:rPr lang="zh-CN" altLang="en-US" sz="1400" dirty="0"/>
              <a:t>访问</a:t>
            </a:r>
            <a:r>
              <a:rPr lang="en-US" altLang="zh-CN" sz="1400" dirty="0"/>
              <a:t>2001:DB8:2345:24::/64</a:t>
            </a:r>
          </a:p>
          <a:p>
            <a:r>
              <a:rPr lang="zh-CN" altLang="en-US" sz="1400" dirty="0"/>
              <a:t>网段的流量访问路径</a:t>
            </a:r>
            <a:endParaRPr lang="en-US" altLang="zh-CN" sz="1400" dirty="0"/>
          </a:p>
        </p:txBody>
      </p:sp>
      <p:sp>
        <p:nvSpPr>
          <p:cNvPr id="69" name="Rectangle 312"/>
          <p:cNvSpPr>
            <a:spLocks noChangeArrowheads="1"/>
          </p:cNvSpPr>
          <p:nvPr/>
        </p:nvSpPr>
        <p:spPr bwMode="auto">
          <a:xfrm rot="16200000">
            <a:off x="7173641" y="3601376"/>
            <a:ext cx="2178447" cy="446420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/>
              <a:t>2001:DB8:2345:13::/64</a:t>
            </a:r>
          </a:p>
          <a:p>
            <a:pPr algn="ctr"/>
            <a:r>
              <a:rPr lang="en-US" altLang="zh-CN" sz="1400" dirty="0">
                <a:solidFill>
                  <a:srgbClr val="C7000B"/>
                </a:solidFill>
              </a:rPr>
              <a:t>Cost:10</a:t>
            </a:r>
          </a:p>
        </p:txBody>
      </p:sp>
      <p:sp>
        <p:nvSpPr>
          <p:cNvPr id="70" name="Rectangle 312"/>
          <p:cNvSpPr>
            <a:spLocks noChangeArrowheads="1"/>
          </p:cNvSpPr>
          <p:nvPr/>
        </p:nvSpPr>
        <p:spPr bwMode="auto">
          <a:xfrm rot="16200000">
            <a:off x="10246290" y="3582910"/>
            <a:ext cx="2056628" cy="483352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solidFill>
                  <a:srgbClr val="C7000B"/>
                </a:solidFill>
              </a:rPr>
              <a:t>Cost:10</a:t>
            </a:r>
          </a:p>
          <a:p>
            <a:pPr algn="ctr"/>
            <a:r>
              <a:rPr lang="en-US" altLang="zh-CN" sz="1400" dirty="0"/>
              <a:t>2001:DB8:2345:24::/64</a:t>
            </a:r>
          </a:p>
        </p:txBody>
      </p:sp>
      <p:sp>
        <p:nvSpPr>
          <p:cNvPr id="71" name="Rectangle 312"/>
          <p:cNvSpPr>
            <a:spLocks noChangeArrowheads="1"/>
          </p:cNvSpPr>
          <p:nvPr/>
        </p:nvSpPr>
        <p:spPr bwMode="auto">
          <a:xfrm>
            <a:off x="8730160" y="2273168"/>
            <a:ext cx="2184247" cy="462195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/>
              <a:t>2001:DB8:2345:12::/64</a:t>
            </a:r>
          </a:p>
          <a:p>
            <a:pPr algn="ctr"/>
            <a:r>
              <a:rPr lang="en-US" altLang="zh-CN" sz="1400" b="1" dirty="0">
                <a:solidFill>
                  <a:srgbClr val="C7000B"/>
                </a:solidFill>
              </a:rPr>
              <a:t>Cost:40</a:t>
            </a:r>
          </a:p>
        </p:txBody>
      </p:sp>
      <p:sp>
        <p:nvSpPr>
          <p:cNvPr id="73" name="Rectangle 312"/>
          <p:cNvSpPr>
            <a:spLocks noChangeArrowheads="1"/>
          </p:cNvSpPr>
          <p:nvPr/>
        </p:nvSpPr>
        <p:spPr bwMode="auto">
          <a:xfrm>
            <a:off x="10011858" y="2725765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  <p:sp>
        <p:nvSpPr>
          <p:cNvPr id="74" name="Rectangle 312"/>
          <p:cNvSpPr>
            <a:spLocks noChangeArrowheads="1"/>
          </p:cNvSpPr>
          <p:nvPr/>
        </p:nvSpPr>
        <p:spPr bwMode="auto">
          <a:xfrm rot="16200000">
            <a:off x="10263555" y="4204226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GE0/0/2</a:t>
            </a:r>
          </a:p>
        </p:txBody>
      </p:sp>
      <p:sp>
        <p:nvSpPr>
          <p:cNvPr id="75" name="Rectangle 312"/>
          <p:cNvSpPr>
            <a:spLocks noChangeArrowheads="1"/>
          </p:cNvSpPr>
          <p:nvPr/>
        </p:nvSpPr>
        <p:spPr bwMode="auto">
          <a:xfrm rot="16200000">
            <a:off x="8232347" y="4122836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GE0/0/2</a:t>
            </a:r>
          </a:p>
        </p:txBody>
      </p:sp>
      <p:cxnSp>
        <p:nvCxnSpPr>
          <p:cNvPr id="76" name="直接连接符 75"/>
          <p:cNvCxnSpPr>
            <a:stCxn id="55" idx="3"/>
            <a:endCxn id="56" idx="1"/>
          </p:cNvCxnSpPr>
          <p:nvPr/>
        </p:nvCxnSpPr>
        <p:spPr>
          <a:xfrm>
            <a:off x="8830841" y="4841539"/>
            <a:ext cx="19146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11004193" y="4420594"/>
            <a:ext cx="1" cy="1964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10821108" y="4420594"/>
            <a:ext cx="36617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312"/>
          <p:cNvSpPr>
            <a:spLocks noChangeArrowheads="1"/>
          </p:cNvSpPr>
          <p:nvPr/>
        </p:nvSpPr>
        <p:spPr bwMode="auto">
          <a:xfrm>
            <a:off x="9969867" y="4578285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  <p:sp>
        <p:nvSpPr>
          <p:cNvPr id="80" name="Rectangle 312"/>
          <p:cNvSpPr>
            <a:spLocks noChangeArrowheads="1"/>
          </p:cNvSpPr>
          <p:nvPr/>
        </p:nvSpPr>
        <p:spPr bwMode="auto">
          <a:xfrm>
            <a:off x="8730160" y="4853927"/>
            <a:ext cx="2184247" cy="462195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solidFill>
                  <a:srgbClr val="C7000B"/>
                </a:solidFill>
              </a:rPr>
              <a:t>Cost:10</a:t>
            </a:r>
          </a:p>
          <a:p>
            <a:pPr algn="ctr"/>
            <a:r>
              <a:rPr lang="en-US" altLang="zh-CN" sz="1400" dirty="0"/>
              <a:t>2001:DB8:2345:34::/64</a:t>
            </a:r>
          </a:p>
        </p:txBody>
      </p:sp>
      <p:sp>
        <p:nvSpPr>
          <p:cNvPr id="81" name="任意多边形 80"/>
          <p:cNvSpPr/>
          <p:nvPr/>
        </p:nvSpPr>
        <p:spPr>
          <a:xfrm>
            <a:off x="8921999" y="3170631"/>
            <a:ext cx="1633455" cy="1200297"/>
          </a:xfrm>
          <a:custGeom>
            <a:avLst/>
            <a:gdLst>
              <a:gd name="connsiteX0" fmla="*/ 0 w 1274163"/>
              <a:gd name="connsiteY0" fmla="*/ 0 h 614597"/>
              <a:gd name="connsiteX1" fmla="*/ 0 w 1274163"/>
              <a:gd name="connsiteY1" fmla="*/ 614597 h 614597"/>
              <a:gd name="connsiteX2" fmla="*/ 1274163 w 1274163"/>
              <a:gd name="connsiteY2" fmla="*/ 614597 h 614597"/>
              <a:gd name="connsiteX3" fmla="*/ 1274163 w 1274163"/>
              <a:gd name="connsiteY3" fmla="*/ 224853 h 614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163" h="614597">
                <a:moveTo>
                  <a:pt x="0" y="0"/>
                </a:moveTo>
                <a:lnTo>
                  <a:pt x="0" y="614597"/>
                </a:lnTo>
                <a:lnTo>
                  <a:pt x="1274163" y="614597"/>
                </a:lnTo>
                <a:lnTo>
                  <a:pt x="1274163" y="224853"/>
                </a:lnTo>
              </a:path>
            </a:pathLst>
          </a:custGeom>
          <a:noFill/>
          <a:ln w="28575">
            <a:solidFill>
              <a:srgbClr val="C7000B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C7000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7084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 bwMode="gray"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静态路由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OSPFv3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IS-IS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（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IPv6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）原理与配置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b="1" dirty="0"/>
              <a:t>BGP4+</a:t>
            </a:r>
            <a:r>
              <a:rPr lang="zh-CN" altLang="en-US" b="1" dirty="0"/>
              <a:t>原理与配置</a:t>
            </a:r>
            <a:endParaRPr lang="en-US" altLang="zh-CN" b="1" dirty="0"/>
          </a:p>
          <a:p>
            <a:pPr lvl="1"/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2612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BGP4+</a:t>
            </a:r>
            <a:r>
              <a:rPr lang="zh-CN" altLang="en-US" dirty="0"/>
              <a:t>概述        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000" dirty="0"/>
              <a:t>传统的</a:t>
            </a:r>
            <a:r>
              <a:rPr lang="en-US" altLang="zh-CN" sz="2000" dirty="0"/>
              <a:t>BGP-4</a:t>
            </a:r>
            <a:r>
              <a:rPr lang="zh-CN" altLang="en-US" sz="2000" dirty="0"/>
              <a:t>只能管理</a:t>
            </a:r>
            <a:r>
              <a:rPr lang="en-US" altLang="zh-CN" sz="2000" dirty="0"/>
              <a:t>IPv4</a:t>
            </a:r>
            <a:r>
              <a:rPr lang="zh-CN" altLang="en-US" sz="2000" dirty="0"/>
              <a:t>单播路由信息，</a:t>
            </a:r>
            <a:r>
              <a:rPr lang="en-US" altLang="zh-CN" sz="2000" dirty="0"/>
              <a:t>BGP</a:t>
            </a:r>
            <a:r>
              <a:rPr lang="zh-CN" altLang="en-US" sz="2000" dirty="0"/>
              <a:t>多协议扩展（</a:t>
            </a:r>
            <a:r>
              <a:rPr lang="en-US" altLang="zh-CN" sz="2000" dirty="0" err="1"/>
              <a:t>MultiProtocol</a:t>
            </a:r>
            <a:r>
              <a:rPr lang="en-US" altLang="zh-CN" sz="2000" dirty="0"/>
              <a:t> BGP</a:t>
            </a:r>
            <a:r>
              <a:rPr lang="zh-CN" altLang="en-US" sz="2000" dirty="0"/>
              <a:t>，</a:t>
            </a:r>
            <a:r>
              <a:rPr lang="en-US" altLang="zh-CN" sz="2000" dirty="0"/>
              <a:t>MP-BGP</a:t>
            </a:r>
            <a:r>
              <a:rPr lang="zh-CN" altLang="en-US" sz="2000" dirty="0"/>
              <a:t>）提供了对多种网络层协议的支持。目前的</a:t>
            </a:r>
            <a:r>
              <a:rPr lang="en-US" altLang="zh-CN" sz="2000" dirty="0"/>
              <a:t>MP-BGP</a:t>
            </a:r>
            <a:r>
              <a:rPr lang="zh-CN" altLang="en-US" sz="2000" dirty="0"/>
              <a:t>，使用扩展属性和地址族来实现对</a:t>
            </a:r>
            <a:r>
              <a:rPr lang="en-US" altLang="zh-CN" sz="2000" dirty="0"/>
              <a:t>IPv6</a:t>
            </a:r>
            <a:r>
              <a:rPr lang="zh-CN" altLang="en-US" sz="2000" dirty="0"/>
              <a:t>、组播和</a:t>
            </a:r>
            <a:r>
              <a:rPr lang="en-US" altLang="zh-CN" sz="2000" dirty="0"/>
              <a:t>VPN</a:t>
            </a:r>
            <a:r>
              <a:rPr lang="zh-CN" altLang="en-US" sz="2000" dirty="0"/>
              <a:t>相关内容的支持，</a:t>
            </a:r>
            <a:r>
              <a:rPr lang="en-US" altLang="zh-CN" sz="2000" dirty="0"/>
              <a:t>BGP</a:t>
            </a:r>
            <a:r>
              <a:rPr lang="zh-CN" altLang="en-US" sz="2000" dirty="0"/>
              <a:t>协议原有的报文机制和路由机制并没有改变。</a:t>
            </a:r>
          </a:p>
          <a:p>
            <a:r>
              <a:rPr lang="zh-CN" altLang="en-US" sz="2000" dirty="0"/>
              <a:t>其中，</a:t>
            </a:r>
            <a:r>
              <a:rPr lang="en-US" altLang="zh-CN" sz="2000" dirty="0"/>
              <a:t>MP-BGP</a:t>
            </a:r>
            <a:r>
              <a:rPr lang="zh-CN" altLang="en-US" sz="2000" dirty="0"/>
              <a:t>对</a:t>
            </a:r>
            <a:r>
              <a:rPr lang="en-US" altLang="zh-CN" sz="2000" dirty="0"/>
              <a:t>IPv6</a:t>
            </a:r>
            <a:r>
              <a:rPr lang="zh-CN" altLang="en-US" sz="2000" dirty="0"/>
              <a:t>单播网络的支持特性称为</a:t>
            </a:r>
            <a:r>
              <a:rPr lang="en-US" altLang="zh-CN" sz="2000" dirty="0"/>
              <a:t>BGP4+</a:t>
            </a:r>
            <a:r>
              <a:rPr lang="zh-CN" altLang="en-US" sz="2000" dirty="0"/>
              <a:t>。</a:t>
            </a:r>
            <a:r>
              <a:rPr lang="en-US" altLang="zh-CN" sz="2000" dirty="0"/>
              <a:t>BGP4+</a:t>
            </a:r>
            <a:r>
              <a:rPr lang="zh-CN" altLang="en-US" sz="2000" dirty="0"/>
              <a:t>为</a:t>
            </a:r>
            <a:r>
              <a:rPr lang="en-US" altLang="zh-CN" sz="2000" dirty="0"/>
              <a:t>IPv6</a:t>
            </a:r>
            <a:r>
              <a:rPr lang="zh-CN" altLang="en-US" sz="2000" dirty="0"/>
              <a:t>单播网络建立独立的拓扑结构，并将路由信息储存在独立的路由表中，保持单播</a:t>
            </a:r>
            <a:r>
              <a:rPr lang="en-US" altLang="zh-CN" sz="2000" dirty="0"/>
              <a:t>IPv4</a:t>
            </a:r>
            <a:r>
              <a:rPr lang="zh-CN" altLang="en-US" sz="2000" dirty="0"/>
              <a:t>网络和单播</a:t>
            </a:r>
            <a:r>
              <a:rPr lang="en-US" altLang="zh-CN" sz="2000" dirty="0"/>
              <a:t>IPv6</a:t>
            </a:r>
            <a:r>
              <a:rPr lang="zh-CN" altLang="en-US" sz="2000" dirty="0"/>
              <a:t>网络之间路由信息相互隔离。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5165563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000" dirty="0"/>
              <a:t>MP-BGP</a:t>
            </a:r>
            <a:r>
              <a:rPr lang="zh-CN" altLang="en-US" sz="2000" dirty="0"/>
              <a:t>采用地址族来区分不同的网络层协议，要在</a:t>
            </a:r>
            <a:r>
              <a:rPr lang="en-US" altLang="zh-CN" sz="2000" dirty="0"/>
              <a:t>BGP</a:t>
            </a:r>
            <a:r>
              <a:rPr lang="zh-CN" altLang="en-US" sz="2000" dirty="0"/>
              <a:t>对等体之间交互不同类型的路由信息，则需要在正确的地址族视图下激活对等体，以及发布</a:t>
            </a:r>
            <a:r>
              <a:rPr lang="en-US" altLang="zh-CN" sz="2000" dirty="0"/>
              <a:t>BGP</a:t>
            </a:r>
            <a:r>
              <a:rPr lang="zh-CN" altLang="en-US" sz="2000" dirty="0"/>
              <a:t>路由。</a:t>
            </a:r>
            <a:endParaRPr lang="en-US" altLang="zh-CN" sz="2000" dirty="0"/>
          </a:p>
          <a:p>
            <a:r>
              <a:rPr lang="en-US" altLang="zh-CN" sz="2000" dirty="0"/>
              <a:t>MP-BGP</a:t>
            </a:r>
            <a:r>
              <a:rPr lang="zh-CN" altLang="en-US" sz="2000" dirty="0"/>
              <a:t>支持的地址族有：</a:t>
            </a:r>
            <a:endParaRPr lang="en-US" altLang="zh-CN" sz="2000" dirty="0"/>
          </a:p>
          <a:p>
            <a:pPr lvl="1"/>
            <a:r>
              <a:rPr lang="en-US" altLang="zh-CN" sz="1800" dirty="0"/>
              <a:t>IPv4</a:t>
            </a:r>
            <a:r>
              <a:rPr lang="zh-CN" altLang="en-US" sz="1800" dirty="0"/>
              <a:t>单播地址族</a:t>
            </a:r>
            <a:endParaRPr lang="en-US" altLang="zh-CN" sz="1800" dirty="0"/>
          </a:p>
          <a:p>
            <a:pPr lvl="1"/>
            <a:r>
              <a:rPr lang="en-US" altLang="zh-CN" sz="1800" dirty="0"/>
              <a:t>IPv4</a:t>
            </a:r>
            <a:r>
              <a:rPr lang="zh-CN" altLang="en-US" sz="1800" dirty="0"/>
              <a:t>组播地址族</a:t>
            </a:r>
            <a:endParaRPr lang="en-US" altLang="zh-CN" sz="1800" dirty="0"/>
          </a:p>
          <a:p>
            <a:pPr lvl="1"/>
            <a:r>
              <a:rPr lang="en-US" altLang="zh-CN" sz="1800" dirty="0"/>
              <a:t>IPv6</a:t>
            </a:r>
            <a:r>
              <a:rPr lang="zh-CN" altLang="en-US" sz="1800" dirty="0"/>
              <a:t>单播地址族</a:t>
            </a:r>
            <a:endParaRPr lang="en-US" altLang="zh-CN" sz="1800" dirty="0"/>
          </a:p>
          <a:p>
            <a:pPr lvl="1"/>
            <a:r>
              <a:rPr lang="en-US" altLang="zh-CN" sz="1800" dirty="0"/>
              <a:t>VPNv4</a:t>
            </a:r>
            <a:r>
              <a:rPr lang="zh-CN" altLang="en-US" sz="1800" dirty="0"/>
              <a:t>地址族</a:t>
            </a:r>
            <a:endParaRPr lang="en-US" altLang="zh-CN" sz="1800" dirty="0"/>
          </a:p>
          <a:p>
            <a:pPr lvl="1"/>
            <a:r>
              <a:rPr lang="en-US" altLang="zh-CN" sz="1800" dirty="0"/>
              <a:t>VPNv6</a:t>
            </a:r>
            <a:r>
              <a:rPr lang="zh-CN" altLang="en-US" sz="1800" dirty="0"/>
              <a:t>地址族</a:t>
            </a:r>
            <a:endParaRPr lang="en-US" altLang="zh-CN" sz="1800" dirty="0"/>
          </a:p>
          <a:p>
            <a:pPr lvl="1"/>
            <a:r>
              <a:rPr lang="en-US" altLang="zh-CN" sz="1800" dirty="0"/>
              <a:t>……</a:t>
            </a:r>
            <a:endParaRPr lang="zh-CN" altLang="en-US" sz="180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MP-BGP</a:t>
            </a:r>
            <a:r>
              <a:rPr lang="zh-CN" altLang="en-US" dirty="0"/>
              <a:t>支持的地址族</a:t>
            </a:r>
          </a:p>
        </p:txBody>
      </p:sp>
      <p:sp>
        <p:nvSpPr>
          <p:cNvPr id="90" name="矩形 89"/>
          <p:cNvSpPr/>
          <p:nvPr/>
        </p:nvSpPr>
        <p:spPr bwMode="gray">
          <a:xfrm>
            <a:off x="9805931" y="3540052"/>
            <a:ext cx="1296137" cy="937305"/>
          </a:xfrm>
          <a:prstGeom prst="rect">
            <a:avLst/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91" name="矩形 90"/>
          <p:cNvSpPr/>
          <p:nvPr/>
        </p:nvSpPr>
        <p:spPr bwMode="gray">
          <a:xfrm>
            <a:off x="5089334" y="3540052"/>
            <a:ext cx="1268853" cy="937305"/>
          </a:xfrm>
          <a:prstGeom prst="rect">
            <a:avLst/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89" name="矩形 88"/>
          <p:cNvSpPr/>
          <p:nvPr/>
        </p:nvSpPr>
        <p:spPr bwMode="gray">
          <a:xfrm>
            <a:off x="9805931" y="2317465"/>
            <a:ext cx="1296137" cy="937305"/>
          </a:xfrm>
          <a:prstGeom prst="rect">
            <a:avLst/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88" name="矩形 87"/>
          <p:cNvSpPr/>
          <p:nvPr/>
        </p:nvSpPr>
        <p:spPr bwMode="gray">
          <a:xfrm>
            <a:off x="5089334" y="2317465"/>
            <a:ext cx="1268853" cy="937305"/>
          </a:xfrm>
          <a:prstGeom prst="rect">
            <a:avLst/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84" name="矩形 83"/>
          <p:cNvSpPr/>
          <p:nvPr/>
        </p:nvSpPr>
        <p:spPr bwMode="gray">
          <a:xfrm>
            <a:off x="6546706" y="2317465"/>
            <a:ext cx="3043747" cy="2189950"/>
          </a:xfrm>
          <a:prstGeom prst="rect">
            <a:avLst/>
          </a:prstGeom>
          <a:solidFill>
            <a:srgbClr val="FEF5DA"/>
          </a:solidFill>
          <a:ln>
            <a:solidFill>
              <a:srgbClr val="FDE3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0" name="组合 79"/>
          <p:cNvGrpSpPr/>
          <p:nvPr/>
        </p:nvGrpSpPr>
        <p:grpSpPr bwMode="gray">
          <a:xfrm>
            <a:off x="5076602" y="2420766"/>
            <a:ext cx="6113668" cy="1988703"/>
            <a:chOff x="5090726" y="3118745"/>
            <a:chExt cx="6113668" cy="1988703"/>
          </a:xfrm>
        </p:grpSpPr>
        <p:cxnSp>
          <p:nvCxnSpPr>
            <p:cNvPr id="20" name="直接连接符 19"/>
            <p:cNvCxnSpPr>
              <a:stCxn id="27" idx="0"/>
            </p:cNvCxnSpPr>
            <p:nvPr/>
          </p:nvCxnSpPr>
          <p:spPr bwMode="gray">
            <a:xfrm flipH="1" flipV="1">
              <a:off x="6110124" y="3460679"/>
              <a:ext cx="1087018" cy="432926"/>
            </a:xfrm>
            <a:prstGeom prst="line">
              <a:avLst/>
            </a:prstGeom>
            <a:ln w="28575">
              <a:solidFill>
                <a:srgbClr val="ED6D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 bwMode="gray">
            <a:xfrm flipH="1" flipV="1">
              <a:off x="7419752" y="3997331"/>
              <a:ext cx="1396301" cy="6078"/>
            </a:xfrm>
            <a:prstGeom prst="line">
              <a:avLst/>
            </a:prstGeom>
            <a:ln w="28575">
              <a:solidFill>
                <a:srgbClr val="ED6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 bwMode="gray">
            <a:xfrm flipH="1">
              <a:off x="8961503" y="3458963"/>
              <a:ext cx="1140784" cy="475918"/>
            </a:xfrm>
            <a:prstGeom prst="line">
              <a:avLst/>
            </a:prstGeom>
            <a:ln w="28575">
              <a:solidFill>
                <a:srgbClr val="ED6D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 bwMode="gray">
            <a:xfrm flipH="1" flipV="1">
              <a:off x="7264472" y="4248693"/>
              <a:ext cx="1726080" cy="6078"/>
            </a:xfrm>
            <a:prstGeom prst="line">
              <a:avLst/>
            </a:prstGeom>
            <a:ln w="28575">
              <a:solidFill>
                <a:srgbClr val="62B23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>
              <a:stCxn id="27" idx="2"/>
            </p:cNvCxnSpPr>
            <p:nvPr/>
          </p:nvCxnSpPr>
          <p:spPr bwMode="gray">
            <a:xfrm flipH="1">
              <a:off x="6172925" y="4336405"/>
              <a:ext cx="1024217" cy="412890"/>
            </a:xfrm>
            <a:prstGeom prst="line">
              <a:avLst/>
            </a:prstGeom>
            <a:ln w="28575">
              <a:solidFill>
                <a:srgbClr val="62B23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 bwMode="gray">
            <a:xfrm flipH="1" flipV="1">
              <a:off x="9031609" y="4336406"/>
              <a:ext cx="1151167" cy="457882"/>
            </a:xfrm>
            <a:prstGeom prst="line">
              <a:avLst/>
            </a:prstGeom>
            <a:ln w="28575">
              <a:solidFill>
                <a:srgbClr val="62B230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26" idx="3"/>
              <a:endCxn id="27" idx="3"/>
            </p:cNvCxnSpPr>
            <p:nvPr/>
          </p:nvCxnSpPr>
          <p:spPr bwMode="gray">
            <a:xfrm>
              <a:off x="6009874" y="3554192"/>
              <a:ext cx="1457868" cy="560813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5468672" y="4441628"/>
              <a:ext cx="541201" cy="442800"/>
            </a:xfrm>
            <a:prstGeom prst="rect">
              <a:avLst/>
            </a:prstGeom>
            <a:noFill/>
          </p:spPr>
        </p:pic>
        <p:cxnSp>
          <p:nvCxnSpPr>
            <p:cNvPr id="16" name="直接连接符 15"/>
            <p:cNvCxnSpPr>
              <a:stCxn id="15" idx="3"/>
              <a:endCxn id="27" idx="3"/>
            </p:cNvCxnSpPr>
            <p:nvPr/>
          </p:nvCxnSpPr>
          <p:spPr bwMode="gray">
            <a:xfrm flipV="1">
              <a:off x="6009873" y="4115005"/>
              <a:ext cx="1457869" cy="548023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27" idx="3"/>
              <a:endCxn id="30" idx="1"/>
            </p:cNvCxnSpPr>
            <p:nvPr/>
          </p:nvCxnSpPr>
          <p:spPr bwMode="gray">
            <a:xfrm>
              <a:off x="7467742" y="4115005"/>
              <a:ext cx="1307332" cy="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30" idx="1"/>
              <a:endCxn id="28" idx="1"/>
            </p:cNvCxnSpPr>
            <p:nvPr/>
          </p:nvCxnSpPr>
          <p:spPr bwMode="gray">
            <a:xfrm flipV="1">
              <a:off x="8775074" y="3554192"/>
              <a:ext cx="1471937" cy="560813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30" idx="1"/>
              <a:endCxn id="29" idx="1"/>
            </p:cNvCxnSpPr>
            <p:nvPr/>
          </p:nvCxnSpPr>
          <p:spPr bwMode="gray">
            <a:xfrm>
              <a:off x="8775074" y="4115005"/>
              <a:ext cx="1471936" cy="548023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5468673" y="3332792"/>
              <a:ext cx="541201" cy="442800"/>
            </a:xfrm>
            <a:prstGeom prst="rect">
              <a:avLst/>
            </a:prstGeom>
            <a:noFill/>
          </p:spPr>
        </p:pic>
        <p:pic>
          <p:nvPicPr>
            <p:cNvPr id="27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6926541" y="3893605"/>
              <a:ext cx="541201" cy="442800"/>
            </a:xfrm>
            <a:prstGeom prst="rect">
              <a:avLst/>
            </a:prstGeom>
            <a:noFill/>
          </p:spPr>
        </p:pic>
        <p:pic>
          <p:nvPicPr>
            <p:cNvPr id="28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10247011" y="3332792"/>
              <a:ext cx="541201" cy="442800"/>
            </a:xfrm>
            <a:prstGeom prst="rect">
              <a:avLst/>
            </a:prstGeom>
            <a:noFill/>
          </p:spPr>
        </p:pic>
        <p:pic>
          <p:nvPicPr>
            <p:cNvPr id="29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10247010" y="4441628"/>
              <a:ext cx="541201" cy="442800"/>
            </a:xfrm>
            <a:prstGeom prst="rect">
              <a:avLst/>
            </a:prstGeom>
            <a:noFill/>
          </p:spPr>
        </p:pic>
        <p:pic>
          <p:nvPicPr>
            <p:cNvPr id="30" name="Picture 2" descr="G:\做的项目\公共\扁平图标切换\更新2015_01_21\oss扁平图标库2015_01_21更新-04.png"/>
            <p:cNvPicPr>
              <a:picLocks noChangeAspect="1" noChangeArrowheads="1"/>
            </p:cNvPicPr>
            <p:nvPr/>
          </p:nvPicPr>
          <p:blipFill>
            <a:blip r:embed="rId3" cstate="print"/>
            <a:stretch>
              <a:fillRect/>
            </a:stretch>
          </p:blipFill>
          <p:spPr bwMode="gray">
            <a:xfrm>
              <a:off x="8775074" y="3893605"/>
              <a:ext cx="541201" cy="442800"/>
            </a:xfrm>
            <a:prstGeom prst="rect">
              <a:avLst/>
            </a:prstGeom>
            <a:noFill/>
          </p:spPr>
        </p:pic>
        <p:sp>
          <p:nvSpPr>
            <p:cNvPr id="31" name="Rectangle 312"/>
            <p:cNvSpPr>
              <a:spLocks noChangeArrowheads="1"/>
            </p:cNvSpPr>
            <p:nvPr/>
          </p:nvSpPr>
          <p:spPr bwMode="gray">
            <a:xfrm>
              <a:off x="5090726" y="3460679"/>
              <a:ext cx="471033" cy="20177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dirty="0"/>
                <a:t>R1</a:t>
              </a:r>
            </a:p>
          </p:txBody>
        </p:sp>
        <p:sp>
          <p:nvSpPr>
            <p:cNvPr id="32" name="Rectangle 312"/>
            <p:cNvSpPr>
              <a:spLocks noChangeArrowheads="1"/>
            </p:cNvSpPr>
            <p:nvPr/>
          </p:nvSpPr>
          <p:spPr bwMode="gray">
            <a:xfrm>
              <a:off x="5090726" y="4536464"/>
              <a:ext cx="471033" cy="20177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dirty="0"/>
                <a:t>R2</a:t>
              </a:r>
            </a:p>
          </p:txBody>
        </p:sp>
        <p:sp>
          <p:nvSpPr>
            <p:cNvPr id="33" name="Rectangle 312"/>
            <p:cNvSpPr>
              <a:spLocks noChangeArrowheads="1"/>
            </p:cNvSpPr>
            <p:nvPr/>
          </p:nvSpPr>
          <p:spPr bwMode="gray">
            <a:xfrm>
              <a:off x="10711319" y="3460679"/>
              <a:ext cx="471033" cy="20177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dirty="0"/>
                <a:t>R5</a:t>
              </a:r>
            </a:p>
          </p:txBody>
        </p:sp>
        <p:sp>
          <p:nvSpPr>
            <p:cNvPr id="34" name="Rectangle 312"/>
            <p:cNvSpPr>
              <a:spLocks noChangeArrowheads="1"/>
            </p:cNvSpPr>
            <p:nvPr/>
          </p:nvSpPr>
          <p:spPr bwMode="gray">
            <a:xfrm>
              <a:off x="10689275" y="4566460"/>
              <a:ext cx="515119" cy="21898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dirty="0"/>
                <a:t>R6</a:t>
              </a:r>
            </a:p>
          </p:txBody>
        </p:sp>
        <p:sp>
          <p:nvSpPr>
            <p:cNvPr id="35" name="Rectangle 312"/>
            <p:cNvSpPr>
              <a:spLocks noChangeArrowheads="1"/>
            </p:cNvSpPr>
            <p:nvPr/>
          </p:nvSpPr>
          <p:spPr bwMode="gray">
            <a:xfrm>
              <a:off x="7177939" y="4332744"/>
              <a:ext cx="471033" cy="20177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dirty="0"/>
                <a:t>R3</a:t>
              </a:r>
            </a:p>
          </p:txBody>
        </p:sp>
        <p:sp>
          <p:nvSpPr>
            <p:cNvPr id="36" name="Rectangle 312"/>
            <p:cNvSpPr>
              <a:spLocks noChangeArrowheads="1"/>
            </p:cNvSpPr>
            <p:nvPr/>
          </p:nvSpPr>
          <p:spPr bwMode="gray">
            <a:xfrm>
              <a:off x="8706050" y="4332744"/>
              <a:ext cx="471033" cy="201771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dirty="0"/>
                <a:t>R4</a:t>
              </a:r>
            </a:p>
          </p:txBody>
        </p:sp>
        <p:sp>
          <p:nvSpPr>
            <p:cNvPr id="47" name="Rectangle 312"/>
            <p:cNvSpPr>
              <a:spLocks noChangeArrowheads="1"/>
            </p:cNvSpPr>
            <p:nvPr/>
          </p:nvSpPr>
          <p:spPr bwMode="gray">
            <a:xfrm>
              <a:off x="5416420" y="4890950"/>
              <a:ext cx="636105" cy="216498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dirty="0"/>
                <a:t>IPv6</a:t>
              </a:r>
            </a:p>
          </p:txBody>
        </p:sp>
        <p:sp>
          <p:nvSpPr>
            <p:cNvPr id="48" name="Rectangle 312"/>
            <p:cNvSpPr>
              <a:spLocks noChangeArrowheads="1"/>
            </p:cNvSpPr>
            <p:nvPr/>
          </p:nvSpPr>
          <p:spPr bwMode="gray">
            <a:xfrm>
              <a:off x="10213624" y="4890950"/>
              <a:ext cx="636105" cy="216498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dirty="0"/>
                <a:t>IPv6</a:t>
              </a:r>
            </a:p>
          </p:txBody>
        </p:sp>
        <p:sp>
          <p:nvSpPr>
            <p:cNvPr id="49" name="Rectangle 312"/>
            <p:cNvSpPr>
              <a:spLocks noChangeArrowheads="1"/>
            </p:cNvSpPr>
            <p:nvPr/>
          </p:nvSpPr>
          <p:spPr bwMode="gray">
            <a:xfrm>
              <a:off x="5416420" y="3118745"/>
              <a:ext cx="636105" cy="216498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dirty="0"/>
                <a:t>IPv4</a:t>
              </a:r>
            </a:p>
          </p:txBody>
        </p:sp>
        <p:sp>
          <p:nvSpPr>
            <p:cNvPr id="50" name="Rectangle 312"/>
            <p:cNvSpPr>
              <a:spLocks noChangeArrowheads="1"/>
            </p:cNvSpPr>
            <p:nvPr/>
          </p:nvSpPr>
          <p:spPr bwMode="gray">
            <a:xfrm>
              <a:off x="10199500" y="3118745"/>
              <a:ext cx="636105" cy="216498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dirty="0"/>
                <a:t>IPv4</a:t>
              </a:r>
            </a:p>
          </p:txBody>
        </p:sp>
        <p:sp>
          <p:nvSpPr>
            <p:cNvPr id="51" name="Rectangle 312"/>
            <p:cNvSpPr>
              <a:spLocks noChangeArrowheads="1"/>
            </p:cNvSpPr>
            <p:nvPr/>
          </p:nvSpPr>
          <p:spPr bwMode="gray">
            <a:xfrm>
              <a:off x="7447862" y="3652730"/>
              <a:ext cx="1347093" cy="240875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dirty="0"/>
                <a:t>IPv4</a:t>
              </a:r>
              <a:r>
                <a:rPr lang="zh-CN" altLang="en-US" sz="1400" dirty="0"/>
                <a:t>单播</a:t>
              </a:r>
              <a:endParaRPr lang="en-US" altLang="zh-CN" sz="1400" dirty="0"/>
            </a:p>
            <a:p>
              <a:pPr algn="ctr"/>
              <a:r>
                <a:rPr lang="zh-CN" altLang="en-US" sz="1400" dirty="0"/>
                <a:t>地址族</a:t>
              </a:r>
              <a:endParaRPr lang="en-US" altLang="zh-CN" sz="1400" dirty="0"/>
            </a:p>
          </p:txBody>
        </p:sp>
        <p:sp>
          <p:nvSpPr>
            <p:cNvPr id="60" name="Rectangle 312"/>
            <p:cNvSpPr>
              <a:spLocks noChangeArrowheads="1"/>
            </p:cNvSpPr>
            <p:nvPr/>
          </p:nvSpPr>
          <p:spPr bwMode="gray">
            <a:xfrm rot="1330703">
              <a:off x="5931973" y="3353037"/>
              <a:ext cx="1476955" cy="298138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dirty="0"/>
                <a:t>IPv4</a:t>
              </a:r>
              <a:r>
                <a:rPr lang="zh-CN" altLang="en-US" sz="1400" dirty="0"/>
                <a:t>单播地址族</a:t>
              </a:r>
              <a:endParaRPr lang="en-US" altLang="zh-CN" sz="1400" dirty="0"/>
            </a:p>
          </p:txBody>
        </p:sp>
        <p:sp>
          <p:nvSpPr>
            <p:cNvPr id="63" name="Rectangle 312"/>
            <p:cNvSpPr>
              <a:spLocks noChangeArrowheads="1"/>
            </p:cNvSpPr>
            <p:nvPr/>
          </p:nvSpPr>
          <p:spPr bwMode="gray">
            <a:xfrm rot="20385305">
              <a:off x="8840497" y="3361887"/>
              <a:ext cx="1476955" cy="298138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dirty="0"/>
                <a:t>IPv4</a:t>
              </a:r>
              <a:r>
                <a:rPr lang="zh-CN" altLang="en-US" sz="1400" dirty="0"/>
                <a:t>单播地址族</a:t>
              </a:r>
              <a:endParaRPr lang="en-US" altLang="zh-CN" sz="1400" dirty="0"/>
            </a:p>
          </p:txBody>
        </p:sp>
        <p:sp>
          <p:nvSpPr>
            <p:cNvPr id="67" name="Rectangle 312"/>
            <p:cNvSpPr>
              <a:spLocks noChangeArrowheads="1"/>
            </p:cNvSpPr>
            <p:nvPr/>
          </p:nvSpPr>
          <p:spPr bwMode="gray">
            <a:xfrm>
              <a:off x="7447862" y="4470092"/>
              <a:ext cx="1347093" cy="240875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dirty="0"/>
                <a:t>IPv6</a:t>
              </a:r>
              <a:r>
                <a:rPr lang="zh-CN" altLang="en-US" sz="1400" dirty="0"/>
                <a:t>单播</a:t>
              </a:r>
              <a:endParaRPr lang="en-US" altLang="zh-CN" sz="1400" dirty="0"/>
            </a:p>
            <a:p>
              <a:pPr algn="ctr"/>
              <a:r>
                <a:rPr lang="zh-CN" altLang="en-US" sz="1400" dirty="0"/>
                <a:t>地址族</a:t>
              </a:r>
              <a:endParaRPr lang="en-US" altLang="zh-CN" sz="1400" dirty="0"/>
            </a:p>
          </p:txBody>
        </p:sp>
        <p:sp>
          <p:nvSpPr>
            <p:cNvPr id="68" name="Rectangle 312"/>
            <p:cNvSpPr>
              <a:spLocks noChangeArrowheads="1"/>
            </p:cNvSpPr>
            <p:nvPr/>
          </p:nvSpPr>
          <p:spPr bwMode="gray">
            <a:xfrm>
              <a:off x="7664375" y="4013516"/>
              <a:ext cx="881395" cy="216498"/>
            </a:xfrm>
            <a:prstGeom prst="rect">
              <a:avLst/>
            </a:prstGeom>
            <a:solidFill>
              <a:schemeClr val="bg1">
                <a:alpha val="49000"/>
              </a:schemeClr>
            </a:solidFill>
            <a:ln w="7938">
              <a:solidFill>
                <a:schemeClr val="bg1">
                  <a:alpha val="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b="1" dirty="0"/>
                <a:t>IBGP</a:t>
              </a:r>
            </a:p>
          </p:txBody>
        </p:sp>
        <p:sp>
          <p:nvSpPr>
            <p:cNvPr id="69" name="Rectangle 312"/>
            <p:cNvSpPr>
              <a:spLocks noChangeArrowheads="1"/>
            </p:cNvSpPr>
            <p:nvPr/>
          </p:nvSpPr>
          <p:spPr bwMode="gray">
            <a:xfrm>
              <a:off x="5875049" y="4014426"/>
              <a:ext cx="881395" cy="216498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b="1" dirty="0"/>
                <a:t>EBGP</a:t>
              </a:r>
            </a:p>
          </p:txBody>
        </p:sp>
        <p:sp>
          <p:nvSpPr>
            <p:cNvPr id="70" name="Rectangle 312"/>
            <p:cNvSpPr>
              <a:spLocks noChangeArrowheads="1"/>
            </p:cNvSpPr>
            <p:nvPr/>
          </p:nvSpPr>
          <p:spPr bwMode="gray">
            <a:xfrm>
              <a:off x="9412404" y="4014426"/>
              <a:ext cx="881395" cy="216498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b="1" dirty="0"/>
                <a:t>EBGP</a:t>
              </a:r>
            </a:p>
          </p:txBody>
        </p:sp>
        <p:sp>
          <p:nvSpPr>
            <p:cNvPr id="82" name="Rectangle 312"/>
            <p:cNvSpPr>
              <a:spLocks noChangeArrowheads="1"/>
            </p:cNvSpPr>
            <p:nvPr/>
          </p:nvSpPr>
          <p:spPr bwMode="gray">
            <a:xfrm rot="1434691">
              <a:off x="8917166" y="4609348"/>
              <a:ext cx="1476955" cy="298138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dirty="0"/>
                <a:t>IPv6</a:t>
              </a:r>
              <a:r>
                <a:rPr lang="zh-CN" altLang="en-US" sz="1400" dirty="0"/>
                <a:t>单播地址族</a:t>
              </a:r>
              <a:endParaRPr lang="en-US" altLang="zh-CN" sz="1400" dirty="0"/>
            </a:p>
          </p:txBody>
        </p:sp>
        <p:sp>
          <p:nvSpPr>
            <p:cNvPr id="83" name="Rectangle 312"/>
            <p:cNvSpPr>
              <a:spLocks noChangeArrowheads="1"/>
            </p:cNvSpPr>
            <p:nvPr/>
          </p:nvSpPr>
          <p:spPr bwMode="gray">
            <a:xfrm rot="20332573">
              <a:off x="5986224" y="4547714"/>
              <a:ext cx="1476955" cy="315013"/>
            </a:xfrm>
            <a:prstGeom prst="rect">
              <a:avLst/>
            </a:prstGeom>
            <a:noFill/>
            <a:ln w="7938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40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7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718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957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196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43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675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913" algn="l" defTabSz="914478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400" dirty="0"/>
                <a:t>IPv6</a:t>
              </a:r>
              <a:r>
                <a:rPr lang="zh-CN" altLang="en-US" sz="1400" dirty="0"/>
                <a:t>单播地址族</a:t>
              </a:r>
              <a:endParaRPr lang="en-US" altLang="zh-CN" sz="1400" dirty="0"/>
            </a:p>
          </p:txBody>
        </p:sp>
      </p:grpSp>
      <p:sp>
        <p:nvSpPr>
          <p:cNvPr id="81" name="文本占位符 2"/>
          <p:cNvSpPr txBox="1">
            <a:spLocks/>
          </p:cNvSpPr>
          <p:nvPr/>
        </p:nvSpPr>
        <p:spPr bwMode="gray">
          <a:xfrm>
            <a:off x="5076602" y="4619012"/>
            <a:ext cx="6025466" cy="792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altLang="zh-CN" sz="1600" dirty="0"/>
              <a:t>IPv4</a:t>
            </a:r>
            <a:r>
              <a:rPr lang="zh-CN" altLang="en-US" sz="1600" dirty="0"/>
              <a:t>网络的邻居需要在</a:t>
            </a:r>
            <a:r>
              <a:rPr lang="en-US" altLang="zh-CN" sz="1600" dirty="0"/>
              <a:t>IPv4</a:t>
            </a:r>
            <a:r>
              <a:rPr lang="zh-CN" altLang="en-US" sz="1600" dirty="0"/>
              <a:t>单播地址族中使能，而</a:t>
            </a:r>
            <a:r>
              <a:rPr lang="en-US" altLang="zh-CN" sz="1600" dirty="0"/>
              <a:t>IPv6</a:t>
            </a:r>
            <a:r>
              <a:rPr lang="zh-CN" altLang="en-US" sz="1600" dirty="0"/>
              <a:t>网络邻居则需要在</a:t>
            </a:r>
            <a:r>
              <a:rPr lang="en-US" altLang="zh-CN" sz="1600" dirty="0"/>
              <a:t>IPv6</a:t>
            </a:r>
            <a:r>
              <a:rPr lang="zh-CN" altLang="en-US" sz="1600" dirty="0"/>
              <a:t>单播地址族中使能。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009452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55612" y="1047750"/>
            <a:ext cx="11293475" cy="5153025"/>
          </a:xfrm>
        </p:spPr>
        <p:txBody>
          <a:bodyPr/>
          <a:lstStyle/>
          <a:p>
            <a:r>
              <a:rPr lang="en-US" altLang="zh-CN" sz="2000" dirty="0"/>
              <a:t>BGP</a:t>
            </a:r>
            <a:r>
              <a:rPr lang="zh-CN" altLang="en-US" sz="2000" dirty="0"/>
              <a:t>的</a:t>
            </a:r>
            <a:r>
              <a:rPr lang="en-US" altLang="zh-CN" sz="2000" dirty="0"/>
              <a:t>Update</a:t>
            </a:r>
            <a:r>
              <a:rPr lang="zh-CN" altLang="en-US" sz="2000" dirty="0"/>
              <a:t>报文在对等体之间传递路由信息，可以用于发布和撤销路由。</a:t>
            </a:r>
          </a:p>
          <a:p>
            <a:r>
              <a:rPr lang="en-US" altLang="zh-CN" sz="2000" dirty="0"/>
              <a:t>Update</a:t>
            </a:r>
            <a:r>
              <a:rPr lang="zh-CN" altLang="en-US" sz="2000" dirty="0"/>
              <a:t>报文格式：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MP-BGP</a:t>
            </a:r>
            <a:r>
              <a:rPr lang="zh-CN" altLang="en-US" sz="2000" dirty="0"/>
              <a:t>中引入了两个</a:t>
            </a:r>
            <a:r>
              <a:rPr lang="en-US" altLang="zh-CN" sz="2000" dirty="0"/>
              <a:t>NLRI</a:t>
            </a:r>
            <a:r>
              <a:rPr lang="zh-CN" altLang="en-US" sz="2000" dirty="0"/>
              <a:t>属性，分别是：</a:t>
            </a:r>
          </a:p>
          <a:p>
            <a:pPr lvl="1"/>
            <a:r>
              <a:rPr lang="en-US" altLang="zh-CN" sz="1800" dirty="0"/>
              <a:t>MP_REACH_NLRI</a:t>
            </a:r>
            <a:r>
              <a:rPr lang="zh-CN" altLang="en-US" sz="1800" dirty="0"/>
              <a:t>：</a:t>
            </a:r>
            <a:r>
              <a:rPr lang="en-US" altLang="zh-CN" sz="1800" dirty="0"/>
              <a:t>Multiprotocol Reachable NLRI</a:t>
            </a:r>
            <a:r>
              <a:rPr lang="zh-CN" altLang="en-US" sz="1800" dirty="0"/>
              <a:t>，多协议可达</a:t>
            </a:r>
            <a:r>
              <a:rPr lang="en-US" altLang="zh-CN" sz="1800" dirty="0"/>
              <a:t>NLRI</a:t>
            </a:r>
            <a:r>
              <a:rPr lang="zh-CN" altLang="en-US" sz="1800" dirty="0"/>
              <a:t>。用于发布可达路由及下一跳信息。</a:t>
            </a:r>
          </a:p>
          <a:p>
            <a:pPr lvl="1"/>
            <a:r>
              <a:rPr lang="en-US" altLang="zh-CN" sz="1800" dirty="0"/>
              <a:t>MP_UNREACH_NLRI</a:t>
            </a:r>
            <a:r>
              <a:rPr lang="zh-CN" altLang="en-US" sz="1800" dirty="0"/>
              <a:t>：</a:t>
            </a:r>
            <a:r>
              <a:rPr lang="en-US" altLang="zh-CN" sz="1800" dirty="0"/>
              <a:t>Multiprotocol Unreachable NLRI</a:t>
            </a:r>
            <a:r>
              <a:rPr lang="zh-CN" altLang="en-US" sz="1800" dirty="0"/>
              <a:t>，多协议不可达</a:t>
            </a:r>
            <a:r>
              <a:rPr lang="en-US" altLang="zh-CN" sz="1800" dirty="0"/>
              <a:t>NLRI</a:t>
            </a:r>
            <a:r>
              <a:rPr lang="zh-CN" altLang="en-US" sz="1800" dirty="0"/>
              <a:t>。用于撤销不可达路由。</a:t>
            </a:r>
            <a:endParaRPr lang="en-US" altLang="zh-CN" sz="1800" dirty="0"/>
          </a:p>
          <a:p>
            <a:r>
              <a:rPr lang="en-US" altLang="zh-CN" sz="2000" dirty="0"/>
              <a:t>BGP4+</a:t>
            </a:r>
            <a:r>
              <a:rPr lang="zh-CN" altLang="en-US" sz="2000" dirty="0"/>
              <a:t>通过以上两个</a:t>
            </a:r>
            <a:r>
              <a:rPr lang="en-US" altLang="zh-CN" sz="2000" dirty="0"/>
              <a:t>NLRI</a:t>
            </a:r>
            <a:r>
              <a:rPr lang="zh-CN" altLang="en-US" sz="2000" dirty="0"/>
              <a:t>属性传递</a:t>
            </a:r>
            <a:r>
              <a:rPr lang="en-US" altLang="zh-CN" sz="2000" dirty="0"/>
              <a:t>IPv6</a:t>
            </a:r>
            <a:r>
              <a:rPr lang="zh-CN" altLang="en-US" sz="2000" dirty="0"/>
              <a:t>路由信息。</a:t>
            </a:r>
          </a:p>
        </p:txBody>
      </p:sp>
      <p:sp>
        <p:nvSpPr>
          <p:cNvPr id="11" name="下箭头 63"/>
          <p:cNvSpPr/>
          <p:nvPr/>
        </p:nvSpPr>
        <p:spPr bwMode="gray">
          <a:xfrm rot="10800000" flipV="1">
            <a:off x="7329621" y="2628063"/>
            <a:ext cx="829759" cy="354675"/>
          </a:xfrm>
          <a:custGeom>
            <a:avLst/>
            <a:gdLst>
              <a:gd name="connsiteX0" fmla="*/ 0 w 1035535"/>
              <a:gd name="connsiteY0" fmla="*/ 468495 h 794114"/>
              <a:gd name="connsiteX1" fmla="*/ 258884 w 1035535"/>
              <a:gd name="connsiteY1" fmla="*/ 468495 h 794114"/>
              <a:gd name="connsiteX2" fmla="*/ 258884 w 1035535"/>
              <a:gd name="connsiteY2" fmla="*/ 0 h 794114"/>
              <a:gd name="connsiteX3" fmla="*/ 776651 w 1035535"/>
              <a:gd name="connsiteY3" fmla="*/ 0 h 794114"/>
              <a:gd name="connsiteX4" fmla="*/ 776651 w 1035535"/>
              <a:gd name="connsiteY4" fmla="*/ 468495 h 794114"/>
              <a:gd name="connsiteX5" fmla="*/ 1035535 w 1035535"/>
              <a:gd name="connsiteY5" fmla="*/ 468495 h 794114"/>
              <a:gd name="connsiteX6" fmla="*/ 517768 w 1035535"/>
              <a:gd name="connsiteY6" fmla="*/ 794114 h 794114"/>
              <a:gd name="connsiteX7" fmla="*/ 0 w 1035535"/>
              <a:gd name="connsiteY7" fmla="*/ 468495 h 794114"/>
              <a:gd name="connsiteX0" fmla="*/ 258884 w 1035535"/>
              <a:gd name="connsiteY0" fmla="*/ 0 h 794114"/>
              <a:gd name="connsiteX1" fmla="*/ 776651 w 1035535"/>
              <a:gd name="connsiteY1" fmla="*/ 0 h 794114"/>
              <a:gd name="connsiteX2" fmla="*/ 776651 w 1035535"/>
              <a:gd name="connsiteY2" fmla="*/ 468495 h 794114"/>
              <a:gd name="connsiteX3" fmla="*/ 1035535 w 1035535"/>
              <a:gd name="connsiteY3" fmla="*/ 468495 h 794114"/>
              <a:gd name="connsiteX4" fmla="*/ 517768 w 1035535"/>
              <a:gd name="connsiteY4" fmla="*/ 794114 h 794114"/>
              <a:gd name="connsiteX5" fmla="*/ 0 w 1035535"/>
              <a:gd name="connsiteY5" fmla="*/ 468495 h 794114"/>
              <a:gd name="connsiteX6" fmla="*/ 258884 w 1035535"/>
              <a:gd name="connsiteY6" fmla="*/ 468495 h 794114"/>
              <a:gd name="connsiteX7" fmla="*/ 350324 w 1035535"/>
              <a:gd name="connsiteY7" fmla="*/ 91440 h 794114"/>
              <a:gd name="connsiteX0" fmla="*/ 258884 w 1035535"/>
              <a:gd name="connsiteY0" fmla="*/ 0 h 794114"/>
              <a:gd name="connsiteX1" fmla="*/ 776651 w 1035535"/>
              <a:gd name="connsiteY1" fmla="*/ 468495 h 794114"/>
              <a:gd name="connsiteX2" fmla="*/ 1035535 w 1035535"/>
              <a:gd name="connsiteY2" fmla="*/ 468495 h 794114"/>
              <a:gd name="connsiteX3" fmla="*/ 517768 w 1035535"/>
              <a:gd name="connsiteY3" fmla="*/ 794114 h 794114"/>
              <a:gd name="connsiteX4" fmla="*/ 0 w 1035535"/>
              <a:gd name="connsiteY4" fmla="*/ 468495 h 794114"/>
              <a:gd name="connsiteX5" fmla="*/ 258884 w 1035535"/>
              <a:gd name="connsiteY5" fmla="*/ 468495 h 794114"/>
              <a:gd name="connsiteX6" fmla="*/ 350324 w 1035535"/>
              <a:gd name="connsiteY6" fmla="*/ 91440 h 794114"/>
              <a:gd name="connsiteX0" fmla="*/ 1016121 w 1035535"/>
              <a:gd name="connsiteY0" fmla="*/ 0 h 794114"/>
              <a:gd name="connsiteX1" fmla="*/ 776651 w 1035535"/>
              <a:gd name="connsiteY1" fmla="*/ 468495 h 794114"/>
              <a:gd name="connsiteX2" fmla="*/ 1035535 w 1035535"/>
              <a:gd name="connsiteY2" fmla="*/ 468495 h 794114"/>
              <a:gd name="connsiteX3" fmla="*/ 517768 w 1035535"/>
              <a:gd name="connsiteY3" fmla="*/ 794114 h 794114"/>
              <a:gd name="connsiteX4" fmla="*/ 0 w 1035535"/>
              <a:gd name="connsiteY4" fmla="*/ 468495 h 794114"/>
              <a:gd name="connsiteX5" fmla="*/ 258884 w 1035535"/>
              <a:gd name="connsiteY5" fmla="*/ 468495 h 794114"/>
              <a:gd name="connsiteX6" fmla="*/ 350324 w 1035535"/>
              <a:gd name="connsiteY6" fmla="*/ 91440 h 794114"/>
              <a:gd name="connsiteX0" fmla="*/ 1018222 w 1037636"/>
              <a:gd name="connsiteY0" fmla="*/ 0 h 794114"/>
              <a:gd name="connsiteX1" fmla="*/ 778752 w 1037636"/>
              <a:gd name="connsiteY1" fmla="*/ 468495 h 794114"/>
              <a:gd name="connsiteX2" fmla="*/ 1037636 w 1037636"/>
              <a:gd name="connsiteY2" fmla="*/ 468495 h 794114"/>
              <a:gd name="connsiteX3" fmla="*/ 519869 w 1037636"/>
              <a:gd name="connsiteY3" fmla="*/ 794114 h 794114"/>
              <a:gd name="connsiteX4" fmla="*/ 2101 w 1037636"/>
              <a:gd name="connsiteY4" fmla="*/ 468495 h 794114"/>
              <a:gd name="connsiteX5" fmla="*/ 260985 w 1037636"/>
              <a:gd name="connsiteY5" fmla="*/ 468495 h 794114"/>
              <a:gd name="connsiteX6" fmla="*/ 0 w 1037636"/>
              <a:gd name="connsiteY6" fmla="*/ 86678 h 794114"/>
              <a:gd name="connsiteX0" fmla="*/ 1027747 w 1047161"/>
              <a:gd name="connsiteY0" fmla="*/ 0 h 794114"/>
              <a:gd name="connsiteX1" fmla="*/ 788277 w 1047161"/>
              <a:gd name="connsiteY1" fmla="*/ 468495 h 794114"/>
              <a:gd name="connsiteX2" fmla="*/ 1047161 w 1047161"/>
              <a:gd name="connsiteY2" fmla="*/ 468495 h 794114"/>
              <a:gd name="connsiteX3" fmla="*/ 529394 w 1047161"/>
              <a:gd name="connsiteY3" fmla="*/ 794114 h 794114"/>
              <a:gd name="connsiteX4" fmla="*/ 11626 w 1047161"/>
              <a:gd name="connsiteY4" fmla="*/ 468495 h 794114"/>
              <a:gd name="connsiteX5" fmla="*/ 270510 w 1047161"/>
              <a:gd name="connsiteY5" fmla="*/ 468495 h 794114"/>
              <a:gd name="connsiteX6" fmla="*/ 0 w 1047161"/>
              <a:gd name="connsiteY6" fmla="*/ 10478 h 794114"/>
              <a:gd name="connsiteX0" fmla="*/ 1016121 w 1035535"/>
              <a:gd name="connsiteY0" fmla="*/ 13335 h 807449"/>
              <a:gd name="connsiteX1" fmla="*/ 776651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258884 w 1035535"/>
              <a:gd name="connsiteY5" fmla="*/ 481830 h 807449"/>
              <a:gd name="connsiteX6" fmla="*/ 12187 w 1035535"/>
              <a:gd name="connsiteY6" fmla="*/ 0 h 807449"/>
              <a:gd name="connsiteX0" fmla="*/ 1016121 w 1035535"/>
              <a:gd name="connsiteY0" fmla="*/ 13335 h 807449"/>
              <a:gd name="connsiteX1" fmla="*/ 776651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392234 w 1035535"/>
              <a:gd name="connsiteY5" fmla="*/ 486592 h 807449"/>
              <a:gd name="connsiteX6" fmla="*/ 12187 w 1035535"/>
              <a:gd name="connsiteY6" fmla="*/ 0 h 807449"/>
              <a:gd name="connsiteX0" fmla="*/ 1016121 w 1035535"/>
              <a:gd name="connsiteY0" fmla="*/ 13335 h 807449"/>
              <a:gd name="connsiteX1" fmla="*/ 619488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392234 w 1035535"/>
              <a:gd name="connsiteY5" fmla="*/ 486592 h 807449"/>
              <a:gd name="connsiteX6" fmla="*/ 12187 w 1035535"/>
              <a:gd name="connsiteY6" fmla="*/ 0 h 807449"/>
              <a:gd name="connsiteX0" fmla="*/ 1016121 w 1035535"/>
              <a:gd name="connsiteY0" fmla="*/ 13335 h 807449"/>
              <a:gd name="connsiteX1" fmla="*/ 619488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392234 w 1035535"/>
              <a:gd name="connsiteY5" fmla="*/ 486592 h 807449"/>
              <a:gd name="connsiteX6" fmla="*/ 12187 w 1035535"/>
              <a:gd name="connsiteY6" fmla="*/ 0 h 807449"/>
              <a:gd name="connsiteX0" fmla="*/ 1016121 w 1035535"/>
              <a:gd name="connsiteY0" fmla="*/ 13335 h 807449"/>
              <a:gd name="connsiteX1" fmla="*/ 619488 w 1035535"/>
              <a:gd name="connsiteY1" fmla="*/ 481830 h 807449"/>
              <a:gd name="connsiteX2" fmla="*/ 1035535 w 1035535"/>
              <a:gd name="connsiteY2" fmla="*/ 481830 h 807449"/>
              <a:gd name="connsiteX3" fmla="*/ 517768 w 1035535"/>
              <a:gd name="connsiteY3" fmla="*/ 807449 h 807449"/>
              <a:gd name="connsiteX4" fmla="*/ 0 w 1035535"/>
              <a:gd name="connsiteY4" fmla="*/ 481830 h 807449"/>
              <a:gd name="connsiteX5" fmla="*/ 392234 w 1035535"/>
              <a:gd name="connsiteY5" fmla="*/ 486592 h 807449"/>
              <a:gd name="connsiteX6" fmla="*/ 12187 w 1035535"/>
              <a:gd name="connsiteY6" fmla="*/ 0 h 807449"/>
              <a:gd name="connsiteX0" fmla="*/ 1044696 w 1044696"/>
              <a:gd name="connsiteY0" fmla="*/ 0 h 832214"/>
              <a:gd name="connsiteX1" fmla="*/ 619488 w 1044696"/>
              <a:gd name="connsiteY1" fmla="*/ 506595 h 832214"/>
              <a:gd name="connsiteX2" fmla="*/ 1035535 w 1044696"/>
              <a:gd name="connsiteY2" fmla="*/ 506595 h 832214"/>
              <a:gd name="connsiteX3" fmla="*/ 517768 w 1044696"/>
              <a:gd name="connsiteY3" fmla="*/ 832214 h 832214"/>
              <a:gd name="connsiteX4" fmla="*/ 0 w 1044696"/>
              <a:gd name="connsiteY4" fmla="*/ 506595 h 832214"/>
              <a:gd name="connsiteX5" fmla="*/ 392234 w 1044696"/>
              <a:gd name="connsiteY5" fmla="*/ 511357 h 832214"/>
              <a:gd name="connsiteX6" fmla="*/ 12187 w 1044696"/>
              <a:gd name="connsiteY6" fmla="*/ 24765 h 832214"/>
              <a:gd name="connsiteX0" fmla="*/ 1032509 w 1032509"/>
              <a:gd name="connsiteY0" fmla="*/ 0 h 832214"/>
              <a:gd name="connsiteX1" fmla="*/ 607301 w 1032509"/>
              <a:gd name="connsiteY1" fmla="*/ 506595 h 832214"/>
              <a:gd name="connsiteX2" fmla="*/ 1023348 w 1032509"/>
              <a:gd name="connsiteY2" fmla="*/ 506595 h 832214"/>
              <a:gd name="connsiteX3" fmla="*/ 505581 w 1032509"/>
              <a:gd name="connsiteY3" fmla="*/ 832214 h 832214"/>
              <a:gd name="connsiteX4" fmla="*/ 237844 w 1032509"/>
              <a:gd name="connsiteY4" fmla="*/ 508976 h 832214"/>
              <a:gd name="connsiteX5" fmla="*/ 380047 w 1032509"/>
              <a:gd name="connsiteY5" fmla="*/ 511357 h 832214"/>
              <a:gd name="connsiteX6" fmla="*/ 0 w 1032509"/>
              <a:gd name="connsiteY6" fmla="*/ 24765 h 832214"/>
              <a:gd name="connsiteX0" fmla="*/ 1032509 w 1032509"/>
              <a:gd name="connsiteY0" fmla="*/ 0 h 832214"/>
              <a:gd name="connsiteX1" fmla="*/ 607301 w 1032509"/>
              <a:gd name="connsiteY1" fmla="*/ 506595 h 832214"/>
              <a:gd name="connsiteX2" fmla="*/ 804276 w 1032509"/>
              <a:gd name="connsiteY2" fmla="*/ 513741 h 832214"/>
              <a:gd name="connsiteX3" fmla="*/ 505581 w 1032509"/>
              <a:gd name="connsiteY3" fmla="*/ 832214 h 832214"/>
              <a:gd name="connsiteX4" fmla="*/ 237844 w 1032509"/>
              <a:gd name="connsiteY4" fmla="*/ 508976 h 832214"/>
              <a:gd name="connsiteX5" fmla="*/ 380047 w 1032509"/>
              <a:gd name="connsiteY5" fmla="*/ 511357 h 832214"/>
              <a:gd name="connsiteX6" fmla="*/ 0 w 1032509"/>
              <a:gd name="connsiteY6" fmla="*/ 24765 h 832214"/>
              <a:gd name="connsiteX0" fmla="*/ 1032509 w 1032509"/>
              <a:gd name="connsiteY0" fmla="*/ 0 h 722679"/>
              <a:gd name="connsiteX1" fmla="*/ 607301 w 1032509"/>
              <a:gd name="connsiteY1" fmla="*/ 506595 h 722679"/>
              <a:gd name="connsiteX2" fmla="*/ 804276 w 1032509"/>
              <a:gd name="connsiteY2" fmla="*/ 513741 h 722679"/>
              <a:gd name="connsiteX3" fmla="*/ 507965 w 1032509"/>
              <a:gd name="connsiteY3" fmla="*/ 722679 h 722679"/>
              <a:gd name="connsiteX4" fmla="*/ 237844 w 1032509"/>
              <a:gd name="connsiteY4" fmla="*/ 508976 h 722679"/>
              <a:gd name="connsiteX5" fmla="*/ 380047 w 1032509"/>
              <a:gd name="connsiteY5" fmla="*/ 511357 h 722679"/>
              <a:gd name="connsiteX6" fmla="*/ 0 w 1032509"/>
              <a:gd name="connsiteY6" fmla="*/ 24765 h 722679"/>
              <a:gd name="connsiteX0" fmla="*/ 1032509 w 1032509"/>
              <a:gd name="connsiteY0" fmla="*/ 0 h 722679"/>
              <a:gd name="connsiteX1" fmla="*/ 607301 w 1032509"/>
              <a:gd name="connsiteY1" fmla="*/ 506595 h 722679"/>
              <a:gd name="connsiteX2" fmla="*/ 804276 w 1032509"/>
              <a:gd name="connsiteY2" fmla="*/ 513741 h 722679"/>
              <a:gd name="connsiteX3" fmla="*/ 498440 w 1032509"/>
              <a:gd name="connsiteY3" fmla="*/ 722679 h 722679"/>
              <a:gd name="connsiteX4" fmla="*/ 237844 w 1032509"/>
              <a:gd name="connsiteY4" fmla="*/ 508976 h 722679"/>
              <a:gd name="connsiteX5" fmla="*/ 380047 w 1032509"/>
              <a:gd name="connsiteY5" fmla="*/ 511357 h 722679"/>
              <a:gd name="connsiteX6" fmla="*/ 0 w 1032509"/>
              <a:gd name="connsiteY6" fmla="*/ 24765 h 722679"/>
              <a:gd name="connsiteX0" fmla="*/ 1032509 w 1032509"/>
              <a:gd name="connsiteY0" fmla="*/ 0 h 722679"/>
              <a:gd name="connsiteX1" fmla="*/ 607301 w 1032509"/>
              <a:gd name="connsiteY1" fmla="*/ 506595 h 722679"/>
              <a:gd name="connsiteX2" fmla="*/ 792369 w 1032509"/>
              <a:gd name="connsiteY2" fmla="*/ 515732 h 722679"/>
              <a:gd name="connsiteX3" fmla="*/ 498440 w 1032509"/>
              <a:gd name="connsiteY3" fmla="*/ 722679 h 722679"/>
              <a:gd name="connsiteX4" fmla="*/ 237844 w 1032509"/>
              <a:gd name="connsiteY4" fmla="*/ 508976 h 722679"/>
              <a:gd name="connsiteX5" fmla="*/ 380047 w 1032509"/>
              <a:gd name="connsiteY5" fmla="*/ 511357 h 722679"/>
              <a:gd name="connsiteX6" fmla="*/ 0 w 1032509"/>
              <a:gd name="connsiteY6" fmla="*/ 24765 h 722679"/>
              <a:gd name="connsiteX0" fmla="*/ 1032509 w 1032509"/>
              <a:gd name="connsiteY0" fmla="*/ 0 h 720688"/>
              <a:gd name="connsiteX1" fmla="*/ 607301 w 1032509"/>
              <a:gd name="connsiteY1" fmla="*/ 506595 h 720688"/>
              <a:gd name="connsiteX2" fmla="*/ 792369 w 1032509"/>
              <a:gd name="connsiteY2" fmla="*/ 515732 h 720688"/>
              <a:gd name="connsiteX3" fmla="*/ 503202 w 1032509"/>
              <a:gd name="connsiteY3" fmla="*/ 720688 h 720688"/>
              <a:gd name="connsiteX4" fmla="*/ 237844 w 1032509"/>
              <a:gd name="connsiteY4" fmla="*/ 508976 h 720688"/>
              <a:gd name="connsiteX5" fmla="*/ 380047 w 1032509"/>
              <a:gd name="connsiteY5" fmla="*/ 511357 h 720688"/>
              <a:gd name="connsiteX6" fmla="*/ 0 w 1032509"/>
              <a:gd name="connsiteY6" fmla="*/ 24765 h 720688"/>
              <a:gd name="connsiteX0" fmla="*/ 1044414 w 1044414"/>
              <a:gd name="connsiteY0" fmla="*/ 0 h 720688"/>
              <a:gd name="connsiteX1" fmla="*/ 619206 w 1044414"/>
              <a:gd name="connsiteY1" fmla="*/ 506595 h 720688"/>
              <a:gd name="connsiteX2" fmla="*/ 804274 w 1044414"/>
              <a:gd name="connsiteY2" fmla="*/ 515732 h 720688"/>
              <a:gd name="connsiteX3" fmla="*/ 515107 w 1044414"/>
              <a:gd name="connsiteY3" fmla="*/ 720688 h 720688"/>
              <a:gd name="connsiteX4" fmla="*/ 249749 w 1044414"/>
              <a:gd name="connsiteY4" fmla="*/ 508976 h 720688"/>
              <a:gd name="connsiteX5" fmla="*/ 391952 w 1044414"/>
              <a:gd name="connsiteY5" fmla="*/ 511357 h 720688"/>
              <a:gd name="connsiteX6" fmla="*/ 0 w 1044414"/>
              <a:gd name="connsiteY6" fmla="*/ 4852 h 720688"/>
              <a:gd name="connsiteX0" fmla="*/ 1082514 w 1082514"/>
              <a:gd name="connsiteY0" fmla="*/ 0 h 722679"/>
              <a:gd name="connsiteX1" fmla="*/ 619206 w 1082514"/>
              <a:gd name="connsiteY1" fmla="*/ 508586 h 722679"/>
              <a:gd name="connsiteX2" fmla="*/ 804274 w 1082514"/>
              <a:gd name="connsiteY2" fmla="*/ 517723 h 722679"/>
              <a:gd name="connsiteX3" fmla="*/ 515107 w 1082514"/>
              <a:gd name="connsiteY3" fmla="*/ 722679 h 722679"/>
              <a:gd name="connsiteX4" fmla="*/ 249749 w 1082514"/>
              <a:gd name="connsiteY4" fmla="*/ 510967 h 722679"/>
              <a:gd name="connsiteX5" fmla="*/ 391952 w 1082514"/>
              <a:gd name="connsiteY5" fmla="*/ 513348 h 722679"/>
              <a:gd name="connsiteX6" fmla="*/ 0 w 1082514"/>
              <a:gd name="connsiteY6" fmla="*/ 6843 h 722679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49749 w 1082514"/>
              <a:gd name="connsiteY4" fmla="*/ 510967 h 724672"/>
              <a:gd name="connsiteX5" fmla="*/ 391952 w 1082514"/>
              <a:gd name="connsiteY5" fmla="*/ 513348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49749 w 1082514"/>
              <a:gd name="connsiteY4" fmla="*/ 510967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49749 w 1082514"/>
              <a:gd name="connsiteY4" fmla="*/ 510967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49749 w 1082514"/>
              <a:gd name="connsiteY4" fmla="*/ 510967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33080 w 1082514"/>
              <a:gd name="connsiteY4" fmla="*/ 526899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19206 w 1082514"/>
              <a:gd name="connsiteY1" fmla="*/ 508586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04274 w 1082514"/>
              <a:gd name="connsiteY2" fmla="*/ 517723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30468 w 1082514"/>
              <a:gd name="connsiteY2" fmla="*/ 531664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380046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30468 w 1082514"/>
              <a:gd name="connsiteY2" fmla="*/ 531664 h 724672"/>
              <a:gd name="connsiteX3" fmla="*/ 534160 w 1082514"/>
              <a:gd name="connsiteY3" fmla="*/ 724672 h 724672"/>
              <a:gd name="connsiteX4" fmla="*/ 237842 w 1082514"/>
              <a:gd name="connsiteY4" fmla="*/ 532873 h 724672"/>
              <a:gd name="connsiteX5" fmla="*/ 434815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830468 w 1082514"/>
              <a:gd name="connsiteY2" fmla="*/ 531664 h 724672"/>
              <a:gd name="connsiteX3" fmla="*/ 534160 w 1082514"/>
              <a:gd name="connsiteY3" fmla="*/ 724672 h 724672"/>
              <a:gd name="connsiteX4" fmla="*/ 297373 w 1082514"/>
              <a:gd name="connsiteY4" fmla="*/ 532873 h 724672"/>
              <a:gd name="connsiteX5" fmla="*/ 434815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90644 w 1082514"/>
              <a:gd name="connsiteY1" fmla="*/ 532484 h 724672"/>
              <a:gd name="connsiteX2" fmla="*/ 768555 w 1082514"/>
              <a:gd name="connsiteY2" fmla="*/ 531664 h 724672"/>
              <a:gd name="connsiteX3" fmla="*/ 534160 w 1082514"/>
              <a:gd name="connsiteY3" fmla="*/ 724672 h 724672"/>
              <a:gd name="connsiteX4" fmla="*/ 297373 w 1082514"/>
              <a:gd name="connsiteY4" fmla="*/ 532873 h 724672"/>
              <a:gd name="connsiteX5" fmla="*/ 434815 w 1082514"/>
              <a:gd name="connsiteY5" fmla="*/ 533263 h 724672"/>
              <a:gd name="connsiteX6" fmla="*/ 0 w 1082514"/>
              <a:gd name="connsiteY6" fmla="*/ 6843 h 724672"/>
              <a:gd name="connsiteX0" fmla="*/ 1082514 w 1082514"/>
              <a:gd name="connsiteY0" fmla="*/ 0 h 724672"/>
              <a:gd name="connsiteX1" fmla="*/ 638256 w 1082514"/>
              <a:gd name="connsiteY1" fmla="*/ 534476 h 724672"/>
              <a:gd name="connsiteX2" fmla="*/ 768555 w 1082514"/>
              <a:gd name="connsiteY2" fmla="*/ 531664 h 724672"/>
              <a:gd name="connsiteX3" fmla="*/ 534160 w 1082514"/>
              <a:gd name="connsiteY3" fmla="*/ 724672 h 724672"/>
              <a:gd name="connsiteX4" fmla="*/ 297373 w 1082514"/>
              <a:gd name="connsiteY4" fmla="*/ 532873 h 724672"/>
              <a:gd name="connsiteX5" fmla="*/ 434815 w 1082514"/>
              <a:gd name="connsiteY5" fmla="*/ 533263 h 724672"/>
              <a:gd name="connsiteX6" fmla="*/ 0 w 1082514"/>
              <a:gd name="connsiteY6" fmla="*/ 6843 h 724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2514" h="724672">
                <a:moveTo>
                  <a:pt x="1082514" y="0"/>
                </a:moveTo>
                <a:cubicBezTo>
                  <a:pt x="788378" y="227602"/>
                  <a:pt x="727605" y="349736"/>
                  <a:pt x="638256" y="534476"/>
                </a:cubicBezTo>
                <a:lnTo>
                  <a:pt x="768555" y="531664"/>
                </a:lnTo>
                <a:lnTo>
                  <a:pt x="534160" y="724672"/>
                </a:lnTo>
                <a:lnTo>
                  <a:pt x="297373" y="532873"/>
                </a:lnTo>
                <a:lnTo>
                  <a:pt x="434815" y="533263"/>
                </a:lnTo>
                <a:cubicBezTo>
                  <a:pt x="434815" y="377098"/>
                  <a:pt x="0" y="6843"/>
                  <a:pt x="0" y="6843"/>
                </a:cubicBezTo>
              </a:path>
            </a:pathLst>
          </a:custGeom>
          <a:gradFill flip="none" rotWithShape="1">
            <a:gsLst>
              <a:gs pos="15000">
                <a:srgbClr val="ECF9FA"/>
              </a:gs>
              <a:gs pos="100000">
                <a:schemeClr val="bg1">
                  <a:alpha val="0"/>
                </a:schemeClr>
              </a:gs>
            </a:gsLst>
            <a:lin ang="162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100000"/>
                    <a:alpha val="0"/>
                  </a:schemeClr>
                </a:gs>
                <a:gs pos="31000">
                  <a:srgbClr val="94DAE2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180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BGP</a:t>
            </a:r>
            <a:r>
              <a:rPr lang="zh-CN" altLang="en-US" dirty="0"/>
              <a:t>路径属性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740238"/>
              </p:ext>
            </p:extLst>
          </p:nvPr>
        </p:nvGraphicFramePr>
        <p:xfrm>
          <a:off x="6538429" y="2982738"/>
          <a:ext cx="2467566" cy="306000"/>
        </p:xfrm>
        <a:graphic>
          <a:graphicData uri="http://schemas.openxmlformats.org/drawingml/2006/table">
            <a:tbl>
              <a:tblPr firstRow="1" bandRow="1"/>
              <a:tblGrid>
                <a:gridCol w="121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8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Flags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 Code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826952"/>
              </p:ext>
            </p:extLst>
          </p:nvPr>
        </p:nvGraphicFramePr>
        <p:xfrm>
          <a:off x="904973" y="2369170"/>
          <a:ext cx="5040057" cy="1806168"/>
        </p:xfrm>
        <a:graphic>
          <a:graphicData uri="http://schemas.openxmlformats.org/drawingml/2006/table">
            <a:tbl>
              <a:tblPr firstRow="1" bandRow="1"/>
              <a:tblGrid>
                <a:gridCol w="5040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Withdrawn Routes Length</a:t>
                      </a: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（撤销路由长度，</a:t>
                      </a: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Byte</a:t>
                      </a: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kumimoji="0" lang="en-US" altLang="zh-C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Withdrawn Routes</a:t>
                      </a: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（撤销路由列表，</a:t>
                      </a: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 Byte</a:t>
                      </a: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kumimoji="0" lang="en-US" altLang="zh-C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Path Attribute Length</a:t>
                      </a: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（所有路径属性长度，</a:t>
                      </a: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Byte</a:t>
                      </a: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kumimoji="0" lang="en-US" altLang="zh-C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Path Attributes</a:t>
                      </a: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（要更新的路径属性列表，</a:t>
                      </a: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 Byte</a:t>
                      </a: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kumimoji="0" lang="en-US" altLang="zh-C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Layer Reachability Information</a:t>
                      </a:r>
                    </a:p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（可达路由的前缀和前缀长度，</a:t>
                      </a: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 Byte</a:t>
                      </a: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kumimoji="0" lang="en-US" altLang="zh-CN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41540"/>
              </p:ext>
            </p:extLst>
          </p:nvPr>
        </p:nvGraphicFramePr>
        <p:xfrm>
          <a:off x="6538429" y="2383972"/>
          <a:ext cx="5040058" cy="306000"/>
        </p:xfrm>
        <a:graphic>
          <a:graphicData uri="http://schemas.openxmlformats.org/drawingml/2006/table">
            <a:tbl>
              <a:tblPr firstRow="1" bandRow="1"/>
              <a:tblGrid>
                <a:gridCol w="2467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6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6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Attr</a:t>
                      </a: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Type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Attr</a:t>
                      </a: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Length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Attr</a:t>
                      </a: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Value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515039"/>
              </p:ext>
            </p:extLst>
          </p:nvPr>
        </p:nvGraphicFramePr>
        <p:xfrm>
          <a:off x="7772211" y="3354322"/>
          <a:ext cx="3853732" cy="612000"/>
        </p:xfrm>
        <a:graphic>
          <a:graphicData uri="http://schemas.openxmlformats.org/drawingml/2006/table">
            <a:tbl>
              <a:tblPr firstRow="1" bandRow="1"/>
              <a:tblGrid>
                <a:gridCol w="385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l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MP_REACH_NLRI</a:t>
                      </a: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，多协议可达</a:t>
                      </a: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NLRI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l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MP_UNREACH_NLRI</a:t>
                      </a:r>
                      <a:r>
                        <a:rPr kumimoji="0" lang="zh-CN" alt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，多协议不可达</a:t>
                      </a: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NLRI</a:t>
                      </a:r>
                      <a:endParaRPr kumimoji="0" lang="zh-CN" altLang="en-US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Freeform 9"/>
          <p:cNvSpPr>
            <a:spLocks/>
          </p:cNvSpPr>
          <p:nvPr/>
        </p:nvSpPr>
        <p:spPr bwMode="gray">
          <a:xfrm rot="20902682">
            <a:off x="5951026" y="2817021"/>
            <a:ext cx="536907" cy="429332"/>
          </a:xfrm>
          <a:custGeom>
            <a:avLst/>
            <a:gdLst>
              <a:gd name="T0" fmla="*/ 30278 w 32079"/>
              <a:gd name="T1" fmla="*/ 4424 h 15622"/>
              <a:gd name="T2" fmla="*/ 2783 w 32079"/>
              <a:gd name="T3" fmla="*/ 15622 h 15622"/>
              <a:gd name="T4" fmla="*/ 0 w 32079"/>
              <a:gd name="T5" fmla="*/ 15523 h 15622"/>
              <a:gd name="T6" fmla="*/ 26897 w 32079"/>
              <a:gd name="T7" fmla="*/ 2112 h 15622"/>
              <a:gd name="T8" fmla="*/ 25060 w 32079"/>
              <a:gd name="T9" fmla="*/ 856 h 15622"/>
              <a:gd name="T10" fmla="*/ 27928 w 32079"/>
              <a:gd name="T11" fmla="*/ 428 h 15622"/>
              <a:gd name="T12" fmla="*/ 30796 w 32079"/>
              <a:gd name="T13" fmla="*/ 0 h 15622"/>
              <a:gd name="T14" fmla="*/ 31438 w 32079"/>
              <a:gd name="T15" fmla="*/ 2828 h 15622"/>
              <a:gd name="T16" fmla="*/ 32079 w 32079"/>
              <a:gd name="T17" fmla="*/ 5656 h 15622"/>
              <a:gd name="T18" fmla="*/ 30278 w 32079"/>
              <a:gd name="T19" fmla="*/ 4424 h 156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079" h="15622">
                <a:moveTo>
                  <a:pt x="30278" y="4424"/>
                </a:moveTo>
                <a:cubicBezTo>
                  <a:pt x="23182" y="11352"/>
                  <a:pt x="13481" y="15622"/>
                  <a:pt x="2783" y="15622"/>
                </a:cubicBezTo>
                <a:cubicBezTo>
                  <a:pt x="1847" y="15622"/>
                  <a:pt x="920" y="15587"/>
                  <a:pt x="0" y="15523"/>
                </a:cubicBezTo>
                <a:cubicBezTo>
                  <a:pt x="10716" y="14774"/>
                  <a:pt x="20250" y="9734"/>
                  <a:pt x="26897" y="2112"/>
                </a:cubicBezTo>
                <a:lnTo>
                  <a:pt x="25060" y="856"/>
                </a:lnTo>
                <a:lnTo>
                  <a:pt x="27928" y="428"/>
                </a:lnTo>
                <a:lnTo>
                  <a:pt x="30796" y="0"/>
                </a:lnTo>
                <a:lnTo>
                  <a:pt x="31438" y="2828"/>
                </a:lnTo>
                <a:lnTo>
                  <a:pt x="32079" y="5656"/>
                </a:lnTo>
                <a:lnTo>
                  <a:pt x="30278" y="4424"/>
                </a:lnTo>
                <a:close/>
              </a:path>
            </a:pathLst>
          </a:custGeom>
          <a:gradFill>
            <a:gsLst>
              <a:gs pos="100000">
                <a:srgbClr val="F4FBFE"/>
              </a:gs>
              <a:gs pos="31000">
                <a:srgbClr val="94DAE2"/>
              </a:gs>
            </a:gsLst>
            <a:lin ang="16200000" scaled="1"/>
          </a:gradFill>
          <a:ln w="19050" cap="flat" cmpd="sng">
            <a:gradFill>
              <a:gsLst>
                <a:gs pos="0">
                  <a:schemeClr val="bg2">
                    <a:alpha val="40000"/>
                  </a:schemeClr>
                </a:gs>
                <a:gs pos="100000">
                  <a:srgbClr val="94DAE2"/>
                </a:gs>
              </a:gsLst>
              <a:lin ang="0" scaled="0"/>
            </a:gradFill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4227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NLRI</a:t>
            </a:r>
            <a:r>
              <a:rPr lang="zh-CN" altLang="en-US" dirty="0"/>
              <a:t>属性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55613" y="1047751"/>
            <a:ext cx="4217988" cy="633798"/>
          </a:xfrm>
        </p:spPr>
        <p:txBody>
          <a:bodyPr/>
          <a:lstStyle/>
          <a:p>
            <a:r>
              <a:rPr lang="en-US" altLang="zh-CN" sz="2000" dirty="0"/>
              <a:t>MP_REACH_NLRI</a:t>
            </a:r>
            <a:r>
              <a:rPr lang="zh-CN" altLang="en-US" sz="2000" dirty="0"/>
              <a:t>格式：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029480"/>
              </p:ext>
            </p:extLst>
          </p:nvPr>
        </p:nvGraphicFramePr>
        <p:xfrm>
          <a:off x="1226945" y="1681549"/>
          <a:ext cx="3667027" cy="1836000"/>
        </p:xfrm>
        <a:graphic>
          <a:graphicData uri="http://schemas.openxmlformats.org/drawingml/2006/table">
            <a:tbl>
              <a:tblPr firstRow="1" bandRow="1"/>
              <a:tblGrid>
                <a:gridCol w="3667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Address Family Identifier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Subsequent Address Family Identifier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Length of Next Hop Network Address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Address of Next Hop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Reserved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Network Layer Reachability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文本占位符 2"/>
          <p:cNvSpPr txBox="1">
            <a:spLocks/>
          </p:cNvSpPr>
          <p:nvPr/>
        </p:nvSpPr>
        <p:spPr bwMode="auto">
          <a:xfrm>
            <a:off x="5177307" y="1402952"/>
            <a:ext cx="6567193" cy="239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800" dirty="0"/>
              <a:t>当传递</a:t>
            </a:r>
            <a:r>
              <a:rPr lang="en-US" altLang="zh-CN" sz="1800" dirty="0"/>
              <a:t>IPv6</a:t>
            </a:r>
            <a:r>
              <a:rPr lang="zh-CN" altLang="en-US" sz="1800" dirty="0"/>
              <a:t>路由时</a:t>
            </a:r>
          </a:p>
          <a:p>
            <a:pPr lvl="1">
              <a:lnSpc>
                <a:spcPct val="125000"/>
              </a:lnSpc>
            </a:pPr>
            <a:r>
              <a:rPr lang="en-US" altLang="zh-CN" sz="1600" dirty="0"/>
              <a:t>AFI=2</a:t>
            </a:r>
            <a:r>
              <a:rPr lang="zh-CN" altLang="en-US" sz="1600" dirty="0"/>
              <a:t>，</a:t>
            </a:r>
            <a:r>
              <a:rPr lang="en-US" altLang="zh-CN" sz="1600" dirty="0"/>
              <a:t>SAFI=1</a:t>
            </a:r>
            <a:r>
              <a:rPr lang="zh-CN" altLang="en-US" sz="1600" dirty="0"/>
              <a:t>（单播），</a:t>
            </a:r>
            <a:r>
              <a:rPr lang="en-US" altLang="zh-CN" sz="1600" dirty="0"/>
              <a:t>SAFI=2</a:t>
            </a:r>
            <a:r>
              <a:rPr lang="zh-CN" altLang="en-US" sz="1600" dirty="0"/>
              <a:t>（组播）。</a:t>
            </a:r>
            <a:endParaRPr lang="en-US" altLang="zh-CN" sz="1600" dirty="0"/>
          </a:p>
          <a:p>
            <a:pPr lvl="1">
              <a:lnSpc>
                <a:spcPct val="125000"/>
              </a:lnSpc>
            </a:pPr>
            <a:r>
              <a:rPr lang="zh-CN" altLang="en-US" sz="1600" dirty="0"/>
              <a:t>下一跳地址长度字段，通常值为</a:t>
            </a:r>
            <a:r>
              <a:rPr lang="en-US" altLang="zh-CN" sz="1600" dirty="0"/>
              <a:t>16</a:t>
            </a:r>
            <a:r>
              <a:rPr lang="zh-CN" altLang="en-US" sz="1600" dirty="0"/>
              <a:t>，表示下一跳地址为下一跳路由器的全球单播地址。</a:t>
            </a:r>
          </a:p>
          <a:p>
            <a:pPr lvl="1">
              <a:lnSpc>
                <a:spcPct val="125000"/>
              </a:lnSpc>
            </a:pPr>
            <a:r>
              <a:rPr lang="zh-CN" altLang="en-US" sz="1600" dirty="0"/>
              <a:t>保留字段，恒等于</a:t>
            </a:r>
            <a:r>
              <a:rPr lang="en-US" altLang="zh-CN" sz="1600" dirty="0"/>
              <a:t>0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 lvl="1">
              <a:lnSpc>
                <a:spcPct val="125000"/>
              </a:lnSpc>
            </a:pPr>
            <a:r>
              <a:rPr lang="en-US" altLang="zh-CN" sz="1600" dirty="0"/>
              <a:t>NLRI</a:t>
            </a:r>
            <a:r>
              <a:rPr lang="zh-CN" altLang="en-US" sz="1600" dirty="0"/>
              <a:t>字段，可变长字段，表示路由前缀和掩码信息。</a:t>
            </a:r>
          </a:p>
        </p:txBody>
      </p:sp>
      <p:sp>
        <p:nvSpPr>
          <p:cNvPr id="13" name="文本占位符 2"/>
          <p:cNvSpPr txBox="1">
            <a:spLocks/>
          </p:cNvSpPr>
          <p:nvPr/>
        </p:nvSpPr>
        <p:spPr bwMode="auto">
          <a:xfrm>
            <a:off x="468317" y="4196318"/>
            <a:ext cx="4425655" cy="55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MP_UNREACH_NLRI</a:t>
            </a:r>
            <a:r>
              <a:rPr lang="zh-CN" altLang="en-US" sz="2000" dirty="0"/>
              <a:t>格式：</a:t>
            </a: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93011"/>
              </p:ext>
            </p:extLst>
          </p:nvPr>
        </p:nvGraphicFramePr>
        <p:xfrm>
          <a:off x="1226945" y="4670505"/>
          <a:ext cx="3667027" cy="918000"/>
        </p:xfrm>
        <a:graphic>
          <a:graphicData uri="http://schemas.openxmlformats.org/drawingml/2006/table">
            <a:tbl>
              <a:tblPr firstRow="1" bandRow="1"/>
              <a:tblGrid>
                <a:gridCol w="3667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Address Family Identifier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Subsequent Address Family Identifier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defTabSz="7842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Withdrawn Routes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DA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文本占位符 2"/>
          <p:cNvSpPr txBox="1">
            <a:spLocks/>
          </p:cNvSpPr>
          <p:nvPr/>
        </p:nvSpPr>
        <p:spPr bwMode="gray">
          <a:xfrm>
            <a:off x="5177307" y="4237884"/>
            <a:ext cx="6567193" cy="1252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>
            <a:lvl1pPr marL="302279" indent="-302279" algn="just" defTabSz="914034" rtl="0" eaLnBrk="1" fontAlgn="auto" latinLnBrk="0" hangingPunct="1">
              <a:lnSpc>
                <a:spcPct val="140000"/>
              </a:lnSpc>
              <a:spcBef>
                <a:spcPts val="792"/>
              </a:spcBef>
              <a:buClrTx/>
              <a:buFont typeface="Arial" panose="020B0604020202020204" pitchFamily="34" charset="0"/>
              <a:buChar char="•"/>
              <a:defRPr sz="21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938" indent="-251899" algn="l" defTabSz="914034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98" indent="-201519" algn="l" defTabSz="914034" rtl="0" eaLnBrk="1" latinLnBrk="0" hangingPunct="1">
              <a:lnSpc>
                <a:spcPct val="140000"/>
              </a:lnSpc>
              <a:spcBef>
                <a:spcPts val="648"/>
              </a:spcBef>
              <a:buClrTx/>
              <a:buFont typeface="微软雅黑" panose="020B0503020204020204" pitchFamily="34" charset="-122"/>
              <a:buChar char="▪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840" indent="-197921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879" indent="-201519" algn="l" defTabSz="914034" rtl="0" eaLnBrk="1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1800" dirty="0"/>
              <a:t>当撤销</a:t>
            </a:r>
            <a:r>
              <a:rPr lang="en-US" altLang="zh-CN" sz="1800" dirty="0"/>
              <a:t>IPv6</a:t>
            </a:r>
            <a:r>
              <a:rPr lang="zh-CN" altLang="en-US" sz="1800" dirty="0"/>
              <a:t>路由时</a:t>
            </a:r>
            <a:endParaRPr lang="en-US" altLang="zh-CN" sz="1800" dirty="0"/>
          </a:p>
          <a:p>
            <a:pPr lvl="1">
              <a:lnSpc>
                <a:spcPct val="125000"/>
              </a:lnSpc>
            </a:pPr>
            <a:r>
              <a:rPr lang="en-US" altLang="zh-CN" sz="1600" dirty="0"/>
              <a:t>AFI=2 </a:t>
            </a:r>
            <a:r>
              <a:rPr lang="zh-CN" altLang="en-US" sz="1600" dirty="0"/>
              <a:t>，</a:t>
            </a:r>
            <a:r>
              <a:rPr lang="en-US" altLang="zh-CN" sz="1600" dirty="0"/>
              <a:t>SAFI=1</a:t>
            </a:r>
            <a:r>
              <a:rPr lang="zh-CN" altLang="en-US" sz="1600" dirty="0"/>
              <a:t>（单播），</a:t>
            </a:r>
            <a:r>
              <a:rPr lang="en-US" altLang="zh-CN" sz="1600" dirty="0"/>
              <a:t>SAFI=2</a:t>
            </a:r>
            <a:r>
              <a:rPr lang="zh-CN" altLang="en-US" sz="1600" dirty="0"/>
              <a:t>（组播）。</a:t>
            </a:r>
            <a:endParaRPr lang="en-US" altLang="zh-CN" sz="1600" dirty="0"/>
          </a:p>
          <a:p>
            <a:pPr lvl="1">
              <a:lnSpc>
                <a:spcPct val="125000"/>
              </a:lnSpc>
            </a:pPr>
            <a:r>
              <a:rPr lang="en-US" altLang="zh-CN" sz="1600" dirty="0"/>
              <a:t>Withdrawn Routes </a:t>
            </a:r>
            <a:r>
              <a:rPr lang="zh-CN" altLang="en-US" sz="1600" dirty="0"/>
              <a:t>字段代表需要撤销的路由前缀及掩码。</a:t>
            </a:r>
          </a:p>
        </p:txBody>
      </p:sp>
      <p:sp>
        <p:nvSpPr>
          <p:cNvPr id="16" name="Right Arrow 157"/>
          <p:cNvSpPr/>
          <p:nvPr/>
        </p:nvSpPr>
        <p:spPr bwMode="gray">
          <a:xfrm>
            <a:off x="5029131" y="1890557"/>
            <a:ext cx="457270" cy="356242"/>
          </a:xfrm>
          <a:prstGeom prst="rightArrow">
            <a:avLst>
              <a:gd name="adj1" fmla="val 40000"/>
              <a:gd name="adj2" fmla="val 50000"/>
            </a:avLst>
          </a:prstGeom>
          <a:gradFill flip="none" rotWithShape="1">
            <a:gsLst>
              <a:gs pos="15000">
                <a:schemeClr val="accent1">
                  <a:lumMod val="5000"/>
                  <a:lumOff val="95000"/>
                  <a:alpha val="0"/>
                </a:schemeClr>
              </a:gs>
              <a:gs pos="81000">
                <a:srgbClr val="ECF9FA"/>
              </a:gs>
            </a:gsLst>
            <a:lin ang="0" scaled="1"/>
            <a:tileRect/>
          </a:gradFill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94DAE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1" name="Right Arrow 157"/>
          <p:cNvSpPr/>
          <p:nvPr/>
        </p:nvSpPr>
        <p:spPr bwMode="gray">
          <a:xfrm>
            <a:off x="5029131" y="4863950"/>
            <a:ext cx="457270" cy="356242"/>
          </a:xfrm>
          <a:prstGeom prst="rightArrow">
            <a:avLst>
              <a:gd name="adj1" fmla="val 40000"/>
              <a:gd name="adj2" fmla="val 50000"/>
            </a:avLst>
          </a:prstGeom>
          <a:gradFill flip="none" rotWithShape="1">
            <a:gsLst>
              <a:gs pos="15000">
                <a:schemeClr val="accent1">
                  <a:lumMod val="5000"/>
                  <a:lumOff val="95000"/>
                  <a:alpha val="0"/>
                </a:schemeClr>
              </a:gs>
              <a:gs pos="81000">
                <a:srgbClr val="ECF9FA"/>
              </a:gs>
            </a:gsLst>
            <a:lin ang="0" scaled="1"/>
            <a:tileRect/>
          </a:gradFill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94DAE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3110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BGP4+</a:t>
            </a:r>
            <a:r>
              <a:rPr lang="zh-CN" altLang="en-US" dirty="0"/>
              <a:t>的基础配置命令</a:t>
            </a:r>
          </a:p>
        </p:txBody>
      </p:sp>
      <p:sp>
        <p:nvSpPr>
          <p:cNvPr id="4" name="矩形 3"/>
          <p:cNvSpPr/>
          <p:nvPr/>
        </p:nvSpPr>
        <p:spPr>
          <a:xfrm>
            <a:off x="1031917" y="1492658"/>
            <a:ext cx="106086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cs typeface="Courier New" panose="02070309020205020404" pitchFamily="49" charset="0"/>
              </a:rPr>
              <a:t>[Huawei-</a:t>
            </a:r>
            <a:r>
              <a:rPr lang="en-US" altLang="zh-CN" sz="1600" dirty="0" err="1">
                <a:cs typeface="Courier New" panose="02070309020205020404" pitchFamily="49" charset="0"/>
              </a:rPr>
              <a:t>bgp</a:t>
            </a:r>
            <a:r>
              <a:rPr lang="en-US" altLang="zh-CN" sz="1600" dirty="0">
                <a:cs typeface="Courier New" panose="02070309020205020404" pitchFamily="49" charset="0"/>
              </a:rPr>
              <a:t>] </a:t>
            </a:r>
            <a:r>
              <a:rPr lang="en-US" altLang="zh-CN" sz="1600" b="1" dirty="0"/>
              <a:t>peer</a:t>
            </a:r>
            <a:r>
              <a:rPr lang="en-US" altLang="zh-CN" sz="1600" dirty="0"/>
              <a:t> </a:t>
            </a:r>
            <a:r>
              <a:rPr lang="en-US" altLang="zh-CN" sz="1600" i="1" dirty="0"/>
              <a:t>ipv6-address</a:t>
            </a:r>
            <a:r>
              <a:rPr lang="en-US" altLang="zh-CN" sz="1600" dirty="0"/>
              <a:t> </a:t>
            </a:r>
            <a:r>
              <a:rPr lang="en-US" altLang="zh-CN" sz="1600" b="1" dirty="0"/>
              <a:t>as-number</a:t>
            </a:r>
            <a:r>
              <a:rPr lang="en-US" altLang="zh-CN" sz="1600" dirty="0"/>
              <a:t> { </a:t>
            </a:r>
            <a:r>
              <a:rPr lang="en-US" altLang="zh-CN" sz="1600" i="1" dirty="0"/>
              <a:t>as-number-plain</a:t>
            </a:r>
            <a:r>
              <a:rPr lang="en-US" altLang="zh-CN" sz="1600" dirty="0"/>
              <a:t> | </a:t>
            </a:r>
            <a:r>
              <a:rPr lang="en-US" altLang="zh-CN" sz="1600" i="1" dirty="0"/>
              <a:t>as-number-dot</a:t>
            </a:r>
            <a:r>
              <a:rPr lang="en-US" altLang="zh-CN" sz="1600" dirty="0"/>
              <a:t> }</a:t>
            </a:r>
            <a:endParaRPr lang="zh-CN" altLang="en-US" sz="1600" dirty="0">
              <a:cs typeface="Courier New" panose="020703090202050204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1384" y="1060511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/>
            </a:pPr>
            <a:r>
              <a:rPr lang="zh-CN" altLang="en-US" sz="1600" dirty="0">
                <a:cs typeface="Courier New" panose="02070309020205020404" pitchFamily="49" charset="0"/>
              </a:rPr>
              <a:t>配置</a:t>
            </a:r>
            <a:r>
              <a:rPr lang="en-US" altLang="zh-CN" sz="1600" dirty="0">
                <a:cs typeface="Courier New" panose="02070309020205020404" pitchFamily="49" charset="0"/>
              </a:rPr>
              <a:t>BGP</a:t>
            </a:r>
            <a:r>
              <a:rPr lang="zh-CN" altLang="en-US" sz="1600" dirty="0">
                <a:cs typeface="Courier New" panose="02070309020205020404" pitchFamily="49" charset="0"/>
              </a:rPr>
              <a:t>对等体。</a:t>
            </a:r>
          </a:p>
        </p:txBody>
      </p:sp>
      <p:sp>
        <p:nvSpPr>
          <p:cNvPr id="6" name="矩形 5"/>
          <p:cNvSpPr/>
          <p:nvPr/>
        </p:nvSpPr>
        <p:spPr>
          <a:xfrm>
            <a:off x="1031917" y="1845293"/>
            <a:ext cx="10608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600" dirty="0">
                <a:cs typeface="Courier New" panose="02070309020205020404" pitchFamily="49" charset="0"/>
              </a:rPr>
              <a:t>在</a:t>
            </a:r>
            <a:r>
              <a:rPr lang="en-US" altLang="zh-CN" sz="1600" dirty="0">
                <a:cs typeface="Courier New" panose="02070309020205020404" pitchFamily="49" charset="0"/>
              </a:rPr>
              <a:t>BGP</a:t>
            </a:r>
            <a:r>
              <a:rPr lang="zh-CN" altLang="en-US" sz="1600" dirty="0">
                <a:cs typeface="Courier New" panose="02070309020205020404" pitchFamily="49" charset="0"/>
              </a:rPr>
              <a:t>视图下，创建</a:t>
            </a:r>
            <a:r>
              <a:rPr lang="en-US" altLang="zh-CN" sz="1600" dirty="0">
                <a:cs typeface="Courier New" panose="02070309020205020404" pitchFamily="49" charset="0"/>
              </a:rPr>
              <a:t>IPv6</a:t>
            </a:r>
            <a:r>
              <a:rPr lang="zh-CN" altLang="en-US" sz="1600" dirty="0">
                <a:cs typeface="Courier New" panose="02070309020205020404" pitchFamily="49" charset="0"/>
              </a:rPr>
              <a:t>对等体。</a:t>
            </a:r>
          </a:p>
        </p:txBody>
      </p:sp>
      <p:sp>
        <p:nvSpPr>
          <p:cNvPr id="14" name="矩形 13"/>
          <p:cNvSpPr/>
          <p:nvPr/>
        </p:nvSpPr>
        <p:spPr>
          <a:xfrm>
            <a:off x="1031917" y="2892642"/>
            <a:ext cx="106086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cs typeface="Courier New" panose="02070309020205020404" pitchFamily="49" charset="0"/>
              </a:rPr>
              <a:t>[Huawei-</a:t>
            </a:r>
            <a:r>
              <a:rPr lang="en-US" altLang="zh-CN" sz="1600" dirty="0" err="1">
                <a:cs typeface="Courier New" panose="02070309020205020404" pitchFamily="49" charset="0"/>
              </a:rPr>
              <a:t>bgp</a:t>
            </a:r>
            <a:r>
              <a:rPr lang="en-US" altLang="zh-CN" sz="1600" dirty="0">
                <a:cs typeface="Courier New" panose="02070309020205020404" pitchFamily="49" charset="0"/>
              </a:rPr>
              <a:t>] </a:t>
            </a:r>
            <a:r>
              <a:rPr lang="en-US" altLang="zh-CN" sz="1600" b="1" dirty="0"/>
              <a:t>ipv6-family</a:t>
            </a:r>
            <a:r>
              <a:rPr lang="en-US" altLang="zh-CN" sz="1600" dirty="0"/>
              <a:t> [ </a:t>
            </a:r>
            <a:r>
              <a:rPr lang="en-US" altLang="zh-CN" sz="1600" b="1" dirty="0"/>
              <a:t>unicast</a:t>
            </a:r>
            <a:r>
              <a:rPr lang="en-US" altLang="zh-CN" sz="1600" dirty="0"/>
              <a:t> | </a:t>
            </a:r>
            <a:r>
              <a:rPr lang="en-US" altLang="zh-CN" sz="1600" b="1" dirty="0"/>
              <a:t>vpnv6</a:t>
            </a:r>
            <a:r>
              <a:rPr lang="en-US" altLang="zh-CN" sz="1600" dirty="0"/>
              <a:t> | </a:t>
            </a:r>
            <a:r>
              <a:rPr lang="en-US" altLang="zh-CN" sz="1600" b="1" dirty="0" err="1"/>
              <a:t>vpn</a:t>
            </a:r>
            <a:r>
              <a:rPr lang="en-US" altLang="zh-CN" sz="1600" b="1" dirty="0"/>
              <a:t>-instance</a:t>
            </a:r>
            <a:r>
              <a:rPr lang="en-US" altLang="zh-CN" sz="1600" dirty="0"/>
              <a:t> </a:t>
            </a:r>
            <a:r>
              <a:rPr lang="en-US" altLang="zh-CN" sz="1600" i="1" dirty="0" err="1"/>
              <a:t>vpn</a:t>
            </a:r>
            <a:r>
              <a:rPr lang="en-US" altLang="zh-CN" sz="1600" i="1" dirty="0"/>
              <a:t>-instance-name</a:t>
            </a:r>
            <a:r>
              <a:rPr lang="en-US" altLang="zh-CN" sz="1600" dirty="0"/>
              <a:t> ]</a:t>
            </a:r>
            <a:endParaRPr lang="zh-CN" altLang="en-US" sz="1600" dirty="0">
              <a:cs typeface="Courier New" panose="020703090202050204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51384" y="2460495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2"/>
            </a:pPr>
            <a:r>
              <a:rPr lang="zh-CN" altLang="en-US" sz="1600" dirty="0">
                <a:cs typeface="Courier New" panose="02070309020205020404" pitchFamily="49" charset="0"/>
              </a:rPr>
              <a:t>使能</a:t>
            </a:r>
            <a:r>
              <a:rPr lang="en-US" altLang="zh-CN" sz="1600" dirty="0">
                <a:cs typeface="Courier New" panose="02070309020205020404" pitchFamily="49" charset="0"/>
              </a:rPr>
              <a:t>BGP</a:t>
            </a:r>
            <a:r>
              <a:rPr lang="zh-CN" altLang="en-US" sz="1600" dirty="0">
                <a:cs typeface="Courier New" panose="02070309020205020404" pitchFamily="49" charset="0"/>
              </a:rPr>
              <a:t>对等体。</a:t>
            </a:r>
          </a:p>
        </p:txBody>
      </p:sp>
      <p:sp>
        <p:nvSpPr>
          <p:cNvPr id="16" name="矩形 15"/>
          <p:cNvSpPr/>
          <p:nvPr/>
        </p:nvSpPr>
        <p:spPr>
          <a:xfrm>
            <a:off x="1031917" y="3245277"/>
            <a:ext cx="10608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600" dirty="0">
                <a:cs typeface="Courier New" panose="02070309020205020404" pitchFamily="49" charset="0"/>
              </a:rPr>
              <a:t>使能</a:t>
            </a:r>
            <a:r>
              <a:rPr lang="en-US" altLang="zh-CN" sz="1600" dirty="0">
                <a:cs typeface="Courier New" panose="02070309020205020404" pitchFamily="49" charset="0"/>
              </a:rPr>
              <a:t>BGP</a:t>
            </a:r>
            <a:r>
              <a:rPr lang="zh-CN" altLang="en-US" sz="1600" dirty="0">
                <a:cs typeface="Courier New" panose="02070309020205020404" pitchFamily="49" charset="0"/>
              </a:rPr>
              <a:t>的</a:t>
            </a:r>
            <a:r>
              <a:rPr lang="en-US" altLang="zh-CN" sz="1600" dirty="0">
                <a:cs typeface="Courier New" panose="02070309020205020404" pitchFamily="49" charset="0"/>
              </a:rPr>
              <a:t>IPv6</a:t>
            </a:r>
            <a:r>
              <a:rPr lang="zh-CN" altLang="en-US" sz="1600" dirty="0">
                <a:cs typeface="Courier New" panose="02070309020205020404" pitchFamily="49" charset="0"/>
              </a:rPr>
              <a:t>地址族并进入</a:t>
            </a:r>
            <a:r>
              <a:rPr lang="en-US" altLang="zh-CN" sz="1600" dirty="0">
                <a:cs typeface="Courier New" panose="02070309020205020404" pitchFamily="49" charset="0"/>
              </a:rPr>
              <a:t>BGP</a:t>
            </a:r>
            <a:r>
              <a:rPr lang="zh-CN" altLang="en-US" sz="1600" dirty="0">
                <a:cs typeface="Courier New" panose="02070309020205020404" pitchFamily="49" charset="0"/>
              </a:rPr>
              <a:t>的各</a:t>
            </a:r>
            <a:r>
              <a:rPr lang="en-US" altLang="zh-CN" sz="1600" dirty="0">
                <a:cs typeface="Courier New" panose="02070309020205020404" pitchFamily="49" charset="0"/>
              </a:rPr>
              <a:t>IPv6</a:t>
            </a:r>
            <a:r>
              <a:rPr lang="zh-CN" altLang="en-US" sz="1600" dirty="0">
                <a:cs typeface="Courier New" panose="02070309020205020404" pitchFamily="49" charset="0"/>
              </a:rPr>
              <a:t>地址族视图。</a:t>
            </a:r>
          </a:p>
        </p:txBody>
      </p:sp>
      <p:sp>
        <p:nvSpPr>
          <p:cNvPr id="11" name="矩形 10"/>
          <p:cNvSpPr/>
          <p:nvPr/>
        </p:nvSpPr>
        <p:spPr>
          <a:xfrm>
            <a:off x="1031917" y="3834751"/>
            <a:ext cx="106086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cs typeface="Courier New" panose="02070309020205020404" pitchFamily="49" charset="0"/>
              </a:rPr>
              <a:t>[Huawei-bgp-af-ipv6] </a:t>
            </a:r>
            <a:r>
              <a:rPr lang="en-US" altLang="zh-CN" sz="1600" b="1" dirty="0"/>
              <a:t>peer</a:t>
            </a:r>
            <a:r>
              <a:rPr lang="en-US" altLang="zh-CN" sz="1600" dirty="0"/>
              <a:t> </a:t>
            </a:r>
            <a:r>
              <a:rPr lang="en-US" altLang="zh-CN" sz="1600" i="1" dirty="0"/>
              <a:t>ipv6-address</a:t>
            </a:r>
            <a:r>
              <a:rPr lang="en-US" altLang="zh-CN" sz="1600" dirty="0"/>
              <a:t> </a:t>
            </a:r>
            <a:r>
              <a:rPr lang="en-US" altLang="zh-CN" sz="1600" b="1" dirty="0"/>
              <a:t>enable</a:t>
            </a:r>
            <a:endParaRPr lang="zh-CN" altLang="en-US" sz="1600" dirty="0">
              <a:cs typeface="Courier New" panose="02070309020205020404" pitchFamily="49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31917" y="4187386"/>
            <a:ext cx="10608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600" dirty="0">
                <a:cs typeface="Courier New" panose="02070309020205020404" pitchFamily="49" charset="0"/>
              </a:rPr>
              <a:t>在</a:t>
            </a:r>
            <a:r>
              <a:rPr lang="en-US" altLang="zh-CN" sz="1600" dirty="0">
                <a:cs typeface="Courier New" panose="02070309020205020404" pitchFamily="49" charset="0"/>
              </a:rPr>
              <a:t>IPv6</a:t>
            </a:r>
            <a:r>
              <a:rPr lang="zh-CN" altLang="en-US" sz="1600" dirty="0">
                <a:cs typeface="Courier New" panose="02070309020205020404" pitchFamily="49" charset="0"/>
              </a:rPr>
              <a:t>地址族视图下使能与指定对等体之间交换相关的路由信息。</a:t>
            </a:r>
          </a:p>
        </p:txBody>
      </p:sp>
      <p:sp>
        <p:nvSpPr>
          <p:cNvPr id="18" name="矩形 17"/>
          <p:cNvSpPr/>
          <p:nvPr/>
        </p:nvSpPr>
        <p:spPr>
          <a:xfrm>
            <a:off x="1031917" y="5336047"/>
            <a:ext cx="106086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cs typeface="Courier New" panose="02070309020205020404" pitchFamily="49" charset="0"/>
              </a:rPr>
              <a:t>[Huawei-bgp-af-ipv6] </a:t>
            </a:r>
            <a:r>
              <a:rPr lang="en-US" altLang="zh-CN" sz="1600" b="1" dirty="0"/>
              <a:t>network</a:t>
            </a:r>
            <a:r>
              <a:rPr lang="en-US" altLang="zh-CN" sz="1600" dirty="0"/>
              <a:t> </a:t>
            </a:r>
            <a:r>
              <a:rPr lang="en-US" altLang="zh-CN" sz="1600" i="1" dirty="0"/>
              <a:t>ipv6-address</a:t>
            </a:r>
            <a:r>
              <a:rPr lang="en-US" altLang="zh-CN" sz="1600" dirty="0"/>
              <a:t> </a:t>
            </a:r>
            <a:r>
              <a:rPr lang="en-US" altLang="zh-CN" sz="1600" i="1" dirty="0"/>
              <a:t>prefix-length</a:t>
            </a:r>
            <a:r>
              <a:rPr lang="en-US" altLang="zh-CN" sz="1600" dirty="0"/>
              <a:t> [ </a:t>
            </a:r>
            <a:r>
              <a:rPr lang="en-US" altLang="zh-CN" sz="1600" b="1" dirty="0"/>
              <a:t>route-policy</a:t>
            </a:r>
            <a:r>
              <a:rPr lang="en-US" altLang="zh-CN" sz="1600" dirty="0"/>
              <a:t> </a:t>
            </a:r>
            <a:r>
              <a:rPr lang="en-US" altLang="zh-CN" sz="1600" i="1" dirty="0"/>
              <a:t>route-policy-name</a:t>
            </a:r>
            <a:r>
              <a:rPr lang="en-US" altLang="zh-CN" sz="1600" dirty="0"/>
              <a:t> ]</a:t>
            </a:r>
            <a:endParaRPr lang="zh-CN" altLang="en-US" sz="1600" dirty="0">
              <a:cs typeface="Courier New" panose="02070309020205020404" pitchFamily="49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51384" y="4903900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3"/>
            </a:pPr>
            <a:r>
              <a:rPr lang="zh-CN" altLang="en-US" sz="1600" dirty="0">
                <a:cs typeface="Courier New" panose="02070309020205020404" pitchFamily="49" charset="0"/>
              </a:rPr>
              <a:t>配置</a:t>
            </a:r>
            <a:r>
              <a:rPr lang="en-US" altLang="zh-CN" sz="1600" dirty="0">
                <a:cs typeface="Courier New" panose="02070309020205020404" pitchFamily="49" charset="0"/>
              </a:rPr>
              <a:t>BGP</a:t>
            </a:r>
            <a:r>
              <a:rPr lang="zh-CN" altLang="en-US" sz="1600" dirty="0">
                <a:cs typeface="Courier New" panose="02070309020205020404" pitchFamily="49" charset="0"/>
              </a:rPr>
              <a:t>路由注入。</a:t>
            </a:r>
          </a:p>
        </p:txBody>
      </p:sp>
      <p:sp>
        <p:nvSpPr>
          <p:cNvPr id="20" name="矩形 19"/>
          <p:cNvSpPr/>
          <p:nvPr/>
        </p:nvSpPr>
        <p:spPr>
          <a:xfrm>
            <a:off x="1031917" y="5688682"/>
            <a:ext cx="106086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600" dirty="0">
                <a:cs typeface="Courier New" panose="02070309020205020404" pitchFamily="49" charset="0"/>
              </a:rPr>
              <a:t>配置</a:t>
            </a:r>
            <a:r>
              <a:rPr lang="en-US" altLang="zh-CN" sz="1600" dirty="0">
                <a:cs typeface="Courier New" panose="02070309020205020404" pitchFamily="49" charset="0"/>
              </a:rPr>
              <a:t>BGP</a:t>
            </a:r>
            <a:r>
              <a:rPr lang="zh-CN" altLang="en-US" sz="1600" dirty="0">
                <a:cs typeface="Courier New" panose="02070309020205020404" pitchFamily="49" charset="0"/>
              </a:rPr>
              <a:t>将</a:t>
            </a:r>
            <a:r>
              <a:rPr lang="en-US" altLang="zh-CN" sz="1600" dirty="0">
                <a:cs typeface="Courier New" panose="02070309020205020404" pitchFamily="49" charset="0"/>
              </a:rPr>
              <a:t>IPv6</a:t>
            </a:r>
            <a:r>
              <a:rPr lang="zh-CN" altLang="en-US" sz="1600" dirty="0">
                <a:cs typeface="Courier New" panose="02070309020205020404" pitchFamily="49" charset="0"/>
              </a:rPr>
              <a:t>路由表中的特定路由注入到</a:t>
            </a:r>
            <a:r>
              <a:rPr lang="en-US" altLang="zh-CN" sz="1600" dirty="0">
                <a:cs typeface="Courier New" panose="02070309020205020404" pitchFamily="49" charset="0"/>
              </a:rPr>
              <a:t>BGP</a:t>
            </a:r>
            <a:r>
              <a:rPr lang="zh-CN" altLang="en-US" sz="1600" dirty="0">
                <a:cs typeface="Courier New" panose="02070309020205020404" pitchFamily="49" charset="0"/>
              </a:rPr>
              <a:t>路由表中。</a:t>
            </a:r>
          </a:p>
        </p:txBody>
      </p:sp>
    </p:spTree>
    <p:extLst>
      <p:ext uri="{BB962C8B-B14F-4D97-AF65-F5344CB8AC3E}">
        <p14:creationId xmlns:p14="http://schemas.microsoft.com/office/powerpoint/2010/main" val="36644771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检查</a:t>
            </a:r>
            <a:r>
              <a:rPr lang="en-US" altLang="zh-CN" dirty="0"/>
              <a:t>BGP4+</a:t>
            </a:r>
            <a:r>
              <a:rPr lang="zh-CN" altLang="en-US" dirty="0"/>
              <a:t>基本功能的配置结果</a:t>
            </a:r>
          </a:p>
        </p:txBody>
      </p:sp>
      <p:sp>
        <p:nvSpPr>
          <p:cNvPr id="4" name="矩形 3"/>
          <p:cNvSpPr/>
          <p:nvPr/>
        </p:nvSpPr>
        <p:spPr>
          <a:xfrm>
            <a:off x="1031917" y="1492654"/>
            <a:ext cx="106086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cs typeface="Courier New" panose="02070309020205020404" pitchFamily="49" charset="0"/>
              </a:rPr>
              <a:t>[Huawei] </a:t>
            </a:r>
            <a:r>
              <a:rPr lang="en-US" altLang="zh-CN" sz="1600" b="1" dirty="0"/>
              <a:t>display </a:t>
            </a:r>
            <a:r>
              <a:rPr lang="en-US" altLang="zh-CN" sz="1600" b="1" dirty="0" err="1"/>
              <a:t>bgp</a:t>
            </a:r>
            <a:r>
              <a:rPr lang="en-US" altLang="zh-CN" sz="1600" b="1" dirty="0"/>
              <a:t> ipv6 peer </a:t>
            </a:r>
            <a:r>
              <a:rPr lang="en-US" altLang="zh-CN" sz="1600" i="1" dirty="0"/>
              <a:t>ipv6-address</a:t>
            </a:r>
            <a:r>
              <a:rPr lang="en-US" altLang="zh-CN" sz="1600" b="1" dirty="0"/>
              <a:t> </a:t>
            </a:r>
            <a:r>
              <a:rPr lang="en-US" altLang="zh-CN" sz="1600" dirty="0"/>
              <a:t>[ </a:t>
            </a:r>
            <a:r>
              <a:rPr lang="en-US" altLang="zh-CN" sz="1600" b="1" dirty="0"/>
              <a:t>verbose</a:t>
            </a:r>
            <a:r>
              <a:rPr lang="en-US" altLang="zh-CN" sz="1600" dirty="0"/>
              <a:t> ]</a:t>
            </a:r>
            <a:endParaRPr lang="zh-CN" altLang="en-US" sz="1600" dirty="0">
              <a:cs typeface="Courier New" panose="020703090202050204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1384" y="1060507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/>
            </a:pPr>
            <a:r>
              <a:rPr lang="zh-CN" altLang="en-US" sz="1600" dirty="0">
                <a:cs typeface="Courier New" panose="02070309020205020404" pitchFamily="49" charset="0"/>
              </a:rPr>
              <a:t>查看</a:t>
            </a:r>
            <a:r>
              <a:rPr lang="en-US" altLang="zh-CN" sz="1600" dirty="0">
                <a:cs typeface="Courier New" panose="02070309020205020404" pitchFamily="49" charset="0"/>
              </a:rPr>
              <a:t>BGP4+</a:t>
            </a:r>
            <a:r>
              <a:rPr lang="zh-CN" altLang="en-US" sz="1600" dirty="0">
                <a:cs typeface="Courier New" panose="02070309020205020404" pitchFamily="49" charset="0"/>
              </a:rPr>
              <a:t>的对等体信息。</a:t>
            </a:r>
          </a:p>
        </p:txBody>
      </p:sp>
      <p:sp>
        <p:nvSpPr>
          <p:cNvPr id="9" name="矩形 8"/>
          <p:cNvSpPr/>
          <p:nvPr/>
        </p:nvSpPr>
        <p:spPr>
          <a:xfrm>
            <a:off x="1031917" y="2751548"/>
            <a:ext cx="1060869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cs typeface="Courier New" panose="02070309020205020404" pitchFamily="49" charset="0"/>
              </a:rPr>
              <a:t>[Huawei] </a:t>
            </a:r>
            <a:r>
              <a:rPr lang="en-US" altLang="zh-CN" sz="1600" b="1" dirty="0"/>
              <a:t>display </a:t>
            </a:r>
            <a:r>
              <a:rPr lang="en-US" altLang="zh-CN" sz="1600" b="1" dirty="0" err="1"/>
              <a:t>bgp</a:t>
            </a:r>
            <a:r>
              <a:rPr lang="en-US" altLang="zh-CN" sz="1600" b="1" dirty="0"/>
              <a:t> ipv6</a:t>
            </a:r>
            <a:r>
              <a:rPr lang="en-US" altLang="zh-CN" sz="1600" dirty="0"/>
              <a:t> </a:t>
            </a:r>
            <a:r>
              <a:rPr lang="en-US" altLang="zh-CN" sz="1600" b="1" dirty="0"/>
              <a:t>routing-table</a:t>
            </a:r>
            <a:endParaRPr lang="zh-CN" altLang="en-US" sz="1600" dirty="0"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51384" y="2319401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2"/>
            </a:pPr>
            <a:r>
              <a:rPr lang="zh-CN" altLang="en-US" sz="1600" dirty="0">
                <a:cs typeface="Courier New" panose="02070309020205020404" pitchFamily="49" charset="0"/>
              </a:rPr>
              <a:t>查看</a:t>
            </a:r>
            <a:r>
              <a:rPr lang="en-US" altLang="zh-CN" sz="1600" dirty="0">
                <a:cs typeface="Courier New" panose="02070309020205020404" pitchFamily="49" charset="0"/>
              </a:rPr>
              <a:t>BGP4+</a:t>
            </a:r>
            <a:r>
              <a:rPr lang="zh-CN" altLang="en-US" sz="1600" dirty="0">
                <a:cs typeface="Courier New" panose="02070309020205020404" pitchFamily="49" charset="0"/>
              </a:rPr>
              <a:t>的路由信息。</a:t>
            </a:r>
          </a:p>
        </p:txBody>
      </p:sp>
    </p:spTree>
    <p:extLst>
      <p:ext uri="{BB962C8B-B14F-4D97-AF65-F5344CB8AC3E}">
        <p14:creationId xmlns:p14="http://schemas.microsoft.com/office/powerpoint/2010/main" val="259112453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圆角矩形 24"/>
          <p:cNvSpPr/>
          <p:nvPr/>
        </p:nvSpPr>
        <p:spPr bwMode="gray">
          <a:xfrm>
            <a:off x="3494908" y="1410273"/>
            <a:ext cx="1800000" cy="1529335"/>
          </a:xfrm>
          <a:prstGeom prst="roundRect">
            <a:avLst>
              <a:gd name="adj" fmla="val 3573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BGP</a:t>
            </a:r>
            <a:r>
              <a:rPr lang="zh-CN" altLang="en-US" dirty="0"/>
              <a:t>双栈配置举例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6096000" y="1225297"/>
            <a:ext cx="5653087" cy="2020824"/>
          </a:xfrm>
        </p:spPr>
        <p:txBody>
          <a:bodyPr/>
          <a:lstStyle/>
          <a:p>
            <a:r>
              <a:rPr lang="zh-CN" altLang="en-US" sz="1800" dirty="0"/>
              <a:t>场景描述：</a:t>
            </a:r>
            <a:endParaRPr lang="en-US" altLang="zh-CN" sz="1800" dirty="0"/>
          </a:p>
          <a:p>
            <a:pPr lvl="1"/>
            <a:r>
              <a:rPr lang="zh-CN" altLang="en-US" sz="1600" dirty="0"/>
              <a:t>某公司两个分部之间通过</a:t>
            </a:r>
            <a:r>
              <a:rPr lang="en-US" altLang="zh-CN" sz="1600" dirty="0"/>
              <a:t>BGP</a:t>
            </a:r>
            <a:r>
              <a:rPr lang="zh-CN" altLang="en-US" sz="1600" dirty="0"/>
              <a:t>实现网络互通。该公司为了保证未来的业务发展，在两个分部都部署了</a:t>
            </a:r>
            <a:r>
              <a:rPr lang="en-US" altLang="zh-CN" sz="1600" dirty="0"/>
              <a:t>IPv6</a:t>
            </a:r>
            <a:r>
              <a:rPr lang="zh-CN" altLang="en-US" sz="1600" dirty="0"/>
              <a:t>网络进行业务测试，因此还需要部署</a:t>
            </a:r>
            <a:r>
              <a:rPr lang="en-US" altLang="zh-CN" sz="1600" dirty="0"/>
              <a:t>BGP4+</a:t>
            </a:r>
            <a:r>
              <a:rPr lang="zh-CN" altLang="en-US" sz="1600" dirty="0"/>
              <a:t>实现</a:t>
            </a:r>
            <a:r>
              <a:rPr lang="en-US" altLang="zh-CN" sz="1600" dirty="0"/>
              <a:t>IPv6</a:t>
            </a:r>
            <a:r>
              <a:rPr lang="zh-CN" altLang="en-US" sz="1600" dirty="0"/>
              <a:t>网络互通。</a:t>
            </a:r>
            <a:endParaRPr lang="en-US" altLang="zh-CN" sz="1600" dirty="0"/>
          </a:p>
          <a:p>
            <a:endParaRPr lang="zh-CN" altLang="en-US" sz="1800" dirty="0"/>
          </a:p>
        </p:txBody>
      </p:sp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408455"/>
              </p:ext>
            </p:extLst>
          </p:nvPr>
        </p:nvGraphicFramePr>
        <p:xfrm>
          <a:off x="685543" y="3716338"/>
          <a:ext cx="5224348" cy="1524000"/>
        </p:xfrm>
        <a:graphic>
          <a:graphicData uri="http://schemas.openxmlformats.org/drawingml/2006/table">
            <a:tbl>
              <a:tblPr firstRow="1" bandRow="1"/>
              <a:tblGrid>
                <a:gridCol w="613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1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设备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接口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IPv4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IPv6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10.1.12.1/24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2001:DB8:2345:12::1/64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Loopback0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10.1.1.1/32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2001:DB8:2345:1::1/128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10.1.12.2/24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2001:DB8:2345:12::2/64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Loopback0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10.1.2.2/32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2001:DB8:2345:2::2/128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" name="圆角矩形 53"/>
          <p:cNvSpPr/>
          <p:nvPr/>
        </p:nvSpPr>
        <p:spPr bwMode="gray">
          <a:xfrm>
            <a:off x="1020756" y="1410273"/>
            <a:ext cx="1800000" cy="1529335"/>
          </a:xfrm>
          <a:prstGeom prst="roundRect">
            <a:avLst>
              <a:gd name="adj" fmla="val 3573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pic>
        <p:nvPicPr>
          <p:cNvPr id="55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1421194" y="2010852"/>
            <a:ext cx="541201" cy="442800"/>
          </a:xfrm>
          <a:prstGeom prst="rect">
            <a:avLst/>
          </a:prstGeom>
          <a:noFill/>
        </p:spPr>
      </p:pic>
      <p:pic>
        <p:nvPicPr>
          <p:cNvPr id="56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250642" y="2010852"/>
            <a:ext cx="541201" cy="442800"/>
          </a:xfrm>
          <a:prstGeom prst="rect">
            <a:avLst/>
          </a:prstGeom>
          <a:noFill/>
        </p:spPr>
      </p:pic>
      <p:cxnSp>
        <p:nvCxnSpPr>
          <p:cNvPr id="57" name="直接连接符 56"/>
          <p:cNvCxnSpPr>
            <a:stCxn id="55" idx="3"/>
            <a:endCxn id="56" idx="1"/>
          </p:cNvCxnSpPr>
          <p:nvPr/>
        </p:nvCxnSpPr>
        <p:spPr bwMode="gray">
          <a:xfrm>
            <a:off x="1962395" y="2232252"/>
            <a:ext cx="228824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312"/>
          <p:cNvSpPr>
            <a:spLocks noChangeArrowheads="1"/>
          </p:cNvSpPr>
          <p:nvPr/>
        </p:nvSpPr>
        <p:spPr bwMode="gray">
          <a:xfrm>
            <a:off x="1394418" y="1769345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R1</a:t>
            </a:r>
          </a:p>
        </p:txBody>
      </p:sp>
      <p:sp>
        <p:nvSpPr>
          <p:cNvPr id="59" name="Rectangle 312"/>
          <p:cNvSpPr>
            <a:spLocks noChangeArrowheads="1"/>
          </p:cNvSpPr>
          <p:nvPr/>
        </p:nvSpPr>
        <p:spPr bwMode="gray">
          <a:xfrm>
            <a:off x="1903679" y="1975318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  <p:sp>
        <p:nvSpPr>
          <p:cNvPr id="61" name="Rectangle 312"/>
          <p:cNvSpPr>
            <a:spLocks noChangeArrowheads="1"/>
          </p:cNvSpPr>
          <p:nvPr/>
        </p:nvSpPr>
        <p:spPr bwMode="gray">
          <a:xfrm>
            <a:off x="1688146" y="1430659"/>
            <a:ext cx="1304602" cy="285076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AS 65001</a:t>
            </a:r>
          </a:p>
        </p:txBody>
      </p:sp>
      <p:sp>
        <p:nvSpPr>
          <p:cNvPr id="67" name="Rectangle 312"/>
          <p:cNvSpPr>
            <a:spLocks noChangeArrowheads="1"/>
          </p:cNvSpPr>
          <p:nvPr/>
        </p:nvSpPr>
        <p:spPr bwMode="gray">
          <a:xfrm>
            <a:off x="4223866" y="1769345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R2</a:t>
            </a:r>
          </a:p>
        </p:txBody>
      </p:sp>
      <p:sp>
        <p:nvSpPr>
          <p:cNvPr id="72" name="Rectangle 312"/>
          <p:cNvSpPr>
            <a:spLocks noChangeArrowheads="1"/>
          </p:cNvSpPr>
          <p:nvPr/>
        </p:nvSpPr>
        <p:spPr bwMode="gray">
          <a:xfrm>
            <a:off x="2735829" y="2225454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EBGP</a:t>
            </a:r>
          </a:p>
        </p:txBody>
      </p:sp>
      <p:sp>
        <p:nvSpPr>
          <p:cNvPr id="24" name="Rectangle 312"/>
          <p:cNvSpPr>
            <a:spLocks noChangeArrowheads="1"/>
          </p:cNvSpPr>
          <p:nvPr/>
        </p:nvSpPr>
        <p:spPr bwMode="gray">
          <a:xfrm>
            <a:off x="3522013" y="1975318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  <p:sp>
        <p:nvSpPr>
          <p:cNvPr id="26" name="Rectangle 312"/>
          <p:cNvSpPr>
            <a:spLocks noChangeArrowheads="1"/>
          </p:cNvSpPr>
          <p:nvPr/>
        </p:nvSpPr>
        <p:spPr bwMode="gray">
          <a:xfrm>
            <a:off x="3343050" y="1430659"/>
            <a:ext cx="1304602" cy="285076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AS 65002</a:t>
            </a:r>
          </a:p>
        </p:txBody>
      </p:sp>
      <p:sp>
        <p:nvSpPr>
          <p:cNvPr id="17" name="Rectangle 312"/>
          <p:cNvSpPr>
            <a:spLocks noChangeArrowheads="1"/>
          </p:cNvSpPr>
          <p:nvPr/>
        </p:nvSpPr>
        <p:spPr bwMode="gray">
          <a:xfrm>
            <a:off x="1048391" y="2452280"/>
            <a:ext cx="1767980" cy="285076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/>
              <a:t>Router ID</a:t>
            </a:r>
            <a:r>
              <a:rPr lang="zh-CN" altLang="en-US" sz="1400" dirty="0"/>
              <a:t>：</a:t>
            </a:r>
            <a:r>
              <a:rPr lang="en-US" altLang="zh-CN" sz="1400" dirty="0"/>
              <a:t>10.1.1.1</a:t>
            </a:r>
          </a:p>
        </p:txBody>
      </p:sp>
      <p:sp>
        <p:nvSpPr>
          <p:cNvPr id="18" name="Rectangle 312"/>
          <p:cNvSpPr>
            <a:spLocks noChangeArrowheads="1"/>
          </p:cNvSpPr>
          <p:nvPr/>
        </p:nvSpPr>
        <p:spPr bwMode="gray">
          <a:xfrm>
            <a:off x="3510918" y="2452280"/>
            <a:ext cx="1767980" cy="285076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/>
              <a:t>Router ID</a:t>
            </a:r>
            <a:r>
              <a:rPr lang="zh-CN" altLang="en-US" sz="1400" dirty="0"/>
              <a:t>：</a:t>
            </a:r>
            <a:r>
              <a:rPr lang="en-US" altLang="zh-CN" sz="1400" dirty="0"/>
              <a:t>10.1.2.2</a:t>
            </a:r>
          </a:p>
        </p:txBody>
      </p:sp>
    </p:spTree>
    <p:extLst>
      <p:ext uri="{BB962C8B-B14F-4D97-AF65-F5344CB8AC3E}">
        <p14:creationId xmlns:p14="http://schemas.microsoft.com/office/powerpoint/2010/main" val="40116081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部署</a:t>
            </a:r>
            <a:r>
              <a:rPr lang="en-US" altLang="zh-CN" dirty="0"/>
              <a:t>IPv4</a:t>
            </a:r>
            <a:r>
              <a:rPr lang="zh-CN" altLang="en-US" dirty="0"/>
              <a:t>网络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6446341" y="2294669"/>
            <a:ext cx="4642748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[R1] 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bgp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65001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[R1-bgp] router-id 10.1.1.1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[R1-bgp] peer 10.1.12.2 as-number 65002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6103149" y="1400438"/>
            <a:ext cx="40286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</a:rPr>
              <a:t>1</a:t>
            </a:r>
            <a:r>
              <a:rPr lang="zh-CN" altLang="en-US" sz="1600" dirty="0">
                <a:solidFill>
                  <a:prstClr val="black"/>
                </a:solidFill>
              </a:rPr>
              <a:t>、配置各路由器接口的</a:t>
            </a:r>
            <a:r>
              <a:rPr lang="en-US" altLang="zh-CN" sz="1600" dirty="0">
                <a:solidFill>
                  <a:prstClr val="black"/>
                </a:solidFill>
              </a:rPr>
              <a:t>IPv4</a:t>
            </a:r>
            <a:r>
              <a:rPr lang="zh-CN" altLang="en-US" sz="1600" dirty="0">
                <a:solidFill>
                  <a:prstClr val="black"/>
                </a:solidFill>
              </a:rPr>
              <a:t>地址。（略）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6103149" y="1931480"/>
            <a:ext cx="40575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</a:rPr>
              <a:t>2</a:t>
            </a:r>
            <a:r>
              <a:rPr lang="zh-CN" altLang="en-US" sz="1600" dirty="0">
                <a:solidFill>
                  <a:prstClr val="black"/>
                </a:solidFill>
              </a:rPr>
              <a:t>、配置</a:t>
            </a:r>
            <a:r>
              <a:rPr lang="en-US" altLang="zh-CN" sz="1600" dirty="0">
                <a:solidFill>
                  <a:prstClr val="black"/>
                </a:solidFill>
              </a:rPr>
              <a:t>BGP</a:t>
            </a:r>
            <a:r>
              <a:rPr lang="zh-CN" altLang="en-US" sz="1600" dirty="0">
                <a:solidFill>
                  <a:prstClr val="black"/>
                </a:solidFill>
              </a:rPr>
              <a:t>基本功能：建立</a:t>
            </a:r>
            <a:r>
              <a:rPr lang="en-US" altLang="zh-CN" sz="1600" dirty="0">
                <a:solidFill>
                  <a:prstClr val="black"/>
                </a:solidFill>
              </a:rPr>
              <a:t>EBGP</a:t>
            </a:r>
            <a:r>
              <a:rPr lang="zh-CN" altLang="en-US" sz="1600" dirty="0">
                <a:solidFill>
                  <a:prstClr val="black"/>
                </a:solidFill>
              </a:rPr>
              <a:t>对等体。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446341" y="3130509"/>
            <a:ext cx="4642748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[R2] 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bgp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65002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[R2-bgp] router-id 10.1.2.2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[R2-bgp] peer 10.1.12.1 as-number 65001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446341" y="4430504"/>
            <a:ext cx="4642748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[R1-bgp] iPv4-family unicast</a:t>
            </a:r>
          </a:p>
          <a:p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[R1-bgp-af-ipv4] network 10.1.1.1 32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103149" y="4067315"/>
            <a:ext cx="19223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</a:rPr>
              <a:t>3</a:t>
            </a:r>
            <a:r>
              <a:rPr lang="zh-CN" altLang="en-US" sz="1600" dirty="0">
                <a:solidFill>
                  <a:prstClr val="black"/>
                </a:solidFill>
              </a:rPr>
              <a:t>、发布</a:t>
            </a:r>
            <a:r>
              <a:rPr lang="en-US" altLang="zh-CN" sz="1600" dirty="0">
                <a:solidFill>
                  <a:prstClr val="black"/>
                </a:solidFill>
              </a:rPr>
              <a:t>IPv4</a:t>
            </a:r>
            <a:r>
              <a:rPr lang="zh-CN" altLang="en-US" sz="1600" dirty="0">
                <a:solidFill>
                  <a:prstClr val="black"/>
                </a:solidFill>
              </a:rPr>
              <a:t>路由。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446341" y="5092928"/>
            <a:ext cx="4642748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[R2-bgp] iPv4-family unicast</a:t>
            </a:r>
          </a:p>
          <a:p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[R2-bgp-af-ipv4] network 10.1.2.2 32</a:t>
            </a:r>
          </a:p>
        </p:txBody>
      </p:sp>
      <p:sp>
        <p:nvSpPr>
          <p:cNvPr id="27" name="圆角矩形 26"/>
          <p:cNvSpPr/>
          <p:nvPr/>
        </p:nvSpPr>
        <p:spPr bwMode="gray">
          <a:xfrm>
            <a:off x="3494908" y="1410273"/>
            <a:ext cx="1800000" cy="1529335"/>
          </a:xfrm>
          <a:prstGeom prst="roundRect">
            <a:avLst>
              <a:gd name="adj" fmla="val 3573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578626"/>
              </p:ext>
            </p:extLst>
          </p:nvPr>
        </p:nvGraphicFramePr>
        <p:xfrm>
          <a:off x="685543" y="3716338"/>
          <a:ext cx="5224348" cy="1524000"/>
        </p:xfrm>
        <a:graphic>
          <a:graphicData uri="http://schemas.openxmlformats.org/drawingml/2006/table">
            <a:tbl>
              <a:tblPr firstRow="1" bandRow="1"/>
              <a:tblGrid>
                <a:gridCol w="613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1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设备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接口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IPv4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IPv6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10.1.12.1/24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2001:DB8:2345:12::1/64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Loopback0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10.1.1.1/32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2001:DB8:2345:1::1/128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10.1.12.2/24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2001:DB8:2345:12::2/64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Loopback0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10.1.2.2/32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2001:DB8:2345:2::2/128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圆角矩形 28"/>
          <p:cNvSpPr/>
          <p:nvPr/>
        </p:nvSpPr>
        <p:spPr bwMode="gray">
          <a:xfrm>
            <a:off x="1020756" y="1410273"/>
            <a:ext cx="1800000" cy="1529335"/>
          </a:xfrm>
          <a:prstGeom prst="roundRect">
            <a:avLst>
              <a:gd name="adj" fmla="val 3573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pic>
        <p:nvPicPr>
          <p:cNvPr id="30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1421194" y="2010852"/>
            <a:ext cx="541201" cy="442800"/>
          </a:xfrm>
          <a:prstGeom prst="rect">
            <a:avLst/>
          </a:prstGeom>
          <a:noFill/>
        </p:spPr>
      </p:pic>
      <p:pic>
        <p:nvPicPr>
          <p:cNvPr id="31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250642" y="2010852"/>
            <a:ext cx="541201" cy="442800"/>
          </a:xfrm>
          <a:prstGeom prst="rect">
            <a:avLst/>
          </a:prstGeom>
          <a:noFill/>
        </p:spPr>
      </p:pic>
      <p:cxnSp>
        <p:nvCxnSpPr>
          <p:cNvPr id="32" name="直接连接符 31"/>
          <p:cNvCxnSpPr>
            <a:stCxn id="30" idx="3"/>
            <a:endCxn id="31" idx="1"/>
          </p:cNvCxnSpPr>
          <p:nvPr/>
        </p:nvCxnSpPr>
        <p:spPr bwMode="gray">
          <a:xfrm>
            <a:off x="1962395" y="2232252"/>
            <a:ext cx="228824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12"/>
          <p:cNvSpPr>
            <a:spLocks noChangeArrowheads="1"/>
          </p:cNvSpPr>
          <p:nvPr/>
        </p:nvSpPr>
        <p:spPr bwMode="gray">
          <a:xfrm>
            <a:off x="1394418" y="1769345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R1</a:t>
            </a:r>
          </a:p>
        </p:txBody>
      </p:sp>
      <p:sp>
        <p:nvSpPr>
          <p:cNvPr id="34" name="Rectangle 312"/>
          <p:cNvSpPr>
            <a:spLocks noChangeArrowheads="1"/>
          </p:cNvSpPr>
          <p:nvPr/>
        </p:nvSpPr>
        <p:spPr bwMode="gray">
          <a:xfrm>
            <a:off x="1903679" y="1975318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  <p:sp>
        <p:nvSpPr>
          <p:cNvPr id="35" name="Rectangle 312"/>
          <p:cNvSpPr>
            <a:spLocks noChangeArrowheads="1"/>
          </p:cNvSpPr>
          <p:nvPr/>
        </p:nvSpPr>
        <p:spPr bwMode="gray">
          <a:xfrm>
            <a:off x="1688146" y="1430659"/>
            <a:ext cx="1304602" cy="285076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AS 65001</a:t>
            </a:r>
          </a:p>
        </p:txBody>
      </p:sp>
      <p:sp>
        <p:nvSpPr>
          <p:cNvPr id="36" name="Rectangle 312"/>
          <p:cNvSpPr>
            <a:spLocks noChangeArrowheads="1"/>
          </p:cNvSpPr>
          <p:nvPr/>
        </p:nvSpPr>
        <p:spPr bwMode="gray">
          <a:xfrm>
            <a:off x="4223866" y="1769345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R2</a:t>
            </a:r>
          </a:p>
        </p:txBody>
      </p:sp>
      <p:sp>
        <p:nvSpPr>
          <p:cNvPr id="40" name="Rectangle 312"/>
          <p:cNvSpPr>
            <a:spLocks noChangeArrowheads="1"/>
          </p:cNvSpPr>
          <p:nvPr/>
        </p:nvSpPr>
        <p:spPr bwMode="gray">
          <a:xfrm>
            <a:off x="2735829" y="2225454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EBGP</a:t>
            </a:r>
          </a:p>
        </p:txBody>
      </p:sp>
      <p:sp>
        <p:nvSpPr>
          <p:cNvPr id="41" name="Rectangle 312"/>
          <p:cNvSpPr>
            <a:spLocks noChangeArrowheads="1"/>
          </p:cNvSpPr>
          <p:nvPr/>
        </p:nvSpPr>
        <p:spPr bwMode="gray">
          <a:xfrm>
            <a:off x="3522013" y="1975318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  <p:sp>
        <p:nvSpPr>
          <p:cNvPr id="42" name="Rectangle 312"/>
          <p:cNvSpPr>
            <a:spLocks noChangeArrowheads="1"/>
          </p:cNvSpPr>
          <p:nvPr/>
        </p:nvSpPr>
        <p:spPr bwMode="gray">
          <a:xfrm>
            <a:off x="3343050" y="1430659"/>
            <a:ext cx="1304602" cy="285076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AS 65002</a:t>
            </a:r>
          </a:p>
        </p:txBody>
      </p:sp>
      <p:sp>
        <p:nvSpPr>
          <p:cNvPr id="43" name="Rectangle 312"/>
          <p:cNvSpPr>
            <a:spLocks noChangeArrowheads="1"/>
          </p:cNvSpPr>
          <p:nvPr/>
        </p:nvSpPr>
        <p:spPr bwMode="gray">
          <a:xfrm>
            <a:off x="1048391" y="2452280"/>
            <a:ext cx="1767980" cy="285076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/>
              <a:t>Router ID</a:t>
            </a:r>
            <a:r>
              <a:rPr lang="zh-CN" altLang="en-US" sz="1400" dirty="0"/>
              <a:t>：</a:t>
            </a:r>
            <a:r>
              <a:rPr lang="en-US" altLang="zh-CN" sz="1400" dirty="0"/>
              <a:t>10.1.1.1</a:t>
            </a:r>
          </a:p>
        </p:txBody>
      </p:sp>
      <p:sp>
        <p:nvSpPr>
          <p:cNvPr id="44" name="Rectangle 312"/>
          <p:cNvSpPr>
            <a:spLocks noChangeArrowheads="1"/>
          </p:cNvSpPr>
          <p:nvPr/>
        </p:nvSpPr>
        <p:spPr bwMode="gray">
          <a:xfrm>
            <a:off x="3510918" y="2452280"/>
            <a:ext cx="1767980" cy="285076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/>
              <a:t>Router ID</a:t>
            </a:r>
            <a:r>
              <a:rPr lang="zh-CN" altLang="en-US" sz="1400" dirty="0"/>
              <a:t>：</a:t>
            </a:r>
            <a:r>
              <a:rPr lang="en-US" altLang="zh-CN" sz="1400" dirty="0"/>
              <a:t>10.1.2.2</a:t>
            </a:r>
          </a:p>
        </p:txBody>
      </p:sp>
    </p:spTree>
    <p:extLst>
      <p:ext uri="{BB962C8B-B14F-4D97-AF65-F5344CB8AC3E}">
        <p14:creationId xmlns:p14="http://schemas.microsoft.com/office/powerpoint/2010/main" val="69700622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部署</a:t>
            </a:r>
            <a:r>
              <a:rPr lang="en-US" altLang="zh-CN" dirty="0"/>
              <a:t>IPv6</a:t>
            </a:r>
            <a:r>
              <a:rPr lang="zh-CN" altLang="en-US" dirty="0"/>
              <a:t>网络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6103147" y="1391730"/>
            <a:ext cx="39741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</a:rPr>
              <a:t>1</a:t>
            </a:r>
            <a:r>
              <a:rPr lang="zh-CN" altLang="en-US" sz="1600" dirty="0">
                <a:solidFill>
                  <a:prstClr val="black"/>
                </a:solidFill>
              </a:rPr>
              <a:t>、配置各路由器接口的</a:t>
            </a:r>
            <a:r>
              <a:rPr lang="en-US" altLang="zh-CN" sz="1600" dirty="0">
                <a:solidFill>
                  <a:prstClr val="black"/>
                </a:solidFill>
              </a:rPr>
              <a:t>IPv6</a:t>
            </a:r>
            <a:r>
              <a:rPr lang="zh-CN" altLang="en-US" sz="1600" dirty="0">
                <a:solidFill>
                  <a:prstClr val="black"/>
                </a:solidFill>
              </a:rPr>
              <a:t>地址。（略）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6446338" y="2285961"/>
            <a:ext cx="4642749" cy="9541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[R1] 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bgp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65001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[R1-bgp] peer 2001:DB8:2345:12::2 as-number 65002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[R1-bgp] iPv6-family unicast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[R1-bgp-af-ipv6] peer 2001:DB8:2345:12::2 enable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6103147" y="1922772"/>
            <a:ext cx="5642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</a:rPr>
              <a:t>2</a:t>
            </a:r>
            <a:r>
              <a:rPr lang="zh-CN" altLang="en-US" sz="1600" dirty="0">
                <a:solidFill>
                  <a:prstClr val="black"/>
                </a:solidFill>
              </a:rPr>
              <a:t>、配置</a:t>
            </a:r>
            <a:r>
              <a:rPr lang="en-US" altLang="zh-CN" sz="1600" dirty="0">
                <a:solidFill>
                  <a:prstClr val="black"/>
                </a:solidFill>
              </a:rPr>
              <a:t>BGP4+</a:t>
            </a:r>
            <a:r>
              <a:rPr lang="zh-CN" altLang="en-US" sz="1600" dirty="0">
                <a:solidFill>
                  <a:prstClr val="black"/>
                </a:solidFill>
              </a:rPr>
              <a:t>基本功能：建立</a:t>
            </a:r>
            <a:r>
              <a:rPr lang="en-US" altLang="zh-CN" sz="1600" dirty="0">
                <a:solidFill>
                  <a:prstClr val="black"/>
                </a:solidFill>
              </a:rPr>
              <a:t>EBGP</a:t>
            </a:r>
            <a:r>
              <a:rPr lang="zh-CN" altLang="en-US" sz="1600" dirty="0">
                <a:solidFill>
                  <a:prstClr val="black"/>
                </a:solidFill>
              </a:rPr>
              <a:t>对等体，并使能对等体。</a:t>
            </a:r>
          </a:p>
        </p:txBody>
      </p:sp>
      <p:sp>
        <p:nvSpPr>
          <p:cNvPr id="78" name="文本框 77"/>
          <p:cNvSpPr txBox="1"/>
          <p:nvPr/>
        </p:nvSpPr>
        <p:spPr>
          <a:xfrm>
            <a:off x="6446339" y="3337244"/>
            <a:ext cx="4642748" cy="9541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[R2] 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bgp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65002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[R2-bgp] peer 2001:DB8:2345:12::1 as-number 65001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[R2-bgp] iPv6-family unicast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[R2-bgp-af-ipv6] peer 2001:DB8:2345:12::1 enable</a:t>
            </a:r>
          </a:p>
        </p:txBody>
      </p:sp>
      <p:sp>
        <p:nvSpPr>
          <p:cNvPr id="84" name="文本框 83"/>
          <p:cNvSpPr txBox="1"/>
          <p:nvPr/>
        </p:nvSpPr>
        <p:spPr>
          <a:xfrm>
            <a:off x="6446339" y="4852100"/>
            <a:ext cx="4642748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[R1-bgp-af-ipv6] network </a:t>
            </a:r>
            <a:r>
              <a:rPr lang="en-US" altLang="zh-CN" sz="1400" dirty="0"/>
              <a:t>2001:DB8:2345:1::1 128</a:t>
            </a:r>
            <a:endParaRPr lang="en-US" altLang="zh-CN" sz="1400" dirty="0">
              <a:solidFill>
                <a:prstClr val="black"/>
              </a:solidFill>
              <a:cs typeface="Courier New" panose="02070309020205020404" pitchFamily="49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6103147" y="4488911"/>
            <a:ext cx="19223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prstClr val="black"/>
                </a:solidFill>
              </a:rPr>
              <a:t>3</a:t>
            </a:r>
            <a:r>
              <a:rPr lang="zh-CN" altLang="en-US" sz="1600" dirty="0">
                <a:solidFill>
                  <a:prstClr val="black"/>
                </a:solidFill>
              </a:rPr>
              <a:t>、发布</a:t>
            </a:r>
            <a:r>
              <a:rPr lang="en-US" altLang="zh-CN" sz="1600" dirty="0">
                <a:solidFill>
                  <a:prstClr val="black"/>
                </a:solidFill>
              </a:rPr>
              <a:t>IPv6</a:t>
            </a:r>
            <a:r>
              <a:rPr lang="zh-CN" altLang="en-US" sz="1600" dirty="0">
                <a:solidFill>
                  <a:prstClr val="black"/>
                </a:solidFill>
              </a:rPr>
              <a:t>路由。</a:t>
            </a:r>
          </a:p>
        </p:txBody>
      </p:sp>
      <p:sp>
        <p:nvSpPr>
          <p:cNvPr id="87" name="文本框 86"/>
          <p:cNvSpPr txBox="1"/>
          <p:nvPr/>
        </p:nvSpPr>
        <p:spPr>
          <a:xfrm>
            <a:off x="6446339" y="5269208"/>
            <a:ext cx="4642748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[R2-bgp-af-ipv6] network </a:t>
            </a:r>
            <a:r>
              <a:rPr lang="en-US" altLang="zh-CN" sz="1400" dirty="0"/>
              <a:t>2001:DB8:2345:2::2 128</a:t>
            </a:r>
            <a:endParaRPr lang="en-US" altLang="zh-CN" sz="1400" dirty="0">
              <a:solidFill>
                <a:prstClr val="black"/>
              </a:solidFill>
              <a:cs typeface="Courier New" panose="02070309020205020404" pitchFamily="49" charset="0"/>
            </a:endParaRPr>
          </a:p>
        </p:txBody>
      </p:sp>
      <p:sp>
        <p:nvSpPr>
          <p:cNvPr id="26" name="圆角矩形 25"/>
          <p:cNvSpPr/>
          <p:nvPr/>
        </p:nvSpPr>
        <p:spPr bwMode="gray">
          <a:xfrm>
            <a:off x="3494908" y="1410273"/>
            <a:ext cx="1800000" cy="1529335"/>
          </a:xfrm>
          <a:prstGeom prst="roundRect">
            <a:avLst>
              <a:gd name="adj" fmla="val 3573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578626"/>
              </p:ext>
            </p:extLst>
          </p:nvPr>
        </p:nvGraphicFramePr>
        <p:xfrm>
          <a:off x="685543" y="3716338"/>
          <a:ext cx="5224348" cy="1524000"/>
        </p:xfrm>
        <a:graphic>
          <a:graphicData uri="http://schemas.openxmlformats.org/drawingml/2006/table">
            <a:tbl>
              <a:tblPr firstRow="1" bandRow="1"/>
              <a:tblGrid>
                <a:gridCol w="613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1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设备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接口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IPv4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IPv6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10.1.12.1/24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2001:DB8:2345:12::1/64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Loopback0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10.1.1.1/32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2001:DB8:2345:1::1/128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10.1.12.2/24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2001:DB8:2345:12::2/64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Loopback0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10.1.2.2/32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2001:DB8:2345:2::2/128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圆角矩形 27"/>
          <p:cNvSpPr/>
          <p:nvPr/>
        </p:nvSpPr>
        <p:spPr bwMode="gray">
          <a:xfrm>
            <a:off x="1020756" y="1410273"/>
            <a:ext cx="1800000" cy="1529335"/>
          </a:xfrm>
          <a:prstGeom prst="roundRect">
            <a:avLst>
              <a:gd name="adj" fmla="val 3573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pic>
        <p:nvPicPr>
          <p:cNvPr id="29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1421194" y="2010852"/>
            <a:ext cx="541201" cy="442800"/>
          </a:xfrm>
          <a:prstGeom prst="rect">
            <a:avLst/>
          </a:prstGeom>
          <a:noFill/>
        </p:spPr>
      </p:pic>
      <p:pic>
        <p:nvPicPr>
          <p:cNvPr id="30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250642" y="2010852"/>
            <a:ext cx="541201" cy="442800"/>
          </a:xfrm>
          <a:prstGeom prst="rect">
            <a:avLst/>
          </a:prstGeom>
          <a:noFill/>
        </p:spPr>
      </p:pic>
      <p:cxnSp>
        <p:nvCxnSpPr>
          <p:cNvPr id="31" name="直接连接符 30"/>
          <p:cNvCxnSpPr>
            <a:stCxn id="29" idx="3"/>
            <a:endCxn id="30" idx="1"/>
          </p:cNvCxnSpPr>
          <p:nvPr/>
        </p:nvCxnSpPr>
        <p:spPr bwMode="gray">
          <a:xfrm>
            <a:off x="1962395" y="2232252"/>
            <a:ext cx="228824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2"/>
          <p:cNvSpPr>
            <a:spLocks noChangeArrowheads="1"/>
          </p:cNvSpPr>
          <p:nvPr/>
        </p:nvSpPr>
        <p:spPr bwMode="gray">
          <a:xfrm>
            <a:off x="1394418" y="1769345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R1</a:t>
            </a:r>
          </a:p>
        </p:txBody>
      </p:sp>
      <p:sp>
        <p:nvSpPr>
          <p:cNvPr id="33" name="Rectangle 312"/>
          <p:cNvSpPr>
            <a:spLocks noChangeArrowheads="1"/>
          </p:cNvSpPr>
          <p:nvPr/>
        </p:nvSpPr>
        <p:spPr bwMode="gray">
          <a:xfrm>
            <a:off x="1903679" y="1975318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  <p:sp>
        <p:nvSpPr>
          <p:cNvPr id="34" name="Rectangle 312"/>
          <p:cNvSpPr>
            <a:spLocks noChangeArrowheads="1"/>
          </p:cNvSpPr>
          <p:nvPr/>
        </p:nvSpPr>
        <p:spPr bwMode="gray">
          <a:xfrm>
            <a:off x="1688146" y="1430659"/>
            <a:ext cx="1304602" cy="285076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AS 65001</a:t>
            </a:r>
          </a:p>
        </p:txBody>
      </p:sp>
      <p:sp>
        <p:nvSpPr>
          <p:cNvPr id="35" name="Rectangle 312"/>
          <p:cNvSpPr>
            <a:spLocks noChangeArrowheads="1"/>
          </p:cNvSpPr>
          <p:nvPr/>
        </p:nvSpPr>
        <p:spPr bwMode="gray">
          <a:xfrm>
            <a:off x="4223866" y="1769345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R2</a:t>
            </a:r>
          </a:p>
        </p:txBody>
      </p:sp>
      <p:sp>
        <p:nvSpPr>
          <p:cNvPr id="36" name="Rectangle 312"/>
          <p:cNvSpPr>
            <a:spLocks noChangeArrowheads="1"/>
          </p:cNvSpPr>
          <p:nvPr/>
        </p:nvSpPr>
        <p:spPr bwMode="gray">
          <a:xfrm>
            <a:off x="2735829" y="2225454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EBGP</a:t>
            </a:r>
          </a:p>
        </p:txBody>
      </p:sp>
      <p:sp>
        <p:nvSpPr>
          <p:cNvPr id="37" name="Rectangle 312"/>
          <p:cNvSpPr>
            <a:spLocks noChangeArrowheads="1"/>
          </p:cNvSpPr>
          <p:nvPr/>
        </p:nvSpPr>
        <p:spPr bwMode="gray">
          <a:xfrm>
            <a:off x="3522013" y="1975318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  <p:sp>
        <p:nvSpPr>
          <p:cNvPr id="39" name="Rectangle 312"/>
          <p:cNvSpPr>
            <a:spLocks noChangeArrowheads="1"/>
          </p:cNvSpPr>
          <p:nvPr/>
        </p:nvSpPr>
        <p:spPr bwMode="gray">
          <a:xfrm>
            <a:off x="3343050" y="1430659"/>
            <a:ext cx="1304602" cy="285076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AS 65002</a:t>
            </a:r>
          </a:p>
        </p:txBody>
      </p:sp>
      <p:sp>
        <p:nvSpPr>
          <p:cNvPr id="40" name="Rectangle 312"/>
          <p:cNvSpPr>
            <a:spLocks noChangeArrowheads="1"/>
          </p:cNvSpPr>
          <p:nvPr/>
        </p:nvSpPr>
        <p:spPr bwMode="gray">
          <a:xfrm>
            <a:off x="1048391" y="2452280"/>
            <a:ext cx="1767980" cy="285076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/>
              <a:t>Router ID</a:t>
            </a:r>
            <a:r>
              <a:rPr lang="zh-CN" altLang="en-US" sz="1400" dirty="0"/>
              <a:t>：</a:t>
            </a:r>
            <a:r>
              <a:rPr lang="en-US" altLang="zh-CN" sz="1400" dirty="0"/>
              <a:t>10.1.1.1</a:t>
            </a:r>
          </a:p>
        </p:txBody>
      </p:sp>
      <p:sp>
        <p:nvSpPr>
          <p:cNvPr id="41" name="Rectangle 312"/>
          <p:cNvSpPr>
            <a:spLocks noChangeArrowheads="1"/>
          </p:cNvSpPr>
          <p:nvPr/>
        </p:nvSpPr>
        <p:spPr bwMode="gray">
          <a:xfrm>
            <a:off x="3510918" y="2452280"/>
            <a:ext cx="1767980" cy="285076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/>
              <a:t>Router ID</a:t>
            </a:r>
            <a:r>
              <a:rPr lang="zh-CN" altLang="en-US" sz="1400" dirty="0"/>
              <a:t>：</a:t>
            </a:r>
            <a:r>
              <a:rPr lang="en-US" altLang="zh-CN" sz="1400" dirty="0"/>
              <a:t>10.1.2.2</a:t>
            </a:r>
          </a:p>
        </p:txBody>
      </p:sp>
    </p:spTree>
    <p:extLst>
      <p:ext uri="{BB962C8B-B14F-4D97-AF65-F5344CB8AC3E}">
        <p14:creationId xmlns:p14="http://schemas.microsoft.com/office/powerpoint/2010/main" val="109189826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查看</a:t>
            </a:r>
            <a:r>
              <a:rPr lang="en-US" altLang="zh-CN"/>
              <a:t>BGP</a:t>
            </a:r>
            <a:r>
              <a:rPr lang="zh-CN" altLang="en-US"/>
              <a:t>对等体信息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55612" y="1047750"/>
            <a:ext cx="11293475" cy="1024175"/>
          </a:xfrm>
        </p:spPr>
        <p:txBody>
          <a:bodyPr/>
          <a:lstStyle/>
          <a:p>
            <a:r>
              <a:rPr lang="zh-CN" altLang="en-US" sz="2000" dirty="0"/>
              <a:t>通过</a:t>
            </a:r>
            <a:r>
              <a:rPr lang="en-US" altLang="zh-CN" sz="2000" b="1" dirty="0"/>
              <a:t>display </a:t>
            </a:r>
            <a:r>
              <a:rPr lang="en-US" altLang="zh-CN" sz="2000" b="1" dirty="0" err="1"/>
              <a:t>bgp</a:t>
            </a:r>
            <a:r>
              <a:rPr lang="en-US" altLang="zh-CN" sz="2000" b="1" dirty="0"/>
              <a:t> [ipv6] peer</a:t>
            </a:r>
            <a:r>
              <a:rPr lang="zh-CN" altLang="en-US" sz="2000" dirty="0"/>
              <a:t>，分别查看</a:t>
            </a:r>
            <a:r>
              <a:rPr lang="en-US" altLang="zh-CN" sz="2000" dirty="0"/>
              <a:t>IPv4</a:t>
            </a:r>
            <a:r>
              <a:rPr lang="zh-CN" altLang="en-US" sz="2000" dirty="0"/>
              <a:t>和</a:t>
            </a:r>
            <a:r>
              <a:rPr lang="en-US" altLang="zh-CN" sz="2000" dirty="0"/>
              <a:t>IPv6</a:t>
            </a:r>
            <a:r>
              <a:rPr lang="zh-CN" altLang="en-US" sz="2000" dirty="0"/>
              <a:t>网络中的</a:t>
            </a:r>
            <a:r>
              <a:rPr lang="en-US" altLang="zh-CN" sz="2000" dirty="0"/>
              <a:t>BGP</a:t>
            </a:r>
            <a:r>
              <a:rPr lang="zh-CN" altLang="en-US" sz="2000" dirty="0"/>
              <a:t>对等体信息。</a:t>
            </a:r>
            <a:endParaRPr lang="en-US" altLang="zh-CN" sz="2000" dirty="0"/>
          </a:p>
          <a:p>
            <a:r>
              <a:rPr lang="zh-CN" altLang="en-US" sz="2000" dirty="0"/>
              <a:t>发现除建立对等体的地址不同，其他信息基本一致。</a:t>
            </a:r>
          </a:p>
        </p:txBody>
      </p:sp>
      <p:sp>
        <p:nvSpPr>
          <p:cNvPr id="28" name="文本框 2"/>
          <p:cNvSpPr txBox="1"/>
          <p:nvPr/>
        </p:nvSpPr>
        <p:spPr>
          <a:xfrm>
            <a:off x="837797" y="2174799"/>
            <a:ext cx="981271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[R1]display 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bgp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peer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BGP local router ID :	10.1.1.1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Local AS number:	65001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Total number of peers:  1		  Peers in established state : 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 Peer	                	  V	AS	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MsgRcvd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	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MsgSent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	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OutQ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	Up/Down	State	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PrefRcv</a:t>
            </a:r>
            <a:endParaRPr lang="en-US" altLang="zh-CN" sz="14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 10.1.12.2	    	  4	65002	11	12	0	00:06:49	Established     1</a:t>
            </a:r>
          </a:p>
        </p:txBody>
      </p:sp>
      <p:sp>
        <p:nvSpPr>
          <p:cNvPr id="30" name="矩形 29"/>
          <p:cNvSpPr/>
          <p:nvPr/>
        </p:nvSpPr>
        <p:spPr>
          <a:xfrm>
            <a:off x="9877552" y="2071925"/>
            <a:ext cx="880533" cy="301994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BGP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sp>
        <p:nvSpPr>
          <p:cNvPr id="32" name="文本框 2"/>
          <p:cNvSpPr txBox="1"/>
          <p:nvPr/>
        </p:nvSpPr>
        <p:spPr>
          <a:xfrm>
            <a:off x="837797" y="4303767"/>
            <a:ext cx="981271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[R1]display 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bgp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ipv6 peer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BGP local router ID : 10.1.1.1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Local AS number : 65001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Total number of peers : 1		  Peers in established state : 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 Peer		   V	AS	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MsgRcvd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	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MsgSent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	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OutQ</a:t>
            </a: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	Up/Down	State	</a:t>
            </a:r>
            <a:r>
              <a:rPr lang="en-US" altLang="zh-CN" sz="1400" dirty="0" err="1">
                <a:solidFill>
                  <a:prstClr val="black"/>
                </a:solidFill>
                <a:cs typeface="Courier New" panose="02070309020205020404" pitchFamily="49" charset="0"/>
              </a:rPr>
              <a:t>PrefRcv</a:t>
            </a:r>
            <a:endParaRPr lang="en-US" altLang="zh-CN" sz="14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solidFill>
                  <a:prstClr val="black"/>
                </a:solidFill>
                <a:cs typeface="Courier New" panose="02070309020205020404" pitchFamily="49" charset="0"/>
              </a:rPr>
              <a:t>  2001:DB8:2345:12::2     4	65002	14	15	0	00:07:35	Established	      1</a:t>
            </a:r>
          </a:p>
        </p:txBody>
      </p:sp>
      <p:sp>
        <p:nvSpPr>
          <p:cNvPr id="33" name="矩形 32"/>
          <p:cNvSpPr/>
          <p:nvPr/>
        </p:nvSpPr>
        <p:spPr>
          <a:xfrm>
            <a:off x="9877552" y="4200893"/>
            <a:ext cx="880533" cy="301994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BGP4+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06398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查看</a:t>
            </a:r>
            <a:r>
              <a:rPr lang="en-US" altLang="zh-CN" dirty="0"/>
              <a:t>BGP4+</a:t>
            </a:r>
            <a:r>
              <a:rPr lang="zh-CN" altLang="en-US" dirty="0"/>
              <a:t>路由信息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4294967295"/>
          </p:nvPr>
        </p:nvSpPr>
        <p:spPr bwMode="gray">
          <a:xfrm>
            <a:off x="2978331" y="5354735"/>
            <a:ext cx="2737438" cy="712297"/>
          </a:xfrm>
          <a:solidFill>
            <a:srgbClr val="FEF5DA"/>
          </a:solidFill>
          <a:ln w="19050">
            <a:solidFill>
              <a:srgbClr val="FDE397"/>
            </a:solidFill>
          </a:ln>
        </p:spPr>
        <p:txBody>
          <a:bodyPr wrap="square" lIns="54000" tIns="54000" rIns="54000" bIns="54000" rtlCol="0" anchor="ctr" anchorCtr="0">
            <a:spAutoFit/>
          </a:bodyPr>
          <a:lstStyle/>
          <a:p>
            <a:pPr marL="0" indent="0" defTabSz="914478">
              <a:buNone/>
            </a:pPr>
            <a:r>
              <a:rPr lang="zh-CN" altLang="en-US" sz="1400" dirty="0">
                <a:latin typeface="+mn-lt"/>
                <a:ea typeface="+mn-ea"/>
              </a:rPr>
              <a:t>查看</a:t>
            </a:r>
            <a:r>
              <a:rPr lang="en-US" altLang="zh-CN" sz="1400" dirty="0">
                <a:latin typeface="+mn-lt"/>
                <a:ea typeface="+mn-ea"/>
              </a:rPr>
              <a:t>BGP4+</a:t>
            </a:r>
            <a:r>
              <a:rPr lang="zh-CN" altLang="en-US" sz="1400" dirty="0">
                <a:latin typeface="+mn-lt"/>
                <a:ea typeface="+mn-ea"/>
              </a:rPr>
              <a:t>路由表，发现共有</a:t>
            </a:r>
            <a:r>
              <a:rPr lang="en-US" altLang="zh-CN" sz="1400" dirty="0">
                <a:latin typeface="+mn-lt"/>
                <a:ea typeface="+mn-ea"/>
              </a:rPr>
              <a:t>2</a:t>
            </a:r>
            <a:r>
              <a:rPr lang="zh-CN" altLang="en-US" sz="1400" dirty="0">
                <a:latin typeface="+mn-lt"/>
                <a:ea typeface="+mn-ea"/>
              </a:rPr>
              <a:t>条路由信息，均为有效路由。</a:t>
            </a:r>
          </a:p>
        </p:txBody>
      </p:sp>
      <p:sp>
        <p:nvSpPr>
          <p:cNvPr id="28" name="文本框 2"/>
          <p:cNvSpPr txBox="1"/>
          <p:nvPr/>
        </p:nvSpPr>
        <p:spPr>
          <a:xfrm>
            <a:off x="5863531" y="1556913"/>
            <a:ext cx="5882382" cy="35777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 rtlCol="0" anchor="ctr" anchorCtr="0">
            <a:no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[R1]display </a:t>
            </a:r>
            <a:r>
              <a:rPr lang="en-US" altLang="zh-CN" sz="1200" dirty="0" err="1">
                <a:solidFill>
                  <a:prstClr val="black"/>
                </a:solidFill>
                <a:cs typeface="Courier New" panose="02070309020205020404" pitchFamily="49" charset="0"/>
              </a:rPr>
              <a:t>bgp</a:t>
            </a: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ipv6 routing-table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BGP Local router ID is 10.1.1.1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Status codes: * - valid, &gt; - best, d - damped,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           h - history,  </a:t>
            </a:r>
            <a:r>
              <a:rPr lang="en-US" altLang="zh-CN" sz="1200" dirty="0" err="1">
                <a:solidFill>
                  <a:prstClr val="black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- internal, s - suppressed, S - Stale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           Origin : </a:t>
            </a:r>
            <a:r>
              <a:rPr lang="en-US" altLang="zh-CN" sz="1200" dirty="0" err="1">
                <a:solidFill>
                  <a:prstClr val="black"/>
                </a:solidFill>
                <a:cs typeface="Courier New" panose="02070309020205020404" pitchFamily="49" charset="0"/>
              </a:rPr>
              <a:t>i</a:t>
            </a: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- IGP, e - EGP, ? - incomplete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altLang="zh-CN" sz="12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Total Number of Routes: 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*&gt;  Network : 	2001:DB8:2345:1::1	</a:t>
            </a:r>
            <a:r>
              <a:rPr lang="en-US" altLang="zh-CN" sz="1200" dirty="0" err="1">
                <a:solidFill>
                  <a:prstClr val="black"/>
                </a:solidFill>
                <a:cs typeface="Courier New" panose="02070309020205020404" pitchFamily="49" charset="0"/>
              </a:rPr>
              <a:t>PrefixLen</a:t>
            </a: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: 	128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 </a:t>
            </a:r>
            <a:r>
              <a:rPr lang="en-US" altLang="zh-CN" sz="1200" dirty="0" err="1">
                <a:solidFill>
                  <a:prstClr val="black"/>
                </a:solidFill>
                <a:cs typeface="Courier New" panose="02070309020205020404" pitchFamily="49" charset="0"/>
              </a:rPr>
              <a:t>NextHop</a:t>
            </a: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: 	::  		</a:t>
            </a:r>
            <a:r>
              <a:rPr lang="en-US" altLang="zh-CN" sz="1200" dirty="0" err="1">
                <a:solidFill>
                  <a:prstClr val="black"/>
                </a:solidFill>
                <a:cs typeface="Courier New" panose="02070309020205020404" pitchFamily="49" charset="0"/>
              </a:rPr>
              <a:t>LocPrf</a:t>
            </a: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:   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 MED : 		0                		</a:t>
            </a:r>
            <a:r>
              <a:rPr lang="en-US" altLang="zh-CN" sz="1200" dirty="0" err="1">
                <a:solidFill>
                  <a:prstClr val="black"/>
                </a:solidFill>
                <a:cs typeface="Courier New" panose="02070309020205020404" pitchFamily="49" charset="0"/>
              </a:rPr>
              <a:t>PrefVal</a:t>
            </a: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: 	0  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 Label  :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 Path/</a:t>
            </a:r>
            <a:r>
              <a:rPr lang="en-US" altLang="zh-CN" sz="1200" dirty="0" err="1">
                <a:solidFill>
                  <a:prstClr val="black"/>
                </a:solidFill>
                <a:cs typeface="Courier New" panose="02070309020205020404" pitchFamily="49" charset="0"/>
              </a:rPr>
              <a:t>Ogn</a:t>
            </a: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: 	</a:t>
            </a:r>
            <a:r>
              <a:rPr lang="en-US" altLang="zh-CN" sz="1200" dirty="0" err="1">
                <a:solidFill>
                  <a:prstClr val="black"/>
                </a:solidFill>
                <a:cs typeface="Courier New" panose="02070309020205020404" pitchFamily="49" charset="0"/>
              </a:rPr>
              <a:t>i</a:t>
            </a:r>
            <a:endParaRPr lang="en-US" altLang="zh-CN" sz="1200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*&gt;  Network : 	2001:DB8:2345:2::2      	</a:t>
            </a:r>
            <a:r>
              <a:rPr lang="en-US" altLang="zh-CN" sz="1200" dirty="0" err="1">
                <a:solidFill>
                  <a:prstClr val="black"/>
                </a:solidFill>
                <a:cs typeface="Courier New" panose="02070309020205020404" pitchFamily="49" charset="0"/>
              </a:rPr>
              <a:t>PrefixLen</a:t>
            </a: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: 	128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 </a:t>
            </a:r>
            <a:r>
              <a:rPr lang="en-US" altLang="zh-CN" sz="1200" dirty="0" err="1">
                <a:solidFill>
                  <a:prstClr val="black"/>
                </a:solidFill>
                <a:cs typeface="Courier New" panose="02070309020205020404" pitchFamily="49" charset="0"/>
              </a:rPr>
              <a:t>NextHop</a:t>
            </a: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: 	2001:DB8:2345:12::2      	</a:t>
            </a:r>
            <a:r>
              <a:rPr lang="en-US" altLang="zh-CN" sz="1200" dirty="0" err="1">
                <a:solidFill>
                  <a:prstClr val="black"/>
                </a:solidFill>
                <a:cs typeface="Courier New" panose="02070309020205020404" pitchFamily="49" charset="0"/>
              </a:rPr>
              <a:t>LocPrf</a:t>
            </a: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:   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 MED : 		0                               	</a:t>
            </a:r>
            <a:r>
              <a:rPr lang="en-US" altLang="zh-CN" sz="1200" dirty="0" err="1">
                <a:solidFill>
                  <a:prstClr val="black"/>
                </a:solidFill>
                <a:cs typeface="Courier New" panose="02070309020205020404" pitchFamily="49" charset="0"/>
              </a:rPr>
              <a:t>PrefVal</a:t>
            </a: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: 	0  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 Label :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    Path/</a:t>
            </a:r>
            <a:r>
              <a:rPr lang="en-US" altLang="zh-CN" sz="1200" dirty="0" err="1">
                <a:solidFill>
                  <a:prstClr val="black"/>
                </a:solidFill>
                <a:cs typeface="Courier New" panose="02070309020205020404" pitchFamily="49" charset="0"/>
              </a:rPr>
              <a:t>Ogn</a:t>
            </a:r>
            <a:r>
              <a:rPr lang="en-US" altLang="zh-CN" sz="1200" dirty="0">
                <a:solidFill>
                  <a:prstClr val="black"/>
                </a:solidFill>
                <a:cs typeface="Courier New" panose="02070309020205020404" pitchFamily="49" charset="0"/>
              </a:rPr>
              <a:t> : </a:t>
            </a:r>
            <a:r>
              <a:rPr lang="en-US" altLang="zh-CN" sz="1200">
                <a:solidFill>
                  <a:prstClr val="black"/>
                </a:solidFill>
                <a:cs typeface="Courier New" panose="02070309020205020404" pitchFamily="49" charset="0"/>
              </a:rPr>
              <a:t>	65002  </a:t>
            </a:r>
            <a:r>
              <a:rPr lang="en-US" altLang="zh-CN" sz="1200" dirty="0" err="1">
                <a:solidFill>
                  <a:prstClr val="black"/>
                </a:solidFill>
                <a:cs typeface="Courier New" panose="02070309020205020404" pitchFamily="49" charset="0"/>
              </a:rPr>
              <a:t>i</a:t>
            </a:r>
            <a:endParaRPr lang="en-US" altLang="zh-CN" sz="1200" dirty="0">
              <a:solidFill>
                <a:prstClr val="black"/>
              </a:solidFill>
              <a:cs typeface="Courier New" panose="02070309020205020404" pitchFamily="49" charset="0"/>
            </a:endParaRPr>
          </a:p>
        </p:txBody>
      </p:sp>
      <p:sp>
        <p:nvSpPr>
          <p:cNvPr id="5" name="圆角矩形 4"/>
          <p:cNvSpPr/>
          <p:nvPr/>
        </p:nvSpPr>
        <p:spPr bwMode="gray">
          <a:xfrm>
            <a:off x="3255453" y="1536882"/>
            <a:ext cx="1800000" cy="1529335"/>
          </a:xfrm>
          <a:prstGeom prst="roundRect">
            <a:avLst>
              <a:gd name="adj" fmla="val 3573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 bwMode="gray">
          <a:xfrm>
            <a:off x="781301" y="1536882"/>
            <a:ext cx="1800000" cy="1529335"/>
          </a:xfrm>
          <a:prstGeom prst="roundRect">
            <a:avLst>
              <a:gd name="adj" fmla="val 3573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pic>
        <p:nvPicPr>
          <p:cNvPr id="8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1181739" y="2137461"/>
            <a:ext cx="541201" cy="442800"/>
          </a:xfrm>
          <a:prstGeom prst="rect">
            <a:avLst/>
          </a:prstGeom>
          <a:noFill/>
        </p:spPr>
      </p:pic>
      <p:pic>
        <p:nvPicPr>
          <p:cNvPr id="9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011187" y="2137461"/>
            <a:ext cx="541201" cy="442800"/>
          </a:xfrm>
          <a:prstGeom prst="rect">
            <a:avLst/>
          </a:prstGeom>
          <a:noFill/>
        </p:spPr>
      </p:pic>
      <p:cxnSp>
        <p:nvCxnSpPr>
          <p:cNvPr id="10" name="直接连接符 9"/>
          <p:cNvCxnSpPr>
            <a:stCxn id="8" idx="3"/>
            <a:endCxn id="9" idx="1"/>
          </p:cNvCxnSpPr>
          <p:nvPr/>
        </p:nvCxnSpPr>
        <p:spPr bwMode="gray">
          <a:xfrm>
            <a:off x="1722940" y="2358861"/>
            <a:ext cx="228824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312"/>
          <p:cNvSpPr>
            <a:spLocks noChangeArrowheads="1"/>
          </p:cNvSpPr>
          <p:nvPr/>
        </p:nvSpPr>
        <p:spPr bwMode="gray">
          <a:xfrm>
            <a:off x="1154963" y="1895954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R1</a:t>
            </a:r>
          </a:p>
        </p:txBody>
      </p:sp>
      <p:sp>
        <p:nvSpPr>
          <p:cNvPr id="12" name="Rectangle 312"/>
          <p:cNvSpPr>
            <a:spLocks noChangeArrowheads="1"/>
          </p:cNvSpPr>
          <p:nvPr/>
        </p:nvSpPr>
        <p:spPr bwMode="gray">
          <a:xfrm>
            <a:off x="1664224" y="2101927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  <p:sp>
        <p:nvSpPr>
          <p:cNvPr id="13" name="Rectangle 312"/>
          <p:cNvSpPr>
            <a:spLocks noChangeArrowheads="1"/>
          </p:cNvSpPr>
          <p:nvPr/>
        </p:nvSpPr>
        <p:spPr bwMode="gray">
          <a:xfrm>
            <a:off x="1448691" y="1557268"/>
            <a:ext cx="1304602" cy="285076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AS 65001</a:t>
            </a:r>
          </a:p>
        </p:txBody>
      </p:sp>
      <p:sp>
        <p:nvSpPr>
          <p:cNvPr id="14" name="Rectangle 312"/>
          <p:cNvSpPr>
            <a:spLocks noChangeArrowheads="1"/>
          </p:cNvSpPr>
          <p:nvPr/>
        </p:nvSpPr>
        <p:spPr bwMode="gray">
          <a:xfrm>
            <a:off x="3984411" y="1895954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R2</a:t>
            </a:r>
          </a:p>
        </p:txBody>
      </p:sp>
      <p:sp>
        <p:nvSpPr>
          <p:cNvPr id="15" name="Rectangle 312"/>
          <p:cNvSpPr>
            <a:spLocks noChangeArrowheads="1"/>
          </p:cNvSpPr>
          <p:nvPr/>
        </p:nvSpPr>
        <p:spPr bwMode="gray">
          <a:xfrm>
            <a:off x="2496374" y="2352063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EBGP</a:t>
            </a:r>
          </a:p>
        </p:txBody>
      </p:sp>
      <p:sp>
        <p:nvSpPr>
          <p:cNvPr id="16" name="Rectangle 312"/>
          <p:cNvSpPr>
            <a:spLocks noChangeArrowheads="1"/>
          </p:cNvSpPr>
          <p:nvPr/>
        </p:nvSpPr>
        <p:spPr bwMode="gray">
          <a:xfrm>
            <a:off x="3282558" y="2101927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  <p:sp>
        <p:nvSpPr>
          <p:cNvPr id="17" name="Rectangle 312"/>
          <p:cNvSpPr>
            <a:spLocks noChangeArrowheads="1"/>
          </p:cNvSpPr>
          <p:nvPr/>
        </p:nvSpPr>
        <p:spPr bwMode="gray">
          <a:xfrm>
            <a:off x="3103595" y="1557268"/>
            <a:ext cx="1304602" cy="285076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AS 65002</a:t>
            </a:r>
          </a:p>
        </p:txBody>
      </p:sp>
      <p:sp>
        <p:nvSpPr>
          <p:cNvPr id="18" name="Rectangle 312"/>
          <p:cNvSpPr>
            <a:spLocks noChangeArrowheads="1"/>
          </p:cNvSpPr>
          <p:nvPr/>
        </p:nvSpPr>
        <p:spPr bwMode="gray">
          <a:xfrm>
            <a:off x="808936" y="2578889"/>
            <a:ext cx="1767980" cy="285076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/>
              <a:t>Router ID</a:t>
            </a:r>
            <a:r>
              <a:rPr lang="zh-CN" altLang="en-US" sz="1400" dirty="0"/>
              <a:t>：</a:t>
            </a:r>
            <a:r>
              <a:rPr lang="en-US" altLang="zh-CN" sz="1400" dirty="0"/>
              <a:t>10.1.1.1</a:t>
            </a:r>
          </a:p>
        </p:txBody>
      </p:sp>
      <p:sp>
        <p:nvSpPr>
          <p:cNvPr id="19" name="Rectangle 312"/>
          <p:cNvSpPr>
            <a:spLocks noChangeArrowheads="1"/>
          </p:cNvSpPr>
          <p:nvPr/>
        </p:nvSpPr>
        <p:spPr bwMode="gray">
          <a:xfrm>
            <a:off x="3271463" y="2578889"/>
            <a:ext cx="1767980" cy="285076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/>
              <a:t>Router ID</a:t>
            </a:r>
            <a:r>
              <a:rPr lang="zh-CN" altLang="en-US" sz="1400" dirty="0"/>
              <a:t>：</a:t>
            </a:r>
            <a:r>
              <a:rPr lang="en-US" altLang="zh-CN" sz="1400" dirty="0"/>
              <a:t>10.1.2.2</a:t>
            </a:r>
          </a:p>
        </p:txBody>
      </p:sp>
      <p:cxnSp>
        <p:nvCxnSpPr>
          <p:cNvPr id="20" name="直接箭头连接符 19"/>
          <p:cNvCxnSpPr>
            <a:stCxn id="3" idx="3"/>
          </p:cNvCxnSpPr>
          <p:nvPr/>
        </p:nvCxnSpPr>
        <p:spPr bwMode="gray">
          <a:xfrm flipV="1">
            <a:off x="5715769" y="5134708"/>
            <a:ext cx="1184714" cy="576176"/>
          </a:xfrm>
          <a:prstGeom prst="straightConnector1">
            <a:avLst/>
          </a:prstGeom>
          <a:ln w="19050">
            <a:solidFill>
              <a:srgbClr val="FFD1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994254"/>
              </p:ext>
            </p:extLst>
          </p:nvPr>
        </p:nvGraphicFramePr>
        <p:xfrm>
          <a:off x="491421" y="3370696"/>
          <a:ext cx="5224348" cy="1524000"/>
        </p:xfrm>
        <a:graphic>
          <a:graphicData uri="http://schemas.openxmlformats.org/drawingml/2006/table">
            <a:tbl>
              <a:tblPr firstRow="1" bandRow="1"/>
              <a:tblGrid>
                <a:gridCol w="613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1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5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设备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/>
                        <a:t>接口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IPv4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IPv6</a:t>
                      </a:r>
                      <a:r>
                        <a:rPr lang="zh-CN" altLang="en-US" sz="1400" b="1" dirty="0"/>
                        <a:t>地址</a:t>
                      </a:r>
                      <a:endParaRPr lang="zh-CN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10.1.12.1/24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2001:DB8:2345:12::1/64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Loopback0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10.1.1.1/32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2001:DB8:2345:1::1/128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56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R2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GE0/0/1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10.1.12.2/24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2001:DB8:2345:12::2/64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56">
                <a:tc v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Loopback0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/>
                        <a:t>10.1.2.2/32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2001:DB8:2345:2::2/128</a:t>
                      </a:r>
                      <a:endParaRPr lang="en-US" altLang="zh-CN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44084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查看</a:t>
            </a:r>
            <a:r>
              <a:rPr lang="en-US" altLang="zh-CN" dirty="0"/>
              <a:t>BGP4+</a:t>
            </a:r>
            <a:r>
              <a:rPr lang="zh-CN" altLang="en-US" dirty="0"/>
              <a:t>中的</a:t>
            </a:r>
            <a:r>
              <a:rPr lang="en-US" altLang="zh-CN" dirty="0"/>
              <a:t>NLRI</a:t>
            </a:r>
            <a:r>
              <a:rPr lang="zh-CN" altLang="en-US" dirty="0"/>
              <a:t>属性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55612" y="3173928"/>
            <a:ext cx="5574993" cy="2922071"/>
          </a:xfrm>
        </p:spPr>
        <p:txBody>
          <a:bodyPr/>
          <a:lstStyle/>
          <a:p>
            <a:r>
              <a:rPr lang="zh-CN" altLang="en-US" sz="1800" dirty="0"/>
              <a:t>通过抓包，可以在</a:t>
            </a:r>
            <a:r>
              <a:rPr lang="en-US" altLang="zh-CN" sz="1800" dirty="0"/>
              <a:t>R1</a:t>
            </a:r>
            <a:r>
              <a:rPr lang="zh-CN" altLang="en-US" sz="1800" dirty="0"/>
              <a:t>发出的</a:t>
            </a:r>
            <a:r>
              <a:rPr lang="en-US" altLang="zh-CN" sz="1800" dirty="0"/>
              <a:t>Update</a:t>
            </a:r>
            <a:r>
              <a:rPr lang="zh-CN" altLang="en-US" sz="1800" dirty="0"/>
              <a:t>报文中，查看到</a:t>
            </a:r>
            <a:r>
              <a:rPr lang="en-US" altLang="zh-CN" sz="1800" dirty="0"/>
              <a:t>MP_REACH_NLRI</a:t>
            </a:r>
            <a:r>
              <a:rPr lang="zh-CN" altLang="en-US" sz="1800" dirty="0"/>
              <a:t>属性信息。</a:t>
            </a:r>
            <a:endParaRPr lang="en-US" altLang="zh-CN" sz="1800" dirty="0"/>
          </a:p>
          <a:p>
            <a:r>
              <a:rPr lang="zh-CN" altLang="en-US" sz="1800" dirty="0"/>
              <a:t>其中：</a:t>
            </a:r>
            <a:endParaRPr lang="en-US" altLang="zh-CN" sz="1800" dirty="0"/>
          </a:p>
          <a:p>
            <a:pPr lvl="1"/>
            <a:r>
              <a:rPr lang="zh-CN" altLang="en-US" sz="1600" dirty="0"/>
              <a:t>该可达路由的下一跳地址为：</a:t>
            </a:r>
            <a:r>
              <a:rPr lang="en-US" altLang="zh-CN" sz="1600" dirty="0"/>
              <a:t>2001:db8:2345:12::1</a:t>
            </a:r>
          </a:p>
          <a:p>
            <a:pPr lvl="1"/>
            <a:r>
              <a:rPr lang="zh-CN" altLang="en-US" sz="1600" dirty="0"/>
              <a:t>该可达路由地址前缀及前缀长度为：</a:t>
            </a:r>
            <a:r>
              <a:rPr lang="en-US" altLang="zh-CN" sz="1600" dirty="0"/>
              <a:t>2001:db8:2345:1::1/128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030606" y="1436209"/>
            <a:ext cx="5623655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UPDATE Message-Border Gateway Protocol</a:t>
            </a:r>
          </a:p>
          <a:p>
            <a:r>
              <a:rPr lang="en-US" altLang="zh-CN" sz="1200" dirty="0"/>
              <a:t>    UPDATE Message</a:t>
            </a:r>
          </a:p>
          <a:p>
            <a:r>
              <a:rPr lang="en-US" altLang="zh-CN" sz="1200" dirty="0"/>
              <a:t>        Marker: 16 bytes</a:t>
            </a:r>
          </a:p>
          <a:p>
            <a:r>
              <a:rPr lang="en-US" altLang="zh-CN" sz="1200" dirty="0"/>
              <a:t>        Length: 85 bytes</a:t>
            </a:r>
          </a:p>
          <a:p>
            <a:r>
              <a:rPr lang="en-US" altLang="zh-CN" sz="1200" dirty="0"/>
              <a:t>        Type: UPDATE Message (2)</a:t>
            </a:r>
          </a:p>
          <a:p>
            <a:r>
              <a:rPr lang="en-US" altLang="zh-CN" sz="1200" dirty="0"/>
              <a:t>        Unfeasible routes length: 0 bytes</a:t>
            </a:r>
          </a:p>
          <a:p>
            <a:r>
              <a:rPr lang="en-US" altLang="zh-CN" sz="1200" dirty="0"/>
              <a:t>        Total path attribute length: 62 bytes</a:t>
            </a:r>
          </a:p>
          <a:p>
            <a:r>
              <a:rPr lang="en-US" altLang="zh-CN" sz="1200" dirty="0"/>
              <a:t>        Path attributes</a:t>
            </a:r>
          </a:p>
          <a:p>
            <a:r>
              <a:rPr lang="en-US" altLang="zh-CN" sz="1200" dirty="0"/>
              <a:t>            ORIGIN: IGP (4 bytes)</a:t>
            </a:r>
          </a:p>
          <a:p>
            <a:r>
              <a:rPr lang="en-US" altLang="zh-CN" sz="1200" dirty="0"/>
              <a:t>            AS_PATH: 65001 (9 bytes)</a:t>
            </a:r>
          </a:p>
          <a:p>
            <a:r>
              <a:rPr lang="en-US" altLang="zh-CN" sz="1200" dirty="0"/>
              <a:t>            MULTI_EXIT_DISC: 0 (7 bytes)</a:t>
            </a:r>
          </a:p>
          <a:p>
            <a:r>
              <a:rPr lang="en-US" altLang="zh-CN" sz="1200" dirty="0"/>
              <a:t>            </a:t>
            </a:r>
            <a:r>
              <a:rPr lang="en-US" altLang="zh-CN" sz="1200" b="1" dirty="0">
                <a:solidFill>
                  <a:srgbClr val="C7000B"/>
                </a:solidFill>
              </a:rPr>
              <a:t>MP_REACH_NLRI</a:t>
            </a:r>
            <a:r>
              <a:rPr lang="en-US" altLang="zh-CN" sz="1200" dirty="0"/>
              <a:t> (42 bytes)</a:t>
            </a:r>
          </a:p>
          <a:p>
            <a:r>
              <a:rPr lang="en-US" altLang="zh-CN" sz="1200" dirty="0"/>
              <a:t>                Flags: 0x90 (Optional, Non-transitive, Complete, Extended Length)</a:t>
            </a:r>
          </a:p>
          <a:p>
            <a:r>
              <a:rPr lang="en-US" altLang="zh-CN" sz="1200" dirty="0"/>
              <a:t>                Type code: MP_REACH_NLRI (14)</a:t>
            </a:r>
          </a:p>
          <a:p>
            <a:r>
              <a:rPr lang="en-US" altLang="zh-CN" sz="1200" dirty="0"/>
              <a:t>                Length: 38 bytes</a:t>
            </a:r>
          </a:p>
          <a:p>
            <a:r>
              <a:rPr lang="en-US" altLang="zh-CN" sz="1200" dirty="0"/>
              <a:t>                </a:t>
            </a:r>
            <a:r>
              <a:rPr lang="en-US" altLang="zh-CN" sz="1200" dirty="0">
                <a:solidFill>
                  <a:srgbClr val="C7000B"/>
                </a:solidFill>
              </a:rPr>
              <a:t>Address family: IPv6 (2)</a:t>
            </a:r>
          </a:p>
          <a:p>
            <a:r>
              <a:rPr lang="en-US" altLang="zh-CN" sz="1200" dirty="0"/>
              <a:t>                Subsequent address family identifier: Unicast (1)</a:t>
            </a:r>
          </a:p>
          <a:p>
            <a:r>
              <a:rPr lang="en-US" altLang="zh-CN" sz="1200" dirty="0"/>
              <a:t>                Next hop network address (16 bytes)</a:t>
            </a:r>
          </a:p>
          <a:p>
            <a:r>
              <a:rPr lang="en-US" altLang="zh-CN" sz="1200" dirty="0"/>
              <a:t>                    </a:t>
            </a:r>
            <a:r>
              <a:rPr lang="en-US" altLang="zh-CN" sz="1200" dirty="0">
                <a:solidFill>
                  <a:srgbClr val="C7000B"/>
                </a:solidFill>
              </a:rPr>
              <a:t>Next hop: 2001:db8:2345:12::1 (16)</a:t>
            </a:r>
          </a:p>
          <a:p>
            <a:r>
              <a:rPr lang="en-US" altLang="zh-CN" sz="1200" dirty="0"/>
              <a:t>                </a:t>
            </a:r>
            <a:r>
              <a:rPr lang="en-US" altLang="zh-CN" sz="1200" dirty="0" err="1"/>
              <a:t>Subnetwork</a:t>
            </a:r>
            <a:r>
              <a:rPr lang="en-US" altLang="zh-CN" sz="1200" dirty="0"/>
              <a:t> points of attachment: 0</a:t>
            </a:r>
          </a:p>
          <a:p>
            <a:r>
              <a:rPr lang="en-US" altLang="zh-CN" sz="1200" dirty="0"/>
              <a:t>                Network layer reachability information (17 bytes)</a:t>
            </a:r>
          </a:p>
          <a:p>
            <a:r>
              <a:rPr lang="en-US" altLang="zh-CN" sz="1200" dirty="0"/>
              <a:t>                    2001:db8:2345:1::1/128</a:t>
            </a:r>
          </a:p>
          <a:p>
            <a:r>
              <a:rPr lang="en-US" altLang="zh-CN" sz="1200" dirty="0">
                <a:solidFill>
                  <a:srgbClr val="C7000B"/>
                </a:solidFill>
              </a:rPr>
              <a:t>                        MP Reach NLRI prefix length: 128</a:t>
            </a:r>
          </a:p>
          <a:p>
            <a:r>
              <a:rPr lang="en-US" altLang="zh-CN" sz="1200" dirty="0">
                <a:solidFill>
                  <a:srgbClr val="C7000B"/>
                </a:solidFill>
              </a:rPr>
              <a:t>                        MP Reach NLRI prefix: 2001:db8:2345:1::1</a:t>
            </a:r>
          </a:p>
        </p:txBody>
      </p:sp>
      <p:sp>
        <p:nvSpPr>
          <p:cNvPr id="7" name="圆角矩形 6"/>
          <p:cNvSpPr/>
          <p:nvPr/>
        </p:nvSpPr>
        <p:spPr bwMode="gray">
          <a:xfrm>
            <a:off x="3660183" y="1536882"/>
            <a:ext cx="1487696" cy="1529335"/>
          </a:xfrm>
          <a:prstGeom prst="roundRect">
            <a:avLst>
              <a:gd name="adj" fmla="val 3573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 bwMode="gray">
          <a:xfrm>
            <a:off x="467966" y="1536882"/>
            <a:ext cx="2712935" cy="1529335"/>
          </a:xfrm>
          <a:prstGeom prst="roundRect">
            <a:avLst>
              <a:gd name="adj" fmla="val 3573"/>
            </a:avLst>
          </a:prstGeom>
          <a:solidFill>
            <a:srgbClr val="ECF9FA"/>
          </a:solidFill>
          <a:ln w="12700">
            <a:solidFill>
              <a:srgbClr val="94DAE2"/>
            </a:solidFill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zh-CN" altLang="en-US" sz="1600">
              <a:solidFill>
                <a:schemeClr val="tx1"/>
              </a:solidFill>
            </a:endParaRPr>
          </a:p>
        </p:txBody>
      </p:sp>
      <p:pic>
        <p:nvPicPr>
          <p:cNvPr id="9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1781339" y="2137461"/>
            <a:ext cx="541201" cy="442800"/>
          </a:xfrm>
          <a:prstGeom prst="rect">
            <a:avLst/>
          </a:prstGeom>
          <a:noFill/>
        </p:spPr>
      </p:pic>
      <p:pic>
        <p:nvPicPr>
          <p:cNvPr id="10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gray">
          <a:xfrm>
            <a:off x="4415917" y="2137461"/>
            <a:ext cx="541201" cy="442800"/>
          </a:xfrm>
          <a:prstGeom prst="rect">
            <a:avLst/>
          </a:prstGeom>
          <a:noFill/>
        </p:spPr>
      </p:pic>
      <p:cxnSp>
        <p:nvCxnSpPr>
          <p:cNvPr id="11" name="直接连接符 10"/>
          <p:cNvCxnSpPr>
            <a:stCxn id="9" idx="3"/>
            <a:endCxn id="10" idx="1"/>
          </p:cNvCxnSpPr>
          <p:nvPr/>
        </p:nvCxnSpPr>
        <p:spPr bwMode="gray">
          <a:xfrm>
            <a:off x="2322540" y="2358861"/>
            <a:ext cx="209337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312"/>
          <p:cNvSpPr>
            <a:spLocks noChangeArrowheads="1"/>
          </p:cNvSpPr>
          <p:nvPr/>
        </p:nvSpPr>
        <p:spPr bwMode="gray">
          <a:xfrm>
            <a:off x="1754563" y="1895954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R1</a:t>
            </a:r>
          </a:p>
        </p:txBody>
      </p:sp>
      <p:sp>
        <p:nvSpPr>
          <p:cNvPr id="13" name="Rectangle 312"/>
          <p:cNvSpPr>
            <a:spLocks noChangeArrowheads="1"/>
          </p:cNvSpPr>
          <p:nvPr/>
        </p:nvSpPr>
        <p:spPr bwMode="gray">
          <a:xfrm>
            <a:off x="2263824" y="2338106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  <p:sp>
        <p:nvSpPr>
          <p:cNvPr id="14" name="Rectangle 312"/>
          <p:cNvSpPr>
            <a:spLocks noChangeArrowheads="1"/>
          </p:cNvSpPr>
          <p:nvPr/>
        </p:nvSpPr>
        <p:spPr bwMode="gray">
          <a:xfrm>
            <a:off x="288911" y="1557268"/>
            <a:ext cx="1304602" cy="285076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AS 65001</a:t>
            </a:r>
          </a:p>
        </p:txBody>
      </p:sp>
      <p:sp>
        <p:nvSpPr>
          <p:cNvPr id="15" name="Rectangle 312"/>
          <p:cNvSpPr>
            <a:spLocks noChangeArrowheads="1"/>
          </p:cNvSpPr>
          <p:nvPr/>
        </p:nvSpPr>
        <p:spPr bwMode="gray">
          <a:xfrm>
            <a:off x="4389141" y="1895954"/>
            <a:ext cx="594752" cy="25775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R2</a:t>
            </a:r>
          </a:p>
        </p:txBody>
      </p:sp>
      <p:sp>
        <p:nvSpPr>
          <p:cNvPr id="16" name="Rectangle 312"/>
          <p:cNvSpPr>
            <a:spLocks noChangeArrowheads="1"/>
          </p:cNvSpPr>
          <p:nvPr/>
        </p:nvSpPr>
        <p:spPr bwMode="gray">
          <a:xfrm>
            <a:off x="2886407" y="2365864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EBGP</a:t>
            </a:r>
          </a:p>
        </p:txBody>
      </p:sp>
      <p:sp>
        <p:nvSpPr>
          <p:cNvPr id="17" name="Rectangle 312"/>
          <p:cNvSpPr>
            <a:spLocks noChangeArrowheads="1"/>
          </p:cNvSpPr>
          <p:nvPr/>
        </p:nvSpPr>
        <p:spPr bwMode="gray">
          <a:xfrm>
            <a:off x="3687288" y="2338106"/>
            <a:ext cx="860870" cy="277071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200" dirty="0"/>
              <a:t>GE0/0/1</a:t>
            </a:r>
          </a:p>
        </p:txBody>
      </p:sp>
      <p:sp>
        <p:nvSpPr>
          <p:cNvPr id="18" name="Rectangle 312"/>
          <p:cNvSpPr>
            <a:spLocks noChangeArrowheads="1"/>
          </p:cNvSpPr>
          <p:nvPr/>
        </p:nvSpPr>
        <p:spPr bwMode="gray">
          <a:xfrm>
            <a:off x="3508325" y="1557268"/>
            <a:ext cx="1304602" cy="285076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/>
              <a:t>AS 65002</a:t>
            </a:r>
          </a:p>
        </p:txBody>
      </p:sp>
      <p:sp>
        <p:nvSpPr>
          <p:cNvPr id="21" name="Rectangle 312"/>
          <p:cNvSpPr>
            <a:spLocks noChangeArrowheads="1"/>
          </p:cNvSpPr>
          <p:nvPr/>
        </p:nvSpPr>
        <p:spPr bwMode="gray">
          <a:xfrm>
            <a:off x="2239040" y="1895954"/>
            <a:ext cx="2253639" cy="262035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/>
              <a:t>2001:DB8:2345:12::/64</a:t>
            </a:r>
          </a:p>
        </p:txBody>
      </p:sp>
      <p:sp>
        <p:nvSpPr>
          <p:cNvPr id="22" name="Rectangle 312"/>
          <p:cNvSpPr>
            <a:spLocks noChangeArrowheads="1"/>
          </p:cNvSpPr>
          <p:nvPr/>
        </p:nvSpPr>
        <p:spPr bwMode="gray">
          <a:xfrm>
            <a:off x="2212837" y="2061729"/>
            <a:ext cx="453152" cy="380249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/>
              <a:t>::1</a:t>
            </a:r>
          </a:p>
        </p:txBody>
      </p:sp>
      <p:sp>
        <p:nvSpPr>
          <p:cNvPr id="23" name="Rectangle 312"/>
          <p:cNvSpPr>
            <a:spLocks noChangeArrowheads="1"/>
          </p:cNvSpPr>
          <p:nvPr/>
        </p:nvSpPr>
        <p:spPr bwMode="gray">
          <a:xfrm>
            <a:off x="4057121" y="2061729"/>
            <a:ext cx="453152" cy="380249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/>
              <a:t>::2</a:t>
            </a:r>
          </a:p>
        </p:txBody>
      </p:sp>
      <p:cxnSp>
        <p:nvCxnSpPr>
          <p:cNvPr id="24" name="直接连接符 23"/>
          <p:cNvCxnSpPr>
            <a:endCxn id="9" idx="1"/>
          </p:cNvCxnSpPr>
          <p:nvPr/>
        </p:nvCxnSpPr>
        <p:spPr bwMode="gray">
          <a:xfrm>
            <a:off x="1593513" y="2358861"/>
            <a:ext cx="18782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 bwMode="gray">
          <a:xfrm>
            <a:off x="1593513" y="2230394"/>
            <a:ext cx="0" cy="25693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312"/>
          <p:cNvSpPr>
            <a:spLocks noChangeArrowheads="1"/>
          </p:cNvSpPr>
          <p:nvPr/>
        </p:nvSpPr>
        <p:spPr bwMode="gray">
          <a:xfrm>
            <a:off x="467966" y="2338106"/>
            <a:ext cx="2441319" cy="491922"/>
          </a:xfrm>
          <a:prstGeom prst="rect">
            <a:avLst/>
          </a:prstGeom>
          <a:noFill/>
          <a:ln w="7938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b="1" dirty="0"/>
              <a:t>Loopback0</a:t>
            </a:r>
            <a:r>
              <a:rPr lang="zh-CN" altLang="en-US" sz="1400" b="1" dirty="0"/>
              <a:t>：</a:t>
            </a:r>
            <a:endParaRPr lang="en-US" altLang="zh-CN" sz="1400" b="1" dirty="0"/>
          </a:p>
          <a:p>
            <a:pPr>
              <a:lnSpc>
                <a:spcPct val="150000"/>
              </a:lnSpc>
            </a:pPr>
            <a:r>
              <a:rPr lang="en-US" altLang="zh-CN" sz="1400" b="1" dirty="0"/>
              <a:t>2001:DB8:2345:1::1/128</a:t>
            </a:r>
          </a:p>
        </p:txBody>
      </p:sp>
    </p:spTree>
    <p:extLst>
      <p:ext uri="{BB962C8B-B14F-4D97-AF65-F5344CB8AC3E}">
        <p14:creationId xmlns:p14="http://schemas.microsoft.com/office/powerpoint/2010/main" val="20578268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(</a:t>
            </a:r>
            <a:r>
              <a:rPr lang="zh-CN" altLang="en-US" dirty="0"/>
              <a:t>多选题</a:t>
            </a:r>
            <a:r>
              <a:rPr lang="en-US" altLang="zh-CN" dirty="0"/>
              <a:t>)</a:t>
            </a:r>
            <a:r>
              <a:rPr lang="zh-CN" altLang="en-US" dirty="0"/>
              <a:t>以下哪些选项的</a:t>
            </a:r>
            <a:r>
              <a:rPr lang="en-US" altLang="zh-CN" dirty="0"/>
              <a:t>LSA</a:t>
            </a:r>
            <a:r>
              <a:rPr lang="zh-CN" altLang="en-US" dirty="0"/>
              <a:t>属于</a:t>
            </a:r>
            <a:r>
              <a:rPr lang="en-US" altLang="zh-CN" dirty="0"/>
              <a:t>OSPFv3</a:t>
            </a:r>
            <a:r>
              <a:rPr lang="zh-CN" altLang="en-US" dirty="0"/>
              <a:t>？</a:t>
            </a:r>
            <a:r>
              <a:rPr lang="en-US" altLang="zh-CN" dirty="0"/>
              <a:t>(     )</a:t>
            </a:r>
          </a:p>
          <a:p>
            <a:pPr lvl="1"/>
            <a:r>
              <a:rPr lang="en-US" altLang="zh-CN" dirty="0"/>
              <a:t>Router-LSA</a:t>
            </a:r>
          </a:p>
          <a:p>
            <a:pPr lvl="1"/>
            <a:r>
              <a:rPr lang="en-US" altLang="zh-CN" dirty="0"/>
              <a:t>Network-LSA</a:t>
            </a:r>
          </a:p>
          <a:p>
            <a:pPr lvl="1"/>
            <a:r>
              <a:rPr lang="en-US" altLang="zh-CN" dirty="0"/>
              <a:t>Network-Summary-LSA</a:t>
            </a:r>
          </a:p>
          <a:p>
            <a:pPr lvl="1"/>
            <a:r>
              <a:rPr lang="en-US" altLang="zh-CN" dirty="0"/>
              <a:t>Link-LSA</a:t>
            </a:r>
          </a:p>
          <a:p>
            <a:r>
              <a:rPr lang="en-US" altLang="zh-CN" dirty="0"/>
              <a:t>(</a:t>
            </a:r>
            <a:r>
              <a:rPr lang="zh-CN" altLang="en-US" dirty="0"/>
              <a:t>判断题</a:t>
            </a:r>
            <a:r>
              <a:rPr lang="en-US" altLang="zh-CN" dirty="0"/>
              <a:t>)IS-IS</a:t>
            </a:r>
            <a:r>
              <a:rPr lang="zh-CN" altLang="en-US" dirty="0"/>
              <a:t>支持</a:t>
            </a:r>
            <a:r>
              <a:rPr lang="en-US" altLang="zh-CN" dirty="0"/>
              <a:t>IPv4</a:t>
            </a:r>
            <a:r>
              <a:rPr lang="zh-CN" altLang="en-US" dirty="0"/>
              <a:t>网络和</a:t>
            </a:r>
            <a:r>
              <a:rPr lang="en-US" altLang="zh-CN" dirty="0"/>
              <a:t>IPv6</a:t>
            </a:r>
            <a:r>
              <a:rPr lang="zh-CN" altLang="en-US" dirty="0"/>
              <a:t>网络分别计算自己的最短路径树。</a:t>
            </a:r>
            <a:r>
              <a:rPr lang="en-US" altLang="zh-CN" dirty="0"/>
              <a:t>(     )</a:t>
            </a:r>
          </a:p>
          <a:p>
            <a:pPr lvl="1"/>
            <a:r>
              <a:rPr lang="zh-CN" altLang="en-US" dirty="0"/>
              <a:t>正确</a:t>
            </a:r>
            <a:endParaRPr lang="en-US" altLang="zh-CN" dirty="0"/>
          </a:p>
          <a:p>
            <a:pPr lvl="1"/>
            <a:r>
              <a:rPr lang="zh-CN" altLang="en-US" dirty="0"/>
              <a:t>错误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760334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通过</a:t>
            </a:r>
            <a:r>
              <a:rPr lang="en-US" altLang="zh-CN" dirty="0"/>
              <a:t>IPv6</a:t>
            </a:r>
            <a:r>
              <a:rPr lang="zh-CN" altLang="en-US" dirty="0"/>
              <a:t>静态路由能够满足网络互通要求，但随着网络的增大，就需要借助动态路由协议。因此要求动态路由协议能够支持</a:t>
            </a:r>
            <a:r>
              <a:rPr lang="en-US" altLang="zh-CN" dirty="0"/>
              <a:t>IPv6</a:t>
            </a:r>
            <a:r>
              <a:rPr lang="zh-CN" altLang="en-US" dirty="0"/>
              <a:t>，并能够携带</a:t>
            </a:r>
            <a:r>
              <a:rPr lang="en-US" altLang="zh-CN" dirty="0"/>
              <a:t>IPv6</a:t>
            </a:r>
            <a:r>
              <a:rPr lang="zh-CN" altLang="en-US" dirty="0"/>
              <a:t>地址进行路由通告。</a:t>
            </a:r>
            <a:endParaRPr lang="en-US" altLang="zh-CN" dirty="0"/>
          </a:p>
          <a:p>
            <a:r>
              <a:rPr lang="en-US" altLang="zh-CN" dirty="0"/>
              <a:t>IETF</a:t>
            </a:r>
            <a:r>
              <a:rPr lang="zh-CN" altLang="en-US" dirty="0"/>
              <a:t>为了支持</a:t>
            </a:r>
            <a:r>
              <a:rPr lang="en-US" altLang="zh-CN" dirty="0"/>
              <a:t>IPv6</a:t>
            </a:r>
            <a:r>
              <a:rPr lang="zh-CN" altLang="en-US" dirty="0"/>
              <a:t>网络，对</a:t>
            </a:r>
            <a:r>
              <a:rPr lang="en-US" altLang="zh-CN" dirty="0"/>
              <a:t>OSPFv2</a:t>
            </a:r>
            <a:r>
              <a:rPr lang="zh-CN" altLang="en-US" dirty="0"/>
              <a:t>进行了增强与改进，创建了一个新的协议：</a:t>
            </a:r>
            <a:r>
              <a:rPr lang="en-US" altLang="zh-CN" dirty="0"/>
              <a:t>OSPFv3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IS-IS</a:t>
            </a:r>
            <a:r>
              <a:rPr lang="zh-CN" altLang="en-US" dirty="0"/>
              <a:t>则是利用自己扩展性强的特点，通过新增</a:t>
            </a:r>
            <a:r>
              <a:rPr lang="en-US" altLang="zh-CN" dirty="0"/>
              <a:t>TLV</a:t>
            </a:r>
            <a:r>
              <a:rPr lang="zh-CN" altLang="en-US" dirty="0"/>
              <a:t>，实现对</a:t>
            </a:r>
            <a:r>
              <a:rPr lang="en-US" altLang="zh-CN" dirty="0"/>
              <a:t>IPv6</a:t>
            </a:r>
            <a:r>
              <a:rPr lang="zh-CN" altLang="en-US" dirty="0"/>
              <a:t>的支持。</a:t>
            </a:r>
            <a:endParaRPr lang="en-US" altLang="zh-CN" dirty="0"/>
          </a:p>
          <a:p>
            <a:r>
              <a:rPr lang="zh-CN" altLang="en-US" dirty="0"/>
              <a:t>同样的，</a:t>
            </a:r>
            <a:r>
              <a:rPr lang="en-US" altLang="zh-CN" dirty="0"/>
              <a:t>BGP</a:t>
            </a:r>
            <a:r>
              <a:rPr lang="zh-CN" altLang="en-US" dirty="0"/>
              <a:t>利用自己的扩展路径属性以及多协议地址族实现对</a:t>
            </a:r>
            <a:r>
              <a:rPr lang="en-US" altLang="zh-CN" dirty="0"/>
              <a:t>IPv6</a:t>
            </a:r>
            <a:r>
              <a:rPr lang="zh-CN" altLang="en-US" dirty="0"/>
              <a:t>的支持。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498006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8500166"/>
      </p:ext>
    </p:extLst>
  </p:cSld>
  <p:clrMapOvr>
    <a:masterClrMapping/>
  </p:clrMapOvr>
</p:sld>
</file>

<file path=ppt/theme/theme1.xml><?xml version="1.0" encoding="utf-8"?>
<a:theme xmlns:a="http://schemas.openxmlformats.org/drawingml/2006/main" name="2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功能页模板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7000B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gradFill>
          <a:gsLst>
            <a:gs pos="100000">
              <a:schemeClr val="bg2"/>
            </a:gs>
            <a:gs pos="31000">
              <a:schemeClr val="tx2"/>
            </a:gs>
          </a:gsLst>
          <a:lin ang="0" scaled="0"/>
        </a:gradFill>
        <a:ln w="19050">
          <a:gradFill>
            <a:gsLst>
              <a:gs pos="0">
                <a:schemeClr val="bg2">
                  <a:alpha val="40000"/>
                </a:schemeClr>
              </a:gs>
              <a:gs pos="100000">
                <a:schemeClr val="accent1"/>
              </a:gs>
            </a:gsLst>
            <a:lin ang="0" scaled="0"/>
          </a:gradFill>
        </a:ln>
      </a:spPr>
      <a:bodyPr vert="horz" wrap="square" lIns="68580" tIns="34290" rIns="68580" bIns="34290" numCol="1" anchor="t" anchorCtr="0" compatLnSpc="1">
        <a:prstTxWarp prst="textNoShape">
          <a:avLst/>
        </a:prstTxWarp>
      </a:bodyPr>
      <a:lstStyle>
        <a:defPPr>
          <a:defRPr>
            <a:latin typeface="Huawei Sans" panose="020C0503030203020204" pitchFamily="34" charset="0"/>
            <a:ea typeface="方正兰亭黑简体" panose="02000000000000000000" pitchFamily="2" charset="-122"/>
            <a:sym typeface="Huawei Sans" panose="020C0503030203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C5B4B712841F4C8A7AAEE2CD191271" ma:contentTypeVersion="1" ma:contentTypeDescription="Create a new document." ma:contentTypeScope="" ma:versionID="fd4f534fc22f1d982cc2e0e62ad2af45">
  <xsd:schema xmlns:xsd="http://www.w3.org/2001/XMLSchema" xmlns:xs="http://www.w3.org/2001/XMLSchema" xmlns:p="http://schemas.microsoft.com/office/2006/metadata/properties" xmlns:ns2="475f1e55-3009-46d8-9566-5d569a2b3a98" targetNamespace="http://schemas.microsoft.com/office/2006/metadata/properties" ma:root="true" ma:fieldsID="1d095aabec1d15598815726bd4b054a7" ns2:_="">
    <xsd:import namespace="475f1e55-3009-46d8-9566-5d569a2b3a98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5f1e55-3009-46d8-9566-5d569a2b3a9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2DC50EC-EC49-436E-B86B-0B1B5B9973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5f1e55-3009-46d8-9566-5d569a2b3a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EDE263F-0510-4442-823E-69B63ECB61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5960F2-6186-408B-A0DC-5CA5E58B604F}">
  <ds:schemaRefs>
    <ds:schemaRef ds:uri="http://purl.org/dc/elements/1.1/"/>
    <ds:schemaRef ds:uri="http://schemas.microsoft.com/office/2006/metadata/properties"/>
    <ds:schemaRef ds:uri="http://purl.org/dc/terms/"/>
    <ds:schemaRef ds:uri="http://purl.org/dc/dcmitype/"/>
    <ds:schemaRef ds:uri="475f1e55-3009-46d8-9566-5d569a2b3a98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2439</TotalTime>
  <Words>15032</Words>
  <Application>Microsoft Office PowerPoint</Application>
  <PresentationFormat>宽屏</PresentationFormat>
  <Paragraphs>2299</Paragraphs>
  <Slides>76</Slides>
  <Notes>76</Notes>
  <HiddenSlides>2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76</vt:i4>
      </vt:variant>
    </vt:vector>
  </HeadingPairs>
  <TitlesOfParts>
    <vt:vector size="87" baseType="lpstr">
      <vt:lpstr>Huawei Sans</vt:lpstr>
      <vt:lpstr>方正兰亭黑简体</vt:lpstr>
      <vt:lpstr>Microsoft YaHei</vt:lpstr>
      <vt:lpstr>Microsoft YaHei</vt:lpstr>
      <vt:lpstr>Arial</vt:lpstr>
      <vt:lpstr>Courier New</vt:lpstr>
      <vt:lpstr>Wingdings</vt:lpstr>
      <vt:lpstr>2_标题页模板</vt:lpstr>
      <vt:lpstr>3_功能页模板</vt:lpstr>
      <vt:lpstr>4_内容页模板</vt:lpstr>
      <vt:lpstr>5_感谢页模板</vt:lpstr>
      <vt:lpstr>PowerPoint 演示文稿</vt:lpstr>
      <vt:lpstr>IPv6路由</vt:lpstr>
      <vt:lpstr>PowerPoint 演示文稿</vt:lpstr>
      <vt:lpstr>PowerPoint 演示文稿</vt:lpstr>
      <vt:lpstr>PowerPoint 演示文稿</vt:lpstr>
      <vt:lpstr>IPv6静态路由</vt:lpstr>
      <vt:lpstr>IPv6静态路由的基础配置命令</vt:lpstr>
      <vt:lpstr>IPv6静态路由配置举例</vt:lpstr>
      <vt:lpstr>PowerPoint 演示文稿</vt:lpstr>
      <vt:lpstr>OSPFv3概述</vt:lpstr>
      <vt:lpstr>OSPFv3与OSPFv2的相同点</vt:lpstr>
      <vt:lpstr>OSPFv3拓扑和路由器类型</vt:lpstr>
      <vt:lpstr>OSPFv3的基本工作原理与OSPFv2相似</vt:lpstr>
      <vt:lpstr>OSPFv3与OSPFv2的不同点</vt:lpstr>
      <vt:lpstr>唯一邻居标识：Router ID</vt:lpstr>
      <vt:lpstr>OSPFv3基于链路运行</vt:lpstr>
      <vt:lpstr>链路支持多实例</vt:lpstr>
      <vt:lpstr>OSPFv3对链路本地地址的使用</vt:lpstr>
      <vt:lpstr>OSPFv3报文</vt:lpstr>
      <vt:lpstr>OSPFv3报文头部</vt:lpstr>
      <vt:lpstr>Hello报文</vt:lpstr>
      <vt:lpstr>OSPFv3的LSA头部</vt:lpstr>
      <vt:lpstr>OSPFv3的LSA类型</vt:lpstr>
      <vt:lpstr>Type1：Router-LSA</vt:lpstr>
      <vt:lpstr>Type2：Network-LSA</vt:lpstr>
      <vt:lpstr>Type3：Inter-Area-Prefix-LSA</vt:lpstr>
      <vt:lpstr>Type4：Inter-Area-Router-LSA</vt:lpstr>
      <vt:lpstr>Type5：AS-External-LSA</vt:lpstr>
      <vt:lpstr>新增Type8：Link-LSA</vt:lpstr>
      <vt:lpstr>新增Type9：Intra-Area-Prefix-LSA</vt:lpstr>
      <vt:lpstr>OSPFv3的LSA举例</vt:lpstr>
      <vt:lpstr>Link-LSA举例</vt:lpstr>
      <vt:lpstr>Intra-Area-Prefix-LSA举例</vt:lpstr>
      <vt:lpstr>PowerPoint 演示文稿</vt:lpstr>
      <vt:lpstr>OSPFv3的基础配置命令 (1)</vt:lpstr>
      <vt:lpstr>OSPFv3的基础配置命令 (2)</vt:lpstr>
      <vt:lpstr>检查OSPFv3基本功能的配置结果</vt:lpstr>
      <vt:lpstr>PowerPoint 演示文稿</vt:lpstr>
      <vt:lpstr>OSPF双栈配置举例</vt:lpstr>
      <vt:lpstr>部署IPv4网络 (1)</vt:lpstr>
      <vt:lpstr>部署IPv4网络 (2)</vt:lpstr>
      <vt:lpstr>部署IPv6网络 (1)</vt:lpstr>
      <vt:lpstr>部署IPv6网络 (2)</vt:lpstr>
      <vt:lpstr>查看OSPFv3网络的邻居信息</vt:lpstr>
      <vt:lpstr>查看OSPFv3网络的路由信息</vt:lpstr>
      <vt:lpstr>查看OSPFv3网络LSDB信息</vt:lpstr>
      <vt:lpstr>PowerPoint 演示文稿</vt:lpstr>
      <vt:lpstr>IS-IS (IPv6)概述</vt:lpstr>
      <vt:lpstr>新增TLV</vt:lpstr>
      <vt:lpstr>129号TLV中新增NLPID</vt:lpstr>
      <vt:lpstr>IS-IS多拓扑技术背景</vt:lpstr>
      <vt:lpstr>IS-IS多拓扑概述</vt:lpstr>
      <vt:lpstr>IS-IS多拓扑原理</vt:lpstr>
      <vt:lpstr>IS-IS (IPv6)的基础配置命令</vt:lpstr>
      <vt:lpstr>检查IS-IS (IPv6)基本功能的配置结果</vt:lpstr>
      <vt:lpstr>IS-IS双栈配置举例</vt:lpstr>
      <vt:lpstr>部署IPv4网络</vt:lpstr>
      <vt:lpstr>部署IPv6网络</vt:lpstr>
      <vt:lpstr>查看IS-IS (IPv4)网络路由信息</vt:lpstr>
      <vt:lpstr>查看IS-IS (IPv6)网络路由信息</vt:lpstr>
      <vt:lpstr>PowerPoint 演示文稿</vt:lpstr>
      <vt:lpstr>BGP4+概述        </vt:lpstr>
      <vt:lpstr>MP-BGP支持的地址族</vt:lpstr>
      <vt:lpstr>BGP路径属性</vt:lpstr>
      <vt:lpstr>NLRI属性</vt:lpstr>
      <vt:lpstr>BGP4+的基础配置命令</vt:lpstr>
      <vt:lpstr>检查BGP4+基本功能的配置结果</vt:lpstr>
      <vt:lpstr>BGP双栈配置举例</vt:lpstr>
      <vt:lpstr>部署IPv4网络</vt:lpstr>
      <vt:lpstr>部署IPv6网络</vt:lpstr>
      <vt:lpstr>查看BGP对等体信息</vt:lpstr>
      <vt:lpstr>查看BGP4+路由信息</vt:lpstr>
      <vt:lpstr>查看BGP4+中的NLRI属性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junpeng he</cp:lastModifiedBy>
  <cp:revision>374</cp:revision>
  <cp:lastPrinted>2020-07-31T09:33:18Z</cp:lastPrinted>
  <dcterms:created xsi:type="dcterms:W3CDTF">2018-11-29T10:16:29Z</dcterms:created>
  <dcterms:modified xsi:type="dcterms:W3CDTF">2024-02-25T01:02:26Z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(3)hscZlLRVPJpBqDINndDDQno92cy8uBMffk30RjEZKaQoxuZuh6PeOW7sSItS3I9E0iu9JwNn
dA8ltH0k3Z6q9nlAhPLAtITpO3BGd1LkjyflLDulyPWzDniG7b0Pj03+YXISQ5kGMHtHiylp
gMS1AmGz5JpvXtEyyKTXZrw3Y4//CpKFgGsjQNE9n7uQ0ySgLtrG5IE5v2vrpE4WOOIaUJvi
k/cFS1FEmc5uTVJXj2</vt:lpwstr>
  </property>
  <property fmtid="{D5CDD505-2E9C-101B-9397-08002B2CF9AE}" pid="3" name="_2015_ms_pID_7253431">
    <vt:lpwstr>xAO+CSTKSuUm7RR74KtAsLZPa0namFoO3KBAQ7Cr23qEjiGcWFUXLL
cfMQUgZ0Wy5mK0sbwNnLoQAThjL2oepPoSH5YBdo8HVZ4IxnkC+VZO7bnClNKLq6aUogiVHs
UvCaggrWTGJpRbZL2hEc+g/Mw4vnKCdkh9QBz8tGW8YWUBS0a3hI3kdpabhlPoPyWR6nPDYB
ziffGHfBQW25iu8WgH8wrELqIYepF3CCZCHR</vt:lpwstr>
  </property>
  <property fmtid="{D5CDD505-2E9C-101B-9397-08002B2CF9AE}" pid="4" name="_2015_ms_pID_7253432">
    <vt:lpwstr>WZjjzZ0fCpFqIvHi0AkH5Og=</vt:lpwstr>
  </property>
  <property fmtid="{D5CDD505-2E9C-101B-9397-08002B2CF9AE}" pid="5" name="ContentTypeId">
    <vt:lpwstr>0x01010002C5B4B712841F4C8A7AAEE2CD191271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1634614444</vt:lpwstr>
  </property>
</Properties>
</file>